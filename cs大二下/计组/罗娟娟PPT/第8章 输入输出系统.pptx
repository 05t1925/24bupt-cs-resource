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3" r:id="rId3"/>
    <p:sldMasterId id="2147483673" r:id="rId4"/>
  </p:sldMasterIdLst>
  <p:notesMasterIdLst>
    <p:notesMasterId r:id="rId8"/>
  </p:notesMasterIdLst>
  <p:handoutMasterIdLst>
    <p:handoutMasterId r:id="rId75"/>
  </p:handoutMasterIdLst>
  <p:sldIdLst>
    <p:sldId id="497" r:id="rId5"/>
    <p:sldId id="670" r:id="rId6"/>
    <p:sldId id="364" r:id="rId7"/>
    <p:sldId id="344" r:id="rId9"/>
    <p:sldId id="340" r:id="rId10"/>
    <p:sldId id="365" r:id="rId11"/>
    <p:sldId id="366" r:id="rId12"/>
    <p:sldId id="346" r:id="rId13"/>
    <p:sldId id="404" r:id="rId14"/>
    <p:sldId id="354" r:id="rId15"/>
    <p:sldId id="370" r:id="rId16"/>
    <p:sldId id="356" r:id="rId17"/>
    <p:sldId id="422" r:id="rId18"/>
    <p:sldId id="671" r:id="rId19"/>
    <p:sldId id="402" r:id="rId20"/>
    <p:sldId id="403" r:id="rId21"/>
    <p:sldId id="672" r:id="rId22"/>
    <p:sldId id="368" r:id="rId23"/>
    <p:sldId id="341" r:id="rId24"/>
    <p:sldId id="371" r:id="rId25"/>
    <p:sldId id="357" r:id="rId26"/>
    <p:sldId id="372" r:id="rId27"/>
    <p:sldId id="374" r:id="rId28"/>
    <p:sldId id="377" r:id="rId29"/>
    <p:sldId id="359" r:id="rId30"/>
    <p:sldId id="373" r:id="rId31"/>
    <p:sldId id="375" r:id="rId32"/>
    <p:sldId id="376" r:id="rId33"/>
    <p:sldId id="362" r:id="rId34"/>
    <p:sldId id="378" r:id="rId35"/>
    <p:sldId id="379" r:id="rId36"/>
    <p:sldId id="380" r:id="rId37"/>
    <p:sldId id="405" r:id="rId38"/>
    <p:sldId id="406" r:id="rId39"/>
    <p:sldId id="407" r:id="rId40"/>
    <p:sldId id="408" r:id="rId41"/>
    <p:sldId id="415" r:id="rId42"/>
    <p:sldId id="416" r:id="rId43"/>
    <p:sldId id="419" r:id="rId44"/>
    <p:sldId id="420" r:id="rId45"/>
    <p:sldId id="421" r:id="rId46"/>
    <p:sldId id="673" r:id="rId47"/>
    <p:sldId id="382" r:id="rId48"/>
    <p:sldId id="386" r:id="rId49"/>
    <p:sldId id="417" r:id="rId50"/>
    <p:sldId id="384" r:id="rId51"/>
    <p:sldId id="385" r:id="rId52"/>
    <p:sldId id="387" r:id="rId53"/>
    <p:sldId id="388" r:id="rId54"/>
    <p:sldId id="389" r:id="rId55"/>
    <p:sldId id="342" r:id="rId56"/>
    <p:sldId id="414" r:id="rId57"/>
    <p:sldId id="390" r:id="rId58"/>
    <p:sldId id="369" r:id="rId59"/>
    <p:sldId id="409" r:id="rId60"/>
    <p:sldId id="410" r:id="rId61"/>
    <p:sldId id="413" r:id="rId62"/>
    <p:sldId id="411" r:id="rId63"/>
    <p:sldId id="412" r:id="rId64"/>
    <p:sldId id="674" r:id="rId65"/>
    <p:sldId id="392" r:id="rId66"/>
    <p:sldId id="393" r:id="rId67"/>
    <p:sldId id="394" r:id="rId68"/>
    <p:sldId id="395" r:id="rId69"/>
    <p:sldId id="675" r:id="rId70"/>
    <p:sldId id="397" r:id="rId71"/>
    <p:sldId id="398" r:id="rId72"/>
    <p:sldId id="399" r:id="rId73"/>
    <p:sldId id="418" r:id="rId74"/>
  </p:sldIdLst>
  <p:sldSz cx="9144000" cy="6858000" type="screen4x3"/>
  <p:notesSz cx="7103745" cy="10234295"/>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648" userDrawn="1">
          <p15:clr>
            <a:srgbClr val="A4A3A4"/>
          </p15:clr>
        </p15:guide>
        <p15:guide id="2" pos="2784" userDrawn="1">
          <p15:clr>
            <a:srgbClr val="A4A3A4"/>
          </p15:clr>
        </p15:guide>
        <p15:guide id="3" pos="4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CC6600"/>
    <a:srgbClr val="00F7F7"/>
    <a:srgbClr val="009900"/>
    <a:srgbClr val="006600"/>
    <a:srgbClr val="669900"/>
    <a:srgbClr val="339933"/>
    <a:srgbClr val="3333CC"/>
    <a:srgbClr val="000066"/>
    <a:srgbClr val="0033CC"/>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6574" autoAdjust="0"/>
  </p:normalViewPr>
  <p:slideViewPr>
    <p:cSldViewPr showGuides="1">
      <p:cViewPr varScale="1">
        <p:scale>
          <a:sx n="119" d="100"/>
          <a:sy n="119" d="100"/>
        </p:scale>
        <p:origin x="1488" y="102"/>
      </p:cViewPr>
      <p:guideLst>
        <p:guide orient="horz" pos="3648"/>
        <p:guide pos="2784"/>
        <p:guide pos="4128"/>
      </p:guideLst>
    </p:cSldViewPr>
  </p:slideViewPr>
  <p:notesTextViewPr>
    <p:cViewPr>
      <p:scale>
        <a:sx n="100" d="100"/>
        <a:sy n="100" d="100"/>
      </p:scale>
      <p:origin x="0" y="0"/>
    </p:cViewPr>
  </p:notesTextViewPr>
  <p:sorterViewPr>
    <p:cViewPr>
      <p:scale>
        <a:sx n="126" d="100"/>
        <a:sy n="126" d="100"/>
      </p:scale>
      <p:origin x="0" y="0"/>
    </p:cViewPr>
  </p:sorterViewPr>
  <p:notesViewPr>
    <p:cSldViewPr>
      <p:cViewPr varScale="1">
        <p:scale>
          <a:sx n="148" d="100"/>
          <a:sy n="148" d="100"/>
        </p:scale>
        <p:origin x="-1925" y="-77"/>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vl1pPr>
          </a:lstStyle>
          <a:p>
            <a:fld id="{C79C02A0-2CB8-F64C-87A7-A5563D28AA9B}" type="datetimeFigureOut">
              <a:rPr lang="en-US" smtClean="0"/>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vl1pPr>
          </a:lstStyle>
          <a:p>
            <a:fld id="{D8885E4B-77DA-1E4C-9EDA-713D746B907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995363" y="768350"/>
            <a:ext cx="5113337" cy="3836988"/>
          </a:xfrm>
          <a:prstGeom prst="rect">
            <a:avLst/>
          </a:prstGeom>
          <a:noFill/>
          <a:ln w="9525">
            <a:solidFill>
              <a:srgbClr val="000000"/>
            </a:solidFill>
            <a:miter lim="800000"/>
          </a:ln>
          <a:effectLst/>
        </p:spPr>
      </p:sp>
      <p:sp>
        <p:nvSpPr>
          <p:cNvPr id="13314" name="Rectangle 2"/>
          <p:cNvSpPr>
            <a:spLocks noGrp="1" noChangeArrowheads="1"/>
          </p:cNvSpPr>
          <p:nvPr>
            <p:ph type="body" sz="quarter" idx="1"/>
          </p:nvPr>
        </p:nvSpPr>
        <p:spPr bwMode="auto">
          <a:xfrm>
            <a:off x="710407" y="4861441"/>
            <a:ext cx="5683250" cy="4605576"/>
          </a:xfrm>
          <a:prstGeom prst="rect">
            <a:avLst/>
          </a:prstGeom>
          <a:noFill/>
          <a:ln w="9525">
            <a:noFill/>
            <a:miter lim="800000"/>
          </a:ln>
          <a:effectLst/>
        </p:spPr>
        <p:txBody>
          <a:bodyPr vert="horz" wrap="square" lIns="99075" tIns="49538" rIns="99075" bIns="49538"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Gill Sans" charset="0"/>
        <a:ea typeface="+mn-ea"/>
        <a:cs typeface="+mn-cs"/>
      </a:defRPr>
    </a:lvl1pPr>
    <a:lvl2pPr marL="457200" algn="l" rtl="0" fontAlgn="base">
      <a:spcBef>
        <a:spcPct val="0"/>
      </a:spcBef>
      <a:spcAft>
        <a:spcPct val="0"/>
      </a:spcAft>
      <a:defRPr sz="1200" kern="1200">
        <a:solidFill>
          <a:schemeClr val="tx1"/>
        </a:solidFill>
        <a:latin typeface="Gill Sans" charset="0"/>
        <a:ea typeface="+mn-ea"/>
        <a:cs typeface="+mn-cs"/>
      </a:defRPr>
    </a:lvl2pPr>
    <a:lvl3pPr marL="914400" algn="l" rtl="0" fontAlgn="base">
      <a:spcBef>
        <a:spcPct val="0"/>
      </a:spcBef>
      <a:spcAft>
        <a:spcPct val="0"/>
      </a:spcAft>
      <a:defRPr sz="1200" kern="1200">
        <a:solidFill>
          <a:schemeClr val="tx1"/>
        </a:solidFill>
        <a:latin typeface="Gill Sans" charset="0"/>
        <a:ea typeface="+mn-ea"/>
        <a:cs typeface="+mn-cs"/>
      </a:defRPr>
    </a:lvl3pPr>
    <a:lvl4pPr marL="1371600" algn="l" rtl="0" fontAlgn="base">
      <a:spcBef>
        <a:spcPct val="0"/>
      </a:spcBef>
      <a:spcAft>
        <a:spcPct val="0"/>
      </a:spcAft>
      <a:defRPr sz="1200" kern="1200">
        <a:solidFill>
          <a:schemeClr val="tx1"/>
        </a:solidFill>
        <a:latin typeface="Gill Sans" charset="0"/>
        <a:ea typeface="+mn-ea"/>
        <a:cs typeface="+mn-cs"/>
      </a:defRPr>
    </a:lvl4pPr>
    <a:lvl5pPr marL="1828800" algn="l" rtl="0" fontAlgn="base">
      <a:spcBef>
        <a:spcPct val="0"/>
      </a:spcBef>
      <a:spcAft>
        <a:spcPct val="0"/>
      </a:spcAft>
      <a:defRPr sz="1200" kern="1200">
        <a:solidFill>
          <a:schemeClr val="tx1"/>
        </a:solidFill>
        <a:latin typeface="Gill San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6C3646D-2B8F-4959-97C8-56D6156BF131}" type="slidenum">
              <a:rPr lang="en-US" altLang="zh-CN" sz="1300" smtClean="0"/>
            </a:fld>
            <a:endParaRPr lang="en-US" altLang="zh-CN" sz="1300"/>
          </a:p>
        </p:txBody>
      </p:sp>
      <p:sp>
        <p:nvSpPr>
          <p:cNvPr id="15363" name="Rectangle 2"/>
          <p:cNvSpPr>
            <a:spLocks noGrp="1" noRot="1" noChangeAspect="1" noChangeArrowheads="1" noTextEdit="1"/>
          </p:cNvSpPr>
          <p:nvPr>
            <p:ph type="sldImg"/>
          </p:nvPr>
        </p:nvSpPr>
        <p:spPr>
          <a:xfrm>
            <a:off x="992188" y="768350"/>
            <a:ext cx="5114925" cy="3836988"/>
          </a:xfrm>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F94417E-43A3-4C36-B8F7-888CBF7E83A8}" type="slidenum">
              <a:rPr lang="en-US" altLang="zh-CN" sz="1300" smtClean="0"/>
            </a:fld>
            <a:endParaRPr lang="en-US" altLang="zh-CN" sz="1300"/>
          </a:p>
        </p:txBody>
      </p:sp>
      <p:sp>
        <p:nvSpPr>
          <p:cNvPr id="28675" name="Rectangle 2"/>
          <p:cNvSpPr>
            <a:spLocks noGrp="1" noRot="1" noChangeAspect="1" noChangeArrowheads="1" noTextEdit="1"/>
          </p:cNvSpPr>
          <p:nvPr>
            <p:ph type="sldImg"/>
          </p:nvPr>
        </p:nvSpPr>
        <p:spPr>
          <a:xfrm>
            <a:off x="992188" y="768350"/>
            <a:ext cx="5114925" cy="3836988"/>
          </a:xfrm>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Clr>
                <a:srgbClr val="66FFFF"/>
              </a:buClr>
            </a:pPr>
            <a:endParaRPr lang="zh-CN" altLang="zh-CN" sz="2400">
              <a:solidFill>
                <a:srgbClr val="CCECFF"/>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ChangeArrowheads="1" noTextEdit="1"/>
          </p:cNvSpPr>
          <p:nvPr>
            <p:ph type="sldImg"/>
          </p:nvPr>
        </p:nvSpPr>
        <p:spPr>
          <a:xfrm>
            <a:off x="992188" y="768350"/>
            <a:ext cx="5114925" cy="3836988"/>
          </a:xfrm>
        </p:spPr>
      </p:sp>
      <p:sp>
        <p:nvSpPr>
          <p:cNvPr id="358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8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D492A9D-E681-4B87-B29D-5C70737B9172}"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ChangeArrowheads="1" noTextEdit="1"/>
          </p:cNvSpPr>
          <p:nvPr>
            <p:ph type="sldImg"/>
          </p:nvPr>
        </p:nvSpPr>
        <p:spPr>
          <a:xfrm>
            <a:off x="992188" y="768350"/>
            <a:ext cx="5114925" cy="3836988"/>
          </a:xfrm>
        </p:spPr>
      </p:sp>
      <p:sp>
        <p:nvSpPr>
          <p:cNvPr id="378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78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D9DDE2B4-4173-4DA1-9096-2355C6432926}"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a:xfrm>
            <a:off x="992188" y="768350"/>
            <a:ext cx="5114925" cy="3836988"/>
          </a:xfrm>
        </p:spPr>
      </p:sp>
      <p:sp>
        <p:nvSpPr>
          <p:cNvPr id="430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C913256-4493-4431-AA0D-32E2AAF16AFA}"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ChangeArrowheads="1" noTextEdit="1"/>
          </p:cNvSpPr>
          <p:nvPr>
            <p:ph type="sldImg"/>
          </p:nvPr>
        </p:nvSpPr>
        <p:spPr>
          <a:xfrm>
            <a:off x="992188" y="768350"/>
            <a:ext cx="5114925" cy="3836988"/>
          </a:xfrm>
        </p:spPr>
      </p:sp>
      <p:sp>
        <p:nvSpPr>
          <p:cNvPr id="471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74724B3-5B6E-4CE3-8AAA-FFBE9698824D}"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ChangeArrowheads="1" noTextEdit="1"/>
          </p:cNvSpPr>
          <p:nvPr>
            <p:ph type="sldImg"/>
          </p:nvPr>
        </p:nvSpPr>
        <p:spPr>
          <a:xfrm>
            <a:off x="992188" y="768350"/>
            <a:ext cx="5114925" cy="3836988"/>
          </a:xfrm>
        </p:spPr>
      </p:sp>
      <p:sp>
        <p:nvSpPr>
          <p:cNvPr id="4915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83BC18C-8AB4-44D5-8EB7-B6900CC941B8}"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p:nvPr>
        </p:nvSpPr>
        <p:spPr>
          <a:xfrm>
            <a:off x="992188" y="768350"/>
            <a:ext cx="5114925" cy="3836988"/>
          </a:xfrm>
        </p:spPr>
      </p:sp>
      <p:sp>
        <p:nvSpPr>
          <p:cNvPr id="5120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1F494AC-DBC8-4FFF-865D-2B5204EA3556}"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ChangeArrowheads="1" noTextEdit="1"/>
          </p:cNvSpPr>
          <p:nvPr>
            <p:ph type="sldImg"/>
          </p:nvPr>
        </p:nvSpPr>
        <p:spPr>
          <a:xfrm>
            <a:off x="992188" y="768350"/>
            <a:ext cx="5114925" cy="3836988"/>
          </a:xfrm>
        </p:spPr>
      </p:sp>
      <p:sp>
        <p:nvSpPr>
          <p:cNvPr id="552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3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46B80F02-AFCB-4F82-B2FC-3B414E98390D}"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ChangeArrowheads="1" noTextEdit="1"/>
          </p:cNvSpPr>
          <p:nvPr>
            <p:ph type="sldImg"/>
          </p:nvPr>
        </p:nvSpPr>
        <p:spPr>
          <a:xfrm>
            <a:off x="992188" y="768350"/>
            <a:ext cx="5114925" cy="3836988"/>
          </a:xfrm>
        </p:spPr>
      </p:sp>
      <p:sp>
        <p:nvSpPr>
          <p:cNvPr id="61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7740414-C5B3-4EFF-B2E9-74189202CFAC}" type="slidenum">
              <a:rPr lang="zh-CN" altLang="en-US" sz="1200" smtClean="0">
                <a:solidFill>
                  <a:srgbClr val="000000"/>
                </a:solidFill>
              </a:rPr>
            </a:fld>
            <a:endParaRPr lang="zh-CN" altLang="en-US" sz="1200">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ChangeArrowheads="1" noTextEdit="1"/>
          </p:cNvSpPr>
          <p:nvPr>
            <p:ph type="sldImg"/>
          </p:nvPr>
        </p:nvSpPr>
        <p:spPr>
          <a:xfrm>
            <a:off x="992188" y="768350"/>
            <a:ext cx="5114925" cy="3836988"/>
          </a:xfrm>
        </p:spPr>
      </p:sp>
      <p:sp>
        <p:nvSpPr>
          <p:cNvPr id="63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34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FF3F492-7DD8-4491-8F20-849270DC2CFF}" type="slidenum">
              <a:rPr lang="zh-CN" altLang="en-US" sz="1200" smtClean="0">
                <a:solidFill>
                  <a:srgbClr val="000000"/>
                </a:solidFill>
              </a:rPr>
            </a:fld>
            <a:endParaRPr lang="zh-CN" altLang="en-US" sz="1200">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ChangeArrowheads="1" noTextEdit="1"/>
          </p:cNvSpPr>
          <p:nvPr>
            <p:ph type="sldImg"/>
          </p:nvPr>
        </p:nvSpPr>
        <p:spPr>
          <a:xfrm>
            <a:off x="992188" y="768350"/>
            <a:ext cx="5114925" cy="3836988"/>
          </a:xfrm>
        </p:spPr>
      </p:sp>
      <p:sp>
        <p:nvSpPr>
          <p:cNvPr id="65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6CBC0D1D-59C6-4AF9-A231-13AAA7B9FDA4}"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ChangeArrowheads="1" noTextEdit="1"/>
          </p:cNvSpPr>
          <p:nvPr>
            <p:ph type="sldImg"/>
          </p:nvPr>
        </p:nvSpPr>
        <p:spPr>
          <a:xfrm>
            <a:off x="992188" y="768350"/>
            <a:ext cx="5114925" cy="3836988"/>
          </a:xfrm>
        </p:spPr>
      </p:sp>
      <p:sp>
        <p:nvSpPr>
          <p:cNvPr id="8909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909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74E02511-CFB3-40B7-960D-A2C1BC61C623}"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ChangeArrowheads="1" noTextEdit="1"/>
          </p:cNvSpPr>
          <p:nvPr>
            <p:ph type="sldImg"/>
          </p:nvPr>
        </p:nvSpPr>
        <p:spPr>
          <a:xfrm>
            <a:off x="992188" y="768350"/>
            <a:ext cx="5114925" cy="3836988"/>
          </a:xfrm>
        </p:spPr>
      </p:sp>
      <p:sp>
        <p:nvSpPr>
          <p:cNvPr id="972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972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A53AE5D3-EA50-49D3-80E2-BEEE0CFABDF1}" type="slidenum">
              <a:rPr lang="zh-CN" altLang="en-US" sz="1200" smtClean="0">
                <a:solidFill>
                  <a:srgbClr val="000000"/>
                </a:solidFill>
              </a:rPr>
            </a:fld>
            <a:endParaRPr lang="zh-CN" altLang="en-US" sz="120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
        <p:nvSpPr>
          <p:cNvPr id="5" name="标题 4"/>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76215"/>
            <a:ext cx="8382000" cy="5435600"/>
          </a:xfrm>
        </p:spPr>
        <p:txBody>
          <a:bodyPr/>
          <a:lstStyle>
            <a:lvl1pPr marL="254000" indent="-254000">
              <a:buClr>
                <a:srgbClr val="CC3300"/>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9900CC"/>
              </a:buClr>
              <a:buSzPct val="70000"/>
              <a:buFont typeface="Wingdings" panose="05000000000000000000" pitchFamily="2" charset="2"/>
              <a:buChar char="p"/>
              <a:defRPr/>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4" name="标题 3"/>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0"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标题 4"/>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
        <p:nvSpPr>
          <p:cNvPr id="7" name="Content Placeholder 2"/>
          <p:cNvSpPr>
            <a:spLocks noGrp="1"/>
          </p:cNvSpPr>
          <p:nvPr>
            <p:ph sz="half" idx="10"/>
          </p:nvPr>
        </p:nvSpPr>
        <p:spPr>
          <a:xfrm>
            <a:off x="4648202"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1016"/>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814961"/>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Text Placeholder 4"/>
          <p:cNvSpPr>
            <a:spLocks noGrp="1"/>
          </p:cNvSpPr>
          <p:nvPr>
            <p:ph type="body" sz="quarter" idx="3"/>
          </p:nvPr>
        </p:nvSpPr>
        <p:spPr>
          <a:xfrm>
            <a:off x="4645025" y="1141016"/>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4645025" y="1814961"/>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7" name="标题 6"/>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spcBef>
                <a:spcPts val="600"/>
              </a:spcBef>
              <a:defRPr>
                <a:latin typeface="Times New Roman" panose="02020603050405020304" pitchFamily="18" charset="0"/>
                <a:cs typeface="Times New Roman" panose="02020603050405020304" pitchFamily="18" charset="0"/>
              </a:defRPr>
            </a:lvl2pPr>
            <a:lvl3pPr>
              <a:spcBef>
                <a:spcPts val="600"/>
              </a:spcBef>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AndTx">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79388" y="981075"/>
            <a:ext cx="4316412"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648200" y="981075"/>
            <a:ext cx="4316413"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a:xfrm>
            <a:off x="2209800" y="6453188"/>
            <a:ext cx="4724400" cy="346075"/>
          </a:xfrm>
          <a:prstGeom prst="rect">
            <a:avLst/>
          </a:prstGeom>
        </p:spPr>
        <p:txBody>
          <a:bodyPr/>
          <a:lstStyle>
            <a:lvl1pPr>
              <a:defRPr/>
            </a:lvl1pPr>
          </a:lstStyle>
          <a:p>
            <a:pPr>
              <a:defRPr/>
            </a:pPr>
            <a:r>
              <a:rPr lang="zh-CN" altLang="en-US"/>
              <a:t>计算机学院体系结构中心</a:t>
            </a:r>
            <a:endParaRPr lang="zh-CN" altLang="en-US"/>
          </a:p>
        </p:txBody>
      </p:sp>
    </p:spTree>
  </p:cSld>
  <p:clrMapOvr>
    <a:masterClrMapping/>
  </p:clrMapOvr>
  <p:transition spd="med">
    <p:pull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79388" y="981075"/>
            <a:ext cx="4316412"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81075"/>
            <a:ext cx="4316413"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a:xfrm>
            <a:off x="2209800" y="6453188"/>
            <a:ext cx="4724400" cy="346075"/>
          </a:xfrm>
          <a:prstGeom prst="rect">
            <a:avLst/>
          </a:prstGeom>
        </p:spPr>
        <p:txBody>
          <a:bodyPr/>
          <a:lstStyle>
            <a:lvl1pPr>
              <a:defRPr/>
            </a:lvl1pPr>
          </a:lstStyle>
          <a:p>
            <a:pPr>
              <a:defRPr/>
            </a:pPr>
            <a:r>
              <a:rPr lang="zh-CN" altLang="en-US"/>
              <a:t>计算机学院体系结构中心</a:t>
            </a:r>
            <a:endParaRPr lang="zh-CN" altLang="en-US"/>
          </a:p>
        </p:txBody>
      </p:sp>
    </p:spTree>
  </p:cSld>
  <p:clrMapOvr>
    <a:masterClrMapping/>
  </p:clrMapOvr>
  <p:transition spd="med">
    <p:pull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79388" y="981075"/>
            <a:ext cx="4316412"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81075"/>
            <a:ext cx="4316413"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9"/>
          <p:cNvSpPr>
            <a:spLocks noGrp="1"/>
          </p:cNvSpPr>
          <p:nvPr>
            <p:ph type="ftr" sz="quarter" idx="10"/>
          </p:nvPr>
        </p:nvSpPr>
        <p:spPr>
          <a:xfrm>
            <a:off x="3028950" y="6356350"/>
            <a:ext cx="3086100" cy="365125"/>
          </a:xfrm>
          <a:prstGeom prst="rect">
            <a:avLst/>
          </a:prstGeom>
        </p:spPr>
        <p:txBody>
          <a:bodyPr/>
          <a:lstStyle>
            <a:lvl1pPr>
              <a:defRPr/>
            </a:lvl1pPr>
          </a:lstStyle>
          <a:p>
            <a:pPr>
              <a:defRPr/>
            </a:pPr>
            <a:r>
              <a:rPr lang="zh-CN" altLang="en-US"/>
              <a:t>计算机学院体系结构中心</a:t>
            </a:r>
            <a:endParaRPr lang="zh-CN" altLang="en-US"/>
          </a:p>
        </p:txBody>
      </p:sp>
    </p:spTree>
  </p:cSld>
  <p:clrMapOvr>
    <a:masterClrMapping/>
  </p:clrMapOvr>
  <p:transition spd="med">
    <p:pull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SmartArt 占位符 2"/>
          <p:cNvSpPr>
            <a:spLocks noGrp="1"/>
          </p:cNvSpPr>
          <p:nvPr>
            <p:ph type="dgm" idx="1"/>
          </p:nvPr>
        </p:nvSpPr>
        <p:spPr>
          <a:xfrm>
            <a:off x="179388" y="981075"/>
            <a:ext cx="8785225" cy="5400675"/>
          </a:xfrm>
        </p:spPr>
        <p:txBody>
          <a:bodyPr/>
          <a:lstStyle/>
          <a:p>
            <a:pPr lvl="0"/>
            <a:endParaRPr lang="zh-CN" altLang="en-US" noProof="0"/>
          </a:p>
        </p:txBody>
      </p:sp>
      <p:sp>
        <p:nvSpPr>
          <p:cNvPr id="4" name="页脚占位符 3"/>
          <p:cNvSpPr>
            <a:spLocks noGrp="1"/>
          </p:cNvSpPr>
          <p:nvPr>
            <p:ph type="ftr" sz="quarter" idx="10"/>
          </p:nvPr>
        </p:nvSpPr>
        <p:spPr>
          <a:xfrm>
            <a:off x="2209800" y="6453188"/>
            <a:ext cx="4724400" cy="346075"/>
          </a:xfrm>
          <a:prstGeom prst="rect">
            <a:avLst/>
          </a:prstGeom>
        </p:spPr>
        <p:txBody>
          <a:bodyPr/>
          <a:lstStyle>
            <a:lvl1pPr>
              <a:defRPr/>
            </a:lvl1pPr>
          </a:lstStyle>
          <a:p>
            <a:pPr>
              <a:defRPr/>
            </a:pPr>
            <a:r>
              <a:rPr lang="zh-CN" altLang="en-US"/>
              <a:t>计算机学院体系结构中心</a:t>
            </a:r>
            <a:endParaRPr lang="zh-CN" altLang="en-US"/>
          </a:p>
        </p:txBody>
      </p:sp>
    </p:spTree>
  </p:cSld>
  <p:clrMapOvr>
    <a:masterClrMapping/>
  </p:clrMapOvr>
  <p:transition spd="med">
    <p:pull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
        <p:nvSpPr>
          <p:cNvPr id="5" name="标题 4"/>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76215"/>
            <a:ext cx="8382000" cy="5435600"/>
          </a:xfrm>
        </p:spPr>
        <p:txBody>
          <a:bodyPr/>
          <a:lstStyle>
            <a:lvl1pPr marL="254000" indent="-254000">
              <a:buClr>
                <a:srgbClr val="003399"/>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003399"/>
              </a:buClr>
              <a:buSzPct val="70000"/>
              <a:buFont typeface="Wingdings" panose="05000000000000000000" pitchFamily="2" charset="2"/>
              <a:buChar char="p"/>
              <a:defRPr/>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4" name="标题 3"/>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0"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标题 4"/>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
        <p:nvSpPr>
          <p:cNvPr id="6" name="Content Placeholder 2"/>
          <p:cNvSpPr>
            <a:spLocks noGrp="1"/>
          </p:cNvSpPr>
          <p:nvPr>
            <p:ph sz="half" idx="10"/>
          </p:nvPr>
        </p:nvSpPr>
        <p:spPr>
          <a:xfrm>
            <a:off x="4648202"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1523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85499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Text Placeholder 4"/>
          <p:cNvSpPr>
            <a:spLocks noGrp="1"/>
          </p:cNvSpPr>
          <p:nvPr>
            <p:ph type="body" sz="quarter" idx="3"/>
          </p:nvPr>
        </p:nvSpPr>
        <p:spPr>
          <a:xfrm>
            <a:off x="4645025" y="121523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1854994"/>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7" name="标题 6"/>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jpeg"/><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0" Type="http://schemas.openxmlformats.org/officeDocument/2006/relationships/theme" Target="../theme/theme2.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image" Target="../media/image1.jpeg"/><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ln>
          <a:effectLst/>
        </p:spPr>
        <p:txBody>
          <a:bodyPr vert="horz" wrap="square" lIns="38100" tIns="38100" rIns="38100" bIns="38100" numCol="1" anchor="ctr" anchorCtr="0" compatLnSpc="1"/>
          <a:lstStyle/>
          <a:p>
            <a:pPr lvl="0"/>
            <a:r>
              <a:rPr lang="en-US" dirty="0">
                <a:sym typeface="Calibri Bold" charset="0"/>
              </a:rPr>
              <a:t>Click to edit title style</a:t>
            </a:r>
            <a:endParaRPr lang="en-US" dirty="0">
              <a:sym typeface="Calibri Bold" charset="0"/>
            </a:endParaRP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ln>
          <a:effectLst/>
        </p:spPr>
        <p:txBody>
          <a:bodyPr vert="horz" wrap="square" lIns="38100" tIns="38100" rIns="38100" bIns="38100" numCol="1" anchor="t" anchorCtr="0" compatLnSpc="1"/>
          <a:lstStyle/>
          <a:p>
            <a:pPr lvl="0"/>
            <a:r>
              <a:rPr lang="en-US" dirty="0">
                <a:sym typeface="Calibri Bold" charset="0"/>
              </a:rPr>
              <a:t>Click to edit Master text styles</a:t>
            </a:r>
            <a:endParaRPr lang="en-US" dirty="0">
              <a:sym typeface="Calibri Bold" charset="0"/>
            </a:endParaRPr>
          </a:p>
          <a:p>
            <a:pPr lvl="1"/>
            <a:r>
              <a:rPr lang="en-US" dirty="0">
                <a:sym typeface="Calibri" panose="020F0502020204030204" charset="0"/>
              </a:rPr>
              <a:t>Second level</a:t>
            </a:r>
            <a:endParaRPr lang="en-US" dirty="0">
              <a:sym typeface="Calibri" panose="020F0502020204030204" charset="0"/>
            </a:endParaRPr>
          </a:p>
          <a:p>
            <a:pPr lvl="2"/>
            <a:r>
              <a:rPr lang="en-US" dirty="0">
                <a:sym typeface="Calibri" panose="020F0502020204030204" charset="0"/>
              </a:rPr>
              <a:t>Third level</a:t>
            </a:r>
            <a:endParaRPr lang="en-US" dirty="0">
              <a:sym typeface="Calibri" panose="020F0502020204030204" charset="0"/>
            </a:endParaRPr>
          </a:p>
          <a:p>
            <a:pPr lvl="3"/>
            <a:r>
              <a:rPr lang="en-US" dirty="0">
                <a:sym typeface="Calibri" panose="020F0502020204030204" charset="0"/>
              </a:rPr>
              <a:t>Fourth level</a:t>
            </a:r>
            <a:endParaRPr lang="en-US" dirty="0">
              <a:sym typeface="Calibri" panose="020F0502020204030204" charset="0"/>
            </a:endParaRPr>
          </a:p>
        </p:txBody>
      </p:sp>
      <p:sp>
        <p:nvSpPr>
          <p:cNvPr id="4" name="Rectangle 3"/>
          <p:cNvSpPr/>
          <p:nvPr userDrawn="1"/>
        </p:nvSpPr>
        <p:spPr>
          <a:xfrm>
            <a:off x="8818144" y="6611779"/>
            <a:ext cx="338555"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mj-lt"/>
                <a:ea typeface="MS PGothic" panose="020B0600070205080204" pitchFamily="-96" charset="-128"/>
                <a:cs typeface="MS PGothic" panose="020B0600070205080204" pitchFamily="-96" charset="-128"/>
              </a:rPr>
            </a:fld>
            <a:endParaRPr lang="en-US" sz="1000" dirty="0">
              <a:latin typeface="+mj-lt"/>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endParaRPr lang="en-US"/>
          </a:p>
        </p:txBody>
      </p:sp>
      <p:sp>
        <p:nvSpPr>
          <p:cNvPr id="7" name="Text Box 32"/>
          <p:cNvSpPr txBox="1">
            <a:spLocks noChangeArrowheads="1"/>
          </p:cNvSpPr>
          <p:nvPr userDrawn="1"/>
        </p:nvSpPr>
        <p:spPr bwMode="auto">
          <a:xfrm>
            <a:off x="7111399" y="-22999"/>
            <a:ext cx="2025363" cy="276999"/>
          </a:xfrm>
          <a:prstGeom prst="rect">
            <a:avLst/>
          </a:prstGeom>
          <a:noFill/>
          <a:ln>
            <a:noFill/>
          </a:ln>
          <a:effectLst/>
        </p:spPr>
        <p:txBody>
          <a:bodyPr wrap="none">
            <a:spAutoFit/>
          </a:bodyPr>
          <a:lstStyle/>
          <a:p>
            <a:pPr algn="l" eaLnBrk="0" hangingPunct="0"/>
            <a:r>
              <a:rPr lang="en-US" altLang="en-US" sz="1200" b="1" dirty="0">
                <a:solidFill>
                  <a:srgbClr val="FFFFFF"/>
                </a:solidFill>
                <a:latin typeface="Times New Roman" panose="02020603050405020304" pitchFamily="18" charset="0"/>
                <a:ea typeface="+mn-ea"/>
                <a:cs typeface="+mn-cs"/>
              </a:rPr>
              <a:t>School of Computer Science</a:t>
            </a:r>
            <a:endParaRPr lang="en-US" altLang="en-US" sz="1200" b="1" dirty="0">
              <a:solidFill>
                <a:srgbClr val="FFFFFF"/>
              </a:solidFill>
              <a:latin typeface="Times New Roman" panose="02020603050405020304" pitchFamily="18" charset="0"/>
              <a:ea typeface="+mn-ea"/>
              <a:cs typeface="+mn-cs"/>
            </a:endParaRPr>
          </a:p>
        </p:txBody>
      </p:sp>
      <p:pic>
        <p:nvPicPr>
          <p:cNvPr id="3" name="图片 2"/>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pic>
        <p:nvPicPr>
          <p:cNvPr id="9" name="图片 8"/>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6330014"/>
            <a:ext cx="503426" cy="520207"/>
          </a:xfrm>
          <a:prstGeom prst="rect">
            <a:avLst/>
          </a:prstGeom>
        </p:spPr>
      </p:pic>
      <p:sp>
        <p:nvSpPr>
          <p:cNvPr id="10" name="TextBox 4"/>
          <p:cNvSpPr txBox="1"/>
          <p:nvPr userDrawn="1"/>
        </p:nvSpPr>
        <p:spPr>
          <a:xfrm>
            <a:off x="503426" y="6585945"/>
            <a:ext cx="2340705" cy="261610"/>
          </a:xfrm>
          <a:prstGeom prst="rect">
            <a:avLst/>
          </a:prstGeom>
          <a:noFill/>
        </p:spPr>
        <p:txBody>
          <a:bodyPr wrap="none" rtlCol="0">
            <a:spAutoFit/>
          </a:bodyPr>
          <a:lstStyle/>
          <a:p>
            <a:r>
              <a:rPr lang="en-US" sz="1100" b="1" i="0" dirty="0">
                <a:solidFill>
                  <a:srgbClr val="326AC6"/>
                </a:solidFill>
                <a:effectLst/>
                <a:latin typeface="Calibri" panose="020F0502020204030204" charset="0"/>
              </a:rPr>
              <a:t>Principles of Computer Organization </a:t>
            </a:r>
            <a:endParaRPr lang="en-US" sz="1100" b="1" i="0" dirty="0">
              <a:solidFill>
                <a:srgbClr val="326AC6"/>
              </a:solidFill>
              <a:effectLst/>
              <a:latin typeface="Calibri" panose="020F050202020403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CC3300"/>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600"/>
        </a:spcBef>
        <a:spcAft>
          <a:spcPct val="0"/>
        </a:spcAft>
        <a:buClr>
          <a:srgbClr val="008000"/>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2pPr>
      <a:lvl3pPr marL="800100" indent="-203200" algn="l" rtl="0" fontAlgn="base">
        <a:spcBef>
          <a:spcPts val="600"/>
        </a:spcBef>
        <a:spcAft>
          <a:spcPct val="0"/>
        </a:spcAft>
        <a:buClr>
          <a:srgbClr val="9900CC"/>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3pPr>
      <a:lvl4pPr marL="1143000" indent="-228600" algn="l" rtl="0" fontAlgn="base">
        <a:spcBef>
          <a:spcPts val="600"/>
        </a:spcBef>
        <a:spcAft>
          <a:spcPct val="0"/>
        </a:spcAft>
        <a:buClr>
          <a:srgbClr val="000000"/>
        </a:buClr>
        <a:buSzPct val="100000"/>
        <a:buFont typeface="Calibri" panose="020F0502020204030204" charset="0"/>
        <a:buChar char="–"/>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4pPr>
      <a:lvl5pPr marL="1231900" indent="0" algn="l" rtl="0" fontAlgn="base">
        <a:spcBef>
          <a:spcPts val="500"/>
        </a:spcBef>
        <a:spcAft>
          <a:spcPct val="0"/>
        </a:spcAft>
        <a:buClr>
          <a:srgbClr val="000000"/>
        </a:buClr>
        <a:buSzPct val="100000"/>
        <a:buFont typeface="Calibri" panose="020F0502020204030204" charset="0"/>
        <a:buNone/>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p>
            <a:pPr lvl="0"/>
            <a:r>
              <a:rPr lang="en-US">
                <a:sym typeface="Calibri Bold" charset="0"/>
              </a:rPr>
              <a:t>Click to edit Master title style</a:t>
            </a:r>
            <a:endParaRPr lang="en-US">
              <a:sym typeface="Calibri Bold" charset="0"/>
            </a:endParaRPr>
          </a:p>
        </p:txBody>
      </p:sp>
      <p:sp>
        <p:nvSpPr>
          <p:cNvPr id="5" name="TextBox 4"/>
          <p:cNvSpPr txBox="1"/>
          <p:nvPr userDrawn="1"/>
        </p:nvSpPr>
        <p:spPr>
          <a:xfrm>
            <a:off x="0" y="6611779"/>
            <a:ext cx="2959464" cy="246221"/>
          </a:xfrm>
          <a:prstGeom prst="rect">
            <a:avLst/>
          </a:prstGeom>
          <a:noFill/>
        </p:spPr>
        <p:txBody>
          <a:bodyPr wrap="none" rtlCol="0">
            <a:spAutoFit/>
          </a:bodyPr>
          <a:lstStyle/>
          <a:p>
            <a:r>
              <a:rPr lang="en-US" sz="1000" b="0" i="0" dirty="0">
                <a:latin typeface="Calibri" panose="020F0502020204030204" charset="0"/>
              </a:rPr>
              <a:t>Principles and Interface Technique of Microcomputer</a:t>
            </a:r>
            <a:endParaRPr lang="en-US" sz="1000" b="0" i="0" dirty="0">
              <a:latin typeface="Calibri" panose="020F0502020204030204" charset="0"/>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endParaRPr lang="en-US"/>
          </a:p>
        </p:txBody>
      </p:sp>
      <p:sp>
        <p:nvSpPr>
          <p:cNvPr id="7" name="Text Box 32"/>
          <p:cNvSpPr txBox="1">
            <a:spLocks noChangeArrowheads="1"/>
          </p:cNvSpPr>
          <p:nvPr userDrawn="1"/>
        </p:nvSpPr>
        <p:spPr bwMode="auto">
          <a:xfrm>
            <a:off x="7163575" y="-39607"/>
            <a:ext cx="2025363" cy="276999"/>
          </a:xfrm>
          <a:prstGeom prst="rect">
            <a:avLst/>
          </a:prstGeom>
          <a:noFill/>
          <a:ln>
            <a:noFill/>
          </a:ln>
          <a:effectLst/>
        </p:spPr>
        <p:txBody>
          <a:bodyPr wrap="none">
            <a:spAutoFit/>
          </a:bodyPr>
          <a:lstStyle/>
          <a:p>
            <a:pPr algn="l" eaLnBrk="0" hangingPunct="0"/>
            <a:r>
              <a:rPr lang="en-US" altLang="zh-CN" sz="1200" b="1" dirty="0">
                <a:solidFill>
                  <a:srgbClr val="FFFFFF"/>
                </a:solidFill>
                <a:latin typeface="Times New Roman" panose="02020603050405020304" pitchFamily="18" charset="0"/>
                <a:ea typeface="+mn-ea"/>
                <a:cs typeface="+mn-cs"/>
              </a:rPr>
              <a:t>School of Computer Science</a:t>
            </a:r>
            <a:endParaRPr lang="en-US" altLang="en-US" sz="1200" b="1" dirty="0">
              <a:solidFill>
                <a:srgbClr val="FFFFFF"/>
              </a:solidFill>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p:transition/>
  <p:txStyles>
    <p:titleStyle>
      <a:lvl1pPr algn="l" rtl="0" fontAlgn="base">
        <a:spcBef>
          <a:spcPct val="0"/>
        </a:spcBef>
        <a:spcAft>
          <a:spcPct val="0"/>
        </a:spcAft>
        <a:defRPr sz="3600">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342900" indent="-342900" algn="l" rtl="0" fontAlgn="base">
        <a:spcBef>
          <a:spcPts val="600"/>
        </a:spcBef>
        <a:spcAft>
          <a:spcPct val="0"/>
        </a:spcAft>
        <a:buClr>
          <a:srgbClr val="990000"/>
        </a:buClr>
        <a:buSzPct val="60000"/>
        <a:buFont typeface="Wingdings 2"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ln>
          <a:effectLst/>
        </p:spPr>
        <p:txBody>
          <a:bodyPr vert="horz" wrap="square" lIns="38100" tIns="38100" rIns="38100" bIns="38100" numCol="1" anchor="ctr" anchorCtr="0" compatLnSpc="1"/>
          <a:lstStyle/>
          <a:p>
            <a:pPr lvl="0"/>
            <a:r>
              <a:rPr lang="en-US" dirty="0">
                <a:sym typeface="Calibri Bold" charset="0"/>
              </a:rPr>
              <a:t>Click to edit title style</a:t>
            </a:r>
            <a:endParaRPr lang="en-US" dirty="0">
              <a:sym typeface="Calibri Bold" charset="0"/>
            </a:endParaRP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ln>
          <a:effectLst/>
        </p:spPr>
        <p:txBody>
          <a:bodyPr vert="horz" wrap="square" lIns="38100" tIns="38100" rIns="38100" bIns="38100" numCol="1" anchor="t" anchorCtr="0" compatLnSpc="1"/>
          <a:lstStyle/>
          <a:p>
            <a:pPr lvl="0"/>
            <a:r>
              <a:rPr lang="en-US" dirty="0">
                <a:sym typeface="Calibri Bold" charset="0"/>
              </a:rPr>
              <a:t>Click to edit Master text styles</a:t>
            </a:r>
            <a:endParaRPr lang="en-US" dirty="0">
              <a:sym typeface="Calibri Bold" charset="0"/>
            </a:endParaRPr>
          </a:p>
          <a:p>
            <a:pPr lvl="1"/>
            <a:r>
              <a:rPr lang="en-US" dirty="0">
                <a:sym typeface="Calibri" panose="020F0502020204030204" charset="0"/>
              </a:rPr>
              <a:t>Second level</a:t>
            </a:r>
            <a:endParaRPr lang="en-US" dirty="0">
              <a:sym typeface="Calibri" panose="020F0502020204030204" charset="0"/>
            </a:endParaRPr>
          </a:p>
          <a:p>
            <a:pPr lvl="2"/>
            <a:r>
              <a:rPr lang="en-US" dirty="0">
                <a:sym typeface="Calibri" panose="020F0502020204030204" charset="0"/>
              </a:rPr>
              <a:t>Third level</a:t>
            </a:r>
            <a:endParaRPr lang="en-US" dirty="0">
              <a:sym typeface="Calibri" panose="020F0502020204030204" charset="0"/>
            </a:endParaRPr>
          </a:p>
          <a:p>
            <a:pPr lvl="3"/>
            <a:r>
              <a:rPr lang="en-US" dirty="0">
                <a:sym typeface="Calibri" panose="020F0502020204030204" charset="0"/>
              </a:rPr>
              <a:t>Fourth level</a:t>
            </a:r>
            <a:endParaRPr lang="en-US" dirty="0">
              <a:sym typeface="Calibri" panose="020F0502020204030204" charset="0"/>
            </a:endParaRPr>
          </a:p>
        </p:txBody>
      </p:sp>
      <p:sp>
        <p:nvSpPr>
          <p:cNvPr id="4" name="Rectangle 3"/>
          <p:cNvSpPr/>
          <p:nvPr userDrawn="1"/>
        </p:nvSpPr>
        <p:spPr>
          <a:xfrm>
            <a:off x="8818144" y="6611779"/>
            <a:ext cx="338555" cy="246221"/>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Bold"/>
                <a:ea typeface="MS PGothic" panose="020B0600070205080204" pitchFamily="-96" charset="-128"/>
                <a:cs typeface="MS PGothic" panose="020B0600070205080204" pitchFamily="-96" charset="-128"/>
                <a:sym typeface="Gill Sans" charset="0"/>
              </a:rPr>
            </a:fld>
            <a:endParaRPr kumimoji="0" lang="en-US" sz="1000" b="0" i="0" u="none" strike="noStrike" kern="1200" cap="none" spc="0" normalizeH="0" baseline="0" noProof="0" dirty="0">
              <a:ln>
                <a:noFill/>
              </a:ln>
              <a:solidFill>
                <a:srgbClr val="000000"/>
              </a:solidFill>
              <a:effectLst/>
              <a:uLnTx/>
              <a:uFillTx/>
              <a:latin typeface="Calibri Bold"/>
              <a:sym typeface="Gill Sans" charset="0"/>
            </a:endParaRPr>
          </a:p>
        </p:txBody>
      </p:sp>
      <p:sp>
        <p:nvSpPr>
          <p:cNvPr id="5" name="TextBox 4"/>
          <p:cNvSpPr txBox="1"/>
          <p:nvPr userDrawn="1"/>
        </p:nvSpPr>
        <p:spPr>
          <a:xfrm>
            <a:off x="0" y="6604000"/>
            <a:ext cx="29594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dirty="0">
                <a:ln>
                  <a:noFill/>
                </a:ln>
                <a:solidFill>
                  <a:srgbClr val="000000"/>
                </a:solidFill>
                <a:effectLst/>
                <a:uLnTx/>
                <a:uFillTx/>
                <a:latin typeface="Calibri" panose="020F0502020204030204" charset="0"/>
                <a:sym typeface="Gill Sans" charset="0"/>
              </a:rPr>
              <a:t>Principles and Interface Technique of Microcomputer</a:t>
            </a:r>
            <a:endParaRPr kumimoji="0" lang="en-US" sz="1000" b="0" i="0" u="none" strike="noStrike" kern="1200" cap="none" spc="0" normalizeH="0" baseline="0" noProof="0" dirty="0">
              <a:ln>
                <a:noFill/>
              </a:ln>
              <a:solidFill>
                <a:srgbClr val="000000"/>
              </a:solidFill>
              <a:effectLst/>
              <a:uLnTx/>
              <a:uFillTx/>
              <a:latin typeface="Calibri" panose="020F0502020204030204" charset="0"/>
              <a:sym typeface="Gill Sans" charset="0"/>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7" name="Text Box 32"/>
          <p:cNvSpPr txBox="1">
            <a:spLocks noChangeArrowheads="1"/>
          </p:cNvSpPr>
          <p:nvPr userDrawn="1"/>
        </p:nvSpPr>
        <p:spPr bwMode="auto">
          <a:xfrm>
            <a:off x="7111399" y="-22999"/>
            <a:ext cx="2025363" cy="276999"/>
          </a:xfrm>
          <a:prstGeom prst="rect">
            <a:avLst/>
          </a:prstGeom>
          <a:noFill/>
          <a:ln>
            <a:noFill/>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sym typeface="Gill Sans" charset="0"/>
              </a:rPr>
              <a:t>School of Computer Science</a:t>
            </a:r>
            <a:endParaRPr kumimoji="0" lang="en-US" altLang="en-US" sz="1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sym typeface="Gill Sans" charset="0"/>
            </a:endParaRPr>
          </a:p>
        </p:txBody>
      </p:sp>
      <p:pic>
        <p:nvPicPr>
          <p:cNvPr id="3" name="图片 2"/>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003399"/>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3399"/>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2pPr>
      <a:lvl3pPr marL="800100" indent="-203200" algn="l" rtl="0" fontAlgn="base">
        <a:spcBef>
          <a:spcPts val="500"/>
        </a:spcBef>
        <a:spcAft>
          <a:spcPct val="0"/>
        </a:spcAft>
        <a:buClr>
          <a:srgbClr val="003399"/>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231900" indent="0" algn="l" rtl="0" fontAlgn="base">
        <a:spcBef>
          <a:spcPts val="500"/>
        </a:spcBef>
        <a:spcAft>
          <a:spcPct val="0"/>
        </a:spcAft>
        <a:buClr>
          <a:srgbClr val="000000"/>
        </a:buClr>
        <a:buSzPct val="100000"/>
        <a:buFont typeface="Calibri" panose="020F0502020204030204" charset="0"/>
        <a:buNone/>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0.xml"/><Relationship Id="rId2" Type="http://schemas.openxmlformats.org/officeDocument/2006/relationships/image" Target="../media/image4.e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4.xml"/><Relationship Id="rId2" Type="http://schemas.openxmlformats.org/officeDocument/2006/relationships/image" Target="../media/image15.emf"/><Relationship Id="rId1" Type="http://schemas.openxmlformats.org/officeDocument/2006/relationships/oleObject" Target="../embeddings/oleObject3.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NULL" TargetMode="External"/><Relationship Id="rId1" Type="http://schemas.openxmlformats.org/officeDocument/2006/relationships/image" Target="../media/image17.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NULL" TargetMode="External"/><Relationship Id="rId1"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20.png"/><Relationship Id="rId3" Type="http://schemas.openxmlformats.org/officeDocument/2006/relationships/hyperlink" Target="&#32452;&#25104;&#21407;&#29702;&#31532;&#22235;&#29256;2008-0520/8.17.swf" TargetMode="External"/><Relationship Id="rId2" Type="http://schemas.openxmlformats.org/officeDocument/2006/relationships/image" Target="../media/image19.png"/><Relationship Id="rId1" Type="http://schemas.openxmlformats.org/officeDocument/2006/relationships/hyperlink" Target="&#32452;&#25104;&#21407;&#29702;&#31532;&#22235;&#29256;2008-0520/8.16.swf" TargetMode="Externa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1.png"/><Relationship Id="rId1" Type="http://schemas.openxmlformats.org/officeDocument/2006/relationships/hyperlink" Target="&#32452;&#25104;&#21407;&#29702;&#31532;&#22235;&#29256;2008-0520/8.18.swf"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2.png"/><Relationship Id="rId1" Type="http://schemas.openxmlformats.org/officeDocument/2006/relationships/hyperlink" Target="&#32452;&#25104;&#21407;&#29702;&#31532;&#22235;&#29256;2008-0520/8.19.swf"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3.png"/><Relationship Id="rId1" Type="http://schemas.openxmlformats.org/officeDocument/2006/relationships/hyperlink" Target="&#32452;&#25104;&#21407;&#29702;&#31532;&#22235;&#29256;2008-0520/8.20.swf"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4.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第</a:t>
            </a:r>
            <a:r>
              <a:rPr lang="en-US" altLang="zh-CN" dirty="0"/>
              <a:t>8</a:t>
            </a:r>
            <a:r>
              <a:rPr lang="zh-CN" altLang="en-US" dirty="0"/>
              <a:t>章 </a:t>
            </a:r>
            <a:r>
              <a:rPr lang="zh-CN" altLang="en-US" dirty="0">
                <a:latin typeface="黑体" panose="02010609060101010101" pitchFamily="49" charset="-122"/>
              </a:rPr>
              <a:t>输入输出系统</a:t>
            </a:r>
            <a:endParaRPr lang="zh-CN"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8.1 </a:t>
            </a:r>
            <a:r>
              <a:rPr lang="zh-CN" altLang="en-US" dirty="0"/>
              <a:t>外围设备的定时方式和</a:t>
            </a:r>
            <a:br>
              <a:rPr lang="zh-CN" altLang="en-US" dirty="0"/>
            </a:br>
            <a:r>
              <a:rPr lang="zh-CN" altLang="en-US" dirty="0"/>
              <a:t>       信息交换方式</a:t>
            </a:r>
            <a:endParaRPr lang="zh-CN"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a:xfrm>
            <a:off x="233363" y="282381"/>
            <a:ext cx="7743825" cy="760413"/>
          </a:xfrm>
        </p:spPr>
        <p:txBody>
          <a:bodyPr/>
          <a:lstStyle/>
          <a:p>
            <a:pPr eaLnBrk="1" hangingPunct="1">
              <a:defRPr/>
            </a:pPr>
            <a:r>
              <a:rPr lang="zh-CN" altLang="en-US" dirty="0"/>
              <a:t>计算机组成</a:t>
            </a:r>
            <a:endParaRPr lang="zh-CN" altLang="en-US" dirty="0"/>
          </a:p>
        </p:txBody>
      </p:sp>
      <p:sp>
        <p:nvSpPr>
          <p:cNvPr id="14339" name="Rectangle 3"/>
          <p:cNvSpPr>
            <a:spLocks noGrp="1" noChangeArrowheads="1"/>
          </p:cNvSpPr>
          <p:nvPr>
            <p:ph type="body" sz="half" idx="2"/>
          </p:nvPr>
        </p:nvSpPr>
        <p:spPr>
          <a:xfrm>
            <a:off x="5154613" y="1143000"/>
            <a:ext cx="3810000" cy="5105400"/>
          </a:xfrm>
        </p:spPr>
        <p:txBody>
          <a:bodyPr/>
          <a:lstStyle/>
          <a:p>
            <a:pPr eaLnBrk="1" hangingPunct="1">
              <a:lnSpc>
                <a:spcPct val="90000"/>
              </a:lnSpc>
            </a:pPr>
            <a:r>
              <a:rPr lang="en-US" altLang="zh-CN" sz="2300" u="sng"/>
              <a:t>Datapath</a:t>
            </a:r>
            <a:r>
              <a:rPr lang="en-US" altLang="zh-CN" sz="2300"/>
              <a:t>: </a:t>
            </a:r>
            <a:r>
              <a:rPr lang="zh-CN" altLang="en-US" sz="2300"/>
              <a:t>完成算术和逻辑运算，通常包括其中的寄存器。</a:t>
            </a:r>
            <a:endParaRPr lang="zh-CN" altLang="en-US" sz="2300"/>
          </a:p>
          <a:p>
            <a:pPr eaLnBrk="1" hangingPunct="1">
              <a:lnSpc>
                <a:spcPct val="90000"/>
              </a:lnSpc>
            </a:pPr>
            <a:r>
              <a:rPr lang="en-US" altLang="zh-CN" sz="2300" u="sng"/>
              <a:t>Control</a:t>
            </a:r>
            <a:r>
              <a:rPr lang="en-US" altLang="zh-CN" sz="2300"/>
              <a:t>:  CPU</a:t>
            </a:r>
            <a:r>
              <a:rPr lang="zh-CN" altLang="en-US" sz="2300"/>
              <a:t>的组成部分，它根据程序指令来指挥</a:t>
            </a:r>
            <a:r>
              <a:rPr lang="en-US" altLang="zh-CN" sz="2300"/>
              <a:t>datapath</a:t>
            </a:r>
            <a:r>
              <a:rPr lang="zh-CN" altLang="en-US" sz="2300"/>
              <a:t>， </a:t>
            </a:r>
            <a:r>
              <a:rPr lang="en-US" altLang="zh-CN" sz="2300"/>
              <a:t>memory</a:t>
            </a:r>
            <a:r>
              <a:rPr lang="zh-CN" altLang="en-US" sz="2300"/>
              <a:t>以及</a:t>
            </a:r>
            <a:r>
              <a:rPr lang="en-US" altLang="zh-CN" sz="2300"/>
              <a:t>I/O</a:t>
            </a:r>
            <a:r>
              <a:rPr lang="zh-CN" altLang="en-US" sz="2300"/>
              <a:t>运行，共同完成程序功能。</a:t>
            </a:r>
            <a:endParaRPr lang="zh-CN" altLang="en-US" sz="2300"/>
          </a:p>
          <a:p>
            <a:pPr eaLnBrk="1" hangingPunct="1">
              <a:lnSpc>
                <a:spcPct val="90000"/>
              </a:lnSpc>
            </a:pPr>
            <a:r>
              <a:rPr lang="en-US" altLang="zh-CN" sz="2300" u="sng"/>
              <a:t>Memory</a:t>
            </a:r>
            <a:r>
              <a:rPr lang="en-US" altLang="zh-CN" sz="2300"/>
              <a:t>: </a:t>
            </a:r>
            <a:r>
              <a:rPr lang="zh-CN" altLang="en-US" sz="2300"/>
              <a:t>存放运行时程序及其所需要的数据的场所。</a:t>
            </a:r>
            <a:endParaRPr lang="zh-CN" altLang="en-US" sz="2300"/>
          </a:p>
          <a:p>
            <a:pPr eaLnBrk="1" hangingPunct="1">
              <a:lnSpc>
                <a:spcPct val="90000"/>
              </a:lnSpc>
            </a:pPr>
            <a:r>
              <a:rPr lang="en-US" altLang="zh-CN" sz="2300" u="sng"/>
              <a:t>Input</a:t>
            </a:r>
            <a:r>
              <a:rPr lang="en-US" altLang="zh-CN" sz="2300"/>
              <a:t>: </a:t>
            </a:r>
            <a:r>
              <a:rPr lang="zh-CN" altLang="en-US" sz="2300"/>
              <a:t>信息进入计算机的设备，如键盘、鼠标等。</a:t>
            </a:r>
            <a:endParaRPr lang="zh-CN" altLang="en-US" sz="2300"/>
          </a:p>
          <a:p>
            <a:pPr eaLnBrk="1" hangingPunct="1">
              <a:lnSpc>
                <a:spcPct val="90000"/>
              </a:lnSpc>
            </a:pPr>
            <a:r>
              <a:rPr lang="en-US" altLang="zh-CN" sz="2300" u="sng"/>
              <a:t>Output</a:t>
            </a:r>
            <a:r>
              <a:rPr lang="en-US" altLang="zh-CN" sz="2300"/>
              <a:t>: </a:t>
            </a:r>
            <a:r>
              <a:rPr lang="zh-CN" altLang="en-US" sz="2300"/>
              <a:t>将计算结果展示给用户的设备，如显示器、磁盘、打印机、喇叭等。</a:t>
            </a:r>
            <a:endParaRPr lang="zh-CN" altLang="en-US" sz="2300"/>
          </a:p>
        </p:txBody>
      </p:sp>
      <p:grpSp>
        <p:nvGrpSpPr>
          <p:cNvPr id="14341" name="Group 4"/>
          <p:cNvGrpSpPr/>
          <p:nvPr/>
        </p:nvGrpSpPr>
        <p:grpSpPr bwMode="auto">
          <a:xfrm>
            <a:off x="233363" y="1431925"/>
            <a:ext cx="4986337" cy="4371975"/>
            <a:chOff x="256" y="1101"/>
            <a:chExt cx="3141" cy="2412"/>
          </a:xfrm>
        </p:grpSpPr>
        <p:sp>
          <p:nvSpPr>
            <p:cNvPr id="14342" name="Rectangle 5"/>
            <p:cNvSpPr>
              <a:spLocks noChangeArrowheads="1"/>
            </p:cNvSpPr>
            <p:nvPr/>
          </p:nvSpPr>
          <p:spPr bwMode="auto">
            <a:xfrm>
              <a:off x="256" y="1101"/>
              <a:ext cx="2765" cy="2412"/>
            </a:xfrm>
            <a:prstGeom prst="rect">
              <a:avLst/>
            </a:prstGeom>
            <a:solidFill>
              <a:schemeClr val="bg1"/>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endParaRPr lang="zh-CN" altLang="zh-CN" sz="2400" b="0">
                <a:solidFill>
                  <a:srgbClr val="00FF00"/>
                </a:solidFill>
                <a:ea typeface="宋体" panose="02010600030101010101" pitchFamily="2" charset="-122"/>
              </a:endParaRPr>
            </a:p>
          </p:txBody>
        </p:sp>
        <p:sp>
          <p:nvSpPr>
            <p:cNvPr id="14343" name="Text Box 6"/>
            <p:cNvSpPr txBox="1">
              <a:spLocks noChangeArrowheads="1"/>
            </p:cNvSpPr>
            <p:nvPr/>
          </p:nvSpPr>
          <p:spPr bwMode="auto">
            <a:xfrm>
              <a:off x="540" y="3148"/>
              <a:ext cx="88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b="0">
                  <a:ea typeface="宋体" panose="02010600030101010101" pitchFamily="2" charset="-122"/>
                </a:rPr>
                <a:t>Computer</a:t>
              </a:r>
              <a:endParaRPr lang="en-US" altLang="zh-CN" sz="2400" b="0">
                <a:ea typeface="宋体" panose="02010600030101010101" pitchFamily="2" charset="-122"/>
              </a:endParaRPr>
            </a:p>
          </p:txBody>
        </p:sp>
        <p:sp>
          <p:nvSpPr>
            <p:cNvPr id="14344" name="AutoShape 7"/>
            <p:cNvSpPr>
              <a:spLocks noChangeArrowheads="1"/>
            </p:cNvSpPr>
            <p:nvPr/>
          </p:nvSpPr>
          <p:spPr bwMode="auto">
            <a:xfrm>
              <a:off x="1677" y="1593"/>
              <a:ext cx="720" cy="1555"/>
            </a:xfrm>
            <a:prstGeom prst="roundRect">
              <a:avLst>
                <a:gd name="adj" fmla="val 16667"/>
              </a:avLst>
            </a:prstGeom>
            <a:solidFill>
              <a:srgbClr val="008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b="0">
                  <a:solidFill>
                    <a:srgbClr val="FFFF00"/>
                  </a:solidFill>
                  <a:ea typeface="宋体" panose="02010600030101010101" pitchFamily="2" charset="-122"/>
                </a:rPr>
                <a:t>Memory</a:t>
              </a:r>
              <a:endParaRPr lang="en-US" altLang="zh-CN" sz="2400" b="0">
                <a:solidFill>
                  <a:srgbClr val="FFFF00"/>
                </a:solidFill>
                <a:ea typeface="宋体" panose="02010600030101010101" pitchFamily="2" charset="-122"/>
              </a:endParaRPr>
            </a:p>
          </p:txBody>
        </p:sp>
        <p:sp>
          <p:nvSpPr>
            <p:cNvPr id="14345" name="AutoShape 8"/>
            <p:cNvSpPr>
              <a:spLocks noChangeArrowheads="1"/>
            </p:cNvSpPr>
            <p:nvPr/>
          </p:nvSpPr>
          <p:spPr bwMode="auto">
            <a:xfrm>
              <a:off x="2397" y="1737"/>
              <a:ext cx="960" cy="432"/>
            </a:xfrm>
            <a:prstGeom prst="leftArrow">
              <a:avLst>
                <a:gd name="adj1" fmla="val 50000"/>
                <a:gd name="adj2" fmla="val 55556"/>
              </a:avLst>
            </a:prstGeom>
            <a:solidFill>
              <a:srgbClr val="FF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b="0">
                  <a:solidFill>
                    <a:srgbClr val="FFFF00"/>
                  </a:solidFill>
                  <a:ea typeface="宋体" panose="02010600030101010101" pitchFamily="2" charset="-122"/>
                </a:rPr>
                <a:t>Input</a:t>
              </a:r>
              <a:endParaRPr lang="en-US" altLang="zh-CN" sz="2400" b="0">
                <a:solidFill>
                  <a:srgbClr val="FFFF00"/>
                </a:solidFill>
                <a:ea typeface="宋体" panose="02010600030101010101" pitchFamily="2" charset="-122"/>
              </a:endParaRPr>
            </a:p>
          </p:txBody>
        </p:sp>
        <p:sp>
          <p:nvSpPr>
            <p:cNvPr id="14346" name="AutoShape 9"/>
            <p:cNvSpPr>
              <a:spLocks noChangeArrowheads="1"/>
            </p:cNvSpPr>
            <p:nvPr/>
          </p:nvSpPr>
          <p:spPr bwMode="auto">
            <a:xfrm>
              <a:off x="2437" y="2480"/>
              <a:ext cx="960" cy="432"/>
            </a:xfrm>
            <a:prstGeom prst="rightArrow">
              <a:avLst>
                <a:gd name="adj1" fmla="val 50000"/>
                <a:gd name="adj2" fmla="val 55556"/>
              </a:avLst>
            </a:prstGeom>
            <a:solidFill>
              <a:srgbClr val="CC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b="0">
                  <a:solidFill>
                    <a:srgbClr val="FFFF00"/>
                  </a:solidFill>
                  <a:ea typeface="宋体" panose="02010600030101010101" pitchFamily="2" charset="-122"/>
                </a:rPr>
                <a:t>Output</a:t>
              </a:r>
              <a:endParaRPr lang="en-US" altLang="zh-CN" sz="2400" b="0">
                <a:solidFill>
                  <a:srgbClr val="FFFF00"/>
                </a:solidFill>
                <a:ea typeface="宋体" panose="02010600030101010101" pitchFamily="2" charset="-122"/>
              </a:endParaRPr>
            </a:p>
          </p:txBody>
        </p:sp>
        <p:sp>
          <p:nvSpPr>
            <p:cNvPr id="14347" name="AutoShape 10"/>
            <p:cNvSpPr>
              <a:spLocks noChangeArrowheads="1"/>
            </p:cNvSpPr>
            <p:nvPr/>
          </p:nvSpPr>
          <p:spPr bwMode="auto">
            <a:xfrm>
              <a:off x="1101" y="1881"/>
              <a:ext cx="576" cy="1267"/>
            </a:xfrm>
            <a:prstGeom prst="curvedRightArrow">
              <a:avLst>
                <a:gd name="adj1" fmla="val 43993"/>
                <a:gd name="adj2" fmla="val 87986"/>
                <a:gd name="adj3" fmla="val 33333"/>
              </a:avLst>
            </a:prstGeom>
            <a:gradFill rotWithShape="0">
              <a:gsLst>
                <a:gs pos="0">
                  <a:schemeClr val="accent1"/>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4348" name="AutoShape 11"/>
            <p:cNvSpPr>
              <a:spLocks noChangeArrowheads="1"/>
            </p:cNvSpPr>
            <p:nvPr/>
          </p:nvSpPr>
          <p:spPr bwMode="auto">
            <a:xfrm>
              <a:off x="477" y="2292"/>
              <a:ext cx="1137" cy="3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2 w 21600"/>
                <a:gd name="T13" fmla="*/ 4505 h 21600"/>
                <a:gd name="T14" fmla="*/ 17098 w 21600"/>
                <a:gd name="T15" fmla="*/ 17095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b="0">
                  <a:solidFill>
                    <a:srgbClr val="FFFF00"/>
                  </a:solidFill>
                  <a:ea typeface="宋体" panose="02010600030101010101" pitchFamily="2" charset="-122"/>
                </a:rPr>
                <a:t>Datapath</a:t>
              </a:r>
              <a:endParaRPr lang="en-US" altLang="zh-CN" sz="2400" b="0">
                <a:solidFill>
                  <a:srgbClr val="FFFF00"/>
                </a:solidFill>
                <a:ea typeface="宋体" panose="02010600030101010101" pitchFamily="2" charset="-122"/>
              </a:endParaRPr>
            </a:p>
          </p:txBody>
        </p:sp>
        <p:sp>
          <p:nvSpPr>
            <p:cNvPr id="14349" name="AutoShape 12"/>
            <p:cNvSpPr>
              <a:spLocks noChangeArrowheads="1"/>
            </p:cNvSpPr>
            <p:nvPr/>
          </p:nvSpPr>
          <p:spPr bwMode="auto">
            <a:xfrm>
              <a:off x="540" y="1353"/>
              <a:ext cx="883" cy="672"/>
            </a:xfrm>
            <a:prstGeom prst="hexagon">
              <a:avLst>
                <a:gd name="adj" fmla="val 32850"/>
                <a:gd name="vf" fmla="val 115470"/>
              </a:avLst>
            </a:prstGeom>
            <a:solidFill>
              <a:srgbClr val="CC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b="0">
                  <a:solidFill>
                    <a:srgbClr val="FFFF00"/>
                  </a:solidFill>
                  <a:ea typeface="宋体" panose="02010600030101010101" pitchFamily="2" charset="-122"/>
                </a:rPr>
                <a:t>Control</a:t>
              </a:r>
              <a:endParaRPr lang="en-US" altLang="zh-CN" sz="2400" b="0">
                <a:solidFill>
                  <a:srgbClr val="FFFF00"/>
                </a:solidFill>
                <a:ea typeface="宋体" panose="02010600030101010101" pitchFamily="2" charset="-122"/>
              </a:endParaRPr>
            </a:p>
          </p:txBody>
        </p:sp>
      </p:grpSp>
    </p:spTree>
  </p:cSld>
  <p:clrMapOvr>
    <a:masterClrMapping/>
  </p:clrMapOvr>
  <p:transition spd="med">
    <p:pull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pPr eaLnBrk="1" hangingPunct="1">
              <a:defRPr/>
            </a:pPr>
            <a:r>
              <a:rPr lang="zh-CN" altLang="en-US" sz="4800">
                <a:latin typeface="方正隶书简体" pitchFamily="2" charset="-122"/>
              </a:rPr>
              <a:t>输入输出系统的组成</a:t>
            </a:r>
            <a:endParaRPr lang="zh-CN" altLang="en-US" sz="4800">
              <a:latin typeface="方正隶书简体" pitchFamily="2" charset="-122"/>
            </a:endParaRPr>
          </a:p>
        </p:txBody>
      </p:sp>
      <p:sp>
        <p:nvSpPr>
          <p:cNvPr id="16387" name="Rectangle 3"/>
          <p:cNvSpPr>
            <a:spLocks noGrp="1" noChangeArrowheads="1"/>
          </p:cNvSpPr>
          <p:nvPr>
            <p:ph idx="1"/>
          </p:nvPr>
        </p:nvSpPr>
        <p:spPr>
          <a:xfrm>
            <a:off x="381000" y="1219200"/>
            <a:ext cx="8382000" cy="5232400"/>
          </a:xfrm>
        </p:spPr>
        <p:txBody>
          <a:bodyPr/>
          <a:lstStyle/>
          <a:p>
            <a:pPr eaLnBrk="1" hangingPunct="1"/>
            <a:r>
              <a:rPr lang="en-US" altLang="zh-CN" dirty="0"/>
              <a:t>I/O</a:t>
            </a:r>
            <a:r>
              <a:rPr lang="zh-CN" altLang="en-US" dirty="0"/>
              <a:t>设备</a:t>
            </a:r>
            <a:r>
              <a:rPr lang="en-US" altLang="zh-CN" dirty="0"/>
              <a:t>(</a:t>
            </a:r>
            <a:r>
              <a:rPr lang="zh-CN" altLang="en-US" dirty="0"/>
              <a:t>外围设备</a:t>
            </a:r>
            <a:r>
              <a:rPr lang="en-US" altLang="zh-CN" dirty="0"/>
              <a:t>)</a:t>
            </a:r>
            <a:endParaRPr lang="en-US" altLang="zh-CN" dirty="0"/>
          </a:p>
          <a:p>
            <a:pPr eaLnBrk="1" hangingPunct="1"/>
            <a:r>
              <a:rPr lang="en-US" altLang="zh-CN" dirty="0"/>
              <a:t>I/O</a:t>
            </a:r>
            <a:r>
              <a:rPr lang="zh-CN" altLang="en-US" dirty="0"/>
              <a:t>接口</a:t>
            </a:r>
            <a:endParaRPr lang="zh-CN" altLang="en-US" dirty="0"/>
          </a:p>
          <a:p>
            <a:pPr eaLnBrk="1" hangingPunct="1"/>
            <a:r>
              <a:rPr lang="en-US" altLang="zh-CN" dirty="0"/>
              <a:t>I/O</a:t>
            </a:r>
            <a:r>
              <a:rPr lang="zh-CN" altLang="en-US" dirty="0"/>
              <a:t>设备控制器</a:t>
            </a:r>
            <a:endParaRPr lang="zh-CN" altLang="en-US" dirty="0"/>
          </a:p>
          <a:p>
            <a:pPr eaLnBrk="1" hangingPunct="1"/>
            <a:r>
              <a:rPr lang="en-US" altLang="zh-CN" dirty="0"/>
              <a:t>I/O</a:t>
            </a:r>
            <a:r>
              <a:rPr lang="zh-CN" altLang="en-US" dirty="0"/>
              <a:t>管理软件（驱动程序）</a:t>
            </a:r>
            <a:endParaRPr lang="zh-CN" altLang="en-US" dirty="0"/>
          </a:p>
        </p:txBody>
      </p:sp>
    </p:spTree>
  </p:cSld>
  <p:clrMapOvr>
    <a:masterClrMapping/>
  </p:clrMapOvr>
  <p:transition spd="med">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382588" y="228600"/>
            <a:ext cx="8743949" cy="762000"/>
          </a:xfrm>
        </p:spPr>
        <p:txBody>
          <a:bodyPr/>
          <a:lstStyle/>
          <a:p>
            <a:pPr eaLnBrk="1" hangingPunct="1">
              <a:defRPr/>
            </a:pPr>
            <a:r>
              <a:rPr lang="zh-CN" altLang="en-US" dirty="0"/>
              <a:t>输入</a:t>
            </a:r>
            <a:r>
              <a:rPr lang="en-US" altLang="zh-CN" dirty="0"/>
              <a:t>/</a:t>
            </a:r>
            <a:r>
              <a:rPr lang="zh-CN" altLang="en-US" dirty="0"/>
              <a:t>输出操作的两个传输阶段 </a:t>
            </a:r>
            <a:endParaRPr lang="zh-CN" altLang="en-US" dirty="0"/>
          </a:p>
        </p:txBody>
      </p:sp>
      <p:sp>
        <p:nvSpPr>
          <p:cNvPr id="17411" name="Rectangle 3"/>
          <p:cNvSpPr>
            <a:spLocks noGrp="1" noChangeArrowheads="1"/>
          </p:cNvSpPr>
          <p:nvPr>
            <p:ph type="body" sz="half" idx="1"/>
          </p:nvPr>
        </p:nvSpPr>
        <p:spPr>
          <a:xfrm>
            <a:off x="382588" y="4953000"/>
            <a:ext cx="8559800" cy="1411288"/>
          </a:xfrm>
          <a:solidFill>
            <a:srgbClr val="FFFFFF"/>
          </a:solidFill>
        </p:spPr>
        <p:txBody>
          <a:bodyPr/>
          <a:lstStyle/>
          <a:p>
            <a:pPr marL="742950" indent="-742950" eaLnBrk="1" hangingPunct="1">
              <a:buFont typeface="Times New Roman" panose="02020603050405020304" pitchFamily="18" charset="0"/>
              <a:buAutoNum type="arabicPeriod"/>
            </a:pPr>
            <a:r>
              <a:rPr lang="en-US" altLang="zh-CN" dirty="0"/>
              <a:t>CPU</a:t>
            </a:r>
            <a:r>
              <a:rPr lang="zh-CN" altLang="en-US" dirty="0"/>
              <a:t>与</a:t>
            </a:r>
            <a:r>
              <a:rPr lang="en-US" altLang="zh-CN" dirty="0"/>
              <a:t>I/O</a:t>
            </a:r>
            <a:r>
              <a:rPr lang="zh-CN" altLang="en-US" dirty="0"/>
              <a:t>接口之间的数据传送</a:t>
            </a:r>
            <a:endParaRPr lang="zh-CN" altLang="en-US" dirty="0"/>
          </a:p>
          <a:p>
            <a:pPr marL="742950" indent="-742950" eaLnBrk="1" hangingPunct="1">
              <a:buFont typeface="Times New Roman" panose="02020603050405020304" pitchFamily="18" charset="0"/>
              <a:buAutoNum type="arabicPeriod"/>
            </a:pPr>
            <a:r>
              <a:rPr lang="en-US" altLang="zh-CN" dirty="0"/>
              <a:t>I/O</a:t>
            </a:r>
            <a:r>
              <a:rPr lang="zh-CN" altLang="en-US" dirty="0"/>
              <a:t>接口与外设间的数据传送</a:t>
            </a:r>
            <a:endParaRPr lang="zh-CN" altLang="en-US" dirty="0"/>
          </a:p>
        </p:txBody>
      </p:sp>
      <p:graphicFrame>
        <p:nvGraphicFramePr>
          <p:cNvPr id="17412" name="Object 6"/>
          <p:cNvGraphicFramePr>
            <a:graphicFrameLocks noGrp="1" noChangeAspect="1"/>
          </p:cNvGraphicFramePr>
          <p:nvPr>
            <p:ph sz="half" idx="2"/>
          </p:nvPr>
        </p:nvGraphicFramePr>
        <p:xfrm>
          <a:off x="1005681" y="1447800"/>
          <a:ext cx="7132638" cy="3498850"/>
        </p:xfrm>
        <a:graphic>
          <a:graphicData uri="http://schemas.openxmlformats.org/presentationml/2006/ole">
            <mc:AlternateContent xmlns:mc="http://schemas.openxmlformats.org/markup-compatibility/2006">
              <mc:Choice xmlns:v="urn:schemas-microsoft-com:vml" Requires="v">
                <p:oleObj spid="_x0000_s1028" name="VISIO" r:id="rId1" imgW="3752215" imgH="1840865" progId="Visio.Drawing.5">
                  <p:embed/>
                </p:oleObj>
              </mc:Choice>
              <mc:Fallback>
                <p:oleObj name="VISIO" r:id="rId1" imgW="3752215" imgH="1840865" progId="Visio.Drawing.5">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681" y="1447800"/>
                        <a:ext cx="7132638" cy="349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pPr eaLnBrk="1" hangingPunct="1">
              <a:defRPr/>
            </a:pPr>
            <a:r>
              <a:rPr lang="en-US" altLang="zh-CN"/>
              <a:t>CPU</a:t>
            </a:r>
            <a:r>
              <a:rPr lang="zh-CN" altLang="en-US"/>
              <a:t>与外设之间的定时</a:t>
            </a:r>
            <a:endParaRPr lang="zh-CN" altLang="en-US"/>
          </a:p>
        </p:txBody>
      </p:sp>
      <p:sp>
        <p:nvSpPr>
          <p:cNvPr id="18435" name="Rectangle 3"/>
          <p:cNvSpPr>
            <a:spLocks noGrp="1" noChangeArrowheads="1"/>
          </p:cNvSpPr>
          <p:nvPr>
            <p:ph idx="1"/>
          </p:nvPr>
        </p:nvSpPr>
        <p:spPr/>
        <p:txBody>
          <a:bodyPr/>
          <a:lstStyle/>
          <a:p>
            <a:pPr eaLnBrk="1" hangingPunct="1"/>
            <a:r>
              <a:rPr lang="zh-CN" altLang="en-US" dirty="0"/>
              <a:t>外设种类繁多，存在以下几种情况：</a:t>
            </a:r>
            <a:endParaRPr lang="zh-CN" altLang="en-US" dirty="0"/>
          </a:p>
          <a:p>
            <a:pPr lvl="1" eaLnBrk="1" hangingPunct="1"/>
            <a:r>
              <a:rPr lang="zh-CN" altLang="en-US" dirty="0"/>
              <a:t>不同种类的外设数据传输速率差别很大</a:t>
            </a:r>
            <a:endParaRPr lang="zh-CN" altLang="en-US" dirty="0"/>
          </a:p>
          <a:p>
            <a:pPr lvl="1" eaLnBrk="1" hangingPunct="1"/>
            <a:r>
              <a:rPr lang="zh-CN" altLang="en-US" dirty="0"/>
              <a:t>同一种设备在不同时刻传输速率也可能不同</a:t>
            </a:r>
            <a:endParaRPr lang="zh-CN" altLang="en-US" dirty="0"/>
          </a:p>
          <a:p>
            <a:endParaRPr lang="en-US" altLang="zh-CN" dirty="0"/>
          </a:p>
          <a:p>
            <a:r>
              <a:rPr lang="zh-CN" altLang="en-US" dirty="0"/>
              <a:t>高速的</a:t>
            </a:r>
            <a:r>
              <a:rPr lang="en-US" altLang="zh-CN" dirty="0"/>
              <a:t>CPU</a:t>
            </a:r>
            <a:r>
              <a:rPr lang="zh-CN" altLang="en-US" dirty="0"/>
              <a:t>与速度参差不齐的外设怎样在时间上同步呢？</a:t>
            </a:r>
            <a:endParaRPr lang="zh-CN" altLang="en-US" dirty="0"/>
          </a:p>
          <a:p>
            <a:pPr lvl="1"/>
            <a:r>
              <a:rPr lang="zh-CN" altLang="en-US" dirty="0"/>
              <a:t>解决办法时在</a:t>
            </a:r>
            <a:r>
              <a:rPr lang="en-US" altLang="zh-CN" dirty="0"/>
              <a:t>CPU</a:t>
            </a:r>
            <a:r>
              <a:rPr lang="zh-CN" altLang="en-US" dirty="0"/>
              <a:t>和外设之间数据传送时选择适当的定时方式</a:t>
            </a:r>
            <a:endParaRPr lang="zh-CN" altLang="en-US" dirty="0"/>
          </a:p>
        </p:txBody>
      </p:sp>
    </p:spTree>
  </p:cSld>
  <p:clrMapOvr>
    <a:masterClrMapping/>
  </p:clrMapOvr>
  <p:transition spd="med">
    <p:pull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p:txBody>
          <a:bodyPr/>
          <a:lstStyle/>
          <a:p>
            <a:pPr eaLnBrk="1" hangingPunct="1">
              <a:defRPr/>
            </a:pPr>
            <a:r>
              <a:rPr lang="en-US" altLang="zh-CN"/>
              <a:t>CPU</a:t>
            </a:r>
            <a:r>
              <a:rPr lang="zh-CN" altLang="en-US"/>
              <a:t>与外设之间的定时种类</a:t>
            </a:r>
            <a:endParaRPr lang="zh-CN" altLang="en-US"/>
          </a:p>
        </p:txBody>
      </p:sp>
      <p:sp>
        <p:nvSpPr>
          <p:cNvPr id="19459" name="Rectangle 3"/>
          <p:cNvSpPr>
            <a:spLocks noGrp="1" noChangeArrowheads="1"/>
          </p:cNvSpPr>
          <p:nvPr>
            <p:ph idx="1"/>
          </p:nvPr>
        </p:nvSpPr>
        <p:spPr>
          <a:xfrm>
            <a:off x="381000" y="1219200"/>
            <a:ext cx="8382000" cy="5110814"/>
          </a:xfrm>
        </p:spPr>
        <p:txBody>
          <a:bodyPr/>
          <a:lstStyle/>
          <a:p>
            <a:pPr eaLnBrk="1" hangingPunct="1"/>
            <a:r>
              <a:rPr lang="zh-CN" altLang="en-US" dirty="0"/>
              <a:t>速度极慢或简单的外设</a:t>
            </a:r>
            <a:endParaRPr lang="zh-CN" altLang="en-US" dirty="0"/>
          </a:p>
          <a:p>
            <a:pPr lvl="1" eaLnBrk="1" hangingPunct="1"/>
            <a:r>
              <a:rPr lang="en-US" altLang="zh-CN" dirty="0"/>
              <a:t>CPU</a:t>
            </a:r>
            <a:r>
              <a:rPr lang="zh-CN" altLang="en-US" dirty="0"/>
              <a:t>只需要接收或者发送数据即可，即无条件传送方式</a:t>
            </a:r>
            <a:endParaRPr lang="zh-CN" altLang="en-US" dirty="0"/>
          </a:p>
          <a:p>
            <a:r>
              <a:rPr lang="zh-CN" altLang="en-US" dirty="0"/>
              <a:t>慢速或者中速的设备</a:t>
            </a:r>
            <a:endParaRPr lang="zh-CN" altLang="en-US" dirty="0"/>
          </a:p>
          <a:p>
            <a:pPr lvl="1"/>
            <a:r>
              <a:rPr lang="zh-CN" altLang="en-US" dirty="0"/>
              <a:t>可以采用异步传送（即：应答）方式</a:t>
            </a:r>
            <a:endParaRPr lang="zh-CN" altLang="en-US" dirty="0"/>
          </a:p>
          <a:p>
            <a:pPr eaLnBrk="1" hangingPunct="1"/>
            <a:r>
              <a:rPr lang="zh-CN" altLang="en-US" dirty="0"/>
              <a:t>高速外设</a:t>
            </a:r>
            <a:endParaRPr lang="zh-CN" altLang="en-US" dirty="0"/>
          </a:p>
          <a:p>
            <a:pPr lvl="1" eaLnBrk="1" hangingPunct="1"/>
            <a:r>
              <a:rPr lang="zh-CN" altLang="en-US" dirty="0"/>
              <a:t>采用同步传送方式</a:t>
            </a:r>
            <a:endParaRPr lang="zh-CN" altLang="en-US" dirty="0"/>
          </a:p>
        </p:txBody>
      </p:sp>
    </p:spTree>
  </p:cSld>
  <p:clrMapOvr>
    <a:masterClrMapping/>
  </p:clrMapOvr>
  <p:transition spd="med">
    <p:pull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pPr eaLnBrk="1" hangingPunct="1">
              <a:defRPr/>
            </a:pPr>
            <a:r>
              <a:rPr lang="en-US" altLang="zh-CN"/>
              <a:t>CPU</a:t>
            </a:r>
            <a:r>
              <a:rPr lang="zh-CN" altLang="en-US"/>
              <a:t>与外设之间的数据传送式</a:t>
            </a:r>
            <a:endParaRPr lang="zh-CN" altLang="en-US"/>
          </a:p>
        </p:txBody>
      </p:sp>
      <p:sp>
        <p:nvSpPr>
          <p:cNvPr id="20483" name="Rectangle 3"/>
          <p:cNvSpPr>
            <a:spLocks noGrp="1" noChangeArrowheads="1"/>
          </p:cNvSpPr>
          <p:nvPr>
            <p:ph idx="1"/>
          </p:nvPr>
        </p:nvSpPr>
        <p:spPr>
          <a:xfrm>
            <a:off x="381000" y="1219200"/>
            <a:ext cx="8382000" cy="5110814"/>
          </a:xfrm>
        </p:spPr>
        <p:txBody>
          <a:bodyPr/>
          <a:lstStyle/>
          <a:p>
            <a:pPr eaLnBrk="1" hangingPunct="1"/>
            <a:r>
              <a:rPr lang="zh-CN" altLang="en-US" dirty="0"/>
              <a:t>程序查询</a:t>
            </a:r>
            <a:r>
              <a:rPr lang="zh-CN" altLang="en-US" b="0" dirty="0"/>
              <a:t>（</a:t>
            </a:r>
            <a:r>
              <a:rPr lang="en-US" altLang="zh-CN" b="0" dirty="0"/>
              <a:t>Polling</a:t>
            </a:r>
            <a:r>
              <a:rPr lang="zh-CN" altLang="en-US" b="0" dirty="0"/>
              <a:t>）</a:t>
            </a:r>
            <a:r>
              <a:rPr lang="zh-CN" altLang="en-US" dirty="0"/>
              <a:t>方式</a:t>
            </a:r>
            <a:endParaRPr lang="zh-CN" altLang="en-US" b="0" dirty="0"/>
          </a:p>
          <a:p>
            <a:pPr algn="just" eaLnBrk="1" hangingPunct="1"/>
            <a:r>
              <a:rPr lang="zh-CN" altLang="en-US" dirty="0"/>
              <a:t>程序中断方式</a:t>
            </a:r>
            <a:endParaRPr lang="zh-CN" altLang="en-US" dirty="0"/>
          </a:p>
          <a:p>
            <a:pPr algn="just" eaLnBrk="1" hangingPunct="1"/>
            <a:r>
              <a:rPr lang="zh-CN" altLang="en-US" dirty="0"/>
              <a:t>直接存储器存取（</a:t>
            </a:r>
            <a:r>
              <a:rPr lang="en-US" altLang="zh-CN" dirty="0"/>
              <a:t>DMA</a:t>
            </a:r>
            <a:r>
              <a:rPr lang="zh-CN" altLang="en-US" dirty="0"/>
              <a:t>：</a:t>
            </a:r>
            <a:r>
              <a:rPr lang="en-US" altLang="zh-CN" dirty="0"/>
              <a:t>Direct Memory Access </a:t>
            </a:r>
            <a:r>
              <a:rPr lang="zh-CN" altLang="en-US" dirty="0"/>
              <a:t>）方式</a:t>
            </a:r>
            <a:endParaRPr lang="zh-CN" altLang="en-US" dirty="0"/>
          </a:p>
          <a:p>
            <a:pPr algn="just" eaLnBrk="1" hangingPunct="1"/>
            <a:r>
              <a:rPr lang="zh-CN" altLang="en-US" dirty="0">
                <a:solidFill>
                  <a:srgbClr val="4D4D4D"/>
                </a:solidFill>
              </a:rPr>
              <a:t>通道方式</a:t>
            </a:r>
            <a:r>
              <a:rPr lang="zh-CN" altLang="en-US" dirty="0">
                <a:solidFill>
                  <a:srgbClr val="333333"/>
                </a:solidFill>
              </a:rPr>
              <a:t> </a:t>
            </a:r>
            <a:endParaRPr lang="zh-CN" altLang="en-US" dirty="0">
              <a:solidFill>
                <a:srgbClr val="333333"/>
              </a:solidFill>
            </a:endParaRPr>
          </a:p>
          <a:p>
            <a:pPr algn="just" eaLnBrk="1" hangingPunct="1">
              <a:buFont typeface="Wingdings 2" charset="2"/>
              <a:buNone/>
            </a:pPr>
            <a:r>
              <a:rPr lang="zh-CN" altLang="en-US" sz="3600" dirty="0"/>
              <a:t>   </a:t>
            </a:r>
            <a:endParaRPr lang="zh-CN" altLang="en-US" sz="3600" dirty="0">
              <a:solidFill>
                <a:srgbClr val="FF0000"/>
              </a:solidFill>
            </a:endParaRPr>
          </a:p>
        </p:txBody>
      </p:sp>
    </p:spTree>
  </p:cSld>
  <p:clrMapOvr>
    <a:masterClrMapping/>
  </p:clrMapOvr>
  <p:transition spd="med">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pPr eaLnBrk="1" hangingPunct="1">
              <a:defRPr/>
            </a:pPr>
            <a:r>
              <a:rPr lang="en-US" altLang="zh-CN"/>
              <a:t>1. </a:t>
            </a:r>
            <a:r>
              <a:rPr lang="zh-CN" altLang="en-US"/>
              <a:t>程序查询方式</a:t>
            </a:r>
            <a:endParaRPr lang="zh-CN" altLang="en-US"/>
          </a:p>
        </p:txBody>
      </p:sp>
      <p:sp>
        <p:nvSpPr>
          <p:cNvPr id="21507" name="Rectangle 3"/>
          <p:cNvSpPr>
            <a:spLocks noGrp="1" noChangeArrowheads="1"/>
          </p:cNvSpPr>
          <p:nvPr>
            <p:ph idx="1"/>
          </p:nvPr>
        </p:nvSpPr>
        <p:spPr/>
        <p:txBody>
          <a:bodyPr/>
          <a:lstStyle/>
          <a:p>
            <a:pPr eaLnBrk="1" hangingPunct="1"/>
            <a:r>
              <a:rPr lang="zh-CN" altLang="en-US" dirty="0"/>
              <a:t>最简单的输入输出方式</a:t>
            </a:r>
            <a:endParaRPr lang="zh-CN" altLang="en-US" dirty="0"/>
          </a:p>
          <a:p>
            <a:pPr eaLnBrk="1" hangingPunct="1"/>
            <a:r>
              <a:rPr lang="zh-CN" altLang="en-US" dirty="0"/>
              <a:t>程序根据查询到的外设状态，控制数据何时进行输入输出操作</a:t>
            </a:r>
            <a:endParaRPr lang="zh-CN" altLang="en-US" dirty="0"/>
          </a:p>
          <a:p>
            <a:pPr eaLnBrk="1" hangingPunct="1"/>
            <a:r>
              <a:rPr lang="zh-CN" altLang="en-US" dirty="0"/>
              <a:t>特点是：</a:t>
            </a:r>
            <a:endParaRPr lang="zh-CN" altLang="en-US" dirty="0"/>
          </a:p>
          <a:p>
            <a:pPr lvl="1" eaLnBrk="1" hangingPunct="1"/>
            <a:r>
              <a:rPr lang="en-US" altLang="zh-CN" dirty="0"/>
              <a:t>CPU</a:t>
            </a:r>
            <a:r>
              <a:rPr lang="zh-CN" altLang="en-US" dirty="0"/>
              <a:t>需要不断地查询并等待相对慢速的外设</a:t>
            </a:r>
            <a:endParaRPr lang="zh-CN" altLang="en-US" dirty="0"/>
          </a:p>
          <a:p>
            <a:pPr lvl="1" eaLnBrk="1" hangingPunct="1"/>
            <a:r>
              <a:rPr lang="zh-CN" altLang="en-US" dirty="0"/>
              <a:t>效率低，</a:t>
            </a:r>
            <a:r>
              <a:rPr lang="en-US" altLang="zh-CN" dirty="0"/>
              <a:t>CPU</a:t>
            </a:r>
            <a:r>
              <a:rPr lang="zh-CN" altLang="en-US" dirty="0"/>
              <a:t>与外设不能并行工作</a:t>
            </a:r>
            <a:endParaRPr lang="zh-CN" altLang="en-US" dirty="0"/>
          </a:p>
          <a:p>
            <a:pPr lvl="1" eaLnBrk="1" hangingPunct="1"/>
            <a:r>
              <a:rPr lang="zh-CN" altLang="en-US" dirty="0"/>
              <a:t>接口电路简单，硬件开销小</a:t>
            </a:r>
            <a:endParaRPr lang="zh-CN" altLang="en-US" dirty="0"/>
          </a:p>
          <a:p>
            <a:pPr eaLnBrk="1" hangingPunct="1"/>
            <a:endParaRPr lang="en-US" altLang="zh-CN" dirty="0"/>
          </a:p>
        </p:txBody>
      </p:sp>
    </p:spTree>
  </p:cSld>
  <p:clrMapOvr>
    <a:masterClrMapping/>
  </p:clrMapOvr>
  <p:transition spd="med">
    <p:pull dir="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6415" name="Rectangle 63"/>
          <p:cNvSpPr>
            <a:spLocks noGrp="1" noChangeArrowheads="1"/>
          </p:cNvSpPr>
          <p:nvPr>
            <p:ph type="title"/>
          </p:nvPr>
        </p:nvSpPr>
        <p:spPr/>
        <p:txBody>
          <a:bodyPr/>
          <a:lstStyle/>
          <a:p>
            <a:pPr eaLnBrk="1" hangingPunct="1">
              <a:defRPr/>
            </a:pPr>
            <a:r>
              <a:rPr lang="en-US" altLang="zh-CN"/>
              <a:t>2. </a:t>
            </a:r>
            <a:r>
              <a:rPr lang="zh-CN" altLang="en-US"/>
              <a:t>程序中断方式</a:t>
            </a:r>
            <a:endParaRPr lang="zh-CN" altLang="en-US"/>
          </a:p>
        </p:txBody>
      </p:sp>
      <p:sp>
        <p:nvSpPr>
          <p:cNvPr id="22531" name="Rectangle 3"/>
          <p:cNvSpPr>
            <a:spLocks noGrp="1" noChangeArrowheads="1"/>
          </p:cNvSpPr>
          <p:nvPr>
            <p:ph idx="1"/>
          </p:nvPr>
        </p:nvSpPr>
        <p:spPr>
          <a:xfrm>
            <a:off x="160338" y="1158222"/>
            <a:ext cx="8697912" cy="1725613"/>
          </a:xfrm>
        </p:spPr>
        <p:txBody>
          <a:bodyPr/>
          <a:lstStyle/>
          <a:p>
            <a:pPr marL="85725" indent="-85725" algn="just" eaLnBrk="1" hangingPunct="1">
              <a:lnSpc>
                <a:spcPct val="90000"/>
              </a:lnSpc>
              <a:buClr>
                <a:schemeClr val="tx1"/>
              </a:buClr>
              <a:buFontTx/>
              <a:buChar char=" "/>
            </a:pPr>
            <a:r>
              <a:rPr lang="zh-CN" altLang="en-US" sz="2800" dirty="0"/>
              <a:t>当外设需要</a:t>
            </a:r>
            <a:r>
              <a:rPr lang="en-US" altLang="zh-CN" sz="2800" dirty="0"/>
              <a:t>CPU</a:t>
            </a:r>
            <a:r>
              <a:rPr lang="zh-CN" altLang="en-US" sz="2800" dirty="0"/>
              <a:t>服务时，通过接口向</a:t>
            </a:r>
            <a:r>
              <a:rPr lang="en-US" altLang="zh-CN" sz="2800" dirty="0"/>
              <a:t>CPU</a:t>
            </a:r>
            <a:r>
              <a:rPr lang="zh-CN" altLang="en-US" sz="2800" dirty="0"/>
              <a:t>发出中断请求。</a:t>
            </a:r>
            <a:r>
              <a:rPr lang="en-US" altLang="zh-CN" sz="2800" dirty="0"/>
              <a:t>CPU</a:t>
            </a:r>
            <a:r>
              <a:rPr lang="zh-CN" altLang="en-US" sz="2800" dirty="0"/>
              <a:t>在当前机器指令执行完毕后暂停正在执行的主程序，转去执行中断服务程序，待中断服务程序执行完毕，再返回到原程序继续执行。</a:t>
            </a:r>
            <a:endParaRPr lang="zh-CN" altLang="en-US" sz="2800" dirty="0"/>
          </a:p>
        </p:txBody>
      </p:sp>
      <p:sp>
        <p:nvSpPr>
          <p:cNvPr id="22533" name="Line 6"/>
          <p:cNvSpPr>
            <a:spLocks noChangeShapeType="1"/>
          </p:cNvSpPr>
          <p:nvPr/>
        </p:nvSpPr>
        <p:spPr bwMode="auto">
          <a:xfrm>
            <a:off x="7229475" y="3581400"/>
            <a:ext cx="0" cy="8239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34" name="Line 7"/>
          <p:cNvSpPr>
            <a:spLocks noChangeShapeType="1"/>
          </p:cNvSpPr>
          <p:nvPr/>
        </p:nvSpPr>
        <p:spPr bwMode="auto">
          <a:xfrm flipV="1">
            <a:off x="7229475" y="3719513"/>
            <a:ext cx="1017588" cy="685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35" name="Line 8"/>
          <p:cNvSpPr>
            <a:spLocks noChangeShapeType="1"/>
          </p:cNvSpPr>
          <p:nvPr/>
        </p:nvSpPr>
        <p:spPr bwMode="auto">
          <a:xfrm>
            <a:off x="8247063" y="3719513"/>
            <a:ext cx="0" cy="150971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36" name="Line 9"/>
          <p:cNvSpPr>
            <a:spLocks noChangeShapeType="1"/>
          </p:cNvSpPr>
          <p:nvPr/>
        </p:nvSpPr>
        <p:spPr bwMode="auto">
          <a:xfrm flipH="1" flipV="1">
            <a:off x="7229475" y="4543425"/>
            <a:ext cx="1017588" cy="8239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37" name="Line 10"/>
          <p:cNvSpPr>
            <a:spLocks noChangeShapeType="1"/>
          </p:cNvSpPr>
          <p:nvPr/>
        </p:nvSpPr>
        <p:spPr bwMode="auto">
          <a:xfrm>
            <a:off x="7229475" y="4543425"/>
            <a:ext cx="0" cy="8239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38" name="Text Box 11"/>
          <p:cNvSpPr txBox="1">
            <a:spLocks noChangeArrowheads="1"/>
          </p:cNvSpPr>
          <p:nvPr/>
        </p:nvSpPr>
        <p:spPr bwMode="auto">
          <a:xfrm>
            <a:off x="6532563" y="3038475"/>
            <a:ext cx="1935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400">
                <a:solidFill>
                  <a:schemeClr val="tx2"/>
                </a:solidFill>
                <a:ea typeface="楷体" panose="02010609060101010101" pitchFamily="49" charset="-122"/>
                <a:cs typeface="Times New Roman" panose="02020603050405020304" pitchFamily="18" charset="0"/>
              </a:rPr>
              <a:t>CPU</a:t>
            </a:r>
            <a:r>
              <a:rPr lang="zh-CN" altLang="en-US" sz="2400">
                <a:solidFill>
                  <a:schemeClr val="tx2"/>
                </a:solidFill>
                <a:ea typeface="楷体" panose="02010609060101010101" pitchFamily="49" charset="-122"/>
                <a:cs typeface="Times New Roman" panose="02020603050405020304" pitchFamily="18" charset="0"/>
              </a:rPr>
              <a:t>主程序</a:t>
            </a:r>
            <a:endParaRPr lang="zh-CN" altLang="en-US" sz="2400">
              <a:solidFill>
                <a:schemeClr val="tx2"/>
              </a:solidFill>
              <a:ea typeface="楷体" panose="02010609060101010101" pitchFamily="49" charset="-122"/>
              <a:cs typeface="Times New Roman" panose="02020603050405020304" pitchFamily="18" charset="0"/>
            </a:endParaRPr>
          </a:p>
        </p:txBody>
      </p:sp>
      <p:sp>
        <p:nvSpPr>
          <p:cNvPr id="22539" name="Text Box 12"/>
          <p:cNvSpPr txBox="1">
            <a:spLocks noChangeArrowheads="1"/>
          </p:cNvSpPr>
          <p:nvPr/>
        </p:nvSpPr>
        <p:spPr bwMode="auto">
          <a:xfrm>
            <a:off x="5724525" y="3840163"/>
            <a:ext cx="1296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solidFill>
                  <a:schemeClr val="tx2"/>
                </a:solidFill>
                <a:ea typeface="楷体" panose="02010609060101010101" pitchFamily="49" charset="-122"/>
                <a:cs typeface="Times New Roman" panose="02020603050405020304" pitchFamily="18" charset="0"/>
              </a:rPr>
              <a:t>中断请求</a:t>
            </a:r>
            <a:endParaRPr lang="zh-CN" altLang="en-US" sz="2000">
              <a:solidFill>
                <a:schemeClr val="tx2"/>
              </a:solidFill>
              <a:ea typeface="楷体" panose="02010609060101010101" pitchFamily="49" charset="-122"/>
              <a:cs typeface="Times New Roman" panose="02020603050405020304" pitchFamily="18" charset="0"/>
            </a:endParaRPr>
          </a:p>
        </p:txBody>
      </p:sp>
      <p:sp>
        <p:nvSpPr>
          <p:cNvPr id="22540" name="Text Box 13"/>
          <p:cNvSpPr txBox="1">
            <a:spLocks noChangeArrowheads="1"/>
          </p:cNvSpPr>
          <p:nvPr/>
        </p:nvSpPr>
        <p:spPr bwMode="auto">
          <a:xfrm>
            <a:off x="7212013" y="3638550"/>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solidFill>
                  <a:schemeClr val="tx2"/>
                </a:solidFill>
                <a:ea typeface="楷体" panose="02010609060101010101" pitchFamily="49" charset="-122"/>
                <a:cs typeface="Times New Roman" panose="02020603050405020304" pitchFamily="18" charset="0"/>
              </a:rPr>
              <a:t>响</a:t>
            </a:r>
            <a:endParaRPr lang="zh-CN" altLang="en-US" sz="2000">
              <a:solidFill>
                <a:schemeClr val="tx2"/>
              </a:solidFill>
              <a:ea typeface="楷体" panose="02010609060101010101" pitchFamily="49" charset="-122"/>
              <a:cs typeface="Times New Roman" panose="02020603050405020304" pitchFamily="18" charset="0"/>
            </a:endParaRPr>
          </a:p>
        </p:txBody>
      </p:sp>
      <p:sp>
        <p:nvSpPr>
          <p:cNvPr id="22541" name="Text Box 14"/>
          <p:cNvSpPr txBox="1">
            <a:spLocks noChangeArrowheads="1"/>
          </p:cNvSpPr>
          <p:nvPr/>
        </p:nvSpPr>
        <p:spPr bwMode="auto">
          <a:xfrm>
            <a:off x="7534275" y="3421063"/>
            <a:ext cx="509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solidFill>
                  <a:schemeClr val="tx2"/>
                </a:solidFill>
                <a:ea typeface="楷体" panose="02010609060101010101" pitchFamily="49" charset="-122"/>
                <a:cs typeface="Times New Roman" panose="02020603050405020304" pitchFamily="18" charset="0"/>
              </a:rPr>
              <a:t>应</a:t>
            </a:r>
            <a:endParaRPr lang="zh-CN" altLang="en-US" sz="2000">
              <a:solidFill>
                <a:schemeClr val="tx2"/>
              </a:solidFill>
              <a:ea typeface="楷体" panose="02010609060101010101" pitchFamily="49" charset="-122"/>
              <a:cs typeface="Times New Roman" panose="02020603050405020304" pitchFamily="18" charset="0"/>
            </a:endParaRPr>
          </a:p>
        </p:txBody>
      </p:sp>
      <p:sp>
        <p:nvSpPr>
          <p:cNvPr id="22542" name="Text Box 15"/>
          <p:cNvSpPr txBox="1">
            <a:spLocks noChangeArrowheads="1"/>
          </p:cNvSpPr>
          <p:nvPr/>
        </p:nvSpPr>
        <p:spPr bwMode="auto">
          <a:xfrm>
            <a:off x="7212013" y="4902200"/>
            <a:ext cx="611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solidFill>
                  <a:schemeClr val="tx2"/>
                </a:solidFill>
                <a:ea typeface="楷体" panose="02010609060101010101" pitchFamily="49" charset="-122"/>
                <a:cs typeface="Times New Roman" panose="02020603050405020304" pitchFamily="18" charset="0"/>
              </a:rPr>
              <a:t>返</a:t>
            </a:r>
            <a:endParaRPr lang="zh-CN" altLang="en-US" sz="2000">
              <a:solidFill>
                <a:schemeClr val="tx2"/>
              </a:solidFill>
              <a:ea typeface="楷体" panose="02010609060101010101" pitchFamily="49" charset="-122"/>
              <a:cs typeface="Times New Roman" panose="02020603050405020304" pitchFamily="18" charset="0"/>
            </a:endParaRPr>
          </a:p>
        </p:txBody>
      </p:sp>
      <p:sp>
        <p:nvSpPr>
          <p:cNvPr id="22543" name="Text Box 16"/>
          <p:cNvSpPr txBox="1">
            <a:spLocks noChangeArrowheads="1"/>
          </p:cNvSpPr>
          <p:nvPr/>
        </p:nvSpPr>
        <p:spPr bwMode="auto">
          <a:xfrm>
            <a:off x="7546975" y="5156200"/>
            <a:ext cx="50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solidFill>
                  <a:schemeClr val="tx2"/>
                </a:solidFill>
                <a:ea typeface="楷体" panose="02010609060101010101" pitchFamily="49" charset="-122"/>
                <a:cs typeface="Times New Roman" panose="02020603050405020304" pitchFamily="18" charset="0"/>
              </a:rPr>
              <a:t>回</a:t>
            </a:r>
            <a:endParaRPr lang="zh-CN" altLang="en-US" sz="2000">
              <a:solidFill>
                <a:schemeClr val="tx2"/>
              </a:solidFill>
              <a:ea typeface="楷体" panose="02010609060101010101" pitchFamily="49" charset="-122"/>
              <a:cs typeface="Times New Roman" panose="02020603050405020304" pitchFamily="18" charset="0"/>
            </a:endParaRPr>
          </a:p>
        </p:txBody>
      </p:sp>
      <p:sp>
        <p:nvSpPr>
          <p:cNvPr id="22544" name="Text Box 17"/>
          <p:cNvSpPr txBox="1">
            <a:spLocks noChangeArrowheads="1"/>
          </p:cNvSpPr>
          <p:nvPr/>
        </p:nvSpPr>
        <p:spPr bwMode="auto">
          <a:xfrm>
            <a:off x="8242697" y="3387725"/>
            <a:ext cx="615553"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800">
                <a:solidFill>
                  <a:schemeClr val="tx2"/>
                </a:solidFill>
                <a:ea typeface="楷体" panose="02010609060101010101" pitchFamily="49" charset="-122"/>
                <a:cs typeface="Times New Roman" panose="02020603050405020304" pitchFamily="18" charset="0"/>
              </a:rPr>
              <a:t>中断服务程序</a:t>
            </a:r>
            <a:endParaRPr lang="zh-CN" altLang="en-US" sz="2800">
              <a:solidFill>
                <a:schemeClr val="tx2"/>
              </a:solidFill>
              <a:ea typeface="楷体" panose="02010609060101010101" pitchFamily="49" charset="-122"/>
              <a:cs typeface="Times New Roman" panose="02020603050405020304" pitchFamily="18" charset="0"/>
            </a:endParaRPr>
          </a:p>
        </p:txBody>
      </p:sp>
      <p:grpSp>
        <p:nvGrpSpPr>
          <p:cNvPr id="22545" name="Group 65"/>
          <p:cNvGrpSpPr/>
          <p:nvPr/>
        </p:nvGrpSpPr>
        <p:grpSpPr bwMode="auto">
          <a:xfrm>
            <a:off x="274638" y="2830513"/>
            <a:ext cx="5651501" cy="3165475"/>
            <a:chOff x="346" y="1783"/>
            <a:chExt cx="3560" cy="1994"/>
          </a:xfrm>
        </p:grpSpPr>
        <p:sp>
          <p:nvSpPr>
            <p:cNvPr id="22548" name="Line 38"/>
            <p:cNvSpPr>
              <a:spLocks noChangeShapeType="1"/>
            </p:cNvSpPr>
            <p:nvPr/>
          </p:nvSpPr>
          <p:spPr bwMode="auto">
            <a:xfrm>
              <a:off x="455" y="3291"/>
              <a:ext cx="1109"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49" name="Line 39"/>
            <p:cNvSpPr>
              <a:spLocks noChangeShapeType="1"/>
            </p:cNvSpPr>
            <p:nvPr/>
          </p:nvSpPr>
          <p:spPr bwMode="auto">
            <a:xfrm>
              <a:off x="431" y="2335"/>
              <a:ext cx="105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50" name="Line 40"/>
            <p:cNvSpPr>
              <a:spLocks noChangeShapeType="1"/>
            </p:cNvSpPr>
            <p:nvPr/>
          </p:nvSpPr>
          <p:spPr bwMode="auto">
            <a:xfrm>
              <a:off x="1544" y="2718"/>
              <a:ext cx="46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51" name="Line 41"/>
            <p:cNvSpPr>
              <a:spLocks noChangeShapeType="1"/>
            </p:cNvSpPr>
            <p:nvPr/>
          </p:nvSpPr>
          <p:spPr bwMode="auto">
            <a:xfrm flipV="1">
              <a:off x="1547" y="2718"/>
              <a:ext cx="0" cy="573"/>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52" name="Line 42"/>
            <p:cNvSpPr>
              <a:spLocks noChangeShapeType="1"/>
            </p:cNvSpPr>
            <p:nvPr/>
          </p:nvSpPr>
          <p:spPr bwMode="auto">
            <a:xfrm flipV="1">
              <a:off x="2014" y="2718"/>
              <a:ext cx="0" cy="573"/>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53" name="Text Box 43"/>
            <p:cNvSpPr txBox="1">
              <a:spLocks noChangeArrowheads="1"/>
            </p:cNvSpPr>
            <p:nvPr/>
          </p:nvSpPr>
          <p:spPr bwMode="auto">
            <a:xfrm>
              <a:off x="431" y="2008"/>
              <a:ext cx="9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400">
                  <a:ea typeface="楷体" panose="02010609060101010101" pitchFamily="49" charset="-122"/>
                  <a:cs typeface="Times New Roman" panose="02020603050405020304" pitchFamily="18" charset="0"/>
                </a:rPr>
                <a:t>外设工作</a:t>
              </a:r>
              <a:endParaRPr lang="zh-CN" altLang="en-US" sz="2400">
                <a:ea typeface="楷体" panose="02010609060101010101" pitchFamily="49" charset="-122"/>
                <a:cs typeface="Times New Roman" panose="02020603050405020304" pitchFamily="18" charset="0"/>
              </a:endParaRPr>
            </a:p>
          </p:txBody>
        </p:sp>
        <p:sp>
          <p:nvSpPr>
            <p:cNvPr id="22554" name="Text Box 44"/>
            <p:cNvSpPr txBox="1">
              <a:spLocks noChangeArrowheads="1"/>
            </p:cNvSpPr>
            <p:nvPr/>
          </p:nvSpPr>
          <p:spPr bwMode="auto">
            <a:xfrm>
              <a:off x="346" y="2977"/>
              <a:ext cx="10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400" dirty="0">
                  <a:solidFill>
                    <a:schemeClr val="tx2"/>
                  </a:solidFill>
                  <a:ea typeface="楷体" panose="02010609060101010101" pitchFamily="49" charset="-122"/>
                  <a:cs typeface="Times New Roman" panose="02020603050405020304" pitchFamily="18" charset="0"/>
                </a:rPr>
                <a:t>CPU</a:t>
              </a:r>
              <a:r>
                <a:rPr lang="zh-CN" altLang="en-US" sz="2400" dirty="0">
                  <a:solidFill>
                    <a:schemeClr val="tx2"/>
                  </a:solidFill>
                  <a:ea typeface="楷体" panose="02010609060101010101" pitchFamily="49" charset="-122"/>
                  <a:cs typeface="Times New Roman" panose="02020603050405020304" pitchFamily="18" charset="0"/>
                </a:rPr>
                <a:t>工作</a:t>
              </a:r>
              <a:endParaRPr lang="zh-CN" altLang="en-US" sz="2400" dirty="0">
                <a:solidFill>
                  <a:schemeClr val="tx2"/>
                </a:solidFill>
                <a:ea typeface="楷体" panose="02010609060101010101" pitchFamily="49" charset="-122"/>
                <a:cs typeface="Times New Roman" panose="02020603050405020304" pitchFamily="18" charset="0"/>
              </a:endParaRPr>
            </a:p>
          </p:txBody>
        </p:sp>
        <p:sp>
          <p:nvSpPr>
            <p:cNvPr id="22555" name="Text Box 45"/>
            <p:cNvSpPr txBox="1">
              <a:spLocks noChangeArrowheads="1"/>
            </p:cNvSpPr>
            <p:nvPr/>
          </p:nvSpPr>
          <p:spPr bwMode="auto">
            <a:xfrm>
              <a:off x="1193" y="2322"/>
              <a:ext cx="349" cy="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400">
                  <a:ea typeface="楷体" panose="02010609060101010101" pitchFamily="49" charset="-122"/>
                  <a:cs typeface="Times New Roman" panose="02020603050405020304" pitchFamily="18" charset="0"/>
                </a:rPr>
                <a:t>中断请求</a:t>
              </a:r>
              <a:endParaRPr lang="zh-CN" altLang="en-US" sz="2400">
                <a:ea typeface="楷体" panose="02010609060101010101" pitchFamily="49" charset="-122"/>
                <a:cs typeface="Times New Roman" panose="02020603050405020304" pitchFamily="18" charset="0"/>
              </a:endParaRPr>
            </a:p>
          </p:txBody>
        </p:sp>
        <p:sp>
          <p:nvSpPr>
            <p:cNvPr id="22556" name="Line 46"/>
            <p:cNvSpPr>
              <a:spLocks noChangeShapeType="1"/>
            </p:cNvSpPr>
            <p:nvPr/>
          </p:nvSpPr>
          <p:spPr bwMode="auto">
            <a:xfrm>
              <a:off x="1471" y="2325"/>
              <a:ext cx="0" cy="90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57" name="Text Box 47"/>
            <p:cNvSpPr txBox="1">
              <a:spLocks noChangeArrowheads="1"/>
            </p:cNvSpPr>
            <p:nvPr/>
          </p:nvSpPr>
          <p:spPr bwMode="auto">
            <a:xfrm>
              <a:off x="1564" y="1832"/>
              <a:ext cx="479" cy="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90000"/>
                </a:lnSpc>
                <a:spcBef>
                  <a:spcPct val="50000"/>
                </a:spcBef>
                <a:buClrTx/>
                <a:buFontTx/>
                <a:buNone/>
              </a:pPr>
              <a:r>
                <a:rPr lang="zh-CN" altLang="en-US" sz="2400">
                  <a:ea typeface="楷体" panose="02010609060101010101" pitchFamily="49" charset="-122"/>
                  <a:cs typeface="Times New Roman" panose="02020603050405020304" pitchFamily="18" charset="0"/>
                </a:rPr>
                <a:t>中断服务</a:t>
              </a:r>
              <a:endParaRPr lang="zh-CN" altLang="en-US" sz="2400">
                <a:ea typeface="楷体" panose="02010609060101010101" pitchFamily="49" charset="-122"/>
                <a:cs typeface="Times New Roman" panose="02020603050405020304" pitchFamily="18" charset="0"/>
              </a:endParaRPr>
            </a:p>
          </p:txBody>
        </p:sp>
        <p:sp>
          <p:nvSpPr>
            <p:cNvPr id="22558" name="Line 48"/>
            <p:cNvSpPr>
              <a:spLocks noChangeShapeType="1"/>
            </p:cNvSpPr>
            <p:nvPr/>
          </p:nvSpPr>
          <p:spPr bwMode="auto">
            <a:xfrm>
              <a:off x="2021" y="3278"/>
              <a:ext cx="1108"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59" name="Line 49"/>
            <p:cNvSpPr>
              <a:spLocks noChangeShapeType="1"/>
            </p:cNvSpPr>
            <p:nvPr/>
          </p:nvSpPr>
          <p:spPr bwMode="auto">
            <a:xfrm>
              <a:off x="1996" y="2322"/>
              <a:ext cx="1051"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60" name="Line 50"/>
            <p:cNvSpPr>
              <a:spLocks noChangeShapeType="1"/>
            </p:cNvSpPr>
            <p:nvPr/>
          </p:nvSpPr>
          <p:spPr bwMode="auto">
            <a:xfrm>
              <a:off x="3110" y="2704"/>
              <a:ext cx="46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61" name="Line 51"/>
            <p:cNvSpPr>
              <a:spLocks noChangeShapeType="1"/>
            </p:cNvSpPr>
            <p:nvPr/>
          </p:nvSpPr>
          <p:spPr bwMode="auto">
            <a:xfrm flipV="1">
              <a:off x="3112" y="2704"/>
              <a:ext cx="0" cy="574"/>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62" name="Line 52"/>
            <p:cNvSpPr>
              <a:spLocks noChangeShapeType="1"/>
            </p:cNvSpPr>
            <p:nvPr/>
          </p:nvSpPr>
          <p:spPr bwMode="auto">
            <a:xfrm flipV="1">
              <a:off x="3579" y="2704"/>
              <a:ext cx="0" cy="574"/>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63" name="Text Box 53"/>
            <p:cNvSpPr txBox="1">
              <a:spLocks noChangeArrowheads="1"/>
            </p:cNvSpPr>
            <p:nvPr/>
          </p:nvSpPr>
          <p:spPr bwMode="auto">
            <a:xfrm>
              <a:off x="2014" y="1994"/>
              <a:ext cx="9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400">
                  <a:ea typeface="楷体" panose="02010609060101010101" pitchFamily="49" charset="-122"/>
                  <a:cs typeface="Times New Roman" panose="02020603050405020304" pitchFamily="18" charset="0"/>
                </a:rPr>
                <a:t>外设工作</a:t>
              </a:r>
              <a:endParaRPr lang="zh-CN" altLang="en-US" sz="2400">
                <a:ea typeface="楷体" panose="02010609060101010101" pitchFamily="49" charset="-122"/>
                <a:cs typeface="Times New Roman" panose="02020603050405020304" pitchFamily="18" charset="0"/>
              </a:endParaRPr>
            </a:p>
          </p:txBody>
        </p:sp>
        <p:sp>
          <p:nvSpPr>
            <p:cNvPr id="22564" name="Text Box 54"/>
            <p:cNvSpPr txBox="1">
              <a:spLocks noChangeArrowheads="1"/>
            </p:cNvSpPr>
            <p:nvPr/>
          </p:nvSpPr>
          <p:spPr bwMode="auto">
            <a:xfrm>
              <a:off x="1936" y="2986"/>
              <a:ext cx="10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400" dirty="0">
                  <a:solidFill>
                    <a:schemeClr val="tx2"/>
                  </a:solidFill>
                  <a:ea typeface="楷体" panose="02010609060101010101" pitchFamily="49" charset="-122"/>
                  <a:cs typeface="Times New Roman" panose="02020603050405020304" pitchFamily="18" charset="0"/>
                </a:rPr>
                <a:t>CPU</a:t>
              </a:r>
              <a:r>
                <a:rPr lang="zh-CN" altLang="en-US" sz="2400" dirty="0">
                  <a:solidFill>
                    <a:schemeClr val="tx2"/>
                  </a:solidFill>
                  <a:ea typeface="楷体" panose="02010609060101010101" pitchFamily="49" charset="-122"/>
                  <a:cs typeface="Times New Roman" panose="02020603050405020304" pitchFamily="18" charset="0"/>
                </a:rPr>
                <a:t>工作</a:t>
              </a:r>
              <a:endParaRPr lang="zh-CN" altLang="en-US" sz="2400" dirty="0">
                <a:solidFill>
                  <a:schemeClr val="tx2"/>
                </a:solidFill>
                <a:ea typeface="楷体" panose="02010609060101010101" pitchFamily="49" charset="-122"/>
                <a:cs typeface="Times New Roman" panose="02020603050405020304" pitchFamily="18" charset="0"/>
              </a:endParaRPr>
            </a:p>
          </p:txBody>
        </p:sp>
        <p:sp>
          <p:nvSpPr>
            <p:cNvPr id="22565" name="Text Box 55"/>
            <p:cNvSpPr txBox="1">
              <a:spLocks noChangeArrowheads="1"/>
            </p:cNvSpPr>
            <p:nvPr/>
          </p:nvSpPr>
          <p:spPr bwMode="auto">
            <a:xfrm>
              <a:off x="2758" y="2308"/>
              <a:ext cx="349" cy="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400">
                  <a:ea typeface="楷体" panose="02010609060101010101" pitchFamily="49" charset="-122"/>
                  <a:cs typeface="Times New Roman" panose="02020603050405020304" pitchFamily="18" charset="0"/>
                </a:rPr>
                <a:t>中断请求</a:t>
              </a:r>
              <a:endParaRPr lang="zh-CN" altLang="en-US" sz="2400">
                <a:ea typeface="楷体" panose="02010609060101010101" pitchFamily="49" charset="-122"/>
                <a:cs typeface="Times New Roman" panose="02020603050405020304" pitchFamily="18" charset="0"/>
              </a:endParaRPr>
            </a:p>
          </p:txBody>
        </p:sp>
        <p:sp>
          <p:nvSpPr>
            <p:cNvPr id="22566" name="Line 56"/>
            <p:cNvSpPr>
              <a:spLocks noChangeShapeType="1"/>
            </p:cNvSpPr>
            <p:nvPr/>
          </p:nvSpPr>
          <p:spPr bwMode="auto">
            <a:xfrm>
              <a:off x="3037" y="2312"/>
              <a:ext cx="0" cy="90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67" name="Text Box 57"/>
            <p:cNvSpPr txBox="1">
              <a:spLocks noChangeArrowheads="1"/>
            </p:cNvSpPr>
            <p:nvPr/>
          </p:nvSpPr>
          <p:spPr bwMode="auto">
            <a:xfrm>
              <a:off x="3107" y="1783"/>
              <a:ext cx="479" cy="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90000"/>
                </a:lnSpc>
                <a:spcBef>
                  <a:spcPct val="50000"/>
                </a:spcBef>
                <a:buClrTx/>
                <a:buFontTx/>
                <a:buNone/>
              </a:pPr>
              <a:r>
                <a:rPr lang="zh-CN" altLang="en-US" sz="2400">
                  <a:ea typeface="楷体" panose="02010609060101010101" pitchFamily="49" charset="-122"/>
                  <a:cs typeface="Times New Roman" panose="02020603050405020304" pitchFamily="18" charset="0"/>
                </a:rPr>
                <a:t>中断服务</a:t>
              </a:r>
              <a:endParaRPr lang="zh-CN" altLang="en-US" sz="2400">
                <a:ea typeface="楷体" panose="02010609060101010101" pitchFamily="49" charset="-122"/>
                <a:cs typeface="Times New Roman" panose="02020603050405020304" pitchFamily="18" charset="0"/>
              </a:endParaRPr>
            </a:p>
          </p:txBody>
        </p:sp>
        <p:sp>
          <p:nvSpPr>
            <p:cNvPr id="22568" name="Line 58"/>
            <p:cNvSpPr>
              <a:spLocks noChangeShapeType="1"/>
            </p:cNvSpPr>
            <p:nvPr/>
          </p:nvSpPr>
          <p:spPr bwMode="auto">
            <a:xfrm>
              <a:off x="455" y="3619"/>
              <a:ext cx="3131" cy="0"/>
            </a:xfrm>
            <a:prstGeom prst="line">
              <a:avLst/>
            </a:prstGeom>
            <a:noFill/>
            <a:ln w="31750">
              <a:solidFill>
                <a:srgbClr val="C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69" name="Text Box 62"/>
            <p:cNvSpPr txBox="1">
              <a:spLocks noChangeArrowheads="1"/>
            </p:cNvSpPr>
            <p:nvPr/>
          </p:nvSpPr>
          <p:spPr bwMode="auto">
            <a:xfrm>
              <a:off x="3579" y="3373"/>
              <a:ext cx="32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en-US" altLang="zh-CN" sz="3600" b="0">
                  <a:solidFill>
                    <a:srgbClr val="C00000"/>
                  </a:solidFill>
                  <a:ea typeface="楷体" panose="02010609060101010101" pitchFamily="49" charset="-122"/>
                  <a:cs typeface="Times New Roman" panose="02020603050405020304" pitchFamily="18" charset="0"/>
                </a:rPr>
                <a:t>t</a:t>
              </a:r>
              <a:endParaRPr kumimoji="0" lang="en-US" altLang="zh-CN" sz="3600" b="0">
                <a:solidFill>
                  <a:srgbClr val="C00000"/>
                </a:solidFill>
                <a:ea typeface="楷体" panose="02010609060101010101" pitchFamily="49" charset="-122"/>
                <a:cs typeface="Times New Roman" panose="02020603050405020304" pitchFamily="18" charset="0"/>
              </a:endParaRPr>
            </a:p>
          </p:txBody>
        </p:sp>
      </p:grpSp>
      <p:sp>
        <p:nvSpPr>
          <p:cNvPr id="22546" name="Line 67"/>
          <p:cNvSpPr>
            <a:spLocks noChangeShapeType="1"/>
          </p:cNvSpPr>
          <p:nvPr/>
        </p:nvSpPr>
        <p:spPr bwMode="auto">
          <a:xfrm>
            <a:off x="6532563" y="4237038"/>
            <a:ext cx="647700" cy="168275"/>
          </a:xfrm>
          <a:prstGeom prst="line">
            <a:avLst/>
          </a:prstGeom>
          <a:noFill/>
          <a:ln w="1905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547" name="Line 91"/>
          <p:cNvSpPr>
            <a:spLocks noChangeShapeType="1"/>
          </p:cNvSpPr>
          <p:nvPr/>
        </p:nvSpPr>
        <p:spPr bwMode="auto">
          <a:xfrm>
            <a:off x="2176463" y="4292600"/>
            <a:ext cx="757237" cy="0"/>
          </a:xfrm>
          <a:prstGeom prst="line">
            <a:avLst/>
          </a:prstGeom>
          <a:noFill/>
          <a:ln w="254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8" name="Rectangle 8"/>
          <p:cNvSpPr>
            <a:spLocks noGrp="1" noChangeArrowheads="1"/>
          </p:cNvSpPr>
          <p:nvPr>
            <p:ph type="title"/>
          </p:nvPr>
        </p:nvSpPr>
        <p:spPr/>
        <p:txBody>
          <a:bodyPr/>
          <a:lstStyle/>
          <a:p>
            <a:pPr eaLnBrk="1" hangingPunct="1">
              <a:defRPr/>
            </a:pPr>
            <a:r>
              <a:rPr lang="en-US" altLang="zh-CN"/>
              <a:t>3. DMA</a:t>
            </a:r>
            <a:r>
              <a:rPr lang="zh-CN" altLang="en-US"/>
              <a:t>方式</a:t>
            </a:r>
            <a:endParaRPr lang="zh-CN" altLang="en-US"/>
          </a:p>
        </p:txBody>
      </p:sp>
      <p:graphicFrame>
        <p:nvGraphicFramePr>
          <p:cNvPr id="23555" name="Object 7"/>
          <p:cNvGraphicFramePr>
            <a:graphicFrameLocks noGrp="1" noChangeAspect="1"/>
          </p:cNvGraphicFramePr>
          <p:nvPr>
            <p:ph idx="1"/>
          </p:nvPr>
        </p:nvGraphicFramePr>
        <p:xfrm>
          <a:off x="1434306" y="3048000"/>
          <a:ext cx="6275387" cy="3168650"/>
        </p:xfrm>
        <a:graphic>
          <a:graphicData uri="http://schemas.openxmlformats.org/presentationml/2006/ole">
            <mc:AlternateContent xmlns:mc="http://schemas.openxmlformats.org/markup-compatibility/2006">
              <mc:Choice xmlns:v="urn:schemas-microsoft-com:vml" Requires="v">
                <p:oleObj spid="_x0000_s2052" name="VISIO" r:id="rId1" imgW="4493260" imgH="2270760" progId="Visio.Drawing.11">
                  <p:embed/>
                </p:oleObj>
              </mc:Choice>
              <mc:Fallback>
                <p:oleObj name="VISIO" r:id="rId1" imgW="4493260" imgH="2270760" progId="Visio.Drawing.11">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4306" y="3048000"/>
                        <a:ext cx="6275387" cy="316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7" name="Rectangle 11"/>
          <p:cNvSpPr>
            <a:spLocks noChangeArrowheads="1"/>
          </p:cNvSpPr>
          <p:nvPr/>
        </p:nvSpPr>
        <p:spPr bwMode="auto">
          <a:xfrm>
            <a:off x="152400" y="1120676"/>
            <a:ext cx="871378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9875" indent="-269875">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
                <a:srgbClr val="990000"/>
              </a:buClr>
              <a:buFont typeface="Wingdings" panose="05000000000000000000" pitchFamily="2" charset="2"/>
              <a:buChar char="n"/>
            </a:pPr>
            <a:r>
              <a:rPr kumimoji="0" lang="zh-CN" altLang="en-US" sz="2400" dirty="0">
                <a:ea typeface="宋体" panose="02010600030101010101" pitchFamily="2" charset="-122"/>
                <a:cs typeface="Times New Roman" panose="02020603050405020304" pitchFamily="18" charset="0"/>
              </a:rPr>
              <a:t>直接存储器访问</a:t>
            </a:r>
            <a:r>
              <a:rPr kumimoji="0" lang="en-US" altLang="zh-CN" sz="2400" dirty="0">
                <a:ea typeface="宋体" panose="02010600030101010101" pitchFamily="2" charset="-122"/>
                <a:cs typeface="Times New Roman" panose="02020603050405020304" pitchFamily="18" charset="0"/>
              </a:rPr>
              <a:t>DMA </a:t>
            </a:r>
            <a:r>
              <a:rPr kumimoji="0" lang="zh-CN" altLang="en-US" sz="2400" dirty="0">
                <a:ea typeface="宋体" panose="02010600030101010101" pitchFamily="2" charset="-122"/>
                <a:cs typeface="Times New Roman" panose="02020603050405020304" pitchFamily="18" charset="0"/>
              </a:rPr>
              <a:t>（</a:t>
            </a:r>
            <a:r>
              <a:rPr kumimoji="0" lang="en-US" altLang="zh-CN" sz="2400" dirty="0">
                <a:ea typeface="宋体" panose="02010600030101010101" pitchFamily="2" charset="-122"/>
                <a:cs typeface="Times New Roman" panose="02020603050405020304" pitchFamily="18" charset="0"/>
              </a:rPr>
              <a:t>Direct Memory Access</a:t>
            </a:r>
            <a:r>
              <a:rPr kumimoji="0" lang="zh-CN" altLang="en-US" sz="2400" dirty="0">
                <a:ea typeface="宋体" panose="02010600030101010101" pitchFamily="2" charset="-122"/>
                <a:cs typeface="Times New Roman" panose="02020603050405020304" pitchFamily="18" charset="0"/>
              </a:rPr>
              <a:t>）方式是为在主存储器与</a:t>
            </a:r>
            <a:r>
              <a:rPr kumimoji="0" lang="en-US" altLang="zh-CN" sz="2400" dirty="0">
                <a:ea typeface="宋体" panose="02010600030101010101" pitchFamily="2" charset="-122"/>
                <a:cs typeface="Times New Roman" panose="02020603050405020304" pitchFamily="18" charset="0"/>
              </a:rPr>
              <a:t>I</a:t>
            </a:r>
            <a:r>
              <a:rPr kumimoji="0" lang="zh-CN" altLang="en-US" sz="2400" dirty="0">
                <a:ea typeface="宋体" panose="02010600030101010101" pitchFamily="2" charset="-122"/>
                <a:cs typeface="Times New Roman" panose="02020603050405020304" pitchFamily="18" charset="0"/>
              </a:rPr>
              <a:t>／</a:t>
            </a:r>
            <a:r>
              <a:rPr kumimoji="0" lang="en-US" altLang="zh-CN" sz="2400" dirty="0">
                <a:ea typeface="宋体" panose="02010600030101010101" pitchFamily="2" charset="-122"/>
                <a:cs typeface="Times New Roman" panose="02020603050405020304" pitchFamily="18" charset="0"/>
              </a:rPr>
              <a:t>O</a:t>
            </a:r>
            <a:r>
              <a:rPr kumimoji="0" lang="zh-CN" altLang="en-US" sz="2400" dirty="0">
                <a:ea typeface="宋体" panose="02010600030101010101" pitchFamily="2" charset="-122"/>
                <a:cs typeface="Times New Roman" panose="02020603050405020304" pitchFamily="18" charset="0"/>
              </a:rPr>
              <a:t>设备间高速交换批量数据而设置的。</a:t>
            </a:r>
            <a:endParaRPr kumimoji="0" lang="zh-CN" altLang="en-US" sz="2400" dirty="0">
              <a:ea typeface="宋体" panose="02010600030101010101" pitchFamily="2" charset="-122"/>
              <a:cs typeface="Times New Roman" panose="02020603050405020304" pitchFamily="18" charset="0"/>
            </a:endParaRPr>
          </a:p>
          <a:p>
            <a:pPr algn="l" eaLnBrk="1" hangingPunct="1">
              <a:spcBef>
                <a:spcPct val="0"/>
              </a:spcBef>
              <a:buClr>
                <a:srgbClr val="990000"/>
              </a:buClr>
              <a:buFont typeface="Wingdings" panose="05000000000000000000" pitchFamily="2" charset="2"/>
              <a:buChar char="n"/>
            </a:pPr>
            <a:r>
              <a:rPr kumimoji="0" lang="zh-CN" altLang="en-US" sz="2400" dirty="0">
                <a:ea typeface="宋体" panose="02010600030101010101" pitchFamily="2" charset="-122"/>
                <a:cs typeface="Times New Roman" panose="02020603050405020304" pitchFamily="18" charset="0"/>
              </a:rPr>
              <a:t>基本思想是：通过硬件控制实现主存与</a:t>
            </a:r>
            <a:r>
              <a:rPr kumimoji="0" lang="en-US" altLang="zh-CN" sz="2400" dirty="0">
                <a:ea typeface="宋体" panose="02010600030101010101" pitchFamily="2" charset="-122"/>
                <a:cs typeface="Times New Roman" panose="02020603050405020304" pitchFamily="18" charset="0"/>
              </a:rPr>
              <a:t>I</a:t>
            </a:r>
            <a:r>
              <a:rPr kumimoji="0" lang="zh-CN" altLang="en-US" sz="2400" dirty="0">
                <a:ea typeface="宋体" panose="02010600030101010101" pitchFamily="2" charset="-122"/>
                <a:cs typeface="Times New Roman" panose="02020603050405020304" pitchFamily="18" charset="0"/>
              </a:rPr>
              <a:t>／</a:t>
            </a:r>
            <a:r>
              <a:rPr kumimoji="0" lang="en-US" altLang="zh-CN" sz="2400" dirty="0">
                <a:ea typeface="宋体" panose="02010600030101010101" pitchFamily="2" charset="-122"/>
                <a:cs typeface="Times New Roman" panose="02020603050405020304" pitchFamily="18" charset="0"/>
              </a:rPr>
              <a:t>O</a:t>
            </a:r>
            <a:r>
              <a:rPr kumimoji="0" lang="zh-CN" altLang="en-US" sz="2400" dirty="0">
                <a:ea typeface="宋体" panose="02010600030101010101" pitchFamily="2" charset="-122"/>
                <a:cs typeface="Times New Roman" panose="02020603050405020304" pitchFamily="18" charset="0"/>
              </a:rPr>
              <a:t>设备间的直接数据传送，在传送过程中无需</a:t>
            </a:r>
            <a:r>
              <a:rPr kumimoji="0" lang="en-US" altLang="zh-CN" sz="2400" dirty="0">
                <a:ea typeface="宋体" panose="02010600030101010101" pitchFamily="2" charset="-122"/>
                <a:cs typeface="Times New Roman" panose="02020603050405020304" pitchFamily="18" charset="0"/>
              </a:rPr>
              <a:t>CPU</a:t>
            </a:r>
            <a:r>
              <a:rPr kumimoji="0" lang="zh-CN" altLang="en-US" sz="2400" dirty="0">
                <a:ea typeface="宋体" panose="02010600030101010101" pitchFamily="2" charset="-122"/>
                <a:cs typeface="Times New Roman" panose="02020603050405020304" pitchFamily="18" charset="0"/>
              </a:rPr>
              <a:t>的干预。数据传送是在</a:t>
            </a:r>
            <a:r>
              <a:rPr kumimoji="0" lang="en-US" altLang="zh-CN" sz="2400" dirty="0">
                <a:ea typeface="宋体" panose="02010600030101010101" pitchFamily="2" charset="-122"/>
                <a:cs typeface="Times New Roman" panose="02020603050405020304" pitchFamily="18" charset="0"/>
              </a:rPr>
              <a:t>DMA</a:t>
            </a:r>
            <a:r>
              <a:rPr kumimoji="0" lang="zh-CN" altLang="en-US" sz="2400" dirty="0">
                <a:ea typeface="宋体" panose="02010600030101010101" pitchFamily="2" charset="-122"/>
                <a:cs typeface="Times New Roman" panose="02020603050405020304" pitchFamily="18" charset="0"/>
              </a:rPr>
              <a:t>控制器控制下进行的</a:t>
            </a:r>
            <a:endParaRPr kumimoji="0" lang="zh-CN" altLang="en-US" sz="2400" dirty="0">
              <a:ea typeface="宋体" panose="02010600030101010101" pitchFamily="2" charset="-122"/>
              <a:cs typeface="Times New Roman" panose="02020603050405020304" pitchFamily="18" charset="0"/>
            </a:endParaRPr>
          </a:p>
          <a:p>
            <a:pPr algn="l" eaLnBrk="1" hangingPunct="1">
              <a:spcBef>
                <a:spcPct val="0"/>
              </a:spcBef>
              <a:buClr>
                <a:srgbClr val="990000"/>
              </a:buClr>
              <a:buFont typeface="Wingdings" panose="05000000000000000000" pitchFamily="2" charset="2"/>
              <a:buChar char="n"/>
            </a:pPr>
            <a:r>
              <a:rPr kumimoji="0" lang="zh-CN" altLang="en-US" sz="2400" dirty="0">
                <a:ea typeface="宋体" panose="02010600030101010101" pitchFamily="2" charset="-122"/>
                <a:cs typeface="Times New Roman" panose="02020603050405020304" pitchFamily="18" charset="0"/>
              </a:rPr>
              <a:t>优点：速度快</a:t>
            </a:r>
            <a:endParaRPr kumimoji="0" lang="zh-CN" altLang="en-US" sz="2400" dirty="0">
              <a:ea typeface="宋体" panose="02010600030101010101" pitchFamily="2" charset="-122"/>
              <a:cs typeface="Times New Roman" panose="02020603050405020304" pitchFamily="18" charset="0"/>
            </a:endParaRPr>
          </a:p>
        </p:txBody>
      </p:sp>
    </p:spTree>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48" name="Rectangle 48"/>
          <p:cNvSpPr>
            <a:spLocks noGrp="1" noChangeArrowheads="1"/>
          </p:cNvSpPr>
          <p:nvPr>
            <p:ph type="title"/>
          </p:nvPr>
        </p:nvSpPr>
        <p:spPr/>
        <p:txBody>
          <a:bodyPr/>
          <a:lstStyle/>
          <a:p>
            <a:pPr eaLnBrk="1" hangingPunct="1">
              <a:defRPr/>
            </a:pPr>
            <a:r>
              <a:rPr lang="en-US" altLang="zh-CN" dirty="0"/>
              <a:t>4. </a:t>
            </a:r>
            <a:r>
              <a:rPr lang="zh-CN" altLang="en-US" dirty="0"/>
              <a:t>通道方式</a:t>
            </a:r>
            <a:endParaRPr lang="zh-CN" altLang="en-US" dirty="0"/>
          </a:p>
        </p:txBody>
      </p:sp>
      <p:sp>
        <p:nvSpPr>
          <p:cNvPr id="24580" name="Rectangle 5"/>
          <p:cNvSpPr>
            <a:spLocks noChangeArrowheads="1"/>
          </p:cNvSpPr>
          <p:nvPr/>
        </p:nvSpPr>
        <p:spPr bwMode="auto">
          <a:xfrm>
            <a:off x="381000" y="2362200"/>
            <a:ext cx="457200" cy="914400"/>
          </a:xfrm>
          <a:prstGeom prst="rect">
            <a:avLst/>
          </a:prstGeom>
          <a:solidFill>
            <a:srgbClr val="003366"/>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800">
                <a:solidFill>
                  <a:schemeClr val="bg1"/>
                </a:solidFill>
                <a:ea typeface="楷体" panose="02010609060101010101" pitchFamily="49" charset="-122"/>
                <a:cs typeface="Times New Roman" panose="02020603050405020304" pitchFamily="18" charset="0"/>
              </a:rPr>
              <a:t>C</a:t>
            </a:r>
            <a:endParaRPr lang="en-US" altLang="zh-CN" sz="18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en-US" altLang="zh-CN" sz="1800">
                <a:solidFill>
                  <a:schemeClr val="bg1"/>
                </a:solidFill>
                <a:ea typeface="楷体" panose="02010609060101010101" pitchFamily="49" charset="-122"/>
                <a:cs typeface="Times New Roman" panose="02020603050405020304" pitchFamily="18" charset="0"/>
              </a:rPr>
              <a:t>P</a:t>
            </a:r>
            <a:endParaRPr lang="en-US" altLang="zh-CN" sz="18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en-US" altLang="zh-CN" sz="1800">
                <a:solidFill>
                  <a:schemeClr val="bg1"/>
                </a:solidFill>
                <a:ea typeface="楷体" panose="02010609060101010101" pitchFamily="49" charset="-122"/>
                <a:cs typeface="Times New Roman" panose="02020603050405020304" pitchFamily="18" charset="0"/>
              </a:rPr>
              <a:t>U</a:t>
            </a:r>
            <a:endParaRPr lang="en-US" altLang="zh-CN" sz="1800">
              <a:solidFill>
                <a:schemeClr val="bg1"/>
              </a:solidFill>
              <a:ea typeface="楷体" panose="02010609060101010101" pitchFamily="49" charset="-122"/>
              <a:cs typeface="Times New Roman" panose="02020603050405020304" pitchFamily="18" charset="0"/>
            </a:endParaRPr>
          </a:p>
        </p:txBody>
      </p:sp>
      <p:sp>
        <p:nvSpPr>
          <p:cNvPr id="24581" name="Rectangle 6"/>
          <p:cNvSpPr>
            <a:spLocks noChangeArrowheads="1"/>
          </p:cNvSpPr>
          <p:nvPr/>
        </p:nvSpPr>
        <p:spPr bwMode="auto">
          <a:xfrm>
            <a:off x="304800" y="3902075"/>
            <a:ext cx="533400" cy="1219200"/>
          </a:xfrm>
          <a:prstGeom prst="rect">
            <a:avLst/>
          </a:prstGeom>
          <a:solidFill>
            <a:srgbClr val="0099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主</a:t>
            </a:r>
            <a:endParaRPr lang="zh-CN" altLang="en-US" sz="18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存</a:t>
            </a:r>
            <a:endParaRPr lang="zh-CN" altLang="en-US" sz="18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储</a:t>
            </a:r>
            <a:endParaRPr lang="zh-CN" altLang="en-US" sz="18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器</a:t>
            </a:r>
            <a:endParaRPr lang="zh-CN" altLang="en-US" sz="1800">
              <a:solidFill>
                <a:schemeClr val="bg1"/>
              </a:solidFill>
              <a:ea typeface="楷体" panose="02010609060101010101" pitchFamily="49" charset="-122"/>
              <a:cs typeface="Times New Roman" panose="02020603050405020304" pitchFamily="18" charset="0"/>
            </a:endParaRPr>
          </a:p>
        </p:txBody>
      </p:sp>
      <p:sp>
        <p:nvSpPr>
          <p:cNvPr id="24582" name="Rectangle 7"/>
          <p:cNvSpPr>
            <a:spLocks noChangeArrowheads="1"/>
          </p:cNvSpPr>
          <p:nvPr/>
        </p:nvSpPr>
        <p:spPr bwMode="auto">
          <a:xfrm>
            <a:off x="1143000" y="1295400"/>
            <a:ext cx="1371600" cy="457200"/>
          </a:xfrm>
          <a:prstGeom prst="rect">
            <a:avLst/>
          </a:prstGeom>
          <a:solidFill>
            <a:srgbClr val="993366"/>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存储与控制</a:t>
            </a:r>
            <a:endParaRPr lang="zh-CN" altLang="en-US" sz="1800">
              <a:solidFill>
                <a:schemeClr val="bg1"/>
              </a:solidFill>
              <a:ea typeface="楷体" panose="02010609060101010101" pitchFamily="49" charset="-122"/>
              <a:cs typeface="Times New Roman" panose="02020603050405020304" pitchFamily="18" charset="0"/>
            </a:endParaRPr>
          </a:p>
        </p:txBody>
      </p:sp>
      <p:sp>
        <p:nvSpPr>
          <p:cNvPr id="24583" name="Rectangle 8"/>
          <p:cNvSpPr>
            <a:spLocks noChangeArrowheads="1"/>
          </p:cNvSpPr>
          <p:nvPr/>
        </p:nvSpPr>
        <p:spPr bwMode="auto">
          <a:xfrm>
            <a:off x="1828800" y="2301875"/>
            <a:ext cx="990600" cy="685800"/>
          </a:xfrm>
          <a:prstGeom prst="rect">
            <a:avLst/>
          </a:prstGeom>
          <a:solidFill>
            <a:srgbClr val="FF00FF"/>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选择</a:t>
            </a:r>
            <a:endParaRPr lang="zh-CN" altLang="en-US" sz="18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通道</a:t>
            </a:r>
            <a:endParaRPr lang="zh-CN" altLang="en-US" sz="1800">
              <a:solidFill>
                <a:schemeClr val="bg1"/>
              </a:solidFill>
              <a:ea typeface="楷体" panose="02010609060101010101" pitchFamily="49" charset="-122"/>
              <a:cs typeface="Times New Roman" panose="02020603050405020304" pitchFamily="18" charset="0"/>
            </a:endParaRPr>
          </a:p>
        </p:txBody>
      </p:sp>
      <p:sp>
        <p:nvSpPr>
          <p:cNvPr id="24584" name="Rectangle 9"/>
          <p:cNvSpPr>
            <a:spLocks noChangeArrowheads="1"/>
          </p:cNvSpPr>
          <p:nvPr/>
        </p:nvSpPr>
        <p:spPr bwMode="auto">
          <a:xfrm>
            <a:off x="1844675" y="3413125"/>
            <a:ext cx="990600" cy="685800"/>
          </a:xfrm>
          <a:prstGeom prst="rect">
            <a:avLst/>
          </a:prstGeom>
          <a:solidFill>
            <a:srgbClr val="6633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数组多路</a:t>
            </a:r>
            <a:endParaRPr lang="zh-CN" altLang="en-US" sz="18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通道</a:t>
            </a:r>
            <a:endParaRPr lang="zh-CN" altLang="en-US" sz="1800">
              <a:solidFill>
                <a:schemeClr val="bg1"/>
              </a:solidFill>
              <a:ea typeface="楷体" panose="02010609060101010101" pitchFamily="49" charset="-122"/>
              <a:cs typeface="Times New Roman" panose="02020603050405020304" pitchFamily="18" charset="0"/>
            </a:endParaRPr>
          </a:p>
        </p:txBody>
      </p:sp>
      <p:sp>
        <p:nvSpPr>
          <p:cNvPr id="24585" name="Rectangle 10"/>
          <p:cNvSpPr>
            <a:spLocks noChangeArrowheads="1"/>
          </p:cNvSpPr>
          <p:nvPr/>
        </p:nvSpPr>
        <p:spPr bwMode="auto">
          <a:xfrm>
            <a:off x="1873250" y="4511675"/>
            <a:ext cx="990600" cy="685800"/>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字节多路</a:t>
            </a:r>
            <a:endParaRPr lang="zh-CN" altLang="en-US" sz="18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1800">
                <a:solidFill>
                  <a:schemeClr val="bg1"/>
                </a:solidFill>
                <a:ea typeface="楷体" panose="02010609060101010101" pitchFamily="49" charset="-122"/>
                <a:cs typeface="Times New Roman" panose="02020603050405020304" pitchFamily="18" charset="0"/>
              </a:rPr>
              <a:t>通道</a:t>
            </a:r>
            <a:endParaRPr lang="zh-CN" altLang="en-US" sz="1800">
              <a:solidFill>
                <a:schemeClr val="bg1"/>
              </a:solidFill>
              <a:ea typeface="楷体" panose="02010609060101010101" pitchFamily="49" charset="-122"/>
              <a:cs typeface="Times New Roman" panose="02020603050405020304" pitchFamily="18" charset="0"/>
            </a:endParaRPr>
          </a:p>
        </p:txBody>
      </p:sp>
      <p:sp>
        <p:nvSpPr>
          <p:cNvPr id="24586" name="Rectangle 11"/>
          <p:cNvSpPr>
            <a:spLocks noChangeArrowheads="1"/>
          </p:cNvSpPr>
          <p:nvPr/>
        </p:nvSpPr>
        <p:spPr bwMode="auto">
          <a:xfrm>
            <a:off x="3886200" y="2911475"/>
            <a:ext cx="1143000" cy="609600"/>
          </a:xfrm>
          <a:prstGeom prst="rect">
            <a:avLst/>
          </a:prstGeom>
          <a:solidFill>
            <a:schemeClr val="accent2"/>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硬盘驱动</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控制器</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24587" name="Rectangle 12"/>
          <p:cNvSpPr>
            <a:spLocks noChangeArrowheads="1"/>
          </p:cNvSpPr>
          <p:nvPr/>
        </p:nvSpPr>
        <p:spPr bwMode="auto">
          <a:xfrm>
            <a:off x="3914775" y="4054475"/>
            <a:ext cx="1066800" cy="533400"/>
          </a:xfrm>
          <a:prstGeom prst="rect">
            <a:avLst/>
          </a:prstGeom>
          <a:solidFill>
            <a:schemeClr val="tx2"/>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磁带机</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控制器</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24588" name="Rectangle 13"/>
          <p:cNvSpPr>
            <a:spLocks noChangeArrowheads="1"/>
          </p:cNvSpPr>
          <p:nvPr/>
        </p:nvSpPr>
        <p:spPr bwMode="auto">
          <a:xfrm>
            <a:off x="3886200" y="5197475"/>
            <a:ext cx="1066800" cy="533400"/>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键盘</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接口</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24589" name="Rectangle 14"/>
          <p:cNvSpPr>
            <a:spLocks noChangeArrowheads="1"/>
          </p:cNvSpPr>
          <p:nvPr/>
        </p:nvSpPr>
        <p:spPr bwMode="auto">
          <a:xfrm>
            <a:off x="5105400" y="5197475"/>
            <a:ext cx="1066800" cy="533400"/>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打印机</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接口</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24590" name="Rectangle 15"/>
          <p:cNvSpPr>
            <a:spLocks noChangeArrowheads="1"/>
          </p:cNvSpPr>
          <p:nvPr/>
        </p:nvSpPr>
        <p:spPr bwMode="auto">
          <a:xfrm>
            <a:off x="6781800" y="5197475"/>
            <a:ext cx="1066800" cy="533400"/>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打印机</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接口</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24591" name="AutoShape 16" descr="新闻纸"/>
          <p:cNvSpPr>
            <a:spLocks noChangeArrowheads="1"/>
          </p:cNvSpPr>
          <p:nvPr/>
        </p:nvSpPr>
        <p:spPr bwMode="auto">
          <a:xfrm>
            <a:off x="1066800" y="1844675"/>
            <a:ext cx="533400" cy="3962400"/>
          </a:xfrm>
          <a:prstGeom prst="upDownArrow">
            <a:avLst>
              <a:gd name="adj1" fmla="val 50000"/>
              <a:gd name="adj2" fmla="val 148571"/>
            </a:avLst>
          </a:prstGeom>
          <a:blipFill dpi="0" rotWithShape="0">
            <a:blip r:embed="rId1"/>
            <a:srcRect/>
            <a:tile tx="0" ty="0" sx="100000" sy="100000" flip="none" algn="tl"/>
          </a:blipFill>
          <a:ln w="9525">
            <a:solidFill>
              <a:schemeClr val="tx1"/>
            </a:solidFill>
            <a:miter lim="800000"/>
          </a:ln>
        </p:spPr>
        <p:txBody>
          <a:bodyPr vert="eaVert"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ea typeface="楷体" panose="02010609060101010101" pitchFamily="49" charset="-122"/>
                <a:cs typeface="Times New Roman" panose="02020603050405020304" pitchFamily="18" charset="0"/>
              </a:rPr>
              <a:t>系统总线</a:t>
            </a:r>
            <a:endParaRPr lang="zh-CN" altLang="en-US" sz="2000">
              <a:ea typeface="楷体" panose="02010609060101010101" pitchFamily="49" charset="-122"/>
              <a:cs typeface="Times New Roman" panose="02020603050405020304" pitchFamily="18" charset="0"/>
            </a:endParaRPr>
          </a:p>
        </p:txBody>
      </p:sp>
      <p:sp>
        <p:nvSpPr>
          <p:cNvPr id="24592" name="AutoShape 17"/>
          <p:cNvSpPr>
            <a:spLocks noChangeArrowheads="1"/>
          </p:cNvSpPr>
          <p:nvPr/>
        </p:nvSpPr>
        <p:spPr bwMode="auto">
          <a:xfrm>
            <a:off x="2819400" y="2384425"/>
            <a:ext cx="5867400" cy="396875"/>
          </a:xfrm>
          <a:prstGeom prst="leftRightArrow">
            <a:avLst>
              <a:gd name="adj1" fmla="val 50000"/>
              <a:gd name="adj2" fmla="val 117793"/>
            </a:avLst>
          </a:prstGeom>
          <a:solidFill>
            <a:srgbClr val="660066"/>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800">
                <a:solidFill>
                  <a:srgbClr val="FFFF00"/>
                </a:solidFill>
                <a:ea typeface="楷体" panose="02010609060101010101" pitchFamily="49" charset="-122"/>
                <a:cs typeface="Times New Roman" panose="02020603050405020304" pitchFamily="18" charset="0"/>
              </a:rPr>
              <a:t>I/O</a:t>
            </a:r>
            <a:r>
              <a:rPr lang="zh-CN" altLang="en-US" sz="1800">
                <a:solidFill>
                  <a:srgbClr val="FFFF00"/>
                </a:solidFill>
                <a:ea typeface="楷体" panose="02010609060101010101" pitchFamily="49" charset="-122"/>
                <a:cs typeface="Times New Roman" panose="02020603050405020304" pitchFamily="18" charset="0"/>
              </a:rPr>
              <a:t>总线</a:t>
            </a:r>
            <a:endParaRPr lang="zh-CN" altLang="en-US" sz="1800">
              <a:solidFill>
                <a:srgbClr val="FFFF00"/>
              </a:solidFill>
              <a:ea typeface="楷体" panose="02010609060101010101" pitchFamily="49" charset="-122"/>
              <a:cs typeface="Times New Roman" panose="02020603050405020304" pitchFamily="18" charset="0"/>
            </a:endParaRPr>
          </a:p>
        </p:txBody>
      </p:sp>
      <p:sp>
        <p:nvSpPr>
          <p:cNvPr id="24593" name="AutoShape 18"/>
          <p:cNvSpPr>
            <a:spLocks noChangeArrowheads="1"/>
          </p:cNvSpPr>
          <p:nvPr/>
        </p:nvSpPr>
        <p:spPr bwMode="auto">
          <a:xfrm>
            <a:off x="2819400" y="3573463"/>
            <a:ext cx="5867400" cy="349250"/>
          </a:xfrm>
          <a:prstGeom prst="leftRightArrow">
            <a:avLst>
              <a:gd name="adj1" fmla="val 50000"/>
              <a:gd name="adj2" fmla="val 129578"/>
            </a:avLst>
          </a:prstGeom>
          <a:solidFill>
            <a:srgbClr val="660066"/>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800">
                <a:solidFill>
                  <a:srgbClr val="FFFF00"/>
                </a:solidFill>
                <a:ea typeface="楷体" panose="02010609060101010101" pitchFamily="49" charset="-122"/>
                <a:cs typeface="Times New Roman" panose="02020603050405020304" pitchFamily="18" charset="0"/>
              </a:rPr>
              <a:t>I/O</a:t>
            </a:r>
            <a:r>
              <a:rPr lang="zh-CN" altLang="en-US" sz="1800">
                <a:solidFill>
                  <a:srgbClr val="FFFF00"/>
                </a:solidFill>
                <a:ea typeface="楷体" panose="02010609060101010101" pitchFamily="49" charset="-122"/>
                <a:cs typeface="Times New Roman" panose="02020603050405020304" pitchFamily="18" charset="0"/>
              </a:rPr>
              <a:t>总线</a:t>
            </a:r>
            <a:endParaRPr lang="zh-CN" altLang="en-US" sz="1800">
              <a:solidFill>
                <a:srgbClr val="FFFF00"/>
              </a:solidFill>
              <a:ea typeface="楷体" panose="02010609060101010101" pitchFamily="49" charset="-122"/>
              <a:cs typeface="Times New Roman" panose="02020603050405020304" pitchFamily="18" charset="0"/>
            </a:endParaRPr>
          </a:p>
        </p:txBody>
      </p:sp>
      <p:sp>
        <p:nvSpPr>
          <p:cNvPr id="24594" name="AutoShape 19"/>
          <p:cNvSpPr>
            <a:spLocks noChangeArrowheads="1"/>
          </p:cNvSpPr>
          <p:nvPr/>
        </p:nvSpPr>
        <p:spPr bwMode="auto">
          <a:xfrm>
            <a:off x="2895600" y="4652963"/>
            <a:ext cx="5791200" cy="396875"/>
          </a:xfrm>
          <a:prstGeom prst="leftRightArrow">
            <a:avLst>
              <a:gd name="adj1" fmla="val 50000"/>
              <a:gd name="adj2" fmla="val 107211"/>
            </a:avLst>
          </a:prstGeom>
          <a:solidFill>
            <a:srgbClr val="660066"/>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800">
                <a:solidFill>
                  <a:srgbClr val="FFFF00"/>
                </a:solidFill>
                <a:ea typeface="楷体" panose="02010609060101010101" pitchFamily="49" charset="-122"/>
                <a:cs typeface="Times New Roman" panose="02020603050405020304" pitchFamily="18" charset="0"/>
              </a:rPr>
              <a:t>I/O</a:t>
            </a:r>
            <a:r>
              <a:rPr lang="zh-CN" altLang="en-US" sz="1800">
                <a:solidFill>
                  <a:srgbClr val="FFFF00"/>
                </a:solidFill>
                <a:ea typeface="楷体" panose="02010609060101010101" pitchFamily="49" charset="-122"/>
                <a:cs typeface="Times New Roman" panose="02020603050405020304" pitchFamily="18" charset="0"/>
              </a:rPr>
              <a:t>总线</a:t>
            </a:r>
            <a:endParaRPr lang="zh-CN" altLang="en-US" sz="1800">
              <a:solidFill>
                <a:srgbClr val="FFFF00"/>
              </a:solidFill>
              <a:ea typeface="楷体" panose="02010609060101010101" pitchFamily="49" charset="-122"/>
              <a:cs typeface="Times New Roman" panose="02020603050405020304" pitchFamily="18" charset="0"/>
            </a:endParaRPr>
          </a:p>
        </p:txBody>
      </p:sp>
      <p:sp>
        <p:nvSpPr>
          <p:cNvPr id="24595" name="Rectangle 20"/>
          <p:cNvSpPr>
            <a:spLocks noChangeArrowheads="1"/>
          </p:cNvSpPr>
          <p:nvPr/>
        </p:nvSpPr>
        <p:spPr bwMode="auto">
          <a:xfrm>
            <a:off x="5133975" y="4054475"/>
            <a:ext cx="1066800" cy="533400"/>
          </a:xfrm>
          <a:prstGeom prst="rect">
            <a:avLst/>
          </a:prstGeom>
          <a:solidFill>
            <a:schemeClr val="tx2"/>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磁带机</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控制器</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24596" name="Rectangle 21"/>
          <p:cNvSpPr>
            <a:spLocks noChangeArrowheads="1"/>
          </p:cNvSpPr>
          <p:nvPr/>
        </p:nvSpPr>
        <p:spPr bwMode="auto">
          <a:xfrm>
            <a:off x="6781800" y="4054475"/>
            <a:ext cx="1066800" cy="533400"/>
          </a:xfrm>
          <a:prstGeom prst="rect">
            <a:avLst/>
          </a:prstGeom>
          <a:solidFill>
            <a:schemeClr val="tx2"/>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磁带机</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控制器</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24597" name="Rectangle 22"/>
          <p:cNvSpPr>
            <a:spLocks noChangeArrowheads="1"/>
          </p:cNvSpPr>
          <p:nvPr/>
        </p:nvSpPr>
        <p:spPr bwMode="auto">
          <a:xfrm>
            <a:off x="5165725" y="2911475"/>
            <a:ext cx="1143000" cy="609600"/>
          </a:xfrm>
          <a:prstGeom prst="rect">
            <a:avLst/>
          </a:prstGeom>
          <a:solidFill>
            <a:schemeClr val="accent2"/>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硬盘驱动</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控制器</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24598" name="Rectangle 23"/>
          <p:cNvSpPr>
            <a:spLocks noChangeArrowheads="1"/>
          </p:cNvSpPr>
          <p:nvPr/>
        </p:nvSpPr>
        <p:spPr bwMode="auto">
          <a:xfrm>
            <a:off x="6781800" y="2911475"/>
            <a:ext cx="1143000" cy="609600"/>
          </a:xfrm>
          <a:prstGeom prst="rect">
            <a:avLst/>
          </a:prstGeom>
          <a:solidFill>
            <a:schemeClr val="accent2"/>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硬盘驱动</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控制器</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24599" name="Line 24"/>
          <p:cNvSpPr>
            <a:spLocks noChangeShapeType="1"/>
          </p:cNvSpPr>
          <p:nvPr/>
        </p:nvSpPr>
        <p:spPr bwMode="auto">
          <a:xfrm>
            <a:off x="838200" y="4495800"/>
            <a:ext cx="381000" cy="0"/>
          </a:xfrm>
          <a:prstGeom prst="line">
            <a:avLst/>
          </a:prstGeom>
          <a:noFill/>
          <a:ln w="38100" cmpd="dbl">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0" name="Line 25"/>
          <p:cNvSpPr>
            <a:spLocks noChangeShapeType="1"/>
          </p:cNvSpPr>
          <p:nvPr/>
        </p:nvSpPr>
        <p:spPr bwMode="auto">
          <a:xfrm flipV="1">
            <a:off x="609600" y="1539875"/>
            <a:ext cx="0" cy="822325"/>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1" name="Line 26"/>
          <p:cNvSpPr>
            <a:spLocks noChangeShapeType="1"/>
          </p:cNvSpPr>
          <p:nvPr/>
        </p:nvSpPr>
        <p:spPr bwMode="auto">
          <a:xfrm flipV="1">
            <a:off x="609600" y="1524000"/>
            <a:ext cx="533400" cy="0"/>
          </a:xfrm>
          <a:prstGeom prst="line">
            <a:avLst/>
          </a:prstGeom>
          <a:noFill/>
          <a:ln w="9525">
            <a:solidFill>
              <a:schemeClr val="tx1"/>
            </a:solidFill>
            <a:prstDash val="dash"/>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2" name="Line 27"/>
          <p:cNvSpPr>
            <a:spLocks noChangeShapeType="1"/>
          </p:cNvSpPr>
          <p:nvPr/>
        </p:nvSpPr>
        <p:spPr bwMode="auto">
          <a:xfrm flipH="1">
            <a:off x="1628775" y="1739900"/>
            <a:ext cx="15875" cy="329565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3" name="Line 28"/>
          <p:cNvSpPr>
            <a:spLocks noChangeShapeType="1"/>
          </p:cNvSpPr>
          <p:nvPr/>
        </p:nvSpPr>
        <p:spPr bwMode="auto">
          <a:xfrm>
            <a:off x="1660525" y="5035550"/>
            <a:ext cx="228600" cy="0"/>
          </a:xfrm>
          <a:prstGeom prst="line">
            <a:avLst/>
          </a:prstGeom>
          <a:noFill/>
          <a:ln w="9525">
            <a:solidFill>
              <a:schemeClr val="tx1"/>
            </a:solidFill>
            <a:prstDash val="dash"/>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4" name="Line 29"/>
          <p:cNvSpPr>
            <a:spLocks noChangeShapeType="1"/>
          </p:cNvSpPr>
          <p:nvPr/>
        </p:nvSpPr>
        <p:spPr bwMode="auto">
          <a:xfrm>
            <a:off x="1644650" y="3892550"/>
            <a:ext cx="228600" cy="0"/>
          </a:xfrm>
          <a:prstGeom prst="line">
            <a:avLst/>
          </a:prstGeom>
          <a:noFill/>
          <a:ln w="9525">
            <a:solidFill>
              <a:schemeClr val="tx1"/>
            </a:solidFill>
            <a:prstDash val="dash"/>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5" name="Line 30"/>
          <p:cNvSpPr>
            <a:spLocks noChangeShapeType="1"/>
          </p:cNvSpPr>
          <p:nvPr/>
        </p:nvSpPr>
        <p:spPr bwMode="auto">
          <a:xfrm>
            <a:off x="1616075" y="2797175"/>
            <a:ext cx="228600" cy="0"/>
          </a:xfrm>
          <a:prstGeom prst="line">
            <a:avLst/>
          </a:prstGeom>
          <a:noFill/>
          <a:ln w="9525">
            <a:solidFill>
              <a:schemeClr val="tx1"/>
            </a:solidFill>
            <a:prstDash val="dash"/>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6" name="Line 31"/>
          <p:cNvSpPr>
            <a:spLocks noChangeShapeType="1"/>
          </p:cNvSpPr>
          <p:nvPr/>
        </p:nvSpPr>
        <p:spPr bwMode="auto">
          <a:xfrm>
            <a:off x="1492250" y="4740275"/>
            <a:ext cx="3810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7" name="Line 32"/>
          <p:cNvSpPr>
            <a:spLocks noChangeShapeType="1"/>
          </p:cNvSpPr>
          <p:nvPr/>
        </p:nvSpPr>
        <p:spPr bwMode="auto">
          <a:xfrm>
            <a:off x="1463675" y="3641725"/>
            <a:ext cx="3810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8" name="Line 33"/>
          <p:cNvSpPr>
            <a:spLocks noChangeShapeType="1"/>
          </p:cNvSpPr>
          <p:nvPr/>
        </p:nvSpPr>
        <p:spPr bwMode="auto">
          <a:xfrm>
            <a:off x="1492250" y="2501900"/>
            <a:ext cx="3810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09" name="Line 34"/>
          <p:cNvSpPr>
            <a:spLocks noChangeShapeType="1"/>
          </p:cNvSpPr>
          <p:nvPr/>
        </p:nvSpPr>
        <p:spPr bwMode="auto">
          <a:xfrm>
            <a:off x="4464050" y="2682875"/>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0" name="Line 35"/>
          <p:cNvSpPr>
            <a:spLocks noChangeShapeType="1"/>
          </p:cNvSpPr>
          <p:nvPr/>
        </p:nvSpPr>
        <p:spPr bwMode="auto">
          <a:xfrm>
            <a:off x="5746750" y="2682875"/>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1" name="Line 36"/>
          <p:cNvSpPr>
            <a:spLocks noChangeShapeType="1"/>
          </p:cNvSpPr>
          <p:nvPr/>
        </p:nvSpPr>
        <p:spPr bwMode="auto">
          <a:xfrm>
            <a:off x="7346950" y="2682875"/>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2" name="Line 37"/>
          <p:cNvSpPr>
            <a:spLocks noChangeShapeType="1"/>
          </p:cNvSpPr>
          <p:nvPr/>
        </p:nvSpPr>
        <p:spPr bwMode="auto">
          <a:xfrm>
            <a:off x="4479925" y="3810000"/>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3" name="Line 38"/>
          <p:cNvSpPr>
            <a:spLocks noChangeShapeType="1"/>
          </p:cNvSpPr>
          <p:nvPr/>
        </p:nvSpPr>
        <p:spPr bwMode="auto">
          <a:xfrm>
            <a:off x="5654675" y="3825875"/>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4" name="Line 39"/>
          <p:cNvSpPr>
            <a:spLocks noChangeShapeType="1"/>
          </p:cNvSpPr>
          <p:nvPr/>
        </p:nvSpPr>
        <p:spPr bwMode="auto">
          <a:xfrm>
            <a:off x="7315200" y="3797300"/>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5" name="Line 40"/>
          <p:cNvSpPr>
            <a:spLocks noChangeShapeType="1"/>
          </p:cNvSpPr>
          <p:nvPr/>
        </p:nvSpPr>
        <p:spPr bwMode="auto">
          <a:xfrm>
            <a:off x="4464050" y="4953000"/>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6" name="Line 41"/>
          <p:cNvSpPr>
            <a:spLocks noChangeShapeType="1"/>
          </p:cNvSpPr>
          <p:nvPr/>
        </p:nvSpPr>
        <p:spPr bwMode="auto">
          <a:xfrm>
            <a:off x="5638800" y="4953000"/>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7" name="Line 42"/>
          <p:cNvSpPr>
            <a:spLocks noChangeShapeType="1"/>
          </p:cNvSpPr>
          <p:nvPr/>
        </p:nvSpPr>
        <p:spPr bwMode="auto">
          <a:xfrm>
            <a:off x="7239000" y="4953000"/>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8" name="Line 43"/>
          <p:cNvSpPr>
            <a:spLocks noChangeShapeType="1"/>
          </p:cNvSpPr>
          <p:nvPr/>
        </p:nvSpPr>
        <p:spPr bwMode="auto">
          <a:xfrm>
            <a:off x="6400800" y="3216275"/>
            <a:ext cx="304800" cy="0"/>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19" name="Line 44"/>
          <p:cNvSpPr>
            <a:spLocks noChangeShapeType="1"/>
          </p:cNvSpPr>
          <p:nvPr/>
        </p:nvSpPr>
        <p:spPr bwMode="auto">
          <a:xfrm>
            <a:off x="6340475" y="4330700"/>
            <a:ext cx="304800" cy="0"/>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20" name="Line 45"/>
          <p:cNvSpPr>
            <a:spLocks noChangeShapeType="1"/>
          </p:cNvSpPr>
          <p:nvPr/>
        </p:nvSpPr>
        <p:spPr bwMode="auto">
          <a:xfrm>
            <a:off x="6324600" y="5426075"/>
            <a:ext cx="304800" cy="0"/>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621" name="Line 46"/>
          <p:cNvSpPr>
            <a:spLocks noChangeShapeType="1"/>
          </p:cNvSpPr>
          <p:nvPr/>
        </p:nvSpPr>
        <p:spPr bwMode="auto">
          <a:xfrm flipV="1">
            <a:off x="609600" y="3276600"/>
            <a:ext cx="0" cy="609600"/>
          </a:xfrm>
          <a:prstGeom prst="line">
            <a:avLst/>
          </a:prstGeom>
          <a:noFill/>
          <a:ln w="38100" cmpd="dbl">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通道方式</a:t>
            </a:r>
            <a:endParaRPr lang="zh-CN" altLang="en-US" dirty="0"/>
          </a:p>
        </p:txBody>
      </p:sp>
      <p:sp>
        <p:nvSpPr>
          <p:cNvPr id="25603" name="内容占位符 2"/>
          <p:cNvSpPr>
            <a:spLocks noGrp="1" noChangeArrowheads="1"/>
          </p:cNvSpPr>
          <p:nvPr>
            <p:ph idx="1"/>
          </p:nvPr>
        </p:nvSpPr>
        <p:spPr/>
        <p:txBody>
          <a:bodyPr/>
          <a:lstStyle/>
          <a:p>
            <a:r>
              <a:rPr lang="zh-CN" altLang="en-US" dirty="0"/>
              <a:t>计算机系统规模最大后，系统中</a:t>
            </a:r>
            <a:r>
              <a:rPr lang="en-US" altLang="zh-CN" dirty="0"/>
              <a:t>I/O</a:t>
            </a:r>
            <a:r>
              <a:rPr lang="zh-CN" altLang="en-US" dirty="0"/>
              <a:t>设备数量多、</a:t>
            </a:r>
            <a:r>
              <a:rPr lang="en-US" altLang="zh-CN" dirty="0"/>
              <a:t>I/O</a:t>
            </a:r>
            <a:r>
              <a:rPr lang="zh-CN" altLang="en-US" dirty="0"/>
              <a:t>操作频繁，仅采用中断处理方式和</a:t>
            </a:r>
            <a:r>
              <a:rPr lang="en-US" altLang="zh-CN" dirty="0"/>
              <a:t>DMA</a:t>
            </a:r>
            <a:r>
              <a:rPr lang="zh-CN" altLang="en-US" dirty="0"/>
              <a:t>方式不能满足系统的要求</a:t>
            </a:r>
            <a:endParaRPr lang="en-US" altLang="zh-CN" dirty="0"/>
          </a:p>
          <a:p>
            <a:r>
              <a:rPr lang="zh-CN" altLang="en-US" dirty="0"/>
              <a:t>通道是一种具有特定功能的处理器，它具有自己的指令和程序，专门负责数据输入输出的控制和管理</a:t>
            </a:r>
            <a:endParaRPr lang="en-US" altLang="zh-CN" dirty="0"/>
          </a:p>
          <a:p>
            <a:r>
              <a:rPr lang="zh-CN" altLang="en-US" dirty="0"/>
              <a:t>通道与</a:t>
            </a:r>
            <a:r>
              <a:rPr lang="en-US" altLang="zh-CN" dirty="0"/>
              <a:t>CPU</a:t>
            </a:r>
            <a:r>
              <a:rPr lang="zh-CN" altLang="en-US" dirty="0"/>
              <a:t>分时使用主存，实现</a:t>
            </a:r>
            <a:r>
              <a:rPr lang="en-US" altLang="zh-CN" dirty="0"/>
              <a:t>CPU</a:t>
            </a:r>
            <a:r>
              <a:rPr lang="zh-CN" altLang="en-US" dirty="0"/>
              <a:t>内部运算与</a:t>
            </a:r>
            <a:r>
              <a:rPr lang="en-US" altLang="zh-CN" dirty="0"/>
              <a:t>I/O</a:t>
            </a:r>
            <a:r>
              <a:rPr lang="zh-CN" altLang="en-US" dirty="0"/>
              <a:t>设备并行工作</a:t>
            </a:r>
            <a:endParaRPr lang="zh-CN" altLang="en-US" dirty="0"/>
          </a:p>
        </p:txBody>
      </p:sp>
    </p:spTree>
  </p:cSld>
  <p:clrMapOvr>
    <a:masterClrMapping/>
  </p:clrMapOvr>
  <p:transition spd="med">
    <p:pull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8.2 </a:t>
            </a:r>
            <a:r>
              <a:rPr lang="zh-CN" altLang="en-US" dirty="0"/>
              <a:t>程序查询方式</a:t>
            </a:r>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pPr eaLnBrk="1" hangingPunct="1">
              <a:defRPr/>
            </a:pPr>
            <a:r>
              <a:rPr lang="en-US" altLang="zh-CN"/>
              <a:t>1. </a:t>
            </a:r>
            <a:r>
              <a:rPr lang="zh-CN" altLang="en-US"/>
              <a:t>查询传送方式</a:t>
            </a:r>
            <a:endParaRPr lang="zh-CN" altLang="en-US"/>
          </a:p>
        </p:txBody>
      </p:sp>
      <p:sp>
        <p:nvSpPr>
          <p:cNvPr id="27652" name="Rectangle 3"/>
          <p:cNvSpPr>
            <a:spLocks noChangeArrowheads="1"/>
          </p:cNvSpPr>
          <p:nvPr/>
        </p:nvSpPr>
        <p:spPr bwMode="auto">
          <a:xfrm>
            <a:off x="6408738" y="2003425"/>
            <a:ext cx="2319337" cy="492125"/>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653" name="Rectangle 4"/>
          <p:cNvSpPr>
            <a:spLocks noChangeArrowheads="1"/>
          </p:cNvSpPr>
          <p:nvPr/>
        </p:nvSpPr>
        <p:spPr bwMode="auto">
          <a:xfrm>
            <a:off x="6964363" y="2071688"/>
            <a:ext cx="12144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900">
                <a:latin typeface="宋体" panose="02010600030101010101" pitchFamily="2" charset="-122"/>
                <a:ea typeface="宋体" panose="02010600030101010101" pitchFamily="2" charset="-122"/>
              </a:rPr>
              <a:t>读外设状态</a:t>
            </a:r>
            <a:endParaRPr kumimoji="0" lang="zh-CN" altLang="en-US" sz="2400">
              <a:ea typeface="宋体" panose="02010600030101010101" pitchFamily="2" charset="-122"/>
            </a:endParaRPr>
          </a:p>
        </p:txBody>
      </p:sp>
      <p:sp>
        <p:nvSpPr>
          <p:cNvPr id="27654" name="Rectangle 5"/>
          <p:cNvSpPr>
            <a:spLocks noChangeArrowheads="1"/>
          </p:cNvSpPr>
          <p:nvPr/>
        </p:nvSpPr>
        <p:spPr bwMode="auto">
          <a:xfrm>
            <a:off x="7254875" y="4527550"/>
            <a:ext cx="485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900">
                <a:latin typeface="宋体" panose="02010600030101010101" pitchFamily="2" charset="-122"/>
                <a:ea typeface="宋体" panose="02010600030101010101" pitchFamily="2" charset="-122"/>
              </a:rPr>
              <a:t>完成</a:t>
            </a:r>
            <a:endParaRPr kumimoji="0" lang="zh-CN" altLang="en-US" sz="2400">
              <a:ea typeface="宋体" panose="02010600030101010101" pitchFamily="2" charset="-122"/>
            </a:endParaRPr>
          </a:p>
        </p:txBody>
      </p:sp>
      <p:sp>
        <p:nvSpPr>
          <p:cNvPr id="27655" name="Rectangle 6"/>
          <p:cNvSpPr>
            <a:spLocks noChangeArrowheads="1"/>
          </p:cNvSpPr>
          <p:nvPr/>
        </p:nvSpPr>
        <p:spPr bwMode="auto">
          <a:xfrm>
            <a:off x="7729538" y="451008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900">
                <a:ea typeface="宋体" panose="02010600030101010101" pitchFamily="2" charset="-122"/>
              </a:rPr>
              <a:t>?</a:t>
            </a:r>
            <a:endParaRPr kumimoji="0" lang="en-US" altLang="zh-CN" sz="2400">
              <a:ea typeface="宋体" panose="02010600030101010101" pitchFamily="2" charset="-122"/>
            </a:endParaRPr>
          </a:p>
        </p:txBody>
      </p:sp>
      <p:sp>
        <p:nvSpPr>
          <p:cNvPr id="27656" name="Rectangle 7"/>
          <p:cNvSpPr>
            <a:spLocks noChangeArrowheads="1"/>
          </p:cNvSpPr>
          <p:nvPr/>
        </p:nvSpPr>
        <p:spPr bwMode="auto">
          <a:xfrm>
            <a:off x="7543800" y="3341688"/>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900">
                <a:ea typeface="宋体" panose="02010600030101010101" pitchFamily="2" charset="-122"/>
              </a:rPr>
              <a:t>Y</a:t>
            </a:r>
            <a:endParaRPr kumimoji="0" lang="en-US" altLang="zh-CN" sz="2400">
              <a:ea typeface="宋体" panose="02010600030101010101" pitchFamily="2" charset="-122"/>
            </a:endParaRPr>
          </a:p>
        </p:txBody>
      </p:sp>
      <p:sp>
        <p:nvSpPr>
          <p:cNvPr id="27657" name="Rectangle 8"/>
          <p:cNvSpPr>
            <a:spLocks noChangeArrowheads="1"/>
          </p:cNvSpPr>
          <p:nvPr/>
        </p:nvSpPr>
        <p:spPr bwMode="auto">
          <a:xfrm>
            <a:off x="7407275" y="5340350"/>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900" b="0">
                <a:ea typeface="宋体" panose="02010600030101010101" pitchFamily="2" charset="-122"/>
              </a:rPr>
              <a:t>Y</a:t>
            </a:r>
            <a:endParaRPr kumimoji="0" lang="en-US" altLang="zh-CN" sz="2400" b="0">
              <a:ea typeface="宋体" panose="02010600030101010101" pitchFamily="2" charset="-122"/>
            </a:endParaRPr>
          </a:p>
        </p:txBody>
      </p:sp>
      <p:sp>
        <p:nvSpPr>
          <p:cNvPr id="27658" name="Rectangle 9"/>
          <p:cNvSpPr>
            <a:spLocks noChangeArrowheads="1"/>
          </p:cNvSpPr>
          <p:nvPr/>
        </p:nvSpPr>
        <p:spPr bwMode="auto">
          <a:xfrm>
            <a:off x="6035675" y="4392613"/>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900" b="0">
                <a:ea typeface="宋体" panose="02010600030101010101" pitchFamily="2" charset="-122"/>
              </a:rPr>
              <a:t>N</a:t>
            </a:r>
            <a:endParaRPr kumimoji="0" lang="en-US" altLang="zh-CN" sz="2400" b="0">
              <a:ea typeface="宋体" panose="02010600030101010101" pitchFamily="2" charset="-122"/>
            </a:endParaRPr>
          </a:p>
        </p:txBody>
      </p:sp>
      <p:sp>
        <p:nvSpPr>
          <p:cNvPr id="27659" name="Rectangle 10"/>
          <p:cNvSpPr>
            <a:spLocks noChangeArrowheads="1"/>
          </p:cNvSpPr>
          <p:nvPr/>
        </p:nvSpPr>
        <p:spPr bwMode="auto">
          <a:xfrm>
            <a:off x="6035675" y="2749550"/>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900" b="0">
                <a:ea typeface="宋体" panose="02010600030101010101" pitchFamily="2" charset="-122"/>
              </a:rPr>
              <a:t>N</a:t>
            </a:r>
            <a:endParaRPr kumimoji="0" lang="en-US" altLang="zh-CN" sz="2400" b="0">
              <a:ea typeface="宋体" panose="02010600030101010101" pitchFamily="2" charset="-122"/>
            </a:endParaRPr>
          </a:p>
        </p:txBody>
      </p:sp>
      <p:sp>
        <p:nvSpPr>
          <p:cNvPr id="27660" name="Rectangle 11"/>
          <p:cNvSpPr>
            <a:spLocks noChangeArrowheads="1"/>
          </p:cNvSpPr>
          <p:nvPr/>
        </p:nvSpPr>
        <p:spPr bwMode="auto">
          <a:xfrm>
            <a:off x="7204075" y="2867025"/>
            <a:ext cx="7778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900">
                <a:ea typeface="宋体" panose="02010600030101010101" pitchFamily="2" charset="-122"/>
              </a:rPr>
              <a:t>Ready?</a:t>
            </a:r>
            <a:endParaRPr kumimoji="0" lang="en-US" altLang="zh-CN" sz="2400">
              <a:ea typeface="宋体" panose="02010600030101010101" pitchFamily="2" charset="-122"/>
            </a:endParaRPr>
          </a:p>
        </p:txBody>
      </p:sp>
      <p:sp>
        <p:nvSpPr>
          <p:cNvPr id="27661" name="Rectangle 12"/>
          <p:cNvSpPr>
            <a:spLocks noChangeArrowheads="1"/>
          </p:cNvSpPr>
          <p:nvPr/>
        </p:nvSpPr>
        <p:spPr bwMode="auto">
          <a:xfrm>
            <a:off x="6408738" y="3646488"/>
            <a:ext cx="2319337" cy="492125"/>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662" name="Rectangle 13"/>
          <p:cNvSpPr>
            <a:spLocks noChangeArrowheads="1"/>
          </p:cNvSpPr>
          <p:nvPr/>
        </p:nvSpPr>
        <p:spPr bwMode="auto">
          <a:xfrm>
            <a:off x="7083425" y="3714750"/>
            <a:ext cx="9715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900">
                <a:latin typeface="宋体" panose="02010600030101010101" pitchFamily="2" charset="-122"/>
                <a:ea typeface="宋体" panose="02010600030101010101" pitchFamily="2" charset="-122"/>
              </a:rPr>
              <a:t>传送数据</a:t>
            </a:r>
            <a:endParaRPr kumimoji="0" lang="zh-CN" altLang="en-US" sz="2400">
              <a:ea typeface="宋体" panose="02010600030101010101" pitchFamily="2" charset="-122"/>
            </a:endParaRPr>
          </a:p>
        </p:txBody>
      </p:sp>
      <p:sp>
        <p:nvSpPr>
          <p:cNvPr id="27663" name="Rectangle 14"/>
          <p:cNvSpPr>
            <a:spLocks noChangeArrowheads="1"/>
          </p:cNvSpPr>
          <p:nvPr/>
        </p:nvSpPr>
        <p:spPr bwMode="auto">
          <a:xfrm>
            <a:off x="6408738" y="1190625"/>
            <a:ext cx="2319337" cy="492125"/>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664" name="Rectangle 15"/>
          <p:cNvSpPr>
            <a:spLocks noChangeArrowheads="1"/>
          </p:cNvSpPr>
          <p:nvPr/>
        </p:nvSpPr>
        <p:spPr bwMode="auto">
          <a:xfrm>
            <a:off x="7083425" y="1258888"/>
            <a:ext cx="9715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900">
                <a:latin typeface="宋体" panose="02010600030101010101" pitchFamily="2" charset="-122"/>
                <a:ea typeface="宋体" panose="02010600030101010101" pitchFamily="2" charset="-122"/>
              </a:rPr>
              <a:t>启动外设</a:t>
            </a:r>
            <a:endParaRPr kumimoji="0" lang="zh-CN" altLang="en-US" sz="2400">
              <a:ea typeface="宋体" panose="02010600030101010101" pitchFamily="2" charset="-122"/>
            </a:endParaRPr>
          </a:p>
        </p:txBody>
      </p:sp>
      <p:sp>
        <p:nvSpPr>
          <p:cNvPr id="27665" name="Line 16"/>
          <p:cNvSpPr>
            <a:spLocks noChangeShapeType="1"/>
          </p:cNvSpPr>
          <p:nvPr/>
        </p:nvSpPr>
        <p:spPr bwMode="auto">
          <a:xfrm flipH="1">
            <a:off x="6543675" y="2833688"/>
            <a:ext cx="949325" cy="2365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6" name="Line 17"/>
          <p:cNvSpPr>
            <a:spLocks noChangeShapeType="1"/>
          </p:cNvSpPr>
          <p:nvPr/>
        </p:nvSpPr>
        <p:spPr bwMode="auto">
          <a:xfrm flipH="1">
            <a:off x="7493000" y="3070225"/>
            <a:ext cx="947738" cy="23812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7" name="Line 18"/>
          <p:cNvSpPr>
            <a:spLocks noChangeShapeType="1"/>
          </p:cNvSpPr>
          <p:nvPr/>
        </p:nvSpPr>
        <p:spPr bwMode="auto">
          <a:xfrm>
            <a:off x="7493000" y="2833688"/>
            <a:ext cx="947738" cy="2365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8" name="Line 19"/>
          <p:cNvSpPr>
            <a:spLocks noChangeShapeType="1"/>
          </p:cNvSpPr>
          <p:nvPr/>
        </p:nvSpPr>
        <p:spPr bwMode="auto">
          <a:xfrm>
            <a:off x="6543675" y="3070225"/>
            <a:ext cx="949325" cy="23812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9" name="Line 20"/>
          <p:cNvSpPr>
            <a:spLocks noChangeShapeType="1"/>
          </p:cNvSpPr>
          <p:nvPr/>
        </p:nvSpPr>
        <p:spPr bwMode="auto">
          <a:xfrm flipH="1">
            <a:off x="6543675" y="4476750"/>
            <a:ext cx="949325" cy="23653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0" name="Line 21"/>
          <p:cNvSpPr>
            <a:spLocks noChangeShapeType="1"/>
          </p:cNvSpPr>
          <p:nvPr/>
        </p:nvSpPr>
        <p:spPr bwMode="auto">
          <a:xfrm>
            <a:off x="7493000" y="4476750"/>
            <a:ext cx="947738" cy="23653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1" name="Line 22"/>
          <p:cNvSpPr>
            <a:spLocks noChangeShapeType="1"/>
          </p:cNvSpPr>
          <p:nvPr/>
        </p:nvSpPr>
        <p:spPr bwMode="auto">
          <a:xfrm>
            <a:off x="6543675" y="4713288"/>
            <a:ext cx="949325" cy="23812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2" name="Line 23"/>
          <p:cNvSpPr>
            <a:spLocks noChangeShapeType="1"/>
          </p:cNvSpPr>
          <p:nvPr/>
        </p:nvSpPr>
        <p:spPr bwMode="auto">
          <a:xfrm flipH="1">
            <a:off x="7493000" y="4713288"/>
            <a:ext cx="947738" cy="23812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7673" name="Group 24"/>
          <p:cNvGrpSpPr/>
          <p:nvPr/>
        </p:nvGrpSpPr>
        <p:grpSpPr bwMode="auto">
          <a:xfrm>
            <a:off x="7424738" y="1665288"/>
            <a:ext cx="119062" cy="338137"/>
            <a:chOff x="2752" y="1636"/>
            <a:chExt cx="75" cy="213"/>
          </a:xfrm>
        </p:grpSpPr>
        <p:sp>
          <p:nvSpPr>
            <p:cNvPr id="27801" name="Line 25"/>
            <p:cNvSpPr>
              <a:spLocks noChangeShapeType="1"/>
            </p:cNvSpPr>
            <p:nvPr/>
          </p:nvSpPr>
          <p:spPr bwMode="auto">
            <a:xfrm>
              <a:off x="2795" y="1636"/>
              <a:ext cx="1" cy="17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802" name="Freeform 26"/>
            <p:cNvSpPr/>
            <p:nvPr/>
          </p:nvSpPr>
          <p:spPr bwMode="auto">
            <a:xfrm>
              <a:off x="2752" y="1785"/>
              <a:ext cx="75" cy="64"/>
            </a:xfrm>
            <a:custGeom>
              <a:avLst/>
              <a:gdLst>
                <a:gd name="T0" fmla="*/ 0 w 75"/>
                <a:gd name="T1" fmla="*/ 0 h 64"/>
                <a:gd name="T2" fmla="*/ 43 w 75"/>
                <a:gd name="T3" fmla="*/ 64 h 64"/>
                <a:gd name="T4" fmla="*/ 75 w 75"/>
                <a:gd name="T5" fmla="*/ 0 h 64"/>
                <a:gd name="T6" fmla="*/ 0 w 75"/>
                <a:gd name="T7" fmla="*/ 0 h 64"/>
                <a:gd name="T8" fmla="*/ 0 60000 65536"/>
                <a:gd name="T9" fmla="*/ 0 60000 65536"/>
                <a:gd name="T10" fmla="*/ 0 60000 65536"/>
                <a:gd name="T11" fmla="*/ 0 60000 65536"/>
                <a:gd name="T12" fmla="*/ 0 w 75"/>
                <a:gd name="T13" fmla="*/ 0 h 64"/>
                <a:gd name="T14" fmla="*/ 75 w 75"/>
                <a:gd name="T15" fmla="*/ 64 h 64"/>
              </a:gdLst>
              <a:ahLst/>
              <a:cxnLst>
                <a:cxn ang="T8">
                  <a:pos x="T0" y="T1"/>
                </a:cxn>
                <a:cxn ang="T9">
                  <a:pos x="T2" y="T3"/>
                </a:cxn>
                <a:cxn ang="T10">
                  <a:pos x="T4" y="T5"/>
                </a:cxn>
                <a:cxn ang="T11">
                  <a:pos x="T6" y="T7"/>
                </a:cxn>
              </a:cxnLst>
              <a:rect l="T12" t="T13" r="T14" b="T15"/>
              <a:pathLst>
                <a:path w="75" h="64">
                  <a:moveTo>
                    <a:pt x="0" y="0"/>
                  </a:moveTo>
                  <a:lnTo>
                    <a:pt x="43" y="64"/>
                  </a:lnTo>
                  <a:lnTo>
                    <a:pt x="75" y="0"/>
                  </a:lnTo>
                  <a:lnTo>
                    <a:pt x="0" y="0"/>
                  </a:lnTo>
                  <a:close/>
                </a:path>
              </a:pathLst>
            </a:custGeom>
            <a:solidFill>
              <a:schemeClr val="tx2"/>
            </a:solidFill>
            <a:ln w="19050">
              <a:solidFill>
                <a:schemeClr val="tx1"/>
              </a:solidFill>
              <a:round/>
            </a:ln>
          </p:spPr>
          <p:txBody>
            <a:bodyPr/>
            <a:lstStyle/>
            <a:p>
              <a:endParaRPr lang="zh-CN" altLang="en-US"/>
            </a:p>
          </p:txBody>
        </p:sp>
      </p:grpSp>
      <p:grpSp>
        <p:nvGrpSpPr>
          <p:cNvPr id="27674" name="Group 27"/>
          <p:cNvGrpSpPr/>
          <p:nvPr/>
        </p:nvGrpSpPr>
        <p:grpSpPr bwMode="auto">
          <a:xfrm>
            <a:off x="7424738" y="2478088"/>
            <a:ext cx="119062" cy="355600"/>
            <a:chOff x="2752" y="2148"/>
            <a:chExt cx="75" cy="224"/>
          </a:xfrm>
        </p:grpSpPr>
        <p:sp>
          <p:nvSpPr>
            <p:cNvPr id="27799" name="Line 28"/>
            <p:cNvSpPr>
              <a:spLocks noChangeShapeType="1"/>
            </p:cNvSpPr>
            <p:nvPr/>
          </p:nvSpPr>
          <p:spPr bwMode="auto">
            <a:xfrm>
              <a:off x="2795" y="2148"/>
              <a:ext cx="1"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800" name="Freeform 29"/>
            <p:cNvSpPr/>
            <p:nvPr/>
          </p:nvSpPr>
          <p:spPr bwMode="auto">
            <a:xfrm>
              <a:off x="2752" y="2308"/>
              <a:ext cx="75" cy="64"/>
            </a:xfrm>
            <a:custGeom>
              <a:avLst/>
              <a:gdLst>
                <a:gd name="T0" fmla="*/ 0 w 75"/>
                <a:gd name="T1" fmla="*/ 0 h 64"/>
                <a:gd name="T2" fmla="*/ 43 w 75"/>
                <a:gd name="T3" fmla="*/ 64 h 64"/>
                <a:gd name="T4" fmla="*/ 75 w 75"/>
                <a:gd name="T5" fmla="*/ 0 h 64"/>
                <a:gd name="T6" fmla="*/ 0 w 75"/>
                <a:gd name="T7" fmla="*/ 0 h 64"/>
                <a:gd name="T8" fmla="*/ 0 60000 65536"/>
                <a:gd name="T9" fmla="*/ 0 60000 65536"/>
                <a:gd name="T10" fmla="*/ 0 60000 65536"/>
                <a:gd name="T11" fmla="*/ 0 60000 65536"/>
                <a:gd name="T12" fmla="*/ 0 w 75"/>
                <a:gd name="T13" fmla="*/ 0 h 64"/>
                <a:gd name="T14" fmla="*/ 75 w 75"/>
                <a:gd name="T15" fmla="*/ 64 h 64"/>
              </a:gdLst>
              <a:ahLst/>
              <a:cxnLst>
                <a:cxn ang="T8">
                  <a:pos x="T0" y="T1"/>
                </a:cxn>
                <a:cxn ang="T9">
                  <a:pos x="T2" y="T3"/>
                </a:cxn>
                <a:cxn ang="T10">
                  <a:pos x="T4" y="T5"/>
                </a:cxn>
                <a:cxn ang="T11">
                  <a:pos x="T6" y="T7"/>
                </a:cxn>
              </a:cxnLst>
              <a:rect l="T12" t="T13" r="T14" b="T15"/>
              <a:pathLst>
                <a:path w="75" h="64">
                  <a:moveTo>
                    <a:pt x="0" y="0"/>
                  </a:moveTo>
                  <a:lnTo>
                    <a:pt x="43" y="64"/>
                  </a:lnTo>
                  <a:lnTo>
                    <a:pt x="75" y="0"/>
                  </a:lnTo>
                  <a:lnTo>
                    <a:pt x="0" y="0"/>
                  </a:lnTo>
                  <a:close/>
                </a:path>
              </a:pathLst>
            </a:custGeom>
            <a:solidFill>
              <a:schemeClr val="tx2"/>
            </a:solidFill>
            <a:ln w="19050">
              <a:solidFill>
                <a:schemeClr val="tx1"/>
              </a:solidFill>
              <a:round/>
            </a:ln>
          </p:spPr>
          <p:txBody>
            <a:bodyPr/>
            <a:lstStyle/>
            <a:p>
              <a:endParaRPr lang="zh-CN" altLang="en-US"/>
            </a:p>
          </p:txBody>
        </p:sp>
      </p:grpSp>
      <p:grpSp>
        <p:nvGrpSpPr>
          <p:cNvPr id="27675" name="Group 30"/>
          <p:cNvGrpSpPr/>
          <p:nvPr/>
        </p:nvGrpSpPr>
        <p:grpSpPr bwMode="auto">
          <a:xfrm>
            <a:off x="7424738" y="3308350"/>
            <a:ext cx="119062" cy="355600"/>
            <a:chOff x="2752" y="2671"/>
            <a:chExt cx="75" cy="224"/>
          </a:xfrm>
        </p:grpSpPr>
        <p:sp>
          <p:nvSpPr>
            <p:cNvPr id="27797" name="Line 31"/>
            <p:cNvSpPr>
              <a:spLocks noChangeShapeType="1"/>
            </p:cNvSpPr>
            <p:nvPr/>
          </p:nvSpPr>
          <p:spPr bwMode="auto">
            <a:xfrm>
              <a:off x="2795" y="2671"/>
              <a:ext cx="1"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98" name="Freeform 32"/>
            <p:cNvSpPr/>
            <p:nvPr/>
          </p:nvSpPr>
          <p:spPr bwMode="auto">
            <a:xfrm>
              <a:off x="2752" y="2831"/>
              <a:ext cx="75" cy="64"/>
            </a:xfrm>
            <a:custGeom>
              <a:avLst/>
              <a:gdLst>
                <a:gd name="T0" fmla="*/ 0 w 75"/>
                <a:gd name="T1" fmla="*/ 0 h 64"/>
                <a:gd name="T2" fmla="*/ 43 w 75"/>
                <a:gd name="T3" fmla="*/ 64 h 64"/>
                <a:gd name="T4" fmla="*/ 75 w 75"/>
                <a:gd name="T5" fmla="*/ 0 h 64"/>
                <a:gd name="T6" fmla="*/ 0 w 75"/>
                <a:gd name="T7" fmla="*/ 0 h 64"/>
                <a:gd name="T8" fmla="*/ 0 60000 65536"/>
                <a:gd name="T9" fmla="*/ 0 60000 65536"/>
                <a:gd name="T10" fmla="*/ 0 60000 65536"/>
                <a:gd name="T11" fmla="*/ 0 60000 65536"/>
                <a:gd name="T12" fmla="*/ 0 w 75"/>
                <a:gd name="T13" fmla="*/ 0 h 64"/>
                <a:gd name="T14" fmla="*/ 75 w 75"/>
                <a:gd name="T15" fmla="*/ 64 h 64"/>
              </a:gdLst>
              <a:ahLst/>
              <a:cxnLst>
                <a:cxn ang="T8">
                  <a:pos x="T0" y="T1"/>
                </a:cxn>
                <a:cxn ang="T9">
                  <a:pos x="T2" y="T3"/>
                </a:cxn>
                <a:cxn ang="T10">
                  <a:pos x="T4" y="T5"/>
                </a:cxn>
                <a:cxn ang="T11">
                  <a:pos x="T6" y="T7"/>
                </a:cxn>
              </a:cxnLst>
              <a:rect l="T12" t="T13" r="T14" b="T15"/>
              <a:pathLst>
                <a:path w="75" h="64">
                  <a:moveTo>
                    <a:pt x="0" y="0"/>
                  </a:moveTo>
                  <a:lnTo>
                    <a:pt x="43" y="64"/>
                  </a:lnTo>
                  <a:lnTo>
                    <a:pt x="75" y="0"/>
                  </a:lnTo>
                  <a:lnTo>
                    <a:pt x="0" y="0"/>
                  </a:lnTo>
                  <a:close/>
                </a:path>
              </a:pathLst>
            </a:custGeom>
            <a:solidFill>
              <a:schemeClr val="tx2"/>
            </a:solidFill>
            <a:ln w="19050">
              <a:solidFill>
                <a:schemeClr val="tx1"/>
              </a:solidFill>
              <a:round/>
            </a:ln>
          </p:spPr>
          <p:txBody>
            <a:bodyPr/>
            <a:lstStyle/>
            <a:p>
              <a:endParaRPr lang="zh-CN" altLang="en-US"/>
            </a:p>
          </p:txBody>
        </p:sp>
      </p:grpSp>
      <p:grpSp>
        <p:nvGrpSpPr>
          <p:cNvPr id="27676" name="Group 33"/>
          <p:cNvGrpSpPr/>
          <p:nvPr/>
        </p:nvGrpSpPr>
        <p:grpSpPr bwMode="auto">
          <a:xfrm>
            <a:off x="5867400" y="1733550"/>
            <a:ext cx="1625600" cy="117475"/>
            <a:chOff x="1771" y="1679"/>
            <a:chExt cx="1024" cy="74"/>
          </a:xfrm>
        </p:grpSpPr>
        <p:sp>
          <p:nvSpPr>
            <p:cNvPr id="27795" name="Line 34"/>
            <p:cNvSpPr>
              <a:spLocks noChangeShapeType="1"/>
            </p:cNvSpPr>
            <p:nvPr/>
          </p:nvSpPr>
          <p:spPr bwMode="auto">
            <a:xfrm>
              <a:off x="1771" y="1711"/>
              <a:ext cx="981"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96" name="Freeform 35"/>
            <p:cNvSpPr/>
            <p:nvPr/>
          </p:nvSpPr>
          <p:spPr bwMode="auto">
            <a:xfrm>
              <a:off x="2731" y="1679"/>
              <a:ext cx="64" cy="74"/>
            </a:xfrm>
            <a:custGeom>
              <a:avLst/>
              <a:gdLst>
                <a:gd name="T0" fmla="*/ 0 w 64"/>
                <a:gd name="T1" fmla="*/ 74 h 74"/>
                <a:gd name="T2" fmla="*/ 64 w 64"/>
                <a:gd name="T3" fmla="*/ 32 h 74"/>
                <a:gd name="T4" fmla="*/ 0 w 64"/>
                <a:gd name="T5" fmla="*/ 0 h 74"/>
                <a:gd name="T6" fmla="*/ 0 w 64"/>
                <a:gd name="T7" fmla="*/ 74 h 74"/>
                <a:gd name="T8" fmla="*/ 0 60000 65536"/>
                <a:gd name="T9" fmla="*/ 0 60000 65536"/>
                <a:gd name="T10" fmla="*/ 0 60000 65536"/>
                <a:gd name="T11" fmla="*/ 0 60000 65536"/>
                <a:gd name="T12" fmla="*/ 0 w 64"/>
                <a:gd name="T13" fmla="*/ 0 h 74"/>
                <a:gd name="T14" fmla="*/ 64 w 64"/>
                <a:gd name="T15" fmla="*/ 74 h 74"/>
              </a:gdLst>
              <a:ahLst/>
              <a:cxnLst>
                <a:cxn ang="T8">
                  <a:pos x="T0" y="T1"/>
                </a:cxn>
                <a:cxn ang="T9">
                  <a:pos x="T2" y="T3"/>
                </a:cxn>
                <a:cxn ang="T10">
                  <a:pos x="T4" y="T5"/>
                </a:cxn>
                <a:cxn ang="T11">
                  <a:pos x="T6" y="T7"/>
                </a:cxn>
              </a:cxnLst>
              <a:rect l="T12" t="T13" r="T14" b="T15"/>
              <a:pathLst>
                <a:path w="64" h="74">
                  <a:moveTo>
                    <a:pt x="0" y="74"/>
                  </a:moveTo>
                  <a:lnTo>
                    <a:pt x="64" y="32"/>
                  </a:lnTo>
                  <a:lnTo>
                    <a:pt x="0" y="0"/>
                  </a:lnTo>
                  <a:lnTo>
                    <a:pt x="0" y="74"/>
                  </a:lnTo>
                  <a:close/>
                </a:path>
              </a:pathLst>
            </a:custGeom>
            <a:solidFill>
              <a:schemeClr val="tx2"/>
            </a:solidFill>
            <a:ln w="19050">
              <a:solidFill>
                <a:schemeClr val="tx1"/>
              </a:solidFill>
              <a:round/>
            </a:ln>
          </p:spPr>
          <p:txBody>
            <a:bodyPr/>
            <a:lstStyle/>
            <a:p>
              <a:endParaRPr lang="zh-CN" altLang="en-US"/>
            </a:p>
          </p:txBody>
        </p:sp>
      </p:grpSp>
      <p:grpSp>
        <p:nvGrpSpPr>
          <p:cNvPr id="27677" name="Group 36"/>
          <p:cNvGrpSpPr/>
          <p:nvPr/>
        </p:nvGrpSpPr>
        <p:grpSpPr bwMode="auto">
          <a:xfrm>
            <a:off x="7424738" y="4121150"/>
            <a:ext cx="119062" cy="355600"/>
            <a:chOff x="2752" y="3183"/>
            <a:chExt cx="75" cy="224"/>
          </a:xfrm>
        </p:grpSpPr>
        <p:sp>
          <p:nvSpPr>
            <p:cNvPr id="27793" name="Line 37"/>
            <p:cNvSpPr>
              <a:spLocks noChangeShapeType="1"/>
            </p:cNvSpPr>
            <p:nvPr/>
          </p:nvSpPr>
          <p:spPr bwMode="auto">
            <a:xfrm>
              <a:off x="2795" y="3183"/>
              <a:ext cx="1"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94" name="Freeform 38"/>
            <p:cNvSpPr/>
            <p:nvPr/>
          </p:nvSpPr>
          <p:spPr bwMode="auto">
            <a:xfrm>
              <a:off x="2752" y="3343"/>
              <a:ext cx="75" cy="64"/>
            </a:xfrm>
            <a:custGeom>
              <a:avLst/>
              <a:gdLst>
                <a:gd name="T0" fmla="*/ 0 w 75"/>
                <a:gd name="T1" fmla="*/ 0 h 64"/>
                <a:gd name="T2" fmla="*/ 43 w 75"/>
                <a:gd name="T3" fmla="*/ 64 h 64"/>
                <a:gd name="T4" fmla="*/ 75 w 75"/>
                <a:gd name="T5" fmla="*/ 0 h 64"/>
                <a:gd name="T6" fmla="*/ 0 w 75"/>
                <a:gd name="T7" fmla="*/ 0 h 64"/>
                <a:gd name="T8" fmla="*/ 0 60000 65536"/>
                <a:gd name="T9" fmla="*/ 0 60000 65536"/>
                <a:gd name="T10" fmla="*/ 0 60000 65536"/>
                <a:gd name="T11" fmla="*/ 0 60000 65536"/>
                <a:gd name="T12" fmla="*/ 0 w 75"/>
                <a:gd name="T13" fmla="*/ 0 h 64"/>
                <a:gd name="T14" fmla="*/ 75 w 75"/>
                <a:gd name="T15" fmla="*/ 64 h 64"/>
              </a:gdLst>
              <a:ahLst/>
              <a:cxnLst>
                <a:cxn ang="T8">
                  <a:pos x="T0" y="T1"/>
                </a:cxn>
                <a:cxn ang="T9">
                  <a:pos x="T2" y="T3"/>
                </a:cxn>
                <a:cxn ang="T10">
                  <a:pos x="T4" y="T5"/>
                </a:cxn>
                <a:cxn ang="T11">
                  <a:pos x="T6" y="T7"/>
                </a:cxn>
              </a:cxnLst>
              <a:rect l="T12" t="T13" r="T14" b="T15"/>
              <a:pathLst>
                <a:path w="75" h="64">
                  <a:moveTo>
                    <a:pt x="0" y="0"/>
                  </a:moveTo>
                  <a:lnTo>
                    <a:pt x="43" y="64"/>
                  </a:lnTo>
                  <a:lnTo>
                    <a:pt x="75" y="0"/>
                  </a:lnTo>
                  <a:lnTo>
                    <a:pt x="0" y="0"/>
                  </a:lnTo>
                  <a:close/>
                </a:path>
              </a:pathLst>
            </a:custGeom>
            <a:solidFill>
              <a:schemeClr val="tx2"/>
            </a:solidFill>
            <a:ln w="19050">
              <a:solidFill>
                <a:schemeClr val="tx1"/>
              </a:solidFill>
              <a:round/>
            </a:ln>
          </p:spPr>
          <p:txBody>
            <a:bodyPr/>
            <a:lstStyle/>
            <a:p>
              <a:endParaRPr lang="zh-CN" altLang="en-US"/>
            </a:p>
          </p:txBody>
        </p:sp>
      </p:grpSp>
      <p:grpSp>
        <p:nvGrpSpPr>
          <p:cNvPr id="27678" name="Group 39"/>
          <p:cNvGrpSpPr/>
          <p:nvPr/>
        </p:nvGrpSpPr>
        <p:grpSpPr bwMode="auto">
          <a:xfrm>
            <a:off x="7424738" y="4951413"/>
            <a:ext cx="119062" cy="355600"/>
            <a:chOff x="2752" y="3706"/>
            <a:chExt cx="75" cy="224"/>
          </a:xfrm>
        </p:grpSpPr>
        <p:sp>
          <p:nvSpPr>
            <p:cNvPr id="27791" name="Line 40"/>
            <p:cNvSpPr>
              <a:spLocks noChangeShapeType="1"/>
            </p:cNvSpPr>
            <p:nvPr/>
          </p:nvSpPr>
          <p:spPr bwMode="auto">
            <a:xfrm>
              <a:off x="2795" y="3706"/>
              <a:ext cx="1"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92" name="Freeform 41"/>
            <p:cNvSpPr/>
            <p:nvPr/>
          </p:nvSpPr>
          <p:spPr bwMode="auto">
            <a:xfrm>
              <a:off x="2752" y="3866"/>
              <a:ext cx="75" cy="64"/>
            </a:xfrm>
            <a:custGeom>
              <a:avLst/>
              <a:gdLst>
                <a:gd name="T0" fmla="*/ 0 w 75"/>
                <a:gd name="T1" fmla="*/ 0 h 64"/>
                <a:gd name="T2" fmla="*/ 43 w 75"/>
                <a:gd name="T3" fmla="*/ 64 h 64"/>
                <a:gd name="T4" fmla="*/ 75 w 75"/>
                <a:gd name="T5" fmla="*/ 0 h 64"/>
                <a:gd name="T6" fmla="*/ 0 w 75"/>
                <a:gd name="T7" fmla="*/ 0 h 64"/>
                <a:gd name="T8" fmla="*/ 0 60000 65536"/>
                <a:gd name="T9" fmla="*/ 0 60000 65536"/>
                <a:gd name="T10" fmla="*/ 0 60000 65536"/>
                <a:gd name="T11" fmla="*/ 0 60000 65536"/>
                <a:gd name="T12" fmla="*/ 0 w 75"/>
                <a:gd name="T13" fmla="*/ 0 h 64"/>
                <a:gd name="T14" fmla="*/ 75 w 75"/>
                <a:gd name="T15" fmla="*/ 64 h 64"/>
              </a:gdLst>
              <a:ahLst/>
              <a:cxnLst>
                <a:cxn ang="T8">
                  <a:pos x="T0" y="T1"/>
                </a:cxn>
                <a:cxn ang="T9">
                  <a:pos x="T2" y="T3"/>
                </a:cxn>
                <a:cxn ang="T10">
                  <a:pos x="T4" y="T5"/>
                </a:cxn>
                <a:cxn ang="T11">
                  <a:pos x="T6" y="T7"/>
                </a:cxn>
              </a:cxnLst>
              <a:rect l="T12" t="T13" r="T14" b="T15"/>
              <a:pathLst>
                <a:path w="75" h="64">
                  <a:moveTo>
                    <a:pt x="0" y="0"/>
                  </a:moveTo>
                  <a:lnTo>
                    <a:pt x="43" y="64"/>
                  </a:lnTo>
                  <a:lnTo>
                    <a:pt x="75" y="0"/>
                  </a:lnTo>
                  <a:lnTo>
                    <a:pt x="0" y="0"/>
                  </a:lnTo>
                  <a:close/>
                </a:path>
              </a:pathLst>
            </a:custGeom>
            <a:solidFill>
              <a:schemeClr val="tx2"/>
            </a:solidFill>
            <a:ln w="19050">
              <a:solidFill>
                <a:schemeClr val="tx1"/>
              </a:solidFill>
              <a:round/>
            </a:ln>
          </p:spPr>
          <p:txBody>
            <a:bodyPr/>
            <a:lstStyle/>
            <a:p>
              <a:endParaRPr lang="zh-CN" altLang="en-US"/>
            </a:p>
          </p:txBody>
        </p:sp>
      </p:grpSp>
      <p:sp>
        <p:nvSpPr>
          <p:cNvPr id="27679" name="Line 42"/>
          <p:cNvSpPr>
            <a:spLocks noChangeShapeType="1"/>
          </p:cNvSpPr>
          <p:nvPr/>
        </p:nvSpPr>
        <p:spPr bwMode="auto">
          <a:xfrm>
            <a:off x="5867400" y="1784350"/>
            <a:ext cx="1588" cy="292893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80" name="Line 43"/>
          <p:cNvSpPr>
            <a:spLocks noChangeShapeType="1"/>
          </p:cNvSpPr>
          <p:nvPr/>
        </p:nvSpPr>
        <p:spPr bwMode="auto">
          <a:xfrm>
            <a:off x="5867400" y="3070225"/>
            <a:ext cx="676275" cy="158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81" name="Line 44"/>
          <p:cNvSpPr>
            <a:spLocks noChangeShapeType="1"/>
          </p:cNvSpPr>
          <p:nvPr/>
        </p:nvSpPr>
        <p:spPr bwMode="auto">
          <a:xfrm>
            <a:off x="5867400" y="4713288"/>
            <a:ext cx="676275" cy="158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82" name="AutoShape 45"/>
          <p:cNvSpPr>
            <a:spLocks noChangeAspect="1" noChangeArrowheads="1" noTextEdit="1"/>
          </p:cNvSpPr>
          <p:nvPr/>
        </p:nvSpPr>
        <p:spPr bwMode="auto">
          <a:xfrm>
            <a:off x="303213" y="1125538"/>
            <a:ext cx="5316537"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27683" name="Group 46"/>
          <p:cNvGrpSpPr/>
          <p:nvPr/>
        </p:nvGrpSpPr>
        <p:grpSpPr bwMode="auto">
          <a:xfrm>
            <a:off x="712788" y="1428750"/>
            <a:ext cx="4714875" cy="192088"/>
            <a:chOff x="449" y="926"/>
            <a:chExt cx="2189" cy="95"/>
          </a:xfrm>
        </p:grpSpPr>
        <p:sp>
          <p:nvSpPr>
            <p:cNvPr id="27788" name="Rectangle 47"/>
            <p:cNvSpPr>
              <a:spLocks noChangeArrowheads="1"/>
            </p:cNvSpPr>
            <p:nvPr/>
          </p:nvSpPr>
          <p:spPr bwMode="auto">
            <a:xfrm>
              <a:off x="505" y="964"/>
              <a:ext cx="2077" cy="29"/>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89" name="Freeform 48"/>
            <p:cNvSpPr/>
            <p:nvPr/>
          </p:nvSpPr>
          <p:spPr bwMode="auto">
            <a:xfrm>
              <a:off x="449" y="926"/>
              <a:ext cx="72" cy="86"/>
            </a:xfrm>
            <a:custGeom>
              <a:avLst/>
              <a:gdLst>
                <a:gd name="T0" fmla="*/ 72 w 72"/>
                <a:gd name="T1" fmla="*/ 0 h 86"/>
                <a:gd name="T2" fmla="*/ 0 w 72"/>
                <a:gd name="T3" fmla="*/ 48 h 86"/>
                <a:gd name="T4" fmla="*/ 72 w 72"/>
                <a:gd name="T5" fmla="*/ 86 h 86"/>
                <a:gd name="T6" fmla="*/ 72 w 72"/>
                <a:gd name="T7" fmla="*/ 0 h 86"/>
                <a:gd name="T8" fmla="*/ 0 60000 65536"/>
                <a:gd name="T9" fmla="*/ 0 60000 65536"/>
                <a:gd name="T10" fmla="*/ 0 60000 65536"/>
                <a:gd name="T11" fmla="*/ 0 60000 65536"/>
                <a:gd name="T12" fmla="*/ 0 w 72"/>
                <a:gd name="T13" fmla="*/ 0 h 86"/>
                <a:gd name="T14" fmla="*/ 72 w 72"/>
                <a:gd name="T15" fmla="*/ 86 h 86"/>
              </a:gdLst>
              <a:ahLst/>
              <a:cxnLst>
                <a:cxn ang="T8">
                  <a:pos x="T0" y="T1"/>
                </a:cxn>
                <a:cxn ang="T9">
                  <a:pos x="T2" y="T3"/>
                </a:cxn>
                <a:cxn ang="T10">
                  <a:pos x="T4" y="T5"/>
                </a:cxn>
                <a:cxn ang="T11">
                  <a:pos x="T6" y="T7"/>
                </a:cxn>
              </a:cxnLst>
              <a:rect l="T12" t="T13" r="T14" b="T15"/>
              <a:pathLst>
                <a:path w="72" h="86">
                  <a:moveTo>
                    <a:pt x="72" y="0"/>
                  </a:moveTo>
                  <a:lnTo>
                    <a:pt x="0" y="48"/>
                  </a:lnTo>
                  <a:lnTo>
                    <a:pt x="72" y="86"/>
                  </a:lnTo>
                  <a:lnTo>
                    <a:pt x="72"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790" name="Freeform 49"/>
            <p:cNvSpPr/>
            <p:nvPr/>
          </p:nvSpPr>
          <p:spPr bwMode="auto">
            <a:xfrm>
              <a:off x="2566" y="936"/>
              <a:ext cx="72" cy="85"/>
            </a:xfrm>
            <a:custGeom>
              <a:avLst/>
              <a:gdLst>
                <a:gd name="T0" fmla="*/ 0 w 72"/>
                <a:gd name="T1" fmla="*/ 85 h 85"/>
                <a:gd name="T2" fmla="*/ 72 w 72"/>
                <a:gd name="T3" fmla="*/ 38 h 85"/>
                <a:gd name="T4" fmla="*/ 0 w 72"/>
                <a:gd name="T5" fmla="*/ 0 h 85"/>
                <a:gd name="T6" fmla="*/ 0 w 72"/>
                <a:gd name="T7" fmla="*/ 85 h 85"/>
                <a:gd name="T8" fmla="*/ 0 60000 65536"/>
                <a:gd name="T9" fmla="*/ 0 60000 65536"/>
                <a:gd name="T10" fmla="*/ 0 60000 65536"/>
                <a:gd name="T11" fmla="*/ 0 60000 65536"/>
                <a:gd name="T12" fmla="*/ 0 w 72"/>
                <a:gd name="T13" fmla="*/ 0 h 85"/>
                <a:gd name="T14" fmla="*/ 72 w 72"/>
                <a:gd name="T15" fmla="*/ 85 h 85"/>
              </a:gdLst>
              <a:ahLst/>
              <a:cxnLst>
                <a:cxn ang="T8">
                  <a:pos x="T0" y="T1"/>
                </a:cxn>
                <a:cxn ang="T9">
                  <a:pos x="T2" y="T3"/>
                </a:cxn>
                <a:cxn ang="T10">
                  <a:pos x="T4" y="T5"/>
                </a:cxn>
                <a:cxn ang="T11">
                  <a:pos x="T6" y="T7"/>
                </a:cxn>
              </a:cxnLst>
              <a:rect l="T12" t="T13" r="T14" b="T15"/>
              <a:pathLst>
                <a:path w="72" h="85">
                  <a:moveTo>
                    <a:pt x="0" y="85"/>
                  </a:moveTo>
                  <a:lnTo>
                    <a:pt x="72" y="38"/>
                  </a:lnTo>
                  <a:lnTo>
                    <a:pt x="0" y="0"/>
                  </a:lnTo>
                  <a:lnTo>
                    <a:pt x="0" y="85"/>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27684" name="Rectangle 50"/>
          <p:cNvSpPr>
            <a:spLocks noChangeArrowheads="1"/>
          </p:cNvSpPr>
          <p:nvPr/>
        </p:nvSpPr>
        <p:spPr bwMode="auto">
          <a:xfrm>
            <a:off x="712788" y="1951038"/>
            <a:ext cx="4714875" cy="1890712"/>
          </a:xfrm>
          <a:prstGeom prst="rect">
            <a:avLst/>
          </a:prstGeom>
          <a:solidFill>
            <a:srgbClr val="FFCC66"/>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7685" name="Group 51"/>
          <p:cNvGrpSpPr/>
          <p:nvPr/>
        </p:nvGrpSpPr>
        <p:grpSpPr bwMode="auto">
          <a:xfrm>
            <a:off x="915988" y="2220913"/>
            <a:ext cx="550862" cy="1397000"/>
            <a:chOff x="577" y="1399"/>
            <a:chExt cx="347" cy="880"/>
          </a:xfrm>
        </p:grpSpPr>
        <p:sp>
          <p:nvSpPr>
            <p:cNvPr id="27785" name="Freeform 52"/>
            <p:cNvSpPr/>
            <p:nvPr/>
          </p:nvSpPr>
          <p:spPr bwMode="auto">
            <a:xfrm>
              <a:off x="899" y="1399"/>
              <a:ext cx="25" cy="880"/>
            </a:xfrm>
            <a:custGeom>
              <a:avLst/>
              <a:gdLst>
                <a:gd name="T0" fmla="*/ 0 w 25"/>
                <a:gd name="T1" fmla="*/ 880 h 880"/>
                <a:gd name="T2" fmla="*/ 0 w 25"/>
                <a:gd name="T3" fmla="*/ 29 h 880"/>
                <a:gd name="T4" fmla="*/ 25 w 25"/>
                <a:gd name="T5" fmla="*/ 0 h 880"/>
                <a:gd name="T6" fmla="*/ 25 w 25"/>
                <a:gd name="T7" fmla="*/ 861 h 880"/>
                <a:gd name="T8" fmla="*/ 0 w 25"/>
                <a:gd name="T9" fmla="*/ 880 h 880"/>
                <a:gd name="T10" fmla="*/ 0 60000 65536"/>
                <a:gd name="T11" fmla="*/ 0 60000 65536"/>
                <a:gd name="T12" fmla="*/ 0 60000 65536"/>
                <a:gd name="T13" fmla="*/ 0 60000 65536"/>
                <a:gd name="T14" fmla="*/ 0 60000 65536"/>
                <a:gd name="T15" fmla="*/ 0 w 25"/>
                <a:gd name="T16" fmla="*/ 0 h 880"/>
                <a:gd name="T17" fmla="*/ 25 w 25"/>
                <a:gd name="T18" fmla="*/ 880 h 880"/>
              </a:gdLst>
              <a:ahLst/>
              <a:cxnLst>
                <a:cxn ang="T10">
                  <a:pos x="T0" y="T1"/>
                </a:cxn>
                <a:cxn ang="T11">
                  <a:pos x="T2" y="T3"/>
                </a:cxn>
                <a:cxn ang="T12">
                  <a:pos x="T4" y="T5"/>
                </a:cxn>
                <a:cxn ang="T13">
                  <a:pos x="T6" y="T7"/>
                </a:cxn>
                <a:cxn ang="T14">
                  <a:pos x="T8" y="T9"/>
                </a:cxn>
              </a:cxnLst>
              <a:rect l="T15" t="T16" r="T17" b="T18"/>
              <a:pathLst>
                <a:path w="25" h="880">
                  <a:moveTo>
                    <a:pt x="0" y="880"/>
                  </a:moveTo>
                  <a:lnTo>
                    <a:pt x="0" y="29"/>
                  </a:lnTo>
                  <a:lnTo>
                    <a:pt x="25" y="0"/>
                  </a:lnTo>
                  <a:lnTo>
                    <a:pt x="25" y="861"/>
                  </a:lnTo>
                  <a:lnTo>
                    <a:pt x="0" y="88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786" name="Freeform 53"/>
            <p:cNvSpPr/>
            <p:nvPr/>
          </p:nvSpPr>
          <p:spPr bwMode="auto">
            <a:xfrm>
              <a:off x="577" y="1399"/>
              <a:ext cx="347" cy="29"/>
            </a:xfrm>
            <a:custGeom>
              <a:avLst/>
              <a:gdLst>
                <a:gd name="T0" fmla="*/ 322 w 347"/>
                <a:gd name="T1" fmla="*/ 29 h 29"/>
                <a:gd name="T2" fmla="*/ 0 w 347"/>
                <a:gd name="T3" fmla="*/ 29 h 29"/>
                <a:gd name="T4" fmla="*/ 25 w 347"/>
                <a:gd name="T5" fmla="*/ 0 h 29"/>
                <a:gd name="T6" fmla="*/ 347 w 347"/>
                <a:gd name="T7" fmla="*/ 0 h 29"/>
                <a:gd name="T8" fmla="*/ 322 w 347"/>
                <a:gd name="T9" fmla="*/ 29 h 29"/>
                <a:gd name="T10" fmla="*/ 0 60000 65536"/>
                <a:gd name="T11" fmla="*/ 0 60000 65536"/>
                <a:gd name="T12" fmla="*/ 0 60000 65536"/>
                <a:gd name="T13" fmla="*/ 0 60000 65536"/>
                <a:gd name="T14" fmla="*/ 0 60000 65536"/>
                <a:gd name="T15" fmla="*/ 0 w 347"/>
                <a:gd name="T16" fmla="*/ 0 h 29"/>
                <a:gd name="T17" fmla="*/ 347 w 347"/>
                <a:gd name="T18" fmla="*/ 29 h 29"/>
              </a:gdLst>
              <a:ahLst/>
              <a:cxnLst>
                <a:cxn ang="T10">
                  <a:pos x="T0" y="T1"/>
                </a:cxn>
                <a:cxn ang="T11">
                  <a:pos x="T2" y="T3"/>
                </a:cxn>
                <a:cxn ang="T12">
                  <a:pos x="T4" y="T5"/>
                </a:cxn>
                <a:cxn ang="T13">
                  <a:pos x="T6" y="T7"/>
                </a:cxn>
                <a:cxn ang="T14">
                  <a:pos x="T8" y="T9"/>
                </a:cxn>
              </a:cxnLst>
              <a:rect l="T15" t="T16" r="T17" b="T18"/>
              <a:pathLst>
                <a:path w="347" h="29">
                  <a:moveTo>
                    <a:pt x="322" y="29"/>
                  </a:moveTo>
                  <a:lnTo>
                    <a:pt x="0" y="29"/>
                  </a:lnTo>
                  <a:lnTo>
                    <a:pt x="25" y="0"/>
                  </a:lnTo>
                  <a:lnTo>
                    <a:pt x="347" y="0"/>
                  </a:lnTo>
                  <a:lnTo>
                    <a:pt x="322" y="29"/>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787" name="Rectangle 54"/>
            <p:cNvSpPr>
              <a:spLocks noChangeArrowheads="1"/>
            </p:cNvSpPr>
            <p:nvPr/>
          </p:nvSpPr>
          <p:spPr bwMode="auto">
            <a:xfrm>
              <a:off x="577" y="1428"/>
              <a:ext cx="322" cy="851"/>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27686" name="Rectangle 55"/>
          <p:cNvSpPr>
            <a:spLocks noChangeArrowheads="1"/>
          </p:cNvSpPr>
          <p:nvPr/>
        </p:nvSpPr>
        <p:spPr bwMode="auto">
          <a:xfrm>
            <a:off x="1001713" y="2325688"/>
            <a:ext cx="4318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dirty="0">
                <a:solidFill>
                  <a:schemeClr val="bg1"/>
                </a:solidFill>
                <a:latin typeface="宋体" panose="02010600030101010101" pitchFamily="2" charset="-122"/>
                <a:ea typeface="宋体" panose="02010600030101010101" pitchFamily="2" charset="-122"/>
              </a:rPr>
              <a:t>地址</a:t>
            </a:r>
            <a:endParaRPr lang="zh-CN" altLang="en-US" sz="3600" dirty="0">
              <a:solidFill>
                <a:schemeClr val="bg1"/>
              </a:solidFill>
              <a:ea typeface="宋体" panose="02010600030101010101" pitchFamily="2" charset="-122"/>
            </a:endParaRPr>
          </a:p>
        </p:txBody>
      </p:sp>
      <p:sp>
        <p:nvSpPr>
          <p:cNvPr id="27687" name="Rectangle 56"/>
          <p:cNvSpPr>
            <a:spLocks noChangeArrowheads="1"/>
          </p:cNvSpPr>
          <p:nvPr/>
        </p:nvSpPr>
        <p:spPr bwMode="auto">
          <a:xfrm>
            <a:off x="1001713" y="2597150"/>
            <a:ext cx="4318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dirty="0">
                <a:solidFill>
                  <a:schemeClr val="bg1"/>
                </a:solidFill>
                <a:latin typeface="宋体" panose="02010600030101010101" pitchFamily="2" charset="-122"/>
                <a:ea typeface="宋体" panose="02010600030101010101" pitchFamily="2" charset="-122"/>
              </a:rPr>
              <a:t>译码</a:t>
            </a:r>
            <a:endParaRPr lang="zh-CN" altLang="en-US" sz="3600" dirty="0">
              <a:solidFill>
                <a:schemeClr val="bg1"/>
              </a:solidFill>
              <a:ea typeface="宋体" panose="02010600030101010101" pitchFamily="2" charset="-122"/>
            </a:endParaRPr>
          </a:p>
        </p:txBody>
      </p:sp>
      <p:sp>
        <p:nvSpPr>
          <p:cNvPr id="27688" name="Rectangle 57"/>
          <p:cNvSpPr>
            <a:spLocks noChangeArrowheads="1"/>
          </p:cNvSpPr>
          <p:nvPr/>
        </p:nvSpPr>
        <p:spPr bwMode="auto">
          <a:xfrm>
            <a:off x="1108075" y="2867025"/>
            <a:ext cx="2159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dirty="0">
                <a:solidFill>
                  <a:schemeClr val="bg1"/>
                </a:solidFill>
                <a:latin typeface="宋体" panose="02010600030101010101" pitchFamily="2" charset="-122"/>
                <a:ea typeface="宋体" panose="02010600030101010101" pitchFamily="2" charset="-122"/>
              </a:rPr>
              <a:t>器</a:t>
            </a:r>
            <a:endParaRPr lang="zh-CN" altLang="en-US" sz="3600" dirty="0">
              <a:solidFill>
                <a:schemeClr val="bg1"/>
              </a:solidFill>
              <a:ea typeface="宋体" panose="02010600030101010101" pitchFamily="2" charset="-122"/>
            </a:endParaRPr>
          </a:p>
        </p:txBody>
      </p:sp>
      <p:grpSp>
        <p:nvGrpSpPr>
          <p:cNvPr id="27689" name="Group 58"/>
          <p:cNvGrpSpPr/>
          <p:nvPr/>
        </p:nvGrpSpPr>
        <p:grpSpPr bwMode="auto">
          <a:xfrm>
            <a:off x="2962275" y="2325688"/>
            <a:ext cx="1060450" cy="466725"/>
            <a:chOff x="1866" y="1465"/>
            <a:chExt cx="668" cy="294"/>
          </a:xfrm>
        </p:grpSpPr>
        <p:sp>
          <p:nvSpPr>
            <p:cNvPr id="27782" name="Freeform 59"/>
            <p:cNvSpPr/>
            <p:nvPr/>
          </p:nvSpPr>
          <p:spPr bwMode="auto">
            <a:xfrm>
              <a:off x="2510" y="1465"/>
              <a:ext cx="24" cy="294"/>
            </a:xfrm>
            <a:custGeom>
              <a:avLst/>
              <a:gdLst>
                <a:gd name="T0" fmla="*/ 0 w 24"/>
                <a:gd name="T1" fmla="*/ 294 h 294"/>
                <a:gd name="T2" fmla="*/ 0 w 24"/>
                <a:gd name="T3" fmla="*/ 29 h 294"/>
                <a:gd name="T4" fmla="*/ 24 w 24"/>
                <a:gd name="T5" fmla="*/ 0 h 294"/>
                <a:gd name="T6" fmla="*/ 24 w 24"/>
                <a:gd name="T7" fmla="*/ 265 h 294"/>
                <a:gd name="T8" fmla="*/ 0 w 24"/>
                <a:gd name="T9" fmla="*/ 294 h 294"/>
                <a:gd name="T10" fmla="*/ 0 60000 65536"/>
                <a:gd name="T11" fmla="*/ 0 60000 65536"/>
                <a:gd name="T12" fmla="*/ 0 60000 65536"/>
                <a:gd name="T13" fmla="*/ 0 60000 65536"/>
                <a:gd name="T14" fmla="*/ 0 60000 65536"/>
                <a:gd name="T15" fmla="*/ 0 w 24"/>
                <a:gd name="T16" fmla="*/ 0 h 294"/>
                <a:gd name="T17" fmla="*/ 24 w 24"/>
                <a:gd name="T18" fmla="*/ 294 h 294"/>
              </a:gdLst>
              <a:ahLst/>
              <a:cxnLst>
                <a:cxn ang="T10">
                  <a:pos x="T0" y="T1"/>
                </a:cxn>
                <a:cxn ang="T11">
                  <a:pos x="T2" y="T3"/>
                </a:cxn>
                <a:cxn ang="T12">
                  <a:pos x="T4" y="T5"/>
                </a:cxn>
                <a:cxn ang="T13">
                  <a:pos x="T6" y="T7"/>
                </a:cxn>
                <a:cxn ang="T14">
                  <a:pos x="T8" y="T9"/>
                </a:cxn>
              </a:cxnLst>
              <a:rect l="T15" t="T16" r="T17" b="T18"/>
              <a:pathLst>
                <a:path w="24" h="294">
                  <a:moveTo>
                    <a:pt x="0" y="294"/>
                  </a:moveTo>
                  <a:lnTo>
                    <a:pt x="0" y="29"/>
                  </a:lnTo>
                  <a:lnTo>
                    <a:pt x="24" y="0"/>
                  </a:lnTo>
                  <a:lnTo>
                    <a:pt x="24" y="265"/>
                  </a:lnTo>
                  <a:lnTo>
                    <a:pt x="0" y="294"/>
                  </a:lnTo>
                  <a:close/>
                </a:path>
              </a:pathLst>
            </a:custGeom>
            <a:solidFill>
              <a:srgbClr val="003399"/>
            </a:solidFill>
            <a:ln w="9525">
              <a:round/>
            </a:ln>
            <a:scene3d>
              <a:camera prst="legacyPerspectiveTopRight"/>
              <a:lightRig rig="legacyFlat3" dir="b"/>
            </a:scene3d>
            <a:sp3d extrusionH="150800" prstMaterial="legacyMatte">
              <a:bevelT w="13500" h="13500" prst="angle"/>
              <a:bevelB w="13500" h="13500" prst="angle"/>
              <a:extrusionClr>
                <a:srgbClr val="003399"/>
              </a:extrusionClr>
              <a:contourClr>
                <a:srgbClr val="003399"/>
              </a:contourClr>
            </a:sp3d>
          </p:spPr>
          <p:txBody>
            <a:bodyPr>
              <a:flatTx/>
            </a:bodyPr>
            <a:lstStyle/>
            <a:p>
              <a:endParaRPr lang="zh-CN" altLang="en-US"/>
            </a:p>
          </p:txBody>
        </p:sp>
        <p:sp>
          <p:nvSpPr>
            <p:cNvPr id="27783" name="Freeform 60"/>
            <p:cNvSpPr/>
            <p:nvPr/>
          </p:nvSpPr>
          <p:spPr bwMode="auto">
            <a:xfrm>
              <a:off x="1866" y="1465"/>
              <a:ext cx="668" cy="29"/>
            </a:xfrm>
            <a:custGeom>
              <a:avLst/>
              <a:gdLst>
                <a:gd name="T0" fmla="*/ 644 w 668"/>
                <a:gd name="T1" fmla="*/ 29 h 29"/>
                <a:gd name="T2" fmla="*/ 0 w 668"/>
                <a:gd name="T3" fmla="*/ 29 h 29"/>
                <a:gd name="T4" fmla="*/ 24 w 668"/>
                <a:gd name="T5" fmla="*/ 0 h 29"/>
                <a:gd name="T6" fmla="*/ 668 w 668"/>
                <a:gd name="T7" fmla="*/ 0 h 29"/>
                <a:gd name="T8" fmla="*/ 644 w 668"/>
                <a:gd name="T9" fmla="*/ 29 h 29"/>
                <a:gd name="T10" fmla="*/ 0 60000 65536"/>
                <a:gd name="T11" fmla="*/ 0 60000 65536"/>
                <a:gd name="T12" fmla="*/ 0 60000 65536"/>
                <a:gd name="T13" fmla="*/ 0 60000 65536"/>
                <a:gd name="T14" fmla="*/ 0 60000 65536"/>
                <a:gd name="T15" fmla="*/ 0 w 668"/>
                <a:gd name="T16" fmla="*/ 0 h 29"/>
                <a:gd name="T17" fmla="*/ 668 w 668"/>
                <a:gd name="T18" fmla="*/ 29 h 29"/>
              </a:gdLst>
              <a:ahLst/>
              <a:cxnLst>
                <a:cxn ang="T10">
                  <a:pos x="T0" y="T1"/>
                </a:cxn>
                <a:cxn ang="T11">
                  <a:pos x="T2" y="T3"/>
                </a:cxn>
                <a:cxn ang="T12">
                  <a:pos x="T4" y="T5"/>
                </a:cxn>
                <a:cxn ang="T13">
                  <a:pos x="T6" y="T7"/>
                </a:cxn>
                <a:cxn ang="T14">
                  <a:pos x="T8" y="T9"/>
                </a:cxn>
              </a:cxnLst>
              <a:rect l="T15" t="T16" r="T17" b="T18"/>
              <a:pathLst>
                <a:path w="668" h="29">
                  <a:moveTo>
                    <a:pt x="644" y="29"/>
                  </a:moveTo>
                  <a:lnTo>
                    <a:pt x="0" y="29"/>
                  </a:lnTo>
                  <a:lnTo>
                    <a:pt x="24" y="0"/>
                  </a:lnTo>
                  <a:lnTo>
                    <a:pt x="668" y="0"/>
                  </a:lnTo>
                  <a:lnTo>
                    <a:pt x="644" y="29"/>
                  </a:lnTo>
                  <a:close/>
                </a:path>
              </a:pathLst>
            </a:custGeom>
            <a:solidFill>
              <a:srgbClr val="003399"/>
            </a:solidFill>
            <a:ln w="9525">
              <a:round/>
            </a:ln>
            <a:scene3d>
              <a:camera prst="legacyPerspectiveTopRight"/>
              <a:lightRig rig="legacyFlat3" dir="b"/>
            </a:scene3d>
            <a:sp3d extrusionH="150800" prstMaterial="legacyMatte">
              <a:bevelT w="13500" h="13500" prst="angle"/>
              <a:bevelB w="13500" h="13500" prst="angle"/>
              <a:extrusionClr>
                <a:srgbClr val="003399"/>
              </a:extrusionClr>
              <a:contourClr>
                <a:srgbClr val="003399"/>
              </a:contourClr>
            </a:sp3d>
          </p:spPr>
          <p:txBody>
            <a:bodyPr>
              <a:flatTx/>
            </a:bodyPr>
            <a:lstStyle/>
            <a:p>
              <a:endParaRPr lang="zh-CN" altLang="en-US"/>
            </a:p>
          </p:txBody>
        </p:sp>
        <p:sp>
          <p:nvSpPr>
            <p:cNvPr id="27784" name="Rectangle 61"/>
            <p:cNvSpPr>
              <a:spLocks noChangeArrowheads="1"/>
            </p:cNvSpPr>
            <p:nvPr/>
          </p:nvSpPr>
          <p:spPr bwMode="auto">
            <a:xfrm>
              <a:off x="1866" y="1494"/>
              <a:ext cx="644" cy="265"/>
            </a:xfrm>
            <a:prstGeom prst="rect">
              <a:avLst/>
            </a:prstGeom>
            <a:solidFill>
              <a:srgbClr val="003399"/>
            </a:solidFill>
            <a:ln w="9525">
              <a:miter lim="800000"/>
            </a:ln>
            <a:scene3d>
              <a:camera prst="legacyPerspectiveTopRight"/>
              <a:lightRig rig="legacyFlat3" dir="b"/>
            </a:scene3d>
            <a:sp3d extrusionH="150800" prstMaterial="legacyMatte">
              <a:bevelT w="13500" h="13500" prst="angle"/>
              <a:bevelB w="13500" h="13500" prst="angle"/>
              <a:extrusionClr>
                <a:srgbClr val="003399"/>
              </a:extrusionClr>
              <a:contourClr>
                <a:srgbClr val="003399"/>
              </a:contourClr>
            </a:sp3d>
          </p:spPr>
          <p:txBody>
            <a:bodyPr>
              <a:flatTx/>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27690" name="Rectangle 62"/>
          <p:cNvSpPr>
            <a:spLocks noChangeArrowheads="1"/>
          </p:cNvSpPr>
          <p:nvPr/>
        </p:nvSpPr>
        <p:spPr bwMode="auto">
          <a:xfrm>
            <a:off x="2978150" y="2432050"/>
            <a:ext cx="10795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solidFill>
                  <a:schemeClr val="bg1"/>
                </a:solidFill>
                <a:latin typeface="宋体" panose="02010600030101010101" pitchFamily="2" charset="-122"/>
                <a:ea typeface="宋体" panose="02010600030101010101" pitchFamily="2" charset="-122"/>
              </a:rPr>
              <a:t>数据寄存器</a:t>
            </a:r>
            <a:endParaRPr lang="zh-CN" altLang="en-US" sz="3600">
              <a:solidFill>
                <a:schemeClr val="bg1"/>
              </a:solidFill>
              <a:ea typeface="宋体" panose="02010600030101010101" pitchFamily="2" charset="-122"/>
            </a:endParaRPr>
          </a:p>
        </p:txBody>
      </p:sp>
      <p:grpSp>
        <p:nvGrpSpPr>
          <p:cNvPr id="27691" name="Group 63"/>
          <p:cNvGrpSpPr/>
          <p:nvPr/>
        </p:nvGrpSpPr>
        <p:grpSpPr bwMode="auto">
          <a:xfrm>
            <a:off x="4187825" y="2325688"/>
            <a:ext cx="1062038" cy="466725"/>
            <a:chOff x="2638" y="1465"/>
            <a:chExt cx="669" cy="294"/>
          </a:xfrm>
        </p:grpSpPr>
        <p:sp>
          <p:nvSpPr>
            <p:cNvPr id="27779" name="Freeform 64"/>
            <p:cNvSpPr/>
            <p:nvPr/>
          </p:nvSpPr>
          <p:spPr bwMode="auto">
            <a:xfrm>
              <a:off x="3282" y="1465"/>
              <a:ext cx="25" cy="294"/>
            </a:xfrm>
            <a:custGeom>
              <a:avLst/>
              <a:gdLst>
                <a:gd name="T0" fmla="*/ 0 w 25"/>
                <a:gd name="T1" fmla="*/ 294 h 294"/>
                <a:gd name="T2" fmla="*/ 0 w 25"/>
                <a:gd name="T3" fmla="*/ 29 h 294"/>
                <a:gd name="T4" fmla="*/ 25 w 25"/>
                <a:gd name="T5" fmla="*/ 0 h 294"/>
                <a:gd name="T6" fmla="*/ 25 w 25"/>
                <a:gd name="T7" fmla="*/ 265 h 294"/>
                <a:gd name="T8" fmla="*/ 0 w 25"/>
                <a:gd name="T9" fmla="*/ 294 h 294"/>
                <a:gd name="T10" fmla="*/ 0 60000 65536"/>
                <a:gd name="T11" fmla="*/ 0 60000 65536"/>
                <a:gd name="T12" fmla="*/ 0 60000 65536"/>
                <a:gd name="T13" fmla="*/ 0 60000 65536"/>
                <a:gd name="T14" fmla="*/ 0 60000 65536"/>
                <a:gd name="T15" fmla="*/ 0 w 25"/>
                <a:gd name="T16" fmla="*/ 0 h 294"/>
                <a:gd name="T17" fmla="*/ 25 w 25"/>
                <a:gd name="T18" fmla="*/ 294 h 294"/>
              </a:gdLst>
              <a:ahLst/>
              <a:cxnLst>
                <a:cxn ang="T10">
                  <a:pos x="T0" y="T1"/>
                </a:cxn>
                <a:cxn ang="T11">
                  <a:pos x="T2" y="T3"/>
                </a:cxn>
                <a:cxn ang="T12">
                  <a:pos x="T4" y="T5"/>
                </a:cxn>
                <a:cxn ang="T13">
                  <a:pos x="T6" y="T7"/>
                </a:cxn>
                <a:cxn ang="T14">
                  <a:pos x="T8" y="T9"/>
                </a:cxn>
              </a:cxnLst>
              <a:rect l="T15" t="T16" r="T17" b="T18"/>
              <a:pathLst>
                <a:path w="25" h="294">
                  <a:moveTo>
                    <a:pt x="0" y="294"/>
                  </a:moveTo>
                  <a:lnTo>
                    <a:pt x="0" y="29"/>
                  </a:lnTo>
                  <a:lnTo>
                    <a:pt x="25" y="0"/>
                  </a:lnTo>
                  <a:lnTo>
                    <a:pt x="25" y="265"/>
                  </a:lnTo>
                  <a:lnTo>
                    <a:pt x="0" y="294"/>
                  </a:lnTo>
                  <a:close/>
                </a:path>
              </a:pathLst>
            </a:custGeom>
            <a:solidFill>
              <a:srgbClr val="660066"/>
            </a:solidFill>
            <a:ln w="9525">
              <a:round/>
            </a:ln>
            <a:scene3d>
              <a:camera prst="legacyPerspectiveTopRight"/>
              <a:lightRig rig="legacyFlat3" dir="b"/>
            </a:scene3d>
            <a:sp3d extrusionH="150800" prstMaterial="legacyMatte">
              <a:bevelT w="13500" h="13500" prst="angle"/>
              <a:bevelB w="13500" h="13500" prst="angle"/>
              <a:extrusionClr>
                <a:srgbClr val="660066"/>
              </a:extrusionClr>
              <a:contourClr>
                <a:srgbClr val="660066"/>
              </a:contourClr>
            </a:sp3d>
          </p:spPr>
          <p:txBody>
            <a:bodyPr>
              <a:flatTx/>
            </a:bodyPr>
            <a:lstStyle/>
            <a:p>
              <a:endParaRPr lang="zh-CN" altLang="en-US"/>
            </a:p>
          </p:txBody>
        </p:sp>
        <p:sp>
          <p:nvSpPr>
            <p:cNvPr id="27780" name="Freeform 65"/>
            <p:cNvSpPr/>
            <p:nvPr/>
          </p:nvSpPr>
          <p:spPr bwMode="auto">
            <a:xfrm>
              <a:off x="2638" y="1465"/>
              <a:ext cx="669" cy="29"/>
            </a:xfrm>
            <a:custGeom>
              <a:avLst/>
              <a:gdLst>
                <a:gd name="T0" fmla="*/ 644 w 669"/>
                <a:gd name="T1" fmla="*/ 29 h 29"/>
                <a:gd name="T2" fmla="*/ 0 w 669"/>
                <a:gd name="T3" fmla="*/ 29 h 29"/>
                <a:gd name="T4" fmla="*/ 24 w 669"/>
                <a:gd name="T5" fmla="*/ 0 h 29"/>
                <a:gd name="T6" fmla="*/ 669 w 669"/>
                <a:gd name="T7" fmla="*/ 0 h 29"/>
                <a:gd name="T8" fmla="*/ 644 w 669"/>
                <a:gd name="T9" fmla="*/ 29 h 29"/>
                <a:gd name="T10" fmla="*/ 0 60000 65536"/>
                <a:gd name="T11" fmla="*/ 0 60000 65536"/>
                <a:gd name="T12" fmla="*/ 0 60000 65536"/>
                <a:gd name="T13" fmla="*/ 0 60000 65536"/>
                <a:gd name="T14" fmla="*/ 0 60000 65536"/>
                <a:gd name="T15" fmla="*/ 0 w 669"/>
                <a:gd name="T16" fmla="*/ 0 h 29"/>
                <a:gd name="T17" fmla="*/ 669 w 669"/>
                <a:gd name="T18" fmla="*/ 29 h 29"/>
              </a:gdLst>
              <a:ahLst/>
              <a:cxnLst>
                <a:cxn ang="T10">
                  <a:pos x="T0" y="T1"/>
                </a:cxn>
                <a:cxn ang="T11">
                  <a:pos x="T2" y="T3"/>
                </a:cxn>
                <a:cxn ang="T12">
                  <a:pos x="T4" y="T5"/>
                </a:cxn>
                <a:cxn ang="T13">
                  <a:pos x="T6" y="T7"/>
                </a:cxn>
                <a:cxn ang="T14">
                  <a:pos x="T8" y="T9"/>
                </a:cxn>
              </a:cxnLst>
              <a:rect l="T15" t="T16" r="T17" b="T18"/>
              <a:pathLst>
                <a:path w="669" h="29">
                  <a:moveTo>
                    <a:pt x="644" y="29"/>
                  </a:moveTo>
                  <a:lnTo>
                    <a:pt x="0" y="29"/>
                  </a:lnTo>
                  <a:lnTo>
                    <a:pt x="24" y="0"/>
                  </a:lnTo>
                  <a:lnTo>
                    <a:pt x="669" y="0"/>
                  </a:lnTo>
                  <a:lnTo>
                    <a:pt x="644" y="29"/>
                  </a:lnTo>
                  <a:close/>
                </a:path>
              </a:pathLst>
            </a:custGeom>
            <a:solidFill>
              <a:srgbClr val="660066"/>
            </a:solidFill>
            <a:ln w="9525">
              <a:round/>
            </a:ln>
            <a:scene3d>
              <a:camera prst="legacyPerspectiveTopRight"/>
              <a:lightRig rig="legacyFlat3" dir="b"/>
            </a:scene3d>
            <a:sp3d extrusionH="150800" prstMaterial="legacyMatte">
              <a:bevelT w="13500" h="13500" prst="angle"/>
              <a:bevelB w="13500" h="13500" prst="angle"/>
              <a:extrusionClr>
                <a:srgbClr val="660066"/>
              </a:extrusionClr>
              <a:contourClr>
                <a:srgbClr val="660066"/>
              </a:contourClr>
            </a:sp3d>
          </p:spPr>
          <p:txBody>
            <a:bodyPr>
              <a:flatTx/>
            </a:bodyPr>
            <a:lstStyle/>
            <a:p>
              <a:endParaRPr lang="zh-CN" altLang="en-US"/>
            </a:p>
          </p:txBody>
        </p:sp>
        <p:sp>
          <p:nvSpPr>
            <p:cNvPr id="27781" name="Rectangle 66"/>
            <p:cNvSpPr>
              <a:spLocks noChangeArrowheads="1"/>
            </p:cNvSpPr>
            <p:nvPr/>
          </p:nvSpPr>
          <p:spPr bwMode="auto">
            <a:xfrm>
              <a:off x="2638" y="1494"/>
              <a:ext cx="644" cy="265"/>
            </a:xfrm>
            <a:prstGeom prst="rect">
              <a:avLst/>
            </a:prstGeom>
            <a:solidFill>
              <a:srgbClr val="660066"/>
            </a:solidFill>
            <a:ln w="9525">
              <a:miter lim="800000"/>
            </a:ln>
            <a:scene3d>
              <a:camera prst="legacyPerspectiveTopRight"/>
              <a:lightRig rig="legacyFlat3" dir="b"/>
            </a:scene3d>
            <a:sp3d extrusionH="150800" prstMaterial="legacyMatte">
              <a:bevelT w="13500" h="13500" prst="angle"/>
              <a:bevelB w="13500" h="13500" prst="angle"/>
              <a:extrusionClr>
                <a:srgbClr val="660066"/>
              </a:extrusionClr>
              <a:contourClr>
                <a:srgbClr val="660066"/>
              </a:contourClr>
            </a:sp3d>
          </p:spPr>
          <p:txBody>
            <a:bodyPr>
              <a:flatTx/>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27692" name="Rectangle 67"/>
          <p:cNvSpPr>
            <a:spLocks noChangeArrowheads="1"/>
          </p:cNvSpPr>
          <p:nvPr/>
        </p:nvSpPr>
        <p:spPr bwMode="auto">
          <a:xfrm>
            <a:off x="4205288" y="2432050"/>
            <a:ext cx="10795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solidFill>
                  <a:schemeClr val="bg1"/>
                </a:solidFill>
                <a:latin typeface="宋体" panose="02010600030101010101" pitchFamily="2" charset="-122"/>
                <a:ea typeface="宋体" panose="02010600030101010101" pitchFamily="2" charset="-122"/>
              </a:rPr>
              <a:t>命令寄存器</a:t>
            </a:r>
            <a:endParaRPr lang="zh-CN" altLang="en-US" sz="3600">
              <a:solidFill>
                <a:schemeClr val="bg1"/>
              </a:solidFill>
              <a:ea typeface="宋体" panose="02010600030101010101" pitchFamily="2" charset="-122"/>
            </a:endParaRPr>
          </a:p>
        </p:txBody>
      </p:sp>
      <p:sp>
        <p:nvSpPr>
          <p:cNvPr id="27693" name="Rectangle 68"/>
          <p:cNvSpPr>
            <a:spLocks noChangeArrowheads="1"/>
          </p:cNvSpPr>
          <p:nvPr/>
        </p:nvSpPr>
        <p:spPr bwMode="auto">
          <a:xfrm>
            <a:off x="303213" y="2497138"/>
            <a:ext cx="422275"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694" name="Rectangle 69"/>
          <p:cNvSpPr>
            <a:spLocks noChangeArrowheads="1"/>
          </p:cNvSpPr>
          <p:nvPr/>
        </p:nvSpPr>
        <p:spPr bwMode="auto">
          <a:xfrm>
            <a:off x="325438" y="2525713"/>
            <a:ext cx="30003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700" b="0">
                <a:solidFill>
                  <a:schemeClr val="tx2"/>
                </a:solidFill>
                <a:ea typeface="宋体" panose="02010600030101010101" pitchFamily="2" charset="-122"/>
              </a:rPr>
              <a:t>RD</a:t>
            </a:r>
            <a:endParaRPr lang="en-US" altLang="zh-CN" sz="3600" b="0">
              <a:solidFill>
                <a:schemeClr val="tx2"/>
              </a:solidFill>
              <a:ea typeface="宋体" panose="02010600030101010101" pitchFamily="2" charset="-122"/>
            </a:endParaRPr>
          </a:p>
        </p:txBody>
      </p:sp>
      <p:sp>
        <p:nvSpPr>
          <p:cNvPr id="27695" name="Rectangle 70"/>
          <p:cNvSpPr>
            <a:spLocks noChangeArrowheads="1"/>
          </p:cNvSpPr>
          <p:nvPr/>
        </p:nvSpPr>
        <p:spPr bwMode="auto">
          <a:xfrm>
            <a:off x="274638" y="2882900"/>
            <a:ext cx="33496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700" b="0">
                <a:solidFill>
                  <a:schemeClr val="tx2"/>
                </a:solidFill>
                <a:ea typeface="宋体" panose="02010600030101010101" pitchFamily="2" charset="-122"/>
              </a:rPr>
              <a:t>WE</a:t>
            </a:r>
            <a:endParaRPr lang="en-US" altLang="zh-CN" sz="3600" b="0">
              <a:solidFill>
                <a:schemeClr val="tx2"/>
              </a:solidFill>
              <a:ea typeface="宋体" panose="02010600030101010101" pitchFamily="2" charset="-122"/>
            </a:endParaRPr>
          </a:p>
        </p:txBody>
      </p:sp>
      <p:sp>
        <p:nvSpPr>
          <p:cNvPr id="27696" name="Rectangle 71"/>
          <p:cNvSpPr>
            <a:spLocks noChangeArrowheads="1"/>
          </p:cNvSpPr>
          <p:nvPr/>
        </p:nvSpPr>
        <p:spPr bwMode="auto">
          <a:xfrm>
            <a:off x="188913" y="2055813"/>
            <a:ext cx="422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697" name="Rectangle 72"/>
          <p:cNvSpPr>
            <a:spLocks noChangeArrowheads="1"/>
          </p:cNvSpPr>
          <p:nvPr/>
        </p:nvSpPr>
        <p:spPr bwMode="auto">
          <a:xfrm>
            <a:off x="3063875" y="1125538"/>
            <a:ext cx="10350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698" name="Rectangle 73"/>
          <p:cNvSpPr>
            <a:spLocks noChangeArrowheads="1"/>
          </p:cNvSpPr>
          <p:nvPr/>
        </p:nvSpPr>
        <p:spPr bwMode="auto">
          <a:xfrm>
            <a:off x="3390900" y="1169988"/>
            <a:ext cx="4318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latin typeface="宋体" panose="02010600030101010101" pitchFamily="2" charset="-122"/>
                <a:ea typeface="宋体" panose="02010600030101010101" pitchFamily="2" charset="-122"/>
              </a:rPr>
              <a:t>总线</a:t>
            </a:r>
            <a:endParaRPr lang="zh-CN" altLang="en-US" sz="3600">
              <a:ea typeface="宋体" panose="02010600030101010101" pitchFamily="2" charset="-122"/>
            </a:endParaRPr>
          </a:p>
        </p:txBody>
      </p:sp>
      <p:sp>
        <p:nvSpPr>
          <p:cNvPr id="27699" name="Rectangle 74"/>
          <p:cNvSpPr>
            <a:spLocks noChangeArrowheads="1"/>
          </p:cNvSpPr>
          <p:nvPr/>
        </p:nvSpPr>
        <p:spPr bwMode="auto">
          <a:xfrm>
            <a:off x="2041525" y="1546225"/>
            <a:ext cx="10350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00" name="Rectangle 75"/>
          <p:cNvSpPr>
            <a:spLocks noChangeArrowheads="1"/>
          </p:cNvSpPr>
          <p:nvPr/>
        </p:nvSpPr>
        <p:spPr bwMode="auto">
          <a:xfrm>
            <a:off x="2384425" y="1590675"/>
            <a:ext cx="65246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latin typeface="宋体" panose="02010600030101010101" pitchFamily="2" charset="-122"/>
                <a:ea typeface="宋体" panose="02010600030101010101" pitchFamily="2" charset="-122"/>
              </a:rPr>
              <a:t>数据线</a:t>
            </a:r>
            <a:endParaRPr lang="zh-CN" altLang="en-US" sz="3600">
              <a:ea typeface="宋体" panose="02010600030101010101" pitchFamily="2" charset="-122"/>
            </a:endParaRPr>
          </a:p>
        </p:txBody>
      </p:sp>
      <p:sp>
        <p:nvSpPr>
          <p:cNvPr id="27701" name="Rectangle 76"/>
          <p:cNvSpPr>
            <a:spLocks noChangeArrowheads="1"/>
          </p:cNvSpPr>
          <p:nvPr/>
        </p:nvSpPr>
        <p:spPr bwMode="auto">
          <a:xfrm>
            <a:off x="915988" y="1546225"/>
            <a:ext cx="103663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02" name="Rectangle 77"/>
          <p:cNvSpPr>
            <a:spLocks noChangeArrowheads="1"/>
          </p:cNvSpPr>
          <p:nvPr/>
        </p:nvSpPr>
        <p:spPr bwMode="auto">
          <a:xfrm>
            <a:off x="1250950" y="1590675"/>
            <a:ext cx="65246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latin typeface="宋体" panose="02010600030101010101" pitchFamily="2" charset="-122"/>
                <a:ea typeface="宋体" panose="02010600030101010101" pitchFamily="2" charset="-122"/>
              </a:rPr>
              <a:t>地址线</a:t>
            </a:r>
            <a:endParaRPr lang="zh-CN" altLang="en-US" sz="3600">
              <a:ea typeface="宋体" panose="02010600030101010101" pitchFamily="2" charset="-122"/>
            </a:endParaRPr>
          </a:p>
        </p:txBody>
      </p:sp>
      <p:sp>
        <p:nvSpPr>
          <p:cNvPr id="27703" name="Rectangle 78"/>
          <p:cNvSpPr>
            <a:spLocks noChangeArrowheads="1"/>
          </p:cNvSpPr>
          <p:nvPr/>
        </p:nvSpPr>
        <p:spPr bwMode="auto">
          <a:xfrm>
            <a:off x="1223963" y="1951038"/>
            <a:ext cx="10350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04" name="Rectangle 79"/>
          <p:cNvSpPr>
            <a:spLocks noChangeArrowheads="1"/>
          </p:cNvSpPr>
          <p:nvPr/>
        </p:nvSpPr>
        <p:spPr bwMode="auto">
          <a:xfrm>
            <a:off x="1331913" y="2011363"/>
            <a:ext cx="8699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latin typeface="宋体" panose="02010600030101010101" pitchFamily="2" charset="-122"/>
                <a:ea typeface="宋体" panose="02010600030101010101" pitchFamily="2" charset="-122"/>
              </a:rPr>
              <a:t>外设接口</a:t>
            </a:r>
            <a:endParaRPr lang="zh-CN" altLang="en-US" sz="3600">
              <a:ea typeface="宋体" panose="02010600030101010101" pitchFamily="2" charset="-122"/>
            </a:endParaRPr>
          </a:p>
        </p:txBody>
      </p:sp>
      <p:sp>
        <p:nvSpPr>
          <p:cNvPr id="27705" name="Rectangle 80"/>
          <p:cNvSpPr>
            <a:spLocks noChangeArrowheads="1"/>
          </p:cNvSpPr>
          <p:nvPr/>
        </p:nvSpPr>
        <p:spPr bwMode="auto">
          <a:xfrm>
            <a:off x="4187825" y="4143375"/>
            <a:ext cx="123983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06" name="Rectangle 81"/>
          <p:cNvSpPr>
            <a:spLocks noChangeArrowheads="1"/>
          </p:cNvSpPr>
          <p:nvPr/>
        </p:nvSpPr>
        <p:spPr bwMode="auto">
          <a:xfrm>
            <a:off x="4183063" y="4187825"/>
            <a:ext cx="13049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latin typeface="宋体" panose="02010600030101010101" pitchFamily="2" charset="-122"/>
                <a:ea typeface="宋体" panose="02010600030101010101" pitchFamily="2" charset="-122"/>
              </a:rPr>
              <a:t>外设控制信号</a:t>
            </a:r>
            <a:endParaRPr lang="zh-CN" altLang="en-US" sz="3600">
              <a:ea typeface="宋体" panose="02010600030101010101" pitchFamily="2" charset="-122"/>
            </a:endParaRPr>
          </a:p>
        </p:txBody>
      </p:sp>
      <p:sp>
        <p:nvSpPr>
          <p:cNvPr id="27707" name="Rectangle 82"/>
          <p:cNvSpPr>
            <a:spLocks noChangeArrowheads="1"/>
          </p:cNvSpPr>
          <p:nvPr/>
        </p:nvSpPr>
        <p:spPr bwMode="auto">
          <a:xfrm>
            <a:off x="2962275" y="4143375"/>
            <a:ext cx="10350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08" name="Rectangle 83"/>
          <p:cNvSpPr>
            <a:spLocks noChangeArrowheads="1"/>
          </p:cNvSpPr>
          <p:nvPr/>
        </p:nvSpPr>
        <p:spPr bwMode="auto">
          <a:xfrm>
            <a:off x="3070225" y="4187825"/>
            <a:ext cx="8699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latin typeface="宋体" panose="02010600030101010101" pitchFamily="2" charset="-122"/>
                <a:ea typeface="宋体" panose="02010600030101010101" pitchFamily="2" charset="-122"/>
              </a:rPr>
              <a:t>外设数据</a:t>
            </a:r>
            <a:endParaRPr lang="zh-CN" altLang="en-US" sz="3600">
              <a:ea typeface="宋体" panose="02010600030101010101" pitchFamily="2" charset="-122"/>
            </a:endParaRPr>
          </a:p>
        </p:txBody>
      </p:sp>
      <p:sp>
        <p:nvSpPr>
          <p:cNvPr id="27709" name="Rectangle 84"/>
          <p:cNvSpPr>
            <a:spLocks noChangeArrowheads="1"/>
          </p:cNvSpPr>
          <p:nvPr/>
        </p:nvSpPr>
        <p:spPr bwMode="auto">
          <a:xfrm>
            <a:off x="1735138" y="4143375"/>
            <a:ext cx="10350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10" name="Rectangle 85"/>
          <p:cNvSpPr>
            <a:spLocks noChangeArrowheads="1"/>
          </p:cNvSpPr>
          <p:nvPr/>
        </p:nvSpPr>
        <p:spPr bwMode="auto">
          <a:xfrm>
            <a:off x="1843088" y="4187825"/>
            <a:ext cx="8699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latin typeface="宋体" panose="02010600030101010101" pitchFamily="2" charset="-122"/>
                <a:ea typeface="宋体" panose="02010600030101010101" pitchFamily="2" charset="-122"/>
              </a:rPr>
              <a:t>外设状态</a:t>
            </a:r>
            <a:endParaRPr lang="zh-CN" altLang="en-US" sz="3600">
              <a:ea typeface="宋体" panose="02010600030101010101" pitchFamily="2" charset="-122"/>
            </a:endParaRPr>
          </a:p>
        </p:txBody>
      </p:sp>
      <p:grpSp>
        <p:nvGrpSpPr>
          <p:cNvPr id="27711" name="Group 86"/>
          <p:cNvGrpSpPr/>
          <p:nvPr/>
        </p:nvGrpSpPr>
        <p:grpSpPr bwMode="auto">
          <a:xfrm>
            <a:off x="1735138" y="2325688"/>
            <a:ext cx="1060450" cy="466725"/>
            <a:chOff x="1093" y="1465"/>
            <a:chExt cx="668" cy="294"/>
          </a:xfrm>
        </p:grpSpPr>
        <p:sp>
          <p:nvSpPr>
            <p:cNvPr id="27776" name="Freeform 87"/>
            <p:cNvSpPr/>
            <p:nvPr/>
          </p:nvSpPr>
          <p:spPr bwMode="auto">
            <a:xfrm>
              <a:off x="1737" y="1465"/>
              <a:ext cx="24" cy="294"/>
            </a:xfrm>
            <a:custGeom>
              <a:avLst/>
              <a:gdLst>
                <a:gd name="T0" fmla="*/ 0 w 24"/>
                <a:gd name="T1" fmla="*/ 294 h 294"/>
                <a:gd name="T2" fmla="*/ 0 w 24"/>
                <a:gd name="T3" fmla="*/ 29 h 294"/>
                <a:gd name="T4" fmla="*/ 24 w 24"/>
                <a:gd name="T5" fmla="*/ 0 h 294"/>
                <a:gd name="T6" fmla="*/ 24 w 24"/>
                <a:gd name="T7" fmla="*/ 265 h 294"/>
                <a:gd name="T8" fmla="*/ 0 w 24"/>
                <a:gd name="T9" fmla="*/ 294 h 294"/>
                <a:gd name="T10" fmla="*/ 0 60000 65536"/>
                <a:gd name="T11" fmla="*/ 0 60000 65536"/>
                <a:gd name="T12" fmla="*/ 0 60000 65536"/>
                <a:gd name="T13" fmla="*/ 0 60000 65536"/>
                <a:gd name="T14" fmla="*/ 0 60000 65536"/>
                <a:gd name="T15" fmla="*/ 0 w 24"/>
                <a:gd name="T16" fmla="*/ 0 h 294"/>
                <a:gd name="T17" fmla="*/ 24 w 24"/>
                <a:gd name="T18" fmla="*/ 294 h 294"/>
              </a:gdLst>
              <a:ahLst/>
              <a:cxnLst>
                <a:cxn ang="T10">
                  <a:pos x="T0" y="T1"/>
                </a:cxn>
                <a:cxn ang="T11">
                  <a:pos x="T2" y="T3"/>
                </a:cxn>
                <a:cxn ang="T12">
                  <a:pos x="T4" y="T5"/>
                </a:cxn>
                <a:cxn ang="T13">
                  <a:pos x="T6" y="T7"/>
                </a:cxn>
                <a:cxn ang="T14">
                  <a:pos x="T8" y="T9"/>
                </a:cxn>
              </a:cxnLst>
              <a:rect l="T15" t="T16" r="T17" b="T18"/>
              <a:pathLst>
                <a:path w="24" h="294">
                  <a:moveTo>
                    <a:pt x="0" y="294"/>
                  </a:moveTo>
                  <a:lnTo>
                    <a:pt x="0" y="29"/>
                  </a:lnTo>
                  <a:lnTo>
                    <a:pt x="24" y="0"/>
                  </a:lnTo>
                  <a:lnTo>
                    <a:pt x="24" y="265"/>
                  </a:lnTo>
                  <a:lnTo>
                    <a:pt x="0" y="294"/>
                  </a:lnTo>
                  <a:close/>
                </a:path>
              </a:pathLst>
            </a:custGeom>
            <a:solidFill>
              <a:srgbClr val="006600"/>
            </a:solidFill>
            <a:ln w="9525">
              <a:round/>
            </a:ln>
            <a:scene3d>
              <a:camera prst="legacyPerspectiveTopRight"/>
              <a:lightRig rig="legacyFlat3" dir="b"/>
            </a:scene3d>
            <a:sp3d extrusionH="150800" prstMaterial="legacyMatte">
              <a:bevelT w="13500" h="13500" prst="angle"/>
              <a:bevelB w="13500" h="13500" prst="angle"/>
              <a:extrusionClr>
                <a:srgbClr val="006600"/>
              </a:extrusionClr>
              <a:contourClr>
                <a:srgbClr val="006600"/>
              </a:contourClr>
            </a:sp3d>
          </p:spPr>
          <p:txBody>
            <a:bodyPr>
              <a:flatTx/>
            </a:bodyPr>
            <a:lstStyle/>
            <a:p>
              <a:endParaRPr lang="zh-CN" altLang="en-US"/>
            </a:p>
          </p:txBody>
        </p:sp>
        <p:sp>
          <p:nvSpPr>
            <p:cNvPr id="27777" name="Freeform 88"/>
            <p:cNvSpPr/>
            <p:nvPr/>
          </p:nvSpPr>
          <p:spPr bwMode="auto">
            <a:xfrm>
              <a:off x="1093" y="1465"/>
              <a:ext cx="668" cy="29"/>
            </a:xfrm>
            <a:custGeom>
              <a:avLst/>
              <a:gdLst>
                <a:gd name="T0" fmla="*/ 644 w 668"/>
                <a:gd name="T1" fmla="*/ 29 h 29"/>
                <a:gd name="T2" fmla="*/ 0 w 668"/>
                <a:gd name="T3" fmla="*/ 29 h 29"/>
                <a:gd name="T4" fmla="*/ 24 w 668"/>
                <a:gd name="T5" fmla="*/ 0 h 29"/>
                <a:gd name="T6" fmla="*/ 668 w 668"/>
                <a:gd name="T7" fmla="*/ 0 h 29"/>
                <a:gd name="T8" fmla="*/ 644 w 668"/>
                <a:gd name="T9" fmla="*/ 29 h 29"/>
                <a:gd name="T10" fmla="*/ 0 60000 65536"/>
                <a:gd name="T11" fmla="*/ 0 60000 65536"/>
                <a:gd name="T12" fmla="*/ 0 60000 65536"/>
                <a:gd name="T13" fmla="*/ 0 60000 65536"/>
                <a:gd name="T14" fmla="*/ 0 60000 65536"/>
                <a:gd name="T15" fmla="*/ 0 w 668"/>
                <a:gd name="T16" fmla="*/ 0 h 29"/>
                <a:gd name="T17" fmla="*/ 668 w 668"/>
                <a:gd name="T18" fmla="*/ 29 h 29"/>
              </a:gdLst>
              <a:ahLst/>
              <a:cxnLst>
                <a:cxn ang="T10">
                  <a:pos x="T0" y="T1"/>
                </a:cxn>
                <a:cxn ang="T11">
                  <a:pos x="T2" y="T3"/>
                </a:cxn>
                <a:cxn ang="T12">
                  <a:pos x="T4" y="T5"/>
                </a:cxn>
                <a:cxn ang="T13">
                  <a:pos x="T6" y="T7"/>
                </a:cxn>
                <a:cxn ang="T14">
                  <a:pos x="T8" y="T9"/>
                </a:cxn>
              </a:cxnLst>
              <a:rect l="T15" t="T16" r="T17" b="T18"/>
              <a:pathLst>
                <a:path w="668" h="29">
                  <a:moveTo>
                    <a:pt x="644" y="29"/>
                  </a:moveTo>
                  <a:lnTo>
                    <a:pt x="0" y="29"/>
                  </a:lnTo>
                  <a:lnTo>
                    <a:pt x="24" y="0"/>
                  </a:lnTo>
                  <a:lnTo>
                    <a:pt x="668" y="0"/>
                  </a:lnTo>
                  <a:lnTo>
                    <a:pt x="644" y="29"/>
                  </a:lnTo>
                  <a:close/>
                </a:path>
              </a:pathLst>
            </a:custGeom>
            <a:solidFill>
              <a:srgbClr val="006600"/>
            </a:solidFill>
            <a:ln w="9525">
              <a:round/>
            </a:ln>
            <a:scene3d>
              <a:camera prst="legacyPerspectiveTopRight"/>
              <a:lightRig rig="legacyFlat3" dir="b"/>
            </a:scene3d>
            <a:sp3d extrusionH="150800" prstMaterial="legacyMatte">
              <a:bevelT w="13500" h="13500" prst="angle"/>
              <a:bevelB w="13500" h="13500" prst="angle"/>
              <a:extrusionClr>
                <a:srgbClr val="006600"/>
              </a:extrusionClr>
              <a:contourClr>
                <a:srgbClr val="006600"/>
              </a:contourClr>
            </a:sp3d>
          </p:spPr>
          <p:txBody>
            <a:bodyPr>
              <a:flatTx/>
            </a:bodyPr>
            <a:lstStyle/>
            <a:p>
              <a:endParaRPr lang="zh-CN" altLang="en-US"/>
            </a:p>
          </p:txBody>
        </p:sp>
        <p:sp>
          <p:nvSpPr>
            <p:cNvPr id="27778" name="Rectangle 89"/>
            <p:cNvSpPr>
              <a:spLocks noChangeArrowheads="1"/>
            </p:cNvSpPr>
            <p:nvPr/>
          </p:nvSpPr>
          <p:spPr bwMode="auto">
            <a:xfrm>
              <a:off x="1093" y="1494"/>
              <a:ext cx="644" cy="265"/>
            </a:xfrm>
            <a:prstGeom prst="rect">
              <a:avLst/>
            </a:prstGeom>
            <a:solidFill>
              <a:srgbClr val="006600"/>
            </a:solidFill>
            <a:ln w="9525">
              <a:miter lim="800000"/>
            </a:ln>
            <a:scene3d>
              <a:camera prst="legacyPerspectiveTopRight"/>
              <a:lightRig rig="legacyFlat3" dir="b"/>
            </a:scene3d>
            <a:sp3d extrusionH="150800" prstMaterial="legacyMatte">
              <a:bevelT w="13500" h="13500" prst="angle"/>
              <a:bevelB w="13500" h="13500" prst="angle"/>
              <a:extrusionClr>
                <a:srgbClr val="006600"/>
              </a:extrusionClr>
              <a:contourClr>
                <a:srgbClr val="006600"/>
              </a:contourClr>
            </a:sp3d>
          </p:spPr>
          <p:txBody>
            <a:bodyPr>
              <a:flatTx/>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27712" name="Rectangle 90"/>
          <p:cNvSpPr>
            <a:spLocks noChangeArrowheads="1"/>
          </p:cNvSpPr>
          <p:nvPr/>
        </p:nvSpPr>
        <p:spPr bwMode="auto">
          <a:xfrm>
            <a:off x="1751013" y="2432050"/>
            <a:ext cx="10795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700">
                <a:solidFill>
                  <a:schemeClr val="bg1"/>
                </a:solidFill>
                <a:latin typeface="宋体" panose="02010600030101010101" pitchFamily="2" charset="-122"/>
                <a:ea typeface="宋体" panose="02010600030101010101" pitchFamily="2" charset="-122"/>
              </a:rPr>
              <a:t>状态寄存器</a:t>
            </a:r>
            <a:endParaRPr lang="zh-CN" altLang="en-US" sz="3600">
              <a:solidFill>
                <a:schemeClr val="bg1"/>
              </a:solidFill>
              <a:ea typeface="宋体" panose="02010600030101010101" pitchFamily="2" charset="-122"/>
            </a:endParaRPr>
          </a:p>
        </p:txBody>
      </p:sp>
      <p:grpSp>
        <p:nvGrpSpPr>
          <p:cNvPr id="27713" name="Group 91"/>
          <p:cNvGrpSpPr/>
          <p:nvPr/>
        </p:nvGrpSpPr>
        <p:grpSpPr bwMode="auto">
          <a:xfrm>
            <a:off x="1057275" y="1546225"/>
            <a:ext cx="114300" cy="720725"/>
            <a:chOff x="666" y="974"/>
            <a:chExt cx="72" cy="454"/>
          </a:xfrm>
        </p:grpSpPr>
        <p:sp>
          <p:nvSpPr>
            <p:cNvPr id="27774" name="Rectangle 92"/>
            <p:cNvSpPr>
              <a:spLocks noChangeArrowheads="1"/>
            </p:cNvSpPr>
            <p:nvPr/>
          </p:nvSpPr>
          <p:spPr bwMode="auto">
            <a:xfrm>
              <a:off x="698" y="974"/>
              <a:ext cx="24" cy="387"/>
            </a:xfrm>
            <a:prstGeom prst="rect">
              <a:avLst/>
            </a:prstGeom>
            <a:solidFill>
              <a:schemeClr val="tx2"/>
            </a:solidFill>
            <a:ln w="28575">
              <a:solidFill>
                <a:schemeClr val="tx2"/>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75" name="Freeform 93"/>
            <p:cNvSpPr/>
            <p:nvPr/>
          </p:nvSpPr>
          <p:spPr bwMode="auto">
            <a:xfrm>
              <a:off x="666" y="1343"/>
              <a:ext cx="72" cy="85"/>
            </a:xfrm>
            <a:custGeom>
              <a:avLst/>
              <a:gdLst>
                <a:gd name="T0" fmla="*/ 0 w 72"/>
                <a:gd name="T1" fmla="*/ 0 h 85"/>
                <a:gd name="T2" fmla="*/ 40 w 72"/>
                <a:gd name="T3" fmla="*/ 85 h 85"/>
                <a:gd name="T4" fmla="*/ 72 w 72"/>
                <a:gd name="T5" fmla="*/ 0 h 85"/>
                <a:gd name="T6" fmla="*/ 0 w 72"/>
                <a:gd name="T7" fmla="*/ 0 h 85"/>
                <a:gd name="T8" fmla="*/ 0 60000 65536"/>
                <a:gd name="T9" fmla="*/ 0 60000 65536"/>
                <a:gd name="T10" fmla="*/ 0 60000 65536"/>
                <a:gd name="T11" fmla="*/ 0 60000 65536"/>
                <a:gd name="T12" fmla="*/ 0 w 72"/>
                <a:gd name="T13" fmla="*/ 0 h 85"/>
                <a:gd name="T14" fmla="*/ 72 w 72"/>
                <a:gd name="T15" fmla="*/ 85 h 85"/>
              </a:gdLst>
              <a:ahLst/>
              <a:cxnLst>
                <a:cxn ang="T8">
                  <a:pos x="T0" y="T1"/>
                </a:cxn>
                <a:cxn ang="T9">
                  <a:pos x="T2" y="T3"/>
                </a:cxn>
                <a:cxn ang="T10">
                  <a:pos x="T4" y="T5"/>
                </a:cxn>
                <a:cxn ang="T11">
                  <a:pos x="T6" y="T7"/>
                </a:cxn>
              </a:cxnLst>
              <a:rect l="T12" t="T13" r="T14" b="T15"/>
              <a:pathLst>
                <a:path w="72" h="85">
                  <a:moveTo>
                    <a:pt x="0" y="0"/>
                  </a:moveTo>
                  <a:lnTo>
                    <a:pt x="40" y="85"/>
                  </a:lnTo>
                  <a:lnTo>
                    <a:pt x="72" y="0"/>
                  </a:lnTo>
                  <a:lnTo>
                    <a:pt x="0" y="0"/>
                  </a:lnTo>
                  <a:close/>
                </a:path>
              </a:pathLst>
            </a:custGeom>
            <a:solidFill>
              <a:schemeClr val="tx2"/>
            </a:solidFill>
            <a:ln w="28575">
              <a:solidFill>
                <a:schemeClr val="tx2"/>
              </a:solidFill>
              <a:round/>
            </a:ln>
          </p:spPr>
          <p:txBody>
            <a:bodyPr/>
            <a:lstStyle/>
            <a:p>
              <a:endParaRPr lang="zh-CN" altLang="en-US"/>
            </a:p>
          </p:txBody>
        </p:sp>
      </p:grpSp>
      <p:grpSp>
        <p:nvGrpSpPr>
          <p:cNvPr id="27714" name="Group 94"/>
          <p:cNvGrpSpPr/>
          <p:nvPr/>
        </p:nvGrpSpPr>
        <p:grpSpPr bwMode="auto">
          <a:xfrm>
            <a:off x="2181225" y="1546225"/>
            <a:ext cx="128588" cy="825500"/>
            <a:chOff x="1374" y="974"/>
            <a:chExt cx="81" cy="520"/>
          </a:xfrm>
        </p:grpSpPr>
        <p:sp>
          <p:nvSpPr>
            <p:cNvPr id="27771" name="Rectangle 95"/>
            <p:cNvSpPr>
              <a:spLocks noChangeArrowheads="1"/>
            </p:cNvSpPr>
            <p:nvPr/>
          </p:nvSpPr>
          <p:spPr bwMode="auto">
            <a:xfrm>
              <a:off x="1407" y="1040"/>
              <a:ext cx="24" cy="388"/>
            </a:xfrm>
            <a:prstGeom prst="rect">
              <a:avLst/>
            </a:prstGeom>
            <a:solidFill>
              <a:schemeClr val="tx2"/>
            </a:solidFill>
            <a:ln w="28575">
              <a:solidFill>
                <a:schemeClr val="tx2"/>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72" name="Freeform 96"/>
            <p:cNvSpPr/>
            <p:nvPr/>
          </p:nvSpPr>
          <p:spPr bwMode="auto">
            <a:xfrm>
              <a:off x="1382" y="974"/>
              <a:ext cx="73" cy="85"/>
            </a:xfrm>
            <a:custGeom>
              <a:avLst/>
              <a:gdLst>
                <a:gd name="T0" fmla="*/ 73 w 73"/>
                <a:gd name="T1" fmla="*/ 85 h 85"/>
                <a:gd name="T2" fmla="*/ 33 w 73"/>
                <a:gd name="T3" fmla="*/ 0 h 85"/>
                <a:gd name="T4" fmla="*/ 0 w 73"/>
                <a:gd name="T5" fmla="*/ 85 h 85"/>
                <a:gd name="T6" fmla="*/ 73 w 73"/>
                <a:gd name="T7" fmla="*/ 85 h 85"/>
                <a:gd name="T8" fmla="*/ 0 60000 65536"/>
                <a:gd name="T9" fmla="*/ 0 60000 65536"/>
                <a:gd name="T10" fmla="*/ 0 60000 65536"/>
                <a:gd name="T11" fmla="*/ 0 60000 65536"/>
                <a:gd name="T12" fmla="*/ 0 w 73"/>
                <a:gd name="T13" fmla="*/ 0 h 85"/>
                <a:gd name="T14" fmla="*/ 73 w 73"/>
                <a:gd name="T15" fmla="*/ 85 h 85"/>
              </a:gdLst>
              <a:ahLst/>
              <a:cxnLst>
                <a:cxn ang="T8">
                  <a:pos x="T0" y="T1"/>
                </a:cxn>
                <a:cxn ang="T9">
                  <a:pos x="T2" y="T3"/>
                </a:cxn>
                <a:cxn ang="T10">
                  <a:pos x="T4" y="T5"/>
                </a:cxn>
                <a:cxn ang="T11">
                  <a:pos x="T6" y="T7"/>
                </a:cxn>
              </a:cxnLst>
              <a:rect l="T12" t="T13" r="T14" b="T15"/>
              <a:pathLst>
                <a:path w="73" h="85">
                  <a:moveTo>
                    <a:pt x="73" y="85"/>
                  </a:moveTo>
                  <a:lnTo>
                    <a:pt x="33" y="0"/>
                  </a:lnTo>
                  <a:lnTo>
                    <a:pt x="0" y="85"/>
                  </a:lnTo>
                  <a:lnTo>
                    <a:pt x="73" y="85"/>
                  </a:lnTo>
                  <a:close/>
                </a:path>
              </a:pathLst>
            </a:custGeom>
            <a:solidFill>
              <a:schemeClr val="tx2"/>
            </a:solidFill>
            <a:ln w="28575">
              <a:solidFill>
                <a:schemeClr val="tx2"/>
              </a:solidFill>
              <a:round/>
            </a:ln>
          </p:spPr>
          <p:txBody>
            <a:bodyPr/>
            <a:lstStyle/>
            <a:p>
              <a:endParaRPr lang="zh-CN" altLang="en-US"/>
            </a:p>
          </p:txBody>
        </p:sp>
        <p:sp>
          <p:nvSpPr>
            <p:cNvPr id="27773" name="Freeform 97"/>
            <p:cNvSpPr/>
            <p:nvPr/>
          </p:nvSpPr>
          <p:spPr bwMode="auto">
            <a:xfrm>
              <a:off x="1374" y="1409"/>
              <a:ext cx="73" cy="85"/>
            </a:xfrm>
            <a:custGeom>
              <a:avLst/>
              <a:gdLst>
                <a:gd name="T0" fmla="*/ 0 w 73"/>
                <a:gd name="T1" fmla="*/ 0 h 85"/>
                <a:gd name="T2" fmla="*/ 41 w 73"/>
                <a:gd name="T3" fmla="*/ 85 h 85"/>
                <a:gd name="T4" fmla="*/ 73 w 73"/>
                <a:gd name="T5" fmla="*/ 0 h 85"/>
                <a:gd name="T6" fmla="*/ 0 w 73"/>
                <a:gd name="T7" fmla="*/ 0 h 85"/>
                <a:gd name="T8" fmla="*/ 0 60000 65536"/>
                <a:gd name="T9" fmla="*/ 0 60000 65536"/>
                <a:gd name="T10" fmla="*/ 0 60000 65536"/>
                <a:gd name="T11" fmla="*/ 0 60000 65536"/>
                <a:gd name="T12" fmla="*/ 0 w 73"/>
                <a:gd name="T13" fmla="*/ 0 h 85"/>
                <a:gd name="T14" fmla="*/ 73 w 73"/>
                <a:gd name="T15" fmla="*/ 85 h 85"/>
              </a:gdLst>
              <a:ahLst/>
              <a:cxnLst>
                <a:cxn ang="T8">
                  <a:pos x="T0" y="T1"/>
                </a:cxn>
                <a:cxn ang="T9">
                  <a:pos x="T2" y="T3"/>
                </a:cxn>
                <a:cxn ang="T10">
                  <a:pos x="T4" y="T5"/>
                </a:cxn>
                <a:cxn ang="T11">
                  <a:pos x="T6" y="T7"/>
                </a:cxn>
              </a:cxnLst>
              <a:rect l="T12" t="T13" r="T14" b="T15"/>
              <a:pathLst>
                <a:path w="73" h="85">
                  <a:moveTo>
                    <a:pt x="0" y="0"/>
                  </a:moveTo>
                  <a:lnTo>
                    <a:pt x="41" y="85"/>
                  </a:lnTo>
                  <a:lnTo>
                    <a:pt x="73" y="0"/>
                  </a:lnTo>
                  <a:lnTo>
                    <a:pt x="0" y="0"/>
                  </a:lnTo>
                  <a:close/>
                </a:path>
              </a:pathLst>
            </a:custGeom>
            <a:solidFill>
              <a:schemeClr val="tx2"/>
            </a:solidFill>
            <a:ln w="28575">
              <a:solidFill>
                <a:schemeClr val="tx2"/>
              </a:solidFill>
              <a:round/>
            </a:ln>
          </p:spPr>
          <p:txBody>
            <a:bodyPr/>
            <a:lstStyle/>
            <a:p>
              <a:endParaRPr lang="zh-CN" altLang="en-US"/>
            </a:p>
          </p:txBody>
        </p:sp>
      </p:grpSp>
      <p:sp>
        <p:nvSpPr>
          <p:cNvPr id="27715" name="Rectangle 98"/>
          <p:cNvSpPr>
            <a:spLocks noChangeArrowheads="1"/>
          </p:cNvSpPr>
          <p:nvPr/>
        </p:nvSpPr>
        <p:spPr bwMode="auto">
          <a:xfrm>
            <a:off x="2246313" y="2041525"/>
            <a:ext cx="2351087" cy="44450"/>
          </a:xfrm>
          <a:prstGeom prst="rect">
            <a:avLst/>
          </a:prstGeom>
          <a:solidFill>
            <a:schemeClr val="tx2"/>
          </a:solidFill>
          <a:ln w="9525">
            <a:solidFill>
              <a:schemeClr val="tx2"/>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7716" name="Group 99"/>
          <p:cNvGrpSpPr/>
          <p:nvPr/>
        </p:nvGrpSpPr>
        <p:grpSpPr bwMode="auto">
          <a:xfrm>
            <a:off x="3408363" y="2055813"/>
            <a:ext cx="115887" cy="315912"/>
            <a:chOff x="2147" y="1295"/>
            <a:chExt cx="73" cy="199"/>
          </a:xfrm>
        </p:grpSpPr>
        <p:sp>
          <p:nvSpPr>
            <p:cNvPr id="27769" name="Rectangle 100"/>
            <p:cNvSpPr>
              <a:spLocks noChangeArrowheads="1"/>
            </p:cNvSpPr>
            <p:nvPr/>
          </p:nvSpPr>
          <p:spPr bwMode="auto">
            <a:xfrm>
              <a:off x="2179" y="1295"/>
              <a:ext cx="25" cy="13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70" name="Freeform 101"/>
            <p:cNvSpPr/>
            <p:nvPr/>
          </p:nvSpPr>
          <p:spPr bwMode="auto">
            <a:xfrm>
              <a:off x="2147" y="1409"/>
              <a:ext cx="73" cy="85"/>
            </a:xfrm>
            <a:custGeom>
              <a:avLst/>
              <a:gdLst>
                <a:gd name="T0" fmla="*/ 0 w 73"/>
                <a:gd name="T1" fmla="*/ 0 h 85"/>
                <a:gd name="T2" fmla="*/ 41 w 73"/>
                <a:gd name="T3" fmla="*/ 85 h 85"/>
                <a:gd name="T4" fmla="*/ 73 w 73"/>
                <a:gd name="T5" fmla="*/ 0 h 85"/>
                <a:gd name="T6" fmla="*/ 0 w 73"/>
                <a:gd name="T7" fmla="*/ 0 h 85"/>
                <a:gd name="T8" fmla="*/ 0 60000 65536"/>
                <a:gd name="T9" fmla="*/ 0 60000 65536"/>
                <a:gd name="T10" fmla="*/ 0 60000 65536"/>
                <a:gd name="T11" fmla="*/ 0 60000 65536"/>
                <a:gd name="T12" fmla="*/ 0 w 73"/>
                <a:gd name="T13" fmla="*/ 0 h 85"/>
                <a:gd name="T14" fmla="*/ 73 w 73"/>
                <a:gd name="T15" fmla="*/ 85 h 85"/>
              </a:gdLst>
              <a:ahLst/>
              <a:cxnLst>
                <a:cxn ang="T8">
                  <a:pos x="T0" y="T1"/>
                </a:cxn>
                <a:cxn ang="T9">
                  <a:pos x="T2" y="T3"/>
                </a:cxn>
                <a:cxn ang="T10">
                  <a:pos x="T4" y="T5"/>
                </a:cxn>
                <a:cxn ang="T11">
                  <a:pos x="T6" y="T7"/>
                </a:cxn>
              </a:cxnLst>
              <a:rect l="T12" t="T13" r="T14" b="T15"/>
              <a:pathLst>
                <a:path w="73" h="85">
                  <a:moveTo>
                    <a:pt x="0" y="0"/>
                  </a:moveTo>
                  <a:lnTo>
                    <a:pt x="41" y="85"/>
                  </a:lnTo>
                  <a:lnTo>
                    <a:pt x="73" y="0"/>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27717" name="Group 102"/>
          <p:cNvGrpSpPr/>
          <p:nvPr/>
        </p:nvGrpSpPr>
        <p:grpSpPr bwMode="auto">
          <a:xfrm>
            <a:off x="4533900" y="2055813"/>
            <a:ext cx="114300" cy="315912"/>
            <a:chOff x="2856" y="1295"/>
            <a:chExt cx="72" cy="199"/>
          </a:xfrm>
        </p:grpSpPr>
        <p:sp>
          <p:nvSpPr>
            <p:cNvPr id="27767" name="Rectangle 103"/>
            <p:cNvSpPr>
              <a:spLocks noChangeArrowheads="1"/>
            </p:cNvSpPr>
            <p:nvPr/>
          </p:nvSpPr>
          <p:spPr bwMode="auto">
            <a:xfrm>
              <a:off x="2888" y="1295"/>
              <a:ext cx="24" cy="13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7768" name="Freeform 104"/>
            <p:cNvSpPr/>
            <p:nvPr/>
          </p:nvSpPr>
          <p:spPr bwMode="auto">
            <a:xfrm>
              <a:off x="2856" y="1409"/>
              <a:ext cx="72" cy="85"/>
            </a:xfrm>
            <a:custGeom>
              <a:avLst/>
              <a:gdLst>
                <a:gd name="T0" fmla="*/ 0 w 72"/>
                <a:gd name="T1" fmla="*/ 0 h 85"/>
                <a:gd name="T2" fmla="*/ 40 w 72"/>
                <a:gd name="T3" fmla="*/ 85 h 85"/>
                <a:gd name="T4" fmla="*/ 72 w 72"/>
                <a:gd name="T5" fmla="*/ 0 h 85"/>
                <a:gd name="T6" fmla="*/ 0 w 72"/>
                <a:gd name="T7" fmla="*/ 0 h 85"/>
                <a:gd name="T8" fmla="*/ 0 60000 65536"/>
                <a:gd name="T9" fmla="*/ 0 60000 65536"/>
                <a:gd name="T10" fmla="*/ 0 60000 65536"/>
                <a:gd name="T11" fmla="*/ 0 60000 65536"/>
                <a:gd name="T12" fmla="*/ 0 w 72"/>
                <a:gd name="T13" fmla="*/ 0 h 85"/>
                <a:gd name="T14" fmla="*/ 72 w 72"/>
                <a:gd name="T15" fmla="*/ 85 h 85"/>
              </a:gdLst>
              <a:ahLst/>
              <a:cxnLst>
                <a:cxn ang="T8">
                  <a:pos x="T0" y="T1"/>
                </a:cxn>
                <a:cxn ang="T9">
                  <a:pos x="T2" y="T3"/>
                </a:cxn>
                <a:cxn ang="T10">
                  <a:pos x="T4" y="T5"/>
                </a:cxn>
                <a:cxn ang="T11">
                  <a:pos x="T6" y="T7"/>
                </a:cxn>
              </a:cxnLst>
              <a:rect l="T12" t="T13" r="T14" b="T15"/>
              <a:pathLst>
                <a:path w="72" h="85">
                  <a:moveTo>
                    <a:pt x="0" y="0"/>
                  </a:moveTo>
                  <a:lnTo>
                    <a:pt x="40" y="85"/>
                  </a:lnTo>
                  <a:lnTo>
                    <a:pt x="72" y="0"/>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27718" name="Group 105"/>
          <p:cNvGrpSpPr/>
          <p:nvPr/>
        </p:nvGrpSpPr>
        <p:grpSpPr bwMode="auto">
          <a:xfrm>
            <a:off x="1427163" y="2536825"/>
            <a:ext cx="307975" cy="104775"/>
            <a:chOff x="899" y="1598"/>
            <a:chExt cx="194" cy="66"/>
          </a:xfrm>
        </p:grpSpPr>
        <p:sp>
          <p:nvSpPr>
            <p:cNvPr id="27765" name="Line 106"/>
            <p:cNvSpPr>
              <a:spLocks noChangeShapeType="1"/>
            </p:cNvSpPr>
            <p:nvPr/>
          </p:nvSpPr>
          <p:spPr bwMode="auto">
            <a:xfrm>
              <a:off x="899" y="1626"/>
              <a:ext cx="194" cy="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66" name="Freeform 107"/>
            <p:cNvSpPr/>
            <p:nvPr/>
          </p:nvSpPr>
          <p:spPr bwMode="auto">
            <a:xfrm>
              <a:off x="1044" y="1598"/>
              <a:ext cx="49" cy="66"/>
            </a:xfrm>
            <a:custGeom>
              <a:avLst/>
              <a:gdLst>
                <a:gd name="T0" fmla="*/ 0 w 49"/>
                <a:gd name="T1" fmla="*/ 66 h 66"/>
                <a:gd name="T2" fmla="*/ 49 w 49"/>
                <a:gd name="T3" fmla="*/ 28 h 66"/>
                <a:gd name="T4" fmla="*/ 0 w 49"/>
                <a:gd name="T5" fmla="*/ 0 h 66"/>
                <a:gd name="T6" fmla="*/ 0 60000 65536"/>
                <a:gd name="T7" fmla="*/ 0 60000 65536"/>
                <a:gd name="T8" fmla="*/ 0 60000 65536"/>
                <a:gd name="T9" fmla="*/ 0 w 49"/>
                <a:gd name="T10" fmla="*/ 0 h 66"/>
                <a:gd name="T11" fmla="*/ 49 w 49"/>
                <a:gd name="T12" fmla="*/ 66 h 66"/>
              </a:gdLst>
              <a:ahLst/>
              <a:cxnLst>
                <a:cxn ang="T6">
                  <a:pos x="T0" y="T1"/>
                </a:cxn>
                <a:cxn ang="T7">
                  <a:pos x="T2" y="T3"/>
                </a:cxn>
                <a:cxn ang="T8">
                  <a:pos x="T4" y="T5"/>
                </a:cxn>
              </a:cxnLst>
              <a:rect l="T9" t="T10" r="T11" b="T12"/>
              <a:pathLst>
                <a:path w="49" h="66">
                  <a:moveTo>
                    <a:pt x="0" y="66"/>
                  </a:moveTo>
                  <a:lnTo>
                    <a:pt x="49" y="28"/>
                  </a:lnTo>
                  <a:lnTo>
                    <a:pt x="0" y="0"/>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19" name="Group 108"/>
          <p:cNvGrpSpPr/>
          <p:nvPr/>
        </p:nvGrpSpPr>
        <p:grpSpPr bwMode="auto">
          <a:xfrm>
            <a:off x="2859088" y="2536825"/>
            <a:ext cx="103187" cy="104775"/>
            <a:chOff x="1801" y="1598"/>
            <a:chExt cx="65" cy="66"/>
          </a:xfrm>
        </p:grpSpPr>
        <p:sp>
          <p:nvSpPr>
            <p:cNvPr id="27763" name="Line 109"/>
            <p:cNvSpPr>
              <a:spLocks noChangeShapeType="1"/>
            </p:cNvSpPr>
            <p:nvPr/>
          </p:nvSpPr>
          <p:spPr bwMode="auto">
            <a:xfrm>
              <a:off x="1801" y="1626"/>
              <a:ext cx="65" cy="1"/>
            </a:xfrm>
            <a:prstGeom prst="line">
              <a:avLst/>
            </a:prstGeom>
            <a:noFill/>
            <a:ln w="25400">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64" name="Freeform 110"/>
            <p:cNvSpPr/>
            <p:nvPr/>
          </p:nvSpPr>
          <p:spPr bwMode="auto">
            <a:xfrm>
              <a:off x="1817" y="1598"/>
              <a:ext cx="49" cy="66"/>
            </a:xfrm>
            <a:custGeom>
              <a:avLst/>
              <a:gdLst>
                <a:gd name="T0" fmla="*/ 0 w 49"/>
                <a:gd name="T1" fmla="*/ 66 h 66"/>
                <a:gd name="T2" fmla="*/ 49 w 49"/>
                <a:gd name="T3" fmla="*/ 28 h 66"/>
                <a:gd name="T4" fmla="*/ 0 w 49"/>
                <a:gd name="T5" fmla="*/ 0 h 66"/>
                <a:gd name="T6" fmla="*/ 0 60000 65536"/>
                <a:gd name="T7" fmla="*/ 0 60000 65536"/>
                <a:gd name="T8" fmla="*/ 0 60000 65536"/>
                <a:gd name="T9" fmla="*/ 0 w 49"/>
                <a:gd name="T10" fmla="*/ 0 h 66"/>
                <a:gd name="T11" fmla="*/ 49 w 49"/>
                <a:gd name="T12" fmla="*/ 66 h 66"/>
              </a:gdLst>
              <a:ahLst/>
              <a:cxnLst>
                <a:cxn ang="T6">
                  <a:pos x="T0" y="T1"/>
                </a:cxn>
                <a:cxn ang="T7">
                  <a:pos x="T2" y="T3"/>
                </a:cxn>
                <a:cxn ang="T8">
                  <a:pos x="T4" y="T5"/>
                </a:cxn>
              </a:cxnLst>
              <a:rect l="T9" t="T10" r="T11" b="T12"/>
              <a:pathLst>
                <a:path w="49" h="66">
                  <a:moveTo>
                    <a:pt x="0" y="66"/>
                  </a:moveTo>
                  <a:lnTo>
                    <a:pt x="49" y="28"/>
                  </a:lnTo>
                  <a:lnTo>
                    <a:pt x="0" y="0"/>
                  </a:lnTo>
                </a:path>
              </a:pathLst>
            </a:custGeom>
            <a:noFill/>
            <a:ln w="25400">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20" name="Group 111"/>
          <p:cNvGrpSpPr/>
          <p:nvPr/>
        </p:nvGrpSpPr>
        <p:grpSpPr bwMode="auto">
          <a:xfrm>
            <a:off x="4086225" y="2536825"/>
            <a:ext cx="101600" cy="104775"/>
            <a:chOff x="2574" y="1598"/>
            <a:chExt cx="64" cy="66"/>
          </a:xfrm>
        </p:grpSpPr>
        <p:sp>
          <p:nvSpPr>
            <p:cNvPr id="27761" name="Line 112"/>
            <p:cNvSpPr>
              <a:spLocks noChangeShapeType="1"/>
            </p:cNvSpPr>
            <p:nvPr/>
          </p:nvSpPr>
          <p:spPr bwMode="auto">
            <a:xfrm>
              <a:off x="2574" y="1626"/>
              <a:ext cx="64" cy="1"/>
            </a:xfrm>
            <a:prstGeom prst="line">
              <a:avLst/>
            </a:prstGeom>
            <a:noFill/>
            <a:ln w="25400">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62" name="Freeform 113"/>
            <p:cNvSpPr/>
            <p:nvPr/>
          </p:nvSpPr>
          <p:spPr bwMode="auto">
            <a:xfrm>
              <a:off x="2590" y="1598"/>
              <a:ext cx="48" cy="66"/>
            </a:xfrm>
            <a:custGeom>
              <a:avLst/>
              <a:gdLst>
                <a:gd name="T0" fmla="*/ 0 w 48"/>
                <a:gd name="T1" fmla="*/ 66 h 66"/>
                <a:gd name="T2" fmla="*/ 48 w 48"/>
                <a:gd name="T3" fmla="*/ 28 h 66"/>
                <a:gd name="T4" fmla="*/ 0 w 48"/>
                <a:gd name="T5" fmla="*/ 0 h 66"/>
                <a:gd name="T6" fmla="*/ 0 60000 65536"/>
                <a:gd name="T7" fmla="*/ 0 60000 65536"/>
                <a:gd name="T8" fmla="*/ 0 60000 65536"/>
                <a:gd name="T9" fmla="*/ 0 w 48"/>
                <a:gd name="T10" fmla="*/ 0 h 66"/>
                <a:gd name="T11" fmla="*/ 48 w 48"/>
                <a:gd name="T12" fmla="*/ 66 h 66"/>
              </a:gdLst>
              <a:ahLst/>
              <a:cxnLst>
                <a:cxn ang="T6">
                  <a:pos x="T0" y="T1"/>
                </a:cxn>
                <a:cxn ang="T7">
                  <a:pos x="T2" y="T3"/>
                </a:cxn>
                <a:cxn ang="T8">
                  <a:pos x="T4" y="T5"/>
                </a:cxn>
              </a:cxnLst>
              <a:rect l="T9" t="T10" r="T11" b="T12"/>
              <a:pathLst>
                <a:path w="48" h="66">
                  <a:moveTo>
                    <a:pt x="0" y="66"/>
                  </a:moveTo>
                  <a:lnTo>
                    <a:pt x="48" y="28"/>
                  </a:lnTo>
                  <a:lnTo>
                    <a:pt x="0" y="0"/>
                  </a:lnTo>
                </a:path>
              </a:pathLst>
            </a:custGeom>
            <a:noFill/>
            <a:ln w="25400">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7721" name="Line 114"/>
          <p:cNvSpPr>
            <a:spLocks noChangeShapeType="1"/>
          </p:cNvSpPr>
          <p:nvPr/>
        </p:nvSpPr>
        <p:spPr bwMode="auto">
          <a:xfrm>
            <a:off x="2859088" y="2581275"/>
            <a:ext cx="1587" cy="315913"/>
          </a:xfrm>
          <a:prstGeom prst="line">
            <a:avLst/>
          </a:prstGeom>
          <a:noFill/>
          <a:ln w="25400">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22" name="Line 115"/>
          <p:cNvSpPr>
            <a:spLocks noChangeShapeType="1"/>
          </p:cNvSpPr>
          <p:nvPr/>
        </p:nvSpPr>
        <p:spPr bwMode="auto">
          <a:xfrm>
            <a:off x="1427163" y="2897188"/>
            <a:ext cx="1431925" cy="1587"/>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23" name="Line 116"/>
          <p:cNvSpPr>
            <a:spLocks noChangeShapeType="1"/>
          </p:cNvSpPr>
          <p:nvPr/>
        </p:nvSpPr>
        <p:spPr bwMode="auto">
          <a:xfrm>
            <a:off x="1427163" y="3211513"/>
            <a:ext cx="2659062" cy="1587"/>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24" name="Line 117"/>
          <p:cNvSpPr>
            <a:spLocks noChangeShapeType="1"/>
          </p:cNvSpPr>
          <p:nvPr/>
        </p:nvSpPr>
        <p:spPr bwMode="auto">
          <a:xfrm>
            <a:off x="4086225" y="2581275"/>
            <a:ext cx="1588" cy="630238"/>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7725" name="Group 118"/>
          <p:cNvGrpSpPr/>
          <p:nvPr/>
        </p:nvGrpSpPr>
        <p:grpSpPr bwMode="auto">
          <a:xfrm>
            <a:off x="1900238" y="2792413"/>
            <a:ext cx="90487" cy="1244600"/>
            <a:chOff x="1197" y="1759"/>
            <a:chExt cx="57" cy="784"/>
          </a:xfrm>
        </p:grpSpPr>
        <p:sp>
          <p:nvSpPr>
            <p:cNvPr id="27759" name="Line 119"/>
            <p:cNvSpPr>
              <a:spLocks noChangeShapeType="1"/>
            </p:cNvSpPr>
            <p:nvPr/>
          </p:nvSpPr>
          <p:spPr bwMode="auto">
            <a:xfrm flipV="1">
              <a:off x="1221" y="1759"/>
              <a:ext cx="1" cy="78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60" name="Freeform 120"/>
            <p:cNvSpPr/>
            <p:nvPr/>
          </p:nvSpPr>
          <p:spPr bwMode="auto">
            <a:xfrm>
              <a:off x="1197" y="1759"/>
              <a:ext cx="57" cy="56"/>
            </a:xfrm>
            <a:custGeom>
              <a:avLst/>
              <a:gdLst>
                <a:gd name="T0" fmla="*/ 57 w 57"/>
                <a:gd name="T1" fmla="*/ 56 h 56"/>
                <a:gd name="T2" fmla="*/ 24 w 57"/>
                <a:gd name="T3" fmla="*/ 0 h 56"/>
                <a:gd name="T4" fmla="*/ 0 w 57"/>
                <a:gd name="T5" fmla="*/ 56 h 56"/>
                <a:gd name="T6" fmla="*/ 0 60000 65536"/>
                <a:gd name="T7" fmla="*/ 0 60000 65536"/>
                <a:gd name="T8" fmla="*/ 0 60000 65536"/>
                <a:gd name="T9" fmla="*/ 0 w 57"/>
                <a:gd name="T10" fmla="*/ 0 h 56"/>
                <a:gd name="T11" fmla="*/ 57 w 57"/>
                <a:gd name="T12" fmla="*/ 56 h 56"/>
              </a:gdLst>
              <a:ahLst/>
              <a:cxnLst>
                <a:cxn ang="T6">
                  <a:pos x="T0" y="T1"/>
                </a:cxn>
                <a:cxn ang="T7">
                  <a:pos x="T2" y="T3"/>
                </a:cxn>
                <a:cxn ang="T8">
                  <a:pos x="T4" y="T5"/>
                </a:cxn>
              </a:cxnLst>
              <a:rect l="T9" t="T10" r="T11" b="T12"/>
              <a:pathLst>
                <a:path w="57" h="56">
                  <a:moveTo>
                    <a:pt x="57" y="56"/>
                  </a:moveTo>
                  <a:lnTo>
                    <a:pt x="24" y="0"/>
                  </a:lnTo>
                  <a:lnTo>
                    <a:pt x="0" y="56"/>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26" name="Group 121"/>
          <p:cNvGrpSpPr/>
          <p:nvPr/>
        </p:nvGrpSpPr>
        <p:grpSpPr bwMode="auto">
          <a:xfrm>
            <a:off x="2105025" y="2792413"/>
            <a:ext cx="88900" cy="1244600"/>
            <a:chOff x="1326" y="1759"/>
            <a:chExt cx="56" cy="784"/>
          </a:xfrm>
        </p:grpSpPr>
        <p:sp>
          <p:nvSpPr>
            <p:cNvPr id="27757" name="Line 122"/>
            <p:cNvSpPr>
              <a:spLocks noChangeShapeType="1"/>
            </p:cNvSpPr>
            <p:nvPr/>
          </p:nvSpPr>
          <p:spPr bwMode="auto">
            <a:xfrm flipV="1">
              <a:off x="1350" y="1759"/>
              <a:ext cx="1" cy="78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58" name="Freeform 123"/>
            <p:cNvSpPr/>
            <p:nvPr/>
          </p:nvSpPr>
          <p:spPr bwMode="auto">
            <a:xfrm>
              <a:off x="1326" y="1759"/>
              <a:ext cx="56" cy="56"/>
            </a:xfrm>
            <a:custGeom>
              <a:avLst/>
              <a:gdLst>
                <a:gd name="T0" fmla="*/ 56 w 56"/>
                <a:gd name="T1" fmla="*/ 56 h 56"/>
                <a:gd name="T2" fmla="*/ 24 w 56"/>
                <a:gd name="T3" fmla="*/ 0 h 56"/>
                <a:gd name="T4" fmla="*/ 0 w 56"/>
                <a:gd name="T5" fmla="*/ 56 h 56"/>
                <a:gd name="T6" fmla="*/ 0 60000 65536"/>
                <a:gd name="T7" fmla="*/ 0 60000 65536"/>
                <a:gd name="T8" fmla="*/ 0 60000 65536"/>
                <a:gd name="T9" fmla="*/ 0 w 56"/>
                <a:gd name="T10" fmla="*/ 0 h 56"/>
                <a:gd name="T11" fmla="*/ 56 w 56"/>
                <a:gd name="T12" fmla="*/ 56 h 56"/>
              </a:gdLst>
              <a:ahLst/>
              <a:cxnLst>
                <a:cxn ang="T6">
                  <a:pos x="T0" y="T1"/>
                </a:cxn>
                <a:cxn ang="T7">
                  <a:pos x="T2" y="T3"/>
                </a:cxn>
                <a:cxn ang="T8">
                  <a:pos x="T4" y="T5"/>
                </a:cxn>
              </a:cxnLst>
              <a:rect l="T9" t="T10" r="T11" b="T12"/>
              <a:pathLst>
                <a:path w="56" h="56">
                  <a:moveTo>
                    <a:pt x="56" y="56"/>
                  </a:moveTo>
                  <a:lnTo>
                    <a:pt x="24" y="0"/>
                  </a:lnTo>
                  <a:lnTo>
                    <a:pt x="0" y="56"/>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27" name="Group 124"/>
          <p:cNvGrpSpPr/>
          <p:nvPr/>
        </p:nvGrpSpPr>
        <p:grpSpPr bwMode="auto">
          <a:xfrm>
            <a:off x="2411413" y="2792413"/>
            <a:ext cx="90487" cy="1244600"/>
            <a:chOff x="1519" y="1759"/>
            <a:chExt cx="57" cy="784"/>
          </a:xfrm>
        </p:grpSpPr>
        <p:sp>
          <p:nvSpPr>
            <p:cNvPr id="27755" name="Line 125"/>
            <p:cNvSpPr>
              <a:spLocks noChangeShapeType="1"/>
            </p:cNvSpPr>
            <p:nvPr/>
          </p:nvSpPr>
          <p:spPr bwMode="auto">
            <a:xfrm flipV="1">
              <a:off x="1543" y="1759"/>
              <a:ext cx="1" cy="78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56" name="Freeform 126"/>
            <p:cNvSpPr/>
            <p:nvPr/>
          </p:nvSpPr>
          <p:spPr bwMode="auto">
            <a:xfrm>
              <a:off x="1519" y="1759"/>
              <a:ext cx="57" cy="56"/>
            </a:xfrm>
            <a:custGeom>
              <a:avLst/>
              <a:gdLst>
                <a:gd name="T0" fmla="*/ 57 w 57"/>
                <a:gd name="T1" fmla="*/ 56 h 56"/>
                <a:gd name="T2" fmla="*/ 24 w 57"/>
                <a:gd name="T3" fmla="*/ 0 h 56"/>
                <a:gd name="T4" fmla="*/ 0 w 57"/>
                <a:gd name="T5" fmla="*/ 56 h 56"/>
                <a:gd name="T6" fmla="*/ 0 60000 65536"/>
                <a:gd name="T7" fmla="*/ 0 60000 65536"/>
                <a:gd name="T8" fmla="*/ 0 60000 65536"/>
                <a:gd name="T9" fmla="*/ 0 w 57"/>
                <a:gd name="T10" fmla="*/ 0 h 56"/>
                <a:gd name="T11" fmla="*/ 57 w 57"/>
                <a:gd name="T12" fmla="*/ 56 h 56"/>
              </a:gdLst>
              <a:ahLst/>
              <a:cxnLst>
                <a:cxn ang="T6">
                  <a:pos x="T0" y="T1"/>
                </a:cxn>
                <a:cxn ang="T7">
                  <a:pos x="T2" y="T3"/>
                </a:cxn>
                <a:cxn ang="T8">
                  <a:pos x="T4" y="T5"/>
                </a:cxn>
              </a:cxnLst>
              <a:rect l="T9" t="T10" r="T11" b="T12"/>
              <a:pathLst>
                <a:path w="57" h="56">
                  <a:moveTo>
                    <a:pt x="57" y="56"/>
                  </a:moveTo>
                  <a:lnTo>
                    <a:pt x="24" y="0"/>
                  </a:lnTo>
                  <a:lnTo>
                    <a:pt x="0" y="56"/>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28" name="Group 127"/>
          <p:cNvGrpSpPr/>
          <p:nvPr/>
        </p:nvGrpSpPr>
        <p:grpSpPr bwMode="auto">
          <a:xfrm>
            <a:off x="4341813" y="2792413"/>
            <a:ext cx="88900" cy="1244600"/>
            <a:chOff x="2735" y="1759"/>
            <a:chExt cx="56" cy="784"/>
          </a:xfrm>
        </p:grpSpPr>
        <p:sp>
          <p:nvSpPr>
            <p:cNvPr id="27753" name="Line 128"/>
            <p:cNvSpPr>
              <a:spLocks noChangeShapeType="1"/>
            </p:cNvSpPr>
            <p:nvPr/>
          </p:nvSpPr>
          <p:spPr bwMode="auto">
            <a:xfrm>
              <a:off x="2767" y="1759"/>
              <a:ext cx="1" cy="78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54" name="Freeform 129"/>
            <p:cNvSpPr/>
            <p:nvPr/>
          </p:nvSpPr>
          <p:spPr bwMode="auto">
            <a:xfrm>
              <a:off x="2735" y="2487"/>
              <a:ext cx="56" cy="56"/>
            </a:xfrm>
            <a:custGeom>
              <a:avLst/>
              <a:gdLst>
                <a:gd name="T0" fmla="*/ 0 w 56"/>
                <a:gd name="T1" fmla="*/ 0 h 56"/>
                <a:gd name="T2" fmla="*/ 32 w 56"/>
                <a:gd name="T3" fmla="*/ 56 h 56"/>
                <a:gd name="T4" fmla="*/ 56 w 56"/>
                <a:gd name="T5" fmla="*/ 0 h 56"/>
                <a:gd name="T6" fmla="*/ 0 60000 65536"/>
                <a:gd name="T7" fmla="*/ 0 60000 65536"/>
                <a:gd name="T8" fmla="*/ 0 60000 65536"/>
                <a:gd name="T9" fmla="*/ 0 w 56"/>
                <a:gd name="T10" fmla="*/ 0 h 56"/>
                <a:gd name="T11" fmla="*/ 56 w 56"/>
                <a:gd name="T12" fmla="*/ 56 h 56"/>
              </a:gdLst>
              <a:ahLst/>
              <a:cxnLst>
                <a:cxn ang="T6">
                  <a:pos x="T0" y="T1"/>
                </a:cxn>
                <a:cxn ang="T7">
                  <a:pos x="T2" y="T3"/>
                </a:cxn>
                <a:cxn ang="T8">
                  <a:pos x="T4" y="T5"/>
                </a:cxn>
              </a:cxnLst>
              <a:rect l="T9" t="T10" r="T11" b="T12"/>
              <a:pathLst>
                <a:path w="56" h="56">
                  <a:moveTo>
                    <a:pt x="0" y="0"/>
                  </a:moveTo>
                  <a:lnTo>
                    <a:pt x="32" y="56"/>
                  </a:lnTo>
                  <a:lnTo>
                    <a:pt x="56" y="0"/>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29" name="Group 130"/>
          <p:cNvGrpSpPr/>
          <p:nvPr/>
        </p:nvGrpSpPr>
        <p:grpSpPr bwMode="auto">
          <a:xfrm>
            <a:off x="4546600" y="2792413"/>
            <a:ext cx="88900" cy="1244600"/>
            <a:chOff x="2864" y="1759"/>
            <a:chExt cx="56" cy="784"/>
          </a:xfrm>
        </p:grpSpPr>
        <p:sp>
          <p:nvSpPr>
            <p:cNvPr id="27751" name="Line 131"/>
            <p:cNvSpPr>
              <a:spLocks noChangeShapeType="1"/>
            </p:cNvSpPr>
            <p:nvPr/>
          </p:nvSpPr>
          <p:spPr bwMode="auto">
            <a:xfrm>
              <a:off x="2896" y="1759"/>
              <a:ext cx="1" cy="78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52" name="Freeform 132"/>
            <p:cNvSpPr/>
            <p:nvPr/>
          </p:nvSpPr>
          <p:spPr bwMode="auto">
            <a:xfrm>
              <a:off x="2864" y="2487"/>
              <a:ext cx="56" cy="56"/>
            </a:xfrm>
            <a:custGeom>
              <a:avLst/>
              <a:gdLst>
                <a:gd name="T0" fmla="*/ 0 w 56"/>
                <a:gd name="T1" fmla="*/ 0 h 56"/>
                <a:gd name="T2" fmla="*/ 32 w 56"/>
                <a:gd name="T3" fmla="*/ 56 h 56"/>
                <a:gd name="T4" fmla="*/ 56 w 56"/>
                <a:gd name="T5" fmla="*/ 0 h 56"/>
                <a:gd name="T6" fmla="*/ 0 60000 65536"/>
                <a:gd name="T7" fmla="*/ 0 60000 65536"/>
                <a:gd name="T8" fmla="*/ 0 60000 65536"/>
                <a:gd name="T9" fmla="*/ 0 w 56"/>
                <a:gd name="T10" fmla="*/ 0 h 56"/>
                <a:gd name="T11" fmla="*/ 56 w 56"/>
                <a:gd name="T12" fmla="*/ 56 h 56"/>
              </a:gdLst>
              <a:ahLst/>
              <a:cxnLst>
                <a:cxn ang="T6">
                  <a:pos x="T0" y="T1"/>
                </a:cxn>
                <a:cxn ang="T7">
                  <a:pos x="T2" y="T3"/>
                </a:cxn>
                <a:cxn ang="T8">
                  <a:pos x="T4" y="T5"/>
                </a:cxn>
              </a:cxnLst>
              <a:rect l="T9" t="T10" r="T11" b="T12"/>
              <a:pathLst>
                <a:path w="56" h="56">
                  <a:moveTo>
                    <a:pt x="0" y="0"/>
                  </a:moveTo>
                  <a:lnTo>
                    <a:pt x="32" y="56"/>
                  </a:lnTo>
                  <a:lnTo>
                    <a:pt x="56" y="0"/>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30" name="Group 133"/>
          <p:cNvGrpSpPr/>
          <p:nvPr/>
        </p:nvGrpSpPr>
        <p:grpSpPr bwMode="auto">
          <a:xfrm>
            <a:off x="4852988" y="2792413"/>
            <a:ext cx="88900" cy="1244600"/>
            <a:chOff x="3057" y="1759"/>
            <a:chExt cx="56" cy="784"/>
          </a:xfrm>
        </p:grpSpPr>
        <p:sp>
          <p:nvSpPr>
            <p:cNvPr id="27749" name="Line 134"/>
            <p:cNvSpPr>
              <a:spLocks noChangeShapeType="1"/>
            </p:cNvSpPr>
            <p:nvPr/>
          </p:nvSpPr>
          <p:spPr bwMode="auto">
            <a:xfrm>
              <a:off x="3089" y="1759"/>
              <a:ext cx="1" cy="78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50" name="Freeform 135"/>
            <p:cNvSpPr/>
            <p:nvPr/>
          </p:nvSpPr>
          <p:spPr bwMode="auto">
            <a:xfrm>
              <a:off x="3057" y="2487"/>
              <a:ext cx="56" cy="56"/>
            </a:xfrm>
            <a:custGeom>
              <a:avLst/>
              <a:gdLst>
                <a:gd name="T0" fmla="*/ 0 w 56"/>
                <a:gd name="T1" fmla="*/ 0 h 56"/>
                <a:gd name="T2" fmla="*/ 32 w 56"/>
                <a:gd name="T3" fmla="*/ 56 h 56"/>
                <a:gd name="T4" fmla="*/ 56 w 56"/>
                <a:gd name="T5" fmla="*/ 0 h 56"/>
                <a:gd name="T6" fmla="*/ 0 60000 65536"/>
                <a:gd name="T7" fmla="*/ 0 60000 65536"/>
                <a:gd name="T8" fmla="*/ 0 60000 65536"/>
                <a:gd name="T9" fmla="*/ 0 w 56"/>
                <a:gd name="T10" fmla="*/ 0 h 56"/>
                <a:gd name="T11" fmla="*/ 56 w 56"/>
                <a:gd name="T12" fmla="*/ 56 h 56"/>
              </a:gdLst>
              <a:ahLst/>
              <a:cxnLst>
                <a:cxn ang="T6">
                  <a:pos x="T0" y="T1"/>
                </a:cxn>
                <a:cxn ang="T7">
                  <a:pos x="T2" y="T3"/>
                </a:cxn>
                <a:cxn ang="T8">
                  <a:pos x="T4" y="T5"/>
                </a:cxn>
              </a:cxnLst>
              <a:rect l="T9" t="T10" r="T11" b="T12"/>
              <a:pathLst>
                <a:path w="56" h="56">
                  <a:moveTo>
                    <a:pt x="0" y="0"/>
                  </a:moveTo>
                  <a:lnTo>
                    <a:pt x="32" y="56"/>
                  </a:lnTo>
                  <a:lnTo>
                    <a:pt x="56" y="0"/>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31" name="Group 136"/>
          <p:cNvGrpSpPr/>
          <p:nvPr/>
        </p:nvGrpSpPr>
        <p:grpSpPr bwMode="auto">
          <a:xfrm>
            <a:off x="3114675" y="2792413"/>
            <a:ext cx="103188" cy="1244600"/>
            <a:chOff x="1962" y="1759"/>
            <a:chExt cx="65" cy="784"/>
          </a:xfrm>
        </p:grpSpPr>
        <p:sp>
          <p:nvSpPr>
            <p:cNvPr id="27746" name="Line 137"/>
            <p:cNvSpPr>
              <a:spLocks noChangeShapeType="1"/>
            </p:cNvSpPr>
            <p:nvPr/>
          </p:nvSpPr>
          <p:spPr bwMode="auto">
            <a:xfrm>
              <a:off x="1994" y="1759"/>
              <a:ext cx="1" cy="78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47" name="Freeform 138"/>
            <p:cNvSpPr/>
            <p:nvPr/>
          </p:nvSpPr>
          <p:spPr bwMode="auto">
            <a:xfrm>
              <a:off x="1970" y="1759"/>
              <a:ext cx="57" cy="56"/>
            </a:xfrm>
            <a:custGeom>
              <a:avLst/>
              <a:gdLst>
                <a:gd name="T0" fmla="*/ 57 w 57"/>
                <a:gd name="T1" fmla="*/ 56 h 56"/>
                <a:gd name="T2" fmla="*/ 24 w 57"/>
                <a:gd name="T3" fmla="*/ 0 h 56"/>
                <a:gd name="T4" fmla="*/ 0 w 57"/>
                <a:gd name="T5" fmla="*/ 56 h 56"/>
                <a:gd name="T6" fmla="*/ 0 60000 65536"/>
                <a:gd name="T7" fmla="*/ 0 60000 65536"/>
                <a:gd name="T8" fmla="*/ 0 60000 65536"/>
                <a:gd name="T9" fmla="*/ 0 w 57"/>
                <a:gd name="T10" fmla="*/ 0 h 56"/>
                <a:gd name="T11" fmla="*/ 57 w 57"/>
                <a:gd name="T12" fmla="*/ 56 h 56"/>
              </a:gdLst>
              <a:ahLst/>
              <a:cxnLst>
                <a:cxn ang="T6">
                  <a:pos x="T0" y="T1"/>
                </a:cxn>
                <a:cxn ang="T7">
                  <a:pos x="T2" y="T3"/>
                </a:cxn>
                <a:cxn ang="T8">
                  <a:pos x="T4" y="T5"/>
                </a:cxn>
              </a:cxnLst>
              <a:rect l="T9" t="T10" r="T11" b="T12"/>
              <a:pathLst>
                <a:path w="57" h="56">
                  <a:moveTo>
                    <a:pt x="57" y="56"/>
                  </a:moveTo>
                  <a:lnTo>
                    <a:pt x="24" y="0"/>
                  </a:lnTo>
                  <a:lnTo>
                    <a:pt x="0" y="56"/>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48" name="Freeform 139"/>
            <p:cNvSpPr/>
            <p:nvPr/>
          </p:nvSpPr>
          <p:spPr bwMode="auto">
            <a:xfrm>
              <a:off x="1962" y="2487"/>
              <a:ext cx="56" cy="56"/>
            </a:xfrm>
            <a:custGeom>
              <a:avLst/>
              <a:gdLst>
                <a:gd name="T0" fmla="*/ 0 w 56"/>
                <a:gd name="T1" fmla="*/ 0 h 56"/>
                <a:gd name="T2" fmla="*/ 32 w 56"/>
                <a:gd name="T3" fmla="*/ 56 h 56"/>
                <a:gd name="T4" fmla="*/ 56 w 56"/>
                <a:gd name="T5" fmla="*/ 0 h 56"/>
                <a:gd name="T6" fmla="*/ 0 60000 65536"/>
                <a:gd name="T7" fmla="*/ 0 60000 65536"/>
                <a:gd name="T8" fmla="*/ 0 60000 65536"/>
                <a:gd name="T9" fmla="*/ 0 w 56"/>
                <a:gd name="T10" fmla="*/ 0 h 56"/>
                <a:gd name="T11" fmla="*/ 56 w 56"/>
                <a:gd name="T12" fmla="*/ 56 h 56"/>
              </a:gdLst>
              <a:ahLst/>
              <a:cxnLst>
                <a:cxn ang="T6">
                  <a:pos x="T0" y="T1"/>
                </a:cxn>
                <a:cxn ang="T7">
                  <a:pos x="T2" y="T3"/>
                </a:cxn>
                <a:cxn ang="T8">
                  <a:pos x="T4" y="T5"/>
                </a:cxn>
              </a:cxnLst>
              <a:rect l="T9" t="T10" r="T11" b="T12"/>
              <a:pathLst>
                <a:path w="56" h="56">
                  <a:moveTo>
                    <a:pt x="0" y="0"/>
                  </a:moveTo>
                  <a:lnTo>
                    <a:pt x="32" y="56"/>
                  </a:lnTo>
                  <a:lnTo>
                    <a:pt x="56" y="0"/>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32" name="Group 140"/>
          <p:cNvGrpSpPr/>
          <p:nvPr/>
        </p:nvGrpSpPr>
        <p:grpSpPr bwMode="auto">
          <a:xfrm>
            <a:off x="3319463" y="2792413"/>
            <a:ext cx="101600" cy="1244600"/>
            <a:chOff x="2091" y="1759"/>
            <a:chExt cx="64" cy="784"/>
          </a:xfrm>
        </p:grpSpPr>
        <p:sp>
          <p:nvSpPr>
            <p:cNvPr id="27743" name="Line 141"/>
            <p:cNvSpPr>
              <a:spLocks noChangeShapeType="1"/>
            </p:cNvSpPr>
            <p:nvPr/>
          </p:nvSpPr>
          <p:spPr bwMode="auto">
            <a:xfrm>
              <a:off x="2123" y="1759"/>
              <a:ext cx="1" cy="78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44" name="Freeform 142"/>
            <p:cNvSpPr/>
            <p:nvPr/>
          </p:nvSpPr>
          <p:spPr bwMode="auto">
            <a:xfrm>
              <a:off x="2099" y="1759"/>
              <a:ext cx="56" cy="56"/>
            </a:xfrm>
            <a:custGeom>
              <a:avLst/>
              <a:gdLst>
                <a:gd name="T0" fmla="*/ 56 w 56"/>
                <a:gd name="T1" fmla="*/ 56 h 56"/>
                <a:gd name="T2" fmla="*/ 24 w 56"/>
                <a:gd name="T3" fmla="*/ 0 h 56"/>
                <a:gd name="T4" fmla="*/ 0 w 56"/>
                <a:gd name="T5" fmla="*/ 56 h 56"/>
                <a:gd name="T6" fmla="*/ 0 60000 65536"/>
                <a:gd name="T7" fmla="*/ 0 60000 65536"/>
                <a:gd name="T8" fmla="*/ 0 60000 65536"/>
                <a:gd name="T9" fmla="*/ 0 w 56"/>
                <a:gd name="T10" fmla="*/ 0 h 56"/>
                <a:gd name="T11" fmla="*/ 56 w 56"/>
                <a:gd name="T12" fmla="*/ 56 h 56"/>
              </a:gdLst>
              <a:ahLst/>
              <a:cxnLst>
                <a:cxn ang="T6">
                  <a:pos x="T0" y="T1"/>
                </a:cxn>
                <a:cxn ang="T7">
                  <a:pos x="T2" y="T3"/>
                </a:cxn>
                <a:cxn ang="T8">
                  <a:pos x="T4" y="T5"/>
                </a:cxn>
              </a:cxnLst>
              <a:rect l="T9" t="T10" r="T11" b="T12"/>
              <a:pathLst>
                <a:path w="56" h="56">
                  <a:moveTo>
                    <a:pt x="56" y="56"/>
                  </a:moveTo>
                  <a:lnTo>
                    <a:pt x="24" y="0"/>
                  </a:lnTo>
                  <a:lnTo>
                    <a:pt x="0" y="56"/>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45" name="Freeform 143"/>
            <p:cNvSpPr/>
            <p:nvPr/>
          </p:nvSpPr>
          <p:spPr bwMode="auto">
            <a:xfrm>
              <a:off x="2091" y="2487"/>
              <a:ext cx="56" cy="56"/>
            </a:xfrm>
            <a:custGeom>
              <a:avLst/>
              <a:gdLst>
                <a:gd name="T0" fmla="*/ 0 w 56"/>
                <a:gd name="T1" fmla="*/ 0 h 56"/>
                <a:gd name="T2" fmla="*/ 32 w 56"/>
                <a:gd name="T3" fmla="*/ 56 h 56"/>
                <a:gd name="T4" fmla="*/ 56 w 56"/>
                <a:gd name="T5" fmla="*/ 0 h 56"/>
                <a:gd name="T6" fmla="*/ 0 60000 65536"/>
                <a:gd name="T7" fmla="*/ 0 60000 65536"/>
                <a:gd name="T8" fmla="*/ 0 60000 65536"/>
                <a:gd name="T9" fmla="*/ 0 w 56"/>
                <a:gd name="T10" fmla="*/ 0 h 56"/>
                <a:gd name="T11" fmla="*/ 56 w 56"/>
                <a:gd name="T12" fmla="*/ 56 h 56"/>
              </a:gdLst>
              <a:ahLst/>
              <a:cxnLst>
                <a:cxn ang="T6">
                  <a:pos x="T0" y="T1"/>
                </a:cxn>
                <a:cxn ang="T7">
                  <a:pos x="T2" y="T3"/>
                </a:cxn>
                <a:cxn ang="T8">
                  <a:pos x="T4" y="T5"/>
                </a:cxn>
              </a:cxnLst>
              <a:rect l="T9" t="T10" r="T11" b="T12"/>
              <a:pathLst>
                <a:path w="56" h="56">
                  <a:moveTo>
                    <a:pt x="0" y="0"/>
                  </a:moveTo>
                  <a:lnTo>
                    <a:pt x="32" y="56"/>
                  </a:lnTo>
                  <a:lnTo>
                    <a:pt x="56" y="0"/>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33" name="Group 144"/>
          <p:cNvGrpSpPr/>
          <p:nvPr/>
        </p:nvGrpSpPr>
        <p:grpSpPr bwMode="auto">
          <a:xfrm>
            <a:off x="3625850" y="2792413"/>
            <a:ext cx="103188" cy="1244600"/>
            <a:chOff x="2284" y="1759"/>
            <a:chExt cx="65" cy="784"/>
          </a:xfrm>
        </p:grpSpPr>
        <p:sp>
          <p:nvSpPr>
            <p:cNvPr id="27740" name="Line 145"/>
            <p:cNvSpPr>
              <a:spLocks noChangeShapeType="1"/>
            </p:cNvSpPr>
            <p:nvPr/>
          </p:nvSpPr>
          <p:spPr bwMode="auto">
            <a:xfrm>
              <a:off x="2316" y="1759"/>
              <a:ext cx="1" cy="784"/>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41" name="Freeform 146"/>
            <p:cNvSpPr/>
            <p:nvPr/>
          </p:nvSpPr>
          <p:spPr bwMode="auto">
            <a:xfrm>
              <a:off x="2292" y="1759"/>
              <a:ext cx="57" cy="56"/>
            </a:xfrm>
            <a:custGeom>
              <a:avLst/>
              <a:gdLst>
                <a:gd name="T0" fmla="*/ 57 w 57"/>
                <a:gd name="T1" fmla="*/ 56 h 56"/>
                <a:gd name="T2" fmla="*/ 24 w 57"/>
                <a:gd name="T3" fmla="*/ 0 h 56"/>
                <a:gd name="T4" fmla="*/ 0 w 57"/>
                <a:gd name="T5" fmla="*/ 56 h 56"/>
                <a:gd name="T6" fmla="*/ 0 60000 65536"/>
                <a:gd name="T7" fmla="*/ 0 60000 65536"/>
                <a:gd name="T8" fmla="*/ 0 60000 65536"/>
                <a:gd name="T9" fmla="*/ 0 w 57"/>
                <a:gd name="T10" fmla="*/ 0 h 56"/>
                <a:gd name="T11" fmla="*/ 57 w 57"/>
                <a:gd name="T12" fmla="*/ 56 h 56"/>
              </a:gdLst>
              <a:ahLst/>
              <a:cxnLst>
                <a:cxn ang="T6">
                  <a:pos x="T0" y="T1"/>
                </a:cxn>
                <a:cxn ang="T7">
                  <a:pos x="T2" y="T3"/>
                </a:cxn>
                <a:cxn ang="T8">
                  <a:pos x="T4" y="T5"/>
                </a:cxn>
              </a:cxnLst>
              <a:rect l="T9" t="T10" r="T11" b="T12"/>
              <a:pathLst>
                <a:path w="57" h="56">
                  <a:moveTo>
                    <a:pt x="57" y="56"/>
                  </a:moveTo>
                  <a:lnTo>
                    <a:pt x="24" y="0"/>
                  </a:lnTo>
                  <a:lnTo>
                    <a:pt x="0" y="56"/>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42" name="Freeform 147"/>
            <p:cNvSpPr/>
            <p:nvPr/>
          </p:nvSpPr>
          <p:spPr bwMode="auto">
            <a:xfrm>
              <a:off x="2284" y="2487"/>
              <a:ext cx="56" cy="56"/>
            </a:xfrm>
            <a:custGeom>
              <a:avLst/>
              <a:gdLst>
                <a:gd name="T0" fmla="*/ 0 w 56"/>
                <a:gd name="T1" fmla="*/ 0 h 56"/>
                <a:gd name="T2" fmla="*/ 32 w 56"/>
                <a:gd name="T3" fmla="*/ 56 h 56"/>
                <a:gd name="T4" fmla="*/ 56 w 56"/>
                <a:gd name="T5" fmla="*/ 0 h 56"/>
                <a:gd name="T6" fmla="*/ 0 60000 65536"/>
                <a:gd name="T7" fmla="*/ 0 60000 65536"/>
                <a:gd name="T8" fmla="*/ 0 60000 65536"/>
                <a:gd name="T9" fmla="*/ 0 w 56"/>
                <a:gd name="T10" fmla="*/ 0 h 56"/>
                <a:gd name="T11" fmla="*/ 56 w 56"/>
                <a:gd name="T12" fmla="*/ 56 h 56"/>
              </a:gdLst>
              <a:ahLst/>
              <a:cxnLst>
                <a:cxn ang="T6">
                  <a:pos x="T0" y="T1"/>
                </a:cxn>
                <a:cxn ang="T7">
                  <a:pos x="T2" y="T3"/>
                </a:cxn>
                <a:cxn ang="T8">
                  <a:pos x="T4" y="T5"/>
                </a:cxn>
              </a:cxnLst>
              <a:rect l="T9" t="T10" r="T11" b="T12"/>
              <a:pathLst>
                <a:path w="56" h="56">
                  <a:moveTo>
                    <a:pt x="0" y="0"/>
                  </a:moveTo>
                  <a:lnTo>
                    <a:pt x="32" y="56"/>
                  </a:lnTo>
                  <a:lnTo>
                    <a:pt x="56" y="0"/>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34" name="Group 148"/>
          <p:cNvGrpSpPr/>
          <p:nvPr/>
        </p:nvGrpSpPr>
        <p:grpSpPr bwMode="auto">
          <a:xfrm>
            <a:off x="609600" y="2662238"/>
            <a:ext cx="306388" cy="104775"/>
            <a:chOff x="384" y="1863"/>
            <a:chExt cx="193" cy="66"/>
          </a:xfrm>
        </p:grpSpPr>
        <p:sp>
          <p:nvSpPr>
            <p:cNvPr id="27738" name="Line 149"/>
            <p:cNvSpPr>
              <a:spLocks noChangeShapeType="1"/>
            </p:cNvSpPr>
            <p:nvPr/>
          </p:nvSpPr>
          <p:spPr bwMode="auto">
            <a:xfrm>
              <a:off x="384" y="1891"/>
              <a:ext cx="193" cy="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39" name="Freeform 150"/>
            <p:cNvSpPr/>
            <p:nvPr/>
          </p:nvSpPr>
          <p:spPr bwMode="auto">
            <a:xfrm>
              <a:off x="529" y="1863"/>
              <a:ext cx="48" cy="66"/>
            </a:xfrm>
            <a:custGeom>
              <a:avLst/>
              <a:gdLst>
                <a:gd name="T0" fmla="*/ 0 w 48"/>
                <a:gd name="T1" fmla="*/ 66 h 66"/>
                <a:gd name="T2" fmla="*/ 48 w 48"/>
                <a:gd name="T3" fmla="*/ 28 h 66"/>
                <a:gd name="T4" fmla="*/ 0 w 48"/>
                <a:gd name="T5" fmla="*/ 0 h 66"/>
                <a:gd name="T6" fmla="*/ 0 60000 65536"/>
                <a:gd name="T7" fmla="*/ 0 60000 65536"/>
                <a:gd name="T8" fmla="*/ 0 60000 65536"/>
                <a:gd name="T9" fmla="*/ 0 w 48"/>
                <a:gd name="T10" fmla="*/ 0 h 66"/>
                <a:gd name="T11" fmla="*/ 48 w 48"/>
                <a:gd name="T12" fmla="*/ 66 h 66"/>
              </a:gdLst>
              <a:ahLst/>
              <a:cxnLst>
                <a:cxn ang="T6">
                  <a:pos x="T0" y="T1"/>
                </a:cxn>
                <a:cxn ang="T7">
                  <a:pos x="T2" y="T3"/>
                </a:cxn>
                <a:cxn ang="T8">
                  <a:pos x="T4" y="T5"/>
                </a:cxn>
              </a:cxnLst>
              <a:rect l="T9" t="T10" r="T11" b="T12"/>
              <a:pathLst>
                <a:path w="48" h="66">
                  <a:moveTo>
                    <a:pt x="0" y="66"/>
                  </a:moveTo>
                  <a:lnTo>
                    <a:pt x="48" y="28"/>
                  </a:lnTo>
                  <a:lnTo>
                    <a:pt x="0" y="0"/>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35" name="Group 151"/>
          <p:cNvGrpSpPr/>
          <p:nvPr/>
        </p:nvGrpSpPr>
        <p:grpSpPr bwMode="auto">
          <a:xfrm>
            <a:off x="609600" y="2976563"/>
            <a:ext cx="306388" cy="104775"/>
            <a:chOff x="384" y="2061"/>
            <a:chExt cx="193" cy="66"/>
          </a:xfrm>
        </p:grpSpPr>
        <p:sp>
          <p:nvSpPr>
            <p:cNvPr id="27736" name="Line 152"/>
            <p:cNvSpPr>
              <a:spLocks noChangeShapeType="1"/>
            </p:cNvSpPr>
            <p:nvPr/>
          </p:nvSpPr>
          <p:spPr bwMode="auto">
            <a:xfrm>
              <a:off x="384" y="2089"/>
              <a:ext cx="193" cy="1"/>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37" name="Freeform 153"/>
            <p:cNvSpPr/>
            <p:nvPr/>
          </p:nvSpPr>
          <p:spPr bwMode="auto">
            <a:xfrm>
              <a:off x="529" y="2061"/>
              <a:ext cx="48" cy="66"/>
            </a:xfrm>
            <a:custGeom>
              <a:avLst/>
              <a:gdLst>
                <a:gd name="T0" fmla="*/ 0 w 48"/>
                <a:gd name="T1" fmla="*/ 66 h 66"/>
                <a:gd name="T2" fmla="*/ 48 w 48"/>
                <a:gd name="T3" fmla="*/ 28 h 66"/>
                <a:gd name="T4" fmla="*/ 0 w 48"/>
                <a:gd name="T5" fmla="*/ 0 h 66"/>
                <a:gd name="T6" fmla="*/ 0 60000 65536"/>
                <a:gd name="T7" fmla="*/ 0 60000 65536"/>
                <a:gd name="T8" fmla="*/ 0 60000 65536"/>
                <a:gd name="T9" fmla="*/ 0 w 48"/>
                <a:gd name="T10" fmla="*/ 0 h 66"/>
                <a:gd name="T11" fmla="*/ 48 w 48"/>
                <a:gd name="T12" fmla="*/ 66 h 66"/>
              </a:gdLst>
              <a:ahLst/>
              <a:cxnLst>
                <a:cxn ang="T6">
                  <a:pos x="T0" y="T1"/>
                </a:cxn>
                <a:cxn ang="T7">
                  <a:pos x="T2" y="T3"/>
                </a:cxn>
                <a:cxn ang="T8">
                  <a:pos x="T4" y="T5"/>
                </a:cxn>
              </a:cxnLst>
              <a:rect l="T9" t="T10" r="T11" b="T12"/>
              <a:pathLst>
                <a:path w="48" h="66">
                  <a:moveTo>
                    <a:pt x="0" y="66"/>
                  </a:moveTo>
                  <a:lnTo>
                    <a:pt x="48" y="28"/>
                  </a:lnTo>
                  <a:lnTo>
                    <a:pt x="0" y="0"/>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ransition spd="med">
    <p:pull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a:xfrm>
            <a:off x="609600" y="225425"/>
            <a:ext cx="8503024" cy="765175"/>
          </a:xfrm>
        </p:spPr>
        <p:txBody>
          <a:bodyPr/>
          <a:lstStyle/>
          <a:p>
            <a:pPr eaLnBrk="1" hangingPunct="1">
              <a:defRPr/>
            </a:pPr>
            <a:r>
              <a:rPr lang="zh-CN" altLang="en-US" dirty="0"/>
              <a:t>多台外设的程序查询过程</a:t>
            </a:r>
            <a:endParaRPr lang="zh-CN" altLang="en-US" dirty="0"/>
          </a:p>
        </p:txBody>
      </p:sp>
      <p:sp>
        <p:nvSpPr>
          <p:cNvPr id="29700" name="AutoShape 3"/>
          <p:cNvSpPr>
            <a:spLocks noChangeArrowheads="1"/>
          </p:cNvSpPr>
          <p:nvPr/>
        </p:nvSpPr>
        <p:spPr bwMode="auto">
          <a:xfrm>
            <a:off x="2597150" y="1841500"/>
            <a:ext cx="1752600" cy="762000"/>
          </a:xfrm>
          <a:prstGeom prst="flowChartDecision">
            <a:avLst/>
          </a:prstGeom>
          <a:solidFill>
            <a:srgbClr val="660066"/>
          </a:solidFill>
          <a:ln w="9525">
            <a:no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600">
                <a:solidFill>
                  <a:schemeClr val="bg1"/>
                </a:solidFill>
                <a:latin typeface="楷体" panose="02010609060101010101" pitchFamily="49" charset="-122"/>
                <a:ea typeface="楷体" panose="02010609060101010101" pitchFamily="49" charset="-122"/>
              </a:rPr>
              <a:t>外设</a:t>
            </a:r>
            <a:r>
              <a:rPr lang="en-US" altLang="zh-CN" sz="1600">
                <a:solidFill>
                  <a:schemeClr val="bg1"/>
                </a:solidFill>
                <a:latin typeface="楷体" panose="02010609060101010101" pitchFamily="49" charset="-122"/>
                <a:ea typeface="楷体" panose="02010609060101010101" pitchFamily="49" charset="-122"/>
              </a:rPr>
              <a:t>1</a:t>
            </a:r>
            <a:endParaRPr lang="en-US" altLang="zh-CN" sz="160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en-US" altLang="zh-CN" sz="1600">
                <a:solidFill>
                  <a:schemeClr val="bg1"/>
                </a:solidFill>
                <a:latin typeface="楷体" panose="02010609060101010101" pitchFamily="49" charset="-122"/>
                <a:ea typeface="楷体" panose="02010609060101010101" pitchFamily="49" charset="-122"/>
              </a:rPr>
              <a:t>ready=1</a:t>
            </a:r>
            <a:r>
              <a:rPr lang="zh-CN" altLang="en-US" sz="1600">
                <a:solidFill>
                  <a:schemeClr val="bg1"/>
                </a:solidFill>
                <a:latin typeface="楷体" panose="02010609060101010101" pitchFamily="49" charset="-122"/>
                <a:ea typeface="楷体" panose="02010609060101010101" pitchFamily="49" charset="-122"/>
              </a:rPr>
              <a:t>？</a:t>
            </a:r>
            <a:endParaRPr lang="zh-CN" altLang="en-US" sz="1600">
              <a:solidFill>
                <a:schemeClr val="bg1"/>
              </a:solidFill>
              <a:latin typeface="楷体" panose="02010609060101010101" pitchFamily="49" charset="-122"/>
              <a:ea typeface="楷体" panose="02010609060101010101" pitchFamily="49" charset="-122"/>
            </a:endParaRPr>
          </a:p>
        </p:txBody>
      </p:sp>
      <p:sp>
        <p:nvSpPr>
          <p:cNvPr id="29701" name="AutoShape 4"/>
          <p:cNvSpPr>
            <a:spLocks noChangeArrowheads="1"/>
          </p:cNvSpPr>
          <p:nvPr/>
        </p:nvSpPr>
        <p:spPr bwMode="auto">
          <a:xfrm>
            <a:off x="2609850" y="2882900"/>
            <a:ext cx="1752600" cy="762000"/>
          </a:xfrm>
          <a:prstGeom prst="flowChartDecision">
            <a:avLst/>
          </a:prstGeom>
          <a:solidFill>
            <a:srgbClr val="660066"/>
          </a:solidFill>
          <a:ln w="9525">
            <a:no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600">
                <a:solidFill>
                  <a:schemeClr val="bg1"/>
                </a:solidFill>
                <a:latin typeface="楷体" panose="02010609060101010101" pitchFamily="49" charset="-122"/>
                <a:ea typeface="楷体" panose="02010609060101010101" pitchFamily="49" charset="-122"/>
              </a:rPr>
              <a:t>外设</a:t>
            </a:r>
            <a:r>
              <a:rPr lang="en-US" altLang="zh-CN" sz="1600">
                <a:solidFill>
                  <a:schemeClr val="bg1"/>
                </a:solidFill>
                <a:latin typeface="楷体" panose="02010609060101010101" pitchFamily="49" charset="-122"/>
                <a:ea typeface="楷体" panose="02010609060101010101" pitchFamily="49" charset="-122"/>
              </a:rPr>
              <a:t>2</a:t>
            </a:r>
            <a:endParaRPr lang="en-US" altLang="zh-CN" sz="160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en-US" altLang="zh-CN" sz="1600">
                <a:solidFill>
                  <a:schemeClr val="bg1"/>
                </a:solidFill>
                <a:latin typeface="楷体" panose="02010609060101010101" pitchFamily="49" charset="-122"/>
                <a:ea typeface="楷体" panose="02010609060101010101" pitchFamily="49" charset="-122"/>
              </a:rPr>
              <a:t>ready=1</a:t>
            </a:r>
            <a:r>
              <a:rPr lang="zh-CN" altLang="en-US" sz="1600">
                <a:solidFill>
                  <a:schemeClr val="bg1"/>
                </a:solidFill>
                <a:latin typeface="楷体" panose="02010609060101010101" pitchFamily="49" charset="-122"/>
                <a:ea typeface="楷体" panose="02010609060101010101" pitchFamily="49" charset="-122"/>
              </a:rPr>
              <a:t>？</a:t>
            </a:r>
            <a:endParaRPr lang="zh-CN" altLang="en-US" sz="1600">
              <a:solidFill>
                <a:schemeClr val="bg1"/>
              </a:solidFill>
              <a:latin typeface="楷体" panose="02010609060101010101" pitchFamily="49" charset="-122"/>
              <a:ea typeface="楷体" panose="02010609060101010101" pitchFamily="49" charset="-122"/>
            </a:endParaRPr>
          </a:p>
        </p:txBody>
      </p:sp>
      <p:sp>
        <p:nvSpPr>
          <p:cNvPr id="29702" name="AutoShape 5"/>
          <p:cNvSpPr>
            <a:spLocks noChangeArrowheads="1"/>
          </p:cNvSpPr>
          <p:nvPr/>
        </p:nvSpPr>
        <p:spPr bwMode="auto">
          <a:xfrm>
            <a:off x="2597150" y="4502150"/>
            <a:ext cx="1752600" cy="762000"/>
          </a:xfrm>
          <a:prstGeom prst="flowChartDecision">
            <a:avLst/>
          </a:prstGeom>
          <a:solidFill>
            <a:srgbClr val="660066"/>
          </a:solidFill>
          <a:ln w="9525">
            <a:no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600">
                <a:solidFill>
                  <a:schemeClr val="bg1"/>
                </a:solidFill>
                <a:latin typeface="楷体" panose="02010609060101010101" pitchFamily="49" charset="-122"/>
                <a:ea typeface="楷体" panose="02010609060101010101" pitchFamily="49" charset="-122"/>
              </a:rPr>
              <a:t>外设</a:t>
            </a:r>
            <a:r>
              <a:rPr lang="en-US" altLang="zh-CN" sz="1600">
                <a:solidFill>
                  <a:schemeClr val="bg1"/>
                </a:solidFill>
                <a:latin typeface="楷体" panose="02010609060101010101" pitchFamily="49" charset="-122"/>
                <a:ea typeface="楷体" panose="02010609060101010101" pitchFamily="49" charset="-122"/>
              </a:rPr>
              <a:t>n</a:t>
            </a:r>
            <a:endParaRPr lang="en-US" altLang="zh-CN" sz="160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en-US" altLang="zh-CN" sz="1600">
                <a:solidFill>
                  <a:schemeClr val="bg1"/>
                </a:solidFill>
                <a:latin typeface="楷体" panose="02010609060101010101" pitchFamily="49" charset="-122"/>
                <a:ea typeface="楷体" panose="02010609060101010101" pitchFamily="49" charset="-122"/>
              </a:rPr>
              <a:t>ready=1</a:t>
            </a:r>
            <a:r>
              <a:rPr lang="zh-CN" altLang="en-US" sz="1600">
                <a:solidFill>
                  <a:schemeClr val="bg1"/>
                </a:solidFill>
                <a:latin typeface="楷体" panose="02010609060101010101" pitchFamily="49" charset="-122"/>
                <a:ea typeface="楷体" panose="02010609060101010101" pitchFamily="49" charset="-122"/>
              </a:rPr>
              <a:t>？</a:t>
            </a:r>
            <a:endParaRPr lang="zh-CN" altLang="en-US" sz="1600">
              <a:solidFill>
                <a:schemeClr val="bg1"/>
              </a:solidFill>
              <a:latin typeface="楷体" panose="02010609060101010101" pitchFamily="49" charset="-122"/>
              <a:ea typeface="楷体" panose="02010609060101010101" pitchFamily="49" charset="-122"/>
            </a:endParaRPr>
          </a:p>
        </p:txBody>
      </p:sp>
      <p:sp>
        <p:nvSpPr>
          <p:cNvPr id="29703" name="Rectangle 6"/>
          <p:cNvSpPr>
            <a:spLocks noChangeArrowheads="1"/>
          </p:cNvSpPr>
          <p:nvPr/>
        </p:nvSpPr>
        <p:spPr bwMode="auto">
          <a:xfrm>
            <a:off x="4927600" y="2041525"/>
            <a:ext cx="2286000" cy="381000"/>
          </a:xfrm>
          <a:prstGeom prst="rect">
            <a:avLst/>
          </a:prstGeom>
          <a:solidFill>
            <a:srgbClr val="000099"/>
          </a:solidFill>
          <a:ln w="9525">
            <a:no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600" dirty="0">
                <a:solidFill>
                  <a:schemeClr val="bg1"/>
                </a:solidFill>
                <a:latin typeface="楷体" panose="02010609060101010101" pitchFamily="49" charset="-122"/>
                <a:ea typeface="楷体" panose="02010609060101010101" pitchFamily="49" charset="-122"/>
              </a:rPr>
              <a:t>外设</a:t>
            </a:r>
            <a:r>
              <a:rPr lang="en-US" altLang="zh-CN" sz="1600" dirty="0">
                <a:solidFill>
                  <a:schemeClr val="bg1"/>
                </a:solidFill>
                <a:latin typeface="楷体" panose="02010609060101010101" pitchFamily="49" charset="-122"/>
                <a:ea typeface="楷体" panose="02010609060101010101" pitchFamily="49" charset="-122"/>
              </a:rPr>
              <a:t>1 </a:t>
            </a:r>
            <a:r>
              <a:rPr lang="zh-CN" altLang="en-US" sz="1600" dirty="0">
                <a:solidFill>
                  <a:schemeClr val="bg1"/>
                </a:solidFill>
                <a:latin typeface="楷体" panose="02010609060101010101" pitchFamily="49" charset="-122"/>
                <a:ea typeface="楷体" panose="02010609060101010101" pitchFamily="49" charset="-122"/>
              </a:rPr>
              <a:t>服务子程序</a:t>
            </a:r>
            <a:endParaRPr lang="zh-CN" altLang="en-US" sz="1600" dirty="0">
              <a:solidFill>
                <a:schemeClr val="bg1"/>
              </a:solidFill>
              <a:latin typeface="楷体" panose="02010609060101010101" pitchFamily="49" charset="-122"/>
              <a:ea typeface="楷体" panose="02010609060101010101" pitchFamily="49" charset="-122"/>
            </a:endParaRPr>
          </a:p>
        </p:txBody>
      </p:sp>
      <p:sp>
        <p:nvSpPr>
          <p:cNvPr id="29704" name="Rectangle 7"/>
          <p:cNvSpPr>
            <a:spLocks noChangeArrowheads="1"/>
          </p:cNvSpPr>
          <p:nvPr/>
        </p:nvSpPr>
        <p:spPr bwMode="auto">
          <a:xfrm>
            <a:off x="4943475" y="3063875"/>
            <a:ext cx="2286000" cy="381000"/>
          </a:xfrm>
          <a:prstGeom prst="rect">
            <a:avLst/>
          </a:prstGeom>
          <a:solidFill>
            <a:srgbClr val="000099"/>
          </a:solidFill>
          <a:ln w="9525">
            <a:no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600">
                <a:solidFill>
                  <a:schemeClr val="bg1"/>
                </a:solidFill>
                <a:latin typeface="楷体" panose="02010609060101010101" pitchFamily="49" charset="-122"/>
                <a:ea typeface="楷体" panose="02010609060101010101" pitchFamily="49" charset="-122"/>
              </a:rPr>
              <a:t>外设</a:t>
            </a:r>
            <a:r>
              <a:rPr lang="en-US" altLang="zh-CN" sz="1600">
                <a:solidFill>
                  <a:schemeClr val="bg1"/>
                </a:solidFill>
                <a:latin typeface="楷体" panose="02010609060101010101" pitchFamily="49" charset="-122"/>
                <a:ea typeface="楷体" panose="02010609060101010101" pitchFamily="49" charset="-122"/>
              </a:rPr>
              <a:t>2 </a:t>
            </a:r>
            <a:r>
              <a:rPr lang="zh-CN" altLang="en-US" sz="1600">
                <a:solidFill>
                  <a:schemeClr val="bg1"/>
                </a:solidFill>
                <a:latin typeface="楷体" panose="02010609060101010101" pitchFamily="49" charset="-122"/>
                <a:ea typeface="楷体" panose="02010609060101010101" pitchFamily="49" charset="-122"/>
              </a:rPr>
              <a:t>服务子程序</a:t>
            </a:r>
            <a:endParaRPr lang="zh-CN" altLang="en-US" sz="1600">
              <a:solidFill>
                <a:schemeClr val="bg1"/>
              </a:solidFill>
              <a:latin typeface="楷体" panose="02010609060101010101" pitchFamily="49" charset="-122"/>
              <a:ea typeface="楷体" panose="02010609060101010101" pitchFamily="49" charset="-122"/>
            </a:endParaRPr>
          </a:p>
        </p:txBody>
      </p:sp>
      <p:sp>
        <p:nvSpPr>
          <p:cNvPr id="29705" name="Rectangle 8"/>
          <p:cNvSpPr>
            <a:spLocks noChangeArrowheads="1"/>
          </p:cNvSpPr>
          <p:nvPr/>
        </p:nvSpPr>
        <p:spPr bwMode="auto">
          <a:xfrm>
            <a:off x="4927600" y="4679950"/>
            <a:ext cx="2286000" cy="381000"/>
          </a:xfrm>
          <a:prstGeom prst="rect">
            <a:avLst/>
          </a:prstGeom>
          <a:solidFill>
            <a:srgbClr val="000099"/>
          </a:solidFill>
          <a:ln w="9525">
            <a:no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600">
                <a:solidFill>
                  <a:schemeClr val="bg1"/>
                </a:solidFill>
                <a:latin typeface="楷体" panose="02010609060101010101" pitchFamily="49" charset="-122"/>
                <a:ea typeface="楷体" panose="02010609060101010101" pitchFamily="49" charset="-122"/>
              </a:rPr>
              <a:t>外设</a:t>
            </a:r>
            <a:r>
              <a:rPr lang="en-US" altLang="zh-CN" sz="1600">
                <a:solidFill>
                  <a:schemeClr val="bg1"/>
                </a:solidFill>
                <a:latin typeface="楷体" panose="02010609060101010101" pitchFamily="49" charset="-122"/>
                <a:ea typeface="楷体" panose="02010609060101010101" pitchFamily="49" charset="-122"/>
              </a:rPr>
              <a:t>n </a:t>
            </a:r>
            <a:r>
              <a:rPr lang="zh-CN" altLang="en-US" sz="1600">
                <a:solidFill>
                  <a:schemeClr val="bg1"/>
                </a:solidFill>
                <a:latin typeface="楷体" panose="02010609060101010101" pitchFamily="49" charset="-122"/>
                <a:ea typeface="楷体" panose="02010609060101010101" pitchFamily="49" charset="-122"/>
              </a:rPr>
              <a:t>服务子程序</a:t>
            </a:r>
            <a:endParaRPr lang="zh-CN" altLang="en-US" sz="1600">
              <a:solidFill>
                <a:schemeClr val="bg1"/>
              </a:solidFill>
              <a:latin typeface="楷体" panose="02010609060101010101" pitchFamily="49" charset="-122"/>
              <a:ea typeface="楷体" panose="02010609060101010101" pitchFamily="49" charset="-122"/>
            </a:endParaRPr>
          </a:p>
        </p:txBody>
      </p:sp>
      <p:sp>
        <p:nvSpPr>
          <p:cNvPr id="29706" name="Line 9"/>
          <p:cNvSpPr>
            <a:spLocks noChangeShapeType="1"/>
          </p:cNvSpPr>
          <p:nvPr/>
        </p:nvSpPr>
        <p:spPr bwMode="auto">
          <a:xfrm>
            <a:off x="3479800" y="1539875"/>
            <a:ext cx="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07" name="Line 10"/>
          <p:cNvSpPr>
            <a:spLocks noChangeShapeType="1"/>
          </p:cNvSpPr>
          <p:nvPr/>
        </p:nvSpPr>
        <p:spPr bwMode="auto">
          <a:xfrm>
            <a:off x="3495675" y="2590800"/>
            <a:ext cx="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08" name="Line 11"/>
          <p:cNvSpPr>
            <a:spLocks noChangeShapeType="1"/>
          </p:cNvSpPr>
          <p:nvPr/>
        </p:nvSpPr>
        <p:spPr bwMode="auto">
          <a:xfrm>
            <a:off x="3479800" y="3657600"/>
            <a:ext cx="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09" name="Line 12"/>
          <p:cNvSpPr>
            <a:spLocks noChangeShapeType="1"/>
          </p:cNvSpPr>
          <p:nvPr/>
        </p:nvSpPr>
        <p:spPr bwMode="auto">
          <a:xfrm>
            <a:off x="3479800" y="4206875"/>
            <a:ext cx="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10" name="Line 13"/>
          <p:cNvSpPr>
            <a:spLocks noChangeShapeType="1"/>
          </p:cNvSpPr>
          <p:nvPr/>
        </p:nvSpPr>
        <p:spPr bwMode="auto">
          <a:xfrm>
            <a:off x="3479800" y="4022725"/>
            <a:ext cx="0" cy="152400"/>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11" name="Line 14"/>
          <p:cNvSpPr>
            <a:spLocks noChangeShapeType="1"/>
          </p:cNvSpPr>
          <p:nvPr/>
        </p:nvSpPr>
        <p:spPr bwMode="auto">
          <a:xfrm>
            <a:off x="3479800" y="5273675"/>
            <a:ext cx="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12" name="Line 15"/>
          <p:cNvSpPr>
            <a:spLocks noChangeShapeType="1"/>
          </p:cNvSpPr>
          <p:nvPr/>
        </p:nvSpPr>
        <p:spPr bwMode="auto">
          <a:xfrm>
            <a:off x="1803400" y="1539875"/>
            <a:ext cx="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13" name="Line 16"/>
          <p:cNvSpPr>
            <a:spLocks noChangeShapeType="1"/>
          </p:cNvSpPr>
          <p:nvPr/>
        </p:nvSpPr>
        <p:spPr bwMode="auto">
          <a:xfrm flipV="1">
            <a:off x="1803400" y="1539875"/>
            <a:ext cx="16764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14" name="Freeform 17"/>
          <p:cNvSpPr/>
          <p:nvPr/>
        </p:nvSpPr>
        <p:spPr bwMode="auto">
          <a:xfrm>
            <a:off x="1803400" y="2682875"/>
            <a:ext cx="1676400" cy="3136900"/>
          </a:xfrm>
          <a:custGeom>
            <a:avLst/>
            <a:gdLst>
              <a:gd name="T0" fmla="*/ 2147483646 w 1056"/>
              <a:gd name="T1" fmla="*/ 2147483646 h 1976"/>
              <a:gd name="T2" fmla="*/ 2147483646 w 1056"/>
              <a:gd name="T3" fmla="*/ 2147483646 h 1976"/>
              <a:gd name="T4" fmla="*/ 0 w 1056"/>
              <a:gd name="T5" fmla="*/ 0 h 1976"/>
              <a:gd name="T6" fmla="*/ 0 60000 65536"/>
              <a:gd name="T7" fmla="*/ 0 60000 65536"/>
              <a:gd name="T8" fmla="*/ 0 60000 65536"/>
              <a:gd name="T9" fmla="*/ 0 w 1056"/>
              <a:gd name="T10" fmla="*/ 0 h 1976"/>
              <a:gd name="T11" fmla="*/ 1056 w 1056"/>
              <a:gd name="T12" fmla="*/ 1976 h 1976"/>
            </a:gdLst>
            <a:ahLst/>
            <a:cxnLst>
              <a:cxn ang="T6">
                <a:pos x="T0" y="T1"/>
              </a:cxn>
              <a:cxn ang="T7">
                <a:pos x="T2" y="T3"/>
              </a:cxn>
              <a:cxn ang="T8">
                <a:pos x="T4" y="T5"/>
              </a:cxn>
            </a:cxnLst>
            <a:rect l="T9" t="T10" r="T11" b="T12"/>
            <a:pathLst>
              <a:path w="1056" h="1976">
                <a:moveTo>
                  <a:pt x="1056" y="1776"/>
                </a:moveTo>
                <a:cubicBezTo>
                  <a:pt x="880" y="1876"/>
                  <a:pt x="704" y="1976"/>
                  <a:pt x="528" y="1680"/>
                </a:cubicBezTo>
                <a:cubicBezTo>
                  <a:pt x="352" y="1384"/>
                  <a:pt x="88" y="280"/>
                  <a:pt x="0"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715" name="Line 18"/>
          <p:cNvSpPr>
            <a:spLocks noChangeShapeType="1"/>
          </p:cNvSpPr>
          <p:nvPr/>
        </p:nvSpPr>
        <p:spPr bwMode="auto">
          <a:xfrm>
            <a:off x="1803400" y="2682875"/>
            <a:ext cx="0" cy="1295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16" name="Line 19"/>
          <p:cNvSpPr>
            <a:spLocks noChangeShapeType="1"/>
          </p:cNvSpPr>
          <p:nvPr/>
        </p:nvSpPr>
        <p:spPr bwMode="auto">
          <a:xfrm>
            <a:off x="4318000" y="2225675"/>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17" name="Line 20"/>
          <p:cNvSpPr>
            <a:spLocks noChangeShapeType="1"/>
          </p:cNvSpPr>
          <p:nvPr/>
        </p:nvSpPr>
        <p:spPr bwMode="auto">
          <a:xfrm>
            <a:off x="4327525" y="3248025"/>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18" name="Line 21"/>
          <p:cNvSpPr>
            <a:spLocks noChangeShapeType="1"/>
          </p:cNvSpPr>
          <p:nvPr/>
        </p:nvSpPr>
        <p:spPr bwMode="auto">
          <a:xfrm>
            <a:off x="4318000" y="4876800"/>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19" name="Line 22"/>
          <p:cNvSpPr>
            <a:spLocks noChangeShapeType="1"/>
          </p:cNvSpPr>
          <p:nvPr/>
        </p:nvSpPr>
        <p:spPr bwMode="auto">
          <a:xfrm>
            <a:off x="6070600" y="3749675"/>
            <a:ext cx="0" cy="6096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20" name="Line 23"/>
          <p:cNvSpPr>
            <a:spLocks noChangeShapeType="1"/>
          </p:cNvSpPr>
          <p:nvPr/>
        </p:nvSpPr>
        <p:spPr bwMode="auto">
          <a:xfrm>
            <a:off x="7185025" y="2238375"/>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21" name="Line 24"/>
          <p:cNvSpPr>
            <a:spLocks noChangeShapeType="1"/>
          </p:cNvSpPr>
          <p:nvPr/>
        </p:nvSpPr>
        <p:spPr bwMode="auto">
          <a:xfrm>
            <a:off x="7229475" y="3248025"/>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22" name="Line 25"/>
          <p:cNvSpPr>
            <a:spLocks noChangeShapeType="1"/>
          </p:cNvSpPr>
          <p:nvPr/>
        </p:nvSpPr>
        <p:spPr bwMode="auto">
          <a:xfrm>
            <a:off x="7213600" y="4860925"/>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23" name="Line 26"/>
          <p:cNvSpPr>
            <a:spLocks noChangeShapeType="1"/>
          </p:cNvSpPr>
          <p:nvPr/>
        </p:nvSpPr>
        <p:spPr bwMode="auto">
          <a:xfrm>
            <a:off x="7747000" y="3248025"/>
            <a:ext cx="0" cy="5016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24" name="Line 27"/>
          <p:cNvSpPr>
            <a:spLocks noChangeShapeType="1"/>
          </p:cNvSpPr>
          <p:nvPr/>
        </p:nvSpPr>
        <p:spPr bwMode="auto">
          <a:xfrm>
            <a:off x="3479800" y="5486400"/>
            <a:ext cx="4267200"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25" name="Text Box 28"/>
          <p:cNvSpPr txBox="1">
            <a:spLocks noChangeArrowheads="1"/>
          </p:cNvSpPr>
          <p:nvPr/>
        </p:nvSpPr>
        <p:spPr bwMode="auto">
          <a:xfrm>
            <a:off x="1012825" y="1463675"/>
            <a:ext cx="91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1600">
                <a:latin typeface="楷体" panose="02010609060101010101" pitchFamily="49" charset="-122"/>
                <a:ea typeface="楷体" panose="02010609060101010101" pitchFamily="49" charset="-122"/>
              </a:rPr>
              <a:t>主程序</a:t>
            </a:r>
            <a:endParaRPr lang="zh-CN" altLang="en-US" sz="1600">
              <a:latin typeface="楷体" panose="02010609060101010101" pitchFamily="49" charset="-122"/>
              <a:ea typeface="楷体" panose="02010609060101010101" pitchFamily="49" charset="-122"/>
            </a:endParaRPr>
          </a:p>
        </p:txBody>
      </p:sp>
      <p:sp>
        <p:nvSpPr>
          <p:cNvPr id="29726" name="Text Box 29"/>
          <p:cNvSpPr txBox="1">
            <a:spLocks noChangeArrowheads="1"/>
          </p:cNvSpPr>
          <p:nvPr/>
        </p:nvSpPr>
        <p:spPr bwMode="auto">
          <a:xfrm>
            <a:off x="1133475" y="2228850"/>
            <a:ext cx="1524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1600">
                <a:latin typeface="楷体" panose="02010609060101010101" pitchFamily="49" charset="-122"/>
                <a:ea typeface="楷体" panose="02010609060101010101" pitchFamily="49" charset="-122"/>
              </a:rPr>
              <a:t>调用查询程序</a:t>
            </a:r>
            <a:endParaRPr lang="zh-CN" altLang="en-US" sz="1600">
              <a:latin typeface="楷体" panose="02010609060101010101" pitchFamily="49" charset="-122"/>
              <a:ea typeface="楷体" panose="02010609060101010101" pitchFamily="49" charset="-122"/>
            </a:endParaRPr>
          </a:p>
        </p:txBody>
      </p:sp>
      <p:sp>
        <p:nvSpPr>
          <p:cNvPr id="29727" name="Text Box 30"/>
          <p:cNvSpPr txBox="1">
            <a:spLocks noChangeArrowheads="1"/>
          </p:cNvSpPr>
          <p:nvPr/>
        </p:nvSpPr>
        <p:spPr bwMode="auto">
          <a:xfrm>
            <a:off x="1057275" y="3870325"/>
            <a:ext cx="91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1600">
                <a:latin typeface="楷体" panose="02010609060101010101" pitchFamily="49" charset="-122"/>
                <a:ea typeface="楷体" panose="02010609060101010101" pitchFamily="49" charset="-122"/>
              </a:rPr>
              <a:t>主程序</a:t>
            </a:r>
            <a:endParaRPr lang="zh-CN" altLang="en-US" sz="1600">
              <a:latin typeface="楷体" panose="02010609060101010101" pitchFamily="49" charset="-122"/>
              <a:ea typeface="楷体" panose="02010609060101010101" pitchFamily="49" charset="-122"/>
            </a:endParaRPr>
          </a:p>
        </p:txBody>
      </p:sp>
      <p:sp>
        <p:nvSpPr>
          <p:cNvPr id="29728" name="Text Box 31"/>
          <p:cNvSpPr txBox="1">
            <a:spLocks noChangeArrowheads="1"/>
          </p:cNvSpPr>
          <p:nvPr/>
        </p:nvSpPr>
        <p:spPr bwMode="auto">
          <a:xfrm>
            <a:off x="4425950" y="1936750"/>
            <a:ext cx="381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1600">
                <a:latin typeface="楷体" panose="02010609060101010101" pitchFamily="49" charset="-122"/>
                <a:ea typeface="楷体" panose="02010609060101010101" pitchFamily="49" charset="-122"/>
              </a:rPr>
              <a:t>Y</a:t>
            </a:r>
            <a:endParaRPr lang="en-US" altLang="zh-CN" sz="1600">
              <a:latin typeface="楷体" panose="02010609060101010101" pitchFamily="49" charset="-122"/>
              <a:ea typeface="楷体" panose="02010609060101010101" pitchFamily="49" charset="-122"/>
            </a:endParaRPr>
          </a:p>
        </p:txBody>
      </p:sp>
      <p:sp>
        <p:nvSpPr>
          <p:cNvPr id="29729" name="Text Box 32"/>
          <p:cNvSpPr txBox="1">
            <a:spLocks noChangeArrowheads="1"/>
          </p:cNvSpPr>
          <p:nvPr/>
        </p:nvSpPr>
        <p:spPr bwMode="auto">
          <a:xfrm>
            <a:off x="4454525" y="2971800"/>
            <a:ext cx="381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1600">
                <a:latin typeface="楷体" panose="02010609060101010101" pitchFamily="49" charset="-122"/>
                <a:ea typeface="楷体" panose="02010609060101010101" pitchFamily="49" charset="-122"/>
              </a:rPr>
              <a:t>Y</a:t>
            </a:r>
            <a:endParaRPr lang="en-US" altLang="zh-CN" sz="1600">
              <a:latin typeface="楷体" panose="02010609060101010101" pitchFamily="49" charset="-122"/>
              <a:ea typeface="楷体" panose="02010609060101010101" pitchFamily="49" charset="-122"/>
            </a:endParaRPr>
          </a:p>
        </p:txBody>
      </p:sp>
      <p:sp>
        <p:nvSpPr>
          <p:cNvPr id="29730" name="Text Box 33"/>
          <p:cNvSpPr txBox="1">
            <a:spLocks noChangeArrowheads="1"/>
          </p:cNvSpPr>
          <p:nvPr/>
        </p:nvSpPr>
        <p:spPr bwMode="auto">
          <a:xfrm>
            <a:off x="4470400" y="4600575"/>
            <a:ext cx="381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1600">
                <a:latin typeface="楷体" panose="02010609060101010101" pitchFamily="49" charset="-122"/>
                <a:ea typeface="楷体" panose="02010609060101010101" pitchFamily="49" charset="-122"/>
              </a:rPr>
              <a:t>Y</a:t>
            </a:r>
            <a:endParaRPr lang="en-US" altLang="zh-CN" sz="1600">
              <a:latin typeface="楷体" panose="02010609060101010101" pitchFamily="49" charset="-122"/>
              <a:ea typeface="楷体" panose="02010609060101010101" pitchFamily="49" charset="-122"/>
            </a:endParaRPr>
          </a:p>
        </p:txBody>
      </p:sp>
      <p:sp>
        <p:nvSpPr>
          <p:cNvPr id="29731" name="Text Box 34"/>
          <p:cNvSpPr txBox="1">
            <a:spLocks noChangeArrowheads="1"/>
          </p:cNvSpPr>
          <p:nvPr/>
        </p:nvSpPr>
        <p:spPr bwMode="auto">
          <a:xfrm>
            <a:off x="3132138" y="2574925"/>
            <a:ext cx="381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1600">
                <a:latin typeface="楷体" panose="02010609060101010101" pitchFamily="49" charset="-122"/>
                <a:ea typeface="楷体" panose="02010609060101010101" pitchFamily="49" charset="-122"/>
              </a:rPr>
              <a:t>N</a:t>
            </a:r>
            <a:endParaRPr lang="en-US" altLang="zh-CN" sz="1600">
              <a:latin typeface="楷体" panose="02010609060101010101" pitchFamily="49" charset="-122"/>
              <a:ea typeface="楷体" panose="02010609060101010101" pitchFamily="49" charset="-122"/>
            </a:endParaRPr>
          </a:p>
        </p:txBody>
      </p:sp>
      <p:sp>
        <p:nvSpPr>
          <p:cNvPr id="29732" name="Text Box 35"/>
          <p:cNvSpPr txBox="1">
            <a:spLocks noChangeArrowheads="1"/>
          </p:cNvSpPr>
          <p:nvPr/>
        </p:nvSpPr>
        <p:spPr bwMode="auto">
          <a:xfrm>
            <a:off x="3182938" y="3625850"/>
            <a:ext cx="381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1600">
                <a:latin typeface="楷体" panose="02010609060101010101" pitchFamily="49" charset="-122"/>
                <a:ea typeface="楷体" panose="02010609060101010101" pitchFamily="49" charset="-122"/>
              </a:rPr>
              <a:t>N</a:t>
            </a:r>
            <a:endParaRPr lang="en-US" altLang="zh-CN" sz="1600">
              <a:latin typeface="楷体" panose="02010609060101010101" pitchFamily="49" charset="-122"/>
              <a:ea typeface="楷体" panose="02010609060101010101" pitchFamily="49" charset="-122"/>
            </a:endParaRPr>
          </a:p>
        </p:txBody>
      </p:sp>
      <p:sp>
        <p:nvSpPr>
          <p:cNvPr id="29733" name="Text Box 36"/>
          <p:cNvSpPr txBox="1">
            <a:spLocks noChangeArrowheads="1"/>
          </p:cNvSpPr>
          <p:nvPr/>
        </p:nvSpPr>
        <p:spPr bwMode="auto">
          <a:xfrm>
            <a:off x="3182938" y="5253038"/>
            <a:ext cx="381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1600">
                <a:latin typeface="楷体" panose="02010609060101010101" pitchFamily="49" charset="-122"/>
                <a:ea typeface="楷体" panose="02010609060101010101" pitchFamily="49" charset="-122"/>
              </a:rPr>
              <a:t>N</a:t>
            </a:r>
            <a:endParaRPr lang="en-US" altLang="zh-CN" sz="1600">
              <a:latin typeface="楷体" panose="02010609060101010101" pitchFamily="49" charset="-122"/>
              <a:ea typeface="楷体" panose="02010609060101010101" pitchFamily="49" charset="-122"/>
            </a:endParaRPr>
          </a:p>
        </p:txBody>
      </p:sp>
      <p:sp>
        <p:nvSpPr>
          <p:cNvPr id="29734" name="Line 37"/>
          <p:cNvSpPr>
            <a:spLocks noChangeShapeType="1"/>
          </p:cNvSpPr>
          <p:nvPr/>
        </p:nvSpPr>
        <p:spPr bwMode="auto">
          <a:xfrm>
            <a:off x="3492500" y="2708275"/>
            <a:ext cx="4267200"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35" name="Line 38"/>
          <p:cNvSpPr>
            <a:spLocks noChangeShapeType="1"/>
          </p:cNvSpPr>
          <p:nvPr/>
        </p:nvSpPr>
        <p:spPr bwMode="auto">
          <a:xfrm>
            <a:off x="3513138" y="3749675"/>
            <a:ext cx="4267200"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36" name="Line 39"/>
          <p:cNvSpPr>
            <a:spLocks noChangeShapeType="1"/>
          </p:cNvSpPr>
          <p:nvPr/>
        </p:nvSpPr>
        <p:spPr bwMode="auto">
          <a:xfrm>
            <a:off x="7747000" y="2228850"/>
            <a:ext cx="0" cy="5016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9737" name="Line 40"/>
          <p:cNvSpPr>
            <a:spLocks noChangeShapeType="1"/>
          </p:cNvSpPr>
          <p:nvPr/>
        </p:nvSpPr>
        <p:spPr bwMode="auto">
          <a:xfrm>
            <a:off x="7747000" y="4876800"/>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8.3 </a:t>
            </a:r>
            <a:r>
              <a:rPr lang="zh-CN" altLang="en-US" dirty="0"/>
              <a:t>程序中断方式</a:t>
            </a:r>
            <a:endParaRPr lang="zh-CN" alt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pPr eaLnBrk="1" hangingPunct="1">
              <a:defRPr/>
            </a:pPr>
            <a:r>
              <a:rPr lang="zh-CN" altLang="en-US"/>
              <a:t>中断的概念</a:t>
            </a:r>
            <a:endParaRPr lang="zh-CN" altLang="en-US"/>
          </a:p>
        </p:txBody>
      </p:sp>
      <p:sp>
        <p:nvSpPr>
          <p:cNvPr id="31747" name="Rectangle 3"/>
          <p:cNvSpPr>
            <a:spLocks noGrp="1" noChangeArrowheads="1"/>
          </p:cNvSpPr>
          <p:nvPr>
            <p:ph idx="1"/>
          </p:nvPr>
        </p:nvSpPr>
        <p:spPr/>
        <p:txBody>
          <a:bodyPr/>
          <a:lstStyle/>
          <a:p>
            <a:pPr eaLnBrk="1" hangingPunct="1"/>
            <a:r>
              <a:rPr lang="zh-CN" altLang="en-US" dirty="0"/>
              <a:t>中断（</a:t>
            </a:r>
            <a:r>
              <a:rPr lang="en-US" altLang="zh-CN" dirty="0"/>
              <a:t>Interrupt</a:t>
            </a:r>
            <a:r>
              <a:rPr lang="zh-CN" altLang="en-US" dirty="0"/>
              <a:t>）是指</a:t>
            </a:r>
            <a:r>
              <a:rPr lang="en-US" altLang="zh-CN" dirty="0"/>
              <a:t>CPU</a:t>
            </a:r>
            <a:r>
              <a:rPr lang="zh-CN" altLang="en-US" dirty="0"/>
              <a:t>暂时中止现行程序，转去处理随机发生的紧急事件，处理完后自动返回原程序的功能和技术</a:t>
            </a:r>
            <a:endParaRPr lang="zh-CN" altLang="en-US" dirty="0"/>
          </a:p>
          <a:p>
            <a:pPr eaLnBrk="1" hangingPunct="1"/>
            <a:r>
              <a:rPr lang="zh-CN" altLang="en-US" dirty="0"/>
              <a:t>中断系统是计算机实现中断功能的软硬件总称，一般包括：</a:t>
            </a:r>
            <a:endParaRPr lang="zh-CN" altLang="en-US" dirty="0"/>
          </a:p>
          <a:p>
            <a:pPr lvl="1" eaLnBrk="1" hangingPunct="1"/>
            <a:r>
              <a:rPr lang="zh-CN" altLang="en-US" dirty="0"/>
              <a:t>在</a:t>
            </a:r>
            <a:r>
              <a:rPr lang="en-US" altLang="zh-CN" dirty="0"/>
              <a:t>CPU</a:t>
            </a:r>
            <a:r>
              <a:rPr lang="zh-CN" altLang="en-US" dirty="0"/>
              <a:t>中设置的中断机构</a:t>
            </a:r>
            <a:endParaRPr lang="zh-CN" altLang="en-US" dirty="0"/>
          </a:p>
          <a:p>
            <a:pPr lvl="1" eaLnBrk="1" hangingPunct="1"/>
            <a:r>
              <a:rPr lang="zh-CN" altLang="en-US" dirty="0"/>
              <a:t>在系统中设置的中断控制器</a:t>
            </a:r>
            <a:endParaRPr lang="zh-CN" altLang="en-US" dirty="0"/>
          </a:p>
          <a:p>
            <a:pPr lvl="1" eaLnBrk="1" hangingPunct="1"/>
            <a:r>
              <a:rPr lang="zh-CN" altLang="en-US" dirty="0"/>
              <a:t>在软件上设置相应的中断服务程序</a:t>
            </a:r>
            <a:endParaRPr lang="zh-CN" altLang="en-US" dirty="0"/>
          </a:p>
        </p:txBody>
      </p:sp>
    </p:spTree>
  </p:cSld>
  <p:clrMapOvr>
    <a:masterClrMapping/>
  </p:clrMapOvr>
  <p:transition spd="med">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pPr eaLnBrk="1" hangingPunct="1">
              <a:defRPr/>
            </a:pPr>
            <a:r>
              <a:rPr lang="zh-CN" altLang="en-US"/>
              <a:t>中断方式的典型应用 </a:t>
            </a:r>
            <a:endParaRPr lang="zh-CN" altLang="en-US"/>
          </a:p>
        </p:txBody>
      </p:sp>
      <p:sp>
        <p:nvSpPr>
          <p:cNvPr id="32771" name="Rectangle 3"/>
          <p:cNvSpPr>
            <a:spLocks noGrp="1" noChangeArrowheads="1"/>
          </p:cNvSpPr>
          <p:nvPr>
            <p:ph idx="1"/>
          </p:nvPr>
        </p:nvSpPr>
        <p:spPr/>
        <p:txBody>
          <a:bodyPr/>
          <a:lstStyle/>
          <a:p>
            <a:pPr eaLnBrk="1" hangingPunct="1"/>
            <a:r>
              <a:rPr lang="zh-CN" altLang="en-US" dirty="0"/>
              <a:t>以中断方式实现</a:t>
            </a:r>
            <a:r>
              <a:rPr lang="en-US" altLang="zh-CN" dirty="0"/>
              <a:t>CPU</a:t>
            </a:r>
            <a:r>
              <a:rPr lang="zh-CN" altLang="en-US" dirty="0"/>
              <a:t>与外界进行信息交换的握手联络，实现</a:t>
            </a:r>
            <a:r>
              <a:rPr lang="en-US" altLang="zh-CN" dirty="0"/>
              <a:t>CPU</a:t>
            </a:r>
            <a:r>
              <a:rPr lang="zh-CN" altLang="en-US" dirty="0"/>
              <a:t>与外设的并行工作 </a:t>
            </a:r>
            <a:endParaRPr lang="zh-CN" altLang="en-US" dirty="0"/>
          </a:p>
          <a:p>
            <a:pPr eaLnBrk="1" hangingPunct="1"/>
            <a:r>
              <a:rPr lang="zh-CN" altLang="en-US" dirty="0"/>
              <a:t>故障处理 </a:t>
            </a:r>
            <a:endParaRPr lang="zh-CN" altLang="en-US" dirty="0"/>
          </a:p>
          <a:p>
            <a:pPr eaLnBrk="1" hangingPunct="1"/>
            <a:r>
              <a:rPr lang="zh-CN" altLang="en-US" dirty="0"/>
              <a:t>实时处理 </a:t>
            </a:r>
            <a:endParaRPr lang="zh-CN" altLang="en-US" dirty="0"/>
          </a:p>
          <a:p>
            <a:pPr eaLnBrk="1" hangingPunct="1"/>
            <a:r>
              <a:rPr lang="zh-CN" altLang="en-US" dirty="0"/>
              <a:t>程序调度</a:t>
            </a:r>
            <a:endParaRPr lang="zh-CN" altLang="en-US" dirty="0"/>
          </a:p>
          <a:p>
            <a:pPr eaLnBrk="1" hangingPunct="1"/>
            <a:r>
              <a:rPr lang="zh-CN" altLang="en-US" dirty="0"/>
              <a:t>软中断（程序自愿中断 ）</a:t>
            </a:r>
            <a:endParaRPr lang="zh-CN" altLang="en-US" dirty="0"/>
          </a:p>
        </p:txBody>
      </p:sp>
    </p:spTree>
  </p:cSld>
  <p:clrMapOvr>
    <a:masterClrMapping/>
  </p:clrMapOvr>
  <p:transition spd="med">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pPr eaLnBrk="1" hangingPunct="1">
              <a:defRPr/>
            </a:pPr>
            <a:r>
              <a:rPr lang="zh-CN" altLang="en-US"/>
              <a:t>中断源</a:t>
            </a:r>
            <a:endParaRPr lang="zh-CN" altLang="en-US"/>
          </a:p>
        </p:txBody>
      </p:sp>
      <p:sp>
        <p:nvSpPr>
          <p:cNvPr id="33795" name="Rectangle 3"/>
          <p:cNvSpPr>
            <a:spLocks noGrp="1" noChangeArrowheads="1"/>
          </p:cNvSpPr>
          <p:nvPr>
            <p:ph idx="1"/>
          </p:nvPr>
        </p:nvSpPr>
        <p:spPr/>
        <p:txBody>
          <a:bodyPr/>
          <a:lstStyle/>
          <a:p>
            <a:pPr eaLnBrk="1" hangingPunct="1"/>
            <a:r>
              <a:rPr lang="zh-CN" altLang="en-US" sz="2800" dirty="0"/>
              <a:t>中断源：能够向</a:t>
            </a:r>
            <a:r>
              <a:rPr lang="en-US" altLang="zh-CN" sz="2800" dirty="0"/>
              <a:t>CPU</a:t>
            </a:r>
            <a:r>
              <a:rPr lang="zh-CN" altLang="en-US" sz="2800" dirty="0"/>
              <a:t>发出中断请求的事件（部件）</a:t>
            </a:r>
            <a:endParaRPr lang="zh-CN" altLang="en-US" sz="2800" dirty="0"/>
          </a:p>
          <a:p>
            <a:pPr eaLnBrk="1" hangingPunct="1"/>
            <a:r>
              <a:rPr lang="zh-CN" altLang="en-US" sz="2800" dirty="0"/>
              <a:t>常见中断源有：</a:t>
            </a:r>
            <a:endParaRPr lang="zh-CN" altLang="en-US" sz="2800" dirty="0"/>
          </a:p>
          <a:p>
            <a:pPr lvl="1" eaLnBrk="1" hangingPunct="1"/>
            <a:r>
              <a:rPr lang="zh-CN" altLang="en-US" dirty="0">
                <a:latin typeface="宋体" panose="02010600030101010101" pitchFamily="2" charset="-122"/>
              </a:rPr>
              <a:t>输入、输出设备中断。如键盘、打印机等工作过程中已做好接收或发送准备</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数据通道中断。如磁盘、磁带等要同主机进行数据交换</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实时时钟中断</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故障中断。例如电源掉电、设备故障等要求</a:t>
            </a:r>
            <a:r>
              <a:rPr lang="en-US" altLang="zh-CN" dirty="0">
                <a:latin typeface="宋体" panose="02010600030101010101" pitchFamily="2" charset="-122"/>
              </a:rPr>
              <a:t>CPU</a:t>
            </a:r>
            <a:r>
              <a:rPr lang="zh-CN" altLang="en-US" dirty="0">
                <a:latin typeface="宋体" panose="02010600030101010101" pitchFamily="2" charset="-122"/>
              </a:rPr>
              <a:t>进行紧急处理等</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系统中断。如运算过程出现溢出、数据格式非法，数据传送过程出现校验错，控制器遇到非法指令等等</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为了调试程序而设置的中断</a:t>
            </a:r>
            <a:endParaRPr lang="zh-CN" altLang="en-US" dirty="0">
              <a:latin typeface="宋体" panose="02010600030101010101" pitchFamily="2" charset="-122"/>
            </a:endParaRPr>
          </a:p>
        </p:txBody>
      </p:sp>
    </p:spTree>
  </p:cSld>
  <p:clrMapOvr>
    <a:masterClrMapping/>
  </p:clrMapOvr>
  <p:transition spd="med">
    <p:pull dir="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9429" name="Rectangle 5"/>
          <p:cNvSpPr>
            <a:spLocks noGrp="1" noChangeArrowheads="1"/>
          </p:cNvSpPr>
          <p:nvPr>
            <p:ph type="title"/>
          </p:nvPr>
        </p:nvSpPr>
        <p:spPr/>
        <p:txBody>
          <a:bodyPr/>
          <a:lstStyle/>
          <a:p>
            <a:pPr eaLnBrk="1" hangingPunct="1">
              <a:defRPr/>
            </a:pPr>
            <a:r>
              <a:rPr lang="zh-CN" altLang="en-US"/>
              <a:t>中断处理过程</a:t>
            </a:r>
            <a:endParaRPr lang="zh-CN" altLang="en-US"/>
          </a:p>
        </p:txBody>
      </p:sp>
      <p:sp>
        <p:nvSpPr>
          <p:cNvPr id="359427" name="Rectangle 3"/>
          <p:cNvSpPr>
            <a:spLocks noGrp="1" noChangeArrowheads="1"/>
          </p:cNvSpPr>
          <p:nvPr>
            <p:ph idx="1"/>
          </p:nvPr>
        </p:nvSpPr>
        <p:spPr>
          <a:xfrm>
            <a:off x="345141" y="1281393"/>
            <a:ext cx="4968875" cy="5318125"/>
          </a:xfrm>
        </p:spPr>
        <p:txBody>
          <a:bodyPr/>
          <a:lstStyle/>
          <a:p>
            <a:pPr algn="just" eaLnBrk="1" hangingPunct="1">
              <a:lnSpc>
                <a:spcPct val="80000"/>
              </a:lnSpc>
            </a:pPr>
            <a:r>
              <a:rPr lang="zh-CN" altLang="en-US" dirty="0">
                <a:latin typeface="方正粗圆简体" pitchFamily="2" charset="-122"/>
              </a:rPr>
              <a:t>中断请求</a:t>
            </a:r>
            <a:endParaRPr lang="zh-CN" altLang="en-US" dirty="0">
              <a:latin typeface="方正粗圆简体" pitchFamily="2" charset="-122"/>
            </a:endParaRPr>
          </a:p>
          <a:p>
            <a:pPr algn="just" eaLnBrk="1" hangingPunct="1">
              <a:lnSpc>
                <a:spcPct val="80000"/>
              </a:lnSpc>
            </a:pPr>
            <a:r>
              <a:rPr lang="zh-CN" altLang="en-US" dirty="0">
                <a:latin typeface="方正粗圆简体" pitchFamily="2" charset="-122"/>
              </a:rPr>
              <a:t>中断排队与判优</a:t>
            </a:r>
            <a:endParaRPr lang="zh-CN" altLang="en-US" dirty="0">
              <a:latin typeface="方正粗圆简体" pitchFamily="2" charset="-122"/>
            </a:endParaRPr>
          </a:p>
          <a:p>
            <a:pPr algn="just" eaLnBrk="1" hangingPunct="1">
              <a:lnSpc>
                <a:spcPct val="80000"/>
              </a:lnSpc>
            </a:pPr>
            <a:r>
              <a:rPr lang="zh-CN" altLang="en-US" dirty="0">
                <a:latin typeface="方正粗圆简体" pitchFamily="2" charset="-122"/>
              </a:rPr>
              <a:t>中断响应</a:t>
            </a:r>
            <a:endParaRPr lang="zh-CN" altLang="en-US" dirty="0">
              <a:latin typeface="方正粗圆简体" pitchFamily="2" charset="-122"/>
            </a:endParaRPr>
          </a:p>
          <a:p>
            <a:pPr lvl="1" algn="just" eaLnBrk="1" hangingPunct="1">
              <a:lnSpc>
                <a:spcPct val="80000"/>
              </a:lnSpc>
              <a:buClr>
                <a:srgbClr val="006600"/>
              </a:buClr>
            </a:pPr>
            <a:r>
              <a:rPr lang="zh-CN" altLang="en-US" sz="2400" dirty="0">
                <a:latin typeface="方正粗圆简体" pitchFamily="2" charset="-122"/>
              </a:rPr>
              <a:t>暂时中断现行程序的执行，发出中断响应信号</a:t>
            </a:r>
            <a:endParaRPr lang="zh-CN" altLang="en-US" sz="2400" dirty="0">
              <a:latin typeface="方正粗圆简体" pitchFamily="2" charset="-122"/>
            </a:endParaRPr>
          </a:p>
          <a:p>
            <a:pPr lvl="1" algn="just" eaLnBrk="1" hangingPunct="1">
              <a:lnSpc>
                <a:spcPct val="80000"/>
              </a:lnSpc>
              <a:buClr>
                <a:srgbClr val="006600"/>
              </a:buClr>
            </a:pPr>
            <a:r>
              <a:rPr lang="zh-CN" altLang="en-US" sz="2400" dirty="0">
                <a:latin typeface="方正粗圆简体" pitchFamily="2" charset="-122"/>
              </a:rPr>
              <a:t>保存断点（返回地址）</a:t>
            </a:r>
            <a:endParaRPr lang="zh-CN" altLang="en-US" sz="2400" dirty="0">
              <a:latin typeface="方正粗圆简体" pitchFamily="2" charset="-122"/>
            </a:endParaRPr>
          </a:p>
          <a:p>
            <a:pPr lvl="1" algn="just" eaLnBrk="1" hangingPunct="1">
              <a:lnSpc>
                <a:spcPct val="80000"/>
              </a:lnSpc>
              <a:buClr>
                <a:srgbClr val="006600"/>
              </a:buClr>
            </a:pPr>
            <a:r>
              <a:rPr lang="zh-CN" altLang="en-US" sz="2400" dirty="0">
                <a:latin typeface="方正粗圆简体" pitchFamily="2" charset="-122"/>
              </a:rPr>
              <a:t>关中断</a:t>
            </a:r>
            <a:endParaRPr lang="zh-CN" altLang="en-US" sz="2400" dirty="0">
              <a:latin typeface="方正粗圆简体" pitchFamily="2" charset="-122"/>
            </a:endParaRPr>
          </a:p>
          <a:p>
            <a:pPr lvl="1" algn="just" eaLnBrk="1" hangingPunct="1">
              <a:lnSpc>
                <a:spcPct val="80000"/>
              </a:lnSpc>
              <a:buClr>
                <a:srgbClr val="006600"/>
              </a:buClr>
            </a:pPr>
            <a:r>
              <a:rPr lang="zh-CN" altLang="en-US" sz="2400" dirty="0">
                <a:latin typeface="方正粗圆简体" pitchFamily="2" charset="-122"/>
              </a:rPr>
              <a:t>查找中断源，获取中断服务程序入口地址</a:t>
            </a:r>
            <a:endParaRPr lang="zh-CN" altLang="en-US" dirty="0">
              <a:latin typeface="方正粗圆简体" pitchFamily="2" charset="-122"/>
            </a:endParaRPr>
          </a:p>
          <a:p>
            <a:pPr algn="just" eaLnBrk="1" hangingPunct="1">
              <a:lnSpc>
                <a:spcPct val="80000"/>
              </a:lnSpc>
            </a:pPr>
            <a:r>
              <a:rPr lang="zh-CN" altLang="en-US" dirty="0">
                <a:latin typeface="方正粗圆简体" pitchFamily="2" charset="-122"/>
              </a:rPr>
              <a:t>中断处理</a:t>
            </a:r>
            <a:endParaRPr lang="zh-CN" altLang="en-US" dirty="0">
              <a:latin typeface="方正粗圆简体" pitchFamily="2" charset="-122"/>
            </a:endParaRPr>
          </a:p>
          <a:p>
            <a:pPr lvl="1" algn="just" eaLnBrk="1" hangingPunct="1">
              <a:lnSpc>
                <a:spcPct val="80000"/>
              </a:lnSpc>
              <a:buClr>
                <a:srgbClr val="006600"/>
              </a:buClr>
            </a:pPr>
            <a:r>
              <a:rPr lang="zh-CN" altLang="en-US" sz="2400" dirty="0">
                <a:latin typeface="方正粗圆简体" pitchFamily="2" charset="-122"/>
              </a:rPr>
              <a:t>保护现场</a:t>
            </a:r>
            <a:endParaRPr lang="zh-CN" altLang="en-US" sz="2400" dirty="0">
              <a:latin typeface="方正粗圆简体" pitchFamily="2" charset="-122"/>
            </a:endParaRPr>
          </a:p>
          <a:p>
            <a:pPr lvl="1" algn="just" eaLnBrk="1" hangingPunct="1">
              <a:lnSpc>
                <a:spcPct val="80000"/>
              </a:lnSpc>
              <a:buClr>
                <a:srgbClr val="006600"/>
              </a:buClr>
            </a:pPr>
            <a:r>
              <a:rPr lang="zh-CN" altLang="en-US" sz="2400" dirty="0">
                <a:latin typeface="方正粗圆简体" pitchFamily="2" charset="-122"/>
              </a:rPr>
              <a:t>中断服务</a:t>
            </a:r>
            <a:endParaRPr lang="zh-CN" altLang="en-US" dirty="0">
              <a:latin typeface="方正粗圆简体" pitchFamily="2" charset="-122"/>
            </a:endParaRPr>
          </a:p>
          <a:p>
            <a:pPr algn="just" eaLnBrk="1" hangingPunct="1">
              <a:lnSpc>
                <a:spcPct val="80000"/>
              </a:lnSpc>
            </a:pPr>
            <a:r>
              <a:rPr lang="zh-CN" altLang="en-US" dirty="0">
                <a:latin typeface="方正粗圆简体" pitchFamily="2" charset="-122"/>
              </a:rPr>
              <a:t>恢复现场与中断返回</a:t>
            </a:r>
            <a:endParaRPr lang="zh-CN" altLang="en-US" dirty="0">
              <a:latin typeface="方正粗圆简体" pitchFamily="2" charset="-122"/>
            </a:endParaRPr>
          </a:p>
        </p:txBody>
      </p:sp>
      <p:pic>
        <p:nvPicPr>
          <p:cNvPr id="3482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10200" y="1066800"/>
            <a:ext cx="3611562" cy="547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94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94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942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5942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5942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5942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35942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59427">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359427">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359427">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35942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autoUpdateAnimBg="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eaLnBrk="1" hangingPunct="1">
              <a:defRPr/>
            </a:pPr>
            <a:r>
              <a:rPr lang="zh-CN" altLang="en-US"/>
              <a:t>程序中断方式基本接口</a:t>
            </a:r>
            <a:endParaRPr lang="zh-CN" altLang="en-US"/>
          </a:p>
        </p:txBody>
      </p:sp>
      <p:sp>
        <p:nvSpPr>
          <p:cNvPr id="36867" name="Rectangle 3"/>
          <p:cNvSpPr>
            <a:spLocks noGrp="1" noChangeArrowheads="1"/>
          </p:cNvSpPr>
          <p:nvPr>
            <p:ph idx="1"/>
          </p:nvPr>
        </p:nvSpPr>
        <p:spPr>
          <a:xfrm>
            <a:off x="34925" y="1304925"/>
            <a:ext cx="2808288" cy="5400675"/>
          </a:xfrm>
        </p:spPr>
        <p:txBody>
          <a:bodyPr/>
          <a:lstStyle/>
          <a:p>
            <a:pPr eaLnBrk="1" hangingPunct="1"/>
            <a:r>
              <a:rPr kumimoji="0" lang="en-US" altLang="zh-CN" sz="2800" dirty="0"/>
              <a:t>RD</a:t>
            </a:r>
            <a:r>
              <a:rPr kumimoji="0" lang="zh-CN" altLang="en-US" sz="2800" dirty="0"/>
              <a:t>：准备就绪</a:t>
            </a:r>
            <a:endParaRPr kumimoji="0" lang="zh-CN" altLang="en-US" sz="2800" dirty="0"/>
          </a:p>
          <a:p>
            <a:pPr eaLnBrk="1" hangingPunct="1"/>
            <a:r>
              <a:rPr kumimoji="0" lang="en-US" altLang="zh-CN" sz="2800" dirty="0"/>
              <a:t>EI</a:t>
            </a:r>
            <a:r>
              <a:rPr kumimoji="0" lang="zh-CN" altLang="en-US" sz="2800" dirty="0"/>
              <a:t>：允许中断</a:t>
            </a:r>
            <a:endParaRPr kumimoji="0" lang="zh-CN" altLang="en-US" sz="2800" dirty="0"/>
          </a:p>
          <a:p>
            <a:pPr eaLnBrk="1" hangingPunct="1"/>
            <a:r>
              <a:rPr kumimoji="0" lang="en-US" altLang="zh-CN" sz="2800" dirty="0"/>
              <a:t>BS</a:t>
            </a:r>
            <a:r>
              <a:rPr kumimoji="0" lang="zh-CN" altLang="en-US" sz="2800" dirty="0"/>
              <a:t>：忙</a:t>
            </a:r>
            <a:endParaRPr kumimoji="0" lang="zh-CN" altLang="en-US" sz="2800" dirty="0"/>
          </a:p>
          <a:p>
            <a:pPr eaLnBrk="1" hangingPunct="1"/>
            <a:r>
              <a:rPr kumimoji="0" lang="en-US" altLang="zh-CN" sz="2800" dirty="0"/>
              <a:t>IM</a:t>
            </a:r>
            <a:r>
              <a:rPr kumimoji="0" lang="zh-CN" altLang="en-US" sz="2800" dirty="0"/>
              <a:t>：中断屏蔽</a:t>
            </a:r>
            <a:endParaRPr kumimoji="0" lang="zh-CN" altLang="en-US" sz="2800" dirty="0"/>
          </a:p>
          <a:p>
            <a:pPr eaLnBrk="1" hangingPunct="1"/>
            <a:r>
              <a:rPr kumimoji="0" lang="en-US" altLang="zh-CN" sz="2800" dirty="0"/>
              <a:t>IR</a:t>
            </a:r>
            <a:r>
              <a:rPr kumimoji="0" lang="zh-CN" altLang="en-US" sz="2800" dirty="0"/>
              <a:t>：中断请求</a:t>
            </a:r>
            <a:endParaRPr kumimoji="0" lang="en-US" altLang="zh-CN" sz="2800" dirty="0"/>
          </a:p>
          <a:p>
            <a:pPr eaLnBrk="1" hangingPunct="1"/>
            <a:endParaRPr kumimoji="0" lang="en-US" altLang="zh-CN" sz="2800" dirty="0"/>
          </a:p>
          <a:p>
            <a:pPr eaLnBrk="1" hangingPunct="1">
              <a:buFont typeface="Wingdings 2" charset="2"/>
              <a:buNone/>
            </a:pPr>
            <a:r>
              <a:rPr kumimoji="0" lang="zh-CN" altLang="en-US" sz="2800" dirty="0"/>
              <a:t>当</a:t>
            </a:r>
            <a:r>
              <a:rPr kumimoji="0" lang="en-US" altLang="zh-CN" sz="2800" dirty="0"/>
              <a:t>EI=1</a:t>
            </a:r>
            <a:r>
              <a:rPr kumimoji="0" lang="zh-CN" altLang="en-US" sz="2800" dirty="0"/>
              <a:t>，</a:t>
            </a:r>
            <a:r>
              <a:rPr kumimoji="0" lang="en-US" altLang="zh-CN" sz="2800" dirty="0"/>
              <a:t>IM=0</a:t>
            </a:r>
            <a:r>
              <a:rPr kumimoji="0" lang="zh-CN" altLang="en-US" sz="2800" dirty="0"/>
              <a:t>时，响应中断请求。</a:t>
            </a:r>
            <a:r>
              <a:rPr kumimoji="0" lang="en-US" altLang="zh-CN" sz="2800" dirty="0"/>
              <a:t>EI</a:t>
            </a:r>
            <a:r>
              <a:rPr kumimoji="0" lang="zh-CN" altLang="en-US" sz="2800" dirty="0"/>
              <a:t>和</a:t>
            </a:r>
            <a:r>
              <a:rPr kumimoji="0" lang="en-US" altLang="zh-CN" sz="2800" dirty="0"/>
              <a:t>IM</a:t>
            </a:r>
            <a:r>
              <a:rPr kumimoji="0" lang="zh-CN" altLang="en-US" sz="2800" dirty="0"/>
              <a:t>可以通过软件进行设置</a:t>
            </a:r>
            <a:endParaRPr kumimoji="0" lang="zh-CN" altLang="en-US" sz="2800" dirty="0"/>
          </a:p>
        </p:txBody>
      </p:sp>
      <p:pic>
        <p:nvPicPr>
          <p:cNvPr id="36869" name="Picture 4" descr="p3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33675" y="1628775"/>
            <a:ext cx="6410325"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2981" name="Rectangle 5"/>
          <p:cNvSpPr>
            <a:spLocks noChangeArrowheads="1"/>
          </p:cNvSpPr>
          <p:nvPr/>
        </p:nvSpPr>
        <p:spPr bwMode="auto">
          <a:xfrm>
            <a:off x="4572000" y="1628775"/>
            <a:ext cx="387350" cy="336550"/>
          </a:xfrm>
          <a:prstGeom prst="rect">
            <a:avLst/>
          </a:prstGeom>
          <a:noFill/>
          <a:ln w="9525" algn="ctr">
            <a:noFill/>
            <a:miter lim="800000"/>
          </a:ln>
          <a:effectLst/>
        </p:spPr>
        <p:txBody>
          <a:bodyPr wrap="none">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①</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82" name="Rectangle 6"/>
          <p:cNvSpPr>
            <a:spLocks noChangeArrowheads="1"/>
          </p:cNvSpPr>
          <p:nvPr/>
        </p:nvSpPr>
        <p:spPr bwMode="auto">
          <a:xfrm>
            <a:off x="7524750" y="4437063"/>
            <a:ext cx="387350" cy="336550"/>
          </a:xfrm>
          <a:prstGeom prst="rect">
            <a:avLst/>
          </a:prstGeom>
          <a:noFill/>
          <a:ln w="9525" algn="ctr">
            <a:noFill/>
            <a:miter lim="800000"/>
          </a:ln>
          <a:effectLst/>
        </p:spPr>
        <p:txBody>
          <a:bodyPr wrap="none">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③</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83" name="Rectangle 7"/>
          <p:cNvSpPr>
            <a:spLocks noChangeArrowheads="1"/>
          </p:cNvSpPr>
          <p:nvPr/>
        </p:nvSpPr>
        <p:spPr bwMode="auto">
          <a:xfrm>
            <a:off x="7524750" y="2708275"/>
            <a:ext cx="387350" cy="336550"/>
          </a:xfrm>
          <a:prstGeom prst="rect">
            <a:avLst/>
          </a:prstGeom>
          <a:noFill/>
          <a:ln w="9525" algn="ctr">
            <a:noFill/>
            <a:miter lim="800000"/>
          </a:ln>
          <a:effectLst/>
        </p:spPr>
        <p:txBody>
          <a:bodyPr wrap="none">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④</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84" name="Rectangle 8"/>
          <p:cNvSpPr>
            <a:spLocks noChangeArrowheads="1"/>
          </p:cNvSpPr>
          <p:nvPr/>
        </p:nvSpPr>
        <p:spPr bwMode="auto">
          <a:xfrm>
            <a:off x="4378325" y="3597275"/>
            <a:ext cx="387350" cy="336550"/>
          </a:xfrm>
          <a:prstGeom prst="rect">
            <a:avLst/>
          </a:prstGeom>
          <a:noFill/>
          <a:ln w="9525" algn="ctr">
            <a:noFill/>
            <a:miter lim="800000"/>
          </a:ln>
          <a:effectLst/>
        </p:spPr>
        <p:txBody>
          <a:bodyPr wrap="none">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⑤</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85" name="Rectangle 9"/>
          <p:cNvSpPr>
            <a:spLocks noChangeArrowheads="1"/>
          </p:cNvSpPr>
          <p:nvPr/>
        </p:nvSpPr>
        <p:spPr bwMode="auto">
          <a:xfrm>
            <a:off x="2960688" y="4005263"/>
            <a:ext cx="387350" cy="336550"/>
          </a:xfrm>
          <a:prstGeom prst="rect">
            <a:avLst/>
          </a:prstGeom>
          <a:noFill/>
          <a:ln w="9525" algn="ctr">
            <a:noFill/>
            <a:miter lim="800000"/>
          </a:ln>
          <a:effectLst/>
        </p:spPr>
        <p:txBody>
          <a:bodyPr wrap="none">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⑥</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86" name="Rectangle 10"/>
          <p:cNvSpPr>
            <a:spLocks noChangeArrowheads="1"/>
          </p:cNvSpPr>
          <p:nvPr/>
        </p:nvSpPr>
        <p:spPr bwMode="auto">
          <a:xfrm>
            <a:off x="3990975" y="5516563"/>
            <a:ext cx="387350" cy="336550"/>
          </a:xfrm>
          <a:prstGeom prst="rect">
            <a:avLst/>
          </a:prstGeom>
          <a:noFill/>
          <a:ln w="9525" algn="ctr">
            <a:noFill/>
            <a:miter lim="800000"/>
          </a:ln>
          <a:effectLst/>
        </p:spPr>
        <p:txBody>
          <a:bodyPr>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⑧</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87" name="Rectangle 11"/>
          <p:cNvSpPr>
            <a:spLocks noChangeArrowheads="1"/>
          </p:cNvSpPr>
          <p:nvPr/>
        </p:nvSpPr>
        <p:spPr bwMode="auto">
          <a:xfrm>
            <a:off x="4378325" y="4437063"/>
            <a:ext cx="387350" cy="336550"/>
          </a:xfrm>
          <a:prstGeom prst="rect">
            <a:avLst/>
          </a:prstGeom>
          <a:noFill/>
          <a:ln w="9525" algn="ctr">
            <a:noFill/>
            <a:miter lim="800000"/>
          </a:ln>
          <a:effectLst/>
        </p:spPr>
        <p:txBody>
          <a:bodyPr wrap="none">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⑨</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88" name="Rectangle 12"/>
          <p:cNvSpPr>
            <a:spLocks noChangeArrowheads="1"/>
          </p:cNvSpPr>
          <p:nvPr/>
        </p:nvSpPr>
        <p:spPr bwMode="auto">
          <a:xfrm>
            <a:off x="7524750" y="1628775"/>
            <a:ext cx="387350" cy="336550"/>
          </a:xfrm>
          <a:prstGeom prst="rect">
            <a:avLst/>
          </a:prstGeom>
          <a:noFill/>
          <a:ln w="9525" algn="ctr">
            <a:noFill/>
            <a:miter lim="800000"/>
          </a:ln>
          <a:effectLst/>
        </p:spPr>
        <p:txBody>
          <a:bodyPr>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②</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89" name="Rectangle 13"/>
          <p:cNvSpPr>
            <a:spLocks noChangeArrowheads="1"/>
          </p:cNvSpPr>
          <p:nvPr/>
        </p:nvSpPr>
        <p:spPr bwMode="auto">
          <a:xfrm>
            <a:off x="4378325" y="5756275"/>
            <a:ext cx="387350" cy="336550"/>
          </a:xfrm>
          <a:prstGeom prst="rect">
            <a:avLst/>
          </a:prstGeom>
          <a:noFill/>
          <a:ln w="9525" algn="ctr">
            <a:noFill/>
            <a:miter lim="800000"/>
          </a:ln>
          <a:effectLst/>
        </p:spPr>
        <p:txBody>
          <a:bodyPr>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⑦</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90" name="Rectangle 14"/>
          <p:cNvSpPr>
            <a:spLocks noChangeArrowheads="1"/>
          </p:cNvSpPr>
          <p:nvPr/>
        </p:nvSpPr>
        <p:spPr bwMode="auto">
          <a:xfrm>
            <a:off x="4765675" y="5180013"/>
            <a:ext cx="387350" cy="336550"/>
          </a:xfrm>
          <a:prstGeom prst="rect">
            <a:avLst/>
          </a:prstGeom>
          <a:noFill/>
          <a:ln w="9525" algn="ctr">
            <a:noFill/>
            <a:miter lim="800000"/>
          </a:ln>
          <a:effectLst/>
        </p:spPr>
        <p:txBody>
          <a:bodyPr>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⑧</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82991" name="Rectangle 15"/>
          <p:cNvSpPr>
            <a:spLocks noChangeArrowheads="1"/>
          </p:cNvSpPr>
          <p:nvPr/>
        </p:nvSpPr>
        <p:spPr bwMode="auto">
          <a:xfrm>
            <a:off x="4572000" y="2133600"/>
            <a:ext cx="387350" cy="336550"/>
          </a:xfrm>
          <a:prstGeom prst="rect">
            <a:avLst/>
          </a:prstGeom>
          <a:noFill/>
          <a:ln w="9525" algn="ctr">
            <a:noFill/>
            <a:miter lim="800000"/>
          </a:ln>
          <a:effectLst/>
        </p:spPr>
        <p:txBody>
          <a:bodyPr wrap="none">
            <a:spAutoFit/>
          </a:body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⑩</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36881" name="Text Box 16"/>
          <p:cNvSpPr txBox="1">
            <a:spLocks noChangeArrowheads="1"/>
          </p:cNvSpPr>
          <p:nvPr/>
        </p:nvSpPr>
        <p:spPr bwMode="auto">
          <a:xfrm>
            <a:off x="3044825" y="3141663"/>
            <a:ext cx="3032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200">
                <a:ea typeface="黑体" panose="02010609060101010101" pitchFamily="49" charset="-122"/>
              </a:rPr>
              <a:t>Q</a:t>
            </a:r>
            <a:endParaRPr lang="en-US" altLang="zh-CN" sz="1200">
              <a:ea typeface="黑体" panose="02010609060101010101" pitchFamily="49" charset="-122"/>
            </a:endParaRPr>
          </a:p>
        </p:txBody>
      </p:sp>
      <p:sp>
        <p:nvSpPr>
          <p:cNvPr id="36882" name="Line 17"/>
          <p:cNvSpPr>
            <a:spLocks noChangeShapeType="1"/>
          </p:cNvSpPr>
          <p:nvPr/>
        </p:nvSpPr>
        <p:spPr bwMode="auto">
          <a:xfrm>
            <a:off x="3105150" y="3198813"/>
            <a:ext cx="15875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883" name="Text Box 16"/>
          <p:cNvSpPr txBox="1">
            <a:spLocks noChangeArrowheads="1"/>
          </p:cNvSpPr>
          <p:nvPr/>
        </p:nvSpPr>
        <p:spPr bwMode="auto">
          <a:xfrm>
            <a:off x="6443663" y="2587625"/>
            <a:ext cx="3032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200">
                <a:ea typeface="黑体" panose="02010609060101010101" pitchFamily="49" charset="-122"/>
              </a:rPr>
              <a:t>Q</a:t>
            </a:r>
            <a:endParaRPr lang="en-US" altLang="zh-CN" sz="1200">
              <a:ea typeface="黑体" panose="02010609060101010101" pitchFamily="49" charset="-122"/>
            </a:endParaRPr>
          </a:p>
        </p:txBody>
      </p:sp>
      <p:sp>
        <p:nvSpPr>
          <p:cNvPr id="36884" name="Line 17"/>
          <p:cNvSpPr>
            <a:spLocks noChangeShapeType="1"/>
          </p:cNvSpPr>
          <p:nvPr/>
        </p:nvSpPr>
        <p:spPr bwMode="auto">
          <a:xfrm>
            <a:off x="6516688" y="2636838"/>
            <a:ext cx="15875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885" name="Text Box 16"/>
          <p:cNvSpPr txBox="1">
            <a:spLocks noChangeArrowheads="1"/>
          </p:cNvSpPr>
          <p:nvPr/>
        </p:nvSpPr>
        <p:spPr bwMode="auto">
          <a:xfrm>
            <a:off x="6875463" y="25781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200">
                <a:ea typeface="黑体" panose="02010609060101010101" pitchFamily="49" charset="-122"/>
              </a:rPr>
              <a:t>Q</a:t>
            </a:r>
            <a:endParaRPr lang="en-US" altLang="zh-CN" sz="1200">
              <a:ea typeface="黑体" panose="02010609060101010101" pitchFamily="49" charset="-122"/>
            </a:endParaRPr>
          </a:p>
        </p:txBody>
      </p:sp>
      <p:sp>
        <p:nvSpPr>
          <p:cNvPr id="15365" name="Rectangle 5"/>
          <p:cNvSpPr/>
          <p:nvPr/>
        </p:nvSpPr>
        <p:spPr>
          <a:xfrm>
            <a:off x="1517650" y="6065838"/>
            <a:ext cx="8709025" cy="338137"/>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dirty="0"/>
              <a:t>①</a:t>
            </a:r>
            <a:r>
              <a:rPr lang="zh-CN" altLang="en-US" sz="1600" dirty="0"/>
              <a:t>表示由程序启动外设，将该外设接口的“忙”标志</a:t>
            </a:r>
            <a:r>
              <a:rPr lang="en-US" altLang="zh-CN" sz="1600" dirty="0"/>
              <a:t>BS</a:t>
            </a:r>
            <a:r>
              <a:rPr lang="zh-CN" altLang="en-US" sz="1600" dirty="0"/>
              <a:t>置“</a:t>
            </a:r>
            <a:r>
              <a:rPr lang="en-US" altLang="zh-CN" sz="1600" dirty="0"/>
              <a:t>1”</a:t>
            </a:r>
            <a:r>
              <a:rPr lang="zh-CN" altLang="en-US" sz="1600" dirty="0"/>
              <a:t>，“准备就绪”标志</a:t>
            </a:r>
            <a:r>
              <a:rPr lang="en-US" altLang="zh-CN" sz="1600" dirty="0"/>
              <a:t>RD</a:t>
            </a:r>
            <a:r>
              <a:rPr lang="zh-CN" altLang="en-US" sz="1600" dirty="0"/>
              <a:t>清“</a:t>
            </a:r>
            <a:r>
              <a:rPr lang="en-US" altLang="zh-CN" sz="1600" dirty="0"/>
              <a:t>0”</a:t>
            </a:r>
            <a:r>
              <a:rPr lang="zh-CN" altLang="en-US" sz="1600" dirty="0"/>
              <a:t>；</a:t>
            </a:r>
            <a:endParaRPr lang="zh-CN" altLang="en-US" sz="1600" dirty="0"/>
          </a:p>
        </p:txBody>
      </p:sp>
      <p:sp>
        <p:nvSpPr>
          <p:cNvPr id="15366" name="Rectangle 6"/>
          <p:cNvSpPr/>
          <p:nvPr/>
        </p:nvSpPr>
        <p:spPr>
          <a:xfrm>
            <a:off x="2978150" y="6065838"/>
            <a:ext cx="36131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1800" dirty="0"/>
              <a:t>②</a:t>
            </a:r>
            <a:r>
              <a:rPr lang="zh-CN" altLang="en-US" sz="1800" dirty="0"/>
              <a:t>表示接口向外设发出启动信号；</a:t>
            </a:r>
            <a:endParaRPr lang="zh-CN" altLang="en-US" sz="1800" dirty="0"/>
          </a:p>
        </p:txBody>
      </p:sp>
      <p:sp>
        <p:nvSpPr>
          <p:cNvPr id="15367" name="Rectangle 7"/>
          <p:cNvSpPr/>
          <p:nvPr/>
        </p:nvSpPr>
        <p:spPr>
          <a:xfrm>
            <a:off x="2978150" y="6138863"/>
            <a:ext cx="47561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③</a:t>
            </a:r>
            <a:r>
              <a:rPr lang="zh-CN" altLang="en-US" sz="1800" dirty="0"/>
              <a:t>表示数据由外设传送到接口的缓冲寄存器；</a:t>
            </a:r>
            <a:endParaRPr lang="zh-CN" altLang="en-US" sz="1800" dirty="0"/>
          </a:p>
        </p:txBody>
      </p:sp>
      <p:sp>
        <p:nvSpPr>
          <p:cNvPr id="15368" name="Rectangle 8"/>
          <p:cNvSpPr/>
          <p:nvPr/>
        </p:nvSpPr>
        <p:spPr>
          <a:xfrm>
            <a:off x="2114550" y="6189663"/>
            <a:ext cx="7042150" cy="6413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④</a:t>
            </a:r>
            <a:r>
              <a:rPr lang="zh-CN" altLang="en-US" sz="1800" dirty="0"/>
              <a:t>表示当设备动作结束或缓冲寄存器数据填满时，设备向接口送出一</a:t>
            </a:r>
            <a:endParaRPr lang="zh-CN" altLang="en-US" sz="1800" dirty="0"/>
          </a:p>
          <a:p>
            <a:pPr marL="0" lvl="0" indent="0" eaLnBrk="1" hangingPunct="1">
              <a:spcBef>
                <a:spcPct val="0"/>
              </a:spcBef>
              <a:buClrTx/>
              <a:buSzTx/>
              <a:buFontTx/>
              <a:buNone/>
            </a:pPr>
            <a:r>
              <a:rPr lang="zh-CN" altLang="en-US" sz="1800" dirty="0"/>
              <a:t>控制信号，将数据“准备就绪”标志</a:t>
            </a:r>
            <a:r>
              <a:rPr lang="en-US" altLang="zh-CN" sz="1800" dirty="0"/>
              <a:t>RD</a:t>
            </a:r>
            <a:r>
              <a:rPr lang="zh-CN" altLang="en-US" sz="1800" dirty="0"/>
              <a:t>置“</a:t>
            </a:r>
            <a:r>
              <a:rPr lang="en-US" altLang="zh-CN" sz="1800" dirty="0"/>
              <a:t>1”</a:t>
            </a:r>
            <a:r>
              <a:rPr lang="zh-CN" altLang="en-US" sz="1800" dirty="0"/>
              <a:t>；</a:t>
            </a:r>
            <a:endParaRPr lang="zh-CN" altLang="en-US" sz="1800" dirty="0"/>
          </a:p>
        </p:txBody>
      </p:sp>
      <p:sp>
        <p:nvSpPr>
          <p:cNvPr id="15369" name="Rectangle 9"/>
          <p:cNvSpPr/>
          <p:nvPr/>
        </p:nvSpPr>
        <p:spPr>
          <a:xfrm>
            <a:off x="2114550" y="6065838"/>
            <a:ext cx="66484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⑤</a:t>
            </a:r>
            <a:r>
              <a:rPr lang="zh-CN" altLang="en-US" sz="1800" dirty="0"/>
              <a:t>表示允许中断标志</a:t>
            </a:r>
            <a:r>
              <a:rPr lang="en-US" altLang="zh-CN" sz="1800" dirty="0"/>
              <a:t>EI</a:t>
            </a:r>
            <a:r>
              <a:rPr lang="zh-CN" altLang="en-US" sz="1800" dirty="0"/>
              <a:t>为“</a:t>
            </a:r>
            <a:r>
              <a:rPr lang="en-US" altLang="zh-CN" sz="1800" dirty="0"/>
              <a:t>1”</a:t>
            </a:r>
            <a:r>
              <a:rPr lang="zh-CN" altLang="en-US" sz="1800" dirty="0"/>
              <a:t>时，接口向</a:t>
            </a:r>
            <a:r>
              <a:rPr lang="en-US" altLang="zh-CN" sz="1800" dirty="0"/>
              <a:t>CPU</a:t>
            </a:r>
            <a:r>
              <a:rPr lang="zh-CN" altLang="en-US" sz="1800" dirty="0"/>
              <a:t>发出中断请求信号；</a:t>
            </a:r>
            <a:endParaRPr lang="zh-CN" altLang="en-US" sz="1800" dirty="0"/>
          </a:p>
        </p:txBody>
      </p:sp>
      <p:sp>
        <p:nvSpPr>
          <p:cNvPr id="15370" name="Rectangle 10"/>
          <p:cNvSpPr/>
          <p:nvPr/>
        </p:nvSpPr>
        <p:spPr>
          <a:xfrm>
            <a:off x="2330450" y="6189663"/>
            <a:ext cx="5365750" cy="6413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⑥</a:t>
            </a:r>
            <a:r>
              <a:rPr lang="zh-CN" altLang="en-US" sz="1800" dirty="0"/>
              <a:t>表示在一条指令执行末尾</a:t>
            </a:r>
            <a:r>
              <a:rPr lang="en-US" altLang="zh-CN" sz="1800" dirty="0"/>
              <a:t>CPU</a:t>
            </a:r>
            <a:r>
              <a:rPr lang="zh-CN" altLang="en-US" sz="1800" dirty="0"/>
              <a:t>检查中断请求线，</a:t>
            </a:r>
            <a:endParaRPr lang="zh-CN" altLang="en-US" sz="1800" dirty="0"/>
          </a:p>
          <a:p>
            <a:pPr marL="0" lvl="0" indent="0" eaLnBrk="1" hangingPunct="1">
              <a:spcBef>
                <a:spcPct val="0"/>
              </a:spcBef>
              <a:buClrTx/>
              <a:buSzTx/>
              <a:buFontTx/>
              <a:buNone/>
            </a:pPr>
            <a:r>
              <a:rPr lang="zh-CN" altLang="en-US" sz="1800" dirty="0"/>
              <a:t>将中断请求线的请求信号接收到“中断请求”标志</a:t>
            </a:r>
            <a:r>
              <a:rPr lang="en-US" altLang="zh-CN" sz="1800" dirty="0"/>
              <a:t>IR</a:t>
            </a:r>
            <a:r>
              <a:rPr lang="zh-CN" altLang="en-US" sz="1800" dirty="0"/>
              <a:t>；</a:t>
            </a:r>
            <a:endParaRPr lang="zh-CN" altLang="en-US" sz="1800" dirty="0"/>
          </a:p>
        </p:txBody>
      </p:sp>
      <p:sp>
        <p:nvSpPr>
          <p:cNvPr id="15371" name="Rectangle 11"/>
          <p:cNvSpPr/>
          <p:nvPr/>
        </p:nvSpPr>
        <p:spPr>
          <a:xfrm>
            <a:off x="2474913" y="6107113"/>
            <a:ext cx="6610350" cy="7239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en-US" altLang="zh-CN" sz="1800" dirty="0"/>
              <a:t>⑦</a:t>
            </a:r>
            <a:r>
              <a:rPr lang="zh-CN" altLang="en-US" sz="1800" dirty="0"/>
              <a:t>表示如果“中断屏蔽”标志</a:t>
            </a:r>
            <a:r>
              <a:rPr lang="en-US" altLang="zh-CN" sz="1800" dirty="0"/>
              <a:t>IM</a:t>
            </a:r>
            <a:r>
              <a:rPr lang="zh-CN" altLang="en-US" sz="1800" dirty="0"/>
              <a:t>为“</a:t>
            </a:r>
            <a:r>
              <a:rPr lang="en-US" altLang="zh-CN" sz="1800" dirty="0"/>
              <a:t>0”</a:t>
            </a:r>
            <a:r>
              <a:rPr lang="zh-CN" altLang="en-US" sz="1800" dirty="0"/>
              <a:t>时，</a:t>
            </a:r>
            <a:r>
              <a:rPr lang="en-US" altLang="zh-CN" sz="1800" dirty="0"/>
              <a:t>CPU</a:t>
            </a:r>
            <a:r>
              <a:rPr lang="zh-CN" altLang="en-US" sz="1800" dirty="0"/>
              <a:t>在一条指令执行结束</a:t>
            </a:r>
            <a:endParaRPr lang="zh-CN" altLang="en-US" sz="1800" dirty="0"/>
          </a:p>
          <a:p>
            <a:pPr marL="0" lvl="0" indent="0" eaLnBrk="1" hangingPunct="1">
              <a:spcBef>
                <a:spcPct val="30000"/>
              </a:spcBef>
              <a:buClrTx/>
              <a:buSzTx/>
              <a:buFontTx/>
              <a:buNone/>
            </a:pPr>
            <a:r>
              <a:rPr lang="zh-CN" altLang="en-US" sz="1800" dirty="0"/>
              <a:t>后受理外设的中断请求，向外设发出响应中断信号并关闭中断；</a:t>
            </a:r>
            <a:endParaRPr lang="zh-CN" altLang="en-US" sz="1800" dirty="0"/>
          </a:p>
        </p:txBody>
      </p:sp>
      <p:sp>
        <p:nvSpPr>
          <p:cNvPr id="15372" name="Rectangle 12"/>
          <p:cNvSpPr/>
          <p:nvPr/>
        </p:nvSpPr>
        <p:spPr>
          <a:xfrm>
            <a:off x="3554413" y="6065838"/>
            <a:ext cx="42989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⑧</a:t>
            </a:r>
            <a:r>
              <a:rPr lang="zh-CN" altLang="en-US" sz="1800" dirty="0"/>
              <a:t>表示转向该设备的中断服务程序入口；</a:t>
            </a:r>
            <a:endParaRPr lang="zh-CN" altLang="en-US" sz="1800" dirty="0"/>
          </a:p>
        </p:txBody>
      </p:sp>
      <p:sp>
        <p:nvSpPr>
          <p:cNvPr id="15374" name="Rectangle 14"/>
          <p:cNvSpPr/>
          <p:nvPr/>
        </p:nvSpPr>
        <p:spPr>
          <a:xfrm>
            <a:off x="2762250" y="6210300"/>
            <a:ext cx="6521450" cy="366713"/>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a:t>
            </a:r>
            <a:r>
              <a:rPr lang="en-US" altLang="zh-CN" sz="1800" dirty="0"/>
              <a:t>10</a:t>
            </a:r>
            <a:r>
              <a:rPr lang="zh-CN" altLang="en-US" sz="1800" dirty="0"/>
              <a:t>）表示</a:t>
            </a:r>
            <a:r>
              <a:rPr lang="en-US" altLang="zh-CN" sz="1800" dirty="0"/>
              <a:t>CPU</a:t>
            </a:r>
            <a:r>
              <a:rPr lang="zh-CN" altLang="en-US" sz="1800" dirty="0"/>
              <a:t>发出控制信号</a:t>
            </a:r>
            <a:r>
              <a:rPr lang="en-US" altLang="zh-CN" sz="1800" dirty="0"/>
              <a:t>C</a:t>
            </a:r>
            <a:r>
              <a:rPr lang="zh-CN" altLang="en-US" sz="1800" dirty="0"/>
              <a:t>将接口中的</a:t>
            </a:r>
            <a:r>
              <a:rPr lang="en-US" altLang="zh-CN" sz="1800" dirty="0"/>
              <a:t>BS</a:t>
            </a:r>
            <a:r>
              <a:rPr lang="zh-CN" altLang="en-US" sz="1800" dirty="0"/>
              <a:t>和</a:t>
            </a:r>
            <a:r>
              <a:rPr lang="en-US" altLang="zh-CN" sz="1800" dirty="0"/>
              <a:t>RD</a:t>
            </a:r>
            <a:r>
              <a:rPr lang="zh-CN" altLang="en-US" sz="1800" dirty="0"/>
              <a:t>标志复位。</a:t>
            </a:r>
            <a:endParaRPr lang="zh-CN" altLang="en-US" sz="1800" dirty="0"/>
          </a:p>
        </p:txBody>
      </p:sp>
      <p:sp>
        <p:nvSpPr>
          <p:cNvPr id="15373" name="Rectangle 13"/>
          <p:cNvSpPr/>
          <p:nvPr/>
        </p:nvSpPr>
        <p:spPr>
          <a:xfrm>
            <a:off x="-112712" y="6278563"/>
            <a:ext cx="93535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⑨</a:t>
            </a:r>
            <a:r>
              <a:rPr lang="zh-CN" altLang="en-US" sz="1800" dirty="0"/>
              <a:t>表示在中断服务程序通过输入指令把接口中数据缓冲寄存器的数据读至</a:t>
            </a:r>
            <a:r>
              <a:rPr lang="en-US" altLang="zh-CN" sz="1800" dirty="0"/>
              <a:t>CPU</a:t>
            </a:r>
            <a:r>
              <a:rPr lang="zh-CN" altLang="en-US" sz="1800" dirty="0"/>
              <a:t>中的寄存器；</a:t>
            </a:r>
            <a:endParaRPr lang="zh-CN" altLang="en-US" sz="1800" dirty="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5"/>
                                        </p:tgtEl>
                                        <p:attrNameLst>
                                          <p:attrName>style.visibility</p:attrName>
                                        </p:attrNameLst>
                                      </p:cBhvr>
                                      <p:to>
                                        <p:strVal val="visible"/>
                                      </p:to>
                                    </p:set>
                                    <p:anim calcmode="lin" valueType="num">
                                      <p:cBhvr additive="base">
                                        <p:cTn id="7" dur="500" fill="hold"/>
                                        <p:tgtEl>
                                          <p:spTgt spid="15365"/>
                                        </p:tgtEl>
                                        <p:attrNameLst>
                                          <p:attrName>ppt_x</p:attrName>
                                        </p:attrNameLst>
                                      </p:cBhvr>
                                      <p:tavLst>
                                        <p:tav tm="0">
                                          <p:val>
                                            <p:strVal val="#ppt_x"/>
                                          </p:val>
                                        </p:tav>
                                        <p:tav tm="100000">
                                          <p:val>
                                            <p:strVal val="#ppt_x"/>
                                          </p:val>
                                        </p:tav>
                                      </p:tavLst>
                                    </p:anim>
                                    <p:anim calcmode="lin" valueType="num">
                                      <p:cBhvr additive="base">
                                        <p:cTn id="8" dur="500" fill="hold"/>
                                        <p:tgtEl>
                                          <p:spTgt spid="153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15365"/>
                                        </p:tgtEl>
                                        <p:attrNameLst>
                                          <p:attrName>ppt_x</p:attrName>
                                        </p:attrNameLst>
                                      </p:cBhvr>
                                      <p:tavLst>
                                        <p:tav tm="0">
                                          <p:val>
                                            <p:strVal val="ppt_x"/>
                                          </p:val>
                                        </p:tav>
                                        <p:tav tm="100000">
                                          <p:val>
                                            <p:strVal val="ppt_x"/>
                                          </p:val>
                                        </p:tav>
                                      </p:tavLst>
                                    </p:anim>
                                    <p:anim calcmode="lin" valueType="num">
                                      <p:cBhvr additive="base">
                                        <p:cTn id="13" dur="500"/>
                                        <p:tgtEl>
                                          <p:spTgt spid="15365"/>
                                        </p:tgtEl>
                                        <p:attrNameLst>
                                          <p:attrName>ppt_y</p:attrName>
                                        </p:attrNameLst>
                                      </p:cBhvr>
                                      <p:tavLst>
                                        <p:tav tm="0">
                                          <p:val>
                                            <p:strVal val="ppt_y"/>
                                          </p:val>
                                        </p:tav>
                                        <p:tav tm="100000">
                                          <p:val>
                                            <p:strVal val="1+ppt_h/2"/>
                                          </p:val>
                                        </p:tav>
                                      </p:tavLst>
                                    </p:anim>
                                    <p:set>
                                      <p:cBhvr>
                                        <p:cTn id="14" dur="1" fill="hold">
                                          <p:stCondLst>
                                            <p:cond delay="499"/>
                                          </p:stCondLst>
                                        </p:cTn>
                                        <p:tgtEl>
                                          <p:spTgt spid="1536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6"/>
                                        </p:tgtEl>
                                        <p:attrNameLst>
                                          <p:attrName>style.visibility</p:attrName>
                                        </p:attrNameLst>
                                      </p:cBhvr>
                                      <p:to>
                                        <p:strVal val="visible"/>
                                      </p:to>
                                    </p:set>
                                    <p:anim calcmode="lin" valueType="num">
                                      <p:cBhvr additive="base">
                                        <p:cTn id="19" dur="500" fill="hold"/>
                                        <p:tgtEl>
                                          <p:spTgt spid="15366"/>
                                        </p:tgtEl>
                                        <p:attrNameLst>
                                          <p:attrName>ppt_x</p:attrName>
                                        </p:attrNameLst>
                                      </p:cBhvr>
                                      <p:tavLst>
                                        <p:tav tm="0">
                                          <p:val>
                                            <p:strVal val="#ppt_x"/>
                                          </p:val>
                                        </p:tav>
                                        <p:tav tm="100000">
                                          <p:val>
                                            <p:strVal val="#ppt_x"/>
                                          </p:val>
                                        </p:tav>
                                      </p:tavLst>
                                    </p:anim>
                                    <p:anim calcmode="lin" valueType="num">
                                      <p:cBhvr additive="base">
                                        <p:cTn id="20"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15366"/>
                                        </p:tgtEl>
                                        <p:attrNameLst>
                                          <p:attrName>ppt_x</p:attrName>
                                        </p:attrNameLst>
                                      </p:cBhvr>
                                      <p:tavLst>
                                        <p:tav tm="0">
                                          <p:val>
                                            <p:strVal val="ppt_x"/>
                                          </p:val>
                                        </p:tav>
                                        <p:tav tm="100000">
                                          <p:val>
                                            <p:strVal val="ppt_x"/>
                                          </p:val>
                                        </p:tav>
                                      </p:tavLst>
                                    </p:anim>
                                    <p:anim calcmode="lin" valueType="num">
                                      <p:cBhvr additive="base">
                                        <p:cTn id="25" dur="500"/>
                                        <p:tgtEl>
                                          <p:spTgt spid="15366"/>
                                        </p:tgtEl>
                                        <p:attrNameLst>
                                          <p:attrName>ppt_y</p:attrName>
                                        </p:attrNameLst>
                                      </p:cBhvr>
                                      <p:tavLst>
                                        <p:tav tm="0">
                                          <p:val>
                                            <p:strVal val="ppt_y"/>
                                          </p:val>
                                        </p:tav>
                                        <p:tav tm="100000">
                                          <p:val>
                                            <p:strVal val="1+ppt_h/2"/>
                                          </p:val>
                                        </p:tav>
                                      </p:tavLst>
                                    </p:anim>
                                    <p:set>
                                      <p:cBhvr>
                                        <p:cTn id="26" dur="1" fill="hold">
                                          <p:stCondLst>
                                            <p:cond delay="499"/>
                                          </p:stCondLst>
                                        </p:cTn>
                                        <p:tgtEl>
                                          <p:spTgt spid="1536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67"/>
                                        </p:tgtEl>
                                        <p:attrNameLst>
                                          <p:attrName>style.visibility</p:attrName>
                                        </p:attrNameLst>
                                      </p:cBhvr>
                                      <p:to>
                                        <p:strVal val="visible"/>
                                      </p:to>
                                    </p:set>
                                    <p:anim calcmode="lin" valueType="num">
                                      <p:cBhvr additive="base">
                                        <p:cTn id="31" dur="500" fill="hold"/>
                                        <p:tgtEl>
                                          <p:spTgt spid="15367"/>
                                        </p:tgtEl>
                                        <p:attrNameLst>
                                          <p:attrName>ppt_x</p:attrName>
                                        </p:attrNameLst>
                                      </p:cBhvr>
                                      <p:tavLst>
                                        <p:tav tm="0">
                                          <p:val>
                                            <p:strVal val="#ppt_x"/>
                                          </p:val>
                                        </p:tav>
                                        <p:tav tm="100000">
                                          <p:val>
                                            <p:strVal val="#ppt_x"/>
                                          </p:val>
                                        </p:tav>
                                      </p:tavLst>
                                    </p:anim>
                                    <p:anim calcmode="lin" valueType="num">
                                      <p:cBhvr additive="base">
                                        <p:cTn id="32"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additive="base">
                                        <p:cTn id="36" dur="500"/>
                                        <p:tgtEl>
                                          <p:spTgt spid="15367"/>
                                        </p:tgtEl>
                                        <p:attrNameLst>
                                          <p:attrName>ppt_x</p:attrName>
                                        </p:attrNameLst>
                                      </p:cBhvr>
                                      <p:tavLst>
                                        <p:tav tm="0">
                                          <p:val>
                                            <p:strVal val="ppt_x"/>
                                          </p:val>
                                        </p:tav>
                                        <p:tav tm="100000">
                                          <p:val>
                                            <p:strVal val="ppt_x"/>
                                          </p:val>
                                        </p:tav>
                                      </p:tavLst>
                                    </p:anim>
                                    <p:anim calcmode="lin" valueType="num">
                                      <p:cBhvr additive="base">
                                        <p:cTn id="37" dur="500"/>
                                        <p:tgtEl>
                                          <p:spTgt spid="15367"/>
                                        </p:tgtEl>
                                        <p:attrNameLst>
                                          <p:attrName>ppt_y</p:attrName>
                                        </p:attrNameLst>
                                      </p:cBhvr>
                                      <p:tavLst>
                                        <p:tav tm="0">
                                          <p:val>
                                            <p:strVal val="ppt_y"/>
                                          </p:val>
                                        </p:tav>
                                        <p:tav tm="100000">
                                          <p:val>
                                            <p:strVal val="1+ppt_h/2"/>
                                          </p:val>
                                        </p:tav>
                                      </p:tavLst>
                                    </p:anim>
                                    <p:set>
                                      <p:cBhvr>
                                        <p:cTn id="38" dur="1" fill="hold">
                                          <p:stCondLst>
                                            <p:cond delay="499"/>
                                          </p:stCondLst>
                                        </p:cTn>
                                        <p:tgtEl>
                                          <p:spTgt spid="1536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368"/>
                                        </p:tgtEl>
                                        <p:attrNameLst>
                                          <p:attrName>style.visibility</p:attrName>
                                        </p:attrNameLst>
                                      </p:cBhvr>
                                      <p:to>
                                        <p:strVal val="visible"/>
                                      </p:to>
                                    </p:set>
                                    <p:anim calcmode="lin" valueType="num">
                                      <p:cBhvr additive="base">
                                        <p:cTn id="43" dur="500" fill="hold"/>
                                        <p:tgtEl>
                                          <p:spTgt spid="15368"/>
                                        </p:tgtEl>
                                        <p:attrNameLst>
                                          <p:attrName>ppt_x</p:attrName>
                                        </p:attrNameLst>
                                      </p:cBhvr>
                                      <p:tavLst>
                                        <p:tav tm="0">
                                          <p:val>
                                            <p:strVal val="#ppt_x"/>
                                          </p:val>
                                        </p:tav>
                                        <p:tav tm="100000">
                                          <p:val>
                                            <p:strVal val="#ppt_x"/>
                                          </p:val>
                                        </p:tav>
                                      </p:tavLst>
                                    </p:anim>
                                    <p:anim calcmode="lin" valueType="num">
                                      <p:cBhvr additive="base">
                                        <p:cTn id="44" dur="500" fill="hold"/>
                                        <p:tgtEl>
                                          <p:spTgt spid="1536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15368"/>
                                        </p:tgtEl>
                                        <p:attrNameLst>
                                          <p:attrName>ppt_x</p:attrName>
                                        </p:attrNameLst>
                                      </p:cBhvr>
                                      <p:tavLst>
                                        <p:tav tm="0">
                                          <p:val>
                                            <p:strVal val="ppt_x"/>
                                          </p:val>
                                        </p:tav>
                                        <p:tav tm="100000">
                                          <p:val>
                                            <p:strVal val="ppt_x"/>
                                          </p:val>
                                        </p:tav>
                                      </p:tavLst>
                                    </p:anim>
                                    <p:anim calcmode="lin" valueType="num">
                                      <p:cBhvr additive="base">
                                        <p:cTn id="49" dur="500"/>
                                        <p:tgtEl>
                                          <p:spTgt spid="15368"/>
                                        </p:tgtEl>
                                        <p:attrNameLst>
                                          <p:attrName>ppt_y</p:attrName>
                                        </p:attrNameLst>
                                      </p:cBhvr>
                                      <p:tavLst>
                                        <p:tav tm="0">
                                          <p:val>
                                            <p:strVal val="ppt_y"/>
                                          </p:val>
                                        </p:tav>
                                        <p:tav tm="100000">
                                          <p:val>
                                            <p:strVal val="1+ppt_h/2"/>
                                          </p:val>
                                        </p:tav>
                                      </p:tavLst>
                                    </p:anim>
                                    <p:set>
                                      <p:cBhvr>
                                        <p:cTn id="50" dur="1" fill="hold">
                                          <p:stCondLst>
                                            <p:cond delay="499"/>
                                          </p:stCondLst>
                                        </p:cTn>
                                        <p:tgtEl>
                                          <p:spTgt spid="1536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5369"/>
                                        </p:tgtEl>
                                        <p:attrNameLst>
                                          <p:attrName>style.visibility</p:attrName>
                                        </p:attrNameLst>
                                      </p:cBhvr>
                                      <p:to>
                                        <p:strVal val="visible"/>
                                      </p:to>
                                    </p:set>
                                    <p:anim calcmode="lin" valueType="num">
                                      <p:cBhvr additive="base">
                                        <p:cTn id="55" dur="500" fill="hold"/>
                                        <p:tgtEl>
                                          <p:spTgt spid="15369"/>
                                        </p:tgtEl>
                                        <p:attrNameLst>
                                          <p:attrName>ppt_x</p:attrName>
                                        </p:attrNameLst>
                                      </p:cBhvr>
                                      <p:tavLst>
                                        <p:tav tm="0">
                                          <p:val>
                                            <p:strVal val="#ppt_x"/>
                                          </p:val>
                                        </p:tav>
                                        <p:tav tm="100000">
                                          <p:val>
                                            <p:strVal val="#ppt_x"/>
                                          </p:val>
                                        </p:tav>
                                      </p:tavLst>
                                    </p:anim>
                                    <p:anim calcmode="lin" valueType="num">
                                      <p:cBhvr additive="base">
                                        <p:cTn id="56" dur="500" fill="hold"/>
                                        <p:tgtEl>
                                          <p:spTgt spid="1536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1" nodeType="clickEffect">
                                  <p:stCondLst>
                                    <p:cond delay="0"/>
                                  </p:stCondLst>
                                  <p:childTnLst>
                                    <p:anim calcmode="lin" valueType="num">
                                      <p:cBhvr additive="base">
                                        <p:cTn id="60" dur="500"/>
                                        <p:tgtEl>
                                          <p:spTgt spid="15369"/>
                                        </p:tgtEl>
                                        <p:attrNameLst>
                                          <p:attrName>ppt_x</p:attrName>
                                        </p:attrNameLst>
                                      </p:cBhvr>
                                      <p:tavLst>
                                        <p:tav tm="0">
                                          <p:val>
                                            <p:strVal val="ppt_x"/>
                                          </p:val>
                                        </p:tav>
                                        <p:tav tm="100000">
                                          <p:val>
                                            <p:strVal val="ppt_x"/>
                                          </p:val>
                                        </p:tav>
                                      </p:tavLst>
                                    </p:anim>
                                    <p:anim calcmode="lin" valueType="num">
                                      <p:cBhvr additive="base">
                                        <p:cTn id="61" dur="500"/>
                                        <p:tgtEl>
                                          <p:spTgt spid="15369"/>
                                        </p:tgtEl>
                                        <p:attrNameLst>
                                          <p:attrName>ppt_y</p:attrName>
                                        </p:attrNameLst>
                                      </p:cBhvr>
                                      <p:tavLst>
                                        <p:tav tm="0">
                                          <p:val>
                                            <p:strVal val="ppt_y"/>
                                          </p:val>
                                        </p:tav>
                                        <p:tav tm="100000">
                                          <p:val>
                                            <p:strVal val="1+ppt_h/2"/>
                                          </p:val>
                                        </p:tav>
                                      </p:tavLst>
                                    </p:anim>
                                    <p:set>
                                      <p:cBhvr>
                                        <p:cTn id="62" dur="1" fill="hold">
                                          <p:stCondLst>
                                            <p:cond delay="499"/>
                                          </p:stCondLst>
                                        </p:cTn>
                                        <p:tgtEl>
                                          <p:spTgt spid="1536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5370"/>
                                        </p:tgtEl>
                                        <p:attrNameLst>
                                          <p:attrName>style.visibility</p:attrName>
                                        </p:attrNameLst>
                                      </p:cBhvr>
                                      <p:to>
                                        <p:strVal val="visible"/>
                                      </p:to>
                                    </p:set>
                                    <p:anim calcmode="lin" valueType="num">
                                      <p:cBhvr additive="base">
                                        <p:cTn id="67" dur="500" fill="hold"/>
                                        <p:tgtEl>
                                          <p:spTgt spid="15370"/>
                                        </p:tgtEl>
                                        <p:attrNameLst>
                                          <p:attrName>ppt_x</p:attrName>
                                        </p:attrNameLst>
                                      </p:cBhvr>
                                      <p:tavLst>
                                        <p:tav tm="0">
                                          <p:val>
                                            <p:strVal val="#ppt_x"/>
                                          </p:val>
                                        </p:tav>
                                        <p:tav tm="100000">
                                          <p:val>
                                            <p:strVal val="#ppt_x"/>
                                          </p:val>
                                        </p:tav>
                                      </p:tavLst>
                                    </p:anim>
                                    <p:anim calcmode="lin" valueType="num">
                                      <p:cBhvr additive="base">
                                        <p:cTn id="68" dur="500" fill="hold"/>
                                        <p:tgtEl>
                                          <p:spTgt spid="1537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1" nodeType="clickEffect">
                                  <p:stCondLst>
                                    <p:cond delay="0"/>
                                  </p:stCondLst>
                                  <p:childTnLst>
                                    <p:anim calcmode="lin" valueType="num">
                                      <p:cBhvr additive="base">
                                        <p:cTn id="72" dur="500"/>
                                        <p:tgtEl>
                                          <p:spTgt spid="15370"/>
                                        </p:tgtEl>
                                        <p:attrNameLst>
                                          <p:attrName>ppt_x</p:attrName>
                                        </p:attrNameLst>
                                      </p:cBhvr>
                                      <p:tavLst>
                                        <p:tav tm="0">
                                          <p:val>
                                            <p:strVal val="ppt_x"/>
                                          </p:val>
                                        </p:tav>
                                        <p:tav tm="100000">
                                          <p:val>
                                            <p:strVal val="ppt_x"/>
                                          </p:val>
                                        </p:tav>
                                      </p:tavLst>
                                    </p:anim>
                                    <p:anim calcmode="lin" valueType="num">
                                      <p:cBhvr additive="base">
                                        <p:cTn id="73" dur="500"/>
                                        <p:tgtEl>
                                          <p:spTgt spid="15370"/>
                                        </p:tgtEl>
                                        <p:attrNameLst>
                                          <p:attrName>ppt_y</p:attrName>
                                        </p:attrNameLst>
                                      </p:cBhvr>
                                      <p:tavLst>
                                        <p:tav tm="0">
                                          <p:val>
                                            <p:strVal val="ppt_y"/>
                                          </p:val>
                                        </p:tav>
                                        <p:tav tm="100000">
                                          <p:val>
                                            <p:strVal val="1+ppt_h/2"/>
                                          </p:val>
                                        </p:tav>
                                      </p:tavLst>
                                    </p:anim>
                                    <p:set>
                                      <p:cBhvr>
                                        <p:cTn id="74" dur="1" fill="hold">
                                          <p:stCondLst>
                                            <p:cond delay="499"/>
                                          </p:stCondLst>
                                        </p:cTn>
                                        <p:tgtEl>
                                          <p:spTgt spid="1537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5371"/>
                                        </p:tgtEl>
                                        <p:attrNameLst>
                                          <p:attrName>style.visibility</p:attrName>
                                        </p:attrNameLst>
                                      </p:cBhvr>
                                      <p:to>
                                        <p:strVal val="visible"/>
                                      </p:to>
                                    </p:set>
                                    <p:anim calcmode="lin" valueType="num">
                                      <p:cBhvr additive="base">
                                        <p:cTn id="79" dur="500" fill="hold"/>
                                        <p:tgtEl>
                                          <p:spTgt spid="15371"/>
                                        </p:tgtEl>
                                        <p:attrNameLst>
                                          <p:attrName>ppt_x</p:attrName>
                                        </p:attrNameLst>
                                      </p:cBhvr>
                                      <p:tavLst>
                                        <p:tav tm="0">
                                          <p:val>
                                            <p:strVal val="#ppt_x"/>
                                          </p:val>
                                        </p:tav>
                                        <p:tav tm="100000">
                                          <p:val>
                                            <p:strVal val="#ppt_x"/>
                                          </p:val>
                                        </p:tav>
                                      </p:tavLst>
                                    </p:anim>
                                    <p:anim calcmode="lin" valueType="num">
                                      <p:cBhvr additive="base">
                                        <p:cTn id="80" dur="500" fill="hold"/>
                                        <p:tgtEl>
                                          <p:spTgt spid="15371"/>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xit" presetSubtype="4" fill="hold" grpId="1" nodeType="clickEffect">
                                  <p:stCondLst>
                                    <p:cond delay="0"/>
                                  </p:stCondLst>
                                  <p:childTnLst>
                                    <p:anim calcmode="lin" valueType="num">
                                      <p:cBhvr additive="base">
                                        <p:cTn id="84" dur="500"/>
                                        <p:tgtEl>
                                          <p:spTgt spid="15371"/>
                                        </p:tgtEl>
                                        <p:attrNameLst>
                                          <p:attrName>ppt_x</p:attrName>
                                        </p:attrNameLst>
                                      </p:cBhvr>
                                      <p:tavLst>
                                        <p:tav tm="0">
                                          <p:val>
                                            <p:strVal val="ppt_x"/>
                                          </p:val>
                                        </p:tav>
                                        <p:tav tm="100000">
                                          <p:val>
                                            <p:strVal val="ppt_x"/>
                                          </p:val>
                                        </p:tav>
                                      </p:tavLst>
                                    </p:anim>
                                    <p:anim calcmode="lin" valueType="num">
                                      <p:cBhvr additive="base">
                                        <p:cTn id="85" dur="500"/>
                                        <p:tgtEl>
                                          <p:spTgt spid="15371"/>
                                        </p:tgtEl>
                                        <p:attrNameLst>
                                          <p:attrName>ppt_y</p:attrName>
                                        </p:attrNameLst>
                                      </p:cBhvr>
                                      <p:tavLst>
                                        <p:tav tm="0">
                                          <p:val>
                                            <p:strVal val="ppt_y"/>
                                          </p:val>
                                        </p:tav>
                                        <p:tav tm="100000">
                                          <p:val>
                                            <p:strVal val="1+ppt_h/2"/>
                                          </p:val>
                                        </p:tav>
                                      </p:tavLst>
                                    </p:anim>
                                    <p:set>
                                      <p:cBhvr>
                                        <p:cTn id="86" dur="1" fill="hold">
                                          <p:stCondLst>
                                            <p:cond delay="499"/>
                                          </p:stCondLst>
                                        </p:cTn>
                                        <p:tgtEl>
                                          <p:spTgt spid="15371"/>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5372"/>
                                        </p:tgtEl>
                                        <p:attrNameLst>
                                          <p:attrName>style.visibility</p:attrName>
                                        </p:attrNameLst>
                                      </p:cBhvr>
                                      <p:to>
                                        <p:strVal val="visible"/>
                                      </p:to>
                                    </p:set>
                                    <p:anim calcmode="lin" valueType="num">
                                      <p:cBhvr additive="base">
                                        <p:cTn id="91" dur="500" fill="hold"/>
                                        <p:tgtEl>
                                          <p:spTgt spid="15372"/>
                                        </p:tgtEl>
                                        <p:attrNameLst>
                                          <p:attrName>ppt_x</p:attrName>
                                        </p:attrNameLst>
                                      </p:cBhvr>
                                      <p:tavLst>
                                        <p:tav tm="0">
                                          <p:val>
                                            <p:strVal val="#ppt_x"/>
                                          </p:val>
                                        </p:tav>
                                        <p:tav tm="100000">
                                          <p:val>
                                            <p:strVal val="#ppt_x"/>
                                          </p:val>
                                        </p:tav>
                                      </p:tavLst>
                                    </p:anim>
                                    <p:anim calcmode="lin" valueType="num">
                                      <p:cBhvr additive="base">
                                        <p:cTn id="92" dur="500" fill="hold"/>
                                        <p:tgtEl>
                                          <p:spTgt spid="15372"/>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xit" presetSubtype="4" fill="hold" grpId="1" nodeType="clickEffect">
                                  <p:stCondLst>
                                    <p:cond delay="0"/>
                                  </p:stCondLst>
                                  <p:childTnLst>
                                    <p:anim calcmode="lin" valueType="num">
                                      <p:cBhvr additive="base">
                                        <p:cTn id="96" dur="500"/>
                                        <p:tgtEl>
                                          <p:spTgt spid="15372"/>
                                        </p:tgtEl>
                                        <p:attrNameLst>
                                          <p:attrName>ppt_x</p:attrName>
                                        </p:attrNameLst>
                                      </p:cBhvr>
                                      <p:tavLst>
                                        <p:tav tm="0">
                                          <p:val>
                                            <p:strVal val="ppt_x"/>
                                          </p:val>
                                        </p:tav>
                                        <p:tav tm="100000">
                                          <p:val>
                                            <p:strVal val="ppt_x"/>
                                          </p:val>
                                        </p:tav>
                                      </p:tavLst>
                                    </p:anim>
                                    <p:anim calcmode="lin" valueType="num">
                                      <p:cBhvr additive="base">
                                        <p:cTn id="97" dur="500"/>
                                        <p:tgtEl>
                                          <p:spTgt spid="15372"/>
                                        </p:tgtEl>
                                        <p:attrNameLst>
                                          <p:attrName>ppt_y</p:attrName>
                                        </p:attrNameLst>
                                      </p:cBhvr>
                                      <p:tavLst>
                                        <p:tav tm="0">
                                          <p:val>
                                            <p:strVal val="ppt_y"/>
                                          </p:val>
                                        </p:tav>
                                        <p:tav tm="100000">
                                          <p:val>
                                            <p:strVal val="1+ppt_h/2"/>
                                          </p:val>
                                        </p:tav>
                                      </p:tavLst>
                                    </p:anim>
                                    <p:set>
                                      <p:cBhvr>
                                        <p:cTn id="98" dur="1" fill="hold">
                                          <p:stCondLst>
                                            <p:cond delay="499"/>
                                          </p:stCondLst>
                                        </p:cTn>
                                        <p:tgtEl>
                                          <p:spTgt spid="15372"/>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5373"/>
                                        </p:tgtEl>
                                        <p:attrNameLst>
                                          <p:attrName>style.visibility</p:attrName>
                                        </p:attrNameLst>
                                      </p:cBhvr>
                                      <p:to>
                                        <p:strVal val="visible"/>
                                      </p:to>
                                    </p:set>
                                    <p:anim calcmode="lin" valueType="num">
                                      <p:cBhvr additive="base">
                                        <p:cTn id="103" dur="500" fill="hold"/>
                                        <p:tgtEl>
                                          <p:spTgt spid="15373"/>
                                        </p:tgtEl>
                                        <p:attrNameLst>
                                          <p:attrName>ppt_x</p:attrName>
                                        </p:attrNameLst>
                                      </p:cBhvr>
                                      <p:tavLst>
                                        <p:tav tm="0">
                                          <p:val>
                                            <p:strVal val="#ppt_x"/>
                                          </p:val>
                                        </p:tav>
                                        <p:tav tm="100000">
                                          <p:val>
                                            <p:strVal val="#ppt_x"/>
                                          </p:val>
                                        </p:tav>
                                      </p:tavLst>
                                    </p:anim>
                                    <p:anim calcmode="lin" valueType="num">
                                      <p:cBhvr additive="base">
                                        <p:cTn id="104" dur="500" fill="hold"/>
                                        <p:tgtEl>
                                          <p:spTgt spid="15373"/>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xit" presetSubtype="4" fill="hold" grpId="1" nodeType="clickEffect">
                                  <p:stCondLst>
                                    <p:cond delay="0"/>
                                  </p:stCondLst>
                                  <p:childTnLst>
                                    <p:anim calcmode="lin" valueType="num">
                                      <p:cBhvr additive="base">
                                        <p:cTn id="108" dur="500"/>
                                        <p:tgtEl>
                                          <p:spTgt spid="15373"/>
                                        </p:tgtEl>
                                        <p:attrNameLst>
                                          <p:attrName>ppt_x</p:attrName>
                                        </p:attrNameLst>
                                      </p:cBhvr>
                                      <p:tavLst>
                                        <p:tav tm="0">
                                          <p:val>
                                            <p:strVal val="ppt_x"/>
                                          </p:val>
                                        </p:tav>
                                        <p:tav tm="100000">
                                          <p:val>
                                            <p:strVal val="ppt_x"/>
                                          </p:val>
                                        </p:tav>
                                      </p:tavLst>
                                    </p:anim>
                                    <p:anim calcmode="lin" valueType="num">
                                      <p:cBhvr additive="base">
                                        <p:cTn id="109" dur="500"/>
                                        <p:tgtEl>
                                          <p:spTgt spid="15373"/>
                                        </p:tgtEl>
                                        <p:attrNameLst>
                                          <p:attrName>ppt_y</p:attrName>
                                        </p:attrNameLst>
                                      </p:cBhvr>
                                      <p:tavLst>
                                        <p:tav tm="0">
                                          <p:val>
                                            <p:strVal val="ppt_y"/>
                                          </p:val>
                                        </p:tav>
                                        <p:tav tm="100000">
                                          <p:val>
                                            <p:strVal val="1+ppt_h/2"/>
                                          </p:val>
                                        </p:tav>
                                      </p:tavLst>
                                    </p:anim>
                                    <p:set>
                                      <p:cBhvr>
                                        <p:cTn id="110" dur="1" fill="hold">
                                          <p:stCondLst>
                                            <p:cond delay="499"/>
                                          </p:stCondLst>
                                        </p:cTn>
                                        <p:tgtEl>
                                          <p:spTgt spid="15373"/>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5374"/>
                                        </p:tgtEl>
                                        <p:attrNameLst>
                                          <p:attrName>style.visibility</p:attrName>
                                        </p:attrNameLst>
                                      </p:cBhvr>
                                      <p:to>
                                        <p:strVal val="visible"/>
                                      </p:to>
                                    </p:set>
                                    <p:anim calcmode="lin" valueType="num">
                                      <p:cBhvr additive="base">
                                        <p:cTn id="115" dur="500" fill="hold"/>
                                        <p:tgtEl>
                                          <p:spTgt spid="15374"/>
                                        </p:tgtEl>
                                        <p:attrNameLst>
                                          <p:attrName>ppt_x</p:attrName>
                                        </p:attrNameLst>
                                      </p:cBhvr>
                                      <p:tavLst>
                                        <p:tav tm="0">
                                          <p:val>
                                            <p:strVal val="#ppt_x"/>
                                          </p:val>
                                        </p:tav>
                                        <p:tav tm="100000">
                                          <p:val>
                                            <p:strVal val="#ppt_x"/>
                                          </p:val>
                                        </p:tav>
                                      </p:tavLst>
                                    </p:anim>
                                    <p:anim calcmode="lin" valueType="num">
                                      <p:cBhvr additive="base">
                                        <p:cTn id="116" dur="500" fill="hold"/>
                                        <p:tgtEl>
                                          <p:spTgt spid="15374"/>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xit" presetSubtype="4" fill="hold" grpId="1" nodeType="clickEffect">
                                  <p:stCondLst>
                                    <p:cond delay="0"/>
                                  </p:stCondLst>
                                  <p:childTnLst>
                                    <p:anim calcmode="lin" valueType="num">
                                      <p:cBhvr additive="base">
                                        <p:cTn id="120" dur="500"/>
                                        <p:tgtEl>
                                          <p:spTgt spid="15374"/>
                                        </p:tgtEl>
                                        <p:attrNameLst>
                                          <p:attrName>ppt_x</p:attrName>
                                        </p:attrNameLst>
                                      </p:cBhvr>
                                      <p:tavLst>
                                        <p:tav tm="0">
                                          <p:val>
                                            <p:strVal val="ppt_x"/>
                                          </p:val>
                                        </p:tav>
                                        <p:tav tm="100000">
                                          <p:val>
                                            <p:strVal val="ppt_x"/>
                                          </p:val>
                                        </p:tav>
                                      </p:tavLst>
                                    </p:anim>
                                    <p:anim calcmode="lin" valueType="num">
                                      <p:cBhvr additive="base">
                                        <p:cTn id="121" dur="500"/>
                                        <p:tgtEl>
                                          <p:spTgt spid="15374"/>
                                        </p:tgtEl>
                                        <p:attrNameLst>
                                          <p:attrName>ppt_y</p:attrName>
                                        </p:attrNameLst>
                                      </p:cBhvr>
                                      <p:tavLst>
                                        <p:tav tm="0">
                                          <p:val>
                                            <p:strVal val="ppt_y"/>
                                          </p:val>
                                        </p:tav>
                                        <p:tav tm="100000">
                                          <p:val>
                                            <p:strVal val="1+ppt_h/2"/>
                                          </p:val>
                                        </p:tav>
                                      </p:tavLst>
                                    </p:anim>
                                    <p:set>
                                      <p:cBhvr>
                                        <p:cTn id="122" dur="1" fill="hold">
                                          <p:stCondLst>
                                            <p:cond delay="499"/>
                                          </p:stCondLst>
                                        </p:cTn>
                                        <p:tgtEl>
                                          <p:spTgt spid="153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p:bldP spid="15365" grpId="1"/>
      <p:bldP spid="15366" grpId="0"/>
      <p:bldP spid="15366" grpId="1"/>
      <p:bldP spid="15367" grpId="0"/>
      <p:bldP spid="15367" grpId="1"/>
      <p:bldP spid="15368" grpId="0"/>
      <p:bldP spid="15368" grpId="1"/>
      <p:bldP spid="15369" grpId="0"/>
      <p:bldP spid="15369" grpId="1"/>
      <p:bldP spid="15370" grpId="0"/>
      <p:bldP spid="15370" grpId="1"/>
      <p:bldP spid="15371" grpId="0"/>
      <p:bldP spid="15371" grpId="1"/>
      <p:bldP spid="15372" grpId="0"/>
      <p:bldP spid="15372" grpId="1"/>
      <p:bldP spid="15374" grpId="0"/>
      <p:bldP spid="15374" grpId="1"/>
      <p:bldP spid="15373" grpId="0"/>
      <p:bldP spid="15373"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pPr eaLnBrk="1" hangingPunct="1">
              <a:defRPr/>
            </a:pPr>
            <a:r>
              <a:rPr lang="zh-CN" altLang="en-US"/>
              <a:t>中断源的识别</a:t>
            </a:r>
            <a:endParaRPr lang="zh-CN" altLang="en-US"/>
          </a:p>
        </p:txBody>
      </p:sp>
      <p:sp>
        <p:nvSpPr>
          <p:cNvPr id="38915" name="Rectangle 3"/>
          <p:cNvSpPr>
            <a:spLocks noGrp="1" noChangeArrowheads="1"/>
          </p:cNvSpPr>
          <p:nvPr>
            <p:ph idx="1"/>
          </p:nvPr>
        </p:nvSpPr>
        <p:spPr/>
        <p:txBody>
          <a:bodyPr/>
          <a:lstStyle/>
          <a:p>
            <a:pPr eaLnBrk="1" hangingPunct="1"/>
            <a:r>
              <a:rPr lang="zh-CN" altLang="en-US" dirty="0"/>
              <a:t>如何确定哪一个中断源发出的中断请求，并转入被响应的中断服务程序入口地址，是中断处理必须要解决的问题</a:t>
            </a:r>
            <a:endParaRPr lang="en-US" altLang="zh-CN" dirty="0"/>
          </a:p>
          <a:p>
            <a:pPr eaLnBrk="1" hangingPunct="1">
              <a:buFont typeface="Wingdings 2" charset="2"/>
              <a:buNone/>
            </a:pPr>
            <a:r>
              <a:rPr lang="zh-CN" altLang="en-US" dirty="0"/>
              <a:t>识别中断源：</a:t>
            </a:r>
            <a:endParaRPr lang="zh-CN" altLang="en-US" dirty="0"/>
          </a:p>
          <a:p>
            <a:pPr marL="958850" lvl="1" indent="-514350" eaLnBrk="1" hangingPunct="1">
              <a:buFont typeface="Times New Roman" panose="02020603050405020304" pitchFamily="18" charset="0"/>
              <a:buAutoNum type="arabicPeriod"/>
            </a:pPr>
            <a:r>
              <a:rPr lang="zh-CN" altLang="en-US" dirty="0"/>
              <a:t>在单级中断中，采用</a:t>
            </a:r>
            <a:r>
              <a:rPr lang="zh-CN" altLang="en-US" dirty="0">
                <a:solidFill>
                  <a:srgbClr val="C00000"/>
                </a:solidFill>
              </a:rPr>
              <a:t>串行排队链</a:t>
            </a:r>
            <a:r>
              <a:rPr lang="zh-CN" altLang="en-US" dirty="0"/>
              <a:t>法来实现具有公共请求线的中断源判优识别</a:t>
            </a:r>
            <a:endParaRPr lang="en-US" altLang="zh-CN" dirty="0"/>
          </a:p>
          <a:p>
            <a:pPr marL="958850" lvl="1" indent="-514350" eaLnBrk="1" hangingPunct="1">
              <a:buFont typeface="Times New Roman" panose="02020603050405020304" pitchFamily="18" charset="0"/>
              <a:buAutoNum type="arabicPeriod"/>
            </a:pPr>
            <a:r>
              <a:rPr lang="zh-CN" altLang="en-US" dirty="0"/>
              <a:t>采用</a:t>
            </a:r>
            <a:r>
              <a:rPr lang="zh-CN" altLang="en-US" dirty="0">
                <a:solidFill>
                  <a:srgbClr val="C00000"/>
                </a:solidFill>
              </a:rPr>
              <a:t>中断控制器</a:t>
            </a:r>
            <a:r>
              <a:rPr lang="zh-CN" altLang="en-US" dirty="0"/>
              <a:t>，识别哪个设备发出的中断</a:t>
            </a:r>
            <a:endParaRPr lang="en-US" altLang="zh-CN" dirty="0"/>
          </a:p>
          <a:p>
            <a:pPr eaLnBrk="1" hangingPunct="1">
              <a:buFont typeface="Wingdings 2" charset="2"/>
              <a:buNone/>
            </a:pPr>
            <a:r>
              <a:rPr lang="zh-CN" altLang="en-US" dirty="0"/>
              <a:t>转中断服务程序：</a:t>
            </a:r>
            <a:endParaRPr lang="en-US" altLang="zh-CN" dirty="0"/>
          </a:p>
          <a:p>
            <a:pPr marL="958850" lvl="1" indent="-514350" eaLnBrk="1" hangingPunct="1">
              <a:buFont typeface="Times New Roman" panose="02020603050405020304" pitchFamily="18" charset="0"/>
              <a:buAutoNum type="arabicPeriod"/>
            </a:pPr>
            <a:r>
              <a:rPr lang="zh-CN" altLang="en-US" dirty="0"/>
              <a:t>预先规定中断服务程序的入口地址</a:t>
            </a:r>
            <a:endParaRPr lang="en-US" altLang="zh-CN" dirty="0"/>
          </a:p>
          <a:p>
            <a:pPr marL="958850" lvl="1" indent="-514350" eaLnBrk="1" hangingPunct="1">
              <a:buFont typeface="Times New Roman" panose="02020603050405020304" pitchFamily="18" charset="0"/>
              <a:buAutoNum type="arabicPeriod"/>
            </a:pPr>
            <a:r>
              <a:rPr lang="zh-CN" altLang="en-US" dirty="0"/>
              <a:t>采用中断向量，通过查表方式找到入口地址</a:t>
            </a:r>
            <a:endParaRPr lang="en-US" altLang="zh-CN" dirty="0"/>
          </a:p>
          <a:p>
            <a:pPr eaLnBrk="1" hangingPunct="1">
              <a:buFont typeface="Times New Roman" panose="02020603050405020304" pitchFamily="18" charset="0"/>
              <a:buAutoNum type="arabicPeriod"/>
            </a:pPr>
            <a:endParaRPr lang="en-US" altLang="zh-CN" dirty="0"/>
          </a:p>
          <a:p>
            <a:pPr eaLnBrk="1" hangingPunct="1">
              <a:buFont typeface="Times New Roman" panose="02020603050405020304" pitchFamily="18" charset="0"/>
              <a:buAutoNum type="arabicPeriod"/>
            </a:pPr>
            <a:endParaRPr lang="zh-CN" altLang="en-US" dirty="0"/>
          </a:p>
        </p:txBody>
      </p:sp>
    </p:spTree>
  </p:cSld>
  <p:clrMapOvr>
    <a:masterClrMapping/>
  </p:clrMapOvr>
  <p:transition spd="med">
    <p:pull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pPr eaLnBrk="1" hangingPunct="1">
              <a:defRPr/>
            </a:pPr>
            <a:r>
              <a:rPr lang="zh-CN" altLang="en-US"/>
              <a:t>基于中断向量的中断源识别</a:t>
            </a:r>
            <a:endParaRPr lang="zh-CN" altLang="en-US"/>
          </a:p>
        </p:txBody>
      </p:sp>
      <p:sp>
        <p:nvSpPr>
          <p:cNvPr id="389160" name="Rectangle 40"/>
          <p:cNvSpPr>
            <a:spLocks noChangeArrowheads="1"/>
          </p:cNvSpPr>
          <p:nvPr/>
        </p:nvSpPr>
        <p:spPr bwMode="auto">
          <a:xfrm>
            <a:off x="7812088" y="4156075"/>
            <a:ext cx="865187" cy="1439863"/>
          </a:xfrm>
          <a:prstGeom prst="rect">
            <a:avLst/>
          </a:prstGeom>
          <a:solidFill>
            <a:srgbClr val="9900FF"/>
          </a:solidFill>
          <a:ln w="9525" algn="ctr">
            <a:noFill/>
            <a:miter lim="800000"/>
          </a:ln>
          <a:effectLst>
            <a:outerShdw dist="35921" dir="2700000" algn="ctr" rotWithShape="0">
              <a:schemeClr val="bg2"/>
            </a:outerShdw>
          </a:effectLst>
        </p:spPr>
        <p:txBody>
          <a:bodyPr wrap="none" anchor="ctr"/>
          <a:lstStyle/>
          <a:p>
            <a:pPr algn="ctr" eaLnBrk="1" hangingPunct="1">
              <a:defRPr/>
            </a:pPr>
            <a:r>
              <a:rPr lang="zh-CN" altLang="en-US" sz="2400" b="1" dirty="0">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rPr>
              <a:t>内存</a:t>
            </a:r>
            <a:endParaRPr lang="zh-CN" altLang="en-US" sz="2400" b="1" dirty="0">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21" name="AutoShape 44"/>
          <p:cNvSpPr>
            <a:spLocks noChangeArrowheads="1"/>
          </p:cNvSpPr>
          <p:nvPr/>
        </p:nvSpPr>
        <p:spPr bwMode="auto">
          <a:xfrm rot="20727702">
            <a:off x="7564438" y="2747963"/>
            <a:ext cx="360362" cy="1358900"/>
          </a:xfrm>
          <a:prstGeom prst="downArrow">
            <a:avLst>
              <a:gd name="adj1" fmla="val 41148"/>
              <a:gd name="adj2" fmla="val 56934"/>
            </a:avLst>
          </a:prstGeom>
          <a:noFill/>
          <a:ln w="15875" algn="ctr">
            <a:solidFill>
              <a:schemeClr val="tx1">
                <a:lumMod val="65000"/>
                <a:lumOff val="35000"/>
              </a:schemeClr>
            </a:solidFill>
            <a:prstDash val="solid"/>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defRPr/>
            </a:pPr>
            <a:endParaRPr lang="zh-CN" altLang="en-US" b="0">
              <a:ea typeface="楷体" panose="02010609060101010101" pitchFamily="49" charset="-122"/>
              <a:cs typeface="Times New Roman" panose="02020603050405020304" pitchFamily="18" charset="0"/>
            </a:endParaRPr>
          </a:p>
        </p:txBody>
      </p:sp>
      <p:sp>
        <p:nvSpPr>
          <p:cNvPr id="389124" name="Rectangle 4"/>
          <p:cNvSpPr>
            <a:spLocks noChangeArrowheads="1"/>
          </p:cNvSpPr>
          <p:nvPr/>
        </p:nvSpPr>
        <p:spPr bwMode="auto">
          <a:xfrm>
            <a:off x="323850" y="2716213"/>
            <a:ext cx="1222375" cy="2882900"/>
          </a:xfrm>
          <a:prstGeom prst="rect">
            <a:avLst/>
          </a:prstGeom>
          <a:solidFill>
            <a:srgbClr val="993300"/>
          </a:solidFill>
          <a:ln w="9525" algn="ctr">
            <a:noFill/>
            <a:miter lim="800000"/>
          </a:ln>
          <a:effectLst>
            <a:outerShdw dist="35921" dir="2700000" algn="ctr" rotWithShape="0">
              <a:schemeClr val="bg2"/>
            </a:outerShdw>
          </a:effectLst>
        </p:spPr>
        <p:txBody>
          <a:bodyPr wrap="none" anchor="ctr"/>
          <a:lstStyle/>
          <a:p>
            <a:pPr algn="ctr" eaLnBrk="1" hangingPunct="1">
              <a:defRPr/>
            </a:pPr>
            <a:r>
              <a:rPr lang="en-US" altLang="zh-CN" sz="2800"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rPr>
              <a:t>CPU</a:t>
            </a:r>
            <a:endParaRPr lang="en-US" altLang="zh-CN" sz="2800"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43" name="AutoShape 5"/>
          <p:cNvSpPr>
            <a:spLocks noChangeArrowheads="1"/>
          </p:cNvSpPr>
          <p:nvPr/>
        </p:nvSpPr>
        <p:spPr bwMode="auto">
          <a:xfrm>
            <a:off x="1546225" y="2859088"/>
            <a:ext cx="7381875" cy="288925"/>
          </a:xfrm>
          <a:prstGeom prst="leftRightArrow">
            <a:avLst>
              <a:gd name="adj1" fmla="val 44222"/>
              <a:gd name="adj2" fmla="val 123371"/>
            </a:avLst>
          </a:prstGeom>
          <a:solidFill>
            <a:srgbClr val="FF99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89126" name="Rectangle 6"/>
          <p:cNvSpPr>
            <a:spLocks noChangeArrowheads="1"/>
          </p:cNvSpPr>
          <p:nvPr/>
        </p:nvSpPr>
        <p:spPr bwMode="auto">
          <a:xfrm>
            <a:off x="4102100" y="4519613"/>
            <a:ext cx="792163" cy="1079500"/>
          </a:xfrm>
          <a:prstGeom prst="rect">
            <a:avLst/>
          </a:prstGeom>
          <a:solidFill>
            <a:srgbClr val="006600"/>
          </a:solidFill>
          <a:ln w="9525" algn="ctr">
            <a:noFill/>
            <a:miter lim="800000"/>
          </a:ln>
          <a:effectLst>
            <a:outerShdw dist="35921" dir="2700000" algn="ctr" rotWithShape="0">
              <a:schemeClr val="bg2"/>
            </a:outerShdw>
          </a:effec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rPr>
              <a:t>外设</a:t>
            </a:r>
            <a:endPar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endParaRPr>
          </a:p>
          <a:p>
            <a:pPr algn="ctr" eaLnBrk="1" hangingPunct="1">
              <a:defRPr/>
            </a:pPr>
            <a:r>
              <a:rPr lang="en-US" altLang="zh-CN" sz="28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rPr>
              <a:t>1</a:t>
            </a:r>
            <a:endParaRPr lang="en-US" altLang="zh-CN" sz="28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endParaRPr>
          </a:p>
        </p:txBody>
      </p:sp>
      <p:sp>
        <p:nvSpPr>
          <p:cNvPr id="389128" name="Rectangle 8"/>
          <p:cNvSpPr>
            <a:spLocks noChangeArrowheads="1"/>
          </p:cNvSpPr>
          <p:nvPr/>
        </p:nvSpPr>
        <p:spPr bwMode="auto">
          <a:xfrm>
            <a:off x="5435600" y="4516438"/>
            <a:ext cx="792163" cy="1079500"/>
          </a:xfrm>
          <a:prstGeom prst="rect">
            <a:avLst/>
          </a:prstGeom>
          <a:solidFill>
            <a:srgbClr val="006600"/>
          </a:solidFill>
          <a:ln w="9525" algn="ctr">
            <a:noFill/>
            <a:miter lim="800000"/>
          </a:ln>
          <a:effectLst>
            <a:outerShdw dist="35921" dir="2700000" algn="ctr" rotWithShape="0">
              <a:schemeClr val="bg2"/>
            </a:outerShdw>
          </a:effec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rPr>
              <a:t>外设</a:t>
            </a:r>
            <a:endPar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endParaRPr>
          </a:p>
          <a:p>
            <a:pPr algn="ctr" eaLnBrk="1" hangingPunct="1">
              <a:defRPr/>
            </a:pPr>
            <a:r>
              <a:rPr lang="en-US" altLang="zh-CN" sz="28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rPr>
              <a:t>2</a:t>
            </a:r>
            <a:endParaRPr lang="en-US" altLang="zh-CN" sz="28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endParaRPr>
          </a:p>
        </p:txBody>
      </p:sp>
      <p:sp>
        <p:nvSpPr>
          <p:cNvPr id="389129" name="Rectangle 9"/>
          <p:cNvSpPr>
            <a:spLocks noChangeArrowheads="1"/>
          </p:cNvSpPr>
          <p:nvPr/>
        </p:nvSpPr>
        <p:spPr bwMode="auto">
          <a:xfrm>
            <a:off x="6659563" y="4516438"/>
            <a:ext cx="792162" cy="1079500"/>
          </a:xfrm>
          <a:prstGeom prst="rect">
            <a:avLst/>
          </a:prstGeom>
          <a:solidFill>
            <a:srgbClr val="006600"/>
          </a:solidFill>
          <a:ln w="9525" algn="ctr">
            <a:noFill/>
            <a:miter lim="800000"/>
          </a:ln>
          <a:effectLst>
            <a:outerShdw dist="35921" dir="2700000" algn="ctr" rotWithShape="0">
              <a:schemeClr val="bg2"/>
            </a:outerShdw>
          </a:effec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rPr>
              <a:t>外设</a:t>
            </a:r>
            <a:endPar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endParaRPr>
          </a:p>
          <a:p>
            <a:pPr algn="ctr" eaLnBrk="1" hangingPunct="1">
              <a:defRPr/>
            </a:pPr>
            <a:r>
              <a:rPr lang="en-US" altLang="zh-CN" sz="28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rPr>
              <a:t>3</a:t>
            </a:r>
            <a:endParaRPr lang="en-US" altLang="zh-CN" sz="28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endParaRPr>
          </a:p>
        </p:txBody>
      </p:sp>
      <p:sp>
        <p:nvSpPr>
          <p:cNvPr id="39947" name="AutoShape 11"/>
          <p:cNvSpPr>
            <a:spLocks noChangeArrowheads="1"/>
          </p:cNvSpPr>
          <p:nvPr/>
        </p:nvSpPr>
        <p:spPr bwMode="auto">
          <a:xfrm>
            <a:off x="4391025" y="3076575"/>
            <a:ext cx="215900" cy="1443038"/>
          </a:xfrm>
          <a:prstGeom prst="upDownArrow">
            <a:avLst>
              <a:gd name="adj1" fmla="val 45852"/>
              <a:gd name="adj2" fmla="val 93048"/>
            </a:avLst>
          </a:prstGeom>
          <a:solidFill>
            <a:srgbClr val="FF99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9948" name="AutoShape 13"/>
          <p:cNvSpPr>
            <a:spLocks noChangeArrowheads="1"/>
          </p:cNvSpPr>
          <p:nvPr/>
        </p:nvSpPr>
        <p:spPr bwMode="auto">
          <a:xfrm>
            <a:off x="5722938" y="3076575"/>
            <a:ext cx="215900" cy="1443038"/>
          </a:xfrm>
          <a:prstGeom prst="upDownArrow">
            <a:avLst>
              <a:gd name="adj1" fmla="val 45852"/>
              <a:gd name="adj2" fmla="val 93048"/>
            </a:avLst>
          </a:prstGeom>
          <a:solidFill>
            <a:srgbClr val="FF99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9949" name="AutoShape 14"/>
          <p:cNvSpPr>
            <a:spLocks noChangeArrowheads="1"/>
          </p:cNvSpPr>
          <p:nvPr/>
        </p:nvSpPr>
        <p:spPr bwMode="auto">
          <a:xfrm>
            <a:off x="6946900" y="3073400"/>
            <a:ext cx="215900" cy="1443038"/>
          </a:xfrm>
          <a:prstGeom prst="upDownArrow">
            <a:avLst>
              <a:gd name="adj1" fmla="val 45852"/>
              <a:gd name="adj2" fmla="val 93048"/>
            </a:avLst>
          </a:prstGeom>
          <a:solidFill>
            <a:srgbClr val="FF99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89135" name="Rectangle 15"/>
          <p:cNvSpPr>
            <a:spLocks noChangeArrowheads="1"/>
          </p:cNvSpPr>
          <p:nvPr/>
        </p:nvSpPr>
        <p:spPr bwMode="auto">
          <a:xfrm>
            <a:off x="2374900" y="4156075"/>
            <a:ext cx="792163" cy="1439863"/>
          </a:xfrm>
          <a:prstGeom prst="rect">
            <a:avLst/>
          </a:prstGeom>
          <a:solidFill>
            <a:srgbClr val="800080"/>
          </a:solidFill>
          <a:ln w="9525" algn="ctr">
            <a:noFill/>
            <a:miter lim="800000"/>
          </a:ln>
          <a:effectLst>
            <a:outerShdw dist="35921" dir="2700000" algn="ctr" rotWithShape="0">
              <a:schemeClr val="bg2"/>
            </a:outerShdw>
          </a:effectLst>
        </p:spPr>
        <p:txBody>
          <a:bodyPr wrap="none" anchor="ctr"/>
          <a:lstStyle/>
          <a:p>
            <a:pPr algn="ctr" eaLnBrk="1" hangingPunct="1">
              <a:defRPr/>
            </a:pPr>
            <a:r>
              <a:rPr lang="zh-CN" altLang="en-US" sz="2000"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rPr>
              <a:t>中断</a:t>
            </a:r>
            <a:endParaRPr lang="zh-CN" altLang="en-US" sz="2000"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endParaRPr>
          </a:p>
          <a:p>
            <a:pPr algn="ctr" eaLnBrk="1" hangingPunct="1">
              <a:defRPr/>
            </a:pPr>
            <a:r>
              <a:rPr lang="zh-CN" altLang="en-US" sz="2000"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rPr>
              <a:t>控制器</a:t>
            </a:r>
            <a:endParaRPr lang="zh-CN" altLang="en-US" sz="2000"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51" name="AutoShape 16"/>
          <p:cNvSpPr>
            <a:spLocks noChangeArrowheads="1"/>
          </p:cNvSpPr>
          <p:nvPr/>
        </p:nvSpPr>
        <p:spPr bwMode="auto">
          <a:xfrm>
            <a:off x="2700338" y="3076575"/>
            <a:ext cx="215900" cy="1079500"/>
          </a:xfrm>
          <a:prstGeom prst="upDownArrow">
            <a:avLst>
              <a:gd name="adj1" fmla="val 45852"/>
              <a:gd name="adj2" fmla="val 69606"/>
            </a:avLst>
          </a:prstGeom>
          <a:solidFill>
            <a:srgbClr val="FF99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9952" name="Line 17"/>
          <p:cNvSpPr>
            <a:spLocks noChangeShapeType="1"/>
          </p:cNvSpPr>
          <p:nvPr/>
        </p:nvSpPr>
        <p:spPr bwMode="auto">
          <a:xfrm flipH="1">
            <a:off x="1546225" y="4516438"/>
            <a:ext cx="828675"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53" name="Line 18"/>
          <p:cNvSpPr>
            <a:spLocks noChangeShapeType="1"/>
          </p:cNvSpPr>
          <p:nvPr/>
        </p:nvSpPr>
        <p:spPr bwMode="auto">
          <a:xfrm flipH="1">
            <a:off x="1546225" y="4948238"/>
            <a:ext cx="828675"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54" name="Text Box 20"/>
          <p:cNvSpPr txBox="1">
            <a:spLocks noChangeArrowheads="1"/>
          </p:cNvSpPr>
          <p:nvPr/>
        </p:nvSpPr>
        <p:spPr bwMode="auto">
          <a:xfrm>
            <a:off x="899764" y="4348163"/>
            <a:ext cx="6960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sz="1600" b="1">
                <a:solidFill>
                  <a:schemeClr val="bg1"/>
                </a:solidFill>
                <a:ea typeface="楷体" panose="02010609060101010101" pitchFamily="49" charset="-122"/>
                <a:cs typeface="Times New Roman" panose="02020603050405020304" pitchFamily="18" charset="0"/>
              </a:rPr>
              <a:t>INTR</a:t>
            </a:r>
            <a:endParaRPr lang="en-US" altLang="zh-CN" sz="1600" b="1">
              <a:solidFill>
                <a:schemeClr val="bg1"/>
              </a:solidFill>
              <a:ea typeface="楷体" panose="02010609060101010101" pitchFamily="49" charset="-122"/>
              <a:cs typeface="Times New Roman" panose="02020603050405020304" pitchFamily="18" charset="0"/>
            </a:endParaRPr>
          </a:p>
        </p:txBody>
      </p:sp>
      <p:sp>
        <p:nvSpPr>
          <p:cNvPr id="39955" name="Text Box 21"/>
          <p:cNvSpPr txBox="1">
            <a:spLocks noChangeArrowheads="1"/>
          </p:cNvSpPr>
          <p:nvPr/>
        </p:nvSpPr>
        <p:spPr bwMode="auto">
          <a:xfrm>
            <a:off x="933587" y="4756150"/>
            <a:ext cx="680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sz="1600" b="1">
                <a:solidFill>
                  <a:schemeClr val="bg1"/>
                </a:solidFill>
                <a:ea typeface="楷体" panose="02010609060101010101" pitchFamily="49" charset="-122"/>
                <a:cs typeface="Times New Roman" panose="02020603050405020304" pitchFamily="18" charset="0"/>
              </a:rPr>
              <a:t>INTA</a:t>
            </a:r>
            <a:endParaRPr lang="en-US" altLang="zh-CN" sz="1600" b="1">
              <a:solidFill>
                <a:schemeClr val="bg1"/>
              </a:solidFill>
              <a:ea typeface="楷体" panose="02010609060101010101" pitchFamily="49" charset="-122"/>
              <a:cs typeface="Times New Roman" panose="02020603050405020304" pitchFamily="18" charset="0"/>
            </a:endParaRPr>
          </a:p>
        </p:txBody>
      </p:sp>
      <p:sp>
        <p:nvSpPr>
          <p:cNvPr id="39956" name="Line 22"/>
          <p:cNvSpPr>
            <a:spLocks noChangeShapeType="1"/>
          </p:cNvSpPr>
          <p:nvPr/>
        </p:nvSpPr>
        <p:spPr bwMode="auto">
          <a:xfrm flipH="1">
            <a:off x="3167063" y="4679950"/>
            <a:ext cx="935037"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57" name="Line 23"/>
          <p:cNvSpPr>
            <a:spLocks noChangeShapeType="1"/>
          </p:cNvSpPr>
          <p:nvPr/>
        </p:nvSpPr>
        <p:spPr bwMode="auto">
          <a:xfrm>
            <a:off x="5721350" y="5595938"/>
            <a:ext cx="0" cy="287337"/>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58" name="Line 24"/>
          <p:cNvSpPr>
            <a:spLocks noChangeShapeType="1"/>
          </p:cNvSpPr>
          <p:nvPr/>
        </p:nvSpPr>
        <p:spPr bwMode="auto">
          <a:xfrm flipH="1">
            <a:off x="3851275" y="5883275"/>
            <a:ext cx="1870075"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59" name="Line 25"/>
          <p:cNvSpPr>
            <a:spLocks noChangeShapeType="1"/>
          </p:cNvSpPr>
          <p:nvPr/>
        </p:nvSpPr>
        <p:spPr bwMode="auto">
          <a:xfrm flipV="1">
            <a:off x="3851275" y="5092700"/>
            <a:ext cx="0" cy="790575"/>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60" name="Line 26"/>
          <p:cNvSpPr>
            <a:spLocks noChangeShapeType="1"/>
          </p:cNvSpPr>
          <p:nvPr/>
        </p:nvSpPr>
        <p:spPr bwMode="auto">
          <a:xfrm flipH="1">
            <a:off x="3167063" y="5092700"/>
            <a:ext cx="684212" cy="0"/>
          </a:xfrm>
          <a:prstGeom prst="line">
            <a:avLst/>
          </a:prstGeom>
          <a:noFill/>
          <a:ln w="317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61" name="Line 27"/>
          <p:cNvSpPr>
            <a:spLocks noChangeShapeType="1"/>
          </p:cNvSpPr>
          <p:nvPr/>
        </p:nvSpPr>
        <p:spPr bwMode="auto">
          <a:xfrm>
            <a:off x="6946900" y="5599113"/>
            <a:ext cx="0" cy="573087"/>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62" name="Line 28"/>
          <p:cNvSpPr>
            <a:spLocks noChangeShapeType="1"/>
          </p:cNvSpPr>
          <p:nvPr/>
        </p:nvSpPr>
        <p:spPr bwMode="auto">
          <a:xfrm flipH="1">
            <a:off x="3635375" y="6172200"/>
            <a:ext cx="3325813"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63" name="Line 29"/>
          <p:cNvSpPr>
            <a:spLocks noChangeShapeType="1"/>
          </p:cNvSpPr>
          <p:nvPr/>
        </p:nvSpPr>
        <p:spPr bwMode="auto">
          <a:xfrm flipV="1">
            <a:off x="3635375" y="5453063"/>
            <a:ext cx="0" cy="719137"/>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64" name="Line 30"/>
          <p:cNvSpPr>
            <a:spLocks noChangeShapeType="1"/>
          </p:cNvSpPr>
          <p:nvPr/>
        </p:nvSpPr>
        <p:spPr bwMode="auto">
          <a:xfrm flipH="1">
            <a:off x="3167063" y="5453063"/>
            <a:ext cx="468312" cy="0"/>
          </a:xfrm>
          <a:prstGeom prst="line">
            <a:avLst/>
          </a:prstGeom>
          <a:noFill/>
          <a:ln w="317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9152" name="Text Box 32"/>
          <p:cNvSpPr txBox="1">
            <a:spLocks noChangeArrowheads="1"/>
          </p:cNvSpPr>
          <p:nvPr/>
        </p:nvSpPr>
        <p:spPr bwMode="auto">
          <a:xfrm>
            <a:off x="3378200" y="4348163"/>
            <a:ext cx="511175" cy="336550"/>
          </a:xfrm>
          <a:prstGeom prst="rect">
            <a:avLst/>
          </a:prstGeom>
          <a:noFill/>
          <a:ln w="9525" algn="ctr">
            <a:noFill/>
            <a:miter lim="800000"/>
          </a:ln>
          <a:effectLst/>
        </p:spPr>
        <p:txBody>
          <a:bodyPr wrap="none">
            <a:spAutoFit/>
          </a:bodyPr>
          <a:lstStyle/>
          <a:p>
            <a:pPr algn="ctr" eaLnBrk="1" hangingPunct="1">
              <a:defRPr/>
            </a:pPr>
            <a:r>
              <a:rPr lang="en-US" altLang="zh-CN" sz="1600" b="1">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rPr>
              <a:t>IR1</a:t>
            </a:r>
            <a:endParaRPr lang="en-US" altLang="zh-CN" sz="1600" b="1">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9153" name="Text Box 33"/>
          <p:cNvSpPr txBox="1">
            <a:spLocks noChangeArrowheads="1"/>
          </p:cNvSpPr>
          <p:nvPr/>
        </p:nvSpPr>
        <p:spPr bwMode="auto">
          <a:xfrm>
            <a:off x="3348038" y="4756150"/>
            <a:ext cx="511175" cy="336550"/>
          </a:xfrm>
          <a:prstGeom prst="rect">
            <a:avLst/>
          </a:prstGeom>
          <a:noFill/>
          <a:ln w="9525" algn="ctr">
            <a:noFill/>
            <a:miter lim="800000"/>
          </a:ln>
          <a:effectLst/>
        </p:spPr>
        <p:txBody>
          <a:bodyPr wrap="none">
            <a:spAutoFit/>
          </a:bodyPr>
          <a:lstStyle/>
          <a:p>
            <a:pPr algn="ctr" eaLnBrk="1" hangingPunct="1">
              <a:defRPr/>
            </a:pPr>
            <a:r>
              <a:rPr lang="en-US" altLang="zh-CN" sz="1600" b="1">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rPr>
              <a:t>IR2</a:t>
            </a:r>
            <a:endParaRPr lang="en-US" altLang="zh-CN" sz="1600" b="1">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9154" name="Text Box 34"/>
          <p:cNvSpPr txBox="1">
            <a:spLocks noChangeArrowheads="1"/>
          </p:cNvSpPr>
          <p:nvPr/>
        </p:nvSpPr>
        <p:spPr bwMode="auto">
          <a:xfrm>
            <a:off x="3348038" y="5116513"/>
            <a:ext cx="511175" cy="336550"/>
          </a:xfrm>
          <a:prstGeom prst="rect">
            <a:avLst/>
          </a:prstGeom>
          <a:noFill/>
          <a:ln w="9525" algn="ctr">
            <a:noFill/>
            <a:miter lim="800000"/>
          </a:ln>
          <a:effectLst/>
        </p:spPr>
        <p:txBody>
          <a:bodyPr wrap="none">
            <a:spAutoFit/>
          </a:bodyPr>
          <a:lstStyle/>
          <a:p>
            <a:pPr algn="ctr" eaLnBrk="1" hangingPunct="1">
              <a:defRPr/>
            </a:pPr>
            <a:r>
              <a:rPr lang="en-US" altLang="zh-CN" sz="1600" b="1">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rPr>
              <a:t>IR3</a:t>
            </a:r>
            <a:endParaRPr lang="en-US" altLang="zh-CN" sz="1600" b="1">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68" name="Freeform 35"/>
          <p:cNvSpPr/>
          <p:nvPr/>
        </p:nvSpPr>
        <p:spPr bwMode="auto">
          <a:xfrm>
            <a:off x="1835150" y="3219450"/>
            <a:ext cx="744538" cy="936625"/>
          </a:xfrm>
          <a:custGeom>
            <a:avLst/>
            <a:gdLst>
              <a:gd name="T0" fmla="*/ 2147483646 w 469"/>
              <a:gd name="T1" fmla="*/ 2147483646 h 590"/>
              <a:gd name="T2" fmla="*/ 2147483646 w 469"/>
              <a:gd name="T3" fmla="*/ 2147483646 h 590"/>
              <a:gd name="T4" fmla="*/ 2147483646 w 469"/>
              <a:gd name="T5" fmla="*/ 2147483646 h 590"/>
              <a:gd name="T6" fmla="*/ 0 w 469"/>
              <a:gd name="T7" fmla="*/ 0 h 590"/>
              <a:gd name="T8" fmla="*/ 0 60000 65536"/>
              <a:gd name="T9" fmla="*/ 0 60000 65536"/>
              <a:gd name="T10" fmla="*/ 0 60000 65536"/>
              <a:gd name="T11" fmla="*/ 0 60000 65536"/>
              <a:gd name="T12" fmla="*/ 0 w 469"/>
              <a:gd name="T13" fmla="*/ 0 h 590"/>
              <a:gd name="T14" fmla="*/ 469 w 469"/>
              <a:gd name="T15" fmla="*/ 590 h 590"/>
            </a:gdLst>
            <a:ahLst/>
            <a:cxnLst>
              <a:cxn ang="T8">
                <a:pos x="T0" y="T1"/>
              </a:cxn>
              <a:cxn ang="T9">
                <a:pos x="T2" y="T3"/>
              </a:cxn>
              <a:cxn ang="T10">
                <a:pos x="T4" y="T5"/>
              </a:cxn>
              <a:cxn ang="T11">
                <a:pos x="T6" y="T7"/>
              </a:cxn>
            </a:cxnLst>
            <a:rect l="T12" t="T13" r="T14" b="T15"/>
            <a:pathLst>
              <a:path w="469" h="590">
                <a:moveTo>
                  <a:pt x="454" y="590"/>
                </a:moveTo>
                <a:cubicBezTo>
                  <a:pt x="461" y="454"/>
                  <a:pt x="469" y="318"/>
                  <a:pt x="454" y="227"/>
                </a:cubicBezTo>
                <a:cubicBezTo>
                  <a:pt x="439" y="136"/>
                  <a:pt x="438" y="84"/>
                  <a:pt x="363" y="46"/>
                </a:cubicBezTo>
                <a:cubicBezTo>
                  <a:pt x="288" y="8"/>
                  <a:pt x="68" y="8"/>
                  <a:pt x="0" y="0"/>
                </a:cubicBezTo>
              </a:path>
            </a:pathLst>
          </a:custGeom>
          <a:noFill/>
          <a:ln w="31750">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9156" name="Text Box 36"/>
          <p:cNvSpPr txBox="1">
            <a:spLocks noChangeArrowheads="1"/>
          </p:cNvSpPr>
          <p:nvPr/>
        </p:nvSpPr>
        <p:spPr bwMode="auto">
          <a:xfrm>
            <a:off x="1529268" y="3424238"/>
            <a:ext cx="1011815" cy="338554"/>
          </a:xfrm>
          <a:prstGeom prst="rect">
            <a:avLst/>
          </a:prstGeom>
          <a:noFill/>
          <a:ln w="9525" algn="ctr">
            <a:noFill/>
            <a:miter lim="800000"/>
          </a:ln>
          <a:effectLst/>
        </p:spPr>
        <p:txBody>
          <a:bodyPr wrap="none">
            <a:spAutoFit/>
          </a:bodyPr>
          <a:lstStyle/>
          <a:p>
            <a:pPr algn="ctr" eaLnBrk="1" hangingPunct="1">
              <a:defRPr/>
            </a:pPr>
            <a:r>
              <a:rPr lang="zh-CN" altLang="en-US" sz="1600" b="1">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rPr>
              <a:t>中断向量</a:t>
            </a:r>
            <a:endParaRPr lang="zh-CN" altLang="en-US" sz="1600" b="1">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9970" name="AutoShape 37"/>
          <p:cNvSpPr>
            <a:spLocks noChangeArrowheads="1"/>
          </p:cNvSpPr>
          <p:nvPr/>
        </p:nvSpPr>
        <p:spPr bwMode="auto">
          <a:xfrm>
            <a:off x="3889375" y="1487488"/>
            <a:ext cx="1004888" cy="1300162"/>
          </a:xfrm>
          <a:prstGeom prst="flowChartPunchedCard">
            <a:avLst/>
          </a:prstGeom>
          <a:solidFill>
            <a:srgbClr val="FF6699"/>
          </a:solidFill>
          <a:ln>
            <a:noFill/>
          </a:ln>
          <a:effectLst>
            <a:outerShdw dist="35921" dir="2700000" algn="ctr" rotWithShape="0">
              <a:schemeClr val="bg2"/>
            </a:outerShdw>
          </a:effectLst>
          <a:extLst>
            <a:ext uri="{91240B29-F687-4F45-9708-019B960494DF}">
              <a14:hiddenLine xmlns:a14="http://schemas.microsoft.com/office/drawing/2010/main" w="31750">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外设</a:t>
            </a:r>
            <a:r>
              <a:rPr lang="en-US" altLang="zh-CN" sz="2000">
                <a:solidFill>
                  <a:schemeClr val="bg1"/>
                </a:solidFill>
                <a:ea typeface="楷体" panose="02010609060101010101" pitchFamily="49" charset="-122"/>
                <a:cs typeface="Times New Roman" panose="02020603050405020304" pitchFamily="18" charset="0"/>
              </a:rPr>
              <a:t>1</a:t>
            </a:r>
            <a:r>
              <a:rPr lang="zh-CN" altLang="en-US" sz="2000">
                <a:solidFill>
                  <a:schemeClr val="bg1"/>
                </a:solidFill>
                <a:ea typeface="楷体" panose="02010609060101010101" pitchFamily="49" charset="-122"/>
                <a:cs typeface="Times New Roman" panose="02020603050405020304" pitchFamily="18" charset="0"/>
              </a:rPr>
              <a:t>的</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中断服</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务程序</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39971" name="AutoShape 38"/>
          <p:cNvSpPr>
            <a:spLocks noChangeArrowheads="1"/>
          </p:cNvSpPr>
          <p:nvPr/>
        </p:nvSpPr>
        <p:spPr bwMode="auto">
          <a:xfrm>
            <a:off x="5222875" y="1487488"/>
            <a:ext cx="1004888" cy="1300162"/>
          </a:xfrm>
          <a:prstGeom prst="flowChartPunchedCard">
            <a:avLst/>
          </a:prstGeom>
          <a:solidFill>
            <a:srgbClr val="FF6699"/>
          </a:solidFill>
          <a:ln>
            <a:noFill/>
          </a:ln>
          <a:effectLst>
            <a:outerShdw dist="35921" dir="2700000" algn="ctr" rotWithShape="0">
              <a:schemeClr val="bg2"/>
            </a:outerShdw>
          </a:effectLst>
          <a:extLst>
            <a:ext uri="{91240B29-F687-4F45-9708-019B960494DF}">
              <a14:hiddenLine xmlns:a14="http://schemas.microsoft.com/office/drawing/2010/main" w="31750">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外设</a:t>
            </a:r>
            <a:r>
              <a:rPr lang="en-US" altLang="zh-CN" sz="2000">
                <a:solidFill>
                  <a:schemeClr val="bg1"/>
                </a:solidFill>
                <a:ea typeface="楷体" panose="02010609060101010101" pitchFamily="49" charset="-122"/>
                <a:cs typeface="Times New Roman" panose="02020603050405020304" pitchFamily="18" charset="0"/>
              </a:rPr>
              <a:t>2</a:t>
            </a:r>
            <a:r>
              <a:rPr lang="zh-CN" altLang="en-US" sz="2000">
                <a:solidFill>
                  <a:schemeClr val="bg1"/>
                </a:solidFill>
                <a:ea typeface="楷体" panose="02010609060101010101" pitchFamily="49" charset="-122"/>
                <a:cs typeface="Times New Roman" panose="02020603050405020304" pitchFamily="18" charset="0"/>
              </a:rPr>
              <a:t>的</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中断服</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务程序</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39972" name="AutoShape 39"/>
          <p:cNvSpPr>
            <a:spLocks noChangeArrowheads="1"/>
          </p:cNvSpPr>
          <p:nvPr/>
        </p:nvSpPr>
        <p:spPr bwMode="auto">
          <a:xfrm>
            <a:off x="6519863" y="1487488"/>
            <a:ext cx="1004887" cy="1300162"/>
          </a:xfrm>
          <a:prstGeom prst="flowChartPunchedCard">
            <a:avLst/>
          </a:prstGeom>
          <a:solidFill>
            <a:srgbClr val="FF6699"/>
          </a:solidFill>
          <a:ln>
            <a:noFill/>
          </a:ln>
          <a:effectLst>
            <a:outerShdw dist="35921" dir="2700000" algn="ctr" rotWithShape="0">
              <a:schemeClr val="bg2"/>
            </a:outerShdw>
          </a:effectLst>
          <a:extLst>
            <a:ext uri="{91240B29-F687-4F45-9708-019B960494DF}">
              <a14:hiddenLine xmlns:a14="http://schemas.microsoft.com/office/drawing/2010/main" w="31750">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外设</a:t>
            </a:r>
            <a:r>
              <a:rPr lang="en-US" altLang="zh-CN" sz="2000">
                <a:solidFill>
                  <a:schemeClr val="bg1"/>
                </a:solidFill>
                <a:ea typeface="楷体" panose="02010609060101010101" pitchFamily="49" charset="-122"/>
                <a:cs typeface="Times New Roman" panose="02020603050405020304" pitchFamily="18" charset="0"/>
              </a:rPr>
              <a:t>3</a:t>
            </a:r>
            <a:r>
              <a:rPr lang="zh-CN" altLang="en-US" sz="2000">
                <a:solidFill>
                  <a:schemeClr val="bg1"/>
                </a:solidFill>
                <a:ea typeface="楷体" panose="02010609060101010101" pitchFamily="49" charset="-122"/>
                <a:cs typeface="Times New Roman" panose="02020603050405020304" pitchFamily="18" charset="0"/>
              </a:rPr>
              <a:t>的</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中断服</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务程序</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39973" name="AutoShape 41"/>
          <p:cNvSpPr>
            <a:spLocks noChangeArrowheads="1"/>
          </p:cNvSpPr>
          <p:nvPr/>
        </p:nvSpPr>
        <p:spPr bwMode="auto">
          <a:xfrm>
            <a:off x="8101013" y="3076575"/>
            <a:ext cx="215900" cy="1079500"/>
          </a:xfrm>
          <a:prstGeom prst="upDownArrow">
            <a:avLst>
              <a:gd name="adj1" fmla="val 45852"/>
              <a:gd name="adj2" fmla="val 69606"/>
            </a:avLst>
          </a:prstGeom>
          <a:solidFill>
            <a:srgbClr val="FF99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9974" name="AutoShape 42"/>
          <p:cNvSpPr>
            <a:spLocks noChangeArrowheads="1"/>
          </p:cNvSpPr>
          <p:nvPr/>
        </p:nvSpPr>
        <p:spPr bwMode="auto">
          <a:xfrm>
            <a:off x="3635375" y="1392238"/>
            <a:ext cx="4176713" cy="1466850"/>
          </a:xfrm>
          <a:prstGeom prst="roundRect">
            <a:avLst>
              <a:gd name="adj" fmla="val 16667"/>
            </a:avLst>
          </a:prstGeom>
          <a:noFill/>
          <a:ln w="28575" algn="ctr">
            <a:solidFill>
              <a:schemeClr val="tx1"/>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cxnSp>
        <p:nvCxnSpPr>
          <p:cNvPr id="39975" name="直接连接符 2"/>
          <p:cNvCxnSpPr>
            <a:cxnSpLocks noChangeShapeType="1"/>
          </p:cNvCxnSpPr>
          <p:nvPr/>
        </p:nvCxnSpPr>
        <p:spPr bwMode="auto">
          <a:xfrm>
            <a:off x="1012825" y="4803775"/>
            <a:ext cx="523875" cy="0"/>
          </a:xfrm>
          <a:prstGeom prst="line">
            <a:avLst/>
          </a:prstGeom>
          <a:noFill/>
          <a:ln w="15875" algn="ctr">
            <a:solidFill>
              <a:schemeClr val="bg1"/>
            </a:solidFill>
            <a:miter lim="800000"/>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pPr eaLnBrk="1" hangingPunct="1">
              <a:defRPr/>
            </a:pPr>
            <a:r>
              <a:rPr lang="zh-CN" altLang="en-US"/>
              <a:t>中断服务程序入口的获取 </a:t>
            </a:r>
            <a:endParaRPr lang="zh-CN" altLang="en-US"/>
          </a:p>
        </p:txBody>
      </p:sp>
      <p:sp>
        <p:nvSpPr>
          <p:cNvPr id="40963" name="Rectangle 3"/>
          <p:cNvSpPr>
            <a:spLocks noGrp="1" noChangeArrowheads="1"/>
          </p:cNvSpPr>
          <p:nvPr>
            <p:ph idx="1"/>
          </p:nvPr>
        </p:nvSpPr>
        <p:spPr>
          <a:xfrm>
            <a:off x="179388" y="1133475"/>
            <a:ext cx="1893887" cy="604838"/>
          </a:xfrm>
        </p:spPr>
        <p:txBody>
          <a:bodyPr/>
          <a:lstStyle/>
          <a:p>
            <a:pPr eaLnBrk="1" hangingPunct="1">
              <a:buFont typeface="Wingdings 2" charset="2"/>
              <a:buNone/>
            </a:pPr>
            <a:r>
              <a:rPr lang="zh-CN" altLang="en-US">
                <a:latin typeface="楷体" panose="02010609060101010101" pitchFamily="49" charset="-122"/>
                <a:ea typeface="楷体" panose="02010609060101010101" pitchFamily="49" charset="-122"/>
              </a:rPr>
              <a:t>向量中断 </a:t>
            </a:r>
            <a:endParaRPr lang="zh-CN" altLang="en-US">
              <a:latin typeface="楷体" panose="02010609060101010101" pitchFamily="49" charset="-122"/>
              <a:ea typeface="楷体" panose="02010609060101010101" pitchFamily="49" charset="-122"/>
            </a:endParaRPr>
          </a:p>
        </p:txBody>
      </p:sp>
      <p:sp>
        <p:nvSpPr>
          <p:cNvPr id="40965" name="AutoShape 39"/>
          <p:cNvSpPr>
            <a:spLocks noChangeArrowheads="1"/>
          </p:cNvSpPr>
          <p:nvPr/>
        </p:nvSpPr>
        <p:spPr bwMode="auto">
          <a:xfrm>
            <a:off x="4191000" y="1447800"/>
            <a:ext cx="1905000" cy="381000"/>
          </a:xfrm>
          <a:prstGeom prst="flowChartAlternateProcess">
            <a:avLst/>
          </a:prstGeom>
          <a:solidFill>
            <a:schemeClr val="accent1"/>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40966" name="AutoShape 40"/>
          <p:cNvSpPr>
            <a:spLocks noChangeArrowheads="1"/>
          </p:cNvSpPr>
          <p:nvPr/>
        </p:nvSpPr>
        <p:spPr bwMode="auto">
          <a:xfrm>
            <a:off x="4267200" y="2209800"/>
            <a:ext cx="1828800" cy="457200"/>
          </a:xfrm>
          <a:prstGeom prst="flowChartProcess">
            <a:avLst/>
          </a:prstGeom>
          <a:solidFill>
            <a:srgbClr val="99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40967" name="AutoShape 41"/>
          <p:cNvSpPr>
            <a:spLocks noChangeArrowheads="1"/>
          </p:cNvSpPr>
          <p:nvPr/>
        </p:nvSpPr>
        <p:spPr bwMode="auto">
          <a:xfrm>
            <a:off x="4267200" y="3048000"/>
            <a:ext cx="2057400" cy="609600"/>
          </a:xfrm>
          <a:prstGeom prst="flowChartDecision">
            <a:avLst/>
          </a:prstGeom>
          <a:solidFill>
            <a:srgbClr val="99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40968" name="AutoShape 42"/>
          <p:cNvSpPr>
            <a:spLocks noChangeArrowheads="1"/>
          </p:cNvSpPr>
          <p:nvPr/>
        </p:nvSpPr>
        <p:spPr bwMode="auto">
          <a:xfrm>
            <a:off x="4267200" y="3886200"/>
            <a:ext cx="2057400" cy="609600"/>
          </a:xfrm>
          <a:prstGeom prst="flowChartDecision">
            <a:avLst/>
          </a:prstGeom>
          <a:solidFill>
            <a:srgbClr val="99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40969" name="AutoShape 43"/>
          <p:cNvSpPr>
            <a:spLocks noChangeArrowheads="1"/>
          </p:cNvSpPr>
          <p:nvPr/>
        </p:nvSpPr>
        <p:spPr bwMode="auto">
          <a:xfrm>
            <a:off x="4267200" y="4800600"/>
            <a:ext cx="2057400" cy="609600"/>
          </a:xfrm>
          <a:prstGeom prst="flowChartDecision">
            <a:avLst/>
          </a:prstGeom>
          <a:solidFill>
            <a:srgbClr val="99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40970" name="AutoShape 44"/>
          <p:cNvSpPr>
            <a:spLocks noChangeArrowheads="1"/>
          </p:cNvSpPr>
          <p:nvPr/>
        </p:nvSpPr>
        <p:spPr bwMode="auto">
          <a:xfrm>
            <a:off x="4419600" y="5715000"/>
            <a:ext cx="1828800" cy="457200"/>
          </a:xfrm>
          <a:prstGeom prst="flowChartProcess">
            <a:avLst/>
          </a:prstGeom>
          <a:solidFill>
            <a:srgbClr val="99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40971" name="AutoShape 45"/>
          <p:cNvSpPr>
            <a:spLocks noChangeArrowheads="1"/>
          </p:cNvSpPr>
          <p:nvPr/>
        </p:nvSpPr>
        <p:spPr bwMode="auto">
          <a:xfrm>
            <a:off x="6781800" y="4876800"/>
            <a:ext cx="1752600" cy="457200"/>
          </a:xfrm>
          <a:prstGeom prst="flowChartProcess">
            <a:avLst/>
          </a:prstGeom>
          <a:solidFill>
            <a:srgbClr val="99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40972" name="AutoShape 46"/>
          <p:cNvSpPr>
            <a:spLocks noChangeArrowheads="1"/>
          </p:cNvSpPr>
          <p:nvPr/>
        </p:nvSpPr>
        <p:spPr bwMode="auto">
          <a:xfrm>
            <a:off x="6781800" y="3962400"/>
            <a:ext cx="1752600" cy="457200"/>
          </a:xfrm>
          <a:prstGeom prst="flowChartProcess">
            <a:avLst/>
          </a:prstGeom>
          <a:solidFill>
            <a:srgbClr val="99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40973" name="AutoShape 47"/>
          <p:cNvSpPr>
            <a:spLocks noChangeArrowheads="1"/>
          </p:cNvSpPr>
          <p:nvPr/>
        </p:nvSpPr>
        <p:spPr bwMode="auto">
          <a:xfrm>
            <a:off x="6705600" y="3124200"/>
            <a:ext cx="1828800" cy="457200"/>
          </a:xfrm>
          <a:prstGeom prst="flowChartProcess">
            <a:avLst/>
          </a:prstGeom>
          <a:solidFill>
            <a:srgbClr val="99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40974" name="Line 48"/>
          <p:cNvSpPr>
            <a:spLocks noChangeShapeType="1"/>
          </p:cNvSpPr>
          <p:nvPr/>
        </p:nvSpPr>
        <p:spPr bwMode="auto">
          <a:xfrm>
            <a:off x="8686800" y="3352800"/>
            <a:ext cx="0" cy="2133600"/>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75" name="Line 49"/>
          <p:cNvSpPr>
            <a:spLocks noChangeShapeType="1"/>
          </p:cNvSpPr>
          <p:nvPr/>
        </p:nvSpPr>
        <p:spPr bwMode="auto">
          <a:xfrm>
            <a:off x="5257800" y="1814513"/>
            <a:ext cx="0" cy="381000"/>
          </a:xfrm>
          <a:prstGeom prst="line">
            <a:avLst/>
          </a:prstGeom>
          <a:noFill/>
          <a:ln w="12700">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76" name="Line 50"/>
          <p:cNvSpPr>
            <a:spLocks noChangeShapeType="1"/>
          </p:cNvSpPr>
          <p:nvPr/>
        </p:nvSpPr>
        <p:spPr bwMode="auto">
          <a:xfrm>
            <a:off x="5257800" y="2667000"/>
            <a:ext cx="0" cy="381000"/>
          </a:xfrm>
          <a:prstGeom prst="line">
            <a:avLst/>
          </a:prstGeom>
          <a:noFill/>
          <a:ln w="12700">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77" name="Line 51"/>
          <p:cNvSpPr>
            <a:spLocks noChangeShapeType="1"/>
          </p:cNvSpPr>
          <p:nvPr/>
        </p:nvSpPr>
        <p:spPr bwMode="auto">
          <a:xfrm>
            <a:off x="5257800" y="3581400"/>
            <a:ext cx="0" cy="304800"/>
          </a:xfrm>
          <a:prstGeom prst="line">
            <a:avLst/>
          </a:prstGeom>
          <a:noFill/>
          <a:ln w="12700">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78" name="Line 52"/>
          <p:cNvSpPr>
            <a:spLocks noChangeShapeType="1"/>
          </p:cNvSpPr>
          <p:nvPr/>
        </p:nvSpPr>
        <p:spPr bwMode="auto">
          <a:xfrm>
            <a:off x="5257800" y="4495800"/>
            <a:ext cx="0" cy="304800"/>
          </a:xfrm>
          <a:prstGeom prst="line">
            <a:avLst/>
          </a:prstGeom>
          <a:noFill/>
          <a:ln w="12700" cap="rnd">
            <a:solidFill>
              <a:schemeClr val="tx2"/>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79" name="Line 53"/>
          <p:cNvSpPr>
            <a:spLocks noChangeShapeType="1"/>
          </p:cNvSpPr>
          <p:nvPr/>
        </p:nvSpPr>
        <p:spPr bwMode="auto">
          <a:xfrm>
            <a:off x="5257800" y="5410200"/>
            <a:ext cx="0" cy="304800"/>
          </a:xfrm>
          <a:prstGeom prst="line">
            <a:avLst/>
          </a:prstGeom>
          <a:noFill/>
          <a:ln w="12700">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80" name="Line 54"/>
          <p:cNvSpPr>
            <a:spLocks noChangeShapeType="1"/>
          </p:cNvSpPr>
          <p:nvPr/>
        </p:nvSpPr>
        <p:spPr bwMode="auto">
          <a:xfrm flipH="1">
            <a:off x="5257800" y="6172200"/>
            <a:ext cx="0" cy="457200"/>
          </a:xfrm>
          <a:prstGeom prst="line">
            <a:avLst/>
          </a:prstGeom>
          <a:noFill/>
          <a:ln w="12700">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81" name="Line 55"/>
          <p:cNvSpPr>
            <a:spLocks noChangeShapeType="1"/>
          </p:cNvSpPr>
          <p:nvPr/>
        </p:nvSpPr>
        <p:spPr bwMode="auto">
          <a:xfrm flipV="1">
            <a:off x="6248400" y="3352800"/>
            <a:ext cx="457200" cy="0"/>
          </a:xfrm>
          <a:prstGeom prst="line">
            <a:avLst/>
          </a:prstGeom>
          <a:noFill/>
          <a:ln w="12700">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82" name="Line 56"/>
          <p:cNvSpPr>
            <a:spLocks noChangeShapeType="1"/>
          </p:cNvSpPr>
          <p:nvPr/>
        </p:nvSpPr>
        <p:spPr bwMode="auto">
          <a:xfrm>
            <a:off x="6324600" y="4191000"/>
            <a:ext cx="457200" cy="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83" name="Line 57"/>
          <p:cNvSpPr>
            <a:spLocks noChangeShapeType="1"/>
          </p:cNvSpPr>
          <p:nvPr/>
        </p:nvSpPr>
        <p:spPr bwMode="auto">
          <a:xfrm>
            <a:off x="6248400" y="5105400"/>
            <a:ext cx="533400" cy="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84" name="Line 58"/>
          <p:cNvSpPr>
            <a:spLocks noChangeShapeType="1"/>
          </p:cNvSpPr>
          <p:nvPr/>
        </p:nvSpPr>
        <p:spPr bwMode="auto">
          <a:xfrm flipH="1">
            <a:off x="5257800" y="5486400"/>
            <a:ext cx="3429000" cy="0"/>
          </a:xfrm>
          <a:prstGeom prst="line">
            <a:avLst/>
          </a:prstGeom>
          <a:noFill/>
          <a:ln w="12700">
            <a:solidFill>
              <a:schemeClr val="tx2"/>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85" name="Line 59"/>
          <p:cNvSpPr>
            <a:spLocks noChangeShapeType="1"/>
          </p:cNvSpPr>
          <p:nvPr/>
        </p:nvSpPr>
        <p:spPr bwMode="auto">
          <a:xfrm>
            <a:off x="8534400" y="3352800"/>
            <a:ext cx="152400" cy="0"/>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86" name="Line 60"/>
          <p:cNvSpPr>
            <a:spLocks noChangeShapeType="1"/>
          </p:cNvSpPr>
          <p:nvPr/>
        </p:nvSpPr>
        <p:spPr bwMode="auto">
          <a:xfrm>
            <a:off x="8534400" y="4191000"/>
            <a:ext cx="152400" cy="0"/>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87" name="Line 61"/>
          <p:cNvSpPr>
            <a:spLocks noChangeShapeType="1"/>
          </p:cNvSpPr>
          <p:nvPr/>
        </p:nvSpPr>
        <p:spPr bwMode="auto">
          <a:xfrm>
            <a:off x="8534400" y="5105400"/>
            <a:ext cx="152400" cy="0"/>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40988" name="Text Box 62"/>
          <p:cNvSpPr txBox="1">
            <a:spLocks noChangeArrowheads="1"/>
          </p:cNvSpPr>
          <p:nvPr/>
        </p:nvSpPr>
        <p:spPr bwMode="auto">
          <a:xfrm>
            <a:off x="6705600" y="3124200"/>
            <a:ext cx="1828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zh-CN" altLang="en-US" sz="1800">
                <a:solidFill>
                  <a:schemeClr val="bg1"/>
                </a:solidFill>
                <a:latin typeface="楷体" panose="02010609060101010101" pitchFamily="49" charset="-122"/>
                <a:ea typeface="楷体" panose="02010609060101010101" pitchFamily="49" charset="-122"/>
              </a:rPr>
              <a:t>执行</a:t>
            </a:r>
            <a:r>
              <a:rPr kumimoji="0" lang="en-US" altLang="zh-CN" sz="1800">
                <a:solidFill>
                  <a:schemeClr val="bg1"/>
                </a:solidFill>
                <a:latin typeface="楷体" panose="02010609060101010101" pitchFamily="49" charset="-122"/>
                <a:ea typeface="楷体" panose="02010609060101010101" pitchFamily="49" charset="-122"/>
              </a:rPr>
              <a:t>0#</a:t>
            </a:r>
            <a:r>
              <a:rPr kumimoji="0" lang="zh-CN" altLang="en-US" sz="1800">
                <a:solidFill>
                  <a:schemeClr val="bg1"/>
                </a:solidFill>
                <a:latin typeface="楷体" panose="02010609060101010101" pitchFamily="49" charset="-122"/>
                <a:ea typeface="楷体" panose="02010609060101010101" pitchFamily="49" charset="-122"/>
              </a:rPr>
              <a:t>中断程序</a:t>
            </a:r>
            <a:endParaRPr kumimoji="0" lang="zh-CN" altLang="en-US" sz="1800">
              <a:solidFill>
                <a:schemeClr val="bg1"/>
              </a:solidFill>
              <a:latin typeface="楷体" panose="02010609060101010101" pitchFamily="49" charset="-122"/>
              <a:ea typeface="楷体" panose="02010609060101010101" pitchFamily="49" charset="-122"/>
            </a:endParaRPr>
          </a:p>
        </p:txBody>
      </p:sp>
      <p:sp>
        <p:nvSpPr>
          <p:cNvPr id="40989" name="Text Box 63"/>
          <p:cNvSpPr txBox="1">
            <a:spLocks noChangeArrowheads="1"/>
          </p:cNvSpPr>
          <p:nvPr/>
        </p:nvSpPr>
        <p:spPr bwMode="auto">
          <a:xfrm>
            <a:off x="6705600" y="3962400"/>
            <a:ext cx="1828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zh-CN" altLang="en-US" sz="1800">
                <a:solidFill>
                  <a:schemeClr val="bg1"/>
                </a:solidFill>
                <a:latin typeface="楷体" panose="02010609060101010101" pitchFamily="49" charset="-122"/>
                <a:ea typeface="楷体" panose="02010609060101010101" pitchFamily="49" charset="-122"/>
              </a:rPr>
              <a:t>执行</a:t>
            </a:r>
            <a:r>
              <a:rPr kumimoji="0" lang="en-US" altLang="zh-CN" sz="1800">
                <a:solidFill>
                  <a:schemeClr val="bg1"/>
                </a:solidFill>
                <a:latin typeface="楷体" panose="02010609060101010101" pitchFamily="49" charset="-122"/>
                <a:ea typeface="楷体" panose="02010609060101010101" pitchFamily="49" charset="-122"/>
              </a:rPr>
              <a:t>1#</a:t>
            </a:r>
            <a:r>
              <a:rPr kumimoji="0" lang="zh-CN" altLang="en-US" sz="1800">
                <a:solidFill>
                  <a:schemeClr val="bg1"/>
                </a:solidFill>
                <a:latin typeface="楷体" panose="02010609060101010101" pitchFamily="49" charset="-122"/>
                <a:ea typeface="楷体" panose="02010609060101010101" pitchFamily="49" charset="-122"/>
              </a:rPr>
              <a:t>中断程序</a:t>
            </a:r>
            <a:endParaRPr kumimoji="0" lang="zh-CN" altLang="en-US" sz="2400">
              <a:solidFill>
                <a:schemeClr val="bg1"/>
              </a:solidFill>
              <a:latin typeface="楷体" panose="02010609060101010101" pitchFamily="49" charset="-122"/>
              <a:ea typeface="楷体" panose="02010609060101010101" pitchFamily="49" charset="-122"/>
            </a:endParaRPr>
          </a:p>
        </p:txBody>
      </p:sp>
      <p:sp>
        <p:nvSpPr>
          <p:cNvPr id="40990" name="Text Box 64"/>
          <p:cNvSpPr txBox="1">
            <a:spLocks noChangeArrowheads="1"/>
          </p:cNvSpPr>
          <p:nvPr/>
        </p:nvSpPr>
        <p:spPr bwMode="auto">
          <a:xfrm>
            <a:off x="6705600" y="4876800"/>
            <a:ext cx="1828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zh-CN" altLang="en-US" sz="1800">
                <a:solidFill>
                  <a:schemeClr val="bg1"/>
                </a:solidFill>
                <a:latin typeface="楷体" panose="02010609060101010101" pitchFamily="49" charset="-122"/>
                <a:ea typeface="楷体" panose="02010609060101010101" pitchFamily="49" charset="-122"/>
              </a:rPr>
              <a:t>执行</a:t>
            </a:r>
            <a:r>
              <a:rPr kumimoji="0" lang="en-US" altLang="zh-CN" sz="1800">
                <a:solidFill>
                  <a:schemeClr val="bg1"/>
                </a:solidFill>
                <a:latin typeface="楷体" panose="02010609060101010101" pitchFamily="49" charset="-122"/>
                <a:ea typeface="楷体" panose="02010609060101010101" pitchFamily="49" charset="-122"/>
              </a:rPr>
              <a:t>2#</a:t>
            </a:r>
            <a:r>
              <a:rPr kumimoji="0" lang="zh-CN" altLang="en-US" sz="1800">
                <a:solidFill>
                  <a:schemeClr val="bg1"/>
                </a:solidFill>
                <a:latin typeface="楷体" panose="02010609060101010101" pitchFamily="49" charset="-122"/>
                <a:ea typeface="楷体" panose="02010609060101010101" pitchFamily="49" charset="-122"/>
              </a:rPr>
              <a:t>中断程序</a:t>
            </a:r>
            <a:endParaRPr kumimoji="0" lang="zh-CN" altLang="en-US" sz="2400">
              <a:solidFill>
                <a:schemeClr val="bg1"/>
              </a:solidFill>
              <a:latin typeface="楷体" panose="02010609060101010101" pitchFamily="49" charset="-122"/>
              <a:ea typeface="楷体" panose="02010609060101010101" pitchFamily="49" charset="-122"/>
            </a:endParaRPr>
          </a:p>
        </p:txBody>
      </p:sp>
      <p:sp>
        <p:nvSpPr>
          <p:cNvPr id="40991" name="Text Box 65"/>
          <p:cNvSpPr txBox="1">
            <a:spLocks noChangeArrowheads="1"/>
          </p:cNvSpPr>
          <p:nvPr/>
        </p:nvSpPr>
        <p:spPr bwMode="auto">
          <a:xfrm>
            <a:off x="4267200" y="1447800"/>
            <a:ext cx="1752600" cy="366713"/>
          </a:xfrm>
          <a:prstGeom prst="rect">
            <a:avLst/>
          </a:prstGeom>
          <a:solidFill>
            <a:srgbClr val="99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zh-CN" altLang="en-US" sz="1800">
                <a:solidFill>
                  <a:schemeClr val="bg1"/>
                </a:solidFill>
                <a:latin typeface="楷体" panose="02010609060101010101" pitchFamily="49" charset="-122"/>
                <a:ea typeface="楷体" panose="02010609060101010101" pitchFamily="49" charset="-122"/>
              </a:rPr>
              <a:t>公共服务程序</a:t>
            </a:r>
            <a:endParaRPr kumimoji="0" lang="zh-CN" altLang="en-US" sz="1800">
              <a:solidFill>
                <a:schemeClr val="bg1"/>
              </a:solidFill>
              <a:latin typeface="楷体" panose="02010609060101010101" pitchFamily="49" charset="-122"/>
              <a:ea typeface="楷体" panose="02010609060101010101" pitchFamily="49" charset="-122"/>
            </a:endParaRPr>
          </a:p>
        </p:txBody>
      </p:sp>
      <p:sp>
        <p:nvSpPr>
          <p:cNvPr id="40992" name="Text Box 66"/>
          <p:cNvSpPr txBox="1">
            <a:spLocks noChangeArrowheads="1"/>
          </p:cNvSpPr>
          <p:nvPr/>
        </p:nvSpPr>
        <p:spPr bwMode="auto">
          <a:xfrm>
            <a:off x="4267200" y="2209800"/>
            <a:ext cx="1828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zh-CN" altLang="en-US" sz="1800">
                <a:solidFill>
                  <a:schemeClr val="bg1"/>
                </a:solidFill>
                <a:latin typeface="楷体" panose="02010609060101010101" pitchFamily="49" charset="-122"/>
                <a:ea typeface="楷体" panose="02010609060101010101" pitchFamily="49" charset="-122"/>
              </a:rPr>
              <a:t>保护中断现场</a:t>
            </a:r>
            <a:endParaRPr kumimoji="0" lang="zh-CN" altLang="en-US" sz="1800">
              <a:solidFill>
                <a:schemeClr val="bg1"/>
              </a:solidFill>
              <a:latin typeface="楷体" panose="02010609060101010101" pitchFamily="49" charset="-122"/>
              <a:ea typeface="楷体" panose="02010609060101010101" pitchFamily="49" charset="-122"/>
            </a:endParaRPr>
          </a:p>
        </p:txBody>
      </p:sp>
      <p:sp>
        <p:nvSpPr>
          <p:cNvPr id="40993" name="Text Box 67"/>
          <p:cNvSpPr txBox="1">
            <a:spLocks noChangeArrowheads="1"/>
          </p:cNvSpPr>
          <p:nvPr/>
        </p:nvSpPr>
        <p:spPr bwMode="auto">
          <a:xfrm>
            <a:off x="4648200" y="3200400"/>
            <a:ext cx="1371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en-US" altLang="zh-CN" sz="1800">
                <a:solidFill>
                  <a:schemeClr val="bg1"/>
                </a:solidFill>
                <a:latin typeface="楷体" panose="02010609060101010101" pitchFamily="49" charset="-122"/>
                <a:ea typeface="楷体" panose="02010609060101010101" pitchFamily="49" charset="-122"/>
              </a:rPr>
              <a:t>0#</a:t>
            </a:r>
            <a:r>
              <a:rPr kumimoji="0" lang="zh-CN" altLang="en-US" sz="1800">
                <a:solidFill>
                  <a:schemeClr val="bg1"/>
                </a:solidFill>
                <a:latin typeface="楷体" panose="02010609060101010101" pitchFamily="49" charset="-122"/>
                <a:ea typeface="楷体" panose="02010609060101010101" pitchFamily="49" charset="-122"/>
              </a:rPr>
              <a:t>中断请求</a:t>
            </a:r>
            <a:endParaRPr kumimoji="0" lang="zh-CN" altLang="en-US" sz="1800">
              <a:solidFill>
                <a:schemeClr val="bg1"/>
              </a:solidFill>
              <a:latin typeface="楷体" panose="02010609060101010101" pitchFamily="49" charset="-122"/>
              <a:ea typeface="楷体" panose="02010609060101010101" pitchFamily="49" charset="-122"/>
            </a:endParaRPr>
          </a:p>
        </p:txBody>
      </p:sp>
      <p:sp>
        <p:nvSpPr>
          <p:cNvPr id="40994" name="Text Box 68"/>
          <p:cNvSpPr txBox="1">
            <a:spLocks noChangeArrowheads="1"/>
          </p:cNvSpPr>
          <p:nvPr/>
        </p:nvSpPr>
        <p:spPr bwMode="auto">
          <a:xfrm>
            <a:off x="4648200" y="4038600"/>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en-US" altLang="zh-CN" sz="1800">
                <a:solidFill>
                  <a:schemeClr val="bg1"/>
                </a:solidFill>
                <a:latin typeface="楷体" panose="02010609060101010101" pitchFamily="49" charset="-122"/>
                <a:ea typeface="楷体" panose="02010609060101010101" pitchFamily="49" charset="-122"/>
              </a:rPr>
              <a:t>1#</a:t>
            </a:r>
            <a:r>
              <a:rPr kumimoji="0" lang="zh-CN" altLang="en-US" sz="1800">
                <a:solidFill>
                  <a:schemeClr val="bg1"/>
                </a:solidFill>
                <a:latin typeface="楷体" panose="02010609060101010101" pitchFamily="49" charset="-122"/>
                <a:ea typeface="楷体" panose="02010609060101010101" pitchFamily="49" charset="-122"/>
              </a:rPr>
              <a:t>中断请求</a:t>
            </a:r>
            <a:endParaRPr kumimoji="0" lang="zh-CN" altLang="en-US" sz="1800">
              <a:solidFill>
                <a:schemeClr val="bg1"/>
              </a:solidFill>
              <a:latin typeface="楷体" panose="02010609060101010101" pitchFamily="49" charset="-122"/>
              <a:ea typeface="楷体" panose="02010609060101010101" pitchFamily="49" charset="-122"/>
            </a:endParaRPr>
          </a:p>
        </p:txBody>
      </p:sp>
      <p:sp>
        <p:nvSpPr>
          <p:cNvPr id="40995" name="Text Box 69"/>
          <p:cNvSpPr txBox="1">
            <a:spLocks noChangeArrowheads="1"/>
          </p:cNvSpPr>
          <p:nvPr/>
        </p:nvSpPr>
        <p:spPr bwMode="auto">
          <a:xfrm>
            <a:off x="4648200" y="4953000"/>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en-US" altLang="zh-CN" sz="1800">
                <a:solidFill>
                  <a:schemeClr val="bg1"/>
                </a:solidFill>
                <a:latin typeface="楷体" panose="02010609060101010101" pitchFamily="49" charset="-122"/>
                <a:ea typeface="楷体" panose="02010609060101010101" pitchFamily="49" charset="-122"/>
              </a:rPr>
              <a:t>2#</a:t>
            </a:r>
            <a:r>
              <a:rPr kumimoji="0" lang="zh-CN" altLang="en-US" sz="1800">
                <a:solidFill>
                  <a:schemeClr val="bg1"/>
                </a:solidFill>
                <a:latin typeface="楷体" panose="02010609060101010101" pitchFamily="49" charset="-122"/>
                <a:ea typeface="楷体" panose="02010609060101010101" pitchFamily="49" charset="-122"/>
              </a:rPr>
              <a:t>中断请求</a:t>
            </a:r>
            <a:endParaRPr kumimoji="0" lang="zh-CN" altLang="en-US" sz="1800">
              <a:solidFill>
                <a:schemeClr val="bg1"/>
              </a:solidFill>
              <a:latin typeface="楷体" panose="02010609060101010101" pitchFamily="49" charset="-122"/>
              <a:ea typeface="楷体" panose="02010609060101010101" pitchFamily="49" charset="-122"/>
            </a:endParaRPr>
          </a:p>
        </p:txBody>
      </p:sp>
      <p:sp>
        <p:nvSpPr>
          <p:cNvPr id="40996" name="Text Box 70"/>
          <p:cNvSpPr txBox="1">
            <a:spLocks noChangeArrowheads="1"/>
          </p:cNvSpPr>
          <p:nvPr/>
        </p:nvSpPr>
        <p:spPr bwMode="auto">
          <a:xfrm>
            <a:off x="4495800" y="5791200"/>
            <a:ext cx="1828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zh-CN" altLang="en-US" sz="1800">
                <a:solidFill>
                  <a:schemeClr val="bg1"/>
                </a:solidFill>
                <a:latin typeface="楷体" panose="02010609060101010101" pitchFamily="49" charset="-122"/>
                <a:ea typeface="楷体" panose="02010609060101010101" pitchFamily="49" charset="-122"/>
              </a:rPr>
              <a:t>恢复中断现场</a:t>
            </a:r>
            <a:endParaRPr kumimoji="0" lang="zh-CN" altLang="en-US" sz="1800">
              <a:solidFill>
                <a:schemeClr val="bg1"/>
              </a:solidFill>
              <a:latin typeface="楷体" panose="02010609060101010101" pitchFamily="49" charset="-122"/>
              <a:ea typeface="楷体" panose="02010609060101010101" pitchFamily="49" charset="-122"/>
            </a:endParaRPr>
          </a:p>
        </p:txBody>
      </p:sp>
      <p:sp>
        <p:nvSpPr>
          <p:cNvPr id="40997" name="Text Box 71"/>
          <p:cNvSpPr txBox="1">
            <a:spLocks noChangeArrowheads="1"/>
          </p:cNvSpPr>
          <p:nvPr/>
        </p:nvSpPr>
        <p:spPr bwMode="auto">
          <a:xfrm>
            <a:off x="6096000" y="28956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en-US" altLang="zh-CN" sz="2000" b="0">
                <a:solidFill>
                  <a:schemeClr val="tx2"/>
                </a:solidFill>
                <a:latin typeface="楷体" panose="02010609060101010101" pitchFamily="49" charset="-122"/>
                <a:ea typeface="楷体" panose="02010609060101010101" pitchFamily="49" charset="-122"/>
              </a:rPr>
              <a:t>Y</a:t>
            </a:r>
            <a:endParaRPr kumimoji="0" lang="en-US" altLang="zh-CN" sz="2000" b="0">
              <a:solidFill>
                <a:schemeClr val="tx2"/>
              </a:solidFill>
              <a:latin typeface="楷体" panose="02010609060101010101" pitchFamily="49" charset="-122"/>
              <a:ea typeface="楷体" panose="02010609060101010101" pitchFamily="49" charset="-122"/>
            </a:endParaRPr>
          </a:p>
        </p:txBody>
      </p:sp>
      <p:sp>
        <p:nvSpPr>
          <p:cNvPr id="40998" name="Text Box 72"/>
          <p:cNvSpPr txBox="1">
            <a:spLocks noChangeArrowheads="1"/>
          </p:cNvSpPr>
          <p:nvPr/>
        </p:nvSpPr>
        <p:spPr bwMode="auto">
          <a:xfrm>
            <a:off x="6118225" y="3760788"/>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en-US" altLang="zh-CN" sz="2000" b="0">
                <a:solidFill>
                  <a:schemeClr val="tx2"/>
                </a:solidFill>
                <a:latin typeface="楷体" panose="02010609060101010101" pitchFamily="49" charset="-122"/>
                <a:ea typeface="楷体" panose="02010609060101010101" pitchFamily="49" charset="-122"/>
              </a:rPr>
              <a:t>Y</a:t>
            </a:r>
            <a:endParaRPr kumimoji="0" lang="en-US" altLang="zh-CN" sz="2000" b="0">
              <a:solidFill>
                <a:schemeClr val="tx2"/>
              </a:solidFill>
              <a:latin typeface="楷体" panose="02010609060101010101" pitchFamily="49" charset="-122"/>
              <a:ea typeface="楷体" panose="02010609060101010101" pitchFamily="49" charset="-122"/>
            </a:endParaRPr>
          </a:p>
        </p:txBody>
      </p:sp>
      <p:sp>
        <p:nvSpPr>
          <p:cNvPr id="40999" name="Rectangle 74"/>
          <p:cNvSpPr>
            <a:spLocks noChangeArrowheads="1"/>
          </p:cNvSpPr>
          <p:nvPr/>
        </p:nvSpPr>
        <p:spPr bwMode="auto">
          <a:xfrm>
            <a:off x="827088" y="166528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255</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00" name="Line 75"/>
          <p:cNvSpPr>
            <a:spLocks noChangeShapeType="1"/>
          </p:cNvSpPr>
          <p:nvPr/>
        </p:nvSpPr>
        <p:spPr bwMode="auto">
          <a:xfrm>
            <a:off x="827088" y="186213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01" name="Line 76"/>
          <p:cNvSpPr>
            <a:spLocks noChangeShapeType="1"/>
          </p:cNvSpPr>
          <p:nvPr/>
        </p:nvSpPr>
        <p:spPr bwMode="auto">
          <a:xfrm>
            <a:off x="1741488" y="1846263"/>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02" name="Rectangle 77"/>
          <p:cNvSpPr>
            <a:spLocks noChangeArrowheads="1"/>
          </p:cNvSpPr>
          <p:nvPr/>
        </p:nvSpPr>
        <p:spPr bwMode="auto">
          <a:xfrm>
            <a:off x="827088" y="225583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33</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03" name="Line 78"/>
          <p:cNvSpPr>
            <a:spLocks noChangeShapeType="1"/>
          </p:cNvSpPr>
          <p:nvPr/>
        </p:nvSpPr>
        <p:spPr bwMode="auto">
          <a:xfrm>
            <a:off x="827088" y="245268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04" name="Line 79"/>
          <p:cNvSpPr>
            <a:spLocks noChangeShapeType="1"/>
          </p:cNvSpPr>
          <p:nvPr/>
        </p:nvSpPr>
        <p:spPr bwMode="auto">
          <a:xfrm>
            <a:off x="1741488" y="2436813"/>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05" name="Rectangle 80"/>
          <p:cNvSpPr>
            <a:spLocks noChangeArrowheads="1"/>
          </p:cNvSpPr>
          <p:nvPr/>
        </p:nvSpPr>
        <p:spPr bwMode="auto">
          <a:xfrm>
            <a:off x="827088" y="263683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32</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06" name="Line 81"/>
          <p:cNvSpPr>
            <a:spLocks noChangeShapeType="1"/>
          </p:cNvSpPr>
          <p:nvPr/>
        </p:nvSpPr>
        <p:spPr bwMode="auto">
          <a:xfrm>
            <a:off x="827088" y="283368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07" name="Line 82"/>
          <p:cNvSpPr>
            <a:spLocks noChangeShapeType="1"/>
          </p:cNvSpPr>
          <p:nvPr/>
        </p:nvSpPr>
        <p:spPr bwMode="auto">
          <a:xfrm>
            <a:off x="1741488" y="2817813"/>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08" name="Rectangle 83"/>
          <p:cNvSpPr>
            <a:spLocks noChangeArrowheads="1"/>
          </p:cNvSpPr>
          <p:nvPr/>
        </p:nvSpPr>
        <p:spPr bwMode="auto">
          <a:xfrm>
            <a:off x="820738" y="301783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31</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09" name="Line 84"/>
          <p:cNvSpPr>
            <a:spLocks noChangeShapeType="1"/>
          </p:cNvSpPr>
          <p:nvPr/>
        </p:nvSpPr>
        <p:spPr bwMode="auto">
          <a:xfrm>
            <a:off x="820738" y="321468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10" name="Line 85"/>
          <p:cNvSpPr>
            <a:spLocks noChangeShapeType="1"/>
          </p:cNvSpPr>
          <p:nvPr/>
        </p:nvSpPr>
        <p:spPr bwMode="auto">
          <a:xfrm>
            <a:off x="1779588" y="318928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11" name="Rectangle 86"/>
          <p:cNvSpPr>
            <a:spLocks noChangeArrowheads="1"/>
          </p:cNvSpPr>
          <p:nvPr/>
        </p:nvSpPr>
        <p:spPr bwMode="auto">
          <a:xfrm>
            <a:off x="827088" y="359568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5</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12" name="Line 87"/>
          <p:cNvSpPr>
            <a:spLocks noChangeShapeType="1"/>
          </p:cNvSpPr>
          <p:nvPr/>
        </p:nvSpPr>
        <p:spPr bwMode="auto">
          <a:xfrm>
            <a:off x="827088" y="379253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13" name="Line 88"/>
          <p:cNvSpPr>
            <a:spLocks noChangeShapeType="1"/>
          </p:cNvSpPr>
          <p:nvPr/>
        </p:nvSpPr>
        <p:spPr bwMode="auto">
          <a:xfrm>
            <a:off x="1741488" y="3776663"/>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14" name="Rectangle 89"/>
          <p:cNvSpPr>
            <a:spLocks noChangeArrowheads="1"/>
          </p:cNvSpPr>
          <p:nvPr/>
        </p:nvSpPr>
        <p:spPr bwMode="auto">
          <a:xfrm>
            <a:off x="827088" y="397668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4</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15" name="Line 90"/>
          <p:cNvSpPr>
            <a:spLocks noChangeShapeType="1"/>
          </p:cNvSpPr>
          <p:nvPr/>
        </p:nvSpPr>
        <p:spPr bwMode="auto">
          <a:xfrm>
            <a:off x="827088" y="417353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16" name="Line 91"/>
          <p:cNvSpPr>
            <a:spLocks noChangeShapeType="1"/>
          </p:cNvSpPr>
          <p:nvPr/>
        </p:nvSpPr>
        <p:spPr bwMode="auto">
          <a:xfrm>
            <a:off x="1741488" y="4157663"/>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17" name="Rectangle 92"/>
          <p:cNvSpPr>
            <a:spLocks noChangeArrowheads="1"/>
          </p:cNvSpPr>
          <p:nvPr/>
        </p:nvSpPr>
        <p:spPr bwMode="auto">
          <a:xfrm>
            <a:off x="820738" y="435768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3</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18" name="Line 93"/>
          <p:cNvSpPr>
            <a:spLocks noChangeShapeType="1"/>
          </p:cNvSpPr>
          <p:nvPr/>
        </p:nvSpPr>
        <p:spPr bwMode="auto">
          <a:xfrm>
            <a:off x="820738" y="455453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19" name="Line 94"/>
          <p:cNvSpPr>
            <a:spLocks noChangeShapeType="1"/>
          </p:cNvSpPr>
          <p:nvPr/>
        </p:nvSpPr>
        <p:spPr bwMode="auto">
          <a:xfrm>
            <a:off x="1735138" y="4538663"/>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20" name="Rectangle 95"/>
          <p:cNvSpPr>
            <a:spLocks noChangeArrowheads="1"/>
          </p:cNvSpPr>
          <p:nvPr/>
        </p:nvSpPr>
        <p:spPr bwMode="auto">
          <a:xfrm>
            <a:off x="827088" y="473868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2</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21" name="Line 96"/>
          <p:cNvSpPr>
            <a:spLocks noChangeShapeType="1"/>
          </p:cNvSpPr>
          <p:nvPr/>
        </p:nvSpPr>
        <p:spPr bwMode="auto">
          <a:xfrm>
            <a:off x="827088" y="493553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22" name="Line 97"/>
          <p:cNvSpPr>
            <a:spLocks noChangeShapeType="1"/>
          </p:cNvSpPr>
          <p:nvPr/>
        </p:nvSpPr>
        <p:spPr bwMode="auto">
          <a:xfrm>
            <a:off x="1741488" y="4919663"/>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23" name="Rectangle 98"/>
          <p:cNvSpPr>
            <a:spLocks noChangeArrowheads="1"/>
          </p:cNvSpPr>
          <p:nvPr/>
        </p:nvSpPr>
        <p:spPr bwMode="auto">
          <a:xfrm>
            <a:off x="827088" y="511968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1</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24" name="Line 99"/>
          <p:cNvSpPr>
            <a:spLocks noChangeShapeType="1"/>
          </p:cNvSpPr>
          <p:nvPr/>
        </p:nvSpPr>
        <p:spPr bwMode="auto">
          <a:xfrm>
            <a:off x="827088" y="531653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25" name="Line 100"/>
          <p:cNvSpPr>
            <a:spLocks noChangeShapeType="1"/>
          </p:cNvSpPr>
          <p:nvPr/>
        </p:nvSpPr>
        <p:spPr bwMode="auto">
          <a:xfrm>
            <a:off x="1741488" y="5300663"/>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26" name="Rectangle 101"/>
          <p:cNvSpPr>
            <a:spLocks noChangeArrowheads="1"/>
          </p:cNvSpPr>
          <p:nvPr/>
        </p:nvSpPr>
        <p:spPr bwMode="auto">
          <a:xfrm>
            <a:off x="820738" y="5500688"/>
            <a:ext cx="1066800" cy="38100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tx2"/>
                </a:solidFill>
                <a:latin typeface="楷体" panose="02010609060101010101" pitchFamily="49" charset="-122"/>
                <a:ea typeface="楷体" panose="02010609060101010101" pitchFamily="49" charset="-122"/>
              </a:rPr>
              <a:t>类型</a:t>
            </a:r>
            <a:r>
              <a:rPr lang="en-US" altLang="zh-CN" sz="2000">
                <a:solidFill>
                  <a:schemeClr val="tx2"/>
                </a:solidFill>
                <a:latin typeface="楷体" panose="02010609060101010101" pitchFamily="49" charset="-122"/>
                <a:ea typeface="楷体" panose="02010609060101010101" pitchFamily="49" charset="-122"/>
              </a:rPr>
              <a:t>0</a:t>
            </a:r>
            <a:endParaRPr lang="en-US" altLang="zh-CN" sz="2000">
              <a:solidFill>
                <a:schemeClr val="tx2"/>
              </a:solidFill>
              <a:latin typeface="楷体" panose="02010609060101010101" pitchFamily="49" charset="-122"/>
              <a:ea typeface="楷体" panose="02010609060101010101" pitchFamily="49" charset="-122"/>
            </a:endParaRPr>
          </a:p>
        </p:txBody>
      </p:sp>
      <p:sp>
        <p:nvSpPr>
          <p:cNvPr id="41027" name="Line 102"/>
          <p:cNvSpPr>
            <a:spLocks noChangeShapeType="1"/>
          </p:cNvSpPr>
          <p:nvPr/>
        </p:nvSpPr>
        <p:spPr bwMode="auto">
          <a:xfrm>
            <a:off x="820738" y="5697538"/>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28" name="Line 103"/>
          <p:cNvSpPr>
            <a:spLocks noChangeShapeType="1"/>
          </p:cNvSpPr>
          <p:nvPr/>
        </p:nvSpPr>
        <p:spPr bwMode="auto">
          <a:xfrm>
            <a:off x="1735138" y="5681663"/>
            <a:ext cx="1524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29" name="Line 104"/>
          <p:cNvSpPr>
            <a:spLocks noChangeShapeType="1"/>
          </p:cNvSpPr>
          <p:nvPr/>
        </p:nvSpPr>
        <p:spPr bwMode="auto">
          <a:xfrm>
            <a:off x="827088" y="2046288"/>
            <a:ext cx="0" cy="22860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30" name="Line 105"/>
          <p:cNvSpPr>
            <a:spLocks noChangeShapeType="1"/>
          </p:cNvSpPr>
          <p:nvPr/>
        </p:nvSpPr>
        <p:spPr bwMode="auto">
          <a:xfrm>
            <a:off x="1887538" y="2046288"/>
            <a:ext cx="0" cy="22860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31" name="Line 106"/>
          <p:cNvSpPr>
            <a:spLocks noChangeShapeType="1"/>
          </p:cNvSpPr>
          <p:nvPr/>
        </p:nvSpPr>
        <p:spPr bwMode="auto">
          <a:xfrm>
            <a:off x="820738" y="3357563"/>
            <a:ext cx="0" cy="228600"/>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32" name="Line 107"/>
          <p:cNvSpPr>
            <a:spLocks noChangeShapeType="1"/>
          </p:cNvSpPr>
          <p:nvPr/>
        </p:nvSpPr>
        <p:spPr bwMode="auto">
          <a:xfrm>
            <a:off x="1885950" y="3341688"/>
            <a:ext cx="0" cy="228600"/>
          </a:xfrm>
          <a:prstGeom prst="line">
            <a:avLst/>
          </a:prstGeom>
          <a:noFill/>
          <a:ln w="127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41033" name="Text Box 108"/>
          <p:cNvSpPr txBox="1">
            <a:spLocks noChangeArrowheads="1"/>
          </p:cNvSpPr>
          <p:nvPr/>
        </p:nvSpPr>
        <p:spPr bwMode="auto">
          <a:xfrm>
            <a:off x="381000" y="5911850"/>
            <a:ext cx="1970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a:solidFill>
                  <a:schemeClr val="tx2"/>
                </a:solidFill>
                <a:latin typeface="楷体" panose="02010609060101010101" pitchFamily="49" charset="-122"/>
                <a:ea typeface="楷体" panose="02010609060101010101" pitchFamily="49" charset="-122"/>
              </a:rPr>
              <a:t>中断向量表</a:t>
            </a:r>
            <a:endParaRPr lang="zh-CN" altLang="en-US" sz="2800">
              <a:solidFill>
                <a:schemeClr val="tx2"/>
              </a:solidFill>
              <a:latin typeface="楷体" panose="02010609060101010101" pitchFamily="49" charset="-122"/>
              <a:ea typeface="楷体" panose="02010609060101010101" pitchFamily="49" charset="-122"/>
            </a:endParaRPr>
          </a:p>
        </p:txBody>
      </p:sp>
      <p:sp>
        <p:nvSpPr>
          <p:cNvPr id="41034" name="Rectangle 109"/>
          <p:cNvSpPr>
            <a:spLocks noChangeArrowheads="1"/>
          </p:cNvSpPr>
          <p:nvPr/>
        </p:nvSpPr>
        <p:spPr bwMode="auto">
          <a:xfrm>
            <a:off x="6376988" y="1073150"/>
            <a:ext cx="183991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9875" indent="-269875">
              <a:spcBef>
                <a:spcPct val="20000"/>
              </a:spcBef>
              <a:buClr>
                <a:srgbClr val="CC3300"/>
              </a:buClr>
              <a:buFont typeface="Wingdings 2"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charset="2"/>
              <a:buNone/>
            </a:pPr>
            <a:r>
              <a:rPr lang="zh-CN" altLang="en-US" b="0">
                <a:latin typeface="楷体" panose="02010609060101010101" pitchFamily="49" charset="-122"/>
                <a:ea typeface="楷体" panose="02010609060101010101" pitchFamily="49" charset="-122"/>
              </a:rPr>
              <a:t>查询中断</a:t>
            </a:r>
            <a:endParaRPr lang="zh-CN" altLang="en-US" b="0">
              <a:latin typeface="楷体" panose="02010609060101010101" pitchFamily="49" charset="-122"/>
              <a:ea typeface="楷体" panose="02010609060101010101" pitchFamily="49" charset="-122"/>
            </a:endParaRPr>
          </a:p>
        </p:txBody>
      </p:sp>
      <p:sp>
        <p:nvSpPr>
          <p:cNvPr id="41035" name="Text Box 111"/>
          <p:cNvSpPr txBox="1">
            <a:spLocks noChangeArrowheads="1"/>
          </p:cNvSpPr>
          <p:nvPr/>
        </p:nvSpPr>
        <p:spPr bwMode="auto">
          <a:xfrm>
            <a:off x="6172200" y="4648200"/>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kumimoji="0" lang="en-US" altLang="zh-CN" sz="2000" b="0">
                <a:solidFill>
                  <a:schemeClr val="tx2"/>
                </a:solidFill>
                <a:latin typeface="楷体" panose="02010609060101010101" pitchFamily="49" charset="-122"/>
                <a:ea typeface="楷体" panose="02010609060101010101" pitchFamily="49" charset="-122"/>
              </a:rPr>
              <a:t>Y</a:t>
            </a:r>
            <a:endParaRPr kumimoji="0" lang="en-US" altLang="zh-CN" sz="2000" b="0">
              <a:solidFill>
                <a:schemeClr val="tx2"/>
              </a:solidFill>
              <a:latin typeface="楷体" panose="02010609060101010101" pitchFamily="49" charset="-122"/>
              <a:ea typeface="楷体" panose="02010609060101010101" pitchFamily="49" charset="-122"/>
            </a:endParaRPr>
          </a:p>
        </p:txBody>
      </p:sp>
      <p:sp>
        <p:nvSpPr>
          <p:cNvPr id="41036" name="Line 112"/>
          <p:cNvSpPr>
            <a:spLocks noChangeShapeType="1"/>
          </p:cNvSpPr>
          <p:nvPr/>
        </p:nvSpPr>
        <p:spPr bwMode="auto">
          <a:xfrm>
            <a:off x="3348038" y="1168400"/>
            <a:ext cx="0" cy="5184775"/>
          </a:xfrm>
          <a:prstGeom prst="line">
            <a:avLst/>
          </a:prstGeom>
          <a:noFill/>
          <a:ln w="57150">
            <a:solidFill>
              <a:schemeClr val="accent2"/>
            </a:solidFill>
            <a:prstDash val="dashDot"/>
            <a:round/>
          </a:ln>
          <a:extLst>
            <a:ext uri="{909E8E84-426E-40DD-AFC4-6F175D3DCCD1}">
              <a14:hiddenFill xmlns:a14="http://schemas.microsoft.com/office/drawing/2010/main">
                <a:noFill/>
              </a14:hiddenFill>
            </a:ext>
          </a:extLst>
        </p:spPr>
        <p:txBody>
          <a:bodyPr>
            <a:spAutoFit/>
          </a:bodyPr>
          <a:lstStyle/>
          <a:p>
            <a:endParaRPr lang="zh-CN" altLang="en-US">
              <a:latin typeface="楷体" panose="02010609060101010101" pitchFamily="49" charset="-122"/>
              <a:ea typeface="楷体" panose="02010609060101010101" pitchFamily="49" charset="-122"/>
            </a:endParaRPr>
          </a:p>
        </p:txBody>
      </p:sp>
      <p:sp>
        <p:nvSpPr>
          <p:cNvPr id="41037" name="文本框 1"/>
          <p:cNvSpPr txBox="1">
            <a:spLocks noChangeArrowheads="1"/>
          </p:cNvSpPr>
          <p:nvPr/>
        </p:nvSpPr>
        <p:spPr bwMode="auto">
          <a:xfrm>
            <a:off x="6642100" y="1778000"/>
            <a:ext cx="2032000" cy="646113"/>
          </a:xfrm>
          <a:prstGeom prst="rect">
            <a:avLst/>
          </a:prstGeom>
          <a:noFill/>
          <a:ln w="12700">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a:latin typeface="楷体" panose="02010609060101010101" pitchFamily="49" charset="-122"/>
                <a:ea typeface="楷体" panose="02010609060101010101" pitchFamily="49" charset="-122"/>
              </a:rPr>
              <a:t>预先规定中断服务</a:t>
            </a:r>
            <a:endParaRPr lang="en-US" altLang="zh-CN" sz="1800">
              <a:latin typeface="楷体" panose="02010609060101010101" pitchFamily="49" charset="-122"/>
              <a:ea typeface="楷体" panose="02010609060101010101" pitchFamily="49" charset="-122"/>
            </a:endParaRPr>
          </a:p>
          <a:p>
            <a:r>
              <a:rPr lang="zh-CN" altLang="en-US" sz="1800">
                <a:latin typeface="楷体" panose="02010609060101010101" pitchFamily="49" charset="-122"/>
                <a:ea typeface="楷体" panose="02010609060101010101" pitchFamily="49" charset="-122"/>
              </a:rPr>
              <a:t>程序的入口地址</a:t>
            </a:r>
            <a:endParaRPr lang="zh-CN" altLang="en-US" sz="1800">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eaLnBrk="1" hangingPunct="1">
              <a:defRPr/>
            </a:pPr>
            <a:r>
              <a:rPr lang="zh-CN" altLang="en-US"/>
              <a:t>单级中断</a:t>
            </a:r>
            <a:endParaRPr lang="zh-CN" altLang="en-US"/>
          </a:p>
        </p:txBody>
      </p:sp>
      <p:sp>
        <p:nvSpPr>
          <p:cNvPr id="41987" name="Rectangle 3"/>
          <p:cNvSpPr>
            <a:spLocks noGrp="1" noChangeArrowheads="1"/>
          </p:cNvSpPr>
          <p:nvPr>
            <p:ph idx="1"/>
          </p:nvPr>
        </p:nvSpPr>
        <p:spPr>
          <a:xfrm>
            <a:off x="179388" y="1008063"/>
            <a:ext cx="8785225" cy="5400675"/>
          </a:xfrm>
        </p:spPr>
        <p:txBody>
          <a:bodyPr/>
          <a:lstStyle/>
          <a:p>
            <a:pPr eaLnBrk="1" hangingPunct="1"/>
            <a:r>
              <a:rPr lang="zh-CN" altLang="en-US" dirty="0"/>
              <a:t>当响应某一中断请求时，在执行中断服务程序的过程中，不允许其他中断源再次打断中断服务程序。即中断响应不允许嵌套。</a:t>
            </a:r>
            <a:endParaRPr lang="zh-CN" altLang="en-US" dirty="0"/>
          </a:p>
        </p:txBody>
      </p:sp>
      <p:sp>
        <p:nvSpPr>
          <p:cNvPr id="41989" name="Line 5"/>
          <p:cNvSpPr>
            <a:spLocks noChangeShapeType="1"/>
          </p:cNvSpPr>
          <p:nvPr/>
        </p:nvSpPr>
        <p:spPr bwMode="auto">
          <a:xfrm>
            <a:off x="939800" y="4079875"/>
            <a:ext cx="0" cy="82867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990" name="Line 6"/>
          <p:cNvSpPr>
            <a:spLocks noChangeShapeType="1"/>
          </p:cNvSpPr>
          <p:nvPr/>
        </p:nvSpPr>
        <p:spPr bwMode="auto">
          <a:xfrm>
            <a:off x="939800" y="2908300"/>
            <a:ext cx="0" cy="82867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991" name="Line 7"/>
          <p:cNvSpPr>
            <a:spLocks noChangeShapeType="1"/>
          </p:cNvSpPr>
          <p:nvPr/>
        </p:nvSpPr>
        <p:spPr bwMode="auto">
          <a:xfrm>
            <a:off x="938213" y="5251450"/>
            <a:ext cx="0" cy="82867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992" name="Line 8"/>
          <p:cNvSpPr>
            <a:spLocks noChangeShapeType="1"/>
          </p:cNvSpPr>
          <p:nvPr/>
        </p:nvSpPr>
        <p:spPr bwMode="auto">
          <a:xfrm flipV="1">
            <a:off x="946150" y="3308350"/>
            <a:ext cx="741363" cy="42862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993" name="Line 9"/>
          <p:cNvSpPr>
            <a:spLocks noChangeShapeType="1"/>
          </p:cNvSpPr>
          <p:nvPr/>
        </p:nvSpPr>
        <p:spPr bwMode="auto">
          <a:xfrm>
            <a:off x="1689100" y="3336925"/>
            <a:ext cx="0" cy="957263"/>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994" name="Line 10"/>
          <p:cNvSpPr>
            <a:spLocks noChangeShapeType="1"/>
          </p:cNvSpPr>
          <p:nvPr/>
        </p:nvSpPr>
        <p:spPr bwMode="auto">
          <a:xfrm flipH="1" flipV="1">
            <a:off x="931863" y="4079875"/>
            <a:ext cx="757237" cy="2428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995" name="Line 11"/>
          <p:cNvSpPr>
            <a:spLocks noChangeShapeType="1"/>
          </p:cNvSpPr>
          <p:nvPr/>
        </p:nvSpPr>
        <p:spPr bwMode="auto">
          <a:xfrm flipV="1">
            <a:off x="946150" y="4479925"/>
            <a:ext cx="741363" cy="42862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996" name="Line 12"/>
          <p:cNvSpPr>
            <a:spLocks noChangeShapeType="1"/>
          </p:cNvSpPr>
          <p:nvPr/>
        </p:nvSpPr>
        <p:spPr bwMode="auto">
          <a:xfrm>
            <a:off x="1689100" y="4508500"/>
            <a:ext cx="0" cy="957263"/>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997" name="Line 13"/>
          <p:cNvSpPr>
            <a:spLocks noChangeShapeType="1"/>
          </p:cNvSpPr>
          <p:nvPr/>
        </p:nvSpPr>
        <p:spPr bwMode="auto">
          <a:xfrm flipH="1" flipV="1">
            <a:off x="931863" y="5251450"/>
            <a:ext cx="757237" cy="2428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1998" name="Text Box 14"/>
          <p:cNvSpPr txBox="1">
            <a:spLocks noChangeArrowheads="1"/>
          </p:cNvSpPr>
          <p:nvPr/>
        </p:nvSpPr>
        <p:spPr bwMode="auto">
          <a:xfrm>
            <a:off x="395288" y="2490788"/>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ea typeface="楷体" panose="02010609060101010101" pitchFamily="49" charset="-122"/>
                <a:cs typeface="Times New Roman" panose="02020603050405020304" pitchFamily="18" charset="0"/>
              </a:rPr>
              <a:t>主程序</a:t>
            </a:r>
            <a:endParaRPr kumimoji="0" lang="zh-CN" altLang="en-US" sz="2400">
              <a:ea typeface="楷体" panose="02010609060101010101" pitchFamily="49" charset="-122"/>
              <a:cs typeface="Times New Roman" panose="02020603050405020304" pitchFamily="18" charset="0"/>
            </a:endParaRPr>
          </a:p>
        </p:txBody>
      </p:sp>
      <p:sp>
        <p:nvSpPr>
          <p:cNvPr id="41999" name="Text Box 15"/>
          <p:cNvSpPr txBox="1">
            <a:spLocks noChangeArrowheads="1"/>
          </p:cNvSpPr>
          <p:nvPr/>
        </p:nvSpPr>
        <p:spPr bwMode="auto">
          <a:xfrm>
            <a:off x="1020871" y="5437188"/>
            <a:ext cx="1422184"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ea typeface="楷体" panose="02010609060101010101" pitchFamily="49" charset="-122"/>
                <a:cs typeface="Times New Roman" panose="02020603050405020304" pitchFamily="18" charset="0"/>
              </a:rPr>
              <a:t>单级中断</a:t>
            </a:r>
            <a:endParaRPr kumimoji="0" lang="zh-CN" altLang="en-US" sz="2400">
              <a:ea typeface="楷体" panose="02010609060101010101" pitchFamily="49" charset="-122"/>
              <a:cs typeface="Times New Roman" panose="02020603050405020304" pitchFamily="18" charset="0"/>
            </a:endParaRPr>
          </a:p>
          <a:p>
            <a:pPr algn="ctr" eaLnBrk="1" hangingPunct="1">
              <a:lnSpc>
                <a:spcPct val="90000"/>
              </a:lnSpc>
              <a:spcBef>
                <a:spcPct val="0"/>
              </a:spcBef>
              <a:buClrTx/>
              <a:buFontTx/>
              <a:buNone/>
            </a:pPr>
            <a:r>
              <a:rPr kumimoji="0" lang="zh-CN" altLang="en-US" sz="2400">
                <a:ea typeface="楷体" panose="02010609060101010101" pitchFamily="49" charset="-122"/>
                <a:cs typeface="Times New Roman" panose="02020603050405020304" pitchFamily="18" charset="0"/>
              </a:rPr>
              <a:t>服务程序</a:t>
            </a:r>
            <a:endParaRPr kumimoji="0" lang="zh-CN" altLang="en-US" sz="2400">
              <a:ea typeface="楷体" panose="02010609060101010101" pitchFamily="49" charset="-122"/>
              <a:cs typeface="Times New Roman" panose="02020603050405020304" pitchFamily="18" charset="0"/>
            </a:endParaRPr>
          </a:p>
        </p:txBody>
      </p:sp>
      <p:sp>
        <p:nvSpPr>
          <p:cNvPr id="42000" name="Rectangle 16"/>
          <p:cNvSpPr>
            <a:spLocks noChangeArrowheads="1"/>
          </p:cNvSpPr>
          <p:nvPr/>
        </p:nvSpPr>
        <p:spPr bwMode="auto">
          <a:xfrm>
            <a:off x="2574925" y="2622550"/>
            <a:ext cx="1271588" cy="3357563"/>
          </a:xfrm>
          <a:prstGeom prst="rect">
            <a:avLst/>
          </a:prstGeom>
          <a:solidFill>
            <a:srgbClr val="009900"/>
          </a:solidFill>
          <a:ln w="19050">
            <a:solidFill>
              <a:schemeClr val="tx1"/>
            </a:solidFill>
            <a:miter lim="800000"/>
            <a:tailEnd type="none" w="lg" len="lg"/>
          </a:ln>
        </p:spPr>
        <p:txBody>
          <a:bodyPr wrap="none" anchor="b"/>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dirty="0">
                <a:solidFill>
                  <a:schemeClr val="bg1"/>
                </a:solidFill>
                <a:ea typeface="楷体" panose="02010609060101010101" pitchFamily="49" charset="-122"/>
                <a:cs typeface="Times New Roman" panose="02020603050405020304" pitchFamily="18" charset="0"/>
              </a:rPr>
              <a:t>CPU</a:t>
            </a:r>
            <a:endParaRPr kumimoji="0" lang="en-US" altLang="zh-CN" sz="2400" dirty="0">
              <a:solidFill>
                <a:schemeClr val="bg1"/>
              </a:solidFill>
              <a:ea typeface="楷体" panose="02010609060101010101" pitchFamily="49" charset="-122"/>
              <a:cs typeface="Times New Roman" panose="02020603050405020304" pitchFamily="18" charset="0"/>
            </a:endParaRPr>
          </a:p>
        </p:txBody>
      </p:sp>
      <p:sp>
        <p:nvSpPr>
          <p:cNvPr id="42001" name="Rectangle 17"/>
          <p:cNvSpPr>
            <a:spLocks noChangeArrowheads="1"/>
          </p:cNvSpPr>
          <p:nvPr/>
        </p:nvSpPr>
        <p:spPr bwMode="auto">
          <a:xfrm>
            <a:off x="4160838" y="4708525"/>
            <a:ext cx="1214437" cy="957263"/>
          </a:xfrm>
          <a:prstGeom prst="rect">
            <a:avLst/>
          </a:prstGeom>
          <a:solidFill>
            <a:srgbClr val="00FFFF"/>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中断接口</a:t>
            </a:r>
            <a:endParaRPr kumimoji="0" lang="zh-CN" altLang="en-US" sz="2000">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0</a:t>
            </a:r>
            <a:endParaRPr kumimoji="0" lang="en-US" altLang="zh-CN" sz="2000">
              <a:ea typeface="楷体" panose="02010609060101010101" pitchFamily="49" charset="-122"/>
              <a:cs typeface="Times New Roman" panose="02020603050405020304" pitchFamily="18" charset="0"/>
            </a:endParaRPr>
          </a:p>
        </p:txBody>
      </p:sp>
      <p:sp>
        <p:nvSpPr>
          <p:cNvPr id="42002" name="Rectangle 18"/>
          <p:cNvSpPr>
            <a:spLocks noChangeArrowheads="1"/>
          </p:cNvSpPr>
          <p:nvPr/>
        </p:nvSpPr>
        <p:spPr bwMode="auto">
          <a:xfrm>
            <a:off x="5624513" y="4708525"/>
            <a:ext cx="1214437" cy="957263"/>
          </a:xfrm>
          <a:prstGeom prst="rect">
            <a:avLst/>
          </a:prstGeom>
          <a:solidFill>
            <a:srgbClr val="00FFFF"/>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中断接口</a:t>
            </a:r>
            <a:endParaRPr kumimoji="0" lang="zh-CN" altLang="en-US" sz="2000">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1</a:t>
            </a:r>
            <a:endParaRPr kumimoji="0" lang="en-US" altLang="zh-CN" sz="2000">
              <a:ea typeface="楷体" panose="02010609060101010101" pitchFamily="49" charset="-122"/>
              <a:cs typeface="Times New Roman" panose="02020603050405020304" pitchFamily="18" charset="0"/>
            </a:endParaRPr>
          </a:p>
        </p:txBody>
      </p:sp>
      <p:sp>
        <p:nvSpPr>
          <p:cNvPr id="42003" name="Rectangle 19"/>
          <p:cNvSpPr>
            <a:spLocks noChangeArrowheads="1"/>
          </p:cNvSpPr>
          <p:nvPr/>
        </p:nvSpPr>
        <p:spPr bwMode="auto">
          <a:xfrm>
            <a:off x="7318375" y="4708525"/>
            <a:ext cx="1214438" cy="957263"/>
          </a:xfrm>
          <a:prstGeom prst="rect">
            <a:avLst/>
          </a:prstGeom>
          <a:solidFill>
            <a:srgbClr val="00FFFF"/>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中断接口</a:t>
            </a:r>
            <a:endParaRPr kumimoji="0" lang="zh-CN" altLang="en-US" sz="2000">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n</a:t>
            </a:r>
            <a:endParaRPr kumimoji="0" lang="en-US" altLang="zh-CN" sz="2000">
              <a:ea typeface="楷体" panose="02010609060101010101" pitchFamily="49" charset="-122"/>
              <a:cs typeface="Times New Roman" panose="02020603050405020304" pitchFamily="18" charset="0"/>
            </a:endParaRPr>
          </a:p>
        </p:txBody>
      </p:sp>
      <p:sp>
        <p:nvSpPr>
          <p:cNvPr id="42004" name="Line 20"/>
          <p:cNvSpPr>
            <a:spLocks noChangeShapeType="1"/>
          </p:cNvSpPr>
          <p:nvPr/>
        </p:nvSpPr>
        <p:spPr bwMode="auto">
          <a:xfrm>
            <a:off x="3860800" y="5802313"/>
            <a:ext cx="828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05" name="Line 21"/>
          <p:cNvSpPr>
            <a:spLocks noChangeShapeType="1"/>
          </p:cNvSpPr>
          <p:nvPr/>
        </p:nvSpPr>
        <p:spPr bwMode="auto">
          <a:xfrm>
            <a:off x="4913313" y="5802313"/>
            <a:ext cx="125730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06" name="Line 22"/>
          <p:cNvSpPr>
            <a:spLocks noChangeShapeType="1"/>
          </p:cNvSpPr>
          <p:nvPr/>
        </p:nvSpPr>
        <p:spPr bwMode="auto">
          <a:xfrm>
            <a:off x="6394450" y="5802313"/>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07" name="Line 23"/>
          <p:cNvSpPr>
            <a:spLocks noChangeShapeType="1"/>
          </p:cNvSpPr>
          <p:nvPr/>
        </p:nvSpPr>
        <p:spPr bwMode="auto">
          <a:xfrm>
            <a:off x="8018463" y="5800725"/>
            <a:ext cx="828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08" name="Line 24"/>
          <p:cNvSpPr>
            <a:spLocks noChangeShapeType="1"/>
          </p:cNvSpPr>
          <p:nvPr/>
        </p:nvSpPr>
        <p:spPr bwMode="auto">
          <a:xfrm flipV="1">
            <a:off x="4679950" y="5665788"/>
            <a:ext cx="0" cy="128587"/>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09" name="Line 25"/>
          <p:cNvSpPr>
            <a:spLocks noChangeShapeType="1"/>
          </p:cNvSpPr>
          <p:nvPr/>
        </p:nvSpPr>
        <p:spPr bwMode="auto">
          <a:xfrm flipV="1">
            <a:off x="4922838" y="5665788"/>
            <a:ext cx="0" cy="128587"/>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10" name="Freeform 26"/>
          <p:cNvSpPr/>
          <p:nvPr/>
        </p:nvSpPr>
        <p:spPr bwMode="auto">
          <a:xfrm>
            <a:off x="4679950" y="5532438"/>
            <a:ext cx="247650" cy="128587"/>
          </a:xfrm>
          <a:custGeom>
            <a:avLst/>
            <a:gdLst>
              <a:gd name="T0" fmla="*/ 0 w 156"/>
              <a:gd name="T1" fmla="*/ 2147483646 h 81"/>
              <a:gd name="T2" fmla="*/ 2147483646 w 156"/>
              <a:gd name="T3" fmla="*/ 0 h 81"/>
              <a:gd name="T4" fmla="*/ 2147483646 w 156"/>
              <a:gd name="T5" fmla="*/ 2147483646 h 81"/>
              <a:gd name="T6" fmla="*/ 0 60000 65536"/>
              <a:gd name="T7" fmla="*/ 0 60000 65536"/>
              <a:gd name="T8" fmla="*/ 0 60000 65536"/>
              <a:gd name="T9" fmla="*/ 0 w 156"/>
              <a:gd name="T10" fmla="*/ 0 h 81"/>
              <a:gd name="T11" fmla="*/ 156 w 156"/>
              <a:gd name="T12" fmla="*/ 81 h 81"/>
            </a:gdLst>
            <a:ahLst/>
            <a:cxnLst>
              <a:cxn ang="T6">
                <a:pos x="T0" y="T1"/>
              </a:cxn>
              <a:cxn ang="T7">
                <a:pos x="T2" y="T3"/>
              </a:cxn>
              <a:cxn ang="T8">
                <a:pos x="T4" y="T5"/>
              </a:cxn>
            </a:cxnLst>
            <a:rect l="T9" t="T10" r="T11" b="T12"/>
            <a:pathLst>
              <a:path w="156" h="81">
                <a:moveTo>
                  <a:pt x="0" y="81"/>
                </a:moveTo>
                <a:cubicBezTo>
                  <a:pt x="27" y="40"/>
                  <a:pt x="55" y="0"/>
                  <a:pt x="81" y="0"/>
                </a:cubicBezTo>
                <a:cubicBezTo>
                  <a:pt x="107" y="0"/>
                  <a:pt x="144" y="64"/>
                  <a:pt x="156" y="78"/>
                </a:cubicBezTo>
              </a:path>
            </a:pathLst>
          </a:custGeom>
          <a:noFill/>
          <a:ln w="19050">
            <a:solidFill>
              <a:schemeClr val="bg2"/>
            </a:solidFill>
            <a:prstDash val="sysDot"/>
            <a:rou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11" name="Line 27"/>
          <p:cNvSpPr>
            <a:spLocks noChangeShapeType="1"/>
          </p:cNvSpPr>
          <p:nvPr/>
        </p:nvSpPr>
        <p:spPr bwMode="auto">
          <a:xfrm flipV="1">
            <a:off x="6165850" y="5675313"/>
            <a:ext cx="0" cy="128587"/>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12" name="Line 28"/>
          <p:cNvSpPr>
            <a:spLocks noChangeShapeType="1"/>
          </p:cNvSpPr>
          <p:nvPr/>
        </p:nvSpPr>
        <p:spPr bwMode="auto">
          <a:xfrm flipV="1">
            <a:off x="6408738" y="5675313"/>
            <a:ext cx="0" cy="128587"/>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13" name="Freeform 29"/>
          <p:cNvSpPr/>
          <p:nvPr/>
        </p:nvSpPr>
        <p:spPr bwMode="auto">
          <a:xfrm>
            <a:off x="6165850" y="5541963"/>
            <a:ext cx="247650" cy="128587"/>
          </a:xfrm>
          <a:custGeom>
            <a:avLst/>
            <a:gdLst>
              <a:gd name="T0" fmla="*/ 0 w 156"/>
              <a:gd name="T1" fmla="*/ 2147483646 h 81"/>
              <a:gd name="T2" fmla="*/ 2147483646 w 156"/>
              <a:gd name="T3" fmla="*/ 0 h 81"/>
              <a:gd name="T4" fmla="*/ 2147483646 w 156"/>
              <a:gd name="T5" fmla="*/ 2147483646 h 81"/>
              <a:gd name="T6" fmla="*/ 0 60000 65536"/>
              <a:gd name="T7" fmla="*/ 0 60000 65536"/>
              <a:gd name="T8" fmla="*/ 0 60000 65536"/>
              <a:gd name="T9" fmla="*/ 0 w 156"/>
              <a:gd name="T10" fmla="*/ 0 h 81"/>
              <a:gd name="T11" fmla="*/ 156 w 156"/>
              <a:gd name="T12" fmla="*/ 81 h 81"/>
            </a:gdLst>
            <a:ahLst/>
            <a:cxnLst>
              <a:cxn ang="T6">
                <a:pos x="T0" y="T1"/>
              </a:cxn>
              <a:cxn ang="T7">
                <a:pos x="T2" y="T3"/>
              </a:cxn>
              <a:cxn ang="T8">
                <a:pos x="T4" y="T5"/>
              </a:cxn>
            </a:cxnLst>
            <a:rect l="T9" t="T10" r="T11" b="T12"/>
            <a:pathLst>
              <a:path w="156" h="81">
                <a:moveTo>
                  <a:pt x="0" y="81"/>
                </a:moveTo>
                <a:cubicBezTo>
                  <a:pt x="27" y="40"/>
                  <a:pt x="55" y="0"/>
                  <a:pt x="81" y="0"/>
                </a:cubicBezTo>
                <a:cubicBezTo>
                  <a:pt x="107" y="0"/>
                  <a:pt x="144" y="64"/>
                  <a:pt x="156" y="78"/>
                </a:cubicBezTo>
              </a:path>
            </a:pathLst>
          </a:custGeom>
          <a:noFill/>
          <a:ln w="19050">
            <a:solidFill>
              <a:schemeClr val="bg2"/>
            </a:solidFill>
            <a:prstDash val="sysDot"/>
            <a:rou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14" name="Line 30"/>
          <p:cNvSpPr>
            <a:spLocks noChangeShapeType="1"/>
          </p:cNvSpPr>
          <p:nvPr/>
        </p:nvSpPr>
        <p:spPr bwMode="auto">
          <a:xfrm flipV="1">
            <a:off x="7785100" y="5675313"/>
            <a:ext cx="0" cy="128587"/>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15" name="Line 31"/>
          <p:cNvSpPr>
            <a:spLocks noChangeShapeType="1"/>
          </p:cNvSpPr>
          <p:nvPr/>
        </p:nvSpPr>
        <p:spPr bwMode="auto">
          <a:xfrm flipV="1">
            <a:off x="8027988" y="5675313"/>
            <a:ext cx="0" cy="128587"/>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16" name="Freeform 32"/>
          <p:cNvSpPr/>
          <p:nvPr/>
        </p:nvSpPr>
        <p:spPr bwMode="auto">
          <a:xfrm>
            <a:off x="7785100" y="5541963"/>
            <a:ext cx="247650" cy="128587"/>
          </a:xfrm>
          <a:custGeom>
            <a:avLst/>
            <a:gdLst>
              <a:gd name="T0" fmla="*/ 0 w 156"/>
              <a:gd name="T1" fmla="*/ 2147483646 h 81"/>
              <a:gd name="T2" fmla="*/ 2147483646 w 156"/>
              <a:gd name="T3" fmla="*/ 0 h 81"/>
              <a:gd name="T4" fmla="*/ 2147483646 w 156"/>
              <a:gd name="T5" fmla="*/ 2147483646 h 81"/>
              <a:gd name="T6" fmla="*/ 0 60000 65536"/>
              <a:gd name="T7" fmla="*/ 0 60000 65536"/>
              <a:gd name="T8" fmla="*/ 0 60000 65536"/>
              <a:gd name="T9" fmla="*/ 0 w 156"/>
              <a:gd name="T10" fmla="*/ 0 h 81"/>
              <a:gd name="T11" fmla="*/ 156 w 156"/>
              <a:gd name="T12" fmla="*/ 81 h 81"/>
            </a:gdLst>
            <a:ahLst/>
            <a:cxnLst>
              <a:cxn ang="T6">
                <a:pos x="T0" y="T1"/>
              </a:cxn>
              <a:cxn ang="T7">
                <a:pos x="T2" y="T3"/>
              </a:cxn>
              <a:cxn ang="T8">
                <a:pos x="T4" y="T5"/>
              </a:cxn>
            </a:cxnLst>
            <a:rect l="T9" t="T10" r="T11" b="T12"/>
            <a:pathLst>
              <a:path w="156" h="81">
                <a:moveTo>
                  <a:pt x="0" y="81"/>
                </a:moveTo>
                <a:cubicBezTo>
                  <a:pt x="27" y="40"/>
                  <a:pt x="55" y="0"/>
                  <a:pt x="81" y="0"/>
                </a:cubicBezTo>
                <a:cubicBezTo>
                  <a:pt x="107" y="0"/>
                  <a:pt x="144" y="64"/>
                  <a:pt x="156" y="78"/>
                </a:cubicBezTo>
              </a:path>
            </a:pathLst>
          </a:custGeom>
          <a:noFill/>
          <a:ln w="19050">
            <a:solidFill>
              <a:schemeClr val="bg2"/>
            </a:solidFill>
            <a:prstDash val="sysDot"/>
            <a:rou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17" name="Text Box 33"/>
          <p:cNvSpPr txBox="1">
            <a:spLocks noChangeArrowheads="1"/>
          </p:cNvSpPr>
          <p:nvPr/>
        </p:nvSpPr>
        <p:spPr bwMode="auto">
          <a:xfrm>
            <a:off x="3799487" y="5738813"/>
            <a:ext cx="8084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INTA</a:t>
            </a:r>
            <a:endParaRPr kumimoji="0" lang="en-US" altLang="zh-CN" sz="2000">
              <a:ea typeface="楷体" panose="02010609060101010101" pitchFamily="49" charset="-122"/>
              <a:cs typeface="Times New Roman" panose="02020603050405020304" pitchFamily="18" charset="0"/>
            </a:endParaRPr>
          </a:p>
        </p:txBody>
      </p:sp>
      <p:sp>
        <p:nvSpPr>
          <p:cNvPr id="42018" name="AutoShape 34"/>
          <p:cNvSpPr>
            <a:spLocks noChangeArrowheads="1"/>
          </p:cNvSpPr>
          <p:nvPr/>
        </p:nvSpPr>
        <p:spPr bwMode="auto">
          <a:xfrm rot="16200000">
            <a:off x="3032126" y="3198812"/>
            <a:ext cx="323850" cy="295275"/>
          </a:xfrm>
          <a:prstGeom prst="flowChartDelay">
            <a:avLst/>
          </a:prstGeom>
          <a:solidFill>
            <a:srgbClr val="FFCC99"/>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19" name="Line 35"/>
          <p:cNvSpPr>
            <a:spLocks noChangeShapeType="1"/>
          </p:cNvSpPr>
          <p:nvPr/>
        </p:nvSpPr>
        <p:spPr bwMode="auto">
          <a:xfrm flipV="1">
            <a:off x="3203575" y="2913063"/>
            <a:ext cx="0" cy="27622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20" name="Text Box 36"/>
          <p:cNvSpPr txBox="1">
            <a:spLocks noChangeArrowheads="1"/>
          </p:cNvSpPr>
          <p:nvPr/>
        </p:nvSpPr>
        <p:spPr bwMode="auto">
          <a:xfrm>
            <a:off x="3151188" y="2662238"/>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solidFill>
                  <a:schemeClr val="bg1"/>
                </a:solidFill>
                <a:ea typeface="楷体" panose="02010609060101010101" pitchFamily="49" charset="-122"/>
                <a:cs typeface="Times New Roman" panose="02020603050405020304" pitchFamily="18" charset="0"/>
              </a:rPr>
              <a:t>中断</a:t>
            </a:r>
            <a:endParaRPr kumimoji="0" lang="zh-CN" altLang="en-US" sz="2000" dirty="0">
              <a:solidFill>
                <a:schemeClr val="bg1"/>
              </a:solidFill>
              <a:ea typeface="楷体" panose="02010609060101010101" pitchFamily="49" charset="-122"/>
              <a:cs typeface="Times New Roman" panose="02020603050405020304" pitchFamily="18" charset="0"/>
            </a:endParaRPr>
          </a:p>
        </p:txBody>
      </p:sp>
      <p:sp>
        <p:nvSpPr>
          <p:cNvPr id="42021" name="Rectangle 37"/>
          <p:cNvSpPr>
            <a:spLocks noChangeArrowheads="1"/>
          </p:cNvSpPr>
          <p:nvPr/>
        </p:nvSpPr>
        <p:spPr bwMode="auto">
          <a:xfrm>
            <a:off x="2651125" y="3779838"/>
            <a:ext cx="485775" cy="381000"/>
          </a:xfrm>
          <a:prstGeom prst="rect">
            <a:avLst/>
          </a:prstGeom>
          <a:solidFill>
            <a:srgbClr val="FFCC99"/>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b="0">
                <a:ea typeface="楷体" panose="02010609060101010101" pitchFamily="49" charset="-122"/>
                <a:cs typeface="Times New Roman" panose="02020603050405020304" pitchFamily="18" charset="0"/>
              </a:rPr>
              <a:t>IM</a:t>
            </a:r>
            <a:endParaRPr kumimoji="0" lang="en-US" altLang="zh-CN" sz="2000" b="0">
              <a:ea typeface="楷体" panose="02010609060101010101" pitchFamily="49" charset="-122"/>
              <a:cs typeface="Times New Roman" panose="02020603050405020304" pitchFamily="18" charset="0"/>
            </a:endParaRPr>
          </a:p>
        </p:txBody>
      </p:sp>
      <p:sp>
        <p:nvSpPr>
          <p:cNvPr id="42022" name="Rectangle 38"/>
          <p:cNvSpPr>
            <a:spLocks noChangeArrowheads="1"/>
          </p:cNvSpPr>
          <p:nvPr/>
        </p:nvSpPr>
        <p:spPr bwMode="auto">
          <a:xfrm>
            <a:off x="3270250" y="3779838"/>
            <a:ext cx="485775" cy="381000"/>
          </a:xfrm>
          <a:prstGeom prst="rect">
            <a:avLst/>
          </a:prstGeom>
          <a:solidFill>
            <a:srgbClr val="FFCC99"/>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b="0">
                <a:ea typeface="楷体" panose="02010609060101010101" pitchFamily="49" charset="-122"/>
                <a:cs typeface="Times New Roman" panose="02020603050405020304" pitchFamily="18" charset="0"/>
              </a:rPr>
              <a:t>IR</a:t>
            </a:r>
            <a:endParaRPr kumimoji="0" lang="en-US" altLang="zh-CN" sz="2000" b="0">
              <a:ea typeface="楷体" panose="02010609060101010101" pitchFamily="49" charset="-122"/>
              <a:cs typeface="Times New Roman" panose="02020603050405020304" pitchFamily="18" charset="0"/>
            </a:endParaRPr>
          </a:p>
        </p:txBody>
      </p:sp>
      <p:sp>
        <p:nvSpPr>
          <p:cNvPr id="42023" name="Line 39"/>
          <p:cNvSpPr>
            <a:spLocks noChangeShapeType="1"/>
          </p:cNvSpPr>
          <p:nvPr/>
        </p:nvSpPr>
        <p:spPr bwMode="auto">
          <a:xfrm flipV="1">
            <a:off x="2898775" y="3636963"/>
            <a:ext cx="0" cy="1428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24" name="Line 40"/>
          <p:cNvSpPr>
            <a:spLocks noChangeShapeType="1"/>
          </p:cNvSpPr>
          <p:nvPr/>
        </p:nvSpPr>
        <p:spPr bwMode="auto">
          <a:xfrm flipV="1">
            <a:off x="3498850" y="3627438"/>
            <a:ext cx="0" cy="1428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25" name="Line 41"/>
          <p:cNvSpPr>
            <a:spLocks noChangeShapeType="1"/>
          </p:cNvSpPr>
          <p:nvPr/>
        </p:nvSpPr>
        <p:spPr bwMode="auto">
          <a:xfrm>
            <a:off x="2889250" y="3636963"/>
            <a:ext cx="2476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26" name="Line 42"/>
          <p:cNvSpPr>
            <a:spLocks noChangeShapeType="1"/>
          </p:cNvSpPr>
          <p:nvPr/>
        </p:nvSpPr>
        <p:spPr bwMode="auto">
          <a:xfrm>
            <a:off x="3251200" y="3636963"/>
            <a:ext cx="2476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27" name="Line 43"/>
          <p:cNvSpPr>
            <a:spLocks noChangeShapeType="1"/>
          </p:cNvSpPr>
          <p:nvPr/>
        </p:nvSpPr>
        <p:spPr bwMode="auto">
          <a:xfrm flipV="1">
            <a:off x="3136900" y="3503613"/>
            <a:ext cx="0" cy="1428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28" name="Line 44"/>
          <p:cNvSpPr>
            <a:spLocks noChangeShapeType="1"/>
          </p:cNvSpPr>
          <p:nvPr/>
        </p:nvSpPr>
        <p:spPr bwMode="auto">
          <a:xfrm flipV="1">
            <a:off x="3251200" y="3503613"/>
            <a:ext cx="0" cy="1428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29" name="Line 45"/>
          <p:cNvSpPr>
            <a:spLocks noChangeShapeType="1"/>
          </p:cNvSpPr>
          <p:nvPr/>
        </p:nvSpPr>
        <p:spPr bwMode="auto">
          <a:xfrm flipH="1">
            <a:off x="3641725" y="4379913"/>
            <a:ext cx="50006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30" name="Line 46"/>
          <p:cNvSpPr>
            <a:spLocks noChangeShapeType="1"/>
          </p:cNvSpPr>
          <p:nvPr/>
        </p:nvSpPr>
        <p:spPr bwMode="auto">
          <a:xfrm flipV="1">
            <a:off x="3651250" y="4151313"/>
            <a:ext cx="0" cy="2286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31" name="Line 47"/>
          <p:cNvSpPr>
            <a:spLocks noChangeShapeType="1"/>
          </p:cNvSpPr>
          <p:nvPr/>
        </p:nvSpPr>
        <p:spPr bwMode="auto">
          <a:xfrm flipV="1">
            <a:off x="4346575" y="4370388"/>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32" name="Line 48"/>
          <p:cNvSpPr>
            <a:spLocks noChangeShapeType="1"/>
          </p:cNvSpPr>
          <p:nvPr/>
        </p:nvSpPr>
        <p:spPr bwMode="auto">
          <a:xfrm flipV="1">
            <a:off x="5813425" y="4370388"/>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33" name="Line 49"/>
          <p:cNvSpPr>
            <a:spLocks noChangeShapeType="1"/>
          </p:cNvSpPr>
          <p:nvPr/>
        </p:nvSpPr>
        <p:spPr bwMode="auto">
          <a:xfrm flipV="1">
            <a:off x="7499350" y="4370388"/>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34" name="Oval 50"/>
          <p:cNvSpPr>
            <a:spLocks noChangeArrowheads="1"/>
          </p:cNvSpPr>
          <p:nvPr/>
        </p:nvSpPr>
        <p:spPr bwMode="auto">
          <a:xfrm>
            <a:off x="4308475" y="4332288"/>
            <a:ext cx="85725" cy="85725"/>
          </a:xfrm>
          <a:prstGeom prst="ellipse">
            <a:avLst/>
          </a:prstGeom>
          <a:solidFill>
            <a:schemeClr val="tx1"/>
          </a:solidFill>
          <a:ln w="19050">
            <a:solidFill>
              <a:schemeClr val="tx1"/>
            </a:solidFill>
            <a:round/>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35" name="Oval 51"/>
          <p:cNvSpPr>
            <a:spLocks noChangeArrowheads="1"/>
          </p:cNvSpPr>
          <p:nvPr/>
        </p:nvSpPr>
        <p:spPr bwMode="auto">
          <a:xfrm>
            <a:off x="5765800" y="4332288"/>
            <a:ext cx="85725" cy="85725"/>
          </a:xfrm>
          <a:prstGeom prst="ellipse">
            <a:avLst/>
          </a:prstGeom>
          <a:solidFill>
            <a:schemeClr val="tx1"/>
          </a:solidFill>
          <a:ln w="19050">
            <a:solidFill>
              <a:schemeClr val="tx1"/>
            </a:solidFill>
            <a:round/>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84052" name="Oval 52"/>
          <p:cNvSpPr>
            <a:spLocks noChangeArrowheads="1"/>
          </p:cNvSpPr>
          <p:nvPr/>
        </p:nvSpPr>
        <p:spPr bwMode="auto">
          <a:xfrm>
            <a:off x="7451725" y="4332288"/>
            <a:ext cx="85725" cy="85725"/>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zh-CN" sz="1800">
              <a:effectLst>
                <a:outerShdw blurRad="38100" dist="38100" dir="2700000" algn="tl">
                  <a:srgbClr val="FFFFFF"/>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37" name="Text Box 53"/>
          <p:cNvSpPr txBox="1">
            <a:spLocks noChangeArrowheads="1"/>
          </p:cNvSpPr>
          <p:nvPr/>
        </p:nvSpPr>
        <p:spPr bwMode="auto">
          <a:xfrm>
            <a:off x="3853606" y="4329113"/>
            <a:ext cx="4700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IR</a:t>
            </a:r>
            <a:endParaRPr kumimoji="0" lang="en-US" altLang="zh-CN" sz="2000">
              <a:ea typeface="楷体" panose="02010609060101010101" pitchFamily="49" charset="-122"/>
              <a:cs typeface="Times New Roman" panose="02020603050405020304" pitchFamily="18" charset="0"/>
            </a:endParaRPr>
          </a:p>
        </p:txBody>
      </p:sp>
      <p:sp>
        <p:nvSpPr>
          <p:cNvPr id="42038" name="Line 54"/>
          <p:cNvSpPr>
            <a:spLocks noChangeShapeType="1"/>
          </p:cNvSpPr>
          <p:nvPr/>
        </p:nvSpPr>
        <p:spPr bwMode="auto">
          <a:xfrm>
            <a:off x="3841750" y="3827463"/>
            <a:ext cx="479107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39" name="Line 55"/>
          <p:cNvSpPr>
            <a:spLocks noChangeShapeType="1"/>
          </p:cNvSpPr>
          <p:nvPr/>
        </p:nvSpPr>
        <p:spPr bwMode="auto">
          <a:xfrm>
            <a:off x="4518025" y="3817938"/>
            <a:ext cx="0" cy="87630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40" name="Line 56"/>
          <p:cNvSpPr>
            <a:spLocks noChangeShapeType="1"/>
          </p:cNvSpPr>
          <p:nvPr/>
        </p:nvSpPr>
        <p:spPr bwMode="auto">
          <a:xfrm>
            <a:off x="5975350" y="3827463"/>
            <a:ext cx="0" cy="87630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41" name="Line 57"/>
          <p:cNvSpPr>
            <a:spLocks noChangeShapeType="1"/>
          </p:cNvSpPr>
          <p:nvPr/>
        </p:nvSpPr>
        <p:spPr bwMode="auto">
          <a:xfrm>
            <a:off x="7651750" y="3836988"/>
            <a:ext cx="0" cy="87630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4058" name="Oval 58"/>
          <p:cNvSpPr>
            <a:spLocks noChangeArrowheads="1"/>
          </p:cNvSpPr>
          <p:nvPr/>
        </p:nvSpPr>
        <p:spPr bwMode="auto">
          <a:xfrm>
            <a:off x="4479925" y="3789363"/>
            <a:ext cx="85725" cy="85725"/>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zh-CN" sz="1800">
              <a:effectLst>
                <a:outerShdw blurRad="38100" dist="38100" dir="2700000" algn="tl">
                  <a:srgbClr val="FFFFFF"/>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4059" name="Oval 59"/>
          <p:cNvSpPr>
            <a:spLocks noChangeArrowheads="1"/>
          </p:cNvSpPr>
          <p:nvPr/>
        </p:nvSpPr>
        <p:spPr bwMode="auto">
          <a:xfrm>
            <a:off x="5927725" y="3779838"/>
            <a:ext cx="85725" cy="85725"/>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zh-CN" sz="1800">
              <a:effectLst>
                <a:outerShdw blurRad="38100" dist="38100" dir="2700000" algn="tl">
                  <a:srgbClr val="FFFFFF"/>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4060" name="Oval 60"/>
          <p:cNvSpPr>
            <a:spLocks noChangeArrowheads="1"/>
          </p:cNvSpPr>
          <p:nvPr/>
        </p:nvSpPr>
        <p:spPr bwMode="auto">
          <a:xfrm>
            <a:off x="7604125" y="3789363"/>
            <a:ext cx="85725" cy="85725"/>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zh-CN" sz="1800">
              <a:effectLst>
                <a:outerShdw blurRad="38100" dist="38100" dir="2700000" algn="tl">
                  <a:srgbClr val="FFFFFF"/>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45" name="Text Box 61"/>
          <p:cNvSpPr txBox="1">
            <a:spLocks noChangeArrowheads="1"/>
          </p:cNvSpPr>
          <p:nvPr/>
        </p:nvSpPr>
        <p:spPr bwMode="auto">
          <a:xfrm>
            <a:off x="3943989" y="376713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S</a:t>
            </a:r>
            <a:endParaRPr kumimoji="0" lang="en-US" altLang="zh-CN" sz="2000">
              <a:ea typeface="楷体" panose="02010609060101010101" pitchFamily="49" charset="-122"/>
              <a:cs typeface="Times New Roman" panose="02020603050405020304" pitchFamily="18" charset="0"/>
            </a:endParaRPr>
          </a:p>
        </p:txBody>
      </p:sp>
      <p:sp>
        <p:nvSpPr>
          <p:cNvPr id="42046" name="Rectangle 62"/>
          <p:cNvSpPr>
            <a:spLocks noChangeArrowheads="1"/>
          </p:cNvSpPr>
          <p:nvPr/>
        </p:nvSpPr>
        <p:spPr bwMode="auto">
          <a:xfrm>
            <a:off x="3841750" y="2751138"/>
            <a:ext cx="4695825" cy="114300"/>
          </a:xfrm>
          <a:prstGeom prst="rect">
            <a:avLst/>
          </a:prstGeom>
          <a:solidFill>
            <a:schemeClr val="bg1"/>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47" name="Rectangle 63"/>
          <p:cNvSpPr>
            <a:spLocks noChangeArrowheads="1"/>
          </p:cNvSpPr>
          <p:nvPr/>
        </p:nvSpPr>
        <p:spPr bwMode="auto">
          <a:xfrm>
            <a:off x="5070475" y="2865438"/>
            <a:ext cx="117475" cy="1838325"/>
          </a:xfrm>
          <a:prstGeom prst="rect">
            <a:avLst/>
          </a:prstGeom>
          <a:solidFill>
            <a:schemeClr val="bg1"/>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48" name="Rectangle 64"/>
          <p:cNvSpPr>
            <a:spLocks noChangeArrowheads="1"/>
          </p:cNvSpPr>
          <p:nvPr/>
        </p:nvSpPr>
        <p:spPr bwMode="auto">
          <a:xfrm>
            <a:off x="5084763" y="2817813"/>
            <a:ext cx="93662" cy="889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49" name="Rectangle 65"/>
          <p:cNvSpPr>
            <a:spLocks noChangeArrowheads="1"/>
          </p:cNvSpPr>
          <p:nvPr/>
        </p:nvSpPr>
        <p:spPr bwMode="auto">
          <a:xfrm>
            <a:off x="6518275" y="2865438"/>
            <a:ext cx="117475" cy="1838325"/>
          </a:xfrm>
          <a:prstGeom prst="rect">
            <a:avLst/>
          </a:prstGeom>
          <a:solidFill>
            <a:schemeClr val="bg1"/>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50" name="Rectangle 66"/>
          <p:cNvSpPr>
            <a:spLocks noChangeArrowheads="1"/>
          </p:cNvSpPr>
          <p:nvPr/>
        </p:nvSpPr>
        <p:spPr bwMode="auto">
          <a:xfrm>
            <a:off x="6532563" y="2817813"/>
            <a:ext cx="93662" cy="889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51" name="Rectangle 67"/>
          <p:cNvSpPr>
            <a:spLocks noChangeArrowheads="1"/>
          </p:cNvSpPr>
          <p:nvPr/>
        </p:nvSpPr>
        <p:spPr bwMode="auto">
          <a:xfrm>
            <a:off x="8194675" y="2865438"/>
            <a:ext cx="117475" cy="1838325"/>
          </a:xfrm>
          <a:prstGeom prst="rect">
            <a:avLst/>
          </a:prstGeom>
          <a:solidFill>
            <a:schemeClr val="bg1"/>
          </a:solid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52" name="Rectangle 68"/>
          <p:cNvSpPr>
            <a:spLocks noChangeArrowheads="1"/>
          </p:cNvSpPr>
          <p:nvPr/>
        </p:nvSpPr>
        <p:spPr bwMode="auto">
          <a:xfrm>
            <a:off x="8208963" y="2817813"/>
            <a:ext cx="93662" cy="889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53" name="Rectangle 69" descr="宽上对角线"/>
          <p:cNvSpPr>
            <a:spLocks noChangeArrowheads="1"/>
          </p:cNvSpPr>
          <p:nvPr/>
        </p:nvSpPr>
        <p:spPr bwMode="auto">
          <a:xfrm>
            <a:off x="3851275" y="3122613"/>
            <a:ext cx="4705350" cy="114300"/>
          </a:xfrm>
          <a:prstGeom prst="rect">
            <a:avLst/>
          </a:prstGeom>
          <a:blipFill dpi="0" rotWithShape="0">
            <a:blip r:embed="rId1"/>
            <a:srcRect/>
            <a:tile tx="0" ty="0" sx="100000" sy="100000" flip="none" algn="tl"/>
          </a:blip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2054" name="Rectangle 70" descr="宽上对角线"/>
          <p:cNvSpPr>
            <a:spLocks noChangeArrowheads="1"/>
          </p:cNvSpPr>
          <p:nvPr/>
        </p:nvSpPr>
        <p:spPr bwMode="auto">
          <a:xfrm>
            <a:off x="4737100" y="3236913"/>
            <a:ext cx="123825" cy="1466850"/>
          </a:xfrm>
          <a:prstGeom prst="rect">
            <a:avLst/>
          </a:prstGeom>
          <a:blipFill dpi="0" rotWithShape="0">
            <a:blip r:embed="rId1"/>
            <a:srcRect/>
            <a:tile tx="0" ty="0" sx="100000" sy="100000" flip="none" algn="tl"/>
          </a:blipFill>
          <a:ln w="19050">
            <a:solidFill>
              <a:schemeClr val="tx1"/>
            </a:solidFill>
            <a:miter lim="800000"/>
            <a:tailEnd type="none" w="lg" len="lg"/>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84071" name="Rectangle 71" descr="宽上对角线"/>
          <p:cNvSpPr>
            <a:spLocks noChangeArrowheads="1"/>
          </p:cNvSpPr>
          <p:nvPr/>
        </p:nvSpPr>
        <p:spPr bwMode="auto">
          <a:xfrm>
            <a:off x="6194425" y="3236913"/>
            <a:ext cx="123825" cy="1466850"/>
          </a:xfrm>
          <a:prstGeom prst="rect">
            <a:avLst/>
          </a:prstGeom>
          <a:blipFill dpi="0" rotWithShape="0">
            <a:blip r:embed="rId2"/>
            <a:srcRect/>
            <a:tile tx="0" ty="0" sx="100000" sy="100000" flip="none" algn="tl"/>
          </a:blipFill>
          <a:ln w="19050">
            <a:solidFill>
              <a:schemeClr val="tx1"/>
            </a:solidFill>
            <a:miter lim="800000"/>
            <a:tailEnd type="none" w="lg" len="lg"/>
          </a:ln>
        </p:spPr>
        <p:txBody>
          <a:bodyPr wrap="none" anchor="ctr"/>
          <a:lstStyle/>
          <a:p>
            <a:pPr algn="ctr" eaLnBrk="1" hangingPunct="1">
              <a:defRPr/>
            </a:pPr>
            <a:endParaRPr kumimoji="0" lang="zh-CN" altLang="zh-CN" sz="1800">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4072" name="Rectangle 72" descr="宽上对角线"/>
          <p:cNvSpPr>
            <a:spLocks noChangeArrowheads="1"/>
          </p:cNvSpPr>
          <p:nvPr/>
        </p:nvSpPr>
        <p:spPr bwMode="auto">
          <a:xfrm>
            <a:off x="7870825" y="3236913"/>
            <a:ext cx="123825" cy="1466850"/>
          </a:xfrm>
          <a:prstGeom prst="rect">
            <a:avLst/>
          </a:prstGeom>
          <a:blipFill dpi="0" rotWithShape="0">
            <a:blip r:embed="rId2"/>
            <a:srcRect/>
            <a:tile tx="0" ty="0" sx="100000" sy="100000" flip="none" algn="tl"/>
          </a:blipFill>
          <a:ln w="19050">
            <a:solidFill>
              <a:schemeClr val="tx1"/>
            </a:solidFill>
            <a:miter lim="800000"/>
            <a:tailEnd type="none" w="lg" len="lg"/>
          </a:ln>
        </p:spPr>
        <p:txBody>
          <a:bodyPr wrap="none" anchor="ctr"/>
          <a:lstStyle/>
          <a:p>
            <a:pPr algn="ctr" eaLnBrk="1" hangingPunct="1">
              <a:defRPr/>
            </a:pPr>
            <a:endParaRPr kumimoji="0" lang="zh-CN" altLang="zh-CN" sz="1800">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057" name="Text Box 73"/>
          <p:cNvSpPr txBox="1">
            <a:spLocks noChangeArrowheads="1"/>
          </p:cNvSpPr>
          <p:nvPr/>
        </p:nvSpPr>
        <p:spPr bwMode="auto">
          <a:xfrm>
            <a:off x="5497513" y="2376488"/>
            <a:ext cx="950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数据线</a:t>
            </a:r>
            <a:endParaRPr kumimoji="0" lang="zh-CN" altLang="en-US" sz="2000">
              <a:ea typeface="楷体" panose="02010609060101010101" pitchFamily="49" charset="-122"/>
              <a:cs typeface="Times New Roman" panose="02020603050405020304" pitchFamily="18" charset="0"/>
            </a:endParaRPr>
          </a:p>
        </p:txBody>
      </p:sp>
      <p:sp>
        <p:nvSpPr>
          <p:cNvPr id="42058" name="Text Box 74"/>
          <p:cNvSpPr txBox="1">
            <a:spLocks noChangeArrowheads="1"/>
          </p:cNvSpPr>
          <p:nvPr/>
        </p:nvSpPr>
        <p:spPr bwMode="auto">
          <a:xfrm>
            <a:off x="5210175" y="3233738"/>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地址线</a:t>
            </a:r>
            <a:endParaRPr kumimoji="0" lang="zh-CN" altLang="en-US" sz="2000">
              <a:ea typeface="楷体" panose="02010609060101010101" pitchFamily="49" charset="-122"/>
              <a:cs typeface="Times New Roman" panose="02020603050405020304" pitchFamily="18" charset="0"/>
            </a:endParaRPr>
          </a:p>
        </p:txBody>
      </p:sp>
      <p:sp>
        <p:nvSpPr>
          <p:cNvPr id="42059" name="Text Box 75"/>
          <p:cNvSpPr txBox="1">
            <a:spLocks noChangeArrowheads="1"/>
          </p:cNvSpPr>
          <p:nvPr/>
        </p:nvSpPr>
        <p:spPr bwMode="auto">
          <a:xfrm>
            <a:off x="6852525" y="4986338"/>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a:t>
            </a:r>
            <a:endParaRPr kumimoji="0" lang="en-US" altLang="zh-CN" sz="2000">
              <a:ea typeface="楷体" panose="02010609060101010101" pitchFamily="49" charset="-122"/>
              <a:cs typeface="Times New Roman" panose="02020603050405020304" pitchFamily="18" charset="0"/>
            </a:endParaRPr>
          </a:p>
        </p:txBody>
      </p:sp>
      <p:grpSp>
        <p:nvGrpSpPr>
          <p:cNvPr id="2" name="Group 76"/>
          <p:cNvGrpSpPr/>
          <p:nvPr/>
        </p:nvGrpSpPr>
        <p:grpSpPr bwMode="auto">
          <a:xfrm>
            <a:off x="3386138" y="6121400"/>
            <a:ext cx="5073650" cy="355600"/>
            <a:chOff x="1998" y="2820"/>
            <a:chExt cx="3196" cy="224"/>
          </a:xfrm>
        </p:grpSpPr>
        <p:sp>
          <p:nvSpPr>
            <p:cNvPr id="42061" name="Text Box 77"/>
            <p:cNvSpPr txBox="1">
              <a:spLocks noChangeArrowheads="1"/>
            </p:cNvSpPr>
            <p:nvPr/>
          </p:nvSpPr>
          <p:spPr bwMode="auto">
            <a:xfrm>
              <a:off x="1998" y="2832"/>
              <a:ext cx="5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600">
                  <a:ea typeface="楷体" panose="02010609060101010101" pitchFamily="49" charset="-122"/>
                  <a:cs typeface="Times New Roman" panose="02020603050405020304" pitchFamily="18" charset="0"/>
                </a:rPr>
                <a:t>优先级</a:t>
              </a:r>
              <a:endParaRPr lang="zh-CN" altLang="en-US" sz="1600">
                <a:ea typeface="楷体" panose="02010609060101010101" pitchFamily="49" charset="-122"/>
                <a:cs typeface="Times New Roman" panose="02020603050405020304" pitchFamily="18" charset="0"/>
              </a:endParaRPr>
            </a:p>
          </p:txBody>
        </p:sp>
        <p:sp>
          <p:nvSpPr>
            <p:cNvPr id="42062" name="Text Box 78"/>
            <p:cNvSpPr txBox="1">
              <a:spLocks noChangeArrowheads="1"/>
            </p:cNvSpPr>
            <p:nvPr/>
          </p:nvSpPr>
          <p:spPr bwMode="auto">
            <a:xfrm>
              <a:off x="2496" y="2820"/>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600">
                  <a:ea typeface="楷体" panose="02010609060101010101" pitchFamily="49" charset="-122"/>
                  <a:cs typeface="Times New Roman" panose="02020603050405020304" pitchFamily="18" charset="0"/>
                </a:rPr>
                <a:t>高</a:t>
              </a:r>
              <a:endParaRPr lang="zh-CN" altLang="en-US" sz="1600">
                <a:ea typeface="楷体" panose="02010609060101010101" pitchFamily="49" charset="-122"/>
                <a:cs typeface="Times New Roman" panose="02020603050405020304" pitchFamily="18" charset="0"/>
              </a:endParaRPr>
            </a:p>
          </p:txBody>
        </p:sp>
        <p:sp>
          <p:nvSpPr>
            <p:cNvPr id="42063" name="Text Box 79"/>
            <p:cNvSpPr txBox="1">
              <a:spLocks noChangeArrowheads="1"/>
            </p:cNvSpPr>
            <p:nvPr/>
          </p:nvSpPr>
          <p:spPr bwMode="auto">
            <a:xfrm>
              <a:off x="4858" y="2832"/>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600">
                  <a:ea typeface="楷体" panose="02010609060101010101" pitchFamily="49" charset="-122"/>
                  <a:cs typeface="Times New Roman" panose="02020603050405020304" pitchFamily="18" charset="0"/>
                </a:rPr>
                <a:t>低</a:t>
              </a:r>
              <a:endParaRPr lang="zh-CN" altLang="en-US" sz="1600">
                <a:ea typeface="楷体" panose="02010609060101010101" pitchFamily="49" charset="-122"/>
                <a:cs typeface="Times New Roman" panose="02020603050405020304" pitchFamily="18" charset="0"/>
              </a:endParaRPr>
            </a:p>
          </p:txBody>
        </p:sp>
        <p:sp>
          <p:nvSpPr>
            <p:cNvPr id="42064" name="Line 80"/>
            <p:cNvSpPr>
              <a:spLocks noChangeShapeType="1"/>
            </p:cNvSpPr>
            <p:nvPr/>
          </p:nvSpPr>
          <p:spPr bwMode="auto">
            <a:xfrm>
              <a:off x="2804" y="2948"/>
              <a:ext cx="2016" cy="0"/>
            </a:xfrm>
            <a:prstGeom prst="line">
              <a:avLst/>
            </a:prstGeom>
            <a:noFill/>
            <a:ln w="38100">
              <a:solidFill>
                <a:srgbClr val="8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kumimoji="0" lang="zh-CN" altLang="en-US" sz="4000">
                <a:effectLst/>
              </a:rPr>
              <a:t>串行链式排队电路及中断向量的产生</a:t>
            </a:r>
            <a:endParaRPr kumimoji="0" lang="zh-CN" altLang="en-US" sz="4000">
              <a:effectLst/>
            </a:endParaRPr>
          </a:p>
        </p:txBody>
      </p:sp>
      <p:sp>
        <p:nvSpPr>
          <p:cNvPr id="44035" name="Rectangle 3"/>
          <p:cNvSpPr>
            <a:spLocks noGrp="1" noChangeArrowheads="1"/>
          </p:cNvSpPr>
          <p:nvPr>
            <p:ph idx="1"/>
          </p:nvPr>
        </p:nvSpPr>
        <p:spPr>
          <a:xfrm>
            <a:off x="381000" y="1118251"/>
            <a:ext cx="8382000" cy="5232400"/>
          </a:xfrm>
        </p:spPr>
        <p:txBody>
          <a:bodyPr/>
          <a:lstStyle/>
          <a:p>
            <a:pPr eaLnBrk="1" hangingPunct="1"/>
            <a:endParaRPr lang="zh-CN" altLang="zh-CN"/>
          </a:p>
        </p:txBody>
      </p:sp>
      <p:pic>
        <p:nvPicPr>
          <p:cNvPr id="44037" name="Picture 4" descr="p3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1046163"/>
            <a:ext cx="7488237" cy="535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6053" name="Text Box 5"/>
          <p:cNvSpPr txBox="1">
            <a:spLocks noChangeArrowheads="1"/>
          </p:cNvSpPr>
          <p:nvPr/>
        </p:nvSpPr>
        <p:spPr bwMode="auto">
          <a:xfrm>
            <a:off x="1116013" y="5426075"/>
            <a:ext cx="285750" cy="336550"/>
          </a:xfrm>
          <a:prstGeom prst="rect">
            <a:avLst/>
          </a:prstGeom>
          <a:noFill/>
          <a:ln w="9525" algn="ctr">
            <a:noFill/>
            <a:miter lim="800000"/>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6pPr>
            <a:lvl7pPr marL="29718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7pPr>
            <a:lvl8pPr marL="34290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8pPr>
            <a:lvl9pPr marL="38862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en-US" altLang="zh-CN" sz="1600" b="1">
                <a:solidFill>
                  <a:srgbClr val="FF0000"/>
                </a:solidFill>
                <a:effectLst>
                  <a:outerShdw blurRad="38100" dist="38100" dir="2700000" algn="tl">
                    <a:srgbClr val="C0C0C0"/>
                  </a:outerShdw>
                </a:effectLst>
                <a:ea typeface="方正准圆简体" pitchFamily="2" charset="-122"/>
              </a:rPr>
              <a:t>0</a:t>
            </a:r>
            <a:endParaRPr lang="en-US" altLang="zh-CN" sz="1600" b="1">
              <a:solidFill>
                <a:srgbClr val="FF0000"/>
              </a:solidFill>
              <a:effectLst>
                <a:outerShdw blurRad="38100" dist="38100" dir="2700000" algn="tl">
                  <a:srgbClr val="C0C0C0"/>
                </a:outerShdw>
              </a:effectLst>
              <a:ea typeface="方正准圆简体" pitchFamily="2" charset="-122"/>
            </a:endParaRPr>
          </a:p>
        </p:txBody>
      </p:sp>
      <p:sp>
        <p:nvSpPr>
          <p:cNvPr id="44039" name="TextBox 6"/>
          <p:cNvSpPr txBox="1">
            <a:spLocks noChangeArrowheads="1"/>
          </p:cNvSpPr>
          <p:nvPr/>
        </p:nvSpPr>
        <p:spPr bwMode="auto">
          <a:xfrm>
            <a:off x="7650163" y="4595813"/>
            <a:ext cx="1476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r>
              <a:rPr lang="zh-CN" altLang="en-US" sz="2000" b="1">
                <a:solidFill>
                  <a:srgbClr val="FF0000"/>
                </a:solidFill>
                <a:latin typeface="楷体" panose="02010609060101010101" pitchFamily="49" charset="-122"/>
                <a:ea typeface="楷体" panose="02010609060101010101" pitchFamily="49" charset="-122"/>
              </a:rPr>
              <a:t>串行优先链</a:t>
            </a:r>
            <a:endParaRPr lang="zh-CN" altLang="en-US" sz="2000" b="1">
              <a:solidFill>
                <a:srgbClr val="FF0000"/>
              </a:solidFill>
              <a:latin typeface="楷体" panose="02010609060101010101" pitchFamily="49" charset="-122"/>
              <a:ea typeface="楷体" panose="02010609060101010101" pitchFamily="49" charset="-122"/>
            </a:endParaRPr>
          </a:p>
        </p:txBody>
      </p:sp>
      <p:cxnSp>
        <p:nvCxnSpPr>
          <p:cNvPr id="44040" name="直接箭头连接符 8"/>
          <p:cNvCxnSpPr>
            <a:cxnSpLocks noChangeShapeType="1"/>
            <a:stCxn id="44039" idx="1"/>
          </p:cNvCxnSpPr>
          <p:nvPr/>
        </p:nvCxnSpPr>
        <p:spPr bwMode="auto">
          <a:xfrm rot="10800000" flipV="1">
            <a:off x="7143750" y="4795838"/>
            <a:ext cx="506413" cy="285750"/>
          </a:xfrm>
          <a:prstGeom prst="straightConnector1">
            <a:avLst/>
          </a:prstGeom>
          <a:noFill/>
          <a:ln w="19050" algn="ctr">
            <a:solidFill>
              <a:srgbClr val="FF0000"/>
            </a:solidFill>
            <a:miter lim="800000"/>
            <a:tailEnd type="stealth" w="med" len="med"/>
          </a:ln>
          <a:extLst>
            <a:ext uri="{909E8E84-426E-40DD-AFC4-6F175D3DCCD1}">
              <a14:hiddenFill xmlns:a14="http://schemas.microsoft.com/office/drawing/2010/main">
                <a:noFill/>
              </a14:hiddenFill>
            </a:ext>
          </a:extLst>
        </p:spPr>
      </p:cxnSp>
      <p:sp>
        <p:nvSpPr>
          <p:cNvPr id="44041" name="TextBox 10"/>
          <p:cNvSpPr txBox="1">
            <a:spLocks noChangeArrowheads="1"/>
          </p:cNvSpPr>
          <p:nvPr/>
        </p:nvSpPr>
        <p:spPr bwMode="auto">
          <a:xfrm>
            <a:off x="7215188" y="3224213"/>
            <a:ext cx="1604962"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spcBef>
                <a:spcPct val="20000"/>
              </a:spcBef>
              <a:buFont typeface="Wingdings" panose="05000000000000000000" pitchFamily="2" charset="2"/>
              <a:buNone/>
            </a:pPr>
            <a:r>
              <a:rPr lang="zh-CN" altLang="en-US" sz="2000" b="1">
                <a:solidFill>
                  <a:srgbClr val="FF0000"/>
                </a:solidFill>
                <a:latin typeface="楷体" panose="02010609060101010101" pitchFamily="49" charset="-122"/>
                <a:ea typeface="楷体" panose="02010609060101010101" pitchFamily="49" charset="-122"/>
              </a:rPr>
              <a:t>即</a:t>
            </a:r>
            <a:r>
              <a:rPr lang="en-US" altLang="zh-CN" sz="2000" b="1">
                <a:solidFill>
                  <a:srgbClr val="FF0000"/>
                </a:solidFill>
                <a:latin typeface="楷体" panose="02010609060101010101" pitchFamily="49" charset="-122"/>
                <a:ea typeface="楷体" panose="02010609060101010101" pitchFamily="49" charset="-122"/>
              </a:rPr>
              <a:t>:</a:t>
            </a:r>
            <a:r>
              <a:rPr lang="zh-CN" altLang="en-US" sz="2000" b="1">
                <a:solidFill>
                  <a:srgbClr val="FF0000"/>
                </a:solidFill>
                <a:latin typeface="楷体" panose="02010609060101010101" pitchFamily="49" charset="-122"/>
                <a:ea typeface="楷体" panose="02010609060101010101" pitchFamily="49" charset="-122"/>
              </a:rPr>
              <a:t>中断向量</a:t>
            </a:r>
            <a:endParaRPr lang="en-US" altLang="zh-CN" sz="2000" b="1">
              <a:solidFill>
                <a:srgbClr val="FF0000"/>
              </a:solidFill>
              <a:latin typeface="楷体" panose="02010609060101010101" pitchFamily="49" charset="-122"/>
              <a:ea typeface="楷体" panose="02010609060101010101" pitchFamily="49" charset="-122"/>
            </a:endParaRPr>
          </a:p>
          <a:p>
            <a:pPr eaLnBrk="1" hangingPunct="1">
              <a:spcBef>
                <a:spcPct val="20000"/>
              </a:spcBef>
              <a:buFont typeface="Wingdings" panose="05000000000000000000" pitchFamily="2" charset="2"/>
              <a:buNone/>
            </a:pPr>
            <a:r>
              <a:rPr lang="zh-CN" altLang="en-US" sz="2000" b="1">
                <a:solidFill>
                  <a:srgbClr val="FF0000"/>
                </a:solidFill>
                <a:latin typeface="楷体" panose="02010609060101010101" pitchFamily="49" charset="-122"/>
                <a:ea typeface="楷体" panose="02010609060101010101" pitchFamily="49" charset="-122"/>
              </a:rPr>
              <a:t>产生逻辑</a:t>
            </a:r>
            <a:endParaRPr lang="zh-CN" altLang="en-US" sz="2000" b="1">
              <a:solidFill>
                <a:srgbClr val="FF0000"/>
              </a:solidFill>
              <a:latin typeface="楷体" panose="02010609060101010101" pitchFamily="49" charset="-122"/>
              <a:ea typeface="楷体" panose="02010609060101010101" pitchFamily="49" charset="-122"/>
            </a:endParaRPr>
          </a:p>
        </p:txBody>
      </p:sp>
      <p:cxnSp>
        <p:nvCxnSpPr>
          <p:cNvPr id="44042" name="直接连接符 2"/>
          <p:cNvCxnSpPr>
            <a:cxnSpLocks noChangeShapeType="1"/>
          </p:cNvCxnSpPr>
          <p:nvPr/>
        </p:nvCxnSpPr>
        <p:spPr bwMode="auto">
          <a:xfrm>
            <a:off x="3419475" y="2789238"/>
            <a:ext cx="0" cy="720725"/>
          </a:xfrm>
          <a:prstGeom prst="line">
            <a:avLst/>
          </a:prstGeom>
          <a:noFill/>
          <a:ln w="22225" algn="ctr">
            <a:solidFill>
              <a:srgbClr val="C00000"/>
            </a:solidFill>
            <a:prstDash val="dash"/>
            <a:miter lim="800000"/>
          </a:ln>
          <a:extLst>
            <a:ext uri="{909E8E84-426E-40DD-AFC4-6F175D3DCCD1}">
              <a14:hiddenFill xmlns:a14="http://schemas.microsoft.com/office/drawing/2010/main">
                <a:noFill/>
              </a14:hiddenFill>
            </a:ext>
          </a:extLst>
        </p:spPr>
      </p:cxnSp>
      <p:cxnSp>
        <p:nvCxnSpPr>
          <p:cNvPr id="44043" name="直接连接符 12"/>
          <p:cNvCxnSpPr>
            <a:cxnSpLocks noChangeShapeType="1"/>
          </p:cNvCxnSpPr>
          <p:nvPr/>
        </p:nvCxnSpPr>
        <p:spPr bwMode="auto">
          <a:xfrm>
            <a:off x="6156325" y="2789238"/>
            <a:ext cx="0" cy="720725"/>
          </a:xfrm>
          <a:prstGeom prst="line">
            <a:avLst/>
          </a:prstGeom>
          <a:noFill/>
          <a:ln w="22225" algn="ctr">
            <a:solidFill>
              <a:srgbClr val="C00000"/>
            </a:solidFill>
            <a:prstDash val="dash"/>
            <a:miter lim="800000"/>
          </a:ln>
          <a:extLst>
            <a:ext uri="{909E8E84-426E-40DD-AFC4-6F175D3DCCD1}">
              <a14:hiddenFill xmlns:a14="http://schemas.microsoft.com/office/drawing/2010/main">
                <a:noFill/>
              </a14:hiddenFill>
            </a:ext>
          </a:extLst>
        </p:spPr>
      </p:cxnSp>
      <p:cxnSp>
        <p:nvCxnSpPr>
          <p:cNvPr id="44044" name="直接箭头连接符 8"/>
          <p:cNvCxnSpPr>
            <a:cxnSpLocks noChangeShapeType="1"/>
          </p:cNvCxnSpPr>
          <p:nvPr/>
        </p:nvCxnSpPr>
        <p:spPr bwMode="auto">
          <a:xfrm>
            <a:off x="4140200" y="4595813"/>
            <a:ext cx="360363" cy="200025"/>
          </a:xfrm>
          <a:prstGeom prst="straightConnector1">
            <a:avLst/>
          </a:prstGeom>
          <a:noFill/>
          <a:ln w="19050" algn="ctr">
            <a:solidFill>
              <a:srgbClr val="FF0000"/>
            </a:solidFill>
            <a:miter lim="800000"/>
            <a:tailEnd type="stealth" w="med" len="med"/>
          </a:ln>
          <a:extLst>
            <a:ext uri="{909E8E84-426E-40DD-AFC4-6F175D3DCCD1}">
              <a14:hiddenFill xmlns:a14="http://schemas.microsoft.com/office/drawing/2010/main">
                <a:noFill/>
              </a14:hiddenFill>
            </a:ext>
          </a:extLst>
        </p:spPr>
      </p:cxnSp>
      <p:sp>
        <p:nvSpPr>
          <p:cNvPr id="13" name="TextBox 6"/>
          <p:cNvSpPr txBox="1"/>
          <p:nvPr/>
        </p:nvSpPr>
        <p:spPr>
          <a:xfrm>
            <a:off x="205760" y="4600575"/>
            <a:ext cx="1223605" cy="338554"/>
          </a:xfrm>
          <a:prstGeom prst="rect">
            <a:avLst/>
          </a:prstGeom>
          <a:noFill/>
          <a:ln w="15875">
            <a:solidFill>
              <a:srgbClr val="00F7F7"/>
            </a:solidFill>
          </a:ln>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defRPr/>
            </a:pPr>
            <a:r>
              <a:rPr lang="en-US" altLang="zh-CN" sz="1600" dirty="0">
                <a:solidFill>
                  <a:srgbClr val="C00000"/>
                </a:solidFill>
                <a:latin typeface="+mn-lt"/>
                <a:ea typeface="楷体_GB2312" pitchFamily="49" charset="-122"/>
              </a:rPr>
              <a:t>IS-In</a:t>
            </a:r>
            <a:r>
              <a:rPr lang="zh-CN" altLang="en-US" sz="1600" dirty="0">
                <a:solidFill>
                  <a:srgbClr val="C00000"/>
                </a:solidFill>
                <a:latin typeface="+mn-lt"/>
                <a:ea typeface="楷体_GB2312" pitchFamily="49" charset="-122"/>
              </a:rPr>
              <a:t> </a:t>
            </a:r>
            <a:r>
              <a:rPr lang="en-US" altLang="zh-CN" sz="1600" dirty="0">
                <a:solidFill>
                  <a:srgbClr val="C00000"/>
                </a:solidFill>
                <a:latin typeface="+mn-lt"/>
                <a:ea typeface="楷体_GB2312" pitchFamily="49" charset="-122"/>
              </a:rPr>
              <a:t>Service</a:t>
            </a:r>
            <a:endParaRPr lang="zh-CN" altLang="en-US" sz="1600" dirty="0">
              <a:solidFill>
                <a:srgbClr val="C00000"/>
              </a:solidFill>
              <a:latin typeface="+mn-lt"/>
              <a:ea typeface="楷体_GB2312" pitchFamily="49" charset="-122"/>
            </a:endParaRPr>
          </a:p>
        </p:txBody>
      </p:sp>
    </p:spTree>
  </p:cSld>
  <p:clrMapOvr>
    <a:masterClrMapping/>
  </p:clrMapOvr>
  <p:transition spd="med">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p:txBody>
          <a:bodyPr/>
          <a:lstStyle/>
          <a:p>
            <a:pPr eaLnBrk="1" hangingPunct="1">
              <a:defRPr/>
            </a:pPr>
            <a:r>
              <a:rPr lang="zh-CN" altLang="en-US"/>
              <a:t>多级中断</a:t>
            </a:r>
            <a:endParaRPr lang="zh-CN" altLang="en-US"/>
          </a:p>
        </p:txBody>
      </p:sp>
      <p:sp>
        <p:nvSpPr>
          <p:cNvPr id="45059" name="Rectangle 3"/>
          <p:cNvSpPr>
            <a:spLocks noGrp="1" noChangeArrowheads="1"/>
          </p:cNvSpPr>
          <p:nvPr>
            <p:ph idx="1"/>
          </p:nvPr>
        </p:nvSpPr>
        <p:spPr/>
        <p:txBody>
          <a:bodyPr/>
          <a:lstStyle/>
          <a:p>
            <a:pPr eaLnBrk="1" hangingPunct="1"/>
            <a:r>
              <a:rPr lang="zh-CN" altLang="en-US"/>
              <a:t>多级中断通常称为</a:t>
            </a:r>
            <a:r>
              <a:rPr lang="zh-CN" altLang="en-US">
                <a:solidFill>
                  <a:srgbClr val="CC3300"/>
                </a:solidFill>
              </a:rPr>
              <a:t>中断嵌套方式</a:t>
            </a:r>
            <a:endParaRPr lang="zh-CN" altLang="en-US">
              <a:solidFill>
                <a:srgbClr val="CC3300"/>
              </a:solidFill>
            </a:endParaRPr>
          </a:p>
          <a:p>
            <a:pPr eaLnBrk="1" hangingPunct="1"/>
            <a:r>
              <a:rPr lang="zh-CN" altLang="en-US"/>
              <a:t>优先权高的中断级可以打断优先权低的中断服务程序，中断服务程序以嵌套方式进行工作</a:t>
            </a:r>
            <a:endParaRPr lang="zh-CN" altLang="en-US"/>
          </a:p>
        </p:txBody>
      </p:sp>
      <p:sp>
        <p:nvSpPr>
          <p:cNvPr id="45061" name="Text Box 4"/>
          <p:cNvSpPr txBox="1">
            <a:spLocks noChangeArrowheads="1"/>
          </p:cNvSpPr>
          <p:nvPr/>
        </p:nvSpPr>
        <p:spPr bwMode="auto">
          <a:xfrm>
            <a:off x="1620838" y="3213100"/>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主程序</a:t>
            </a:r>
            <a:endParaRPr kumimoji="0" lang="zh-CN" altLang="en-US" sz="2400">
              <a:latin typeface="楷体" panose="02010609060101010101" pitchFamily="49" charset="-122"/>
              <a:ea typeface="楷体" panose="02010609060101010101" pitchFamily="49" charset="-122"/>
            </a:endParaRPr>
          </a:p>
        </p:txBody>
      </p:sp>
      <p:grpSp>
        <p:nvGrpSpPr>
          <p:cNvPr id="45062" name="Group 5"/>
          <p:cNvGrpSpPr/>
          <p:nvPr/>
        </p:nvGrpSpPr>
        <p:grpSpPr bwMode="auto">
          <a:xfrm>
            <a:off x="2157413" y="3852863"/>
            <a:ext cx="4613275" cy="2528887"/>
            <a:chOff x="1269" y="2160"/>
            <a:chExt cx="1547" cy="1287"/>
          </a:xfrm>
        </p:grpSpPr>
        <p:sp>
          <p:nvSpPr>
            <p:cNvPr id="45070" name="Line 6"/>
            <p:cNvSpPr>
              <a:spLocks noChangeShapeType="1"/>
            </p:cNvSpPr>
            <p:nvPr/>
          </p:nvSpPr>
          <p:spPr bwMode="auto">
            <a:xfrm>
              <a:off x="1274" y="2898"/>
              <a:ext cx="0"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71" name="Line 7"/>
            <p:cNvSpPr>
              <a:spLocks noChangeShapeType="1"/>
            </p:cNvSpPr>
            <p:nvPr/>
          </p:nvSpPr>
          <p:spPr bwMode="auto">
            <a:xfrm>
              <a:off x="1274" y="2160"/>
              <a:ext cx="0"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72" name="Line 8"/>
            <p:cNvSpPr>
              <a:spLocks noChangeShapeType="1"/>
            </p:cNvSpPr>
            <p:nvPr/>
          </p:nvSpPr>
          <p:spPr bwMode="auto">
            <a:xfrm flipV="1">
              <a:off x="1278" y="2160"/>
              <a:ext cx="503"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73" name="Line 9"/>
            <p:cNvSpPr>
              <a:spLocks noChangeShapeType="1"/>
            </p:cNvSpPr>
            <p:nvPr/>
          </p:nvSpPr>
          <p:spPr bwMode="auto">
            <a:xfrm flipH="1" flipV="1">
              <a:off x="1269" y="2898"/>
              <a:ext cx="504"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74" name="Line 10"/>
            <p:cNvSpPr>
              <a:spLocks noChangeShapeType="1"/>
            </p:cNvSpPr>
            <p:nvPr/>
          </p:nvSpPr>
          <p:spPr bwMode="auto">
            <a:xfrm>
              <a:off x="1796" y="2907"/>
              <a:ext cx="0"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75" name="Line 11"/>
            <p:cNvSpPr>
              <a:spLocks noChangeShapeType="1"/>
            </p:cNvSpPr>
            <p:nvPr/>
          </p:nvSpPr>
          <p:spPr bwMode="auto">
            <a:xfrm>
              <a:off x="1796" y="2169"/>
              <a:ext cx="0"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76" name="Line 12"/>
            <p:cNvSpPr>
              <a:spLocks noChangeShapeType="1"/>
            </p:cNvSpPr>
            <p:nvPr/>
          </p:nvSpPr>
          <p:spPr bwMode="auto">
            <a:xfrm flipV="1">
              <a:off x="1800" y="2169"/>
              <a:ext cx="503"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77" name="Line 13"/>
            <p:cNvSpPr>
              <a:spLocks noChangeShapeType="1"/>
            </p:cNvSpPr>
            <p:nvPr/>
          </p:nvSpPr>
          <p:spPr bwMode="auto">
            <a:xfrm flipH="1" flipV="1">
              <a:off x="1791" y="2907"/>
              <a:ext cx="504"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78" name="Line 14"/>
            <p:cNvSpPr>
              <a:spLocks noChangeShapeType="1"/>
            </p:cNvSpPr>
            <p:nvPr/>
          </p:nvSpPr>
          <p:spPr bwMode="auto">
            <a:xfrm>
              <a:off x="2309" y="2916"/>
              <a:ext cx="0"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79" name="Line 15"/>
            <p:cNvSpPr>
              <a:spLocks noChangeShapeType="1"/>
            </p:cNvSpPr>
            <p:nvPr/>
          </p:nvSpPr>
          <p:spPr bwMode="auto">
            <a:xfrm>
              <a:off x="2309" y="2178"/>
              <a:ext cx="0"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80" name="Line 16"/>
            <p:cNvSpPr>
              <a:spLocks noChangeShapeType="1"/>
            </p:cNvSpPr>
            <p:nvPr/>
          </p:nvSpPr>
          <p:spPr bwMode="auto">
            <a:xfrm flipV="1">
              <a:off x="2313" y="2178"/>
              <a:ext cx="503"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81" name="Line 17"/>
            <p:cNvSpPr>
              <a:spLocks noChangeShapeType="1"/>
            </p:cNvSpPr>
            <p:nvPr/>
          </p:nvSpPr>
          <p:spPr bwMode="auto">
            <a:xfrm flipH="1" flipV="1">
              <a:off x="2304" y="2916"/>
              <a:ext cx="504" cy="52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082" name="Line 18"/>
            <p:cNvSpPr>
              <a:spLocks noChangeShapeType="1"/>
            </p:cNvSpPr>
            <p:nvPr/>
          </p:nvSpPr>
          <p:spPr bwMode="auto">
            <a:xfrm>
              <a:off x="2808" y="2178"/>
              <a:ext cx="0" cy="1269"/>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45063" name="Text Box 19"/>
          <p:cNvSpPr txBox="1">
            <a:spLocks noChangeArrowheads="1"/>
          </p:cNvSpPr>
          <p:nvPr/>
        </p:nvSpPr>
        <p:spPr bwMode="auto">
          <a:xfrm>
            <a:off x="3017946" y="3067050"/>
            <a:ext cx="1422184"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latin typeface="楷体" panose="02010609060101010101" pitchFamily="49" charset="-122"/>
                <a:ea typeface="楷体" panose="02010609060101010101" pitchFamily="49" charset="-122"/>
              </a:rPr>
              <a:t>一级中断</a:t>
            </a:r>
            <a:endParaRPr kumimoji="0" lang="zh-CN" altLang="en-US" sz="2400">
              <a:latin typeface="楷体" panose="02010609060101010101" pitchFamily="49" charset="-122"/>
              <a:ea typeface="楷体" panose="02010609060101010101" pitchFamily="49" charset="-122"/>
            </a:endParaRPr>
          </a:p>
          <a:p>
            <a:pPr algn="ctr" eaLnBrk="1" hangingPunct="1">
              <a:lnSpc>
                <a:spcPct val="90000"/>
              </a:lnSpc>
              <a:spcBef>
                <a:spcPct val="0"/>
              </a:spcBef>
              <a:buClrTx/>
              <a:buFontTx/>
              <a:buNone/>
            </a:pPr>
            <a:r>
              <a:rPr kumimoji="0" lang="zh-CN" altLang="en-US" sz="2400">
                <a:latin typeface="楷体" panose="02010609060101010101" pitchFamily="49" charset="-122"/>
                <a:ea typeface="楷体" panose="02010609060101010101" pitchFamily="49" charset="-122"/>
              </a:rPr>
              <a:t>服务程序</a:t>
            </a:r>
            <a:endParaRPr kumimoji="0" lang="zh-CN" altLang="en-US" sz="2400">
              <a:latin typeface="楷体" panose="02010609060101010101" pitchFamily="49" charset="-122"/>
              <a:ea typeface="楷体" panose="02010609060101010101" pitchFamily="49" charset="-122"/>
            </a:endParaRPr>
          </a:p>
        </p:txBody>
      </p:sp>
      <p:sp>
        <p:nvSpPr>
          <p:cNvPr id="45064" name="Text Box 20"/>
          <p:cNvSpPr txBox="1">
            <a:spLocks noChangeArrowheads="1"/>
          </p:cNvSpPr>
          <p:nvPr/>
        </p:nvSpPr>
        <p:spPr bwMode="auto">
          <a:xfrm>
            <a:off x="4560996" y="3067050"/>
            <a:ext cx="1422184"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latin typeface="楷体" panose="02010609060101010101" pitchFamily="49" charset="-122"/>
                <a:ea typeface="楷体" panose="02010609060101010101" pitchFamily="49" charset="-122"/>
              </a:rPr>
              <a:t>二级中断</a:t>
            </a:r>
            <a:endParaRPr kumimoji="0" lang="zh-CN" altLang="en-US" sz="2400">
              <a:latin typeface="楷体" panose="02010609060101010101" pitchFamily="49" charset="-122"/>
              <a:ea typeface="楷体" panose="02010609060101010101" pitchFamily="49" charset="-122"/>
            </a:endParaRPr>
          </a:p>
          <a:p>
            <a:pPr algn="ctr" eaLnBrk="1" hangingPunct="1">
              <a:lnSpc>
                <a:spcPct val="90000"/>
              </a:lnSpc>
              <a:spcBef>
                <a:spcPct val="0"/>
              </a:spcBef>
              <a:buClrTx/>
              <a:buFontTx/>
              <a:buNone/>
            </a:pPr>
            <a:r>
              <a:rPr kumimoji="0" lang="zh-CN" altLang="en-US" sz="2400">
                <a:latin typeface="楷体" panose="02010609060101010101" pitchFamily="49" charset="-122"/>
                <a:ea typeface="楷体" panose="02010609060101010101" pitchFamily="49" charset="-122"/>
              </a:rPr>
              <a:t>服务程序</a:t>
            </a:r>
            <a:endParaRPr kumimoji="0" lang="zh-CN" altLang="en-US" sz="2400">
              <a:latin typeface="楷体" panose="02010609060101010101" pitchFamily="49" charset="-122"/>
              <a:ea typeface="楷体" panose="02010609060101010101" pitchFamily="49" charset="-122"/>
            </a:endParaRPr>
          </a:p>
        </p:txBody>
      </p:sp>
      <p:sp>
        <p:nvSpPr>
          <p:cNvPr id="45065" name="Text Box 21"/>
          <p:cNvSpPr txBox="1">
            <a:spLocks noChangeArrowheads="1"/>
          </p:cNvSpPr>
          <p:nvPr/>
        </p:nvSpPr>
        <p:spPr bwMode="auto">
          <a:xfrm>
            <a:off x="6032608" y="3067050"/>
            <a:ext cx="1422184"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latin typeface="楷体" panose="02010609060101010101" pitchFamily="49" charset="-122"/>
                <a:ea typeface="楷体" panose="02010609060101010101" pitchFamily="49" charset="-122"/>
              </a:rPr>
              <a:t>三级中断</a:t>
            </a:r>
            <a:endParaRPr kumimoji="0" lang="zh-CN" altLang="en-US" sz="2400">
              <a:latin typeface="楷体" panose="02010609060101010101" pitchFamily="49" charset="-122"/>
              <a:ea typeface="楷体" panose="02010609060101010101" pitchFamily="49" charset="-122"/>
            </a:endParaRPr>
          </a:p>
          <a:p>
            <a:pPr algn="ctr" eaLnBrk="1" hangingPunct="1">
              <a:lnSpc>
                <a:spcPct val="90000"/>
              </a:lnSpc>
              <a:spcBef>
                <a:spcPct val="0"/>
              </a:spcBef>
              <a:buClrTx/>
              <a:buFontTx/>
              <a:buNone/>
            </a:pPr>
            <a:r>
              <a:rPr kumimoji="0" lang="zh-CN" altLang="en-US" sz="2400">
                <a:latin typeface="楷体" panose="02010609060101010101" pitchFamily="49" charset="-122"/>
                <a:ea typeface="楷体" panose="02010609060101010101" pitchFamily="49" charset="-122"/>
              </a:rPr>
              <a:t>服务程序</a:t>
            </a:r>
            <a:endParaRPr kumimoji="0" lang="zh-CN" altLang="en-US" sz="2400">
              <a:latin typeface="楷体" panose="02010609060101010101" pitchFamily="49" charset="-122"/>
              <a:ea typeface="楷体" panose="02010609060101010101" pitchFamily="49" charset="-122"/>
            </a:endParaRPr>
          </a:p>
        </p:txBody>
      </p:sp>
      <p:sp>
        <p:nvSpPr>
          <p:cNvPr id="45066" name="Line 22"/>
          <p:cNvSpPr>
            <a:spLocks noChangeShapeType="1"/>
          </p:cNvSpPr>
          <p:nvPr/>
        </p:nvSpPr>
        <p:spPr bwMode="auto">
          <a:xfrm flipH="1">
            <a:off x="2046288" y="2932113"/>
            <a:ext cx="4791075" cy="0"/>
          </a:xfrm>
          <a:prstGeom prst="line">
            <a:avLst/>
          </a:prstGeom>
          <a:noFill/>
          <a:ln w="28575">
            <a:solidFill>
              <a:srgbClr val="8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87095" name="Text Box 23"/>
          <p:cNvSpPr txBox="1">
            <a:spLocks noChangeArrowheads="1"/>
          </p:cNvSpPr>
          <p:nvPr/>
        </p:nvSpPr>
        <p:spPr bwMode="auto">
          <a:xfrm>
            <a:off x="7666038" y="2670175"/>
            <a:ext cx="950912" cy="396875"/>
          </a:xfrm>
          <a:prstGeom prst="rect">
            <a:avLst/>
          </a:prstGeom>
          <a:noFill/>
          <a:ln w="9525" algn="ctr">
            <a:noFill/>
            <a:miter lim="800000"/>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2000" b="1">
                <a:effectLst>
                  <a:outerShdw blurRad="38100" dist="38100" dir="2700000" algn="tl">
                    <a:srgbClr val="C0C0C0"/>
                  </a:outerShdw>
                </a:effectLst>
                <a:latin typeface="楷体" panose="02010609060101010101" pitchFamily="49" charset="-122"/>
                <a:ea typeface="楷体" panose="02010609060101010101" pitchFamily="49" charset="-122"/>
              </a:rPr>
              <a:t>优先级</a:t>
            </a:r>
            <a:endParaRPr lang="zh-CN" altLang="en-US" sz="2000" b="1">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
        <p:nvSpPr>
          <p:cNvPr id="387096" name="Text Box 24"/>
          <p:cNvSpPr txBox="1">
            <a:spLocks noChangeArrowheads="1"/>
          </p:cNvSpPr>
          <p:nvPr/>
        </p:nvSpPr>
        <p:spPr bwMode="auto">
          <a:xfrm>
            <a:off x="6943013" y="2670175"/>
            <a:ext cx="442750" cy="400110"/>
          </a:xfrm>
          <a:prstGeom prst="rect">
            <a:avLst/>
          </a:prstGeom>
          <a:noFill/>
          <a:ln w="9525" algn="ctr">
            <a:noFill/>
            <a:miter lim="800000"/>
          </a:ln>
          <a:effectLst/>
        </p:spPr>
        <p:txBody>
          <a:bodyPr wrap="none">
            <a:spAutoFit/>
          </a:bodyPr>
          <a:lstStyle/>
          <a:p>
            <a:pPr algn="ctr" eaLnBrk="1" hangingPunct="1">
              <a:defRPr/>
            </a:pPr>
            <a:r>
              <a:rPr lang="zh-CN" altLang="en-US" sz="2000" b="1">
                <a:effectLst>
                  <a:outerShdw blurRad="38100" dist="38100" dir="2700000" algn="tl">
                    <a:srgbClr val="C0C0C0"/>
                  </a:outerShdw>
                </a:effectLst>
                <a:latin typeface="楷体" panose="02010609060101010101" pitchFamily="49" charset="-122"/>
                <a:ea typeface="楷体" panose="02010609060101010101" pitchFamily="49" charset="-122"/>
              </a:rPr>
              <a:t>高</a:t>
            </a:r>
            <a:endParaRPr lang="zh-CN" altLang="en-US" sz="2000" b="1">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
        <p:nvSpPr>
          <p:cNvPr id="387097" name="Text Box 25"/>
          <p:cNvSpPr txBox="1">
            <a:spLocks noChangeArrowheads="1"/>
          </p:cNvSpPr>
          <p:nvPr/>
        </p:nvSpPr>
        <p:spPr bwMode="auto">
          <a:xfrm>
            <a:off x="1545513" y="2687638"/>
            <a:ext cx="442750" cy="400110"/>
          </a:xfrm>
          <a:prstGeom prst="rect">
            <a:avLst/>
          </a:prstGeom>
          <a:noFill/>
          <a:ln w="9525" algn="ctr">
            <a:noFill/>
            <a:miter lim="800000"/>
          </a:ln>
          <a:effectLst/>
        </p:spPr>
        <p:txBody>
          <a:bodyPr wrap="none">
            <a:spAutoFit/>
          </a:bodyPr>
          <a:lstStyle/>
          <a:p>
            <a:pPr algn="ctr" eaLnBrk="1" hangingPunct="1">
              <a:defRPr/>
            </a:pPr>
            <a:r>
              <a:rPr lang="zh-CN" altLang="en-US" sz="2000" b="1">
                <a:effectLst>
                  <a:outerShdw blurRad="38100" dist="38100" dir="2700000" algn="tl">
                    <a:srgbClr val="C0C0C0"/>
                  </a:outerShdw>
                </a:effectLst>
                <a:latin typeface="楷体" panose="02010609060101010101" pitchFamily="49" charset="-122"/>
                <a:ea typeface="楷体" panose="02010609060101010101" pitchFamily="49" charset="-122"/>
              </a:rPr>
              <a:t>低</a:t>
            </a:r>
            <a:endParaRPr lang="zh-CN" altLang="en-US" sz="2000" b="1">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pPr eaLnBrk="1" hangingPunct="1">
              <a:defRPr/>
            </a:pPr>
            <a:r>
              <a:rPr lang="zh-CN" altLang="en-US"/>
              <a:t>一、二维多级中断结构 </a:t>
            </a:r>
            <a:endParaRPr lang="zh-CN" altLang="en-US"/>
          </a:p>
        </p:txBody>
      </p:sp>
      <p:pic>
        <p:nvPicPr>
          <p:cNvPr id="46083" name="Picture 4" descr="p3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809625" y="1076325"/>
            <a:ext cx="7524750" cy="5210175"/>
          </a:xfrm>
          <a:noFill/>
        </p:spPr>
      </p:pic>
      <p:sp>
        <p:nvSpPr>
          <p:cNvPr id="46085" name="Text Box 5"/>
          <p:cNvSpPr txBox="1">
            <a:spLocks noChangeArrowheads="1"/>
          </p:cNvSpPr>
          <p:nvPr/>
        </p:nvSpPr>
        <p:spPr bwMode="auto">
          <a:xfrm>
            <a:off x="2178751" y="5373688"/>
            <a:ext cx="14638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panose="05000000000000000000" pitchFamily="2" charset="2"/>
              <a:buNone/>
            </a:pPr>
            <a:r>
              <a:rPr lang="en-US" altLang="zh-CN" sz="1800">
                <a:solidFill>
                  <a:srgbClr val="FF0000"/>
                </a:solidFill>
                <a:latin typeface="楷体" panose="02010609060101010101" pitchFamily="49" charset="-122"/>
                <a:ea typeface="楷体" panose="02010609060101010101" pitchFamily="49" charset="-122"/>
              </a:rPr>
              <a:t>1</a:t>
            </a:r>
            <a:r>
              <a:rPr lang="zh-CN" altLang="en-US" sz="1800">
                <a:solidFill>
                  <a:srgbClr val="FF0000"/>
                </a:solidFill>
                <a:latin typeface="楷体" panose="02010609060101010101" pitchFamily="49" charset="-122"/>
                <a:ea typeface="楷体" panose="02010609060101010101" pitchFamily="49" charset="-122"/>
              </a:rPr>
              <a:t>－屏蔽中断</a:t>
            </a:r>
            <a:endParaRPr lang="zh-CN" altLang="en-US" sz="1800">
              <a:solidFill>
                <a:srgbClr val="FF0000"/>
              </a:solidFill>
              <a:latin typeface="楷体" panose="02010609060101010101" pitchFamily="49" charset="-122"/>
              <a:ea typeface="楷体" panose="02010609060101010101" pitchFamily="49" charset="-122"/>
            </a:endParaRPr>
          </a:p>
          <a:p>
            <a:pPr algn="ctr" eaLnBrk="1" hangingPunct="1">
              <a:spcBef>
                <a:spcPct val="0"/>
              </a:spcBef>
              <a:buClrTx/>
              <a:buFont typeface="Wingdings" panose="05000000000000000000" pitchFamily="2" charset="2"/>
              <a:buNone/>
            </a:pPr>
            <a:r>
              <a:rPr lang="en-US" altLang="zh-CN" sz="1800">
                <a:solidFill>
                  <a:srgbClr val="FF0000"/>
                </a:solidFill>
                <a:latin typeface="楷体" panose="02010609060101010101" pitchFamily="49" charset="-122"/>
                <a:ea typeface="楷体" panose="02010609060101010101" pitchFamily="49" charset="-122"/>
              </a:rPr>
              <a:t>0</a:t>
            </a:r>
            <a:r>
              <a:rPr lang="zh-CN" altLang="en-US" sz="1800">
                <a:solidFill>
                  <a:srgbClr val="FF0000"/>
                </a:solidFill>
                <a:latin typeface="楷体" panose="02010609060101010101" pitchFamily="49" charset="-122"/>
                <a:ea typeface="楷体" panose="02010609060101010101" pitchFamily="49" charset="-122"/>
              </a:rPr>
              <a:t>－允许中断</a:t>
            </a:r>
            <a:endParaRPr lang="zh-CN" altLang="en-US" sz="1800">
              <a:solidFill>
                <a:srgbClr val="FF0000"/>
              </a:solidFill>
              <a:latin typeface="楷体" panose="02010609060101010101" pitchFamily="49" charset="-122"/>
              <a:ea typeface="楷体" panose="02010609060101010101" pitchFamily="49" charset="-122"/>
            </a:endParaRPr>
          </a:p>
        </p:txBody>
      </p:sp>
      <p:sp>
        <p:nvSpPr>
          <p:cNvPr id="46086" name="TextBox 5"/>
          <p:cNvSpPr txBox="1">
            <a:spLocks noChangeArrowheads="1"/>
          </p:cNvSpPr>
          <p:nvPr/>
        </p:nvSpPr>
        <p:spPr bwMode="auto">
          <a:xfrm>
            <a:off x="3878263" y="2500313"/>
            <a:ext cx="7651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b="0">
                <a:ea typeface="黑体" panose="02010609060101010101" pitchFamily="49" charset="-122"/>
              </a:rPr>
              <a:t>INTR2</a:t>
            </a:r>
            <a:endParaRPr lang="zh-CN" altLang="en-US" sz="1600" b="0">
              <a:ea typeface="黑体" panose="02010609060101010101" pitchFamily="49" charset="-122"/>
            </a:endParaRPr>
          </a:p>
        </p:txBody>
      </p:sp>
      <p:sp>
        <p:nvSpPr>
          <p:cNvPr id="46087" name="TextBox 7"/>
          <p:cNvSpPr txBox="1">
            <a:spLocks noChangeArrowheads="1"/>
          </p:cNvSpPr>
          <p:nvPr/>
        </p:nvSpPr>
        <p:spPr bwMode="auto">
          <a:xfrm>
            <a:off x="3878263" y="3786188"/>
            <a:ext cx="7651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b="0">
                <a:ea typeface="黑体" panose="02010609060101010101" pitchFamily="49" charset="-122"/>
              </a:rPr>
              <a:t>INTR1</a:t>
            </a:r>
            <a:endParaRPr lang="zh-CN" altLang="en-US" sz="1600" b="0">
              <a:ea typeface="黑体" panose="02010609060101010101" pitchFamily="49" charset="-122"/>
            </a:endParaRPr>
          </a:p>
        </p:txBody>
      </p:sp>
      <p:sp>
        <p:nvSpPr>
          <p:cNvPr id="46088" name="TextBox 8"/>
          <p:cNvSpPr txBox="1">
            <a:spLocks noChangeArrowheads="1"/>
          </p:cNvSpPr>
          <p:nvPr/>
        </p:nvSpPr>
        <p:spPr bwMode="auto">
          <a:xfrm>
            <a:off x="3878263" y="5143500"/>
            <a:ext cx="7651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b="0">
                <a:ea typeface="黑体" panose="02010609060101010101" pitchFamily="49" charset="-122"/>
              </a:rPr>
              <a:t>INTR0</a:t>
            </a:r>
            <a:endParaRPr lang="zh-CN" altLang="en-US" sz="1600" b="0">
              <a:ea typeface="黑体" panose="02010609060101010101" pitchFamily="49" charset="-122"/>
            </a:endParaRPr>
          </a:p>
        </p:txBody>
      </p:sp>
      <p:sp>
        <p:nvSpPr>
          <p:cNvPr id="46089" name="TextBox 9"/>
          <p:cNvSpPr txBox="1">
            <a:spLocks noChangeArrowheads="1"/>
          </p:cNvSpPr>
          <p:nvPr/>
        </p:nvSpPr>
        <p:spPr bwMode="auto">
          <a:xfrm>
            <a:off x="3878263" y="3214688"/>
            <a:ext cx="6572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b="0">
                <a:ea typeface="黑体" panose="02010609060101010101" pitchFamily="49" charset="-122"/>
              </a:rPr>
              <a:t>INTA</a:t>
            </a:r>
            <a:endParaRPr lang="zh-CN" altLang="en-US" sz="1600" b="0">
              <a:ea typeface="黑体" panose="02010609060101010101" pitchFamily="49" charset="-122"/>
            </a:endParaRPr>
          </a:p>
        </p:txBody>
      </p:sp>
      <p:sp>
        <p:nvSpPr>
          <p:cNvPr id="46090" name="TextBox 10"/>
          <p:cNvSpPr txBox="1">
            <a:spLocks noChangeArrowheads="1"/>
          </p:cNvSpPr>
          <p:nvPr/>
        </p:nvSpPr>
        <p:spPr bwMode="auto">
          <a:xfrm>
            <a:off x="3878263" y="4505325"/>
            <a:ext cx="657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b="0">
                <a:ea typeface="黑体" panose="02010609060101010101" pitchFamily="49" charset="-122"/>
              </a:rPr>
              <a:t>INTA</a:t>
            </a:r>
            <a:endParaRPr lang="zh-CN" altLang="en-US" sz="1600" b="0">
              <a:ea typeface="黑体" panose="02010609060101010101" pitchFamily="49" charset="-122"/>
            </a:endParaRPr>
          </a:p>
        </p:txBody>
      </p:sp>
      <p:sp>
        <p:nvSpPr>
          <p:cNvPr id="46091" name="TextBox 11"/>
          <p:cNvSpPr txBox="1">
            <a:spLocks noChangeArrowheads="1"/>
          </p:cNvSpPr>
          <p:nvPr/>
        </p:nvSpPr>
        <p:spPr bwMode="auto">
          <a:xfrm>
            <a:off x="3878263" y="5845175"/>
            <a:ext cx="6572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b="0">
                <a:ea typeface="黑体" panose="02010609060101010101" pitchFamily="49" charset="-122"/>
              </a:rPr>
              <a:t>INTA</a:t>
            </a:r>
            <a:endParaRPr lang="zh-CN" altLang="en-US" sz="1600" b="0">
              <a:ea typeface="黑体" panose="02010609060101010101" pitchFamily="49" charset="-122"/>
            </a:endParaRPr>
          </a:p>
        </p:txBody>
      </p:sp>
      <p:sp>
        <p:nvSpPr>
          <p:cNvPr id="46092" name="Text Box 16"/>
          <p:cNvSpPr txBox="1">
            <a:spLocks noChangeArrowheads="1"/>
          </p:cNvSpPr>
          <p:nvPr/>
        </p:nvSpPr>
        <p:spPr bwMode="auto">
          <a:xfrm>
            <a:off x="2124075" y="2074863"/>
            <a:ext cx="3032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200">
                <a:ea typeface="黑体" panose="02010609060101010101" pitchFamily="49" charset="-122"/>
              </a:rPr>
              <a:t>Q</a:t>
            </a:r>
            <a:endParaRPr lang="en-US" altLang="zh-CN" sz="1200">
              <a:ea typeface="黑体" panose="02010609060101010101" pitchFamily="49" charset="-122"/>
            </a:endParaRPr>
          </a:p>
        </p:txBody>
      </p:sp>
      <p:sp>
        <p:nvSpPr>
          <p:cNvPr id="46093" name="Line 17"/>
          <p:cNvSpPr>
            <a:spLocks noChangeShapeType="1"/>
          </p:cNvSpPr>
          <p:nvPr/>
        </p:nvSpPr>
        <p:spPr bwMode="auto">
          <a:xfrm>
            <a:off x="2195513" y="2133600"/>
            <a:ext cx="15875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6094" name="文本框 1"/>
          <p:cNvSpPr txBox="1">
            <a:spLocks noChangeArrowheads="1"/>
          </p:cNvSpPr>
          <p:nvPr/>
        </p:nvSpPr>
        <p:spPr bwMode="auto">
          <a:xfrm>
            <a:off x="3387725" y="5122863"/>
            <a:ext cx="255588" cy="260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100">
                <a:latin typeface="楷体" panose="02010609060101010101" pitchFamily="49" charset="-122"/>
                <a:ea typeface="楷体" panose="02010609060101010101" pitchFamily="49" charset="-122"/>
              </a:rPr>
              <a:t>0</a:t>
            </a:r>
            <a:endParaRPr lang="zh-CN" altLang="en-US" sz="1100">
              <a:latin typeface="楷体" panose="02010609060101010101" pitchFamily="49" charset="-122"/>
              <a:ea typeface="楷体" panose="02010609060101010101" pitchFamily="49" charset="-122"/>
            </a:endParaRPr>
          </a:p>
        </p:txBody>
      </p:sp>
      <p:sp>
        <p:nvSpPr>
          <p:cNvPr id="46095" name="文本框 17"/>
          <p:cNvSpPr txBox="1">
            <a:spLocks noChangeArrowheads="1"/>
          </p:cNvSpPr>
          <p:nvPr/>
        </p:nvSpPr>
        <p:spPr bwMode="auto">
          <a:xfrm>
            <a:off x="3413125" y="3730625"/>
            <a:ext cx="254000" cy="261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100"/>
              <a:t>1</a:t>
            </a:r>
            <a:endParaRPr lang="zh-CN" altLang="en-US" sz="1100"/>
          </a:p>
        </p:txBody>
      </p:sp>
    </p:spTree>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pPr eaLnBrk="1" hangingPunct="1">
              <a:defRPr/>
            </a:pPr>
            <a:r>
              <a:rPr lang="zh-CN" altLang="en-US"/>
              <a:t>说明</a:t>
            </a:r>
            <a:endParaRPr lang="zh-CN" altLang="en-US"/>
          </a:p>
        </p:txBody>
      </p:sp>
      <p:sp>
        <p:nvSpPr>
          <p:cNvPr id="48131" name="Rectangle 3"/>
          <p:cNvSpPr>
            <a:spLocks noGrp="1" noChangeArrowheads="1"/>
          </p:cNvSpPr>
          <p:nvPr>
            <p:ph idx="1"/>
          </p:nvPr>
        </p:nvSpPr>
        <p:spPr/>
        <p:txBody>
          <a:bodyPr/>
          <a:lstStyle/>
          <a:p>
            <a:pPr eaLnBrk="1" hangingPunct="1"/>
            <a:r>
              <a:rPr lang="zh-CN" altLang="en-US"/>
              <a:t>一个系统有</a:t>
            </a:r>
            <a:r>
              <a:rPr lang="en-US" altLang="zh-CN"/>
              <a:t>n</a:t>
            </a:r>
            <a:r>
              <a:rPr lang="zh-CN" altLang="en-US"/>
              <a:t>级中断，则</a:t>
            </a:r>
            <a:r>
              <a:rPr lang="en-US" altLang="zh-CN"/>
              <a:t>CPU</a:t>
            </a:r>
            <a:r>
              <a:rPr lang="zh-CN" altLang="en-US"/>
              <a:t>中有</a:t>
            </a:r>
            <a:r>
              <a:rPr lang="en-US" altLang="zh-CN"/>
              <a:t>n</a:t>
            </a:r>
            <a:r>
              <a:rPr lang="zh-CN" altLang="en-US"/>
              <a:t>个</a:t>
            </a:r>
            <a:r>
              <a:rPr lang="en-US" altLang="zh-CN"/>
              <a:t>IR</a:t>
            </a:r>
            <a:r>
              <a:rPr lang="zh-CN" altLang="en-US"/>
              <a:t>，</a:t>
            </a:r>
            <a:r>
              <a:rPr lang="en-US" altLang="zh-CN"/>
              <a:t>n</a:t>
            </a:r>
            <a:r>
              <a:rPr lang="zh-CN" altLang="en-US"/>
              <a:t>个</a:t>
            </a:r>
            <a:r>
              <a:rPr lang="en-US" altLang="zh-CN"/>
              <a:t>IM</a:t>
            </a:r>
            <a:r>
              <a:rPr lang="zh-CN" altLang="en-US"/>
              <a:t>，</a:t>
            </a:r>
            <a:r>
              <a:rPr lang="zh-CN" altLang="en-US">
                <a:solidFill>
                  <a:srgbClr val="FF0000"/>
                </a:solidFill>
              </a:rPr>
              <a:t>某级中断被响应后，则关闭本级和低于本级的</a:t>
            </a:r>
            <a:r>
              <a:rPr lang="en-US" altLang="zh-CN">
                <a:solidFill>
                  <a:srgbClr val="FF0000"/>
                </a:solidFill>
              </a:rPr>
              <a:t>IM</a:t>
            </a:r>
            <a:r>
              <a:rPr lang="zh-CN" altLang="en-US"/>
              <a:t>（即：对应的</a:t>
            </a:r>
            <a:r>
              <a:rPr lang="en-US" altLang="zh-CN"/>
              <a:t>IM</a:t>
            </a:r>
            <a:r>
              <a:rPr lang="zh-CN" altLang="en-US"/>
              <a:t>置</a:t>
            </a:r>
            <a:r>
              <a:rPr lang="en-US" altLang="zh-CN"/>
              <a:t>1</a:t>
            </a:r>
            <a:r>
              <a:rPr lang="zh-CN" altLang="en-US"/>
              <a:t>），开放更高级的</a:t>
            </a:r>
            <a:r>
              <a:rPr lang="en-US" altLang="zh-CN"/>
              <a:t>IM</a:t>
            </a:r>
            <a:endParaRPr lang="en-US" altLang="zh-CN"/>
          </a:p>
          <a:p>
            <a:pPr eaLnBrk="1" hangingPunct="1"/>
            <a:r>
              <a:rPr lang="zh-CN" altLang="en-US"/>
              <a:t>多级中断可以嵌套，但同一级的中断不允许嵌套</a:t>
            </a:r>
            <a:endParaRPr lang="zh-CN" altLang="en-US"/>
          </a:p>
          <a:p>
            <a:pPr eaLnBrk="1" hangingPunct="1"/>
            <a:r>
              <a:rPr lang="zh-CN" altLang="en-US"/>
              <a:t>中断响应时，确定哪一级中断和中断源采用硬件实现。这里采用独立请求方式</a:t>
            </a:r>
            <a:r>
              <a:rPr lang="en-US" altLang="zh-CN"/>
              <a:t>+</a:t>
            </a:r>
            <a:r>
              <a:rPr lang="zh-CN" altLang="en-US"/>
              <a:t>链式查询方式相结合的方式</a:t>
            </a:r>
            <a:endParaRPr lang="zh-CN" altLang="en-US"/>
          </a:p>
          <a:p>
            <a:pPr eaLnBrk="1" hangingPunct="1"/>
            <a:r>
              <a:rPr lang="zh-CN" altLang="en-US"/>
              <a:t>使用堆栈保存现场（包括</a:t>
            </a:r>
            <a:r>
              <a:rPr lang="en-US" altLang="zh-CN"/>
              <a:t>IM</a:t>
            </a:r>
            <a:r>
              <a:rPr lang="zh-CN" altLang="en-US"/>
              <a:t>）</a:t>
            </a:r>
            <a:endParaRPr lang="zh-CN" altLang="en-US"/>
          </a:p>
          <a:p>
            <a:pPr eaLnBrk="1" hangingPunct="1"/>
            <a:endParaRPr lang="en-US" altLang="zh-CN"/>
          </a:p>
        </p:txBody>
      </p:sp>
    </p:spTree>
  </p:cSld>
  <p:clrMapOvr>
    <a:masterClrMapping/>
  </p:clrMapOvr>
  <p:transition spd="med">
    <p:pull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pPr eaLnBrk="1" hangingPunct="1">
              <a:defRPr/>
            </a:pPr>
            <a:r>
              <a:rPr lang="zh-CN" altLang="en-US" dirty="0"/>
              <a:t>独立请求方式的优先级排队逻辑</a:t>
            </a:r>
            <a:endParaRPr lang="zh-CN" altLang="en-US" dirty="0"/>
          </a:p>
        </p:txBody>
      </p:sp>
      <p:pic>
        <p:nvPicPr>
          <p:cNvPr id="50180" name="Picture 5" descr="p3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1054100"/>
            <a:ext cx="7040562" cy="514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Text Box 6"/>
          <p:cNvSpPr txBox="1">
            <a:spLocks noChangeArrowheads="1"/>
          </p:cNvSpPr>
          <p:nvPr/>
        </p:nvSpPr>
        <p:spPr bwMode="auto">
          <a:xfrm>
            <a:off x="1209715" y="3360976"/>
            <a:ext cx="553998" cy="100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vert="eaVert"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tx2"/>
                </a:solidFill>
                <a:latin typeface="楷体" panose="02010609060101010101" pitchFamily="49" charset="-122"/>
                <a:ea typeface="楷体" panose="02010609060101010101" pitchFamily="49" charset="-122"/>
              </a:rPr>
              <a:t>排队器</a:t>
            </a:r>
            <a:endParaRPr kumimoji="0" lang="zh-CN" altLang="en-US" sz="2400">
              <a:solidFill>
                <a:schemeClr val="tx2"/>
              </a:solidFill>
              <a:latin typeface="楷体" panose="02010609060101010101" pitchFamily="49" charset="-122"/>
              <a:ea typeface="楷体" panose="02010609060101010101" pitchFamily="49" charset="-122"/>
            </a:endParaRPr>
          </a:p>
        </p:txBody>
      </p:sp>
      <p:sp>
        <p:nvSpPr>
          <p:cNvPr id="50182" name="Text Box 7"/>
          <p:cNvSpPr txBox="1">
            <a:spLocks noChangeArrowheads="1"/>
          </p:cNvSpPr>
          <p:nvPr/>
        </p:nvSpPr>
        <p:spPr bwMode="auto">
          <a:xfrm>
            <a:off x="1811338" y="6096000"/>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中断请求寄存器</a:t>
            </a:r>
            <a:endParaRPr kumimoji="0" lang="zh-CN" altLang="en-US" sz="2400">
              <a:latin typeface="楷体" panose="02010609060101010101" pitchFamily="49" charset="-122"/>
              <a:ea typeface="楷体" panose="02010609060101010101" pitchFamily="49" charset="-122"/>
            </a:endParaRPr>
          </a:p>
        </p:txBody>
      </p:sp>
      <p:sp>
        <p:nvSpPr>
          <p:cNvPr id="50183" name="Text Box 8"/>
          <p:cNvSpPr txBox="1">
            <a:spLocks noChangeArrowheads="1"/>
          </p:cNvSpPr>
          <p:nvPr/>
        </p:nvSpPr>
        <p:spPr bwMode="auto">
          <a:xfrm>
            <a:off x="5283200" y="6096000"/>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中断屏蔽寄存器</a:t>
            </a:r>
            <a:endParaRPr kumimoji="0" lang="zh-CN" altLang="en-US" sz="2400">
              <a:latin typeface="楷体" panose="02010609060101010101" pitchFamily="49" charset="-122"/>
              <a:ea typeface="楷体" panose="02010609060101010101" pitchFamily="49" charset="-122"/>
            </a:endParaRPr>
          </a:p>
        </p:txBody>
      </p:sp>
      <p:sp>
        <p:nvSpPr>
          <p:cNvPr id="50184" name="Text Box 9"/>
          <p:cNvSpPr txBox="1">
            <a:spLocks noChangeArrowheads="1"/>
          </p:cNvSpPr>
          <p:nvPr/>
        </p:nvSpPr>
        <p:spPr bwMode="auto">
          <a:xfrm>
            <a:off x="3138488" y="1703388"/>
            <a:ext cx="2941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tx2"/>
                </a:solidFill>
                <a:latin typeface="楷体" panose="02010609060101010101" pitchFamily="49" charset="-122"/>
                <a:ea typeface="楷体" panose="02010609060101010101" pitchFamily="49" charset="-122"/>
              </a:rPr>
              <a:t>编　　　码　　　器</a:t>
            </a:r>
            <a:endParaRPr kumimoji="0" lang="zh-CN" altLang="en-US" sz="2400">
              <a:solidFill>
                <a:schemeClr val="tx2"/>
              </a:solidFill>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eaLnBrk="1" hangingPunct="1">
              <a:defRPr/>
            </a:pPr>
            <a:r>
              <a:rPr lang="zh-CN" altLang="en-US"/>
              <a:t>例</a:t>
            </a:r>
            <a:r>
              <a:rPr lang="en-US" altLang="zh-CN"/>
              <a:t>1</a:t>
            </a:r>
            <a:endParaRPr lang="en-US" altLang="zh-CN"/>
          </a:p>
        </p:txBody>
      </p:sp>
      <p:sp>
        <p:nvSpPr>
          <p:cNvPr id="52227" name="Rectangle 3"/>
          <p:cNvSpPr>
            <a:spLocks noGrp="1" noChangeArrowheads="1"/>
          </p:cNvSpPr>
          <p:nvPr>
            <p:ph idx="1"/>
          </p:nvPr>
        </p:nvSpPr>
        <p:spPr/>
        <p:txBody>
          <a:bodyPr/>
          <a:lstStyle/>
          <a:p>
            <a:pPr eaLnBrk="1" hangingPunct="1">
              <a:buFont typeface="Wingdings 2" charset="2"/>
              <a:buNone/>
            </a:pPr>
            <a:r>
              <a:rPr lang="zh-CN" altLang="en-US" sz="2800"/>
              <a:t>如图所示的二维中断系统。请问：</a:t>
            </a:r>
            <a:endParaRPr lang="zh-CN" altLang="en-US" sz="2800"/>
          </a:p>
          <a:p>
            <a:pPr eaLnBrk="1" hangingPunct="1">
              <a:buFont typeface="Wingdings 2" charset="2"/>
              <a:buNone/>
            </a:pPr>
            <a:r>
              <a:rPr lang="en-US" altLang="zh-CN" sz="2800"/>
              <a:t>(1)</a:t>
            </a:r>
            <a:r>
              <a:rPr lang="zh-CN" altLang="en-US" sz="2800"/>
              <a:t>在中断情况下，</a:t>
            </a:r>
            <a:r>
              <a:rPr lang="en-US" altLang="zh-CN" sz="2800"/>
              <a:t>CPU</a:t>
            </a:r>
            <a:r>
              <a:rPr lang="zh-CN" altLang="en-US" sz="2800"/>
              <a:t>和设备的优先级如何考虑</a:t>
            </a:r>
            <a:r>
              <a:rPr lang="en-US" altLang="zh-CN" sz="2800"/>
              <a:t>?</a:t>
            </a:r>
            <a:r>
              <a:rPr lang="zh-CN" altLang="en-US" sz="2800"/>
              <a:t>请按降序排列各设备的中断优先级。</a:t>
            </a:r>
            <a:endParaRPr lang="zh-CN" altLang="en-US" sz="2800"/>
          </a:p>
          <a:p>
            <a:pPr eaLnBrk="1" hangingPunct="1">
              <a:buFont typeface="Wingdings 2" charset="2"/>
              <a:buNone/>
            </a:pPr>
            <a:r>
              <a:rPr lang="en-US" altLang="zh-CN" sz="2800"/>
              <a:t>(2)</a:t>
            </a:r>
            <a:r>
              <a:rPr lang="zh-CN" altLang="en-US" sz="2800"/>
              <a:t>若</a:t>
            </a:r>
            <a:r>
              <a:rPr lang="en-US" altLang="zh-CN" sz="2800"/>
              <a:t>CPU</a:t>
            </a:r>
            <a:r>
              <a:rPr lang="zh-CN" altLang="en-US" sz="2800"/>
              <a:t>现执行设备</a:t>
            </a:r>
            <a:r>
              <a:rPr lang="en-US" altLang="zh-CN" sz="2800"/>
              <a:t>B</a:t>
            </a:r>
            <a:r>
              <a:rPr lang="zh-CN" altLang="en-US" sz="2800"/>
              <a:t>的中断服务程序，</a:t>
            </a:r>
            <a:r>
              <a:rPr lang="en-US" altLang="zh-CN" sz="2800"/>
              <a:t>IM2</a:t>
            </a:r>
            <a:r>
              <a:rPr lang="zh-CN" altLang="en-US" sz="2800"/>
              <a:t>，</a:t>
            </a:r>
            <a:r>
              <a:rPr lang="en-US" altLang="zh-CN" sz="2800"/>
              <a:t>IM1</a:t>
            </a:r>
            <a:r>
              <a:rPr lang="zh-CN" altLang="en-US" sz="2800"/>
              <a:t>，</a:t>
            </a:r>
            <a:r>
              <a:rPr lang="en-US" altLang="zh-CN" sz="2800"/>
              <a:t>IM0</a:t>
            </a:r>
            <a:r>
              <a:rPr lang="zh-CN" altLang="en-US" sz="2800"/>
              <a:t>的状态是什么</a:t>
            </a:r>
            <a:r>
              <a:rPr lang="en-US" altLang="zh-CN" sz="2800"/>
              <a:t>?</a:t>
            </a:r>
            <a:r>
              <a:rPr lang="zh-CN" altLang="en-US" sz="2800"/>
              <a:t>如果</a:t>
            </a:r>
            <a:r>
              <a:rPr lang="en-US" altLang="zh-CN" sz="2800"/>
              <a:t>CPU</a:t>
            </a:r>
            <a:r>
              <a:rPr lang="zh-CN" altLang="en-US" sz="2800"/>
              <a:t>执行设 备</a:t>
            </a:r>
            <a:r>
              <a:rPr lang="en-US" altLang="zh-CN" sz="2800"/>
              <a:t>D</a:t>
            </a:r>
            <a:r>
              <a:rPr lang="zh-CN" altLang="en-US" sz="2800"/>
              <a:t>的中断服务程序，</a:t>
            </a:r>
            <a:r>
              <a:rPr lang="en-US" altLang="zh-CN" sz="2800"/>
              <a:t>IM2</a:t>
            </a:r>
            <a:r>
              <a:rPr lang="zh-CN" altLang="en-US" sz="2800"/>
              <a:t>，</a:t>
            </a:r>
            <a:r>
              <a:rPr lang="en-US" altLang="zh-CN" sz="2800"/>
              <a:t>IM1</a:t>
            </a:r>
            <a:r>
              <a:rPr lang="zh-CN" altLang="en-US" sz="2800"/>
              <a:t>，</a:t>
            </a:r>
            <a:r>
              <a:rPr lang="en-US" altLang="zh-CN" sz="2800"/>
              <a:t>IM0</a:t>
            </a:r>
            <a:r>
              <a:rPr lang="zh-CN" altLang="en-US" sz="2800"/>
              <a:t>的状态又是什么</a:t>
            </a:r>
            <a:r>
              <a:rPr lang="en-US" altLang="zh-CN" sz="2800"/>
              <a:t>?</a:t>
            </a:r>
            <a:endParaRPr lang="en-US" altLang="zh-CN" sz="2800"/>
          </a:p>
          <a:p>
            <a:pPr eaLnBrk="1" hangingPunct="1">
              <a:buFont typeface="Wingdings 2" charset="2"/>
              <a:buNone/>
            </a:pPr>
            <a:r>
              <a:rPr lang="en-US" altLang="zh-CN" sz="2800"/>
              <a:t>(3)</a:t>
            </a:r>
            <a:r>
              <a:rPr lang="zh-CN" altLang="en-US" sz="2800"/>
              <a:t>每一级的</a:t>
            </a:r>
            <a:r>
              <a:rPr lang="en-US" altLang="zh-CN" sz="2800"/>
              <a:t>IM</a:t>
            </a:r>
            <a:r>
              <a:rPr lang="zh-CN" altLang="en-US" sz="2800"/>
              <a:t>能否对某个优先级的个别设备单独进行屏蔽</a:t>
            </a:r>
            <a:r>
              <a:rPr lang="en-US" altLang="zh-CN" sz="2800"/>
              <a:t>?</a:t>
            </a:r>
            <a:r>
              <a:rPr lang="zh-CN" altLang="en-US" sz="2800"/>
              <a:t>如果不能，采取什么办法可达到目的</a:t>
            </a:r>
            <a:r>
              <a:rPr lang="en-US" altLang="zh-CN" sz="2800"/>
              <a:t>?</a:t>
            </a:r>
            <a:endParaRPr lang="en-US" altLang="zh-CN" sz="2800"/>
          </a:p>
          <a:p>
            <a:pPr eaLnBrk="1" hangingPunct="1">
              <a:buFont typeface="Wingdings 2" charset="2"/>
              <a:buNone/>
            </a:pPr>
            <a:r>
              <a:rPr lang="en-US" altLang="zh-CN" sz="2800"/>
              <a:t>(4)</a:t>
            </a:r>
            <a:r>
              <a:rPr lang="zh-CN" altLang="en-US" sz="2800"/>
              <a:t>假如设备</a:t>
            </a:r>
            <a:r>
              <a:rPr lang="en-US" altLang="zh-CN" sz="2800"/>
              <a:t>C</a:t>
            </a:r>
            <a:r>
              <a:rPr lang="zh-CN" altLang="en-US" sz="2800"/>
              <a:t>一提出中断请求，</a:t>
            </a:r>
            <a:r>
              <a:rPr lang="en-US" altLang="zh-CN" sz="2800"/>
              <a:t>CPU</a:t>
            </a:r>
            <a:r>
              <a:rPr lang="zh-CN" altLang="en-US" sz="2800"/>
              <a:t>立即进行响应，如何调整才能满足此要求</a:t>
            </a:r>
            <a:r>
              <a:rPr lang="en-US" altLang="zh-CN" sz="2800"/>
              <a:t>?</a:t>
            </a:r>
            <a:endParaRPr lang="en-US" altLang="zh-CN" sz="2800"/>
          </a:p>
        </p:txBody>
      </p:sp>
    </p:spTree>
  </p:cSld>
  <p:clrMapOvr>
    <a:masterClrMapping/>
  </p:clrMapOvr>
  <p:transition spd="med">
    <p:pull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pPr eaLnBrk="1" hangingPunct="1">
              <a:defRPr/>
            </a:pPr>
            <a:r>
              <a:rPr lang="zh-CN" altLang="en-US" dirty="0"/>
              <a:t>例</a:t>
            </a:r>
            <a:r>
              <a:rPr lang="en-US" altLang="zh-CN" dirty="0"/>
              <a:t>1</a:t>
            </a:r>
            <a:r>
              <a:rPr lang="zh-CN" altLang="en-US" dirty="0"/>
              <a:t>图</a:t>
            </a:r>
            <a:endParaRPr lang="zh-CN" altLang="en-US" dirty="0"/>
          </a:p>
        </p:txBody>
      </p:sp>
      <p:sp>
        <p:nvSpPr>
          <p:cNvPr id="53251" name="Rectangle 3"/>
          <p:cNvSpPr>
            <a:spLocks noGrp="1" noChangeArrowheads="1"/>
          </p:cNvSpPr>
          <p:nvPr>
            <p:ph idx="1"/>
          </p:nvPr>
        </p:nvSpPr>
        <p:spPr/>
        <p:txBody>
          <a:bodyPr/>
          <a:lstStyle/>
          <a:p>
            <a:pPr eaLnBrk="1" hangingPunct="1"/>
            <a:endParaRPr lang="zh-CN" altLang="zh-CN"/>
          </a:p>
        </p:txBody>
      </p:sp>
      <p:pic>
        <p:nvPicPr>
          <p:cNvPr id="429060" name="Picture 4" descr="8a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11188" y="908050"/>
            <a:ext cx="7632700"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椭圆 1"/>
          <p:cNvSpPr>
            <a:spLocks noChangeArrowheads="1"/>
          </p:cNvSpPr>
          <p:nvPr/>
        </p:nvSpPr>
        <p:spPr bwMode="auto">
          <a:xfrm>
            <a:off x="5292725" y="4005263"/>
            <a:ext cx="863600" cy="576262"/>
          </a:xfrm>
          <a:prstGeom prst="ellipse">
            <a:avLst/>
          </a:prstGeom>
          <a:noFill/>
          <a:ln w="12700" algn="ctr">
            <a:solidFill>
              <a:srgbClr val="C00000"/>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
        <p:nvSpPr>
          <p:cNvPr id="53255" name="椭圆 6"/>
          <p:cNvSpPr>
            <a:spLocks noChangeArrowheads="1"/>
          </p:cNvSpPr>
          <p:nvPr/>
        </p:nvSpPr>
        <p:spPr bwMode="auto">
          <a:xfrm>
            <a:off x="4211638" y="4652963"/>
            <a:ext cx="865187" cy="576262"/>
          </a:xfrm>
          <a:prstGeom prst="ellipse">
            <a:avLst/>
          </a:prstGeom>
          <a:noFill/>
          <a:ln w="12700" algn="ctr">
            <a:solidFill>
              <a:srgbClr val="C00000"/>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9060"/>
                                        </p:tgtEl>
                                        <p:attrNameLst>
                                          <p:attrName>style.visibility</p:attrName>
                                        </p:attrNameLst>
                                      </p:cBhvr>
                                      <p:to>
                                        <p:strVal val="visible"/>
                                      </p:to>
                                    </p:set>
                                    <p:anim calcmode="lin" valueType="num">
                                      <p:cBhvr additive="base">
                                        <p:cTn id="7" dur="500" fill="hold"/>
                                        <p:tgtEl>
                                          <p:spTgt spid="429060"/>
                                        </p:tgtEl>
                                        <p:attrNameLst>
                                          <p:attrName>ppt_x</p:attrName>
                                        </p:attrNameLst>
                                      </p:cBhvr>
                                      <p:tavLst>
                                        <p:tav tm="0">
                                          <p:val>
                                            <p:strVal val="#ppt_x"/>
                                          </p:val>
                                        </p:tav>
                                        <p:tav tm="100000">
                                          <p:val>
                                            <p:strVal val="#ppt_x"/>
                                          </p:val>
                                        </p:tav>
                                      </p:tavLst>
                                    </p:anim>
                                    <p:anim calcmode="lin" valueType="num">
                                      <p:cBhvr additive="base">
                                        <p:cTn id="8" dur="500" fill="hold"/>
                                        <p:tgtEl>
                                          <p:spTgt spid="4290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429060"/>
                                        </p:tgtEl>
                                        <p:attrNameLst>
                                          <p:attrName>ppt_x</p:attrName>
                                        </p:attrNameLst>
                                      </p:cBhvr>
                                      <p:tavLst>
                                        <p:tav tm="0">
                                          <p:val>
                                            <p:strVal val="ppt_x"/>
                                          </p:val>
                                        </p:tav>
                                        <p:tav tm="100000">
                                          <p:val>
                                            <p:strVal val="ppt_x"/>
                                          </p:val>
                                        </p:tav>
                                      </p:tavLst>
                                    </p:anim>
                                    <p:anim calcmode="lin" valueType="num">
                                      <p:cBhvr additive="base">
                                        <p:cTn id="13" dur="500"/>
                                        <p:tgtEl>
                                          <p:spTgt spid="429060"/>
                                        </p:tgtEl>
                                        <p:attrNameLst>
                                          <p:attrName>ppt_y</p:attrName>
                                        </p:attrNameLst>
                                      </p:cBhvr>
                                      <p:tavLst>
                                        <p:tav tm="0">
                                          <p:val>
                                            <p:strVal val="ppt_y"/>
                                          </p:val>
                                        </p:tav>
                                        <p:tav tm="100000">
                                          <p:val>
                                            <p:strVal val="1+ppt_h/2"/>
                                          </p:val>
                                        </p:tav>
                                      </p:tavLst>
                                    </p:anim>
                                    <p:set>
                                      <p:cBhvr>
                                        <p:cTn id="14" dur="1" fill="hold">
                                          <p:stCondLst>
                                            <p:cond delay="499"/>
                                          </p:stCondLst>
                                        </p:cTn>
                                        <p:tgtEl>
                                          <p:spTgt spid="4290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pPr eaLnBrk="1" hangingPunct="1">
              <a:defRPr/>
            </a:pPr>
            <a:r>
              <a:rPr lang="zh-CN" altLang="en-US" dirty="0"/>
              <a:t>例</a:t>
            </a:r>
            <a:r>
              <a:rPr lang="en-US" altLang="zh-CN" dirty="0"/>
              <a:t>1</a:t>
            </a:r>
            <a:r>
              <a:rPr lang="zh-CN" altLang="en-US" dirty="0"/>
              <a:t>解</a:t>
            </a:r>
            <a:endParaRPr lang="zh-CN" altLang="en-US" dirty="0"/>
          </a:p>
        </p:txBody>
      </p:sp>
      <p:sp>
        <p:nvSpPr>
          <p:cNvPr id="54275" name="Rectangle 3"/>
          <p:cNvSpPr>
            <a:spLocks noGrp="1" noChangeArrowheads="1"/>
          </p:cNvSpPr>
          <p:nvPr>
            <p:ph idx="1"/>
          </p:nvPr>
        </p:nvSpPr>
        <p:spPr/>
        <p:txBody>
          <a:bodyPr/>
          <a:lstStyle/>
          <a:p>
            <a:pPr marL="447675" indent="-447675" eaLnBrk="1" hangingPunct="1">
              <a:buFont typeface="Wingdings 2" charset="2"/>
              <a:buNone/>
            </a:pPr>
            <a:r>
              <a:rPr lang="en-US" altLang="zh-CN" sz="2800"/>
              <a:t>(1)</a:t>
            </a:r>
            <a:r>
              <a:rPr lang="zh-CN" altLang="en-US" sz="2800"/>
              <a:t>在中断情况下，</a:t>
            </a:r>
            <a:r>
              <a:rPr lang="en-US" altLang="zh-CN" sz="2800"/>
              <a:t>CPU</a:t>
            </a:r>
            <a:r>
              <a:rPr lang="zh-CN" altLang="en-US" sz="2800"/>
              <a:t>的优先级最低。各设备的优先次序是：</a:t>
            </a:r>
            <a:r>
              <a:rPr lang="en-US" altLang="zh-CN" sz="2800"/>
              <a:t>A→B→C→ D→E→F→G→H→I→CPU</a:t>
            </a:r>
            <a:r>
              <a:rPr lang="zh-CN" altLang="en-US" sz="2800"/>
              <a:t>。</a:t>
            </a:r>
            <a:endParaRPr lang="zh-CN" altLang="en-US" sz="2800"/>
          </a:p>
          <a:p>
            <a:pPr marL="447675" indent="-447675" eaLnBrk="1" hangingPunct="1">
              <a:buFont typeface="Wingdings 2" charset="2"/>
              <a:buNone/>
            </a:pPr>
            <a:r>
              <a:rPr lang="en-US" altLang="zh-CN" sz="2800"/>
              <a:t>(2)</a:t>
            </a:r>
            <a:r>
              <a:rPr lang="zh-CN" altLang="en-US" sz="2800"/>
              <a:t>执行设备</a:t>
            </a:r>
            <a:r>
              <a:rPr lang="en-US" altLang="zh-CN" sz="2800"/>
              <a:t>B</a:t>
            </a:r>
            <a:r>
              <a:rPr lang="zh-CN" altLang="en-US" sz="2800"/>
              <a:t>的中断服务程序时</a:t>
            </a:r>
            <a:r>
              <a:rPr lang="en-US" altLang="zh-CN" sz="2800"/>
              <a:t>IM</a:t>
            </a:r>
            <a:r>
              <a:rPr lang="en-US" altLang="zh-CN" sz="2800" baseline="-25000"/>
              <a:t>2</a:t>
            </a:r>
            <a:r>
              <a:rPr lang="en-US" altLang="zh-CN" sz="2800"/>
              <a:t>IM</a:t>
            </a:r>
            <a:r>
              <a:rPr lang="en-US" altLang="zh-CN" sz="2800" baseline="-25000"/>
              <a:t>1</a:t>
            </a:r>
            <a:r>
              <a:rPr lang="en-US" altLang="zh-CN" sz="2800"/>
              <a:t>IM</a:t>
            </a:r>
            <a:r>
              <a:rPr lang="en-US" altLang="zh-CN" sz="2800" baseline="-25000"/>
              <a:t>0</a:t>
            </a:r>
            <a:r>
              <a:rPr lang="en-US" altLang="zh-CN" sz="2800"/>
              <a:t>=111</a:t>
            </a:r>
            <a:r>
              <a:rPr lang="zh-CN" altLang="en-US" sz="2800"/>
              <a:t>；执行设备</a:t>
            </a:r>
            <a:r>
              <a:rPr lang="en-US" altLang="zh-CN" sz="2800"/>
              <a:t>D</a:t>
            </a:r>
            <a:r>
              <a:rPr lang="zh-CN" altLang="en-US" sz="2800"/>
              <a:t>的中断服务程序时，</a:t>
            </a:r>
            <a:r>
              <a:rPr lang="en-US" altLang="zh-CN" sz="2800"/>
              <a:t>IM</a:t>
            </a:r>
            <a:r>
              <a:rPr lang="en-US" altLang="zh-CN" sz="2800" baseline="-25000"/>
              <a:t>2</a:t>
            </a:r>
            <a:r>
              <a:rPr lang="en-US" altLang="zh-CN" sz="2800"/>
              <a:t>IM</a:t>
            </a:r>
            <a:r>
              <a:rPr lang="en-US" altLang="zh-CN" sz="2800" baseline="-25000"/>
              <a:t>1</a:t>
            </a:r>
            <a:r>
              <a:rPr lang="en-US" altLang="zh-CN" sz="2800"/>
              <a:t>IM</a:t>
            </a:r>
            <a:r>
              <a:rPr lang="en-US" altLang="zh-CN" sz="2800" baseline="-25000"/>
              <a:t>0</a:t>
            </a:r>
            <a:r>
              <a:rPr lang="en-US" altLang="zh-CN" sz="2800"/>
              <a:t>=011</a:t>
            </a:r>
            <a:r>
              <a:rPr lang="zh-CN" altLang="en-US" sz="2800"/>
              <a:t>。</a:t>
            </a:r>
            <a:endParaRPr lang="zh-CN" altLang="en-US" sz="2800"/>
          </a:p>
          <a:p>
            <a:pPr marL="447675" indent="-447675" eaLnBrk="1" hangingPunct="1">
              <a:buFont typeface="Wingdings 2" charset="2"/>
              <a:buNone/>
            </a:pPr>
            <a:r>
              <a:rPr lang="en-US" altLang="zh-CN" sz="2800"/>
              <a:t>(3)</a:t>
            </a:r>
            <a:r>
              <a:rPr lang="zh-CN" altLang="en-US" sz="2800"/>
              <a:t>每一级的</a:t>
            </a:r>
            <a:r>
              <a:rPr lang="en-US" altLang="zh-CN" sz="2800"/>
              <a:t>IM</a:t>
            </a:r>
            <a:r>
              <a:rPr lang="zh-CN" altLang="en-US" sz="2800"/>
              <a:t>标志不能对某个优先级的个别设备进行单独屏蔽。可将接口中的</a:t>
            </a:r>
            <a:r>
              <a:rPr lang="en-US" altLang="zh-CN" sz="2800"/>
              <a:t>EI(</a:t>
            </a:r>
            <a:r>
              <a:rPr lang="zh-CN" altLang="en-US" sz="2800"/>
              <a:t>中断允许</a:t>
            </a:r>
            <a:r>
              <a:rPr lang="en-US" altLang="zh-CN" sz="2800"/>
              <a:t>)</a:t>
            </a:r>
            <a:r>
              <a:rPr lang="zh-CN" altLang="en-US" sz="2800"/>
              <a:t>标志清“</a:t>
            </a:r>
            <a:r>
              <a:rPr lang="en-US" altLang="zh-CN" sz="2800"/>
              <a:t>0”</a:t>
            </a:r>
            <a:r>
              <a:rPr lang="zh-CN" altLang="en-US" sz="2800"/>
              <a:t>，它禁止设备发出中断请求。 </a:t>
            </a:r>
            <a:endParaRPr lang="zh-CN" altLang="en-US" sz="2800"/>
          </a:p>
          <a:p>
            <a:pPr marL="447675" indent="-447675" eaLnBrk="1" hangingPunct="1">
              <a:buFont typeface="Wingdings 2" charset="2"/>
              <a:buNone/>
            </a:pPr>
            <a:r>
              <a:rPr lang="en-US" altLang="zh-CN" sz="2800"/>
              <a:t>(4)</a:t>
            </a:r>
            <a:r>
              <a:rPr lang="zh-CN" altLang="en-US" sz="2800"/>
              <a:t>要使设备</a:t>
            </a:r>
            <a:r>
              <a:rPr lang="en-US" altLang="zh-CN" sz="2800"/>
              <a:t>C</a:t>
            </a:r>
            <a:r>
              <a:rPr lang="zh-CN" altLang="en-US" sz="2800"/>
              <a:t>的中断请求及时得到响应，可将设备</a:t>
            </a:r>
            <a:r>
              <a:rPr lang="en-US" altLang="zh-CN" sz="2800"/>
              <a:t>C</a:t>
            </a:r>
            <a:r>
              <a:rPr lang="zh-CN" altLang="en-US" sz="2800"/>
              <a:t>从第</a:t>
            </a:r>
            <a:r>
              <a:rPr lang="en-US" altLang="zh-CN" sz="2800"/>
              <a:t>2</a:t>
            </a:r>
            <a:r>
              <a:rPr lang="zh-CN" altLang="en-US" sz="2800"/>
              <a:t>级取出来，单独放在第</a:t>
            </a:r>
            <a:r>
              <a:rPr lang="en-US" altLang="zh-CN" sz="2800"/>
              <a:t>3</a:t>
            </a:r>
            <a:r>
              <a:rPr lang="zh-CN" altLang="en-US" sz="2800"/>
              <a:t>级上，使第</a:t>
            </a:r>
            <a:r>
              <a:rPr lang="en-US" altLang="zh-CN" sz="2800"/>
              <a:t>3</a:t>
            </a:r>
            <a:r>
              <a:rPr lang="zh-CN" altLang="en-US" sz="2800"/>
              <a:t>级的优先级最高，即令</a:t>
            </a:r>
            <a:r>
              <a:rPr lang="en-US" altLang="zh-CN" sz="2800"/>
              <a:t>IM3=0</a:t>
            </a:r>
            <a:r>
              <a:rPr lang="zh-CN" altLang="en-US" sz="2800"/>
              <a:t>即可。</a:t>
            </a:r>
            <a:endParaRPr lang="zh-CN" altLang="en-US" sz="2800"/>
          </a:p>
          <a:p>
            <a:pPr marL="447675" indent="-447675" eaLnBrk="1" hangingPunct="1"/>
            <a:endParaRPr lang="en-US" altLang="zh-CN" sz="2800"/>
          </a:p>
        </p:txBody>
      </p:sp>
    </p:spTree>
  </p:cSld>
  <p:clrMapOvr>
    <a:masterClrMapping/>
  </p:clrMapOvr>
  <p:transition spd="med">
    <p:pull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pPr eaLnBrk="1" hangingPunct="1">
              <a:defRPr/>
            </a:pPr>
            <a:r>
              <a:rPr lang="zh-CN" altLang="en-US"/>
              <a:t>例</a:t>
            </a:r>
            <a:r>
              <a:rPr lang="en-US" altLang="zh-CN"/>
              <a:t>2</a:t>
            </a:r>
            <a:endParaRPr lang="en-US" altLang="zh-CN"/>
          </a:p>
        </p:txBody>
      </p:sp>
      <p:sp>
        <p:nvSpPr>
          <p:cNvPr id="56323" name="Rectangle 3"/>
          <p:cNvSpPr>
            <a:spLocks noGrp="1" noChangeArrowheads="1"/>
          </p:cNvSpPr>
          <p:nvPr>
            <p:ph idx="1"/>
          </p:nvPr>
        </p:nvSpPr>
        <p:spPr/>
        <p:txBody>
          <a:bodyPr/>
          <a:lstStyle/>
          <a:p>
            <a:pPr eaLnBrk="1" hangingPunct="1">
              <a:lnSpc>
                <a:spcPct val="90000"/>
              </a:lnSpc>
            </a:pPr>
            <a:r>
              <a:rPr lang="zh-CN" altLang="en-US"/>
              <a:t>参见例</a:t>
            </a:r>
            <a:r>
              <a:rPr lang="en-US" altLang="zh-CN"/>
              <a:t>1</a:t>
            </a:r>
            <a:r>
              <a:rPr lang="zh-CN" altLang="en-US"/>
              <a:t>所示的系统，只考虑</a:t>
            </a:r>
            <a:r>
              <a:rPr lang="en-US" altLang="zh-CN"/>
              <a:t>A</a:t>
            </a:r>
            <a:r>
              <a:rPr lang="zh-CN" altLang="en-US"/>
              <a:t>，</a:t>
            </a:r>
            <a:r>
              <a:rPr lang="en-US" altLang="zh-CN"/>
              <a:t>B</a:t>
            </a:r>
            <a:r>
              <a:rPr lang="zh-CN" altLang="en-US"/>
              <a:t>，</a:t>
            </a:r>
            <a:r>
              <a:rPr lang="en-US" altLang="zh-CN"/>
              <a:t>C</a:t>
            </a:r>
            <a:r>
              <a:rPr lang="zh-CN" altLang="en-US"/>
              <a:t>三个设备组成的</a:t>
            </a:r>
            <a:r>
              <a:rPr lang="zh-CN" altLang="en-US">
                <a:solidFill>
                  <a:srgbClr val="C00000"/>
                </a:solidFill>
              </a:rPr>
              <a:t>单级</a:t>
            </a:r>
            <a:r>
              <a:rPr lang="zh-CN" altLang="en-US"/>
              <a:t>中断结构，它要求</a:t>
            </a:r>
            <a:r>
              <a:rPr lang="en-US" altLang="zh-CN"/>
              <a:t>CPU</a:t>
            </a:r>
            <a:r>
              <a:rPr lang="zh-CN" altLang="en-US"/>
              <a:t>在执行完当前指令时对中断请求进行服务。假设：</a:t>
            </a:r>
            <a:r>
              <a:rPr lang="en-US" altLang="zh-CN"/>
              <a:t>(1)CPU“</a:t>
            </a:r>
            <a:r>
              <a:rPr lang="zh-CN" altLang="en-US"/>
              <a:t>中断批准”机构在响应一个新的中断之前，先要让被中断的程序的一条指令一定要执行完毕；</a:t>
            </a:r>
            <a:r>
              <a:rPr lang="en-US" altLang="zh-CN"/>
              <a:t>(2)T</a:t>
            </a:r>
            <a:r>
              <a:rPr lang="en-US" altLang="zh-CN" baseline="-25000"/>
              <a:t>DC</a:t>
            </a:r>
            <a:r>
              <a:rPr lang="zh-CN" altLang="en-US"/>
              <a:t>为查询链中每个设备的延迟时间；</a:t>
            </a:r>
            <a:r>
              <a:rPr lang="en-US" altLang="zh-CN"/>
              <a:t>(3)T</a:t>
            </a:r>
            <a:r>
              <a:rPr lang="en-US" altLang="zh-CN" baseline="-25000"/>
              <a:t>A</a:t>
            </a:r>
            <a:r>
              <a:rPr lang="zh-CN" altLang="en-US"/>
              <a:t>，</a:t>
            </a:r>
            <a:r>
              <a:rPr lang="en-US" altLang="zh-CN"/>
              <a:t>T</a:t>
            </a:r>
            <a:r>
              <a:rPr lang="en-US" altLang="zh-CN" baseline="-25000"/>
              <a:t>B</a:t>
            </a:r>
            <a:r>
              <a:rPr lang="zh-CN" altLang="en-US"/>
              <a:t>，</a:t>
            </a:r>
            <a:r>
              <a:rPr lang="en-US" altLang="zh-CN"/>
              <a:t>T</a:t>
            </a:r>
            <a:r>
              <a:rPr lang="en-US" altLang="zh-CN" baseline="-25000"/>
              <a:t>C</a:t>
            </a:r>
            <a:r>
              <a:rPr lang="zh-CN" altLang="en-US"/>
              <a:t>分别为设备</a:t>
            </a:r>
            <a:r>
              <a:rPr lang="en-US" altLang="zh-CN"/>
              <a:t>A</a:t>
            </a:r>
            <a:r>
              <a:rPr lang="zh-CN" altLang="en-US"/>
              <a:t>，</a:t>
            </a:r>
            <a:r>
              <a:rPr lang="en-US" altLang="zh-CN"/>
              <a:t>B</a:t>
            </a:r>
            <a:r>
              <a:rPr lang="zh-CN" altLang="en-US"/>
              <a:t>，</a:t>
            </a:r>
            <a:r>
              <a:rPr lang="en-US" altLang="zh-CN"/>
              <a:t>C</a:t>
            </a:r>
            <a:r>
              <a:rPr lang="zh-CN" altLang="en-US"/>
              <a:t>的服务程序所需的执行时间； </a:t>
            </a:r>
            <a:r>
              <a:rPr lang="en-US" altLang="zh-CN"/>
              <a:t>(4)T</a:t>
            </a:r>
            <a:r>
              <a:rPr lang="en-US" altLang="zh-CN" baseline="-25000"/>
              <a:t>S</a:t>
            </a:r>
            <a:r>
              <a:rPr lang="en-US" altLang="zh-CN"/>
              <a:t>,T</a:t>
            </a:r>
            <a:r>
              <a:rPr lang="en-US" altLang="zh-CN" baseline="-25000"/>
              <a:t>R</a:t>
            </a:r>
            <a:r>
              <a:rPr lang="zh-CN" altLang="en-US"/>
              <a:t>为保存现场和恢复现场所需的时间；</a:t>
            </a:r>
            <a:r>
              <a:rPr lang="en-US" altLang="zh-CN"/>
              <a:t>(5)</a:t>
            </a:r>
            <a:r>
              <a:rPr lang="zh-CN" altLang="en-US"/>
              <a:t>主存工作周期为</a:t>
            </a:r>
            <a:r>
              <a:rPr lang="en-US" altLang="zh-CN"/>
              <a:t>T</a:t>
            </a:r>
            <a:r>
              <a:rPr lang="en-US" altLang="zh-CN" baseline="-25000"/>
              <a:t>M</a:t>
            </a:r>
            <a:r>
              <a:rPr lang="zh-CN" altLang="en-US"/>
              <a:t>。 试问：就这个中断请求环境来说，系统在什么情况下达到中断饱和</a:t>
            </a:r>
            <a:r>
              <a:rPr lang="en-US" altLang="zh-CN"/>
              <a:t>? </a:t>
            </a:r>
            <a:endParaRPr lang="en-US" altLang="zh-CN"/>
          </a:p>
          <a:p>
            <a:pPr eaLnBrk="1" hangingPunct="1">
              <a:lnSpc>
                <a:spcPct val="90000"/>
              </a:lnSpc>
            </a:pPr>
            <a:endParaRPr lang="en-US" altLang="zh-CN"/>
          </a:p>
        </p:txBody>
      </p:sp>
    </p:spTree>
  </p:cSld>
  <p:clrMapOvr>
    <a:masterClrMapping/>
  </p:clrMapOvr>
  <p:transition spd="med">
    <p:pull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p:txBody>
          <a:bodyPr/>
          <a:lstStyle/>
          <a:p>
            <a:pPr eaLnBrk="1" hangingPunct="1">
              <a:defRPr/>
            </a:pPr>
            <a:r>
              <a:rPr lang="zh-CN" altLang="en-US" dirty="0"/>
              <a:t>解</a:t>
            </a:r>
            <a:endParaRPr lang="zh-CN" altLang="en-US" dirty="0"/>
          </a:p>
        </p:txBody>
      </p:sp>
      <p:sp>
        <p:nvSpPr>
          <p:cNvPr id="41987" name="Rectangle 3"/>
          <p:cNvSpPr>
            <a:spLocks noGrp="1" noChangeArrowheads="1"/>
          </p:cNvSpPr>
          <p:nvPr>
            <p:ph idx="1"/>
          </p:nvPr>
        </p:nvSpPr>
        <p:spPr/>
        <p:txBody>
          <a:bodyPr/>
          <a:lstStyle/>
          <a:p>
            <a:pPr marL="0" indent="0" eaLnBrk="1" hangingPunct="1">
              <a:lnSpc>
                <a:spcPct val="90000"/>
              </a:lnSpc>
              <a:buFont typeface="Wingdings 2" charset="2"/>
              <a:buNone/>
            </a:pPr>
            <a:r>
              <a:rPr lang="zh-CN" altLang="en-US" dirty="0"/>
              <a:t>参阅中断处理流程，并</a:t>
            </a:r>
            <a:r>
              <a:rPr lang="zh-CN" altLang="en-US" dirty="0">
                <a:solidFill>
                  <a:srgbClr val="FF0000"/>
                </a:solidFill>
              </a:rPr>
              <a:t>假设</a:t>
            </a:r>
            <a:r>
              <a:rPr lang="zh-CN" altLang="en-US" dirty="0"/>
              <a:t>执行一条指令的时间也为</a:t>
            </a:r>
            <a:r>
              <a:rPr lang="en-US" altLang="zh-CN" dirty="0"/>
              <a:t>T</a:t>
            </a:r>
            <a:r>
              <a:rPr lang="en-US" altLang="zh-CN" baseline="-25000" dirty="0"/>
              <a:t>M</a:t>
            </a:r>
            <a:r>
              <a:rPr lang="zh-CN" altLang="en-US" dirty="0"/>
              <a:t>。</a:t>
            </a:r>
            <a:r>
              <a:rPr lang="zh-CN" altLang="en-US" dirty="0">
                <a:solidFill>
                  <a:srgbClr val="FF0000"/>
                </a:solidFill>
              </a:rPr>
              <a:t>假定</a:t>
            </a:r>
            <a:r>
              <a:rPr lang="zh-CN" altLang="en-US" dirty="0"/>
              <a:t>三个设备同时发出中断请求，那么依次分别处理设备</a:t>
            </a:r>
            <a:r>
              <a:rPr lang="en-US" altLang="zh-CN" dirty="0"/>
              <a:t>A</a:t>
            </a:r>
            <a:r>
              <a:rPr lang="zh-CN" altLang="en-US" dirty="0"/>
              <a:t>、设备</a:t>
            </a:r>
            <a:r>
              <a:rPr lang="en-US" altLang="zh-CN" dirty="0"/>
              <a:t>B</a:t>
            </a:r>
            <a:r>
              <a:rPr lang="zh-CN" altLang="en-US" dirty="0"/>
              <a:t>、设备</a:t>
            </a:r>
            <a:r>
              <a:rPr lang="en-US" altLang="zh-CN" dirty="0"/>
              <a:t>C</a:t>
            </a:r>
            <a:r>
              <a:rPr lang="zh-CN" altLang="en-US" dirty="0"/>
              <a:t>的时间如下： </a:t>
            </a:r>
            <a:endParaRPr lang="zh-CN" altLang="en-US" dirty="0"/>
          </a:p>
          <a:p>
            <a:pPr marL="0" indent="0" eaLnBrk="1" hangingPunct="1">
              <a:lnSpc>
                <a:spcPct val="90000"/>
              </a:lnSpc>
              <a:buFont typeface="Wingdings 2" charset="2"/>
              <a:buNone/>
            </a:pPr>
            <a:r>
              <a:rPr lang="en-US" altLang="zh-CN" dirty="0" err="1"/>
              <a:t>t</a:t>
            </a:r>
            <a:r>
              <a:rPr lang="en-US" altLang="zh-CN" baseline="-25000" dirty="0" err="1"/>
              <a:t>A</a:t>
            </a:r>
            <a:r>
              <a:rPr lang="en-US" altLang="zh-CN" dirty="0"/>
              <a:t> = T</a:t>
            </a:r>
            <a:r>
              <a:rPr lang="en-US" altLang="zh-CN" baseline="-25000" dirty="0"/>
              <a:t>DC</a:t>
            </a:r>
            <a:r>
              <a:rPr lang="en-US" altLang="zh-CN" dirty="0"/>
              <a:t> + T</a:t>
            </a:r>
            <a:r>
              <a:rPr lang="en-US" altLang="zh-CN" baseline="-25000" dirty="0"/>
              <a:t>S</a:t>
            </a:r>
            <a:r>
              <a:rPr lang="en-US" altLang="zh-CN" dirty="0"/>
              <a:t> + T</a:t>
            </a:r>
            <a:r>
              <a:rPr lang="en-US" altLang="zh-CN" baseline="-25000" dirty="0"/>
              <a:t>A</a:t>
            </a:r>
            <a:r>
              <a:rPr lang="en-US" altLang="zh-CN" dirty="0"/>
              <a:t> + T</a:t>
            </a:r>
            <a:r>
              <a:rPr lang="en-US" altLang="zh-CN" baseline="-25000" dirty="0"/>
              <a:t>R</a:t>
            </a:r>
            <a:r>
              <a:rPr lang="en-US" altLang="zh-CN" dirty="0"/>
              <a:t>+2T</a:t>
            </a:r>
            <a:r>
              <a:rPr lang="en-US" altLang="zh-CN" baseline="-25000" dirty="0"/>
              <a:t>M</a:t>
            </a:r>
            <a:endParaRPr lang="en-US" altLang="zh-CN" baseline="-25000" dirty="0"/>
          </a:p>
          <a:p>
            <a:pPr marL="0" indent="0" eaLnBrk="1" hangingPunct="1">
              <a:lnSpc>
                <a:spcPct val="90000"/>
              </a:lnSpc>
              <a:buFont typeface="Wingdings 2" charset="2"/>
              <a:buNone/>
            </a:pPr>
            <a:r>
              <a:rPr lang="en-US" altLang="zh-CN" dirty="0" err="1"/>
              <a:t>t</a:t>
            </a:r>
            <a:r>
              <a:rPr lang="en-US" altLang="zh-CN" baseline="-25000" dirty="0" err="1"/>
              <a:t>B</a:t>
            </a:r>
            <a:r>
              <a:rPr lang="en-US" altLang="zh-CN" dirty="0"/>
              <a:t> = 2T</a:t>
            </a:r>
            <a:r>
              <a:rPr lang="en-US" altLang="zh-CN" baseline="-25000" dirty="0"/>
              <a:t>DC</a:t>
            </a:r>
            <a:r>
              <a:rPr lang="en-US" altLang="zh-CN" dirty="0"/>
              <a:t> + T</a:t>
            </a:r>
            <a:r>
              <a:rPr lang="en-US" altLang="zh-CN" baseline="-25000" dirty="0"/>
              <a:t>S</a:t>
            </a:r>
            <a:r>
              <a:rPr lang="en-US" altLang="zh-CN" dirty="0"/>
              <a:t> + T</a:t>
            </a:r>
            <a:r>
              <a:rPr lang="en-US" altLang="zh-CN" baseline="-25000" dirty="0"/>
              <a:t>B</a:t>
            </a:r>
            <a:r>
              <a:rPr lang="en-US" altLang="zh-CN" dirty="0"/>
              <a:t> + T</a:t>
            </a:r>
            <a:r>
              <a:rPr lang="en-US" altLang="zh-CN" baseline="-25000" dirty="0"/>
              <a:t>R</a:t>
            </a:r>
            <a:r>
              <a:rPr lang="en-US" altLang="zh-CN" dirty="0"/>
              <a:t>+2T</a:t>
            </a:r>
            <a:r>
              <a:rPr lang="en-US" altLang="zh-CN" baseline="-25000" dirty="0"/>
              <a:t>M</a:t>
            </a:r>
            <a:endParaRPr lang="en-US" altLang="zh-CN" baseline="-25000" dirty="0"/>
          </a:p>
          <a:p>
            <a:pPr marL="0" indent="0" eaLnBrk="1" hangingPunct="1">
              <a:lnSpc>
                <a:spcPct val="90000"/>
              </a:lnSpc>
              <a:buFont typeface="Wingdings 2" charset="2"/>
              <a:buNone/>
            </a:pPr>
            <a:r>
              <a:rPr lang="en-US" altLang="zh-CN" dirty="0" err="1"/>
              <a:t>t</a:t>
            </a:r>
            <a:r>
              <a:rPr lang="en-US" altLang="zh-CN" baseline="-25000" dirty="0" err="1"/>
              <a:t>C</a:t>
            </a:r>
            <a:r>
              <a:rPr lang="en-US" altLang="zh-CN" dirty="0"/>
              <a:t> = 3T</a:t>
            </a:r>
            <a:r>
              <a:rPr lang="en-US" altLang="zh-CN" baseline="-25000" dirty="0"/>
              <a:t>DC</a:t>
            </a:r>
            <a:r>
              <a:rPr lang="en-US" altLang="zh-CN" dirty="0"/>
              <a:t> + T</a:t>
            </a:r>
            <a:r>
              <a:rPr lang="en-US" altLang="zh-CN" baseline="-25000" dirty="0"/>
              <a:t>S</a:t>
            </a:r>
            <a:r>
              <a:rPr lang="en-US" altLang="zh-CN" dirty="0"/>
              <a:t> + T</a:t>
            </a:r>
            <a:r>
              <a:rPr lang="en-US" altLang="zh-CN" baseline="-25000" dirty="0"/>
              <a:t>C</a:t>
            </a:r>
            <a:r>
              <a:rPr lang="en-US" altLang="zh-CN" dirty="0"/>
              <a:t> + T</a:t>
            </a:r>
            <a:r>
              <a:rPr lang="en-US" altLang="zh-CN" baseline="-25000" dirty="0"/>
              <a:t>R</a:t>
            </a:r>
            <a:r>
              <a:rPr lang="en-US" altLang="zh-CN" dirty="0"/>
              <a:t>+2T</a:t>
            </a:r>
            <a:r>
              <a:rPr lang="en-US" altLang="zh-CN" baseline="-25000" dirty="0"/>
              <a:t>M</a:t>
            </a:r>
            <a:r>
              <a:rPr lang="en-US" altLang="zh-CN" dirty="0"/>
              <a:t> </a:t>
            </a:r>
            <a:endParaRPr lang="en-US" altLang="zh-CN" baseline="-25000" dirty="0"/>
          </a:p>
          <a:p>
            <a:pPr marL="0" indent="0" eaLnBrk="1" hangingPunct="1">
              <a:lnSpc>
                <a:spcPct val="90000"/>
              </a:lnSpc>
              <a:buFont typeface="Wingdings 2" charset="2"/>
              <a:buNone/>
            </a:pPr>
            <a:r>
              <a:rPr lang="en-US" altLang="zh-CN" dirty="0"/>
              <a:t>2T</a:t>
            </a:r>
            <a:r>
              <a:rPr lang="en-US" altLang="zh-CN" baseline="-25000" dirty="0"/>
              <a:t>M</a:t>
            </a:r>
            <a:r>
              <a:rPr lang="zh-CN" altLang="en-US" dirty="0"/>
              <a:t>表示取指令并执行指令的时间</a:t>
            </a:r>
            <a:endParaRPr lang="en-US" altLang="zh-CN" baseline="-25000" dirty="0"/>
          </a:p>
          <a:p>
            <a:pPr marL="0" indent="0" eaLnBrk="1" hangingPunct="1">
              <a:lnSpc>
                <a:spcPct val="90000"/>
              </a:lnSpc>
              <a:buFont typeface="Wingdings 2" charset="2"/>
              <a:buNone/>
            </a:pPr>
            <a:r>
              <a:rPr lang="zh-CN" altLang="en-US" dirty="0"/>
              <a:t>处理三个设备所需的总时间为：</a:t>
            </a:r>
            <a:r>
              <a:rPr lang="en-US" altLang="zh-CN" dirty="0"/>
              <a:t>T=</a:t>
            </a:r>
            <a:r>
              <a:rPr lang="en-US" altLang="zh-CN" dirty="0" err="1"/>
              <a:t>t</a:t>
            </a:r>
            <a:r>
              <a:rPr lang="en-US" altLang="zh-CN" baseline="-25000" dirty="0" err="1"/>
              <a:t>A</a:t>
            </a:r>
            <a:r>
              <a:rPr lang="en-US" altLang="zh-CN" dirty="0" err="1"/>
              <a:t>+t</a:t>
            </a:r>
            <a:r>
              <a:rPr lang="en-US" altLang="zh-CN" baseline="-25000" dirty="0" err="1"/>
              <a:t>B</a:t>
            </a:r>
            <a:r>
              <a:rPr lang="en-US" altLang="zh-CN" dirty="0" err="1"/>
              <a:t>+t</a:t>
            </a:r>
            <a:r>
              <a:rPr lang="en-US" altLang="zh-CN" baseline="-25000" dirty="0" err="1"/>
              <a:t>C</a:t>
            </a:r>
            <a:endParaRPr lang="en-US" altLang="zh-CN" baseline="-25000" dirty="0"/>
          </a:p>
          <a:p>
            <a:pPr marL="0" indent="0" eaLnBrk="1" hangingPunct="1">
              <a:lnSpc>
                <a:spcPct val="90000"/>
              </a:lnSpc>
              <a:buFont typeface="Wingdings 2" charset="2"/>
              <a:buNone/>
            </a:pPr>
            <a:r>
              <a:rPr lang="en-US" altLang="zh-CN" dirty="0"/>
              <a:t>T</a:t>
            </a:r>
            <a:r>
              <a:rPr lang="zh-CN" altLang="en-US" dirty="0"/>
              <a:t>是达到中断饱和的最小时间，即中断极限频率为：</a:t>
            </a:r>
            <a:r>
              <a:rPr lang="en-US" altLang="zh-CN" dirty="0"/>
              <a:t>f=1/T</a:t>
            </a:r>
            <a:endParaRPr lang="en-US" altLang="zh-CN" dirty="0"/>
          </a:p>
          <a:p>
            <a:pPr marL="0" indent="0" eaLnBrk="1" hangingPunct="1">
              <a:lnSpc>
                <a:spcPct val="90000"/>
              </a:lnSpc>
            </a:pPr>
            <a:endParaRPr lang="en-US" altLang="zh-CN" dirty="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9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中断控制器</a:t>
            </a:r>
            <a:endParaRPr lang="zh-CN" altLang="en-US" dirty="0"/>
          </a:p>
        </p:txBody>
      </p:sp>
      <p:sp>
        <p:nvSpPr>
          <p:cNvPr id="58371" name="内容占位符 2"/>
          <p:cNvSpPr>
            <a:spLocks noGrp="1" noChangeArrowheads="1"/>
          </p:cNvSpPr>
          <p:nvPr>
            <p:ph idx="1"/>
          </p:nvPr>
        </p:nvSpPr>
        <p:spPr/>
        <p:txBody>
          <a:bodyPr/>
          <a:lstStyle/>
          <a:p>
            <a:endParaRPr lang="zh-CN" altLang="en-US"/>
          </a:p>
        </p:txBody>
      </p:sp>
      <p:sp>
        <p:nvSpPr>
          <p:cNvPr id="58373" name="Line 2"/>
          <p:cNvSpPr>
            <a:spLocks noChangeShapeType="1"/>
          </p:cNvSpPr>
          <p:nvPr/>
        </p:nvSpPr>
        <p:spPr bwMode="auto">
          <a:xfrm>
            <a:off x="2971800" y="1905000"/>
            <a:ext cx="0" cy="3124200"/>
          </a:xfrm>
          <a:prstGeom prst="line">
            <a:avLst/>
          </a:prstGeom>
          <a:noFill/>
          <a:ln w="28575">
            <a:solidFill>
              <a:srgbClr val="000080"/>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374" name="Line 3"/>
          <p:cNvSpPr>
            <a:spLocks noChangeShapeType="1"/>
          </p:cNvSpPr>
          <p:nvPr/>
        </p:nvSpPr>
        <p:spPr bwMode="auto">
          <a:xfrm>
            <a:off x="2971800" y="1905000"/>
            <a:ext cx="1143000" cy="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375" name="Line 4"/>
          <p:cNvSpPr>
            <a:spLocks noChangeShapeType="1"/>
          </p:cNvSpPr>
          <p:nvPr/>
        </p:nvSpPr>
        <p:spPr bwMode="auto">
          <a:xfrm>
            <a:off x="6096000" y="2438400"/>
            <a:ext cx="0" cy="990600"/>
          </a:xfrm>
          <a:prstGeom prst="line">
            <a:avLst/>
          </a:prstGeom>
          <a:noFill/>
          <a:ln w="28575">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376" name="Line 5"/>
          <p:cNvSpPr>
            <a:spLocks noChangeShapeType="1"/>
          </p:cNvSpPr>
          <p:nvPr/>
        </p:nvSpPr>
        <p:spPr bwMode="auto">
          <a:xfrm>
            <a:off x="4876800" y="2438400"/>
            <a:ext cx="0" cy="99060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377" name="Line 6"/>
          <p:cNvSpPr>
            <a:spLocks noChangeShapeType="1"/>
          </p:cNvSpPr>
          <p:nvPr/>
        </p:nvSpPr>
        <p:spPr bwMode="auto">
          <a:xfrm flipV="1">
            <a:off x="7391400" y="2438400"/>
            <a:ext cx="0" cy="99060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378" name="AutoShape 7"/>
          <p:cNvSpPr>
            <a:spLocks noChangeArrowheads="1"/>
          </p:cNvSpPr>
          <p:nvPr/>
        </p:nvSpPr>
        <p:spPr bwMode="auto">
          <a:xfrm>
            <a:off x="7543800" y="2971800"/>
            <a:ext cx="304800" cy="457200"/>
          </a:xfrm>
          <a:prstGeom prst="upArrow">
            <a:avLst>
              <a:gd name="adj1" fmla="val 50000"/>
              <a:gd name="adj2" fmla="val 37500"/>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79" name="AutoShape 8"/>
          <p:cNvSpPr>
            <a:spLocks noChangeArrowheads="1"/>
          </p:cNvSpPr>
          <p:nvPr/>
        </p:nvSpPr>
        <p:spPr bwMode="auto">
          <a:xfrm>
            <a:off x="2667000" y="2209800"/>
            <a:ext cx="533400" cy="304800"/>
          </a:xfrm>
          <a:prstGeom prst="leftRightArrow">
            <a:avLst>
              <a:gd name="adj1" fmla="val 50000"/>
              <a:gd name="adj2" fmla="val 54688"/>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80" name="AutoShape 9"/>
          <p:cNvSpPr>
            <a:spLocks noChangeArrowheads="1"/>
          </p:cNvSpPr>
          <p:nvPr/>
        </p:nvSpPr>
        <p:spPr bwMode="auto">
          <a:xfrm>
            <a:off x="3429000" y="1981200"/>
            <a:ext cx="685800" cy="304800"/>
          </a:xfrm>
          <a:prstGeom prst="leftRightArrow">
            <a:avLst>
              <a:gd name="adj1" fmla="val 50000"/>
              <a:gd name="adj2" fmla="val 70313"/>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81" name="AutoShape 10"/>
          <p:cNvSpPr>
            <a:spLocks noChangeArrowheads="1"/>
          </p:cNvSpPr>
          <p:nvPr/>
        </p:nvSpPr>
        <p:spPr bwMode="auto">
          <a:xfrm>
            <a:off x="5181600" y="3962400"/>
            <a:ext cx="304800" cy="304800"/>
          </a:xfrm>
          <a:prstGeom prst="leftArrow">
            <a:avLst>
              <a:gd name="adj1" fmla="val 50000"/>
              <a:gd name="adj2" fmla="val 37500"/>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82" name="AutoShape 11"/>
          <p:cNvSpPr>
            <a:spLocks noChangeArrowheads="1"/>
          </p:cNvSpPr>
          <p:nvPr/>
        </p:nvSpPr>
        <p:spPr bwMode="auto">
          <a:xfrm>
            <a:off x="4419600" y="2971800"/>
            <a:ext cx="304800" cy="457200"/>
          </a:xfrm>
          <a:prstGeom prst="upArrow">
            <a:avLst>
              <a:gd name="adj1" fmla="val 50000"/>
              <a:gd name="adj2" fmla="val 50000"/>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83" name="Rectangle 13"/>
          <p:cNvSpPr>
            <a:spLocks noChangeArrowheads="1"/>
          </p:cNvSpPr>
          <p:nvPr/>
        </p:nvSpPr>
        <p:spPr bwMode="auto">
          <a:xfrm>
            <a:off x="1371600" y="1905000"/>
            <a:ext cx="1295400" cy="838200"/>
          </a:xfrm>
          <a:prstGeom prst="rect">
            <a:avLst/>
          </a:prstGeom>
          <a:gradFill rotWithShape="0">
            <a:gsLst>
              <a:gs pos="0">
                <a:srgbClr val="000076"/>
              </a:gs>
              <a:gs pos="50000">
                <a:srgbClr val="0000FF"/>
              </a:gs>
              <a:gs pos="100000">
                <a:srgbClr val="000076"/>
              </a:gs>
            </a:gsLst>
            <a:lin ang="18900000" scaled="1"/>
          </a:gra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数据总线</a:t>
            </a:r>
            <a:endParaRPr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缓冲器</a:t>
            </a:r>
            <a:endParaRPr lang="zh-CN" altLang="en-US" sz="4800" b="0">
              <a:ea typeface="楷体" panose="02010609060101010101" pitchFamily="49" charset="-122"/>
              <a:cs typeface="Times New Roman" panose="02020603050405020304" pitchFamily="18" charset="0"/>
            </a:endParaRPr>
          </a:p>
        </p:txBody>
      </p:sp>
      <p:sp>
        <p:nvSpPr>
          <p:cNvPr id="58384" name="Rectangle 14"/>
          <p:cNvSpPr>
            <a:spLocks noChangeArrowheads="1"/>
          </p:cNvSpPr>
          <p:nvPr/>
        </p:nvSpPr>
        <p:spPr bwMode="auto">
          <a:xfrm>
            <a:off x="1371600" y="3276600"/>
            <a:ext cx="1295400" cy="838200"/>
          </a:xfrm>
          <a:prstGeom prst="rect">
            <a:avLst/>
          </a:prstGeom>
          <a:gradFill rotWithShape="0">
            <a:gsLst>
              <a:gs pos="0">
                <a:srgbClr val="000076"/>
              </a:gs>
              <a:gs pos="50000">
                <a:srgbClr val="0000FF"/>
              </a:gs>
              <a:gs pos="100000">
                <a:srgbClr val="000076"/>
              </a:gs>
            </a:gsLst>
            <a:lin ang="18900000" scaled="1"/>
          </a:gra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读/写</a:t>
            </a:r>
            <a:endParaRPr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控制逻辑</a:t>
            </a:r>
            <a:endParaRPr lang="zh-CN" altLang="en-US" sz="4800" b="0">
              <a:ea typeface="楷体" panose="02010609060101010101" pitchFamily="49" charset="-122"/>
              <a:cs typeface="Times New Roman" panose="02020603050405020304" pitchFamily="18" charset="0"/>
            </a:endParaRPr>
          </a:p>
        </p:txBody>
      </p:sp>
      <p:sp>
        <p:nvSpPr>
          <p:cNvPr id="58385" name="Rectangle 15"/>
          <p:cNvSpPr>
            <a:spLocks noChangeArrowheads="1"/>
          </p:cNvSpPr>
          <p:nvPr/>
        </p:nvSpPr>
        <p:spPr bwMode="auto">
          <a:xfrm>
            <a:off x="1447800" y="4572000"/>
            <a:ext cx="1295400" cy="838200"/>
          </a:xfrm>
          <a:prstGeom prst="rect">
            <a:avLst/>
          </a:prstGeom>
          <a:gradFill rotWithShape="0">
            <a:gsLst>
              <a:gs pos="0">
                <a:srgbClr val="000076"/>
              </a:gs>
              <a:gs pos="50000">
                <a:srgbClr val="0000FF"/>
              </a:gs>
              <a:gs pos="100000">
                <a:srgbClr val="000076"/>
              </a:gs>
            </a:gsLst>
            <a:lin ang="18900000" scaled="1"/>
          </a:gra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级联缓冲/</a:t>
            </a:r>
            <a:endParaRPr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比较器</a:t>
            </a:r>
            <a:endParaRPr lang="zh-CN" altLang="en-US" sz="4800" b="0">
              <a:ea typeface="楷体" panose="02010609060101010101" pitchFamily="49" charset="-122"/>
              <a:cs typeface="Times New Roman" panose="02020603050405020304" pitchFamily="18" charset="0"/>
            </a:endParaRPr>
          </a:p>
        </p:txBody>
      </p:sp>
      <p:sp>
        <p:nvSpPr>
          <p:cNvPr id="58386" name="Rectangle 16"/>
          <p:cNvSpPr>
            <a:spLocks noChangeArrowheads="1"/>
          </p:cNvSpPr>
          <p:nvPr/>
        </p:nvSpPr>
        <p:spPr bwMode="auto">
          <a:xfrm>
            <a:off x="4114800" y="1752600"/>
            <a:ext cx="3810000" cy="685800"/>
          </a:xfrm>
          <a:prstGeom prst="rect">
            <a:avLst/>
          </a:prstGeom>
          <a:gradFill rotWithShape="0">
            <a:gsLst>
              <a:gs pos="0">
                <a:srgbClr val="000076"/>
              </a:gs>
              <a:gs pos="50000">
                <a:srgbClr val="0000FF"/>
              </a:gs>
              <a:gs pos="100000">
                <a:srgbClr val="000076"/>
              </a:gs>
            </a:gsLst>
            <a:lin ang="18900000" scaled="1"/>
          </a:gra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控制逻辑</a:t>
            </a:r>
            <a:endParaRPr lang="zh-CN" altLang="en-US" sz="4800" b="0">
              <a:ea typeface="楷体" panose="02010609060101010101" pitchFamily="49" charset="-122"/>
              <a:cs typeface="Times New Roman" panose="02020603050405020304" pitchFamily="18" charset="0"/>
            </a:endParaRPr>
          </a:p>
        </p:txBody>
      </p:sp>
      <p:sp>
        <p:nvSpPr>
          <p:cNvPr id="58387" name="Rectangle 17"/>
          <p:cNvSpPr>
            <a:spLocks noChangeArrowheads="1"/>
          </p:cNvSpPr>
          <p:nvPr/>
        </p:nvSpPr>
        <p:spPr bwMode="auto">
          <a:xfrm>
            <a:off x="3886200" y="3429000"/>
            <a:ext cx="1295400" cy="1295400"/>
          </a:xfrm>
          <a:prstGeom prst="rect">
            <a:avLst/>
          </a:prstGeom>
          <a:gradFill rotWithShape="0">
            <a:gsLst>
              <a:gs pos="0">
                <a:srgbClr val="000076"/>
              </a:gs>
              <a:gs pos="50000">
                <a:srgbClr val="0000FF"/>
              </a:gs>
              <a:gs pos="100000">
                <a:srgbClr val="000076"/>
              </a:gs>
            </a:gsLst>
            <a:lin ang="18900000" scaled="1"/>
          </a:gra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正在服务</a:t>
            </a:r>
            <a:endParaRPr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寄存器</a:t>
            </a:r>
            <a:endParaRPr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en-US" altLang="zh-CN" sz="2400">
                <a:solidFill>
                  <a:schemeClr val="bg1"/>
                </a:solidFill>
                <a:ea typeface="楷体" panose="02010609060101010101" pitchFamily="49" charset="-122"/>
                <a:cs typeface="Times New Roman" panose="02020603050405020304" pitchFamily="18" charset="0"/>
              </a:rPr>
              <a:t>ISR</a:t>
            </a:r>
            <a:endParaRPr lang="en-US" altLang="zh-CN" sz="4800" b="0">
              <a:ea typeface="楷体" panose="02010609060101010101" pitchFamily="49" charset="-122"/>
              <a:cs typeface="Times New Roman" panose="02020603050405020304" pitchFamily="18" charset="0"/>
            </a:endParaRPr>
          </a:p>
        </p:txBody>
      </p:sp>
      <p:sp>
        <p:nvSpPr>
          <p:cNvPr id="58388" name="Rectangle 18"/>
          <p:cNvSpPr>
            <a:spLocks noChangeArrowheads="1"/>
          </p:cNvSpPr>
          <p:nvPr/>
        </p:nvSpPr>
        <p:spPr bwMode="auto">
          <a:xfrm>
            <a:off x="5486400" y="3429000"/>
            <a:ext cx="1295400" cy="1295400"/>
          </a:xfrm>
          <a:prstGeom prst="rect">
            <a:avLst/>
          </a:prstGeom>
          <a:gradFill rotWithShape="0">
            <a:gsLst>
              <a:gs pos="0">
                <a:srgbClr val="000076"/>
              </a:gs>
              <a:gs pos="50000">
                <a:srgbClr val="0000FF"/>
              </a:gs>
              <a:gs pos="100000">
                <a:srgbClr val="000076"/>
              </a:gs>
            </a:gsLst>
            <a:lin ang="18900000" scaled="1"/>
          </a:gra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优先权</a:t>
            </a:r>
            <a:endParaRPr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分析器</a:t>
            </a:r>
            <a:endParaRPr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en-US" altLang="zh-CN" sz="2400">
                <a:solidFill>
                  <a:schemeClr val="bg1"/>
                </a:solidFill>
                <a:ea typeface="楷体" panose="02010609060101010101" pitchFamily="49" charset="-122"/>
                <a:cs typeface="Times New Roman" panose="02020603050405020304" pitchFamily="18" charset="0"/>
              </a:rPr>
              <a:t>PR</a:t>
            </a:r>
            <a:endParaRPr lang="en-US" altLang="zh-CN" sz="4800" b="0">
              <a:ea typeface="楷体" panose="02010609060101010101" pitchFamily="49" charset="-122"/>
              <a:cs typeface="Times New Roman" panose="02020603050405020304" pitchFamily="18" charset="0"/>
            </a:endParaRPr>
          </a:p>
        </p:txBody>
      </p:sp>
      <p:sp>
        <p:nvSpPr>
          <p:cNvPr id="58389" name="Rectangle 19"/>
          <p:cNvSpPr>
            <a:spLocks noChangeArrowheads="1"/>
          </p:cNvSpPr>
          <p:nvPr/>
        </p:nvSpPr>
        <p:spPr bwMode="auto">
          <a:xfrm>
            <a:off x="7086600" y="3429000"/>
            <a:ext cx="1295400" cy="1295400"/>
          </a:xfrm>
          <a:prstGeom prst="rect">
            <a:avLst/>
          </a:prstGeom>
          <a:gradFill rotWithShape="0">
            <a:gsLst>
              <a:gs pos="0">
                <a:srgbClr val="000076"/>
              </a:gs>
              <a:gs pos="50000">
                <a:srgbClr val="0000FF"/>
              </a:gs>
              <a:gs pos="100000">
                <a:srgbClr val="000076"/>
              </a:gs>
            </a:gsLst>
            <a:lin ang="18900000" scaled="1"/>
          </a:gra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中断请求</a:t>
            </a:r>
            <a:endParaRPr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寄存器</a:t>
            </a:r>
            <a:endParaRPr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en-US" altLang="zh-CN" sz="2400">
                <a:solidFill>
                  <a:schemeClr val="bg1"/>
                </a:solidFill>
                <a:ea typeface="楷体" panose="02010609060101010101" pitchFamily="49" charset="-122"/>
                <a:cs typeface="Times New Roman" panose="02020603050405020304" pitchFamily="18" charset="0"/>
              </a:rPr>
              <a:t>IRR</a:t>
            </a:r>
            <a:endParaRPr lang="en-US" altLang="zh-CN" sz="4800" b="0">
              <a:ea typeface="楷体" panose="02010609060101010101" pitchFamily="49" charset="-122"/>
              <a:cs typeface="Times New Roman" panose="02020603050405020304" pitchFamily="18" charset="0"/>
            </a:endParaRPr>
          </a:p>
        </p:txBody>
      </p:sp>
      <p:sp>
        <p:nvSpPr>
          <p:cNvPr id="58390" name="Rectangle 20"/>
          <p:cNvSpPr>
            <a:spLocks noChangeArrowheads="1"/>
          </p:cNvSpPr>
          <p:nvPr/>
        </p:nvSpPr>
        <p:spPr bwMode="auto">
          <a:xfrm>
            <a:off x="3886200" y="5257800"/>
            <a:ext cx="4495800" cy="457200"/>
          </a:xfrm>
          <a:prstGeom prst="rect">
            <a:avLst/>
          </a:prstGeom>
          <a:gradFill rotWithShape="0">
            <a:gsLst>
              <a:gs pos="0">
                <a:srgbClr val="000076"/>
              </a:gs>
              <a:gs pos="50000">
                <a:srgbClr val="0000FF"/>
              </a:gs>
              <a:gs pos="100000">
                <a:srgbClr val="000076"/>
              </a:gs>
            </a:gsLst>
            <a:lin ang="18900000" scaled="1"/>
          </a:gra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ea typeface="楷体" panose="02010609060101010101" pitchFamily="49" charset="-122"/>
                <a:cs typeface="Times New Roman" panose="02020603050405020304" pitchFamily="18" charset="0"/>
              </a:rPr>
              <a:t>中断屏蔽寄存器</a:t>
            </a:r>
            <a:r>
              <a:rPr lang="en-US" altLang="en-US" sz="2400">
                <a:solidFill>
                  <a:schemeClr val="bg1"/>
                </a:solidFill>
                <a:ea typeface="楷体" panose="02010609060101010101" pitchFamily="49" charset="-122"/>
                <a:cs typeface="Times New Roman" panose="02020603050405020304" pitchFamily="18" charset="0"/>
              </a:rPr>
              <a:t>IMR</a:t>
            </a:r>
            <a:endParaRPr lang="en-US" altLang="zh-CN" sz="4800" b="0">
              <a:ea typeface="楷体" panose="02010609060101010101" pitchFamily="49" charset="-122"/>
              <a:cs typeface="Times New Roman" panose="02020603050405020304" pitchFamily="18" charset="0"/>
            </a:endParaRPr>
          </a:p>
        </p:txBody>
      </p:sp>
      <p:sp>
        <p:nvSpPr>
          <p:cNvPr id="58391" name="Rectangle 21"/>
          <p:cNvSpPr>
            <a:spLocks noChangeArrowheads="1"/>
          </p:cNvSpPr>
          <p:nvPr/>
        </p:nvSpPr>
        <p:spPr bwMode="auto">
          <a:xfrm>
            <a:off x="3200400" y="1524000"/>
            <a:ext cx="228600" cy="4267200"/>
          </a:xfrm>
          <a:prstGeom prst="rect">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92" name="Rectangle 22"/>
          <p:cNvSpPr>
            <a:spLocks noChangeArrowheads="1"/>
          </p:cNvSpPr>
          <p:nvPr/>
        </p:nvSpPr>
        <p:spPr bwMode="auto">
          <a:xfrm rot="-5400000">
            <a:off x="5791200" y="381000"/>
            <a:ext cx="228600" cy="4953000"/>
          </a:xfrm>
          <a:prstGeom prst="rect">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93" name="AutoShape 23"/>
          <p:cNvSpPr>
            <a:spLocks noChangeArrowheads="1"/>
          </p:cNvSpPr>
          <p:nvPr/>
        </p:nvSpPr>
        <p:spPr bwMode="auto">
          <a:xfrm>
            <a:off x="3429000" y="5334000"/>
            <a:ext cx="457200" cy="304800"/>
          </a:xfrm>
          <a:prstGeom prst="leftRightArrow">
            <a:avLst>
              <a:gd name="adj1" fmla="val 50000"/>
              <a:gd name="adj2" fmla="val 46875"/>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94" name="AutoShape 24"/>
          <p:cNvSpPr>
            <a:spLocks noChangeArrowheads="1"/>
          </p:cNvSpPr>
          <p:nvPr/>
        </p:nvSpPr>
        <p:spPr bwMode="auto">
          <a:xfrm>
            <a:off x="6781800" y="3962400"/>
            <a:ext cx="304800" cy="304800"/>
          </a:xfrm>
          <a:prstGeom prst="leftArrow">
            <a:avLst>
              <a:gd name="adj1" fmla="val 50000"/>
              <a:gd name="adj2" fmla="val 37500"/>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95" name="AutoShape 25"/>
          <p:cNvSpPr>
            <a:spLocks noChangeArrowheads="1"/>
          </p:cNvSpPr>
          <p:nvPr/>
        </p:nvSpPr>
        <p:spPr bwMode="auto">
          <a:xfrm>
            <a:off x="685800" y="2209800"/>
            <a:ext cx="685800" cy="304800"/>
          </a:xfrm>
          <a:prstGeom prst="leftRightArrow">
            <a:avLst>
              <a:gd name="adj1" fmla="val 50000"/>
              <a:gd name="adj2" fmla="val 70313"/>
            </a:avLst>
          </a:prstGeom>
          <a:solidFill>
            <a:srgbClr val="800000"/>
          </a:solidFill>
          <a:ln>
            <a:noFill/>
          </a:ln>
          <a:effectLst>
            <a:outerShdw dist="35921" dir="2700000" algn="ctr" rotWithShape="0">
              <a:srgbClr val="808080"/>
            </a:outerShdw>
          </a:effectLst>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396" name="Line 26"/>
          <p:cNvSpPr>
            <a:spLocks noChangeShapeType="1"/>
          </p:cNvSpPr>
          <p:nvPr/>
        </p:nvSpPr>
        <p:spPr bwMode="auto">
          <a:xfrm>
            <a:off x="8382000" y="3505200"/>
            <a:ext cx="533400" cy="0"/>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397" name="Text Box 27"/>
          <p:cNvSpPr txBox="1">
            <a:spLocks noChangeArrowheads="1"/>
          </p:cNvSpPr>
          <p:nvPr/>
        </p:nvSpPr>
        <p:spPr bwMode="auto">
          <a:xfrm>
            <a:off x="8534400" y="3276600"/>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IR0</a:t>
            </a:r>
            <a:endParaRPr lang="en-US" altLang="zh-CN" sz="1600" b="0">
              <a:ea typeface="楷体" panose="02010609060101010101" pitchFamily="49" charset="-122"/>
              <a:cs typeface="Times New Roman" panose="02020603050405020304" pitchFamily="18" charset="0"/>
            </a:endParaRPr>
          </a:p>
        </p:txBody>
      </p:sp>
      <p:sp>
        <p:nvSpPr>
          <p:cNvPr id="58398" name="Line 28"/>
          <p:cNvSpPr>
            <a:spLocks noChangeShapeType="1"/>
          </p:cNvSpPr>
          <p:nvPr/>
        </p:nvSpPr>
        <p:spPr bwMode="auto">
          <a:xfrm>
            <a:off x="8382000" y="3673475"/>
            <a:ext cx="533400" cy="0"/>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399" name="Text Box 29"/>
          <p:cNvSpPr txBox="1">
            <a:spLocks noChangeArrowheads="1"/>
          </p:cNvSpPr>
          <p:nvPr/>
        </p:nvSpPr>
        <p:spPr bwMode="auto">
          <a:xfrm>
            <a:off x="8534400" y="3429000"/>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IR1</a:t>
            </a:r>
            <a:endParaRPr lang="en-US" altLang="zh-CN" sz="1600" b="0">
              <a:ea typeface="楷体" panose="02010609060101010101" pitchFamily="49" charset="-122"/>
              <a:cs typeface="Times New Roman" panose="02020603050405020304" pitchFamily="18" charset="0"/>
            </a:endParaRPr>
          </a:p>
        </p:txBody>
      </p:sp>
      <p:sp>
        <p:nvSpPr>
          <p:cNvPr id="58400" name="Line 30"/>
          <p:cNvSpPr>
            <a:spLocks noChangeShapeType="1"/>
          </p:cNvSpPr>
          <p:nvPr/>
        </p:nvSpPr>
        <p:spPr bwMode="auto">
          <a:xfrm>
            <a:off x="8382000" y="3870325"/>
            <a:ext cx="533400" cy="0"/>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01" name="Text Box 31"/>
          <p:cNvSpPr txBox="1">
            <a:spLocks noChangeArrowheads="1"/>
          </p:cNvSpPr>
          <p:nvPr/>
        </p:nvSpPr>
        <p:spPr bwMode="auto">
          <a:xfrm>
            <a:off x="8534400" y="3657600"/>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IR2</a:t>
            </a:r>
            <a:endParaRPr lang="en-US" altLang="zh-CN" sz="1600" b="0">
              <a:ea typeface="楷体" panose="02010609060101010101" pitchFamily="49" charset="-122"/>
              <a:cs typeface="Times New Roman" panose="02020603050405020304" pitchFamily="18" charset="0"/>
            </a:endParaRPr>
          </a:p>
        </p:txBody>
      </p:sp>
      <p:sp>
        <p:nvSpPr>
          <p:cNvPr id="58402" name="Line 32"/>
          <p:cNvSpPr>
            <a:spLocks noChangeShapeType="1"/>
          </p:cNvSpPr>
          <p:nvPr/>
        </p:nvSpPr>
        <p:spPr bwMode="auto">
          <a:xfrm>
            <a:off x="8382000" y="4054475"/>
            <a:ext cx="533400" cy="0"/>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03" name="Text Box 33"/>
          <p:cNvSpPr txBox="1">
            <a:spLocks noChangeArrowheads="1"/>
          </p:cNvSpPr>
          <p:nvPr/>
        </p:nvSpPr>
        <p:spPr bwMode="auto">
          <a:xfrm>
            <a:off x="8534400" y="3810000"/>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IR3</a:t>
            </a:r>
            <a:endParaRPr lang="en-US" altLang="zh-CN" sz="1600" b="0">
              <a:ea typeface="楷体" panose="02010609060101010101" pitchFamily="49" charset="-122"/>
              <a:cs typeface="Times New Roman" panose="02020603050405020304" pitchFamily="18" charset="0"/>
            </a:endParaRPr>
          </a:p>
        </p:txBody>
      </p:sp>
      <p:sp>
        <p:nvSpPr>
          <p:cNvPr id="58404" name="Line 34"/>
          <p:cNvSpPr>
            <a:spLocks noChangeShapeType="1"/>
          </p:cNvSpPr>
          <p:nvPr/>
        </p:nvSpPr>
        <p:spPr bwMode="auto">
          <a:xfrm>
            <a:off x="8382000" y="4251325"/>
            <a:ext cx="533400" cy="0"/>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05" name="Text Box 35"/>
          <p:cNvSpPr txBox="1">
            <a:spLocks noChangeArrowheads="1"/>
          </p:cNvSpPr>
          <p:nvPr/>
        </p:nvSpPr>
        <p:spPr bwMode="auto">
          <a:xfrm>
            <a:off x="8540750" y="4038600"/>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IR4</a:t>
            </a:r>
            <a:endParaRPr lang="en-US" altLang="zh-CN" sz="1600" b="0">
              <a:ea typeface="楷体" panose="02010609060101010101" pitchFamily="49" charset="-122"/>
              <a:cs typeface="Times New Roman" panose="02020603050405020304" pitchFamily="18" charset="0"/>
            </a:endParaRPr>
          </a:p>
        </p:txBody>
      </p:sp>
      <p:sp>
        <p:nvSpPr>
          <p:cNvPr id="58406" name="Line 36"/>
          <p:cNvSpPr>
            <a:spLocks noChangeShapeType="1"/>
          </p:cNvSpPr>
          <p:nvPr/>
        </p:nvSpPr>
        <p:spPr bwMode="auto">
          <a:xfrm>
            <a:off x="8382000" y="4403725"/>
            <a:ext cx="533400" cy="0"/>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07" name="Text Box 37"/>
          <p:cNvSpPr txBox="1">
            <a:spLocks noChangeArrowheads="1"/>
          </p:cNvSpPr>
          <p:nvPr/>
        </p:nvSpPr>
        <p:spPr bwMode="auto">
          <a:xfrm>
            <a:off x="8534400" y="4191000"/>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IR5</a:t>
            </a:r>
            <a:endParaRPr lang="en-US" altLang="zh-CN" sz="1600" b="0">
              <a:ea typeface="楷体" panose="02010609060101010101" pitchFamily="49" charset="-122"/>
              <a:cs typeface="Times New Roman" panose="02020603050405020304" pitchFamily="18" charset="0"/>
            </a:endParaRPr>
          </a:p>
        </p:txBody>
      </p:sp>
      <p:sp>
        <p:nvSpPr>
          <p:cNvPr id="58408" name="Line 38"/>
          <p:cNvSpPr>
            <a:spLocks noChangeShapeType="1"/>
          </p:cNvSpPr>
          <p:nvPr/>
        </p:nvSpPr>
        <p:spPr bwMode="auto">
          <a:xfrm>
            <a:off x="8382000" y="4556125"/>
            <a:ext cx="533400" cy="0"/>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09" name="Text Box 39"/>
          <p:cNvSpPr txBox="1">
            <a:spLocks noChangeArrowheads="1"/>
          </p:cNvSpPr>
          <p:nvPr/>
        </p:nvSpPr>
        <p:spPr bwMode="auto">
          <a:xfrm>
            <a:off x="8534400" y="4343400"/>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IR6</a:t>
            </a:r>
            <a:endParaRPr lang="en-US" altLang="zh-CN" sz="1600" b="0">
              <a:ea typeface="楷体" panose="02010609060101010101" pitchFamily="49" charset="-122"/>
              <a:cs typeface="Times New Roman" panose="02020603050405020304" pitchFamily="18" charset="0"/>
            </a:endParaRPr>
          </a:p>
        </p:txBody>
      </p:sp>
      <p:sp>
        <p:nvSpPr>
          <p:cNvPr id="58410" name="Line 40"/>
          <p:cNvSpPr>
            <a:spLocks noChangeShapeType="1"/>
          </p:cNvSpPr>
          <p:nvPr/>
        </p:nvSpPr>
        <p:spPr bwMode="auto">
          <a:xfrm>
            <a:off x="8382000" y="4708525"/>
            <a:ext cx="533400" cy="0"/>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11" name="Text Box 41"/>
          <p:cNvSpPr txBox="1">
            <a:spLocks noChangeArrowheads="1"/>
          </p:cNvSpPr>
          <p:nvPr/>
        </p:nvSpPr>
        <p:spPr bwMode="auto">
          <a:xfrm>
            <a:off x="8534400" y="4495800"/>
            <a:ext cx="450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IR7</a:t>
            </a:r>
            <a:endParaRPr lang="en-US" altLang="zh-CN" sz="1600" b="0">
              <a:ea typeface="楷体" panose="02010609060101010101" pitchFamily="49" charset="-122"/>
              <a:cs typeface="Times New Roman" panose="02020603050405020304" pitchFamily="18" charset="0"/>
            </a:endParaRPr>
          </a:p>
        </p:txBody>
      </p:sp>
      <p:sp>
        <p:nvSpPr>
          <p:cNvPr id="58412" name="Line 42"/>
          <p:cNvSpPr>
            <a:spLocks noChangeShapeType="1"/>
          </p:cNvSpPr>
          <p:nvPr/>
        </p:nvSpPr>
        <p:spPr bwMode="auto">
          <a:xfrm flipV="1">
            <a:off x="7086600" y="1371600"/>
            <a:ext cx="0" cy="38100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13" name="Line 43"/>
          <p:cNvSpPr>
            <a:spLocks noChangeShapeType="1"/>
          </p:cNvSpPr>
          <p:nvPr/>
        </p:nvSpPr>
        <p:spPr bwMode="auto">
          <a:xfrm flipV="1">
            <a:off x="4953000" y="1371600"/>
            <a:ext cx="0" cy="304800"/>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14" name="Oval 44"/>
          <p:cNvSpPr>
            <a:spLocks noChangeArrowheads="1"/>
          </p:cNvSpPr>
          <p:nvPr/>
        </p:nvSpPr>
        <p:spPr bwMode="auto">
          <a:xfrm>
            <a:off x="4876800" y="1676400"/>
            <a:ext cx="152400" cy="76200"/>
          </a:xfrm>
          <a:prstGeom prst="ellipse">
            <a:avLst/>
          </a:prstGeom>
          <a:noFill/>
          <a:ln w="28575">
            <a:solidFill>
              <a:srgbClr val="00008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415" name="Text Box 45"/>
          <p:cNvSpPr txBox="1">
            <a:spLocks noChangeArrowheads="1"/>
          </p:cNvSpPr>
          <p:nvPr/>
        </p:nvSpPr>
        <p:spPr bwMode="auto">
          <a:xfrm>
            <a:off x="6843713" y="11430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宋体" panose="02010600030101010101" pitchFamily="2" charset="-122"/>
              </a:rPr>
              <a:t>INT</a:t>
            </a:r>
            <a:endParaRPr lang="en-US" altLang="zh-CN" sz="1600" b="0">
              <a:ea typeface="宋体" panose="02010600030101010101" pitchFamily="2" charset="-122"/>
            </a:endParaRPr>
          </a:p>
        </p:txBody>
      </p:sp>
      <p:sp>
        <p:nvSpPr>
          <p:cNvPr id="58416" name="Text Box 46"/>
          <p:cNvSpPr txBox="1">
            <a:spLocks noChangeArrowheads="1"/>
          </p:cNvSpPr>
          <p:nvPr/>
        </p:nvSpPr>
        <p:spPr bwMode="auto">
          <a:xfrm>
            <a:off x="4660900" y="1143000"/>
            <a:ext cx="6080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宋体" panose="02010600030101010101" pitchFamily="2" charset="-122"/>
              </a:rPr>
              <a:t>INTA</a:t>
            </a:r>
            <a:endParaRPr lang="en-US" altLang="zh-CN" sz="1600" b="0">
              <a:ea typeface="宋体" panose="02010600030101010101" pitchFamily="2" charset="-122"/>
            </a:endParaRPr>
          </a:p>
        </p:txBody>
      </p:sp>
      <p:sp>
        <p:nvSpPr>
          <p:cNvPr id="58417" name="Line 47"/>
          <p:cNvSpPr>
            <a:spLocks noChangeShapeType="1"/>
          </p:cNvSpPr>
          <p:nvPr/>
        </p:nvSpPr>
        <p:spPr bwMode="auto">
          <a:xfrm>
            <a:off x="4724400" y="1143000"/>
            <a:ext cx="457200" cy="0"/>
          </a:xfrm>
          <a:prstGeom prst="line">
            <a:avLst/>
          </a:prstGeom>
          <a:noFill/>
          <a:ln w="28575">
            <a:solidFill>
              <a:srgbClr val="8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18" name="Text Box 48"/>
          <p:cNvSpPr txBox="1">
            <a:spLocks noChangeArrowheads="1"/>
          </p:cNvSpPr>
          <p:nvPr/>
        </p:nvSpPr>
        <p:spPr bwMode="auto">
          <a:xfrm>
            <a:off x="158111" y="2208312"/>
            <a:ext cx="5918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D0~7</a:t>
            </a:r>
            <a:endParaRPr lang="en-US" altLang="zh-CN" sz="1600" b="0">
              <a:ea typeface="楷体" panose="02010609060101010101" pitchFamily="49" charset="-122"/>
              <a:cs typeface="Times New Roman" panose="02020603050405020304" pitchFamily="18" charset="0"/>
            </a:endParaRPr>
          </a:p>
        </p:txBody>
      </p:sp>
      <p:sp>
        <p:nvSpPr>
          <p:cNvPr id="58419" name="Line 49"/>
          <p:cNvSpPr>
            <a:spLocks noChangeShapeType="1"/>
          </p:cNvSpPr>
          <p:nvPr/>
        </p:nvSpPr>
        <p:spPr bwMode="auto">
          <a:xfrm>
            <a:off x="685800" y="3352800"/>
            <a:ext cx="609600" cy="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20" name="Oval 50"/>
          <p:cNvSpPr>
            <a:spLocks noChangeArrowheads="1"/>
          </p:cNvSpPr>
          <p:nvPr/>
        </p:nvSpPr>
        <p:spPr bwMode="auto">
          <a:xfrm flipH="1">
            <a:off x="1295400" y="3276600"/>
            <a:ext cx="76200" cy="152400"/>
          </a:xfrm>
          <a:prstGeom prst="ellipse">
            <a:avLst/>
          </a:prstGeom>
          <a:noFill/>
          <a:ln w="28575">
            <a:solidFill>
              <a:srgbClr val="00008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421" name="Line 51"/>
          <p:cNvSpPr>
            <a:spLocks noChangeShapeType="1"/>
          </p:cNvSpPr>
          <p:nvPr/>
        </p:nvSpPr>
        <p:spPr bwMode="auto">
          <a:xfrm>
            <a:off x="685800" y="3581400"/>
            <a:ext cx="609600" cy="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22" name="Oval 52"/>
          <p:cNvSpPr>
            <a:spLocks noChangeArrowheads="1"/>
          </p:cNvSpPr>
          <p:nvPr/>
        </p:nvSpPr>
        <p:spPr bwMode="auto">
          <a:xfrm flipH="1">
            <a:off x="1295400" y="3505200"/>
            <a:ext cx="76200" cy="152400"/>
          </a:xfrm>
          <a:prstGeom prst="ellipse">
            <a:avLst/>
          </a:prstGeom>
          <a:noFill/>
          <a:ln w="28575">
            <a:solidFill>
              <a:srgbClr val="00008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423" name="Line 53"/>
          <p:cNvSpPr>
            <a:spLocks noChangeShapeType="1"/>
          </p:cNvSpPr>
          <p:nvPr/>
        </p:nvSpPr>
        <p:spPr bwMode="auto">
          <a:xfrm>
            <a:off x="685800" y="3810000"/>
            <a:ext cx="685800" cy="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24" name="Line 54"/>
          <p:cNvSpPr>
            <a:spLocks noChangeShapeType="1"/>
          </p:cNvSpPr>
          <p:nvPr/>
        </p:nvSpPr>
        <p:spPr bwMode="auto">
          <a:xfrm>
            <a:off x="685800" y="4038600"/>
            <a:ext cx="609600" cy="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25" name="Oval 55"/>
          <p:cNvSpPr>
            <a:spLocks noChangeArrowheads="1"/>
          </p:cNvSpPr>
          <p:nvPr/>
        </p:nvSpPr>
        <p:spPr bwMode="auto">
          <a:xfrm flipH="1">
            <a:off x="1295400" y="3962400"/>
            <a:ext cx="76200" cy="152400"/>
          </a:xfrm>
          <a:prstGeom prst="ellipse">
            <a:avLst/>
          </a:prstGeom>
          <a:noFill/>
          <a:ln w="28575">
            <a:solidFill>
              <a:srgbClr val="00008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426" name="Text Box 56"/>
          <p:cNvSpPr txBox="1">
            <a:spLocks noChangeArrowheads="1"/>
          </p:cNvSpPr>
          <p:nvPr/>
        </p:nvSpPr>
        <p:spPr bwMode="auto">
          <a:xfrm>
            <a:off x="328733" y="3122712"/>
            <a:ext cx="4347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RD</a:t>
            </a:r>
            <a:endParaRPr lang="en-US" altLang="zh-CN" sz="1600" b="0">
              <a:ea typeface="楷体" panose="02010609060101010101" pitchFamily="49" charset="-122"/>
              <a:cs typeface="Times New Roman" panose="02020603050405020304" pitchFamily="18" charset="0"/>
            </a:endParaRPr>
          </a:p>
        </p:txBody>
      </p:sp>
      <p:sp>
        <p:nvSpPr>
          <p:cNvPr id="58427" name="Text Box 57"/>
          <p:cNvSpPr txBox="1">
            <a:spLocks noChangeArrowheads="1"/>
          </p:cNvSpPr>
          <p:nvPr/>
        </p:nvSpPr>
        <p:spPr bwMode="auto">
          <a:xfrm>
            <a:off x="309489" y="3427512"/>
            <a:ext cx="47481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WR</a:t>
            </a:r>
            <a:endParaRPr lang="en-US" altLang="zh-CN" sz="1600" b="0">
              <a:ea typeface="楷体" panose="02010609060101010101" pitchFamily="49" charset="-122"/>
              <a:cs typeface="Times New Roman" panose="02020603050405020304" pitchFamily="18" charset="0"/>
            </a:endParaRPr>
          </a:p>
        </p:txBody>
      </p:sp>
      <p:sp>
        <p:nvSpPr>
          <p:cNvPr id="58428" name="Text Box 58"/>
          <p:cNvSpPr txBox="1">
            <a:spLocks noChangeArrowheads="1"/>
          </p:cNvSpPr>
          <p:nvPr/>
        </p:nvSpPr>
        <p:spPr bwMode="auto">
          <a:xfrm>
            <a:off x="303480" y="3656112"/>
            <a:ext cx="4042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A0</a:t>
            </a:r>
            <a:endParaRPr lang="en-US" altLang="zh-CN" sz="1600" b="0">
              <a:ea typeface="楷体" panose="02010609060101010101" pitchFamily="49" charset="-122"/>
              <a:cs typeface="Times New Roman" panose="02020603050405020304" pitchFamily="18" charset="0"/>
            </a:endParaRPr>
          </a:p>
        </p:txBody>
      </p:sp>
      <p:sp>
        <p:nvSpPr>
          <p:cNvPr id="58429" name="Text Box 59"/>
          <p:cNvSpPr txBox="1">
            <a:spLocks noChangeArrowheads="1"/>
          </p:cNvSpPr>
          <p:nvPr/>
        </p:nvSpPr>
        <p:spPr bwMode="auto">
          <a:xfrm>
            <a:off x="303480" y="3884712"/>
            <a:ext cx="4042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CS</a:t>
            </a:r>
            <a:endParaRPr lang="en-US" altLang="zh-CN" sz="1600" b="0">
              <a:ea typeface="楷体" panose="02010609060101010101" pitchFamily="49" charset="-122"/>
              <a:cs typeface="Times New Roman" panose="02020603050405020304" pitchFamily="18" charset="0"/>
            </a:endParaRPr>
          </a:p>
        </p:txBody>
      </p:sp>
      <p:sp>
        <p:nvSpPr>
          <p:cNvPr id="58430" name="Line 60"/>
          <p:cNvSpPr>
            <a:spLocks noChangeShapeType="1"/>
          </p:cNvSpPr>
          <p:nvPr/>
        </p:nvSpPr>
        <p:spPr bwMode="auto">
          <a:xfrm>
            <a:off x="381000" y="3200400"/>
            <a:ext cx="304800" cy="0"/>
          </a:xfrm>
          <a:prstGeom prst="line">
            <a:avLst/>
          </a:prstGeom>
          <a:noFill/>
          <a:ln w="19050">
            <a:solidFill>
              <a:srgbClr val="800000"/>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31" name="Line 61"/>
          <p:cNvSpPr>
            <a:spLocks noChangeShapeType="1"/>
          </p:cNvSpPr>
          <p:nvPr/>
        </p:nvSpPr>
        <p:spPr bwMode="auto">
          <a:xfrm>
            <a:off x="381000" y="3505200"/>
            <a:ext cx="304800" cy="0"/>
          </a:xfrm>
          <a:prstGeom prst="line">
            <a:avLst/>
          </a:prstGeom>
          <a:noFill/>
          <a:ln w="19050">
            <a:solidFill>
              <a:srgbClr val="800000"/>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32" name="Line 62"/>
          <p:cNvSpPr>
            <a:spLocks noChangeShapeType="1"/>
          </p:cNvSpPr>
          <p:nvPr/>
        </p:nvSpPr>
        <p:spPr bwMode="auto">
          <a:xfrm>
            <a:off x="381000" y="3962400"/>
            <a:ext cx="304800" cy="0"/>
          </a:xfrm>
          <a:prstGeom prst="line">
            <a:avLst/>
          </a:prstGeom>
          <a:noFill/>
          <a:ln w="19050">
            <a:solidFill>
              <a:srgbClr val="800000"/>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33" name="Line 63"/>
          <p:cNvSpPr>
            <a:spLocks noChangeShapeType="1"/>
          </p:cNvSpPr>
          <p:nvPr/>
        </p:nvSpPr>
        <p:spPr bwMode="auto">
          <a:xfrm>
            <a:off x="762000" y="4724400"/>
            <a:ext cx="685800" cy="0"/>
          </a:xfrm>
          <a:prstGeom prst="line">
            <a:avLst/>
          </a:prstGeom>
          <a:noFill/>
          <a:ln w="28575">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34" name="Line 64"/>
          <p:cNvSpPr>
            <a:spLocks noChangeShapeType="1"/>
          </p:cNvSpPr>
          <p:nvPr/>
        </p:nvSpPr>
        <p:spPr bwMode="auto">
          <a:xfrm>
            <a:off x="762000" y="4953000"/>
            <a:ext cx="685800" cy="0"/>
          </a:xfrm>
          <a:prstGeom prst="line">
            <a:avLst/>
          </a:prstGeom>
          <a:noFill/>
          <a:ln w="28575">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35" name="Line 65"/>
          <p:cNvSpPr>
            <a:spLocks noChangeShapeType="1"/>
          </p:cNvSpPr>
          <p:nvPr/>
        </p:nvSpPr>
        <p:spPr bwMode="auto">
          <a:xfrm>
            <a:off x="762000" y="5181600"/>
            <a:ext cx="685800" cy="0"/>
          </a:xfrm>
          <a:prstGeom prst="line">
            <a:avLst/>
          </a:prstGeom>
          <a:noFill/>
          <a:ln w="28575">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36" name="Text Box 66"/>
          <p:cNvSpPr txBox="1">
            <a:spLocks noChangeArrowheads="1"/>
          </p:cNvSpPr>
          <p:nvPr/>
        </p:nvSpPr>
        <p:spPr bwMode="auto">
          <a:xfrm>
            <a:off x="226218" y="4570512"/>
            <a:ext cx="62389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CAS0</a:t>
            </a:r>
            <a:endParaRPr lang="en-US" altLang="zh-CN" sz="1600" b="0">
              <a:ea typeface="楷体" panose="02010609060101010101" pitchFamily="49" charset="-122"/>
              <a:cs typeface="Times New Roman" panose="02020603050405020304" pitchFamily="18" charset="0"/>
            </a:endParaRPr>
          </a:p>
        </p:txBody>
      </p:sp>
      <p:sp>
        <p:nvSpPr>
          <p:cNvPr id="58437" name="Text Box 67"/>
          <p:cNvSpPr txBox="1">
            <a:spLocks noChangeArrowheads="1"/>
          </p:cNvSpPr>
          <p:nvPr/>
        </p:nvSpPr>
        <p:spPr bwMode="auto">
          <a:xfrm>
            <a:off x="226218" y="4799112"/>
            <a:ext cx="62389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CAS1</a:t>
            </a:r>
            <a:endParaRPr lang="en-US" altLang="zh-CN" sz="1600" b="0">
              <a:ea typeface="楷体" panose="02010609060101010101" pitchFamily="49" charset="-122"/>
              <a:cs typeface="Times New Roman" panose="02020603050405020304" pitchFamily="18" charset="0"/>
            </a:endParaRPr>
          </a:p>
        </p:txBody>
      </p:sp>
      <p:sp>
        <p:nvSpPr>
          <p:cNvPr id="58438" name="Text Box 68"/>
          <p:cNvSpPr txBox="1">
            <a:spLocks noChangeArrowheads="1"/>
          </p:cNvSpPr>
          <p:nvPr/>
        </p:nvSpPr>
        <p:spPr bwMode="auto">
          <a:xfrm>
            <a:off x="226218" y="5027712"/>
            <a:ext cx="62389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CAS2</a:t>
            </a:r>
            <a:endParaRPr lang="en-US" altLang="zh-CN" sz="1600" b="0">
              <a:ea typeface="楷体" panose="02010609060101010101" pitchFamily="49" charset="-122"/>
              <a:cs typeface="Times New Roman" panose="02020603050405020304" pitchFamily="18" charset="0"/>
            </a:endParaRPr>
          </a:p>
        </p:txBody>
      </p:sp>
      <p:sp>
        <p:nvSpPr>
          <p:cNvPr id="58439" name="Oval 69"/>
          <p:cNvSpPr>
            <a:spLocks noChangeArrowheads="1"/>
          </p:cNvSpPr>
          <p:nvPr/>
        </p:nvSpPr>
        <p:spPr bwMode="auto">
          <a:xfrm>
            <a:off x="1981200" y="5410200"/>
            <a:ext cx="152400" cy="152400"/>
          </a:xfrm>
          <a:prstGeom prst="ellipse">
            <a:avLst/>
          </a:prstGeom>
          <a:noFill/>
          <a:ln w="28575">
            <a:solidFill>
              <a:srgbClr val="00008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8440" name="Line 70"/>
          <p:cNvSpPr>
            <a:spLocks noChangeShapeType="1"/>
          </p:cNvSpPr>
          <p:nvPr/>
        </p:nvSpPr>
        <p:spPr bwMode="auto">
          <a:xfrm>
            <a:off x="2057400" y="5562600"/>
            <a:ext cx="0" cy="152400"/>
          </a:xfrm>
          <a:prstGeom prst="line">
            <a:avLst/>
          </a:prstGeom>
          <a:noFill/>
          <a:ln w="28575">
            <a:solidFill>
              <a:srgbClr val="000080"/>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41" name="Line 71"/>
          <p:cNvSpPr>
            <a:spLocks noChangeShapeType="1"/>
          </p:cNvSpPr>
          <p:nvPr/>
        </p:nvSpPr>
        <p:spPr bwMode="auto">
          <a:xfrm flipH="1">
            <a:off x="838200" y="5715000"/>
            <a:ext cx="1219200" cy="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42" name="Text Box 72"/>
          <p:cNvSpPr txBox="1">
            <a:spLocks noChangeArrowheads="1"/>
          </p:cNvSpPr>
          <p:nvPr/>
        </p:nvSpPr>
        <p:spPr bwMode="auto">
          <a:xfrm>
            <a:off x="279960" y="5561112"/>
            <a:ext cx="67197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400" b="0">
                <a:solidFill>
                  <a:srgbClr val="800000"/>
                </a:solidFill>
                <a:ea typeface="楷体" panose="02010609060101010101" pitchFamily="49" charset="-122"/>
                <a:cs typeface="Times New Roman" panose="02020603050405020304" pitchFamily="18" charset="0"/>
              </a:rPr>
              <a:t>SP/EN</a:t>
            </a:r>
            <a:endParaRPr lang="en-US" altLang="zh-CN" sz="1600" b="0">
              <a:ea typeface="楷体" panose="02010609060101010101" pitchFamily="49" charset="-122"/>
              <a:cs typeface="Times New Roman" panose="02020603050405020304" pitchFamily="18" charset="0"/>
            </a:endParaRPr>
          </a:p>
        </p:txBody>
      </p:sp>
      <p:sp>
        <p:nvSpPr>
          <p:cNvPr id="58443" name="Line 73"/>
          <p:cNvSpPr>
            <a:spLocks noChangeShapeType="1"/>
          </p:cNvSpPr>
          <p:nvPr/>
        </p:nvSpPr>
        <p:spPr bwMode="auto">
          <a:xfrm>
            <a:off x="381000" y="5638800"/>
            <a:ext cx="228600" cy="0"/>
          </a:xfrm>
          <a:prstGeom prst="line">
            <a:avLst/>
          </a:prstGeom>
          <a:noFill/>
          <a:ln w="19050">
            <a:solidFill>
              <a:srgbClr val="800000"/>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44" name="Line 74"/>
          <p:cNvSpPr>
            <a:spLocks noChangeShapeType="1"/>
          </p:cNvSpPr>
          <p:nvPr/>
        </p:nvSpPr>
        <p:spPr bwMode="auto">
          <a:xfrm>
            <a:off x="685800" y="5638800"/>
            <a:ext cx="228600" cy="0"/>
          </a:xfrm>
          <a:prstGeom prst="line">
            <a:avLst/>
          </a:prstGeom>
          <a:noFill/>
          <a:ln w="19050">
            <a:solidFill>
              <a:srgbClr val="800000"/>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45" name="Line 75"/>
          <p:cNvSpPr>
            <a:spLocks noChangeShapeType="1"/>
          </p:cNvSpPr>
          <p:nvPr/>
        </p:nvSpPr>
        <p:spPr bwMode="auto">
          <a:xfrm flipV="1">
            <a:off x="4572000" y="4724400"/>
            <a:ext cx="0" cy="53340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46" name="Line 76"/>
          <p:cNvSpPr>
            <a:spLocks noChangeShapeType="1"/>
          </p:cNvSpPr>
          <p:nvPr/>
        </p:nvSpPr>
        <p:spPr bwMode="auto">
          <a:xfrm flipV="1">
            <a:off x="7772400" y="4724400"/>
            <a:ext cx="0" cy="53340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47" name="Line 77"/>
          <p:cNvSpPr>
            <a:spLocks noChangeShapeType="1"/>
          </p:cNvSpPr>
          <p:nvPr/>
        </p:nvSpPr>
        <p:spPr bwMode="auto">
          <a:xfrm flipV="1">
            <a:off x="6096000" y="4724400"/>
            <a:ext cx="0" cy="53340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48" name="Line 78"/>
          <p:cNvSpPr>
            <a:spLocks noChangeShapeType="1"/>
          </p:cNvSpPr>
          <p:nvPr/>
        </p:nvSpPr>
        <p:spPr bwMode="auto">
          <a:xfrm flipH="1">
            <a:off x="2743200" y="5029200"/>
            <a:ext cx="228600" cy="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8449" name="Line 79"/>
          <p:cNvSpPr>
            <a:spLocks noChangeShapeType="1"/>
          </p:cNvSpPr>
          <p:nvPr/>
        </p:nvSpPr>
        <p:spPr bwMode="auto">
          <a:xfrm>
            <a:off x="2667000" y="3657600"/>
            <a:ext cx="304800" cy="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主要功能</a:t>
            </a:r>
            <a:endParaRPr lang="zh-CN" altLang="en-US" dirty="0"/>
          </a:p>
        </p:txBody>
      </p:sp>
      <p:sp>
        <p:nvSpPr>
          <p:cNvPr id="59395" name="内容占位符 2"/>
          <p:cNvSpPr>
            <a:spLocks noGrp="1" noChangeArrowheads="1"/>
          </p:cNvSpPr>
          <p:nvPr>
            <p:ph idx="1"/>
          </p:nvPr>
        </p:nvSpPr>
        <p:spPr/>
        <p:txBody>
          <a:bodyPr/>
          <a:lstStyle/>
          <a:p>
            <a:r>
              <a:rPr lang="zh-CN" altLang="en-US" sz="2800"/>
              <a:t>中断请求寄存器（</a:t>
            </a:r>
            <a:r>
              <a:rPr lang="en-US" altLang="zh-CN" sz="2800"/>
              <a:t>IRR）</a:t>
            </a:r>
            <a:r>
              <a:rPr lang="zh-CN" altLang="en-US" sz="2800"/>
              <a:t>记录外部中断源发出的中断请求信号， </a:t>
            </a:r>
            <a:r>
              <a:rPr lang="en-US" altLang="zh-CN" sz="2800"/>
              <a:t>Di</a:t>
            </a:r>
            <a:r>
              <a:rPr lang="zh-CN" altLang="en-US" sz="2800"/>
              <a:t>位为1表示</a:t>
            </a:r>
            <a:r>
              <a:rPr lang="en-US" altLang="zh-CN" sz="2800"/>
              <a:t>IRi</a:t>
            </a:r>
            <a:r>
              <a:rPr lang="zh-CN" altLang="en-US" sz="2800"/>
              <a:t>引脚有中断请求。具有锁存功能</a:t>
            </a:r>
            <a:endParaRPr lang="zh-CN" altLang="en-US" sz="2800"/>
          </a:p>
          <a:p>
            <a:r>
              <a:rPr lang="zh-CN" altLang="en-US" sz="2800"/>
              <a:t>正在服务寄存器（</a:t>
            </a:r>
            <a:r>
              <a:rPr lang="en-US" altLang="zh-CN" sz="2800"/>
              <a:t>ISR）</a:t>
            </a:r>
            <a:r>
              <a:rPr lang="zh-CN" altLang="en-US" sz="2800"/>
              <a:t>存放正在被服务中的中断请求信号。</a:t>
            </a:r>
            <a:endParaRPr lang="zh-CN" altLang="en-US" sz="2800"/>
          </a:p>
          <a:p>
            <a:r>
              <a:rPr lang="zh-CN" altLang="en-US" sz="2800"/>
              <a:t>优先权分析器（</a:t>
            </a:r>
            <a:r>
              <a:rPr lang="en-US" altLang="zh-CN" sz="2800"/>
              <a:t>PR）</a:t>
            </a:r>
            <a:r>
              <a:rPr lang="zh-CN" altLang="en-US" sz="2800"/>
              <a:t>把</a:t>
            </a:r>
            <a:r>
              <a:rPr lang="en-US" altLang="zh-CN" sz="2800"/>
              <a:t>IRR</a:t>
            </a:r>
            <a:r>
              <a:rPr lang="zh-CN" altLang="en-US" sz="2800"/>
              <a:t>的内容与</a:t>
            </a:r>
            <a:r>
              <a:rPr lang="en-US" altLang="zh-CN" sz="2800"/>
              <a:t>ISR</a:t>
            </a:r>
            <a:r>
              <a:rPr lang="zh-CN" altLang="en-US" sz="2800"/>
              <a:t>的内容进行比较，向</a:t>
            </a:r>
            <a:r>
              <a:rPr lang="en-US" altLang="zh-CN" sz="2800"/>
              <a:t>CPU</a:t>
            </a:r>
            <a:r>
              <a:rPr lang="zh-CN" altLang="en-US" sz="2800"/>
              <a:t>提交优先级高的中断请求</a:t>
            </a:r>
            <a:endParaRPr lang="zh-CN" altLang="en-US" sz="2800"/>
          </a:p>
          <a:p>
            <a:r>
              <a:rPr lang="zh-CN" altLang="en-US" sz="2800"/>
              <a:t>中断屏蔽寄存器（</a:t>
            </a:r>
            <a:r>
              <a:rPr lang="en-US" altLang="zh-CN" sz="2800"/>
              <a:t>IMR）“0”</a:t>
            </a:r>
            <a:r>
              <a:rPr lang="zh-CN" altLang="en-US" sz="2800"/>
              <a:t>允许中断；“1”屏蔽中断</a:t>
            </a:r>
            <a:endParaRPr lang="en-US" altLang="zh-CN" sz="2800"/>
          </a:p>
          <a:p>
            <a:pPr lvl="1"/>
            <a:endParaRPr lang="zh-CN" altLang="en-US"/>
          </a:p>
          <a:p>
            <a:endParaRPr lang="zh-CN" altLang="en-US"/>
          </a:p>
          <a:p>
            <a:endParaRPr lang="zh-CN" altLang="en-US"/>
          </a:p>
        </p:txBody>
      </p:sp>
    </p:spTree>
  </p:cSld>
  <p:clrMapOvr>
    <a:masterClrMapping/>
  </p:clrMapOvr>
  <p:transition spd="med">
    <p:pull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10</a:t>
            </a:r>
            <a:endParaRPr lang="zh-CN" altLang="en-US" dirty="0"/>
          </a:p>
        </p:txBody>
      </p:sp>
      <p:sp>
        <p:nvSpPr>
          <p:cNvPr id="60419" name="内容占位符 2"/>
          <p:cNvSpPr>
            <a:spLocks noGrp="1" noChangeArrowheads="1"/>
          </p:cNvSpPr>
          <p:nvPr>
            <p:ph idx="1"/>
          </p:nvPr>
        </p:nvSpPr>
        <p:spPr/>
        <p:txBody>
          <a:bodyPr/>
          <a:lstStyle/>
          <a:p>
            <a:pPr marL="0" indent="0">
              <a:buFont typeface="Wingdings 2" charset="2"/>
              <a:buNone/>
            </a:pPr>
            <a:r>
              <a:rPr lang="zh-CN" altLang="en-US"/>
              <a:t>单级中断系统中，中断服务程序执行顺序是（  ）</a:t>
            </a:r>
            <a:endParaRPr lang="zh-CN" altLang="en-US"/>
          </a:p>
          <a:p>
            <a:pPr marL="0" indent="0">
              <a:buFont typeface="Wingdings 2" charset="2"/>
              <a:buNone/>
            </a:pPr>
            <a:r>
              <a:rPr lang="en-US" altLang="zh-CN"/>
              <a:t>I</a:t>
            </a:r>
            <a:r>
              <a:rPr lang="zh-CN" altLang="en-US"/>
              <a:t>、保护现场  </a:t>
            </a:r>
            <a:r>
              <a:rPr lang="en-US" altLang="zh-CN"/>
              <a:t>II</a:t>
            </a:r>
            <a:r>
              <a:rPr lang="zh-CN" altLang="en-US"/>
              <a:t>、开中断  </a:t>
            </a:r>
            <a:r>
              <a:rPr lang="en-US" altLang="zh-CN"/>
              <a:t>III</a:t>
            </a:r>
            <a:r>
              <a:rPr lang="zh-CN" altLang="en-US"/>
              <a:t>、关中断  </a:t>
            </a:r>
            <a:r>
              <a:rPr lang="en-US" altLang="zh-CN"/>
              <a:t>IV</a:t>
            </a:r>
            <a:r>
              <a:rPr lang="zh-CN" altLang="en-US"/>
              <a:t>、保存断点</a:t>
            </a:r>
            <a:endParaRPr lang="zh-CN" altLang="en-US"/>
          </a:p>
          <a:p>
            <a:pPr marL="0" indent="0">
              <a:buFont typeface="Wingdings 2" charset="2"/>
              <a:buNone/>
            </a:pPr>
            <a:r>
              <a:rPr lang="en-US" altLang="zh-CN"/>
              <a:t>V</a:t>
            </a:r>
            <a:r>
              <a:rPr lang="zh-CN" altLang="en-US"/>
              <a:t>、中断事件处理   </a:t>
            </a:r>
            <a:r>
              <a:rPr lang="en-US" altLang="zh-CN"/>
              <a:t>VI</a:t>
            </a:r>
            <a:r>
              <a:rPr lang="zh-CN" altLang="en-US"/>
              <a:t>、恢复现场   </a:t>
            </a:r>
            <a:r>
              <a:rPr lang="en-US" altLang="zh-CN"/>
              <a:t>VII</a:t>
            </a:r>
            <a:r>
              <a:rPr lang="zh-CN" altLang="en-US"/>
              <a:t>、中断返回</a:t>
            </a:r>
            <a:endParaRPr lang="zh-CN" altLang="en-US"/>
          </a:p>
          <a:p>
            <a:pPr marL="0" indent="0">
              <a:buFont typeface="Wingdings 2" charset="2"/>
              <a:buNone/>
            </a:pPr>
            <a:r>
              <a:rPr lang="en-US" altLang="zh-CN"/>
              <a:t>A</a:t>
            </a:r>
            <a:r>
              <a:rPr lang="zh-CN" altLang="en-US"/>
              <a:t>：</a:t>
            </a:r>
            <a:r>
              <a:rPr lang="en-US" altLang="zh-CN"/>
              <a:t>I</a:t>
            </a:r>
            <a:r>
              <a:rPr lang="zh-CN" altLang="en-US"/>
              <a:t>、</a:t>
            </a:r>
            <a:r>
              <a:rPr lang="en-US" altLang="zh-CN"/>
              <a:t>V</a:t>
            </a:r>
            <a:r>
              <a:rPr lang="zh-CN" altLang="en-US"/>
              <a:t>、</a:t>
            </a:r>
            <a:r>
              <a:rPr lang="en-US" altLang="zh-CN"/>
              <a:t>VI</a:t>
            </a:r>
            <a:r>
              <a:rPr lang="zh-CN" altLang="en-US"/>
              <a:t>、</a:t>
            </a:r>
            <a:r>
              <a:rPr lang="en-US" altLang="zh-CN"/>
              <a:t>II</a:t>
            </a:r>
            <a:r>
              <a:rPr lang="zh-CN" altLang="en-US"/>
              <a:t>、</a:t>
            </a:r>
            <a:r>
              <a:rPr lang="en-US" altLang="zh-CN"/>
              <a:t>VII                    </a:t>
            </a:r>
            <a:endParaRPr lang="en-US" altLang="zh-CN"/>
          </a:p>
          <a:p>
            <a:pPr marL="0" indent="0">
              <a:buFont typeface="Wingdings 2" charset="2"/>
              <a:buNone/>
            </a:pPr>
            <a:r>
              <a:rPr lang="en-US" altLang="zh-CN"/>
              <a:t>B</a:t>
            </a:r>
            <a:r>
              <a:rPr lang="zh-CN" altLang="en-US"/>
              <a:t>：</a:t>
            </a:r>
            <a:r>
              <a:rPr lang="en-US" altLang="zh-CN"/>
              <a:t>III</a:t>
            </a:r>
            <a:r>
              <a:rPr lang="zh-CN" altLang="en-US"/>
              <a:t>、</a:t>
            </a:r>
            <a:r>
              <a:rPr lang="en-US" altLang="zh-CN"/>
              <a:t>I</a:t>
            </a:r>
            <a:r>
              <a:rPr lang="zh-CN" altLang="en-US"/>
              <a:t>、</a:t>
            </a:r>
            <a:r>
              <a:rPr lang="en-US" altLang="zh-CN"/>
              <a:t>V</a:t>
            </a:r>
            <a:r>
              <a:rPr lang="zh-CN" altLang="en-US"/>
              <a:t>、</a:t>
            </a:r>
            <a:r>
              <a:rPr lang="en-US" altLang="zh-CN"/>
              <a:t>VII</a:t>
            </a:r>
            <a:endParaRPr lang="en-US" altLang="zh-CN"/>
          </a:p>
          <a:p>
            <a:pPr marL="0" indent="0">
              <a:buFont typeface="Wingdings 2" charset="2"/>
              <a:buNone/>
            </a:pPr>
            <a:r>
              <a:rPr lang="en-US" altLang="zh-CN"/>
              <a:t>C</a:t>
            </a:r>
            <a:r>
              <a:rPr lang="zh-CN" altLang="en-US"/>
              <a:t>：</a:t>
            </a:r>
            <a:r>
              <a:rPr lang="en-US" altLang="zh-CN"/>
              <a:t>III</a:t>
            </a:r>
            <a:r>
              <a:rPr lang="zh-CN" altLang="en-US"/>
              <a:t>、</a:t>
            </a:r>
            <a:r>
              <a:rPr lang="en-US" altLang="zh-CN"/>
              <a:t>IV</a:t>
            </a:r>
            <a:r>
              <a:rPr lang="zh-CN" altLang="en-US"/>
              <a:t>、</a:t>
            </a:r>
            <a:r>
              <a:rPr lang="en-US" altLang="zh-CN"/>
              <a:t>V</a:t>
            </a:r>
            <a:r>
              <a:rPr lang="zh-CN" altLang="en-US"/>
              <a:t>、</a:t>
            </a:r>
            <a:r>
              <a:rPr lang="en-US" altLang="zh-CN"/>
              <a:t>VI</a:t>
            </a:r>
            <a:r>
              <a:rPr lang="zh-CN" altLang="en-US"/>
              <a:t>、</a:t>
            </a:r>
            <a:r>
              <a:rPr lang="en-US" altLang="zh-CN"/>
              <a:t>VII                  </a:t>
            </a:r>
            <a:endParaRPr lang="en-US" altLang="zh-CN"/>
          </a:p>
          <a:p>
            <a:pPr marL="0" indent="0">
              <a:buFont typeface="Wingdings 2" charset="2"/>
              <a:buNone/>
            </a:pPr>
            <a:r>
              <a:rPr lang="en-US" altLang="zh-CN"/>
              <a:t>D</a:t>
            </a:r>
            <a:r>
              <a:rPr lang="zh-CN" altLang="en-US"/>
              <a:t>：</a:t>
            </a:r>
            <a:r>
              <a:rPr lang="en-US" altLang="zh-CN"/>
              <a:t>IV</a:t>
            </a:r>
            <a:r>
              <a:rPr lang="zh-CN" altLang="en-US"/>
              <a:t>、</a:t>
            </a:r>
            <a:r>
              <a:rPr lang="en-US" altLang="zh-CN"/>
              <a:t>I</a:t>
            </a:r>
            <a:r>
              <a:rPr lang="zh-CN" altLang="en-US"/>
              <a:t>、</a:t>
            </a:r>
            <a:r>
              <a:rPr lang="en-US" altLang="zh-CN"/>
              <a:t>V</a:t>
            </a:r>
            <a:r>
              <a:rPr lang="zh-CN" altLang="en-US"/>
              <a:t>、</a:t>
            </a:r>
            <a:r>
              <a:rPr lang="en-US" altLang="zh-CN"/>
              <a:t>VI</a:t>
            </a:r>
            <a:r>
              <a:rPr lang="zh-CN" altLang="en-US"/>
              <a:t>、</a:t>
            </a:r>
            <a:r>
              <a:rPr lang="en-US" altLang="zh-CN"/>
              <a:t>VII</a:t>
            </a:r>
            <a:endParaRPr lang="en-US" altLang="zh-CN"/>
          </a:p>
          <a:p>
            <a:pPr marL="0" indent="0">
              <a:buFont typeface="Wingdings 2" charset="2"/>
              <a:buNone/>
            </a:pPr>
            <a:endParaRPr lang="zh-CN" altLang="en-US"/>
          </a:p>
        </p:txBody>
      </p:sp>
    </p:spTree>
  </p:cSld>
  <p:clrMapOvr>
    <a:masterClrMapping/>
  </p:clrMapOvr>
  <p:transition spd="med">
    <p:pull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11</a:t>
            </a:r>
            <a:endParaRPr lang="zh-CN" altLang="en-US" dirty="0"/>
          </a:p>
        </p:txBody>
      </p:sp>
      <p:sp>
        <p:nvSpPr>
          <p:cNvPr id="62467" name="内容占位符 2"/>
          <p:cNvSpPr>
            <a:spLocks noGrp="1" noChangeArrowheads="1"/>
          </p:cNvSpPr>
          <p:nvPr>
            <p:ph idx="1"/>
          </p:nvPr>
        </p:nvSpPr>
        <p:spPr/>
        <p:txBody>
          <a:bodyPr/>
          <a:lstStyle/>
          <a:p>
            <a:pPr marL="0" indent="0">
              <a:buFont typeface="Wingdings 2" charset="2"/>
              <a:buNone/>
            </a:pPr>
            <a:r>
              <a:rPr lang="zh-CN" altLang="en-US"/>
              <a:t>某设备中断请求的响应和处理时间为</a:t>
            </a:r>
            <a:r>
              <a:rPr lang="en-US" altLang="zh-CN"/>
              <a:t>100ns</a:t>
            </a:r>
            <a:r>
              <a:rPr lang="zh-CN" altLang="en-US"/>
              <a:t>，每</a:t>
            </a:r>
            <a:r>
              <a:rPr lang="en-US" altLang="zh-CN"/>
              <a:t>400ns</a:t>
            </a:r>
            <a:r>
              <a:rPr lang="zh-CN" altLang="en-US"/>
              <a:t>发出一次中断请求，中断响应所容许的最长延迟时间为</a:t>
            </a:r>
            <a:r>
              <a:rPr lang="en-US" altLang="zh-CN"/>
              <a:t>50ns</a:t>
            </a:r>
            <a:r>
              <a:rPr lang="zh-CN" altLang="en-US"/>
              <a:t>，则在该设备持续工作过程中</a:t>
            </a:r>
            <a:r>
              <a:rPr lang="en-US" altLang="zh-CN"/>
              <a:t>CPU</a:t>
            </a:r>
            <a:r>
              <a:rPr lang="zh-CN" altLang="en-US"/>
              <a:t>用于该设备的</a:t>
            </a:r>
            <a:r>
              <a:rPr lang="en-US" altLang="zh-CN"/>
              <a:t>I/O</a:t>
            </a:r>
            <a:r>
              <a:rPr lang="zh-CN" altLang="en-US"/>
              <a:t>时间占整个</a:t>
            </a:r>
            <a:r>
              <a:rPr lang="en-US" altLang="zh-CN"/>
              <a:t>CPU</a:t>
            </a:r>
            <a:r>
              <a:rPr lang="zh-CN" altLang="en-US"/>
              <a:t>时间百分比至少是</a:t>
            </a:r>
            <a:endParaRPr lang="zh-CN" altLang="en-US"/>
          </a:p>
          <a:p>
            <a:pPr marL="0" indent="0">
              <a:buFont typeface="Wingdings 2" charset="2"/>
              <a:buNone/>
            </a:pPr>
            <a:r>
              <a:rPr lang="en-US" altLang="zh-CN"/>
              <a:t>A.  12.5%        </a:t>
            </a:r>
            <a:endParaRPr lang="en-US" altLang="zh-CN"/>
          </a:p>
          <a:p>
            <a:pPr marL="0" indent="0">
              <a:buFont typeface="Wingdings 2" charset="2"/>
              <a:buNone/>
            </a:pPr>
            <a:r>
              <a:rPr lang="en-US" altLang="zh-CN"/>
              <a:t>B.  25%           </a:t>
            </a:r>
            <a:endParaRPr lang="en-US" altLang="zh-CN"/>
          </a:p>
          <a:p>
            <a:pPr marL="0" indent="0">
              <a:buFont typeface="Wingdings 2" charset="2"/>
              <a:buNone/>
            </a:pPr>
            <a:r>
              <a:rPr lang="en-US" altLang="zh-CN"/>
              <a:t>C.  37.5%           </a:t>
            </a:r>
            <a:endParaRPr lang="en-US" altLang="zh-CN"/>
          </a:p>
          <a:p>
            <a:pPr marL="0" indent="0">
              <a:buFont typeface="Wingdings 2" charset="2"/>
              <a:buNone/>
            </a:pPr>
            <a:r>
              <a:rPr lang="en-US" altLang="zh-CN"/>
              <a:t>D.  50%</a:t>
            </a:r>
            <a:endParaRPr lang="en-US" altLang="zh-CN"/>
          </a:p>
          <a:p>
            <a:pPr marL="0" indent="0">
              <a:buFont typeface="Wingdings 2" charset="2"/>
              <a:buNone/>
            </a:pPr>
            <a:endParaRPr lang="zh-CN" altLang="en-US"/>
          </a:p>
        </p:txBody>
      </p:sp>
    </p:spTree>
  </p:cSld>
  <p:clrMapOvr>
    <a:masterClrMapping/>
  </p:clrMapOvr>
  <p:transition spd="med">
    <p:pull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5</a:t>
            </a:r>
            <a:endParaRPr lang="zh-CN" altLang="en-US" dirty="0"/>
          </a:p>
        </p:txBody>
      </p:sp>
      <p:sp>
        <p:nvSpPr>
          <p:cNvPr id="64515" name="内容占位符 2"/>
          <p:cNvSpPr>
            <a:spLocks noGrp="1" noChangeArrowheads="1"/>
          </p:cNvSpPr>
          <p:nvPr>
            <p:ph idx="1"/>
          </p:nvPr>
        </p:nvSpPr>
        <p:spPr/>
        <p:txBody>
          <a:bodyPr/>
          <a:lstStyle/>
          <a:p>
            <a:endParaRPr lang="zh-CN" altLang="en-US"/>
          </a:p>
        </p:txBody>
      </p:sp>
      <p:pic>
        <p:nvPicPr>
          <p:cNvPr id="64517"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93663" y="1052513"/>
            <a:ext cx="891857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8.4 DMA</a:t>
            </a:r>
            <a:r>
              <a:rPr lang="zh-CN" altLang="en-US" dirty="0"/>
              <a:t>方式</a:t>
            </a:r>
            <a:endParaRPr lang="zh-CN" alt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pPr eaLnBrk="1" hangingPunct="1">
              <a:defRPr/>
            </a:pPr>
            <a:r>
              <a:rPr lang="zh-CN" altLang="en-US"/>
              <a:t>基本概念</a:t>
            </a:r>
            <a:endParaRPr lang="zh-CN" altLang="en-US"/>
          </a:p>
        </p:txBody>
      </p:sp>
      <p:sp>
        <p:nvSpPr>
          <p:cNvPr id="67587" name="Rectangle 3"/>
          <p:cNvSpPr>
            <a:spLocks noGrp="1" noChangeArrowheads="1"/>
          </p:cNvSpPr>
          <p:nvPr>
            <p:ph idx="1"/>
          </p:nvPr>
        </p:nvSpPr>
        <p:spPr/>
        <p:txBody>
          <a:bodyPr/>
          <a:lstStyle/>
          <a:p>
            <a:pPr marL="360680" indent="-360680" eaLnBrk="1" hangingPunct="1"/>
            <a:r>
              <a:rPr lang="zh-CN" altLang="en-US" dirty="0"/>
              <a:t>直接存储器访问</a:t>
            </a:r>
            <a:r>
              <a:rPr lang="en-US" altLang="zh-CN" dirty="0"/>
              <a:t>(DMA)</a:t>
            </a:r>
            <a:r>
              <a:rPr lang="zh-CN" altLang="en-US" dirty="0"/>
              <a:t>是一种完全由硬件实现</a:t>
            </a:r>
            <a:r>
              <a:rPr lang="en-US" altLang="zh-CN" dirty="0"/>
              <a:t>I/O</a:t>
            </a:r>
            <a:r>
              <a:rPr lang="zh-CN" altLang="en-US" dirty="0"/>
              <a:t>交换的工作方式</a:t>
            </a:r>
            <a:endParaRPr lang="zh-CN" altLang="en-US" dirty="0"/>
          </a:p>
          <a:p>
            <a:pPr marL="360680" indent="-360680" eaLnBrk="1" hangingPunct="1"/>
            <a:r>
              <a:rPr lang="zh-CN" altLang="en-US" dirty="0"/>
              <a:t>在这种方式中，</a:t>
            </a:r>
            <a:r>
              <a:rPr lang="en-US" altLang="zh-CN" dirty="0"/>
              <a:t>DMA</a:t>
            </a:r>
            <a:r>
              <a:rPr lang="zh-CN" altLang="en-US" dirty="0"/>
              <a:t>控制器从</a:t>
            </a:r>
            <a:r>
              <a:rPr lang="en-US" altLang="zh-CN" dirty="0"/>
              <a:t>CPU</a:t>
            </a:r>
            <a:r>
              <a:rPr lang="zh-CN" altLang="en-US" dirty="0"/>
              <a:t>接管对总线的控制，</a:t>
            </a:r>
            <a:r>
              <a:rPr lang="zh-CN" altLang="en-US" dirty="0">
                <a:solidFill>
                  <a:srgbClr val="FF0000"/>
                </a:solidFill>
              </a:rPr>
              <a:t>数据交换不经过</a:t>
            </a:r>
            <a:r>
              <a:rPr lang="en-US" altLang="zh-CN" dirty="0">
                <a:solidFill>
                  <a:srgbClr val="FF0000"/>
                </a:solidFill>
              </a:rPr>
              <a:t>CPU</a:t>
            </a:r>
            <a:r>
              <a:rPr lang="zh-CN" altLang="en-US" dirty="0"/>
              <a:t>，而直接在内存和</a:t>
            </a:r>
            <a:r>
              <a:rPr lang="en-US" altLang="zh-CN" dirty="0"/>
              <a:t>I/O</a:t>
            </a:r>
            <a:r>
              <a:rPr lang="zh-CN" altLang="en-US" dirty="0"/>
              <a:t>设备之间进行 </a:t>
            </a:r>
            <a:endParaRPr lang="zh-CN" altLang="en-US" dirty="0"/>
          </a:p>
          <a:p>
            <a:pPr marL="360680" indent="-360680" eaLnBrk="1" hangingPunct="1"/>
            <a:r>
              <a:rPr lang="en-US" altLang="zh-CN" dirty="0"/>
              <a:t>DMA</a:t>
            </a:r>
            <a:r>
              <a:rPr lang="zh-CN" altLang="en-US" dirty="0"/>
              <a:t>控制器向内存发出地址和控制信号，并修改地址，对所传送的字的个数计数。用中断方式或状态位方式向</a:t>
            </a:r>
            <a:r>
              <a:rPr lang="en-US" altLang="zh-CN" dirty="0"/>
              <a:t>CPU</a:t>
            </a:r>
            <a:r>
              <a:rPr lang="zh-CN" altLang="en-US" dirty="0"/>
              <a:t>报告传送操作结束</a:t>
            </a:r>
            <a:endParaRPr lang="zh-CN" altLang="en-US" dirty="0"/>
          </a:p>
          <a:p>
            <a:pPr marL="360680" indent="-360680" eaLnBrk="1" hangingPunct="1"/>
            <a:r>
              <a:rPr lang="en-US" altLang="zh-CN" dirty="0"/>
              <a:t>DMA</a:t>
            </a:r>
            <a:r>
              <a:rPr lang="zh-CN" altLang="en-US" dirty="0"/>
              <a:t>方式的主要优点是速度快，能满足高速</a:t>
            </a:r>
            <a:r>
              <a:rPr lang="en-US" altLang="zh-CN" dirty="0"/>
              <a:t>I/O</a:t>
            </a:r>
            <a:r>
              <a:rPr lang="zh-CN" altLang="en-US" dirty="0"/>
              <a:t>设备传送的要求</a:t>
            </a:r>
            <a:endParaRPr lang="zh-CN" altLang="en-US" dirty="0"/>
          </a:p>
        </p:txBody>
      </p:sp>
    </p:spTree>
  </p:cSld>
  <p:clrMapOvr>
    <a:masterClrMapping/>
  </p:clrMapOvr>
  <p:transition spd="med">
    <p:pull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pPr eaLnBrk="1" hangingPunct="1">
              <a:defRPr/>
            </a:pPr>
            <a:r>
              <a:rPr lang="en-US" altLang="zh-CN"/>
              <a:t>DMA</a:t>
            </a:r>
            <a:r>
              <a:rPr lang="zh-CN" altLang="en-US"/>
              <a:t>传送过程</a:t>
            </a:r>
            <a:endParaRPr lang="zh-CN" altLang="en-US"/>
          </a:p>
        </p:txBody>
      </p:sp>
      <p:sp>
        <p:nvSpPr>
          <p:cNvPr id="68611" name="Rectangle 3"/>
          <p:cNvSpPr>
            <a:spLocks noGrp="1" noChangeArrowheads="1"/>
          </p:cNvSpPr>
          <p:nvPr>
            <p:ph idx="1"/>
          </p:nvPr>
        </p:nvSpPr>
        <p:spPr/>
        <p:txBody>
          <a:bodyPr/>
          <a:lstStyle/>
          <a:p>
            <a:pPr eaLnBrk="1" hangingPunct="1">
              <a:lnSpc>
                <a:spcPct val="90000"/>
              </a:lnSpc>
              <a:buFontTx/>
              <a:buChar char="1"/>
            </a:pPr>
            <a:r>
              <a:rPr lang="zh-CN" altLang="en-US" sz="2400" dirty="0"/>
              <a:t>申请阶段</a:t>
            </a:r>
            <a:endParaRPr lang="zh-CN" altLang="en-US" sz="2400" dirty="0"/>
          </a:p>
          <a:p>
            <a:pPr eaLnBrk="1" hangingPunct="1">
              <a:lnSpc>
                <a:spcPct val="90000"/>
              </a:lnSpc>
              <a:buFont typeface="Wingdings 2" charset="2"/>
              <a:buNone/>
            </a:pPr>
            <a:r>
              <a:rPr lang="zh-CN" altLang="en-US" sz="2400" dirty="0"/>
              <a:t>    </a:t>
            </a:r>
            <a:r>
              <a:rPr lang="en-US" altLang="zh-CN" sz="2400" dirty="0"/>
              <a:t>DMA</a:t>
            </a:r>
            <a:r>
              <a:rPr lang="zh-CN" altLang="en-US" sz="2400" dirty="0"/>
              <a:t>控制器收到</a:t>
            </a:r>
            <a:r>
              <a:rPr lang="en-US" altLang="zh-CN" sz="2400" dirty="0"/>
              <a:t>DMA</a:t>
            </a:r>
            <a:r>
              <a:rPr lang="zh-CN" altLang="en-US" sz="2400" dirty="0"/>
              <a:t>传送请求后，向</a:t>
            </a:r>
            <a:r>
              <a:rPr lang="en-US" altLang="zh-CN" sz="2400" dirty="0"/>
              <a:t>CPU</a:t>
            </a:r>
            <a:r>
              <a:rPr lang="zh-CN" altLang="en-US" sz="2400" dirty="0"/>
              <a:t>发出总线请求信号，申请占用总线</a:t>
            </a:r>
            <a:endParaRPr lang="zh-CN" altLang="en-US" sz="2400" dirty="0"/>
          </a:p>
          <a:p>
            <a:pPr eaLnBrk="1" hangingPunct="1">
              <a:lnSpc>
                <a:spcPct val="90000"/>
              </a:lnSpc>
              <a:buFontTx/>
              <a:buChar char="2"/>
            </a:pPr>
            <a:r>
              <a:rPr lang="zh-CN" altLang="en-US" sz="2400" dirty="0"/>
              <a:t>响应阶段</a:t>
            </a:r>
            <a:endParaRPr lang="zh-CN" altLang="en-US" sz="2400" dirty="0"/>
          </a:p>
          <a:p>
            <a:pPr eaLnBrk="1" hangingPunct="1">
              <a:lnSpc>
                <a:spcPct val="90000"/>
              </a:lnSpc>
              <a:buFont typeface="Wingdings 2" charset="2"/>
              <a:buNone/>
            </a:pPr>
            <a:r>
              <a:rPr lang="zh-CN" altLang="en-US" sz="2400" dirty="0"/>
              <a:t>    </a:t>
            </a:r>
            <a:r>
              <a:rPr lang="en-US" altLang="zh-CN" sz="2400" dirty="0"/>
              <a:t>CPU</a:t>
            </a:r>
            <a:r>
              <a:rPr lang="zh-CN" altLang="en-US" sz="2400" dirty="0"/>
              <a:t>响应总线请求，释放总线（即将三总线变为高阻），并回送总线应答信号，表示已让出总线</a:t>
            </a:r>
            <a:endParaRPr lang="zh-CN" altLang="en-US" sz="2400" dirty="0"/>
          </a:p>
          <a:p>
            <a:pPr eaLnBrk="1" hangingPunct="1">
              <a:lnSpc>
                <a:spcPct val="90000"/>
              </a:lnSpc>
              <a:buFontTx/>
              <a:buChar char="3"/>
            </a:pPr>
            <a:r>
              <a:rPr lang="zh-CN" altLang="en-US" sz="2400" dirty="0"/>
              <a:t>数据传送阶段</a:t>
            </a:r>
            <a:endParaRPr lang="zh-CN" altLang="en-US" sz="2400" dirty="0"/>
          </a:p>
          <a:p>
            <a:pPr eaLnBrk="1" hangingPunct="1">
              <a:lnSpc>
                <a:spcPct val="90000"/>
              </a:lnSpc>
              <a:buFont typeface="Wingdings 2" charset="2"/>
              <a:buNone/>
            </a:pPr>
            <a:r>
              <a:rPr lang="zh-CN" altLang="en-US" sz="2400" dirty="0"/>
              <a:t>    </a:t>
            </a:r>
            <a:r>
              <a:rPr lang="en-US" altLang="zh-CN" sz="2400" dirty="0"/>
              <a:t>DMA</a:t>
            </a:r>
            <a:r>
              <a:rPr lang="zh-CN" altLang="en-US" sz="2400" dirty="0"/>
              <a:t>控制器收到总线应答信号后，占用总线，分别向存储器和外设发出读</a:t>
            </a:r>
            <a:r>
              <a:rPr lang="en-US" altLang="zh-CN" sz="2400" dirty="0"/>
              <a:t>/</a:t>
            </a:r>
            <a:r>
              <a:rPr lang="zh-CN" altLang="en-US" sz="2400" dirty="0"/>
              <a:t>写控制信号，完成数据传送操作，并修改地址记录传送字的个数</a:t>
            </a:r>
            <a:endParaRPr lang="zh-CN" altLang="en-US" sz="2400" dirty="0"/>
          </a:p>
          <a:p>
            <a:pPr eaLnBrk="1" hangingPunct="1">
              <a:lnSpc>
                <a:spcPct val="90000"/>
              </a:lnSpc>
              <a:buFontTx/>
              <a:buChar char="4"/>
            </a:pPr>
            <a:r>
              <a:rPr lang="zh-CN" altLang="en-US" sz="2400" dirty="0"/>
              <a:t>传送结束阶段</a:t>
            </a:r>
            <a:endParaRPr lang="zh-CN" altLang="en-US" sz="2400" dirty="0"/>
          </a:p>
          <a:p>
            <a:pPr eaLnBrk="1" hangingPunct="1">
              <a:lnSpc>
                <a:spcPct val="90000"/>
              </a:lnSpc>
              <a:buFont typeface="Wingdings 2" charset="2"/>
              <a:buNone/>
            </a:pPr>
            <a:r>
              <a:rPr lang="zh-CN" altLang="en-US" sz="2400" dirty="0"/>
              <a:t>    在规定字数传送完后，</a:t>
            </a:r>
            <a:r>
              <a:rPr lang="en-US" altLang="zh-CN" sz="2400" dirty="0"/>
              <a:t>DMA</a:t>
            </a:r>
            <a:r>
              <a:rPr lang="zh-CN" altLang="en-US" sz="2400" dirty="0"/>
              <a:t>控制器以中断方式或状态位的方式向</a:t>
            </a:r>
            <a:r>
              <a:rPr lang="en-US" altLang="zh-CN" sz="2400" dirty="0"/>
              <a:t>CPU</a:t>
            </a:r>
            <a:r>
              <a:rPr lang="zh-CN" altLang="en-US" sz="2400" dirty="0"/>
              <a:t>报告传送操作结束，释放总线，</a:t>
            </a:r>
            <a:r>
              <a:rPr lang="en-US" altLang="zh-CN" sz="2400" dirty="0"/>
              <a:t>CPU</a:t>
            </a:r>
            <a:r>
              <a:rPr lang="zh-CN" altLang="en-US" sz="2400" dirty="0"/>
              <a:t>重新占用总线</a:t>
            </a:r>
            <a:r>
              <a:rPr lang="zh-CN" altLang="en-US" sz="2400" b="0" dirty="0"/>
              <a:t>。</a:t>
            </a:r>
            <a:endParaRPr lang="zh-CN" altLang="en-US" sz="2400" b="0" dirty="0"/>
          </a:p>
        </p:txBody>
      </p:sp>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228600"/>
            <a:ext cx="8812306" cy="762000"/>
          </a:xfrm>
        </p:spPr>
        <p:txBody>
          <a:bodyPr/>
          <a:lstStyle/>
          <a:p>
            <a:pPr>
              <a:defRPr/>
            </a:pPr>
            <a:r>
              <a:rPr lang="en-US" altLang="zh-CN" dirty="0">
                <a:cs typeface="Times New Roman" panose="02020603050405020304" pitchFamily="18" charset="0"/>
              </a:rPr>
              <a:t>DMA</a:t>
            </a:r>
            <a:r>
              <a:rPr lang="zh-CN" altLang="en-US" dirty="0"/>
              <a:t>方式的数据传送过程 </a:t>
            </a:r>
            <a:endParaRPr lang="zh-CN" altLang="en-US" dirty="0"/>
          </a:p>
        </p:txBody>
      </p:sp>
      <p:graphicFrame>
        <p:nvGraphicFramePr>
          <p:cNvPr id="69636" name="对象 2"/>
          <p:cNvGraphicFramePr>
            <a:graphicFrameLocks noChangeAspect="1"/>
          </p:cNvGraphicFramePr>
          <p:nvPr/>
        </p:nvGraphicFramePr>
        <p:xfrm>
          <a:off x="466725" y="1341438"/>
          <a:ext cx="8281988" cy="4179887"/>
        </p:xfrm>
        <a:graphic>
          <a:graphicData uri="http://schemas.openxmlformats.org/presentationml/2006/ole">
            <mc:AlternateContent xmlns:mc="http://schemas.openxmlformats.org/markup-compatibility/2006">
              <mc:Choice xmlns:v="urn:schemas-microsoft-com:vml" Requires="v">
                <p:oleObj spid="_x0000_s3077" name="Visio" r:id="rId1" imgW="6032500" imgH="3048000" progId="Visio.Drawing.11">
                  <p:embed/>
                </p:oleObj>
              </mc:Choice>
              <mc:Fallback>
                <p:oleObj name="Visio" r:id="rId1" imgW="6032500" imgH="30480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 y="1341438"/>
                        <a:ext cx="8281988" cy="417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9637" name="直接箭头连接符 4"/>
          <p:cNvCxnSpPr>
            <a:cxnSpLocks noChangeShapeType="1"/>
          </p:cNvCxnSpPr>
          <p:nvPr/>
        </p:nvCxnSpPr>
        <p:spPr bwMode="auto">
          <a:xfrm flipH="1">
            <a:off x="6227763" y="3716338"/>
            <a:ext cx="936625" cy="0"/>
          </a:xfrm>
          <a:prstGeom prst="straightConnector1">
            <a:avLst/>
          </a:prstGeom>
          <a:noFill/>
          <a:ln w="19050" algn="ctr">
            <a:solidFill>
              <a:schemeClr val="tx1"/>
            </a:solidFill>
            <a:miter lim="800000"/>
            <a:headEnd type="none" w="lg" len="lg"/>
            <a:tailEnd type="stealth" w="lg" len="lg"/>
          </a:ln>
          <a:extLst>
            <a:ext uri="{909E8E84-426E-40DD-AFC4-6F175D3DCCD1}">
              <a14:hiddenFill xmlns:a14="http://schemas.microsoft.com/office/drawing/2010/main">
                <a:noFill/>
              </a14:hiddenFill>
            </a:ext>
          </a:extLst>
        </p:spPr>
      </p:cxnSp>
      <p:cxnSp>
        <p:nvCxnSpPr>
          <p:cNvPr id="69638" name="直接箭头连接符 60"/>
          <p:cNvCxnSpPr>
            <a:cxnSpLocks noChangeShapeType="1"/>
          </p:cNvCxnSpPr>
          <p:nvPr/>
        </p:nvCxnSpPr>
        <p:spPr bwMode="auto">
          <a:xfrm flipH="1">
            <a:off x="6227763" y="4508500"/>
            <a:ext cx="936625" cy="0"/>
          </a:xfrm>
          <a:prstGeom prst="straightConnector1">
            <a:avLst/>
          </a:prstGeom>
          <a:noFill/>
          <a:ln w="19050" algn="ctr">
            <a:solidFill>
              <a:schemeClr val="tx1"/>
            </a:solidFill>
            <a:miter lim="800000"/>
            <a:headEnd type="stealth" w="lg" len="lg"/>
            <a:tailEnd type="none" w="lg" len="lg"/>
          </a:ln>
          <a:extLst>
            <a:ext uri="{909E8E84-426E-40DD-AFC4-6F175D3DCCD1}">
              <a14:hiddenFill xmlns:a14="http://schemas.microsoft.com/office/drawing/2010/main">
                <a:noFill/>
              </a14:hiddenFill>
            </a:ext>
          </a:extLst>
        </p:spPr>
      </p:cxnSp>
      <p:sp>
        <p:nvSpPr>
          <p:cNvPr id="69639" name="TextBox 5"/>
          <p:cNvSpPr txBox="1">
            <a:spLocks noChangeArrowheads="1"/>
          </p:cNvSpPr>
          <p:nvPr/>
        </p:nvSpPr>
        <p:spPr bwMode="auto">
          <a:xfrm>
            <a:off x="6156325" y="3306763"/>
            <a:ext cx="1073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b="0">
                <a:ea typeface="黑体" panose="02010609060101010101" pitchFamily="49" charset="-122"/>
              </a:rPr>
              <a:t>DMA</a:t>
            </a:r>
            <a:r>
              <a:rPr lang="zh-CN" altLang="en-US" sz="1600" b="0">
                <a:ea typeface="黑体" panose="02010609060101010101" pitchFamily="49" charset="-122"/>
              </a:rPr>
              <a:t>请求</a:t>
            </a:r>
            <a:endParaRPr lang="zh-CN" altLang="en-US" sz="1600" b="0">
              <a:ea typeface="黑体" panose="02010609060101010101" pitchFamily="49" charset="-122"/>
            </a:endParaRPr>
          </a:p>
        </p:txBody>
      </p:sp>
      <p:sp>
        <p:nvSpPr>
          <p:cNvPr id="69640" name="TextBox 62"/>
          <p:cNvSpPr txBox="1">
            <a:spLocks noChangeArrowheads="1"/>
          </p:cNvSpPr>
          <p:nvPr/>
        </p:nvSpPr>
        <p:spPr bwMode="auto">
          <a:xfrm>
            <a:off x="6156325" y="4170363"/>
            <a:ext cx="1073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b="0">
                <a:ea typeface="黑体" panose="02010609060101010101" pitchFamily="49" charset="-122"/>
              </a:rPr>
              <a:t>DMA</a:t>
            </a:r>
            <a:r>
              <a:rPr lang="zh-CN" altLang="en-US" sz="1600" b="0">
                <a:ea typeface="黑体" panose="02010609060101010101" pitchFamily="49" charset="-122"/>
              </a:rPr>
              <a:t>证实</a:t>
            </a:r>
            <a:endParaRPr lang="zh-CN" altLang="en-US" sz="1600" b="0">
              <a:ea typeface="黑体" panose="02010609060101010101" pitchFamily="49" charset="-122"/>
            </a:endParaRPr>
          </a:p>
        </p:txBody>
      </p:sp>
      <p:cxnSp>
        <p:nvCxnSpPr>
          <p:cNvPr id="69641" name="直接箭头连接符 63"/>
          <p:cNvCxnSpPr>
            <a:cxnSpLocks noChangeShapeType="1"/>
          </p:cNvCxnSpPr>
          <p:nvPr/>
        </p:nvCxnSpPr>
        <p:spPr bwMode="auto">
          <a:xfrm flipH="1" flipV="1">
            <a:off x="2268538" y="3678238"/>
            <a:ext cx="3167062" cy="0"/>
          </a:xfrm>
          <a:prstGeom prst="straightConnector1">
            <a:avLst/>
          </a:prstGeom>
          <a:noFill/>
          <a:ln w="19050" algn="ctr">
            <a:solidFill>
              <a:schemeClr val="tx1"/>
            </a:solidFill>
            <a:miter lim="800000"/>
            <a:headEnd type="none" w="lg" len="lg"/>
            <a:tailEnd type="stealth" w="lg" len="lg"/>
          </a:ln>
          <a:extLst>
            <a:ext uri="{909E8E84-426E-40DD-AFC4-6F175D3DCCD1}">
              <a14:hiddenFill xmlns:a14="http://schemas.microsoft.com/office/drawing/2010/main">
                <a:noFill/>
              </a14:hiddenFill>
            </a:ext>
          </a:extLst>
        </p:spPr>
      </p:cxnSp>
      <p:cxnSp>
        <p:nvCxnSpPr>
          <p:cNvPr id="69642" name="直接箭头连接符 68"/>
          <p:cNvCxnSpPr>
            <a:cxnSpLocks noChangeShapeType="1"/>
          </p:cNvCxnSpPr>
          <p:nvPr/>
        </p:nvCxnSpPr>
        <p:spPr bwMode="auto">
          <a:xfrm flipH="1">
            <a:off x="2339975" y="4518025"/>
            <a:ext cx="3095625" cy="0"/>
          </a:xfrm>
          <a:prstGeom prst="straightConnector1">
            <a:avLst/>
          </a:prstGeom>
          <a:noFill/>
          <a:ln w="19050" algn="ctr">
            <a:solidFill>
              <a:schemeClr val="tx1"/>
            </a:solidFill>
            <a:miter lim="800000"/>
            <a:headEnd type="stealth" w="lg" len="lg"/>
            <a:tailEnd type="none" w="lg" len="lg"/>
          </a:ln>
          <a:extLst>
            <a:ext uri="{909E8E84-426E-40DD-AFC4-6F175D3DCCD1}">
              <a14:hiddenFill xmlns:a14="http://schemas.microsoft.com/office/drawing/2010/main">
                <a:noFill/>
              </a14:hiddenFill>
            </a:ext>
          </a:extLst>
        </p:spPr>
      </p:cxnSp>
      <p:sp>
        <p:nvSpPr>
          <p:cNvPr id="69643" name="TextBox 70"/>
          <p:cNvSpPr txBox="1">
            <a:spLocks noChangeArrowheads="1"/>
          </p:cNvSpPr>
          <p:nvPr/>
        </p:nvSpPr>
        <p:spPr bwMode="auto">
          <a:xfrm>
            <a:off x="2774950" y="3378200"/>
            <a:ext cx="10048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sz="1600" b="0">
                <a:ea typeface="黑体" panose="02010609060101010101" pitchFamily="49" charset="-122"/>
              </a:rPr>
              <a:t>总线请求</a:t>
            </a:r>
            <a:endParaRPr lang="zh-CN" altLang="en-US" sz="1600" b="0">
              <a:ea typeface="黑体" panose="02010609060101010101" pitchFamily="49" charset="-122"/>
            </a:endParaRPr>
          </a:p>
        </p:txBody>
      </p:sp>
      <p:sp>
        <p:nvSpPr>
          <p:cNvPr id="69644" name="TextBox 71"/>
          <p:cNvSpPr txBox="1">
            <a:spLocks noChangeArrowheads="1"/>
          </p:cNvSpPr>
          <p:nvPr/>
        </p:nvSpPr>
        <p:spPr bwMode="auto">
          <a:xfrm>
            <a:off x="2774950" y="4221163"/>
            <a:ext cx="10048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sz="1600" b="0">
                <a:ea typeface="黑体" panose="02010609060101010101" pitchFamily="49" charset="-122"/>
              </a:rPr>
              <a:t>总线证实</a:t>
            </a:r>
            <a:endParaRPr lang="zh-CN" altLang="en-US" sz="1600" b="0">
              <a:ea typeface="黑体" panose="02010609060101010101" pitchFamily="49" charset="-122"/>
            </a:endParaRPr>
          </a:p>
        </p:txBody>
      </p:sp>
    </p:spTree>
  </p:cSld>
  <p:clrMapOvr>
    <a:masterClrMapping/>
  </p:clrMapOvr>
  <p:transition spd="med">
    <p:pull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pPr eaLnBrk="1" hangingPunct="1">
              <a:defRPr/>
            </a:pPr>
            <a:r>
              <a:rPr lang="en-US" altLang="en-US"/>
              <a:t>DMA传送方式</a:t>
            </a:r>
            <a:endParaRPr lang="zh-CN" altLang="en-US"/>
          </a:p>
        </p:txBody>
      </p:sp>
      <p:sp>
        <p:nvSpPr>
          <p:cNvPr id="70659" name="Rectangle 3"/>
          <p:cNvSpPr>
            <a:spLocks noGrp="1" noChangeArrowheads="1"/>
          </p:cNvSpPr>
          <p:nvPr>
            <p:ph idx="1"/>
          </p:nvPr>
        </p:nvSpPr>
        <p:spPr/>
        <p:txBody>
          <a:bodyPr/>
          <a:lstStyle/>
          <a:p>
            <a:pPr eaLnBrk="1" hangingPunct="1"/>
            <a:r>
              <a:rPr lang="zh-CN" altLang="en-US" dirty="0"/>
              <a:t>成组传送方式（停止</a:t>
            </a:r>
            <a:r>
              <a:rPr lang="en-US" altLang="zh-CN" dirty="0"/>
              <a:t>CPU</a:t>
            </a:r>
            <a:r>
              <a:rPr lang="zh-CN" altLang="en-US" dirty="0"/>
              <a:t>访问内存）</a:t>
            </a:r>
            <a:endParaRPr lang="zh-CN" altLang="en-US" dirty="0"/>
          </a:p>
          <a:p>
            <a:pPr eaLnBrk="1" hangingPunct="1"/>
            <a:r>
              <a:rPr lang="zh-CN" altLang="en-US" dirty="0"/>
              <a:t>周期窃取方式</a:t>
            </a:r>
            <a:endParaRPr lang="zh-CN" altLang="en-US" dirty="0"/>
          </a:p>
          <a:p>
            <a:pPr eaLnBrk="1" hangingPunct="1"/>
            <a:r>
              <a:rPr lang="en-US" altLang="zh-CN" dirty="0"/>
              <a:t>DMA</a:t>
            </a:r>
            <a:r>
              <a:rPr lang="zh-CN" altLang="en-US" dirty="0"/>
              <a:t>与</a:t>
            </a:r>
            <a:r>
              <a:rPr lang="en-US" altLang="zh-CN" dirty="0"/>
              <a:t>CPU</a:t>
            </a:r>
            <a:r>
              <a:rPr lang="zh-CN" altLang="en-US" dirty="0"/>
              <a:t>交替访内存方式</a:t>
            </a:r>
            <a:endParaRPr lang="zh-CN" altLang="en-US" dirty="0"/>
          </a:p>
        </p:txBody>
      </p:sp>
    </p:spTree>
  </p:cSld>
  <p:clrMapOvr>
    <a:masterClrMapping/>
  </p:clrMapOvr>
  <p:transition spd="med">
    <p:pull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pPr eaLnBrk="1" hangingPunct="1">
              <a:defRPr/>
            </a:pPr>
            <a:r>
              <a:rPr lang="zh-CN" altLang="en-US"/>
              <a:t>成组传送方式</a:t>
            </a:r>
            <a:endParaRPr lang="zh-CN" altLang="en-US"/>
          </a:p>
        </p:txBody>
      </p:sp>
      <p:sp>
        <p:nvSpPr>
          <p:cNvPr id="71683" name="Rectangle 3"/>
          <p:cNvSpPr>
            <a:spLocks noGrp="1" noChangeArrowheads="1"/>
          </p:cNvSpPr>
          <p:nvPr>
            <p:ph idx="1"/>
          </p:nvPr>
        </p:nvSpPr>
        <p:spPr/>
        <p:txBody>
          <a:bodyPr/>
          <a:lstStyle/>
          <a:p>
            <a:pPr eaLnBrk="1" hangingPunct="1"/>
            <a:r>
              <a:rPr lang="en-US" altLang="zh-CN" sz="2800"/>
              <a:t>CPU</a:t>
            </a:r>
            <a:r>
              <a:rPr lang="zh-CN" altLang="en-US" sz="2800"/>
              <a:t>响应总线请求后，让出总线。</a:t>
            </a:r>
            <a:r>
              <a:rPr lang="en-US" altLang="zh-CN" sz="2800"/>
              <a:t>DMA</a:t>
            </a:r>
            <a:r>
              <a:rPr lang="zh-CN" altLang="en-US" sz="2800"/>
              <a:t>控制器把一组数据传送完毕后，才把总线控制权交还给</a:t>
            </a:r>
            <a:r>
              <a:rPr lang="en-US" altLang="zh-CN" sz="2800"/>
              <a:t>CPU</a:t>
            </a:r>
            <a:r>
              <a:rPr lang="zh-CN" altLang="en-US" sz="2800"/>
              <a:t>。</a:t>
            </a:r>
            <a:endParaRPr lang="zh-CN" altLang="en-US" sz="2800"/>
          </a:p>
          <a:p>
            <a:pPr eaLnBrk="1" hangingPunct="1"/>
            <a:r>
              <a:rPr lang="en-US" altLang="zh-CN" sz="2800"/>
              <a:t>DMA</a:t>
            </a:r>
            <a:r>
              <a:rPr lang="zh-CN" altLang="en-US" sz="2800"/>
              <a:t>传送过程中，</a:t>
            </a:r>
            <a:r>
              <a:rPr lang="en-US" altLang="zh-CN" sz="2800"/>
              <a:t>CPU</a:t>
            </a:r>
            <a:r>
              <a:rPr lang="zh-CN" altLang="en-US" sz="2800"/>
              <a:t>基本处于不工作状态或者说保持状态</a:t>
            </a:r>
            <a:endParaRPr lang="zh-CN" altLang="en-US" sz="2800"/>
          </a:p>
        </p:txBody>
      </p:sp>
      <p:pic>
        <p:nvPicPr>
          <p:cNvPr id="71685"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31913" y="2924175"/>
            <a:ext cx="7146925"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pPr eaLnBrk="1" hangingPunct="1">
              <a:defRPr/>
            </a:pPr>
            <a:r>
              <a:rPr lang="zh-CN" altLang="en-US"/>
              <a:t>特点</a:t>
            </a:r>
            <a:endParaRPr lang="zh-CN" altLang="en-US"/>
          </a:p>
        </p:txBody>
      </p:sp>
      <p:sp>
        <p:nvSpPr>
          <p:cNvPr id="72707" name="Rectangle 3"/>
          <p:cNvSpPr>
            <a:spLocks noGrp="1" noChangeArrowheads="1"/>
          </p:cNvSpPr>
          <p:nvPr>
            <p:ph idx="1"/>
          </p:nvPr>
        </p:nvSpPr>
        <p:spPr/>
        <p:txBody>
          <a:bodyPr/>
          <a:lstStyle/>
          <a:p>
            <a:pPr algn="just" eaLnBrk="1" hangingPunct="1"/>
            <a:r>
              <a:rPr lang="zh-CN" altLang="en-US">
                <a:latin typeface="宋体" panose="02010600030101010101" pitchFamily="2" charset="-122"/>
              </a:rPr>
              <a:t>优点</a:t>
            </a:r>
            <a:r>
              <a:rPr lang="en-US" altLang="zh-CN">
                <a:latin typeface="宋体" panose="02010600030101010101" pitchFamily="2" charset="-122"/>
                <a:cs typeface="Times New Roman" panose="02020603050405020304" pitchFamily="18" charset="0"/>
              </a:rPr>
              <a:t>: </a:t>
            </a:r>
            <a:r>
              <a:rPr lang="zh-CN" altLang="en-US">
                <a:latin typeface="宋体" panose="02010600030101010101" pitchFamily="2" charset="-122"/>
              </a:rPr>
              <a:t>控制简单，它适用于数据传输率很高的设备进行成组传送。</a:t>
            </a:r>
            <a:endParaRPr lang="zh-CN" altLang="en-US">
              <a:latin typeface="宋体" panose="02010600030101010101" pitchFamily="2" charset="-122"/>
              <a:cs typeface="Times New Roman" panose="02020603050405020304" pitchFamily="18" charset="0"/>
            </a:endParaRPr>
          </a:p>
          <a:p>
            <a:pPr algn="just" eaLnBrk="1" hangingPunct="1"/>
            <a:r>
              <a:rPr lang="zh-CN" altLang="en-US">
                <a:latin typeface="宋体" panose="02010600030101010101" pitchFamily="2" charset="-122"/>
              </a:rPr>
              <a:t>缺点</a:t>
            </a:r>
            <a:r>
              <a:rPr lang="en-US" altLang="zh-CN">
                <a:latin typeface="宋体" panose="02010600030101010101" pitchFamily="2" charset="-122"/>
                <a:cs typeface="Times New Roman" panose="02020603050405020304" pitchFamily="18" charset="0"/>
              </a:rPr>
              <a:t>: </a:t>
            </a:r>
            <a:r>
              <a:rPr lang="zh-CN" altLang="en-US">
                <a:latin typeface="宋体" panose="02010600030101010101" pitchFamily="2" charset="-122"/>
              </a:rPr>
              <a:t>在</a:t>
            </a:r>
            <a:r>
              <a:rPr lang="en-US" altLang="zh-CN">
                <a:latin typeface="宋体" panose="02010600030101010101" pitchFamily="2" charset="-122"/>
                <a:cs typeface="Times New Roman" panose="02020603050405020304" pitchFamily="18" charset="0"/>
              </a:rPr>
              <a:t>DMA</a:t>
            </a:r>
            <a:r>
              <a:rPr lang="zh-CN" altLang="en-US">
                <a:latin typeface="宋体" panose="02010600030101010101" pitchFamily="2" charset="-122"/>
                <a:cs typeface="Times New Roman" panose="02020603050405020304" pitchFamily="18" charset="0"/>
              </a:rPr>
              <a:t>传送过程中</a:t>
            </a:r>
            <a:r>
              <a:rPr lang="zh-CN" altLang="en-US">
                <a:latin typeface="宋体" panose="02010600030101010101" pitchFamily="2" charset="-122"/>
              </a:rPr>
              <a:t>，</a:t>
            </a:r>
            <a:r>
              <a:rPr lang="en-US" altLang="zh-CN">
                <a:latin typeface="宋体" panose="02010600030101010101" pitchFamily="2" charset="-122"/>
              </a:rPr>
              <a:t>CPU</a:t>
            </a:r>
            <a:r>
              <a:rPr lang="zh-CN" altLang="en-US">
                <a:latin typeface="宋体" panose="02010600030101010101" pitchFamily="2" charset="-122"/>
              </a:rPr>
              <a:t>没有总线控制权，无法处理紧急事件。</a:t>
            </a:r>
            <a:endParaRPr lang="zh-CN" altLang="en-US">
              <a:latin typeface="宋体" panose="02010600030101010101" pitchFamily="2" charset="-122"/>
            </a:endParaRPr>
          </a:p>
          <a:p>
            <a:pPr algn="just" eaLnBrk="1" hangingPunct="1"/>
            <a:r>
              <a:rPr lang="zh-CN" altLang="en-US">
                <a:latin typeface="宋体" panose="02010600030101010101" pitchFamily="2" charset="-122"/>
              </a:rPr>
              <a:t>成组传送的数据块不能太大</a:t>
            </a:r>
            <a:endParaRPr lang="zh-CN" altLang="en-US"/>
          </a:p>
        </p:txBody>
      </p:sp>
    </p:spTree>
  </p:cSld>
  <p:clrMapOvr>
    <a:masterClrMapping/>
  </p:clrMapOvr>
  <p:transition spd="med">
    <p:pull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defRPr/>
            </a:pPr>
            <a:r>
              <a:rPr lang="zh-CN" altLang="en-US"/>
              <a:t>周期窃取方式</a:t>
            </a:r>
            <a:endParaRPr lang="zh-CN" altLang="en-US"/>
          </a:p>
        </p:txBody>
      </p:sp>
      <p:sp>
        <p:nvSpPr>
          <p:cNvPr id="73731" name="Rectangle 3"/>
          <p:cNvSpPr>
            <a:spLocks noGrp="1" noChangeArrowheads="1"/>
          </p:cNvSpPr>
          <p:nvPr>
            <p:ph idx="1"/>
          </p:nvPr>
        </p:nvSpPr>
        <p:spPr/>
        <p:txBody>
          <a:bodyPr/>
          <a:lstStyle/>
          <a:p>
            <a:pPr eaLnBrk="1" hangingPunct="1"/>
            <a:r>
              <a:rPr lang="en-US" altLang="zh-CN"/>
              <a:t>DMA</a:t>
            </a:r>
            <a:r>
              <a:rPr lang="zh-CN" altLang="en-US"/>
              <a:t>控制器与主存储器之间传送一个数据，占用（窃取）一个</a:t>
            </a:r>
            <a:r>
              <a:rPr lang="en-US" altLang="zh-CN"/>
              <a:t>CPU</a:t>
            </a:r>
            <a:r>
              <a:rPr lang="zh-CN" altLang="en-US"/>
              <a:t>周期，即</a:t>
            </a:r>
            <a:r>
              <a:rPr lang="en-US" altLang="zh-CN"/>
              <a:t>CPU</a:t>
            </a:r>
            <a:r>
              <a:rPr lang="zh-CN" altLang="en-US"/>
              <a:t>暂停工作一个周期，然后继续执行程序</a:t>
            </a:r>
            <a:endParaRPr lang="zh-CN" altLang="en-US"/>
          </a:p>
          <a:p>
            <a:pPr eaLnBrk="1" hangingPunct="1"/>
            <a:r>
              <a:rPr lang="zh-CN" altLang="en-US"/>
              <a:t>特点：总线申请和归还存在过多的时间开销</a:t>
            </a:r>
            <a:endParaRPr lang="zh-CN" altLang="en-US"/>
          </a:p>
        </p:txBody>
      </p:sp>
      <p:pic>
        <p:nvPicPr>
          <p:cNvPr id="73733" name="Picture 4" descr="D:\jinerwork\组成\白中英版改编\Chap08\Image\8.11(b).gif"/>
          <p:cNvPicPr>
            <a:picLocks noChangeAspect="1" noChangeArrowheads="1"/>
          </p:cNvPicPr>
          <p:nvPr/>
        </p:nvPicPr>
        <p:blipFill>
          <a:blip r:embed="rId1" r:link="rId2">
            <a:extLst>
              <a:ext uri="{28A0092B-C50C-407E-A947-70E740481C1C}">
                <a14:useLocalDpi xmlns:a14="http://schemas.microsoft.com/office/drawing/2010/main" val="0"/>
              </a:ext>
            </a:extLst>
          </a:blip>
          <a:srcRect l="4355" t="3723" r="5225" b="18619"/>
          <a:stretch>
            <a:fillRect/>
          </a:stretch>
        </p:blipFill>
        <p:spPr bwMode="auto">
          <a:xfrm>
            <a:off x="755650" y="3070225"/>
            <a:ext cx="7920038"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eaLnBrk="1" hangingPunct="1">
              <a:defRPr/>
            </a:pPr>
            <a:r>
              <a:rPr lang="en-US" altLang="zh-CN"/>
              <a:t>DMA</a:t>
            </a:r>
            <a:r>
              <a:rPr lang="zh-CN" altLang="en-US"/>
              <a:t>与</a:t>
            </a:r>
            <a:r>
              <a:rPr lang="en-US" altLang="zh-CN"/>
              <a:t>CPU</a:t>
            </a:r>
            <a:r>
              <a:rPr lang="zh-CN" altLang="en-US"/>
              <a:t>交替访内存方式</a:t>
            </a:r>
            <a:endParaRPr lang="zh-CN" altLang="en-US"/>
          </a:p>
        </p:txBody>
      </p:sp>
      <p:sp>
        <p:nvSpPr>
          <p:cNvPr id="74755" name="Rectangle 3"/>
          <p:cNvSpPr>
            <a:spLocks noGrp="1" noChangeArrowheads="1"/>
          </p:cNvSpPr>
          <p:nvPr>
            <p:ph idx="1"/>
          </p:nvPr>
        </p:nvSpPr>
        <p:spPr/>
        <p:txBody>
          <a:bodyPr/>
          <a:lstStyle/>
          <a:p>
            <a:pPr eaLnBrk="1" hangingPunct="1"/>
            <a:r>
              <a:rPr lang="zh-CN" altLang="en-US" sz="2800" dirty="0"/>
              <a:t>不需要总线使用权的申请、建立和归还过程，总线使用权是通过</a:t>
            </a:r>
            <a:r>
              <a:rPr lang="en-US" altLang="zh-CN" sz="2800" dirty="0"/>
              <a:t>C1</a:t>
            </a:r>
            <a:r>
              <a:rPr lang="zh-CN" altLang="en-US" sz="2800" dirty="0"/>
              <a:t>和</a:t>
            </a:r>
            <a:r>
              <a:rPr lang="en-US" altLang="zh-CN" sz="2800" dirty="0"/>
              <a:t>C2</a:t>
            </a:r>
            <a:r>
              <a:rPr lang="zh-CN" altLang="en-US" sz="2800" dirty="0"/>
              <a:t>分时进行的（</a:t>
            </a:r>
            <a:r>
              <a:rPr lang="en-US" altLang="zh-CN" sz="2800" dirty="0"/>
              <a:t>C1+C2=CPU</a:t>
            </a:r>
            <a:r>
              <a:rPr lang="zh-CN" altLang="en-US" sz="2800" dirty="0"/>
              <a:t>周期）</a:t>
            </a:r>
            <a:endParaRPr lang="zh-CN" altLang="en-US" sz="2800" dirty="0"/>
          </a:p>
          <a:p>
            <a:pPr eaLnBrk="1" hangingPunct="1"/>
            <a:r>
              <a:rPr lang="zh-CN" altLang="en-US" sz="2800" dirty="0"/>
              <a:t>这种传送方式也称为“透明的</a:t>
            </a:r>
            <a:r>
              <a:rPr lang="en-US" altLang="zh-CN" sz="2800" dirty="0"/>
              <a:t>DMA”</a:t>
            </a:r>
            <a:r>
              <a:rPr lang="zh-CN" altLang="en-US" sz="2800" dirty="0"/>
              <a:t>方式。</a:t>
            </a:r>
            <a:r>
              <a:rPr lang="en-US" altLang="zh-CN" sz="2800" dirty="0"/>
              <a:t>CPU</a:t>
            </a:r>
            <a:r>
              <a:rPr lang="zh-CN" altLang="en-US" sz="2800" dirty="0"/>
              <a:t>既不停止主程序的运行，也不进入等待状态</a:t>
            </a:r>
            <a:endParaRPr lang="zh-CN" altLang="en-US" sz="2800" dirty="0"/>
          </a:p>
          <a:p>
            <a:pPr eaLnBrk="1" hangingPunct="1"/>
            <a:r>
              <a:rPr lang="zh-CN" altLang="en-US" sz="2800" dirty="0"/>
              <a:t>使用该方式的前提条件：</a:t>
            </a:r>
            <a:r>
              <a:rPr lang="en-US" altLang="zh-CN" sz="2800" dirty="0">
                <a:latin typeface="楷体_GB2312" pitchFamily="49" charset="-122"/>
              </a:rPr>
              <a:t>CPU</a:t>
            </a:r>
            <a:r>
              <a:rPr lang="zh-CN" altLang="en-US" sz="2800" dirty="0">
                <a:latin typeface="楷体_GB2312" pitchFamily="49" charset="-122"/>
              </a:rPr>
              <a:t>的工作周期比内存存取周期长很多</a:t>
            </a:r>
            <a:endParaRPr lang="zh-CN" altLang="en-US" sz="2800" dirty="0">
              <a:latin typeface="楷体_GB2312" pitchFamily="49" charset="-122"/>
            </a:endParaRPr>
          </a:p>
        </p:txBody>
      </p:sp>
      <p:pic>
        <p:nvPicPr>
          <p:cNvPr id="74757" name="Picture 4" descr="D:\jinerwork\组成\白中英版改编\Chap08\Image\8.11(c).gif"/>
          <p:cNvPicPr>
            <a:picLocks noChangeAspect="1" noChangeArrowheads="1"/>
          </p:cNvPicPr>
          <p:nvPr/>
        </p:nvPicPr>
        <p:blipFill>
          <a:blip r:embed="rId1" r:link="rId2">
            <a:extLst>
              <a:ext uri="{28A0092B-C50C-407E-A947-70E740481C1C}">
                <a14:useLocalDpi xmlns:a14="http://schemas.microsoft.com/office/drawing/2010/main" val="0"/>
              </a:ext>
            </a:extLst>
          </a:blip>
          <a:srcRect l="4355" t="5586" r="4355" b="24203"/>
          <a:stretch>
            <a:fillRect/>
          </a:stretch>
        </p:blipFill>
        <p:spPr bwMode="auto">
          <a:xfrm>
            <a:off x="1371600" y="4267200"/>
            <a:ext cx="6400800" cy="2299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38"/>
          <p:cNvSpPr txBox="1">
            <a:spLocks noChangeArrowheads="1"/>
          </p:cNvSpPr>
          <p:nvPr/>
        </p:nvSpPr>
        <p:spPr bwMode="auto">
          <a:xfrm>
            <a:off x="3851275" y="4922838"/>
            <a:ext cx="1219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1600">
                <a:latin typeface="楷体" panose="02010609060101010101" pitchFamily="49" charset="-122"/>
                <a:ea typeface="楷体" panose="02010609060101010101" pitchFamily="49" charset="-122"/>
              </a:rPr>
              <a:t>DMA</a:t>
            </a:r>
            <a:r>
              <a:rPr lang="zh-CN" altLang="en-US" sz="1600">
                <a:latin typeface="楷体" panose="02010609060101010101" pitchFamily="49" charset="-122"/>
                <a:ea typeface="楷体" panose="02010609060101010101" pitchFamily="49" charset="-122"/>
              </a:rPr>
              <a:t>请求</a:t>
            </a:r>
            <a:endParaRPr lang="zh-CN" altLang="en-US" sz="1600">
              <a:latin typeface="楷体" panose="02010609060101010101" pitchFamily="49" charset="-122"/>
              <a:ea typeface="楷体" panose="02010609060101010101" pitchFamily="49" charset="-122"/>
            </a:endParaRPr>
          </a:p>
        </p:txBody>
      </p:sp>
      <p:sp>
        <p:nvSpPr>
          <p:cNvPr id="327682" name="Rectangle 2"/>
          <p:cNvSpPr>
            <a:spLocks noGrp="1" noChangeArrowheads="1"/>
          </p:cNvSpPr>
          <p:nvPr>
            <p:ph type="title"/>
          </p:nvPr>
        </p:nvSpPr>
        <p:spPr/>
        <p:txBody>
          <a:bodyPr/>
          <a:lstStyle/>
          <a:p>
            <a:pPr eaLnBrk="1" hangingPunct="1">
              <a:defRPr/>
            </a:pPr>
            <a:r>
              <a:rPr lang="en-US" altLang="zh-CN"/>
              <a:t>DMA</a:t>
            </a:r>
            <a:r>
              <a:rPr lang="zh-CN" altLang="en-US"/>
              <a:t>控制器的基本组成 </a:t>
            </a:r>
            <a:endParaRPr lang="zh-CN" altLang="en-US"/>
          </a:p>
        </p:txBody>
      </p:sp>
      <p:sp>
        <p:nvSpPr>
          <p:cNvPr id="75781" name="Rectangle 0"/>
          <p:cNvSpPr>
            <a:spLocks noChangeArrowheads="1"/>
          </p:cNvSpPr>
          <p:nvPr/>
        </p:nvSpPr>
        <p:spPr bwMode="auto">
          <a:xfrm>
            <a:off x="685800" y="2219325"/>
            <a:ext cx="457200" cy="1801813"/>
          </a:xfrm>
          <a:prstGeom prst="rect">
            <a:avLst/>
          </a:prstGeom>
          <a:solidFill>
            <a:srgbClr val="0099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latin typeface="楷体" panose="02010609060101010101" pitchFamily="49" charset="-122"/>
                <a:ea typeface="楷体" panose="02010609060101010101" pitchFamily="49" charset="-122"/>
              </a:rPr>
              <a:t>内</a:t>
            </a:r>
            <a:endParaRPr lang="zh-CN" altLang="en-US" sz="240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zh-CN" altLang="en-US" sz="2400">
                <a:solidFill>
                  <a:schemeClr val="bg1"/>
                </a:solidFill>
                <a:latin typeface="楷体" panose="02010609060101010101" pitchFamily="49" charset="-122"/>
                <a:ea typeface="楷体" panose="02010609060101010101" pitchFamily="49" charset="-122"/>
              </a:rPr>
              <a:t>存</a:t>
            </a:r>
            <a:endParaRPr lang="zh-CN" altLang="en-US" sz="2400">
              <a:solidFill>
                <a:schemeClr val="bg1"/>
              </a:solidFill>
              <a:latin typeface="楷体" panose="02010609060101010101" pitchFamily="49" charset="-122"/>
              <a:ea typeface="楷体" panose="02010609060101010101" pitchFamily="49" charset="-122"/>
            </a:endParaRPr>
          </a:p>
        </p:txBody>
      </p:sp>
      <p:sp>
        <p:nvSpPr>
          <p:cNvPr id="75782" name="Rectangle 1"/>
          <p:cNvSpPr>
            <a:spLocks noChangeArrowheads="1"/>
          </p:cNvSpPr>
          <p:nvPr/>
        </p:nvSpPr>
        <p:spPr bwMode="auto">
          <a:xfrm>
            <a:off x="1295400" y="2219325"/>
            <a:ext cx="457200" cy="1801813"/>
          </a:xfrm>
          <a:prstGeom prst="rect">
            <a:avLst/>
          </a:prstGeom>
          <a:solidFill>
            <a:srgbClr val="80008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800">
                <a:solidFill>
                  <a:schemeClr val="bg1"/>
                </a:solidFill>
                <a:latin typeface="楷体" panose="02010609060101010101" pitchFamily="49" charset="-122"/>
                <a:ea typeface="楷体" panose="02010609060101010101" pitchFamily="49" charset="-122"/>
              </a:rPr>
              <a:t>C</a:t>
            </a:r>
            <a:endParaRPr lang="en-US" altLang="zh-CN" sz="180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en-US" altLang="zh-CN" sz="1800">
                <a:solidFill>
                  <a:schemeClr val="bg1"/>
                </a:solidFill>
                <a:latin typeface="楷体" panose="02010609060101010101" pitchFamily="49" charset="-122"/>
                <a:ea typeface="楷体" panose="02010609060101010101" pitchFamily="49" charset="-122"/>
              </a:rPr>
              <a:t>P</a:t>
            </a:r>
            <a:endParaRPr lang="en-US" altLang="zh-CN" sz="180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en-US" altLang="zh-CN" sz="1800">
                <a:solidFill>
                  <a:schemeClr val="bg1"/>
                </a:solidFill>
                <a:latin typeface="楷体" panose="02010609060101010101" pitchFamily="49" charset="-122"/>
                <a:ea typeface="楷体" panose="02010609060101010101" pitchFamily="49" charset="-122"/>
              </a:rPr>
              <a:t>U</a:t>
            </a:r>
            <a:endParaRPr lang="en-US" altLang="zh-CN" sz="2000">
              <a:solidFill>
                <a:schemeClr val="bg1"/>
              </a:solidFill>
              <a:latin typeface="楷体" panose="02010609060101010101" pitchFamily="49" charset="-122"/>
              <a:ea typeface="楷体" panose="02010609060101010101" pitchFamily="49" charset="-122"/>
            </a:endParaRPr>
          </a:p>
        </p:txBody>
      </p:sp>
      <p:sp>
        <p:nvSpPr>
          <p:cNvPr id="75783" name="Rectangle 2"/>
          <p:cNvSpPr>
            <a:spLocks noChangeArrowheads="1"/>
          </p:cNvSpPr>
          <p:nvPr/>
        </p:nvSpPr>
        <p:spPr bwMode="auto">
          <a:xfrm>
            <a:off x="6083300" y="2012950"/>
            <a:ext cx="1752600" cy="563563"/>
          </a:xfrm>
          <a:prstGeom prst="rect">
            <a:avLst/>
          </a:prstGeom>
          <a:solidFill>
            <a:srgbClr val="00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latin typeface="楷体" panose="02010609060101010101" pitchFamily="49" charset="-122"/>
                <a:ea typeface="楷体" panose="02010609060101010101" pitchFamily="49" charset="-122"/>
              </a:rPr>
              <a:t>内存地址计数器</a:t>
            </a:r>
            <a:endParaRPr lang="zh-CN" altLang="en-US" sz="2000">
              <a:solidFill>
                <a:schemeClr val="bg1"/>
              </a:solidFill>
              <a:latin typeface="楷体" panose="02010609060101010101" pitchFamily="49" charset="-122"/>
              <a:ea typeface="楷体" panose="02010609060101010101" pitchFamily="49" charset="-122"/>
            </a:endParaRPr>
          </a:p>
        </p:txBody>
      </p:sp>
      <p:sp>
        <p:nvSpPr>
          <p:cNvPr id="75784" name="Rectangle 3"/>
          <p:cNvSpPr>
            <a:spLocks noChangeArrowheads="1"/>
          </p:cNvSpPr>
          <p:nvPr/>
        </p:nvSpPr>
        <p:spPr bwMode="auto">
          <a:xfrm>
            <a:off x="6096000" y="2895600"/>
            <a:ext cx="1752600" cy="563563"/>
          </a:xfrm>
          <a:prstGeom prst="rect">
            <a:avLst/>
          </a:prstGeom>
          <a:solidFill>
            <a:srgbClr val="00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latin typeface="楷体" panose="02010609060101010101" pitchFamily="49" charset="-122"/>
                <a:ea typeface="楷体" panose="02010609060101010101" pitchFamily="49" charset="-122"/>
              </a:rPr>
              <a:t>字计数器</a:t>
            </a:r>
            <a:endParaRPr lang="zh-CN" altLang="en-US" sz="2400">
              <a:solidFill>
                <a:schemeClr val="bg1"/>
              </a:solidFill>
              <a:latin typeface="楷体" panose="02010609060101010101" pitchFamily="49" charset="-122"/>
              <a:ea typeface="楷体" panose="02010609060101010101" pitchFamily="49" charset="-122"/>
            </a:endParaRPr>
          </a:p>
        </p:txBody>
      </p:sp>
      <p:sp>
        <p:nvSpPr>
          <p:cNvPr id="75785" name="Rectangle 5"/>
          <p:cNvSpPr>
            <a:spLocks noChangeArrowheads="1"/>
          </p:cNvSpPr>
          <p:nvPr/>
        </p:nvSpPr>
        <p:spPr bwMode="auto">
          <a:xfrm>
            <a:off x="6461125" y="3979863"/>
            <a:ext cx="1371600" cy="525462"/>
          </a:xfrm>
          <a:prstGeom prst="rect">
            <a:avLst/>
          </a:prstGeom>
          <a:solidFill>
            <a:srgbClr val="00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latin typeface="楷体" panose="02010609060101010101" pitchFamily="49" charset="-122"/>
                <a:ea typeface="楷体" panose="02010609060101010101" pitchFamily="49" charset="-122"/>
              </a:rPr>
              <a:t>设备选择</a:t>
            </a:r>
            <a:endParaRPr lang="zh-CN" altLang="en-US" sz="2400">
              <a:solidFill>
                <a:schemeClr val="bg1"/>
              </a:solidFill>
              <a:latin typeface="楷体" panose="02010609060101010101" pitchFamily="49" charset="-122"/>
              <a:ea typeface="楷体" panose="02010609060101010101" pitchFamily="49" charset="-122"/>
            </a:endParaRPr>
          </a:p>
        </p:txBody>
      </p:sp>
      <p:sp>
        <p:nvSpPr>
          <p:cNvPr id="75786" name="Rectangle 6"/>
          <p:cNvSpPr>
            <a:spLocks noChangeArrowheads="1"/>
          </p:cNvSpPr>
          <p:nvPr/>
        </p:nvSpPr>
        <p:spPr bwMode="auto">
          <a:xfrm>
            <a:off x="2514600" y="2041525"/>
            <a:ext cx="1143000" cy="544513"/>
          </a:xfrm>
          <a:prstGeom prst="rect">
            <a:avLst/>
          </a:prstGeom>
          <a:solidFill>
            <a:srgbClr val="00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latin typeface="楷体" panose="02010609060101010101" pitchFamily="49" charset="-122"/>
                <a:ea typeface="楷体" panose="02010609060101010101" pitchFamily="49" charset="-122"/>
              </a:rPr>
              <a:t>中断机构</a:t>
            </a:r>
            <a:endParaRPr lang="zh-CN" altLang="en-US" sz="2000">
              <a:solidFill>
                <a:schemeClr val="bg1"/>
              </a:solidFill>
              <a:latin typeface="楷体" panose="02010609060101010101" pitchFamily="49" charset="-122"/>
              <a:ea typeface="楷体" panose="02010609060101010101" pitchFamily="49" charset="-122"/>
            </a:endParaRPr>
          </a:p>
        </p:txBody>
      </p:sp>
      <p:sp>
        <p:nvSpPr>
          <p:cNvPr id="75787" name="Rectangle 7"/>
          <p:cNvSpPr>
            <a:spLocks noChangeArrowheads="1"/>
          </p:cNvSpPr>
          <p:nvPr/>
        </p:nvSpPr>
        <p:spPr bwMode="auto">
          <a:xfrm>
            <a:off x="2514600" y="2914650"/>
            <a:ext cx="1676400" cy="561975"/>
          </a:xfrm>
          <a:prstGeom prst="rect">
            <a:avLst/>
          </a:prstGeom>
          <a:solidFill>
            <a:srgbClr val="00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1800">
                <a:solidFill>
                  <a:schemeClr val="bg1"/>
                </a:solidFill>
                <a:latin typeface="楷体" panose="02010609060101010101" pitchFamily="49" charset="-122"/>
                <a:ea typeface="楷体" panose="02010609060101010101" pitchFamily="49" charset="-122"/>
              </a:rPr>
              <a:t>控制</a:t>
            </a:r>
            <a:r>
              <a:rPr lang="en-US" altLang="zh-CN" sz="1800">
                <a:solidFill>
                  <a:schemeClr val="bg1"/>
                </a:solidFill>
                <a:latin typeface="楷体" panose="02010609060101010101" pitchFamily="49" charset="-122"/>
                <a:ea typeface="楷体" panose="02010609060101010101" pitchFamily="49" charset="-122"/>
              </a:rPr>
              <a:t>/</a:t>
            </a:r>
            <a:r>
              <a:rPr lang="zh-CN" altLang="en-US" sz="1800">
                <a:solidFill>
                  <a:schemeClr val="bg1"/>
                </a:solidFill>
                <a:latin typeface="楷体" panose="02010609060101010101" pitchFamily="49" charset="-122"/>
                <a:ea typeface="楷体" panose="02010609060101010101" pitchFamily="49" charset="-122"/>
              </a:rPr>
              <a:t>状态逻辑</a:t>
            </a:r>
            <a:endParaRPr lang="zh-CN" altLang="en-US" sz="2000">
              <a:solidFill>
                <a:schemeClr val="bg1"/>
              </a:solidFill>
              <a:latin typeface="楷体" panose="02010609060101010101" pitchFamily="49" charset="-122"/>
              <a:ea typeface="楷体" panose="02010609060101010101" pitchFamily="49" charset="-122"/>
            </a:endParaRPr>
          </a:p>
        </p:txBody>
      </p:sp>
      <p:sp>
        <p:nvSpPr>
          <p:cNvPr id="75788" name="Rectangle 8"/>
          <p:cNvSpPr>
            <a:spLocks noChangeArrowheads="1"/>
          </p:cNvSpPr>
          <p:nvPr/>
        </p:nvSpPr>
        <p:spPr bwMode="auto">
          <a:xfrm>
            <a:off x="2895600" y="3932238"/>
            <a:ext cx="1066800" cy="1238250"/>
          </a:xfrm>
          <a:prstGeom prst="rect">
            <a:avLst/>
          </a:prstGeom>
          <a:solidFill>
            <a:srgbClr val="00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800">
                <a:solidFill>
                  <a:schemeClr val="bg1"/>
                </a:solidFill>
                <a:latin typeface="楷体" panose="02010609060101010101" pitchFamily="49" charset="-122"/>
                <a:ea typeface="楷体" panose="02010609060101010101" pitchFamily="49" charset="-122"/>
              </a:rPr>
              <a:t>0            1</a:t>
            </a:r>
            <a:endParaRPr lang="en-US" altLang="zh-CN" sz="180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en-US" altLang="zh-CN" sz="1800">
                <a:solidFill>
                  <a:schemeClr val="bg1"/>
                </a:solidFill>
                <a:latin typeface="楷体" panose="02010609060101010101" pitchFamily="49" charset="-122"/>
                <a:ea typeface="楷体" panose="02010609060101010101" pitchFamily="49" charset="-122"/>
              </a:rPr>
              <a:t>DAM</a:t>
            </a:r>
            <a:endParaRPr lang="en-US" altLang="zh-CN" sz="180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zh-CN" altLang="en-US" sz="1800">
                <a:solidFill>
                  <a:schemeClr val="bg1"/>
                </a:solidFill>
                <a:latin typeface="楷体" panose="02010609060101010101" pitchFamily="49" charset="-122"/>
                <a:ea typeface="楷体" panose="02010609060101010101" pitchFamily="49" charset="-122"/>
              </a:rPr>
              <a:t>请求标志</a:t>
            </a:r>
            <a:endParaRPr lang="zh-CN" altLang="en-US" sz="2000">
              <a:solidFill>
                <a:schemeClr val="bg1"/>
              </a:solidFill>
              <a:latin typeface="楷体" panose="02010609060101010101" pitchFamily="49" charset="-122"/>
              <a:ea typeface="楷体" panose="02010609060101010101" pitchFamily="49" charset="-122"/>
            </a:endParaRPr>
          </a:p>
        </p:txBody>
      </p:sp>
      <p:sp>
        <p:nvSpPr>
          <p:cNvPr id="75789" name="Rectangle 9"/>
          <p:cNvSpPr>
            <a:spLocks noChangeArrowheads="1"/>
          </p:cNvSpPr>
          <p:nvPr/>
        </p:nvSpPr>
        <p:spPr bwMode="auto">
          <a:xfrm>
            <a:off x="4648200" y="5661025"/>
            <a:ext cx="4281488" cy="504825"/>
          </a:xfrm>
          <a:prstGeom prst="rect">
            <a:avLst/>
          </a:prstGeom>
          <a:solidFill>
            <a:srgbClr val="CC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latin typeface="楷体" panose="02010609060101010101" pitchFamily="49" charset="-122"/>
                <a:ea typeface="楷体" panose="02010609060101010101" pitchFamily="49" charset="-122"/>
              </a:rPr>
              <a:t>设备</a:t>
            </a:r>
            <a:endParaRPr lang="zh-CN" altLang="en-US" sz="2400">
              <a:solidFill>
                <a:schemeClr val="bg1"/>
              </a:solidFill>
              <a:latin typeface="楷体" panose="02010609060101010101" pitchFamily="49" charset="-122"/>
              <a:ea typeface="楷体" panose="02010609060101010101" pitchFamily="49" charset="-122"/>
            </a:endParaRPr>
          </a:p>
        </p:txBody>
      </p:sp>
      <p:sp>
        <p:nvSpPr>
          <p:cNvPr id="75790" name="Rectangle 10"/>
          <p:cNvSpPr>
            <a:spLocks noChangeArrowheads="1"/>
          </p:cNvSpPr>
          <p:nvPr/>
        </p:nvSpPr>
        <p:spPr bwMode="auto">
          <a:xfrm>
            <a:off x="457200" y="1125538"/>
            <a:ext cx="8472488" cy="306387"/>
          </a:xfrm>
          <a:prstGeom prst="rect">
            <a:avLst/>
          </a:prstGeom>
          <a:solidFill>
            <a:srgbClr val="CC33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a:solidFill>
                  <a:schemeClr val="bg1"/>
                </a:solidFill>
                <a:latin typeface="楷体" panose="02010609060101010101" pitchFamily="49" charset="-122"/>
                <a:ea typeface="楷体" panose="02010609060101010101" pitchFamily="49" charset="-122"/>
              </a:rPr>
              <a:t>系    统    总    线</a:t>
            </a:r>
            <a:endParaRPr lang="zh-CN" altLang="en-US" sz="2400">
              <a:solidFill>
                <a:schemeClr val="bg1"/>
              </a:solidFill>
              <a:latin typeface="楷体" panose="02010609060101010101" pitchFamily="49" charset="-122"/>
              <a:ea typeface="楷体" panose="02010609060101010101" pitchFamily="49" charset="-122"/>
            </a:endParaRPr>
          </a:p>
        </p:txBody>
      </p:sp>
      <p:sp>
        <p:nvSpPr>
          <p:cNvPr id="75791" name="AutoShape 11"/>
          <p:cNvSpPr>
            <a:spLocks noChangeArrowheads="1"/>
          </p:cNvSpPr>
          <p:nvPr/>
        </p:nvSpPr>
        <p:spPr bwMode="auto">
          <a:xfrm>
            <a:off x="1416050" y="1431925"/>
            <a:ext cx="228600" cy="787400"/>
          </a:xfrm>
          <a:prstGeom prst="upDownArrow">
            <a:avLst>
              <a:gd name="adj1" fmla="val 50000"/>
              <a:gd name="adj2" fmla="val 68889"/>
            </a:avLst>
          </a:prstGeom>
          <a:gradFill rotWithShape="0">
            <a:gsLst>
              <a:gs pos="0">
                <a:schemeClr val="hlink"/>
              </a:gs>
              <a:gs pos="100000">
                <a:srgbClr val="009900"/>
              </a:gs>
            </a:gsLst>
            <a:lin ang="5400000" scaled="1"/>
          </a:gradFill>
          <a:ln w="9525">
            <a:solidFill>
              <a:schemeClr val="tx1"/>
            </a:solidFill>
            <a:miter lim="800000"/>
          </a:ln>
        </p:spPr>
        <p:txBody>
          <a:bodyPr vert="eaVert"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5792" name="AutoShape 12"/>
          <p:cNvSpPr>
            <a:spLocks noChangeArrowheads="1"/>
          </p:cNvSpPr>
          <p:nvPr/>
        </p:nvSpPr>
        <p:spPr bwMode="auto">
          <a:xfrm>
            <a:off x="809625" y="1431925"/>
            <a:ext cx="228600" cy="787400"/>
          </a:xfrm>
          <a:prstGeom prst="upDownArrow">
            <a:avLst>
              <a:gd name="adj1" fmla="val 50000"/>
              <a:gd name="adj2" fmla="val 68889"/>
            </a:avLst>
          </a:prstGeom>
          <a:gradFill rotWithShape="0">
            <a:gsLst>
              <a:gs pos="0">
                <a:schemeClr val="hlink"/>
              </a:gs>
              <a:gs pos="100000">
                <a:srgbClr val="009900"/>
              </a:gs>
            </a:gsLst>
            <a:lin ang="5400000" scaled="1"/>
          </a:gradFill>
          <a:ln w="9525">
            <a:solidFill>
              <a:schemeClr val="tx1"/>
            </a:solidFill>
            <a:miter lim="800000"/>
          </a:ln>
        </p:spPr>
        <p:txBody>
          <a:bodyPr vert="eaVert"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5793" name="AutoShape 13"/>
          <p:cNvSpPr>
            <a:spLocks noChangeArrowheads="1"/>
          </p:cNvSpPr>
          <p:nvPr/>
        </p:nvSpPr>
        <p:spPr bwMode="auto">
          <a:xfrm>
            <a:off x="6858000" y="1431925"/>
            <a:ext cx="228600" cy="561975"/>
          </a:xfrm>
          <a:prstGeom prst="upArrow">
            <a:avLst>
              <a:gd name="adj1" fmla="val 50000"/>
              <a:gd name="adj2" fmla="val 61458"/>
            </a:avLst>
          </a:prstGeom>
          <a:solidFill>
            <a:srgbClr val="009900"/>
          </a:solidFill>
          <a:ln w="9525">
            <a:solidFill>
              <a:schemeClr val="tx1"/>
            </a:solidFill>
            <a:miter lim="800000"/>
          </a:ln>
        </p:spPr>
        <p:txBody>
          <a:bodyPr vert="eaVert"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5794" name="AutoShape 15"/>
          <p:cNvSpPr>
            <a:spLocks noChangeArrowheads="1"/>
          </p:cNvSpPr>
          <p:nvPr/>
        </p:nvSpPr>
        <p:spPr bwMode="auto">
          <a:xfrm>
            <a:off x="5362575" y="2197100"/>
            <a:ext cx="714375" cy="247650"/>
          </a:xfrm>
          <a:prstGeom prst="rightArrow">
            <a:avLst>
              <a:gd name="adj1" fmla="val 50000"/>
              <a:gd name="adj2" fmla="val 72115"/>
            </a:avLst>
          </a:prstGeom>
          <a:solidFill>
            <a:schemeClr val="hlink"/>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5795" name="AutoShape 16"/>
          <p:cNvSpPr>
            <a:spLocks noChangeArrowheads="1"/>
          </p:cNvSpPr>
          <p:nvPr/>
        </p:nvSpPr>
        <p:spPr bwMode="auto">
          <a:xfrm>
            <a:off x="5365750" y="3032125"/>
            <a:ext cx="714375" cy="247650"/>
          </a:xfrm>
          <a:prstGeom prst="rightArrow">
            <a:avLst>
              <a:gd name="adj1" fmla="val 50000"/>
              <a:gd name="adj2" fmla="val 72115"/>
            </a:avLst>
          </a:prstGeom>
          <a:solidFill>
            <a:schemeClr val="hlink"/>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5796" name="Line 17"/>
          <p:cNvSpPr>
            <a:spLocks noChangeShapeType="1"/>
          </p:cNvSpPr>
          <p:nvPr/>
        </p:nvSpPr>
        <p:spPr bwMode="auto">
          <a:xfrm flipV="1">
            <a:off x="4953000" y="4941888"/>
            <a:ext cx="0" cy="7191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797" name="Line 18"/>
          <p:cNvSpPr>
            <a:spLocks noChangeShapeType="1"/>
          </p:cNvSpPr>
          <p:nvPr/>
        </p:nvSpPr>
        <p:spPr bwMode="auto">
          <a:xfrm flipH="1">
            <a:off x="3962400" y="4221163"/>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798" name="Line 19"/>
          <p:cNvSpPr>
            <a:spLocks noChangeShapeType="1"/>
          </p:cNvSpPr>
          <p:nvPr/>
        </p:nvSpPr>
        <p:spPr bwMode="auto">
          <a:xfrm flipH="1" flipV="1">
            <a:off x="3810000" y="3481388"/>
            <a:ext cx="0" cy="4524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799" name="Line 20"/>
          <p:cNvSpPr>
            <a:spLocks noChangeShapeType="1"/>
          </p:cNvSpPr>
          <p:nvPr/>
        </p:nvSpPr>
        <p:spPr bwMode="auto">
          <a:xfrm>
            <a:off x="2727325" y="3481388"/>
            <a:ext cx="0" cy="6762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0" name="Line 21"/>
          <p:cNvSpPr>
            <a:spLocks noChangeShapeType="1"/>
          </p:cNvSpPr>
          <p:nvPr/>
        </p:nvSpPr>
        <p:spPr bwMode="auto">
          <a:xfrm>
            <a:off x="2727325" y="4157663"/>
            <a:ext cx="1682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1" name="Line 22"/>
          <p:cNvSpPr>
            <a:spLocks noChangeShapeType="1"/>
          </p:cNvSpPr>
          <p:nvPr/>
        </p:nvSpPr>
        <p:spPr bwMode="auto">
          <a:xfrm flipV="1">
            <a:off x="3048000" y="1431925"/>
            <a:ext cx="0" cy="5619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2" name="Line 23"/>
          <p:cNvSpPr>
            <a:spLocks noChangeShapeType="1"/>
          </p:cNvSpPr>
          <p:nvPr/>
        </p:nvSpPr>
        <p:spPr bwMode="auto">
          <a:xfrm flipH="1">
            <a:off x="4267200" y="2763838"/>
            <a:ext cx="2133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3" name="Line 24"/>
          <p:cNvSpPr>
            <a:spLocks noChangeShapeType="1"/>
          </p:cNvSpPr>
          <p:nvPr/>
        </p:nvSpPr>
        <p:spPr bwMode="auto">
          <a:xfrm flipH="1">
            <a:off x="3657600" y="2425700"/>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4" name="Line 25"/>
          <p:cNvSpPr>
            <a:spLocks noChangeShapeType="1"/>
          </p:cNvSpPr>
          <p:nvPr/>
        </p:nvSpPr>
        <p:spPr bwMode="auto">
          <a:xfrm>
            <a:off x="6400800" y="2782888"/>
            <a:ext cx="0" cy="1127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5" name="Line 26"/>
          <p:cNvSpPr>
            <a:spLocks noChangeShapeType="1"/>
          </p:cNvSpPr>
          <p:nvPr/>
        </p:nvSpPr>
        <p:spPr bwMode="auto">
          <a:xfrm>
            <a:off x="8080375" y="2219325"/>
            <a:ext cx="0" cy="101441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6" name="Line 27"/>
          <p:cNvSpPr>
            <a:spLocks noChangeShapeType="1"/>
          </p:cNvSpPr>
          <p:nvPr/>
        </p:nvSpPr>
        <p:spPr bwMode="auto">
          <a:xfrm flipH="1">
            <a:off x="7848600" y="2219325"/>
            <a:ext cx="228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7" name="Line 28"/>
          <p:cNvSpPr>
            <a:spLocks noChangeShapeType="1"/>
          </p:cNvSpPr>
          <p:nvPr/>
        </p:nvSpPr>
        <p:spPr bwMode="auto">
          <a:xfrm flipH="1">
            <a:off x="7848600" y="3209925"/>
            <a:ext cx="228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8" name="Line 29"/>
          <p:cNvSpPr>
            <a:spLocks noChangeShapeType="1"/>
          </p:cNvSpPr>
          <p:nvPr/>
        </p:nvSpPr>
        <p:spPr bwMode="auto">
          <a:xfrm flipH="1">
            <a:off x="3962400" y="2689225"/>
            <a:ext cx="4114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09" name="Line 30"/>
          <p:cNvSpPr>
            <a:spLocks noChangeShapeType="1"/>
          </p:cNvSpPr>
          <p:nvPr/>
        </p:nvSpPr>
        <p:spPr bwMode="auto">
          <a:xfrm>
            <a:off x="3962400" y="2693988"/>
            <a:ext cx="0" cy="2254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10" name="Text Box 31"/>
          <p:cNvSpPr txBox="1">
            <a:spLocks noChangeArrowheads="1"/>
          </p:cNvSpPr>
          <p:nvPr/>
        </p:nvSpPr>
        <p:spPr bwMode="auto">
          <a:xfrm>
            <a:off x="8045450" y="1973263"/>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1800">
                <a:latin typeface="楷体" panose="02010609060101010101" pitchFamily="49" charset="-122"/>
                <a:ea typeface="楷体" panose="02010609060101010101" pitchFamily="49" charset="-122"/>
              </a:rPr>
              <a:t>+1</a:t>
            </a:r>
            <a:endParaRPr lang="en-US" altLang="zh-CN" sz="1800">
              <a:latin typeface="楷体" panose="02010609060101010101" pitchFamily="49" charset="-122"/>
              <a:ea typeface="楷体" panose="02010609060101010101" pitchFamily="49" charset="-122"/>
            </a:endParaRPr>
          </a:p>
        </p:txBody>
      </p:sp>
      <p:sp>
        <p:nvSpPr>
          <p:cNvPr id="75811" name="Text Box 32"/>
          <p:cNvSpPr txBox="1">
            <a:spLocks noChangeArrowheads="1"/>
          </p:cNvSpPr>
          <p:nvPr/>
        </p:nvSpPr>
        <p:spPr bwMode="auto">
          <a:xfrm>
            <a:off x="8048625" y="291623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1800">
                <a:latin typeface="楷体" panose="02010609060101010101" pitchFamily="49" charset="-122"/>
                <a:ea typeface="楷体" panose="02010609060101010101" pitchFamily="49" charset="-122"/>
              </a:rPr>
              <a:t>-1</a:t>
            </a:r>
            <a:endParaRPr lang="en-US" altLang="zh-CN" sz="1800">
              <a:latin typeface="楷体" panose="02010609060101010101" pitchFamily="49" charset="-122"/>
              <a:ea typeface="楷体" panose="02010609060101010101" pitchFamily="49" charset="-122"/>
            </a:endParaRPr>
          </a:p>
        </p:txBody>
      </p:sp>
      <p:sp>
        <p:nvSpPr>
          <p:cNvPr id="75812" name="Text Box 33"/>
          <p:cNvSpPr txBox="1">
            <a:spLocks noChangeArrowheads="1"/>
          </p:cNvSpPr>
          <p:nvPr/>
        </p:nvSpPr>
        <p:spPr bwMode="auto">
          <a:xfrm>
            <a:off x="3609975" y="1928813"/>
            <a:ext cx="1143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800">
                <a:latin typeface="楷体" panose="02010609060101010101" pitchFamily="49" charset="-122"/>
                <a:ea typeface="楷体" panose="02010609060101010101" pitchFamily="49" charset="-122"/>
              </a:rPr>
              <a:t>溢出信号</a:t>
            </a:r>
            <a:endParaRPr lang="zh-CN" altLang="en-US" sz="1800">
              <a:latin typeface="楷体" panose="02010609060101010101" pitchFamily="49" charset="-122"/>
              <a:ea typeface="楷体" panose="02010609060101010101" pitchFamily="49" charset="-122"/>
            </a:endParaRPr>
          </a:p>
        </p:txBody>
      </p:sp>
      <p:sp>
        <p:nvSpPr>
          <p:cNvPr id="75813" name="Text Box 34"/>
          <p:cNvSpPr txBox="1">
            <a:spLocks noChangeArrowheads="1"/>
          </p:cNvSpPr>
          <p:nvPr/>
        </p:nvSpPr>
        <p:spPr bwMode="auto">
          <a:xfrm>
            <a:off x="2997200" y="1384300"/>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800">
                <a:latin typeface="楷体" panose="02010609060101010101" pitchFamily="49" charset="-122"/>
                <a:ea typeface="楷体" panose="02010609060101010101" pitchFamily="49" charset="-122"/>
              </a:rPr>
              <a:t>传送结束</a:t>
            </a:r>
            <a:endParaRPr lang="zh-CN" altLang="en-US" sz="1800">
              <a:latin typeface="楷体" panose="02010609060101010101" pitchFamily="49" charset="-122"/>
              <a:ea typeface="楷体" panose="02010609060101010101" pitchFamily="49" charset="-122"/>
            </a:endParaRPr>
          </a:p>
        </p:txBody>
      </p:sp>
      <p:sp>
        <p:nvSpPr>
          <p:cNvPr id="75814" name="Line 35"/>
          <p:cNvSpPr>
            <a:spLocks noChangeShapeType="1"/>
          </p:cNvSpPr>
          <p:nvPr/>
        </p:nvSpPr>
        <p:spPr bwMode="auto">
          <a:xfrm>
            <a:off x="4267200" y="2444750"/>
            <a:ext cx="0" cy="3381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15" name="Text Box 36"/>
          <p:cNvSpPr txBox="1">
            <a:spLocks noChangeArrowheads="1"/>
          </p:cNvSpPr>
          <p:nvPr/>
        </p:nvSpPr>
        <p:spPr bwMode="auto">
          <a:xfrm>
            <a:off x="3797300" y="3459163"/>
            <a:ext cx="1219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1800">
                <a:latin typeface="楷体" panose="02010609060101010101" pitchFamily="49" charset="-122"/>
                <a:ea typeface="楷体" panose="02010609060101010101" pitchFamily="49" charset="-122"/>
              </a:rPr>
              <a:t>DMA</a:t>
            </a:r>
            <a:r>
              <a:rPr lang="zh-CN" altLang="en-US" sz="1800">
                <a:latin typeface="楷体" panose="02010609060101010101" pitchFamily="49" charset="-122"/>
                <a:ea typeface="楷体" panose="02010609060101010101" pitchFamily="49" charset="-122"/>
              </a:rPr>
              <a:t>请求</a:t>
            </a:r>
            <a:endParaRPr lang="zh-CN" altLang="en-US" sz="1800">
              <a:latin typeface="楷体" panose="02010609060101010101" pitchFamily="49" charset="-122"/>
              <a:ea typeface="楷体" panose="02010609060101010101" pitchFamily="49" charset="-122"/>
            </a:endParaRPr>
          </a:p>
        </p:txBody>
      </p:sp>
      <p:sp>
        <p:nvSpPr>
          <p:cNvPr id="75816" name="Text Box 37"/>
          <p:cNvSpPr txBox="1">
            <a:spLocks noChangeArrowheads="1"/>
          </p:cNvSpPr>
          <p:nvPr/>
        </p:nvSpPr>
        <p:spPr bwMode="auto">
          <a:xfrm>
            <a:off x="2654300" y="3459163"/>
            <a:ext cx="1231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1800">
                <a:latin typeface="楷体" panose="02010609060101010101" pitchFamily="49" charset="-122"/>
                <a:ea typeface="楷体" panose="02010609060101010101" pitchFamily="49" charset="-122"/>
              </a:rPr>
              <a:t>DMA</a:t>
            </a:r>
            <a:r>
              <a:rPr lang="zh-CN" altLang="en-US" sz="1800">
                <a:latin typeface="楷体" panose="02010609060101010101" pitchFamily="49" charset="-122"/>
                <a:ea typeface="楷体" panose="02010609060101010101" pitchFamily="49" charset="-122"/>
              </a:rPr>
              <a:t>响应</a:t>
            </a:r>
            <a:endParaRPr lang="zh-CN" altLang="en-US" sz="1800">
              <a:latin typeface="楷体" panose="02010609060101010101" pitchFamily="49" charset="-122"/>
              <a:ea typeface="楷体" panose="02010609060101010101" pitchFamily="49" charset="-122"/>
            </a:endParaRPr>
          </a:p>
        </p:txBody>
      </p:sp>
      <p:sp>
        <p:nvSpPr>
          <p:cNvPr id="75817" name="Text Box 39"/>
          <p:cNvSpPr txBox="1">
            <a:spLocks noChangeArrowheads="1"/>
          </p:cNvSpPr>
          <p:nvPr/>
        </p:nvSpPr>
        <p:spPr bwMode="auto">
          <a:xfrm>
            <a:off x="8048625" y="5287963"/>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800">
                <a:latin typeface="楷体" panose="02010609060101010101" pitchFamily="49" charset="-122"/>
                <a:ea typeface="楷体" panose="02010609060101010101" pitchFamily="49" charset="-122"/>
              </a:rPr>
              <a:t>数据</a:t>
            </a:r>
            <a:endParaRPr lang="zh-CN" altLang="en-US" sz="1800">
              <a:latin typeface="楷体" panose="02010609060101010101" pitchFamily="49" charset="-122"/>
              <a:ea typeface="楷体" panose="02010609060101010101" pitchFamily="49" charset="-122"/>
            </a:endParaRPr>
          </a:p>
        </p:txBody>
      </p:sp>
      <p:sp>
        <p:nvSpPr>
          <p:cNvPr id="75818" name="Text Box 40"/>
          <p:cNvSpPr txBox="1">
            <a:spLocks noChangeArrowheads="1"/>
          </p:cNvSpPr>
          <p:nvPr/>
        </p:nvSpPr>
        <p:spPr bwMode="auto">
          <a:xfrm>
            <a:off x="5359400" y="137795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800">
                <a:latin typeface="楷体" panose="02010609060101010101" pitchFamily="49" charset="-122"/>
                <a:ea typeface="楷体" panose="02010609060101010101" pitchFamily="49" charset="-122"/>
              </a:rPr>
              <a:t>数据线</a:t>
            </a:r>
            <a:endParaRPr lang="zh-CN" altLang="en-US" sz="1800">
              <a:latin typeface="楷体" panose="02010609060101010101" pitchFamily="49" charset="-122"/>
              <a:ea typeface="楷体" panose="02010609060101010101" pitchFamily="49" charset="-122"/>
            </a:endParaRPr>
          </a:p>
        </p:txBody>
      </p:sp>
      <p:sp>
        <p:nvSpPr>
          <p:cNvPr id="75819" name="Text Box 41"/>
          <p:cNvSpPr txBox="1">
            <a:spLocks noChangeArrowheads="1"/>
          </p:cNvSpPr>
          <p:nvPr/>
        </p:nvSpPr>
        <p:spPr bwMode="auto">
          <a:xfrm>
            <a:off x="6962775" y="13843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800">
                <a:latin typeface="楷体" panose="02010609060101010101" pitchFamily="49" charset="-122"/>
                <a:ea typeface="楷体" panose="02010609060101010101" pitchFamily="49" charset="-122"/>
              </a:rPr>
              <a:t>地址线</a:t>
            </a:r>
            <a:endParaRPr lang="zh-CN" altLang="en-US" sz="1800">
              <a:latin typeface="楷体" panose="02010609060101010101" pitchFamily="49" charset="-122"/>
              <a:ea typeface="楷体" panose="02010609060101010101" pitchFamily="49" charset="-122"/>
            </a:endParaRPr>
          </a:p>
        </p:txBody>
      </p:sp>
      <p:sp>
        <p:nvSpPr>
          <p:cNvPr id="75820" name="Line 42"/>
          <p:cNvSpPr>
            <a:spLocks noChangeShapeType="1"/>
          </p:cNvSpPr>
          <p:nvPr/>
        </p:nvSpPr>
        <p:spPr bwMode="auto">
          <a:xfrm flipH="1">
            <a:off x="1752600" y="3049588"/>
            <a:ext cx="762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21" name="Line 43"/>
          <p:cNvSpPr>
            <a:spLocks noChangeShapeType="1"/>
          </p:cNvSpPr>
          <p:nvPr/>
        </p:nvSpPr>
        <p:spPr bwMode="auto">
          <a:xfrm>
            <a:off x="1752600" y="3233738"/>
            <a:ext cx="762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22" name="Text Box 44"/>
          <p:cNvSpPr txBox="1">
            <a:spLocks noChangeArrowheads="1"/>
          </p:cNvSpPr>
          <p:nvPr/>
        </p:nvSpPr>
        <p:spPr bwMode="auto">
          <a:xfrm>
            <a:off x="1749425" y="2581275"/>
            <a:ext cx="91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1800">
                <a:latin typeface="楷体" panose="02010609060101010101" pitchFamily="49" charset="-122"/>
                <a:ea typeface="楷体" panose="02010609060101010101" pitchFamily="49" charset="-122"/>
              </a:rPr>
              <a:t>HOLD</a:t>
            </a:r>
            <a:endParaRPr lang="en-US" altLang="zh-CN" sz="1800">
              <a:latin typeface="楷体" panose="02010609060101010101" pitchFamily="49" charset="-122"/>
              <a:ea typeface="楷体" panose="02010609060101010101" pitchFamily="49" charset="-122"/>
            </a:endParaRPr>
          </a:p>
        </p:txBody>
      </p:sp>
      <p:sp>
        <p:nvSpPr>
          <p:cNvPr id="75823" name="Text Box 45"/>
          <p:cNvSpPr txBox="1">
            <a:spLocks noChangeArrowheads="1"/>
          </p:cNvSpPr>
          <p:nvPr/>
        </p:nvSpPr>
        <p:spPr bwMode="auto">
          <a:xfrm>
            <a:off x="1720850" y="3186113"/>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1800">
                <a:latin typeface="楷体" panose="02010609060101010101" pitchFamily="49" charset="-122"/>
                <a:ea typeface="楷体" panose="02010609060101010101" pitchFamily="49" charset="-122"/>
              </a:rPr>
              <a:t>HLDA</a:t>
            </a:r>
            <a:endParaRPr lang="en-US" altLang="zh-CN" sz="1800">
              <a:latin typeface="楷体" panose="02010609060101010101" pitchFamily="49" charset="-122"/>
              <a:ea typeface="楷体" panose="02010609060101010101" pitchFamily="49" charset="-122"/>
            </a:endParaRPr>
          </a:p>
        </p:txBody>
      </p:sp>
      <p:sp>
        <p:nvSpPr>
          <p:cNvPr id="75824" name="Rectangle 46"/>
          <p:cNvSpPr>
            <a:spLocks noChangeArrowheads="1"/>
          </p:cNvSpPr>
          <p:nvPr/>
        </p:nvSpPr>
        <p:spPr bwMode="auto">
          <a:xfrm>
            <a:off x="2133600" y="1881188"/>
            <a:ext cx="6324600" cy="3379787"/>
          </a:xfrm>
          <a:prstGeom prst="rect">
            <a:avLst/>
          </a:prstGeom>
          <a:noFill/>
          <a:ln w="9525">
            <a:solidFill>
              <a:schemeClr val="tx1"/>
            </a:solidFill>
            <a:prstDash val="lgDash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5825" name="AutoShape 11"/>
          <p:cNvSpPr>
            <a:spLocks noChangeArrowheads="1"/>
          </p:cNvSpPr>
          <p:nvPr/>
        </p:nvSpPr>
        <p:spPr bwMode="auto">
          <a:xfrm>
            <a:off x="8701088" y="1431925"/>
            <a:ext cx="228600" cy="4229100"/>
          </a:xfrm>
          <a:prstGeom prst="upDownArrow">
            <a:avLst>
              <a:gd name="adj1" fmla="val 50000"/>
              <a:gd name="adj2" fmla="val 68861"/>
            </a:avLst>
          </a:prstGeom>
          <a:solidFill>
            <a:srgbClr val="00B0F0"/>
          </a:solidFill>
          <a:ln w="9525">
            <a:solidFill>
              <a:schemeClr val="tx1"/>
            </a:solidFill>
            <a:miter lim="800000"/>
          </a:ln>
        </p:spPr>
        <p:txBody>
          <a:bodyPr vert="eaVert"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5826" name="Line 18"/>
          <p:cNvSpPr>
            <a:spLocks noChangeShapeType="1"/>
          </p:cNvSpPr>
          <p:nvPr/>
        </p:nvSpPr>
        <p:spPr bwMode="auto">
          <a:xfrm>
            <a:off x="5500688" y="3800475"/>
            <a:ext cx="7937" cy="1854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27" name="Line 17"/>
          <p:cNvSpPr>
            <a:spLocks noChangeShapeType="1"/>
          </p:cNvSpPr>
          <p:nvPr/>
        </p:nvSpPr>
        <p:spPr bwMode="auto">
          <a:xfrm flipH="1" flipV="1">
            <a:off x="3151188" y="3800475"/>
            <a:ext cx="23574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28" name="Text Box 38"/>
          <p:cNvSpPr txBox="1">
            <a:spLocks noChangeArrowheads="1"/>
          </p:cNvSpPr>
          <p:nvPr/>
        </p:nvSpPr>
        <p:spPr bwMode="auto">
          <a:xfrm>
            <a:off x="5440363" y="4941888"/>
            <a:ext cx="1219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1600">
                <a:latin typeface="楷体" panose="02010609060101010101" pitchFamily="49" charset="-122"/>
                <a:ea typeface="楷体" panose="02010609060101010101" pitchFamily="49" charset="-122"/>
              </a:rPr>
              <a:t>DMA</a:t>
            </a:r>
            <a:r>
              <a:rPr lang="zh-CN" altLang="en-US" sz="1600">
                <a:latin typeface="楷体" panose="02010609060101010101" pitchFamily="49" charset="-122"/>
                <a:ea typeface="楷体" panose="02010609060101010101" pitchFamily="49" charset="-122"/>
              </a:rPr>
              <a:t>证实</a:t>
            </a:r>
            <a:endParaRPr lang="zh-CN" altLang="en-US" sz="1600">
              <a:latin typeface="楷体" panose="02010609060101010101" pitchFamily="49" charset="-122"/>
              <a:ea typeface="楷体" panose="02010609060101010101" pitchFamily="49" charset="-122"/>
            </a:endParaRPr>
          </a:p>
        </p:txBody>
      </p:sp>
      <p:sp>
        <p:nvSpPr>
          <p:cNvPr id="75829" name="Rectangle 4"/>
          <p:cNvSpPr>
            <a:spLocks noChangeArrowheads="1"/>
          </p:cNvSpPr>
          <p:nvPr/>
        </p:nvSpPr>
        <p:spPr bwMode="auto">
          <a:xfrm>
            <a:off x="4419600" y="3956050"/>
            <a:ext cx="1828800" cy="600075"/>
          </a:xfrm>
          <a:prstGeom prst="rect">
            <a:avLst/>
          </a:prstGeom>
          <a:solidFill>
            <a:srgbClr val="000099"/>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latin typeface="楷体" panose="02010609060101010101" pitchFamily="49" charset="-122"/>
                <a:ea typeface="楷体" panose="02010609060101010101" pitchFamily="49" charset="-122"/>
              </a:rPr>
              <a:t>数据缓冲寄存器</a:t>
            </a:r>
            <a:endParaRPr lang="zh-CN" altLang="en-US" sz="2000">
              <a:solidFill>
                <a:schemeClr val="bg1"/>
              </a:solidFill>
              <a:latin typeface="楷体" panose="02010609060101010101" pitchFamily="49" charset="-122"/>
              <a:ea typeface="楷体" panose="02010609060101010101" pitchFamily="49" charset="-122"/>
            </a:endParaRPr>
          </a:p>
        </p:txBody>
      </p:sp>
      <p:sp>
        <p:nvSpPr>
          <p:cNvPr id="75830" name="AutoShape 14"/>
          <p:cNvSpPr>
            <a:spLocks noChangeArrowheads="1"/>
          </p:cNvSpPr>
          <p:nvPr/>
        </p:nvSpPr>
        <p:spPr bwMode="auto">
          <a:xfrm>
            <a:off x="5184775" y="1431925"/>
            <a:ext cx="228600" cy="2476500"/>
          </a:xfrm>
          <a:prstGeom prst="upDownArrow">
            <a:avLst>
              <a:gd name="adj1" fmla="val 50000"/>
              <a:gd name="adj2" fmla="val 216667"/>
            </a:avLst>
          </a:prstGeom>
          <a:solidFill>
            <a:schemeClr val="hlink"/>
          </a:solidFill>
          <a:ln w="9525">
            <a:solidFill>
              <a:schemeClr val="tx1"/>
            </a:solidFill>
            <a:miter lim="800000"/>
          </a:ln>
        </p:spPr>
        <p:txBody>
          <a:bodyPr vert="eaVert"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5831" name="Line 17"/>
          <p:cNvSpPr>
            <a:spLocks noChangeShapeType="1"/>
          </p:cNvSpPr>
          <p:nvPr/>
        </p:nvSpPr>
        <p:spPr bwMode="auto">
          <a:xfrm flipV="1">
            <a:off x="3151188" y="3800475"/>
            <a:ext cx="0" cy="1317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2" name="文本框 1"/>
          <p:cNvSpPr txBox="1"/>
          <p:nvPr/>
        </p:nvSpPr>
        <p:spPr>
          <a:xfrm>
            <a:off x="685800" y="6040438"/>
            <a:ext cx="1800225" cy="369887"/>
          </a:xfrm>
          <a:prstGeom prst="rect">
            <a:avLst/>
          </a:prstGeom>
          <a:noFill/>
          <a:ln>
            <a:solidFill>
              <a:srgbClr val="00F7F7"/>
            </a:solidFill>
          </a:ln>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defRPr/>
            </a:pPr>
            <a:r>
              <a:rPr lang="zh-CN" altLang="en-US" sz="1800" b="1" dirty="0">
                <a:solidFill>
                  <a:srgbClr val="C00000"/>
                </a:solidFill>
                <a:latin typeface="楷体" panose="02010609060101010101" pitchFamily="49" charset="-122"/>
                <a:ea typeface="楷体" panose="02010609060101010101" pitchFamily="49" charset="-122"/>
              </a:rPr>
              <a:t>书上图</a:t>
            </a:r>
            <a:r>
              <a:rPr lang="en-US" altLang="zh-CN" sz="1800" b="1" dirty="0">
                <a:solidFill>
                  <a:srgbClr val="C00000"/>
                </a:solidFill>
                <a:latin typeface="楷体" panose="02010609060101010101" pitchFamily="49" charset="-122"/>
                <a:ea typeface="楷体" panose="02010609060101010101" pitchFamily="49" charset="-122"/>
              </a:rPr>
              <a:t>8.14</a:t>
            </a:r>
            <a:r>
              <a:rPr lang="zh-CN" altLang="en-US" sz="1800" b="1" dirty="0">
                <a:solidFill>
                  <a:srgbClr val="C00000"/>
                </a:solidFill>
                <a:latin typeface="楷体" panose="02010609060101010101" pitchFamily="49" charset="-122"/>
                <a:ea typeface="楷体" panose="02010609060101010101" pitchFamily="49" charset="-122"/>
              </a:rPr>
              <a:t>有错</a:t>
            </a:r>
            <a:endParaRPr lang="zh-CN" altLang="en-US" sz="1800" b="1" dirty="0">
              <a:solidFill>
                <a:srgbClr val="C00000"/>
              </a:solidFill>
              <a:latin typeface="楷体" panose="02010609060101010101" pitchFamily="49" charset="-122"/>
              <a:ea typeface="楷体" panose="02010609060101010101" pitchFamily="49" charset="-122"/>
            </a:endParaRPr>
          </a:p>
        </p:txBody>
      </p:sp>
      <p:sp>
        <p:nvSpPr>
          <p:cNvPr id="75833" name="Line 17"/>
          <p:cNvSpPr>
            <a:spLocks noChangeShapeType="1"/>
          </p:cNvSpPr>
          <p:nvPr/>
        </p:nvSpPr>
        <p:spPr bwMode="auto">
          <a:xfrm flipV="1">
            <a:off x="4337050" y="4222750"/>
            <a:ext cx="0" cy="7191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5834" name="Line 17"/>
          <p:cNvSpPr>
            <a:spLocks noChangeShapeType="1"/>
          </p:cNvSpPr>
          <p:nvPr/>
        </p:nvSpPr>
        <p:spPr bwMode="auto">
          <a:xfrm flipV="1">
            <a:off x="4337050" y="4937125"/>
            <a:ext cx="615950" cy="47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说明</a:t>
            </a:r>
            <a:endParaRPr lang="zh-CN" altLang="en-US"/>
          </a:p>
        </p:txBody>
      </p:sp>
      <p:sp>
        <p:nvSpPr>
          <p:cNvPr id="76803" name="内容占位符 2"/>
          <p:cNvSpPr>
            <a:spLocks noGrp="1" noChangeArrowheads="1"/>
          </p:cNvSpPr>
          <p:nvPr>
            <p:ph idx="1"/>
          </p:nvPr>
        </p:nvSpPr>
        <p:spPr/>
        <p:txBody>
          <a:bodyPr/>
          <a:lstStyle/>
          <a:p>
            <a:r>
              <a:rPr lang="zh-CN" altLang="en-US" sz="2800"/>
              <a:t>内存地址计数器：内存当前地址指针。传送前，初值为内存缓冲区首地址，每传送一次数据，自动加</a:t>
            </a:r>
            <a:r>
              <a:rPr lang="en-US" altLang="zh-CN" sz="2800"/>
              <a:t>1</a:t>
            </a:r>
            <a:endParaRPr lang="en-US" altLang="zh-CN" sz="2800"/>
          </a:p>
          <a:p>
            <a:r>
              <a:rPr lang="zh-CN" altLang="en-US" sz="2800"/>
              <a:t>字计数器：传送数据块长度计数，每传送一次数据，自动减</a:t>
            </a:r>
            <a:r>
              <a:rPr lang="en-US" altLang="zh-CN" sz="2800"/>
              <a:t>1</a:t>
            </a:r>
            <a:endParaRPr lang="en-US" altLang="zh-CN" sz="2800"/>
          </a:p>
          <a:p>
            <a:r>
              <a:rPr lang="zh-CN" altLang="en-US" sz="2800"/>
              <a:t>数据缓冲寄存器：采用从存储器到存储器传送方式时，暂存每次传送的数据</a:t>
            </a:r>
            <a:endParaRPr lang="en-US" altLang="zh-CN" sz="2800"/>
          </a:p>
          <a:p>
            <a:r>
              <a:rPr lang="zh-CN" altLang="en-US" sz="2800"/>
              <a:t>控制</a:t>
            </a:r>
            <a:r>
              <a:rPr lang="en-US" altLang="zh-CN" sz="2800"/>
              <a:t>/</a:t>
            </a:r>
            <a:r>
              <a:rPr lang="zh-CN" altLang="en-US" sz="2800"/>
              <a:t>状态逻辑：完成控制功能</a:t>
            </a:r>
            <a:endParaRPr lang="en-US" altLang="zh-CN" sz="2800"/>
          </a:p>
          <a:p>
            <a:r>
              <a:rPr lang="zh-CN" altLang="en-US" sz="2800"/>
              <a:t>中断机构：传送结束信号。表示</a:t>
            </a:r>
            <a:r>
              <a:rPr lang="en-US" altLang="zh-CN" sz="2800"/>
              <a:t>DMA</a:t>
            </a:r>
            <a:r>
              <a:rPr lang="zh-CN" altLang="en-US" sz="2800"/>
              <a:t>传送过程结束。可用作向</a:t>
            </a:r>
            <a:r>
              <a:rPr lang="en-US" altLang="zh-CN" sz="2800"/>
              <a:t>CPU</a:t>
            </a:r>
            <a:r>
              <a:rPr lang="zh-CN" altLang="en-US" sz="2800"/>
              <a:t>发出传送结束请求。</a:t>
            </a:r>
            <a:endParaRPr lang="zh-CN" altLang="en-US" sz="2800"/>
          </a:p>
        </p:txBody>
      </p:sp>
    </p:spTree>
  </p:cSld>
  <p:clrMapOvr>
    <a:masterClrMapping/>
  </p:clrMapOvr>
  <p:transition spd="med">
    <p:pull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eaLnBrk="1" hangingPunct="1">
              <a:defRPr/>
            </a:pPr>
            <a:r>
              <a:rPr lang="en-US" altLang="zh-CN"/>
              <a:t>DMA</a:t>
            </a:r>
            <a:r>
              <a:rPr lang="zh-CN" altLang="en-US"/>
              <a:t>数据传送处理过程</a:t>
            </a:r>
            <a:endParaRPr lang="zh-CN" altLang="en-US"/>
          </a:p>
        </p:txBody>
      </p:sp>
      <p:sp>
        <p:nvSpPr>
          <p:cNvPr id="77827" name="Rectangle 3"/>
          <p:cNvSpPr>
            <a:spLocks noGrp="1" noChangeArrowheads="1"/>
          </p:cNvSpPr>
          <p:nvPr>
            <p:ph idx="1"/>
          </p:nvPr>
        </p:nvSpPr>
        <p:spPr/>
        <p:txBody>
          <a:bodyPr/>
          <a:lstStyle/>
          <a:p>
            <a:pPr eaLnBrk="1" hangingPunct="1">
              <a:buFont typeface="Wingdings 2" charset="2"/>
              <a:buNone/>
            </a:pPr>
            <a:r>
              <a:rPr lang="zh-CN" altLang="en-US" sz="2800"/>
              <a:t>传送一个数据块可以分为三个阶段：</a:t>
            </a:r>
            <a:endParaRPr lang="zh-CN" altLang="en-US" sz="2800"/>
          </a:p>
          <a:p>
            <a:pPr eaLnBrk="1" hangingPunct="1"/>
            <a:r>
              <a:rPr lang="zh-CN" altLang="en-US" sz="2800"/>
              <a:t>预处理：</a:t>
            </a:r>
            <a:r>
              <a:rPr lang="en-US" altLang="zh-CN" sz="2800"/>
              <a:t>CPU</a:t>
            </a:r>
            <a:r>
              <a:rPr lang="zh-CN" altLang="en-US" sz="2800"/>
              <a:t>对</a:t>
            </a:r>
            <a:r>
              <a:rPr lang="en-US" altLang="zh-CN" sz="2800"/>
              <a:t>DMA</a:t>
            </a:r>
            <a:r>
              <a:rPr lang="zh-CN" altLang="en-US" sz="2800"/>
              <a:t>控制器预置初值，读取状态和送传送需要的有关参数。</a:t>
            </a:r>
            <a:endParaRPr lang="zh-CN" altLang="en-US" sz="2800"/>
          </a:p>
          <a:p>
            <a:pPr eaLnBrk="1" hangingPunct="1"/>
            <a:r>
              <a:rPr lang="zh-CN" altLang="en-US" sz="2800"/>
              <a:t>数据传送：</a:t>
            </a:r>
            <a:r>
              <a:rPr lang="en-US" altLang="zh-CN" sz="2800"/>
              <a:t>DMA</a:t>
            </a:r>
            <a:r>
              <a:rPr lang="zh-CN" altLang="en-US" sz="2800"/>
              <a:t>控制器控制外设与主存之间的数据交换。</a:t>
            </a:r>
            <a:endParaRPr lang="zh-CN" altLang="en-US" sz="2800"/>
          </a:p>
          <a:p>
            <a:pPr eaLnBrk="1" hangingPunct="1"/>
            <a:r>
              <a:rPr lang="zh-CN" altLang="en-US" sz="2800"/>
              <a:t>后处理：主要是对内存中缓冲区的处理（取走缓冲区中的数据或填入新数据）。</a:t>
            </a:r>
            <a:endParaRPr lang="zh-CN" altLang="en-US" sz="2800"/>
          </a:p>
          <a:p>
            <a:pPr lvl="1" eaLnBrk="1" hangingPunct="1"/>
            <a:r>
              <a:rPr lang="zh-CN" altLang="en-US"/>
              <a:t>若需要继续交换数据，则再次对</a:t>
            </a:r>
            <a:r>
              <a:rPr lang="en-US" altLang="zh-CN"/>
              <a:t>DMA</a:t>
            </a:r>
            <a:r>
              <a:rPr lang="zh-CN" altLang="en-US"/>
              <a:t>进行初始化</a:t>
            </a:r>
            <a:endParaRPr lang="zh-CN" altLang="en-US"/>
          </a:p>
          <a:p>
            <a:pPr lvl="1" eaLnBrk="1" hangingPunct="1"/>
            <a:r>
              <a:rPr lang="zh-CN" altLang="en-US"/>
              <a:t>若不需要交换数据，则停止外设</a:t>
            </a:r>
            <a:endParaRPr lang="zh-CN" altLang="en-US"/>
          </a:p>
          <a:p>
            <a:pPr lvl="1" eaLnBrk="1" hangingPunct="1"/>
            <a:r>
              <a:rPr lang="zh-CN" altLang="en-US"/>
              <a:t>若为出错，则转错误诊断及处理程序</a:t>
            </a:r>
            <a:endParaRPr lang="zh-CN" altLang="en-US"/>
          </a:p>
        </p:txBody>
      </p:sp>
    </p:spTree>
  </p:cSld>
  <p:clrMapOvr>
    <a:masterClrMapping/>
  </p:clrMapOvr>
  <p:transition spd="med">
    <p:pull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97" name="Rectangle 41"/>
          <p:cNvSpPr>
            <a:spLocks noGrp="1" noChangeArrowheads="1"/>
          </p:cNvSpPr>
          <p:nvPr>
            <p:ph type="title"/>
          </p:nvPr>
        </p:nvSpPr>
        <p:spPr/>
        <p:txBody>
          <a:bodyPr/>
          <a:lstStyle/>
          <a:p>
            <a:pPr eaLnBrk="1" hangingPunct="1">
              <a:defRPr/>
            </a:pPr>
            <a:r>
              <a:rPr lang="en-US" altLang="zh-CN"/>
              <a:t>DMA</a:t>
            </a:r>
            <a:r>
              <a:rPr lang="zh-CN" altLang="en-US"/>
              <a:t>数据传送流程图</a:t>
            </a:r>
            <a:endParaRPr lang="zh-CN" altLang="en-US"/>
          </a:p>
        </p:txBody>
      </p:sp>
      <p:sp>
        <p:nvSpPr>
          <p:cNvPr id="78852" name="Rectangle 2"/>
          <p:cNvSpPr>
            <a:spLocks noChangeArrowheads="1"/>
          </p:cNvSpPr>
          <p:nvPr/>
        </p:nvSpPr>
        <p:spPr bwMode="auto">
          <a:xfrm>
            <a:off x="1000125" y="1543050"/>
            <a:ext cx="2266950" cy="677863"/>
          </a:xfrm>
          <a:prstGeom prst="rect">
            <a:avLst/>
          </a:prstGeom>
          <a:solidFill>
            <a:srgbClr val="006600"/>
          </a:solidFill>
          <a:ln w="9525">
            <a:solidFill>
              <a:schemeClr val="tx1"/>
            </a:solidFill>
            <a:miter lim="800000"/>
          </a:ln>
        </p:spPr>
        <p:txBody>
          <a:bodyPr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设定传送方向、长度、首址等</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78853" name="Rectangle 3"/>
          <p:cNvSpPr>
            <a:spLocks noChangeArrowheads="1"/>
          </p:cNvSpPr>
          <p:nvPr/>
        </p:nvSpPr>
        <p:spPr bwMode="auto">
          <a:xfrm>
            <a:off x="1017588" y="2622550"/>
            <a:ext cx="2266950" cy="412750"/>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让出总线控制权</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78854" name="Rectangle 4"/>
          <p:cNvSpPr>
            <a:spLocks noChangeArrowheads="1"/>
          </p:cNvSpPr>
          <p:nvPr/>
        </p:nvSpPr>
        <p:spPr bwMode="auto">
          <a:xfrm>
            <a:off x="915988" y="5988050"/>
            <a:ext cx="2351087" cy="412750"/>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收回总线控制权</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78855" name="Rectangle 5"/>
          <p:cNvSpPr>
            <a:spLocks noChangeArrowheads="1"/>
          </p:cNvSpPr>
          <p:nvPr/>
        </p:nvSpPr>
        <p:spPr bwMode="auto">
          <a:xfrm>
            <a:off x="5029200" y="2212975"/>
            <a:ext cx="2266950" cy="403225"/>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准备传送的数据</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78856" name="Line 6"/>
          <p:cNvSpPr>
            <a:spLocks noChangeShapeType="1"/>
          </p:cNvSpPr>
          <p:nvPr/>
        </p:nvSpPr>
        <p:spPr bwMode="auto">
          <a:xfrm>
            <a:off x="3267075" y="1870075"/>
            <a:ext cx="2854325" cy="31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57" name="Text Box 7"/>
          <p:cNvSpPr txBox="1">
            <a:spLocks noChangeArrowheads="1"/>
          </p:cNvSpPr>
          <p:nvPr/>
        </p:nvSpPr>
        <p:spPr bwMode="auto">
          <a:xfrm>
            <a:off x="3568700" y="1543050"/>
            <a:ext cx="2454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ea typeface="楷体" panose="02010609060101010101" pitchFamily="49" charset="-122"/>
                <a:cs typeface="Times New Roman" panose="02020603050405020304" pitchFamily="18" charset="0"/>
              </a:rPr>
              <a:t>初始化</a:t>
            </a:r>
            <a:r>
              <a:rPr lang="en-US" altLang="zh-CN" sz="2000">
                <a:ea typeface="楷体" panose="02010609060101010101" pitchFamily="49" charset="-122"/>
                <a:cs typeface="Times New Roman" panose="02020603050405020304" pitchFamily="18" charset="0"/>
              </a:rPr>
              <a:t>DMAC</a:t>
            </a:r>
            <a:endParaRPr lang="en-US" altLang="zh-CN" sz="2000">
              <a:ea typeface="楷体" panose="02010609060101010101" pitchFamily="49" charset="-122"/>
              <a:cs typeface="Times New Roman" panose="02020603050405020304" pitchFamily="18" charset="0"/>
            </a:endParaRPr>
          </a:p>
        </p:txBody>
      </p:sp>
      <p:sp>
        <p:nvSpPr>
          <p:cNvPr id="78858" name="Line 8"/>
          <p:cNvSpPr>
            <a:spLocks noChangeShapeType="1"/>
          </p:cNvSpPr>
          <p:nvPr/>
        </p:nvSpPr>
        <p:spPr bwMode="auto">
          <a:xfrm>
            <a:off x="2071688" y="1047750"/>
            <a:ext cx="0" cy="4953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59" name="Text Box 9"/>
          <p:cNvSpPr txBox="1">
            <a:spLocks noChangeArrowheads="1"/>
          </p:cNvSpPr>
          <p:nvPr/>
        </p:nvSpPr>
        <p:spPr bwMode="auto">
          <a:xfrm>
            <a:off x="2039938" y="930275"/>
            <a:ext cx="1228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2400">
                <a:ea typeface="楷体" panose="02010609060101010101" pitchFamily="49" charset="-122"/>
                <a:cs typeface="Times New Roman" panose="02020603050405020304" pitchFamily="18" charset="0"/>
              </a:rPr>
              <a:t>CPU</a:t>
            </a:r>
            <a:endParaRPr lang="en-US" altLang="zh-CN" sz="2400">
              <a:ea typeface="楷体" panose="02010609060101010101" pitchFamily="49" charset="-122"/>
              <a:cs typeface="Times New Roman" panose="02020603050405020304" pitchFamily="18" charset="0"/>
            </a:endParaRPr>
          </a:p>
        </p:txBody>
      </p:sp>
      <p:sp>
        <p:nvSpPr>
          <p:cNvPr id="78860" name="Line 10"/>
          <p:cNvSpPr>
            <a:spLocks noChangeShapeType="1"/>
          </p:cNvSpPr>
          <p:nvPr/>
        </p:nvSpPr>
        <p:spPr bwMode="auto">
          <a:xfrm>
            <a:off x="6121400" y="1065213"/>
            <a:ext cx="0" cy="1155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61" name="Text Box 11"/>
          <p:cNvSpPr txBox="1">
            <a:spLocks noChangeArrowheads="1"/>
          </p:cNvSpPr>
          <p:nvPr/>
        </p:nvSpPr>
        <p:spPr bwMode="auto">
          <a:xfrm>
            <a:off x="6121400" y="950913"/>
            <a:ext cx="1597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2400">
                <a:ea typeface="楷体" panose="02010609060101010101" pitchFamily="49" charset="-122"/>
                <a:cs typeface="Times New Roman" panose="02020603050405020304" pitchFamily="18" charset="0"/>
              </a:rPr>
              <a:t>DMAC</a:t>
            </a:r>
            <a:endParaRPr lang="en-US" altLang="zh-CN" sz="2400">
              <a:ea typeface="楷体" panose="02010609060101010101" pitchFamily="49" charset="-122"/>
              <a:cs typeface="Times New Roman" panose="02020603050405020304" pitchFamily="18" charset="0"/>
            </a:endParaRPr>
          </a:p>
        </p:txBody>
      </p:sp>
      <p:sp>
        <p:nvSpPr>
          <p:cNvPr id="78862" name="Text Box 12"/>
          <p:cNvSpPr txBox="1">
            <a:spLocks noChangeArrowheads="1"/>
          </p:cNvSpPr>
          <p:nvPr/>
        </p:nvSpPr>
        <p:spPr bwMode="auto">
          <a:xfrm>
            <a:off x="3435350" y="2089150"/>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ea typeface="楷体" panose="02010609060101010101" pitchFamily="49" charset="-122"/>
                <a:cs typeface="Times New Roman" panose="02020603050405020304" pitchFamily="18" charset="0"/>
              </a:rPr>
              <a:t>总线请求</a:t>
            </a:r>
            <a:endParaRPr lang="zh-CN" altLang="en-US" sz="2000">
              <a:ea typeface="楷体" panose="02010609060101010101" pitchFamily="49" charset="-122"/>
              <a:cs typeface="Times New Roman" panose="02020603050405020304" pitchFamily="18" charset="0"/>
            </a:endParaRPr>
          </a:p>
        </p:txBody>
      </p:sp>
      <p:sp>
        <p:nvSpPr>
          <p:cNvPr id="78863" name="Line 13"/>
          <p:cNvSpPr>
            <a:spLocks noChangeShapeType="1"/>
          </p:cNvSpPr>
          <p:nvPr/>
        </p:nvSpPr>
        <p:spPr bwMode="auto">
          <a:xfrm flipH="1">
            <a:off x="2092325" y="2416175"/>
            <a:ext cx="29368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64" name="Line 14"/>
          <p:cNvSpPr>
            <a:spLocks noChangeShapeType="1"/>
          </p:cNvSpPr>
          <p:nvPr/>
        </p:nvSpPr>
        <p:spPr bwMode="auto">
          <a:xfrm>
            <a:off x="2092325" y="2203450"/>
            <a:ext cx="0" cy="41275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65" name="Line 15"/>
          <p:cNvSpPr>
            <a:spLocks noChangeShapeType="1"/>
          </p:cNvSpPr>
          <p:nvPr/>
        </p:nvSpPr>
        <p:spPr bwMode="auto">
          <a:xfrm>
            <a:off x="2092325" y="3028950"/>
            <a:ext cx="0" cy="660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66" name="Line 16"/>
          <p:cNvSpPr>
            <a:spLocks noChangeShapeType="1"/>
          </p:cNvSpPr>
          <p:nvPr/>
        </p:nvSpPr>
        <p:spPr bwMode="auto">
          <a:xfrm>
            <a:off x="2092325" y="3194050"/>
            <a:ext cx="40290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67" name="Text Box 17"/>
          <p:cNvSpPr txBox="1">
            <a:spLocks noChangeArrowheads="1"/>
          </p:cNvSpPr>
          <p:nvPr/>
        </p:nvSpPr>
        <p:spPr bwMode="auto">
          <a:xfrm>
            <a:off x="3452813" y="2846388"/>
            <a:ext cx="17303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ea typeface="楷体" panose="02010609060101010101" pitchFamily="49" charset="-122"/>
                <a:cs typeface="Times New Roman" panose="02020603050405020304" pitchFamily="18" charset="0"/>
              </a:rPr>
              <a:t>总线响应</a:t>
            </a:r>
            <a:endParaRPr lang="zh-CN" altLang="en-US" sz="2000">
              <a:ea typeface="楷体" panose="02010609060101010101" pitchFamily="49" charset="-122"/>
              <a:cs typeface="Times New Roman" panose="02020603050405020304" pitchFamily="18" charset="0"/>
            </a:endParaRPr>
          </a:p>
        </p:txBody>
      </p:sp>
      <p:sp>
        <p:nvSpPr>
          <p:cNvPr id="78868" name="Line 18"/>
          <p:cNvSpPr>
            <a:spLocks noChangeShapeType="1"/>
          </p:cNvSpPr>
          <p:nvPr/>
        </p:nvSpPr>
        <p:spPr bwMode="auto">
          <a:xfrm>
            <a:off x="6121400" y="2616200"/>
            <a:ext cx="0" cy="8255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69" name="Rectangle 19"/>
          <p:cNvSpPr>
            <a:spLocks noChangeArrowheads="1"/>
          </p:cNvSpPr>
          <p:nvPr/>
        </p:nvSpPr>
        <p:spPr bwMode="auto">
          <a:xfrm>
            <a:off x="1755775" y="3706813"/>
            <a:ext cx="671513" cy="1651000"/>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楷体" panose="02010609060101010101" pitchFamily="49" charset="-122"/>
                <a:cs typeface="Times New Roman" panose="02020603050405020304" pitchFamily="18" charset="0"/>
              </a:rPr>
              <a:t>CPU</a:t>
            </a:r>
            <a:endParaRPr lang="en-US" altLang="zh-CN"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内</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部</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操</a:t>
            </a:r>
            <a:endParaRPr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作</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78870" name="Rectangle 20"/>
          <p:cNvSpPr>
            <a:spLocks noChangeArrowheads="1"/>
          </p:cNvSpPr>
          <p:nvPr/>
        </p:nvSpPr>
        <p:spPr bwMode="auto">
          <a:xfrm>
            <a:off x="5029200" y="3403600"/>
            <a:ext cx="2266950" cy="371475"/>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送出内存地址</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78871" name="Rectangle 21"/>
          <p:cNvSpPr>
            <a:spLocks noChangeArrowheads="1"/>
          </p:cNvSpPr>
          <p:nvPr/>
        </p:nvSpPr>
        <p:spPr bwMode="auto">
          <a:xfrm>
            <a:off x="5029200" y="3981450"/>
            <a:ext cx="2266950" cy="334963"/>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传送一个字数据</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78872" name="Rectangle 22"/>
          <p:cNvSpPr>
            <a:spLocks noChangeArrowheads="1"/>
          </p:cNvSpPr>
          <p:nvPr/>
        </p:nvSpPr>
        <p:spPr bwMode="auto">
          <a:xfrm>
            <a:off x="5029200" y="4502150"/>
            <a:ext cx="2266950" cy="622300"/>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内存地址计数器</a:t>
            </a:r>
            <a:r>
              <a:rPr lang="en-US" altLang="zh-CN" sz="2000">
                <a:solidFill>
                  <a:schemeClr val="bg1"/>
                </a:solidFill>
                <a:ea typeface="楷体" panose="02010609060101010101" pitchFamily="49" charset="-122"/>
                <a:cs typeface="Times New Roman" panose="02020603050405020304" pitchFamily="18" charset="0"/>
              </a:rPr>
              <a:t>+1</a:t>
            </a:r>
            <a:endParaRPr lang="en-US" altLang="zh-CN"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字计数器－</a:t>
            </a:r>
            <a:r>
              <a:rPr lang="en-US" altLang="zh-CN" sz="2000">
                <a:solidFill>
                  <a:schemeClr val="bg1"/>
                </a:solidFill>
                <a:ea typeface="楷体" panose="02010609060101010101" pitchFamily="49" charset="-122"/>
                <a:cs typeface="Times New Roman" panose="02020603050405020304" pitchFamily="18" charset="0"/>
              </a:rPr>
              <a:t>1</a:t>
            </a:r>
            <a:endParaRPr lang="en-US" altLang="zh-CN" sz="2000">
              <a:solidFill>
                <a:schemeClr val="bg1"/>
              </a:solidFill>
              <a:ea typeface="楷体" panose="02010609060101010101" pitchFamily="49" charset="-122"/>
              <a:cs typeface="Times New Roman" panose="02020603050405020304" pitchFamily="18" charset="0"/>
            </a:endParaRPr>
          </a:p>
        </p:txBody>
      </p:sp>
      <p:sp>
        <p:nvSpPr>
          <p:cNvPr id="78873" name="AutoShape 23"/>
          <p:cNvSpPr>
            <a:spLocks noChangeArrowheads="1"/>
          </p:cNvSpPr>
          <p:nvPr/>
        </p:nvSpPr>
        <p:spPr bwMode="auto">
          <a:xfrm>
            <a:off x="5051425" y="5303838"/>
            <a:ext cx="2182813" cy="742950"/>
          </a:xfrm>
          <a:prstGeom prst="flowChartDecision">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ea typeface="楷体" panose="02010609060101010101" pitchFamily="49" charset="-122"/>
                <a:cs typeface="Times New Roman" panose="02020603050405020304" pitchFamily="18" charset="0"/>
              </a:rPr>
              <a:t>字计数器</a:t>
            </a:r>
            <a:r>
              <a:rPr lang="en-US" altLang="zh-CN" sz="2000">
                <a:solidFill>
                  <a:schemeClr val="bg1"/>
                </a:solidFill>
                <a:ea typeface="楷体" panose="02010609060101010101" pitchFamily="49" charset="-122"/>
                <a:cs typeface="Times New Roman" panose="02020603050405020304" pitchFamily="18" charset="0"/>
              </a:rPr>
              <a:t>=0</a:t>
            </a:r>
            <a:r>
              <a:rPr lang="zh-CN" altLang="en-US" sz="2000">
                <a:solidFill>
                  <a:schemeClr val="bg1"/>
                </a:solidFill>
                <a:ea typeface="楷体" panose="02010609060101010101" pitchFamily="49" charset="-122"/>
                <a:cs typeface="Times New Roman" panose="02020603050405020304" pitchFamily="18" charset="0"/>
              </a:rPr>
              <a:t>？</a:t>
            </a:r>
            <a:endParaRPr lang="zh-CN" altLang="en-US" sz="2000">
              <a:solidFill>
                <a:schemeClr val="bg1"/>
              </a:solidFill>
              <a:ea typeface="楷体" panose="02010609060101010101" pitchFamily="49" charset="-122"/>
              <a:cs typeface="Times New Roman" panose="02020603050405020304" pitchFamily="18" charset="0"/>
            </a:endParaRPr>
          </a:p>
        </p:txBody>
      </p:sp>
      <p:sp>
        <p:nvSpPr>
          <p:cNvPr id="78874" name="Line 24"/>
          <p:cNvSpPr>
            <a:spLocks noChangeShapeType="1"/>
          </p:cNvSpPr>
          <p:nvPr/>
        </p:nvSpPr>
        <p:spPr bwMode="auto">
          <a:xfrm>
            <a:off x="6121400" y="3789363"/>
            <a:ext cx="0" cy="1651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75" name="Line 25"/>
          <p:cNvSpPr>
            <a:spLocks noChangeShapeType="1"/>
          </p:cNvSpPr>
          <p:nvPr/>
        </p:nvSpPr>
        <p:spPr bwMode="auto">
          <a:xfrm>
            <a:off x="6121400" y="4349750"/>
            <a:ext cx="0" cy="1651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76" name="Line 26"/>
          <p:cNvSpPr>
            <a:spLocks noChangeShapeType="1"/>
          </p:cNvSpPr>
          <p:nvPr/>
        </p:nvSpPr>
        <p:spPr bwMode="auto">
          <a:xfrm>
            <a:off x="6121400" y="5175250"/>
            <a:ext cx="0" cy="1651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77" name="Line 27"/>
          <p:cNvSpPr>
            <a:spLocks noChangeShapeType="1"/>
          </p:cNvSpPr>
          <p:nvPr/>
        </p:nvSpPr>
        <p:spPr bwMode="auto">
          <a:xfrm>
            <a:off x="7212013" y="5688013"/>
            <a:ext cx="10080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78" name="Line 28"/>
          <p:cNvSpPr>
            <a:spLocks noChangeShapeType="1"/>
          </p:cNvSpPr>
          <p:nvPr/>
        </p:nvSpPr>
        <p:spPr bwMode="auto">
          <a:xfrm flipV="1">
            <a:off x="8220075" y="3211513"/>
            <a:ext cx="0" cy="24765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79" name="Line 29"/>
          <p:cNvSpPr>
            <a:spLocks noChangeShapeType="1"/>
          </p:cNvSpPr>
          <p:nvPr/>
        </p:nvSpPr>
        <p:spPr bwMode="auto">
          <a:xfrm flipH="1">
            <a:off x="6121400" y="3208338"/>
            <a:ext cx="20986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80" name="Text Box 30"/>
          <p:cNvSpPr txBox="1">
            <a:spLocks noChangeArrowheads="1"/>
          </p:cNvSpPr>
          <p:nvPr/>
        </p:nvSpPr>
        <p:spPr bwMode="auto">
          <a:xfrm>
            <a:off x="7297738" y="5754688"/>
            <a:ext cx="420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2000">
                <a:ea typeface="楷体" panose="02010609060101010101" pitchFamily="49" charset="-122"/>
                <a:cs typeface="Times New Roman" panose="02020603050405020304" pitchFamily="18" charset="0"/>
              </a:rPr>
              <a:t>N</a:t>
            </a:r>
            <a:endParaRPr lang="en-US" altLang="zh-CN" sz="2000">
              <a:ea typeface="楷体" panose="02010609060101010101" pitchFamily="49" charset="-122"/>
              <a:cs typeface="Times New Roman" panose="02020603050405020304" pitchFamily="18" charset="0"/>
            </a:endParaRPr>
          </a:p>
        </p:txBody>
      </p:sp>
      <p:sp>
        <p:nvSpPr>
          <p:cNvPr id="78881" name="Line 31"/>
          <p:cNvSpPr>
            <a:spLocks noChangeShapeType="1"/>
          </p:cNvSpPr>
          <p:nvPr/>
        </p:nvSpPr>
        <p:spPr bwMode="auto">
          <a:xfrm>
            <a:off x="2092325" y="5340350"/>
            <a:ext cx="0" cy="6619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82" name="Line 32"/>
          <p:cNvSpPr>
            <a:spLocks noChangeShapeType="1"/>
          </p:cNvSpPr>
          <p:nvPr/>
        </p:nvSpPr>
        <p:spPr bwMode="auto">
          <a:xfrm flipH="1">
            <a:off x="2074863" y="5688013"/>
            <a:ext cx="302101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83" name="Text Box 33"/>
          <p:cNvSpPr txBox="1">
            <a:spLocks noChangeArrowheads="1"/>
          </p:cNvSpPr>
          <p:nvPr/>
        </p:nvSpPr>
        <p:spPr bwMode="auto">
          <a:xfrm>
            <a:off x="2805113" y="5340350"/>
            <a:ext cx="1703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ea typeface="楷体" panose="02010609060101010101" pitchFamily="49" charset="-122"/>
                <a:cs typeface="Times New Roman" panose="02020603050405020304" pitchFamily="18" charset="0"/>
              </a:rPr>
              <a:t>总线释放</a:t>
            </a:r>
            <a:endParaRPr lang="zh-CN" altLang="en-US" sz="2000">
              <a:ea typeface="楷体" panose="02010609060101010101" pitchFamily="49" charset="-122"/>
              <a:cs typeface="Times New Roman" panose="02020603050405020304" pitchFamily="18" charset="0"/>
            </a:endParaRPr>
          </a:p>
        </p:txBody>
      </p:sp>
      <p:sp>
        <p:nvSpPr>
          <p:cNvPr id="78884" name="Text Box 34"/>
          <p:cNvSpPr txBox="1">
            <a:spLocks noChangeArrowheads="1"/>
          </p:cNvSpPr>
          <p:nvPr/>
        </p:nvSpPr>
        <p:spPr bwMode="auto">
          <a:xfrm>
            <a:off x="4764088" y="5634038"/>
            <a:ext cx="419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2000">
                <a:ea typeface="楷体" panose="02010609060101010101" pitchFamily="49" charset="-122"/>
                <a:cs typeface="Times New Roman" panose="02020603050405020304" pitchFamily="18" charset="0"/>
              </a:rPr>
              <a:t>Y</a:t>
            </a:r>
            <a:endParaRPr lang="en-US" altLang="zh-CN" sz="2000">
              <a:ea typeface="楷体" panose="02010609060101010101" pitchFamily="49" charset="-122"/>
              <a:cs typeface="Times New Roman" panose="02020603050405020304" pitchFamily="18" charset="0"/>
            </a:endParaRPr>
          </a:p>
        </p:txBody>
      </p:sp>
      <p:grpSp>
        <p:nvGrpSpPr>
          <p:cNvPr id="78885" name="Group 35"/>
          <p:cNvGrpSpPr/>
          <p:nvPr/>
        </p:nvGrpSpPr>
        <p:grpSpPr bwMode="auto">
          <a:xfrm>
            <a:off x="423547" y="1606550"/>
            <a:ext cx="492443" cy="1422400"/>
            <a:chOff x="591" y="1220"/>
            <a:chExt cx="282" cy="1104"/>
          </a:xfrm>
        </p:grpSpPr>
        <p:sp>
          <p:nvSpPr>
            <p:cNvPr id="78896" name="AutoShape 36"/>
            <p:cNvSpPr/>
            <p:nvPr/>
          </p:nvSpPr>
          <p:spPr bwMode="auto">
            <a:xfrm>
              <a:off x="815" y="1296"/>
              <a:ext cx="48" cy="864"/>
            </a:xfrm>
            <a:prstGeom prst="leftBrace">
              <a:avLst>
                <a:gd name="adj1" fmla="val 1500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78897" name="Text Box 37"/>
            <p:cNvSpPr txBox="1">
              <a:spLocks noChangeArrowheads="1"/>
            </p:cNvSpPr>
            <p:nvPr/>
          </p:nvSpPr>
          <p:spPr bwMode="auto">
            <a:xfrm>
              <a:off x="591" y="1220"/>
              <a:ext cx="282"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ea typeface="楷体" panose="02010609060101010101" pitchFamily="49" charset="-122"/>
                  <a:cs typeface="Times New Roman" panose="02020603050405020304" pitchFamily="18" charset="0"/>
                </a:rPr>
                <a:t>总线主设备</a:t>
              </a:r>
              <a:endParaRPr lang="zh-CN" altLang="en-US" sz="2000">
                <a:ea typeface="楷体" panose="02010609060101010101" pitchFamily="49" charset="-122"/>
                <a:cs typeface="Times New Roman" panose="02020603050405020304" pitchFamily="18" charset="0"/>
              </a:endParaRPr>
            </a:p>
          </p:txBody>
        </p:sp>
      </p:grpSp>
      <p:grpSp>
        <p:nvGrpSpPr>
          <p:cNvPr id="78886" name="Group 38"/>
          <p:cNvGrpSpPr/>
          <p:nvPr/>
        </p:nvGrpSpPr>
        <p:grpSpPr bwMode="auto">
          <a:xfrm>
            <a:off x="8318500" y="3194050"/>
            <a:ext cx="574675" cy="2794000"/>
            <a:chOff x="5095" y="2256"/>
            <a:chExt cx="329" cy="1488"/>
          </a:xfrm>
        </p:grpSpPr>
        <p:sp>
          <p:nvSpPr>
            <p:cNvPr id="78894" name="AutoShape 39"/>
            <p:cNvSpPr/>
            <p:nvPr/>
          </p:nvSpPr>
          <p:spPr bwMode="auto">
            <a:xfrm>
              <a:off x="5095" y="2256"/>
              <a:ext cx="96" cy="1488"/>
            </a:xfrm>
            <a:prstGeom prst="rightBrace">
              <a:avLst>
                <a:gd name="adj1" fmla="val 129167"/>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78895" name="Text Box 40"/>
            <p:cNvSpPr txBox="1">
              <a:spLocks noChangeArrowheads="1"/>
            </p:cNvSpPr>
            <p:nvPr/>
          </p:nvSpPr>
          <p:spPr bwMode="auto">
            <a:xfrm>
              <a:off x="5142" y="2514"/>
              <a:ext cx="282"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ea typeface="楷体" panose="02010609060101010101" pitchFamily="49" charset="-122"/>
                  <a:cs typeface="Times New Roman" panose="02020603050405020304" pitchFamily="18" charset="0"/>
                </a:rPr>
                <a:t>总线主设备</a:t>
              </a:r>
              <a:endParaRPr lang="zh-CN" altLang="en-US" sz="2000">
                <a:ea typeface="楷体" panose="02010609060101010101" pitchFamily="49" charset="-122"/>
                <a:cs typeface="Times New Roman" panose="02020603050405020304" pitchFamily="18" charset="0"/>
              </a:endParaRPr>
            </a:p>
          </p:txBody>
        </p:sp>
      </p:grpSp>
      <p:sp>
        <p:nvSpPr>
          <p:cNvPr id="78887" name="Line 42"/>
          <p:cNvSpPr>
            <a:spLocks noChangeShapeType="1"/>
          </p:cNvSpPr>
          <p:nvPr/>
        </p:nvSpPr>
        <p:spPr bwMode="auto">
          <a:xfrm>
            <a:off x="0" y="2846388"/>
            <a:ext cx="427038"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88" name="Line 43"/>
          <p:cNvSpPr>
            <a:spLocks noChangeShapeType="1"/>
          </p:cNvSpPr>
          <p:nvPr/>
        </p:nvSpPr>
        <p:spPr bwMode="auto">
          <a:xfrm>
            <a:off x="0" y="1387475"/>
            <a:ext cx="427038"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8889" name="Line 44"/>
          <p:cNvSpPr>
            <a:spLocks noChangeShapeType="1"/>
          </p:cNvSpPr>
          <p:nvPr/>
        </p:nvSpPr>
        <p:spPr bwMode="auto">
          <a:xfrm>
            <a:off x="0" y="5340350"/>
            <a:ext cx="427038"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77901" name="Text Box 45"/>
          <p:cNvSpPr txBox="1">
            <a:spLocks noChangeArrowheads="1"/>
          </p:cNvSpPr>
          <p:nvPr/>
        </p:nvSpPr>
        <p:spPr bwMode="auto">
          <a:xfrm>
            <a:off x="-3849" y="1542889"/>
            <a:ext cx="430887" cy="92398"/>
          </a:xfrm>
          <a:prstGeom prst="rect">
            <a:avLst/>
          </a:prstGeom>
          <a:noFill/>
          <a:ln w="31750" algn="ctr">
            <a:noFill/>
            <a:miter lim="800000"/>
          </a:ln>
          <a:effectLst/>
        </p:spPr>
        <p:txBody>
          <a:bodyPr vert="eaVert" wrap="none">
            <a:spAutoFit/>
          </a:bodyPr>
          <a:lstStyle/>
          <a:p>
            <a:pPr algn="ctr" eaLnBrk="1" hangingPunct="1">
              <a:defRPr/>
            </a:pPr>
            <a:endParaRPr lang="zh-CN" altLang="zh-CN" sz="1600">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77902" name="Text Box 46"/>
          <p:cNvSpPr txBox="1">
            <a:spLocks noChangeArrowheads="1"/>
          </p:cNvSpPr>
          <p:nvPr/>
        </p:nvSpPr>
        <p:spPr bwMode="auto">
          <a:xfrm>
            <a:off x="-65404" y="1662278"/>
            <a:ext cx="492443" cy="852156"/>
          </a:xfrm>
          <a:prstGeom prst="rect">
            <a:avLst/>
          </a:prstGeom>
          <a:noFill/>
          <a:ln w="31750" algn="ctr">
            <a:noFill/>
            <a:miter lim="800000"/>
          </a:ln>
          <a:effectLst/>
        </p:spPr>
        <p:txBody>
          <a:bodyPr vert="eaVert"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2000" b="1">
                <a:solidFill>
                  <a:srgbClr val="000099"/>
                </a:solidFill>
                <a:effectLst>
                  <a:outerShdw blurRad="38100" dist="38100" dir="2700000" algn="tl">
                    <a:srgbClr val="C0C0C0"/>
                  </a:outerShdw>
                </a:effectLst>
                <a:ea typeface="楷体" panose="02010609060101010101" pitchFamily="49" charset="-122"/>
                <a:cs typeface="Times New Roman" panose="02020603050405020304" pitchFamily="18" charset="0"/>
              </a:rPr>
              <a:t>预处理</a:t>
            </a:r>
            <a:endParaRPr lang="zh-CN" altLang="en-US" sz="2000" b="1">
              <a:solidFill>
                <a:srgbClr val="000099"/>
              </a:solidFill>
              <a:effectLst>
                <a:outerShdw blurRad="38100" dist="38100" dir="2700000" algn="tl">
                  <a:srgbClr val="C0C0C0"/>
                </a:outerShdw>
              </a:effectLst>
              <a:ea typeface="楷体" panose="02010609060101010101" pitchFamily="49" charset="-122"/>
              <a:cs typeface="Times New Roman" panose="02020603050405020304" pitchFamily="18" charset="0"/>
            </a:endParaRPr>
          </a:p>
        </p:txBody>
      </p:sp>
      <p:sp>
        <p:nvSpPr>
          <p:cNvPr id="377903" name="Text Box 47"/>
          <p:cNvSpPr txBox="1">
            <a:spLocks noChangeArrowheads="1"/>
          </p:cNvSpPr>
          <p:nvPr/>
        </p:nvSpPr>
        <p:spPr bwMode="auto">
          <a:xfrm>
            <a:off x="-40004" y="3673210"/>
            <a:ext cx="492443" cy="1105431"/>
          </a:xfrm>
          <a:prstGeom prst="rect">
            <a:avLst/>
          </a:prstGeom>
          <a:noFill/>
          <a:ln w="31750" algn="ctr">
            <a:noFill/>
            <a:miter lim="800000"/>
          </a:ln>
          <a:effectLst/>
        </p:spPr>
        <p:txBody>
          <a:bodyPr vert="eaVert"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2000" b="1">
                <a:solidFill>
                  <a:srgbClr val="000099"/>
                </a:solidFill>
                <a:effectLst>
                  <a:outerShdw blurRad="38100" dist="38100" dir="2700000" algn="tl">
                    <a:srgbClr val="C0C0C0"/>
                  </a:outerShdw>
                </a:effectLst>
                <a:ea typeface="楷体" panose="02010609060101010101" pitchFamily="49" charset="-122"/>
                <a:cs typeface="Times New Roman" panose="02020603050405020304" pitchFamily="18" charset="0"/>
              </a:rPr>
              <a:t>数据传送</a:t>
            </a:r>
            <a:endParaRPr lang="zh-CN" altLang="en-US" sz="2000" b="1">
              <a:solidFill>
                <a:srgbClr val="000099"/>
              </a:solidFill>
              <a:effectLst>
                <a:outerShdw blurRad="38100" dist="38100" dir="2700000" algn="tl">
                  <a:srgbClr val="C0C0C0"/>
                </a:outerShdw>
              </a:effectLst>
              <a:ea typeface="楷体" panose="02010609060101010101" pitchFamily="49" charset="-122"/>
              <a:cs typeface="Times New Roman" panose="02020603050405020304" pitchFamily="18" charset="0"/>
            </a:endParaRPr>
          </a:p>
        </p:txBody>
      </p:sp>
      <p:sp>
        <p:nvSpPr>
          <p:cNvPr id="377904" name="Text Box 48"/>
          <p:cNvSpPr txBox="1">
            <a:spLocks noChangeArrowheads="1"/>
          </p:cNvSpPr>
          <p:nvPr/>
        </p:nvSpPr>
        <p:spPr bwMode="auto">
          <a:xfrm>
            <a:off x="-40004" y="5529428"/>
            <a:ext cx="492443" cy="852156"/>
          </a:xfrm>
          <a:prstGeom prst="rect">
            <a:avLst/>
          </a:prstGeom>
          <a:noFill/>
          <a:ln w="31750" algn="ctr">
            <a:noFill/>
            <a:miter lim="800000"/>
          </a:ln>
          <a:effectLst/>
        </p:spPr>
        <p:txBody>
          <a:bodyPr vert="eaVert"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2000" b="1">
                <a:solidFill>
                  <a:srgbClr val="000099"/>
                </a:solidFill>
                <a:effectLst>
                  <a:outerShdw blurRad="38100" dist="38100" dir="2700000" algn="tl">
                    <a:srgbClr val="C0C0C0"/>
                  </a:outerShdw>
                </a:effectLst>
                <a:ea typeface="楷体" panose="02010609060101010101" pitchFamily="49" charset="-122"/>
                <a:cs typeface="Times New Roman" panose="02020603050405020304" pitchFamily="18" charset="0"/>
              </a:rPr>
              <a:t>后处理</a:t>
            </a:r>
            <a:endParaRPr lang="zh-CN" altLang="en-US" sz="2000" b="1">
              <a:solidFill>
                <a:srgbClr val="000099"/>
              </a:solidFill>
              <a:effectLst>
                <a:outerShdw blurRad="38100" dist="38100" dir="2700000" algn="tl">
                  <a:srgbClr val="C0C0C0"/>
                </a:outerShdw>
              </a:effectLst>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pPr eaLnBrk="1" hangingPunct="1">
              <a:defRPr/>
            </a:pPr>
            <a:r>
              <a:rPr lang="zh-CN" altLang="en-US"/>
              <a:t>选择型和多路型</a:t>
            </a:r>
            <a:r>
              <a:rPr lang="en-US" altLang="zh-CN"/>
              <a:t>DMA</a:t>
            </a:r>
            <a:r>
              <a:rPr lang="zh-CN" altLang="en-US"/>
              <a:t>控制器</a:t>
            </a:r>
            <a:endParaRPr lang="zh-CN" altLang="en-US"/>
          </a:p>
        </p:txBody>
      </p:sp>
      <p:sp>
        <p:nvSpPr>
          <p:cNvPr id="79875" name="Rectangle 3"/>
          <p:cNvSpPr>
            <a:spLocks noGrp="1" noChangeArrowheads="1"/>
          </p:cNvSpPr>
          <p:nvPr>
            <p:ph idx="1"/>
          </p:nvPr>
        </p:nvSpPr>
        <p:spPr>
          <a:xfrm>
            <a:off x="179388" y="1152525"/>
            <a:ext cx="2535237" cy="5400675"/>
          </a:xfrm>
        </p:spPr>
        <p:txBody>
          <a:bodyPr/>
          <a:lstStyle/>
          <a:p>
            <a:pPr eaLnBrk="1" hangingPunct="1"/>
            <a:r>
              <a:rPr lang="zh-CN" altLang="en-US" dirty="0"/>
              <a:t>选择型</a:t>
            </a:r>
            <a:endParaRPr lang="en-US" altLang="zh-CN" dirty="0"/>
          </a:p>
          <a:p>
            <a:pPr eaLnBrk="1" hangingPunct="1">
              <a:buClr>
                <a:srgbClr val="008000"/>
              </a:buClr>
              <a:buFont typeface="Wingdings" panose="05000000000000000000" pitchFamily="2" charset="2"/>
              <a:buChar char="u"/>
            </a:pPr>
            <a:r>
              <a:rPr lang="zh-CN" altLang="en-US" sz="2400" dirty="0"/>
              <a:t>在某一段时间内只能为一个设备服务</a:t>
            </a:r>
            <a:endParaRPr lang="en-US" altLang="zh-CN" sz="2400" dirty="0"/>
          </a:p>
          <a:p>
            <a:pPr eaLnBrk="1" hangingPunct="1">
              <a:buClr>
                <a:srgbClr val="008000"/>
              </a:buClr>
              <a:buFont typeface="Wingdings" panose="05000000000000000000" pitchFamily="2" charset="2"/>
              <a:buChar char="u"/>
            </a:pPr>
            <a:r>
              <a:rPr lang="zh-CN" altLang="en-US" sz="2400" dirty="0"/>
              <a:t>共用硬件</a:t>
            </a:r>
            <a:endParaRPr lang="en-US" altLang="zh-CN" sz="2400" dirty="0"/>
          </a:p>
          <a:p>
            <a:pPr eaLnBrk="1" hangingPunct="1"/>
            <a:r>
              <a:rPr lang="zh-CN" altLang="en-US" dirty="0"/>
              <a:t>多路型</a:t>
            </a:r>
            <a:endParaRPr lang="en-US" altLang="zh-CN" dirty="0"/>
          </a:p>
          <a:p>
            <a:pPr eaLnBrk="1" hangingPunct="1">
              <a:buClr>
                <a:srgbClr val="008000"/>
              </a:buClr>
              <a:buFont typeface="Wingdings" panose="05000000000000000000" pitchFamily="2" charset="2"/>
              <a:buChar char="u"/>
            </a:pPr>
            <a:r>
              <a:rPr lang="en-US" altLang="zh-CN" sz="2400" dirty="0"/>
              <a:t>DMA</a:t>
            </a:r>
            <a:r>
              <a:rPr lang="zh-CN" altLang="en-US" sz="2400" dirty="0"/>
              <a:t>控制器</a:t>
            </a:r>
            <a:r>
              <a:rPr lang="zh-CN" altLang="en-US" sz="2400" dirty="0">
                <a:solidFill>
                  <a:srgbClr val="FF0000"/>
                </a:solidFill>
              </a:rPr>
              <a:t>同时</a:t>
            </a:r>
            <a:r>
              <a:rPr lang="zh-CN" altLang="en-US" sz="2400" dirty="0"/>
              <a:t>为多个慢速设备服务</a:t>
            </a:r>
            <a:endParaRPr lang="en-US" altLang="zh-CN" sz="2400" dirty="0"/>
          </a:p>
          <a:p>
            <a:pPr eaLnBrk="1" hangingPunct="1">
              <a:buClr>
                <a:srgbClr val="008000"/>
              </a:buClr>
              <a:buFont typeface="Wingdings" panose="05000000000000000000" pitchFamily="2" charset="2"/>
              <a:buChar char="u"/>
            </a:pPr>
            <a:r>
              <a:rPr lang="zh-CN" altLang="en-US" sz="2400" dirty="0"/>
              <a:t>各设备能以字节交叉方式进行数据传送</a:t>
            </a:r>
            <a:endParaRPr lang="zh-CN" altLang="en-US" sz="2400" dirty="0"/>
          </a:p>
        </p:txBody>
      </p:sp>
      <p:pic>
        <p:nvPicPr>
          <p:cNvPr id="79877" name="Picture 5" descr="8a16">
            <a:hlinkClick r:id="rId1"/>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27711" y="1322388"/>
            <a:ext cx="5903913" cy="286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8" name="Picture 6" descr="8a17">
            <a:hlinkClick r:id="rId3"/>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50484" y="4191000"/>
            <a:ext cx="6340475"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pPr eaLnBrk="1" hangingPunct="1">
              <a:defRPr/>
            </a:pPr>
            <a:r>
              <a:rPr lang="zh-CN" altLang="en-US" dirty="0"/>
              <a:t>典型多路</a:t>
            </a:r>
            <a:r>
              <a:rPr lang="en-US" altLang="zh-CN" dirty="0"/>
              <a:t>DMA</a:t>
            </a:r>
            <a:r>
              <a:rPr lang="zh-CN" altLang="en-US" dirty="0"/>
              <a:t>芯片</a:t>
            </a:r>
            <a:endParaRPr lang="zh-CN" altLang="en-US" dirty="0"/>
          </a:p>
        </p:txBody>
      </p:sp>
      <p:sp>
        <p:nvSpPr>
          <p:cNvPr id="80899" name="Rectangle 3"/>
          <p:cNvSpPr>
            <a:spLocks noGrp="1" noChangeArrowheads="1"/>
          </p:cNvSpPr>
          <p:nvPr>
            <p:ph idx="1"/>
          </p:nvPr>
        </p:nvSpPr>
        <p:spPr>
          <a:xfrm>
            <a:off x="179388" y="1066800"/>
            <a:ext cx="5106987" cy="5314950"/>
          </a:xfrm>
        </p:spPr>
        <p:txBody>
          <a:bodyPr/>
          <a:lstStyle/>
          <a:p>
            <a:pPr eaLnBrk="1" hangingPunct="1"/>
            <a:r>
              <a:rPr lang="zh-CN" altLang="en-US" dirty="0"/>
              <a:t>八个独立的</a:t>
            </a:r>
            <a:r>
              <a:rPr lang="en-US" altLang="zh-CN" dirty="0"/>
              <a:t>DMA</a:t>
            </a:r>
            <a:r>
              <a:rPr lang="zh-CN" altLang="en-US" dirty="0"/>
              <a:t>通道</a:t>
            </a:r>
            <a:endParaRPr lang="en-US" altLang="zh-CN" dirty="0"/>
          </a:p>
          <a:p>
            <a:pPr eaLnBrk="1" hangingPunct="1"/>
            <a:r>
              <a:rPr lang="zh-CN" altLang="en-US" dirty="0"/>
              <a:t>优先级：通道</a:t>
            </a:r>
            <a:r>
              <a:rPr lang="en-US" altLang="zh-CN" dirty="0"/>
              <a:t>0</a:t>
            </a:r>
            <a:r>
              <a:rPr lang="zh-CN" altLang="en-US" dirty="0"/>
              <a:t>最高，通道</a:t>
            </a:r>
            <a:r>
              <a:rPr lang="en-US" altLang="zh-CN" dirty="0"/>
              <a:t>7</a:t>
            </a:r>
            <a:r>
              <a:rPr lang="zh-CN" altLang="en-US" dirty="0"/>
              <a:t>最低</a:t>
            </a:r>
            <a:endParaRPr lang="en-US" altLang="zh-CN" dirty="0"/>
          </a:p>
          <a:p>
            <a:pPr eaLnBrk="1" hangingPunct="1"/>
            <a:r>
              <a:rPr lang="en-US" altLang="zh-CN" dirty="0"/>
              <a:t>8</a:t>
            </a:r>
            <a:r>
              <a:rPr lang="zh-CN" altLang="en-US" dirty="0"/>
              <a:t>个</a:t>
            </a:r>
            <a:r>
              <a:rPr lang="en-US" altLang="zh-CN" dirty="0"/>
              <a:t>16</a:t>
            </a:r>
            <a:r>
              <a:rPr lang="zh-CN" altLang="en-US" dirty="0"/>
              <a:t>位地址寄存器</a:t>
            </a:r>
            <a:endParaRPr lang="en-US" altLang="zh-CN" dirty="0"/>
          </a:p>
          <a:p>
            <a:pPr eaLnBrk="1" hangingPunct="1"/>
            <a:r>
              <a:rPr lang="en-US" altLang="zh-CN" dirty="0"/>
              <a:t>8</a:t>
            </a:r>
            <a:r>
              <a:rPr lang="zh-CN" altLang="en-US" dirty="0"/>
              <a:t>个</a:t>
            </a:r>
            <a:r>
              <a:rPr lang="en-US" altLang="zh-CN" dirty="0"/>
              <a:t>8</a:t>
            </a:r>
            <a:r>
              <a:rPr lang="zh-CN" altLang="en-US" dirty="0"/>
              <a:t>位传送长度寄存器，即最大数据块长度为</a:t>
            </a:r>
            <a:r>
              <a:rPr lang="en-US" altLang="zh-CN" dirty="0"/>
              <a:t>256</a:t>
            </a:r>
            <a:r>
              <a:rPr lang="zh-CN" altLang="en-US" dirty="0"/>
              <a:t>字节</a:t>
            </a:r>
            <a:endParaRPr lang="en-US" altLang="zh-CN" dirty="0"/>
          </a:p>
          <a:p>
            <a:pPr eaLnBrk="1" hangingPunct="1"/>
            <a:endParaRPr lang="zh-CN" altLang="zh-CN" dirty="0"/>
          </a:p>
        </p:txBody>
      </p:sp>
      <p:pic>
        <p:nvPicPr>
          <p:cNvPr id="80901" name="Picture 4" descr="8a18">
            <a:hlinkClick r:id="rId1"/>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83163" y="928688"/>
            <a:ext cx="4160837" cy="581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pPr eaLnBrk="1" hangingPunct="1">
              <a:defRPr/>
            </a:pPr>
            <a:r>
              <a:rPr lang="zh-CN" altLang="en-US"/>
              <a:t>例</a:t>
            </a:r>
            <a:r>
              <a:rPr lang="en-US" altLang="zh-CN"/>
              <a:t>3</a:t>
            </a:r>
            <a:endParaRPr lang="en-US" altLang="zh-CN"/>
          </a:p>
        </p:txBody>
      </p:sp>
      <p:sp>
        <p:nvSpPr>
          <p:cNvPr id="81923" name="Rectangle 3"/>
          <p:cNvSpPr>
            <a:spLocks noGrp="1" noChangeArrowheads="1"/>
          </p:cNvSpPr>
          <p:nvPr>
            <p:ph idx="1"/>
          </p:nvPr>
        </p:nvSpPr>
        <p:spPr/>
        <p:txBody>
          <a:bodyPr/>
          <a:lstStyle/>
          <a:p>
            <a:pPr eaLnBrk="1" hangingPunct="1">
              <a:buFont typeface="Wingdings 2" charset="2"/>
              <a:buNone/>
            </a:pPr>
            <a:r>
              <a:rPr lang="en-US" altLang="zh-CN" dirty="0"/>
              <a:t>  </a:t>
            </a:r>
            <a:r>
              <a:rPr lang="zh-CN" altLang="en-US" dirty="0"/>
              <a:t>下图中假设有磁盘、磁带、打印机三个设备同时工作。磁盘以</a:t>
            </a:r>
            <a:r>
              <a:rPr lang="en-US" altLang="zh-CN" dirty="0"/>
              <a:t>30μs</a:t>
            </a:r>
            <a:r>
              <a:rPr lang="zh-CN" altLang="en-US" dirty="0"/>
              <a:t>的间隔向控制器发</a:t>
            </a:r>
            <a:r>
              <a:rPr lang="en-US" altLang="zh-CN" dirty="0"/>
              <a:t>DMA</a:t>
            </a:r>
            <a:r>
              <a:rPr lang="zh-CN" altLang="en-US" dirty="0"/>
              <a:t>请求，磁带以</a:t>
            </a:r>
            <a:r>
              <a:rPr lang="en-US" altLang="zh-CN" dirty="0"/>
              <a:t>45μs</a:t>
            </a:r>
            <a:r>
              <a:rPr lang="zh-CN" altLang="en-US" dirty="0"/>
              <a:t>的间隔发</a:t>
            </a:r>
            <a:r>
              <a:rPr lang="en-US" altLang="zh-CN" dirty="0"/>
              <a:t>DMA</a:t>
            </a:r>
            <a:r>
              <a:rPr lang="zh-CN" altLang="en-US" dirty="0"/>
              <a:t>请求，打印机以</a:t>
            </a:r>
            <a:r>
              <a:rPr lang="en-US" altLang="zh-CN" dirty="0"/>
              <a:t>150μs</a:t>
            </a:r>
            <a:r>
              <a:rPr lang="zh-CN" altLang="en-US" dirty="0"/>
              <a:t>间隔发</a:t>
            </a:r>
            <a:r>
              <a:rPr lang="en-US" altLang="zh-CN" dirty="0"/>
              <a:t>DMA</a:t>
            </a:r>
            <a:r>
              <a:rPr lang="zh-CN" altLang="en-US" dirty="0"/>
              <a:t>请求。根据传输速率，磁盘优先权最高，磁带次之，打印机最低，图中假设</a:t>
            </a:r>
            <a:r>
              <a:rPr lang="en-US" altLang="zh-CN" dirty="0"/>
              <a:t>DMA</a:t>
            </a:r>
            <a:r>
              <a:rPr lang="zh-CN" altLang="en-US" dirty="0"/>
              <a:t>控制器每完成一次</a:t>
            </a:r>
            <a:r>
              <a:rPr lang="en-US" altLang="zh-CN" dirty="0"/>
              <a:t>DMA</a:t>
            </a:r>
            <a:r>
              <a:rPr lang="zh-CN" altLang="en-US" dirty="0"/>
              <a:t>传送所需的时间是</a:t>
            </a:r>
            <a:r>
              <a:rPr lang="en-US" altLang="zh-CN" dirty="0"/>
              <a:t>5μs</a:t>
            </a:r>
            <a:r>
              <a:rPr lang="zh-CN" altLang="en-US" dirty="0"/>
              <a:t>。若采用多路型</a:t>
            </a:r>
            <a:r>
              <a:rPr lang="en-US" altLang="zh-CN" dirty="0"/>
              <a:t>DMA</a:t>
            </a:r>
            <a:r>
              <a:rPr lang="zh-CN" altLang="en-US" dirty="0"/>
              <a:t>控制器，请画出</a:t>
            </a:r>
            <a:r>
              <a:rPr lang="en-US" altLang="zh-CN" dirty="0"/>
              <a:t>DMA</a:t>
            </a:r>
            <a:r>
              <a:rPr lang="zh-CN" altLang="en-US" dirty="0"/>
              <a:t>控制器服务三个设备的工作时间图。 </a:t>
            </a:r>
            <a:endParaRPr lang="zh-CN" altLang="en-US" dirty="0"/>
          </a:p>
          <a:p>
            <a:pPr eaLnBrk="1" hangingPunct="1"/>
            <a:endParaRPr lang="en-US" altLang="zh-CN" dirty="0"/>
          </a:p>
        </p:txBody>
      </p:sp>
    </p:spTree>
  </p:cSld>
  <p:clrMapOvr>
    <a:masterClrMapping/>
  </p:clrMapOvr>
  <p:transition spd="med">
    <p:pull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pPr eaLnBrk="1" hangingPunct="1">
              <a:defRPr/>
            </a:pPr>
            <a:r>
              <a:rPr lang="zh-CN" altLang="en-US"/>
              <a:t>工作时间图</a:t>
            </a:r>
            <a:endParaRPr lang="zh-CN" altLang="en-US"/>
          </a:p>
        </p:txBody>
      </p:sp>
      <p:sp>
        <p:nvSpPr>
          <p:cNvPr id="82947" name="Rectangle 3"/>
          <p:cNvSpPr>
            <a:spLocks noGrp="1" noChangeArrowheads="1"/>
          </p:cNvSpPr>
          <p:nvPr>
            <p:ph idx="1"/>
          </p:nvPr>
        </p:nvSpPr>
        <p:spPr/>
        <p:txBody>
          <a:bodyPr/>
          <a:lstStyle/>
          <a:p>
            <a:pPr eaLnBrk="1" hangingPunct="1"/>
            <a:endParaRPr lang="zh-CN" altLang="zh-CN"/>
          </a:p>
        </p:txBody>
      </p:sp>
      <p:pic>
        <p:nvPicPr>
          <p:cNvPr id="82949" name="Picture 4" descr="8a19">
            <a:hlinkClick r:id="rId1"/>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1219199"/>
            <a:ext cx="8424863"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0" name="Line 6"/>
          <p:cNvSpPr>
            <a:spLocks noChangeShapeType="1"/>
          </p:cNvSpPr>
          <p:nvPr/>
        </p:nvSpPr>
        <p:spPr bwMode="auto">
          <a:xfrm>
            <a:off x="1690688" y="3860800"/>
            <a:ext cx="2519362" cy="0"/>
          </a:xfrm>
          <a:prstGeom prst="line">
            <a:avLst/>
          </a:prstGeom>
          <a:noFill/>
          <a:ln w="19050">
            <a:solidFill>
              <a:schemeClr val="tx1"/>
            </a:solidFill>
            <a:miter lim="800000"/>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51" name="Line 7"/>
          <p:cNvSpPr>
            <a:spLocks noChangeShapeType="1"/>
          </p:cNvSpPr>
          <p:nvPr/>
        </p:nvSpPr>
        <p:spPr bwMode="auto">
          <a:xfrm>
            <a:off x="5003800" y="3860800"/>
            <a:ext cx="3313113" cy="0"/>
          </a:xfrm>
          <a:prstGeom prst="line">
            <a:avLst/>
          </a:prstGeom>
          <a:noFill/>
          <a:ln w="190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52" name="Text Box 8"/>
          <p:cNvSpPr txBox="1">
            <a:spLocks noChangeArrowheads="1"/>
          </p:cNvSpPr>
          <p:nvPr/>
        </p:nvSpPr>
        <p:spPr bwMode="auto">
          <a:xfrm>
            <a:off x="4271963" y="3570288"/>
            <a:ext cx="804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2000">
                <a:ea typeface="黑体" panose="02010609060101010101" pitchFamily="49" charset="-122"/>
              </a:rPr>
              <a:t>150us</a:t>
            </a:r>
            <a:endParaRPr lang="en-US" altLang="zh-CN" sz="2000">
              <a:ea typeface="黑体" panose="02010609060101010101" pitchFamily="49" charset="-122"/>
            </a:endParaRPr>
          </a:p>
        </p:txBody>
      </p:sp>
      <p:sp>
        <p:nvSpPr>
          <p:cNvPr id="82953" name="矩形 9"/>
          <p:cNvSpPr>
            <a:spLocks noChangeArrowheads="1"/>
          </p:cNvSpPr>
          <p:nvPr/>
        </p:nvSpPr>
        <p:spPr bwMode="auto">
          <a:xfrm>
            <a:off x="500063" y="4429125"/>
            <a:ext cx="8464550" cy="166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1" name="矩形 10"/>
          <p:cNvSpPr>
            <a:spLocks noChangeArrowheads="1"/>
          </p:cNvSpPr>
          <p:nvPr/>
        </p:nvSpPr>
        <p:spPr bwMode="auto">
          <a:xfrm>
            <a:off x="517525" y="4429125"/>
            <a:ext cx="8231188" cy="1665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1"/>
                                        </p:tgtEl>
                                        <p:attrNameLst>
                                          <p:attrName>ppt_x</p:attrName>
                                        </p:attrNameLst>
                                      </p:cBhvr>
                                      <p:tavLst>
                                        <p:tav tm="0">
                                          <p:val>
                                            <p:strVal val="ppt_x"/>
                                          </p:val>
                                        </p:tav>
                                        <p:tav tm="100000">
                                          <p:val>
                                            <p:strVal val="ppt_x"/>
                                          </p:val>
                                        </p:tav>
                                      </p:tavLst>
                                    </p:anim>
                                    <p:anim calcmode="lin" valueType="num">
                                      <p:cBhvr additive="base">
                                        <p:cTn id="7" dur="500"/>
                                        <p:tgtEl>
                                          <p:spTgt spid="11"/>
                                        </p:tgtEl>
                                        <p:attrNameLst>
                                          <p:attrName>ppt_y</p:attrName>
                                        </p:attrNameLst>
                                      </p:cBhvr>
                                      <p:tavLst>
                                        <p:tav tm="0">
                                          <p:val>
                                            <p:strVal val="ppt_y"/>
                                          </p:val>
                                        </p:tav>
                                        <p:tav tm="100000">
                                          <p:val>
                                            <p:strVal val="1+ppt_h/2"/>
                                          </p:val>
                                        </p:tav>
                                      </p:tavLst>
                                    </p:anim>
                                    <p:set>
                                      <p:cBhvr>
                                        <p:cTn id="8"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pPr eaLnBrk="1" hangingPunct="1">
              <a:defRPr/>
            </a:pPr>
            <a:r>
              <a:rPr lang="zh-CN" altLang="en-US"/>
              <a:t>分析</a:t>
            </a:r>
            <a:endParaRPr lang="zh-CN" altLang="en-US"/>
          </a:p>
        </p:txBody>
      </p:sp>
      <p:sp>
        <p:nvSpPr>
          <p:cNvPr id="83971" name="Rectangle 3"/>
          <p:cNvSpPr>
            <a:spLocks noGrp="1" noChangeArrowheads="1"/>
          </p:cNvSpPr>
          <p:nvPr>
            <p:ph idx="1"/>
          </p:nvPr>
        </p:nvSpPr>
        <p:spPr/>
        <p:txBody>
          <a:bodyPr/>
          <a:lstStyle/>
          <a:p>
            <a:pPr eaLnBrk="1" hangingPunct="1">
              <a:spcBef>
                <a:spcPct val="0"/>
              </a:spcBef>
              <a:buClrTx/>
              <a:buFontTx/>
              <a:buNone/>
            </a:pPr>
            <a:r>
              <a:rPr lang="en-US" altLang="zh-CN" dirty="0"/>
              <a:t>  </a:t>
            </a:r>
            <a:r>
              <a:rPr lang="zh-CN" altLang="en-US" dirty="0"/>
              <a:t>由图看出，</a:t>
            </a:r>
            <a:r>
              <a:rPr lang="en-US" altLang="zh-CN" dirty="0"/>
              <a:t>T1</a:t>
            </a:r>
            <a:r>
              <a:rPr lang="zh-CN" altLang="en-US" dirty="0"/>
              <a:t>间隔中控制器首先为打印机服务，因为此时只有打印机有请求。</a:t>
            </a:r>
            <a:r>
              <a:rPr lang="en-US" altLang="zh-CN" dirty="0"/>
              <a:t>T2</a:t>
            </a:r>
            <a:r>
              <a:rPr lang="zh-CN" altLang="en-US" dirty="0"/>
              <a:t>间隔前沿磁盘、磁带</a:t>
            </a:r>
            <a:r>
              <a:rPr lang="zh-CN" altLang="en-US" dirty="0">
                <a:solidFill>
                  <a:srgbClr val="FF0000"/>
                </a:solidFill>
              </a:rPr>
              <a:t>同时有请求</a:t>
            </a:r>
            <a:r>
              <a:rPr lang="zh-CN" altLang="en-US" dirty="0"/>
              <a:t>，首先为优先权高的磁盘服务，然后为磁带服务，每次服务传送一个字节。在</a:t>
            </a:r>
            <a:r>
              <a:rPr lang="en-US" altLang="zh-CN" dirty="0"/>
              <a:t>120μs</a:t>
            </a:r>
            <a:r>
              <a:rPr lang="zh-CN" altLang="en-US" dirty="0"/>
              <a:t>时间阶段中，为打印机服务只有一次</a:t>
            </a:r>
            <a:r>
              <a:rPr lang="en-US" altLang="zh-CN" dirty="0"/>
              <a:t>(T1)</a:t>
            </a:r>
            <a:r>
              <a:rPr lang="zh-CN" altLang="en-US" dirty="0"/>
              <a:t>，为磁盘服务四次</a:t>
            </a:r>
            <a:r>
              <a:rPr lang="en-US" altLang="zh-CN" dirty="0"/>
              <a:t>(T2</a:t>
            </a:r>
            <a:r>
              <a:rPr lang="zh-CN" altLang="en-US" dirty="0"/>
              <a:t>，</a:t>
            </a:r>
            <a:r>
              <a:rPr lang="en-US" altLang="zh-CN" dirty="0"/>
              <a:t>T4</a:t>
            </a:r>
            <a:r>
              <a:rPr lang="zh-CN" altLang="en-US" dirty="0"/>
              <a:t>，</a:t>
            </a:r>
            <a:r>
              <a:rPr lang="en-US" altLang="zh-CN" dirty="0"/>
              <a:t>T6</a:t>
            </a:r>
            <a:r>
              <a:rPr lang="zh-CN" altLang="en-US" dirty="0"/>
              <a:t>，</a:t>
            </a:r>
            <a:r>
              <a:rPr lang="en-US" altLang="zh-CN" dirty="0"/>
              <a:t>T7)</a:t>
            </a:r>
            <a:r>
              <a:rPr lang="zh-CN" altLang="en-US" dirty="0"/>
              <a:t>，为磁带服务三次</a:t>
            </a:r>
            <a:r>
              <a:rPr lang="en-US" altLang="zh-CN" dirty="0"/>
              <a:t>(T3</a:t>
            </a:r>
            <a:r>
              <a:rPr lang="zh-CN" altLang="en-US" dirty="0"/>
              <a:t>，</a:t>
            </a:r>
            <a:r>
              <a:rPr lang="en-US" altLang="zh-CN" dirty="0"/>
              <a:t>T5</a:t>
            </a:r>
            <a:r>
              <a:rPr lang="zh-CN" altLang="en-US" dirty="0"/>
              <a:t>，</a:t>
            </a:r>
            <a:r>
              <a:rPr lang="en-US" altLang="zh-CN" dirty="0"/>
              <a:t>T8)</a:t>
            </a:r>
            <a:r>
              <a:rPr lang="zh-CN" altLang="en-US" dirty="0"/>
              <a:t>。从图上看到，在这种情况下</a:t>
            </a:r>
            <a:r>
              <a:rPr lang="en-US" altLang="zh-CN" dirty="0"/>
              <a:t>DMA</a:t>
            </a:r>
            <a:r>
              <a:rPr lang="zh-CN" altLang="en-US" dirty="0"/>
              <a:t>尚有空闲时间，说明控制器还可以容纳更多设备。 </a:t>
            </a:r>
            <a:endParaRPr lang="zh-CN" altLang="en-US" dirty="0"/>
          </a:p>
          <a:p>
            <a:pPr eaLnBrk="1" hangingPunct="1"/>
            <a:endParaRPr lang="en-US" altLang="zh-CN" dirty="0"/>
          </a:p>
        </p:txBody>
      </p:sp>
    </p:spTree>
  </p:cSld>
  <p:clrMapOvr>
    <a:masterClrMapping/>
  </p:clrMapOvr>
  <p:transition spd="med">
    <p:pull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8.5 </a:t>
            </a:r>
            <a:r>
              <a:rPr lang="zh-CN" altLang="en-US" dirty="0"/>
              <a:t>通道方式</a:t>
            </a:r>
            <a:endParaRPr lang="zh-CN" alt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pPr eaLnBrk="1" hangingPunct="1">
              <a:defRPr/>
            </a:pPr>
            <a:r>
              <a:rPr lang="zh-CN" altLang="en-US"/>
              <a:t>基本概念</a:t>
            </a:r>
            <a:endParaRPr lang="zh-CN" altLang="en-US"/>
          </a:p>
        </p:txBody>
      </p:sp>
      <p:sp>
        <p:nvSpPr>
          <p:cNvPr id="86019" name="Rectangle 3"/>
          <p:cNvSpPr>
            <a:spLocks noGrp="1" noChangeArrowheads="1"/>
          </p:cNvSpPr>
          <p:nvPr>
            <p:ph idx="1"/>
          </p:nvPr>
        </p:nvSpPr>
        <p:spPr>
          <a:xfrm>
            <a:off x="179388" y="1228725"/>
            <a:ext cx="5616575" cy="5400675"/>
          </a:xfrm>
        </p:spPr>
        <p:txBody>
          <a:bodyPr/>
          <a:lstStyle/>
          <a:p>
            <a:pPr eaLnBrk="1" hangingPunct="1">
              <a:lnSpc>
                <a:spcPct val="80000"/>
              </a:lnSpc>
            </a:pPr>
            <a:r>
              <a:rPr lang="zh-CN" altLang="en-US" sz="2200" dirty="0"/>
              <a:t>通道是计算机系统中代替</a:t>
            </a:r>
            <a:r>
              <a:rPr lang="en-US" altLang="zh-CN" sz="2200" dirty="0"/>
              <a:t>CPU</a:t>
            </a:r>
            <a:r>
              <a:rPr lang="zh-CN" altLang="en-US" sz="2200" dirty="0"/>
              <a:t>管理控制外设的独立部件，是一种能</a:t>
            </a:r>
            <a:r>
              <a:rPr lang="zh-CN" altLang="en-US" sz="2200" dirty="0">
                <a:solidFill>
                  <a:srgbClr val="FF0000"/>
                </a:solidFill>
              </a:rPr>
              <a:t>执行有限</a:t>
            </a:r>
            <a:r>
              <a:rPr lang="en-US" altLang="zh-CN" sz="2200" dirty="0">
                <a:solidFill>
                  <a:srgbClr val="FF0000"/>
                </a:solidFill>
              </a:rPr>
              <a:t>I</a:t>
            </a:r>
            <a:r>
              <a:rPr lang="zh-CN" altLang="en-US" sz="2200" dirty="0">
                <a:solidFill>
                  <a:srgbClr val="FF0000"/>
                </a:solidFill>
              </a:rPr>
              <a:t>／</a:t>
            </a:r>
            <a:r>
              <a:rPr lang="en-US" altLang="zh-CN" sz="2200" dirty="0">
                <a:solidFill>
                  <a:srgbClr val="FF0000"/>
                </a:solidFill>
              </a:rPr>
              <a:t>O</a:t>
            </a:r>
            <a:r>
              <a:rPr lang="zh-CN" altLang="en-US" sz="2200" dirty="0">
                <a:solidFill>
                  <a:srgbClr val="FF0000"/>
                </a:solidFill>
              </a:rPr>
              <a:t>指令集</a:t>
            </a:r>
            <a:r>
              <a:rPr lang="zh-CN" altLang="en-US" sz="2200" dirty="0"/>
              <a:t>（通道命令）的特殊功能的处理机</a:t>
            </a:r>
            <a:endParaRPr lang="zh-CN" altLang="en-US" sz="2200" dirty="0"/>
          </a:p>
          <a:p>
            <a:pPr eaLnBrk="1" hangingPunct="1">
              <a:lnSpc>
                <a:spcPct val="80000"/>
              </a:lnSpc>
            </a:pPr>
            <a:r>
              <a:rPr lang="zh-CN" altLang="en-US" sz="2200" dirty="0"/>
              <a:t>在通道控制方式中，一个主机可以连接几个通道。每个通道又可连接多台</a:t>
            </a:r>
            <a:r>
              <a:rPr lang="en-US" altLang="zh-CN" sz="2200" dirty="0"/>
              <a:t>I</a:t>
            </a:r>
            <a:r>
              <a:rPr lang="zh-CN" altLang="en-US" sz="2200" dirty="0"/>
              <a:t>／</a:t>
            </a:r>
            <a:r>
              <a:rPr lang="en-US" altLang="zh-CN" sz="2200" dirty="0"/>
              <a:t>O</a:t>
            </a:r>
            <a:r>
              <a:rPr lang="zh-CN" altLang="en-US" sz="2200" dirty="0"/>
              <a:t>设备，这些设备可具有不同速度，可以是不同种类</a:t>
            </a:r>
            <a:endParaRPr lang="zh-CN" altLang="en-US" sz="2200" dirty="0"/>
          </a:p>
          <a:p>
            <a:pPr eaLnBrk="1" hangingPunct="1">
              <a:lnSpc>
                <a:spcPct val="80000"/>
              </a:lnSpc>
            </a:pPr>
            <a:r>
              <a:rPr lang="zh-CN" altLang="en-US" sz="2200" dirty="0"/>
              <a:t>采用通道方式组织输入输出系统，一般采用主机</a:t>
            </a:r>
            <a:r>
              <a:rPr lang="en-US" altLang="zh-CN" sz="2200" dirty="0">
                <a:sym typeface="Symbol" panose="05050102010706020507" pitchFamily="18" charset="2"/>
              </a:rPr>
              <a:t></a:t>
            </a:r>
            <a:r>
              <a:rPr lang="zh-CN" altLang="en-US" sz="2200" dirty="0"/>
              <a:t>通道</a:t>
            </a:r>
            <a:r>
              <a:rPr lang="en-US" altLang="zh-CN" sz="2200" dirty="0">
                <a:sym typeface="Symbol" panose="05050102010706020507" pitchFamily="18" charset="2"/>
              </a:rPr>
              <a:t></a:t>
            </a:r>
            <a:r>
              <a:rPr lang="zh-CN" altLang="en-US" sz="2200" dirty="0"/>
              <a:t>设备控制器</a:t>
            </a:r>
            <a:r>
              <a:rPr lang="en-US" altLang="zh-CN" sz="2200" dirty="0">
                <a:sym typeface="Symbol" panose="05050102010706020507" pitchFamily="18" charset="2"/>
              </a:rPr>
              <a:t> </a:t>
            </a:r>
            <a:r>
              <a:rPr lang="en-US" altLang="zh-CN" sz="2200" dirty="0"/>
              <a:t>I</a:t>
            </a:r>
            <a:r>
              <a:rPr lang="zh-CN" altLang="en-US" sz="2200" dirty="0"/>
              <a:t>／</a:t>
            </a:r>
            <a:r>
              <a:rPr lang="en-US" altLang="zh-CN" sz="2200" dirty="0"/>
              <a:t>O</a:t>
            </a:r>
            <a:r>
              <a:rPr lang="zh-CN" altLang="en-US" sz="2200" dirty="0"/>
              <a:t>设备四级连接方式。</a:t>
            </a:r>
            <a:endParaRPr lang="zh-CN" altLang="en-US" sz="2200" dirty="0"/>
          </a:p>
          <a:p>
            <a:pPr eaLnBrk="1" hangingPunct="1">
              <a:lnSpc>
                <a:spcPct val="80000"/>
              </a:lnSpc>
            </a:pPr>
            <a:r>
              <a:rPr lang="en-US" altLang="zh-CN" sz="2200" dirty="0"/>
              <a:t>CPU</a:t>
            </a:r>
            <a:r>
              <a:rPr lang="zh-CN" altLang="en-US" sz="2200" dirty="0"/>
              <a:t>发送一小段通道命令给通道控制器并启动通道，通道自动完成</a:t>
            </a:r>
            <a:r>
              <a:rPr lang="en-US" altLang="zh-CN" sz="2200" dirty="0"/>
              <a:t>I/O</a:t>
            </a:r>
            <a:r>
              <a:rPr lang="zh-CN" altLang="en-US" sz="2200" dirty="0"/>
              <a:t>数据操作而无需</a:t>
            </a:r>
            <a:r>
              <a:rPr lang="en-US" altLang="zh-CN" sz="2200" dirty="0"/>
              <a:t>CPU</a:t>
            </a:r>
            <a:r>
              <a:rPr lang="zh-CN" altLang="en-US" sz="2200" dirty="0"/>
              <a:t>介入，数据交换结束后向</a:t>
            </a:r>
            <a:r>
              <a:rPr lang="en-US" altLang="zh-CN" sz="2200" dirty="0"/>
              <a:t>CPU</a:t>
            </a:r>
            <a:r>
              <a:rPr lang="zh-CN" altLang="en-US" sz="2200" dirty="0"/>
              <a:t>发出中断请求，进行通道结束处理工作。</a:t>
            </a:r>
            <a:endParaRPr lang="zh-CN" altLang="en-US" sz="2200" dirty="0"/>
          </a:p>
          <a:p>
            <a:pPr eaLnBrk="1" hangingPunct="1">
              <a:lnSpc>
                <a:spcPct val="80000"/>
              </a:lnSpc>
            </a:pPr>
            <a:r>
              <a:rPr lang="zh-CN" altLang="en-US" sz="2200" dirty="0"/>
              <a:t>特点：增强了主机与通道操作的并行能力以及各通道之间、同一通道的各设备之间的并行操作能力。同时也为用户提供了增减外围设备的灵活性</a:t>
            </a:r>
            <a:r>
              <a:rPr lang="zh-CN" altLang="en-US" sz="2200" b="0" dirty="0"/>
              <a:t>。</a:t>
            </a:r>
            <a:endParaRPr lang="zh-CN" altLang="en-US" sz="2200" b="0" dirty="0"/>
          </a:p>
        </p:txBody>
      </p:sp>
      <p:pic>
        <p:nvPicPr>
          <p:cNvPr id="86021" name="Picture 4" descr="8a19a">
            <a:hlinkClick r:id="rId1"/>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5963" y="1296987"/>
            <a:ext cx="3348037" cy="297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eaLnBrk="1" hangingPunct="1">
              <a:defRPr/>
            </a:pPr>
            <a:r>
              <a:rPr lang="zh-CN" altLang="en-US"/>
              <a:t>通道的功能</a:t>
            </a:r>
            <a:endParaRPr lang="zh-CN" altLang="en-US"/>
          </a:p>
        </p:txBody>
      </p:sp>
      <p:sp>
        <p:nvSpPr>
          <p:cNvPr id="87043" name="Rectangle 3"/>
          <p:cNvSpPr>
            <a:spLocks noGrp="1" noChangeArrowheads="1"/>
          </p:cNvSpPr>
          <p:nvPr>
            <p:ph idx="1"/>
          </p:nvPr>
        </p:nvSpPr>
        <p:spPr/>
        <p:txBody>
          <a:bodyPr/>
          <a:lstStyle/>
          <a:p>
            <a:pPr eaLnBrk="1" hangingPunct="1"/>
            <a:r>
              <a:rPr lang="zh-CN" altLang="en-US"/>
              <a:t>根据</a:t>
            </a:r>
            <a:r>
              <a:rPr lang="en-US" altLang="zh-CN"/>
              <a:t>CPU</a:t>
            </a:r>
            <a:r>
              <a:rPr lang="zh-CN" altLang="en-US"/>
              <a:t>要求选择某一指定外设与系统相连，向该外设发出操作命令，进行初始化</a:t>
            </a:r>
            <a:endParaRPr lang="zh-CN" altLang="en-US"/>
          </a:p>
          <a:p>
            <a:pPr eaLnBrk="1" hangingPunct="1"/>
            <a:r>
              <a:rPr lang="zh-CN" altLang="en-US"/>
              <a:t>指定外设读</a:t>
            </a:r>
            <a:r>
              <a:rPr lang="en-US" altLang="zh-CN"/>
              <a:t>/</a:t>
            </a:r>
            <a:r>
              <a:rPr lang="zh-CN" altLang="en-US"/>
              <a:t>写信息的位置、与外设交换信息的主存缓冲区地址</a:t>
            </a:r>
            <a:endParaRPr lang="zh-CN" altLang="en-US"/>
          </a:p>
          <a:p>
            <a:pPr eaLnBrk="1" hangingPunct="1"/>
            <a:r>
              <a:rPr lang="zh-CN" altLang="en-US"/>
              <a:t>控制外设与主存之间的数据交换</a:t>
            </a:r>
            <a:endParaRPr lang="zh-CN" altLang="en-US"/>
          </a:p>
          <a:p>
            <a:pPr eaLnBrk="1" hangingPunct="1"/>
            <a:r>
              <a:rPr lang="zh-CN" altLang="en-US"/>
              <a:t>指定数据传送结束时的操作内容，检查外设的状态</a:t>
            </a:r>
            <a:endParaRPr lang="zh-CN" altLang="en-US"/>
          </a:p>
        </p:txBody>
      </p:sp>
    </p:spTree>
  </p:cSld>
  <p:clrMapOvr>
    <a:masterClrMapping/>
  </p:clrMapOvr>
  <p:transition spd="med">
    <p:pull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eaLnBrk="1" hangingPunct="1">
              <a:defRPr/>
            </a:pPr>
            <a:r>
              <a:rPr lang="zh-CN" altLang="en-US"/>
              <a:t>通道的类型</a:t>
            </a:r>
            <a:endParaRPr lang="zh-CN" altLang="en-US"/>
          </a:p>
        </p:txBody>
      </p:sp>
      <p:sp>
        <p:nvSpPr>
          <p:cNvPr id="88067" name="Rectangle 3"/>
          <p:cNvSpPr>
            <a:spLocks noGrp="1" noChangeArrowheads="1"/>
          </p:cNvSpPr>
          <p:nvPr>
            <p:ph idx="1"/>
          </p:nvPr>
        </p:nvSpPr>
        <p:spPr/>
        <p:txBody>
          <a:bodyPr/>
          <a:lstStyle/>
          <a:p>
            <a:pPr eaLnBrk="1" hangingPunct="1"/>
            <a:r>
              <a:rPr lang="zh-CN" altLang="en-US"/>
              <a:t>选择通道</a:t>
            </a:r>
            <a:endParaRPr lang="zh-CN" altLang="en-US"/>
          </a:p>
          <a:p>
            <a:pPr lvl="1" eaLnBrk="1" hangingPunct="1"/>
            <a:r>
              <a:rPr lang="zh-CN" altLang="en-US"/>
              <a:t>选择一台外设独占整个通道，以成组传送方式传送数据块，效率高，适合快速设备</a:t>
            </a:r>
            <a:endParaRPr lang="zh-CN" altLang="en-US"/>
          </a:p>
          <a:p>
            <a:pPr eaLnBrk="1" hangingPunct="1"/>
            <a:r>
              <a:rPr lang="zh-CN" altLang="en-US"/>
              <a:t>字节多路通道</a:t>
            </a:r>
            <a:endParaRPr lang="zh-CN" altLang="en-US"/>
          </a:p>
          <a:p>
            <a:pPr lvl="1" eaLnBrk="1" hangingPunct="1"/>
            <a:r>
              <a:rPr lang="zh-CN" altLang="en-US"/>
              <a:t>简单的共享通道，分时处理，面向低、中速字符设备</a:t>
            </a:r>
            <a:endParaRPr lang="zh-CN" altLang="en-US"/>
          </a:p>
          <a:p>
            <a:pPr eaLnBrk="1" hangingPunct="1"/>
            <a:r>
              <a:rPr lang="zh-CN" altLang="en-US"/>
              <a:t>数组多路通道</a:t>
            </a:r>
            <a:endParaRPr lang="zh-CN" altLang="en-US"/>
          </a:p>
          <a:p>
            <a:pPr lvl="1" eaLnBrk="1" hangingPunct="1"/>
            <a:r>
              <a:rPr lang="zh-CN" altLang="en-US"/>
              <a:t>多个设备以数据块为单位交叉使用通道。是上两种方式的结合，效率高，控制较复杂</a:t>
            </a:r>
            <a:endParaRPr lang="zh-CN" altLang="en-US"/>
          </a:p>
        </p:txBody>
      </p:sp>
    </p:spTree>
  </p:cSld>
  <p:clrMapOvr>
    <a:masterClrMapping/>
  </p:clrMapOvr>
  <p:transition spd="med">
    <p:pull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pPr eaLnBrk="1" hangingPunct="1">
              <a:defRPr/>
            </a:pPr>
            <a:r>
              <a:rPr lang="en-US" altLang="zh-CN"/>
              <a:t>IBM 4300</a:t>
            </a:r>
            <a:r>
              <a:rPr lang="zh-CN" altLang="en-US"/>
              <a:t>系统</a:t>
            </a:r>
            <a:r>
              <a:rPr lang="en-US" altLang="zh-CN"/>
              <a:t>I/O</a:t>
            </a:r>
            <a:r>
              <a:rPr lang="zh-CN" altLang="en-US"/>
              <a:t>结构</a:t>
            </a:r>
            <a:endParaRPr lang="zh-CN" altLang="en-US"/>
          </a:p>
        </p:txBody>
      </p:sp>
      <p:sp>
        <p:nvSpPr>
          <p:cNvPr id="90115" name="Rectangle 3"/>
          <p:cNvSpPr>
            <a:spLocks noGrp="1" noChangeArrowheads="1"/>
          </p:cNvSpPr>
          <p:nvPr>
            <p:ph idx="1"/>
          </p:nvPr>
        </p:nvSpPr>
        <p:spPr/>
        <p:txBody>
          <a:bodyPr/>
          <a:lstStyle/>
          <a:p>
            <a:pPr eaLnBrk="1" hangingPunct="1"/>
            <a:endParaRPr lang="zh-CN" altLang="zh-CN"/>
          </a:p>
        </p:txBody>
      </p:sp>
      <p:pic>
        <p:nvPicPr>
          <p:cNvPr id="90117" name="Picture 4" descr="p3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9167" y="1066800"/>
            <a:ext cx="8303833" cy="5499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选择通道（也称高速通道）每次只能从所连接的设备中选择一台</a:t>
            </a:r>
            <a:r>
              <a:rPr lang="en-US" altLang="zh-CN" dirty="0"/>
              <a:t>I</a:t>
            </a:r>
            <a:r>
              <a:rPr lang="zh-CN" altLang="en-US" dirty="0"/>
              <a:t>／</a:t>
            </a:r>
            <a:r>
              <a:rPr lang="en-US" altLang="zh-CN" dirty="0"/>
              <a:t>O</a:t>
            </a:r>
            <a:r>
              <a:rPr lang="zh-CN" altLang="en-US" dirty="0"/>
              <a:t>设备的通道程序执行，此刻该通道程序独占了整个通道。连接在选择通道上的若干设备，只能依次使用通道与主存传送数据</a:t>
            </a:r>
            <a:endParaRPr lang="zh-CN" altLang="en-US" dirty="0"/>
          </a:p>
          <a:p>
            <a:r>
              <a:rPr lang="zh-CN" altLang="en-US" dirty="0"/>
              <a:t>数据传送以成组（数据块）方式进行，每次传送一个数据块，因此，传送速率很高。选择通道多适合于快速设备（磁盘），这些设备相邻字之间的传送空闲时间极短。</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选择通道</a:t>
            </a:r>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87506" y="4724400"/>
            <a:ext cx="7848600" cy="1730301"/>
          </a:xfrm>
          <a:prstGeom prst="rect">
            <a:avLst/>
          </a:prstGeom>
        </p:spPr>
      </p:pic>
      <p:sp>
        <p:nvSpPr>
          <p:cNvPr id="7" name="Text Box 5"/>
          <p:cNvSpPr txBox="1">
            <a:spLocks noChangeArrowheads="1"/>
          </p:cNvSpPr>
          <p:nvPr/>
        </p:nvSpPr>
        <p:spPr bwMode="auto">
          <a:xfrm>
            <a:off x="4688541" y="5503543"/>
            <a:ext cx="598241" cy="338554"/>
          </a:xfrm>
          <a:prstGeom prst="rect">
            <a:avLst/>
          </a:prstGeom>
          <a:solidFill>
            <a:schemeClr val="bg1"/>
          </a:solidFill>
          <a:ln w="19050" algn="ctr">
            <a:solidFill>
              <a:schemeClr val="tx1"/>
            </a:solidFill>
            <a:miter lim="800000"/>
          </a:ln>
          <a:effectLst/>
        </p:spPr>
        <p:txBody>
          <a:bodyPr wrap="none">
            <a:spAutoFit/>
          </a:bodyPr>
          <a:lstStyle/>
          <a:p>
            <a:pPr algn="ctr" eaLnBrk="1" hangingPunct="1">
              <a:defRPr/>
            </a:pPr>
            <a:r>
              <a:rPr lang="zh-CN" altLang="en-US" sz="1600" b="1" dirty="0">
                <a:solidFill>
                  <a:schemeClr val="tx1"/>
                </a:solidFill>
                <a:latin typeface="宋体" panose="02010600030101010101" pitchFamily="2" charset="-122"/>
                <a:ea typeface="宋体" panose="02010600030101010101" pitchFamily="2" charset="-122"/>
              </a:rPr>
              <a:t>通道</a:t>
            </a:r>
            <a:endParaRPr lang="zh-CN" altLang="en-US" sz="1600" b="1" dirty="0">
              <a:solidFill>
                <a:schemeClr val="tx1"/>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pPr eaLnBrk="1" hangingPunct="1">
              <a:defRPr/>
            </a:pPr>
            <a:r>
              <a:rPr lang="zh-CN" altLang="en-US"/>
              <a:t>字节多路通道</a:t>
            </a:r>
            <a:endParaRPr lang="zh-CN" altLang="en-US"/>
          </a:p>
        </p:txBody>
      </p:sp>
      <p:sp>
        <p:nvSpPr>
          <p:cNvPr id="92163" name="Rectangle 3"/>
          <p:cNvSpPr>
            <a:spLocks noGrp="1" noChangeArrowheads="1"/>
          </p:cNvSpPr>
          <p:nvPr>
            <p:ph idx="1"/>
          </p:nvPr>
        </p:nvSpPr>
        <p:spPr/>
        <p:txBody>
          <a:bodyPr/>
          <a:lstStyle/>
          <a:p>
            <a:pPr eaLnBrk="1" hangingPunct="1">
              <a:lnSpc>
                <a:spcPct val="80000"/>
              </a:lnSpc>
            </a:pPr>
            <a:r>
              <a:rPr lang="zh-CN" altLang="en-US" dirty="0"/>
              <a:t>字节多路通道（ </a:t>
            </a:r>
            <a:r>
              <a:rPr lang="en-US" altLang="zh-CN" dirty="0"/>
              <a:t>Byte Multiplexor Channel </a:t>
            </a:r>
            <a:r>
              <a:rPr lang="zh-CN" altLang="en-US" dirty="0"/>
              <a:t>）要求每种设备分时占用一个很短的时间片，不同的设备在指定的时间片内与通道建立传输连接，实现数据的传送。适用于多台低速和中速面向字符的外围设备</a:t>
            </a:r>
            <a:endParaRPr lang="zh-CN" altLang="en-US" dirty="0"/>
          </a:p>
          <a:p>
            <a:pPr eaLnBrk="1" hangingPunct="1">
              <a:lnSpc>
                <a:spcPct val="80000"/>
              </a:lnSpc>
            </a:pPr>
            <a:r>
              <a:rPr lang="zh-CN" altLang="en-US" dirty="0"/>
              <a:t>字节多路通道包括多个子通道，每个子通道服务于一个设备控制器，可以独立地执行通道指令。每个子通道都需要有字符缓冲寄存器、</a:t>
            </a:r>
            <a:r>
              <a:rPr lang="en-US" altLang="zh-CN" dirty="0"/>
              <a:t>I/O</a:t>
            </a:r>
            <a:r>
              <a:rPr lang="zh-CN" altLang="en-US" dirty="0"/>
              <a:t>请求标志</a:t>
            </a:r>
            <a:r>
              <a:rPr lang="en-US" altLang="zh-CN" dirty="0"/>
              <a:t>/</a:t>
            </a:r>
            <a:r>
              <a:rPr lang="zh-CN" altLang="en-US" dirty="0"/>
              <a:t>控制寄存器、主存地址寄存器和字节计数寄存器。通常，每个通道的有关指令和参量存放在主存固定单元中。当通道在逻辑上与某一设备连通时，将这些指令和参量取出来，送入公共控制部件的寄存器中使用</a:t>
            </a:r>
            <a:endParaRPr lang="en-US" altLang="zh-CN" dirty="0"/>
          </a:p>
          <a:p>
            <a:pPr eaLnBrk="1" hangingPunct="1">
              <a:lnSpc>
                <a:spcPct val="80000"/>
              </a:lnSpc>
            </a:pPr>
            <a:r>
              <a:rPr lang="zh-CN" altLang="en-US" dirty="0"/>
              <a:t>在一段时间内能交替执行多个设备的通道程序</a:t>
            </a:r>
            <a:endParaRPr lang="zh-CN" altLang="en-US" b="0" dirty="0"/>
          </a:p>
        </p:txBody>
      </p:sp>
    </p:spTree>
  </p:cSld>
  <p:clrMapOvr>
    <a:masterClrMapping/>
  </p:clrMapOvr>
  <p:transition spd="med">
    <p:pull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eaLnBrk="1" hangingPunct="1">
              <a:defRPr/>
            </a:pPr>
            <a:r>
              <a:rPr lang="zh-CN" altLang="en-US"/>
              <a:t>数组多路通道</a:t>
            </a:r>
            <a:endParaRPr lang="zh-CN" altLang="en-US"/>
          </a:p>
        </p:txBody>
      </p:sp>
      <p:sp>
        <p:nvSpPr>
          <p:cNvPr id="94211" name="Rectangle 3"/>
          <p:cNvSpPr>
            <a:spLocks noGrp="1" noChangeArrowheads="1"/>
          </p:cNvSpPr>
          <p:nvPr>
            <p:ph idx="1"/>
          </p:nvPr>
        </p:nvSpPr>
        <p:spPr/>
        <p:txBody>
          <a:bodyPr/>
          <a:lstStyle/>
          <a:p>
            <a:pPr eaLnBrk="1" hangingPunct="1"/>
            <a:r>
              <a:rPr lang="zh-CN" altLang="en-US" dirty="0"/>
              <a:t>数组多路通道（ </a:t>
            </a:r>
            <a:r>
              <a:rPr lang="en-US" altLang="zh-CN" dirty="0"/>
              <a:t>Block Multiplexer Channel </a:t>
            </a:r>
            <a:r>
              <a:rPr lang="zh-CN" altLang="en-US" dirty="0"/>
              <a:t>）把字节多路通道和选择通道的特点结合起来</a:t>
            </a:r>
            <a:endParaRPr lang="zh-CN" altLang="en-US" dirty="0"/>
          </a:p>
          <a:p>
            <a:pPr lvl="1" eaLnBrk="1" hangingPunct="1"/>
            <a:r>
              <a:rPr lang="zh-CN" altLang="en-US" dirty="0"/>
              <a:t>它有多个子通道</a:t>
            </a:r>
            <a:endParaRPr lang="zh-CN" altLang="en-US" dirty="0"/>
          </a:p>
          <a:p>
            <a:pPr lvl="1" eaLnBrk="1" hangingPunct="1"/>
            <a:r>
              <a:rPr lang="zh-CN" altLang="en-US" dirty="0"/>
              <a:t>既可以执行多路通道程序，象字节多路通道那样，所有子通道分时共享总通道</a:t>
            </a:r>
            <a:endParaRPr lang="zh-CN" altLang="en-US" dirty="0"/>
          </a:p>
          <a:p>
            <a:pPr lvl="1" eaLnBrk="1" hangingPunct="1"/>
            <a:r>
              <a:rPr lang="zh-CN" altLang="en-US" dirty="0"/>
              <a:t>又可以用选择通道那样的方式传送数据</a:t>
            </a:r>
            <a:endParaRPr lang="en-US" altLang="zh-CN" dirty="0"/>
          </a:p>
          <a:p>
            <a:pPr lvl="1" eaLnBrk="1" hangingPunct="1"/>
            <a:r>
              <a:rPr lang="zh-CN" altLang="en-US" dirty="0"/>
              <a:t>在一段时间内能交替执行多个设备的通道程序</a:t>
            </a:r>
            <a:endParaRPr lang="zh-CN" altLang="en-US" dirty="0"/>
          </a:p>
        </p:txBody>
      </p:sp>
    </p:spTree>
  </p:cSld>
  <p:clrMapOvr>
    <a:masterClrMapping/>
  </p:clrMapOvr>
  <p:transition spd="med">
    <p:pull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pPr eaLnBrk="1" hangingPunct="1">
              <a:defRPr/>
            </a:pPr>
            <a:r>
              <a:rPr lang="zh-CN" altLang="en-US"/>
              <a:t>通道结构的发展</a:t>
            </a:r>
            <a:endParaRPr lang="zh-CN" altLang="en-US"/>
          </a:p>
        </p:txBody>
      </p:sp>
      <p:sp>
        <p:nvSpPr>
          <p:cNvPr id="95235" name="Rectangle 3"/>
          <p:cNvSpPr>
            <a:spLocks noGrp="1" noChangeArrowheads="1"/>
          </p:cNvSpPr>
          <p:nvPr>
            <p:ph idx="1"/>
          </p:nvPr>
        </p:nvSpPr>
        <p:spPr>
          <a:xfrm>
            <a:off x="179387" y="1198843"/>
            <a:ext cx="8785225" cy="5400675"/>
          </a:xfrm>
        </p:spPr>
        <p:txBody>
          <a:bodyPr/>
          <a:lstStyle/>
          <a:p>
            <a:pPr eaLnBrk="1" hangingPunct="1"/>
            <a:r>
              <a:rPr lang="zh-CN" altLang="en-US" sz="2800" dirty="0"/>
              <a:t>输入输出处理机（</a:t>
            </a:r>
            <a:r>
              <a:rPr lang="en-US" altLang="zh-CN" sz="2800" dirty="0"/>
              <a:t>IOP</a:t>
            </a:r>
            <a:r>
              <a:rPr lang="zh-CN" altLang="en-US" sz="2800" dirty="0"/>
              <a:t>）</a:t>
            </a:r>
            <a:r>
              <a:rPr lang="zh-CN" altLang="en-US" dirty="0"/>
              <a:t>   </a:t>
            </a:r>
            <a:endParaRPr lang="zh-CN" altLang="en-US" dirty="0"/>
          </a:p>
          <a:p>
            <a:pPr lvl="1" eaLnBrk="1" hangingPunct="1"/>
            <a:r>
              <a:rPr lang="zh-CN" altLang="en-US" dirty="0"/>
              <a:t>输入输出处理机（</a:t>
            </a:r>
            <a:r>
              <a:rPr lang="en-US" altLang="zh-CN" dirty="0"/>
              <a:t>IOP</a:t>
            </a:r>
            <a:r>
              <a:rPr lang="zh-CN" altLang="en-US" dirty="0"/>
              <a:t>）不是一台独立的计算机，而是计算机系统中的一个部件。</a:t>
            </a:r>
            <a:r>
              <a:rPr lang="en-US" altLang="zh-CN" dirty="0"/>
              <a:t>IOP</a:t>
            </a:r>
            <a:r>
              <a:rPr lang="zh-CN" altLang="en-US" dirty="0"/>
              <a:t>可以和</a:t>
            </a:r>
            <a:r>
              <a:rPr lang="en-US" altLang="zh-CN" dirty="0"/>
              <a:t>CPU</a:t>
            </a:r>
            <a:r>
              <a:rPr lang="zh-CN" altLang="en-US" dirty="0"/>
              <a:t>并行工作，提供高速的</a:t>
            </a:r>
            <a:r>
              <a:rPr lang="en-US" altLang="zh-CN" dirty="0"/>
              <a:t>DMA</a:t>
            </a:r>
            <a:r>
              <a:rPr lang="zh-CN" altLang="en-US" dirty="0"/>
              <a:t>处理能力，实现数据的高速传送。此外，有些</a:t>
            </a:r>
            <a:r>
              <a:rPr lang="en-US" altLang="zh-CN" dirty="0"/>
              <a:t>IOP</a:t>
            </a:r>
            <a:r>
              <a:rPr lang="zh-CN" altLang="en-US" dirty="0"/>
              <a:t>还提供数据的变换、搜索和字装配／分拆能力。</a:t>
            </a:r>
            <a:endParaRPr lang="zh-CN" altLang="en-US" dirty="0"/>
          </a:p>
          <a:p>
            <a:pPr lvl="1" eaLnBrk="1" hangingPunct="1"/>
            <a:r>
              <a:rPr lang="en-US" altLang="zh-CN" dirty="0"/>
              <a:t>8</a:t>
            </a:r>
            <a:r>
              <a:rPr lang="zh-CN" altLang="en-US" dirty="0"/>
              <a:t>位和</a:t>
            </a:r>
            <a:r>
              <a:rPr lang="en-US" altLang="zh-CN" dirty="0"/>
              <a:t>16</a:t>
            </a:r>
            <a:r>
              <a:rPr lang="zh-CN" altLang="en-US" dirty="0"/>
              <a:t>位微机中使用的</a:t>
            </a:r>
            <a:r>
              <a:rPr lang="en-US" altLang="zh-CN" dirty="0"/>
              <a:t>Intel 8089 I</a:t>
            </a:r>
            <a:r>
              <a:rPr lang="zh-CN" altLang="en-US" dirty="0"/>
              <a:t>／</a:t>
            </a:r>
            <a:r>
              <a:rPr lang="en-US" altLang="zh-CN" dirty="0"/>
              <a:t>O</a:t>
            </a:r>
            <a:r>
              <a:rPr lang="zh-CN" altLang="en-US" dirty="0"/>
              <a:t>处理器就是这种通道型</a:t>
            </a:r>
            <a:r>
              <a:rPr lang="en-US" altLang="zh-CN" dirty="0"/>
              <a:t>I</a:t>
            </a:r>
            <a:r>
              <a:rPr lang="zh-CN" altLang="en-US" dirty="0"/>
              <a:t>／</a:t>
            </a:r>
            <a:r>
              <a:rPr lang="en-US" altLang="zh-CN" dirty="0"/>
              <a:t>O</a:t>
            </a:r>
            <a:r>
              <a:rPr lang="zh-CN" altLang="en-US" dirty="0"/>
              <a:t>处理器</a:t>
            </a:r>
            <a:endParaRPr lang="zh-CN" altLang="en-US" dirty="0"/>
          </a:p>
          <a:p>
            <a:pPr eaLnBrk="1" hangingPunct="1"/>
            <a:r>
              <a:rPr lang="zh-CN" altLang="en-US" sz="2800" dirty="0"/>
              <a:t>外围处理机 </a:t>
            </a:r>
            <a:r>
              <a:rPr lang="zh-CN" altLang="en-US" dirty="0"/>
              <a:t>  </a:t>
            </a:r>
            <a:endParaRPr lang="zh-CN" altLang="en-US" dirty="0"/>
          </a:p>
          <a:p>
            <a:pPr lvl="1" eaLnBrk="1" hangingPunct="1"/>
            <a:r>
              <a:rPr lang="zh-CN" altLang="en-US" dirty="0"/>
              <a:t>外围处理机结构更接近于一般处理机，或者就是选用已有的通用机。外围机基本上是独立于主处理机工作的，应用于大型高效率的计算机系统中</a:t>
            </a:r>
            <a:endParaRPr lang="zh-CN" altLang="en-US" dirty="0"/>
          </a:p>
        </p:txBody>
      </p:sp>
    </p:spTree>
  </p:cSld>
  <p:clrMapOvr>
    <a:masterClrMapping/>
  </p:clrMapOvr>
  <p:transition spd="med">
    <p:pull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12</a:t>
            </a:r>
            <a:endParaRPr lang="zh-CN" altLang="en-US" dirty="0"/>
          </a:p>
        </p:txBody>
      </p:sp>
      <p:sp>
        <p:nvSpPr>
          <p:cNvPr id="96259" name="内容占位符 2"/>
          <p:cNvSpPr>
            <a:spLocks noGrp="1" noChangeArrowheads="1"/>
          </p:cNvSpPr>
          <p:nvPr>
            <p:ph idx="1"/>
          </p:nvPr>
        </p:nvSpPr>
        <p:spPr/>
        <p:txBody>
          <a:bodyPr/>
          <a:lstStyle/>
          <a:p>
            <a:pPr marL="0" indent="0">
              <a:buFont typeface="Wingdings 2" charset="2"/>
              <a:buNone/>
            </a:pPr>
            <a:r>
              <a:rPr lang="zh-CN" altLang="en-US"/>
              <a:t>下列选项中，能引起外部中断的事件是  </a:t>
            </a:r>
            <a:endParaRPr lang="zh-CN" altLang="en-US"/>
          </a:p>
          <a:p>
            <a:pPr marL="0" indent="0">
              <a:buFont typeface="Wingdings 2" charset="2"/>
              <a:buNone/>
            </a:pPr>
            <a:r>
              <a:rPr lang="en-US" altLang="zh-CN"/>
              <a:t>A.  </a:t>
            </a:r>
            <a:r>
              <a:rPr lang="zh-CN" altLang="en-US"/>
              <a:t>键盘输入  </a:t>
            </a:r>
            <a:endParaRPr lang="en-US" altLang="zh-CN"/>
          </a:p>
          <a:p>
            <a:pPr marL="0" indent="0">
              <a:buFont typeface="Wingdings 2" charset="2"/>
              <a:buNone/>
            </a:pPr>
            <a:r>
              <a:rPr lang="en-US" altLang="zh-CN"/>
              <a:t>B.  </a:t>
            </a:r>
            <a:r>
              <a:rPr lang="zh-CN" altLang="en-US"/>
              <a:t>除数为</a:t>
            </a:r>
            <a:r>
              <a:rPr lang="en-US" altLang="zh-CN"/>
              <a:t>0  </a:t>
            </a:r>
            <a:endParaRPr lang="en-US" altLang="zh-CN"/>
          </a:p>
          <a:p>
            <a:pPr marL="0" indent="0">
              <a:buFont typeface="Wingdings 2" charset="2"/>
              <a:buNone/>
            </a:pPr>
            <a:r>
              <a:rPr lang="en-US" altLang="zh-CN"/>
              <a:t>C.  </a:t>
            </a:r>
            <a:r>
              <a:rPr lang="zh-CN" altLang="en-US"/>
              <a:t>浮点运算下溢  </a:t>
            </a:r>
            <a:endParaRPr lang="en-US" altLang="zh-CN"/>
          </a:p>
          <a:p>
            <a:pPr marL="0" indent="0">
              <a:buFont typeface="Wingdings 2" charset="2"/>
              <a:buNone/>
            </a:pPr>
            <a:r>
              <a:rPr lang="en-US" altLang="zh-CN"/>
              <a:t>D.  </a:t>
            </a:r>
            <a:r>
              <a:rPr lang="zh-CN" altLang="en-US"/>
              <a:t>访存缺页 </a:t>
            </a:r>
            <a:endParaRPr lang="zh-CN" altLang="en-US"/>
          </a:p>
          <a:p>
            <a:pPr marL="0" indent="0">
              <a:buFont typeface="Wingdings 2" charset="2"/>
              <a:buNone/>
            </a:pPr>
            <a:endParaRPr lang="zh-CN" altLang="en-US"/>
          </a:p>
        </p:txBody>
      </p:sp>
    </p:spTree>
  </p:cSld>
  <p:clrMapOvr>
    <a:masterClrMapping/>
  </p:clrMapOvr>
  <p:transition spd="med">
    <p:pull dir="r"/>
  </p:transition>
</p:sld>
</file>

<file path=ppt/theme/theme1.xml><?xml version="1.0" encoding="utf-8"?>
<a:theme xmlns:a="http://schemas.openxmlformats.org/drawingml/2006/main" name="Title and Content">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Only">
  <a:themeElements>
    <a:clrScheme name="">
      <a:dk1>
        <a:srgbClr val="000000"/>
      </a:dk1>
      <a:lt1>
        <a:srgbClr val="FFFFFF"/>
      </a:lt1>
      <a:dk2>
        <a:srgbClr val="000000"/>
      </a:dk2>
      <a:lt2>
        <a:srgbClr val="80808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Only">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微机接口-单色">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8268</Words>
  <Application>WPS 演示</Application>
  <PresentationFormat>全屏显示(4:3)</PresentationFormat>
  <Paragraphs>1010</Paragraphs>
  <Slides>69</Slides>
  <Notes>14</Notes>
  <HiddenSlides>0</HiddenSlides>
  <MMClips>0</MMClips>
  <ScaleCrop>false</ScaleCrop>
  <HeadingPairs>
    <vt:vector size="8" baseType="variant">
      <vt:variant>
        <vt:lpstr>已用的字体</vt:lpstr>
      </vt:variant>
      <vt:variant>
        <vt:i4>42</vt:i4>
      </vt:variant>
      <vt:variant>
        <vt:lpstr>主题</vt:lpstr>
      </vt:variant>
      <vt:variant>
        <vt:i4>3</vt:i4>
      </vt:variant>
      <vt:variant>
        <vt:lpstr>嵌入 OLE 服务器</vt:lpstr>
      </vt:variant>
      <vt:variant>
        <vt:i4>3</vt:i4>
      </vt:variant>
      <vt:variant>
        <vt:lpstr>幻灯片标题</vt:lpstr>
      </vt:variant>
      <vt:variant>
        <vt:i4>69</vt:i4>
      </vt:variant>
    </vt:vector>
  </HeadingPairs>
  <TitlesOfParts>
    <vt:vector size="117" baseType="lpstr">
      <vt:lpstr>Arial</vt:lpstr>
      <vt:lpstr>宋体</vt:lpstr>
      <vt:lpstr>Wingdings</vt:lpstr>
      <vt:lpstr>Gill Sans</vt:lpstr>
      <vt:lpstr>Segoe Print</vt:lpstr>
      <vt:lpstr>ヒラギノ角ゴ ProN W3</vt:lpstr>
      <vt:lpstr>Calibri Bold</vt:lpstr>
      <vt:lpstr>Calibri</vt:lpstr>
      <vt:lpstr>MS PGothic</vt:lpstr>
      <vt:lpstr>Times New Roman</vt:lpstr>
      <vt:lpstr>黑体</vt:lpstr>
      <vt:lpstr>ヒラギノ角ゴ ProN W6</vt:lpstr>
      <vt:lpstr>Wingdings 2</vt:lpstr>
      <vt:lpstr>Calibri Bold</vt:lpstr>
      <vt:lpstr>Wingdings</vt:lpstr>
      <vt:lpstr>楷体_GB2312</vt:lpstr>
      <vt:lpstr>新宋体</vt:lpstr>
      <vt:lpstr>华文新魏</vt:lpstr>
      <vt:lpstr>华文中宋</vt:lpstr>
      <vt:lpstr>隶书</vt:lpstr>
      <vt:lpstr>Arial Unicode MS</vt:lpstr>
      <vt:lpstr>方正隶书简体</vt:lpstr>
      <vt:lpstr>楷体</vt:lpstr>
      <vt:lpstr>微软雅黑</vt:lpstr>
      <vt:lpstr>方正粗圆简体</vt:lpstr>
      <vt:lpstr>方正准圆简体</vt:lpstr>
      <vt:lpstr>Symbol</vt:lpstr>
      <vt:lpstr>Symbol</vt:lpstr>
      <vt:lpstr>Wingdings 2</vt:lpstr>
      <vt:lpstr>方正准圆简体</vt:lpstr>
      <vt:lpstr>方正粗圆简体</vt:lpstr>
      <vt:lpstr>方正隶书简体</vt:lpstr>
      <vt:lpstr>楷体_GB2312</vt:lpstr>
      <vt:lpstr>Saturday Sans Regular</vt:lpstr>
      <vt:lpstr>华康瘦金体W3</vt:lpstr>
      <vt:lpstr>Kata Bold</vt:lpstr>
      <vt:lpstr>可可虞美人W6</vt:lpstr>
      <vt:lpstr>方正仿宋_GB2312</vt:lpstr>
      <vt:lpstr>方正楷体_GB2312</vt:lpstr>
      <vt:lpstr>方正小标宋简体</vt:lpstr>
      <vt:lpstr>方正准圆_GBK</vt:lpstr>
      <vt:lpstr>KSOF3FB35F8F</vt:lpstr>
      <vt:lpstr>Title and Content</vt:lpstr>
      <vt:lpstr>Title Only</vt:lpstr>
      <vt:lpstr>微机接口-单色</vt:lpstr>
      <vt:lpstr>Visio.Drawing.5</vt:lpstr>
      <vt:lpstr>Visio.Drawing.11</vt:lpstr>
      <vt:lpstr>Visio.Drawing.11</vt:lpstr>
      <vt:lpstr>第8章 输入输出系统</vt:lpstr>
      <vt:lpstr>8.1 外围设备的定时方式和        信息交换方式</vt:lpstr>
      <vt:lpstr>计算机组成</vt:lpstr>
      <vt:lpstr>输入输出系统的组成</vt:lpstr>
      <vt:lpstr>输入/输出操作的两个传输阶段 </vt:lpstr>
      <vt:lpstr>CPU与外设之间的定时</vt:lpstr>
      <vt:lpstr>CPU与外设之间的定时种类</vt:lpstr>
      <vt:lpstr>CPU与外设之间的数据传送式</vt:lpstr>
      <vt:lpstr>1. 程序查询方式</vt:lpstr>
      <vt:lpstr>2. 程序中断方式</vt:lpstr>
      <vt:lpstr>3. DMA方式</vt:lpstr>
      <vt:lpstr>4. 通道方式</vt:lpstr>
      <vt:lpstr>通道方式</vt:lpstr>
      <vt:lpstr>8.2 程序查询方式</vt:lpstr>
      <vt:lpstr>1. 查询传送方式</vt:lpstr>
      <vt:lpstr>多台外设的程序查询过程</vt:lpstr>
      <vt:lpstr>8.3 程序中断方式</vt:lpstr>
      <vt:lpstr>中断的概念</vt:lpstr>
      <vt:lpstr>中断方式的典型应用 </vt:lpstr>
      <vt:lpstr>中断源</vt:lpstr>
      <vt:lpstr>中断处理过程</vt:lpstr>
      <vt:lpstr>程序中断方式基本接口</vt:lpstr>
      <vt:lpstr>中断源的识别</vt:lpstr>
      <vt:lpstr>基于中断向量的中断源识别</vt:lpstr>
      <vt:lpstr>中断服务程序入口的获取 </vt:lpstr>
      <vt:lpstr>单级中断</vt:lpstr>
      <vt:lpstr>串行链式排队电路及中断向量的产生</vt:lpstr>
      <vt:lpstr>多级中断</vt:lpstr>
      <vt:lpstr>一、二维多级中断结构 </vt:lpstr>
      <vt:lpstr>说明</vt:lpstr>
      <vt:lpstr>独立请求方式的优先级排队逻辑</vt:lpstr>
      <vt:lpstr>例1</vt:lpstr>
      <vt:lpstr>例1图</vt:lpstr>
      <vt:lpstr>例1解</vt:lpstr>
      <vt:lpstr>例2</vt:lpstr>
      <vt:lpstr>解</vt:lpstr>
      <vt:lpstr>中断控制器</vt:lpstr>
      <vt:lpstr>主要功能</vt:lpstr>
      <vt:lpstr>10</vt:lpstr>
      <vt:lpstr>11</vt:lpstr>
      <vt:lpstr>5</vt:lpstr>
      <vt:lpstr>8.4 DMA方式</vt:lpstr>
      <vt:lpstr>基本概念</vt:lpstr>
      <vt:lpstr>DMA传送过程</vt:lpstr>
      <vt:lpstr>DMA方式的数据传送过程 </vt:lpstr>
      <vt:lpstr>DMA传送方式</vt:lpstr>
      <vt:lpstr>成组传送方式</vt:lpstr>
      <vt:lpstr>特点</vt:lpstr>
      <vt:lpstr>周期窃取方式</vt:lpstr>
      <vt:lpstr>DMA与CPU交替访内存方式</vt:lpstr>
      <vt:lpstr>DMA控制器的基本组成 </vt:lpstr>
      <vt:lpstr>说明</vt:lpstr>
      <vt:lpstr>DMA数据传送处理过程</vt:lpstr>
      <vt:lpstr>DMA数据传送流程图</vt:lpstr>
      <vt:lpstr>选择型和多路型DMA控制器</vt:lpstr>
      <vt:lpstr>典型多路DMA芯片</vt:lpstr>
      <vt:lpstr>例3</vt:lpstr>
      <vt:lpstr>工作时间图</vt:lpstr>
      <vt:lpstr>分析</vt:lpstr>
      <vt:lpstr>8.5 通道方式</vt:lpstr>
      <vt:lpstr>基本概念</vt:lpstr>
      <vt:lpstr>通道的功能</vt:lpstr>
      <vt:lpstr>通道的类型</vt:lpstr>
      <vt:lpstr>IBM 4300系统I/O结构</vt:lpstr>
      <vt:lpstr>选择通道</vt:lpstr>
      <vt:lpstr>字节多路通道</vt:lpstr>
      <vt:lpstr>数组多路通道</vt:lpstr>
      <vt:lpstr>通道结构的发展</vt:lpstr>
      <vt:lpstr>12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 1st Lecture, Jan. 12th</dc:title>
  <dc:creator>Markus Pueschel</dc:creator>
  <cp:lastModifiedBy>初九</cp:lastModifiedBy>
  <cp:revision>193</cp:revision>
  <cp:lastPrinted>2019-09-24T06:12:00Z</cp:lastPrinted>
  <dcterms:created xsi:type="dcterms:W3CDTF">2012-09-06T15:16:00Z</dcterms:created>
  <dcterms:modified xsi:type="dcterms:W3CDTF">2026-05-25T08:57:22Z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60896665331940DDB81A628C4DBD1FA0_12</vt:lpwstr>
  </property>
</Properties>
</file>