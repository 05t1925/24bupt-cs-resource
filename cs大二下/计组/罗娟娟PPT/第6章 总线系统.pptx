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2" r:id="rId3"/>
    <p:sldMasterId id="2147483672" r:id="rId4"/>
  </p:sldMasterIdLst>
  <p:notesMasterIdLst>
    <p:notesMasterId r:id="rId12"/>
  </p:notesMasterIdLst>
  <p:handoutMasterIdLst>
    <p:handoutMasterId r:id="rId84"/>
  </p:handoutMasterIdLst>
  <p:sldIdLst>
    <p:sldId id="497" r:id="rId5"/>
    <p:sldId id="670" r:id="rId6"/>
    <p:sldId id="259" r:id="rId7"/>
    <p:sldId id="301" r:id="rId8"/>
    <p:sldId id="302" r:id="rId9"/>
    <p:sldId id="291" r:id="rId10"/>
    <p:sldId id="303" r:id="rId11"/>
    <p:sldId id="366" r:id="rId13"/>
    <p:sldId id="367" r:id="rId14"/>
    <p:sldId id="260" r:id="rId15"/>
    <p:sldId id="304" r:id="rId16"/>
    <p:sldId id="294" r:id="rId17"/>
    <p:sldId id="261" r:id="rId18"/>
    <p:sldId id="306" r:id="rId19"/>
    <p:sldId id="359" r:id="rId20"/>
    <p:sldId id="280" r:id="rId21"/>
    <p:sldId id="281" r:id="rId22"/>
    <p:sldId id="360" r:id="rId23"/>
    <p:sldId id="283" r:id="rId24"/>
    <p:sldId id="300" r:id="rId25"/>
    <p:sldId id="405" r:id="rId26"/>
    <p:sldId id="355" r:id="rId27"/>
    <p:sldId id="354" r:id="rId28"/>
    <p:sldId id="671" r:id="rId29"/>
    <p:sldId id="266" r:id="rId30"/>
    <p:sldId id="295" r:id="rId31"/>
    <p:sldId id="356" r:id="rId32"/>
    <p:sldId id="267" r:id="rId33"/>
    <p:sldId id="310" r:id="rId34"/>
    <p:sldId id="676" r:id="rId35"/>
    <p:sldId id="312" r:id="rId36"/>
    <p:sldId id="269" r:id="rId37"/>
    <p:sldId id="313" r:id="rId38"/>
    <p:sldId id="314" r:id="rId39"/>
    <p:sldId id="315" r:id="rId40"/>
    <p:sldId id="316" r:id="rId41"/>
    <p:sldId id="318" r:id="rId42"/>
    <p:sldId id="317" r:id="rId43"/>
    <p:sldId id="319" r:id="rId44"/>
    <p:sldId id="332" r:id="rId45"/>
    <p:sldId id="320" r:id="rId46"/>
    <p:sldId id="321" r:id="rId47"/>
    <p:sldId id="324" r:id="rId48"/>
    <p:sldId id="340" r:id="rId49"/>
    <p:sldId id="341" r:id="rId50"/>
    <p:sldId id="673" r:id="rId51"/>
    <p:sldId id="362" r:id="rId52"/>
    <p:sldId id="363" r:id="rId53"/>
    <p:sldId id="343" r:id="rId54"/>
    <p:sldId id="344" r:id="rId55"/>
    <p:sldId id="353" r:id="rId56"/>
    <p:sldId id="347" r:id="rId57"/>
    <p:sldId id="364" r:id="rId58"/>
    <p:sldId id="365" r:id="rId59"/>
    <p:sldId id="348" r:id="rId60"/>
    <p:sldId id="349" r:id="rId61"/>
    <p:sldId id="350" r:id="rId62"/>
    <p:sldId id="351" r:id="rId63"/>
    <p:sldId id="375" r:id="rId64"/>
    <p:sldId id="674" r:id="rId65"/>
    <p:sldId id="677" r:id="rId66"/>
    <p:sldId id="678" r:id="rId67"/>
    <p:sldId id="679" r:id="rId68"/>
    <p:sldId id="680" r:id="rId69"/>
    <p:sldId id="273" r:id="rId70"/>
    <p:sldId id="330" r:id="rId71"/>
    <p:sldId id="275" r:id="rId72"/>
    <p:sldId id="274" r:id="rId73"/>
    <p:sldId id="337" r:id="rId74"/>
    <p:sldId id="338" r:id="rId75"/>
    <p:sldId id="368" r:id="rId76"/>
    <p:sldId id="369" r:id="rId77"/>
    <p:sldId id="277" r:id="rId78"/>
    <p:sldId id="370" r:id="rId79"/>
    <p:sldId id="371" r:id="rId80"/>
    <p:sldId id="372" r:id="rId81"/>
    <p:sldId id="373" r:id="rId82"/>
    <p:sldId id="374" r:id="rId83"/>
  </p:sldIdLst>
  <p:sldSz cx="9144000" cy="6858000" type="screen4x3"/>
  <p:notesSz cx="7103745" cy="10234295"/>
  <p:defaultTextStyle>
    <a:defPPr>
      <a:defRPr lang="en-US"/>
    </a:defPPr>
    <a:lvl1pPr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1pPr>
    <a:lvl2pPr marL="4572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2pPr>
    <a:lvl3pPr marL="9144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3pPr>
    <a:lvl4pPr marL="13716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4pPr>
    <a:lvl5pPr marL="18288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5pPr>
    <a:lvl6pPr marL="22860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6pPr>
    <a:lvl7pPr marL="27432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7pPr>
    <a:lvl8pPr marL="32004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8pPr>
    <a:lvl9pPr marL="36576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9pPr>
  </p:defaultTextStyle>
  <p:extLst>
    <p:ext uri="{EFAFB233-063F-42B5-8137-9DF3F51BA10A}">
      <p15:sldGuideLst xmlns:p15="http://schemas.microsoft.com/office/powerpoint/2012/main">
        <p15:guide id="1" orient="horz" pos="3648" userDrawn="1">
          <p15:clr>
            <a:srgbClr val="A4A3A4"/>
          </p15:clr>
        </p15:guide>
        <p15:guide id="2" pos="2784" userDrawn="1">
          <p15:clr>
            <a:srgbClr val="A4A3A4"/>
          </p15:clr>
        </p15:guide>
        <p15:guide id="3" pos="41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00F7F7"/>
    <a:srgbClr val="339933"/>
    <a:srgbClr val="3333CC"/>
    <a:srgbClr val="006600"/>
    <a:srgbClr val="000066"/>
    <a:srgbClr val="0033CC"/>
    <a:srgbClr val="3333FF"/>
    <a:srgbClr val="3366FF"/>
    <a:srgbClr val="003399"/>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8522" autoAdjust="0"/>
    <p:restoredTop sz="93612" autoAdjust="0"/>
  </p:normalViewPr>
  <p:slideViewPr>
    <p:cSldViewPr showGuides="1">
      <p:cViewPr varScale="1">
        <p:scale>
          <a:sx n="141" d="100"/>
          <a:sy n="141" d="100"/>
        </p:scale>
        <p:origin x="2744" y="192"/>
      </p:cViewPr>
      <p:guideLst>
        <p:guide orient="horz" pos="3648"/>
        <p:guide pos="2784"/>
        <p:guide pos="4128"/>
      </p:guideLst>
    </p:cSldViewPr>
  </p:slideViewPr>
  <p:notesTextViewPr>
    <p:cViewPr>
      <p:scale>
        <a:sx n="100" d="100"/>
        <a:sy n="100" d="100"/>
      </p:scale>
      <p:origin x="0" y="0"/>
    </p:cViewPr>
  </p:notesTextViewPr>
  <p:sorterViewPr>
    <p:cViewPr>
      <p:scale>
        <a:sx n="110" d="100"/>
        <a:sy n="110" d="100"/>
      </p:scale>
      <p:origin x="0" y="0"/>
    </p:cViewPr>
  </p:sorterViewPr>
  <p:notesViewPr>
    <p:cSldViewPr>
      <p:cViewPr varScale="1">
        <p:scale>
          <a:sx n="148" d="100"/>
          <a:sy n="148" d="100"/>
        </p:scale>
        <p:origin x="-1925" y="-77"/>
      </p:cViewPr>
      <p:guideLst>
        <p:guide orient="horz" pos="3224"/>
        <p:guide pos="2237"/>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7" Type="http://schemas.openxmlformats.org/officeDocument/2006/relationships/tableStyles" Target="tableStyles.xml"/><Relationship Id="rId86" Type="http://schemas.openxmlformats.org/officeDocument/2006/relationships/viewProps" Target="viewProps.xml"/><Relationship Id="rId85" Type="http://schemas.openxmlformats.org/officeDocument/2006/relationships/presProps" Target="presProps.xml"/><Relationship Id="rId84" Type="http://schemas.openxmlformats.org/officeDocument/2006/relationships/handoutMaster" Target="handoutMasters/handoutMaster1.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sz="quarter" idx="1"/>
          </p:nvPr>
        </p:nvSpPr>
        <p:spPr>
          <a:xfrm>
            <a:off x="4023992" y="0"/>
            <a:ext cx="3078427" cy="511731"/>
          </a:xfrm>
          <a:prstGeom prst="rect">
            <a:avLst/>
          </a:prstGeom>
        </p:spPr>
        <p:txBody>
          <a:bodyPr vert="horz" lIns="99075" tIns="49538" rIns="99075" bIns="49538" rtlCol="0"/>
          <a:lstStyle>
            <a:lvl1pPr algn="r">
              <a:defRPr sz="1300"/>
            </a:lvl1pPr>
          </a:lstStyle>
          <a:p>
            <a:fld id="{C79C02A0-2CB8-F64C-87A7-A5563D28AA9B}" type="datetimeFigureOut">
              <a:rPr lang="en-US" smtClean="0"/>
            </a:fld>
            <a:endParaRPr lang="en-US"/>
          </a:p>
        </p:txBody>
      </p:sp>
      <p:sp>
        <p:nvSpPr>
          <p:cNvPr id="4" name="Footer Placeholder 3"/>
          <p:cNvSpPr>
            <a:spLocks noGrp="1"/>
          </p:cNvSpPr>
          <p:nvPr>
            <p:ph type="ftr" sz="quarter" idx="2"/>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a:p>
        </p:txBody>
      </p:sp>
      <p:sp>
        <p:nvSpPr>
          <p:cNvPr id="5" name="Slide Number Placeholder 4"/>
          <p:cNvSpPr>
            <a:spLocks noGrp="1"/>
          </p:cNvSpPr>
          <p:nvPr>
            <p:ph type="sldNum" sz="quarter" idx="3"/>
          </p:nvPr>
        </p:nvSpPr>
        <p:spPr>
          <a:xfrm>
            <a:off x="4023992" y="9721106"/>
            <a:ext cx="3078427" cy="511731"/>
          </a:xfrm>
          <a:prstGeom prst="rect">
            <a:avLst/>
          </a:prstGeom>
        </p:spPr>
        <p:txBody>
          <a:bodyPr vert="horz" lIns="99075" tIns="49538" rIns="99075" bIns="49538" rtlCol="0" anchor="b"/>
          <a:lstStyle>
            <a:lvl1pPr algn="r">
              <a:defRPr sz="1300"/>
            </a:lvl1pPr>
          </a:lstStyle>
          <a:p>
            <a:fld id="{D8885E4B-77DA-1E4C-9EDA-713D746B9077}"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995363" y="768350"/>
            <a:ext cx="5113337" cy="3836988"/>
          </a:xfrm>
          <a:prstGeom prst="rect">
            <a:avLst/>
          </a:prstGeom>
          <a:noFill/>
          <a:ln w="9525">
            <a:solidFill>
              <a:srgbClr val="000000"/>
            </a:solidFill>
            <a:miter lim="800000"/>
          </a:ln>
          <a:effectLst/>
        </p:spPr>
      </p:sp>
      <p:sp>
        <p:nvSpPr>
          <p:cNvPr id="13314" name="Rectangle 2"/>
          <p:cNvSpPr>
            <a:spLocks noGrp="1" noChangeArrowheads="1"/>
          </p:cNvSpPr>
          <p:nvPr>
            <p:ph type="body" sz="quarter" idx="1"/>
          </p:nvPr>
        </p:nvSpPr>
        <p:spPr bwMode="auto">
          <a:xfrm>
            <a:off x="710407" y="4861441"/>
            <a:ext cx="5683250" cy="4605576"/>
          </a:xfrm>
          <a:prstGeom prst="rect">
            <a:avLst/>
          </a:prstGeom>
          <a:noFill/>
          <a:ln w="9525">
            <a:noFill/>
            <a:miter lim="800000"/>
          </a:ln>
          <a:effectLst/>
        </p:spPr>
        <p:txBody>
          <a:bodyPr vert="horz" wrap="square" lIns="99075" tIns="49538" rIns="99075" bIns="49538"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Gill Sans" charset="0"/>
        <a:ea typeface="+mn-ea"/>
        <a:cs typeface="+mn-cs"/>
      </a:defRPr>
    </a:lvl1pPr>
    <a:lvl2pPr marL="457200" algn="l" rtl="0" fontAlgn="base">
      <a:spcBef>
        <a:spcPct val="0"/>
      </a:spcBef>
      <a:spcAft>
        <a:spcPct val="0"/>
      </a:spcAft>
      <a:defRPr sz="1200" kern="1200">
        <a:solidFill>
          <a:schemeClr val="tx1"/>
        </a:solidFill>
        <a:latin typeface="Gill Sans" charset="0"/>
        <a:ea typeface="+mn-ea"/>
        <a:cs typeface="+mn-cs"/>
      </a:defRPr>
    </a:lvl2pPr>
    <a:lvl3pPr marL="914400" algn="l" rtl="0" fontAlgn="base">
      <a:spcBef>
        <a:spcPct val="0"/>
      </a:spcBef>
      <a:spcAft>
        <a:spcPct val="0"/>
      </a:spcAft>
      <a:defRPr sz="1200" kern="1200">
        <a:solidFill>
          <a:schemeClr val="tx1"/>
        </a:solidFill>
        <a:latin typeface="Gill Sans" charset="0"/>
        <a:ea typeface="+mn-ea"/>
        <a:cs typeface="+mn-cs"/>
      </a:defRPr>
    </a:lvl3pPr>
    <a:lvl4pPr marL="1371600" algn="l" rtl="0" fontAlgn="base">
      <a:spcBef>
        <a:spcPct val="0"/>
      </a:spcBef>
      <a:spcAft>
        <a:spcPct val="0"/>
      </a:spcAft>
      <a:defRPr sz="1200" kern="1200">
        <a:solidFill>
          <a:schemeClr val="tx1"/>
        </a:solidFill>
        <a:latin typeface="Gill Sans" charset="0"/>
        <a:ea typeface="+mn-ea"/>
        <a:cs typeface="+mn-cs"/>
      </a:defRPr>
    </a:lvl4pPr>
    <a:lvl5pPr marL="1828800" algn="l" rtl="0" fontAlgn="base">
      <a:spcBef>
        <a:spcPct val="0"/>
      </a:spcBef>
      <a:spcAft>
        <a:spcPct val="0"/>
      </a:spcAft>
      <a:defRPr sz="1200" kern="1200">
        <a:solidFill>
          <a:schemeClr val="tx1"/>
        </a:solidFill>
        <a:latin typeface="Gill San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78A62EC-A3E6-4C45-B857-1C7556121CF7}" type="slidenum">
              <a:rPr lang="en-US" altLang="zh-CN" sz="1300" smtClean="0"/>
            </a:fld>
            <a:endParaRPr lang="en-US" altLang="zh-CN" sz="1300"/>
          </a:p>
        </p:txBody>
      </p:sp>
      <p:sp>
        <p:nvSpPr>
          <p:cNvPr id="24579" name="Rectangle 2"/>
          <p:cNvSpPr>
            <a:spLocks noGrp="1" noRot="1" noChangeAspect="1" noChangeArrowheads="1" noTextEdit="1"/>
          </p:cNvSpPr>
          <p:nvPr>
            <p:ph type="sldImg"/>
          </p:nvPr>
        </p:nvSpPr>
        <p:spPr>
          <a:xfrm>
            <a:off x="992188" y="768350"/>
            <a:ext cx="5114925" cy="3836988"/>
          </a:xfrm>
        </p:spPr>
      </p:sp>
      <p:sp>
        <p:nvSpPr>
          <p:cNvPr id="24580" name="Rectangle 3"/>
          <p:cNvSpPr>
            <a:spLocks noGrp="1" noChangeArrowheads="1"/>
          </p:cNvSpPr>
          <p:nvPr>
            <p:ph type="body" idx="1"/>
          </p:nvPr>
        </p:nvSpPr>
        <p:spPr>
          <a:xfrm>
            <a:off x="946150" y="4860925"/>
            <a:ext cx="5207000"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992188" y="768350"/>
            <a:ext cx="5114925" cy="3836988"/>
          </a:xfrm>
        </p:spPr>
      </p:sp>
      <p:sp>
        <p:nvSpPr>
          <p:cNvPr id="266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5FF2D46A-D2DE-4D25-9F82-B608D7DF4926}"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D52770C-833C-4064-888F-9F914D96422A}" type="slidenum">
              <a:rPr lang="en-US" altLang="zh-CN" sz="1300" smtClean="0"/>
            </a:fld>
            <a:endParaRPr lang="en-US" altLang="zh-CN" sz="1300"/>
          </a:p>
        </p:txBody>
      </p:sp>
      <p:sp>
        <p:nvSpPr>
          <p:cNvPr id="53251" name="Rectangle 2"/>
          <p:cNvSpPr>
            <a:spLocks noGrp="1" noChangeArrowheads="1"/>
          </p:cNvSpPr>
          <p:nvPr>
            <p:ph type="body" idx="1"/>
          </p:nvPr>
        </p:nvSpPr>
        <p:spPr>
          <a:xfrm>
            <a:off x="612775" y="4860925"/>
            <a:ext cx="6118225"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017" tIns="48148" rIns="98017" bIns="48148"/>
          <a:lstStyle/>
          <a:p>
            <a:pPr eaLnBrk="1" hangingPunct="1"/>
            <a:endParaRPr lang="zh-CN" altLang="zh-CN"/>
          </a:p>
        </p:txBody>
      </p:sp>
      <p:sp>
        <p:nvSpPr>
          <p:cNvPr id="53252" name="Rectangle 3"/>
          <p:cNvSpPr>
            <a:spLocks noGrp="1" noRot="1" noChangeAspect="1" noChangeArrowheads="1" noTextEdit="1"/>
          </p:cNvSpPr>
          <p:nvPr>
            <p:ph type="sldImg"/>
          </p:nvPr>
        </p:nvSpPr>
        <p:spPr>
          <a:xfrm>
            <a:off x="1011238" y="660400"/>
            <a:ext cx="5092700" cy="3819525"/>
          </a:xfrm>
          <a:ln>
            <a:noFill/>
          </a:ln>
          <a:extLst>
            <a:ext uri="{91240B29-F687-4F45-9708-019B960494DF}">
              <a14:hiddenLine xmlns:a14="http://schemas.microsoft.com/office/drawing/2010/main" w="9525">
                <a:solidFill>
                  <a:srgbClr val="000000"/>
                </a:solidFill>
                <a:miter lim="800000"/>
                <a:headEnd/>
                <a:tailEnd/>
              </a14:hiddenLine>
            </a:ext>
          </a:extLs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ChangeArrowheads="1" noTextEdit="1"/>
          </p:cNvSpPr>
          <p:nvPr>
            <p:ph type="sldImg"/>
          </p:nvPr>
        </p:nvSpPr>
        <p:spPr>
          <a:xfrm>
            <a:off x="992188" y="768350"/>
            <a:ext cx="5114925" cy="3836988"/>
          </a:xfrm>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56A1F1F-ABA5-43BF-9427-2282F0CEA630}"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ChangeArrowheads="1" noTextEdit="1"/>
          </p:cNvSpPr>
          <p:nvPr>
            <p:ph type="sldImg"/>
          </p:nvPr>
        </p:nvSpPr>
        <p:spPr>
          <a:xfrm>
            <a:off x="992188" y="768350"/>
            <a:ext cx="5114925" cy="3836988"/>
          </a:xfrm>
        </p:spPr>
      </p:sp>
      <p:sp>
        <p:nvSpPr>
          <p:cNvPr id="665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65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C2256BEF-F311-4DD3-B5F9-FD0742A69AE7}"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ChangeArrowheads="1" noTextEdit="1"/>
          </p:cNvSpPr>
          <p:nvPr>
            <p:ph type="sldImg"/>
          </p:nvPr>
        </p:nvSpPr>
        <p:spPr>
          <a:xfrm>
            <a:off x="992188" y="768350"/>
            <a:ext cx="5114925" cy="3836988"/>
          </a:xfrm>
        </p:spPr>
      </p:sp>
      <p:sp>
        <p:nvSpPr>
          <p:cNvPr id="727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75905D4-D302-4A91-B632-DF11AF0F6967}"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p:nvPr>
        </p:nvSpPr>
        <p:spPr>
          <a:xfrm>
            <a:off x="992188" y="768350"/>
            <a:ext cx="5114925" cy="3836988"/>
          </a:xfrm>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78B265C3-84DD-4FBA-BCF2-8BB02A9200EB}"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ChangeArrowheads="1" noTextEdit="1"/>
          </p:cNvSpPr>
          <p:nvPr>
            <p:ph type="sldImg"/>
          </p:nvPr>
        </p:nvSpPr>
        <p:spPr>
          <a:xfrm>
            <a:off x="992188" y="768350"/>
            <a:ext cx="5114925" cy="3836988"/>
          </a:xfrm>
        </p:spPr>
      </p:sp>
      <p:sp>
        <p:nvSpPr>
          <p:cNvPr id="788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88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72D07146-0101-450B-BEB0-67E61A67BAD4}"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ChangeArrowheads="1" noTextEdit="1"/>
          </p:cNvSpPr>
          <p:nvPr>
            <p:ph type="sldImg"/>
          </p:nvPr>
        </p:nvSpPr>
        <p:spPr>
          <a:xfrm>
            <a:off x="992188" y="768350"/>
            <a:ext cx="5114925" cy="3836988"/>
          </a:xfrm>
        </p:spPr>
      </p:sp>
      <p:sp>
        <p:nvSpPr>
          <p:cNvPr id="808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09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8F9D5D82-E7D7-4E56-89A6-9496F3E187CC}"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ChangeArrowheads="1" noTextEdit="1"/>
          </p:cNvSpPr>
          <p:nvPr>
            <p:ph type="sldImg"/>
          </p:nvPr>
        </p:nvSpPr>
        <p:spPr>
          <a:xfrm>
            <a:off x="992188" y="768350"/>
            <a:ext cx="5114925" cy="3836988"/>
          </a:xfrm>
        </p:spPr>
      </p:sp>
      <p:sp>
        <p:nvSpPr>
          <p:cNvPr id="829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829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94B32AE5-30A5-475B-9F49-4C1825BF0EC8}"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ChangeArrowheads="1" noTextEdit="1"/>
          </p:cNvSpPr>
          <p:nvPr>
            <p:ph type="sldImg"/>
          </p:nvPr>
        </p:nvSpPr>
        <p:spPr>
          <a:xfrm>
            <a:off x="992188" y="768350"/>
            <a:ext cx="5114925" cy="3836988"/>
          </a:xfrm>
        </p:spPr>
      </p:sp>
      <p:sp>
        <p:nvSpPr>
          <p:cNvPr id="962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62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9A039C61-51CD-4BB8-A237-9DBFA3022018}"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949325">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949325">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949325">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949325">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949325"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949325"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949325"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949325"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92A58E6-810A-41B5-BAB6-111BACDB19B9}" type="slidenum">
              <a:rPr lang="en-US" altLang="zh-CN" smtClean="0">
                <a:solidFill>
                  <a:srgbClr val="000000"/>
                </a:solidFill>
              </a:rPr>
            </a:fld>
            <a:endParaRPr lang="en-US" altLang="zh-CN">
              <a:solidFill>
                <a:srgbClr val="000000"/>
              </a:solidFill>
            </a:endParaRPr>
          </a:p>
        </p:txBody>
      </p:sp>
      <p:sp>
        <p:nvSpPr>
          <p:cNvPr id="101379" name="Rectangle 2"/>
          <p:cNvSpPr>
            <a:spLocks noGrp="1" noRot="1" noChangeAspect="1" noChangeArrowheads="1" noTextEdit="1"/>
          </p:cNvSpPr>
          <p:nvPr>
            <p:ph type="sldImg"/>
          </p:nvPr>
        </p:nvSpPr>
        <p:spPr>
          <a:xfrm>
            <a:off x="992188" y="768350"/>
            <a:ext cx="5114925" cy="3836988"/>
          </a:xfrm>
        </p:spPr>
      </p:sp>
      <p:sp>
        <p:nvSpPr>
          <p:cNvPr id="1013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US" dirty="0"/>
          </a:p>
        </p:txBody>
      </p:sp>
      <p:sp>
        <p:nvSpPr>
          <p:cNvPr id="5" name="标题 4"/>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76215"/>
            <a:ext cx="8382000" cy="5435600"/>
          </a:xfrm>
        </p:spPr>
        <p:txBody>
          <a:bodyPr/>
          <a:lstStyle>
            <a:lvl1pPr marL="254000" indent="-254000">
              <a:buClr>
                <a:srgbClr val="CC3300"/>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9900CC"/>
              </a:buClr>
              <a:buSzPct val="70000"/>
              <a:buFont typeface="Wingdings" panose="05000000000000000000" pitchFamily="2" charset="2"/>
              <a:buChar char="p"/>
              <a:defRPr/>
            </a:lvl3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4" name="标题 3"/>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81000"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标题 4"/>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
        <p:nvSpPr>
          <p:cNvPr id="7" name="Content Placeholder 2"/>
          <p:cNvSpPr>
            <a:spLocks noGrp="1"/>
          </p:cNvSpPr>
          <p:nvPr>
            <p:ph sz="half" idx="10"/>
          </p:nvPr>
        </p:nvSpPr>
        <p:spPr>
          <a:xfrm>
            <a:off x="4648202"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141016"/>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814961"/>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Text Placeholder 4"/>
          <p:cNvSpPr>
            <a:spLocks noGrp="1"/>
          </p:cNvSpPr>
          <p:nvPr>
            <p:ph type="body" sz="quarter" idx="3"/>
          </p:nvPr>
        </p:nvSpPr>
        <p:spPr>
          <a:xfrm>
            <a:off x="4645025" y="1141016"/>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4645025" y="1814961"/>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7" name="标题 6"/>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spcBef>
                <a:spcPts val="600"/>
              </a:spcBef>
              <a:defRPr>
                <a:latin typeface="Times New Roman" panose="02020603050405020304" pitchFamily="18" charset="0"/>
                <a:cs typeface="Times New Roman" panose="02020603050405020304" pitchFamily="18" charset="0"/>
              </a:defRPr>
            </a:lvl2pPr>
            <a:lvl3pPr>
              <a:spcBef>
                <a:spcPts val="600"/>
              </a:spcBef>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spd="med">
    <p:pull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79388" y="981075"/>
            <a:ext cx="4316412"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81075"/>
            <a:ext cx="4316413"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757613"/>
            <a:ext cx="4316413"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pull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79388" y="981075"/>
            <a:ext cx="4316412"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981075"/>
            <a:ext cx="4316413"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757613"/>
            <a:ext cx="4316413"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pull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79388" y="981075"/>
            <a:ext cx="8785225" cy="26241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179388" y="3757613"/>
            <a:ext cx="8785225" cy="2624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pull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US" dirty="0"/>
          </a:p>
        </p:txBody>
      </p:sp>
      <p:sp>
        <p:nvSpPr>
          <p:cNvPr id="5" name="标题 4"/>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76215"/>
            <a:ext cx="8382000" cy="5435600"/>
          </a:xfrm>
        </p:spPr>
        <p:txBody>
          <a:bodyPr/>
          <a:lstStyle>
            <a:lvl1pPr marL="254000" indent="-254000">
              <a:buClr>
                <a:srgbClr val="003399"/>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003399"/>
              </a:buClr>
              <a:buSzPct val="70000"/>
              <a:buFont typeface="Wingdings" panose="05000000000000000000" pitchFamily="2" charset="2"/>
              <a:buChar char="p"/>
              <a:defRPr/>
            </a:lvl3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4" name="标题 3"/>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81000"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标题 4"/>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
        <p:nvSpPr>
          <p:cNvPr id="6" name="Content Placeholder 2"/>
          <p:cNvSpPr>
            <a:spLocks noGrp="1"/>
          </p:cNvSpPr>
          <p:nvPr>
            <p:ph sz="half" idx="10"/>
          </p:nvPr>
        </p:nvSpPr>
        <p:spPr>
          <a:xfrm>
            <a:off x="4648202"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15232"/>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854994"/>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Text Placeholder 4"/>
          <p:cNvSpPr>
            <a:spLocks noGrp="1"/>
          </p:cNvSpPr>
          <p:nvPr>
            <p:ph type="body" sz="quarter" idx="3"/>
          </p:nvPr>
        </p:nvSpPr>
        <p:spPr>
          <a:xfrm>
            <a:off x="4645025" y="1215232"/>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1854994"/>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7" name="标题 6"/>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spd="med">
    <p:pull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jpeg"/><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0" Type="http://schemas.openxmlformats.org/officeDocument/2006/relationships/theme" Target="../theme/theme2.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image" Target="../media/image1.jpeg"/><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ln>
          <a:effectLst/>
        </p:spPr>
        <p:txBody>
          <a:bodyPr vert="horz" wrap="square" lIns="38100" tIns="38100" rIns="38100" bIns="38100" numCol="1" anchor="ctr" anchorCtr="0" compatLnSpc="1"/>
          <a:lstStyle/>
          <a:p>
            <a:pPr lvl="0"/>
            <a:r>
              <a:rPr lang="en-US" dirty="0">
                <a:sym typeface="Calibri Bold" charset="0"/>
              </a:rPr>
              <a:t>Click to edit title style</a:t>
            </a:r>
            <a:endParaRPr lang="en-US" dirty="0">
              <a:sym typeface="Calibri Bold" charset="0"/>
            </a:endParaRP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ln>
          <a:effectLst/>
        </p:spPr>
        <p:txBody>
          <a:bodyPr vert="horz" wrap="square" lIns="38100" tIns="38100" rIns="38100" bIns="38100" numCol="1" anchor="t" anchorCtr="0" compatLnSpc="1"/>
          <a:lstStyle/>
          <a:p>
            <a:pPr lvl="0"/>
            <a:r>
              <a:rPr lang="en-US" dirty="0">
                <a:sym typeface="Calibri Bold" charset="0"/>
              </a:rPr>
              <a:t>Click to edit Master text styles</a:t>
            </a:r>
            <a:endParaRPr lang="en-US" dirty="0">
              <a:sym typeface="Calibri Bold" charset="0"/>
            </a:endParaRPr>
          </a:p>
          <a:p>
            <a:pPr lvl="1"/>
            <a:r>
              <a:rPr lang="en-US" dirty="0">
                <a:sym typeface="Calibri" panose="020F0502020204030204" charset="0"/>
              </a:rPr>
              <a:t>Second level</a:t>
            </a:r>
            <a:endParaRPr lang="en-US" dirty="0">
              <a:sym typeface="Calibri" panose="020F0502020204030204" charset="0"/>
            </a:endParaRPr>
          </a:p>
          <a:p>
            <a:pPr lvl="2"/>
            <a:r>
              <a:rPr lang="en-US" dirty="0">
                <a:sym typeface="Calibri" panose="020F0502020204030204" charset="0"/>
              </a:rPr>
              <a:t>Third level</a:t>
            </a:r>
            <a:endParaRPr lang="en-US" dirty="0">
              <a:sym typeface="Calibri" panose="020F0502020204030204" charset="0"/>
            </a:endParaRPr>
          </a:p>
          <a:p>
            <a:pPr lvl="3"/>
            <a:r>
              <a:rPr lang="en-US" dirty="0">
                <a:sym typeface="Calibri" panose="020F0502020204030204" charset="0"/>
              </a:rPr>
              <a:t>Fourth level</a:t>
            </a:r>
            <a:endParaRPr lang="en-US" dirty="0">
              <a:sym typeface="Calibri" panose="020F0502020204030204" charset="0"/>
            </a:endParaRPr>
          </a:p>
        </p:txBody>
      </p:sp>
      <p:sp>
        <p:nvSpPr>
          <p:cNvPr id="4" name="Rectangle 3"/>
          <p:cNvSpPr/>
          <p:nvPr userDrawn="1"/>
        </p:nvSpPr>
        <p:spPr>
          <a:xfrm>
            <a:off x="8818144" y="6611779"/>
            <a:ext cx="338555"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mj-lt"/>
                <a:ea typeface="MS PGothic" panose="020B0600070205080204" pitchFamily="-96" charset="-128"/>
                <a:cs typeface="MS PGothic" panose="020B0600070205080204" pitchFamily="-96" charset="-128"/>
              </a:rPr>
            </a:fld>
            <a:endParaRPr lang="en-US" sz="1000" dirty="0">
              <a:latin typeface="+mj-lt"/>
            </a:endParaRPr>
          </a:p>
        </p:txBody>
      </p:sp>
      <p:sp>
        <p:nvSpPr>
          <p:cNvPr id="6" name="Rectangle 1"/>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lstStyle/>
          <a:p>
            <a:endParaRPr lang="en-US"/>
          </a:p>
        </p:txBody>
      </p:sp>
      <p:sp>
        <p:nvSpPr>
          <p:cNvPr id="7" name="Text Box 32"/>
          <p:cNvSpPr txBox="1">
            <a:spLocks noChangeArrowheads="1"/>
          </p:cNvSpPr>
          <p:nvPr userDrawn="1"/>
        </p:nvSpPr>
        <p:spPr bwMode="auto">
          <a:xfrm>
            <a:off x="7111399" y="-22999"/>
            <a:ext cx="2025363" cy="276999"/>
          </a:xfrm>
          <a:prstGeom prst="rect">
            <a:avLst/>
          </a:prstGeom>
          <a:noFill/>
          <a:ln>
            <a:noFill/>
          </a:ln>
          <a:effectLst/>
        </p:spPr>
        <p:txBody>
          <a:bodyPr wrap="none">
            <a:spAutoFit/>
          </a:bodyPr>
          <a:lstStyle/>
          <a:p>
            <a:pPr algn="l" eaLnBrk="0" hangingPunct="0"/>
            <a:r>
              <a:rPr lang="en-US" altLang="en-US" sz="1200" b="1" dirty="0">
                <a:solidFill>
                  <a:srgbClr val="FFFFFF"/>
                </a:solidFill>
                <a:latin typeface="Times New Roman" panose="02020603050405020304" pitchFamily="18" charset="0"/>
                <a:ea typeface="+mn-ea"/>
                <a:cs typeface="+mn-cs"/>
              </a:rPr>
              <a:t>School of Computer Science</a:t>
            </a:r>
            <a:endParaRPr lang="en-US" altLang="en-US" sz="1200" b="1" dirty="0">
              <a:solidFill>
                <a:srgbClr val="FFFFFF"/>
              </a:solidFill>
              <a:latin typeface="Times New Roman" panose="02020603050405020304" pitchFamily="18" charset="0"/>
              <a:ea typeface="+mn-ea"/>
              <a:cs typeface="+mn-cs"/>
            </a:endParaRPr>
          </a:p>
        </p:txBody>
      </p:sp>
      <p:pic>
        <p:nvPicPr>
          <p:cNvPr id="3" name="图片 2"/>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pic>
        <p:nvPicPr>
          <p:cNvPr id="9" name="图片 8"/>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6330014"/>
            <a:ext cx="503426" cy="520207"/>
          </a:xfrm>
          <a:prstGeom prst="rect">
            <a:avLst/>
          </a:prstGeom>
        </p:spPr>
      </p:pic>
      <p:sp>
        <p:nvSpPr>
          <p:cNvPr id="10" name="TextBox 4"/>
          <p:cNvSpPr txBox="1"/>
          <p:nvPr userDrawn="1"/>
        </p:nvSpPr>
        <p:spPr>
          <a:xfrm>
            <a:off x="503426" y="6585945"/>
            <a:ext cx="2340705" cy="261610"/>
          </a:xfrm>
          <a:prstGeom prst="rect">
            <a:avLst/>
          </a:prstGeom>
          <a:noFill/>
        </p:spPr>
        <p:txBody>
          <a:bodyPr wrap="none" rtlCol="0">
            <a:spAutoFit/>
          </a:bodyPr>
          <a:lstStyle/>
          <a:p>
            <a:r>
              <a:rPr lang="en-US" sz="1100" b="1" i="0" dirty="0">
                <a:solidFill>
                  <a:srgbClr val="326AC6"/>
                </a:solidFill>
                <a:effectLst/>
                <a:latin typeface="Calibri" panose="020F0502020204030204" charset="0"/>
              </a:rPr>
              <a:t>Principles of Computer Organization </a:t>
            </a:r>
            <a:endParaRPr lang="en-US" sz="1100" b="1" i="0" dirty="0">
              <a:solidFill>
                <a:srgbClr val="326AC6"/>
              </a:solidFill>
              <a:effectLst/>
              <a:latin typeface="Calibri" panose="020F050202020403020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CC3300"/>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600"/>
        </a:spcBef>
        <a:spcAft>
          <a:spcPct val="0"/>
        </a:spcAft>
        <a:buClr>
          <a:srgbClr val="008000"/>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2pPr>
      <a:lvl3pPr marL="800100" indent="-203200" algn="l" rtl="0" fontAlgn="base">
        <a:spcBef>
          <a:spcPts val="600"/>
        </a:spcBef>
        <a:spcAft>
          <a:spcPct val="0"/>
        </a:spcAft>
        <a:buClr>
          <a:srgbClr val="9900CC"/>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3pPr>
      <a:lvl4pPr marL="1143000" indent="-228600" algn="l" rtl="0" fontAlgn="base">
        <a:spcBef>
          <a:spcPts val="600"/>
        </a:spcBef>
        <a:spcAft>
          <a:spcPct val="0"/>
        </a:spcAft>
        <a:buClr>
          <a:srgbClr val="000000"/>
        </a:buClr>
        <a:buSzPct val="100000"/>
        <a:buFont typeface="Calibri" panose="020F0502020204030204" charset="0"/>
        <a:buChar char="–"/>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4pPr>
      <a:lvl5pPr marL="1231900" indent="0" algn="l" rtl="0" fontAlgn="base">
        <a:spcBef>
          <a:spcPts val="500"/>
        </a:spcBef>
        <a:spcAft>
          <a:spcPct val="0"/>
        </a:spcAft>
        <a:buClr>
          <a:srgbClr val="000000"/>
        </a:buClr>
        <a:buSzPct val="100000"/>
        <a:buFont typeface="Calibri" panose="020F0502020204030204" charset="0"/>
        <a:buNone/>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p>
            <a:pPr lvl="0"/>
            <a:r>
              <a:rPr lang="en-US">
                <a:sym typeface="Calibri Bold" charset="0"/>
              </a:rPr>
              <a:t>Click to edit Master title style</a:t>
            </a:r>
            <a:endParaRPr lang="en-US">
              <a:sym typeface="Calibri Bold" charset="0"/>
            </a:endParaRPr>
          </a:p>
        </p:txBody>
      </p:sp>
      <p:sp>
        <p:nvSpPr>
          <p:cNvPr id="5" name="TextBox 4"/>
          <p:cNvSpPr txBox="1"/>
          <p:nvPr userDrawn="1"/>
        </p:nvSpPr>
        <p:spPr>
          <a:xfrm>
            <a:off x="0" y="6611779"/>
            <a:ext cx="2959464" cy="246221"/>
          </a:xfrm>
          <a:prstGeom prst="rect">
            <a:avLst/>
          </a:prstGeom>
          <a:noFill/>
        </p:spPr>
        <p:txBody>
          <a:bodyPr wrap="none" rtlCol="0">
            <a:spAutoFit/>
          </a:bodyPr>
          <a:lstStyle/>
          <a:p>
            <a:r>
              <a:rPr lang="en-US" sz="1000" b="0" i="0" dirty="0">
                <a:latin typeface="Calibri" panose="020F0502020204030204" charset="0"/>
              </a:rPr>
              <a:t>Principles and Interface Technique of Microcomputer</a:t>
            </a:r>
            <a:endParaRPr lang="en-US" sz="1000" b="0" i="0" dirty="0">
              <a:latin typeface="Calibri" panose="020F0502020204030204" charset="0"/>
            </a:endParaRPr>
          </a:p>
        </p:txBody>
      </p:sp>
      <p:sp>
        <p:nvSpPr>
          <p:cNvPr id="6" name="Rectangle 1"/>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lstStyle/>
          <a:p>
            <a:endParaRPr lang="en-US"/>
          </a:p>
        </p:txBody>
      </p:sp>
      <p:sp>
        <p:nvSpPr>
          <p:cNvPr id="7" name="Text Box 32"/>
          <p:cNvSpPr txBox="1">
            <a:spLocks noChangeArrowheads="1"/>
          </p:cNvSpPr>
          <p:nvPr userDrawn="1"/>
        </p:nvSpPr>
        <p:spPr bwMode="auto">
          <a:xfrm>
            <a:off x="7163575" y="-39607"/>
            <a:ext cx="2025363" cy="276999"/>
          </a:xfrm>
          <a:prstGeom prst="rect">
            <a:avLst/>
          </a:prstGeom>
          <a:noFill/>
          <a:ln>
            <a:noFill/>
          </a:ln>
          <a:effectLst/>
        </p:spPr>
        <p:txBody>
          <a:bodyPr wrap="none">
            <a:spAutoFit/>
          </a:bodyPr>
          <a:lstStyle/>
          <a:p>
            <a:pPr algn="l" eaLnBrk="0" hangingPunct="0"/>
            <a:r>
              <a:rPr lang="en-US" altLang="zh-CN" sz="1200" b="1" dirty="0">
                <a:solidFill>
                  <a:srgbClr val="FFFFFF"/>
                </a:solidFill>
                <a:latin typeface="Times New Roman" panose="02020603050405020304" pitchFamily="18" charset="0"/>
                <a:ea typeface="+mn-ea"/>
                <a:cs typeface="+mn-cs"/>
              </a:rPr>
              <a:t>School of Computer Science</a:t>
            </a:r>
            <a:endParaRPr lang="en-US" altLang="en-US" sz="1200" b="1" dirty="0">
              <a:solidFill>
                <a:srgbClr val="FFFFFF"/>
              </a:solidFill>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Lst>
  <p:transition/>
  <p:txStyles>
    <p:titleStyle>
      <a:lvl1pPr algn="l" rtl="0" fontAlgn="base">
        <a:spcBef>
          <a:spcPct val="0"/>
        </a:spcBef>
        <a:spcAft>
          <a:spcPct val="0"/>
        </a:spcAft>
        <a:defRPr sz="3600">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342900" indent="-342900" algn="l" rtl="0" fontAlgn="base">
        <a:spcBef>
          <a:spcPts val="600"/>
        </a:spcBef>
        <a:spcAft>
          <a:spcPct val="0"/>
        </a:spcAft>
        <a:buClr>
          <a:srgbClr val="990000"/>
        </a:buClr>
        <a:buSzPct val="60000"/>
        <a:buFont typeface="Wingdings 2" charset="2"/>
        <a:buChar char="¢"/>
        <a:defRPr sz="2400">
          <a:solidFill>
            <a:schemeClr val="tx1"/>
          </a:solidFill>
          <a:latin typeface="+mn-lt"/>
          <a:ea typeface="+mn-ea"/>
          <a:cs typeface="+mn-cs"/>
          <a:sym typeface="Calibri Bold" charset="0"/>
        </a:defRPr>
      </a:lvl1pPr>
      <a:lvl2pPr marL="742950" indent="-2857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1143000" indent="-2286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600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20574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25146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9718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3429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886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ln>
          <a:effectLst/>
        </p:spPr>
        <p:txBody>
          <a:bodyPr vert="horz" wrap="square" lIns="38100" tIns="38100" rIns="38100" bIns="38100" numCol="1" anchor="ctr" anchorCtr="0" compatLnSpc="1"/>
          <a:lstStyle/>
          <a:p>
            <a:pPr lvl="0"/>
            <a:r>
              <a:rPr lang="en-US" dirty="0">
                <a:sym typeface="Calibri Bold" charset="0"/>
              </a:rPr>
              <a:t>Click to edit title style</a:t>
            </a:r>
            <a:endParaRPr lang="en-US" dirty="0">
              <a:sym typeface="Calibri Bold" charset="0"/>
            </a:endParaRP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ln>
          <a:effectLst/>
        </p:spPr>
        <p:txBody>
          <a:bodyPr vert="horz" wrap="square" lIns="38100" tIns="38100" rIns="38100" bIns="38100" numCol="1" anchor="t" anchorCtr="0" compatLnSpc="1"/>
          <a:lstStyle/>
          <a:p>
            <a:pPr lvl="0"/>
            <a:r>
              <a:rPr lang="en-US" dirty="0">
                <a:sym typeface="Calibri Bold" charset="0"/>
              </a:rPr>
              <a:t>Click to edit Master text styles</a:t>
            </a:r>
            <a:endParaRPr lang="en-US" dirty="0">
              <a:sym typeface="Calibri Bold" charset="0"/>
            </a:endParaRPr>
          </a:p>
          <a:p>
            <a:pPr lvl="1"/>
            <a:r>
              <a:rPr lang="en-US" dirty="0">
                <a:sym typeface="Calibri" panose="020F0502020204030204" charset="0"/>
              </a:rPr>
              <a:t>Second level</a:t>
            </a:r>
            <a:endParaRPr lang="en-US" dirty="0">
              <a:sym typeface="Calibri" panose="020F0502020204030204" charset="0"/>
            </a:endParaRPr>
          </a:p>
          <a:p>
            <a:pPr lvl="2"/>
            <a:r>
              <a:rPr lang="en-US" dirty="0">
                <a:sym typeface="Calibri" panose="020F0502020204030204" charset="0"/>
              </a:rPr>
              <a:t>Third level</a:t>
            </a:r>
            <a:endParaRPr lang="en-US" dirty="0">
              <a:sym typeface="Calibri" panose="020F0502020204030204" charset="0"/>
            </a:endParaRPr>
          </a:p>
          <a:p>
            <a:pPr lvl="3"/>
            <a:r>
              <a:rPr lang="en-US" dirty="0">
                <a:sym typeface="Calibri" panose="020F0502020204030204" charset="0"/>
              </a:rPr>
              <a:t>Fourth level</a:t>
            </a:r>
            <a:endParaRPr lang="en-US" dirty="0">
              <a:sym typeface="Calibri" panose="020F0502020204030204" charset="0"/>
            </a:endParaRPr>
          </a:p>
        </p:txBody>
      </p:sp>
      <p:sp>
        <p:nvSpPr>
          <p:cNvPr id="4" name="Rectangle 3"/>
          <p:cNvSpPr/>
          <p:nvPr userDrawn="1"/>
        </p:nvSpPr>
        <p:spPr>
          <a:xfrm>
            <a:off x="8818144" y="6611779"/>
            <a:ext cx="338555" cy="246221"/>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F5551B27-49BC-4291-80C6-707CDCF1D651}" type="slidenum">
              <a:rPr kumimoji="0" lang="en-US" sz="1000" b="1" i="0" u="none" strike="noStrike" kern="1200" cap="none" spc="0" normalizeH="0" baseline="0" noProof="0" smtClean="0">
                <a:ln>
                  <a:noFill/>
                </a:ln>
                <a:solidFill>
                  <a:srgbClr val="000000"/>
                </a:solidFill>
                <a:effectLst/>
                <a:uLnTx/>
                <a:uFillTx/>
                <a:latin typeface="Calibri Bold"/>
                <a:ea typeface="MS PGothic" panose="020B0600070205080204" pitchFamily="-96" charset="-128"/>
                <a:cs typeface="MS PGothic" panose="020B0600070205080204" pitchFamily="-96" charset="-128"/>
                <a:sym typeface="Gill Sans" charset="0"/>
              </a:rPr>
            </a:fld>
            <a:endParaRPr kumimoji="0" lang="en-US" sz="1000" b="0" i="0" u="none" strike="noStrike" kern="1200" cap="none" spc="0" normalizeH="0" baseline="0" noProof="0" dirty="0">
              <a:ln>
                <a:noFill/>
              </a:ln>
              <a:solidFill>
                <a:srgbClr val="000000"/>
              </a:solidFill>
              <a:effectLst/>
              <a:uLnTx/>
              <a:uFillTx/>
              <a:latin typeface="Calibri Bold"/>
              <a:sym typeface="Gill Sans" charset="0"/>
            </a:endParaRPr>
          </a:p>
        </p:txBody>
      </p:sp>
      <p:sp>
        <p:nvSpPr>
          <p:cNvPr id="5" name="TextBox 4"/>
          <p:cNvSpPr txBox="1"/>
          <p:nvPr userDrawn="1"/>
        </p:nvSpPr>
        <p:spPr>
          <a:xfrm>
            <a:off x="0" y="6604000"/>
            <a:ext cx="2959464" cy="24622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dirty="0">
                <a:ln>
                  <a:noFill/>
                </a:ln>
                <a:solidFill>
                  <a:srgbClr val="000000"/>
                </a:solidFill>
                <a:effectLst/>
                <a:uLnTx/>
                <a:uFillTx/>
                <a:latin typeface="Calibri" panose="020F0502020204030204" charset="0"/>
                <a:sym typeface="Gill Sans" charset="0"/>
              </a:rPr>
              <a:t>Principles and Interface Technique of Microcomputer</a:t>
            </a:r>
            <a:endParaRPr kumimoji="0" lang="en-US" sz="1000" b="0" i="0" u="none" strike="noStrike" kern="1200" cap="none" spc="0" normalizeH="0" baseline="0" noProof="0" dirty="0">
              <a:ln>
                <a:noFill/>
              </a:ln>
              <a:solidFill>
                <a:srgbClr val="000000"/>
              </a:solidFill>
              <a:effectLst/>
              <a:uLnTx/>
              <a:uFillTx/>
              <a:latin typeface="Calibri" panose="020F0502020204030204" charset="0"/>
              <a:sym typeface="Gill Sans" charset="0"/>
            </a:endParaRPr>
          </a:p>
        </p:txBody>
      </p:sp>
      <p:sp>
        <p:nvSpPr>
          <p:cNvPr id="6" name="Rectangle 1"/>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7" name="Text Box 32"/>
          <p:cNvSpPr txBox="1">
            <a:spLocks noChangeArrowheads="1"/>
          </p:cNvSpPr>
          <p:nvPr userDrawn="1"/>
        </p:nvSpPr>
        <p:spPr bwMode="auto">
          <a:xfrm>
            <a:off x="7111399" y="-22999"/>
            <a:ext cx="2025363" cy="276999"/>
          </a:xfrm>
          <a:prstGeom prst="rect">
            <a:avLst/>
          </a:prstGeom>
          <a:noFill/>
          <a:ln>
            <a:noFill/>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mn-cs"/>
                <a:sym typeface="Gill Sans" charset="0"/>
              </a:rPr>
              <a:t>School of Computer Science</a:t>
            </a:r>
            <a:endParaRPr kumimoji="0" lang="en-US" altLang="en-US" sz="1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mn-cs"/>
              <a:sym typeface="Gill Sans" charset="0"/>
            </a:endParaRPr>
          </a:p>
        </p:txBody>
      </p:sp>
      <p:pic>
        <p:nvPicPr>
          <p:cNvPr id="3" name="图片 2"/>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003399"/>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500"/>
        </a:spcBef>
        <a:spcAft>
          <a:spcPct val="0"/>
        </a:spcAft>
        <a:buClr>
          <a:srgbClr val="003399"/>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2pPr>
      <a:lvl3pPr marL="800100" indent="-203200" algn="l" rtl="0" fontAlgn="base">
        <a:spcBef>
          <a:spcPts val="500"/>
        </a:spcBef>
        <a:spcAft>
          <a:spcPct val="0"/>
        </a:spcAft>
        <a:buClr>
          <a:srgbClr val="003399"/>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231900" indent="0" algn="l" rtl="0" fontAlgn="base">
        <a:spcBef>
          <a:spcPts val="500"/>
        </a:spcBef>
        <a:spcAft>
          <a:spcPct val="0"/>
        </a:spcAft>
        <a:buClr>
          <a:srgbClr val="000000"/>
        </a:buClr>
        <a:buSzPct val="100000"/>
        <a:buFont typeface="Calibri" panose="020F0502020204030204" charset="0"/>
        <a:buNone/>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vmlDrawing" Target="../drawings/vmlDrawing1.vml"/><Relationship Id="rId3" Type="http://schemas.openxmlformats.org/officeDocument/2006/relationships/slideLayout" Target="../slideLayouts/slideLayout11.xml"/><Relationship Id="rId2" Type="http://schemas.openxmlformats.org/officeDocument/2006/relationships/image" Target="../media/image3.e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7.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0.jpeg"/><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0.xml"/><Relationship Id="rId2" Type="http://schemas.openxmlformats.org/officeDocument/2006/relationships/image" Target="../media/image11.emf"/><Relationship Id="rId1"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12.xml"/><Relationship Id="rId6" Type="http://schemas.openxmlformats.org/officeDocument/2006/relationships/oleObject" Target="../embeddings/oleObject6.bin"/><Relationship Id="rId5" Type="http://schemas.openxmlformats.org/officeDocument/2006/relationships/oleObject" Target="../embeddings/oleObject5.bin"/><Relationship Id="rId4" Type="http://schemas.openxmlformats.org/officeDocument/2006/relationships/image" Target="../media/image14.emf"/><Relationship Id="rId3" Type="http://schemas.openxmlformats.org/officeDocument/2006/relationships/oleObject" Target="../embeddings/oleObject4.bin"/><Relationship Id="rId2" Type="http://schemas.openxmlformats.org/officeDocument/2006/relationships/image" Target="../media/image13.emf"/><Relationship Id="rId1" Type="http://schemas.openxmlformats.org/officeDocument/2006/relationships/oleObject" Target="../embeddings/oleObject3.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jpe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0.xml"/><Relationship Id="rId2" Type="http://schemas.openxmlformats.org/officeDocument/2006/relationships/image" Target="../media/image16.png"/><Relationship Id="rId1" Type="http://schemas.openxmlformats.org/officeDocument/2006/relationships/hyperlink" Target="6.11.swf"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0.xml"/><Relationship Id="rId2" Type="http://schemas.openxmlformats.org/officeDocument/2006/relationships/image" Target="../media/image17.png"/><Relationship Id="rId1" Type="http://schemas.openxmlformats.org/officeDocument/2006/relationships/hyperlink" Target="6.12.swf" TargetMode="Externa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0.xml"/><Relationship Id="rId2" Type="http://schemas.openxmlformats.org/officeDocument/2006/relationships/image" Target="../media/image18.png"/><Relationship Id="rId1" Type="http://schemas.openxmlformats.org/officeDocument/2006/relationships/hyperlink" Target="6.13.swf" TargetMode="Externa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image" Target="../media/image20.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1.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23.png"/><Relationship Id="rId1" Type="http://schemas.openxmlformats.org/officeDocument/2006/relationships/image" Target="../media/image2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0.xml"/><Relationship Id="rId2" Type="http://schemas.openxmlformats.org/officeDocument/2006/relationships/image" Target="../media/image25.png"/><Relationship Id="rId1" Type="http://schemas.openxmlformats.org/officeDocument/2006/relationships/image" Target="../media/image2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7.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8.jpeg"/></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0.xml"/><Relationship Id="rId2" Type="http://schemas.openxmlformats.org/officeDocument/2006/relationships/image" Target="../media/image30.png"/><Relationship Id="rId1" Type="http://schemas.openxmlformats.org/officeDocument/2006/relationships/image" Target="../media/image29.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1.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2.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第</a:t>
            </a:r>
            <a:r>
              <a:rPr lang="en-US" altLang="zh-CN" dirty="0"/>
              <a:t>6</a:t>
            </a:r>
            <a:r>
              <a:rPr lang="zh-CN" altLang="en-US" dirty="0"/>
              <a:t>章 总线系统</a:t>
            </a:r>
            <a:endParaRPr lang="zh-CN" alt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en-US" altLang="zh-CN" sz="4800" dirty="0"/>
              <a:t>6.1 </a:t>
            </a:r>
            <a:r>
              <a:rPr lang="zh-CN" altLang="en-US" dirty="0"/>
              <a:t>总线概念和总线结构</a:t>
            </a:r>
            <a:endParaRPr lang="zh-CN" alt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50825" y="228600"/>
            <a:ext cx="8893175" cy="760413"/>
          </a:xfrm>
        </p:spPr>
        <p:txBody>
          <a:bodyPr/>
          <a:lstStyle/>
          <a:p>
            <a:pPr eaLnBrk="1" hangingPunct="1">
              <a:defRPr/>
            </a:pPr>
            <a:r>
              <a:rPr lang="zh-CN" altLang="en-US" dirty="0">
                <a:latin typeface="宋体" panose="02010600030101010101" pitchFamily="2" charset="-122"/>
              </a:rPr>
              <a:t>什么是总线？</a:t>
            </a:r>
            <a:endParaRPr lang="zh-CN" altLang="en-US" dirty="0">
              <a:latin typeface="宋体" panose="02010600030101010101" pitchFamily="2" charset="-122"/>
            </a:endParaRPr>
          </a:p>
        </p:txBody>
      </p:sp>
      <p:sp>
        <p:nvSpPr>
          <p:cNvPr id="6147" name="Rectangle 3"/>
          <p:cNvSpPr>
            <a:spLocks noGrp="1" noChangeArrowheads="1"/>
          </p:cNvSpPr>
          <p:nvPr>
            <p:ph idx="1"/>
          </p:nvPr>
        </p:nvSpPr>
        <p:spPr>
          <a:xfrm>
            <a:off x="202172" y="1145054"/>
            <a:ext cx="8713787" cy="5257800"/>
          </a:xfrm>
        </p:spPr>
        <p:txBody>
          <a:bodyPr/>
          <a:lstStyle/>
          <a:p>
            <a:pPr eaLnBrk="1" hangingPunct="1"/>
            <a:r>
              <a:rPr lang="zh-CN" altLang="en-US" dirty="0">
                <a:latin typeface="宋体" panose="02010600030101010101" pitchFamily="2" charset="-122"/>
              </a:rPr>
              <a:t>总线（</a:t>
            </a:r>
            <a:r>
              <a:rPr lang="en-US" altLang="zh-CN" dirty="0">
                <a:latin typeface="宋体" panose="02010600030101010101" pitchFamily="2" charset="-122"/>
              </a:rPr>
              <a:t>Bus</a:t>
            </a:r>
            <a:r>
              <a:rPr lang="zh-CN" altLang="en-US" dirty="0">
                <a:latin typeface="宋体" panose="02010600030101010101" pitchFamily="2" charset="-122"/>
              </a:rPr>
              <a:t>）定义：</a:t>
            </a:r>
            <a:r>
              <a:rPr lang="zh-CN" altLang="en-US" dirty="0"/>
              <a:t>是指在功能部件和功能部件之间或设备与设备之间的一组进行互连和传输信息的信号线，这里信息可以是指令、数据或地址</a:t>
            </a:r>
            <a:r>
              <a:rPr lang="zh-CN" altLang="en-US" dirty="0">
                <a:latin typeface="宋体" panose="02010600030101010101" pitchFamily="2" charset="-122"/>
              </a:rPr>
              <a:t> </a:t>
            </a:r>
            <a:endParaRPr lang="zh-CN" altLang="en-US" dirty="0">
              <a:latin typeface="宋体" panose="02010600030101010101" pitchFamily="2" charset="-122"/>
            </a:endParaRPr>
          </a:p>
          <a:p>
            <a:pPr eaLnBrk="1" hangingPunct="1"/>
            <a:r>
              <a:rPr lang="en-US" altLang="zh-CN" dirty="0">
                <a:latin typeface="宋体" panose="02010600030101010101" pitchFamily="2" charset="-122"/>
              </a:rPr>
              <a:t>Bus</a:t>
            </a:r>
            <a:endParaRPr lang="en-US" altLang="zh-CN" dirty="0">
              <a:latin typeface="宋体" panose="02010600030101010101" pitchFamily="2" charset="-122"/>
            </a:endParaRPr>
          </a:p>
          <a:p>
            <a:pPr lvl="1" eaLnBrk="1" hangingPunct="1"/>
            <a:r>
              <a:rPr lang="zh-CN" altLang="en-US" sz="3200" dirty="0">
                <a:latin typeface="宋体" panose="02010600030101010101" pitchFamily="2" charset="-122"/>
              </a:rPr>
              <a:t>公共汽车</a:t>
            </a:r>
            <a:endParaRPr lang="zh-CN" altLang="en-US" sz="3200" dirty="0">
              <a:latin typeface="宋体" panose="02010600030101010101" pitchFamily="2" charset="-122"/>
            </a:endParaRPr>
          </a:p>
          <a:p>
            <a:pPr lvl="1" eaLnBrk="1" hangingPunct="1"/>
            <a:r>
              <a:rPr lang="zh-CN" altLang="en-US" sz="3200" dirty="0">
                <a:latin typeface="宋体" panose="02010600030101010101" pitchFamily="2" charset="-122"/>
              </a:rPr>
              <a:t>一组信号线</a:t>
            </a:r>
            <a:endParaRPr lang="zh-CN" altLang="en-US" sz="3200" dirty="0">
              <a:latin typeface="宋体" panose="02010600030101010101" pitchFamily="2" charset="-122"/>
            </a:endParaRPr>
          </a:p>
          <a:p>
            <a:pPr eaLnBrk="1" hangingPunct="1"/>
            <a:r>
              <a:rPr lang="zh-CN" altLang="en-US" dirty="0">
                <a:latin typeface="宋体" panose="02010600030101010101" pitchFamily="2" charset="-122"/>
              </a:rPr>
              <a:t>共同之处？</a:t>
            </a:r>
            <a:endParaRPr lang="zh-CN" altLang="en-US" dirty="0">
              <a:latin typeface="宋体" panose="02010600030101010101" pitchFamily="2" charset="-122"/>
            </a:endParaRPr>
          </a:p>
          <a:p>
            <a:pPr eaLnBrk="1" hangingPunct="1">
              <a:buFont typeface="Wingdings 2" charset="2"/>
              <a:buNone/>
            </a:pPr>
            <a:r>
              <a:rPr lang="zh-CN" altLang="en-US" dirty="0"/>
              <a:t>   多个使用者共享通道</a:t>
            </a:r>
            <a:endParaRPr lang="zh-CN" altLang="en-US" dirty="0"/>
          </a:p>
        </p:txBody>
      </p:sp>
      <p:grpSp>
        <p:nvGrpSpPr>
          <p:cNvPr id="19461" name="组合 4"/>
          <p:cNvGrpSpPr/>
          <p:nvPr/>
        </p:nvGrpSpPr>
        <p:grpSpPr bwMode="auto">
          <a:xfrm>
            <a:off x="3657600" y="2360612"/>
            <a:ext cx="5111750" cy="2136775"/>
            <a:chOff x="1619670" y="2032510"/>
            <a:chExt cx="5359703" cy="2280678"/>
          </a:xfrm>
        </p:grpSpPr>
        <p:sp>
          <p:nvSpPr>
            <p:cNvPr id="19462" name="Line 4"/>
            <p:cNvSpPr>
              <a:spLocks noChangeShapeType="1"/>
            </p:cNvSpPr>
            <p:nvPr/>
          </p:nvSpPr>
          <p:spPr bwMode="auto">
            <a:xfrm>
              <a:off x="1619670" y="2420888"/>
              <a:ext cx="5359703" cy="1270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9463" name="Group 5"/>
            <p:cNvGrpSpPr/>
            <p:nvPr/>
          </p:nvGrpSpPr>
          <p:grpSpPr bwMode="auto">
            <a:xfrm>
              <a:off x="3139255" y="3500388"/>
              <a:ext cx="1094607" cy="812800"/>
              <a:chOff x="4472" y="1448"/>
              <a:chExt cx="656" cy="512"/>
            </a:xfrm>
          </p:grpSpPr>
          <p:sp>
            <p:nvSpPr>
              <p:cNvPr id="19476" name="Rectangle 6"/>
              <p:cNvSpPr>
                <a:spLocks noChangeArrowheads="1"/>
              </p:cNvSpPr>
              <p:nvPr/>
            </p:nvSpPr>
            <p:spPr bwMode="auto">
              <a:xfrm>
                <a:off x="4472" y="1448"/>
                <a:ext cx="656" cy="51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477" name="Rectangle 7"/>
              <p:cNvSpPr>
                <a:spLocks noChangeArrowheads="1"/>
              </p:cNvSpPr>
              <p:nvPr/>
            </p:nvSpPr>
            <p:spPr bwMode="auto">
              <a:xfrm>
                <a:off x="4513" y="1597"/>
                <a:ext cx="59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600">
                    <a:ea typeface="宋体" panose="02010600030101010101" pitchFamily="2" charset="-122"/>
                  </a:rPr>
                  <a:t>储存器</a:t>
                </a:r>
                <a:endParaRPr kumimoji="0" lang="en-US" altLang="zh-CN" sz="1600">
                  <a:ea typeface="宋体" panose="02010600030101010101" pitchFamily="2" charset="-122"/>
                </a:endParaRPr>
              </a:p>
            </p:txBody>
          </p:sp>
        </p:grpSp>
        <p:grpSp>
          <p:nvGrpSpPr>
            <p:cNvPr id="19464" name="Group 8"/>
            <p:cNvGrpSpPr/>
            <p:nvPr/>
          </p:nvGrpSpPr>
          <p:grpSpPr bwMode="auto">
            <a:xfrm>
              <a:off x="1619671" y="3500388"/>
              <a:ext cx="1166341" cy="812800"/>
              <a:chOff x="920" y="1448"/>
              <a:chExt cx="992" cy="560"/>
            </a:xfrm>
          </p:grpSpPr>
          <p:sp>
            <p:nvSpPr>
              <p:cNvPr id="19474" name="Rectangle 9"/>
              <p:cNvSpPr>
                <a:spLocks noChangeArrowheads="1"/>
              </p:cNvSpPr>
              <p:nvPr/>
            </p:nvSpPr>
            <p:spPr bwMode="auto">
              <a:xfrm>
                <a:off x="920" y="1448"/>
                <a:ext cx="992" cy="56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475" name="Rectangle 10"/>
              <p:cNvSpPr>
                <a:spLocks noChangeArrowheads="1"/>
              </p:cNvSpPr>
              <p:nvPr/>
            </p:nvSpPr>
            <p:spPr bwMode="auto">
              <a:xfrm>
                <a:off x="1056" y="1629"/>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600">
                    <a:ea typeface="宋体" panose="02010600030101010101" pitchFamily="2" charset="-122"/>
                  </a:rPr>
                  <a:t>处理器</a:t>
                </a:r>
                <a:endParaRPr kumimoji="0" lang="en-US" altLang="zh-CN" sz="1600">
                  <a:ea typeface="宋体" panose="02010600030101010101" pitchFamily="2" charset="-122"/>
                </a:endParaRPr>
              </a:p>
            </p:txBody>
          </p:sp>
        </p:grpSp>
        <p:sp>
          <p:nvSpPr>
            <p:cNvPr id="19465" name="Line 13"/>
            <p:cNvSpPr>
              <a:spLocks noChangeShapeType="1"/>
            </p:cNvSpPr>
            <p:nvPr/>
          </p:nvSpPr>
          <p:spPr bwMode="auto">
            <a:xfrm>
              <a:off x="2202841" y="2420888"/>
              <a:ext cx="0" cy="106680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6" name="Line 15"/>
            <p:cNvSpPr>
              <a:spLocks noChangeShapeType="1"/>
            </p:cNvSpPr>
            <p:nvPr/>
          </p:nvSpPr>
          <p:spPr bwMode="auto">
            <a:xfrm>
              <a:off x="3673450" y="2420888"/>
              <a:ext cx="0" cy="106680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7" name="Line 16"/>
            <p:cNvSpPr>
              <a:spLocks noChangeShapeType="1"/>
            </p:cNvSpPr>
            <p:nvPr/>
          </p:nvSpPr>
          <p:spPr bwMode="auto">
            <a:xfrm>
              <a:off x="5092453" y="2433588"/>
              <a:ext cx="0" cy="106680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8" name="Rectangle 17"/>
            <p:cNvSpPr>
              <a:spLocks noChangeArrowheads="1"/>
            </p:cNvSpPr>
            <p:nvPr/>
          </p:nvSpPr>
          <p:spPr bwMode="auto">
            <a:xfrm>
              <a:off x="4546651" y="3500388"/>
              <a:ext cx="1047700" cy="8128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469" name="Rectangle 18"/>
            <p:cNvSpPr>
              <a:spLocks noChangeArrowheads="1"/>
            </p:cNvSpPr>
            <p:nvPr/>
          </p:nvSpPr>
          <p:spPr bwMode="auto">
            <a:xfrm>
              <a:off x="4531137" y="3722124"/>
              <a:ext cx="1063214" cy="35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600">
                  <a:ea typeface="宋体" panose="02010600030101010101" pitchFamily="2" charset="-122"/>
                </a:rPr>
                <a:t>输入设备</a:t>
              </a:r>
              <a:endParaRPr kumimoji="0" lang="en-US" altLang="zh-CN" sz="1600">
                <a:ea typeface="宋体" panose="02010600030101010101" pitchFamily="2" charset="-122"/>
              </a:endParaRPr>
            </a:p>
          </p:txBody>
        </p:sp>
        <p:sp>
          <p:nvSpPr>
            <p:cNvPr id="19470" name="Line 19"/>
            <p:cNvSpPr>
              <a:spLocks noChangeShapeType="1"/>
            </p:cNvSpPr>
            <p:nvPr/>
          </p:nvSpPr>
          <p:spPr bwMode="auto">
            <a:xfrm>
              <a:off x="6455522" y="2433587"/>
              <a:ext cx="0" cy="106680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1" name="Rectangle 17"/>
            <p:cNvSpPr>
              <a:spLocks noChangeArrowheads="1"/>
            </p:cNvSpPr>
            <p:nvPr/>
          </p:nvSpPr>
          <p:spPr bwMode="auto">
            <a:xfrm>
              <a:off x="5931673" y="3500388"/>
              <a:ext cx="1047700" cy="8128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472" name="Rectangle 18"/>
            <p:cNvSpPr>
              <a:spLocks noChangeArrowheads="1"/>
            </p:cNvSpPr>
            <p:nvPr/>
          </p:nvSpPr>
          <p:spPr bwMode="auto">
            <a:xfrm>
              <a:off x="5907139" y="3727469"/>
              <a:ext cx="1065796" cy="35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600">
                  <a:ea typeface="宋体" panose="02010600030101010101" pitchFamily="2" charset="-122"/>
                </a:rPr>
                <a:t>输出设备</a:t>
              </a:r>
              <a:endParaRPr kumimoji="0" lang="en-US" altLang="zh-CN" sz="1600">
                <a:ea typeface="宋体" panose="02010600030101010101" pitchFamily="2" charset="-122"/>
              </a:endParaRPr>
            </a:p>
          </p:txBody>
        </p:sp>
        <p:sp>
          <p:nvSpPr>
            <p:cNvPr id="19473" name="Rectangle 18"/>
            <p:cNvSpPr>
              <a:spLocks noChangeArrowheads="1"/>
            </p:cNvSpPr>
            <p:nvPr/>
          </p:nvSpPr>
          <p:spPr bwMode="auto">
            <a:xfrm>
              <a:off x="3923928" y="2032510"/>
              <a:ext cx="1003796"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ea typeface="宋体" panose="02010600030101010101" pitchFamily="2" charset="-122"/>
                </a:rPr>
                <a:t>BUS</a:t>
              </a:r>
              <a:endParaRPr kumimoji="0" lang="en-US" altLang="zh-CN" sz="1600">
                <a:ea typeface="宋体" panose="02010600030101010101" pitchFamily="2" charset="-122"/>
              </a:endParaRPr>
            </a:p>
          </p:txBody>
        </p:sp>
      </p:gr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defRPr/>
            </a:pPr>
            <a:r>
              <a:rPr lang="zh-CN" altLang="en-US"/>
              <a:t>总线的优点</a:t>
            </a:r>
            <a:endParaRPr lang="zh-CN" altLang="en-US"/>
          </a:p>
        </p:txBody>
      </p:sp>
      <p:sp>
        <p:nvSpPr>
          <p:cNvPr id="20483" name="Rectangle 3"/>
          <p:cNvSpPr>
            <a:spLocks noGrp="1" noChangeArrowheads="1"/>
          </p:cNvSpPr>
          <p:nvPr>
            <p:ph idx="1"/>
          </p:nvPr>
        </p:nvSpPr>
        <p:spPr/>
        <p:txBody>
          <a:bodyPr/>
          <a:lstStyle/>
          <a:p>
            <a:pPr eaLnBrk="1" hangingPunct="1"/>
            <a:r>
              <a:rPr lang="zh-CN" altLang="en-US" dirty="0"/>
              <a:t>解决外部设备</a:t>
            </a:r>
            <a:r>
              <a:rPr lang="zh-CN" altLang="en-US" dirty="0">
                <a:latin typeface="Tahoma" panose="020B0604030504040204" pitchFamily="34" charset="0"/>
              </a:rPr>
              <a:t>“</a:t>
            </a:r>
            <a:r>
              <a:rPr lang="zh-CN" altLang="en-US" dirty="0"/>
              <a:t>杂</a:t>
            </a:r>
            <a:r>
              <a:rPr lang="zh-CN" altLang="en-US" dirty="0">
                <a:latin typeface="Tahoma" panose="020B0604030504040204" pitchFamily="34" charset="0"/>
              </a:rPr>
              <a:t>”</a:t>
            </a:r>
            <a:r>
              <a:rPr lang="zh-CN" altLang="en-US" dirty="0"/>
              <a:t>的问题：</a:t>
            </a:r>
            <a:endParaRPr lang="zh-CN" altLang="en-US" dirty="0"/>
          </a:p>
          <a:p>
            <a:pPr lvl="1" eaLnBrk="1" hangingPunct="1"/>
            <a:r>
              <a:rPr lang="zh-CN" altLang="en-US" dirty="0"/>
              <a:t>容易增添新的设备</a:t>
            </a:r>
            <a:endParaRPr lang="zh-CN" altLang="en-US" dirty="0"/>
          </a:p>
          <a:p>
            <a:pPr lvl="1" eaLnBrk="1" hangingPunct="1"/>
            <a:r>
              <a:rPr lang="zh-CN" altLang="en-US" dirty="0"/>
              <a:t>使用相同总线标准的外设可在不同计算机间兼容</a:t>
            </a:r>
            <a:endParaRPr lang="zh-CN" altLang="en-US" dirty="0"/>
          </a:p>
          <a:p>
            <a:pPr eaLnBrk="1" hangingPunct="1"/>
            <a:r>
              <a:rPr lang="zh-CN" altLang="en-US" dirty="0"/>
              <a:t>降低成本：</a:t>
            </a:r>
            <a:endParaRPr lang="zh-CN" altLang="en-US" dirty="0"/>
          </a:p>
          <a:p>
            <a:pPr lvl="1" eaLnBrk="1" hangingPunct="1"/>
            <a:r>
              <a:rPr lang="zh-CN" altLang="en-US" dirty="0"/>
              <a:t>总线可供多个设备共享</a:t>
            </a:r>
            <a:endParaRPr lang="zh-CN" altLang="en-US" dirty="0"/>
          </a:p>
          <a:p>
            <a:pPr eaLnBrk="1" hangingPunct="1"/>
            <a:r>
              <a:rPr lang="zh-CN" altLang="en-US" dirty="0"/>
              <a:t>简化设计</a:t>
            </a:r>
            <a:endParaRPr lang="zh-CN" altLang="en-US" dirty="0"/>
          </a:p>
        </p:txBody>
      </p:sp>
      <p:sp>
        <p:nvSpPr>
          <p:cNvPr id="20485" name="Line 4"/>
          <p:cNvSpPr>
            <a:spLocks noChangeShapeType="1"/>
          </p:cNvSpPr>
          <p:nvPr/>
        </p:nvSpPr>
        <p:spPr bwMode="auto">
          <a:xfrm>
            <a:off x="1162050" y="4340225"/>
            <a:ext cx="7010400" cy="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0486" name="Group 5"/>
          <p:cNvGrpSpPr/>
          <p:nvPr/>
        </p:nvGrpSpPr>
        <p:grpSpPr bwMode="auto">
          <a:xfrm>
            <a:off x="6927850" y="5419725"/>
            <a:ext cx="1041400" cy="812800"/>
            <a:chOff x="4472" y="1448"/>
            <a:chExt cx="656" cy="512"/>
          </a:xfrm>
        </p:grpSpPr>
        <p:sp>
          <p:nvSpPr>
            <p:cNvPr id="20501" name="Rectangle 6"/>
            <p:cNvSpPr>
              <a:spLocks noChangeArrowheads="1"/>
            </p:cNvSpPr>
            <p:nvPr/>
          </p:nvSpPr>
          <p:spPr bwMode="auto">
            <a:xfrm>
              <a:off x="4472" y="1448"/>
              <a:ext cx="656" cy="51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502" name="Rectangle 7"/>
            <p:cNvSpPr>
              <a:spLocks noChangeArrowheads="1"/>
            </p:cNvSpPr>
            <p:nvPr/>
          </p:nvSpPr>
          <p:spPr bwMode="auto">
            <a:xfrm>
              <a:off x="4513" y="1597"/>
              <a:ext cx="59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600">
                  <a:ea typeface="宋体" panose="02010600030101010101" pitchFamily="2" charset="-122"/>
                </a:rPr>
                <a:t>Memory</a:t>
              </a:r>
              <a:endParaRPr kumimoji="0" lang="en-US" altLang="zh-CN" sz="1600">
                <a:ea typeface="宋体" panose="02010600030101010101" pitchFamily="2" charset="-122"/>
              </a:endParaRPr>
            </a:p>
          </p:txBody>
        </p:sp>
      </p:grpSp>
      <p:grpSp>
        <p:nvGrpSpPr>
          <p:cNvPr id="20487" name="Group 8"/>
          <p:cNvGrpSpPr/>
          <p:nvPr/>
        </p:nvGrpSpPr>
        <p:grpSpPr bwMode="auto">
          <a:xfrm>
            <a:off x="1289050" y="5419725"/>
            <a:ext cx="1574800" cy="889000"/>
            <a:chOff x="920" y="1448"/>
            <a:chExt cx="992" cy="560"/>
          </a:xfrm>
        </p:grpSpPr>
        <p:sp>
          <p:nvSpPr>
            <p:cNvPr id="20499" name="Rectangle 9"/>
            <p:cNvSpPr>
              <a:spLocks noChangeArrowheads="1"/>
            </p:cNvSpPr>
            <p:nvPr/>
          </p:nvSpPr>
          <p:spPr bwMode="auto">
            <a:xfrm>
              <a:off x="920" y="1448"/>
              <a:ext cx="992" cy="56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500" name="Rectangle 10"/>
            <p:cNvSpPr>
              <a:spLocks noChangeArrowheads="1"/>
            </p:cNvSpPr>
            <p:nvPr/>
          </p:nvSpPr>
          <p:spPr bwMode="auto">
            <a:xfrm>
              <a:off x="1091" y="1628"/>
              <a:ext cx="65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600">
                  <a:ea typeface="宋体" panose="02010600030101010101" pitchFamily="2" charset="-122"/>
                </a:rPr>
                <a:t>Processor</a:t>
              </a:r>
              <a:endParaRPr kumimoji="0" lang="en-US" altLang="zh-CN" sz="1600">
                <a:ea typeface="宋体" panose="02010600030101010101" pitchFamily="2" charset="-122"/>
              </a:endParaRPr>
            </a:p>
          </p:txBody>
        </p:sp>
      </p:grpSp>
      <p:sp>
        <p:nvSpPr>
          <p:cNvPr id="20488" name="Rectangle 11"/>
          <p:cNvSpPr>
            <a:spLocks noChangeArrowheads="1"/>
          </p:cNvSpPr>
          <p:nvPr/>
        </p:nvSpPr>
        <p:spPr bwMode="auto">
          <a:xfrm>
            <a:off x="3270250" y="5419725"/>
            <a:ext cx="965200" cy="542925"/>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489" name="Rectangle 12"/>
          <p:cNvSpPr>
            <a:spLocks noChangeArrowheads="1"/>
          </p:cNvSpPr>
          <p:nvPr/>
        </p:nvSpPr>
        <p:spPr bwMode="auto">
          <a:xfrm>
            <a:off x="3289300" y="5400675"/>
            <a:ext cx="9636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ea typeface="宋体" panose="02010600030101010101" pitchFamily="2" charset="-122"/>
              </a:rPr>
              <a:t>I/O Device</a:t>
            </a:r>
            <a:endParaRPr kumimoji="0" lang="en-US" altLang="zh-CN" sz="1600">
              <a:ea typeface="宋体" panose="02010600030101010101" pitchFamily="2" charset="-122"/>
            </a:endParaRPr>
          </a:p>
        </p:txBody>
      </p:sp>
      <p:sp>
        <p:nvSpPr>
          <p:cNvPr id="20490" name="Line 13"/>
          <p:cNvSpPr>
            <a:spLocks noChangeShapeType="1"/>
          </p:cNvSpPr>
          <p:nvPr/>
        </p:nvSpPr>
        <p:spPr bwMode="auto">
          <a:xfrm>
            <a:off x="2152650" y="4340225"/>
            <a:ext cx="0" cy="106680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1" name="Line 14"/>
          <p:cNvSpPr>
            <a:spLocks noChangeShapeType="1"/>
          </p:cNvSpPr>
          <p:nvPr/>
        </p:nvSpPr>
        <p:spPr bwMode="auto">
          <a:xfrm>
            <a:off x="7486650" y="4340225"/>
            <a:ext cx="0" cy="106680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2" name="Line 15"/>
          <p:cNvSpPr>
            <a:spLocks noChangeShapeType="1"/>
          </p:cNvSpPr>
          <p:nvPr/>
        </p:nvSpPr>
        <p:spPr bwMode="auto">
          <a:xfrm>
            <a:off x="3752850" y="4340225"/>
            <a:ext cx="0" cy="106680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3" name="Line 16"/>
          <p:cNvSpPr>
            <a:spLocks noChangeShapeType="1"/>
          </p:cNvSpPr>
          <p:nvPr/>
        </p:nvSpPr>
        <p:spPr bwMode="auto">
          <a:xfrm>
            <a:off x="4895850" y="4340225"/>
            <a:ext cx="0" cy="106680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4" name="Rectangle 17"/>
          <p:cNvSpPr>
            <a:spLocks noChangeArrowheads="1"/>
          </p:cNvSpPr>
          <p:nvPr/>
        </p:nvSpPr>
        <p:spPr bwMode="auto">
          <a:xfrm>
            <a:off x="4413250" y="5419725"/>
            <a:ext cx="965200" cy="542925"/>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495" name="Rectangle 18"/>
          <p:cNvSpPr>
            <a:spLocks noChangeArrowheads="1"/>
          </p:cNvSpPr>
          <p:nvPr/>
        </p:nvSpPr>
        <p:spPr bwMode="auto">
          <a:xfrm>
            <a:off x="4432300" y="5400675"/>
            <a:ext cx="9636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ea typeface="宋体" panose="02010600030101010101" pitchFamily="2" charset="-122"/>
              </a:rPr>
              <a:t>I/O Device</a:t>
            </a:r>
            <a:endParaRPr kumimoji="0" lang="en-US" altLang="zh-CN" sz="1600">
              <a:ea typeface="宋体" panose="02010600030101010101" pitchFamily="2" charset="-122"/>
            </a:endParaRPr>
          </a:p>
        </p:txBody>
      </p:sp>
      <p:sp>
        <p:nvSpPr>
          <p:cNvPr id="20496" name="Line 19"/>
          <p:cNvSpPr>
            <a:spLocks noChangeShapeType="1"/>
          </p:cNvSpPr>
          <p:nvPr/>
        </p:nvSpPr>
        <p:spPr bwMode="auto">
          <a:xfrm>
            <a:off x="6038850" y="4340225"/>
            <a:ext cx="0" cy="106680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7" name="Rectangle 20"/>
          <p:cNvSpPr>
            <a:spLocks noChangeArrowheads="1"/>
          </p:cNvSpPr>
          <p:nvPr/>
        </p:nvSpPr>
        <p:spPr bwMode="auto">
          <a:xfrm>
            <a:off x="5556250" y="5419725"/>
            <a:ext cx="965200" cy="542925"/>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498" name="Rectangle 21"/>
          <p:cNvSpPr>
            <a:spLocks noChangeArrowheads="1"/>
          </p:cNvSpPr>
          <p:nvPr/>
        </p:nvSpPr>
        <p:spPr bwMode="auto">
          <a:xfrm>
            <a:off x="5575300" y="5400675"/>
            <a:ext cx="9636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ea typeface="宋体" panose="02010600030101010101" pitchFamily="2" charset="-122"/>
              </a:rPr>
              <a:t>I/O Device</a:t>
            </a:r>
            <a:endParaRPr kumimoji="0" lang="en-US" altLang="zh-CN" sz="1600">
              <a:ea typeface="宋体" panose="02010600030101010101" pitchFamily="2" charset="-122"/>
            </a:endParaRPr>
          </a:p>
        </p:txBody>
      </p:sp>
    </p:spTree>
  </p:cSld>
  <p:clrMapOvr>
    <a:masterClrMapping/>
  </p:clrMapOvr>
  <p:transition spd="med">
    <p:pull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defRPr/>
            </a:pPr>
            <a:r>
              <a:rPr lang="zh-CN" altLang="en-US"/>
              <a:t>总线的缺点</a:t>
            </a:r>
            <a:endParaRPr lang="zh-CN" altLang="en-US"/>
          </a:p>
        </p:txBody>
      </p:sp>
      <p:sp>
        <p:nvSpPr>
          <p:cNvPr id="21507" name="Rectangle 3"/>
          <p:cNvSpPr>
            <a:spLocks noGrp="1" noChangeArrowheads="1"/>
          </p:cNvSpPr>
          <p:nvPr>
            <p:ph idx="1"/>
          </p:nvPr>
        </p:nvSpPr>
        <p:spPr/>
        <p:txBody>
          <a:bodyPr/>
          <a:lstStyle/>
          <a:p>
            <a:pPr eaLnBrk="1" hangingPunct="1"/>
            <a:r>
              <a:rPr lang="zh-CN" altLang="en-US" dirty="0"/>
              <a:t>容易成为信息通道的瓶颈</a:t>
            </a:r>
            <a:endParaRPr lang="zh-CN" altLang="en-US" dirty="0"/>
          </a:p>
          <a:p>
            <a:pPr lvl="1" eaLnBrk="1" hangingPunct="1"/>
            <a:r>
              <a:rPr lang="zh-CN" altLang="en-US" dirty="0"/>
              <a:t>总线带宽限制了整条总线的吞吐量</a:t>
            </a:r>
            <a:endParaRPr lang="zh-CN" altLang="en-US" dirty="0"/>
          </a:p>
          <a:p>
            <a:pPr eaLnBrk="1" hangingPunct="1"/>
            <a:r>
              <a:rPr lang="zh-CN" altLang="en-US" dirty="0"/>
              <a:t>总线的最高速度主要由下列因素决定：</a:t>
            </a:r>
            <a:endParaRPr lang="zh-CN" altLang="en-US" dirty="0"/>
          </a:p>
          <a:p>
            <a:pPr lvl="1" eaLnBrk="1" hangingPunct="1"/>
            <a:r>
              <a:rPr lang="zh-CN" altLang="en-US" dirty="0"/>
              <a:t>总线长度</a:t>
            </a:r>
            <a:endParaRPr lang="zh-CN" altLang="en-US" dirty="0"/>
          </a:p>
          <a:p>
            <a:pPr lvl="1" eaLnBrk="1" hangingPunct="1"/>
            <a:r>
              <a:rPr lang="zh-CN" altLang="en-US" dirty="0"/>
              <a:t>总线负载的设备数</a:t>
            </a:r>
            <a:endParaRPr lang="zh-CN" altLang="en-US" dirty="0"/>
          </a:p>
          <a:p>
            <a:pPr lvl="1" eaLnBrk="1" hangingPunct="1"/>
            <a:r>
              <a:rPr lang="zh-CN" altLang="en-US" dirty="0"/>
              <a:t>负载设备的特性</a:t>
            </a:r>
            <a:endParaRPr lang="zh-CN" altLang="en-US" dirty="0"/>
          </a:p>
          <a:p>
            <a:pPr lvl="2" eaLnBrk="1" hangingPunct="1"/>
            <a:r>
              <a:rPr lang="zh-CN" altLang="en-US" dirty="0"/>
              <a:t>延迟是否差异较大？ </a:t>
            </a:r>
            <a:endParaRPr lang="zh-CN" altLang="en-US" dirty="0"/>
          </a:p>
          <a:p>
            <a:pPr lvl="2" eaLnBrk="1" hangingPunct="1"/>
            <a:r>
              <a:rPr lang="zh-CN" altLang="en-US" dirty="0"/>
              <a:t>数据传输率差异较大？</a:t>
            </a:r>
            <a:endParaRPr lang="zh-CN" altLang="en-US" dirty="0"/>
          </a:p>
        </p:txBody>
      </p:sp>
    </p:spTree>
  </p:cSld>
  <p:clrMapOvr>
    <a:masterClrMapping/>
  </p:clrMapOvr>
  <p:transition spd="med">
    <p:pull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defRPr/>
            </a:pPr>
            <a:r>
              <a:rPr lang="zh-CN" altLang="en-US" sz="4800">
                <a:latin typeface="宋体" panose="02010600030101010101" pitchFamily="2" charset="-122"/>
              </a:rPr>
              <a:t>总线分类</a:t>
            </a:r>
            <a:endParaRPr lang="zh-CN" altLang="en-US" sz="4800">
              <a:latin typeface="宋体" panose="02010600030101010101" pitchFamily="2" charset="-122"/>
            </a:endParaRPr>
          </a:p>
        </p:txBody>
      </p:sp>
      <p:sp>
        <p:nvSpPr>
          <p:cNvPr id="22531" name="Rectangle 3"/>
          <p:cNvSpPr>
            <a:spLocks noGrp="1" noChangeArrowheads="1"/>
          </p:cNvSpPr>
          <p:nvPr>
            <p:ph idx="1"/>
          </p:nvPr>
        </p:nvSpPr>
        <p:spPr/>
        <p:txBody>
          <a:bodyPr/>
          <a:lstStyle/>
          <a:p>
            <a:pPr eaLnBrk="1" hangingPunct="1"/>
            <a:r>
              <a:rPr lang="zh-CN" altLang="en-US" sz="2800" dirty="0"/>
              <a:t>内部总线（片内总线）：</a:t>
            </a:r>
            <a:r>
              <a:rPr lang="en-US" altLang="zh-CN" sz="2800" dirty="0"/>
              <a:t>CPU</a:t>
            </a:r>
            <a:r>
              <a:rPr lang="zh-CN" altLang="en-US" sz="2800" dirty="0"/>
              <a:t>内部连接各寄存器及运算器部件之间的总线 </a:t>
            </a:r>
            <a:endParaRPr lang="zh-CN" altLang="en-US" sz="2800" dirty="0"/>
          </a:p>
          <a:p>
            <a:pPr eaLnBrk="1" hangingPunct="1"/>
            <a:r>
              <a:rPr lang="zh-CN" altLang="en-US" sz="2800" dirty="0"/>
              <a:t>系统总线：</a:t>
            </a:r>
            <a:r>
              <a:rPr lang="en-US" altLang="zh-CN" sz="2800" dirty="0"/>
              <a:t>CPU</a:t>
            </a:r>
            <a:r>
              <a:rPr lang="zh-CN" altLang="en-US" sz="2800" dirty="0"/>
              <a:t>和计算机系统中其他部件相互连接的总线</a:t>
            </a:r>
            <a:endParaRPr lang="en-US" altLang="zh-CN" sz="2800" dirty="0"/>
          </a:p>
          <a:p>
            <a:pPr lvl="1" eaLnBrk="1" hangingPunct="1"/>
            <a:r>
              <a:rPr lang="zh-CN" altLang="en-US" sz="2400" dirty="0"/>
              <a:t>数据总线：双向、与机器字长、存储字长有关</a:t>
            </a:r>
            <a:endParaRPr lang="en-US" altLang="zh-CN" sz="2400" dirty="0"/>
          </a:p>
          <a:p>
            <a:pPr lvl="1" eaLnBrk="1" hangingPunct="1"/>
            <a:r>
              <a:rPr lang="zh-CN" altLang="en-US" sz="2400" dirty="0"/>
              <a:t>地址总线：单向 、与存储地址、 </a:t>
            </a:r>
            <a:r>
              <a:rPr lang="en-US" altLang="zh-CN" sz="2400" dirty="0"/>
              <a:t>I/O</a:t>
            </a:r>
            <a:r>
              <a:rPr lang="zh-CN" altLang="en-US" sz="2400" dirty="0"/>
              <a:t>地址有关</a:t>
            </a:r>
            <a:endParaRPr lang="en-US" altLang="zh-CN" sz="2400" dirty="0"/>
          </a:p>
          <a:p>
            <a:pPr lvl="1" eaLnBrk="1" hangingPunct="1"/>
            <a:r>
              <a:rPr lang="zh-CN" altLang="en-US" sz="2400" dirty="0"/>
              <a:t>控制总线：一般为单向</a:t>
            </a:r>
            <a:endParaRPr lang="zh-CN" altLang="en-US" sz="2400" dirty="0"/>
          </a:p>
          <a:p>
            <a:pPr eaLnBrk="1" hangingPunct="1"/>
            <a:r>
              <a:rPr lang="zh-CN" altLang="en-US" sz="2800" dirty="0"/>
              <a:t>设备总线：计算机系统之间或计算机与中、低速</a:t>
            </a:r>
            <a:r>
              <a:rPr lang="en-US" altLang="zh-CN" sz="2800" dirty="0"/>
              <a:t>I/O</a:t>
            </a:r>
            <a:r>
              <a:rPr lang="zh-CN" altLang="en-US" sz="2800" dirty="0"/>
              <a:t>设备连接的总线，也称通信总线或外总线 </a:t>
            </a:r>
            <a:endParaRPr lang="zh-CN" altLang="en-US" sz="2800" dirty="0"/>
          </a:p>
        </p:txBody>
      </p:sp>
    </p:spTree>
  </p:cSld>
  <p:clrMapOvr>
    <a:masterClrMapping/>
  </p:clrMapOvr>
  <p:transition spd="med">
    <p:pull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395288" y="215107"/>
            <a:ext cx="8713787" cy="762000"/>
          </a:xfrm>
        </p:spPr>
        <p:txBody>
          <a:bodyPr/>
          <a:lstStyle/>
          <a:p>
            <a:pPr eaLnBrk="1" hangingPunct="1">
              <a:defRPr/>
            </a:pPr>
            <a:r>
              <a:rPr lang="zh-CN" altLang="en-US" dirty="0"/>
              <a:t>总线的层次结构</a:t>
            </a:r>
            <a:endParaRPr lang="zh-CN" altLang="en-US" dirty="0"/>
          </a:p>
        </p:txBody>
      </p:sp>
      <p:graphicFrame>
        <p:nvGraphicFramePr>
          <p:cNvPr id="81923" name="Object 3"/>
          <p:cNvGraphicFramePr>
            <a:graphicFrameLocks noChangeAspect="1"/>
          </p:cNvGraphicFramePr>
          <p:nvPr/>
        </p:nvGraphicFramePr>
        <p:xfrm>
          <a:off x="684213" y="1057275"/>
          <a:ext cx="5256212" cy="1866900"/>
        </p:xfrm>
        <a:graphic>
          <a:graphicData uri="http://schemas.openxmlformats.org/presentationml/2006/ole">
            <mc:AlternateContent xmlns:mc="http://schemas.openxmlformats.org/markup-compatibility/2006">
              <mc:Choice xmlns:v="urn:schemas-microsoft-com:vml" Requires="v">
                <p:oleObj spid="_x0000_s1027" name="Visio" r:id="rId1" imgW="2758440" imgH="1127760" progId="Visio.Drawing.6">
                  <p:embed/>
                </p:oleObj>
              </mc:Choice>
              <mc:Fallback>
                <p:oleObj name="Visio" r:id="rId1" imgW="2758440" imgH="1127760" progId="Visio.Drawing.6">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057275"/>
                        <a:ext cx="5256212" cy="186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3557" name="Group 7"/>
          <p:cNvGrpSpPr>
            <a:grpSpLocks noChangeAspect="1"/>
          </p:cNvGrpSpPr>
          <p:nvPr/>
        </p:nvGrpSpPr>
        <p:grpSpPr bwMode="auto">
          <a:xfrm>
            <a:off x="395288" y="1057275"/>
            <a:ext cx="8280400" cy="3929063"/>
            <a:chOff x="249" y="576"/>
            <a:chExt cx="5216" cy="2475"/>
          </a:xfrm>
        </p:grpSpPr>
        <p:sp>
          <p:nvSpPr>
            <p:cNvPr id="23599" name="AutoShape 6"/>
            <p:cNvSpPr>
              <a:spLocks noChangeAspect="1" noChangeArrowheads="1" noTextEdit="1"/>
            </p:cNvSpPr>
            <p:nvPr/>
          </p:nvSpPr>
          <p:spPr bwMode="auto">
            <a:xfrm>
              <a:off x="249" y="576"/>
              <a:ext cx="5216" cy="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600" name="Rectangle 8"/>
            <p:cNvSpPr>
              <a:spLocks noChangeArrowheads="1"/>
            </p:cNvSpPr>
            <p:nvPr/>
          </p:nvSpPr>
          <p:spPr bwMode="auto">
            <a:xfrm>
              <a:off x="2758" y="1351"/>
              <a:ext cx="498" cy="300"/>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01" name="Rectangle 9"/>
            <p:cNvSpPr>
              <a:spLocks noChangeArrowheads="1"/>
            </p:cNvSpPr>
            <p:nvPr/>
          </p:nvSpPr>
          <p:spPr bwMode="auto">
            <a:xfrm>
              <a:off x="2758" y="1351"/>
              <a:ext cx="498" cy="300"/>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30" name="Rectangle 10"/>
            <p:cNvSpPr>
              <a:spLocks noChangeArrowheads="1"/>
            </p:cNvSpPr>
            <p:nvPr/>
          </p:nvSpPr>
          <p:spPr bwMode="auto">
            <a:xfrm>
              <a:off x="2827" y="1374"/>
              <a:ext cx="166" cy="119"/>
            </a:xfrm>
            <a:prstGeom prst="rect">
              <a:avLst/>
            </a:prstGeom>
            <a:noFill/>
            <a:ln w="9525">
              <a:noFill/>
              <a:miter lim="800000"/>
            </a:ln>
          </p:spPr>
          <p:txBody>
            <a:bodyPr wrap="none" lIns="0" tIns="0" rIns="0" bIns="0">
              <a:spAutoFit/>
            </a:bodyPr>
            <a:lstStyle/>
            <a:p>
              <a:pPr algn="ctr" eaLnBrk="1" hangingPunct="1">
                <a:defRPr/>
              </a:pPr>
              <a:r>
                <a:rPr lang="zh-CN" altLang="en-US" sz="1300">
                  <a:solidFill>
                    <a:srgbClr val="000000"/>
                  </a:solidFill>
                  <a:latin typeface="宋体" panose="02010600030101010101" pitchFamily="2" charset="-122"/>
                  <a:ea typeface="宋体" panose="02010600030101010101" pitchFamily="2" charset="-122"/>
                </a:rPr>
                <a:t>总</a:t>
              </a:r>
              <a:endParaRPr lang="zh-CN" altLang="en-US" sz="1600">
                <a:effectLst>
                  <a:outerShdw blurRad="38100" dist="38100" dir="2700000" algn="tl">
                    <a:srgbClr val="C0C0C0"/>
                  </a:outerShdw>
                </a:effectLst>
                <a:ea typeface="方正准圆简体" pitchFamily="2" charset="-122"/>
              </a:endParaRPr>
            </a:p>
          </p:txBody>
        </p:sp>
        <p:sp>
          <p:nvSpPr>
            <p:cNvPr id="81931" name="Rectangle 11"/>
            <p:cNvSpPr>
              <a:spLocks noChangeArrowheads="1"/>
            </p:cNvSpPr>
            <p:nvPr/>
          </p:nvSpPr>
          <p:spPr bwMode="auto">
            <a:xfrm>
              <a:off x="2941" y="1374"/>
              <a:ext cx="166" cy="119"/>
            </a:xfrm>
            <a:prstGeom prst="rect">
              <a:avLst/>
            </a:prstGeom>
            <a:noFill/>
            <a:ln w="9525">
              <a:noFill/>
              <a:miter lim="800000"/>
            </a:ln>
          </p:spPr>
          <p:txBody>
            <a:bodyPr wrap="none" lIns="0" tIns="0" rIns="0" bIns="0">
              <a:spAutoFit/>
            </a:bodyPr>
            <a:lstStyle/>
            <a:p>
              <a:pPr algn="ctr" eaLnBrk="1" hangingPunct="1">
                <a:defRPr/>
              </a:pPr>
              <a:r>
                <a:rPr lang="zh-CN" altLang="en-US" sz="1300">
                  <a:solidFill>
                    <a:srgbClr val="000000"/>
                  </a:solidFill>
                  <a:latin typeface="宋体" panose="02010600030101010101" pitchFamily="2" charset="-122"/>
                  <a:ea typeface="宋体" panose="02010600030101010101" pitchFamily="2" charset="-122"/>
                </a:rPr>
                <a:t>线</a:t>
              </a:r>
              <a:endParaRPr lang="zh-CN" altLang="en-US" sz="1600">
                <a:effectLst>
                  <a:outerShdw blurRad="38100" dist="38100" dir="2700000" algn="tl">
                    <a:srgbClr val="C0C0C0"/>
                  </a:outerShdw>
                </a:effectLst>
                <a:ea typeface="方正准圆简体" pitchFamily="2" charset="-122"/>
              </a:endParaRPr>
            </a:p>
          </p:txBody>
        </p:sp>
        <p:sp>
          <p:nvSpPr>
            <p:cNvPr id="81932" name="Rectangle 12"/>
            <p:cNvSpPr>
              <a:spLocks noChangeArrowheads="1"/>
            </p:cNvSpPr>
            <p:nvPr/>
          </p:nvSpPr>
          <p:spPr bwMode="auto">
            <a:xfrm>
              <a:off x="3063" y="1374"/>
              <a:ext cx="166" cy="119"/>
            </a:xfrm>
            <a:prstGeom prst="rect">
              <a:avLst/>
            </a:prstGeom>
            <a:noFill/>
            <a:ln w="9525">
              <a:noFill/>
              <a:miter lim="800000"/>
            </a:ln>
          </p:spPr>
          <p:txBody>
            <a:bodyPr wrap="none" lIns="0" tIns="0" rIns="0" bIns="0">
              <a:spAutoFit/>
            </a:bodyPr>
            <a:lstStyle/>
            <a:p>
              <a:pPr algn="ctr" eaLnBrk="1" hangingPunct="1">
                <a:defRPr/>
              </a:pPr>
              <a:r>
                <a:rPr lang="zh-CN" altLang="en-US" sz="1300">
                  <a:solidFill>
                    <a:srgbClr val="000000"/>
                  </a:solidFill>
                  <a:latin typeface="宋体" panose="02010600030101010101" pitchFamily="2" charset="-122"/>
                  <a:ea typeface="宋体" panose="02010600030101010101" pitchFamily="2" charset="-122"/>
                </a:rPr>
                <a:t>接</a:t>
              </a:r>
              <a:endParaRPr lang="zh-CN" altLang="en-US" sz="1600">
                <a:effectLst>
                  <a:outerShdw blurRad="38100" dist="38100" dir="2700000" algn="tl">
                    <a:srgbClr val="C0C0C0"/>
                  </a:outerShdw>
                </a:effectLst>
                <a:ea typeface="方正准圆简体" pitchFamily="2" charset="-122"/>
              </a:endParaRPr>
            </a:p>
          </p:txBody>
        </p:sp>
        <p:sp>
          <p:nvSpPr>
            <p:cNvPr id="81933" name="Rectangle 13"/>
            <p:cNvSpPr>
              <a:spLocks noChangeArrowheads="1"/>
            </p:cNvSpPr>
            <p:nvPr/>
          </p:nvSpPr>
          <p:spPr bwMode="auto">
            <a:xfrm>
              <a:off x="2827" y="1501"/>
              <a:ext cx="166" cy="119"/>
            </a:xfrm>
            <a:prstGeom prst="rect">
              <a:avLst/>
            </a:prstGeom>
            <a:noFill/>
            <a:ln w="9525">
              <a:noFill/>
              <a:miter lim="800000"/>
            </a:ln>
          </p:spPr>
          <p:txBody>
            <a:bodyPr wrap="none" lIns="0" tIns="0" rIns="0" bIns="0">
              <a:spAutoFit/>
            </a:bodyPr>
            <a:lstStyle/>
            <a:p>
              <a:pPr algn="ctr" eaLnBrk="1" hangingPunct="1">
                <a:defRPr/>
              </a:pPr>
              <a:r>
                <a:rPr lang="zh-CN" altLang="en-US" sz="1300">
                  <a:solidFill>
                    <a:srgbClr val="000000"/>
                  </a:solidFill>
                  <a:latin typeface="宋体" panose="02010600030101010101" pitchFamily="2" charset="-122"/>
                  <a:ea typeface="宋体" panose="02010600030101010101" pitchFamily="2" charset="-122"/>
                </a:rPr>
                <a:t>口</a:t>
              </a:r>
              <a:endParaRPr lang="zh-CN" altLang="en-US" sz="1600">
                <a:effectLst>
                  <a:outerShdw blurRad="38100" dist="38100" dir="2700000" algn="tl">
                    <a:srgbClr val="C0C0C0"/>
                  </a:outerShdw>
                </a:effectLst>
                <a:ea typeface="方正准圆简体" pitchFamily="2" charset="-122"/>
              </a:endParaRPr>
            </a:p>
          </p:txBody>
        </p:sp>
        <p:sp>
          <p:nvSpPr>
            <p:cNvPr id="81934" name="Rectangle 14"/>
            <p:cNvSpPr>
              <a:spLocks noChangeArrowheads="1"/>
            </p:cNvSpPr>
            <p:nvPr/>
          </p:nvSpPr>
          <p:spPr bwMode="auto">
            <a:xfrm>
              <a:off x="2941" y="1501"/>
              <a:ext cx="166" cy="119"/>
            </a:xfrm>
            <a:prstGeom prst="rect">
              <a:avLst/>
            </a:prstGeom>
            <a:noFill/>
            <a:ln w="9525">
              <a:noFill/>
              <a:miter lim="800000"/>
            </a:ln>
          </p:spPr>
          <p:txBody>
            <a:bodyPr wrap="none" lIns="0" tIns="0" rIns="0" bIns="0">
              <a:spAutoFit/>
            </a:bodyPr>
            <a:lstStyle/>
            <a:p>
              <a:pPr algn="ctr" eaLnBrk="1" hangingPunct="1">
                <a:defRPr/>
              </a:pPr>
              <a:r>
                <a:rPr lang="zh-CN" altLang="en-US" sz="1300">
                  <a:solidFill>
                    <a:srgbClr val="000000"/>
                  </a:solidFill>
                  <a:latin typeface="宋体" panose="02010600030101010101" pitchFamily="2" charset="-122"/>
                  <a:ea typeface="宋体" panose="02010600030101010101" pitchFamily="2" charset="-122"/>
                </a:rPr>
                <a:t>单</a:t>
              </a:r>
              <a:endParaRPr lang="zh-CN" altLang="en-US" sz="1600">
                <a:effectLst>
                  <a:outerShdw blurRad="38100" dist="38100" dir="2700000" algn="tl">
                    <a:srgbClr val="C0C0C0"/>
                  </a:outerShdw>
                </a:effectLst>
                <a:ea typeface="方正准圆简体" pitchFamily="2" charset="-122"/>
              </a:endParaRPr>
            </a:p>
          </p:txBody>
        </p:sp>
        <p:sp>
          <p:nvSpPr>
            <p:cNvPr id="81935" name="Rectangle 15"/>
            <p:cNvSpPr>
              <a:spLocks noChangeArrowheads="1"/>
            </p:cNvSpPr>
            <p:nvPr/>
          </p:nvSpPr>
          <p:spPr bwMode="auto">
            <a:xfrm>
              <a:off x="3063" y="1501"/>
              <a:ext cx="166" cy="119"/>
            </a:xfrm>
            <a:prstGeom prst="rect">
              <a:avLst/>
            </a:prstGeom>
            <a:noFill/>
            <a:ln w="9525">
              <a:noFill/>
              <a:miter lim="800000"/>
            </a:ln>
          </p:spPr>
          <p:txBody>
            <a:bodyPr wrap="none" lIns="0" tIns="0" rIns="0" bIns="0">
              <a:spAutoFit/>
            </a:bodyPr>
            <a:lstStyle/>
            <a:p>
              <a:pPr algn="ctr" eaLnBrk="1" hangingPunct="1">
                <a:defRPr/>
              </a:pPr>
              <a:r>
                <a:rPr lang="zh-CN" altLang="en-US" sz="1300">
                  <a:solidFill>
                    <a:srgbClr val="000000"/>
                  </a:solidFill>
                  <a:latin typeface="宋体" panose="02010600030101010101" pitchFamily="2" charset="-122"/>
                  <a:ea typeface="宋体" panose="02010600030101010101" pitchFamily="2" charset="-122"/>
                </a:rPr>
                <a:t>元</a:t>
              </a:r>
              <a:endParaRPr lang="zh-CN" altLang="en-US" sz="1600">
                <a:effectLst>
                  <a:outerShdw blurRad="38100" dist="38100" dir="2700000" algn="tl">
                    <a:srgbClr val="C0C0C0"/>
                  </a:outerShdw>
                </a:effectLst>
                <a:ea typeface="方正准圆简体" pitchFamily="2" charset="-122"/>
              </a:endParaRPr>
            </a:p>
          </p:txBody>
        </p:sp>
        <p:sp>
          <p:nvSpPr>
            <p:cNvPr id="23608" name="Freeform 16"/>
            <p:cNvSpPr/>
            <p:nvPr/>
          </p:nvSpPr>
          <p:spPr bwMode="auto">
            <a:xfrm>
              <a:off x="2924" y="1003"/>
              <a:ext cx="166" cy="348"/>
            </a:xfrm>
            <a:custGeom>
              <a:avLst/>
              <a:gdLst>
                <a:gd name="T0" fmla="*/ 78 w 166"/>
                <a:gd name="T1" fmla="*/ 348 h 348"/>
                <a:gd name="T2" fmla="*/ 0 w 166"/>
                <a:gd name="T3" fmla="*/ 269 h 348"/>
                <a:gd name="T4" fmla="*/ 52 w 166"/>
                <a:gd name="T5" fmla="*/ 269 h 348"/>
                <a:gd name="T6" fmla="*/ 52 w 166"/>
                <a:gd name="T7" fmla="*/ 71 h 348"/>
                <a:gd name="T8" fmla="*/ 0 w 166"/>
                <a:gd name="T9" fmla="*/ 71 h 348"/>
                <a:gd name="T10" fmla="*/ 78 w 166"/>
                <a:gd name="T11" fmla="*/ 0 h 348"/>
                <a:gd name="T12" fmla="*/ 166 w 166"/>
                <a:gd name="T13" fmla="*/ 71 h 348"/>
                <a:gd name="T14" fmla="*/ 113 w 166"/>
                <a:gd name="T15" fmla="*/ 71 h 348"/>
                <a:gd name="T16" fmla="*/ 113 w 166"/>
                <a:gd name="T17" fmla="*/ 269 h 348"/>
                <a:gd name="T18" fmla="*/ 166 w 166"/>
                <a:gd name="T19" fmla="*/ 269 h 348"/>
                <a:gd name="T20" fmla="*/ 78 w 166"/>
                <a:gd name="T21" fmla="*/ 348 h 3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348"/>
                <a:gd name="T35" fmla="*/ 166 w 166"/>
                <a:gd name="T36" fmla="*/ 348 h 3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348">
                  <a:moveTo>
                    <a:pt x="78" y="348"/>
                  </a:moveTo>
                  <a:lnTo>
                    <a:pt x="0" y="269"/>
                  </a:lnTo>
                  <a:lnTo>
                    <a:pt x="52" y="269"/>
                  </a:lnTo>
                  <a:lnTo>
                    <a:pt x="52" y="71"/>
                  </a:lnTo>
                  <a:lnTo>
                    <a:pt x="0" y="71"/>
                  </a:lnTo>
                  <a:lnTo>
                    <a:pt x="78" y="0"/>
                  </a:lnTo>
                  <a:lnTo>
                    <a:pt x="166" y="71"/>
                  </a:lnTo>
                  <a:lnTo>
                    <a:pt x="113" y="71"/>
                  </a:lnTo>
                  <a:lnTo>
                    <a:pt x="113" y="269"/>
                  </a:lnTo>
                  <a:lnTo>
                    <a:pt x="166" y="269"/>
                  </a:lnTo>
                  <a:lnTo>
                    <a:pt x="78" y="348"/>
                  </a:lnTo>
                  <a:close/>
                </a:path>
              </a:pathLst>
            </a:cu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3609" name="Freeform 17"/>
            <p:cNvSpPr/>
            <p:nvPr/>
          </p:nvSpPr>
          <p:spPr bwMode="auto">
            <a:xfrm>
              <a:off x="2924" y="1003"/>
              <a:ext cx="166" cy="348"/>
            </a:xfrm>
            <a:custGeom>
              <a:avLst/>
              <a:gdLst>
                <a:gd name="T0" fmla="*/ 78 w 166"/>
                <a:gd name="T1" fmla="*/ 348 h 348"/>
                <a:gd name="T2" fmla="*/ 0 w 166"/>
                <a:gd name="T3" fmla="*/ 269 h 348"/>
                <a:gd name="T4" fmla="*/ 52 w 166"/>
                <a:gd name="T5" fmla="*/ 269 h 348"/>
                <a:gd name="T6" fmla="*/ 52 w 166"/>
                <a:gd name="T7" fmla="*/ 71 h 348"/>
                <a:gd name="T8" fmla="*/ 0 w 166"/>
                <a:gd name="T9" fmla="*/ 71 h 348"/>
                <a:gd name="T10" fmla="*/ 78 w 166"/>
                <a:gd name="T11" fmla="*/ 0 h 348"/>
                <a:gd name="T12" fmla="*/ 166 w 166"/>
                <a:gd name="T13" fmla="*/ 71 h 348"/>
                <a:gd name="T14" fmla="*/ 113 w 166"/>
                <a:gd name="T15" fmla="*/ 71 h 348"/>
                <a:gd name="T16" fmla="*/ 113 w 166"/>
                <a:gd name="T17" fmla="*/ 269 h 348"/>
                <a:gd name="T18" fmla="*/ 166 w 166"/>
                <a:gd name="T19" fmla="*/ 269 h 348"/>
                <a:gd name="T20" fmla="*/ 78 w 166"/>
                <a:gd name="T21" fmla="*/ 348 h 3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348"/>
                <a:gd name="T35" fmla="*/ 166 w 166"/>
                <a:gd name="T36" fmla="*/ 348 h 3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348">
                  <a:moveTo>
                    <a:pt x="78" y="348"/>
                  </a:moveTo>
                  <a:lnTo>
                    <a:pt x="0" y="269"/>
                  </a:lnTo>
                  <a:lnTo>
                    <a:pt x="52" y="269"/>
                  </a:lnTo>
                  <a:lnTo>
                    <a:pt x="52" y="71"/>
                  </a:lnTo>
                  <a:lnTo>
                    <a:pt x="0" y="71"/>
                  </a:lnTo>
                  <a:lnTo>
                    <a:pt x="78" y="0"/>
                  </a:lnTo>
                  <a:lnTo>
                    <a:pt x="166" y="71"/>
                  </a:lnTo>
                  <a:lnTo>
                    <a:pt x="113" y="71"/>
                  </a:lnTo>
                  <a:lnTo>
                    <a:pt x="113" y="269"/>
                  </a:lnTo>
                  <a:lnTo>
                    <a:pt x="166" y="269"/>
                  </a:lnTo>
                  <a:lnTo>
                    <a:pt x="78" y="348"/>
                  </a:lnTo>
                  <a:close/>
                </a:path>
              </a:pathLst>
            </a:custGeom>
            <a:noFill/>
            <a:ln w="14288">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10" name="Rectangle 18"/>
            <p:cNvSpPr>
              <a:spLocks noChangeArrowheads="1"/>
            </p:cNvSpPr>
            <p:nvPr/>
          </p:nvSpPr>
          <p:spPr bwMode="auto">
            <a:xfrm>
              <a:off x="3999" y="600"/>
              <a:ext cx="1040" cy="1122"/>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dirty="0">
                <a:latin typeface="楷体" panose="02010609060101010101" pitchFamily="49" charset="-122"/>
                <a:ea typeface="楷体" panose="02010609060101010101" pitchFamily="49" charset="-122"/>
              </a:endParaRPr>
            </a:p>
          </p:txBody>
        </p:sp>
        <p:sp>
          <p:nvSpPr>
            <p:cNvPr id="23611" name="Rectangle 19"/>
            <p:cNvSpPr>
              <a:spLocks noChangeArrowheads="1"/>
            </p:cNvSpPr>
            <p:nvPr/>
          </p:nvSpPr>
          <p:spPr bwMode="auto">
            <a:xfrm>
              <a:off x="3999" y="600"/>
              <a:ext cx="1040" cy="1122"/>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40" name="Rectangle 20"/>
            <p:cNvSpPr>
              <a:spLocks noChangeArrowheads="1"/>
            </p:cNvSpPr>
            <p:nvPr/>
          </p:nvSpPr>
          <p:spPr bwMode="auto">
            <a:xfrm>
              <a:off x="4165" y="1074"/>
              <a:ext cx="262" cy="182"/>
            </a:xfrm>
            <a:prstGeom prst="rect">
              <a:avLst/>
            </a:prstGeom>
            <a:noFill/>
            <a:ln w="9525">
              <a:noFill/>
              <a:miter lim="800000"/>
            </a:ln>
          </p:spPr>
          <p:txBody>
            <a:bodyPr wrap="none" lIns="0" tIns="0" rIns="0" bIns="0">
              <a:spAutoFit/>
            </a:bodyPr>
            <a:lstStyle/>
            <a:p>
              <a:pPr algn="ctr" eaLnBrk="1" hangingPunct="1">
                <a:defRPr/>
              </a:pPr>
              <a:r>
                <a:rPr lang="zh-CN" altLang="en-US" sz="2000">
                  <a:solidFill>
                    <a:srgbClr val="000000"/>
                  </a:solidFill>
                  <a:latin typeface="宋体" panose="02010600030101010101" pitchFamily="2" charset="-122"/>
                  <a:ea typeface="宋体" panose="02010600030101010101" pitchFamily="2" charset="-122"/>
                </a:rPr>
                <a:t>内</a:t>
              </a:r>
              <a:endParaRPr lang="zh-CN" altLang="en-US" sz="1600">
                <a:effectLst>
                  <a:outerShdw blurRad="38100" dist="38100" dir="2700000" algn="tl">
                    <a:srgbClr val="C0C0C0"/>
                  </a:outerShdw>
                </a:effectLst>
                <a:ea typeface="方正准圆简体" pitchFamily="2" charset="-122"/>
              </a:endParaRPr>
            </a:p>
          </p:txBody>
        </p:sp>
        <p:sp>
          <p:nvSpPr>
            <p:cNvPr id="81941" name="Rectangle 21"/>
            <p:cNvSpPr>
              <a:spLocks noChangeArrowheads="1"/>
            </p:cNvSpPr>
            <p:nvPr/>
          </p:nvSpPr>
          <p:spPr bwMode="auto">
            <a:xfrm>
              <a:off x="4340" y="1074"/>
              <a:ext cx="262" cy="182"/>
            </a:xfrm>
            <a:prstGeom prst="rect">
              <a:avLst/>
            </a:prstGeom>
            <a:noFill/>
            <a:ln w="9525">
              <a:noFill/>
              <a:miter lim="800000"/>
            </a:ln>
          </p:spPr>
          <p:txBody>
            <a:bodyPr wrap="none" lIns="0" tIns="0" rIns="0" bIns="0">
              <a:spAutoFit/>
            </a:bodyPr>
            <a:lstStyle/>
            <a:p>
              <a:pPr algn="ctr" eaLnBrk="1" hangingPunct="1">
                <a:defRPr/>
              </a:pPr>
              <a:r>
                <a:rPr lang="zh-CN" altLang="en-US" sz="2000">
                  <a:solidFill>
                    <a:srgbClr val="000000"/>
                  </a:solidFill>
                  <a:latin typeface="宋体" panose="02010600030101010101" pitchFamily="2" charset="-122"/>
                  <a:ea typeface="宋体" panose="02010600030101010101" pitchFamily="2" charset="-122"/>
                </a:rPr>
                <a:t>存</a:t>
              </a:r>
              <a:endParaRPr lang="zh-CN" altLang="en-US" sz="1600">
                <a:effectLst>
                  <a:outerShdw blurRad="38100" dist="38100" dir="2700000" algn="tl">
                    <a:srgbClr val="C0C0C0"/>
                  </a:outerShdw>
                </a:effectLst>
                <a:ea typeface="方正准圆简体" pitchFamily="2" charset="-122"/>
              </a:endParaRPr>
            </a:p>
          </p:txBody>
        </p:sp>
        <p:sp>
          <p:nvSpPr>
            <p:cNvPr id="81942" name="Rectangle 22"/>
            <p:cNvSpPr>
              <a:spLocks noChangeArrowheads="1"/>
            </p:cNvSpPr>
            <p:nvPr/>
          </p:nvSpPr>
          <p:spPr bwMode="auto">
            <a:xfrm>
              <a:off x="4514" y="1074"/>
              <a:ext cx="262" cy="182"/>
            </a:xfrm>
            <a:prstGeom prst="rect">
              <a:avLst/>
            </a:prstGeom>
            <a:noFill/>
            <a:ln w="9525">
              <a:noFill/>
              <a:miter lim="800000"/>
            </a:ln>
          </p:spPr>
          <p:txBody>
            <a:bodyPr wrap="none" lIns="0" tIns="0" rIns="0" bIns="0">
              <a:spAutoFit/>
            </a:bodyPr>
            <a:lstStyle/>
            <a:p>
              <a:pPr algn="ctr" eaLnBrk="1" hangingPunct="1">
                <a:defRPr/>
              </a:pPr>
              <a:r>
                <a:rPr lang="zh-CN" altLang="en-US" sz="2000" dirty="0">
                  <a:solidFill>
                    <a:srgbClr val="000000"/>
                  </a:solidFill>
                  <a:latin typeface="宋体" panose="02010600030101010101" pitchFamily="2" charset="-122"/>
                  <a:ea typeface="宋体" panose="02010600030101010101" pitchFamily="2" charset="-122"/>
                </a:rPr>
                <a:t>储</a:t>
              </a:r>
              <a:endParaRPr lang="zh-CN" altLang="en-US" sz="1600" dirty="0">
                <a:effectLst>
                  <a:outerShdw blurRad="38100" dist="38100" dir="2700000" algn="tl">
                    <a:srgbClr val="C0C0C0"/>
                  </a:outerShdw>
                </a:effectLst>
                <a:ea typeface="方正准圆简体" pitchFamily="2" charset="-122"/>
              </a:endParaRPr>
            </a:p>
          </p:txBody>
        </p:sp>
        <p:sp>
          <p:nvSpPr>
            <p:cNvPr id="81943" name="Rectangle 23"/>
            <p:cNvSpPr>
              <a:spLocks noChangeArrowheads="1"/>
            </p:cNvSpPr>
            <p:nvPr/>
          </p:nvSpPr>
          <p:spPr bwMode="auto">
            <a:xfrm>
              <a:off x="4689" y="1074"/>
              <a:ext cx="262" cy="182"/>
            </a:xfrm>
            <a:prstGeom prst="rect">
              <a:avLst/>
            </a:prstGeom>
            <a:noFill/>
            <a:ln w="9525">
              <a:noFill/>
              <a:miter lim="800000"/>
            </a:ln>
          </p:spPr>
          <p:txBody>
            <a:bodyPr wrap="none" lIns="0" tIns="0" rIns="0" bIns="0">
              <a:spAutoFit/>
            </a:bodyPr>
            <a:lstStyle/>
            <a:p>
              <a:pPr algn="ctr" eaLnBrk="1" hangingPunct="1">
                <a:defRPr/>
              </a:pPr>
              <a:r>
                <a:rPr lang="zh-CN" altLang="en-US" sz="2000">
                  <a:solidFill>
                    <a:srgbClr val="000000"/>
                  </a:solidFill>
                  <a:latin typeface="宋体" panose="02010600030101010101" pitchFamily="2" charset="-122"/>
                  <a:ea typeface="宋体" panose="02010600030101010101" pitchFamily="2" charset="-122"/>
                </a:rPr>
                <a:t>器</a:t>
              </a:r>
              <a:endParaRPr lang="zh-CN" altLang="en-US" sz="1600">
                <a:effectLst>
                  <a:outerShdw blurRad="38100" dist="38100" dir="2700000" algn="tl">
                    <a:srgbClr val="C0C0C0"/>
                  </a:outerShdw>
                </a:effectLst>
                <a:ea typeface="方正准圆简体" pitchFamily="2" charset="-122"/>
              </a:endParaRPr>
            </a:p>
          </p:txBody>
        </p:sp>
        <p:sp>
          <p:nvSpPr>
            <p:cNvPr id="23616" name="Freeform 24"/>
            <p:cNvSpPr/>
            <p:nvPr/>
          </p:nvSpPr>
          <p:spPr bwMode="auto">
            <a:xfrm>
              <a:off x="275" y="1983"/>
              <a:ext cx="5175" cy="229"/>
            </a:xfrm>
            <a:custGeom>
              <a:avLst/>
              <a:gdLst>
                <a:gd name="T0" fmla="*/ 0 w 5175"/>
                <a:gd name="T1" fmla="*/ 119 h 229"/>
                <a:gd name="T2" fmla="*/ 123 w 5175"/>
                <a:gd name="T3" fmla="*/ 0 h 229"/>
                <a:gd name="T4" fmla="*/ 123 w 5175"/>
                <a:gd name="T5" fmla="*/ 79 h 229"/>
                <a:gd name="T6" fmla="*/ 5052 w 5175"/>
                <a:gd name="T7" fmla="*/ 79 h 229"/>
                <a:gd name="T8" fmla="*/ 5052 w 5175"/>
                <a:gd name="T9" fmla="*/ 0 h 229"/>
                <a:gd name="T10" fmla="*/ 5175 w 5175"/>
                <a:gd name="T11" fmla="*/ 119 h 229"/>
                <a:gd name="T12" fmla="*/ 5052 w 5175"/>
                <a:gd name="T13" fmla="*/ 229 h 229"/>
                <a:gd name="T14" fmla="*/ 5052 w 5175"/>
                <a:gd name="T15" fmla="*/ 150 h 229"/>
                <a:gd name="T16" fmla="*/ 123 w 5175"/>
                <a:gd name="T17" fmla="*/ 150 h 229"/>
                <a:gd name="T18" fmla="*/ 123 w 5175"/>
                <a:gd name="T19" fmla="*/ 229 h 229"/>
                <a:gd name="T20" fmla="*/ 0 w 5175"/>
                <a:gd name="T21" fmla="*/ 119 h 2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75"/>
                <a:gd name="T34" fmla="*/ 0 h 229"/>
                <a:gd name="T35" fmla="*/ 5175 w 5175"/>
                <a:gd name="T36" fmla="*/ 229 h 2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75" h="229">
                  <a:moveTo>
                    <a:pt x="0" y="119"/>
                  </a:moveTo>
                  <a:lnTo>
                    <a:pt x="123" y="0"/>
                  </a:lnTo>
                  <a:lnTo>
                    <a:pt x="123" y="79"/>
                  </a:lnTo>
                  <a:lnTo>
                    <a:pt x="5052" y="79"/>
                  </a:lnTo>
                  <a:lnTo>
                    <a:pt x="5052" y="0"/>
                  </a:lnTo>
                  <a:lnTo>
                    <a:pt x="5175" y="119"/>
                  </a:lnTo>
                  <a:lnTo>
                    <a:pt x="5052" y="229"/>
                  </a:lnTo>
                  <a:lnTo>
                    <a:pt x="5052" y="150"/>
                  </a:lnTo>
                  <a:lnTo>
                    <a:pt x="123" y="150"/>
                  </a:lnTo>
                  <a:lnTo>
                    <a:pt x="123" y="229"/>
                  </a:lnTo>
                  <a:lnTo>
                    <a:pt x="0" y="119"/>
                  </a:lnTo>
                  <a:close/>
                </a:path>
              </a:pathLst>
            </a:custGeom>
            <a:solidFill>
              <a:srgbClr val="FFCC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3617" name="Freeform 25"/>
            <p:cNvSpPr/>
            <p:nvPr/>
          </p:nvSpPr>
          <p:spPr bwMode="auto">
            <a:xfrm>
              <a:off x="275" y="1983"/>
              <a:ext cx="5175" cy="229"/>
            </a:xfrm>
            <a:custGeom>
              <a:avLst/>
              <a:gdLst>
                <a:gd name="T0" fmla="*/ 0 w 5175"/>
                <a:gd name="T1" fmla="*/ 119 h 229"/>
                <a:gd name="T2" fmla="*/ 123 w 5175"/>
                <a:gd name="T3" fmla="*/ 0 h 229"/>
                <a:gd name="T4" fmla="*/ 123 w 5175"/>
                <a:gd name="T5" fmla="*/ 79 h 229"/>
                <a:gd name="T6" fmla="*/ 5052 w 5175"/>
                <a:gd name="T7" fmla="*/ 79 h 229"/>
                <a:gd name="T8" fmla="*/ 5052 w 5175"/>
                <a:gd name="T9" fmla="*/ 0 h 229"/>
                <a:gd name="T10" fmla="*/ 5175 w 5175"/>
                <a:gd name="T11" fmla="*/ 119 h 229"/>
                <a:gd name="T12" fmla="*/ 5052 w 5175"/>
                <a:gd name="T13" fmla="*/ 229 h 229"/>
                <a:gd name="T14" fmla="*/ 5052 w 5175"/>
                <a:gd name="T15" fmla="*/ 150 h 229"/>
                <a:gd name="T16" fmla="*/ 123 w 5175"/>
                <a:gd name="T17" fmla="*/ 150 h 229"/>
                <a:gd name="T18" fmla="*/ 123 w 5175"/>
                <a:gd name="T19" fmla="*/ 229 h 229"/>
                <a:gd name="T20" fmla="*/ 0 w 5175"/>
                <a:gd name="T21" fmla="*/ 119 h 2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75"/>
                <a:gd name="T34" fmla="*/ 0 h 229"/>
                <a:gd name="T35" fmla="*/ 5175 w 5175"/>
                <a:gd name="T36" fmla="*/ 229 h 2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75" h="229">
                  <a:moveTo>
                    <a:pt x="0" y="119"/>
                  </a:moveTo>
                  <a:lnTo>
                    <a:pt x="123" y="0"/>
                  </a:lnTo>
                  <a:lnTo>
                    <a:pt x="123" y="79"/>
                  </a:lnTo>
                  <a:lnTo>
                    <a:pt x="5052" y="79"/>
                  </a:lnTo>
                  <a:lnTo>
                    <a:pt x="5052" y="0"/>
                  </a:lnTo>
                  <a:lnTo>
                    <a:pt x="5175" y="119"/>
                  </a:lnTo>
                  <a:lnTo>
                    <a:pt x="5052" y="229"/>
                  </a:lnTo>
                  <a:lnTo>
                    <a:pt x="5052" y="150"/>
                  </a:lnTo>
                  <a:lnTo>
                    <a:pt x="123" y="150"/>
                  </a:lnTo>
                  <a:lnTo>
                    <a:pt x="123" y="229"/>
                  </a:lnTo>
                  <a:lnTo>
                    <a:pt x="0" y="119"/>
                  </a:lnTo>
                  <a:close/>
                </a:path>
              </a:pathLst>
            </a:custGeom>
            <a:noFill/>
            <a:ln w="14288">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18" name="Freeform 26"/>
            <p:cNvSpPr/>
            <p:nvPr/>
          </p:nvSpPr>
          <p:spPr bwMode="auto">
            <a:xfrm>
              <a:off x="2924" y="1651"/>
              <a:ext cx="166" cy="411"/>
            </a:xfrm>
            <a:custGeom>
              <a:avLst/>
              <a:gdLst>
                <a:gd name="T0" fmla="*/ 78 w 166"/>
                <a:gd name="T1" fmla="*/ 411 h 411"/>
                <a:gd name="T2" fmla="*/ 0 w 166"/>
                <a:gd name="T3" fmla="*/ 332 h 411"/>
                <a:gd name="T4" fmla="*/ 52 w 166"/>
                <a:gd name="T5" fmla="*/ 332 h 411"/>
                <a:gd name="T6" fmla="*/ 52 w 166"/>
                <a:gd name="T7" fmla="*/ 71 h 411"/>
                <a:gd name="T8" fmla="*/ 0 w 166"/>
                <a:gd name="T9" fmla="*/ 71 h 411"/>
                <a:gd name="T10" fmla="*/ 78 w 166"/>
                <a:gd name="T11" fmla="*/ 0 h 411"/>
                <a:gd name="T12" fmla="*/ 166 w 166"/>
                <a:gd name="T13" fmla="*/ 71 h 411"/>
                <a:gd name="T14" fmla="*/ 113 w 166"/>
                <a:gd name="T15" fmla="*/ 71 h 411"/>
                <a:gd name="T16" fmla="*/ 113 w 166"/>
                <a:gd name="T17" fmla="*/ 332 h 411"/>
                <a:gd name="T18" fmla="*/ 166 w 166"/>
                <a:gd name="T19" fmla="*/ 332 h 411"/>
                <a:gd name="T20" fmla="*/ 78 w 166"/>
                <a:gd name="T21" fmla="*/ 411 h 4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411"/>
                <a:gd name="T35" fmla="*/ 166 w 166"/>
                <a:gd name="T36" fmla="*/ 411 h 4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411">
                  <a:moveTo>
                    <a:pt x="78" y="411"/>
                  </a:moveTo>
                  <a:lnTo>
                    <a:pt x="0" y="332"/>
                  </a:lnTo>
                  <a:lnTo>
                    <a:pt x="52" y="332"/>
                  </a:lnTo>
                  <a:lnTo>
                    <a:pt x="52" y="71"/>
                  </a:lnTo>
                  <a:lnTo>
                    <a:pt x="0" y="71"/>
                  </a:lnTo>
                  <a:lnTo>
                    <a:pt x="78" y="0"/>
                  </a:lnTo>
                  <a:lnTo>
                    <a:pt x="166" y="71"/>
                  </a:lnTo>
                  <a:lnTo>
                    <a:pt x="113" y="71"/>
                  </a:lnTo>
                  <a:lnTo>
                    <a:pt x="113" y="332"/>
                  </a:lnTo>
                  <a:lnTo>
                    <a:pt x="166" y="332"/>
                  </a:lnTo>
                  <a:lnTo>
                    <a:pt x="78" y="411"/>
                  </a:lnTo>
                  <a:close/>
                </a:path>
              </a:pathLst>
            </a:custGeom>
            <a:solidFill>
              <a:srgbClr val="FFCC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3619" name="Freeform 27"/>
            <p:cNvSpPr/>
            <p:nvPr/>
          </p:nvSpPr>
          <p:spPr bwMode="auto">
            <a:xfrm>
              <a:off x="2924" y="1651"/>
              <a:ext cx="166" cy="411"/>
            </a:xfrm>
            <a:custGeom>
              <a:avLst/>
              <a:gdLst>
                <a:gd name="T0" fmla="*/ 78 w 166"/>
                <a:gd name="T1" fmla="*/ 411 h 411"/>
                <a:gd name="T2" fmla="*/ 0 w 166"/>
                <a:gd name="T3" fmla="*/ 332 h 411"/>
                <a:gd name="T4" fmla="*/ 52 w 166"/>
                <a:gd name="T5" fmla="*/ 332 h 411"/>
                <a:gd name="T6" fmla="*/ 52 w 166"/>
                <a:gd name="T7" fmla="*/ 71 h 411"/>
                <a:gd name="T8" fmla="*/ 0 w 166"/>
                <a:gd name="T9" fmla="*/ 71 h 411"/>
                <a:gd name="T10" fmla="*/ 78 w 166"/>
                <a:gd name="T11" fmla="*/ 0 h 411"/>
                <a:gd name="T12" fmla="*/ 166 w 166"/>
                <a:gd name="T13" fmla="*/ 71 h 411"/>
                <a:gd name="T14" fmla="*/ 113 w 166"/>
                <a:gd name="T15" fmla="*/ 71 h 411"/>
                <a:gd name="T16" fmla="*/ 113 w 166"/>
                <a:gd name="T17" fmla="*/ 332 h 411"/>
                <a:gd name="T18" fmla="*/ 166 w 166"/>
                <a:gd name="T19" fmla="*/ 332 h 411"/>
                <a:gd name="T20" fmla="*/ 78 w 166"/>
                <a:gd name="T21" fmla="*/ 411 h 4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411"/>
                <a:gd name="T35" fmla="*/ 166 w 166"/>
                <a:gd name="T36" fmla="*/ 411 h 4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411">
                  <a:moveTo>
                    <a:pt x="78" y="411"/>
                  </a:moveTo>
                  <a:lnTo>
                    <a:pt x="0" y="332"/>
                  </a:lnTo>
                  <a:lnTo>
                    <a:pt x="52" y="332"/>
                  </a:lnTo>
                  <a:lnTo>
                    <a:pt x="52" y="71"/>
                  </a:lnTo>
                  <a:lnTo>
                    <a:pt x="0" y="71"/>
                  </a:lnTo>
                  <a:lnTo>
                    <a:pt x="78" y="0"/>
                  </a:lnTo>
                  <a:lnTo>
                    <a:pt x="166" y="71"/>
                  </a:lnTo>
                  <a:lnTo>
                    <a:pt x="113" y="71"/>
                  </a:lnTo>
                  <a:lnTo>
                    <a:pt x="113" y="332"/>
                  </a:lnTo>
                  <a:lnTo>
                    <a:pt x="166" y="332"/>
                  </a:lnTo>
                  <a:lnTo>
                    <a:pt x="78" y="411"/>
                  </a:lnTo>
                  <a:close/>
                </a:path>
              </a:pathLst>
            </a:custGeom>
            <a:noFill/>
            <a:ln w="14288">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20" name="Freeform 28"/>
            <p:cNvSpPr/>
            <p:nvPr/>
          </p:nvSpPr>
          <p:spPr bwMode="auto">
            <a:xfrm>
              <a:off x="4453" y="1722"/>
              <a:ext cx="166" cy="340"/>
            </a:xfrm>
            <a:custGeom>
              <a:avLst/>
              <a:gdLst>
                <a:gd name="T0" fmla="*/ 88 w 166"/>
                <a:gd name="T1" fmla="*/ 340 h 340"/>
                <a:gd name="T2" fmla="*/ 0 w 166"/>
                <a:gd name="T3" fmla="*/ 261 h 340"/>
                <a:gd name="T4" fmla="*/ 61 w 166"/>
                <a:gd name="T5" fmla="*/ 261 h 340"/>
                <a:gd name="T6" fmla="*/ 61 w 166"/>
                <a:gd name="T7" fmla="*/ 79 h 340"/>
                <a:gd name="T8" fmla="*/ 0 w 166"/>
                <a:gd name="T9" fmla="*/ 79 h 340"/>
                <a:gd name="T10" fmla="*/ 88 w 166"/>
                <a:gd name="T11" fmla="*/ 0 h 340"/>
                <a:gd name="T12" fmla="*/ 166 w 166"/>
                <a:gd name="T13" fmla="*/ 79 h 340"/>
                <a:gd name="T14" fmla="*/ 114 w 166"/>
                <a:gd name="T15" fmla="*/ 79 h 340"/>
                <a:gd name="T16" fmla="*/ 114 w 166"/>
                <a:gd name="T17" fmla="*/ 261 h 340"/>
                <a:gd name="T18" fmla="*/ 166 w 166"/>
                <a:gd name="T19" fmla="*/ 261 h 340"/>
                <a:gd name="T20" fmla="*/ 88 w 166"/>
                <a:gd name="T21" fmla="*/ 340 h 3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340"/>
                <a:gd name="T35" fmla="*/ 166 w 166"/>
                <a:gd name="T36" fmla="*/ 340 h 3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340">
                  <a:moveTo>
                    <a:pt x="88" y="340"/>
                  </a:moveTo>
                  <a:lnTo>
                    <a:pt x="0" y="261"/>
                  </a:lnTo>
                  <a:lnTo>
                    <a:pt x="61" y="261"/>
                  </a:lnTo>
                  <a:lnTo>
                    <a:pt x="61" y="79"/>
                  </a:lnTo>
                  <a:lnTo>
                    <a:pt x="0" y="79"/>
                  </a:lnTo>
                  <a:lnTo>
                    <a:pt x="88" y="0"/>
                  </a:lnTo>
                  <a:lnTo>
                    <a:pt x="166" y="79"/>
                  </a:lnTo>
                  <a:lnTo>
                    <a:pt x="114" y="79"/>
                  </a:lnTo>
                  <a:lnTo>
                    <a:pt x="114" y="261"/>
                  </a:lnTo>
                  <a:lnTo>
                    <a:pt x="166" y="261"/>
                  </a:lnTo>
                  <a:lnTo>
                    <a:pt x="88" y="340"/>
                  </a:lnTo>
                  <a:close/>
                </a:path>
              </a:pathLst>
            </a:custGeom>
            <a:solidFill>
              <a:srgbClr val="FFCC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3621" name="Freeform 29"/>
            <p:cNvSpPr/>
            <p:nvPr/>
          </p:nvSpPr>
          <p:spPr bwMode="auto">
            <a:xfrm>
              <a:off x="4453" y="1722"/>
              <a:ext cx="166" cy="340"/>
            </a:xfrm>
            <a:custGeom>
              <a:avLst/>
              <a:gdLst>
                <a:gd name="T0" fmla="*/ 88 w 166"/>
                <a:gd name="T1" fmla="*/ 340 h 340"/>
                <a:gd name="T2" fmla="*/ 0 w 166"/>
                <a:gd name="T3" fmla="*/ 261 h 340"/>
                <a:gd name="T4" fmla="*/ 61 w 166"/>
                <a:gd name="T5" fmla="*/ 261 h 340"/>
                <a:gd name="T6" fmla="*/ 61 w 166"/>
                <a:gd name="T7" fmla="*/ 79 h 340"/>
                <a:gd name="T8" fmla="*/ 0 w 166"/>
                <a:gd name="T9" fmla="*/ 79 h 340"/>
                <a:gd name="T10" fmla="*/ 88 w 166"/>
                <a:gd name="T11" fmla="*/ 0 h 340"/>
                <a:gd name="T12" fmla="*/ 166 w 166"/>
                <a:gd name="T13" fmla="*/ 79 h 340"/>
                <a:gd name="T14" fmla="*/ 114 w 166"/>
                <a:gd name="T15" fmla="*/ 79 h 340"/>
                <a:gd name="T16" fmla="*/ 114 w 166"/>
                <a:gd name="T17" fmla="*/ 261 h 340"/>
                <a:gd name="T18" fmla="*/ 166 w 166"/>
                <a:gd name="T19" fmla="*/ 261 h 340"/>
                <a:gd name="T20" fmla="*/ 88 w 166"/>
                <a:gd name="T21" fmla="*/ 340 h 3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340"/>
                <a:gd name="T35" fmla="*/ 166 w 166"/>
                <a:gd name="T36" fmla="*/ 340 h 3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340">
                  <a:moveTo>
                    <a:pt x="88" y="340"/>
                  </a:moveTo>
                  <a:lnTo>
                    <a:pt x="0" y="261"/>
                  </a:lnTo>
                  <a:lnTo>
                    <a:pt x="61" y="261"/>
                  </a:lnTo>
                  <a:lnTo>
                    <a:pt x="61" y="79"/>
                  </a:lnTo>
                  <a:lnTo>
                    <a:pt x="0" y="79"/>
                  </a:lnTo>
                  <a:lnTo>
                    <a:pt x="88" y="0"/>
                  </a:lnTo>
                  <a:lnTo>
                    <a:pt x="166" y="79"/>
                  </a:lnTo>
                  <a:lnTo>
                    <a:pt x="114" y="79"/>
                  </a:lnTo>
                  <a:lnTo>
                    <a:pt x="114" y="261"/>
                  </a:lnTo>
                  <a:lnTo>
                    <a:pt x="166" y="261"/>
                  </a:lnTo>
                  <a:lnTo>
                    <a:pt x="88" y="340"/>
                  </a:lnTo>
                  <a:close/>
                </a:path>
              </a:pathLst>
            </a:custGeom>
            <a:noFill/>
            <a:ln w="14288">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50" name="Rectangle 30"/>
            <p:cNvSpPr>
              <a:spLocks noChangeArrowheads="1"/>
            </p:cNvSpPr>
            <p:nvPr/>
          </p:nvSpPr>
          <p:spPr bwMode="auto">
            <a:xfrm>
              <a:off x="1629" y="1873"/>
              <a:ext cx="161" cy="192"/>
            </a:xfrm>
            <a:prstGeom prst="rect">
              <a:avLst/>
            </a:prstGeom>
            <a:noFill/>
            <a:ln w="9525">
              <a:noFill/>
              <a:miter lim="800000"/>
            </a:ln>
          </p:spPr>
          <p:txBody>
            <a:bodyPr wrap="none" lIns="0" tIns="0" rIns="0" bIns="0">
              <a:spAutoFit/>
            </a:bodyPr>
            <a:lstStyle/>
            <a:p>
              <a:pPr algn="ctr" eaLnBrk="1" hangingPunct="1">
                <a:defRPr/>
              </a:pPr>
              <a:r>
                <a:rPr lang="zh-CN" altLang="en-US" sz="2000" b="1">
                  <a:latin typeface="宋体" panose="02010600030101010101" pitchFamily="2" charset="-122"/>
                  <a:ea typeface="宋体" panose="02010600030101010101" pitchFamily="2" charset="-122"/>
                </a:rPr>
                <a:t>系</a:t>
              </a:r>
              <a:endParaRPr lang="zh-CN" altLang="en-US" sz="1600" b="1">
                <a:effectLst>
                  <a:outerShdw blurRad="38100" dist="38100" dir="2700000" algn="tl">
                    <a:srgbClr val="C0C0C0"/>
                  </a:outerShdw>
                </a:effectLst>
                <a:ea typeface="方正准圆简体" pitchFamily="2" charset="-122"/>
              </a:endParaRPr>
            </a:p>
          </p:txBody>
        </p:sp>
        <p:sp>
          <p:nvSpPr>
            <p:cNvPr id="81951" name="Rectangle 31"/>
            <p:cNvSpPr>
              <a:spLocks noChangeArrowheads="1"/>
            </p:cNvSpPr>
            <p:nvPr/>
          </p:nvSpPr>
          <p:spPr bwMode="auto">
            <a:xfrm>
              <a:off x="1803" y="1873"/>
              <a:ext cx="161" cy="192"/>
            </a:xfrm>
            <a:prstGeom prst="rect">
              <a:avLst/>
            </a:prstGeom>
            <a:noFill/>
            <a:ln w="9525">
              <a:noFill/>
              <a:miter lim="800000"/>
            </a:ln>
          </p:spPr>
          <p:txBody>
            <a:bodyPr wrap="none" lIns="0" tIns="0" rIns="0" bIns="0">
              <a:spAutoFit/>
            </a:bodyPr>
            <a:lstStyle/>
            <a:p>
              <a:pPr algn="ctr" eaLnBrk="1" hangingPunct="1">
                <a:defRPr/>
              </a:pPr>
              <a:r>
                <a:rPr lang="zh-CN" altLang="en-US" sz="2000" b="1">
                  <a:latin typeface="宋体" panose="02010600030101010101" pitchFamily="2" charset="-122"/>
                  <a:ea typeface="宋体" panose="02010600030101010101" pitchFamily="2" charset="-122"/>
                </a:rPr>
                <a:t>统</a:t>
              </a:r>
              <a:endParaRPr lang="zh-CN" altLang="en-US" sz="1600" b="1">
                <a:effectLst>
                  <a:outerShdw blurRad="38100" dist="38100" dir="2700000" algn="tl">
                    <a:srgbClr val="C0C0C0"/>
                  </a:outerShdw>
                </a:effectLst>
                <a:ea typeface="方正准圆简体" pitchFamily="2" charset="-122"/>
              </a:endParaRPr>
            </a:p>
          </p:txBody>
        </p:sp>
        <p:sp>
          <p:nvSpPr>
            <p:cNvPr id="81952" name="Rectangle 32"/>
            <p:cNvSpPr>
              <a:spLocks noChangeArrowheads="1"/>
            </p:cNvSpPr>
            <p:nvPr/>
          </p:nvSpPr>
          <p:spPr bwMode="auto">
            <a:xfrm>
              <a:off x="1978" y="1873"/>
              <a:ext cx="160" cy="192"/>
            </a:xfrm>
            <a:prstGeom prst="rect">
              <a:avLst/>
            </a:prstGeom>
            <a:noFill/>
            <a:ln w="9525">
              <a:noFill/>
              <a:miter lim="800000"/>
            </a:ln>
          </p:spPr>
          <p:txBody>
            <a:bodyPr wrap="none" lIns="0" tIns="0" rIns="0" bIns="0">
              <a:spAutoFit/>
            </a:bodyPr>
            <a:lstStyle/>
            <a:p>
              <a:pPr algn="ctr" eaLnBrk="1" hangingPunct="1">
                <a:defRPr/>
              </a:pPr>
              <a:r>
                <a:rPr lang="zh-CN" altLang="en-US" sz="2000" b="1">
                  <a:latin typeface="宋体" panose="02010600030101010101" pitchFamily="2" charset="-122"/>
                  <a:ea typeface="宋体" panose="02010600030101010101" pitchFamily="2" charset="-122"/>
                </a:rPr>
                <a:t>总</a:t>
              </a:r>
              <a:endParaRPr lang="zh-CN" altLang="en-US" sz="1600" b="1">
                <a:effectLst>
                  <a:outerShdw blurRad="38100" dist="38100" dir="2700000" algn="tl">
                    <a:srgbClr val="C0C0C0"/>
                  </a:outerShdw>
                </a:effectLst>
                <a:ea typeface="方正准圆简体" pitchFamily="2" charset="-122"/>
              </a:endParaRPr>
            </a:p>
          </p:txBody>
        </p:sp>
        <p:sp>
          <p:nvSpPr>
            <p:cNvPr id="81953" name="Rectangle 33"/>
            <p:cNvSpPr>
              <a:spLocks noChangeArrowheads="1"/>
            </p:cNvSpPr>
            <p:nvPr/>
          </p:nvSpPr>
          <p:spPr bwMode="auto">
            <a:xfrm>
              <a:off x="2153" y="1873"/>
              <a:ext cx="161" cy="192"/>
            </a:xfrm>
            <a:prstGeom prst="rect">
              <a:avLst/>
            </a:prstGeom>
            <a:noFill/>
            <a:ln w="9525">
              <a:noFill/>
              <a:miter lim="800000"/>
            </a:ln>
          </p:spPr>
          <p:txBody>
            <a:bodyPr wrap="none" lIns="0" tIns="0" rIns="0" bIns="0">
              <a:spAutoFit/>
            </a:bodyPr>
            <a:lstStyle/>
            <a:p>
              <a:pPr algn="ctr" eaLnBrk="1" hangingPunct="1">
                <a:defRPr/>
              </a:pPr>
              <a:r>
                <a:rPr lang="zh-CN" altLang="en-US" sz="2000" b="1">
                  <a:latin typeface="宋体" panose="02010600030101010101" pitchFamily="2" charset="-122"/>
                  <a:ea typeface="宋体" panose="02010600030101010101" pitchFamily="2" charset="-122"/>
                </a:rPr>
                <a:t>线</a:t>
              </a:r>
              <a:endParaRPr lang="zh-CN" altLang="en-US" sz="1600" b="1">
                <a:effectLst>
                  <a:outerShdw blurRad="38100" dist="38100" dir="2700000" algn="tl">
                    <a:srgbClr val="C0C0C0"/>
                  </a:outerShdw>
                </a:effectLst>
                <a:ea typeface="方正准圆简体" pitchFamily="2" charset="-122"/>
              </a:endParaRPr>
            </a:p>
          </p:txBody>
        </p:sp>
        <p:sp>
          <p:nvSpPr>
            <p:cNvPr id="23626" name="Rectangle 34"/>
            <p:cNvSpPr>
              <a:spLocks noChangeArrowheads="1"/>
            </p:cNvSpPr>
            <p:nvPr/>
          </p:nvSpPr>
          <p:spPr bwMode="auto">
            <a:xfrm>
              <a:off x="896" y="2473"/>
              <a:ext cx="1031" cy="561"/>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27" name="Rectangle 35"/>
            <p:cNvSpPr>
              <a:spLocks noChangeArrowheads="1"/>
            </p:cNvSpPr>
            <p:nvPr/>
          </p:nvSpPr>
          <p:spPr bwMode="auto">
            <a:xfrm>
              <a:off x="896" y="2473"/>
              <a:ext cx="1031" cy="561"/>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a:latin typeface="楷体" panose="02010609060101010101" pitchFamily="49" charset="-122"/>
                <a:ea typeface="楷体" panose="02010609060101010101" pitchFamily="49" charset="-122"/>
              </a:endParaRPr>
            </a:p>
          </p:txBody>
        </p:sp>
        <p:sp>
          <p:nvSpPr>
            <p:cNvPr id="81956" name="Rectangle 36"/>
            <p:cNvSpPr>
              <a:spLocks noChangeArrowheads="1"/>
            </p:cNvSpPr>
            <p:nvPr/>
          </p:nvSpPr>
          <p:spPr bwMode="auto">
            <a:xfrm>
              <a:off x="1097" y="2663"/>
              <a:ext cx="175" cy="182"/>
            </a:xfrm>
            <a:prstGeom prst="rect">
              <a:avLst/>
            </a:prstGeom>
            <a:noFill/>
            <a:ln w="9525">
              <a:noFill/>
              <a:miter lim="800000"/>
            </a:ln>
          </p:spPr>
          <p:txBody>
            <a:bodyPr wrap="none" lIns="0" tIns="0" rIns="0" bIns="0">
              <a:spAutoFit/>
            </a:bodyPr>
            <a:lstStyle/>
            <a:p>
              <a:pPr algn="ctr" eaLnBrk="1" hangingPunct="1">
                <a:defRPr/>
              </a:pPr>
              <a:r>
                <a:rPr lang="en-US" altLang="zh-CN" sz="2000">
                  <a:solidFill>
                    <a:srgbClr val="000000"/>
                  </a:solidFill>
                  <a:latin typeface="宋体" panose="02010600030101010101" pitchFamily="2" charset="-122"/>
                  <a:ea typeface="宋体" panose="02010600030101010101" pitchFamily="2" charset="-122"/>
                </a:rPr>
                <a:t>I</a:t>
              </a:r>
              <a:endParaRPr lang="en-US" altLang="zh-CN" sz="1600">
                <a:effectLst>
                  <a:outerShdw blurRad="38100" dist="38100" dir="2700000" algn="tl">
                    <a:srgbClr val="C0C0C0"/>
                  </a:outerShdw>
                </a:effectLst>
                <a:ea typeface="方正准圆简体" pitchFamily="2" charset="-122"/>
              </a:endParaRPr>
            </a:p>
          </p:txBody>
        </p:sp>
        <p:sp>
          <p:nvSpPr>
            <p:cNvPr id="81957" name="Rectangle 37"/>
            <p:cNvSpPr>
              <a:spLocks noChangeArrowheads="1"/>
            </p:cNvSpPr>
            <p:nvPr/>
          </p:nvSpPr>
          <p:spPr bwMode="auto">
            <a:xfrm>
              <a:off x="1184" y="2663"/>
              <a:ext cx="175" cy="182"/>
            </a:xfrm>
            <a:prstGeom prst="rect">
              <a:avLst/>
            </a:prstGeom>
            <a:noFill/>
            <a:ln w="9525">
              <a:noFill/>
              <a:miter lim="800000"/>
            </a:ln>
          </p:spPr>
          <p:txBody>
            <a:bodyPr wrap="none" lIns="0" tIns="0" rIns="0" bIns="0">
              <a:spAutoFit/>
            </a:bodyPr>
            <a:lstStyle/>
            <a:p>
              <a:pPr algn="ctr" eaLnBrk="1" hangingPunct="1">
                <a:defRPr/>
              </a:pPr>
              <a:r>
                <a:rPr lang="en-US" altLang="zh-CN" sz="2000">
                  <a:solidFill>
                    <a:srgbClr val="000000"/>
                  </a:solidFill>
                  <a:latin typeface="宋体" panose="02010600030101010101" pitchFamily="2" charset="-122"/>
                  <a:ea typeface="宋体" panose="02010600030101010101" pitchFamily="2" charset="-122"/>
                </a:rPr>
                <a:t>/</a:t>
              </a:r>
              <a:endParaRPr lang="en-US" altLang="zh-CN" sz="1600">
                <a:effectLst>
                  <a:outerShdw blurRad="38100" dist="38100" dir="2700000" algn="tl">
                    <a:srgbClr val="C0C0C0"/>
                  </a:outerShdw>
                </a:effectLst>
                <a:ea typeface="方正准圆简体" pitchFamily="2" charset="-122"/>
              </a:endParaRPr>
            </a:p>
          </p:txBody>
        </p:sp>
        <p:sp>
          <p:nvSpPr>
            <p:cNvPr id="81958" name="Rectangle 38"/>
            <p:cNvSpPr>
              <a:spLocks noChangeArrowheads="1"/>
            </p:cNvSpPr>
            <p:nvPr/>
          </p:nvSpPr>
          <p:spPr bwMode="auto">
            <a:xfrm>
              <a:off x="1272" y="2663"/>
              <a:ext cx="175" cy="182"/>
            </a:xfrm>
            <a:prstGeom prst="rect">
              <a:avLst/>
            </a:prstGeom>
            <a:noFill/>
            <a:ln w="9525">
              <a:noFill/>
              <a:miter lim="800000"/>
            </a:ln>
          </p:spPr>
          <p:txBody>
            <a:bodyPr wrap="none" lIns="0" tIns="0" rIns="0" bIns="0">
              <a:spAutoFit/>
            </a:bodyPr>
            <a:lstStyle/>
            <a:p>
              <a:pPr algn="ctr" eaLnBrk="1" hangingPunct="1">
                <a:defRPr/>
              </a:pPr>
              <a:r>
                <a:rPr lang="en-US" altLang="zh-CN" sz="2000" dirty="0">
                  <a:solidFill>
                    <a:srgbClr val="000000"/>
                  </a:solidFill>
                  <a:latin typeface="宋体" panose="02010600030101010101" pitchFamily="2" charset="-122"/>
                  <a:ea typeface="宋体" panose="02010600030101010101" pitchFamily="2" charset="-122"/>
                </a:rPr>
                <a:t>O</a:t>
              </a:r>
              <a:endParaRPr lang="en-US" altLang="zh-CN" sz="1600" dirty="0">
                <a:effectLst>
                  <a:outerShdw blurRad="38100" dist="38100" dir="2700000" algn="tl">
                    <a:srgbClr val="C0C0C0"/>
                  </a:outerShdw>
                </a:effectLst>
                <a:ea typeface="方正准圆简体" pitchFamily="2" charset="-122"/>
              </a:endParaRPr>
            </a:p>
          </p:txBody>
        </p:sp>
        <p:sp>
          <p:nvSpPr>
            <p:cNvPr id="81959" name="Rectangle 39"/>
            <p:cNvSpPr>
              <a:spLocks noChangeArrowheads="1"/>
            </p:cNvSpPr>
            <p:nvPr/>
          </p:nvSpPr>
          <p:spPr bwMode="auto">
            <a:xfrm>
              <a:off x="1359" y="2663"/>
              <a:ext cx="262" cy="182"/>
            </a:xfrm>
            <a:prstGeom prst="rect">
              <a:avLst/>
            </a:prstGeom>
            <a:noFill/>
            <a:ln w="9525">
              <a:noFill/>
              <a:miter lim="800000"/>
            </a:ln>
          </p:spPr>
          <p:txBody>
            <a:bodyPr wrap="none" lIns="0" tIns="0" rIns="0" bIns="0">
              <a:spAutoFit/>
            </a:bodyPr>
            <a:lstStyle/>
            <a:p>
              <a:pPr algn="ctr" eaLnBrk="1" hangingPunct="1">
                <a:defRPr/>
              </a:pPr>
              <a:r>
                <a:rPr lang="zh-CN" altLang="en-US" sz="2000">
                  <a:solidFill>
                    <a:srgbClr val="000000"/>
                  </a:solidFill>
                  <a:latin typeface="宋体" panose="02010600030101010101" pitchFamily="2" charset="-122"/>
                  <a:ea typeface="宋体" panose="02010600030101010101" pitchFamily="2" charset="-122"/>
                </a:rPr>
                <a:t>接</a:t>
              </a:r>
              <a:endParaRPr lang="zh-CN" altLang="en-US" sz="1600">
                <a:effectLst>
                  <a:outerShdw blurRad="38100" dist="38100" dir="2700000" algn="tl">
                    <a:srgbClr val="C0C0C0"/>
                  </a:outerShdw>
                </a:effectLst>
                <a:ea typeface="方正准圆简体" pitchFamily="2" charset="-122"/>
              </a:endParaRPr>
            </a:p>
          </p:txBody>
        </p:sp>
        <p:sp>
          <p:nvSpPr>
            <p:cNvPr id="81960" name="Rectangle 40"/>
            <p:cNvSpPr>
              <a:spLocks noChangeArrowheads="1"/>
            </p:cNvSpPr>
            <p:nvPr/>
          </p:nvSpPr>
          <p:spPr bwMode="auto">
            <a:xfrm>
              <a:off x="1543" y="2663"/>
              <a:ext cx="262" cy="182"/>
            </a:xfrm>
            <a:prstGeom prst="rect">
              <a:avLst/>
            </a:prstGeom>
            <a:noFill/>
            <a:ln w="9525">
              <a:noFill/>
              <a:miter lim="800000"/>
            </a:ln>
          </p:spPr>
          <p:txBody>
            <a:bodyPr wrap="none" lIns="0" tIns="0" rIns="0" bIns="0">
              <a:spAutoFit/>
            </a:bodyPr>
            <a:lstStyle/>
            <a:p>
              <a:pPr algn="ctr" eaLnBrk="1" hangingPunct="1">
                <a:defRPr/>
              </a:pPr>
              <a:r>
                <a:rPr lang="zh-CN" altLang="en-US" sz="2000" dirty="0">
                  <a:solidFill>
                    <a:srgbClr val="000000"/>
                  </a:solidFill>
                  <a:latin typeface="宋体" panose="02010600030101010101" pitchFamily="2" charset="-122"/>
                  <a:ea typeface="宋体" panose="02010600030101010101" pitchFamily="2" charset="-122"/>
                </a:rPr>
                <a:t>口</a:t>
              </a:r>
              <a:endParaRPr lang="zh-CN" altLang="en-US" sz="1600" dirty="0">
                <a:effectLst>
                  <a:outerShdw blurRad="38100" dist="38100" dir="2700000" algn="tl">
                    <a:srgbClr val="C0C0C0"/>
                  </a:outerShdw>
                </a:effectLst>
                <a:ea typeface="方正准圆简体" pitchFamily="2" charset="-122"/>
              </a:endParaRPr>
            </a:p>
          </p:txBody>
        </p:sp>
        <p:sp>
          <p:nvSpPr>
            <p:cNvPr id="23633" name="Freeform 41"/>
            <p:cNvSpPr/>
            <p:nvPr/>
          </p:nvSpPr>
          <p:spPr bwMode="auto">
            <a:xfrm>
              <a:off x="1307" y="2133"/>
              <a:ext cx="166" cy="340"/>
            </a:xfrm>
            <a:custGeom>
              <a:avLst/>
              <a:gdLst>
                <a:gd name="T0" fmla="*/ 87 w 166"/>
                <a:gd name="T1" fmla="*/ 340 h 340"/>
                <a:gd name="T2" fmla="*/ 0 w 166"/>
                <a:gd name="T3" fmla="*/ 269 h 340"/>
                <a:gd name="T4" fmla="*/ 52 w 166"/>
                <a:gd name="T5" fmla="*/ 269 h 340"/>
                <a:gd name="T6" fmla="*/ 52 w 166"/>
                <a:gd name="T7" fmla="*/ 79 h 340"/>
                <a:gd name="T8" fmla="*/ 0 w 166"/>
                <a:gd name="T9" fmla="*/ 79 h 340"/>
                <a:gd name="T10" fmla="*/ 87 w 166"/>
                <a:gd name="T11" fmla="*/ 0 h 340"/>
                <a:gd name="T12" fmla="*/ 166 w 166"/>
                <a:gd name="T13" fmla="*/ 79 h 340"/>
                <a:gd name="T14" fmla="*/ 113 w 166"/>
                <a:gd name="T15" fmla="*/ 79 h 340"/>
                <a:gd name="T16" fmla="*/ 113 w 166"/>
                <a:gd name="T17" fmla="*/ 269 h 340"/>
                <a:gd name="T18" fmla="*/ 166 w 166"/>
                <a:gd name="T19" fmla="*/ 269 h 340"/>
                <a:gd name="T20" fmla="*/ 87 w 166"/>
                <a:gd name="T21" fmla="*/ 340 h 3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340"/>
                <a:gd name="T35" fmla="*/ 166 w 166"/>
                <a:gd name="T36" fmla="*/ 340 h 3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340">
                  <a:moveTo>
                    <a:pt x="87" y="340"/>
                  </a:moveTo>
                  <a:lnTo>
                    <a:pt x="0" y="269"/>
                  </a:lnTo>
                  <a:lnTo>
                    <a:pt x="52" y="269"/>
                  </a:lnTo>
                  <a:lnTo>
                    <a:pt x="52" y="79"/>
                  </a:lnTo>
                  <a:lnTo>
                    <a:pt x="0" y="79"/>
                  </a:lnTo>
                  <a:lnTo>
                    <a:pt x="87" y="0"/>
                  </a:lnTo>
                  <a:lnTo>
                    <a:pt x="166" y="79"/>
                  </a:lnTo>
                  <a:lnTo>
                    <a:pt x="113" y="79"/>
                  </a:lnTo>
                  <a:lnTo>
                    <a:pt x="113" y="269"/>
                  </a:lnTo>
                  <a:lnTo>
                    <a:pt x="166" y="269"/>
                  </a:lnTo>
                  <a:lnTo>
                    <a:pt x="87" y="340"/>
                  </a:lnTo>
                  <a:close/>
                </a:path>
              </a:pathLst>
            </a:custGeom>
            <a:solidFill>
              <a:srgbClr val="FFCC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3634" name="Freeform 42"/>
            <p:cNvSpPr/>
            <p:nvPr/>
          </p:nvSpPr>
          <p:spPr bwMode="auto">
            <a:xfrm>
              <a:off x="1307" y="2133"/>
              <a:ext cx="166" cy="340"/>
            </a:xfrm>
            <a:custGeom>
              <a:avLst/>
              <a:gdLst>
                <a:gd name="T0" fmla="*/ 87 w 166"/>
                <a:gd name="T1" fmla="*/ 340 h 340"/>
                <a:gd name="T2" fmla="*/ 0 w 166"/>
                <a:gd name="T3" fmla="*/ 269 h 340"/>
                <a:gd name="T4" fmla="*/ 52 w 166"/>
                <a:gd name="T5" fmla="*/ 269 h 340"/>
                <a:gd name="T6" fmla="*/ 52 w 166"/>
                <a:gd name="T7" fmla="*/ 79 h 340"/>
                <a:gd name="T8" fmla="*/ 0 w 166"/>
                <a:gd name="T9" fmla="*/ 79 h 340"/>
                <a:gd name="T10" fmla="*/ 87 w 166"/>
                <a:gd name="T11" fmla="*/ 0 h 340"/>
                <a:gd name="T12" fmla="*/ 166 w 166"/>
                <a:gd name="T13" fmla="*/ 79 h 340"/>
                <a:gd name="T14" fmla="*/ 113 w 166"/>
                <a:gd name="T15" fmla="*/ 79 h 340"/>
                <a:gd name="T16" fmla="*/ 113 w 166"/>
                <a:gd name="T17" fmla="*/ 269 h 340"/>
                <a:gd name="T18" fmla="*/ 166 w 166"/>
                <a:gd name="T19" fmla="*/ 269 h 340"/>
                <a:gd name="T20" fmla="*/ 87 w 166"/>
                <a:gd name="T21" fmla="*/ 340 h 3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340"/>
                <a:gd name="T35" fmla="*/ 166 w 166"/>
                <a:gd name="T36" fmla="*/ 340 h 3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340">
                  <a:moveTo>
                    <a:pt x="87" y="340"/>
                  </a:moveTo>
                  <a:lnTo>
                    <a:pt x="0" y="269"/>
                  </a:lnTo>
                  <a:lnTo>
                    <a:pt x="52" y="269"/>
                  </a:lnTo>
                  <a:lnTo>
                    <a:pt x="52" y="79"/>
                  </a:lnTo>
                  <a:lnTo>
                    <a:pt x="0" y="79"/>
                  </a:lnTo>
                  <a:lnTo>
                    <a:pt x="87" y="0"/>
                  </a:lnTo>
                  <a:lnTo>
                    <a:pt x="166" y="79"/>
                  </a:lnTo>
                  <a:lnTo>
                    <a:pt x="113" y="79"/>
                  </a:lnTo>
                  <a:lnTo>
                    <a:pt x="113" y="269"/>
                  </a:lnTo>
                  <a:lnTo>
                    <a:pt x="166" y="269"/>
                  </a:lnTo>
                  <a:lnTo>
                    <a:pt x="87" y="340"/>
                  </a:lnTo>
                  <a:close/>
                </a:path>
              </a:pathLst>
            </a:custGeom>
            <a:noFill/>
            <a:ln w="14288">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35" name="Rectangle 43"/>
            <p:cNvSpPr>
              <a:spLocks noChangeArrowheads="1"/>
            </p:cNvSpPr>
            <p:nvPr/>
          </p:nvSpPr>
          <p:spPr bwMode="auto">
            <a:xfrm>
              <a:off x="2469" y="2473"/>
              <a:ext cx="1031" cy="561"/>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a:latin typeface="楷体" panose="02010609060101010101" pitchFamily="49" charset="-122"/>
                <a:ea typeface="楷体" panose="02010609060101010101" pitchFamily="49" charset="-122"/>
              </a:endParaRPr>
            </a:p>
          </p:txBody>
        </p:sp>
        <p:sp>
          <p:nvSpPr>
            <p:cNvPr id="23636" name="Rectangle 44"/>
            <p:cNvSpPr>
              <a:spLocks noChangeArrowheads="1"/>
            </p:cNvSpPr>
            <p:nvPr/>
          </p:nvSpPr>
          <p:spPr bwMode="auto">
            <a:xfrm>
              <a:off x="2469" y="2473"/>
              <a:ext cx="1031" cy="561"/>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65" name="Rectangle 45"/>
            <p:cNvSpPr>
              <a:spLocks noChangeArrowheads="1"/>
            </p:cNvSpPr>
            <p:nvPr/>
          </p:nvSpPr>
          <p:spPr bwMode="auto">
            <a:xfrm>
              <a:off x="2670" y="2663"/>
              <a:ext cx="175" cy="182"/>
            </a:xfrm>
            <a:prstGeom prst="rect">
              <a:avLst/>
            </a:prstGeom>
            <a:noFill/>
            <a:ln w="9525">
              <a:noFill/>
              <a:miter lim="800000"/>
            </a:ln>
          </p:spPr>
          <p:txBody>
            <a:bodyPr wrap="none" lIns="0" tIns="0" rIns="0" bIns="0">
              <a:spAutoFit/>
            </a:bodyPr>
            <a:lstStyle/>
            <a:p>
              <a:pPr algn="ctr" eaLnBrk="1" hangingPunct="1">
                <a:defRPr/>
              </a:pPr>
              <a:r>
                <a:rPr lang="en-US" altLang="zh-CN" sz="2000">
                  <a:solidFill>
                    <a:srgbClr val="000000"/>
                  </a:solidFill>
                  <a:latin typeface="宋体" panose="02010600030101010101" pitchFamily="2" charset="-122"/>
                  <a:ea typeface="宋体" panose="02010600030101010101" pitchFamily="2" charset="-122"/>
                </a:rPr>
                <a:t>I</a:t>
              </a:r>
              <a:endParaRPr lang="en-US" altLang="zh-CN" sz="1600">
                <a:effectLst>
                  <a:outerShdw blurRad="38100" dist="38100" dir="2700000" algn="tl">
                    <a:srgbClr val="C0C0C0"/>
                  </a:outerShdw>
                </a:effectLst>
                <a:ea typeface="方正准圆简体" pitchFamily="2" charset="-122"/>
              </a:endParaRPr>
            </a:p>
          </p:txBody>
        </p:sp>
        <p:sp>
          <p:nvSpPr>
            <p:cNvPr id="81966" name="Rectangle 46"/>
            <p:cNvSpPr>
              <a:spLocks noChangeArrowheads="1"/>
            </p:cNvSpPr>
            <p:nvPr/>
          </p:nvSpPr>
          <p:spPr bwMode="auto">
            <a:xfrm>
              <a:off x="2758" y="2663"/>
              <a:ext cx="175" cy="182"/>
            </a:xfrm>
            <a:prstGeom prst="rect">
              <a:avLst/>
            </a:prstGeom>
            <a:noFill/>
            <a:ln w="9525">
              <a:noFill/>
              <a:miter lim="800000"/>
            </a:ln>
          </p:spPr>
          <p:txBody>
            <a:bodyPr wrap="none" lIns="0" tIns="0" rIns="0" bIns="0">
              <a:spAutoFit/>
            </a:bodyPr>
            <a:lstStyle/>
            <a:p>
              <a:pPr algn="ctr" eaLnBrk="1" hangingPunct="1">
                <a:defRPr/>
              </a:pPr>
              <a:r>
                <a:rPr lang="en-US" altLang="zh-CN" sz="2000" dirty="0">
                  <a:solidFill>
                    <a:srgbClr val="000000"/>
                  </a:solidFill>
                  <a:latin typeface="宋体" panose="02010600030101010101" pitchFamily="2" charset="-122"/>
                  <a:ea typeface="宋体" panose="02010600030101010101" pitchFamily="2" charset="-122"/>
                </a:rPr>
                <a:t>/</a:t>
              </a:r>
              <a:endParaRPr lang="en-US" altLang="zh-CN" sz="1600" dirty="0">
                <a:effectLst>
                  <a:outerShdw blurRad="38100" dist="38100" dir="2700000" algn="tl">
                    <a:srgbClr val="C0C0C0"/>
                  </a:outerShdw>
                </a:effectLst>
                <a:ea typeface="方正准圆简体" pitchFamily="2" charset="-122"/>
              </a:endParaRPr>
            </a:p>
          </p:txBody>
        </p:sp>
        <p:sp>
          <p:nvSpPr>
            <p:cNvPr id="81967" name="Rectangle 47"/>
            <p:cNvSpPr>
              <a:spLocks noChangeArrowheads="1"/>
            </p:cNvSpPr>
            <p:nvPr/>
          </p:nvSpPr>
          <p:spPr bwMode="auto">
            <a:xfrm>
              <a:off x="2845" y="2663"/>
              <a:ext cx="175" cy="182"/>
            </a:xfrm>
            <a:prstGeom prst="rect">
              <a:avLst/>
            </a:prstGeom>
            <a:noFill/>
            <a:ln w="9525">
              <a:noFill/>
              <a:miter lim="800000"/>
            </a:ln>
          </p:spPr>
          <p:txBody>
            <a:bodyPr wrap="none" lIns="0" tIns="0" rIns="0" bIns="0">
              <a:spAutoFit/>
            </a:bodyPr>
            <a:lstStyle/>
            <a:p>
              <a:pPr algn="ctr" eaLnBrk="1" hangingPunct="1">
                <a:defRPr/>
              </a:pPr>
              <a:r>
                <a:rPr lang="en-US" altLang="zh-CN" sz="2000">
                  <a:solidFill>
                    <a:srgbClr val="000000"/>
                  </a:solidFill>
                  <a:latin typeface="宋体" panose="02010600030101010101" pitchFamily="2" charset="-122"/>
                  <a:ea typeface="宋体" panose="02010600030101010101" pitchFamily="2" charset="-122"/>
                </a:rPr>
                <a:t>O</a:t>
              </a:r>
              <a:endParaRPr lang="en-US" altLang="zh-CN" sz="1600">
                <a:effectLst>
                  <a:outerShdw blurRad="38100" dist="38100" dir="2700000" algn="tl">
                    <a:srgbClr val="C0C0C0"/>
                  </a:outerShdw>
                </a:effectLst>
                <a:ea typeface="方正准圆简体" pitchFamily="2" charset="-122"/>
              </a:endParaRPr>
            </a:p>
          </p:txBody>
        </p:sp>
        <p:sp>
          <p:nvSpPr>
            <p:cNvPr id="81968" name="Rectangle 48"/>
            <p:cNvSpPr>
              <a:spLocks noChangeArrowheads="1"/>
            </p:cNvSpPr>
            <p:nvPr/>
          </p:nvSpPr>
          <p:spPr bwMode="auto">
            <a:xfrm>
              <a:off x="2941" y="2663"/>
              <a:ext cx="262" cy="182"/>
            </a:xfrm>
            <a:prstGeom prst="rect">
              <a:avLst/>
            </a:prstGeom>
            <a:noFill/>
            <a:ln w="9525">
              <a:noFill/>
              <a:miter lim="800000"/>
            </a:ln>
          </p:spPr>
          <p:txBody>
            <a:bodyPr wrap="none" lIns="0" tIns="0" rIns="0" bIns="0">
              <a:spAutoFit/>
            </a:bodyPr>
            <a:lstStyle/>
            <a:p>
              <a:pPr algn="ctr" eaLnBrk="1" hangingPunct="1">
                <a:defRPr/>
              </a:pPr>
              <a:r>
                <a:rPr lang="zh-CN" altLang="en-US" sz="2000" dirty="0">
                  <a:solidFill>
                    <a:srgbClr val="000000"/>
                  </a:solidFill>
                  <a:latin typeface="宋体" panose="02010600030101010101" pitchFamily="2" charset="-122"/>
                  <a:ea typeface="宋体" panose="02010600030101010101" pitchFamily="2" charset="-122"/>
                </a:rPr>
                <a:t>接</a:t>
              </a:r>
              <a:endParaRPr lang="zh-CN" altLang="en-US" sz="1600" dirty="0">
                <a:effectLst>
                  <a:outerShdw blurRad="38100" dist="38100" dir="2700000" algn="tl">
                    <a:srgbClr val="C0C0C0"/>
                  </a:outerShdw>
                </a:effectLst>
                <a:ea typeface="方正准圆简体" pitchFamily="2" charset="-122"/>
              </a:endParaRPr>
            </a:p>
          </p:txBody>
        </p:sp>
        <p:sp>
          <p:nvSpPr>
            <p:cNvPr id="81969" name="Rectangle 49"/>
            <p:cNvSpPr>
              <a:spLocks noChangeArrowheads="1"/>
            </p:cNvSpPr>
            <p:nvPr/>
          </p:nvSpPr>
          <p:spPr bwMode="auto">
            <a:xfrm>
              <a:off x="3116" y="2663"/>
              <a:ext cx="262" cy="182"/>
            </a:xfrm>
            <a:prstGeom prst="rect">
              <a:avLst/>
            </a:prstGeom>
            <a:noFill/>
            <a:ln w="9525">
              <a:noFill/>
              <a:miter lim="800000"/>
            </a:ln>
          </p:spPr>
          <p:txBody>
            <a:bodyPr wrap="none" lIns="0" tIns="0" rIns="0" bIns="0">
              <a:spAutoFit/>
            </a:bodyPr>
            <a:lstStyle/>
            <a:p>
              <a:pPr algn="ctr" eaLnBrk="1" hangingPunct="1">
                <a:defRPr/>
              </a:pPr>
              <a:r>
                <a:rPr lang="zh-CN" altLang="en-US" sz="2000" dirty="0">
                  <a:solidFill>
                    <a:srgbClr val="000000"/>
                  </a:solidFill>
                  <a:latin typeface="宋体" panose="02010600030101010101" pitchFamily="2" charset="-122"/>
                  <a:ea typeface="宋体" panose="02010600030101010101" pitchFamily="2" charset="-122"/>
                </a:rPr>
                <a:t>口</a:t>
              </a:r>
              <a:endParaRPr lang="zh-CN" altLang="en-US" sz="1600" dirty="0">
                <a:effectLst>
                  <a:outerShdw blurRad="38100" dist="38100" dir="2700000" algn="tl">
                    <a:srgbClr val="C0C0C0"/>
                  </a:outerShdw>
                </a:effectLst>
                <a:ea typeface="方正准圆简体" pitchFamily="2" charset="-122"/>
              </a:endParaRPr>
            </a:p>
          </p:txBody>
        </p:sp>
        <p:sp>
          <p:nvSpPr>
            <p:cNvPr id="23642" name="Freeform 50"/>
            <p:cNvSpPr/>
            <p:nvPr/>
          </p:nvSpPr>
          <p:spPr bwMode="auto">
            <a:xfrm>
              <a:off x="2880" y="2133"/>
              <a:ext cx="166" cy="340"/>
            </a:xfrm>
            <a:custGeom>
              <a:avLst/>
              <a:gdLst>
                <a:gd name="T0" fmla="*/ 87 w 166"/>
                <a:gd name="T1" fmla="*/ 340 h 340"/>
                <a:gd name="T2" fmla="*/ 0 w 166"/>
                <a:gd name="T3" fmla="*/ 269 h 340"/>
                <a:gd name="T4" fmla="*/ 52 w 166"/>
                <a:gd name="T5" fmla="*/ 269 h 340"/>
                <a:gd name="T6" fmla="*/ 52 w 166"/>
                <a:gd name="T7" fmla="*/ 79 h 340"/>
                <a:gd name="T8" fmla="*/ 0 w 166"/>
                <a:gd name="T9" fmla="*/ 79 h 340"/>
                <a:gd name="T10" fmla="*/ 87 w 166"/>
                <a:gd name="T11" fmla="*/ 0 h 340"/>
                <a:gd name="T12" fmla="*/ 166 w 166"/>
                <a:gd name="T13" fmla="*/ 79 h 340"/>
                <a:gd name="T14" fmla="*/ 114 w 166"/>
                <a:gd name="T15" fmla="*/ 79 h 340"/>
                <a:gd name="T16" fmla="*/ 114 w 166"/>
                <a:gd name="T17" fmla="*/ 269 h 340"/>
                <a:gd name="T18" fmla="*/ 166 w 166"/>
                <a:gd name="T19" fmla="*/ 269 h 340"/>
                <a:gd name="T20" fmla="*/ 87 w 166"/>
                <a:gd name="T21" fmla="*/ 340 h 3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340"/>
                <a:gd name="T35" fmla="*/ 166 w 166"/>
                <a:gd name="T36" fmla="*/ 340 h 3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340">
                  <a:moveTo>
                    <a:pt x="87" y="340"/>
                  </a:moveTo>
                  <a:lnTo>
                    <a:pt x="0" y="269"/>
                  </a:lnTo>
                  <a:lnTo>
                    <a:pt x="52" y="269"/>
                  </a:lnTo>
                  <a:lnTo>
                    <a:pt x="52" y="79"/>
                  </a:lnTo>
                  <a:lnTo>
                    <a:pt x="0" y="79"/>
                  </a:lnTo>
                  <a:lnTo>
                    <a:pt x="87" y="0"/>
                  </a:lnTo>
                  <a:lnTo>
                    <a:pt x="166" y="79"/>
                  </a:lnTo>
                  <a:lnTo>
                    <a:pt x="114" y="79"/>
                  </a:lnTo>
                  <a:lnTo>
                    <a:pt x="114" y="269"/>
                  </a:lnTo>
                  <a:lnTo>
                    <a:pt x="166" y="269"/>
                  </a:lnTo>
                  <a:lnTo>
                    <a:pt x="87" y="340"/>
                  </a:lnTo>
                  <a:close/>
                </a:path>
              </a:pathLst>
            </a:custGeom>
            <a:solidFill>
              <a:srgbClr val="FFCC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3643" name="Freeform 51"/>
            <p:cNvSpPr/>
            <p:nvPr/>
          </p:nvSpPr>
          <p:spPr bwMode="auto">
            <a:xfrm>
              <a:off x="2880" y="2133"/>
              <a:ext cx="166" cy="340"/>
            </a:xfrm>
            <a:custGeom>
              <a:avLst/>
              <a:gdLst>
                <a:gd name="T0" fmla="*/ 87 w 166"/>
                <a:gd name="T1" fmla="*/ 340 h 340"/>
                <a:gd name="T2" fmla="*/ 0 w 166"/>
                <a:gd name="T3" fmla="*/ 269 h 340"/>
                <a:gd name="T4" fmla="*/ 52 w 166"/>
                <a:gd name="T5" fmla="*/ 269 h 340"/>
                <a:gd name="T6" fmla="*/ 52 w 166"/>
                <a:gd name="T7" fmla="*/ 79 h 340"/>
                <a:gd name="T8" fmla="*/ 0 w 166"/>
                <a:gd name="T9" fmla="*/ 79 h 340"/>
                <a:gd name="T10" fmla="*/ 87 w 166"/>
                <a:gd name="T11" fmla="*/ 0 h 340"/>
                <a:gd name="T12" fmla="*/ 166 w 166"/>
                <a:gd name="T13" fmla="*/ 79 h 340"/>
                <a:gd name="T14" fmla="*/ 114 w 166"/>
                <a:gd name="T15" fmla="*/ 79 h 340"/>
                <a:gd name="T16" fmla="*/ 114 w 166"/>
                <a:gd name="T17" fmla="*/ 269 h 340"/>
                <a:gd name="T18" fmla="*/ 166 w 166"/>
                <a:gd name="T19" fmla="*/ 269 h 340"/>
                <a:gd name="T20" fmla="*/ 87 w 166"/>
                <a:gd name="T21" fmla="*/ 340 h 3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340"/>
                <a:gd name="T35" fmla="*/ 166 w 166"/>
                <a:gd name="T36" fmla="*/ 340 h 3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340">
                  <a:moveTo>
                    <a:pt x="87" y="340"/>
                  </a:moveTo>
                  <a:lnTo>
                    <a:pt x="0" y="269"/>
                  </a:lnTo>
                  <a:lnTo>
                    <a:pt x="52" y="269"/>
                  </a:lnTo>
                  <a:lnTo>
                    <a:pt x="52" y="79"/>
                  </a:lnTo>
                  <a:lnTo>
                    <a:pt x="0" y="79"/>
                  </a:lnTo>
                  <a:lnTo>
                    <a:pt x="87" y="0"/>
                  </a:lnTo>
                  <a:lnTo>
                    <a:pt x="166" y="79"/>
                  </a:lnTo>
                  <a:lnTo>
                    <a:pt x="114" y="79"/>
                  </a:lnTo>
                  <a:lnTo>
                    <a:pt x="114" y="269"/>
                  </a:lnTo>
                  <a:lnTo>
                    <a:pt x="166" y="269"/>
                  </a:lnTo>
                  <a:lnTo>
                    <a:pt x="87" y="340"/>
                  </a:lnTo>
                  <a:close/>
                </a:path>
              </a:pathLst>
            </a:custGeom>
            <a:noFill/>
            <a:ln w="14288">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44" name="Rectangle 52"/>
            <p:cNvSpPr>
              <a:spLocks noChangeArrowheads="1"/>
            </p:cNvSpPr>
            <p:nvPr/>
          </p:nvSpPr>
          <p:spPr bwMode="auto">
            <a:xfrm>
              <a:off x="4042" y="2473"/>
              <a:ext cx="1032" cy="561"/>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a:latin typeface="楷体" panose="02010609060101010101" pitchFamily="49" charset="-122"/>
                <a:ea typeface="楷体" panose="02010609060101010101" pitchFamily="49" charset="-122"/>
              </a:endParaRPr>
            </a:p>
          </p:txBody>
        </p:sp>
        <p:sp>
          <p:nvSpPr>
            <p:cNvPr id="23645" name="Rectangle 53"/>
            <p:cNvSpPr>
              <a:spLocks noChangeArrowheads="1"/>
            </p:cNvSpPr>
            <p:nvPr/>
          </p:nvSpPr>
          <p:spPr bwMode="auto">
            <a:xfrm>
              <a:off x="4042" y="2473"/>
              <a:ext cx="1032" cy="561"/>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74" name="Rectangle 54"/>
            <p:cNvSpPr>
              <a:spLocks noChangeArrowheads="1"/>
            </p:cNvSpPr>
            <p:nvPr/>
          </p:nvSpPr>
          <p:spPr bwMode="auto">
            <a:xfrm>
              <a:off x="4252" y="2663"/>
              <a:ext cx="175" cy="182"/>
            </a:xfrm>
            <a:prstGeom prst="rect">
              <a:avLst/>
            </a:prstGeom>
            <a:noFill/>
            <a:ln w="9525">
              <a:noFill/>
              <a:miter lim="800000"/>
            </a:ln>
          </p:spPr>
          <p:txBody>
            <a:bodyPr wrap="none" lIns="0" tIns="0" rIns="0" bIns="0">
              <a:spAutoFit/>
            </a:bodyPr>
            <a:lstStyle/>
            <a:p>
              <a:pPr algn="ctr" eaLnBrk="1" hangingPunct="1">
                <a:defRPr/>
              </a:pPr>
              <a:r>
                <a:rPr lang="en-US" altLang="zh-CN" sz="2000">
                  <a:solidFill>
                    <a:srgbClr val="000000"/>
                  </a:solidFill>
                  <a:latin typeface="宋体" panose="02010600030101010101" pitchFamily="2" charset="-122"/>
                  <a:ea typeface="宋体" panose="02010600030101010101" pitchFamily="2" charset="-122"/>
                </a:rPr>
                <a:t>I</a:t>
              </a:r>
              <a:endParaRPr lang="en-US" altLang="zh-CN" sz="1600">
                <a:effectLst>
                  <a:outerShdw blurRad="38100" dist="38100" dir="2700000" algn="tl">
                    <a:srgbClr val="C0C0C0"/>
                  </a:outerShdw>
                </a:effectLst>
                <a:ea typeface="方正准圆简体" pitchFamily="2" charset="-122"/>
              </a:endParaRPr>
            </a:p>
          </p:txBody>
        </p:sp>
        <p:sp>
          <p:nvSpPr>
            <p:cNvPr id="81975" name="Rectangle 55"/>
            <p:cNvSpPr>
              <a:spLocks noChangeArrowheads="1"/>
            </p:cNvSpPr>
            <p:nvPr/>
          </p:nvSpPr>
          <p:spPr bwMode="auto">
            <a:xfrm>
              <a:off x="4340" y="2663"/>
              <a:ext cx="175" cy="182"/>
            </a:xfrm>
            <a:prstGeom prst="rect">
              <a:avLst/>
            </a:prstGeom>
            <a:noFill/>
            <a:ln w="9525">
              <a:noFill/>
              <a:miter lim="800000"/>
            </a:ln>
          </p:spPr>
          <p:txBody>
            <a:bodyPr wrap="none" lIns="0" tIns="0" rIns="0" bIns="0">
              <a:spAutoFit/>
            </a:bodyPr>
            <a:lstStyle/>
            <a:p>
              <a:pPr algn="ctr" eaLnBrk="1" hangingPunct="1">
                <a:defRPr/>
              </a:pPr>
              <a:r>
                <a:rPr lang="en-US" altLang="zh-CN" sz="2000">
                  <a:solidFill>
                    <a:srgbClr val="000000"/>
                  </a:solidFill>
                  <a:latin typeface="宋体" panose="02010600030101010101" pitchFamily="2" charset="-122"/>
                  <a:ea typeface="宋体" panose="02010600030101010101" pitchFamily="2" charset="-122"/>
                </a:rPr>
                <a:t>/</a:t>
              </a:r>
              <a:endParaRPr lang="en-US" altLang="zh-CN" sz="1600">
                <a:effectLst>
                  <a:outerShdw blurRad="38100" dist="38100" dir="2700000" algn="tl">
                    <a:srgbClr val="C0C0C0"/>
                  </a:outerShdw>
                </a:effectLst>
                <a:ea typeface="方正准圆简体" pitchFamily="2" charset="-122"/>
              </a:endParaRPr>
            </a:p>
          </p:txBody>
        </p:sp>
        <p:sp>
          <p:nvSpPr>
            <p:cNvPr id="81976" name="Rectangle 56"/>
            <p:cNvSpPr>
              <a:spLocks noChangeArrowheads="1"/>
            </p:cNvSpPr>
            <p:nvPr/>
          </p:nvSpPr>
          <p:spPr bwMode="auto">
            <a:xfrm>
              <a:off x="4427" y="2663"/>
              <a:ext cx="175" cy="182"/>
            </a:xfrm>
            <a:prstGeom prst="rect">
              <a:avLst/>
            </a:prstGeom>
            <a:noFill/>
            <a:ln w="9525">
              <a:noFill/>
              <a:miter lim="800000"/>
            </a:ln>
          </p:spPr>
          <p:txBody>
            <a:bodyPr wrap="none" lIns="0" tIns="0" rIns="0" bIns="0">
              <a:spAutoFit/>
            </a:bodyPr>
            <a:lstStyle/>
            <a:p>
              <a:pPr algn="ctr" eaLnBrk="1" hangingPunct="1">
                <a:defRPr/>
              </a:pPr>
              <a:r>
                <a:rPr lang="en-US" altLang="zh-CN" sz="2000">
                  <a:solidFill>
                    <a:srgbClr val="000000"/>
                  </a:solidFill>
                  <a:latin typeface="宋体" panose="02010600030101010101" pitchFamily="2" charset="-122"/>
                  <a:ea typeface="宋体" panose="02010600030101010101" pitchFamily="2" charset="-122"/>
                </a:rPr>
                <a:t>O</a:t>
              </a:r>
              <a:endParaRPr lang="en-US" altLang="zh-CN" sz="1600">
                <a:effectLst>
                  <a:outerShdw blurRad="38100" dist="38100" dir="2700000" algn="tl">
                    <a:srgbClr val="C0C0C0"/>
                  </a:outerShdw>
                </a:effectLst>
                <a:ea typeface="方正准圆简体" pitchFamily="2" charset="-122"/>
              </a:endParaRPr>
            </a:p>
          </p:txBody>
        </p:sp>
        <p:sp>
          <p:nvSpPr>
            <p:cNvPr id="81977" name="Rectangle 57"/>
            <p:cNvSpPr>
              <a:spLocks noChangeArrowheads="1"/>
            </p:cNvSpPr>
            <p:nvPr/>
          </p:nvSpPr>
          <p:spPr bwMode="auto">
            <a:xfrm>
              <a:off x="4514" y="2663"/>
              <a:ext cx="262" cy="182"/>
            </a:xfrm>
            <a:prstGeom prst="rect">
              <a:avLst/>
            </a:prstGeom>
            <a:noFill/>
            <a:ln w="9525">
              <a:noFill/>
              <a:miter lim="800000"/>
            </a:ln>
          </p:spPr>
          <p:txBody>
            <a:bodyPr wrap="none" lIns="0" tIns="0" rIns="0" bIns="0">
              <a:spAutoFit/>
            </a:bodyPr>
            <a:lstStyle/>
            <a:p>
              <a:pPr algn="ctr" eaLnBrk="1" hangingPunct="1">
                <a:defRPr/>
              </a:pPr>
              <a:r>
                <a:rPr lang="zh-CN" altLang="en-US" sz="2000">
                  <a:solidFill>
                    <a:srgbClr val="000000"/>
                  </a:solidFill>
                  <a:latin typeface="宋体" panose="02010600030101010101" pitchFamily="2" charset="-122"/>
                  <a:ea typeface="宋体" panose="02010600030101010101" pitchFamily="2" charset="-122"/>
                </a:rPr>
                <a:t>接</a:t>
              </a:r>
              <a:endParaRPr lang="zh-CN" altLang="en-US" sz="1600">
                <a:effectLst>
                  <a:outerShdw blurRad="38100" dist="38100" dir="2700000" algn="tl">
                    <a:srgbClr val="C0C0C0"/>
                  </a:outerShdw>
                </a:effectLst>
                <a:ea typeface="方正准圆简体" pitchFamily="2" charset="-122"/>
              </a:endParaRPr>
            </a:p>
          </p:txBody>
        </p:sp>
        <p:sp>
          <p:nvSpPr>
            <p:cNvPr id="81978" name="Rectangle 58"/>
            <p:cNvSpPr>
              <a:spLocks noChangeArrowheads="1"/>
            </p:cNvSpPr>
            <p:nvPr/>
          </p:nvSpPr>
          <p:spPr bwMode="auto">
            <a:xfrm>
              <a:off x="4689" y="2663"/>
              <a:ext cx="262" cy="182"/>
            </a:xfrm>
            <a:prstGeom prst="rect">
              <a:avLst/>
            </a:prstGeom>
            <a:noFill/>
            <a:ln w="9525">
              <a:noFill/>
              <a:miter lim="800000"/>
            </a:ln>
          </p:spPr>
          <p:txBody>
            <a:bodyPr wrap="none" lIns="0" tIns="0" rIns="0" bIns="0">
              <a:spAutoFit/>
            </a:bodyPr>
            <a:lstStyle/>
            <a:p>
              <a:pPr algn="ctr" eaLnBrk="1" hangingPunct="1">
                <a:defRPr/>
              </a:pPr>
              <a:r>
                <a:rPr lang="zh-CN" altLang="en-US" sz="2000">
                  <a:solidFill>
                    <a:srgbClr val="000000"/>
                  </a:solidFill>
                  <a:latin typeface="宋体" panose="02010600030101010101" pitchFamily="2" charset="-122"/>
                  <a:ea typeface="宋体" panose="02010600030101010101" pitchFamily="2" charset="-122"/>
                </a:rPr>
                <a:t>口</a:t>
              </a:r>
              <a:endParaRPr lang="zh-CN" altLang="en-US" sz="1600">
                <a:effectLst>
                  <a:outerShdw blurRad="38100" dist="38100" dir="2700000" algn="tl">
                    <a:srgbClr val="C0C0C0"/>
                  </a:outerShdw>
                </a:effectLst>
                <a:ea typeface="方正准圆简体" pitchFamily="2" charset="-122"/>
              </a:endParaRPr>
            </a:p>
          </p:txBody>
        </p:sp>
        <p:sp>
          <p:nvSpPr>
            <p:cNvPr id="23651" name="Freeform 59"/>
            <p:cNvSpPr/>
            <p:nvPr/>
          </p:nvSpPr>
          <p:spPr bwMode="auto">
            <a:xfrm>
              <a:off x="4453" y="2133"/>
              <a:ext cx="166" cy="340"/>
            </a:xfrm>
            <a:custGeom>
              <a:avLst/>
              <a:gdLst>
                <a:gd name="T0" fmla="*/ 88 w 166"/>
                <a:gd name="T1" fmla="*/ 340 h 340"/>
                <a:gd name="T2" fmla="*/ 0 w 166"/>
                <a:gd name="T3" fmla="*/ 269 h 340"/>
                <a:gd name="T4" fmla="*/ 61 w 166"/>
                <a:gd name="T5" fmla="*/ 269 h 340"/>
                <a:gd name="T6" fmla="*/ 61 w 166"/>
                <a:gd name="T7" fmla="*/ 79 h 340"/>
                <a:gd name="T8" fmla="*/ 0 w 166"/>
                <a:gd name="T9" fmla="*/ 79 h 340"/>
                <a:gd name="T10" fmla="*/ 88 w 166"/>
                <a:gd name="T11" fmla="*/ 0 h 340"/>
                <a:gd name="T12" fmla="*/ 166 w 166"/>
                <a:gd name="T13" fmla="*/ 79 h 340"/>
                <a:gd name="T14" fmla="*/ 114 w 166"/>
                <a:gd name="T15" fmla="*/ 79 h 340"/>
                <a:gd name="T16" fmla="*/ 114 w 166"/>
                <a:gd name="T17" fmla="*/ 269 h 340"/>
                <a:gd name="T18" fmla="*/ 166 w 166"/>
                <a:gd name="T19" fmla="*/ 269 h 340"/>
                <a:gd name="T20" fmla="*/ 88 w 166"/>
                <a:gd name="T21" fmla="*/ 340 h 3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340"/>
                <a:gd name="T35" fmla="*/ 166 w 166"/>
                <a:gd name="T36" fmla="*/ 340 h 3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340">
                  <a:moveTo>
                    <a:pt x="88" y="340"/>
                  </a:moveTo>
                  <a:lnTo>
                    <a:pt x="0" y="269"/>
                  </a:lnTo>
                  <a:lnTo>
                    <a:pt x="61" y="269"/>
                  </a:lnTo>
                  <a:lnTo>
                    <a:pt x="61" y="79"/>
                  </a:lnTo>
                  <a:lnTo>
                    <a:pt x="0" y="79"/>
                  </a:lnTo>
                  <a:lnTo>
                    <a:pt x="88" y="0"/>
                  </a:lnTo>
                  <a:lnTo>
                    <a:pt x="166" y="79"/>
                  </a:lnTo>
                  <a:lnTo>
                    <a:pt x="114" y="79"/>
                  </a:lnTo>
                  <a:lnTo>
                    <a:pt x="114" y="269"/>
                  </a:lnTo>
                  <a:lnTo>
                    <a:pt x="166" y="269"/>
                  </a:lnTo>
                  <a:lnTo>
                    <a:pt x="88" y="340"/>
                  </a:lnTo>
                  <a:close/>
                </a:path>
              </a:pathLst>
            </a:custGeom>
            <a:solidFill>
              <a:srgbClr val="FFCC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3652" name="Freeform 60"/>
            <p:cNvSpPr/>
            <p:nvPr/>
          </p:nvSpPr>
          <p:spPr bwMode="auto">
            <a:xfrm>
              <a:off x="4453" y="2133"/>
              <a:ext cx="166" cy="340"/>
            </a:xfrm>
            <a:custGeom>
              <a:avLst/>
              <a:gdLst>
                <a:gd name="T0" fmla="*/ 88 w 166"/>
                <a:gd name="T1" fmla="*/ 340 h 340"/>
                <a:gd name="T2" fmla="*/ 0 w 166"/>
                <a:gd name="T3" fmla="*/ 269 h 340"/>
                <a:gd name="T4" fmla="*/ 61 w 166"/>
                <a:gd name="T5" fmla="*/ 269 h 340"/>
                <a:gd name="T6" fmla="*/ 61 w 166"/>
                <a:gd name="T7" fmla="*/ 79 h 340"/>
                <a:gd name="T8" fmla="*/ 0 w 166"/>
                <a:gd name="T9" fmla="*/ 79 h 340"/>
                <a:gd name="T10" fmla="*/ 88 w 166"/>
                <a:gd name="T11" fmla="*/ 0 h 340"/>
                <a:gd name="T12" fmla="*/ 166 w 166"/>
                <a:gd name="T13" fmla="*/ 79 h 340"/>
                <a:gd name="T14" fmla="*/ 114 w 166"/>
                <a:gd name="T15" fmla="*/ 79 h 340"/>
                <a:gd name="T16" fmla="*/ 114 w 166"/>
                <a:gd name="T17" fmla="*/ 269 h 340"/>
                <a:gd name="T18" fmla="*/ 166 w 166"/>
                <a:gd name="T19" fmla="*/ 269 h 340"/>
                <a:gd name="T20" fmla="*/ 88 w 166"/>
                <a:gd name="T21" fmla="*/ 340 h 3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340"/>
                <a:gd name="T35" fmla="*/ 166 w 166"/>
                <a:gd name="T36" fmla="*/ 340 h 3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340">
                  <a:moveTo>
                    <a:pt x="88" y="340"/>
                  </a:moveTo>
                  <a:lnTo>
                    <a:pt x="0" y="269"/>
                  </a:lnTo>
                  <a:lnTo>
                    <a:pt x="61" y="269"/>
                  </a:lnTo>
                  <a:lnTo>
                    <a:pt x="61" y="79"/>
                  </a:lnTo>
                  <a:lnTo>
                    <a:pt x="0" y="79"/>
                  </a:lnTo>
                  <a:lnTo>
                    <a:pt x="88" y="0"/>
                  </a:lnTo>
                  <a:lnTo>
                    <a:pt x="166" y="79"/>
                  </a:lnTo>
                  <a:lnTo>
                    <a:pt x="114" y="79"/>
                  </a:lnTo>
                  <a:lnTo>
                    <a:pt x="114" y="269"/>
                  </a:lnTo>
                  <a:lnTo>
                    <a:pt x="166" y="269"/>
                  </a:lnTo>
                  <a:lnTo>
                    <a:pt x="88" y="340"/>
                  </a:lnTo>
                  <a:close/>
                </a:path>
              </a:pathLst>
            </a:custGeom>
            <a:noFill/>
            <a:ln w="14288">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3558" name="Group 62"/>
          <p:cNvGrpSpPr>
            <a:grpSpLocks noChangeAspect="1"/>
          </p:cNvGrpSpPr>
          <p:nvPr/>
        </p:nvGrpSpPr>
        <p:grpSpPr bwMode="auto">
          <a:xfrm>
            <a:off x="1331913" y="4940300"/>
            <a:ext cx="7078662" cy="1460500"/>
            <a:chOff x="839" y="3022"/>
            <a:chExt cx="4459" cy="920"/>
          </a:xfrm>
        </p:grpSpPr>
        <p:sp>
          <p:nvSpPr>
            <p:cNvPr id="23559" name="AutoShape 61"/>
            <p:cNvSpPr>
              <a:spLocks noChangeAspect="1" noChangeArrowheads="1" noTextEdit="1"/>
            </p:cNvSpPr>
            <p:nvPr/>
          </p:nvSpPr>
          <p:spPr bwMode="auto">
            <a:xfrm>
              <a:off x="839" y="3022"/>
              <a:ext cx="4445" cy="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560" name="Rectangle 63"/>
            <p:cNvSpPr>
              <a:spLocks noChangeArrowheads="1"/>
            </p:cNvSpPr>
            <p:nvPr/>
          </p:nvSpPr>
          <p:spPr bwMode="auto">
            <a:xfrm>
              <a:off x="865" y="3396"/>
              <a:ext cx="1030" cy="531"/>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61" name="Rectangle 64"/>
            <p:cNvSpPr>
              <a:spLocks noChangeArrowheads="1"/>
            </p:cNvSpPr>
            <p:nvPr/>
          </p:nvSpPr>
          <p:spPr bwMode="auto">
            <a:xfrm>
              <a:off x="865" y="3396"/>
              <a:ext cx="1030" cy="531"/>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85" name="Rectangle 65"/>
            <p:cNvSpPr>
              <a:spLocks noChangeArrowheads="1"/>
            </p:cNvSpPr>
            <p:nvPr/>
          </p:nvSpPr>
          <p:spPr bwMode="auto">
            <a:xfrm>
              <a:off x="1075" y="3575"/>
              <a:ext cx="175" cy="172"/>
            </a:xfrm>
            <a:prstGeom prst="rect">
              <a:avLst/>
            </a:prstGeom>
            <a:noFill/>
            <a:ln w="9525">
              <a:noFill/>
              <a:miter lim="800000"/>
            </a:ln>
          </p:spPr>
          <p:txBody>
            <a:bodyPr wrap="none" lIns="0" tIns="0" rIns="0" bIns="0">
              <a:spAutoFit/>
            </a:bodyPr>
            <a:lstStyle/>
            <a:p>
              <a:pPr algn="ctr" eaLnBrk="1" hangingPunct="1">
                <a:defRPr/>
              </a:pPr>
              <a:r>
                <a:rPr lang="en-US" altLang="zh-CN" sz="1900">
                  <a:solidFill>
                    <a:srgbClr val="000000"/>
                  </a:solidFill>
                  <a:latin typeface="宋体" panose="02010600030101010101" pitchFamily="2" charset="-122"/>
                  <a:ea typeface="宋体" panose="02010600030101010101" pitchFamily="2" charset="-122"/>
                </a:rPr>
                <a:t>I</a:t>
              </a:r>
              <a:endParaRPr lang="en-US" altLang="zh-CN" sz="1600">
                <a:effectLst>
                  <a:outerShdw blurRad="38100" dist="38100" dir="2700000" algn="tl">
                    <a:srgbClr val="C0C0C0"/>
                  </a:outerShdw>
                </a:effectLst>
                <a:ea typeface="方正准圆简体" pitchFamily="2" charset="-122"/>
              </a:endParaRPr>
            </a:p>
          </p:txBody>
        </p:sp>
        <p:sp>
          <p:nvSpPr>
            <p:cNvPr id="81986" name="Rectangle 66"/>
            <p:cNvSpPr>
              <a:spLocks noChangeArrowheads="1"/>
            </p:cNvSpPr>
            <p:nvPr/>
          </p:nvSpPr>
          <p:spPr bwMode="auto">
            <a:xfrm>
              <a:off x="1162" y="3575"/>
              <a:ext cx="175" cy="172"/>
            </a:xfrm>
            <a:prstGeom prst="rect">
              <a:avLst/>
            </a:prstGeom>
            <a:noFill/>
            <a:ln w="9525">
              <a:noFill/>
              <a:miter lim="800000"/>
            </a:ln>
          </p:spPr>
          <p:txBody>
            <a:bodyPr wrap="none" lIns="0" tIns="0" rIns="0" bIns="0">
              <a:spAutoFit/>
            </a:bodyPr>
            <a:lstStyle/>
            <a:p>
              <a:pPr algn="ctr" eaLnBrk="1" hangingPunct="1">
                <a:defRPr/>
              </a:pPr>
              <a:r>
                <a:rPr lang="en-US" altLang="zh-CN" sz="1900">
                  <a:solidFill>
                    <a:srgbClr val="000000"/>
                  </a:solidFill>
                  <a:latin typeface="宋体" panose="02010600030101010101" pitchFamily="2" charset="-122"/>
                  <a:ea typeface="宋体" panose="02010600030101010101" pitchFamily="2" charset="-122"/>
                </a:rPr>
                <a:t>/</a:t>
              </a:r>
              <a:endParaRPr lang="en-US" altLang="zh-CN" sz="1600">
                <a:effectLst>
                  <a:outerShdw blurRad="38100" dist="38100" dir="2700000" algn="tl">
                    <a:srgbClr val="C0C0C0"/>
                  </a:outerShdw>
                </a:effectLst>
                <a:ea typeface="方正准圆简体" pitchFamily="2" charset="-122"/>
              </a:endParaRPr>
            </a:p>
          </p:txBody>
        </p:sp>
        <p:sp>
          <p:nvSpPr>
            <p:cNvPr id="81987" name="Rectangle 67"/>
            <p:cNvSpPr>
              <a:spLocks noChangeArrowheads="1"/>
            </p:cNvSpPr>
            <p:nvPr/>
          </p:nvSpPr>
          <p:spPr bwMode="auto">
            <a:xfrm>
              <a:off x="1249" y="3575"/>
              <a:ext cx="175" cy="172"/>
            </a:xfrm>
            <a:prstGeom prst="rect">
              <a:avLst/>
            </a:prstGeom>
            <a:noFill/>
            <a:ln w="9525">
              <a:noFill/>
              <a:miter lim="800000"/>
            </a:ln>
          </p:spPr>
          <p:txBody>
            <a:bodyPr wrap="none" lIns="0" tIns="0" rIns="0" bIns="0">
              <a:spAutoFit/>
            </a:bodyPr>
            <a:lstStyle/>
            <a:p>
              <a:pPr algn="ctr" eaLnBrk="1" hangingPunct="1">
                <a:defRPr/>
              </a:pPr>
              <a:r>
                <a:rPr lang="en-US" altLang="zh-CN" sz="1900">
                  <a:solidFill>
                    <a:srgbClr val="000000"/>
                  </a:solidFill>
                  <a:latin typeface="宋体" panose="02010600030101010101" pitchFamily="2" charset="-122"/>
                  <a:ea typeface="宋体" panose="02010600030101010101" pitchFamily="2" charset="-122"/>
                </a:rPr>
                <a:t>O</a:t>
              </a:r>
              <a:endParaRPr lang="en-US" altLang="zh-CN" sz="1600">
                <a:effectLst>
                  <a:outerShdw blurRad="38100" dist="38100" dir="2700000" algn="tl">
                    <a:srgbClr val="C0C0C0"/>
                  </a:outerShdw>
                </a:effectLst>
                <a:ea typeface="方正准圆简体" pitchFamily="2" charset="-122"/>
              </a:endParaRPr>
            </a:p>
          </p:txBody>
        </p:sp>
        <p:sp>
          <p:nvSpPr>
            <p:cNvPr id="81988" name="Rectangle 68"/>
            <p:cNvSpPr>
              <a:spLocks noChangeArrowheads="1"/>
            </p:cNvSpPr>
            <p:nvPr/>
          </p:nvSpPr>
          <p:spPr bwMode="auto">
            <a:xfrm>
              <a:off x="1337" y="3575"/>
              <a:ext cx="262" cy="172"/>
            </a:xfrm>
            <a:prstGeom prst="rect">
              <a:avLst/>
            </a:prstGeom>
            <a:noFill/>
            <a:ln w="9525">
              <a:noFill/>
              <a:miter lim="800000"/>
            </a:ln>
          </p:spPr>
          <p:txBody>
            <a:bodyPr wrap="none" lIns="0" tIns="0" rIns="0" bIns="0">
              <a:spAutoFit/>
            </a:bodyPr>
            <a:lstStyle/>
            <a:p>
              <a:pPr algn="ctr" eaLnBrk="1" hangingPunct="1">
                <a:defRPr/>
              </a:pPr>
              <a:r>
                <a:rPr lang="zh-CN" altLang="en-US" sz="1900">
                  <a:solidFill>
                    <a:srgbClr val="000000"/>
                  </a:solidFill>
                  <a:latin typeface="宋体" panose="02010600030101010101" pitchFamily="2" charset="-122"/>
                  <a:ea typeface="宋体" panose="02010600030101010101" pitchFamily="2" charset="-122"/>
                </a:rPr>
                <a:t>设</a:t>
              </a:r>
              <a:endParaRPr lang="zh-CN" altLang="en-US" sz="1600">
                <a:effectLst>
                  <a:outerShdw blurRad="38100" dist="38100" dir="2700000" algn="tl">
                    <a:srgbClr val="C0C0C0"/>
                  </a:outerShdw>
                </a:effectLst>
                <a:ea typeface="方正准圆简体" pitchFamily="2" charset="-122"/>
              </a:endParaRPr>
            </a:p>
          </p:txBody>
        </p:sp>
        <p:sp>
          <p:nvSpPr>
            <p:cNvPr id="81989" name="Rectangle 69"/>
            <p:cNvSpPr>
              <a:spLocks noChangeArrowheads="1"/>
            </p:cNvSpPr>
            <p:nvPr/>
          </p:nvSpPr>
          <p:spPr bwMode="auto">
            <a:xfrm>
              <a:off x="1511" y="3575"/>
              <a:ext cx="262" cy="172"/>
            </a:xfrm>
            <a:prstGeom prst="rect">
              <a:avLst/>
            </a:prstGeom>
            <a:noFill/>
            <a:ln w="9525">
              <a:noFill/>
              <a:miter lim="800000"/>
            </a:ln>
          </p:spPr>
          <p:txBody>
            <a:bodyPr wrap="none" lIns="0" tIns="0" rIns="0" bIns="0">
              <a:spAutoFit/>
            </a:bodyPr>
            <a:lstStyle/>
            <a:p>
              <a:pPr algn="ctr" eaLnBrk="1" hangingPunct="1">
                <a:defRPr/>
              </a:pPr>
              <a:r>
                <a:rPr lang="zh-CN" altLang="en-US" sz="1900" dirty="0">
                  <a:solidFill>
                    <a:srgbClr val="000000"/>
                  </a:solidFill>
                  <a:latin typeface="宋体" panose="02010600030101010101" pitchFamily="2" charset="-122"/>
                  <a:ea typeface="宋体" panose="02010600030101010101" pitchFamily="2" charset="-122"/>
                </a:rPr>
                <a:t>备</a:t>
              </a:r>
              <a:endParaRPr lang="zh-CN" altLang="en-US" sz="1600" dirty="0">
                <a:effectLst>
                  <a:outerShdw blurRad="38100" dist="38100" dir="2700000" algn="tl">
                    <a:srgbClr val="C0C0C0"/>
                  </a:outerShdw>
                </a:effectLst>
                <a:ea typeface="方正准圆简体" pitchFamily="2" charset="-122"/>
              </a:endParaRPr>
            </a:p>
          </p:txBody>
        </p:sp>
        <p:sp>
          <p:nvSpPr>
            <p:cNvPr id="23567" name="Freeform 70"/>
            <p:cNvSpPr/>
            <p:nvPr/>
          </p:nvSpPr>
          <p:spPr bwMode="auto">
            <a:xfrm>
              <a:off x="1276" y="3044"/>
              <a:ext cx="165" cy="352"/>
            </a:xfrm>
            <a:custGeom>
              <a:avLst/>
              <a:gdLst>
                <a:gd name="T0" fmla="*/ 87 w 165"/>
                <a:gd name="T1" fmla="*/ 352 h 352"/>
                <a:gd name="T2" fmla="*/ 0 w 165"/>
                <a:gd name="T3" fmla="*/ 277 h 352"/>
                <a:gd name="T4" fmla="*/ 61 w 165"/>
                <a:gd name="T5" fmla="*/ 277 h 352"/>
                <a:gd name="T6" fmla="*/ 61 w 165"/>
                <a:gd name="T7" fmla="*/ 68 h 352"/>
                <a:gd name="T8" fmla="*/ 0 w 165"/>
                <a:gd name="T9" fmla="*/ 68 h 352"/>
                <a:gd name="T10" fmla="*/ 87 w 165"/>
                <a:gd name="T11" fmla="*/ 0 h 352"/>
                <a:gd name="T12" fmla="*/ 165 w 165"/>
                <a:gd name="T13" fmla="*/ 68 h 352"/>
                <a:gd name="T14" fmla="*/ 113 w 165"/>
                <a:gd name="T15" fmla="*/ 68 h 352"/>
                <a:gd name="T16" fmla="*/ 113 w 165"/>
                <a:gd name="T17" fmla="*/ 277 h 352"/>
                <a:gd name="T18" fmla="*/ 165 w 165"/>
                <a:gd name="T19" fmla="*/ 277 h 352"/>
                <a:gd name="T20" fmla="*/ 87 w 165"/>
                <a:gd name="T21" fmla="*/ 352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5"/>
                <a:gd name="T34" fmla="*/ 0 h 352"/>
                <a:gd name="T35" fmla="*/ 165 w 165"/>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5" h="352">
                  <a:moveTo>
                    <a:pt x="87" y="352"/>
                  </a:moveTo>
                  <a:lnTo>
                    <a:pt x="0" y="277"/>
                  </a:lnTo>
                  <a:lnTo>
                    <a:pt x="61" y="277"/>
                  </a:lnTo>
                  <a:lnTo>
                    <a:pt x="61" y="68"/>
                  </a:lnTo>
                  <a:lnTo>
                    <a:pt x="0" y="68"/>
                  </a:lnTo>
                  <a:lnTo>
                    <a:pt x="87" y="0"/>
                  </a:lnTo>
                  <a:lnTo>
                    <a:pt x="165" y="68"/>
                  </a:lnTo>
                  <a:lnTo>
                    <a:pt x="113" y="68"/>
                  </a:lnTo>
                  <a:lnTo>
                    <a:pt x="113" y="277"/>
                  </a:lnTo>
                  <a:lnTo>
                    <a:pt x="165" y="277"/>
                  </a:lnTo>
                  <a:lnTo>
                    <a:pt x="87" y="352"/>
                  </a:lnTo>
                  <a:close/>
                </a:path>
              </a:pathLst>
            </a:custGeom>
            <a:solidFill>
              <a:srgbClr val="CCFFC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3568" name="Freeform 71"/>
            <p:cNvSpPr/>
            <p:nvPr/>
          </p:nvSpPr>
          <p:spPr bwMode="auto">
            <a:xfrm>
              <a:off x="1276" y="3044"/>
              <a:ext cx="165" cy="352"/>
            </a:xfrm>
            <a:custGeom>
              <a:avLst/>
              <a:gdLst>
                <a:gd name="T0" fmla="*/ 87 w 165"/>
                <a:gd name="T1" fmla="*/ 352 h 352"/>
                <a:gd name="T2" fmla="*/ 0 w 165"/>
                <a:gd name="T3" fmla="*/ 277 h 352"/>
                <a:gd name="T4" fmla="*/ 61 w 165"/>
                <a:gd name="T5" fmla="*/ 277 h 352"/>
                <a:gd name="T6" fmla="*/ 61 w 165"/>
                <a:gd name="T7" fmla="*/ 68 h 352"/>
                <a:gd name="T8" fmla="*/ 0 w 165"/>
                <a:gd name="T9" fmla="*/ 68 h 352"/>
                <a:gd name="T10" fmla="*/ 87 w 165"/>
                <a:gd name="T11" fmla="*/ 0 h 352"/>
                <a:gd name="T12" fmla="*/ 165 w 165"/>
                <a:gd name="T13" fmla="*/ 68 h 352"/>
                <a:gd name="T14" fmla="*/ 113 w 165"/>
                <a:gd name="T15" fmla="*/ 68 h 352"/>
                <a:gd name="T16" fmla="*/ 113 w 165"/>
                <a:gd name="T17" fmla="*/ 277 h 352"/>
                <a:gd name="T18" fmla="*/ 165 w 165"/>
                <a:gd name="T19" fmla="*/ 277 h 352"/>
                <a:gd name="T20" fmla="*/ 87 w 165"/>
                <a:gd name="T21" fmla="*/ 352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5"/>
                <a:gd name="T34" fmla="*/ 0 h 352"/>
                <a:gd name="T35" fmla="*/ 165 w 165"/>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5" h="352">
                  <a:moveTo>
                    <a:pt x="87" y="352"/>
                  </a:moveTo>
                  <a:lnTo>
                    <a:pt x="0" y="277"/>
                  </a:lnTo>
                  <a:lnTo>
                    <a:pt x="61" y="277"/>
                  </a:lnTo>
                  <a:lnTo>
                    <a:pt x="61" y="68"/>
                  </a:lnTo>
                  <a:lnTo>
                    <a:pt x="0" y="68"/>
                  </a:lnTo>
                  <a:lnTo>
                    <a:pt x="87" y="0"/>
                  </a:lnTo>
                  <a:lnTo>
                    <a:pt x="165" y="68"/>
                  </a:lnTo>
                  <a:lnTo>
                    <a:pt x="113" y="68"/>
                  </a:lnTo>
                  <a:lnTo>
                    <a:pt x="113" y="277"/>
                  </a:lnTo>
                  <a:lnTo>
                    <a:pt x="165" y="277"/>
                  </a:lnTo>
                  <a:lnTo>
                    <a:pt x="87" y="352"/>
                  </a:lnTo>
                  <a:close/>
                </a:path>
              </a:pathLst>
            </a:custGeom>
            <a:noFill/>
            <a:ln w="14288">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92" name="Rectangle 72"/>
            <p:cNvSpPr>
              <a:spLocks noChangeArrowheads="1"/>
            </p:cNvSpPr>
            <p:nvPr/>
          </p:nvSpPr>
          <p:spPr bwMode="auto">
            <a:xfrm>
              <a:off x="1479" y="3134"/>
              <a:ext cx="153" cy="182"/>
            </a:xfrm>
            <a:prstGeom prst="rect">
              <a:avLst/>
            </a:prstGeom>
            <a:noFill/>
            <a:ln w="9525">
              <a:noFill/>
              <a:miter lim="800000"/>
            </a:ln>
          </p:spPr>
          <p:txBody>
            <a:bodyPr wrap="none" lIns="0" tIns="0" rIns="0" bIns="0">
              <a:spAutoFit/>
            </a:bodyPr>
            <a:lstStyle/>
            <a:p>
              <a:pPr algn="ctr" eaLnBrk="1" hangingPunct="1">
                <a:defRPr/>
              </a:pPr>
              <a:r>
                <a:rPr lang="zh-CN" altLang="en-US" sz="1900" b="1">
                  <a:latin typeface="宋体" panose="02010600030101010101" pitchFamily="2" charset="-122"/>
                  <a:ea typeface="宋体" panose="02010600030101010101" pitchFamily="2" charset="-122"/>
                </a:rPr>
                <a:t>设</a:t>
              </a:r>
              <a:endParaRPr lang="zh-CN" altLang="en-US" sz="1600" b="1">
                <a:effectLst>
                  <a:outerShdw blurRad="38100" dist="38100" dir="2700000" algn="tl">
                    <a:srgbClr val="C0C0C0"/>
                  </a:outerShdw>
                </a:effectLst>
                <a:ea typeface="方正准圆简体" pitchFamily="2" charset="-122"/>
              </a:endParaRPr>
            </a:p>
          </p:txBody>
        </p:sp>
        <p:sp>
          <p:nvSpPr>
            <p:cNvPr id="81993" name="Rectangle 73"/>
            <p:cNvSpPr>
              <a:spLocks noChangeArrowheads="1"/>
            </p:cNvSpPr>
            <p:nvPr/>
          </p:nvSpPr>
          <p:spPr bwMode="auto">
            <a:xfrm>
              <a:off x="1654" y="3134"/>
              <a:ext cx="152" cy="182"/>
            </a:xfrm>
            <a:prstGeom prst="rect">
              <a:avLst/>
            </a:prstGeom>
            <a:noFill/>
            <a:ln w="9525">
              <a:noFill/>
              <a:miter lim="800000"/>
            </a:ln>
          </p:spPr>
          <p:txBody>
            <a:bodyPr wrap="none" lIns="0" tIns="0" rIns="0" bIns="0">
              <a:spAutoFit/>
            </a:bodyPr>
            <a:lstStyle/>
            <a:p>
              <a:pPr algn="ctr" eaLnBrk="1" hangingPunct="1">
                <a:defRPr/>
              </a:pPr>
              <a:r>
                <a:rPr lang="zh-CN" altLang="en-US" sz="1900" b="1" dirty="0">
                  <a:latin typeface="宋体" panose="02010600030101010101" pitchFamily="2" charset="-122"/>
                  <a:ea typeface="宋体" panose="02010600030101010101" pitchFamily="2" charset="-122"/>
                </a:rPr>
                <a:t>备</a:t>
              </a:r>
              <a:endParaRPr lang="zh-CN" altLang="en-US" sz="1600" b="1" dirty="0">
                <a:effectLst>
                  <a:outerShdw blurRad="38100" dist="38100" dir="2700000" algn="tl">
                    <a:srgbClr val="C0C0C0"/>
                  </a:outerShdw>
                </a:effectLst>
                <a:ea typeface="方正准圆简体" pitchFamily="2" charset="-122"/>
              </a:endParaRPr>
            </a:p>
          </p:txBody>
        </p:sp>
        <p:sp>
          <p:nvSpPr>
            <p:cNvPr id="81994" name="Rectangle 74"/>
            <p:cNvSpPr>
              <a:spLocks noChangeArrowheads="1"/>
            </p:cNvSpPr>
            <p:nvPr/>
          </p:nvSpPr>
          <p:spPr bwMode="auto">
            <a:xfrm>
              <a:off x="1828" y="3134"/>
              <a:ext cx="152" cy="182"/>
            </a:xfrm>
            <a:prstGeom prst="rect">
              <a:avLst/>
            </a:prstGeom>
            <a:noFill/>
            <a:ln w="9525">
              <a:noFill/>
              <a:miter lim="800000"/>
            </a:ln>
          </p:spPr>
          <p:txBody>
            <a:bodyPr wrap="none" lIns="0" tIns="0" rIns="0" bIns="0">
              <a:spAutoFit/>
            </a:bodyPr>
            <a:lstStyle/>
            <a:p>
              <a:pPr algn="ctr" eaLnBrk="1" hangingPunct="1">
                <a:defRPr/>
              </a:pPr>
              <a:r>
                <a:rPr lang="zh-CN" altLang="en-US" sz="1900" b="1">
                  <a:latin typeface="宋体" panose="02010600030101010101" pitchFamily="2" charset="-122"/>
                  <a:ea typeface="宋体" panose="02010600030101010101" pitchFamily="2" charset="-122"/>
                </a:rPr>
                <a:t>总</a:t>
              </a:r>
              <a:endParaRPr lang="zh-CN" altLang="en-US" sz="1600" b="1">
                <a:effectLst>
                  <a:outerShdw blurRad="38100" dist="38100" dir="2700000" algn="tl">
                    <a:srgbClr val="C0C0C0"/>
                  </a:outerShdw>
                </a:effectLst>
                <a:ea typeface="方正准圆简体" pitchFamily="2" charset="-122"/>
              </a:endParaRPr>
            </a:p>
          </p:txBody>
        </p:sp>
        <p:sp>
          <p:nvSpPr>
            <p:cNvPr id="81995" name="Rectangle 75"/>
            <p:cNvSpPr>
              <a:spLocks noChangeArrowheads="1"/>
            </p:cNvSpPr>
            <p:nvPr/>
          </p:nvSpPr>
          <p:spPr bwMode="auto">
            <a:xfrm>
              <a:off x="2003" y="3134"/>
              <a:ext cx="152" cy="182"/>
            </a:xfrm>
            <a:prstGeom prst="rect">
              <a:avLst/>
            </a:prstGeom>
            <a:noFill/>
            <a:ln w="9525">
              <a:noFill/>
              <a:miter lim="800000"/>
            </a:ln>
          </p:spPr>
          <p:txBody>
            <a:bodyPr wrap="none" lIns="0" tIns="0" rIns="0" bIns="0">
              <a:spAutoFit/>
            </a:bodyPr>
            <a:lstStyle/>
            <a:p>
              <a:pPr algn="ctr" eaLnBrk="1" hangingPunct="1">
                <a:defRPr/>
              </a:pPr>
              <a:r>
                <a:rPr lang="zh-CN" altLang="en-US" sz="1900" b="1" dirty="0">
                  <a:latin typeface="宋体" panose="02010600030101010101" pitchFamily="2" charset="-122"/>
                  <a:ea typeface="宋体" panose="02010600030101010101" pitchFamily="2" charset="-122"/>
                </a:rPr>
                <a:t>线</a:t>
              </a:r>
              <a:endParaRPr lang="zh-CN" altLang="en-US" sz="1600" b="1" dirty="0">
                <a:effectLst>
                  <a:outerShdw blurRad="38100" dist="38100" dir="2700000" algn="tl">
                    <a:srgbClr val="C0C0C0"/>
                  </a:outerShdw>
                </a:effectLst>
                <a:ea typeface="方正准圆简体" pitchFamily="2" charset="-122"/>
              </a:endParaRPr>
            </a:p>
          </p:txBody>
        </p:sp>
        <p:sp>
          <p:nvSpPr>
            <p:cNvPr id="23573" name="Rectangle 76"/>
            <p:cNvSpPr>
              <a:spLocks noChangeArrowheads="1"/>
            </p:cNvSpPr>
            <p:nvPr/>
          </p:nvSpPr>
          <p:spPr bwMode="auto">
            <a:xfrm>
              <a:off x="2437" y="3396"/>
              <a:ext cx="1039" cy="531"/>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74" name="Rectangle 77"/>
            <p:cNvSpPr>
              <a:spLocks noChangeArrowheads="1"/>
            </p:cNvSpPr>
            <p:nvPr/>
          </p:nvSpPr>
          <p:spPr bwMode="auto">
            <a:xfrm>
              <a:off x="2437" y="3396"/>
              <a:ext cx="1039" cy="531"/>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98" name="Rectangle 78"/>
            <p:cNvSpPr>
              <a:spLocks noChangeArrowheads="1"/>
            </p:cNvSpPr>
            <p:nvPr/>
          </p:nvSpPr>
          <p:spPr bwMode="auto">
            <a:xfrm>
              <a:off x="2646" y="3575"/>
              <a:ext cx="175" cy="172"/>
            </a:xfrm>
            <a:prstGeom prst="rect">
              <a:avLst/>
            </a:prstGeom>
            <a:noFill/>
            <a:ln w="9525">
              <a:noFill/>
              <a:miter lim="800000"/>
            </a:ln>
          </p:spPr>
          <p:txBody>
            <a:bodyPr wrap="none" lIns="0" tIns="0" rIns="0" bIns="0">
              <a:spAutoFit/>
            </a:bodyPr>
            <a:lstStyle/>
            <a:p>
              <a:pPr algn="ctr" eaLnBrk="1" hangingPunct="1">
                <a:defRPr/>
              </a:pPr>
              <a:r>
                <a:rPr lang="en-US" altLang="zh-CN" sz="1900">
                  <a:solidFill>
                    <a:srgbClr val="000000"/>
                  </a:solidFill>
                  <a:latin typeface="宋体" panose="02010600030101010101" pitchFamily="2" charset="-122"/>
                  <a:ea typeface="宋体" panose="02010600030101010101" pitchFamily="2" charset="-122"/>
                </a:rPr>
                <a:t>I</a:t>
              </a:r>
              <a:endParaRPr lang="en-US" altLang="zh-CN" sz="1600">
                <a:effectLst>
                  <a:outerShdw blurRad="38100" dist="38100" dir="2700000" algn="tl">
                    <a:srgbClr val="C0C0C0"/>
                  </a:outerShdw>
                </a:effectLst>
                <a:ea typeface="方正准圆简体" pitchFamily="2" charset="-122"/>
              </a:endParaRPr>
            </a:p>
          </p:txBody>
        </p:sp>
        <p:sp>
          <p:nvSpPr>
            <p:cNvPr id="81999" name="Rectangle 79"/>
            <p:cNvSpPr>
              <a:spLocks noChangeArrowheads="1"/>
            </p:cNvSpPr>
            <p:nvPr/>
          </p:nvSpPr>
          <p:spPr bwMode="auto">
            <a:xfrm>
              <a:off x="2734" y="3575"/>
              <a:ext cx="175" cy="172"/>
            </a:xfrm>
            <a:prstGeom prst="rect">
              <a:avLst/>
            </a:prstGeom>
            <a:noFill/>
            <a:ln w="9525">
              <a:noFill/>
              <a:miter lim="800000"/>
            </a:ln>
          </p:spPr>
          <p:txBody>
            <a:bodyPr wrap="none" lIns="0" tIns="0" rIns="0" bIns="0">
              <a:spAutoFit/>
            </a:bodyPr>
            <a:lstStyle/>
            <a:p>
              <a:pPr algn="ctr" eaLnBrk="1" hangingPunct="1">
                <a:defRPr/>
              </a:pPr>
              <a:r>
                <a:rPr lang="en-US" altLang="zh-CN" sz="1900">
                  <a:solidFill>
                    <a:srgbClr val="000000"/>
                  </a:solidFill>
                  <a:latin typeface="宋体" panose="02010600030101010101" pitchFamily="2" charset="-122"/>
                  <a:ea typeface="宋体" panose="02010600030101010101" pitchFamily="2" charset="-122"/>
                </a:rPr>
                <a:t>/</a:t>
              </a:r>
              <a:endParaRPr lang="en-US" altLang="zh-CN" sz="1600">
                <a:effectLst>
                  <a:outerShdw blurRad="38100" dist="38100" dir="2700000" algn="tl">
                    <a:srgbClr val="C0C0C0"/>
                  </a:outerShdw>
                </a:effectLst>
                <a:ea typeface="方正准圆简体" pitchFamily="2" charset="-122"/>
              </a:endParaRPr>
            </a:p>
          </p:txBody>
        </p:sp>
        <p:sp>
          <p:nvSpPr>
            <p:cNvPr id="82000" name="Rectangle 80"/>
            <p:cNvSpPr>
              <a:spLocks noChangeArrowheads="1"/>
            </p:cNvSpPr>
            <p:nvPr/>
          </p:nvSpPr>
          <p:spPr bwMode="auto">
            <a:xfrm>
              <a:off x="2821" y="3575"/>
              <a:ext cx="175" cy="172"/>
            </a:xfrm>
            <a:prstGeom prst="rect">
              <a:avLst/>
            </a:prstGeom>
            <a:noFill/>
            <a:ln w="9525">
              <a:noFill/>
              <a:miter lim="800000"/>
            </a:ln>
          </p:spPr>
          <p:txBody>
            <a:bodyPr wrap="none" lIns="0" tIns="0" rIns="0" bIns="0">
              <a:spAutoFit/>
            </a:bodyPr>
            <a:lstStyle/>
            <a:p>
              <a:pPr algn="ctr" eaLnBrk="1" hangingPunct="1">
                <a:defRPr/>
              </a:pPr>
              <a:r>
                <a:rPr lang="en-US" altLang="zh-CN" sz="1900">
                  <a:solidFill>
                    <a:srgbClr val="000000"/>
                  </a:solidFill>
                  <a:latin typeface="宋体" panose="02010600030101010101" pitchFamily="2" charset="-122"/>
                  <a:ea typeface="宋体" panose="02010600030101010101" pitchFamily="2" charset="-122"/>
                </a:rPr>
                <a:t>O</a:t>
              </a:r>
              <a:endParaRPr lang="en-US" altLang="zh-CN" sz="1600">
                <a:effectLst>
                  <a:outerShdw blurRad="38100" dist="38100" dir="2700000" algn="tl">
                    <a:srgbClr val="C0C0C0"/>
                  </a:outerShdw>
                </a:effectLst>
                <a:ea typeface="方正准圆简体" pitchFamily="2" charset="-122"/>
              </a:endParaRPr>
            </a:p>
          </p:txBody>
        </p:sp>
        <p:sp>
          <p:nvSpPr>
            <p:cNvPr id="82001" name="Rectangle 81"/>
            <p:cNvSpPr>
              <a:spLocks noChangeArrowheads="1"/>
            </p:cNvSpPr>
            <p:nvPr/>
          </p:nvSpPr>
          <p:spPr bwMode="auto">
            <a:xfrm>
              <a:off x="2908" y="3575"/>
              <a:ext cx="262" cy="172"/>
            </a:xfrm>
            <a:prstGeom prst="rect">
              <a:avLst/>
            </a:prstGeom>
            <a:noFill/>
            <a:ln w="9525">
              <a:noFill/>
              <a:miter lim="800000"/>
            </a:ln>
          </p:spPr>
          <p:txBody>
            <a:bodyPr wrap="none" lIns="0" tIns="0" rIns="0" bIns="0">
              <a:spAutoFit/>
            </a:bodyPr>
            <a:lstStyle/>
            <a:p>
              <a:pPr algn="ctr" eaLnBrk="1" hangingPunct="1">
                <a:defRPr/>
              </a:pPr>
              <a:r>
                <a:rPr lang="zh-CN" altLang="en-US" sz="1900">
                  <a:solidFill>
                    <a:srgbClr val="000000"/>
                  </a:solidFill>
                  <a:latin typeface="宋体" panose="02010600030101010101" pitchFamily="2" charset="-122"/>
                  <a:ea typeface="宋体" panose="02010600030101010101" pitchFamily="2" charset="-122"/>
                </a:rPr>
                <a:t>设</a:t>
              </a:r>
              <a:endParaRPr lang="zh-CN" altLang="en-US" sz="1600">
                <a:effectLst>
                  <a:outerShdw blurRad="38100" dist="38100" dir="2700000" algn="tl">
                    <a:srgbClr val="C0C0C0"/>
                  </a:outerShdw>
                </a:effectLst>
                <a:ea typeface="方正准圆简体" pitchFamily="2" charset="-122"/>
              </a:endParaRPr>
            </a:p>
          </p:txBody>
        </p:sp>
        <p:sp>
          <p:nvSpPr>
            <p:cNvPr id="82002" name="Rectangle 82"/>
            <p:cNvSpPr>
              <a:spLocks noChangeArrowheads="1"/>
            </p:cNvSpPr>
            <p:nvPr/>
          </p:nvSpPr>
          <p:spPr bwMode="auto">
            <a:xfrm>
              <a:off x="3083" y="3575"/>
              <a:ext cx="262" cy="172"/>
            </a:xfrm>
            <a:prstGeom prst="rect">
              <a:avLst/>
            </a:prstGeom>
            <a:noFill/>
            <a:ln w="9525">
              <a:noFill/>
              <a:miter lim="800000"/>
            </a:ln>
          </p:spPr>
          <p:txBody>
            <a:bodyPr wrap="none" lIns="0" tIns="0" rIns="0" bIns="0">
              <a:spAutoFit/>
            </a:bodyPr>
            <a:lstStyle/>
            <a:p>
              <a:pPr algn="ctr" eaLnBrk="1" hangingPunct="1">
                <a:defRPr/>
              </a:pPr>
              <a:r>
                <a:rPr lang="zh-CN" altLang="en-US" sz="1900">
                  <a:solidFill>
                    <a:srgbClr val="000000"/>
                  </a:solidFill>
                  <a:latin typeface="宋体" panose="02010600030101010101" pitchFamily="2" charset="-122"/>
                  <a:ea typeface="宋体" panose="02010600030101010101" pitchFamily="2" charset="-122"/>
                </a:rPr>
                <a:t>备</a:t>
              </a:r>
              <a:endParaRPr lang="zh-CN" altLang="en-US" sz="1600">
                <a:effectLst>
                  <a:outerShdw blurRad="38100" dist="38100" dir="2700000" algn="tl">
                    <a:srgbClr val="C0C0C0"/>
                  </a:outerShdw>
                </a:effectLst>
                <a:ea typeface="方正准圆简体" pitchFamily="2" charset="-122"/>
              </a:endParaRPr>
            </a:p>
          </p:txBody>
        </p:sp>
        <p:sp>
          <p:nvSpPr>
            <p:cNvPr id="23580" name="Freeform 83"/>
            <p:cNvSpPr/>
            <p:nvPr/>
          </p:nvSpPr>
          <p:spPr bwMode="auto">
            <a:xfrm>
              <a:off x="2847" y="3044"/>
              <a:ext cx="166" cy="352"/>
            </a:xfrm>
            <a:custGeom>
              <a:avLst/>
              <a:gdLst>
                <a:gd name="T0" fmla="*/ 87 w 166"/>
                <a:gd name="T1" fmla="*/ 352 h 352"/>
                <a:gd name="T2" fmla="*/ 0 w 166"/>
                <a:gd name="T3" fmla="*/ 277 h 352"/>
                <a:gd name="T4" fmla="*/ 61 w 166"/>
                <a:gd name="T5" fmla="*/ 277 h 352"/>
                <a:gd name="T6" fmla="*/ 61 w 166"/>
                <a:gd name="T7" fmla="*/ 68 h 352"/>
                <a:gd name="T8" fmla="*/ 0 w 166"/>
                <a:gd name="T9" fmla="*/ 68 h 352"/>
                <a:gd name="T10" fmla="*/ 87 w 166"/>
                <a:gd name="T11" fmla="*/ 0 h 352"/>
                <a:gd name="T12" fmla="*/ 166 w 166"/>
                <a:gd name="T13" fmla="*/ 68 h 352"/>
                <a:gd name="T14" fmla="*/ 114 w 166"/>
                <a:gd name="T15" fmla="*/ 68 h 352"/>
                <a:gd name="T16" fmla="*/ 114 w 166"/>
                <a:gd name="T17" fmla="*/ 277 h 352"/>
                <a:gd name="T18" fmla="*/ 166 w 166"/>
                <a:gd name="T19" fmla="*/ 277 h 352"/>
                <a:gd name="T20" fmla="*/ 87 w 166"/>
                <a:gd name="T21" fmla="*/ 352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352"/>
                <a:gd name="T35" fmla="*/ 166 w 166"/>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352">
                  <a:moveTo>
                    <a:pt x="87" y="352"/>
                  </a:moveTo>
                  <a:lnTo>
                    <a:pt x="0" y="277"/>
                  </a:lnTo>
                  <a:lnTo>
                    <a:pt x="61" y="277"/>
                  </a:lnTo>
                  <a:lnTo>
                    <a:pt x="61" y="68"/>
                  </a:lnTo>
                  <a:lnTo>
                    <a:pt x="0" y="68"/>
                  </a:lnTo>
                  <a:lnTo>
                    <a:pt x="87" y="0"/>
                  </a:lnTo>
                  <a:lnTo>
                    <a:pt x="166" y="68"/>
                  </a:lnTo>
                  <a:lnTo>
                    <a:pt x="114" y="68"/>
                  </a:lnTo>
                  <a:lnTo>
                    <a:pt x="114" y="277"/>
                  </a:lnTo>
                  <a:lnTo>
                    <a:pt x="166" y="277"/>
                  </a:lnTo>
                  <a:lnTo>
                    <a:pt x="87" y="352"/>
                  </a:lnTo>
                  <a:close/>
                </a:path>
              </a:pathLst>
            </a:custGeom>
            <a:solidFill>
              <a:srgbClr val="CCFFC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3581" name="Freeform 84"/>
            <p:cNvSpPr/>
            <p:nvPr/>
          </p:nvSpPr>
          <p:spPr bwMode="auto">
            <a:xfrm>
              <a:off x="2847" y="3044"/>
              <a:ext cx="166" cy="352"/>
            </a:xfrm>
            <a:custGeom>
              <a:avLst/>
              <a:gdLst>
                <a:gd name="T0" fmla="*/ 87 w 166"/>
                <a:gd name="T1" fmla="*/ 352 h 352"/>
                <a:gd name="T2" fmla="*/ 0 w 166"/>
                <a:gd name="T3" fmla="*/ 277 h 352"/>
                <a:gd name="T4" fmla="*/ 61 w 166"/>
                <a:gd name="T5" fmla="*/ 277 h 352"/>
                <a:gd name="T6" fmla="*/ 61 w 166"/>
                <a:gd name="T7" fmla="*/ 68 h 352"/>
                <a:gd name="T8" fmla="*/ 0 w 166"/>
                <a:gd name="T9" fmla="*/ 68 h 352"/>
                <a:gd name="T10" fmla="*/ 87 w 166"/>
                <a:gd name="T11" fmla="*/ 0 h 352"/>
                <a:gd name="T12" fmla="*/ 166 w 166"/>
                <a:gd name="T13" fmla="*/ 68 h 352"/>
                <a:gd name="T14" fmla="*/ 114 w 166"/>
                <a:gd name="T15" fmla="*/ 68 h 352"/>
                <a:gd name="T16" fmla="*/ 114 w 166"/>
                <a:gd name="T17" fmla="*/ 277 h 352"/>
                <a:gd name="T18" fmla="*/ 166 w 166"/>
                <a:gd name="T19" fmla="*/ 277 h 352"/>
                <a:gd name="T20" fmla="*/ 87 w 166"/>
                <a:gd name="T21" fmla="*/ 352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352"/>
                <a:gd name="T35" fmla="*/ 166 w 166"/>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352">
                  <a:moveTo>
                    <a:pt x="87" y="352"/>
                  </a:moveTo>
                  <a:lnTo>
                    <a:pt x="0" y="277"/>
                  </a:lnTo>
                  <a:lnTo>
                    <a:pt x="61" y="277"/>
                  </a:lnTo>
                  <a:lnTo>
                    <a:pt x="61" y="68"/>
                  </a:lnTo>
                  <a:lnTo>
                    <a:pt x="0" y="68"/>
                  </a:lnTo>
                  <a:lnTo>
                    <a:pt x="87" y="0"/>
                  </a:lnTo>
                  <a:lnTo>
                    <a:pt x="166" y="68"/>
                  </a:lnTo>
                  <a:lnTo>
                    <a:pt x="114" y="68"/>
                  </a:lnTo>
                  <a:lnTo>
                    <a:pt x="114" y="277"/>
                  </a:lnTo>
                  <a:lnTo>
                    <a:pt x="166" y="277"/>
                  </a:lnTo>
                  <a:lnTo>
                    <a:pt x="87" y="352"/>
                  </a:lnTo>
                  <a:close/>
                </a:path>
              </a:pathLst>
            </a:custGeom>
            <a:noFill/>
            <a:ln w="14288">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005" name="Rectangle 85"/>
            <p:cNvSpPr>
              <a:spLocks noChangeArrowheads="1"/>
            </p:cNvSpPr>
            <p:nvPr/>
          </p:nvSpPr>
          <p:spPr bwMode="auto">
            <a:xfrm>
              <a:off x="3051" y="3134"/>
              <a:ext cx="152" cy="182"/>
            </a:xfrm>
            <a:prstGeom prst="rect">
              <a:avLst/>
            </a:prstGeom>
            <a:noFill/>
            <a:ln w="9525">
              <a:noFill/>
              <a:miter lim="800000"/>
            </a:ln>
          </p:spPr>
          <p:txBody>
            <a:bodyPr wrap="none" lIns="0" tIns="0" rIns="0" bIns="0">
              <a:spAutoFit/>
            </a:bodyPr>
            <a:lstStyle/>
            <a:p>
              <a:pPr algn="ctr" eaLnBrk="1" hangingPunct="1">
                <a:defRPr/>
              </a:pPr>
              <a:r>
                <a:rPr lang="zh-CN" altLang="en-US" sz="1900" b="1">
                  <a:latin typeface="宋体" panose="02010600030101010101" pitchFamily="2" charset="-122"/>
                  <a:ea typeface="宋体" panose="02010600030101010101" pitchFamily="2" charset="-122"/>
                </a:rPr>
                <a:t>设</a:t>
              </a:r>
              <a:endParaRPr lang="zh-CN" altLang="en-US" sz="1600" b="1">
                <a:effectLst>
                  <a:outerShdw blurRad="38100" dist="38100" dir="2700000" algn="tl">
                    <a:srgbClr val="C0C0C0"/>
                  </a:outerShdw>
                </a:effectLst>
                <a:ea typeface="方正准圆简体" pitchFamily="2" charset="-122"/>
              </a:endParaRPr>
            </a:p>
          </p:txBody>
        </p:sp>
        <p:sp>
          <p:nvSpPr>
            <p:cNvPr id="82006" name="Rectangle 86"/>
            <p:cNvSpPr>
              <a:spLocks noChangeArrowheads="1"/>
            </p:cNvSpPr>
            <p:nvPr/>
          </p:nvSpPr>
          <p:spPr bwMode="auto">
            <a:xfrm>
              <a:off x="3225" y="3134"/>
              <a:ext cx="152" cy="182"/>
            </a:xfrm>
            <a:prstGeom prst="rect">
              <a:avLst/>
            </a:prstGeom>
            <a:noFill/>
            <a:ln w="9525">
              <a:noFill/>
              <a:miter lim="800000"/>
            </a:ln>
          </p:spPr>
          <p:txBody>
            <a:bodyPr wrap="none" lIns="0" tIns="0" rIns="0" bIns="0">
              <a:spAutoFit/>
            </a:bodyPr>
            <a:lstStyle/>
            <a:p>
              <a:pPr algn="ctr" eaLnBrk="1" hangingPunct="1">
                <a:defRPr/>
              </a:pPr>
              <a:r>
                <a:rPr lang="zh-CN" altLang="en-US" sz="1900" b="1">
                  <a:latin typeface="宋体" panose="02010600030101010101" pitchFamily="2" charset="-122"/>
                  <a:ea typeface="宋体" panose="02010600030101010101" pitchFamily="2" charset="-122"/>
                </a:rPr>
                <a:t>备</a:t>
              </a:r>
              <a:endParaRPr lang="zh-CN" altLang="en-US" sz="1600" b="1">
                <a:effectLst>
                  <a:outerShdw blurRad="38100" dist="38100" dir="2700000" algn="tl">
                    <a:srgbClr val="C0C0C0"/>
                  </a:outerShdw>
                </a:effectLst>
                <a:ea typeface="方正准圆简体" pitchFamily="2" charset="-122"/>
              </a:endParaRPr>
            </a:p>
          </p:txBody>
        </p:sp>
        <p:sp>
          <p:nvSpPr>
            <p:cNvPr id="82007" name="Rectangle 87"/>
            <p:cNvSpPr>
              <a:spLocks noChangeArrowheads="1"/>
            </p:cNvSpPr>
            <p:nvPr/>
          </p:nvSpPr>
          <p:spPr bwMode="auto">
            <a:xfrm>
              <a:off x="3400" y="3134"/>
              <a:ext cx="153" cy="182"/>
            </a:xfrm>
            <a:prstGeom prst="rect">
              <a:avLst/>
            </a:prstGeom>
            <a:noFill/>
            <a:ln w="9525">
              <a:noFill/>
              <a:miter lim="800000"/>
            </a:ln>
          </p:spPr>
          <p:txBody>
            <a:bodyPr wrap="none" lIns="0" tIns="0" rIns="0" bIns="0">
              <a:spAutoFit/>
            </a:bodyPr>
            <a:lstStyle/>
            <a:p>
              <a:pPr algn="ctr" eaLnBrk="1" hangingPunct="1">
                <a:defRPr/>
              </a:pPr>
              <a:r>
                <a:rPr lang="zh-CN" altLang="en-US" sz="1900" b="1">
                  <a:latin typeface="宋体" panose="02010600030101010101" pitchFamily="2" charset="-122"/>
                  <a:ea typeface="宋体" panose="02010600030101010101" pitchFamily="2" charset="-122"/>
                </a:rPr>
                <a:t>总</a:t>
              </a:r>
              <a:endParaRPr lang="zh-CN" altLang="en-US" sz="1600" b="1">
                <a:effectLst>
                  <a:outerShdw blurRad="38100" dist="38100" dir="2700000" algn="tl">
                    <a:srgbClr val="C0C0C0"/>
                  </a:outerShdw>
                </a:effectLst>
                <a:ea typeface="方正准圆简体" pitchFamily="2" charset="-122"/>
              </a:endParaRPr>
            </a:p>
          </p:txBody>
        </p:sp>
        <p:sp>
          <p:nvSpPr>
            <p:cNvPr id="82008" name="Rectangle 88"/>
            <p:cNvSpPr>
              <a:spLocks noChangeArrowheads="1"/>
            </p:cNvSpPr>
            <p:nvPr/>
          </p:nvSpPr>
          <p:spPr bwMode="auto">
            <a:xfrm>
              <a:off x="3574" y="3134"/>
              <a:ext cx="152" cy="182"/>
            </a:xfrm>
            <a:prstGeom prst="rect">
              <a:avLst/>
            </a:prstGeom>
            <a:noFill/>
            <a:ln w="9525">
              <a:noFill/>
              <a:miter lim="800000"/>
            </a:ln>
          </p:spPr>
          <p:txBody>
            <a:bodyPr wrap="none" lIns="0" tIns="0" rIns="0" bIns="0">
              <a:spAutoFit/>
            </a:bodyPr>
            <a:lstStyle/>
            <a:p>
              <a:pPr algn="ctr" eaLnBrk="1" hangingPunct="1">
                <a:defRPr/>
              </a:pPr>
              <a:r>
                <a:rPr lang="zh-CN" altLang="en-US" sz="1900" b="1">
                  <a:latin typeface="宋体" panose="02010600030101010101" pitchFamily="2" charset="-122"/>
                  <a:ea typeface="宋体" panose="02010600030101010101" pitchFamily="2" charset="-122"/>
                </a:rPr>
                <a:t>线</a:t>
              </a:r>
              <a:endParaRPr lang="zh-CN" altLang="en-US" sz="1600" b="1">
                <a:effectLst>
                  <a:outerShdw blurRad="38100" dist="38100" dir="2700000" algn="tl">
                    <a:srgbClr val="C0C0C0"/>
                  </a:outerShdw>
                </a:effectLst>
                <a:ea typeface="方正准圆简体" pitchFamily="2" charset="-122"/>
              </a:endParaRPr>
            </a:p>
          </p:txBody>
        </p:sp>
        <p:sp>
          <p:nvSpPr>
            <p:cNvPr id="23586" name="Rectangle 89"/>
            <p:cNvSpPr>
              <a:spLocks noChangeArrowheads="1"/>
            </p:cNvSpPr>
            <p:nvPr/>
          </p:nvSpPr>
          <p:spPr bwMode="auto">
            <a:xfrm>
              <a:off x="4008" y="3396"/>
              <a:ext cx="1039" cy="531"/>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87" name="Rectangle 90"/>
            <p:cNvSpPr>
              <a:spLocks noChangeArrowheads="1"/>
            </p:cNvSpPr>
            <p:nvPr/>
          </p:nvSpPr>
          <p:spPr bwMode="auto">
            <a:xfrm>
              <a:off x="4008" y="3396"/>
              <a:ext cx="1039" cy="531"/>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011" name="Rectangle 91"/>
            <p:cNvSpPr>
              <a:spLocks noChangeArrowheads="1"/>
            </p:cNvSpPr>
            <p:nvPr/>
          </p:nvSpPr>
          <p:spPr bwMode="auto">
            <a:xfrm>
              <a:off x="4218" y="3575"/>
              <a:ext cx="175" cy="172"/>
            </a:xfrm>
            <a:prstGeom prst="rect">
              <a:avLst/>
            </a:prstGeom>
            <a:noFill/>
            <a:ln w="9525">
              <a:noFill/>
              <a:miter lim="800000"/>
            </a:ln>
          </p:spPr>
          <p:txBody>
            <a:bodyPr wrap="none" lIns="0" tIns="0" rIns="0" bIns="0">
              <a:spAutoFit/>
            </a:bodyPr>
            <a:lstStyle/>
            <a:p>
              <a:pPr algn="ctr" eaLnBrk="1" hangingPunct="1">
                <a:defRPr/>
              </a:pPr>
              <a:r>
                <a:rPr lang="en-US" altLang="zh-CN" sz="1900">
                  <a:solidFill>
                    <a:srgbClr val="000000"/>
                  </a:solidFill>
                  <a:latin typeface="宋体" panose="02010600030101010101" pitchFamily="2" charset="-122"/>
                  <a:ea typeface="宋体" panose="02010600030101010101" pitchFamily="2" charset="-122"/>
                </a:rPr>
                <a:t>I</a:t>
              </a:r>
              <a:endParaRPr lang="en-US" altLang="zh-CN" sz="1600">
                <a:effectLst>
                  <a:outerShdw blurRad="38100" dist="38100" dir="2700000" algn="tl">
                    <a:srgbClr val="C0C0C0"/>
                  </a:outerShdw>
                </a:effectLst>
                <a:ea typeface="方正准圆简体" pitchFamily="2" charset="-122"/>
              </a:endParaRPr>
            </a:p>
          </p:txBody>
        </p:sp>
        <p:sp>
          <p:nvSpPr>
            <p:cNvPr id="82012" name="Rectangle 92"/>
            <p:cNvSpPr>
              <a:spLocks noChangeArrowheads="1"/>
            </p:cNvSpPr>
            <p:nvPr/>
          </p:nvSpPr>
          <p:spPr bwMode="auto">
            <a:xfrm>
              <a:off x="4305" y="3575"/>
              <a:ext cx="175" cy="172"/>
            </a:xfrm>
            <a:prstGeom prst="rect">
              <a:avLst/>
            </a:prstGeom>
            <a:noFill/>
            <a:ln w="9525">
              <a:noFill/>
              <a:miter lim="800000"/>
            </a:ln>
          </p:spPr>
          <p:txBody>
            <a:bodyPr wrap="none" lIns="0" tIns="0" rIns="0" bIns="0">
              <a:spAutoFit/>
            </a:bodyPr>
            <a:lstStyle/>
            <a:p>
              <a:pPr algn="ctr" eaLnBrk="1" hangingPunct="1">
                <a:defRPr/>
              </a:pPr>
              <a:r>
                <a:rPr lang="en-US" altLang="zh-CN" sz="1900">
                  <a:solidFill>
                    <a:srgbClr val="000000"/>
                  </a:solidFill>
                  <a:latin typeface="宋体" panose="02010600030101010101" pitchFamily="2" charset="-122"/>
                  <a:ea typeface="宋体" panose="02010600030101010101" pitchFamily="2" charset="-122"/>
                </a:rPr>
                <a:t>/</a:t>
              </a:r>
              <a:endParaRPr lang="en-US" altLang="zh-CN" sz="1600">
                <a:effectLst>
                  <a:outerShdw blurRad="38100" dist="38100" dir="2700000" algn="tl">
                    <a:srgbClr val="C0C0C0"/>
                  </a:outerShdw>
                </a:effectLst>
                <a:ea typeface="方正准圆简体" pitchFamily="2" charset="-122"/>
              </a:endParaRPr>
            </a:p>
          </p:txBody>
        </p:sp>
        <p:sp>
          <p:nvSpPr>
            <p:cNvPr id="82013" name="Rectangle 93"/>
            <p:cNvSpPr>
              <a:spLocks noChangeArrowheads="1"/>
            </p:cNvSpPr>
            <p:nvPr/>
          </p:nvSpPr>
          <p:spPr bwMode="auto">
            <a:xfrm>
              <a:off x="4392" y="3575"/>
              <a:ext cx="175" cy="172"/>
            </a:xfrm>
            <a:prstGeom prst="rect">
              <a:avLst/>
            </a:prstGeom>
            <a:noFill/>
            <a:ln w="9525">
              <a:noFill/>
              <a:miter lim="800000"/>
            </a:ln>
          </p:spPr>
          <p:txBody>
            <a:bodyPr wrap="none" lIns="0" tIns="0" rIns="0" bIns="0">
              <a:spAutoFit/>
            </a:bodyPr>
            <a:lstStyle/>
            <a:p>
              <a:pPr algn="ctr" eaLnBrk="1" hangingPunct="1">
                <a:defRPr/>
              </a:pPr>
              <a:r>
                <a:rPr lang="en-US" altLang="zh-CN" sz="1900">
                  <a:solidFill>
                    <a:srgbClr val="000000"/>
                  </a:solidFill>
                  <a:latin typeface="宋体" panose="02010600030101010101" pitchFamily="2" charset="-122"/>
                  <a:ea typeface="宋体" panose="02010600030101010101" pitchFamily="2" charset="-122"/>
                </a:rPr>
                <a:t>O</a:t>
              </a:r>
              <a:endParaRPr lang="en-US" altLang="zh-CN" sz="1600">
                <a:effectLst>
                  <a:outerShdw blurRad="38100" dist="38100" dir="2700000" algn="tl">
                    <a:srgbClr val="C0C0C0"/>
                  </a:outerShdw>
                </a:effectLst>
                <a:ea typeface="方正准圆简体" pitchFamily="2" charset="-122"/>
              </a:endParaRPr>
            </a:p>
          </p:txBody>
        </p:sp>
        <p:sp>
          <p:nvSpPr>
            <p:cNvPr id="82014" name="Rectangle 94"/>
            <p:cNvSpPr>
              <a:spLocks noChangeArrowheads="1"/>
            </p:cNvSpPr>
            <p:nvPr/>
          </p:nvSpPr>
          <p:spPr bwMode="auto">
            <a:xfrm>
              <a:off x="4480" y="3575"/>
              <a:ext cx="262" cy="172"/>
            </a:xfrm>
            <a:prstGeom prst="rect">
              <a:avLst/>
            </a:prstGeom>
            <a:noFill/>
            <a:ln w="9525">
              <a:noFill/>
              <a:miter lim="800000"/>
            </a:ln>
          </p:spPr>
          <p:txBody>
            <a:bodyPr wrap="none" lIns="0" tIns="0" rIns="0" bIns="0">
              <a:spAutoFit/>
            </a:bodyPr>
            <a:lstStyle/>
            <a:p>
              <a:pPr algn="ctr" eaLnBrk="1" hangingPunct="1">
                <a:defRPr/>
              </a:pPr>
              <a:r>
                <a:rPr lang="zh-CN" altLang="en-US" sz="1900">
                  <a:solidFill>
                    <a:srgbClr val="000000"/>
                  </a:solidFill>
                  <a:latin typeface="宋体" panose="02010600030101010101" pitchFamily="2" charset="-122"/>
                  <a:ea typeface="宋体" panose="02010600030101010101" pitchFamily="2" charset="-122"/>
                </a:rPr>
                <a:t>设</a:t>
              </a:r>
              <a:endParaRPr lang="zh-CN" altLang="en-US" sz="1600">
                <a:effectLst>
                  <a:outerShdw blurRad="38100" dist="38100" dir="2700000" algn="tl">
                    <a:srgbClr val="C0C0C0"/>
                  </a:outerShdw>
                </a:effectLst>
                <a:ea typeface="方正准圆简体" pitchFamily="2" charset="-122"/>
              </a:endParaRPr>
            </a:p>
          </p:txBody>
        </p:sp>
        <p:sp>
          <p:nvSpPr>
            <p:cNvPr id="82015" name="Rectangle 95"/>
            <p:cNvSpPr>
              <a:spLocks noChangeArrowheads="1"/>
            </p:cNvSpPr>
            <p:nvPr/>
          </p:nvSpPr>
          <p:spPr bwMode="auto">
            <a:xfrm>
              <a:off x="4654" y="3575"/>
              <a:ext cx="262" cy="172"/>
            </a:xfrm>
            <a:prstGeom prst="rect">
              <a:avLst/>
            </a:prstGeom>
            <a:noFill/>
            <a:ln w="9525">
              <a:noFill/>
              <a:miter lim="800000"/>
            </a:ln>
          </p:spPr>
          <p:txBody>
            <a:bodyPr wrap="none" lIns="0" tIns="0" rIns="0" bIns="0">
              <a:spAutoFit/>
            </a:bodyPr>
            <a:lstStyle/>
            <a:p>
              <a:pPr algn="ctr" eaLnBrk="1" hangingPunct="1">
                <a:defRPr/>
              </a:pPr>
              <a:r>
                <a:rPr lang="zh-CN" altLang="en-US" sz="1900">
                  <a:solidFill>
                    <a:srgbClr val="000000"/>
                  </a:solidFill>
                  <a:latin typeface="宋体" panose="02010600030101010101" pitchFamily="2" charset="-122"/>
                  <a:ea typeface="宋体" panose="02010600030101010101" pitchFamily="2" charset="-122"/>
                </a:rPr>
                <a:t>备</a:t>
              </a:r>
              <a:endParaRPr lang="zh-CN" altLang="en-US" sz="1600">
                <a:effectLst>
                  <a:outerShdw blurRad="38100" dist="38100" dir="2700000" algn="tl">
                    <a:srgbClr val="C0C0C0"/>
                  </a:outerShdw>
                </a:effectLst>
                <a:ea typeface="方正准圆简体" pitchFamily="2" charset="-122"/>
              </a:endParaRPr>
            </a:p>
          </p:txBody>
        </p:sp>
        <p:sp>
          <p:nvSpPr>
            <p:cNvPr id="23593" name="Freeform 96"/>
            <p:cNvSpPr/>
            <p:nvPr/>
          </p:nvSpPr>
          <p:spPr bwMode="auto">
            <a:xfrm>
              <a:off x="4427" y="3044"/>
              <a:ext cx="166" cy="352"/>
            </a:xfrm>
            <a:custGeom>
              <a:avLst/>
              <a:gdLst>
                <a:gd name="T0" fmla="*/ 79 w 166"/>
                <a:gd name="T1" fmla="*/ 352 h 352"/>
                <a:gd name="T2" fmla="*/ 0 w 166"/>
                <a:gd name="T3" fmla="*/ 277 h 352"/>
                <a:gd name="T4" fmla="*/ 53 w 166"/>
                <a:gd name="T5" fmla="*/ 277 h 352"/>
                <a:gd name="T6" fmla="*/ 53 w 166"/>
                <a:gd name="T7" fmla="*/ 68 h 352"/>
                <a:gd name="T8" fmla="*/ 0 w 166"/>
                <a:gd name="T9" fmla="*/ 68 h 352"/>
                <a:gd name="T10" fmla="*/ 79 w 166"/>
                <a:gd name="T11" fmla="*/ 0 h 352"/>
                <a:gd name="T12" fmla="*/ 166 w 166"/>
                <a:gd name="T13" fmla="*/ 68 h 352"/>
                <a:gd name="T14" fmla="*/ 105 w 166"/>
                <a:gd name="T15" fmla="*/ 68 h 352"/>
                <a:gd name="T16" fmla="*/ 105 w 166"/>
                <a:gd name="T17" fmla="*/ 277 h 352"/>
                <a:gd name="T18" fmla="*/ 166 w 166"/>
                <a:gd name="T19" fmla="*/ 277 h 352"/>
                <a:gd name="T20" fmla="*/ 79 w 166"/>
                <a:gd name="T21" fmla="*/ 352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352"/>
                <a:gd name="T35" fmla="*/ 166 w 166"/>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352">
                  <a:moveTo>
                    <a:pt x="79" y="352"/>
                  </a:moveTo>
                  <a:lnTo>
                    <a:pt x="0" y="277"/>
                  </a:lnTo>
                  <a:lnTo>
                    <a:pt x="53" y="277"/>
                  </a:lnTo>
                  <a:lnTo>
                    <a:pt x="53" y="68"/>
                  </a:lnTo>
                  <a:lnTo>
                    <a:pt x="0" y="68"/>
                  </a:lnTo>
                  <a:lnTo>
                    <a:pt x="79" y="0"/>
                  </a:lnTo>
                  <a:lnTo>
                    <a:pt x="166" y="68"/>
                  </a:lnTo>
                  <a:lnTo>
                    <a:pt x="105" y="68"/>
                  </a:lnTo>
                  <a:lnTo>
                    <a:pt x="105" y="277"/>
                  </a:lnTo>
                  <a:lnTo>
                    <a:pt x="166" y="277"/>
                  </a:lnTo>
                  <a:lnTo>
                    <a:pt x="79" y="352"/>
                  </a:lnTo>
                  <a:close/>
                </a:path>
              </a:pathLst>
            </a:custGeom>
            <a:solidFill>
              <a:srgbClr val="CCFFC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3594" name="Freeform 97"/>
            <p:cNvSpPr/>
            <p:nvPr/>
          </p:nvSpPr>
          <p:spPr bwMode="auto">
            <a:xfrm>
              <a:off x="4427" y="3044"/>
              <a:ext cx="166" cy="352"/>
            </a:xfrm>
            <a:custGeom>
              <a:avLst/>
              <a:gdLst>
                <a:gd name="T0" fmla="*/ 79 w 166"/>
                <a:gd name="T1" fmla="*/ 352 h 352"/>
                <a:gd name="T2" fmla="*/ 0 w 166"/>
                <a:gd name="T3" fmla="*/ 277 h 352"/>
                <a:gd name="T4" fmla="*/ 53 w 166"/>
                <a:gd name="T5" fmla="*/ 277 h 352"/>
                <a:gd name="T6" fmla="*/ 53 w 166"/>
                <a:gd name="T7" fmla="*/ 68 h 352"/>
                <a:gd name="T8" fmla="*/ 0 w 166"/>
                <a:gd name="T9" fmla="*/ 68 h 352"/>
                <a:gd name="T10" fmla="*/ 79 w 166"/>
                <a:gd name="T11" fmla="*/ 0 h 352"/>
                <a:gd name="T12" fmla="*/ 166 w 166"/>
                <a:gd name="T13" fmla="*/ 68 h 352"/>
                <a:gd name="T14" fmla="*/ 105 w 166"/>
                <a:gd name="T15" fmla="*/ 68 h 352"/>
                <a:gd name="T16" fmla="*/ 105 w 166"/>
                <a:gd name="T17" fmla="*/ 277 h 352"/>
                <a:gd name="T18" fmla="*/ 166 w 166"/>
                <a:gd name="T19" fmla="*/ 277 h 352"/>
                <a:gd name="T20" fmla="*/ 79 w 166"/>
                <a:gd name="T21" fmla="*/ 352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6"/>
                <a:gd name="T34" fmla="*/ 0 h 352"/>
                <a:gd name="T35" fmla="*/ 166 w 166"/>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6" h="352">
                  <a:moveTo>
                    <a:pt x="79" y="352"/>
                  </a:moveTo>
                  <a:lnTo>
                    <a:pt x="0" y="277"/>
                  </a:lnTo>
                  <a:lnTo>
                    <a:pt x="53" y="277"/>
                  </a:lnTo>
                  <a:lnTo>
                    <a:pt x="53" y="68"/>
                  </a:lnTo>
                  <a:lnTo>
                    <a:pt x="0" y="68"/>
                  </a:lnTo>
                  <a:lnTo>
                    <a:pt x="79" y="0"/>
                  </a:lnTo>
                  <a:lnTo>
                    <a:pt x="166" y="68"/>
                  </a:lnTo>
                  <a:lnTo>
                    <a:pt x="105" y="68"/>
                  </a:lnTo>
                  <a:lnTo>
                    <a:pt x="105" y="277"/>
                  </a:lnTo>
                  <a:lnTo>
                    <a:pt x="166" y="277"/>
                  </a:lnTo>
                  <a:lnTo>
                    <a:pt x="79" y="352"/>
                  </a:lnTo>
                  <a:close/>
                </a:path>
              </a:pathLst>
            </a:custGeom>
            <a:noFill/>
            <a:ln w="14288">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018" name="Rectangle 98"/>
            <p:cNvSpPr>
              <a:spLocks noChangeArrowheads="1"/>
            </p:cNvSpPr>
            <p:nvPr/>
          </p:nvSpPr>
          <p:spPr bwMode="auto">
            <a:xfrm>
              <a:off x="4622" y="3134"/>
              <a:ext cx="152" cy="182"/>
            </a:xfrm>
            <a:prstGeom prst="rect">
              <a:avLst/>
            </a:prstGeom>
            <a:noFill/>
            <a:ln w="9525">
              <a:noFill/>
              <a:miter lim="800000"/>
            </a:ln>
          </p:spPr>
          <p:txBody>
            <a:bodyPr wrap="none" lIns="0" tIns="0" rIns="0" bIns="0">
              <a:spAutoFit/>
            </a:bodyPr>
            <a:lstStyle/>
            <a:p>
              <a:pPr algn="ctr" eaLnBrk="1" hangingPunct="1">
                <a:defRPr/>
              </a:pPr>
              <a:r>
                <a:rPr lang="zh-CN" altLang="en-US" sz="1900" b="1">
                  <a:latin typeface="宋体" panose="02010600030101010101" pitchFamily="2" charset="-122"/>
                  <a:ea typeface="宋体" panose="02010600030101010101" pitchFamily="2" charset="-122"/>
                </a:rPr>
                <a:t>设</a:t>
              </a:r>
              <a:endParaRPr lang="zh-CN" altLang="en-US" sz="1600" b="1">
                <a:effectLst>
                  <a:outerShdw blurRad="38100" dist="38100" dir="2700000" algn="tl">
                    <a:srgbClr val="C0C0C0"/>
                  </a:outerShdw>
                </a:effectLst>
                <a:ea typeface="方正准圆简体" pitchFamily="2" charset="-122"/>
              </a:endParaRPr>
            </a:p>
          </p:txBody>
        </p:sp>
        <p:sp>
          <p:nvSpPr>
            <p:cNvPr id="82019" name="Rectangle 99"/>
            <p:cNvSpPr>
              <a:spLocks noChangeArrowheads="1"/>
            </p:cNvSpPr>
            <p:nvPr/>
          </p:nvSpPr>
          <p:spPr bwMode="auto">
            <a:xfrm>
              <a:off x="4797" y="3134"/>
              <a:ext cx="152" cy="182"/>
            </a:xfrm>
            <a:prstGeom prst="rect">
              <a:avLst/>
            </a:prstGeom>
            <a:noFill/>
            <a:ln w="9525">
              <a:noFill/>
              <a:miter lim="800000"/>
            </a:ln>
          </p:spPr>
          <p:txBody>
            <a:bodyPr wrap="none" lIns="0" tIns="0" rIns="0" bIns="0">
              <a:spAutoFit/>
            </a:bodyPr>
            <a:lstStyle/>
            <a:p>
              <a:pPr algn="ctr" eaLnBrk="1" hangingPunct="1">
                <a:defRPr/>
              </a:pPr>
              <a:r>
                <a:rPr lang="zh-CN" altLang="en-US" sz="1900" b="1">
                  <a:latin typeface="宋体" panose="02010600030101010101" pitchFamily="2" charset="-122"/>
                  <a:ea typeface="宋体" panose="02010600030101010101" pitchFamily="2" charset="-122"/>
                </a:rPr>
                <a:t>备</a:t>
              </a:r>
              <a:endParaRPr lang="zh-CN" altLang="en-US" sz="1600" b="1">
                <a:effectLst>
                  <a:outerShdw blurRad="38100" dist="38100" dir="2700000" algn="tl">
                    <a:srgbClr val="C0C0C0"/>
                  </a:outerShdw>
                </a:effectLst>
                <a:ea typeface="方正准圆简体" pitchFamily="2" charset="-122"/>
              </a:endParaRPr>
            </a:p>
          </p:txBody>
        </p:sp>
        <p:sp>
          <p:nvSpPr>
            <p:cNvPr id="82020" name="Rectangle 100"/>
            <p:cNvSpPr>
              <a:spLocks noChangeArrowheads="1"/>
            </p:cNvSpPr>
            <p:nvPr/>
          </p:nvSpPr>
          <p:spPr bwMode="auto">
            <a:xfrm>
              <a:off x="4971" y="3134"/>
              <a:ext cx="152" cy="182"/>
            </a:xfrm>
            <a:prstGeom prst="rect">
              <a:avLst/>
            </a:prstGeom>
            <a:noFill/>
            <a:ln w="9525">
              <a:noFill/>
              <a:miter lim="800000"/>
            </a:ln>
          </p:spPr>
          <p:txBody>
            <a:bodyPr wrap="none" lIns="0" tIns="0" rIns="0" bIns="0">
              <a:spAutoFit/>
            </a:bodyPr>
            <a:lstStyle/>
            <a:p>
              <a:pPr algn="ctr" eaLnBrk="1" hangingPunct="1">
                <a:defRPr/>
              </a:pPr>
              <a:r>
                <a:rPr lang="zh-CN" altLang="en-US" sz="1900" b="1">
                  <a:latin typeface="宋体" panose="02010600030101010101" pitchFamily="2" charset="-122"/>
                  <a:ea typeface="宋体" panose="02010600030101010101" pitchFamily="2" charset="-122"/>
                </a:rPr>
                <a:t>总</a:t>
              </a:r>
              <a:endParaRPr lang="zh-CN" altLang="en-US" sz="1600" b="1">
                <a:effectLst>
                  <a:outerShdw blurRad="38100" dist="38100" dir="2700000" algn="tl">
                    <a:srgbClr val="C0C0C0"/>
                  </a:outerShdw>
                </a:effectLst>
                <a:ea typeface="方正准圆简体" pitchFamily="2" charset="-122"/>
              </a:endParaRPr>
            </a:p>
          </p:txBody>
        </p:sp>
        <p:sp>
          <p:nvSpPr>
            <p:cNvPr id="82021" name="Rectangle 101"/>
            <p:cNvSpPr>
              <a:spLocks noChangeArrowheads="1"/>
            </p:cNvSpPr>
            <p:nvPr/>
          </p:nvSpPr>
          <p:spPr bwMode="auto">
            <a:xfrm>
              <a:off x="5146" y="3134"/>
              <a:ext cx="152" cy="182"/>
            </a:xfrm>
            <a:prstGeom prst="rect">
              <a:avLst/>
            </a:prstGeom>
            <a:noFill/>
            <a:ln w="9525">
              <a:noFill/>
              <a:miter lim="800000"/>
            </a:ln>
          </p:spPr>
          <p:txBody>
            <a:bodyPr wrap="none" lIns="0" tIns="0" rIns="0" bIns="0">
              <a:spAutoFit/>
            </a:bodyPr>
            <a:lstStyle/>
            <a:p>
              <a:pPr algn="ctr" eaLnBrk="1" hangingPunct="1">
                <a:defRPr/>
              </a:pPr>
              <a:r>
                <a:rPr lang="zh-CN" altLang="en-US" sz="1900" b="1">
                  <a:latin typeface="宋体" panose="02010600030101010101" pitchFamily="2" charset="-122"/>
                  <a:ea typeface="宋体" panose="02010600030101010101" pitchFamily="2" charset="-122"/>
                </a:rPr>
                <a:t>线</a:t>
              </a:r>
              <a:endParaRPr lang="zh-CN" altLang="en-US" sz="1600" b="1">
                <a:effectLst>
                  <a:outerShdw blurRad="38100" dist="38100" dir="2700000" algn="tl">
                    <a:srgbClr val="C0C0C0"/>
                  </a:outerShdw>
                </a:effectLst>
                <a:ea typeface="方正准圆简体" pitchFamily="2" charset="-122"/>
              </a:endParaRPr>
            </a:p>
          </p:txBody>
        </p:sp>
      </p:gr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1923"/>
                                        </p:tgtEl>
                                        <p:attrNameLst>
                                          <p:attrName>style.visibility</p:attrName>
                                        </p:attrNameLst>
                                      </p:cBhvr>
                                      <p:to>
                                        <p:strVal val="visible"/>
                                      </p:to>
                                    </p:set>
                                    <p:anim calcmode="lin" valueType="num">
                                      <p:cBhvr additive="base">
                                        <p:cTn id="7" dur="500" fill="hold"/>
                                        <p:tgtEl>
                                          <p:spTgt spid="81923"/>
                                        </p:tgtEl>
                                        <p:attrNameLst>
                                          <p:attrName>ppt_x</p:attrName>
                                        </p:attrNameLst>
                                      </p:cBhvr>
                                      <p:tavLst>
                                        <p:tav tm="0">
                                          <p:val>
                                            <p:strVal val="0-#ppt_w/2"/>
                                          </p:val>
                                        </p:tav>
                                        <p:tav tm="100000">
                                          <p:val>
                                            <p:strVal val="#ppt_x"/>
                                          </p:val>
                                        </p:tav>
                                      </p:tavLst>
                                    </p:anim>
                                    <p:anim calcmode="lin" valueType="num">
                                      <p:cBhvr additive="base">
                                        <p:cTn id="8" dur="500" fill="hold"/>
                                        <p:tgtEl>
                                          <p:spTgt spid="819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t>早期总线内部结构</a:t>
            </a:r>
            <a:endParaRPr lang="zh-CN" altLang="en-US"/>
          </a:p>
        </p:txBody>
      </p:sp>
      <p:sp>
        <p:nvSpPr>
          <p:cNvPr id="25603" name="内容占位符 2"/>
          <p:cNvSpPr>
            <a:spLocks noGrp="1" noChangeArrowheads="1"/>
          </p:cNvSpPr>
          <p:nvPr>
            <p:ph idx="1"/>
          </p:nvPr>
        </p:nvSpPr>
        <p:spPr/>
        <p:txBody>
          <a:bodyPr/>
          <a:lstStyle/>
          <a:p>
            <a:endParaRPr lang="zh-CN" altLang="en-US"/>
          </a:p>
        </p:txBody>
      </p:sp>
      <p:sp>
        <p:nvSpPr>
          <p:cNvPr id="5" name="AutoShape 29"/>
          <p:cNvSpPr>
            <a:spLocks noChangeArrowheads="1"/>
          </p:cNvSpPr>
          <p:nvPr/>
        </p:nvSpPr>
        <p:spPr bwMode="auto">
          <a:xfrm>
            <a:off x="7926388" y="2789238"/>
            <a:ext cx="230187" cy="2314575"/>
          </a:xfrm>
          <a:prstGeom prst="upDownArrow">
            <a:avLst>
              <a:gd name="adj1" fmla="val 50343"/>
              <a:gd name="adj2" fmla="val 73086"/>
            </a:avLst>
          </a:prstGeom>
          <a:solidFill>
            <a:srgbClr val="FFFF99"/>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6" name="AutoShape 30"/>
          <p:cNvSpPr>
            <a:spLocks noChangeArrowheads="1"/>
          </p:cNvSpPr>
          <p:nvPr/>
        </p:nvSpPr>
        <p:spPr bwMode="auto">
          <a:xfrm>
            <a:off x="7545388" y="2779713"/>
            <a:ext cx="230187" cy="1466850"/>
          </a:xfrm>
          <a:prstGeom prst="upDownArrow">
            <a:avLst>
              <a:gd name="adj1" fmla="val 50343"/>
              <a:gd name="adj2" fmla="val 77944"/>
            </a:avLst>
          </a:prstGeom>
          <a:solidFill>
            <a:srgbClr val="FF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7" name="AutoShape 31"/>
          <p:cNvSpPr>
            <a:spLocks noChangeArrowheads="1"/>
          </p:cNvSpPr>
          <p:nvPr/>
        </p:nvSpPr>
        <p:spPr bwMode="auto">
          <a:xfrm>
            <a:off x="7150100" y="2779713"/>
            <a:ext cx="228600" cy="701675"/>
          </a:xfrm>
          <a:prstGeom prst="upArrow">
            <a:avLst>
              <a:gd name="adj1" fmla="val 50000"/>
              <a:gd name="adj2" fmla="val 76736"/>
            </a:avLst>
          </a:prstGeom>
          <a:solidFill>
            <a:srgbClr val="00FF00"/>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8" name="AutoShape 25"/>
          <p:cNvSpPr>
            <a:spLocks noChangeArrowheads="1"/>
          </p:cNvSpPr>
          <p:nvPr/>
        </p:nvSpPr>
        <p:spPr bwMode="auto">
          <a:xfrm>
            <a:off x="5945188" y="2779713"/>
            <a:ext cx="230187" cy="2314575"/>
          </a:xfrm>
          <a:prstGeom prst="upDownArrow">
            <a:avLst>
              <a:gd name="adj1" fmla="val 50343"/>
              <a:gd name="adj2" fmla="val 73086"/>
            </a:avLst>
          </a:prstGeom>
          <a:solidFill>
            <a:srgbClr val="FFFF99"/>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9" name="AutoShape 26"/>
          <p:cNvSpPr>
            <a:spLocks noChangeArrowheads="1"/>
          </p:cNvSpPr>
          <p:nvPr/>
        </p:nvSpPr>
        <p:spPr bwMode="auto">
          <a:xfrm>
            <a:off x="5564188" y="2770188"/>
            <a:ext cx="230187" cy="1466850"/>
          </a:xfrm>
          <a:prstGeom prst="upDownArrow">
            <a:avLst>
              <a:gd name="adj1" fmla="val 50343"/>
              <a:gd name="adj2" fmla="val 77944"/>
            </a:avLst>
          </a:prstGeom>
          <a:solidFill>
            <a:srgbClr val="FF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10" name="AutoShape 27"/>
          <p:cNvSpPr>
            <a:spLocks noChangeArrowheads="1"/>
          </p:cNvSpPr>
          <p:nvPr/>
        </p:nvSpPr>
        <p:spPr bwMode="auto">
          <a:xfrm>
            <a:off x="5168900" y="2770188"/>
            <a:ext cx="228600" cy="701675"/>
          </a:xfrm>
          <a:prstGeom prst="upArrow">
            <a:avLst>
              <a:gd name="adj1" fmla="val 50000"/>
              <a:gd name="adj2" fmla="val 76736"/>
            </a:avLst>
          </a:prstGeom>
          <a:solidFill>
            <a:srgbClr val="00FF00"/>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11" name="AutoShape 23"/>
          <p:cNvSpPr>
            <a:spLocks noChangeArrowheads="1"/>
          </p:cNvSpPr>
          <p:nvPr/>
        </p:nvSpPr>
        <p:spPr bwMode="auto">
          <a:xfrm>
            <a:off x="4173538" y="2779713"/>
            <a:ext cx="230187" cy="2314575"/>
          </a:xfrm>
          <a:prstGeom prst="upDownArrow">
            <a:avLst>
              <a:gd name="adj1" fmla="val 50343"/>
              <a:gd name="adj2" fmla="val 73086"/>
            </a:avLst>
          </a:prstGeom>
          <a:solidFill>
            <a:srgbClr val="FFFF99"/>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12" name="AutoShape 22"/>
          <p:cNvSpPr>
            <a:spLocks noChangeArrowheads="1"/>
          </p:cNvSpPr>
          <p:nvPr/>
        </p:nvSpPr>
        <p:spPr bwMode="auto">
          <a:xfrm>
            <a:off x="3792538" y="2770188"/>
            <a:ext cx="230187" cy="1466850"/>
          </a:xfrm>
          <a:prstGeom prst="upDownArrow">
            <a:avLst>
              <a:gd name="adj1" fmla="val 50343"/>
              <a:gd name="adj2" fmla="val 77944"/>
            </a:avLst>
          </a:prstGeom>
          <a:solidFill>
            <a:srgbClr val="FF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13" name="AutoShape 20"/>
          <p:cNvSpPr>
            <a:spLocks noChangeArrowheads="1"/>
          </p:cNvSpPr>
          <p:nvPr/>
        </p:nvSpPr>
        <p:spPr bwMode="auto">
          <a:xfrm>
            <a:off x="3397250" y="2770188"/>
            <a:ext cx="228600" cy="701675"/>
          </a:xfrm>
          <a:prstGeom prst="upArrow">
            <a:avLst>
              <a:gd name="adj1" fmla="val 50000"/>
              <a:gd name="adj2" fmla="val 76736"/>
            </a:avLst>
          </a:prstGeom>
          <a:solidFill>
            <a:srgbClr val="00FF00"/>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15" name="Rectangle 4"/>
          <p:cNvSpPr>
            <a:spLocks noChangeArrowheads="1"/>
          </p:cNvSpPr>
          <p:nvPr/>
        </p:nvSpPr>
        <p:spPr bwMode="auto">
          <a:xfrm>
            <a:off x="539750" y="2513013"/>
            <a:ext cx="1271588" cy="3028950"/>
          </a:xfrm>
          <a:prstGeom prst="rect">
            <a:avLst/>
          </a:prstGeom>
          <a:solidFill>
            <a:srgbClr val="00E4A8"/>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en-US" altLang="zh-CN" sz="1800" b="1" kern="0">
                <a:solidFill>
                  <a:srgbClr val="000000"/>
                </a:solidFill>
                <a:latin typeface="Tahoma" panose="020B0604030504040204" pitchFamily="34" charset="0"/>
                <a:ea typeface="宋体" panose="02010600030101010101" pitchFamily="2" charset="-122"/>
              </a:rPr>
              <a:t>CPU</a:t>
            </a:r>
            <a:endParaRPr kumimoji="0" lang="en-US" altLang="zh-CN" sz="1800" b="1" kern="0">
              <a:solidFill>
                <a:srgbClr val="000000"/>
              </a:solidFill>
              <a:latin typeface="Tahoma" panose="020B0604030504040204" pitchFamily="34" charset="0"/>
              <a:ea typeface="宋体" panose="02010600030101010101" pitchFamily="2" charset="-122"/>
            </a:endParaRPr>
          </a:p>
        </p:txBody>
      </p:sp>
      <p:sp>
        <p:nvSpPr>
          <p:cNvPr id="16" name="Rectangle 5"/>
          <p:cNvSpPr>
            <a:spLocks noChangeArrowheads="1"/>
          </p:cNvSpPr>
          <p:nvPr/>
        </p:nvSpPr>
        <p:spPr bwMode="auto">
          <a:xfrm>
            <a:off x="2540000" y="3241675"/>
            <a:ext cx="414338" cy="471488"/>
          </a:xfrm>
          <a:prstGeom prst="rect">
            <a:avLst/>
          </a:prstGeom>
          <a:solidFill>
            <a:srgbClr val="00FF00"/>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17" name="Rectangle 6"/>
          <p:cNvSpPr>
            <a:spLocks noChangeArrowheads="1"/>
          </p:cNvSpPr>
          <p:nvPr/>
        </p:nvSpPr>
        <p:spPr bwMode="auto">
          <a:xfrm>
            <a:off x="2540000" y="4098925"/>
            <a:ext cx="414338" cy="471488"/>
          </a:xfrm>
          <a:prstGeom prst="rect">
            <a:avLst/>
          </a:prstGeom>
          <a:solidFill>
            <a:srgbClr val="FF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8" name="Rectangle 7"/>
          <p:cNvSpPr>
            <a:spLocks noChangeArrowheads="1"/>
          </p:cNvSpPr>
          <p:nvPr/>
        </p:nvSpPr>
        <p:spPr bwMode="auto">
          <a:xfrm>
            <a:off x="2540000" y="4956175"/>
            <a:ext cx="414338" cy="471488"/>
          </a:xfrm>
          <a:prstGeom prst="rect">
            <a:avLst/>
          </a:prstGeom>
          <a:solidFill>
            <a:srgbClr val="FFFF99"/>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618" name="Rectangle 8"/>
          <p:cNvSpPr>
            <a:spLocks noChangeArrowheads="1"/>
          </p:cNvSpPr>
          <p:nvPr/>
        </p:nvSpPr>
        <p:spPr bwMode="auto">
          <a:xfrm>
            <a:off x="3282950" y="1827213"/>
            <a:ext cx="1214438" cy="942975"/>
          </a:xfrm>
          <a:prstGeom prst="rect">
            <a:avLst/>
          </a:prstGeom>
          <a:solidFill>
            <a:srgbClr val="FFCC99"/>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a:solidFill>
                  <a:srgbClr val="000000"/>
                </a:solidFill>
                <a:latin typeface="楷体" panose="02010609060101010101" pitchFamily="49" charset="-122"/>
                <a:ea typeface="楷体" panose="02010609060101010101" pitchFamily="49" charset="-122"/>
              </a:rPr>
              <a:t>存储器</a:t>
            </a:r>
            <a:endParaRPr kumimoji="0" lang="zh-CN" altLang="en-US" sz="2400" b="1">
              <a:solidFill>
                <a:srgbClr val="000000"/>
              </a:solidFill>
              <a:latin typeface="楷体" panose="02010609060101010101" pitchFamily="49" charset="-122"/>
              <a:ea typeface="楷体" panose="02010609060101010101" pitchFamily="49" charset="-122"/>
            </a:endParaRPr>
          </a:p>
          <a:p>
            <a:pPr algn="ctr" eaLnBrk="1" hangingPunct="1"/>
            <a:r>
              <a:rPr kumimoji="0" lang="zh-CN" altLang="en-US" sz="2400" b="1">
                <a:solidFill>
                  <a:srgbClr val="000000"/>
                </a:solidFill>
                <a:latin typeface="楷体" panose="02010609060101010101" pitchFamily="49" charset="-122"/>
                <a:ea typeface="楷体" panose="02010609060101010101" pitchFamily="49" charset="-122"/>
              </a:rPr>
              <a:t>模块</a:t>
            </a:r>
            <a:endParaRPr kumimoji="0" lang="zh-CN" altLang="en-US" sz="2400" b="1">
              <a:solidFill>
                <a:srgbClr val="000000"/>
              </a:solidFill>
              <a:latin typeface="楷体" panose="02010609060101010101" pitchFamily="49" charset="-122"/>
              <a:ea typeface="楷体" panose="02010609060101010101" pitchFamily="49" charset="-122"/>
            </a:endParaRPr>
          </a:p>
        </p:txBody>
      </p:sp>
      <p:sp>
        <p:nvSpPr>
          <p:cNvPr id="25619" name="Rectangle 9"/>
          <p:cNvSpPr>
            <a:spLocks noChangeArrowheads="1"/>
          </p:cNvSpPr>
          <p:nvPr/>
        </p:nvSpPr>
        <p:spPr bwMode="auto">
          <a:xfrm>
            <a:off x="5011738" y="1484313"/>
            <a:ext cx="1300162" cy="428625"/>
          </a:xfrm>
          <a:prstGeom prst="rect">
            <a:avLst/>
          </a:prstGeom>
          <a:solidFill>
            <a:srgbClr val="00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a:solidFill>
                  <a:srgbClr val="000000"/>
                </a:solidFill>
                <a:latin typeface="楷体" panose="02010609060101010101" pitchFamily="49" charset="-122"/>
                <a:ea typeface="楷体" panose="02010609060101010101" pitchFamily="49" charset="-122"/>
              </a:rPr>
              <a:t>输入设备</a:t>
            </a:r>
            <a:endParaRPr kumimoji="0" lang="zh-CN" altLang="en-US" sz="2400" b="1">
              <a:solidFill>
                <a:srgbClr val="000000"/>
              </a:solidFill>
              <a:latin typeface="楷体" panose="02010609060101010101" pitchFamily="49" charset="-122"/>
              <a:ea typeface="楷体" panose="02010609060101010101" pitchFamily="49" charset="-122"/>
            </a:endParaRPr>
          </a:p>
        </p:txBody>
      </p:sp>
      <p:sp>
        <p:nvSpPr>
          <p:cNvPr id="21" name="Rectangle 10"/>
          <p:cNvSpPr>
            <a:spLocks noChangeArrowheads="1"/>
          </p:cNvSpPr>
          <p:nvPr/>
        </p:nvSpPr>
        <p:spPr bwMode="auto">
          <a:xfrm>
            <a:off x="5011738" y="2341563"/>
            <a:ext cx="1300162" cy="428625"/>
          </a:xfrm>
          <a:prstGeom prst="rect">
            <a:avLst/>
          </a:prstGeom>
          <a:solidFill>
            <a:srgbClr val="00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zh-CN" altLang="en-US" sz="2400" b="1" kern="0">
                <a:solidFill>
                  <a:srgbClr val="000000"/>
                </a:solidFill>
                <a:latin typeface="楷体" panose="02010609060101010101" pitchFamily="49" charset="-122"/>
                <a:ea typeface="楷体" panose="02010609060101010101" pitchFamily="49" charset="-122"/>
              </a:rPr>
              <a:t>接口</a:t>
            </a:r>
            <a:endParaRPr kumimoji="0" lang="zh-CN" altLang="en-US" sz="2400" b="1" kern="0">
              <a:solidFill>
                <a:srgbClr val="000000"/>
              </a:solidFill>
              <a:latin typeface="楷体" panose="02010609060101010101" pitchFamily="49" charset="-122"/>
              <a:ea typeface="楷体" panose="02010609060101010101" pitchFamily="49" charset="-122"/>
            </a:endParaRPr>
          </a:p>
        </p:txBody>
      </p:sp>
      <p:sp>
        <p:nvSpPr>
          <p:cNvPr id="25621" name="Rectangle 12"/>
          <p:cNvSpPr>
            <a:spLocks noChangeArrowheads="1"/>
          </p:cNvSpPr>
          <p:nvPr/>
        </p:nvSpPr>
        <p:spPr bwMode="auto">
          <a:xfrm>
            <a:off x="7007225" y="1484313"/>
            <a:ext cx="1300163" cy="428625"/>
          </a:xfrm>
          <a:prstGeom prst="rect">
            <a:avLst/>
          </a:prstGeom>
          <a:solidFill>
            <a:srgbClr val="00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a:solidFill>
                  <a:srgbClr val="000000"/>
                </a:solidFill>
                <a:latin typeface="楷体" panose="02010609060101010101" pitchFamily="49" charset="-122"/>
                <a:ea typeface="楷体" panose="02010609060101010101" pitchFamily="49" charset="-122"/>
              </a:rPr>
              <a:t>输出设备</a:t>
            </a:r>
            <a:endParaRPr kumimoji="0" lang="zh-CN" altLang="en-US" sz="2400" b="1">
              <a:solidFill>
                <a:srgbClr val="000000"/>
              </a:solidFill>
              <a:latin typeface="楷体" panose="02010609060101010101" pitchFamily="49" charset="-122"/>
              <a:ea typeface="楷体" panose="02010609060101010101" pitchFamily="49" charset="-122"/>
            </a:endParaRPr>
          </a:p>
        </p:txBody>
      </p:sp>
      <p:sp>
        <p:nvSpPr>
          <p:cNvPr id="23" name="Rectangle 13"/>
          <p:cNvSpPr>
            <a:spLocks noChangeArrowheads="1"/>
          </p:cNvSpPr>
          <p:nvPr/>
        </p:nvSpPr>
        <p:spPr bwMode="auto">
          <a:xfrm>
            <a:off x="7007225" y="2341563"/>
            <a:ext cx="1300163" cy="428625"/>
          </a:xfrm>
          <a:prstGeom prst="rect">
            <a:avLst/>
          </a:prstGeom>
          <a:solidFill>
            <a:srgbClr val="00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zh-CN" altLang="en-US" sz="2400" b="1" kern="0">
                <a:solidFill>
                  <a:srgbClr val="000000"/>
                </a:solidFill>
                <a:latin typeface="楷体" panose="02010609060101010101" pitchFamily="49" charset="-122"/>
                <a:ea typeface="楷体" panose="02010609060101010101" pitchFamily="49" charset="-122"/>
              </a:rPr>
              <a:t>接口</a:t>
            </a:r>
            <a:endParaRPr kumimoji="0" lang="zh-CN" altLang="en-US" sz="2400" b="1" kern="0">
              <a:solidFill>
                <a:srgbClr val="000000"/>
              </a:solidFill>
              <a:latin typeface="楷体" panose="02010609060101010101" pitchFamily="49" charset="-122"/>
              <a:ea typeface="楷体" panose="02010609060101010101" pitchFamily="49" charset="-122"/>
            </a:endParaRPr>
          </a:p>
        </p:txBody>
      </p:sp>
      <p:sp>
        <p:nvSpPr>
          <p:cNvPr id="24" name="AutoShape 14"/>
          <p:cNvSpPr>
            <a:spLocks noChangeArrowheads="1"/>
          </p:cNvSpPr>
          <p:nvPr/>
        </p:nvSpPr>
        <p:spPr bwMode="auto">
          <a:xfrm>
            <a:off x="2968625" y="5078413"/>
            <a:ext cx="5757863" cy="228600"/>
          </a:xfrm>
          <a:prstGeom prst="leftRightArrow">
            <a:avLst>
              <a:gd name="adj1" fmla="val 66667"/>
              <a:gd name="adj2" fmla="val 118941"/>
            </a:avLst>
          </a:prstGeom>
          <a:solidFill>
            <a:srgbClr val="FFFF99"/>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25" name="AutoShape 15"/>
          <p:cNvSpPr>
            <a:spLocks noChangeArrowheads="1"/>
          </p:cNvSpPr>
          <p:nvPr/>
        </p:nvSpPr>
        <p:spPr bwMode="auto">
          <a:xfrm>
            <a:off x="2954338" y="4221163"/>
            <a:ext cx="5757862" cy="228600"/>
          </a:xfrm>
          <a:prstGeom prst="leftRightArrow">
            <a:avLst>
              <a:gd name="adj1" fmla="val 66667"/>
              <a:gd name="adj2" fmla="val 118941"/>
            </a:avLst>
          </a:prstGeom>
          <a:solidFill>
            <a:srgbClr val="FF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6" name="AutoShape 16"/>
          <p:cNvSpPr>
            <a:spLocks noChangeArrowheads="1"/>
          </p:cNvSpPr>
          <p:nvPr/>
        </p:nvSpPr>
        <p:spPr bwMode="auto">
          <a:xfrm>
            <a:off x="2968625" y="3362325"/>
            <a:ext cx="5757863" cy="230188"/>
          </a:xfrm>
          <a:prstGeom prst="rightArrow">
            <a:avLst>
              <a:gd name="adj1" fmla="val 58454"/>
              <a:gd name="adj2" fmla="val 98897"/>
            </a:avLst>
          </a:prstGeom>
          <a:solidFill>
            <a:srgbClr val="00FF00"/>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27" name="AutoShape 17"/>
          <p:cNvSpPr>
            <a:spLocks noChangeArrowheads="1"/>
          </p:cNvSpPr>
          <p:nvPr/>
        </p:nvSpPr>
        <p:spPr bwMode="auto">
          <a:xfrm>
            <a:off x="1825625" y="4219575"/>
            <a:ext cx="714375" cy="230188"/>
          </a:xfrm>
          <a:prstGeom prst="leftRightArrow">
            <a:avLst>
              <a:gd name="adj1" fmla="val 50000"/>
              <a:gd name="adj2" fmla="val 62069"/>
            </a:avLst>
          </a:prstGeom>
          <a:solidFill>
            <a:srgbClr val="FF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 name="AutoShape 18"/>
          <p:cNvSpPr>
            <a:spLocks noChangeArrowheads="1"/>
          </p:cNvSpPr>
          <p:nvPr/>
        </p:nvSpPr>
        <p:spPr bwMode="auto">
          <a:xfrm>
            <a:off x="1825625" y="5076825"/>
            <a:ext cx="714375" cy="230188"/>
          </a:xfrm>
          <a:prstGeom prst="leftRightArrow">
            <a:avLst>
              <a:gd name="adj1" fmla="val 50000"/>
              <a:gd name="adj2" fmla="val 62069"/>
            </a:avLst>
          </a:prstGeom>
          <a:solidFill>
            <a:srgbClr val="FFFF99"/>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9" name="AutoShape 19"/>
          <p:cNvSpPr>
            <a:spLocks noChangeArrowheads="1"/>
          </p:cNvSpPr>
          <p:nvPr/>
        </p:nvSpPr>
        <p:spPr bwMode="auto">
          <a:xfrm>
            <a:off x="1825625" y="3362325"/>
            <a:ext cx="714375" cy="230188"/>
          </a:xfrm>
          <a:prstGeom prst="rightArrow">
            <a:avLst>
              <a:gd name="adj1" fmla="val 50000"/>
              <a:gd name="adj2" fmla="val 77586"/>
            </a:avLst>
          </a:prstGeom>
          <a:solidFill>
            <a:srgbClr val="00FF00"/>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30" name="Rectangle 21"/>
          <p:cNvSpPr>
            <a:spLocks noChangeArrowheads="1"/>
          </p:cNvSpPr>
          <p:nvPr/>
        </p:nvSpPr>
        <p:spPr bwMode="auto">
          <a:xfrm>
            <a:off x="3468688" y="3332163"/>
            <a:ext cx="88900" cy="142875"/>
          </a:xfrm>
          <a:prstGeom prst="rect">
            <a:avLst/>
          </a:prstGeom>
          <a:solidFill>
            <a:srgbClr val="00FF00"/>
          </a:solidFill>
          <a:ln>
            <a:noFill/>
          </a:ln>
          <a:effectLst/>
          <a:extLs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kumimoji="0" lang="zh-CN" altLang="en-US" sz="180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31" name="Rectangle 28"/>
          <p:cNvSpPr>
            <a:spLocks noChangeArrowheads="1"/>
          </p:cNvSpPr>
          <p:nvPr/>
        </p:nvSpPr>
        <p:spPr bwMode="auto">
          <a:xfrm>
            <a:off x="5240338" y="3332163"/>
            <a:ext cx="88900" cy="142875"/>
          </a:xfrm>
          <a:prstGeom prst="rect">
            <a:avLst/>
          </a:prstGeom>
          <a:solidFill>
            <a:srgbClr val="00FF00"/>
          </a:solidFill>
          <a:ln>
            <a:noFill/>
          </a:ln>
          <a:effectLst/>
          <a:extLs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kumimoji="0" lang="zh-CN" altLang="en-US" sz="180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32" name="Rectangle 32"/>
          <p:cNvSpPr>
            <a:spLocks noChangeArrowheads="1"/>
          </p:cNvSpPr>
          <p:nvPr/>
        </p:nvSpPr>
        <p:spPr bwMode="auto">
          <a:xfrm>
            <a:off x="7221538" y="3341688"/>
            <a:ext cx="88900" cy="142875"/>
          </a:xfrm>
          <a:prstGeom prst="rect">
            <a:avLst/>
          </a:prstGeom>
          <a:solidFill>
            <a:srgbClr val="00FF00"/>
          </a:solidFill>
          <a:ln>
            <a:noFill/>
          </a:ln>
          <a:effectLst/>
          <a:extLs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kumimoji="0" lang="zh-CN" altLang="en-US" sz="180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33" name="Line 33"/>
          <p:cNvSpPr>
            <a:spLocks noChangeShapeType="1"/>
          </p:cNvSpPr>
          <p:nvPr/>
        </p:nvSpPr>
        <p:spPr bwMode="auto">
          <a:xfrm>
            <a:off x="5683250" y="1912938"/>
            <a:ext cx="0" cy="428625"/>
          </a:xfrm>
          <a:prstGeom prst="line">
            <a:avLst/>
          </a:prstGeom>
          <a:noFill/>
          <a:ln w="19050">
            <a:solidFill>
              <a:srgbClr val="000000"/>
            </a:solidFill>
            <a:round/>
            <a:headEnd type="stealth" w="lg" len="lg"/>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34" name="Line 34"/>
          <p:cNvSpPr>
            <a:spLocks noChangeShapeType="1"/>
          </p:cNvSpPr>
          <p:nvPr/>
        </p:nvSpPr>
        <p:spPr bwMode="auto">
          <a:xfrm>
            <a:off x="7669213" y="1912938"/>
            <a:ext cx="0" cy="428625"/>
          </a:xfrm>
          <a:prstGeom prst="line">
            <a:avLst/>
          </a:prstGeom>
          <a:noFill/>
          <a:ln w="19050">
            <a:solidFill>
              <a:srgbClr val="000000"/>
            </a:solidFill>
            <a:round/>
            <a:headEnd type="stealth" w="lg" len="lg"/>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25634" name="Text Box 35"/>
          <p:cNvSpPr txBox="1">
            <a:spLocks noChangeArrowheads="1"/>
          </p:cNvSpPr>
          <p:nvPr/>
        </p:nvSpPr>
        <p:spPr bwMode="auto">
          <a:xfrm>
            <a:off x="6359525" y="172878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en-US" altLang="zh-CN" b="1">
                <a:solidFill>
                  <a:srgbClr val="000000"/>
                </a:solidFill>
                <a:latin typeface="Arial" panose="020B0604020202020204" pitchFamily="34" charset="0"/>
                <a:ea typeface="宋体" panose="02010600030101010101" pitchFamily="2" charset="-122"/>
              </a:rPr>
              <a:t>…</a:t>
            </a:r>
            <a:endParaRPr kumimoji="0" lang="en-US" altLang="zh-CN" b="1">
              <a:solidFill>
                <a:srgbClr val="000000"/>
              </a:solidFill>
              <a:latin typeface="Tahoma" panose="020B0604030504040204" pitchFamily="34" charset="0"/>
              <a:ea typeface="宋体" panose="02010600030101010101" pitchFamily="2" charset="-122"/>
            </a:endParaRPr>
          </a:p>
        </p:txBody>
      </p:sp>
      <p:sp>
        <p:nvSpPr>
          <p:cNvPr id="25635" name="Text Box 36"/>
          <p:cNvSpPr txBox="1">
            <a:spLocks noChangeArrowheads="1"/>
          </p:cNvSpPr>
          <p:nvPr/>
        </p:nvSpPr>
        <p:spPr bwMode="auto">
          <a:xfrm>
            <a:off x="2184417" y="2452688"/>
            <a:ext cx="111280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dirty="0">
                <a:solidFill>
                  <a:srgbClr val="3333CC"/>
                </a:solidFill>
                <a:latin typeface="楷体" panose="02010609060101010101" pitchFamily="49" charset="-122"/>
                <a:ea typeface="楷体" panose="02010609060101010101" pitchFamily="49" charset="-122"/>
              </a:rPr>
              <a:t>锁存器</a:t>
            </a:r>
            <a:endParaRPr kumimoji="0" lang="zh-CN" altLang="en-US" sz="2400" b="1" dirty="0">
              <a:solidFill>
                <a:srgbClr val="3333CC"/>
              </a:solidFill>
              <a:latin typeface="楷体" panose="02010609060101010101" pitchFamily="49" charset="-122"/>
              <a:ea typeface="楷体" panose="02010609060101010101" pitchFamily="49" charset="-122"/>
            </a:endParaRPr>
          </a:p>
          <a:p>
            <a:pPr algn="ctr" eaLnBrk="1" hangingPunct="1"/>
            <a:r>
              <a:rPr kumimoji="0" lang="zh-CN" altLang="en-US" sz="2400" b="1" dirty="0">
                <a:solidFill>
                  <a:srgbClr val="3333CC"/>
                </a:solidFill>
                <a:latin typeface="楷体" panose="02010609060101010101" pitchFamily="49" charset="-122"/>
                <a:ea typeface="楷体" panose="02010609060101010101" pitchFamily="49" charset="-122"/>
              </a:rPr>
              <a:t>驱动门</a:t>
            </a:r>
            <a:endParaRPr kumimoji="0" lang="zh-CN" altLang="en-US" sz="2400" b="1" dirty="0">
              <a:solidFill>
                <a:srgbClr val="3333CC"/>
              </a:solidFill>
              <a:latin typeface="楷体" panose="02010609060101010101" pitchFamily="49" charset="-122"/>
              <a:ea typeface="楷体" panose="02010609060101010101" pitchFamily="49" charset="-122"/>
            </a:endParaRPr>
          </a:p>
        </p:txBody>
      </p:sp>
      <p:sp>
        <p:nvSpPr>
          <p:cNvPr id="25636" name="Text Box 37"/>
          <p:cNvSpPr txBox="1">
            <a:spLocks noChangeArrowheads="1"/>
          </p:cNvSpPr>
          <p:nvPr/>
        </p:nvSpPr>
        <p:spPr bwMode="auto">
          <a:xfrm>
            <a:off x="6149975" y="2981325"/>
            <a:ext cx="1103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a:solidFill>
                  <a:srgbClr val="3333CC"/>
                </a:solidFill>
                <a:latin typeface="楷体" panose="02010609060101010101" pitchFamily="49" charset="-122"/>
                <a:ea typeface="楷体" panose="02010609060101010101" pitchFamily="49" charset="-122"/>
              </a:rPr>
              <a:t>地址线</a:t>
            </a:r>
            <a:endParaRPr kumimoji="0" lang="zh-CN" altLang="en-US" sz="2400" b="1">
              <a:solidFill>
                <a:srgbClr val="3333CC"/>
              </a:solidFill>
              <a:latin typeface="楷体" panose="02010609060101010101" pitchFamily="49" charset="-122"/>
              <a:ea typeface="楷体" panose="02010609060101010101" pitchFamily="49" charset="-122"/>
            </a:endParaRPr>
          </a:p>
        </p:txBody>
      </p:sp>
      <p:sp>
        <p:nvSpPr>
          <p:cNvPr id="25637" name="Text Box 38"/>
          <p:cNvSpPr txBox="1">
            <a:spLocks noChangeArrowheads="1"/>
          </p:cNvSpPr>
          <p:nvPr/>
        </p:nvSpPr>
        <p:spPr bwMode="auto">
          <a:xfrm>
            <a:off x="6149975" y="4681538"/>
            <a:ext cx="1103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a:solidFill>
                  <a:srgbClr val="3333CC"/>
                </a:solidFill>
                <a:latin typeface="楷体" panose="02010609060101010101" pitchFamily="49" charset="-122"/>
                <a:ea typeface="楷体" panose="02010609060101010101" pitchFamily="49" charset="-122"/>
              </a:rPr>
              <a:t>控制线</a:t>
            </a:r>
            <a:endParaRPr kumimoji="0" lang="zh-CN" altLang="en-US" sz="2400" b="1">
              <a:solidFill>
                <a:srgbClr val="3333CC"/>
              </a:solidFill>
              <a:latin typeface="楷体" panose="02010609060101010101" pitchFamily="49" charset="-122"/>
              <a:ea typeface="楷体" panose="02010609060101010101" pitchFamily="49" charset="-122"/>
            </a:endParaRPr>
          </a:p>
        </p:txBody>
      </p:sp>
      <p:sp>
        <p:nvSpPr>
          <p:cNvPr id="25638" name="Text Box 39"/>
          <p:cNvSpPr txBox="1">
            <a:spLocks noChangeArrowheads="1"/>
          </p:cNvSpPr>
          <p:nvPr/>
        </p:nvSpPr>
        <p:spPr bwMode="auto">
          <a:xfrm>
            <a:off x="6149975" y="3830638"/>
            <a:ext cx="1103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a:solidFill>
                  <a:srgbClr val="3333CC"/>
                </a:solidFill>
                <a:latin typeface="楷体" panose="02010609060101010101" pitchFamily="49" charset="-122"/>
                <a:ea typeface="楷体" panose="02010609060101010101" pitchFamily="49" charset="-122"/>
              </a:rPr>
              <a:t>数据线</a:t>
            </a:r>
            <a:endParaRPr kumimoji="0" lang="zh-CN" altLang="en-US" sz="2400" b="1">
              <a:solidFill>
                <a:srgbClr val="3333CC"/>
              </a:solidFill>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t>当代总线内部结构</a:t>
            </a:r>
            <a:endParaRPr lang="zh-CN" altLang="en-US"/>
          </a:p>
        </p:txBody>
      </p:sp>
      <p:sp>
        <p:nvSpPr>
          <p:cNvPr id="27651" name="内容占位符 2"/>
          <p:cNvSpPr>
            <a:spLocks noGrp="1" noChangeArrowheads="1"/>
          </p:cNvSpPr>
          <p:nvPr>
            <p:ph idx="1"/>
          </p:nvPr>
        </p:nvSpPr>
        <p:spPr/>
        <p:txBody>
          <a:bodyPr/>
          <a:lstStyle/>
          <a:p>
            <a:endParaRPr lang="zh-CN" altLang="en-US"/>
          </a:p>
        </p:txBody>
      </p:sp>
      <p:sp>
        <p:nvSpPr>
          <p:cNvPr id="5" name="Rectangle 45"/>
          <p:cNvSpPr>
            <a:spLocks noChangeArrowheads="1"/>
          </p:cNvSpPr>
          <p:nvPr/>
        </p:nvSpPr>
        <p:spPr bwMode="auto">
          <a:xfrm>
            <a:off x="528638" y="3081338"/>
            <a:ext cx="8158162" cy="2571750"/>
          </a:xfrm>
          <a:prstGeom prst="rect">
            <a:avLst/>
          </a:prstGeom>
          <a:solidFill>
            <a:srgbClr val="CCFFFF"/>
          </a:solidFill>
          <a:ln w="19050">
            <a:solidFill>
              <a:srgbClr val="000000"/>
            </a:solidFill>
            <a:prstDash val="dash"/>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7654" name="AutoShape 23"/>
          <p:cNvSpPr>
            <a:spLocks noChangeArrowheads="1"/>
          </p:cNvSpPr>
          <p:nvPr/>
        </p:nvSpPr>
        <p:spPr bwMode="auto">
          <a:xfrm>
            <a:off x="665163" y="3275013"/>
            <a:ext cx="7886700" cy="500062"/>
          </a:xfrm>
          <a:prstGeom prst="leftRightArrow">
            <a:avLst>
              <a:gd name="adj1" fmla="val 72065"/>
              <a:gd name="adj2" fmla="val 51768"/>
            </a:avLst>
          </a:prstGeom>
          <a:solidFill>
            <a:srgbClr val="FF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000" b="1" dirty="0">
                <a:solidFill>
                  <a:srgbClr val="3333CC"/>
                </a:solidFill>
                <a:latin typeface="楷体" panose="02010609060101010101" pitchFamily="49" charset="-122"/>
                <a:ea typeface="楷体" panose="02010609060101010101" pitchFamily="49" charset="-122"/>
              </a:rPr>
              <a:t>数据传送总线（地址线和数据线分时复用）</a:t>
            </a:r>
            <a:endParaRPr kumimoji="0" lang="zh-CN" altLang="en-US" sz="2000" b="1" dirty="0">
              <a:solidFill>
                <a:srgbClr val="3333CC"/>
              </a:solidFill>
              <a:latin typeface="楷体" panose="02010609060101010101" pitchFamily="49" charset="-122"/>
              <a:ea typeface="楷体" panose="02010609060101010101" pitchFamily="49" charset="-122"/>
            </a:endParaRPr>
          </a:p>
        </p:txBody>
      </p:sp>
      <p:sp>
        <p:nvSpPr>
          <p:cNvPr id="27655" name="AutoShape 42"/>
          <p:cNvSpPr>
            <a:spLocks noChangeArrowheads="1"/>
          </p:cNvSpPr>
          <p:nvPr/>
        </p:nvSpPr>
        <p:spPr bwMode="auto">
          <a:xfrm>
            <a:off x="663575" y="3822700"/>
            <a:ext cx="7886700" cy="500063"/>
          </a:xfrm>
          <a:prstGeom prst="leftRightArrow">
            <a:avLst>
              <a:gd name="adj1" fmla="val 72065"/>
              <a:gd name="adj2" fmla="val 51768"/>
            </a:avLst>
          </a:prstGeom>
          <a:solidFill>
            <a:srgbClr val="FF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000" b="1">
                <a:solidFill>
                  <a:srgbClr val="3333CC"/>
                </a:solidFill>
                <a:latin typeface="楷体" panose="02010609060101010101" pitchFamily="49" charset="-122"/>
                <a:ea typeface="楷体" panose="02010609060101010101" pitchFamily="49" charset="-122"/>
              </a:rPr>
              <a:t>仲裁总线</a:t>
            </a:r>
            <a:endParaRPr kumimoji="0" lang="zh-CN" altLang="en-US" sz="2000" b="1">
              <a:solidFill>
                <a:srgbClr val="3333CC"/>
              </a:solidFill>
              <a:latin typeface="楷体" panose="02010609060101010101" pitchFamily="49" charset="-122"/>
              <a:ea typeface="楷体" panose="02010609060101010101" pitchFamily="49" charset="-122"/>
            </a:endParaRPr>
          </a:p>
        </p:txBody>
      </p:sp>
      <p:sp>
        <p:nvSpPr>
          <p:cNvPr id="27656" name="AutoShape 43"/>
          <p:cNvSpPr>
            <a:spLocks noChangeArrowheads="1"/>
          </p:cNvSpPr>
          <p:nvPr/>
        </p:nvSpPr>
        <p:spPr bwMode="auto">
          <a:xfrm>
            <a:off x="663575" y="4370388"/>
            <a:ext cx="7886700" cy="500062"/>
          </a:xfrm>
          <a:prstGeom prst="leftRightArrow">
            <a:avLst>
              <a:gd name="adj1" fmla="val 72065"/>
              <a:gd name="adj2" fmla="val 51768"/>
            </a:avLst>
          </a:prstGeom>
          <a:solidFill>
            <a:srgbClr val="FF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000" b="1">
                <a:solidFill>
                  <a:srgbClr val="3333CC"/>
                </a:solidFill>
                <a:latin typeface="楷体" panose="02010609060101010101" pitchFamily="49" charset="-122"/>
                <a:ea typeface="楷体" panose="02010609060101010101" pitchFamily="49" charset="-122"/>
              </a:rPr>
              <a:t>中断、控制和同步总线</a:t>
            </a:r>
            <a:endParaRPr kumimoji="0" lang="zh-CN" altLang="en-US" sz="2000" b="1">
              <a:solidFill>
                <a:srgbClr val="3333CC"/>
              </a:solidFill>
              <a:latin typeface="楷体" panose="02010609060101010101" pitchFamily="49" charset="-122"/>
              <a:ea typeface="楷体" panose="02010609060101010101" pitchFamily="49" charset="-122"/>
            </a:endParaRPr>
          </a:p>
        </p:txBody>
      </p:sp>
      <p:sp>
        <p:nvSpPr>
          <p:cNvPr id="27657" name="AutoShape 44"/>
          <p:cNvSpPr>
            <a:spLocks noChangeArrowheads="1"/>
          </p:cNvSpPr>
          <p:nvPr/>
        </p:nvSpPr>
        <p:spPr bwMode="auto">
          <a:xfrm>
            <a:off x="663575" y="4918075"/>
            <a:ext cx="7886700" cy="500063"/>
          </a:xfrm>
          <a:prstGeom prst="leftRightArrow">
            <a:avLst>
              <a:gd name="adj1" fmla="val 72065"/>
              <a:gd name="adj2" fmla="val 51768"/>
            </a:avLst>
          </a:prstGeom>
          <a:solidFill>
            <a:srgbClr val="FF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000" b="1">
                <a:solidFill>
                  <a:srgbClr val="3333CC"/>
                </a:solidFill>
                <a:latin typeface="楷体" panose="02010609060101010101" pitchFamily="49" charset="-122"/>
                <a:ea typeface="楷体" panose="02010609060101010101" pitchFamily="49" charset="-122"/>
              </a:rPr>
              <a:t>公用线</a:t>
            </a:r>
            <a:endParaRPr kumimoji="0" lang="zh-CN" altLang="en-US" sz="2000" b="1">
              <a:solidFill>
                <a:srgbClr val="3333CC"/>
              </a:solidFill>
              <a:latin typeface="楷体" panose="02010609060101010101" pitchFamily="49" charset="-122"/>
              <a:ea typeface="楷体" panose="02010609060101010101" pitchFamily="49" charset="-122"/>
            </a:endParaRPr>
          </a:p>
        </p:txBody>
      </p:sp>
      <p:sp>
        <p:nvSpPr>
          <p:cNvPr id="10" name="AutoShape 2"/>
          <p:cNvSpPr>
            <a:spLocks noChangeArrowheads="1"/>
          </p:cNvSpPr>
          <p:nvPr/>
        </p:nvSpPr>
        <p:spPr bwMode="auto">
          <a:xfrm>
            <a:off x="1881188" y="2800350"/>
            <a:ext cx="244475" cy="2171700"/>
          </a:xfrm>
          <a:prstGeom prst="upDownArrow">
            <a:avLst>
              <a:gd name="adj1" fmla="val 50648"/>
              <a:gd name="adj2" fmla="val 50667"/>
            </a:avLst>
          </a:prstGeom>
          <a:solidFill>
            <a:srgbClr val="00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11" name="AutoShape 3"/>
          <p:cNvSpPr>
            <a:spLocks noChangeArrowheads="1"/>
          </p:cNvSpPr>
          <p:nvPr/>
        </p:nvSpPr>
        <p:spPr bwMode="auto">
          <a:xfrm>
            <a:off x="1633538" y="2805113"/>
            <a:ext cx="230187" cy="1624012"/>
          </a:xfrm>
          <a:prstGeom prst="upDownArrow">
            <a:avLst>
              <a:gd name="adj1" fmla="val 50343"/>
              <a:gd name="adj2" fmla="val 53110"/>
            </a:avLst>
          </a:prstGeom>
          <a:solidFill>
            <a:srgbClr val="00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12" name="AutoShape 6"/>
          <p:cNvSpPr>
            <a:spLocks noChangeArrowheads="1"/>
          </p:cNvSpPr>
          <p:nvPr/>
        </p:nvSpPr>
        <p:spPr bwMode="auto">
          <a:xfrm>
            <a:off x="1381125" y="2795588"/>
            <a:ext cx="230188" cy="1095375"/>
          </a:xfrm>
          <a:prstGeom prst="upDownArrow">
            <a:avLst>
              <a:gd name="adj1" fmla="val 50343"/>
              <a:gd name="adj2" fmla="val 58205"/>
            </a:avLst>
          </a:prstGeom>
          <a:solidFill>
            <a:srgbClr val="00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13" name="AutoShape 9"/>
          <p:cNvSpPr>
            <a:spLocks noChangeArrowheads="1"/>
          </p:cNvSpPr>
          <p:nvPr/>
        </p:nvSpPr>
        <p:spPr bwMode="auto">
          <a:xfrm>
            <a:off x="1123950" y="2795588"/>
            <a:ext cx="230188" cy="538162"/>
          </a:xfrm>
          <a:prstGeom prst="upDownArrow">
            <a:avLst>
              <a:gd name="adj1" fmla="val 58620"/>
              <a:gd name="adj2" fmla="val 57236"/>
            </a:avLst>
          </a:prstGeom>
          <a:solidFill>
            <a:srgbClr val="00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27662" name="Rectangle 13"/>
          <p:cNvSpPr>
            <a:spLocks noChangeArrowheads="1"/>
          </p:cNvSpPr>
          <p:nvPr/>
        </p:nvSpPr>
        <p:spPr bwMode="auto">
          <a:xfrm>
            <a:off x="885825" y="1844675"/>
            <a:ext cx="1785938" cy="942975"/>
          </a:xfrm>
          <a:prstGeom prst="rect">
            <a:avLst/>
          </a:prstGeom>
          <a:solidFill>
            <a:srgbClr val="00E4A8"/>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en-US" altLang="zh-CN" sz="2400" b="1">
                <a:solidFill>
                  <a:srgbClr val="000000"/>
                </a:solidFill>
                <a:ea typeface="楷体" panose="02010609060101010101" pitchFamily="49" charset="-122"/>
                <a:cs typeface="Times New Roman" panose="02020603050405020304" pitchFamily="18" charset="0"/>
              </a:rPr>
              <a:t>CPU-cache</a:t>
            </a:r>
            <a:endParaRPr kumimoji="0" lang="en-US" altLang="zh-CN" sz="2400" b="1">
              <a:solidFill>
                <a:srgbClr val="000000"/>
              </a:solidFill>
              <a:ea typeface="楷体" panose="02010609060101010101" pitchFamily="49" charset="-122"/>
              <a:cs typeface="Times New Roman" panose="02020603050405020304" pitchFamily="18" charset="0"/>
            </a:endParaRPr>
          </a:p>
          <a:p>
            <a:pPr algn="ctr" eaLnBrk="1" hangingPunct="1"/>
            <a:r>
              <a:rPr kumimoji="0" lang="zh-CN" altLang="en-US" sz="2400" b="1">
                <a:solidFill>
                  <a:srgbClr val="000000"/>
                </a:solidFill>
                <a:ea typeface="楷体" panose="02010609060101010101" pitchFamily="49" charset="-122"/>
                <a:cs typeface="Times New Roman" panose="02020603050405020304" pitchFamily="18" charset="0"/>
              </a:rPr>
              <a:t>模块</a:t>
            </a:r>
            <a:endParaRPr kumimoji="0" lang="zh-CN" altLang="en-US" sz="2400" b="1">
              <a:solidFill>
                <a:srgbClr val="000000"/>
              </a:solidFill>
              <a:ea typeface="楷体" panose="02010609060101010101" pitchFamily="49" charset="-122"/>
              <a:cs typeface="Times New Roman" panose="02020603050405020304" pitchFamily="18" charset="0"/>
            </a:endParaRPr>
          </a:p>
        </p:txBody>
      </p:sp>
      <p:sp>
        <p:nvSpPr>
          <p:cNvPr id="27663" name="Rectangle 17"/>
          <p:cNvSpPr>
            <a:spLocks noChangeArrowheads="1"/>
          </p:cNvSpPr>
          <p:nvPr/>
        </p:nvSpPr>
        <p:spPr bwMode="auto">
          <a:xfrm>
            <a:off x="3300413" y="1844675"/>
            <a:ext cx="1214437" cy="942975"/>
          </a:xfrm>
          <a:prstGeom prst="rect">
            <a:avLst/>
          </a:prstGeom>
          <a:solidFill>
            <a:srgbClr val="FFCC99"/>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a:solidFill>
                  <a:srgbClr val="000000"/>
                </a:solidFill>
                <a:ea typeface="楷体" panose="02010609060101010101" pitchFamily="49" charset="-122"/>
                <a:cs typeface="Times New Roman" panose="02020603050405020304" pitchFamily="18" charset="0"/>
              </a:rPr>
              <a:t>存储器</a:t>
            </a:r>
            <a:endParaRPr kumimoji="0" lang="zh-CN" altLang="en-US" sz="2400" b="1">
              <a:solidFill>
                <a:srgbClr val="000000"/>
              </a:solidFill>
              <a:ea typeface="楷体" panose="02010609060101010101" pitchFamily="49" charset="-122"/>
              <a:cs typeface="Times New Roman" panose="02020603050405020304" pitchFamily="18" charset="0"/>
            </a:endParaRPr>
          </a:p>
          <a:p>
            <a:pPr algn="ctr" eaLnBrk="1" hangingPunct="1"/>
            <a:r>
              <a:rPr kumimoji="0" lang="zh-CN" altLang="en-US" sz="2400" b="1">
                <a:solidFill>
                  <a:srgbClr val="000000"/>
                </a:solidFill>
                <a:ea typeface="楷体" panose="02010609060101010101" pitchFamily="49" charset="-122"/>
                <a:cs typeface="Times New Roman" panose="02020603050405020304" pitchFamily="18" charset="0"/>
              </a:rPr>
              <a:t>模块</a:t>
            </a:r>
            <a:endParaRPr kumimoji="0" lang="zh-CN" altLang="en-US" sz="2400" b="1">
              <a:solidFill>
                <a:srgbClr val="000000"/>
              </a:solidFill>
              <a:ea typeface="楷体" panose="02010609060101010101" pitchFamily="49" charset="-122"/>
              <a:cs typeface="Times New Roman" panose="02020603050405020304" pitchFamily="18" charset="0"/>
            </a:endParaRPr>
          </a:p>
        </p:txBody>
      </p:sp>
      <p:sp>
        <p:nvSpPr>
          <p:cNvPr id="16" name="Rectangle 40"/>
          <p:cNvSpPr>
            <a:spLocks noChangeArrowheads="1"/>
          </p:cNvSpPr>
          <p:nvPr/>
        </p:nvSpPr>
        <p:spPr bwMode="auto">
          <a:xfrm>
            <a:off x="6915150" y="1846263"/>
            <a:ext cx="1214438" cy="942975"/>
          </a:xfrm>
          <a:prstGeom prst="rect">
            <a:avLst/>
          </a:prstGeom>
          <a:solidFill>
            <a:srgbClr val="FFCC99"/>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zh-CN" altLang="en-US" sz="2400" b="1" ker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总线</a:t>
            </a:r>
            <a:endParaRPr kumimoji="0" lang="zh-CN" altLang="en-US" sz="2400" b="1" ker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ctr" eaLnBrk="1" fontAlgn="auto" hangingPunct="1">
              <a:spcBef>
                <a:spcPts val="0"/>
              </a:spcBef>
              <a:spcAft>
                <a:spcPts val="0"/>
              </a:spcAft>
              <a:defRPr/>
            </a:pPr>
            <a:r>
              <a:rPr kumimoji="0" lang="zh-CN" altLang="en-US" sz="2400" b="1" ker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控制器</a:t>
            </a:r>
            <a:endParaRPr kumimoji="0" lang="zh-CN" altLang="en-US" sz="2400" b="1" ker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7665" name="Rectangle 41"/>
          <p:cNvSpPr>
            <a:spLocks noChangeArrowheads="1"/>
          </p:cNvSpPr>
          <p:nvPr/>
        </p:nvSpPr>
        <p:spPr bwMode="auto">
          <a:xfrm>
            <a:off x="5114925" y="1846263"/>
            <a:ext cx="1214438" cy="942975"/>
          </a:xfrm>
          <a:prstGeom prst="rect">
            <a:avLst/>
          </a:prstGeom>
          <a:solidFill>
            <a:srgbClr val="FFCC99"/>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en-US" altLang="zh-CN" sz="2400" b="1">
                <a:solidFill>
                  <a:srgbClr val="000000"/>
                </a:solidFill>
                <a:ea typeface="楷体" panose="02010609060101010101" pitchFamily="49" charset="-122"/>
                <a:cs typeface="Times New Roman" panose="02020603050405020304" pitchFamily="18" charset="0"/>
              </a:rPr>
              <a:t>I/O</a:t>
            </a:r>
            <a:endParaRPr kumimoji="0" lang="en-US" altLang="zh-CN" sz="2400" b="1">
              <a:solidFill>
                <a:srgbClr val="000000"/>
              </a:solidFill>
              <a:ea typeface="楷体" panose="02010609060101010101" pitchFamily="49" charset="-122"/>
              <a:cs typeface="Times New Roman" panose="02020603050405020304" pitchFamily="18" charset="0"/>
            </a:endParaRPr>
          </a:p>
          <a:p>
            <a:pPr algn="ctr" eaLnBrk="1" hangingPunct="1"/>
            <a:r>
              <a:rPr kumimoji="0" lang="zh-CN" altLang="en-US" sz="2400" b="1">
                <a:solidFill>
                  <a:srgbClr val="000000"/>
                </a:solidFill>
                <a:ea typeface="楷体" panose="02010609060101010101" pitchFamily="49" charset="-122"/>
                <a:cs typeface="Times New Roman" panose="02020603050405020304" pitchFamily="18" charset="0"/>
              </a:rPr>
              <a:t>适配器</a:t>
            </a:r>
            <a:endParaRPr kumimoji="0" lang="zh-CN" altLang="en-US" sz="2400" b="1">
              <a:solidFill>
                <a:srgbClr val="000000"/>
              </a:solidFill>
              <a:ea typeface="楷体" panose="02010609060101010101" pitchFamily="49" charset="-122"/>
              <a:cs typeface="Times New Roman" panose="02020603050405020304" pitchFamily="18" charset="0"/>
            </a:endParaRPr>
          </a:p>
        </p:txBody>
      </p:sp>
      <p:sp>
        <p:nvSpPr>
          <p:cNvPr id="18" name="AutoShape 46"/>
          <p:cNvSpPr>
            <a:spLocks noChangeArrowheads="1"/>
          </p:cNvSpPr>
          <p:nvPr/>
        </p:nvSpPr>
        <p:spPr bwMode="auto">
          <a:xfrm>
            <a:off x="3721100" y="2781300"/>
            <a:ext cx="371475" cy="557213"/>
          </a:xfrm>
          <a:prstGeom prst="upDownArrow">
            <a:avLst>
              <a:gd name="adj1" fmla="val 50000"/>
              <a:gd name="adj2" fmla="val 30000"/>
            </a:avLst>
          </a:prstGeom>
          <a:solidFill>
            <a:srgbClr val="00E4A8"/>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19" name="AutoShape 47"/>
          <p:cNvSpPr>
            <a:spLocks noChangeArrowheads="1"/>
          </p:cNvSpPr>
          <p:nvPr/>
        </p:nvSpPr>
        <p:spPr bwMode="auto">
          <a:xfrm>
            <a:off x="5535613" y="2781300"/>
            <a:ext cx="371475" cy="557213"/>
          </a:xfrm>
          <a:prstGeom prst="upDownArrow">
            <a:avLst>
              <a:gd name="adj1" fmla="val 50000"/>
              <a:gd name="adj2" fmla="val 30000"/>
            </a:avLst>
          </a:prstGeom>
          <a:solidFill>
            <a:srgbClr val="00E4A8"/>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sp>
        <p:nvSpPr>
          <p:cNvPr id="20" name="AutoShape 48"/>
          <p:cNvSpPr>
            <a:spLocks noChangeArrowheads="1"/>
          </p:cNvSpPr>
          <p:nvPr/>
        </p:nvSpPr>
        <p:spPr bwMode="auto">
          <a:xfrm>
            <a:off x="7335838" y="2781300"/>
            <a:ext cx="371475" cy="557213"/>
          </a:xfrm>
          <a:prstGeom prst="upDownArrow">
            <a:avLst>
              <a:gd name="adj1" fmla="val 50000"/>
              <a:gd name="adj2" fmla="val 30000"/>
            </a:avLst>
          </a:prstGeom>
          <a:solidFill>
            <a:srgbClr val="00E4A8"/>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7669" name="Text Box 50"/>
          <p:cNvSpPr txBox="1">
            <a:spLocks noChangeArrowheads="1"/>
          </p:cNvSpPr>
          <p:nvPr/>
        </p:nvSpPr>
        <p:spPr bwMode="auto">
          <a:xfrm>
            <a:off x="8416925" y="3897313"/>
            <a:ext cx="541338"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dirty="0">
                <a:solidFill>
                  <a:srgbClr val="C00000"/>
                </a:solidFill>
                <a:latin typeface="楷体" panose="02010609060101010101" pitchFamily="49" charset="-122"/>
                <a:ea typeface="楷体" panose="02010609060101010101" pitchFamily="49" charset="-122"/>
              </a:rPr>
              <a:t>主板</a:t>
            </a:r>
            <a:endParaRPr kumimoji="0" lang="zh-CN" altLang="en-US" sz="2400" b="1" dirty="0">
              <a:solidFill>
                <a:srgbClr val="C00000"/>
              </a:solidFill>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defRPr/>
            </a:pPr>
            <a:r>
              <a:rPr lang="zh-CN" altLang="en-US"/>
              <a:t>总线的特性</a:t>
            </a:r>
            <a:endParaRPr lang="zh-CN" altLang="en-US"/>
          </a:p>
        </p:txBody>
      </p:sp>
      <p:sp>
        <p:nvSpPr>
          <p:cNvPr id="28675" name="Rectangle 3"/>
          <p:cNvSpPr>
            <a:spLocks noGrp="1" noChangeArrowheads="1"/>
          </p:cNvSpPr>
          <p:nvPr>
            <p:ph idx="1"/>
          </p:nvPr>
        </p:nvSpPr>
        <p:spPr/>
        <p:txBody>
          <a:bodyPr/>
          <a:lstStyle/>
          <a:p>
            <a:pPr eaLnBrk="1" hangingPunct="1"/>
            <a:r>
              <a:rPr lang="zh-CN" altLang="en-US">
                <a:latin typeface="宋体" panose="02010600030101010101" pitchFamily="2" charset="-122"/>
              </a:rPr>
              <a:t>机械特性：总线的物理连接方式（根数、插头、插座形状，引脚排列方式）</a:t>
            </a:r>
            <a:endParaRPr lang="zh-CN" altLang="en-US">
              <a:latin typeface="宋体" panose="02010600030101010101" pitchFamily="2" charset="-122"/>
            </a:endParaRPr>
          </a:p>
          <a:p>
            <a:pPr eaLnBrk="1" hangingPunct="1"/>
            <a:r>
              <a:rPr lang="zh-CN" altLang="en-US">
                <a:latin typeface="宋体" panose="02010600030101010101" pitchFamily="2" charset="-122"/>
              </a:rPr>
              <a:t>功能特性：每根线的功能</a:t>
            </a:r>
            <a:endParaRPr lang="zh-CN" altLang="en-US">
              <a:latin typeface="宋体" panose="02010600030101010101" pitchFamily="2" charset="-122"/>
            </a:endParaRPr>
          </a:p>
          <a:p>
            <a:pPr eaLnBrk="1" hangingPunct="1"/>
            <a:r>
              <a:rPr lang="zh-CN" altLang="en-US">
                <a:latin typeface="宋体" panose="02010600030101010101" pitchFamily="2" charset="-122"/>
              </a:rPr>
              <a:t>电气特性：每根线上信号的传递方向及有效电平范围。即：</a:t>
            </a:r>
            <a:r>
              <a:rPr lang="zh-CN" altLang="en-US"/>
              <a:t>信号工作时的逻辑电平（高低）、负载能力最大额定值以及动态转换时间。</a:t>
            </a:r>
            <a:endParaRPr lang="zh-CN" altLang="en-US">
              <a:latin typeface="宋体" panose="02010600030101010101" pitchFamily="2" charset="-122"/>
            </a:endParaRPr>
          </a:p>
          <a:p>
            <a:pPr eaLnBrk="1" hangingPunct="1"/>
            <a:r>
              <a:rPr lang="zh-CN" altLang="en-US">
                <a:latin typeface="宋体" panose="02010600030101010101" pitchFamily="2" charset="-122"/>
              </a:rPr>
              <a:t>时间特性：</a:t>
            </a:r>
            <a:r>
              <a:rPr lang="zh-CN" altLang="en-US"/>
              <a:t>定义了每根线在什么时间有效。规定了总线上各信号有效的时序关系。</a:t>
            </a:r>
            <a:endParaRPr lang="zh-CN" altLang="en-US"/>
          </a:p>
        </p:txBody>
      </p:sp>
    </p:spTree>
  </p:cSld>
  <p:clrMapOvr>
    <a:masterClrMapping/>
  </p:clrMapOvr>
  <p:transition spd="med">
    <p:pull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defRPr/>
            </a:pPr>
            <a:r>
              <a:rPr lang="zh-CN" altLang="en-US">
                <a:latin typeface="迷你简启体" pitchFamily="65" charset="-122"/>
              </a:rPr>
              <a:t>总线的性能指标</a:t>
            </a:r>
            <a:endParaRPr lang="zh-CN" altLang="en-US">
              <a:latin typeface="迷你简启体" pitchFamily="65" charset="-122"/>
            </a:endParaRPr>
          </a:p>
        </p:txBody>
      </p:sp>
      <p:sp>
        <p:nvSpPr>
          <p:cNvPr id="29699" name="Rectangle 3"/>
          <p:cNvSpPr>
            <a:spLocks noGrp="1" noChangeArrowheads="1"/>
          </p:cNvSpPr>
          <p:nvPr>
            <p:ph idx="1"/>
          </p:nvPr>
        </p:nvSpPr>
        <p:spPr/>
        <p:txBody>
          <a:bodyPr/>
          <a:lstStyle/>
          <a:p>
            <a:pPr eaLnBrk="1" hangingPunct="1"/>
            <a:r>
              <a:rPr lang="zh-CN" altLang="en-US" sz="2800">
                <a:latin typeface="Arial" panose="020B0604020202020204" pitchFamily="34" charset="0"/>
              </a:rPr>
              <a:t>总线宽度</a:t>
            </a:r>
            <a:endParaRPr lang="zh-CN" altLang="en-US" sz="2800">
              <a:latin typeface="Arial" panose="020B0604020202020204" pitchFamily="34" charset="0"/>
            </a:endParaRPr>
          </a:p>
          <a:p>
            <a:pPr lvl="1" eaLnBrk="1" hangingPunct="1"/>
            <a:r>
              <a:rPr lang="zh-CN" altLang="en-US"/>
              <a:t>数据线的条数，串、并行性，</a:t>
            </a:r>
            <a:endParaRPr lang="zh-CN" altLang="en-US"/>
          </a:p>
          <a:p>
            <a:pPr eaLnBrk="1" hangingPunct="1"/>
            <a:r>
              <a:rPr lang="zh-CN" altLang="en-US" sz="2800">
                <a:latin typeface="Arial" panose="020B0604020202020204" pitchFamily="34" charset="0"/>
              </a:rPr>
              <a:t>总线传输率（总线带宽）</a:t>
            </a:r>
            <a:endParaRPr lang="zh-CN" altLang="en-US" sz="2800">
              <a:latin typeface="Arial" panose="020B0604020202020204" pitchFamily="34" charset="0"/>
            </a:endParaRPr>
          </a:p>
          <a:p>
            <a:pPr lvl="1" eaLnBrk="1" hangingPunct="1"/>
            <a:r>
              <a:rPr lang="zh-CN" altLang="en-US"/>
              <a:t>每秒传输的最大字节数</a:t>
            </a:r>
            <a:r>
              <a:rPr lang="en-US" altLang="zh-CN"/>
              <a:t>MB/S</a:t>
            </a:r>
            <a:r>
              <a:rPr lang="zh-CN" altLang="en-US"/>
              <a:t>（或比特数）</a:t>
            </a:r>
            <a:endParaRPr lang="zh-CN" altLang="en-US"/>
          </a:p>
          <a:p>
            <a:pPr eaLnBrk="1" hangingPunct="1"/>
            <a:r>
              <a:rPr lang="zh-CN" altLang="en-US" sz="2800">
                <a:latin typeface="Arial" panose="020B0604020202020204" pitchFamily="34" charset="0"/>
              </a:rPr>
              <a:t>总线定时协定</a:t>
            </a:r>
            <a:endParaRPr lang="zh-CN" altLang="en-US" sz="2800">
              <a:latin typeface="Arial" panose="020B0604020202020204" pitchFamily="34" charset="0"/>
            </a:endParaRPr>
          </a:p>
          <a:p>
            <a:pPr lvl="1" eaLnBrk="1" hangingPunct="1"/>
            <a:r>
              <a:rPr lang="zh-CN" altLang="en-US"/>
              <a:t>同步方式、异步方式、半同步方式、分离方式</a:t>
            </a:r>
            <a:endParaRPr lang="zh-CN" altLang="en-US"/>
          </a:p>
          <a:p>
            <a:pPr eaLnBrk="1" hangingPunct="1"/>
            <a:r>
              <a:rPr lang="zh-CN" altLang="en-US" sz="2800">
                <a:latin typeface="Arial" panose="020B0604020202020204" pitchFamily="34" charset="0"/>
              </a:rPr>
              <a:t>信号线数</a:t>
            </a:r>
            <a:endParaRPr lang="zh-CN" altLang="en-US" sz="2800">
              <a:latin typeface="Arial" panose="020B0604020202020204" pitchFamily="34" charset="0"/>
            </a:endParaRPr>
          </a:p>
          <a:p>
            <a:pPr lvl="1" eaLnBrk="1" hangingPunct="1"/>
            <a:r>
              <a:rPr lang="zh-CN" altLang="en-US"/>
              <a:t>地址线、数据线和控制线的总和</a:t>
            </a:r>
            <a:endParaRPr lang="en-US" altLang="zh-CN"/>
          </a:p>
          <a:p>
            <a:pPr eaLnBrk="1" hangingPunct="1"/>
            <a:r>
              <a:rPr lang="zh-CN" altLang="en-US" sz="2800"/>
              <a:t>总线负载能力</a:t>
            </a:r>
            <a:endParaRPr lang="en-US" altLang="zh-CN" sz="2800"/>
          </a:p>
        </p:txBody>
      </p:sp>
    </p:spTree>
  </p:cSld>
  <p:clrMapOvr>
    <a:masterClrMapping/>
  </p:clrMapOvr>
  <p:transition spd="med">
    <p:pull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defRPr/>
            </a:pPr>
            <a:r>
              <a:rPr lang="zh-CN" altLang="en-US"/>
              <a:t>例</a:t>
            </a:r>
            <a:r>
              <a:rPr lang="en-US" altLang="zh-CN"/>
              <a:t>1</a:t>
            </a:r>
            <a:endParaRPr lang="en-US" altLang="zh-CN"/>
          </a:p>
        </p:txBody>
      </p:sp>
      <p:sp>
        <p:nvSpPr>
          <p:cNvPr id="60419" name="Rectangle 3"/>
          <p:cNvSpPr>
            <a:spLocks noGrp="1" noChangeArrowheads="1"/>
          </p:cNvSpPr>
          <p:nvPr>
            <p:ph idx="1"/>
          </p:nvPr>
        </p:nvSpPr>
        <p:spPr/>
        <p:txBody>
          <a:bodyPr/>
          <a:lstStyle/>
          <a:p>
            <a:pPr eaLnBrk="1" hangingPunct="1">
              <a:buFont typeface="Wingdings 2" charset="2"/>
              <a:buNone/>
            </a:pPr>
            <a:r>
              <a:rPr lang="zh-CN" altLang="en-US" sz="2400" dirty="0"/>
              <a:t>（</a:t>
            </a:r>
            <a:r>
              <a:rPr lang="en-US" altLang="zh-CN" sz="2400" dirty="0"/>
              <a:t>1</a:t>
            </a:r>
            <a:r>
              <a:rPr lang="zh-CN" altLang="en-US" sz="2400" dirty="0"/>
              <a:t>）某总线在一个总线周期中并行传送</a:t>
            </a:r>
            <a:r>
              <a:rPr lang="en-US" altLang="zh-CN" sz="2400" dirty="0"/>
              <a:t>4</a:t>
            </a:r>
            <a:r>
              <a:rPr lang="zh-CN" altLang="en-US" sz="2400" dirty="0"/>
              <a:t>个字节的数据，假设一个总线周期等于一个总线时钟周期，总线时钟频率为</a:t>
            </a:r>
            <a:r>
              <a:rPr lang="en-US" altLang="zh-CN" sz="2400" dirty="0"/>
              <a:t>33MHz</a:t>
            </a:r>
            <a:r>
              <a:rPr lang="zh-CN" altLang="en-US" sz="2400" dirty="0"/>
              <a:t>，总线带宽是多少</a:t>
            </a:r>
            <a:r>
              <a:rPr lang="en-US" altLang="zh-CN" sz="2400" dirty="0"/>
              <a:t>?</a:t>
            </a:r>
            <a:endParaRPr lang="en-US" altLang="zh-CN" sz="2400" dirty="0"/>
          </a:p>
          <a:p>
            <a:pPr eaLnBrk="1" hangingPunct="1">
              <a:buFont typeface="Wingdings 2" charset="2"/>
              <a:buNone/>
            </a:pPr>
            <a:r>
              <a:rPr lang="zh-CN" altLang="en-US" sz="2400" dirty="0"/>
              <a:t>（</a:t>
            </a:r>
            <a:r>
              <a:rPr lang="en-US" altLang="zh-CN" sz="2400" dirty="0"/>
              <a:t>2</a:t>
            </a:r>
            <a:r>
              <a:rPr lang="zh-CN" altLang="en-US" sz="2400" dirty="0"/>
              <a:t>）如果一个总线周期中并行传送</a:t>
            </a:r>
            <a:r>
              <a:rPr lang="en-US" altLang="zh-CN" sz="2400" dirty="0"/>
              <a:t>64</a:t>
            </a:r>
            <a:r>
              <a:rPr lang="zh-CN" altLang="en-US" sz="2400" dirty="0"/>
              <a:t>位数据，总线时钟频率升为</a:t>
            </a:r>
            <a:r>
              <a:rPr lang="en-US" altLang="zh-CN" sz="2400" dirty="0"/>
              <a:t>66MHz</a:t>
            </a:r>
            <a:r>
              <a:rPr lang="zh-CN" altLang="en-US" sz="2400" dirty="0"/>
              <a:t>，总线带宽是多少</a:t>
            </a:r>
            <a:r>
              <a:rPr lang="en-US" altLang="zh-CN" sz="2400" dirty="0"/>
              <a:t>?</a:t>
            </a:r>
            <a:endParaRPr lang="en-US" altLang="zh-CN" sz="2400" dirty="0"/>
          </a:p>
          <a:p>
            <a:pPr eaLnBrk="1" hangingPunct="1">
              <a:buFont typeface="Wingdings 2" charset="2"/>
              <a:buNone/>
            </a:pPr>
            <a:r>
              <a:rPr lang="zh-CN" altLang="en-US" sz="2400" dirty="0"/>
              <a:t>解：（</a:t>
            </a:r>
            <a:r>
              <a:rPr lang="en-US" altLang="zh-CN" sz="2400" dirty="0"/>
              <a:t>1</a:t>
            </a:r>
            <a:r>
              <a:rPr lang="zh-CN" altLang="en-US" sz="2400" dirty="0"/>
              <a:t>）设总线带宽用</a:t>
            </a:r>
            <a:r>
              <a:rPr lang="en-US" altLang="zh-CN" sz="2400" dirty="0"/>
              <a:t>Dr</a:t>
            </a:r>
            <a:r>
              <a:rPr lang="zh-CN" altLang="en-US" sz="2400" dirty="0"/>
              <a:t>表示，总线时钟周期用</a:t>
            </a:r>
            <a:r>
              <a:rPr lang="en-US" altLang="zh-CN" sz="2400" dirty="0"/>
              <a:t>T=1/f</a:t>
            </a:r>
            <a:r>
              <a:rPr lang="zh-CN" altLang="en-US" sz="2400" dirty="0"/>
              <a:t>表示，一个总线周期传送的数据量用</a:t>
            </a:r>
            <a:r>
              <a:rPr lang="en-US" altLang="zh-CN" sz="2400" dirty="0"/>
              <a:t>D</a:t>
            </a:r>
            <a:r>
              <a:rPr lang="zh-CN" altLang="en-US" sz="2400" dirty="0"/>
              <a:t>表示，根据定义可得</a:t>
            </a:r>
            <a:endParaRPr lang="zh-CN" altLang="en-US" sz="2400" dirty="0"/>
          </a:p>
          <a:p>
            <a:pPr eaLnBrk="1" hangingPunct="1">
              <a:buFont typeface="Wingdings 2" charset="2"/>
              <a:buNone/>
            </a:pPr>
            <a:r>
              <a:rPr lang="zh-CN" altLang="en-US" sz="2400" dirty="0"/>
              <a:t>	</a:t>
            </a:r>
            <a:r>
              <a:rPr lang="en-US" altLang="zh-CN" sz="2400" dirty="0"/>
              <a:t>Dr=D/T=D×</a:t>
            </a:r>
            <a:r>
              <a:rPr lang="zh-CN" altLang="en-US" sz="2400" dirty="0"/>
              <a:t>（</a:t>
            </a:r>
            <a:r>
              <a:rPr lang="en-US" altLang="zh-CN" sz="2400" dirty="0"/>
              <a:t>1/T</a:t>
            </a:r>
            <a:r>
              <a:rPr lang="zh-CN" altLang="en-US" sz="2400" dirty="0"/>
              <a:t>）</a:t>
            </a:r>
            <a:r>
              <a:rPr lang="en-US" altLang="zh-CN" sz="2400" dirty="0"/>
              <a:t>=</a:t>
            </a:r>
            <a:r>
              <a:rPr lang="en-US" altLang="zh-CN" sz="2400" dirty="0" err="1"/>
              <a:t>D×f</a:t>
            </a:r>
            <a:r>
              <a:rPr lang="en-US" altLang="zh-CN" sz="2400" dirty="0"/>
              <a:t>=4B×33×10</a:t>
            </a:r>
            <a:r>
              <a:rPr lang="en-US" altLang="zh-CN" sz="2400" baseline="30000" dirty="0"/>
              <a:t>6</a:t>
            </a:r>
            <a:r>
              <a:rPr lang="en-US" altLang="zh-CN" sz="2400" dirty="0"/>
              <a:t>/s=132MB/s</a:t>
            </a:r>
            <a:endParaRPr lang="en-US" altLang="zh-CN" sz="2400" dirty="0"/>
          </a:p>
          <a:p>
            <a:pPr eaLnBrk="1" hangingPunct="1">
              <a:buFont typeface="Wingdings 2" charset="2"/>
              <a:buNone/>
            </a:pPr>
            <a:r>
              <a:rPr lang="en-US" altLang="zh-CN" sz="2400" dirty="0"/>
              <a:t>	</a:t>
            </a:r>
            <a:r>
              <a:rPr lang="zh-CN" altLang="en-US" sz="2400" dirty="0"/>
              <a:t>（</a:t>
            </a:r>
            <a:r>
              <a:rPr lang="en-US" altLang="zh-CN" sz="2400" dirty="0"/>
              <a:t>2</a:t>
            </a:r>
            <a:r>
              <a:rPr lang="zh-CN" altLang="en-US" sz="2400" dirty="0"/>
              <a:t>）</a:t>
            </a:r>
            <a:r>
              <a:rPr lang="en-US" altLang="zh-CN" sz="2400" dirty="0"/>
              <a:t>64</a:t>
            </a:r>
            <a:r>
              <a:rPr lang="zh-CN" altLang="en-US" sz="2400" dirty="0"/>
              <a:t>位</a:t>
            </a:r>
            <a:r>
              <a:rPr lang="en-US" altLang="zh-CN" sz="2400" dirty="0"/>
              <a:t>=8B</a:t>
            </a:r>
            <a:endParaRPr lang="en-US" altLang="zh-CN" sz="2400" dirty="0"/>
          </a:p>
          <a:p>
            <a:pPr eaLnBrk="1" hangingPunct="1">
              <a:buFont typeface="Wingdings 2" charset="2"/>
              <a:buNone/>
            </a:pPr>
            <a:r>
              <a:rPr lang="en-US" altLang="zh-CN" sz="2400" dirty="0"/>
              <a:t>	Dr=</a:t>
            </a:r>
            <a:r>
              <a:rPr lang="en-US" altLang="zh-CN" sz="2400" dirty="0" err="1"/>
              <a:t>D×f</a:t>
            </a:r>
            <a:r>
              <a:rPr lang="en-US" altLang="zh-CN" sz="2400" dirty="0"/>
              <a:t>=8B×66×10</a:t>
            </a:r>
            <a:r>
              <a:rPr lang="en-US" altLang="zh-CN" sz="2400" baseline="30000" dirty="0"/>
              <a:t>6</a:t>
            </a:r>
            <a:r>
              <a:rPr lang="en-US" altLang="zh-CN" sz="2400" dirty="0"/>
              <a:t>/s=528MB/s</a:t>
            </a:r>
            <a:endParaRPr lang="en-US" altLang="zh-CN" sz="2400" dirty="0"/>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419">
                                            <p:txEl>
                                              <p:pRg st="2" end="2"/>
                                            </p:txEl>
                                          </p:spTgt>
                                        </p:tgtEl>
                                        <p:attrNameLst>
                                          <p:attrName>style.visibility</p:attrName>
                                        </p:attrNameLst>
                                      </p:cBhvr>
                                      <p:to>
                                        <p:strVal val="visible"/>
                                      </p:to>
                                    </p:set>
                                    <p:animEffect transition="in" filter="blinds(horizontal)">
                                      <p:cBhvr>
                                        <p:cTn id="7" dur="500"/>
                                        <p:tgtEl>
                                          <p:spTgt spid="60419">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0419">
                                            <p:txEl>
                                              <p:pRg st="3" end="3"/>
                                            </p:txEl>
                                          </p:spTgt>
                                        </p:tgtEl>
                                        <p:attrNameLst>
                                          <p:attrName>style.visibility</p:attrName>
                                        </p:attrNameLst>
                                      </p:cBhvr>
                                      <p:to>
                                        <p:strVal val="visible"/>
                                      </p:to>
                                    </p:set>
                                    <p:animEffect transition="in" filter="blinds(horizontal)">
                                      <p:cBhvr>
                                        <p:cTn id="10" dur="500"/>
                                        <p:tgtEl>
                                          <p:spTgt spid="60419">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0419">
                                            <p:txEl>
                                              <p:pRg st="4" end="4"/>
                                            </p:txEl>
                                          </p:spTgt>
                                        </p:tgtEl>
                                        <p:attrNameLst>
                                          <p:attrName>style.visibility</p:attrName>
                                        </p:attrNameLst>
                                      </p:cBhvr>
                                      <p:to>
                                        <p:strVal val="visible"/>
                                      </p:to>
                                    </p:set>
                                    <p:animEffect transition="in" filter="blinds(horizontal)">
                                      <p:cBhvr>
                                        <p:cTn id="13" dur="500"/>
                                        <p:tgtEl>
                                          <p:spTgt spid="60419">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0419">
                                            <p:txEl>
                                              <p:pRg st="5" end="5"/>
                                            </p:txEl>
                                          </p:spTgt>
                                        </p:tgtEl>
                                        <p:attrNameLst>
                                          <p:attrName>style.visibility</p:attrName>
                                        </p:attrNameLst>
                                      </p:cBhvr>
                                      <p:to>
                                        <p:strVal val="visible"/>
                                      </p:to>
                                    </p:set>
                                    <p:animEffect transition="in" filter="blinds(horizontal)">
                                      <p:cBhvr>
                                        <p:cTn id="16" dur="500"/>
                                        <p:tgtEl>
                                          <p:spTgt spid="60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defRPr/>
            </a:pPr>
            <a:r>
              <a:rPr lang="zh-CN" altLang="en-US">
                <a:latin typeface="宋体" panose="02010600030101010101" pitchFamily="2" charset="-122"/>
              </a:rPr>
              <a:t>总线的标准化</a:t>
            </a:r>
            <a:endParaRPr lang="zh-CN" altLang="en-US">
              <a:latin typeface="宋体" panose="02010600030101010101" pitchFamily="2" charset="-122"/>
            </a:endParaRPr>
          </a:p>
        </p:txBody>
      </p:sp>
      <p:sp>
        <p:nvSpPr>
          <p:cNvPr id="9219" name="Rectangle 3"/>
          <p:cNvSpPr>
            <a:spLocks noGrp="1" noChangeArrowheads="1"/>
          </p:cNvSpPr>
          <p:nvPr>
            <p:ph idx="1"/>
          </p:nvPr>
        </p:nvSpPr>
        <p:spPr/>
        <p:txBody>
          <a:bodyPr/>
          <a:lstStyle/>
          <a:p>
            <a:pPr eaLnBrk="1" hangingPunct="1"/>
            <a:r>
              <a:rPr lang="zh-CN" altLang="en-US" dirty="0">
                <a:latin typeface="宋体" panose="02010600030101010101" pitchFamily="2" charset="-122"/>
              </a:rPr>
              <a:t>为了使不同厂家生产的相同功能部件可以互换使用，就需要进行系统总线的标准化工作。目前，已经出现了很多总线标准，如</a:t>
            </a:r>
            <a:r>
              <a:rPr lang="en-US" altLang="zh-CN" dirty="0"/>
              <a:t>PCI</a:t>
            </a:r>
            <a:r>
              <a:rPr lang="zh-CN" altLang="en-US" dirty="0"/>
              <a:t>、</a:t>
            </a:r>
            <a:r>
              <a:rPr lang="en-US" altLang="zh-CN" dirty="0"/>
              <a:t>ISA</a:t>
            </a:r>
            <a:r>
              <a:rPr lang="zh-CN" altLang="en-US" dirty="0">
                <a:latin typeface="宋体" panose="02010600030101010101" pitchFamily="2" charset="-122"/>
              </a:rPr>
              <a:t>等。 </a:t>
            </a:r>
            <a:endParaRPr lang="zh-CN" altLang="en-US" dirty="0">
              <a:latin typeface="宋体" panose="02010600030101010101" pitchFamily="2" charset="-122"/>
            </a:endParaRPr>
          </a:p>
          <a:p>
            <a:pPr eaLnBrk="1" hangingPunct="1"/>
            <a:r>
              <a:rPr lang="zh-CN" altLang="en-US" dirty="0"/>
              <a:t>采用标准总线的优点</a:t>
            </a:r>
            <a:endParaRPr lang="zh-CN" altLang="en-US" dirty="0"/>
          </a:p>
          <a:p>
            <a:pPr lvl="1" eaLnBrk="1" hangingPunct="1"/>
            <a:r>
              <a:rPr lang="zh-CN" altLang="en-US" dirty="0"/>
              <a:t>简化系统设计</a:t>
            </a:r>
            <a:endParaRPr lang="zh-CN" altLang="en-US" dirty="0"/>
          </a:p>
          <a:p>
            <a:pPr lvl="1" eaLnBrk="1" hangingPunct="1"/>
            <a:r>
              <a:rPr lang="zh-CN" altLang="en-US" dirty="0"/>
              <a:t>简化系统结构，提高系统可靠性</a:t>
            </a:r>
            <a:endParaRPr lang="zh-CN" altLang="en-US" dirty="0"/>
          </a:p>
          <a:p>
            <a:pPr lvl="1" eaLnBrk="1" hangingPunct="1"/>
            <a:r>
              <a:rPr lang="zh-CN" altLang="en-US" dirty="0"/>
              <a:t>各功能部件可来自不同厂商</a:t>
            </a:r>
            <a:endParaRPr lang="zh-CN" altLang="en-US" dirty="0"/>
          </a:p>
          <a:p>
            <a:pPr lvl="1" eaLnBrk="1" hangingPunct="1"/>
            <a:r>
              <a:rPr lang="zh-CN" altLang="en-US" dirty="0"/>
              <a:t>便于系统的扩充和更新</a:t>
            </a:r>
            <a:endParaRPr lang="zh-CN" altLang="en-US" dirty="0"/>
          </a:p>
        </p:txBody>
      </p:sp>
      <p:sp>
        <p:nvSpPr>
          <p:cNvPr id="31748" name="页脚占位符 3"/>
          <p:cNvSpPr>
            <a:spLocks noGrp="1"/>
          </p:cNvSpPr>
          <p:nvPr>
            <p:ph type="ftr" sz="quarter" idx="4294967295"/>
          </p:nvPr>
        </p:nvSpPr>
        <p:spPr bwMode="auto">
          <a:xfrm>
            <a:off x="3028950" y="6356350"/>
            <a:ext cx="3086100" cy="365125"/>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lang="zh-CN" altLang="en-US" sz="1600">
                <a:solidFill>
                  <a:srgbClr val="0099FF"/>
                </a:solidFill>
                <a:latin typeface="楷体_GB2312" pitchFamily="49" charset="-122"/>
              </a:rPr>
              <a:t>计算机学院体系结构中心</a:t>
            </a:r>
            <a:endParaRPr lang="zh-CN" altLang="en-US" sz="1600">
              <a:solidFill>
                <a:srgbClr val="0099FF"/>
              </a:solidFill>
              <a:latin typeface="楷体_GB2312"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 calcmode="lin" valueType="num">
                                      <p:cBhvr additive="base">
                                        <p:cTn id="7" dur="500" fill="hold"/>
                                        <p:tgtEl>
                                          <p:spTgt spid="921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3" dur="500"/>
                                        <p:tgtEl>
                                          <p:spTgt spid="921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9219">
                                            <p:txEl>
                                              <p:pRg st="3" end="3"/>
                                            </p:txEl>
                                          </p:spTgt>
                                        </p:tgtEl>
                                        <p:attrNameLst>
                                          <p:attrName>style.visibility</p:attrName>
                                        </p:attrNameLst>
                                      </p:cBhvr>
                                      <p:to>
                                        <p:strVal val="visible"/>
                                      </p:to>
                                    </p:set>
                                    <p:anim calcmode="lin" valueType="num">
                                      <p:cBhvr additive="base">
                                        <p:cTn id="18" dur="500" fill="hold"/>
                                        <p:tgtEl>
                                          <p:spTgt spid="9219">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92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9219">
                                            <p:txEl>
                                              <p:pRg st="4" end="4"/>
                                            </p:txEl>
                                          </p:spTgt>
                                        </p:tgtEl>
                                        <p:attrNameLst>
                                          <p:attrName>style.visibility</p:attrName>
                                        </p:attrNameLst>
                                      </p:cBhvr>
                                      <p:to>
                                        <p:strVal val="visible"/>
                                      </p:to>
                                    </p:set>
                                    <p:anim calcmode="lin" valueType="num">
                                      <p:cBhvr additive="base">
                                        <p:cTn id="24" dur="500" fill="hold"/>
                                        <p:tgtEl>
                                          <p:spTgt spid="9219">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92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9219">
                                            <p:txEl>
                                              <p:pRg st="5" end="5"/>
                                            </p:txEl>
                                          </p:spTgt>
                                        </p:tgtEl>
                                        <p:attrNameLst>
                                          <p:attrName>style.visibility</p:attrName>
                                        </p:attrNameLst>
                                      </p:cBhvr>
                                      <p:to>
                                        <p:strVal val="visible"/>
                                      </p:to>
                                    </p:set>
                                    <p:anim calcmode="lin" valueType="num">
                                      <p:cBhvr additive="base">
                                        <p:cTn id="30" dur="500" fill="hold"/>
                                        <p:tgtEl>
                                          <p:spTgt spid="9219">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921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defRPr/>
            </a:pPr>
            <a:r>
              <a:rPr lang="zh-CN" altLang="en-US">
                <a:latin typeface="宋体" panose="02010600030101010101" pitchFamily="2" charset="-122"/>
              </a:rPr>
              <a:t>总线的连接方式</a:t>
            </a:r>
            <a:r>
              <a:rPr lang="zh-CN" altLang="en-US" b="0" i="1">
                <a:latin typeface="宋体" panose="02010600030101010101" pitchFamily="2" charset="-122"/>
              </a:rPr>
              <a:t> </a:t>
            </a:r>
            <a:endParaRPr lang="zh-CN" altLang="en-US" b="0" i="1">
              <a:latin typeface="宋体" panose="02010600030101010101" pitchFamily="2" charset="-122"/>
            </a:endParaRPr>
          </a:p>
        </p:txBody>
      </p:sp>
      <p:sp>
        <p:nvSpPr>
          <p:cNvPr id="32771" name="Rectangle 3"/>
          <p:cNvSpPr>
            <a:spLocks noGrp="1" noChangeArrowheads="1"/>
          </p:cNvSpPr>
          <p:nvPr>
            <p:ph idx="1"/>
          </p:nvPr>
        </p:nvSpPr>
        <p:spPr>
          <a:xfrm>
            <a:off x="152400" y="1143000"/>
            <a:ext cx="8763000" cy="5321300"/>
          </a:xfrm>
        </p:spPr>
        <p:txBody>
          <a:bodyPr/>
          <a:lstStyle/>
          <a:p>
            <a:pPr marL="0" indent="0" eaLnBrk="1" hangingPunct="1">
              <a:buFont typeface="Wingdings 2" charset="2"/>
              <a:buNone/>
            </a:pPr>
            <a:r>
              <a:rPr lang="en-US" altLang="zh-CN" b="0" dirty="0">
                <a:latin typeface="宋体" panose="02010600030101010101" pitchFamily="2" charset="-122"/>
              </a:rPr>
              <a:t>  </a:t>
            </a:r>
            <a:r>
              <a:rPr lang="zh-CN" altLang="en-US" sz="2800" dirty="0">
                <a:latin typeface="宋体" panose="02010600030101010101" pitchFamily="2" charset="-122"/>
              </a:rPr>
              <a:t>适配器（接口）：实现高速</a:t>
            </a:r>
            <a:r>
              <a:rPr lang="en-US" altLang="zh-CN" sz="2800" dirty="0">
                <a:cs typeface="Times New Roman" panose="02020603050405020304" pitchFamily="18" charset="0"/>
              </a:rPr>
              <a:t>CPU</a:t>
            </a:r>
            <a:r>
              <a:rPr lang="zh-CN" altLang="en-US" sz="2800" dirty="0">
                <a:latin typeface="宋体" panose="02010600030101010101" pitchFamily="2" charset="-122"/>
              </a:rPr>
              <a:t>与低速外设之间工作速度上的匹配和同步，并完成计算机和外设之间的所有数据传送和控制。</a:t>
            </a:r>
            <a:r>
              <a:rPr lang="zh-CN" altLang="en-US" b="0" dirty="0">
                <a:latin typeface="宋体" panose="02010600030101010101" pitchFamily="2" charset="-122"/>
              </a:rPr>
              <a:t> </a:t>
            </a:r>
            <a:endParaRPr lang="zh-CN" altLang="en-US" b="0" dirty="0">
              <a:latin typeface="宋体" panose="02010600030101010101" pitchFamily="2" charset="-122"/>
            </a:endParaRPr>
          </a:p>
          <a:p>
            <a:pPr marL="0" indent="0" eaLnBrk="1" hangingPunct="1"/>
            <a:r>
              <a:rPr lang="zh-CN" altLang="en-US" sz="2800" dirty="0">
                <a:latin typeface="宋体" panose="02010600030101010101" pitchFamily="2" charset="-122"/>
              </a:rPr>
              <a:t>单机系统中总线结构的三种基本类型： </a:t>
            </a:r>
            <a:endParaRPr lang="zh-CN" altLang="en-US" sz="2800" dirty="0">
              <a:latin typeface="宋体" panose="02010600030101010101" pitchFamily="2" charset="-122"/>
            </a:endParaRPr>
          </a:p>
          <a:p>
            <a:pPr lvl="1" eaLnBrk="1" hangingPunct="1"/>
            <a:r>
              <a:rPr lang="zh-CN" altLang="en-US" dirty="0">
                <a:latin typeface="宋体" panose="02010600030101010101" pitchFamily="2" charset="-122"/>
              </a:rPr>
              <a:t>单总线：使用一条单一的系统总线来连接</a:t>
            </a:r>
            <a:r>
              <a:rPr lang="en-US" altLang="zh-CN" dirty="0"/>
              <a:t>CPU</a:t>
            </a:r>
            <a:r>
              <a:rPr lang="zh-CN" altLang="en-US" dirty="0">
                <a:latin typeface="宋体" panose="02010600030101010101" pitchFamily="2" charset="-122"/>
              </a:rPr>
              <a:t>、内存和</a:t>
            </a:r>
            <a:r>
              <a:rPr lang="en-US" altLang="zh-CN" dirty="0"/>
              <a:t>I/O</a:t>
            </a:r>
            <a:r>
              <a:rPr lang="zh-CN" altLang="en-US" dirty="0">
                <a:latin typeface="宋体" panose="02010600030101010101" pitchFamily="2" charset="-122"/>
              </a:rPr>
              <a:t>设备</a:t>
            </a:r>
            <a:endParaRPr lang="zh-CN" altLang="en-US" dirty="0">
              <a:latin typeface="宋体" panose="02010600030101010101" pitchFamily="2" charset="-122"/>
            </a:endParaRPr>
          </a:p>
          <a:p>
            <a:pPr lvl="1" eaLnBrk="1" hangingPunct="1"/>
            <a:r>
              <a:rPr lang="zh-CN" altLang="en-US" dirty="0">
                <a:latin typeface="宋体" panose="02010600030101010101" pitchFamily="2" charset="-122"/>
              </a:rPr>
              <a:t>双总线：在</a:t>
            </a:r>
            <a:r>
              <a:rPr lang="en-US" altLang="zh-CN" dirty="0"/>
              <a:t>CPU</a:t>
            </a:r>
            <a:r>
              <a:rPr lang="zh-CN" altLang="en-US" dirty="0"/>
              <a:t>和主存之间专门设置了一组高速的存储总线。 </a:t>
            </a:r>
            <a:endParaRPr lang="zh-CN" altLang="en-US" dirty="0"/>
          </a:p>
          <a:p>
            <a:pPr lvl="1" eaLnBrk="1" hangingPunct="1"/>
            <a:r>
              <a:rPr lang="zh-CN" altLang="en-US" dirty="0"/>
              <a:t>三总线：系统总线是</a:t>
            </a:r>
            <a:r>
              <a:rPr lang="en-US" altLang="zh-CN" dirty="0"/>
              <a:t>CPU</a:t>
            </a:r>
            <a:r>
              <a:rPr lang="zh-CN" altLang="en-US" dirty="0"/>
              <a:t>、主存和通道（</a:t>
            </a:r>
            <a:r>
              <a:rPr lang="en-US" altLang="zh-CN" dirty="0"/>
              <a:t>IOP</a:t>
            </a:r>
            <a:r>
              <a:rPr lang="zh-CN" altLang="en-US" dirty="0"/>
              <a:t>）之间进行数据传送的公共通路，而</a:t>
            </a:r>
            <a:r>
              <a:rPr lang="en-US" altLang="zh-CN" dirty="0"/>
              <a:t>I/O</a:t>
            </a:r>
            <a:r>
              <a:rPr lang="zh-CN" altLang="en-US" dirty="0"/>
              <a:t>总线是多个外部设备与通道之间进行数据传送的公共通路</a:t>
            </a:r>
            <a:endParaRPr lang="zh-CN" altLang="en-US" dirty="0"/>
          </a:p>
        </p:txBody>
      </p:sp>
    </p:spTree>
  </p:cSld>
  <p:clrMapOvr>
    <a:masterClrMapping/>
  </p:clrMapOvr>
  <p:transition spd="med">
    <p:pull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defRPr/>
            </a:pPr>
            <a:r>
              <a:rPr lang="zh-CN" altLang="en-US"/>
              <a:t>单总线结构</a:t>
            </a:r>
            <a:endParaRPr lang="zh-CN" altLang="en-US"/>
          </a:p>
        </p:txBody>
      </p:sp>
      <p:sp>
        <p:nvSpPr>
          <p:cNvPr id="33795" name="Rectangle 3"/>
          <p:cNvSpPr>
            <a:spLocks noGrp="1" noChangeArrowheads="1"/>
          </p:cNvSpPr>
          <p:nvPr>
            <p:ph idx="1"/>
          </p:nvPr>
        </p:nvSpPr>
        <p:spPr/>
        <p:txBody>
          <a:bodyPr/>
          <a:lstStyle/>
          <a:p>
            <a:pPr eaLnBrk="1" hangingPunct="1"/>
            <a:endParaRPr lang="zh-CN" altLang="zh-CN" dirty="0"/>
          </a:p>
        </p:txBody>
      </p:sp>
      <p:grpSp>
        <p:nvGrpSpPr>
          <p:cNvPr id="6" name="Group 2"/>
          <p:cNvGrpSpPr/>
          <p:nvPr/>
        </p:nvGrpSpPr>
        <p:grpSpPr bwMode="auto">
          <a:xfrm>
            <a:off x="609600" y="1524000"/>
            <a:ext cx="8229600" cy="695325"/>
            <a:chOff x="384" y="1056"/>
            <a:chExt cx="5184" cy="438"/>
          </a:xfrm>
        </p:grpSpPr>
        <p:sp>
          <p:nvSpPr>
            <p:cNvPr id="33819" name="Rectangle 3"/>
            <p:cNvSpPr>
              <a:spLocks noChangeArrowheads="1"/>
            </p:cNvSpPr>
            <p:nvPr/>
          </p:nvSpPr>
          <p:spPr bwMode="auto">
            <a:xfrm>
              <a:off x="2046" y="1056"/>
              <a:ext cx="20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folHlink"/>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2800" dirty="0">
                  <a:latin typeface="楷体" panose="02010609060101010101" pitchFamily="49" charset="-122"/>
                  <a:ea typeface="楷体" panose="02010609060101010101" pitchFamily="49" charset="-122"/>
                </a:rPr>
                <a:t>单总线（系统总线）</a:t>
              </a:r>
              <a:endParaRPr lang="zh-CN" altLang="en-US" sz="2800" dirty="0">
                <a:latin typeface="楷体" panose="02010609060101010101" pitchFamily="49" charset="-122"/>
                <a:ea typeface="楷体" panose="02010609060101010101" pitchFamily="49" charset="-122"/>
              </a:endParaRPr>
            </a:p>
          </p:txBody>
        </p:sp>
        <p:sp>
          <p:nvSpPr>
            <p:cNvPr id="33820" name="Freeform 4"/>
            <p:cNvSpPr/>
            <p:nvPr/>
          </p:nvSpPr>
          <p:spPr bwMode="auto">
            <a:xfrm>
              <a:off x="384" y="1350"/>
              <a:ext cx="5184" cy="144"/>
            </a:xfrm>
            <a:custGeom>
              <a:avLst/>
              <a:gdLst>
                <a:gd name="T0" fmla="*/ 0 w 4569"/>
                <a:gd name="T1" fmla="*/ 52 h 148"/>
                <a:gd name="T2" fmla="*/ 947 w 4569"/>
                <a:gd name="T3" fmla="*/ 107 h 148"/>
                <a:gd name="T4" fmla="*/ 947 w 4569"/>
                <a:gd name="T5" fmla="*/ 89 h 148"/>
                <a:gd name="T6" fmla="*/ 19858 w 4569"/>
                <a:gd name="T7" fmla="*/ 89 h 148"/>
                <a:gd name="T8" fmla="*/ 19858 w 4569"/>
                <a:gd name="T9" fmla="*/ 107 h 148"/>
                <a:gd name="T10" fmla="*/ 20794 w 4569"/>
                <a:gd name="T11" fmla="*/ 52 h 148"/>
                <a:gd name="T12" fmla="*/ 19858 w 4569"/>
                <a:gd name="T13" fmla="*/ 0 h 148"/>
                <a:gd name="T14" fmla="*/ 19858 w 4569"/>
                <a:gd name="T15" fmla="*/ 18 h 148"/>
                <a:gd name="T16" fmla="*/ 947 w 4569"/>
                <a:gd name="T17" fmla="*/ 18 h 148"/>
                <a:gd name="T18" fmla="*/ 947 w 4569"/>
                <a:gd name="T19" fmla="*/ 0 h 148"/>
                <a:gd name="T20" fmla="*/ 0 w 4569"/>
                <a:gd name="T21" fmla="*/ 52 h 1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69" h="148">
                  <a:moveTo>
                    <a:pt x="0" y="74"/>
                  </a:moveTo>
                  <a:lnTo>
                    <a:pt x="208" y="148"/>
                  </a:lnTo>
                  <a:lnTo>
                    <a:pt x="208" y="124"/>
                  </a:lnTo>
                  <a:lnTo>
                    <a:pt x="4364" y="124"/>
                  </a:lnTo>
                  <a:lnTo>
                    <a:pt x="4364" y="148"/>
                  </a:lnTo>
                  <a:lnTo>
                    <a:pt x="4569" y="74"/>
                  </a:lnTo>
                  <a:lnTo>
                    <a:pt x="4364" y="0"/>
                  </a:lnTo>
                  <a:lnTo>
                    <a:pt x="4364" y="25"/>
                  </a:lnTo>
                  <a:lnTo>
                    <a:pt x="208" y="25"/>
                  </a:lnTo>
                  <a:lnTo>
                    <a:pt x="208" y="0"/>
                  </a:lnTo>
                  <a:lnTo>
                    <a:pt x="0" y="74"/>
                  </a:lnTo>
                  <a:close/>
                </a:path>
              </a:pathLst>
            </a:custGeom>
            <a:solidFill>
              <a:schemeClr val="tx1"/>
            </a:solidFill>
            <a:ln>
              <a:noFill/>
            </a:ln>
            <a:extLst>
              <a:ext uri="{91240B29-F687-4F45-9708-019B960494DF}">
                <a14:hiddenLine xmlns:a14="http://schemas.microsoft.com/office/drawing/2010/main" w="17463">
                  <a:solidFill>
                    <a:srgbClr val="000000"/>
                  </a:solidFill>
                  <a:prstDash val="solid"/>
                  <a:round/>
                </a14:hiddenLine>
              </a:ext>
            </a:extLst>
          </p:spPr>
          <p:txBody>
            <a:bodyPr/>
            <a:lstStyle/>
            <a:p>
              <a:endParaRPr lang="zh-CN" altLang="en-US"/>
            </a:p>
          </p:txBody>
        </p:sp>
      </p:grpSp>
      <p:grpSp>
        <p:nvGrpSpPr>
          <p:cNvPr id="9" name="Group 6"/>
          <p:cNvGrpSpPr/>
          <p:nvPr/>
        </p:nvGrpSpPr>
        <p:grpSpPr bwMode="auto">
          <a:xfrm>
            <a:off x="838200" y="2171700"/>
            <a:ext cx="7959725" cy="3819525"/>
            <a:chOff x="528" y="1368"/>
            <a:chExt cx="5014" cy="2406"/>
          </a:xfrm>
        </p:grpSpPr>
        <p:grpSp>
          <p:nvGrpSpPr>
            <p:cNvPr id="33799" name="Group 7"/>
            <p:cNvGrpSpPr/>
            <p:nvPr/>
          </p:nvGrpSpPr>
          <p:grpSpPr bwMode="auto">
            <a:xfrm>
              <a:off x="528" y="1368"/>
              <a:ext cx="719" cy="2389"/>
              <a:chOff x="528" y="1615"/>
              <a:chExt cx="719" cy="2389"/>
            </a:xfrm>
          </p:grpSpPr>
          <p:sp>
            <p:nvSpPr>
              <p:cNvPr id="33817" name="Rectangle 8"/>
              <p:cNvSpPr>
                <a:spLocks noChangeArrowheads="1"/>
              </p:cNvSpPr>
              <p:nvPr/>
            </p:nvSpPr>
            <p:spPr bwMode="auto">
              <a:xfrm>
                <a:off x="528" y="2352"/>
                <a:ext cx="719" cy="1652"/>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endParaRPr lang="zh-CN" altLang="en-US" b="1">
                  <a:ea typeface="楷体" panose="02010609060101010101" pitchFamily="49" charset="-122"/>
                  <a:cs typeface="Times New Roman" panose="02020603050405020304" pitchFamily="18" charset="0"/>
                </a:endParaRPr>
              </a:p>
              <a:p>
                <a:endParaRPr lang="zh-CN" altLang="en-US" b="1">
                  <a:ea typeface="楷体" panose="02010609060101010101" pitchFamily="49" charset="-122"/>
                  <a:cs typeface="Times New Roman" panose="02020603050405020304" pitchFamily="18" charset="0"/>
                </a:endParaRPr>
              </a:p>
              <a:p>
                <a:r>
                  <a:rPr lang="en-US" altLang="zh-CN" sz="2800" b="1">
                    <a:ea typeface="楷体" panose="02010609060101010101" pitchFamily="49" charset="-122"/>
                    <a:cs typeface="Times New Roman" panose="02020603050405020304" pitchFamily="18" charset="0"/>
                  </a:rPr>
                  <a:t> CPU</a:t>
                </a:r>
                <a:endParaRPr lang="en-US" altLang="zh-CN" sz="2800" b="1">
                  <a:ea typeface="楷体" panose="02010609060101010101" pitchFamily="49" charset="-122"/>
                  <a:cs typeface="Times New Roman" panose="02020603050405020304" pitchFamily="18" charset="0"/>
                </a:endParaRPr>
              </a:p>
            </p:txBody>
          </p:sp>
          <p:sp>
            <p:nvSpPr>
              <p:cNvPr id="33818" name="Freeform 9"/>
              <p:cNvSpPr/>
              <p:nvPr/>
            </p:nvSpPr>
            <p:spPr bwMode="auto">
              <a:xfrm>
                <a:off x="802" y="1615"/>
                <a:ext cx="206" cy="737"/>
              </a:xfrm>
              <a:custGeom>
                <a:avLst/>
                <a:gdLst>
                  <a:gd name="T0" fmla="*/ 6564 w 141"/>
                  <a:gd name="T1" fmla="*/ 0 h 482"/>
                  <a:gd name="T2" fmla="*/ 13340 w 141"/>
                  <a:gd name="T3" fmla="*/ 15361 h 482"/>
                  <a:gd name="T4" fmla="*/ 10005 w 141"/>
                  <a:gd name="T5" fmla="*/ 15361 h 482"/>
                  <a:gd name="T6" fmla="*/ 10005 w 141"/>
                  <a:gd name="T7" fmla="*/ 63212 h 482"/>
                  <a:gd name="T8" fmla="*/ 13340 w 141"/>
                  <a:gd name="T9" fmla="*/ 63212 h 482"/>
                  <a:gd name="T10" fmla="*/ 6564 w 141"/>
                  <a:gd name="T11" fmla="*/ 78734 h 482"/>
                  <a:gd name="T12" fmla="*/ 0 w 141"/>
                  <a:gd name="T13" fmla="*/ 63212 h 482"/>
                  <a:gd name="T14" fmla="*/ 3242 w 141"/>
                  <a:gd name="T15" fmla="*/ 63212 h 482"/>
                  <a:gd name="T16" fmla="*/ 3242 w 141"/>
                  <a:gd name="T17" fmla="*/ 15361 h 482"/>
                  <a:gd name="T18" fmla="*/ 0 w 141"/>
                  <a:gd name="T19" fmla="*/ 15361 h 482"/>
                  <a:gd name="T20" fmla="*/ 6564 w 141"/>
                  <a:gd name="T21" fmla="*/ 0 h 4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1" h="482">
                    <a:moveTo>
                      <a:pt x="69" y="0"/>
                    </a:moveTo>
                    <a:lnTo>
                      <a:pt x="141" y="94"/>
                    </a:lnTo>
                    <a:lnTo>
                      <a:pt x="106" y="94"/>
                    </a:lnTo>
                    <a:lnTo>
                      <a:pt x="106" y="387"/>
                    </a:lnTo>
                    <a:lnTo>
                      <a:pt x="141" y="387"/>
                    </a:lnTo>
                    <a:lnTo>
                      <a:pt x="69" y="482"/>
                    </a:lnTo>
                    <a:lnTo>
                      <a:pt x="0" y="387"/>
                    </a:lnTo>
                    <a:lnTo>
                      <a:pt x="34" y="387"/>
                    </a:lnTo>
                    <a:lnTo>
                      <a:pt x="34" y="94"/>
                    </a:lnTo>
                    <a:lnTo>
                      <a:pt x="0" y="94"/>
                    </a:lnTo>
                    <a:lnTo>
                      <a:pt x="69" y="0"/>
                    </a:lnTo>
                    <a:close/>
                  </a:path>
                </a:pathLst>
              </a:custGeom>
              <a:noFill/>
              <a:ln w="38100" cmpd="sng">
                <a:solidFill>
                  <a:schemeClr val="tx1"/>
                </a:solidFill>
                <a:prstDash val="solid"/>
                <a:round/>
              </a:ln>
              <a:extLst>
                <a:ext uri="{909E8E84-426E-40DD-AFC4-6F175D3DCCD1}">
                  <a14:hiddenFill xmlns:a14="http://schemas.microsoft.com/office/drawing/2010/main">
                    <a:solidFill>
                      <a:schemeClr val="folHlink"/>
                    </a:solidFill>
                  </a14:hiddenFill>
                </a:ext>
              </a:extLst>
            </p:spPr>
            <p:txBody>
              <a:bodyPr/>
              <a:lstStyle/>
              <a:p>
                <a:endParaRPr lang="zh-CN" altLang="en-US"/>
              </a:p>
            </p:txBody>
          </p:sp>
        </p:grpSp>
        <p:grpSp>
          <p:nvGrpSpPr>
            <p:cNvPr id="33800" name="Group 10"/>
            <p:cNvGrpSpPr/>
            <p:nvPr/>
          </p:nvGrpSpPr>
          <p:grpSpPr bwMode="auto">
            <a:xfrm>
              <a:off x="1392" y="1385"/>
              <a:ext cx="720" cy="2389"/>
              <a:chOff x="1392" y="1632"/>
              <a:chExt cx="720" cy="2389"/>
            </a:xfrm>
          </p:grpSpPr>
          <p:sp>
            <p:nvSpPr>
              <p:cNvPr id="33815" name="Rectangle 11"/>
              <p:cNvSpPr>
                <a:spLocks noChangeArrowheads="1"/>
              </p:cNvSpPr>
              <p:nvPr/>
            </p:nvSpPr>
            <p:spPr bwMode="auto">
              <a:xfrm>
                <a:off x="1392" y="2369"/>
                <a:ext cx="720" cy="1652"/>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endParaRPr lang="zh-CN" altLang="en-US" b="1">
                  <a:ea typeface="楷体" panose="02010609060101010101" pitchFamily="49" charset="-122"/>
                  <a:cs typeface="Times New Roman" panose="02020603050405020304" pitchFamily="18" charset="0"/>
                </a:endParaRPr>
              </a:p>
              <a:p>
                <a:endParaRPr lang="en-US" altLang="zh-CN" b="1">
                  <a:ea typeface="楷体" panose="02010609060101010101" pitchFamily="49" charset="-122"/>
                  <a:cs typeface="Times New Roman" panose="02020603050405020304" pitchFamily="18" charset="0"/>
                </a:endParaRPr>
              </a:p>
              <a:p>
                <a:r>
                  <a:rPr lang="zh-CN" altLang="en-US" b="1">
                    <a:ea typeface="楷体" panose="02010609060101010101" pitchFamily="49" charset="-122"/>
                    <a:cs typeface="Times New Roman" panose="02020603050405020304" pitchFamily="18" charset="0"/>
                  </a:rPr>
                  <a:t> </a:t>
                </a:r>
                <a:r>
                  <a:rPr lang="zh-CN" altLang="en-US" sz="2800" b="1">
                    <a:ea typeface="楷体" panose="02010609060101010101" pitchFamily="49" charset="-122"/>
                    <a:cs typeface="Times New Roman" panose="02020603050405020304" pitchFamily="18" charset="0"/>
                  </a:rPr>
                  <a:t>主存</a:t>
                </a:r>
                <a:endParaRPr lang="zh-CN" altLang="en-US" sz="2800" b="1">
                  <a:ea typeface="楷体" panose="02010609060101010101" pitchFamily="49" charset="-122"/>
                  <a:cs typeface="Times New Roman" panose="02020603050405020304" pitchFamily="18" charset="0"/>
                </a:endParaRPr>
              </a:p>
            </p:txBody>
          </p:sp>
          <p:sp>
            <p:nvSpPr>
              <p:cNvPr id="33816" name="Freeform 12"/>
              <p:cNvSpPr/>
              <p:nvPr/>
            </p:nvSpPr>
            <p:spPr bwMode="auto">
              <a:xfrm>
                <a:off x="1619" y="1632"/>
                <a:ext cx="206" cy="737"/>
              </a:xfrm>
              <a:custGeom>
                <a:avLst/>
                <a:gdLst>
                  <a:gd name="T0" fmla="*/ 6564 w 141"/>
                  <a:gd name="T1" fmla="*/ 0 h 482"/>
                  <a:gd name="T2" fmla="*/ 13340 w 141"/>
                  <a:gd name="T3" fmla="*/ 15361 h 482"/>
                  <a:gd name="T4" fmla="*/ 10005 w 141"/>
                  <a:gd name="T5" fmla="*/ 15361 h 482"/>
                  <a:gd name="T6" fmla="*/ 10005 w 141"/>
                  <a:gd name="T7" fmla="*/ 63212 h 482"/>
                  <a:gd name="T8" fmla="*/ 13340 w 141"/>
                  <a:gd name="T9" fmla="*/ 63212 h 482"/>
                  <a:gd name="T10" fmla="*/ 6564 w 141"/>
                  <a:gd name="T11" fmla="*/ 78734 h 482"/>
                  <a:gd name="T12" fmla="*/ 0 w 141"/>
                  <a:gd name="T13" fmla="*/ 63212 h 482"/>
                  <a:gd name="T14" fmla="*/ 3242 w 141"/>
                  <a:gd name="T15" fmla="*/ 63212 h 482"/>
                  <a:gd name="T16" fmla="*/ 3242 w 141"/>
                  <a:gd name="T17" fmla="*/ 15361 h 482"/>
                  <a:gd name="T18" fmla="*/ 0 w 141"/>
                  <a:gd name="T19" fmla="*/ 15361 h 482"/>
                  <a:gd name="T20" fmla="*/ 6564 w 141"/>
                  <a:gd name="T21" fmla="*/ 0 h 4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1" h="482">
                    <a:moveTo>
                      <a:pt x="69" y="0"/>
                    </a:moveTo>
                    <a:lnTo>
                      <a:pt x="141" y="94"/>
                    </a:lnTo>
                    <a:lnTo>
                      <a:pt x="106" y="94"/>
                    </a:lnTo>
                    <a:lnTo>
                      <a:pt x="106" y="387"/>
                    </a:lnTo>
                    <a:lnTo>
                      <a:pt x="141" y="387"/>
                    </a:lnTo>
                    <a:lnTo>
                      <a:pt x="69" y="482"/>
                    </a:lnTo>
                    <a:lnTo>
                      <a:pt x="0" y="387"/>
                    </a:lnTo>
                    <a:lnTo>
                      <a:pt x="34" y="387"/>
                    </a:lnTo>
                    <a:lnTo>
                      <a:pt x="34" y="94"/>
                    </a:lnTo>
                    <a:lnTo>
                      <a:pt x="0" y="94"/>
                    </a:lnTo>
                    <a:lnTo>
                      <a:pt x="69" y="0"/>
                    </a:lnTo>
                    <a:close/>
                  </a:path>
                </a:pathLst>
              </a:custGeom>
              <a:noFill/>
              <a:ln w="38100" cmpd="sng">
                <a:solidFill>
                  <a:schemeClr val="tx1"/>
                </a:solidFill>
                <a:prstDash val="solid"/>
                <a:round/>
              </a:ln>
              <a:extLst>
                <a:ext uri="{909E8E84-426E-40DD-AFC4-6F175D3DCCD1}">
                  <a14:hiddenFill xmlns:a14="http://schemas.microsoft.com/office/drawing/2010/main">
                    <a:solidFill>
                      <a:schemeClr val="folHlink"/>
                    </a:solidFill>
                  </a14:hiddenFill>
                </a:ext>
              </a:extLst>
            </p:spPr>
            <p:txBody>
              <a:bodyPr/>
              <a:lstStyle/>
              <a:p>
                <a:endParaRPr lang="zh-CN" altLang="en-US"/>
              </a:p>
            </p:txBody>
          </p:sp>
        </p:grpSp>
        <p:sp>
          <p:nvSpPr>
            <p:cNvPr id="33801" name="Rectangle 13"/>
            <p:cNvSpPr>
              <a:spLocks noChangeArrowheads="1"/>
            </p:cNvSpPr>
            <p:nvPr/>
          </p:nvSpPr>
          <p:spPr bwMode="auto">
            <a:xfrm>
              <a:off x="2208" y="2116"/>
              <a:ext cx="934" cy="320"/>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2400" b="1">
                  <a:ea typeface="楷体" panose="02010609060101010101" pitchFamily="49" charset="-122"/>
                  <a:cs typeface="Times New Roman" panose="02020603050405020304" pitchFamily="18" charset="0"/>
                </a:rPr>
                <a:t>  I/O</a:t>
              </a:r>
              <a:r>
                <a:rPr lang="zh-CN" altLang="en-US" sz="2400" b="1">
                  <a:ea typeface="楷体" panose="02010609060101010101" pitchFamily="49" charset="-122"/>
                  <a:cs typeface="Times New Roman" panose="02020603050405020304" pitchFamily="18" charset="0"/>
                </a:rPr>
                <a:t>接口</a:t>
              </a:r>
              <a:endParaRPr lang="zh-CN" altLang="en-US" sz="2400" b="1">
                <a:ea typeface="楷体" panose="02010609060101010101" pitchFamily="49" charset="-122"/>
                <a:cs typeface="Times New Roman" panose="02020603050405020304" pitchFamily="18" charset="0"/>
              </a:endParaRPr>
            </a:p>
          </p:txBody>
        </p:sp>
        <p:sp>
          <p:nvSpPr>
            <p:cNvPr id="33802" name="Freeform 14"/>
            <p:cNvSpPr/>
            <p:nvPr/>
          </p:nvSpPr>
          <p:spPr bwMode="auto">
            <a:xfrm>
              <a:off x="2592" y="1391"/>
              <a:ext cx="192" cy="725"/>
            </a:xfrm>
            <a:custGeom>
              <a:avLst/>
              <a:gdLst>
                <a:gd name="T0" fmla="*/ 3406 w 139"/>
                <a:gd name="T1" fmla="*/ 0 h 495"/>
                <a:gd name="T2" fmla="*/ 6710 w 139"/>
                <a:gd name="T3" fmla="*/ 9649 h 495"/>
                <a:gd name="T4" fmla="*/ 5033 w 139"/>
                <a:gd name="T5" fmla="*/ 9649 h 495"/>
                <a:gd name="T6" fmla="*/ 5033 w 139"/>
                <a:gd name="T7" fmla="*/ 38558 h 495"/>
                <a:gd name="T8" fmla="*/ 6710 w 139"/>
                <a:gd name="T9" fmla="*/ 38558 h 495"/>
                <a:gd name="T10" fmla="*/ 3406 w 139"/>
                <a:gd name="T11" fmla="*/ 48232 h 495"/>
                <a:gd name="T12" fmla="*/ 0 w 139"/>
                <a:gd name="T13" fmla="*/ 38558 h 495"/>
                <a:gd name="T14" fmla="*/ 1671 w 139"/>
                <a:gd name="T15" fmla="*/ 38558 h 495"/>
                <a:gd name="T16" fmla="*/ 1671 w 139"/>
                <a:gd name="T17" fmla="*/ 9649 h 495"/>
                <a:gd name="T18" fmla="*/ 0 w 139"/>
                <a:gd name="T19" fmla="*/ 9649 h 495"/>
                <a:gd name="T20" fmla="*/ 3406 w 139"/>
                <a:gd name="T21" fmla="*/ 0 h 49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9" h="495">
                  <a:moveTo>
                    <a:pt x="71" y="0"/>
                  </a:moveTo>
                  <a:lnTo>
                    <a:pt x="139" y="99"/>
                  </a:lnTo>
                  <a:lnTo>
                    <a:pt x="104" y="99"/>
                  </a:lnTo>
                  <a:lnTo>
                    <a:pt x="104" y="396"/>
                  </a:lnTo>
                  <a:lnTo>
                    <a:pt x="139" y="396"/>
                  </a:lnTo>
                  <a:lnTo>
                    <a:pt x="71" y="495"/>
                  </a:lnTo>
                  <a:lnTo>
                    <a:pt x="0" y="396"/>
                  </a:lnTo>
                  <a:lnTo>
                    <a:pt x="35" y="396"/>
                  </a:lnTo>
                  <a:lnTo>
                    <a:pt x="35" y="99"/>
                  </a:lnTo>
                  <a:lnTo>
                    <a:pt x="0" y="99"/>
                  </a:lnTo>
                  <a:lnTo>
                    <a:pt x="71" y="0"/>
                  </a:lnTo>
                  <a:close/>
                </a:path>
              </a:pathLst>
            </a:custGeom>
            <a:noFill/>
            <a:ln w="38100" cmpd="sng">
              <a:solidFill>
                <a:schemeClr val="tx1"/>
              </a:solidFill>
              <a:prstDash val="solid"/>
              <a:round/>
            </a:ln>
            <a:extLst>
              <a:ext uri="{909E8E84-426E-40DD-AFC4-6F175D3DCCD1}">
                <a14:hiddenFill xmlns:a14="http://schemas.microsoft.com/office/drawing/2010/main">
                  <a:solidFill>
                    <a:srgbClr val="B89928"/>
                  </a:solidFill>
                </a14:hiddenFill>
              </a:ext>
            </a:extLst>
          </p:spPr>
          <p:txBody>
            <a:bodyPr/>
            <a:lstStyle/>
            <a:p>
              <a:endParaRPr lang="zh-CN" altLang="en-US"/>
            </a:p>
          </p:txBody>
        </p:sp>
        <p:sp>
          <p:nvSpPr>
            <p:cNvPr id="33803" name="Freeform 15"/>
            <p:cNvSpPr/>
            <p:nvPr/>
          </p:nvSpPr>
          <p:spPr bwMode="auto">
            <a:xfrm>
              <a:off x="2609" y="2479"/>
              <a:ext cx="175" cy="671"/>
            </a:xfrm>
            <a:custGeom>
              <a:avLst/>
              <a:gdLst>
                <a:gd name="T0" fmla="*/ 1124 w 139"/>
                <a:gd name="T1" fmla="*/ 0 h 467"/>
                <a:gd name="T2" fmla="*/ 2202 w 139"/>
                <a:gd name="T3" fmla="*/ 7288 h 467"/>
                <a:gd name="T4" fmla="*/ 1651 w 139"/>
                <a:gd name="T5" fmla="*/ 7288 h 467"/>
                <a:gd name="T6" fmla="*/ 1651 w 139"/>
                <a:gd name="T7" fmla="*/ 28939 h 467"/>
                <a:gd name="T8" fmla="*/ 2202 w 139"/>
                <a:gd name="T9" fmla="*/ 28939 h 467"/>
                <a:gd name="T10" fmla="*/ 1124 w 139"/>
                <a:gd name="T11" fmla="*/ 36151 h 467"/>
                <a:gd name="T12" fmla="*/ 0 w 139"/>
                <a:gd name="T13" fmla="*/ 28939 h 467"/>
                <a:gd name="T14" fmla="*/ 550 w 139"/>
                <a:gd name="T15" fmla="*/ 28939 h 467"/>
                <a:gd name="T16" fmla="*/ 550 w 139"/>
                <a:gd name="T17" fmla="*/ 7288 h 467"/>
                <a:gd name="T18" fmla="*/ 0 w 139"/>
                <a:gd name="T19" fmla="*/ 7288 h 467"/>
                <a:gd name="T20" fmla="*/ 1124 w 139"/>
                <a:gd name="T21" fmla="*/ 0 h 4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9" h="467">
                  <a:moveTo>
                    <a:pt x="71" y="0"/>
                  </a:moveTo>
                  <a:lnTo>
                    <a:pt x="139" y="94"/>
                  </a:lnTo>
                  <a:lnTo>
                    <a:pt x="104" y="94"/>
                  </a:lnTo>
                  <a:lnTo>
                    <a:pt x="104" y="374"/>
                  </a:lnTo>
                  <a:lnTo>
                    <a:pt x="139" y="374"/>
                  </a:lnTo>
                  <a:lnTo>
                    <a:pt x="71" y="467"/>
                  </a:lnTo>
                  <a:lnTo>
                    <a:pt x="0" y="374"/>
                  </a:lnTo>
                  <a:lnTo>
                    <a:pt x="35" y="374"/>
                  </a:lnTo>
                  <a:lnTo>
                    <a:pt x="35" y="94"/>
                  </a:lnTo>
                  <a:lnTo>
                    <a:pt x="0" y="94"/>
                  </a:lnTo>
                  <a:lnTo>
                    <a:pt x="71" y="0"/>
                  </a:lnTo>
                  <a:close/>
                </a:path>
              </a:pathLst>
            </a:custGeom>
            <a:noFill/>
            <a:ln w="38100" cmpd="sng">
              <a:solidFill>
                <a:schemeClr val="tx1"/>
              </a:solidFill>
              <a:prstDash val="solid"/>
              <a:round/>
            </a:ln>
            <a:extLst>
              <a:ext uri="{909E8E84-426E-40DD-AFC4-6F175D3DCCD1}">
                <a14:hiddenFill xmlns:a14="http://schemas.microsoft.com/office/drawing/2010/main">
                  <a:solidFill>
                    <a:schemeClr val="folHlink"/>
                  </a:solidFill>
                </a14:hiddenFill>
              </a:ext>
            </a:extLst>
          </p:spPr>
          <p:txBody>
            <a:bodyPr/>
            <a:lstStyle/>
            <a:p>
              <a:endParaRPr lang="zh-CN" altLang="en-US"/>
            </a:p>
          </p:txBody>
        </p:sp>
        <p:sp>
          <p:nvSpPr>
            <p:cNvPr id="33804" name="Rectangle 16"/>
            <p:cNvSpPr>
              <a:spLocks noChangeArrowheads="1"/>
            </p:cNvSpPr>
            <p:nvPr/>
          </p:nvSpPr>
          <p:spPr bwMode="auto">
            <a:xfrm>
              <a:off x="2208" y="3150"/>
              <a:ext cx="934" cy="594"/>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2800" b="1" dirty="0">
                  <a:ea typeface="楷体" panose="02010609060101010101" pitchFamily="49" charset="-122"/>
                  <a:cs typeface="Times New Roman" panose="02020603050405020304" pitchFamily="18" charset="0"/>
                </a:rPr>
                <a:t>  </a:t>
              </a:r>
              <a:r>
                <a:rPr lang="en-US" altLang="zh-CN" sz="2400" b="1" dirty="0">
                  <a:ea typeface="楷体" panose="02010609060101010101" pitchFamily="49" charset="-122"/>
                  <a:cs typeface="Times New Roman" panose="02020603050405020304" pitchFamily="18" charset="0"/>
                </a:rPr>
                <a:t>I/O</a:t>
              </a:r>
              <a:endParaRPr lang="zh-CN" altLang="en-US" sz="2400" b="1" dirty="0">
                <a:ea typeface="楷体" panose="02010609060101010101" pitchFamily="49" charset="-122"/>
                <a:cs typeface="Times New Roman" panose="02020603050405020304" pitchFamily="18" charset="0"/>
              </a:endParaRPr>
            </a:p>
            <a:p>
              <a:r>
                <a:rPr lang="zh-CN" altLang="en-US" sz="2400" b="1" dirty="0">
                  <a:ea typeface="楷体" panose="02010609060101010101" pitchFamily="49" charset="-122"/>
                  <a:cs typeface="Times New Roman" panose="02020603050405020304" pitchFamily="18" charset="0"/>
                </a:rPr>
                <a:t>  设备1</a:t>
              </a:r>
              <a:endParaRPr lang="zh-CN" altLang="en-US" sz="2400" b="1" dirty="0">
                <a:ea typeface="楷体" panose="02010609060101010101" pitchFamily="49" charset="-122"/>
                <a:cs typeface="Times New Roman" panose="02020603050405020304" pitchFamily="18" charset="0"/>
              </a:endParaRPr>
            </a:p>
          </p:txBody>
        </p:sp>
        <p:sp>
          <p:nvSpPr>
            <p:cNvPr id="33805" name="Rectangle 17"/>
            <p:cNvSpPr>
              <a:spLocks noChangeArrowheads="1"/>
            </p:cNvSpPr>
            <p:nvPr/>
          </p:nvSpPr>
          <p:spPr bwMode="auto">
            <a:xfrm>
              <a:off x="3360" y="3150"/>
              <a:ext cx="934" cy="594"/>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2800" b="1" dirty="0">
                  <a:ea typeface="楷体" panose="02010609060101010101" pitchFamily="49" charset="-122"/>
                  <a:cs typeface="Times New Roman" panose="02020603050405020304" pitchFamily="18" charset="0"/>
                </a:rPr>
                <a:t>  </a:t>
              </a:r>
              <a:r>
                <a:rPr lang="en-US" altLang="zh-CN" sz="2400" b="1" dirty="0">
                  <a:ea typeface="楷体" panose="02010609060101010101" pitchFamily="49" charset="-122"/>
                  <a:cs typeface="Times New Roman" panose="02020603050405020304" pitchFamily="18" charset="0"/>
                </a:rPr>
                <a:t>I/O</a:t>
              </a:r>
              <a:endParaRPr lang="zh-CN" altLang="en-US" sz="2400" b="1" dirty="0">
                <a:ea typeface="楷体" panose="02010609060101010101" pitchFamily="49" charset="-122"/>
                <a:cs typeface="Times New Roman" panose="02020603050405020304" pitchFamily="18" charset="0"/>
              </a:endParaRPr>
            </a:p>
            <a:p>
              <a:r>
                <a:rPr lang="zh-CN" altLang="en-US" sz="2400" b="1" dirty="0">
                  <a:ea typeface="楷体" panose="02010609060101010101" pitchFamily="49" charset="-122"/>
                  <a:cs typeface="Times New Roman" panose="02020603050405020304" pitchFamily="18" charset="0"/>
                </a:rPr>
                <a:t> 设备2</a:t>
              </a:r>
              <a:endParaRPr lang="zh-CN" altLang="en-US" sz="2400" b="1" dirty="0">
                <a:ea typeface="楷体" panose="02010609060101010101" pitchFamily="49" charset="-122"/>
                <a:cs typeface="Times New Roman" panose="02020603050405020304" pitchFamily="18" charset="0"/>
              </a:endParaRPr>
            </a:p>
          </p:txBody>
        </p:sp>
        <p:sp>
          <p:nvSpPr>
            <p:cNvPr id="33806" name="Rectangle 18"/>
            <p:cNvSpPr>
              <a:spLocks noChangeArrowheads="1"/>
            </p:cNvSpPr>
            <p:nvPr/>
          </p:nvSpPr>
          <p:spPr bwMode="auto">
            <a:xfrm>
              <a:off x="3360" y="2116"/>
              <a:ext cx="934" cy="320"/>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2400" b="1">
                  <a:ea typeface="楷体" panose="02010609060101010101" pitchFamily="49" charset="-122"/>
                  <a:cs typeface="Times New Roman" panose="02020603050405020304" pitchFamily="18" charset="0"/>
                </a:rPr>
                <a:t>  I/O</a:t>
              </a:r>
              <a:r>
                <a:rPr lang="zh-CN" altLang="en-US" sz="2400" b="1">
                  <a:ea typeface="楷体" panose="02010609060101010101" pitchFamily="49" charset="-122"/>
                  <a:cs typeface="Times New Roman" panose="02020603050405020304" pitchFamily="18" charset="0"/>
                </a:rPr>
                <a:t>接口</a:t>
              </a:r>
              <a:endParaRPr lang="zh-CN" altLang="en-US" sz="2400" b="1">
                <a:ea typeface="楷体" panose="02010609060101010101" pitchFamily="49" charset="-122"/>
                <a:cs typeface="Times New Roman" panose="02020603050405020304" pitchFamily="18" charset="0"/>
              </a:endParaRPr>
            </a:p>
          </p:txBody>
        </p:sp>
        <p:sp>
          <p:nvSpPr>
            <p:cNvPr id="33807" name="Freeform 19"/>
            <p:cNvSpPr/>
            <p:nvPr/>
          </p:nvSpPr>
          <p:spPr bwMode="auto">
            <a:xfrm>
              <a:off x="3696" y="1391"/>
              <a:ext cx="192" cy="725"/>
            </a:xfrm>
            <a:custGeom>
              <a:avLst/>
              <a:gdLst>
                <a:gd name="T0" fmla="*/ 3406 w 139"/>
                <a:gd name="T1" fmla="*/ 0 h 495"/>
                <a:gd name="T2" fmla="*/ 6710 w 139"/>
                <a:gd name="T3" fmla="*/ 9649 h 495"/>
                <a:gd name="T4" fmla="*/ 5033 w 139"/>
                <a:gd name="T5" fmla="*/ 9649 h 495"/>
                <a:gd name="T6" fmla="*/ 5033 w 139"/>
                <a:gd name="T7" fmla="*/ 38558 h 495"/>
                <a:gd name="T8" fmla="*/ 6710 w 139"/>
                <a:gd name="T9" fmla="*/ 38558 h 495"/>
                <a:gd name="T10" fmla="*/ 3406 w 139"/>
                <a:gd name="T11" fmla="*/ 48232 h 495"/>
                <a:gd name="T12" fmla="*/ 0 w 139"/>
                <a:gd name="T13" fmla="*/ 38558 h 495"/>
                <a:gd name="T14" fmla="*/ 1671 w 139"/>
                <a:gd name="T15" fmla="*/ 38558 h 495"/>
                <a:gd name="T16" fmla="*/ 1671 w 139"/>
                <a:gd name="T17" fmla="*/ 9649 h 495"/>
                <a:gd name="T18" fmla="*/ 0 w 139"/>
                <a:gd name="T19" fmla="*/ 9649 h 495"/>
                <a:gd name="T20" fmla="*/ 3406 w 139"/>
                <a:gd name="T21" fmla="*/ 0 h 49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9" h="495">
                  <a:moveTo>
                    <a:pt x="71" y="0"/>
                  </a:moveTo>
                  <a:lnTo>
                    <a:pt x="139" y="99"/>
                  </a:lnTo>
                  <a:lnTo>
                    <a:pt x="104" y="99"/>
                  </a:lnTo>
                  <a:lnTo>
                    <a:pt x="104" y="396"/>
                  </a:lnTo>
                  <a:lnTo>
                    <a:pt x="139" y="396"/>
                  </a:lnTo>
                  <a:lnTo>
                    <a:pt x="71" y="495"/>
                  </a:lnTo>
                  <a:lnTo>
                    <a:pt x="0" y="396"/>
                  </a:lnTo>
                  <a:lnTo>
                    <a:pt x="35" y="396"/>
                  </a:lnTo>
                  <a:lnTo>
                    <a:pt x="35" y="99"/>
                  </a:lnTo>
                  <a:lnTo>
                    <a:pt x="0" y="99"/>
                  </a:lnTo>
                  <a:lnTo>
                    <a:pt x="71" y="0"/>
                  </a:lnTo>
                  <a:close/>
                </a:path>
              </a:pathLst>
            </a:custGeom>
            <a:noFill/>
            <a:ln w="38100" cmpd="sng">
              <a:solidFill>
                <a:schemeClr val="tx1"/>
              </a:solidFill>
              <a:prstDash val="solid"/>
              <a:round/>
            </a:ln>
            <a:extLst>
              <a:ext uri="{909E8E84-426E-40DD-AFC4-6F175D3DCCD1}">
                <a14:hiddenFill xmlns:a14="http://schemas.microsoft.com/office/drawing/2010/main">
                  <a:solidFill>
                    <a:srgbClr val="B89928"/>
                  </a:solidFill>
                </a14:hiddenFill>
              </a:ext>
            </a:extLst>
          </p:spPr>
          <p:txBody>
            <a:bodyPr/>
            <a:lstStyle/>
            <a:p>
              <a:endParaRPr lang="zh-CN" altLang="en-US"/>
            </a:p>
          </p:txBody>
        </p:sp>
        <p:sp>
          <p:nvSpPr>
            <p:cNvPr id="33808" name="Freeform 20"/>
            <p:cNvSpPr/>
            <p:nvPr/>
          </p:nvSpPr>
          <p:spPr bwMode="auto">
            <a:xfrm>
              <a:off x="3696" y="2479"/>
              <a:ext cx="192" cy="671"/>
            </a:xfrm>
            <a:custGeom>
              <a:avLst/>
              <a:gdLst>
                <a:gd name="T0" fmla="*/ 3406 w 139"/>
                <a:gd name="T1" fmla="*/ 0 h 467"/>
                <a:gd name="T2" fmla="*/ 6710 w 139"/>
                <a:gd name="T3" fmla="*/ 7288 h 467"/>
                <a:gd name="T4" fmla="*/ 5033 w 139"/>
                <a:gd name="T5" fmla="*/ 7288 h 467"/>
                <a:gd name="T6" fmla="*/ 5033 w 139"/>
                <a:gd name="T7" fmla="*/ 28939 h 467"/>
                <a:gd name="T8" fmla="*/ 6710 w 139"/>
                <a:gd name="T9" fmla="*/ 28939 h 467"/>
                <a:gd name="T10" fmla="*/ 3406 w 139"/>
                <a:gd name="T11" fmla="*/ 36151 h 467"/>
                <a:gd name="T12" fmla="*/ 0 w 139"/>
                <a:gd name="T13" fmla="*/ 28939 h 467"/>
                <a:gd name="T14" fmla="*/ 1671 w 139"/>
                <a:gd name="T15" fmla="*/ 28939 h 467"/>
                <a:gd name="T16" fmla="*/ 1671 w 139"/>
                <a:gd name="T17" fmla="*/ 7288 h 467"/>
                <a:gd name="T18" fmla="*/ 0 w 139"/>
                <a:gd name="T19" fmla="*/ 7288 h 467"/>
                <a:gd name="T20" fmla="*/ 3406 w 139"/>
                <a:gd name="T21" fmla="*/ 0 h 4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9" h="467">
                  <a:moveTo>
                    <a:pt x="71" y="0"/>
                  </a:moveTo>
                  <a:lnTo>
                    <a:pt x="139" y="94"/>
                  </a:lnTo>
                  <a:lnTo>
                    <a:pt x="104" y="94"/>
                  </a:lnTo>
                  <a:lnTo>
                    <a:pt x="104" y="374"/>
                  </a:lnTo>
                  <a:lnTo>
                    <a:pt x="139" y="374"/>
                  </a:lnTo>
                  <a:lnTo>
                    <a:pt x="71" y="467"/>
                  </a:lnTo>
                  <a:lnTo>
                    <a:pt x="0" y="374"/>
                  </a:lnTo>
                  <a:lnTo>
                    <a:pt x="35" y="374"/>
                  </a:lnTo>
                  <a:lnTo>
                    <a:pt x="35" y="94"/>
                  </a:lnTo>
                  <a:lnTo>
                    <a:pt x="0" y="94"/>
                  </a:lnTo>
                  <a:lnTo>
                    <a:pt x="71" y="0"/>
                  </a:lnTo>
                  <a:close/>
                </a:path>
              </a:pathLst>
            </a:custGeom>
            <a:noFill/>
            <a:ln w="38100" cmpd="sng">
              <a:solidFill>
                <a:schemeClr val="tx1"/>
              </a:solidFill>
              <a:prstDash val="solid"/>
              <a:round/>
            </a:ln>
            <a:extLst>
              <a:ext uri="{909E8E84-426E-40DD-AFC4-6F175D3DCCD1}">
                <a14:hiddenFill xmlns:a14="http://schemas.microsoft.com/office/drawing/2010/main">
                  <a:solidFill>
                    <a:schemeClr val="folHlink"/>
                  </a:solidFill>
                </a14:hiddenFill>
              </a:ext>
            </a:extLst>
          </p:spPr>
          <p:txBody>
            <a:bodyPr/>
            <a:lstStyle/>
            <a:p>
              <a:endParaRPr lang="zh-CN" altLang="en-US"/>
            </a:p>
          </p:txBody>
        </p:sp>
        <p:sp>
          <p:nvSpPr>
            <p:cNvPr id="33809" name="Rectangle 21"/>
            <p:cNvSpPr>
              <a:spLocks noChangeArrowheads="1"/>
            </p:cNvSpPr>
            <p:nvPr/>
          </p:nvSpPr>
          <p:spPr bwMode="auto">
            <a:xfrm>
              <a:off x="4368" y="2116"/>
              <a:ext cx="24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2400" dirty="0">
                  <a:solidFill>
                    <a:schemeClr val="folHlink"/>
                  </a:solidFill>
                </a:rPr>
                <a:t>…</a:t>
              </a:r>
              <a:endParaRPr lang="zh-CN" altLang="en-US" sz="2400" dirty="0">
                <a:solidFill>
                  <a:schemeClr val="folHlink"/>
                </a:solidFill>
              </a:endParaRPr>
            </a:p>
          </p:txBody>
        </p:sp>
        <p:sp>
          <p:nvSpPr>
            <p:cNvPr id="33810" name="Rectangle 22"/>
            <p:cNvSpPr>
              <a:spLocks noChangeArrowheads="1"/>
            </p:cNvSpPr>
            <p:nvPr/>
          </p:nvSpPr>
          <p:spPr bwMode="auto">
            <a:xfrm>
              <a:off x="4608" y="3150"/>
              <a:ext cx="934" cy="594"/>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2800" b="1" dirty="0">
                  <a:ea typeface="楷体" panose="02010609060101010101" pitchFamily="49" charset="-122"/>
                  <a:cs typeface="Times New Roman" panose="02020603050405020304" pitchFamily="18" charset="0"/>
                </a:rPr>
                <a:t>  </a:t>
              </a:r>
              <a:r>
                <a:rPr lang="en-US" altLang="zh-CN" sz="2400" b="1" dirty="0">
                  <a:ea typeface="楷体" panose="02010609060101010101" pitchFamily="49" charset="-122"/>
                  <a:cs typeface="Times New Roman" panose="02020603050405020304" pitchFamily="18" charset="0"/>
                </a:rPr>
                <a:t>I/O</a:t>
              </a:r>
              <a:endParaRPr lang="zh-CN" altLang="en-US" sz="2400" b="1" dirty="0">
                <a:ea typeface="楷体" panose="02010609060101010101" pitchFamily="49" charset="-122"/>
                <a:cs typeface="Times New Roman" panose="02020603050405020304" pitchFamily="18" charset="0"/>
              </a:endParaRPr>
            </a:p>
            <a:p>
              <a:r>
                <a:rPr lang="zh-CN" altLang="en-US" sz="2400" b="1" dirty="0">
                  <a:ea typeface="楷体" panose="02010609060101010101" pitchFamily="49" charset="-122"/>
                  <a:cs typeface="Times New Roman" panose="02020603050405020304" pitchFamily="18" charset="0"/>
                </a:rPr>
                <a:t>  设备</a:t>
              </a:r>
              <a:r>
                <a:rPr lang="en-US" altLang="zh-CN" sz="2400" b="1" i="1" dirty="0">
                  <a:ea typeface="楷体" panose="02010609060101010101" pitchFamily="49" charset="-122"/>
                  <a:cs typeface="Times New Roman" panose="02020603050405020304" pitchFamily="18" charset="0"/>
                </a:rPr>
                <a:t>n</a:t>
              </a:r>
              <a:endParaRPr lang="en-US" altLang="zh-CN" sz="2400" b="1" i="1" dirty="0">
                <a:ea typeface="楷体" panose="02010609060101010101" pitchFamily="49" charset="-122"/>
                <a:cs typeface="Times New Roman" panose="02020603050405020304" pitchFamily="18" charset="0"/>
              </a:endParaRPr>
            </a:p>
          </p:txBody>
        </p:sp>
        <p:sp>
          <p:nvSpPr>
            <p:cNvPr id="33811" name="Rectangle 23"/>
            <p:cNvSpPr>
              <a:spLocks noChangeArrowheads="1"/>
            </p:cNvSpPr>
            <p:nvPr/>
          </p:nvSpPr>
          <p:spPr bwMode="auto">
            <a:xfrm>
              <a:off x="4608" y="2116"/>
              <a:ext cx="934" cy="320"/>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2400" b="1">
                  <a:ea typeface="楷体" panose="02010609060101010101" pitchFamily="49" charset="-122"/>
                  <a:cs typeface="Times New Roman" panose="02020603050405020304" pitchFamily="18" charset="0"/>
                </a:rPr>
                <a:t>  I/O</a:t>
              </a:r>
              <a:r>
                <a:rPr lang="zh-CN" altLang="en-US" sz="2400" b="1">
                  <a:ea typeface="楷体" panose="02010609060101010101" pitchFamily="49" charset="-122"/>
                  <a:cs typeface="Times New Roman" panose="02020603050405020304" pitchFamily="18" charset="0"/>
                </a:rPr>
                <a:t>接口</a:t>
              </a:r>
              <a:endParaRPr lang="zh-CN" altLang="en-US" sz="2400" b="1">
                <a:ea typeface="楷体" panose="02010609060101010101" pitchFamily="49" charset="-122"/>
                <a:cs typeface="Times New Roman" panose="02020603050405020304" pitchFamily="18" charset="0"/>
              </a:endParaRPr>
            </a:p>
          </p:txBody>
        </p:sp>
        <p:sp>
          <p:nvSpPr>
            <p:cNvPr id="33812" name="Freeform 24"/>
            <p:cNvSpPr/>
            <p:nvPr/>
          </p:nvSpPr>
          <p:spPr bwMode="auto">
            <a:xfrm>
              <a:off x="4992" y="1374"/>
              <a:ext cx="192" cy="740"/>
            </a:xfrm>
            <a:custGeom>
              <a:avLst/>
              <a:gdLst>
                <a:gd name="T0" fmla="*/ 3406 w 139"/>
                <a:gd name="T1" fmla="*/ 0 h 495"/>
                <a:gd name="T2" fmla="*/ 6710 w 139"/>
                <a:gd name="T3" fmla="*/ 12299 h 495"/>
                <a:gd name="T4" fmla="*/ 5033 w 139"/>
                <a:gd name="T5" fmla="*/ 12299 h 495"/>
                <a:gd name="T6" fmla="*/ 5033 w 139"/>
                <a:gd name="T7" fmla="*/ 49345 h 495"/>
                <a:gd name="T8" fmla="*/ 6710 w 139"/>
                <a:gd name="T9" fmla="*/ 49345 h 495"/>
                <a:gd name="T10" fmla="*/ 3406 w 139"/>
                <a:gd name="T11" fmla="*/ 61638 h 495"/>
                <a:gd name="T12" fmla="*/ 0 w 139"/>
                <a:gd name="T13" fmla="*/ 49345 h 495"/>
                <a:gd name="T14" fmla="*/ 1671 w 139"/>
                <a:gd name="T15" fmla="*/ 49345 h 495"/>
                <a:gd name="T16" fmla="*/ 1671 w 139"/>
                <a:gd name="T17" fmla="*/ 12299 h 495"/>
                <a:gd name="T18" fmla="*/ 0 w 139"/>
                <a:gd name="T19" fmla="*/ 12299 h 495"/>
                <a:gd name="T20" fmla="*/ 3406 w 139"/>
                <a:gd name="T21" fmla="*/ 0 h 49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9" h="495">
                  <a:moveTo>
                    <a:pt x="71" y="0"/>
                  </a:moveTo>
                  <a:lnTo>
                    <a:pt x="139" y="99"/>
                  </a:lnTo>
                  <a:lnTo>
                    <a:pt x="104" y="99"/>
                  </a:lnTo>
                  <a:lnTo>
                    <a:pt x="104" y="396"/>
                  </a:lnTo>
                  <a:lnTo>
                    <a:pt x="139" y="396"/>
                  </a:lnTo>
                  <a:lnTo>
                    <a:pt x="71" y="495"/>
                  </a:lnTo>
                  <a:lnTo>
                    <a:pt x="0" y="396"/>
                  </a:lnTo>
                  <a:lnTo>
                    <a:pt x="35" y="396"/>
                  </a:lnTo>
                  <a:lnTo>
                    <a:pt x="35" y="99"/>
                  </a:lnTo>
                  <a:lnTo>
                    <a:pt x="0" y="99"/>
                  </a:lnTo>
                  <a:lnTo>
                    <a:pt x="71" y="0"/>
                  </a:lnTo>
                  <a:close/>
                </a:path>
              </a:pathLst>
            </a:custGeom>
            <a:noFill/>
            <a:ln w="38100" cmpd="sng">
              <a:solidFill>
                <a:schemeClr val="tx1"/>
              </a:solidFill>
              <a:prstDash val="solid"/>
              <a:round/>
            </a:ln>
            <a:extLst>
              <a:ext uri="{909E8E84-426E-40DD-AFC4-6F175D3DCCD1}">
                <a14:hiddenFill xmlns:a14="http://schemas.microsoft.com/office/drawing/2010/main">
                  <a:solidFill>
                    <a:srgbClr val="B89928"/>
                  </a:solidFill>
                </a14:hiddenFill>
              </a:ext>
            </a:extLst>
          </p:spPr>
          <p:txBody>
            <a:bodyPr/>
            <a:lstStyle/>
            <a:p>
              <a:endParaRPr lang="zh-CN" altLang="en-US"/>
            </a:p>
          </p:txBody>
        </p:sp>
        <p:sp>
          <p:nvSpPr>
            <p:cNvPr id="33813" name="Freeform 25"/>
            <p:cNvSpPr/>
            <p:nvPr/>
          </p:nvSpPr>
          <p:spPr bwMode="auto">
            <a:xfrm>
              <a:off x="4993" y="2478"/>
              <a:ext cx="191" cy="672"/>
            </a:xfrm>
            <a:custGeom>
              <a:avLst/>
              <a:gdLst>
                <a:gd name="T0" fmla="*/ 3259 w 139"/>
                <a:gd name="T1" fmla="*/ 0 h 467"/>
                <a:gd name="T2" fmla="*/ 6285 w 139"/>
                <a:gd name="T3" fmla="*/ 7365 h 467"/>
                <a:gd name="T4" fmla="*/ 4698 w 139"/>
                <a:gd name="T5" fmla="*/ 7365 h 467"/>
                <a:gd name="T6" fmla="*/ 4698 w 139"/>
                <a:gd name="T7" fmla="*/ 29472 h 467"/>
                <a:gd name="T8" fmla="*/ 6285 w 139"/>
                <a:gd name="T9" fmla="*/ 29472 h 467"/>
                <a:gd name="T10" fmla="*/ 3259 w 139"/>
                <a:gd name="T11" fmla="*/ 36810 h 467"/>
                <a:gd name="T12" fmla="*/ 0 w 139"/>
                <a:gd name="T13" fmla="*/ 29472 h 467"/>
                <a:gd name="T14" fmla="*/ 1586 w 139"/>
                <a:gd name="T15" fmla="*/ 29472 h 467"/>
                <a:gd name="T16" fmla="*/ 1586 w 139"/>
                <a:gd name="T17" fmla="*/ 7365 h 467"/>
                <a:gd name="T18" fmla="*/ 0 w 139"/>
                <a:gd name="T19" fmla="*/ 7365 h 467"/>
                <a:gd name="T20" fmla="*/ 3259 w 139"/>
                <a:gd name="T21" fmla="*/ 0 h 4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9" h="467">
                  <a:moveTo>
                    <a:pt x="71" y="0"/>
                  </a:moveTo>
                  <a:lnTo>
                    <a:pt x="139" y="94"/>
                  </a:lnTo>
                  <a:lnTo>
                    <a:pt x="104" y="94"/>
                  </a:lnTo>
                  <a:lnTo>
                    <a:pt x="104" y="374"/>
                  </a:lnTo>
                  <a:lnTo>
                    <a:pt x="139" y="374"/>
                  </a:lnTo>
                  <a:lnTo>
                    <a:pt x="71" y="467"/>
                  </a:lnTo>
                  <a:lnTo>
                    <a:pt x="0" y="374"/>
                  </a:lnTo>
                  <a:lnTo>
                    <a:pt x="35" y="374"/>
                  </a:lnTo>
                  <a:lnTo>
                    <a:pt x="35" y="94"/>
                  </a:lnTo>
                  <a:lnTo>
                    <a:pt x="0" y="94"/>
                  </a:lnTo>
                  <a:lnTo>
                    <a:pt x="71" y="0"/>
                  </a:lnTo>
                  <a:close/>
                </a:path>
              </a:pathLst>
            </a:custGeom>
            <a:noFill/>
            <a:ln w="38100" cmpd="sng">
              <a:solidFill>
                <a:schemeClr val="tx1"/>
              </a:solidFill>
              <a:prstDash val="solid"/>
              <a:round/>
            </a:ln>
            <a:extLst>
              <a:ext uri="{909E8E84-426E-40DD-AFC4-6F175D3DCCD1}">
                <a14:hiddenFill xmlns:a14="http://schemas.microsoft.com/office/drawing/2010/main">
                  <a:solidFill>
                    <a:schemeClr val="folHlink"/>
                  </a:solidFill>
                </a14:hiddenFill>
              </a:ext>
            </a:extLst>
          </p:spPr>
          <p:txBody>
            <a:bodyPr/>
            <a:lstStyle/>
            <a:p>
              <a:endParaRPr lang="zh-CN" altLang="en-US"/>
            </a:p>
          </p:txBody>
        </p:sp>
        <p:sp>
          <p:nvSpPr>
            <p:cNvPr id="33814" name="Rectangle 26"/>
            <p:cNvSpPr>
              <a:spLocks noChangeArrowheads="1"/>
            </p:cNvSpPr>
            <p:nvPr/>
          </p:nvSpPr>
          <p:spPr bwMode="auto">
            <a:xfrm>
              <a:off x="4368" y="3294"/>
              <a:ext cx="3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2400">
                  <a:solidFill>
                    <a:schemeClr val="folHlink"/>
                  </a:solidFill>
                </a:rPr>
                <a:t>…</a:t>
              </a:r>
              <a:endParaRPr lang="zh-CN" altLang="en-US" sz="2400">
                <a:solidFill>
                  <a:schemeClr val="folHlink"/>
                </a:solidFill>
              </a:endParaRPr>
            </a:p>
          </p:txBody>
        </p:sp>
      </p:gr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outVertic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defRPr/>
            </a:pPr>
            <a:r>
              <a:rPr lang="zh-CN" altLang="en-US">
                <a:cs typeface="Times New Roman" panose="02020603050405020304" pitchFamily="18" charset="0"/>
              </a:rPr>
              <a:t>双</a:t>
            </a:r>
            <a:r>
              <a:rPr lang="zh-CN" altLang="en-US">
                <a:latin typeface="宋体" panose="02010600030101010101" pitchFamily="2" charset="-122"/>
              </a:rPr>
              <a:t>总线结构</a:t>
            </a:r>
            <a:endParaRPr lang="zh-CN" altLang="en-US">
              <a:latin typeface="宋体" panose="02010600030101010101" pitchFamily="2" charset="-122"/>
            </a:endParaRPr>
          </a:p>
        </p:txBody>
      </p:sp>
      <p:sp>
        <p:nvSpPr>
          <p:cNvPr id="34819" name="Rectangle 3"/>
          <p:cNvSpPr>
            <a:spLocks noGrp="1" noChangeArrowheads="1"/>
          </p:cNvSpPr>
          <p:nvPr>
            <p:ph idx="1"/>
          </p:nvPr>
        </p:nvSpPr>
        <p:spPr>
          <a:xfrm>
            <a:off x="179388" y="914400"/>
            <a:ext cx="8736012" cy="5538788"/>
          </a:xfrm>
        </p:spPr>
        <p:txBody>
          <a:bodyPr/>
          <a:lstStyle/>
          <a:p>
            <a:pPr eaLnBrk="1" hangingPunct="1"/>
            <a:endParaRPr lang="en-US" altLang="zh-CN" sz="2800"/>
          </a:p>
          <a:p>
            <a:pPr eaLnBrk="1" hangingPunct="1"/>
            <a:endParaRPr lang="en-US" altLang="zh-CN" sz="2800"/>
          </a:p>
          <a:p>
            <a:pPr eaLnBrk="1" hangingPunct="1"/>
            <a:endParaRPr lang="en-US" altLang="zh-CN" sz="2800"/>
          </a:p>
          <a:p>
            <a:pPr eaLnBrk="1" hangingPunct="1"/>
            <a:endParaRPr lang="en-US" altLang="zh-CN" sz="2800"/>
          </a:p>
          <a:p>
            <a:pPr eaLnBrk="1" hangingPunct="1"/>
            <a:endParaRPr lang="en-US" altLang="zh-CN" sz="2800"/>
          </a:p>
          <a:p>
            <a:pPr eaLnBrk="1" hangingPunct="1"/>
            <a:r>
              <a:rPr lang="zh-CN" altLang="en-US" sz="2800"/>
              <a:t>输入</a:t>
            </a:r>
            <a:r>
              <a:rPr lang="en-US" altLang="zh-CN" sz="2800"/>
              <a:t>/</a:t>
            </a:r>
            <a:r>
              <a:rPr lang="zh-CN" altLang="en-US" sz="2800"/>
              <a:t>输出总线通过适配器和处理器</a:t>
            </a:r>
            <a:r>
              <a:rPr lang="en-US" altLang="zh-CN" sz="2800"/>
              <a:t>-</a:t>
            </a:r>
            <a:r>
              <a:rPr lang="zh-CN" altLang="en-US" sz="2800"/>
              <a:t>主存总线相连：</a:t>
            </a:r>
            <a:endParaRPr lang="zh-CN" altLang="en-US" sz="2800"/>
          </a:p>
          <a:p>
            <a:pPr lvl="1" eaLnBrk="1" hangingPunct="1"/>
            <a:r>
              <a:rPr lang="zh-CN" altLang="en-US" sz="2400"/>
              <a:t>处理器</a:t>
            </a:r>
            <a:r>
              <a:rPr lang="en-US" altLang="zh-CN" sz="2400"/>
              <a:t>-</a:t>
            </a:r>
            <a:r>
              <a:rPr lang="zh-CN" altLang="en-US" sz="2400"/>
              <a:t>主存总线：主要用于处理器和主存储器之间的通信</a:t>
            </a:r>
            <a:endParaRPr lang="zh-CN" altLang="en-US" sz="2400"/>
          </a:p>
          <a:p>
            <a:pPr lvl="1" eaLnBrk="1" hangingPunct="1"/>
            <a:r>
              <a:rPr lang="zh-CN" altLang="en-US" sz="2400"/>
              <a:t>输入</a:t>
            </a:r>
            <a:r>
              <a:rPr lang="en-US" altLang="zh-CN" sz="2400"/>
              <a:t>/</a:t>
            </a:r>
            <a:r>
              <a:rPr lang="zh-CN" altLang="en-US" sz="2400"/>
              <a:t>输出总线：为输入</a:t>
            </a:r>
            <a:r>
              <a:rPr lang="en-US" altLang="zh-CN" sz="2400"/>
              <a:t>/</a:t>
            </a:r>
            <a:r>
              <a:rPr lang="zh-CN" altLang="en-US" sz="2400"/>
              <a:t>输出设备提供信息</a:t>
            </a:r>
            <a:endParaRPr lang="zh-CN" altLang="en-US" sz="2400"/>
          </a:p>
          <a:p>
            <a:pPr eaLnBrk="1" hangingPunct="1"/>
            <a:r>
              <a:rPr lang="zh-CN" altLang="en-US" sz="2800"/>
              <a:t>应用举例：</a:t>
            </a:r>
            <a:endParaRPr lang="zh-CN" altLang="en-US" sz="2800"/>
          </a:p>
          <a:p>
            <a:pPr lvl="1" eaLnBrk="1" hangingPunct="1"/>
            <a:r>
              <a:rPr lang="en-US" altLang="zh-CN" sz="2400"/>
              <a:t>Apple Macintosh II</a:t>
            </a:r>
            <a:endParaRPr lang="en-US" altLang="zh-CN" sz="2400"/>
          </a:p>
          <a:p>
            <a:pPr lvl="2" eaLnBrk="1" hangingPunct="1"/>
            <a:r>
              <a:rPr lang="en-US" altLang="zh-CN" sz="2000"/>
              <a:t>NuBus</a:t>
            </a:r>
            <a:r>
              <a:rPr lang="zh-CN" altLang="en-US" sz="2000"/>
              <a:t>： 处理器、主存和选定的少量</a:t>
            </a:r>
            <a:r>
              <a:rPr lang="en-US" altLang="zh-CN" sz="2000"/>
              <a:t>I/O</a:t>
            </a:r>
            <a:r>
              <a:rPr lang="zh-CN" altLang="en-US" sz="2000"/>
              <a:t>设备</a:t>
            </a:r>
            <a:endParaRPr lang="zh-CN" altLang="en-US" sz="2000"/>
          </a:p>
          <a:p>
            <a:pPr lvl="2" eaLnBrk="1" hangingPunct="1"/>
            <a:r>
              <a:rPr lang="en-US" altLang="zh-CN" sz="2000"/>
              <a:t>SCSI</a:t>
            </a:r>
            <a:r>
              <a:rPr lang="zh-CN" altLang="en-US" sz="2000"/>
              <a:t>总线：其余</a:t>
            </a:r>
            <a:r>
              <a:rPr lang="en-US" altLang="zh-CN" sz="2000"/>
              <a:t>I/O</a:t>
            </a:r>
            <a:r>
              <a:rPr lang="zh-CN" altLang="en-US" sz="2000"/>
              <a:t>设备</a:t>
            </a:r>
            <a:endParaRPr lang="zh-CN" altLang="en-US" sz="2000"/>
          </a:p>
        </p:txBody>
      </p:sp>
      <p:sp>
        <p:nvSpPr>
          <p:cNvPr id="34821" name="Rectangle 6"/>
          <p:cNvSpPr>
            <a:spLocks noChangeArrowheads="1"/>
          </p:cNvSpPr>
          <p:nvPr/>
        </p:nvSpPr>
        <p:spPr bwMode="auto">
          <a:xfrm>
            <a:off x="698500" y="1092200"/>
            <a:ext cx="1346200" cy="5842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grpSp>
        <p:nvGrpSpPr>
          <p:cNvPr id="34822" name="Group 7"/>
          <p:cNvGrpSpPr/>
          <p:nvPr/>
        </p:nvGrpSpPr>
        <p:grpSpPr bwMode="auto">
          <a:xfrm>
            <a:off x="3124200" y="2997200"/>
            <a:ext cx="609600" cy="431800"/>
            <a:chOff x="1968" y="1976"/>
            <a:chExt cx="384" cy="272"/>
          </a:xfrm>
        </p:grpSpPr>
        <p:sp>
          <p:nvSpPr>
            <p:cNvPr id="34879" name="Oval 8"/>
            <p:cNvSpPr>
              <a:spLocks noChangeArrowheads="1"/>
            </p:cNvSpPr>
            <p:nvPr/>
          </p:nvSpPr>
          <p:spPr bwMode="auto">
            <a:xfrm>
              <a:off x="1976" y="1976"/>
              <a:ext cx="368" cy="8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4880" name="Arc 9"/>
            <p:cNvSpPr/>
            <p:nvPr/>
          </p:nvSpPr>
          <p:spPr bwMode="auto">
            <a:xfrm>
              <a:off x="2160" y="2208"/>
              <a:ext cx="184" cy="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81" name="Arc 10"/>
            <p:cNvSpPr/>
            <p:nvPr/>
          </p:nvSpPr>
          <p:spPr bwMode="auto">
            <a:xfrm>
              <a:off x="1977" y="2208"/>
              <a:ext cx="184" cy="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82" name="Line 11"/>
            <p:cNvSpPr>
              <a:spLocks noChangeShapeType="1"/>
            </p:cNvSpPr>
            <p:nvPr/>
          </p:nvSpPr>
          <p:spPr bwMode="auto">
            <a:xfrm>
              <a:off x="2352" y="2024"/>
              <a:ext cx="0" cy="17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83" name="Line 12"/>
            <p:cNvSpPr>
              <a:spLocks noChangeShapeType="1"/>
            </p:cNvSpPr>
            <p:nvPr/>
          </p:nvSpPr>
          <p:spPr bwMode="auto">
            <a:xfrm>
              <a:off x="1968" y="2024"/>
              <a:ext cx="0" cy="17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34823" name="Rectangle 13"/>
          <p:cNvSpPr>
            <a:spLocks noChangeArrowheads="1"/>
          </p:cNvSpPr>
          <p:nvPr/>
        </p:nvSpPr>
        <p:spPr bwMode="auto">
          <a:xfrm>
            <a:off x="813679" y="1225550"/>
            <a:ext cx="803106"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zh-CN" altLang="en-US" sz="1600">
                <a:ea typeface="楷体" panose="02010609060101010101" pitchFamily="49" charset="-122"/>
                <a:cs typeface="Times New Roman" panose="02020603050405020304" pitchFamily="18" charset="0"/>
              </a:rPr>
              <a:t>处理器</a:t>
            </a:r>
            <a:endParaRPr kumimoji="0" lang="zh-CN" altLang="en-US" sz="1600">
              <a:ea typeface="楷体" panose="02010609060101010101" pitchFamily="49" charset="-122"/>
              <a:cs typeface="Times New Roman" panose="02020603050405020304" pitchFamily="18" charset="0"/>
            </a:endParaRPr>
          </a:p>
        </p:txBody>
      </p:sp>
      <p:sp>
        <p:nvSpPr>
          <p:cNvPr id="34824" name="Line 14"/>
          <p:cNvSpPr>
            <a:spLocks noChangeShapeType="1"/>
          </p:cNvSpPr>
          <p:nvPr/>
        </p:nvSpPr>
        <p:spPr bwMode="auto">
          <a:xfrm>
            <a:off x="2070100" y="1231900"/>
            <a:ext cx="5003800" cy="0"/>
          </a:xfrm>
          <a:prstGeom prst="line">
            <a:avLst/>
          </a:prstGeom>
          <a:noFill/>
          <a:ln w="25400">
            <a:solidFill>
              <a:schemeClr val="accent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25" name="Line 15"/>
          <p:cNvSpPr>
            <a:spLocks noChangeShapeType="1"/>
          </p:cNvSpPr>
          <p:nvPr/>
        </p:nvSpPr>
        <p:spPr bwMode="auto">
          <a:xfrm>
            <a:off x="2819400" y="1244600"/>
            <a:ext cx="0" cy="431800"/>
          </a:xfrm>
          <a:prstGeom prst="line">
            <a:avLst/>
          </a:prstGeom>
          <a:noFill/>
          <a:ln w="25400">
            <a:solidFill>
              <a:schemeClr val="accent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26" name="Rectangle 16"/>
          <p:cNvSpPr>
            <a:spLocks noChangeArrowheads="1"/>
          </p:cNvSpPr>
          <p:nvPr/>
        </p:nvSpPr>
        <p:spPr bwMode="auto">
          <a:xfrm>
            <a:off x="7099300" y="1092200"/>
            <a:ext cx="1346200" cy="5842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4827" name="Rectangle 17"/>
          <p:cNvSpPr>
            <a:spLocks noChangeArrowheads="1"/>
          </p:cNvSpPr>
          <p:nvPr/>
        </p:nvSpPr>
        <p:spPr bwMode="auto">
          <a:xfrm>
            <a:off x="7291679" y="1225550"/>
            <a:ext cx="596318"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zh-CN" altLang="en-US" sz="1600">
                <a:ea typeface="楷体" panose="02010609060101010101" pitchFamily="49" charset="-122"/>
                <a:cs typeface="Times New Roman" panose="02020603050405020304" pitchFamily="18" charset="0"/>
              </a:rPr>
              <a:t>主存</a:t>
            </a:r>
            <a:endParaRPr kumimoji="0" lang="zh-CN" altLang="en-US" sz="1600">
              <a:ea typeface="楷体" panose="02010609060101010101" pitchFamily="49" charset="-122"/>
              <a:cs typeface="Times New Roman" panose="02020603050405020304" pitchFamily="18" charset="0"/>
            </a:endParaRPr>
          </a:p>
        </p:txBody>
      </p:sp>
      <p:grpSp>
        <p:nvGrpSpPr>
          <p:cNvPr id="34828" name="Group 18"/>
          <p:cNvGrpSpPr/>
          <p:nvPr/>
        </p:nvGrpSpPr>
        <p:grpSpPr bwMode="auto">
          <a:xfrm>
            <a:off x="3124200" y="2387600"/>
            <a:ext cx="609600" cy="431800"/>
            <a:chOff x="1968" y="1592"/>
            <a:chExt cx="384" cy="272"/>
          </a:xfrm>
        </p:grpSpPr>
        <p:sp>
          <p:nvSpPr>
            <p:cNvPr id="34874" name="Oval 19"/>
            <p:cNvSpPr>
              <a:spLocks noChangeArrowheads="1"/>
            </p:cNvSpPr>
            <p:nvPr/>
          </p:nvSpPr>
          <p:spPr bwMode="auto">
            <a:xfrm>
              <a:off x="1976" y="1592"/>
              <a:ext cx="368" cy="8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4875" name="Arc 20"/>
            <p:cNvSpPr/>
            <p:nvPr/>
          </p:nvSpPr>
          <p:spPr bwMode="auto">
            <a:xfrm>
              <a:off x="2160" y="1824"/>
              <a:ext cx="184" cy="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76" name="Arc 21"/>
            <p:cNvSpPr/>
            <p:nvPr/>
          </p:nvSpPr>
          <p:spPr bwMode="auto">
            <a:xfrm>
              <a:off x="1977" y="1824"/>
              <a:ext cx="184" cy="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77" name="Line 22"/>
            <p:cNvSpPr>
              <a:spLocks noChangeShapeType="1"/>
            </p:cNvSpPr>
            <p:nvPr/>
          </p:nvSpPr>
          <p:spPr bwMode="auto">
            <a:xfrm>
              <a:off x="2352" y="1640"/>
              <a:ext cx="0" cy="17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78" name="Line 23"/>
            <p:cNvSpPr>
              <a:spLocks noChangeShapeType="1"/>
            </p:cNvSpPr>
            <p:nvPr/>
          </p:nvSpPr>
          <p:spPr bwMode="auto">
            <a:xfrm>
              <a:off x="1968" y="1640"/>
              <a:ext cx="0" cy="17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34829" name="Line 24"/>
          <p:cNvSpPr>
            <a:spLocks noChangeShapeType="1"/>
          </p:cNvSpPr>
          <p:nvPr/>
        </p:nvSpPr>
        <p:spPr bwMode="auto">
          <a:xfrm>
            <a:off x="4648200" y="1244600"/>
            <a:ext cx="0" cy="431800"/>
          </a:xfrm>
          <a:prstGeom prst="line">
            <a:avLst/>
          </a:prstGeom>
          <a:noFill/>
          <a:ln w="25400">
            <a:solidFill>
              <a:schemeClr val="accent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30" name="Line 25"/>
          <p:cNvSpPr>
            <a:spLocks noChangeShapeType="1"/>
          </p:cNvSpPr>
          <p:nvPr/>
        </p:nvSpPr>
        <p:spPr bwMode="auto">
          <a:xfrm>
            <a:off x="6400800" y="1244600"/>
            <a:ext cx="0" cy="431800"/>
          </a:xfrm>
          <a:prstGeom prst="line">
            <a:avLst/>
          </a:prstGeom>
          <a:noFill/>
          <a:ln w="25400">
            <a:solidFill>
              <a:schemeClr val="accent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31" name="Rectangle 26"/>
          <p:cNvSpPr>
            <a:spLocks noChangeArrowheads="1"/>
          </p:cNvSpPr>
          <p:nvPr/>
        </p:nvSpPr>
        <p:spPr bwMode="auto">
          <a:xfrm>
            <a:off x="3476176" y="920750"/>
            <a:ext cx="173445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zh-CN" altLang="en-US" sz="1600">
                <a:ea typeface="楷体" panose="02010609060101010101" pitchFamily="49" charset="-122"/>
                <a:cs typeface="Times New Roman" panose="02020603050405020304" pitchFamily="18" charset="0"/>
              </a:rPr>
              <a:t>处理器</a:t>
            </a:r>
            <a:r>
              <a:rPr kumimoji="0" lang="en-US" altLang="zh-CN" sz="1600">
                <a:ea typeface="楷体" panose="02010609060101010101" pitchFamily="49" charset="-122"/>
                <a:cs typeface="Times New Roman" panose="02020603050405020304" pitchFamily="18" charset="0"/>
              </a:rPr>
              <a:t>-</a:t>
            </a:r>
            <a:r>
              <a:rPr kumimoji="0" lang="zh-CN" altLang="en-US" sz="1600">
                <a:ea typeface="楷体" panose="02010609060101010101" pitchFamily="49" charset="-122"/>
                <a:cs typeface="Times New Roman" panose="02020603050405020304" pitchFamily="18" charset="0"/>
              </a:rPr>
              <a:t>主存总线</a:t>
            </a:r>
            <a:endParaRPr kumimoji="0" lang="zh-CN" altLang="en-US" sz="1600">
              <a:ea typeface="楷体" panose="02010609060101010101" pitchFamily="49" charset="-122"/>
              <a:cs typeface="Times New Roman" panose="02020603050405020304" pitchFamily="18" charset="0"/>
            </a:endParaRPr>
          </a:p>
        </p:txBody>
      </p:sp>
      <p:sp>
        <p:nvSpPr>
          <p:cNvPr id="34832" name="Oval 27"/>
          <p:cNvSpPr>
            <a:spLocks noChangeArrowheads="1"/>
          </p:cNvSpPr>
          <p:nvPr/>
        </p:nvSpPr>
        <p:spPr bwMode="auto">
          <a:xfrm>
            <a:off x="2298700" y="1701800"/>
            <a:ext cx="1117600" cy="5842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4833" name="Rectangle 28"/>
          <p:cNvSpPr>
            <a:spLocks noChangeArrowheads="1"/>
          </p:cNvSpPr>
          <p:nvPr/>
        </p:nvSpPr>
        <p:spPr bwMode="auto">
          <a:xfrm>
            <a:off x="2273766" y="1803400"/>
            <a:ext cx="1216681"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600">
                <a:ea typeface="楷体" panose="02010609060101010101" pitchFamily="49" charset="-122"/>
                <a:cs typeface="Times New Roman" panose="02020603050405020304" pitchFamily="18" charset="0"/>
              </a:rPr>
              <a:t>总线适配器</a:t>
            </a:r>
            <a:endParaRPr kumimoji="0" lang="zh-CN" altLang="en-US" sz="1600">
              <a:ea typeface="楷体" panose="02010609060101010101" pitchFamily="49" charset="-122"/>
              <a:cs typeface="Times New Roman" panose="02020603050405020304" pitchFamily="18" charset="0"/>
            </a:endParaRPr>
          </a:p>
        </p:txBody>
      </p:sp>
      <p:sp>
        <p:nvSpPr>
          <p:cNvPr id="34834" name="Oval 29"/>
          <p:cNvSpPr>
            <a:spLocks noChangeArrowheads="1"/>
          </p:cNvSpPr>
          <p:nvPr/>
        </p:nvSpPr>
        <p:spPr bwMode="auto">
          <a:xfrm>
            <a:off x="4127500" y="1701800"/>
            <a:ext cx="1117600" cy="5842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4835" name="Oval 30"/>
          <p:cNvSpPr>
            <a:spLocks noChangeArrowheads="1"/>
          </p:cNvSpPr>
          <p:nvPr/>
        </p:nvSpPr>
        <p:spPr bwMode="auto">
          <a:xfrm>
            <a:off x="5880100" y="1701800"/>
            <a:ext cx="1117600" cy="5842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4836" name="Line 31"/>
          <p:cNvSpPr>
            <a:spLocks noChangeShapeType="1"/>
          </p:cNvSpPr>
          <p:nvPr/>
        </p:nvSpPr>
        <p:spPr bwMode="auto">
          <a:xfrm>
            <a:off x="2819400" y="2311400"/>
            <a:ext cx="0" cy="889000"/>
          </a:xfrm>
          <a:prstGeom prst="line">
            <a:avLst/>
          </a:prstGeom>
          <a:noFill/>
          <a:ln w="254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37" name="Line 32"/>
          <p:cNvSpPr>
            <a:spLocks noChangeShapeType="1"/>
          </p:cNvSpPr>
          <p:nvPr/>
        </p:nvSpPr>
        <p:spPr bwMode="auto">
          <a:xfrm>
            <a:off x="2832100" y="3213100"/>
            <a:ext cx="279400" cy="0"/>
          </a:xfrm>
          <a:prstGeom prst="line">
            <a:avLst/>
          </a:prstGeom>
          <a:noFill/>
          <a:ln w="254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38" name="Line 33"/>
          <p:cNvSpPr>
            <a:spLocks noChangeShapeType="1"/>
          </p:cNvSpPr>
          <p:nvPr/>
        </p:nvSpPr>
        <p:spPr bwMode="auto">
          <a:xfrm flipH="1">
            <a:off x="2806700" y="2603500"/>
            <a:ext cx="330200" cy="0"/>
          </a:xfrm>
          <a:prstGeom prst="line">
            <a:avLst/>
          </a:prstGeom>
          <a:noFill/>
          <a:ln w="254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34839" name="Group 34"/>
          <p:cNvGrpSpPr/>
          <p:nvPr/>
        </p:nvGrpSpPr>
        <p:grpSpPr bwMode="auto">
          <a:xfrm>
            <a:off x="5029200" y="2997200"/>
            <a:ext cx="609600" cy="431800"/>
            <a:chOff x="3168" y="1976"/>
            <a:chExt cx="384" cy="272"/>
          </a:xfrm>
        </p:grpSpPr>
        <p:sp>
          <p:nvSpPr>
            <p:cNvPr id="34869" name="Oval 35"/>
            <p:cNvSpPr>
              <a:spLocks noChangeArrowheads="1"/>
            </p:cNvSpPr>
            <p:nvPr/>
          </p:nvSpPr>
          <p:spPr bwMode="auto">
            <a:xfrm>
              <a:off x="3176" y="1976"/>
              <a:ext cx="368" cy="8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4870" name="Arc 36"/>
            <p:cNvSpPr/>
            <p:nvPr/>
          </p:nvSpPr>
          <p:spPr bwMode="auto">
            <a:xfrm>
              <a:off x="3360" y="2208"/>
              <a:ext cx="184" cy="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71" name="Arc 37"/>
            <p:cNvSpPr/>
            <p:nvPr/>
          </p:nvSpPr>
          <p:spPr bwMode="auto">
            <a:xfrm>
              <a:off x="3177" y="2208"/>
              <a:ext cx="184" cy="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72" name="Line 38"/>
            <p:cNvSpPr>
              <a:spLocks noChangeShapeType="1"/>
            </p:cNvSpPr>
            <p:nvPr/>
          </p:nvSpPr>
          <p:spPr bwMode="auto">
            <a:xfrm>
              <a:off x="3552" y="2024"/>
              <a:ext cx="0" cy="17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73" name="Line 39"/>
            <p:cNvSpPr>
              <a:spLocks noChangeShapeType="1"/>
            </p:cNvSpPr>
            <p:nvPr/>
          </p:nvSpPr>
          <p:spPr bwMode="auto">
            <a:xfrm>
              <a:off x="3168" y="2024"/>
              <a:ext cx="0" cy="17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grpSp>
        <p:nvGrpSpPr>
          <p:cNvPr id="34840" name="Group 40"/>
          <p:cNvGrpSpPr/>
          <p:nvPr/>
        </p:nvGrpSpPr>
        <p:grpSpPr bwMode="auto">
          <a:xfrm>
            <a:off x="5029200" y="2387600"/>
            <a:ext cx="609600" cy="431800"/>
            <a:chOff x="3168" y="1592"/>
            <a:chExt cx="384" cy="272"/>
          </a:xfrm>
        </p:grpSpPr>
        <p:sp>
          <p:nvSpPr>
            <p:cNvPr id="34864" name="Oval 41"/>
            <p:cNvSpPr>
              <a:spLocks noChangeArrowheads="1"/>
            </p:cNvSpPr>
            <p:nvPr/>
          </p:nvSpPr>
          <p:spPr bwMode="auto">
            <a:xfrm>
              <a:off x="3176" y="1592"/>
              <a:ext cx="368" cy="8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4865" name="Arc 42"/>
            <p:cNvSpPr/>
            <p:nvPr/>
          </p:nvSpPr>
          <p:spPr bwMode="auto">
            <a:xfrm>
              <a:off x="3360" y="1824"/>
              <a:ext cx="184" cy="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66" name="Arc 43"/>
            <p:cNvSpPr/>
            <p:nvPr/>
          </p:nvSpPr>
          <p:spPr bwMode="auto">
            <a:xfrm>
              <a:off x="3177" y="1824"/>
              <a:ext cx="184" cy="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67" name="Line 44"/>
            <p:cNvSpPr>
              <a:spLocks noChangeShapeType="1"/>
            </p:cNvSpPr>
            <p:nvPr/>
          </p:nvSpPr>
          <p:spPr bwMode="auto">
            <a:xfrm>
              <a:off x="3552" y="1640"/>
              <a:ext cx="0" cy="17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68" name="Line 45"/>
            <p:cNvSpPr>
              <a:spLocks noChangeShapeType="1"/>
            </p:cNvSpPr>
            <p:nvPr/>
          </p:nvSpPr>
          <p:spPr bwMode="auto">
            <a:xfrm>
              <a:off x="3168" y="1640"/>
              <a:ext cx="0" cy="17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34841" name="Line 46"/>
          <p:cNvSpPr>
            <a:spLocks noChangeShapeType="1"/>
          </p:cNvSpPr>
          <p:nvPr/>
        </p:nvSpPr>
        <p:spPr bwMode="auto">
          <a:xfrm>
            <a:off x="4724400" y="2311400"/>
            <a:ext cx="0" cy="889000"/>
          </a:xfrm>
          <a:prstGeom prst="line">
            <a:avLst/>
          </a:prstGeom>
          <a:noFill/>
          <a:ln w="254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42" name="Line 47"/>
          <p:cNvSpPr>
            <a:spLocks noChangeShapeType="1"/>
          </p:cNvSpPr>
          <p:nvPr/>
        </p:nvSpPr>
        <p:spPr bwMode="auto">
          <a:xfrm>
            <a:off x="4737100" y="3213100"/>
            <a:ext cx="279400" cy="0"/>
          </a:xfrm>
          <a:prstGeom prst="line">
            <a:avLst/>
          </a:prstGeom>
          <a:noFill/>
          <a:ln w="254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43" name="Line 48"/>
          <p:cNvSpPr>
            <a:spLocks noChangeShapeType="1"/>
          </p:cNvSpPr>
          <p:nvPr/>
        </p:nvSpPr>
        <p:spPr bwMode="auto">
          <a:xfrm flipH="1">
            <a:off x="4711700" y="2603500"/>
            <a:ext cx="330200" cy="0"/>
          </a:xfrm>
          <a:prstGeom prst="line">
            <a:avLst/>
          </a:prstGeom>
          <a:noFill/>
          <a:ln w="254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34844" name="Group 49"/>
          <p:cNvGrpSpPr/>
          <p:nvPr/>
        </p:nvGrpSpPr>
        <p:grpSpPr bwMode="auto">
          <a:xfrm>
            <a:off x="6781800" y="2997200"/>
            <a:ext cx="609600" cy="431800"/>
            <a:chOff x="4272" y="1976"/>
            <a:chExt cx="384" cy="272"/>
          </a:xfrm>
        </p:grpSpPr>
        <p:sp>
          <p:nvSpPr>
            <p:cNvPr id="34859" name="Oval 50"/>
            <p:cNvSpPr>
              <a:spLocks noChangeArrowheads="1"/>
            </p:cNvSpPr>
            <p:nvPr/>
          </p:nvSpPr>
          <p:spPr bwMode="auto">
            <a:xfrm>
              <a:off x="4280" y="1976"/>
              <a:ext cx="368" cy="8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4860" name="Arc 51"/>
            <p:cNvSpPr/>
            <p:nvPr/>
          </p:nvSpPr>
          <p:spPr bwMode="auto">
            <a:xfrm>
              <a:off x="4464" y="2208"/>
              <a:ext cx="184" cy="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61" name="Arc 52"/>
            <p:cNvSpPr/>
            <p:nvPr/>
          </p:nvSpPr>
          <p:spPr bwMode="auto">
            <a:xfrm>
              <a:off x="4281" y="2208"/>
              <a:ext cx="184" cy="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62" name="Line 53"/>
            <p:cNvSpPr>
              <a:spLocks noChangeShapeType="1"/>
            </p:cNvSpPr>
            <p:nvPr/>
          </p:nvSpPr>
          <p:spPr bwMode="auto">
            <a:xfrm>
              <a:off x="4656" y="2024"/>
              <a:ext cx="0" cy="17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63" name="Line 54"/>
            <p:cNvSpPr>
              <a:spLocks noChangeShapeType="1"/>
            </p:cNvSpPr>
            <p:nvPr/>
          </p:nvSpPr>
          <p:spPr bwMode="auto">
            <a:xfrm>
              <a:off x="4272" y="2024"/>
              <a:ext cx="0" cy="17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grpSp>
        <p:nvGrpSpPr>
          <p:cNvPr id="34845" name="Group 55"/>
          <p:cNvGrpSpPr/>
          <p:nvPr/>
        </p:nvGrpSpPr>
        <p:grpSpPr bwMode="auto">
          <a:xfrm>
            <a:off x="6781800" y="2387600"/>
            <a:ext cx="609600" cy="431800"/>
            <a:chOff x="4272" y="1592"/>
            <a:chExt cx="384" cy="272"/>
          </a:xfrm>
        </p:grpSpPr>
        <p:sp>
          <p:nvSpPr>
            <p:cNvPr id="34854" name="Oval 56"/>
            <p:cNvSpPr>
              <a:spLocks noChangeArrowheads="1"/>
            </p:cNvSpPr>
            <p:nvPr/>
          </p:nvSpPr>
          <p:spPr bwMode="auto">
            <a:xfrm>
              <a:off x="4280" y="1592"/>
              <a:ext cx="368" cy="8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4855" name="Arc 57"/>
            <p:cNvSpPr/>
            <p:nvPr/>
          </p:nvSpPr>
          <p:spPr bwMode="auto">
            <a:xfrm>
              <a:off x="4464" y="1824"/>
              <a:ext cx="184" cy="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56" name="Arc 58"/>
            <p:cNvSpPr/>
            <p:nvPr/>
          </p:nvSpPr>
          <p:spPr bwMode="auto">
            <a:xfrm>
              <a:off x="4281" y="1824"/>
              <a:ext cx="184" cy="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57" name="Line 59"/>
            <p:cNvSpPr>
              <a:spLocks noChangeShapeType="1"/>
            </p:cNvSpPr>
            <p:nvPr/>
          </p:nvSpPr>
          <p:spPr bwMode="auto">
            <a:xfrm>
              <a:off x="4656" y="1640"/>
              <a:ext cx="0" cy="17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58" name="Line 60"/>
            <p:cNvSpPr>
              <a:spLocks noChangeShapeType="1"/>
            </p:cNvSpPr>
            <p:nvPr/>
          </p:nvSpPr>
          <p:spPr bwMode="auto">
            <a:xfrm>
              <a:off x="4272" y="1640"/>
              <a:ext cx="0" cy="17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34846" name="Line 61"/>
          <p:cNvSpPr>
            <a:spLocks noChangeShapeType="1"/>
          </p:cNvSpPr>
          <p:nvPr/>
        </p:nvSpPr>
        <p:spPr bwMode="auto">
          <a:xfrm>
            <a:off x="6477000" y="2311400"/>
            <a:ext cx="0" cy="889000"/>
          </a:xfrm>
          <a:prstGeom prst="line">
            <a:avLst/>
          </a:prstGeom>
          <a:noFill/>
          <a:ln w="254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47" name="Line 62"/>
          <p:cNvSpPr>
            <a:spLocks noChangeShapeType="1"/>
          </p:cNvSpPr>
          <p:nvPr/>
        </p:nvSpPr>
        <p:spPr bwMode="auto">
          <a:xfrm>
            <a:off x="6489700" y="3213100"/>
            <a:ext cx="279400" cy="0"/>
          </a:xfrm>
          <a:prstGeom prst="line">
            <a:avLst/>
          </a:prstGeom>
          <a:noFill/>
          <a:ln w="254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48" name="Line 63"/>
          <p:cNvSpPr>
            <a:spLocks noChangeShapeType="1"/>
          </p:cNvSpPr>
          <p:nvPr/>
        </p:nvSpPr>
        <p:spPr bwMode="auto">
          <a:xfrm flipH="1">
            <a:off x="6464300" y="2603500"/>
            <a:ext cx="330200" cy="0"/>
          </a:xfrm>
          <a:prstGeom prst="line">
            <a:avLst/>
          </a:prstGeom>
          <a:noFill/>
          <a:ln w="2540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849" name="Rectangle 64"/>
          <p:cNvSpPr>
            <a:spLocks noChangeArrowheads="1"/>
          </p:cNvSpPr>
          <p:nvPr/>
        </p:nvSpPr>
        <p:spPr bwMode="auto">
          <a:xfrm>
            <a:off x="1827606" y="2425700"/>
            <a:ext cx="106760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600">
                <a:ea typeface="楷体" panose="02010609060101010101" pitchFamily="49" charset="-122"/>
                <a:cs typeface="Times New Roman" panose="02020603050405020304" pitchFamily="18" charset="0"/>
              </a:rPr>
              <a:t>输入</a:t>
            </a:r>
            <a:r>
              <a:rPr kumimoji="0" lang="en-US" altLang="zh-CN" sz="1600">
                <a:ea typeface="楷体" panose="02010609060101010101" pitchFamily="49" charset="-122"/>
                <a:cs typeface="Times New Roman" panose="02020603050405020304" pitchFamily="18" charset="0"/>
              </a:rPr>
              <a:t>/</a:t>
            </a:r>
            <a:r>
              <a:rPr kumimoji="0" lang="zh-CN" altLang="en-US" sz="1600">
                <a:ea typeface="楷体" panose="02010609060101010101" pitchFamily="49" charset="-122"/>
                <a:cs typeface="Times New Roman" panose="02020603050405020304" pitchFamily="18" charset="0"/>
              </a:rPr>
              <a:t>输出</a:t>
            </a:r>
            <a:endParaRPr kumimoji="0" lang="zh-CN" altLang="en-US" sz="1600">
              <a:ea typeface="楷体" panose="02010609060101010101" pitchFamily="49" charset="-122"/>
              <a:cs typeface="Times New Roman" panose="02020603050405020304" pitchFamily="18" charset="0"/>
            </a:endParaRPr>
          </a:p>
          <a:p>
            <a:pPr algn="ctr">
              <a:spcBef>
                <a:spcPct val="0"/>
              </a:spcBef>
              <a:buClrTx/>
              <a:buFontTx/>
              <a:buNone/>
            </a:pPr>
            <a:r>
              <a:rPr kumimoji="0" lang="zh-CN" altLang="en-US" sz="1600">
                <a:ea typeface="楷体" panose="02010609060101010101" pitchFamily="49" charset="-122"/>
                <a:cs typeface="Times New Roman" panose="02020603050405020304" pitchFamily="18" charset="0"/>
              </a:rPr>
              <a:t>总线</a:t>
            </a:r>
            <a:endParaRPr kumimoji="0" lang="zh-CN" altLang="en-US" sz="1600">
              <a:ea typeface="楷体" panose="02010609060101010101" pitchFamily="49" charset="-122"/>
              <a:cs typeface="Times New Roman" panose="02020603050405020304" pitchFamily="18" charset="0"/>
            </a:endParaRPr>
          </a:p>
        </p:txBody>
      </p:sp>
      <p:sp>
        <p:nvSpPr>
          <p:cNvPr id="34850" name="Rectangle 65"/>
          <p:cNvSpPr>
            <a:spLocks noChangeArrowheads="1"/>
          </p:cNvSpPr>
          <p:nvPr/>
        </p:nvSpPr>
        <p:spPr bwMode="auto">
          <a:xfrm>
            <a:off x="4058116" y="1776413"/>
            <a:ext cx="1216681"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600">
                <a:ea typeface="楷体" panose="02010609060101010101" pitchFamily="49" charset="-122"/>
                <a:cs typeface="Times New Roman" panose="02020603050405020304" pitchFamily="18" charset="0"/>
              </a:rPr>
              <a:t>总线适配器</a:t>
            </a:r>
            <a:endParaRPr kumimoji="0" lang="zh-CN" altLang="en-US" sz="1600">
              <a:ea typeface="楷体" panose="02010609060101010101" pitchFamily="49" charset="-122"/>
              <a:cs typeface="Times New Roman" panose="02020603050405020304" pitchFamily="18" charset="0"/>
            </a:endParaRPr>
          </a:p>
        </p:txBody>
      </p:sp>
      <p:sp>
        <p:nvSpPr>
          <p:cNvPr id="34851" name="Rectangle 66"/>
          <p:cNvSpPr>
            <a:spLocks noChangeArrowheads="1"/>
          </p:cNvSpPr>
          <p:nvPr/>
        </p:nvSpPr>
        <p:spPr bwMode="auto">
          <a:xfrm>
            <a:off x="5858341" y="1776413"/>
            <a:ext cx="1216681"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600" dirty="0">
                <a:ea typeface="楷体" panose="02010609060101010101" pitchFamily="49" charset="-122"/>
                <a:cs typeface="Times New Roman" panose="02020603050405020304" pitchFamily="18" charset="0"/>
              </a:rPr>
              <a:t>总线适配器</a:t>
            </a:r>
            <a:endParaRPr kumimoji="0" lang="zh-CN" altLang="en-US" sz="1600" dirty="0">
              <a:ea typeface="楷体" panose="02010609060101010101" pitchFamily="49" charset="-122"/>
              <a:cs typeface="Times New Roman" panose="02020603050405020304" pitchFamily="18" charset="0"/>
            </a:endParaRPr>
          </a:p>
        </p:txBody>
      </p:sp>
      <p:sp>
        <p:nvSpPr>
          <p:cNvPr id="34852" name="Rectangle 67"/>
          <p:cNvSpPr>
            <a:spLocks noChangeArrowheads="1"/>
          </p:cNvSpPr>
          <p:nvPr/>
        </p:nvSpPr>
        <p:spPr bwMode="auto">
          <a:xfrm>
            <a:off x="3729431" y="2425700"/>
            <a:ext cx="106760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600">
                <a:ea typeface="楷体" panose="02010609060101010101" pitchFamily="49" charset="-122"/>
                <a:cs typeface="Times New Roman" panose="02020603050405020304" pitchFamily="18" charset="0"/>
              </a:rPr>
              <a:t>输入</a:t>
            </a:r>
            <a:r>
              <a:rPr kumimoji="0" lang="en-US" altLang="zh-CN" sz="1600">
                <a:ea typeface="楷体" panose="02010609060101010101" pitchFamily="49" charset="-122"/>
                <a:cs typeface="Times New Roman" panose="02020603050405020304" pitchFamily="18" charset="0"/>
              </a:rPr>
              <a:t>/</a:t>
            </a:r>
            <a:r>
              <a:rPr kumimoji="0" lang="zh-CN" altLang="en-US" sz="1600">
                <a:ea typeface="楷体" panose="02010609060101010101" pitchFamily="49" charset="-122"/>
                <a:cs typeface="Times New Roman" panose="02020603050405020304" pitchFamily="18" charset="0"/>
              </a:rPr>
              <a:t>输出</a:t>
            </a:r>
            <a:endParaRPr kumimoji="0" lang="zh-CN" altLang="en-US" sz="1600">
              <a:ea typeface="楷体" panose="02010609060101010101" pitchFamily="49" charset="-122"/>
              <a:cs typeface="Times New Roman" panose="02020603050405020304" pitchFamily="18" charset="0"/>
            </a:endParaRPr>
          </a:p>
          <a:p>
            <a:pPr algn="ctr">
              <a:spcBef>
                <a:spcPct val="0"/>
              </a:spcBef>
              <a:buClrTx/>
              <a:buFontTx/>
              <a:buNone/>
            </a:pPr>
            <a:r>
              <a:rPr kumimoji="0" lang="zh-CN" altLang="en-US" sz="1600">
                <a:ea typeface="楷体" panose="02010609060101010101" pitchFamily="49" charset="-122"/>
                <a:cs typeface="Times New Roman" panose="02020603050405020304" pitchFamily="18" charset="0"/>
              </a:rPr>
              <a:t>总线</a:t>
            </a:r>
            <a:endParaRPr kumimoji="0" lang="zh-CN" altLang="en-US" sz="1600">
              <a:ea typeface="楷体" panose="02010609060101010101" pitchFamily="49" charset="-122"/>
              <a:cs typeface="Times New Roman" panose="02020603050405020304" pitchFamily="18" charset="0"/>
            </a:endParaRPr>
          </a:p>
        </p:txBody>
      </p:sp>
      <p:sp>
        <p:nvSpPr>
          <p:cNvPr id="34853" name="Rectangle 68"/>
          <p:cNvSpPr>
            <a:spLocks noChangeArrowheads="1"/>
          </p:cNvSpPr>
          <p:nvPr/>
        </p:nvSpPr>
        <p:spPr bwMode="auto">
          <a:xfrm>
            <a:off x="5529656" y="2497138"/>
            <a:ext cx="1067601"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600">
                <a:ea typeface="楷体" panose="02010609060101010101" pitchFamily="49" charset="-122"/>
                <a:cs typeface="Times New Roman" panose="02020603050405020304" pitchFamily="18" charset="0"/>
              </a:rPr>
              <a:t>输入</a:t>
            </a:r>
            <a:r>
              <a:rPr kumimoji="0" lang="en-US" altLang="zh-CN" sz="1600">
                <a:ea typeface="楷体" panose="02010609060101010101" pitchFamily="49" charset="-122"/>
                <a:cs typeface="Times New Roman" panose="02020603050405020304" pitchFamily="18" charset="0"/>
              </a:rPr>
              <a:t>/</a:t>
            </a:r>
            <a:r>
              <a:rPr kumimoji="0" lang="zh-CN" altLang="en-US" sz="1600">
                <a:ea typeface="楷体" panose="02010609060101010101" pitchFamily="49" charset="-122"/>
                <a:cs typeface="Times New Roman" panose="02020603050405020304" pitchFamily="18" charset="0"/>
              </a:rPr>
              <a:t>输出</a:t>
            </a:r>
            <a:endParaRPr kumimoji="0" lang="zh-CN" altLang="en-US" sz="1600">
              <a:ea typeface="楷体" panose="02010609060101010101" pitchFamily="49" charset="-122"/>
              <a:cs typeface="Times New Roman" panose="02020603050405020304" pitchFamily="18" charset="0"/>
            </a:endParaRPr>
          </a:p>
          <a:p>
            <a:pPr algn="ctr">
              <a:spcBef>
                <a:spcPct val="0"/>
              </a:spcBef>
              <a:buClrTx/>
              <a:buFontTx/>
              <a:buNone/>
            </a:pPr>
            <a:r>
              <a:rPr kumimoji="0" lang="zh-CN" altLang="en-US" sz="1600">
                <a:ea typeface="楷体" panose="02010609060101010101" pitchFamily="49" charset="-122"/>
                <a:cs typeface="Times New Roman" panose="02020603050405020304" pitchFamily="18" charset="0"/>
              </a:rPr>
              <a:t>总线</a:t>
            </a:r>
            <a:endParaRPr kumimoji="0" lang="zh-CN" altLang="en-US" sz="1600">
              <a:ea typeface="楷体" panose="02010609060101010101" pitchFamily="49" charset="-122"/>
              <a:cs typeface="Times New Roman" panose="02020603050405020304" pitchFamily="18" charset="0"/>
            </a:endParaRPr>
          </a:p>
        </p:txBody>
      </p:sp>
    </p:spTree>
  </p:cSld>
  <p:clrMapOvr>
    <a:masterClrMapping/>
  </p:clrMapOvr>
  <p:transition spd="med">
    <p:pull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defRPr/>
            </a:pPr>
            <a:r>
              <a:rPr lang="zh-CN" altLang="en-US">
                <a:cs typeface="Times New Roman" panose="02020603050405020304" pitchFamily="18" charset="0"/>
              </a:rPr>
              <a:t>三</a:t>
            </a:r>
            <a:r>
              <a:rPr lang="zh-CN" altLang="en-US">
                <a:latin typeface="宋体" panose="02010600030101010101" pitchFamily="2" charset="-122"/>
              </a:rPr>
              <a:t>总线结构</a:t>
            </a:r>
            <a:endParaRPr lang="zh-CN" altLang="en-US">
              <a:latin typeface="宋体" panose="02010600030101010101" pitchFamily="2" charset="-122"/>
            </a:endParaRPr>
          </a:p>
        </p:txBody>
      </p:sp>
      <p:sp>
        <p:nvSpPr>
          <p:cNvPr id="35843" name="Rectangle 3"/>
          <p:cNvSpPr>
            <a:spLocks noGrp="1" noChangeArrowheads="1"/>
          </p:cNvSpPr>
          <p:nvPr>
            <p:ph idx="1"/>
          </p:nvPr>
        </p:nvSpPr>
        <p:spPr>
          <a:xfrm>
            <a:off x="250825" y="3527425"/>
            <a:ext cx="8545513" cy="2770188"/>
          </a:xfrm>
        </p:spPr>
        <p:txBody>
          <a:bodyPr/>
          <a:lstStyle/>
          <a:p>
            <a:pPr eaLnBrk="1" hangingPunct="1"/>
            <a:r>
              <a:rPr lang="zh-CN" altLang="en-US" sz="2800"/>
              <a:t>主板总线连接到处理器</a:t>
            </a:r>
            <a:r>
              <a:rPr lang="en-US" altLang="zh-CN" sz="2800"/>
              <a:t>-</a:t>
            </a:r>
            <a:r>
              <a:rPr lang="zh-CN" altLang="en-US" sz="2800"/>
              <a:t>主存总线</a:t>
            </a:r>
            <a:endParaRPr lang="zh-CN" altLang="en-US" sz="2800"/>
          </a:p>
          <a:p>
            <a:pPr lvl="1" eaLnBrk="1" hangingPunct="1"/>
            <a:r>
              <a:rPr lang="zh-CN" altLang="en-US" sz="2400"/>
              <a:t>处理器</a:t>
            </a:r>
            <a:r>
              <a:rPr lang="en-US" altLang="zh-CN" sz="2400"/>
              <a:t>-</a:t>
            </a:r>
            <a:r>
              <a:rPr lang="zh-CN" altLang="en-US" sz="2400"/>
              <a:t>主存总线主要用于处理器和主存之间数据交换</a:t>
            </a:r>
            <a:endParaRPr lang="zh-CN" altLang="en-US" sz="2400"/>
          </a:p>
          <a:p>
            <a:pPr lvl="1" eaLnBrk="1" hangingPunct="1"/>
            <a:r>
              <a:rPr lang="en-US" altLang="zh-CN" sz="2400"/>
              <a:t>I/O</a:t>
            </a:r>
            <a:r>
              <a:rPr lang="zh-CN" altLang="en-US" sz="2400"/>
              <a:t>总线连接到主板总线</a:t>
            </a:r>
            <a:endParaRPr lang="zh-CN" altLang="en-US" sz="2400"/>
          </a:p>
          <a:p>
            <a:pPr eaLnBrk="1" hangingPunct="1"/>
            <a:r>
              <a:rPr lang="zh-CN" altLang="en-US" sz="2800"/>
              <a:t>优点</a:t>
            </a:r>
            <a:endParaRPr lang="zh-CN" altLang="en-US" sz="2800"/>
          </a:p>
          <a:p>
            <a:pPr lvl="1" eaLnBrk="1" hangingPunct="1"/>
            <a:r>
              <a:rPr lang="zh-CN" altLang="en-US" sz="2400"/>
              <a:t>大大减少处理器</a:t>
            </a:r>
            <a:r>
              <a:rPr lang="en-US" altLang="zh-CN" sz="2400"/>
              <a:t>-</a:t>
            </a:r>
            <a:r>
              <a:rPr lang="zh-CN" altLang="en-US" sz="2400"/>
              <a:t>主存总线负载</a:t>
            </a:r>
            <a:endParaRPr lang="zh-CN" altLang="en-US" sz="2400"/>
          </a:p>
        </p:txBody>
      </p:sp>
      <p:pic>
        <p:nvPicPr>
          <p:cNvPr id="35845" name="Picture 6"/>
          <p:cNvPicPr>
            <a:picLocks noChangeAspect="1" noChangeArrowheads="1"/>
          </p:cNvPicPr>
          <p:nvPr/>
        </p:nvPicPr>
        <p:blipFill>
          <a:blip r:embed="rId1">
            <a:extLst>
              <a:ext uri="{28A0092B-C50C-407E-A947-70E740481C1C}">
                <a14:useLocalDpi xmlns:a14="http://schemas.microsoft.com/office/drawing/2010/main" val="0"/>
              </a:ext>
            </a:extLst>
          </a:blip>
          <a:srcRect l="1952" r="4877"/>
          <a:stretch>
            <a:fillRect/>
          </a:stretch>
        </p:blipFill>
        <p:spPr bwMode="auto">
          <a:xfrm>
            <a:off x="350090" y="1178299"/>
            <a:ext cx="8399463" cy="239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t>典型系统总线</a:t>
            </a:r>
            <a:endParaRPr lang="zh-CN" altLang="en-US"/>
          </a:p>
        </p:txBody>
      </p:sp>
      <p:graphicFrame>
        <p:nvGraphicFramePr>
          <p:cNvPr id="5" name="表格 4"/>
          <p:cNvGraphicFramePr>
            <a:graphicFrameLocks noGrp="1"/>
          </p:cNvGraphicFramePr>
          <p:nvPr/>
        </p:nvGraphicFramePr>
        <p:xfrm>
          <a:off x="619685" y="1143000"/>
          <a:ext cx="8134350" cy="5378449"/>
        </p:xfrm>
        <a:graphic>
          <a:graphicData uri="http://schemas.openxmlformats.org/drawingml/2006/table">
            <a:tbl>
              <a:tblPr/>
              <a:tblGrid>
                <a:gridCol w="1798637"/>
                <a:gridCol w="1798638"/>
                <a:gridCol w="2268537"/>
                <a:gridCol w="2268538"/>
              </a:tblGrid>
              <a:tr h="503242">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总线标准</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数据线</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总线时钟</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带宽</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0230">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ISA</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 MHz</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（独立）</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 MBps</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0230">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EISA</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32</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 MHz</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（独立）</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33 MBps</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7112">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VESA</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(VL-BUS)</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32</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32 MHz</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CPU</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133 MBps</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7112">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PCI</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32</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64</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33 MHz</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（独立）</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64 MHz</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（独立）</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132 MBps</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528 MBps</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7112">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AGP</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32</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66.7 MHz</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（独立）</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133 MHz</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（独立）</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266 MBps</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533 MBps</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7112">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RS-232</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串行通信</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总线标准</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数据终端设备（计算机）和数据通信设备（调制解调器）之间的标准接口</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1026299">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USB</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串行接口</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总线标准</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普通无屏蔽双绞线</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带屏蔽双绞线</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最高</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1.5 Mbps (USB1.0)</a:t>
                      </a:r>
                      <a:endPar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12 Mbps (USB1.0)</a:t>
                      </a:r>
                      <a:endPar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480 Mbps</a:t>
                      </a:r>
                      <a:r>
                        <a:rPr kumimoji="1" lang="en-US" altLang="zh-CN" sz="1800" b="1" i="0" u="none" strike="noStrike" cap="none" normalizeH="0" baseline="0" dirty="0">
                          <a:ln>
                            <a:noFill/>
                          </a:ln>
                          <a:solidFill>
                            <a:schemeClr val="folHlink"/>
                          </a:solidFill>
                          <a:effectLst/>
                          <a:latin typeface="Times New Roman" panose="02020603050405020304" pitchFamily="18" charset="0"/>
                          <a:ea typeface="宋体" panose="02010600030101010101" pitchFamily="2" charset="-122"/>
                        </a:rPr>
                        <a:t> </a:t>
                      </a: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(USB2.0)</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med">
    <p:pull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304800" y="221690"/>
            <a:ext cx="8858250" cy="695325"/>
          </a:xfrm>
        </p:spPr>
        <p:txBody>
          <a:bodyPr/>
          <a:lstStyle/>
          <a:p>
            <a:pPr eaLnBrk="1" hangingPunct="1">
              <a:defRPr/>
            </a:pPr>
            <a:r>
              <a:rPr lang="zh-CN" altLang="en-US" dirty="0">
                <a:latin typeface="宋体" panose="02010600030101010101" pitchFamily="2" charset="-122"/>
              </a:rPr>
              <a:t>三总线结构实例</a:t>
            </a:r>
            <a:endParaRPr lang="en-US" altLang="zh-CN" dirty="0">
              <a:latin typeface="宋体" panose="02010600030101010101" pitchFamily="2" charset="-122"/>
            </a:endParaRPr>
          </a:p>
        </p:txBody>
      </p:sp>
      <p:pic>
        <p:nvPicPr>
          <p:cNvPr id="37892" name="Picture 4" descr="6"/>
          <p:cNvPicPr>
            <a:picLocks noChangeAspect="1" noChangeArrowheads="1"/>
          </p:cNvPicPr>
          <p:nvPr/>
        </p:nvPicPr>
        <p:blipFill>
          <a:blip r:embed="rId1">
            <a:extLst>
              <a:ext uri="{28A0092B-C50C-407E-A947-70E740481C1C}">
                <a14:useLocalDpi xmlns:a14="http://schemas.microsoft.com/office/drawing/2010/main" val="0"/>
              </a:ext>
            </a:extLst>
          </a:blip>
          <a:srcRect r="1515" b="7477"/>
          <a:stretch>
            <a:fillRect/>
          </a:stretch>
        </p:blipFill>
        <p:spPr bwMode="auto">
          <a:xfrm>
            <a:off x="809625" y="1066800"/>
            <a:ext cx="7848600" cy="548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defRPr/>
            </a:pPr>
            <a:r>
              <a:rPr lang="zh-CN" altLang="en-US"/>
              <a:t>现代计算机典型结构（</a:t>
            </a:r>
            <a:r>
              <a:rPr lang="en-US" altLang="zh-CN"/>
              <a:t>1</a:t>
            </a:r>
            <a:r>
              <a:rPr lang="zh-CN" altLang="en-US"/>
              <a:t>）</a:t>
            </a:r>
            <a:endParaRPr lang="zh-CN" altLang="en-US"/>
          </a:p>
        </p:txBody>
      </p:sp>
      <p:pic>
        <p:nvPicPr>
          <p:cNvPr id="38915" name="Picture 4"/>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873219" y="1035050"/>
            <a:ext cx="7561262" cy="5437187"/>
          </a:xfrm>
          <a:noFill/>
        </p:spPr>
      </p:pic>
      <p:sp>
        <p:nvSpPr>
          <p:cNvPr id="38917" name="TextBox 1"/>
          <p:cNvSpPr txBox="1">
            <a:spLocks noChangeArrowheads="1"/>
          </p:cNvSpPr>
          <p:nvPr/>
        </p:nvSpPr>
        <p:spPr bwMode="auto">
          <a:xfrm>
            <a:off x="900113" y="1111250"/>
            <a:ext cx="2235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zh-CN" altLang="en-US" dirty="0">
                <a:solidFill>
                  <a:srgbClr val="660066"/>
                </a:solidFill>
                <a:latin typeface="楷体" panose="02010609060101010101" pitchFamily="49" charset="-122"/>
                <a:ea typeface="楷体" panose="02010609060101010101" pitchFamily="49" charset="-122"/>
              </a:rPr>
              <a:t>南北桥结构</a:t>
            </a:r>
            <a:endParaRPr lang="zh-CN" altLang="en-US" dirty="0">
              <a:solidFill>
                <a:srgbClr val="660066"/>
              </a:solidFill>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39939" name="内容占位符 2"/>
          <p:cNvSpPr>
            <a:spLocks noGrp="1" noChangeArrowheads="1"/>
          </p:cNvSpPr>
          <p:nvPr>
            <p:ph idx="1"/>
          </p:nvPr>
        </p:nvSpPr>
        <p:spPr/>
        <p:txBody>
          <a:bodyPr/>
          <a:lstStyle/>
          <a:p>
            <a:endParaRPr lang="zh-CN" altLang="en-US"/>
          </a:p>
        </p:txBody>
      </p:sp>
      <p:pic>
        <p:nvPicPr>
          <p:cNvPr id="39941" name="Picture 4" descr="C:\WINDOWS\Desktop\Scott\IMAGES\TyanS1572Motherboard.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38275" y="352425"/>
            <a:ext cx="7086600" cy="519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1"/>
          <p:cNvGrpSpPr/>
          <p:nvPr/>
        </p:nvGrpSpPr>
        <p:grpSpPr bwMode="auto">
          <a:xfrm>
            <a:off x="179388" y="1114425"/>
            <a:ext cx="2595562" cy="3200400"/>
            <a:chOff x="263" y="528"/>
            <a:chExt cx="1635" cy="2016"/>
          </a:xfrm>
        </p:grpSpPr>
        <p:sp>
          <p:nvSpPr>
            <p:cNvPr id="7" name="AutoShape 5"/>
            <p:cNvSpPr/>
            <p:nvPr/>
          </p:nvSpPr>
          <p:spPr bwMode="auto">
            <a:xfrm>
              <a:off x="263" y="1128"/>
              <a:ext cx="605" cy="456"/>
            </a:xfrm>
            <a:prstGeom prst="accentCallout2">
              <a:avLst>
                <a:gd name="adj1" fmla="val 15792"/>
                <a:gd name="adj2" fmla="val 107935"/>
                <a:gd name="adj3" fmla="val 15792"/>
                <a:gd name="adj4" fmla="val 120495"/>
                <a:gd name="adj5" fmla="val -657"/>
                <a:gd name="adj6" fmla="val 133556"/>
              </a:avLst>
            </a:prstGeom>
            <a:solidFill>
              <a:srgbClr val="FFE2A7"/>
            </a:solidFill>
            <a:ln w="38100">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fontAlgn="auto" hangingPunct="1">
                <a:spcBef>
                  <a:spcPts val="0"/>
                </a:spcBef>
                <a:spcAft>
                  <a:spcPts val="0"/>
                </a:spcAft>
                <a:defRPr/>
              </a:pPr>
              <a:r>
                <a:rPr kumimoji="0" lang="en-US" altLang="zh-CN" sz="2400" kern="0" dirty="0">
                  <a:solidFill>
                    <a:srgbClr val="000000"/>
                  </a:solidFill>
                  <a:ea typeface="宋体" panose="02010600030101010101" pitchFamily="2" charset="-122"/>
                </a:rPr>
                <a:t>3 ISA</a:t>
              </a:r>
              <a:br>
                <a:rPr kumimoji="0" lang="en-US" altLang="zh-CN" sz="2400" kern="0" dirty="0">
                  <a:solidFill>
                    <a:srgbClr val="000000"/>
                  </a:solidFill>
                  <a:ea typeface="宋体" panose="02010600030101010101" pitchFamily="2" charset="-122"/>
                </a:rPr>
              </a:br>
              <a:r>
                <a:rPr kumimoji="0" lang="en-US" altLang="zh-CN" sz="2400" kern="0" dirty="0">
                  <a:solidFill>
                    <a:srgbClr val="000000"/>
                  </a:solidFill>
                  <a:ea typeface="宋体" panose="02010600030101010101" pitchFamily="2" charset="-122"/>
                </a:rPr>
                <a:t>slots</a:t>
              </a:r>
              <a:endParaRPr kumimoji="0" lang="en-US" altLang="zh-CN" sz="2400" kern="0" dirty="0">
                <a:solidFill>
                  <a:srgbClr val="000000"/>
                </a:solidFill>
                <a:ea typeface="宋体" panose="02010600030101010101" pitchFamily="2" charset="-122"/>
              </a:endParaRPr>
            </a:p>
          </p:txBody>
        </p:sp>
        <p:sp>
          <p:nvSpPr>
            <p:cNvPr id="8" name="Rectangle 7"/>
            <p:cNvSpPr>
              <a:spLocks noChangeArrowheads="1"/>
            </p:cNvSpPr>
            <p:nvPr/>
          </p:nvSpPr>
          <p:spPr bwMode="auto">
            <a:xfrm>
              <a:off x="1087" y="528"/>
              <a:ext cx="811" cy="2016"/>
            </a:xfrm>
            <a:prstGeom prst="rect">
              <a:avLst/>
            </a:prstGeom>
            <a:noFill/>
            <a:ln w="76200">
              <a:solidFill>
                <a:srgbClr val="FF0000"/>
              </a:solidFill>
              <a:miter lim="800000"/>
            </a:ln>
            <a:effectLst/>
            <a:extLst>
              <a:ext uri="{909E8E84-426E-40DD-AFC4-6F175D3DCCD1}">
                <a14:hiddenFill xmlns:a14="http://schemas.microsoft.com/office/drawing/2010/main">
                  <a:solidFill>
                    <a:srgbClr val="FFCC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fontAlgn="auto" hangingPunct="1">
                <a:spcBef>
                  <a:spcPts val="0"/>
                </a:spcBef>
                <a:spcAft>
                  <a:spcPts val="0"/>
                </a:spcAft>
                <a:defRPr/>
              </a:pPr>
              <a:endParaRPr kumimoji="0" lang="zh-CN" altLang="en-US" sz="2400" kern="0">
                <a:solidFill>
                  <a:srgbClr val="000000"/>
                </a:solidFill>
                <a:ea typeface="+mn-ea"/>
              </a:endParaRPr>
            </a:p>
          </p:txBody>
        </p:sp>
      </p:grpSp>
      <p:grpSp>
        <p:nvGrpSpPr>
          <p:cNvPr id="9" name="Group 20"/>
          <p:cNvGrpSpPr/>
          <p:nvPr/>
        </p:nvGrpSpPr>
        <p:grpSpPr bwMode="auto">
          <a:xfrm>
            <a:off x="600075" y="1477963"/>
            <a:ext cx="4395788" cy="4830762"/>
            <a:chOff x="528" y="757"/>
            <a:chExt cx="2769" cy="3043"/>
          </a:xfrm>
        </p:grpSpPr>
        <p:sp>
          <p:nvSpPr>
            <p:cNvPr id="10" name="AutoShape 6"/>
            <p:cNvSpPr/>
            <p:nvPr/>
          </p:nvSpPr>
          <p:spPr bwMode="auto">
            <a:xfrm>
              <a:off x="528" y="3453"/>
              <a:ext cx="1003" cy="347"/>
            </a:xfrm>
            <a:prstGeom prst="accentCallout2">
              <a:avLst>
                <a:gd name="adj1" fmla="val 20750"/>
                <a:gd name="adj2" fmla="val 104787"/>
                <a:gd name="adj3" fmla="val 20750"/>
                <a:gd name="adj4" fmla="val 132301"/>
                <a:gd name="adj5" fmla="val -393949"/>
                <a:gd name="adj6" fmla="val 159921"/>
              </a:avLst>
            </a:prstGeom>
            <a:solidFill>
              <a:srgbClr val="FFE2A7"/>
            </a:solidFill>
            <a:ln w="38100">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fontAlgn="auto" hangingPunct="1">
                <a:spcBef>
                  <a:spcPts val="0"/>
                </a:spcBef>
                <a:spcAft>
                  <a:spcPts val="0"/>
                </a:spcAft>
                <a:defRPr/>
              </a:pPr>
              <a:r>
                <a:rPr kumimoji="0" lang="en-US" altLang="zh-CN" sz="2400" kern="0" dirty="0">
                  <a:solidFill>
                    <a:srgbClr val="000000"/>
                  </a:solidFill>
                  <a:ea typeface="宋体" panose="02010600030101010101" pitchFamily="2" charset="-122"/>
                </a:rPr>
                <a:t>5 PCI slots</a:t>
              </a:r>
              <a:endParaRPr kumimoji="0" lang="en-US" altLang="zh-CN" sz="2400" kern="0" dirty="0">
                <a:solidFill>
                  <a:srgbClr val="000000"/>
                </a:solidFill>
                <a:ea typeface="宋体" panose="02010600030101010101" pitchFamily="2" charset="-122"/>
              </a:endParaRPr>
            </a:p>
          </p:txBody>
        </p:sp>
        <p:sp>
          <p:nvSpPr>
            <p:cNvPr id="11" name="Rectangle 9"/>
            <p:cNvSpPr>
              <a:spLocks noChangeArrowheads="1"/>
            </p:cNvSpPr>
            <p:nvPr/>
          </p:nvSpPr>
          <p:spPr bwMode="auto">
            <a:xfrm>
              <a:off x="1905" y="757"/>
              <a:ext cx="1392" cy="1296"/>
            </a:xfrm>
            <a:prstGeom prst="rect">
              <a:avLst/>
            </a:prstGeom>
            <a:noFill/>
            <a:ln w="76200">
              <a:solidFill>
                <a:srgbClr val="FF0000"/>
              </a:solidFill>
              <a:miter lim="800000"/>
            </a:ln>
            <a:effectLst/>
            <a:extLst>
              <a:ext uri="{909E8E84-426E-40DD-AFC4-6F175D3DCCD1}">
                <a14:hiddenFill xmlns:a14="http://schemas.microsoft.com/office/drawing/2010/main">
                  <a:solidFill>
                    <a:srgbClr val="FFCC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fontAlgn="auto" hangingPunct="1">
                <a:spcBef>
                  <a:spcPts val="0"/>
                </a:spcBef>
                <a:spcAft>
                  <a:spcPts val="0"/>
                </a:spcAft>
                <a:defRPr/>
              </a:pPr>
              <a:endParaRPr kumimoji="0" lang="zh-CN" altLang="en-US" sz="2400" kern="0">
                <a:solidFill>
                  <a:srgbClr val="000000"/>
                </a:solidFill>
                <a:ea typeface="+mn-ea"/>
              </a:endParaRPr>
            </a:p>
          </p:txBody>
        </p:sp>
      </p:grpSp>
      <p:grpSp>
        <p:nvGrpSpPr>
          <p:cNvPr id="12" name="Group 21"/>
          <p:cNvGrpSpPr/>
          <p:nvPr/>
        </p:nvGrpSpPr>
        <p:grpSpPr bwMode="auto">
          <a:xfrm>
            <a:off x="2886075" y="1833563"/>
            <a:ext cx="3451225" cy="4475162"/>
            <a:chOff x="1968" y="981"/>
            <a:chExt cx="2174" cy="2819"/>
          </a:xfrm>
        </p:grpSpPr>
        <p:sp>
          <p:nvSpPr>
            <p:cNvPr id="13" name="Rectangle 13"/>
            <p:cNvSpPr>
              <a:spLocks noChangeArrowheads="1"/>
            </p:cNvSpPr>
            <p:nvPr/>
          </p:nvSpPr>
          <p:spPr bwMode="auto">
            <a:xfrm>
              <a:off x="3410" y="981"/>
              <a:ext cx="732" cy="723"/>
            </a:xfrm>
            <a:prstGeom prst="rect">
              <a:avLst/>
            </a:prstGeom>
            <a:noFill/>
            <a:ln w="76200">
              <a:solidFill>
                <a:srgbClr val="F83B00"/>
              </a:solidFill>
              <a:miter lim="800000"/>
            </a:ln>
            <a:effectLst/>
            <a:extLst>
              <a:ext uri="{909E8E84-426E-40DD-AFC4-6F175D3DCCD1}">
                <a14:hiddenFill xmlns:a14="http://schemas.microsoft.com/office/drawing/2010/main">
                  <a:solidFill>
                    <a:srgbClr val="FFCC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1" fontAlgn="auto" hangingPunct="1">
                <a:spcBef>
                  <a:spcPts val="0"/>
                </a:spcBef>
                <a:spcAft>
                  <a:spcPts val="0"/>
                </a:spcAft>
                <a:defRPr/>
              </a:pPr>
              <a:endParaRPr kumimoji="0" lang="zh-CN" altLang="en-US" sz="2400" kern="0">
                <a:solidFill>
                  <a:srgbClr val="000000"/>
                </a:solidFill>
                <a:ea typeface="+mn-ea"/>
              </a:endParaRPr>
            </a:p>
          </p:txBody>
        </p:sp>
        <p:sp>
          <p:nvSpPr>
            <p:cNvPr id="14" name="AutoShape 14"/>
            <p:cNvSpPr/>
            <p:nvPr/>
          </p:nvSpPr>
          <p:spPr bwMode="auto">
            <a:xfrm>
              <a:off x="1968" y="3416"/>
              <a:ext cx="971" cy="384"/>
            </a:xfrm>
            <a:prstGeom prst="accentCallout2">
              <a:avLst>
                <a:gd name="adj1" fmla="val 18750"/>
                <a:gd name="adj2" fmla="val 104944"/>
                <a:gd name="adj3" fmla="val 18750"/>
                <a:gd name="adj4" fmla="val 130176"/>
                <a:gd name="adj5" fmla="val -436718"/>
                <a:gd name="adj6" fmla="val 156542"/>
              </a:avLst>
            </a:prstGeom>
            <a:solidFill>
              <a:srgbClr val="FFE2A7"/>
            </a:solidFill>
            <a:ln w="38100">
              <a:solidFill>
                <a:srgbClr val="F83B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1" fontAlgn="auto" hangingPunct="1">
                <a:spcBef>
                  <a:spcPts val="0"/>
                </a:spcBef>
                <a:spcAft>
                  <a:spcPts val="0"/>
                </a:spcAft>
                <a:defRPr/>
              </a:pPr>
              <a:r>
                <a:rPr kumimoji="0" lang="en-US" altLang="zh-CN" sz="1800" kern="0">
                  <a:solidFill>
                    <a:srgbClr val="000000"/>
                  </a:solidFill>
                  <a:ea typeface="宋体" panose="02010600030101010101" pitchFamily="2" charset="-122"/>
                </a:rPr>
                <a:t>Pentium CPU</a:t>
              </a:r>
              <a:endParaRPr kumimoji="0" lang="en-US" altLang="zh-CN" sz="1800" kern="0">
                <a:solidFill>
                  <a:srgbClr val="000000"/>
                </a:solidFill>
                <a:ea typeface="宋体" panose="02010600030101010101" pitchFamily="2" charset="-122"/>
              </a:endParaRPr>
            </a:p>
          </p:txBody>
        </p:sp>
      </p:grpSp>
      <p:grpSp>
        <p:nvGrpSpPr>
          <p:cNvPr id="15" name="Group 22"/>
          <p:cNvGrpSpPr/>
          <p:nvPr/>
        </p:nvGrpSpPr>
        <p:grpSpPr bwMode="auto">
          <a:xfrm>
            <a:off x="5172075" y="1647825"/>
            <a:ext cx="3200400" cy="4660900"/>
            <a:chOff x="3408" y="864"/>
            <a:chExt cx="2016" cy="2936"/>
          </a:xfrm>
        </p:grpSpPr>
        <p:sp>
          <p:nvSpPr>
            <p:cNvPr id="16" name="Rectangle 15"/>
            <p:cNvSpPr>
              <a:spLocks noChangeArrowheads="1"/>
            </p:cNvSpPr>
            <p:nvPr/>
          </p:nvSpPr>
          <p:spPr bwMode="auto">
            <a:xfrm>
              <a:off x="4272" y="864"/>
              <a:ext cx="816" cy="1536"/>
            </a:xfrm>
            <a:prstGeom prst="rect">
              <a:avLst/>
            </a:prstGeom>
            <a:noFill/>
            <a:ln w="76200">
              <a:solidFill>
                <a:srgbClr val="F83B00"/>
              </a:solidFill>
              <a:miter lim="800000"/>
            </a:ln>
            <a:effectLst/>
            <a:extLst>
              <a:ext uri="{909E8E84-426E-40DD-AFC4-6F175D3DCCD1}">
                <a14:hiddenFill xmlns:a14="http://schemas.microsoft.com/office/drawing/2010/main">
                  <a:solidFill>
                    <a:srgbClr val="FFCC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fontAlgn="auto" hangingPunct="1">
                <a:spcBef>
                  <a:spcPts val="0"/>
                </a:spcBef>
                <a:spcAft>
                  <a:spcPts val="0"/>
                </a:spcAft>
                <a:defRPr/>
              </a:pPr>
              <a:endParaRPr kumimoji="0" lang="zh-CN" altLang="en-US" sz="2400" kern="0">
                <a:solidFill>
                  <a:srgbClr val="000000"/>
                </a:solidFill>
                <a:ea typeface="+mn-ea"/>
              </a:endParaRPr>
            </a:p>
          </p:txBody>
        </p:sp>
        <p:sp>
          <p:nvSpPr>
            <p:cNvPr id="17" name="AutoShape 16"/>
            <p:cNvSpPr/>
            <p:nvPr/>
          </p:nvSpPr>
          <p:spPr bwMode="auto">
            <a:xfrm>
              <a:off x="3408" y="3416"/>
              <a:ext cx="747" cy="384"/>
            </a:xfrm>
            <a:prstGeom prst="accentCallout2">
              <a:avLst>
                <a:gd name="adj1" fmla="val 18750"/>
                <a:gd name="adj2" fmla="val 106426"/>
                <a:gd name="adj3" fmla="val 18750"/>
                <a:gd name="adj4" fmla="val 119681"/>
                <a:gd name="adj5" fmla="val -259116"/>
                <a:gd name="adj6" fmla="val 133468"/>
              </a:avLst>
            </a:prstGeom>
            <a:solidFill>
              <a:srgbClr val="FFE2A7"/>
            </a:solidFill>
            <a:ln w="38100">
              <a:solidFill>
                <a:srgbClr val="F83B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fontAlgn="auto" hangingPunct="1">
                <a:spcBef>
                  <a:spcPts val="0"/>
                </a:spcBef>
                <a:spcAft>
                  <a:spcPts val="0"/>
                </a:spcAft>
                <a:defRPr/>
              </a:pPr>
              <a:r>
                <a:rPr kumimoji="0" lang="en-US" altLang="zh-CN" sz="1800" kern="0">
                  <a:solidFill>
                    <a:srgbClr val="000000"/>
                  </a:solidFill>
                  <a:ea typeface="宋体" panose="02010600030101010101" pitchFamily="2" charset="-122"/>
                </a:rPr>
                <a:t>6 SIMM</a:t>
              </a:r>
              <a:br>
                <a:rPr kumimoji="0" lang="en-US" altLang="zh-CN" sz="1800" kern="0">
                  <a:solidFill>
                    <a:srgbClr val="000000"/>
                  </a:solidFill>
                  <a:ea typeface="宋体" panose="02010600030101010101" pitchFamily="2" charset="-122"/>
                </a:rPr>
              </a:br>
              <a:r>
                <a:rPr kumimoji="0" lang="en-US" altLang="zh-CN" sz="1800" kern="0">
                  <a:solidFill>
                    <a:srgbClr val="000000"/>
                  </a:solidFill>
                  <a:ea typeface="宋体" panose="02010600030101010101" pitchFamily="2" charset="-122"/>
                </a:rPr>
                <a:t>slots</a:t>
              </a:r>
              <a:endParaRPr kumimoji="0" lang="en-US" altLang="zh-CN" sz="1800" kern="0">
                <a:solidFill>
                  <a:srgbClr val="000000"/>
                </a:solidFill>
                <a:ea typeface="宋体" panose="02010600030101010101" pitchFamily="2" charset="-122"/>
              </a:endParaRPr>
            </a:p>
          </p:txBody>
        </p:sp>
        <p:sp>
          <p:nvSpPr>
            <p:cNvPr id="18" name="AutoShape 18"/>
            <p:cNvSpPr/>
            <p:nvPr/>
          </p:nvSpPr>
          <p:spPr bwMode="auto">
            <a:xfrm>
              <a:off x="4512" y="3416"/>
              <a:ext cx="672" cy="384"/>
            </a:xfrm>
            <a:prstGeom prst="accentCallout2">
              <a:avLst>
                <a:gd name="adj1" fmla="val 18750"/>
                <a:gd name="adj2" fmla="val 107144"/>
                <a:gd name="adj3" fmla="val 18750"/>
                <a:gd name="adj4" fmla="val 113394"/>
                <a:gd name="adj5" fmla="val -192449"/>
                <a:gd name="adj6" fmla="val 119792"/>
              </a:avLst>
            </a:prstGeom>
            <a:solidFill>
              <a:srgbClr val="FFE2A7"/>
            </a:solidFill>
            <a:ln w="38100">
              <a:solidFill>
                <a:srgbClr val="F83B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fontAlgn="auto" hangingPunct="1">
                <a:spcBef>
                  <a:spcPts val="0"/>
                </a:spcBef>
                <a:spcAft>
                  <a:spcPts val="0"/>
                </a:spcAft>
                <a:defRPr/>
              </a:pPr>
              <a:r>
                <a:rPr kumimoji="0" lang="en-US" altLang="zh-CN" sz="1800" kern="0">
                  <a:solidFill>
                    <a:srgbClr val="000000"/>
                  </a:solidFill>
                  <a:ea typeface="宋体" panose="02010600030101010101" pitchFamily="2" charset="-122"/>
                </a:rPr>
                <a:t>2 DIMM slots</a:t>
              </a:r>
              <a:endParaRPr kumimoji="0" lang="en-US" altLang="zh-CN" sz="1800" kern="0">
                <a:solidFill>
                  <a:srgbClr val="000000"/>
                </a:solidFill>
                <a:ea typeface="宋体" panose="02010600030101010101" pitchFamily="2" charset="-122"/>
              </a:endParaRPr>
            </a:p>
          </p:txBody>
        </p:sp>
        <p:sp>
          <p:nvSpPr>
            <p:cNvPr id="19" name="Rectangle 19"/>
            <p:cNvSpPr>
              <a:spLocks noChangeArrowheads="1"/>
            </p:cNvSpPr>
            <p:nvPr/>
          </p:nvSpPr>
          <p:spPr bwMode="auto">
            <a:xfrm>
              <a:off x="5088" y="864"/>
              <a:ext cx="336" cy="1824"/>
            </a:xfrm>
            <a:prstGeom prst="rect">
              <a:avLst/>
            </a:prstGeom>
            <a:noFill/>
            <a:ln w="76200">
              <a:solidFill>
                <a:srgbClr val="F83B00"/>
              </a:solidFill>
              <a:miter lim="800000"/>
            </a:ln>
            <a:effectLst/>
            <a:extLst>
              <a:ext uri="{909E8E84-426E-40DD-AFC4-6F175D3DCCD1}">
                <a14:hiddenFill xmlns:a14="http://schemas.microsoft.com/office/drawing/2010/main">
                  <a:solidFill>
                    <a:srgbClr val="FFCC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1" fontAlgn="auto" hangingPunct="1">
                <a:spcBef>
                  <a:spcPts val="0"/>
                </a:spcBef>
                <a:spcAft>
                  <a:spcPts val="0"/>
                </a:spcAft>
                <a:defRPr/>
              </a:pPr>
              <a:endParaRPr kumimoji="0" lang="zh-CN" altLang="en-US" sz="2400" kern="0">
                <a:solidFill>
                  <a:srgbClr val="000000"/>
                </a:solidFill>
                <a:ea typeface="+mn-ea"/>
              </a:endParaRPr>
            </a:p>
          </p:txBody>
        </p:sp>
      </p:gr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t>现代计算机典型结构（</a:t>
            </a:r>
            <a:r>
              <a:rPr lang="en-US" altLang="zh-CN"/>
              <a:t>2</a:t>
            </a:r>
            <a:r>
              <a:rPr lang="zh-CN" altLang="en-US"/>
              <a:t>）</a:t>
            </a:r>
            <a:endParaRPr lang="zh-CN" altLang="en-US"/>
          </a:p>
        </p:txBody>
      </p:sp>
      <p:pic>
        <p:nvPicPr>
          <p:cNvPr id="40963" name="内容占位符 4"/>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676400" y="1399662"/>
            <a:ext cx="5472113" cy="5157787"/>
          </a:xfrm>
        </p:spPr>
      </p:pic>
      <p:sp>
        <p:nvSpPr>
          <p:cNvPr id="40965" name="TextBox 5"/>
          <p:cNvSpPr txBox="1">
            <a:spLocks noChangeArrowheads="1"/>
          </p:cNvSpPr>
          <p:nvPr/>
        </p:nvSpPr>
        <p:spPr bwMode="auto">
          <a:xfrm>
            <a:off x="1698812" y="1354838"/>
            <a:ext cx="16289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dirty="0">
                <a:solidFill>
                  <a:srgbClr val="660066"/>
                </a:solidFill>
                <a:latin typeface="楷体" panose="02010609060101010101" pitchFamily="49" charset="-122"/>
                <a:ea typeface="楷体" panose="02010609060101010101" pitchFamily="49" charset="-122"/>
                <a:cs typeface="Times New Roman" panose="02020603050405020304" pitchFamily="18" charset="0"/>
              </a:rPr>
              <a:t>Hub</a:t>
            </a:r>
            <a:r>
              <a:rPr lang="zh-CN" altLang="en-US" dirty="0">
                <a:solidFill>
                  <a:srgbClr val="660066"/>
                </a:solidFill>
                <a:latin typeface="楷体" panose="02010609060101010101" pitchFamily="49" charset="-122"/>
                <a:ea typeface="楷体" panose="02010609060101010101" pitchFamily="49" charset="-122"/>
                <a:cs typeface="Times New Roman" panose="02020603050405020304" pitchFamily="18" charset="0"/>
              </a:rPr>
              <a:t>结构</a:t>
            </a:r>
            <a:endParaRPr lang="zh-CN" altLang="en-US" dirty="0">
              <a:solidFill>
                <a:srgbClr val="660066"/>
              </a:solidFill>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ransition spd="med">
    <p:pull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t>现代计算机典型结构（</a:t>
            </a:r>
            <a:r>
              <a:rPr lang="en-US" altLang="zh-CN"/>
              <a:t>3</a:t>
            </a:r>
            <a:r>
              <a:rPr lang="zh-CN" altLang="en-US"/>
              <a:t>）</a:t>
            </a:r>
            <a:endParaRPr lang="zh-CN" altLang="en-US"/>
          </a:p>
        </p:txBody>
      </p:sp>
      <p:pic>
        <p:nvPicPr>
          <p:cNvPr id="41988" name="内容占位符 6"/>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3041650" y="1152525"/>
            <a:ext cx="6067425" cy="5400675"/>
          </a:xfrm>
        </p:spPr>
      </p:pic>
      <p:pic>
        <p:nvPicPr>
          <p:cNvPr id="41989" name="图片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950" y="1152525"/>
            <a:ext cx="3062288" cy="281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0" name="TextBox 9"/>
          <p:cNvSpPr txBox="1">
            <a:spLocks noChangeArrowheads="1"/>
          </p:cNvSpPr>
          <p:nvPr/>
        </p:nvSpPr>
        <p:spPr bwMode="auto">
          <a:xfrm>
            <a:off x="3170238" y="1263650"/>
            <a:ext cx="18335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zh-CN" altLang="en-US">
                <a:solidFill>
                  <a:srgbClr val="660066"/>
                </a:solidFill>
                <a:ea typeface="黑体" panose="02010609060101010101" pitchFamily="49" charset="-122"/>
              </a:rPr>
              <a:t>最新结构</a:t>
            </a:r>
            <a:endParaRPr lang="zh-CN" altLang="en-US">
              <a:solidFill>
                <a:srgbClr val="660066"/>
              </a:solidFill>
              <a:ea typeface="黑体" panose="02010609060101010101" pitchFamily="49" charset="-122"/>
            </a:endParaRPr>
          </a:p>
        </p:txBody>
      </p:sp>
    </p:spTree>
  </p:cSld>
  <p:clrMapOvr>
    <a:masterClrMapping/>
  </p:clrMapOvr>
  <p:transition spd="med">
    <p:pull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en-US" altLang="zh-CN" sz="4800" dirty="0"/>
              <a:t>6.2 </a:t>
            </a:r>
            <a:r>
              <a:rPr lang="zh-CN" altLang="en-US" sz="4800" dirty="0"/>
              <a:t>总线接口</a:t>
            </a:r>
            <a:endParaRPr lang="zh-CN" alt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defRPr/>
            </a:pPr>
            <a:r>
              <a:rPr lang="zh-CN" altLang="en-US" dirty="0"/>
              <a:t>基本概念</a:t>
            </a:r>
            <a:endParaRPr lang="zh-CN" altLang="en-US" dirty="0"/>
          </a:p>
        </p:txBody>
      </p:sp>
      <p:sp>
        <p:nvSpPr>
          <p:cNvPr id="44035" name="Rectangle 3"/>
          <p:cNvSpPr>
            <a:spLocks noGrp="1" noChangeArrowheads="1"/>
          </p:cNvSpPr>
          <p:nvPr>
            <p:ph idx="1"/>
          </p:nvPr>
        </p:nvSpPr>
        <p:spPr/>
        <p:txBody>
          <a:bodyPr/>
          <a:lstStyle/>
          <a:p>
            <a:pPr eaLnBrk="1" hangingPunct="1"/>
            <a:r>
              <a:rPr lang="zh-CN" altLang="en-US">
                <a:latin typeface="宋体" panose="02010600030101010101" pitchFamily="2" charset="-122"/>
              </a:rPr>
              <a:t>信息的传送方式 </a:t>
            </a:r>
            <a:endParaRPr lang="zh-CN" altLang="en-US"/>
          </a:p>
          <a:p>
            <a:pPr lvl="1" eaLnBrk="1" hangingPunct="1"/>
            <a:r>
              <a:rPr lang="zh-CN" altLang="en-US">
                <a:latin typeface="宋体" panose="02010600030101010101" pitchFamily="2" charset="-122"/>
              </a:rPr>
              <a:t>计算机系统中，传输信息基本有两种方式：</a:t>
            </a:r>
            <a:endParaRPr lang="zh-CN" altLang="en-US">
              <a:latin typeface="宋体" panose="02010600030101010101" pitchFamily="2" charset="-122"/>
            </a:endParaRPr>
          </a:p>
          <a:p>
            <a:pPr lvl="2" eaLnBrk="1" hangingPunct="1"/>
            <a:r>
              <a:rPr lang="zh-CN" altLang="en-US">
                <a:latin typeface="宋体" panose="02010600030101010101" pitchFamily="2" charset="-122"/>
              </a:rPr>
              <a:t>串行传送</a:t>
            </a:r>
            <a:endParaRPr lang="zh-CN" altLang="en-US">
              <a:latin typeface="宋体" panose="02010600030101010101" pitchFamily="2" charset="-122"/>
            </a:endParaRPr>
          </a:p>
          <a:p>
            <a:pPr lvl="2" eaLnBrk="1" hangingPunct="1"/>
            <a:r>
              <a:rPr lang="zh-CN" altLang="en-US">
                <a:latin typeface="宋体" panose="02010600030101010101" pitchFamily="2" charset="-122"/>
              </a:rPr>
              <a:t>并行传送</a:t>
            </a:r>
            <a:endParaRPr lang="zh-CN" altLang="en-US">
              <a:latin typeface="宋体" panose="02010600030101010101" pitchFamily="2" charset="-122"/>
            </a:endParaRPr>
          </a:p>
          <a:p>
            <a:pPr eaLnBrk="1" hangingPunct="1"/>
            <a:r>
              <a:rPr lang="zh-CN" altLang="en-US">
                <a:latin typeface="宋体" panose="02010600030101010101" pitchFamily="2" charset="-122"/>
              </a:rPr>
              <a:t>出于速度和效率上的考虑，系统总线上传送的信息必须采用并行传送方式</a:t>
            </a:r>
            <a:endParaRPr lang="zh-CN" altLang="en-US">
              <a:latin typeface="宋体" panose="02010600030101010101" pitchFamily="2" charset="-122"/>
            </a:endParaRPr>
          </a:p>
        </p:txBody>
      </p:sp>
    </p:spTree>
  </p:cSld>
  <p:clrMapOvr>
    <a:masterClrMapping/>
  </p:clrMapOvr>
  <p:transition spd="med">
    <p:pull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defRPr/>
            </a:pPr>
            <a:r>
              <a:rPr lang="zh-CN" altLang="en-US"/>
              <a:t>串行传送</a:t>
            </a:r>
            <a:endParaRPr lang="zh-CN" altLang="en-US"/>
          </a:p>
        </p:txBody>
      </p:sp>
      <p:sp>
        <p:nvSpPr>
          <p:cNvPr id="45059" name="Rectangle 3"/>
          <p:cNvSpPr>
            <a:spLocks noGrp="1" noChangeArrowheads="1"/>
          </p:cNvSpPr>
          <p:nvPr>
            <p:ph idx="1"/>
          </p:nvPr>
        </p:nvSpPr>
        <p:spPr/>
        <p:txBody>
          <a:bodyPr/>
          <a:lstStyle/>
          <a:p>
            <a:pPr eaLnBrk="1" hangingPunct="1"/>
            <a:r>
              <a:rPr lang="zh-CN" altLang="en-US">
                <a:latin typeface="宋体" panose="02010600030101010101" pitchFamily="2" charset="-122"/>
              </a:rPr>
              <a:t>串行传送</a:t>
            </a:r>
            <a:endParaRPr lang="zh-CN" altLang="en-US">
              <a:latin typeface="宋体" panose="02010600030101010101" pitchFamily="2" charset="-122"/>
            </a:endParaRPr>
          </a:p>
          <a:p>
            <a:pPr lvl="1" eaLnBrk="1" hangingPunct="1"/>
            <a:r>
              <a:rPr lang="zh-CN" altLang="en-US">
                <a:latin typeface="宋体" panose="02010600030101010101" pitchFamily="2" charset="-122"/>
              </a:rPr>
              <a:t>使用一条传输线</a:t>
            </a:r>
            <a:endParaRPr lang="zh-CN" altLang="en-US">
              <a:latin typeface="宋体" panose="02010600030101010101" pitchFamily="2" charset="-122"/>
            </a:endParaRPr>
          </a:p>
          <a:p>
            <a:pPr lvl="1" eaLnBrk="1" hangingPunct="1"/>
            <a:r>
              <a:rPr lang="zh-CN" altLang="en-US">
                <a:latin typeface="宋体" panose="02010600030101010101" pitchFamily="2" charset="-122"/>
              </a:rPr>
              <a:t>优点：只需要一条传输线，长距离传输时显得尤为重要。不管传送的数据量有多少，只需要一条传输线，成本比较低廉。缺点：速度慢 </a:t>
            </a:r>
            <a:endParaRPr lang="en-US" altLang="zh-CN">
              <a:latin typeface="宋体" panose="02010600030101010101" pitchFamily="2" charset="-122"/>
            </a:endParaRPr>
          </a:p>
          <a:p>
            <a:pPr eaLnBrk="1" hangingPunct="1"/>
            <a:r>
              <a:rPr lang="zh-CN" altLang="en-US"/>
              <a:t>异步通信数据格式</a:t>
            </a:r>
            <a:endParaRPr lang="zh-CN" altLang="en-US"/>
          </a:p>
        </p:txBody>
      </p:sp>
      <p:graphicFrame>
        <p:nvGraphicFramePr>
          <p:cNvPr id="45061" name="Object 4"/>
          <p:cNvGraphicFramePr>
            <a:graphicFrameLocks noChangeAspect="1"/>
          </p:cNvGraphicFramePr>
          <p:nvPr/>
        </p:nvGraphicFramePr>
        <p:xfrm>
          <a:off x="468313" y="4508500"/>
          <a:ext cx="8458200" cy="1714500"/>
        </p:xfrm>
        <a:graphic>
          <a:graphicData uri="http://schemas.openxmlformats.org/presentationml/2006/ole">
            <mc:AlternateContent xmlns:mc="http://schemas.openxmlformats.org/markup-compatibility/2006">
              <mc:Choice xmlns:v="urn:schemas-microsoft-com:vml" Requires="v">
                <p:oleObj spid="_x0000_s2051" name="Visio" r:id="rId1" imgW="4590415" imgH="934085" progId="Visio.Drawing.11">
                  <p:embed/>
                </p:oleObj>
              </mc:Choice>
              <mc:Fallback>
                <p:oleObj name="Visio" r:id="rId1" imgW="4590415" imgH="934085"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4508500"/>
                        <a:ext cx="8458200" cy="171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defRPr/>
            </a:pPr>
            <a:r>
              <a:rPr lang="zh-CN" altLang="en-US"/>
              <a:t>并行传送</a:t>
            </a:r>
            <a:endParaRPr lang="zh-CN" altLang="en-US"/>
          </a:p>
        </p:txBody>
      </p:sp>
      <p:sp>
        <p:nvSpPr>
          <p:cNvPr id="46083" name="Rectangle 3"/>
          <p:cNvSpPr>
            <a:spLocks noGrp="1" noChangeArrowheads="1"/>
          </p:cNvSpPr>
          <p:nvPr>
            <p:ph idx="1"/>
          </p:nvPr>
        </p:nvSpPr>
        <p:spPr/>
        <p:txBody>
          <a:bodyPr/>
          <a:lstStyle/>
          <a:p>
            <a:pPr eaLnBrk="1" hangingPunct="1"/>
            <a:r>
              <a:rPr lang="zh-CN" altLang="en-US" dirty="0">
                <a:latin typeface="宋体" panose="02010600030101010101" pitchFamily="2" charset="-122"/>
              </a:rPr>
              <a:t>并行传送</a:t>
            </a:r>
            <a:endParaRPr lang="zh-CN" altLang="en-US" dirty="0">
              <a:latin typeface="宋体" panose="02010600030101010101" pitchFamily="2" charset="-122"/>
            </a:endParaRPr>
          </a:p>
          <a:p>
            <a:pPr lvl="1" eaLnBrk="1" hangingPunct="1"/>
            <a:r>
              <a:rPr lang="zh-CN" altLang="en-US" dirty="0">
                <a:latin typeface="宋体" panose="02010600030101010101" pitchFamily="2" charset="-122"/>
              </a:rPr>
              <a:t>每一数据位需要一条传输线，一般采用电位传送</a:t>
            </a:r>
            <a:endParaRPr lang="en-US" altLang="zh-CN" dirty="0">
              <a:latin typeface="宋体" panose="02010600030101010101" pitchFamily="2" charset="-122"/>
            </a:endParaRPr>
          </a:p>
          <a:p>
            <a:pPr lvl="1" eaLnBrk="1" hangingPunct="1"/>
            <a:endParaRPr lang="en-US" altLang="zh-CN" dirty="0">
              <a:latin typeface="宋体" panose="02010600030101010101" pitchFamily="2" charset="-122"/>
            </a:endParaRPr>
          </a:p>
          <a:p>
            <a:pPr lvl="1" eaLnBrk="1" hangingPunct="1"/>
            <a:endParaRPr lang="en-US" altLang="zh-CN" dirty="0">
              <a:latin typeface="宋体" panose="02010600030101010101" pitchFamily="2" charset="-122"/>
            </a:endParaRPr>
          </a:p>
          <a:p>
            <a:pPr lvl="1" eaLnBrk="1" hangingPunct="1"/>
            <a:endParaRPr lang="en-US" altLang="zh-CN" dirty="0">
              <a:latin typeface="宋体" panose="02010600030101010101" pitchFamily="2" charset="-122"/>
            </a:endParaRPr>
          </a:p>
          <a:p>
            <a:pPr lvl="1" eaLnBrk="1" hangingPunct="1"/>
            <a:endParaRPr lang="en-US" altLang="zh-CN" dirty="0">
              <a:latin typeface="宋体" panose="02010600030101010101" pitchFamily="2" charset="-122"/>
            </a:endParaRPr>
          </a:p>
          <a:p>
            <a:pPr lvl="1" eaLnBrk="1" hangingPunct="1">
              <a:buFont typeface="Wingdings" panose="05000000000000000000" pitchFamily="2" charset="2"/>
              <a:buNone/>
            </a:pPr>
            <a:r>
              <a:rPr lang="zh-CN" altLang="en-US" dirty="0">
                <a:latin typeface="宋体" panose="02010600030101010101" pitchFamily="2" charset="-122"/>
              </a:rPr>
              <a:t> </a:t>
            </a:r>
            <a:endParaRPr lang="zh-CN" altLang="en-US" dirty="0"/>
          </a:p>
          <a:p>
            <a:pPr eaLnBrk="1" hangingPunct="1"/>
            <a:endParaRPr lang="en-US" altLang="zh-CN" dirty="0">
              <a:latin typeface="宋体" panose="02010600030101010101" pitchFamily="2" charset="-122"/>
            </a:endParaRPr>
          </a:p>
          <a:p>
            <a:pPr eaLnBrk="1" hangingPunct="1"/>
            <a:r>
              <a:rPr lang="zh-CN" altLang="en-US" dirty="0">
                <a:latin typeface="宋体" panose="02010600030101010101" pitchFamily="2" charset="-122"/>
              </a:rPr>
              <a:t>并行传送时的分时传送</a:t>
            </a:r>
            <a:endParaRPr lang="zh-CN" altLang="en-US" dirty="0">
              <a:latin typeface="宋体" panose="02010600030101010101" pitchFamily="2" charset="-122"/>
            </a:endParaRPr>
          </a:p>
          <a:p>
            <a:pPr lvl="1" eaLnBrk="1" hangingPunct="1"/>
            <a:r>
              <a:rPr lang="zh-CN" altLang="en-US" dirty="0">
                <a:latin typeface="宋体" panose="02010600030101010101" pitchFamily="2" charset="-122"/>
              </a:rPr>
              <a:t>地址和数据的分时传送，即总线的分时复用</a:t>
            </a:r>
            <a:endParaRPr lang="en-US" altLang="zh-CN" dirty="0">
              <a:latin typeface="宋体" panose="02010600030101010101" pitchFamily="2" charset="-122"/>
            </a:endParaRPr>
          </a:p>
          <a:p>
            <a:pPr lvl="1" eaLnBrk="1" hangingPunct="1"/>
            <a:r>
              <a:rPr lang="zh-CN" altLang="en-US" dirty="0">
                <a:latin typeface="宋体" panose="02010600030101010101" pitchFamily="2" charset="-122"/>
              </a:rPr>
              <a:t>总线上的多个部件分时共享总线 </a:t>
            </a:r>
            <a:endParaRPr lang="zh-CN" altLang="en-US" dirty="0"/>
          </a:p>
        </p:txBody>
      </p:sp>
      <p:sp>
        <p:nvSpPr>
          <p:cNvPr id="46085" name="Rectangle 4"/>
          <p:cNvSpPr>
            <a:spLocks noChangeArrowheads="1"/>
          </p:cNvSpPr>
          <p:nvPr/>
        </p:nvSpPr>
        <p:spPr bwMode="auto">
          <a:xfrm>
            <a:off x="1571625" y="2349500"/>
            <a:ext cx="1428750" cy="2232025"/>
          </a:xfrm>
          <a:prstGeom prst="rect">
            <a:avLst/>
          </a:prstGeom>
          <a:solidFill>
            <a:srgbClr val="00E4A8"/>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a:solidFill>
                  <a:srgbClr val="000000"/>
                </a:solidFill>
                <a:latin typeface="楷体" panose="02010609060101010101" pitchFamily="49" charset="-122"/>
                <a:ea typeface="楷体" panose="02010609060101010101" pitchFamily="49" charset="-122"/>
              </a:rPr>
              <a:t>发送</a:t>
            </a:r>
            <a:endParaRPr kumimoji="0" lang="zh-CN" altLang="en-US" sz="2400" b="1">
              <a:solidFill>
                <a:srgbClr val="000000"/>
              </a:solidFill>
              <a:latin typeface="楷体" panose="02010609060101010101" pitchFamily="49" charset="-122"/>
              <a:ea typeface="楷体" panose="02010609060101010101" pitchFamily="49" charset="-122"/>
            </a:endParaRPr>
          </a:p>
          <a:p>
            <a:pPr algn="ctr" eaLnBrk="1" hangingPunct="1"/>
            <a:r>
              <a:rPr kumimoji="0" lang="zh-CN" altLang="en-US" sz="2400" b="1">
                <a:solidFill>
                  <a:srgbClr val="000000"/>
                </a:solidFill>
                <a:latin typeface="楷体" panose="02010609060101010101" pitchFamily="49" charset="-122"/>
                <a:ea typeface="楷体" panose="02010609060101010101" pitchFamily="49" charset="-122"/>
              </a:rPr>
              <a:t>部件</a:t>
            </a:r>
            <a:endParaRPr kumimoji="0" lang="zh-CN" altLang="en-US" sz="2400" b="1">
              <a:solidFill>
                <a:srgbClr val="000000"/>
              </a:solidFill>
              <a:latin typeface="楷体" panose="02010609060101010101" pitchFamily="49" charset="-122"/>
              <a:ea typeface="楷体" panose="02010609060101010101" pitchFamily="49" charset="-122"/>
            </a:endParaRPr>
          </a:p>
        </p:txBody>
      </p:sp>
      <p:sp>
        <p:nvSpPr>
          <p:cNvPr id="6" name="Rectangle 5"/>
          <p:cNvSpPr>
            <a:spLocks noChangeArrowheads="1"/>
          </p:cNvSpPr>
          <p:nvPr/>
        </p:nvSpPr>
        <p:spPr bwMode="auto">
          <a:xfrm>
            <a:off x="6215063" y="2349500"/>
            <a:ext cx="1428750" cy="2232025"/>
          </a:xfrm>
          <a:prstGeom prst="rect">
            <a:avLst/>
          </a:prstGeom>
          <a:solidFill>
            <a:srgbClr val="00E4A8"/>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zh-CN" altLang="en-US" sz="2400" b="1" kern="0">
                <a:solidFill>
                  <a:srgbClr val="000000"/>
                </a:solidFill>
                <a:latin typeface="楷体" panose="02010609060101010101" pitchFamily="49" charset="-122"/>
                <a:ea typeface="楷体" panose="02010609060101010101" pitchFamily="49" charset="-122"/>
              </a:rPr>
              <a:t>接收</a:t>
            </a:r>
            <a:endParaRPr kumimoji="0" lang="zh-CN" altLang="en-US" sz="2400" b="1" kern="0">
              <a:solidFill>
                <a:srgbClr val="000000"/>
              </a:solidFill>
              <a:latin typeface="楷体" panose="02010609060101010101" pitchFamily="49" charset="-122"/>
              <a:ea typeface="楷体" panose="02010609060101010101" pitchFamily="49" charset="-122"/>
            </a:endParaRPr>
          </a:p>
          <a:p>
            <a:pPr algn="ctr" eaLnBrk="1" fontAlgn="auto" hangingPunct="1">
              <a:spcBef>
                <a:spcPts val="0"/>
              </a:spcBef>
              <a:spcAft>
                <a:spcPts val="0"/>
              </a:spcAft>
              <a:defRPr/>
            </a:pPr>
            <a:r>
              <a:rPr kumimoji="0" lang="zh-CN" altLang="en-US" sz="2400" b="1" kern="0">
                <a:solidFill>
                  <a:srgbClr val="000000"/>
                </a:solidFill>
                <a:latin typeface="楷体" panose="02010609060101010101" pitchFamily="49" charset="-122"/>
                <a:ea typeface="楷体" panose="02010609060101010101" pitchFamily="49" charset="-122"/>
              </a:rPr>
              <a:t>部件</a:t>
            </a:r>
            <a:endParaRPr kumimoji="0" lang="zh-CN" altLang="en-US" sz="2400" b="1" kern="0">
              <a:solidFill>
                <a:srgbClr val="000000"/>
              </a:solidFill>
              <a:latin typeface="楷体" panose="02010609060101010101" pitchFamily="49" charset="-122"/>
              <a:ea typeface="楷体" panose="02010609060101010101" pitchFamily="49" charset="-122"/>
            </a:endParaRPr>
          </a:p>
        </p:txBody>
      </p:sp>
      <p:sp>
        <p:nvSpPr>
          <p:cNvPr id="7" name="Line 7"/>
          <p:cNvSpPr>
            <a:spLocks noChangeShapeType="1"/>
          </p:cNvSpPr>
          <p:nvPr/>
        </p:nvSpPr>
        <p:spPr bwMode="auto">
          <a:xfrm>
            <a:off x="3000375" y="2492375"/>
            <a:ext cx="3214688" cy="0"/>
          </a:xfrm>
          <a:prstGeom prst="line">
            <a:avLst/>
          </a:prstGeom>
          <a:noFill/>
          <a:ln w="19050">
            <a:solidFill>
              <a:srgbClr val="000000"/>
            </a:solidFill>
            <a:rou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8" name="Line 8"/>
          <p:cNvSpPr>
            <a:spLocks noChangeShapeType="1"/>
          </p:cNvSpPr>
          <p:nvPr/>
        </p:nvSpPr>
        <p:spPr bwMode="auto">
          <a:xfrm>
            <a:off x="3000375" y="2765425"/>
            <a:ext cx="3214688" cy="0"/>
          </a:xfrm>
          <a:prstGeom prst="line">
            <a:avLst/>
          </a:prstGeom>
          <a:noFill/>
          <a:ln w="19050">
            <a:solidFill>
              <a:srgbClr val="000000"/>
            </a:solidFill>
            <a:rou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9" name="Line 9"/>
          <p:cNvSpPr>
            <a:spLocks noChangeShapeType="1"/>
          </p:cNvSpPr>
          <p:nvPr/>
        </p:nvSpPr>
        <p:spPr bwMode="auto">
          <a:xfrm>
            <a:off x="3000375" y="3038475"/>
            <a:ext cx="3214688" cy="0"/>
          </a:xfrm>
          <a:prstGeom prst="line">
            <a:avLst/>
          </a:prstGeom>
          <a:noFill/>
          <a:ln w="19050">
            <a:solidFill>
              <a:srgbClr val="000000"/>
            </a:solidFill>
            <a:rou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0" name="Line 10"/>
          <p:cNvSpPr>
            <a:spLocks noChangeShapeType="1"/>
          </p:cNvSpPr>
          <p:nvPr/>
        </p:nvSpPr>
        <p:spPr bwMode="auto">
          <a:xfrm>
            <a:off x="3000375" y="3311525"/>
            <a:ext cx="3214688" cy="0"/>
          </a:xfrm>
          <a:prstGeom prst="line">
            <a:avLst/>
          </a:prstGeom>
          <a:noFill/>
          <a:ln w="19050">
            <a:solidFill>
              <a:srgbClr val="000000"/>
            </a:solidFill>
            <a:rou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1" name="Line 11"/>
          <p:cNvSpPr>
            <a:spLocks noChangeShapeType="1"/>
          </p:cNvSpPr>
          <p:nvPr/>
        </p:nvSpPr>
        <p:spPr bwMode="auto">
          <a:xfrm>
            <a:off x="3000375" y="3586163"/>
            <a:ext cx="3214688" cy="0"/>
          </a:xfrm>
          <a:prstGeom prst="line">
            <a:avLst/>
          </a:prstGeom>
          <a:noFill/>
          <a:ln w="19050">
            <a:solidFill>
              <a:srgbClr val="000000"/>
            </a:solidFill>
            <a:rou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2" name="Line 12"/>
          <p:cNvSpPr>
            <a:spLocks noChangeShapeType="1"/>
          </p:cNvSpPr>
          <p:nvPr/>
        </p:nvSpPr>
        <p:spPr bwMode="auto">
          <a:xfrm>
            <a:off x="3000375" y="3859213"/>
            <a:ext cx="3214688" cy="0"/>
          </a:xfrm>
          <a:prstGeom prst="line">
            <a:avLst/>
          </a:prstGeom>
          <a:noFill/>
          <a:ln w="19050">
            <a:solidFill>
              <a:srgbClr val="000000"/>
            </a:solidFill>
            <a:rou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3" name="Line 13"/>
          <p:cNvSpPr>
            <a:spLocks noChangeShapeType="1"/>
          </p:cNvSpPr>
          <p:nvPr/>
        </p:nvSpPr>
        <p:spPr bwMode="auto">
          <a:xfrm>
            <a:off x="3000375" y="4132263"/>
            <a:ext cx="3214688" cy="0"/>
          </a:xfrm>
          <a:prstGeom prst="line">
            <a:avLst/>
          </a:prstGeom>
          <a:noFill/>
          <a:ln w="19050">
            <a:solidFill>
              <a:srgbClr val="000000"/>
            </a:solidFill>
            <a:rou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4" name="Line 14"/>
          <p:cNvSpPr>
            <a:spLocks noChangeShapeType="1"/>
          </p:cNvSpPr>
          <p:nvPr/>
        </p:nvSpPr>
        <p:spPr bwMode="auto">
          <a:xfrm>
            <a:off x="3000375" y="4406900"/>
            <a:ext cx="3214688" cy="0"/>
          </a:xfrm>
          <a:prstGeom prst="line">
            <a:avLst/>
          </a:prstGeom>
          <a:noFill/>
          <a:ln w="19050">
            <a:solidFill>
              <a:srgbClr val="000000"/>
            </a:solidFill>
            <a:rou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5" name="AutoShape 6"/>
          <p:cNvSpPr>
            <a:spLocks noChangeArrowheads="1"/>
          </p:cNvSpPr>
          <p:nvPr/>
        </p:nvSpPr>
        <p:spPr bwMode="auto">
          <a:xfrm>
            <a:off x="4608513" y="2062163"/>
            <a:ext cx="1285875" cy="2806700"/>
          </a:xfrm>
          <a:prstGeom prst="rightArrow">
            <a:avLst>
              <a:gd name="adj1" fmla="val 68546"/>
              <a:gd name="adj2" fmla="val 62370"/>
            </a:avLst>
          </a:prstGeom>
          <a:solidFill>
            <a:srgbClr val="FFFFFF"/>
          </a:solidFill>
          <a:ln w="19050">
            <a:solidFill>
              <a:srgbClr val="000000"/>
            </a:solidFill>
            <a:miter lim="800000"/>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en-US" sz="1800" kern="0">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46096" name="Text Box 15"/>
          <p:cNvSpPr txBox="1">
            <a:spLocks noChangeArrowheads="1"/>
          </p:cNvSpPr>
          <p:nvPr/>
        </p:nvSpPr>
        <p:spPr bwMode="auto">
          <a:xfrm>
            <a:off x="2973388" y="2060575"/>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dirty="0">
                <a:solidFill>
                  <a:srgbClr val="3333CC"/>
                </a:solidFill>
                <a:latin typeface="楷体" panose="02010609060101010101" pitchFamily="49" charset="-122"/>
                <a:ea typeface="楷体" panose="02010609060101010101" pitchFamily="49" charset="-122"/>
              </a:rPr>
              <a:t>高位</a:t>
            </a:r>
            <a:endParaRPr kumimoji="0" lang="zh-CN" altLang="en-US" sz="2400" b="1" dirty="0">
              <a:solidFill>
                <a:srgbClr val="3333CC"/>
              </a:solidFill>
              <a:latin typeface="楷体" panose="02010609060101010101" pitchFamily="49" charset="-122"/>
              <a:ea typeface="楷体" panose="02010609060101010101" pitchFamily="49" charset="-122"/>
            </a:endParaRPr>
          </a:p>
        </p:txBody>
      </p:sp>
      <p:sp>
        <p:nvSpPr>
          <p:cNvPr id="46097" name="Text Box 16"/>
          <p:cNvSpPr txBox="1">
            <a:spLocks noChangeArrowheads="1"/>
          </p:cNvSpPr>
          <p:nvPr/>
        </p:nvSpPr>
        <p:spPr bwMode="auto">
          <a:xfrm>
            <a:off x="2987675" y="4318000"/>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a:solidFill>
                  <a:srgbClr val="3333CC"/>
                </a:solidFill>
                <a:latin typeface="楷体" panose="02010609060101010101" pitchFamily="49" charset="-122"/>
                <a:ea typeface="楷体" panose="02010609060101010101" pitchFamily="49" charset="-122"/>
              </a:rPr>
              <a:t>低位</a:t>
            </a:r>
            <a:endParaRPr kumimoji="0" lang="zh-CN" altLang="en-US" sz="2400" b="1">
              <a:solidFill>
                <a:srgbClr val="3333CC"/>
              </a:solidFill>
              <a:latin typeface="楷体" panose="02010609060101010101" pitchFamily="49" charset="-122"/>
              <a:ea typeface="楷体" panose="02010609060101010101" pitchFamily="49" charset="-122"/>
            </a:endParaRPr>
          </a:p>
        </p:txBody>
      </p:sp>
      <p:sp>
        <p:nvSpPr>
          <p:cNvPr id="46098" name="Text Box 17"/>
          <p:cNvSpPr txBox="1">
            <a:spLocks noChangeArrowheads="1"/>
          </p:cNvSpPr>
          <p:nvPr/>
        </p:nvSpPr>
        <p:spPr bwMode="auto">
          <a:xfrm>
            <a:off x="3871820" y="2179638"/>
            <a:ext cx="314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en-US" altLang="zh-CN" sz="2000" b="1">
                <a:solidFill>
                  <a:srgbClr val="3333CC"/>
                </a:solidFill>
                <a:latin typeface="楷体" panose="02010609060101010101" pitchFamily="49" charset="-122"/>
                <a:ea typeface="楷体" panose="02010609060101010101" pitchFamily="49" charset="-122"/>
              </a:rPr>
              <a:t>1</a:t>
            </a:r>
            <a:endParaRPr kumimoji="0" lang="en-US" altLang="zh-CN" sz="2000" b="1">
              <a:solidFill>
                <a:srgbClr val="3333CC"/>
              </a:solidFill>
              <a:latin typeface="楷体" panose="02010609060101010101" pitchFamily="49" charset="-122"/>
              <a:ea typeface="楷体" panose="02010609060101010101" pitchFamily="49" charset="-122"/>
            </a:endParaRPr>
          </a:p>
        </p:txBody>
      </p:sp>
      <p:sp>
        <p:nvSpPr>
          <p:cNvPr id="46099" name="Text Box 18"/>
          <p:cNvSpPr txBox="1">
            <a:spLocks noChangeArrowheads="1"/>
          </p:cNvSpPr>
          <p:nvPr/>
        </p:nvSpPr>
        <p:spPr bwMode="auto">
          <a:xfrm>
            <a:off x="3871820" y="2451100"/>
            <a:ext cx="314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en-US" altLang="zh-CN" sz="2000" b="1">
                <a:solidFill>
                  <a:srgbClr val="3333CC"/>
                </a:solidFill>
                <a:latin typeface="楷体" panose="02010609060101010101" pitchFamily="49" charset="-122"/>
                <a:ea typeface="楷体" panose="02010609060101010101" pitchFamily="49" charset="-122"/>
              </a:rPr>
              <a:t>0</a:t>
            </a:r>
            <a:endParaRPr kumimoji="0" lang="en-US" altLang="zh-CN" sz="2000" b="1">
              <a:solidFill>
                <a:srgbClr val="3333CC"/>
              </a:solidFill>
              <a:latin typeface="楷体" panose="02010609060101010101" pitchFamily="49" charset="-122"/>
              <a:ea typeface="楷体" panose="02010609060101010101" pitchFamily="49" charset="-122"/>
            </a:endParaRPr>
          </a:p>
        </p:txBody>
      </p:sp>
      <p:sp>
        <p:nvSpPr>
          <p:cNvPr id="46100" name="Text Box 19"/>
          <p:cNvSpPr txBox="1">
            <a:spLocks noChangeArrowheads="1"/>
          </p:cNvSpPr>
          <p:nvPr/>
        </p:nvSpPr>
        <p:spPr bwMode="auto">
          <a:xfrm>
            <a:off x="3871820" y="2722563"/>
            <a:ext cx="314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en-US" altLang="zh-CN" sz="2000" b="1">
                <a:solidFill>
                  <a:srgbClr val="3333CC"/>
                </a:solidFill>
                <a:latin typeface="楷体" panose="02010609060101010101" pitchFamily="49" charset="-122"/>
                <a:ea typeface="楷体" panose="02010609060101010101" pitchFamily="49" charset="-122"/>
              </a:rPr>
              <a:t>1</a:t>
            </a:r>
            <a:endParaRPr kumimoji="0" lang="en-US" altLang="zh-CN" sz="2000" b="1">
              <a:solidFill>
                <a:srgbClr val="3333CC"/>
              </a:solidFill>
              <a:latin typeface="楷体" panose="02010609060101010101" pitchFamily="49" charset="-122"/>
              <a:ea typeface="楷体" panose="02010609060101010101" pitchFamily="49" charset="-122"/>
            </a:endParaRPr>
          </a:p>
        </p:txBody>
      </p:sp>
      <p:sp>
        <p:nvSpPr>
          <p:cNvPr id="46101" name="Text Box 20"/>
          <p:cNvSpPr txBox="1">
            <a:spLocks noChangeArrowheads="1"/>
          </p:cNvSpPr>
          <p:nvPr/>
        </p:nvSpPr>
        <p:spPr bwMode="auto">
          <a:xfrm>
            <a:off x="3871820" y="3265488"/>
            <a:ext cx="314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en-US" altLang="zh-CN" sz="2000" b="1">
                <a:solidFill>
                  <a:srgbClr val="3333CC"/>
                </a:solidFill>
                <a:latin typeface="楷体" panose="02010609060101010101" pitchFamily="49" charset="-122"/>
                <a:ea typeface="楷体" panose="02010609060101010101" pitchFamily="49" charset="-122"/>
              </a:rPr>
              <a:t>1</a:t>
            </a:r>
            <a:endParaRPr kumimoji="0" lang="en-US" altLang="zh-CN" sz="2000" b="1">
              <a:solidFill>
                <a:srgbClr val="3333CC"/>
              </a:solidFill>
              <a:latin typeface="楷体" panose="02010609060101010101" pitchFamily="49" charset="-122"/>
              <a:ea typeface="楷体" panose="02010609060101010101" pitchFamily="49" charset="-122"/>
            </a:endParaRPr>
          </a:p>
        </p:txBody>
      </p:sp>
      <p:sp>
        <p:nvSpPr>
          <p:cNvPr id="46102" name="Text Box 21"/>
          <p:cNvSpPr txBox="1">
            <a:spLocks noChangeArrowheads="1"/>
          </p:cNvSpPr>
          <p:nvPr/>
        </p:nvSpPr>
        <p:spPr bwMode="auto">
          <a:xfrm>
            <a:off x="3871820" y="3536950"/>
            <a:ext cx="314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en-US" altLang="zh-CN" sz="2000" b="1">
                <a:solidFill>
                  <a:srgbClr val="3333CC"/>
                </a:solidFill>
                <a:latin typeface="楷体" panose="02010609060101010101" pitchFamily="49" charset="-122"/>
                <a:ea typeface="楷体" panose="02010609060101010101" pitchFamily="49" charset="-122"/>
              </a:rPr>
              <a:t>1</a:t>
            </a:r>
            <a:endParaRPr kumimoji="0" lang="en-US" altLang="zh-CN" sz="2000" b="1">
              <a:solidFill>
                <a:srgbClr val="3333CC"/>
              </a:solidFill>
              <a:latin typeface="楷体" panose="02010609060101010101" pitchFamily="49" charset="-122"/>
              <a:ea typeface="楷体" panose="02010609060101010101" pitchFamily="49" charset="-122"/>
            </a:endParaRPr>
          </a:p>
        </p:txBody>
      </p:sp>
      <p:sp>
        <p:nvSpPr>
          <p:cNvPr id="46103" name="Text Box 22"/>
          <p:cNvSpPr txBox="1">
            <a:spLocks noChangeArrowheads="1"/>
          </p:cNvSpPr>
          <p:nvPr/>
        </p:nvSpPr>
        <p:spPr bwMode="auto">
          <a:xfrm>
            <a:off x="3871820" y="3808413"/>
            <a:ext cx="314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en-US" altLang="zh-CN" sz="2000" b="1">
                <a:solidFill>
                  <a:srgbClr val="3333CC"/>
                </a:solidFill>
                <a:latin typeface="楷体" panose="02010609060101010101" pitchFamily="49" charset="-122"/>
                <a:ea typeface="楷体" panose="02010609060101010101" pitchFamily="49" charset="-122"/>
              </a:rPr>
              <a:t>0</a:t>
            </a:r>
            <a:endParaRPr kumimoji="0" lang="en-US" altLang="zh-CN" sz="2000" b="1">
              <a:solidFill>
                <a:srgbClr val="3333CC"/>
              </a:solidFill>
              <a:latin typeface="楷体" panose="02010609060101010101" pitchFamily="49" charset="-122"/>
              <a:ea typeface="楷体" panose="02010609060101010101" pitchFamily="49" charset="-122"/>
            </a:endParaRPr>
          </a:p>
        </p:txBody>
      </p:sp>
      <p:sp>
        <p:nvSpPr>
          <p:cNvPr id="46104" name="Text Box 23"/>
          <p:cNvSpPr txBox="1">
            <a:spLocks noChangeArrowheads="1"/>
          </p:cNvSpPr>
          <p:nvPr/>
        </p:nvSpPr>
        <p:spPr bwMode="auto">
          <a:xfrm>
            <a:off x="3871820" y="4079875"/>
            <a:ext cx="314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en-US" altLang="zh-CN" sz="2000" b="1">
                <a:solidFill>
                  <a:srgbClr val="3333CC"/>
                </a:solidFill>
                <a:latin typeface="楷体" panose="02010609060101010101" pitchFamily="49" charset="-122"/>
                <a:ea typeface="楷体" panose="02010609060101010101" pitchFamily="49" charset="-122"/>
              </a:rPr>
              <a:t>0</a:t>
            </a:r>
            <a:endParaRPr kumimoji="0" lang="en-US" altLang="zh-CN" sz="2000" b="1">
              <a:solidFill>
                <a:srgbClr val="3333CC"/>
              </a:solidFill>
              <a:latin typeface="楷体" panose="02010609060101010101" pitchFamily="49" charset="-122"/>
              <a:ea typeface="楷体" panose="02010609060101010101" pitchFamily="49" charset="-122"/>
            </a:endParaRPr>
          </a:p>
        </p:txBody>
      </p:sp>
      <p:sp>
        <p:nvSpPr>
          <p:cNvPr id="46105" name="Text Box 24"/>
          <p:cNvSpPr txBox="1">
            <a:spLocks noChangeArrowheads="1"/>
          </p:cNvSpPr>
          <p:nvPr/>
        </p:nvSpPr>
        <p:spPr bwMode="auto">
          <a:xfrm>
            <a:off x="3871820" y="2994025"/>
            <a:ext cx="314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en-US" altLang="zh-CN" sz="2000" b="1">
                <a:solidFill>
                  <a:srgbClr val="3333CC"/>
                </a:solidFill>
                <a:latin typeface="楷体" panose="02010609060101010101" pitchFamily="49" charset="-122"/>
                <a:ea typeface="楷体" panose="02010609060101010101" pitchFamily="49" charset="-122"/>
              </a:rPr>
              <a:t>0</a:t>
            </a:r>
            <a:endParaRPr kumimoji="0" lang="en-US" altLang="zh-CN" sz="2000" b="1">
              <a:solidFill>
                <a:srgbClr val="3333CC"/>
              </a:solidFill>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defRPr/>
            </a:pPr>
            <a:r>
              <a:rPr lang="zh-CN" altLang="en-US">
                <a:latin typeface="宋体" panose="02010600030101010101" pitchFamily="2" charset="-122"/>
              </a:rPr>
              <a:t>接口的基本概念</a:t>
            </a:r>
            <a:endParaRPr lang="zh-CN" altLang="en-US">
              <a:latin typeface="宋体" panose="02010600030101010101" pitchFamily="2" charset="-122"/>
            </a:endParaRPr>
          </a:p>
        </p:txBody>
      </p:sp>
      <p:sp>
        <p:nvSpPr>
          <p:cNvPr id="47107" name="Rectangle 3"/>
          <p:cNvSpPr>
            <a:spLocks noGrp="1" noChangeArrowheads="1"/>
          </p:cNvSpPr>
          <p:nvPr>
            <p:ph idx="1"/>
          </p:nvPr>
        </p:nvSpPr>
        <p:spPr/>
        <p:txBody>
          <a:bodyPr/>
          <a:lstStyle/>
          <a:p>
            <a:pPr eaLnBrk="1" hangingPunct="1"/>
            <a:r>
              <a:rPr lang="zh-CN" altLang="en-US"/>
              <a:t>接口是</a:t>
            </a:r>
            <a:r>
              <a:rPr lang="en-US" altLang="zh-CN"/>
              <a:t>CPU</a:t>
            </a:r>
            <a:r>
              <a:rPr lang="zh-CN" altLang="en-US"/>
              <a:t>和主存、外设之间通过总线进行连接的逻辑部件</a:t>
            </a:r>
            <a:endParaRPr lang="zh-CN" altLang="en-US"/>
          </a:p>
          <a:p>
            <a:pPr eaLnBrk="1" hangingPunct="1"/>
            <a:r>
              <a:rPr lang="zh-CN" altLang="en-US">
                <a:latin typeface="宋体" panose="02010600030101010101" pitchFamily="2" charset="-122"/>
              </a:rPr>
              <a:t>接口的典型功能：控制、缓冲、状态、转换和程序中断</a:t>
            </a:r>
            <a:endParaRPr lang="zh-CN" altLang="en-US">
              <a:latin typeface="宋体" panose="02010600030101010101" pitchFamily="2" charset="-122"/>
            </a:endParaRPr>
          </a:p>
          <a:p>
            <a:pPr eaLnBrk="1" hangingPunct="1">
              <a:buFont typeface="Wingdings 2" charset="2"/>
              <a:buNone/>
            </a:pPr>
            <a:r>
              <a:rPr lang="zh-CN" altLang="en-US">
                <a:latin typeface="宋体" panose="02010600030101010101" pitchFamily="2" charset="-122"/>
              </a:rPr>
              <a:t> </a:t>
            </a:r>
            <a:endParaRPr lang="zh-CN" altLang="en-US"/>
          </a:p>
        </p:txBody>
      </p:sp>
      <p:sp>
        <p:nvSpPr>
          <p:cNvPr id="21512" name="Rectangle 8"/>
          <p:cNvSpPr>
            <a:spLocks noChangeArrowheads="1"/>
          </p:cNvSpPr>
          <p:nvPr/>
        </p:nvSpPr>
        <p:spPr bwMode="auto">
          <a:xfrm>
            <a:off x="1690688" y="3573463"/>
            <a:ext cx="1296987" cy="2232025"/>
          </a:xfrm>
          <a:prstGeom prst="rect">
            <a:avLst/>
          </a:prstGeom>
          <a:solidFill>
            <a:schemeClr val="accent1"/>
          </a:solidFill>
          <a:ln w="19050" algn="ctr">
            <a:noFill/>
            <a:miter lim="800000"/>
            <a:tailEnd type="none" w="lg" len="lg"/>
          </a:ln>
          <a:effectLst>
            <a:outerShdw dist="35921" dir="2700000" algn="ctr" rotWithShape="0">
              <a:schemeClr val="tx1">
                <a:lumMod val="50000"/>
                <a:lumOff val="50000"/>
              </a:schemeClr>
            </a:outerShdw>
          </a:effectLst>
        </p:spPr>
        <p:txBody>
          <a:bodyPr wrap="none" anchor="ctr"/>
          <a:lstStyle/>
          <a:p>
            <a:pPr algn="ctr" eaLnBrk="1" hangingPunct="1">
              <a:defRPr/>
            </a:pPr>
            <a:r>
              <a:rPr lang="en-US" altLang="zh-CN" b="1">
                <a:solidFill>
                  <a:schemeClr val="bg1"/>
                </a:solidFill>
                <a:effectLst>
                  <a:outerShdw blurRad="38100" dist="38100" dir="2700000" algn="tl">
                    <a:srgbClr val="000000"/>
                  </a:outerShdw>
                </a:effectLst>
                <a:latin typeface="Times New Roman" panose="02020603050405020304" pitchFamily="18" charset="0"/>
                <a:ea typeface="楷体" panose="02010609060101010101" pitchFamily="49" charset="-122"/>
                <a:cs typeface="Times New Roman" panose="02020603050405020304" pitchFamily="18" charset="0"/>
              </a:rPr>
              <a:t>CPU</a:t>
            </a:r>
            <a:endParaRPr lang="en-US" altLang="zh-CN" b="1">
              <a:solidFill>
                <a:schemeClr val="bg1"/>
              </a:solidFill>
              <a:effectLst>
                <a:outerShdw blurRad="38100" dist="38100" dir="2700000" algn="tl">
                  <a:srgbClr val="000000"/>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1513" name="Rectangle 9"/>
          <p:cNvSpPr>
            <a:spLocks noChangeArrowheads="1"/>
          </p:cNvSpPr>
          <p:nvPr/>
        </p:nvSpPr>
        <p:spPr bwMode="auto">
          <a:xfrm>
            <a:off x="4140200" y="3573463"/>
            <a:ext cx="1296988" cy="2232025"/>
          </a:xfrm>
          <a:prstGeom prst="rect">
            <a:avLst/>
          </a:prstGeom>
          <a:solidFill>
            <a:srgbClr val="800080"/>
          </a:solidFill>
          <a:ln w="19050" algn="ctr">
            <a:noFill/>
            <a:miter lim="800000"/>
            <a:tailEnd type="none" w="lg" len="lg"/>
          </a:ln>
          <a:effectLst>
            <a:outerShdw dist="35921" dir="2700000" algn="ctr" rotWithShape="0">
              <a:schemeClr val="tx1">
                <a:lumMod val="50000"/>
                <a:lumOff val="50000"/>
              </a:schemeClr>
            </a:outerShdw>
          </a:effec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zh-CN" altLang="en-US" sz="24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rPr>
              <a:t>适配器</a:t>
            </a:r>
            <a:endParaRPr lang="zh-CN" altLang="en-US" sz="24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endParaRPr>
          </a:p>
          <a:p>
            <a:pPr algn="ctr" eaLnBrk="1" hangingPunct="1">
              <a:defRPr/>
            </a:pPr>
            <a:r>
              <a:rPr lang="zh-CN" altLang="en-US" sz="24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rPr>
              <a:t>（接口）</a:t>
            </a:r>
            <a:endParaRPr lang="zh-CN" altLang="en-US" sz="2400" b="1">
              <a:solidFill>
                <a:schemeClr val="bg1"/>
              </a:solidFill>
              <a:effectLst>
                <a:outerShdw blurRad="38100" dist="38100" dir="2700000" algn="tl">
                  <a:srgbClr val="000000"/>
                </a:outerShdw>
              </a:effectLst>
              <a:ea typeface="楷体" panose="02010609060101010101" pitchFamily="49" charset="-122"/>
              <a:cs typeface="Times New Roman" panose="02020603050405020304" pitchFamily="18" charset="0"/>
            </a:endParaRPr>
          </a:p>
        </p:txBody>
      </p:sp>
      <p:sp>
        <p:nvSpPr>
          <p:cNvPr id="21514" name="Rectangle 10"/>
          <p:cNvSpPr>
            <a:spLocks noChangeArrowheads="1"/>
          </p:cNvSpPr>
          <p:nvPr/>
        </p:nvSpPr>
        <p:spPr bwMode="auto">
          <a:xfrm>
            <a:off x="6588125" y="3573463"/>
            <a:ext cx="1296988" cy="2232025"/>
          </a:xfrm>
          <a:prstGeom prst="rect">
            <a:avLst/>
          </a:prstGeom>
          <a:solidFill>
            <a:srgbClr val="008000"/>
          </a:solidFill>
          <a:ln w="19050" algn="ctr">
            <a:noFill/>
            <a:miter lim="800000"/>
            <a:tailEnd type="none" w="lg" len="lg"/>
          </a:ln>
          <a:effectLst>
            <a:outerShdw dist="35921" dir="2700000" algn="ctr" rotWithShape="0">
              <a:schemeClr val="tx1">
                <a:lumMod val="50000"/>
                <a:lumOff val="50000"/>
              </a:schemeClr>
            </a:outerShdw>
          </a:effectLst>
        </p:spPr>
        <p:txBody>
          <a:bodyPr wrap="none" anchor="ctr"/>
          <a:lstStyle/>
          <a:p>
            <a:pPr algn="ctr" eaLnBrk="1" hangingPunct="1">
              <a:defRPr/>
            </a:pPr>
            <a:r>
              <a:rPr lang="en-US" altLang="zh-CN" sz="2800" b="1">
                <a:solidFill>
                  <a:schemeClr val="bg1"/>
                </a:solidFill>
                <a:effectLst>
                  <a:outerShdw blurRad="38100" dist="38100" dir="2700000" algn="tl">
                    <a:srgbClr val="000000"/>
                  </a:outerShdw>
                </a:effectLst>
                <a:latin typeface="Times New Roman" panose="02020603050405020304" pitchFamily="18" charset="0"/>
                <a:ea typeface="楷体" panose="02010609060101010101" pitchFamily="49" charset="-122"/>
                <a:cs typeface="Times New Roman" panose="02020603050405020304" pitchFamily="18" charset="0"/>
              </a:rPr>
              <a:t>I/O</a:t>
            </a:r>
            <a:r>
              <a:rPr lang="zh-CN" altLang="en-US" sz="2800" b="1">
                <a:solidFill>
                  <a:schemeClr val="bg1"/>
                </a:solidFill>
                <a:effectLst>
                  <a:outerShdw blurRad="38100" dist="38100" dir="2700000" algn="tl">
                    <a:srgbClr val="000000"/>
                  </a:outerShdw>
                </a:effectLst>
                <a:latin typeface="Times New Roman" panose="02020603050405020304" pitchFamily="18" charset="0"/>
                <a:ea typeface="楷体" panose="02010609060101010101" pitchFamily="49" charset="-122"/>
                <a:cs typeface="Times New Roman" panose="02020603050405020304" pitchFamily="18" charset="0"/>
              </a:rPr>
              <a:t>设备</a:t>
            </a:r>
            <a:endParaRPr lang="zh-CN" altLang="en-US" sz="2800" b="1">
              <a:solidFill>
                <a:schemeClr val="bg1"/>
              </a:solidFill>
              <a:effectLst>
                <a:outerShdw blurRad="38100" dist="38100" dir="2700000" algn="tl">
                  <a:srgbClr val="000000"/>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7112" name="AutoShape 11"/>
          <p:cNvSpPr>
            <a:spLocks noChangeArrowheads="1"/>
          </p:cNvSpPr>
          <p:nvPr/>
        </p:nvSpPr>
        <p:spPr bwMode="auto">
          <a:xfrm>
            <a:off x="2987675" y="3860800"/>
            <a:ext cx="1152525" cy="215900"/>
          </a:xfrm>
          <a:prstGeom prst="rightArrow">
            <a:avLst>
              <a:gd name="adj1" fmla="val 48889"/>
              <a:gd name="adj2" fmla="val 103675"/>
            </a:avLst>
          </a:prstGeom>
          <a:solidFill>
            <a:srgbClr val="0070C0"/>
          </a:solidFill>
          <a:ln>
            <a:noFill/>
          </a:ln>
          <a:effectLst>
            <a:outerShdw dist="35921" dir="2700000" algn="ctr" rotWithShape="0">
              <a:schemeClr val="tx1">
                <a:lumMod val="50000"/>
                <a:lumOff val="50000"/>
              </a:schemeClr>
            </a:outerShdw>
          </a:effec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47113" name="AutoShape 12"/>
          <p:cNvSpPr>
            <a:spLocks noChangeArrowheads="1"/>
          </p:cNvSpPr>
          <p:nvPr/>
        </p:nvSpPr>
        <p:spPr bwMode="auto">
          <a:xfrm>
            <a:off x="2987675" y="4581525"/>
            <a:ext cx="1152525" cy="215900"/>
          </a:xfrm>
          <a:prstGeom prst="leftRightArrow">
            <a:avLst>
              <a:gd name="adj1" fmla="val 50000"/>
              <a:gd name="adj2" fmla="val 86030"/>
            </a:avLst>
          </a:prstGeom>
          <a:solidFill>
            <a:srgbClr val="0070C0"/>
          </a:solidFill>
          <a:ln>
            <a:noFill/>
          </a:ln>
          <a:effectLst>
            <a:outerShdw dist="35921" dir="2700000" algn="ctr" rotWithShape="0">
              <a:schemeClr val="tx1">
                <a:lumMod val="50000"/>
                <a:lumOff val="50000"/>
              </a:schemeClr>
            </a:outerShdw>
          </a:effec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47114" name="AutoShape 13"/>
          <p:cNvSpPr>
            <a:spLocks noChangeArrowheads="1"/>
          </p:cNvSpPr>
          <p:nvPr/>
        </p:nvSpPr>
        <p:spPr bwMode="auto">
          <a:xfrm>
            <a:off x="2987675" y="5300663"/>
            <a:ext cx="1152525" cy="215900"/>
          </a:xfrm>
          <a:prstGeom prst="leftRightArrow">
            <a:avLst>
              <a:gd name="adj1" fmla="val 50000"/>
              <a:gd name="adj2" fmla="val 86030"/>
            </a:avLst>
          </a:prstGeom>
          <a:solidFill>
            <a:srgbClr val="0070C0"/>
          </a:solidFill>
          <a:ln>
            <a:noFill/>
          </a:ln>
          <a:effectLst>
            <a:outerShdw dist="35921" dir="2700000" algn="ctr" rotWithShape="0">
              <a:schemeClr val="tx1">
                <a:lumMod val="50000"/>
                <a:lumOff val="50000"/>
              </a:schemeClr>
            </a:outerShdw>
          </a:effec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47115" name="AutoShape 14"/>
          <p:cNvSpPr>
            <a:spLocks noChangeArrowheads="1"/>
          </p:cNvSpPr>
          <p:nvPr/>
        </p:nvSpPr>
        <p:spPr bwMode="auto">
          <a:xfrm>
            <a:off x="5435600" y="4581525"/>
            <a:ext cx="1152525" cy="215900"/>
          </a:xfrm>
          <a:prstGeom prst="leftRightArrow">
            <a:avLst>
              <a:gd name="adj1" fmla="val 50000"/>
              <a:gd name="adj2" fmla="val 86030"/>
            </a:avLst>
          </a:prstGeom>
          <a:solidFill>
            <a:srgbClr val="0070C0"/>
          </a:solidFill>
          <a:ln>
            <a:noFill/>
          </a:ln>
          <a:effectLst>
            <a:outerShdw dist="35921" dir="2700000" algn="ctr" rotWithShape="0">
              <a:schemeClr val="tx1">
                <a:lumMod val="50000"/>
                <a:lumOff val="50000"/>
              </a:schemeClr>
            </a:outerShdw>
          </a:effec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21519" name="Text Box 15"/>
          <p:cNvSpPr txBox="1">
            <a:spLocks noChangeArrowheads="1"/>
          </p:cNvSpPr>
          <p:nvPr/>
        </p:nvSpPr>
        <p:spPr bwMode="auto">
          <a:xfrm>
            <a:off x="3132138" y="3573463"/>
            <a:ext cx="798512" cy="336550"/>
          </a:xfrm>
          <a:prstGeom prst="rect">
            <a:avLst/>
          </a:prstGeom>
          <a:noFill/>
          <a:ln w="19050" algn="ctr">
            <a:noFill/>
            <a:miter lim="800000"/>
            <a:tailEnd type="none" w="lg" len="lg"/>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zh-CN" altLang="en-US" sz="1600" b="1">
                <a:effectLst>
                  <a:outerShdw blurRad="38100" dist="38100" dir="2700000" algn="tl">
                    <a:srgbClr val="C0C0C0"/>
                  </a:outerShdw>
                </a:effectLst>
                <a:ea typeface="楷体" panose="02010609060101010101" pitchFamily="49" charset="-122"/>
                <a:cs typeface="Times New Roman" panose="02020603050405020304" pitchFamily="18" charset="0"/>
              </a:rPr>
              <a:t>地址线</a:t>
            </a:r>
            <a:endParaRPr lang="zh-CN" altLang="en-US" sz="1600" b="1">
              <a:effectLst>
                <a:outerShdw blurRad="38100" dist="38100" dir="2700000" algn="tl">
                  <a:srgbClr val="C0C0C0"/>
                </a:outerShdw>
              </a:effectLst>
              <a:ea typeface="楷体" panose="02010609060101010101" pitchFamily="49" charset="-122"/>
              <a:cs typeface="Times New Roman" panose="02020603050405020304" pitchFamily="18" charset="0"/>
            </a:endParaRPr>
          </a:p>
        </p:txBody>
      </p:sp>
      <p:sp>
        <p:nvSpPr>
          <p:cNvPr id="21520" name="Text Box 16"/>
          <p:cNvSpPr txBox="1">
            <a:spLocks noChangeArrowheads="1"/>
          </p:cNvSpPr>
          <p:nvPr/>
        </p:nvSpPr>
        <p:spPr bwMode="auto">
          <a:xfrm>
            <a:off x="3130550" y="4292600"/>
            <a:ext cx="798513" cy="336550"/>
          </a:xfrm>
          <a:prstGeom prst="rect">
            <a:avLst/>
          </a:prstGeom>
          <a:noFill/>
          <a:ln w="19050" algn="ctr">
            <a:noFill/>
            <a:miter lim="800000"/>
            <a:tailEnd type="none" w="lg" len="lg"/>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zh-CN" altLang="en-US" sz="1600" b="1">
                <a:effectLst>
                  <a:outerShdw blurRad="38100" dist="38100" dir="2700000" algn="tl">
                    <a:srgbClr val="C0C0C0"/>
                  </a:outerShdw>
                </a:effectLst>
                <a:ea typeface="楷体" panose="02010609060101010101" pitchFamily="49" charset="-122"/>
                <a:cs typeface="Times New Roman" panose="02020603050405020304" pitchFamily="18" charset="0"/>
              </a:rPr>
              <a:t>数据线</a:t>
            </a:r>
            <a:endParaRPr lang="zh-CN" altLang="en-US" sz="1600" b="1">
              <a:effectLst>
                <a:outerShdw blurRad="38100" dist="38100" dir="2700000" algn="tl">
                  <a:srgbClr val="C0C0C0"/>
                </a:outerShdw>
              </a:effectLst>
              <a:ea typeface="楷体" panose="02010609060101010101" pitchFamily="49" charset="-122"/>
              <a:cs typeface="Times New Roman" panose="02020603050405020304" pitchFamily="18" charset="0"/>
            </a:endParaRPr>
          </a:p>
        </p:txBody>
      </p:sp>
      <p:sp>
        <p:nvSpPr>
          <p:cNvPr id="21521" name="Text Box 17"/>
          <p:cNvSpPr txBox="1">
            <a:spLocks noChangeArrowheads="1"/>
          </p:cNvSpPr>
          <p:nvPr/>
        </p:nvSpPr>
        <p:spPr bwMode="auto">
          <a:xfrm>
            <a:off x="3195638" y="5013325"/>
            <a:ext cx="798512" cy="336550"/>
          </a:xfrm>
          <a:prstGeom prst="rect">
            <a:avLst/>
          </a:prstGeom>
          <a:noFill/>
          <a:ln w="19050" algn="ctr">
            <a:noFill/>
            <a:miter lim="800000"/>
            <a:tailEnd type="none" w="lg" len="lg"/>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zh-CN" altLang="en-US" sz="1600" b="1">
                <a:effectLst>
                  <a:outerShdw blurRad="38100" dist="38100" dir="2700000" algn="tl">
                    <a:srgbClr val="C0C0C0"/>
                  </a:outerShdw>
                </a:effectLst>
                <a:ea typeface="楷体" panose="02010609060101010101" pitchFamily="49" charset="-122"/>
                <a:cs typeface="Times New Roman" panose="02020603050405020304" pitchFamily="18" charset="0"/>
              </a:rPr>
              <a:t>状态线</a:t>
            </a:r>
            <a:endParaRPr lang="zh-CN" altLang="en-US" sz="1600" b="1">
              <a:effectLst>
                <a:outerShdw blurRad="38100" dist="38100" dir="2700000" algn="tl">
                  <a:srgbClr val="C0C0C0"/>
                </a:outerShdw>
              </a:effectLst>
              <a:ea typeface="楷体" panose="02010609060101010101" pitchFamily="49" charset="-122"/>
              <a:cs typeface="Times New Roman" panose="02020603050405020304" pitchFamily="18" charset="0"/>
            </a:endParaRPr>
          </a:p>
        </p:txBody>
      </p:sp>
    </p:spTree>
  </p:cSld>
  <p:clrMapOvr>
    <a:masterClrMapping/>
  </p:clrMapOvr>
  <p:transition spd="med">
    <p:pull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defRPr/>
            </a:pPr>
            <a:r>
              <a:rPr lang="zh-CN" altLang="en-US"/>
              <a:t>例</a:t>
            </a:r>
            <a:r>
              <a:rPr lang="en-US" altLang="zh-CN"/>
              <a:t>2</a:t>
            </a:r>
            <a:endParaRPr lang="en-US" altLang="zh-CN"/>
          </a:p>
        </p:txBody>
      </p:sp>
      <p:sp>
        <p:nvSpPr>
          <p:cNvPr id="90115" name="Rectangle 3"/>
          <p:cNvSpPr>
            <a:spLocks noGrp="1" noChangeArrowheads="1"/>
          </p:cNvSpPr>
          <p:nvPr>
            <p:ph idx="1"/>
          </p:nvPr>
        </p:nvSpPr>
        <p:spPr>
          <a:xfrm>
            <a:off x="152400" y="1084729"/>
            <a:ext cx="8785225" cy="5400675"/>
          </a:xfrm>
        </p:spPr>
        <p:txBody>
          <a:bodyPr/>
          <a:lstStyle/>
          <a:p>
            <a:pPr marL="0" indent="0" eaLnBrk="1" hangingPunct="1">
              <a:buFont typeface="Wingdings 2" charset="2"/>
              <a:buNone/>
            </a:pPr>
            <a:r>
              <a:rPr lang="zh-CN" altLang="en-US" dirty="0"/>
              <a:t>    </a:t>
            </a:r>
            <a:r>
              <a:rPr lang="zh-CN" altLang="en-US" sz="2400" dirty="0"/>
              <a:t>利用串行方式传送字符，把</a:t>
            </a:r>
            <a:r>
              <a:rPr lang="zh-CN" altLang="en-US" sz="2400" u="sng" dirty="0"/>
              <a:t>每秒钟传输码元符号的个数称为波特率</a:t>
            </a:r>
            <a:r>
              <a:rPr lang="zh-CN" altLang="en-US" sz="2400" dirty="0"/>
              <a:t>。假设数据传送速率是</a:t>
            </a:r>
            <a:r>
              <a:rPr lang="en-US" altLang="zh-CN" sz="2400" dirty="0"/>
              <a:t>120</a:t>
            </a:r>
            <a:r>
              <a:rPr lang="zh-CN" altLang="en-US" sz="2400" dirty="0"/>
              <a:t>个字符</a:t>
            </a:r>
            <a:r>
              <a:rPr lang="en-US" altLang="zh-CN" sz="2400" dirty="0"/>
              <a:t>/</a:t>
            </a:r>
            <a:r>
              <a:rPr lang="zh-CN" altLang="en-US" sz="2400" dirty="0"/>
              <a:t>秒，每一个字符格式规定包含</a:t>
            </a:r>
            <a:r>
              <a:rPr lang="en-US" altLang="zh-CN" sz="2400" dirty="0"/>
              <a:t>10bit(</a:t>
            </a:r>
            <a:r>
              <a:rPr lang="zh-CN" altLang="en-US" sz="2400" dirty="0"/>
              <a:t>起始位、停止位、</a:t>
            </a:r>
            <a:r>
              <a:rPr lang="en-US" altLang="zh-CN" sz="2400" dirty="0"/>
              <a:t>8</a:t>
            </a:r>
            <a:r>
              <a:rPr lang="zh-CN" altLang="en-US" sz="2400" dirty="0"/>
              <a:t>个数据位</a:t>
            </a:r>
            <a:r>
              <a:rPr lang="en-US" altLang="zh-CN" sz="2400" dirty="0"/>
              <a:t>)</a:t>
            </a:r>
            <a:r>
              <a:rPr lang="zh-CN" altLang="en-US" sz="2400" dirty="0"/>
              <a:t>，问传送的波特率是多少？每个</a:t>
            </a:r>
            <a:r>
              <a:rPr lang="en-US" altLang="zh-CN" sz="2400" dirty="0"/>
              <a:t>bit</a:t>
            </a:r>
            <a:r>
              <a:rPr lang="zh-CN" altLang="en-US" sz="2400" dirty="0"/>
              <a:t>占用的时间是多少</a:t>
            </a:r>
            <a:r>
              <a:rPr lang="en-US" altLang="zh-CN" sz="2400" dirty="0"/>
              <a:t>?</a:t>
            </a:r>
            <a:endParaRPr lang="en-US" altLang="zh-CN" sz="2400" dirty="0"/>
          </a:p>
          <a:p>
            <a:pPr marL="0" indent="0" eaLnBrk="1" hangingPunct="1">
              <a:buFont typeface="Wingdings 2" charset="2"/>
              <a:buNone/>
            </a:pPr>
            <a:endParaRPr lang="en-US" altLang="zh-CN" sz="2400" dirty="0"/>
          </a:p>
          <a:p>
            <a:pPr marL="0" indent="0" eaLnBrk="1" hangingPunct="1">
              <a:buFont typeface="Wingdings 2" charset="2"/>
              <a:buNone/>
            </a:pPr>
            <a:endParaRPr lang="en-US" altLang="zh-CN" sz="2400" dirty="0"/>
          </a:p>
          <a:p>
            <a:pPr marL="0" indent="0" eaLnBrk="1" hangingPunct="1">
              <a:buFont typeface="Wingdings 2" charset="2"/>
              <a:buNone/>
            </a:pPr>
            <a:endParaRPr lang="en-US" altLang="zh-CN" sz="2400" dirty="0"/>
          </a:p>
          <a:p>
            <a:pPr marL="0" indent="0" eaLnBrk="1" hangingPunct="1">
              <a:buFont typeface="Wingdings 2" charset="2"/>
              <a:buNone/>
            </a:pPr>
            <a:r>
              <a:rPr lang="zh-CN" altLang="en-US" sz="2400" dirty="0">
                <a:solidFill>
                  <a:srgbClr val="C00000"/>
                </a:solidFill>
              </a:rPr>
              <a:t>注：比特率</a:t>
            </a:r>
            <a:r>
              <a:rPr lang="en-US" altLang="zh-CN" sz="2400" dirty="0">
                <a:solidFill>
                  <a:srgbClr val="C00000"/>
                </a:solidFill>
              </a:rPr>
              <a:t>=</a:t>
            </a:r>
            <a:r>
              <a:rPr lang="zh-CN" altLang="en-US" sz="2400" dirty="0">
                <a:solidFill>
                  <a:srgbClr val="C00000"/>
                </a:solidFill>
              </a:rPr>
              <a:t>波特率</a:t>
            </a:r>
            <a:r>
              <a:rPr lang="en-US" altLang="zh-CN" sz="2400" dirty="0">
                <a:solidFill>
                  <a:srgbClr val="C00000"/>
                </a:solidFill>
                <a:sym typeface="Symbol" panose="05050102010706020507" pitchFamily="18" charset="2"/>
              </a:rPr>
              <a:t></a:t>
            </a:r>
            <a:r>
              <a:rPr lang="zh-CN" altLang="en-US" sz="2400" dirty="0">
                <a:solidFill>
                  <a:srgbClr val="C00000"/>
                </a:solidFill>
              </a:rPr>
              <a:t>单个调制状态对应的二进制位数</a:t>
            </a:r>
            <a:endParaRPr lang="en-US" altLang="zh-CN" sz="2400" dirty="0">
              <a:solidFill>
                <a:srgbClr val="C00000"/>
              </a:solidFill>
            </a:endParaRPr>
          </a:p>
          <a:p>
            <a:pPr marL="0" indent="0" eaLnBrk="1" hangingPunct="1">
              <a:buFont typeface="Wingdings 2" charset="2"/>
              <a:buNone/>
            </a:pPr>
            <a:r>
              <a:rPr lang="zh-CN" altLang="en-US" sz="2400" dirty="0"/>
              <a:t>解： 数据传送的比特率：</a:t>
            </a:r>
            <a:r>
              <a:rPr lang="en-US" altLang="zh-CN" sz="2400" dirty="0">
                <a:solidFill>
                  <a:srgbClr val="000000"/>
                </a:solidFill>
              </a:rPr>
              <a:t> 10</a:t>
            </a:r>
            <a:r>
              <a:rPr lang="zh-CN" altLang="en-US" sz="2400" dirty="0">
                <a:solidFill>
                  <a:srgbClr val="000000"/>
                </a:solidFill>
              </a:rPr>
              <a:t>位</a:t>
            </a:r>
            <a:r>
              <a:rPr lang="en-US" altLang="zh-CN" sz="2400" dirty="0">
                <a:solidFill>
                  <a:srgbClr val="000000"/>
                </a:solidFill>
              </a:rPr>
              <a:t>×120/</a:t>
            </a:r>
            <a:r>
              <a:rPr lang="zh-CN" altLang="en-US" sz="2400" dirty="0">
                <a:solidFill>
                  <a:srgbClr val="000000"/>
                </a:solidFill>
              </a:rPr>
              <a:t>秒</a:t>
            </a:r>
            <a:r>
              <a:rPr lang="en-US" altLang="zh-CN" sz="2400" dirty="0">
                <a:solidFill>
                  <a:srgbClr val="000000"/>
                </a:solidFill>
              </a:rPr>
              <a:t>=1200bit/</a:t>
            </a:r>
            <a:r>
              <a:rPr lang="zh-CN" altLang="en-US" sz="2400" dirty="0">
                <a:solidFill>
                  <a:srgbClr val="000000"/>
                </a:solidFill>
              </a:rPr>
              <a:t>秒</a:t>
            </a:r>
            <a:endParaRPr lang="en-US" altLang="zh-CN" sz="2400" dirty="0">
              <a:solidFill>
                <a:srgbClr val="000000"/>
              </a:solidFill>
            </a:endParaRPr>
          </a:p>
          <a:p>
            <a:pPr marL="0" indent="0" eaLnBrk="1" hangingPunct="1">
              <a:buFont typeface="Wingdings 2" charset="2"/>
              <a:buNone/>
            </a:pPr>
            <a:r>
              <a:rPr lang="en-US" altLang="zh-CN" sz="2400" dirty="0">
                <a:solidFill>
                  <a:srgbClr val="000000"/>
                </a:solidFill>
              </a:rPr>
              <a:t>         </a:t>
            </a:r>
            <a:r>
              <a:rPr lang="zh-CN" altLang="en-US" sz="2400" dirty="0"/>
              <a:t>假定单个调制状态（符号）对应</a:t>
            </a:r>
            <a:r>
              <a:rPr lang="en-US" altLang="zh-CN" sz="2400" dirty="0"/>
              <a:t>1bit</a:t>
            </a:r>
            <a:r>
              <a:rPr lang="zh-CN" altLang="en-US" sz="2400" dirty="0"/>
              <a:t>，则</a:t>
            </a:r>
            <a:endParaRPr lang="en-US" altLang="zh-CN" sz="2400" dirty="0"/>
          </a:p>
          <a:p>
            <a:pPr marL="0" indent="0" eaLnBrk="1" hangingPunct="1">
              <a:buFont typeface="Wingdings 2" charset="2"/>
              <a:buNone/>
            </a:pPr>
            <a:r>
              <a:rPr lang="en-US" altLang="zh-CN" sz="2400" dirty="0"/>
              <a:t>         </a:t>
            </a:r>
            <a:r>
              <a:rPr lang="zh-CN" altLang="en-US" sz="2400" dirty="0"/>
              <a:t>波特率为：</a:t>
            </a:r>
            <a:r>
              <a:rPr lang="en-US" altLang="zh-CN" sz="2400" dirty="0"/>
              <a:t>1200bit/</a:t>
            </a:r>
            <a:r>
              <a:rPr lang="zh-CN" altLang="en-US" sz="2400" dirty="0"/>
              <a:t>秒</a:t>
            </a:r>
            <a:r>
              <a:rPr lang="en-US" altLang="zh-CN" sz="2400" dirty="0">
                <a:latin typeface="宋体" panose="02010600030101010101" pitchFamily="2" charset="-122"/>
                <a:ea typeface="宋体" panose="02010600030101010101" pitchFamily="2" charset="-122"/>
                <a:sym typeface="Symbol" panose="05050102010706020507" pitchFamily="18" charset="2"/>
              </a:rPr>
              <a:t>÷1</a:t>
            </a:r>
            <a:r>
              <a:rPr lang="en-US" altLang="zh-CN" sz="2400" dirty="0"/>
              <a:t>=1200</a:t>
            </a:r>
            <a:r>
              <a:rPr lang="zh-CN" altLang="en-US" sz="2400" dirty="0"/>
              <a:t>波特</a:t>
            </a:r>
            <a:endParaRPr lang="zh-CN" altLang="en-US" sz="2400" dirty="0"/>
          </a:p>
          <a:p>
            <a:pPr marL="0" indent="0" eaLnBrk="1" hangingPunct="1">
              <a:buFont typeface="Wingdings 2" charset="2"/>
              <a:buNone/>
            </a:pPr>
            <a:r>
              <a:rPr lang="zh-CN" altLang="en-US" sz="2400" dirty="0"/>
              <a:t>         每个</a:t>
            </a:r>
            <a:r>
              <a:rPr lang="en-US" altLang="zh-CN" sz="2400" dirty="0"/>
              <a:t>bit</a:t>
            </a:r>
            <a:r>
              <a:rPr lang="zh-CN" altLang="en-US" sz="2400" dirty="0"/>
              <a:t>占用的时间：</a:t>
            </a:r>
            <a:r>
              <a:rPr lang="en-US" altLang="zh-CN" sz="2400" dirty="0"/>
              <a:t>T</a:t>
            </a:r>
            <a:r>
              <a:rPr lang="en-US" altLang="zh-CN" sz="2400" baseline="-25000" dirty="0"/>
              <a:t>d</a:t>
            </a:r>
            <a:r>
              <a:rPr lang="en-US" altLang="zh-CN" sz="2400" dirty="0"/>
              <a:t>=1/1200=0.833×10</a:t>
            </a:r>
            <a:r>
              <a:rPr lang="en-US" altLang="zh-CN" sz="2400" baseline="30000" dirty="0"/>
              <a:t>-3</a:t>
            </a:r>
            <a:r>
              <a:rPr lang="en-US" altLang="zh-CN" sz="2400" dirty="0"/>
              <a:t>s=0.833ms</a:t>
            </a:r>
            <a:endParaRPr lang="en-US" altLang="zh-CN" sz="2400" dirty="0"/>
          </a:p>
        </p:txBody>
      </p:sp>
      <p:pic>
        <p:nvPicPr>
          <p:cNvPr id="48133"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772443" y="2743200"/>
            <a:ext cx="5545138"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0115">
                                            <p:txEl>
                                              <p:pRg st="5" end="5"/>
                                            </p:txEl>
                                          </p:spTgt>
                                        </p:tgtEl>
                                        <p:attrNameLst>
                                          <p:attrName>style.visibility</p:attrName>
                                        </p:attrNameLst>
                                      </p:cBhvr>
                                      <p:to>
                                        <p:strVal val="visible"/>
                                      </p:to>
                                    </p:set>
                                    <p:anim calcmode="lin" valueType="num">
                                      <p:cBhvr additive="base">
                                        <p:cTn id="7" dur="500" fill="hold"/>
                                        <p:tgtEl>
                                          <p:spTgt spid="90115">
                                            <p:txEl>
                                              <p:pRg st="5" end="5"/>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011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0115">
                                            <p:txEl>
                                              <p:pRg st="6" end="6"/>
                                            </p:txEl>
                                          </p:spTgt>
                                        </p:tgtEl>
                                        <p:attrNameLst>
                                          <p:attrName>style.visibility</p:attrName>
                                        </p:attrNameLst>
                                      </p:cBhvr>
                                      <p:to>
                                        <p:strVal val="visible"/>
                                      </p:to>
                                    </p:set>
                                    <p:anim calcmode="lin" valueType="num">
                                      <p:cBhvr additive="base">
                                        <p:cTn id="13" dur="500" fill="hold"/>
                                        <p:tgtEl>
                                          <p:spTgt spid="90115">
                                            <p:txEl>
                                              <p:pRg st="6" end="6"/>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011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90115">
                                            <p:txEl>
                                              <p:pRg st="7" end="7"/>
                                            </p:txEl>
                                          </p:spTgt>
                                        </p:tgtEl>
                                        <p:attrNameLst>
                                          <p:attrName>style.visibility</p:attrName>
                                        </p:attrNameLst>
                                      </p:cBhvr>
                                      <p:to>
                                        <p:strVal val="visible"/>
                                      </p:to>
                                    </p:set>
                                    <p:anim calcmode="lin" valueType="num">
                                      <p:cBhvr additive="base">
                                        <p:cTn id="19" dur="500" fill="hold"/>
                                        <p:tgtEl>
                                          <p:spTgt spid="90115">
                                            <p:txEl>
                                              <p:pRg st="7" end="7"/>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0115">
                                            <p:txEl>
                                              <p:pRg st="7" end="7"/>
                                            </p:txEl>
                                          </p:spTgt>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90115">
                                            <p:txEl>
                                              <p:pRg st="8" end="8"/>
                                            </p:txEl>
                                          </p:spTgt>
                                        </p:tgtEl>
                                        <p:attrNameLst>
                                          <p:attrName>style.visibility</p:attrName>
                                        </p:attrNameLst>
                                      </p:cBhvr>
                                      <p:to>
                                        <p:strVal val="visible"/>
                                      </p:to>
                                    </p:set>
                                    <p:anim calcmode="lin" valueType="num">
                                      <p:cBhvr additive="base">
                                        <p:cTn id="23" dur="500" fill="hold"/>
                                        <p:tgtEl>
                                          <p:spTgt spid="90115">
                                            <p:txEl>
                                              <p:pRg st="8" end="8"/>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90115">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a:xfrm>
            <a:off x="838200" y="1295400"/>
            <a:ext cx="7772400" cy="812800"/>
          </a:xfrm>
        </p:spPr>
        <p:txBody>
          <a:bodyPr/>
          <a:lstStyle/>
          <a:p>
            <a:r>
              <a:rPr lang="en-US" altLang="zh-CN" sz="5400" dirty="0"/>
              <a:t>6.3 </a:t>
            </a:r>
            <a:r>
              <a:rPr lang="zh-CN" altLang="en-US" sz="4800" dirty="0"/>
              <a:t>总线的仲裁</a:t>
            </a:r>
            <a:endParaRPr lang="zh-CN" altLang="en-US"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defRPr/>
            </a:pPr>
            <a:r>
              <a:rPr lang="zh-CN" altLang="en-US"/>
              <a:t>主设备和从设备</a:t>
            </a:r>
            <a:endParaRPr lang="zh-CN" altLang="en-US"/>
          </a:p>
        </p:txBody>
      </p:sp>
      <p:sp>
        <p:nvSpPr>
          <p:cNvPr id="50179" name="Rectangle 3"/>
          <p:cNvSpPr>
            <a:spLocks noGrp="1" noChangeArrowheads="1"/>
          </p:cNvSpPr>
          <p:nvPr>
            <p:ph idx="1"/>
          </p:nvPr>
        </p:nvSpPr>
        <p:spPr>
          <a:xfrm>
            <a:off x="179388" y="2349500"/>
            <a:ext cx="8785225" cy="3803650"/>
          </a:xfrm>
        </p:spPr>
        <p:txBody>
          <a:bodyPr/>
          <a:lstStyle/>
          <a:p>
            <a:pPr eaLnBrk="1" hangingPunct="1"/>
            <a:r>
              <a:rPr lang="zh-CN" altLang="en-US" sz="2800"/>
              <a:t>总线事务包括两个部分：</a:t>
            </a:r>
            <a:endParaRPr lang="zh-CN" altLang="en-US" sz="2800"/>
          </a:p>
          <a:p>
            <a:pPr lvl="1" eaLnBrk="1" hangingPunct="1"/>
            <a:r>
              <a:rPr lang="zh-CN" altLang="en-US" sz="2400"/>
              <a:t>发起命令和地址    </a:t>
            </a:r>
            <a:endParaRPr lang="zh-CN" altLang="en-US" sz="2400"/>
          </a:p>
          <a:p>
            <a:pPr lvl="1" eaLnBrk="1" hangingPunct="1"/>
            <a:r>
              <a:rPr lang="zh-CN" altLang="en-US" sz="2400"/>
              <a:t>传输数据                       </a:t>
            </a:r>
            <a:endParaRPr lang="zh-CN" altLang="en-US" sz="2400"/>
          </a:p>
          <a:p>
            <a:pPr eaLnBrk="1" hangingPunct="1"/>
            <a:r>
              <a:rPr lang="zh-CN" altLang="en-US" sz="2800"/>
              <a:t>主设备（</a:t>
            </a:r>
            <a:r>
              <a:rPr lang="en-US" altLang="zh-CN" sz="2800"/>
              <a:t>Master</a:t>
            </a:r>
            <a:r>
              <a:rPr lang="zh-CN" altLang="en-US" sz="2800"/>
              <a:t>）是总线事务的发起者。</a:t>
            </a:r>
            <a:endParaRPr lang="zh-CN" altLang="en-US" sz="2800"/>
          </a:p>
          <a:p>
            <a:pPr lvl="1" eaLnBrk="1" hangingPunct="1"/>
            <a:r>
              <a:rPr lang="zh-CN" altLang="en-US" sz="2400"/>
              <a:t>发出命令和地址</a:t>
            </a:r>
            <a:endParaRPr lang="zh-CN" altLang="en-US" sz="2400"/>
          </a:p>
          <a:p>
            <a:pPr eaLnBrk="1" hangingPunct="1"/>
            <a:r>
              <a:rPr lang="zh-CN" altLang="en-US" sz="2800"/>
              <a:t>从设备（</a:t>
            </a:r>
            <a:r>
              <a:rPr lang="en-US" altLang="zh-CN" sz="2800"/>
              <a:t>Slave</a:t>
            </a:r>
            <a:r>
              <a:rPr lang="zh-CN" altLang="en-US" sz="2800"/>
              <a:t>）是总线事务的响应者</a:t>
            </a:r>
            <a:endParaRPr lang="zh-CN" altLang="en-US" sz="2800"/>
          </a:p>
          <a:p>
            <a:pPr lvl="1" eaLnBrk="1" hangingPunct="1"/>
            <a:r>
              <a:rPr lang="zh-CN" altLang="en-US" sz="2400"/>
              <a:t>主设备发出读命令，将数据发送到主设备</a:t>
            </a:r>
            <a:endParaRPr lang="zh-CN" altLang="en-US" sz="2400"/>
          </a:p>
          <a:p>
            <a:pPr lvl="1" eaLnBrk="1" hangingPunct="1"/>
            <a:r>
              <a:rPr lang="zh-CN" altLang="en-US" sz="2400"/>
              <a:t>主设备发出写命令，接收主设备发来的写入数据</a:t>
            </a:r>
            <a:endParaRPr lang="zh-CN" altLang="en-US" sz="2400"/>
          </a:p>
        </p:txBody>
      </p:sp>
      <p:sp>
        <p:nvSpPr>
          <p:cNvPr id="50181" name="Rectangle 4"/>
          <p:cNvSpPr>
            <a:spLocks noChangeArrowheads="1"/>
          </p:cNvSpPr>
          <p:nvPr/>
        </p:nvSpPr>
        <p:spPr bwMode="auto">
          <a:xfrm>
            <a:off x="985838" y="1314450"/>
            <a:ext cx="1346200" cy="1035050"/>
          </a:xfrm>
          <a:prstGeom prst="rect">
            <a:avLst/>
          </a:prstGeom>
          <a:solidFill>
            <a:srgbClr val="CC3300"/>
          </a:solidFill>
          <a:ln>
            <a:noFill/>
          </a:ln>
          <a:effectLst>
            <a:outerShdw dist="35921" dir="2700000" algn="ctr" rotWithShape="0">
              <a:schemeClr val="bg2"/>
            </a:outerShdw>
          </a:effectLst>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0182" name="Rectangle 5"/>
          <p:cNvSpPr>
            <a:spLocks noChangeArrowheads="1"/>
          </p:cNvSpPr>
          <p:nvPr/>
        </p:nvSpPr>
        <p:spPr bwMode="auto">
          <a:xfrm>
            <a:off x="1101093" y="1412875"/>
            <a:ext cx="1115691"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Bus</a:t>
            </a:r>
            <a:endParaRPr kumimoji="0" lang="en-US" altLang="zh-CN" sz="2400">
              <a:solidFill>
                <a:schemeClr val="bg1"/>
              </a:solidFill>
              <a:ea typeface="楷体" panose="02010609060101010101" pitchFamily="49" charset="-122"/>
              <a:cs typeface="Times New Roman" panose="02020603050405020304" pitchFamily="18" charset="0"/>
            </a:endParaRPr>
          </a:p>
          <a:p>
            <a:pPr algn="ctr">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Master</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50183" name="Rectangle 6"/>
          <p:cNvSpPr>
            <a:spLocks noChangeArrowheads="1"/>
          </p:cNvSpPr>
          <p:nvPr/>
        </p:nvSpPr>
        <p:spPr bwMode="auto">
          <a:xfrm>
            <a:off x="6781800" y="1263650"/>
            <a:ext cx="1346200" cy="1085850"/>
          </a:xfrm>
          <a:prstGeom prst="rect">
            <a:avLst/>
          </a:prstGeom>
          <a:solidFill>
            <a:srgbClr val="CC3300"/>
          </a:solidFill>
          <a:ln>
            <a:noFill/>
          </a:ln>
          <a:effectLst>
            <a:outerShdw dist="35921" dir="2700000" algn="ctr" rotWithShape="0">
              <a:schemeClr val="bg2"/>
            </a:outerShdw>
          </a:effectLst>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50184" name="Rectangle 7"/>
          <p:cNvSpPr>
            <a:spLocks noChangeArrowheads="1"/>
          </p:cNvSpPr>
          <p:nvPr/>
        </p:nvSpPr>
        <p:spPr bwMode="auto">
          <a:xfrm>
            <a:off x="7012479" y="1341438"/>
            <a:ext cx="883256"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Bus</a:t>
            </a:r>
            <a:endParaRPr kumimoji="0" lang="en-US" altLang="zh-CN" sz="2400">
              <a:solidFill>
                <a:schemeClr val="bg1"/>
              </a:solidFill>
              <a:ea typeface="楷体" panose="02010609060101010101" pitchFamily="49" charset="-122"/>
              <a:cs typeface="Times New Roman" panose="02020603050405020304" pitchFamily="18" charset="0"/>
            </a:endParaRPr>
          </a:p>
          <a:p>
            <a:pPr algn="ctr">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Slave</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50185" name="Line 8"/>
          <p:cNvSpPr>
            <a:spLocks noChangeShapeType="1"/>
          </p:cNvSpPr>
          <p:nvPr/>
        </p:nvSpPr>
        <p:spPr bwMode="auto">
          <a:xfrm>
            <a:off x="2332038" y="1524000"/>
            <a:ext cx="4449762" cy="0"/>
          </a:xfrm>
          <a:prstGeom prst="line">
            <a:avLst/>
          </a:prstGeom>
          <a:noFill/>
          <a:ln w="25400">
            <a:solidFill>
              <a:schemeClr val="accent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0186" name="Rectangle 9"/>
          <p:cNvSpPr>
            <a:spLocks noChangeArrowheads="1"/>
          </p:cNvSpPr>
          <p:nvPr/>
        </p:nvSpPr>
        <p:spPr bwMode="auto">
          <a:xfrm>
            <a:off x="2703513" y="1098550"/>
            <a:ext cx="32766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zh-CN" altLang="en-US" sz="2400">
                <a:ea typeface="楷体" panose="02010609060101010101" pitchFamily="49" charset="-122"/>
                <a:cs typeface="Times New Roman" panose="02020603050405020304" pitchFamily="18" charset="0"/>
              </a:rPr>
              <a:t>主设备发出命令和地址</a:t>
            </a:r>
            <a:endParaRPr kumimoji="0" lang="zh-CN" altLang="en-US" sz="2400">
              <a:ea typeface="楷体" panose="02010609060101010101" pitchFamily="49" charset="-122"/>
              <a:cs typeface="Times New Roman" panose="02020603050405020304" pitchFamily="18" charset="0"/>
            </a:endParaRPr>
          </a:p>
        </p:txBody>
      </p:sp>
      <p:sp>
        <p:nvSpPr>
          <p:cNvPr id="50187" name="Line 10"/>
          <p:cNvSpPr>
            <a:spLocks noChangeShapeType="1"/>
          </p:cNvSpPr>
          <p:nvPr/>
        </p:nvSpPr>
        <p:spPr bwMode="auto">
          <a:xfrm flipH="1">
            <a:off x="2332038" y="2076450"/>
            <a:ext cx="4449762" cy="0"/>
          </a:xfrm>
          <a:prstGeom prst="line">
            <a:avLst/>
          </a:prstGeom>
          <a:noFill/>
          <a:ln w="25400">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0188" name="Rectangle 11"/>
          <p:cNvSpPr>
            <a:spLocks noChangeArrowheads="1"/>
          </p:cNvSpPr>
          <p:nvPr/>
        </p:nvSpPr>
        <p:spPr bwMode="auto">
          <a:xfrm>
            <a:off x="2714625" y="1655763"/>
            <a:ext cx="32766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zh-CN" altLang="en-US" sz="2400">
                <a:ea typeface="楷体" panose="02010609060101010101" pitchFamily="49" charset="-122"/>
                <a:cs typeface="Times New Roman" panose="02020603050405020304" pitchFamily="18" charset="0"/>
              </a:rPr>
              <a:t>数据传送（任一方向）</a:t>
            </a:r>
            <a:endParaRPr kumimoji="0" lang="zh-CN" altLang="en-US" sz="2400">
              <a:ea typeface="楷体" panose="02010609060101010101" pitchFamily="49" charset="-122"/>
              <a:cs typeface="Times New Roman" panose="02020603050405020304" pitchFamily="18" charset="0"/>
            </a:endParaRPr>
          </a:p>
        </p:txBody>
      </p:sp>
    </p:spTree>
  </p:cSld>
  <p:clrMapOvr>
    <a:masterClrMapping/>
  </p:clrMapOvr>
  <p:transition spd="med">
    <p:pull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defRPr/>
            </a:pPr>
            <a:r>
              <a:rPr lang="zh-CN" altLang="en-US">
                <a:latin typeface="宋体" panose="02010600030101010101" pitchFamily="2" charset="-122"/>
              </a:rPr>
              <a:t>总线的仲裁（</a:t>
            </a:r>
            <a:r>
              <a:rPr lang="en-US" altLang="zh-CN"/>
              <a:t>1</a:t>
            </a:r>
            <a:r>
              <a:rPr lang="zh-CN" altLang="en-US">
                <a:latin typeface="宋体" panose="02010600030101010101" pitchFamily="2" charset="-122"/>
              </a:rPr>
              <a:t>）</a:t>
            </a:r>
            <a:endParaRPr lang="zh-CN" altLang="en-US">
              <a:latin typeface="宋体" panose="02010600030101010101" pitchFamily="2" charset="-122"/>
            </a:endParaRPr>
          </a:p>
        </p:txBody>
      </p:sp>
      <p:sp>
        <p:nvSpPr>
          <p:cNvPr id="51203" name="Rectangle 3"/>
          <p:cNvSpPr>
            <a:spLocks noGrp="1" noChangeArrowheads="1"/>
          </p:cNvSpPr>
          <p:nvPr>
            <p:ph idx="1"/>
          </p:nvPr>
        </p:nvSpPr>
        <p:spPr/>
        <p:txBody>
          <a:bodyPr/>
          <a:lstStyle/>
          <a:p>
            <a:pPr eaLnBrk="1" hangingPunct="1"/>
            <a:r>
              <a:rPr lang="zh-CN" altLang="en-US" sz="2800">
                <a:latin typeface="宋体" panose="02010600030101010101" pitchFamily="2" charset="-122"/>
              </a:rPr>
              <a:t>主设备在传送数据前需要占用总线，并启动一个总线周期，而从设备只能响应主设备请求。每一次总线操作，只能有一个主设备，但是可以有多个从设备 </a:t>
            </a:r>
            <a:endParaRPr lang="zh-CN" altLang="en-US" sz="2800"/>
          </a:p>
          <a:p>
            <a:pPr eaLnBrk="1" hangingPunct="1"/>
            <a:r>
              <a:rPr lang="zh-CN" altLang="en-US" sz="2800">
                <a:latin typeface="宋体" panose="02010600030101010101" pitchFamily="2" charset="-122"/>
              </a:rPr>
              <a:t>为了解决多个主设备争用总线的问题，需设置总线仲裁部件。这是</a:t>
            </a:r>
            <a:r>
              <a:rPr lang="zh-CN" altLang="en-US" sz="2800"/>
              <a:t>总线设计中重要问题之一</a:t>
            </a:r>
            <a:endParaRPr lang="zh-CN" altLang="en-US" sz="2800"/>
          </a:p>
          <a:p>
            <a:pPr eaLnBrk="1" hangingPunct="1"/>
            <a:r>
              <a:rPr lang="zh-CN" altLang="en-US" sz="2800">
                <a:latin typeface="宋体" panose="02010600030101010101" pitchFamily="2" charset="-122"/>
              </a:rPr>
              <a:t>总线占用期：主设备持续控制总线的时间 </a:t>
            </a:r>
            <a:endParaRPr lang="zh-CN" altLang="en-US" sz="2800"/>
          </a:p>
          <a:p>
            <a:pPr eaLnBrk="1" hangingPunct="1"/>
            <a:r>
              <a:rPr lang="zh-CN" altLang="en-US" sz="2800"/>
              <a:t>最简单的情景</a:t>
            </a:r>
            <a:endParaRPr lang="zh-CN" altLang="en-US" sz="2800"/>
          </a:p>
          <a:p>
            <a:pPr lvl="1" eaLnBrk="1" hangingPunct="1"/>
            <a:r>
              <a:rPr lang="zh-CN" altLang="en-US"/>
              <a:t>处理器作为唯一的总线主设备</a:t>
            </a:r>
            <a:endParaRPr lang="zh-CN" altLang="en-US"/>
          </a:p>
          <a:p>
            <a:pPr lvl="1" eaLnBrk="1" hangingPunct="1"/>
            <a:r>
              <a:rPr lang="zh-CN" altLang="en-US"/>
              <a:t>所有总线操作均由处理器控制</a:t>
            </a:r>
            <a:endParaRPr lang="zh-CN" altLang="en-US"/>
          </a:p>
          <a:p>
            <a:pPr lvl="1" eaLnBrk="1" hangingPunct="1"/>
            <a:r>
              <a:rPr lang="zh-CN" altLang="en-US"/>
              <a:t>缺点：处理器被卷入到每一个总线事务中</a:t>
            </a:r>
            <a:r>
              <a:rPr lang="zh-CN" altLang="en-US">
                <a:latin typeface="宋体" panose="02010600030101010101" pitchFamily="2" charset="-122"/>
              </a:rPr>
              <a:t> </a:t>
            </a:r>
            <a:endParaRPr lang="zh-CN" altLang="en-US">
              <a:latin typeface="宋体" panose="02010600030101010101" pitchFamily="2" charset="-122"/>
            </a:endParaRPr>
          </a:p>
        </p:txBody>
      </p:sp>
    </p:spTree>
  </p:cSld>
  <p:clrMapOvr>
    <a:masterClrMapping/>
  </p:clrMapOvr>
  <p:transition spd="med">
    <p:pull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3" name="Rectangle 5"/>
          <p:cNvSpPr>
            <a:spLocks noGrp="1" noChangeArrowheads="1"/>
          </p:cNvSpPr>
          <p:nvPr>
            <p:ph type="title"/>
          </p:nvPr>
        </p:nvSpPr>
        <p:spPr/>
        <p:txBody>
          <a:bodyPr/>
          <a:lstStyle/>
          <a:p>
            <a:pPr eaLnBrk="1" hangingPunct="1">
              <a:defRPr/>
            </a:pPr>
            <a:r>
              <a:rPr lang="zh-CN" altLang="en-US"/>
              <a:t>总线的仲裁（</a:t>
            </a:r>
            <a:r>
              <a:rPr lang="en-US" altLang="zh-CN"/>
              <a:t>2</a:t>
            </a:r>
            <a:r>
              <a:rPr lang="zh-CN" altLang="en-US"/>
              <a:t>）</a:t>
            </a:r>
            <a:endParaRPr lang="zh-CN" altLang="en-US"/>
          </a:p>
        </p:txBody>
      </p:sp>
      <p:sp>
        <p:nvSpPr>
          <p:cNvPr id="52227" name="Rectangle 3"/>
          <p:cNvSpPr>
            <a:spLocks noGrp="1" noChangeArrowheads="1"/>
          </p:cNvSpPr>
          <p:nvPr>
            <p:ph idx="1"/>
          </p:nvPr>
        </p:nvSpPr>
        <p:spPr>
          <a:xfrm>
            <a:off x="190500" y="1143000"/>
            <a:ext cx="8763000" cy="4938713"/>
          </a:xfrm>
        </p:spPr>
        <p:txBody>
          <a:bodyPr lIns="63500" tIns="25400" rIns="63500" bIns="25400">
            <a:spAutoFit/>
          </a:bodyPr>
          <a:lstStyle/>
          <a:p>
            <a:pPr eaLnBrk="1" hangingPunct="1"/>
            <a:r>
              <a:rPr lang="zh-CN" altLang="en-US" sz="2400" dirty="0"/>
              <a:t>总线仲裁的基本要求</a:t>
            </a:r>
            <a:endParaRPr lang="zh-CN" altLang="en-US" sz="2400" dirty="0"/>
          </a:p>
          <a:p>
            <a:pPr lvl="1" eaLnBrk="1" hangingPunct="1"/>
            <a:r>
              <a:rPr lang="zh-CN" altLang="en-US" sz="2000" dirty="0"/>
              <a:t>总线主设备在使用总线前应发出总线请求</a:t>
            </a:r>
            <a:endParaRPr lang="zh-CN" altLang="en-US" sz="2000" dirty="0"/>
          </a:p>
          <a:p>
            <a:pPr lvl="1" eaLnBrk="1" hangingPunct="1"/>
            <a:r>
              <a:rPr lang="zh-CN" altLang="en-US" sz="2000" dirty="0"/>
              <a:t>在得到授权后，主设备才能使用总线</a:t>
            </a:r>
            <a:endParaRPr lang="zh-CN" altLang="en-US" sz="2000" dirty="0"/>
          </a:p>
          <a:p>
            <a:pPr lvl="1" eaLnBrk="1" hangingPunct="1"/>
            <a:r>
              <a:rPr lang="zh-CN" altLang="en-US" sz="2000" dirty="0"/>
              <a:t>使用完毕后，主设备应归还总线并通知仲裁器</a:t>
            </a:r>
            <a:endParaRPr lang="zh-CN" altLang="en-US" sz="2000" dirty="0"/>
          </a:p>
          <a:p>
            <a:pPr eaLnBrk="1" hangingPunct="1"/>
            <a:r>
              <a:rPr lang="zh-CN" altLang="en-US" sz="2400" dirty="0"/>
              <a:t>总线仲裁器在以下两方面取得平衡</a:t>
            </a:r>
            <a:endParaRPr lang="zh-CN" altLang="en-US" sz="2400" dirty="0"/>
          </a:p>
          <a:p>
            <a:pPr lvl="1" eaLnBrk="1" hangingPunct="1"/>
            <a:r>
              <a:rPr lang="zh-CN" altLang="en-US" sz="2000" dirty="0"/>
              <a:t>优先权：优先级高的设备应该优先得到服务</a:t>
            </a:r>
            <a:endParaRPr lang="zh-CN" altLang="en-US" sz="2000" dirty="0"/>
          </a:p>
          <a:p>
            <a:pPr lvl="1" eaLnBrk="1" hangingPunct="1"/>
            <a:r>
              <a:rPr lang="zh-CN" altLang="en-US" sz="2000" dirty="0"/>
              <a:t>公平性：最低优先级的设备也不能永远被排除在总线服务之外</a:t>
            </a:r>
            <a:endParaRPr lang="zh-CN" altLang="en-US" sz="2000" dirty="0"/>
          </a:p>
          <a:p>
            <a:pPr eaLnBrk="1" hangingPunct="1"/>
            <a:r>
              <a:rPr lang="zh-CN" altLang="en-US" sz="2400" dirty="0"/>
              <a:t>总线仲裁方式</a:t>
            </a:r>
            <a:endParaRPr lang="zh-CN" altLang="en-US" sz="2400" dirty="0"/>
          </a:p>
          <a:p>
            <a:pPr lvl="1" eaLnBrk="1" hangingPunct="1">
              <a:buFont typeface="Wingdings" panose="05000000000000000000" pitchFamily="2" charset="2"/>
              <a:buNone/>
            </a:pPr>
            <a:r>
              <a:rPr lang="zh-CN" altLang="en-US" sz="2000" dirty="0"/>
              <a:t>                           链式查询</a:t>
            </a:r>
            <a:endParaRPr lang="en-US" altLang="zh-CN" sz="2000" dirty="0"/>
          </a:p>
          <a:p>
            <a:pPr lvl="1" eaLnBrk="1" hangingPunct="1"/>
            <a:r>
              <a:rPr lang="zh-CN" altLang="en-US" sz="2000" dirty="0"/>
              <a:t>集中仲裁：   计数器定时查询</a:t>
            </a:r>
            <a:endParaRPr lang="en-US" altLang="zh-CN" sz="2000" dirty="0"/>
          </a:p>
          <a:p>
            <a:pPr lvl="1" eaLnBrk="1" hangingPunct="1">
              <a:buFont typeface="Wingdings" panose="05000000000000000000" pitchFamily="2" charset="2"/>
              <a:buNone/>
            </a:pPr>
            <a:r>
              <a:rPr lang="en-US" altLang="zh-CN" sz="2000" dirty="0"/>
              <a:t>                           </a:t>
            </a:r>
            <a:r>
              <a:rPr lang="zh-CN" altLang="en-US" sz="2000" dirty="0"/>
              <a:t>独立请求方式</a:t>
            </a:r>
            <a:endParaRPr lang="zh-CN" altLang="en-US" sz="2000" dirty="0"/>
          </a:p>
          <a:p>
            <a:pPr lvl="1" eaLnBrk="1" hangingPunct="1"/>
            <a:r>
              <a:rPr lang="zh-CN" altLang="en-US" sz="2000" dirty="0"/>
              <a:t>分布仲裁： 例如，路口没有交通警察，所有车辆先停下，确认其他方向没有来车后通行</a:t>
            </a:r>
            <a:endParaRPr lang="zh-CN" altLang="en-US" sz="2000" dirty="0"/>
          </a:p>
        </p:txBody>
      </p:sp>
      <p:sp>
        <p:nvSpPr>
          <p:cNvPr id="52229" name="左大括号 2"/>
          <p:cNvSpPr/>
          <p:nvPr/>
        </p:nvSpPr>
        <p:spPr bwMode="auto">
          <a:xfrm>
            <a:off x="5435600" y="4149725"/>
            <a:ext cx="215900" cy="863600"/>
          </a:xfrm>
          <a:prstGeom prst="leftBrace">
            <a:avLst>
              <a:gd name="adj1" fmla="val 8333"/>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20000"/>
              </a:spcBef>
              <a:buFont typeface="Wingdings" panose="05000000000000000000" pitchFamily="2" charset="2"/>
              <a:buNone/>
            </a:pPr>
            <a:endParaRPr lang="zh-CN" altLang="en-US"/>
          </a:p>
        </p:txBody>
      </p:sp>
      <p:sp>
        <p:nvSpPr>
          <p:cNvPr id="52230" name="左大括号 3"/>
          <p:cNvSpPr/>
          <p:nvPr/>
        </p:nvSpPr>
        <p:spPr bwMode="auto">
          <a:xfrm>
            <a:off x="2025650" y="4472781"/>
            <a:ext cx="215900" cy="1008063"/>
          </a:xfrm>
          <a:prstGeom prst="leftBrace">
            <a:avLst>
              <a:gd name="adj1" fmla="val 12948"/>
              <a:gd name="adj2" fmla="val 53843"/>
            </a:avLst>
          </a:prstGeom>
          <a:noFill/>
          <a:ln w="12700" algn="ctr">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20000"/>
              </a:spcBef>
              <a:buFont typeface="Wingdings" panose="05000000000000000000" pitchFamily="2" charset="2"/>
              <a:buNone/>
            </a:pPr>
            <a:endParaRPr lang="zh-CN" altLang="en-US"/>
          </a:p>
        </p:txBody>
      </p:sp>
      <p:sp>
        <p:nvSpPr>
          <p:cNvPr id="52231" name="文本框 5"/>
          <p:cNvSpPr txBox="1">
            <a:spLocks noChangeArrowheads="1"/>
          </p:cNvSpPr>
          <p:nvPr/>
        </p:nvSpPr>
        <p:spPr bwMode="auto">
          <a:xfrm>
            <a:off x="4643437" y="4653755"/>
            <a:ext cx="1800225" cy="646113"/>
          </a:xfrm>
          <a:prstGeom prst="rect">
            <a:avLst/>
          </a:prstGeom>
          <a:noFill/>
          <a:ln w="12700">
            <a:solidFill>
              <a:srgbClr val="00F7F7"/>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1800" b="1" dirty="0">
                <a:latin typeface="楷体" panose="02010609060101010101" pitchFamily="49" charset="-122"/>
                <a:ea typeface="楷体" panose="02010609060101010101" pitchFamily="49" charset="-122"/>
              </a:rPr>
              <a:t>例如，交通警察在路口指挥交通</a:t>
            </a:r>
            <a:endParaRPr lang="zh-CN" altLang="en-US" sz="1800" b="1" dirty="0">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4" name="Group 6"/>
          <p:cNvGrpSpPr/>
          <p:nvPr/>
        </p:nvGrpSpPr>
        <p:grpSpPr bwMode="auto">
          <a:xfrm>
            <a:off x="2266950" y="1412875"/>
            <a:ext cx="1584325" cy="1570038"/>
            <a:chOff x="1610" y="1706"/>
            <a:chExt cx="998" cy="681"/>
          </a:xfrm>
        </p:grpSpPr>
        <p:sp>
          <p:nvSpPr>
            <p:cNvPr id="54333" name="Rectangle 7"/>
            <p:cNvSpPr>
              <a:spLocks noChangeArrowheads="1"/>
            </p:cNvSpPr>
            <p:nvPr/>
          </p:nvSpPr>
          <p:spPr bwMode="auto">
            <a:xfrm>
              <a:off x="1610" y="1706"/>
              <a:ext cx="998" cy="681"/>
            </a:xfrm>
            <a:prstGeom prst="rect">
              <a:avLst/>
            </a:prstGeom>
            <a:solidFill>
              <a:srgbClr val="00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800">
                  <a:solidFill>
                    <a:schemeClr val="bg1"/>
                  </a:solidFill>
                  <a:ea typeface="楷体" panose="02010609060101010101" pitchFamily="49" charset="-122"/>
                  <a:cs typeface="Times New Roman" panose="02020603050405020304" pitchFamily="18" charset="0"/>
                </a:rPr>
                <a:t>模块</a:t>
              </a:r>
              <a:r>
                <a:rPr kumimoji="0" lang="en-US" altLang="zh-CN" sz="2800">
                  <a:solidFill>
                    <a:schemeClr val="bg1"/>
                  </a:solidFill>
                  <a:ea typeface="楷体" panose="02010609060101010101" pitchFamily="49" charset="-122"/>
                  <a:cs typeface="Times New Roman" panose="02020603050405020304" pitchFamily="18" charset="0"/>
                </a:rPr>
                <a:t>1</a:t>
              </a:r>
              <a:endParaRPr kumimoji="0" lang="en-US" altLang="zh-CN" sz="2800">
                <a:solidFill>
                  <a:schemeClr val="bg1"/>
                </a:solidFill>
                <a:ea typeface="楷体" panose="02010609060101010101" pitchFamily="49" charset="-122"/>
                <a:cs typeface="Times New Roman" panose="02020603050405020304" pitchFamily="18" charset="0"/>
              </a:endParaRPr>
            </a:p>
            <a:p>
              <a:pPr eaLnBrk="1" hangingPunct="1">
                <a:spcBef>
                  <a:spcPct val="0"/>
                </a:spcBef>
                <a:buClrTx/>
                <a:buFontTx/>
                <a:buNone/>
              </a:pPr>
              <a:endParaRPr kumimoji="0" lang="en-US" altLang="zh-CN">
                <a:solidFill>
                  <a:schemeClr val="bg1"/>
                </a:solidFill>
                <a:ea typeface="楷体" panose="02010609060101010101" pitchFamily="49" charset="-122"/>
                <a:cs typeface="Times New Roman" panose="02020603050405020304" pitchFamily="18" charset="0"/>
              </a:endParaRPr>
            </a:p>
            <a:p>
              <a:pPr eaLnBrk="1" hangingPunct="1">
                <a:spcBef>
                  <a:spcPct val="0"/>
                </a:spcBef>
                <a:buClrTx/>
                <a:buFontTx/>
                <a:buNone/>
              </a:pPr>
              <a:endParaRPr kumimoji="0" lang="en-US" altLang="zh-CN" sz="1800">
                <a:solidFill>
                  <a:schemeClr val="bg1"/>
                </a:solidFill>
                <a:ea typeface="楷体" panose="02010609060101010101" pitchFamily="49" charset="-122"/>
                <a:cs typeface="Times New Roman" panose="02020603050405020304" pitchFamily="18" charset="0"/>
              </a:endParaRPr>
            </a:p>
            <a:p>
              <a:pPr eaLnBrk="1" hangingPunct="1">
                <a:spcBef>
                  <a:spcPct val="0"/>
                </a:spcBef>
                <a:buClrTx/>
                <a:buFontTx/>
                <a:buNone/>
              </a:pPr>
              <a:endParaRPr kumimoji="0" lang="en-US" altLang="zh-CN" sz="1800">
                <a:solidFill>
                  <a:schemeClr val="bg1"/>
                </a:solidFill>
                <a:ea typeface="楷体" panose="02010609060101010101" pitchFamily="49" charset="-122"/>
                <a:cs typeface="Times New Roman" panose="02020603050405020304" pitchFamily="18" charset="0"/>
              </a:endParaRPr>
            </a:p>
          </p:txBody>
        </p:sp>
        <p:sp>
          <p:nvSpPr>
            <p:cNvPr id="54334" name="Rectangle 8"/>
            <p:cNvSpPr>
              <a:spLocks noChangeArrowheads="1"/>
            </p:cNvSpPr>
            <p:nvPr/>
          </p:nvSpPr>
          <p:spPr bwMode="auto">
            <a:xfrm>
              <a:off x="1797" y="1837"/>
              <a:ext cx="635"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总线访</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问逻辑</a:t>
              </a:r>
              <a:endParaRPr kumimoji="0" lang="zh-CN" altLang="en-US" sz="2400">
                <a:solidFill>
                  <a:schemeClr val="bg1"/>
                </a:solidFill>
                <a:ea typeface="楷体" panose="02010609060101010101" pitchFamily="49" charset="-122"/>
                <a:cs typeface="Times New Roman" panose="02020603050405020304" pitchFamily="18" charset="0"/>
              </a:endParaRPr>
            </a:p>
          </p:txBody>
        </p:sp>
      </p:grpSp>
      <p:sp>
        <p:nvSpPr>
          <p:cNvPr id="96258" name="Rectangle 2"/>
          <p:cNvSpPr>
            <a:spLocks noGrp="1" noChangeArrowheads="1"/>
          </p:cNvSpPr>
          <p:nvPr>
            <p:ph type="title"/>
          </p:nvPr>
        </p:nvSpPr>
        <p:spPr/>
        <p:txBody>
          <a:bodyPr/>
          <a:lstStyle/>
          <a:p>
            <a:pPr eaLnBrk="1" hangingPunct="1">
              <a:defRPr/>
            </a:pPr>
            <a:r>
              <a:rPr lang="zh-CN" altLang="en-US"/>
              <a:t>集中仲裁：链式查询方式</a:t>
            </a:r>
            <a:endParaRPr lang="zh-CN" altLang="en-US"/>
          </a:p>
        </p:txBody>
      </p:sp>
      <p:sp>
        <p:nvSpPr>
          <p:cNvPr id="54277" name="Text Box 3"/>
          <p:cNvSpPr txBox="1">
            <a:spLocks noChangeArrowheads="1"/>
          </p:cNvSpPr>
          <p:nvPr/>
        </p:nvSpPr>
        <p:spPr bwMode="auto">
          <a:xfrm>
            <a:off x="1331913" y="3633788"/>
            <a:ext cx="14382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zh-CN" altLang="en-US" sz="2400">
                <a:solidFill>
                  <a:schemeClr val="tx2"/>
                </a:solidFill>
                <a:ea typeface="楷体" panose="02010609060101010101" pitchFamily="49" charset="-122"/>
                <a:cs typeface="Times New Roman" panose="02020603050405020304" pitchFamily="18" charset="0"/>
              </a:rPr>
              <a:t>总线响应</a:t>
            </a:r>
            <a:r>
              <a:rPr kumimoji="0" lang="en-US" altLang="zh-CN" sz="2400">
                <a:solidFill>
                  <a:schemeClr val="tx2"/>
                </a:solidFill>
                <a:ea typeface="楷体" panose="02010609060101010101" pitchFamily="49" charset="-122"/>
                <a:cs typeface="Times New Roman" panose="02020603050405020304" pitchFamily="18" charset="0"/>
              </a:rPr>
              <a:t>BG</a:t>
            </a:r>
            <a:endParaRPr kumimoji="0" lang="en-US" altLang="zh-CN" sz="2400">
              <a:solidFill>
                <a:schemeClr val="tx2"/>
              </a:solidFill>
              <a:ea typeface="楷体" panose="02010609060101010101" pitchFamily="49" charset="-122"/>
              <a:cs typeface="Times New Roman" panose="02020603050405020304" pitchFamily="18" charset="0"/>
            </a:endParaRPr>
          </a:p>
        </p:txBody>
      </p:sp>
      <p:sp>
        <p:nvSpPr>
          <p:cNvPr id="54278" name="Text Box 4"/>
          <p:cNvSpPr txBox="1">
            <a:spLocks noChangeArrowheads="1"/>
          </p:cNvSpPr>
          <p:nvPr/>
        </p:nvSpPr>
        <p:spPr bwMode="auto">
          <a:xfrm>
            <a:off x="1331913" y="4349750"/>
            <a:ext cx="14382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zh-CN" altLang="en-US" sz="2400">
                <a:solidFill>
                  <a:schemeClr val="tx2"/>
                </a:solidFill>
                <a:ea typeface="楷体" panose="02010609060101010101" pitchFamily="49" charset="-122"/>
                <a:cs typeface="Times New Roman" panose="02020603050405020304" pitchFamily="18" charset="0"/>
              </a:rPr>
              <a:t>总线请求</a:t>
            </a:r>
            <a:r>
              <a:rPr kumimoji="0" lang="en-US" altLang="zh-CN" sz="2400">
                <a:solidFill>
                  <a:schemeClr val="tx2"/>
                </a:solidFill>
                <a:ea typeface="楷体" panose="02010609060101010101" pitchFamily="49" charset="-122"/>
                <a:cs typeface="Times New Roman" panose="02020603050405020304" pitchFamily="18" charset="0"/>
              </a:rPr>
              <a:t>/BR</a:t>
            </a:r>
            <a:endParaRPr kumimoji="0" lang="en-US" altLang="zh-CN" sz="2400">
              <a:solidFill>
                <a:schemeClr val="tx2"/>
              </a:solidFill>
              <a:ea typeface="楷体" panose="02010609060101010101" pitchFamily="49" charset="-122"/>
              <a:cs typeface="Times New Roman" panose="02020603050405020304" pitchFamily="18" charset="0"/>
            </a:endParaRPr>
          </a:p>
        </p:txBody>
      </p:sp>
      <p:sp>
        <p:nvSpPr>
          <p:cNvPr id="54279" name="Text Box 5"/>
          <p:cNvSpPr txBox="1">
            <a:spLocks noChangeArrowheads="1"/>
          </p:cNvSpPr>
          <p:nvPr/>
        </p:nvSpPr>
        <p:spPr bwMode="auto">
          <a:xfrm>
            <a:off x="1331913" y="5081588"/>
            <a:ext cx="11842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zh-CN" altLang="en-US" sz="2400">
                <a:solidFill>
                  <a:schemeClr val="tx2"/>
                </a:solidFill>
                <a:ea typeface="楷体" panose="02010609060101010101" pitchFamily="49" charset="-122"/>
                <a:cs typeface="Times New Roman" panose="02020603050405020304" pitchFamily="18" charset="0"/>
              </a:rPr>
              <a:t>总线忙</a:t>
            </a:r>
            <a:r>
              <a:rPr kumimoji="0" lang="en-US" altLang="zh-CN" sz="2400">
                <a:solidFill>
                  <a:schemeClr val="tx2"/>
                </a:solidFill>
                <a:ea typeface="楷体" panose="02010609060101010101" pitchFamily="49" charset="-122"/>
                <a:cs typeface="Times New Roman" panose="02020603050405020304" pitchFamily="18" charset="0"/>
              </a:rPr>
              <a:t>/BB(BS)</a:t>
            </a:r>
            <a:endParaRPr kumimoji="0" lang="en-US" altLang="zh-CN" sz="2400">
              <a:solidFill>
                <a:schemeClr val="tx2"/>
              </a:solidFill>
              <a:ea typeface="楷体" panose="02010609060101010101" pitchFamily="49" charset="-122"/>
              <a:cs typeface="Times New Roman" panose="02020603050405020304" pitchFamily="18" charset="0"/>
            </a:endParaRPr>
          </a:p>
        </p:txBody>
      </p:sp>
      <p:sp>
        <p:nvSpPr>
          <p:cNvPr id="54280" name="Text Box 9"/>
          <p:cNvSpPr txBox="1">
            <a:spLocks noChangeArrowheads="1"/>
          </p:cNvSpPr>
          <p:nvPr/>
        </p:nvSpPr>
        <p:spPr bwMode="auto">
          <a:xfrm>
            <a:off x="5938838" y="1830388"/>
            <a:ext cx="6492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800">
                <a:ea typeface="楷体" panose="02010609060101010101" pitchFamily="49" charset="-122"/>
                <a:cs typeface="Times New Roman" panose="02020603050405020304" pitchFamily="18" charset="0"/>
              </a:rPr>
              <a:t>……</a:t>
            </a:r>
            <a:endParaRPr kumimoji="0" lang="en-US" altLang="zh-CN" sz="2800">
              <a:ea typeface="楷体" panose="02010609060101010101" pitchFamily="49" charset="-122"/>
              <a:cs typeface="Times New Roman" panose="02020603050405020304" pitchFamily="18" charset="0"/>
            </a:endParaRPr>
          </a:p>
        </p:txBody>
      </p:sp>
      <p:sp>
        <p:nvSpPr>
          <p:cNvPr id="54281" name="Rectangle 10"/>
          <p:cNvSpPr>
            <a:spLocks noChangeArrowheads="1"/>
          </p:cNvSpPr>
          <p:nvPr/>
        </p:nvSpPr>
        <p:spPr bwMode="auto">
          <a:xfrm>
            <a:off x="395288" y="3714750"/>
            <a:ext cx="936625" cy="2090738"/>
          </a:xfrm>
          <a:prstGeom prst="rect">
            <a:avLst/>
          </a:prstGeom>
          <a:solidFill>
            <a:srgbClr val="006600"/>
          </a:solidFill>
          <a:ln w="9525">
            <a:solidFill>
              <a:schemeClr val="tx1"/>
            </a:solidFill>
            <a:miter lim="800000"/>
          </a:ln>
        </p:spPr>
        <p:txBody>
          <a:bodyPr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总线控制器</a:t>
            </a:r>
            <a:r>
              <a:rPr kumimoji="0" lang="en-US" altLang="zh-CN" sz="2400">
                <a:solidFill>
                  <a:schemeClr val="bg1"/>
                </a:solidFill>
                <a:ea typeface="楷体" panose="02010609060101010101" pitchFamily="49" charset="-122"/>
                <a:cs typeface="Times New Roman" panose="02020603050405020304" pitchFamily="18" charset="0"/>
              </a:rPr>
              <a:t>(</a:t>
            </a:r>
            <a:r>
              <a:rPr kumimoji="0" lang="zh-CN" altLang="en-US" sz="2400">
                <a:solidFill>
                  <a:schemeClr val="bg1"/>
                </a:solidFill>
                <a:ea typeface="楷体" panose="02010609060101010101" pitchFamily="49" charset="-122"/>
                <a:cs typeface="Times New Roman" panose="02020603050405020304" pitchFamily="18" charset="0"/>
              </a:rPr>
              <a:t>仲裁器</a:t>
            </a:r>
            <a:r>
              <a:rPr kumimoji="0" lang="en-US" altLang="zh-CN" sz="2400">
                <a:solidFill>
                  <a:schemeClr val="bg1"/>
                </a:solidFill>
                <a:ea typeface="楷体" panose="02010609060101010101" pitchFamily="49" charset="-122"/>
                <a:cs typeface="Times New Roman" panose="02020603050405020304" pitchFamily="18" charset="0"/>
              </a:rPr>
              <a:t>)</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54282" name="Line 11"/>
          <p:cNvSpPr>
            <a:spLocks noChangeShapeType="1"/>
          </p:cNvSpPr>
          <p:nvPr/>
        </p:nvSpPr>
        <p:spPr bwMode="auto">
          <a:xfrm>
            <a:off x="1330325" y="4760913"/>
            <a:ext cx="7561263"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283" name="Line 12"/>
          <p:cNvSpPr>
            <a:spLocks noChangeShapeType="1"/>
          </p:cNvSpPr>
          <p:nvPr/>
        </p:nvSpPr>
        <p:spPr bwMode="auto">
          <a:xfrm>
            <a:off x="1330325" y="5492750"/>
            <a:ext cx="7561263"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54284" name="Group 13"/>
          <p:cNvGrpSpPr/>
          <p:nvPr/>
        </p:nvGrpSpPr>
        <p:grpSpPr bwMode="auto">
          <a:xfrm>
            <a:off x="1330325" y="2981325"/>
            <a:ext cx="1368425" cy="1046163"/>
            <a:chOff x="793" y="2341"/>
            <a:chExt cx="862" cy="454"/>
          </a:xfrm>
        </p:grpSpPr>
        <p:sp>
          <p:nvSpPr>
            <p:cNvPr id="54331" name="Line 14"/>
            <p:cNvSpPr>
              <a:spLocks noChangeShapeType="1"/>
            </p:cNvSpPr>
            <p:nvPr/>
          </p:nvSpPr>
          <p:spPr bwMode="auto">
            <a:xfrm>
              <a:off x="793" y="2795"/>
              <a:ext cx="86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332" name="Line 15"/>
            <p:cNvSpPr>
              <a:spLocks noChangeShapeType="1"/>
            </p:cNvSpPr>
            <p:nvPr/>
          </p:nvSpPr>
          <p:spPr bwMode="auto">
            <a:xfrm flipV="1">
              <a:off x="1655" y="2341"/>
              <a:ext cx="0" cy="45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54285" name="Line 16"/>
          <p:cNvSpPr>
            <a:spLocks noChangeShapeType="1"/>
          </p:cNvSpPr>
          <p:nvPr/>
        </p:nvSpPr>
        <p:spPr bwMode="auto">
          <a:xfrm>
            <a:off x="2987675" y="2981325"/>
            <a:ext cx="0" cy="17795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286" name="Line 17"/>
          <p:cNvSpPr>
            <a:spLocks noChangeShapeType="1"/>
          </p:cNvSpPr>
          <p:nvPr/>
        </p:nvSpPr>
        <p:spPr bwMode="auto">
          <a:xfrm>
            <a:off x="3275013" y="2981325"/>
            <a:ext cx="0" cy="25114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54287" name="Group 18"/>
          <p:cNvGrpSpPr/>
          <p:nvPr/>
        </p:nvGrpSpPr>
        <p:grpSpPr bwMode="auto">
          <a:xfrm>
            <a:off x="3563938" y="2981325"/>
            <a:ext cx="935037" cy="1046163"/>
            <a:chOff x="2200" y="2341"/>
            <a:chExt cx="589" cy="454"/>
          </a:xfrm>
        </p:grpSpPr>
        <p:sp>
          <p:nvSpPr>
            <p:cNvPr id="54328" name="Line 19"/>
            <p:cNvSpPr>
              <a:spLocks noChangeShapeType="1"/>
            </p:cNvSpPr>
            <p:nvPr/>
          </p:nvSpPr>
          <p:spPr bwMode="auto">
            <a:xfrm>
              <a:off x="2200" y="2341"/>
              <a:ext cx="0" cy="45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329" name="Line 20"/>
            <p:cNvSpPr>
              <a:spLocks noChangeShapeType="1"/>
            </p:cNvSpPr>
            <p:nvPr/>
          </p:nvSpPr>
          <p:spPr bwMode="auto">
            <a:xfrm>
              <a:off x="2200" y="2795"/>
              <a:ext cx="58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330" name="Line 21"/>
            <p:cNvSpPr>
              <a:spLocks noChangeShapeType="1"/>
            </p:cNvSpPr>
            <p:nvPr/>
          </p:nvSpPr>
          <p:spPr bwMode="auto">
            <a:xfrm flipV="1">
              <a:off x="2789" y="2341"/>
              <a:ext cx="0" cy="45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54288" name="Line 22"/>
          <p:cNvSpPr>
            <a:spLocks noChangeShapeType="1"/>
          </p:cNvSpPr>
          <p:nvPr/>
        </p:nvSpPr>
        <p:spPr bwMode="auto">
          <a:xfrm>
            <a:off x="4787900" y="2981325"/>
            <a:ext cx="0" cy="17795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289" name="Line 23"/>
          <p:cNvSpPr>
            <a:spLocks noChangeShapeType="1"/>
          </p:cNvSpPr>
          <p:nvPr/>
        </p:nvSpPr>
        <p:spPr bwMode="auto">
          <a:xfrm>
            <a:off x="5075238" y="2981325"/>
            <a:ext cx="0" cy="25114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290" name="Line 24"/>
          <p:cNvSpPr>
            <a:spLocks noChangeShapeType="1"/>
          </p:cNvSpPr>
          <p:nvPr/>
        </p:nvSpPr>
        <p:spPr bwMode="auto">
          <a:xfrm>
            <a:off x="5364163" y="2981325"/>
            <a:ext cx="0" cy="10461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291" name="Line 25"/>
          <p:cNvSpPr>
            <a:spLocks noChangeShapeType="1"/>
          </p:cNvSpPr>
          <p:nvPr/>
        </p:nvSpPr>
        <p:spPr bwMode="auto">
          <a:xfrm>
            <a:off x="5364163" y="4027488"/>
            <a:ext cx="9477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292" name="Line 26"/>
          <p:cNvSpPr>
            <a:spLocks noChangeShapeType="1"/>
          </p:cNvSpPr>
          <p:nvPr/>
        </p:nvSpPr>
        <p:spPr bwMode="auto">
          <a:xfrm flipV="1">
            <a:off x="7451725" y="2981325"/>
            <a:ext cx="0" cy="10461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293" name="Line 27"/>
          <p:cNvSpPr>
            <a:spLocks noChangeShapeType="1"/>
          </p:cNvSpPr>
          <p:nvPr/>
        </p:nvSpPr>
        <p:spPr bwMode="auto">
          <a:xfrm>
            <a:off x="7739063" y="2981325"/>
            <a:ext cx="0" cy="17795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294" name="Line 28"/>
          <p:cNvSpPr>
            <a:spLocks noChangeShapeType="1"/>
          </p:cNvSpPr>
          <p:nvPr/>
        </p:nvSpPr>
        <p:spPr bwMode="auto">
          <a:xfrm>
            <a:off x="8099425" y="2981325"/>
            <a:ext cx="0" cy="25114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54295" name="Group 29"/>
          <p:cNvGrpSpPr/>
          <p:nvPr/>
        </p:nvGrpSpPr>
        <p:grpSpPr bwMode="auto">
          <a:xfrm>
            <a:off x="4283075" y="1412875"/>
            <a:ext cx="1584325" cy="1570038"/>
            <a:chOff x="1610" y="1706"/>
            <a:chExt cx="998" cy="681"/>
          </a:xfrm>
        </p:grpSpPr>
        <p:sp>
          <p:nvSpPr>
            <p:cNvPr id="54326" name="Rectangle 30"/>
            <p:cNvSpPr>
              <a:spLocks noChangeArrowheads="1"/>
            </p:cNvSpPr>
            <p:nvPr/>
          </p:nvSpPr>
          <p:spPr bwMode="auto">
            <a:xfrm>
              <a:off x="1610" y="1706"/>
              <a:ext cx="998" cy="681"/>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800">
                  <a:solidFill>
                    <a:schemeClr val="bg1"/>
                  </a:solidFill>
                  <a:ea typeface="楷体" panose="02010609060101010101" pitchFamily="49" charset="-122"/>
                  <a:cs typeface="Times New Roman" panose="02020603050405020304" pitchFamily="18" charset="0"/>
                </a:rPr>
                <a:t>模块</a:t>
              </a:r>
              <a:r>
                <a:rPr kumimoji="0" lang="en-US" altLang="zh-CN" sz="2800">
                  <a:solidFill>
                    <a:schemeClr val="bg1"/>
                  </a:solidFill>
                  <a:ea typeface="楷体" panose="02010609060101010101" pitchFamily="49" charset="-122"/>
                  <a:cs typeface="Times New Roman" panose="02020603050405020304" pitchFamily="18" charset="0"/>
                </a:rPr>
                <a:t>2</a:t>
              </a:r>
              <a:endParaRPr kumimoji="0" lang="en-US" altLang="zh-CN" sz="2800">
                <a:solidFill>
                  <a:schemeClr val="bg1"/>
                </a:solidFill>
                <a:ea typeface="楷体" panose="02010609060101010101" pitchFamily="49" charset="-122"/>
                <a:cs typeface="Times New Roman" panose="02020603050405020304" pitchFamily="18" charset="0"/>
              </a:endParaRPr>
            </a:p>
            <a:p>
              <a:pPr eaLnBrk="1" hangingPunct="1">
                <a:spcBef>
                  <a:spcPct val="0"/>
                </a:spcBef>
                <a:buClrTx/>
                <a:buFontTx/>
                <a:buNone/>
              </a:pPr>
              <a:endParaRPr kumimoji="0" lang="en-US" altLang="zh-CN">
                <a:solidFill>
                  <a:schemeClr val="bg1"/>
                </a:solidFill>
                <a:ea typeface="楷体" panose="02010609060101010101" pitchFamily="49" charset="-122"/>
                <a:cs typeface="Times New Roman" panose="02020603050405020304" pitchFamily="18" charset="0"/>
              </a:endParaRPr>
            </a:p>
            <a:p>
              <a:pPr eaLnBrk="1" hangingPunct="1">
                <a:spcBef>
                  <a:spcPct val="0"/>
                </a:spcBef>
                <a:buClrTx/>
                <a:buFontTx/>
                <a:buNone/>
              </a:pPr>
              <a:endParaRPr kumimoji="0" lang="en-US" altLang="zh-CN" sz="1800">
                <a:solidFill>
                  <a:schemeClr val="bg1"/>
                </a:solidFill>
                <a:ea typeface="楷体" panose="02010609060101010101" pitchFamily="49" charset="-122"/>
                <a:cs typeface="Times New Roman" panose="02020603050405020304" pitchFamily="18" charset="0"/>
              </a:endParaRPr>
            </a:p>
            <a:p>
              <a:pPr eaLnBrk="1" hangingPunct="1">
                <a:spcBef>
                  <a:spcPct val="0"/>
                </a:spcBef>
                <a:buClrTx/>
                <a:buFontTx/>
                <a:buNone/>
              </a:pPr>
              <a:endParaRPr kumimoji="0" lang="en-US" altLang="zh-CN" sz="1800">
                <a:solidFill>
                  <a:schemeClr val="bg1"/>
                </a:solidFill>
                <a:ea typeface="楷体" panose="02010609060101010101" pitchFamily="49" charset="-122"/>
                <a:cs typeface="Times New Roman" panose="02020603050405020304" pitchFamily="18" charset="0"/>
              </a:endParaRPr>
            </a:p>
          </p:txBody>
        </p:sp>
        <p:sp>
          <p:nvSpPr>
            <p:cNvPr id="54327" name="Rectangle 31"/>
            <p:cNvSpPr>
              <a:spLocks noChangeArrowheads="1"/>
            </p:cNvSpPr>
            <p:nvPr/>
          </p:nvSpPr>
          <p:spPr bwMode="auto">
            <a:xfrm>
              <a:off x="1792" y="1868"/>
              <a:ext cx="635"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panose="05000000000000000000" pitchFamily="2" charset="2"/>
                <a:buNone/>
              </a:pPr>
              <a:r>
                <a:rPr kumimoji="0" lang="zh-CN" altLang="en-US" sz="2400">
                  <a:solidFill>
                    <a:schemeClr val="bg1"/>
                  </a:solidFill>
                  <a:ea typeface="楷体" panose="02010609060101010101" pitchFamily="49" charset="-122"/>
                  <a:cs typeface="Times New Roman" panose="02020603050405020304" pitchFamily="18" charset="0"/>
                </a:rPr>
                <a:t>总线访</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 typeface="Wingdings" panose="05000000000000000000" pitchFamily="2" charset="2"/>
                <a:buNone/>
              </a:pPr>
              <a:r>
                <a:rPr kumimoji="0" lang="zh-CN" altLang="en-US" sz="2400">
                  <a:solidFill>
                    <a:schemeClr val="bg1"/>
                  </a:solidFill>
                  <a:ea typeface="楷体" panose="02010609060101010101" pitchFamily="49" charset="-122"/>
                  <a:cs typeface="Times New Roman" panose="02020603050405020304" pitchFamily="18" charset="0"/>
                </a:rPr>
                <a:t>问逻辑</a:t>
              </a:r>
              <a:endParaRPr kumimoji="0" lang="zh-CN" altLang="en-US" sz="2400">
                <a:solidFill>
                  <a:schemeClr val="bg1"/>
                </a:solidFill>
                <a:ea typeface="楷体" panose="02010609060101010101" pitchFamily="49" charset="-122"/>
                <a:cs typeface="Times New Roman" panose="02020603050405020304" pitchFamily="18" charset="0"/>
              </a:endParaRPr>
            </a:p>
          </p:txBody>
        </p:sp>
      </p:grpSp>
      <p:grpSp>
        <p:nvGrpSpPr>
          <p:cNvPr id="54296" name="Group 32"/>
          <p:cNvGrpSpPr/>
          <p:nvPr/>
        </p:nvGrpSpPr>
        <p:grpSpPr bwMode="auto">
          <a:xfrm>
            <a:off x="6946900" y="1412875"/>
            <a:ext cx="1584325" cy="1570038"/>
            <a:chOff x="1610" y="1706"/>
            <a:chExt cx="998" cy="681"/>
          </a:xfrm>
        </p:grpSpPr>
        <p:sp>
          <p:nvSpPr>
            <p:cNvPr id="54324" name="Rectangle 33"/>
            <p:cNvSpPr>
              <a:spLocks noChangeArrowheads="1"/>
            </p:cNvSpPr>
            <p:nvPr/>
          </p:nvSpPr>
          <p:spPr bwMode="auto">
            <a:xfrm>
              <a:off x="1610" y="1706"/>
              <a:ext cx="998" cy="681"/>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800">
                  <a:solidFill>
                    <a:schemeClr val="bg1"/>
                  </a:solidFill>
                  <a:ea typeface="楷体" panose="02010609060101010101" pitchFamily="49" charset="-122"/>
                  <a:cs typeface="Times New Roman" panose="02020603050405020304" pitchFamily="18" charset="0"/>
                </a:rPr>
                <a:t>模块</a:t>
              </a:r>
              <a:r>
                <a:rPr kumimoji="0" lang="en-US" altLang="zh-CN" sz="2800">
                  <a:solidFill>
                    <a:schemeClr val="bg1"/>
                  </a:solidFill>
                  <a:ea typeface="楷体" panose="02010609060101010101" pitchFamily="49" charset="-122"/>
                  <a:cs typeface="Times New Roman" panose="02020603050405020304" pitchFamily="18" charset="0"/>
                </a:rPr>
                <a:t>N</a:t>
              </a:r>
              <a:endParaRPr kumimoji="0" lang="en-US" altLang="zh-CN" sz="2800">
                <a:solidFill>
                  <a:schemeClr val="bg1"/>
                </a:solidFill>
                <a:ea typeface="楷体" panose="02010609060101010101" pitchFamily="49" charset="-122"/>
                <a:cs typeface="Times New Roman" panose="02020603050405020304" pitchFamily="18" charset="0"/>
              </a:endParaRPr>
            </a:p>
            <a:p>
              <a:pPr eaLnBrk="1" hangingPunct="1">
                <a:spcBef>
                  <a:spcPct val="0"/>
                </a:spcBef>
                <a:buClrTx/>
                <a:buFontTx/>
                <a:buNone/>
              </a:pPr>
              <a:endParaRPr kumimoji="0" lang="en-US" altLang="zh-CN">
                <a:solidFill>
                  <a:schemeClr val="bg1"/>
                </a:solidFill>
                <a:ea typeface="楷体" panose="02010609060101010101" pitchFamily="49" charset="-122"/>
                <a:cs typeface="Times New Roman" panose="02020603050405020304" pitchFamily="18" charset="0"/>
              </a:endParaRPr>
            </a:p>
            <a:p>
              <a:pPr eaLnBrk="1" hangingPunct="1">
                <a:spcBef>
                  <a:spcPct val="0"/>
                </a:spcBef>
                <a:buClrTx/>
                <a:buFontTx/>
                <a:buNone/>
              </a:pPr>
              <a:endParaRPr kumimoji="0" lang="en-US" altLang="zh-CN" sz="1800">
                <a:solidFill>
                  <a:schemeClr val="bg1"/>
                </a:solidFill>
                <a:ea typeface="楷体" panose="02010609060101010101" pitchFamily="49" charset="-122"/>
                <a:cs typeface="Times New Roman" panose="02020603050405020304" pitchFamily="18" charset="0"/>
              </a:endParaRPr>
            </a:p>
            <a:p>
              <a:pPr eaLnBrk="1" hangingPunct="1">
                <a:spcBef>
                  <a:spcPct val="0"/>
                </a:spcBef>
                <a:buClrTx/>
                <a:buFontTx/>
                <a:buNone/>
              </a:pPr>
              <a:endParaRPr kumimoji="0" lang="en-US" altLang="zh-CN" sz="1800">
                <a:solidFill>
                  <a:schemeClr val="bg1"/>
                </a:solidFill>
                <a:ea typeface="楷体" panose="02010609060101010101" pitchFamily="49" charset="-122"/>
                <a:cs typeface="Times New Roman" panose="02020603050405020304" pitchFamily="18" charset="0"/>
              </a:endParaRPr>
            </a:p>
          </p:txBody>
        </p:sp>
        <p:sp>
          <p:nvSpPr>
            <p:cNvPr id="54325" name="Rectangle 34"/>
            <p:cNvSpPr>
              <a:spLocks noChangeArrowheads="1"/>
            </p:cNvSpPr>
            <p:nvPr/>
          </p:nvSpPr>
          <p:spPr bwMode="auto">
            <a:xfrm>
              <a:off x="1819" y="1863"/>
              <a:ext cx="635"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总线访</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问逻辑</a:t>
              </a:r>
              <a:endParaRPr kumimoji="0" lang="zh-CN" altLang="en-US" sz="2400">
                <a:solidFill>
                  <a:schemeClr val="bg1"/>
                </a:solidFill>
                <a:ea typeface="楷体" panose="02010609060101010101" pitchFamily="49" charset="-122"/>
                <a:cs typeface="Times New Roman" panose="02020603050405020304" pitchFamily="18" charset="0"/>
              </a:endParaRPr>
            </a:p>
          </p:txBody>
        </p:sp>
      </p:grpSp>
      <p:sp>
        <p:nvSpPr>
          <p:cNvPr id="54297" name="Line 35"/>
          <p:cNvSpPr>
            <a:spLocks noChangeShapeType="1"/>
          </p:cNvSpPr>
          <p:nvPr/>
        </p:nvSpPr>
        <p:spPr bwMode="auto">
          <a:xfrm flipV="1">
            <a:off x="6311900" y="3900488"/>
            <a:ext cx="50800" cy="2540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298" name="Line 36"/>
          <p:cNvSpPr>
            <a:spLocks noChangeShapeType="1"/>
          </p:cNvSpPr>
          <p:nvPr/>
        </p:nvSpPr>
        <p:spPr bwMode="auto">
          <a:xfrm flipV="1">
            <a:off x="6388100" y="3900488"/>
            <a:ext cx="50800" cy="2540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299" name="Line 37"/>
          <p:cNvSpPr>
            <a:spLocks noChangeShapeType="1"/>
          </p:cNvSpPr>
          <p:nvPr/>
        </p:nvSpPr>
        <p:spPr bwMode="auto">
          <a:xfrm>
            <a:off x="6438900" y="4027488"/>
            <a:ext cx="10128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300" name="Text Box 38"/>
          <p:cNvSpPr txBox="1">
            <a:spLocks noChangeArrowheads="1"/>
          </p:cNvSpPr>
          <p:nvPr/>
        </p:nvSpPr>
        <p:spPr bwMode="auto">
          <a:xfrm>
            <a:off x="1905000" y="2981325"/>
            <a:ext cx="865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solidFill>
                  <a:schemeClr val="tx2"/>
                </a:solidFill>
                <a:ea typeface="楷体" panose="02010609060101010101" pitchFamily="49" charset="-122"/>
                <a:cs typeface="Times New Roman" panose="02020603050405020304" pitchFamily="18" charset="0"/>
              </a:rPr>
              <a:t>BG</a:t>
            </a:r>
            <a:r>
              <a:rPr kumimoji="0" lang="en-US" altLang="zh-CN" sz="2400" b="0" baseline="-25000">
                <a:solidFill>
                  <a:schemeClr val="tx2"/>
                </a:solidFill>
                <a:ea typeface="楷体" panose="02010609060101010101" pitchFamily="49" charset="-122"/>
                <a:cs typeface="Times New Roman" panose="02020603050405020304" pitchFamily="18" charset="0"/>
              </a:rPr>
              <a:t>I1</a:t>
            </a:r>
            <a:endParaRPr kumimoji="0" lang="en-US" altLang="zh-CN" sz="2400" b="0" baseline="-25000">
              <a:solidFill>
                <a:schemeClr val="tx2"/>
              </a:solidFill>
              <a:ea typeface="楷体" panose="02010609060101010101" pitchFamily="49" charset="-122"/>
              <a:cs typeface="Times New Roman" panose="02020603050405020304" pitchFamily="18" charset="0"/>
            </a:endParaRPr>
          </a:p>
        </p:txBody>
      </p:sp>
      <p:sp>
        <p:nvSpPr>
          <p:cNvPr id="54301" name="Text Box 39"/>
          <p:cNvSpPr txBox="1">
            <a:spLocks noChangeArrowheads="1"/>
          </p:cNvSpPr>
          <p:nvPr/>
        </p:nvSpPr>
        <p:spPr bwMode="auto">
          <a:xfrm>
            <a:off x="3563938" y="2982913"/>
            <a:ext cx="865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solidFill>
                  <a:schemeClr val="tx2"/>
                </a:solidFill>
                <a:ea typeface="楷体" panose="02010609060101010101" pitchFamily="49" charset="-122"/>
                <a:cs typeface="Times New Roman" panose="02020603050405020304" pitchFamily="18" charset="0"/>
              </a:rPr>
              <a:t>BG</a:t>
            </a:r>
            <a:r>
              <a:rPr kumimoji="0" lang="en-US" altLang="zh-CN" sz="2400" b="0" baseline="-25000">
                <a:solidFill>
                  <a:schemeClr val="tx2"/>
                </a:solidFill>
                <a:ea typeface="楷体" panose="02010609060101010101" pitchFamily="49" charset="-122"/>
                <a:cs typeface="Times New Roman" panose="02020603050405020304" pitchFamily="18" charset="0"/>
              </a:rPr>
              <a:t>O1</a:t>
            </a:r>
            <a:endParaRPr kumimoji="0" lang="en-US" altLang="zh-CN" sz="2400" b="0" baseline="-25000">
              <a:solidFill>
                <a:schemeClr val="tx2"/>
              </a:solidFill>
              <a:ea typeface="楷体" panose="02010609060101010101" pitchFamily="49" charset="-122"/>
              <a:cs typeface="Times New Roman" panose="02020603050405020304" pitchFamily="18" charset="0"/>
            </a:endParaRPr>
          </a:p>
        </p:txBody>
      </p:sp>
      <p:sp>
        <p:nvSpPr>
          <p:cNvPr id="54302" name="Text Box 40"/>
          <p:cNvSpPr txBox="1">
            <a:spLocks noChangeArrowheads="1"/>
          </p:cNvSpPr>
          <p:nvPr/>
        </p:nvSpPr>
        <p:spPr bwMode="auto">
          <a:xfrm>
            <a:off x="3778250" y="3570288"/>
            <a:ext cx="865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solidFill>
                  <a:schemeClr val="tx2"/>
                </a:solidFill>
                <a:ea typeface="楷体" panose="02010609060101010101" pitchFamily="49" charset="-122"/>
                <a:cs typeface="Times New Roman" panose="02020603050405020304" pitchFamily="18" charset="0"/>
              </a:rPr>
              <a:t>BG</a:t>
            </a:r>
            <a:r>
              <a:rPr kumimoji="0" lang="en-US" altLang="zh-CN" sz="2400" b="0" baseline="-25000">
                <a:solidFill>
                  <a:schemeClr val="tx2"/>
                </a:solidFill>
                <a:ea typeface="楷体" panose="02010609060101010101" pitchFamily="49" charset="-122"/>
                <a:cs typeface="Times New Roman" panose="02020603050405020304" pitchFamily="18" charset="0"/>
              </a:rPr>
              <a:t>I2</a:t>
            </a:r>
            <a:endParaRPr kumimoji="0" lang="en-US" altLang="zh-CN" sz="2400" b="0" baseline="-25000">
              <a:solidFill>
                <a:schemeClr val="tx2"/>
              </a:solidFill>
              <a:ea typeface="楷体" panose="02010609060101010101" pitchFamily="49" charset="-122"/>
              <a:cs typeface="Times New Roman" panose="02020603050405020304" pitchFamily="18" charset="0"/>
            </a:endParaRPr>
          </a:p>
        </p:txBody>
      </p:sp>
      <p:sp>
        <p:nvSpPr>
          <p:cNvPr id="54303" name="Text Box 41"/>
          <p:cNvSpPr txBox="1">
            <a:spLocks noChangeArrowheads="1"/>
          </p:cNvSpPr>
          <p:nvPr/>
        </p:nvSpPr>
        <p:spPr bwMode="auto">
          <a:xfrm>
            <a:off x="5364163" y="2982913"/>
            <a:ext cx="865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solidFill>
                  <a:schemeClr val="tx2"/>
                </a:solidFill>
                <a:ea typeface="楷体" panose="02010609060101010101" pitchFamily="49" charset="-122"/>
                <a:cs typeface="Times New Roman" panose="02020603050405020304" pitchFamily="18" charset="0"/>
              </a:rPr>
              <a:t>BG</a:t>
            </a:r>
            <a:r>
              <a:rPr kumimoji="0" lang="en-US" altLang="zh-CN" sz="2400" b="0" baseline="-25000">
                <a:solidFill>
                  <a:schemeClr val="tx2"/>
                </a:solidFill>
                <a:ea typeface="楷体" panose="02010609060101010101" pitchFamily="49" charset="-122"/>
                <a:cs typeface="Times New Roman" panose="02020603050405020304" pitchFamily="18" charset="0"/>
              </a:rPr>
              <a:t>O2</a:t>
            </a:r>
            <a:endParaRPr kumimoji="0" lang="en-US" altLang="zh-CN" sz="2400" b="0" baseline="-25000">
              <a:solidFill>
                <a:schemeClr val="tx2"/>
              </a:solidFill>
              <a:ea typeface="楷体" panose="02010609060101010101" pitchFamily="49" charset="-122"/>
              <a:cs typeface="Times New Roman" panose="02020603050405020304" pitchFamily="18" charset="0"/>
            </a:endParaRPr>
          </a:p>
        </p:txBody>
      </p:sp>
      <p:sp>
        <p:nvSpPr>
          <p:cNvPr id="54304" name="Text Box 42"/>
          <p:cNvSpPr txBox="1">
            <a:spLocks noChangeArrowheads="1"/>
          </p:cNvSpPr>
          <p:nvPr/>
        </p:nvSpPr>
        <p:spPr bwMode="auto">
          <a:xfrm>
            <a:off x="5446713" y="3570288"/>
            <a:ext cx="865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solidFill>
                  <a:schemeClr val="tx2"/>
                </a:solidFill>
                <a:ea typeface="楷体" panose="02010609060101010101" pitchFamily="49" charset="-122"/>
                <a:cs typeface="Times New Roman" panose="02020603050405020304" pitchFamily="18" charset="0"/>
              </a:rPr>
              <a:t>BG</a:t>
            </a:r>
            <a:r>
              <a:rPr kumimoji="0" lang="en-US" altLang="zh-CN" sz="2400" b="0" baseline="-25000">
                <a:solidFill>
                  <a:schemeClr val="tx2"/>
                </a:solidFill>
                <a:ea typeface="楷体" panose="02010609060101010101" pitchFamily="49" charset="-122"/>
                <a:cs typeface="Times New Roman" panose="02020603050405020304" pitchFamily="18" charset="0"/>
              </a:rPr>
              <a:t>I3</a:t>
            </a:r>
            <a:endParaRPr kumimoji="0" lang="en-US" altLang="zh-CN" sz="2400" b="0" baseline="-25000">
              <a:solidFill>
                <a:schemeClr val="tx2"/>
              </a:solidFill>
              <a:ea typeface="楷体" panose="02010609060101010101" pitchFamily="49" charset="-122"/>
              <a:cs typeface="Times New Roman" panose="02020603050405020304" pitchFamily="18" charset="0"/>
            </a:endParaRPr>
          </a:p>
        </p:txBody>
      </p:sp>
      <p:sp>
        <p:nvSpPr>
          <p:cNvPr id="54305" name="Text Box 43"/>
          <p:cNvSpPr txBox="1">
            <a:spLocks noChangeArrowheads="1"/>
          </p:cNvSpPr>
          <p:nvPr/>
        </p:nvSpPr>
        <p:spPr bwMode="auto">
          <a:xfrm>
            <a:off x="6584950" y="2982913"/>
            <a:ext cx="865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solidFill>
                  <a:schemeClr val="tx2"/>
                </a:solidFill>
                <a:ea typeface="楷体" panose="02010609060101010101" pitchFamily="49" charset="-122"/>
                <a:cs typeface="Times New Roman" panose="02020603050405020304" pitchFamily="18" charset="0"/>
              </a:rPr>
              <a:t>BG</a:t>
            </a:r>
            <a:r>
              <a:rPr kumimoji="0" lang="en-US" altLang="zh-CN" sz="2400" b="0" baseline="-25000">
                <a:solidFill>
                  <a:schemeClr val="tx2"/>
                </a:solidFill>
                <a:ea typeface="楷体" panose="02010609060101010101" pitchFamily="49" charset="-122"/>
                <a:cs typeface="Times New Roman" panose="02020603050405020304" pitchFamily="18" charset="0"/>
              </a:rPr>
              <a:t>IN</a:t>
            </a:r>
            <a:endParaRPr kumimoji="0" lang="en-US" altLang="zh-CN" sz="2400" b="0" baseline="-25000">
              <a:solidFill>
                <a:schemeClr val="tx2"/>
              </a:solidFill>
              <a:ea typeface="楷体" panose="02010609060101010101" pitchFamily="49" charset="-122"/>
              <a:cs typeface="Times New Roman" panose="02020603050405020304" pitchFamily="18" charset="0"/>
            </a:endParaRPr>
          </a:p>
        </p:txBody>
      </p:sp>
      <p:sp>
        <p:nvSpPr>
          <p:cNvPr id="45" name="弧形 44"/>
          <p:cNvSpPr/>
          <p:nvPr/>
        </p:nvSpPr>
        <p:spPr bwMode="auto">
          <a:xfrm>
            <a:off x="2714625" y="2571750"/>
            <a:ext cx="857250" cy="357188"/>
          </a:xfrm>
          <a:prstGeom prst="arc">
            <a:avLst/>
          </a:prstGeom>
          <a:noFill/>
          <a:ln w="9525" cap="flat" cmpd="sng" algn="ctr">
            <a:noFill/>
            <a:prstDash val="solid"/>
            <a:miter lim="800000"/>
            <a:headEnd type="none" w="med" len="med"/>
            <a:tailEnd type="none" w="med" len="med"/>
          </a:ln>
          <a:effectLst/>
        </p:spPr>
        <p:txBody>
          <a:bodyPr/>
          <a:lstStyle/>
          <a:p>
            <a:pPr algn="ctr" eaLnBrk="1" hangingPunct="1">
              <a:spcBef>
                <a:spcPct val="20000"/>
              </a:spcBef>
              <a:buFont typeface="Wingdings" panose="05000000000000000000" pitchFamily="2" charset="2"/>
              <a:buNone/>
              <a:defRPr/>
            </a:pPr>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6" name="弧形 45"/>
          <p:cNvSpPr/>
          <p:nvPr/>
        </p:nvSpPr>
        <p:spPr bwMode="auto">
          <a:xfrm>
            <a:off x="1071563" y="2000250"/>
            <a:ext cx="857250" cy="71438"/>
          </a:xfrm>
          <a:prstGeom prst="arc">
            <a:avLst/>
          </a:prstGeom>
          <a:noFill/>
          <a:ln w="9525" cap="flat" cmpd="sng" algn="ctr">
            <a:noFill/>
            <a:prstDash val="solid"/>
            <a:miter lim="800000"/>
            <a:headEnd type="none" w="med" len="med"/>
            <a:tailEnd type="none" w="med" len="med"/>
          </a:ln>
          <a:effectLst/>
        </p:spPr>
        <p:txBody>
          <a:bodyPr/>
          <a:lstStyle/>
          <a:p>
            <a:pPr algn="ctr" eaLnBrk="1" hangingPunct="1">
              <a:spcBef>
                <a:spcPct val="20000"/>
              </a:spcBef>
              <a:buFont typeface="Wingdings" panose="05000000000000000000" pitchFamily="2" charset="2"/>
              <a:buNone/>
              <a:defRPr/>
            </a:pPr>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308" name="任意多边形 50"/>
          <p:cNvSpPr>
            <a:spLocks noChangeArrowheads="1"/>
          </p:cNvSpPr>
          <p:nvPr/>
        </p:nvSpPr>
        <p:spPr bwMode="auto">
          <a:xfrm>
            <a:off x="2714625" y="2643188"/>
            <a:ext cx="785813" cy="292100"/>
          </a:xfrm>
          <a:custGeom>
            <a:avLst/>
            <a:gdLst>
              <a:gd name="T0" fmla="*/ 0 w 906307"/>
              <a:gd name="T1" fmla="*/ 489 h 364141"/>
              <a:gd name="T2" fmla="*/ 6722 w 906307"/>
              <a:gd name="T3" fmla="*/ 0 h 364141"/>
              <a:gd name="T4" fmla="*/ 12549 w 906307"/>
              <a:gd name="T5" fmla="*/ 489 h 364141"/>
              <a:gd name="T6" fmla="*/ 0 60000 65536"/>
              <a:gd name="T7" fmla="*/ 0 60000 65536"/>
              <a:gd name="T8" fmla="*/ 0 60000 65536"/>
              <a:gd name="T9" fmla="*/ 0 w 906307"/>
              <a:gd name="T10" fmla="*/ 0 h 364141"/>
              <a:gd name="T11" fmla="*/ 906307 w 906307"/>
              <a:gd name="T12" fmla="*/ 364141 h 364141"/>
            </a:gdLst>
            <a:ahLst/>
            <a:cxnLst>
              <a:cxn ang="T6">
                <a:pos x="T0" y="T1"/>
              </a:cxn>
              <a:cxn ang="T7">
                <a:pos x="T2" y="T3"/>
              </a:cxn>
              <a:cxn ang="T8">
                <a:pos x="T4" y="T5"/>
              </a:cxn>
            </a:cxnLst>
            <a:rect l="T9" t="T10" r="T11" b="T12"/>
            <a:pathLst>
              <a:path w="906307" h="364141">
                <a:moveTo>
                  <a:pt x="0" y="364141"/>
                </a:moveTo>
                <a:cubicBezTo>
                  <a:pt x="167235" y="182070"/>
                  <a:pt x="334471" y="0"/>
                  <a:pt x="485522" y="0"/>
                </a:cubicBezTo>
                <a:cubicBezTo>
                  <a:pt x="636573" y="0"/>
                  <a:pt x="771440" y="182070"/>
                  <a:pt x="906307" y="364141"/>
                </a:cubicBezTo>
              </a:path>
            </a:pathLst>
          </a:custGeom>
          <a:noFill/>
          <a:ln w="22225" algn="ctr">
            <a:solidFill>
              <a:schemeClr val="bg1"/>
            </a:solidFill>
            <a:prstDash val="dash"/>
            <a:miter lim="800000"/>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309" name="任意多边形 51"/>
          <p:cNvSpPr>
            <a:spLocks noChangeArrowheads="1"/>
          </p:cNvSpPr>
          <p:nvPr/>
        </p:nvSpPr>
        <p:spPr bwMode="auto">
          <a:xfrm>
            <a:off x="4572000" y="2643188"/>
            <a:ext cx="785813" cy="292100"/>
          </a:xfrm>
          <a:custGeom>
            <a:avLst/>
            <a:gdLst>
              <a:gd name="T0" fmla="*/ 0 w 906307"/>
              <a:gd name="T1" fmla="*/ 489 h 364141"/>
              <a:gd name="T2" fmla="*/ 6722 w 906307"/>
              <a:gd name="T3" fmla="*/ 0 h 364141"/>
              <a:gd name="T4" fmla="*/ 12549 w 906307"/>
              <a:gd name="T5" fmla="*/ 489 h 364141"/>
              <a:gd name="T6" fmla="*/ 0 60000 65536"/>
              <a:gd name="T7" fmla="*/ 0 60000 65536"/>
              <a:gd name="T8" fmla="*/ 0 60000 65536"/>
              <a:gd name="T9" fmla="*/ 0 w 906307"/>
              <a:gd name="T10" fmla="*/ 0 h 364141"/>
              <a:gd name="T11" fmla="*/ 906307 w 906307"/>
              <a:gd name="T12" fmla="*/ 364141 h 364141"/>
            </a:gdLst>
            <a:ahLst/>
            <a:cxnLst>
              <a:cxn ang="T6">
                <a:pos x="T0" y="T1"/>
              </a:cxn>
              <a:cxn ang="T7">
                <a:pos x="T2" y="T3"/>
              </a:cxn>
              <a:cxn ang="T8">
                <a:pos x="T4" y="T5"/>
              </a:cxn>
            </a:cxnLst>
            <a:rect l="T9" t="T10" r="T11" b="T12"/>
            <a:pathLst>
              <a:path w="906307" h="364141">
                <a:moveTo>
                  <a:pt x="0" y="364141"/>
                </a:moveTo>
                <a:cubicBezTo>
                  <a:pt x="167235" y="182070"/>
                  <a:pt x="334471" y="0"/>
                  <a:pt x="485522" y="0"/>
                </a:cubicBezTo>
                <a:cubicBezTo>
                  <a:pt x="636573" y="0"/>
                  <a:pt x="771440" y="182070"/>
                  <a:pt x="906307" y="364141"/>
                </a:cubicBezTo>
              </a:path>
            </a:pathLst>
          </a:custGeom>
          <a:noFill/>
          <a:ln w="22225" algn="ctr">
            <a:solidFill>
              <a:schemeClr val="bg1"/>
            </a:solidFill>
            <a:prstDash val="dash"/>
            <a:miter lim="800000"/>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310" name="任意多边形 52"/>
          <p:cNvSpPr>
            <a:spLocks noChangeArrowheads="1"/>
          </p:cNvSpPr>
          <p:nvPr/>
        </p:nvSpPr>
        <p:spPr bwMode="auto">
          <a:xfrm>
            <a:off x="7500938" y="2708275"/>
            <a:ext cx="785812" cy="292100"/>
          </a:xfrm>
          <a:custGeom>
            <a:avLst/>
            <a:gdLst>
              <a:gd name="T0" fmla="*/ 0 w 906307"/>
              <a:gd name="T1" fmla="*/ 489 h 364141"/>
              <a:gd name="T2" fmla="*/ 6722 w 906307"/>
              <a:gd name="T3" fmla="*/ 0 h 364141"/>
              <a:gd name="T4" fmla="*/ 12549 w 906307"/>
              <a:gd name="T5" fmla="*/ 489 h 364141"/>
              <a:gd name="T6" fmla="*/ 0 60000 65536"/>
              <a:gd name="T7" fmla="*/ 0 60000 65536"/>
              <a:gd name="T8" fmla="*/ 0 60000 65536"/>
              <a:gd name="T9" fmla="*/ 0 w 906307"/>
              <a:gd name="T10" fmla="*/ 0 h 364141"/>
              <a:gd name="T11" fmla="*/ 906307 w 906307"/>
              <a:gd name="T12" fmla="*/ 364141 h 364141"/>
            </a:gdLst>
            <a:ahLst/>
            <a:cxnLst>
              <a:cxn ang="T6">
                <a:pos x="T0" y="T1"/>
              </a:cxn>
              <a:cxn ang="T7">
                <a:pos x="T2" y="T3"/>
              </a:cxn>
              <a:cxn ang="T8">
                <a:pos x="T4" y="T5"/>
              </a:cxn>
            </a:cxnLst>
            <a:rect l="T9" t="T10" r="T11" b="T12"/>
            <a:pathLst>
              <a:path w="906307" h="364141">
                <a:moveTo>
                  <a:pt x="0" y="364141"/>
                </a:moveTo>
                <a:cubicBezTo>
                  <a:pt x="167235" y="182070"/>
                  <a:pt x="334471" y="0"/>
                  <a:pt x="485522" y="0"/>
                </a:cubicBezTo>
                <a:cubicBezTo>
                  <a:pt x="636573" y="0"/>
                  <a:pt x="771440" y="182070"/>
                  <a:pt x="906307" y="364141"/>
                </a:cubicBezTo>
              </a:path>
            </a:pathLst>
          </a:custGeom>
          <a:noFill/>
          <a:ln w="22225" algn="ctr">
            <a:solidFill>
              <a:schemeClr val="bg1"/>
            </a:solidFill>
            <a:prstDash val="dash"/>
            <a:miter lim="800000"/>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311" name="Line 24"/>
          <p:cNvSpPr>
            <a:spLocks noChangeShapeType="1"/>
          </p:cNvSpPr>
          <p:nvPr/>
        </p:nvSpPr>
        <p:spPr bwMode="auto">
          <a:xfrm>
            <a:off x="8286750" y="3000375"/>
            <a:ext cx="0" cy="10461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4312" name="直接箭头连接符 55"/>
          <p:cNvCxnSpPr>
            <a:cxnSpLocks noChangeShapeType="1"/>
            <a:stCxn id="54311" idx="1"/>
          </p:cNvCxnSpPr>
          <p:nvPr/>
        </p:nvCxnSpPr>
        <p:spPr bwMode="auto">
          <a:xfrm flipV="1">
            <a:off x="8286750" y="4046538"/>
            <a:ext cx="533400" cy="0"/>
          </a:xfrm>
          <a:prstGeom prst="straightConnector1">
            <a:avLst/>
          </a:prstGeom>
          <a:noFill/>
          <a:ln w="9525" algn="ctr">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52" name="Line 22"/>
          <p:cNvSpPr>
            <a:spLocks noChangeShapeType="1"/>
          </p:cNvSpPr>
          <p:nvPr/>
        </p:nvSpPr>
        <p:spPr bwMode="auto">
          <a:xfrm>
            <a:off x="4787900" y="2981325"/>
            <a:ext cx="0" cy="1779588"/>
          </a:xfrm>
          <a:prstGeom prst="line">
            <a:avLst/>
          </a:prstGeom>
          <a:noFill/>
          <a:ln w="222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箭头连接符 4"/>
          <p:cNvCxnSpPr>
            <a:cxnSpLocks noChangeShapeType="1"/>
            <a:stCxn id="59" idx="1"/>
            <a:endCxn id="54282" idx="0"/>
          </p:cNvCxnSpPr>
          <p:nvPr/>
        </p:nvCxnSpPr>
        <p:spPr bwMode="auto">
          <a:xfrm flipH="1">
            <a:off x="1330325" y="4760913"/>
            <a:ext cx="6408738" cy="0"/>
          </a:xfrm>
          <a:prstGeom prst="straightConnector1">
            <a:avLst/>
          </a:prstGeom>
          <a:noFill/>
          <a:ln w="19050" algn="ctr">
            <a:solidFill>
              <a:srgbClr val="FF0000"/>
            </a:solidFill>
            <a:miter lim="800000"/>
            <a:tailEnd type="triangle" w="med" len="med"/>
          </a:ln>
          <a:extLst>
            <a:ext uri="{909E8E84-426E-40DD-AFC4-6F175D3DCCD1}">
              <a14:hiddenFill xmlns:a14="http://schemas.microsoft.com/office/drawing/2010/main">
                <a:noFill/>
              </a14:hiddenFill>
            </a:ext>
          </a:extLst>
        </p:spPr>
      </p:cxnSp>
      <p:sp>
        <p:nvSpPr>
          <p:cNvPr id="59" name="Line 22"/>
          <p:cNvSpPr>
            <a:spLocks noChangeShapeType="1"/>
          </p:cNvSpPr>
          <p:nvPr/>
        </p:nvSpPr>
        <p:spPr bwMode="auto">
          <a:xfrm>
            <a:off x="7739063" y="2981325"/>
            <a:ext cx="0" cy="1779588"/>
          </a:xfrm>
          <a:prstGeom prst="line">
            <a:avLst/>
          </a:prstGeom>
          <a:noFill/>
          <a:ln w="222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6" name="Line 22"/>
          <p:cNvSpPr>
            <a:spLocks noChangeShapeType="1"/>
          </p:cNvSpPr>
          <p:nvPr/>
        </p:nvSpPr>
        <p:spPr bwMode="auto">
          <a:xfrm>
            <a:off x="1330325" y="4027488"/>
            <a:ext cx="1368425" cy="0"/>
          </a:xfrm>
          <a:prstGeom prst="line">
            <a:avLst/>
          </a:prstGeom>
          <a:noFill/>
          <a:ln w="22225">
            <a:solidFill>
              <a:srgbClr val="FF0000"/>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7" name="Line 22"/>
          <p:cNvSpPr>
            <a:spLocks noChangeShapeType="1"/>
          </p:cNvSpPr>
          <p:nvPr/>
        </p:nvSpPr>
        <p:spPr bwMode="auto">
          <a:xfrm flipV="1">
            <a:off x="2709863" y="2978150"/>
            <a:ext cx="0" cy="1049338"/>
          </a:xfrm>
          <a:prstGeom prst="line">
            <a:avLst/>
          </a:prstGeom>
          <a:noFill/>
          <a:ln w="222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8" name="Line 22"/>
          <p:cNvSpPr>
            <a:spLocks noChangeShapeType="1"/>
          </p:cNvSpPr>
          <p:nvPr/>
        </p:nvSpPr>
        <p:spPr bwMode="auto">
          <a:xfrm flipV="1">
            <a:off x="4498975" y="2978150"/>
            <a:ext cx="0" cy="1049338"/>
          </a:xfrm>
          <a:prstGeom prst="line">
            <a:avLst/>
          </a:prstGeom>
          <a:noFill/>
          <a:ln w="222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9" name="Line 22"/>
          <p:cNvSpPr>
            <a:spLocks noChangeShapeType="1"/>
          </p:cNvSpPr>
          <p:nvPr/>
        </p:nvSpPr>
        <p:spPr bwMode="auto">
          <a:xfrm flipV="1">
            <a:off x="3571875" y="4027488"/>
            <a:ext cx="925513" cy="4762"/>
          </a:xfrm>
          <a:prstGeom prst="line">
            <a:avLst/>
          </a:prstGeom>
          <a:noFill/>
          <a:ln w="22225">
            <a:solidFill>
              <a:srgbClr val="FF0000"/>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0" name="Line 22"/>
          <p:cNvSpPr>
            <a:spLocks noChangeShapeType="1"/>
          </p:cNvSpPr>
          <p:nvPr/>
        </p:nvSpPr>
        <p:spPr bwMode="auto">
          <a:xfrm flipH="1" flipV="1">
            <a:off x="3570288" y="2982913"/>
            <a:ext cx="0" cy="1063625"/>
          </a:xfrm>
          <a:prstGeom prst="line">
            <a:avLst/>
          </a:prstGeom>
          <a:noFill/>
          <a:ln w="22225">
            <a:solidFill>
              <a:srgbClr val="FF0000"/>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1" name="Line 22"/>
          <p:cNvSpPr>
            <a:spLocks noChangeShapeType="1"/>
          </p:cNvSpPr>
          <p:nvPr/>
        </p:nvSpPr>
        <p:spPr bwMode="auto">
          <a:xfrm>
            <a:off x="5075238" y="2981325"/>
            <a:ext cx="0" cy="2511425"/>
          </a:xfrm>
          <a:prstGeom prst="line">
            <a:avLst/>
          </a:prstGeom>
          <a:noFill/>
          <a:ln w="222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72" name="直接箭头连接符 71"/>
          <p:cNvCxnSpPr>
            <a:cxnSpLocks noChangeShapeType="1"/>
            <a:stCxn id="54289" idx="1"/>
          </p:cNvCxnSpPr>
          <p:nvPr/>
        </p:nvCxnSpPr>
        <p:spPr bwMode="auto">
          <a:xfrm flipH="1" flipV="1">
            <a:off x="1330325" y="5492750"/>
            <a:ext cx="3744913" cy="0"/>
          </a:xfrm>
          <a:prstGeom prst="straightConnector1">
            <a:avLst/>
          </a:prstGeom>
          <a:noFill/>
          <a:ln w="19050" algn="ctr">
            <a:solidFill>
              <a:srgbClr val="FF0000"/>
            </a:solidFill>
            <a:miter lim="800000"/>
            <a:tailEnd type="triangle" w="med" len="med"/>
          </a:ln>
          <a:extLst>
            <a:ext uri="{909E8E84-426E-40DD-AFC4-6F175D3DCCD1}">
              <a14:hiddenFill xmlns:a14="http://schemas.microsoft.com/office/drawing/2010/main">
                <a:noFill/>
              </a14:hiddenFill>
            </a:ext>
          </a:extLst>
        </p:spPr>
      </p:cxnSp>
      <p:sp>
        <p:nvSpPr>
          <p:cNvPr id="75" name="任意多边形 51"/>
          <p:cNvSpPr>
            <a:spLocks noChangeArrowheads="1"/>
          </p:cNvSpPr>
          <p:nvPr/>
        </p:nvSpPr>
        <p:spPr bwMode="auto">
          <a:xfrm>
            <a:off x="2709863" y="2649538"/>
            <a:ext cx="785812" cy="292100"/>
          </a:xfrm>
          <a:custGeom>
            <a:avLst/>
            <a:gdLst>
              <a:gd name="T0" fmla="*/ 0 w 906307"/>
              <a:gd name="T1" fmla="*/ 489 h 364141"/>
              <a:gd name="T2" fmla="*/ 6722 w 906307"/>
              <a:gd name="T3" fmla="*/ 0 h 364141"/>
              <a:gd name="T4" fmla="*/ 12549 w 906307"/>
              <a:gd name="T5" fmla="*/ 489 h 364141"/>
              <a:gd name="T6" fmla="*/ 0 60000 65536"/>
              <a:gd name="T7" fmla="*/ 0 60000 65536"/>
              <a:gd name="T8" fmla="*/ 0 60000 65536"/>
              <a:gd name="T9" fmla="*/ 0 w 906307"/>
              <a:gd name="T10" fmla="*/ 0 h 364141"/>
              <a:gd name="T11" fmla="*/ 906307 w 906307"/>
              <a:gd name="T12" fmla="*/ 364141 h 364141"/>
            </a:gdLst>
            <a:ahLst/>
            <a:cxnLst>
              <a:cxn ang="T6">
                <a:pos x="T0" y="T1"/>
              </a:cxn>
              <a:cxn ang="T7">
                <a:pos x="T2" y="T3"/>
              </a:cxn>
              <a:cxn ang="T8">
                <a:pos x="T4" y="T5"/>
              </a:cxn>
            </a:cxnLst>
            <a:rect l="T9" t="T10" r="T11" b="T12"/>
            <a:pathLst>
              <a:path w="906307" h="364141">
                <a:moveTo>
                  <a:pt x="0" y="364141"/>
                </a:moveTo>
                <a:cubicBezTo>
                  <a:pt x="167235" y="182070"/>
                  <a:pt x="334471" y="0"/>
                  <a:pt x="485522" y="0"/>
                </a:cubicBezTo>
                <a:cubicBezTo>
                  <a:pt x="636573" y="0"/>
                  <a:pt x="771440" y="182070"/>
                  <a:pt x="906307" y="364141"/>
                </a:cubicBezTo>
              </a:path>
            </a:pathLst>
          </a:custGeom>
          <a:noFill/>
          <a:ln w="22225" algn="ctr">
            <a:solidFill>
              <a:srgbClr val="FF0000"/>
            </a:solidFill>
            <a:prstDash val="solid"/>
            <a:miter lim="800000"/>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up)">
                                      <p:cBhvr>
                                        <p:cTn id="7" dur="500"/>
                                        <p:tgtEl>
                                          <p:spTgt spid="52"/>
                                        </p:tgtEl>
                                      </p:cBhvr>
                                    </p:animEffect>
                                  </p:childTnLst>
                                </p:cTn>
                              </p:par>
                              <p:par>
                                <p:cTn id="8" presetID="22" presetClass="entr" presetSubtype="1" fill="hold" nodeType="withEffect">
                                  <p:stCondLst>
                                    <p:cond delay="0"/>
                                  </p:stCondLst>
                                  <p:childTnLst>
                                    <p:set>
                                      <p:cBhvr>
                                        <p:cTn id="9" dur="1" fill="hold">
                                          <p:stCondLst>
                                            <p:cond delay="0"/>
                                          </p:stCondLst>
                                        </p:cTn>
                                        <p:tgtEl>
                                          <p:spTgt spid="59"/>
                                        </p:tgtEl>
                                        <p:attrNameLst>
                                          <p:attrName>style.visibility</p:attrName>
                                        </p:attrNameLst>
                                      </p:cBhvr>
                                      <p:to>
                                        <p:strVal val="visible"/>
                                      </p:to>
                                    </p:set>
                                    <p:animEffect transition="in" filter="wipe(up)">
                                      <p:cBhvr>
                                        <p:cTn id="10" dur="500"/>
                                        <p:tgtEl>
                                          <p:spTgt spid="5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6"/>
                                        </p:tgtEl>
                                        <p:attrNameLst>
                                          <p:attrName>style.visibility</p:attrName>
                                        </p:attrNameLst>
                                      </p:cBhvr>
                                      <p:to>
                                        <p:strVal val="visible"/>
                                      </p:to>
                                    </p:set>
                                    <p:animEffect transition="in" filter="wipe(left)">
                                      <p:cBhvr>
                                        <p:cTn id="20" dur="500"/>
                                        <p:tgtEl>
                                          <p:spTgt spid="6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wipe(down)">
                                      <p:cBhvr>
                                        <p:cTn id="25" dur="500"/>
                                        <p:tgtEl>
                                          <p:spTgt spid="6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5"/>
                                        </p:tgtEl>
                                        <p:attrNameLst>
                                          <p:attrName>style.visibility</p:attrName>
                                        </p:attrNameLst>
                                      </p:cBhvr>
                                      <p:to>
                                        <p:strVal val="visible"/>
                                      </p:to>
                                    </p:set>
                                    <p:animEffect transition="in" filter="wipe(left)">
                                      <p:cBhvr>
                                        <p:cTn id="30" dur="500"/>
                                        <p:tgtEl>
                                          <p:spTgt spid="7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70"/>
                                        </p:tgtEl>
                                        <p:attrNameLst>
                                          <p:attrName>style.visibility</p:attrName>
                                        </p:attrNameLst>
                                      </p:cBhvr>
                                      <p:to>
                                        <p:strVal val="visible"/>
                                      </p:to>
                                    </p:set>
                                    <p:animEffect transition="in" filter="wipe(left)">
                                      <p:cBhvr>
                                        <p:cTn id="35" dur="500"/>
                                        <p:tgtEl>
                                          <p:spTgt spid="7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9"/>
                                        </p:tgtEl>
                                        <p:attrNameLst>
                                          <p:attrName>style.visibility</p:attrName>
                                        </p:attrNameLst>
                                      </p:cBhvr>
                                      <p:to>
                                        <p:strVal val="visible"/>
                                      </p:to>
                                    </p:set>
                                    <p:animEffect transition="in" filter="wipe(left)">
                                      <p:cBhvr>
                                        <p:cTn id="40" dur="500"/>
                                        <p:tgtEl>
                                          <p:spTgt spid="6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68"/>
                                        </p:tgtEl>
                                        <p:attrNameLst>
                                          <p:attrName>style.visibility</p:attrName>
                                        </p:attrNameLst>
                                      </p:cBhvr>
                                      <p:to>
                                        <p:strVal val="visible"/>
                                      </p:to>
                                    </p:set>
                                    <p:animEffect transition="in" filter="wipe(down)">
                                      <p:cBhvr>
                                        <p:cTn id="45" dur="500"/>
                                        <p:tgtEl>
                                          <p:spTgt spid="68"/>
                                        </p:tgtEl>
                                      </p:cBhvr>
                                    </p:animEffect>
                                  </p:childTnLst>
                                </p:cTn>
                              </p:par>
                              <p:par>
                                <p:cTn id="46" presetID="22" presetClass="entr" presetSubtype="1" fill="hold" nodeType="withEffect">
                                  <p:stCondLst>
                                    <p:cond delay="0"/>
                                  </p:stCondLst>
                                  <p:childTnLst>
                                    <p:set>
                                      <p:cBhvr>
                                        <p:cTn id="47" dur="1" fill="hold">
                                          <p:stCondLst>
                                            <p:cond delay="0"/>
                                          </p:stCondLst>
                                        </p:cTn>
                                        <p:tgtEl>
                                          <p:spTgt spid="71"/>
                                        </p:tgtEl>
                                        <p:attrNameLst>
                                          <p:attrName>style.visibility</p:attrName>
                                        </p:attrNameLst>
                                      </p:cBhvr>
                                      <p:to>
                                        <p:strVal val="visible"/>
                                      </p:to>
                                    </p:set>
                                    <p:animEffect transition="in" filter="wipe(up)">
                                      <p:cBhvr>
                                        <p:cTn id="48" dur="500"/>
                                        <p:tgtEl>
                                          <p:spTgt spid="7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72"/>
                                        </p:tgtEl>
                                        <p:attrNameLst>
                                          <p:attrName>style.visibility</p:attrName>
                                        </p:attrNameLst>
                                      </p:cBhvr>
                                      <p:to>
                                        <p:strVal val="visible"/>
                                      </p:to>
                                    </p:set>
                                    <p:animEffect transition="in" filter="wipe(down)">
                                      <p:cBhvr>
                                        <p:cTn id="53"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defRPr/>
            </a:pPr>
            <a:r>
              <a:rPr lang="zh-CN" altLang="en-US"/>
              <a:t>说明 </a:t>
            </a:r>
            <a:endParaRPr lang="zh-CN" altLang="en-US"/>
          </a:p>
        </p:txBody>
      </p:sp>
      <p:sp>
        <p:nvSpPr>
          <p:cNvPr id="55299" name="Rectangle 3"/>
          <p:cNvSpPr>
            <a:spLocks noGrp="1" noChangeArrowheads="1"/>
          </p:cNvSpPr>
          <p:nvPr>
            <p:ph idx="1"/>
          </p:nvPr>
        </p:nvSpPr>
        <p:spPr>
          <a:xfrm>
            <a:off x="269875" y="1198843"/>
            <a:ext cx="8604250" cy="5400675"/>
          </a:xfrm>
        </p:spPr>
        <p:txBody>
          <a:bodyPr/>
          <a:lstStyle/>
          <a:p>
            <a:pPr eaLnBrk="1" hangingPunct="1">
              <a:lnSpc>
                <a:spcPct val="90000"/>
              </a:lnSpc>
            </a:pPr>
            <a:r>
              <a:rPr lang="zh-CN" altLang="en-US" sz="2400" dirty="0"/>
              <a:t>总线空闲时，</a:t>
            </a:r>
            <a:r>
              <a:rPr lang="en-US" altLang="zh-CN" sz="2400" dirty="0"/>
              <a:t>/BR</a:t>
            </a:r>
            <a:r>
              <a:rPr lang="zh-CN" altLang="en-US" sz="2400" dirty="0"/>
              <a:t>、</a:t>
            </a:r>
            <a:r>
              <a:rPr lang="en-US" altLang="zh-CN" sz="2400" dirty="0"/>
              <a:t>/BB</a:t>
            </a:r>
            <a:r>
              <a:rPr lang="zh-CN" altLang="en-US" sz="2400" dirty="0"/>
              <a:t>和</a:t>
            </a:r>
            <a:r>
              <a:rPr lang="en-US" altLang="zh-CN" sz="2400" dirty="0"/>
              <a:t>BG</a:t>
            </a:r>
            <a:r>
              <a:rPr lang="zh-CN" altLang="en-US" sz="2400" dirty="0"/>
              <a:t>均无效</a:t>
            </a:r>
            <a:endParaRPr lang="zh-CN" altLang="en-US" sz="2400" dirty="0"/>
          </a:p>
          <a:p>
            <a:pPr eaLnBrk="1" hangingPunct="1">
              <a:lnSpc>
                <a:spcPct val="90000"/>
              </a:lnSpc>
            </a:pPr>
            <a:r>
              <a:rPr lang="zh-CN" altLang="en-US" sz="2400" dirty="0"/>
              <a:t>总线申请者可以通过置</a:t>
            </a:r>
            <a:r>
              <a:rPr lang="en-US" altLang="zh-CN" sz="2400" dirty="0"/>
              <a:t>/BR=0</a:t>
            </a:r>
            <a:r>
              <a:rPr lang="zh-CN" altLang="en-US" sz="2400" dirty="0"/>
              <a:t>发出总线申请</a:t>
            </a:r>
            <a:endParaRPr lang="zh-CN" altLang="en-US" sz="2400" dirty="0"/>
          </a:p>
          <a:p>
            <a:pPr eaLnBrk="1" hangingPunct="1">
              <a:lnSpc>
                <a:spcPct val="90000"/>
              </a:lnSpc>
            </a:pPr>
            <a:r>
              <a:rPr lang="zh-CN" altLang="en-US" sz="2400" dirty="0"/>
              <a:t>当</a:t>
            </a:r>
            <a:r>
              <a:rPr lang="en-US" altLang="zh-CN" sz="2400" dirty="0"/>
              <a:t>/BR=0</a:t>
            </a:r>
            <a:r>
              <a:rPr lang="zh-CN" altLang="en-US" sz="2400" dirty="0"/>
              <a:t>且总线空闲（</a:t>
            </a:r>
            <a:r>
              <a:rPr lang="en-US" altLang="zh-CN" sz="2400" dirty="0"/>
              <a:t>/BB=1</a:t>
            </a:r>
            <a:r>
              <a:rPr lang="zh-CN" altLang="en-US" sz="2400" dirty="0"/>
              <a:t>）时总线控制器置</a:t>
            </a:r>
            <a:r>
              <a:rPr lang="en-US" altLang="zh-CN" sz="2400" dirty="0"/>
              <a:t>BG=1</a:t>
            </a:r>
            <a:r>
              <a:rPr lang="zh-CN" altLang="en-US" sz="2400" dirty="0"/>
              <a:t>，响应总线请求。</a:t>
            </a:r>
            <a:endParaRPr lang="zh-CN" altLang="en-US" sz="2400" dirty="0"/>
          </a:p>
          <a:p>
            <a:pPr eaLnBrk="1" hangingPunct="1">
              <a:lnSpc>
                <a:spcPct val="90000"/>
              </a:lnSpc>
            </a:pPr>
            <a:r>
              <a:rPr lang="zh-CN" altLang="en-US" sz="2400" dirty="0"/>
              <a:t>若某模块未申请总线而收到</a:t>
            </a:r>
            <a:r>
              <a:rPr lang="en-US" altLang="zh-CN" sz="2400" dirty="0" err="1"/>
              <a:t>BG</a:t>
            </a:r>
            <a:r>
              <a:rPr lang="en-US" altLang="zh-CN" sz="2400" baseline="-25000" dirty="0" err="1"/>
              <a:t>i</a:t>
            </a:r>
            <a:r>
              <a:rPr lang="en-US" altLang="zh-CN" sz="2400" dirty="0"/>
              <a:t>=1</a:t>
            </a:r>
            <a:r>
              <a:rPr lang="zh-CN" altLang="en-US" sz="2400" dirty="0"/>
              <a:t>，则置</a:t>
            </a:r>
            <a:r>
              <a:rPr lang="en-US" altLang="zh-CN" sz="2400" dirty="0" err="1">
                <a:solidFill>
                  <a:srgbClr val="FF0000"/>
                </a:solidFill>
              </a:rPr>
              <a:t>BG</a:t>
            </a:r>
            <a:r>
              <a:rPr lang="en-US" altLang="zh-CN" sz="2400" baseline="-25000" dirty="0" err="1">
                <a:solidFill>
                  <a:srgbClr val="FF0000"/>
                </a:solidFill>
              </a:rPr>
              <a:t>o</a:t>
            </a:r>
            <a:r>
              <a:rPr lang="en-US" altLang="zh-CN" sz="2400" dirty="0">
                <a:solidFill>
                  <a:srgbClr val="FF0000"/>
                </a:solidFill>
              </a:rPr>
              <a:t>=1</a:t>
            </a:r>
            <a:r>
              <a:rPr lang="zh-CN" altLang="en-US" sz="2400" dirty="0"/>
              <a:t>（</a:t>
            </a:r>
            <a:r>
              <a:rPr lang="en-US" altLang="zh-CN" sz="2400" dirty="0"/>
              <a:t>BG</a:t>
            </a:r>
            <a:r>
              <a:rPr lang="zh-CN" altLang="en-US" sz="2400" dirty="0"/>
              <a:t>沿串行链向下传递）。</a:t>
            </a:r>
            <a:endParaRPr lang="zh-CN" altLang="en-US" sz="2400" dirty="0"/>
          </a:p>
          <a:p>
            <a:pPr eaLnBrk="1" hangingPunct="1">
              <a:lnSpc>
                <a:spcPct val="90000"/>
              </a:lnSpc>
            </a:pPr>
            <a:r>
              <a:rPr lang="zh-CN" altLang="en-US" sz="2400" dirty="0"/>
              <a:t>若某模块已发出总线申请，则在</a:t>
            </a:r>
            <a:r>
              <a:rPr lang="en-US" altLang="zh-CN" sz="2400" dirty="0"/>
              <a:t>/BR=0</a:t>
            </a:r>
            <a:r>
              <a:rPr lang="zh-CN" altLang="en-US" sz="2400" dirty="0"/>
              <a:t>、</a:t>
            </a:r>
            <a:r>
              <a:rPr lang="en-US" altLang="zh-CN" sz="2400" dirty="0"/>
              <a:t>/BB=1</a:t>
            </a:r>
            <a:r>
              <a:rPr lang="zh-CN" altLang="en-US" sz="2400" dirty="0"/>
              <a:t>和</a:t>
            </a:r>
            <a:r>
              <a:rPr lang="en-US" altLang="zh-CN" sz="2400" dirty="0" err="1"/>
              <a:t>BG</a:t>
            </a:r>
            <a:r>
              <a:rPr lang="en-US" altLang="zh-CN" sz="2400" baseline="-25000" dirty="0" err="1"/>
              <a:t>i</a:t>
            </a:r>
            <a:r>
              <a:rPr lang="en-US" altLang="zh-CN" sz="2400" dirty="0"/>
              <a:t>=1</a:t>
            </a:r>
            <a:r>
              <a:rPr lang="zh-CN" altLang="en-US" sz="2400" dirty="0"/>
              <a:t>三者同时满足的情况下占用总线，同时使</a:t>
            </a:r>
            <a:r>
              <a:rPr lang="en-US" altLang="zh-CN" sz="2400" dirty="0" err="1">
                <a:solidFill>
                  <a:srgbClr val="FF0000"/>
                </a:solidFill>
              </a:rPr>
              <a:t>BGo</a:t>
            </a:r>
            <a:r>
              <a:rPr lang="en-US" altLang="zh-CN" sz="2400" dirty="0">
                <a:solidFill>
                  <a:srgbClr val="FF0000"/>
                </a:solidFill>
              </a:rPr>
              <a:t>=0</a:t>
            </a:r>
            <a:r>
              <a:rPr lang="zh-CN" altLang="en-US" sz="2400" dirty="0"/>
              <a:t>，以禁止更低优先级的申请者接管总线使用权。</a:t>
            </a:r>
            <a:endParaRPr lang="zh-CN" altLang="en-US" sz="2400" dirty="0"/>
          </a:p>
          <a:p>
            <a:pPr eaLnBrk="1" hangingPunct="1">
              <a:lnSpc>
                <a:spcPct val="90000"/>
              </a:lnSpc>
            </a:pPr>
            <a:r>
              <a:rPr lang="zh-CN" altLang="en-US" sz="2400" dirty="0"/>
              <a:t>若某模块收到</a:t>
            </a:r>
            <a:r>
              <a:rPr lang="en-US" altLang="zh-CN" sz="2400" dirty="0" err="1"/>
              <a:t>BG</a:t>
            </a:r>
            <a:r>
              <a:rPr lang="en-US" altLang="zh-CN" sz="2400" baseline="-25000" dirty="0" err="1"/>
              <a:t>i</a:t>
            </a:r>
            <a:r>
              <a:rPr lang="en-US" altLang="zh-CN" sz="2400" dirty="0"/>
              <a:t>=0</a:t>
            </a:r>
            <a:r>
              <a:rPr lang="zh-CN" altLang="en-US" sz="2400" dirty="0"/>
              <a:t>，则置</a:t>
            </a:r>
            <a:r>
              <a:rPr lang="en-US" altLang="zh-CN" sz="2400" dirty="0" err="1"/>
              <a:t>BG</a:t>
            </a:r>
            <a:r>
              <a:rPr lang="en-US" altLang="zh-CN" sz="2400" baseline="-25000" dirty="0" err="1"/>
              <a:t>o</a:t>
            </a:r>
            <a:r>
              <a:rPr lang="en-US" altLang="zh-CN" sz="2400" dirty="0"/>
              <a:t>=0</a:t>
            </a:r>
            <a:endParaRPr lang="en-US" altLang="zh-CN" sz="2400" dirty="0"/>
          </a:p>
          <a:p>
            <a:pPr eaLnBrk="1" hangingPunct="1">
              <a:lnSpc>
                <a:spcPct val="90000"/>
              </a:lnSpc>
            </a:pPr>
            <a:r>
              <a:rPr lang="zh-CN" altLang="en-US" sz="2400" dirty="0"/>
              <a:t>任何申请者在占用总线后需使</a:t>
            </a:r>
            <a:r>
              <a:rPr lang="en-US" altLang="zh-CN" sz="2400" dirty="0"/>
              <a:t>/BB=0</a:t>
            </a:r>
            <a:r>
              <a:rPr lang="zh-CN" altLang="en-US" sz="2400" dirty="0"/>
              <a:t>，表示总线已占用，以禁止控制器发出</a:t>
            </a:r>
            <a:r>
              <a:rPr lang="en-US" altLang="zh-CN" sz="2400" dirty="0"/>
              <a:t>BG=1</a:t>
            </a:r>
            <a:r>
              <a:rPr lang="zh-CN" altLang="en-US" sz="2400" dirty="0"/>
              <a:t>（上升沿）。</a:t>
            </a:r>
            <a:endParaRPr lang="zh-CN" altLang="en-US" sz="2400" dirty="0"/>
          </a:p>
          <a:p>
            <a:pPr eaLnBrk="1" hangingPunct="1">
              <a:lnSpc>
                <a:spcPct val="90000"/>
              </a:lnSpc>
            </a:pPr>
            <a:r>
              <a:rPr lang="zh-CN" altLang="en-US" sz="2400" dirty="0"/>
              <a:t>占用总线的模块使用完总线后使</a:t>
            </a:r>
            <a:r>
              <a:rPr lang="en-US" altLang="zh-CN" sz="2400" dirty="0"/>
              <a:t>/BB=1</a:t>
            </a:r>
            <a:r>
              <a:rPr lang="zh-CN" altLang="en-US" sz="2400" dirty="0"/>
              <a:t>，以示归还总线。</a:t>
            </a:r>
            <a:endParaRPr lang="zh-CN" altLang="en-US" sz="2400" dirty="0"/>
          </a:p>
        </p:txBody>
      </p:sp>
    </p:spTree>
  </p:cSld>
  <p:clrMapOvr>
    <a:masterClrMapping/>
  </p:clrMapOvr>
  <p:transition spd="med">
    <p:pull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defRPr/>
            </a:pPr>
            <a:r>
              <a:rPr lang="zh-CN" altLang="en-US"/>
              <a:t>举例</a:t>
            </a:r>
            <a:endParaRPr lang="zh-CN" altLang="en-US"/>
          </a:p>
        </p:txBody>
      </p:sp>
      <p:sp>
        <p:nvSpPr>
          <p:cNvPr id="57347" name="Rectangle 33"/>
          <p:cNvSpPr>
            <a:spLocks noGrp="1" noChangeArrowheads="1"/>
          </p:cNvSpPr>
          <p:nvPr>
            <p:ph idx="1"/>
          </p:nvPr>
        </p:nvSpPr>
        <p:spPr>
          <a:xfrm>
            <a:off x="303291" y="1096963"/>
            <a:ext cx="8534400" cy="2541588"/>
          </a:xfrm>
        </p:spPr>
        <p:txBody>
          <a:bodyPr/>
          <a:lstStyle/>
          <a:p>
            <a:pPr eaLnBrk="1" hangingPunct="1"/>
            <a:r>
              <a:rPr lang="zh-CN" altLang="en-US" dirty="0"/>
              <a:t>如图所示的链式查询方式总线：</a:t>
            </a:r>
            <a:endParaRPr lang="zh-CN" altLang="en-US" dirty="0"/>
          </a:p>
          <a:p>
            <a:pPr lvl="1" eaLnBrk="1" hangingPunct="1"/>
            <a:r>
              <a:rPr lang="zh-CN" altLang="en-US" dirty="0"/>
              <a:t>模块</a:t>
            </a:r>
            <a:r>
              <a:rPr lang="en-US" altLang="zh-CN" dirty="0"/>
              <a:t>2</a:t>
            </a:r>
            <a:r>
              <a:rPr lang="zh-CN" altLang="en-US" dirty="0"/>
              <a:t>、模块</a:t>
            </a:r>
            <a:r>
              <a:rPr lang="en-US" altLang="zh-CN" dirty="0"/>
              <a:t>4</a:t>
            </a:r>
            <a:r>
              <a:rPr lang="zh-CN" altLang="en-US" dirty="0"/>
              <a:t>有请求</a:t>
            </a:r>
            <a:endParaRPr lang="zh-CN" altLang="en-US" dirty="0"/>
          </a:p>
          <a:p>
            <a:pPr lvl="1" eaLnBrk="1" hangingPunct="1"/>
            <a:r>
              <a:rPr lang="zh-CN" altLang="en-US" dirty="0"/>
              <a:t>模块</a:t>
            </a:r>
            <a:r>
              <a:rPr lang="en-US" altLang="zh-CN" dirty="0"/>
              <a:t>1</a:t>
            </a:r>
            <a:r>
              <a:rPr lang="zh-CN" altLang="en-US" dirty="0"/>
              <a:t>、模块</a:t>
            </a:r>
            <a:r>
              <a:rPr lang="en-US" altLang="zh-CN" dirty="0"/>
              <a:t>3</a:t>
            </a:r>
            <a:r>
              <a:rPr lang="zh-CN" altLang="en-US" dirty="0"/>
              <a:t>无请求</a:t>
            </a:r>
            <a:endParaRPr lang="zh-CN" altLang="en-US" dirty="0"/>
          </a:p>
          <a:p>
            <a:pPr eaLnBrk="1" hangingPunct="1"/>
            <a:r>
              <a:rPr lang="zh-CN" altLang="en-US" dirty="0"/>
              <a:t>当总线控制器出让总线控制权后，各总线控制信号的状态是什么？</a:t>
            </a:r>
            <a:endParaRPr lang="zh-CN" altLang="en-US" dirty="0"/>
          </a:p>
        </p:txBody>
      </p:sp>
      <p:grpSp>
        <p:nvGrpSpPr>
          <p:cNvPr id="57349" name="Group 3"/>
          <p:cNvGrpSpPr/>
          <p:nvPr/>
        </p:nvGrpSpPr>
        <p:grpSpPr bwMode="auto">
          <a:xfrm>
            <a:off x="357188" y="3644900"/>
            <a:ext cx="8496300" cy="2395538"/>
            <a:chOff x="249" y="2148"/>
            <a:chExt cx="5486" cy="1509"/>
          </a:xfrm>
        </p:grpSpPr>
        <p:sp>
          <p:nvSpPr>
            <p:cNvPr id="57359" name="Text Box 4"/>
            <p:cNvSpPr txBox="1">
              <a:spLocks noChangeArrowheads="1"/>
            </p:cNvSpPr>
            <p:nvPr/>
          </p:nvSpPr>
          <p:spPr bwMode="auto">
            <a:xfrm>
              <a:off x="839" y="2740"/>
              <a:ext cx="9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000" b="0">
                  <a:solidFill>
                    <a:schemeClr val="tx2"/>
                  </a:solidFill>
                  <a:ea typeface="楷体" panose="02010609060101010101" pitchFamily="49" charset="-122"/>
                  <a:cs typeface="Times New Roman" panose="02020603050405020304" pitchFamily="18" charset="0"/>
                </a:rPr>
                <a:t>/BR</a:t>
              </a:r>
              <a:endParaRPr kumimoji="0" lang="en-US" altLang="zh-CN" sz="2000" b="0">
                <a:solidFill>
                  <a:schemeClr val="tx2"/>
                </a:solidFill>
                <a:ea typeface="楷体" panose="02010609060101010101" pitchFamily="49" charset="-122"/>
                <a:cs typeface="Times New Roman" panose="02020603050405020304" pitchFamily="18" charset="0"/>
              </a:endParaRPr>
            </a:p>
          </p:txBody>
        </p:sp>
        <p:sp>
          <p:nvSpPr>
            <p:cNvPr id="57360" name="Text Box 5"/>
            <p:cNvSpPr txBox="1">
              <a:spLocks noChangeArrowheads="1"/>
            </p:cNvSpPr>
            <p:nvPr/>
          </p:nvSpPr>
          <p:spPr bwMode="auto">
            <a:xfrm>
              <a:off x="839" y="3201"/>
              <a:ext cx="74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000" b="0">
                  <a:solidFill>
                    <a:schemeClr val="tx2"/>
                  </a:solidFill>
                  <a:ea typeface="楷体" panose="02010609060101010101" pitchFamily="49" charset="-122"/>
                  <a:cs typeface="Times New Roman" panose="02020603050405020304" pitchFamily="18" charset="0"/>
                </a:rPr>
                <a:t>/BB</a:t>
              </a:r>
              <a:endParaRPr kumimoji="0" lang="en-US" altLang="zh-CN" sz="2000" b="0">
                <a:solidFill>
                  <a:schemeClr val="tx2"/>
                </a:solidFill>
                <a:ea typeface="楷体" panose="02010609060101010101" pitchFamily="49" charset="-122"/>
                <a:cs typeface="Times New Roman" panose="02020603050405020304" pitchFamily="18" charset="0"/>
              </a:endParaRPr>
            </a:p>
          </p:txBody>
        </p:sp>
        <p:sp>
          <p:nvSpPr>
            <p:cNvPr id="57361" name="Rectangle 6"/>
            <p:cNvSpPr>
              <a:spLocks noChangeArrowheads="1"/>
            </p:cNvSpPr>
            <p:nvPr/>
          </p:nvSpPr>
          <p:spPr bwMode="auto">
            <a:xfrm>
              <a:off x="249" y="2340"/>
              <a:ext cx="590" cy="1317"/>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ea typeface="楷体" panose="02010609060101010101" pitchFamily="49" charset="-122"/>
                  <a:cs typeface="Times New Roman" panose="02020603050405020304" pitchFamily="18" charset="0"/>
                </a:rPr>
                <a:t>总</a:t>
              </a:r>
              <a:endParaRPr kumimoji="0"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000">
                  <a:solidFill>
                    <a:schemeClr val="bg1"/>
                  </a:solidFill>
                  <a:ea typeface="楷体" panose="02010609060101010101" pitchFamily="49" charset="-122"/>
                  <a:cs typeface="Times New Roman" panose="02020603050405020304" pitchFamily="18" charset="0"/>
                </a:rPr>
                <a:t>线</a:t>
              </a:r>
              <a:endParaRPr kumimoji="0"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000">
                  <a:solidFill>
                    <a:schemeClr val="bg1"/>
                  </a:solidFill>
                  <a:ea typeface="楷体" panose="02010609060101010101" pitchFamily="49" charset="-122"/>
                  <a:cs typeface="Times New Roman" panose="02020603050405020304" pitchFamily="18" charset="0"/>
                </a:rPr>
                <a:t>控</a:t>
              </a:r>
              <a:endParaRPr kumimoji="0"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000">
                  <a:solidFill>
                    <a:schemeClr val="bg1"/>
                  </a:solidFill>
                  <a:ea typeface="楷体" panose="02010609060101010101" pitchFamily="49" charset="-122"/>
                  <a:cs typeface="Times New Roman" panose="02020603050405020304" pitchFamily="18" charset="0"/>
                </a:rPr>
                <a:t>制</a:t>
              </a:r>
              <a:endParaRPr kumimoji="0"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000">
                  <a:solidFill>
                    <a:schemeClr val="bg1"/>
                  </a:solidFill>
                  <a:ea typeface="楷体" panose="02010609060101010101" pitchFamily="49" charset="-122"/>
                  <a:cs typeface="Times New Roman" panose="02020603050405020304" pitchFamily="18" charset="0"/>
                </a:rPr>
                <a:t>器</a:t>
              </a:r>
              <a:endParaRPr kumimoji="0" lang="zh-CN" altLang="en-US" sz="2000">
                <a:solidFill>
                  <a:schemeClr val="bg1"/>
                </a:solidFill>
                <a:ea typeface="楷体" panose="02010609060101010101" pitchFamily="49" charset="-122"/>
                <a:cs typeface="Times New Roman" panose="02020603050405020304" pitchFamily="18" charset="0"/>
              </a:endParaRPr>
            </a:p>
          </p:txBody>
        </p:sp>
        <p:sp>
          <p:nvSpPr>
            <p:cNvPr id="57362" name="Line 7"/>
            <p:cNvSpPr>
              <a:spLocks noChangeShapeType="1"/>
            </p:cNvSpPr>
            <p:nvPr/>
          </p:nvSpPr>
          <p:spPr bwMode="auto">
            <a:xfrm>
              <a:off x="838" y="2999"/>
              <a:ext cx="4763"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7363" name="Line 8"/>
            <p:cNvSpPr>
              <a:spLocks noChangeShapeType="1"/>
            </p:cNvSpPr>
            <p:nvPr/>
          </p:nvSpPr>
          <p:spPr bwMode="auto">
            <a:xfrm>
              <a:off x="838" y="3460"/>
              <a:ext cx="4763"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57364" name="Group 9"/>
            <p:cNvGrpSpPr/>
            <p:nvPr/>
          </p:nvGrpSpPr>
          <p:grpSpPr bwMode="auto">
            <a:xfrm>
              <a:off x="839" y="2148"/>
              <a:ext cx="1224" cy="1312"/>
              <a:chOff x="839" y="2148"/>
              <a:chExt cx="1224" cy="1312"/>
            </a:xfrm>
          </p:grpSpPr>
          <p:sp>
            <p:nvSpPr>
              <p:cNvPr id="57383" name="Rectangle 10"/>
              <p:cNvSpPr>
                <a:spLocks noChangeArrowheads="1"/>
              </p:cNvSpPr>
              <p:nvPr/>
            </p:nvSpPr>
            <p:spPr bwMode="auto">
              <a:xfrm>
                <a:off x="1428" y="2148"/>
                <a:ext cx="635" cy="592"/>
              </a:xfrm>
              <a:prstGeom prst="rect">
                <a:avLst/>
              </a:prstGeom>
              <a:solidFill>
                <a:srgbClr val="006600"/>
              </a:solidFill>
              <a:ln w="9525">
                <a:solidFill>
                  <a:srgbClr val="FFFFFF"/>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ea typeface="楷体" panose="02010609060101010101" pitchFamily="49" charset="-122"/>
                    <a:cs typeface="Times New Roman" panose="02020603050405020304" pitchFamily="18" charset="0"/>
                  </a:rPr>
                  <a:t>模块</a:t>
                </a:r>
                <a:endParaRPr kumimoji="0"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1</a:t>
                </a:r>
                <a:endParaRPr kumimoji="0" lang="en-US" altLang="zh-CN" sz="2000">
                  <a:solidFill>
                    <a:schemeClr val="bg1"/>
                  </a:solidFill>
                  <a:ea typeface="楷体" panose="02010609060101010101" pitchFamily="49" charset="-122"/>
                  <a:cs typeface="Times New Roman" panose="02020603050405020304" pitchFamily="18" charset="0"/>
                </a:endParaRPr>
              </a:p>
            </p:txBody>
          </p:sp>
          <p:sp>
            <p:nvSpPr>
              <p:cNvPr id="57384" name="Line 11"/>
              <p:cNvSpPr>
                <a:spLocks noChangeShapeType="1"/>
              </p:cNvSpPr>
              <p:nvPr/>
            </p:nvSpPr>
            <p:spPr bwMode="auto">
              <a:xfrm>
                <a:off x="1585" y="2740"/>
                <a:ext cx="0" cy="25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7385" name="Line 12"/>
              <p:cNvSpPr>
                <a:spLocks noChangeShapeType="1"/>
              </p:cNvSpPr>
              <p:nvPr/>
            </p:nvSpPr>
            <p:spPr bwMode="auto">
              <a:xfrm>
                <a:off x="1837" y="2740"/>
                <a:ext cx="0" cy="72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7386" name="Text Box 13"/>
              <p:cNvSpPr txBox="1">
                <a:spLocks noChangeArrowheads="1"/>
              </p:cNvSpPr>
              <p:nvPr/>
            </p:nvSpPr>
            <p:spPr bwMode="auto">
              <a:xfrm>
                <a:off x="927" y="2249"/>
                <a:ext cx="5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000" b="0">
                    <a:solidFill>
                      <a:schemeClr val="tx2"/>
                    </a:solidFill>
                    <a:ea typeface="楷体" panose="02010609060101010101" pitchFamily="49" charset="-122"/>
                    <a:cs typeface="Times New Roman" panose="02020603050405020304" pitchFamily="18" charset="0"/>
                  </a:rPr>
                  <a:t>BG</a:t>
                </a:r>
                <a:r>
                  <a:rPr kumimoji="0" lang="en-US" altLang="zh-CN" sz="2000" b="0" baseline="-25000">
                    <a:solidFill>
                      <a:schemeClr val="tx2"/>
                    </a:solidFill>
                    <a:ea typeface="楷体" panose="02010609060101010101" pitchFamily="49" charset="-122"/>
                    <a:cs typeface="Times New Roman" panose="02020603050405020304" pitchFamily="18" charset="0"/>
                  </a:rPr>
                  <a:t>I1</a:t>
                </a:r>
                <a:endParaRPr kumimoji="0" lang="en-US" altLang="zh-CN" sz="2000" b="0" baseline="-25000">
                  <a:solidFill>
                    <a:schemeClr val="tx2"/>
                  </a:solidFill>
                  <a:ea typeface="楷体" panose="02010609060101010101" pitchFamily="49" charset="-122"/>
                  <a:cs typeface="Times New Roman" panose="02020603050405020304" pitchFamily="18" charset="0"/>
                </a:endParaRPr>
              </a:p>
            </p:txBody>
          </p:sp>
          <p:sp>
            <p:nvSpPr>
              <p:cNvPr id="57387" name="Line 14"/>
              <p:cNvSpPr>
                <a:spLocks noChangeShapeType="1"/>
              </p:cNvSpPr>
              <p:nvPr/>
            </p:nvSpPr>
            <p:spPr bwMode="auto">
              <a:xfrm flipV="1">
                <a:off x="839" y="2537"/>
                <a:ext cx="5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grpSp>
        <p:grpSp>
          <p:nvGrpSpPr>
            <p:cNvPr id="57365" name="Group 15"/>
            <p:cNvGrpSpPr/>
            <p:nvPr/>
          </p:nvGrpSpPr>
          <p:grpSpPr bwMode="auto">
            <a:xfrm>
              <a:off x="2063" y="2148"/>
              <a:ext cx="1224" cy="1312"/>
              <a:chOff x="839" y="2148"/>
              <a:chExt cx="1224" cy="1312"/>
            </a:xfrm>
          </p:grpSpPr>
          <p:sp>
            <p:nvSpPr>
              <p:cNvPr id="57378" name="Rectangle 16"/>
              <p:cNvSpPr>
                <a:spLocks noChangeArrowheads="1"/>
              </p:cNvSpPr>
              <p:nvPr/>
            </p:nvSpPr>
            <p:spPr bwMode="auto">
              <a:xfrm>
                <a:off x="1428" y="2148"/>
                <a:ext cx="635" cy="592"/>
              </a:xfrm>
              <a:prstGeom prst="rect">
                <a:avLst/>
              </a:prstGeom>
              <a:solidFill>
                <a:srgbClr val="CC3300"/>
              </a:solidFill>
              <a:ln w="9525">
                <a:solidFill>
                  <a:srgbClr val="FFFFFF"/>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ea typeface="楷体" panose="02010609060101010101" pitchFamily="49" charset="-122"/>
                    <a:cs typeface="Times New Roman" panose="02020603050405020304" pitchFamily="18" charset="0"/>
                  </a:rPr>
                  <a:t>模块</a:t>
                </a:r>
                <a:endParaRPr kumimoji="0"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2</a:t>
                </a:r>
                <a:endParaRPr kumimoji="0" lang="en-US" altLang="zh-CN" sz="2000">
                  <a:solidFill>
                    <a:schemeClr val="bg1"/>
                  </a:solidFill>
                  <a:ea typeface="楷体" panose="02010609060101010101" pitchFamily="49" charset="-122"/>
                  <a:cs typeface="Times New Roman" panose="02020603050405020304" pitchFamily="18" charset="0"/>
                </a:endParaRPr>
              </a:p>
            </p:txBody>
          </p:sp>
          <p:sp>
            <p:nvSpPr>
              <p:cNvPr id="57379" name="Line 17"/>
              <p:cNvSpPr>
                <a:spLocks noChangeShapeType="1"/>
              </p:cNvSpPr>
              <p:nvPr/>
            </p:nvSpPr>
            <p:spPr bwMode="auto">
              <a:xfrm>
                <a:off x="1585" y="2740"/>
                <a:ext cx="0" cy="25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7380" name="Line 18"/>
              <p:cNvSpPr>
                <a:spLocks noChangeShapeType="1"/>
              </p:cNvSpPr>
              <p:nvPr/>
            </p:nvSpPr>
            <p:spPr bwMode="auto">
              <a:xfrm>
                <a:off x="1837" y="2740"/>
                <a:ext cx="0" cy="72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7381" name="Text Box 19"/>
              <p:cNvSpPr txBox="1">
                <a:spLocks noChangeArrowheads="1"/>
              </p:cNvSpPr>
              <p:nvPr/>
            </p:nvSpPr>
            <p:spPr bwMode="auto">
              <a:xfrm>
                <a:off x="927" y="2249"/>
                <a:ext cx="5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000" b="0">
                    <a:solidFill>
                      <a:schemeClr val="tx2"/>
                    </a:solidFill>
                    <a:ea typeface="楷体" panose="02010609060101010101" pitchFamily="49" charset="-122"/>
                    <a:cs typeface="Times New Roman" panose="02020603050405020304" pitchFamily="18" charset="0"/>
                  </a:rPr>
                  <a:t>BG</a:t>
                </a:r>
                <a:r>
                  <a:rPr kumimoji="0" lang="en-US" altLang="zh-CN" sz="2000" b="0" baseline="-25000">
                    <a:solidFill>
                      <a:schemeClr val="tx2"/>
                    </a:solidFill>
                    <a:ea typeface="楷体" panose="02010609060101010101" pitchFamily="49" charset="-122"/>
                    <a:cs typeface="Times New Roman" panose="02020603050405020304" pitchFamily="18" charset="0"/>
                  </a:rPr>
                  <a:t>I2</a:t>
                </a:r>
                <a:endParaRPr kumimoji="0" lang="en-US" altLang="zh-CN" sz="2000" b="0" baseline="-25000">
                  <a:solidFill>
                    <a:schemeClr val="tx2"/>
                  </a:solidFill>
                  <a:ea typeface="楷体" panose="02010609060101010101" pitchFamily="49" charset="-122"/>
                  <a:cs typeface="Times New Roman" panose="02020603050405020304" pitchFamily="18" charset="0"/>
                </a:endParaRPr>
              </a:p>
            </p:txBody>
          </p:sp>
          <p:sp>
            <p:nvSpPr>
              <p:cNvPr id="57382" name="Line 20"/>
              <p:cNvSpPr>
                <a:spLocks noChangeShapeType="1"/>
              </p:cNvSpPr>
              <p:nvPr/>
            </p:nvSpPr>
            <p:spPr bwMode="auto">
              <a:xfrm flipV="1">
                <a:off x="839" y="2537"/>
                <a:ext cx="5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grpSp>
        <p:grpSp>
          <p:nvGrpSpPr>
            <p:cNvPr id="57366" name="Group 21"/>
            <p:cNvGrpSpPr/>
            <p:nvPr/>
          </p:nvGrpSpPr>
          <p:grpSpPr bwMode="auto">
            <a:xfrm>
              <a:off x="3287" y="2148"/>
              <a:ext cx="1224" cy="1312"/>
              <a:chOff x="839" y="2148"/>
              <a:chExt cx="1224" cy="1312"/>
            </a:xfrm>
          </p:grpSpPr>
          <p:sp>
            <p:nvSpPr>
              <p:cNvPr id="57373" name="Rectangle 22"/>
              <p:cNvSpPr>
                <a:spLocks noChangeArrowheads="1"/>
              </p:cNvSpPr>
              <p:nvPr/>
            </p:nvSpPr>
            <p:spPr bwMode="auto">
              <a:xfrm>
                <a:off x="1428" y="2148"/>
                <a:ext cx="635" cy="592"/>
              </a:xfrm>
              <a:prstGeom prst="rect">
                <a:avLst/>
              </a:prstGeom>
              <a:solidFill>
                <a:srgbClr val="006600"/>
              </a:solidFill>
              <a:ln w="9525">
                <a:solidFill>
                  <a:srgbClr val="FFFFFF"/>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ea typeface="楷体" panose="02010609060101010101" pitchFamily="49" charset="-122"/>
                    <a:cs typeface="Times New Roman" panose="02020603050405020304" pitchFamily="18" charset="0"/>
                  </a:rPr>
                  <a:t>模块</a:t>
                </a:r>
                <a:endParaRPr kumimoji="0"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3</a:t>
                </a:r>
                <a:endParaRPr kumimoji="0" lang="en-US" altLang="zh-CN" sz="2000">
                  <a:solidFill>
                    <a:schemeClr val="bg1"/>
                  </a:solidFill>
                  <a:ea typeface="楷体" panose="02010609060101010101" pitchFamily="49" charset="-122"/>
                  <a:cs typeface="Times New Roman" panose="02020603050405020304" pitchFamily="18" charset="0"/>
                </a:endParaRPr>
              </a:p>
            </p:txBody>
          </p:sp>
          <p:sp>
            <p:nvSpPr>
              <p:cNvPr id="57374" name="Line 23"/>
              <p:cNvSpPr>
                <a:spLocks noChangeShapeType="1"/>
              </p:cNvSpPr>
              <p:nvPr/>
            </p:nvSpPr>
            <p:spPr bwMode="auto">
              <a:xfrm>
                <a:off x="1585" y="2740"/>
                <a:ext cx="0" cy="25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7375" name="Line 24"/>
              <p:cNvSpPr>
                <a:spLocks noChangeShapeType="1"/>
              </p:cNvSpPr>
              <p:nvPr/>
            </p:nvSpPr>
            <p:spPr bwMode="auto">
              <a:xfrm>
                <a:off x="1837" y="2740"/>
                <a:ext cx="0" cy="72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7376" name="Text Box 25"/>
              <p:cNvSpPr txBox="1">
                <a:spLocks noChangeArrowheads="1"/>
              </p:cNvSpPr>
              <p:nvPr/>
            </p:nvSpPr>
            <p:spPr bwMode="auto">
              <a:xfrm>
                <a:off x="927" y="2249"/>
                <a:ext cx="5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000" b="0">
                    <a:solidFill>
                      <a:schemeClr val="tx2"/>
                    </a:solidFill>
                    <a:ea typeface="楷体" panose="02010609060101010101" pitchFamily="49" charset="-122"/>
                    <a:cs typeface="Times New Roman" panose="02020603050405020304" pitchFamily="18" charset="0"/>
                  </a:rPr>
                  <a:t>BG</a:t>
                </a:r>
                <a:r>
                  <a:rPr kumimoji="0" lang="en-US" altLang="zh-CN" sz="2000" b="0" baseline="-25000">
                    <a:solidFill>
                      <a:schemeClr val="tx2"/>
                    </a:solidFill>
                    <a:ea typeface="楷体" panose="02010609060101010101" pitchFamily="49" charset="-122"/>
                    <a:cs typeface="Times New Roman" panose="02020603050405020304" pitchFamily="18" charset="0"/>
                  </a:rPr>
                  <a:t>I3</a:t>
                </a:r>
                <a:endParaRPr kumimoji="0" lang="en-US" altLang="zh-CN" sz="2000" b="0" baseline="-25000">
                  <a:solidFill>
                    <a:schemeClr val="tx2"/>
                  </a:solidFill>
                  <a:ea typeface="楷体" panose="02010609060101010101" pitchFamily="49" charset="-122"/>
                  <a:cs typeface="Times New Roman" panose="02020603050405020304" pitchFamily="18" charset="0"/>
                </a:endParaRPr>
              </a:p>
            </p:txBody>
          </p:sp>
          <p:sp>
            <p:nvSpPr>
              <p:cNvPr id="57377" name="Line 26"/>
              <p:cNvSpPr>
                <a:spLocks noChangeShapeType="1"/>
              </p:cNvSpPr>
              <p:nvPr/>
            </p:nvSpPr>
            <p:spPr bwMode="auto">
              <a:xfrm flipV="1">
                <a:off x="839" y="2537"/>
                <a:ext cx="5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grpSp>
        <p:grpSp>
          <p:nvGrpSpPr>
            <p:cNvPr id="57367" name="Group 27"/>
            <p:cNvGrpSpPr/>
            <p:nvPr/>
          </p:nvGrpSpPr>
          <p:grpSpPr bwMode="auto">
            <a:xfrm>
              <a:off x="4511" y="2148"/>
              <a:ext cx="1224" cy="1312"/>
              <a:chOff x="839" y="2148"/>
              <a:chExt cx="1224" cy="1312"/>
            </a:xfrm>
          </p:grpSpPr>
          <p:sp>
            <p:nvSpPr>
              <p:cNvPr id="57368" name="Rectangle 28"/>
              <p:cNvSpPr>
                <a:spLocks noChangeArrowheads="1"/>
              </p:cNvSpPr>
              <p:nvPr/>
            </p:nvSpPr>
            <p:spPr bwMode="auto">
              <a:xfrm>
                <a:off x="1428" y="2148"/>
                <a:ext cx="635" cy="592"/>
              </a:xfrm>
              <a:prstGeom prst="rect">
                <a:avLst/>
              </a:prstGeom>
              <a:solidFill>
                <a:srgbClr val="CC3300"/>
              </a:solidFill>
              <a:ln w="9525">
                <a:solidFill>
                  <a:srgbClr val="FFFFFF"/>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dirty="0">
                    <a:solidFill>
                      <a:schemeClr val="bg1"/>
                    </a:solidFill>
                    <a:ea typeface="楷体" panose="02010609060101010101" pitchFamily="49" charset="-122"/>
                    <a:cs typeface="Times New Roman" panose="02020603050405020304" pitchFamily="18" charset="0"/>
                  </a:rPr>
                  <a:t>模块</a:t>
                </a:r>
                <a:endParaRPr kumimoji="0" lang="zh-CN" altLang="en-US" sz="2000" dirty="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en-US" altLang="zh-CN" sz="2000" dirty="0">
                    <a:solidFill>
                      <a:schemeClr val="bg1"/>
                    </a:solidFill>
                    <a:ea typeface="楷体" panose="02010609060101010101" pitchFamily="49" charset="-122"/>
                    <a:cs typeface="Times New Roman" panose="02020603050405020304" pitchFamily="18" charset="0"/>
                  </a:rPr>
                  <a:t>4</a:t>
                </a:r>
                <a:endParaRPr kumimoji="0" lang="en-US" altLang="zh-CN" sz="2000" dirty="0">
                  <a:solidFill>
                    <a:schemeClr val="bg1"/>
                  </a:solidFill>
                  <a:ea typeface="楷体" panose="02010609060101010101" pitchFamily="49" charset="-122"/>
                  <a:cs typeface="Times New Roman" panose="02020603050405020304" pitchFamily="18" charset="0"/>
                </a:endParaRPr>
              </a:p>
            </p:txBody>
          </p:sp>
          <p:sp>
            <p:nvSpPr>
              <p:cNvPr id="57369" name="Line 29"/>
              <p:cNvSpPr>
                <a:spLocks noChangeShapeType="1"/>
              </p:cNvSpPr>
              <p:nvPr/>
            </p:nvSpPr>
            <p:spPr bwMode="auto">
              <a:xfrm>
                <a:off x="1585" y="2740"/>
                <a:ext cx="0" cy="25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7370" name="Line 30"/>
              <p:cNvSpPr>
                <a:spLocks noChangeShapeType="1"/>
              </p:cNvSpPr>
              <p:nvPr/>
            </p:nvSpPr>
            <p:spPr bwMode="auto">
              <a:xfrm>
                <a:off x="1837" y="2740"/>
                <a:ext cx="0" cy="72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7371" name="Text Box 31"/>
              <p:cNvSpPr txBox="1">
                <a:spLocks noChangeArrowheads="1"/>
              </p:cNvSpPr>
              <p:nvPr/>
            </p:nvSpPr>
            <p:spPr bwMode="auto">
              <a:xfrm>
                <a:off x="927" y="2249"/>
                <a:ext cx="5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000" b="0">
                    <a:solidFill>
                      <a:schemeClr val="tx2"/>
                    </a:solidFill>
                    <a:ea typeface="楷体" panose="02010609060101010101" pitchFamily="49" charset="-122"/>
                    <a:cs typeface="Times New Roman" panose="02020603050405020304" pitchFamily="18" charset="0"/>
                  </a:rPr>
                  <a:t>BG</a:t>
                </a:r>
                <a:r>
                  <a:rPr kumimoji="0" lang="en-US" altLang="zh-CN" sz="2000" b="0" baseline="-25000">
                    <a:solidFill>
                      <a:schemeClr val="tx2"/>
                    </a:solidFill>
                    <a:ea typeface="楷体" panose="02010609060101010101" pitchFamily="49" charset="-122"/>
                    <a:cs typeface="Times New Roman" panose="02020603050405020304" pitchFamily="18" charset="0"/>
                  </a:rPr>
                  <a:t>I4</a:t>
                </a:r>
                <a:endParaRPr kumimoji="0" lang="en-US" altLang="zh-CN" sz="2000" b="0" baseline="-25000">
                  <a:solidFill>
                    <a:schemeClr val="tx2"/>
                  </a:solidFill>
                  <a:ea typeface="楷体" panose="02010609060101010101" pitchFamily="49" charset="-122"/>
                  <a:cs typeface="Times New Roman" panose="02020603050405020304" pitchFamily="18" charset="0"/>
                </a:endParaRPr>
              </a:p>
            </p:txBody>
          </p:sp>
          <p:sp>
            <p:nvSpPr>
              <p:cNvPr id="57372" name="Line 32"/>
              <p:cNvSpPr>
                <a:spLocks noChangeShapeType="1"/>
              </p:cNvSpPr>
              <p:nvPr/>
            </p:nvSpPr>
            <p:spPr bwMode="auto">
              <a:xfrm flipV="1">
                <a:off x="839" y="2537"/>
                <a:ext cx="5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grpSp>
      </p:grpSp>
      <p:sp>
        <p:nvSpPr>
          <p:cNvPr id="98338" name="Text Box 34"/>
          <p:cNvSpPr txBox="1">
            <a:spLocks noChangeArrowheads="1"/>
          </p:cNvSpPr>
          <p:nvPr/>
        </p:nvSpPr>
        <p:spPr bwMode="auto">
          <a:xfrm>
            <a:off x="1627353" y="4240213"/>
            <a:ext cx="1298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rgbClr val="FF0000"/>
                </a:solidFill>
                <a:ea typeface="楷体" panose="02010609060101010101" pitchFamily="49" charset="-122"/>
                <a:cs typeface="Times New Roman" panose="02020603050405020304" pitchFamily="18" charset="0"/>
              </a:rPr>
              <a:t>1</a:t>
            </a:r>
            <a:endParaRPr lang="en-US" altLang="zh-CN" sz="2000">
              <a:solidFill>
                <a:srgbClr val="FF0000"/>
              </a:solidFill>
              <a:ea typeface="楷体" panose="02010609060101010101" pitchFamily="49" charset="-122"/>
              <a:cs typeface="Times New Roman" panose="02020603050405020304" pitchFamily="18" charset="0"/>
            </a:endParaRPr>
          </a:p>
        </p:txBody>
      </p:sp>
      <p:sp>
        <p:nvSpPr>
          <p:cNvPr id="98339" name="Text Box 35"/>
          <p:cNvSpPr txBox="1">
            <a:spLocks noChangeArrowheads="1"/>
          </p:cNvSpPr>
          <p:nvPr/>
        </p:nvSpPr>
        <p:spPr bwMode="auto">
          <a:xfrm>
            <a:off x="4095916" y="4572000"/>
            <a:ext cx="1298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rgbClr val="FF0000"/>
                </a:solidFill>
                <a:ea typeface="楷体" panose="02010609060101010101" pitchFamily="49" charset="-122"/>
                <a:cs typeface="Times New Roman" panose="02020603050405020304" pitchFamily="18" charset="0"/>
              </a:rPr>
              <a:t>0</a:t>
            </a:r>
            <a:endParaRPr lang="en-US" altLang="zh-CN" sz="2000">
              <a:solidFill>
                <a:srgbClr val="FF0000"/>
              </a:solidFill>
              <a:ea typeface="楷体" panose="02010609060101010101" pitchFamily="49" charset="-122"/>
              <a:cs typeface="Times New Roman" panose="02020603050405020304" pitchFamily="18" charset="0"/>
            </a:endParaRPr>
          </a:p>
        </p:txBody>
      </p:sp>
      <p:sp>
        <p:nvSpPr>
          <p:cNvPr id="98340" name="Text Box 36"/>
          <p:cNvSpPr txBox="1">
            <a:spLocks noChangeArrowheads="1"/>
          </p:cNvSpPr>
          <p:nvPr/>
        </p:nvSpPr>
        <p:spPr bwMode="auto">
          <a:xfrm>
            <a:off x="3587916" y="4240213"/>
            <a:ext cx="1298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rgbClr val="FF0000"/>
                </a:solidFill>
                <a:ea typeface="楷体" panose="02010609060101010101" pitchFamily="49" charset="-122"/>
                <a:cs typeface="Times New Roman" panose="02020603050405020304" pitchFamily="18" charset="0"/>
              </a:rPr>
              <a:t>1</a:t>
            </a:r>
            <a:endParaRPr lang="en-US" altLang="zh-CN" sz="2000">
              <a:solidFill>
                <a:srgbClr val="FF0000"/>
              </a:solidFill>
              <a:ea typeface="楷体" panose="02010609060101010101" pitchFamily="49" charset="-122"/>
              <a:cs typeface="Times New Roman" panose="02020603050405020304" pitchFamily="18" charset="0"/>
            </a:endParaRPr>
          </a:p>
        </p:txBody>
      </p:sp>
      <p:sp>
        <p:nvSpPr>
          <p:cNvPr id="98341" name="Text Box 37"/>
          <p:cNvSpPr txBox="1">
            <a:spLocks noChangeArrowheads="1"/>
          </p:cNvSpPr>
          <p:nvPr/>
        </p:nvSpPr>
        <p:spPr bwMode="auto">
          <a:xfrm>
            <a:off x="5459578" y="4262438"/>
            <a:ext cx="1298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rgbClr val="FF0000"/>
                </a:solidFill>
                <a:ea typeface="楷体" panose="02010609060101010101" pitchFamily="49" charset="-122"/>
                <a:cs typeface="Times New Roman" panose="02020603050405020304" pitchFamily="18" charset="0"/>
              </a:rPr>
              <a:t>0</a:t>
            </a:r>
            <a:endParaRPr lang="en-US" altLang="zh-CN" sz="2000">
              <a:solidFill>
                <a:srgbClr val="FF0000"/>
              </a:solidFill>
              <a:ea typeface="楷体" panose="02010609060101010101" pitchFamily="49" charset="-122"/>
              <a:cs typeface="Times New Roman" panose="02020603050405020304" pitchFamily="18" charset="0"/>
            </a:endParaRPr>
          </a:p>
        </p:txBody>
      </p:sp>
      <p:sp>
        <p:nvSpPr>
          <p:cNvPr id="98342" name="Text Box 38"/>
          <p:cNvSpPr txBox="1">
            <a:spLocks noChangeArrowheads="1"/>
          </p:cNvSpPr>
          <p:nvPr/>
        </p:nvSpPr>
        <p:spPr bwMode="auto">
          <a:xfrm>
            <a:off x="7332828" y="4240213"/>
            <a:ext cx="1298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rgbClr val="FF0000"/>
                </a:solidFill>
                <a:ea typeface="楷体" panose="02010609060101010101" pitchFamily="49" charset="-122"/>
                <a:cs typeface="Times New Roman" panose="02020603050405020304" pitchFamily="18" charset="0"/>
              </a:rPr>
              <a:t>0</a:t>
            </a:r>
            <a:endParaRPr lang="en-US" altLang="zh-CN" sz="2000">
              <a:solidFill>
                <a:srgbClr val="FF0000"/>
              </a:solidFill>
              <a:ea typeface="楷体" panose="02010609060101010101" pitchFamily="49" charset="-122"/>
              <a:cs typeface="Times New Roman" panose="02020603050405020304" pitchFamily="18" charset="0"/>
            </a:endParaRPr>
          </a:p>
        </p:txBody>
      </p:sp>
      <p:sp>
        <p:nvSpPr>
          <p:cNvPr id="98343" name="Text Box 39"/>
          <p:cNvSpPr txBox="1">
            <a:spLocks noChangeArrowheads="1"/>
          </p:cNvSpPr>
          <p:nvPr/>
        </p:nvSpPr>
        <p:spPr bwMode="auto">
          <a:xfrm>
            <a:off x="4810291" y="4572000"/>
            <a:ext cx="1298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rgbClr val="FF0000"/>
                </a:solidFill>
                <a:ea typeface="楷体" panose="02010609060101010101" pitchFamily="49" charset="-122"/>
                <a:cs typeface="Times New Roman" panose="02020603050405020304" pitchFamily="18" charset="0"/>
              </a:rPr>
              <a:t>0</a:t>
            </a:r>
            <a:endParaRPr lang="en-US" altLang="zh-CN" sz="2000">
              <a:solidFill>
                <a:srgbClr val="FF0000"/>
              </a:solidFill>
              <a:ea typeface="楷体" panose="02010609060101010101" pitchFamily="49" charset="-122"/>
              <a:cs typeface="Times New Roman" panose="02020603050405020304" pitchFamily="18" charset="0"/>
            </a:endParaRPr>
          </a:p>
        </p:txBody>
      </p:sp>
      <p:sp>
        <p:nvSpPr>
          <p:cNvPr id="41" name="Text Box 39"/>
          <p:cNvSpPr txBox="1">
            <a:spLocks noChangeArrowheads="1"/>
          </p:cNvSpPr>
          <p:nvPr/>
        </p:nvSpPr>
        <p:spPr bwMode="auto">
          <a:xfrm>
            <a:off x="1952791" y="5286375"/>
            <a:ext cx="1298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rgbClr val="FF0000"/>
                </a:solidFill>
                <a:ea typeface="楷体" panose="02010609060101010101" pitchFamily="49" charset="-122"/>
                <a:cs typeface="Times New Roman" panose="02020603050405020304" pitchFamily="18" charset="0"/>
              </a:rPr>
              <a:t>0</a:t>
            </a:r>
            <a:endParaRPr lang="en-US" altLang="zh-CN" sz="2000">
              <a:solidFill>
                <a:srgbClr val="FF0000"/>
              </a:solidFill>
              <a:ea typeface="楷体" panose="02010609060101010101" pitchFamily="49" charset="-122"/>
              <a:cs typeface="Times New Roman" panose="02020603050405020304" pitchFamily="18" charset="0"/>
            </a:endParaRPr>
          </a:p>
        </p:txBody>
      </p:sp>
      <p:sp>
        <p:nvSpPr>
          <p:cNvPr id="42" name="Text Box 35"/>
          <p:cNvSpPr txBox="1">
            <a:spLocks noChangeArrowheads="1"/>
          </p:cNvSpPr>
          <p:nvPr/>
        </p:nvSpPr>
        <p:spPr bwMode="auto">
          <a:xfrm>
            <a:off x="1952791" y="4572000"/>
            <a:ext cx="1298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rgbClr val="FF0000"/>
                </a:solidFill>
                <a:ea typeface="楷体" panose="02010609060101010101" pitchFamily="49" charset="-122"/>
                <a:cs typeface="Times New Roman" panose="02020603050405020304" pitchFamily="18" charset="0"/>
              </a:rPr>
              <a:t>0</a:t>
            </a:r>
            <a:endParaRPr lang="en-US" altLang="zh-CN" sz="2000">
              <a:solidFill>
                <a:srgbClr val="FF0000"/>
              </a:solidFill>
              <a:ea typeface="楷体" panose="02010609060101010101" pitchFamily="49" charset="-122"/>
              <a:cs typeface="Times New Roman" panose="02020603050405020304" pitchFamily="18" charset="0"/>
            </a:endParaRPr>
          </a:p>
        </p:txBody>
      </p:sp>
      <p:sp>
        <p:nvSpPr>
          <p:cNvPr id="43" name="Text Box 35"/>
          <p:cNvSpPr txBox="1">
            <a:spLocks noChangeArrowheads="1"/>
          </p:cNvSpPr>
          <p:nvPr/>
        </p:nvSpPr>
        <p:spPr bwMode="auto">
          <a:xfrm>
            <a:off x="7882103" y="4572000"/>
            <a:ext cx="1298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rgbClr val="FF0000"/>
                </a:solidFill>
                <a:ea typeface="楷体" panose="02010609060101010101" pitchFamily="49" charset="-122"/>
                <a:cs typeface="Times New Roman" panose="02020603050405020304" pitchFamily="18" charset="0"/>
              </a:rPr>
              <a:t>0</a:t>
            </a:r>
            <a:endParaRPr lang="en-US" altLang="zh-CN" sz="2000">
              <a:solidFill>
                <a:srgbClr val="FF0000"/>
              </a:solidFill>
              <a:ea typeface="楷体" panose="02010609060101010101" pitchFamily="49" charset="-122"/>
              <a:cs typeface="Times New Roman" panose="02020603050405020304" pitchFamily="18" charset="0"/>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8339"/>
                                        </p:tgtEl>
                                        <p:attrNameLst>
                                          <p:attrName>style.visibility</p:attrName>
                                        </p:attrNameLst>
                                      </p:cBhvr>
                                      <p:to>
                                        <p:strVal val="visible"/>
                                      </p:to>
                                    </p:set>
                                    <p:anim calcmode="lin" valueType="num">
                                      <p:cBhvr additive="base">
                                        <p:cTn id="7" dur="500" fill="hold"/>
                                        <p:tgtEl>
                                          <p:spTgt spid="98339"/>
                                        </p:tgtEl>
                                        <p:attrNameLst>
                                          <p:attrName>ppt_x</p:attrName>
                                        </p:attrNameLst>
                                      </p:cBhvr>
                                      <p:tavLst>
                                        <p:tav tm="0">
                                          <p:val>
                                            <p:strVal val="0-#ppt_w/2"/>
                                          </p:val>
                                        </p:tav>
                                        <p:tav tm="100000">
                                          <p:val>
                                            <p:strVal val="#ppt_x"/>
                                          </p:val>
                                        </p:tav>
                                      </p:tavLst>
                                    </p:anim>
                                    <p:anim calcmode="lin" valueType="num">
                                      <p:cBhvr additive="base">
                                        <p:cTn id="8" dur="500" fill="hold"/>
                                        <p:tgtEl>
                                          <p:spTgt spid="98339"/>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fill="hold"/>
                                        <p:tgtEl>
                                          <p:spTgt spid="43"/>
                                        </p:tgtEl>
                                        <p:attrNameLst>
                                          <p:attrName>ppt_x</p:attrName>
                                        </p:attrNameLst>
                                      </p:cBhvr>
                                      <p:tavLst>
                                        <p:tav tm="0">
                                          <p:val>
                                            <p:strVal val="0-#ppt_w/2"/>
                                          </p:val>
                                        </p:tav>
                                        <p:tav tm="100000">
                                          <p:val>
                                            <p:strVal val="#ppt_x"/>
                                          </p:val>
                                        </p:tav>
                                      </p:tavLst>
                                    </p:anim>
                                    <p:anim calcmode="lin" valueType="num">
                                      <p:cBhvr additive="base">
                                        <p:cTn id="12"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 calcmode="lin" valueType="num">
                                      <p:cBhvr additive="base">
                                        <p:cTn id="17" dur="500" fill="hold"/>
                                        <p:tgtEl>
                                          <p:spTgt spid="42"/>
                                        </p:tgtEl>
                                        <p:attrNameLst>
                                          <p:attrName>ppt_x</p:attrName>
                                        </p:attrNameLst>
                                      </p:cBhvr>
                                      <p:tavLst>
                                        <p:tav tm="0">
                                          <p:val>
                                            <p:strVal val="0-#ppt_w/2"/>
                                          </p:val>
                                        </p:tav>
                                        <p:tav tm="100000">
                                          <p:val>
                                            <p:strVal val="#ppt_x"/>
                                          </p:val>
                                        </p:tav>
                                      </p:tavLst>
                                    </p:anim>
                                    <p:anim calcmode="lin" valueType="num">
                                      <p:cBhvr additive="base">
                                        <p:cTn id="18"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98338"/>
                                        </p:tgtEl>
                                        <p:attrNameLst>
                                          <p:attrName>style.visibility</p:attrName>
                                        </p:attrNameLst>
                                      </p:cBhvr>
                                      <p:to>
                                        <p:strVal val="visible"/>
                                      </p:to>
                                    </p:set>
                                    <p:anim calcmode="lin" valueType="num">
                                      <p:cBhvr additive="base">
                                        <p:cTn id="23" dur="500" fill="hold"/>
                                        <p:tgtEl>
                                          <p:spTgt spid="98338"/>
                                        </p:tgtEl>
                                        <p:attrNameLst>
                                          <p:attrName>ppt_x</p:attrName>
                                        </p:attrNameLst>
                                      </p:cBhvr>
                                      <p:tavLst>
                                        <p:tav tm="0">
                                          <p:val>
                                            <p:strVal val="0-#ppt_w/2"/>
                                          </p:val>
                                        </p:tav>
                                        <p:tav tm="100000">
                                          <p:val>
                                            <p:strVal val="#ppt_x"/>
                                          </p:val>
                                        </p:tav>
                                      </p:tavLst>
                                    </p:anim>
                                    <p:anim calcmode="lin" valueType="num">
                                      <p:cBhvr additive="base">
                                        <p:cTn id="24" dur="500" fill="hold"/>
                                        <p:tgtEl>
                                          <p:spTgt spid="9833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98340"/>
                                        </p:tgtEl>
                                        <p:attrNameLst>
                                          <p:attrName>style.visibility</p:attrName>
                                        </p:attrNameLst>
                                      </p:cBhvr>
                                      <p:to>
                                        <p:strVal val="visible"/>
                                      </p:to>
                                    </p:set>
                                    <p:anim calcmode="lin" valueType="num">
                                      <p:cBhvr additive="base">
                                        <p:cTn id="29" dur="500" fill="hold"/>
                                        <p:tgtEl>
                                          <p:spTgt spid="98340"/>
                                        </p:tgtEl>
                                        <p:attrNameLst>
                                          <p:attrName>ppt_x</p:attrName>
                                        </p:attrNameLst>
                                      </p:cBhvr>
                                      <p:tavLst>
                                        <p:tav tm="0">
                                          <p:val>
                                            <p:strVal val="0-#ppt_w/2"/>
                                          </p:val>
                                        </p:tav>
                                        <p:tav tm="100000">
                                          <p:val>
                                            <p:strVal val="#ppt_x"/>
                                          </p:val>
                                        </p:tav>
                                      </p:tavLst>
                                    </p:anim>
                                    <p:anim calcmode="lin" valueType="num">
                                      <p:cBhvr additive="base">
                                        <p:cTn id="30" dur="500" fill="hold"/>
                                        <p:tgtEl>
                                          <p:spTgt spid="98340"/>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98343"/>
                                        </p:tgtEl>
                                        <p:attrNameLst>
                                          <p:attrName>style.visibility</p:attrName>
                                        </p:attrNameLst>
                                      </p:cBhvr>
                                      <p:to>
                                        <p:strVal val="visible"/>
                                      </p:to>
                                    </p:set>
                                    <p:anim calcmode="lin" valueType="num">
                                      <p:cBhvr additive="base">
                                        <p:cTn id="35" dur="500" fill="hold"/>
                                        <p:tgtEl>
                                          <p:spTgt spid="98343"/>
                                        </p:tgtEl>
                                        <p:attrNameLst>
                                          <p:attrName>ppt_x</p:attrName>
                                        </p:attrNameLst>
                                      </p:cBhvr>
                                      <p:tavLst>
                                        <p:tav tm="0">
                                          <p:val>
                                            <p:strVal val="0-#ppt_w/2"/>
                                          </p:val>
                                        </p:tav>
                                        <p:tav tm="100000">
                                          <p:val>
                                            <p:strVal val="#ppt_x"/>
                                          </p:val>
                                        </p:tav>
                                      </p:tavLst>
                                    </p:anim>
                                    <p:anim calcmode="lin" valueType="num">
                                      <p:cBhvr additive="base">
                                        <p:cTn id="36" dur="500" fill="hold"/>
                                        <p:tgtEl>
                                          <p:spTgt spid="98343"/>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41"/>
                                        </p:tgtEl>
                                        <p:attrNameLst>
                                          <p:attrName>style.visibility</p:attrName>
                                        </p:attrNameLst>
                                      </p:cBhvr>
                                      <p:to>
                                        <p:strVal val="visible"/>
                                      </p:to>
                                    </p:set>
                                    <p:anim calcmode="lin" valueType="num">
                                      <p:cBhvr additive="base">
                                        <p:cTn id="41" dur="500" fill="hold"/>
                                        <p:tgtEl>
                                          <p:spTgt spid="41"/>
                                        </p:tgtEl>
                                        <p:attrNameLst>
                                          <p:attrName>ppt_x</p:attrName>
                                        </p:attrNameLst>
                                      </p:cBhvr>
                                      <p:tavLst>
                                        <p:tav tm="0">
                                          <p:val>
                                            <p:strVal val="0-#ppt_w/2"/>
                                          </p:val>
                                        </p:tav>
                                        <p:tav tm="100000">
                                          <p:val>
                                            <p:strVal val="#ppt_x"/>
                                          </p:val>
                                        </p:tav>
                                      </p:tavLst>
                                    </p:anim>
                                    <p:anim calcmode="lin" valueType="num">
                                      <p:cBhvr additive="base">
                                        <p:cTn id="42"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98341"/>
                                        </p:tgtEl>
                                        <p:attrNameLst>
                                          <p:attrName>style.visibility</p:attrName>
                                        </p:attrNameLst>
                                      </p:cBhvr>
                                      <p:to>
                                        <p:strVal val="visible"/>
                                      </p:to>
                                    </p:set>
                                    <p:anim calcmode="lin" valueType="num">
                                      <p:cBhvr additive="base">
                                        <p:cTn id="47" dur="500" fill="hold"/>
                                        <p:tgtEl>
                                          <p:spTgt spid="98341"/>
                                        </p:tgtEl>
                                        <p:attrNameLst>
                                          <p:attrName>ppt_x</p:attrName>
                                        </p:attrNameLst>
                                      </p:cBhvr>
                                      <p:tavLst>
                                        <p:tav tm="0">
                                          <p:val>
                                            <p:strVal val="0-#ppt_w/2"/>
                                          </p:val>
                                        </p:tav>
                                        <p:tav tm="100000">
                                          <p:val>
                                            <p:strVal val="#ppt_x"/>
                                          </p:val>
                                        </p:tav>
                                      </p:tavLst>
                                    </p:anim>
                                    <p:anim calcmode="lin" valueType="num">
                                      <p:cBhvr additive="base">
                                        <p:cTn id="48" dur="500" fill="hold"/>
                                        <p:tgtEl>
                                          <p:spTgt spid="98341"/>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98342"/>
                                        </p:tgtEl>
                                        <p:attrNameLst>
                                          <p:attrName>style.visibility</p:attrName>
                                        </p:attrNameLst>
                                      </p:cBhvr>
                                      <p:to>
                                        <p:strVal val="visible"/>
                                      </p:to>
                                    </p:set>
                                    <p:anim calcmode="lin" valueType="num">
                                      <p:cBhvr additive="base">
                                        <p:cTn id="53" dur="500" fill="hold"/>
                                        <p:tgtEl>
                                          <p:spTgt spid="98342"/>
                                        </p:tgtEl>
                                        <p:attrNameLst>
                                          <p:attrName>ppt_x</p:attrName>
                                        </p:attrNameLst>
                                      </p:cBhvr>
                                      <p:tavLst>
                                        <p:tav tm="0">
                                          <p:val>
                                            <p:strVal val="0-#ppt_w/2"/>
                                          </p:val>
                                        </p:tav>
                                        <p:tav tm="100000">
                                          <p:val>
                                            <p:strVal val="#ppt_x"/>
                                          </p:val>
                                        </p:tav>
                                      </p:tavLst>
                                    </p:anim>
                                    <p:anim calcmode="lin" valueType="num">
                                      <p:cBhvr additive="base">
                                        <p:cTn id="54" dur="500" fill="hold"/>
                                        <p:tgtEl>
                                          <p:spTgt spid="983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38" grpId="0" autoUpdateAnimBg="0"/>
      <p:bldP spid="98339" grpId="0" autoUpdateAnimBg="0"/>
      <p:bldP spid="98341" grpId="0" autoUpdateAnimBg="0"/>
      <p:bldP spid="98342" grpId="0" autoUpdateAnimBg="0"/>
      <p:bldP spid="98343" grpId="0" autoUpdateAnimBg="0"/>
      <p:bldP spid="41" grpId="0" autoUpdateAnimBg="0"/>
      <p:bldP spid="42" grpId="0" autoUpdateAnimBg="0"/>
      <p:bldP spid="43"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defRPr/>
            </a:pPr>
            <a:r>
              <a:rPr lang="zh-CN" altLang="en-US"/>
              <a:t>链式查询方式的特点</a:t>
            </a:r>
            <a:endParaRPr lang="zh-CN" altLang="en-US"/>
          </a:p>
        </p:txBody>
      </p:sp>
      <p:sp>
        <p:nvSpPr>
          <p:cNvPr id="100355" name="Rectangle 3"/>
          <p:cNvSpPr>
            <a:spLocks noGrp="1" noChangeArrowheads="1"/>
          </p:cNvSpPr>
          <p:nvPr>
            <p:ph idx="1"/>
          </p:nvPr>
        </p:nvSpPr>
        <p:spPr>
          <a:xfrm>
            <a:off x="416952" y="1143000"/>
            <a:ext cx="8507413" cy="2093913"/>
          </a:xfrm>
        </p:spPr>
        <p:txBody>
          <a:bodyPr/>
          <a:lstStyle/>
          <a:p>
            <a:pPr eaLnBrk="1" hangingPunct="1"/>
            <a:r>
              <a:rPr lang="zh-CN" altLang="en-US" sz="2800" dirty="0"/>
              <a:t>优点：</a:t>
            </a:r>
            <a:endParaRPr lang="zh-CN" altLang="en-US" sz="2800" dirty="0"/>
          </a:p>
          <a:p>
            <a:pPr lvl="1" eaLnBrk="1" hangingPunct="1"/>
            <a:r>
              <a:rPr lang="zh-CN" altLang="en-US" dirty="0"/>
              <a:t>实现简单：只用几根控制线实现优先级控制。</a:t>
            </a:r>
            <a:endParaRPr lang="zh-CN" altLang="en-US" dirty="0"/>
          </a:p>
          <a:p>
            <a:pPr lvl="1" eaLnBrk="1" hangingPunct="1"/>
            <a:r>
              <a:rPr lang="zh-CN" altLang="en-US" dirty="0"/>
              <a:t>便于增删总线上的设备：总线控制器的结构与部件（模块）数量无关。</a:t>
            </a:r>
            <a:endParaRPr lang="zh-CN" altLang="en-US" dirty="0"/>
          </a:p>
        </p:txBody>
      </p:sp>
      <p:sp>
        <p:nvSpPr>
          <p:cNvPr id="100356" name="Rectangle 4"/>
          <p:cNvSpPr>
            <a:spLocks noChangeArrowheads="1"/>
          </p:cNvSpPr>
          <p:nvPr/>
        </p:nvSpPr>
        <p:spPr bwMode="auto">
          <a:xfrm>
            <a:off x="381000" y="2924175"/>
            <a:ext cx="8534400"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9875" indent="-269875">
              <a:spcBef>
                <a:spcPct val="20000"/>
              </a:spcBef>
              <a:buClr>
                <a:srgbClr val="CC3300"/>
              </a:buClr>
              <a:buFont typeface="Wingdings 2"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14375" indent="-26543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r>
              <a:rPr lang="zh-CN" altLang="en-US" sz="2800" dirty="0"/>
              <a:t>缺点：</a:t>
            </a:r>
            <a:endParaRPr lang="zh-CN" altLang="en-US" sz="2800" dirty="0"/>
          </a:p>
          <a:p>
            <a:pPr lvl="1" algn="l" eaLnBrk="1" hangingPunct="1"/>
            <a:r>
              <a:rPr lang="zh-CN" altLang="en-US" sz="2400" dirty="0">
                <a:latin typeface="宋体" panose="02010600030101010101" pitchFamily="2" charset="-122"/>
                <a:ea typeface="宋体" panose="02010600030101010101" pitchFamily="2" charset="-122"/>
              </a:rPr>
              <a:t>对电路</a:t>
            </a:r>
            <a:r>
              <a:rPr lang="zh-CN" altLang="en-US" sz="2400" dirty="0">
                <a:solidFill>
                  <a:srgbClr val="FF0000"/>
                </a:solidFill>
                <a:latin typeface="宋体" panose="02010600030101010101" pitchFamily="2" charset="-122"/>
                <a:ea typeface="宋体" panose="02010600030101010101" pitchFamily="2" charset="-122"/>
              </a:rPr>
              <a:t>故障敏感</a:t>
            </a:r>
            <a:r>
              <a:rPr lang="zh-CN" altLang="en-US" sz="2400" dirty="0">
                <a:latin typeface="宋体" panose="02010600030101010101" pitchFamily="2" charset="-122"/>
                <a:ea typeface="宋体" panose="02010600030101010101" pitchFamily="2" charset="-122"/>
              </a:rPr>
              <a:t>：若某部件故障，其后的所有部件甚至整个查询链均不能正常工作。</a:t>
            </a:r>
            <a:endParaRPr lang="zh-CN" altLang="en-US" sz="2400" dirty="0">
              <a:latin typeface="宋体" panose="02010600030101010101" pitchFamily="2" charset="-122"/>
              <a:ea typeface="宋体" panose="02010600030101010101" pitchFamily="2" charset="-122"/>
            </a:endParaRPr>
          </a:p>
          <a:p>
            <a:pPr lvl="1" algn="l" eaLnBrk="1" hangingPunct="1"/>
            <a:r>
              <a:rPr lang="zh-CN" altLang="en-US" sz="2400" dirty="0">
                <a:latin typeface="宋体" panose="02010600030101010101" pitchFamily="2" charset="-122"/>
                <a:ea typeface="宋体" panose="02010600030101010101" pitchFamily="2" charset="-122"/>
              </a:rPr>
              <a:t>仲裁速度慢：总线确认信号串行传送，主设备越多仲裁时间越长。</a:t>
            </a:r>
            <a:endParaRPr lang="zh-CN" altLang="en-US" sz="2400" dirty="0">
              <a:latin typeface="宋体" panose="02010600030101010101" pitchFamily="2" charset="-122"/>
              <a:ea typeface="宋体" panose="02010600030101010101" pitchFamily="2" charset="-122"/>
            </a:endParaRPr>
          </a:p>
          <a:p>
            <a:pPr lvl="1" algn="l" eaLnBrk="1" hangingPunct="1"/>
            <a:r>
              <a:rPr lang="zh-CN" altLang="en-US" sz="2400" dirty="0">
                <a:latin typeface="宋体" panose="02010600030101010101" pitchFamily="2" charset="-122"/>
                <a:ea typeface="宋体" panose="02010600030101010101" pitchFamily="2" charset="-122"/>
              </a:rPr>
              <a:t>优先级不能改变：优先级低的设备有可能会“饿死” 。</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anim calcmode="lin" valueType="num">
                                      <p:cBhvr additive="base">
                                        <p:cTn id="7" dur="500" fill="hold"/>
                                        <p:tgtEl>
                                          <p:spTgt spid="1003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035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0355">
                                            <p:txEl>
                                              <p:pRg st="1" end="1"/>
                                            </p:txEl>
                                          </p:spTgt>
                                        </p:tgtEl>
                                        <p:attrNameLst>
                                          <p:attrName>style.visibility</p:attrName>
                                        </p:attrNameLst>
                                      </p:cBhvr>
                                      <p:to>
                                        <p:strVal val="visible"/>
                                      </p:to>
                                    </p:set>
                                    <p:anim calcmode="lin" valueType="num">
                                      <p:cBhvr additive="base">
                                        <p:cTn id="11" dur="500" fill="hold"/>
                                        <p:tgtEl>
                                          <p:spTgt spid="10035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035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0355">
                                            <p:txEl>
                                              <p:pRg st="2" end="2"/>
                                            </p:txEl>
                                          </p:spTgt>
                                        </p:tgtEl>
                                        <p:attrNameLst>
                                          <p:attrName>style.visibility</p:attrName>
                                        </p:attrNameLst>
                                      </p:cBhvr>
                                      <p:to>
                                        <p:strVal val="visible"/>
                                      </p:to>
                                    </p:set>
                                    <p:anim calcmode="lin" valueType="num">
                                      <p:cBhvr additive="base">
                                        <p:cTn id="15" dur="500" fill="hold"/>
                                        <p:tgtEl>
                                          <p:spTgt spid="100355">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03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00356"/>
                                        </p:tgtEl>
                                        <p:attrNameLst>
                                          <p:attrName>style.visibility</p:attrName>
                                        </p:attrNameLst>
                                      </p:cBhvr>
                                      <p:to>
                                        <p:strVal val="visible"/>
                                      </p:to>
                                    </p:set>
                                    <p:anim calcmode="lin" valueType="num">
                                      <p:cBhvr additive="base">
                                        <p:cTn id="21" dur="500" fill="hold"/>
                                        <p:tgtEl>
                                          <p:spTgt spid="100356"/>
                                        </p:tgtEl>
                                        <p:attrNameLst>
                                          <p:attrName>ppt_x</p:attrName>
                                        </p:attrNameLst>
                                      </p:cBhvr>
                                      <p:tavLst>
                                        <p:tav tm="0">
                                          <p:val>
                                            <p:strVal val="0-#ppt_w/2"/>
                                          </p:val>
                                        </p:tav>
                                        <p:tav tm="100000">
                                          <p:val>
                                            <p:strVal val="#ppt_x"/>
                                          </p:val>
                                        </p:tav>
                                      </p:tavLst>
                                    </p:anim>
                                    <p:anim calcmode="lin" valueType="num">
                                      <p:cBhvr additive="base">
                                        <p:cTn id="22" dur="500" fill="hold"/>
                                        <p:tgtEl>
                                          <p:spTgt spid="1003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autoUpdateAnimBg="0" build="p"/>
      <p:bldP spid="100356"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395288" y="4711700"/>
            <a:ext cx="1673225" cy="1466850"/>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800" b="0">
                <a:solidFill>
                  <a:schemeClr val="bg1"/>
                </a:solidFill>
                <a:latin typeface="Tahoma" panose="020B0604030504040204" pitchFamily="34" charset="0"/>
                <a:ea typeface="宋体" panose="02010600030101010101" pitchFamily="2" charset="-122"/>
              </a:rPr>
              <a:t>总线</a:t>
            </a:r>
            <a:endParaRPr kumimoji="0" lang="zh-CN" altLang="en-US" sz="2800" b="0">
              <a:solidFill>
                <a:schemeClr val="bg1"/>
              </a:solidFill>
              <a:latin typeface="Tahoma" panose="020B0604030504040204" pitchFamily="34" charset="0"/>
              <a:ea typeface="宋体" panose="02010600030101010101" pitchFamily="2" charset="-122"/>
            </a:endParaRPr>
          </a:p>
          <a:p>
            <a:pPr algn="ctr" eaLnBrk="1" hangingPunct="1">
              <a:spcBef>
                <a:spcPct val="0"/>
              </a:spcBef>
              <a:buClrTx/>
              <a:buFontTx/>
              <a:buNone/>
            </a:pPr>
            <a:r>
              <a:rPr kumimoji="0" lang="zh-CN" altLang="en-US" sz="2800" b="0">
                <a:solidFill>
                  <a:schemeClr val="bg1"/>
                </a:solidFill>
                <a:latin typeface="Tahoma" panose="020B0604030504040204" pitchFamily="34" charset="0"/>
                <a:ea typeface="宋体" panose="02010600030101010101" pitchFamily="2" charset="-122"/>
              </a:rPr>
              <a:t>控制</a:t>
            </a:r>
            <a:endParaRPr kumimoji="0" lang="zh-CN" altLang="en-US" sz="2800" b="0">
              <a:solidFill>
                <a:schemeClr val="bg1"/>
              </a:solidFill>
              <a:latin typeface="Tahoma" panose="020B0604030504040204" pitchFamily="34" charset="0"/>
              <a:ea typeface="宋体" panose="02010600030101010101" pitchFamily="2" charset="-122"/>
            </a:endParaRPr>
          </a:p>
          <a:p>
            <a:pPr algn="ctr" eaLnBrk="1" hangingPunct="1">
              <a:spcBef>
                <a:spcPct val="0"/>
              </a:spcBef>
              <a:buClrTx/>
              <a:buFontTx/>
              <a:buNone/>
            </a:pPr>
            <a:r>
              <a:rPr kumimoji="0" lang="zh-CN" altLang="en-US" sz="2800" b="0">
                <a:solidFill>
                  <a:schemeClr val="bg1"/>
                </a:solidFill>
                <a:latin typeface="Tahoma" panose="020B0604030504040204" pitchFamily="34" charset="0"/>
                <a:ea typeface="宋体" panose="02010600030101010101" pitchFamily="2" charset="-122"/>
              </a:rPr>
              <a:t>器</a:t>
            </a:r>
            <a:endParaRPr kumimoji="0" lang="zh-CN" altLang="en-US" sz="2800" b="0">
              <a:solidFill>
                <a:schemeClr val="bg1"/>
              </a:solidFill>
              <a:latin typeface="Tahoma" panose="020B0604030504040204" pitchFamily="34" charset="0"/>
              <a:ea typeface="宋体" panose="02010600030101010101" pitchFamily="2" charset="-122"/>
            </a:endParaRPr>
          </a:p>
        </p:txBody>
      </p:sp>
      <p:sp>
        <p:nvSpPr>
          <p:cNvPr id="59395" name="Rectangle 17"/>
          <p:cNvSpPr>
            <a:spLocks noChangeArrowheads="1"/>
          </p:cNvSpPr>
          <p:nvPr/>
        </p:nvSpPr>
        <p:spPr bwMode="auto">
          <a:xfrm>
            <a:off x="4213225" y="3744913"/>
            <a:ext cx="2214563" cy="1487487"/>
          </a:xfrm>
          <a:prstGeom prst="rect">
            <a:avLst/>
          </a:prstGeom>
          <a:solidFill>
            <a:srgbClr val="006600"/>
          </a:solidFill>
          <a:ln w="9525">
            <a:solidFill>
              <a:schemeClr val="tx1"/>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800" b="0">
                <a:solidFill>
                  <a:schemeClr val="bg1"/>
                </a:solidFill>
                <a:latin typeface="Tahoma" panose="020B0604030504040204" pitchFamily="34" charset="0"/>
                <a:ea typeface="宋体" panose="02010600030101010101" pitchFamily="2" charset="-122"/>
              </a:rPr>
              <a:t>总线访</a:t>
            </a:r>
            <a:endParaRPr kumimoji="0" lang="zh-CN" altLang="en-US" sz="2800" b="0">
              <a:solidFill>
                <a:schemeClr val="bg1"/>
              </a:solidFill>
              <a:latin typeface="Tahoma" panose="020B0604030504040204" pitchFamily="34" charset="0"/>
              <a:ea typeface="宋体" panose="02010600030101010101" pitchFamily="2" charset="-122"/>
            </a:endParaRPr>
          </a:p>
          <a:p>
            <a:pPr algn="ctr" eaLnBrk="1" hangingPunct="1">
              <a:spcBef>
                <a:spcPct val="0"/>
              </a:spcBef>
              <a:buClrTx/>
              <a:buFontTx/>
              <a:buNone/>
            </a:pPr>
            <a:r>
              <a:rPr kumimoji="0" lang="zh-CN" altLang="en-US" sz="2800" b="0">
                <a:solidFill>
                  <a:schemeClr val="bg1"/>
                </a:solidFill>
                <a:latin typeface="Tahoma" panose="020B0604030504040204" pitchFamily="34" charset="0"/>
                <a:ea typeface="宋体" panose="02010600030101010101" pitchFamily="2" charset="-122"/>
              </a:rPr>
              <a:t>问逻辑</a:t>
            </a:r>
            <a:endParaRPr kumimoji="0" lang="zh-CN" altLang="en-US" sz="2800" b="0">
              <a:solidFill>
                <a:schemeClr val="bg1"/>
              </a:solidFill>
              <a:latin typeface="Tahoma" panose="020B0604030504040204" pitchFamily="34" charset="0"/>
              <a:ea typeface="宋体" panose="02010600030101010101" pitchFamily="2" charset="-122"/>
            </a:endParaRPr>
          </a:p>
        </p:txBody>
      </p:sp>
      <p:sp>
        <p:nvSpPr>
          <p:cNvPr id="99331" name="Rectangle 3"/>
          <p:cNvSpPr>
            <a:spLocks noGrp="1" noChangeArrowheads="1"/>
          </p:cNvSpPr>
          <p:nvPr>
            <p:ph type="title"/>
          </p:nvPr>
        </p:nvSpPr>
        <p:spPr>
          <a:xfrm>
            <a:off x="17929" y="237566"/>
            <a:ext cx="9109075" cy="762000"/>
          </a:xfrm>
        </p:spPr>
        <p:txBody>
          <a:bodyPr/>
          <a:lstStyle/>
          <a:p>
            <a:pPr eaLnBrk="1" hangingPunct="1">
              <a:defRPr/>
            </a:pPr>
            <a:r>
              <a:rPr lang="zh-CN" altLang="en-US" dirty="0"/>
              <a:t>总线访问逻辑</a:t>
            </a:r>
            <a:endParaRPr lang="zh-CN" altLang="en-US" dirty="0"/>
          </a:p>
        </p:txBody>
      </p:sp>
      <p:sp>
        <p:nvSpPr>
          <p:cNvPr id="59397" name="Rectangle 4"/>
          <p:cNvSpPr>
            <a:spLocks noGrp="1" noChangeArrowheads="1"/>
          </p:cNvSpPr>
          <p:nvPr>
            <p:ph type="body" sz="half" idx="1"/>
          </p:nvPr>
        </p:nvSpPr>
        <p:spPr>
          <a:xfrm>
            <a:off x="179388" y="981075"/>
            <a:ext cx="8688387" cy="2093913"/>
          </a:xfrm>
          <a:noFill/>
        </p:spPr>
        <p:txBody>
          <a:bodyPr/>
          <a:lstStyle/>
          <a:p>
            <a:pPr eaLnBrk="1" hangingPunct="1"/>
            <a:endParaRPr lang="zh-CN" altLang="en-US" sz="2800"/>
          </a:p>
        </p:txBody>
      </p:sp>
      <p:graphicFrame>
        <p:nvGraphicFramePr>
          <p:cNvPr id="99333" name="Object 5"/>
          <p:cNvGraphicFramePr>
            <a:graphicFrameLocks noGrp="1" noChangeAspect="1"/>
          </p:cNvGraphicFramePr>
          <p:nvPr>
            <p:ph sz="quarter" idx="2"/>
          </p:nvPr>
        </p:nvGraphicFramePr>
        <p:xfrm>
          <a:off x="382588" y="4714875"/>
          <a:ext cx="1746250" cy="1484313"/>
        </p:xfrm>
        <a:graphic>
          <a:graphicData uri="http://schemas.openxmlformats.org/presentationml/2006/ole">
            <mc:AlternateContent xmlns:mc="http://schemas.openxmlformats.org/markup-compatibility/2006">
              <mc:Choice xmlns:v="urn:schemas-microsoft-com:vml" Requires="v">
                <p:oleObj spid="_x0000_s3081" name="Visio" r:id="rId1" imgW="1744980" imgH="1485900" progId="Visio.Drawing.6">
                  <p:embed/>
                </p:oleObj>
              </mc:Choice>
              <mc:Fallback>
                <p:oleObj name="Visio" r:id="rId1" imgW="1744980" imgH="1485900" progId="Visio.Drawing.6">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588" y="4714875"/>
                        <a:ext cx="1746250" cy="1484313"/>
                      </a:xfrm>
                      <a:prstGeom prst="rect">
                        <a:avLst/>
                      </a:prstGeom>
                      <a:noFill/>
                      <a:ln>
                        <a:noFill/>
                      </a:ln>
                      <a:effectLst/>
                    </p:spPr>
                  </p:pic>
                </p:oleObj>
              </mc:Fallback>
            </mc:AlternateContent>
          </a:graphicData>
        </a:graphic>
      </p:graphicFrame>
      <p:graphicFrame>
        <p:nvGraphicFramePr>
          <p:cNvPr id="99358" name="Object 30"/>
          <p:cNvGraphicFramePr>
            <a:graphicFrameLocks noGrp="1" noChangeAspect="1"/>
          </p:cNvGraphicFramePr>
          <p:nvPr>
            <p:ph sz="quarter" idx="3"/>
          </p:nvPr>
        </p:nvGraphicFramePr>
        <p:xfrm>
          <a:off x="4162425" y="3711575"/>
          <a:ext cx="2336800" cy="1574800"/>
        </p:xfrm>
        <a:graphic>
          <a:graphicData uri="http://schemas.openxmlformats.org/presentationml/2006/ole">
            <mc:AlternateContent xmlns:mc="http://schemas.openxmlformats.org/markup-compatibility/2006">
              <mc:Choice xmlns:v="urn:schemas-microsoft-com:vml" Requires="v">
                <p:oleObj spid="_x0000_s3082" name="Visio" r:id="rId3" imgW="2278380" imgH="1539240" progId="Visio.Drawing.6">
                  <p:embed/>
                </p:oleObj>
              </mc:Choice>
              <mc:Fallback>
                <p:oleObj name="Visio" r:id="rId3" imgW="2278380" imgH="1539240" progId="Visio.Drawing.6">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2425" y="3711575"/>
                        <a:ext cx="2336800" cy="1574800"/>
                      </a:xfrm>
                      <a:prstGeom prst="rect">
                        <a:avLst/>
                      </a:prstGeom>
                      <a:noFill/>
                      <a:ln>
                        <a:noFill/>
                      </a:ln>
                      <a:effectLst/>
                    </p:spPr>
                  </p:pic>
                </p:oleObj>
              </mc:Fallback>
            </mc:AlternateContent>
          </a:graphicData>
        </a:graphic>
      </p:graphicFrame>
      <p:sp>
        <p:nvSpPr>
          <p:cNvPr id="59401" name="Text Box 6"/>
          <p:cNvSpPr txBox="1">
            <a:spLocks noChangeArrowheads="1"/>
          </p:cNvSpPr>
          <p:nvPr/>
        </p:nvSpPr>
        <p:spPr bwMode="auto">
          <a:xfrm>
            <a:off x="2068513" y="4483100"/>
            <a:ext cx="573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solidFill>
                  <a:schemeClr val="tx2"/>
                </a:solidFill>
                <a:latin typeface="Tahoma" panose="020B0604030504040204" pitchFamily="34" charset="0"/>
                <a:ea typeface="宋体" panose="02010600030101010101" pitchFamily="2" charset="-122"/>
              </a:rPr>
              <a:t>BG</a:t>
            </a:r>
            <a:endParaRPr kumimoji="0" lang="en-US" altLang="zh-CN" sz="2400" b="0">
              <a:solidFill>
                <a:schemeClr val="tx2"/>
              </a:solidFill>
              <a:latin typeface="Tahoma" panose="020B0604030504040204" pitchFamily="34" charset="0"/>
              <a:ea typeface="宋体" panose="02010600030101010101" pitchFamily="2" charset="-122"/>
            </a:endParaRPr>
          </a:p>
        </p:txBody>
      </p:sp>
      <p:sp>
        <p:nvSpPr>
          <p:cNvPr id="59402" name="Text Box 7"/>
          <p:cNvSpPr txBox="1">
            <a:spLocks noChangeArrowheads="1"/>
          </p:cNvSpPr>
          <p:nvPr/>
        </p:nvSpPr>
        <p:spPr bwMode="auto">
          <a:xfrm>
            <a:off x="2068513" y="5067300"/>
            <a:ext cx="7889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solidFill>
                  <a:schemeClr val="tx2"/>
                </a:solidFill>
                <a:latin typeface="Tahoma" panose="020B0604030504040204" pitchFamily="34" charset="0"/>
                <a:ea typeface="宋体" panose="02010600030101010101" pitchFamily="2" charset="-122"/>
              </a:rPr>
              <a:t>/BR</a:t>
            </a:r>
            <a:endParaRPr kumimoji="0" lang="en-US" altLang="zh-CN" sz="2400" b="0">
              <a:solidFill>
                <a:schemeClr val="tx2"/>
              </a:solidFill>
              <a:latin typeface="Tahoma" panose="020B0604030504040204" pitchFamily="34" charset="0"/>
              <a:ea typeface="宋体" panose="02010600030101010101" pitchFamily="2" charset="-122"/>
            </a:endParaRPr>
          </a:p>
        </p:txBody>
      </p:sp>
      <p:sp>
        <p:nvSpPr>
          <p:cNvPr id="59403" name="Text Box 8"/>
          <p:cNvSpPr txBox="1">
            <a:spLocks noChangeArrowheads="1"/>
          </p:cNvSpPr>
          <p:nvPr/>
        </p:nvSpPr>
        <p:spPr bwMode="auto">
          <a:xfrm>
            <a:off x="2068513" y="5524500"/>
            <a:ext cx="717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solidFill>
                  <a:schemeClr val="tx2"/>
                </a:solidFill>
                <a:latin typeface="Tahoma" panose="020B0604030504040204" pitchFamily="34" charset="0"/>
                <a:ea typeface="宋体" panose="02010600030101010101" pitchFamily="2" charset="-122"/>
              </a:rPr>
              <a:t>/BB</a:t>
            </a:r>
            <a:endParaRPr kumimoji="0" lang="en-US" altLang="zh-CN" sz="2400" b="0">
              <a:solidFill>
                <a:schemeClr val="tx2"/>
              </a:solidFill>
              <a:latin typeface="Tahoma" panose="020B0604030504040204" pitchFamily="34" charset="0"/>
              <a:ea typeface="宋体" panose="02010600030101010101" pitchFamily="2" charset="-122"/>
            </a:endParaRPr>
          </a:p>
        </p:txBody>
      </p:sp>
      <p:sp>
        <p:nvSpPr>
          <p:cNvPr id="59404" name="Line 9"/>
          <p:cNvSpPr>
            <a:spLocks noChangeShapeType="1"/>
          </p:cNvSpPr>
          <p:nvPr/>
        </p:nvSpPr>
        <p:spPr bwMode="auto">
          <a:xfrm>
            <a:off x="2068513" y="5445125"/>
            <a:ext cx="6032500"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5" name="Line 10"/>
          <p:cNvSpPr>
            <a:spLocks noChangeShapeType="1"/>
          </p:cNvSpPr>
          <p:nvPr/>
        </p:nvSpPr>
        <p:spPr bwMode="auto">
          <a:xfrm>
            <a:off x="2085975" y="5981700"/>
            <a:ext cx="6015038" cy="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6" name="Line 11"/>
          <p:cNvSpPr>
            <a:spLocks noChangeShapeType="1"/>
          </p:cNvSpPr>
          <p:nvPr/>
        </p:nvSpPr>
        <p:spPr bwMode="auto">
          <a:xfrm>
            <a:off x="2068513" y="4930775"/>
            <a:ext cx="13684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07" name="Line 12"/>
          <p:cNvSpPr>
            <a:spLocks noChangeShapeType="1"/>
          </p:cNvSpPr>
          <p:nvPr/>
        </p:nvSpPr>
        <p:spPr bwMode="auto">
          <a:xfrm>
            <a:off x="4787900" y="5232400"/>
            <a:ext cx="0" cy="2127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8" name="Line 13"/>
          <p:cNvSpPr>
            <a:spLocks noChangeShapeType="1"/>
          </p:cNvSpPr>
          <p:nvPr/>
        </p:nvSpPr>
        <p:spPr bwMode="auto">
          <a:xfrm>
            <a:off x="5580063" y="5232400"/>
            <a:ext cx="0" cy="727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9" name="Line 14"/>
          <p:cNvSpPr>
            <a:spLocks noChangeShapeType="1"/>
          </p:cNvSpPr>
          <p:nvPr/>
        </p:nvSpPr>
        <p:spPr bwMode="auto">
          <a:xfrm>
            <a:off x="6427788" y="4940300"/>
            <a:ext cx="9477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410" name="Line 15"/>
          <p:cNvSpPr>
            <a:spLocks noChangeShapeType="1"/>
          </p:cNvSpPr>
          <p:nvPr/>
        </p:nvSpPr>
        <p:spPr bwMode="auto">
          <a:xfrm flipV="1">
            <a:off x="7451725" y="4930775"/>
            <a:ext cx="649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11" name="Rectangle 16"/>
          <p:cNvSpPr>
            <a:spLocks noChangeArrowheads="1"/>
          </p:cNvSpPr>
          <p:nvPr/>
        </p:nvSpPr>
        <p:spPr bwMode="auto">
          <a:xfrm>
            <a:off x="4213225" y="2771775"/>
            <a:ext cx="2214563" cy="531813"/>
          </a:xfrm>
          <a:prstGeom prst="rect">
            <a:avLst/>
          </a:prstGeom>
          <a:solidFill>
            <a:srgbClr val="000099"/>
          </a:solidFill>
          <a:ln w="9525">
            <a:solidFill>
              <a:schemeClr val="tx1"/>
            </a:solidFill>
            <a:miter lim="800000"/>
          </a:ln>
        </p:spPr>
        <p:txBody>
          <a:bodyPr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800" dirty="0">
                <a:solidFill>
                  <a:schemeClr val="bg1"/>
                </a:solidFill>
                <a:ea typeface="宋体" panose="02010600030101010101" pitchFamily="2" charset="-122"/>
                <a:cs typeface="Times New Roman" panose="02020603050405020304" pitchFamily="18" charset="0"/>
              </a:rPr>
              <a:t>模块</a:t>
            </a:r>
            <a:r>
              <a:rPr kumimoji="0" lang="en-US" altLang="zh-CN" sz="2800" dirty="0">
                <a:solidFill>
                  <a:schemeClr val="bg1"/>
                </a:solidFill>
                <a:ea typeface="宋体" panose="02010600030101010101" pitchFamily="2" charset="-122"/>
                <a:cs typeface="Times New Roman" panose="02020603050405020304" pitchFamily="18" charset="0"/>
              </a:rPr>
              <a:t>n</a:t>
            </a:r>
            <a:endParaRPr kumimoji="0" lang="en-US" altLang="zh-CN" sz="2800" dirty="0">
              <a:solidFill>
                <a:schemeClr val="bg1"/>
              </a:solidFill>
              <a:ea typeface="宋体" panose="02010600030101010101" pitchFamily="2" charset="-122"/>
              <a:cs typeface="Times New Roman" panose="02020603050405020304" pitchFamily="18" charset="0"/>
            </a:endParaRPr>
          </a:p>
        </p:txBody>
      </p:sp>
      <p:sp>
        <p:nvSpPr>
          <p:cNvPr id="59412" name="Line 18"/>
          <p:cNvSpPr>
            <a:spLocks noChangeShapeType="1"/>
          </p:cNvSpPr>
          <p:nvPr/>
        </p:nvSpPr>
        <p:spPr bwMode="auto">
          <a:xfrm flipV="1">
            <a:off x="7324725" y="4851400"/>
            <a:ext cx="50800" cy="177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3" name="Line 19"/>
          <p:cNvSpPr>
            <a:spLocks noChangeShapeType="1"/>
          </p:cNvSpPr>
          <p:nvPr/>
        </p:nvSpPr>
        <p:spPr bwMode="auto">
          <a:xfrm flipV="1">
            <a:off x="7400925" y="4851400"/>
            <a:ext cx="50800" cy="177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4" name="Text Box 20"/>
          <p:cNvSpPr txBox="1">
            <a:spLocks noChangeArrowheads="1"/>
          </p:cNvSpPr>
          <p:nvPr/>
        </p:nvSpPr>
        <p:spPr bwMode="auto">
          <a:xfrm>
            <a:off x="3436938" y="4381500"/>
            <a:ext cx="865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solidFill>
                  <a:schemeClr val="tx2"/>
                </a:solidFill>
                <a:latin typeface="Tahoma" panose="020B0604030504040204" pitchFamily="34" charset="0"/>
                <a:ea typeface="宋体" panose="02010600030101010101" pitchFamily="2" charset="-122"/>
              </a:rPr>
              <a:t>BG</a:t>
            </a:r>
            <a:r>
              <a:rPr kumimoji="0" lang="en-US" altLang="zh-CN" sz="2400" b="0" baseline="-25000">
                <a:solidFill>
                  <a:schemeClr val="tx2"/>
                </a:solidFill>
                <a:latin typeface="Tahoma" panose="020B0604030504040204" pitchFamily="34" charset="0"/>
                <a:ea typeface="宋体" panose="02010600030101010101" pitchFamily="2" charset="-122"/>
              </a:rPr>
              <a:t>In</a:t>
            </a:r>
            <a:endParaRPr kumimoji="0" lang="en-US" altLang="zh-CN" sz="2400" b="0" baseline="-25000">
              <a:solidFill>
                <a:schemeClr val="tx2"/>
              </a:solidFill>
              <a:latin typeface="Tahoma" panose="020B0604030504040204" pitchFamily="34" charset="0"/>
              <a:ea typeface="宋体" panose="02010600030101010101" pitchFamily="2" charset="-122"/>
            </a:endParaRPr>
          </a:p>
        </p:txBody>
      </p:sp>
      <p:sp>
        <p:nvSpPr>
          <p:cNvPr id="59415" name="Text Box 21"/>
          <p:cNvSpPr txBox="1">
            <a:spLocks noChangeArrowheads="1"/>
          </p:cNvSpPr>
          <p:nvPr/>
        </p:nvSpPr>
        <p:spPr bwMode="auto">
          <a:xfrm>
            <a:off x="6459538" y="4367213"/>
            <a:ext cx="865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solidFill>
                  <a:schemeClr val="tx2"/>
                </a:solidFill>
                <a:latin typeface="Tahoma" panose="020B0604030504040204" pitchFamily="34" charset="0"/>
                <a:ea typeface="宋体" panose="02010600030101010101" pitchFamily="2" charset="-122"/>
              </a:rPr>
              <a:t>BG</a:t>
            </a:r>
            <a:r>
              <a:rPr kumimoji="0" lang="en-US" altLang="zh-CN" sz="2400" b="0" baseline="-25000">
                <a:solidFill>
                  <a:schemeClr val="tx2"/>
                </a:solidFill>
                <a:latin typeface="Tahoma" panose="020B0604030504040204" pitchFamily="34" charset="0"/>
                <a:ea typeface="宋体" panose="02010600030101010101" pitchFamily="2" charset="-122"/>
              </a:rPr>
              <a:t>On</a:t>
            </a:r>
            <a:endParaRPr kumimoji="0" lang="en-US" altLang="zh-CN" sz="2400" b="0" baseline="-25000">
              <a:solidFill>
                <a:schemeClr val="tx2"/>
              </a:solidFill>
              <a:latin typeface="Tahoma" panose="020B0604030504040204" pitchFamily="34" charset="0"/>
              <a:ea typeface="宋体" panose="02010600030101010101" pitchFamily="2" charset="-122"/>
            </a:endParaRPr>
          </a:p>
        </p:txBody>
      </p:sp>
      <p:sp>
        <p:nvSpPr>
          <p:cNvPr id="59416" name="Line 22"/>
          <p:cNvSpPr>
            <a:spLocks noChangeShapeType="1"/>
          </p:cNvSpPr>
          <p:nvPr/>
        </p:nvSpPr>
        <p:spPr bwMode="auto">
          <a:xfrm flipV="1">
            <a:off x="3436938" y="4841875"/>
            <a:ext cx="50800" cy="177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7" name="Line 23"/>
          <p:cNvSpPr>
            <a:spLocks noChangeShapeType="1"/>
          </p:cNvSpPr>
          <p:nvPr/>
        </p:nvSpPr>
        <p:spPr bwMode="auto">
          <a:xfrm flipV="1">
            <a:off x="3513138" y="4841875"/>
            <a:ext cx="50800" cy="177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2" name="Text Box 24"/>
          <p:cNvSpPr txBox="1">
            <a:spLocks noChangeArrowheads="1"/>
          </p:cNvSpPr>
          <p:nvPr/>
        </p:nvSpPr>
        <p:spPr bwMode="auto">
          <a:xfrm>
            <a:off x="395288" y="3649663"/>
            <a:ext cx="152876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800" dirty="0">
                <a:ea typeface="宋体" panose="02010600030101010101" pitchFamily="2" charset="-122"/>
              </a:rPr>
              <a:t>总线</a:t>
            </a:r>
            <a:endParaRPr kumimoji="0" lang="zh-CN" altLang="en-US" sz="2800" dirty="0">
              <a:ea typeface="宋体" panose="02010600030101010101" pitchFamily="2" charset="-122"/>
            </a:endParaRPr>
          </a:p>
          <a:p>
            <a:pPr algn="ctr" eaLnBrk="1" hangingPunct="1">
              <a:spcBef>
                <a:spcPct val="0"/>
              </a:spcBef>
              <a:buClrTx/>
              <a:buFontTx/>
              <a:buNone/>
            </a:pPr>
            <a:r>
              <a:rPr kumimoji="0" lang="zh-CN" altLang="en-US" sz="2800" dirty="0">
                <a:ea typeface="宋体" panose="02010600030101010101" pitchFamily="2" charset="-122"/>
              </a:rPr>
              <a:t>控制器</a:t>
            </a:r>
            <a:endParaRPr kumimoji="0" lang="zh-CN" altLang="en-US" sz="1800" dirty="0">
              <a:latin typeface="Tahoma" panose="020B0604030504040204" pitchFamily="34" charset="0"/>
              <a:ea typeface="宋体" panose="02010600030101010101" pitchFamily="2" charset="-122"/>
            </a:endParaRPr>
          </a:p>
        </p:txBody>
      </p:sp>
      <p:sp>
        <p:nvSpPr>
          <p:cNvPr id="59419" name="Line 25"/>
          <p:cNvSpPr>
            <a:spLocks noChangeShapeType="1"/>
          </p:cNvSpPr>
          <p:nvPr/>
        </p:nvSpPr>
        <p:spPr bwMode="auto">
          <a:xfrm flipV="1">
            <a:off x="3563938" y="4940300"/>
            <a:ext cx="64928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20" name="Line 26"/>
          <p:cNvSpPr>
            <a:spLocks noChangeShapeType="1"/>
          </p:cNvSpPr>
          <p:nvPr/>
        </p:nvSpPr>
        <p:spPr bwMode="auto">
          <a:xfrm>
            <a:off x="5219700" y="3289300"/>
            <a:ext cx="0" cy="45561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21" name="Text Box 27"/>
          <p:cNvSpPr txBox="1">
            <a:spLocks noChangeArrowheads="1"/>
          </p:cNvSpPr>
          <p:nvPr/>
        </p:nvSpPr>
        <p:spPr bwMode="auto">
          <a:xfrm>
            <a:off x="5256213" y="3303588"/>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solidFill>
                  <a:schemeClr val="tx2"/>
                </a:solidFill>
                <a:latin typeface="Tahoma" panose="020B0604030504040204" pitchFamily="34" charset="0"/>
                <a:ea typeface="宋体" panose="02010600030101010101" pitchFamily="2" charset="-122"/>
              </a:rPr>
              <a:t>REQ</a:t>
            </a:r>
            <a:r>
              <a:rPr kumimoji="0" lang="en-US" altLang="zh-CN" sz="2400" b="0" baseline="-25000">
                <a:solidFill>
                  <a:schemeClr val="tx2"/>
                </a:solidFill>
                <a:latin typeface="Tahoma" panose="020B0604030504040204" pitchFamily="34" charset="0"/>
                <a:ea typeface="宋体" panose="02010600030101010101" pitchFamily="2" charset="-122"/>
              </a:rPr>
              <a:t>n</a:t>
            </a:r>
            <a:endParaRPr kumimoji="0" lang="en-US" altLang="zh-CN" sz="2400" b="0" baseline="-25000">
              <a:solidFill>
                <a:schemeClr val="tx2"/>
              </a:solidFill>
              <a:latin typeface="Tahoma" panose="020B0604030504040204" pitchFamily="34" charset="0"/>
              <a:ea typeface="宋体" panose="02010600030101010101" pitchFamily="2" charset="-122"/>
            </a:endParaRPr>
          </a:p>
        </p:txBody>
      </p:sp>
      <p:sp>
        <p:nvSpPr>
          <p:cNvPr id="99359" name="Text Box 31"/>
          <p:cNvSpPr txBox="1">
            <a:spLocks noChangeArrowheads="1"/>
          </p:cNvSpPr>
          <p:nvPr/>
        </p:nvSpPr>
        <p:spPr bwMode="auto">
          <a:xfrm>
            <a:off x="6427788" y="3421063"/>
            <a:ext cx="14747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800" dirty="0">
                <a:ea typeface="宋体" panose="02010600030101010101" pitchFamily="2" charset="-122"/>
              </a:rPr>
              <a:t>总线访</a:t>
            </a:r>
            <a:endParaRPr kumimoji="0" lang="zh-CN" altLang="en-US" sz="2800" dirty="0">
              <a:ea typeface="宋体" panose="02010600030101010101" pitchFamily="2" charset="-122"/>
            </a:endParaRPr>
          </a:p>
          <a:p>
            <a:pPr algn="ctr" eaLnBrk="1" hangingPunct="1">
              <a:spcBef>
                <a:spcPct val="0"/>
              </a:spcBef>
              <a:buClrTx/>
              <a:buFontTx/>
              <a:buNone/>
            </a:pPr>
            <a:r>
              <a:rPr kumimoji="0" lang="zh-CN" altLang="en-US" sz="2800" dirty="0">
                <a:ea typeface="宋体" panose="02010600030101010101" pitchFamily="2" charset="-122"/>
              </a:rPr>
              <a:t>问逻辑</a:t>
            </a:r>
            <a:endParaRPr kumimoji="0" lang="zh-CN" altLang="en-US" sz="1800" dirty="0">
              <a:latin typeface="Tahoma" panose="020B0604030504040204" pitchFamily="34" charset="0"/>
              <a:ea typeface="宋体" panose="02010600030101010101" pitchFamily="2" charset="-122"/>
            </a:endParaRPr>
          </a:p>
        </p:txBody>
      </p:sp>
      <p:graphicFrame>
        <p:nvGraphicFramePr>
          <p:cNvPr id="99360" name="Object 32"/>
          <p:cNvGraphicFramePr>
            <a:graphicFrameLocks noChangeAspect="1"/>
          </p:cNvGraphicFramePr>
          <p:nvPr/>
        </p:nvGraphicFramePr>
        <p:xfrm>
          <a:off x="4119563" y="0"/>
          <a:ext cx="4700587" cy="2771775"/>
        </p:xfrm>
        <a:graphic>
          <a:graphicData uri="http://schemas.openxmlformats.org/presentationml/2006/ole">
            <mc:AlternateContent xmlns:mc="http://schemas.openxmlformats.org/markup-compatibility/2006">
              <mc:Choice xmlns:v="urn:schemas-microsoft-com:vml" Requires="v">
                <p:oleObj spid="_x0000_s3083" name="Visio" r:id="rId5" imgW="2278380" imgH="1539240" progId="Visio.Drawing.6">
                  <p:embed/>
                </p:oleObj>
              </mc:Choice>
              <mc:Fallback>
                <p:oleObj name="Visio" r:id="rId5" imgW="2278380" imgH="1539240" progId="Visio.Drawing.6">
                  <p:embed/>
                  <p:pic>
                    <p:nvPicPr>
                      <p:cNvPr id="0"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9563" y="0"/>
                        <a:ext cx="4700587" cy="2771775"/>
                      </a:xfrm>
                      <a:prstGeom prst="rect">
                        <a:avLst/>
                      </a:prstGeom>
                      <a:noFill/>
                      <a:ln>
                        <a:noFill/>
                      </a:ln>
                      <a:effectLst/>
                    </p:spPr>
                  </p:pic>
                </p:oleObj>
              </mc:Fallback>
            </mc:AlternateContent>
          </a:graphicData>
        </a:graphic>
      </p:graphicFrame>
      <p:graphicFrame>
        <p:nvGraphicFramePr>
          <p:cNvPr id="99361" name="Object 33"/>
          <p:cNvGraphicFramePr>
            <a:graphicFrameLocks noChangeAspect="1"/>
          </p:cNvGraphicFramePr>
          <p:nvPr/>
        </p:nvGraphicFramePr>
        <p:xfrm>
          <a:off x="145257" y="8404"/>
          <a:ext cx="4008438" cy="3224213"/>
        </p:xfrm>
        <a:graphic>
          <a:graphicData uri="http://schemas.openxmlformats.org/presentationml/2006/ole">
            <mc:AlternateContent xmlns:mc="http://schemas.openxmlformats.org/markup-compatibility/2006">
              <mc:Choice xmlns:v="urn:schemas-microsoft-com:vml" Requires="v">
                <p:oleObj spid="_x0000_s3084" name="Visio" r:id="rId6" imgW="1744980" imgH="1485900" progId="Visio.Drawing.6">
                  <p:embed/>
                </p:oleObj>
              </mc:Choice>
              <mc:Fallback>
                <p:oleObj name="Visio" r:id="rId6" imgW="1744980" imgH="1485900" progId="Visio.Drawing.6">
                  <p:embed/>
                  <p:pic>
                    <p:nvPicPr>
                      <p:cNvPr id="0" name="Object 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257" y="8404"/>
                        <a:ext cx="4008438" cy="3224213"/>
                      </a:xfrm>
                      <a:prstGeom prst="rect">
                        <a:avLst/>
                      </a:prstGeom>
                      <a:noFill/>
                      <a:ln>
                        <a:noFill/>
                      </a:ln>
                      <a:effectLst/>
                    </p:spPr>
                  </p:pic>
                </p:oleObj>
              </mc:Fallback>
            </mc:AlternateContent>
          </a:graphicData>
        </a:graphic>
      </p:graphicFrame>
      <p:sp>
        <p:nvSpPr>
          <p:cNvPr id="99362" name="Text Box 34"/>
          <p:cNvSpPr txBox="1">
            <a:spLocks noChangeArrowheads="1"/>
          </p:cNvSpPr>
          <p:nvPr/>
        </p:nvSpPr>
        <p:spPr bwMode="auto">
          <a:xfrm>
            <a:off x="3200400" y="838200"/>
            <a:ext cx="573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latin typeface="Tahoma" panose="020B0604030504040204" pitchFamily="34" charset="0"/>
                <a:ea typeface="宋体" panose="02010600030101010101" pitchFamily="2" charset="-122"/>
              </a:rPr>
              <a:t>BG</a:t>
            </a:r>
            <a:endParaRPr kumimoji="0" lang="en-US" altLang="zh-CN" sz="2400" b="0">
              <a:latin typeface="Tahoma" panose="020B0604030504040204" pitchFamily="34" charset="0"/>
              <a:ea typeface="宋体" panose="02010600030101010101" pitchFamily="2" charset="-122"/>
            </a:endParaRPr>
          </a:p>
        </p:txBody>
      </p:sp>
      <p:sp>
        <p:nvSpPr>
          <p:cNvPr id="99363" name="Text Box 35"/>
          <p:cNvSpPr txBox="1">
            <a:spLocks noChangeArrowheads="1"/>
          </p:cNvSpPr>
          <p:nvPr/>
        </p:nvSpPr>
        <p:spPr bwMode="auto">
          <a:xfrm>
            <a:off x="3078163" y="1557338"/>
            <a:ext cx="773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latin typeface="Tahoma" panose="020B0604030504040204" pitchFamily="34" charset="0"/>
                <a:ea typeface="宋体" panose="02010600030101010101" pitchFamily="2" charset="-122"/>
              </a:rPr>
              <a:t>/BR</a:t>
            </a:r>
            <a:endParaRPr kumimoji="0" lang="en-US" altLang="zh-CN" sz="2400" b="0">
              <a:latin typeface="Tahoma" panose="020B0604030504040204" pitchFamily="34" charset="0"/>
              <a:ea typeface="宋体" panose="02010600030101010101" pitchFamily="2" charset="-122"/>
            </a:endParaRPr>
          </a:p>
        </p:txBody>
      </p:sp>
      <p:sp>
        <p:nvSpPr>
          <p:cNvPr id="99366" name="Text Box 38"/>
          <p:cNvSpPr txBox="1">
            <a:spLocks noChangeArrowheads="1"/>
          </p:cNvSpPr>
          <p:nvPr/>
        </p:nvSpPr>
        <p:spPr bwMode="auto">
          <a:xfrm>
            <a:off x="3071813" y="2349500"/>
            <a:ext cx="704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latin typeface="Tahoma" panose="020B0604030504040204" pitchFamily="34" charset="0"/>
                <a:ea typeface="宋体" panose="02010600030101010101" pitchFamily="2" charset="-122"/>
              </a:rPr>
              <a:t>/BB</a:t>
            </a:r>
            <a:endParaRPr kumimoji="0" lang="en-US" altLang="zh-CN" sz="2400" b="0">
              <a:latin typeface="Tahoma" panose="020B0604030504040204" pitchFamily="34" charset="0"/>
              <a:ea typeface="宋体" panose="02010600030101010101" pitchFamily="2" charset="-122"/>
            </a:endParaRPr>
          </a:p>
        </p:txBody>
      </p:sp>
      <p:sp>
        <p:nvSpPr>
          <p:cNvPr id="99367" name="Text Box 39"/>
          <p:cNvSpPr txBox="1">
            <a:spLocks noChangeArrowheads="1"/>
          </p:cNvSpPr>
          <p:nvPr/>
        </p:nvSpPr>
        <p:spPr bwMode="auto">
          <a:xfrm>
            <a:off x="4714875" y="1773238"/>
            <a:ext cx="865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latin typeface="Tahoma" panose="020B0604030504040204" pitchFamily="34" charset="0"/>
                <a:ea typeface="宋体" panose="02010600030101010101" pitchFamily="2" charset="-122"/>
              </a:rPr>
              <a:t>BG</a:t>
            </a:r>
            <a:r>
              <a:rPr kumimoji="0" lang="en-US" altLang="zh-CN" sz="2400" b="0" baseline="-25000">
                <a:latin typeface="Tahoma" panose="020B0604030504040204" pitchFamily="34" charset="0"/>
                <a:ea typeface="宋体" panose="02010600030101010101" pitchFamily="2" charset="-122"/>
              </a:rPr>
              <a:t>In</a:t>
            </a:r>
            <a:endParaRPr kumimoji="0" lang="en-US" altLang="zh-CN" sz="2400" b="0" baseline="-25000">
              <a:latin typeface="Tahoma" panose="020B0604030504040204" pitchFamily="34" charset="0"/>
              <a:ea typeface="宋体" panose="02010600030101010101" pitchFamily="2" charset="-122"/>
            </a:endParaRPr>
          </a:p>
        </p:txBody>
      </p:sp>
      <p:sp>
        <p:nvSpPr>
          <p:cNvPr id="99368" name="Text Box 40"/>
          <p:cNvSpPr txBox="1">
            <a:spLocks noChangeArrowheads="1"/>
          </p:cNvSpPr>
          <p:nvPr/>
        </p:nvSpPr>
        <p:spPr bwMode="auto">
          <a:xfrm>
            <a:off x="6659563" y="188913"/>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latin typeface="Tahoma" panose="020B0604030504040204" pitchFamily="34" charset="0"/>
                <a:ea typeface="宋体" panose="02010600030101010101" pitchFamily="2" charset="-122"/>
              </a:rPr>
              <a:t>REQ</a:t>
            </a:r>
            <a:r>
              <a:rPr kumimoji="0" lang="en-US" altLang="zh-CN" sz="2400" b="0" baseline="-25000">
                <a:latin typeface="Tahoma" panose="020B0604030504040204" pitchFamily="34" charset="0"/>
                <a:ea typeface="宋体" panose="02010600030101010101" pitchFamily="2" charset="-122"/>
              </a:rPr>
              <a:t>n</a:t>
            </a:r>
            <a:endParaRPr kumimoji="0" lang="en-US" altLang="zh-CN" sz="2400" b="0" baseline="-25000">
              <a:latin typeface="Tahoma" panose="020B0604030504040204" pitchFamily="34" charset="0"/>
              <a:ea typeface="宋体" panose="02010600030101010101" pitchFamily="2" charset="-122"/>
            </a:endParaRPr>
          </a:p>
        </p:txBody>
      </p:sp>
      <p:sp>
        <p:nvSpPr>
          <p:cNvPr id="99369" name="Text Box 41"/>
          <p:cNvSpPr txBox="1">
            <a:spLocks noChangeArrowheads="1"/>
          </p:cNvSpPr>
          <p:nvPr/>
        </p:nvSpPr>
        <p:spPr bwMode="auto">
          <a:xfrm>
            <a:off x="7885113" y="1484313"/>
            <a:ext cx="865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latin typeface="Tahoma" panose="020B0604030504040204" pitchFamily="34" charset="0"/>
                <a:ea typeface="宋体" panose="02010600030101010101" pitchFamily="2" charset="-122"/>
              </a:rPr>
              <a:t>BG</a:t>
            </a:r>
            <a:r>
              <a:rPr kumimoji="0" lang="en-US" altLang="zh-CN" sz="2400" b="0" baseline="-25000">
                <a:latin typeface="Tahoma" panose="020B0604030504040204" pitchFamily="34" charset="0"/>
                <a:ea typeface="宋体" panose="02010600030101010101" pitchFamily="2" charset="-122"/>
              </a:rPr>
              <a:t>On</a:t>
            </a:r>
            <a:endParaRPr kumimoji="0" lang="en-US" altLang="zh-CN" sz="2400" b="0" baseline="-25000">
              <a:latin typeface="Tahoma" panose="020B0604030504040204" pitchFamily="34" charset="0"/>
              <a:ea typeface="宋体" panose="02010600030101010101" pitchFamily="2" charset="-122"/>
            </a:endParaRPr>
          </a:p>
        </p:txBody>
      </p:sp>
      <p:sp>
        <p:nvSpPr>
          <p:cNvPr id="99370" name="Text Box 42"/>
          <p:cNvSpPr txBox="1">
            <a:spLocks noChangeArrowheads="1"/>
          </p:cNvSpPr>
          <p:nvPr/>
        </p:nvSpPr>
        <p:spPr bwMode="auto">
          <a:xfrm>
            <a:off x="5737225" y="2314575"/>
            <a:ext cx="69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latin typeface="Tahoma" panose="020B0604030504040204" pitchFamily="34" charset="0"/>
                <a:ea typeface="宋体" panose="02010600030101010101" pitchFamily="2" charset="-122"/>
              </a:rPr>
              <a:t>/BR</a:t>
            </a:r>
            <a:endParaRPr kumimoji="0" lang="en-US" altLang="zh-CN" sz="2400" b="0">
              <a:latin typeface="Tahoma" panose="020B0604030504040204" pitchFamily="34" charset="0"/>
              <a:ea typeface="宋体" panose="02010600030101010101" pitchFamily="2" charset="-122"/>
            </a:endParaRPr>
          </a:p>
        </p:txBody>
      </p:sp>
      <p:sp>
        <p:nvSpPr>
          <p:cNvPr id="99371" name="Text Box 43"/>
          <p:cNvSpPr txBox="1">
            <a:spLocks noChangeArrowheads="1"/>
          </p:cNvSpPr>
          <p:nvPr/>
        </p:nvSpPr>
        <p:spPr bwMode="auto">
          <a:xfrm>
            <a:off x="6572250" y="2314575"/>
            <a:ext cx="75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b="0">
                <a:latin typeface="Tahoma" panose="020B0604030504040204" pitchFamily="34" charset="0"/>
                <a:ea typeface="宋体" panose="02010600030101010101" pitchFamily="2" charset="-122"/>
              </a:rPr>
              <a:t>/BB</a:t>
            </a:r>
            <a:endParaRPr kumimoji="0" lang="en-US" altLang="zh-CN" sz="2400" b="0">
              <a:latin typeface="Tahoma" panose="020B0604030504040204" pitchFamily="34" charset="0"/>
              <a:ea typeface="宋体" panose="02010600030101010101" pitchFamily="2" charset="-122"/>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9333"/>
                                        </p:tgtEl>
                                        <p:attrNameLst>
                                          <p:attrName>style.visibility</p:attrName>
                                        </p:attrNameLst>
                                      </p:cBhvr>
                                      <p:to>
                                        <p:strVal val="visible"/>
                                      </p:to>
                                    </p:set>
                                    <p:anim calcmode="lin" valueType="num">
                                      <p:cBhvr additive="base">
                                        <p:cTn id="7" dur="500" fill="hold"/>
                                        <p:tgtEl>
                                          <p:spTgt spid="99333"/>
                                        </p:tgtEl>
                                        <p:attrNameLst>
                                          <p:attrName>ppt_x</p:attrName>
                                        </p:attrNameLst>
                                      </p:cBhvr>
                                      <p:tavLst>
                                        <p:tav tm="0">
                                          <p:val>
                                            <p:strVal val="0-#ppt_w/2"/>
                                          </p:val>
                                        </p:tav>
                                        <p:tav tm="100000">
                                          <p:val>
                                            <p:strVal val="#ppt_x"/>
                                          </p:val>
                                        </p:tav>
                                      </p:tavLst>
                                    </p:anim>
                                    <p:anim calcmode="lin" valueType="num">
                                      <p:cBhvr additive="base">
                                        <p:cTn id="8" dur="500" fill="hold"/>
                                        <p:tgtEl>
                                          <p:spTgt spid="9933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9352"/>
                                        </p:tgtEl>
                                        <p:attrNameLst>
                                          <p:attrName>style.visibility</p:attrName>
                                        </p:attrNameLst>
                                      </p:cBhvr>
                                      <p:to>
                                        <p:strVal val="visible"/>
                                      </p:to>
                                    </p:set>
                                    <p:anim calcmode="lin" valueType="num">
                                      <p:cBhvr additive="base">
                                        <p:cTn id="12" dur="500" fill="hold"/>
                                        <p:tgtEl>
                                          <p:spTgt spid="99352"/>
                                        </p:tgtEl>
                                        <p:attrNameLst>
                                          <p:attrName>ppt_x</p:attrName>
                                        </p:attrNameLst>
                                      </p:cBhvr>
                                      <p:tavLst>
                                        <p:tav tm="0">
                                          <p:val>
                                            <p:strVal val="0-#ppt_w/2"/>
                                          </p:val>
                                        </p:tav>
                                        <p:tav tm="100000">
                                          <p:val>
                                            <p:strVal val="#ppt_x"/>
                                          </p:val>
                                        </p:tav>
                                      </p:tavLst>
                                    </p:anim>
                                    <p:anim calcmode="lin" valueType="num">
                                      <p:cBhvr additive="base">
                                        <p:cTn id="13" dur="500" fill="hold"/>
                                        <p:tgtEl>
                                          <p:spTgt spid="9935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 presetClass="entr" presetSubtype="0" fill="hold" nodeType="afterEffect">
                                  <p:stCondLst>
                                    <p:cond delay="0"/>
                                  </p:stCondLst>
                                  <p:childTnLst>
                                    <p:set>
                                      <p:cBhvr>
                                        <p:cTn id="16" dur="1" fill="hold">
                                          <p:stCondLst>
                                            <p:cond delay="499"/>
                                          </p:stCondLst>
                                        </p:cTn>
                                        <p:tgtEl>
                                          <p:spTgt spid="99361"/>
                                        </p:tgtEl>
                                        <p:attrNameLst>
                                          <p:attrName>style.visibility</p:attrName>
                                        </p:attrNameLst>
                                      </p:cBhvr>
                                      <p:to>
                                        <p:strVal val="visible"/>
                                      </p:to>
                                    </p:set>
                                  </p:childTnLst>
                                </p:cTn>
                              </p:par>
                            </p:childTnLst>
                          </p:cTn>
                        </p:par>
                        <p:par>
                          <p:cTn id="17" fill="hold">
                            <p:stCondLst>
                              <p:cond delay="1500"/>
                            </p:stCondLst>
                            <p:childTnLst>
                              <p:par>
                                <p:cTn id="18" presetID="1" presetClass="entr" presetSubtype="0" fill="hold" grpId="0" nodeType="afterEffect">
                                  <p:stCondLst>
                                    <p:cond delay="0"/>
                                  </p:stCondLst>
                                  <p:childTnLst>
                                    <p:set>
                                      <p:cBhvr>
                                        <p:cTn id="19" dur="1" fill="hold">
                                          <p:stCondLst>
                                            <p:cond delay="499"/>
                                          </p:stCondLst>
                                        </p:cTn>
                                        <p:tgtEl>
                                          <p:spTgt spid="99362"/>
                                        </p:tgtEl>
                                        <p:attrNameLst>
                                          <p:attrName>style.visibility</p:attrName>
                                        </p:attrNameLst>
                                      </p:cBhvr>
                                      <p:to>
                                        <p:strVal val="visible"/>
                                      </p:to>
                                    </p:set>
                                  </p:childTnLst>
                                </p:cTn>
                              </p:par>
                            </p:childTnLst>
                          </p:cTn>
                        </p:par>
                        <p:par>
                          <p:cTn id="20" fill="hold">
                            <p:stCondLst>
                              <p:cond delay="2000"/>
                            </p:stCondLst>
                            <p:childTnLst>
                              <p:par>
                                <p:cTn id="21" presetID="1" presetClass="entr" presetSubtype="0" fill="hold" grpId="0" nodeType="afterEffect">
                                  <p:stCondLst>
                                    <p:cond delay="0"/>
                                  </p:stCondLst>
                                  <p:childTnLst>
                                    <p:set>
                                      <p:cBhvr>
                                        <p:cTn id="22" dur="1" fill="hold">
                                          <p:stCondLst>
                                            <p:cond delay="499"/>
                                          </p:stCondLst>
                                        </p:cTn>
                                        <p:tgtEl>
                                          <p:spTgt spid="99363"/>
                                        </p:tgtEl>
                                        <p:attrNameLst>
                                          <p:attrName>style.visibility</p:attrName>
                                        </p:attrNameLst>
                                      </p:cBhvr>
                                      <p:to>
                                        <p:strVal val="visible"/>
                                      </p:to>
                                    </p:set>
                                  </p:childTnLst>
                                </p:cTn>
                              </p:par>
                            </p:childTnLst>
                          </p:cTn>
                        </p:par>
                        <p:par>
                          <p:cTn id="23" fill="hold">
                            <p:stCondLst>
                              <p:cond delay="2500"/>
                            </p:stCondLst>
                            <p:childTnLst>
                              <p:par>
                                <p:cTn id="24" presetID="1" presetClass="entr" presetSubtype="0" fill="hold" grpId="0" nodeType="afterEffect">
                                  <p:stCondLst>
                                    <p:cond delay="0"/>
                                  </p:stCondLst>
                                  <p:childTnLst>
                                    <p:set>
                                      <p:cBhvr>
                                        <p:cTn id="25" dur="1" fill="hold">
                                          <p:stCondLst>
                                            <p:cond delay="499"/>
                                          </p:stCondLst>
                                        </p:cTn>
                                        <p:tgtEl>
                                          <p:spTgt spid="9936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99358"/>
                                        </p:tgtEl>
                                        <p:attrNameLst>
                                          <p:attrName>style.visibility</p:attrName>
                                        </p:attrNameLst>
                                      </p:cBhvr>
                                      <p:to>
                                        <p:strVal val="visible"/>
                                      </p:to>
                                    </p:set>
                                    <p:anim calcmode="lin" valueType="num">
                                      <p:cBhvr additive="base">
                                        <p:cTn id="30" dur="500" fill="hold"/>
                                        <p:tgtEl>
                                          <p:spTgt spid="99358"/>
                                        </p:tgtEl>
                                        <p:attrNameLst>
                                          <p:attrName>ppt_x</p:attrName>
                                        </p:attrNameLst>
                                      </p:cBhvr>
                                      <p:tavLst>
                                        <p:tav tm="0">
                                          <p:val>
                                            <p:strVal val="0-#ppt_w/2"/>
                                          </p:val>
                                        </p:tav>
                                        <p:tav tm="100000">
                                          <p:val>
                                            <p:strVal val="#ppt_x"/>
                                          </p:val>
                                        </p:tav>
                                      </p:tavLst>
                                    </p:anim>
                                    <p:anim calcmode="lin" valueType="num">
                                      <p:cBhvr additive="base">
                                        <p:cTn id="31" dur="500" fill="hold"/>
                                        <p:tgtEl>
                                          <p:spTgt spid="99358"/>
                                        </p:tgtEl>
                                        <p:attrNameLst>
                                          <p:attrName>ppt_y</p:attrName>
                                        </p:attrNameLst>
                                      </p:cBhvr>
                                      <p:tavLst>
                                        <p:tav tm="0">
                                          <p:val>
                                            <p:strVal val="#ppt_y"/>
                                          </p:val>
                                        </p:tav>
                                        <p:tav tm="100000">
                                          <p:val>
                                            <p:strVal val="#ppt_y"/>
                                          </p:val>
                                        </p:tav>
                                      </p:tavLst>
                                    </p:anim>
                                  </p:childTnLst>
                                </p:cTn>
                              </p:par>
                            </p:childTnLst>
                          </p:cTn>
                        </p:par>
                        <p:par>
                          <p:cTn id="32" fill="hold">
                            <p:stCondLst>
                              <p:cond delay="500"/>
                            </p:stCondLst>
                            <p:childTnLst>
                              <p:par>
                                <p:cTn id="33" presetID="2" presetClass="entr" presetSubtype="8" fill="hold" grpId="0" nodeType="afterEffect">
                                  <p:stCondLst>
                                    <p:cond delay="0"/>
                                  </p:stCondLst>
                                  <p:childTnLst>
                                    <p:set>
                                      <p:cBhvr>
                                        <p:cTn id="34" dur="1" fill="hold">
                                          <p:stCondLst>
                                            <p:cond delay="0"/>
                                          </p:stCondLst>
                                        </p:cTn>
                                        <p:tgtEl>
                                          <p:spTgt spid="99359"/>
                                        </p:tgtEl>
                                        <p:attrNameLst>
                                          <p:attrName>style.visibility</p:attrName>
                                        </p:attrNameLst>
                                      </p:cBhvr>
                                      <p:to>
                                        <p:strVal val="visible"/>
                                      </p:to>
                                    </p:set>
                                    <p:anim calcmode="lin" valueType="num">
                                      <p:cBhvr additive="base">
                                        <p:cTn id="35" dur="500" fill="hold"/>
                                        <p:tgtEl>
                                          <p:spTgt spid="99359"/>
                                        </p:tgtEl>
                                        <p:attrNameLst>
                                          <p:attrName>ppt_x</p:attrName>
                                        </p:attrNameLst>
                                      </p:cBhvr>
                                      <p:tavLst>
                                        <p:tav tm="0">
                                          <p:val>
                                            <p:strVal val="0-#ppt_w/2"/>
                                          </p:val>
                                        </p:tav>
                                        <p:tav tm="100000">
                                          <p:val>
                                            <p:strVal val="#ppt_x"/>
                                          </p:val>
                                        </p:tav>
                                      </p:tavLst>
                                    </p:anim>
                                    <p:anim calcmode="lin" valueType="num">
                                      <p:cBhvr additive="base">
                                        <p:cTn id="36" dur="500" fill="hold"/>
                                        <p:tgtEl>
                                          <p:spTgt spid="99359"/>
                                        </p:tgtEl>
                                        <p:attrNameLst>
                                          <p:attrName>ppt_y</p:attrName>
                                        </p:attrNameLst>
                                      </p:cBhvr>
                                      <p:tavLst>
                                        <p:tav tm="0">
                                          <p:val>
                                            <p:strVal val="#ppt_y"/>
                                          </p:val>
                                        </p:tav>
                                        <p:tav tm="100000">
                                          <p:val>
                                            <p:strVal val="#ppt_y"/>
                                          </p:val>
                                        </p:tav>
                                      </p:tavLst>
                                    </p:anim>
                                  </p:childTnLst>
                                </p:cTn>
                              </p:par>
                            </p:childTnLst>
                          </p:cTn>
                        </p:par>
                        <p:par>
                          <p:cTn id="37" fill="hold">
                            <p:stCondLst>
                              <p:cond delay="1000"/>
                            </p:stCondLst>
                            <p:childTnLst>
                              <p:par>
                                <p:cTn id="38" presetID="1" presetClass="entr" presetSubtype="0" fill="hold" nodeType="afterEffect">
                                  <p:stCondLst>
                                    <p:cond delay="0"/>
                                  </p:stCondLst>
                                  <p:childTnLst>
                                    <p:set>
                                      <p:cBhvr>
                                        <p:cTn id="39" dur="1" fill="hold">
                                          <p:stCondLst>
                                            <p:cond delay="499"/>
                                          </p:stCondLst>
                                        </p:cTn>
                                        <p:tgtEl>
                                          <p:spTgt spid="99360"/>
                                        </p:tgtEl>
                                        <p:attrNameLst>
                                          <p:attrName>style.visibility</p:attrName>
                                        </p:attrNameLst>
                                      </p:cBhvr>
                                      <p:to>
                                        <p:strVal val="visible"/>
                                      </p:to>
                                    </p:set>
                                  </p:childTnLst>
                                </p:cTn>
                              </p:par>
                            </p:childTnLst>
                          </p:cTn>
                        </p:par>
                        <p:par>
                          <p:cTn id="40" fill="hold">
                            <p:stCondLst>
                              <p:cond delay="1500"/>
                            </p:stCondLst>
                            <p:childTnLst>
                              <p:par>
                                <p:cTn id="41" presetID="1" presetClass="entr" presetSubtype="0" fill="hold" grpId="0" nodeType="afterEffect">
                                  <p:stCondLst>
                                    <p:cond delay="0"/>
                                  </p:stCondLst>
                                  <p:childTnLst>
                                    <p:set>
                                      <p:cBhvr>
                                        <p:cTn id="42" dur="1" fill="hold">
                                          <p:stCondLst>
                                            <p:cond delay="499"/>
                                          </p:stCondLst>
                                        </p:cTn>
                                        <p:tgtEl>
                                          <p:spTgt spid="99371"/>
                                        </p:tgtEl>
                                        <p:attrNameLst>
                                          <p:attrName>style.visibility</p:attrName>
                                        </p:attrNameLst>
                                      </p:cBhvr>
                                      <p:to>
                                        <p:strVal val="visible"/>
                                      </p:to>
                                    </p:set>
                                  </p:childTnLst>
                                </p:cTn>
                              </p:par>
                            </p:childTnLst>
                          </p:cTn>
                        </p:par>
                        <p:par>
                          <p:cTn id="43" fill="hold">
                            <p:stCondLst>
                              <p:cond delay="2000"/>
                            </p:stCondLst>
                            <p:childTnLst>
                              <p:par>
                                <p:cTn id="44" presetID="1" presetClass="entr" presetSubtype="0" fill="hold" grpId="0" nodeType="afterEffect">
                                  <p:stCondLst>
                                    <p:cond delay="0"/>
                                  </p:stCondLst>
                                  <p:childTnLst>
                                    <p:set>
                                      <p:cBhvr>
                                        <p:cTn id="45" dur="1" fill="hold">
                                          <p:stCondLst>
                                            <p:cond delay="499"/>
                                          </p:stCondLst>
                                        </p:cTn>
                                        <p:tgtEl>
                                          <p:spTgt spid="99370"/>
                                        </p:tgtEl>
                                        <p:attrNameLst>
                                          <p:attrName>style.visibility</p:attrName>
                                        </p:attrNameLst>
                                      </p:cBhvr>
                                      <p:to>
                                        <p:strVal val="visible"/>
                                      </p:to>
                                    </p:set>
                                  </p:childTnLst>
                                </p:cTn>
                              </p:par>
                            </p:childTnLst>
                          </p:cTn>
                        </p:par>
                        <p:par>
                          <p:cTn id="46" fill="hold">
                            <p:stCondLst>
                              <p:cond delay="2500"/>
                            </p:stCondLst>
                            <p:childTnLst>
                              <p:par>
                                <p:cTn id="47" presetID="1" presetClass="entr" presetSubtype="0" fill="hold" grpId="0" nodeType="afterEffect">
                                  <p:stCondLst>
                                    <p:cond delay="0"/>
                                  </p:stCondLst>
                                  <p:childTnLst>
                                    <p:set>
                                      <p:cBhvr>
                                        <p:cTn id="48" dur="1" fill="hold">
                                          <p:stCondLst>
                                            <p:cond delay="499"/>
                                          </p:stCondLst>
                                        </p:cTn>
                                        <p:tgtEl>
                                          <p:spTgt spid="99369"/>
                                        </p:tgtEl>
                                        <p:attrNameLst>
                                          <p:attrName>style.visibility</p:attrName>
                                        </p:attrNameLst>
                                      </p:cBhvr>
                                      <p:to>
                                        <p:strVal val="visible"/>
                                      </p:to>
                                    </p:set>
                                  </p:childTnLst>
                                </p:cTn>
                              </p:par>
                            </p:childTnLst>
                          </p:cTn>
                        </p:par>
                        <p:par>
                          <p:cTn id="49" fill="hold">
                            <p:stCondLst>
                              <p:cond delay="3000"/>
                            </p:stCondLst>
                            <p:childTnLst>
                              <p:par>
                                <p:cTn id="50" presetID="1" presetClass="entr" presetSubtype="0" fill="hold" grpId="0" nodeType="afterEffect">
                                  <p:stCondLst>
                                    <p:cond delay="0"/>
                                  </p:stCondLst>
                                  <p:childTnLst>
                                    <p:set>
                                      <p:cBhvr>
                                        <p:cTn id="51" dur="1" fill="hold">
                                          <p:stCondLst>
                                            <p:cond delay="499"/>
                                          </p:stCondLst>
                                        </p:cTn>
                                        <p:tgtEl>
                                          <p:spTgt spid="99368"/>
                                        </p:tgtEl>
                                        <p:attrNameLst>
                                          <p:attrName>style.visibility</p:attrName>
                                        </p:attrNameLst>
                                      </p:cBhvr>
                                      <p:to>
                                        <p:strVal val="visible"/>
                                      </p:to>
                                    </p:set>
                                  </p:childTnLst>
                                </p:cTn>
                              </p:par>
                            </p:childTnLst>
                          </p:cTn>
                        </p:par>
                        <p:par>
                          <p:cTn id="52" fill="hold">
                            <p:stCondLst>
                              <p:cond delay="3500"/>
                            </p:stCondLst>
                            <p:childTnLst>
                              <p:par>
                                <p:cTn id="53" presetID="1" presetClass="entr" presetSubtype="0" fill="hold" grpId="0" nodeType="afterEffect">
                                  <p:stCondLst>
                                    <p:cond delay="0"/>
                                  </p:stCondLst>
                                  <p:childTnLst>
                                    <p:set>
                                      <p:cBhvr>
                                        <p:cTn id="54" dur="1" fill="hold">
                                          <p:stCondLst>
                                            <p:cond delay="499"/>
                                          </p:stCondLst>
                                        </p:cTn>
                                        <p:tgtEl>
                                          <p:spTgt spid="993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52" grpId="0" autoUpdateAnimBg="0"/>
      <p:bldP spid="99359" grpId="0" autoUpdateAnimBg="0"/>
      <p:bldP spid="99362" grpId="0" autoUpdateAnimBg="0"/>
      <p:bldP spid="99363" grpId="0" autoUpdateAnimBg="0"/>
      <p:bldP spid="99366" grpId="0" autoUpdateAnimBg="0"/>
      <p:bldP spid="99367" grpId="0" autoUpdateAnimBg="0"/>
      <p:bldP spid="99368" grpId="0" autoUpdateAnimBg="0"/>
      <p:bldP spid="99369" grpId="0" autoUpdateAnimBg="0"/>
      <p:bldP spid="99370" grpId="0" autoUpdateAnimBg="0"/>
      <p:bldP spid="99371"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defRPr/>
            </a:pPr>
            <a:r>
              <a:rPr lang="zh-CN" altLang="en-US"/>
              <a:t>集中仲裁：计数器定时查询方式</a:t>
            </a:r>
            <a:endParaRPr lang="zh-CN" altLang="en-US"/>
          </a:p>
        </p:txBody>
      </p:sp>
      <p:sp>
        <p:nvSpPr>
          <p:cNvPr id="60420" name="Rectangle 3"/>
          <p:cNvSpPr>
            <a:spLocks noChangeArrowheads="1"/>
          </p:cNvSpPr>
          <p:nvPr/>
        </p:nvSpPr>
        <p:spPr bwMode="auto">
          <a:xfrm>
            <a:off x="517525" y="1524000"/>
            <a:ext cx="1343025" cy="4089400"/>
          </a:xfrm>
          <a:prstGeom prst="rect">
            <a:avLst/>
          </a:prstGeom>
          <a:solidFill>
            <a:srgbClr val="660066"/>
          </a:solidFill>
          <a:ln w="9525">
            <a:solidFill>
              <a:srgbClr val="FFFFFF"/>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0421" name="Rectangle 4"/>
          <p:cNvSpPr>
            <a:spLocks noChangeArrowheads="1"/>
          </p:cNvSpPr>
          <p:nvPr/>
        </p:nvSpPr>
        <p:spPr bwMode="auto">
          <a:xfrm>
            <a:off x="717550" y="1851025"/>
            <a:ext cx="869950" cy="213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60422" name="Rectangle 5"/>
          <p:cNvSpPr>
            <a:spLocks noChangeArrowheads="1"/>
          </p:cNvSpPr>
          <p:nvPr/>
        </p:nvSpPr>
        <p:spPr bwMode="auto">
          <a:xfrm>
            <a:off x="7229475" y="1524000"/>
            <a:ext cx="1168400" cy="982663"/>
          </a:xfrm>
          <a:prstGeom prst="rect">
            <a:avLst/>
          </a:prstGeom>
          <a:solidFill>
            <a:srgbClr val="660066"/>
          </a:solidFill>
          <a:ln w="9525">
            <a:solidFill>
              <a:srgbClr val="FFFFFF"/>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60423" name="Rectangle 6"/>
          <p:cNvSpPr>
            <a:spLocks noChangeArrowheads="1"/>
          </p:cNvSpPr>
          <p:nvPr/>
        </p:nvSpPr>
        <p:spPr bwMode="auto">
          <a:xfrm>
            <a:off x="7378700" y="1609725"/>
            <a:ext cx="1042988"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60424" name="Rectangle 7"/>
          <p:cNvSpPr>
            <a:spLocks noChangeArrowheads="1"/>
          </p:cNvSpPr>
          <p:nvPr/>
        </p:nvSpPr>
        <p:spPr bwMode="auto">
          <a:xfrm>
            <a:off x="7177989" y="1795890"/>
            <a:ext cx="121988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700" dirty="0">
                <a:solidFill>
                  <a:schemeClr val="bg1"/>
                </a:solidFill>
                <a:ea typeface="楷体" panose="02010609060101010101" pitchFamily="49" charset="-122"/>
                <a:cs typeface="Times New Roman" panose="02020603050405020304" pitchFamily="18" charset="0"/>
              </a:rPr>
              <a:t>设备</a:t>
            </a:r>
            <a:r>
              <a:rPr lang="en-US" altLang="zh-CN" sz="2700" dirty="0">
                <a:solidFill>
                  <a:schemeClr val="bg1"/>
                </a:solidFill>
                <a:ea typeface="楷体" panose="02010609060101010101" pitchFamily="49" charset="-122"/>
                <a:cs typeface="Times New Roman" panose="02020603050405020304" pitchFamily="18" charset="0"/>
              </a:rPr>
              <a:t>n-1</a:t>
            </a:r>
            <a:endParaRPr lang="en-US" altLang="zh-CN" sz="3600" dirty="0">
              <a:solidFill>
                <a:schemeClr val="bg1"/>
              </a:solidFill>
              <a:ea typeface="楷体" panose="02010609060101010101" pitchFamily="49" charset="-122"/>
              <a:cs typeface="Times New Roman" panose="02020603050405020304" pitchFamily="18" charset="0"/>
            </a:endParaRPr>
          </a:p>
        </p:txBody>
      </p:sp>
      <p:sp>
        <p:nvSpPr>
          <p:cNvPr id="60425" name="Rectangle 8"/>
          <p:cNvSpPr>
            <a:spLocks noChangeArrowheads="1"/>
          </p:cNvSpPr>
          <p:nvPr/>
        </p:nvSpPr>
        <p:spPr bwMode="auto">
          <a:xfrm>
            <a:off x="4843463" y="1524000"/>
            <a:ext cx="1168400" cy="982663"/>
          </a:xfrm>
          <a:prstGeom prst="rect">
            <a:avLst/>
          </a:prstGeom>
          <a:solidFill>
            <a:srgbClr val="660066"/>
          </a:solidFill>
          <a:ln w="9525">
            <a:solidFill>
              <a:srgbClr val="FFFFFF"/>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60426" name="Rectangle 9"/>
          <p:cNvSpPr>
            <a:spLocks noChangeArrowheads="1"/>
          </p:cNvSpPr>
          <p:nvPr/>
        </p:nvSpPr>
        <p:spPr bwMode="auto">
          <a:xfrm>
            <a:off x="4992688" y="1609725"/>
            <a:ext cx="1019175"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60427" name="Rectangle 10"/>
          <p:cNvSpPr>
            <a:spLocks noChangeArrowheads="1"/>
          </p:cNvSpPr>
          <p:nvPr/>
        </p:nvSpPr>
        <p:spPr bwMode="auto">
          <a:xfrm>
            <a:off x="4978713" y="1805502"/>
            <a:ext cx="87043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700" dirty="0">
                <a:solidFill>
                  <a:schemeClr val="bg1"/>
                </a:solidFill>
                <a:ea typeface="楷体" panose="02010609060101010101" pitchFamily="49" charset="-122"/>
                <a:cs typeface="Times New Roman" panose="02020603050405020304" pitchFamily="18" charset="0"/>
              </a:rPr>
              <a:t>设备</a:t>
            </a:r>
            <a:r>
              <a:rPr lang="en-US" altLang="zh-CN" sz="2700" dirty="0">
                <a:solidFill>
                  <a:schemeClr val="bg1"/>
                </a:solidFill>
                <a:ea typeface="楷体" panose="02010609060101010101" pitchFamily="49" charset="-122"/>
                <a:cs typeface="Times New Roman" panose="02020603050405020304" pitchFamily="18" charset="0"/>
              </a:rPr>
              <a:t>1</a:t>
            </a:r>
            <a:endParaRPr lang="en-US" altLang="zh-CN" sz="3600" dirty="0">
              <a:solidFill>
                <a:schemeClr val="bg1"/>
              </a:solidFill>
              <a:ea typeface="楷体" panose="02010609060101010101" pitchFamily="49" charset="-122"/>
              <a:cs typeface="Times New Roman" panose="02020603050405020304" pitchFamily="18" charset="0"/>
            </a:endParaRPr>
          </a:p>
        </p:txBody>
      </p:sp>
      <p:sp>
        <p:nvSpPr>
          <p:cNvPr id="60428" name="Rectangle 11"/>
          <p:cNvSpPr>
            <a:spLocks noChangeArrowheads="1"/>
          </p:cNvSpPr>
          <p:nvPr/>
        </p:nvSpPr>
        <p:spPr bwMode="auto">
          <a:xfrm>
            <a:off x="3252788" y="1524000"/>
            <a:ext cx="1192212" cy="982663"/>
          </a:xfrm>
          <a:prstGeom prst="rect">
            <a:avLst/>
          </a:prstGeom>
          <a:solidFill>
            <a:srgbClr val="660066"/>
          </a:solidFill>
          <a:ln w="9525">
            <a:solidFill>
              <a:srgbClr val="FFFFFF"/>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endParaRPr lang="zh-CN" altLang="zh-CN" sz="3600" b="0">
              <a:solidFill>
                <a:schemeClr val="bg1"/>
              </a:solidFill>
              <a:ea typeface="楷体" panose="02010609060101010101" pitchFamily="49" charset="-122"/>
              <a:cs typeface="Times New Roman" panose="02020603050405020304" pitchFamily="18" charset="0"/>
            </a:endParaRPr>
          </a:p>
        </p:txBody>
      </p:sp>
      <p:sp>
        <p:nvSpPr>
          <p:cNvPr id="60429" name="Rectangle 12"/>
          <p:cNvSpPr>
            <a:spLocks noChangeArrowheads="1"/>
          </p:cNvSpPr>
          <p:nvPr/>
        </p:nvSpPr>
        <p:spPr bwMode="auto">
          <a:xfrm>
            <a:off x="3327400" y="1609725"/>
            <a:ext cx="944563"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60430" name="Rectangle 13"/>
          <p:cNvSpPr>
            <a:spLocks noChangeArrowheads="1"/>
          </p:cNvSpPr>
          <p:nvPr/>
        </p:nvSpPr>
        <p:spPr bwMode="auto">
          <a:xfrm>
            <a:off x="3412870" y="1814146"/>
            <a:ext cx="87043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700" dirty="0">
                <a:solidFill>
                  <a:schemeClr val="bg1"/>
                </a:solidFill>
                <a:ea typeface="楷体" panose="02010609060101010101" pitchFamily="49" charset="-122"/>
                <a:cs typeface="Times New Roman" panose="02020603050405020304" pitchFamily="18" charset="0"/>
              </a:rPr>
              <a:t>设备</a:t>
            </a:r>
            <a:r>
              <a:rPr lang="en-US" altLang="zh-CN" sz="2700" dirty="0">
                <a:solidFill>
                  <a:schemeClr val="bg1"/>
                </a:solidFill>
                <a:ea typeface="楷体" panose="02010609060101010101" pitchFamily="49" charset="-122"/>
                <a:cs typeface="Times New Roman" panose="02020603050405020304" pitchFamily="18" charset="0"/>
              </a:rPr>
              <a:t>0</a:t>
            </a:r>
            <a:endParaRPr lang="en-US" altLang="zh-CN" sz="3600" dirty="0">
              <a:solidFill>
                <a:schemeClr val="bg1"/>
              </a:solidFill>
              <a:ea typeface="楷体" panose="02010609060101010101" pitchFamily="49" charset="-122"/>
              <a:cs typeface="Times New Roman" panose="02020603050405020304" pitchFamily="18" charset="0"/>
            </a:endParaRPr>
          </a:p>
        </p:txBody>
      </p:sp>
      <p:sp>
        <p:nvSpPr>
          <p:cNvPr id="60431" name="Rectangle 14"/>
          <p:cNvSpPr>
            <a:spLocks noChangeArrowheads="1"/>
          </p:cNvSpPr>
          <p:nvPr/>
        </p:nvSpPr>
        <p:spPr bwMode="auto">
          <a:xfrm>
            <a:off x="2215040" y="2644775"/>
            <a:ext cx="55784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700" b="0">
                <a:solidFill>
                  <a:schemeClr val="tx2"/>
                </a:solidFill>
                <a:ea typeface="楷体" panose="02010609060101010101" pitchFamily="49" charset="-122"/>
                <a:cs typeface="Times New Roman" panose="02020603050405020304" pitchFamily="18" charset="0"/>
              </a:rPr>
              <a:t>/BR</a:t>
            </a:r>
            <a:endParaRPr lang="en-US" altLang="zh-CN" sz="3600" b="0">
              <a:solidFill>
                <a:schemeClr val="tx2"/>
              </a:solidFill>
              <a:ea typeface="楷体" panose="02010609060101010101" pitchFamily="49" charset="-122"/>
              <a:cs typeface="Times New Roman" panose="02020603050405020304" pitchFamily="18" charset="0"/>
            </a:endParaRPr>
          </a:p>
        </p:txBody>
      </p:sp>
      <p:sp>
        <p:nvSpPr>
          <p:cNvPr id="60432" name="Rectangle 15"/>
          <p:cNvSpPr>
            <a:spLocks noChangeArrowheads="1"/>
          </p:cNvSpPr>
          <p:nvPr/>
        </p:nvSpPr>
        <p:spPr bwMode="auto">
          <a:xfrm>
            <a:off x="2250430" y="3403600"/>
            <a:ext cx="46166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700" b="0">
                <a:solidFill>
                  <a:schemeClr val="tx2"/>
                </a:solidFill>
                <a:ea typeface="楷体" panose="02010609060101010101" pitchFamily="49" charset="-122"/>
                <a:cs typeface="Times New Roman" panose="02020603050405020304" pitchFamily="18" charset="0"/>
              </a:rPr>
              <a:t>BB</a:t>
            </a:r>
            <a:endParaRPr lang="en-US" altLang="zh-CN" sz="3600" b="0">
              <a:solidFill>
                <a:schemeClr val="tx2"/>
              </a:solidFill>
              <a:ea typeface="楷体" panose="02010609060101010101" pitchFamily="49" charset="-122"/>
              <a:cs typeface="Times New Roman" panose="02020603050405020304" pitchFamily="18" charset="0"/>
            </a:endParaRPr>
          </a:p>
        </p:txBody>
      </p:sp>
      <p:sp>
        <p:nvSpPr>
          <p:cNvPr id="60433" name="Rectangle 16"/>
          <p:cNvSpPr>
            <a:spLocks noChangeArrowheads="1"/>
          </p:cNvSpPr>
          <p:nvPr/>
        </p:nvSpPr>
        <p:spPr bwMode="auto">
          <a:xfrm>
            <a:off x="2319148" y="4786313"/>
            <a:ext cx="69570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700">
                <a:solidFill>
                  <a:schemeClr val="tx2"/>
                </a:solidFill>
                <a:ea typeface="楷体" panose="02010609060101010101" pitchFamily="49" charset="-122"/>
                <a:cs typeface="Times New Roman" panose="02020603050405020304" pitchFamily="18" charset="0"/>
              </a:rPr>
              <a:t>数据</a:t>
            </a:r>
            <a:endParaRPr lang="zh-CN" altLang="en-US" sz="3600">
              <a:solidFill>
                <a:schemeClr val="tx2"/>
              </a:solidFill>
              <a:ea typeface="楷体" panose="02010609060101010101" pitchFamily="49" charset="-122"/>
              <a:cs typeface="Times New Roman" panose="02020603050405020304" pitchFamily="18" charset="0"/>
            </a:endParaRPr>
          </a:p>
        </p:txBody>
      </p:sp>
      <p:sp>
        <p:nvSpPr>
          <p:cNvPr id="60434" name="Rectangle 17"/>
          <p:cNvSpPr>
            <a:spLocks noChangeArrowheads="1"/>
          </p:cNvSpPr>
          <p:nvPr/>
        </p:nvSpPr>
        <p:spPr bwMode="auto">
          <a:xfrm>
            <a:off x="2000200" y="4119563"/>
            <a:ext cx="148758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700">
                <a:solidFill>
                  <a:schemeClr val="tx2"/>
                </a:solidFill>
                <a:ea typeface="楷体" panose="02010609060101010101" pitchFamily="49" charset="-122"/>
                <a:cs typeface="Times New Roman" panose="02020603050405020304" pitchFamily="18" charset="0"/>
              </a:rPr>
              <a:t>地址</a:t>
            </a:r>
            <a:r>
              <a:rPr lang="en-US" altLang="zh-CN" sz="2700">
                <a:solidFill>
                  <a:schemeClr val="tx2"/>
                </a:solidFill>
                <a:ea typeface="楷体" panose="02010609060101010101" pitchFamily="49" charset="-122"/>
                <a:cs typeface="Times New Roman" panose="02020603050405020304" pitchFamily="18" charset="0"/>
              </a:rPr>
              <a:t>/</a:t>
            </a:r>
            <a:r>
              <a:rPr lang="zh-CN" altLang="en-US" sz="2700">
                <a:solidFill>
                  <a:schemeClr val="tx2"/>
                </a:solidFill>
                <a:ea typeface="楷体" panose="02010609060101010101" pitchFamily="49" charset="-122"/>
                <a:cs typeface="Times New Roman" panose="02020603050405020304" pitchFamily="18" charset="0"/>
              </a:rPr>
              <a:t>计数</a:t>
            </a:r>
            <a:endParaRPr lang="zh-CN" altLang="en-US" sz="3600">
              <a:solidFill>
                <a:schemeClr val="tx2"/>
              </a:solidFill>
              <a:ea typeface="楷体" panose="02010609060101010101" pitchFamily="49" charset="-122"/>
              <a:cs typeface="Times New Roman" panose="02020603050405020304" pitchFamily="18" charset="0"/>
            </a:endParaRPr>
          </a:p>
        </p:txBody>
      </p:sp>
      <p:sp>
        <p:nvSpPr>
          <p:cNvPr id="60435" name="Line 18"/>
          <p:cNvSpPr>
            <a:spLocks noChangeShapeType="1"/>
          </p:cNvSpPr>
          <p:nvPr/>
        </p:nvSpPr>
        <p:spPr bwMode="auto">
          <a:xfrm>
            <a:off x="3649663" y="2644775"/>
            <a:ext cx="1587" cy="117157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36" name="Freeform 19"/>
          <p:cNvSpPr/>
          <p:nvPr/>
        </p:nvSpPr>
        <p:spPr bwMode="auto">
          <a:xfrm>
            <a:off x="3575050" y="2506663"/>
            <a:ext cx="174625" cy="207962"/>
          </a:xfrm>
          <a:custGeom>
            <a:avLst/>
            <a:gdLst>
              <a:gd name="T0" fmla="*/ 2147483646 w 110"/>
              <a:gd name="T1" fmla="*/ 2147483646 h 98"/>
              <a:gd name="T2" fmla="*/ 2147483646 w 110"/>
              <a:gd name="T3" fmla="*/ 0 h 98"/>
              <a:gd name="T4" fmla="*/ 0 w 110"/>
              <a:gd name="T5" fmla="*/ 2147483646 h 98"/>
              <a:gd name="T6" fmla="*/ 2147483646 w 110"/>
              <a:gd name="T7" fmla="*/ 2147483646 h 98"/>
              <a:gd name="T8" fmla="*/ 0 60000 65536"/>
              <a:gd name="T9" fmla="*/ 0 60000 65536"/>
              <a:gd name="T10" fmla="*/ 0 60000 65536"/>
              <a:gd name="T11" fmla="*/ 0 60000 65536"/>
              <a:gd name="T12" fmla="*/ 0 w 110"/>
              <a:gd name="T13" fmla="*/ 0 h 98"/>
              <a:gd name="T14" fmla="*/ 110 w 110"/>
              <a:gd name="T15" fmla="*/ 98 h 98"/>
            </a:gdLst>
            <a:ahLst/>
            <a:cxnLst>
              <a:cxn ang="T8">
                <a:pos x="T0" y="T1"/>
              </a:cxn>
              <a:cxn ang="T9">
                <a:pos x="T2" y="T3"/>
              </a:cxn>
              <a:cxn ang="T10">
                <a:pos x="T4" y="T5"/>
              </a:cxn>
              <a:cxn ang="T11">
                <a:pos x="T6" y="T7"/>
              </a:cxn>
            </a:cxnLst>
            <a:rect l="T12" t="T13" r="T14" b="T15"/>
            <a:pathLst>
              <a:path w="110" h="98">
                <a:moveTo>
                  <a:pt x="110" y="98"/>
                </a:moveTo>
                <a:lnTo>
                  <a:pt x="47" y="0"/>
                </a:lnTo>
                <a:lnTo>
                  <a:pt x="0" y="98"/>
                </a:lnTo>
                <a:lnTo>
                  <a:pt x="110" y="98"/>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37" name="Freeform 20"/>
          <p:cNvSpPr/>
          <p:nvPr/>
        </p:nvSpPr>
        <p:spPr bwMode="auto">
          <a:xfrm>
            <a:off x="3551238" y="3749675"/>
            <a:ext cx="173037" cy="204788"/>
          </a:xfrm>
          <a:custGeom>
            <a:avLst/>
            <a:gdLst>
              <a:gd name="T0" fmla="*/ 0 w 109"/>
              <a:gd name="T1" fmla="*/ 0 h 97"/>
              <a:gd name="T2" fmla="*/ 2147483646 w 109"/>
              <a:gd name="T3" fmla="*/ 2147483646 h 97"/>
              <a:gd name="T4" fmla="*/ 2147483646 w 109"/>
              <a:gd name="T5" fmla="*/ 0 h 97"/>
              <a:gd name="T6" fmla="*/ 0 w 109"/>
              <a:gd name="T7" fmla="*/ 0 h 97"/>
              <a:gd name="T8" fmla="*/ 0 60000 65536"/>
              <a:gd name="T9" fmla="*/ 0 60000 65536"/>
              <a:gd name="T10" fmla="*/ 0 60000 65536"/>
              <a:gd name="T11" fmla="*/ 0 60000 65536"/>
              <a:gd name="T12" fmla="*/ 0 w 109"/>
              <a:gd name="T13" fmla="*/ 0 h 97"/>
              <a:gd name="T14" fmla="*/ 109 w 109"/>
              <a:gd name="T15" fmla="*/ 97 h 97"/>
            </a:gdLst>
            <a:ahLst/>
            <a:cxnLst>
              <a:cxn ang="T8">
                <a:pos x="T0" y="T1"/>
              </a:cxn>
              <a:cxn ang="T9">
                <a:pos x="T2" y="T3"/>
              </a:cxn>
              <a:cxn ang="T10">
                <a:pos x="T4" y="T5"/>
              </a:cxn>
              <a:cxn ang="T11">
                <a:pos x="T6" y="T7"/>
              </a:cxn>
            </a:cxnLst>
            <a:rect l="T12" t="T13" r="T14" b="T15"/>
            <a:pathLst>
              <a:path w="109" h="97">
                <a:moveTo>
                  <a:pt x="0" y="0"/>
                </a:moveTo>
                <a:lnTo>
                  <a:pt x="62" y="97"/>
                </a:lnTo>
                <a:lnTo>
                  <a:pt x="109" y="0"/>
                </a:lnTo>
                <a:lnTo>
                  <a:pt x="0" y="0"/>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38" name="Line 21"/>
          <p:cNvSpPr>
            <a:spLocks noChangeShapeType="1"/>
          </p:cNvSpPr>
          <p:nvPr/>
        </p:nvSpPr>
        <p:spPr bwMode="auto">
          <a:xfrm flipV="1">
            <a:off x="3848100" y="2644775"/>
            <a:ext cx="1588" cy="2035175"/>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39" name="Freeform 22"/>
          <p:cNvSpPr/>
          <p:nvPr/>
        </p:nvSpPr>
        <p:spPr bwMode="auto">
          <a:xfrm>
            <a:off x="3773488" y="2506663"/>
            <a:ext cx="174625" cy="207962"/>
          </a:xfrm>
          <a:custGeom>
            <a:avLst/>
            <a:gdLst>
              <a:gd name="T0" fmla="*/ 2147483646 w 110"/>
              <a:gd name="T1" fmla="*/ 2147483646 h 98"/>
              <a:gd name="T2" fmla="*/ 2147483646 w 110"/>
              <a:gd name="T3" fmla="*/ 0 h 98"/>
              <a:gd name="T4" fmla="*/ 0 w 110"/>
              <a:gd name="T5" fmla="*/ 2147483646 h 98"/>
              <a:gd name="T6" fmla="*/ 2147483646 w 110"/>
              <a:gd name="T7" fmla="*/ 2147483646 h 98"/>
              <a:gd name="T8" fmla="*/ 0 60000 65536"/>
              <a:gd name="T9" fmla="*/ 0 60000 65536"/>
              <a:gd name="T10" fmla="*/ 0 60000 65536"/>
              <a:gd name="T11" fmla="*/ 0 60000 65536"/>
              <a:gd name="T12" fmla="*/ 0 w 110"/>
              <a:gd name="T13" fmla="*/ 0 h 98"/>
              <a:gd name="T14" fmla="*/ 110 w 110"/>
              <a:gd name="T15" fmla="*/ 98 h 98"/>
            </a:gdLst>
            <a:ahLst/>
            <a:cxnLst>
              <a:cxn ang="T8">
                <a:pos x="T0" y="T1"/>
              </a:cxn>
              <a:cxn ang="T9">
                <a:pos x="T2" y="T3"/>
              </a:cxn>
              <a:cxn ang="T10">
                <a:pos x="T4" y="T5"/>
              </a:cxn>
              <a:cxn ang="T11">
                <a:pos x="T6" y="T7"/>
              </a:cxn>
            </a:cxnLst>
            <a:rect l="T12" t="T13" r="T14" b="T15"/>
            <a:pathLst>
              <a:path w="110" h="98">
                <a:moveTo>
                  <a:pt x="110" y="98"/>
                </a:moveTo>
                <a:lnTo>
                  <a:pt x="47" y="0"/>
                </a:lnTo>
                <a:lnTo>
                  <a:pt x="0" y="98"/>
                </a:lnTo>
                <a:lnTo>
                  <a:pt x="110" y="98"/>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40" name="Line 23"/>
          <p:cNvSpPr>
            <a:spLocks noChangeShapeType="1"/>
          </p:cNvSpPr>
          <p:nvPr/>
        </p:nvSpPr>
        <p:spPr bwMode="auto">
          <a:xfrm>
            <a:off x="5240338" y="2644775"/>
            <a:ext cx="1587" cy="117157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41" name="Freeform 24"/>
          <p:cNvSpPr/>
          <p:nvPr/>
        </p:nvSpPr>
        <p:spPr bwMode="auto">
          <a:xfrm>
            <a:off x="5165725" y="2506663"/>
            <a:ext cx="174625" cy="207962"/>
          </a:xfrm>
          <a:custGeom>
            <a:avLst/>
            <a:gdLst>
              <a:gd name="T0" fmla="*/ 2147483646 w 110"/>
              <a:gd name="T1" fmla="*/ 2147483646 h 98"/>
              <a:gd name="T2" fmla="*/ 2147483646 w 110"/>
              <a:gd name="T3" fmla="*/ 0 h 98"/>
              <a:gd name="T4" fmla="*/ 0 w 110"/>
              <a:gd name="T5" fmla="*/ 2147483646 h 98"/>
              <a:gd name="T6" fmla="*/ 2147483646 w 110"/>
              <a:gd name="T7" fmla="*/ 2147483646 h 98"/>
              <a:gd name="T8" fmla="*/ 0 60000 65536"/>
              <a:gd name="T9" fmla="*/ 0 60000 65536"/>
              <a:gd name="T10" fmla="*/ 0 60000 65536"/>
              <a:gd name="T11" fmla="*/ 0 60000 65536"/>
              <a:gd name="T12" fmla="*/ 0 w 110"/>
              <a:gd name="T13" fmla="*/ 0 h 98"/>
              <a:gd name="T14" fmla="*/ 110 w 110"/>
              <a:gd name="T15" fmla="*/ 98 h 98"/>
            </a:gdLst>
            <a:ahLst/>
            <a:cxnLst>
              <a:cxn ang="T8">
                <a:pos x="T0" y="T1"/>
              </a:cxn>
              <a:cxn ang="T9">
                <a:pos x="T2" y="T3"/>
              </a:cxn>
              <a:cxn ang="T10">
                <a:pos x="T4" y="T5"/>
              </a:cxn>
              <a:cxn ang="T11">
                <a:pos x="T6" y="T7"/>
              </a:cxn>
            </a:cxnLst>
            <a:rect l="T12" t="T13" r="T14" b="T15"/>
            <a:pathLst>
              <a:path w="110" h="98">
                <a:moveTo>
                  <a:pt x="110" y="98"/>
                </a:moveTo>
                <a:lnTo>
                  <a:pt x="47" y="0"/>
                </a:lnTo>
                <a:lnTo>
                  <a:pt x="0" y="98"/>
                </a:lnTo>
                <a:lnTo>
                  <a:pt x="110" y="98"/>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42" name="Freeform 25"/>
          <p:cNvSpPr/>
          <p:nvPr/>
        </p:nvSpPr>
        <p:spPr bwMode="auto">
          <a:xfrm>
            <a:off x="5141913" y="3749675"/>
            <a:ext cx="173037" cy="204788"/>
          </a:xfrm>
          <a:custGeom>
            <a:avLst/>
            <a:gdLst>
              <a:gd name="T0" fmla="*/ 0 w 109"/>
              <a:gd name="T1" fmla="*/ 0 h 97"/>
              <a:gd name="T2" fmla="*/ 2147483646 w 109"/>
              <a:gd name="T3" fmla="*/ 2147483646 h 97"/>
              <a:gd name="T4" fmla="*/ 2147483646 w 109"/>
              <a:gd name="T5" fmla="*/ 0 h 97"/>
              <a:gd name="T6" fmla="*/ 0 w 109"/>
              <a:gd name="T7" fmla="*/ 0 h 97"/>
              <a:gd name="T8" fmla="*/ 0 60000 65536"/>
              <a:gd name="T9" fmla="*/ 0 60000 65536"/>
              <a:gd name="T10" fmla="*/ 0 60000 65536"/>
              <a:gd name="T11" fmla="*/ 0 60000 65536"/>
              <a:gd name="T12" fmla="*/ 0 w 109"/>
              <a:gd name="T13" fmla="*/ 0 h 97"/>
              <a:gd name="T14" fmla="*/ 109 w 109"/>
              <a:gd name="T15" fmla="*/ 97 h 97"/>
            </a:gdLst>
            <a:ahLst/>
            <a:cxnLst>
              <a:cxn ang="T8">
                <a:pos x="T0" y="T1"/>
              </a:cxn>
              <a:cxn ang="T9">
                <a:pos x="T2" y="T3"/>
              </a:cxn>
              <a:cxn ang="T10">
                <a:pos x="T4" y="T5"/>
              </a:cxn>
              <a:cxn ang="T11">
                <a:pos x="T6" y="T7"/>
              </a:cxn>
            </a:cxnLst>
            <a:rect l="T12" t="T13" r="T14" b="T15"/>
            <a:pathLst>
              <a:path w="109" h="97">
                <a:moveTo>
                  <a:pt x="0" y="0"/>
                </a:moveTo>
                <a:lnTo>
                  <a:pt x="62" y="97"/>
                </a:lnTo>
                <a:lnTo>
                  <a:pt x="109" y="0"/>
                </a:lnTo>
                <a:lnTo>
                  <a:pt x="0" y="0"/>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43" name="Line 26"/>
          <p:cNvSpPr>
            <a:spLocks noChangeShapeType="1"/>
          </p:cNvSpPr>
          <p:nvPr/>
        </p:nvSpPr>
        <p:spPr bwMode="auto">
          <a:xfrm flipV="1">
            <a:off x="5440363" y="2644775"/>
            <a:ext cx="1587" cy="2035175"/>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44" name="Freeform 27"/>
          <p:cNvSpPr/>
          <p:nvPr/>
        </p:nvSpPr>
        <p:spPr bwMode="auto">
          <a:xfrm>
            <a:off x="5365750" y="2506663"/>
            <a:ext cx="173038" cy="207962"/>
          </a:xfrm>
          <a:custGeom>
            <a:avLst/>
            <a:gdLst>
              <a:gd name="T0" fmla="*/ 2147483646 w 109"/>
              <a:gd name="T1" fmla="*/ 2147483646 h 98"/>
              <a:gd name="T2" fmla="*/ 2147483646 w 109"/>
              <a:gd name="T3" fmla="*/ 0 h 98"/>
              <a:gd name="T4" fmla="*/ 0 w 109"/>
              <a:gd name="T5" fmla="*/ 2147483646 h 98"/>
              <a:gd name="T6" fmla="*/ 2147483646 w 109"/>
              <a:gd name="T7" fmla="*/ 2147483646 h 98"/>
              <a:gd name="T8" fmla="*/ 0 60000 65536"/>
              <a:gd name="T9" fmla="*/ 0 60000 65536"/>
              <a:gd name="T10" fmla="*/ 0 60000 65536"/>
              <a:gd name="T11" fmla="*/ 0 60000 65536"/>
              <a:gd name="T12" fmla="*/ 0 w 109"/>
              <a:gd name="T13" fmla="*/ 0 h 98"/>
              <a:gd name="T14" fmla="*/ 109 w 109"/>
              <a:gd name="T15" fmla="*/ 98 h 98"/>
            </a:gdLst>
            <a:ahLst/>
            <a:cxnLst>
              <a:cxn ang="T8">
                <a:pos x="T0" y="T1"/>
              </a:cxn>
              <a:cxn ang="T9">
                <a:pos x="T2" y="T3"/>
              </a:cxn>
              <a:cxn ang="T10">
                <a:pos x="T4" y="T5"/>
              </a:cxn>
              <a:cxn ang="T11">
                <a:pos x="T6" y="T7"/>
              </a:cxn>
            </a:cxnLst>
            <a:rect l="T12" t="T13" r="T14" b="T15"/>
            <a:pathLst>
              <a:path w="109" h="98">
                <a:moveTo>
                  <a:pt x="109" y="98"/>
                </a:moveTo>
                <a:lnTo>
                  <a:pt x="47" y="0"/>
                </a:lnTo>
                <a:lnTo>
                  <a:pt x="0" y="98"/>
                </a:lnTo>
                <a:lnTo>
                  <a:pt x="109" y="98"/>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45" name="Line 28"/>
          <p:cNvSpPr>
            <a:spLocks noChangeShapeType="1"/>
          </p:cNvSpPr>
          <p:nvPr/>
        </p:nvSpPr>
        <p:spPr bwMode="auto">
          <a:xfrm flipH="1">
            <a:off x="1958975" y="3232150"/>
            <a:ext cx="5468938" cy="158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46" name="Freeform 29"/>
          <p:cNvSpPr/>
          <p:nvPr/>
        </p:nvSpPr>
        <p:spPr bwMode="auto">
          <a:xfrm>
            <a:off x="1860550" y="3094038"/>
            <a:ext cx="149225" cy="241300"/>
          </a:xfrm>
          <a:custGeom>
            <a:avLst/>
            <a:gdLst>
              <a:gd name="T0" fmla="*/ 2147483646 w 94"/>
              <a:gd name="T1" fmla="*/ 0 h 114"/>
              <a:gd name="T2" fmla="*/ 0 w 94"/>
              <a:gd name="T3" fmla="*/ 2147483646 h 114"/>
              <a:gd name="T4" fmla="*/ 2147483646 w 94"/>
              <a:gd name="T5" fmla="*/ 2147483646 h 114"/>
              <a:gd name="T6" fmla="*/ 2147483646 w 94"/>
              <a:gd name="T7" fmla="*/ 0 h 114"/>
              <a:gd name="T8" fmla="*/ 0 60000 65536"/>
              <a:gd name="T9" fmla="*/ 0 60000 65536"/>
              <a:gd name="T10" fmla="*/ 0 60000 65536"/>
              <a:gd name="T11" fmla="*/ 0 60000 65536"/>
              <a:gd name="T12" fmla="*/ 0 w 94"/>
              <a:gd name="T13" fmla="*/ 0 h 114"/>
              <a:gd name="T14" fmla="*/ 94 w 94"/>
              <a:gd name="T15" fmla="*/ 114 h 114"/>
            </a:gdLst>
            <a:ahLst/>
            <a:cxnLst>
              <a:cxn ang="T8">
                <a:pos x="T0" y="T1"/>
              </a:cxn>
              <a:cxn ang="T9">
                <a:pos x="T2" y="T3"/>
              </a:cxn>
              <a:cxn ang="T10">
                <a:pos x="T4" y="T5"/>
              </a:cxn>
              <a:cxn ang="T11">
                <a:pos x="T6" y="T7"/>
              </a:cxn>
            </a:cxnLst>
            <a:rect l="T12" t="T13" r="T14" b="T15"/>
            <a:pathLst>
              <a:path w="94" h="114">
                <a:moveTo>
                  <a:pt x="94" y="0"/>
                </a:moveTo>
                <a:lnTo>
                  <a:pt x="0" y="65"/>
                </a:lnTo>
                <a:lnTo>
                  <a:pt x="94" y="114"/>
                </a:lnTo>
                <a:lnTo>
                  <a:pt x="94" y="0"/>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47" name="Line 30"/>
          <p:cNvSpPr>
            <a:spLocks noChangeShapeType="1"/>
          </p:cNvSpPr>
          <p:nvPr/>
        </p:nvSpPr>
        <p:spPr bwMode="auto">
          <a:xfrm>
            <a:off x="3451225" y="2506663"/>
            <a:ext cx="1588" cy="58737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48" name="Freeform 31"/>
          <p:cNvSpPr/>
          <p:nvPr/>
        </p:nvSpPr>
        <p:spPr bwMode="auto">
          <a:xfrm>
            <a:off x="3351213" y="3024188"/>
            <a:ext cx="174625" cy="207962"/>
          </a:xfrm>
          <a:custGeom>
            <a:avLst/>
            <a:gdLst>
              <a:gd name="T0" fmla="*/ 0 w 110"/>
              <a:gd name="T1" fmla="*/ 0 h 98"/>
              <a:gd name="T2" fmla="*/ 2147483646 w 110"/>
              <a:gd name="T3" fmla="*/ 2147483646 h 98"/>
              <a:gd name="T4" fmla="*/ 2147483646 w 110"/>
              <a:gd name="T5" fmla="*/ 0 h 98"/>
              <a:gd name="T6" fmla="*/ 0 w 110"/>
              <a:gd name="T7" fmla="*/ 0 h 98"/>
              <a:gd name="T8" fmla="*/ 0 60000 65536"/>
              <a:gd name="T9" fmla="*/ 0 60000 65536"/>
              <a:gd name="T10" fmla="*/ 0 60000 65536"/>
              <a:gd name="T11" fmla="*/ 0 60000 65536"/>
              <a:gd name="T12" fmla="*/ 0 w 110"/>
              <a:gd name="T13" fmla="*/ 0 h 98"/>
              <a:gd name="T14" fmla="*/ 110 w 110"/>
              <a:gd name="T15" fmla="*/ 98 h 98"/>
            </a:gdLst>
            <a:ahLst/>
            <a:cxnLst>
              <a:cxn ang="T8">
                <a:pos x="T0" y="T1"/>
              </a:cxn>
              <a:cxn ang="T9">
                <a:pos x="T2" y="T3"/>
              </a:cxn>
              <a:cxn ang="T10">
                <a:pos x="T4" y="T5"/>
              </a:cxn>
              <a:cxn ang="T11">
                <a:pos x="T6" y="T7"/>
              </a:cxn>
            </a:cxnLst>
            <a:rect l="T12" t="T13" r="T14" b="T15"/>
            <a:pathLst>
              <a:path w="110" h="98">
                <a:moveTo>
                  <a:pt x="0" y="0"/>
                </a:moveTo>
                <a:lnTo>
                  <a:pt x="63" y="98"/>
                </a:lnTo>
                <a:lnTo>
                  <a:pt x="110" y="0"/>
                </a:lnTo>
                <a:lnTo>
                  <a:pt x="0" y="0"/>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49" name="Line 32"/>
          <p:cNvSpPr>
            <a:spLocks noChangeShapeType="1"/>
          </p:cNvSpPr>
          <p:nvPr/>
        </p:nvSpPr>
        <p:spPr bwMode="auto">
          <a:xfrm>
            <a:off x="5041900" y="2506663"/>
            <a:ext cx="1588" cy="58737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50" name="Freeform 33"/>
          <p:cNvSpPr/>
          <p:nvPr/>
        </p:nvSpPr>
        <p:spPr bwMode="auto">
          <a:xfrm>
            <a:off x="4941888" y="3024188"/>
            <a:ext cx="174625" cy="207962"/>
          </a:xfrm>
          <a:custGeom>
            <a:avLst/>
            <a:gdLst>
              <a:gd name="T0" fmla="*/ 0 w 110"/>
              <a:gd name="T1" fmla="*/ 0 h 98"/>
              <a:gd name="T2" fmla="*/ 2147483646 w 110"/>
              <a:gd name="T3" fmla="*/ 2147483646 h 98"/>
              <a:gd name="T4" fmla="*/ 2147483646 w 110"/>
              <a:gd name="T5" fmla="*/ 0 h 98"/>
              <a:gd name="T6" fmla="*/ 0 w 110"/>
              <a:gd name="T7" fmla="*/ 0 h 98"/>
              <a:gd name="T8" fmla="*/ 0 60000 65536"/>
              <a:gd name="T9" fmla="*/ 0 60000 65536"/>
              <a:gd name="T10" fmla="*/ 0 60000 65536"/>
              <a:gd name="T11" fmla="*/ 0 60000 65536"/>
              <a:gd name="T12" fmla="*/ 0 w 110"/>
              <a:gd name="T13" fmla="*/ 0 h 98"/>
              <a:gd name="T14" fmla="*/ 110 w 110"/>
              <a:gd name="T15" fmla="*/ 98 h 98"/>
            </a:gdLst>
            <a:ahLst/>
            <a:cxnLst>
              <a:cxn ang="T8">
                <a:pos x="T0" y="T1"/>
              </a:cxn>
              <a:cxn ang="T9">
                <a:pos x="T2" y="T3"/>
              </a:cxn>
              <a:cxn ang="T10">
                <a:pos x="T4" y="T5"/>
              </a:cxn>
              <a:cxn ang="T11">
                <a:pos x="T6" y="T7"/>
              </a:cxn>
            </a:cxnLst>
            <a:rect l="T12" t="T13" r="T14" b="T15"/>
            <a:pathLst>
              <a:path w="110" h="98">
                <a:moveTo>
                  <a:pt x="0" y="0"/>
                </a:moveTo>
                <a:lnTo>
                  <a:pt x="63" y="98"/>
                </a:lnTo>
                <a:lnTo>
                  <a:pt x="110" y="0"/>
                </a:lnTo>
                <a:lnTo>
                  <a:pt x="0" y="0"/>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51" name="Line 34"/>
          <p:cNvSpPr>
            <a:spLocks noChangeShapeType="1"/>
          </p:cNvSpPr>
          <p:nvPr/>
        </p:nvSpPr>
        <p:spPr bwMode="auto">
          <a:xfrm>
            <a:off x="7427913" y="2506663"/>
            <a:ext cx="1587" cy="58737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52" name="Freeform 35"/>
          <p:cNvSpPr/>
          <p:nvPr/>
        </p:nvSpPr>
        <p:spPr bwMode="auto">
          <a:xfrm>
            <a:off x="7329488" y="3024188"/>
            <a:ext cx="173037" cy="207962"/>
          </a:xfrm>
          <a:custGeom>
            <a:avLst/>
            <a:gdLst>
              <a:gd name="T0" fmla="*/ 0 w 109"/>
              <a:gd name="T1" fmla="*/ 0 h 98"/>
              <a:gd name="T2" fmla="*/ 2147483646 w 109"/>
              <a:gd name="T3" fmla="*/ 2147483646 h 98"/>
              <a:gd name="T4" fmla="*/ 2147483646 w 109"/>
              <a:gd name="T5" fmla="*/ 0 h 98"/>
              <a:gd name="T6" fmla="*/ 0 w 109"/>
              <a:gd name="T7" fmla="*/ 0 h 98"/>
              <a:gd name="T8" fmla="*/ 0 60000 65536"/>
              <a:gd name="T9" fmla="*/ 0 60000 65536"/>
              <a:gd name="T10" fmla="*/ 0 60000 65536"/>
              <a:gd name="T11" fmla="*/ 0 60000 65536"/>
              <a:gd name="T12" fmla="*/ 0 w 109"/>
              <a:gd name="T13" fmla="*/ 0 h 98"/>
              <a:gd name="T14" fmla="*/ 109 w 109"/>
              <a:gd name="T15" fmla="*/ 98 h 98"/>
            </a:gdLst>
            <a:ahLst/>
            <a:cxnLst>
              <a:cxn ang="T8">
                <a:pos x="T0" y="T1"/>
              </a:cxn>
              <a:cxn ang="T9">
                <a:pos x="T2" y="T3"/>
              </a:cxn>
              <a:cxn ang="T10">
                <a:pos x="T4" y="T5"/>
              </a:cxn>
              <a:cxn ang="T11">
                <a:pos x="T6" y="T7"/>
              </a:cxn>
            </a:cxnLst>
            <a:rect l="T12" t="T13" r="T14" b="T15"/>
            <a:pathLst>
              <a:path w="109" h="98">
                <a:moveTo>
                  <a:pt x="0" y="0"/>
                </a:moveTo>
                <a:lnTo>
                  <a:pt x="62" y="98"/>
                </a:lnTo>
                <a:lnTo>
                  <a:pt x="109" y="0"/>
                </a:lnTo>
                <a:lnTo>
                  <a:pt x="0" y="0"/>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53" name="Line 36"/>
          <p:cNvSpPr>
            <a:spLocks noChangeShapeType="1"/>
          </p:cNvSpPr>
          <p:nvPr/>
        </p:nvSpPr>
        <p:spPr bwMode="auto">
          <a:xfrm>
            <a:off x="7626350" y="2644775"/>
            <a:ext cx="1588" cy="117157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54" name="Freeform 37"/>
          <p:cNvSpPr/>
          <p:nvPr/>
        </p:nvSpPr>
        <p:spPr bwMode="auto">
          <a:xfrm>
            <a:off x="7551738" y="2506663"/>
            <a:ext cx="174625" cy="207962"/>
          </a:xfrm>
          <a:custGeom>
            <a:avLst/>
            <a:gdLst>
              <a:gd name="T0" fmla="*/ 2147483646 w 110"/>
              <a:gd name="T1" fmla="*/ 2147483646 h 98"/>
              <a:gd name="T2" fmla="*/ 2147483646 w 110"/>
              <a:gd name="T3" fmla="*/ 0 h 98"/>
              <a:gd name="T4" fmla="*/ 0 w 110"/>
              <a:gd name="T5" fmla="*/ 2147483646 h 98"/>
              <a:gd name="T6" fmla="*/ 2147483646 w 110"/>
              <a:gd name="T7" fmla="*/ 2147483646 h 98"/>
              <a:gd name="T8" fmla="*/ 0 60000 65536"/>
              <a:gd name="T9" fmla="*/ 0 60000 65536"/>
              <a:gd name="T10" fmla="*/ 0 60000 65536"/>
              <a:gd name="T11" fmla="*/ 0 60000 65536"/>
              <a:gd name="T12" fmla="*/ 0 w 110"/>
              <a:gd name="T13" fmla="*/ 0 h 98"/>
              <a:gd name="T14" fmla="*/ 110 w 110"/>
              <a:gd name="T15" fmla="*/ 98 h 98"/>
            </a:gdLst>
            <a:ahLst/>
            <a:cxnLst>
              <a:cxn ang="T8">
                <a:pos x="T0" y="T1"/>
              </a:cxn>
              <a:cxn ang="T9">
                <a:pos x="T2" y="T3"/>
              </a:cxn>
              <a:cxn ang="T10">
                <a:pos x="T4" y="T5"/>
              </a:cxn>
              <a:cxn ang="T11">
                <a:pos x="T6" y="T7"/>
              </a:cxn>
            </a:cxnLst>
            <a:rect l="T12" t="T13" r="T14" b="T15"/>
            <a:pathLst>
              <a:path w="110" h="98">
                <a:moveTo>
                  <a:pt x="110" y="98"/>
                </a:moveTo>
                <a:lnTo>
                  <a:pt x="47" y="0"/>
                </a:lnTo>
                <a:lnTo>
                  <a:pt x="0" y="98"/>
                </a:lnTo>
                <a:lnTo>
                  <a:pt x="110" y="98"/>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55" name="Freeform 38"/>
          <p:cNvSpPr/>
          <p:nvPr/>
        </p:nvSpPr>
        <p:spPr bwMode="auto">
          <a:xfrm>
            <a:off x="7527925" y="3749675"/>
            <a:ext cx="173038" cy="204788"/>
          </a:xfrm>
          <a:custGeom>
            <a:avLst/>
            <a:gdLst>
              <a:gd name="T0" fmla="*/ 0 w 109"/>
              <a:gd name="T1" fmla="*/ 0 h 97"/>
              <a:gd name="T2" fmla="*/ 2147483646 w 109"/>
              <a:gd name="T3" fmla="*/ 2147483646 h 97"/>
              <a:gd name="T4" fmla="*/ 2147483646 w 109"/>
              <a:gd name="T5" fmla="*/ 0 h 97"/>
              <a:gd name="T6" fmla="*/ 0 w 109"/>
              <a:gd name="T7" fmla="*/ 0 h 97"/>
              <a:gd name="T8" fmla="*/ 0 60000 65536"/>
              <a:gd name="T9" fmla="*/ 0 60000 65536"/>
              <a:gd name="T10" fmla="*/ 0 60000 65536"/>
              <a:gd name="T11" fmla="*/ 0 60000 65536"/>
              <a:gd name="T12" fmla="*/ 0 w 109"/>
              <a:gd name="T13" fmla="*/ 0 h 97"/>
              <a:gd name="T14" fmla="*/ 109 w 109"/>
              <a:gd name="T15" fmla="*/ 97 h 97"/>
            </a:gdLst>
            <a:ahLst/>
            <a:cxnLst>
              <a:cxn ang="T8">
                <a:pos x="T0" y="T1"/>
              </a:cxn>
              <a:cxn ang="T9">
                <a:pos x="T2" y="T3"/>
              </a:cxn>
              <a:cxn ang="T10">
                <a:pos x="T4" y="T5"/>
              </a:cxn>
              <a:cxn ang="T11">
                <a:pos x="T6" y="T7"/>
              </a:cxn>
            </a:cxnLst>
            <a:rect l="T12" t="T13" r="T14" b="T15"/>
            <a:pathLst>
              <a:path w="109" h="97">
                <a:moveTo>
                  <a:pt x="0" y="0"/>
                </a:moveTo>
                <a:lnTo>
                  <a:pt x="62" y="97"/>
                </a:lnTo>
                <a:lnTo>
                  <a:pt x="109" y="0"/>
                </a:lnTo>
                <a:lnTo>
                  <a:pt x="0" y="0"/>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56" name="Line 39"/>
          <p:cNvSpPr>
            <a:spLocks noChangeShapeType="1"/>
          </p:cNvSpPr>
          <p:nvPr/>
        </p:nvSpPr>
        <p:spPr bwMode="auto">
          <a:xfrm flipV="1">
            <a:off x="7826375" y="2644775"/>
            <a:ext cx="1588" cy="2035175"/>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57" name="Freeform 40"/>
          <p:cNvSpPr/>
          <p:nvPr/>
        </p:nvSpPr>
        <p:spPr bwMode="auto">
          <a:xfrm>
            <a:off x="7751763" y="2506663"/>
            <a:ext cx="173037" cy="207962"/>
          </a:xfrm>
          <a:custGeom>
            <a:avLst/>
            <a:gdLst>
              <a:gd name="T0" fmla="*/ 2147483646 w 109"/>
              <a:gd name="T1" fmla="*/ 2147483646 h 98"/>
              <a:gd name="T2" fmla="*/ 2147483646 w 109"/>
              <a:gd name="T3" fmla="*/ 0 h 98"/>
              <a:gd name="T4" fmla="*/ 0 w 109"/>
              <a:gd name="T5" fmla="*/ 2147483646 h 98"/>
              <a:gd name="T6" fmla="*/ 2147483646 w 109"/>
              <a:gd name="T7" fmla="*/ 2147483646 h 98"/>
              <a:gd name="T8" fmla="*/ 0 60000 65536"/>
              <a:gd name="T9" fmla="*/ 0 60000 65536"/>
              <a:gd name="T10" fmla="*/ 0 60000 65536"/>
              <a:gd name="T11" fmla="*/ 0 60000 65536"/>
              <a:gd name="T12" fmla="*/ 0 w 109"/>
              <a:gd name="T13" fmla="*/ 0 h 98"/>
              <a:gd name="T14" fmla="*/ 109 w 109"/>
              <a:gd name="T15" fmla="*/ 98 h 98"/>
            </a:gdLst>
            <a:ahLst/>
            <a:cxnLst>
              <a:cxn ang="T8">
                <a:pos x="T0" y="T1"/>
              </a:cxn>
              <a:cxn ang="T9">
                <a:pos x="T2" y="T3"/>
              </a:cxn>
              <a:cxn ang="T10">
                <a:pos x="T4" y="T5"/>
              </a:cxn>
              <a:cxn ang="T11">
                <a:pos x="T6" y="T7"/>
              </a:cxn>
            </a:cxnLst>
            <a:rect l="T12" t="T13" r="T14" b="T15"/>
            <a:pathLst>
              <a:path w="109" h="98">
                <a:moveTo>
                  <a:pt x="109" y="98"/>
                </a:moveTo>
                <a:lnTo>
                  <a:pt x="47" y="0"/>
                </a:lnTo>
                <a:lnTo>
                  <a:pt x="0" y="98"/>
                </a:lnTo>
                <a:lnTo>
                  <a:pt x="109" y="98"/>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58" name="Line 41"/>
          <p:cNvSpPr>
            <a:spLocks noChangeShapeType="1"/>
          </p:cNvSpPr>
          <p:nvPr/>
        </p:nvSpPr>
        <p:spPr bwMode="auto">
          <a:xfrm flipH="1">
            <a:off x="1958975" y="3954463"/>
            <a:ext cx="5667375" cy="317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59" name="Freeform 42"/>
          <p:cNvSpPr/>
          <p:nvPr/>
        </p:nvSpPr>
        <p:spPr bwMode="auto">
          <a:xfrm>
            <a:off x="1860550" y="3816350"/>
            <a:ext cx="149225" cy="242888"/>
          </a:xfrm>
          <a:custGeom>
            <a:avLst/>
            <a:gdLst>
              <a:gd name="T0" fmla="*/ 2147483646 w 94"/>
              <a:gd name="T1" fmla="*/ 0 h 114"/>
              <a:gd name="T2" fmla="*/ 0 w 94"/>
              <a:gd name="T3" fmla="*/ 2147483646 h 114"/>
              <a:gd name="T4" fmla="*/ 2147483646 w 94"/>
              <a:gd name="T5" fmla="*/ 2147483646 h 114"/>
              <a:gd name="T6" fmla="*/ 2147483646 w 94"/>
              <a:gd name="T7" fmla="*/ 0 h 114"/>
              <a:gd name="T8" fmla="*/ 0 60000 65536"/>
              <a:gd name="T9" fmla="*/ 0 60000 65536"/>
              <a:gd name="T10" fmla="*/ 0 60000 65536"/>
              <a:gd name="T11" fmla="*/ 0 60000 65536"/>
              <a:gd name="T12" fmla="*/ 0 w 94"/>
              <a:gd name="T13" fmla="*/ 0 h 114"/>
              <a:gd name="T14" fmla="*/ 94 w 94"/>
              <a:gd name="T15" fmla="*/ 114 h 114"/>
            </a:gdLst>
            <a:ahLst/>
            <a:cxnLst>
              <a:cxn ang="T8">
                <a:pos x="T0" y="T1"/>
              </a:cxn>
              <a:cxn ang="T9">
                <a:pos x="T2" y="T3"/>
              </a:cxn>
              <a:cxn ang="T10">
                <a:pos x="T4" y="T5"/>
              </a:cxn>
              <a:cxn ang="T11">
                <a:pos x="T6" y="T7"/>
              </a:cxn>
            </a:cxnLst>
            <a:rect l="T12" t="T13" r="T14" b="T15"/>
            <a:pathLst>
              <a:path w="94" h="114">
                <a:moveTo>
                  <a:pt x="94" y="0"/>
                </a:moveTo>
                <a:lnTo>
                  <a:pt x="0" y="65"/>
                </a:lnTo>
                <a:lnTo>
                  <a:pt x="94" y="114"/>
                </a:lnTo>
                <a:lnTo>
                  <a:pt x="94" y="0"/>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60" name="Line 43"/>
          <p:cNvSpPr>
            <a:spLocks noChangeShapeType="1"/>
          </p:cNvSpPr>
          <p:nvPr/>
        </p:nvSpPr>
        <p:spPr bwMode="auto">
          <a:xfrm flipH="1">
            <a:off x="1860550" y="4679950"/>
            <a:ext cx="5965825" cy="1588"/>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61" name="Rectangle 44"/>
          <p:cNvSpPr>
            <a:spLocks noChangeArrowheads="1"/>
          </p:cNvSpPr>
          <p:nvPr/>
        </p:nvSpPr>
        <p:spPr bwMode="auto">
          <a:xfrm>
            <a:off x="2033588" y="5335588"/>
            <a:ext cx="6413500" cy="10318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60462" name="Freeform 45"/>
          <p:cNvSpPr/>
          <p:nvPr/>
        </p:nvSpPr>
        <p:spPr bwMode="auto">
          <a:xfrm>
            <a:off x="1860550" y="5197475"/>
            <a:ext cx="223838" cy="312738"/>
          </a:xfrm>
          <a:custGeom>
            <a:avLst/>
            <a:gdLst>
              <a:gd name="T0" fmla="*/ 2147483646 w 141"/>
              <a:gd name="T1" fmla="*/ 0 h 147"/>
              <a:gd name="T2" fmla="*/ 0 w 141"/>
              <a:gd name="T3" fmla="*/ 2147483646 h 147"/>
              <a:gd name="T4" fmla="*/ 2147483646 w 141"/>
              <a:gd name="T5" fmla="*/ 2147483646 h 147"/>
              <a:gd name="T6" fmla="*/ 2147483646 w 141"/>
              <a:gd name="T7" fmla="*/ 0 h 147"/>
              <a:gd name="T8" fmla="*/ 0 60000 65536"/>
              <a:gd name="T9" fmla="*/ 0 60000 65536"/>
              <a:gd name="T10" fmla="*/ 0 60000 65536"/>
              <a:gd name="T11" fmla="*/ 0 60000 65536"/>
              <a:gd name="T12" fmla="*/ 0 w 141"/>
              <a:gd name="T13" fmla="*/ 0 h 147"/>
              <a:gd name="T14" fmla="*/ 141 w 141"/>
              <a:gd name="T15" fmla="*/ 147 h 147"/>
            </a:gdLst>
            <a:ahLst/>
            <a:cxnLst>
              <a:cxn ang="T8">
                <a:pos x="T0" y="T1"/>
              </a:cxn>
              <a:cxn ang="T9">
                <a:pos x="T2" y="T3"/>
              </a:cxn>
              <a:cxn ang="T10">
                <a:pos x="T4" y="T5"/>
              </a:cxn>
              <a:cxn ang="T11">
                <a:pos x="T6" y="T7"/>
              </a:cxn>
            </a:cxnLst>
            <a:rect l="T12" t="T13" r="T14" b="T15"/>
            <a:pathLst>
              <a:path w="141" h="147">
                <a:moveTo>
                  <a:pt x="141" y="0"/>
                </a:moveTo>
                <a:lnTo>
                  <a:pt x="0" y="82"/>
                </a:lnTo>
                <a:lnTo>
                  <a:pt x="141" y="147"/>
                </a:lnTo>
                <a:lnTo>
                  <a:pt x="141" y="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63" name="Freeform 46"/>
          <p:cNvSpPr/>
          <p:nvPr/>
        </p:nvSpPr>
        <p:spPr bwMode="auto">
          <a:xfrm>
            <a:off x="8397875" y="5233988"/>
            <a:ext cx="223838" cy="309562"/>
          </a:xfrm>
          <a:custGeom>
            <a:avLst/>
            <a:gdLst>
              <a:gd name="T0" fmla="*/ 0 w 141"/>
              <a:gd name="T1" fmla="*/ 2147483646 h 146"/>
              <a:gd name="T2" fmla="*/ 2147483646 w 141"/>
              <a:gd name="T3" fmla="*/ 2147483646 h 146"/>
              <a:gd name="T4" fmla="*/ 0 w 141"/>
              <a:gd name="T5" fmla="*/ 0 h 146"/>
              <a:gd name="T6" fmla="*/ 0 w 141"/>
              <a:gd name="T7" fmla="*/ 2147483646 h 146"/>
              <a:gd name="T8" fmla="*/ 0 60000 65536"/>
              <a:gd name="T9" fmla="*/ 0 60000 65536"/>
              <a:gd name="T10" fmla="*/ 0 60000 65536"/>
              <a:gd name="T11" fmla="*/ 0 60000 65536"/>
              <a:gd name="T12" fmla="*/ 0 w 141"/>
              <a:gd name="T13" fmla="*/ 0 h 146"/>
              <a:gd name="T14" fmla="*/ 141 w 141"/>
              <a:gd name="T15" fmla="*/ 146 h 146"/>
            </a:gdLst>
            <a:ahLst/>
            <a:cxnLst>
              <a:cxn ang="T8">
                <a:pos x="T0" y="T1"/>
              </a:cxn>
              <a:cxn ang="T9">
                <a:pos x="T2" y="T3"/>
              </a:cxn>
              <a:cxn ang="T10">
                <a:pos x="T4" y="T5"/>
              </a:cxn>
              <a:cxn ang="T11">
                <a:pos x="T6" y="T7"/>
              </a:cxn>
            </a:cxnLst>
            <a:rect l="T12" t="T13" r="T14" b="T15"/>
            <a:pathLst>
              <a:path w="141" h="146">
                <a:moveTo>
                  <a:pt x="0" y="146"/>
                </a:moveTo>
                <a:lnTo>
                  <a:pt x="141" y="65"/>
                </a:lnTo>
                <a:lnTo>
                  <a:pt x="0" y="0"/>
                </a:lnTo>
                <a:lnTo>
                  <a:pt x="0" y="146"/>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64" name="Rectangle 47"/>
          <p:cNvSpPr>
            <a:spLocks noChangeArrowheads="1"/>
          </p:cNvSpPr>
          <p:nvPr/>
        </p:nvSpPr>
        <p:spPr bwMode="auto">
          <a:xfrm>
            <a:off x="4221163" y="2747963"/>
            <a:ext cx="74612" cy="23812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60465" name="Freeform 48"/>
          <p:cNvSpPr/>
          <p:nvPr/>
        </p:nvSpPr>
        <p:spPr bwMode="auto">
          <a:xfrm>
            <a:off x="4146550" y="2506663"/>
            <a:ext cx="223838" cy="309562"/>
          </a:xfrm>
          <a:custGeom>
            <a:avLst/>
            <a:gdLst>
              <a:gd name="T0" fmla="*/ 2147483646 w 141"/>
              <a:gd name="T1" fmla="*/ 2147483646 h 146"/>
              <a:gd name="T2" fmla="*/ 2147483646 w 141"/>
              <a:gd name="T3" fmla="*/ 0 h 146"/>
              <a:gd name="T4" fmla="*/ 0 w 141"/>
              <a:gd name="T5" fmla="*/ 2147483646 h 146"/>
              <a:gd name="T6" fmla="*/ 2147483646 w 141"/>
              <a:gd name="T7" fmla="*/ 2147483646 h 146"/>
              <a:gd name="T8" fmla="*/ 0 60000 65536"/>
              <a:gd name="T9" fmla="*/ 0 60000 65536"/>
              <a:gd name="T10" fmla="*/ 0 60000 65536"/>
              <a:gd name="T11" fmla="*/ 0 60000 65536"/>
              <a:gd name="T12" fmla="*/ 0 w 141"/>
              <a:gd name="T13" fmla="*/ 0 h 146"/>
              <a:gd name="T14" fmla="*/ 141 w 141"/>
              <a:gd name="T15" fmla="*/ 146 h 146"/>
            </a:gdLst>
            <a:ahLst/>
            <a:cxnLst>
              <a:cxn ang="T8">
                <a:pos x="T0" y="T1"/>
              </a:cxn>
              <a:cxn ang="T9">
                <a:pos x="T2" y="T3"/>
              </a:cxn>
              <a:cxn ang="T10">
                <a:pos x="T4" y="T5"/>
              </a:cxn>
              <a:cxn ang="T11">
                <a:pos x="T6" y="T7"/>
              </a:cxn>
            </a:cxnLst>
            <a:rect l="T12" t="T13" r="T14" b="T15"/>
            <a:pathLst>
              <a:path w="141" h="146">
                <a:moveTo>
                  <a:pt x="141" y="146"/>
                </a:moveTo>
                <a:lnTo>
                  <a:pt x="63" y="0"/>
                </a:lnTo>
                <a:lnTo>
                  <a:pt x="0" y="146"/>
                </a:lnTo>
                <a:lnTo>
                  <a:pt x="141" y="146"/>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66" name="Freeform 49"/>
          <p:cNvSpPr/>
          <p:nvPr/>
        </p:nvSpPr>
        <p:spPr bwMode="auto">
          <a:xfrm>
            <a:off x="4122738" y="5059363"/>
            <a:ext cx="223837" cy="312737"/>
          </a:xfrm>
          <a:custGeom>
            <a:avLst/>
            <a:gdLst>
              <a:gd name="T0" fmla="*/ 0 w 141"/>
              <a:gd name="T1" fmla="*/ 0 h 147"/>
              <a:gd name="T2" fmla="*/ 2147483646 w 141"/>
              <a:gd name="T3" fmla="*/ 2147483646 h 147"/>
              <a:gd name="T4" fmla="*/ 2147483646 w 141"/>
              <a:gd name="T5" fmla="*/ 0 h 147"/>
              <a:gd name="T6" fmla="*/ 0 w 141"/>
              <a:gd name="T7" fmla="*/ 0 h 147"/>
              <a:gd name="T8" fmla="*/ 0 60000 65536"/>
              <a:gd name="T9" fmla="*/ 0 60000 65536"/>
              <a:gd name="T10" fmla="*/ 0 60000 65536"/>
              <a:gd name="T11" fmla="*/ 0 60000 65536"/>
              <a:gd name="T12" fmla="*/ 0 w 141"/>
              <a:gd name="T13" fmla="*/ 0 h 147"/>
              <a:gd name="T14" fmla="*/ 141 w 141"/>
              <a:gd name="T15" fmla="*/ 147 h 147"/>
            </a:gdLst>
            <a:ahLst/>
            <a:cxnLst>
              <a:cxn ang="T8">
                <a:pos x="T0" y="T1"/>
              </a:cxn>
              <a:cxn ang="T9">
                <a:pos x="T2" y="T3"/>
              </a:cxn>
              <a:cxn ang="T10">
                <a:pos x="T4" y="T5"/>
              </a:cxn>
              <a:cxn ang="T11">
                <a:pos x="T6" y="T7"/>
              </a:cxn>
            </a:cxnLst>
            <a:rect l="T12" t="T13" r="T14" b="T15"/>
            <a:pathLst>
              <a:path w="141" h="147">
                <a:moveTo>
                  <a:pt x="0" y="0"/>
                </a:moveTo>
                <a:lnTo>
                  <a:pt x="78" y="147"/>
                </a:lnTo>
                <a:lnTo>
                  <a:pt x="141" y="0"/>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67" name="Rectangle 50"/>
          <p:cNvSpPr>
            <a:spLocks noChangeArrowheads="1"/>
          </p:cNvSpPr>
          <p:nvPr/>
        </p:nvSpPr>
        <p:spPr bwMode="auto">
          <a:xfrm>
            <a:off x="5811838" y="2747963"/>
            <a:ext cx="74612" cy="23812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60468" name="Freeform 51"/>
          <p:cNvSpPr/>
          <p:nvPr/>
        </p:nvSpPr>
        <p:spPr bwMode="auto">
          <a:xfrm>
            <a:off x="5737225" y="2506663"/>
            <a:ext cx="223838" cy="309562"/>
          </a:xfrm>
          <a:custGeom>
            <a:avLst/>
            <a:gdLst>
              <a:gd name="T0" fmla="*/ 2147483646 w 141"/>
              <a:gd name="T1" fmla="*/ 2147483646 h 146"/>
              <a:gd name="T2" fmla="*/ 2147483646 w 141"/>
              <a:gd name="T3" fmla="*/ 0 h 146"/>
              <a:gd name="T4" fmla="*/ 0 w 141"/>
              <a:gd name="T5" fmla="*/ 2147483646 h 146"/>
              <a:gd name="T6" fmla="*/ 2147483646 w 141"/>
              <a:gd name="T7" fmla="*/ 2147483646 h 146"/>
              <a:gd name="T8" fmla="*/ 0 60000 65536"/>
              <a:gd name="T9" fmla="*/ 0 60000 65536"/>
              <a:gd name="T10" fmla="*/ 0 60000 65536"/>
              <a:gd name="T11" fmla="*/ 0 60000 65536"/>
              <a:gd name="T12" fmla="*/ 0 w 141"/>
              <a:gd name="T13" fmla="*/ 0 h 146"/>
              <a:gd name="T14" fmla="*/ 141 w 141"/>
              <a:gd name="T15" fmla="*/ 146 h 146"/>
            </a:gdLst>
            <a:ahLst/>
            <a:cxnLst>
              <a:cxn ang="T8">
                <a:pos x="T0" y="T1"/>
              </a:cxn>
              <a:cxn ang="T9">
                <a:pos x="T2" y="T3"/>
              </a:cxn>
              <a:cxn ang="T10">
                <a:pos x="T4" y="T5"/>
              </a:cxn>
              <a:cxn ang="T11">
                <a:pos x="T6" y="T7"/>
              </a:cxn>
            </a:cxnLst>
            <a:rect l="T12" t="T13" r="T14" b="T15"/>
            <a:pathLst>
              <a:path w="141" h="146">
                <a:moveTo>
                  <a:pt x="141" y="146"/>
                </a:moveTo>
                <a:lnTo>
                  <a:pt x="63" y="0"/>
                </a:lnTo>
                <a:lnTo>
                  <a:pt x="0" y="146"/>
                </a:lnTo>
                <a:lnTo>
                  <a:pt x="141" y="146"/>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69" name="Freeform 52"/>
          <p:cNvSpPr/>
          <p:nvPr/>
        </p:nvSpPr>
        <p:spPr bwMode="auto">
          <a:xfrm>
            <a:off x="5713413" y="5059363"/>
            <a:ext cx="223837" cy="312737"/>
          </a:xfrm>
          <a:custGeom>
            <a:avLst/>
            <a:gdLst>
              <a:gd name="T0" fmla="*/ 0 w 141"/>
              <a:gd name="T1" fmla="*/ 0 h 147"/>
              <a:gd name="T2" fmla="*/ 2147483646 w 141"/>
              <a:gd name="T3" fmla="*/ 2147483646 h 147"/>
              <a:gd name="T4" fmla="*/ 2147483646 w 141"/>
              <a:gd name="T5" fmla="*/ 0 h 147"/>
              <a:gd name="T6" fmla="*/ 0 w 141"/>
              <a:gd name="T7" fmla="*/ 0 h 147"/>
              <a:gd name="T8" fmla="*/ 0 60000 65536"/>
              <a:gd name="T9" fmla="*/ 0 60000 65536"/>
              <a:gd name="T10" fmla="*/ 0 60000 65536"/>
              <a:gd name="T11" fmla="*/ 0 60000 65536"/>
              <a:gd name="T12" fmla="*/ 0 w 141"/>
              <a:gd name="T13" fmla="*/ 0 h 147"/>
              <a:gd name="T14" fmla="*/ 141 w 141"/>
              <a:gd name="T15" fmla="*/ 147 h 147"/>
            </a:gdLst>
            <a:ahLst/>
            <a:cxnLst>
              <a:cxn ang="T8">
                <a:pos x="T0" y="T1"/>
              </a:cxn>
              <a:cxn ang="T9">
                <a:pos x="T2" y="T3"/>
              </a:cxn>
              <a:cxn ang="T10">
                <a:pos x="T4" y="T5"/>
              </a:cxn>
              <a:cxn ang="T11">
                <a:pos x="T6" y="T7"/>
              </a:cxn>
            </a:cxnLst>
            <a:rect l="T12" t="T13" r="T14" b="T15"/>
            <a:pathLst>
              <a:path w="141" h="147">
                <a:moveTo>
                  <a:pt x="0" y="0"/>
                </a:moveTo>
                <a:lnTo>
                  <a:pt x="78" y="147"/>
                </a:lnTo>
                <a:lnTo>
                  <a:pt x="141" y="0"/>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70" name="Rectangle 53"/>
          <p:cNvSpPr>
            <a:spLocks noChangeArrowheads="1"/>
          </p:cNvSpPr>
          <p:nvPr/>
        </p:nvSpPr>
        <p:spPr bwMode="auto">
          <a:xfrm>
            <a:off x="8199438" y="2747963"/>
            <a:ext cx="74612" cy="23812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60471" name="Freeform 54"/>
          <p:cNvSpPr/>
          <p:nvPr/>
        </p:nvSpPr>
        <p:spPr bwMode="auto">
          <a:xfrm>
            <a:off x="8124825" y="2506663"/>
            <a:ext cx="223838" cy="309562"/>
          </a:xfrm>
          <a:custGeom>
            <a:avLst/>
            <a:gdLst>
              <a:gd name="T0" fmla="*/ 2147483646 w 141"/>
              <a:gd name="T1" fmla="*/ 2147483646 h 146"/>
              <a:gd name="T2" fmla="*/ 2147483646 w 141"/>
              <a:gd name="T3" fmla="*/ 0 h 146"/>
              <a:gd name="T4" fmla="*/ 0 w 141"/>
              <a:gd name="T5" fmla="*/ 2147483646 h 146"/>
              <a:gd name="T6" fmla="*/ 2147483646 w 141"/>
              <a:gd name="T7" fmla="*/ 2147483646 h 146"/>
              <a:gd name="T8" fmla="*/ 0 60000 65536"/>
              <a:gd name="T9" fmla="*/ 0 60000 65536"/>
              <a:gd name="T10" fmla="*/ 0 60000 65536"/>
              <a:gd name="T11" fmla="*/ 0 60000 65536"/>
              <a:gd name="T12" fmla="*/ 0 w 141"/>
              <a:gd name="T13" fmla="*/ 0 h 146"/>
              <a:gd name="T14" fmla="*/ 141 w 141"/>
              <a:gd name="T15" fmla="*/ 146 h 146"/>
            </a:gdLst>
            <a:ahLst/>
            <a:cxnLst>
              <a:cxn ang="T8">
                <a:pos x="T0" y="T1"/>
              </a:cxn>
              <a:cxn ang="T9">
                <a:pos x="T2" y="T3"/>
              </a:cxn>
              <a:cxn ang="T10">
                <a:pos x="T4" y="T5"/>
              </a:cxn>
              <a:cxn ang="T11">
                <a:pos x="T6" y="T7"/>
              </a:cxn>
            </a:cxnLst>
            <a:rect l="T12" t="T13" r="T14" b="T15"/>
            <a:pathLst>
              <a:path w="141" h="146">
                <a:moveTo>
                  <a:pt x="141" y="146"/>
                </a:moveTo>
                <a:lnTo>
                  <a:pt x="62" y="0"/>
                </a:lnTo>
                <a:lnTo>
                  <a:pt x="0" y="146"/>
                </a:lnTo>
                <a:lnTo>
                  <a:pt x="141" y="146"/>
                </a:lnTo>
                <a:close/>
              </a:path>
            </a:pathLst>
          </a:custGeom>
          <a:solidFill>
            <a:schemeClr val="tx1"/>
          </a:solidFill>
          <a:ln w="9525">
            <a:solidFill>
              <a:schemeClr val="tx1"/>
            </a:solidFill>
            <a:round/>
          </a:ln>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72" name="Freeform 55"/>
          <p:cNvSpPr/>
          <p:nvPr/>
        </p:nvSpPr>
        <p:spPr bwMode="auto">
          <a:xfrm>
            <a:off x="8099425" y="5059363"/>
            <a:ext cx="223838" cy="312737"/>
          </a:xfrm>
          <a:custGeom>
            <a:avLst/>
            <a:gdLst>
              <a:gd name="T0" fmla="*/ 0 w 141"/>
              <a:gd name="T1" fmla="*/ 0 h 147"/>
              <a:gd name="T2" fmla="*/ 2147483646 w 141"/>
              <a:gd name="T3" fmla="*/ 2147483646 h 147"/>
              <a:gd name="T4" fmla="*/ 2147483646 w 141"/>
              <a:gd name="T5" fmla="*/ 0 h 147"/>
              <a:gd name="T6" fmla="*/ 0 w 141"/>
              <a:gd name="T7" fmla="*/ 0 h 147"/>
              <a:gd name="T8" fmla="*/ 0 60000 65536"/>
              <a:gd name="T9" fmla="*/ 0 60000 65536"/>
              <a:gd name="T10" fmla="*/ 0 60000 65536"/>
              <a:gd name="T11" fmla="*/ 0 60000 65536"/>
              <a:gd name="T12" fmla="*/ 0 w 141"/>
              <a:gd name="T13" fmla="*/ 0 h 147"/>
              <a:gd name="T14" fmla="*/ 141 w 141"/>
              <a:gd name="T15" fmla="*/ 147 h 147"/>
            </a:gdLst>
            <a:ahLst/>
            <a:cxnLst>
              <a:cxn ang="T8">
                <a:pos x="T0" y="T1"/>
              </a:cxn>
              <a:cxn ang="T9">
                <a:pos x="T2" y="T3"/>
              </a:cxn>
              <a:cxn ang="T10">
                <a:pos x="T4" y="T5"/>
              </a:cxn>
              <a:cxn ang="T11">
                <a:pos x="T6" y="T7"/>
              </a:cxn>
            </a:cxnLst>
            <a:rect l="T12" t="T13" r="T14" b="T15"/>
            <a:pathLst>
              <a:path w="141" h="147">
                <a:moveTo>
                  <a:pt x="0" y="0"/>
                </a:moveTo>
                <a:lnTo>
                  <a:pt x="78" y="147"/>
                </a:lnTo>
                <a:lnTo>
                  <a:pt x="141" y="0"/>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0473" name="Rectangle 56"/>
          <p:cNvSpPr>
            <a:spLocks noChangeArrowheads="1"/>
          </p:cNvSpPr>
          <p:nvPr/>
        </p:nvSpPr>
        <p:spPr bwMode="auto">
          <a:xfrm>
            <a:off x="939800" y="1643063"/>
            <a:ext cx="558800"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3400" dirty="0">
                <a:solidFill>
                  <a:schemeClr val="bg1"/>
                </a:solidFill>
                <a:ea typeface="楷体" panose="02010609060101010101" pitchFamily="49" charset="-122"/>
                <a:cs typeface="Times New Roman" panose="02020603050405020304" pitchFamily="18" charset="0"/>
              </a:rPr>
              <a:t>总线控制器</a:t>
            </a:r>
            <a:endParaRPr lang="zh-CN" altLang="en-US" sz="4400" dirty="0">
              <a:solidFill>
                <a:schemeClr val="bg1"/>
              </a:solidFill>
              <a:ea typeface="楷体" panose="02010609060101010101" pitchFamily="49" charset="-122"/>
              <a:cs typeface="Times New Roman" panose="02020603050405020304" pitchFamily="18" charset="0"/>
            </a:endParaRPr>
          </a:p>
        </p:txBody>
      </p:sp>
      <p:sp>
        <p:nvSpPr>
          <p:cNvPr id="60474" name="Rectangle 57"/>
          <p:cNvSpPr>
            <a:spLocks noChangeArrowheads="1"/>
          </p:cNvSpPr>
          <p:nvPr/>
        </p:nvSpPr>
        <p:spPr bwMode="auto">
          <a:xfrm>
            <a:off x="6180420" y="1679575"/>
            <a:ext cx="9265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3600">
                <a:solidFill>
                  <a:schemeClr val="tx2"/>
                </a:solidFill>
                <a:ea typeface="楷体" panose="02010609060101010101" pitchFamily="49" charset="-122"/>
                <a:cs typeface="Times New Roman" panose="02020603050405020304" pitchFamily="18" charset="0"/>
              </a:rPr>
              <a:t>……</a:t>
            </a:r>
            <a:endParaRPr lang="en-US" altLang="zh-CN" sz="4400">
              <a:solidFill>
                <a:schemeClr val="tx2"/>
              </a:solidFill>
              <a:ea typeface="楷体" panose="02010609060101010101" pitchFamily="49" charset="-122"/>
              <a:cs typeface="Times New Roman" panose="02020603050405020304" pitchFamily="18" charset="0"/>
            </a:endParaRPr>
          </a:p>
        </p:txBody>
      </p:sp>
      <p:sp>
        <p:nvSpPr>
          <p:cNvPr id="60475" name="Rectangle 58"/>
          <p:cNvSpPr>
            <a:spLocks noChangeArrowheads="1"/>
          </p:cNvSpPr>
          <p:nvPr/>
        </p:nvSpPr>
        <p:spPr bwMode="auto">
          <a:xfrm>
            <a:off x="517525" y="4473575"/>
            <a:ext cx="1343025" cy="420688"/>
          </a:xfrm>
          <a:prstGeom prst="rect">
            <a:avLst/>
          </a:prstGeom>
          <a:solidFill>
            <a:srgbClr val="A50021"/>
          </a:solidFill>
          <a:ln w="9525">
            <a:solidFill>
              <a:srgbClr val="FFFFFF"/>
            </a:solidFill>
            <a:miter lim="800000"/>
          </a:ln>
        </p:spPr>
        <p:txBody>
          <a:bodyPr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700">
                <a:solidFill>
                  <a:schemeClr val="bg1"/>
                </a:solidFill>
                <a:ea typeface="楷体" panose="02010609060101010101" pitchFamily="49" charset="-122"/>
                <a:cs typeface="Times New Roman" panose="02020603050405020304" pitchFamily="18" charset="0"/>
              </a:rPr>
              <a:t>计数器</a:t>
            </a:r>
            <a:endParaRPr lang="zh-CN" altLang="en-US" sz="3600">
              <a:solidFill>
                <a:schemeClr val="bg1"/>
              </a:solidFill>
              <a:ea typeface="楷体" panose="02010609060101010101" pitchFamily="49" charset="-122"/>
              <a:cs typeface="Times New Roman" panose="02020603050405020304" pitchFamily="18" charset="0"/>
            </a:endParaRPr>
          </a:p>
        </p:txBody>
      </p:sp>
    </p:spTree>
  </p:cSld>
  <p:clrMapOvr>
    <a:masterClrMapping/>
  </p:clrMapOvr>
  <p:transition spd="med">
    <p:pull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defRPr/>
            </a:pPr>
            <a:r>
              <a:rPr lang="zh-CN" altLang="en-US" dirty="0"/>
              <a:t>工作原理</a:t>
            </a:r>
            <a:endParaRPr lang="zh-CN" altLang="en-US" dirty="0"/>
          </a:p>
        </p:txBody>
      </p:sp>
      <p:sp>
        <p:nvSpPr>
          <p:cNvPr id="61443" name="Rectangle 3"/>
          <p:cNvSpPr>
            <a:spLocks noGrp="1" noChangeArrowheads="1"/>
          </p:cNvSpPr>
          <p:nvPr>
            <p:ph idx="1"/>
          </p:nvPr>
        </p:nvSpPr>
        <p:spPr/>
        <p:txBody>
          <a:bodyPr/>
          <a:lstStyle/>
          <a:p>
            <a:pPr eaLnBrk="1" hangingPunct="1">
              <a:buFont typeface="Wingdings 2" charset="2"/>
              <a:buNone/>
            </a:pPr>
            <a:r>
              <a:rPr lang="zh-CN" altLang="en-US" sz="2400">
                <a:latin typeface="宋体" panose="02010600030101010101" pitchFamily="2" charset="-122"/>
              </a:rPr>
              <a:t>可灵活改变各设备使用总线的优先级 </a:t>
            </a:r>
            <a:endParaRPr lang="zh-CN" altLang="en-US" sz="2400">
              <a:latin typeface="宋体" panose="02010600030101010101" pitchFamily="2" charset="-122"/>
            </a:endParaRPr>
          </a:p>
          <a:p>
            <a:pPr algn="just" eaLnBrk="1" hangingPunct="1"/>
            <a:r>
              <a:rPr lang="zh-CN" altLang="en-US" sz="2400">
                <a:latin typeface="宋体" panose="02010600030101010101" pitchFamily="2" charset="-122"/>
              </a:rPr>
              <a:t>总线上的任一设备要求使用总线时，通过</a:t>
            </a:r>
            <a:r>
              <a:rPr lang="en-US" altLang="zh-CN" sz="2400">
                <a:cs typeface="Times New Roman" panose="02020603050405020304" pitchFamily="18" charset="0"/>
              </a:rPr>
              <a:t>/BR</a:t>
            </a:r>
            <a:r>
              <a:rPr lang="zh-CN" altLang="en-US" sz="2400">
                <a:latin typeface="宋体" panose="02010600030101010101" pitchFamily="2" charset="-122"/>
              </a:rPr>
              <a:t>线发出总线请求。中央仲裁器接到请求信号以后，在</a:t>
            </a:r>
            <a:r>
              <a:rPr lang="en-US" altLang="zh-CN" sz="2400">
                <a:cs typeface="Times New Roman" panose="02020603050405020304" pitchFamily="18" charset="0"/>
              </a:rPr>
              <a:t>BB</a:t>
            </a:r>
            <a:r>
              <a:rPr lang="zh-CN" altLang="en-US" sz="2400">
                <a:latin typeface="宋体" panose="02010600030101010101" pitchFamily="2" charset="-122"/>
              </a:rPr>
              <a:t>线为</a:t>
            </a:r>
            <a:r>
              <a:rPr lang="zh-CN" altLang="en-US" sz="2400">
                <a:cs typeface="Times New Roman" panose="02020603050405020304" pitchFamily="18" charset="0"/>
              </a:rPr>
              <a:t>“</a:t>
            </a:r>
            <a:r>
              <a:rPr lang="en-US" altLang="zh-CN" sz="2400">
                <a:latin typeface="宋体" panose="02010600030101010101" pitchFamily="2" charset="-122"/>
                <a:cs typeface="Times New Roman" panose="02020603050405020304" pitchFamily="18" charset="0"/>
              </a:rPr>
              <a:t>0</a:t>
            </a:r>
            <a:r>
              <a:rPr lang="en-US" altLang="zh-CN" sz="2400">
                <a:cs typeface="Times New Roman" panose="02020603050405020304" pitchFamily="18" charset="0"/>
              </a:rPr>
              <a:t>”</a:t>
            </a:r>
            <a:r>
              <a:rPr lang="zh-CN" altLang="en-US" sz="2400">
                <a:latin typeface="宋体" panose="02010600030101010101" pitchFamily="2" charset="-122"/>
              </a:rPr>
              <a:t>的情况下（即总线空闲），启动计数器开始计数，计数值通过一组地址线发向各设备。每个设备接口都有一个设备地址判别电路，当地址线上的计数值与请求总线的设备地址相一致时，该设备获得总线使用权，把</a:t>
            </a:r>
            <a:r>
              <a:rPr lang="en-US" altLang="zh-CN" sz="2400">
                <a:cs typeface="Times New Roman" panose="02020603050405020304" pitchFamily="18" charset="0"/>
              </a:rPr>
              <a:t>BB</a:t>
            </a:r>
            <a:r>
              <a:rPr lang="zh-CN" altLang="en-US" sz="2400">
                <a:latin typeface="宋体" panose="02010600030101010101" pitchFamily="2" charset="-122"/>
              </a:rPr>
              <a:t>线置</a:t>
            </a:r>
            <a:r>
              <a:rPr lang="zh-CN" altLang="en-US" sz="2400">
                <a:cs typeface="Times New Roman" panose="02020603050405020304" pitchFamily="18" charset="0"/>
              </a:rPr>
              <a:t>“</a:t>
            </a:r>
            <a:r>
              <a:rPr lang="en-US" altLang="zh-CN" sz="2400">
                <a:latin typeface="宋体" panose="02010600030101010101" pitchFamily="2" charset="-122"/>
                <a:cs typeface="Times New Roman" panose="02020603050405020304" pitchFamily="18" charset="0"/>
              </a:rPr>
              <a:t>1</a:t>
            </a:r>
            <a:r>
              <a:rPr lang="en-US" altLang="zh-CN" sz="2400">
                <a:cs typeface="Times New Roman" panose="02020603050405020304" pitchFamily="18" charset="0"/>
              </a:rPr>
              <a:t>”</a:t>
            </a:r>
            <a:r>
              <a:rPr lang="en-US" altLang="zh-CN" sz="2400">
                <a:latin typeface="宋体" panose="02010600030101010101" pitchFamily="2" charset="-122"/>
                <a:cs typeface="Times New Roman" panose="02020603050405020304" pitchFamily="18" charset="0"/>
              </a:rPr>
              <a:t> </a:t>
            </a:r>
            <a:r>
              <a:rPr lang="zh-CN" altLang="en-US" sz="2400">
                <a:latin typeface="宋体" panose="02010600030101010101" pitchFamily="2" charset="-122"/>
              </a:rPr>
              <a:t>，并使计数器暂停计数。</a:t>
            </a:r>
            <a:endParaRPr lang="zh-CN" altLang="en-US" sz="2400">
              <a:latin typeface="宋体" panose="02010600030101010101" pitchFamily="2" charset="-122"/>
              <a:cs typeface="Times New Roman" panose="02020603050405020304" pitchFamily="18" charset="0"/>
            </a:endParaRPr>
          </a:p>
          <a:p>
            <a:pPr algn="just" eaLnBrk="1" hangingPunct="1"/>
            <a:r>
              <a:rPr lang="zh-CN" altLang="en-US" sz="2400">
                <a:latin typeface="宋体" panose="02010600030101010101" pitchFamily="2" charset="-122"/>
              </a:rPr>
              <a:t>每次计数可以从</a:t>
            </a:r>
            <a:r>
              <a:rPr lang="zh-CN" altLang="en-US" sz="2400">
                <a:cs typeface="Times New Roman" panose="02020603050405020304" pitchFamily="18" charset="0"/>
              </a:rPr>
              <a:t>“</a:t>
            </a:r>
            <a:r>
              <a:rPr lang="en-US" altLang="zh-CN" sz="2400">
                <a:latin typeface="宋体" panose="02010600030101010101" pitchFamily="2" charset="-122"/>
                <a:cs typeface="Times New Roman" panose="02020603050405020304" pitchFamily="18" charset="0"/>
              </a:rPr>
              <a:t>0</a:t>
            </a:r>
            <a:r>
              <a:rPr lang="en-US" altLang="zh-CN" sz="2400">
                <a:cs typeface="Times New Roman" panose="02020603050405020304" pitchFamily="18" charset="0"/>
              </a:rPr>
              <a:t>”</a:t>
            </a:r>
            <a:r>
              <a:rPr lang="zh-CN" altLang="en-US" sz="2400">
                <a:latin typeface="宋体" panose="02010600030101010101" pitchFamily="2" charset="-122"/>
              </a:rPr>
              <a:t>开始，也可从暂停点开始。</a:t>
            </a:r>
            <a:endParaRPr lang="zh-CN" altLang="en-US" sz="2400">
              <a:latin typeface="宋体" panose="02010600030101010101" pitchFamily="2" charset="-122"/>
            </a:endParaRPr>
          </a:p>
          <a:p>
            <a:pPr lvl="1" algn="just" eaLnBrk="1" hangingPunct="1"/>
            <a:r>
              <a:rPr lang="zh-CN" altLang="en-US" sz="2400">
                <a:latin typeface="宋体" panose="02010600030101010101" pitchFamily="2" charset="-122"/>
              </a:rPr>
              <a:t>如果从</a:t>
            </a:r>
            <a:r>
              <a:rPr lang="zh-CN" altLang="en-US" sz="2400">
                <a:cs typeface="Times New Roman" panose="02020603050405020304" pitchFamily="18" charset="0"/>
              </a:rPr>
              <a:t>“</a:t>
            </a:r>
            <a:r>
              <a:rPr lang="en-US" altLang="zh-CN" sz="2400">
                <a:latin typeface="宋体" panose="02010600030101010101" pitchFamily="2" charset="-122"/>
                <a:cs typeface="Times New Roman" panose="02020603050405020304" pitchFamily="18" charset="0"/>
              </a:rPr>
              <a:t>0</a:t>
            </a:r>
            <a:r>
              <a:rPr lang="en-US" altLang="zh-CN" sz="2400">
                <a:cs typeface="Times New Roman" panose="02020603050405020304" pitchFamily="18" charset="0"/>
              </a:rPr>
              <a:t>”</a:t>
            </a:r>
            <a:r>
              <a:rPr lang="zh-CN" altLang="en-US" sz="2400">
                <a:latin typeface="宋体" panose="02010600030101010101" pitchFamily="2" charset="-122"/>
              </a:rPr>
              <a:t>开始，各设备的优先次序与链式查询法相同，优先级的顺序是固定的</a:t>
            </a:r>
            <a:endParaRPr lang="zh-CN" altLang="en-US" sz="2400">
              <a:latin typeface="宋体" panose="02010600030101010101" pitchFamily="2" charset="-122"/>
            </a:endParaRPr>
          </a:p>
          <a:p>
            <a:pPr lvl="1" algn="just" eaLnBrk="1" hangingPunct="1"/>
            <a:r>
              <a:rPr lang="zh-CN" altLang="en-US" sz="2400">
                <a:latin typeface="宋体" panose="02010600030101010101" pitchFamily="2" charset="-122"/>
              </a:rPr>
              <a:t>如果从暂停点开始，每个设备使用总线的优级相等</a:t>
            </a:r>
            <a:endParaRPr lang="zh-CN" altLang="en-US" sz="2000">
              <a:latin typeface="宋体" panose="02010600030101010101" pitchFamily="2" charset="-122"/>
              <a:cs typeface="Times New Roman" panose="02020603050405020304" pitchFamily="18" charset="0"/>
            </a:endParaRPr>
          </a:p>
          <a:p>
            <a:pPr algn="just" eaLnBrk="1" hangingPunct="1"/>
            <a:r>
              <a:rPr lang="zh-CN" altLang="en-US" sz="2400">
                <a:latin typeface="宋体" panose="02010600030101010101" pitchFamily="2" charset="-122"/>
              </a:rPr>
              <a:t>计数器的初值也可用程序来设置，这可以方便地改变优先次序。但这种灵活性是以增加地址线数为代价的。</a:t>
            </a:r>
            <a:endParaRPr lang="zh-CN" altLang="en-US" sz="2400">
              <a:latin typeface="宋体" panose="02010600030101010101" pitchFamily="2" charset="-122"/>
            </a:endParaRPr>
          </a:p>
        </p:txBody>
      </p:sp>
    </p:spTree>
  </p:cSld>
  <p:clrMapOvr>
    <a:masterClrMapping/>
  </p:clrMapOvr>
  <p:transition spd="med">
    <p:pull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defRPr/>
            </a:pPr>
            <a:r>
              <a:rPr lang="zh-CN" altLang="en-US"/>
              <a:t>集中仲裁：独立请求方式</a:t>
            </a:r>
            <a:endParaRPr lang="zh-CN" altLang="en-US"/>
          </a:p>
        </p:txBody>
      </p:sp>
      <p:sp>
        <p:nvSpPr>
          <p:cNvPr id="62468" name="Text Box 3"/>
          <p:cNvSpPr txBox="1">
            <a:spLocks noChangeArrowheads="1"/>
          </p:cNvSpPr>
          <p:nvPr/>
        </p:nvSpPr>
        <p:spPr bwMode="auto">
          <a:xfrm>
            <a:off x="3371850" y="4016375"/>
            <a:ext cx="50482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000" b="0">
                <a:solidFill>
                  <a:schemeClr val="tx2"/>
                </a:solidFill>
                <a:latin typeface="楷体" panose="02010609060101010101" pitchFamily="49" charset="-122"/>
                <a:ea typeface="楷体" panose="02010609060101010101" pitchFamily="49" charset="-122"/>
              </a:rPr>
              <a:t>…</a:t>
            </a:r>
            <a:endParaRPr kumimoji="0" lang="en-US" altLang="zh-CN" sz="2000" b="0">
              <a:solidFill>
                <a:schemeClr val="tx2"/>
              </a:solidFill>
              <a:latin typeface="楷体" panose="02010609060101010101" pitchFamily="49" charset="-122"/>
              <a:ea typeface="楷体" panose="02010609060101010101" pitchFamily="49" charset="-122"/>
            </a:endParaRPr>
          </a:p>
          <a:p>
            <a:pPr eaLnBrk="1" hangingPunct="1">
              <a:spcBef>
                <a:spcPct val="50000"/>
              </a:spcBef>
              <a:buClrTx/>
              <a:buFontTx/>
              <a:buNone/>
            </a:pPr>
            <a:r>
              <a:rPr kumimoji="0" lang="en-US" altLang="zh-CN" sz="2000" b="0">
                <a:solidFill>
                  <a:schemeClr val="tx2"/>
                </a:solidFill>
                <a:latin typeface="楷体" panose="02010609060101010101" pitchFamily="49" charset="-122"/>
                <a:ea typeface="楷体" panose="02010609060101010101" pitchFamily="49" charset="-122"/>
              </a:rPr>
              <a:t>…</a:t>
            </a:r>
            <a:endParaRPr kumimoji="0" lang="en-US" altLang="zh-CN" sz="2000" b="0">
              <a:solidFill>
                <a:schemeClr val="tx2"/>
              </a:solidFill>
              <a:latin typeface="楷体" panose="02010609060101010101" pitchFamily="49" charset="-122"/>
              <a:ea typeface="楷体" panose="02010609060101010101" pitchFamily="49" charset="-122"/>
            </a:endParaRPr>
          </a:p>
        </p:txBody>
      </p:sp>
      <p:grpSp>
        <p:nvGrpSpPr>
          <p:cNvPr id="62469" name="Group 4"/>
          <p:cNvGrpSpPr/>
          <p:nvPr/>
        </p:nvGrpSpPr>
        <p:grpSpPr bwMode="auto">
          <a:xfrm>
            <a:off x="7188200" y="1341438"/>
            <a:ext cx="1584325" cy="863600"/>
            <a:chOff x="1746" y="1389"/>
            <a:chExt cx="998" cy="544"/>
          </a:xfrm>
        </p:grpSpPr>
        <p:sp>
          <p:nvSpPr>
            <p:cNvPr id="62506" name="Rectangle 5"/>
            <p:cNvSpPr>
              <a:spLocks noChangeArrowheads="1"/>
            </p:cNvSpPr>
            <p:nvPr/>
          </p:nvSpPr>
          <p:spPr bwMode="auto">
            <a:xfrm>
              <a:off x="1746" y="1389"/>
              <a:ext cx="998" cy="544"/>
            </a:xfrm>
            <a:prstGeom prst="rect">
              <a:avLst/>
            </a:prstGeom>
            <a:solidFill>
              <a:schemeClr val="accent1"/>
            </a:solidFill>
            <a:ln w="9525">
              <a:solidFill>
                <a:srgbClr val="FFFFFF"/>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Tx/>
                <a:buFontTx/>
                <a:buNone/>
              </a:pPr>
              <a:r>
                <a:rPr kumimoji="0" lang="zh-CN" altLang="en-US" sz="2400" dirty="0">
                  <a:solidFill>
                    <a:schemeClr val="bg1"/>
                  </a:solidFill>
                  <a:latin typeface="楷体" panose="02010609060101010101" pitchFamily="49" charset="-122"/>
                  <a:ea typeface="楷体" panose="02010609060101010101" pitchFamily="49" charset="-122"/>
                </a:rPr>
                <a:t>模块</a:t>
              </a:r>
              <a:r>
                <a:rPr kumimoji="0" lang="en-US" altLang="zh-CN" sz="2400" dirty="0">
                  <a:solidFill>
                    <a:schemeClr val="bg1"/>
                  </a:solidFill>
                  <a:latin typeface="楷体" panose="02010609060101010101" pitchFamily="49" charset="-122"/>
                  <a:ea typeface="楷体" panose="02010609060101010101" pitchFamily="49" charset="-122"/>
                </a:rPr>
                <a:t>N</a:t>
              </a:r>
              <a:endParaRPr kumimoji="0" lang="en-US" altLang="zh-CN" sz="2400" dirty="0">
                <a:solidFill>
                  <a:schemeClr val="bg1"/>
                </a:solidFill>
                <a:latin typeface="楷体" panose="02010609060101010101" pitchFamily="49" charset="-122"/>
                <a:ea typeface="楷体" panose="02010609060101010101" pitchFamily="49" charset="-122"/>
              </a:endParaRPr>
            </a:p>
            <a:p>
              <a:pPr eaLnBrk="1" hangingPunct="1">
                <a:spcBef>
                  <a:spcPct val="0"/>
                </a:spcBef>
                <a:buClrTx/>
                <a:buFontTx/>
                <a:buNone/>
              </a:pPr>
              <a:endParaRPr kumimoji="0" lang="en-US" altLang="zh-CN" sz="2400" dirty="0">
                <a:solidFill>
                  <a:schemeClr val="tx2"/>
                </a:solidFill>
                <a:latin typeface="楷体" panose="02010609060101010101" pitchFamily="49" charset="-122"/>
                <a:ea typeface="楷体" panose="02010609060101010101" pitchFamily="49" charset="-122"/>
              </a:endParaRPr>
            </a:p>
            <a:p>
              <a:pPr eaLnBrk="1" hangingPunct="1">
                <a:spcBef>
                  <a:spcPct val="0"/>
                </a:spcBef>
                <a:buClrTx/>
                <a:buFontTx/>
                <a:buNone/>
              </a:pPr>
              <a:endParaRPr kumimoji="0" lang="en-US" altLang="zh-CN" sz="1800" dirty="0">
                <a:latin typeface="楷体" panose="02010609060101010101" pitchFamily="49" charset="-122"/>
                <a:ea typeface="楷体" panose="02010609060101010101" pitchFamily="49" charset="-122"/>
              </a:endParaRPr>
            </a:p>
          </p:txBody>
        </p:sp>
        <p:sp>
          <p:nvSpPr>
            <p:cNvPr id="62507" name="Rectangle 6"/>
            <p:cNvSpPr>
              <a:spLocks noChangeArrowheads="1"/>
            </p:cNvSpPr>
            <p:nvPr/>
          </p:nvSpPr>
          <p:spPr bwMode="auto">
            <a:xfrm>
              <a:off x="2066" y="1590"/>
              <a:ext cx="635" cy="318"/>
            </a:xfrm>
            <a:prstGeom prst="rect">
              <a:avLst/>
            </a:prstGeom>
            <a:solidFill>
              <a:schemeClr val="bg1"/>
            </a:solidFill>
            <a:ln w="9525">
              <a:solidFill>
                <a:srgbClr val="FFFFFF"/>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1800" dirty="0">
                  <a:solidFill>
                    <a:schemeClr val="tx2"/>
                  </a:solidFill>
                  <a:latin typeface="楷体" panose="02010609060101010101" pitchFamily="49" charset="-122"/>
                  <a:ea typeface="楷体" panose="02010609060101010101" pitchFamily="49" charset="-122"/>
                </a:rPr>
                <a:t>总线访</a:t>
              </a:r>
              <a:endParaRPr kumimoji="0" lang="zh-CN" altLang="en-US" sz="1800" dirty="0">
                <a:solidFill>
                  <a:schemeClr val="tx2"/>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kumimoji="0" lang="zh-CN" altLang="en-US" sz="1800" dirty="0">
                  <a:solidFill>
                    <a:schemeClr val="tx2"/>
                  </a:solidFill>
                  <a:latin typeface="楷体" panose="02010609060101010101" pitchFamily="49" charset="-122"/>
                  <a:ea typeface="楷体" panose="02010609060101010101" pitchFamily="49" charset="-122"/>
                </a:rPr>
                <a:t>问逻辑</a:t>
              </a:r>
              <a:endParaRPr kumimoji="0" lang="zh-CN" altLang="en-US" sz="1800" dirty="0">
                <a:solidFill>
                  <a:schemeClr val="tx2"/>
                </a:solidFill>
                <a:latin typeface="楷体" panose="02010609060101010101" pitchFamily="49" charset="-122"/>
                <a:ea typeface="楷体" panose="02010609060101010101" pitchFamily="49" charset="-122"/>
              </a:endParaRPr>
            </a:p>
          </p:txBody>
        </p:sp>
      </p:grpSp>
      <p:grpSp>
        <p:nvGrpSpPr>
          <p:cNvPr id="62470" name="Group 7"/>
          <p:cNvGrpSpPr/>
          <p:nvPr/>
        </p:nvGrpSpPr>
        <p:grpSpPr bwMode="auto">
          <a:xfrm>
            <a:off x="4595813" y="1341438"/>
            <a:ext cx="1584325" cy="863600"/>
            <a:chOff x="1746" y="1389"/>
            <a:chExt cx="998" cy="544"/>
          </a:xfrm>
        </p:grpSpPr>
        <p:sp>
          <p:nvSpPr>
            <p:cNvPr id="62504" name="Rectangle 8"/>
            <p:cNvSpPr>
              <a:spLocks noChangeArrowheads="1"/>
            </p:cNvSpPr>
            <p:nvPr/>
          </p:nvSpPr>
          <p:spPr bwMode="auto">
            <a:xfrm>
              <a:off x="1746" y="1389"/>
              <a:ext cx="998" cy="544"/>
            </a:xfrm>
            <a:prstGeom prst="rect">
              <a:avLst/>
            </a:prstGeom>
            <a:solidFill>
              <a:schemeClr val="accent1"/>
            </a:solidFill>
            <a:ln w="9525">
              <a:solidFill>
                <a:srgbClr val="FFFFFF"/>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Tx/>
                <a:buFontTx/>
                <a:buNone/>
              </a:pPr>
              <a:r>
                <a:rPr kumimoji="0" lang="zh-CN" altLang="en-US" sz="2400" dirty="0">
                  <a:solidFill>
                    <a:schemeClr val="bg1"/>
                  </a:solidFill>
                  <a:latin typeface="楷体" panose="02010609060101010101" pitchFamily="49" charset="-122"/>
                  <a:ea typeface="楷体" panose="02010609060101010101" pitchFamily="49" charset="-122"/>
                </a:rPr>
                <a:t>模块</a:t>
              </a:r>
              <a:r>
                <a:rPr kumimoji="0" lang="en-US" altLang="zh-CN" sz="2400" dirty="0">
                  <a:solidFill>
                    <a:schemeClr val="bg1"/>
                  </a:solidFill>
                  <a:latin typeface="楷体" panose="02010609060101010101" pitchFamily="49" charset="-122"/>
                  <a:ea typeface="楷体" panose="02010609060101010101" pitchFamily="49" charset="-122"/>
                </a:rPr>
                <a:t>2</a:t>
              </a:r>
              <a:endParaRPr kumimoji="0" lang="en-US" altLang="zh-CN" sz="2400" dirty="0">
                <a:solidFill>
                  <a:schemeClr val="bg1"/>
                </a:solidFill>
                <a:latin typeface="楷体" panose="02010609060101010101" pitchFamily="49" charset="-122"/>
                <a:ea typeface="楷体" panose="02010609060101010101" pitchFamily="49" charset="-122"/>
              </a:endParaRPr>
            </a:p>
            <a:p>
              <a:pPr eaLnBrk="1" hangingPunct="1">
                <a:spcBef>
                  <a:spcPct val="0"/>
                </a:spcBef>
                <a:buClrTx/>
                <a:buFontTx/>
                <a:buNone/>
              </a:pPr>
              <a:endParaRPr kumimoji="0" lang="en-US" altLang="zh-CN" sz="1800" dirty="0">
                <a:latin typeface="楷体" panose="02010609060101010101" pitchFamily="49" charset="-122"/>
                <a:ea typeface="楷体" panose="02010609060101010101" pitchFamily="49" charset="-122"/>
              </a:endParaRPr>
            </a:p>
            <a:p>
              <a:pPr eaLnBrk="1" hangingPunct="1">
                <a:spcBef>
                  <a:spcPct val="0"/>
                </a:spcBef>
                <a:buClrTx/>
                <a:buFontTx/>
                <a:buNone/>
              </a:pPr>
              <a:endParaRPr kumimoji="0" lang="en-US" altLang="zh-CN" sz="1800" dirty="0">
                <a:latin typeface="楷体" panose="02010609060101010101" pitchFamily="49" charset="-122"/>
                <a:ea typeface="楷体" panose="02010609060101010101" pitchFamily="49" charset="-122"/>
              </a:endParaRPr>
            </a:p>
          </p:txBody>
        </p:sp>
        <p:sp>
          <p:nvSpPr>
            <p:cNvPr id="62505" name="Rectangle 9"/>
            <p:cNvSpPr>
              <a:spLocks noChangeArrowheads="1"/>
            </p:cNvSpPr>
            <p:nvPr/>
          </p:nvSpPr>
          <p:spPr bwMode="auto">
            <a:xfrm>
              <a:off x="2059" y="1593"/>
              <a:ext cx="635" cy="318"/>
            </a:xfrm>
            <a:prstGeom prst="rect">
              <a:avLst/>
            </a:prstGeom>
            <a:solidFill>
              <a:schemeClr val="bg1"/>
            </a:solidFill>
            <a:ln w="9525">
              <a:solidFill>
                <a:srgbClr val="FFFFFF"/>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1800" dirty="0">
                  <a:solidFill>
                    <a:schemeClr val="tx2"/>
                  </a:solidFill>
                  <a:latin typeface="楷体" panose="02010609060101010101" pitchFamily="49" charset="-122"/>
                  <a:ea typeface="楷体" panose="02010609060101010101" pitchFamily="49" charset="-122"/>
                </a:rPr>
                <a:t>总线访</a:t>
              </a:r>
              <a:endParaRPr kumimoji="0" lang="zh-CN" altLang="en-US" sz="1800" dirty="0">
                <a:solidFill>
                  <a:schemeClr val="tx2"/>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kumimoji="0" lang="zh-CN" altLang="en-US" sz="1800" dirty="0">
                  <a:solidFill>
                    <a:schemeClr val="tx2"/>
                  </a:solidFill>
                  <a:latin typeface="楷体" panose="02010609060101010101" pitchFamily="49" charset="-122"/>
                  <a:ea typeface="楷体" panose="02010609060101010101" pitchFamily="49" charset="-122"/>
                </a:rPr>
                <a:t>问逻辑</a:t>
              </a:r>
              <a:endParaRPr kumimoji="0" lang="zh-CN" altLang="en-US" sz="1800" dirty="0">
                <a:solidFill>
                  <a:schemeClr val="tx2"/>
                </a:solidFill>
                <a:latin typeface="楷体" panose="02010609060101010101" pitchFamily="49" charset="-122"/>
                <a:ea typeface="楷体" panose="02010609060101010101" pitchFamily="49" charset="-122"/>
              </a:endParaRPr>
            </a:p>
          </p:txBody>
        </p:sp>
      </p:grpSp>
      <p:grpSp>
        <p:nvGrpSpPr>
          <p:cNvPr id="62471" name="Group 10"/>
          <p:cNvGrpSpPr/>
          <p:nvPr/>
        </p:nvGrpSpPr>
        <p:grpSpPr bwMode="auto">
          <a:xfrm>
            <a:off x="2724150" y="1341438"/>
            <a:ext cx="1584325" cy="863600"/>
            <a:chOff x="1746" y="1389"/>
            <a:chExt cx="998" cy="544"/>
          </a:xfrm>
        </p:grpSpPr>
        <p:sp>
          <p:nvSpPr>
            <p:cNvPr id="62502" name="Rectangle 11"/>
            <p:cNvSpPr>
              <a:spLocks noChangeArrowheads="1"/>
            </p:cNvSpPr>
            <p:nvPr/>
          </p:nvSpPr>
          <p:spPr bwMode="auto">
            <a:xfrm>
              <a:off x="1746" y="1389"/>
              <a:ext cx="998" cy="544"/>
            </a:xfrm>
            <a:prstGeom prst="rect">
              <a:avLst/>
            </a:prstGeom>
            <a:solidFill>
              <a:schemeClr val="accent1"/>
            </a:solidFill>
            <a:ln w="9525">
              <a:solidFill>
                <a:srgbClr val="FFFFFF"/>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Tx/>
                <a:buFontTx/>
                <a:buNone/>
              </a:pPr>
              <a:r>
                <a:rPr kumimoji="0" lang="zh-CN" altLang="en-US" sz="2400" dirty="0">
                  <a:solidFill>
                    <a:schemeClr val="bg1"/>
                  </a:solidFill>
                  <a:latin typeface="楷体" panose="02010609060101010101" pitchFamily="49" charset="-122"/>
                  <a:ea typeface="楷体" panose="02010609060101010101" pitchFamily="49" charset="-122"/>
                </a:rPr>
                <a:t>模块</a:t>
              </a:r>
              <a:r>
                <a:rPr kumimoji="0" lang="en-US" altLang="zh-CN" sz="2400" dirty="0">
                  <a:solidFill>
                    <a:schemeClr val="bg1"/>
                  </a:solidFill>
                  <a:latin typeface="楷体" panose="02010609060101010101" pitchFamily="49" charset="-122"/>
                  <a:ea typeface="楷体" panose="02010609060101010101" pitchFamily="49" charset="-122"/>
                </a:rPr>
                <a:t>1</a:t>
              </a:r>
              <a:endParaRPr kumimoji="0" lang="en-US" altLang="zh-CN" sz="2400" dirty="0">
                <a:solidFill>
                  <a:schemeClr val="bg1"/>
                </a:solidFill>
                <a:latin typeface="楷体" panose="02010609060101010101" pitchFamily="49" charset="-122"/>
                <a:ea typeface="楷体" panose="02010609060101010101" pitchFamily="49" charset="-122"/>
              </a:endParaRPr>
            </a:p>
            <a:p>
              <a:pPr eaLnBrk="1" hangingPunct="1">
                <a:spcBef>
                  <a:spcPct val="0"/>
                </a:spcBef>
                <a:buClrTx/>
                <a:buFontTx/>
                <a:buNone/>
              </a:pPr>
              <a:endParaRPr kumimoji="0" lang="en-US" altLang="zh-CN" sz="1800" dirty="0">
                <a:latin typeface="楷体" panose="02010609060101010101" pitchFamily="49" charset="-122"/>
                <a:ea typeface="楷体" panose="02010609060101010101" pitchFamily="49" charset="-122"/>
              </a:endParaRPr>
            </a:p>
            <a:p>
              <a:pPr eaLnBrk="1" hangingPunct="1">
                <a:spcBef>
                  <a:spcPct val="0"/>
                </a:spcBef>
                <a:buClrTx/>
                <a:buFontTx/>
                <a:buNone/>
              </a:pPr>
              <a:endParaRPr kumimoji="0" lang="en-US" altLang="zh-CN" sz="1800" dirty="0">
                <a:latin typeface="楷体" panose="02010609060101010101" pitchFamily="49" charset="-122"/>
                <a:ea typeface="楷体" panose="02010609060101010101" pitchFamily="49" charset="-122"/>
              </a:endParaRPr>
            </a:p>
          </p:txBody>
        </p:sp>
        <p:sp>
          <p:nvSpPr>
            <p:cNvPr id="62503" name="Rectangle 12"/>
            <p:cNvSpPr>
              <a:spLocks noChangeArrowheads="1"/>
            </p:cNvSpPr>
            <p:nvPr/>
          </p:nvSpPr>
          <p:spPr bwMode="auto">
            <a:xfrm>
              <a:off x="2063" y="1579"/>
              <a:ext cx="635" cy="318"/>
            </a:xfrm>
            <a:prstGeom prst="rect">
              <a:avLst/>
            </a:prstGeom>
            <a:solidFill>
              <a:schemeClr val="bg1"/>
            </a:solidFill>
            <a:ln w="9525">
              <a:solidFill>
                <a:srgbClr val="FFFFFF"/>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1800" dirty="0">
                  <a:solidFill>
                    <a:schemeClr val="tx2"/>
                  </a:solidFill>
                  <a:latin typeface="楷体" panose="02010609060101010101" pitchFamily="49" charset="-122"/>
                  <a:ea typeface="楷体" panose="02010609060101010101" pitchFamily="49" charset="-122"/>
                </a:rPr>
                <a:t>总线访</a:t>
              </a:r>
              <a:endParaRPr kumimoji="0" lang="zh-CN" altLang="en-US" sz="1800" dirty="0">
                <a:solidFill>
                  <a:schemeClr val="tx2"/>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kumimoji="0" lang="zh-CN" altLang="en-US" sz="1800" dirty="0">
                  <a:solidFill>
                    <a:schemeClr val="tx2"/>
                  </a:solidFill>
                  <a:latin typeface="楷体" panose="02010609060101010101" pitchFamily="49" charset="-122"/>
                  <a:ea typeface="楷体" panose="02010609060101010101" pitchFamily="49" charset="-122"/>
                </a:rPr>
                <a:t>问逻辑</a:t>
              </a:r>
              <a:endParaRPr kumimoji="0" lang="zh-CN" altLang="en-US" sz="1800" dirty="0">
                <a:solidFill>
                  <a:schemeClr val="tx2"/>
                </a:solidFill>
                <a:latin typeface="楷体" panose="02010609060101010101" pitchFamily="49" charset="-122"/>
                <a:ea typeface="楷体" panose="02010609060101010101" pitchFamily="49" charset="-122"/>
              </a:endParaRPr>
            </a:p>
          </p:txBody>
        </p:sp>
      </p:grpSp>
      <p:sp>
        <p:nvSpPr>
          <p:cNvPr id="62472" name="Text Box 13"/>
          <p:cNvSpPr txBox="1">
            <a:spLocks noChangeArrowheads="1"/>
          </p:cNvSpPr>
          <p:nvPr/>
        </p:nvSpPr>
        <p:spPr bwMode="auto">
          <a:xfrm>
            <a:off x="6324600" y="1557338"/>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1800" b="0">
                <a:latin typeface="楷体" panose="02010609060101010101" pitchFamily="49" charset="-122"/>
                <a:ea typeface="楷体" panose="02010609060101010101" pitchFamily="49" charset="-122"/>
              </a:rPr>
              <a:t>……</a:t>
            </a:r>
            <a:endParaRPr kumimoji="0" lang="en-US" altLang="zh-CN" sz="1800" b="0">
              <a:latin typeface="楷体" panose="02010609060101010101" pitchFamily="49" charset="-122"/>
              <a:ea typeface="楷体" panose="02010609060101010101" pitchFamily="49" charset="-122"/>
            </a:endParaRPr>
          </a:p>
        </p:txBody>
      </p:sp>
      <p:sp>
        <p:nvSpPr>
          <p:cNvPr id="62473" name="Rectangle 14"/>
          <p:cNvSpPr>
            <a:spLocks noChangeArrowheads="1"/>
          </p:cNvSpPr>
          <p:nvPr/>
        </p:nvSpPr>
        <p:spPr bwMode="auto">
          <a:xfrm>
            <a:off x="311150" y="2205038"/>
            <a:ext cx="1476375" cy="3960812"/>
          </a:xfrm>
          <a:prstGeom prst="rect">
            <a:avLst/>
          </a:prstGeom>
          <a:solidFill>
            <a:schemeClr val="accent1"/>
          </a:solidFill>
          <a:ln w="9525">
            <a:solidFill>
              <a:srgbClr val="FFFFFF"/>
            </a:solidFill>
            <a:miter lim="800000"/>
          </a:ln>
        </p:spPr>
        <p:txBody>
          <a:bodyPr wrap="none"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dirty="0">
                <a:solidFill>
                  <a:schemeClr val="bg1"/>
                </a:solidFill>
                <a:latin typeface="楷体" panose="02010609060101010101" pitchFamily="49" charset="-122"/>
                <a:ea typeface="楷体" panose="02010609060101010101" pitchFamily="49" charset="-122"/>
              </a:rPr>
              <a:t>总</a:t>
            </a:r>
            <a:endParaRPr kumimoji="0" lang="zh-CN" altLang="en-US" dirty="0">
              <a:solidFill>
                <a:schemeClr val="bg1"/>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kumimoji="0" lang="zh-CN" altLang="en-US" dirty="0">
                <a:solidFill>
                  <a:schemeClr val="bg1"/>
                </a:solidFill>
                <a:latin typeface="楷体" panose="02010609060101010101" pitchFamily="49" charset="-122"/>
                <a:ea typeface="楷体" panose="02010609060101010101" pitchFamily="49" charset="-122"/>
              </a:rPr>
              <a:t>线</a:t>
            </a:r>
            <a:endParaRPr kumimoji="0" lang="zh-CN" altLang="en-US" dirty="0">
              <a:solidFill>
                <a:schemeClr val="bg1"/>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kumimoji="0" lang="zh-CN" altLang="en-US" dirty="0">
                <a:solidFill>
                  <a:schemeClr val="bg1"/>
                </a:solidFill>
                <a:latin typeface="楷体" panose="02010609060101010101" pitchFamily="49" charset="-122"/>
                <a:ea typeface="楷体" panose="02010609060101010101" pitchFamily="49" charset="-122"/>
              </a:rPr>
              <a:t>控</a:t>
            </a:r>
            <a:endParaRPr kumimoji="0" lang="en-US" altLang="zh-CN" dirty="0">
              <a:solidFill>
                <a:schemeClr val="bg1"/>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kumimoji="0" lang="zh-CN" altLang="en-US" dirty="0">
                <a:solidFill>
                  <a:schemeClr val="bg1"/>
                </a:solidFill>
                <a:latin typeface="楷体" panose="02010609060101010101" pitchFamily="49" charset="-122"/>
                <a:ea typeface="楷体" panose="02010609060101010101" pitchFamily="49" charset="-122"/>
              </a:rPr>
              <a:t>制</a:t>
            </a:r>
            <a:endParaRPr kumimoji="0" lang="en-US" altLang="zh-CN" dirty="0">
              <a:solidFill>
                <a:schemeClr val="bg1"/>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kumimoji="0" lang="zh-CN" altLang="en-US" dirty="0">
                <a:solidFill>
                  <a:schemeClr val="bg1"/>
                </a:solidFill>
                <a:latin typeface="楷体" panose="02010609060101010101" pitchFamily="49" charset="-122"/>
                <a:ea typeface="楷体" panose="02010609060101010101" pitchFamily="49" charset="-122"/>
              </a:rPr>
              <a:t>器</a:t>
            </a:r>
            <a:endParaRPr kumimoji="0" lang="zh-CN" altLang="en-US" dirty="0">
              <a:solidFill>
                <a:schemeClr val="bg1"/>
              </a:solidFill>
              <a:latin typeface="楷体" panose="02010609060101010101" pitchFamily="49" charset="-122"/>
              <a:ea typeface="楷体" panose="02010609060101010101" pitchFamily="49" charset="-122"/>
            </a:endParaRPr>
          </a:p>
        </p:txBody>
      </p:sp>
      <p:grpSp>
        <p:nvGrpSpPr>
          <p:cNvPr id="62474" name="Group 15"/>
          <p:cNvGrpSpPr/>
          <p:nvPr/>
        </p:nvGrpSpPr>
        <p:grpSpPr bwMode="auto">
          <a:xfrm>
            <a:off x="1787525" y="2205038"/>
            <a:ext cx="1584325" cy="647700"/>
            <a:chOff x="975" y="1933"/>
            <a:chExt cx="998" cy="408"/>
          </a:xfrm>
        </p:grpSpPr>
        <p:sp>
          <p:nvSpPr>
            <p:cNvPr id="62499" name="Line 16"/>
            <p:cNvSpPr>
              <a:spLocks noChangeShapeType="1"/>
            </p:cNvSpPr>
            <p:nvPr/>
          </p:nvSpPr>
          <p:spPr bwMode="auto">
            <a:xfrm>
              <a:off x="975" y="2341"/>
              <a:ext cx="998"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500" name="Line 17"/>
            <p:cNvSpPr>
              <a:spLocks noChangeShapeType="1"/>
            </p:cNvSpPr>
            <p:nvPr/>
          </p:nvSpPr>
          <p:spPr bwMode="auto">
            <a:xfrm flipV="1">
              <a:off x="1973" y="1933"/>
              <a:ext cx="0" cy="40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501" name="Text Box 18"/>
            <p:cNvSpPr txBox="1">
              <a:spLocks noChangeArrowheads="1"/>
            </p:cNvSpPr>
            <p:nvPr/>
          </p:nvSpPr>
          <p:spPr bwMode="auto">
            <a:xfrm>
              <a:off x="1020" y="2069"/>
              <a:ext cx="9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zh-CN" altLang="en-US" sz="2000">
                  <a:solidFill>
                    <a:schemeClr val="tx2"/>
                  </a:solidFill>
                  <a:latin typeface="楷体" panose="02010609060101010101" pitchFamily="49" charset="-122"/>
                  <a:ea typeface="楷体" panose="02010609060101010101" pitchFamily="49" charset="-122"/>
                </a:rPr>
                <a:t>总线请求</a:t>
              </a:r>
              <a:r>
                <a:rPr kumimoji="0" lang="en-US" altLang="zh-CN" sz="2000">
                  <a:solidFill>
                    <a:schemeClr val="tx2"/>
                  </a:solidFill>
                  <a:latin typeface="楷体" panose="02010609060101010101" pitchFamily="49" charset="-122"/>
                  <a:ea typeface="楷体" panose="02010609060101010101" pitchFamily="49" charset="-122"/>
                </a:rPr>
                <a:t>1</a:t>
              </a:r>
              <a:endParaRPr kumimoji="0" lang="en-US" altLang="zh-CN" sz="2000">
                <a:solidFill>
                  <a:schemeClr val="tx2"/>
                </a:solidFill>
                <a:latin typeface="楷体" panose="02010609060101010101" pitchFamily="49" charset="-122"/>
                <a:ea typeface="楷体" panose="02010609060101010101" pitchFamily="49" charset="-122"/>
              </a:endParaRPr>
            </a:p>
          </p:txBody>
        </p:sp>
      </p:grpSp>
      <p:grpSp>
        <p:nvGrpSpPr>
          <p:cNvPr id="62475" name="Group 19"/>
          <p:cNvGrpSpPr/>
          <p:nvPr/>
        </p:nvGrpSpPr>
        <p:grpSpPr bwMode="auto">
          <a:xfrm>
            <a:off x="1787525" y="2205038"/>
            <a:ext cx="1871663" cy="1117600"/>
            <a:chOff x="975" y="1933"/>
            <a:chExt cx="1179" cy="704"/>
          </a:xfrm>
        </p:grpSpPr>
        <p:sp>
          <p:nvSpPr>
            <p:cNvPr id="62496" name="Line 20"/>
            <p:cNvSpPr>
              <a:spLocks noChangeShapeType="1"/>
            </p:cNvSpPr>
            <p:nvPr/>
          </p:nvSpPr>
          <p:spPr bwMode="auto">
            <a:xfrm>
              <a:off x="975" y="2614"/>
              <a:ext cx="1179"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497" name="Line 21"/>
            <p:cNvSpPr>
              <a:spLocks noChangeShapeType="1"/>
            </p:cNvSpPr>
            <p:nvPr/>
          </p:nvSpPr>
          <p:spPr bwMode="auto">
            <a:xfrm flipV="1">
              <a:off x="2154" y="1933"/>
              <a:ext cx="0" cy="68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498" name="Text Box 22"/>
            <p:cNvSpPr txBox="1">
              <a:spLocks noChangeArrowheads="1"/>
            </p:cNvSpPr>
            <p:nvPr/>
          </p:nvSpPr>
          <p:spPr bwMode="auto">
            <a:xfrm>
              <a:off x="1020" y="2387"/>
              <a:ext cx="9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zh-CN" altLang="en-US" sz="2000">
                  <a:solidFill>
                    <a:schemeClr val="tx2"/>
                  </a:solidFill>
                  <a:latin typeface="楷体" panose="02010609060101010101" pitchFamily="49" charset="-122"/>
                  <a:ea typeface="楷体" panose="02010609060101010101" pitchFamily="49" charset="-122"/>
                </a:rPr>
                <a:t>总线允许</a:t>
              </a:r>
              <a:r>
                <a:rPr kumimoji="0" lang="en-US" altLang="zh-CN" sz="2000">
                  <a:solidFill>
                    <a:schemeClr val="tx2"/>
                  </a:solidFill>
                  <a:latin typeface="楷体" panose="02010609060101010101" pitchFamily="49" charset="-122"/>
                  <a:ea typeface="楷体" panose="02010609060101010101" pitchFamily="49" charset="-122"/>
                </a:rPr>
                <a:t>1</a:t>
              </a:r>
              <a:endParaRPr kumimoji="0" lang="en-US" altLang="zh-CN" sz="2000">
                <a:solidFill>
                  <a:schemeClr val="tx2"/>
                </a:solidFill>
                <a:latin typeface="楷体" panose="02010609060101010101" pitchFamily="49" charset="-122"/>
                <a:ea typeface="楷体" panose="02010609060101010101" pitchFamily="49" charset="-122"/>
              </a:endParaRPr>
            </a:p>
          </p:txBody>
        </p:sp>
      </p:grpSp>
      <p:grpSp>
        <p:nvGrpSpPr>
          <p:cNvPr id="62476" name="Group 23"/>
          <p:cNvGrpSpPr/>
          <p:nvPr/>
        </p:nvGrpSpPr>
        <p:grpSpPr bwMode="auto">
          <a:xfrm>
            <a:off x="1787525" y="2205038"/>
            <a:ext cx="3384550" cy="1549400"/>
            <a:chOff x="975" y="1933"/>
            <a:chExt cx="2132" cy="976"/>
          </a:xfrm>
        </p:grpSpPr>
        <p:sp>
          <p:nvSpPr>
            <p:cNvPr id="62493" name="Line 24"/>
            <p:cNvSpPr>
              <a:spLocks noChangeShapeType="1"/>
            </p:cNvSpPr>
            <p:nvPr/>
          </p:nvSpPr>
          <p:spPr bwMode="auto">
            <a:xfrm>
              <a:off x="975" y="2886"/>
              <a:ext cx="2132"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494" name="Line 25"/>
            <p:cNvSpPr>
              <a:spLocks noChangeShapeType="1"/>
            </p:cNvSpPr>
            <p:nvPr/>
          </p:nvSpPr>
          <p:spPr bwMode="auto">
            <a:xfrm flipV="1">
              <a:off x="3107" y="1933"/>
              <a:ext cx="0" cy="95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495" name="Text Box 26"/>
            <p:cNvSpPr txBox="1">
              <a:spLocks noChangeArrowheads="1"/>
            </p:cNvSpPr>
            <p:nvPr/>
          </p:nvSpPr>
          <p:spPr bwMode="auto">
            <a:xfrm>
              <a:off x="1020" y="2659"/>
              <a:ext cx="8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zh-CN" altLang="en-US" sz="2000">
                  <a:solidFill>
                    <a:schemeClr val="tx2"/>
                  </a:solidFill>
                  <a:latin typeface="楷体" panose="02010609060101010101" pitchFamily="49" charset="-122"/>
                  <a:ea typeface="楷体" panose="02010609060101010101" pitchFamily="49" charset="-122"/>
                </a:rPr>
                <a:t>总线请求</a:t>
              </a:r>
              <a:r>
                <a:rPr kumimoji="0" lang="en-US" altLang="zh-CN" sz="2000">
                  <a:solidFill>
                    <a:schemeClr val="tx2"/>
                  </a:solidFill>
                  <a:latin typeface="楷体" panose="02010609060101010101" pitchFamily="49" charset="-122"/>
                  <a:ea typeface="楷体" panose="02010609060101010101" pitchFamily="49" charset="-122"/>
                </a:rPr>
                <a:t>2</a:t>
              </a:r>
              <a:endParaRPr kumimoji="0" lang="en-US" altLang="zh-CN" sz="2000">
                <a:solidFill>
                  <a:schemeClr val="tx2"/>
                </a:solidFill>
                <a:latin typeface="楷体" panose="02010609060101010101" pitchFamily="49" charset="-122"/>
                <a:ea typeface="楷体" panose="02010609060101010101" pitchFamily="49" charset="-122"/>
              </a:endParaRPr>
            </a:p>
          </p:txBody>
        </p:sp>
      </p:grpSp>
      <p:sp>
        <p:nvSpPr>
          <p:cNvPr id="62477" name="Line 27"/>
          <p:cNvSpPr>
            <a:spLocks noChangeShapeType="1"/>
          </p:cNvSpPr>
          <p:nvPr/>
        </p:nvSpPr>
        <p:spPr bwMode="auto">
          <a:xfrm>
            <a:off x="1787525" y="4149725"/>
            <a:ext cx="3671888" cy="15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478" name="Line 28"/>
          <p:cNvSpPr>
            <a:spLocks noChangeShapeType="1"/>
          </p:cNvSpPr>
          <p:nvPr/>
        </p:nvSpPr>
        <p:spPr bwMode="auto">
          <a:xfrm flipV="1">
            <a:off x="5459413" y="2205038"/>
            <a:ext cx="0" cy="1944687"/>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479" name="Text Box 29"/>
          <p:cNvSpPr txBox="1">
            <a:spLocks noChangeArrowheads="1"/>
          </p:cNvSpPr>
          <p:nvPr/>
        </p:nvSpPr>
        <p:spPr bwMode="auto">
          <a:xfrm>
            <a:off x="1858963" y="3789363"/>
            <a:ext cx="1439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zh-CN" altLang="en-US" sz="2000">
                <a:solidFill>
                  <a:schemeClr val="tx2"/>
                </a:solidFill>
                <a:latin typeface="楷体" panose="02010609060101010101" pitchFamily="49" charset="-122"/>
                <a:ea typeface="楷体" panose="02010609060101010101" pitchFamily="49" charset="-122"/>
              </a:rPr>
              <a:t>总线允许</a:t>
            </a:r>
            <a:r>
              <a:rPr kumimoji="0" lang="en-US" altLang="zh-CN" sz="2000">
                <a:solidFill>
                  <a:schemeClr val="tx2"/>
                </a:solidFill>
                <a:latin typeface="楷体" panose="02010609060101010101" pitchFamily="49" charset="-122"/>
                <a:ea typeface="楷体" panose="02010609060101010101" pitchFamily="49" charset="-122"/>
              </a:rPr>
              <a:t>2</a:t>
            </a:r>
            <a:endParaRPr kumimoji="0" lang="en-US" altLang="zh-CN" sz="2000">
              <a:solidFill>
                <a:schemeClr val="tx2"/>
              </a:solidFill>
              <a:latin typeface="楷体" panose="02010609060101010101" pitchFamily="49" charset="-122"/>
              <a:ea typeface="楷体" panose="02010609060101010101" pitchFamily="49" charset="-122"/>
            </a:endParaRPr>
          </a:p>
        </p:txBody>
      </p:sp>
      <p:sp>
        <p:nvSpPr>
          <p:cNvPr id="62480" name="Line 30"/>
          <p:cNvSpPr>
            <a:spLocks noChangeShapeType="1"/>
          </p:cNvSpPr>
          <p:nvPr/>
        </p:nvSpPr>
        <p:spPr bwMode="auto">
          <a:xfrm>
            <a:off x="1787525" y="4870450"/>
            <a:ext cx="5976938"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481" name="Line 31"/>
          <p:cNvSpPr>
            <a:spLocks noChangeShapeType="1"/>
          </p:cNvSpPr>
          <p:nvPr/>
        </p:nvSpPr>
        <p:spPr bwMode="auto">
          <a:xfrm flipV="1">
            <a:off x="7764463" y="2205038"/>
            <a:ext cx="0" cy="26654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482" name="Text Box 32"/>
          <p:cNvSpPr txBox="1">
            <a:spLocks noChangeArrowheads="1"/>
          </p:cNvSpPr>
          <p:nvPr/>
        </p:nvSpPr>
        <p:spPr bwMode="auto">
          <a:xfrm>
            <a:off x="1858963" y="4510088"/>
            <a:ext cx="1512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zh-CN" altLang="en-US" sz="2000">
                <a:solidFill>
                  <a:schemeClr val="tx2"/>
                </a:solidFill>
                <a:latin typeface="楷体" panose="02010609060101010101" pitchFamily="49" charset="-122"/>
                <a:ea typeface="楷体" panose="02010609060101010101" pitchFamily="49" charset="-122"/>
              </a:rPr>
              <a:t>总线请求</a:t>
            </a:r>
            <a:r>
              <a:rPr kumimoji="0" lang="en-US" altLang="zh-CN" sz="2000">
                <a:solidFill>
                  <a:schemeClr val="tx2"/>
                </a:solidFill>
                <a:latin typeface="楷体" panose="02010609060101010101" pitchFamily="49" charset="-122"/>
                <a:ea typeface="楷体" panose="02010609060101010101" pitchFamily="49" charset="-122"/>
              </a:rPr>
              <a:t>N</a:t>
            </a:r>
            <a:endParaRPr kumimoji="0" lang="en-US" altLang="zh-CN" sz="2000">
              <a:solidFill>
                <a:schemeClr val="tx2"/>
              </a:solidFill>
              <a:latin typeface="楷体" panose="02010609060101010101" pitchFamily="49" charset="-122"/>
              <a:ea typeface="楷体" panose="02010609060101010101" pitchFamily="49" charset="-122"/>
            </a:endParaRPr>
          </a:p>
        </p:txBody>
      </p:sp>
      <p:sp>
        <p:nvSpPr>
          <p:cNvPr id="62483" name="Line 33"/>
          <p:cNvSpPr>
            <a:spLocks noChangeShapeType="1"/>
          </p:cNvSpPr>
          <p:nvPr/>
        </p:nvSpPr>
        <p:spPr bwMode="auto">
          <a:xfrm>
            <a:off x="1787525" y="5302250"/>
            <a:ext cx="6264275"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484" name="Line 34"/>
          <p:cNvSpPr>
            <a:spLocks noChangeShapeType="1"/>
          </p:cNvSpPr>
          <p:nvPr/>
        </p:nvSpPr>
        <p:spPr bwMode="auto">
          <a:xfrm flipV="1">
            <a:off x="8051800" y="2205038"/>
            <a:ext cx="0" cy="3097212"/>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485" name="Text Box 35"/>
          <p:cNvSpPr txBox="1">
            <a:spLocks noChangeArrowheads="1"/>
          </p:cNvSpPr>
          <p:nvPr/>
        </p:nvSpPr>
        <p:spPr bwMode="auto">
          <a:xfrm>
            <a:off x="1858963" y="4941888"/>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zh-CN" altLang="en-US" sz="2000">
                <a:solidFill>
                  <a:schemeClr val="tx2"/>
                </a:solidFill>
                <a:latin typeface="楷体" panose="02010609060101010101" pitchFamily="49" charset="-122"/>
                <a:ea typeface="楷体" panose="02010609060101010101" pitchFamily="49" charset="-122"/>
              </a:rPr>
              <a:t>总线允许</a:t>
            </a:r>
            <a:r>
              <a:rPr kumimoji="0" lang="en-US" altLang="zh-CN" sz="2000">
                <a:solidFill>
                  <a:schemeClr val="tx2"/>
                </a:solidFill>
                <a:latin typeface="楷体" panose="02010609060101010101" pitchFamily="49" charset="-122"/>
                <a:ea typeface="楷体" panose="02010609060101010101" pitchFamily="49" charset="-122"/>
              </a:rPr>
              <a:t>N</a:t>
            </a:r>
            <a:endParaRPr kumimoji="0" lang="en-US" altLang="zh-CN" sz="2000">
              <a:solidFill>
                <a:schemeClr val="tx2"/>
              </a:solidFill>
              <a:latin typeface="楷体" panose="02010609060101010101" pitchFamily="49" charset="-122"/>
              <a:ea typeface="楷体" panose="02010609060101010101" pitchFamily="49" charset="-122"/>
            </a:endParaRPr>
          </a:p>
        </p:txBody>
      </p:sp>
      <p:sp>
        <p:nvSpPr>
          <p:cNvPr id="62486" name="Line 36"/>
          <p:cNvSpPr>
            <a:spLocks noChangeShapeType="1"/>
          </p:cNvSpPr>
          <p:nvPr/>
        </p:nvSpPr>
        <p:spPr bwMode="auto">
          <a:xfrm>
            <a:off x="1787525" y="5661025"/>
            <a:ext cx="6624638" cy="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487" name="Line 37"/>
          <p:cNvSpPr>
            <a:spLocks noChangeShapeType="1"/>
          </p:cNvSpPr>
          <p:nvPr/>
        </p:nvSpPr>
        <p:spPr bwMode="auto">
          <a:xfrm>
            <a:off x="4019550" y="2205038"/>
            <a:ext cx="0" cy="3455987"/>
          </a:xfrm>
          <a:prstGeom prst="line">
            <a:avLst/>
          </a:prstGeom>
          <a:noFill/>
          <a:ln w="38100">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488" name="Line 38"/>
          <p:cNvSpPr>
            <a:spLocks noChangeShapeType="1"/>
          </p:cNvSpPr>
          <p:nvPr/>
        </p:nvSpPr>
        <p:spPr bwMode="auto">
          <a:xfrm>
            <a:off x="5819775" y="2205038"/>
            <a:ext cx="0" cy="3455987"/>
          </a:xfrm>
          <a:prstGeom prst="line">
            <a:avLst/>
          </a:prstGeom>
          <a:noFill/>
          <a:ln w="38100">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489" name="Line 39"/>
          <p:cNvSpPr>
            <a:spLocks noChangeShapeType="1"/>
          </p:cNvSpPr>
          <p:nvPr/>
        </p:nvSpPr>
        <p:spPr bwMode="auto">
          <a:xfrm>
            <a:off x="8412163" y="2205038"/>
            <a:ext cx="0" cy="3455987"/>
          </a:xfrm>
          <a:prstGeom prst="line">
            <a:avLst/>
          </a:prstGeom>
          <a:noFill/>
          <a:ln w="38100">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2490" name="Text Box 40"/>
          <p:cNvSpPr txBox="1">
            <a:spLocks noChangeArrowheads="1"/>
          </p:cNvSpPr>
          <p:nvPr/>
        </p:nvSpPr>
        <p:spPr bwMode="auto">
          <a:xfrm>
            <a:off x="1860550" y="5264150"/>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zh-CN" altLang="en-US" sz="2000">
                <a:solidFill>
                  <a:schemeClr val="tx2"/>
                </a:solidFill>
                <a:latin typeface="楷体" panose="02010609060101010101" pitchFamily="49" charset="-122"/>
                <a:ea typeface="楷体" panose="02010609060101010101" pitchFamily="49" charset="-122"/>
              </a:rPr>
              <a:t>总线忙</a:t>
            </a:r>
            <a:endParaRPr kumimoji="0" lang="zh-CN" altLang="en-US" sz="2000">
              <a:solidFill>
                <a:schemeClr val="tx2"/>
              </a:solidFill>
              <a:latin typeface="楷体" panose="02010609060101010101" pitchFamily="49" charset="-122"/>
              <a:ea typeface="楷体" panose="02010609060101010101" pitchFamily="49" charset="-122"/>
            </a:endParaRPr>
          </a:p>
        </p:txBody>
      </p:sp>
      <p:sp>
        <p:nvSpPr>
          <p:cNvPr id="62491" name="Text Box 41"/>
          <p:cNvSpPr txBox="1">
            <a:spLocks noChangeArrowheads="1"/>
          </p:cNvSpPr>
          <p:nvPr/>
        </p:nvSpPr>
        <p:spPr bwMode="auto">
          <a:xfrm>
            <a:off x="1378863" y="2471319"/>
            <a:ext cx="430887" cy="3369512"/>
          </a:xfrm>
          <a:prstGeom prst="rect">
            <a:avLst/>
          </a:prstGeom>
          <a:solidFill>
            <a:srgbClr val="00CCFF"/>
          </a:solidFill>
          <a:ln w="9525" algn="ctr">
            <a:solidFill>
              <a:srgbClr val="FFFFFF"/>
            </a:solidFill>
            <a:miter lim="800000"/>
          </a:ln>
        </p:spPr>
        <p:txBody>
          <a:bodyPr vert="eaVert" wrap="none" lIns="0" tIns="0" rIns="0" bIns="0">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800">
                <a:solidFill>
                  <a:schemeClr val="tx2"/>
                </a:solidFill>
                <a:latin typeface="楷体" panose="02010609060101010101" pitchFamily="49" charset="-122"/>
                <a:ea typeface="楷体" panose="02010609060101010101" pitchFamily="49" charset="-122"/>
              </a:rPr>
              <a:t>优先级编码器</a:t>
            </a:r>
            <a:r>
              <a:rPr lang="en-US" altLang="zh-CN" sz="2800">
                <a:solidFill>
                  <a:schemeClr val="tx2"/>
                </a:solidFill>
                <a:latin typeface="楷体" panose="02010609060101010101" pitchFamily="49" charset="-122"/>
                <a:ea typeface="楷体" panose="02010609060101010101" pitchFamily="49" charset="-122"/>
              </a:rPr>
              <a:t>/</a:t>
            </a:r>
            <a:r>
              <a:rPr lang="zh-CN" altLang="en-US" sz="2800">
                <a:solidFill>
                  <a:schemeClr val="tx2"/>
                </a:solidFill>
                <a:latin typeface="楷体" panose="02010609060101010101" pitchFamily="49" charset="-122"/>
                <a:ea typeface="楷体" panose="02010609060101010101" pitchFamily="49" charset="-122"/>
              </a:rPr>
              <a:t>译码器</a:t>
            </a:r>
            <a:endParaRPr lang="zh-CN" altLang="en-US" sz="2800">
              <a:solidFill>
                <a:schemeClr val="tx2"/>
              </a:solidFill>
              <a:latin typeface="楷体" panose="02010609060101010101" pitchFamily="49" charset="-122"/>
              <a:ea typeface="楷体" panose="02010609060101010101" pitchFamily="49" charset="-122"/>
            </a:endParaRPr>
          </a:p>
        </p:txBody>
      </p:sp>
      <p:sp>
        <p:nvSpPr>
          <p:cNvPr id="2" name="TextBox 1"/>
          <p:cNvSpPr txBox="1"/>
          <p:nvPr/>
        </p:nvSpPr>
        <p:spPr>
          <a:xfrm>
            <a:off x="3926278" y="5829300"/>
            <a:ext cx="2348720" cy="523220"/>
          </a:xfrm>
          <a:prstGeom prst="rect">
            <a:avLst/>
          </a:prstGeom>
          <a:noFill/>
          <a:ln w="15875">
            <a:noFill/>
          </a:ln>
        </p:spPr>
        <p:txBody>
          <a:bodyPr wrap="none">
            <a:spAutoFit/>
          </a:bodyPr>
          <a:lstStyle/>
          <a:p>
            <a:pPr algn="ctr" eaLnBrk="1" hangingPunct="1">
              <a:spcBef>
                <a:spcPct val="20000"/>
              </a:spcBef>
              <a:buFont typeface="Wingdings" panose="05000000000000000000" pitchFamily="2" charset="2"/>
              <a:buNone/>
              <a:defRPr/>
            </a:pPr>
            <a:r>
              <a:rPr lang="zh-CN" altLang="en-US" sz="2800" b="1" dirty="0">
                <a:solidFill>
                  <a:srgbClr val="CC3300"/>
                </a:solidFill>
                <a:latin typeface="楷体" panose="02010609060101010101" pitchFamily="49" charset="-122"/>
                <a:ea typeface="楷体" panose="02010609060101010101" pitchFamily="49" charset="-122"/>
              </a:rPr>
              <a:t>并行仲裁方式</a:t>
            </a:r>
            <a:endParaRPr lang="zh-CN" altLang="en-US" sz="2800" b="1" dirty="0">
              <a:solidFill>
                <a:srgbClr val="CC3300"/>
              </a:solidFill>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defRPr/>
            </a:pPr>
            <a:r>
              <a:rPr lang="zh-CN" altLang="en-US"/>
              <a:t>独立请求方式的特点</a:t>
            </a:r>
            <a:endParaRPr lang="zh-CN" altLang="en-US"/>
          </a:p>
        </p:txBody>
      </p:sp>
      <p:sp>
        <p:nvSpPr>
          <p:cNvPr id="63491" name="Rectangle 3"/>
          <p:cNvSpPr>
            <a:spLocks noGrp="1" noChangeArrowheads="1"/>
          </p:cNvSpPr>
          <p:nvPr>
            <p:ph idx="1"/>
          </p:nvPr>
        </p:nvSpPr>
        <p:spPr>
          <a:xfrm>
            <a:off x="381000" y="1123669"/>
            <a:ext cx="8583613" cy="2093913"/>
          </a:xfrm>
        </p:spPr>
        <p:txBody>
          <a:bodyPr/>
          <a:lstStyle/>
          <a:p>
            <a:pPr eaLnBrk="1" hangingPunct="1"/>
            <a:r>
              <a:rPr lang="zh-CN" altLang="en-US" dirty="0"/>
              <a:t>优点</a:t>
            </a:r>
            <a:endParaRPr lang="zh-CN" altLang="en-US" dirty="0"/>
          </a:p>
          <a:p>
            <a:pPr lvl="1" eaLnBrk="1" hangingPunct="1"/>
            <a:r>
              <a:rPr lang="zh-CN" altLang="en-US" dirty="0"/>
              <a:t>判优速度快，且与模块数无关</a:t>
            </a:r>
            <a:endParaRPr lang="zh-CN" altLang="en-US" dirty="0"/>
          </a:p>
          <a:p>
            <a:pPr lvl="1" eaLnBrk="1" hangingPunct="1"/>
            <a:r>
              <a:rPr lang="zh-CN" altLang="en-US" dirty="0"/>
              <a:t>对优先级的控制灵活</a:t>
            </a:r>
            <a:endParaRPr lang="zh-CN" altLang="en-US" dirty="0"/>
          </a:p>
          <a:p>
            <a:pPr lvl="1" eaLnBrk="1" hangingPunct="1"/>
            <a:r>
              <a:rPr lang="zh-CN" altLang="en-US" dirty="0"/>
              <a:t>对故障不敏感</a:t>
            </a:r>
            <a:endParaRPr lang="zh-CN" altLang="en-US" dirty="0"/>
          </a:p>
        </p:txBody>
      </p:sp>
      <p:sp>
        <p:nvSpPr>
          <p:cNvPr id="63493" name="Rectangle 4"/>
          <p:cNvSpPr>
            <a:spLocks noChangeArrowheads="1"/>
          </p:cNvSpPr>
          <p:nvPr/>
        </p:nvSpPr>
        <p:spPr bwMode="auto">
          <a:xfrm>
            <a:off x="381000" y="3217582"/>
            <a:ext cx="85344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9875" indent="-269875">
              <a:spcBef>
                <a:spcPct val="20000"/>
              </a:spcBef>
              <a:buClr>
                <a:srgbClr val="CC3300"/>
              </a:buClr>
              <a:buFont typeface="Wingdings 2"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14375" indent="-26543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r>
              <a:rPr lang="zh-CN" altLang="en-US" sz="2800" dirty="0">
                <a:latin typeface="宋体" panose="02010600030101010101" pitchFamily="2" charset="-122"/>
                <a:ea typeface="宋体" panose="02010600030101010101" pitchFamily="2" charset="-122"/>
              </a:rPr>
              <a:t>缺点</a:t>
            </a:r>
            <a:endParaRPr lang="zh-CN" altLang="en-US" sz="2800" dirty="0">
              <a:latin typeface="宋体" panose="02010600030101010101" pitchFamily="2" charset="-122"/>
              <a:ea typeface="宋体" panose="02010600030101010101" pitchFamily="2" charset="-122"/>
            </a:endParaRPr>
          </a:p>
          <a:p>
            <a:pPr lvl="1" algn="l" eaLnBrk="1" hangingPunct="1"/>
            <a:r>
              <a:rPr lang="zh-CN" altLang="en-US" sz="2400" dirty="0">
                <a:latin typeface="宋体" panose="02010600030101010101" pitchFamily="2" charset="-122"/>
                <a:ea typeface="宋体" panose="02010600030101010101" pitchFamily="2" charset="-122"/>
              </a:rPr>
              <a:t>所需“请求线”和“允许线”较多</a:t>
            </a:r>
            <a:endParaRPr lang="zh-CN" altLang="en-US" sz="2400" dirty="0">
              <a:latin typeface="宋体" panose="02010600030101010101" pitchFamily="2" charset="-122"/>
              <a:ea typeface="宋体" panose="02010600030101010101" pitchFamily="2" charset="-122"/>
            </a:endParaRPr>
          </a:p>
          <a:p>
            <a:pPr lvl="1" algn="l" eaLnBrk="1" hangingPunct="1"/>
            <a:r>
              <a:rPr lang="zh-CN" altLang="en-US" sz="2400" dirty="0">
                <a:latin typeface="宋体" panose="02010600030101010101" pitchFamily="2" charset="-122"/>
                <a:ea typeface="宋体" panose="02010600030101010101" pitchFamily="2" charset="-122"/>
              </a:rPr>
              <a:t>电路复杂</a:t>
            </a:r>
            <a:endParaRPr lang="zh-CN" altLang="en-US" sz="2400" dirty="0">
              <a:latin typeface="宋体" panose="02010600030101010101" pitchFamily="2" charset="-122"/>
              <a:ea typeface="宋体" panose="02010600030101010101" pitchFamily="2" charset="-122"/>
            </a:endParaRPr>
          </a:p>
          <a:p>
            <a:pPr lvl="1" algn="l" eaLnBrk="1" hangingPunct="1"/>
            <a:r>
              <a:rPr lang="zh-CN" altLang="en-US" sz="2400" dirty="0">
                <a:latin typeface="宋体" panose="02010600030101010101" pitchFamily="2" charset="-122"/>
                <a:ea typeface="宋体" panose="02010600030101010101" pitchFamily="2" charset="-122"/>
              </a:rPr>
              <a:t>不易增加设备</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med">
    <p:pull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179387" y="237004"/>
            <a:ext cx="8946684" cy="762000"/>
          </a:xfrm>
        </p:spPr>
        <p:txBody>
          <a:bodyPr/>
          <a:lstStyle/>
          <a:p>
            <a:pPr eaLnBrk="1" hangingPunct="1">
              <a:defRPr/>
            </a:pPr>
            <a:r>
              <a:rPr lang="zh-CN" altLang="en-US" dirty="0">
                <a:latin typeface="迷你简启体" pitchFamily="65" charset="-122"/>
              </a:rPr>
              <a:t>分布式仲裁方式 </a:t>
            </a:r>
            <a:endParaRPr lang="zh-CN" altLang="en-US" dirty="0">
              <a:latin typeface="迷你简启体" pitchFamily="65" charset="-122"/>
            </a:endParaRPr>
          </a:p>
        </p:txBody>
      </p:sp>
      <p:sp>
        <p:nvSpPr>
          <p:cNvPr id="64515" name="Rectangle 4"/>
          <p:cNvSpPr>
            <a:spLocks noGrp="1" noChangeArrowheads="1"/>
          </p:cNvSpPr>
          <p:nvPr>
            <p:ph type="body" sz="half" idx="1"/>
          </p:nvPr>
        </p:nvSpPr>
        <p:spPr>
          <a:xfrm>
            <a:off x="304800" y="981075"/>
            <a:ext cx="8659813" cy="5400675"/>
          </a:xfrm>
          <a:noFill/>
        </p:spPr>
        <p:txBody>
          <a:bodyPr/>
          <a:lstStyle/>
          <a:p>
            <a:pPr eaLnBrk="1" hangingPunct="1"/>
            <a:r>
              <a:rPr lang="zh-CN" altLang="en-US" sz="2800" dirty="0">
                <a:latin typeface="宋体" panose="02010600030101010101" pitchFamily="2" charset="-122"/>
              </a:rPr>
              <a:t>在单机系统中，中央仲裁器即为总线控制器。 </a:t>
            </a:r>
            <a:endParaRPr lang="zh-CN" altLang="en-US" sz="2800" dirty="0"/>
          </a:p>
          <a:p>
            <a:pPr eaLnBrk="1" hangingPunct="1"/>
            <a:r>
              <a:rPr lang="zh-CN" altLang="en-US" sz="2800" dirty="0">
                <a:latin typeface="宋体" panose="02010600030101010101" pitchFamily="2" charset="-122"/>
              </a:rPr>
              <a:t>分布式仲裁：没有中央仲裁器，而是多个仲裁器竞争使用总线</a:t>
            </a:r>
            <a:endParaRPr lang="zh-CN" altLang="en-US" b="0" dirty="0">
              <a:latin typeface="宋体" panose="02010600030101010101" pitchFamily="2" charset="-122"/>
            </a:endParaRPr>
          </a:p>
        </p:txBody>
      </p:sp>
      <p:pic>
        <p:nvPicPr>
          <p:cNvPr id="64517" name="Picture 3" descr="zp036030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62200" y="2286000"/>
            <a:ext cx="6290488"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1" name="Text Box 5"/>
          <p:cNvSpPr txBox="1">
            <a:spLocks noChangeArrowheads="1"/>
          </p:cNvSpPr>
          <p:nvPr/>
        </p:nvSpPr>
        <p:spPr bwMode="auto">
          <a:xfrm>
            <a:off x="5410200" y="2209800"/>
            <a:ext cx="1103313" cy="457200"/>
          </a:xfrm>
          <a:prstGeom prst="rect">
            <a:avLst/>
          </a:prstGeom>
          <a:noFill/>
          <a:ln w="19050" algn="ctr">
            <a:noFill/>
            <a:miter lim="800000"/>
            <a:tailEnd type="none" w="lg" len="lg"/>
          </a:ln>
          <a:effectLst/>
        </p:spPr>
        <p:txBody>
          <a:bodyPr wrap="none">
            <a:spAutoFit/>
          </a:bodyPr>
          <a:lstStyle/>
          <a:p>
            <a:pPr algn="ctr" eaLnBrk="1" hangingPunct="1">
              <a:defRPr/>
            </a:pPr>
            <a:r>
              <a:rPr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rPr>
              <a:t>仲裁号</a:t>
            </a:r>
            <a:endParaRPr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latin typeface="宋体" panose="02010600030101010101" pitchFamily="2" charset="-122"/>
              </a:rPr>
              <a:t>分布式仲裁示意图</a:t>
            </a:r>
            <a:endParaRPr lang="zh-CN" altLang="en-US"/>
          </a:p>
        </p:txBody>
      </p:sp>
      <p:sp>
        <p:nvSpPr>
          <p:cNvPr id="65539" name="内容占位符 2"/>
          <p:cNvSpPr>
            <a:spLocks noGrp="1" noChangeArrowheads="1"/>
          </p:cNvSpPr>
          <p:nvPr>
            <p:ph idx="1"/>
          </p:nvPr>
        </p:nvSpPr>
        <p:spPr/>
        <p:txBody>
          <a:bodyPr/>
          <a:lstStyle/>
          <a:p>
            <a:pPr marL="0" indent="0">
              <a:buFont typeface="Wingdings 2" charset="2"/>
              <a:buNone/>
            </a:pPr>
            <a:r>
              <a:rPr lang="zh-CN" altLang="en-US" sz="2400"/>
              <a:t>当某设备需要使用总线时，将它的仲裁号发到仲裁总线上，各设备通过仲裁总线相互比较其仲裁号的大小，若某设备的仲裁号</a:t>
            </a:r>
            <a:r>
              <a:rPr lang="en-US" altLang="zh-CN" sz="2400"/>
              <a:t>CN</a:t>
            </a:r>
            <a:r>
              <a:rPr lang="zh-CN" altLang="en-US" sz="2400"/>
              <a:t>值最大，则获得总线使用权。</a:t>
            </a:r>
            <a:endParaRPr lang="zh-CN" altLang="en-US" sz="2400"/>
          </a:p>
        </p:txBody>
      </p:sp>
      <p:sp>
        <p:nvSpPr>
          <p:cNvPr id="65540" name="页脚占位符 3"/>
          <p:cNvSpPr>
            <a:spLocks noGrp="1"/>
          </p:cNvSpPr>
          <p:nvPr>
            <p:ph type="ftr" sz="quarter" idx="4294967295"/>
          </p:nvPr>
        </p:nvSpPr>
        <p:spPr bwMode="auto">
          <a:xfrm>
            <a:off x="2714625" y="6340475"/>
            <a:ext cx="3662363" cy="365125"/>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lang="zh-CN" altLang="en-US" sz="1600">
                <a:solidFill>
                  <a:srgbClr val="0099FF"/>
                </a:solidFill>
                <a:latin typeface="楷体_GB2312" pitchFamily="49" charset="-122"/>
              </a:rPr>
              <a:t>计算机学院体系结构中心</a:t>
            </a:r>
            <a:endParaRPr lang="zh-CN" altLang="en-US" sz="1600">
              <a:solidFill>
                <a:srgbClr val="0099FF"/>
              </a:solidFill>
              <a:latin typeface="楷体_GB2312" pitchFamily="49" charset="-122"/>
            </a:endParaRPr>
          </a:p>
        </p:txBody>
      </p:sp>
      <p:pic>
        <p:nvPicPr>
          <p:cNvPr id="65541" name="Picture 4" descr="6a11">
            <a:hlinkClick r:id="rId1" action="ppaction://hlinkfil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625" y="2286000"/>
            <a:ext cx="821055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2" name="矩形 2"/>
          <p:cNvSpPr>
            <a:spLocks noChangeArrowheads="1"/>
          </p:cNvSpPr>
          <p:nvPr/>
        </p:nvSpPr>
        <p:spPr bwMode="auto">
          <a:xfrm>
            <a:off x="1042988" y="3429000"/>
            <a:ext cx="3744912" cy="1944687"/>
          </a:xfrm>
          <a:prstGeom prst="rect">
            <a:avLst/>
          </a:prstGeom>
          <a:noFill/>
          <a:ln w="25400" algn="ctr">
            <a:solidFill>
              <a:srgbClr val="0000CC"/>
            </a:solidFill>
            <a:prstDash val="lgDashDot"/>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5543" name="矩形 6"/>
          <p:cNvSpPr>
            <a:spLocks noChangeArrowheads="1"/>
          </p:cNvSpPr>
          <p:nvPr/>
        </p:nvSpPr>
        <p:spPr bwMode="auto">
          <a:xfrm>
            <a:off x="5003800" y="3429000"/>
            <a:ext cx="3455988" cy="1943100"/>
          </a:xfrm>
          <a:prstGeom prst="rect">
            <a:avLst/>
          </a:prstGeom>
          <a:noFill/>
          <a:ln w="25400" algn="ctr">
            <a:solidFill>
              <a:srgbClr val="0000CC"/>
            </a:solidFill>
            <a:prstDash val="lgDashDot"/>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5544" name="TextBox 3"/>
          <p:cNvSpPr txBox="1">
            <a:spLocks noChangeArrowheads="1"/>
          </p:cNvSpPr>
          <p:nvPr/>
        </p:nvSpPr>
        <p:spPr bwMode="auto">
          <a:xfrm>
            <a:off x="1195388" y="5878513"/>
            <a:ext cx="30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1</a:t>
            </a:r>
            <a:endParaRPr lang="zh-CN" altLang="en-US" sz="1800" b="0">
              <a:solidFill>
                <a:srgbClr val="FF0000"/>
              </a:solidFill>
              <a:ea typeface="黑体" panose="02010609060101010101" pitchFamily="49" charset="-122"/>
            </a:endParaRPr>
          </a:p>
        </p:txBody>
      </p:sp>
      <p:sp>
        <p:nvSpPr>
          <p:cNvPr id="65545" name="TextBox 8"/>
          <p:cNvSpPr txBox="1">
            <a:spLocks noChangeArrowheads="1"/>
          </p:cNvSpPr>
          <p:nvPr/>
        </p:nvSpPr>
        <p:spPr bwMode="auto">
          <a:xfrm>
            <a:off x="3779838" y="5868988"/>
            <a:ext cx="30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1</a:t>
            </a:r>
            <a:endParaRPr lang="zh-CN" altLang="en-US" sz="1800" b="0">
              <a:solidFill>
                <a:srgbClr val="FF0000"/>
              </a:solidFill>
              <a:ea typeface="黑体" panose="02010609060101010101" pitchFamily="49" charset="-122"/>
            </a:endParaRPr>
          </a:p>
        </p:txBody>
      </p:sp>
      <p:sp>
        <p:nvSpPr>
          <p:cNvPr id="65546" name="TextBox 9"/>
          <p:cNvSpPr txBox="1">
            <a:spLocks noChangeArrowheads="1"/>
          </p:cNvSpPr>
          <p:nvPr/>
        </p:nvSpPr>
        <p:spPr bwMode="auto">
          <a:xfrm>
            <a:off x="2411413" y="5878513"/>
            <a:ext cx="3000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1</a:t>
            </a:r>
            <a:endParaRPr lang="zh-CN" altLang="en-US" sz="1800" b="0">
              <a:solidFill>
                <a:srgbClr val="FF0000"/>
              </a:solidFill>
              <a:ea typeface="黑体" panose="02010609060101010101" pitchFamily="49" charset="-122"/>
            </a:endParaRPr>
          </a:p>
        </p:txBody>
      </p:sp>
      <p:sp>
        <p:nvSpPr>
          <p:cNvPr id="11" name="TextBox 10"/>
          <p:cNvSpPr txBox="1">
            <a:spLocks noChangeArrowheads="1"/>
          </p:cNvSpPr>
          <p:nvPr/>
        </p:nvSpPr>
        <p:spPr bwMode="auto">
          <a:xfrm>
            <a:off x="6372225" y="5868988"/>
            <a:ext cx="300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0</a:t>
            </a:r>
            <a:endParaRPr lang="zh-CN" altLang="en-US" sz="1800" b="0">
              <a:solidFill>
                <a:srgbClr val="FF0000"/>
              </a:solidFill>
              <a:ea typeface="黑体" panose="02010609060101010101" pitchFamily="49" charset="-122"/>
            </a:endParaRPr>
          </a:p>
        </p:txBody>
      </p:sp>
      <p:sp>
        <p:nvSpPr>
          <p:cNvPr id="12" name="TextBox 11"/>
          <p:cNvSpPr txBox="1">
            <a:spLocks noChangeArrowheads="1"/>
          </p:cNvSpPr>
          <p:nvPr/>
        </p:nvSpPr>
        <p:spPr bwMode="auto">
          <a:xfrm>
            <a:off x="7524750" y="5878513"/>
            <a:ext cx="30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1</a:t>
            </a:r>
            <a:endParaRPr lang="zh-CN" altLang="en-US" sz="1800" b="0">
              <a:solidFill>
                <a:srgbClr val="FF0000"/>
              </a:solidFill>
              <a:ea typeface="黑体" panose="02010609060101010101" pitchFamily="49" charset="-122"/>
            </a:endParaRPr>
          </a:p>
        </p:txBody>
      </p:sp>
      <p:sp>
        <p:nvSpPr>
          <p:cNvPr id="13" name="TextBox 12"/>
          <p:cNvSpPr txBox="1">
            <a:spLocks noChangeArrowheads="1"/>
          </p:cNvSpPr>
          <p:nvPr/>
        </p:nvSpPr>
        <p:spPr bwMode="auto">
          <a:xfrm>
            <a:off x="5148263" y="5868988"/>
            <a:ext cx="30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1</a:t>
            </a:r>
            <a:endParaRPr lang="zh-CN" altLang="en-US" sz="1800" b="0">
              <a:solidFill>
                <a:srgbClr val="FF0000"/>
              </a:solidFill>
              <a:ea typeface="黑体" panose="02010609060101010101" pitchFamily="49" charset="-122"/>
            </a:endParaRPr>
          </a:p>
        </p:txBody>
      </p:sp>
      <p:sp>
        <p:nvSpPr>
          <p:cNvPr id="50190" name="TextBox 13"/>
          <p:cNvSpPr txBox="1">
            <a:spLocks noChangeArrowheads="1"/>
          </p:cNvSpPr>
          <p:nvPr/>
        </p:nvSpPr>
        <p:spPr bwMode="auto">
          <a:xfrm>
            <a:off x="1247775" y="2286000"/>
            <a:ext cx="30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0</a:t>
            </a:r>
            <a:endParaRPr lang="zh-CN" altLang="en-US" sz="1800" b="0">
              <a:solidFill>
                <a:srgbClr val="FF0000"/>
              </a:solidFill>
              <a:ea typeface="黑体" panose="02010609060101010101" pitchFamily="49" charset="-122"/>
            </a:endParaRPr>
          </a:p>
        </p:txBody>
      </p:sp>
      <p:sp>
        <p:nvSpPr>
          <p:cNvPr id="50191" name="TextBox 16"/>
          <p:cNvSpPr txBox="1">
            <a:spLocks noChangeArrowheads="1"/>
          </p:cNvSpPr>
          <p:nvPr/>
        </p:nvSpPr>
        <p:spPr bwMode="auto">
          <a:xfrm>
            <a:off x="1249363" y="2511425"/>
            <a:ext cx="3000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0</a:t>
            </a:r>
            <a:endParaRPr lang="zh-CN" altLang="en-US" sz="1800" b="0">
              <a:solidFill>
                <a:srgbClr val="FF0000"/>
              </a:solidFill>
              <a:ea typeface="黑体" panose="02010609060101010101" pitchFamily="49" charset="-122"/>
            </a:endParaRPr>
          </a:p>
        </p:txBody>
      </p:sp>
      <p:sp>
        <p:nvSpPr>
          <p:cNvPr id="50192" name="TextBox 17"/>
          <p:cNvSpPr txBox="1">
            <a:spLocks noChangeArrowheads="1"/>
          </p:cNvSpPr>
          <p:nvPr/>
        </p:nvSpPr>
        <p:spPr bwMode="auto">
          <a:xfrm>
            <a:off x="1255575" y="3005513"/>
            <a:ext cx="30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dirty="0">
                <a:solidFill>
                  <a:srgbClr val="FF0000"/>
                </a:solidFill>
                <a:ea typeface="黑体" panose="02010609060101010101" pitchFamily="49" charset="-122"/>
              </a:rPr>
              <a:t>0</a:t>
            </a:r>
            <a:endParaRPr lang="zh-CN" altLang="en-US" sz="1800" b="0" dirty="0">
              <a:solidFill>
                <a:srgbClr val="FF0000"/>
              </a:solidFill>
              <a:ea typeface="黑体" panose="02010609060101010101" pitchFamily="49" charset="-122"/>
            </a:endParaRPr>
          </a:p>
        </p:txBody>
      </p:sp>
      <p:sp>
        <p:nvSpPr>
          <p:cNvPr id="65553" name="TextBox 18"/>
          <p:cNvSpPr txBox="1">
            <a:spLocks noChangeArrowheads="1"/>
          </p:cNvSpPr>
          <p:nvPr/>
        </p:nvSpPr>
        <p:spPr bwMode="auto">
          <a:xfrm>
            <a:off x="539750" y="5149850"/>
            <a:ext cx="300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1</a:t>
            </a:r>
            <a:endParaRPr lang="zh-CN" altLang="en-US" sz="1800" b="0">
              <a:solidFill>
                <a:srgbClr val="FF0000"/>
              </a:solidFill>
              <a:ea typeface="黑体" panose="02010609060101010101" pitchFamily="49" charset="-122"/>
            </a:endParaRPr>
          </a:p>
        </p:txBody>
      </p:sp>
      <p:sp>
        <p:nvSpPr>
          <p:cNvPr id="50196" name="TextBox 2"/>
          <p:cNvSpPr txBox="1">
            <a:spLocks noChangeArrowheads="1"/>
          </p:cNvSpPr>
          <p:nvPr/>
        </p:nvSpPr>
        <p:spPr bwMode="auto">
          <a:xfrm>
            <a:off x="3659188" y="2305050"/>
            <a:ext cx="9032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400" b="0">
                <a:solidFill>
                  <a:srgbClr val="FF0000"/>
                </a:solidFill>
                <a:ea typeface="黑体" panose="02010609060101010101" pitchFamily="49" charset="-122"/>
              </a:rPr>
              <a:t>00100000</a:t>
            </a:r>
            <a:endParaRPr lang="zh-CN" altLang="en-US" sz="1400" b="0">
              <a:solidFill>
                <a:srgbClr val="FF0000"/>
              </a:solidFill>
              <a:ea typeface="黑体" panose="02010609060101010101" pitchFamily="49" charset="-122"/>
            </a:endParaRPr>
          </a:p>
        </p:txBody>
      </p:sp>
      <p:sp>
        <p:nvSpPr>
          <p:cNvPr id="65555" name="TextBox 2"/>
          <p:cNvSpPr txBox="1">
            <a:spLocks noChangeArrowheads="1"/>
          </p:cNvSpPr>
          <p:nvPr/>
        </p:nvSpPr>
        <p:spPr bwMode="auto">
          <a:xfrm>
            <a:off x="2722563" y="6364287"/>
            <a:ext cx="869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400" b="0">
                <a:solidFill>
                  <a:srgbClr val="FF0000"/>
                </a:solidFill>
                <a:ea typeface="黑体" panose="02010609060101010101" pitchFamily="49" charset="-122"/>
              </a:rPr>
              <a:t>11011111</a:t>
            </a:r>
            <a:endParaRPr lang="zh-CN" altLang="en-US" sz="1400" b="0">
              <a:solidFill>
                <a:srgbClr val="FF0000"/>
              </a:solidFill>
              <a:ea typeface="黑体" panose="02010609060101010101" pitchFamily="49" charset="-122"/>
            </a:endParaRPr>
          </a:p>
        </p:txBody>
      </p:sp>
      <p:sp>
        <p:nvSpPr>
          <p:cNvPr id="65556" name="TextBox 2"/>
          <p:cNvSpPr txBox="1">
            <a:spLocks noChangeArrowheads="1"/>
          </p:cNvSpPr>
          <p:nvPr/>
        </p:nvSpPr>
        <p:spPr bwMode="auto">
          <a:xfrm>
            <a:off x="5937250" y="6362700"/>
            <a:ext cx="869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400" b="0">
                <a:solidFill>
                  <a:srgbClr val="FF0000"/>
                </a:solidFill>
                <a:ea typeface="黑体" panose="02010609060101010101" pitchFamily="49" charset="-122"/>
              </a:rPr>
              <a:t>10111111</a:t>
            </a:r>
            <a:endParaRPr lang="zh-CN" altLang="en-US" sz="1400" b="0">
              <a:solidFill>
                <a:srgbClr val="FF0000"/>
              </a:solidFill>
              <a:ea typeface="黑体" panose="02010609060101010101" pitchFamily="49" charset="-122"/>
            </a:endParaRPr>
          </a:p>
        </p:txBody>
      </p:sp>
      <p:sp>
        <p:nvSpPr>
          <p:cNvPr id="24" name="TextBox 13"/>
          <p:cNvSpPr txBox="1">
            <a:spLocks noChangeArrowheads="1"/>
          </p:cNvSpPr>
          <p:nvPr/>
        </p:nvSpPr>
        <p:spPr bwMode="auto">
          <a:xfrm>
            <a:off x="1260102" y="2780088"/>
            <a:ext cx="30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dirty="0">
                <a:solidFill>
                  <a:srgbClr val="FF0000"/>
                </a:solidFill>
                <a:ea typeface="黑体" panose="02010609060101010101" pitchFamily="49" charset="-122"/>
              </a:rPr>
              <a:t>1</a:t>
            </a:r>
            <a:endParaRPr lang="zh-CN" altLang="en-US" sz="1800" b="0" dirty="0">
              <a:solidFill>
                <a:srgbClr val="FF0000"/>
              </a:solidFill>
              <a:ea typeface="黑体" panose="02010609060101010101" pitchFamily="49" charset="-122"/>
            </a:endParaRPr>
          </a:p>
        </p:txBody>
      </p:sp>
      <p:sp>
        <p:nvSpPr>
          <p:cNvPr id="25" name="TextBox 24"/>
          <p:cNvSpPr txBox="1">
            <a:spLocks noChangeArrowheads="1"/>
          </p:cNvSpPr>
          <p:nvPr/>
        </p:nvSpPr>
        <p:spPr bwMode="auto">
          <a:xfrm>
            <a:off x="6804025" y="4154487"/>
            <a:ext cx="300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u="sng">
                <a:solidFill>
                  <a:srgbClr val="FF0000"/>
                </a:solidFill>
                <a:ea typeface="黑体" panose="02010609060101010101" pitchFamily="49" charset="-122"/>
              </a:rPr>
              <a:t>0</a:t>
            </a:r>
            <a:endParaRPr lang="zh-CN" altLang="en-US" sz="1800" b="0" u="sng">
              <a:solidFill>
                <a:srgbClr val="FF0000"/>
              </a:solidFill>
              <a:ea typeface="黑体" panose="02010609060101010101" pitchFamily="49" charset="-122"/>
            </a:endParaRPr>
          </a:p>
        </p:txBody>
      </p:sp>
      <p:sp>
        <p:nvSpPr>
          <p:cNvPr id="26" name="TextBox 25"/>
          <p:cNvSpPr txBox="1">
            <a:spLocks noChangeArrowheads="1"/>
          </p:cNvSpPr>
          <p:nvPr/>
        </p:nvSpPr>
        <p:spPr bwMode="auto">
          <a:xfrm>
            <a:off x="5640388" y="4149725"/>
            <a:ext cx="30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0</a:t>
            </a:r>
            <a:endParaRPr lang="zh-CN" altLang="en-US" sz="1800" b="0">
              <a:solidFill>
                <a:srgbClr val="FF0000"/>
              </a:solidFill>
              <a:ea typeface="黑体" panose="02010609060101010101" pitchFamily="49" charset="-122"/>
            </a:endParaRPr>
          </a:p>
        </p:txBody>
      </p:sp>
      <p:sp>
        <p:nvSpPr>
          <p:cNvPr id="27" name="TextBox 26"/>
          <p:cNvSpPr txBox="1">
            <a:spLocks noChangeArrowheads="1"/>
          </p:cNvSpPr>
          <p:nvPr/>
        </p:nvSpPr>
        <p:spPr bwMode="auto">
          <a:xfrm>
            <a:off x="5508625" y="4765675"/>
            <a:ext cx="30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1</a:t>
            </a:r>
            <a:endParaRPr lang="zh-CN" altLang="en-US" sz="1800" b="0">
              <a:solidFill>
                <a:srgbClr val="FF0000"/>
              </a:solidFill>
              <a:ea typeface="黑体" panose="02010609060101010101" pitchFamily="49" charset="-122"/>
            </a:endParaRPr>
          </a:p>
        </p:txBody>
      </p:sp>
      <p:sp>
        <p:nvSpPr>
          <p:cNvPr id="28" name="TextBox 27"/>
          <p:cNvSpPr txBox="1">
            <a:spLocks noChangeArrowheads="1"/>
          </p:cNvSpPr>
          <p:nvPr/>
        </p:nvSpPr>
        <p:spPr bwMode="auto">
          <a:xfrm>
            <a:off x="6011863" y="4837112"/>
            <a:ext cx="30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1</a:t>
            </a:r>
            <a:endParaRPr lang="zh-CN" altLang="en-US" sz="1800" b="0">
              <a:solidFill>
                <a:srgbClr val="FF0000"/>
              </a:solidFill>
              <a:ea typeface="黑体" panose="02010609060101010101" pitchFamily="49" charset="-122"/>
            </a:endParaRPr>
          </a:p>
        </p:txBody>
      </p:sp>
      <p:sp>
        <p:nvSpPr>
          <p:cNvPr id="29" name="TextBox 28"/>
          <p:cNvSpPr txBox="1">
            <a:spLocks noChangeArrowheads="1"/>
          </p:cNvSpPr>
          <p:nvPr/>
        </p:nvSpPr>
        <p:spPr bwMode="auto">
          <a:xfrm>
            <a:off x="7164388" y="4829175"/>
            <a:ext cx="30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0</a:t>
            </a:r>
            <a:endParaRPr lang="zh-CN" altLang="en-US" sz="1800" b="0">
              <a:solidFill>
                <a:srgbClr val="FF0000"/>
              </a:solidFill>
              <a:ea typeface="黑体" panose="02010609060101010101" pitchFamily="49" charset="-122"/>
            </a:endParaRPr>
          </a:p>
        </p:txBody>
      </p:sp>
      <p:sp>
        <p:nvSpPr>
          <p:cNvPr id="30" name="TextBox 29"/>
          <p:cNvSpPr txBox="1">
            <a:spLocks noChangeArrowheads="1"/>
          </p:cNvSpPr>
          <p:nvPr/>
        </p:nvSpPr>
        <p:spPr bwMode="auto">
          <a:xfrm>
            <a:off x="1692275" y="4114800"/>
            <a:ext cx="300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0</a:t>
            </a:r>
            <a:endParaRPr lang="zh-CN" altLang="en-US" sz="1800" b="0">
              <a:solidFill>
                <a:srgbClr val="FF0000"/>
              </a:solidFill>
              <a:ea typeface="黑体" panose="02010609060101010101" pitchFamily="49" charset="-122"/>
            </a:endParaRPr>
          </a:p>
        </p:txBody>
      </p:sp>
      <p:sp>
        <p:nvSpPr>
          <p:cNvPr id="31" name="TextBox 3"/>
          <p:cNvSpPr txBox="1">
            <a:spLocks noChangeArrowheads="1"/>
          </p:cNvSpPr>
          <p:nvPr/>
        </p:nvSpPr>
        <p:spPr bwMode="auto">
          <a:xfrm>
            <a:off x="1647825" y="4657725"/>
            <a:ext cx="300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1</a:t>
            </a:r>
            <a:endParaRPr lang="zh-CN" altLang="en-US" sz="1800" b="0">
              <a:solidFill>
                <a:srgbClr val="FF0000"/>
              </a:solidFill>
              <a:ea typeface="黑体" panose="02010609060101010101" pitchFamily="49" charset="-122"/>
            </a:endParaRPr>
          </a:p>
        </p:txBody>
      </p:sp>
      <p:sp>
        <p:nvSpPr>
          <p:cNvPr id="32" name="TextBox 31"/>
          <p:cNvSpPr txBox="1">
            <a:spLocks noChangeArrowheads="1"/>
          </p:cNvSpPr>
          <p:nvPr/>
        </p:nvSpPr>
        <p:spPr bwMode="auto">
          <a:xfrm>
            <a:off x="2916238" y="4124325"/>
            <a:ext cx="30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0</a:t>
            </a:r>
            <a:endParaRPr lang="zh-CN" altLang="en-US" sz="1800" b="0">
              <a:solidFill>
                <a:srgbClr val="FF0000"/>
              </a:solidFill>
              <a:ea typeface="黑体" panose="02010609060101010101" pitchFamily="49" charset="-122"/>
            </a:endParaRPr>
          </a:p>
        </p:txBody>
      </p:sp>
      <p:sp>
        <p:nvSpPr>
          <p:cNvPr id="33" name="TextBox 3"/>
          <p:cNvSpPr txBox="1">
            <a:spLocks noChangeArrowheads="1"/>
          </p:cNvSpPr>
          <p:nvPr/>
        </p:nvSpPr>
        <p:spPr bwMode="auto">
          <a:xfrm>
            <a:off x="2903538" y="4665662"/>
            <a:ext cx="30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1</a:t>
            </a:r>
            <a:endParaRPr lang="zh-CN" altLang="en-US" sz="1800" b="0">
              <a:solidFill>
                <a:srgbClr val="FF0000"/>
              </a:solidFill>
              <a:ea typeface="黑体" panose="02010609060101010101" pitchFamily="49" charset="-122"/>
            </a:endParaRPr>
          </a:p>
        </p:txBody>
      </p:sp>
      <p:sp>
        <p:nvSpPr>
          <p:cNvPr id="34" name="TextBox 3"/>
          <p:cNvSpPr txBox="1">
            <a:spLocks noChangeArrowheads="1"/>
          </p:cNvSpPr>
          <p:nvPr/>
        </p:nvSpPr>
        <p:spPr bwMode="auto">
          <a:xfrm>
            <a:off x="3276600" y="4810125"/>
            <a:ext cx="300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1</a:t>
            </a:r>
            <a:endParaRPr lang="zh-CN" altLang="en-US" sz="1800" b="0">
              <a:solidFill>
                <a:srgbClr val="FF0000"/>
              </a:solidFill>
              <a:ea typeface="黑体" panose="02010609060101010101" pitchFamily="49" charset="-122"/>
            </a:endParaRPr>
          </a:p>
        </p:txBody>
      </p:sp>
      <p:sp>
        <p:nvSpPr>
          <p:cNvPr id="65568" name="文本框 2"/>
          <p:cNvSpPr txBox="1">
            <a:spLocks noChangeArrowheads="1"/>
          </p:cNvSpPr>
          <p:nvPr/>
        </p:nvSpPr>
        <p:spPr bwMode="auto">
          <a:xfrm>
            <a:off x="6416675" y="1936750"/>
            <a:ext cx="1114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1800" b="1" dirty="0">
                <a:solidFill>
                  <a:srgbClr val="C00000"/>
                </a:solidFill>
                <a:latin typeface="楷体" panose="02010609060101010101" pitchFamily="49" charset="-122"/>
                <a:ea typeface="楷体" panose="02010609060101010101" pitchFamily="49" charset="-122"/>
              </a:rPr>
              <a:t>“线与”</a:t>
            </a:r>
            <a:endParaRPr lang="zh-CN" altLang="en-US" sz="1800" b="1" dirty="0">
              <a:solidFill>
                <a:srgbClr val="C00000"/>
              </a:solidFill>
              <a:latin typeface="楷体" panose="02010609060101010101" pitchFamily="49" charset="-122"/>
              <a:ea typeface="楷体" panose="02010609060101010101" pitchFamily="49" charset="-122"/>
            </a:endParaRPr>
          </a:p>
        </p:txBody>
      </p:sp>
      <p:cxnSp>
        <p:nvCxnSpPr>
          <p:cNvPr id="65569" name="直接箭头连接符 4"/>
          <p:cNvCxnSpPr>
            <a:cxnSpLocks noChangeShapeType="1"/>
          </p:cNvCxnSpPr>
          <p:nvPr/>
        </p:nvCxnSpPr>
        <p:spPr bwMode="auto">
          <a:xfrm flipH="1">
            <a:off x="6804025" y="2278063"/>
            <a:ext cx="98425" cy="236537"/>
          </a:xfrm>
          <a:prstGeom prst="straightConnector1">
            <a:avLst/>
          </a:prstGeom>
          <a:noFill/>
          <a:ln w="19050" algn="ctr">
            <a:solidFill>
              <a:srgbClr val="C00000"/>
            </a:solidFill>
            <a:miter lim="800000"/>
            <a:tailEnd type="triangle" w="med" len="med"/>
          </a:ln>
          <a:extLst>
            <a:ext uri="{909E8E84-426E-40DD-AFC4-6F175D3DCCD1}">
              <a14:hiddenFill xmlns:a14="http://schemas.microsoft.com/office/drawing/2010/main">
                <a:noFill/>
              </a14:hiddenFill>
            </a:ext>
          </a:extLst>
        </p:spPr>
      </p:cxnSp>
      <p:sp>
        <p:nvSpPr>
          <p:cNvPr id="36" name="TextBox 3"/>
          <p:cNvSpPr txBox="1">
            <a:spLocks noChangeArrowheads="1"/>
          </p:cNvSpPr>
          <p:nvPr/>
        </p:nvSpPr>
        <p:spPr bwMode="auto">
          <a:xfrm>
            <a:off x="2100263" y="4795837"/>
            <a:ext cx="30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solidFill>
                  <a:srgbClr val="FF0000"/>
                </a:solidFill>
                <a:ea typeface="黑体" panose="02010609060101010101" pitchFamily="49" charset="-122"/>
              </a:rPr>
              <a:t>1</a:t>
            </a:r>
            <a:endParaRPr lang="zh-CN" altLang="en-US" sz="1800" b="0">
              <a:solidFill>
                <a:srgbClr val="FF0000"/>
              </a:solidFill>
              <a:ea typeface="黑体" panose="02010609060101010101" pitchFamily="49" charset="-122"/>
            </a:endParaRPr>
          </a:p>
        </p:txBody>
      </p:sp>
      <p:cxnSp>
        <p:nvCxnSpPr>
          <p:cNvPr id="65571" name="直接箭头连接符 36"/>
          <p:cNvCxnSpPr>
            <a:cxnSpLocks noChangeShapeType="1"/>
            <a:endCxn id="25" idx="3"/>
          </p:cNvCxnSpPr>
          <p:nvPr/>
        </p:nvCxnSpPr>
        <p:spPr bwMode="auto">
          <a:xfrm flipH="1">
            <a:off x="7104063" y="4213225"/>
            <a:ext cx="131762" cy="125412"/>
          </a:xfrm>
          <a:prstGeom prst="straightConnector1">
            <a:avLst/>
          </a:prstGeom>
          <a:noFill/>
          <a:ln w="19050" algn="ctr">
            <a:solidFill>
              <a:srgbClr val="FF0000"/>
            </a:solidFill>
            <a:miter lim="800000"/>
            <a:tailEnd type="triangle" w="med" len="med"/>
          </a:ln>
          <a:extLst>
            <a:ext uri="{909E8E84-426E-40DD-AFC4-6F175D3DCCD1}">
              <a14:hiddenFill xmlns:a14="http://schemas.microsoft.com/office/drawing/2010/main">
                <a:noFill/>
              </a14:hiddenFill>
            </a:ext>
          </a:extLst>
        </p:spPr>
      </p:cxnSp>
      <p:sp>
        <p:nvSpPr>
          <p:cNvPr id="65572" name="TextBox 2"/>
          <p:cNvSpPr txBox="1">
            <a:spLocks noChangeArrowheads="1"/>
          </p:cNvSpPr>
          <p:nvPr/>
        </p:nvSpPr>
        <p:spPr bwMode="auto">
          <a:xfrm>
            <a:off x="3881438" y="6470650"/>
            <a:ext cx="1903412" cy="307975"/>
          </a:xfrm>
          <a:prstGeom prst="rect">
            <a:avLst/>
          </a:prstGeom>
          <a:noFill/>
          <a:ln w="12700">
            <a:solidFill>
              <a:srgbClr val="00B0F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400"/>
              <a:t>W0=1</a:t>
            </a:r>
            <a:r>
              <a:rPr lang="zh-CN" altLang="en-US" sz="1400"/>
              <a:t>表示申请到总线</a:t>
            </a:r>
            <a:endParaRPr lang="zh-CN" altLang="en-US" sz="1400" b="0">
              <a:solidFill>
                <a:srgbClr val="FF0000"/>
              </a:solidFill>
              <a:ea typeface="黑体" panose="02010609060101010101" pitchFamily="49" charset="-122"/>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1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019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019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019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50190" grpId="0"/>
      <p:bldP spid="50191" grpId="0"/>
      <p:bldP spid="50192" grpId="0"/>
      <p:bldP spid="50196" grpId="0"/>
      <p:bldP spid="24" grpId="0"/>
      <p:bldP spid="25" grpId="0"/>
      <p:bldP spid="26" grpId="0"/>
      <p:bldP spid="27" grpId="0"/>
      <p:bldP spid="28" grpId="0"/>
      <p:bldP spid="29" grpId="0"/>
      <p:bldP spid="30" grpId="0"/>
      <p:bldP spid="31" grpId="0"/>
      <p:bldP spid="32" grpId="0"/>
      <p:bldP spid="33" grpId="0"/>
      <p:bldP spid="34" grpId="0"/>
      <p:bldP spid="3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t>说明</a:t>
            </a:r>
            <a:endParaRPr lang="zh-CN" altLang="en-US"/>
          </a:p>
        </p:txBody>
      </p:sp>
      <p:sp>
        <p:nvSpPr>
          <p:cNvPr id="67587" name="内容占位符 2"/>
          <p:cNvSpPr>
            <a:spLocks noGrp="1" noChangeArrowheads="1"/>
          </p:cNvSpPr>
          <p:nvPr>
            <p:ph idx="1"/>
          </p:nvPr>
        </p:nvSpPr>
        <p:spPr/>
        <p:txBody>
          <a:bodyPr/>
          <a:lstStyle/>
          <a:p>
            <a:r>
              <a:rPr lang="zh-CN" altLang="en-US" sz="2400" dirty="0"/>
              <a:t>各设备</a:t>
            </a:r>
            <a:r>
              <a:rPr lang="en-US" altLang="zh-CN" sz="2400" dirty="0" err="1"/>
              <a:t>CNi</a:t>
            </a:r>
            <a:r>
              <a:rPr lang="zh-CN" altLang="en-US" sz="2400" dirty="0"/>
              <a:t>取反后输出到仲裁总线</a:t>
            </a:r>
            <a:r>
              <a:rPr lang="en-US" altLang="zh-CN" sz="2400" dirty="0" err="1"/>
              <a:t>ABi</a:t>
            </a:r>
            <a:r>
              <a:rPr lang="zh-CN" altLang="en-US" sz="2400" dirty="0"/>
              <a:t>上，利用“</a:t>
            </a:r>
            <a:r>
              <a:rPr lang="zh-CN" altLang="en-US" sz="2400" dirty="0">
                <a:solidFill>
                  <a:srgbClr val="C00000"/>
                </a:solidFill>
              </a:rPr>
              <a:t>线与</a:t>
            </a:r>
            <a:r>
              <a:rPr lang="zh-CN" altLang="en-US" sz="2400" dirty="0"/>
              <a:t>”逻辑实现各</a:t>
            </a:r>
            <a:r>
              <a:rPr lang="en-US" altLang="zh-CN" sz="2400" dirty="0" err="1"/>
              <a:t>CNi</a:t>
            </a:r>
            <a:r>
              <a:rPr lang="zh-CN" altLang="en-US" sz="2400" dirty="0"/>
              <a:t>的比较。若</a:t>
            </a:r>
            <a:r>
              <a:rPr lang="en-US" altLang="zh-CN" sz="2400" dirty="0" err="1"/>
              <a:t>ABi</a:t>
            </a:r>
            <a:r>
              <a:rPr lang="zh-CN" altLang="en-US" sz="2400" dirty="0"/>
              <a:t>线为低电平，则表示至少有一个主设备的</a:t>
            </a:r>
            <a:r>
              <a:rPr lang="en-US" altLang="zh-CN" sz="2400" dirty="0" err="1"/>
              <a:t>CNi</a:t>
            </a:r>
            <a:r>
              <a:rPr lang="zh-CN" altLang="en-US" sz="2400" dirty="0"/>
              <a:t>为</a:t>
            </a:r>
            <a:r>
              <a:rPr lang="en-US" altLang="zh-CN" sz="2400" dirty="0"/>
              <a:t>1</a:t>
            </a:r>
            <a:r>
              <a:rPr lang="zh-CN" altLang="en-US" sz="2400" dirty="0"/>
              <a:t>；若</a:t>
            </a:r>
            <a:r>
              <a:rPr lang="en-US" altLang="zh-CN" sz="2400" dirty="0" err="1"/>
              <a:t>ABi</a:t>
            </a:r>
            <a:r>
              <a:rPr lang="zh-CN" altLang="en-US" sz="2400" dirty="0"/>
              <a:t>线为高电平，则表示</a:t>
            </a:r>
            <a:r>
              <a:rPr lang="zh-CN" altLang="en-US" sz="2400" dirty="0">
                <a:solidFill>
                  <a:srgbClr val="C00000"/>
                </a:solidFill>
              </a:rPr>
              <a:t>所有</a:t>
            </a:r>
            <a:r>
              <a:rPr lang="zh-CN" altLang="en-US" sz="2400" dirty="0"/>
              <a:t>主设备的</a:t>
            </a:r>
            <a:r>
              <a:rPr lang="en-US" altLang="zh-CN" sz="2400" dirty="0" err="1"/>
              <a:t>CNi</a:t>
            </a:r>
            <a:r>
              <a:rPr lang="zh-CN" altLang="en-US" sz="2400" dirty="0"/>
              <a:t>为</a:t>
            </a:r>
            <a:r>
              <a:rPr lang="en-US" altLang="zh-CN" sz="2400" dirty="0"/>
              <a:t>0</a:t>
            </a:r>
            <a:r>
              <a:rPr lang="zh-CN" altLang="en-US" sz="2400" dirty="0"/>
              <a:t>。</a:t>
            </a:r>
            <a:endParaRPr lang="zh-CN" altLang="en-US" sz="2400" dirty="0"/>
          </a:p>
          <a:p>
            <a:r>
              <a:rPr lang="zh-CN" altLang="en-US" sz="2400" dirty="0"/>
              <a:t>欲申请占用总线的各设备向仲裁总线</a:t>
            </a:r>
            <a:r>
              <a:rPr lang="en-US" altLang="zh-CN" sz="2400" dirty="0"/>
              <a:t>AB</a:t>
            </a:r>
            <a:r>
              <a:rPr lang="zh-CN" altLang="en-US" sz="2400" dirty="0"/>
              <a:t>发出自己的</a:t>
            </a:r>
            <a:r>
              <a:rPr lang="en-US" altLang="zh-CN" sz="2400" dirty="0"/>
              <a:t>CN</a:t>
            </a:r>
            <a:r>
              <a:rPr lang="zh-CN" altLang="en-US" sz="2400" dirty="0"/>
              <a:t>值，各设备的对应位</a:t>
            </a:r>
            <a:r>
              <a:rPr lang="en-US" altLang="zh-CN" sz="2400" dirty="0" err="1"/>
              <a:t>ABi</a:t>
            </a:r>
            <a:r>
              <a:rPr lang="zh-CN" altLang="en-US" sz="2400" dirty="0"/>
              <a:t>分别从高到低依次进行比较，当更高位竞争结果</a:t>
            </a:r>
            <a:r>
              <a:rPr lang="en-US" altLang="zh-CN" sz="2400" dirty="0"/>
              <a:t>W</a:t>
            </a:r>
            <a:r>
              <a:rPr lang="en-US" altLang="zh-CN" sz="2400" baseline="-25000" dirty="0"/>
              <a:t>i+1</a:t>
            </a:r>
            <a:r>
              <a:rPr lang="zh-CN" altLang="en-US" sz="2400" dirty="0"/>
              <a:t>为</a:t>
            </a:r>
            <a:r>
              <a:rPr lang="en-US" altLang="zh-CN" sz="2400" dirty="0"/>
              <a:t>1</a:t>
            </a:r>
            <a:r>
              <a:rPr lang="zh-CN" altLang="en-US" sz="2400" dirty="0"/>
              <a:t>且</a:t>
            </a:r>
            <a:r>
              <a:rPr lang="en-US" altLang="zh-CN" sz="2400" dirty="0" err="1"/>
              <a:t>ABi</a:t>
            </a:r>
            <a:r>
              <a:rPr lang="zh-CN" altLang="en-US" sz="2400" dirty="0"/>
              <a:t>为高电平时（此时</a:t>
            </a:r>
            <a:r>
              <a:rPr lang="en-US" altLang="zh-CN" sz="2400" dirty="0" err="1"/>
              <a:t>CNi</a:t>
            </a:r>
            <a:r>
              <a:rPr lang="en-US" altLang="zh-CN" sz="2400" dirty="0"/>
              <a:t>=1</a:t>
            </a:r>
            <a:r>
              <a:rPr lang="zh-CN" altLang="en-US" sz="2400" dirty="0"/>
              <a:t>或</a:t>
            </a:r>
            <a:r>
              <a:rPr lang="en-US" altLang="zh-CN" sz="2400" dirty="0"/>
              <a:t>0</a:t>
            </a:r>
            <a:r>
              <a:rPr lang="zh-CN" altLang="en-US" sz="2400" dirty="0"/>
              <a:t>），则使</a:t>
            </a:r>
            <a:r>
              <a:rPr lang="en-US" altLang="zh-CN" sz="2400" dirty="0"/>
              <a:t>Wi=1</a:t>
            </a:r>
            <a:r>
              <a:rPr lang="zh-CN" altLang="en-US" sz="2400" dirty="0"/>
              <a:t>；当更高位竞争结果</a:t>
            </a:r>
            <a:r>
              <a:rPr lang="en-US" altLang="zh-CN" sz="2400" dirty="0"/>
              <a:t>W</a:t>
            </a:r>
            <a:r>
              <a:rPr lang="en-US" altLang="zh-CN" sz="2400" baseline="-25000" dirty="0"/>
              <a:t>i+1</a:t>
            </a:r>
            <a:r>
              <a:rPr lang="zh-CN" altLang="en-US" sz="2400" dirty="0"/>
              <a:t>为</a:t>
            </a:r>
            <a:r>
              <a:rPr lang="en-US" altLang="zh-CN" sz="2400" dirty="0"/>
              <a:t>1</a:t>
            </a:r>
            <a:r>
              <a:rPr lang="zh-CN" altLang="en-US" sz="2400" dirty="0"/>
              <a:t>且</a:t>
            </a:r>
            <a:r>
              <a:rPr lang="en-US" altLang="zh-CN" sz="2400" dirty="0" err="1"/>
              <a:t>ABi</a:t>
            </a:r>
            <a:r>
              <a:rPr lang="zh-CN" altLang="en-US" sz="2400" dirty="0"/>
              <a:t>为低电平、</a:t>
            </a:r>
            <a:r>
              <a:rPr lang="en-US" altLang="zh-CN" sz="2400" dirty="0" err="1"/>
              <a:t>CNi</a:t>
            </a:r>
            <a:r>
              <a:rPr lang="en-US" altLang="zh-CN" sz="2400" dirty="0"/>
              <a:t>=0</a:t>
            </a:r>
            <a:r>
              <a:rPr lang="zh-CN" altLang="en-US" sz="2400" dirty="0"/>
              <a:t>时，则使</a:t>
            </a:r>
            <a:r>
              <a:rPr lang="en-US" altLang="zh-CN" sz="2400" dirty="0"/>
              <a:t>Wi=0</a:t>
            </a:r>
            <a:r>
              <a:rPr lang="zh-CN" altLang="en-US" sz="2400" dirty="0"/>
              <a:t>。</a:t>
            </a:r>
            <a:r>
              <a:rPr lang="zh-CN" altLang="en-US" sz="2400" u="sng" dirty="0"/>
              <a:t>若</a:t>
            </a:r>
            <a:r>
              <a:rPr lang="en-US" altLang="zh-CN" sz="2400" u="sng" dirty="0"/>
              <a:t>Wi=0</a:t>
            </a:r>
            <a:r>
              <a:rPr lang="zh-CN" altLang="en-US" sz="2400" u="sng" dirty="0"/>
              <a:t>，则该低电平将一直向右传递，使其后面的低位不能使</a:t>
            </a:r>
            <a:r>
              <a:rPr lang="en-US" altLang="zh-CN" sz="2400" u="sng" dirty="0"/>
              <a:t>AB</a:t>
            </a:r>
            <a:r>
              <a:rPr lang="zh-CN" altLang="en-US" sz="2400" u="sng" dirty="0"/>
              <a:t>线的相应位为低电平</a:t>
            </a:r>
            <a:endParaRPr lang="en-US" altLang="zh-CN" sz="2400" u="sng" dirty="0"/>
          </a:p>
          <a:p>
            <a:r>
              <a:rPr lang="zh-CN" altLang="en-US" sz="2400" dirty="0"/>
              <a:t>若某设备的</a:t>
            </a:r>
            <a:r>
              <a:rPr lang="en-US" altLang="zh-CN" sz="2400" dirty="0"/>
              <a:t>W0=1 </a:t>
            </a:r>
            <a:r>
              <a:rPr lang="zh-CN" altLang="en-US" sz="2400" dirty="0"/>
              <a:t>，则表示该设备竞争到总线</a:t>
            </a:r>
            <a:endParaRPr lang="en-US" altLang="zh-CN" sz="2400" dirty="0"/>
          </a:p>
          <a:p>
            <a:r>
              <a:rPr lang="zh-CN" altLang="en-US" sz="2400" dirty="0"/>
              <a:t>竞争获胜者取反后的仲裁号被保留在仲裁线</a:t>
            </a:r>
            <a:r>
              <a:rPr lang="en-US" altLang="zh-CN" sz="2400" dirty="0"/>
              <a:t>AB</a:t>
            </a:r>
            <a:r>
              <a:rPr lang="zh-CN" altLang="en-US" sz="2400" dirty="0"/>
              <a:t>上。</a:t>
            </a:r>
            <a:endParaRPr lang="zh-CN" altLang="en-US" sz="2400" dirty="0"/>
          </a:p>
        </p:txBody>
      </p:sp>
    </p:spTree>
  </p:cSld>
  <p:clrMapOvr>
    <a:masterClrMapping/>
  </p:clrMapOvr>
  <p:transition spd="med">
    <p:pull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a:xfrm>
            <a:off x="838200" y="1295400"/>
            <a:ext cx="7924800" cy="812800"/>
          </a:xfrm>
        </p:spPr>
        <p:txBody>
          <a:bodyPr/>
          <a:lstStyle/>
          <a:p>
            <a:r>
              <a:rPr lang="en-US" altLang="zh-CN" sz="4800" dirty="0"/>
              <a:t>6.4 </a:t>
            </a:r>
            <a:r>
              <a:rPr lang="zh-CN" altLang="en-US" sz="4800" dirty="0"/>
              <a:t>总线定时和数据传送模式</a:t>
            </a:r>
            <a:endParaRPr lang="zh-CN" altLang="en-US"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p:txBody>
          <a:bodyPr/>
          <a:lstStyle/>
          <a:p>
            <a:pPr eaLnBrk="1" hangingPunct="1">
              <a:defRPr/>
            </a:pPr>
            <a:r>
              <a:rPr lang="zh-CN" altLang="en-US"/>
              <a:t>总线传输过程</a:t>
            </a:r>
            <a:endParaRPr lang="zh-CN" altLang="en-US"/>
          </a:p>
        </p:txBody>
      </p:sp>
      <p:sp>
        <p:nvSpPr>
          <p:cNvPr id="69636" name="Rectangle 3"/>
          <p:cNvSpPr>
            <a:spLocks noGrp="1" noChangeArrowheads="1"/>
          </p:cNvSpPr>
          <p:nvPr>
            <p:ph type="body" idx="1"/>
          </p:nvPr>
        </p:nvSpPr>
        <p:spPr/>
        <p:txBody>
          <a:bodyPr/>
          <a:lstStyle/>
          <a:p>
            <a:pPr marL="0" indent="0" eaLnBrk="1" hangingPunct="1">
              <a:buFont typeface="Wingdings 2" charset="2"/>
              <a:buNone/>
            </a:pPr>
            <a:r>
              <a:rPr lang="zh-CN" altLang="en-US" sz="2400" dirty="0"/>
              <a:t>总线上数据的传输是在主设备控制下进行的，主模块（</a:t>
            </a:r>
            <a:r>
              <a:rPr lang="en-US" altLang="zh-CN" sz="2400" dirty="0"/>
              <a:t>CPU</a:t>
            </a:r>
            <a:r>
              <a:rPr lang="zh-CN" altLang="en-US" sz="2400" dirty="0"/>
              <a:t>、</a:t>
            </a:r>
            <a:r>
              <a:rPr lang="en-US" altLang="zh-CN" sz="2400" dirty="0"/>
              <a:t>DMA</a:t>
            </a:r>
            <a:r>
              <a:rPr lang="zh-CN" altLang="en-US" sz="2400" dirty="0"/>
              <a:t>等）有控制总线的能力。总线完成一次数据传输分4个阶段</a:t>
            </a:r>
            <a:endParaRPr lang="zh-CN" altLang="en-US" sz="2400" dirty="0"/>
          </a:p>
          <a:p>
            <a:pPr marL="0" indent="0" eaLnBrk="1" hangingPunct="1"/>
            <a:r>
              <a:rPr lang="zh-CN" altLang="en-US" sz="2400" dirty="0"/>
              <a:t>申请阶段</a:t>
            </a:r>
            <a:endParaRPr lang="zh-CN" altLang="en-US" sz="2400" dirty="0"/>
          </a:p>
          <a:p>
            <a:pPr marL="0" indent="0" eaLnBrk="1" hangingPunct="1">
              <a:buFont typeface="Wingdings 2" charset="2"/>
              <a:buNone/>
            </a:pPr>
            <a:r>
              <a:rPr lang="zh-CN" altLang="en-US" sz="2400" dirty="0"/>
              <a:t>    欲使用总线的主模块提出申请，总线仲裁器确定把下一个传输周期的总线使用权指配给哪个模块</a:t>
            </a:r>
            <a:endParaRPr lang="zh-CN" altLang="en-US" sz="2400" dirty="0"/>
          </a:p>
          <a:p>
            <a:pPr marL="0" indent="0" eaLnBrk="1" hangingPunct="1"/>
            <a:r>
              <a:rPr lang="zh-CN" altLang="en-US" sz="2400" dirty="0"/>
              <a:t>寻址阶段</a:t>
            </a:r>
            <a:endParaRPr lang="zh-CN" altLang="en-US" sz="2400" dirty="0"/>
          </a:p>
          <a:p>
            <a:pPr marL="0" indent="0" eaLnBrk="1" hangingPunct="1">
              <a:buFont typeface="Wingdings 2" charset="2"/>
              <a:buNone/>
            </a:pPr>
            <a:r>
              <a:rPr lang="zh-CN" altLang="en-US" sz="2400" dirty="0"/>
              <a:t>    获得总线使用权的主模块发出存储器地址或</a:t>
            </a:r>
            <a:r>
              <a:rPr lang="en-US" altLang="zh-CN" sz="2400" dirty="0"/>
              <a:t>I/O</a:t>
            </a:r>
            <a:r>
              <a:rPr lang="zh-CN" altLang="en-US" sz="2400" dirty="0"/>
              <a:t>端口地址，使从模块启动</a:t>
            </a:r>
            <a:endParaRPr lang="en-US" altLang="zh-CN" sz="2400" dirty="0"/>
          </a:p>
          <a:p>
            <a:pPr marL="0" indent="0" eaLnBrk="1" hangingPunct="1"/>
            <a:r>
              <a:rPr lang="zh-CN" altLang="en-US" sz="2400" dirty="0"/>
              <a:t>传数阶段</a:t>
            </a:r>
            <a:endParaRPr lang="zh-CN" altLang="en-US" sz="2400" dirty="0"/>
          </a:p>
          <a:p>
            <a:pPr marL="0" indent="0" eaLnBrk="1" hangingPunct="1">
              <a:buFont typeface="Wingdings 2" charset="2"/>
              <a:buNone/>
            </a:pPr>
            <a:r>
              <a:rPr lang="zh-CN" altLang="en-US" sz="2400" dirty="0"/>
              <a:t>    主模块和从模块之间进行数据传输</a:t>
            </a:r>
            <a:endParaRPr lang="zh-CN" altLang="en-US" sz="2400" dirty="0"/>
          </a:p>
          <a:p>
            <a:pPr marL="0" indent="0" eaLnBrk="1" hangingPunct="1"/>
            <a:r>
              <a:rPr lang="zh-CN" altLang="en-US" sz="2400" dirty="0"/>
              <a:t>结束阶段</a:t>
            </a:r>
            <a:endParaRPr lang="zh-CN" altLang="en-US" sz="2400" dirty="0"/>
          </a:p>
          <a:p>
            <a:pPr marL="0" indent="0" eaLnBrk="1" hangingPunct="1">
              <a:buFont typeface="Wingdings 2" charset="2"/>
              <a:buNone/>
            </a:pPr>
            <a:r>
              <a:rPr lang="zh-CN" altLang="en-US" sz="2400" dirty="0"/>
              <a:t>    主从模块的有关信息均从系统总线上撤除，让出总线</a:t>
            </a:r>
            <a:endParaRPr lang="zh-CN" altLang="en-US" sz="2400" dirty="0"/>
          </a:p>
        </p:txBody>
      </p:sp>
    </p:spTree>
  </p:cSld>
  <p:clrMapOvr>
    <a:masterClrMapping/>
  </p:clrMapOvr>
  <p:transition spd="med">
    <p:pull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总线数据传送的两种方式</a:t>
            </a:r>
            <a:endParaRPr lang="zh-CN" altLang="en-US" dirty="0"/>
          </a:p>
        </p:txBody>
      </p:sp>
      <p:sp>
        <p:nvSpPr>
          <p:cNvPr id="70659" name="内容占位符 2"/>
          <p:cNvSpPr>
            <a:spLocks noGrp="1" noChangeArrowheads="1"/>
          </p:cNvSpPr>
          <p:nvPr>
            <p:ph idx="1"/>
          </p:nvPr>
        </p:nvSpPr>
        <p:spPr/>
        <p:txBody>
          <a:bodyPr/>
          <a:lstStyle/>
          <a:p>
            <a:r>
              <a:rPr lang="zh-CN" altLang="en-US" dirty="0"/>
              <a:t>同步方式：由统一时钟控制数据传送</a:t>
            </a:r>
            <a:endParaRPr lang="zh-CN" altLang="en-US" dirty="0"/>
          </a:p>
          <a:p>
            <a:r>
              <a:rPr lang="zh-CN" altLang="en-US" dirty="0"/>
              <a:t>异步方式：采用应答方式，没有公共时钟</a:t>
            </a:r>
            <a:endParaRPr lang="zh-CN" altLang="en-US" dirty="0"/>
          </a:p>
          <a:p>
            <a:pPr marL="0" indent="0">
              <a:buNone/>
            </a:pPr>
            <a:endParaRPr lang="zh-CN" altLang="en-US" dirty="0"/>
          </a:p>
          <a:p>
            <a:pPr>
              <a:buFont typeface="Wingdings 2" charset="2"/>
              <a:buNone/>
            </a:pPr>
            <a:endParaRPr lang="zh-CN" altLang="en-US" dirty="0"/>
          </a:p>
          <a:p>
            <a:endParaRPr lang="zh-CN" altLang="en-US" dirty="0"/>
          </a:p>
        </p:txBody>
      </p:sp>
    </p:spTree>
  </p:cSld>
  <p:clrMapOvr>
    <a:masterClrMapping/>
  </p:clrMapOvr>
  <p:transition spd="med">
    <p:pull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a:defRPr/>
            </a:pPr>
            <a:r>
              <a:rPr lang="zh-CN" altLang="en-US">
                <a:latin typeface="宋体" panose="02010600030101010101" pitchFamily="2" charset="-122"/>
              </a:rPr>
              <a:t>同步方式</a:t>
            </a:r>
            <a:endParaRPr lang="zh-CN" altLang="en-US"/>
          </a:p>
        </p:txBody>
      </p:sp>
      <p:sp>
        <p:nvSpPr>
          <p:cNvPr id="71683" name="Rectangle 3"/>
          <p:cNvSpPr>
            <a:spLocks noGrp="1" noChangeArrowheads="1"/>
          </p:cNvSpPr>
          <p:nvPr>
            <p:ph type="body" idx="1"/>
          </p:nvPr>
        </p:nvSpPr>
        <p:spPr/>
        <p:txBody>
          <a:bodyPr/>
          <a:lstStyle/>
          <a:p>
            <a:r>
              <a:rPr lang="zh-CN" altLang="en-US" sz="2400">
                <a:latin typeface="宋体" panose="02010600030101010101" pitchFamily="2" charset="-122"/>
              </a:rPr>
              <a:t>总线上的主、从模块在同一时钟的控制下进行传送，完成一次数据传送的传输周期（即总线周期）是固定的。</a:t>
            </a:r>
            <a:endParaRPr lang="zh-CN" altLang="en-US" sz="2400">
              <a:latin typeface="宋体" panose="02010600030101010101" pitchFamily="2" charset="-122"/>
            </a:endParaRPr>
          </a:p>
          <a:p>
            <a:endParaRPr lang="zh-CN" altLang="en-US">
              <a:latin typeface="宋体" panose="02010600030101010101" pitchFamily="2" charset="-122"/>
            </a:endParaRPr>
          </a:p>
        </p:txBody>
      </p:sp>
      <p:pic>
        <p:nvPicPr>
          <p:cNvPr id="71684" name="Picture 4" descr="6a12">
            <a:hlinkClick r:id="rId1" action="ppaction://hlinkfil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550" y="1989138"/>
            <a:ext cx="6737350" cy="421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a:defRPr/>
            </a:pPr>
            <a:r>
              <a:rPr lang="zh-CN" altLang="en-US"/>
              <a:t>异步方式</a:t>
            </a:r>
            <a:endParaRPr lang="zh-CN" altLang="en-US"/>
          </a:p>
        </p:txBody>
      </p:sp>
      <p:sp>
        <p:nvSpPr>
          <p:cNvPr id="73731" name="Rectangle 3"/>
          <p:cNvSpPr>
            <a:spLocks noGrp="1" noChangeArrowheads="1"/>
          </p:cNvSpPr>
          <p:nvPr>
            <p:ph type="body" idx="1"/>
          </p:nvPr>
        </p:nvSpPr>
        <p:spPr/>
        <p:txBody>
          <a:bodyPr/>
          <a:lstStyle/>
          <a:p>
            <a:r>
              <a:rPr lang="zh-CN" altLang="en-US" sz="2400" dirty="0"/>
              <a:t>采用应答式传输方式。使用请求线（</a:t>
            </a:r>
            <a:r>
              <a:rPr lang="en-US" altLang="zh-CN" sz="2400" dirty="0"/>
              <a:t>REQ</a:t>
            </a:r>
            <a:r>
              <a:rPr lang="zh-CN" altLang="en-US" sz="2400" dirty="0"/>
              <a:t>）和应答线（</a:t>
            </a:r>
            <a:r>
              <a:rPr lang="en-US" altLang="zh-CN" sz="2400" dirty="0"/>
              <a:t>ACK</a:t>
            </a:r>
            <a:r>
              <a:rPr lang="zh-CN" altLang="en-US" sz="2400" dirty="0"/>
              <a:t>）来协调传输过程而不依赖公共时钟信号。</a:t>
            </a:r>
            <a:endParaRPr lang="zh-CN" altLang="en-US" sz="2400" dirty="0"/>
          </a:p>
          <a:p>
            <a:endParaRPr lang="zh-CN" altLang="en-US" sz="2400" dirty="0"/>
          </a:p>
        </p:txBody>
      </p:sp>
      <p:pic>
        <p:nvPicPr>
          <p:cNvPr id="73732" name="Picture 4" descr="6a13">
            <a:hlinkClick r:id="rId1" action="ppaction://hlinkfil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1050" y="1905000"/>
            <a:ext cx="5468938" cy="467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403350" y="2667000"/>
            <a:ext cx="1008063" cy="307975"/>
          </a:xfrm>
          <a:prstGeom prst="rect">
            <a:avLst/>
          </a:prstGeom>
          <a:noFill/>
        </p:spPr>
        <p:txBody>
          <a:bodyPr>
            <a:spAutoFit/>
          </a:bodyPr>
          <a:lstStyle/>
          <a:p>
            <a:pPr>
              <a:defRPr/>
            </a:pPr>
            <a:r>
              <a:rPr lang="zh-CN" altLang="en-US" sz="1400" b="1" dirty="0">
                <a:solidFill>
                  <a:srgbClr val="C00000"/>
                </a:solidFill>
                <a:latin typeface="+mn-lt"/>
              </a:rPr>
              <a:t>（</a:t>
            </a:r>
            <a:r>
              <a:rPr lang="en-US" altLang="zh-CN" sz="1400" b="1" dirty="0">
                <a:solidFill>
                  <a:srgbClr val="C00000"/>
                </a:solidFill>
                <a:latin typeface="+mn-lt"/>
              </a:rPr>
              <a:t>REQ</a:t>
            </a:r>
            <a:r>
              <a:rPr lang="zh-CN" altLang="en-US" sz="1400" b="1" dirty="0">
                <a:solidFill>
                  <a:srgbClr val="C00000"/>
                </a:solidFill>
                <a:latin typeface="+mn-lt"/>
              </a:rPr>
              <a:t>）</a:t>
            </a:r>
            <a:endParaRPr lang="zh-CN" altLang="en-US" sz="1400" b="1" dirty="0">
              <a:solidFill>
                <a:srgbClr val="C00000"/>
              </a:solidFill>
              <a:latin typeface="+mn-lt"/>
            </a:endParaRPr>
          </a:p>
        </p:txBody>
      </p:sp>
      <p:sp>
        <p:nvSpPr>
          <p:cNvPr id="6" name="文本框 5"/>
          <p:cNvSpPr txBox="1"/>
          <p:nvPr/>
        </p:nvSpPr>
        <p:spPr>
          <a:xfrm>
            <a:off x="1403350" y="3316288"/>
            <a:ext cx="1008063" cy="306387"/>
          </a:xfrm>
          <a:prstGeom prst="rect">
            <a:avLst/>
          </a:prstGeom>
          <a:noFill/>
        </p:spPr>
        <p:txBody>
          <a:bodyPr>
            <a:spAutoFit/>
          </a:bodyPr>
          <a:lstStyle/>
          <a:p>
            <a:pPr>
              <a:defRPr/>
            </a:pPr>
            <a:r>
              <a:rPr lang="zh-CN" altLang="en-US" sz="1400" b="1" dirty="0">
                <a:solidFill>
                  <a:srgbClr val="C00000"/>
                </a:solidFill>
                <a:latin typeface="+mn-lt"/>
              </a:rPr>
              <a:t>（</a:t>
            </a:r>
            <a:r>
              <a:rPr lang="en-US" altLang="zh-CN" sz="1400" b="1" dirty="0">
                <a:solidFill>
                  <a:srgbClr val="C00000"/>
                </a:solidFill>
                <a:latin typeface="+mn-lt"/>
              </a:rPr>
              <a:t>ACK</a:t>
            </a:r>
            <a:r>
              <a:rPr lang="zh-CN" altLang="en-US" sz="1400" b="1" dirty="0">
                <a:solidFill>
                  <a:srgbClr val="C00000"/>
                </a:solidFill>
                <a:latin typeface="+mn-lt"/>
              </a:rPr>
              <a:t>）</a:t>
            </a:r>
            <a:endParaRPr lang="zh-CN" altLang="en-US" sz="1400" b="1" dirty="0">
              <a:solidFill>
                <a:srgbClr val="C00000"/>
              </a:solidFill>
              <a:latin typeface="+mn-lt"/>
            </a:endParaRPr>
          </a:p>
        </p:txBody>
      </p:sp>
      <p:sp>
        <p:nvSpPr>
          <p:cNvPr id="7" name="文本框 6"/>
          <p:cNvSpPr txBox="1"/>
          <p:nvPr/>
        </p:nvSpPr>
        <p:spPr>
          <a:xfrm>
            <a:off x="1392238" y="5332413"/>
            <a:ext cx="1008062" cy="307975"/>
          </a:xfrm>
          <a:prstGeom prst="rect">
            <a:avLst/>
          </a:prstGeom>
          <a:noFill/>
        </p:spPr>
        <p:txBody>
          <a:bodyPr>
            <a:spAutoFit/>
          </a:bodyPr>
          <a:lstStyle/>
          <a:p>
            <a:pPr>
              <a:defRPr/>
            </a:pPr>
            <a:r>
              <a:rPr lang="zh-CN" altLang="en-US" sz="1400" b="1" dirty="0">
                <a:solidFill>
                  <a:srgbClr val="C00000"/>
                </a:solidFill>
                <a:latin typeface="+mn-lt"/>
              </a:rPr>
              <a:t>（</a:t>
            </a:r>
            <a:r>
              <a:rPr lang="en-US" altLang="zh-CN" sz="1400" b="1" dirty="0">
                <a:solidFill>
                  <a:srgbClr val="C00000"/>
                </a:solidFill>
                <a:latin typeface="+mn-lt"/>
              </a:rPr>
              <a:t>REQ</a:t>
            </a:r>
            <a:r>
              <a:rPr lang="zh-CN" altLang="en-US" sz="1400" b="1" dirty="0">
                <a:solidFill>
                  <a:srgbClr val="C00000"/>
                </a:solidFill>
                <a:latin typeface="+mn-lt"/>
              </a:rPr>
              <a:t>）</a:t>
            </a:r>
            <a:endParaRPr lang="zh-CN" altLang="en-US" sz="1400" b="1" dirty="0">
              <a:solidFill>
                <a:srgbClr val="C00000"/>
              </a:solidFill>
              <a:latin typeface="+mn-lt"/>
            </a:endParaRPr>
          </a:p>
        </p:txBody>
      </p:sp>
      <p:sp>
        <p:nvSpPr>
          <p:cNvPr id="8" name="文本框 7"/>
          <p:cNvSpPr txBox="1"/>
          <p:nvPr/>
        </p:nvSpPr>
        <p:spPr>
          <a:xfrm>
            <a:off x="1403350" y="5789613"/>
            <a:ext cx="1008063" cy="307975"/>
          </a:xfrm>
          <a:prstGeom prst="rect">
            <a:avLst/>
          </a:prstGeom>
          <a:noFill/>
        </p:spPr>
        <p:txBody>
          <a:bodyPr>
            <a:spAutoFit/>
          </a:bodyPr>
          <a:lstStyle/>
          <a:p>
            <a:pPr>
              <a:defRPr/>
            </a:pPr>
            <a:r>
              <a:rPr lang="zh-CN" altLang="en-US" sz="1400" b="1" dirty="0">
                <a:solidFill>
                  <a:srgbClr val="C00000"/>
                </a:solidFill>
                <a:latin typeface="+mn-lt"/>
              </a:rPr>
              <a:t>（</a:t>
            </a:r>
            <a:r>
              <a:rPr lang="en-US" altLang="zh-CN" sz="1400" b="1" dirty="0">
                <a:solidFill>
                  <a:srgbClr val="C00000"/>
                </a:solidFill>
                <a:latin typeface="+mn-lt"/>
              </a:rPr>
              <a:t>ACK</a:t>
            </a:r>
            <a:r>
              <a:rPr lang="zh-CN" altLang="en-US" sz="1400" b="1" dirty="0">
                <a:solidFill>
                  <a:srgbClr val="C00000"/>
                </a:solidFill>
                <a:latin typeface="+mn-lt"/>
              </a:rPr>
              <a:t>）</a:t>
            </a:r>
            <a:endParaRPr lang="zh-CN" altLang="en-US" sz="1400" b="1" dirty="0">
              <a:solidFill>
                <a:srgbClr val="C00000"/>
              </a:solidFill>
              <a:latin typeface="+mn-lt"/>
            </a:endParaRPr>
          </a:p>
        </p:txBody>
      </p:sp>
    </p:spTree>
  </p:cSld>
  <p:clrMapOvr>
    <a:masterClrMapping/>
  </p:clrMapOvr>
  <p:transition spd="med">
    <p:pull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例</a:t>
            </a:r>
            <a:r>
              <a:rPr lang="en-US" altLang="zh-CN" dirty="0"/>
              <a:t>3</a:t>
            </a:r>
            <a:r>
              <a:rPr lang="zh-CN" altLang="en-US" dirty="0"/>
              <a:t>（</a:t>
            </a:r>
            <a:r>
              <a:rPr lang="en-US" altLang="zh-CN" dirty="0"/>
              <a:t>1</a:t>
            </a:r>
            <a:r>
              <a:rPr lang="zh-CN" altLang="en-US" dirty="0"/>
              <a:t>）</a:t>
            </a:r>
            <a:endParaRPr lang="zh-CN" altLang="en-US" dirty="0"/>
          </a:p>
        </p:txBody>
      </p:sp>
      <p:sp>
        <p:nvSpPr>
          <p:cNvPr id="75779" name="内容占位符 2"/>
          <p:cNvSpPr>
            <a:spLocks noGrp="1" noChangeArrowheads="1"/>
          </p:cNvSpPr>
          <p:nvPr>
            <p:ph idx="1"/>
          </p:nvPr>
        </p:nvSpPr>
        <p:spPr/>
        <p:txBody>
          <a:bodyPr/>
          <a:lstStyle/>
          <a:p>
            <a:pPr marL="0" indent="0">
              <a:buFont typeface="Wingdings 2" charset="2"/>
              <a:buNone/>
            </a:pPr>
            <a:r>
              <a:rPr lang="zh-CN" altLang="en-US" sz="2400" dirty="0"/>
              <a:t>某</a:t>
            </a:r>
            <a:r>
              <a:rPr lang="en-US" altLang="zh-CN" sz="2400" dirty="0"/>
              <a:t>CPU</a:t>
            </a:r>
            <a:r>
              <a:rPr lang="zh-CN" altLang="en-US" sz="2400" dirty="0"/>
              <a:t>采用集中式仲裁方式，使用独立请求与链式查询相结合的二维总线控制结构。每一对请求线</a:t>
            </a:r>
            <a:r>
              <a:rPr lang="en-US" altLang="zh-CN" sz="2400" dirty="0" err="1"/>
              <a:t>BRi</a:t>
            </a:r>
            <a:r>
              <a:rPr lang="zh-CN" altLang="en-US" sz="2400" dirty="0"/>
              <a:t>和授权线</a:t>
            </a:r>
            <a:r>
              <a:rPr lang="en-US" altLang="zh-CN" sz="2400" dirty="0" err="1"/>
              <a:t>BGi</a:t>
            </a:r>
            <a:r>
              <a:rPr lang="zh-CN" altLang="en-US" sz="2400" dirty="0"/>
              <a:t>组成一对链式查询电路。每一根请求线可以被若干个传输速率接近的设备共享。当这些设备需要传送时，通过</a:t>
            </a:r>
            <a:r>
              <a:rPr lang="en-US" altLang="zh-CN" sz="2400" dirty="0" err="1"/>
              <a:t>BRi</a:t>
            </a:r>
            <a:r>
              <a:rPr lang="zh-CN" altLang="en-US" sz="2400" dirty="0"/>
              <a:t>线向仲裁器发出请求，对应的</a:t>
            </a:r>
            <a:r>
              <a:rPr lang="en-US" altLang="zh-CN" sz="2400" dirty="0" err="1"/>
              <a:t>BGi</a:t>
            </a:r>
            <a:r>
              <a:rPr lang="zh-CN" altLang="en-US" sz="2400" dirty="0"/>
              <a:t>线则串行查询每个设备，从而确定哪个设备享有总线控制权。请分析说明下图所示的总线仲裁时序图。</a:t>
            </a:r>
            <a:endParaRPr lang="zh-CN" altLang="en-US" dirty="0"/>
          </a:p>
          <a:p>
            <a:pPr marL="0" indent="0"/>
            <a:endParaRPr lang="zh-CN" altLang="en-US" dirty="0"/>
          </a:p>
        </p:txBody>
      </p:sp>
      <p:pic>
        <p:nvPicPr>
          <p:cNvPr id="75781" name="Picture 4" descr="6a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263650" y="3352800"/>
            <a:ext cx="6616700" cy="319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2514600" y="3728101"/>
            <a:ext cx="518092" cy="369332"/>
          </a:xfrm>
          <a:prstGeom prst="rect">
            <a:avLst/>
          </a:prstGeom>
          <a:noFill/>
        </p:spPr>
        <p:txBody>
          <a:bodyPr wrap="none" rtlCol="0">
            <a:spAutoFit/>
          </a:bodyPr>
          <a:lstStyle/>
          <a:p>
            <a:r>
              <a:rPr kumimoji="1" lang="en-US" altLang="zh-CN" sz="1800" dirty="0">
                <a:latin typeface="Times New Roman" panose="02020603050405020304" pitchFamily="18" charset="0"/>
                <a:cs typeface="Times New Roman" panose="02020603050405020304" pitchFamily="18" charset="0"/>
              </a:rPr>
              <a:t>(in)</a:t>
            </a:r>
            <a:endParaRPr kumimoji="1" lang="zh-CN" altLang="en-US" sz="1800"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2763100" y="5055624"/>
            <a:ext cx="518092" cy="369332"/>
          </a:xfrm>
          <a:prstGeom prst="rect">
            <a:avLst/>
          </a:prstGeom>
          <a:noFill/>
        </p:spPr>
        <p:txBody>
          <a:bodyPr wrap="none" rtlCol="0">
            <a:spAutoFit/>
          </a:bodyPr>
          <a:lstStyle/>
          <a:p>
            <a:r>
              <a:rPr kumimoji="1" lang="en-US" altLang="zh-CN" sz="1800" dirty="0">
                <a:latin typeface="Times New Roman" panose="02020603050405020304" pitchFamily="18" charset="0"/>
                <a:cs typeface="Times New Roman" panose="02020603050405020304" pitchFamily="18" charset="0"/>
              </a:rPr>
              <a:t>(in)</a:t>
            </a:r>
            <a:endParaRPr kumimoji="1" lang="zh-CN" altLang="en-US" sz="1800"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2547937" y="4391862"/>
            <a:ext cx="633507" cy="369332"/>
          </a:xfrm>
          <a:prstGeom prst="rect">
            <a:avLst/>
          </a:prstGeom>
          <a:noFill/>
        </p:spPr>
        <p:txBody>
          <a:bodyPr wrap="none" rtlCol="0">
            <a:spAutoFit/>
          </a:bodyPr>
          <a:lstStyle/>
          <a:p>
            <a:r>
              <a:rPr kumimoji="1" lang="en-US" altLang="zh-CN" sz="1800" dirty="0">
                <a:latin typeface="Times New Roman" panose="02020603050405020304" pitchFamily="18" charset="0"/>
                <a:cs typeface="Times New Roman" panose="02020603050405020304" pitchFamily="18" charset="0"/>
              </a:rPr>
              <a:t>(out)</a:t>
            </a:r>
            <a:endParaRPr kumimoji="1" lang="zh-CN" altLang="en-US" sz="1800" dirty="0">
              <a:latin typeface="Times New Roman" panose="02020603050405020304" pitchFamily="18" charset="0"/>
              <a:cs typeface="Times New Roman" panose="02020603050405020304" pitchFamily="18" charset="0"/>
            </a:endParaRPr>
          </a:p>
        </p:txBody>
      </p:sp>
      <p:sp>
        <p:nvSpPr>
          <p:cNvPr id="8" name="文本框 7"/>
          <p:cNvSpPr txBox="1"/>
          <p:nvPr/>
        </p:nvSpPr>
        <p:spPr>
          <a:xfrm>
            <a:off x="2831354" y="5508153"/>
            <a:ext cx="518092" cy="369332"/>
          </a:xfrm>
          <a:prstGeom prst="rect">
            <a:avLst/>
          </a:prstGeom>
          <a:noFill/>
        </p:spPr>
        <p:txBody>
          <a:bodyPr wrap="none" rtlCol="0">
            <a:spAutoFit/>
          </a:bodyPr>
          <a:lstStyle/>
          <a:p>
            <a:r>
              <a:rPr kumimoji="1" lang="en-US" altLang="zh-CN" sz="1800" dirty="0">
                <a:latin typeface="Times New Roman" panose="02020603050405020304" pitchFamily="18" charset="0"/>
                <a:cs typeface="Times New Roman" panose="02020603050405020304" pitchFamily="18" charset="0"/>
              </a:rPr>
              <a:t>(in)</a:t>
            </a:r>
            <a:endParaRPr kumimoji="1" lang="zh-CN" altLang="en-US" sz="1800" dirty="0">
              <a:latin typeface="Times New Roman" panose="02020603050405020304" pitchFamily="18" charset="0"/>
              <a:cs typeface="Times New Roman" panose="02020603050405020304" pitchFamily="18" charset="0"/>
            </a:endParaRPr>
          </a:p>
        </p:txBody>
      </p:sp>
    </p:spTree>
  </p:cSld>
  <p:clrMapOvr>
    <a:masterClrMapping/>
  </p:clrMapOvr>
  <p:transition spd="med">
    <p:pull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body" idx="1"/>
          </p:nvPr>
        </p:nvSpPr>
        <p:spPr>
          <a:xfrm>
            <a:off x="250825" y="1143000"/>
            <a:ext cx="8569325" cy="5214938"/>
          </a:xfrm>
        </p:spPr>
        <p:txBody>
          <a:bodyPr/>
          <a:lstStyle/>
          <a:p>
            <a:pPr>
              <a:lnSpc>
                <a:spcPct val="80000"/>
              </a:lnSpc>
              <a:buFont typeface="Wingdings" panose="05000000000000000000" pitchFamily="2" charset="2"/>
              <a:buNone/>
            </a:pPr>
            <a:r>
              <a:rPr lang="zh-CN" altLang="en-US" sz="2600" dirty="0"/>
              <a:t>解：从时序图看出，该总线采用异步定时协议。</a:t>
            </a:r>
            <a:endParaRPr lang="zh-CN" altLang="en-US" sz="2600" dirty="0"/>
          </a:p>
          <a:p>
            <a:pPr lvl="1"/>
            <a:r>
              <a:rPr lang="zh-CN" altLang="en-US" sz="2200" dirty="0"/>
              <a:t>当某个设备请求使用总线时，在该设备所属的请求线上发出申请信号</a:t>
            </a:r>
            <a:r>
              <a:rPr lang="en-US" altLang="zh-CN" sz="2200" dirty="0" err="1"/>
              <a:t>BRi</a:t>
            </a:r>
            <a:r>
              <a:rPr lang="zh-CN" altLang="en-US" sz="2200" dirty="0"/>
              <a:t>（</a:t>
            </a:r>
            <a:r>
              <a:rPr lang="en-US" altLang="zh-CN" sz="2200" dirty="0"/>
              <a:t>1</a:t>
            </a:r>
            <a:r>
              <a:rPr lang="zh-CN" altLang="en-US" sz="2200" dirty="0"/>
              <a:t>）。</a:t>
            </a:r>
            <a:endParaRPr lang="zh-CN" altLang="en-US" sz="2200" dirty="0"/>
          </a:p>
          <a:p>
            <a:pPr lvl="1"/>
            <a:r>
              <a:rPr lang="en-US" altLang="zh-CN" sz="2200" dirty="0"/>
              <a:t>CPU</a:t>
            </a:r>
            <a:r>
              <a:rPr lang="zh-CN" altLang="en-US" sz="2200" dirty="0"/>
              <a:t>按某种优先原则给出授权信号</a:t>
            </a:r>
            <a:r>
              <a:rPr lang="en-US" altLang="zh-CN" sz="2200" dirty="0" err="1"/>
              <a:t>BGi</a:t>
            </a:r>
            <a:r>
              <a:rPr lang="zh-CN" altLang="en-US" sz="2200" dirty="0"/>
              <a:t>作为回答（</a:t>
            </a:r>
            <a:r>
              <a:rPr lang="en-US" altLang="zh-CN" sz="2200" dirty="0"/>
              <a:t>2</a:t>
            </a:r>
            <a:r>
              <a:rPr lang="zh-CN" altLang="en-US" sz="2200" dirty="0"/>
              <a:t>）</a:t>
            </a:r>
            <a:endParaRPr lang="zh-CN" altLang="en-US" sz="2200" dirty="0"/>
          </a:p>
          <a:p>
            <a:pPr lvl="1"/>
            <a:r>
              <a:rPr lang="en-US" altLang="zh-CN" sz="2200" dirty="0" err="1"/>
              <a:t>BGi</a:t>
            </a:r>
            <a:r>
              <a:rPr lang="zh-CN" altLang="en-US" sz="2200" dirty="0"/>
              <a:t>采用链式方式查询各设备，优先级最高的设备将</a:t>
            </a:r>
            <a:r>
              <a:rPr lang="en-US" altLang="zh-CN" sz="2200" dirty="0"/>
              <a:t>SACK</a:t>
            </a:r>
            <a:r>
              <a:rPr lang="zh-CN" altLang="en-US" sz="2200" dirty="0"/>
              <a:t>证实信号变为有效表示已收到</a:t>
            </a:r>
            <a:r>
              <a:rPr lang="en-US" altLang="zh-CN" sz="2200" dirty="0" err="1"/>
              <a:t>BGi</a:t>
            </a:r>
            <a:r>
              <a:rPr lang="zh-CN" altLang="en-US" sz="2200" dirty="0"/>
              <a:t>信号（</a:t>
            </a:r>
            <a:r>
              <a:rPr lang="en-US" altLang="zh-CN" sz="2200" dirty="0"/>
              <a:t>3</a:t>
            </a:r>
            <a:r>
              <a:rPr lang="zh-CN" altLang="en-US" sz="2200" dirty="0"/>
              <a:t>）</a:t>
            </a:r>
            <a:endParaRPr lang="zh-CN" altLang="en-US" sz="2200" dirty="0"/>
          </a:p>
          <a:p>
            <a:pPr lvl="1"/>
            <a:r>
              <a:rPr lang="en-US" altLang="zh-CN" sz="2200" dirty="0"/>
              <a:t>CPU</a:t>
            </a:r>
            <a:r>
              <a:rPr lang="zh-CN" altLang="en-US" sz="2200" dirty="0"/>
              <a:t>接到</a:t>
            </a:r>
            <a:r>
              <a:rPr lang="en-US" altLang="zh-CN" sz="2200" dirty="0"/>
              <a:t>SACK</a:t>
            </a:r>
            <a:r>
              <a:rPr lang="zh-CN" altLang="en-US" sz="2200" dirty="0"/>
              <a:t>信号后下降</a:t>
            </a:r>
            <a:r>
              <a:rPr lang="en-US" altLang="zh-CN" sz="2200" dirty="0"/>
              <a:t>BG</a:t>
            </a:r>
            <a:r>
              <a:rPr lang="zh-CN" altLang="en-US" sz="2200" dirty="0"/>
              <a:t>作为回答（</a:t>
            </a:r>
            <a:r>
              <a:rPr lang="en-US" altLang="zh-CN" sz="2200" dirty="0"/>
              <a:t>4</a:t>
            </a:r>
            <a:r>
              <a:rPr lang="zh-CN" altLang="en-US" sz="2200" dirty="0"/>
              <a:t>）</a:t>
            </a:r>
            <a:endParaRPr lang="zh-CN" altLang="en-US" sz="2200" dirty="0"/>
          </a:p>
          <a:p>
            <a:pPr lvl="1"/>
            <a:r>
              <a:rPr lang="zh-CN" altLang="en-US" sz="2200" dirty="0"/>
              <a:t>若总线“忙”标志</a:t>
            </a:r>
            <a:r>
              <a:rPr lang="en-US" altLang="zh-CN" sz="2200" dirty="0"/>
              <a:t>BBSY</a:t>
            </a:r>
            <a:r>
              <a:rPr lang="zh-CN" altLang="en-US" sz="2200" dirty="0"/>
              <a:t>为低电平，则该设备将</a:t>
            </a:r>
            <a:r>
              <a:rPr lang="en-US" altLang="zh-CN" sz="2200" dirty="0"/>
              <a:t>BBSY</a:t>
            </a:r>
            <a:r>
              <a:rPr lang="zh-CN" altLang="en-US" sz="2200" dirty="0"/>
              <a:t>置为高电平，表示获得了总线控制权，成为控制总线的主设备（</a:t>
            </a:r>
            <a:r>
              <a:rPr lang="en-US" altLang="zh-CN" sz="2200" dirty="0"/>
              <a:t>5</a:t>
            </a:r>
            <a:r>
              <a:rPr lang="zh-CN" altLang="en-US" sz="2200" dirty="0"/>
              <a:t>）</a:t>
            </a:r>
            <a:endParaRPr lang="zh-CN" altLang="en-US" sz="2200" dirty="0"/>
          </a:p>
          <a:p>
            <a:pPr lvl="1"/>
            <a:r>
              <a:rPr lang="zh-CN" altLang="en-US" sz="2200" dirty="0"/>
              <a:t>该设备用完总线后，将</a:t>
            </a:r>
            <a:r>
              <a:rPr lang="en-US" altLang="zh-CN" sz="2200" dirty="0"/>
              <a:t>BBSY</a:t>
            </a:r>
            <a:r>
              <a:rPr lang="zh-CN" altLang="en-US" sz="2200" dirty="0"/>
              <a:t>和</a:t>
            </a:r>
            <a:r>
              <a:rPr lang="en-US" altLang="zh-CN" sz="2200" dirty="0"/>
              <a:t>SACK</a:t>
            </a:r>
            <a:r>
              <a:rPr lang="zh-CN" altLang="en-US" sz="2200" dirty="0"/>
              <a:t>信号变为无效（</a:t>
            </a:r>
            <a:r>
              <a:rPr lang="en-US" altLang="zh-CN" sz="2200" dirty="0"/>
              <a:t>6</a:t>
            </a:r>
            <a:r>
              <a:rPr lang="zh-CN" altLang="en-US" sz="2200" dirty="0"/>
              <a:t>），释放总线</a:t>
            </a:r>
            <a:endParaRPr lang="zh-CN" altLang="en-US" sz="2200" dirty="0"/>
          </a:p>
          <a:p>
            <a:pPr lvl="1"/>
            <a:r>
              <a:rPr lang="zh-CN" altLang="en-US" sz="2200" dirty="0"/>
              <a:t>在上述选择主设备过程中，如果当前有其他主从设备正在进行传送，则此时需等待现行传送结束，即现行主设备下降</a:t>
            </a:r>
            <a:r>
              <a:rPr lang="en-US" altLang="zh-CN" sz="2200" dirty="0"/>
              <a:t>BBSY</a:t>
            </a:r>
            <a:r>
              <a:rPr lang="zh-CN" altLang="en-US" sz="2200" dirty="0"/>
              <a:t>信号后（</a:t>
            </a:r>
            <a:r>
              <a:rPr lang="en-US" altLang="zh-CN" sz="2200" dirty="0"/>
              <a:t>7</a:t>
            </a:r>
            <a:r>
              <a:rPr lang="zh-CN" altLang="en-US" sz="2200" dirty="0"/>
              <a:t>），新的主设备才能上升</a:t>
            </a:r>
            <a:r>
              <a:rPr lang="en-US" altLang="zh-CN" sz="2200" dirty="0"/>
              <a:t>BBSY</a:t>
            </a:r>
            <a:r>
              <a:rPr lang="zh-CN" altLang="en-US" sz="2200" dirty="0"/>
              <a:t>，获得总线控制权</a:t>
            </a:r>
            <a:endParaRPr lang="zh-CN" altLang="en-US" sz="2200" dirty="0"/>
          </a:p>
          <a:p>
            <a:pPr>
              <a:lnSpc>
                <a:spcPct val="80000"/>
              </a:lnSpc>
            </a:pPr>
            <a:endParaRPr lang="en-US" altLang="zh-CN" sz="2600" dirty="0"/>
          </a:p>
        </p:txBody>
      </p:sp>
      <p:sp>
        <p:nvSpPr>
          <p:cNvPr id="3" name="标题 1"/>
          <p:cNvSpPr>
            <a:spLocks noGrp="1"/>
          </p:cNvSpPr>
          <p:nvPr>
            <p:ph type="title"/>
          </p:nvPr>
        </p:nvSpPr>
        <p:spPr/>
        <p:txBody>
          <a:bodyPr/>
          <a:lstStyle/>
          <a:p>
            <a:pPr>
              <a:defRPr/>
            </a:pPr>
            <a:r>
              <a:rPr lang="zh-CN" altLang="en-US" dirty="0"/>
              <a:t>例</a:t>
            </a:r>
            <a:r>
              <a:rPr lang="en-US" altLang="zh-CN" dirty="0"/>
              <a:t>3</a:t>
            </a:r>
            <a:r>
              <a:rPr lang="zh-CN" altLang="en-US" dirty="0"/>
              <a:t>（</a:t>
            </a:r>
            <a:r>
              <a:rPr lang="en-US" altLang="zh-CN" dirty="0"/>
              <a:t>2</a:t>
            </a:r>
            <a:r>
              <a:rPr lang="zh-CN" altLang="en-US" dirty="0"/>
              <a:t>）</a:t>
            </a:r>
            <a:endParaRPr lang="zh-CN" altLang="en-US" dirty="0"/>
          </a:p>
        </p:txBody>
      </p:sp>
    </p:spTree>
  </p:cSld>
  <p:clrMapOvr>
    <a:masterClrMapping/>
  </p:clrMapOvr>
  <p:transition spd="med">
    <p:pull dir="r"/>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p:txBody>
          <a:bodyPr/>
          <a:lstStyle/>
          <a:p>
            <a:pPr eaLnBrk="1" hangingPunct="1">
              <a:defRPr/>
            </a:pPr>
            <a:r>
              <a:rPr lang="zh-CN" altLang="en-US"/>
              <a:t>半同步方式</a:t>
            </a:r>
            <a:endParaRPr lang="zh-CN" altLang="en-US"/>
          </a:p>
        </p:txBody>
      </p:sp>
      <p:sp>
        <p:nvSpPr>
          <p:cNvPr id="77828" name="Rectangle 3"/>
          <p:cNvSpPr>
            <a:spLocks noGrp="1" noChangeArrowheads="1"/>
          </p:cNvSpPr>
          <p:nvPr>
            <p:ph type="body" idx="1"/>
          </p:nvPr>
        </p:nvSpPr>
        <p:spPr/>
        <p:txBody>
          <a:bodyPr/>
          <a:lstStyle/>
          <a:p>
            <a:pPr eaLnBrk="1" hangingPunct="1"/>
            <a:r>
              <a:rPr lang="zh-CN" altLang="en-US" sz="2400"/>
              <a:t>同步和异步方式的结合。有同步时钟，但传输周期（总线周期）可变。增加一条信号线（如</a:t>
            </a:r>
            <a:r>
              <a:rPr lang="en-US" altLang="en-US" sz="2400"/>
              <a:t>Ready），</a:t>
            </a:r>
            <a:r>
              <a:rPr lang="zh-CN" altLang="zh-CN" sz="2400"/>
              <a:t>主</a:t>
            </a:r>
            <a:r>
              <a:rPr lang="zh-CN" altLang="en-US" sz="2400"/>
              <a:t>模块监视该信号线查看选中的从模块是否准备好，如果未准备好则插入等待状态</a:t>
            </a:r>
            <a:r>
              <a:rPr lang="en-US" altLang="zh-CN" sz="2400"/>
              <a:t>Tw</a:t>
            </a:r>
            <a:r>
              <a:rPr lang="zh-CN" altLang="en-US" sz="2400"/>
              <a:t>，延长总线传输周期</a:t>
            </a:r>
            <a:endParaRPr lang="zh-CN" altLang="en-US" sz="2400"/>
          </a:p>
        </p:txBody>
      </p:sp>
      <p:grpSp>
        <p:nvGrpSpPr>
          <p:cNvPr id="77829" name="组合 4"/>
          <p:cNvGrpSpPr/>
          <p:nvPr/>
        </p:nvGrpSpPr>
        <p:grpSpPr bwMode="auto">
          <a:xfrm>
            <a:off x="34925" y="2522538"/>
            <a:ext cx="8567738" cy="3354387"/>
            <a:chOff x="113228" y="1227164"/>
            <a:chExt cx="8566979" cy="3353964"/>
          </a:xfrm>
        </p:grpSpPr>
        <p:sp>
          <p:nvSpPr>
            <p:cNvPr id="6" name="Rectangle 10"/>
            <p:cNvSpPr>
              <a:spLocks noChangeArrowheads="1"/>
            </p:cNvSpPr>
            <p:nvPr/>
          </p:nvSpPr>
          <p:spPr bwMode="auto">
            <a:xfrm>
              <a:off x="5892804" y="1235100"/>
              <a:ext cx="865110" cy="4460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eaLnBrk="1" fontAlgn="auto" hangingPunct="1">
                <a:spcBef>
                  <a:spcPts val="0"/>
                </a:spcBef>
                <a:spcAft>
                  <a:spcPts val="0"/>
                </a:spcAft>
                <a:defRPr/>
              </a:pPr>
              <a:r>
                <a:rPr kumimoji="0" lang="en-US" altLang="zh-CN" sz="2400" b="1" kern="0" dirty="0">
                  <a:solidFill>
                    <a:srgbClr val="FF0000"/>
                  </a:solidFill>
                  <a:ea typeface="宋体" panose="02010600030101010101" pitchFamily="2" charset="-122"/>
                </a:rPr>
                <a:t>T</a:t>
              </a:r>
              <a:r>
                <a:rPr kumimoji="0" lang="en-US" altLang="zh-CN" sz="2400" b="1" kern="0" baseline="-25000" dirty="0">
                  <a:solidFill>
                    <a:srgbClr val="FF0000"/>
                  </a:solidFill>
                  <a:ea typeface="宋体" panose="02010600030101010101" pitchFamily="2" charset="-122"/>
                </a:rPr>
                <a:t>w</a:t>
              </a:r>
              <a:endParaRPr kumimoji="0" lang="en-US" altLang="zh-CN" sz="2400" b="1" kern="0" dirty="0">
                <a:solidFill>
                  <a:srgbClr val="FF0000"/>
                </a:solidFill>
                <a:ea typeface="宋体" panose="02010600030101010101" pitchFamily="2" charset="-122"/>
              </a:endParaRPr>
            </a:p>
          </p:txBody>
        </p:sp>
        <p:sp>
          <p:nvSpPr>
            <p:cNvPr id="7" name="Rectangle 11"/>
            <p:cNvSpPr>
              <a:spLocks noChangeArrowheads="1"/>
            </p:cNvSpPr>
            <p:nvPr/>
          </p:nvSpPr>
          <p:spPr bwMode="auto">
            <a:xfrm>
              <a:off x="4697522" y="1228751"/>
              <a:ext cx="865111" cy="4460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eaLnBrk="1" fontAlgn="auto" hangingPunct="1">
                <a:spcBef>
                  <a:spcPts val="0"/>
                </a:spcBef>
                <a:spcAft>
                  <a:spcPts val="0"/>
                </a:spcAft>
                <a:defRPr/>
              </a:pPr>
              <a:r>
                <a:rPr kumimoji="0" lang="en-US" altLang="zh-CN" sz="2400" b="1" kern="0" dirty="0">
                  <a:ea typeface="宋体" panose="02010600030101010101" pitchFamily="2" charset="-122"/>
                </a:rPr>
                <a:t>T</a:t>
              </a:r>
              <a:r>
                <a:rPr kumimoji="0" lang="en-US" altLang="zh-CN" sz="2400" b="1" kern="0" baseline="-25000" dirty="0">
                  <a:ea typeface="宋体" panose="02010600030101010101" pitchFamily="2" charset="-122"/>
                </a:rPr>
                <a:t>3</a:t>
              </a:r>
              <a:endParaRPr kumimoji="0" lang="en-US" altLang="zh-CN" sz="2400" b="1" kern="0" dirty="0">
                <a:ea typeface="宋体" panose="02010600030101010101" pitchFamily="2" charset="-122"/>
              </a:endParaRPr>
            </a:p>
          </p:txBody>
        </p:sp>
        <p:sp>
          <p:nvSpPr>
            <p:cNvPr id="8" name="Rectangle 12"/>
            <p:cNvSpPr>
              <a:spLocks noChangeArrowheads="1"/>
            </p:cNvSpPr>
            <p:nvPr/>
          </p:nvSpPr>
          <p:spPr bwMode="auto">
            <a:xfrm>
              <a:off x="3560973" y="1228751"/>
              <a:ext cx="865111" cy="4460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eaLnBrk="1" fontAlgn="auto" hangingPunct="1">
                <a:spcBef>
                  <a:spcPts val="0"/>
                </a:spcBef>
                <a:spcAft>
                  <a:spcPts val="0"/>
                </a:spcAft>
                <a:defRPr/>
              </a:pPr>
              <a:r>
                <a:rPr kumimoji="0" lang="en-US" altLang="zh-CN" sz="2400" b="1" kern="0" dirty="0">
                  <a:ea typeface="宋体" panose="02010600030101010101" pitchFamily="2" charset="-122"/>
                </a:rPr>
                <a:t>T</a:t>
              </a:r>
              <a:r>
                <a:rPr kumimoji="0" lang="en-US" altLang="zh-CN" sz="2400" b="1" kern="0" baseline="-25000" dirty="0">
                  <a:ea typeface="宋体" panose="02010600030101010101" pitchFamily="2" charset="-122"/>
                </a:rPr>
                <a:t>2</a:t>
              </a:r>
              <a:endParaRPr kumimoji="0" lang="en-US" altLang="zh-CN" sz="2400" b="1" kern="0" dirty="0">
                <a:ea typeface="宋体" panose="02010600030101010101" pitchFamily="2" charset="-122"/>
              </a:endParaRPr>
            </a:p>
          </p:txBody>
        </p:sp>
        <p:sp>
          <p:nvSpPr>
            <p:cNvPr id="9" name="Rectangle 13"/>
            <p:cNvSpPr>
              <a:spLocks noChangeArrowheads="1"/>
            </p:cNvSpPr>
            <p:nvPr/>
          </p:nvSpPr>
          <p:spPr bwMode="auto">
            <a:xfrm>
              <a:off x="2332356" y="1230339"/>
              <a:ext cx="865111" cy="444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eaLnBrk="1" fontAlgn="auto" hangingPunct="1">
                <a:spcBef>
                  <a:spcPts val="0"/>
                </a:spcBef>
                <a:spcAft>
                  <a:spcPts val="0"/>
                </a:spcAft>
                <a:defRPr/>
              </a:pPr>
              <a:r>
                <a:rPr kumimoji="0" lang="en-US" altLang="zh-CN" sz="2400" b="1" kern="0" dirty="0">
                  <a:ea typeface="宋体" panose="02010600030101010101" pitchFamily="2" charset="-122"/>
                </a:rPr>
                <a:t>T</a:t>
              </a:r>
              <a:r>
                <a:rPr kumimoji="0" lang="en-US" altLang="zh-CN" sz="2400" b="1" kern="0" baseline="-25000" dirty="0">
                  <a:ea typeface="宋体" panose="02010600030101010101" pitchFamily="2" charset="-122"/>
                </a:rPr>
                <a:t>1</a:t>
              </a:r>
              <a:endParaRPr kumimoji="0" lang="en-US" altLang="zh-CN" sz="2400" b="1" kern="0" dirty="0">
                <a:ea typeface="宋体" panose="02010600030101010101" pitchFamily="2" charset="-122"/>
              </a:endParaRPr>
            </a:p>
          </p:txBody>
        </p:sp>
        <p:sp>
          <p:nvSpPr>
            <p:cNvPr id="10" name="Line 14"/>
            <p:cNvSpPr>
              <a:spLocks noChangeShapeType="1"/>
            </p:cNvSpPr>
            <p:nvPr/>
          </p:nvSpPr>
          <p:spPr bwMode="auto">
            <a:xfrm>
              <a:off x="1748208" y="1641449"/>
              <a:ext cx="388904" cy="317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11" name="Freeform 15"/>
            <p:cNvSpPr/>
            <p:nvPr/>
          </p:nvSpPr>
          <p:spPr bwMode="auto">
            <a:xfrm>
              <a:off x="2137112" y="1635100"/>
              <a:ext cx="9524" cy="312699"/>
            </a:xfrm>
            <a:custGeom>
              <a:avLst/>
              <a:gdLst>
                <a:gd name="T0" fmla="*/ 4 w 4"/>
                <a:gd name="T1" fmla="*/ 0 h 215"/>
                <a:gd name="T2" fmla="*/ 0 w 4"/>
                <a:gd name="T3" fmla="*/ 215 h 215"/>
              </a:gdLst>
              <a:ahLst/>
              <a:cxnLst>
                <a:cxn ang="0">
                  <a:pos x="T0" y="T1"/>
                </a:cxn>
                <a:cxn ang="0">
                  <a:pos x="T2" y="T3"/>
                </a:cxn>
              </a:cxnLst>
              <a:rect l="0" t="0" r="r" b="b"/>
              <a:pathLst>
                <a:path w="4" h="215">
                  <a:moveTo>
                    <a:pt x="4" y="0"/>
                  </a:moveTo>
                  <a:lnTo>
                    <a:pt x="0" y="215"/>
                  </a:lnTo>
                </a:path>
              </a:pathLst>
            </a:custGeom>
            <a:solidFill>
              <a:srgbClr val="FFFFFF"/>
            </a:solidFill>
            <a:ln w="28575" cap="flat">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12" name="Freeform 16"/>
            <p:cNvSpPr/>
            <p:nvPr/>
          </p:nvSpPr>
          <p:spPr bwMode="auto">
            <a:xfrm>
              <a:off x="2151397" y="1950973"/>
              <a:ext cx="561925" cy="4761"/>
            </a:xfrm>
            <a:custGeom>
              <a:avLst/>
              <a:gdLst>
                <a:gd name="T0" fmla="*/ 0 w 293"/>
                <a:gd name="T1" fmla="*/ 3 h 3"/>
                <a:gd name="T2" fmla="*/ 293 w 293"/>
                <a:gd name="T3" fmla="*/ 0 h 3"/>
              </a:gdLst>
              <a:ahLst/>
              <a:cxnLst>
                <a:cxn ang="0">
                  <a:pos x="T0" y="T1"/>
                </a:cxn>
                <a:cxn ang="0">
                  <a:pos x="T2" y="T3"/>
                </a:cxn>
              </a:cxnLst>
              <a:rect l="0" t="0" r="r" b="b"/>
              <a:pathLst>
                <a:path w="293" h="3">
                  <a:moveTo>
                    <a:pt x="0" y="3"/>
                  </a:moveTo>
                  <a:lnTo>
                    <a:pt x="293" y="0"/>
                  </a:lnTo>
                </a:path>
              </a:pathLst>
            </a:custGeom>
            <a:solidFill>
              <a:srgbClr val="FFFFFF"/>
            </a:solidFill>
            <a:ln w="28575" cap="flat">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13" name="Line 17"/>
            <p:cNvSpPr>
              <a:spLocks noChangeShapeType="1"/>
            </p:cNvSpPr>
            <p:nvPr/>
          </p:nvSpPr>
          <p:spPr bwMode="auto">
            <a:xfrm>
              <a:off x="2708561" y="1644623"/>
              <a:ext cx="0" cy="30317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14" name="Line 18"/>
            <p:cNvSpPr>
              <a:spLocks noChangeShapeType="1"/>
            </p:cNvSpPr>
            <p:nvPr/>
          </p:nvSpPr>
          <p:spPr bwMode="auto">
            <a:xfrm>
              <a:off x="2708561" y="1644623"/>
              <a:ext cx="603197"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15" name="Line 19"/>
            <p:cNvSpPr>
              <a:spLocks noChangeShapeType="1"/>
            </p:cNvSpPr>
            <p:nvPr/>
          </p:nvSpPr>
          <p:spPr bwMode="auto">
            <a:xfrm>
              <a:off x="3330806" y="1649386"/>
              <a:ext cx="0" cy="298412"/>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16" name="Line 20"/>
            <p:cNvSpPr>
              <a:spLocks noChangeShapeType="1"/>
            </p:cNvSpPr>
            <p:nvPr/>
          </p:nvSpPr>
          <p:spPr bwMode="auto">
            <a:xfrm>
              <a:off x="3330806" y="1955734"/>
              <a:ext cx="580974"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17" name="Line 21"/>
            <p:cNvSpPr>
              <a:spLocks noChangeShapeType="1"/>
            </p:cNvSpPr>
            <p:nvPr/>
          </p:nvSpPr>
          <p:spPr bwMode="auto">
            <a:xfrm>
              <a:off x="3911779" y="1644623"/>
              <a:ext cx="0" cy="30317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18" name="Line 22"/>
            <p:cNvSpPr>
              <a:spLocks noChangeShapeType="1"/>
            </p:cNvSpPr>
            <p:nvPr/>
          </p:nvSpPr>
          <p:spPr bwMode="auto">
            <a:xfrm>
              <a:off x="3911779" y="1644623"/>
              <a:ext cx="609546"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19" name="Line 23"/>
            <p:cNvSpPr>
              <a:spLocks noChangeShapeType="1"/>
            </p:cNvSpPr>
            <p:nvPr/>
          </p:nvSpPr>
          <p:spPr bwMode="auto">
            <a:xfrm>
              <a:off x="4530850" y="1644623"/>
              <a:ext cx="0" cy="30317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20" name="Line 24"/>
            <p:cNvSpPr>
              <a:spLocks noChangeShapeType="1"/>
            </p:cNvSpPr>
            <p:nvPr/>
          </p:nvSpPr>
          <p:spPr bwMode="auto">
            <a:xfrm>
              <a:off x="4516563" y="1955734"/>
              <a:ext cx="61907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21" name="Line 25"/>
            <p:cNvSpPr>
              <a:spLocks noChangeShapeType="1"/>
            </p:cNvSpPr>
            <p:nvPr/>
          </p:nvSpPr>
          <p:spPr bwMode="auto">
            <a:xfrm>
              <a:off x="5135633" y="1644623"/>
              <a:ext cx="0" cy="30317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22" name="Line 26"/>
            <p:cNvSpPr>
              <a:spLocks noChangeShapeType="1"/>
            </p:cNvSpPr>
            <p:nvPr/>
          </p:nvSpPr>
          <p:spPr bwMode="auto">
            <a:xfrm>
              <a:off x="5135633" y="1644623"/>
              <a:ext cx="604784"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23" name="Line 27"/>
            <p:cNvSpPr>
              <a:spLocks noChangeShapeType="1"/>
            </p:cNvSpPr>
            <p:nvPr/>
          </p:nvSpPr>
          <p:spPr bwMode="auto">
            <a:xfrm>
              <a:off x="5740417" y="1644623"/>
              <a:ext cx="0" cy="30317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24" name="Line 28"/>
            <p:cNvSpPr>
              <a:spLocks noChangeShapeType="1"/>
            </p:cNvSpPr>
            <p:nvPr/>
          </p:nvSpPr>
          <p:spPr bwMode="auto">
            <a:xfrm>
              <a:off x="5740417" y="1955734"/>
              <a:ext cx="593672"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25" name="Line 29"/>
            <p:cNvSpPr>
              <a:spLocks noChangeShapeType="1"/>
            </p:cNvSpPr>
            <p:nvPr/>
          </p:nvSpPr>
          <p:spPr bwMode="auto">
            <a:xfrm>
              <a:off x="6334090" y="1644623"/>
              <a:ext cx="4762" cy="30317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26" name="Line 30"/>
            <p:cNvSpPr>
              <a:spLocks noChangeShapeType="1"/>
            </p:cNvSpPr>
            <p:nvPr/>
          </p:nvSpPr>
          <p:spPr bwMode="auto">
            <a:xfrm>
              <a:off x="6348376" y="1644623"/>
              <a:ext cx="561925"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27" name="Freeform 31"/>
            <p:cNvSpPr/>
            <p:nvPr/>
          </p:nvSpPr>
          <p:spPr bwMode="auto">
            <a:xfrm>
              <a:off x="6919825" y="1623989"/>
              <a:ext cx="0" cy="338094"/>
            </a:xfrm>
            <a:custGeom>
              <a:avLst/>
              <a:gdLst>
                <a:gd name="T0" fmla="*/ 0 w 1"/>
                <a:gd name="T1" fmla="*/ 0 h 232"/>
                <a:gd name="T2" fmla="*/ 0 w 1"/>
                <a:gd name="T3" fmla="*/ 232 h 232"/>
              </a:gdLst>
              <a:ahLst/>
              <a:cxnLst>
                <a:cxn ang="0">
                  <a:pos x="T0" y="T1"/>
                </a:cxn>
                <a:cxn ang="0">
                  <a:pos x="T2" y="T3"/>
                </a:cxn>
              </a:cxnLst>
              <a:rect l="0" t="0" r="r" b="b"/>
              <a:pathLst>
                <a:path w="1" h="232">
                  <a:moveTo>
                    <a:pt x="0" y="0"/>
                  </a:moveTo>
                  <a:lnTo>
                    <a:pt x="0" y="232"/>
                  </a:lnTo>
                </a:path>
              </a:pathLst>
            </a:custGeom>
            <a:solidFill>
              <a:srgbClr val="FFFFFF"/>
            </a:solidFill>
            <a:ln w="28575" cap="flat">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28" name="Freeform 32"/>
            <p:cNvSpPr/>
            <p:nvPr/>
          </p:nvSpPr>
          <p:spPr bwMode="auto">
            <a:xfrm>
              <a:off x="6929349" y="1950973"/>
              <a:ext cx="590498" cy="4761"/>
            </a:xfrm>
            <a:custGeom>
              <a:avLst/>
              <a:gdLst>
                <a:gd name="T0" fmla="*/ 0 w 308"/>
                <a:gd name="T1" fmla="*/ 3 h 3"/>
                <a:gd name="T2" fmla="*/ 308 w 308"/>
                <a:gd name="T3" fmla="*/ 0 h 3"/>
              </a:gdLst>
              <a:ahLst/>
              <a:cxnLst>
                <a:cxn ang="0">
                  <a:pos x="T0" y="T1"/>
                </a:cxn>
                <a:cxn ang="0">
                  <a:pos x="T2" y="T3"/>
                </a:cxn>
              </a:cxnLst>
              <a:rect l="0" t="0" r="r" b="b"/>
              <a:pathLst>
                <a:path w="308" h="3">
                  <a:moveTo>
                    <a:pt x="0" y="3"/>
                  </a:moveTo>
                  <a:lnTo>
                    <a:pt x="308" y="0"/>
                  </a:lnTo>
                </a:path>
              </a:pathLst>
            </a:custGeom>
            <a:solidFill>
              <a:srgbClr val="FFFFFF"/>
            </a:solidFill>
            <a:ln w="28575" cap="flat">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29" name="Line 33"/>
            <p:cNvSpPr>
              <a:spLocks noChangeShapeType="1"/>
            </p:cNvSpPr>
            <p:nvPr/>
          </p:nvSpPr>
          <p:spPr bwMode="auto">
            <a:xfrm>
              <a:off x="1830751" y="2806527"/>
              <a:ext cx="1774668"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30" name="Line 34"/>
            <p:cNvSpPr>
              <a:spLocks noChangeShapeType="1"/>
            </p:cNvSpPr>
            <p:nvPr/>
          </p:nvSpPr>
          <p:spPr bwMode="auto">
            <a:xfrm>
              <a:off x="3619705" y="2812876"/>
              <a:ext cx="0" cy="3000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31" name="Line 35"/>
            <p:cNvSpPr>
              <a:spLocks noChangeShapeType="1"/>
            </p:cNvSpPr>
            <p:nvPr/>
          </p:nvSpPr>
          <p:spPr bwMode="auto">
            <a:xfrm flipV="1">
              <a:off x="3619705" y="3101765"/>
              <a:ext cx="3519175" cy="11112"/>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32" name="Line 36"/>
            <p:cNvSpPr>
              <a:spLocks noChangeShapeType="1"/>
            </p:cNvSpPr>
            <p:nvPr/>
          </p:nvSpPr>
          <p:spPr bwMode="auto">
            <a:xfrm>
              <a:off x="7138881" y="2809701"/>
              <a:ext cx="4763" cy="32539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33" name="Line 37"/>
            <p:cNvSpPr>
              <a:spLocks noChangeShapeType="1"/>
            </p:cNvSpPr>
            <p:nvPr/>
          </p:nvSpPr>
          <p:spPr bwMode="auto">
            <a:xfrm>
              <a:off x="7116658" y="2811289"/>
              <a:ext cx="1238140" cy="317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34" name="Rectangle 39"/>
            <p:cNvSpPr>
              <a:spLocks noChangeArrowheads="1"/>
            </p:cNvSpPr>
            <p:nvPr/>
          </p:nvSpPr>
          <p:spPr bwMode="auto">
            <a:xfrm>
              <a:off x="524355" y="1644623"/>
              <a:ext cx="1095278" cy="434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r" eaLnBrk="1" fontAlgn="auto" hangingPunct="1">
                <a:spcBef>
                  <a:spcPts val="0"/>
                </a:spcBef>
                <a:spcAft>
                  <a:spcPts val="0"/>
                </a:spcAft>
                <a:defRPr/>
              </a:pPr>
              <a:r>
                <a:rPr kumimoji="0" lang="en-US" altLang="zh-CN" sz="2400" b="1" kern="0">
                  <a:solidFill>
                    <a:srgbClr val="000000"/>
                  </a:solidFill>
                  <a:ea typeface="宋体" panose="02010600030101010101" pitchFamily="2" charset="-122"/>
                </a:rPr>
                <a:t>CLK</a:t>
              </a:r>
              <a:endParaRPr kumimoji="0" lang="en-US" altLang="zh-CN" sz="2400" b="1" kern="0">
                <a:solidFill>
                  <a:srgbClr val="000000"/>
                </a:solidFill>
                <a:ea typeface="宋体" panose="02010600030101010101" pitchFamily="2" charset="-122"/>
              </a:endParaRPr>
            </a:p>
          </p:txBody>
        </p:sp>
        <p:sp>
          <p:nvSpPr>
            <p:cNvPr id="35" name="Rectangle 41"/>
            <p:cNvSpPr>
              <a:spLocks noChangeArrowheads="1"/>
            </p:cNvSpPr>
            <p:nvPr/>
          </p:nvSpPr>
          <p:spPr bwMode="auto">
            <a:xfrm>
              <a:off x="995800" y="2189068"/>
              <a:ext cx="741297" cy="4190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r" eaLnBrk="1" fontAlgn="auto" hangingPunct="1">
                <a:spcBef>
                  <a:spcPts val="0"/>
                </a:spcBef>
                <a:spcAft>
                  <a:spcPts val="0"/>
                </a:spcAft>
                <a:defRPr/>
              </a:pPr>
              <a:r>
                <a:rPr kumimoji="0" lang="zh-CN" altLang="en-US" sz="2400" b="1" kern="0" dirty="0">
                  <a:solidFill>
                    <a:srgbClr val="000000"/>
                  </a:solidFill>
                  <a:ea typeface="宋体" panose="02010600030101010101" pitchFamily="2" charset="-122"/>
                </a:rPr>
                <a:t>地址</a:t>
              </a:r>
              <a:endParaRPr kumimoji="0" lang="en-US" altLang="zh-CN" sz="2400" b="1" kern="0" dirty="0">
                <a:solidFill>
                  <a:srgbClr val="000000"/>
                </a:solidFill>
                <a:ea typeface="宋体" panose="02010600030101010101" pitchFamily="2" charset="-122"/>
              </a:endParaRPr>
            </a:p>
          </p:txBody>
        </p:sp>
        <p:sp>
          <p:nvSpPr>
            <p:cNvPr id="36" name="Rectangle 42"/>
            <p:cNvSpPr>
              <a:spLocks noChangeArrowheads="1"/>
            </p:cNvSpPr>
            <p:nvPr/>
          </p:nvSpPr>
          <p:spPr bwMode="auto">
            <a:xfrm>
              <a:off x="805317" y="3968430"/>
              <a:ext cx="814316" cy="4190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r" eaLnBrk="1" fontAlgn="auto" hangingPunct="1">
                <a:spcBef>
                  <a:spcPts val="0"/>
                </a:spcBef>
                <a:spcAft>
                  <a:spcPts val="0"/>
                </a:spcAft>
                <a:defRPr/>
              </a:pPr>
              <a:r>
                <a:rPr kumimoji="0" lang="zh-CN" altLang="en-US" sz="2400" b="1" kern="0" dirty="0">
                  <a:solidFill>
                    <a:srgbClr val="000000"/>
                  </a:solidFill>
                  <a:ea typeface="宋体" panose="02010600030101010101" pitchFamily="2" charset="-122"/>
                </a:rPr>
                <a:t>数据</a:t>
              </a:r>
              <a:endParaRPr kumimoji="0" lang="en-US" altLang="zh-CN" sz="2400" b="1" kern="0" dirty="0">
                <a:solidFill>
                  <a:srgbClr val="000000"/>
                </a:solidFill>
                <a:ea typeface="宋体" panose="02010600030101010101" pitchFamily="2" charset="-122"/>
              </a:endParaRPr>
            </a:p>
          </p:txBody>
        </p:sp>
        <p:grpSp>
          <p:nvGrpSpPr>
            <p:cNvPr id="77864" name="Group 43"/>
            <p:cNvGrpSpPr/>
            <p:nvPr/>
          </p:nvGrpSpPr>
          <p:grpSpPr bwMode="auto">
            <a:xfrm>
              <a:off x="2466604" y="2204864"/>
              <a:ext cx="144463" cy="376238"/>
              <a:chOff x="0" y="0"/>
              <a:chExt cx="20000" cy="20001"/>
            </a:xfrm>
          </p:grpSpPr>
          <p:sp>
            <p:nvSpPr>
              <p:cNvPr id="79" name="Line 44"/>
              <p:cNvSpPr>
                <a:spLocks noChangeShapeType="1"/>
              </p:cNvSpPr>
              <p:nvPr/>
            </p:nvSpPr>
            <p:spPr bwMode="auto">
              <a:xfrm flipH="1">
                <a:off x="94" y="4"/>
                <a:ext cx="19998" cy="10041"/>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80" name="Line 45"/>
              <p:cNvSpPr>
                <a:spLocks noChangeShapeType="1"/>
              </p:cNvSpPr>
              <p:nvPr/>
            </p:nvSpPr>
            <p:spPr bwMode="auto">
              <a:xfrm flipH="1" flipV="1">
                <a:off x="94" y="9961"/>
                <a:ext cx="19998" cy="10041"/>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grpSp>
        <p:grpSp>
          <p:nvGrpSpPr>
            <p:cNvPr id="77865" name="Group 46"/>
            <p:cNvGrpSpPr/>
            <p:nvPr/>
          </p:nvGrpSpPr>
          <p:grpSpPr bwMode="auto">
            <a:xfrm>
              <a:off x="2328491" y="2204864"/>
              <a:ext cx="144463" cy="376238"/>
              <a:chOff x="0" y="0"/>
              <a:chExt cx="20000" cy="19999"/>
            </a:xfrm>
          </p:grpSpPr>
          <p:sp>
            <p:nvSpPr>
              <p:cNvPr id="77" name="Line 47"/>
              <p:cNvSpPr>
                <a:spLocks noChangeShapeType="1"/>
              </p:cNvSpPr>
              <p:nvPr/>
            </p:nvSpPr>
            <p:spPr bwMode="auto">
              <a:xfrm>
                <a:off x="96" y="4"/>
                <a:ext cx="19998" cy="1004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78" name="Line 48"/>
              <p:cNvSpPr>
                <a:spLocks noChangeShapeType="1"/>
              </p:cNvSpPr>
              <p:nvPr/>
            </p:nvSpPr>
            <p:spPr bwMode="auto">
              <a:xfrm flipV="1">
                <a:off x="96" y="9960"/>
                <a:ext cx="19998" cy="1004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grpSp>
        <p:sp>
          <p:nvSpPr>
            <p:cNvPr id="39" name="Line 49"/>
            <p:cNvSpPr>
              <a:spLocks noChangeShapeType="1"/>
            </p:cNvSpPr>
            <p:nvPr/>
          </p:nvSpPr>
          <p:spPr bwMode="auto">
            <a:xfrm flipV="1">
              <a:off x="1921231" y="2204941"/>
              <a:ext cx="393665" cy="11111"/>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40" name="Line 50"/>
            <p:cNvSpPr>
              <a:spLocks noChangeShapeType="1"/>
            </p:cNvSpPr>
            <p:nvPr/>
          </p:nvSpPr>
          <p:spPr bwMode="auto">
            <a:xfrm>
              <a:off x="1892658" y="2581130"/>
              <a:ext cx="431762"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41" name="Line 51"/>
            <p:cNvSpPr>
              <a:spLocks noChangeShapeType="1"/>
            </p:cNvSpPr>
            <p:nvPr/>
          </p:nvSpPr>
          <p:spPr bwMode="auto">
            <a:xfrm>
              <a:off x="2606970" y="2204941"/>
              <a:ext cx="5195427" cy="6349"/>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42" name="Line 52"/>
            <p:cNvSpPr>
              <a:spLocks noChangeShapeType="1"/>
            </p:cNvSpPr>
            <p:nvPr/>
          </p:nvSpPr>
          <p:spPr bwMode="auto">
            <a:xfrm>
              <a:off x="2606970" y="2581130"/>
              <a:ext cx="5197015"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43" name="Line 54"/>
            <p:cNvSpPr>
              <a:spLocks noChangeShapeType="1"/>
            </p:cNvSpPr>
            <p:nvPr/>
          </p:nvSpPr>
          <p:spPr bwMode="auto">
            <a:xfrm flipH="1">
              <a:off x="7956371" y="2219226"/>
              <a:ext cx="149212" cy="18254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44" name="Line 55"/>
            <p:cNvSpPr>
              <a:spLocks noChangeShapeType="1"/>
            </p:cNvSpPr>
            <p:nvPr/>
          </p:nvSpPr>
          <p:spPr bwMode="auto">
            <a:xfrm flipH="1" flipV="1">
              <a:off x="7956371" y="2398591"/>
              <a:ext cx="149212" cy="182539"/>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45" name="Line 56"/>
            <p:cNvSpPr>
              <a:spLocks noChangeShapeType="1"/>
            </p:cNvSpPr>
            <p:nvPr/>
          </p:nvSpPr>
          <p:spPr bwMode="auto">
            <a:xfrm>
              <a:off x="7808746" y="2219226"/>
              <a:ext cx="147625" cy="18254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46" name="Line 57"/>
            <p:cNvSpPr>
              <a:spLocks noChangeShapeType="1"/>
            </p:cNvSpPr>
            <p:nvPr/>
          </p:nvSpPr>
          <p:spPr bwMode="auto">
            <a:xfrm flipV="1">
              <a:off x="7808746" y="2398591"/>
              <a:ext cx="147625" cy="182539"/>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47" name="Line 58"/>
            <p:cNvSpPr>
              <a:spLocks noChangeShapeType="1"/>
            </p:cNvSpPr>
            <p:nvPr/>
          </p:nvSpPr>
          <p:spPr bwMode="auto">
            <a:xfrm>
              <a:off x="8129393" y="2216051"/>
              <a:ext cx="431762"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48" name="Line 59"/>
            <p:cNvSpPr>
              <a:spLocks noChangeShapeType="1"/>
            </p:cNvSpPr>
            <p:nvPr/>
          </p:nvSpPr>
          <p:spPr bwMode="auto">
            <a:xfrm>
              <a:off x="8096059" y="2581130"/>
              <a:ext cx="431762"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49" name="Rectangle 109"/>
            <p:cNvSpPr>
              <a:spLocks noChangeArrowheads="1"/>
            </p:cNvSpPr>
            <p:nvPr/>
          </p:nvSpPr>
          <p:spPr bwMode="auto">
            <a:xfrm>
              <a:off x="113228" y="3404939"/>
              <a:ext cx="1647679" cy="4555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r" eaLnBrk="1" fontAlgn="auto" hangingPunct="1">
                <a:spcBef>
                  <a:spcPts val="0"/>
                </a:spcBef>
                <a:spcAft>
                  <a:spcPts val="0"/>
                </a:spcAft>
                <a:defRPr/>
              </a:pPr>
              <a:r>
                <a:rPr kumimoji="0" lang="en-US" altLang="zh-CN" sz="2400" b="1" kern="0" dirty="0">
                  <a:solidFill>
                    <a:srgbClr val="000000"/>
                  </a:solidFill>
                  <a:ea typeface="宋体" panose="02010600030101010101" pitchFamily="2" charset="-122"/>
                </a:rPr>
                <a:t>Ready</a:t>
              </a:r>
              <a:endParaRPr kumimoji="0" lang="en-US" altLang="zh-CN" sz="2400" b="1" kern="0" dirty="0">
                <a:solidFill>
                  <a:srgbClr val="000000"/>
                </a:solidFill>
                <a:ea typeface="宋体" panose="02010600030101010101" pitchFamily="2" charset="-122"/>
              </a:endParaRPr>
            </a:p>
          </p:txBody>
        </p:sp>
        <p:sp>
          <p:nvSpPr>
            <p:cNvPr id="50" name="Line 110"/>
            <p:cNvSpPr>
              <a:spLocks noChangeShapeType="1"/>
            </p:cNvSpPr>
            <p:nvPr/>
          </p:nvSpPr>
          <p:spPr bwMode="auto">
            <a:xfrm flipV="1">
              <a:off x="1837100" y="3644621"/>
              <a:ext cx="384775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51" name="Rectangle 120"/>
            <p:cNvSpPr>
              <a:spLocks noChangeArrowheads="1"/>
            </p:cNvSpPr>
            <p:nvPr/>
          </p:nvSpPr>
          <p:spPr bwMode="auto">
            <a:xfrm>
              <a:off x="657693" y="2709702"/>
              <a:ext cx="792092" cy="5698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r" eaLnBrk="1" fontAlgn="auto" hangingPunct="1">
                <a:spcBef>
                  <a:spcPts val="0"/>
                </a:spcBef>
                <a:spcAft>
                  <a:spcPts val="0"/>
                </a:spcAft>
                <a:defRPr/>
              </a:pPr>
              <a:r>
                <a:rPr kumimoji="0" lang="en-US" altLang="zh-CN" sz="2400" b="1" kern="0" dirty="0">
                  <a:solidFill>
                    <a:srgbClr val="000000"/>
                  </a:solidFill>
                  <a:ea typeface="宋体" panose="02010600030101010101" pitchFamily="2" charset="-122"/>
                </a:rPr>
                <a:t>/RD</a:t>
              </a:r>
              <a:endParaRPr kumimoji="0" lang="en-US" altLang="zh-CN" sz="2400" b="1" kern="0" dirty="0">
                <a:solidFill>
                  <a:srgbClr val="000000"/>
                </a:solidFill>
                <a:ea typeface="宋体" panose="02010600030101010101" pitchFamily="2" charset="-122"/>
              </a:endParaRPr>
            </a:p>
          </p:txBody>
        </p:sp>
        <p:sp>
          <p:nvSpPr>
            <p:cNvPr id="52" name="Line 122"/>
            <p:cNvSpPr>
              <a:spLocks noChangeShapeType="1"/>
            </p:cNvSpPr>
            <p:nvPr/>
          </p:nvSpPr>
          <p:spPr bwMode="auto">
            <a:xfrm>
              <a:off x="2133937" y="1741449"/>
              <a:ext cx="0" cy="2839679"/>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53" name="Line 123"/>
            <p:cNvSpPr>
              <a:spLocks noChangeShapeType="1"/>
            </p:cNvSpPr>
            <p:nvPr/>
          </p:nvSpPr>
          <p:spPr bwMode="auto">
            <a:xfrm>
              <a:off x="3318107" y="1741449"/>
              <a:ext cx="14286" cy="2839679"/>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54" name="Line 124"/>
            <p:cNvSpPr>
              <a:spLocks noChangeShapeType="1"/>
            </p:cNvSpPr>
            <p:nvPr/>
          </p:nvSpPr>
          <p:spPr bwMode="auto">
            <a:xfrm>
              <a:off x="4532436" y="1741449"/>
              <a:ext cx="23811" cy="2807933"/>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55" name="Line 125"/>
            <p:cNvSpPr>
              <a:spLocks noChangeShapeType="1"/>
            </p:cNvSpPr>
            <p:nvPr/>
          </p:nvSpPr>
          <p:spPr bwMode="auto">
            <a:xfrm>
              <a:off x="5745179" y="1741449"/>
              <a:ext cx="30160" cy="2768251"/>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56" name="Line 126"/>
            <p:cNvSpPr>
              <a:spLocks noChangeShapeType="1"/>
            </p:cNvSpPr>
            <p:nvPr/>
          </p:nvSpPr>
          <p:spPr bwMode="auto">
            <a:xfrm flipH="1">
              <a:off x="6927762" y="1741449"/>
              <a:ext cx="3175" cy="2839679"/>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grpSp>
          <p:nvGrpSpPr>
            <p:cNvPr id="77884" name="Group 127"/>
            <p:cNvGrpSpPr/>
            <p:nvPr/>
          </p:nvGrpSpPr>
          <p:grpSpPr bwMode="auto">
            <a:xfrm flipH="1">
              <a:off x="6012160" y="3941787"/>
              <a:ext cx="147638" cy="365125"/>
              <a:chOff x="0" y="0"/>
              <a:chExt cx="20000" cy="19999"/>
            </a:xfrm>
          </p:grpSpPr>
          <p:sp>
            <p:nvSpPr>
              <p:cNvPr id="75" name="Line 128"/>
              <p:cNvSpPr>
                <a:spLocks noChangeShapeType="1"/>
              </p:cNvSpPr>
              <p:nvPr/>
            </p:nvSpPr>
            <p:spPr bwMode="auto">
              <a:xfrm>
                <a:off x="43" y="-19"/>
                <a:ext cx="19998" cy="999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76" name="Line 129"/>
              <p:cNvSpPr>
                <a:spLocks noChangeShapeType="1"/>
              </p:cNvSpPr>
              <p:nvPr/>
            </p:nvSpPr>
            <p:spPr bwMode="auto">
              <a:xfrm flipV="1">
                <a:off x="43" y="9980"/>
                <a:ext cx="19998" cy="999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grpSp>
        <p:grpSp>
          <p:nvGrpSpPr>
            <p:cNvPr id="77885" name="Group 130"/>
            <p:cNvGrpSpPr/>
            <p:nvPr/>
          </p:nvGrpSpPr>
          <p:grpSpPr bwMode="auto">
            <a:xfrm>
              <a:off x="7207548" y="3941787"/>
              <a:ext cx="147638" cy="365125"/>
              <a:chOff x="0" y="0"/>
              <a:chExt cx="20000" cy="19999"/>
            </a:xfrm>
          </p:grpSpPr>
          <p:sp>
            <p:nvSpPr>
              <p:cNvPr id="73" name="Line 131"/>
              <p:cNvSpPr>
                <a:spLocks noChangeShapeType="1"/>
              </p:cNvSpPr>
              <p:nvPr/>
            </p:nvSpPr>
            <p:spPr bwMode="auto">
              <a:xfrm>
                <a:off x="-56" y="-19"/>
                <a:ext cx="19998" cy="999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74" name="Line 132"/>
              <p:cNvSpPr>
                <a:spLocks noChangeShapeType="1"/>
              </p:cNvSpPr>
              <p:nvPr/>
            </p:nvSpPr>
            <p:spPr bwMode="auto">
              <a:xfrm flipV="1">
                <a:off x="-56" y="9980"/>
                <a:ext cx="19998" cy="999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grpSp>
        <p:sp>
          <p:nvSpPr>
            <p:cNvPr id="59" name="Line 133"/>
            <p:cNvSpPr>
              <a:spLocks noChangeShapeType="1"/>
            </p:cNvSpPr>
            <p:nvPr/>
          </p:nvSpPr>
          <p:spPr bwMode="auto">
            <a:xfrm>
              <a:off x="6142019" y="3927160"/>
              <a:ext cx="1060356"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60" name="Line 134"/>
            <p:cNvSpPr>
              <a:spLocks noChangeShapeType="1"/>
            </p:cNvSpPr>
            <p:nvPr/>
          </p:nvSpPr>
          <p:spPr bwMode="auto">
            <a:xfrm>
              <a:off x="6142019" y="4306526"/>
              <a:ext cx="106988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61" name="Line 135"/>
            <p:cNvSpPr>
              <a:spLocks noChangeShapeType="1"/>
            </p:cNvSpPr>
            <p:nvPr/>
          </p:nvSpPr>
          <p:spPr bwMode="auto">
            <a:xfrm flipV="1">
              <a:off x="1830751" y="4123986"/>
              <a:ext cx="4177930" cy="1428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62" name="Line 136"/>
            <p:cNvSpPr>
              <a:spLocks noChangeShapeType="1"/>
            </p:cNvSpPr>
            <p:nvPr/>
          </p:nvSpPr>
          <p:spPr bwMode="auto">
            <a:xfrm>
              <a:off x="7342063" y="4123986"/>
              <a:ext cx="1206393" cy="793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63" name="Line 29"/>
            <p:cNvSpPr>
              <a:spLocks noChangeShapeType="1"/>
            </p:cNvSpPr>
            <p:nvPr/>
          </p:nvSpPr>
          <p:spPr bwMode="auto">
            <a:xfrm>
              <a:off x="7524609" y="1660496"/>
              <a:ext cx="4762" cy="30317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64" name="Line 30"/>
            <p:cNvSpPr>
              <a:spLocks noChangeShapeType="1"/>
            </p:cNvSpPr>
            <p:nvPr/>
          </p:nvSpPr>
          <p:spPr bwMode="auto">
            <a:xfrm>
              <a:off x="7511911" y="1646211"/>
              <a:ext cx="561925"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65" name="Freeform 32"/>
            <p:cNvSpPr/>
            <p:nvPr/>
          </p:nvSpPr>
          <p:spPr bwMode="auto">
            <a:xfrm>
              <a:off x="8089709" y="1939861"/>
              <a:ext cx="590498" cy="4762"/>
            </a:xfrm>
            <a:custGeom>
              <a:avLst/>
              <a:gdLst>
                <a:gd name="T0" fmla="*/ 0 w 308"/>
                <a:gd name="T1" fmla="*/ 3 h 3"/>
                <a:gd name="T2" fmla="*/ 308 w 308"/>
                <a:gd name="T3" fmla="*/ 0 h 3"/>
              </a:gdLst>
              <a:ahLst/>
              <a:cxnLst>
                <a:cxn ang="0">
                  <a:pos x="T0" y="T1"/>
                </a:cxn>
                <a:cxn ang="0">
                  <a:pos x="T2" y="T3"/>
                </a:cxn>
              </a:cxnLst>
              <a:rect l="0" t="0" r="r" b="b"/>
              <a:pathLst>
                <a:path w="308" h="3">
                  <a:moveTo>
                    <a:pt x="0" y="3"/>
                  </a:moveTo>
                  <a:lnTo>
                    <a:pt x="308" y="0"/>
                  </a:lnTo>
                </a:path>
              </a:pathLst>
            </a:custGeom>
            <a:solidFill>
              <a:srgbClr val="FFFFFF"/>
            </a:solidFill>
            <a:ln w="28575" cap="flat">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66" name="Line 29"/>
            <p:cNvSpPr>
              <a:spLocks noChangeShapeType="1"/>
            </p:cNvSpPr>
            <p:nvPr/>
          </p:nvSpPr>
          <p:spPr bwMode="auto">
            <a:xfrm>
              <a:off x="8072248" y="1641449"/>
              <a:ext cx="4763" cy="30317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67" name="Rectangle 10"/>
            <p:cNvSpPr>
              <a:spLocks noChangeArrowheads="1"/>
            </p:cNvSpPr>
            <p:nvPr/>
          </p:nvSpPr>
          <p:spPr bwMode="auto">
            <a:xfrm>
              <a:off x="7191264" y="1227164"/>
              <a:ext cx="865110" cy="444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ctr" eaLnBrk="1" fontAlgn="auto" hangingPunct="1">
                <a:spcBef>
                  <a:spcPts val="0"/>
                </a:spcBef>
                <a:spcAft>
                  <a:spcPts val="0"/>
                </a:spcAft>
                <a:defRPr/>
              </a:pPr>
              <a:r>
                <a:rPr kumimoji="0" lang="en-US" altLang="zh-CN" sz="2400" b="1" kern="0" dirty="0">
                  <a:ea typeface="宋体" panose="02010600030101010101" pitchFamily="2" charset="-122"/>
                </a:rPr>
                <a:t>T</a:t>
              </a:r>
              <a:r>
                <a:rPr kumimoji="0" lang="en-US" altLang="zh-CN" sz="2400" b="1" kern="0" baseline="-25000" dirty="0">
                  <a:ea typeface="宋体" panose="02010600030101010101" pitchFamily="2" charset="-122"/>
                </a:rPr>
                <a:t>4</a:t>
              </a:r>
              <a:endParaRPr kumimoji="0" lang="en-US" altLang="zh-CN" sz="2400" b="1" kern="0" dirty="0">
                <a:ea typeface="宋体" panose="02010600030101010101" pitchFamily="2" charset="-122"/>
              </a:endParaRPr>
            </a:p>
          </p:txBody>
        </p:sp>
        <p:sp>
          <p:nvSpPr>
            <p:cNvPr id="68" name="Line 123"/>
            <p:cNvSpPr>
              <a:spLocks noChangeShapeType="1"/>
            </p:cNvSpPr>
            <p:nvPr/>
          </p:nvSpPr>
          <p:spPr bwMode="auto">
            <a:xfrm flipH="1">
              <a:off x="8042089" y="1649386"/>
              <a:ext cx="23810" cy="2931742"/>
            </a:xfrm>
            <a:prstGeom prst="line">
              <a:avLst/>
            </a:prstGeom>
            <a:noFill/>
            <a:ln w="635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69" name="Line 36"/>
            <p:cNvSpPr>
              <a:spLocks noChangeShapeType="1"/>
            </p:cNvSpPr>
            <p:nvPr/>
          </p:nvSpPr>
          <p:spPr bwMode="auto">
            <a:xfrm>
              <a:off x="5667399" y="3327161"/>
              <a:ext cx="0" cy="31746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70" name="Line 37"/>
            <p:cNvSpPr>
              <a:spLocks noChangeShapeType="1"/>
            </p:cNvSpPr>
            <p:nvPr/>
          </p:nvSpPr>
          <p:spPr bwMode="auto">
            <a:xfrm>
              <a:off x="5659462" y="3319225"/>
              <a:ext cx="879397" cy="793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71" name="Line 36"/>
            <p:cNvSpPr>
              <a:spLocks noChangeShapeType="1"/>
            </p:cNvSpPr>
            <p:nvPr/>
          </p:nvSpPr>
          <p:spPr bwMode="auto">
            <a:xfrm>
              <a:off x="6532509" y="3319225"/>
              <a:ext cx="3175" cy="32539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sp>
          <p:nvSpPr>
            <p:cNvPr id="72" name="Line 37"/>
            <p:cNvSpPr>
              <a:spLocks noChangeShapeType="1"/>
            </p:cNvSpPr>
            <p:nvPr/>
          </p:nvSpPr>
          <p:spPr bwMode="auto">
            <a:xfrm>
              <a:off x="6530922" y="3639860"/>
              <a:ext cx="1996898" cy="15873"/>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latin typeface="Arial" panose="020B0604020202020204" pitchFamily="34" charset="0"/>
                <a:ea typeface="宋体" panose="02010600030101010101" pitchFamily="2" charset="-122"/>
              </a:endParaRPr>
            </a:p>
          </p:txBody>
        </p:sp>
      </p:grpSp>
      <p:sp>
        <p:nvSpPr>
          <p:cNvPr id="77830" name="Line 6"/>
          <p:cNvSpPr>
            <a:spLocks noChangeShapeType="1"/>
          </p:cNvSpPr>
          <p:nvPr/>
        </p:nvSpPr>
        <p:spPr bwMode="auto">
          <a:xfrm flipH="1">
            <a:off x="4530725" y="4614863"/>
            <a:ext cx="258763" cy="301625"/>
          </a:xfrm>
          <a:prstGeom prst="line">
            <a:avLst/>
          </a:prstGeom>
          <a:noFill/>
          <a:ln w="2857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831" name="Line 6"/>
          <p:cNvSpPr>
            <a:spLocks noChangeShapeType="1"/>
          </p:cNvSpPr>
          <p:nvPr/>
        </p:nvSpPr>
        <p:spPr bwMode="auto">
          <a:xfrm flipH="1">
            <a:off x="5726113" y="4287838"/>
            <a:ext cx="258762" cy="301625"/>
          </a:xfrm>
          <a:prstGeom prst="line">
            <a:avLst/>
          </a:prstGeom>
          <a:noFill/>
          <a:ln w="2857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832" name="Line 6"/>
          <p:cNvSpPr>
            <a:spLocks noChangeShapeType="1"/>
          </p:cNvSpPr>
          <p:nvPr/>
        </p:nvSpPr>
        <p:spPr bwMode="auto">
          <a:xfrm flipH="1">
            <a:off x="6884988" y="4595813"/>
            <a:ext cx="260350" cy="301625"/>
          </a:xfrm>
          <a:prstGeom prst="line">
            <a:avLst/>
          </a:prstGeom>
          <a:noFill/>
          <a:ln w="2857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Tree>
  </p:cSld>
  <p:clrMapOvr>
    <a:masterClrMapping/>
  </p:clrMapOvr>
  <p:transition spd="med">
    <p:pull dir="r"/>
  </p:transition>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p:txBody>
          <a:bodyPr/>
          <a:lstStyle/>
          <a:p>
            <a:pPr eaLnBrk="1" hangingPunct="1">
              <a:defRPr/>
            </a:pPr>
            <a:r>
              <a:rPr lang="zh-CN" altLang="en-US"/>
              <a:t>分离方式</a:t>
            </a:r>
            <a:endParaRPr lang="zh-CN" altLang="en-US"/>
          </a:p>
        </p:txBody>
      </p:sp>
      <p:sp>
        <p:nvSpPr>
          <p:cNvPr id="79876" name="Rectangle 3"/>
          <p:cNvSpPr>
            <a:spLocks noGrp="1" noChangeArrowheads="1"/>
          </p:cNvSpPr>
          <p:nvPr>
            <p:ph type="body" idx="1"/>
          </p:nvPr>
        </p:nvSpPr>
        <p:spPr/>
        <p:txBody>
          <a:bodyPr/>
          <a:lstStyle/>
          <a:p>
            <a:pPr eaLnBrk="1" hangingPunct="1"/>
            <a:r>
              <a:rPr lang="zh-CN" altLang="en-US" sz="2800"/>
              <a:t>将传输周期（总线周期）分成两个子周期</a:t>
            </a:r>
            <a:endParaRPr lang="zh-CN" altLang="en-US" sz="2800"/>
          </a:p>
          <a:p>
            <a:pPr lvl="1" eaLnBrk="1" hangingPunct="1"/>
            <a:r>
              <a:rPr lang="zh-CN" altLang="en-US" sz="2400"/>
              <a:t>子周期1</a:t>
            </a:r>
            <a:endParaRPr lang="zh-CN" altLang="en-US" sz="2400"/>
          </a:p>
          <a:p>
            <a:pPr lvl="1" eaLnBrk="1" hangingPunct="1">
              <a:buFont typeface="Wingdings" panose="05000000000000000000" pitchFamily="2" charset="2"/>
              <a:buNone/>
            </a:pPr>
            <a:r>
              <a:rPr lang="zh-CN" altLang="en-US" sz="2400"/>
              <a:t>   主模块申请总线，发出地址、控制命令（读或写）。使用完后释放总线，供其他模块使用。</a:t>
            </a:r>
            <a:endParaRPr lang="zh-CN" altLang="en-US" sz="2400"/>
          </a:p>
          <a:p>
            <a:pPr lvl="1" eaLnBrk="1" hangingPunct="1"/>
            <a:r>
              <a:rPr lang="zh-CN" altLang="en-US" sz="2400"/>
              <a:t>子周期2</a:t>
            </a:r>
            <a:endParaRPr lang="zh-CN" altLang="en-US" sz="2400"/>
          </a:p>
          <a:p>
            <a:pPr lvl="1" eaLnBrk="1" hangingPunct="1">
              <a:buFont typeface="Wingdings" panose="05000000000000000000" pitchFamily="2" charset="2"/>
              <a:buNone/>
            </a:pPr>
            <a:r>
              <a:rPr lang="zh-CN" altLang="en-US" sz="2400"/>
              <a:t>   从模块准备好数据后，申请总线，获准后将数据送至总线上。</a:t>
            </a:r>
            <a:endParaRPr lang="zh-CN" altLang="en-US" sz="2400"/>
          </a:p>
          <a:p>
            <a:pPr eaLnBrk="1" hangingPunct="1"/>
            <a:r>
              <a:rPr lang="zh-CN" altLang="en-US" sz="2800"/>
              <a:t>特点</a:t>
            </a:r>
            <a:endParaRPr lang="zh-CN" altLang="en-US" sz="2800"/>
          </a:p>
          <a:p>
            <a:pPr lvl="1" eaLnBrk="1" hangingPunct="1"/>
            <a:r>
              <a:rPr lang="zh-CN" altLang="en-US" sz="2400"/>
              <a:t>模块准备数据时，不占用总线</a:t>
            </a:r>
            <a:endParaRPr lang="en-US" altLang="zh-CN" sz="2400"/>
          </a:p>
          <a:p>
            <a:pPr lvl="1" eaLnBrk="1" hangingPunct="1"/>
            <a:r>
              <a:rPr lang="zh-CN" altLang="en-US" sz="2400"/>
              <a:t>大大提高总线的利用率</a:t>
            </a:r>
            <a:endParaRPr lang="zh-CN" altLang="en-US" sz="2400"/>
          </a:p>
          <a:p>
            <a:pPr lvl="1" eaLnBrk="1" hangingPunct="1"/>
            <a:r>
              <a:rPr lang="zh-CN" altLang="en-US" sz="2400"/>
              <a:t>适用于多个主模块的系统</a:t>
            </a:r>
            <a:endParaRPr lang="zh-CN" altLang="en-US" sz="2400"/>
          </a:p>
        </p:txBody>
      </p:sp>
    </p:spTree>
  </p:cSld>
  <p:clrMapOvr>
    <a:masterClrMapping/>
  </p:clrMapOvr>
  <p:transition spd="med">
    <p:pull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defRPr/>
            </a:pPr>
            <a:r>
              <a:rPr lang="zh-CN" altLang="en-US"/>
              <a:t>总线数据传送模式（</a:t>
            </a:r>
            <a:r>
              <a:rPr lang="en-US" altLang="zh-CN"/>
              <a:t>1</a:t>
            </a:r>
            <a:r>
              <a:rPr lang="zh-CN" altLang="en-US"/>
              <a:t>）</a:t>
            </a:r>
            <a:endParaRPr lang="zh-CN" altLang="en-US"/>
          </a:p>
        </p:txBody>
      </p:sp>
      <p:sp>
        <p:nvSpPr>
          <p:cNvPr id="81923" name="Rectangle 3"/>
          <p:cNvSpPr>
            <a:spLocks noGrp="1" noChangeArrowheads="1"/>
          </p:cNvSpPr>
          <p:nvPr>
            <p:ph type="body" idx="1"/>
          </p:nvPr>
        </p:nvSpPr>
        <p:spPr>
          <a:xfrm>
            <a:off x="381000" y="1143000"/>
            <a:ext cx="6216650" cy="5238750"/>
          </a:xfrm>
        </p:spPr>
        <p:txBody>
          <a:bodyPr/>
          <a:lstStyle/>
          <a:p>
            <a:r>
              <a:rPr lang="zh-CN" altLang="en-US" dirty="0"/>
              <a:t>读、写操作</a:t>
            </a:r>
            <a:endParaRPr lang="en-US" altLang="zh-CN" dirty="0"/>
          </a:p>
          <a:p>
            <a:pPr lvl="1"/>
            <a:r>
              <a:rPr lang="zh-CN" altLang="en-US" dirty="0"/>
              <a:t>读操作是由从方到主方的数据传送</a:t>
            </a:r>
            <a:endParaRPr lang="en-US" altLang="zh-CN" dirty="0"/>
          </a:p>
          <a:p>
            <a:pPr lvl="1"/>
            <a:r>
              <a:rPr lang="zh-CN" altLang="en-US" dirty="0"/>
              <a:t>写操作是由主方到从方的数据传送</a:t>
            </a:r>
            <a:endParaRPr lang="en-US" altLang="zh-CN" dirty="0"/>
          </a:p>
          <a:p>
            <a:pPr lvl="1"/>
            <a:r>
              <a:rPr lang="zh-CN" altLang="en-US" dirty="0"/>
              <a:t>通常，主方先以一个总线周期发出命令和从方地址，经过一定的延时再开始数据传送总线周期。</a:t>
            </a:r>
            <a:endParaRPr lang="en-US" altLang="zh-CN" dirty="0"/>
          </a:p>
          <a:p>
            <a:pPr marL="12700" lvl="1" indent="14605">
              <a:buFont typeface="Wingdings" panose="05000000000000000000" pitchFamily="2" charset="2"/>
              <a:buNone/>
            </a:pPr>
            <a:r>
              <a:rPr lang="zh-CN" altLang="en-US" dirty="0"/>
              <a:t>为了提高总线利用率，减少延时损失，主方完成寻址总线周期后可让出总线控制权，以使其他主方完成更紧迫的操作。然后再重新竞争总线，完成数据传送总线周期</a:t>
            </a:r>
            <a:endParaRPr lang="zh-CN" altLang="en-US" dirty="0"/>
          </a:p>
          <a:p>
            <a:pPr>
              <a:buFont typeface="Wingdings" panose="05000000000000000000" pitchFamily="2" charset="2"/>
              <a:buNone/>
            </a:pPr>
            <a:endParaRPr lang="en-US" altLang="zh-CN" dirty="0"/>
          </a:p>
        </p:txBody>
      </p:sp>
      <p:pic>
        <p:nvPicPr>
          <p:cNvPr id="81924"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618288" y="1628775"/>
            <a:ext cx="2525712" cy="206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a:defRPr/>
            </a:pPr>
            <a:r>
              <a:rPr lang="zh-CN" altLang="en-US"/>
              <a:t>总线数据传送模式（</a:t>
            </a:r>
            <a:r>
              <a:rPr lang="en-US" altLang="zh-CN"/>
              <a:t>2</a:t>
            </a:r>
            <a:r>
              <a:rPr lang="zh-CN" altLang="en-US"/>
              <a:t>）</a:t>
            </a:r>
            <a:endParaRPr lang="zh-CN" altLang="en-US"/>
          </a:p>
        </p:txBody>
      </p:sp>
      <p:sp>
        <p:nvSpPr>
          <p:cNvPr id="83971" name="Rectangle 3"/>
          <p:cNvSpPr>
            <a:spLocks noGrp="1" noChangeArrowheads="1"/>
          </p:cNvSpPr>
          <p:nvPr>
            <p:ph type="body" idx="1"/>
          </p:nvPr>
        </p:nvSpPr>
        <p:spPr/>
        <p:txBody>
          <a:bodyPr/>
          <a:lstStyle/>
          <a:p>
            <a:r>
              <a:rPr lang="zh-CN" altLang="en-US" dirty="0"/>
              <a:t>块传送操作</a:t>
            </a:r>
            <a:endParaRPr lang="en-US" altLang="zh-CN" dirty="0"/>
          </a:p>
          <a:p>
            <a:pPr lvl="1"/>
            <a:r>
              <a:rPr lang="zh-CN" altLang="en-US" dirty="0"/>
              <a:t>只需给出块的起始地址，然后对固定块长度的数据逐一地读出或写入。对于</a:t>
            </a:r>
            <a:r>
              <a:rPr lang="en-US" altLang="zh-CN" dirty="0"/>
              <a:t>CPU</a:t>
            </a:r>
            <a:r>
              <a:rPr lang="zh-CN" altLang="en-US" dirty="0"/>
              <a:t>（主方）</a:t>
            </a:r>
            <a:r>
              <a:rPr lang="zh-CN" altLang="en-US" dirty="0">
                <a:sym typeface="Symbol" panose="05050102010706020507" pitchFamily="18" charset="2"/>
              </a:rPr>
              <a:t></a:t>
            </a:r>
            <a:r>
              <a:rPr lang="zh-CN" altLang="en-US" dirty="0"/>
              <a:t>存储器（从方）而言的块传送，常称为突发式传送，其块长一般固定为数据线宽度（存储器字长）的</a:t>
            </a:r>
            <a:r>
              <a:rPr lang="en-US" altLang="zh-CN" dirty="0"/>
              <a:t>4</a:t>
            </a:r>
            <a:r>
              <a:rPr lang="zh-CN" altLang="en-US" dirty="0"/>
              <a:t>倍。</a:t>
            </a:r>
            <a:endParaRPr lang="en-US" altLang="zh-CN" dirty="0"/>
          </a:p>
          <a:p>
            <a:pPr lvl="1"/>
            <a:r>
              <a:rPr lang="zh-CN" altLang="en-US" dirty="0"/>
              <a:t>例如一个</a:t>
            </a:r>
            <a:r>
              <a:rPr lang="en-US" altLang="zh-CN" dirty="0"/>
              <a:t>64</a:t>
            </a:r>
            <a:r>
              <a:rPr lang="zh-CN" altLang="en-US" dirty="0"/>
              <a:t>位数据线的总线，一次突发式传送可达</a:t>
            </a:r>
            <a:r>
              <a:rPr lang="en-US" altLang="zh-CN" dirty="0"/>
              <a:t>256</a:t>
            </a:r>
            <a:r>
              <a:rPr lang="zh-CN" altLang="en-US" dirty="0"/>
              <a:t>位。这在超标量流水中十分有用。</a:t>
            </a:r>
            <a:endParaRPr lang="zh-CN" altLang="en-US" dirty="0"/>
          </a:p>
        </p:txBody>
      </p:sp>
      <p:pic>
        <p:nvPicPr>
          <p:cNvPr id="8397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19250" y="4437063"/>
            <a:ext cx="645795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a:defRPr/>
            </a:pPr>
            <a:r>
              <a:rPr lang="zh-CN" altLang="en-US"/>
              <a:t>总线数据传送模式（</a:t>
            </a:r>
            <a:r>
              <a:rPr lang="en-US" altLang="zh-CN"/>
              <a:t>3</a:t>
            </a:r>
            <a:r>
              <a:rPr lang="zh-CN" altLang="en-US"/>
              <a:t>）</a:t>
            </a:r>
            <a:endParaRPr lang="zh-CN" altLang="en-US"/>
          </a:p>
        </p:txBody>
      </p:sp>
      <p:sp>
        <p:nvSpPr>
          <p:cNvPr id="84995" name="Rectangle 3"/>
          <p:cNvSpPr>
            <a:spLocks noGrp="1" noChangeArrowheads="1"/>
          </p:cNvSpPr>
          <p:nvPr>
            <p:ph type="body" idx="1"/>
          </p:nvPr>
        </p:nvSpPr>
        <p:spPr/>
        <p:txBody>
          <a:bodyPr/>
          <a:lstStyle/>
          <a:p>
            <a:r>
              <a:rPr lang="zh-CN" altLang="en-US"/>
              <a:t>写后读、读修改写操作</a:t>
            </a:r>
            <a:endParaRPr lang="en-US" altLang="zh-CN"/>
          </a:p>
          <a:p>
            <a:pPr lvl="1"/>
            <a:r>
              <a:rPr lang="zh-CN" altLang="en-US"/>
              <a:t>这是两种组合操作。只给出地址一次（表示同一地址），或进行先写后读操作，或进行先读后写操作。前者用于校验目的，后者用于多道程序系统中对共享存储资源的保护。这两种操作和突发式操作一样，主方掌管总线直到整个操作完成。</a:t>
            </a:r>
            <a:endParaRPr lang="zh-CN" altLang="en-US"/>
          </a:p>
        </p:txBody>
      </p:sp>
      <p:pic>
        <p:nvPicPr>
          <p:cNvPr id="8499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828800" y="3716338"/>
            <a:ext cx="5486400"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7"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5280025"/>
            <a:ext cx="5484813"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a:defRPr/>
            </a:pPr>
            <a:r>
              <a:rPr lang="zh-CN" altLang="en-US"/>
              <a:t>总线数据传送模式（</a:t>
            </a:r>
            <a:r>
              <a:rPr lang="en-US" altLang="zh-CN"/>
              <a:t>4</a:t>
            </a:r>
            <a:r>
              <a:rPr lang="zh-CN" altLang="en-US"/>
              <a:t>）</a:t>
            </a:r>
            <a:endParaRPr lang="zh-CN" altLang="en-US"/>
          </a:p>
        </p:txBody>
      </p:sp>
      <p:sp>
        <p:nvSpPr>
          <p:cNvPr id="86019" name="Rectangle 3"/>
          <p:cNvSpPr>
            <a:spLocks noGrp="1" noChangeArrowheads="1"/>
          </p:cNvSpPr>
          <p:nvPr>
            <p:ph type="body" idx="1"/>
          </p:nvPr>
        </p:nvSpPr>
        <p:spPr>
          <a:xfrm>
            <a:off x="381000" y="1143000"/>
            <a:ext cx="8382000" cy="5187014"/>
          </a:xfrm>
        </p:spPr>
        <p:txBody>
          <a:bodyPr/>
          <a:lstStyle/>
          <a:p>
            <a:r>
              <a:rPr lang="zh-CN" altLang="en-US" dirty="0"/>
              <a:t>广播、广集操作</a:t>
            </a:r>
            <a:endParaRPr lang="en-US" altLang="zh-CN" dirty="0"/>
          </a:p>
          <a:p>
            <a:pPr lvl="1"/>
            <a:r>
              <a:rPr lang="zh-CN" altLang="en-US" dirty="0"/>
              <a:t>一般而言，数据传送只在一个主方和一个从方之间进行。</a:t>
            </a:r>
            <a:endParaRPr lang="en-US" altLang="zh-CN" dirty="0"/>
          </a:p>
          <a:p>
            <a:pPr lvl="1"/>
            <a:r>
              <a:rPr lang="zh-CN" altLang="en-US" dirty="0"/>
              <a:t>但有的总线允许一个主方对多个从方进行写操作，这种操作称为广播。</a:t>
            </a:r>
            <a:endParaRPr lang="en-US" altLang="zh-CN" dirty="0"/>
          </a:p>
          <a:p>
            <a:pPr lvl="1"/>
            <a:r>
              <a:rPr lang="zh-CN" altLang="en-US" dirty="0"/>
              <a:t>与广播相反的操作称为广集，它将选定的多个从方数据在总线上完成</a:t>
            </a:r>
            <a:r>
              <a:rPr lang="en-US" altLang="zh-CN" dirty="0"/>
              <a:t>AND</a:t>
            </a:r>
            <a:r>
              <a:rPr lang="zh-CN" altLang="en-US" dirty="0"/>
              <a:t>或</a:t>
            </a:r>
            <a:r>
              <a:rPr lang="en-US" altLang="zh-CN" dirty="0"/>
              <a:t>OR</a:t>
            </a:r>
            <a:r>
              <a:rPr lang="zh-CN" altLang="en-US" dirty="0"/>
              <a:t>操作，用以检测多个中断源。</a:t>
            </a:r>
            <a:endParaRPr lang="zh-CN" altLang="en-US" dirty="0"/>
          </a:p>
        </p:txBody>
      </p:sp>
    </p:spTree>
  </p:cSld>
  <p:clrMapOvr>
    <a:masterClrMapping/>
  </p:clrMapOvr>
  <p:transition spd="med">
    <p:pull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动手做</a:t>
            </a:r>
            <a:endParaRPr lang="zh-CN" altLang="en-US" dirty="0"/>
          </a:p>
        </p:txBody>
      </p:sp>
      <p:sp>
        <p:nvSpPr>
          <p:cNvPr id="87043" name="内容占位符 2"/>
          <p:cNvSpPr>
            <a:spLocks noGrp="1" noChangeArrowheads="1"/>
          </p:cNvSpPr>
          <p:nvPr>
            <p:ph idx="1"/>
          </p:nvPr>
        </p:nvSpPr>
        <p:spPr/>
        <p:txBody>
          <a:bodyPr/>
          <a:lstStyle/>
          <a:p>
            <a:endParaRPr lang="zh-CN" altLang="en-US"/>
          </a:p>
        </p:txBody>
      </p:sp>
      <p:pic>
        <p:nvPicPr>
          <p:cNvPr id="87045"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6200" y="1066800"/>
            <a:ext cx="7172325"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6"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1613" y="2924175"/>
            <a:ext cx="83439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en-US" altLang="zh-CN" sz="4800" dirty="0"/>
              <a:t>6.5 PCI</a:t>
            </a:r>
            <a:r>
              <a:rPr lang="zh-CN" altLang="en-US" sz="4800" dirty="0"/>
              <a:t>总线</a:t>
            </a:r>
            <a:endParaRPr lang="zh-CN" altLang="en-US"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52400" y="304800"/>
            <a:ext cx="7315200" cy="812800"/>
          </a:xfrm>
        </p:spPr>
        <p:txBody>
          <a:bodyPr/>
          <a:p>
            <a:r>
              <a:rPr lang="zh-CN" altLang="en-US"/>
              <a:t>常用总线标准</a:t>
            </a:r>
            <a:endParaRPr lang="zh-CN" altLang="en-US"/>
          </a:p>
        </p:txBody>
      </p:sp>
      <p:sp>
        <p:nvSpPr>
          <p:cNvPr id="4" name="文本框 3"/>
          <p:cNvSpPr txBox="1"/>
          <p:nvPr/>
        </p:nvSpPr>
        <p:spPr>
          <a:xfrm>
            <a:off x="304800" y="1371600"/>
            <a:ext cx="8303260" cy="4677410"/>
          </a:xfrm>
          <a:prstGeom prst="rect">
            <a:avLst/>
          </a:prstGeom>
          <a:noFill/>
        </p:spPr>
        <p:txBody>
          <a:bodyPr wrap="square" rtlCol="0" anchor="t">
            <a:spAutoFit/>
          </a:bodyPr>
          <a:p>
            <a:pPr marL="254000" indent="-254000" algn="l">
              <a:spcBef>
                <a:spcPts val="600"/>
              </a:spcBef>
              <a:buClr>
                <a:srgbClr val="CC3300"/>
              </a:buClr>
              <a:buSzPct val="70000"/>
              <a:buFont typeface="Wingdings" panose="05000000000000000000" pitchFamily="2" charset="2"/>
              <a:buChar char="n"/>
            </a:pP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rPr>
              <a:t>目前，典型的总线标准有ISA，EISA，VESA，PCI，PCI-Express，AGP，RS-232C，USB等。它们的主要区别是总线宽度，带宽，时钟频率，寻址能力，是否支持突发传送等。</a:t>
            </a:r>
            <a:endPar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gn="l">
              <a:spcBef>
                <a:spcPts val="600"/>
              </a:spcBef>
              <a:buClr>
                <a:srgbClr val="CC3300"/>
              </a:buClr>
              <a:buSzPct val="70000"/>
              <a:buFont typeface="Wingdings" panose="05000000000000000000" charset="0"/>
              <a:buChar char="Ø"/>
            </a:pP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rPr>
              <a:t>1. ISA总线：ISA总线: (Industry Standard Architecture:工业标准体系结构）是IBM公司为PC/AT电脑而制定的总线标准，为16位体系结构，只能支持16位的I/O设备。</a:t>
            </a:r>
            <a:endPar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gn="l">
              <a:spcBef>
                <a:spcPts val="600"/>
              </a:spcBef>
              <a:buClr>
                <a:srgbClr val="CC3300"/>
              </a:buClr>
              <a:buSzPct val="70000"/>
              <a:buFont typeface="Wingdings" panose="05000000000000000000" charset="0"/>
              <a:buChar char="Ø"/>
            </a:pP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rPr>
              <a:t>2. EISA总线：EISA(Extended Industry Standard Architecture:扩展工业标准结构）是EISA集团为配合32位CPU而设计的总线扩展标准。它吸收了IBM微通道总线的精华，并且兼容ISA总线。</a:t>
            </a:r>
            <a:endPar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52400" y="304800"/>
            <a:ext cx="7315200" cy="812800"/>
          </a:xfrm>
        </p:spPr>
        <p:txBody>
          <a:bodyPr/>
          <a:p>
            <a:r>
              <a:rPr lang="zh-CN" altLang="en-US"/>
              <a:t>常用总线标准</a:t>
            </a:r>
            <a:endParaRPr lang="zh-CN" altLang="en-US"/>
          </a:p>
        </p:txBody>
      </p:sp>
      <p:sp>
        <p:nvSpPr>
          <p:cNvPr id="4" name="文本框 3"/>
          <p:cNvSpPr txBox="1"/>
          <p:nvPr/>
        </p:nvSpPr>
        <p:spPr>
          <a:xfrm>
            <a:off x="304800" y="1371600"/>
            <a:ext cx="8303260" cy="5123180"/>
          </a:xfrm>
          <a:prstGeom prst="rect">
            <a:avLst/>
          </a:prstGeom>
          <a:noFill/>
        </p:spPr>
        <p:txBody>
          <a:bodyPr wrap="square" rtlCol="0" anchor="t">
            <a:spAutoFit/>
          </a:bodyPr>
          <a:p>
            <a:pPr marL="342900" indent="-342900" algn="l">
              <a:spcBef>
                <a:spcPts val="600"/>
              </a:spcBef>
              <a:buClr>
                <a:srgbClr val="CC3300"/>
              </a:buClr>
              <a:buSzPct val="70000"/>
              <a:buFont typeface="Wingdings" panose="05000000000000000000" charset="0"/>
              <a:buChar char="Ø"/>
            </a:pPr>
            <a:r>
              <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rPr>
              <a:t> VESA（video electronics standard association）总线是一个32位标准的计算机局部总线，是针对多媒体PC要求高速传送活动图像的大量数据应运而生。</a:t>
            </a:r>
            <a:endPar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l">
              <a:spcBef>
                <a:spcPts val="600"/>
              </a:spcBef>
              <a:buClr>
                <a:srgbClr val="CC3300"/>
              </a:buClr>
              <a:buSzPct val="70000"/>
              <a:buFont typeface="Wingdings" panose="05000000000000000000" charset="0"/>
              <a:buChar char="Ø"/>
            </a:pP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rPr>
              <a:t>4. PCI是Peripheral Component Interconnect(外设部件互连标准)的缩写，它是目前个人电脑中使用最为广泛的接口，几乎所有的主板产品上都带有这种插槽。</a:t>
            </a:r>
            <a:endPar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l">
              <a:spcBef>
                <a:spcPts val="600"/>
              </a:spcBef>
              <a:buClr>
                <a:srgbClr val="CC3300"/>
              </a:buClr>
              <a:buSzPct val="70000"/>
              <a:buFont typeface="Wingdings" panose="05000000000000000000" charset="0"/>
              <a:buChar char="Ø"/>
            </a:pP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rPr>
              <a:t>5. PCI-E(PCI-Express)是一种通用的总线规格，它由Intel所提倡和推广，其最终的设计目的是为了取代现有电脑系统内部的总线传输接口，这不只包括显示接口，还囊括了CPU、PCI、HDD、Network等多种应用接口。</a:t>
            </a:r>
            <a:endPar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l">
              <a:spcBef>
                <a:spcPts val="600"/>
              </a:spcBef>
              <a:buClr>
                <a:srgbClr val="CC3300"/>
              </a:buClr>
              <a:buSzPct val="70000"/>
              <a:buFont typeface="Wingdings" panose="05000000000000000000" charset="0"/>
              <a:buChar char="Ø"/>
            </a:pP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rPr>
              <a:t>6. AGP是加速图像接口（Accelerated Graphics Port）,是英特尔推出的一种3D标准图像接口，它能够提供四倍于PCI的效率。</a:t>
            </a:r>
            <a:endPar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52400" y="304800"/>
            <a:ext cx="7315200" cy="812800"/>
          </a:xfrm>
        </p:spPr>
        <p:txBody>
          <a:bodyPr/>
          <a:p>
            <a:r>
              <a:rPr lang="zh-CN" altLang="en-US"/>
              <a:t>常用总线标准</a:t>
            </a:r>
            <a:endParaRPr lang="zh-CN" altLang="en-US"/>
          </a:p>
        </p:txBody>
      </p:sp>
      <p:sp>
        <p:nvSpPr>
          <p:cNvPr id="4" name="文本框 3"/>
          <p:cNvSpPr txBox="1"/>
          <p:nvPr/>
        </p:nvSpPr>
        <p:spPr>
          <a:xfrm>
            <a:off x="304800" y="1371600"/>
            <a:ext cx="8303260" cy="5123180"/>
          </a:xfrm>
          <a:prstGeom prst="rect">
            <a:avLst/>
          </a:prstGeom>
          <a:noFill/>
        </p:spPr>
        <p:txBody>
          <a:bodyPr wrap="square" rtlCol="0" anchor="t">
            <a:spAutoFit/>
          </a:bodyPr>
          <a:p>
            <a:pPr marL="342900" indent="-342900" algn="l">
              <a:spcBef>
                <a:spcPts val="600"/>
              </a:spcBef>
              <a:buClr>
                <a:srgbClr val="CC3300"/>
              </a:buClr>
              <a:buSzPct val="70000"/>
              <a:buFont typeface="Wingdings" panose="05000000000000000000" charset="0"/>
              <a:buChar char="Ø"/>
            </a:pPr>
            <a:r>
              <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rPr>
              <a:t> VESA（video electronics standard association）总线是一个32位标准的计算机局部总线，是针对多媒体PC要求高速传送活动图像的大量数据应运而生。</a:t>
            </a:r>
            <a:endPar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l">
              <a:spcBef>
                <a:spcPts val="600"/>
              </a:spcBef>
              <a:buClr>
                <a:srgbClr val="CC3300"/>
              </a:buClr>
              <a:buSzPct val="70000"/>
              <a:buFont typeface="Wingdings" panose="05000000000000000000" charset="0"/>
              <a:buChar char="Ø"/>
            </a:pP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rPr>
              <a:t>4. PCI是Peripheral Component Interconnect(外设部件互连标准)的缩写，它是目前个人电脑中使用最为广泛的接口，几乎所有的主板产品上都带有这种插槽。</a:t>
            </a:r>
            <a:endPar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l">
              <a:spcBef>
                <a:spcPts val="600"/>
              </a:spcBef>
              <a:buClr>
                <a:srgbClr val="CC3300"/>
              </a:buClr>
              <a:buSzPct val="70000"/>
              <a:buFont typeface="Wingdings" panose="05000000000000000000" charset="0"/>
              <a:buChar char="Ø"/>
            </a:pP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rPr>
              <a:t>5. PCI-E(PCI-Express)是一种通用的总线规格，它由Intel所提倡和推广，其最终的设计目的是为了取代现有电脑系统内部的总线传输接口，这不只包括显示接口，还囊括了CPU、PCI、HDD、Network等多种应用接口。</a:t>
            </a:r>
            <a:endPar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l">
              <a:spcBef>
                <a:spcPts val="600"/>
              </a:spcBef>
              <a:buClr>
                <a:srgbClr val="CC3300"/>
              </a:buClr>
              <a:buSzPct val="70000"/>
              <a:buFont typeface="Wingdings" panose="05000000000000000000" charset="0"/>
              <a:buChar char="Ø"/>
            </a:pP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rPr>
              <a:t>6. AGP是加速图像接口（Accelerated Graphics Port）,是英特尔推出的一种3D标准图像接口，它能够提供四倍于PCI的效率。</a:t>
            </a:r>
            <a:endPar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52400" y="304800"/>
            <a:ext cx="7315200" cy="812800"/>
          </a:xfrm>
        </p:spPr>
        <p:txBody>
          <a:bodyPr/>
          <a:p>
            <a:r>
              <a:rPr lang="zh-CN" altLang="en-US"/>
              <a:t>常用总线标准</a:t>
            </a:r>
            <a:endParaRPr lang="zh-CN" altLang="en-US"/>
          </a:p>
        </p:txBody>
      </p:sp>
      <p:sp>
        <p:nvSpPr>
          <p:cNvPr id="4" name="文本框 3"/>
          <p:cNvSpPr txBox="1"/>
          <p:nvPr/>
        </p:nvSpPr>
        <p:spPr>
          <a:xfrm>
            <a:off x="304800" y="1371600"/>
            <a:ext cx="8303260" cy="5046345"/>
          </a:xfrm>
          <a:prstGeom prst="rect">
            <a:avLst/>
          </a:prstGeom>
          <a:noFill/>
        </p:spPr>
        <p:txBody>
          <a:bodyPr wrap="square" rtlCol="0" anchor="t">
            <a:spAutoFit/>
          </a:bodyPr>
          <a:p>
            <a:pPr marL="342900" indent="-342900" algn="l">
              <a:spcBef>
                <a:spcPts val="600"/>
              </a:spcBef>
              <a:buClr>
                <a:srgbClr val="CC3300"/>
              </a:buClr>
              <a:buSzPct val="70000"/>
              <a:buFont typeface="Wingdings" panose="05000000000000000000" charset="0"/>
              <a:buChar char="Ø"/>
            </a:pP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rPr>
              <a:t>7. 通用串行总线USB（universal serial bus）是由Intel、 Compaq、Digital、IBM、Microsoft、NEC、Northern Telecom等7家世界著名的计算机和通信公司共同推出的一种新型接口标准。它基于通用连接技术，实现外设的简单快速连接，达到方便用户、降低成本、扩展PC连接外设范围的目的。</a:t>
            </a:r>
            <a:endPar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l">
              <a:spcBef>
                <a:spcPts val="600"/>
              </a:spcBef>
              <a:buClr>
                <a:srgbClr val="CC3300"/>
              </a:buClr>
              <a:buSzPct val="70000"/>
              <a:buFont typeface="Wingdings" panose="05000000000000000000" charset="0"/>
              <a:buChar char="Ø"/>
            </a:pP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rPr>
              <a:t>8. SCSI－小型计算机系统接口(Small Computer System Interface)，是种较为特殊的接口总线，具备与多种类型的外设进行通信（硬盘，光驱，打印机等）。</a:t>
            </a:r>
            <a:endPar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l">
              <a:spcBef>
                <a:spcPts val="600"/>
              </a:spcBef>
              <a:buClr>
                <a:srgbClr val="CC3300"/>
              </a:buClr>
              <a:buSzPct val="70000"/>
              <a:buFont typeface="Wingdings" panose="05000000000000000000" charset="0"/>
              <a:buChar char="Ø"/>
            </a:pP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rPr>
              <a:t>9. SATA全称是Serial Advanced Technology Attachment（串行高级技术附件，一种基于行业标准的串行硬件驱动器接口），是由Intel、IBM、Dell、APT、Maxtor和Seagate公司共同提出的硬盘接口规范。</a:t>
            </a:r>
            <a:endParaRPr lang="zh-CN" altLang="en-US" sz="2400" b="1" kern="0"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defRPr/>
            </a:pPr>
            <a:r>
              <a:rPr lang="en-US" altLang="zh-CN">
                <a:cs typeface="Times New Roman" panose="02020603050405020304" pitchFamily="18" charset="0"/>
              </a:rPr>
              <a:t>PCI</a:t>
            </a:r>
            <a:r>
              <a:rPr lang="zh-CN" altLang="en-US"/>
              <a:t>总线基本概念</a:t>
            </a:r>
            <a:endParaRPr lang="zh-CN" altLang="en-US"/>
          </a:p>
        </p:txBody>
      </p:sp>
      <p:sp>
        <p:nvSpPr>
          <p:cNvPr id="89091" name="Rectangle 3"/>
          <p:cNvSpPr>
            <a:spLocks noGrp="1" noChangeArrowheads="1"/>
          </p:cNvSpPr>
          <p:nvPr>
            <p:ph idx="1"/>
          </p:nvPr>
        </p:nvSpPr>
        <p:spPr>
          <a:xfrm>
            <a:off x="381000" y="1219200"/>
            <a:ext cx="8382000" cy="5110814"/>
          </a:xfrm>
        </p:spPr>
        <p:txBody>
          <a:bodyPr/>
          <a:lstStyle/>
          <a:p>
            <a:pPr eaLnBrk="1" hangingPunct="1"/>
            <a:r>
              <a:rPr lang="zh-CN" altLang="en-US" sz="2400" dirty="0">
                <a:solidFill>
                  <a:srgbClr val="000000"/>
                </a:solidFill>
              </a:rPr>
              <a:t>随着微处理器性能的不断提升，</a:t>
            </a:r>
            <a:r>
              <a:rPr lang="en-US" altLang="zh-CN" sz="2400" dirty="0">
                <a:solidFill>
                  <a:srgbClr val="000000"/>
                </a:solidFill>
              </a:rPr>
              <a:t>ISA</a:t>
            </a:r>
            <a:r>
              <a:rPr lang="zh-CN" altLang="en-US" sz="2400" dirty="0">
                <a:solidFill>
                  <a:srgbClr val="000000"/>
                </a:solidFill>
              </a:rPr>
              <a:t>总线16</a:t>
            </a:r>
            <a:r>
              <a:rPr lang="en-US" altLang="zh-CN" sz="2400" dirty="0">
                <a:solidFill>
                  <a:srgbClr val="000000"/>
                </a:solidFill>
              </a:rPr>
              <a:t>MB/s</a:t>
            </a:r>
            <a:r>
              <a:rPr lang="zh-CN" altLang="en-US" sz="2400" dirty="0">
                <a:solidFill>
                  <a:srgbClr val="000000"/>
                </a:solidFill>
              </a:rPr>
              <a:t>的数据传输率已成为系统的瓶颈</a:t>
            </a:r>
            <a:endParaRPr lang="zh-CN" altLang="en-US" sz="2400" dirty="0">
              <a:solidFill>
                <a:srgbClr val="000000"/>
              </a:solidFill>
            </a:endParaRPr>
          </a:p>
          <a:p>
            <a:pPr eaLnBrk="1" hangingPunct="1"/>
            <a:r>
              <a:rPr lang="zh-CN" altLang="en-US" sz="2400" dirty="0">
                <a:solidFill>
                  <a:srgbClr val="000000"/>
                </a:solidFill>
              </a:rPr>
              <a:t>1991年，由</a:t>
            </a:r>
            <a:r>
              <a:rPr lang="en-US" altLang="zh-CN" sz="2400" dirty="0">
                <a:solidFill>
                  <a:srgbClr val="000000"/>
                </a:solidFill>
              </a:rPr>
              <a:t>Intel</a:t>
            </a:r>
            <a:r>
              <a:rPr lang="zh-CN" altLang="en-US" sz="2400" dirty="0">
                <a:solidFill>
                  <a:srgbClr val="000000"/>
                </a:solidFill>
              </a:rPr>
              <a:t>公司首先提出了</a:t>
            </a:r>
            <a:r>
              <a:rPr lang="en-US" altLang="zh-CN" sz="2400" dirty="0">
                <a:solidFill>
                  <a:srgbClr val="000000"/>
                </a:solidFill>
              </a:rPr>
              <a:t>PCI （</a:t>
            </a:r>
            <a:r>
              <a:rPr lang="en-US" altLang="zh-CN" sz="2400" dirty="0">
                <a:solidFill>
                  <a:srgbClr val="000000"/>
                </a:solidFill>
                <a:sym typeface="Symbol" panose="05050102010706020507" pitchFamily="18" charset="2"/>
              </a:rPr>
              <a:t>Peripheral Component Interconnect）</a:t>
            </a:r>
            <a:r>
              <a:rPr lang="zh-CN" altLang="en-US" sz="2400" dirty="0">
                <a:solidFill>
                  <a:srgbClr val="000000"/>
                </a:solidFill>
              </a:rPr>
              <a:t>的概念。</a:t>
            </a:r>
            <a:r>
              <a:rPr lang="en-US" altLang="zh-CN" sz="2400" dirty="0">
                <a:solidFill>
                  <a:srgbClr val="000000"/>
                </a:solidFill>
              </a:rPr>
              <a:t>PCI</a:t>
            </a:r>
            <a:r>
              <a:rPr lang="zh-CN" altLang="en-US" sz="2400" dirty="0">
                <a:solidFill>
                  <a:srgbClr val="000000"/>
                </a:solidFill>
              </a:rPr>
              <a:t>总线是</a:t>
            </a:r>
            <a:r>
              <a:rPr lang="en-US" altLang="zh-CN" sz="2400" dirty="0">
                <a:solidFill>
                  <a:srgbClr val="000000"/>
                </a:solidFill>
              </a:rPr>
              <a:t>PC</a:t>
            </a:r>
            <a:r>
              <a:rPr lang="zh-CN" altLang="en-US" sz="2400" dirty="0">
                <a:solidFill>
                  <a:srgbClr val="000000"/>
                </a:solidFill>
              </a:rPr>
              <a:t>体系结构的重大发展。它打破了数据</a:t>
            </a:r>
            <a:r>
              <a:rPr lang="en-US" altLang="zh-CN" sz="2400" dirty="0">
                <a:solidFill>
                  <a:srgbClr val="000000"/>
                </a:solidFill>
              </a:rPr>
              <a:t>I/O</a:t>
            </a:r>
            <a:r>
              <a:rPr lang="zh-CN" altLang="en-US" sz="2400" dirty="0">
                <a:solidFill>
                  <a:srgbClr val="000000"/>
                </a:solidFill>
              </a:rPr>
              <a:t>的瓶颈，使高性能</a:t>
            </a:r>
            <a:r>
              <a:rPr lang="en-US" altLang="zh-CN" sz="2400" dirty="0">
                <a:solidFill>
                  <a:srgbClr val="000000"/>
                </a:solidFill>
              </a:rPr>
              <a:t>CPU</a:t>
            </a:r>
            <a:r>
              <a:rPr lang="zh-CN" altLang="en-US" sz="2400" dirty="0">
                <a:solidFill>
                  <a:srgbClr val="000000"/>
                </a:solidFill>
              </a:rPr>
              <a:t>的功能得以充分发挥。</a:t>
            </a:r>
            <a:r>
              <a:rPr lang="en-US" altLang="zh-CN" sz="2400" dirty="0">
                <a:solidFill>
                  <a:srgbClr val="000000"/>
                </a:solidFill>
              </a:rPr>
              <a:t>1992</a:t>
            </a:r>
            <a:r>
              <a:rPr lang="zh-CN" altLang="en-US" sz="2400" dirty="0">
                <a:solidFill>
                  <a:srgbClr val="000000"/>
                </a:solidFill>
              </a:rPr>
              <a:t>年</a:t>
            </a:r>
            <a:r>
              <a:rPr lang="en-US" altLang="zh-CN" sz="2400" dirty="0">
                <a:solidFill>
                  <a:srgbClr val="000000"/>
                </a:solidFill>
              </a:rPr>
              <a:t>Ver1.0→2004</a:t>
            </a:r>
            <a:r>
              <a:rPr lang="zh-CN" altLang="en-US" sz="2400" dirty="0">
                <a:solidFill>
                  <a:srgbClr val="000000"/>
                </a:solidFill>
              </a:rPr>
              <a:t>年</a:t>
            </a:r>
            <a:r>
              <a:rPr lang="en-US" altLang="zh-CN" sz="2400" dirty="0">
                <a:solidFill>
                  <a:srgbClr val="000000"/>
                </a:solidFill>
              </a:rPr>
              <a:t>Ver3.0</a:t>
            </a:r>
            <a:endParaRPr lang="en-US" altLang="zh-CN" sz="2400" dirty="0">
              <a:solidFill>
                <a:srgbClr val="000000"/>
              </a:solidFill>
            </a:endParaRPr>
          </a:p>
          <a:p>
            <a:pPr eaLnBrk="1" hangingPunct="1"/>
            <a:r>
              <a:rPr lang="en-US" altLang="zh-CN" sz="2400" dirty="0">
                <a:solidFill>
                  <a:srgbClr val="000000"/>
                </a:solidFill>
              </a:rPr>
              <a:t>PCI</a:t>
            </a:r>
            <a:r>
              <a:rPr lang="zh-CN" altLang="en-US" sz="2400" dirty="0">
                <a:solidFill>
                  <a:srgbClr val="000000"/>
                </a:solidFill>
              </a:rPr>
              <a:t>总线的含义是周边器件互连。从结构上看，</a:t>
            </a:r>
            <a:r>
              <a:rPr lang="en-US" altLang="zh-CN" sz="2400" dirty="0">
                <a:solidFill>
                  <a:srgbClr val="000000"/>
                </a:solidFill>
              </a:rPr>
              <a:t>PCI</a:t>
            </a:r>
            <a:r>
              <a:rPr lang="zh-CN" altLang="en-US" sz="2400" dirty="0">
                <a:solidFill>
                  <a:srgbClr val="000000"/>
                </a:solidFill>
              </a:rPr>
              <a:t>总线是在</a:t>
            </a:r>
            <a:r>
              <a:rPr lang="en-US" altLang="zh-CN" sz="2400" dirty="0">
                <a:solidFill>
                  <a:srgbClr val="000000"/>
                </a:solidFill>
              </a:rPr>
              <a:t>ISA</a:t>
            </a:r>
            <a:r>
              <a:rPr lang="zh-CN" altLang="en-US" sz="2400" dirty="0">
                <a:solidFill>
                  <a:srgbClr val="000000"/>
                </a:solidFill>
              </a:rPr>
              <a:t>总线和</a:t>
            </a:r>
            <a:r>
              <a:rPr lang="en-US" altLang="zh-CN" sz="2400" dirty="0">
                <a:solidFill>
                  <a:srgbClr val="000000"/>
                </a:solidFill>
              </a:rPr>
              <a:t>CPU</a:t>
            </a:r>
            <a:r>
              <a:rPr lang="zh-CN" altLang="en-US" sz="2400" dirty="0">
                <a:solidFill>
                  <a:srgbClr val="000000"/>
                </a:solidFill>
              </a:rPr>
              <a:t>总线之间插入一级总线。高速外设，如图形卡、硬盘控制器和网卡等可从</a:t>
            </a:r>
            <a:r>
              <a:rPr lang="en-US" altLang="zh-CN" sz="2400" dirty="0">
                <a:solidFill>
                  <a:srgbClr val="000000"/>
                </a:solidFill>
              </a:rPr>
              <a:t>ISA</a:t>
            </a:r>
            <a:r>
              <a:rPr lang="zh-CN" altLang="en-US" sz="2400" dirty="0">
                <a:solidFill>
                  <a:srgbClr val="000000"/>
                </a:solidFill>
              </a:rPr>
              <a:t>总线上卸下而通过局部总线直接挂接到</a:t>
            </a:r>
            <a:r>
              <a:rPr lang="en-US" altLang="zh-CN" sz="2400" dirty="0">
                <a:solidFill>
                  <a:srgbClr val="000000"/>
                </a:solidFill>
              </a:rPr>
              <a:t>CPU</a:t>
            </a:r>
            <a:r>
              <a:rPr lang="zh-CN" altLang="en-US" sz="2400" dirty="0">
                <a:solidFill>
                  <a:srgbClr val="000000"/>
                </a:solidFill>
              </a:rPr>
              <a:t>总线上，使之与高速的</a:t>
            </a:r>
            <a:r>
              <a:rPr lang="en-US" altLang="zh-CN" sz="2400" dirty="0">
                <a:solidFill>
                  <a:srgbClr val="000000"/>
                </a:solidFill>
              </a:rPr>
              <a:t>CPU</a:t>
            </a:r>
            <a:r>
              <a:rPr lang="zh-CN" altLang="en-US" sz="2400" dirty="0">
                <a:solidFill>
                  <a:srgbClr val="000000"/>
                </a:solidFill>
              </a:rPr>
              <a:t>总线相匹配</a:t>
            </a:r>
            <a:endParaRPr lang="zh-CN" altLang="en-US" sz="2400" dirty="0">
              <a:solidFill>
                <a:srgbClr val="000000"/>
              </a:solidFill>
            </a:endParaRPr>
          </a:p>
          <a:p>
            <a:pPr eaLnBrk="1" hangingPunct="1">
              <a:buFont typeface="Wingdings 2" charset="2"/>
              <a:buNone/>
            </a:pPr>
            <a:r>
              <a:rPr lang="zh-CN" altLang="en-US" dirty="0"/>
              <a:t> </a:t>
            </a:r>
            <a:endParaRPr lang="zh-CN" altLang="en-US" dirty="0"/>
          </a:p>
          <a:p>
            <a:pPr eaLnBrk="1" hangingPunct="1"/>
            <a:endParaRPr lang="en-US" altLang="zh-CN" dirty="0"/>
          </a:p>
        </p:txBody>
      </p:sp>
    </p:spTree>
  </p:cSld>
  <p:clrMapOvr>
    <a:masterClrMapping/>
  </p:clrMapOvr>
  <p:transition spd="med">
    <p:pull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eaLnBrk="1" hangingPunct="1">
              <a:defRPr/>
            </a:pPr>
            <a:r>
              <a:rPr lang="en-US" altLang="zh-CN"/>
              <a:t>PCI</a:t>
            </a:r>
            <a:r>
              <a:rPr lang="zh-CN" altLang="en-US"/>
              <a:t>总线特点 </a:t>
            </a:r>
            <a:endParaRPr lang="zh-CN" altLang="en-US"/>
          </a:p>
        </p:txBody>
      </p:sp>
      <p:sp>
        <p:nvSpPr>
          <p:cNvPr id="90115" name="Rectangle 3"/>
          <p:cNvSpPr>
            <a:spLocks noGrp="1" noChangeArrowheads="1"/>
          </p:cNvSpPr>
          <p:nvPr>
            <p:ph idx="1"/>
          </p:nvPr>
        </p:nvSpPr>
        <p:spPr>
          <a:xfrm>
            <a:off x="381000" y="1143000"/>
            <a:ext cx="8583613" cy="5165725"/>
          </a:xfrm>
        </p:spPr>
        <p:txBody>
          <a:bodyPr/>
          <a:lstStyle/>
          <a:p>
            <a:pPr eaLnBrk="1" hangingPunct="1"/>
            <a:r>
              <a:rPr lang="zh-CN" altLang="en-US" sz="2400" dirty="0">
                <a:solidFill>
                  <a:srgbClr val="000000"/>
                </a:solidFill>
                <a:sym typeface="Symbol" panose="05050102010706020507" pitchFamily="18" charset="2"/>
              </a:rPr>
              <a:t>独立于处理器</a:t>
            </a:r>
            <a:r>
              <a:rPr lang="zh-CN" altLang="zh-CN" sz="2400" dirty="0">
                <a:solidFill>
                  <a:srgbClr val="000000"/>
                </a:solidFill>
                <a:sym typeface="Symbol" panose="05050102010706020507" pitchFamily="18" charset="2"/>
              </a:rPr>
              <a:t>。</a:t>
            </a:r>
            <a:r>
              <a:rPr lang="zh-CN" altLang="en-US" sz="2400" dirty="0">
                <a:solidFill>
                  <a:srgbClr val="000000"/>
                </a:solidFill>
                <a:sym typeface="Symbol" panose="05050102010706020507" pitchFamily="18" charset="2"/>
              </a:rPr>
              <a:t>即</a:t>
            </a:r>
            <a:r>
              <a:rPr lang="en-US" altLang="zh-CN" sz="2400" dirty="0">
                <a:solidFill>
                  <a:srgbClr val="000000"/>
                </a:solidFill>
                <a:sym typeface="Symbol" panose="05050102010706020507" pitchFamily="18" charset="2"/>
              </a:rPr>
              <a:t>PCI</a:t>
            </a:r>
            <a:r>
              <a:rPr lang="zh-CN" altLang="en-US" sz="2400" dirty="0">
                <a:solidFill>
                  <a:srgbClr val="000000"/>
                </a:solidFill>
                <a:sym typeface="Symbol" panose="05050102010706020507" pitchFamily="18" charset="2"/>
              </a:rPr>
              <a:t>插卡可插到不同主频主机中</a:t>
            </a:r>
            <a:endParaRPr lang="zh-CN" altLang="en-US" sz="2400" dirty="0">
              <a:solidFill>
                <a:srgbClr val="000000"/>
              </a:solidFill>
              <a:sym typeface="Symbol" panose="05050102010706020507" pitchFamily="18" charset="2"/>
            </a:endParaRPr>
          </a:p>
          <a:p>
            <a:pPr eaLnBrk="1" hangingPunct="1"/>
            <a:r>
              <a:rPr lang="zh-CN" altLang="en-US" sz="2400" dirty="0">
                <a:solidFill>
                  <a:srgbClr val="000000"/>
                </a:solidFill>
                <a:sym typeface="Symbol" panose="05050102010706020507" pitchFamily="18" charset="2"/>
              </a:rPr>
              <a:t>总线时钟频率33.3</a:t>
            </a:r>
            <a:r>
              <a:rPr lang="en-US" altLang="zh-CN" sz="2400" dirty="0">
                <a:solidFill>
                  <a:srgbClr val="000000"/>
                </a:solidFill>
                <a:sym typeface="Symbol" panose="05050102010706020507" pitchFamily="18" charset="2"/>
              </a:rPr>
              <a:t>MHz</a:t>
            </a:r>
            <a:r>
              <a:rPr lang="zh-CN" altLang="en-US" sz="2400" dirty="0">
                <a:solidFill>
                  <a:srgbClr val="000000"/>
                </a:solidFill>
                <a:sym typeface="Symbol" panose="05050102010706020507" pitchFamily="18" charset="2"/>
              </a:rPr>
              <a:t>（</a:t>
            </a:r>
            <a:r>
              <a:rPr lang="en-US" altLang="zh-CN" sz="2400" dirty="0">
                <a:solidFill>
                  <a:srgbClr val="000000"/>
                </a:solidFill>
                <a:sym typeface="Symbol" panose="05050102010706020507" pitchFamily="18" charset="2"/>
              </a:rPr>
              <a:t>V2.0</a:t>
            </a:r>
            <a:r>
              <a:rPr lang="zh-CN" altLang="en-US" sz="2400" dirty="0">
                <a:solidFill>
                  <a:srgbClr val="000000"/>
                </a:solidFill>
                <a:sym typeface="Symbol" panose="05050102010706020507" pitchFamily="18" charset="2"/>
              </a:rPr>
              <a:t>）</a:t>
            </a:r>
            <a:r>
              <a:rPr lang="en-US" altLang="zh-CN" sz="2400" dirty="0">
                <a:solidFill>
                  <a:srgbClr val="000000"/>
                </a:solidFill>
                <a:sym typeface="Symbol" panose="05050102010706020507" pitchFamily="18" charset="2"/>
              </a:rPr>
              <a:t>/66.6MHz</a:t>
            </a:r>
            <a:r>
              <a:rPr lang="zh-CN" altLang="en-US" sz="2400" dirty="0">
                <a:solidFill>
                  <a:srgbClr val="000000"/>
                </a:solidFill>
                <a:sym typeface="Symbol" panose="05050102010706020507" pitchFamily="18" charset="2"/>
              </a:rPr>
              <a:t>（</a:t>
            </a:r>
            <a:r>
              <a:rPr lang="en-US" altLang="zh-CN" sz="2400" dirty="0">
                <a:solidFill>
                  <a:srgbClr val="000000"/>
                </a:solidFill>
                <a:sym typeface="Symbol" panose="05050102010706020507" pitchFamily="18" charset="2"/>
              </a:rPr>
              <a:t>V2.1</a:t>
            </a:r>
            <a:r>
              <a:rPr lang="zh-CN" altLang="en-US" sz="2400" dirty="0">
                <a:solidFill>
                  <a:srgbClr val="000000"/>
                </a:solidFill>
                <a:sym typeface="Symbol" panose="05050102010706020507" pitchFamily="18" charset="2"/>
              </a:rPr>
              <a:t>）</a:t>
            </a:r>
            <a:endParaRPr lang="zh-CN" altLang="en-US" sz="2400" dirty="0">
              <a:solidFill>
                <a:srgbClr val="000000"/>
              </a:solidFill>
              <a:sym typeface="Symbol" panose="05050102010706020507" pitchFamily="18" charset="2"/>
            </a:endParaRPr>
          </a:p>
          <a:p>
            <a:pPr eaLnBrk="1" hangingPunct="1"/>
            <a:r>
              <a:rPr lang="zh-CN" altLang="en-US" sz="2400" dirty="0">
                <a:solidFill>
                  <a:srgbClr val="000000"/>
                </a:solidFill>
                <a:sym typeface="Symbol" panose="05050102010706020507" pitchFamily="18" charset="2"/>
              </a:rPr>
              <a:t>总线宽度32位，可扩充到64位</a:t>
            </a:r>
            <a:endParaRPr lang="zh-CN" altLang="en-US" sz="2400" dirty="0">
              <a:solidFill>
                <a:srgbClr val="000000"/>
              </a:solidFill>
              <a:sym typeface="Symbol" panose="05050102010706020507" pitchFamily="18" charset="2"/>
            </a:endParaRPr>
          </a:p>
          <a:p>
            <a:pPr eaLnBrk="1" hangingPunct="1"/>
            <a:r>
              <a:rPr lang="zh-CN" altLang="en-US" sz="2400" dirty="0">
                <a:solidFill>
                  <a:srgbClr val="000000"/>
                </a:solidFill>
                <a:sym typeface="Symbol" panose="05050102010706020507" pitchFamily="18" charset="2"/>
              </a:rPr>
              <a:t>最大数据传输率133</a:t>
            </a:r>
            <a:r>
              <a:rPr lang="en-US" altLang="en-US" sz="2400" dirty="0">
                <a:solidFill>
                  <a:srgbClr val="000000"/>
                </a:solidFill>
                <a:sym typeface="Symbol" panose="05050102010706020507" pitchFamily="18" charset="2"/>
              </a:rPr>
              <a:t>M</a:t>
            </a:r>
            <a:r>
              <a:rPr lang="en-US" altLang="zh-CN" sz="2400" dirty="0">
                <a:solidFill>
                  <a:srgbClr val="000000"/>
                </a:solidFill>
                <a:sym typeface="Symbol" panose="05050102010706020507" pitchFamily="18" charset="2"/>
              </a:rPr>
              <a:t>B</a:t>
            </a:r>
            <a:r>
              <a:rPr lang="en-US" altLang="en-US" sz="2400" dirty="0">
                <a:solidFill>
                  <a:srgbClr val="000000"/>
                </a:solidFill>
                <a:sym typeface="Symbol" panose="05050102010706020507" pitchFamily="18" charset="2"/>
              </a:rPr>
              <a:t>/s(266M</a:t>
            </a:r>
            <a:r>
              <a:rPr lang="en-US" altLang="zh-CN" sz="2400" dirty="0">
                <a:solidFill>
                  <a:srgbClr val="000000"/>
                </a:solidFill>
                <a:sym typeface="Symbol" panose="05050102010706020507" pitchFamily="18" charset="2"/>
              </a:rPr>
              <a:t>B</a:t>
            </a:r>
            <a:r>
              <a:rPr lang="en-US" altLang="en-US" sz="2400" dirty="0">
                <a:solidFill>
                  <a:srgbClr val="000000"/>
                </a:solidFill>
                <a:sym typeface="Symbol" panose="05050102010706020507" pitchFamily="18" charset="2"/>
              </a:rPr>
              <a:t>/s)</a:t>
            </a:r>
            <a:endParaRPr lang="en-US" altLang="en-US" sz="2400" dirty="0">
              <a:solidFill>
                <a:srgbClr val="000000"/>
              </a:solidFill>
              <a:sym typeface="Symbol" panose="05050102010706020507" pitchFamily="18" charset="2"/>
            </a:endParaRPr>
          </a:p>
          <a:p>
            <a:pPr eaLnBrk="1" hangingPunct="1"/>
            <a:r>
              <a:rPr lang="zh-CN" altLang="en-US" sz="2400" dirty="0">
                <a:solidFill>
                  <a:srgbClr val="000000"/>
                </a:solidFill>
                <a:sym typeface="Symbol" panose="05050102010706020507" pitchFamily="18" charset="2"/>
              </a:rPr>
              <a:t>支持突发（</a:t>
            </a:r>
            <a:r>
              <a:rPr lang="en-US" altLang="zh-CN" sz="2400" dirty="0">
                <a:solidFill>
                  <a:srgbClr val="000000"/>
                </a:solidFill>
                <a:sym typeface="Symbol" panose="05050102010706020507" pitchFamily="18" charset="2"/>
              </a:rPr>
              <a:t>Burst</a:t>
            </a:r>
            <a:r>
              <a:rPr lang="zh-CN" altLang="en-US" sz="2400" dirty="0">
                <a:solidFill>
                  <a:srgbClr val="000000"/>
                </a:solidFill>
                <a:sym typeface="Symbol" panose="05050102010706020507" pitchFamily="18" charset="2"/>
              </a:rPr>
              <a:t>）传输</a:t>
            </a:r>
            <a:endParaRPr lang="zh-CN" altLang="en-US" sz="2400" dirty="0">
              <a:solidFill>
                <a:srgbClr val="000000"/>
              </a:solidFill>
              <a:sym typeface="Symbol" panose="05050102010706020507" pitchFamily="18" charset="2"/>
            </a:endParaRPr>
          </a:p>
          <a:p>
            <a:pPr eaLnBrk="1" hangingPunct="1"/>
            <a:r>
              <a:rPr lang="zh-CN" altLang="en-US" sz="2400" dirty="0">
                <a:solidFill>
                  <a:srgbClr val="000000"/>
                </a:solidFill>
              </a:rPr>
              <a:t>采用同步操作 </a:t>
            </a:r>
            <a:endParaRPr lang="zh-CN" altLang="en-US" sz="2400" dirty="0">
              <a:solidFill>
                <a:srgbClr val="000000"/>
              </a:solidFill>
            </a:endParaRPr>
          </a:p>
          <a:p>
            <a:pPr eaLnBrk="1" hangingPunct="1"/>
            <a:r>
              <a:rPr lang="zh-CN" altLang="zh-CN" sz="2400" dirty="0">
                <a:solidFill>
                  <a:srgbClr val="000000"/>
                </a:solidFill>
                <a:sym typeface="Symbol" panose="05050102010706020507" pitchFamily="18" charset="2"/>
              </a:rPr>
              <a:t>即插即用（ P</a:t>
            </a:r>
            <a:r>
              <a:rPr lang="en-US" altLang="zh-CN" sz="2400" dirty="0">
                <a:solidFill>
                  <a:srgbClr val="000000"/>
                </a:solidFill>
                <a:sym typeface="Symbol" panose="05050102010706020507" pitchFamily="18" charset="2"/>
              </a:rPr>
              <a:t>lug and Play）</a:t>
            </a:r>
            <a:r>
              <a:rPr lang="zh-CN" altLang="en-US" sz="2400" dirty="0">
                <a:solidFill>
                  <a:srgbClr val="000000"/>
                </a:solidFill>
                <a:sym typeface="Symbol" panose="05050102010706020507" pitchFamily="18" charset="2"/>
              </a:rPr>
              <a:t>，</a:t>
            </a:r>
            <a:r>
              <a:rPr lang="zh-CN" altLang="en-US" sz="2400" dirty="0">
                <a:solidFill>
                  <a:srgbClr val="000000"/>
                </a:solidFill>
              </a:rPr>
              <a:t>能自动识别外设</a:t>
            </a:r>
            <a:endParaRPr lang="zh-CN" altLang="en-US" sz="2400" dirty="0">
              <a:solidFill>
                <a:srgbClr val="000000"/>
              </a:solidFill>
              <a:sym typeface="Symbol" panose="05050102010706020507" pitchFamily="18" charset="2"/>
            </a:endParaRPr>
          </a:p>
          <a:p>
            <a:pPr eaLnBrk="1" hangingPunct="1"/>
            <a:r>
              <a:rPr lang="zh-CN" altLang="en-US" sz="2400" dirty="0">
                <a:solidFill>
                  <a:srgbClr val="000000"/>
                </a:solidFill>
              </a:rPr>
              <a:t>预留扩展空间</a:t>
            </a:r>
            <a:endParaRPr lang="en-US" altLang="zh-CN" sz="2400" dirty="0">
              <a:solidFill>
                <a:srgbClr val="000000"/>
              </a:solidFill>
            </a:endParaRPr>
          </a:p>
          <a:p>
            <a:pPr algn="just" eaLnBrk="1" hangingPunct="1"/>
            <a:r>
              <a:rPr lang="zh-CN" altLang="en-US" sz="2400" dirty="0">
                <a:solidFill>
                  <a:srgbClr val="000000"/>
                </a:solidFill>
              </a:rPr>
              <a:t>隐式总线仲裁 </a:t>
            </a:r>
            <a:endParaRPr lang="zh-CN" altLang="en-US" sz="2400" dirty="0">
              <a:solidFill>
                <a:srgbClr val="000000"/>
              </a:solidFill>
            </a:endParaRPr>
          </a:p>
          <a:p>
            <a:pPr algn="just" eaLnBrk="1" hangingPunct="1"/>
            <a:r>
              <a:rPr lang="zh-CN" altLang="en-US" sz="2400" dirty="0">
                <a:solidFill>
                  <a:srgbClr val="000000"/>
                </a:solidFill>
              </a:rPr>
              <a:t>采用多路复用方式（地址线和数据线）减少了引脚数</a:t>
            </a:r>
            <a:endParaRPr lang="zh-CN" altLang="en-US" sz="2400" dirty="0">
              <a:solidFill>
                <a:srgbClr val="000000"/>
              </a:solidFill>
            </a:endParaRPr>
          </a:p>
          <a:p>
            <a:pPr algn="just" eaLnBrk="1" hangingPunct="1"/>
            <a:r>
              <a:rPr lang="zh-CN" altLang="en-US" sz="2400" dirty="0">
                <a:solidFill>
                  <a:srgbClr val="000000"/>
                </a:solidFill>
              </a:rPr>
              <a:t>全面支持</a:t>
            </a:r>
            <a:r>
              <a:rPr lang="en-US" altLang="zh-CN" sz="2400" dirty="0">
                <a:solidFill>
                  <a:srgbClr val="000000"/>
                </a:solidFill>
              </a:rPr>
              <a:t>PCI</a:t>
            </a:r>
            <a:r>
              <a:rPr lang="zh-CN" altLang="en-US" sz="2400" dirty="0">
                <a:solidFill>
                  <a:srgbClr val="000000"/>
                </a:solidFill>
              </a:rPr>
              <a:t>总线主设备 </a:t>
            </a:r>
            <a:endParaRPr lang="en-US" altLang="zh-CN" sz="2400" dirty="0">
              <a:solidFill>
                <a:srgbClr val="000000"/>
              </a:solidFill>
            </a:endParaRPr>
          </a:p>
          <a:p>
            <a:pPr algn="just" eaLnBrk="1" hangingPunct="1"/>
            <a:r>
              <a:rPr lang="zh-CN" altLang="en-US" sz="2400" dirty="0">
                <a:solidFill>
                  <a:srgbClr val="000000"/>
                </a:solidFill>
              </a:rPr>
              <a:t>适应</a:t>
            </a:r>
            <a:r>
              <a:rPr lang="en-US" altLang="zh-CN" sz="2400" dirty="0">
                <a:solidFill>
                  <a:srgbClr val="000000"/>
                </a:solidFill>
              </a:rPr>
              <a:t>5V</a:t>
            </a:r>
            <a:r>
              <a:rPr lang="zh-CN" altLang="en-US" sz="2400" dirty="0">
                <a:solidFill>
                  <a:srgbClr val="000000"/>
                </a:solidFill>
              </a:rPr>
              <a:t>和</a:t>
            </a:r>
            <a:r>
              <a:rPr lang="en-US" altLang="zh-CN" sz="2400" dirty="0">
                <a:solidFill>
                  <a:srgbClr val="000000"/>
                </a:solidFill>
              </a:rPr>
              <a:t>3.3V</a:t>
            </a:r>
            <a:r>
              <a:rPr lang="zh-CN" altLang="en-US" sz="2400" dirty="0">
                <a:solidFill>
                  <a:srgbClr val="000000"/>
                </a:solidFill>
              </a:rPr>
              <a:t>电源环境</a:t>
            </a:r>
            <a:endParaRPr lang="zh-CN" altLang="en-US" sz="2400" dirty="0">
              <a:solidFill>
                <a:srgbClr val="000000"/>
              </a:solidFill>
            </a:endParaRPr>
          </a:p>
          <a:p>
            <a:pPr algn="just" eaLnBrk="1" hangingPunct="1"/>
            <a:endParaRPr lang="zh-CN" altLang="en-US" sz="2400" dirty="0">
              <a:solidFill>
                <a:srgbClr val="000000"/>
              </a:solidFill>
            </a:endParaRPr>
          </a:p>
          <a:p>
            <a:pPr algn="just" eaLnBrk="1" hangingPunct="1">
              <a:buFont typeface="Wingdings 2" charset="2"/>
              <a:buNone/>
            </a:pPr>
            <a:endParaRPr lang="zh-CN" altLang="zh-CN" sz="2000" b="0" dirty="0">
              <a:solidFill>
                <a:srgbClr val="000000"/>
              </a:solidFill>
            </a:endParaRPr>
          </a:p>
        </p:txBody>
      </p:sp>
    </p:spTree>
  </p:cSld>
  <p:clrMapOvr>
    <a:masterClrMapping/>
  </p:clrMapOvr>
  <p:transition spd="med">
    <p:pull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defRPr/>
            </a:pPr>
            <a:r>
              <a:rPr lang="zh-CN" altLang="en-US">
                <a:latin typeface="宋体" panose="02010600030101010101" pitchFamily="2" charset="-122"/>
              </a:rPr>
              <a:t>多总线结构</a:t>
            </a:r>
            <a:endParaRPr lang="zh-CN" altLang="en-US">
              <a:latin typeface="宋体" panose="02010600030101010101" pitchFamily="2" charset="-122"/>
            </a:endParaRPr>
          </a:p>
        </p:txBody>
      </p:sp>
      <p:sp>
        <p:nvSpPr>
          <p:cNvPr id="91139" name="Rectangle 3"/>
          <p:cNvSpPr>
            <a:spLocks noGrp="1" noChangeArrowheads="1"/>
          </p:cNvSpPr>
          <p:nvPr>
            <p:ph idx="1"/>
          </p:nvPr>
        </p:nvSpPr>
        <p:spPr>
          <a:xfrm>
            <a:off x="250825" y="908050"/>
            <a:ext cx="3889375" cy="5321300"/>
          </a:xfrm>
        </p:spPr>
        <p:txBody>
          <a:bodyPr/>
          <a:lstStyle/>
          <a:p>
            <a:pPr marL="0" indent="0" eaLnBrk="1" hangingPunct="1">
              <a:buFont typeface="Wingdings 2" charset="2"/>
              <a:buNone/>
            </a:pPr>
            <a:r>
              <a:rPr lang="zh-CN" altLang="en-US" sz="2000" dirty="0">
                <a:latin typeface="宋体" panose="02010600030101010101" pitchFamily="2" charset="-122"/>
              </a:rPr>
              <a:t>多层总线的概念。各层之间使用桥进行连接。有三种不同的总线： </a:t>
            </a:r>
            <a:endParaRPr lang="zh-CN" altLang="en-US" sz="2000" dirty="0"/>
          </a:p>
          <a:p>
            <a:pPr marL="0" indent="0" eaLnBrk="1" hangingPunct="1"/>
            <a:r>
              <a:rPr lang="en-US" altLang="zh-CN" sz="2000" dirty="0">
                <a:latin typeface="宋体" panose="02010600030101010101" pitchFamily="2" charset="-122"/>
              </a:rPr>
              <a:t>HOST</a:t>
            </a:r>
            <a:r>
              <a:rPr lang="zh-CN" altLang="en-US" sz="2000" dirty="0">
                <a:latin typeface="宋体" panose="02010600030101010101" pitchFamily="2" charset="-122"/>
              </a:rPr>
              <a:t>总线用于连接</a:t>
            </a:r>
            <a:r>
              <a:rPr lang="en-US" altLang="zh-CN" sz="2000" dirty="0">
                <a:latin typeface="宋体" panose="02010600030101010101" pitchFamily="2" charset="-122"/>
              </a:rPr>
              <a:t>CPU</a:t>
            </a:r>
            <a:r>
              <a:rPr lang="zh-CN" altLang="en-US" sz="2000" dirty="0">
                <a:latin typeface="宋体" panose="02010600030101010101" pitchFamily="2" charset="-122"/>
              </a:rPr>
              <a:t>、</a:t>
            </a:r>
            <a:r>
              <a:rPr lang="en-US" altLang="zh-CN" sz="2000" dirty="0">
                <a:latin typeface="宋体" panose="02010600030101010101" pitchFamily="2" charset="-122"/>
              </a:rPr>
              <a:t>Cache</a:t>
            </a:r>
            <a:r>
              <a:rPr lang="zh-CN" altLang="en-US" sz="2000" dirty="0">
                <a:latin typeface="宋体" panose="02010600030101010101" pitchFamily="2" charset="-122"/>
              </a:rPr>
              <a:t>和主存。也称前端总线 </a:t>
            </a:r>
            <a:endParaRPr lang="zh-CN" altLang="en-US" sz="2000" dirty="0"/>
          </a:p>
          <a:p>
            <a:pPr marL="0" indent="0" eaLnBrk="1" hangingPunct="1"/>
            <a:r>
              <a:rPr lang="en-US" altLang="zh-CN" sz="2000" dirty="0">
                <a:latin typeface="宋体" panose="02010600030101010101" pitchFamily="2" charset="-122"/>
              </a:rPr>
              <a:t>PCI</a:t>
            </a:r>
            <a:r>
              <a:rPr lang="zh-CN" altLang="en-US" sz="2000" dirty="0">
                <a:latin typeface="宋体" panose="02010600030101010101" pitchFamily="2" charset="-122"/>
              </a:rPr>
              <a:t>总线用于连接各种高速的</a:t>
            </a:r>
            <a:r>
              <a:rPr lang="en-US" altLang="zh-CN" sz="2000" dirty="0">
                <a:latin typeface="宋体" panose="02010600030101010101" pitchFamily="2" charset="-122"/>
              </a:rPr>
              <a:t>PCI</a:t>
            </a:r>
            <a:r>
              <a:rPr lang="zh-CN" altLang="en-US" sz="2000" dirty="0">
                <a:latin typeface="宋体" panose="02010600030101010101" pitchFamily="2" charset="-122"/>
              </a:rPr>
              <a:t>设备（显卡、网卡等）。可以是主设备、或从设备</a:t>
            </a:r>
            <a:endParaRPr lang="zh-CN" altLang="en-US" sz="2000" dirty="0"/>
          </a:p>
          <a:p>
            <a:pPr marL="0" indent="0" eaLnBrk="1" hangingPunct="1"/>
            <a:r>
              <a:rPr lang="en-US" altLang="zh-CN" sz="2000" dirty="0">
                <a:latin typeface="宋体" panose="02010600030101010101" pitchFamily="2" charset="-122"/>
              </a:rPr>
              <a:t>LAGACY</a:t>
            </a:r>
            <a:r>
              <a:rPr lang="zh-CN" altLang="en-US" sz="2000" dirty="0">
                <a:latin typeface="宋体" panose="02010600030101010101" pitchFamily="2" charset="-122"/>
              </a:rPr>
              <a:t>总线用于已有的连接中、低速设备</a:t>
            </a:r>
            <a:r>
              <a:rPr lang="zh-CN" altLang="en-US" sz="2000" b="0" dirty="0">
                <a:latin typeface="宋体" panose="02010600030101010101" pitchFamily="2" charset="-122"/>
              </a:rPr>
              <a:t> </a:t>
            </a:r>
            <a:endParaRPr lang="en-US" altLang="zh-CN" sz="2000" b="0" dirty="0">
              <a:latin typeface="宋体" panose="02010600030101010101" pitchFamily="2" charset="-122"/>
            </a:endParaRPr>
          </a:p>
          <a:p>
            <a:pPr marL="0" indent="0" eaLnBrk="1" hangingPunct="1">
              <a:buFont typeface="Wingdings 2" charset="2"/>
              <a:buNone/>
            </a:pPr>
            <a:r>
              <a:rPr lang="zh-CN" altLang="en-US" sz="2000" dirty="0"/>
              <a:t>桥是一个总线转换部件，可以把一条总线的地址空间映射到另一条总线的地址空间上</a:t>
            </a:r>
            <a:endParaRPr lang="en-US" altLang="zh-CN" sz="2000" dirty="0"/>
          </a:p>
          <a:p>
            <a:pPr marL="0" indent="0" eaLnBrk="1" hangingPunct="1"/>
            <a:r>
              <a:rPr lang="zh-CN" altLang="en-US" sz="2000" dirty="0"/>
              <a:t>写操作时，桥</a:t>
            </a:r>
            <a:r>
              <a:rPr lang="zh-CN" altLang="en-US" sz="2000" u="sng" dirty="0"/>
              <a:t>缓存</a:t>
            </a:r>
            <a:r>
              <a:rPr lang="zh-CN" altLang="en-US" sz="2000" dirty="0"/>
              <a:t>上层总线的写数据，然后在下层总线上生成写周期写数据</a:t>
            </a:r>
            <a:endParaRPr lang="zh-CN" altLang="en-US" sz="2000" dirty="0"/>
          </a:p>
          <a:p>
            <a:pPr marL="0" indent="0" eaLnBrk="1" hangingPunct="1"/>
            <a:r>
              <a:rPr lang="zh-CN" altLang="en-US" sz="2000" dirty="0"/>
              <a:t>读操作时，桥可早于上层总线，直接在下层总线上进行预读</a:t>
            </a:r>
            <a:endParaRPr lang="zh-CN" altLang="en-US" sz="2000" dirty="0"/>
          </a:p>
          <a:p>
            <a:pPr marL="0" indent="0" eaLnBrk="1" hangingPunct="1">
              <a:buFont typeface="Wingdings 2" charset="2"/>
              <a:buNone/>
            </a:pPr>
            <a:endParaRPr lang="zh-CN" altLang="en-US" sz="2000" b="0" dirty="0"/>
          </a:p>
        </p:txBody>
      </p:sp>
      <p:pic>
        <p:nvPicPr>
          <p:cNvPr id="91141" name="图片 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067175" y="1719263"/>
            <a:ext cx="5116513"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defRPr/>
            </a:pPr>
            <a:r>
              <a:rPr lang="en-US" altLang="zh-CN"/>
              <a:t>PCI</a:t>
            </a:r>
            <a:r>
              <a:rPr lang="zh-CN" altLang="en-US">
                <a:latin typeface="宋体" panose="02010600030101010101" pitchFamily="2" charset="-122"/>
              </a:rPr>
              <a:t>总线信号</a:t>
            </a:r>
            <a:endParaRPr lang="zh-CN" altLang="en-US">
              <a:latin typeface="宋体" panose="02010600030101010101" pitchFamily="2" charset="-122"/>
            </a:endParaRPr>
          </a:p>
        </p:txBody>
      </p:sp>
      <p:sp>
        <p:nvSpPr>
          <p:cNvPr id="92163" name="Rectangle 3"/>
          <p:cNvSpPr>
            <a:spLocks noGrp="1" noChangeArrowheads="1"/>
          </p:cNvSpPr>
          <p:nvPr>
            <p:ph idx="1"/>
          </p:nvPr>
        </p:nvSpPr>
        <p:spPr/>
        <p:txBody>
          <a:bodyPr/>
          <a:lstStyle/>
          <a:p>
            <a:pPr marL="0" indent="0" eaLnBrk="1" hangingPunct="1">
              <a:buFont typeface="Wingdings 2" charset="2"/>
              <a:buNone/>
            </a:pPr>
            <a:r>
              <a:rPr lang="zh-CN" altLang="zh-CN" dirty="0">
                <a:solidFill>
                  <a:srgbClr val="000000"/>
                </a:solidFill>
                <a:sym typeface="Symbol" panose="05050102010706020507" pitchFamily="18" charset="2"/>
              </a:rPr>
              <a:t>信号线总数为120条，包括电源、地、保留信号线等，所定义的信号线分为两类：</a:t>
            </a:r>
            <a:endParaRPr lang="zh-CN" altLang="zh-CN" dirty="0">
              <a:solidFill>
                <a:srgbClr val="000000"/>
              </a:solidFill>
              <a:sym typeface="Symbol" panose="05050102010706020507" pitchFamily="18" charset="2"/>
            </a:endParaRPr>
          </a:p>
          <a:p>
            <a:pPr marL="0" indent="0" eaLnBrk="1" hangingPunct="1"/>
            <a:r>
              <a:rPr lang="zh-CN" altLang="zh-CN" dirty="0">
                <a:solidFill>
                  <a:srgbClr val="000000"/>
                </a:solidFill>
                <a:sym typeface="Symbol" panose="05050102010706020507" pitchFamily="18" charset="2"/>
              </a:rPr>
              <a:t>必备信号线</a:t>
            </a:r>
            <a:endParaRPr lang="zh-CN" altLang="zh-CN" dirty="0">
              <a:solidFill>
                <a:srgbClr val="000000"/>
              </a:solidFill>
              <a:sym typeface="Symbol" panose="05050102010706020507" pitchFamily="18" charset="2"/>
            </a:endParaRPr>
          </a:p>
          <a:p>
            <a:pPr marL="0" indent="0" eaLnBrk="1" hangingPunct="1">
              <a:buFont typeface="Wingdings 2" charset="2"/>
              <a:buNone/>
            </a:pPr>
            <a:r>
              <a:rPr lang="zh-CN" altLang="zh-CN" dirty="0">
                <a:solidFill>
                  <a:srgbClr val="000000"/>
                </a:solidFill>
                <a:sym typeface="Symbol" panose="05050102010706020507" pitchFamily="18" charset="2"/>
              </a:rPr>
              <a:t>   主设备49条，从设备47条</a:t>
            </a:r>
            <a:r>
              <a:rPr lang="zh-CN" altLang="en-US" dirty="0">
                <a:solidFill>
                  <a:srgbClr val="000000"/>
                </a:solidFill>
                <a:sym typeface="Symbol" panose="05050102010706020507" pitchFamily="18" charset="2"/>
              </a:rPr>
              <a:t>（没有</a:t>
            </a:r>
            <a:r>
              <a:rPr lang="en-US" altLang="zh-CN" dirty="0">
                <a:solidFill>
                  <a:srgbClr val="000000"/>
                </a:solidFill>
                <a:sym typeface="Symbol" panose="05050102010706020507" pitchFamily="18" charset="2"/>
              </a:rPr>
              <a:t>REQ</a:t>
            </a:r>
            <a:r>
              <a:rPr lang="zh-CN" altLang="en-US" dirty="0">
                <a:solidFill>
                  <a:srgbClr val="000000"/>
                </a:solidFill>
                <a:sym typeface="Symbol" panose="05050102010706020507" pitchFamily="18" charset="2"/>
              </a:rPr>
              <a:t>＃和</a:t>
            </a:r>
            <a:r>
              <a:rPr lang="en-US" altLang="zh-CN" dirty="0">
                <a:solidFill>
                  <a:srgbClr val="000000"/>
                </a:solidFill>
                <a:sym typeface="Symbol" panose="05050102010706020507" pitchFamily="18" charset="2"/>
              </a:rPr>
              <a:t>GNT</a:t>
            </a:r>
            <a:r>
              <a:rPr lang="zh-CN" altLang="en-US" dirty="0">
                <a:solidFill>
                  <a:srgbClr val="000000"/>
                </a:solidFill>
                <a:sym typeface="Symbol" panose="05050102010706020507" pitchFamily="18" charset="2"/>
              </a:rPr>
              <a:t>＃）</a:t>
            </a:r>
            <a:endParaRPr lang="zh-CN" altLang="zh-CN" dirty="0">
              <a:solidFill>
                <a:srgbClr val="000000"/>
              </a:solidFill>
              <a:sym typeface="Symbol" panose="05050102010706020507" pitchFamily="18" charset="2"/>
            </a:endParaRPr>
          </a:p>
          <a:p>
            <a:pPr marL="0" indent="0" eaLnBrk="1" hangingPunct="1"/>
            <a:r>
              <a:rPr lang="zh-CN" altLang="zh-CN" dirty="0">
                <a:solidFill>
                  <a:srgbClr val="000000"/>
                </a:solidFill>
                <a:sym typeface="Symbol" panose="05050102010706020507" pitchFamily="18" charset="2"/>
              </a:rPr>
              <a:t>可选信号线</a:t>
            </a:r>
            <a:endParaRPr lang="zh-CN" altLang="zh-CN" dirty="0">
              <a:solidFill>
                <a:srgbClr val="000000"/>
              </a:solidFill>
              <a:sym typeface="Symbol" panose="05050102010706020507" pitchFamily="18" charset="2"/>
            </a:endParaRPr>
          </a:p>
          <a:p>
            <a:pPr marL="0" indent="0" eaLnBrk="1" hangingPunct="1">
              <a:buFont typeface="Wingdings 2" charset="2"/>
              <a:buNone/>
            </a:pPr>
            <a:r>
              <a:rPr lang="zh-CN" altLang="zh-CN" dirty="0">
                <a:solidFill>
                  <a:srgbClr val="000000"/>
                </a:solidFill>
                <a:sym typeface="Symbol" panose="05050102010706020507" pitchFamily="18" charset="2"/>
              </a:rPr>
              <a:t>   51条，用于64位扩展、中断请求、高速缓存支持等</a:t>
            </a:r>
            <a:endParaRPr lang="zh-CN" altLang="zh-CN" dirty="0">
              <a:solidFill>
                <a:srgbClr val="000000"/>
              </a:solidFill>
              <a:sym typeface="Symbol" panose="05050102010706020507" pitchFamily="18" charset="2"/>
            </a:endParaRPr>
          </a:p>
        </p:txBody>
      </p:sp>
    </p:spTree>
  </p:cSld>
  <p:clrMapOvr>
    <a:masterClrMapping/>
  </p:clrMapOvr>
  <p:transition spd="med">
    <p:pull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defRPr/>
            </a:pPr>
            <a:r>
              <a:rPr lang="zh-CN" altLang="en-US"/>
              <a:t>总线周期类型（</a:t>
            </a:r>
            <a:r>
              <a:rPr lang="en-US" altLang="zh-CN"/>
              <a:t>1</a:t>
            </a:r>
            <a:r>
              <a:rPr lang="zh-CN" altLang="en-US"/>
              <a:t>）</a:t>
            </a:r>
            <a:endParaRPr lang="zh-CN" altLang="en-US"/>
          </a:p>
        </p:txBody>
      </p:sp>
      <p:sp>
        <p:nvSpPr>
          <p:cNvPr id="93187" name="Rectangle 3"/>
          <p:cNvSpPr>
            <a:spLocks noGrp="1" noChangeArrowheads="1"/>
          </p:cNvSpPr>
          <p:nvPr>
            <p:ph idx="1"/>
          </p:nvPr>
        </p:nvSpPr>
        <p:spPr/>
        <p:txBody>
          <a:bodyPr/>
          <a:lstStyle/>
          <a:p>
            <a:pPr eaLnBrk="1" hangingPunct="1"/>
            <a:r>
              <a:rPr lang="en-US" altLang="zh-CN" sz="2800"/>
              <a:t>PCI</a:t>
            </a:r>
            <a:r>
              <a:rPr lang="zh-CN" altLang="en-US" sz="2800"/>
              <a:t>总线周期由当前被授权的主设备发起</a:t>
            </a:r>
            <a:endParaRPr lang="zh-CN" altLang="en-US" sz="2800"/>
          </a:p>
          <a:p>
            <a:pPr eaLnBrk="1" hangingPunct="1"/>
            <a:r>
              <a:rPr lang="en-US" altLang="zh-CN" sz="2800"/>
              <a:t>PCI</a:t>
            </a:r>
            <a:r>
              <a:rPr lang="zh-CN" altLang="en-US" sz="2800"/>
              <a:t>总线周期类型由主设备在</a:t>
            </a:r>
            <a:r>
              <a:rPr lang="en-US" altLang="zh-CN" sz="2800"/>
              <a:t>C/BE[3~0]</a:t>
            </a:r>
            <a:r>
              <a:rPr lang="zh-CN" altLang="en-US" sz="2800"/>
              <a:t>线上送出的</a:t>
            </a:r>
            <a:r>
              <a:rPr lang="en-US" altLang="zh-CN" sz="2800"/>
              <a:t>4</a:t>
            </a:r>
            <a:r>
              <a:rPr lang="zh-CN" altLang="en-US" sz="2800"/>
              <a:t>位总线命令代码指明，被目标设备译码确认，然后主从双方协调配合完成指定的总线周期操作</a:t>
            </a:r>
            <a:endParaRPr lang="zh-CN" altLang="en-US" sz="2800"/>
          </a:p>
        </p:txBody>
      </p:sp>
      <p:grpSp>
        <p:nvGrpSpPr>
          <p:cNvPr id="93189" name="Group 4"/>
          <p:cNvGrpSpPr/>
          <p:nvPr/>
        </p:nvGrpSpPr>
        <p:grpSpPr bwMode="auto">
          <a:xfrm>
            <a:off x="203993" y="3018487"/>
            <a:ext cx="8736013" cy="3378200"/>
            <a:chOff x="-3" y="371"/>
            <a:chExt cx="3762" cy="3372"/>
          </a:xfrm>
        </p:grpSpPr>
        <p:grpSp>
          <p:nvGrpSpPr>
            <p:cNvPr id="93190" name="Group 5"/>
            <p:cNvGrpSpPr/>
            <p:nvPr/>
          </p:nvGrpSpPr>
          <p:grpSpPr bwMode="auto">
            <a:xfrm>
              <a:off x="0" y="374"/>
              <a:ext cx="3756" cy="3366"/>
              <a:chOff x="0" y="374"/>
              <a:chExt cx="3756" cy="3366"/>
            </a:xfrm>
          </p:grpSpPr>
          <p:grpSp>
            <p:nvGrpSpPr>
              <p:cNvPr id="93192" name="Group 6"/>
              <p:cNvGrpSpPr/>
              <p:nvPr/>
            </p:nvGrpSpPr>
            <p:grpSpPr bwMode="auto">
              <a:xfrm>
                <a:off x="0" y="374"/>
                <a:ext cx="583" cy="374"/>
                <a:chOff x="0" y="374"/>
                <a:chExt cx="583" cy="374"/>
              </a:xfrm>
            </p:grpSpPr>
            <p:sp>
              <p:nvSpPr>
                <p:cNvPr id="93298" name="Rectangle 7"/>
                <p:cNvSpPr>
                  <a:spLocks noChangeArrowheads="1"/>
                </p:cNvSpPr>
                <p:nvPr/>
              </p:nvSpPr>
              <p:spPr bwMode="auto">
                <a:xfrm>
                  <a:off x="43" y="374"/>
                  <a:ext cx="49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a:ea typeface="宋体" panose="02010600030101010101" pitchFamily="2" charset="-122"/>
                    </a:rPr>
                    <a:t>C/BE[3:0]#</a:t>
                  </a:r>
                  <a:endParaRPr kumimoji="0" lang="en-US" altLang="zh-CN" sz="1800">
                    <a:ea typeface="宋体" panose="02010600030101010101" pitchFamily="2" charset="-122"/>
                  </a:endParaRPr>
                </a:p>
                <a:p>
                  <a:pPr algn="ctr">
                    <a:spcBef>
                      <a:spcPct val="0"/>
                    </a:spcBef>
                    <a:buClrTx/>
                    <a:buFontTx/>
                    <a:buNone/>
                  </a:pPr>
                  <a:endParaRPr kumimoji="0" lang="en-US" altLang="zh-CN" sz="1600" b="0">
                    <a:ea typeface="宋体" panose="02010600030101010101" pitchFamily="2" charset="-122"/>
                  </a:endParaRPr>
                </a:p>
              </p:txBody>
            </p:sp>
            <p:sp>
              <p:nvSpPr>
                <p:cNvPr id="93299" name="Rectangle 8"/>
                <p:cNvSpPr>
                  <a:spLocks noChangeArrowheads="1"/>
                </p:cNvSpPr>
                <p:nvPr/>
              </p:nvSpPr>
              <p:spPr bwMode="auto">
                <a:xfrm>
                  <a:off x="0" y="374"/>
                  <a:ext cx="58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193" name="Group 9"/>
              <p:cNvGrpSpPr/>
              <p:nvPr/>
            </p:nvGrpSpPr>
            <p:grpSpPr bwMode="auto">
              <a:xfrm>
                <a:off x="583" y="374"/>
                <a:ext cx="1295" cy="374"/>
                <a:chOff x="583" y="374"/>
                <a:chExt cx="1295" cy="374"/>
              </a:xfrm>
            </p:grpSpPr>
            <p:sp>
              <p:nvSpPr>
                <p:cNvPr id="93296" name="Rectangle 10"/>
                <p:cNvSpPr>
                  <a:spLocks noChangeArrowheads="1"/>
                </p:cNvSpPr>
                <p:nvPr/>
              </p:nvSpPr>
              <p:spPr bwMode="auto">
                <a:xfrm>
                  <a:off x="626" y="374"/>
                  <a:ext cx="120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ea typeface="宋体" panose="02010600030101010101" pitchFamily="2" charset="-122"/>
                    </a:rPr>
                    <a:t>命令类型说明</a:t>
                  </a:r>
                  <a:endParaRPr kumimoji="0" lang="zh-CN" altLang="en-US"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97" name="Rectangle 11"/>
                <p:cNvSpPr>
                  <a:spLocks noChangeArrowheads="1"/>
                </p:cNvSpPr>
                <p:nvPr/>
              </p:nvSpPr>
              <p:spPr bwMode="auto">
                <a:xfrm>
                  <a:off x="583" y="374"/>
                  <a:ext cx="129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194" name="Group 12"/>
              <p:cNvGrpSpPr/>
              <p:nvPr/>
            </p:nvGrpSpPr>
            <p:grpSpPr bwMode="auto">
              <a:xfrm>
                <a:off x="1878" y="374"/>
                <a:ext cx="635" cy="374"/>
                <a:chOff x="1878" y="374"/>
                <a:chExt cx="635" cy="374"/>
              </a:xfrm>
            </p:grpSpPr>
            <p:sp>
              <p:nvSpPr>
                <p:cNvPr id="93294" name="Rectangle 13"/>
                <p:cNvSpPr>
                  <a:spLocks noChangeArrowheads="1"/>
                </p:cNvSpPr>
                <p:nvPr/>
              </p:nvSpPr>
              <p:spPr bwMode="auto">
                <a:xfrm>
                  <a:off x="1921" y="374"/>
                  <a:ext cx="54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a:ea typeface="宋体" panose="02010600030101010101" pitchFamily="2" charset="-122"/>
                    </a:rPr>
                    <a:t>C/BE[3:0]#</a:t>
                  </a:r>
                  <a:endParaRPr kumimoji="0" lang="en-US" altLang="zh-CN" sz="18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95" name="Rectangle 14"/>
                <p:cNvSpPr>
                  <a:spLocks noChangeArrowheads="1"/>
                </p:cNvSpPr>
                <p:nvPr/>
              </p:nvSpPr>
              <p:spPr bwMode="auto">
                <a:xfrm>
                  <a:off x="1878" y="374"/>
                  <a:ext cx="63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195" name="Group 15"/>
              <p:cNvGrpSpPr/>
              <p:nvPr/>
            </p:nvGrpSpPr>
            <p:grpSpPr bwMode="auto">
              <a:xfrm>
                <a:off x="2513" y="374"/>
                <a:ext cx="1243" cy="374"/>
                <a:chOff x="2513" y="374"/>
                <a:chExt cx="1243" cy="374"/>
              </a:xfrm>
            </p:grpSpPr>
            <p:sp>
              <p:nvSpPr>
                <p:cNvPr id="93292" name="Rectangle 16"/>
                <p:cNvSpPr>
                  <a:spLocks noChangeArrowheads="1"/>
                </p:cNvSpPr>
                <p:nvPr/>
              </p:nvSpPr>
              <p:spPr bwMode="auto">
                <a:xfrm>
                  <a:off x="2556" y="374"/>
                  <a:ext cx="115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ea typeface="宋体" panose="02010600030101010101" pitchFamily="2" charset="-122"/>
                    </a:rPr>
                    <a:t>命令类型说明</a:t>
                  </a:r>
                  <a:endParaRPr kumimoji="0" lang="zh-CN" altLang="en-US" sz="2000">
                    <a:ea typeface="宋体" panose="02010600030101010101" pitchFamily="2" charset="-122"/>
                  </a:endParaRPr>
                </a:p>
                <a:p>
                  <a:pPr algn="ctr">
                    <a:spcBef>
                      <a:spcPct val="0"/>
                    </a:spcBef>
                    <a:buClrTx/>
                    <a:buFontTx/>
                    <a:buNone/>
                  </a:pPr>
                  <a:endParaRPr kumimoji="0" lang="en-US" altLang="zh-CN" sz="2000">
                    <a:ea typeface="宋体" panose="02010600030101010101" pitchFamily="2" charset="-122"/>
                  </a:endParaRPr>
                </a:p>
              </p:txBody>
            </p:sp>
            <p:sp>
              <p:nvSpPr>
                <p:cNvPr id="93293" name="Rectangle 17"/>
                <p:cNvSpPr>
                  <a:spLocks noChangeArrowheads="1"/>
                </p:cNvSpPr>
                <p:nvPr/>
              </p:nvSpPr>
              <p:spPr bwMode="auto">
                <a:xfrm>
                  <a:off x="2513" y="374"/>
                  <a:ext cx="124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196" name="Group 18"/>
              <p:cNvGrpSpPr/>
              <p:nvPr/>
            </p:nvGrpSpPr>
            <p:grpSpPr bwMode="auto">
              <a:xfrm>
                <a:off x="0" y="748"/>
                <a:ext cx="583" cy="374"/>
                <a:chOff x="0" y="748"/>
                <a:chExt cx="583" cy="374"/>
              </a:xfrm>
            </p:grpSpPr>
            <p:sp>
              <p:nvSpPr>
                <p:cNvPr id="93290" name="Rectangle 19"/>
                <p:cNvSpPr>
                  <a:spLocks noChangeArrowheads="1"/>
                </p:cNvSpPr>
                <p:nvPr/>
              </p:nvSpPr>
              <p:spPr bwMode="auto">
                <a:xfrm>
                  <a:off x="43" y="748"/>
                  <a:ext cx="49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0000</a:t>
                  </a:r>
                  <a:endParaRPr kumimoji="0" lang="en-US" altLang="zh-CN"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91" name="Rectangle 20"/>
                <p:cNvSpPr>
                  <a:spLocks noChangeArrowheads="1"/>
                </p:cNvSpPr>
                <p:nvPr/>
              </p:nvSpPr>
              <p:spPr bwMode="auto">
                <a:xfrm>
                  <a:off x="0" y="748"/>
                  <a:ext cx="58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197" name="Group 21"/>
              <p:cNvGrpSpPr/>
              <p:nvPr/>
            </p:nvGrpSpPr>
            <p:grpSpPr bwMode="auto">
              <a:xfrm>
                <a:off x="583" y="748"/>
                <a:ext cx="1295" cy="374"/>
                <a:chOff x="583" y="748"/>
                <a:chExt cx="1295" cy="374"/>
              </a:xfrm>
            </p:grpSpPr>
            <p:sp>
              <p:nvSpPr>
                <p:cNvPr id="93288" name="Rectangle 22"/>
                <p:cNvSpPr>
                  <a:spLocks noChangeArrowheads="1"/>
                </p:cNvSpPr>
                <p:nvPr/>
              </p:nvSpPr>
              <p:spPr bwMode="auto">
                <a:xfrm>
                  <a:off x="626" y="748"/>
                  <a:ext cx="120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ea typeface="宋体" panose="02010600030101010101" pitchFamily="2" charset="-122"/>
                    </a:rPr>
                    <a:t>中断响应</a:t>
                  </a:r>
                  <a:endParaRPr kumimoji="0" lang="zh-CN" altLang="en-US" sz="2000">
                    <a:ea typeface="宋体" panose="02010600030101010101" pitchFamily="2" charset="-122"/>
                  </a:endParaRPr>
                </a:p>
                <a:p>
                  <a:pPr algn="ctr">
                    <a:spcBef>
                      <a:spcPct val="0"/>
                    </a:spcBef>
                    <a:buClrTx/>
                    <a:buFontTx/>
                    <a:buNone/>
                  </a:pPr>
                  <a:endParaRPr kumimoji="0" lang="en-US" altLang="zh-CN" sz="2000">
                    <a:ea typeface="宋体" panose="02010600030101010101" pitchFamily="2" charset="-122"/>
                  </a:endParaRPr>
                </a:p>
              </p:txBody>
            </p:sp>
            <p:sp>
              <p:nvSpPr>
                <p:cNvPr id="93289" name="Rectangle 23"/>
                <p:cNvSpPr>
                  <a:spLocks noChangeArrowheads="1"/>
                </p:cNvSpPr>
                <p:nvPr/>
              </p:nvSpPr>
              <p:spPr bwMode="auto">
                <a:xfrm>
                  <a:off x="583" y="748"/>
                  <a:ext cx="129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198" name="Group 24"/>
              <p:cNvGrpSpPr/>
              <p:nvPr/>
            </p:nvGrpSpPr>
            <p:grpSpPr bwMode="auto">
              <a:xfrm>
                <a:off x="1878" y="748"/>
                <a:ext cx="635" cy="374"/>
                <a:chOff x="1878" y="748"/>
                <a:chExt cx="635" cy="374"/>
              </a:xfrm>
            </p:grpSpPr>
            <p:sp>
              <p:nvSpPr>
                <p:cNvPr id="93286" name="Rectangle 25"/>
                <p:cNvSpPr>
                  <a:spLocks noChangeArrowheads="1"/>
                </p:cNvSpPr>
                <p:nvPr/>
              </p:nvSpPr>
              <p:spPr bwMode="auto">
                <a:xfrm>
                  <a:off x="1921" y="748"/>
                  <a:ext cx="54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1000</a:t>
                  </a:r>
                  <a:endParaRPr kumimoji="0" lang="en-US" altLang="zh-CN"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87" name="Rectangle 26"/>
                <p:cNvSpPr>
                  <a:spLocks noChangeArrowheads="1"/>
                </p:cNvSpPr>
                <p:nvPr/>
              </p:nvSpPr>
              <p:spPr bwMode="auto">
                <a:xfrm>
                  <a:off x="1878" y="748"/>
                  <a:ext cx="63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199" name="Group 27"/>
              <p:cNvGrpSpPr/>
              <p:nvPr/>
            </p:nvGrpSpPr>
            <p:grpSpPr bwMode="auto">
              <a:xfrm>
                <a:off x="2513" y="748"/>
                <a:ext cx="1243" cy="374"/>
                <a:chOff x="2513" y="748"/>
                <a:chExt cx="1243" cy="374"/>
              </a:xfrm>
            </p:grpSpPr>
            <p:sp>
              <p:nvSpPr>
                <p:cNvPr id="93284" name="Rectangle 28"/>
                <p:cNvSpPr>
                  <a:spLocks noChangeArrowheads="1"/>
                </p:cNvSpPr>
                <p:nvPr/>
              </p:nvSpPr>
              <p:spPr bwMode="auto">
                <a:xfrm>
                  <a:off x="2556" y="748"/>
                  <a:ext cx="115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ea typeface="宋体" panose="02010600030101010101" pitchFamily="2" charset="-122"/>
                    </a:rPr>
                    <a:t>保留</a:t>
                  </a:r>
                  <a:endParaRPr kumimoji="0" lang="zh-CN" altLang="en-US"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85" name="Rectangle 29"/>
                <p:cNvSpPr>
                  <a:spLocks noChangeArrowheads="1"/>
                </p:cNvSpPr>
                <p:nvPr/>
              </p:nvSpPr>
              <p:spPr bwMode="auto">
                <a:xfrm>
                  <a:off x="2513" y="748"/>
                  <a:ext cx="124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00" name="Group 30"/>
              <p:cNvGrpSpPr/>
              <p:nvPr/>
            </p:nvGrpSpPr>
            <p:grpSpPr bwMode="auto">
              <a:xfrm>
                <a:off x="0" y="1122"/>
                <a:ext cx="583" cy="374"/>
                <a:chOff x="0" y="1122"/>
                <a:chExt cx="583" cy="374"/>
              </a:xfrm>
            </p:grpSpPr>
            <p:sp>
              <p:nvSpPr>
                <p:cNvPr id="93282" name="Rectangle 31"/>
                <p:cNvSpPr>
                  <a:spLocks noChangeArrowheads="1"/>
                </p:cNvSpPr>
                <p:nvPr/>
              </p:nvSpPr>
              <p:spPr bwMode="auto">
                <a:xfrm>
                  <a:off x="43" y="1122"/>
                  <a:ext cx="49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0001</a:t>
                  </a:r>
                  <a:endParaRPr kumimoji="0" lang="en-US" altLang="zh-CN" sz="2000">
                    <a:ea typeface="宋体" panose="02010600030101010101" pitchFamily="2" charset="-122"/>
                  </a:endParaRPr>
                </a:p>
                <a:p>
                  <a:pPr algn="ctr">
                    <a:spcBef>
                      <a:spcPct val="0"/>
                    </a:spcBef>
                    <a:buClrTx/>
                    <a:buFontTx/>
                    <a:buNone/>
                  </a:pPr>
                  <a:endParaRPr kumimoji="0" lang="en-US" altLang="zh-CN" sz="2400">
                    <a:ea typeface="宋体" panose="02010600030101010101" pitchFamily="2" charset="-122"/>
                  </a:endParaRPr>
                </a:p>
              </p:txBody>
            </p:sp>
            <p:sp>
              <p:nvSpPr>
                <p:cNvPr id="93283" name="Rectangle 32"/>
                <p:cNvSpPr>
                  <a:spLocks noChangeArrowheads="1"/>
                </p:cNvSpPr>
                <p:nvPr/>
              </p:nvSpPr>
              <p:spPr bwMode="auto">
                <a:xfrm>
                  <a:off x="0" y="1122"/>
                  <a:ext cx="58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01" name="Group 33"/>
              <p:cNvGrpSpPr/>
              <p:nvPr/>
            </p:nvGrpSpPr>
            <p:grpSpPr bwMode="auto">
              <a:xfrm>
                <a:off x="583" y="1122"/>
                <a:ext cx="1295" cy="374"/>
                <a:chOff x="583" y="1122"/>
                <a:chExt cx="1295" cy="374"/>
              </a:xfrm>
            </p:grpSpPr>
            <p:sp>
              <p:nvSpPr>
                <p:cNvPr id="93280" name="Rectangle 34"/>
                <p:cNvSpPr>
                  <a:spLocks noChangeArrowheads="1"/>
                </p:cNvSpPr>
                <p:nvPr/>
              </p:nvSpPr>
              <p:spPr bwMode="auto">
                <a:xfrm>
                  <a:off x="626" y="1122"/>
                  <a:ext cx="120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ea typeface="宋体" panose="02010600030101010101" pitchFamily="2" charset="-122"/>
                    </a:rPr>
                    <a:t>特殊周期</a:t>
                  </a:r>
                  <a:endParaRPr kumimoji="0" lang="zh-CN" altLang="en-US" sz="2000">
                    <a:ea typeface="宋体" panose="02010600030101010101" pitchFamily="2" charset="-122"/>
                  </a:endParaRPr>
                </a:p>
                <a:p>
                  <a:pPr algn="ctr">
                    <a:spcBef>
                      <a:spcPct val="0"/>
                    </a:spcBef>
                    <a:buClrTx/>
                    <a:buFontTx/>
                    <a:buNone/>
                  </a:pPr>
                  <a:endParaRPr kumimoji="0" lang="en-US" altLang="zh-CN" sz="2000">
                    <a:ea typeface="宋体" panose="02010600030101010101" pitchFamily="2" charset="-122"/>
                  </a:endParaRPr>
                </a:p>
              </p:txBody>
            </p:sp>
            <p:sp>
              <p:nvSpPr>
                <p:cNvPr id="93281" name="Rectangle 35"/>
                <p:cNvSpPr>
                  <a:spLocks noChangeArrowheads="1"/>
                </p:cNvSpPr>
                <p:nvPr/>
              </p:nvSpPr>
              <p:spPr bwMode="auto">
                <a:xfrm>
                  <a:off x="583" y="1122"/>
                  <a:ext cx="129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02" name="Group 36"/>
              <p:cNvGrpSpPr/>
              <p:nvPr/>
            </p:nvGrpSpPr>
            <p:grpSpPr bwMode="auto">
              <a:xfrm>
                <a:off x="1878" y="1122"/>
                <a:ext cx="635" cy="374"/>
                <a:chOff x="1878" y="1122"/>
                <a:chExt cx="635" cy="374"/>
              </a:xfrm>
            </p:grpSpPr>
            <p:sp>
              <p:nvSpPr>
                <p:cNvPr id="93278" name="Rectangle 37"/>
                <p:cNvSpPr>
                  <a:spLocks noChangeArrowheads="1"/>
                </p:cNvSpPr>
                <p:nvPr/>
              </p:nvSpPr>
              <p:spPr bwMode="auto">
                <a:xfrm>
                  <a:off x="1921" y="1122"/>
                  <a:ext cx="54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1001</a:t>
                  </a:r>
                  <a:endParaRPr kumimoji="0" lang="en-US" altLang="zh-CN" sz="2000">
                    <a:ea typeface="宋体" panose="02010600030101010101" pitchFamily="2" charset="-122"/>
                  </a:endParaRPr>
                </a:p>
                <a:p>
                  <a:pPr algn="ctr">
                    <a:spcBef>
                      <a:spcPct val="0"/>
                    </a:spcBef>
                    <a:buClrTx/>
                    <a:buFontTx/>
                    <a:buNone/>
                  </a:pPr>
                  <a:endParaRPr kumimoji="0" lang="en-US" altLang="zh-CN" sz="2000">
                    <a:ea typeface="宋体" panose="02010600030101010101" pitchFamily="2" charset="-122"/>
                  </a:endParaRPr>
                </a:p>
              </p:txBody>
            </p:sp>
            <p:sp>
              <p:nvSpPr>
                <p:cNvPr id="93279" name="Rectangle 38"/>
                <p:cNvSpPr>
                  <a:spLocks noChangeArrowheads="1"/>
                </p:cNvSpPr>
                <p:nvPr/>
              </p:nvSpPr>
              <p:spPr bwMode="auto">
                <a:xfrm>
                  <a:off x="1878" y="1122"/>
                  <a:ext cx="63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03" name="Group 39"/>
              <p:cNvGrpSpPr/>
              <p:nvPr/>
            </p:nvGrpSpPr>
            <p:grpSpPr bwMode="auto">
              <a:xfrm>
                <a:off x="2513" y="1122"/>
                <a:ext cx="1243" cy="374"/>
                <a:chOff x="2513" y="1122"/>
                <a:chExt cx="1243" cy="374"/>
              </a:xfrm>
            </p:grpSpPr>
            <p:sp>
              <p:nvSpPr>
                <p:cNvPr id="93276" name="Rectangle 40"/>
                <p:cNvSpPr>
                  <a:spLocks noChangeArrowheads="1"/>
                </p:cNvSpPr>
                <p:nvPr/>
              </p:nvSpPr>
              <p:spPr bwMode="auto">
                <a:xfrm>
                  <a:off x="2556" y="1122"/>
                  <a:ext cx="115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ea typeface="宋体" panose="02010600030101010101" pitchFamily="2" charset="-122"/>
                    </a:rPr>
                    <a:t>保留</a:t>
                  </a:r>
                  <a:endParaRPr kumimoji="0" lang="zh-CN" altLang="en-US"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77" name="Rectangle 41"/>
                <p:cNvSpPr>
                  <a:spLocks noChangeArrowheads="1"/>
                </p:cNvSpPr>
                <p:nvPr/>
              </p:nvSpPr>
              <p:spPr bwMode="auto">
                <a:xfrm>
                  <a:off x="2513" y="1122"/>
                  <a:ext cx="124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04" name="Group 42"/>
              <p:cNvGrpSpPr/>
              <p:nvPr/>
            </p:nvGrpSpPr>
            <p:grpSpPr bwMode="auto">
              <a:xfrm>
                <a:off x="0" y="1496"/>
                <a:ext cx="583" cy="374"/>
                <a:chOff x="0" y="1496"/>
                <a:chExt cx="583" cy="374"/>
              </a:xfrm>
            </p:grpSpPr>
            <p:sp>
              <p:nvSpPr>
                <p:cNvPr id="93274" name="Rectangle 43"/>
                <p:cNvSpPr>
                  <a:spLocks noChangeArrowheads="1"/>
                </p:cNvSpPr>
                <p:nvPr/>
              </p:nvSpPr>
              <p:spPr bwMode="auto">
                <a:xfrm>
                  <a:off x="43" y="1496"/>
                  <a:ext cx="49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0010</a:t>
                  </a:r>
                  <a:endParaRPr kumimoji="0" lang="en-US" altLang="zh-CN" sz="2000">
                    <a:ea typeface="宋体" panose="02010600030101010101" pitchFamily="2" charset="-122"/>
                  </a:endParaRPr>
                </a:p>
                <a:p>
                  <a:pPr algn="ctr">
                    <a:spcBef>
                      <a:spcPct val="0"/>
                    </a:spcBef>
                    <a:buClrTx/>
                    <a:buFontTx/>
                    <a:buNone/>
                  </a:pPr>
                  <a:endParaRPr kumimoji="0" lang="en-US" altLang="zh-CN" sz="2000">
                    <a:ea typeface="宋体" panose="02010600030101010101" pitchFamily="2" charset="-122"/>
                  </a:endParaRPr>
                </a:p>
              </p:txBody>
            </p:sp>
            <p:sp>
              <p:nvSpPr>
                <p:cNvPr id="93275" name="Rectangle 44"/>
                <p:cNvSpPr>
                  <a:spLocks noChangeArrowheads="1"/>
                </p:cNvSpPr>
                <p:nvPr/>
              </p:nvSpPr>
              <p:spPr bwMode="auto">
                <a:xfrm>
                  <a:off x="0" y="1496"/>
                  <a:ext cx="58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05" name="Group 45"/>
              <p:cNvGrpSpPr/>
              <p:nvPr/>
            </p:nvGrpSpPr>
            <p:grpSpPr bwMode="auto">
              <a:xfrm>
                <a:off x="583" y="1496"/>
                <a:ext cx="1295" cy="374"/>
                <a:chOff x="583" y="1496"/>
                <a:chExt cx="1295" cy="374"/>
              </a:xfrm>
            </p:grpSpPr>
            <p:sp>
              <p:nvSpPr>
                <p:cNvPr id="93272" name="Rectangle 46"/>
                <p:cNvSpPr>
                  <a:spLocks noChangeArrowheads="1"/>
                </p:cNvSpPr>
                <p:nvPr/>
              </p:nvSpPr>
              <p:spPr bwMode="auto">
                <a:xfrm>
                  <a:off x="626" y="1496"/>
                  <a:ext cx="120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500">
                      <a:ea typeface="宋体" panose="02010600030101010101" pitchFamily="2" charset="-122"/>
                    </a:rPr>
                    <a:t>I/O</a:t>
                  </a:r>
                  <a:r>
                    <a:rPr kumimoji="0" lang="zh-CN" altLang="en-US" sz="1500">
                      <a:ea typeface="宋体" panose="02010600030101010101" pitchFamily="2" charset="-122"/>
                    </a:rPr>
                    <a:t>读</a:t>
                  </a:r>
                  <a:r>
                    <a:rPr kumimoji="0" lang="en-US" altLang="zh-CN" sz="1500">
                      <a:ea typeface="宋体" panose="02010600030101010101" pitchFamily="2" charset="-122"/>
                    </a:rPr>
                    <a:t>(</a:t>
                  </a:r>
                  <a:r>
                    <a:rPr kumimoji="0" lang="zh-CN" altLang="en-US" sz="1500">
                      <a:ea typeface="宋体" panose="02010600030101010101" pitchFamily="2" charset="-122"/>
                    </a:rPr>
                    <a:t>从</a:t>
                  </a:r>
                  <a:r>
                    <a:rPr kumimoji="0" lang="en-US" altLang="zh-CN" sz="1500">
                      <a:ea typeface="宋体" panose="02010600030101010101" pitchFamily="2" charset="-122"/>
                    </a:rPr>
                    <a:t>I/O</a:t>
                  </a:r>
                  <a:r>
                    <a:rPr kumimoji="0" lang="zh-CN" altLang="en-US" sz="1500">
                      <a:ea typeface="宋体" panose="02010600030101010101" pitchFamily="2" charset="-122"/>
                    </a:rPr>
                    <a:t>端口地址中读数据</a:t>
                  </a:r>
                  <a:r>
                    <a:rPr kumimoji="0" lang="en-US" altLang="zh-CN" sz="1500">
                      <a:ea typeface="宋体" panose="02010600030101010101" pitchFamily="2" charset="-122"/>
                    </a:rPr>
                    <a:t>)</a:t>
                  </a:r>
                  <a:endParaRPr kumimoji="0" lang="en-US" altLang="zh-CN" sz="1500">
                    <a:ea typeface="宋体" panose="02010600030101010101" pitchFamily="2" charset="-122"/>
                  </a:endParaRPr>
                </a:p>
                <a:p>
                  <a:pPr algn="ctr">
                    <a:spcBef>
                      <a:spcPct val="0"/>
                    </a:spcBef>
                    <a:buClrTx/>
                    <a:buFontTx/>
                    <a:buNone/>
                  </a:pPr>
                  <a:endParaRPr kumimoji="0" lang="en-US" altLang="zh-CN" sz="1500" b="0">
                    <a:ea typeface="宋体" panose="02010600030101010101" pitchFamily="2" charset="-122"/>
                  </a:endParaRPr>
                </a:p>
              </p:txBody>
            </p:sp>
            <p:sp>
              <p:nvSpPr>
                <p:cNvPr id="93273" name="Rectangle 47"/>
                <p:cNvSpPr>
                  <a:spLocks noChangeArrowheads="1"/>
                </p:cNvSpPr>
                <p:nvPr/>
              </p:nvSpPr>
              <p:spPr bwMode="auto">
                <a:xfrm>
                  <a:off x="583" y="1496"/>
                  <a:ext cx="129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06" name="Group 48"/>
              <p:cNvGrpSpPr/>
              <p:nvPr/>
            </p:nvGrpSpPr>
            <p:grpSpPr bwMode="auto">
              <a:xfrm>
                <a:off x="1878" y="1496"/>
                <a:ext cx="635" cy="374"/>
                <a:chOff x="1878" y="1496"/>
                <a:chExt cx="635" cy="374"/>
              </a:xfrm>
            </p:grpSpPr>
            <p:sp>
              <p:nvSpPr>
                <p:cNvPr id="93270" name="Rectangle 49"/>
                <p:cNvSpPr>
                  <a:spLocks noChangeArrowheads="1"/>
                </p:cNvSpPr>
                <p:nvPr/>
              </p:nvSpPr>
              <p:spPr bwMode="auto">
                <a:xfrm>
                  <a:off x="1921" y="1496"/>
                  <a:ext cx="54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1010</a:t>
                  </a:r>
                  <a:endParaRPr kumimoji="0" lang="en-US" altLang="zh-CN" sz="2000">
                    <a:ea typeface="宋体" panose="02010600030101010101" pitchFamily="2" charset="-122"/>
                  </a:endParaRPr>
                </a:p>
                <a:p>
                  <a:pPr algn="ctr">
                    <a:spcBef>
                      <a:spcPct val="0"/>
                    </a:spcBef>
                    <a:buClrTx/>
                    <a:buFontTx/>
                    <a:buNone/>
                  </a:pPr>
                  <a:endParaRPr kumimoji="0" lang="en-US" altLang="zh-CN" sz="2000">
                    <a:ea typeface="宋体" panose="02010600030101010101" pitchFamily="2" charset="-122"/>
                  </a:endParaRPr>
                </a:p>
              </p:txBody>
            </p:sp>
            <p:sp>
              <p:nvSpPr>
                <p:cNvPr id="93271" name="Rectangle 50"/>
                <p:cNvSpPr>
                  <a:spLocks noChangeArrowheads="1"/>
                </p:cNvSpPr>
                <p:nvPr/>
              </p:nvSpPr>
              <p:spPr bwMode="auto">
                <a:xfrm>
                  <a:off x="1878" y="1496"/>
                  <a:ext cx="63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07" name="Group 51"/>
              <p:cNvGrpSpPr/>
              <p:nvPr/>
            </p:nvGrpSpPr>
            <p:grpSpPr bwMode="auto">
              <a:xfrm>
                <a:off x="2513" y="1496"/>
                <a:ext cx="1243" cy="374"/>
                <a:chOff x="2513" y="1496"/>
                <a:chExt cx="1243" cy="374"/>
              </a:xfrm>
            </p:grpSpPr>
            <p:sp>
              <p:nvSpPr>
                <p:cNvPr id="93268" name="Rectangle 52"/>
                <p:cNvSpPr>
                  <a:spLocks noChangeArrowheads="1"/>
                </p:cNvSpPr>
                <p:nvPr/>
              </p:nvSpPr>
              <p:spPr bwMode="auto">
                <a:xfrm>
                  <a:off x="2556" y="1496"/>
                  <a:ext cx="115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ea typeface="宋体" panose="02010600030101010101" pitchFamily="2" charset="-122"/>
                    </a:rPr>
                    <a:t>配置读周期</a:t>
                  </a:r>
                  <a:endParaRPr kumimoji="0" lang="zh-CN" altLang="en-US"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69" name="Rectangle 53"/>
                <p:cNvSpPr>
                  <a:spLocks noChangeArrowheads="1"/>
                </p:cNvSpPr>
                <p:nvPr/>
              </p:nvSpPr>
              <p:spPr bwMode="auto">
                <a:xfrm>
                  <a:off x="2513" y="1496"/>
                  <a:ext cx="124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08" name="Group 54"/>
              <p:cNvGrpSpPr/>
              <p:nvPr/>
            </p:nvGrpSpPr>
            <p:grpSpPr bwMode="auto">
              <a:xfrm>
                <a:off x="0" y="1870"/>
                <a:ext cx="583" cy="374"/>
                <a:chOff x="0" y="1870"/>
                <a:chExt cx="583" cy="374"/>
              </a:xfrm>
            </p:grpSpPr>
            <p:sp>
              <p:nvSpPr>
                <p:cNvPr id="93266" name="Rectangle 55"/>
                <p:cNvSpPr>
                  <a:spLocks noChangeArrowheads="1"/>
                </p:cNvSpPr>
                <p:nvPr/>
              </p:nvSpPr>
              <p:spPr bwMode="auto">
                <a:xfrm>
                  <a:off x="43" y="1870"/>
                  <a:ext cx="49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0011</a:t>
                  </a:r>
                  <a:endParaRPr kumimoji="0" lang="en-US" altLang="zh-CN" sz="2000">
                    <a:ea typeface="宋体" panose="02010600030101010101" pitchFamily="2" charset="-122"/>
                  </a:endParaRPr>
                </a:p>
                <a:p>
                  <a:pPr algn="ctr">
                    <a:spcBef>
                      <a:spcPct val="0"/>
                    </a:spcBef>
                    <a:buClrTx/>
                    <a:buFontTx/>
                    <a:buNone/>
                  </a:pPr>
                  <a:endParaRPr kumimoji="0" lang="en-US" altLang="zh-CN" sz="2000">
                    <a:ea typeface="宋体" panose="02010600030101010101" pitchFamily="2" charset="-122"/>
                  </a:endParaRPr>
                </a:p>
              </p:txBody>
            </p:sp>
            <p:sp>
              <p:nvSpPr>
                <p:cNvPr id="93267" name="Rectangle 56"/>
                <p:cNvSpPr>
                  <a:spLocks noChangeArrowheads="1"/>
                </p:cNvSpPr>
                <p:nvPr/>
              </p:nvSpPr>
              <p:spPr bwMode="auto">
                <a:xfrm>
                  <a:off x="0" y="1870"/>
                  <a:ext cx="58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09" name="Group 57"/>
              <p:cNvGrpSpPr/>
              <p:nvPr/>
            </p:nvGrpSpPr>
            <p:grpSpPr bwMode="auto">
              <a:xfrm>
                <a:off x="583" y="1870"/>
                <a:ext cx="1295" cy="374"/>
                <a:chOff x="583" y="1870"/>
                <a:chExt cx="1295" cy="374"/>
              </a:xfrm>
            </p:grpSpPr>
            <p:sp>
              <p:nvSpPr>
                <p:cNvPr id="93264" name="Rectangle 58"/>
                <p:cNvSpPr>
                  <a:spLocks noChangeArrowheads="1"/>
                </p:cNvSpPr>
                <p:nvPr/>
              </p:nvSpPr>
              <p:spPr bwMode="auto">
                <a:xfrm>
                  <a:off x="626" y="1870"/>
                  <a:ext cx="120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500">
                      <a:ea typeface="宋体" panose="02010600030101010101" pitchFamily="2" charset="-122"/>
                    </a:rPr>
                    <a:t>I/O</a:t>
                  </a:r>
                  <a:r>
                    <a:rPr kumimoji="0" lang="zh-CN" altLang="en-US" sz="1500">
                      <a:ea typeface="宋体" panose="02010600030101010101" pitchFamily="2" charset="-122"/>
                    </a:rPr>
                    <a:t>写</a:t>
                  </a:r>
                  <a:r>
                    <a:rPr kumimoji="0" lang="en-US" altLang="zh-CN" sz="1500">
                      <a:ea typeface="宋体" panose="02010600030101010101" pitchFamily="2" charset="-122"/>
                    </a:rPr>
                    <a:t>(</a:t>
                  </a:r>
                  <a:r>
                    <a:rPr kumimoji="0" lang="zh-CN" altLang="en-US" sz="1500">
                      <a:ea typeface="宋体" panose="02010600030101010101" pitchFamily="2" charset="-122"/>
                    </a:rPr>
                    <a:t>向</a:t>
                  </a:r>
                  <a:r>
                    <a:rPr kumimoji="0" lang="en-US" altLang="zh-CN" sz="1500">
                      <a:ea typeface="宋体" panose="02010600030101010101" pitchFamily="2" charset="-122"/>
                    </a:rPr>
                    <a:t>I/O</a:t>
                  </a:r>
                  <a:r>
                    <a:rPr kumimoji="0" lang="zh-CN" altLang="en-US" sz="1500">
                      <a:ea typeface="宋体" panose="02010600030101010101" pitchFamily="2" charset="-122"/>
                    </a:rPr>
                    <a:t>端口地址中写数据</a:t>
                  </a:r>
                  <a:r>
                    <a:rPr kumimoji="0" lang="en-US" altLang="zh-CN" sz="1500">
                      <a:ea typeface="宋体" panose="02010600030101010101" pitchFamily="2" charset="-122"/>
                    </a:rPr>
                    <a:t>)</a:t>
                  </a:r>
                  <a:endParaRPr kumimoji="0" lang="en-US" altLang="zh-CN" sz="1500">
                    <a:ea typeface="宋体" panose="02010600030101010101" pitchFamily="2" charset="-122"/>
                  </a:endParaRPr>
                </a:p>
                <a:p>
                  <a:pPr algn="ctr">
                    <a:spcBef>
                      <a:spcPct val="0"/>
                    </a:spcBef>
                    <a:buClrTx/>
                    <a:buFontTx/>
                    <a:buNone/>
                  </a:pPr>
                  <a:endParaRPr kumimoji="0" lang="en-US" altLang="zh-CN" sz="1500" b="0">
                    <a:ea typeface="宋体" panose="02010600030101010101" pitchFamily="2" charset="-122"/>
                  </a:endParaRPr>
                </a:p>
              </p:txBody>
            </p:sp>
            <p:sp>
              <p:nvSpPr>
                <p:cNvPr id="93265" name="Rectangle 59"/>
                <p:cNvSpPr>
                  <a:spLocks noChangeArrowheads="1"/>
                </p:cNvSpPr>
                <p:nvPr/>
              </p:nvSpPr>
              <p:spPr bwMode="auto">
                <a:xfrm>
                  <a:off x="583" y="1870"/>
                  <a:ext cx="129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10" name="Group 60"/>
              <p:cNvGrpSpPr/>
              <p:nvPr/>
            </p:nvGrpSpPr>
            <p:grpSpPr bwMode="auto">
              <a:xfrm>
                <a:off x="1878" y="1870"/>
                <a:ext cx="635" cy="374"/>
                <a:chOff x="1878" y="1870"/>
                <a:chExt cx="635" cy="374"/>
              </a:xfrm>
            </p:grpSpPr>
            <p:sp>
              <p:nvSpPr>
                <p:cNvPr id="93262" name="Rectangle 61"/>
                <p:cNvSpPr>
                  <a:spLocks noChangeArrowheads="1"/>
                </p:cNvSpPr>
                <p:nvPr/>
              </p:nvSpPr>
              <p:spPr bwMode="auto">
                <a:xfrm>
                  <a:off x="1921" y="1870"/>
                  <a:ext cx="54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1011</a:t>
                  </a:r>
                  <a:endParaRPr kumimoji="0" lang="en-US" altLang="zh-CN"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63" name="Rectangle 62"/>
                <p:cNvSpPr>
                  <a:spLocks noChangeArrowheads="1"/>
                </p:cNvSpPr>
                <p:nvPr/>
              </p:nvSpPr>
              <p:spPr bwMode="auto">
                <a:xfrm>
                  <a:off x="1878" y="1870"/>
                  <a:ext cx="63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11" name="Group 63"/>
              <p:cNvGrpSpPr/>
              <p:nvPr/>
            </p:nvGrpSpPr>
            <p:grpSpPr bwMode="auto">
              <a:xfrm>
                <a:off x="2513" y="1870"/>
                <a:ext cx="1243" cy="374"/>
                <a:chOff x="2513" y="1870"/>
                <a:chExt cx="1243" cy="374"/>
              </a:xfrm>
            </p:grpSpPr>
            <p:sp>
              <p:nvSpPr>
                <p:cNvPr id="93260" name="Rectangle 64"/>
                <p:cNvSpPr>
                  <a:spLocks noChangeArrowheads="1"/>
                </p:cNvSpPr>
                <p:nvPr/>
              </p:nvSpPr>
              <p:spPr bwMode="auto">
                <a:xfrm>
                  <a:off x="2556" y="1870"/>
                  <a:ext cx="115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ea typeface="宋体" panose="02010600030101010101" pitchFamily="2" charset="-122"/>
                    </a:rPr>
                    <a:t>配置写周期</a:t>
                  </a:r>
                  <a:endParaRPr kumimoji="0" lang="zh-CN" altLang="en-US"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61" name="Rectangle 65"/>
                <p:cNvSpPr>
                  <a:spLocks noChangeArrowheads="1"/>
                </p:cNvSpPr>
                <p:nvPr/>
              </p:nvSpPr>
              <p:spPr bwMode="auto">
                <a:xfrm>
                  <a:off x="2513" y="1870"/>
                  <a:ext cx="124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12" name="Group 66"/>
              <p:cNvGrpSpPr/>
              <p:nvPr/>
            </p:nvGrpSpPr>
            <p:grpSpPr bwMode="auto">
              <a:xfrm>
                <a:off x="0" y="2244"/>
                <a:ext cx="583" cy="374"/>
                <a:chOff x="0" y="2244"/>
                <a:chExt cx="583" cy="374"/>
              </a:xfrm>
            </p:grpSpPr>
            <p:sp>
              <p:nvSpPr>
                <p:cNvPr id="93258" name="Rectangle 67"/>
                <p:cNvSpPr>
                  <a:spLocks noChangeArrowheads="1"/>
                </p:cNvSpPr>
                <p:nvPr/>
              </p:nvSpPr>
              <p:spPr bwMode="auto">
                <a:xfrm>
                  <a:off x="43" y="2244"/>
                  <a:ext cx="49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0100</a:t>
                  </a:r>
                  <a:endParaRPr kumimoji="0" lang="en-US" altLang="zh-CN" sz="2000">
                    <a:ea typeface="宋体" panose="02010600030101010101" pitchFamily="2" charset="-122"/>
                  </a:endParaRPr>
                </a:p>
                <a:p>
                  <a:pPr algn="ctr">
                    <a:spcBef>
                      <a:spcPct val="0"/>
                    </a:spcBef>
                    <a:buClrTx/>
                    <a:buFontTx/>
                    <a:buNone/>
                  </a:pPr>
                  <a:endParaRPr kumimoji="0" lang="en-US" altLang="zh-CN" sz="2000">
                    <a:ea typeface="宋体" panose="02010600030101010101" pitchFamily="2" charset="-122"/>
                  </a:endParaRPr>
                </a:p>
              </p:txBody>
            </p:sp>
            <p:sp>
              <p:nvSpPr>
                <p:cNvPr id="93259" name="Rectangle 68"/>
                <p:cNvSpPr>
                  <a:spLocks noChangeArrowheads="1"/>
                </p:cNvSpPr>
                <p:nvPr/>
              </p:nvSpPr>
              <p:spPr bwMode="auto">
                <a:xfrm>
                  <a:off x="0" y="2244"/>
                  <a:ext cx="58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13" name="Group 69"/>
              <p:cNvGrpSpPr/>
              <p:nvPr/>
            </p:nvGrpSpPr>
            <p:grpSpPr bwMode="auto">
              <a:xfrm>
                <a:off x="583" y="2244"/>
                <a:ext cx="1295" cy="374"/>
                <a:chOff x="583" y="2244"/>
                <a:chExt cx="1295" cy="374"/>
              </a:xfrm>
            </p:grpSpPr>
            <p:sp>
              <p:nvSpPr>
                <p:cNvPr id="93256" name="Rectangle 70"/>
                <p:cNvSpPr>
                  <a:spLocks noChangeArrowheads="1"/>
                </p:cNvSpPr>
                <p:nvPr/>
              </p:nvSpPr>
              <p:spPr bwMode="auto">
                <a:xfrm>
                  <a:off x="626" y="2244"/>
                  <a:ext cx="120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ea typeface="宋体" panose="02010600030101010101" pitchFamily="2" charset="-122"/>
                    </a:rPr>
                    <a:t>保留</a:t>
                  </a:r>
                  <a:endParaRPr kumimoji="0" lang="zh-CN" altLang="en-US" sz="2000">
                    <a:ea typeface="宋体" panose="02010600030101010101" pitchFamily="2" charset="-122"/>
                  </a:endParaRPr>
                </a:p>
                <a:p>
                  <a:pPr algn="ctr">
                    <a:spcBef>
                      <a:spcPct val="0"/>
                    </a:spcBef>
                    <a:buClrTx/>
                    <a:buFontTx/>
                    <a:buNone/>
                  </a:pPr>
                  <a:endParaRPr kumimoji="0" lang="en-US" altLang="zh-CN" sz="2000">
                    <a:ea typeface="宋体" panose="02010600030101010101" pitchFamily="2" charset="-122"/>
                  </a:endParaRPr>
                </a:p>
              </p:txBody>
            </p:sp>
            <p:sp>
              <p:nvSpPr>
                <p:cNvPr id="93257" name="Rectangle 71"/>
                <p:cNvSpPr>
                  <a:spLocks noChangeArrowheads="1"/>
                </p:cNvSpPr>
                <p:nvPr/>
              </p:nvSpPr>
              <p:spPr bwMode="auto">
                <a:xfrm>
                  <a:off x="583" y="2244"/>
                  <a:ext cx="129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14" name="Group 72"/>
              <p:cNvGrpSpPr/>
              <p:nvPr/>
            </p:nvGrpSpPr>
            <p:grpSpPr bwMode="auto">
              <a:xfrm>
                <a:off x="1878" y="2244"/>
                <a:ext cx="635" cy="374"/>
                <a:chOff x="1878" y="2244"/>
                <a:chExt cx="635" cy="374"/>
              </a:xfrm>
            </p:grpSpPr>
            <p:sp>
              <p:nvSpPr>
                <p:cNvPr id="93254" name="Rectangle 73"/>
                <p:cNvSpPr>
                  <a:spLocks noChangeArrowheads="1"/>
                </p:cNvSpPr>
                <p:nvPr/>
              </p:nvSpPr>
              <p:spPr bwMode="auto">
                <a:xfrm>
                  <a:off x="1921" y="2244"/>
                  <a:ext cx="54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1100</a:t>
                  </a:r>
                  <a:endParaRPr kumimoji="0" lang="en-US" altLang="zh-CN"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55" name="Rectangle 74"/>
                <p:cNvSpPr>
                  <a:spLocks noChangeArrowheads="1"/>
                </p:cNvSpPr>
                <p:nvPr/>
              </p:nvSpPr>
              <p:spPr bwMode="auto">
                <a:xfrm>
                  <a:off x="1878" y="2244"/>
                  <a:ext cx="63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15" name="Group 75"/>
              <p:cNvGrpSpPr/>
              <p:nvPr/>
            </p:nvGrpSpPr>
            <p:grpSpPr bwMode="auto">
              <a:xfrm>
                <a:off x="2513" y="2244"/>
                <a:ext cx="1243" cy="374"/>
                <a:chOff x="2513" y="2244"/>
                <a:chExt cx="1243" cy="374"/>
              </a:xfrm>
            </p:grpSpPr>
            <p:sp>
              <p:nvSpPr>
                <p:cNvPr id="93252" name="Rectangle 76"/>
                <p:cNvSpPr>
                  <a:spLocks noChangeArrowheads="1"/>
                </p:cNvSpPr>
                <p:nvPr/>
              </p:nvSpPr>
              <p:spPr bwMode="auto">
                <a:xfrm>
                  <a:off x="2556" y="2244"/>
                  <a:ext cx="115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ea typeface="宋体" panose="02010600030101010101" pitchFamily="2" charset="-122"/>
                    </a:rPr>
                    <a:t>存储器多行读</a:t>
                  </a:r>
                  <a:endParaRPr kumimoji="0" lang="zh-CN" altLang="en-US"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53" name="Rectangle 77"/>
                <p:cNvSpPr>
                  <a:spLocks noChangeArrowheads="1"/>
                </p:cNvSpPr>
                <p:nvPr/>
              </p:nvSpPr>
              <p:spPr bwMode="auto">
                <a:xfrm>
                  <a:off x="2513" y="2244"/>
                  <a:ext cx="124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16" name="Group 78"/>
              <p:cNvGrpSpPr/>
              <p:nvPr/>
            </p:nvGrpSpPr>
            <p:grpSpPr bwMode="auto">
              <a:xfrm>
                <a:off x="0" y="2618"/>
                <a:ext cx="583" cy="374"/>
                <a:chOff x="0" y="2618"/>
                <a:chExt cx="583" cy="374"/>
              </a:xfrm>
            </p:grpSpPr>
            <p:sp>
              <p:nvSpPr>
                <p:cNvPr id="93250" name="Rectangle 79"/>
                <p:cNvSpPr>
                  <a:spLocks noChangeArrowheads="1"/>
                </p:cNvSpPr>
                <p:nvPr/>
              </p:nvSpPr>
              <p:spPr bwMode="auto">
                <a:xfrm>
                  <a:off x="43" y="2618"/>
                  <a:ext cx="49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0101</a:t>
                  </a:r>
                  <a:endParaRPr kumimoji="0" lang="en-US" altLang="zh-CN" sz="2000">
                    <a:ea typeface="宋体" panose="02010600030101010101" pitchFamily="2" charset="-122"/>
                  </a:endParaRPr>
                </a:p>
                <a:p>
                  <a:pPr algn="ctr">
                    <a:spcBef>
                      <a:spcPct val="0"/>
                    </a:spcBef>
                    <a:buClrTx/>
                    <a:buFontTx/>
                    <a:buNone/>
                  </a:pPr>
                  <a:endParaRPr kumimoji="0" lang="en-US" altLang="zh-CN" sz="2000">
                    <a:ea typeface="宋体" panose="02010600030101010101" pitchFamily="2" charset="-122"/>
                  </a:endParaRPr>
                </a:p>
              </p:txBody>
            </p:sp>
            <p:sp>
              <p:nvSpPr>
                <p:cNvPr id="93251" name="Rectangle 80"/>
                <p:cNvSpPr>
                  <a:spLocks noChangeArrowheads="1"/>
                </p:cNvSpPr>
                <p:nvPr/>
              </p:nvSpPr>
              <p:spPr bwMode="auto">
                <a:xfrm>
                  <a:off x="0" y="2618"/>
                  <a:ext cx="58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17" name="Group 81"/>
              <p:cNvGrpSpPr/>
              <p:nvPr/>
            </p:nvGrpSpPr>
            <p:grpSpPr bwMode="auto">
              <a:xfrm>
                <a:off x="583" y="2618"/>
                <a:ext cx="1295" cy="374"/>
                <a:chOff x="583" y="2618"/>
                <a:chExt cx="1295" cy="374"/>
              </a:xfrm>
            </p:grpSpPr>
            <p:sp>
              <p:nvSpPr>
                <p:cNvPr id="93248" name="Rectangle 82"/>
                <p:cNvSpPr>
                  <a:spLocks noChangeArrowheads="1"/>
                </p:cNvSpPr>
                <p:nvPr/>
              </p:nvSpPr>
              <p:spPr bwMode="auto">
                <a:xfrm>
                  <a:off x="626" y="2618"/>
                  <a:ext cx="120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ea typeface="宋体" panose="02010600030101010101" pitchFamily="2" charset="-122"/>
                    </a:rPr>
                    <a:t>保留</a:t>
                  </a:r>
                  <a:endParaRPr kumimoji="0" lang="zh-CN" altLang="en-US"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49" name="Rectangle 83"/>
                <p:cNvSpPr>
                  <a:spLocks noChangeArrowheads="1"/>
                </p:cNvSpPr>
                <p:nvPr/>
              </p:nvSpPr>
              <p:spPr bwMode="auto">
                <a:xfrm>
                  <a:off x="583" y="2618"/>
                  <a:ext cx="129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18" name="Group 84"/>
              <p:cNvGrpSpPr/>
              <p:nvPr/>
            </p:nvGrpSpPr>
            <p:grpSpPr bwMode="auto">
              <a:xfrm>
                <a:off x="1878" y="2618"/>
                <a:ext cx="635" cy="374"/>
                <a:chOff x="1878" y="2618"/>
                <a:chExt cx="635" cy="374"/>
              </a:xfrm>
            </p:grpSpPr>
            <p:sp>
              <p:nvSpPr>
                <p:cNvPr id="93246" name="Rectangle 85"/>
                <p:cNvSpPr>
                  <a:spLocks noChangeArrowheads="1"/>
                </p:cNvSpPr>
                <p:nvPr/>
              </p:nvSpPr>
              <p:spPr bwMode="auto">
                <a:xfrm>
                  <a:off x="1921" y="2618"/>
                  <a:ext cx="54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1101</a:t>
                  </a:r>
                  <a:endParaRPr kumimoji="0" lang="en-US" altLang="zh-CN"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47" name="Rectangle 86"/>
                <p:cNvSpPr>
                  <a:spLocks noChangeArrowheads="1"/>
                </p:cNvSpPr>
                <p:nvPr/>
              </p:nvSpPr>
              <p:spPr bwMode="auto">
                <a:xfrm>
                  <a:off x="1878" y="2618"/>
                  <a:ext cx="63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19" name="Group 87"/>
              <p:cNvGrpSpPr/>
              <p:nvPr/>
            </p:nvGrpSpPr>
            <p:grpSpPr bwMode="auto">
              <a:xfrm>
                <a:off x="2513" y="2618"/>
                <a:ext cx="1243" cy="374"/>
                <a:chOff x="2513" y="2618"/>
                <a:chExt cx="1243" cy="374"/>
              </a:xfrm>
            </p:grpSpPr>
            <p:sp>
              <p:nvSpPr>
                <p:cNvPr id="93244" name="Rectangle 88"/>
                <p:cNvSpPr>
                  <a:spLocks noChangeArrowheads="1"/>
                </p:cNvSpPr>
                <p:nvPr/>
              </p:nvSpPr>
              <p:spPr bwMode="auto">
                <a:xfrm>
                  <a:off x="2556" y="2618"/>
                  <a:ext cx="115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ea typeface="宋体" panose="02010600030101010101" pitchFamily="2" charset="-122"/>
                    </a:rPr>
                    <a:t>双地址周期</a:t>
                  </a:r>
                  <a:endParaRPr kumimoji="0" lang="zh-CN" altLang="en-US"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45" name="Rectangle 89"/>
                <p:cNvSpPr>
                  <a:spLocks noChangeArrowheads="1"/>
                </p:cNvSpPr>
                <p:nvPr/>
              </p:nvSpPr>
              <p:spPr bwMode="auto">
                <a:xfrm>
                  <a:off x="2513" y="2618"/>
                  <a:ext cx="124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20" name="Group 90"/>
              <p:cNvGrpSpPr/>
              <p:nvPr/>
            </p:nvGrpSpPr>
            <p:grpSpPr bwMode="auto">
              <a:xfrm>
                <a:off x="0" y="2992"/>
                <a:ext cx="583" cy="374"/>
                <a:chOff x="0" y="2992"/>
                <a:chExt cx="583" cy="374"/>
              </a:xfrm>
            </p:grpSpPr>
            <p:sp>
              <p:nvSpPr>
                <p:cNvPr id="93242" name="Rectangle 91"/>
                <p:cNvSpPr>
                  <a:spLocks noChangeArrowheads="1"/>
                </p:cNvSpPr>
                <p:nvPr/>
              </p:nvSpPr>
              <p:spPr bwMode="auto">
                <a:xfrm>
                  <a:off x="43" y="2992"/>
                  <a:ext cx="49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0110</a:t>
                  </a:r>
                  <a:endParaRPr kumimoji="0" lang="en-US" altLang="zh-CN"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43" name="Rectangle 92"/>
                <p:cNvSpPr>
                  <a:spLocks noChangeArrowheads="1"/>
                </p:cNvSpPr>
                <p:nvPr/>
              </p:nvSpPr>
              <p:spPr bwMode="auto">
                <a:xfrm>
                  <a:off x="0" y="2992"/>
                  <a:ext cx="58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21" name="Group 93"/>
              <p:cNvGrpSpPr/>
              <p:nvPr/>
            </p:nvGrpSpPr>
            <p:grpSpPr bwMode="auto">
              <a:xfrm>
                <a:off x="583" y="2992"/>
                <a:ext cx="1295" cy="374"/>
                <a:chOff x="583" y="2992"/>
                <a:chExt cx="1295" cy="374"/>
              </a:xfrm>
            </p:grpSpPr>
            <p:sp>
              <p:nvSpPr>
                <p:cNvPr id="93240" name="Rectangle 94"/>
                <p:cNvSpPr>
                  <a:spLocks noChangeArrowheads="1"/>
                </p:cNvSpPr>
                <p:nvPr/>
              </p:nvSpPr>
              <p:spPr bwMode="auto">
                <a:xfrm>
                  <a:off x="626" y="2992"/>
                  <a:ext cx="120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400">
                      <a:ea typeface="宋体" panose="02010600030101010101" pitchFamily="2" charset="-122"/>
                    </a:rPr>
                    <a:t>存储器读</a:t>
                  </a:r>
                  <a:r>
                    <a:rPr kumimoji="0" lang="en-US" altLang="zh-CN" sz="1400">
                      <a:ea typeface="宋体" panose="02010600030101010101" pitchFamily="2" charset="-122"/>
                    </a:rPr>
                    <a:t>(</a:t>
                  </a:r>
                  <a:r>
                    <a:rPr kumimoji="0" lang="zh-CN" altLang="en-US" sz="1400">
                      <a:ea typeface="宋体" panose="02010600030101010101" pitchFamily="2" charset="-122"/>
                    </a:rPr>
                    <a:t>从内存空间映像中读数</a:t>
                  </a:r>
                  <a:r>
                    <a:rPr kumimoji="0" lang="en-US" altLang="zh-CN" sz="1400">
                      <a:ea typeface="宋体" panose="02010600030101010101" pitchFamily="2" charset="-122"/>
                    </a:rPr>
                    <a:t>)</a:t>
                  </a:r>
                  <a:endParaRPr kumimoji="0" lang="en-US" altLang="zh-CN" sz="1400">
                    <a:ea typeface="宋体" panose="02010600030101010101" pitchFamily="2" charset="-122"/>
                  </a:endParaRPr>
                </a:p>
                <a:p>
                  <a:pPr algn="ctr">
                    <a:spcBef>
                      <a:spcPct val="0"/>
                    </a:spcBef>
                    <a:buClrTx/>
                    <a:buFontTx/>
                    <a:buNone/>
                  </a:pPr>
                  <a:endParaRPr kumimoji="0" lang="en-US" altLang="zh-CN" sz="1400">
                    <a:ea typeface="宋体" panose="02010600030101010101" pitchFamily="2" charset="-122"/>
                  </a:endParaRPr>
                </a:p>
              </p:txBody>
            </p:sp>
            <p:sp>
              <p:nvSpPr>
                <p:cNvPr id="93241" name="Rectangle 95"/>
                <p:cNvSpPr>
                  <a:spLocks noChangeArrowheads="1"/>
                </p:cNvSpPr>
                <p:nvPr/>
              </p:nvSpPr>
              <p:spPr bwMode="auto">
                <a:xfrm>
                  <a:off x="583" y="2992"/>
                  <a:ext cx="129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22" name="Group 96"/>
              <p:cNvGrpSpPr/>
              <p:nvPr/>
            </p:nvGrpSpPr>
            <p:grpSpPr bwMode="auto">
              <a:xfrm>
                <a:off x="1878" y="2992"/>
                <a:ext cx="635" cy="374"/>
                <a:chOff x="1878" y="2992"/>
                <a:chExt cx="635" cy="374"/>
              </a:xfrm>
            </p:grpSpPr>
            <p:sp>
              <p:nvSpPr>
                <p:cNvPr id="93238" name="Rectangle 97"/>
                <p:cNvSpPr>
                  <a:spLocks noChangeArrowheads="1"/>
                </p:cNvSpPr>
                <p:nvPr/>
              </p:nvSpPr>
              <p:spPr bwMode="auto">
                <a:xfrm>
                  <a:off x="1921" y="2992"/>
                  <a:ext cx="54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1110</a:t>
                  </a:r>
                  <a:endParaRPr kumimoji="0" lang="en-US" altLang="zh-CN" sz="2000">
                    <a:ea typeface="宋体" panose="02010600030101010101" pitchFamily="2" charset="-122"/>
                  </a:endParaRPr>
                </a:p>
                <a:p>
                  <a:pPr algn="ctr">
                    <a:spcBef>
                      <a:spcPct val="0"/>
                    </a:spcBef>
                    <a:buClrTx/>
                    <a:buFontTx/>
                    <a:buNone/>
                  </a:pPr>
                  <a:endParaRPr kumimoji="0" lang="en-US" altLang="zh-CN" sz="2000">
                    <a:ea typeface="宋体" panose="02010600030101010101" pitchFamily="2" charset="-122"/>
                  </a:endParaRPr>
                </a:p>
              </p:txBody>
            </p:sp>
            <p:sp>
              <p:nvSpPr>
                <p:cNvPr id="93239" name="Rectangle 98"/>
                <p:cNvSpPr>
                  <a:spLocks noChangeArrowheads="1"/>
                </p:cNvSpPr>
                <p:nvPr/>
              </p:nvSpPr>
              <p:spPr bwMode="auto">
                <a:xfrm>
                  <a:off x="1878" y="2992"/>
                  <a:ext cx="63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23" name="Group 99"/>
              <p:cNvGrpSpPr/>
              <p:nvPr/>
            </p:nvGrpSpPr>
            <p:grpSpPr bwMode="auto">
              <a:xfrm>
                <a:off x="2513" y="2992"/>
                <a:ext cx="1243" cy="374"/>
                <a:chOff x="2513" y="2992"/>
                <a:chExt cx="1243" cy="374"/>
              </a:xfrm>
            </p:grpSpPr>
            <p:sp>
              <p:nvSpPr>
                <p:cNvPr id="93236" name="Rectangle 100"/>
                <p:cNvSpPr>
                  <a:spLocks noChangeArrowheads="1"/>
                </p:cNvSpPr>
                <p:nvPr/>
              </p:nvSpPr>
              <p:spPr bwMode="auto">
                <a:xfrm>
                  <a:off x="2556" y="2992"/>
                  <a:ext cx="115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ea typeface="宋体" panose="02010600030101010101" pitchFamily="2" charset="-122"/>
                    </a:rPr>
                    <a:t>存储器行读</a:t>
                  </a:r>
                  <a:endParaRPr kumimoji="0" lang="zh-CN" altLang="en-US" sz="2000">
                    <a:ea typeface="宋体" panose="02010600030101010101" pitchFamily="2" charset="-122"/>
                  </a:endParaRPr>
                </a:p>
                <a:p>
                  <a:pPr algn="ctr">
                    <a:spcBef>
                      <a:spcPct val="0"/>
                    </a:spcBef>
                    <a:buClrTx/>
                    <a:buFontTx/>
                    <a:buNone/>
                  </a:pPr>
                  <a:endParaRPr kumimoji="0" lang="en-US" altLang="zh-CN" sz="2000">
                    <a:ea typeface="宋体" panose="02010600030101010101" pitchFamily="2" charset="-122"/>
                  </a:endParaRPr>
                </a:p>
              </p:txBody>
            </p:sp>
            <p:sp>
              <p:nvSpPr>
                <p:cNvPr id="93237" name="Rectangle 101"/>
                <p:cNvSpPr>
                  <a:spLocks noChangeArrowheads="1"/>
                </p:cNvSpPr>
                <p:nvPr/>
              </p:nvSpPr>
              <p:spPr bwMode="auto">
                <a:xfrm>
                  <a:off x="2513" y="2992"/>
                  <a:ext cx="124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24" name="Group 102"/>
              <p:cNvGrpSpPr/>
              <p:nvPr/>
            </p:nvGrpSpPr>
            <p:grpSpPr bwMode="auto">
              <a:xfrm>
                <a:off x="0" y="3366"/>
                <a:ext cx="583" cy="374"/>
                <a:chOff x="0" y="3366"/>
                <a:chExt cx="583" cy="374"/>
              </a:xfrm>
            </p:grpSpPr>
            <p:sp>
              <p:nvSpPr>
                <p:cNvPr id="93234" name="Rectangle 103"/>
                <p:cNvSpPr>
                  <a:spLocks noChangeArrowheads="1"/>
                </p:cNvSpPr>
                <p:nvPr/>
              </p:nvSpPr>
              <p:spPr bwMode="auto">
                <a:xfrm>
                  <a:off x="43" y="3366"/>
                  <a:ext cx="49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0111</a:t>
                  </a:r>
                  <a:endParaRPr kumimoji="0" lang="en-US" altLang="zh-CN"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35" name="Rectangle 104"/>
                <p:cNvSpPr>
                  <a:spLocks noChangeArrowheads="1"/>
                </p:cNvSpPr>
                <p:nvPr/>
              </p:nvSpPr>
              <p:spPr bwMode="auto">
                <a:xfrm>
                  <a:off x="0" y="3366"/>
                  <a:ext cx="58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25" name="Group 105"/>
              <p:cNvGrpSpPr/>
              <p:nvPr/>
            </p:nvGrpSpPr>
            <p:grpSpPr bwMode="auto">
              <a:xfrm>
                <a:off x="583" y="3366"/>
                <a:ext cx="1295" cy="374"/>
                <a:chOff x="583" y="3366"/>
                <a:chExt cx="1295" cy="374"/>
              </a:xfrm>
            </p:grpSpPr>
            <p:sp>
              <p:nvSpPr>
                <p:cNvPr id="93232" name="Rectangle 106"/>
                <p:cNvSpPr>
                  <a:spLocks noChangeArrowheads="1"/>
                </p:cNvSpPr>
                <p:nvPr/>
              </p:nvSpPr>
              <p:spPr bwMode="auto">
                <a:xfrm>
                  <a:off x="626" y="3366"/>
                  <a:ext cx="120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500">
                      <a:ea typeface="宋体" panose="02010600030101010101" pitchFamily="2" charset="-122"/>
                    </a:rPr>
                    <a:t>存储器写</a:t>
                  </a:r>
                  <a:r>
                    <a:rPr kumimoji="0" lang="en-US" altLang="zh-CN" sz="1500">
                      <a:ea typeface="宋体" panose="02010600030101010101" pitchFamily="2" charset="-122"/>
                    </a:rPr>
                    <a:t>(</a:t>
                  </a:r>
                  <a:r>
                    <a:rPr kumimoji="0" lang="zh-CN" altLang="en-US" sz="1500">
                      <a:ea typeface="宋体" panose="02010600030101010101" pitchFamily="2" charset="-122"/>
                    </a:rPr>
                    <a:t>向内存空间映像中写</a:t>
                  </a:r>
                  <a:r>
                    <a:rPr kumimoji="0" lang="en-US" altLang="zh-CN" sz="1500">
                      <a:ea typeface="宋体" panose="02010600030101010101" pitchFamily="2" charset="-122"/>
                    </a:rPr>
                    <a:t>)</a:t>
                  </a:r>
                  <a:endParaRPr kumimoji="0" lang="en-US" altLang="zh-CN" sz="1500">
                    <a:ea typeface="宋体" panose="02010600030101010101" pitchFamily="2" charset="-122"/>
                  </a:endParaRPr>
                </a:p>
                <a:p>
                  <a:pPr algn="ctr">
                    <a:spcBef>
                      <a:spcPct val="0"/>
                    </a:spcBef>
                    <a:buClrTx/>
                    <a:buFontTx/>
                    <a:buNone/>
                  </a:pPr>
                  <a:endParaRPr kumimoji="0" lang="en-US" altLang="zh-CN" sz="1500">
                    <a:ea typeface="宋体" panose="02010600030101010101" pitchFamily="2" charset="-122"/>
                  </a:endParaRPr>
                </a:p>
              </p:txBody>
            </p:sp>
            <p:sp>
              <p:nvSpPr>
                <p:cNvPr id="93233" name="Rectangle 107"/>
                <p:cNvSpPr>
                  <a:spLocks noChangeArrowheads="1"/>
                </p:cNvSpPr>
                <p:nvPr/>
              </p:nvSpPr>
              <p:spPr bwMode="auto">
                <a:xfrm>
                  <a:off x="583" y="3366"/>
                  <a:ext cx="129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26" name="Group 108"/>
              <p:cNvGrpSpPr/>
              <p:nvPr/>
            </p:nvGrpSpPr>
            <p:grpSpPr bwMode="auto">
              <a:xfrm>
                <a:off x="1878" y="3366"/>
                <a:ext cx="635" cy="374"/>
                <a:chOff x="1878" y="3366"/>
                <a:chExt cx="635" cy="374"/>
              </a:xfrm>
            </p:grpSpPr>
            <p:sp>
              <p:nvSpPr>
                <p:cNvPr id="93230" name="Rectangle 109"/>
                <p:cNvSpPr>
                  <a:spLocks noChangeArrowheads="1"/>
                </p:cNvSpPr>
                <p:nvPr/>
              </p:nvSpPr>
              <p:spPr bwMode="auto">
                <a:xfrm>
                  <a:off x="1921" y="3366"/>
                  <a:ext cx="549"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1111</a:t>
                  </a:r>
                  <a:endParaRPr kumimoji="0" lang="en-US" altLang="zh-CN" sz="2000">
                    <a:ea typeface="宋体" panose="02010600030101010101" pitchFamily="2" charset="-122"/>
                  </a:endParaRPr>
                </a:p>
                <a:p>
                  <a:pPr algn="ctr">
                    <a:spcBef>
                      <a:spcPct val="0"/>
                    </a:spcBef>
                    <a:buClrTx/>
                    <a:buFontTx/>
                    <a:buNone/>
                  </a:pPr>
                  <a:endParaRPr kumimoji="0" lang="en-US" altLang="zh-CN" sz="2400" b="0">
                    <a:ea typeface="宋体" panose="02010600030101010101" pitchFamily="2" charset="-122"/>
                  </a:endParaRPr>
                </a:p>
              </p:txBody>
            </p:sp>
            <p:sp>
              <p:nvSpPr>
                <p:cNvPr id="93231" name="Rectangle 110"/>
                <p:cNvSpPr>
                  <a:spLocks noChangeArrowheads="1"/>
                </p:cNvSpPr>
                <p:nvPr/>
              </p:nvSpPr>
              <p:spPr bwMode="auto">
                <a:xfrm>
                  <a:off x="1878" y="3366"/>
                  <a:ext cx="635"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93227" name="Group 111"/>
              <p:cNvGrpSpPr/>
              <p:nvPr/>
            </p:nvGrpSpPr>
            <p:grpSpPr bwMode="auto">
              <a:xfrm>
                <a:off x="2513" y="3366"/>
                <a:ext cx="1243" cy="374"/>
                <a:chOff x="2513" y="3366"/>
                <a:chExt cx="1243" cy="374"/>
              </a:xfrm>
            </p:grpSpPr>
            <p:sp>
              <p:nvSpPr>
                <p:cNvPr id="93228" name="Rectangle 112"/>
                <p:cNvSpPr>
                  <a:spLocks noChangeArrowheads="1"/>
                </p:cNvSpPr>
                <p:nvPr/>
              </p:nvSpPr>
              <p:spPr bwMode="auto">
                <a:xfrm>
                  <a:off x="2556" y="3366"/>
                  <a:ext cx="115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46800" rIns="21600" bIns="46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ea typeface="宋体" panose="02010600030101010101" pitchFamily="2" charset="-122"/>
                    </a:rPr>
                    <a:t>存储器写并无效</a:t>
                  </a:r>
                  <a:endParaRPr kumimoji="0" lang="zh-CN" altLang="en-US" sz="2000">
                    <a:ea typeface="宋体" panose="02010600030101010101" pitchFamily="2" charset="-122"/>
                  </a:endParaRPr>
                </a:p>
                <a:p>
                  <a:pPr algn="ctr">
                    <a:spcBef>
                      <a:spcPct val="0"/>
                    </a:spcBef>
                    <a:buClrTx/>
                    <a:buFontTx/>
                    <a:buNone/>
                  </a:pPr>
                  <a:endParaRPr kumimoji="0" lang="en-US" altLang="zh-CN" sz="2000">
                    <a:ea typeface="宋体" panose="02010600030101010101" pitchFamily="2" charset="-122"/>
                  </a:endParaRPr>
                </a:p>
              </p:txBody>
            </p:sp>
            <p:sp>
              <p:nvSpPr>
                <p:cNvPr id="93229" name="Rectangle 113"/>
                <p:cNvSpPr>
                  <a:spLocks noChangeArrowheads="1"/>
                </p:cNvSpPr>
                <p:nvPr/>
              </p:nvSpPr>
              <p:spPr bwMode="auto">
                <a:xfrm>
                  <a:off x="2513" y="3366"/>
                  <a:ext cx="1243"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sp>
          <p:nvSpPr>
            <p:cNvPr id="93191" name="Rectangle 114"/>
            <p:cNvSpPr>
              <a:spLocks noChangeArrowheads="1"/>
            </p:cNvSpPr>
            <p:nvPr/>
          </p:nvSpPr>
          <p:spPr bwMode="auto">
            <a:xfrm>
              <a:off x="-3" y="371"/>
              <a:ext cx="3762" cy="3372"/>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lIns="21600" tIns="46800" rIns="21600" bIns="46800" anchor="ct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spTree>
  </p:cSld>
  <p:clrMapOvr>
    <a:masterClrMapping/>
  </p:clrMapOvr>
  <p:transition spd="med">
    <p:pull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defRPr/>
            </a:pPr>
            <a:r>
              <a:rPr lang="zh-CN" altLang="en-US"/>
              <a:t>总线周期类型（</a:t>
            </a:r>
            <a:r>
              <a:rPr lang="en-US" altLang="zh-CN"/>
              <a:t>2</a:t>
            </a:r>
            <a:r>
              <a:rPr lang="zh-CN" altLang="en-US"/>
              <a:t>）</a:t>
            </a:r>
            <a:endParaRPr lang="zh-CN" altLang="en-US"/>
          </a:p>
        </p:txBody>
      </p:sp>
      <p:sp>
        <p:nvSpPr>
          <p:cNvPr id="94211" name="Rectangle 3"/>
          <p:cNvSpPr>
            <a:spLocks noGrp="1" noChangeArrowheads="1"/>
          </p:cNvSpPr>
          <p:nvPr>
            <p:ph idx="1"/>
          </p:nvPr>
        </p:nvSpPr>
        <p:spPr/>
        <p:txBody>
          <a:bodyPr/>
          <a:lstStyle/>
          <a:p>
            <a:pPr eaLnBrk="1" hangingPunct="1"/>
            <a:r>
              <a:rPr lang="zh-CN" altLang="en-US"/>
              <a:t>存储器读</a:t>
            </a:r>
            <a:r>
              <a:rPr lang="en-US" altLang="zh-CN"/>
              <a:t>/</a:t>
            </a:r>
            <a:r>
              <a:rPr lang="zh-CN" altLang="en-US"/>
              <a:t>写总线周期</a:t>
            </a:r>
            <a:endParaRPr lang="zh-CN" altLang="en-US"/>
          </a:p>
          <a:p>
            <a:pPr eaLnBrk="1" hangingPunct="1"/>
            <a:r>
              <a:rPr lang="zh-CN" altLang="en-US"/>
              <a:t>存储器写和使无效周期</a:t>
            </a:r>
            <a:endParaRPr lang="zh-CN" altLang="en-US"/>
          </a:p>
          <a:p>
            <a:pPr eaLnBrk="1" hangingPunct="1"/>
            <a:r>
              <a:rPr lang="zh-CN" altLang="en-US"/>
              <a:t>特殊周期</a:t>
            </a:r>
            <a:endParaRPr lang="zh-CN" altLang="en-US"/>
          </a:p>
          <a:p>
            <a:pPr eaLnBrk="1" hangingPunct="1"/>
            <a:r>
              <a:rPr lang="zh-CN" altLang="en-US"/>
              <a:t>配置读</a:t>
            </a:r>
            <a:r>
              <a:rPr lang="en-US" altLang="zh-CN"/>
              <a:t>/</a:t>
            </a:r>
            <a:r>
              <a:rPr lang="zh-CN" altLang="en-US"/>
              <a:t>写周期</a:t>
            </a:r>
            <a:endParaRPr lang="zh-CN" altLang="en-US"/>
          </a:p>
          <a:p>
            <a:pPr eaLnBrk="1" hangingPunct="1"/>
            <a:r>
              <a:rPr lang="zh-CN" altLang="en-US"/>
              <a:t>双地址周期</a:t>
            </a:r>
            <a:endParaRPr lang="zh-CN" altLang="en-US"/>
          </a:p>
        </p:txBody>
      </p:sp>
    </p:spTree>
  </p:cSld>
  <p:clrMapOvr>
    <a:masterClrMapping/>
  </p:clrMapOvr>
  <p:transition spd="med">
    <p:pull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p:txBody>
          <a:bodyPr/>
          <a:lstStyle/>
          <a:p>
            <a:pPr eaLnBrk="1" hangingPunct="1">
              <a:defRPr/>
            </a:pPr>
            <a:r>
              <a:rPr lang="zh-CN" altLang="en-US"/>
              <a:t>总线上的读操作</a:t>
            </a:r>
            <a:endParaRPr lang="zh-CN" altLang="en-US"/>
          </a:p>
        </p:txBody>
      </p:sp>
      <p:sp>
        <p:nvSpPr>
          <p:cNvPr id="95236" name="Text Box 5"/>
          <p:cNvSpPr txBox="1">
            <a:spLocks noChangeArrowheads="1"/>
          </p:cNvSpPr>
          <p:nvPr/>
        </p:nvSpPr>
        <p:spPr bwMode="auto">
          <a:xfrm>
            <a:off x="573088" y="1503363"/>
            <a:ext cx="6350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CLK</a:t>
            </a:r>
            <a:endParaRPr kumimoji="0" lang="en-US" altLang="zh-CN" sz="1600">
              <a:ea typeface="宋体" panose="02010600030101010101" pitchFamily="2" charset="-122"/>
            </a:endParaRPr>
          </a:p>
        </p:txBody>
      </p:sp>
      <p:sp>
        <p:nvSpPr>
          <p:cNvPr id="95237" name="Text Box 6"/>
          <p:cNvSpPr txBox="1">
            <a:spLocks noChangeArrowheads="1"/>
          </p:cNvSpPr>
          <p:nvPr/>
        </p:nvSpPr>
        <p:spPr bwMode="auto">
          <a:xfrm>
            <a:off x="190500" y="2154238"/>
            <a:ext cx="10445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FRAME#</a:t>
            </a:r>
            <a:endParaRPr kumimoji="0" lang="en-US" altLang="zh-CN" sz="1600">
              <a:ea typeface="宋体" panose="02010600030101010101" pitchFamily="2" charset="-122"/>
            </a:endParaRPr>
          </a:p>
        </p:txBody>
      </p:sp>
      <p:sp>
        <p:nvSpPr>
          <p:cNvPr id="95238" name="Line 7"/>
          <p:cNvSpPr>
            <a:spLocks noChangeShapeType="1"/>
          </p:cNvSpPr>
          <p:nvPr/>
        </p:nvSpPr>
        <p:spPr bwMode="auto">
          <a:xfrm>
            <a:off x="1411288" y="1778000"/>
            <a:ext cx="3063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39" name="Line 8"/>
          <p:cNvSpPr>
            <a:spLocks noChangeShapeType="1"/>
          </p:cNvSpPr>
          <p:nvPr/>
        </p:nvSpPr>
        <p:spPr bwMode="auto">
          <a:xfrm flipV="1">
            <a:off x="1717675" y="1452563"/>
            <a:ext cx="176213" cy="3111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40" name="Line 9"/>
          <p:cNvSpPr>
            <a:spLocks noChangeShapeType="1"/>
          </p:cNvSpPr>
          <p:nvPr/>
        </p:nvSpPr>
        <p:spPr bwMode="auto">
          <a:xfrm>
            <a:off x="1893888" y="1465263"/>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41" name="Line 10"/>
          <p:cNvSpPr>
            <a:spLocks noChangeShapeType="1"/>
          </p:cNvSpPr>
          <p:nvPr/>
        </p:nvSpPr>
        <p:spPr bwMode="auto">
          <a:xfrm>
            <a:off x="2122488" y="1465263"/>
            <a:ext cx="141287" cy="2984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42" name="Line 11"/>
          <p:cNvSpPr>
            <a:spLocks noChangeShapeType="1"/>
          </p:cNvSpPr>
          <p:nvPr/>
        </p:nvSpPr>
        <p:spPr bwMode="auto">
          <a:xfrm>
            <a:off x="2276475" y="1763713"/>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43" name="Line 12"/>
          <p:cNvSpPr>
            <a:spLocks noChangeShapeType="1"/>
          </p:cNvSpPr>
          <p:nvPr/>
        </p:nvSpPr>
        <p:spPr bwMode="auto">
          <a:xfrm flipV="1">
            <a:off x="2505075" y="1438275"/>
            <a:ext cx="179388" cy="31273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44" name="Line 13"/>
          <p:cNvSpPr>
            <a:spLocks noChangeShapeType="1"/>
          </p:cNvSpPr>
          <p:nvPr/>
        </p:nvSpPr>
        <p:spPr bwMode="auto">
          <a:xfrm>
            <a:off x="2684463" y="1452563"/>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45" name="Line 14"/>
          <p:cNvSpPr>
            <a:spLocks noChangeShapeType="1"/>
          </p:cNvSpPr>
          <p:nvPr/>
        </p:nvSpPr>
        <p:spPr bwMode="auto">
          <a:xfrm>
            <a:off x="2913063" y="1452563"/>
            <a:ext cx="139700" cy="2984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46" name="Line 15"/>
          <p:cNvSpPr>
            <a:spLocks noChangeShapeType="1"/>
          </p:cNvSpPr>
          <p:nvPr/>
        </p:nvSpPr>
        <p:spPr bwMode="auto">
          <a:xfrm>
            <a:off x="3063875" y="1751013"/>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47" name="Line 16"/>
          <p:cNvSpPr>
            <a:spLocks noChangeShapeType="1"/>
          </p:cNvSpPr>
          <p:nvPr/>
        </p:nvSpPr>
        <p:spPr bwMode="auto">
          <a:xfrm flipV="1">
            <a:off x="3281363" y="1438275"/>
            <a:ext cx="177800" cy="31273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48" name="Line 17"/>
          <p:cNvSpPr>
            <a:spLocks noChangeShapeType="1"/>
          </p:cNvSpPr>
          <p:nvPr/>
        </p:nvSpPr>
        <p:spPr bwMode="auto">
          <a:xfrm>
            <a:off x="3459163" y="1452563"/>
            <a:ext cx="2301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49" name="Line 18"/>
          <p:cNvSpPr>
            <a:spLocks noChangeShapeType="1"/>
          </p:cNvSpPr>
          <p:nvPr/>
        </p:nvSpPr>
        <p:spPr bwMode="auto">
          <a:xfrm>
            <a:off x="3689350" y="1452563"/>
            <a:ext cx="139700" cy="2984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50" name="Line 19"/>
          <p:cNvSpPr>
            <a:spLocks noChangeShapeType="1"/>
          </p:cNvSpPr>
          <p:nvPr/>
        </p:nvSpPr>
        <p:spPr bwMode="auto">
          <a:xfrm>
            <a:off x="3840163" y="1751013"/>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51" name="Line 20"/>
          <p:cNvSpPr>
            <a:spLocks noChangeShapeType="1"/>
          </p:cNvSpPr>
          <p:nvPr/>
        </p:nvSpPr>
        <p:spPr bwMode="auto">
          <a:xfrm flipV="1">
            <a:off x="4068763" y="1425575"/>
            <a:ext cx="179387" cy="31273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52" name="Line 21"/>
          <p:cNvSpPr>
            <a:spLocks noChangeShapeType="1"/>
          </p:cNvSpPr>
          <p:nvPr/>
        </p:nvSpPr>
        <p:spPr bwMode="auto">
          <a:xfrm>
            <a:off x="4248150" y="1438275"/>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53" name="Line 22"/>
          <p:cNvSpPr>
            <a:spLocks noChangeShapeType="1"/>
          </p:cNvSpPr>
          <p:nvPr/>
        </p:nvSpPr>
        <p:spPr bwMode="auto">
          <a:xfrm>
            <a:off x="4476750" y="1438275"/>
            <a:ext cx="139700" cy="30003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54" name="Line 23"/>
          <p:cNvSpPr>
            <a:spLocks noChangeShapeType="1"/>
          </p:cNvSpPr>
          <p:nvPr/>
        </p:nvSpPr>
        <p:spPr bwMode="auto">
          <a:xfrm>
            <a:off x="4629150" y="1738313"/>
            <a:ext cx="230188"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55" name="Line 24"/>
          <p:cNvSpPr>
            <a:spLocks noChangeShapeType="1"/>
          </p:cNvSpPr>
          <p:nvPr/>
        </p:nvSpPr>
        <p:spPr bwMode="auto">
          <a:xfrm flipV="1">
            <a:off x="4859338" y="1398588"/>
            <a:ext cx="176212" cy="31273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56" name="Line 25"/>
          <p:cNvSpPr>
            <a:spLocks noChangeShapeType="1"/>
          </p:cNvSpPr>
          <p:nvPr/>
        </p:nvSpPr>
        <p:spPr bwMode="auto">
          <a:xfrm>
            <a:off x="5035550" y="1412875"/>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57" name="Line 26"/>
          <p:cNvSpPr>
            <a:spLocks noChangeShapeType="1"/>
          </p:cNvSpPr>
          <p:nvPr/>
        </p:nvSpPr>
        <p:spPr bwMode="auto">
          <a:xfrm>
            <a:off x="5264150" y="1412875"/>
            <a:ext cx="139700" cy="2984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58" name="Line 27"/>
          <p:cNvSpPr>
            <a:spLocks noChangeShapeType="1"/>
          </p:cNvSpPr>
          <p:nvPr/>
        </p:nvSpPr>
        <p:spPr bwMode="auto">
          <a:xfrm>
            <a:off x="5418138" y="1711325"/>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59" name="Line 28"/>
          <p:cNvSpPr>
            <a:spLocks noChangeShapeType="1"/>
          </p:cNvSpPr>
          <p:nvPr/>
        </p:nvSpPr>
        <p:spPr bwMode="auto">
          <a:xfrm flipV="1">
            <a:off x="5646738" y="1387475"/>
            <a:ext cx="177800" cy="31273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60" name="Line 29"/>
          <p:cNvSpPr>
            <a:spLocks noChangeShapeType="1"/>
          </p:cNvSpPr>
          <p:nvPr/>
        </p:nvSpPr>
        <p:spPr bwMode="auto">
          <a:xfrm>
            <a:off x="5824538" y="1398588"/>
            <a:ext cx="2301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61" name="Line 30"/>
          <p:cNvSpPr>
            <a:spLocks noChangeShapeType="1"/>
          </p:cNvSpPr>
          <p:nvPr/>
        </p:nvSpPr>
        <p:spPr bwMode="auto">
          <a:xfrm>
            <a:off x="6054725" y="1398588"/>
            <a:ext cx="139700" cy="30162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62" name="Line 31"/>
          <p:cNvSpPr>
            <a:spLocks noChangeShapeType="1"/>
          </p:cNvSpPr>
          <p:nvPr/>
        </p:nvSpPr>
        <p:spPr bwMode="auto">
          <a:xfrm>
            <a:off x="6205538" y="1700213"/>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63" name="Line 32"/>
          <p:cNvSpPr>
            <a:spLocks noChangeShapeType="1"/>
          </p:cNvSpPr>
          <p:nvPr/>
        </p:nvSpPr>
        <p:spPr bwMode="auto">
          <a:xfrm flipV="1">
            <a:off x="6423025" y="1387475"/>
            <a:ext cx="177800" cy="31273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64" name="Line 33"/>
          <p:cNvSpPr>
            <a:spLocks noChangeShapeType="1"/>
          </p:cNvSpPr>
          <p:nvPr/>
        </p:nvSpPr>
        <p:spPr bwMode="auto">
          <a:xfrm>
            <a:off x="6600825" y="1398588"/>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65" name="Line 34"/>
          <p:cNvSpPr>
            <a:spLocks noChangeShapeType="1"/>
          </p:cNvSpPr>
          <p:nvPr/>
        </p:nvSpPr>
        <p:spPr bwMode="auto">
          <a:xfrm>
            <a:off x="6829425" y="1398588"/>
            <a:ext cx="139700" cy="30162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66" name="Line 35"/>
          <p:cNvSpPr>
            <a:spLocks noChangeShapeType="1"/>
          </p:cNvSpPr>
          <p:nvPr/>
        </p:nvSpPr>
        <p:spPr bwMode="auto">
          <a:xfrm>
            <a:off x="6981825" y="1700213"/>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67" name="Line 36"/>
          <p:cNvSpPr>
            <a:spLocks noChangeShapeType="1"/>
          </p:cNvSpPr>
          <p:nvPr/>
        </p:nvSpPr>
        <p:spPr bwMode="auto">
          <a:xfrm flipV="1">
            <a:off x="7210425" y="1374775"/>
            <a:ext cx="177800" cy="3111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68" name="Line 37"/>
          <p:cNvSpPr>
            <a:spLocks noChangeShapeType="1"/>
          </p:cNvSpPr>
          <p:nvPr/>
        </p:nvSpPr>
        <p:spPr bwMode="auto">
          <a:xfrm>
            <a:off x="7388225" y="1387475"/>
            <a:ext cx="230188"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69" name="Line 38"/>
          <p:cNvSpPr>
            <a:spLocks noChangeShapeType="1"/>
          </p:cNvSpPr>
          <p:nvPr/>
        </p:nvSpPr>
        <p:spPr bwMode="auto">
          <a:xfrm>
            <a:off x="7618413" y="1387475"/>
            <a:ext cx="139700" cy="2984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70" name="Line 39"/>
          <p:cNvSpPr>
            <a:spLocks noChangeShapeType="1"/>
          </p:cNvSpPr>
          <p:nvPr/>
        </p:nvSpPr>
        <p:spPr bwMode="auto">
          <a:xfrm>
            <a:off x="7770813" y="1685925"/>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71" name="Text Box 40"/>
          <p:cNvSpPr txBox="1">
            <a:spLocks noChangeArrowheads="1"/>
          </p:cNvSpPr>
          <p:nvPr/>
        </p:nvSpPr>
        <p:spPr bwMode="auto">
          <a:xfrm>
            <a:off x="1858963" y="1716088"/>
            <a:ext cx="192087"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1</a:t>
            </a:r>
            <a:endParaRPr kumimoji="0" lang="zh-CN" altLang="en-US" sz="1600">
              <a:ea typeface="宋体" panose="02010600030101010101" pitchFamily="2" charset="-122"/>
            </a:endParaRPr>
          </a:p>
        </p:txBody>
      </p:sp>
      <p:sp>
        <p:nvSpPr>
          <p:cNvPr id="95272" name="Text Box 41"/>
          <p:cNvSpPr txBox="1">
            <a:spLocks noChangeArrowheads="1"/>
          </p:cNvSpPr>
          <p:nvPr/>
        </p:nvSpPr>
        <p:spPr bwMode="auto">
          <a:xfrm>
            <a:off x="2593975" y="1711325"/>
            <a:ext cx="1905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2</a:t>
            </a:r>
            <a:endParaRPr kumimoji="0" lang="zh-CN" altLang="en-US" sz="1600">
              <a:ea typeface="宋体" panose="02010600030101010101" pitchFamily="2" charset="-122"/>
            </a:endParaRPr>
          </a:p>
        </p:txBody>
      </p:sp>
      <p:sp>
        <p:nvSpPr>
          <p:cNvPr id="95273" name="Text Box 42"/>
          <p:cNvSpPr txBox="1">
            <a:spLocks noChangeArrowheads="1"/>
          </p:cNvSpPr>
          <p:nvPr/>
        </p:nvSpPr>
        <p:spPr bwMode="auto">
          <a:xfrm>
            <a:off x="3370263" y="1711325"/>
            <a:ext cx="1905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3</a:t>
            </a:r>
            <a:endParaRPr kumimoji="0" lang="zh-CN" altLang="en-US" sz="1600">
              <a:ea typeface="宋体" panose="02010600030101010101" pitchFamily="2" charset="-122"/>
            </a:endParaRPr>
          </a:p>
        </p:txBody>
      </p:sp>
      <p:sp>
        <p:nvSpPr>
          <p:cNvPr id="95274" name="Text Box 43"/>
          <p:cNvSpPr txBox="1">
            <a:spLocks noChangeArrowheads="1"/>
          </p:cNvSpPr>
          <p:nvPr/>
        </p:nvSpPr>
        <p:spPr bwMode="auto">
          <a:xfrm>
            <a:off x="4159250" y="1724025"/>
            <a:ext cx="18891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4</a:t>
            </a:r>
            <a:endParaRPr kumimoji="0" lang="zh-CN" altLang="en-US" sz="1600">
              <a:ea typeface="宋体" panose="02010600030101010101" pitchFamily="2" charset="-122"/>
            </a:endParaRPr>
          </a:p>
        </p:txBody>
      </p:sp>
      <p:sp>
        <p:nvSpPr>
          <p:cNvPr id="95275" name="Text Box 44"/>
          <p:cNvSpPr txBox="1">
            <a:spLocks noChangeArrowheads="1"/>
          </p:cNvSpPr>
          <p:nvPr/>
        </p:nvSpPr>
        <p:spPr bwMode="auto">
          <a:xfrm>
            <a:off x="4957763" y="1706563"/>
            <a:ext cx="1905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5</a:t>
            </a:r>
            <a:endParaRPr kumimoji="0" lang="zh-CN" altLang="en-US" sz="1600">
              <a:ea typeface="宋体" panose="02010600030101010101" pitchFamily="2" charset="-122"/>
            </a:endParaRPr>
          </a:p>
        </p:txBody>
      </p:sp>
      <p:sp>
        <p:nvSpPr>
          <p:cNvPr id="95276" name="Text Box 45"/>
          <p:cNvSpPr txBox="1">
            <a:spLocks noChangeArrowheads="1"/>
          </p:cNvSpPr>
          <p:nvPr/>
        </p:nvSpPr>
        <p:spPr bwMode="auto">
          <a:xfrm>
            <a:off x="5722938" y="1700213"/>
            <a:ext cx="192087"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6</a:t>
            </a:r>
            <a:endParaRPr kumimoji="0" lang="zh-CN" altLang="en-US" sz="1600">
              <a:ea typeface="宋体" panose="02010600030101010101" pitchFamily="2" charset="-122"/>
            </a:endParaRPr>
          </a:p>
        </p:txBody>
      </p:sp>
      <p:sp>
        <p:nvSpPr>
          <p:cNvPr id="95277" name="Text Box 46"/>
          <p:cNvSpPr txBox="1">
            <a:spLocks noChangeArrowheads="1"/>
          </p:cNvSpPr>
          <p:nvPr/>
        </p:nvSpPr>
        <p:spPr bwMode="auto">
          <a:xfrm>
            <a:off x="6537325" y="1685925"/>
            <a:ext cx="1905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7</a:t>
            </a:r>
            <a:endParaRPr kumimoji="0" lang="zh-CN" altLang="en-US" sz="1600">
              <a:ea typeface="宋体" panose="02010600030101010101" pitchFamily="2" charset="-122"/>
            </a:endParaRPr>
          </a:p>
        </p:txBody>
      </p:sp>
      <p:sp>
        <p:nvSpPr>
          <p:cNvPr id="95278" name="Text Box 47"/>
          <p:cNvSpPr txBox="1">
            <a:spLocks noChangeArrowheads="1"/>
          </p:cNvSpPr>
          <p:nvPr/>
        </p:nvSpPr>
        <p:spPr bwMode="auto">
          <a:xfrm>
            <a:off x="7288213" y="1673225"/>
            <a:ext cx="1905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8</a:t>
            </a:r>
            <a:endParaRPr kumimoji="0" lang="zh-CN" altLang="en-US" sz="1600">
              <a:ea typeface="宋体" panose="02010600030101010101" pitchFamily="2" charset="-122"/>
            </a:endParaRPr>
          </a:p>
        </p:txBody>
      </p:sp>
      <p:sp>
        <p:nvSpPr>
          <p:cNvPr id="95279" name="Line 48"/>
          <p:cNvSpPr>
            <a:spLocks noChangeShapeType="1"/>
          </p:cNvSpPr>
          <p:nvPr/>
        </p:nvSpPr>
        <p:spPr bwMode="auto">
          <a:xfrm>
            <a:off x="1374775" y="2466975"/>
            <a:ext cx="7616825" cy="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5280" name="Line 49"/>
          <p:cNvSpPr>
            <a:spLocks noChangeShapeType="1"/>
          </p:cNvSpPr>
          <p:nvPr/>
        </p:nvSpPr>
        <p:spPr bwMode="auto">
          <a:xfrm>
            <a:off x="1500188" y="2141538"/>
            <a:ext cx="5857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81" name="Line 50"/>
          <p:cNvSpPr>
            <a:spLocks noChangeShapeType="1"/>
          </p:cNvSpPr>
          <p:nvPr/>
        </p:nvSpPr>
        <p:spPr bwMode="auto">
          <a:xfrm>
            <a:off x="2073275" y="2141538"/>
            <a:ext cx="228600" cy="32543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82" name="Line 51"/>
          <p:cNvSpPr>
            <a:spLocks noChangeShapeType="1"/>
          </p:cNvSpPr>
          <p:nvPr/>
        </p:nvSpPr>
        <p:spPr bwMode="auto">
          <a:xfrm>
            <a:off x="2289175" y="2466975"/>
            <a:ext cx="443865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83" name="Line 52"/>
          <p:cNvSpPr>
            <a:spLocks noChangeShapeType="1"/>
          </p:cNvSpPr>
          <p:nvPr/>
        </p:nvSpPr>
        <p:spPr bwMode="auto">
          <a:xfrm flipV="1">
            <a:off x="6715125" y="2141538"/>
            <a:ext cx="177800" cy="31273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84" name="Line 53"/>
          <p:cNvSpPr>
            <a:spLocks noChangeShapeType="1"/>
          </p:cNvSpPr>
          <p:nvPr/>
        </p:nvSpPr>
        <p:spPr bwMode="auto">
          <a:xfrm>
            <a:off x="6892925" y="2154238"/>
            <a:ext cx="928688"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5285" name="Group 54"/>
          <p:cNvGrpSpPr/>
          <p:nvPr/>
        </p:nvGrpSpPr>
        <p:grpSpPr bwMode="auto">
          <a:xfrm>
            <a:off x="7910513" y="2036763"/>
            <a:ext cx="330200" cy="252412"/>
            <a:chOff x="7500" y="9890"/>
            <a:chExt cx="260" cy="193"/>
          </a:xfrm>
        </p:grpSpPr>
        <p:sp>
          <p:nvSpPr>
            <p:cNvPr id="95408" name="AutoShape 55"/>
            <p:cNvSpPr>
              <a:spLocks noChangeArrowheads="1"/>
            </p:cNvSpPr>
            <p:nvPr/>
          </p:nvSpPr>
          <p:spPr bwMode="auto">
            <a:xfrm>
              <a:off x="7530" y="9890"/>
              <a:ext cx="230" cy="83"/>
            </a:xfrm>
            <a:prstGeom prst="curvedDownArrow">
              <a:avLst>
                <a:gd name="adj1" fmla="val 8878"/>
                <a:gd name="adj2" fmla="val 57064"/>
                <a:gd name="adj3" fmla="val 48194"/>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sp>
          <p:nvSpPr>
            <p:cNvPr id="95409" name="AutoShape 56"/>
            <p:cNvSpPr>
              <a:spLocks noChangeArrowheads="1"/>
            </p:cNvSpPr>
            <p:nvPr/>
          </p:nvSpPr>
          <p:spPr bwMode="auto">
            <a:xfrm flipH="1">
              <a:off x="7500" y="10000"/>
              <a:ext cx="230" cy="83"/>
            </a:xfrm>
            <a:prstGeom prst="curvedUpArrow">
              <a:avLst>
                <a:gd name="adj1" fmla="val 9237"/>
                <a:gd name="adj2" fmla="val 64659"/>
                <a:gd name="adj3" fmla="val 33333"/>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grpSp>
      <p:sp>
        <p:nvSpPr>
          <p:cNvPr id="95286" name="Line 57"/>
          <p:cNvSpPr>
            <a:spLocks noChangeShapeType="1"/>
          </p:cNvSpPr>
          <p:nvPr/>
        </p:nvSpPr>
        <p:spPr bwMode="auto">
          <a:xfrm>
            <a:off x="8318500" y="2154238"/>
            <a:ext cx="290513"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87" name="Line 58"/>
          <p:cNvSpPr>
            <a:spLocks noChangeShapeType="1"/>
          </p:cNvSpPr>
          <p:nvPr/>
        </p:nvSpPr>
        <p:spPr bwMode="auto">
          <a:xfrm flipV="1">
            <a:off x="7986713" y="1360488"/>
            <a:ext cx="177800" cy="31273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88" name="Line 59"/>
          <p:cNvSpPr>
            <a:spLocks noChangeShapeType="1"/>
          </p:cNvSpPr>
          <p:nvPr/>
        </p:nvSpPr>
        <p:spPr bwMode="auto">
          <a:xfrm>
            <a:off x="8164513" y="1374775"/>
            <a:ext cx="2301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89" name="Line 60"/>
          <p:cNvSpPr>
            <a:spLocks noChangeShapeType="1"/>
          </p:cNvSpPr>
          <p:nvPr/>
        </p:nvSpPr>
        <p:spPr bwMode="auto">
          <a:xfrm>
            <a:off x="8394700" y="1374775"/>
            <a:ext cx="139700" cy="2984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90" name="Line 61"/>
          <p:cNvSpPr>
            <a:spLocks noChangeShapeType="1"/>
          </p:cNvSpPr>
          <p:nvPr/>
        </p:nvSpPr>
        <p:spPr bwMode="auto">
          <a:xfrm>
            <a:off x="8547100" y="1673225"/>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91" name="Text Box 62"/>
          <p:cNvSpPr txBox="1">
            <a:spLocks noChangeArrowheads="1"/>
          </p:cNvSpPr>
          <p:nvPr/>
        </p:nvSpPr>
        <p:spPr bwMode="auto">
          <a:xfrm>
            <a:off x="8075613" y="1647825"/>
            <a:ext cx="1905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9</a:t>
            </a:r>
            <a:endParaRPr kumimoji="0" lang="zh-CN" altLang="en-US" sz="1600">
              <a:ea typeface="宋体" panose="02010600030101010101" pitchFamily="2" charset="-122"/>
            </a:endParaRPr>
          </a:p>
        </p:txBody>
      </p:sp>
      <p:sp>
        <p:nvSpPr>
          <p:cNvPr id="95292" name="Text Box 63"/>
          <p:cNvSpPr txBox="1">
            <a:spLocks noChangeArrowheads="1"/>
          </p:cNvSpPr>
          <p:nvPr/>
        </p:nvSpPr>
        <p:spPr bwMode="auto">
          <a:xfrm>
            <a:off x="712788" y="2701925"/>
            <a:ext cx="4191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AD</a:t>
            </a:r>
            <a:endParaRPr kumimoji="0" lang="en-US" altLang="zh-CN" sz="1600">
              <a:ea typeface="宋体" panose="02010600030101010101" pitchFamily="2" charset="-122"/>
            </a:endParaRPr>
          </a:p>
        </p:txBody>
      </p:sp>
      <p:sp>
        <p:nvSpPr>
          <p:cNvPr id="95293" name="Text Box 64"/>
          <p:cNvSpPr txBox="1">
            <a:spLocks noChangeArrowheads="1"/>
          </p:cNvSpPr>
          <p:nvPr/>
        </p:nvSpPr>
        <p:spPr bwMode="auto">
          <a:xfrm>
            <a:off x="419100" y="3287713"/>
            <a:ext cx="7127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C/BE#</a:t>
            </a:r>
            <a:endParaRPr kumimoji="0" lang="en-US" altLang="zh-CN" sz="1600">
              <a:ea typeface="宋体" panose="02010600030101010101" pitchFamily="2" charset="-122"/>
            </a:endParaRPr>
          </a:p>
        </p:txBody>
      </p:sp>
      <p:sp>
        <p:nvSpPr>
          <p:cNvPr id="95294" name="Text Box 65"/>
          <p:cNvSpPr txBox="1">
            <a:spLocks noChangeArrowheads="1"/>
          </p:cNvSpPr>
          <p:nvPr/>
        </p:nvSpPr>
        <p:spPr bwMode="auto">
          <a:xfrm>
            <a:off x="368300" y="3898900"/>
            <a:ext cx="7762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IRDY#</a:t>
            </a:r>
            <a:endParaRPr kumimoji="0" lang="en-US" altLang="zh-CN" sz="1600">
              <a:ea typeface="宋体" panose="02010600030101010101" pitchFamily="2" charset="-122"/>
            </a:endParaRPr>
          </a:p>
        </p:txBody>
      </p:sp>
      <p:sp>
        <p:nvSpPr>
          <p:cNvPr id="95295" name="Text Box 66"/>
          <p:cNvSpPr txBox="1">
            <a:spLocks noChangeArrowheads="1"/>
          </p:cNvSpPr>
          <p:nvPr/>
        </p:nvSpPr>
        <p:spPr bwMode="auto">
          <a:xfrm>
            <a:off x="292100" y="4471988"/>
            <a:ext cx="8255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TRDY#</a:t>
            </a:r>
            <a:endParaRPr kumimoji="0" lang="en-US" altLang="zh-CN" sz="1600">
              <a:ea typeface="宋体" panose="02010600030101010101" pitchFamily="2" charset="-122"/>
            </a:endParaRPr>
          </a:p>
        </p:txBody>
      </p:sp>
      <p:sp>
        <p:nvSpPr>
          <p:cNvPr id="95296" name="Text Box 67"/>
          <p:cNvSpPr txBox="1">
            <a:spLocks noChangeArrowheads="1"/>
          </p:cNvSpPr>
          <p:nvPr/>
        </p:nvSpPr>
        <p:spPr bwMode="auto">
          <a:xfrm>
            <a:off x="76200" y="5084763"/>
            <a:ext cx="11699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DEVSEL#</a:t>
            </a:r>
            <a:endParaRPr kumimoji="0" lang="en-US" altLang="zh-CN" sz="1600">
              <a:ea typeface="宋体" panose="02010600030101010101" pitchFamily="2" charset="-122"/>
            </a:endParaRPr>
          </a:p>
        </p:txBody>
      </p:sp>
      <p:sp>
        <p:nvSpPr>
          <p:cNvPr id="95297" name="Line 68"/>
          <p:cNvSpPr>
            <a:spLocks noChangeShapeType="1"/>
          </p:cNvSpPr>
          <p:nvPr/>
        </p:nvSpPr>
        <p:spPr bwMode="auto">
          <a:xfrm>
            <a:off x="1374775" y="3092450"/>
            <a:ext cx="7616825" cy="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5298" name="Line 69"/>
          <p:cNvSpPr>
            <a:spLocks noChangeShapeType="1"/>
          </p:cNvSpPr>
          <p:nvPr/>
        </p:nvSpPr>
        <p:spPr bwMode="auto">
          <a:xfrm>
            <a:off x="1296988" y="3756025"/>
            <a:ext cx="7618412" cy="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5299" name="Line 70"/>
          <p:cNvSpPr>
            <a:spLocks noChangeShapeType="1"/>
          </p:cNvSpPr>
          <p:nvPr/>
        </p:nvSpPr>
        <p:spPr bwMode="auto">
          <a:xfrm>
            <a:off x="1335088" y="4354513"/>
            <a:ext cx="7618412" cy="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5300" name="Line 71"/>
          <p:cNvSpPr>
            <a:spLocks noChangeShapeType="1"/>
          </p:cNvSpPr>
          <p:nvPr/>
        </p:nvSpPr>
        <p:spPr bwMode="auto">
          <a:xfrm>
            <a:off x="1309688" y="4862513"/>
            <a:ext cx="7618412" cy="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5301" name="Line 72"/>
          <p:cNvSpPr>
            <a:spLocks noChangeShapeType="1"/>
          </p:cNvSpPr>
          <p:nvPr/>
        </p:nvSpPr>
        <p:spPr bwMode="auto">
          <a:xfrm>
            <a:off x="1335088" y="5435600"/>
            <a:ext cx="7618412" cy="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5302" name="Line 73"/>
          <p:cNvSpPr>
            <a:spLocks noChangeShapeType="1"/>
          </p:cNvSpPr>
          <p:nvPr/>
        </p:nvSpPr>
        <p:spPr bwMode="auto">
          <a:xfrm>
            <a:off x="1819275" y="1452563"/>
            <a:ext cx="0" cy="4138612"/>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5303" name="Line 74"/>
          <p:cNvSpPr>
            <a:spLocks noChangeShapeType="1"/>
          </p:cNvSpPr>
          <p:nvPr/>
        </p:nvSpPr>
        <p:spPr bwMode="auto">
          <a:xfrm>
            <a:off x="2593975" y="1465263"/>
            <a:ext cx="0" cy="414020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5304" name="Line 75"/>
          <p:cNvSpPr>
            <a:spLocks noChangeShapeType="1"/>
          </p:cNvSpPr>
          <p:nvPr/>
        </p:nvSpPr>
        <p:spPr bwMode="auto">
          <a:xfrm>
            <a:off x="3370263" y="1452563"/>
            <a:ext cx="0" cy="4138612"/>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5305" name="Line 76"/>
          <p:cNvSpPr>
            <a:spLocks noChangeShapeType="1"/>
          </p:cNvSpPr>
          <p:nvPr/>
        </p:nvSpPr>
        <p:spPr bwMode="auto">
          <a:xfrm>
            <a:off x="4146550" y="1452563"/>
            <a:ext cx="0" cy="4138612"/>
          </a:xfrm>
          <a:prstGeom prst="line">
            <a:avLst/>
          </a:prstGeom>
          <a:noFill/>
          <a:ln w="28575">
            <a:solidFill>
              <a:srgbClr val="FF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5306" name="Line 77"/>
          <p:cNvSpPr>
            <a:spLocks noChangeShapeType="1"/>
          </p:cNvSpPr>
          <p:nvPr/>
        </p:nvSpPr>
        <p:spPr bwMode="auto">
          <a:xfrm>
            <a:off x="4948238" y="1398588"/>
            <a:ext cx="0" cy="414020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5307" name="Line 78"/>
          <p:cNvSpPr>
            <a:spLocks noChangeShapeType="1"/>
          </p:cNvSpPr>
          <p:nvPr/>
        </p:nvSpPr>
        <p:spPr bwMode="auto">
          <a:xfrm>
            <a:off x="5710238" y="1465263"/>
            <a:ext cx="0" cy="4140200"/>
          </a:xfrm>
          <a:prstGeom prst="line">
            <a:avLst/>
          </a:prstGeom>
          <a:noFill/>
          <a:ln w="28575">
            <a:solidFill>
              <a:srgbClr val="FF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5308" name="Line 79"/>
          <p:cNvSpPr>
            <a:spLocks noChangeShapeType="1"/>
          </p:cNvSpPr>
          <p:nvPr/>
        </p:nvSpPr>
        <p:spPr bwMode="auto">
          <a:xfrm>
            <a:off x="6523038" y="1425575"/>
            <a:ext cx="0" cy="414020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5309" name="Line 80"/>
          <p:cNvSpPr>
            <a:spLocks noChangeShapeType="1"/>
          </p:cNvSpPr>
          <p:nvPr/>
        </p:nvSpPr>
        <p:spPr bwMode="auto">
          <a:xfrm>
            <a:off x="7299325" y="1387475"/>
            <a:ext cx="0" cy="4140200"/>
          </a:xfrm>
          <a:prstGeom prst="line">
            <a:avLst/>
          </a:prstGeom>
          <a:noFill/>
          <a:ln w="28575">
            <a:solidFill>
              <a:srgbClr val="FF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5310" name="Line 81"/>
          <p:cNvSpPr>
            <a:spLocks noChangeShapeType="1"/>
          </p:cNvSpPr>
          <p:nvPr/>
        </p:nvSpPr>
        <p:spPr bwMode="auto">
          <a:xfrm>
            <a:off x="8064500" y="1347788"/>
            <a:ext cx="0" cy="414020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5311" name="Line 82"/>
          <p:cNvSpPr>
            <a:spLocks noChangeShapeType="1"/>
          </p:cNvSpPr>
          <p:nvPr/>
        </p:nvSpPr>
        <p:spPr bwMode="auto">
          <a:xfrm flipV="1">
            <a:off x="1779588" y="3078163"/>
            <a:ext cx="954087" cy="1428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12" name="Line 83"/>
          <p:cNvSpPr>
            <a:spLocks noChangeShapeType="1"/>
          </p:cNvSpPr>
          <p:nvPr/>
        </p:nvSpPr>
        <p:spPr bwMode="auto">
          <a:xfrm flipV="1">
            <a:off x="1793875" y="2701925"/>
            <a:ext cx="954088" cy="1270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13" name="Line 84"/>
          <p:cNvSpPr>
            <a:spLocks noChangeShapeType="1"/>
          </p:cNvSpPr>
          <p:nvPr/>
        </p:nvSpPr>
        <p:spPr bwMode="auto">
          <a:xfrm>
            <a:off x="2733675" y="2701925"/>
            <a:ext cx="128588" cy="195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14" name="Line 85"/>
          <p:cNvSpPr>
            <a:spLocks noChangeShapeType="1"/>
          </p:cNvSpPr>
          <p:nvPr/>
        </p:nvSpPr>
        <p:spPr bwMode="auto">
          <a:xfrm flipV="1">
            <a:off x="2733675" y="2884488"/>
            <a:ext cx="139700" cy="2206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15" name="Line 86"/>
          <p:cNvSpPr>
            <a:spLocks noChangeShapeType="1"/>
          </p:cNvSpPr>
          <p:nvPr/>
        </p:nvSpPr>
        <p:spPr bwMode="auto">
          <a:xfrm>
            <a:off x="2887663" y="2897188"/>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5316" name="Group 87"/>
          <p:cNvGrpSpPr/>
          <p:nvPr/>
        </p:nvGrpSpPr>
        <p:grpSpPr bwMode="auto">
          <a:xfrm>
            <a:off x="3203575" y="2752725"/>
            <a:ext cx="331788" cy="252413"/>
            <a:chOff x="7500" y="9890"/>
            <a:chExt cx="260" cy="193"/>
          </a:xfrm>
        </p:grpSpPr>
        <p:sp>
          <p:nvSpPr>
            <p:cNvPr id="95406" name="AutoShape 88"/>
            <p:cNvSpPr>
              <a:spLocks noChangeArrowheads="1"/>
            </p:cNvSpPr>
            <p:nvPr/>
          </p:nvSpPr>
          <p:spPr bwMode="auto">
            <a:xfrm>
              <a:off x="7530" y="9890"/>
              <a:ext cx="230" cy="83"/>
            </a:xfrm>
            <a:prstGeom prst="curvedDownArrow">
              <a:avLst>
                <a:gd name="adj1" fmla="val 8878"/>
                <a:gd name="adj2" fmla="val 57064"/>
                <a:gd name="adj3" fmla="val 48194"/>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sp>
          <p:nvSpPr>
            <p:cNvPr id="95407" name="AutoShape 89"/>
            <p:cNvSpPr>
              <a:spLocks noChangeArrowheads="1"/>
            </p:cNvSpPr>
            <p:nvPr/>
          </p:nvSpPr>
          <p:spPr bwMode="auto">
            <a:xfrm flipH="1">
              <a:off x="7500" y="10000"/>
              <a:ext cx="230" cy="83"/>
            </a:xfrm>
            <a:prstGeom prst="curvedUpArrow">
              <a:avLst>
                <a:gd name="adj1" fmla="val 9237"/>
                <a:gd name="adj2" fmla="val 64659"/>
                <a:gd name="adj3" fmla="val 33333"/>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grpSp>
      <p:sp>
        <p:nvSpPr>
          <p:cNvPr id="95317" name="Line 90"/>
          <p:cNvSpPr>
            <a:spLocks noChangeShapeType="1"/>
          </p:cNvSpPr>
          <p:nvPr/>
        </p:nvSpPr>
        <p:spPr bwMode="auto">
          <a:xfrm>
            <a:off x="3598863" y="2909888"/>
            <a:ext cx="1397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18" name="Line 91"/>
          <p:cNvSpPr>
            <a:spLocks noChangeShapeType="1"/>
          </p:cNvSpPr>
          <p:nvPr/>
        </p:nvSpPr>
        <p:spPr bwMode="auto">
          <a:xfrm>
            <a:off x="3738563" y="2909888"/>
            <a:ext cx="127000" cy="1952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19" name="Line 92"/>
          <p:cNvSpPr>
            <a:spLocks noChangeShapeType="1"/>
          </p:cNvSpPr>
          <p:nvPr/>
        </p:nvSpPr>
        <p:spPr bwMode="auto">
          <a:xfrm flipV="1">
            <a:off x="3751263" y="2689225"/>
            <a:ext cx="103187" cy="2206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20" name="Line 93"/>
          <p:cNvSpPr>
            <a:spLocks noChangeShapeType="1"/>
          </p:cNvSpPr>
          <p:nvPr/>
        </p:nvSpPr>
        <p:spPr bwMode="auto">
          <a:xfrm flipV="1">
            <a:off x="3854450" y="2701925"/>
            <a:ext cx="1219200" cy="1270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21" name="Line 94"/>
          <p:cNvSpPr>
            <a:spLocks noChangeShapeType="1"/>
          </p:cNvSpPr>
          <p:nvPr/>
        </p:nvSpPr>
        <p:spPr bwMode="auto">
          <a:xfrm flipV="1">
            <a:off x="3878263" y="3078163"/>
            <a:ext cx="1220787" cy="1428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22" name="Line 95"/>
          <p:cNvSpPr>
            <a:spLocks noChangeShapeType="1"/>
          </p:cNvSpPr>
          <p:nvPr/>
        </p:nvSpPr>
        <p:spPr bwMode="auto">
          <a:xfrm>
            <a:off x="5073650" y="2701925"/>
            <a:ext cx="128588" cy="195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23" name="Line 96"/>
          <p:cNvSpPr>
            <a:spLocks noChangeShapeType="1"/>
          </p:cNvSpPr>
          <p:nvPr/>
        </p:nvSpPr>
        <p:spPr bwMode="auto">
          <a:xfrm flipV="1">
            <a:off x="5073650" y="2884488"/>
            <a:ext cx="139700" cy="2206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24" name="Line 97"/>
          <p:cNvSpPr>
            <a:spLocks noChangeShapeType="1"/>
          </p:cNvSpPr>
          <p:nvPr/>
        </p:nvSpPr>
        <p:spPr bwMode="auto">
          <a:xfrm>
            <a:off x="5213350" y="2909888"/>
            <a:ext cx="128588" cy="1952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25" name="Line 98"/>
          <p:cNvSpPr>
            <a:spLocks noChangeShapeType="1"/>
          </p:cNvSpPr>
          <p:nvPr/>
        </p:nvSpPr>
        <p:spPr bwMode="auto">
          <a:xfrm flipV="1">
            <a:off x="5227638" y="2689225"/>
            <a:ext cx="101600" cy="2206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26" name="Line 99"/>
          <p:cNvSpPr>
            <a:spLocks noChangeShapeType="1"/>
          </p:cNvSpPr>
          <p:nvPr/>
        </p:nvSpPr>
        <p:spPr bwMode="auto">
          <a:xfrm flipV="1">
            <a:off x="5329238" y="2714625"/>
            <a:ext cx="6350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27" name="Line 100"/>
          <p:cNvSpPr>
            <a:spLocks noChangeShapeType="1"/>
          </p:cNvSpPr>
          <p:nvPr/>
        </p:nvSpPr>
        <p:spPr bwMode="auto">
          <a:xfrm flipV="1">
            <a:off x="5353050" y="3092450"/>
            <a:ext cx="611188"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28" name="Line 101"/>
          <p:cNvSpPr>
            <a:spLocks noChangeShapeType="1"/>
          </p:cNvSpPr>
          <p:nvPr/>
        </p:nvSpPr>
        <p:spPr bwMode="auto">
          <a:xfrm>
            <a:off x="5964238" y="2701925"/>
            <a:ext cx="127000" cy="195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29" name="Line 102"/>
          <p:cNvSpPr>
            <a:spLocks noChangeShapeType="1"/>
          </p:cNvSpPr>
          <p:nvPr/>
        </p:nvSpPr>
        <p:spPr bwMode="auto">
          <a:xfrm flipV="1">
            <a:off x="5964238" y="2884488"/>
            <a:ext cx="139700" cy="2206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30" name="Line 103"/>
          <p:cNvSpPr>
            <a:spLocks noChangeShapeType="1"/>
          </p:cNvSpPr>
          <p:nvPr/>
        </p:nvSpPr>
        <p:spPr bwMode="auto">
          <a:xfrm>
            <a:off x="6103938" y="2909888"/>
            <a:ext cx="128587" cy="1952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31" name="Line 104"/>
          <p:cNvSpPr>
            <a:spLocks noChangeShapeType="1"/>
          </p:cNvSpPr>
          <p:nvPr/>
        </p:nvSpPr>
        <p:spPr bwMode="auto">
          <a:xfrm flipV="1">
            <a:off x="6118225" y="2689225"/>
            <a:ext cx="100013" cy="2206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32" name="Line 105"/>
          <p:cNvSpPr>
            <a:spLocks noChangeShapeType="1"/>
          </p:cNvSpPr>
          <p:nvPr/>
        </p:nvSpPr>
        <p:spPr bwMode="auto">
          <a:xfrm flipV="1">
            <a:off x="6218238" y="2714625"/>
            <a:ext cx="128587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33" name="Line 106"/>
          <p:cNvSpPr>
            <a:spLocks noChangeShapeType="1"/>
          </p:cNvSpPr>
          <p:nvPr/>
        </p:nvSpPr>
        <p:spPr bwMode="auto">
          <a:xfrm flipV="1">
            <a:off x="6243638" y="3092450"/>
            <a:ext cx="127317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34" name="Line 107"/>
          <p:cNvSpPr>
            <a:spLocks noChangeShapeType="1"/>
          </p:cNvSpPr>
          <p:nvPr/>
        </p:nvSpPr>
        <p:spPr bwMode="auto">
          <a:xfrm>
            <a:off x="7491413" y="2701925"/>
            <a:ext cx="127000" cy="195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35" name="Line 108"/>
          <p:cNvSpPr>
            <a:spLocks noChangeShapeType="1"/>
          </p:cNvSpPr>
          <p:nvPr/>
        </p:nvSpPr>
        <p:spPr bwMode="auto">
          <a:xfrm flipV="1">
            <a:off x="7491413" y="2884488"/>
            <a:ext cx="139700" cy="2206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36" name="Line 109"/>
          <p:cNvSpPr>
            <a:spLocks noChangeShapeType="1"/>
          </p:cNvSpPr>
          <p:nvPr/>
        </p:nvSpPr>
        <p:spPr bwMode="auto">
          <a:xfrm>
            <a:off x="7643813" y="2897188"/>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5337" name="Group 110"/>
          <p:cNvGrpSpPr/>
          <p:nvPr/>
        </p:nvGrpSpPr>
        <p:grpSpPr bwMode="auto">
          <a:xfrm>
            <a:off x="7910513" y="2767013"/>
            <a:ext cx="330200" cy="250825"/>
            <a:chOff x="7500" y="9890"/>
            <a:chExt cx="260" cy="193"/>
          </a:xfrm>
        </p:grpSpPr>
        <p:sp>
          <p:nvSpPr>
            <p:cNvPr id="95404" name="AutoShape 111"/>
            <p:cNvSpPr>
              <a:spLocks noChangeArrowheads="1"/>
            </p:cNvSpPr>
            <p:nvPr/>
          </p:nvSpPr>
          <p:spPr bwMode="auto">
            <a:xfrm>
              <a:off x="7530" y="9890"/>
              <a:ext cx="230" cy="83"/>
            </a:xfrm>
            <a:prstGeom prst="curvedDownArrow">
              <a:avLst>
                <a:gd name="adj1" fmla="val 8878"/>
                <a:gd name="adj2" fmla="val 57064"/>
                <a:gd name="adj3" fmla="val 48194"/>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sp>
          <p:nvSpPr>
            <p:cNvPr id="95405" name="AutoShape 112"/>
            <p:cNvSpPr>
              <a:spLocks noChangeArrowheads="1"/>
            </p:cNvSpPr>
            <p:nvPr/>
          </p:nvSpPr>
          <p:spPr bwMode="auto">
            <a:xfrm flipH="1">
              <a:off x="7500" y="10000"/>
              <a:ext cx="230" cy="83"/>
            </a:xfrm>
            <a:prstGeom prst="curvedUpArrow">
              <a:avLst>
                <a:gd name="adj1" fmla="val 9237"/>
                <a:gd name="adj2" fmla="val 64659"/>
                <a:gd name="adj3" fmla="val 33333"/>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grpSp>
      <p:sp>
        <p:nvSpPr>
          <p:cNvPr id="95338" name="Line 113"/>
          <p:cNvSpPr>
            <a:spLocks noChangeShapeType="1"/>
          </p:cNvSpPr>
          <p:nvPr/>
        </p:nvSpPr>
        <p:spPr bwMode="auto">
          <a:xfrm>
            <a:off x="8355013" y="2909888"/>
            <a:ext cx="2682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39" name="Text Box 114"/>
          <p:cNvSpPr txBox="1">
            <a:spLocks noChangeArrowheads="1"/>
          </p:cNvSpPr>
          <p:nvPr/>
        </p:nvSpPr>
        <p:spPr bwMode="auto">
          <a:xfrm>
            <a:off x="1614488" y="2773363"/>
            <a:ext cx="11334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ADDRESS</a:t>
            </a:r>
            <a:endParaRPr kumimoji="0" lang="en-US" altLang="zh-CN" sz="1600">
              <a:ea typeface="宋体" panose="02010600030101010101" pitchFamily="2" charset="-122"/>
            </a:endParaRPr>
          </a:p>
        </p:txBody>
      </p:sp>
      <p:sp>
        <p:nvSpPr>
          <p:cNvPr id="95340" name="Text Box 115"/>
          <p:cNvSpPr txBox="1">
            <a:spLocks noChangeArrowheads="1"/>
          </p:cNvSpPr>
          <p:nvPr/>
        </p:nvSpPr>
        <p:spPr bwMode="auto">
          <a:xfrm>
            <a:off x="4057650" y="2773363"/>
            <a:ext cx="8763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DATA1</a:t>
            </a:r>
            <a:endParaRPr kumimoji="0" lang="en-US" altLang="zh-CN" sz="1600">
              <a:ea typeface="宋体" panose="02010600030101010101" pitchFamily="2" charset="-122"/>
            </a:endParaRPr>
          </a:p>
        </p:txBody>
      </p:sp>
      <p:sp>
        <p:nvSpPr>
          <p:cNvPr id="95341" name="Text Box 116"/>
          <p:cNvSpPr txBox="1">
            <a:spLocks noChangeArrowheads="1"/>
          </p:cNvSpPr>
          <p:nvPr/>
        </p:nvSpPr>
        <p:spPr bwMode="auto">
          <a:xfrm>
            <a:off x="5292725" y="2773363"/>
            <a:ext cx="8794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DATA2</a:t>
            </a:r>
            <a:endParaRPr kumimoji="0" lang="en-US" altLang="zh-CN" sz="1600">
              <a:ea typeface="宋体" panose="02010600030101010101" pitchFamily="2" charset="-122"/>
            </a:endParaRPr>
          </a:p>
        </p:txBody>
      </p:sp>
      <p:sp>
        <p:nvSpPr>
          <p:cNvPr id="95342" name="Text Box 117"/>
          <p:cNvSpPr txBox="1">
            <a:spLocks noChangeArrowheads="1"/>
          </p:cNvSpPr>
          <p:nvPr/>
        </p:nvSpPr>
        <p:spPr bwMode="auto">
          <a:xfrm>
            <a:off x="6588125" y="2773363"/>
            <a:ext cx="8794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DATA3</a:t>
            </a:r>
            <a:endParaRPr kumimoji="0" lang="en-US" altLang="zh-CN" sz="1600">
              <a:ea typeface="宋体" panose="02010600030101010101" pitchFamily="2" charset="-122"/>
            </a:endParaRPr>
          </a:p>
        </p:txBody>
      </p:sp>
      <p:sp>
        <p:nvSpPr>
          <p:cNvPr id="95343" name="Line 118"/>
          <p:cNvSpPr>
            <a:spLocks noChangeShapeType="1"/>
          </p:cNvSpPr>
          <p:nvPr/>
        </p:nvSpPr>
        <p:spPr bwMode="auto">
          <a:xfrm flipV="1">
            <a:off x="1768475" y="3730625"/>
            <a:ext cx="952500" cy="1270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44" name="Line 119"/>
          <p:cNvSpPr>
            <a:spLocks noChangeShapeType="1"/>
          </p:cNvSpPr>
          <p:nvPr/>
        </p:nvSpPr>
        <p:spPr bwMode="auto">
          <a:xfrm flipV="1">
            <a:off x="1779588" y="3352800"/>
            <a:ext cx="954087" cy="1270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45" name="Line 120"/>
          <p:cNvSpPr>
            <a:spLocks noChangeShapeType="1"/>
          </p:cNvSpPr>
          <p:nvPr/>
        </p:nvSpPr>
        <p:spPr bwMode="auto">
          <a:xfrm>
            <a:off x="2720975" y="3352800"/>
            <a:ext cx="128588" cy="195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46" name="Line 121"/>
          <p:cNvSpPr>
            <a:spLocks noChangeShapeType="1"/>
          </p:cNvSpPr>
          <p:nvPr/>
        </p:nvSpPr>
        <p:spPr bwMode="auto">
          <a:xfrm flipV="1">
            <a:off x="2720975" y="3535363"/>
            <a:ext cx="141288" cy="2206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47" name="Text Box 122"/>
          <p:cNvSpPr txBox="1">
            <a:spLocks noChangeArrowheads="1"/>
          </p:cNvSpPr>
          <p:nvPr/>
        </p:nvSpPr>
        <p:spPr bwMode="auto">
          <a:xfrm>
            <a:off x="1600200" y="3459163"/>
            <a:ext cx="11303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BUSCMD</a:t>
            </a:r>
            <a:endParaRPr kumimoji="0" lang="en-US" altLang="zh-CN" sz="1600">
              <a:ea typeface="宋体" panose="02010600030101010101" pitchFamily="2" charset="-122"/>
            </a:endParaRPr>
          </a:p>
        </p:txBody>
      </p:sp>
      <p:sp>
        <p:nvSpPr>
          <p:cNvPr id="95348" name="Line 123"/>
          <p:cNvSpPr>
            <a:spLocks noChangeShapeType="1"/>
          </p:cNvSpPr>
          <p:nvPr/>
        </p:nvSpPr>
        <p:spPr bwMode="auto">
          <a:xfrm>
            <a:off x="2862263" y="3562350"/>
            <a:ext cx="127000" cy="1936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49" name="Line 124"/>
          <p:cNvSpPr>
            <a:spLocks noChangeShapeType="1"/>
          </p:cNvSpPr>
          <p:nvPr/>
        </p:nvSpPr>
        <p:spPr bwMode="auto">
          <a:xfrm flipV="1">
            <a:off x="2873375" y="3340100"/>
            <a:ext cx="103188" cy="2222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50" name="Line 125"/>
          <p:cNvSpPr>
            <a:spLocks noChangeShapeType="1"/>
          </p:cNvSpPr>
          <p:nvPr/>
        </p:nvSpPr>
        <p:spPr bwMode="auto">
          <a:xfrm flipV="1">
            <a:off x="2976563" y="3365500"/>
            <a:ext cx="450215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51" name="Line 126"/>
          <p:cNvSpPr>
            <a:spLocks noChangeShapeType="1"/>
          </p:cNvSpPr>
          <p:nvPr/>
        </p:nvSpPr>
        <p:spPr bwMode="auto">
          <a:xfrm flipV="1">
            <a:off x="3001963" y="3743325"/>
            <a:ext cx="447675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52" name="Text Box 127"/>
          <p:cNvSpPr txBox="1">
            <a:spLocks noChangeArrowheads="1"/>
          </p:cNvSpPr>
          <p:nvPr/>
        </p:nvSpPr>
        <p:spPr bwMode="auto">
          <a:xfrm>
            <a:off x="3467100" y="3457575"/>
            <a:ext cx="87630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BE#s</a:t>
            </a:r>
            <a:endParaRPr kumimoji="0" lang="en-US" altLang="zh-CN" sz="1600">
              <a:ea typeface="宋体" panose="02010600030101010101" pitchFamily="2" charset="-122"/>
            </a:endParaRPr>
          </a:p>
        </p:txBody>
      </p:sp>
      <p:sp>
        <p:nvSpPr>
          <p:cNvPr id="95353" name="Line 128"/>
          <p:cNvSpPr>
            <a:spLocks noChangeShapeType="1"/>
          </p:cNvSpPr>
          <p:nvPr/>
        </p:nvSpPr>
        <p:spPr bwMode="auto">
          <a:xfrm>
            <a:off x="7478713" y="3352800"/>
            <a:ext cx="125412" cy="195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54" name="Line 129"/>
          <p:cNvSpPr>
            <a:spLocks noChangeShapeType="1"/>
          </p:cNvSpPr>
          <p:nvPr/>
        </p:nvSpPr>
        <p:spPr bwMode="auto">
          <a:xfrm flipV="1">
            <a:off x="7478713" y="3535363"/>
            <a:ext cx="139700" cy="2206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55" name="Line 130"/>
          <p:cNvSpPr>
            <a:spLocks noChangeShapeType="1"/>
          </p:cNvSpPr>
          <p:nvPr/>
        </p:nvSpPr>
        <p:spPr bwMode="auto">
          <a:xfrm>
            <a:off x="7631113" y="3548063"/>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5356" name="Group 131"/>
          <p:cNvGrpSpPr/>
          <p:nvPr/>
        </p:nvGrpSpPr>
        <p:grpSpPr bwMode="auto">
          <a:xfrm>
            <a:off x="7897813" y="3417888"/>
            <a:ext cx="331787" cy="250825"/>
            <a:chOff x="7500" y="9890"/>
            <a:chExt cx="260" cy="193"/>
          </a:xfrm>
        </p:grpSpPr>
        <p:sp>
          <p:nvSpPr>
            <p:cNvPr id="95402" name="AutoShape 132"/>
            <p:cNvSpPr>
              <a:spLocks noChangeArrowheads="1"/>
            </p:cNvSpPr>
            <p:nvPr/>
          </p:nvSpPr>
          <p:spPr bwMode="auto">
            <a:xfrm>
              <a:off x="7530" y="9890"/>
              <a:ext cx="230" cy="83"/>
            </a:xfrm>
            <a:prstGeom prst="curvedDownArrow">
              <a:avLst>
                <a:gd name="adj1" fmla="val 8878"/>
                <a:gd name="adj2" fmla="val 57064"/>
                <a:gd name="adj3" fmla="val 48194"/>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sp>
          <p:nvSpPr>
            <p:cNvPr id="95403" name="AutoShape 133"/>
            <p:cNvSpPr>
              <a:spLocks noChangeArrowheads="1"/>
            </p:cNvSpPr>
            <p:nvPr/>
          </p:nvSpPr>
          <p:spPr bwMode="auto">
            <a:xfrm flipH="1">
              <a:off x="7500" y="10000"/>
              <a:ext cx="230" cy="83"/>
            </a:xfrm>
            <a:prstGeom prst="curvedUpArrow">
              <a:avLst>
                <a:gd name="adj1" fmla="val 9237"/>
                <a:gd name="adj2" fmla="val 64659"/>
                <a:gd name="adj3" fmla="val 33333"/>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grpSp>
      <p:sp>
        <p:nvSpPr>
          <p:cNvPr id="95357" name="Line 134"/>
          <p:cNvSpPr>
            <a:spLocks noChangeShapeType="1"/>
          </p:cNvSpPr>
          <p:nvPr/>
        </p:nvSpPr>
        <p:spPr bwMode="auto">
          <a:xfrm>
            <a:off x="8343900" y="3562350"/>
            <a:ext cx="265113"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58" name="Line 135"/>
          <p:cNvSpPr>
            <a:spLocks noChangeShapeType="1"/>
          </p:cNvSpPr>
          <p:nvPr/>
        </p:nvSpPr>
        <p:spPr bwMode="auto">
          <a:xfrm>
            <a:off x="2060575" y="4083050"/>
            <a:ext cx="2667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5359" name="Group 136"/>
          <p:cNvGrpSpPr/>
          <p:nvPr/>
        </p:nvGrpSpPr>
        <p:grpSpPr bwMode="auto">
          <a:xfrm>
            <a:off x="2428875" y="3925888"/>
            <a:ext cx="330200" cy="250825"/>
            <a:chOff x="7500" y="9890"/>
            <a:chExt cx="260" cy="193"/>
          </a:xfrm>
        </p:grpSpPr>
        <p:sp>
          <p:nvSpPr>
            <p:cNvPr id="95400" name="AutoShape 137"/>
            <p:cNvSpPr>
              <a:spLocks noChangeArrowheads="1"/>
            </p:cNvSpPr>
            <p:nvPr/>
          </p:nvSpPr>
          <p:spPr bwMode="auto">
            <a:xfrm>
              <a:off x="7530" y="9890"/>
              <a:ext cx="230" cy="83"/>
            </a:xfrm>
            <a:prstGeom prst="curvedDownArrow">
              <a:avLst>
                <a:gd name="adj1" fmla="val 8878"/>
                <a:gd name="adj2" fmla="val 57064"/>
                <a:gd name="adj3" fmla="val 48194"/>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sp>
          <p:nvSpPr>
            <p:cNvPr id="95401" name="AutoShape 138"/>
            <p:cNvSpPr>
              <a:spLocks noChangeArrowheads="1"/>
            </p:cNvSpPr>
            <p:nvPr/>
          </p:nvSpPr>
          <p:spPr bwMode="auto">
            <a:xfrm flipH="1">
              <a:off x="7500" y="10000"/>
              <a:ext cx="230" cy="83"/>
            </a:xfrm>
            <a:prstGeom prst="curvedUpArrow">
              <a:avLst>
                <a:gd name="adj1" fmla="val 9237"/>
                <a:gd name="adj2" fmla="val 64659"/>
                <a:gd name="adj3" fmla="val 33333"/>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grpSp>
      <p:sp>
        <p:nvSpPr>
          <p:cNvPr id="95360" name="Line 139"/>
          <p:cNvSpPr>
            <a:spLocks noChangeShapeType="1"/>
          </p:cNvSpPr>
          <p:nvPr/>
        </p:nvSpPr>
        <p:spPr bwMode="auto">
          <a:xfrm>
            <a:off x="2809875" y="4068763"/>
            <a:ext cx="268288"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61" name="Line 140"/>
          <p:cNvSpPr>
            <a:spLocks noChangeShapeType="1"/>
          </p:cNvSpPr>
          <p:nvPr/>
        </p:nvSpPr>
        <p:spPr bwMode="auto">
          <a:xfrm>
            <a:off x="3063875" y="4068763"/>
            <a:ext cx="192088" cy="2857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62" name="Line 141"/>
          <p:cNvSpPr>
            <a:spLocks noChangeShapeType="1"/>
          </p:cNvSpPr>
          <p:nvPr/>
        </p:nvSpPr>
        <p:spPr bwMode="auto">
          <a:xfrm>
            <a:off x="3255963" y="4341813"/>
            <a:ext cx="273367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63" name="Line 142"/>
          <p:cNvSpPr>
            <a:spLocks noChangeShapeType="1"/>
          </p:cNvSpPr>
          <p:nvPr/>
        </p:nvSpPr>
        <p:spPr bwMode="auto">
          <a:xfrm flipV="1">
            <a:off x="5989638" y="4043363"/>
            <a:ext cx="179387" cy="3111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64" name="Line 143"/>
          <p:cNvSpPr>
            <a:spLocks noChangeShapeType="1"/>
          </p:cNvSpPr>
          <p:nvPr/>
        </p:nvSpPr>
        <p:spPr bwMode="auto">
          <a:xfrm>
            <a:off x="6154738" y="4056063"/>
            <a:ext cx="6365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65" name="Line 144"/>
          <p:cNvSpPr>
            <a:spLocks noChangeShapeType="1"/>
          </p:cNvSpPr>
          <p:nvPr/>
        </p:nvSpPr>
        <p:spPr bwMode="auto">
          <a:xfrm>
            <a:off x="6765925" y="4068763"/>
            <a:ext cx="190500" cy="2857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66" name="Line 145"/>
          <p:cNvSpPr>
            <a:spLocks noChangeShapeType="1"/>
          </p:cNvSpPr>
          <p:nvPr/>
        </p:nvSpPr>
        <p:spPr bwMode="auto">
          <a:xfrm>
            <a:off x="6969125" y="4354513"/>
            <a:ext cx="7493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67" name="Line 146"/>
          <p:cNvSpPr>
            <a:spLocks noChangeShapeType="1"/>
          </p:cNvSpPr>
          <p:nvPr/>
        </p:nvSpPr>
        <p:spPr bwMode="auto">
          <a:xfrm flipV="1">
            <a:off x="7707313" y="4043363"/>
            <a:ext cx="177800" cy="3111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68" name="Line 147"/>
          <p:cNvSpPr>
            <a:spLocks noChangeShapeType="1"/>
          </p:cNvSpPr>
          <p:nvPr/>
        </p:nvSpPr>
        <p:spPr bwMode="auto">
          <a:xfrm>
            <a:off x="7872413" y="4056063"/>
            <a:ext cx="6365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69" name="Line 148"/>
          <p:cNvSpPr>
            <a:spLocks noChangeShapeType="1"/>
          </p:cNvSpPr>
          <p:nvPr/>
        </p:nvSpPr>
        <p:spPr bwMode="auto">
          <a:xfrm>
            <a:off x="2073275" y="4564063"/>
            <a:ext cx="2667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5370" name="Group 149"/>
          <p:cNvGrpSpPr/>
          <p:nvPr/>
        </p:nvGrpSpPr>
        <p:grpSpPr bwMode="auto">
          <a:xfrm>
            <a:off x="2428875" y="4471988"/>
            <a:ext cx="330200" cy="252412"/>
            <a:chOff x="7500" y="9890"/>
            <a:chExt cx="260" cy="193"/>
          </a:xfrm>
        </p:grpSpPr>
        <p:sp>
          <p:nvSpPr>
            <p:cNvPr id="95398" name="AutoShape 150"/>
            <p:cNvSpPr>
              <a:spLocks noChangeArrowheads="1"/>
            </p:cNvSpPr>
            <p:nvPr/>
          </p:nvSpPr>
          <p:spPr bwMode="auto">
            <a:xfrm>
              <a:off x="7530" y="9890"/>
              <a:ext cx="230" cy="83"/>
            </a:xfrm>
            <a:prstGeom prst="curvedDownArrow">
              <a:avLst>
                <a:gd name="adj1" fmla="val 8878"/>
                <a:gd name="adj2" fmla="val 57064"/>
                <a:gd name="adj3" fmla="val 48194"/>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sp>
          <p:nvSpPr>
            <p:cNvPr id="95399" name="AutoShape 151"/>
            <p:cNvSpPr>
              <a:spLocks noChangeArrowheads="1"/>
            </p:cNvSpPr>
            <p:nvPr/>
          </p:nvSpPr>
          <p:spPr bwMode="auto">
            <a:xfrm flipH="1">
              <a:off x="7500" y="10000"/>
              <a:ext cx="230" cy="83"/>
            </a:xfrm>
            <a:prstGeom prst="curvedUpArrow">
              <a:avLst>
                <a:gd name="adj1" fmla="val 9237"/>
                <a:gd name="adj2" fmla="val 64659"/>
                <a:gd name="adj3" fmla="val 33333"/>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grpSp>
      <p:sp>
        <p:nvSpPr>
          <p:cNvPr id="95371" name="Line 152"/>
          <p:cNvSpPr>
            <a:spLocks noChangeShapeType="1"/>
          </p:cNvSpPr>
          <p:nvPr/>
        </p:nvSpPr>
        <p:spPr bwMode="auto">
          <a:xfrm>
            <a:off x="2809875" y="4589463"/>
            <a:ext cx="827088"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72" name="Line 153"/>
          <p:cNvSpPr>
            <a:spLocks noChangeShapeType="1"/>
          </p:cNvSpPr>
          <p:nvPr/>
        </p:nvSpPr>
        <p:spPr bwMode="auto">
          <a:xfrm>
            <a:off x="3611563" y="4589463"/>
            <a:ext cx="192087" cy="2857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73" name="Line 154"/>
          <p:cNvSpPr>
            <a:spLocks noChangeShapeType="1"/>
          </p:cNvSpPr>
          <p:nvPr/>
        </p:nvSpPr>
        <p:spPr bwMode="auto">
          <a:xfrm>
            <a:off x="3803650" y="4862513"/>
            <a:ext cx="8128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74" name="Line 155"/>
          <p:cNvSpPr>
            <a:spLocks noChangeShapeType="1"/>
          </p:cNvSpPr>
          <p:nvPr/>
        </p:nvSpPr>
        <p:spPr bwMode="auto">
          <a:xfrm flipV="1">
            <a:off x="4616450" y="4537075"/>
            <a:ext cx="177800" cy="31273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75" name="Line 156"/>
          <p:cNvSpPr>
            <a:spLocks noChangeShapeType="1"/>
          </p:cNvSpPr>
          <p:nvPr/>
        </p:nvSpPr>
        <p:spPr bwMode="auto">
          <a:xfrm>
            <a:off x="4781550" y="4549775"/>
            <a:ext cx="636588"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76" name="Line 157"/>
          <p:cNvSpPr>
            <a:spLocks noChangeShapeType="1"/>
          </p:cNvSpPr>
          <p:nvPr/>
        </p:nvSpPr>
        <p:spPr bwMode="auto">
          <a:xfrm>
            <a:off x="5392738" y="4564063"/>
            <a:ext cx="190500" cy="2857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77" name="Line 158"/>
          <p:cNvSpPr>
            <a:spLocks noChangeShapeType="1"/>
          </p:cNvSpPr>
          <p:nvPr/>
        </p:nvSpPr>
        <p:spPr bwMode="auto">
          <a:xfrm>
            <a:off x="5595938" y="4849813"/>
            <a:ext cx="208597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78" name="Line 159"/>
          <p:cNvSpPr>
            <a:spLocks noChangeShapeType="1"/>
          </p:cNvSpPr>
          <p:nvPr/>
        </p:nvSpPr>
        <p:spPr bwMode="auto">
          <a:xfrm flipV="1">
            <a:off x="7681913" y="4549775"/>
            <a:ext cx="177800" cy="31273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79" name="Line 160"/>
          <p:cNvSpPr>
            <a:spLocks noChangeShapeType="1"/>
          </p:cNvSpPr>
          <p:nvPr/>
        </p:nvSpPr>
        <p:spPr bwMode="auto">
          <a:xfrm>
            <a:off x="7847013" y="4564063"/>
            <a:ext cx="6365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80" name="Line 161"/>
          <p:cNvSpPr>
            <a:spLocks noChangeShapeType="1"/>
          </p:cNvSpPr>
          <p:nvPr/>
        </p:nvSpPr>
        <p:spPr bwMode="auto">
          <a:xfrm>
            <a:off x="2085975" y="5122863"/>
            <a:ext cx="2667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5381" name="Group 162"/>
          <p:cNvGrpSpPr/>
          <p:nvPr/>
        </p:nvGrpSpPr>
        <p:grpSpPr bwMode="auto">
          <a:xfrm>
            <a:off x="2441575" y="5030788"/>
            <a:ext cx="331788" cy="252412"/>
            <a:chOff x="7500" y="9890"/>
            <a:chExt cx="260" cy="193"/>
          </a:xfrm>
        </p:grpSpPr>
        <p:sp>
          <p:nvSpPr>
            <p:cNvPr id="95396" name="AutoShape 163"/>
            <p:cNvSpPr>
              <a:spLocks noChangeArrowheads="1"/>
            </p:cNvSpPr>
            <p:nvPr/>
          </p:nvSpPr>
          <p:spPr bwMode="auto">
            <a:xfrm>
              <a:off x="7530" y="9890"/>
              <a:ext cx="230" cy="83"/>
            </a:xfrm>
            <a:prstGeom prst="curvedDownArrow">
              <a:avLst>
                <a:gd name="adj1" fmla="val 8878"/>
                <a:gd name="adj2" fmla="val 57064"/>
                <a:gd name="adj3" fmla="val 48194"/>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sp>
          <p:nvSpPr>
            <p:cNvPr id="95397" name="AutoShape 164"/>
            <p:cNvSpPr>
              <a:spLocks noChangeArrowheads="1"/>
            </p:cNvSpPr>
            <p:nvPr/>
          </p:nvSpPr>
          <p:spPr bwMode="auto">
            <a:xfrm flipH="1">
              <a:off x="7500" y="10000"/>
              <a:ext cx="230" cy="83"/>
            </a:xfrm>
            <a:prstGeom prst="curvedUpArrow">
              <a:avLst>
                <a:gd name="adj1" fmla="val 9237"/>
                <a:gd name="adj2" fmla="val 64659"/>
                <a:gd name="adj3" fmla="val 33333"/>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grpSp>
      <p:sp>
        <p:nvSpPr>
          <p:cNvPr id="95382" name="Line 165"/>
          <p:cNvSpPr>
            <a:spLocks noChangeShapeType="1"/>
          </p:cNvSpPr>
          <p:nvPr/>
        </p:nvSpPr>
        <p:spPr bwMode="auto">
          <a:xfrm>
            <a:off x="2824163" y="5148263"/>
            <a:ext cx="8255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83" name="Line 166"/>
          <p:cNvSpPr>
            <a:spLocks noChangeShapeType="1"/>
          </p:cNvSpPr>
          <p:nvPr/>
        </p:nvSpPr>
        <p:spPr bwMode="auto">
          <a:xfrm>
            <a:off x="3624263" y="5148263"/>
            <a:ext cx="190500" cy="28733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84" name="Line 167"/>
          <p:cNvSpPr>
            <a:spLocks noChangeShapeType="1"/>
          </p:cNvSpPr>
          <p:nvPr/>
        </p:nvSpPr>
        <p:spPr bwMode="auto">
          <a:xfrm flipV="1">
            <a:off x="3103563" y="5435600"/>
            <a:ext cx="455295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85" name="Line 168"/>
          <p:cNvSpPr>
            <a:spLocks noChangeShapeType="1"/>
          </p:cNvSpPr>
          <p:nvPr/>
        </p:nvSpPr>
        <p:spPr bwMode="auto">
          <a:xfrm>
            <a:off x="2924175" y="5162550"/>
            <a:ext cx="192088" cy="2857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86" name="Line 169"/>
          <p:cNvSpPr>
            <a:spLocks noChangeShapeType="1"/>
          </p:cNvSpPr>
          <p:nvPr/>
        </p:nvSpPr>
        <p:spPr bwMode="auto">
          <a:xfrm flipV="1">
            <a:off x="7631113" y="5122863"/>
            <a:ext cx="177800" cy="31273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87" name="Line 170"/>
          <p:cNvSpPr>
            <a:spLocks noChangeShapeType="1"/>
          </p:cNvSpPr>
          <p:nvPr/>
        </p:nvSpPr>
        <p:spPr bwMode="auto">
          <a:xfrm>
            <a:off x="7796213" y="5135563"/>
            <a:ext cx="6365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388" name="Line 171"/>
          <p:cNvSpPr>
            <a:spLocks noChangeShapeType="1"/>
          </p:cNvSpPr>
          <p:nvPr/>
        </p:nvSpPr>
        <p:spPr bwMode="auto">
          <a:xfrm>
            <a:off x="3152775" y="5629275"/>
            <a:ext cx="1438275" cy="0"/>
          </a:xfrm>
          <a:prstGeom prst="line">
            <a:avLst/>
          </a:prstGeom>
          <a:noFill/>
          <a:ln w="2857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95389" name="Text Box 172"/>
          <p:cNvSpPr txBox="1">
            <a:spLocks noChangeArrowheads="1"/>
          </p:cNvSpPr>
          <p:nvPr/>
        </p:nvSpPr>
        <p:spPr bwMode="auto">
          <a:xfrm>
            <a:off x="2225675" y="5667375"/>
            <a:ext cx="81280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地址期</a:t>
            </a:r>
            <a:endParaRPr kumimoji="0" lang="zh-CN" altLang="en-US" sz="1600">
              <a:ea typeface="宋体" panose="02010600030101010101" pitchFamily="2" charset="-122"/>
            </a:endParaRPr>
          </a:p>
        </p:txBody>
      </p:sp>
      <p:sp>
        <p:nvSpPr>
          <p:cNvPr id="95390" name="Line 173"/>
          <p:cNvSpPr>
            <a:spLocks noChangeShapeType="1"/>
          </p:cNvSpPr>
          <p:nvPr/>
        </p:nvSpPr>
        <p:spPr bwMode="auto">
          <a:xfrm>
            <a:off x="2276475" y="5618163"/>
            <a:ext cx="673100" cy="0"/>
          </a:xfrm>
          <a:prstGeom prst="line">
            <a:avLst/>
          </a:prstGeom>
          <a:noFill/>
          <a:ln w="2857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95391" name="Line 174"/>
          <p:cNvSpPr>
            <a:spLocks noChangeShapeType="1"/>
          </p:cNvSpPr>
          <p:nvPr/>
        </p:nvSpPr>
        <p:spPr bwMode="auto">
          <a:xfrm>
            <a:off x="4756150" y="5618163"/>
            <a:ext cx="1438275" cy="0"/>
          </a:xfrm>
          <a:prstGeom prst="line">
            <a:avLst/>
          </a:prstGeom>
          <a:noFill/>
          <a:ln w="2857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95392" name="Line 175"/>
          <p:cNvSpPr>
            <a:spLocks noChangeShapeType="1"/>
          </p:cNvSpPr>
          <p:nvPr/>
        </p:nvSpPr>
        <p:spPr bwMode="auto">
          <a:xfrm>
            <a:off x="6383338" y="5618163"/>
            <a:ext cx="1438275" cy="0"/>
          </a:xfrm>
          <a:prstGeom prst="line">
            <a:avLst/>
          </a:prstGeom>
          <a:noFill/>
          <a:ln w="2857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95393" name="Text Box 176"/>
          <p:cNvSpPr txBox="1">
            <a:spLocks noChangeArrowheads="1"/>
          </p:cNvSpPr>
          <p:nvPr/>
        </p:nvSpPr>
        <p:spPr bwMode="auto">
          <a:xfrm>
            <a:off x="3509963" y="5691188"/>
            <a:ext cx="8128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数据期</a:t>
            </a:r>
            <a:endParaRPr kumimoji="0" lang="zh-CN" altLang="en-US" sz="1600">
              <a:ea typeface="宋体" panose="02010600030101010101" pitchFamily="2" charset="-122"/>
            </a:endParaRPr>
          </a:p>
        </p:txBody>
      </p:sp>
      <p:sp>
        <p:nvSpPr>
          <p:cNvPr id="95394" name="Text Box 177"/>
          <p:cNvSpPr txBox="1">
            <a:spLocks noChangeArrowheads="1"/>
          </p:cNvSpPr>
          <p:nvPr/>
        </p:nvSpPr>
        <p:spPr bwMode="auto">
          <a:xfrm>
            <a:off x="5073650" y="5668963"/>
            <a:ext cx="8159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数据期</a:t>
            </a:r>
            <a:endParaRPr kumimoji="0" lang="zh-CN" altLang="en-US" sz="1600">
              <a:ea typeface="宋体" panose="02010600030101010101" pitchFamily="2" charset="-122"/>
            </a:endParaRPr>
          </a:p>
        </p:txBody>
      </p:sp>
      <p:sp>
        <p:nvSpPr>
          <p:cNvPr id="95395" name="Text Box 178"/>
          <p:cNvSpPr txBox="1">
            <a:spLocks noChangeArrowheads="1"/>
          </p:cNvSpPr>
          <p:nvPr/>
        </p:nvSpPr>
        <p:spPr bwMode="auto">
          <a:xfrm>
            <a:off x="6740525" y="5668963"/>
            <a:ext cx="8128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数据期</a:t>
            </a:r>
            <a:endParaRPr kumimoji="0" lang="zh-CN" altLang="en-US" sz="1600">
              <a:ea typeface="宋体" panose="02010600030101010101" pitchFamily="2" charset="-122"/>
            </a:endParaRPr>
          </a:p>
        </p:txBody>
      </p:sp>
    </p:spTree>
  </p:cSld>
  <p:clrMapOvr>
    <a:masterClrMapping/>
  </p:clrMapOvr>
  <p:transition spd="med">
    <p:pull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type="title"/>
          </p:nvPr>
        </p:nvSpPr>
        <p:spPr/>
        <p:txBody>
          <a:bodyPr/>
          <a:lstStyle/>
          <a:p>
            <a:pPr eaLnBrk="1" hangingPunct="1">
              <a:defRPr/>
            </a:pPr>
            <a:r>
              <a:rPr lang="zh-CN" altLang="en-US"/>
              <a:t>总线上的写操作</a:t>
            </a:r>
            <a:endParaRPr lang="zh-CN" altLang="en-US"/>
          </a:p>
        </p:txBody>
      </p:sp>
      <p:sp>
        <p:nvSpPr>
          <p:cNvPr id="97284" name="Text Box 179"/>
          <p:cNvSpPr txBox="1">
            <a:spLocks noChangeArrowheads="1"/>
          </p:cNvSpPr>
          <p:nvPr/>
        </p:nvSpPr>
        <p:spPr bwMode="auto">
          <a:xfrm>
            <a:off x="573088" y="1527175"/>
            <a:ext cx="635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CLK</a:t>
            </a:r>
            <a:endParaRPr kumimoji="0" lang="en-US" altLang="zh-CN" sz="1600">
              <a:ea typeface="宋体" panose="02010600030101010101" pitchFamily="2" charset="-122"/>
            </a:endParaRPr>
          </a:p>
        </p:txBody>
      </p:sp>
      <p:sp>
        <p:nvSpPr>
          <p:cNvPr id="97285" name="Text Box 180"/>
          <p:cNvSpPr txBox="1">
            <a:spLocks noChangeArrowheads="1"/>
          </p:cNvSpPr>
          <p:nvPr/>
        </p:nvSpPr>
        <p:spPr bwMode="auto">
          <a:xfrm>
            <a:off x="190500" y="2173288"/>
            <a:ext cx="10429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FRAME#</a:t>
            </a:r>
            <a:endParaRPr kumimoji="0" lang="en-US" altLang="zh-CN" sz="1600">
              <a:ea typeface="宋体" panose="02010600030101010101" pitchFamily="2" charset="-122"/>
            </a:endParaRPr>
          </a:p>
        </p:txBody>
      </p:sp>
      <p:sp>
        <p:nvSpPr>
          <p:cNvPr id="97286" name="Line 181"/>
          <p:cNvSpPr>
            <a:spLocks noChangeShapeType="1"/>
          </p:cNvSpPr>
          <p:nvPr/>
        </p:nvSpPr>
        <p:spPr bwMode="auto">
          <a:xfrm>
            <a:off x="1411288" y="1800225"/>
            <a:ext cx="3048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7" name="Line 182"/>
          <p:cNvSpPr>
            <a:spLocks noChangeShapeType="1"/>
          </p:cNvSpPr>
          <p:nvPr/>
        </p:nvSpPr>
        <p:spPr bwMode="auto">
          <a:xfrm flipV="1">
            <a:off x="1716088" y="1476375"/>
            <a:ext cx="179387" cy="3095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8" name="Line 183"/>
          <p:cNvSpPr>
            <a:spLocks noChangeShapeType="1"/>
          </p:cNvSpPr>
          <p:nvPr/>
        </p:nvSpPr>
        <p:spPr bwMode="auto">
          <a:xfrm>
            <a:off x="1895475" y="1487488"/>
            <a:ext cx="227013"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9" name="Line 184"/>
          <p:cNvSpPr>
            <a:spLocks noChangeShapeType="1"/>
          </p:cNvSpPr>
          <p:nvPr/>
        </p:nvSpPr>
        <p:spPr bwMode="auto">
          <a:xfrm>
            <a:off x="2122488" y="1487488"/>
            <a:ext cx="141287" cy="2984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90" name="Line 185"/>
          <p:cNvSpPr>
            <a:spLocks noChangeShapeType="1"/>
          </p:cNvSpPr>
          <p:nvPr/>
        </p:nvSpPr>
        <p:spPr bwMode="auto">
          <a:xfrm>
            <a:off x="2276475" y="1785938"/>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91" name="Line 186"/>
          <p:cNvSpPr>
            <a:spLocks noChangeShapeType="1"/>
          </p:cNvSpPr>
          <p:nvPr/>
        </p:nvSpPr>
        <p:spPr bwMode="auto">
          <a:xfrm flipV="1">
            <a:off x="2505075" y="1462088"/>
            <a:ext cx="179388" cy="3111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92" name="Line 187"/>
          <p:cNvSpPr>
            <a:spLocks noChangeShapeType="1"/>
          </p:cNvSpPr>
          <p:nvPr/>
        </p:nvSpPr>
        <p:spPr bwMode="auto">
          <a:xfrm>
            <a:off x="2684463" y="1476375"/>
            <a:ext cx="227012"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93" name="Line 188"/>
          <p:cNvSpPr>
            <a:spLocks noChangeShapeType="1"/>
          </p:cNvSpPr>
          <p:nvPr/>
        </p:nvSpPr>
        <p:spPr bwMode="auto">
          <a:xfrm>
            <a:off x="2911475" y="1476375"/>
            <a:ext cx="139700" cy="2968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94" name="Line 189"/>
          <p:cNvSpPr>
            <a:spLocks noChangeShapeType="1"/>
          </p:cNvSpPr>
          <p:nvPr/>
        </p:nvSpPr>
        <p:spPr bwMode="auto">
          <a:xfrm>
            <a:off x="3065463" y="1773238"/>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95" name="Line 190"/>
          <p:cNvSpPr>
            <a:spLocks noChangeShapeType="1"/>
          </p:cNvSpPr>
          <p:nvPr/>
        </p:nvSpPr>
        <p:spPr bwMode="auto">
          <a:xfrm flipV="1">
            <a:off x="3281363" y="1462088"/>
            <a:ext cx="177800" cy="3111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96" name="Line 191"/>
          <p:cNvSpPr>
            <a:spLocks noChangeShapeType="1"/>
          </p:cNvSpPr>
          <p:nvPr/>
        </p:nvSpPr>
        <p:spPr bwMode="auto">
          <a:xfrm>
            <a:off x="3459163" y="1476375"/>
            <a:ext cx="2301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97" name="Line 192"/>
          <p:cNvSpPr>
            <a:spLocks noChangeShapeType="1"/>
          </p:cNvSpPr>
          <p:nvPr/>
        </p:nvSpPr>
        <p:spPr bwMode="auto">
          <a:xfrm>
            <a:off x="3689350" y="1476375"/>
            <a:ext cx="139700" cy="2968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98" name="Line 193"/>
          <p:cNvSpPr>
            <a:spLocks noChangeShapeType="1"/>
          </p:cNvSpPr>
          <p:nvPr/>
        </p:nvSpPr>
        <p:spPr bwMode="auto">
          <a:xfrm>
            <a:off x="3840163" y="1773238"/>
            <a:ext cx="2301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99" name="Line 194"/>
          <p:cNvSpPr>
            <a:spLocks noChangeShapeType="1"/>
          </p:cNvSpPr>
          <p:nvPr/>
        </p:nvSpPr>
        <p:spPr bwMode="auto">
          <a:xfrm flipV="1">
            <a:off x="4070350" y="1449388"/>
            <a:ext cx="177800" cy="3111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00" name="Line 195"/>
          <p:cNvSpPr>
            <a:spLocks noChangeShapeType="1"/>
          </p:cNvSpPr>
          <p:nvPr/>
        </p:nvSpPr>
        <p:spPr bwMode="auto">
          <a:xfrm>
            <a:off x="4248150" y="1462088"/>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01" name="Line 196"/>
          <p:cNvSpPr>
            <a:spLocks noChangeShapeType="1"/>
          </p:cNvSpPr>
          <p:nvPr/>
        </p:nvSpPr>
        <p:spPr bwMode="auto">
          <a:xfrm>
            <a:off x="4476750" y="1462088"/>
            <a:ext cx="139700" cy="2984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02" name="Line 197"/>
          <p:cNvSpPr>
            <a:spLocks noChangeShapeType="1"/>
          </p:cNvSpPr>
          <p:nvPr/>
        </p:nvSpPr>
        <p:spPr bwMode="auto">
          <a:xfrm>
            <a:off x="4629150" y="1760538"/>
            <a:ext cx="230188"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03" name="Line 198"/>
          <p:cNvSpPr>
            <a:spLocks noChangeShapeType="1"/>
          </p:cNvSpPr>
          <p:nvPr/>
        </p:nvSpPr>
        <p:spPr bwMode="auto">
          <a:xfrm flipV="1">
            <a:off x="4859338" y="1423988"/>
            <a:ext cx="176212" cy="3095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04" name="Line 199"/>
          <p:cNvSpPr>
            <a:spLocks noChangeShapeType="1"/>
          </p:cNvSpPr>
          <p:nvPr/>
        </p:nvSpPr>
        <p:spPr bwMode="auto">
          <a:xfrm>
            <a:off x="5035550" y="1435100"/>
            <a:ext cx="230188"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05" name="Line 200"/>
          <p:cNvSpPr>
            <a:spLocks noChangeShapeType="1"/>
          </p:cNvSpPr>
          <p:nvPr/>
        </p:nvSpPr>
        <p:spPr bwMode="auto">
          <a:xfrm>
            <a:off x="5265738" y="1435100"/>
            <a:ext cx="138112" cy="2984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06" name="Line 201"/>
          <p:cNvSpPr>
            <a:spLocks noChangeShapeType="1"/>
          </p:cNvSpPr>
          <p:nvPr/>
        </p:nvSpPr>
        <p:spPr bwMode="auto">
          <a:xfrm>
            <a:off x="5418138" y="1733550"/>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07" name="Line 202"/>
          <p:cNvSpPr>
            <a:spLocks noChangeShapeType="1"/>
          </p:cNvSpPr>
          <p:nvPr/>
        </p:nvSpPr>
        <p:spPr bwMode="auto">
          <a:xfrm flipV="1">
            <a:off x="5646738" y="1409700"/>
            <a:ext cx="177800" cy="31273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08" name="Line 203"/>
          <p:cNvSpPr>
            <a:spLocks noChangeShapeType="1"/>
          </p:cNvSpPr>
          <p:nvPr/>
        </p:nvSpPr>
        <p:spPr bwMode="auto">
          <a:xfrm>
            <a:off x="5824538" y="1423988"/>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09" name="Line 204"/>
          <p:cNvSpPr>
            <a:spLocks noChangeShapeType="1"/>
          </p:cNvSpPr>
          <p:nvPr/>
        </p:nvSpPr>
        <p:spPr bwMode="auto">
          <a:xfrm>
            <a:off x="6053138" y="1423988"/>
            <a:ext cx="139700" cy="2984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10" name="Line 205"/>
          <p:cNvSpPr>
            <a:spLocks noChangeShapeType="1"/>
          </p:cNvSpPr>
          <p:nvPr/>
        </p:nvSpPr>
        <p:spPr bwMode="auto">
          <a:xfrm>
            <a:off x="6207125" y="1722438"/>
            <a:ext cx="227013"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11" name="Line 206"/>
          <p:cNvSpPr>
            <a:spLocks noChangeShapeType="1"/>
          </p:cNvSpPr>
          <p:nvPr/>
        </p:nvSpPr>
        <p:spPr bwMode="auto">
          <a:xfrm flipV="1">
            <a:off x="6423025" y="1409700"/>
            <a:ext cx="177800" cy="31273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12" name="Line 207"/>
          <p:cNvSpPr>
            <a:spLocks noChangeShapeType="1"/>
          </p:cNvSpPr>
          <p:nvPr/>
        </p:nvSpPr>
        <p:spPr bwMode="auto">
          <a:xfrm>
            <a:off x="6600825" y="1423988"/>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13" name="Line 208"/>
          <p:cNvSpPr>
            <a:spLocks noChangeShapeType="1"/>
          </p:cNvSpPr>
          <p:nvPr/>
        </p:nvSpPr>
        <p:spPr bwMode="auto">
          <a:xfrm>
            <a:off x="6829425" y="1423988"/>
            <a:ext cx="141288" cy="2984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14" name="Line 209"/>
          <p:cNvSpPr>
            <a:spLocks noChangeShapeType="1"/>
          </p:cNvSpPr>
          <p:nvPr/>
        </p:nvSpPr>
        <p:spPr bwMode="auto">
          <a:xfrm>
            <a:off x="6981825" y="1722438"/>
            <a:ext cx="230188"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15" name="Line 210"/>
          <p:cNvSpPr>
            <a:spLocks noChangeShapeType="1"/>
          </p:cNvSpPr>
          <p:nvPr/>
        </p:nvSpPr>
        <p:spPr bwMode="auto">
          <a:xfrm flipV="1">
            <a:off x="7212013" y="1397000"/>
            <a:ext cx="176212" cy="3111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16" name="Line 211"/>
          <p:cNvSpPr>
            <a:spLocks noChangeShapeType="1"/>
          </p:cNvSpPr>
          <p:nvPr/>
        </p:nvSpPr>
        <p:spPr bwMode="auto">
          <a:xfrm>
            <a:off x="7388225" y="1409700"/>
            <a:ext cx="230188"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17" name="Line 212"/>
          <p:cNvSpPr>
            <a:spLocks noChangeShapeType="1"/>
          </p:cNvSpPr>
          <p:nvPr/>
        </p:nvSpPr>
        <p:spPr bwMode="auto">
          <a:xfrm>
            <a:off x="7618413" y="1409700"/>
            <a:ext cx="139700" cy="2984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18" name="Line 213"/>
          <p:cNvSpPr>
            <a:spLocks noChangeShapeType="1"/>
          </p:cNvSpPr>
          <p:nvPr/>
        </p:nvSpPr>
        <p:spPr bwMode="auto">
          <a:xfrm>
            <a:off x="7770813" y="1708150"/>
            <a:ext cx="2301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19" name="Text Box 214"/>
          <p:cNvSpPr txBox="1">
            <a:spLocks noChangeArrowheads="1"/>
          </p:cNvSpPr>
          <p:nvPr/>
        </p:nvSpPr>
        <p:spPr bwMode="auto">
          <a:xfrm>
            <a:off x="1858963" y="1741488"/>
            <a:ext cx="19208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1</a:t>
            </a:r>
            <a:endParaRPr kumimoji="0" lang="zh-CN" altLang="en-US" sz="1600">
              <a:ea typeface="宋体" panose="02010600030101010101" pitchFamily="2" charset="-122"/>
            </a:endParaRPr>
          </a:p>
        </p:txBody>
      </p:sp>
      <p:sp>
        <p:nvSpPr>
          <p:cNvPr id="97320" name="Text Box 215"/>
          <p:cNvSpPr txBox="1">
            <a:spLocks noChangeArrowheads="1"/>
          </p:cNvSpPr>
          <p:nvPr/>
        </p:nvSpPr>
        <p:spPr bwMode="auto">
          <a:xfrm>
            <a:off x="2593975" y="1733550"/>
            <a:ext cx="1905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2</a:t>
            </a:r>
            <a:endParaRPr kumimoji="0" lang="zh-CN" altLang="en-US" sz="1600">
              <a:ea typeface="宋体" panose="02010600030101010101" pitchFamily="2" charset="-122"/>
            </a:endParaRPr>
          </a:p>
        </p:txBody>
      </p:sp>
      <p:sp>
        <p:nvSpPr>
          <p:cNvPr id="97321" name="Text Box 216"/>
          <p:cNvSpPr txBox="1">
            <a:spLocks noChangeArrowheads="1"/>
          </p:cNvSpPr>
          <p:nvPr/>
        </p:nvSpPr>
        <p:spPr bwMode="auto">
          <a:xfrm>
            <a:off x="3368675" y="1733550"/>
            <a:ext cx="19208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3</a:t>
            </a:r>
            <a:endParaRPr kumimoji="0" lang="zh-CN" altLang="en-US" sz="1600">
              <a:ea typeface="宋体" panose="02010600030101010101" pitchFamily="2" charset="-122"/>
            </a:endParaRPr>
          </a:p>
        </p:txBody>
      </p:sp>
      <p:sp>
        <p:nvSpPr>
          <p:cNvPr id="97322" name="Text Box 217"/>
          <p:cNvSpPr txBox="1">
            <a:spLocks noChangeArrowheads="1"/>
          </p:cNvSpPr>
          <p:nvPr/>
        </p:nvSpPr>
        <p:spPr bwMode="auto">
          <a:xfrm>
            <a:off x="4157663" y="1747838"/>
            <a:ext cx="192087"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4</a:t>
            </a:r>
            <a:endParaRPr kumimoji="0" lang="zh-CN" altLang="en-US" sz="1600">
              <a:ea typeface="宋体" panose="02010600030101010101" pitchFamily="2" charset="-122"/>
            </a:endParaRPr>
          </a:p>
        </p:txBody>
      </p:sp>
      <p:sp>
        <p:nvSpPr>
          <p:cNvPr id="97323" name="Text Box 218"/>
          <p:cNvSpPr txBox="1">
            <a:spLocks noChangeArrowheads="1"/>
          </p:cNvSpPr>
          <p:nvPr/>
        </p:nvSpPr>
        <p:spPr bwMode="auto">
          <a:xfrm>
            <a:off x="4957763" y="1731963"/>
            <a:ext cx="1905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5</a:t>
            </a:r>
            <a:endParaRPr kumimoji="0" lang="zh-CN" altLang="en-US" sz="1600">
              <a:ea typeface="宋体" panose="02010600030101010101" pitchFamily="2" charset="-122"/>
            </a:endParaRPr>
          </a:p>
        </p:txBody>
      </p:sp>
      <p:sp>
        <p:nvSpPr>
          <p:cNvPr id="97324" name="Text Box 219"/>
          <p:cNvSpPr txBox="1">
            <a:spLocks noChangeArrowheads="1"/>
          </p:cNvSpPr>
          <p:nvPr/>
        </p:nvSpPr>
        <p:spPr bwMode="auto">
          <a:xfrm>
            <a:off x="5722938" y="1722438"/>
            <a:ext cx="192087"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6</a:t>
            </a:r>
            <a:endParaRPr kumimoji="0" lang="zh-CN" altLang="en-US" sz="1600">
              <a:ea typeface="宋体" panose="02010600030101010101" pitchFamily="2" charset="-122"/>
            </a:endParaRPr>
          </a:p>
        </p:txBody>
      </p:sp>
      <p:sp>
        <p:nvSpPr>
          <p:cNvPr id="97325" name="Text Box 220"/>
          <p:cNvSpPr txBox="1">
            <a:spLocks noChangeArrowheads="1"/>
          </p:cNvSpPr>
          <p:nvPr/>
        </p:nvSpPr>
        <p:spPr bwMode="auto">
          <a:xfrm>
            <a:off x="6537325" y="1708150"/>
            <a:ext cx="1905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7</a:t>
            </a:r>
            <a:endParaRPr kumimoji="0" lang="zh-CN" altLang="en-US" sz="1600">
              <a:ea typeface="宋体" panose="02010600030101010101" pitchFamily="2" charset="-122"/>
            </a:endParaRPr>
          </a:p>
        </p:txBody>
      </p:sp>
      <p:sp>
        <p:nvSpPr>
          <p:cNvPr id="97326" name="Text Box 221"/>
          <p:cNvSpPr txBox="1">
            <a:spLocks noChangeArrowheads="1"/>
          </p:cNvSpPr>
          <p:nvPr/>
        </p:nvSpPr>
        <p:spPr bwMode="auto">
          <a:xfrm>
            <a:off x="7288213" y="1695450"/>
            <a:ext cx="1905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8</a:t>
            </a:r>
            <a:endParaRPr kumimoji="0" lang="zh-CN" altLang="en-US" sz="1600">
              <a:ea typeface="宋体" panose="02010600030101010101" pitchFamily="2" charset="-122"/>
            </a:endParaRPr>
          </a:p>
        </p:txBody>
      </p:sp>
      <p:sp>
        <p:nvSpPr>
          <p:cNvPr id="97327" name="Line 222"/>
          <p:cNvSpPr>
            <a:spLocks noChangeShapeType="1"/>
          </p:cNvSpPr>
          <p:nvPr/>
        </p:nvSpPr>
        <p:spPr bwMode="auto">
          <a:xfrm>
            <a:off x="1373188" y="2484438"/>
            <a:ext cx="7618412" cy="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7328" name="Line 223"/>
          <p:cNvSpPr>
            <a:spLocks noChangeShapeType="1"/>
          </p:cNvSpPr>
          <p:nvPr/>
        </p:nvSpPr>
        <p:spPr bwMode="auto">
          <a:xfrm>
            <a:off x="1500188" y="2162175"/>
            <a:ext cx="5857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29" name="Line 224"/>
          <p:cNvSpPr>
            <a:spLocks noChangeShapeType="1"/>
          </p:cNvSpPr>
          <p:nvPr/>
        </p:nvSpPr>
        <p:spPr bwMode="auto">
          <a:xfrm>
            <a:off x="2071688" y="2162175"/>
            <a:ext cx="230187" cy="322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30" name="Line 225"/>
          <p:cNvSpPr>
            <a:spLocks noChangeShapeType="1"/>
          </p:cNvSpPr>
          <p:nvPr/>
        </p:nvSpPr>
        <p:spPr bwMode="auto">
          <a:xfrm>
            <a:off x="2289175" y="2484438"/>
            <a:ext cx="2913063"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31" name="Line 226"/>
          <p:cNvSpPr>
            <a:spLocks noChangeShapeType="1"/>
          </p:cNvSpPr>
          <p:nvPr/>
        </p:nvSpPr>
        <p:spPr bwMode="auto">
          <a:xfrm flipV="1">
            <a:off x="5202238" y="2162175"/>
            <a:ext cx="176212" cy="3095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32" name="Line 227"/>
          <p:cNvSpPr>
            <a:spLocks noChangeShapeType="1"/>
          </p:cNvSpPr>
          <p:nvPr/>
        </p:nvSpPr>
        <p:spPr bwMode="auto">
          <a:xfrm>
            <a:off x="5378450" y="2173288"/>
            <a:ext cx="2443163"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7333" name="Group 228"/>
          <p:cNvGrpSpPr/>
          <p:nvPr/>
        </p:nvGrpSpPr>
        <p:grpSpPr bwMode="auto">
          <a:xfrm>
            <a:off x="7910513" y="2057400"/>
            <a:ext cx="331787" cy="250825"/>
            <a:chOff x="7500" y="9890"/>
            <a:chExt cx="260" cy="193"/>
          </a:xfrm>
        </p:grpSpPr>
        <p:sp>
          <p:nvSpPr>
            <p:cNvPr id="97464" name="AutoShape 229"/>
            <p:cNvSpPr>
              <a:spLocks noChangeArrowheads="1"/>
            </p:cNvSpPr>
            <p:nvPr/>
          </p:nvSpPr>
          <p:spPr bwMode="auto">
            <a:xfrm>
              <a:off x="7530" y="9890"/>
              <a:ext cx="230" cy="83"/>
            </a:xfrm>
            <a:prstGeom prst="curvedDownArrow">
              <a:avLst>
                <a:gd name="adj1" fmla="val 8878"/>
                <a:gd name="adj2" fmla="val 57064"/>
                <a:gd name="adj3" fmla="val 48194"/>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sp>
          <p:nvSpPr>
            <p:cNvPr id="97465" name="AutoShape 230"/>
            <p:cNvSpPr>
              <a:spLocks noChangeArrowheads="1"/>
            </p:cNvSpPr>
            <p:nvPr/>
          </p:nvSpPr>
          <p:spPr bwMode="auto">
            <a:xfrm flipH="1">
              <a:off x="7500" y="10000"/>
              <a:ext cx="230" cy="83"/>
            </a:xfrm>
            <a:prstGeom prst="curvedUpArrow">
              <a:avLst>
                <a:gd name="adj1" fmla="val 9237"/>
                <a:gd name="adj2" fmla="val 64659"/>
                <a:gd name="adj3" fmla="val 33333"/>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grpSp>
      <p:sp>
        <p:nvSpPr>
          <p:cNvPr id="97334" name="Line 231"/>
          <p:cNvSpPr>
            <a:spLocks noChangeShapeType="1"/>
          </p:cNvSpPr>
          <p:nvPr/>
        </p:nvSpPr>
        <p:spPr bwMode="auto">
          <a:xfrm>
            <a:off x="8318500" y="2173288"/>
            <a:ext cx="2921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35" name="Line 232"/>
          <p:cNvSpPr>
            <a:spLocks noChangeShapeType="1"/>
          </p:cNvSpPr>
          <p:nvPr/>
        </p:nvSpPr>
        <p:spPr bwMode="auto">
          <a:xfrm flipV="1">
            <a:off x="7986713" y="1384300"/>
            <a:ext cx="179387" cy="3111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36" name="Line 233"/>
          <p:cNvSpPr>
            <a:spLocks noChangeShapeType="1"/>
          </p:cNvSpPr>
          <p:nvPr/>
        </p:nvSpPr>
        <p:spPr bwMode="auto">
          <a:xfrm>
            <a:off x="8166100" y="1397000"/>
            <a:ext cx="227013"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37" name="Line 234"/>
          <p:cNvSpPr>
            <a:spLocks noChangeShapeType="1"/>
          </p:cNvSpPr>
          <p:nvPr/>
        </p:nvSpPr>
        <p:spPr bwMode="auto">
          <a:xfrm>
            <a:off x="8393113" y="1397000"/>
            <a:ext cx="141287" cy="2984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38" name="Line 235"/>
          <p:cNvSpPr>
            <a:spLocks noChangeShapeType="1"/>
          </p:cNvSpPr>
          <p:nvPr/>
        </p:nvSpPr>
        <p:spPr bwMode="auto">
          <a:xfrm>
            <a:off x="8545513" y="1695450"/>
            <a:ext cx="2301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39" name="Text Box 236"/>
          <p:cNvSpPr txBox="1">
            <a:spLocks noChangeArrowheads="1"/>
          </p:cNvSpPr>
          <p:nvPr/>
        </p:nvSpPr>
        <p:spPr bwMode="auto">
          <a:xfrm>
            <a:off x="8075613" y="1670050"/>
            <a:ext cx="19208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9</a:t>
            </a:r>
            <a:endParaRPr kumimoji="0" lang="zh-CN" altLang="en-US" sz="1600">
              <a:ea typeface="宋体" panose="02010600030101010101" pitchFamily="2" charset="-122"/>
            </a:endParaRPr>
          </a:p>
        </p:txBody>
      </p:sp>
      <p:sp>
        <p:nvSpPr>
          <p:cNvPr id="97340" name="Text Box 237"/>
          <p:cNvSpPr txBox="1">
            <a:spLocks noChangeArrowheads="1"/>
          </p:cNvSpPr>
          <p:nvPr/>
        </p:nvSpPr>
        <p:spPr bwMode="auto">
          <a:xfrm>
            <a:off x="712788" y="2717800"/>
            <a:ext cx="4191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AD</a:t>
            </a:r>
            <a:endParaRPr kumimoji="0" lang="en-US" altLang="zh-CN" sz="1600">
              <a:ea typeface="宋体" panose="02010600030101010101" pitchFamily="2" charset="-122"/>
            </a:endParaRPr>
          </a:p>
        </p:txBody>
      </p:sp>
      <p:sp>
        <p:nvSpPr>
          <p:cNvPr id="97341" name="Text Box 238"/>
          <p:cNvSpPr txBox="1">
            <a:spLocks noChangeArrowheads="1"/>
          </p:cNvSpPr>
          <p:nvPr/>
        </p:nvSpPr>
        <p:spPr bwMode="auto">
          <a:xfrm>
            <a:off x="419100" y="3300413"/>
            <a:ext cx="712788"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C/BE#</a:t>
            </a:r>
            <a:endParaRPr kumimoji="0" lang="en-US" altLang="zh-CN" sz="1600">
              <a:ea typeface="宋体" panose="02010600030101010101" pitchFamily="2" charset="-122"/>
            </a:endParaRPr>
          </a:p>
        </p:txBody>
      </p:sp>
      <p:sp>
        <p:nvSpPr>
          <p:cNvPr id="97342" name="Text Box 239"/>
          <p:cNvSpPr txBox="1">
            <a:spLocks noChangeArrowheads="1"/>
          </p:cNvSpPr>
          <p:nvPr/>
        </p:nvSpPr>
        <p:spPr bwMode="auto">
          <a:xfrm>
            <a:off x="368300" y="3908425"/>
            <a:ext cx="7762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IRDY#</a:t>
            </a:r>
            <a:endParaRPr kumimoji="0" lang="en-US" altLang="zh-CN" sz="1600">
              <a:ea typeface="宋体" panose="02010600030101010101" pitchFamily="2" charset="-122"/>
            </a:endParaRPr>
          </a:p>
        </p:txBody>
      </p:sp>
      <p:sp>
        <p:nvSpPr>
          <p:cNvPr id="97343" name="Text Box 240"/>
          <p:cNvSpPr txBox="1">
            <a:spLocks noChangeArrowheads="1"/>
          </p:cNvSpPr>
          <p:nvPr/>
        </p:nvSpPr>
        <p:spPr bwMode="auto">
          <a:xfrm>
            <a:off x="292100" y="4478338"/>
            <a:ext cx="827088"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TRDY#</a:t>
            </a:r>
            <a:endParaRPr kumimoji="0" lang="en-US" altLang="zh-CN" sz="1600">
              <a:ea typeface="宋体" panose="02010600030101010101" pitchFamily="2" charset="-122"/>
            </a:endParaRPr>
          </a:p>
        </p:txBody>
      </p:sp>
      <p:sp>
        <p:nvSpPr>
          <p:cNvPr id="97344" name="Text Box 241"/>
          <p:cNvSpPr txBox="1">
            <a:spLocks noChangeArrowheads="1"/>
          </p:cNvSpPr>
          <p:nvPr/>
        </p:nvSpPr>
        <p:spPr bwMode="auto">
          <a:xfrm>
            <a:off x="76200" y="5087938"/>
            <a:ext cx="1119188"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DEVSEL#</a:t>
            </a:r>
            <a:endParaRPr kumimoji="0" lang="en-US" altLang="zh-CN" sz="1600">
              <a:ea typeface="宋体" panose="02010600030101010101" pitchFamily="2" charset="-122"/>
            </a:endParaRPr>
          </a:p>
        </p:txBody>
      </p:sp>
      <p:sp>
        <p:nvSpPr>
          <p:cNvPr id="97345" name="Line 242"/>
          <p:cNvSpPr>
            <a:spLocks noChangeShapeType="1"/>
          </p:cNvSpPr>
          <p:nvPr/>
        </p:nvSpPr>
        <p:spPr bwMode="auto">
          <a:xfrm>
            <a:off x="1373188" y="3106738"/>
            <a:ext cx="7618412" cy="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7346" name="Line 243"/>
          <p:cNvSpPr>
            <a:spLocks noChangeShapeType="1"/>
          </p:cNvSpPr>
          <p:nvPr/>
        </p:nvSpPr>
        <p:spPr bwMode="auto">
          <a:xfrm>
            <a:off x="1296988" y="3767138"/>
            <a:ext cx="7618412" cy="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7347" name="Line 244"/>
          <p:cNvSpPr>
            <a:spLocks noChangeShapeType="1"/>
          </p:cNvSpPr>
          <p:nvPr/>
        </p:nvSpPr>
        <p:spPr bwMode="auto">
          <a:xfrm>
            <a:off x="1336675" y="4362450"/>
            <a:ext cx="7616825" cy="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7348" name="Line 245"/>
          <p:cNvSpPr>
            <a:spLocks noChangeShapeType="1"/>
          </p:cNvSpPr>
          <p:nvPr/>
        </p:nvSpPr>
        <p:spPr bwMode="auto">
          <a:xfrm>
            <a:off x="1309688" y="4867275"/>
            <a:ext cx="7618412" cy="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7349" name="Line 246"/>
          <p:cNvSpPr>
            <a:spLocks noChangeShapeType="1"/>
          </p:cNvSpPr>
          <p:nvPr/>
        </p:nvSpPr>
        <p:spPr bwMode="auto">
          <a:xfrm>
            <a:off x="1336675" y="5437188"/>
            <a:ext cx="7616825" cy="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7350" name="Line 247"/>
          <p:cNvSpPr>
            <a:spLocks noChangeShapeType="1"/>
          </p:cNvSpPr>
          <p:nvPr/>
        </p:nvSpPr>
        <p:spPr bwMode="auto">
          <a:xfrm>
            <a:off x="1819275" y="1476375"/>
            <a:ext cx="0" cy="4114800"/>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7351" name="Line 248"/>
          <p:cNvSpPr>
            <a:spLocks noChangeShapeType="1"/>
          </p:cNvSpPr>
          <p:nvPr/>
        </p:nvSpPr>
        <p:spPr bwMode="auto">
          <a:xfrm>
            <a:off x="2593975" y="1487488"/>
            <a:ext cx="0" cy="4117975"/>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7352" name="Line 249"/>
          <p:cNvSpPr>
            <a:spLocks noChangeShapeType="1"/>
          </p:cNvSpPr>
          <p:nvPr/>
        </p:nvSpPr>
        <p:spPr bwMode="auto">
          <a:xfrm>
            <a:off x="3368675" y="1476375"/>
            <a:ext cx="0" cy="4114800"/>
          </a:xfrm>
          <a:prstGeom prst="line">
            <a:avLst/>
          </a:prstGeom>
          <a:noFill/>
          <a:ln w="28575">
            <a:solidFill>
              <a:srgbClr val="FF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7353" name="Line 250"/>
          <p:cNvSpPr>
            <a:spLocks noChangeShapeType="1"/>
          </p:cNvSpPr>
          <p:nvPr/>
        </p:nvSpPr>
        <p:spPr bwMode="auto">
          <a:xfrm>
            <a:off x="4146550" y="1476375"/>
            <a:ext cx="0" cy="4114800"/>
          </a:xfrm>
          <a:prstGeom prst="line">
            <a:avLst/>
          </a:prstGeom>
          <a:noFill/>
          <a:ln w="28575">
            <a:solidFill>
              <a:srgbClr val="FF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7354" name="Line 251"/>
          <p:cNvSpPr>
            <a:spLocks noChangeShapeType="1"/>
          </p:cNvSpPr>
          <p:nvPr/>
        </p:nvSpPr>
        <p:spPr bwMode="auto">
          <a:xfrm>
            <a:off x="4946650" y="1423988"/>
            <a:ext cx="0" cy="4116387"/>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7355" name="Line 252"/>
          <p:cNvSpPr>
            <a:spLocks noChangeShapeType="1"/>
          </p:cNvSpPr>
          <p:nvPr/>
        </p:nvSpPr>
        <p:spPr bwMode="auto">
          <a:xfrm>
            <a:off x="5710238" y="1487488"/>
            <a:ext cx="0" cy="4117975"/>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7356" name="Line 253"/>
          <p:cNvSpPr>
            <a:spLocks noChangeShapeType="1"/>
          </p:cNvSpPr>
          <p:nvPr/>
        </p:nvSpPr>
        <p:spPr bwMode="auto">
          <a:xfrm>
            <a:off x="6524625" y="1449388"/>
            <a:ext cx="0" cy="4116387"/>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7357" name="Line 254"/>
          <p:cNvSpPr>
            <a:spLocks noChangeShapeType="1"/>
          </p:cNvSpPr>
          <p:nvPr/>
        </p:nvSpPr>
        <p:spPr bwMode="auto">
          <a:xfrm>
            <a:off x="7299325" y="1409700"/>
            <a:ext cx="0" cy="4117975"/>
          </a:xfrm>
          <a:prstGeom prst="line">
            <a:avLst/>
          </a:prstGeom>
          <a:noFill/>
          <a:ln w="28575">
            <a:solidFill>
              <a:srgbClr val="FF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7358" name="Line 255"/>
          <p:cNvSpPr>
            <a:spLocks noChangeShapeType="1"/>
          </p:cNvSpPr>
          <p:nvPr/>
        </p:nvSpPr>
        <p:spPr bwMode="auto">
          <a:xfrm>
            <a:off x="8062913" y="1371600"/>
            <a:ext cx="0" cy="4117975"/>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97359" name="Line 256"/>
          <p:cNvSpPr>
            <a:spLocks noChangeShapeType="1"/>
          </p:cNvSpPr>
          <p:nvPr/>
        </p:nvSpPr>
        <p:spPr bwMode="auto">
          <a:xfrm flipV="1">
            <a:off x="1779588" y="3094038"/>
            <a:ext cx="954087" cy="1270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60" name="Line 257"/>
          <p:cNvSpPr>
            <a:spLocks noChangeShapeType="1"/>
          </p:cNvSpPr>
          <p:nvPr/>
        </p:nvSpPr>
        <p:spPr bwMode="auto">
          <a:xfrm flipV="1">
            <a:off x="1793875" y="2717800"/>
            <a:ext cx="952500" cy="1270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61" name="Line 258"/>
          <p:cNvSpPr>
            <a:spLocks noChangeShapeType="1"/>
          </p:cNvSpPr>
          <p:nvPr/>
        </p:nvSpPr>
        <p:spPr bwMode="auto">
          <a:xfrm>
            <a:off x="2733675" y="2717800"/>
            <a:ext cx="127000" cy="195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62" name="Line 259"/>
          <p:cNvSpPr>
            <a:spLocks noChangeShapeType="1"/>
          </p:cNvSpPr>
          <p:nvPr/>
        </p:nvSpPr>
        <p:spPr bwMode="auto">
          <a:xfrm flipV="1">
            <a:off x="2733675" y="2900363"/>
            <a:ext cx="141288" cy="2206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63" name="Line 260"/>
          <p:cNvSpPr>
            <a:spLocks noChangeShapeType="1"/>
          </p:cNvSpPr>
          <p:nvPr/>
        </p:nvSpPr>
        <p:spPr bwMode="auto">
          <a:xfrm>
            <a:off x="3738563" y="2924175"/>
            <a:ext cx="127000" cy="1968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64" name="Line 261"/>
          <p:cNvSpPr>
            <a:spLocks noChangeShapeType="1"/>
          </p:cNvSpPr>
          <p:nvPr/>
        </p:nvSpPr>
        <p:spPr bwMode="auto">
          <a:xfrm flipV="1">
            <a:off x="3751263" y="2705100"/>
            <a:ext cx="103187" cy="2190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65" name="Line 262"/>
          <p:cNvSpPr>
            <a:spLocks noChangeShapeType="1"/>
          </p:cNvSpPr>
          <p:nvPr/>
        </p:nvSpPr>
        <p:spPr bwMode="auto">
          <a:xfrm flipV="1">
            <a:off x="3854450" y="2717800"/>
            <a:ext cx="1220788" cy="1270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66" name="Line 263"/>
          <p:cNvSpPr>
            <a:spLocks noChangeShapeType="1"/>
          </p:cNvSpPr>
          <p:nvPr/>
        </p:nvSpPr>
        <p:spPr bwMode="auto">
          <a:xfrm flipV="1">
            <a:off x="3879850" y="3094038"/>
            <a:ext cx="1220788" cy="1270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67" name="Line 264"/>
          <p:cNvSpPr>
            <a:spLocks noChangeShapeType="1"/>
          </p:cNvSpPr>
          <p:nvPr/>
        </p:nvSpPr>
        <p:spPr bwMode="auto">
          <a:xfrm>
            <a:off x="5075238" y="2717800"/>
            <a:ext cx="127000" cy="195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68" name="Line 265"/>
          <p:cNvSpPr>
            <a:spLocks noChangeShapeType="1"/>
          </p:cNvSpPr>
          <p:nvPr/>
        </p:nvSpPr>
        <p:spPr bwMode="auto">
          <a:xfrm flipV="1">
            <a:off x="5075238" y="2900363"/>
            <a:ext cx="138112" cy="2206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69" name="Line 266"/>
          <p:cNvSpPr>
            <a:spLocks noChangeShapeType="1"/>
          </p:cNvSpPr>
          <p:nvPr/>
        </p:nvSpPr>
        <p:spPr bwMode="auto">
          <a:xfrm>
            <a:off x="2860675" y="2924175"/>
            <a:ext cx="128588" cy="1968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70" name="Line 267"/>
          <p:cNvSpPr>
            <a:spLocks noChangeShapeType="1"/>
          </p:cNvSpPr>
          <p:nvPr/>
        </p:nvSpPr>
        <p:spPr bwMode="auto">
          <a:xfrm flipV="1">
            <a:off x="2874963" y="2705100"/>
            <a:ext cx="101600" cy="2190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71" name="Line 268"/>
          <p:cNvSpPr>
            <a:spLocks noChangeShapeType="1"/>
          </p:cNvSpPr>
          <p:nvPr/>
        </p:nvSpPr>
        <p:spPr bwMode="auto">
          <a:xfrm flipV="1">
            <a:off x="2976563" y="2730500"/>
            <a:ext cx="6365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72" name="Line 269"/>
          <p:cNvSpPr>
            <a:spLocks noChangeShapeType="1"/>
          </p:cNvSpPr>
          <p:nvPr/>
        </p:nvSpPr>
        <p:spPr bwMode="auto">
          <a:xfrm flipV="1">
            <a:off x="3001963" y="3106738"/>
            <a:ext cx="6111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73" name="Line 270"/>
          <p:cNvSpPr>
            <a:spLocks noChangeShapeType="1"/>
          </p:cNvSpPr>
          <p:nvPr/>
        </p:nvSpPr>
        <p:spPr bwMode="auto">
          <a:xfrm>
            <a:off x="3613150" y="2717800"/>
            <a:ext cx="125413" cy="195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74" name="Line 271"/>
          <p:cNvSpPr>
            <a:spLocks noChangeShapeType="1"/>
          </p:cNvSpPr>
          <p:nvPr/>
        </p:nvSpPr>
        <p:spPr bwMode="auto">
          <a:xfrm flipV="1">
            <a:off x="3613150" y="2900363"/>
            <a:ext cx="138113" cy="2206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75" name="Line 272"/>
          <p:cNvSpPr>
            <a:spLocks noChangeShapeType="1"/>
          </p:cNvSpPr>
          <p:nvPr/>
        </p:nvSpPr>
        <p:spPr bwMode="auto">
          <a:xfrm>
            <a:off x="5227638" y="2924175"/>
            <a:ext cx="125412" cy="1968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76" name="Line 273"/>
          <p:cNvSpPr>
            <a:spLocks noChangeShapeType="1"/>
          </p:cNvSpPr>
          <p:nvPr/>
        </p:nvSpPr>
        <p:spPr bwMode="auto">
          <a:xfrm flipV="1">
            <a:off x="5238750" y="2705100"/>
            <a:ext cx="103188" cy="2190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77" name="Line 274"/>
          <p:cNvSpPr>
            <a:spLocks noChangeShapeType="1"/>
          </p:cNvSpPr>
          <p:nvPr/>
        </p:nvSpPr>
        <p:spPr bwMode="auto">
          <a:xfrm flipV="1">
            <a:off x="5341938" y="2730500"/>
            <a:ext cx="216217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78" name="Line 275"/>
          <p:cNvSpPr>
            <a:spLocks noChangeShapeType="1"/>
          </p:cNvSpPr>
          <p:nvPr/>
        </p:nvSpPr>
        <p:spPr bwMode="auto">
          <a:xfrm flipV="1">
            <a:off x="5353050" y="3106738"/>
            <a:ext cx="216217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79" name="Line 276"/>
          <p:cNvSpPr>
            <a:spLocks noChangeShapeType="1"/>
          </p:cNvSpPr>
          <p:nvPr/>
        </p:nvSpPr>
        <p:spPr bwMode="auto">
          <a:xfrm>
            <a:off x="7489825" y="2717800"/>
            <a:ext cx="128588" cy="195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80" name="Line 277"/>
          <p:cNvSpPr>
            <a:spLocks noChangeShapeType="1"/>
          </p:cNvSpPr>
          <p:nvPr/>
        </p:nvSpPr>
        <p:spPr bwMode="auto">
          <a:xfrm flipV="1">
            <a:off x="7489825" y="2900363"/>
            <a:ext cx="141288" cy="2206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81" name="Line 278"/>
          <p:cNvSpPr>
            <a:spLocks noChangeShapeType="1"/>
          </p:cNvSpPr>
          <p:nvPr/>
        </p:nvSpPr>
        <p:spPr bwMode="auto">
          <a:xfrm>
            <a:off x="7643813" y="2913063"/>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7382" name="Group 279"/>
          <p:cNvGrpSpPr/>
          <p:nvPr/>
        </p:nvGrpSpPr>
        <p:grpSpPr bwMode="auto">
          <a:xfrm>
            <a:off x="7910513" y="2782888"/>
            <a:ext cx="331787" cy="249237"/>
            <a:chOff x="7500" y="9890"/>
            <a:chExt cx="260" cy="193"/>
          </a:xfrm>
        </p:grpSpPr>
        <p:sp>
          <p:nvSpPr>
            <p:cNvPr id="97462" name="AutoShape 280"/>
            <p:cNvSpPr>
              <a:spLocks noChangeArrowheads="1"/>
            </p:cNvSpPr>
            <p:nvPr/>
          </p:nvSpPr>
          <p:spPr bwMode="auto">
            <a:xfrm>
              <a:off x="7530" y="9890"/>
              <a:ext cx="230" cy="83"/>
            </a:xfrm>
            <a:prstGeom prst="curvedDownArrow">
              <a:avLst>
                <a:gd name="adj1" fmla="val 8878"/>
                <a:gd name="adj2" fmla="val 57064"/>
                <a:gd name="adj3" fmla="val 48194"/>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sp>
          <p:nvSpPr>
            <p:cNvPr id="97463" name="AutoShape 281"/>
            <p:cNvSpPr>
              <a:spLocks noChangeArrowheads="1"/>
            </p:cNvSpPr>
            <p:nvPr/>
          </p:nvSpPr>
          <p:spPr bwMode="auto">
            <a:xfrm flipH="1">
              <a:off x="7500" y="10000"/>
              <a:ext cx="230" cy="83"/>
            </a:xfrm>
            <a:prstGeom prst="curvedUpArrow">
              <a:avLst>
                <a:gd name="adj1" fmla="val 9237"/>
                <a:gd name="adj2" fmla="val 64659"/>
                <a:gd name="adj3" fmla="val 33333"/>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grpSp>
      <p:sp>
        <p:nvSpPr>
          <p:cNvPr id="97383" name="Line 282"/>
          <p:cNvSpPr>
            <a:spLocks noChangeShapeType="1"/>
          </p:cNvSpPr>
          <p:nvPr/>
        </p:nvSpPr>
        <p:spPr bwMode="auto">
          <a:xfrm>
            <a:off x="8355013" y="2924175"/>
            <a:ext cx="2682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84" name="Text Box 283"/>
          <p:cNvSpPr txBox="1">
            <a:spLocks noChangeArrowheads="1"/>
          </p:cNvSpPr>
          <p:nvPr/>
        </p:nvSpPr>
        <p:spPr bwMode="auto">
          <a:xfrm>
            <a:off x="1614488" y="2797175"/>
            <a:ext cx="1131887"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ADDRESS</a:t>
            </a:r>
            <a:endParaRPr kumimoji="0" lang="en-US" altLang="zh-CN" sz="1600">
              <a:ea typeface="宋体" panose="02010600030101010101" pitchFamily="2" charset="-122"/>
            </a:endParaRPr>
          </a:p>
        </p:txBody>
      </p:sp>
      <p:sp>
        <p:nvSpPr>
          <p:cNvPr id="97385" name="Text Box 284"/>
          <p:cNvSpPr txBox="1">
            <a:spLocks noChangeArrowheads="1"/>
          </p:cNvSpPr>
          <p:nvPr/>
        </p:nvSpPr>
        <p:spPr bwMode="auto">
          <a:xfrm>
            <a:off x="4191000" y="2798763"/>
            <a:ext cx="87947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DATA2</a:t>
            </a:r>
            <a:endParaRPr kumimoji="0" lang="en-US" altLang="zh-CN" sz="1600">
              <a:ea typeface="宋体" panose="02010600030101010101" pitchFamily="2" charset="-122"/>
            </a:endParaRPr>
          </a:p>
        </p:txBody>
      </p:sp>
      <p:sp>
        <p:nvSpPr>
          <p:cNvPr id="97386" name="Text Box 285"/>
          <p:cNvSpPr txBox="1">
            <a:spLocks noChangeArrowheads="1"/>
          </p:cNvSpPr>
          <p:nvPr/>
        </p:nvSpPr>
        <p:spPr bwMode="auto">
          <a:xfrm>
            <a:off x="2936875" y="2798763"/>
            <a:ext cx="877888"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DATA1</a:t>
            </a:r>
            <a:endParaRPr kumimoji="0" lang="en-US" altLang="zh-CN" sz="1600">
              <a:ea typeface="宋体" panose="02010600030101010101" pitchFamily="2" charset="-122"/>
            </a:endParaRPr>
          </a:p>
        </p:txBody>
      </p:sp>
      <p:sp>
        <p:nvSpPr>
          <p:cNvPr id="97387" name="Text Box 286"/>
          <p:cNvSpPr txBox="1">
            <a:spLocks noChangeArrowheads="1"/>
          </p:cNvSpPr>
          <p:nvPr/>
        </p:nvSpPr>
        <p:spPr bwMode="auto">
          <a:xfrm>
            <a:off x="5791200" y="2798763"/>
            <a:ext cx="8763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DATA3</a:t>
            </a:r>
            <a:endParaRPr kumimoji="0" lang="en-US" altLang="zh-CN" sz="1600">
              <a:ea typeface="宋体" panose="02010600030101010101" pitchFamily="2" charset="-122"/>
            </a:endParaRPr>
          </a:p>
        </p:txBody>
      </p:sp>
      <p:sp>
        <p:nvSpPr>
          <p:cNvPr id="97388" name="Line 287"/>
          <p:cNvSpPr>
            <a:spLocks noChangeShapeType="1"/>
          </p:cNvSpPr>
          <p:nvPr/>
        </p:nvSpPr>
        <p:spPr bwMode="auto">
          <a:xfrm flipV="1">
            <a:off x="1768475" y="3740150"/>
            <a:ext cx="952500" cy="142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89" name="Line 288"/>
          <p:cNvSpPr>
            <a:spLocks noChangeShapeType="1"/>
          </p:cNvSpPr>
          <p:nvPr/>
        </p:nvSpPr>
        <p:spPr bwMode="auto">
          <a:xfrm flipV="1">
            <a:off x="1779588" y="3363913"/>
            <a:ext cx="954087" cy="1428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90" name="Line 289"/>
          <p:cNvSpPr>
            <a:spLocks noChangeShapeType="1"/>
          </p:cNvSpPr>
          <p:nvPr/>
        </p:nvSpPr>
        <p:spPr bwMode="auto">
          <a:xfrm>
            <a:off x="2720975" y="3363913"/>
            <a:ext cx="128588" cy="1968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91" name="Line 290"/>
          <p:cNvSpPr>
            <a:spLocks noChangeShapeType="1"/>
          </p:cNvSpPr>
          <p:nvPr/>
        </p:nvSpPr>
        <p:spPr bwMode="auto">
          <a:xfrm flipV="1">
            <a:off x="2720975" y="3546475"/>
            <a:ext cx="139700" cy="2206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92" name="Text Box 291"/>
          <p:cNvSpPr txBox="1">
            <a:spLocks noChangeArrowheads="1"/>
          </p:cNvSpPr>
          <p:nvPr/>
        </p:nvSpPr>
        <p:spPr bwMode="auto">
          <a:xfrm>
            <a:off x="1603375" y="3482975"/>
            <a:ext cx="11303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BUSCMD</a:t>
            </a:r>
            <a:endParaRPr kumimoji="0" lang="en-US" altLang="zh-CN" sz="1600">
              <a:ea typeface="宋体" panose="02010600030101010101" pitchFamily="2" charset="-122"/>
            </a:endParaRPr>
          </a:p>
        </p:txBody>
      </p:sp>
      <p:sp>
        <p:nvSpPr>
          <p:cNvPr id="97393" name="Line 292"/>
          <p:cNvSpPr>
            <a:spLocks noChangeShapeType="1"/>
          </p:cNvSpPr>
          <p:nvPr/>
        </p:nvSpPr>
        <p:spPr bwMode="auto">
          <a:xfrm>
            <a:off x="2860675" y="3571875"/>
            <a:ext cx="128588" cy="195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94" name="Line 293"/>
          <p:cNvSpPr>
            <a:spLocks noChangeShapeType="1"/>
          </p:cNvSpPr>
          <p:nvPr/>
        </p:nvSpPr>
        <p:spPr bwMode="auto">
          <a:xfrm flipV="1">
            <a:off x="2874963" y="3352800"/>
            <a:ext cx="101600" cy="2190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95" name="Line 294"/>
          <p:cNvSpPr>
            <a:spLocks noChangeShapeType="1"/>
          </p:cNvSpPr>
          <p:nvPr/>
        </p:nvSpPr>
        <p:spPr bwMode="auto">
          <a:xfrm flipV="1">
            <a:off x="4629150" y="3378200"/>
            <a:ext cx="2849563"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96" name="Line 295"/>
          <p:cNvSpPr>
            <a:spLocks noChangeShapeType="1"/>
          </p:cNvSpPr>
          <p:nvPr/>
        </p:nvSpPr>
        <p:spPr bwMode="auto">
          <a:xfrm flipV="1">
            <a:off x="4654550" y="3754438"/>
            <a:ext cx="2824163"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97" name="Line 296"/>
          <p:cNvSpPr>
            <a:spLocks noChangeShapeType="1"/>
          </p:cNvSpPr>
          <p:nvPr/>
        </p:nvSpPr>
        <p:spPr bwMode="auto">
          <a:xfrm>
            <a:off x="7478713" y="3363913"/>
            <a:ext cx="127000" cy="1968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98" name="Line 297"/>
          <p:cNvSpPr>
            <a:spLocks noChangeShapeType="1"/>
          </p:cNvSpPr>
          <p:nvPr/>
        </p:nvSpPr>
        <p:spPr bwMode="auto">
          <a:xfrm flipV="1">
            <a:off x="7478713" y="3546475"/>
            <a:ext cx="139700" cy="2206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399" name="Line 298"/>
          <p:cNvSpPr>
            <a:spLocks noChangeShapeType="1"/>
          </p:cNvSpPr>
          <p:nvPr/>
        </p:nvSpPr>
        <p:spPr bwMode="auto">
          <a:xfrm>
            <a:off x="7631113" y="3560763"/>
            <a:ext cx="2286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7400" name="Group 299"/>
          <p:cNvGrpSpPr/>
          <p:nvPr/>
        </p:nvGrpSpPr>
        <p:grpSpPr bwMode="auto">
          <a:xfrm>
            <a:off x="7897813" y="3430588"/>
            <a:ext cx="330200" cy="249237"/>
            <a:chOff x="7500" y="9890"/>
            <a:chExt cx="260" cy="193"/>
          </a:xfrm>
        </p:grpSpPr>
        <p:sp>
          <p:nvSpPr>
            <p:cNvPr id="97460" name="AutoShape 300"/>
            <p:cNvSpPr>
              <a:spLocks noChangeArrowheads="1"/>
            </p:cNvSpPr>
            <p:nvPr/>
          </p:nvSpPr>
          <p:spPr bwMode="auto">
            <a:xfrm>
              <a:off x="7530" y="9890"/>
              <a:ext cx="230" cy="83"/>
            </a:xfrm>
            <a:prstGeom prst="curvedDownArrow">
              <a:avLst>
                <a:gd name="adj1" fmla="val 8878"/>
                <a:gd name="adj2" fmla="val 57064"/>
                <a:gd name="adj3" fmla="val 48194"/>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sp>
          <p:nvSpPr>
            <p:cNvPr id="97461" name="AutoShape 301"/>
            <p:cNvSpPr>
              <a:spLocks noChangeArrowheads="1"/>
            </p:cNvSpPr>
            <p:nvPr/>
          </p:nvSpPr>
          <p:spPr bwMode="auto">
            <a:xfrm flipH="1">
              <a:off x="7500" y="10000"/>
              <a:ext cx="230" cy="83"/>
            </a:xfrm>
            <a:prstGeom prst="curvedUpArrow">
              <a:avLst>
                <a:gd name="adj1" fmla="val 9237"/>
                <a:gd name="adj2" fmla="val 64659"/>
                <a:gd name="adj3" fmla="val 33333"/>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grpSp>
      <p:sp>
        <p:nvSpPr>
          <p:cNvPr id="97401" name="Line 302"/>
          <p:cNvSpPr>
            <a:spLocks noChangeShapeType="1"/>
          </p:cNvSpPr>
          <p:nvPr/>
        </p:nvSpPr>
        <p:spPr bwMode="auto">
          <a:xfrm>
            <a:off x="8342313" y="3571875"/>
            <a:ext cx="2682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02" name="Line 303"/>
          <p:cNvSpPr>
            <a:spLocks noChangeShapeType="1"/>
          </p:cNvSpPr>
          <p:nvPr/>
        </p:nvSpPr>
        <p:spPr bwMode="auto">
          <a:xfrm>
            <a:off x="2060575" y="4090988"/>
            <a:ext cx="2667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7403" name="Group 304"/>
          <p:cNvGrpSpPr/>
          <p:nvPr/>
        </p:nvGrpSpPr>
        <p:grpSpPr bwMode="auto">
          <a:xfrm>
            <a:off x="2428875" y="3935413"/>
            <a:ext cx="330200" cy="249237"/>
            <a:chOff x="7500" y="9890"/>
            <a:chExt cx="260" cy="193"/>
          </a:xfrm>
        </p:grpSpPr>
        <p:sp>
          <p:nvSpPr>
            <p:cNvPr id="97458" name="AutoShape 305"/>
            <p:cNvSpPr>
              <a:spLocks noChangeArrowheads="1"/>
            </p:cNvSpPr>
            <p:nvPr/>
          </p:nvSpPr>
          <p:spPr bwMode="auto">
            <a:xfrm>
              <a:off x="7530" y="9890"/>
              <a:ext cx="230" cy="83"/>
            </a:xfrm>
            <a:prstGeom prst="curvedDownArrow">
              <a:avLst>
                <a:gd name="adj1" fmla="val 8878"/>
                <a:gd name="adj2" fmla="val 57064"/>
                <a:gd name="adj3" fmla="val 48194"/>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sp>
          <p:nvSpPr>
            <p:cNvPr id="97459" name="AutoShape 306"/>
            <p:cNvSpPr>
              <a:spLocks noChangeArrowheads="1"/>
            </p:cNvSpPr>
            <p:nvPr/>
          </p:nvSpPr>
          <p:spPr bwMode="auto">
            <a:xfrm flipH="1">
              <a:off x="7500" y="10000"/>
              <a:ext cx="230" cy="83"/>
            </a:xfrm>
            <a:prstGeom prst="curvedUpArrow">
              <a:avLst>
                <a:gd name="adj1" fmla="val 9237"/>
                <a:gd name="adj2" fmla="val 64659"/>
                <a:gd name="adj3" fmla="val 33333"/>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grpSp>
      <p:sp>
        <p:nvSpPr>
          <p:cNvPr id="97404" name="Line 307"/>
          <p:cNvSpPr>
            <a:spLocks noChangeShapeType="1"/>
          </p:cNvSpPr>
          <p:nvPr/>
        </p:nvSpPr>
        <p:spPr bwMode="auto">
          <a:xfrm>
            <a:off x="2809875" y="4076700"/>
            <a:ext cx="2667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05" name="Line 308"/>
          <p:cNvSpPr>
            <a:spLocks noChangeShapeType="1"/>
          </p:cNvSpPr>
          <p:nvPr/>
        </p:nvSpPr>
        <p:spPr bwMode="auto">
          <a:xfrm>
            <a:off x="3065463" y="4076700"/>
            <a:ext cx="190500" cy="2857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06" name="Line 309"/>
          <p:cNvSpPr>
            <a:spLocks noChangeShapeType="1"/>
          </p:cNvSpPr>
          <p:nvPr/>
        </p:nvSpPr>
        <p:spPr bwMode="auto">
          <a:xfrm>
            <a:off x="3255963" y="4349750"/>
            <a:ext cx="12842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07" name="Line 310"/>
          <p:cNvSpPr>
            <a:spLocks noChangeShapeType="1"/>
          </p:cNvSpPr>
          <p:nvPr/>
        </p:nvSpPr>
        <p:spPr bwMode="auto">
          <a:xfrm flipV="1">
            <a:off x="5494338" y="4362450"/>
            <a:ext cx="222567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08" name="Line 311"/>
          <p:cNvSpPr>
            <a:spLocks noChangeShapeType="1"/>
          </p:cNvSpPr>
          <p:nvPr/>
        </p:nvSpPr>
        <p:spPr bwMode="auto">
          <a:xfrm flipV="1">
            <a:off x="7705725" y="4051300"/>
            <a:ext cx="179388" cy="3111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09" name="Line 312"/>
          <p:cNvSpPr>
            <a:spLocks noChangeShapeType="1"/>
          </p:cNvSpPr>
          <p:nvPr/>
        </p:nvSpPr>
        <p:spPr bwMode="auto">
          <a:xfrm>
            <a:off x="7872413" y="4065588"/>
            <a:ext cx="6365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10" name="Line 313"/>
          <p:cNvSpPr>
            <a:spLocks noChangeShapeType="1"/>
          </p:cNvSpPr>
          <p:nvPr/>
        </p:nvSpPr>
        <p:spPr bwMode="auto">
          <a:xfrm>
            <a:off x="2071688" y="4568825"/>
            <a:ext cx="2682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7411" name="Group 314"/>
          <p:cNvGrpSpPr/>
          <p:nvPr/>
        </p:nvGrpSpPr>
        <p:grpSpPr bwMode="auto">
          <a:xfrm>
            <a:off x="2428875" y="4478338"/>
            <a:ext cx="330200" cy="250825"/>
            <a:chOff x="7500" y="9890"/>
            <a:chExt cx="260" cy="193"/>
          </a:xfrm>
        </p:grpSpPr>
        <p:sp>
          <p:nvSpPr>
            <p:cNvPr id="97456" name="AutoShape 315"/>
            <p:cNvSpPr>
              <a:spLocks noChangeArrowheads="1"/>
            </p:cNvSpPr>
            <p:nvPr/>
          </p:nvSpPr>
          <p:spPr bwMode="auto">
            <a:xfrm>
              <a:off x="7530" y="9890"/>
              <a:ext cx="230" cy="83"/>
            </a:xfrm>
            <a:prstGeom prst="curvedDownArrow">
              <a:avLst>
                <a:gd name="adj1" fmla="val 8878"/>
                <a:gd name="adj2" fmla="val 57064"/>
                <a:gd name="adj3" fmla="val 48194"/>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sp>
          <p:nvSpPr>
            <p:cNvPr id="97457" name="AutoShape 316"/>
            <p:cNvSpPr>
              <a:spLocks noChangeArrowheads="1"/>
            </p:cNvSpPr>
            <p:nvPr/>
          </p:nvSpPr>
          <p:spPr bwMode="auto">
            <a:xfrm flipH="1">
              <a:off x="7500" y="10000"/>
              <a:ext cx="230" cy="83"/>
            </a:xfrm>
            <a:prstGeom prst="curvedUpArrow">
              <a:avLst>
                <a:gd name="adj1" fmla="val 9237"/>
                <a:gd name="adj2" fmla="val 64659"/>
                <a:gd name="adj3" fmla="val 33333"/>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grpSp>
      <p:sp>
        <p:nvSpPr>
          <p:cNvPr id="97412" name="Line 317"/>
          <p:cNvSpPr>
            <a:spLocks noChangeShapeType="1"/>
          </p:cNvSpPr>
          <p:nvPr/>
        </p:nvSpPr>
        <p:spPr bwMode="auto">
          <a:xfrm flipV="1">
            <a:off x="2809875" y="4579938"/>
            <a:ext cx="290513" cy="158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13" name="Line 318"/>
          <p:cNvSpPr>
            <a:spLocks noChangeShapeType="1"/>
          </p:cNvSpPr>
          <p:nvPr/>
        </p:nvSpPr>
        <p:spPr bwMode="auto">
          <a:xfrm>
            <a:off x="3106738" y="4581525"/>
            <a:ext cx="188912" cy="2841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14" name="Line 319"/>
          <p:cNvSpPr>
            <a:spLocks noChangeShapeType="1"/>
          </p:cNvSpPr>
          <p:nvPr/>
        </p:nvSpPr>
        <p:spPr bwMode="auto">
          <a:xfrm>
            <a:off x="3294063" y="4852988"/>
            <a:ext cx="1322387" cy="1428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15" name="Line 320"/>
          <p:cNvSpPr>
            <a:spLocks noChangeShapeType="1"/>
          </p:cNvSpPr>
          <p:nvPr/>
        </p:nvSpPr>
        <p:spPr bwMode="auto">
          <a:xfrm flipV="1">
            <a:off x="4616450" y="4543425"/>
            <a:ext cx="177800" cy="3111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16" name="Line 321"/>
          <p:cNvSpPr>
            <a:spLocks noChangeShapeType="1"/>
          </p:cNvSpPr>
          <p:nvPr/>
        </p:nvSpPr>
        <p:spPr bwMode="auto">
          <a:xfrm>
            <a:off x="4781550" y="4557713"/>
            <a:ext cx="208597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17" name="Line 322"/>
          <p:cNvSpPr>
            <a:spLocks noChangeShapeType="1"/>
          </p:cNvSpPr>
          <p:nvPr/>
        </p:nvSpPr>
        <p:spPr bwMode="auto">
          <a:xfrm>
            <a:off x="6867525" y="4530725"/>
            <a:ext cx="215900" cy="3492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18" name="Line 323"/>
          <p:cNvSpPr>
            <a:spLocks noChangeShapeType="1"/>
          </p:cNvSpPr>
          <p:nvPr/>
        </p:nvSpPr>
        <p:spPr bwMode="auto">
          <a:xfrm>
            <a:off x="7096125" y="4854575"/>
            <a:ext cx="584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19" name="Line 324"/>
          <p:cNvSpPr>
            <a:spLocks noChangeShapeType="1"/>
          </p:cNvSpPr>
          <p:nvPr/>
        </p:nvSpPr>
        <p:spPr bwMode="auto">
          <a:xfrm flipV="1">
            <a:off x="7680325" y="4557713"/>
            <a:ext cx="179388" cy="3095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20" name="Line 325"/>
          <p:cNvSpPr>
            <a:spLocks noChangeShapeType="1"/>
          </p:cNvSpPr>
          <p:nvPr/>
        </p:nvSpPr>
        <p:spPr bwMode="auto">
          <a:xfrm>
            <a:off x="7847013" y="4568825"/>
            <a:ext cx="6365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21" name="Line 326"/>
          <p:cNvSpPr>
            <a:spLocks noChangeShapeType="1"/>
          </p:cNvSpPr>
          <p:nvPr/>
        </p:nvSpPr>
        <p:spPr bwMode="auto">
          <a:xfrm>
            <a:off x="2085975" y="5126038"/>
            <a:ext cx="2667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7422" name="Group 327"/>
          <p:cNvGrpSpPr/>
          <p:nvPr/>
        </p:nvGrpSpPr>
        <p:grpSpPr bwMode="auto">
          <a:xfrm>
            <a:off x="2441575" y="5035550"/>
            <a:ext cx="331788" cy="249238"/>
            <a:chOff x="7500" y="9890"/>
            <a:chExt cx="260" cy="193"/>
          </a:xfrm>
        </p:grpSpPr>
        <p:sp>
          <p:nvSpPr>
            <p:cNvPr id="97454" name="AutoShape 328"/>
            <p:cNvSpPr>
              <a:spLocks noChangeArrowheads="1"/>
            </p:cNvSpPr>
            <p:nvPr/>
          </p:nvSpPr>
          <p:spPr bwMode="auto">
            <a:xfrm>
              <a:off x="7530" y="9890"/>
              <a:ext cx="230" cy="83"/>
            </a:xfrm>
            <a:prstGeom prst="curvedDownArrow">
              <a:avLst>
                <a:gd name="adj1" fmla="val 8878"/>
                <a:gd name="adj2" fmla="val 57064"/>
                <a:gd name="adj3" fmla="val 48194"/>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sp>
          <p:nvSpPr>
            <p:cNvPr id="97455" name="AutoShape 329"/>
            <p:cNvSpPr>
              <a:spLocks noChangeArrowheads="1"/>
            </p:cNvSpPr>
            <p:nvPr/>
          </p:nvSpPr>
          <p:spPr bwMode="auto">
            <a:xfrm flipH="1">
              <a:off x="7500" y="10000"/>
              <a:ext cx="230" cy="83"/>
            </a:xfrm>
            <a:prstGeom prst="curvedUpArrow">
              <a:avLst>
                <a:gd name="adj1" fmla="val 9237"/>
                <a:gd name="adj2" fmla="val 64659"/>
                <a:gd name="adj3" fmla="val 33333"/>
              </a:avLst>
            </a:prstGeom>
            <a:solidFill>
              <a:srgbClr val="FFFFFF"/>
            </a:solidFill>
            <a:ln w="28575">
              <a:solidFill>
                <a:srgbClr val="000000"/>
              </a:solidFill>
              <a:miter lim="800000"/>
            </a:ln>
          </p:spPr>
          <p:txBody>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endParaRPr lang="zh-CN" altLang="en-US" b="0">
                <a:ea typeface="黑体" panose="02010609060101010101" pitchFamily="49" charset="-122"/>
              </a:endParaRPr>
            </a:p>
          </p:txBody>
        </p:sp>
      </p:grpSp>
      <p:sp>
        <p:nvSpPr>
          <p:cNvPr id="97423" name="Line 330"/>
          <p:cNvSpPr>
            <a:spLocks noChangeShapeType="1"/>
          </p:cNvSpPr>
          <p:nvPr/>
        </p:nvSpPr>
        <p:spPr bwMode="auto">
          <a:xfrm flipV="1">
            <a:off x="2824163" y="5151438"/>
            <a:ext cx="1270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24" name="Line 331"/>
          <p:cNvSpPr>
            <a:spLocks noChangeShapeType="1"/>
          </p:cNvSpPr>
          <p:nvPr/>
        </p:nvSpPr>
        <p:spPr bwMode="auto">
          <a:xfrm flipV="1">
            <a:off x="3101975" y="5437188"/>
            <a:ext cx="4554538"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25" name="Line 332"/>
          <p:cNvSpPr>
            <a:spLocks noChangeShapeType="1"/>
          </p:cNvSpPr>
          <p:nvPr/>
        </p:nvSpPr>
        <p:spPr bwMode="auto">
          <a:xfrm>
            <a:off x="2925763" y="5165725"/>
            <a:ext cx="190500" cy="2841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26" name="Line 333"/>
          <p:cNvSpPr>
            <a:spLocks noChangeShapeType="1"/>
          </p:cNvSpPr>
          <p:nvPr/>
        </p:nvSpPr>
        <p:spPr bwMode="auto">
          <a:xfrm flipV="1">
            <a:off x="7631113" y="5126038"/>
            <a:ext cx="177800" cy="3111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27" name="Line 334"/>
          <p:cNvSpPr>
            <a:spLocks noChangeShapeType="1"/>
          </p:cNvSpPr>
          <p:nvPr/>
        </p:nvSpPr>
        <p:spPr bwMode="auto">
          <a:xfrm>
            <a:off x="7796213" y="5138738"/>
            <a:ext cx="6365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28" name="Line 335"/>
          <p:cNvSpPr>
            <a:spLocks noChangeShapeType="1"/>
          </p:cNvSpPr>
          <p:nvPr/>
        </p:nvSpPr>
        <p:spPr bwMode="auto">
          <a:xfrm>
            <a:off x="3152775" y="5630863"/>
            <a:ext cx="676275" cy="0"/>
          </a:xfrm>
          <a:prstGeom prst="line">
            <a:avLst/>
          </a:prstGeom>
          <a:noFill/>
          <a:ln w="2857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97429" name="Text Box 336"/>
          <p:cNvSpPr txBox="1">
            <a:spLocks noChangeArrowheads="1"/>
          </p:cNvSpPr>
          <p:nvPr/>
        </p:nvSpPr>
        <p:spPr bwMode="auto">
          <a:xfrm>
            <a:off x="2225675" y="5692775"/>
            <a:ext cx="8143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地址期</a:t>
            </a:r>
            <a:endParaRPr kumimoji="0" lang="zh-CN" altLang="en-US" sz="1600">
              <a:ea typeface="宋体" panose="02010600030101010101" pitchFamily="2" charset="-122"/>
            </a:endParaRPr>
          </a:p>
        </p:txBody>
      </p:sp>
      <p:sp>
        <p:nvSpPr>
          <p:cNvPr id="97430" name="Line 337"/>
          <p:cNvSpPr>
            <a:spLocks noChangeShapeType="1"/>
          </p:cNvSpPr>
          <p:nvPr/>
        </p:nvSpPr>
        <p:spPr bwMode="auto">
          <a:xfrm>
            <a:off x="2276475" y="5618163"/>
            <a:ext cx="674688" cy="0"/>
          </a:xfrm>
          <a:prstGeom prst="line">
            <a:avLst/>
          </a:prstGeom>
          <a:noFill/>
          <a:ln w="2857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97431" name="Line 338"/>
          <p:cNvSpPr>
            <a:spLocks noChangeShapeType="1"/>
          </p:cNvSpPr>
          <p:nvPr/>
        </p:nvSpPr>
        <p:spPr bwMode="auto">
          <a:xfrm>
            <a:off x="3930650" y="5643563"/>
            <a:ext cx="635000" cy="0"/>
          </a:xfrm>
          <a:prstGeom prst="line">
            <a:avLst/>
          </a:prstGeom>
          <a:noFill/>
          <a:ln w="2857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97432" name="Line 339"/>
          <p:cNvSpPr>
            <a:spLocks noChangeShapeType="1"/>
          </p:cNvSpPr>
          <p:nvPr/>
        </p:nvSpPr>
        <p:spPr bwMode="auto">
          <a:xfrm>
            <a:off x="4705350" y="5618163"/>
            <a:ext cx="3116263" cy="0"/>
          </a:xfrm>
          <a:prstGeom prst="line">
            <a:avLst/>
          </a:prstGeom>
          <a:noFill/>
          <a:ln w="2857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97433" name="Text Box 340"/>
          <p:cNvSpPr txBox="1">
            <a:spLocks noChangeArrowheads="1"/>
          </p:cNvSpPr>
          <p:nvPr/>
        </p:nvSpPr>
        <p:spPr bwMode="auto">
          <a:xfrm>
            <a:off x="3141663" y="5695950"/>
            <a:ext cx="8143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数据期</a:t>
            </a:r>
            <a:endParaRPr kumimoji="0" lang="zh-CN" altLang="en-US" sz="1600">
              <a:ea typeface="宋体" panose="02010600030101010101" pitchFamily="2" charset="-122"/>
            </a:endParaRPr>
          </a:p>
        </p:txBody>
      </p:sp>
      <p:sp>
        <p:nvSpPr>
          <p:cNvPr id="97434" name="Text Box 341"/>
          <p:cNvSpPr txBox="1">
            <a:spLocks noChangeArrowheads="1"/>
          </p:cNvSpPr>
          <p:nvPr/>
        </p:nvSpPr>
        <p:spPr bwMode="auto">
          <a:xfrm>
            <a:off x="3956050" y="5694363"/>
            <a:ext cx="8128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数据期</a:t>
            </a:r>
            <a:endParaRPr kumimoji="0" lang="zh-CN" altLang="en-US" sz="1600">
              <a:ea typeface="宋体" panose="02010600030101010101" pitchFamily="2" charset="-122"/>
            </a:endParaRPr>
          </a:p>
        </p:txBody>
      </p:sp>
      <p:sp>
        <p:nvSpPr>
          <p:cNvPr id="97435" name="Text Box 342"/>
          <p:cNvSpPr txBox="1">
            <a:spLocks noChangeArrowheads="1"/>
          </p:cNvSpPr>
          <p:nvPr/>
        </p:nvSpPr>
        <p:spPr bwMode="auto">
          <a:xfrm>
            <a:off x="5710238" y="5692775"/>
            <a:ext cx="814387"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zh-CN" altLang="en-US" sz="1600">
                <a:ea typeface="宋体" panose="02010600030101010101" pitchFamily="2" charset="-122"/>
              </a:rPr>
              <a:t>数据期</a:t>
            </a:r>
            <a:endParaRPr kumimoji="0" lang="zh-CN" altLang="en-US" sz="1600">
              <a:ea typeface="宋体" panose="02010600030101010101" pitchFamily="2" charset="-122"/>
            </a:endParaRPr>
          </a:p>
        </p:txBody>
      </p:sp>
      <p:sp>
        <p:nvSpPr>
          <p:cNvPr id="97436" name="Text Box 343"/>
          <p:cNvSpPr txBox="1">
            <a:spLocks noChangeArrowheads="1"/>
          </p:cNvSpPr>
          <p:nvPr/>
        </p:nvSpPr>
        <p:spPr bwMode="auto">
          <a:xfrm>
            <a:off x="3027363" y="3482975"/>
            <a:ext cx="585787"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BEs1</a:t>
            </a:r>
            <a:endParaRPr kumimoji="0" lang="en-US" altLang="zh-CN" sz="1600">
              <a:ea typeface="宋体" panose="02010600030101010101" pitchFamily="2" charset="-122"/>
            </a:endParaRPr>
          </a:p>
        </p:txBody>
      </p:sp>
      <p:sp>
        <p:nvSpPr>
          <p:cNvPr id="97437" name="Line 344"/>
          <p:cNvSpPr>
            <a:spLocks noChangeShapeType="1"/>
          </p:cNvSpPr>
          <p:nvPr/>
        </p:nvSpPr>
        <p:spPr bwMode="auto">
          <a:xfrm>
            <a:off x="3763963" y="3571875"/>
            <a:ext cx="127000" cy="195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38" name="Line 345"/>
          <p:cNvSpPr>
            <a:spLocks noChangeShapeType="1"/>
          </p:cNvSpPr>
          <p:nvPr/>
        </p:nvSpPr>
        <p:spPr bwMode="auto">
          <a:xfrm flipV="1">
            <a:off x="3776663" y="3352800"/>
            <a:ext cx="103187" cy="2190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39" name="Line 346"/>
          <p:cNvSpPr>
            <a:spLocks noChangeShapeType="1"/>
          </p:cNvSpPr>
          <p:nvPr/>
        </p:nvSpPr>
        <p:spPr bwMode="auto">
          <a:xfrm flipV="1">
            <a:off x="3001963" y="3378200"/>
            <a:ext cx="6365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40" name="Line 347"/>
          <p:cNvSpPr>
            <a:spLocks noChangeShapeType="1"/>
          </p:cNvSpPr>
          <p:nvPr/>
        </p:nvSpPr>
        <p:spPr bwMode="auto">
          <a:xfrm flipV="1">
            <a:off x="2976563" y="3754438"/>
            <a:ext cx="6619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41" name="Line 348"/>
          <p:cNvSpPr>
            <a:spLocks noChangeShapeType="1"/>
          </p:cNvSpPr>
          <p:nvPr/>
        </p:nvSpPr>
        <p:spPr bwMode="auto">
          <a:xfrm>
            <a:off x="3638550" y="3363913"/>
            <a:ext cx="125413" cy="1968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42" name="Line 349"/>
          <p:cNvSpPr>
            <a:spLocks noChangeShapeType="1"/>
          </p:cNvSpPr>
          <p:nvPr/>
        </p:nvSpPr>
        <p:spPr bwMode="auto">
          <a:xfrm flipV="1">
            <a:off x="3638550" y="3546475"/>
            <a:ext cx="138113" cy="2206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43" name="Text Box 350"/>
          <p:cNvSpPr txBox="1">
            <a:spLocks noChangeArrowheads="1"/>
          </p:cNvSpPr>
          <p:nvPr/>
        </p:nvSpPr>
        <p:spPr bwMode="auto">
          <a:xfrm>
            <a:off x="3846513" y="3484563"/>
            <a:ext cx="649287"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BEs2</a:t>
            </a:r>
            <a:endParaRPr kumimoji="0" lang="en-US" altLang="zh-CN" sz="1600">
              <a:ea typeface="宋体" panose="02010600030101010101" pitchFamily="2" charset="-122"/>
            </a:endParaRPr>
          </a:p>
        </p:txBody>
      </p:sp>
      <p:sp>
        <p:nvSpPr>
          <p:cNvPr id="97444" name="Line 351"/>
          <p:cNvSpPr>
            <a:spLocks noChangeShapeType="1"/>
          </p:cNvSpPr>
          <p:nvPr/>
        </p:nvSpPr>
        <p:spPr bwMode="auto">
          <a:xfrm>
            <a:off x="4514850" y="3571875"/>
            <a:ext cx="128588" cy="1952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45" name="Line 352"/>
          <p:cNvSpPr>
            <a:spLocks noChangeShapeType="1"/>
          </p:cNvSpPr>
          <p:nvPr/>
        </p:nvSpPr>
        <p:spPr bwMode="auto">
          <a:xfrm flipV="1">
            <a:off x="4527550" y="3352800"/>
            <a:ext cx="101600" cy="21907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46" name="Line 353"/>
          <p:cNvSpPr>
            <a:spLocks noChangeShapeType="1"/>
          </p:cNvSpPr>
          <p:nvPr/>
        </p:nvSpPr>
        <p:spPr bwMode="auto">
          <a:xfrm flipV="1">
            <a:off x="3890963" y="3378200"/>
            <a:ext cx="49688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47" name="Line 354"/>
          <p:cNvSpPr>
            <a:spLocks noChangeShapeType="1"/>
          </p:cNvSpPr>
          <p:nvPr/>
        </p:nvSpPr>
        <p:spPr bwMode="auto">
          <a:xfrm flipV="1">
            <a:off x="3879850" y="3754438"/>
            <a:ext cx="5080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48" name="Line 355"/>
          <p:cNvSpPr>
            <a:spLocks noChangeShapeType="1"/>
          </p:cNvSpPr>
          <p:nvPr/>
        </p:nvSpPr>
        <p:spPr bwMode="auto">
          <a:xfrm>
            <a:off x="4387850" y="3363913"/>
            <a:ext cx="127000" cy="1968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49" name="Line 356"/>
          <p:cNvSpPr>
            <a:spLocks noChangeShapeType="1"/>
          </p:cNvSpPr>
          <p:nvPr/>
        </p:nvSpPr>
        <p:spPr bwMode="auto">
          <a:xfrm flipV="1">
            <a:off x="4387850" y="3546475"/>
            <a:ext cx="139700" cy="220663"/>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50" name="Text Box 357"/>
          <p:cNvSpPr txBox="1">
            <a:spLocks noChangeArrowheads="1"/>
          </p:cNvSpPr>
          <p:nvPr/>
        </p:nvSpPr>
        <p:spPr bwMode="auto">
          <a:xfrm>
            <a:off x="4986338" y="3482975"/>
            <a:ext cx="6477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tIns="10800" rIns="18000" bIns="10800"/>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r>
              <a:rPr kumimoji="0" lang="en-US" altLang="zh-CN" sz="1600">
                <a:ea typeface="宋体" panose="02010600030101010101" pitchFamily="2" charset="-122"/>
              </a:rPr>
              <a:t>BEs3</a:t>
            </a:r>
            <a:endParaRPr kumimoji="0" lang="en-US" altLang="zh-CN" sz="1600">
              <a:ea typeface="宋体" panose="02010600030101010101" pitchFamily="2" charset="-122"/>
            </a:endParaRPr>
          </a:p>
        </p:txBody>
      </p:sp>
      <p:sp>
        <p:nvSpPr>
          <p:cNvPr id="97451" name="Line 358"/>
          <p:cNvSpPr>
            <a:spLocks noChangeShapeType="1"/>
          </p:cNvSpPr>
          <p:nvPr/>
        </p:nvSpPr>
        <p:spPr bwMode="auto">
          <a:xfrm flipV="1">
            <a:off x="4540250" y="4038600"/>
            <a:ext cx="177800" cy="3111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52" name="Line 359"/>
          <p:cNvSpPr>
            <a:spLocks noChangeShapeType="1"/>
          </p:cNvSpPr>
          <p:nvPr/>
        </p:nvSpPr>
        <p:spPr bwMode="auto">
          <a:xfrm>
            <a:off x="4705350" y="4051300"/>
            <a:ext cx="636588"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453" name="Line 360"/>
          <p:cNvSpPr>
            <a:spLocks noChangeShapeType="1"/>
          </p:cNvSpPr>
          <p:nvPr/>
        </p:nvSpPr>
        <p:spPr bwMode="auto">
          <a:xfrm>
            <a:off x="5316538" y="4065588"/>
            <a:ext cx="190500" cy="2841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pull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defRPr/>
            </a:pPr>
            <a:r>
              <a:rPr lang="zh-CN" altLang="en-US"/>
              <a:t>总线仲裁</a:t>
            </a:r>
            <a:endParaRPr lang="zh-CN" altLang="en-US"/>
          </a:p>
        </p:txBody>
      </p:sp>
      <p:sp>
        <p:nvSpPr>
          <p:cNvPr id="98307" name="Rectangle 3"/>
          <p:cNvSpPr>
            <a:spLocks noGrp="1" noChangeArrowheads="1"/>
          </p:cNvSpPr>
          <p:nvPr>
            <p:ph idx="1"/>
          </p:nvPr>
        </p:nvSpPr>
        <p:spPr/>
        <p:txBody>
          <a:bodyPr/>
          <a:lstStyle/>
          <a:p>
            <a:pPr eaLnBrk="1" hangingPunct="1"/>
            <a:r>
              <a:rPr lang="en-US" altLang="zh-CN" sz="2400"/>
              <a:t>PCI</a:t>
            </a:r>
            <a:r>
              <a:rPr lang="zh-CN" altLang="en-US" sz="2400"/>
              <a:t>总线采用集中式仲裁方式，每个</a:t>
            </a:r>
            <a:r>
              <a:rPr lang="en-US" altLang="zh-CN" sz="2400"/>
              <a:t>PCI</a:t>
            </a:r>
            <a:r>
              <a:rPr lang="zh-CN" altLang="en-US" sz="2400"/>
              <a:t>主设备都有独立的</a:t>
            </a:r>
            <a:r>
              <a:rPr lang="en-US" altLang="zh-CN" sz="2400"/>
              <a:t>REQ#(</a:t>
            </a:r>
            <a:r>
              <a:rPr lang="zh-CN" altLang="en-US" sz="2400"/>
              <a:t>总线请求</a:t>
            </a:r>
            <a:r>
              <a:rPr lang="en-US" altLang="zh-CN" sz="2400"/>
              <a:t>)</a:t>
            </a:r>
            <a:r>
              <a:rPr lang="zh-CN" altLang="en-US" sz="2400"/>
              <a:t>和</a:t>
            </a:r>
            <a:r>
              <a:rPr lang="en-US" altLang="zh-CN" sz="2400"/>
              <a:t>GNT#(</a:t>
            </a:r>
            <a:r>
              <a:rPr lang="zh-CN" altLang="en-US" sz="2400"/>
              <a:t>总线授权</a:t>
            </a:r>
            <a:r>
              <a:rPr lang="en-US" altLang="zh-CN" sz="2400"/>
              <a:t>)</a:t>
            </a:r>
            <a:r>
              <a:rPr lang="zh-CN" altLang="en-US" sz="2400"/>
              <a:t>两条信号线与中央仲裁器相连</a:t>
            </a:r>
            <a:endParaRPr lang="zh-CN" altLang="en-US" sz="2400"/>
          </a:p>
          <a:p>
            <a:pPr eaLnBrk="1" hangingPunct="1"/>
            <a:r>
              <a:rPr lang="zh-CN" altLang="en-US" sz="2400"/>
              <a:t>中央仲裁器不仅采样每个设备的</a:t>
            </a:r>
            <a:r>
              <a:rPr lang="en-US" altLang="zh-CN" sz="2400"/>
              <a:t>REQ#</a:t>
            </a:r>
            <a:r>
              <a:rPr lang="zh-CN" altLang="en-US" sz="2400"/>
              <a:t>信号线，而且采样公共的</a:t>
            </a:r>
            <a:r>
              <a:rPr lang="en-US" altLang="zh-CN" sz="2400"/>
              <a:t>FRAME#</a:t>
            </a:r>
            <a:r>
              <a:rPr lang="zh-CN" altLang="en-US" sz="2400"/>
              <a:t>和</a:t>
            </a:r>
            <a:r>
              <a:rPr lang="en-US" altLang="zh-CN" sz="2400"/>
              <a:t>IRDY#</a:t>
            </a:r>
            <a:r>
              <a:rPr lang="zh-CN" altLang="en-US" sz="2400"/>
              <a:t>信号线</a:t>
            </a:r>
            <a:endParaRPr lang="en-US" altLang="zh-CN" sz="2400"/>
          </a:p>
          <a:p>
            <a:pPr eaLnBrk="1" hangingPunct="1"/>
            <a:r>
              <a:rPr lang="zh-CN" altLang="en-US" sz="2400"/>
              <a:t>总线仲裁器一般位于桥接芯片中</a:t>
            </a:r>
            <a:endParaRPr lang="zh-CN" altLang="en-US" sz="2400"/>
          </a:p>
        </p:txBody>
      </p:sp>
      <p:pic>
        <p:nvPicPr>
          <p:cNvPr id="9830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0200" y="3451412"/>
            <a:ext cx="6337300"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1" name="Picture 6" descr="486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33800" y="1524000"/>
            <a:ext cx="5132387" cy="498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Rectangle 2"/>
          <p:cNvSpPr>
            <a:spLocks noGrp="1" noChangeArrowheads="1"/>
          </p:cNvSpPr>
          <p:nvPr>
            <p:ph type="title"/>
          </p:nvPr>
        </p:nvSpPr>
        <p:spPr/>
        <p:txBody>
          <a:bodyPr/>
          <a:lstStyle/>
          <a:p>
            <a:pPr eaLnBrk="1" hangingPunct="1">
              <a:defRPr/>
            </a:pPr>
            <a:r>
              <a:rPr lang="en-US" altLang="zh-CN"/>
              <a:t>PCI</a:t>
            </a:r>
            <a:r>
              <a:rPr lang="zh-CN" altLang="en-US"/>
              <a:t>－力不从心</a:t>
            </a:r>
            <a:endParaRPr lang="zh-CN" altLang="en-US"/>
          </a:p>
        </p:txBody>
      </p:sp>
      <p:sp>
        <p:nvSpPr>
          <p:cNvPr id="99333" name="Rectangle 4"/>
          <p:cNvSpPr>
            <a:spLocks noGrp="1" noChangeArrowheads="1"/>
          </p:cNvSpPr>
          <p:nvPr>
            <p:ph type="body" idx="1"/>
          </p:nvPr>
        </p:nvSpPr>
        <p:spPr>
          <a:xfrm>
            <a:off x="381000" y="1143000"/>
            <a:ext cx="8382000" cy="5187014"/>
          </a:xfrm>
        </p:spPr>
        <p:txBody>
          <a:bodyPr/>
          <a:lstStyle/>
          <a:p>
            <a:pPr eaLnBrk="1" hangingPunct="1"/>
            <a:r>
              <a:rPr lang="zh-CN" altLang="en-US" dirty="0"/>
              <a:t>南桥</a:t>
            </a:r>
            <a:r>
              <a:rPr lang="en-US" altLang="zh-CN" dirty="0"/>
              <a:t>/</a:t>
            </a:r>
            <a:r>
              <a:rPr lang="zh-CN" altLang="en-US" dirty="0"/>
              <a:t>北桥</a:t>
            </a:r>
            <a:endParaRPr lang="zh-CN" altLang="en-US" dirty="0"/>
          </a:p>
          <a:p>
            <a:pPr lvl="1" eaLnBrk="1" hangingPunct="1"/>
            <a:r>
              <a:rPr lang="en-US" altLang="zh-CN" dirty="0"/>
              <a:t>Intel 440</a:t>
            </a:r>
            <a:r>
              <a:rPr lang="zh-CN" altLang="en-US" dirty="0"/>
              <a:t>系列以后</a:t>
            </a:r>
            <a:endParaRPr lang="zh-CN" altLang="en-US" dirty="0"/>
          </a:p>
          <a:p>
            <a:pPr lvl="1" eaLnBrk="1" hangingPunct="1"/>
            <a:r>
              <a:rPr lang="en-US" altLang="zh-CN" dirty="0"/>
              <a:t>PCI</a:t>
            </a:r>
            <a:r>
              <a:rPr lang="zh-CN" altLang="en-US" dirty="0"/>
              <a:t>地位大大降低</a:t>
            </a:r>
            <a:endParaRPr lang="zh-CN" altLang="en-US" dirty="0"/>
          </a:p>
        </p:txBody>
      </p:sp>
    </p:spTree>
  </p:cSld>
  <p:clrMapOvr>
    <a:masterClrMapping/>
  </p:clrMapOvr>
  <p:transition spd="med">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defRPr/>
            </a:pPr>
            <a:r>
              <a:rPr lang="en-US" altLang="zh-CN" dirty="0"/>
              <a:t>PCI Express</a:t>
            </a:r>
            <a:endParaRPr lang="en-US" altLang="zh-CN" dirty="0"/>
          </a:p>
        </p:txBody>
      </p:sp>
      <p:sp>
        <p:nvSpPr>
          <p:cNvPr id="100356" name="Rectangle 3"/>
          <p:cNvSpPr>
            <a:spLocks noGrp="1" noChangeArrowheads="1"/>
          </p:cNvSpPr>
          <p:nvPr>
            <p:ph type="body" idx="1"/>
          </p:nvPr>
        </p:nvSpPr>
        <p:spPr/>
        <p:txBody>
          <a:bodyPr/>
          <a:lstStyle/>
          <a:p>
            <a:pPr eaLnBrk="1" hangingPunct="1"/>
            <a:r>
              <a:rPr lang="en-US" altLang="zh-CN"/>
              <a:t>PCI</a:t>
            </a:r>
            <a:r>
              <a:rPr lang="zh-CN" altLang="en-US"/>
              <a:t>与</a:t>
            </a:r>
            <a:r>
              <a:rPr lang="en-US" altLang="zh-CN"/>
              <a:t>PCI Express</a:t>
            </a:r>
            <a:r>
              <a:rPr lang="zh-CN" altLang="en-US"/>
              <a:t>对比</a:t>
            </a:r>
            <a:endParaRPr lang="en-US" altLang="zh-CN"/>
          </a:p>
          <a:p>
            <a:pPr eaLnBrk="1" hangingPunct="1"/>
            <a:endParaRPr lang="en-US" altLang="zh-CN"/>
          </a:p>
        </p:txBody>
      </p:sp>
      <p:pic>
        <p:nvPicPr>
          <p:cNvPr id="100357" name="Picture 5" descr="pciexp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60475" y="1695450"/>
            <a:ext cx="5427663" cy="217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8" name="Picture 7" descr="pciexp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8" y="3924300"/>
            <a:ext cx="5476875" cy="200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9" name="Text Box 8"/>
          <p:cNvSpPr txBox="1">
            <a:spLocks noChangeArrowheads="1"/>
          </p:cNvSpPr>
          <p:nvPr/>
        </p:nvSpPr>
        <p:spPr bwMode="auto">
          <a:xfrm>
            <a:off x="7175500" y="1852613"/>
            <a:ext cx="1519238"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0" tIns="41275" rIns="82550" bIns="41275">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800" b="0">
                <a:solidFill>
                  <a:srgbClr val="000000"/>
                </a:solidFill>
                <a:ea typeface="宋体" panose="02010600030101010101" pitchFamily="2" charset="-122"/>
              </a:rPr>
              <a:t>PCI</a:t>
            </a:r>
            <a:endParaRPr kumimoji="0" lang="en-US" altLang="zh-CN" sz="2800" b="0">
              <a:solidFill>
                <a:srgbClr val="000000"/>
              </a:solidFill>
              <a:ea typeface="宋体" panose="02010600030101010101" pitchFamily="2" charset="-122"/>
            </a:endParaRPr>
          </a:p>
        </p:txBody>
      </p:sp>
      <p:sp>
        <p:nvSpPr>
          <p:cNvPr id="100360" name="Text Box 9"/>
          <p:cNvSpPr txBox="1">
            <a:spLocks noChangeArrowheads="1"/>
          </p:cNvSpPr>
          <p:nvPr/>
        </p:nvSpPr>
        <p:spPr bwMode="auto">
          <a:xfrm>
            <a:off x="7277100" y="4387850"/>
            <a:ext cx="1519238"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0" tIns="41275" rIns="82550" bIns="41275">
            <a:spAutoFit/>
          </a:bodyPr>
          <a:lstStyle>
            <a:lvl1pPr>
              <a:spcBef>
                <a:spcPct val="20000"/>
              </a:spcBef>
              <a:buClr>
                <a:srgbClr val="CC3300"/>
              </a:buClr>
              <a:buFont typeface="Wingdings 2"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800" b="0">
                <a:solidFill>
                  <a:srgbClr val="000000"/>
                </a:solidFill>
                <a:ea typeface="宋体" panose="02010600030101010101" pitchFamily="2" charset="-122"/>
              </a:rPr>
              <a:t>PCI Express</a:t>
            </a:r>
            <a:endParaRPr kumimoji="0" lang="en-US" altLang="zh-CN" sz="2800" b="0">
              <a:solidFill>
                <a:srgbClr val="000000"/>
              </a:solidFill>
              <a:ea typeface="宋体" panose="02010600030101010101" pitchFamily="2" charset="-122"/>
            </a:endParaRPr>
          </a:p>
        </p:txBody>
      </p:sp>
    </p:spTree>
  </p:cSld>
  <p:clrMapOvr>
    <a:masterClrMapping/>
  </p:clrMapOvr>
  <p:transition spd="med">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a:t>PCI Express</a:t>
            </a:r>
            <a:r>
              <a:rPr lang="zh-CN" altLang="en-US"/>
              <a:t>系统 </a:t>
            </a:r>
            <a:endParaRPr lang="zh-CN" altLang="en-US"/>
          </a:p>
        </p:txBody>
      </p:sp>
      <p:sp>
        <p:nvSpPr>
          <p:cNvPr id="102403" name="内容占位符 2"/>
          <p:cNvSpPr>
            <a:spLocks noGrp="1" noChangeArrowheads="1"/>
          </p:cNvSpPr>
          <p:nvPr>
            <p:ph idx="1"/>
          </p:nvPr>
        </p:nvSpPr>
        <p:spPr/>
        <p:txBody>
          <a:bodyPr/>
          <a:lstStyle/>
          <a:p>
            <a:endParaRPr lang="zh-CN" altLang="en-US"/>
          </a:p>
        </p:txBody>
      </p:sp>
      <p:pic>
        <p:nvPicPr>
          <p:cNvPr id="10240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1625" y="1600200"/>
            <a:ext cx="85407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a:t>PCI Express</a:t>
            </a:r>
            <a:r>
              <a:rPr lang="zh-CN" altLang="en-US"/>
              <a:t>系统 </a:t>
            </a:r>
            <a:endParaRPr lang="zh-CN" altLang="en-US"/>
          </a:p>
        </p:txBody>
      </p:sp>
      <p:sp>
        <p:nvSpPr>
          <p:cNvPr id="103427" name="内容占位符 2"/>
          <p:cNvSpPr>
            <a:spLocks noGrp="1" noChangeArrowheads="1"/>
          </p:cNvSpPr>
          <p:nvPr>
            <p:ph idx="1"/>
          </p:nvPr>
        </p:nvSpPr>
        <p:spPr/>
        <p:txBody>
          <a:bodyPr/>
          <a:lstStyle/>
          <a:p>
            <a:endParaRPr lang="zh-CN" altLang="en-US"/>
          </a:p>
        </p:txBody>
      </p:sp>
      <p:pic>
        <p:nvPicPr>
          <p:cNvPr id="10342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905000"/>
            <a:ext cx="854075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t>基于</a:t>
            </a:r>
            <a:r>
              <a:rPr lang="en-US" altLang="zh-CN"/>
              <a:t>Intel Core i7</a:t>
            </a:r>
            <a:r>
              <a:rPr lang="zh-CN" altLang="en-US"/>
              <a:t>的架构</a:t>
            </a:r>
            <a:endParaRPr lang="zh-CN" altLang="en-US"/>
          </a:p>
        </p:txBody>
      </p:sp>
      <p:sp>
        <p:nvSpPr>
          <p:cNvPr id="104451" name="内容占位符 2"/>
          <p:cNvSpPr>
            <a:spLocks noGrp="1" noChangeArrowheads="1"/>
          </p:cNvSpPr>
          <p:nvPr>
            <p:ph idx="1"/>
          </p:nvPr>
        </p:nvSpPr>
        <p:spPr/>
        <p:txBody>
          <a:bodyPr/>
          <a:lstStyle/>
          <a:p>
            <a:endParaRPr lang="zh-CN" altLang="en-US"/>
          </a:p>
        </p:txBody>
      </p:sp>
      <p:pic>
        <p:nvPicPr>
          <p:cNvPr id="104453" name="Picture 2" descr="E:\Users\zf\Downloads\system-block-diagram.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600" y="1076325"/>
            <a:ext cx="6908800" cy="552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theme/theme1.xml><?xml version="1.0" encoding="utf-8"?>
<a:theme xmlns:a="http://schemas.openxmlformats.org/drawingml/2006/main" name="Title and Content">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Only">
  <a:themeElements>
    <a:clrScheme name="">
      <a:dk1>
        <a:srgbClr val="000000"/>
      </a:dk1>
      <a:lt1>
        <a:srgbClr val="FFFFFF"/>
      </a:lt1>
      <a:dk2>
        <a:srgbClr val="000000"/>
      </a:dk2>
      <a:lt2>
        <a:srgbClr val="80808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Only">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Onl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微机接口-单色">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10169</Words>
  <Application>WPS 演示</Application>
  <PresentationFormat>全屏显示(4:3)</PresentationFormat>
  <Paragraphs>1386</Paragraphs>
  <Slides>78</Slides>
  <Notes>13</Notes>
  <HiddenSlides>2</HiddenSlides>
  <MMClips>0</MMClips>
  <ScaleCrop>false</ScaleCrop>
  <HeadingPairs>
    <vt:vector size="8" baseType="variant">
      <vt:variant>
        <vt:lpstr>已用的字体</vt:lpstr>
      </vt:variant>
      <vt:variant>
        <vt:i4>41</vt:i4>
      </vt:variant>
      <vt:variant>
        <vt:lpstr>主题</vt:lpstr>
      </vt:variant>
      <vt:variant>
        <vt:i4>3</vt:i4>
      </vt:variant>
      <vt:variant>
        <vt:lpstr>嵌入 OLE 服务器</vt:lpstr>
      </vt:variant>
      <vt:variant>
        <vt:i4>6</vt:i4>
      </vt:variant>
      <vt:variant>
        <vt:lpstr>幻灯片标题</vt:lpstr>
      </vt:variant>
      <vt:variant>
        <vt:i4>78</vt:i4>
      </vt:variant>
    </vt:vector>
  </HeadingPairs>
  <TitlesOfParts>
    <vt:vector size="128" baseType="lpstr">
      <vt:lpstr>Arial</vt:lpstr>
      <vt:lpstr>宋体</vt:lpstr>
      <vt:lpstr>Wingdings</vt:lpstr>
      <vt:lpstr>Gill Sans</vt:lpstr>
      <vt:lpstr>Segoe Print</vt:lpstr>
      <vt:lpstr>ヒラギノ角ゴ ProN W3</vt:lpstr>
      <vt:lpstr>Calibri Bold</vt:lpstr>
      <vt:lpstr>Calibri</vt:lpstr>
      <vt:lpstr>MS PGothic</vt:lpstr>
      <vt:lpstr>Times New Roman</vt:lpstr>
      <vt:lpstr>黑体</vt:lpstr>
      <vt:lpstr>ヒラギノ角ゴ ProN W6</vt:lpstr>
      <vt:lpstr>Wingdings 2</vt:lpstr>
      <vt:lpstr>Calibri Bold</vt:lpstr>
      <vt:lpstr>Wingdings</vt:lpstr>
      <vt:lpstr>楷体_GB2312</vt:lpstr>
      <vt:lpstr>华文新魏</vt:lpstr>
      <vt:lpstr>华文中宋</vt:lpstr>
      <vt:lpstr>隶书</vt:lpstr>
      <vt:lpstr>Tahoma</vt:lpstr>
      <vt:lpstr>新宋体</vt:lpstr>
      <vt:lpstr>Arial Unicode MS</vt:lpstr>
      <vt:lpstr>方正准圆简体</vt:lpstr>
      <vt:lpstr>楷体</vt:lpstr>
      <vt:lpstr>微软雅黑</vt:lpstr>
      <vt:lpstr>迷你简启体</vt:lpstr>
      <vt:lpstr>Symbol</vt:lpstr>
      <vt:lpstr>Symbol</vt:lpstr>
      <vt:lpstr>Wingdings 2</vt:lpstr>
      <vt:lpstr>方正准圆简体</vt:lpstr>
      <vt:lpstr>楷体_GB2312</vt:lpstr>
      <vt:lpstr>迷你简启体</vt:lpstr>
      <vt:lpstr>Saturday Sans Regular</vt:lpstr>
      <vt:lpstr>华康瘦金体W3</vt:lpstr>
      <vt:lpstr>Kata Bold</vt:lpstr>
      <vt:lpstr>华康UD宋 W6</vt:lpstr>
      <vt:lpstr>方正仿宋_GB2312</vt:lpstr>
      <vt:lpstr>方正楷体_GB2312</vt:lpstr>
      <vt:lpstr>方正准圆_GBK</vt:lpstr>
      <vt:lpstr>迷你可爱圆</vt:lpstr>
      <vt:lpstr>Verdana</vt:lpstr>
      <vt:lpstr>Title and Content</vt:lpstr>
      <vt:lpstr>Title Only</vt:lpstr>
      <vt:lpstr>微机接口-单色</vt:lpstr>
      <vt:lpstr>Visio.Drawing.6</vt:lpstr>
      <vt:lpstr>Visio.Drawing.11</vt:lpstr>
      <vt:lpstr>Visio.Drawing.6</vt:lpstr>
      <vt:lpstr>Visio.Drawing.6</vt:lpstr>
      <vt:lpstr>Visio.Drawing.6</vt:lpstr>
      <vt:lpstr>Visio.Drawing.6</vt:lpstr>
      <vt:lpstr>第6章 总线系统</vt:lpstr>
      <vt:lpstr>6.1 总线概念和总线结构</vt:lpstr>
      <vt:lpstr>什么是总线？</vt:lpstr>
      <vt:lpstr>总线的优点</vt:lpstr>
      <vt:lpstr>总线的缺点</vt:lpstr>
      <vt:lpstr>总线分类</vt:lpstr>
      <vt:lpstr>总线的层次结构</vt:lpstr>
      <vt:lpstr>早期总线内部结构</vt:lpstr>
      <vt:lpstr>当代总线内部结构</vt:lpstr>
      <vt:lpstr>总线的特性</vt:lpstr>
      <vt:lpstr>总线的性能指标</vt:lpstr>
      <vt:lpstr>例1</vt:lpstr>
      <vt:lpstr>总线的标准化</vt:lpstr>
      <vt:lpstr>总线的连接方式 </vt:lpstr>
      <vt:lpstr>单总线结构</vt:lpstr>
      <vt:lpstr>双总线结构</vt:lpstr>
      <vt:lpstr>三总线结构</vt:lpstr>
      <vt:lpstr>典型系统总线</vt:lpstr>
      <vt:lpstr>三总线结构实例</vt:lpstr>
      <vt:lpstr>现代计算机典型结构（1）</vt:lpstr>
      <vt:lpstr>PowerPoint 演示文稿</vt:lpstr>
      <vt:lpstr>现代计算机典型结构（2）</vt:lpstr>
      <vt:lpstr>现代计算机典型结构（3）</vt:lpstr>
      <vt:lpstr>6.2 总线接口</vt:lpstr>
      <vt:lpstr>基本概念</vt:lpstr>
      <vt:lpstr>串行传送</vt:lpstr>
      <vt:lpstr>并行传送</vt:lpstr>
      <vt:lpstr>接口的基本概念</vt:lpstr>
      <vt:lpstr>例2</vt:lpstr>
      <vt:lpstr>6.3 总线的仲裁</vt:lpstr>
      <vt:lpstr>主设备和从设备</vt:lpstr>
      <vt:lpstr>总线的仲裁（1）</vt:lpstr>
      <vt:lpstr>总线的仲裁（2）</vt:lpstr>
      <vt:lpstr>集中仲裁：链式查询方式</vt:lpstr>
      <vt:lpstr>说明 </vt:lpstr>
      <vt:lpstr>举例</vt:lpstr>
      <vt:lpstr>链式查询方式的特点</vt:lpstr>
      <vt:lpstr>总线访问逻辑</vt:lpstr>
      <vt:lpstr>集中仲裁：计数器定时查询方式</vt:lpstr>
      <vt:lpstr>工作原理</vt:lpstr>
      <vt:lpstr>集中仲裁：独立请求方式</vt:lpstr>
      <vt:lpstr>独立请求方式的特点</vt:lpstr>
      <vt:lpstr>分布式仲裁方式 </vt:lpstr>
      <vt:lpstr>分布式仲裁示意图</vt:lpstr>
      <vt:lpstr>说明</vt:lpstr>
      <vt:lpstr>6.4 总线定时和数据传送模式</vt:lpstr>
      <vt:lpstr>总线传输过程</vt:lpstr>
      <vt:lpstr>总线数据传送的两种方式</vt:lpstr>
      <vt:lpstr>同步方式</vt:lpstr>
      <vt:lpstr>异步方式</vt:lpstr>
      <vt:lpstr>例3（1）</vt:lpstr>
      <vt:lpstr>例3（2）</vt:lpstr>
      <vt:lpstr>半同步方式</vt:lpstr>
      <vt:lpstr>分离方式</vt:lpstr>
      <vt:lpstr>总线数据传送模式（1）</vt:lpstr>
      <vt:lpstr>总线数据传送模式（2）</vt:lpstr>
      <vt:lpstr>总线数据传送模式（3）</vt:lpstr>
      <vt:lpstr>总线数据传送模式（4）</vt:lpstr>
      <vt:lpstr>动手做</vt:lpstr>
      <vt:lpstr>6.5 PCI总线</vt:lpstr>
      <vt:lpstr>PowerPoint 演示文稿</vt:lpstr>
      <vt:lpstr>常用总线标准</vt:lpstr>
      <vt:lpstr>常用总线标准</vt:lpstr>
      <vt:lpstr>常用总线标准</vt:lpstr>
      <vt:lpstr>PCI总线基本概念</vt:lpstr>
      <vt:lpstr>PCI总线特点 </vt:lpstr>
      <vt:lpstr>多总线结构</vt:lpstr>
      <vt:lpstr>PCI总线信号</vt:lpstr>
      <vt:lpstr>总线周期类型（1）</vt:lpstr>
      <vt:lpstr>总线周期类型（2）</vt:lpstr>
      <vt:lpstr>总线上的读操作</vt:lpstr>
      <vt:lpstr>总线上的写操作</vt:lpstr>
      <vt:lpstr>总线仲裁</vt:lpstr>
      <vt:lpstr>PCI－力不从心</vt:lpstr>
      <vt:lpstr>PCI Express</vt:lpstr>
      <vt:lpstr>PCI Express系统 </vt:lpstr>
      <vt:lpstr>PCI Express系统 </vt:lpstr>
      <vt:lpstr>基于Intel Core i7的架构</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 1st Lecture, Jan. 12th</dc:title>
  <dc:creator>Markus Pueschel</dc:creator>
  <cp:lastModifiedBy>初九</cp:lastModifiedBy>
  <cp:revision>196</cp:revision>
  <cp:lastPrinted>2019-09-24T06:12:00Z</cp:lastPrinted>
  <dcterms:created xsi:type="dcterms:W3CDTF">2012-09-06T15:16:00Z</dcterms:created>
  <dcterms:modified xsi:type="dcterms:W3CDTF">2026-05-19T03:18:34Z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4DC825653D284DDF87AA7F041228D41B_12</vt:lpwstr>
  </property>
</Properties>
</file>