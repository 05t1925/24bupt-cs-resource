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1" r:id="rId3"/>
    <p:sldMasterId id="2147483671" r:id="rId4"/>
  </p:sldMasterIdLst>
  <p:notesMasterIdLst>
    <p:notesMasterId r:id="rId8"/>
  </p:notesMasterIdLst>
  <p:handoutMasterIdLst>
    <p:handoutMasterId r:id="rId82"/>
  </p:handoutMasterIdLst>
  <p:sldIdLst>
    <p:sldId id="497" r:id="rId5"/>
    <p:sldId id="670" r:id="rId6"/>
    <p:sldId id="573" r:id="rId7"/>
    <p:sldId id="574" r:id="rId9"/>
    <p:sldId id="671" r:id="rId10"/>
    <p:sldId id="576" r:id="rId11"/>
    <p:sldId id="577" r:id="rId12"/>
    <p:sldId id="578" r:id="rId13"/>
    <p:sldId id="579" r:id="rId14"/>
    <p:sldId id="580" r:id="rId15"/>
    <p:sldId id="589" r:id="rId16"/>
    <p:sldId id="590" r:id="rId17"/>
    <p:sldId id="591" r:id="rId18"/>
    <p:sldId id="592" r:id="rId19"/>
    <p:sldId id="593" r:id="rId20"/>
    <p:sldId id="581" r:id="rId21"/>
    <p:sldId id="594" r:id="rId22"/>
    <p:sldId id="595" r:id="rId23"/>
    <p:sldId id="596" r:id="rId24"/>
    <p:sldId id="672" r:id="rId25"/>
    <p:sldId id="582" r:id="rId26"/>
    <p:sldId id="598" r:id="rId27"/>
    <p:sldId id="599" r:id="rId28"/>
    <p:sldId id="600" r:id="rId29"/>
    <p:sldId id="601" r:id="rId30"/>
    <p:sldId id="602" r:id="rId31"/>
    <p:sldId id="603" r:id="rId32"/>
    <p:sldId id="673" r:id="rId33"/>
    <p:sldId id="605" r:id="rId34"/>
    <p:sldId id="665" r:id="rId35"/>
    <p:sldId id="666" r:id="rId36"/>
    <p:sldId id="663" r:id="rId37"/>
    <p:sldId id="667" r:id="rId38"/>
    <p:sldId id="664" r:id="rId39"/>
    <p:sldId id="669" r:id="rId40"/>
    <p:sldId id="668" r:id="rId41"/>
    <p:sldId id="585" r:id="rId42"/>
    <p:sldId id="606" r:id="rId43"/>
    <p:sldId id="607" r:id="rId44"/>
    <p:sldId id="608" r:id="rId45"/>
    <p:sldId id="609" r:id="rId46"/>
    <p:sldId id="610" r:id="rId47"/>
    <p:sldId id="612" r:id="rId48"/>
    <p:sldId id="611" r:id="rId49"/>
    <p:sldId id="613" r:id="rId50"/>
    <p:sldId id="614" r:id="rId51"/>
    <p:sldId id="615" r:id="rId52"/>
    <p:sldId id="616" r:id="rId53"/>
    <p:sldId id="617" r:id="rId54"/>
    <p:sldId id="618" r:id="rId55"/>
    <p:sldId id="619" r:id="rId56"/>
    <p:sldId id="620" r:id="rId57"/>
    <p:sldId id="622" r:id="rId58"/>
    <p:sldId id="658" r:id="rId59"/>
    <p:sldId id="659" r:id="rId60"/>
    <p:sldId id="660" r:id="rId61"/>
    <p:sldId id="661" r:id="rId62"/>
    <p:sldId id="627" r:id="rId63"/>
    <p:sldId id="628" r:id="rId64"/>
    <p:sldId id="629" r:id="rId65"/>
    <p:sldId id="674" r:id="rId66"/>
    <p:sldId id="635" r:id="rId67"/>
    <p:sldId id="636" r:id="rId68"/>
    <p:sldId id="637" r:id="rId69"/>
    <p:sldId id="638" r:id="rId70"/>
    <p:sldId id="640" r:id="rId71"/>
    <p:sldId id="641" r:id="rId72"/>
    <p:sldId id="649" r:id="rId73"/>
    <p:sldId id="632" r:id="rId74"/>
    <p:sldId id="634" r:id="rId75"/>
    <p:sldId id="642" r:id="rId76"/>
    <p:sldId id="646" r:id="rId77"/>
    <p:sldId id="652" r:id="rId78"/>
    <p:sldId id="653" r:id="rId79"/>
    <p:sldId id="648" r:id="rId80"/>
    <p:sldId id="651" r:id="rId81"/>
  </p:sldIdLst>
  <p:sldSz cx="9144000" cy="6858000" type="screen4x3"/>
  <p:notesSz cx="7103745" cy="10234295"/>
  <p:defaultTextStyle>
    <a:defPPr>
      <a:defRPr lang="en-US"/>
    </a:defPPr>
    <a:lvl1pPr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1pPr>
    <a:lvl2pPr marL="4572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5pPr>
    <a:lvl6pPr marL="22860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6pPr>
    <a:lvl7pPr marL="27432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7pPr>
    <a:lvl8pPr marL="32004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8pPr>
    <a:lvl9pPr marL="36576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3648" userDrawn="1">
          <p15:clr>
            <a:srgbClr val="A4A3A4"/>
          </p15:clr>
        </p15:guide>
        <p15:guide id="2" pos="2784" userDrawn="1">
          <p15:clr>
            <a:srgbClr val="A4A3A4"/>
          </p15:clr>
        </p15:guide>
        <p15:guide id="3" pos="4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00F7F7"/>
    <a:srgbClr val="000066"/>
    <a:srgbClr val="3333CC"/>
    <a:srgbClr val="0033CC"/>
    <a:srgbClr val="3333FF"/>
    <a:srgbClr val="3366FF"/>
    <a:srgbClr val="00339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96574" autoAdjust="0"/>
  </p:normalViewPr>
  <p:slideViewPr>
    <p:cSldViewPr showGuides="1">
      <p:cViewPr varScale="1">
        <p:scale>
          <a:sx n="106" d="100"/>
          <a:sy n="106" d="100"/>
        </p:scale>
        <p:origin x="1878" y="108"/>
      </p:cViewPr>
      <p:guideLst>
        <p:guide orient="horz" pos="3648"/>
        <p:guide pos="2784"/>
        <p:guide pos="4128"/>
      </p:guideLst>
    </p:cSldViewPr>
  </p:slideViewPr>
  <p:notesTextViewPr>
    <p:cViewPr>
      <p:scale>
        <a:sx n="100" d="100"/>
        <a:sy n="100" d="100"/>
      </p:scale>
      <p:origin x="0" y="0"/>
    </p:cViewPr>
  </p:notesTextViewPr>
  <p:sorterViewPr>
    <p:cViewPr>
      <p:scale>
        <a:sx n="130" d="100"/>
        <a:sy n="130" d="100"/>
      </p:scale>
      <p:origin x="0" y="-18522"/>
    </p:cViewPr>
  </p:sorterViewPr>
  <p:notesViewPr>
    <p:cSldViewPr>
      <p:cViewPr varScale="1">
        <p:scale>
          <a:sx n="148" d="100"/>
          <a:sy n="148" d="100"/>
        </p:scale>
        <p:origin x="-1925" y="-77"/>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handoutMaster" Target="handoutMasters/handoutMaster1.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notesMaster" Target="notesMasters/notesMaster1.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sz="quarter" idx="1"/>
          </p:nvPr>
        </p:nvSpPr>
        <p:spPr>
          <a:xfrm>
            <a:off x="4023992" y="0"/>
            <a:ext cx="3078427" cy="511731"/>
          </a:xfrm>
          <a:prstGeom prst="rect">
            <a:avLst/>
          </a:prstGeom>
        </p:spPr>
        <p:txBody>
          <a:bodyPr vert="horz" lIns="99075" tIns="49538" rIns="99075" bIns="49538" rtlCol="0"/>
          <a:lstStyle>
            <a:lvl1pPr algn="r">
              <a:defRPr sz="1300"/>
            </a:lvl1pPr>
          </a:lstStyle>
          <a:p>
            <a:fld id="{C79C02A0-2CB8-F64C-87A7-A5563D28AA9B}" type="datetimeFigureOut">
              <a:rPr lang="en-US" smtClean="0"/>
            </a:fld>
            <a:endParaRPr lang="en-US"/>
          </a:p>
        </p:txBody>
      </p:sp>
      <p:sp>
        <p:nvSpPr>
          <p:cNvPr id="4" name="Footer Placeholder 3"/>
          <p:cNvSpPr>
            <a:spLocks noGrp="1"/>
          </p:cNvSpPr>
          <p:nvPr>
            <p:ph type="ftr" sz="quarter" idx="2"/>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a:p>
        </p:txBody>
      </p:sp>
      <p:sp>
        <p:nvSpPr>
          <p:cNvPr id="5" name="Slide Number Placeholder 4"/>
          <p:cNvSpPr>
            <a:spLocks noGrp="1"/>
          </p:cNvSpPr>
          <p:nvPr>
            <p:ph type="sldNum" sz="quarter" idx="3"/>
          </p:nvPr>
        </p:nvSpPr>
        <p:spPr>
          <a:xfrm>
            <a:off x="4023992" y="9721106"/>
            <a:ext cx="3078427" cy="511731"/>
          </a:xfrm>
          <a:prstGeom prst="rect">
            <a:avLst/>
          </a:prstGeom>
        </p:spPr>
        <p:txBody>
          <a:bodyPr vert="horz" lIns="99075" tIns="49538" rIns="99075" bIns="49538" rtlCol="0" anchor="b"/>
          <a:lstStyle>
            <a:lvl1pPr algn="r">
              <a:defRPr sz="1300"/>
            </a:lvl1pPr>
          </a:lstStyle>
          <a:p>
            <a:fld id="{D8885E4B-77DA-1E4C-9EDA-713D746B9077}"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995363" y="768350"/>
            <a:ext cx="5113337" cy="3836988"/>
          </a:xfrm>
          <a:prstGeom prst="rect">
            <a:avLst/>
          </a:prstGeom>
          <a:noFill/>
          <a:ln w="9525">
            <a:solidFill>
              <a:srgbClr val="000000"/>
            </a:solidFill>
            <a:miter lim="800000"/>
          </a:ln>
          <a:effectLst/>
        </p:spPr>
      </p:sp>
      <p:sp>
        <p:nvSpPr>
          <p:cNvPr id="13314" name="Rectangle 2"/>
          <p:cNvSpPr>
            <a:spLocks noGrp="1" noChangeArrowheads="1"/>
          </p:cNvSpPr>
          <p:nvPr>
            <p:ph type="body" sz="quarter" idx="1"/>
          </p:nvPr>
        </p:nvSpPr>
        <p:spPr bwMode="auto">
          <a:xfrm>
            <a:off x="710407" y="4861441"/>
            <a:ext cx="5683250" cy="4605576"/>
          </a:xfrm>
          <a:prstGeom prst="rect">
            <a:avLst/>
          </a:prstGeom>
          <a:noFill/>
          <a:ln w="9525">
            <a:noFill/>
            <a:miter lim="800000"/>
          </a:ln>
          <a:effectLst/>
        </p:spPr>
        <p:txBody>
          <a:bodyPr vert="horz" wrap="square" lIns="99075" tIns="49538" rIns="99075" bIns="49538"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Gill Sans" charset="0"/>
        <a:ea typeface="+mn-ea"/>
        <a:cs typeface="+mn-cs"/>
      </a:defRPr>
    </a:lvl1pPr>
    <a:lvl2pPr marL="457200" algn="l" rtl="0" fontAlgn="base">
      <a:spcBef>
        <a:spcPct val="0"/>
      </a:spcBef>
      <a:spcAft>
        <a:spcPct val="0"/>
      </a:spcAft>
      <a:defRPr sz="1200" kern="1200">
        <a:solidFill>
          <a:schemeClr val="tx1"/>
        </a:solidFill>
        <a:latin typeface="Gill Sans" charset="0"/>
        <a:ea typeface="+mn-ea"/>
        <a:cs typeface="+mn-cs"/>
      </a:defRPr>
    </a:lvl2pPr>
    <a:lvl3pPr marL="914400" algn="l" rtl="0" fontAlgn="base">
      <a:spcBef>
        <a:spcPct val="0"/>
      </a:spcBef>
      <a:spcAft>
        <a:spcPct val="0"/>
      </a:spcAft>
      <a:defRPr sz="1200" kern="1200">
        <a:solidFill>
          <a:schemeClr val="tx1"/>
        </a:solidFill>
        <a:latin typeface="Gill Sans" charset="0"/>
        <a:ea typeface="+mn-ea"/>
        <a:cs typeface="+mn-cs"/>
      </a:defRPr>
    </a:lvl3pPr>
    <a:lvl4pPr marL="1371600" algn="l" rtl="0" fontAlgn="base">
      <a:spcBef>
        <a:spcPct val="0"/>
      </a:spcBef>
      <a:spcAft>
        <a:spcPct val="0"/>
      </a:spcAft>
      <a:defRPr sz="1200" kern="1200">
        <a:solidFill>
          <a:schemeClr val="tx1"/>
        </a:solidFill>
        <a:latin typeface="Gill Sans" charset="0"/>
        <a:ea typeface="+mn-ea"/>
        <a:cs typeface="+mn-cs"/>
      </a:defRPr>
    </a:lvl4pPr>
    <a:lvl5pPr marL="1828800" algn="l" rtl="0" fontAlgn="base">
      <a:spcBef>
        <a:spcPct val="0"/>
      </a:spcBef>
      <a:spcAft>
        <a:spcPct val="0"/>
      </a:spcAft>
      <a:defRPr sz="1200" kern="1200">
        <a:solidFill>
          <a:schemeClr val="tx1"/>
        </a:solidFill>
        <a:latin typeface="Gill San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3D12FD2-DADF-4AAF-9E31-90B55BA446E1}" type="slidenum">
              <a:rPr lang="en-US" altLang="zh-CN" sz="1300" smtClean="0"/>
            </a:fld>
            <a:endParaRPr lang="en-US" altLang="zh-CN" sz="1300"/>
          </a:p>
        </p:txBody>
      </p:sp>
      <p:sp>
        <p:nvSpPr>
          <p:cNvPr id="21506" name="Rectangle 2"/>
          <p:cNvSpPr>
            <a:spLocks noGrp="1" noRot="1" noChangeAspect="1" noChangeArrowheads="1" noTextEdit="1"/>
          </p:cNvSpPr>
          <p:nvPr>
            <p:ph type="sldImg"/>
          </p:nvPr>
        </p:nvSpPr>
        <p:spPr/>
      </p:sp>
      <p:sp>
        <p:nvSpPr>
          <p:cNvPr id="215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C00DE6A-DA89-425F-A36F-B4002E69CA80}" type="slidenum">
              <a:rPr lang="en-US" altLang="zh-CN" sz="1300" smtClean="0"/>
            </a:fld>
            <a:endParaRPr lang="en-US" altLang="zh-CN" sz="1300"/>
          </a:p>
        </p:txBody>
      </p:sp>
      <p:sp>
        <p:nvSpPr>
          <p:cNvPr id="23554" name="Rectangle 2"/>
          <p:cNvSpPr>
            <a:spLocks noGrp="1" noRot="1" noChangeAspect="1" noChangeArrowheads="1" noTextEdit="1"/>
          </p:cNvSpPr>
          <p:nvPr>
            <p:ph type="sldImg"/>
          </p:nvPr>
        </p:nvSpPr>
        <p:spPr/>
      </p:sp>
      <p:sp>
        <p:nvSpPr>
          <p:cNvPr id="235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DAF8D4D-9FC2-4BEA-AF98-5CF0C0A7B9D3}" type="slidenum">
              <a:rPr lang="en-US" altLang="zh-CN" sz="1300" smtClean="0"/>
            </a:fld>
            <a:endParaRPr lang="en-US" altLang="zh-CN" sz="1300"/>
          </a:p>
        </p:txBody>
      </p:sp>
      <p:sp>
        <p:nvSpPr>
          <p:cNvPr id="27650" name="Rectangle 2"/>
          <p:cNvSpPr>
            <a:spLocks noGrp="1" noRot="1" noChangeAspect="1" noChangeArrowheads="1" noTextEdit="1"/>
          </p:cNvSpPr>
          <p:nvPr>
            <p:ph type="sldImg"/>
          </p:nvPr>
        </p:nvSpPr>
        <p:spPr/>
      </p:sp>
      <p:sp>
        <p:nvSpPr>
          <p:cNvPr id="276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lnSpc>
                <a:spcPct val="70000"/>
              </a:lnSpc>
              <a:spcBef>
                <a:spcPct val="50000"/>
              </a:spcBef>
            </a:pP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8E65AB7-2E82-4BB3-8EE9-8098B998FAB3}" type="slidenum">
              <a:rPr lang="en-US" altLang="zh-CN" sz="1300" smtClean="0"/>
            </a:fld>
            <a:endParaRPr lang="en-US" altLang="zh-CN" sz="1300"/>
          </a:p>
        </p:txBody>
      </p:sp>
      <p:sp>
        <p:nvSpPr>
          <p:cNvPr id="29698" name="Rectangle 2"/>
          <p:cNvSpPr>
            <a:spLocks noGrp="1" noRot="1" noChangeAspect="1" noChangeArrowheads="1" noTextEdit="1"/>
          </p:cNvSpPr>
          <p:nvPr>
            <p:ph type="sldImg"/>
          </p:nvPr>
        </p:nvSpPr>
        <p:spPr/>
      </p:sp>
      <p:sp>
        <p:nvSpPr>
          <p:cNvPr id="296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1B3E0FD-498F-4AEE-8A0C-9B5A01A76C85}" type="slidenum">
              <a:rPr lang="en-US" altLang="zh-CN" sz="1300" smtClean="0"/>
            </a:fld>
            <a:endParaRPr lang="en-US" altLang="zh-CN" sz="1300"/>
          </a:p>
        </p:txBody>
      </p:sp>
      <p:sp>
        <p:nvSpPr>
          <p:cNvPr id="31746" name="Rectangle 2"/>
          <p:cNvSpPr>
            <a:spLocks noGrp="1" noRot="1" noChangeAspect="1" noChangeArrowheads="1" noTextEdit="1"/>
          </p:cNvSpPr>
          <p:nvPr>
            <p:ph type="sldImg"/>
          </p:nvPr>
        </p:nvSpPr>
        <p:spPr/>
      </p:sp>
      <p:sp>
        <p:nvSpPr>
          <p:cNvPr id="317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D4350BB-5684-472A-9DF3-82F54321915E}" type="slidenum">
              <a:rPr lang="en-US" altLang="zh-CN" sz="1300" smtClean="0"/>
            </a:fld>
            <a:endParaRPr lang="en-US" altLang="zh-CN" sz="1300"/>
          </a:p>
        </p:txBody>
      </p:sp>
      <p:sp>
        <p:nvSpPr>
          <p:cNvPr id="33794" name="Rectangle 2"/>
          <p:cNvSpPr>
            <a:spLocks noGrp="1" noRot="1" noChangeAspect="1" noChangeArrowheads="1" noTextEdit="1"/>
          </p:cNvSpPr>
          <p:nvPr>
            <p:ph type="sldImg"/>
          </p:nvPr>
        </p:nvSpPr>
        <p:spPr/>
      </p:sp>
      <p:sp>
        <p:nvSpPr>
          <p:cNvPr id="337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B452A3F-2732-4A09-BC97-762F2EE4C942}" type="slidenum">
              <a:rPr lang="en-US" altLang="zh-CN" sz="1300" smtClean="0"/>
            </a:fld>
            <a:endParaRPr lang="en-US" altLang="zh-CN" sz="1300"/>
          </a:p>
        </p:txBody>
      </p:sp>
      <p:sp>
        <p:nvSpPr>
          <p:cNvPr id="35842" name="Rectangle 2"/>
          <p:cNvSpPr>
            <a:spLocks noGrp="1" noRot="1" noChangeAspect="1" noChangeArrowheads="1" noTextEdit="1"/>
          </p:cNvSpPr>
          <p:nvPr>
            <p:ph type="sldImg"/>
          </p:nvPr>
        </p:nvSpPr>
        <p:spPr/>
      </p:sp>
      <p:sp>
        <p:nvSpPr>
          <p:cNvPr id="358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noChangeArrowheads="1" noTextEdit="1"/>
          </p:cNvSpPr>
          <p:nvPr>
            <p:ph type="sldImg"/>
          </p:nvPr>
        </p:nvSpPr>
        <p:spPr/>
      </p:sp>
      <p:sp>
        <p:nvSpPr>
          <p:cNvPr id="39938"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9939"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9F61A94A-22FD-4762-BBE2-9F66BAA22A78}"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306B2DA-F93E-4D3E-8DDB-10B58F53134B}" type="slidenum">
              <a:rPr lang="en-US" altLang="zh-CN" sz="1300" smtClean="0"/>
            </a:fld>
            <a:endParaRPr lang="en-US" altLang="zh-CN" sz="1300"/>
          </a:p>
        </p:txBody>
      </p:sp>
      <p:sp>
        <p:nvSpPr>
          <p:cNvPr id="50178" name="Rectangle 2"/>
          <p:cNvSpPr>
            <a:spLocks noGrp="1" noRot="1" noChangeAspect="1" noChangeArrowheads="1" noTextEdit="1"/>
          </p:cNvSpPr>
          <p:nvPr>
            <p:ph type="sldImg"/>
          </p:nvPr>
        </p:nvSpPr>
        <p:spPr/>
      </p:sp>
      <p:sp>
        <p:nvSpPr>
          <p:cNvPr id="501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b="1" i="1">
              <a:solidFill>
                <a:srgbClr val="8080FF"/>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幻灯片图像占位符 1"/>
          <p:cNvSpPr>
            <a:spLocks noGrp="1" noRot="1" noChangeAspect="1" noChangeArrowheads="1" noTextEdit="1"/>
          </p:cNvSpPr>
          <p:nvPr>
            <p:ph type="sldImg"/>
          </p:nvPr>
        </p:nvSpPr>
        <p:spPr/>
      </p:sp>
      <p:sp>
        <p:nvSpPr>
          <p:cNvPr id="53250"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251"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2D141BE4-1505-4232-99AD-8ECE1EC06A78}"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008D18A-DCFB-46D9-B16C-08808CB0BA0E}" type="slidenum">
              <a:rPr lang="en-US" altLang="zh-CN" sz="1300" smtClean="0"/>
            </a:fld>
            <a:endParaRPr lang="en-US" altLang="zh-CN" sz="1300"/>
          </a:p>
        </p:txBody>
      </p:sp>
      <p:sp>
        <p:nvSpPr>
          <p:cNvPr id="55298" name="Rectangle 2"/>
          <p:cNvSpPr>
            <a:spLocks noGrp="1" noRot="1" noChangeAspect="1" noChangeArrowheads="1" noTextEdit="1"/>
          </p:cNvSpPr>
          <p:nvPr>
            <p:ph type="sldImg"/>
          </p:nvPr>
        </p:nvSpPr>
        <p:spPr/>
      </p:sp>
      <p:sp>
        <p:nvSpPr>
          <p:cNvPr id="552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幻灯片图像占位符 1"/>
          <p:cNvSpPr>
            <a:spLocks noGrp="1" noRot="1" noChangeAspect="1" noChangeArrowheads="1" noTextEdit="1"/>
          </p:cNvSpPr>
          <p:nvPr>
            <p:ph type="sldImg"/>
          </p:nvPr>
        </p:nvSpPr>
        <p:spPr/>
      </p:sp>
      <p:sp>
        <p:nvSpPr>
          <p:cNvPr id="57346"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7347"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A367CAE4-C732-49F9-9337-A775C8A5A19F}"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幻灯片图像占位符 1"/>
          <p:cNvSpPr>
            <a:spLocks noGrp="1" noRot="1" noChangeAspect="1" noChangeArrowheads="1" noTextEdit="1"/>
          </p:cNvSpPr>
          <p:nvPr>
            <p:ph type="sldImg"/>
          </p:nvPr>
        </p:nvSpPr>
        <p:spPr/>
      </p:sp>
      <p:sp>
        <p:nvSpPr>
          <p:cNvPr id="60418"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0419"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4D2E8C88-9494-47AA-9760-1D0209280456}"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幻灯片图像占位符 1"/>
          <p:cNvSpPr>
            <a:spLocks noGrp="1" noRot="1" noChangeAspect="1" noChangeArrowheads="1" noTextEdit="1"/>
          </p:cNvSpPr>
          <p:nvPr>
            <p:ph type="sldImg"/>
          </p:nvPr>
        </p:nvSpPr>
        <p:spPr/>
      </p:sp>
      <p:sp>
        <p:nvSpPr>
          <p:cNvPr id="70658"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5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16387A6B-CBC0-48A5-B09A-0A0CD616A974}"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ChangeArrowheads="1" noTextEdit="1"/>
          </p:cNvSpPr>
          <p:nvPr>
            <p:ph type="sldImg"/>
          </p:nvPr>
        </p:nvSpPr>
        <p:spPr/>
      </p:sp>
      <p:sp>
        <p:nvSpPr>
          <p:cNvPr id="78850"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885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29BA4F9F-E69D-48F5-A5A7-37600CE59863}"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幻灯片图像占位符 1"/>
          <p:cNvSpPr>
            <a:spLocks noGrp="1" noRot="1" noChangeAspect="1" noChangeArrowheads="1" noTextEdit="1"/>
          </p:cNvSpPr>
          <p:nvPr>
            <p:ph type="sldImg"/>
          </p:nvPr>
        </p:nvSpPr>
        <p:spPr/>
      </p:sp>
      <p:sp>
        <p:nvSpPr>
          <p:cNvPr id="8192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192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7BD0868A-4BAE-47B7-A387-F976808C1D67}"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幻灯片图像占位符 1"/>
          <p:cNvSpPr>
            <a:spLocks noGrp="1" noRot="1" noChangeAspect="1" noChangeArrowheads="1" noTextEdit="1"/>
          </p:cNvSpPr>
          <p:nvPr>
            <p:ph type="sldImg"/>
          </p:nvPr>
        </p:nvSpPr>
        <p:spPr/>
      </p:sp>
      <p:sp>
        <p:nvSpPr>
          <p:cNvPr id="91138"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113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1F8A3503-9F03-47A4-91CA-F66491B129CB}"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幻灯片图像占位符 1"/>
          <p:cNvSpPr>
            <a:spLocks noGrp="1" noRot="1" noChangeAspect="1" noChangeArrowheads="1" noTextEdit="1"/>
          </p:cNvSpPr>
          <p:nvPr>
            <p:ph type="sldImg"/>
          </p:nvPr>
        </p:nvSpPr>
        <p:spPr/>
      </p:sp>
      <p:sp>
        <p:nvSpPr>
          <p:cNvPr id="106498"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49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316C369-6647-460E-93CC-2F989090C2C7}"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幻灯片图像占位符 1"/>
          <p:cNvSpPr>
            <a:spLocks noGrp="1" noRot="1" noChangeAspect="1" noChangeArrowheads="1" noTextEdit="1"/>
          </p:cNvSpPr>
          <p:nvPr>
            <p:ph type="sldImg"/>
          </p:nvPr>
        </p:nvSpPr>
        <p:spPr/>
      </p:sp>
      <p:sp>
        <p:nvSpPr>
          <p:cNvPr id="115714"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5715"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E48D8B31-7FC5-4B17-9426-B24E39B54ADA}"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幻灯片图像占位符 1"/>
          <p:cNvSpPr>
            <a:spLocks noGrp="1" noRot="1" noChangeAspect="1" noChangeArrowheads="1" noTextEdit="1"/>
          </p:cNvSpPr>
          <p:nvPr>
            <p:ph type="sldImg"/>
          </p:nvPr>
        </p:nvSpPr>
        <p:spPr/>
      </p:sp>
      <p:sp>
        <p:nvSpPr>
          <p:cNvPr id="11776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76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6628966E-0E66-43D4-B34F-55DD9142F918}"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US" dirty="0"/>
          </a:p>
        </p:txBody>
      </p:sp>
      <p:sp>
        <p:nvSpPr>
          <p:cNvPr id="5" name="标题 4"/>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76215"/>
            <a:ext cx="8382000" cy="5435600"/>
          </a:xfrm>
        </p:spPr>
        <p:txBody>
          <a:bodyPr/>
          <a:lstStyle>
            <a:lvl1pPr marL="254000" indent="-254000">
              <a:buClr>
                <a:srgbClr val="CC3300"/>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9900CC"/>
              </a:buClr>
              <a:buSzPct val="70000"/>
              <a:buFont typeface="Wingdings" panose="05000000000000000000" pitchFamily="2" charset="2"/>
              <a:buChar char="p"/>
              <a:defRPr/>
            </a:lvl3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4" name="标题 3"/>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81000"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标题 4"/>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
        <p:nvSpPr>
          <p:cNvPr id="7" name="Content Placeholder 2"/>
          <p:cNvSpPr>
            <a:spLocks noGrp="1"/>
          </p:cNvSpPr>
          <p:nvPr>
            <p:ph sz="half" idx="10"/>
          </p:nvPr>
        </p:nvSpPr>
        <p:spPr>
          <a:xfrm>
            <a:off x="4648202"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141016"/>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814961"/>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Text Placeholder 4"/>
          <p:cNvSpPr>
            <a:spLocks noGrp="1"/>
          </p:cNvSpPr>
          <p:nvPr>
            <p:ph type="body" sz="quarter" idx="3"/>
          </p:nvPr>
        </p:nvSpPr>
        <p:spPr>
          <a:xfrm>
            <a:off x="4645025" y="1141016"/>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4645025" y="1814961"/>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7" name="标题 6"/>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spcBef>
                <a:spcPts val="600"/>
              </a:spcBef>
              <a:defRPr>
                <a:latin typeface="Times New Roman" panose="02020603050405020304" pitchFamily="18" charset="0"/>
                <a:cs typeface="Times New Roman" panose="02020603050405020304" pitchFamily="18" charset="0"/>
              </a:defRPr>
            </a:lvl2pPr>
            <a:lvl3pPr>
              <a:spcBef>
                <a:spcPts val="600"/>
              </a:spcBef>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spd="med">
    <p:pull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endParaRPr lang="zh-CN" altLang="en-US"/>
          </a:p>
        </p:txBody>
      </p:sp>
      <p:sp>
        <p:nvSpPr>
          <p:cNvPr id="3" name="图表占位符 2"/>
          <p:cNvSpPr>
            <a:spLocks noGrp="1"/>
          </p:cNvSpPr>
          <p:nvPr>
            <p:ph type="chart" idx="1" hasCustomPrompt="1"/>
          </p:nvPr>
        </p:nvSpPr>
        <p:spPr>
          <a:xfrm>
            <a:off x="179388" y="981075"/>
            <a:ext cx="8785225" cy="5400675"/>
          </a:xfrm>
        </p:spPr>
        <p:txBody>
          <a:bodyPr/>
          <a:lstStyle/>
          <a:p>
            <a:pPr lvl="0"/>
            <a:r>
              <a:rPr lang="zh-CN" altLang="en-US" noProof="0"/>
              <a:t>单击图标添加图表</a:t>
            </a:r>
            <a:endParaRPr lang="zh-CN" altLang="en-US" noProof="0"/>
          </a:p>
        </p:txBody>
      </p:sp>
      <p:sp>
        <p:nvSpPr>
          <p:cNvPr id="4" name="页脚占位符 9"/>
          <p:cNvSpPr>
            <a:spLocks noGrp="1"/>
          </p:cNvSpPr>
          <p:nvPr>
            <p:ph type="ftr" sz="quarter" idx="10"/>
          </p:nvPr>
        </p:nvSpPr>
        <p:spPr>
          <a:xfrm>
            <a:off x="3028950" y="6356350"/>
            <a:ext cx="3086100" cy="365125"/>
          </a:xfrm>
          <a:prstGeom prst="rect">
            <a:avLst/>
          </a:prstGeom>
        </p:spPr>
        <p:txBody>
          <a:bodyPr/>
          <a:lstStyle>
            <a:lvl1pPr>
              <a:defRPr/>
            </a:lvl1pPr>
          </a:lstStyle>
          <a:p>
            <a:r>
              <a:rPr lang="zh-CN" altLang="en-US"/>
              <a:t>计算机学院体系结构中心</a:t>
            </a:r>
            <a:endParaRPr lang="zh-CN" altLang="en-US"/>
          </a:p>
        </p:txBody>
      </p:sp>
    </p:spTree>
  </p:cSld>
  <p:clrMapOvr>
    <a:masterClrMapping/>
  </p:clrMapOvr>
  <p:transition spd="med">
    <p:pull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79388" y="981075"/>
            <a:ext cx="4316412" cy="5400675"/>
          </a:xfrm>
        </p:spPr>
        <p:txBody>
          <a:bodyPr/>
          <a:lstStyle>
            <a:lvl2pPr>
              <a:spcBef>
                <a:spcPts val="600"/>
              </a:spcBef>
              <a:defRPr/>
            </a:lvl2pPr>
            <a:lvl3pPr>
              <a:spcBef>
                <a:spcPts val="600"/>
              </a:spcBef>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48200" y="981075"/>
            <a:ext cx="4316413"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a:xfrm>
            <a:off x="2209800" y="6453188"/>
            <a:ext cx="4724400" cy="346075"/>
          </a:xfrm>
          <a:prstGeom prst="rect">
            <a:avLst/>
          </a:prstGeom>
        </p:spPr>
        <p:txBody>
          <a:bodyPr/>
          <a:lstStyle>
            <a:lvl1pPr>
              <a:defRPr/>
            </a:lvl1pPr>
          </a:lstStyle>
          <a:p>
            <a:r>
              <a:rPr lang="zh-CN" altLang="en-US"/>
              <a:t>计算机学院体系结构中心</a:t>
            </a:r>
            <a:endParaRPr lang="zh-CN" altLang="en-US"/>
          </a:p>
        </p:txBody>
      </p:sp>
    </p:spTree>
  </p:cSld>
  <p:clrMapOvr>
    <a:masterClrMapping/>
  </p:clrMapOvr>
  <p:transition spd="med">
    <p:pull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US" dirty="0"/>
          </a:p>
        </p:txBody>
      </p:sp>
      <p:sp>
        <p:nvSpPr>
          <p:cNvPr id="5" name="标题 4"/>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76215"/>
            <a:ext cx="8382000" cy="5435600"/>
          </a:xfrm>
        </p:spPr>
        <p:txBody>
          <a:bodyPr/>
          <a:lstStyle>
            <a:lvl1pPr marL="254000" indent="-254000">
              <a:buClr>
                <a:srgbClr val="003399"/>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003399"/>
              </a:buClr>
              <a:buSzPct val="70000"/>
              <a:buFont typeface="Wingdings" panose="05000000000000000000" pitchFamily="2" charset="2"/>
              <a:buChar char="p"/>
              <a:defRPr/>
            </a:lvl3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4" name="标题 3"/>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81000"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标题 4"/>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
        <p:nvSpPr>
          <p:cNvPr id="6" name="Content Placeholder 2"/>
          <p:cNvSpPr>
            <a:spLocks noGrp="1"/>
          </p:cNvSpPr>
          <p:nvPr>
            <p:ph sz="half" idx="10"/>
          </p:nvPr>
        </p:nvSpPr>
        <p:spPr>
          <a:xfrm>
            <a:off x="4648202"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15232"/>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854994"/>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Text Placeholder 4"/>
          <p:cNvSpPr>
            <a:spLocks noGrp="1"/>
          </p:cNvSpPr>
          <p:nvPr>
            <p:ph type="body" sz="quarter" idx="3"/>
          </p:nvPr>
        </p:nvSpPr>
        <p:spPr>
          <a:xfrm>
            <a:off x="4645025" y="1215232"/>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1854994"/>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7" name="标题 6"/>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spd="med">
    <p:pull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jpeg"/><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0"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0.xml"/><Relationship Id="rId8" Type="http://schemas.openxmlformats.org/officeDocument/2006/relationships/slideLayout" Target="../slideLayouts/slideLayout29.xml"/><Relationship Id="rId7" Type="http://schemas.openxmlformats.org/officeDocument/2006/relationships/slideLayout" Target="../slideLayouts/slideLayout28.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2" Type="http://schemas.openxmlformats.org/officeDocument/2006/relationships/theme" Target="../theme/theme3.xml"/><Relationship Id="rId11" Type="http://schemas.openxmlformats.org/officeDocument/2006/relationships/image" Target="../media/image1.jpeg"/><Relationship Id="rId10" Type="http://schemas.openxmlformats.org/officeDocument/2006/relationships/slideLayout" Target="../slideLayouts/slideLayout31.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ln>
          <a:effectLst/>
        </p:spPr>
        <p:txBody>
          <a:bodyPr vert="horz" wrap="square" lIns="38100" tIns="38100" rIns="38100" bIns="38100" numCol="1" anchor="ctr" anchorCtr="0" compatLnSpc="1"/>
          <a:lstStyle/>
          <a:p>
            <a:pPr lvl="0"/>
            <a:r>
              <a:rPr lang="en-US" dirty="0">
                <a:sym typeface="Calibri Bold" charset="0"/>
              </a:rPr>
              <a:t>Click to edit title style</a:t>
            </a:r>
            <a:endParaRPr lang="en-US" dirty="0">
              <a:sym typeface="Calibri Bold" charset="0"/>
            </a:endParaRP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ln>
          <a:effectLst/>
        </p:spPr>
        <p:txBody>
          <a:bodyPr vert="horz" wrap="square" lIns="38100" tIns="38100" rIns="38100" bIns="38100" numCol="1" anchor="t" anchorCtr="0" compatLnSpc="1"/>
          <a:lstStyle/>
          <a:p>
            <a:pPr lvl="0"/>
            <a:r>
              <a:rPr lang="en-US" dirty="0">
                <a:sym typeface="Calibri Bold" charset="0"/>
              </a:rPr>
              <a:t>Click to edit Master text styles</a:t>
            </a:r>
            <a:endParaRPr lang="en-US" dirty="0">
              <a:sym typeface="Calibri Bold" charset="0"/>
            </a:endParaRPr>
          </a:p>
          <a:p>
            <a:pPr lvl="1"/>
            <a:r>
              <a:rPr lang="en-US" dirty="0">
                <a:sym typeface="Calibri" panose="020F0502020204030204" charset="0"/>
              </a:rPr>
              <a:t>Second level</a:t>
            </a:r>
            <a:endParaRPr lang="en-US" dirty="0">
              <a:sym typeface="Calibri" panose="020F0502020204030204" charset="0"/>
            </a:endParaRPr>
          </a:p>
          <a:p>
            <a:pPr lvl="2"/>
            <a:r>
              <a:rPr lang="en-US" dirty="0">
                <a:sym typeface="Calibri" panose="020F0502020204030204" charset="0"/>
              </a:rPr>
              <a:t>Third level</a:t>
            </a:r>
            <a:endParaRPr lang="en-US" dirty="0">
              <a:sym typeface="Calibri" panose="020F0502020204030204" charset="0"/>
            </a:endParaRPr>
          </a:p>
          <a:p>
            <a:pPr lvl="3"/>
            <a:r>
              <a:rPr lang="en-US" dirty="0">
                <a:sym typeface="Calibri" panose="020F0502020204030204" charset="0"/>
              </a:rPr>
              <a:t>Fourth level</a:t>
            </a:r>
            <a:endParaRPr lang="en-US" dirty="0">
              <a:sym typeface="Calibri" panose="020F0502020204030204" charset="0"/>
            </a:endParaRPr>
          </a:p>
        </p:txBody>
      </p:sp>
      <p:sp>
        <p:nvSpPr>
          <p:cNvPr id="4" name="Rectangle 3"/>
          <p:cNvSpPr/>
          <p:nvPr userDrawn="1"/>
        </p:nvSpPr>
        <p:spPr>
          <a:xfrm>
            <a:off x="8818144" y="6611779"/>
            <a:ext cx="338555"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mj-lt"/>
                <a:ea typeface="MS PGothic" panose="020B0600070205080204" pitchFamily="-96" charset="-128"/>
                <a:cs typeface="MS PGothic" panose="020B0600070205080204" pitchFamily="-96" charset="-128"/>
              </a:rPr>
            </a:fld>
            <a:endParaRPr lang="en-US" sz="1000" dirty="0">
              <a:latin typeface="+mj-lt"/>
            </a:endParaRPr>
          </a:p>
        </p:txBody>
      </p:sp>
      <p:sp>
        <p:nvSpPr>
          <p:cNvPr id="6" name="Rectangle 1"/>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lstStyle/>
          <a:p>
            <a:endParaRPr lang="en-US"/>
          </a:p>
        </p:txBody>
      </p:sp>
      <p:sp>
        <p:nvSpPr>
          <p:cNvPr id="7" name="Text Box 32"/>
          <p:cNvSpPr txBox="1">
            <a:spLocks noChangeArrowheads="1"/>
          </p:cNvSpPr>
          <p:nvPr userDrawn="1"/>
        </p:nvSpPr>
        <p:spPr bwMode="auto">
          <a:xfrm>
            <a:off x="7111399" y="-22999"/>
            <a:ext cx="2025363" cy="276999"/>
          </a:xfrm>
          <a:prstGeom prst="rect">
            <a:avLst/>
          </a:prstGeom>
          <a:noFill/>
          <a:ln>
            <a:noFill/>
          </a:ln>
          <a:effectLst/>
        </p:spPr>
        <p:txBody>
          <a:bodyPr wrap="none">
            <a:spAutoFit/>
          </a:bodyPr>
          <a:lstStyle/>
          <a:p>
            <a:pPr algn="l" eaLnBrk="0" hangingPunct="0"/>
            <a:r>
              <a:rPr lang="en-US" altLang="en-US" sz="1200" b="1" dirty="0">
                <a:solidFill>
                  <a:srgbClr val="FFFFFF"/>
                </a:solidFill>
                <a:latin typeface="Times New Roman" panose="02020603050405020304" pitchFamily="18" charset="0"/>
                <a:ea typeface="+mn-ea"/>
                <a:cs typeface="+mn-cs"/>
              </a:rPr>
              <a:t>School of Computer Science</a:t>
            </a:r>
            <a:endParaRPr lang="en-US" altLang="en-US" sz="1200" b="1" dirty="0">
              <a:solidFill>
                <a:srgbClr val="FFFFFF"/>
              </a:solidFill>
              <a:latin typeface="Times New Roman" panose="02020603050405020304" pitchFamily="18" charset="0"/>
              <a:ea typeface="+mn-ea"/>
              <a:cs typeface="+mn-cs"/>
            </a:endParaRPr>
          </a:p>
        </p:txBody>
      </p:sp>
      <p:pic>
        <p:nvPicPr>
          <p:cNvPr id="3" name="图片 2"/>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pic>
        <p:nvPicPr>
          <p:cNvPr id="9" name="图片 8"/>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6330014"/>
            <a:ext cx="503426" cy="520207"/>
          </a:xfrm>
          <a:prstGeom prst="rect">
            <a:avLst/>
          </a:prstGeom>
        </p:spPr>
      </p:pic>
      <p:sp>
        <p:nvSpPr>
          <p:cNvPr id="10" name="TextBox 4"/>
          <p:cNvSpPr txBox="1"/>
          <p:nvPr userDrawn="1"/>
        </p:nvSpPr>
        <p:spPr>
          <a:xfrm>
            <a:off x="503426" y="6585945"/>
            <a:ext cx="2340705" cy="261610"/>
          </a:xfrm>
          <a:prstGeom prst="rect">
            <a:avLst/>
          </a:prstGeom>
          <a:noFill/>
        </p:spPr>
        <p:txBody>
          <a:bodyPr wrap="none" rtlCol="0">
            <a:spAutoFit/>
          </a:bodyPr>
          <a:lstStyle/>
          <a:p>
            <a:r>
              <a:rPr lang="en-US" sz="1100" b="1" i="0" dirty="0">
                <a:solidFill>
                  <a:srgbClr val="326AC6"/>
                </a:solidFill>
                <a:effectLst/>
                <a:latin typeface="Calibri" panose="020F0502020204030204" charset="0"/>
              </a:rPr>
              <a:t>Principles of Computer Organization </a:t>
            </a:r>
            <a:endParaRPr lang="en-US" sz="1100" b="1" i="0" dirty="0">
              <a:solidFill>
                <a:srgbClr val="326AC6"/>
              </a:solidFill>
              <a:effectLst/>
              <a:latin typeface="Calibri" panose="020F050202020403020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CC3300"/>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500"/>
        </a:spcBef>
        <a:spcAft>
          <a:spcPct val="0"/>
        </a:spcAft>
        <a:buClr>
          <a:srgbClr val="008000"/>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2pPr>
      <a:lvl3pPr marL="800100" indent="-203200" algn="l" rtl="0" fontAlgn="base">
        <a:spcBef>
          <a:spcPts val="500"/>
        </a:spcBef>
        <a:spcAft>
          <a:spcPct val="0"/>
        </a:spcAft>
        <a:buClr>
          <a:srgbClr val="9900CC"/>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231900" indent="0" algn="l" rtl="0" fontAlgn="base">
        <a:spcBef>
          <a:spcPts val="500"/>
        </a:spcBef>
        <a:spcAft>
          <a:spcPct val="0"/>
        </a:spcAft>
        <a:buClr>
          <a:srgbClr val="000000"/>
        </a:buClr>
        <a:buSzPct val="100000"/>
        <a:buFont typeface="Calibri" panose="020F0502020204030204" charset="0"/>
        <a:buNone/>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p>
            <a:pPr lvl="0"/>
            <a:r>
              <a:rPr lang="en-US">
                <a:sym typeface="Calibri Bold" charset="0"/>
              </a:rPr>
              <a:t>Click to edit Master title style</a:t>
            </a:r>
            <a:endParaRPr lang="en-US">
              <a:sym typeface="Calibri Bold" charset="0"/>
            </a:endParaRPr>
          </a:p>
        </p:txBody>
      </p:sp>
      <p:sp>
        <p:nvSpPr>
          <p:cNvPr id="5" name="TextBox 4"/>
          <p:cNvSpPr txBox="1"/>
          <p:nvPr userDrawn="1"/>
        </p:nvSpPr>
        <p:spPr>
          <a:xfrm>
            <a:off x="0" y="6611779"/>
            <a:ext cx="2959464" cy="246221"/>
          </a:xfrm>
          <a:prstGeom prst="rect">
            <a:avLst/>
          </a:prstGeom>
          <a:noFill/>
        </p:spPr>
        <p:txBody>
          <a:bodyPr wrap="none" rtlCol="0">
            <a:spAutoFit/>
          </a:bodyPr>
          <a:lstStyle/>
          <a:p>
            <a:r>
              <a:rPr lang="en-US" sz="1000" b="0" i="0" dirty="0">
                <a:latin typeface="Calibri" panose="020F0502020204030204" charset="0"/>
              </a:rPr>
              <a:t>Principles and Interface Technique of Microcomputer</a:t>
            </a:r>
            <a:endParaRPr lang="en-US" sz="1000" b="0" i="0" dirty="0">
              <a:latin typeface="Calibri" panose="020F0502020204030204" charset="0"/>
            </a:endParaRPr>
          </a:p>
        </p:txBody>
      </p:sp>
      <p:sp>
        <p:nvSpPr>
          <p:cNvPr id="6" name="Rectangle 1"/>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lstStyle/>
          <a:p>
            <a:endParaRPr lang="en-US"/>
          </a:p>
        </p:txBody>
      </p:sp>
      <p:sp>
        <p:nvSpPr>
          <p:cNvPr id="7" name="Text Box 32"/>
          <p:cNvSpPr txBox="1">
            <a:spLocks noChangeArrowheads="1"/>
          </p:cNvSpPr>
          <p:nvPr userDrawn="1"/>
        </p:nvSpPr>
        <p:spPr bwMode="auto">
          <a:xfrm>
            <a:off x="7163575" y="-39607"/>
            <a:ext cx="2025363" cy="276999"/>
          </a:xfrm>
          <a:prstGeom prst="rect">
            <a:avLst/>
          </a:prstGeom>
          <a:noFill/>
          <a:ln>
            <a:noFill/>
          </a:ln>
          <a:effectLst/>
        </p:spPr>
        <p:txBody>
          <a:bodyPr wrap="none">
            <a:spAutoFit/>
          </a:bodyPr>
          <a:lstStyle/>
          <a:p>
            <a:pPr algn="l" eaLnBrk="0" hangingPunct="0"/>
            <a:r>
              <a:rPr lang="en-US" altLang="zh-CN" sz="1200" b="1" dirty="0">
                <a:solidFill>
                  <a:srgbClr val="FFFFFF"/>
                </a:solidFill>
                <a:latin typeface="Times New Roman" panose="02020603050405020304" pitchFamily="18" charset="0"/>
                <a:ea typeface="+mn-ea"/>
                <a:cs typeface="+mn-cs"/>
              </a:rPr>
              <a:t>School of Computer Science</a:t>
            </a:r>
            <a:endParaRPr lang="en-US" altLang="en-US" sz="1200" b="1" dirty="0">
              <a:solidFill>
                <a:srgbClr val="FFFFFF"/>
              </a:solidFill>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Lst>
  <p:transition/>
  <p:txStyles>
    <p:titleStyle>
      <a:lvl1pPr algn="l" rtl="0" fontAlgn="base">
        <a:spcBef>
          <a:spcPct val="0"/>
        </a:spcBef>
        <a:spcAft>
          <a:spcPct val="0"/>
        </a:spcAft>
        <a:defRPr sz="3600">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342900" indent="-342900" algn="l" rtl="0" fontAlgn="base">
        <a:spcBef>
          <a:spcPts val="600"/>
        </a:spcBef>
        <a:spcAft>
          <a:spcPct val="0"/>
        </a:spcAft>
        <a:buClr>
          <a:srgbClr val="990000"/>
        </a:buClr>
        <a:buSzPct val="60000"/>
        <a:buFont typeface="Wingdings 2" charset="2"/>
        <a:buChar char="¢"/>
        <a:defRPr sz="2400">
          <a:solidFill>
            <a:schemeClr val="tx1"/>
          </a:solidFill>
          <a:latin typeface="+mn-lt"/>
          <a:ea typeface="+mn-ea"/>
          <a:cs typeface="+mn-cs"/>
          <a:sym typeface="Calibri Bold" charset="0"/>
        </a:defRPr>
      </a:lvl1pPr>
      <a:lvl2pPr marL="742950" indent="-2857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1143000" indent="-2286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600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20574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25146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9718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3429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886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ln>
          <a:effectLst/>
        </p:spPr>
        <p:txBody>
          <a:bodyPr vert="horz" wrap="square" lIns="38100" tIns="38100" rIns="38100" bIns="38100" numCol="1" anchor="ctr" anchorCtr="0" compatLnSpc="1"/>
          <a:lstStyle/>
          <a:p>
            <a:pPr lvl="0"/>
            <a:r>
              <a:rPr lang="en-US" dirty="0">
                <a:sym typeface="Calibri Bold" charset="0"/>
              </a:rPr>
              <a:t>Click to edit title style</a:t>
            </a:r>
            <a:endParaRPr lang="en-US" dirty="0">
              <a:sym typeface="Calibri Bold" charset="0"/>
            </a:endParaRP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ln>
          <a:effectLst/>
        </p:spPr>
        <p:txBody>
          <a:bodyPr vert="horz" wrap="square" lIns="38100" tIns="38100" rIns="38100" bIns="38100" numCol="1" anchor="t" anchorCtr="0" compatLnSpc="1"/>
          <a:lstStyle/>
          <a:p>
            <a:pPr lvl="0"/>
            <a:r>
              <a:rPr lang="en-US" dirty="0">
                <a:sym typeface="Calibri Bold" charset="0"/>
              </a:rPr>
              <a:t>Click to edit Master text styles</a:t>
            </a:r>
            <a:endParaRPr lang="en-US" dirty="0">
              <a:sym typeface="Calibri Bold" charset="0"/>
            </a:endParaRPr>
          </a:p>
          <a:p>
            <a:pPr lvl="1"/>
            <a:r>
              <a:rPr lang="en-US" dirty="0">
                <a:sym typeface="Calibri" panose="020F0502020204030204" charset="0"/>
              </a:rPr>
              <a:t>Second level</a:t>
            </a:r>
            <a:endParaRPr lang="en-US" dirty="0">
              <a:sym typeface="Calibri" panose="020F0502020204030204" charset="0"/>
            </a:endParaRPr>
          </a:p>
          <a:p>
            <a:pPr lvl="2"/>
            <a:r>
              <a:rPr lang="en-US" dirty="0">
                <a:sym typeface="Calibri" panose="020F0502020204030204" charset="0"/>
              </a:rPr>
              <a:t>Third level</a:t>
            </a:r>
            <a:endParaRPr lang="en-US" dirty="0">
              <a:sym typeface="Calibri" panose="020F0502020204030204" charset="0"/>
            </a:endParaRPr>
          </a:p>
          <a:p>
            <a:pPr lvl="3"/>
            <a:r>
              <a:rPr lang="en-US" dirty="0">
                <a:sym typeface="Calibri" panose="020F0502020204030204" charset="0"/>
              </a:rPr>
              <a:t>Fourth level</a:t>
            </a:r>
            <a:endParaRPr lang="en-US" dirty="0">
              <a:sym typeface="Calibri" panose="020F0502020204030204" charset="0"/>
            </a:endParaRPr>
          </a:p>
        </p:txBody>
      </p:sp>
      <p:sp>
        <p:nvSpPr>
          <p:cNvPr id="4" name="Rectangle 3"/>
          <p:cNvSpPr/>
          <p:nvPr userDrawn="1"/>
        </p:nvSpPr>
        <p:spPr>
          <a:xfrm>
            <a:off x="8818144" y="6611779"/>
            <a:ext cx="338555" cy="246221"/>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F5551B27-49BC-4291-80C6-707CDCF1D651}" type="slidenum">
              <a:rPr kumimoji="0" lang="en-US" sz="1000" b="1" i="0" u="none" strike="noStrike" kern="1200" cap="none" spc="0" normalizeH="0" baseline="0" noProof="0" smtClean="0">
                <a:ln>
                  <a:noFill/>
                </a:ln>
                <a:solidFill>
                  <a:srgbClr val="000000"/>
                </a:solidFill>
                <a:effectLst/>
                <a:uLnTx/>
                <a:uFillTx/>
                <a:latin typeface="Calibri Bold"/>
                <a:ea typeface="MS PGothic" panose="020B0600070205080204" pitchFamily="-96" charset="-128"/>
                <a:cs typeface="MS PGothic" panose="020B0600070205080204" pitchFamily="-96" charset="-128"/>
                <a:sym typeface="Gill Sans" charset="0"/>
              </a:rPr>
            </a:fld>
            <a:endParaRPr kumimoji="0" lang="en-US" sz="1000" b="0" i="0" u="none" strike="noStrike" kern="1200" cap="none" spc="0" normalizeH="0" baseline="0" noProof="0" dirty="0">
              <a:ln>
                <a:noFill/>
              </a:ln>
              <a:solidFill>
                <a:srgbClr val="000000"/>
              </a:solidFill>
              <a:effectLst/>
              <a:uLnTx/>
              <a:uFillTx/>
              <a:latin typeface="Calibri Bold"/>
              <a:sym typeface="Gill Sans" charset="0"/>
            </a:endParaRPr>
          </a:p>
        </p:txBody>
      </p:sp>
      <p:sp>
        <p:nvSpPr>
          <p:cNvPr id="5" name="TextBox 4"/>
          <p:cNvSpPr txBox="1"/>
          <p:nvPr userDrawn="1"/>
        </p:nvSpPr>
        <p:spPr>
          <a:xfrm>
            <a:off x="0" y="6604000"/>
            <a:ext cx="2959464" cy="24622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dirty="0">
                <a:ln>
                  <a:noFill/>
                </a:ln>
                <a:solidFill>
                  <a:srgbClr val="000000"/>
                </a:solidFill>
                <a:effectLst/>
                <a:uLnTx/>
                <a:uFillTx/>
                <a:latin typeface="Calibri" panose="020F0502020204030204" charset="0"/>
                <a:sym typeface="Gill Sans" charset="0"/>
              </a:rPr>
              <a:t>Principles and Interface Technique of Microcomputer</a:t>
            </a:r>
            <a:endParaRPr kumimoji="0" lang="en-US" sz="1000" b="0" i="0" u="none" strike="noStrike" kern="1200" cap="none" spc="0" normalizeH="0" baseline="0" noProof="0" dirty="0">
              <a:ln>
                <a:noFill/>
              </a:ln>
              <a:solidFill>
                <a:srgbClr val="000000"/>
              </a:solidFill>
              <a:effectLst/>
              <a:uLnTx/>
              <a:uFillTx/>
              <a:latin typeface="Calibri" panose="020F0502020204030204" charset="0"/>
              <a:sym typeface="Gill Sans" charset="0"/>
            </a:endParaRPr>
          </a:p>
        </p:txBody>
      </p:sp>
      <p:sp>
        <p:nvSpPr>
          <p:cNvPr id="6" name="Rectangle 1"/>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7" name="Text Box 32"/>
          <p:cNvSpPr txBox="1">
            <a:spLocks noChangeArrowheads="1"/>
          </p:cNvSpPr>
          <p:nvPr userDrawn="1"/>
        </p:nvSpPr>
        <p:spPr bwMode="auto">
          <a:xfrm>
            <a:off x="7111399" y="-22999"/>
            <a:ext cx="2025363" cy="276999"/>
          </a:xfrm>
          <a:prstGeom prst="rect">
            <a:avLst/>
          </a:prstGeom>
          <a:noFill/>
          <a:ln>
            <a:noFill/>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mn-cs"/>
                <a:sym typeface="Gill Sans" charset="0"/>
              </a:rPr>
              <a:t>School of Computer Science</a:t>
            </a:r>
            <a:endParaRPr kumimoji="0" lang="en-US" altLang="en-US" sz="1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mn-cs"/>
              <a:sym typeface="Gill Sans" charset="0"/>
            </a:endParaRPr>
          </a:p>
        </p:txBody>
      </p:sp>
      <p:pic>
        <p:nvPicPr>
          <p:cNvPr id="3" name="图片 2"/>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003399"/>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500"/>
        </a:spcBef>
        <a:spcAft>
          <a:spcPct val="0"/>
        </a:spcAft>
        <a:buClr>
          <a:srgbClr val="003399"/>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2pPr>
      <a:lvl3pPr marL="800100" indent="-203200" algn="l" rtl="0" fontAlgn="base">
        <a:spcBef>
          <a:spcPts val="500"/>
        </a:spcBef>
        <a:spcAft>
          <a:spcPct val="0"/>
        </a:spcAft>
        <a:buClr>
          <a:srgbClr val="003399"/>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231900" indent="0" algn="l" rtl="0" fontAlgn="base">
        <a:spcBef>
          <a:spcPts val="500"/>
        </a:spcBef>
        <a:spcAft>
          <a:spcPct val="0"/>
        </a:spcAft>
        <a:buClr>
          <a:srgbClr val="000000"/>
        </a:buClr>
        <a:buSzPct val="100000"/>
        <a:buFont typeface="Calibri" panose="020F0502020204030204" charset="0"/>
        <a:buNone/>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6.GIF"/></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0.xml"/><Relationship Id="rId2" Type="http://schemas.openxmlformats.org/officeDocument/2006/relationships/image" Target="../media/image8.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0.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1.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4.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5.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6.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file:///D:\jinerwork\&#32452;&#25104;\&#30333;&#20013;&#33521;&#29256;&#25913;&#32534;\visio\2.5_4.jpg" TargetMode="External"/><Relationship Id="rId1" Type="http://schemas.openxmlformats.org/officeDocument/2006/relationships/image" Target="../media/image18.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vmlDrawing" Target="../drawings/vmlDrawing2.vml"/><Relationship Id="rId4" Type="http://schemas.openxmlformats.org/officeDocument/2006/relationships/slideLayout" Target="../slideLayouts/slideLayout12.xml"/><Relationship Id="rId3" Type="http://schemas.openxmlformats.org/officeDocument/2006/relationships/image" Target="../media/image21.png"/><Relationship Id="rId2" Type="http://schemas.openxmlformats.org/officeDocument/2006/relationships/image" Target="../media/image23.emf"/><Relationship Id="rId1" Type="http://schemas.openxmlformats.org/officeDocument/2006/relationships/oleObject" Target="../embeddings/oleObject2.bin"/></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NULL" TargetMode="External"/><Relationship Id="rId1" Type="http://schemas.openxmlformats.org/officeDocument/2006/relationships/image" Target="../media/image24.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5.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NULL" TargetMode="External"/><Relationship Id="rId1" Type="http://schemas.openxmlformats.org/officeDocument/2006/relationships/image" Target="../media/image27.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8.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image" Target="../media/image29.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1.jpeg"/><Relationship Id="rId1" Type="http://schemas.openxmlformats.org/officeDocument/2006/relationships/image" Target="../media/image30.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2.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3.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4.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5.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image" Target="../media/image3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7.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8.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image" Target="../media/image39.jpe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image" Target="../media/image40.png"/></Relationships>
</file>

<file path=ppt/slides/_rels/slide75.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10.xml"/><Relationship Id="rId3" Type="http://schemas.openxmlformats.org/officeDocument/2006/relationships/image" Target="../media/image42.jpeg"/><Relationship Id="rId2" Type="http://schemas.openxmlformats.org/officeDocument/2006/relationships/image" Target="../media/image41.emf"/><Relationship Id="rId1" Type="http://schemas.openxmlformats.org/officeDocument/2006/relationships/oleObject" Target="../embeddings/oleObject3.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第</a:t>
            </a:r>
            <a:r>
              <a:rPr lang="en-US" altLang="zh-CN" dirty="0"/>
              <a:t>2</a:t>
            </a:r>
            <a:r>
              <a:rPr lang="zh-CN" altLang="en-US" dirty="0"/>
              <a:t>章  运算方法和运算器</a:t>
            </a:r>
            <a:r>
              <a:rPr lang="en-US" altLang="zh-CN" dirty="0"/>
              <a:t>b</a:t>
            </a:r>
            <a:endParaRPr lang="zh-CN" alt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2.3 </a:t>
            </a:r>
            <a:r>
              <a:rPr lang="zh-CN" altLang="en-US" dirty="0"/>
              <a:t>定点乘法运算</a:t>
            </a:r>
            <a:endParaRPr lang="zh-CN"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78" name="Rectangle 2"/>
          <p:cNvSpPr>
            <a:spLocks noGrp="1" noChangeArrowheads="1"/>
          </p:cNvSpPr>
          <p:nvPr>
            <p:ph type="title"/>
          </p:nvPr>
        </p:nvSpPr>
        <p:spPr/>
        <p:txBody>
          <a:bodyPr/>
          <a:lstStyle/>
          <a:p>
            <a:pPr eaLnBrk="1" hangingPunct="1"/>
            <a:r>
              <a:rPr lang="zh-CN" altLang="en-US"/>
              <a:t>乘除法运算的机器实现方法</a:t>
            </a:r>
            <a:endParaRPr lang="zh-CN" altLang="en-US"/>
          </a:p>
        </p:txBody>
      </p:sp>
      <p:sp>
        <p:nvSpPr>
          <p:cNvPr id="20482" name="Rectangle 3"/>
          <p:cNvSpPr>
            <a:spLocks noGrp="1" noChangeArrowheads="1"/>
          </p:cNvSpPr>
          <p:nvPr>
            <p:ph idx="1"/>
          </p:nvPr>
        </p:nvSpPr>
        <p:spPr/>
        <p:txBody>
          <a:bodyPr/>
          <a:lstStyle/>
          <a:p>
            <a:pPr marL="361950" indent="-361950" eaLnBrk="1" hangingPunct="1">
              <a:lnSpc>
                <a:spcPct val="90000"/>
              </a:lnSpc>
              <a:buFont typeface="Wingdings 2" charset="2"/>
              <a:buNone/>
            </a:pPr>
            <a:r>
              <a:rPr lang="en-US" altLang="zh-CN" dirty="0">
                <a:solidFill>
                  <a:srgbClr val="CC3300"/>
                </a:solidFill>
                <a:latin typeface="Arial" panose="020B0604020202020204" pitchFamily="34" charset="0"/>
              </a:rPr>
              <a:t>1.</a:t>
            </a:r>
            <a:r>
              <a:rPr lang="zh-CN" altLang="en-US" dirty="0">
                <a:latin typeface="Arial" panose="020B0604020202020204" pitchFamily="34" charset="0"/>
              </a:rPr>
              <a:t>完全软件实现</a:t>
            </a:r>
            <a:endParaRPr lang="zh-CN" altLang="en-US" dirty="0">
              <a:latin typeface="Arial" panose="020B0604020202020204" pitchFamily="34" charset="0"/>
            </a:endParaRPr>
          </a:p>
          <a:p>
            <a:pPr marL="361950" indent="-361950" eaLnBrk="1" hangingPunct="1">
              <a:lnSpc>
                <a:spcPct val="90000"/>
              </a:lnSpc>
              <a:buFont typeface="Wingdings 2" charset="2"/>
              <a:buNone/>
            </a:pPr>
            <a:r>
              <a:rPr lang="zh-CN" altLang="en-US" sz="2800" dirty="0">
                <a:latin typeface="Arial" panose="020B0604020202020204" pitchFamily="34" charset="0"/>
              </a:rPr>
              <a:t>    不设乘除法运算的硬件电路，而是由软件利用运算器中的加法器和移位寄存器实现乘、除法运算</a:t>
            </a:r>
            <a:endParaRPr lang="zh-CN" altLang="en-US" sz="2800" dirty="0">
              <a:latin typeface="Arial" panose="020B0604020202020204" pitchFamily="34" charset="0"/>
            </a:endParaRPr>
          </a:p>
          <a:p>
            <a:pPr marL="361950" indent="-361950" eaLnBrk="1" hangingPunct="1">
              <a:lnSpc>
                <a:spcPct val="90000"/>
              </a:lnSpc>
              <a:buFont typeface="Wingdings 2" charset="2"/>
              <a:buNone/>
            </a:pPr>
            <a:r>
              <a:rPr lang="en-US" altLang="zh-CN" dirty="0">
                <a:solidFill>
                  <a:srgbClr val="CC3300"/>
                </a:solidFill>
                <a:latin typeface="Arial" panose="020B0604020202020204" pitchFamily="34" charset="0"/>
              </a:rPr>
              <a:t>2.</a:t>
            </a:r>
            <a:r>
              <a:rPr lang="zh-CN" altLang="en-US" dirty="0">
                <a:latin typeface="Arial" panose="020B0604020202020204" pitchFamily="34" charset="0"/>
              </a:rPr>
              <a:t>加法器加上硬件辅助电路实现</a:t>
            </a:r>
            <a:endParaRPr lang="zh-CN" altLang="en-US" dirty="0">
              <a:latin typeface="Arial" panose="020B0604020202020204" pitchFamily="34" charset="0"/>
            </a:endParaRPr>
          </a:p>
          <a:p>
            <a:pPr marL="361950" indent="-361950" eaLnBrk="1" hangingPunct="1">
              <a:lnSpc>
                <a:spcPct val="90000"/>
              </a:lnSpc>
              <a:buFont typeface="Wingdings 2" charset="2"/>
              <a:buNone/>
            </a:pPr>
            <a:r>
              <a:rPr lang="zh-CN" altLang="en-US" sz="2800" dirty="0">
                <a:latin typeface="Arial" panose="020B0604020202020204" pitchFamily="34" charset="0"/>
              </a:rPr>
              <a:t>    利用运算器中的加法器硬件电路和移位寄存器，再设计必要的扩展电路，可以用硬件通过加法和移位操作实现乘、除法运算</a:t>
            </a:r>
            <a:endParaRPr lang="zh-CN" altLang="en-US" sz="2800" dirty="0">
              <a:latin typeface="Arial" panose="020B0604020202020204" pitchFamily="34" charset="0"/>
            </a:endParaRPr>
          </a:p>
          <a:p>
            <a:pPr marL="361950" indent="-361950" eaLnBrk="1" hangingPunct="1">
              <a:lnSpc>
                <a:spcPct val="90000"/>
              </a:lnSpc>
              <a:buFont typeface="Wingdings 2" charset="2"/>
              <a:buNone/>
            </a:pPr>
            <a:r>
              <a:rPr lang="en-US" altLang="zh-CN" dirty="0">
                <a:solidFill>
                  <a:srgbClr val="CC3300"/>
                </a:solidFill>
                <a:latin typeface="Arial" panose="020B0604020202020204" pitchFamily="34" charset="0"/>
              </a:rPr>
              <a:t>3.</a:t>
            </a:r>
            <a:r>
              <a:rPr lang="zh-CN" altLang="en-US" dirty="0">
                <a:latin typeface="Arial" panose="020B0604020202020204" pitchFamily="34" charset="0"/>
              </a:rPr>
              <a:t>专用乘、除法器实现</a:t>
            </a:r>
            <a:endParaRPr lang="zh-CN" altLang="en-US" dirty="0">
              <a:latin typeface="Arial" panose="020B0604020202020204" pitchFamily="34" charset="0"/>
            </a:endParaRPr>
          </a:p>
          <a:p>
            <a:pPr marL="361950" indent="-361950" eaLnBrk="1" hangingPunct="1">
              <a:lnSpc>
                <a:spcPct val="90000"/>
              </a:lnSpc>
              <a:buFont typeface="Wingdings 2" charset="2"/>
              <a:buNone/>
            </a:pPr>
            <a:r>
              <a:rPr lang="zh-CN" altLang="en-US" sz="2800" dirty="0">
                <a:latin typeface="Arial" panose="020B0604020202020204" pitchFamily="34" charset="0"/>
              </a:rPr>
              <a:t>    在运算器中除了设置加法器之外，采用专用硬件电路实现高速乘、除法部件，直接完成乘、除法运算</a:t>
            </a:r>
            <a:endParaRPr lang="zh-CN" altLang="en-US" sz="2800" dirty="0">
              <a:latin typeface="Arial" panose="020B0604020202020204" pitchFamily="34" charset="0"/>
            </a:endParaRPr>
          </a:p>
        </p:txBody>
      </p:sp>
    </p:spTree>
  </p:cSld>
  <p:clrMapOvr>
    <a:masterClrMapping/>
  </p:clrMapOvr>
  <p:transition spd="med">
    <p:pull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26" name="Rectangle 2"/>
          <p:cNvSpPr>
            <a:spLocks noGrp="1" noChangeArrowheads="1"/>
          </p:cNvSpPr>
          <p:nvPr>
            <p:ph type="title"/>
          </p:nvPr>
        </p:nvSpPr>
        <p:spPr/>
        <p:txBody>
          <a:bodyPr/>
          <a:lstStyle/>
          <a:p>
            <a:pPr eaLnBrk="1" hangingPunct="1"/>
            <a:r>
              <a:rPr lang="zh-CN" altLang="en-US">
                <a:latin typeface="Arial" panose="020B0604020202020204" pitchFamily="34" charset="0"/>
              </a:rPr>
              <a:t>定点乘法运算算法</a:t>
            </a:r>
            <a:endParaRPr lang="zh-CN" altLang="en-US">
              <a:latin typeface="Arial" panose="020B0604020202020204" pitchFamily="34" charset="0"/>
            </a:endParaRPr>
          </a:p>
        </p:txBody>
      </p:sp>
      <p:sp>
        <p:nvSpPr>
          <p:cNvPr id="22530" name="Rectangle 3"/>
          <p:cNvSpPr>
            <a:spLocks noGrp="1" noChangeArrowheads="1"/>
          </p:cNvSpPr>
          <p:nvPr>
            <p:ph idx="1"/>
          </p:nvPr>
        </p:nvSpPr>
        <p:spPr/>
        <p:txBody>
          <a:bodyPr/>
          <a:lstStyle/>
          <a:p>
            <a:pPr eaLnBrk="1" hangingPunct="1"/>
            <a:r>
              <a:rPr lang="zh-CN" altLang="en-US" dirty="0">
                <a:latin typeface="Arial" panose="020B0604020202020204" pitchFamily="34" charset="0"/>
              </a:rPr>
              <a:t>原码一位乘法运算</a:t>
            </a:r>
            <a:endParaRPr lang="zh-CN" altLang="en-US" dirty="0">
              <a:latin typeface="Arial Unicode MS" panose="020B0604020202020204" pitchFamily="34" charset="-128"/>
              <a:ea typeface="Arial Unicode MS" panose="020B0604020202020204" pitchFamily="34" charset="-128"/>
            </a:endParaRPr>
          </a:p>
          <a:p>
            <a:pPr eaLnBrk="1" hangingPunct="1"/>
            <a:r>
              <a:rPr lang="zh-CN" altLang="en-US" dirty="0">
                <a:latin typeface="Arial" panose="020B0604020202020204" pitchFamily="34" charset="0"/>
              </a:rPr>
              <a:t>补码一位乘法运算（不要求）</a:t>
            </a:r>
            <a:endParaRPr lang="zh-CN" altLang="en-US" dirty="0">
              <a:latin typeface="Arial Unicode MS" panose="020B0604020202020204" pitchFamily="34" charset="-128"/>
              <a:ea typeface="Arial Unicode MS" panose="020B0604020202020204" pitchFamily="34" charset="-128"/>
            </a:endParaRPr>
          </a:p>
          <a:p>
            <a:pPr eaLnBrk="1" hangingPunct="1"/>
            <a:r>
              <a:rPr lang="zh-CN" altLang="en-US" dirty="0">
                <a:latin typeface="Arial" panose="020B0604020202020204" pitchFamily="34" charset="0"/>
              </a:rPr>
              <a:t>原码两位乘法运算（不要求）</a:t>
            </a:r>
            <a:endParaRPr lang="zh-CN" altLang="en-US" dirty="0">
              <a:latin typeface="Arial Unicode MS" panose="020B0604020202020204" pitchFamily="34" charset="-128"/>
              <a:ea typeface="Arial Unicode MS" panose="020B0604020202020204" pitchFamily="34" charset="-128"/>
            </a:endParaRPr>
          </a:p>
          <a:p>
            <a:pPr eaLnBrk="1" hangingPunct="1"/>
            <a:r>
              <a:rPr lang="zh-CN" altLang="en-US" dirty="0">
                <a:latin typeface="Arial" panose="020B0604020202020204" pitchFamily="34" charset="0"/>
              </a:rPr>
              <a:t>无符号的阵列乘法</a:t>
            </a:r>
            <a:endParaRPr lang="zh-CN" altLang="en-US" dirty="0">
              <a:latin typeface="Arial" panose="020B0604020202020204" pitchFamily="34" charset="0"/>
            </a:endParaRPr>
          </a:p>
          <a:p>
            <a:pPr eaLnBrk="1" hangingPunct="1"/>
            <a:r>
              <a:rPr lang="zh-CN" altLang="en-US" dirty="0">
                <a:latin typeface="Arial" panose="020B0604020202020204" pitchFamily="34" charset="0"/>
              </a:rPr>
              <a:t>有符号的阵列乘法</a:t>
            </a:r>
            <a:endParaRPr lang="zh-CN" altLang="en-US" dirty="0">
              <a:latin typeface="Arial Unicode MS" panose="020B0604020202020204" pitchFamily="34" charset="-128"/>
              <a:ea typeface="Arial Unicode MS" panose="020B0604020202020204" pitchFamily="34" charset="-128"/>
            </a:endParaRPr>
          </a:p>
          <a:p>
            <a:pPr eaLnBrk="1" hangingPunct="1"/>
            <a:r>
              <a:rPr lang="zh-CN" altLang="en-US" dirty="0">
                <a:latin typeface="Arial" panose="020B0604020202020204" pitchFamily="34" charset="0"/>
              </a:rPr>
              <a:t>直接补码并行乘法（不要求）</a:t>
            </a:r>
            <a:endParaRPr lang="zh-CN" altLang="en-US" dirty="0">
              <a:latin typeface="Arial" panose="020B0604020202020204" pitchFamily="34" charset="0"/>
            </a:endParaRPr>
          </a:p>
        </p:txBody>
      </p:sp>
    </p:spTree>
  </p:cSld>
  <p:clrMapOvr>
    <a:masterClrMapping/>
  </p:clrMapOvr>
  <p:transition spd="med">
    <p:pull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eaLnBrk="1" hangingPunct="1">
              <a:buFont typeface="Wingdings 2" charset="2"/>
              <a:buNone/>
            </a:pPr>
            <a:r>
              <a:rPr lang="zh-CN" altLang="en-US" dirty="0"/>
              <a:t>令：</a:t>
            </a:r>
            <a:r>
              <a:rPr lang="en-US" altLang="zh-CN" dirty="0"/>
              <a:t>[X]</a:t>
            </a:r>
            <a:r>
              <a:rPr lang="zh-CN" altLang="en-US" baseline="-30000" dirty="0"/>
              <a:t>原</a:t>
            </a:r>
            <a:r>
              <a:rPr lang="zh-CN" altLang="en-US" dirty="0"/>
              <a:t> </a:t>
            </a:r>
            <a:r>
              <a:rPr lang="en-US" altLang="zh-CN" dirty="0"/>
              <a:t>= X</a:t>
            </a:r>
            <a:r>
              <a:rPr lang="en-US" altLang="zh-CN" baseline="-30000" dirty="0"/>
              <a:t>f</a:t>
            </a:r>
            <a:r>
              <a:rPr lang="en-US" altLang="zh-CN" dirty="0"/>
              <a:t>.X</a:t>
            </a:r>
            <a:r>
              <a:rPr lang="en-US" altLang="zh-CN" baseline="-30000" dirty="0"/>
              <a:t>1</a:t>
            </a:r>
            <a:r>
              <a:rPr lang="en-US" altLang="zh-CN" dirty="0"/>
              <a:t> X</a:t>
            </a:r>
            <a:r>
              <a:rPr lang="en-US" altLang="zh-CN" baseline="-30000" dirty="0"/>
              <a:t>2</a:t>
            </a:r>
            <a:r>
              <a:rPr lang="en-US" altLang="zh-CN" dirty="0"/>
              <a:t> X</a:t>
            </a:r>
            <a:r>
              <a:rPr lang="en-US" altLang="zh-CN" baseline="-30000" dirty="0"/>
              <a:t>3</a:t>
            </a:r>
            <a:r>
              <a:rPr lang="en-US" altLang="zh-CN" dirty="0"/>
              <a:t>……</a:t>
            </a:r>
            <a:r>
              <a:rPr lang="en-US" altLang="zh-CN" dirty="0" err="1"/>
              <a:t>X</a:t>
            </a:r>
            <a:r>
              <a:rPr lang="en-US" altLang="zh-CN" baseline="-30000" dirty="0" err="1"/>
              <a:t>n</a:t>
            </a:r>
            <a:r>
              <a:rPr lang="en-US" altLang="zh-CN" dirty="0"/>
              <a:t> </a:t>
            </a:r>
            <a:endParaRPr lang="en-US" altLang="zh-CN" dirty="0"/>
          </a:p>
          <a:p>
            <a:pPr eaLnBrk="1" hangingPunct="1">
              <a:buFont typeface="Wingdings 2" charset="2"/>
              <a:buNone/>
            </a:pPr>
            <a:r>
              <a:rPr lang="en-US" altLang="zh-CN" dirty="0"/>
              <a:t>        [Y]</a:t>
            </a:r>
            <a:r>
              <a:rPr lang="zh-CN" altLang="en-US" baseline="-30000" dirty="0"/>
              <a:t>原</a:t>
            </a:r>
            <a:r>
              <a:rPr lang="zh-CN" altLang="en-US" dirty="0"/>
              <a:t> </a:t>
            </a:r>
            <a:r>
              <a:rPr lang="en-US" altLang="zh-CN" dirty="0"/>
              <a:t>= </a:t>
            </a:r>
            <a:r>
              <a:rPr lang="en-US" altLang="zh-CN" dirty="0" err="1"/>
              <a:t>Y</a:t>
            </a:r>
            <a:r>
              <a:rPr lang="en-US" altLang="zh-CN" baseline="-30000" dirty="0" err="1"/>
              <a:t>f</a:t>
            </a:r>
            <a:r>
              <a:rPr lang="en-US" altLang="zh-CN" baseline="-30000" dirty="0"/>
              <a:t> </a:t>
            </a:r>
            <a:r>
              <a:rPr lang="en-US" altLang="zh-CN" dirty="0"/>
              <a:t>.Y</a:t>
            </a:r>
            <a:r>
              <a:rPr lang="en-US" altLang="zh-CN" baseline="-30000" dirty="0"/>
              <a:t>1</a:t>
            </a:r>
            <a:r>
              <a:rPr lang="en-US" altLang="zh-CN" dirty="0"/>
              <a:t> Y</a:t>
            </a:r>
            <a:r>
              <a:rPr lang="en-US" altLang="zh-CN" baseline="-30000" dirty="0"/>
              <a:t>2</a:t>
            </a:r>
            <a:r>
              <a:rPr lang="en-US" altLang="zh-CN" dirty="0"/>
              <a:t> Y</a:t>
            </a:r>
            <a:r>
              <a:rPr lang="en-US" altLang="zh-CN" baseline="-30000" dirty="0"/>
              <a:t>3</a:t>
            </a:r>
            <a:r>
              <a:rPr lang="en-US" altLang="zh-CN" dirty="0"/>
              <a:t>……</a:t>
            </a:r>
            <a:r>
              <a:rPr lang="en-US" altLang="zh-CN" dirty="0" err="1"/>
              <a:t>Y</a:t>
            </a:r>
            <a:r>
              <a:rPr lang="en-US" altLang="zh-CN" baseline="-30000" dirty="0" err="1"/>
              <a:t>n</a:t>
            </a:r>
            <a:endParaRPr lang="en-US" altLang="zh-CN" dirty="0"/>
          </a:p>
          <a:p>
            <a:pPr eaLnBrk="1" hangingPunct="1">
              <a:buFont typeface="Wingdings 2" charset="2"/>
              <a:buNone/>
            </a:pPr>
            <a:r>
              <a:rPr lang="zh-CN" altLang="en-US" dirty="0"/>
              <a:t>则 </a:t>
            </a:r>
            <a:endParaRPr lang="zh-CN" altLang="en-US" dirty="0"/>
          </a:p>
          <a:p>
            <a:pPr eaLnBrk="1" hangingPunct="1">
              <a:buFont typeface="Wingdings 2" charset="2"/>
              <a:buNone/>
            </a:pPr>
            <a:endParaRPr lang="zh-CN" altLang="en-US" dirty="0"/>
          </a:p>
          <a:p>
            <a:pPr eaLnBrk="1" hangingPunct="1">
              <a:buFont typeface="Wingdings 2" charset="2"/>
              <a:buNone/>
            </a:pPr>
            <a:endParaRPr lang="zh-CN" altLang="en-US" dirty="0">
              <a:solidFill>
                <a:srgbClr val="000000"/>
              </a:solidFill>
            </a:endParaRPr>
          </a:p>
          <a:p>
            <a:pPr eaLnBrk="1" hangingPunct="1">
              <a:buFont typeface="Wingdings 2" charset="2"/>
              <a:buNone/>
            </a:pPr>
            <a:endParaRPr lang="zh-CN" altLang="en-US" dirty="0">
              <a:solidFill>
                <a:srgbClr val="000000"/>
              </a:solidFill>
            </a:endParaRPr>
          </a:p>
          <a:p>
            <a:pPr eaLnBrk="1" hangingPunct="1">
              <a:buFont typeface="Wingdings 2" charset="2"/>
              <a:buNone/>
            </a:pPr>
            <a:r>
              <a:rPr lang="zh-CN" altLang="en-US" dirty="0"/>
              <a:t>积的符号：被乘数与乘数两符号的异或值</a:t>
            </a:r>
            <a:endParaRPr lang="zh-CN" altLang="en-US" dirty="0"/>
          </a:p>
          <a:p>
            <a:pPr eaLnBrk="1" hangingPunct="1">
              <a:buFont typeface="Wingdings 2" charset="2"/>
              <a:buNone/>
            </a:pPr>
            <a:r>
              <a:rPr lang="zh-CN" altLang="en-US" dirty="0"/>
              <a:t>积的数值：被乘数与乘数两数的绝对值之积</a:t>
            </a:r>
            <a:endParaRPr lang="zh-CN" altLang="en-US" baseline="-30000" dirty="0"/>
          </a:p>
          <a:p>
            <a:endParaRPr lang="zh-CN" altLang="en-US" dirty="0"/>
          </a:p>
        </p:txBody>
      </p:sp>
      <p:sp>
        <p:nvSpPr>
          <p:cNvPr id="3" name="标题 2"/>
          <p:cNvSpPr>
            <a:spLocks noGrp="1"/>
          </p:cNvSpPr>
          <p:nvPr>
            <p:ph type="title"/>
          </p:nvPr>
        </p:nvSpPr>
        <p:spPr/>
        <p:txBody>
          <a:bodyPr/>
          <a:lstStyle/>
          <a:p>
            <a:r>
              <a:rPr lang="zh-CN" altLang="en-US" dirty="0"/>
              <a:t>原码一位乘法运算 </a:t>
            </a:r>
            <a:endParaRPr lang="zh-CN" altLang="en-US" dirty="0"/>
          </a:p>
        </p:txBody>
      </p:sp>
      <p:graphicFrame>
        <p:nvGraphicFramePr>
          <p:cNvPr id="4" name="Object 4"/>
          <p:cNvGraphicFramePr>
            <a:graphicFrameLocks noChangeAspect="1"/>
          </p:cNvGraphicFramePr>
          <p:nvPr/>
        </p:nvGraphicFramePr>
        <p:xfrm>
          <a:off x="914400" y="2667000"/>
          <a:ext cx="6881811" cy="1244890"/>
        </p:xfrm>
        <a:graphic>
          <a:graphicData uri="http://schemas.openxmlformats.org/presentationml/2006/ole">
            <mc:AlternateContent xmlns:mc="http://schemas.openxmlformats.org/markup-compatibility/2006">
              <mc:Choice xmlns:v="urn:schemas-microsoft-com:vml" Requires="v">
                <p:oleObj spid="_x0000_s1027" name="Equation" r:id="rId1" imgW="2921635" imgH="379095" progId="Equation.DSMT4">
                  <p:embed/>
                </p:oleObj>
              </mc:Choice>
              <mc:Fallback>
                <p:oleObj name="Equation" r:id="rId1" imgW="2921635" imgH="379095"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667000"/>
                        <a:ext cx="6881811" cy="1244890"/>
                      </a:xfrm>
                      <a:prstGeom prst="rect">
                        <a:avLst/>
                      </a:prstGeom>
                      <a:noFill/>
                      <a:ln>
                        <a:noFill/>
                      </a:ln>
                    </p:spPr>
                  </p:pic>
                </p:oleObj>
              </mc:Fallback>
            </mc:AlternateContent>
          </a:graphicData>
        </a:graphic>
      </p:graphicFrame>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22" name="Rectangle 2"/>
          <p:cNvSpPr>
            <a:spLocks noGrp="1" noChangeArrowheads="1"/>
          </p:cNvSpPr>
          <p:nvPr>
            <p:ph type="title"/>
          </p:nvPr>
        </p:nvSpPr>
        <p:spPr>
          <a:xfrm>
            <a:off x="304800" y="227012"/>
            <a:ext cx="8839200" cy="765175"/>
          </a:xfrm>
        </p:spPr>
        <p:txBody>
          <a:bodyPr/>
          <a:lstStyle/>
          <a:p>
            <a:pPr eaLnBrk="1" hangingPunct="1"/>
            <a:r>
              <a:rPr lang="zh-CN" altLang="en-US" dirty="0"/>
              <a:t>二进制乘法</a:t>
            </a:r>
            <a:endParaRPr lang="zh-CN" altLang="en-US" dirty="0"/>
          </a:p>
        </p:txBody>
      </p:sp>
      <p:sp>
        <p:nvSpPr>
          <p:cNvPr id="798731" name="Rectangle 11"/>
          <p:cNvSpPr>
            <a:spLocks noGrp="1" noChangeArrowheads="1"/>
          </p:cNvSpPr>
          <p:nvPr>
            <p:ph idx="1"/>
          </p:nvPr>
        </p:nvSpPr>
        <p:spPr>
          <a:xfrm>
            <a:off x="4408954" y="1143000"/>
            <a:ext cx="4679950" cy="5334000"/>
          </a:xfrm>
          <a:ln w="19050">
            <a:solidFill>
              <a:schemeClr val="accent2"/>
            </a:solidFill>
            <a:miter lim="800000"/>
          </a:ln>
        </p:spPr>
        <p:txBody>
          <a:bodyPr/>
          <a:lstStyle/>
          <a:p>
            <a:pPr marL="361950" indent="-361950" eaLnBrk="1" hangingPunct="1">
              <a:lnSpc>
                <a:spcPct val="90000"/>
              </a:lnSpc>
            </a:pPr>
            <a:r>
              <a:rPr lang="zh-CN" altLang="en-US" sz="2800"/>
              <a:t>基本算法描述：</a:t>
            </a:r>
            <a:endParaRPr lang="zh-CN" altLang="en-US" sz="2800"/>
          </a:p>
          <a:p>
            <a:pPr marL="897255" lvl="1" indent="-355600" eaLnBrk="1" hangingPunct="1">
              <a:lnSpc>
                <a:spcPct val="90000"/>
              </a:lnSpc>
            </a:pPr>
            <a:r>
              <a:rPr lang="zh-CN" altLang="en-US" sz="2400"/>
              <a:t>若乘数的当前位为</a:t>
            </a:r>
            <a:r>
              <a:rPr lang="en-US" altLang="zh-CN" sz="2400"/>
              <a:t>1</a:t>
            </a:r>
            <a:r>
              <a:rPr lang="zh-CN" altLang="en-US" sz="2400"/>
              <a:t>， 则将被乘数和部分积求和。</a:t>
            </a:r>
            <a:endParaRPr lang="zh-CN" altLang="en-US" sz="2400"/>
          </a:p>
          <a:p>
            <a:pPr marL="897255" lvl="1" indent="-355600" eaLnBrk="1" hangingPunct="1">
              <a:lnSpc>
                <a:spcPct val="90000"/>
              </a:lnSpc>
            </a:pPr>
            <a:r>
              <a:rPr lang="zh-CN" altLang="en-US" sz="2400"/>
              <a:t>若乘数的当前位为</a:t>
            </a:r>
            <a:r>
              <a:rPr lang="en-US" altLang="zh-CN" sz="2400"/>
              <a:t>0</a:t>
            </a:r>
            <a:r>
              <a:rPr lang="zh-CN" altLang="en-US" sz="2400"/>
              <a:t>，则跳过。</a:t>
            </a:r>
            <a:endParaRPr lang="zh-CN" altLang="en-US" sz="2400"/>
          </a:p>
          <a:p>
            <a:pPr marL="897255" lvl="1" indent="-355600" eaLnBrk="1" hangingPunct="1">
              <a:lnSpc>
                <a:spcPct val="90000"/>
              </a:lnSpc>
            </a:pPr>
            <a:r>
              <a:rPr lang="zh-CN" altLang="en-US" sz="2400"/>
              <a:t>将部分积移位。</a:t>
            </a:r>
            <a:endParaRPr lang="zh-CN" altLang="en-US" sz="2400"/>
          </a:p>
          <a:p>
            <a:pPr marL="897255" lvl="1" indent="-355600" eaLnBrk="1" hangingPunct="1">
              <a:lnSpc>
                <a:spcPct val="90000"/>
              </a:lnSpc>
            </a:pPr>
            <a:endParaRPr lang="zh-CN" altLang="en-US" sz="2400"/>
          </a:p>
          <a:p>
            <a:pPr marL="897255" lvl="1" indent="-355600" eaLnBrk="1" hangingPunct="1">
              <a:lnSpc>
                <a:spcPct val="90000"/>
              </a:lnSpc>
            </a:pPr>
            <a:r>
              <a:rPr lang="zh-CN" altLang="en-US" sz="2400"/>
              <a:t>所有位都完成后，部分积即为最终结果。</a:t>
            </a:r>
            <a:endParaRPr lang="zh-CN" altLang="en-US" sz="2400"/>
          </a:p>
          <a:p>
            <a:pPr marL="361950" indent="-361950" eaLnBrk="1" hangingPunct="1">
              <a:lnSpc>
                <a:spcPct val="90000"/>
              </a:lnSpc>
            </a:pPr>
            <a:r>
              <a:rPr lang="en-US" altLang="zh-CN" sz="2800"/>
              <a:t>N </a:t>
            </a:r>
            <a:r>
              <a:rPr lang="zh-CN" altLang="en-US" sz="2800"/>
              <a:t>位乘数 </a:t>
            </a:r>
            <a:r>
              <a:rPr lang="en-US" altLang="zh-CN" sz="2800">
                <a:latin typeface="仿宋" panose="02010609060101010101" pitchFamily="49" charset="-122"/>
                <a:ea typeface="仿宋" panose="02010609060101010101" pitchFamily="49" charset="-122"/>
              </a:rPr>
              <a:t>×</a:t>
            </a:r>
            <a:r>
              <a:rPr lang="zh-CN" altLang="en-US" sz="2800"/>
              <a:t> </a:t>
            </a:r>
            <a:r>
              <a:rPr lang="en-US" altLang="zh-CN" sz="2800"/>
              <a:t>M </a:t>
            </a:r>
            <a:r>
              <a:rPr lang="zh-CN" altLang="en-US" sz="2800"/>
              <a:t>位被乘数 </a:t>
            </a:r>
            <a:r>
              <a:rPr lang="en-US" altLang="zh-CN" sz="2800"/>
              <a:t>=&gt; N+M </a:t>
            </a:r>
            <a:r>
              <a:rPr lang="zh-CN" altLang="en-US" sz="2800"/>
              <a:t>位的积 </a:t>
            </a:r>
            <a:endParaRPr lang="zh-CN" altLang="en-US" sz="2800"/>
          </a:p>
          <a:p>
            <a:pPr marL="361950" indent="-361950" eaLnBrk="1" hangingPunct="1">
              <a:lnSpc>
                <a:spcPct val="90000"/>
              </a:lnSpc>
            </a:pPr>
            <a:r>
              <a:rPr lang="zh-CN" altLang="en-US" sz="2800"/>
              <a:t>乘法显然比加法更复杂</a:t>
            </a:r>
            <a:r>
              <a:rPr lang="en-US" altLang="zh-CN" sz="2800"/>
              <a:t>…</a:t>
            </a:r>
            <a:endParaRPr lang="en-US" altLang="zh-CN" sz="2800"/>
          </a:p>
          <a:p>
            <a:pPr marL="897255" lvl="1" indent="-355600" eaLnBrk="1" hangingPunct="1">
              <a:lnSpc>
                <a:spcPct val="90000"/>
              </a:lnSpc>
            </a:pPr>
            <a:r>
              <a:rPr lang="zh-CN" altLang="en-US" sz="2400"/>
              <a:t>但比十进制乘法要简单</a:t>
            </a:r>
            <a:endParaRPr lang="zh-CN" altLang="en-US" sz="2400"/>
          </a:p>
        </p:txBody>
      </p:sp>
      <p:sp>
        <p:nvSpPr>
          <p:cNvPr id="798723" name="Text Box 3"/>
          <p:cNvSpPr txBox="1">
            <a:spLocks noChangeArrowheads="1"/>
          </p:cNvSpPr>
          <p:nvPr/>
        </p:nvSpPr>
        <p:spPr bwMode="auto">
          <a:xfrm>
            <a:off x="1884363" y="1903412"/>
            <a:ext cx="2160587" cy="91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lnSpc>
                <a:spcPct val="70000"/>
              </a:lnSpc>
              <a:spcBef>
                <a:spcPct val="50000"/>
              </a:spcBef>
              <a:buClrTx/>
              <a:buFontTx/>
              <a:buNone/>
            </a:pPr>
            <a:r>
              <a:rPr lang="en-US" altLang="zh-CN" sz="2800" dirty="0">
                <a:ea typeface="黑体" panose="02010609060101010101" pitchFamily="49" charset="-122"/>
                <a:cs typeface="Times New Roman" panose="02020603050405020304" pitchFamily="18" charset="0"/>
              </a:rPr>
              <a:t>    0.1101</a:t>
            </a:r>
            <a:endParaRPr lang="en-US" altLang="zh-CN" sz="2800" dirty="0">
              <a:ea typeface="黑体" panose="02010609060101010101" pitchFamily="49" charset="-122"/>
              <a:cs typeface="Times New Roman" panose="02020603050405020304" pitchFamily="18" charset="0"/>
            </a:endParaRPr>
          </a:p>
          <a:p>
            <a:pPr eaLnBrk="1" hangingPunct="1">
              <a:lnSpc>
                <a:spcPct val="70000"/>
              </a:lnSpc>
              <a:spcBef>
                <a:spcPct val="50000"/>
              </a:spcBef>
              <a:buClrTx/>
              <a:buFontTx/>
              <a:buNone/>
            </a:pPr>
            <a:r>
              <a:rPr lang="en-US" altLang="zh-CN" sz="2800" dirty="0">
                <a:ea typeface="黑体" panose="02010609060101010101" pitchFamily="49" charset="-122"/>
                <a:cs typeface="Times New Roman" panose="02020603050405020304" pitchFamily="18" charset="0"/>
              </a:rPr>
              <a:t>×0.1011</a:t>
            </a:r>
            <a:endParaRPr lang="en-US" altLang="zh-CN" sz="2800" dirty="0">
              <a:ea typeface="黑体" panose="02010609060101010101" pitchFamily="49" charset="-122"/>
              <a:cs typeface="Times New Roman" panose="02020603050405020304" pitchFamily="18" charset="0"/>
            </a:endParaRPr>
          </a:p>
        </p:txBody>
      </p:sp>
      <p:sp>
        <p:nvSpPr>
          <p:cNvPr id="798724" name="Text Box 4"/>
          <p:cNvSpPr txBox="1">
            <a:spLocks noChangeArrowheads="1"/>
          </p:cNvSpPr>
          <p:nvPr/>
        </p:nvSpPr>
        <p:spPr bwMode="auto">
          <a:xfrm>
            <a:off x="-180975" y="3198812"/>
            <a:ext cx="4419600" cy="1630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lnSpc>
                <a:spcPct val="50000"/>
              </a:lnSpc>
              <a:spcBef>
                <a:spcPct val="50000"/>
              </a:spcBef>
              <a:buClrTx/>
              <a:buFontTx/>
              <a:buNone/>
            </a:pPr>
            <a:r>
              <a:rPr lang="en-US" altLang="zh-CN" sz="2800" dirty="0">
                <a:ea typeface="黑体" panose="02010609060101010101" pitchFamily="49" charset="-122"/>
                <a:cs typeface="Times New Roman" panose="02020603050405020304" pitchFamily="18" charset="0"/>
              </a:rPr>
              <a:t>             1101</a:t>
            </a:r>
            <a:endParaRPr lang="en-US" altLang="zh-CN" sz="2800" dirty="0">
              <a:ea typeface="黑体" panose="02010609060101010101" pitchFamily="49" charset="-122"/>
              <a:cs typeface="Times New Roman" panose="02020603050405020304" pitchFamily="18" charset="0"/>
            </a:endParaRPr>
          </a:p>
          <a:p>
            <a:pPr eaLnBrk="1" hangingPunct="1">
              <a:lnSpc>
                <a:spcPct val="50000"/>
              </a:lnSpc>
              <a:spcBef>
                <a:spcPct val="50000"/>
              </a:spcBef>
              <a:buClrTx/>
              <a:buFontTx/>
              <a:buNone/>
            </a:pPr>
            <a:r>
              <a:rPr lang="en-US" altLang="zh-CN" sz="2800" dirty="0">
                <a:ea typeface="黑体" panose="02010609060101010101" pitchFamily="49" charset="-122"/>
                <a:cs typeface="Times New Roman" panose="02020603050405020304" pitchFamily="18" charset="0"/>
              </a:rPr>
              <a:t>         1101</a:t>
            </a:r>
            <a:endParaRPr lang="en-US" altLang="zh-CN" sz="2800" dirty="0">
              <a:ea typeface="黑体" panose="02010609060101010101" pitchFamily="49" charset="-122"/>
              <a:cs typeface="Times New Roman" panose="02020603050405020304" pitchFamily="18" charset="0"/>
            </a:endParaRPr>
          </a:p>
          <a:p>
            <a:pPr eaLnBrk="1" hangingPunct="1">
              <a:lnSpc>
                <a:spcPct val="50000"/>
              </a:lnSpc>
              <a:spcBef>
                <a:spcPct val="50000"/>
              </a:spcBef>
              <a:buClrTx/>
              <a:buFontTx/>
              <a:buNone/>
            </a:pPr>
            <a:r>
              <a:rPr lang="en-US" altLang="zh-CN" sz="2800" dirty="0">
                <a:ea typeface="黑体" panose="02010609060101010101" pitchFamily="49" charset="-122"/>
                <a:cs typeface="Times New Roman" panose="02020603050405020304" pitchFamily="18" charset="0"/>
              </a:rPr>
              <a:t>     0000</a:t>
            </a:r>
            <a:endParaRPr lang="en-US" altLang="zh-CN" sz="2800" dirty="0">
              <a:ea typeface="黑体" panose="02010609060101010101" pitchFamily="49" charset="-122"/>
              <a:cs typeface="Times New Roman" panose="02020603050405020304" pitchFamily="18" charset="0"/>
            </a:endParaRPr>
          </a:p>
          <a:p>
            <a:pPr eaLnBrk="1" hangingPunct="1">
              <a:lnSpc>
                <a:spcPct val="50000"/>
              </a:lnSpc>
              <a:spcBef>
                <a:spcPct val="50000"/>
              </a:spcBef>
              <a:buClrTx/>
              <a:buFontTx/>
              <a:buNone/>
            </a:pPr>
            <a:r>
              <a:rPr lang="en-US" altLang="zh-CN" sz="2800" dirty="0">
                <a:ea typeface="黑体" panose="02010609060101010101" pitchFamily="49" charset="-122"/>
                <a:cs typeface="Times New Roman" panose="02020603050405020304" pitchFamily="18" charset="0"/>
              </a:rPr>
              <a:t> 1101</a:t>
            </a:r>
            <a:endParaRPr lang="en-US" altLang="zh-CN" sz="2800" dirty="0">
              <a:ea typeface="黑体" panose="02010609060101010101" pitchFamily="49" charset="-122"/>
              <a:cs typeface="Times New Roman" panose="02020603050405020304" pitchFamily="18" charset="0"/>
            </a:endParaRPr>
          </a:p>
        </p:txBody>
      </p:sp>
      <p:sp>
        <p:nvSpPr>
          <p:cNvPr id="798725" name="Line 5"/>
          <p:cNvSpPr>
            <a:spLocks noChangeShapeType="1"/>
          </p:cNvSpPr>
          <p:nvPr/>
        </p:nvSpPr>
        <p:spPr bwMode="auto">
          <a:xfrm>
            <a:off x="1876425" y="3046412"/>
            <a:ext cx="20574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p:sp>
        <p:nvSpPr>
          <p:cNvPr id="798726" name="Line 6"/>
          <p:cNvSpPr>
            <a:spLocks noChangeShapeType="1"/>
          </p:cNvSpPr>
          <p:nvPr/>
        </p:nvSpPr>
        <p:spPr bwMode="auto">
          <a:xfrm>
            <a:off x="1295400" y="4495800"/>
            <a:ext cx="3048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p:sp>
        <p:nvSpPr>
          <p:cNvPr id="798727" name="Line 7"/>
          <p:cNvSpPr>
            <a:spLocks noChangeShapeType="1"/>
          </p:cNvSpPr>
          <p:nvPr/>
        </p:nvSpPr>
        <p:spPr bwMode="auto">
          <a:xfrm flipH="1">
            <a:off x="1447800" y="4343400"/>
            <a:ext cx="0" cy="304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p:sp>
        <p:nvSpPr>
          <p:cNvPr id="798728" name="Line 8"/>
          <p:cNvSpPr>
            <a:spLocks noChangeShapeType="1"/>
          </p:cNvSpPr>
          <p:nvPr/>
        </p:nvSpPr>
        <p:spPr bwMode="auto">
          <a:xfrm>
            <a:off x="1143794" y="4805515"/>
            <a:ext cx="23622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p:sp>
        <p:nvSpPr>
          <p:cNvPr id="798729" name="Text Box 9"/>
          <p:cNvSpPr txBox="1">
            <a:spLocks noChangeArrowheads="1"/>
          </p:cNvSpPr>
          <p:nvPr/>
        </p:nvSpPr>
        <p:spPr bwMode="auto">
          <a:xfrm>
            <a:off x="-210110" y="4981914"/>
            <a:ext cx="4419600" cy="76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lnSpc>
                <a:spcPct val="50000"/>
              </a:lnSpc>
              <a:spcBef>
                <a:spcPct val="50000"/>
              </a:spcBef>
              <a:buClrTx/>
              <a:buFontTx/>
              <a:buNone/>
            </a:pPr>
            <a:r>
              <a:rPr lang="en-US" altLang="zh-CN" sz="2800" dirty="0">
                <a:ea typeface="黑体" panose="02010609060101010101" pitchFamily="49" charset="-122"/>
                <a:cs typeface="Times New Roman" panose="02020603050405020304" pitchFamily="18" charset="0"/>
              </a:rPr>
              <a:t>      0.10001111</a:t>
            </a:r>
            <a:endParaRPr lang="en-US" altLang="zh-CN" sz="2800" dirty="0">
              <a:ea typeface="黑体" panose="02010609060101010101" pitchFamily="49" charset="-122"/>
              <a:cs typeface="Times New Roman" panose="02020603050405020304" pitchFamily="18" charset="0"/>
            </a:endParaRPr>
          </a:p>
          <a:p>
            <a:pPr algn="l" eaLnBrk="1" hangingPunct="1">
              <a:lnSpc>
                <a:spcPct val="50000"/>
              </a:lnSpc>
              <a:spcBef>
                <a:spcPct val="50000"/>
              </a:spcBef>
              <a:buClrTx/>
              <a:buFontTx/>
              <a:buNone/>
            </a:pPr>
            <a:r>
              <a:rPr lang="zh-CN" altLang="en-US" sz="2800" dirty="0">
                <a:latin typeface="楷体" panose="02010609060101010101" pitchFamily="49" charset="-122"/>
                <a:ea typeface="楷体" panose="02010609060101010101" pitchFamily="49" charset="-122"/>
                <a:cs typeface="Times New Roman" panose="02020603050405020304" pitchFamily="18" charset="0"/>
              </a:rPr>
              <a:t> 加符号</a:t>
            </a:r>
            <a:r>
              <a:rPr lang="zh-CN" altLang="en-US" sz="2800" dirty="0">
                <a:ea typeface="黑体" panose="02010609060101010101" pitchFamily="49" charset="-122"/>
                <a:cs typeface="Times New Roman" panose="02020603050405020304" pitchFamily="18" charset="0"/>
              </a:rPr>
              <a:t>：</a:t>
            </a:r>
            <a:r>
              <a:rPr lang="en-US" altLang="zh-CN" sz="2800" dirty="0">
                <a:ea typeface="黑体" panose="02010609060101010101" pitchFamily="49" charset="-122"/>
                <a:cs typeface="Times New Roman" panose="02020603050405020304" pitchFamily="18" charset="0"/>
              </a:rPr>
              <a:t>1.10001111</a:t>
            </a:r>
            <a:endParaRPr lang="en-US" altLang="zh-CN" sz="2800" dirty="0">
              <a:ea typeface="黑体" panose="02010609060101010101" pitchFamily="49" charset="-122"/>
              <a:cs typeface="Times New Roman" panose="02020603050405020304" pitchFamily="18" charset="0"/>
            </a:endParaRPr>
          </a:p>
        </p:txBody>
      </p:sp>
      <p:sp>
        <p:nvSpPr>
          <p:cNvPr id="26635" name="Rectangle 10"/>
          <p:cNvSpPr>
            <a:spLocks noChangeArrowheads="1"/>
          </p:cNvSpPr>
          <p:nvPr/>
        </p:nvSpPr>
        <p:spPr bwMode="auto">
          <a:xfrm>
            <a:off x="606015" y="1065212"/>
            <a:ext cx="322979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800" dirty="0">
                <a:ea typeface="宋体" panose="02010600030101010101" pitchFamily="2" charset="-122"/>
                <a:cs typeface="Times New Roman" panose="02020603050405020304" pitchFamily="18" charset="0"/>
              </a:rPr>
              <a:t>例</a:t>
            </a:r>
            <a:r>
              <a:rPr lang="en-US" altLang="zh-CN" sz="2800" dirty="0">
                <a:ea typeface="宋体" panose="02010600030101010101" pitchFamily="2" charset="-122"/>
                <a:cs typeface="Times New Roman" panose="02020603050405020304" pitchFamily="18" charset="0"/>
              </a:rPr>
              <a:t>.  0.1101×1.1011</a:t>
            </a:r>
            <a:endParaRPr lang="en-US" altLang="zh-CN" sz="2800" dirty="0">
              <a:ea typeface="宋体" panose="02010600030101010101" pitchFamily="2" charset="-122"/>
              <a:cs typeface="Times New Roman" panose="02020603050405020304" pitchFamily="18" charset="0"/>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8723">
                                            <p:txEl>
                                              <p:pRg st="0" end="0"/>
                                            </p:txEl>
                                          </p:spTgt>
                                        </p:tgtEl>
                                        <p:attrNameLst>
                                          <p:attrName>style.visibility</p:attrName>
                                        </p:attrNameLst>
                                      </p:cBhvr>
                                      <p:to>
                                        <p:strVal val="visible"/>
                                      </p:to>
                                    </p:set>
                                    <p:animEffect transition="in" filter="wipe(left)">
                                      <p:cBhvr>
                                        <p:cTn id="7" dur="500"/>
                                        <p:tgtEl>
                                          <p:spTgt spid="7987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8723">
                                            <p:txEl>
                                              <p:pRg st="1" end="1"/>
                                            </p:txEl>
                                          </p:spTgt>
                                        </p:tgtEl>
                                        <p:attrNameLst>
                                          <p:attrName>style.visibility</p:attrName>
                                        </p:attrNameLst>
                                      </p:cBhvr>
                                      <p:to>
                                        <p:strVal val="visible"/>
                                      </p:to>
                                    </p:set>
                                    <p:animEffect transition="in" filter="wipe(left)">
                                      <p:cBhvr>
                                        <p:cTn id="12" dur="500"/>
                                        <p:tgtEl>
                                          <p:spTgt spid="798723">
                                            <p:txEl>
                                              <p:pRg st="1" end="1"/>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98725"/>
                                        </p:tgtEl>
                                        <p:attrNameLst>
                                          <p:attrName>style.visibility</p:attrName>
                                        </p:attrNameLst>
                                      </p:cBhvr>
                                      <p:to>
                                        <p:strVal val="visible"/>
                                      </p:to>
                                    </p:set>
                                    <p:animEffect transition="in" filter="wipe(left)">
                                      <p:cBhvr>
                                        <p:cTn id="16" dur="500"/>
                                        <p:tgtEl>
                                          <p:spTgt spid="79872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98724">
                                            <p:txEl>
                                              <p:pRg st="0" end="0"/>
                                            </p:txEl>
                                          </p:spTgt>
                                        </p:tgtEl>
                                        <p:attrNameLst>
                                          <p:attrName>style.visibility</p:attrName>
                                        </p:attrNameLst>
                                      </p:cBhvr>
                                      <p:to>
                                        <p:strVal val="visible"/>
                                      </p:to>
                                    </p:set>
                                    <p:animEffect transition="in" filter="wipe(left)">
                                      <p:cBhvr>
                                        <p:cTn id="21" dur="500"/>
                                        <p:tgtEl>
                                          <p:spTgt spid="79872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98724">
                                            <p:txEl>
                                              <p:pRg st="1" end="1"/>
                                            </p:txEl>
                                          </p:spTgt>
                                        </p:tgtEl>
                                        <p:attrNameLst>
                                          <p:attrName>style.visibility</p:attrName>
                                        </p:attrNameLst>
                                      </p:cBhvr>
                                      <p:to>
                                        <p:strVal val="visible"/>
                                      </p:to>
                                    </p:set>
                                    <p:animEffect transition="in" filter="wipe(left)">
                                      <p:cBhvr>
                                        <p:cTn id="26" dur="500"/>
                                        <p:tgtEl>
                                          <p:spTgt spid="798724">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98724">
                                            <p:txEl>
                                              <p:pRg st="2" end="2"/>
                                            </p:txEl>
                                          </p:spTgt>
                                        </p:tgtEl>
                                        <p:attrNameLst>
                                          <p:attrName>style.visibility</p:attrName>
                                        </p:attrNameLst>
                                      </p:cBhvr>
                                      <p:to>
                                        <p:strVal val="visible"/>
                                      </p:to>
                                    </p:set>
                                    <p:animEffect transition="in" filter="wipe(left)">
                                      <p:cBhvr>
                                        <p:cTn id="31" dur="500"/>
                                        <p:tgtEl>
                                          <p:spTgt spid="798724">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98724">
                                            <p:txEl>
                                              <p:pRg st="3" end="3"/>
                                            </p:txEl>
                                          </p:spTgt>
                                        </p:tgtEl>
                                        <p:attrNameLst>
                                          <p:attrName>style.visibility</p:attrName>
                                        </p:attrNameLst>
                                      </p:cBhvr>
                                      <p:to>
                                        <p:strVal val="visible"/>
                                      </p:to>
                                    </p:set>
                                    <p:animEffect transition="in" filter="wipe(left)">
                                      <p:cBhvr>
                                        <p:cTn id="36" dur="500"/>
                                        <p:tgtEl>
                                          <p:spTgt spid="798724">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798726"/>
                                        </p:tgtEl>
                                        <p:attrNameLst>
                                          <p:attrName>style.visibility</p:attrName>
                                        </p:attrNameLst>
                                      </p:cBhvr>
                                      <p:to>
                                        <p:strVal val="visible"/>
                                      </p:to>
                                    </p:set>
                                    <p:animEffect transition="in" filter="wipe(left)">
                                      <p:cBhvr>
                                        <p:cTn id="41" dur="500"/>
                                        <p:tgtEl>
                                          <p:spTgt spid="798726"/>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798727"/>
                                        </p:tgtEl>
                                        <p:attrNameLst>
                                          <p:attrName>style.visibility</p:attrName>
                                        </p:attrNameLst>
                                      </p:cBhvr>
                                      <p:to>
                                        <p:strVal val="visible"/>
                                      </p:to>
                                    </p:set>
                                    <p:animEffect transition="in" filter="wipe(left)">
                                      <p:cBhvr>
                                        <p:cTn id="45" dur="500"/>
                                        <p:tgtEl>
                                          <p:spTgt spid="798727"/>
                                        </p:tgtEl>
                                      </p:cBhvr>
                                    </p:animEffect>
                                  </p:childTnLst>
                                </p:cTn>
                              </p:par>
                            </p:childTnLst>
                          </p:cTn>
                        </p:par>
                        <p:par>
                          <p:cTn id="46" fill="hold">
                            <p:stCondLst>
                              <p:cond delay="1000"/>
                            </p:stCondLst>
                            <p:childTnLst>
                              <p:par>
                                <p:cTn id="47" presetID="22" presetClass="entr" presetSubtype="8" fill="hold" nodeType="afterEffect">
                                  <p:stCondLst>
                                    <p:cond delay="0"/>
                                  </p:stCondLst>
                                  <p:childTnLst>
                                    <p:set>
                                      <p:cBhvr>
                                        <p:cTn id="48" dur="1" fill="hold">
                                          <p:stCondLst>
                                            <p:cond delay="0"/>
                                          </p:stCondLst>
                                        </p:cTn>
                                        <p:tgtEl>
                                          <p:spTgt spid="798728"/>
                                        </p:tgtEl>
                                        <p:attrNameLst>
                                          <p:attrName>style.visibility</p:attrName>
                                        </p:attrNameLst>
                                      </p:cBhvr>
                                      <p:to>
                                        <p:strVal val="visible"/>
                                      </p:to>
                                    </p:set>
                                    <p:animEffect transition="in" filter="wipe(left)">
                                      <p:cBhvr>
                                        <p:cTn id="49" dur="500"/>
                                        <p:tgtEl>
                                          <p:spTgt spid="79872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798729">
                                            <p:txEl>
                                              <p:pRg st="0" end="0"/>
                                            </p:txEl>
                                          </p:spTgt>
                                        </p:tgtEl>
                                        <p:attrNameLst>
                                          <p:attrName>style.visibility</p:attrName>
                                        </p:attrNameLst>
                                      </p:cBhvr>
                                      <p:to>
                                        <p:strVal val="visible"/>
                                      </p:to>
                                    </p:set>
                                    <p:animEffect transition="in" filter="wipe(left)">
                                      <p:cBhvr>
                                        <p:cTn id="54" dur="500"/>
                                        <p:tgtEl>
                                          <p:spTgt spid="798729">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798729">
                                            <p:txEl>
                                              <p:pRg st="1" end="1"/>
                                            </p:txEl>
                                          </p:spTgt>
                                        </p:tgtEl>
                                        <p:attrNameLst>
                                          <p:attrName>style.visibility</p:attrName>
                                        </p:attrNameLst>
                                      </p:cBhvr>
                                      <p:to>
                                        <p:strVal val="visible"/>
                                      </p:to>
                                    </p:set>
                                    <p:animEffect transition="in" filter="wipe(left)">
                                      <p:cBhvr>
                                        <p:cTn id="59" dur="500"/>
                                        <p:tgtEl>
                                          <p:spTgt spid="798729">
                                            <p:txEl>
                                              <p:pRg st="1" end="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2" fill="hold" grpId="0" nodeType="clickEffect">
                                  <p:stCondLst>
                                    <p:cond delay="0"/>
                                  </p:stCondLst>
                                  <p:childTnLst>
                                    <p:set>
                                      <p:cBhvr>
                                        <p:cTn id="63" dur="1" fill="hold">
                                          <p:stCondLst>
                                            <p:cond delay="0"/>
                                          </p:stCondLst>
                                        </p:cTn>
                                        <p:tgtEl>
                                          <p:spTgt spid="798731">
                                            <p:bg/>
                                          </p:spTgt>
                                        </p:tgtEl>
                                        <p:attrNameLst>
                                          <p:attrName>style.visibility</p:attrName>
                                        </p:attrNameLst>
                                      </p:cBhvr>
                                      <p:to>
                                        <p:strVal val="visible"/>
                                      </p:to>
                                    </p:set>
                                    <p:anim calcmode="lin" valueType="num">
                                      <p:cBhvr additive="base">
                                        <p:cTn id="64" dur="500" fill="hold"/>
                                        <p:tgtEl>
                                          <p:spTgt spid="798731">
                                            <p:bg/>
                                          </p:spTgt>
                                        </p:tgtEl>
                                        <p:attrNameLst>
                                          <p:attrName>ppt_x</p:attrName>
                                        </p:attrNameLst>
                                      </p:cBhvr>
                                      <p:tavLst>
                                        <p:tav tm="0">
                                          <p:val>
                                            <p:strVal val="1+#ppt_w/2"/>
                                          </p:val>
                                        </p:tav>
                                        <p:tav tm="100000">
                                          <p:val>
                                            <p:strVal val="#ppt_x"/>
                                          </p:val>
                                        </p:tav>
                                      </p:tavLst>
                                    </p:anim>
                                    <p:anim calcmode="lin" valueType="num">
                                      <p:cBhvr additive="base">
                                        <p:cTn id="65" dur="500" fill="hold"/>
                                        <p:tgtEl>
                                          <p:spTgt spid="798731">
                                            <p:bg/>
                                          </p:spTgt>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grpId="0" nodeType="clickEffect">
                                  <p:stCondLst>
                                    <p:cond delay="0"/>
                                  </p:stCondLst>
                                  <p:childTnLst>
                                    <p:set>
                                      <p:cBhvr>
                                        <p:cTn id="69" dur="1" fill="hold">
                                          <p:stCondLst>
                                            <p:cond delay="0"/>
                                          </p:stCondLst>
                                        </p:cTn>
                                        <p:tgtEl>
                                          <p:spTgt spid="798731">
                                            <p:txEl>
                                              <p:pRg st="0" end="0"/>
                                            </p:txEl>
                                          </p:spTgt>
                                        </p:tgtEl>
                                        <p:attrNameLst>
                                          <p:attrName>style.visibility</p:attrName>
                                        </p:attrNameLst>
                                      </p:cBhvr>
                                      <p:to>
                                        <p:strVal val="visible"/>
                                      </p:to>
                                    </p:set>
                                    <p:anim calcmode="lin" valueType="num">
                                      <p:cBhvr additive="base">
                                        <p:cTn id="70" dur="500" fill="hold"/>
                                        <p:tgtEl>
                                          <p:spTgt spid="798731">
                                            <p:txEl>
                                              <p:pRg st="0" end="0"/>
                                            </p:txEl>
                                          </p:spTgt>
                                        </p:tgtEl>
                                        <p:attrNameLst>
                                          <p:attrName>ppt_x</p:attrName>
                                        </p:attrNameLst>
                                      </p:cBhvr>
                                      <p:tavLst>
                                        <p:tav tm="0">
                                          <p:val>
                                            <p:strVal val="1+#ppt_w/2"/>
                                          </p:val>
                                        </p:tav>
                                        <p:tav tm="100000">
                                          <p:val>
                                            <p:strVal val="#ppt_x"/>
                                          </p:val>
                                        </p:tav>
                                      </p:tavLst>
                                    </p:anim>
                                    <p:anim calcmode="lin" valueType="num">
                                      <p:cBhvr additive="base">
                                        <p:cTn id="71" dur="500" fill="hold"/>
                                        <p:tgtEl>
                                          <p:spTgt spid="798731">
                                            <p:txEl>
                                              <p:pRg st="0" end="0"/>
                                            </p:txEl>
                                          </p:spTgt>
                                        </p:tgtEl>
                                        <p:attrNameLst>
                                          <p:attrName>ppt_y</p:attrName>
                                        </p:attrNameLst>
                                      </p:cBhvr>
                                      <p:tavLst>
                                        <p:tav tm="0">
                                          <p:val>
                                            <p:strVal val="#ppt_y"/>
                                          </p:val>
                                        </p:tav>
                                        <p:tav tm="100000">
                                          <p:val>
                                            <p:strVal val="#ppt_y"/>
                                          </p:val>
                                        </p:tav>
                                      </p:tavLst>
                                    </p:anim>
                                  </p:childTnLst>
                                </p:cTn>
                              </p:par>
                              <p:par>
                                <p:cTn id="72" presetID="2" presetClass="entr" presetSubtype="2" fill="hold" grpId="0" nodeType="withEffect">
                                  <p:stCondLst>
                                    <p:cond delay="0"/>
                                  </p:stCondLst>
                                  <p:childTnLst>
                                    <p:set>
                                      <p:cBhvr>
                                        <p:cTn id="73" dur="1" fill="hold">
                                          <p:stCondLst>
                                            <p:cond delay="0"/>
                                          </p:stCondLst>
                                        </p:cTn>
                                        <p:tgtEl>
                                          <p:spTgt spid="798731">
                                            <p:txEl>
                                              <p:pRg st="1" end="1"/>
                                            </p:txEl>
                                          </p:spTgt>
                                        </p:tgtEl>
                                        <p:attrNameLst>
                                          <p:attrName>style.visibility</p:attrName>
                                        </p:attrNameLst>
                                      </p:cBhvr>
                                      <p:to>
                                        <p:strVal val="visible"/>
                                      </p:to>
                                    </p:set>
                                    <p:anim calcmode="lin" valueType="num">
                                      <p:cBhvr additive="base">
                                        <p:cTn id="74" dur="500" fill="hold"/>
                                        <p:tgtEl>
                                          <p:spTgt spid="798731">
                                            <p:txEl>
                                              <p:pRg st="1" end="1"/>
                                            </p:txEl>
                                          </p:spTgt>
                                        </p:tgtEl>
                                        <p:attrNameLst>
                                          <p:attrName>ppt_x</p:attrName>
                                        </p:attrNameLst>
                                      </p:cBhvr>
                                      <p:tavLst>
                                        <p:tav tm="0">
                                          <p:val>
                                            <p:strVal val="1+#ppt_w/2"/>
                                          </p:val>
                                        </p:tav>
                                        <p:tav tm="100000">
                                          <p:val>
                                            <p:strVal val="#ppt_x"/>
                                          </p:val>
                                        </p:tav>
                                      </p:tavLst>
                                    </p:anim>
                                    <p:anim calcmode="lin" valueType="num">
                                      <p:cBhvr additive="base">
                                        <p:cTn id="75" dur="500" fill="hold"/>
                                        <p:tgtEl>
                                          <p:spTgt spid="798731">
                                            <p:txEl>
                                              <p:pRg st="1" end="1"/>
                                            </p:txEl>
                                          </p:spTgt>
                                        </p:tgtEl>
                                        <p:attrNameLst>
                                          <p:attrName>ppt_y</p:attrName>
                                        </p:attrNameLst>
                                      </p:cBhvr>
                                      <p:tavLst>
                                        <p:tav tm="0">
                                          <p:val>
                                            <p:strVal val="#ppt_y"/>
                                          </p:val>
                                        </p:tav>
                                        <p:tav tm="100000">
                                          <p:val>
                                            <p:strVal val="#ppt_y"/>
                                          </p:val>
                                        </p:tav>
                                      </p:tavLst>
                                    </p:anim>
                                  </p:childTnLst>
                                </p:cTn>
                              </p:par>
                              <p:par>
                                <p:cTn id="76" presetID="2" presetClass="entr" presetSubtype="2" fill="hold" grpId="0" nodeType="withEffect">
                                  <p:stCondLst>
                                    <p:cond delay="0"/>
                                  </p:stCondLst>
                                  <p:childTnLst>
                                    <p:set>
                                      <p:cBhvr>
                                        <p:cTn id="77" dur="1" fill="hold">
                                          <p:stCondLst>
                                            <p:cond delay="0"/>
                                          </p:stCondLst>
                                        </p:cTn>
                                        <p:tgtEl>
                                          <p:spTgt spid="798731">
                                            <p:txEl>
                                              <p:pRg st="2" end="2"/>
                                            </p:txEl>
                                          </p:spTgt>
                                        </p:tgtEl>
                                        <p:attrNameLst>
                                          <p:attrName>style.visibility</p:attrName>
                                        </p:attrNameLst>
                                      </p:cBhvr>
                                      <p:to>
                                        <p:strVal val="visible"/>
                                      </p:to>
                                    </p:set>
                                    <p:anim calcmode="lin" valueType="num">
                                      <p:cBhvr additive="base">
                                        <p:cTn id="78" dur="500" fill="hold"/>
                                        <p:tgtEl>
                                          <p:spTgt spid="798731">
                                            <p:txEl>
                                              <p:pRg st="2" end="2"/>
                                            </p:txEl>
                                          </p:spTgt>
                                        </p:tgtEl>
                                        <p:attrNameLst>
                                          <p:attrName>ppt_x</p:attrName>
                                        </p:attrNameLst>
                                      </p:cBhvr>
                                      <p:tavLst>
                                        <p:tav tm="0">
                                          <p:val>
                                            <p:strVal val="1+#ppt_w/2"/>
                                          </p:val>
                                        </p:tav>
                                        <p:tav tm="100000">
                                          <p:val>
                                            <p:strVal val="#ppt_x"/>
                                          </p:val>
                                        </p:tav>
                                      </p:tavLst>
                                    </p:anim>
                                    <p:anim calcmode="lin" valueType="num">
                                      <p:cBhvr additive="base">
                                        <p:cTn id="79" dur="500" fill="hold"/>
                                        <p:tgtEl>
                                          <p:spTgt spid="798731">
                                            <p:txEl>
                                              <p:pRg st="2" end="2"/>
                                            </p:txEl>
                                          </p:spTgt>
                                        </p:tgtEl>
                                        <p:attrNameLst>
                                          <p:attrName>ppt_y</p:attrName>
                                        </p:attrNameLst>
                                      </p:cBhvr>
                                      <p:tavLst>
                                        <p:tav tm="0">
                                          <p:val>
                                            <p:strVal val="#ppt_y"/>
                                          </p:val>
                                        </p:tav>
                                        <p:tav tm="100000">
                                          <p:val>
                                            <p:strVal val="#ppt_y"/>
                                          </p:val>
                                        </p:tav>
                                      </p:tavLst>
                                    </p:anim>
                                  </p:childTnLst>
                                </p:cTn>
                              </p:par>
                              <p:par>
                                <p:cTn id="80" presetID="2" presetClass="entr" presetSubtype="2" fill="hold" grpId="0" nodeType="withEffect">
                                  <p:stCondLst>
                                    <p:cond delay="0"/>
                                  </p:stCondLst>
                                  <p:childTnLst>
                                    <p:set>
                                      <p:cBhvr>
                                        <p:cTn id="81" dur="1" fill="hold">
                                          <p:stCondLst>
                                            <p:cond delay="0"/>
                                          </p:stCondLst>
                                        </p:cTn>
                                        <p:tgtEl>
                                          <p:spTgt spid="798731">
                                            <p:txEl>
                                              <p:pRg st="3" end="3"/>
                                            </p:txEl>
                                          </p:spTgt>
                                        </p:tgtEl>
                                        <p:attrNameLst>
                                          <p:attrName>style.visibility</p:attrName>
                                        </p:attrNameLst>
                                      </p:cBhvr>
                                      <p:to>
                                        <p:strVal val="visible"/>
                                      </p:to>
                                    </p:set>
                                    <p:anim calcmode="lin" valueType="num">
                                      <p:cBhvr additive="base">
                                        <p:cTn id="82" dur="500" fill="hold"/>
                                        <p:tgtEl>
                                          <p:spTgt spid="798731">
                                            <p:txEl>
                                              <p:pRg st="3" end="3"/>
                                            </p:txEl>
                                          </p:spTgt>
                                        </p:tgtEl>
                                        <p:attrNameLst>
                                          <p:attrName>ppt_x</p:attrName>
                                        </p:attrNameLst>
                                      </p:cBhvr>
                                      <p:tavLst>
                                        <p:tav tm="0">
                                          <p:val>
                                            <p:strVal val="1+#ppt_w/2"/>
                                          </p:val>
                                        </p:tav>
                                        <p:tav tm="100000">
                                          <p:val>
                                            <p:strVal val="#ppt_x"/>
                                          </p:val>
                                        </p:tav>
                                      </p:tavLst>
                                    </p:anim>
                                    <p:anim calcmode="lin" valueType="num">
                                      <p:cBhvr additive="base">
                                        <p:cTn id="83" dur="500" fill="hold"/>
                                        <p:tgtEl>
                                          <p:spTgt spid="798731">
                                            <p:txEl>
                                              <p:pRg st="3" end="3"/>
                                            </p:txEl>
                                          </p:spTgt>
                                        </p:tgtEl>
                                        <p:attrNameLst>
                                          <p:attrName>ppt_y</p:attrName>
                                        </p:attrNameLst>
                                      </p:cBhvr>
                                      <p:tavLst>
                                        <p:tav tm="0">
                                          <p:val>
                                            <p:strVal val="#ppt_y"/>
                                          </p:val>
                                        </p:tav>
                                        <p:tav tm="100000">
                                          <p:val>
                                            <p:strVal val="#ppt_y"/>
                                          </p:val>
                                        </p:tav>
                                      </p:tavLst>
                                    </p:anim>
                                  </p:childTnLst>
                                </p:cTn>
                              </p:par>
                              <p:par>
                                <p:cTn id="84" presetID="2" presetClass="entr" presetSubtype="2" fill="hold" grpId="0" nodeType="withEffect">
                                  <p:stCondLst>
                                    <p:cond delay="0"/>
                                  </p:stCondLst>
                                  <p:childTnLst>
                                    <p:set>
                                      <p:cBhvr>
                                        <p:cTn id="85" dur="1" fill="hold">
                                          <p:stCondLst>
                                            <p:cond delay="0"/>
                                          </p:stCondLst>
                                        </p:cTn>
                                        <p:tgtEl>
                                          <p:spTgt spid="798731">
                                            <p:txEl>
                                              <p:pRg st="5" end="5"/>
                                            </p:txEl>
                                          </p:spTgt>
                                        </p:tgtEl>
                                        <p:attrNameLst>
                                          <p:attrName>style.visibility</p:attrName>
                                        </p:attrNameLst>
                                      </p:cBhvr>
                                      <p:to>
                                        <p:strVal val="visible"/>
                                      </p:to>
                                    </p:set>
                                    <p:anim calcmode="lin" valueType="num">
                                      <p:cBhvr additive="base">
                                        <p:cTn id="86" dur="500" fill="hold"/>
                                        <p:tgtEl>
                                          <p:spTgt spid="798731">
                                            <p:txEl>
                                              <p:pRg st="5" end="5"/>
                                            </p:txEl>
                                          </p:spTgt>
                                        </p:tgtEl>
                                        <p:attrNameLst>
                                          <p:attrName>ppt_x</p:attrName>
                                        </p:attrNameLst>
                                      </p:cBhvr>
                                      <p:tavLst>
                                        <p:tav tm="0">
                                          <p:val>
                                            <p:strVal val="1+#ppt_w/2"/>
                                          </p:val>
                                        </p:tav>
                                        <p:tav tm="100000">
                                          <p:val>
                                            <p:strVal val="#ppt_x"/>
                                          </p:val>
                                        </p:tav>
                                      </p:tavLst>
                                    </p:anim>
                                    <p:anim calcmode="lin" valueType="num">
                                      <p:cBhvr additive="base">
                                        <p:cTn id="87" dur="500" fill="hold"/>
                                        <p:tgtEl>
                                          <p:spTgt spid="7987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2" fill="hold" grpId="0" nodeType="clickEffect">
                                  <p:stCondLst>
                                    <p:cond delay="0"/>
                                  </p:stCondLst>
                                  <p:childTnLst>
                                    <p:set>
                                      <p:cBhvr>
                                        <p:cTn id="91" dur="1" fill="hold">
                                          <p:stCondLst>
                                            <p:cond delay="0"/>
                                          </p:stCondLst>
                                        </p:cTn>
                                        <p:tgtEl>
                                          <p:spTgt spid="798731">
                                            <p:txEl>
                                              <p:pRg st="6" end="6"/>
                                            </p:txEl>
                                          </p:spTgt>
                                        </p:tgtEl>
                                        <p:attrNameLst>
                                          <p:attrName>style.visibility</p:attrName>
                                        </p:attrNameLst>
                                      </p:cBhvr>
                                      <p:to>
                                        <p:strVal val="visible"/>
                                      </p:to>
                                    </p:set>
                                    <p:anim calcmode="lin" valueType="num">
                                      <p:cBhvr additive="base">
                                        <p:cTn id="92" dur="500" fill="hold"/>
                                        <p:tgtEl>
                                          <p:spTgt spid="798731">
                                            <p:txEl>
                                              <p:pRg st="6" end="6"/>
                                            </p:txEl>
                                          </p:spTgt>
                                        </p:tgtEl>
                                        <p:attrNameLst>
                                          <p:attrName>ppt_x</p:attrName>
                                        </p:attrNameLst>
                                      </p:cBhvr>
                                      <p:tavLst>
                                        <p:tav tm="0">
                                          <p:val>
                                            <p:strVal val="1+#ppt_w/2"/>
                                          </p:val>
                                        </p:tav>
                                        <p:tav tm="100000">
                                          <p:val>
                                            <p:strVal val="#ppt_x"/>
                                          </p:val>
                                        </p:tav>
                                      </p:tavLst>
                                    </p:anim>
                                    <p:anim calcmode="lin" valueType="num">
                                      <p:cBhvr additive="base">
                                        <p:cTn id="93" dur="500" fill="hold"/>
                                        <p:tgtEl>
                                          <p:spTgt spid="79873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 presetClass="entr" presetSubtype="2" fill="hold" grpId="0" nodeType="clickEffect">
                                  <p:stCondLst>
                                    <p:cond delay="0"/>
                                  </p:stCondLst>
                                  <p:childTnLst>
                                    <p:set>
                                      <p:cBhvr>
                                        <p:cTn id="97" dur="1" fill="hold">
                                          <p:stCondLst>
                                            <p:cond delay="0"/>
                                          </p:stCondLst>
                                        </p:cTn>
                                        <p:tgtEl>
                                          <p:spTgt spid="798731">
                                            <p:txEl>
                                              <p:pRg st="7" end="7"/>
                                            </p:txEl>
                                          </p:spTgt>
                                        </p:tgtEl>
                                        <p:attrNameLst>
                                          <p:attrName>style.visibility</p:attrName>
                                        </p:attrNameLst>
                                      </p:cBhvr>
                                      <p:to>
                                        <p:strVal val="visible"/>
                                      </p:to>
                                    </p:set>
                                    <p:anim calcmode="lin" valueType="num">
                                      <p:cBhvr additive="base">
                                        <p:cTn id="98" dur="500" fill="hold"/>
                                        <p:tgtEl>
                                          <p:spTgt spid="798731">
                                            <p:txEl>
                                              <p:pRg st="7" end="7"/>
                                            </p:txEl>
                                          </p:spTgt>
                                        </p:tgtEl>
                                        <p:attrNameLst>
                                          <p:attrName>ppt_x</p:attrName>
                                        </p:attrNameLst>
                                      </p:cBhvr>
                                      <p:tavLst>
                                        <p:tav tm="0">
                                          <p:val>
                                            <p:strVal val="1+#ppt_w/2"/>
                                          </p:val>
                                        </p:tav>
                                        <p:tav tm="100000">
                                          <p:val>
                                            <p:strVal val="#ppt_x"/>
                                          </p:val>
                                        </p:tav>
                                      </p:tavLst>
                                    </p:anim>
                                    <p:anim calcmode="lin" valueType="num">
                                      <p:cBhvr additive="base">
                                        <p:cTn id="99" dur="500" fill="hold"/>
                                        <p:tgtEl>
                                          <p:spTgt spid="798731">
                                            <p:txEl>
                                              <p:pRg st="7" end="7"/>
                                            </p:txEl>
                                          </p:spTgt>
                                        </p:tgtEl>
                                        <p:attrNameLst>
                                          <p:attrName>ppt_y</p:attrName>
                                        </p:attrNameLst>
                                      </p:cBhvr>
                                      <p:tavLst>
                                        <p:tav tm="0">
                                          <p:val>
                                            <p:strVal val="#ppt_y"/>
                                          </p:val>
                                        </p:tav>
                                        <p:tav tm="100000">
                                          <p:val>
                                            <p:strVal val="#ppt_y"/>
                                          </p:val>
                                        </p:tav>
                                      </p:tavLst>
                                    </p:anim>
                                  </p:childTnLst>
                                </p:cTn>
                              </p:par>
                              <p:par>
                                <p:cTn id="100" presetID="2" presetClass="entr" presetSubtype="2" fill="hold" grpId="0" nodeType="withEffect">
                                  <p:stCondLst>
                                    <p:cond delay="0"/>
                                  </p:stCondLst>
                                  <p:childTnLst>
                                    <p:set>
                                      <p:cBhvr>
                                        <p:cTn id="101" dur="1" fill="hold">
                                          <p:stCondLst>
                                            <p:cond delay="0"/>
                                          </p:stCondLst>
                                        </p:cTn>
                                        <p:tgtEl>
                                          <p:spTgt spid="798731">
                                            <p:txEl>
                                              <p:pRg st="8" end="8"/>
                                            </p:txEl>
                                          </p:spTgt>
                                        </p:tgtEl>
                                        <p:attrNameLst>
                                          <p:attrName>style.visibility</p:attrName>
                                        </p:attrNameLst>
                                      </p:cBhvr>
                                      <p:to>
                                        <p:strVal val="visible"/>
                                      </p:to>
                                    </p:set>
                                    <p:anim calcmode="lin" valueType="num">
                                      <p:cBhvr additive="base">
                                        <p:cTn id="102" dur="500" fill="hold"/>
                                        <p:tgtEl>
                                          <p:spTgt spid="798731">
                                            <p:txEl>
                                              <p:pRg st="8" end="8"/>
                                            </p:txEl>
                                          </p:spTgt>
                                        </p:tgtEl>
                                        <p:attrNameLst>
                                          <p:attrName>ppt_x</p:attrName>
                                        </p:attrNameLst>
                                      </p:cBhvr>
                                      <p:tavLst>
                                        <p:tav tm="0">
                                          <p:val>
                                            <p:strVal val="1+#ppt_w/2"/>
                                          </p:val>
                                        </p:tav>
                                        <p:tav tm="100000">
                                          <p:val>
                                            <p:strVal val="#ppt_x"/>
                                          </p:val>
                                        </p:tav>
                                      </p:tavLst>
                                    </p:anim>
                                    <p:anim calcmode="lin" valueType="num">
                                      <p:cBhvr additive="base">
                                        <p:cTn id="103" dur="500" fill="hold"/>
                                        <p:tgtEl>
                                          <p:spTgt spid="79873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31" grpId="0" animBg="1" build="p"/>
      <p:bldP spid="798723" grpId="0" autoUpdateAnimBg="0" build="p"/>
      <p:bldP spid="798724" grpId="0" autoUpdateAnimBg="0" build="p"/>
      <p:bldP spid="798729" grpId="0" autoUpdateAnimBg="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770" name="Rectangle 2"/>
          <p:cNvSpPr>
            <a:spLocks noGrp="1" noChangeArrowheads="1"/>
          </p:cNvSpPr>
          <p:nvPr>
            <p:ph type="title"/>
          </p:nvPr>
        </p:nvSpPr>
        <p:spPr/>
        <p:txBody>
          <a:bodyPr/>
          <a:lstStyle/>
          <a:p>
            <a:pPr eaLnBrk="1" hangingPunct="1"/>
            <a:r>
              <a:rPr lang="zh-CN" altLang="en-US" dirty="0"/>
              <a:t>部分积</a:t>
            </a:r>
            <a:endParaRPr lang="zh-CN" altLang="en-US" dirty="0"/>
          </a:p>
        </p:txBody>
      </p:sp>
      <p:sp>
        <p:nvSpPr>
          <p:cNvPr id="28674" name="Rectangle 3"/>
          <p:cNvSpPr>
            <a:spLocks noGrp="1" noChangeArrowheads="1"/>
          </p:cNvSpPr>
          <p:nvPr>
            <p:ph idx="1"/>
          </p:nvPr>
        </p:nvSpPr>
        <p:spPr>
          <a:xfrm>
            <a:off x="179387" y="1066800"/>
            <a:ext cx="8785225" cy="5400675"/>
          </a:xfrm>
        </p:spPr>
        <p:txBody>
          <a:bodyPr/>
          <a:lstStyle/>
          <a:p>
            <a:pPr eaLnBrk="1" hangingPunct="1">
              <a:buFont typeface="Wingdings 2" charset="2"/>
              <a:buNone/>
            </a:pPr>
            <a:r>
              <a:rPr lang="zh-CN" altLang="en-US" sz="2800" dirty="0"/>
              <a:t>令：</a:t>
            </a:r>
            <a:r>
              <a:rPr lang="en-US" altLang="zh-CN" sz="2800" dirty="0"/>
              <a:t>y=0.y</a:t>
            </a:r>
            <a:r>
              <a:rPr lang="en-US" altLang="zh-CN" sz="2800" baseline="-25000" dirty="0"/>
              <a:t>1</a:t>
            </a:r>
            <a:r>
              <a:rPr lang="en-US" altLang="zh-CN" sz="2800" dirty="0"/>
              <a:t>y</a:t>
            </a:r>
            <a:r>
              <a:rPr lang="en-US" altLang="zh-CN" sz="2800" baseline="-25000" dirty="0"/>
              <a:t>2</a:t>
            </a:r>
            <a:r>
              <a:rPr lang="en-US" altLang="zh-CN" sz="2800" dirty="0"/>
              <a:t>……</a:t>
            </a:r>
            <a:r>
              <a:rPr lang="en-US" altLang="zh-CN" sz="2800" dirty="0" err="1"/>
              <a:t>y</a:t>
            </a:r>
            <a:r>
              <a:rPr lang="en-US" altLang="zh-CN" sz="2800" baseline="-25000" dirty="0" err="1"/>
              <a:t>n</a:t>
            </a:r>
            <a:endParaRPr lang="en-US" altLang="zh-CN" sz="2800" baseline="-25000" dirty="0"/>
          </a:p>
          <a:p>
            <a:pPr eaLnBrk="1" hangingPunct="1">
              <a:buFont typeface="Wingdings 2" charset="2"/>
              <a:buNone/>
            </a:pPr>
            <a:r>
              <a:rPr lang="zh-CN" altLang="en-US" sz="2800" dirty="0"/>
              <a:t>则：</a:t>
            </a:r>
            <a:r>
              <a:rPr lang="en-US" altLang="zh-CN" sz="2800" dirty="0" err="1"/>
              <a:t>xy</a:t>
            </a:r>
            <a:r>
              <a:rPr lang="en-US" altLang="zh-CN" sz="2800" dirty="0"/>
              <a:t> = x×(y</a:t>
            </a:r>
            <a:r>
              <a:rPr lang="en-US" altLang="zh-CN" sz="2800" baseline="-25000" dirty="0"/>
              <a:t>1</a:t>
            </a:r>
            <a:r>
              <a:rPr lang="en-US" altLang="zh-CN" sz="2800" dirty="0"/>
              <a:t>×2</a:t>
            </a:r>
            <a:r>
              <a:rPr lang="en-US" altLang="zh-CN" sz="2800" baseline="30000" dirty="0"/>
              <a:t>-1</a:t>
            </a:r>
            <a:r>
              <a:rPr lang="en-US" altLang="zh-CN" sz="2800" dirty="0"/>
              <a:t>+ y</a:t>
            </a:r>
            <a:r>
              <a:rPr lang="en-US" altLang="zh-CN" sz="2800" baseline="-25000" dirty="0"/>
              <a:t>2</a:t>
            </a:r>
            <a:r>
              <a:rPr lang="en-US" altLang="zh-CN" sz="2800" dirty="0"/>
              <a:t>×2</a:t>
            </a:r>
            <a:r>
              <a:rPr lang="en-US" altLang="zh-CN" sz="2800" baseline="30000" dirty="0"/>
              <a:t>-2 </a:t>
            </a:r>
            <a:r>
              <a:rPr lang="en-US" altLang="zh-CN" sz="2800" dirty="0"/>
              <a:t>+</a:t>
            </a:r>
            <a:r>
              <a:rPr lang="en-US" altLang="zh-CN" sz="2800" baseline="30000" dirty="0"/>
              <a:t>…… </a:t>
            </a:r>
            <a:r>
              <a:rPr lang="en-US" altLang="zh-CN" sz="2800" dirty="0"/>
              <a:t>+ y</a:t>
            </a:r>
            <a:r>
              <a:rPr lang="en-US" altLang="zh-CN" sz="2800" baseline="-25000" dirty="0"/>
              <a:t>n</a:t>
            </a:r>
            <a:r>
              <a:rPr lang="en-US" altLang="zh-CN" sz="2800" dirty="0"/>
              <a:t>×2</a:t>
            </a:r>
            <a:r>
              <a:rPr lang="en-US" altLang="zh-CN" sz="2800" baseline="30000" dirty="0"/>
              <a:t>-n</a:t>
            </a:r>
            <a:r>
              <a:rPr lang="en-US" altLang="zh-CN" sz="2800" dirty="0"/>
              <a:t>)</a:t>
            </a:r>
            <a:endParaRPr lang="en-US" altLang="zh-CN" sz="2800" dirty="0"/>
          </a:p>
          <a:p>
            <a:pPr eaLnBrk="1" hangingPunct="1">
              <a:buFont typeface="Wingdings 2" charset="2"/>
              <a:buNone/>
            </a:pPr>
            <a:r>
              <a:rPr lang="en-US" altLang="zh-CN" sz="2800" dirty="0"/>
              <a:t>             = 2</a:t>
            </a:r>
            <a:r>
              <a:rPr lang="en-US" altLang="zh-CN" sz="2800" baseline="30000" dirty="0"/>
              <a:t>-1</a:t>
            </a:r>
            <a:r>
              <a:rPr lang="en-US" altLang="zh-CN" sz="2800" dirty="0"/>
              <a:t> ×(xy</a:t>
            </a:r>
            <a:r>
              <a:rPr lang="en-US" altLang="zh-CN" sz="2800" baseline="-25000" dirty="0"/>
              <a:t>1</a:t>
            </a:r>
            <a:r>
              <a:rPr lang="en-US" altLang="zh-CN" sz="2800" dirty="0"/>
              <a:t>+ xy</a:t>
            </a:r>
            <a:r>
              <a:rPr lang="en-US" altLang="zh-CN" sz="2800" baseline="-25000" dirty="0"/>
              <a:t>2</a:t>
            </a:r>
            <a:r>
              <a:rPr lang="en-US" altLang="zh-CN" sz="2800" dirty="0"/>
              <a:t>×2</a:t>
            </a:r>
            <a:r>
              <a:rPr lang="en-US" altLang="zh-CN" sz="2800" baseline="30000" dirty="0"/>
              <a:t>-1 </a:t>
            </a:r>
            <a:r>
              <a:rPr lang="en-US" altLang="zh-CN" sz="2800" dirty="0"/>
              <a:t>+</a:t>
            </a:r>
            <a:r>
              <a:rPr lang="en-US" altLang="zh-CN" sz="2800" baseline="30000" dirty="0"/>
              <a:t>…… </a:t>
            </a:r>
            <a:r>
              <a:rPr lang="en-US" altLang="zh-CN" sz="2800" dirty="0"/>
              <a:t>+ xy</a:t>
            </a:r>
            <a:r>
              <a:rPr lang="en-US" altLang="zh-CN" sz="2800" baseline="-25000" dirty="0"/>
              <a:t>n</a:t>
            </a:r>
            <a:r>
              <a:rPr lang="en-US" altLang="zh-CN" sz="2800" dirty="0"/>
              <a:t>×2</a:t>
            </a:r>
            <a:r>
              <a:rPr lang="en-US" altLang="zh-CN" sz="2800" baseline="30000" dirty="0"/>
              <a:t>-n+1</a:t>
            </a:r>
            <a:r>
              <a:rPr lang="en-US" altLang="zh-CN" sz="2800" dirty="0"/>
              <a:t>)</a:t>
            </a:r>
            <a:endParaRPr lang="en-US" altLang="zh-CN" sz="2800" dirty="0"/>
          </a:p>
          <a:p>
            <a:pPr eaLnBrk="1" hangingPunct="1">
              <a:buFont typeface="Wingdings 2" charset="2"/>
              <a:buNone/>
            </a:pPr>
            <a:r>
              <a:rPr lang="en-US" altLang="zh-CN" sz="2800" dirty="0"/>
              <a:t>             = 2</a:t>
            </a:r>
            <a:r>
              <a:rPr lang="en-US" altLang="zh-CN" sz="2800" baseline="30000" dirty="0"/>
              <a:t>-1</a:t>
            </a:r>
            <a:r>
              <a:rPr lang="en-US" altLang="zh-CN" sz="2800" dirty="0"/>
              <a:t> ×(xy</a:t>
            </a:r>
            <a:r>
              <a:rPr lang="en-US" altLang="zh-CN" sz="2800" baseline="-25000" dirty="0"/>
              <a:t>1</a:t>
            </a:r>
            <a:r>
              <a:rPr lang="en-US" altLang="zh-CN" sz="2800" dirty="0"/>
              <a:t>+ 2</a:t>
            </a:r>
            <a:r>
              <a:rPr lang="en-US" altLang="zh-CN" sz="2800" baseline="30000" dirty="0"/>
              <a:t>-1 </a:t>
            </a:r>
            <a:r>
              <a:rPr lang="en-US" altLang="zh-CN" sz="2800" dirty="0"/>
              <a:t>(xy</a:t>
            </a:r>
            <a:r>
              <a:rPr lang="en-US" altLang="zh-CN" sz="2800" baseline="-25000" dirty="0"/>
              <a:t>2</a:t>
            </a:r>
            <a:r>
              <a:rPr lang="en-US" altLang="zh-CN" sz="2800" dirty="0"/>
              <a:t>+ 2</a:t>
            </a:r>
            <a:r>
              <a:rPr lang="en-US" altLang="zh-CN" sz="2800" baseline="30000" dirty="0"/>
              <a:t>-1 </a:t>
            </a:r>
            <a:r>
              <a:rPr lang="en-US" altLang="zh-CN" sz="2800" dirty="0"/>
              <a:t>(xy</a:t>
            </a:r>
            <a:r>
              <a:rPr lang="en-US" altLang="zh-CN" sz="2800" baseline="-25000" dirty="0"/>
              <a:t>3</a:t>
            </a:r>
            <a:r>
              <a:rPr lang="en-US" altLang="zh-CN" sz="2800" dirty="0"/>
              <a:t>+ </a:t>
            </a:r>
            <a:r>
              <a:rPr lang="en-US" altLang="zh-CN" sz="2800" baseline="30000" dirty="0"/>
              <a:t>……</a:t>
            </a:r>
            <a:r>
              <a:rPr lang="en-US" altLang="zh-CN" sz="2800" dirty="0"/>
              <a:t>+                        </a:t>
            </a:r>
            <a:endParaRPr lang="en-US" altLang="zh-CN" sz="2800" dirty="0"/>
          </a:p>
          <a:p>
            <a:pPr eaLnBrk="1" hangingPunct="1">
              <a:buFont typeface="Wingdings 2" charset="2"/>
              <a:buNone/>
            </a:pPr>
            <a:r>
              <a:rPr lang="en-US" altLang="zh-CN" sz="2800" dirty="0"/>
              <a:t>  								2</a:t>
            </a:r>
            <a:r>
              <a:rPr lang="en-US" altLang="zh-CN" sz="2800" baseline="30000" dirty="0"/>
              <a:t>-1</a:t>
            </a:r>
            <a:r>
              <a:rPr lang="en-US" altLang="zh-CN" sz="2800" dirty="0"/>
              <a:t>(xy</a:t>
            </a:r>
            <a:r>
              <a:rPr lang="en-US" altLang="zh-CN" sz="2800" baseline="-25000" dirty="0"/>
              <a:t>n</a:t>
            </a:r>
            <a:r>
              <a:rPr lang="en-US" altLang="zh-CN" sz="2800" dirty="0"/>
              <a:t>+0))</a:t>
            </a:r>
            <a:endParaRPr lang="en-US" altLang="zh-CN" sz="2800" dirty="0"/>
          </a:p>
          <a:p>
            <a:pPr eaLnBrk="1" hangingPunct="1">
              <a:buFont typeface="Wingdings 2" charset="2"/>
              <a:buNone/>
            </a:pPr>
            <a:r>
              <a:rPr lang="zh-CN" altLang="en-US" sz="2800" dirty="0"/>
              <a:t>令：</a:t>
            </a:r>
            <a:r>
              <a:rPr lang="en-US" altLang="zh-CN" sz="2800" dirty="0"/>
              <a:t>z</a:t>
            </a:r>
            <a:r>
              <a:rPr lang="en-US" altLang="zh-CN" sz="2800" baseline="-25000" dirty="0"/>
              <a:t>0</a:t>
            </a:r>
            <a:r>
              <a:rPr lang="en-US" altLang="zh-CN" sz="2800" dirty="0"/>
              <a:t>=0</a:t>
            </a:r>
            <a:endParaRPr lang="en-US" altLang="zh-CN" sz="2800" dirty="0"/>
          </a:p>
          <a:p>
            <a:pPr eaLnBrk="1" hangingPunct="1">
              <a:buFont typeface="Wingdings 2" charset="2"/>
              <a:buNone/>
            </a:pPr>
            <a:r>
              <a:rPr lang="en-US" altLang="zh-CN" sz="2800" dirty="0"/>
              <a:t>        z</a:t>
            </a:r>
            <a:r>
              <a:rPr lang="en-US" altLang="zh-CN" sz="2800" baseline="-25000" dirty="0"/>
              <a:t>1</a:t>
            </a:r>
            <a:r>
              <a:rPr lang="en-US" altLang="zh-CN" sz="2800" dirty="0"/>
              <a:t>=2</a:t>
            </a:r>
            <a:r>
              <a:rPr lang="en-US" altLang="zh-CN" sz="2800" baseline="30000" dirty="0"/>
              <a:t>-1 </a:t>
            </a:r>
            <a:r>
              <a:rPr lang="en-US" altLang="zh-CN" sz="2800" dirty="0"/>
              <a:t>(xy</a:t>
            </a:r>
            <a:r>
              <a:rPr lang="en-US" altLang="zh-CN" sz="2800" baseline="-25000" dirty="0"/>
              <a:t>n</a:t>
            </a:r>
            <a:r>
              <a:rPr lang="en-US" altLang="zh-CN" sz="2800" dirty="0"/>
              <a:t>+z</a:t>
            </a:r>
            <a:r>
              <a:rPr lang="en-US" altLang="zh-CN" sz="2800" baseline="-25000" dirty="0"/>
              <a:t>0</a:t>
            </a:r>
            <a:r>
              <a:rPr lang="en-US" altLang="zh-CN" sz="2800" dirty="0"/>
              <a:t>) </a:t>
            </a:r>
            <a:endParaRPr lang="en-US" altLang="zh-CN" sz="2800" dirty="0"/>
          </a:p>
          <a:p>
            <a:pPr eaLnBrk="1" hangingPunct="1">
              <a:buFont typeface="Wingdings 2" charset="2"/>
              <a:buNone/>
            </a:pPr>
            <a:r>
              <a:rPr lang="en-US" altLang="zh-CN" sz="2800" dirty="0"/>
              <a:t>        z</a:t>
            </a:r>
            <a:r>
              <a:rPr lang="en-US" altLang="zh-CN" sz="2800" baseline="-25000" dirty="0"/>
              <a:t>2</a:t>
            </a:r>
            <a:r>
              <a:rPr lang="en-US" altLang="zh-CN" sz="2800" dirty="0"/>
              <a:t>=2</a:t>
            </a:r>
            <a:r>
              <a:rPr lang="en-US" altLang="zh-CN" sz="2800" baseline="30000" dirty="0"/>
              <a:t>-1 </a:t>
            </a:r>
            <a:r>
              <a:rPr lang="en-US" altLang="zh-CN" sz="2800" dirty="0"/>
              <a:t>(xy</a:t>
            </a:r>
            <a:r>
              <a:rPr lang="en-US" altLang="zh-CN" sz="2800" baseline="-25000" dirty="0"/>
              <a:t>n-1</a:t>
            </a:r>
            <a:r>
              <a:rPr lang="en-US" altLang="zh-CN" sz="2800" dirty="0"/>
              <a:t>+z</a:t>
            </a:r>
            <a:r>
              <a:rPr lang="en-US" altLang="zh-CN" sz="2800" baseline="-25000" dirty="0"/>
              <a:t>1</a:t>
            </a:r>
            <a:r>
              <a:rPr lang="en-US" altLang="zh-CN" sz="2800" dirty="0"/>
              <a:t>)</a:t>
            </a:r>
            <a:endParaRPr lang="en-US" altLang="zh-CN" sz="2800" dirty="0"/>
          </a:p>
          <a:p>
            <a:pPr eaLnBrk="1" hangingPunct="1">
              <a:buFont typeface="Wingdings 2" charset="2"/>
              <a:buNone/>
            </a:pPr>
            <a:r>
              <a:rPr lang="en-US" altLang="zh-CN" sz="2800" dirty="0"/>
              <a:t>        …… </a:t>
            </a:r>
            <a:endParaRPr lang="en-US" altLang="zh-CN" sz="2800" dirty="0"/>
          </a:p>
          <a:p>
            <a:pPr eaLnBrk="1" hangingPunct="1">
              <a:buFont typeface="Wingdings 2" charset="2"/>
              <a:buNone/>
            </a:pPr>
            <a:r>
              <a:rPr lang="en-US" altLang="zh-CN" sz="2800" dirty="0"/>
              <a:t>        </a:t>
            </a:r>
            <a:r>
              <a:rPr lang="en-US" altLang="zh-CN" sz="2800" dirty="0" err="1"/>
              <a:t>z</a:t>
            </a:r>
            <a:r>
              <a:rPr lang="en-US" altLang="zh-CN" sz="2800" baseline="-25000" dirty="0" err="1"/>
              <a:t>i</a:t>
            </a:r>
            <a:r>
              <a:rPr lang="en-US" altLang="zh-CN" sz="2800" dirty="0"/>
              <a:t>=2</a:t>
            </a:r>
            <a:r>
              <a:rPr lang="en-US" altLang="zh-CN" sz="2800" baseline="30000" dirty="0"/>
              <a:t>-1 </a:t>
            </a:r>
            <a:r>
              <a:rPr lang="en-US" altLang="zh-CN" sz="2800" dirty="0"/>
              <a:t>(xy</a:t>
            </a:r>
            <a:r>
              <a:rPr lang="en-US" altLang="zh-CN" sz="2800" baseline="-25000" dirty="0"/>
              <a:t>n-i+1</a:t>
            </a:r>
            <a:r>
              <a:rPr lang="en-US" altLang="zh-CN" sz="2800" dirty="0"/>
              <a:t>+z</a:t>
            </a:r>
            <a:r>
              <a:rPr lang="en-US" altLang="zh-CN" sz="2800" baseline="-25000" dirty="0"/>
              <a:t>i-1</a:t>
            </a:r>
            <a:r>
              <a:rPr lang="en-US" altLang="zh-CN" sz="2800" dirty="0"/>
              <a:t>) ……        </a:t>
            </a:r>
            <a:r>
              <a:rPr lang="zh-CN" altLang="en-US" sz="2800" dirty="0"/>
              <a:t>部分积</a:t>
            </a:r>
            <a:endParaRPr lang="zh-CN" altLang="en-US" sz="2800" dirty="0"/>
          </a:p>
          <a:p>
            <a:pPr eaLnBrk="1" hangingPunct="1">
              <a:buFont typeface="Wingdings 2" charset="2"/>
              <a:buNone/>
            </a:pPr>
            <a:r>
              <a:rPr lang="zh-CN" altLang="en-US" sz="2800" dirty="0"/>
              <a:t>        </a:t>
            </a:r>
            <a:r>
              <a:rPr lang="en-US" altLang="zh-CN" sz="2800" dirty="0" err="1"/>
              <a:t>z</a:t>
            </a:r>
            <a:r>
              <a:rPr lang="en-US" altLang="zh-CN" sz="2800" baseline="-25000" dirty="0" err="1"/>
              <a:t>n</a:t>
            </a:r>
            <a:r>
              <a:rPr lang="en-US" altLang="zh-CN" sz="2800" dirty="0"/>
              <a:t>=2</a:t>
            </a:r>
            <a:r>
              <a:rPr lang="en-US" altLang="zh-CN" sz="2800" baseline="30000" dirty="0"/>
              <a:t>-1 </a:t>
            </a:r>
            <a:r>
              <a:rPr lang="en-US" altLang="zh-CN" sz="2800" dirty="0"/>
              <a:t>(xy</a:t>
            </a:r>
            <a:r>
              <a:rPr lang="en-US" altLang="zh-CN" sz="2800" baseline="-25000" dirty="0"/>
              <a:t>1</a:t>
            </a:r>
            <a:r>
              <a:rPr lang="en-US" altLang="zh-CN" sz="2800" dirty="0"/>
              <a:t>+z</a:t>
            </a:r>
            <a:r>
              <a:rPr lang="en-US" altLang="zh-CN" sz="2800" baseline="-25000" dirty="0"/>
              <a:t>n-1</a:t>
            </a:r>
            <a:r>
              <a:rPr lang="en-US" altLang="zh-CN" sz="2800" dirty="0"/>
              <a:t>)=</a:t>
            </a:r>
            <a:r>
              <a:rPr lang="en-US" altLang="zh-CN" sz="2800" dirty="0" err="1"/>
              <a:t>xy</a:t>
            </a:r>
            <a:endParaRPr lang="en-US" altLang="zh-CN" sz="2800" dirty="0"/>
          </a:p>
        </p:txBody>
      </p:sp>
    </p:spTree>
  </p:cSld>
  <p:clrMapOvr>
    <a:masterClrMapping/>
  </p:clrMapOvr>
  <p:transition spd="med">
    <p:pull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818" name="Rectangle 2"/>
          <p:cNvSpPr>
            <a:spLocks noGrp="1" noChangeArrowheads="1"/>
          </p:cNvSpPr>
          <p:nvPr>
            <p:ph type="title"/>
          </p:nvPr>
        </p:nvSpPr>
        <p:spPr>
          <a:xfrm>
            <a:off x="6172200" y="2851150"/>
            <a:ext cx="2171700" cy="2559050"/>
          </a:xfrm>
          <a:ln w="12700">
            <a:solidFill>
              <a:schemeClr val="accent1"/>
            </a:solidFill>
          </a:ln>
        </p:spPr>
        <p:txBody>
          <a:bodyPr/>
          <a:lstStyle/>
          <a:p>
            <a:pPr algn="l" eaLnBrk="1" hangingPunct="1">
              <a:defRPr/>
            </a:pPr>
            <a:r>
              <a:rPr lang="zh-CN" altLang="en-US" sz="2400" dirty="0">
                <a:ea typeface="楷体" panose="02010609060101010101" pitchFamily="49" charset="-122"/>
              </a:rPr>
              <a:t>例</a:t>
            </a:r>
            <a:r>
              <a:rPr lang="en-US" altLang="zh-CN" sz="2400" dirty="0">
                <a:ea typeface="楷体" panose="02010609060101010101" pitchFamily="49" charset="-122"/>
              </a:rPr>
              <a:t>:</a:t>
            </a:r>
            <a:r>
              <a:rPr lang="zh-CN" altLang="en-US" sz="2400" dirty="0">
                <a:ea typeface="楷体" panose="02010609060101010101" pitchFamily="49" charset="-122"/>
              </a:rPr>
              <a:t>设</a:t>
            </a:r>
            <a:r>
              <a:rPr lang="en-US" altLang="zh-CN" sz="2400" dirty="0">
                <a:ea typeface="楷体" panose="02010609060101010101" pitchFamily="49" charset="-122"/>
              </a:rPr>
              <a:t>X=0.1101,    </a:t>
            </a:r>
            <a:br>
              <a:rPr lang="en-US" altLang="zh-CN" sz="2400" dirty="0">
                <a:ea typeface="楷体" panose="02010609060101010101" pitchFamily="49" charset="-122"/>
              </a:rPr>
            </a:br>
            <a:r>
              <a:rPr lang="en-US" altLang="zh-CN" sz="2400" dirty="0">
                <a:ea typeface="楷体" panose="02010609060101010101" pitchFamily="49" charset="-122"/>
              </a:rPr>
              <a:t>         Y=0.1011,</a:t>
            </a:r>
            <a:br>
              <a:rPr lang="en-US" altLang="zh-CN" sz="2400" dirty="0">
                <a:ea typeface="楷体" panose="02010609060101010101" pitchFamily="49" charset="-122"/>
              </a:rPr>
            </a:br>
            <a:r>
              <a:rPr lang="zh-CN" altLang="en-US" sz="2400" dirty="0">
                <a:ea typeface="楷体" panose="02010609060101010101" pitchFamily="49" charset="-122"/>
              </a:rPr>
              <a:t>求</a:t>
            </a:r>
            <a:r>
              <a:rPr lang="en-US" altLang="zh-CN" sz="2400" dirty="0">
                <a:ea typeface="楷体" panose="02010609060101010101" pitchFamily="49" charset="-122"/>
              </a:rPr>
              <a:t>X×Y</a:t>
            </a:r>
            <a:endParaRPr lang="en-US" altLang="zh-CN" sz="2400" dirty="0">
              <a:ea typeface="楷体" panose="02010609060101010101" pitchFamily="49" charset="-122"/>
            </a:endParaRPr>
          </a:p>
        </p:txBody>
      </p:sp>
      <p:sp>
        <p:nvSpPr>
          <p:cNvPr id="802819" name="Text Box 3"/>
          <p:cNvSpPr txBox="1">
            <a:spLocks noChangeArrowheads="1"/>
          </p:cNvSpPr>
          <p:nvPr/>
        </p:nvSpPr>
        <p:spPr bwMode="auto">
          <a:xfrm>
            <a:off x="762000" y="914400"/>
            <a:ext cx="4648200" cy="5319713"/>
          </a:xfrm>
          <a:prstGeom prst="rect">
            <a:avLst/>
          </a:prstGeom>
          <a:noFill/>
          <a:ln w="9525">
            <a:noFill/>
            <a:miter lim="800000"/>
          </a:ln>
          <a:effectLst/>
        </p:spPr>
        <p:txBody>
          <a:bodyPr>
            <a:spAutoFit/>
          </a:bodyPr>
          <a:lstStyle/>
          <a:p>
            <a:pPr eaLnBrk="1" hangingPunct="1">
              <a:spcBef>
                <a:spcPct val="50000"/>
              </a:spcBef>
              <a:defRPr/>
            </a:pPr>
            <a:r>
              <a:rPr lang="en-US" altLang="zh-CN" sz="1800" dirty="0">
                <a:ea typeface="黑体" panose="02010609060101010101" pitchFamily="49" charset="-122"/>
              </a:rPr>
              <a:t>0 0   0 0 0 0                1  0  1  </a:t>
            </a:r>
            <a:r>
              <a:rPr lang="en-US" altLang="zh-CN" sz="1800" b="1" u="sng" dirty="0">
                <a:solidFill>
                  <a:schemeClr val="tx2"/>
                </a:solidFill>
                <a:effectLst>
                  <a:outerShdw blurRad="38100" dist="38100" dir="2700000" algn="tl">
                    <a:srgbClr val="C0C0C0"/>
                  </a:outerShdw>
                </a:effectLst>
                <a:ea typeface="黑体" panose="02010609060101010101" pitchFamily="49" charset="-122"/>
              </a:rPr>
              <a:t>1</a:t>
            </a:r>
            <a:r>
              <a:rPr lang="en-US" altLang="zh-CN" sz="1800" dirty="0">
                <a:ea typeface="黑体" panose="02010609060101010101" pitchFamily="49" charset="-122"/>
              </a:rPr>
              <a:t> </a:t>
            </a:r>
            <a:endParaRPr lang="en-US" altLang="zh-CN" sz="1800" dirty="0">
              <a:ea typeface="黑体" panose="02010609060101010101" pitchFamily="49" charset="-122"/>
            </a:endParaRPr>
          </a:p>
          <a:p>
            <a:pPr algn="l" eaLnBrk="1" hangingPunct="1">
              <a:spcBef>
                <a:spcPct val="50000"/>
              </a:spcBef>
              <a:defRPr/>
            </a:pPr>
            <a:r>
              <a:rPr lang="en-US" altLang="zh-CN" sz="1800" dirty="0">
                <a:ea typeface="黑体" panose="02010609060101010101" pitchFamily="49" charset="-122"/>
              </a:rPr>
              <a:t>                 0 0   1 1 0 1     </a:t>
            </a:r>
            <a:endParaRPr lang="en-US" altLang="zh-CN" sz="1800" dirty="0">
              <a:ea typeface="黑体" panose="02010609060101010101" pitchFamily="49" charset="-122"/>
            </a:endParaRPr>
          </a:p>
          <a:p>
            <a:pPr algn="l" eaLnBrk="1" hangingPunct="1">
              <a:spcBef>
                <a:spcPct val="50000"/>
              </a:spcBef>
              <a:defRPr/>
            </a:pPr>
            <a:r>
              <a:rPr lang="en-US" altLang="zh-CN" sz="1800" dirty="0">
                <a:ea typeface="黑体" panose="02010609060101010101" pitchFamily="49" charset="-122"/>
              </a:rPr>
              <a:t>                 0 0   1 1 0 1</a:t>
            </a:r>
            <a:endParaRPr lang="en-US" altLang="zh-CN" sz="1800" dirty="0">
              <a:ea typeface="黑体" panose="02010609060101010101" pitchFamily="49" charset="-122"/>
            </a:endParaRPr>
          </a:p>
          <a:p>
            <a:pPr algn="l" eaLnBrk="1" hangingPunct="1">
              <a:spcBef>
                <a:spcPct val="50000"/>
              </a:spcBef>
              <a:defRPr/>
            </a:pPr>
            <a:r>
              <a:rPr lang="en-US" altLang="zh-CN" sz="1800" dirty="0">
                <a:ea typeface="黑体" panose="02010609060101010101" pitchFamily="49" charset="-122"/>
              </a:rPr>
              <a:t>                 0 0   0 1 1 0               1  1  0  </a:t>
            </a:r>
            <a:r>
              <a:rPr lang="en-US" altLang="zh-CN" sz="1800" b="1" u="sng" dirty="0">
                <a:solidFill>
                  <a:schemeClr val="tx2"/>
                </a:solidFill>
                <a:effectLst>
                  <a:outerShdw blurRad="38100" dist="38100" dir="2700000" algn="tl">
                    <a:srgbClr val="C0C0C0"/>
                  </a:outerShdw>
                </a:effectLst>
                <a:ea typeface="黑体" panose="02010609060101010101" pitchFamily="49" charset="-122"/>
              </a:rPr>
              <a:t>1</a:t>
            </a:r>
            <a:endParaRPr lang="en-US" altLang="zh-CN" sz="1800" b="1" u="sng" dirty="0">
              <a:solidFill>
                <a:schemeClr val="tx2"/>
              </a:solidFill>
              <a:effectLst>
                <a:outerShdw blurRad="38100" dist="38100" dir="2700000" algn="tl">
                  <a:srgbClr val="C0C0C0"/>
                </a:outerShdw>
              </a:effectLst>
              <a:ea typeface="黑体" panose="02010609060101010101" pitchFamily="49" charset="-122"/>
            </a:endParaRPr>
          </a:p>
          <a:p>
            <a:pPr algn="l" eaLnBrk="1" hangingPunct="1">
              <a:spcBef>
                <a:spcPct val="50000"/>
              </a:spcBef>
              <a:defRPr/>
            </a:pPr>
            <a:r>
              <a:rPr lang="en-US" altLang="zh-CN" sz="1800" dirty="0">
                <a:ea typeface="黑体" panose="02010609060101010101" pitchFamily="49" charset="-122"/>
              </a:rPr>
              <a:t>                 0 0   1 1 0 1</a:t>
            </a:r>
            <a:endParaRPr lang="en-US" altLang="zh-CN" sz="1800" dirty="0">
              <a:ea typeface="黑体" panose="02010609060101010101" pitchFamily="49" charset="-122"/>
            </a:endParaRPr>
          </a:p>
          <a:p>
            <a:pPr algn="l" eaLnBrk="1" hangingPunct="1">
              <a:spcBef>
                <a:spcPct val="50000"/>
              </a:spcBef>
              <a:defRPr/>
            </a:pPr>
            <a:r>
              <a:rPr lang="en-US" altLang="zh-CN" sz="1800" dirty="0">
                <a:ea typeface="黑体" panose="02010609060101010101" pitchFamily="49" charset="-122"/>
              </a:rPr>
              <a:t>                 0 1   0 0 1 1</a:t>
            </a:r>
            <a:endParaRPr lang="en-US" altLang="zh-CN" sz="1800" dirty="0">
              <a:ea typeface="黑体" panose="02010609060101010101" pitchFamily="49" charset="-122"/>
            </a:endParaRPr>
          </a:p>
          <a:p>
            <a:pPr algn="l" eaLnBrk="1" hangingPunct="1">
              <a:spcBef>
                <a:spcPct val="50000"/>
              </a:spcBef>
              <a:defRPr/>
            </a:pPr>
            <a:r>
              <a:rPr lang="en-US" altLang="zh-CN" sz="1800" dirty="0">
                <a:ea typeface="黑体" panose="02010609060101010101" pitchFamily="49" charset="-122"/>
              </a:rPr>
              <a:t>                 0 0   1 0 0 1               1  1  1  </a:t>
            </a:r>
            <a:r>
              <a:rPr lang="en-US" altLang="zh-CN" sz="1800" b="1" u="sng" dirty="0">
                <a:solidFill>
                  <a:schemeClr val="tx2"/>
                </a:solidFill>
                <a:effectLst>
                  <a:outerShdw blurRad="38100" dist="38100" dir="2700000" algn="tl">
                    <a:srgbClr val="C0C0C0"/>
                  </a:outerShdw>
                </a:effectLst>
                <a:ea typeface="黑体" panose="02010609060101010101" pitchFamily="49" charset="-122"/>
              </a:rPr>
              <a:t>0</a:t>
            </a:r>
            <a:endParaRPr lang="en-US" altLang="zh-CN" sz="1800" b="1" u="sng" dirty="0">
              <a:solidFill>
                <a:schemeClr val="tx2"/>
              </a:solidFill>
              <a:effectLst>
                <a:outerShdw blurRad="38100" dist="38100" dir="2700000" algn="tl">
                  <a:srgbClr val="C0C0C0"/>
                </a:outerShdw>
              </a:effectLst>
              <a:ea typeface="黑体" panose="02010609060101010101" pitchFamily="49" charset="-122"/>
            </a:endParaRPr>
          </a:p>
          <a:p>
            <a:pPr algn="l" eaLnBrk="1" hangingPunct="1">
              <a:spcBef>
                <a:spcPct val="50000"/>
              </a:spcBef>
              <a:defRPr/>
            </a:pPr>
            <a:r>
              <a:rPr lang="en-US" altLang="zh-CN" sz="1800" dirty="0">
                <a:ea typeface="黑体" panose="02010609060101010101" pitchFamily="49" charset="-122"/>
              </a:rPr>
              <a:t>                 0 0   0 0 0 0</a:t>
            </a:r>
            <a:endParaRPr lang="en-US" altLang="zh-CN" sz="1800" dirty="0">
              <a:ea typeface="黑体" panose="02010609060101010101" pitchFamily="49" charset="-122"/>
            </a:endParaRPr>
          </a:p>
          <a:p>
            <a:pPr algn="l" eaLnBrk="1" hangingPunct="1">
              <a:spcBef>
                <a:spcPct val="50000"/>
              </a:spcBef>
              <a:defRPr/>
            </a:pPr>
            <a:r>
              <a:rPr lang="en-US" altLang="zh-CN" sz="1800" dirty="0">
                <a:ea typeface="黑体" panose="02010609060101010101" pitchFamily="49" charset="-122"/>
              </a:rPr>
              <a:t>                 0 0   1 0 0 1</a:t>
            </a:r>
            <a:endParaRPr lang="en-US" altLang="zh-CN" sz="1800" dirty="0">
              <a:ea typeface="黑体" panose="02010609060101010101" pitchFamily="49" charset="-122"/>
            </a:endParaRPr>
          </a:p>
          <a:p>
            <a:pPr algn="l" eaLnBrk="1" hangingPunct="1">
              <a:spcBef>
                <a:spcPct val="50000"/>
              </a:spcBef>
              <a:defRPr/>
            </a:pPr>
            <a:r>
              <a:rPr lang="en-US" altLang="zh-CN" sz="1800" dirty="0">
                <a:ea typeface="黑体" panose="02010609060101010101" pitchFamily="49" charset="-122"/>
              </a:rPr>
              <a:t>                 0 0   0 1 0 0              1  1  1  </a:t>
            </a:r>
            <a:r>
              <a:rPr lang="en-US" altLang="zh-CN" sz="1800" b="1" u="sng" dirty="0">
                <a:solidFill>
                  <a:schemeClr val="tx2"/>
                </a:solidFill>
                <a:effectLst>
                  <a:outerShdw blurRad="38100" dist="38100" dir="2700000" algn="tl">
                    <a:srgbClr val="C0C0C0"/>
                  </a:outerShdw>
                </a:effectLst>
                <a:ea typeface="黑体" panose="02010609060101010101" pitchFamily="49" charset="-122"/>
              </a:rPr>
              <a:t>1</a:t>
            </a:r>
            <a:endParaRPr lang="en-US" altLang="zh-CN" sz="1800" b="1" u="sng" dirty="0">
              <a:solidFill>
                <a:schemeClr val="tx2"/>
              </a:solidFill>
              <a:effectLst>
                <a:outerShdw blurRad="38100" dist="38100" dir="2700000" algn="tl">
                  <a:srgbClr val="C0C0C0"/>
                </a:outerShdw>
              </a:effectLst>
              <a:ea typeface="黑体" panose="02010609060101010101" pitchFamily="49" charset="-122"/>
            </a:endParaRPr>
          </a:p>
          <a:p>
            <a:pPr algn="l" eaLnBrk="1" hangingPunct="1">
              <a:spcBef>
                <a:spcPct val="50000"/>
              </a:spcBef>
              <a:defRPr/>
            </a:pPr>
            <a:r>
              <a:rPr lang="en-US" altLang="zh-CN" sz="1800" dirty="0">
                <a:ea typeface="黑体" panose="02010609060101010101" pitchFamily="49" charset="-122"/>
              </a:rPr>
              <a:t>                 0 0   1 1 0 1</a:t>
            </a:r>
            <a:endParaRPr lang="en-US" altLang="zh-CN" sz="1800" dirty="0">
              <a:ea typeface="黑体" panose="02010609060101010101" pitchFamily="49" charset="-122"/>
            </a:endParaRPr>
          </a:p>
          <a:p>
            <a:pPr algn="l" eaLnBrk="1" hangingPunct="1">
              <a:spcBef>
                <a:spcPct val="50000"/>
              </a:spcBef>
              <a:defRPr/>
            </a:pPr>
            <a:r>
              <a:rPr lang="en-US" altLang="zh-CN" sz="1800" dirty="0">
                <a:ea typeface="黑体" panose="02010609060101010101" pitchFamily="49" charset="-122"/>
              </a:rPr>
              <a:t>                 0 1   0 0 0 1</a:t>
            </a:r>
            <a:endParaRPr lang="en-US" altLang="zh-CN" sz="1800" dirty="0">
              <a:ea typeface="黑体" panose="02010609060101010101" pitchFamily="49" charset="-122"/>
            </a:endParaRPr>
          </a:p>
          <a:p>
            <a:pPr algn="l" eaLnBrk="1" hangingPunct="1">
              <a:spcBef>
                <a:spcPct val="50000"/>
              </a:spcBef>
              <a:defRPr/>
            </a:pPr>
            <a:r>
              <a:rPr lang="en-US" altLang="zh-CN" sz="1800" dirty="0">
                <a:ea typeface="黑体" panose="02010609060101010101" pitchFamily="49" charset="-122"/>
              </a:rPr>
              <a:t>                 0 0   1 0 0 0               1  1  1  1    </a:t>
            </a:r>
            <a:endParaRPr lang="en-US" altLang="zh-CN" sz="1800" dirty="0">
              <a:ea typeface="黑体" panose="02010609060101010101" pitchFamily="49" charset="-122"/>
            </a:endParaRPr>
          </a:p>
        </p:txBody>
      </p:sp>
      <p:sp>
        <p:nvSpPr>
          <p:cNvPr id="30724" name="Text Box 4"/>
          <p:cNvSpPr txBox="1">
            <a:spLocks noChangeArrowheads="1"/>
          </p:cNvSpPr>
          <p:nvPr/>
        </p:nvSpPr>
        <p:spPr bwMode="auto">
          <a:xfrm>
            <a:off x="73026" y="1266639"/>
            <a:ext cx="1447800" cy="497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000" dirty="0">
                <a:ea typeface="楷体" panose="02010609060101010101" pitchFamily="49" charset="-122"/>
                <a:cs typeface="Times New Roman" panose="02020603050405020304" pitchFamily="18" charset="0"/>
              </a:rPr>
              <a:t>+x</a:t>
            </a: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zh-CN" altLang="en-US" sz="1600" dirty="0">
                <a:ea typeface="楷体" panose="02010609060101010101" pitchFamily="49" charset="-122"/>
                <a:cs typeface="Times New Roman" panose="02020603050405020304" pitchFamily="18" charset="0"/>
              </a:rPr>
              <a:t>右移一位→</a:t>
            </a:r>
            <a:endParaRPr lang="zh-CN" altLang="en-US" sz="16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en-US" altLang="zh-CN" sz="2000" dirty="0">
                <a:ea typeface="楷体" panose="02010609060101010101" pitchFamily="49" charset="-122"/>
                <a:cs typeface="Times New Roman" panose="02020603050405020304" pitchFamily="18" charset="0"/>
              </a:rPr>
              <a:t>+x</a:t>
            </a:r>
            <a:endParaRPr lang="en-US" altLang="zh-CN" sz="20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20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zh-CN" altLang="en-US" sz="1600" dirty="0">
                <a:ea typeface="楷体" panose="02010609060101010101" pitchFamily="49" charset="-122"/>
                <a:cs typeface="Times New Roman" panose="02020603050405020304" pitchFamily="18" charset="0"/>
              </a:rPr>
              <a:t>右移一位→</a:t>
            </a:r>
            <a:endParaRPr lang="zh-CN" altLang="en-US" sz="16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en-US" altLang="zh-CN" sz="2000" dirty="0">
                <a:ea typeface="楷体" panose="02010609060101010101" pitchFamily="49" charset="-122"/>
                <a:cs typeface="Times New Roman" panose="02020603050405020304" pitchFamily="18" charset="0"/>
              </a:rPr>
              <a:t>+0</a:t>
            </a:r>
            <a:endParaRPr lang="en-US" altLang="zh-CN" sz="20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20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zh-CN" altLang="en-US" sz="1600" dirty="0">
                <a:ea typeface="楷体" panose="02010609060101010101" pitchFamily="49" charset="-122"/>
                <a:cs typeface="Times New Roman" panose="02020603050405020304" pitchFamily="18" charset="0"/>
              </a:rPr>
              <a:t>右移一位→</a:t>
            </a:r>
            <a:endParaRPr lang="zh-CN" altLang="en-US" sz="16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en-US" altLang="zh-CN" sz="2000" dirty="0">
                <a:ea typeface="楷体" panose="02010609060101010101" pitchFamily="49" charset="-122"/>
                <a:cs typeface="Times New Roman" panose="02020603050405020304" pitchFamily="18" charset="0"/>
              </a:rPr>
              <a:t>+x</a:t>
            </a: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zh-CN" altLang="en-US" sz="1600" dirty="0">
                <a:ea typeface="楷体" panose="02010609060101010101" pitchFamily="49" charset="-122"/>
                <a:cs typeface="Times New Roman" panose="02020603050405020304" pitchFamily="18" charset="0"/>
              </a:rPr>
              <a:t>右移一位→</a:t>
            </a:r>
            <a:endParaRPr lang="zh-CN" altLang="en-US" sz="1800" dirty="0">
              <a:ea typeface="楷体" panose="02010609060101010101" pitchFamily="49" charset="-122"/>
              <a:cs typeface="Times New Roman" panose="02020603050405020304" pitchFamily="18" charset="0"/>
            </a:endParaRPr>
          </a:p>
        </p:txBody>
      </p:sp>
      <p:sp>
        <p:nvSpPr>
          <p:cNvPr id="30725" name="Line 5"/>
          <p:cNvSpPr>
            <a:spLocks noChangeShapeType="1"/>
          </p:cNvSpPr>
          <p:nvPr/>
        </p:nvSpPr>
        <p:spPr bwMode="auto">
          <a:xfrm>
            <a:off x="1371600" y="1752600"/>
            <a:ext cx="1600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6" name="Line 6"/>
          <p:cNvSpPr>
            <a:spLocks noChangeShapeType="1"/>
          </p:cNvSpPr>
          <p:nvPr/>
        </p:nvSpPr>
        <p:spPr bwMode="auto">
          <a:xfrm>
            <a:off x="1295400" y="2971800"/>
            <a:ext cx="1752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7" name="Line 7"/>
          <p:cNvSpPr>
            <a:spLocks noChangeShapeType="1"/>
          </p:cNvSpPr>
          <p:nvPr/>
        </p:nvSpPr>
        <p:spPr bwMode="auto">
          <a:xfrm>
            <a:off x="1295400" y="4191000"/>
            <a:ext cx="1828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8" name="Line 8"/>
          <p:cNvSpPr>
            <a:spLocks noChangeShapeType="1"/>
          </p:cNvSpPr>
          <p:nvPr/>
        </p:nvSpPr>
        <p:spPr bwMode="auto">
          <a:xfrm flipV="1">
            <a:off x="1371600" y="5410200"/>
            <a:ext cx="1676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9" name="Text Box 9"/>
          <p:cNvSpPr txBox="1">
            <a:spLocks noChangeArrowheads="1"/>
          </p:cNvSpPr>
          <p:nvPr/>
        </p:nvSpPr>
        <p:spPr bwMode="auto">
          <a:xfrm>
            <a:off x="1524000" y="457200"/>
            <a:ext cx="3048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50000"/>
              </a:spcBef>
              <a:buClrTx/>
              <a:buFontTx/>
              <a:buNone/>
            </a:pPr>
            <a:r>
              <a:rPr lang="zh-CN" altLang="en-US" sz="1800" u="sng" dirty="0">
                <a:latin typeface="楷体" panose="02010609060101010101" pitchFamily="49" charset="-122"/>
                <a:ea typeface="楷体" panose="02010609060101010101" pitchFamily="49" charset="-122"/>
              </a:rPr>
              <a:t>部分积</a:t>
            </a:r>
            <a:r>
              <a:rPr lang="en-US" altLang="zh-CN" sz="1800" b="0" dirty="0">
                <a:latin typeface="楷体" panose="02010609060101010101" pitchFamily="49" charset="-122"/>
                <a:ea typeface="楷体" panose="02010609060101010101" pitchFamily="49" charset="-122"/>
              </a:rPr>
              <a:t>Z           </a:t>
            </a:r>
            <a:r>
              <a:rPr lang="zh-CN" altLang="en-US" sz="1800" dirty="0">
                <a:latin typeface="楷体" panose="02010609060101010101" pitchFamily="49" charset="-122"/>
                <a:ea typeface="楷体" panose="02010609060101010101" pitchFamily="49" charset="-122"/>
              </a:rPr>
              <a:t>乘数</a:t>
            </a:r>
            <a:r>
              <a:rPr lang="en-US" altLang="zh-CN" sz="1800" b="0" dirty="0">
                <a:latin typeface="楷体" panose="02010609060101010101" pitchFamily="49" charset="-122"/>
                <a:ea typeface="楷体" panose="02010609060101010101" pitchFamily="49" charset="-122"/>
              </a:rPr>
              <a:t>Y  </a:t>
            </a:r>
            <a:r>
              <a:rPr lang="en-US" altLang="zh-CN" sz="1800" b="0" dirty="0">
                <a:ea typeface="宋体" panose="02010600030101010101" pitchFamily="2" charset="-122"/>
              </a:rPr>
              <a:t>         </a:t>
            </a:r>
            <a:endParaRPr lang="en-US" altLang="zh-CN" sz="1800" b="0" dirty="0">
              <a:ea typeface="宋体" panose="02010600030101010101" pitchFamily="2" charset="-122"/>
            </a:endParaRPr>
          </a:p>
        </p:txBody>
      </p:sp>
      <p:sp>
        <p:nvSpPr>
          <p:cNvPr id="30730" name="Line 10"/>
          <p:cNvSpPr>
            <a:spLocks noChangeShapeType="1"/>
          </p:cNvSpPr>
          <p:nvPr/>
        </p:nvSpPr>
        <p:spPr bwMode="auto">
          <a:xfrm>
            <a:off x="1371600" y="762000"/>
            <a:ext cx="3276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1" name="Text Box 11"/>
          <p:cNvSpPr txBox="1">
            <a:spLocks noChangeArrowheads="1"/>
          </p:cNvSpPr>
          <p:nvPr/>
        </p:nvSpPr>
        <p:spPr bwMode="auto">
          <a:xfrm>
            <a:off x="1371600" y="6186488"/>
            <a:ext cx="3581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1800" dirty="0">
                <a:latin typeface="楷体" panose="02010609060101010101" pitchFamily="49" charset="-122"/>
                <a:ea typeface="楷体" panose="02010609060101010101" pitchFamily="49" charset="-122"/>
              </a:rPr>
              <a:t>乘积高位          乘积低位</a:t>
            </a:r>
            <a:endParaRPr lang="zh-CN" altLang="en-US" sz="1800" dirty="0">
              <a:latin typeface="楷体" panose="02010609060101010101" pitchFamily="49" charset="-122"/>
              <a:ea typeface="楷体" panose="02010609060101010101" pitchFamily="49" charset="-122"/>
            </a:endParaRPr>
          </a:p>
        </p:txBody>
      </p:sp>
      <p:sp>
        <p:nvSpPr>
          <p:cNvPr id="30732" name="Line 12"/>
          <p:cNvSpPr>
            <a:spLocks noChangeShapeType="1"/>
          </p:cNvSpPr>
          <p:nvPr/>
        </p:nvSpPr>
        <p:spPr bwMode="auto">
          <a:xfrm>
            <a:off x="3505200" y="762000"/>
            <a:ext cx="0" cy="990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3" name="Line 13"/>
          <p:cNvSpPr>
            <a:spLocks noChangeShapeType="1"/>
          </p:cNvSpPr>
          <p:nvPr/>
        </p:nvSpPr>
        <p:spPr bwMode="auto">
          <a:xfrm>
            <a:off x="3505200" y="1752600"/>
            <a:ext cx="22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4" name="Line 14"/>
          <p:cNvSpPr>
            <a:spLocks noChangeShapeType="1"/>
          </p:cNvSpPr>
          <p:nvPr/>
        </p:nvSpPr>
        <p:spPr bwMode="auto">
          <a:xfrm>
            <a:off x="3733800" y="1752600"/>
            <a:ext cx="0" cy="1143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5" name="Line 15"/>
          <p:cNvSpPr>
            <a:spLocks noChangeShapeType="1"/>
          </p:cNvSpPr>
          <p:nvPr/>
        </p:nvSpPr>
        <p:spPr bwMode="auto">
          <a:xfrm>
            <a:off x="3733800" y="2895600"/>
            <a:ext cx="22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6" name="Line 16"/>
          <p:cNvSpPr>
            <a:spLocks noChangeShapeType="1"/>
          </p:cNvSpPr>
          <p:nvPr/>
        </p:nvSpPr>
        <p:spPr bwMode="auto">
          <a:xfrm>
            <a:off x="3962400" y="2895600"/>
            <a:ext cx="0" cy="1295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7" name="Line 17"/>
          <p:cNvSpPr>
            <a:spLocks noChangeShapeType="1"/>
          </p:cNvSpPr>
          <p:nvPr/>
        </p:nvSpPr>
        <p:spPr bwMode="auto">
          <a:xfrm>
            <a:off x="3962400" y="4191000"/>
            <a:ext cx="152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8" name="Line 18"/>
          <p:cNvSpPr>
            <a:spLocks noChangeShapeType="1"/>
          </p:cNvSpPr>
          <p:nvPr/>
        </p:nvSpPr>
        <p:spPr bwMode="auto">
          <a:xfrm>
            <a:off x="4114800" y="4191000"/>
            <a:ext cx="0" cy="1219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9" name="Line 19"/>
          <p:cNvSpPr>
            <a:spLocks noChangeShapeType="1"/>
          </p:cNvSpPr>
          <p:nvPr/>
        </p:nvSpPr>
        <p:spPr bwMode="auto">
          <a:xfrm>
            <a:off x="4114800" y="5410200"/>
            <a:ext cx="533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0" name="Line 20"/>
          <p:cNvSpPr>
            <a:spLocks noChangeShapeType="1"/>
          </p:cNvSpPr>
          <p:nvPr/>
        </p:nvSpPr>
        <p:spPr bwMode="auto">
          <a:xfrm>
            <a:off x="4648200" y="762000"/>
            <a:ext cx="0" cy="5410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1" name="Text Box 21"/>
          <p:cNvSpPr txBox="1">
            <a:spLocks noChangeArrowheads="1"/>
          </p:cNvSpPr>
          <p:nvPr/>
        </p:nvSpPr>
        <p:spPr bwMode="auto">
          <a:xfrm>
            <a:off x="4419600" y="2152650"/>
            <a:ext cx="1828800" cy="408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1800" dirty="0">
                <a:ea typeface="楷体" panose="02010609060101010101" pitchFamily="49" charset="-122"/>
                <a:cs typeface="Times New Roman" panose="02020603050405020304" pitchFamily="18" charset="0"/>
              </a:rPr>
              <a:t>1(</a:t>
            </a:r>
            <a:r>
              <a:rPr lang="zh-CN" altLang="en-US" sz="1800" dirty="0">
                <a:ea typeface="楷体" panose="02010609060101010101" pitchFamily="49" charset="-122"/>
                <a:cs typeface="Times New Roman" panose="02020603050405020304" pitchFamily="18" charset="0"/>
              </a:rPr>
              <a:t>丢弃</a:t>
            </a:r>
            <a:r>
              <a:rPr lang="en-US" altLang="zh-CN" sz="1800" dirty="0">
                <a:ea typeface="楷体" panose="02010609060101010101" pitchFamily="49" charset="-122"/>
                <a:cs typeface="Times New Roman" panose="02020603050405020304" pitchFamily="18" charset="0"/>
              </a:rPr>
              <a:t>)</a:t>
            </a: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en-US" altLang="zh-CN" sz="1800" dirty="0">
                <a:ea typeface="楷体" panose="02010609060101010101" pitchFamily="49" charset="-122"/>
                <a:cs typeface="Times New Roman" panose="02020603050405020304" pitchFamily="18" charset="0"/>
              </a:rPr>
              <a:t>1(</a:t>
            </a:r>
            <a:r>
              <a:rPr lang="zh-CN" altLang="en-US" sz="1800" dirty="0">
                <a:ea typeface="楷体" panose="02010609060101010101" pitchFamily="49" charset="-122"/>
                <a:cs typeface="Times New Roman" panose="02020603050405020304" pitchFamily="18" charset="0"/>
              </a:rPr>
              <a:t>丢弃</a:t>
            </a:r>
            <a:r>
              <a:rPr lang="en-US" altLang="zh-CN" sz="1800" dirty="0">
                <a:ea typeface="楷体" panose="02010609060101010101" pitchFamily="49" charset="-122"/>
                <a:cs typeface="Times New Roman" panose="02020603050405020304" pitchFamily="18" charset="0"/>
              </a:rPr>
              <a:t>)</a:t>
            </a: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en-US" altLang="zh-CN" sz="1800" dirty="0">
                <a:ea typeface="楷体" panose="02010609060101010101" pitchFamily="49" charset="-122"/>
                <a:cs typeface="Times New Roman" panose="02020603050405020304" pitchFamily="18" charset="0"/>
              </a:rPr>
              <a:t>0(</a:t>
            </a:r>
            <a:r>
              <a:rPr lang="zh-CN" altLang="en-US" sz="1800" dirty="0">
                <a:ea typeface="楷体" panose="02010609060101010101" pitchFamily="49" charset="-122"/>
                <a:cs typeface="Times New Roman" panose="02020603050405020304" pitchFamily="18" charset="0"/>
              </a:rPr>
              <a:t>丢弃</a:t>
            </a:r>
            <a:r>
              <a:rPr lang="en-US" altLang="zh-CN" sz="1800" dirty="0">
                <a:ea typeface="楷体" panose="02010609060101010101" pitchFamily="49" charset="-122"/>
                <a:cs typeface="Times New Roman" panose="02020603050405020304" pitchFamily="18" charset="0"/>
              </a:rPr>
              <a:t>)</a:t>
            </a: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en-US" altLang="zh-CN" sz="1800" dirty="0">
                <a:ea typeface="楷体" panose="02010609060101010101" pitchFamily="49" charset="-122"/>
                <a:cs typeface="Times New Roman" panose="02020603050405020304" pitchFamily="18" charset="0"/>
              </a:rPr>
              <a:t>1(</a:t>
            </a:r>
            <a:r>
              <a:rPr lang="zh-CN" altLang="en-US" sz="1800" dirty="0">
                <a:ea typeface="楷体" panose="02010609060101010101" pitchFamily="49" charset="-122"/>
                <a:cs typeface="Times New Roman" panose="02020603050405020304" pitchFamily="18" charset="0"/>
              </a:rPr>
              <a:t>丢弃</a:t>
            </a:r>
            <a:r>
              <a:rPr lang="en-US" altLang="zh-CN" sz="1800" dirty="0">
                <a:ea typeface="楷体" panose="02010609060101010101" pitchFamily="49" charset="-122"/>
                <a:cs typeface="Times New Roman" panose="02020603050405020304" pitchFamily="18" charset="0"/>
              </a:rPr>
              <a:t>)</a:t>
            </a:r>
            <a:endParaRPr lang="en-US" altLang="zh-CN" sz="1800" dirty="0">
              <a:ea typeface="楷体" panose="02010609060101010101" pitchFamily="49" charset="-122"/>
              <a:cs typeface="Times New Roman" panose="02020603050405020304" pitchFamily="18" charset="0"/>
            </a:endParaRPr>
          </a:p>
        </p:txBody>
      </p:sp>
      <p:sp>
        <p:nvSpPr>
          <p:cNvPr id="802838" name="Text Box 22"/>
          <p:cNvSpPr txBox="1">
            <a:spLocks noChangeArrowheads="1"/>
          </p:cNvSpPr>
          <p:nvPr/>
        </p:nvSpPr>
        <p:spPr bwMode="auto">
          <a:xfrm>
            <a:off x="6172200" y="5410200"/>
            <a:ext cx="2171700" cy="366713"/>
          </a:xfrm>
          <a:prstGeom prst="rect">
            <a:avLst/>
          </a:prstGeom>
          <a:noFill/>
          <a:ln w="9525">
            <a:noFill/>
            <a:miter lim="800000"/>
          </a:ln>
          <a:effectLst/>
        </p:spPr>
        <p:txBody>
          <a:bodyPr>
            <a:spAutoFit/>
          </a:bodyPr>
          <a:lstStyle/>
          <a:p>
            <a:pPr eaLnBrk="1" hangingPunct="1">
              <a:spcBef>
                <a:spcPct val="50000"/>
              </a:spcBef>
              <a:defRPr/>
            </a:pPr>
            <a:r>
              <a:rPr lang="en-US" altLang="zh-CN" sz="1800" b="1" dirty="0">
                <a:solidFill>
                  <a:srgbClr val="CC3300"/>
                </a:solidFill>
                <a:effectLst>
                  <a:outerShdw blurRad="38100" dist="38100" dir="2700000" algn="tl">
                    <a:srgbClr val="C0C0C0"/>
                  </a:outerShdw>
                </a:effectLst>
                <a:ea typeface="宋体" panose="02010600030101010101" pitchFamily="2" charset="-122"/>
              </a:rPr>
              <a:t>X</a:t>
            </a:r>
            <a:r>
              <a:rPr lang="en-US" altLang="zh-CN" sz="1800" b="1" dirty="0">
                <a:solidFill>
                  <a:srgbClr val="CC3300"/>
                </a:solidFill>
                <a:effectLst>
                  <a:outerShdw blurRad="38100" dist="38100" dir="2700000" algn="tl">
                    <a:srgbClr val="C0C0C0"/>
                  </a:outerShdw>
                </a:effectLst>
                <a:latin typeface="仿宋" panose="02010609060101010101" pitchFamily="49" charset="-122"/>
                <a:ea typeface="仿宋" panose="02010609060101010101" pitchFamily="49" charset="-122"/>
              </a:rPr>
              <a:t>×</a:t>
            </a:r>
            <a:r>
              <a:rPr lang="en-US" altLang="zh-CN" sz="1800" b="1" dirty="0">
                <a:solidFill>
                  <a:srgbClr val="CC3300"/>
                </a:solidFill>
                <a:effectLst>
                  <a:outerShdw blurRad="38100" dist="38100" dir="2700000" algn="tl">
                    <a:srgbClr val="C0C0C0"/>
                  </a:outerShdw>
                </a:effectLst>
                <a:ea typeface="宋体" panose="02010600030101010101" pitchFamily="2" charset="-122"/>
              </a:rPr>
              <a:t>Y=0.10001111</a:t>
            </a:r>
            <a:endParaRPr lang="en-US" altLang="zh-CN" sz="2400" b="1" dirty="0">
              <a:solidFill>
                <a:srgbClr val="CC3300"/>
              </a:solidFill>
              <a:effectLst>
                <a:outerShdw blurRad="38100" dist="38100" dir="2700000" algn="tl">
                  <a:srgbClr val="C0C0C0"/>
                </a:outerShdw>
              </a:effectLst>
              <a:ea typeface="宋体" panose="02010600030101010101" pitchFamily="2" charset="-122"/>
            </a:endParaRPr>
          </a:p>
        </p:txBody>
      </p:sp>
      <p:sp>
        <p:nvSpPr>
          <p:cNvPr id="30743" name="Text Box 23"/>
          <p:cNvSpPr txBox="1">
            <a:spLocks noChangeArrowheads="1"/>
          </p:cNvSpPr>
          <p:nvPr/>
        </p:nvSpPr>
        <p:spPr bwMode="auto">
          <a:xfrm>
            <a:off x="6057900" y="928688"/>
            <a:ext cx="2171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50000"/>
              </a:spcBef>
              <a:buClrTx/>
              <a:buFontTx/>
              <a:buNone/>
            </a:pPr>
            <a:r>
              <a:rPr lang="en-US" altLang="zh-CN" sz="2000" b="0" dirty="0">
                <a:solidFill>
                  <a:schemeClr val="tx2"/>
                </a:solidFill>
                <a:latin typeface="Verdana" panose="020B0604030504040204" pitchFamily="34" charset="0"/>
                <a:ea typeface="方正粗圆简体" pitchFamily="2" charset="-122"/>
              </a:rPr>
              <a:t>z</a:t>
            </a:r>
            <a:r>
              <a:rPr lang="en-US" altLang="zh-CN" sz="2000" b="0" baseline="-25000" dirty="0">
                <a:solidFill>
                  <a:schemeClr val="tx2"/>
                </a:solidFill>
                <a:latin typeface="Verdana" panose="020B0604030504040204" pitchFamily="34" charset="0"/>
                <a:ea typeface="方正粗圆简体" pitchFamily="2" charset="-122"/>
              </a:rPr>
              <a:t>0</a:t>
            </a:r>
            <a:r>
              <a:rPr lang="en-US" altLang="zh-CN" sz="2000" b="0" dirty="0">
                <a:solidFill>
                  <a:schemeClr val="tx2"/>
                </a:solidFill>
                <a:latin typeface="Verdana" panose="020B0604030504040204" pitchFamily="34" charset="0"/>
                <a:ea typeface="方正粗圆简体" pitchFamily="2" charset="-122"/>
              </a:rPr>
              <a:t>=0,y</a:t>
            </a:r>
            <a:r>
              <a:rPr lang="en-US" altLang="zh-CN" sz="2000" b="0" baseline="-25000" dirty="0">
                <a:solidFill>
                  <a:schemeClr val="tx2"/>
                </a:solidFill>
                <a:latin typeface="Verdana" panose="020B0604030504040204" pitchFamily="34" charset="0"/>
                <a:ea typeface="方正粗圆简体" pitchFamily="2" charset="-122"/>
              </a:rPr>
              <a:t>4</a:t>
            </a:r>
            <a:r>
              <a:rPr lang="en-US" altLang="zh-CN" sz="2000" b="0" dirty="0">
                <a:solidFill>
                  <a:schemeClr val="tx2"/>
                </a:solidFill>
                <a:latin typeface="Verdana" panose="020B0604030504040204" pitchFamily="34" charset="0"/>
                <a:ea typeface="方正粗圆简体" pitchFamily="2" charset="-122"/>
              </a:rPr>
              <a:t>=1</a:t>
            </a:r>
            <a:endParaRPr lang="en-US" altLang="zh-CN" sz="2000" b="0" dirty="0">
              <a:solidFill>
                <a:schemeClr val="tx2"/>
              </a:solidFill>
              <a:latin typeface="Verdana" panose="020B0604030504040204" pitchFamily="34" charset="0"/>
              <a:ea typeface="方正粗圆简体" pitchFamily="2" charset="-122"/>
            </a:endParaRPr>
          </a:p>
        </p:txBody>
      </p:sp>
      <p:sp>
        <p:nvSpPr>
          <p:cNvPr id="30744" name="Text Box 24"/>
          <p:cNvSpPr txBox="1">
            <a:spLocks noChangeArrowheads="1"/>
          </p:cNvSpPr>
          <p:nvPr/>
        </p:nvSpPr>
        <p:spPr bwMode="auto">
          <a:xfrm>
            <a:off x="6057900" y="1355725"/>
            <a:ext cx="2171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50000"/>
              </a:spcBef>
              <a:buClrTx/>
              <a:buFontTx/>
              <a:buNone/>
            </a:pPr>
            <a:r>
              <a:rPr lang="en-US" altLang="zh-CN" sz="2000" b="0" dirty="0">
                <a:solidFill>
                  <a:schemeClr val="tx2"/>
                </a:solidFill>
                <a:latin typeface="Verdana" panose="020B0604030504040204" pitchFamily="34" charset="0"/>
                <a:ea typeface="方正粗圆简体" pitchFamily="2" charset="-122"/>
              </a:rPr>
              <a:t>xy</a:t>
            </a:r>
            <a:r>
              <a:rPr lang="en-US" altLang="zh-CN" sz="2000" b="0" baseline="-25000" dirty="0">
                <a:solidFill>
                  <a:schemeClr val="tx2"/>
                </a:solidFill>
                <a:latin typeface="Verdana" panose="020B0604030504040204" pitchFamily="34" charset="0"/>
                <a:ea typeface="方正粗圆简体" pitchFamily="2" charset="-122"/>
              </a:rPr>
              <a:t>4</a:t>
            </a:r>
            <a:r>
              <a:rPr lang="en-US" altLang="zh-CN" sz="2000" b="0" dirty="0">
                <a:solidFill>
                  <a:schemeClr val="tx2"/>
                </a:solidFill>
                <a:latin typeface="Verdana" panose="020B0604030504040204" pitchFamily="34" charset="0"/>
                <a:ea typeface="方正粗圆简体" pitchFamily="2" charset="-122"/>
              </a:rPr>
              <a:t>+z</a:t>
            </a:r>
            <a:r>
              <a:rPr lang="en-US" altLang="zh-CN" sz="2000" b="0" baseline="-25000" dirty="0">
                <a:solidFill>
                  <a:schemeClr val="tx2"/>
                </a:solidFill>
                <a:latin typeface="Verdana" panose="020B0604030504040204" pitchFamily="34" charset="0"/>
                <a:ea typeface="方正粗圆简体" pitchFamily="2" charset="-122"/>
              </a:rPr>
              <a:t>0</a:t>
            </a:r>
            <a:endParaRPr lang="en-US" altLang="zh-CN" sz="2000" b="0" baseline="-25000" dirty="0">
              <a:solidFill>
                <a:schemeClr val="tx2"/>
              </a:solidFill>
              <a:latin typeface="Verdana" panose="020B0604030504040204" pitchFamily="34" charset="0"/>
              <a:ea typeface="方正粗圆简体" pitchFamily="2" charset="-122"/>
            </a:endParaRPr>
          </a:p>
        </p:txBody>
      </p:sp>
      <p:sp>
        <p:nvSpPr>
          <p:cNvPr id="30745" name="Text Box 25"/>
          <p:cNvSpPr txBox="1">
            <a:spLocks noChangeArrowheads="1"/>
          </p:cNvSpPr>
          <p:nvPr/>
        </p:nvSpPr>
        <p:spPr bwMode="auto">
          <a:xfrm>
            <a:off x="6057900" y="2152650"/>
            <a:ext cx="2171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000" b="0">
                <a:solidFill>
                  <a:schemeClr val="tx2"/>
                </a:solidFill>
                <a:latin typeface="Verdana" panose="020B0604030504040204" pitchFamily="34" charset="0"/>
                <a:ea typeface="方正粗圆简体" pitchFamily="2" charset="-122"/>
              </a:rPr>
              <a:t>z</a:t>
            </a:r>
            <a:r>
              <a:rPr lang="en-US" altLang="zh-CN" sz="2000" b="0" baseline="-25000">
                <a:solidFill>
                  <a:schemeClr val="tx2"/>
                </a:solidFill>
                <a:latin typeface="Verdana" panose="020B0604030504040204" pitchFamily="34" charset="0"/>
                <a:ea typeface="方正粗圆简体" pitchFamily="2" charset="-122"/>
              </a:rPr>
              <a:t>1</a:t>
            </a:r>
            <a:r>
              <a:rPr lang="en-US" altLang="zh-CN" sz="2000" b="0">
                <a:solidFill>
                  <a:schemeClr val="tx2"/>
                </a:solidFill>
                <a:latin typeface="Verdana" panose="020B0604030504040204" pitchFamily="34" charset="0"/>
                <a:ea typeface="方正粗圆简体" pitchFamily="2" charset="-122"/>
              </a:rPr>
              <a:t>=2</a:t>
            </a:r>
            <a:r>
              <a:rPr lang="en-US" altLang="zh-CN" sz="2000" b="0" baseline="30000">
                <a:solidFill>
                  <a:schemeClr val="tx2"/>
                </a:solidFill>
                <a:latin typeface="Verdana" panose="020B0604030504040204" pitchFamily="34" charset="0"/>
                <a:ea typeface="方正粗圆简体" pitchFamily="2" charset="-122"/>
              </a:rPr>
              <a:t>-1</a:t>
            </a:r>
            <a:r>
              <a:rPr lang="en-US" altLang="zh-CN" sz="2000" b="0">
                <a:solidFill>
                  <a:schemeClr val="tx2"/>
                </a:solidFill>
                <a:latin typeface="Verdana" panose="020B0604030504040204" pitchFamily="34" charset="0"/>
                <a:ea typeface="方正粗圆简体" pitchFamily="2" charset="-122"/>
              </a:rPr>
              <a:t>(xy</a:t>
            </a:r>
            <a:r>
              <a:rPr lang="en-US" altLang="zh-CN" sz="2000" b="0" baseline="-25000">
                <a:solidFill>
                  <a:schemeClr val="tx2"/>
                </a:solidFill>
                <a:latin typeface="Verdana" panose="020B0604030504040204" pitchFamily="34" charset="0"/>
                <a:ea typeface="方正粗圆简体" pitchFamily="2" charset="-122"/>
              </a:rPr>
              <a:t>4</a:t>
            </a:r>
            <a:r>
              <a:rPr lang="en-US" altLang="zh-CN" sz="2000" b="0">
                <a:solidFill>
                  <a:schemeClr val="tx2"/>
                </a:solidFill>
                <a:latin typeface="Verdana" panose="020B0604030504040204" pitchFamily="34" charset="0"/>
                <a:ea typeface="方正粗圆简体" pitchFamily="2" charset="-122"/>
              </a:rPr>
              <a:t>+z</a:t>
            </a:r>
            <a:r>
              <a:rPr lang="en-US" altLang="zh-CN" sz="2000" b="0" baseline="-25000">
                <a:solidFill>
                  <a:schemeClr val="tx2"/>
                </a:solidFill>
                <a:latin typeface="Verdana" panose="020B0604030504040204" pitchFamily="34" charset="0"/>
                <a:ea typeface="方正粗圆简体" pitchFamily="2" charset="-122"/>
              </a:rPr>
              <a:t>0</a:t>
            </a:r>
            <a:r>
              <a:rPr lang="en-US" altLang="zh-CN" sz="2000" b="0">
                <a:solidFill>
                  <a:schemeClr val="tx2"/>
                </a:solidFill>
                <a:latin typeface="Verdana" panose="020B0604030504040204" pitchFamily="34" charset="0"/>
                <a:ea typeface="方正粗圆简体" pitchFamily="2" charset="-122"/>
              </a:rPr>
              <a:t>)</a:t>
            </a:r>
            <a:endParaRPr lang="en-US" altLang="zh-CN" sz="2000" b="0" baseline="-25000">
              <a:solidFill>
                <a:schemeClr val="tx2"/>
              </a:solidFill>
              <a:latin typeface="Verdana" panose="020B0604030504040204" pitchFamily="34" charset="0"/>
              <a:ea typeface="方正粗圆简体" pitchFamily="2" charset="-122"/>
            </a:endParaRPr>
          </a:p>
        </p:txBody>
      </p:sp>
      <p:sp>
        <p:nvSpPr>
          <p:cNvPr id="30746" name="Text Box 26"/>
          <p:cNvSpPr txBox="1">
            <a:spLocks noChangeArrowheads="1"/>
          </p:cNvSpPr>
          <p:nvPr/>
        </p:nvSpPr>
        <p:spPr bwMode="auto">
          <a:xfrm>
            <a:off x="6172200" y="6002338"/>
            <a:ext cx="2171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1800" dirty="0">
                <a:solidFill>
                  <a:schemeClr val="tx2"/>
                </a:solidFill>
                <a:latin typeface="楷体" panose="02010609060101010101" pitchFamily="49" charset="-122"/>
                <a:ea typeface="楷体" panose="02010609060101010101" pitchFamily="49" charset="-122"/>
              </a:rPr>
              <a:t>移位</a:t>
            </a:r>
            <a:r>
              <a:rPr lang="en-US" altLang="zh-CN" sz="1800" dirty="0">
                <a:solidFill>
                  <a:schemeClr val="tx2"/>
                </a:solidFill>
                <a:latin typeface="楷体" panose="02010609060101010101" pitchFamily="49" charset="-122"/>
                <a:ea typeface="楷体" panose="02010609060101010101" pitchFamily="49" charset="-122"/>
              </a:rPr>
              <a:t>4</a:t>
            </a:r>
            <a:r>
              <a:rPr lang="zh-CN" altLang="en-US" sz="1800" dirty="0">
                <a:solidFill>
                  <a:schemeClr val="tx2"/>
                </a:solidFill>
                <a:latin typeface="楷体" panose="02010609060101010101" pitchFamily="49" charset="-122"/>
                <a:ea typeface="楷体" panose="02010609060101010101" pitchFamily="49" charset="-122"/>
              </a:rPr>
              <a:t>次，运算完成</a:t>
            </a:r>
            <a:endParaRPr lang="zh-CN" altLang="en-US" sz="2400" dirty="0">
              <a:solidFill>
                <a:schemeClr val="tx2"/>
              </a:solidFill>
              <a:latin typeface="楷体" panose="02010609060101010101" pitchFamily="49" charset="-122"/>
              <a:ea typeface="楷体" panose="02010609060101010101" pitchFamily="49" charset="-122"/>
            </a:endParaRPr>
          </a:p>
        </p:txBody>
      </p:sp>
      <p:sp>
        <p:nvSpPr>
          <p:cNvPr id="30747" name="Text Box 27"/>
          <p:cNvSpPr txBox="1">
            <a:spLocks noChangeArrowheads="1"/>
          </p:cNvSpPr>
          <p:nvPr/>
        </p:nvSpPr>
        <p:spPr bwMode="auto">
          <a:xfrm>
            <a:off x="938213" y="427037"/>
            <a:ext cx="433387" cy="39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000" b="0">
                <a:solidFill>
                  <a:srgbClr val="FF0000"/>
                </a:solidFill>
                <a:latin typeface="Verdana" panose="020B0604030504040204" pitchFamily="34" charset="0"/>
                <a:ea typeface="方正粗圆简体" pitchFamily="2" charset="-122"/>
              </a:rPr>
              <a:t>A</a:t>
            </a:r>
            <a:endParaRPr lang="en-US" altLang="zh-CN" sz="2000" b="0" baseline="-25000">
              <a:solidFill>
                <a:srgbClr val="FF0000"/>
              </a:solidFill>
              <a:latin typeface="Verdana" panose="020B0604030504040204" pitchFamily="34" charset="0"/>
              <a:ea typeface="方正粗圆简体" pitchFamily="2" charset="-122"/>
            </a:endParaRPr>
          </a:p>
        </p:txBody>
      </p:sp>
      <p:sp>
        <p:nvSpPr>
          <p:cNvPr id="30748" name="Text Box 28"/>
          <p:cNvSpPr txBox="1">
            <a:spLocks noChangeArrowheads="1"/>
          </p:cNvSpPr>
          <p:nvPr/>
        </p:nvSpPr>
        <p:spPr bwMode="auto">
          <a:xfrm>
            <a:off x="4519613" y="427037"/>
            <a:ext cx="433387" cy="39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000" b="0">
                <a:solidFill>
                  <a:srgbClr val="FF0000"/>
                </a:solidFill>
                <a:latin typeface="Verdana" panose="020B0604030504040204" pitchFamily="34" charset="0"/>
                <a:ea typeface="方正粗圆简体" pitchFamily="2" charset="-122"/>
              </a:rPr>
              <a:t>C</a:t>
            </a:r>
            <a:endParaRPr lang="en-US" altLang="zh-CN" sz="2000" b="0" baseline="-25000">
              <a:solidFill>
                <a:srgbClr val="FF0000"/>
              </a:solidFill>
              <a:latin typeface="Verdana" panose="020B0604030504040204" pitchFamily="34" charset="0"/>
              <a:ea typeface="方正粗圆简体" pitchFamily="2" charset="-122"/>
            </a:endParaRPr>
          </a:p>
        </p:txBody>
      </p:sp>
      <p:sp>
        <p:nvSpPr>
          <p:cNvPr id="30749" name="Text Box 29"/>
          <p:cNvSpPr txBox="1">
            <a:spLocks noChangeArrowheads="1"/>
          </p:cNvSpPr>
          <p:nvPr/>
        </p:nvSpPr>
        <p:spPr bwMode="auto">
          <a:xfrm>
            <a:off x="5738813" y="427037"/>
            <a:ext cx="1714500" cy="39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50000"/>
              </a:spcBef>
              <a:buClrTx/>
              <a:buFontTx/>
              <a:buNone/>
            </a:pPr>
            <a:r>
              <a:rPr lang="en-US" altLang="zh-CN" sz="2000" b="0" dirty="0">
                <a:solidFill>
                  <a:srgbClr val="FF0000"/>
                </a:solidFill>
                <a:latin typeface="Verdana" panose="020B0604030504040204" pitchFamily="34" charset="0"/>
                <a:ea typeface="方正粗圆简体" pitchFamily="2" charset="-122"/>
              </a:rPr>
              <a:t>B  </a:t>
            </a:r>
            <a:r>
              <a:rPr lang="en-US" altLang="zh-CN" sz="2000" b="0" u="sng" dirty="0">
                <a:latin typeface="Verdana" panose="020B0604030504040204" pitchFamily="34" charset="0"/>
                <a:ea typeface="方正粗圆简体" pitchFamily="2" charset="-122"/>
              </a:rPr>
              <a:t>00.1101</a:t>
            </a:r>
            <a:endParaRPr lang="en-US" altLang="zh-CN" sz="2000" b="0" u="sng" baseline="-25000" dirty="0">
              <a:latin typeface="Verdana" panose="020B0604030504040204" pitchFamily="34" charset="0"/>
              <a:ea typeface="方正粗圆简体" pitchFamily="2" charset="-122"/>
            </a:endParaRPr>
          </a:p>
        </p:txBody>
      </p:sp>
      <p:sp>
        <p:nvSpPr>
          <p:cNvPr id="30750" name="Text Box 30"/>
          <p:cNvSpPr txBox="1">
            <a:spLocks noChangeArrowheads="1"/>
          </p:cNvSpPr>
          <p:nvPr/>
        </p:nvSpPr>
        <p:spPr bwMode="auto">
          <a:xfrm>
            <a:off x="7356475" y="460375"/>
            <a:ext cx="1139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50000"/>
              </a:spcBef>
              <a:buClrTx/>
              <a:buFontTx/>
              <a:buNone/>
            </a:pPr>
            <a:r>
              <a:rPr lang="zh-CN" altLang="en-US" sz="1800" dirty="0">
                <a:latin typeface="楷体" panose="02010609060101010101" pitchFamily="49" charset="-122"/>
                <a:ea typeface="楷体" panose="02010609060101010101" pitchFamily="49" charset="-122"/>
              </a:rPr>
              <a:t>被乘数</a:t>
            </a:r>
            <a:r>
              <a:rPr lang="en-US" altLang="zh-CN" sz="1800" dirty="0">
                <a:latin typeface="楷体" panose="02010609060101010101" pitchFamily="49" charset="-122"/>
                <a:ea typeface="楷体" panose="02010609060101010101" pitchFamily="49" charset="-122"/>
              </a:rPr>
              <a:t>X</a:t>
            </a:r>
            <a:endParaRPr lang="zh-CN" altLang="en-US" sz="1800" dirty="0">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66" name="Rectangle 2"/>
          <p:cNvSpPr>
            <a:spLocks noGrp="1" noChangeArrowheads="1"/>
          </p:cNvSpPr>
          <p:nvPr>
            <p:ph type="title"/>
          </p:nvPr>
        </p:nvSpPr>
        <p:spPr>
          <a:xfrm>
            <a:off x="6705600" y="3119437"/>
            <a:ext cx="2286000" cy="838200"/>
          </a:xfrm>
        </p:spPr>
        <p:txBody>
          <a:bodyPr/>
          <a:lstStyle/>
          <a:p>
            <a:pPr eaLnBrk="1" hangingPunct="1">
              <a:defRPr/>
            </a:pPr>
            <a:r>
              <a:rPr lang="zh-CN" altLang="en-US" sz="4000" dirty="0">
                <a:solidFill>
                  <a:schemeClr val="tx1"/>
                </a:solidFill>
                <a:latin typeface="楷体" panose="02010609060101010101" pitchFamily="49" charset="-122"/>
                <a:ea typeface="楷体" panose="02010609060101010101" pitchFamily="49" charset="-122"/>
              </a:rPr>
              <a:t>算法流程</a:t>
            </a:r>
            <a:endParaRPr lang="zh-CN" altLang="en-US" sz="4000" dirty="0">
              <a:solidFill>
                <a:schemeClr val="tx1"/>
              </a:solidFill>
              <a:latin typeface="楷体" panose="02010609060101010101" pitchFamily="49" charset="-122"/>
              <a:ea typeface="楷体" panose="02010609060101010101" pitchFamily="49" charset="-122"/>
            </a:endParaRPr>
          </a:p>
        </p:txBody>
      </p:sp>
      <p:grpSp>
        <p:nvGrpSpPr>
          <p:cNvPr id="32771" name="Group 3"/>
          <p:cNvGrpSpPr/>
          <p:nvPr/>
        </p:nvGrpSpPr>
        <p:grpSpPr bwMode="auto">
          <a:xfrm>
            <a:off x="152400" y="493713"/>
            <a:ext cx="7934325" cy="5840413"/>
            <a:chOff x="576" y="508"/>
            <a:chExt cx="4998" cy="3679"/>
          </a:xfrm>
        </p:grpSpPr>
        <p:grpSp>
          <p:nvGrpSpPr>
            <p:cNvPr id="32773" name="Group 4"/>
            <p:cNvGrpSpPr/>
            <p:nvPr/>
          </p:nvGrpSpPr>
          <p:grpSpPr bwMode="auto">
            <a:xfrm>
              <a:off x="576" y="508"/>
              <a:ext cx="3936" cy="389"/>
              <a:chOff x="576" y="700"/>
              <a:chExt cx="3936" cy="389"/>
            </a:xfrm>
          </p:grpSpPr>
          <p:sp>
            <p:nvSpPr>
              <p:cNvPr id="32811" name="Text Box 5"/>
              <p:cNvSpPr txBox="1">
                <a:spLocks noChangeArrowheads="1"/>
              </p:cNvSpPr>
              <p:nvPr/>
            </p:nvSpPr>
            <p:spPr bwMode="auto">
              <a:xfrm>
                <a:off x="576" y="700"/>
                <a:ext cx="3936" cy="389"/>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dirty="0">
                    <a:latin typeface="黑体" panose="02010609060101010101" pitchFamily="49" charset="-122"/>
                    <a:ea typeface="黑体" panose="02010609060101010101" pitchFamily="49" charset="-122"/>
                  </a:rPr>
                  <a:t>0   A</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X   B</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Y   C</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0   CR</a:t>
                </a:r>
                <a:endParaRPr lang="en-US" altLang="zh-CN" dirty="0">
                  <a:latin typeface="黑体" panose="02010609060101010101" pitchFamily="49" charset="-122"/>
                  <a:ea typeface="黑体" panose="02010609060101010101" pitchFamily="49" charset="-122"/>
                </a:endParaRPr>
              </a:p>
            </p:txBody>
          </p:sp>
          <p:sp>
            <p:nvSpPr>
              <p:cNvPr id="32812" name="Line 6"/>
              <p:cNvSpPr>
                <a:spLocks noChangeShapeType="1"/>
              </p:cNvSpPr>
              <p:nvPr/>
            </p:nvSpPr>
            <p:spPr bwMode="auto">
              <a:xfrm>
                <a:off x="1632" y="768"/>
                <a:ext cx="0" cy="2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3" name="Line 7"/>
              <p:cNvSpPr>
                <a:spLocks noChangeShapeType="1"/>
              </p:cNvSpPr>
              <p:nvPr/>
            </p:nvSpPr>
            <p:spPr bwMode="auto">
              <a:xfrm>
                <a:off x="1872" y="768"/>
                <a:ext cx="0" cy="2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4" name="Line 8"/>
              <p:cNvSpPr>
                <a:spLocks noChangeShapeType="1"/>
              </p:cNvSpPr>
              <p:nvPr/>
            </p:nvSpPr>
            <p:spPr bwMode="auto">
              <a:xfrm>
                <a:off x="2544" y="768"/>
                <a:ext cx="0" cy="2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5" name="Line 9"/>
              <p:cNvSpPr>
                <a:spLocks noChangeShapeType="1"/>
              </p:cNvSpPr>
              <p:nvPr/>
            </p:nvSpPr>
            <p:spPr bwMode="auto">
              <a:xfrm>
                <a:off x="2784" y="768"/>
                <a:ext cx="0" cy="2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6" name="Line 10"/>
              <p:cNvSpPr>
                <a:spLocks noChangeShapeType="1"/>
              </p:cNvSpPr>
              <p:nvPr/>
            </p:nvSpPr>
            <p:spPr bwMode="auto">
              <a:xfrm>
                <a:off x="1008" y="912"/>
                <a:ext cx="24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7" name="Line 11"/>
              <p:cNvSpPr>
                <a:spLocks noChangeShapeType="1"/>
              </p:cNvSpPr>
              <p:nvPr/>
            </p:nvSpPr>
            <p:spPr bwMode="auto">
              <a:xfrm>
                <a:off x="1920" y="912"/>
                <a:ext cx="24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8" name="Line 12"/>
              <p:cNvSpPr>
                <a:spLocks noChangeShapeType="1"/>
              </p:cNvSpPr>
              <p:nvPr/>
            </p:nvSpPr>
            <p:spPr bwMode="auto">
              <a:xfrm>
                <a:off x="2832" y="912"/>
                <a:ext cx="24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9" name="Line 13"/>
              <p:cNvSpPr>
                <a:spLocks noChangeShapeType="1"/>
              </p:cNvSpPr>
              <p:nvPr/>
            </p:nvSpPr>
            <p:spPr bwMode="auto">
              <a:xfrm>
                <a:off x="3696" y="912"/>
                <a:ext cx="24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2774" name="Group 14"/>
            <p:cNvGrpSpPr/>
            <p:nvPr/>
          </p:nvGrpSpPr>
          <p:grpSpPr bwMode="auto">
            <a:xfrm>
              <a:off x="1584" y="1008"/>
              <a:ext cx="2112" cy="480"/>
              <a:chOff x="1584" y="1152"/>
              <a:chExt cx="2112" cy="480"/>
            </a:xfrm>
          </p:grpSpPr>
          <p:sp>
            <p:nvSpPr>
              <p:cNvPr id="32809" name="AutoShape 15"/>
              <p:cNvSpPr>
                <a:spLocks noChangeArrowheads="1"/>
              </p:cNvSpPr>
              <p:nvPr/>
            </p:nvSpPr>
            <p:spPr bwMode="auto">
              <a:xfrm>
                <a:off x="1584" y="1152"/>
                <a:ext cx="2112" cy="480"/>
              </a:xfrm>
              <a:prstGeom prst="flowChartDecision">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2810" name="Text Box 16"/>
              <p:cNvSpPr txBox="1">
                <a:spLocks noChangeArrowheads="1"/>
              </p:cNvSpPr>
              <p:nvPr/>
            </p:nvSpPr>
            <p:spPr bwMode="auto">
              <a:xfrm>
                <a:off x="2064" y="1200"/>
                <a:ext cx="13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dirty="0">
                    <a:latin typeface="黑体" panose="02010609060101010101" pitchFamily="49" charset="-122"/>
                    <a:ea typeface="黑体" panose="02010609060101010101" pitchFamily="49" charset="-122"/>
                  </a:rPr>
                  <a:t>C</a:t>
                </a:r>
                <a:r>
                  <a:rPr lang="en-US" altLang="zh-CN" sz="2800" dirty="0">
                    <a:latin typeface="黑体" panose="02010609060101010101" pitchFamily="49" charset="-122"/>
                    <a:ea typeface="黑体" panose="02010609060101010101" pitchFamily="49" charset="-122"/>
                  </a:rPr>
                  <a:t>n</a:t>
                </a:r>
                <a:r>
                  <a:rPr lang="en-US" altLang="zh-CN" dirty="0">
                    <a:latin typeface="黑体" panose="02010609060101010101" pitchFamily="49" charset="-122"/>
                    <a:ea typeface="黑体" panose="02010609060101010101" pitchFamily="49" charset="-122"/>
                  </a:rPr>
                  <a:t> = 1</a:t>
                </a:r>
                <a:r>
                  <a:rPr lang="zh-CN" altLang="en-US"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grpSp>
        <p:grpSp>
          <p:nvGrpSpPr>
            <p:cNvPr id="32775" name="Group 17"/>
            <p:cNvGrpSpPr/>
            <p:nvPr/>
          </p:nvGrpSpPr>
          <p:grpSpPr bwMode="auto">
            <a:xfrm>
              <a:off x="1536" y="3120"/>
              <a:ext cx="2112" cy="480"/>
              <a:chOff x="1584" y="1152"/>
              <a:chExt cx="2112" cy="480"/>
            </a:xfrm>
          </p:grpSpPr>
          <p:sp>
            <p:nvSpPr>
              <p:cNvPr id="32807" name="AutoShape 18"/>
              <p:cNvSpPr>
                <a:spLocks noChangeArrowheads="1"/>
              </p:cNvSpPr>
              <p:nvPr/>
            </p:nvSpPr>
            <p:spPr bwMode="auto">
              <a:xfrm>
                <a:off x="1584" y="1152"/>
                <a:ext cx="2112" cy="480"/>
              </a:xfrm>
              <a:prstGeom prst="flowChartDecision">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2808" name="Text Box 19"/>
              <p:cNvSpPr txBox="1">
                <a:spLocks noChangeArrowheads="1"/>
              </p:cNvSpPr>
              <p:nvPr/>
            </p:nvSpPr>
            <p:spPr bwMode="auto">
              <a:xfrm>
                <a:off x="2064" y="1200"/>
                <a:ext cx="13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a:latin typeface="黑体" panose="02010609060101010101" pitchFamily="49" charset="-122"/>
                    <a:ea typeface="黑体" panose="02010609060101010101" pitchFamily="49" charset="-122"/>
                  </a:rPr>
                  <a:t>CR = n </a:t>
                </a:r>
                <a:r>
                  <a:rPr lang="zh-CN" altLang="en-US">
                    <a:latin typeface="黑体" panose="02010609060101010101" pitchFamily="49" charset="-122"/>
                    <a:ea typeface="黑体" panose="02010609060101010101" pitchFamily="49" charset="-122"/>
                  </a:rPr>
                  <a:t>？</a:t>
                </a:r>
                <a:endParaRPr lang="zh-CN" altLang="en-US">
                  <a:latin typeface="黑体" panose="02010609060101010101" pitchFamily="49" charset="-122"/>
                  <a:ea typeface="黑体" panose="02010609060101010101" pitchFamily="49" charset="-122"/>
                </a:endParaRPr>
              </a:p>
            </p:txBody>
          </p:sp>
        </p:grpSp>
        <p:grpSp>
          <p:nvGrpSpPr>
            <p:cNvPr id="32776" name="Group 20"/>
            <p:cNvGrpSpPr/>
            <p:nvPr/>
          </p:nvGrpSpPr>
          <p:grpSpPr bwMode="auto">
            <a:xfrm>
              <a:off x="1440" y="1918"/>
              <a:ext cx="2352" cy="368"/>
              <a:chOff x="864" y="2544"/>
              <a:chExt cx="2352" cy="373"/>
            </a:xfrm>
          </p:grpSpPr>
          <p:sp>
            <p:nvSpPr>
              <p:cNvPr id="32804" name="Text Box 21"/>
              <p:cNvSpPr txBox="1">
                <a:spLocks noChangeArrowheads="1"/>
              </p:cNvSpPr>
              <p:nvPr/>
            </p:nvSpPr>
            <p:spPr bwMode="auto">
              <a:xfrm>
                <a:off x="864" y="2544"/>
                <a:ext cx="2352" cy="373"/>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a:latin typeface="黑体" panose="02010609060101010101" pitchFamily="49" charset="-122"/>
                    <a:ea typeface="黑体" panose="02010609060101010101" pitchFamily="49" charset="-122"/>
                  </a:rPr>
                  <a:t>2</a:t>
                </a:r>
                <a:r>
                  <a:rPr lang="en-US" altLang="zh-CN" baseline="30000">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A+B</a:t>
                </a:r>
                <a:r>
                  <a:rPr lang="zh-CN" altLang="en-US">
                    <a:latin typeface="黑体" panose="02010609060101010101" pitchFamily="49" charset="-122"/>
                    <a:ea typeface="黑体" panose="02010609060101010101" pitchFamily="49" charset="-122"/>
                  </a:rPr>
                  <a:t>）  </a:t>
                </a:r>
                <a:r>
                  <a:rPr lang="en-US" altLang="zh-CN">
                    <a:latin typeface="黑体" panose="02010609060101010101" pitchFamily="49" charset="-122"/>
                    <a:ea typeface="黑体" panose="02010609060101010101" pitchFamily="49" charset="-122"/>
                  </a:rPr>
                  <a:t>A</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C</a:t>
                </a:r>
                <a:endParaRPr lang="en-US" altLang="zh-CN">
                  <a:latin typeface="黑体" panose="02010609060101010101" pitchFamily="49" charset="-122"/>
                  <a:ea typeface="黑体" panose="02010609060101010101" pitchFamily="49" charset="-122"/>
                </a:endParaRPr>
              </a:p>
            </p:txBody>
          </p:sp>
          <p:sp>
            <p:nvSpPr>
              <p:cNvPr id="32805" name="Line 22"/>
              <p:cNvSpPr>
                <a:spLocks noChangeShapeType="1"/>
              </p:cNvSpPr>
              <p:nvPr/>
            </p:nvSpPr>
            <p:spPr bwMode="auto">
              <a:xfrm>
                <a:off x="2139" y="2736"/>
                <a:ext cx="288"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6" name="Line 23"/>
              <p:cNvSpPr>
                <a:spLocks noChangeShapeType="1"/>
              </p:cNvSpPr>
              <p:nvPr/>
            </p:nvSpPr>
            <p:spPr bwMode="auto">
              <a:xfrm>
                <a:off x="2496" y="2606"/>
                <a:ext cx="579"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2777" name="Group 24"/>
            <p:cNvGrpSpPr/>
            <p:nvPr/>
          </p:nvGrpSpPr>
          <p:grpSpPr bwMode="auto">
            <a:xfrm>
              <a:off x="3222" y="1440"/>
              <a:ext cx="2352" cy="368"/>
              <a:chOff x="822" y="2544"/>
              <a:chExt cx="2352" cy="368"/>
            </a:xfrm>
          </p:grpSpPr>
          <p:sp>
            <p:nvSpPr>
              <p:cNvPr id="32801" name="Text Box 25"/>
              <p:cNvSpPr txBox="1">
                <a:spLocks noChangeArrowheads="1"/>
              </p:cNvSpPr>
              <p:nvPr/>
            </p:nvSpPr>
            <p:spPr bwMode="auto">
              <a:xfrm>
                <a:off x="822" y="2544"/>
                <a:ext cx="2352" cy="368"/>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a:latin typeface="黑体" panose="02010609060101010101" pitchFamily="49" charset="-122"/>
                    <a:ea typeface="黑体" panose="02010609060101010101" pitchFamily="49" charset="-122"/>
                  </a:rPr>
                  <a:t>2</a:t>
                </a:r>
                <a:r>
                  <a:rPr lang="en-US" altLang="zh-CN" baseline="30000">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A+0</a:t>
                </a:r>
                <a:r>
                  <a:rPr lang="zh-CN" altLang="en-US">
                    <a:latin typeface="黑体" panose="02010609060101010101" pitchFamily="49" charset="-122"/>
                    <a:ea typeface="黑体" panose="02010609060101010101" pitchFamily="49" charset="-122"/>
                  </a:rPr>
                  <a:t>）  </a:t>
                </a:r>
                <a:r>
                  <a:rPr lang="en-US" altLang="zh-CN">
                    <a:latin typeface="黑体" panose="02010609060101010101" pitchFamily="49" charset="-122"/>
                    <a:ea typeface="黑体" panose="02010609060101010101" pitchFamily="49" charset="-122"/>
                  </a:rPr>
                  <a:t>A</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C</a:t>
                </a:r>
                <a:endParaRPr lang="en-US" altLang="zh-CN">
                  <a:latin typeface="黑体" panose="02010609060101010101" pitchFamily="49" charset="-122"/>
                  <a:ea typeface="黑体" panose="02010609060101010101" pitchFamily="49" charset="-122"/>
                </a:endParaRPr>
              </a:p>
            </p:txBody>
          </p:sp>
          <p:sp>
            <p:nvSpPr>
              <p:cNvPr id="32802" name="Line 26"/>
              <p:cNvSpPr>
                <a:spLocks noChangeShapeType="1"/>
              </p:cNvSpPr>
              <p:nvPr/>
            </p:nvSpPr>
            <p:spPr bwMode="auto">
              <a:xfrm>
                <a:off x="2112" y="2736"/>
                <a:ext cx="288"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3" name="Line 27"/>
              <p:cNvSpPr>
                <a:spLocks noChangeShapeType="1"/>
              </p:cNvSpPr>
              <p:nvPr/>
            </p:nvSpPr>
            <p:spPr bwMode="auto">
              <a:xfrm>
                <a:off x="2406" y="2592"/>
                <a:ext cx="627"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2778" name="Group 28"/>
            <p:cNvGrpSpPr/>
            <p:nvPr/>
          </p:nvGrpSpPr>
          <p:grpSpPr bwMode="auto">
            <a:xfrm>
              <a:off x="1248" y="2533"/>
              <a:ext cx="2352" cy="389"/>
              <a:chOff x="1248" y="2533"/>
              <a:chExt cx="2352" cy="389"/>
            </a:xfrm>
          </p:grpSpPr>
          <p:sp>
            <p:nvSpPr>
              <p:cNvPr id="32799" name="Text Box 29"/>
              <p:cNvSpPr txBox="1">
                <a:spLocks noChangeArrowheads="1"/>
              </p:cNvSpPr>
              <p:nvPr/>
            </p:nvSpPr>
            <p:spPr bwMode="auto">
              <a:xfrm>
                <a:off x="1248" y="2533"/>
                <a:ext cx="2352" cy="389"/>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dirty="0">
                    <a:latin typeface="黑体" panose="02010609060101010101" pitchFamily="49" charset="-122"/>
                    <a:ea typeface="黑体" panose="02010609060101010101" pitchFamily="49" charset="-122"/>
                  </a:rPr>
                  <a:t>   CR + 1   CR</a:t>
                </a:r>
                <a:endParaRPr lang="en-US" altLang="zh-CN" dirty="0">
                  <a:latin typeface="黑体" panose="02010609060101010101" pitchFamily="49" charset="-122"/>
                  <a:ea typeface="黑体" panose="02010609060101010101" pitchFamily="49" charset="-122"/>
                </a:endParaRPr>
              </a:p>
            </p:txBody>
          </p:sp>
          <p:sp>
            <p:nvSpPr>
              <p:cNvPr id="32800" name="Line 30"/>
              <p:cNvSpPr>
                <a:spLocks noChangeShapeType="1"/>
              </p:cNvSpPr>
              <p:nvPr/>
            </p:nvSpPr>
            <p:spPr bwMode="auto">
              <a:xfrm>
                <a:off x="2688" y="2736"/>
                <a:ext cx="288"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2779" name="Line 31"/>
            <p:cNvSpPr>
              <a:spLocks noChangeShapeType="1"/>
            </p:cNvSpPr>
            <p:nvPr/>
          </p:nvSpPr>
          <p:spPr bwMode="auto">
            <a:xfrm>
              <a:off x="2640" y="864"/>
              <a:ext cx="0" cy="14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0" name="Line 32"/>
            <p:cNvSpPr>
              <a:spLocks noChangeShapeType="1"/>
            </p:cNvSpPr>
            <p:nvPr/>
          </p:nvSpPr>
          <p:spPr bwMode="auto">
            <a:xfrm>
              <a:off x="2640" y="1488"/>
              <a:ext cx="0" cy="43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1" name="Text Box 33"/>
            <p:cNvSpPr txBox="1">
              <a:spLocks noChangeArrowheads="1"/>
            </p:cNvSpPr>
            <p:nvPr/>
          </p:nvSpPr>
          <p:spPr bwMode="auto">
            <a:xfrm>
              <a:off x="2256" y="1584"/>
              <a:ext cx="4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a:solidFill>
                    <a:srgbClr val="FF0000"/>
                  </a:solidFill>
                  <a:ea typeface="宋体" panose="02010600030101010101" pitchFamily="2" charset="-122"/>
                </a:rPr>
                <a:t>Y</a:t>
              </a:r>
              <a:endParaRPr lang="en-US" altLang="zh-CN">
                <a:solidFill>
                  <a:srgbClr val="FF0000"/>
                </a:solidFill>
                <a:ea typeface="宋体" panose="02010600030101010101" pitchFamily="2" charset="-122"/>
              </a:endParaRPr>
            </a:p>
          </p:txBody>
        </p:sp>
        <p:sp>
          <p:nvSpPr>
            <p:cNvPr id="32782" name="Text Box 34"/>
            <p:cNvSpPr txBox="1">
              <a:spLocks noChangeArrowheads="1"/>
            </p:cNvSpPr>
            <p:nvPr/>
          </p:nvSpPr>
          <p:spPr bwMode="auto">
            <a:xfrm>
              <a:off x="2064" y="3456"/>
              <a:ext cx="4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a:solidFill>
                    <a:srgbClr val="FF0000"/>
                  </a:solidFill>
                  <a:ea typeface="宋体" panose="02010600030101010101" pitchFamily="2" charset="-122"/>
                </a:rPr>
                <a:t>Y</a:t>
              </a:r>
              <a:endParaRPr lang="en-US" altLang="zh-CN">
                <a:solidFill>
                  <a:srgbClr val="FF0000"/>
                </a:solidFill>
                <a:ea typeface="宋体" panose="02010600030101010101" pitchFamily="2" charset="-122"/>
              </a:endParaRPr>
            </a:p>
          </p:txBody>
        </p:sp>
        <p:sp>
          <p:nvSpPr>
            <p:cNvPr id="32783" name="Text Box 35"/>
            <p:cNvSpPr txBox="1">
              <a:spLocks noChangeArrowheads="1"/>
            </p:cNvSpPr>
            <p:nvPr/>
          </p:nvSpPr>
          <p:spPr bwMode="auto">
            <a:xfrm>
              <a:off x="3648" y="912"/>
              <a:ext cx="4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a:solidFill>
                    <a:srgbClr val="CC3300"/>
                  </a:solidFill>
                  <a:ea typeface="宋体" panose="02010600030101010101" pitchFamily="2" charset="-122"/>
                </a:rPr>
                <a:t>N</a:t>
              </a:r>
              <a:endParaRPr lang="en-US" altLang="zh-CN">
                <a:solidFill>
                  <a:srgbClr val="CC3300"/>
                </a:solidFill>
                <a:ea typeface="宋体" panose="02010600030101010101" pitchFamily="2" charset="-122"/>
              </a:endParaRPr>
            </a:p>
          </p:txBody>
        </p:sp>
        <p:sp>
          <p:nvSpPr>
            <p:cNvPr id="32784" name="Text Box 36"/>
            <p:cNvSpPr txBox="1">
              <a:spLocks noChangeArrowheads="1"/>
            </p:cNvSpPr>
            <p:nvPr/>
          </p:nvSpPr>
          <p:spPr bwMode="auto">
            <a:xfrm>
              <a:off x="1296" y="3024"/>
              <a:ext cx="4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a:solidFill>
                    <a:srgbClr val="CC3300"/>
                  </a:solidFill>
                  <a:ea typeface="宋体" panose="02010600030101010101" pitchFamily="2" charset="-122"/>
                </a:rPr>
                <a:t>N</a:t>
              </a:r>
              <a:endParaRPr lang="en-US" altLang="zh-CN">
                <a:solidFill>
                  <a:srgbClr val="CC3300"/>
                </a:solidFill>
                <a:ea typeface="宋体" panose="02010600030101010101" pitchFamily="2" charset="-122"/>
              </a:endParaRPr>
            </a:p>
          </p:txBody>
        </p:sp>
        <p:sp>
          <p:nvSpPr>
            <p:cNvPr id="32785" name="Line 37"/>
            <p:cNvSpPr>
              <a:spLocks noChangeShapeType="1"/>
            </p:cNvSpPr>
            <p:nvPr/>
          </p:nvSpPr>
          <p:spPr bwMode="auto">
            <a:xfrm>
              <a:off x="3696" y="1248"/>
              <a:ext cx="91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6" name="Line 38"/>
            <p:cNvSpPr>
              <a:spLocks noChangeShapeType="1"/>
            </p:cNvSpPr>
            <p:nvPr/>
          </p:nvSpPr>
          <p:spPr bwMode="auto">
            <a:xfrm>
              <a:off x="4608" y="1248"/>
              <a:ext cx="0"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7" name="Line 39"/>
            <p:cNvSpPr>
              <a:spLocks noChangeShapeType="1"/>
            </p:cNvSpPr>
            <p:nvPr/>
          </p:nvSpPr>
          <p:spPr bwMode="auto">
            <a:xfrm>
              <a:off x="2640" y="2304"/>
              <a:ext cx="0" cy="2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8" name="Line 40"/>
            <p:cNvSpPr>
              <a:spLocks noChangeShapeType="1"/>
            </p:cNvSpPr>
            <p:nvPr/>
          </p:nvSpPr>
          <p:spPr bwMode="auto">
            <a:xfrm>
              <a:off x="4608" y="1824"/>
              <a:ext cx="0" cy="57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9" name="Line 41"/>
            <p:cNvSpPr>
              <a:spLocks noChangeShapeType="1"/>
            </p:cNvSpPr>
            <p:nvPr/>
          </p:nvSpPr>
          <p:spPr bwMode="auto">
            <a:xfrm>
              <a:off x="2640" y="2400"/>
              <a:ext cx="1968"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0" name="Line 42"/>
            <p:cNvSpPr>
              <a:spLocks noChangeShapeType="1"/>
            </p:cNvSpPr>
            <p:nvPr/>
          </p:nvSpPr>
          <p:spPr bwMode="auto">
            <a:xfrm>
              <a:off x="2592" y="2928"/>
              <a:ext cx="0"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1" name="Line 43"/>
            <p:cNvSpPr>
              <a:spLocks noChangeShapeType="1"/>
            </p:cNvSpPr>
            <p:nvPr/>
          </p:nvSpPr>
          <p:spPr bwMode="auto">
            <a:xfrm>
              <a:off x="2592" y="3600"/>
              <a:ext cx="0"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2" name="Line 44"/>
            <p:cNvSpPr>
              <a:spLocks noChangeShapeType="1"/>
            </p:cNvSpPr>
            <p:nvPr/>
          </p:nvSpPr>
          <p:spPr bwMode="auto">
            <a:xfrm>
              <a:off x="624" y="3360"/>
              <a:ext cx="91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3" name="Line 45"/>
            <p:cNvSpPr>
              <a:spLocks noChangeShapeType="1"/>
            </p:cNvSpPr>
            <p:nvPr/>
          </p:nvSpPr>
          <p:spPr bwMode="auto">
            <a:xfrm flipV="1">
              <a:off x="624" y="960"/>
              <a:ext cx="0" cy="24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4" name="Line 46"/>
            <p:cNvSpPr>
              <a:spLocks noChangeShapeType="1"/>
            </p:cNvSpPr>
            <p:nvPr/>
          </p:nvSpPr>
          <p:spPr bwMode="auto">
            <a:xfrm>
              <a:off x="624" y="960"/>
              <a:ext cx="2016"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2795" name="Group 47"/>
            <p:cNvGrpSpPr/>
            <p:nvPr/>
          </p:nvGrpSpPr>
          <p:grpSpPr bwMode="auto">
            <a:xfrm>
              <a:off x="1295" y="3798"/>
              <a:ext cx="2352" cy="389"/>
              <a:chOff x="1295" y="3798"/>
              <a:chExt cx="2352" cy="389"/>
            </a:xfrm>
          </p:grpSpPr>
          <p:sp>
            <p:nvSpPr>
              <p:cNvPr id="32796" name="Text Box 48"/>
              <p:cNvSpPr txBox="1">
                <a:spLocks noChangeArrowheads="1"/>
              </p:cNvSpPr>
              <p:nvPr/>
            </p:nvSpPr>
            <p:spPr bwMode="auto">
              <a:xfrm>
                <a:off x="1295" y="3798"/>
                <a:ext cx="2352" cy="389"/>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dirty="0">
                    <a:latin typeface="黑体" panose="02010609060101010101" pitchFamily="49" charset="-122"/>
                    <a:ea typeface="黑体" panose="02010609060101010101" pitchFamily="49" charset="-122"/>
                  </a:rPr>
                  <a:t>   </a:t>
                </a:r>
                <a:r>
                  <a:rPr lang="en-US" altLang="zh-CN" dirty="0" err="1">
                    <a:latin typeface="黑体" panose="02010609060101010101" pitchFamily="49" charset="-122"/>
                    <a:ea typeface="黑体" panose="02010609060101010101" pitchFamily="49" charset="-122"/>
                  </a:rPr>
                  <a:t>Sx</a:t>
                </a:r>
                <a:r>
                  <a:rPr lang="en-US" altLang="zh-CN" dirty="0">
                    <a:latin typeface="黑体" panose="02010609060101010101" pitchFamily="49" charset="-122"/>
                    <a:ea typeface="黑体" panose="02010609060101010101" pitchFamily="49" charset="-122"/>
                  </a:rPr>
                  <a:t> + Sy   S</a:t>
                </a:r>
                <a:r>
                  <a:rPr lang="en-US" altLang="zh-CN" sz="2800" dirty="0">
                    <a:latin typeface="黑体" panose="02010609060101010101" pitchFamily="49" charset="-122"/>
                    <a:ea typeface="黑体" panose="02010609060101010101" pitchFamily="49" charset="-122"/>
                  </a:rPr>
                  <a:t>A</a:t>
                </a:r>
                <a:endParaRPr lang="en-US" altLang="zh-CN" dirty="0">
                  <a:latin typeface="黑体" panose="02010609060101010101" pitchFamily="49" charset="-122"/>
                  <a:ea typeface="黑体" panose="02010609060101010101" pitchFamily="49" charset="-122"/>
                </a:endParaRPr>
              </a:p>
            </p:txBody>
          </p:sp>
          <p:sp>
            <p:nvSpPr>
              <p:cNvPr id="32797" name="Line 49"/>
              <p:cNvSpPr>
                <a:spLocks noChangeShapeType="1"/>
              </p:cNvSpPr>
              <p:nvPr/>
            </p:nvSpPr>
            <p:spPr bwMode="auto">
              <a:xfrm>
                <a:off x="2832" y="4032"/>
                <a:ext cx="288"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8" name="Oval 50"/>
              <p:cNvSpPr>
                <a:spLocks noChangeArrowheads="1"/>
              </p:cNvSpPr>
              <p:nvPr/>
            </p:nvSpPr>
            <p:spPr bwMode="auto">
              <a:xfrm>
                <a:off x="2256" y="3903"/>
                <a:ext cx="192" cy="192"/>
              </a:xfrm>
              <a:prstGeom prst="ellipse">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sp>
        <p:nvSpPr>
          <p:cNvPr id="32772" name="Text Box 51"/>
          <p:cNvSpPr txBox="1">
            <a:spLocks noChangeArrowheads="1"/>
          </p:cNvSpPr>
          <p:nvPr/>
        </p:nvSpPr>
        <p:spPr bwMode="auto">
          <a:xfrm>
            <a:off x="6094412" y="3957637"/>
            <a:ext cx="2971800" cy="244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50000"/>
              </a:spcBef>
              <a:buClrTx/>
              <a:buFontTx/>
              <a:buNone/>
            </a:pPr>
            <a:r>
              <a:rPr lang="en-US" altLang="zh-CN" sz="2800" dirty="0">
                <a:solidFill>
                  <a:schemeClr val="tx2"/>
                </a:solidFill>
                <a:ea typeface="楷体" panose="02010609060101010101" pitchFamily="49" charset="-122"/>
                <a:cs typeface="Times New Roman" panose="02020603050405020304" pitchFamily="18" charset="0"/>
              </a:rPr>
              <a:t>A</a:t>
            </a:r>
            <a:r>
              <a:rPr lang="zh-CN" altLang="en-US" sz="2800" dirty="0">
                <a:solidFill>
                  <a:schemeClr val="tx2"/>
                </a:solidFill>
                <a:ea typeface="楷体" panose="02010609060101010101" pitchFamily="49" charset="-122"/>
                <a:cs typeface="Times New Roman" panose="02020603050405020304" pitchFamily="18" charset="0"/>
              </a:rPr>
              <a:t>：部分积寄存器</a:t>
            </a:r>
            <a:endParaRPr lang="zh-CN" altLang="en-US" sz="2800" dirty="0">
              <a:solidFill>
                <a:schemeClr val="tx2"/>
              </a:solidFill>
              <a:ea typeface="楷体" panose="02010609060101010101" pitchFamily="49" charset="-122"/>
              <a:cs typeface="Times New Roman" panose="02020603050405020304" pitchFamily="18" charset="0"/>
            </a:endParaRPr>
          </a:p>
          <a:p>
            <a:pPr algn="l" eaLnBrk="1" hangingPunct="1">
              <a:spcBef>
                <a:spcPct val="50000"/>
              </a:spcBef>
              <a:buClrTx/>
              <a:buFontTx/>
              <a:buNone/>
            </a:pPr>
            <a:r>
              <a:rPr lang="en-US" altLang="zh-CN" sz="2800" dirty="0">
                <a:solidFill>
                  <a:schemeClr val="tx2"/>
                </a:solidFill>
                <a:ea typeface="楷体" panose="02010609060101010101" pitchFamily="49" charset="-122"/>
                <a:cs typeface="Times New Roman" panose="02020603050405020304" pitchFamily="18" charset="0"/>
              </a:rPr>
              <a:t>B</a:t>
            </a:r>
            <a:r>
              <a:rPr lang="zh-CN" altLang="en-US" sz="2800" dirty="0">
                <a:solidFill>
                  <a:schemeClr val="tx2"/>
                </a:solidFill>
                <a:ea typeface="楷体" panose="02010609060101010101" pitchFamily="49" charset="-122"/>
                <a:cs typeface="Times New Roman" panose="02020603050405020304" pitchFamily="18" charset="0"/>
              </a:rPr>
              <a:t>：被乘数寄存器</a:t>
            </a:r>
            <a:endParaRPr lang="zh-CN" altLang="en-US" sz="2800" dirty="0">
              <a:solidFill>
                <a:schemeClr val="tx2"/>
              </a:solidFill>
              <a:ea typeface="楷体" panose="02010609060101010101" pitchFamily="49" charset="-122"/>
              <a:cs typeface="Times New Roman" panose="02020603050405020304" pitchFamily="18" charset="0"/>
            </a:endParaRPr>
          </a:p>
          <a:p>
            <a:pPr algn="l" eaLnBrk="1" hangingPunct="1">
              <a:spcBef>
                <a:spcPct val="50000"/>
              </a:spcBef>
              <a:buClrTx/>
              <a:buFontTx/>
              <a:buNone/>
            </a:pPr>
            <a:r>
              <a:rPr lang="en-US" altLang="zh-CN" sz="2800" dirty="0">
                <a:solidFill>
                  <a:schemeClr val="tx2"/>
                </a:solidFill>
                <a:ea typeface="楷体" panose="02010609060101010101" pitchFamily="49" charset="-122"/>
                <a:cs typeface="Times New Roman" panose="02020603050405020304" pitchFamily="18" charset="0"/>
              </a:rPr>
              <a:t>C</a:t>
            </a:r>
            <a:r>
              <a:rPr lang="zh-CN" altLang="en-US" sz="2800" dirty="0">
                <a:solidFill>
                  <a:schemeClr val="tx2"/>
                </a:solidFill>
                <a:ea typeface="楷体" panose="02010609060101010101" pitchFamily="49" charset="-122"/>
                <a:cs typeface="Times New Roman" panose="02020603050405020304" pitchFamily="18" charset="0"/>
              </a:rPr>
              <a:t>：乘数寄存器</a:t>
            </a:r>
            <a:endParaRPr lang="zh-CN" altLang="en-US" sz="2800" dirty="0">
              <a:solidFill>
                <a:schemeClr val="tx2"/>
              </a:solidFill>
              <a:ea typeface="楷体" panose="02010609060101010101" pitchFamily="49" charset="-122"/>
              <a:cs typeface="Times New Roman" panose="02020603050405020304" pitchFamily="18" charset="0"/>
            </a:endParaRPr>
          </a:p>
          <a:p>
            <a:pPr algn="l" eaLnBrk="1" hangingPunct="1">
              <a:spcBef>
                <a:spcPct val="50000"/>
              </a:spcBef>
              <a:buClrTx/>
              <a:buFontTx/>
              <a:buNone/>
            </a:pPr>
            <a:r>
              <a:rPr lang="en-US" altLang="zh-CN" sz="2800" dirty="0">
                <a:solidFill>
                  <a:schemeClr val="tx2"/>
                </a:solidFill>
                <a:ea typeface="楷体" panose="02010609060101010101" pitchFamily="49" charset="-122"/>
                <a:cs typeface="Times New Roman" panose="02020603050405020304" pitchFamily="18" charset="0"/>
              </a:rPr>
              <a:t>CR</a:t>
            </a:r>
            <a:r>
              <a:rPr lang="zh-CN" altLang="en-US" sz="2800" dirty="0">
                <a:solidFill>
                  <a:schemeClr val="tx2"/>
                </a:solidFill>
                <a:ea typeface="楷体" panose="02010609060101010101" pitchFamily="49" charset="-122"/>
                <a:cs typeface="Times New Roman" panose="02020603050405020304" pitchFamily="18" charset="0"/>
              </a:rPr>
              <a:t>：计数寄存器</a:t>
            </a:r>
            <a:endParaRPr lang="zh-CN" altLang="en-US" sz="2400" dirty="0">
              <a:solidFill>
                <a:schemeClr val="tx2"/>
              </a:solidFill>
              <a:ea typeface="楷体" panose="02010609060101010101" pitchFamily="49" charset="-122"/>
              <a:cs typeface="Times New Roman" panose="02020603050405020304" pitchFamily="18" charset="0"/>
            </a:endParaRPr>
          </a:p>
        </p:txBody>
      </p:sp>
    </p:spTree>
  </p:cSld>
  <p:clrMapOvr>
    <a:masterClrMapping/>
  </p:clrMapOvr>
  <p:transition spd="med">
    <p:pull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5" name="Rectangle 3"/>
          <p:cNvSpPr>
            <a:spLocks noGrp="1" noChangeArrowheads="1"/>
          </p:cNvSpPr>
          <p:nvPr>
            <p:ph type="title"/>
          </p:nvPr>
        </p:nvSpPr>
        <p:spPr>
          <a:xfrm>
            <a:off x="381000" y="249472"/>
            <a:ext cx="8794376" cy="762000"/>
          </a:xfrm>
        </p:spPr>
        <p:txBody>
          <a:bodyPr/>
          <a:lstStyle/>
          <a:p>
            <a:pPr eaLnBrk="1" hangingPunct="1"/>
            <a:r>
              <a:rPr lang="zh-CN" altLang="en-US" dirty="0"/>
              <a:t>原码一位乘法的硬件电路</a:t>
            </a:r>
            <a:endParaRPr lang="zh-CN" altLang="en-US" dirty="0"/>
          </a:p>
        </p:txBody>
      </p:sp>
      <p:pic>
        <p:nvPicPr>
          <p:cNvPr id="3481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038366"/>
            <a:ext cx="8713788"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Text Box 4"/>
          <p:cNvSpPr txBox="1">
            <a:spLocks noChangeArrowheads="1"/>
          </p:cNvSpPr>
          <p:nvPr/>
        </p:nvSpPr>
        <p:spPr bwMode="auto">
          <a:xfrm>
            <a:off x="2916238" y="1714500"/>
            <a:ext cx="4413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50000"/>
              </a:spcBef>
              <a:buClrTx/>
              <a:buFontTx/>
              <a:buNone/>
            </a:pPr>
            <a:r>
              <a:rPr lang="en-US" altLang="zh-CN" sz="2800">
                <a:solidFill>
                  <a:srgbClr val="CC3300"/>
                </a:solidFill>
                <a:ea typeface="宋体" panose="02010600030101010101" pitchFamily="2" charset="-122"/>
              </a:rPr>
              <a:t>A</a:t>
            </a:r>
            <a:endParaRPr lang="en-US" altLang="zh-CN" sz="2800">
              <a:solidFill>
                <a:srgbClr val="CC3300"/>
              </a:solidFill>
              <a:ea typeface="宋体" panose="02010600030101010101" pitchFamily="2" charset="-122"/>
            </a:endParaRPr>
          </a:p>
        </p:txBody>
      </p:sp>
      <p:sp>
        <p:nvSpPr>
          <p:cNvPr id="34821" name="Text Box 5"/>
          <p:cNvSpPr txBox="1">
            <a:spLocks noChangeArrowheads="1"/>
          </p:cNvSpPr>
          <p:nvPr/>
        </p:nvSpPr>
        <p:spPr bwMode="auto">
          <a:xfrm>
            <a:off x="5795963" y="1785938"/>
            <a:ext cx="4413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50000"/>
              </a:spcBef>
              <a:buClrTx/>
              <a:buFontTx/>
              <a:buNone/>
            </a:pPr>
            <a:r>
              <a:rPr lang="en-US" altLang="zh-CN" sz="2800">
                <a:solidFill>
                  <a:srgbClr val="CC3300"/>
                </a:solidFill>
                <a:ea typeface="宋体" panose="02010600030101010101" pitchFamily="2" charset="-122"/>
              </a:rPr>
              <a:t>C</a:t>
            </a:r>
            <a:endParaRPr lang="en-US" altLang="zh-CN" sz="2800">
              <a:solidFill>
                <a:srgbClr val="CC3300"/>
              </a:solidFill>
              <a:ea typeface="宋体" panose="02010600030101010101" pitchFamily="2" charset="-122"/>
            </a:endParaRPr>
          </a:p>
        </p:txBody>
      </p:sp>
      <p:sp>
        <p:nvSpPr>
          <p:cNvPr id="34822" name="Text Box 6"/>
          <p:cNvSpPr txBox="1">
            <a:spLocks noChangeArrowheads="1"/>
          </p:cNvSpPr>
          <p:nvPr/>
        </p:nvSpPr>
        <p:spPr bwMode="auto">
          <a:xfrm>
            <a:off x="2794000" y="5214938"/>
            <a:ext cx="42068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50000"/>
              </a:spcBef>
              <a:buClrTx/>
              <a:buFontTx/>
              <a:buNone/>
            </a:pPr>
            <a:r>
              <a:rPr lang="en-US" altLang="zh-CN" sz="2800">
                <a:solidFill>
                  <a:srgbClr val="CC3300"/>
                </a:solidFill>
                <a:ea typeface="宋体" panose="02010600030101010101" pitchFamily="2" charset="-122"/>
              </a:rPr>
              <a:t>B</a:t>
            </a:r>
            <a:endParaRPr lang="en-US" altLang="zh-CN" sz="2800">
              <a:solidFill>
                <a:srgbClr val="CC3300"/>
              </a:solidFill>
              <a:ea typeface="宋体" panose="02010600030101010101" pitchFamily="2" charset="-122"/>
            </a:endParaRPr>
          </a:p>
        </p:txBody>
      </p:sp>
      <p:sp>
        <p:nvSpPr>
          <p:cNvPr id="34823" name="TextBox 1"/>
          <p:cNvSpPr txBox="1">
            <a:spLocks noChangeArrowheads="1"/>
          </p:cNvSpPr>
          <p:nvPr/>
        </p:nvSpPr>
        <p:spPr bwMode="auto">
          <a:xfrm>
            <a:off x="7688263" y="1804988"/>
            <a:ext cx="55562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2000">
                <a:ea typeface="黑体" panose="02010609060101010101" pitchFamily="49" charset="-122"/>
              </a:rPr>
              <a:t>CR</a:t>
            </a:r>
            <a:endParaRPr lang="zh-CN" altLang="en-US" sz="2000">
              <a:ea typeface="黑体" panose="02010609060101010101" pitchFamily="49" charset="-122"/>
            </a:endParaRPr>
          </a:p>
        </p:txBody>
      </p:sp>
    </p:spTree>
  </p:cSld>
  <p:clrMapOvr>
    <a:masterClrMapping/>
  </p:clrMapOvr>
  <p:transition spd="med">
    <p:pull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50" name="Rectangle 2"/>
          <p:cNvSpPr>
            <a:spLocks noGrp="1" noChangeArrowheads="1"/>
          </p:cNvSpPr>
          <p:nvPr>
            <p:ph type="title"/>
          </p:nvPr>
        </p:nvSpPr>
        <p:spPr/>
        <p:txBody>
          <a:bodyPr/>
          <a:lstStyle/>
          <a:p>
            <a:pPr eaLnBrk="1" hangingPunct="1"/>
            <a:r>
              <a:rPr lang="zh-CN" altLang="en-US" dirty="0"/>
              <a:t>无符号数阵列乘法器</a:t>
            </a:r>
            <a:endParaRPr lang="zh-CN" altLang="en-US" dirty="0"/>
          </a:p>
        </p:txBody>
      </p:sp>
      <p:sp>
        <p:nvSpPr>
          <p:cNvPr id="821252" name="Text Box 4"/>
          <p:cNvSpPr txBox="1">
            <a:spLocks noChangeArrowheads="1"/>
          </p:cNvSpPr>
          <p:nvPr/>
        </p:nvSpPr>
        <p:spPr bwMode="auto">
          <a:xfrm>
            <a:off x="1563688" y="1258888"/>
            <a:ext cx="2436812" cy="954087"/>
          </a:xfrm>
          <a:prstGeom prst="rect">
            <a:avLst/>
          </a:prstGeom>
          <a:noFill/>
          <a:ln w="9525">
            <a:noFill/>
            <a:miter lim="800000"/>
          </a:ln>
          <a:effectLst/>
        </p:spPr>
        <p:txBody>
          <a:bodyPr>
            <a:spAutoFit/>
          </a:bodyPr>
          <a:lstStyle/>
          <a:p>
            <a:pPr eaLnBrk="1" hangingPunct="1">
              <a:defRPr/>
            </a:pPr>
            <a:r>
              <a:rPr kumimoji="0" lang="en-US" altLang="zh-CN" sz="2800" dirty="0">
                <a:effectLst>
                  <a:outerShdw blurRad="38100" dist="38100" dir="2700000" algn="tl">
                    <a:srgbClr val="C0C0C0"/>
                  </a:outerShdw>
                </a:effectLst>
                <a:latin typeface="Tahoma" panose="020B0604030504040204" pitchFamily="34" charset="0"/>
                <a:ea typeface="宋体" panose="02010600030101010101" pitchFamily="2" charset="-122"/>
              </a:rPr>
              <a:t>A=a</a:t>
            </a:r>
            <a:r>
              <a:rPr kumimoji="0" lang="en-US" altLang="zh-CN" sz="2800" baseline="-25000" dirty="0">
                <a:effectLst>
                  <a:outerShdw blurRad="38100" dist="38100" dir="2700000" algn="tl">
                    <a:srgbClr val="C0C0C0"/>
                  </a:outerShdw>
                </a:effectLst>
                <a:latin typeface="Tahoma" panose="020B0604030504040204" pitchFamily="34" charset="0"/>
                <a:ea typeface="宋体" panose="02010600030101010101" pitchFamily="2" charset="-122"/>
              </a:rPr>
              <a:t>m-1</a:t>
            </a:r>
            <a:r>
              <a:rPr kumimoji="0" lang="en-US" altLang="zh-CN" sz="2800" dirty="0">
                <a:effectLst>
                  <a:outerShdw blurRad="38100" dist="38100" dir="2700000" algn="tl">
                    <a:srgbClr val="C0C0C0"/>
                  </a:outerShdw>
                </a:effectLst>
                <a:latin typeface="Arial" panose="020B0604020202020204"/>
                <a:ea typeface="宋体" panose="02010600030101010101" pitchFamily="2" charset="-122"/>
              </a:rPr>
              <a:t>…</a:t>
            </a:r>
            <a:r>
              <a:rPr kumimoji="0" lang="en-US" altLang="zh-CN" sz="2800" dirty="0">
                <a:effectLst>
                  <a:outerShdw blurRad="38100" dist="38100" dir="2700000" algn="tl">
                    <a:srgbClr val="C0C0C0"/>
                  </a:outerShdw>
                </a:effectLst>
                <a:latin typeface="Tahoma" panose="020B0604030504040204" pitchFamily="34" charset="0"/>
                <a:ea typeface="宋体" panose="02010600030101010101" pitchFamily="2" charset="-122"/>
              </a:rPr>
              <a:t>a</a:t>
            </a:r>
            <a:r>
              <a:rPr kumimoji="0" lang="en-US" altLang="zh-CN" sz="2800" baseline="-25000" dirty="0">
                <a:effectLst>
                  <a:outerShdw blurRad="38100" dist="38100" dir="2700000" algn="tl">
                    <a:srgbClr val="C0C0C0"/>
                  </a:outerShdw>
                </a:effectLst>
                <a:latin typeface="Tahoma" panose="020B0604030504040204" pitchFamily="34" charset="0"/>
                <a:ea typeface="宋体" panose="02010600030101010101" pitchFamily="2" charset="-122"/>
              </a:rPr>
              <a:t>1</a:t>
            </a:r>
            <a:r>
              <a:rPr kumimoji="0" lang="en-US" altLang="zh-CN" sz="2800" dirty="0">
                <a:effectLst>
                  <a:outerShdw blurRad="38100" dist="38100" dir="2700000" algn="tl">
                    <a:srgbClr val="C0C0C0"/>
                  </a:outerShdw>
                </a:effectLst>
                <a:latin typeface="Tahoma" panose="020B0604030504040204" pitchFamily="34" charset="0"/>
                <a:ea typeface="宋体" panose="02010600030101010101" pitchFamily="2" charset="-122"/>
              </a:rPr>
              <a:t>a</a:t>
            </a:r>
            <a:r>
              <a:rPr kumimoji="0" lang="en-US" altLang="zh-CN" sz="2800" baseline="-25000" dirty="0">
                <a:effectLst>
                  <a:outerShdw blurRad="38100" dist="38100" dir="2700000" algn="tl">
                    <a:srgbClr val="C0C0C0"/>
                  </a:outerShdw>
                </a:effectLst>
                <a:latin typeface="Tahoma" panose="020B0604030504040204" pitchFamily="34" charset="0"/>
                <a:ea typeface="宋体" panose="02010600030101010101" pitchFamily="2" charset="-122"/>
              </a:rPr>
              <a:t>0</a:t>
            </a:r>
            <a:endParaRPr kumimoji="0" lang="en-US" altLang="zh-CN" sz="2800" baseline="-25000" dirty="0">
              <a:effectLst>
                <a:outerShdw blurRad="38100" dist="38100" dir="2700000" algn="tl">
                  <a:srgbClr val="C0C0C0"/>
                </a:outerShdw>
              </a:effectLst>
              <a:latin typeface="Tahoma" panose="020B0604030504040204" pitchFamily="34" charset="0"/>
              <a:ea typeface="宋体" panose="02010600030101010101" pitchFamily="2" charset="-122"/>
            </a:endParaRPr>
          </a:p>
          <a:p>
            <a:pPr eaLnBrk="1" hangingPunct="1">
              <a:defRPr/>
            </a:pPr>
            <a:r>
              <a:rPr kumimoji="0" lang="en-US" altLang="zh-CN" sz="2800" dirty="0">
                <a:effectLst>
                  <a:outerShdw blurRad="38100" dist="38100" dir="2700000" algn="tl">
                    <a:srgbClr val="C0C0C0"/>
                  </a:outerShdw>
                </a:effectLst>
                <a:latin typeface="Tahoma" panose="020B0604030504040204" pitchFamily="34" charset="0"/>
                <a:ea typeface="宋体" panose="02010600030101010101" pitchFamily="2" charset="-122"/>
              </a:rPr>
              <a:t>B= b</a:t>
            </a:r>
            <a:r>
              <a:rPr kumimoji="0" lang="en-US" altLang="zh-CN" sz="2800" baseline="-25000" dirty="0">
                <a:effectLst>
                  <a:outerShdw blurRad="38100" dist="38100" dir="2700000" algn="tl">
                    <a:srgbClr val="C0C0C0"/>
                  </a:outerShdw>
                </a:effectLst>
                <a:latin typeface="Tahoma" panose="020B0604030504040204" pitchFamily="34" charset="0"/>
                <a:ea typeface="宋体" panose="02010600030101010101" pitchFamily="2" charset="-122"/>
              </a:rPr>
              <a:t>n-1</a:t>
            </a:r>
            <a:r>
              <a:rPr kumimoji="0" lang="en-US" altLang="zh-CN" sz="2800" dirty="0">
                <a:effectLst>
                  <a:outerShdw blurRad="38100" dist="38100" dir="2700000" algn="tl">
                    <a:srgbClr val="C0C0C0"/>
                  </a:outerShdw>
                </a:effectLst>
                <a:latin typeface="Arial" panose="020B0604020202020204"/>
                <a:ea typeface="宋体" panose="02010600030101010101" pitchFamily="2" charset="-122"/>
              </a:rPr>
              <a:t>…</a:t>
            </a:r>
            <a:r>
              <a:rPr kumimoji="0" lang="en-US" altLang="zh-CN" sz="2800" dirty="0">
                <a:effectLst>
                  <a:outerShdw blurRad="38100" dist="38100" dir="2700000" algn="tl">
                    <a:srgbClr val="C0C0C0"/>
                  </a:outerShdw>
                </a:effectLst>
                <a:latin typeface="Tahoma" panose="020B0604030504040204" pitchFamily="34" charset="0"/>
                <a:ea typeface="宋体" panose="02010600030101010101" pitchFamily="2" charset="-122"/>
              </a:rPr>
              <a:t>b</a:t>
            </a:r>
            <a:r>
              <a:rPr kumimoji="0" lang="en-US" altLang="zh-CN" sz="2800" baseline="-25000" dirty="0">
                <a:effectLst>
                  <a:outerShdw blurRad="38100" dist="38100" dir="2700000" algn="tl">
                    <a:srgbClr val="C0C0C0"/>
                  </a:outerShdw>
                </a:effectLst>
                <a:latin typeface="Tahoma" panose="020B0604030504040204" pitchFamily="34" charset="0"/>
                <a:ea typeface="宋体" panose="02010600030101010101" pitchFamily="2" charset="-122"/>
              </a:rPr>
              <a:t>1</a:t>
            </a:r>
            <a:r>
              <a:rPr kumimoji="0" lang="en-US" altLang="zh-CN" sz="2800" dirty="0">
                <a:effectLst>
                  <a:outerShdw blurRad="38100" dist="38100" dir="2700000" algn="tl">
                    <a:srgbClr val="C0C0C0"/>
                  </a:outerShdw>
                </a:effectLst>
                <a:latin typeface="Tahoma" panose="020B0604030504040204" pitchFamily="34" charset="0"/>
                <a:ea typeface="宋体" panose="02010600030101010101" pitchFamily="2" charset="-122"/>
              </a:rPr>
              <a:t>b</a:t>
            </a:r>
            <a:r>
              <a:rPr kumimoji="0" lang="en-US" altLang="zh-CN" sz="2800" baseline="-25000" dirty="0">
                <a:effectLst>
                  <a:outerShdw blurRad="38100" dist="38100" dir="2700000" algn="tl">
                    <a:srgbClr val="C0C0C0"/>
                  </a:outerShdw>
                </a:effectLst>
                <a:latin typeface="Tahoma" panose="020B0604030504040204" pitchFamily="34" charset="0"/>
                <a:ea typeface="宋体" panose="02010600030101010101" pitchFamily="2" charset="-122"/>
              </a:rPr>
              <a:t>0</a:t>
            </a:r>
            <a:endParaRPr kumimoji="0" lang="en-US" altLang="zh-CN" sz="2800" baseline="-25000" dirty="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821253" name="Text Box 5"/>
          <p:cNvSpPr txBox="1">
            <a:spLocks noChangeArrowheads="1"/>
          </p:cNvSpPr>
          <p:nvPr/>
        </p:nvSpPr>
        <p:spPr bwMode="auto">
          <a:xfrm>
            <a:off x="4408488" y="1476375"/>
            <a:ext cx="3455987" cy="519113"/>
          </a:xfrm>
          <a:prstGeom prst="rect">
            <a:avLst/>
          </a:prstGeom>
          <a:noFill/>
          <a:ln w="9525">
            <a:noFill/>
            <a:miter lim="800000"/>
          </a:ln>
          <a:effectLst/>
        </p:spPr>
        <p:txBody>
          <a:bodyPr wrap="none">
            <a:spAutoFit/>
          </a:bodyPr>
          <a:lstStyle/>
          <a:p>
            <a:pPr eaLnBrk="1" hangingPunct="1">
              <a:defRPr/>
            </a:pPr>
            <a:r>
              <a:rPr kumimoji="0" lang="en-US" altLang="zh-CN" sz="2800" dirty="0">
                <a:effectLst>
                  <a:outerShdw blurRad="38100" dist="38100" dir="2700000" algn="tl">
                    <a:srgbClr val="C0C0C0"/>
                  </a:outerShdw>
                </a:effectLst>
                <a:latin typeface="Tahoma" panose="020B0604030504040204" pitchFamily="34" charset="0"/>
                <a:ea typeface="宋体" panose="02010600030101010101" pitchFamily="2" charset="-122"/>
              </a:rPr>
              <a:t>P=A*B=p</a:t>
            </a:r>
            <a:r>
              <a:rPr kumimoji="0" lang="en-US" altLang="zh-CN" sz="2800" baseline="-25000" dirty="0">
                <a:effectLst>
                  <a:outerShdw blurRad="38100" dist="38100" dir="2700000" algn="tl">
                    <a:srgbClr val="C0C0C0"/>
                  </a:outerShdw>
                </a:effectLst>
                <a:latin typeface="Tahoma" panose="020B0604030504040204" pitchFamily="34" charset="0"/>
                <a:ea typeface="宋体" panose="02010600030101010101" pitchFamily="2" charset="-122"/>
              </a:rPr>
              <a:t>m+n-1</a:t>
            </a:r>
            <a:r>
              <a:rPr kumimoji="0" lang="en-US" altLang="zh-CN" sz="2800" dirty="0">
                <a:effectLst>
                  <a:outerShdw blurRad="38100" dist="38100" dir="2700000" algn="tl">
                    <a:srgbClr val="C0C0C0"/>
                  </a:outerShdw>
                </a:effectLst>
                <a:latin typeface="Arial" panose="020B0604020202020204"/>
                <a:ea typeface="宋体" panose="02010600030101010101" pitchFamily="2" charset="-122"/>
              </a:rPr>
              <a:t>…</a:t>
            </a:r>
            <a:r>
              <a:rPr kumimoji="0" lang="en-US" altLang="zh-CN" sz="2800" dirty="0">
                <a:effectLst>
                  <a:outerShdw blurRad="38100" dist="38100" dir="2700000" algn="tl">
                    <a:srgbClr val="C0C0C0"/>
                  </a:outerShdw>
                </a:effectLst>
                <a:latin typeface="Tahoma" panose="020B0604030504040204" pitchFamily="34" charset="0"/>
                <a:ea typeface="宋体" panose="02010600030101010101" pitchFamily="2" charset="-122"/>
              </a:rPr>
              <a:t>p</a:t>
            </a:r>
            <a:r>
              <a:rPr kumimoji="0" lang="en-US" altLang="zh-CN" sz="2800" baseline="-25000" dirty="0">
                <a:effectLst>
                  <a:outerShdw blurRad="38100" dist="38100" dir="2700000" algn="tl">
                    <a:srgbClr val="C0C0C0"/>
                  </a:outerShdw>
                </a:effectLst>
                <a:latin typeface="Tahoma" panose="020B0604030504040204" pitchFamily="34" charset="0"/>
                <a:ea typeface="宋体" panose="02010600030101010101" pitchFamily="2" charset="-122"/>
              </a:rPr>
              <a:t>1</a:t>
            </a:r>
            <a:r>
              <a:rPr kumimoji="0" lang="en-US" altLang="zh-CN" sz="2800" dirty="0">
                <a:effectLst>
                  <a:outerShdw blurRad="38100" dist="38100" dir="2700000" algn="tl">
                    <a:srgbClr val="C0C0C0"/>
                  </a:outerShdw>
                </a:effectLst>
                <a:latin typeface="Tahoma" panose="020B0604030504040204" pitchFamily="34" charset="0"/>
                <a:ea typeface="宋体" panose="02010600030101010101" pitchFamily="2" charset="-122"/>
              </a:rPr>
              <a:t>p</a:t>
            </a:r>
            <a:r>
              <a:rPr kumimoji="0" lang="en-US" altLang="zh-CN" sz="2800" baseline="-25000" dirty="0">
                <a:effectLst>
                  <a:outerShdw blurRad="38100" dist="38100" dir="2700000" algn="tl">
                    <a:srgbClr val="C0C0C0"/>
                  </a:outerShdw>
                </a:effectLst>
                <a:latin typeface="Tahoma" panose="020B0604030504040204" pitchFamily="34" charset="0"/>
                <a:ea typeface="宋体" panose="02010600030101010101" pitchFamily="2" charset="-122"/>
              </a:rPr>
              <a:t>0</a:t>
            </a:r>
            <a:endParaRPr kumimoji="0" lang="en-US" altLang="zh-CN" sz="2800" baseline="-25000" dirty="0">
              <a:effectLst>
                <a:outerShdw blurRad="38100" dist="38100" dir="2700000" algn="tl">
                  <a:srgbClr val="C0C0C0"/>
                </a:outerShdw>
              </a:effectLst>
              <a:latin typeface="Tahoma" panose="020B0604030504040204" pitchFamily="34" charset="0"/>
              <a:ea typeface="宋体" panose="02010600030101010101" pitchFamily="2" charset="-122"/>
            </a:endParaRPr>
          </a:p>
        </p:txBody>
      </p:sp>
      <p:pic>
        <p:nvPicPr>
          <p:cNvPr id="36869" name="Picture 6"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2532063"/>
            <a:ext cx="8437563" cy="333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4" name="Rectangle 2"/>
          <p:cNvSpPr>
            <a:spLocks noGrp="1" noChangeArrowheads="1"/>
          </p:cNvSpPr>
          <p:nvPr>
            <p:ph type="title"/>
          </p:nvPr>
        </p:nvSpPr>
        <p:spPr>
          <a:xfrm>
            <a:off x="0" y="228600"/>
            <a:ext cx="8534400" cy="812800"/>
          </a:xfrm>
        </p:spPr>
        <p:txBody>
          <a:bodyPr/>
          <a:lstStyle/>
          <a:p>
            <a:pPr eaLnBrk="1" hangingPunct="1"/>
            <a:r>
              <a:rPr lang="en-US" altLang="zh-CN" sz="4000" dirty="0" err="1"/>
              <a:t>m×n</a:t>
            </a:r>
            <a:r>
              <a:rPr lang="zh-CN" altLang="en-US" sz="4000" dirty="0"/>
              <a:t>位不带符号的阵列乘法器逻辑图 </a:t>
            </a:r>
            <a:endParaRPr lang="zh-CN" altLang="en-US" sz="4000" dirty="0"/>
          </a:p>
        </p:txBody>
      </p:sp>
      <p:pic>
        <p:nvPicPr>
          <p:cNvPr id="37891"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286000" y="1447800"/>
            <a:ext cx="5184775" cy="425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8" name="Rectangle 2"/>
          <p:cNvSpPr>
            <a:spLocks noGrp="1" noChangeArrowheads="1"/>
          </p:cNvSpPr>
          <p:nvPr>
            <p:ph type="title"/>
          </p:nvPr>
        </p:nvSpPr>
        <p:spPr>
          <a:xfrm>
            <a:off x="184150" y="226266"/>
            <a:ext cx="8382000" cy="812800"/>
          </a:xfrm>
        </p:spPr>
        <p:txBody>
          <a:bodyPr/>
          <a:lstStyle/>
          <a:p>
            <a:pPr eaLnBrk="1" hangingPunct="1"/>
            <a:r>
              <a:rPr lang="en-US" altLang="zh-CN" dirty="0"/>
              <a:t>5</a:t>
            </a:r>
            <a:r>
              <a:rPr lang="zh-CN" altLang="en-US" dirty="0"/>
              <a:t>位</a:t>
            </a:r>
            <a:r>
              <a:rPr lang="en-US" altLang="zh-CN" dirty="0"/>
              <a:t>×5</a:t>
            </a:r>
            <a:r>
              <a:rPr lang="zh-CN" altLang="en-US" dirty="0"/>
              <a:t>位不带符号的阵列乘法器</a:t>
            </a:r>
            <a:endParaRPr lang="zh-CN" altLang="en-US" dirty="0"/>
          </a:p>
        </p:txBody>
      </p:sp>
      <p:pic>
        <p:nvPicPr>
          <p:cNvPr id="38915" name="Picture 1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9388" y="1033462"/>
            <a:ext cx="5970587" cy="544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pic>
      <p:grpSp>
        <p:nvGrpSpPr>
          <p:cNvPr id="38916" name="Group 17"/>
          <p:cNvGrpSpPr/>
          <p:nvPr/>
        </p:nvGrpSpPr>
        <p:grpSpPr bwMode="auto">
          <a:xfrm>
            <a:off x="6169025" y="1119187"/>
            <a:ext cx="2795588" cy="2735263"/>
            <a:chOff x="3668" y="1752"/>
            <a:chExt cx="1761" cy="1723"/>
          </a:xfrm>
        </p:grpSpPr>
        <p:sp>
          <p:nvSpPr>
            <p:cNvPr id="823301" name="Oval 5"/>
            <p:cNvSpPr>
              <a:spLocks noChangeArrowheads="1"/>
            </p:cNvSpPr>
            <p:nvPr/>
          </p:nvSpPr>
          <p:spPr bwMode="auto">
            <a:xfrm>
              <a:off x="4354" y="2440"/>
              <a:ext cx="329" cy="329"/>
            </a:xfrm>
            <a:prstGeom prst="ellipse">
              <a:avLst/>
            </a:prstGeom>
            <a:solidFill>
              <a:srgbClr val="00F7F7"/>
            </a:solidFill>
            <a:ln w="19050">
              <a:solidFill>
                <a:schemeClr val="tx1"/>
              </a:solidFill>
              <a:round/>
            </a:ln>
            <a:effectLst/>
          </p:spPr>
          <p:txBody>
            <a:bodyPr wrap="none" anchor="ctr"/>
            <a:lstStyle/>
            <a:p>
              <a:pPr algn="ctr" eaLnBrk="1" hangingPunct="1">
                <a:defRPr/>
              </a:pPr>
              <a:r>
                <a:rPr kumimoji="0" lang="en-US" altLang="zh-CN" sz="2400" dirty="0">
                  <a:solidFill>
                    <a:schemeClr val="tx1"/>
                  </a:solidFill>
                  <a:latin typeface="Tahoma" panose="020B0604030504040204" pitchFamily="34" charset="0"/>
                  <a:ea typeface="宋体" panose="02010600030101010101" pitchFamily="2" charset="-122"/>
                </a:rPr>
                <a:t>FA</a:t>
              </a:r>
              <a:endParaRPr kumimoji="0" lang="en-US" altLang="zh-CN" sz="2400" dirty="0">
                <a:solidFill>
                  <a:schemeClr val="tx1"/>
                </a:solidFill>
                <a:latin typeface="Tahoma" panose="020B0604030504040204" pitchFamily="34" charset="0"/>
                <a:ea typeface="宋体" panose="02010600030101010101" pitchFamily="2" charset="-122"/>
              </a:endParaRPr>
            </a:p>
          </p:txBody>
        </p:sp>
        <p:sp>
          <p:nvSpPr>
            <p:cNvPr id="38941" name="Line 6"/>
            <p:cNvSpPr>
              <a:spLocks noChangeShapeType="1"/>
            </p:cNvSpPr>
            <p:nvPr/>
          </p:nvSpPr>
          <p:spPr bwMode="auto">
            <a:xfrm>
              <a:off x="4519" y="2148"/>
              <a:ext cx="0" cy="29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2" name="Line 7"/>
            <p:cNvSpPr>
              <a:spLocks noChangeShapeType="1"/>
            </p:cNvSpPr>
            <p:nvPr/>
          </p:nvSpPr>
          <p:spPr bwMode="auto">
            <a:xfrm flipH="1">
              <a:off x="4647" y="2248"/>
              <a:ext cx="201" cy="247"/>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3304" name="Text Box 8"/>
            <p:cNvSpPr txBox="1">
              <a:spLocks noChangeArrowheads="1"/>
            </p:cNvSpPr>
            <p:nvPr/>
          </p:nvSpPr>
          <p:spPr bwMode="auto">
            <a:xfrm>
              <a:off x="4927" y="2460"/>
              <a:ext cx="502" cy="288"/>
            </a:xfrm>
            <a:prstGeom prst="rect">
              <a:avLst/>
            </a:prstGeom>
            <a:noFill/>
            <a:ln w="9525">
              <a:noFill/>
              <a:miter lim="800000"/>
            </a:ln>
            <a:effectLst/>
          </p:spPr>
          <p:txBody>
            <a:bodyPr wrap="none">
              <a:spAutoFit/>
            </a:bodyPr>
            <a:lstStyle/>
            <a:p>
              <a:pPr algn="ctr" eaLnBrk="1" hangingPunct="1">
                <a:defRPr/>
              </a:pPr>
              <a:r>
                <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rPr>
                <a:t>加数</a:t>
              </a:r>
              <a:endPar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endParaRPr>
            </a:p>
          </p:txBody>
        </p:sp>
        <p:sp>
          <p:nvSpPr>
            <p:cNvPr id="823305" name="Text Box 9"/>
            <p:cNvSpPr txBox="1">
              <a:spLocks noChangeArrowheads="1"/>
            </p:cNvSpPr>
            <p:nvPr/>
          </p:nvSpPr>
          <p:spPr bwMode="auto">
            <a:xfrm>
              <a:off x="3875" y="1985"/>
              <a:ext cx="695" cy="288"/>
            </a:xfrm>
            <a:prstGeom prst="rect">
              <a:avLst/>
            </a:prstGeom>
            <a:noFill/>
            <a:ln w="9525">
              <a:noFill/>
              <a:miter lim="800000"/>
            </a:ln>
            <a:effectLst/>
          </p:spPr>
          <p:txBody>
            <a:bodyPr wrap="none">
              <a:spAutoFit/>
            </a:bodyPr>
            <a:lstStyle/>
            <a:p>
              <a:pPr algn="ctr" eaLnBrk="1" hangingPunct="1">
                <a:defRPr/>
              </a:pPr>
              <a:r>
                <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rPr>
                <a:t>被加数</a:t>
              </a:r>
              <a:endPar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endParaRPr>
            </a:p>
          </p:txBody>
        </p:sp>
        <p:sp>
          <p:nvSpPr>
            <p:cNvPr id="823306" name="Text Box 10"/>
            <p:cNvSpPr txBox="1">
              <a:spLocks noChangeArrowheads="1"/>
            </p:cNvSpPr>
            <p:nvPr/>
          </p:nvSpPr>
          <p:spPr bwMode="auto">
            <a:xfrm>
              <a:off x="4597" y="1752"/>
              <a:ext cx="701" cy="523"/>
            </a:xfrm>
            <a:prstGeom prst="rect">
              <a:avLst/>
            </a:prstGeom>
            <a:noFill/>
            <a:ln w="9525">
              <a:noFill/>
              <a:miter lim="800000"/>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rPr>
                <a:t>低位来</a:t>
              </a:r>
              <a:endPar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endParaRPr>
            </a:p>
            <a:p>
              <a:pPr algn="ctr" eaLnBrk="1" hangingPunct="1"/>
              <a:r>
                <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rPr>
                <a:t>的进位</a:t>
              </a:r>
              <a:endPar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endParaRPr>
            </a:p>
          </p:txBody>
        </p:sp>
        <p:sp>
          <p:nvSpPr>
            <p:cNvPr id="38946" name="Line 11"/>
            <p:cNvSpPr>
              <a:spLocks noChangeShapeType="1"/>
            </p:cNvSpPr>
            <p:nvPr/>
          </p:nvSpPr>
          <p:spPr bwMode="auto">
            <a:xfrm>
              <a:off x="4519" y="2779"/>
              <a:ext cx="0" cy="35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7" name="Line 12"/>
            <p:cNvSpPr>
              <a:spLocks noChangeShapeType="1"/>
            </p:cNvSpPr>
            <p:nvPr/>
          </p:nvSpPr>
          <p:spPr bwMode="auto">
            <a:xfrm flipH="1">
              <a:off x="4171" y="2724"/>
              <a:ext cx="247" cy="338"/>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3309" name="Text Box 13"/>
            <p:cNvSpPr txBox="1">
              <a:spLocks noChangeArrowheads="1"/>
            </p:cNvSpPr>
            <p:nvPr/>
          </p:nvSpPr>
          <p:spPr bwMode="auto">
            <a:xfrm>
              <a:off x="3668" y="2976"/>
              <a:ext cx="888" cy="288"/>
            </a:xfrm>
            <a:prstGeom prst="rect">
              <a:avLst/>
            </a:prstGeom>
            <a:noFill/>
            <a:ln w="9525">
              <a:noFill/>
              <a:miter lim="800000"/>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rPr>
                <a:t>进位输出</a:t>
              </a:r>
              <a:endPar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endParaRPr>
            </a:p>
          </p:txBody>
        </p:sp>
        <p:sp>
          <p:nvSpPr>
            <p:cNvPr id="823310" name="Text Box 14"/>
            <p:cNvSpPr txBox="1">
              <a:spLocks noChangeArrowheads="1"/>
            </p:cNvSpPr>
            <p:nvPr/>
          </p:nvSpPr>
          <p:spPr bwMode="auto">
            <a:xfrm>
              <a:off x="4241" y="3187"/>
              <a:ext cx="695" cy="288"/>
            </a:xfrm>
            <a:prstGeom prst="rect">
              <a:avLst/>
            </a:prstGeom>
            <a:noFill/>
            <a:ln w="9525">
              <a:noFill/>
              <a:miter lim="800000"/>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rPr>
                <a:t>和输出</a:t>
              </a:r>
              <a:endPar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endParaRPr>
            </a:p>
          </p:txBody>
        </p:sp>
        <p:sp>
          <p:nvSpPr>
            <p:cNvPr id="38950" name="Line 15"/>
            <p:cNvSpPr>
              <a:spLocks noChangeShapeType="1"/>
            </p:cNvSpPr>
            <p:nvPr/>
          </p:nvSpPr>
          <p:spPr bwMode="auto">
            <a:xfrm flipH="1">
              <a:off x="4683" y="2623"/>
              <a:ext cx="266"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8917" name="Line 18"/>
          <p:cNvSpPr>
            <a:spLocks noChangeShapeType="1"/>
          </p:cNvSpPr>
          <p:nvPr/>
        </p:nvSpPr>
        <p:spPr bwMode="auto">
          <a:xfrm>
            <a:off x="2916238" y="1747837"/>
            <a:ext cx="503237" cy="2755900"/>
          </a:xfrm>
          <a:prstGeom prst="line">
            <a:avLst/>
          </a:prstGeom>
          <a:noFill/>
          <a:ln w="22225">
            <a:solidFill>
              <a:srgbClr val="CC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18" name="Line 19"/>
          <p:cNvSpPr>
            <a:spLocks noChangeShapeType="1"/>
          </p:cNvSpPr>
          <p:nvPr/>
        </p:nvSpPr>
        <p:spPr bwMode="auto">
          <a:xfrm flipH="1">
            <a:off x="2771775" y="4503737"/>
            <a:ext cx="647700" cy="792163"/>
          </a:xfrm>
          <a:prstGeom prst="line">
            <a:avLst/>
          </a:prstGeom>
          <a:noFill/>
          <a:ln w="22225">
            <a:solidFill>
              <a:srgbClr val="CC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19" name="Line 20"/>
          <p:cNvSpPr>
            <a:spLocks noChangeShapeType="1"/>
          </p:cNvSpPr>
          <p:nvPr/>
        </p:nvSpPr>
        <p:spPr bwMode="auto">
          <a:xfrm flipH="1">
            <a:off x="755650" y="5295900"/>
            <a:ext cx="2016125" cy="0"/>
          </a:xfrm>
          <a:prstGeom prst="line">
            <a:avLst/>
          </a:prstGeom>
          <a:noFill/>
          <a:ln w="22225">
            <a:solidFill>
              <a:srgbClr val="CC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0" name="Text Box 21"/>
          <p:cNvSpPr txBox="1">
            <a:spLocks noChangeArrowheads="1"/>
          </p:cNvSpPr>
          <p:nvPr/>
        </p:nvSpPr>
        <p:spPr bwMode="auto">
          <a:xfrm>
            <a:off x="3779838" y="4646612"/>
            <a:ext cx="2328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dirty="0">
                <a:solidFill>
                  <a:srgbClr val="3333CC"/>
                </a:solidFill>
                <a:latin typeface="楷体" panose="02010609060101010101" pitchFamily="49" charset="-122"/>
                <a:ea typeface="楷体" panose="02010609060101010101" pitchFamily="49" charset="-122"/>
              </a:rPr>
              <a:t>行波进位加法器</a:t>
            </a:r>
            <a:endParaRPr lang="zh-CN" altLang="en-US" sz="2400" dirty="0">
              <a:solidFill>
                <a:srgbClr val="3333CC"/>
              </a:solidFill>
              <a:latin typeface="楷体" panose="02010609060101010101" pitchFamily="49" charset="-122"/>
              <a:ea typeface="楷体" panose="02010609060101010101" pitchFamily="49" charset="-122"/>
            </a:endParaRPr>
          </a:p>
        </p:txBody>
      </p:sp>
      <p:sp>
        <p:nvSpPr>
          <p:cNvPr id="38921" name="Line 22"/>
          <p:cNvSpPr>
            <a:spLocks noChangeShapeType="1"/>
          </p:cNvSpPr>
          <p:nvPr/>
        </p:nvSpPr>
        <p:spPr bwMode="auto">
          <a:xfrm flipH="1">
            <a:off x="3419475" y="5103812"/>
            <a:ext cx="936625" cy="192088"/>
          </a:xfrm>
          <a:prstGeom prst="line">
            <a:avLst/>
          </a:prstGeom>
          <a:noFill/>
          <a:ln w="31750">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2" name="TextBox 22"/>
          <p:cNvSpPr txBox="1">
            <a:spLocks noChangeArrowheads="1"/>
          </p:cNvSpPr>
          <p:nvPr/>
        </p:nvSpPr>
        <p:spPr bwMode="auto">
          <a:xfrm>
            <a:off x="2214563" y="5281612"/>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solidFill>
                  <a:srgbClr val="FF0000"/>
                </a:solidFill>
                <a:ea typeface="黑体" panose="02010609060101010101" pitchFamily="49" charset="-122"/>
              </a:rPr>
              <a:t>C</a:t>
            </a:r>
            <a:r>
              <a:rPr lang="en-US" altLang="zh-CN" sz="1800" baseline="-25000">
                <a:solidFill>
                  <a:srgbClr val="FF0000"/>
                </a:solidFill>
                <a:ea typeface="黑体" panose="02010609060101010101" pitchFamily="49" charset="-122"/>
              </a:rPr>
              <a:t>6</a:t>
            </a:r>
            <a:endParaRPr lang="zh-CN" altLang="en-US" sz="1800" baseline="-25000">
              <a:solidFill>
                <a:srgbClr val="FF0000"/>
              </a:solidFill>
              <a:ea typeface="黑体" panose="02010609060101010101" pitchFamily="49" charset="-122"/>
            </a:endParaRPr>
          </a:p>
        </p:txBody>
      </p:sp>
      <p:sp>
        <p:nvSpPr>
          <p:cNvPr id="38923" name="TextBox 23"/>
          <p:cNvSpPr txBox="1">
            <a:spLocks noChangeArrowheads="1"/>
          </p:cNvSpPr>
          <p:nvPr/>
        </p:nvSpPr>
        <p:spPr bwMode="auto">
          <a:xfrm>
            <a:off x="1500188" y="5281612"/>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solidFill>
                  <a:srgbClr val="FF0000"/>
                </a:solidFill>
                <a:ea typeface="黑体" panose="02010609060101010101" pitchFamily="49" charset="-122"/>
              </a:rPr>
              <a:t>C</a:t>
            </a:r>
            <a:r>
              <a:rPr lang="en-US" altLang="zh-CN" sz="1800" baseline="-25000">
                <a:solidFill>
                  <a:srgbClr val="FF0000"/>
                </a:solidFill>
                <a:ea typeface="黑体" panose="02010609060101010101" pitchFamily="49" charset="-122"/>
              </a:rPr>
              <a:t>7</a:t>
            </a:r>
            <a:endParaRPr lang="zh-CN" altLang="en-US" sz="1800" baseline="-25000">
              <a:solidFill>
                <a:srgbClr val="FF0000"/>
              </a:solidFill>
              <a:ea typeface="黑体" panose="02010609060101010101" pitchFamily="49" charset="-122"/>
            </a:endParaRPr>
          </a:p>
        </p:txBody>
      </p:sp>
      <p:sp>
        <p:nvSpPr>
          <p:cNvPr id="38924" name="TextBox 24"/>
          <p:cNvSpPr txBox="1">
            <a:spLocks noChangeArrowheads="1"/>
          </p:cNvSpPr>
          <p:nvPr/>
        </p:nvSpPr>
        <p:spPr bwMode="auto">
          <a:xfrm>
            <a:off x="785813" y="5268912"/>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solidFill>
                  <a:srgbClr val="FF0000"/>
                </a:solidFill>
                <a:ea typeface="黑体" panose="02010609060101010101" pitchFamily="49" charset="-122"/>
              </a:rPr>
              <a:t>C</a:t>
            </a:r>
            <a:r>
              <a:rPr lang="en-US" altLang="zh-CN" sz="1800" baseline="-25000">
                <a:solidFill>
                  <a:srgbClr val="FF0000"/>
                </a:solidFill>
                <a:ea typeface="黑体" panose="02010609060101010101" pitchFamily="49" charset="-122"/>
              </a:rPr>
              <a:t>8</a:t>
            </a:r>
            <a:endParaRPr lang="zh-CN" altLang="en-US" sz="1800" baseline="-25000">
              <a:solidFill>
                <a:srgbClr val="FF0000"/>
              </a:solidFill>
              <a:ea typeface="黑体" panose="02010609060101010101" pitchFamily="49" charset="-122"/>
            </a:endParaRPr>
          </a:p>
        </p:txBody>
      </p:sp>
      <p:sp>
        <p:nvSpPr>
          <p:cNvPr id="38925" name="TextBox 25"/>
          <p:cNvSpPr txBox="1">
            <a:spLocks noChangeArrowheads="1"/>
          </p:cNvSpPr>
          <p:nvPr/>
        </p:nvSpPr>
        <p:spPr bwMode="auto">
          <a:xfrm>
            <a:off x="142875" y="5268912"/>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solidFill>
                  <a:srgbClr val="FF0000"/>
                </a:solidFill>
                <a:ea typeface="黑体" panose="02010609060101010101" pitchFamily="49" charset="-122"/>
              </a:rPr>
              <a:t>C</a:t>
            </a:r>
            <a:r>
              <a:rPr lang="en-US" altLang="zh-CN" sz="1800" baseline="-25000">
                <a:solidFill>
                  <a:srgbClr val="FF0000"/>
                </a:solidFill>
                <a:ea typeface="黑体" panose="02010609060101010101" pitchFamily="49" charset="-122"/>
              </a:rPr>
              <a:t>9</a:t>
            </a:r>
            <a:endParaRPr lang="zh-CN" altLang="en-US" sz="1800" baseline="-25000">
              <a:solidFill>
                <a:srgbClr val="FF0000"/>
              </a:solidFill>
              <a:ea typeface="黑体" panose="02010609060101010101" pitchFamily="49" charset="-122"/>
            </a:endParaRPr>
          </a:p>
        </p:txBody>
      </p:sp>
      <p:pic>
        <p:nvPicPr>
          <p:cNvPr id="38926" name="Picture 6" descr="2"/>
          <p:cNvPicPr>
            <a:picLocks noChangeAspect="1" noChangeArrowheads="1"/>
          </p:cNvPicPr>
          <p:nvPr/>
        </p:nvPicPr>
        <p:blipFill>
          <a:blip r:embed="rId2">
            <a:extLst>
              <a:ext uri="{28A0092B-C50C-407E-A947-70E740481C1C}">
                <a14:useLocalDpi xmlns:a14="http://schemas.microsoft.com/office/drawing/2010/main" val="0"/>
              </a:ext>
            </a:extLst>
          </a:blip>
          <a:srcRect l="6299" r="11023" b="18588"/>
          <a:stretch>
            <a:fillRect/>
          </a:stretch>
        </p:blipFill>
        <p:spPr bwMode="auto">
          <a:xfrm>
            <a:off x="6365875" y="3890962"/>
            <a:ext cx="2425700"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7" name="Line 18"/>
          <p:cNvSpPr>
            <a:spLocks noChangeShapeType="1"/>
          </p:cNvSpPr>
          <p:nvPr/>
        </p:nvSpPr>
        <p:spPr bwMode="auto">
          <a:xfrm flipH="1">
            <a:off x="785813" y="5281612"/>
            <a:ext cx="0" cy="842963"/>
          </a:xfrm>
          <a:prstGeom prst="line">
            <a:avLst/>
          </a:prstGeom>
          <a:noFill/>
          <a:ln w="22225">
            <a:solidFill>
              <a:srgbClr val="CC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8" name="文本框 1"/>
          <p:cNvSpPr txBox="1">
            <a:spLocks noChangeArrowheads="1"/>
          </p:cNvSpPr>
          <p:nvPr/>
        </p:nvSpPr>
        <p:spPr bwMode="auto">
          <a:xfrm>
            <a:off x="2952750" y="1979612"/>
            <a:ext cx="4238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6T</a:t>
            </a:r>
            <a:endParaRPr lang="zh-CN" altLang="en-US" sz="1600" b="1"/>
          </a:p>
        </p:txBody>
      </p:sp>
      <p:sp>
        <p:nvSpPr>
          <p:cNvPr id="38929" name="文本框 28"/>
          <p:cNvSpPr txBox="1">
            <a:spLocks noChangeArrowheads="1"/>
          </p:cNvSpPr>
          <p:nvPr/>
        </p:nvSpPr>
        <p:spPr bwMode="auto">
          <a:xfrm>
            <a:off x="3106738" y="2854325"/>
            <a:ext cx="5254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12T</a:t>
            </a:r>
            <a:endParaRPr lang="zh-CN" altLang="en-US" sz="1600" b="1"/>
          </a:p>
        </p:txBody>
      </p:sp>
      <p:sp>
        <p:nvSpPr>
          <p:cNvPr id="38930" name="文本框 29"/>
          <p:cNvSpPr txBox="1">
            <a:spLocks noChangeArrowheads="1"/>
          </p:cNvSpPr>
          <p:nvPr/>
        </p:nvSpPr>
        <p:spPr bwMode="auto">
          <a:xfrm>
            <a:off x="3317875" y="3752850"/>
            <a:ext cx="5254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18T</a:t>
            </a:r>
            <a:endParaRPr lang="zh-CN" altLang="en-US" sz="1600" b="1"/>
          </a:p>
        </p:txBody>
      </p:sp>
      <p:sp>
        <p:nvSpPr>
          <p:cNvPr id="38931" name="文本框 30"/>
          <p:cNvSpPr txBox="1">
            <a:spLocks noChangeArrowheads="1"/>
          </p:cNvSpPr>
          <p:nvPr/>
        </p:nvSpPr>
        <p:spPr bwMode="auto">
          <a:xfrm>
            <a:off x="3432175" y="4646612"/>
            <a:ext cx="5270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24T</a:t>
            </a:r>
            <a:endParaRPr lang="zh-CN" altLang="en-US" sz="1600" b="1"/>
          </a:p>
        </p:txBody>
      </p:sp>
      <p:sp>
        <p:nvSpPr>
          <p:cNvPr id="38932" name="文本框 31"/>
          <p:cNvSpPr txBox="1">
            <a:spLocks noChangeArrowheads="1"/>
          </p:cNvSpPr>
          <p:nvPr/>
        </p:nvSpPr>
        <p:spPr bwMode="auto">
          <a:xfrm>
            <a:off x="2347913" y="1906587"/>
            <a:ext cx="4238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5T</a:t>
            </a:r>
            <a:endParaRPr lang="zh-CN" altLang="en-US" sz="1600" b="1"/>
          </a:p>
        </p:txBody>
      </p:sp>
      <p:sp>
        <p:nvSpPr>
          <p:cNvPr id="38933" name="文本框 32"/>
          <p:cNvSpPr txBox="1">
            <a:spLocks noChangeArrowheads="1"/>
          </p:cNvSpPr>
          <p:nvPr/>
        </p:nvSpPr>
        <p:spPr bwMode="auto">
          <a:xfrm>
            <a:off x="2339975" y="2857500"/>
            <a:ext cx="4238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8T</a:t>
            </a:r>
            <a:endParaRPr lang="zh-CN" altLang="en-US" sz="1600" b="1"/>
          </a:p>
        </p:txBody>
      </p:sp>
      <p:sp>
        <p:nvSpPr>
          <p:cNvPr id="38934" name="文本框 33"/>
          <p:cNvSpPr txBox="1">
            <a:spLocks noChangeArrowheads="1"/>
          </p:cNvSpPr>
          <p:nvPr/>
        </p:nvSpPr>
        <p:spPr bwMode="auto">
          <a:xfrm>
            <a:off x="2706688" y="3059112"/>
            <a:ext cx="5143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11T</a:t>
            </a:r>
            <a:endParaRPr lang="zh-CN" altLang="en-US" sz="1600" b="1"/>
          </a:p>
        </p:txBody>
      </p:sp>
      <p:sp>
        <p:nvSpPr>
          <p:cNvPr id="38935" name="文本框 34"/>
          <p:cNvSpPr txBox="1">
            <a:spLocks noChangeArrowheads="1"/>
          </p:cNvSpPr>
          <p:nvPr/>
        </p:nvSpPr>
        <p:spPr bwMode="auto">
          <a:xfrm>
            <a:off x="2500313" y="3670300"/>
            <a:ext cx="5254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14T</a:t>
            </a:r>
            <a:endParaRPr lang="zh-CN" altLang="en-US" sz="1600" b="1"/>
          </a:p>
        </p:txBody>
      </p:sp>
      <p:sp>
        <p:nvSpPr>
          <p:cNvPr id="38936" name="文本框 35"/>
          <p:cNvSpPr txBox="1">
            <a:spLocks noChangeArrowheads="1"/>
          </p:cNvSpPr>
          <p:nvPr/>
        </p:nvSpPr>
        <p:spPr bwMode="auto">
          <a:xfrm>
            <a:off x="2827338" y="3862387"/>
            <a:ext cx="5254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17T</a:t>
            </a:r>
            <a:endParaRPr lang="zh-CN" altLang="en-US" sz="1600" b="1"/>
          </a:p>
        </p:txBody>
      </p:sp>
      <p:sp>
        <p:nvSpPr>
          <p:cNvPr id="38937" name="文本框 36"/>
          <p:cNvSpPr txBox="1">
            <a:spLocks noChangeArrowheads="1"/>
          </p:cNvSpPr>
          <p:nvPr/>
        </p:nvSpPr>
        <p:spPr bwMode="auto">
          <a:xfrm>
            <a:off x="2676525" y="4567237"/>
            <a:ext cx="5254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20T</a:t>
            </a:r>
            <a:endParaRPr lang="zh-CN" altLang="en-US" sz="1600" b="1"/>
          </a:p>
        </p:txBody>
      </p:sp>
      <p:sp>
        <p:nvSpPr>
          <p:cNvPr id="38938" name="文本框 37"/>
          <p:cNvSpPr txBox="1">
            <a:spLocks noChangeArrowheads="1"/>
          </p:cNvSpPr>
          <p:nvPr/>
        </p:nvSpPr>
        <p:spPr bwMode="auto">
          <a:xfrm>
            <a:off x="2995613" y="4892675"/>
            <a:ext cx="5270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23T</a:t>
            </a:r>
            <a:endParaRPr lang="zh-CN" altLang="en-US" sz="1600" b="1"/>
          </a:p>
        </p:txBody>
      </p:sp>
      <p:sp>
        <p:nvSpPr>
          <p:cNvPr id="38939" name="文本框 38"/>
          <p:cNvSpPr txBox="1">
            <a:spLocks noChangeArrowheads="1"/>
          </p:cNvSpPr>
          <p:nvPr/>
        </p:nvSpPr>
        <p:spPr bwMode="auto">
          <a:xfrm>
            <a:off x="758825" y="5978525"/>
            <a:ext cx="5270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32T</a:t>
            </a:r>
            <a:endParaRPr lang="zh-CN" altLang="en-US" sz="1600" b="1"/>
          </a:p>
        </p:txBody>
      </p:sp>
    </p:spTree>
  </p:cSld>
  <p:clrMapOvr>
    <a:masterClrMapping/>
  </p:clrMapOvr>
  <p:transition spd="med">
    <p:pull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2" name="Rectangle 2"/>
          <p:cNvSpPr>
            <a:spLocks noGrp="1" noChangeArrowheads="1"/>
          </p:cNvSpPr>
          <p:nvPr>
            <p:ph type="title"/>
          </p:nvPr>
        </p:nvSpPr>
        <p:spPr/>
        <p:txBody>
          <a:bodyPr/>
          <a:lstStyle/>
          <a:p>
            <a:pPr eaLnBrk="1" hangingPunct="1"/>
            <a:r>
              <a:rPr lang="zh-CN" altLang="en-US"/>
              <a:t>时间计算</a:t>
            </a:r>
            <a:endParaRPr lang="zh-CN" altLang="en-US"/>
          </a:p>
        </p:txBody>
      </p:sp>
      <p:sp>
        <p:nvSpPr>
          <p:cNvPr id="40962" name="Rectangle 3"/>
          <p:cNvSpPr>
            <a:spLocks noGrp="1" noChangeArrowheads="1"/>
          </p:cNvSpPr>
          <p:nvPr>
            <p:ph idx="1"/>
          </p:nvPr>
        </p:nvSpPr>
        <p:spPr/>
        <p:txBody>
          <a:bodyPr/>
          <a:lstStyle/>
          <a:p>
            <a:pPr eaLnBrk="1" hangingPunct="1">
              <a:lnSpc>
                <a:spcPct val="90000"/>
              </a:lnSpc>
            </a:pPr>
            <a:r>
              <a:rPr lang="zh-CN" altLang="en-US" dirty="0"/>
              <a:t>实现</a:t>
            </a:r>
            <a:r>
              <a:rPr lang="en-US" altLang="zh-CN" dirty="0"/>
              <a:t>n</a:t>
            </a:r>
            <a:r>
              <a:rPr lang="zh-CN" altLang="en-US" dirty="0"/>
              <a:t>位</a:t>
            </a:r>
            <a:r>
              <a:rPr lang="en-US" altLang="zh-CN" dirty="0"/>
              <a:t>×n</a:t>
            </a:r>
            <a:r>
              <a:rPr lang="zh-CN" altLang="en-US" dirty="0"/>
              <a:t>位不带符号的原码阵列乘法器，需要</a:t>
            </a:r>
            <a:r>
              <a:rPr lang="en-US" altLang="zh-CN" dirty="0"/>
              <a:t>n(n-1)</a:t>
            </a:r>
            <a:r>
              <a:rPr lang="zh-CN" altLang="en-US" dirty="0"/>
              <a:t>个全加器和</a:t>
            </a:r>
            <a:r>
              <a:rPr lang="en-US" altLang="zh-CN" dirty="0"/>
              <a:t>n</a:t>
            </a:r>
            <a:r>
              <a:rPr lang="en-US" altLang="zh-CN" baseline="30000" dirty="0"/>
              <a:t>2</a:t>
            </a:r>
            <a:r>
              <a:rPr lang="zh-CN" altLang="en-US" dirty="0"/>
              <a:t>个“与”门</a:t>
            </a:r>
            <a:endParaRPr lang="zh-CN" altLang="en-US" dirty="0"/>
          </a:p>
          <a:p>
            <a:pPr eaLnBrk="1" hangingPunct="1">
              <a:lnSpc>
                <a:spcPct val="90000"/>
              </a:lnSpc>
            </a:pPr>
            <a:r>
              <a:rPr lang="en-US" altLang="zh-CN" dirty="0"/>
              <a:t>n</a:t>
            </a:r>
            <a:r>
              <a:rPr lang="zh-CN" altLang="en-US" dirty="0"/>
              <a:t>位</a:t>
            </a:r>
            <a:r>
              <a:rPr lang="en-US" altLang="zh-CN" dirty="0"/>
              <a:t>×n</a:t>
            </a:r>
            <a:r>
              <a:rPr lang="zh-CN" altLang="en-US" dirty="0"/>
              <a:t>位不带符号的原码阵列乘法器总的乘法时间估算为：</a:t>
            </a:r>
            <a:endParaRPr lang="zh-CN" altLang="en-US" dirty="0"/>
          </a:p>
          <a:p>
            <a:pPr lvl="1" eaLnBrk="1" hangingPunct="1">
              <a:lnSpc>
                <a:spcPct val="90000"/>
              </a:lnSpc>
              <a:buFont typeface="Wingdings" panose="05000000000000000000" pitchFamily="2" charset="2"/>
              <a:buNone/>
            </a:pPr>
            <a:r>
              <a:rPr lang="en-US" altLang="zh-CN" sz="2800" dirty="0"/>
              <a:t>t</a:t>
            </a:r>
            <a:r>
              <a:rPr lang="en-US" altLang="zh-CN" sz="2800" baseline="-25000" dirty="0"/>
              <a:t>m</a:t>
            </a:r>
            <a:r>
              <a:rPr lang="en-US" altLang="zh-CN" sz="2800" dirty="0"/>
              <a:t>= T</a:t>
            </a:r>
            <a:r>
              <a:rPr lang="en-US" altLang="zh-CN" sz="2800" baseline="-25000" dirty="0"/>
              <a:t>a</a:t>
            </a:r>
            <a:r>
              <a:rPr lang="en-US" altLang="zh-CN" sz="2800" dirty="0"/>
              <a:t> + (n-1)×6T+(n-1)×</a:t>
            </a:r>
            <a:r>
              <a:rPr lang="en-US" altLang="zh-CN" sz="2800" dirty="0" err="1"/>
              <a:t>T</a:t>
            </a:r>
            <a:r>
              <a:rPr lang="en-US" altLang="zh-CN" sz="2800" baseline="-25000" dirty="0" err="1"/>
              <a:t>f</a:t>
            </a:r>
            <a:endParaRPr lang="en-US" altLang="zh-CN" sz="2800" baseline="-25000" dirty="0"/>
          </a:p>
          <a:p>
            <a:pPr lvl="1" eaLnBrk="1" hangingPunct="1">
              <a:lnSpc>
                <a:spcPct val="90000"/>
              </a:lnSpc>
              <a:buFont typeface="Wingdings" panose="05000000000000000000" pitchFamily="2" charset="2"/>
              <a:buNone/>
            </a:pPr>
            <a:r>
              <a:rPr lang="en-US" altLang="zh-CN" sz="2800" dirty="0"/>
              <a:t>    = T+ (n-1)×6T +(n-1)×</a:t>
            </a:r>
            <a:r>
              <a:rPr lang="en-US" altLang="zh-CN" sz="2800" dirty="0" err="1"/>
              <a:t>T</a:t>
            </a:r>
            <a:r>
              <a:rPr lang="en-US" altLang="zh-CN" sz="2800" baseline="-25000" dirty="0" err="1"/>
              <a:t>f</a:t>
            </a:r>
            <a:endParaRPr lang="en-US" altLang="zh-CN" sz="2800" baseline="-25000" dirty="0"/>
          </a:p>
          <a:p>
            <a:pPr lvl="1" eaLnBrk="1" hangingPunct="1">
              <a:lnSpc>
                <a:spcPct val="90000"/>
              </a:lnSpc>
              <a:buFont typeface="Wingdings" panose="05000000000000000000" pitchFamily="2" charset="2"/>
              <a:buNone/>
            </a:pPr>
            <a:r>
              <a:rPr lang="en-US" altLang="zh-CN" sz="2800" dirty="0"/>
              <a:t>    = (8n-7)T</a:t>
            </a:r>
            <a:endParaRPr lang="en-US" altLang="zh-CN" sz="2800" dirty="0"/>
          </a:p>
          <a:p>
            <a:pPr lvl="1" eaLnBrk="1" hangingPunct="1">
              <a:lnSpc>
                <a:spcPct val="90000"/>
              </a:lnSpc>
            </a:pPr>
            <a:r>
              <a:rPr lang="en-US" altLang="zh-CN" dirty="0"/>
              <a:t>T</a:t>
            </a:r>
            <a:r>
              <a:rPr lang="en-US" altLang="zh-CN" baseline="-25000" dirty="0"/>
              <a:t>a</a:t>
            </a:r>
            <a:r>
              <a:rPr lang="zh-CN" altLang="en-US" dirty="0"/>
              <a:t>是计算</a:t>
            </a:r>
            <a:r>
              <a:rPr lang="en-US" altLang="zh-CN" dirty="0" err="1"/>
              <a:t>aibi</a:t>
            </a:r>
            <a:r>
              <a:rPr lang="zh-CN" altLang="en-US" dirty="0"/>
              <a:t>的时间，为</a:t>
            </a:r>
            <a:r>
              <a:rPr lang="en-US" altLang="zh-CN" dirty="0"/>
              <a:t>1T</a:t>
            </a:r>
            <a:endParaRPr lang="zh-CN" altLang="en-US" dirty="0"/>
          </a:p>
          <a:p>
            <a:pPr lvl="1" eaLnBrk="1" hangingPunct="1">
              <a:lnSpc>
                <a:spcPct val="90000"/>
              </a:lnSpc>
            </a:pPr>
            <a:r>
              <a:rPr lang="en-US" altLang="zh-CN" dirty="0" err="1"/>
              <a:t>T</a:t>
            </a:r>
            <a:r>
              <a:rPr lang="en-US" altLang="zh-CN" baseline="-25000" dirty="0" err="1"/>
              <a:t>f</a:t>
            </a:r>
            <a:r>
              <a:rPr lang="zh-CN" altLang="en-US" dirty="0"/>
              <a:t>是全加器的进位延迟，为</a:t>
            </a:r>
            <a:r>
              <a:rPr lang="en-US" altLang="zh-CN" dirty="0"/>
              <a:t>2T</a:t>
            </a:r>
            <a:endParaRPr lang="zh-CN" altLang="en-US" dirty="0"/>
          </a:p>
        </p:txBody>
      </p:sp>
    </p:spTree>
  </p:cSld>
  <p:clrMapOvr>
    <a:masterClrMapping/>
  </p:clrMapOvr>
  <p:transition spd="med">
    <p:pull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zh-CN" altLang="en-US"/>
              <a:t>例</a:t>
            </a:r>
            <a:r>
              <a:rPr lang="en-US" altLang="zh-CN"/>
              <a:t>19</a:t>
            </a:r>
            <a:endParaRPr lang="en-US" altLang="zh-CN"/>
          </a:p>
        </p:txBody>
      </p:sp>
      <p:sp>
        <p:nvSpPr>
          <p:cNvPr id="41986" name="Rectangle 3"/>
          <p:cNvSpPr>
            <a:spLocks noGrp="1" noChangeArrowheads="1"/>
          </p:cNvSpPr>
          <p:nvPr>
            <p:ph idx="1"/>
          </p:nvPr>
        </p:nvSpPr>
        <p:spPr/>
        <p:txBody>
          <a:bodyPr/>
          <a:lstStyle/>
          <a:p>
            <a:pPr eaLnBrk="1" hangingPunct="1">
              <a:lnSpc>
                <a:spcPct val="90000"/>
              </a:lnSpc>
              <a:buFont typeface="Wingdings 2" charset="2"/>
              <a:buNone/>
            </a:pPr>
            <a:r>
              <a:rPr lang="en-US" altLang="zh-CN" sz="2400" i="1"/>
              <a:t>a</a:t>
            </a:r>
            <a:r>
              <a:rPr lang="en-US" altLang="zh-CN" sz="2400"/>
              <a:t>4</a:t>
            </a:r>
            <a:r>
              <a:rPr lang="en-US" altLang="zh-CN" sz="2400" i="1"/>
              <a:t>b</a:t>
            </a:r>
            <a:r>
              <a:rPr lang="en-US" altLang="zh-CN" sz="2400"/>
              <a:t>0</a:t>
            </a:r>
            <a:r>
              <a:rPr lang="zh-CN" altLang="en-US" sz="2400"/>
              <a:t>＝</a:t>
            </a:r>
            <a:r>
              <a:rPr lang="en-US" altLang="zh-CN" sz="2400"/>
              <a:t>1  </a:t>
            </a:r>
            <a:r>
              <a:rPr lang="en-US" altLang="zh-CN" sz="2400" i="1"/>
              <a:t>a</a:t>
            </a:r>
            <a:r>
              <a:rPr lang="en-US" altLang="zh-CN" sz="2400"/>
              <a:t>3</a:t>
            </a:r>
            <a:r>
              <a:rPr lang="en-US" altLang="zh-CN" sz="2400" i="1"/>
              <a:t>b</a:t>
            </a:r>
            <a:r>
              <a:rPr lang="en-US" altLang="zh-CN" sz="2400"/>
              <a:t>0</a:t>
            </a:r>
            <a:r>
              <a:rPr lang="zh-CN" altLang="en-US" sz="2400"/>
              <a:t>＝</a:t>
            </a:r>
            <a:r>
              <a:rPr lang="en-US" altLang="zh-CN" sz="2400"/>
              <a:t>1  </a:t>
            </a:r>
            <a:r>
              <a:rPr lang="en-US" altLang="zh-CN" sz="2400" i="1"/>
              <a:t>a</a:t>
            </a:r>
            <a:r>
              <a:rPr lang="en-US" altLang="zh-CN" sz="2400"/>
              <a:t>2</a:t>
            </a:r>
            <a:r>
              <a:rPr lang="en-US" altLang="zh-CN" sz="2400" i="1"/>
              <a:t>b</a:t>
            </a:r>
            <a:r>
              <a:rPr lang="en-US" altLang="zh-CN" sz="2400"/>
              <a:t>0</a:t>
            </a:r>
            <a:r>
              <a:rPr lang="zh-CN" altLang="en-US" sz="2400"/>
              <a:t>＝</a:t>
            </a:r>
            <a:r>
              <a:rPr lang="en-US" altLang="zh-CN" sz="2400"/>
              <a:t>0  </a:t>
            </a:r>
            <a:r>
              <a:rPr lang="en-US" altLang="zh-CN" sz="2400" i="1"/>
              <a:t>a</a:t>
            </a:r>
            <a:r>
              <a:rPr lang="en-US" altLang="zh-CN" sz="2400"/>
              <a:t>1</a:t>
            </a:r>
            <a:r>
              <a:rPr lang="en-US" altLang="zh-CN" sz="2400" i="1"/>
              <a:t>b</a:t>
            </a:r>
            <a:r>
              <a:rPr lang="en-US" altLang="zh-CN" sz="2400"/>
              <a:t>0</a:t>
            </a:r>
            <a:r>
              <a:rPr lang="zh-CN" altLang="en-US" sz="2400"/>
              <a:t>＝</a:t>
            </a:r>
            <a:r>
              <a:rPr lang="en-US" altLang="zh-CN" sz="2400"/>
              <a:t>1  </a:t>
            </a:r>
            <a:r>
              <a:rPr lang="en-US" altLang="zh-CN" sz="2400" i="1"/>
              <a:t>a</a:t>
            </a:r>
            <a:r>
              <a:rPr lang="en-US" altLang="zh-CN" sz="2400"/>
              <a:t>0</a:t>
            </a:r>
            <a:r>
              <a:rPr lang="en-US" altLang="zh-CN" sz="2400" i="1"/>
              <a:t>b</a:t>
            </a:r>
            <a:r>
              <a:rPr lang="en-US" altLang="zh-CN" sz="2400"/>
              <a:t>0</a:t>
            </a:r>
            <a:r>
              <a:rPr lang="zh-CN" altLang="en-US" sz="2400"/>
              <a:t>＝</a:t>
            </a:r>
            <a:r>
              <a:rPr lang="en-US" altLang="zh-CN" sz="2400"/>
              <a:t>1</a:t>
            </a:r>
            <a:endParaRPr lang="en-US" altLang="zh-CN" sz="2400" i="1"/>
          </a:p>
          <a:p>
            <a:pPr eaLnBrk="1" hangingPunct="1">
              <a:lnSpc>
                <a:spcPct val="90000"/>
              </a:lnSpc>
              <a:buFont typeface="Wingdings 2" charset="2"/>
              <a:buNone/>
            </a:pPr>
            <a:r>
              <a:rPr lang="en-US" altLang="zh-CN" sz="2400" i="1"/>
              <a:t>a</a:t>
            </a:r>
            <a:r>
              <a:rPr lang="en-US" altLang="zh-CN" sz="2400"/>
              <a:t>4</a:t>
            </a:r>
            <a:r>
              <a:rPr lang="en-US" altLang="zh-CN" sz="2400" i="1"/>
              <a:t>b</a:t>
            </a:r>
            <a:r>
              <a:rPr lang="en-US" altLang="zh-CN" sz="2400"/>
              <a:t>1</a:t>
            </a:r>
            <a:r>
              <a:rPr lang="zh-CN" altLang="en-US" sz="2400"/>
              <a:t>＝</a:t>
            </a:r>
            <a:r>
              <a:rPr lang="en-US" altLang="zh-CN" sz="2400"/>
              <a:t>0  </a:t>
            </a:r>
            <a:r>
              <a:rPr lang="en-US" altLang="zh-CN" sz="2400" i="1"/>
              <a:t>a</a:t>
            </a:r>
            <a:r>
              <a:rPr lang="en-US" altLang="zh-CN" sz="2400"/>
              <a:t>3</a:t>
            </a:r>
            <a:r>
              <a:rPr lang="en-US" altLang="zh-CN" sz="2400" i="1"/>
              <a:t>b</a:t>
            </a:r>
            <a:r>
              <a:rPr lang="en-US" altLang="zh-CN" sz="2400"/>
              <a:t>1</a:t>
            </a:r>
            <a:r>
              <a:rPr lang="zh-CN" altLang="en-US" sz="2400"/>
              <a:t>＝</a:t>
            </a:r>
            <a:r>
              <a:rPr lang="en-US" altLang="zh-CN" sz="2400"/>
              <a:t>0  </a:t>
            </a:r>
            <a:r>
              <a:rPr lang="en-US" altLang="zh-CN" sz="2400" i="1"/>
              <a:t>a</a:t>
            </a:r>
            <a:r>
              <a:rPr lang="en-US" altLang="zh-CN" sz="2400"/>
              <a:t>2</a:t>
            </a:r>
            <a:r>
              <a:rPr lang="en-US" altLang="zh-CN" sz="2400" i="1"/>
              <a:t>b</a:t>
            </a:r>
            <a:r>
              <a:rPr lang="en-US" altLang="zh-CN" sz="2400"/>
              <a:t>1</a:t>
            </a:r>
            <a:r>
              <a:rPr lang="zh-CN" altLang="en-US" sz="2400"/>
              <a:t>＝</a:t>
            </a:r>
            <a:r>
              <a:rPr lang="en-US" altLang="zh-CN" sz="2400"/>
              <a:t>0  </a:t>
            </a:r>
            <a:r>
              <a:rPr lang="en-US" altLang="zh-CN" sz="2400" i="1"/>
              <a:t>a</a:t>
            </a:r>
            <a:r>
              <a:rPr lang="en-US" altLang="zh-CN" sz="2400"/>
              <a:t>1</a:t>
            </a:r>
            <a:r>
              <a:rPr lang="en-US" altLang="zh-CN" sz="2400" i="1"/>
              <a:t>b</a:t>
            </a:r>
            <a:r>
              <a:rPr lang="en-US" altLang="zh-CN" sz="2400"/>
              <a:t>1</a:t>
            </a:r>
            <a:r>
              <a:rPr lang="zh-CN" altLang="en-US" sz="2400"/>
              <a:t>＝</a:t>
            </a:r>
            <a:r>
              <a:rPr lang="en-US" altLang="zh-CN" sz="2400"/>
              <a:t>0  </a:t>
            </a:r>
            <a:r>
              <a:rPr lang="en-US" altLang="zh-CN" sz="2400" i="1"/>
              <a:t>a</a:t>
            </a:r>
            <a:r>
              <a:rPr lang="en-US" altLang="zh-CN" sz="2400"/>
              <a:t>0</a:t>
            </a:r>
            <a:r>
              <a:rPr lang="en-US" altLang="zh-CN" sz="2400" i="1"/>
              <a:t>b</a:t>
            </a:r>
            <a:r>
              <a:rPr lang="en-US" altLang="zh-CN" sz="2400"/>
              <a:t>1</a:t>
            </a:r>
            <a:r>
              <a:rPr lang="zh-CN" altLang="en-US" sz="2400"/>
              <a:t>＝</a:t>
            </a:r>
            <a:r>
              <a:rPr lang="en-US" altLang="zh-CN" sz="2400"/>
              <a:t>0</a:t>
            </a:r>
            <a:endParaRPr lang="en-US" altLang="zh-CN" sz="2400" i="1"/>
          </a:p>
          <a:p>
            <a:pPr eaLnBrk="1" hangingPunct="1">
              <a:lnSpc>
                <a:spcPct val="90000"/>
              </a:lnSpc>
              <a:buFont typeface="Wingdings 2" charset="2"/>
              <a:buNone/>
            </a:pPr>
            <a:r>
              <a:rPr lang="en-US" altLang="zh-CN" sz="2400" i="1"/>
              <a:t>a</a:t>
            </a:r>
            <a:r>
              <a:rPr lang="en-US" altLang="zh-CN" sz="2400"/>
              <a:t>4</a:t>
            </a:r>
            <a:r>
              <a:rPr lang="en-US" altLang="zh-CN" sz="2400" i="1"/>
              <a:t>b</a:t>
            </a:r>
            <a:r>
              <a:rPr lang="en-US" altLang="zh-CN" sz="2400"/>
              <a:t>2</a:t>
            </a:r>
            <a:r>
              <a:rPr lang="zh-CN" altLang="en-US" sz="2400"/>
              <a:t>＝</a:t>
            </a:r>
            <a:r>
              <a:rPr lang="en-US" altLang="zh-CN" sz="2400"/>
              <a:t>1  </a:t>
            </a:r>
            <a:r>
              <a:rPr lang="en-US" altLang="zh-CN" sz="2400" i="1"/>
              <a:t>a</a:t>
            </a:r>
            <a:r>
              <a:rPr lang="en-US" altLang="zh-CN" sz="2400"/>
              <a:t>3</a:t>
            </a:r>
            <a:r>
              <a:rPr lang="en-US" altLang="zh-CN" sz="2400" i="1"/>
              <a:t>b</a:t>
            </a:r>
            <a:r>
              <a:rPr lang="en-US" altLang="zh-CN" sz="2400"/>
              <a:t>2</a:t>
            </a:r>
            <a:r>
              <a:rPr lang="zh-CN" altLang="en-US" sz="2400"/>
              <a:t>＝</a:t>
            </a:r>
            <a:r>
              <a:rPr lang="en-US" altLang="zh-CN" sz="2400"/>
              <a:t>1  </a:t>
            </a:r>
            <a:r>
              <a:rPr lang="en-US" altLang="zh-CN" sz="2400" i="1"/>
              <a:t>a</a:t>
            </a:r>
            <a:r>
              <a:rPr lang="en-US" altLang="zh-CN" sz="2400"/>
              <a:t>2</a:t>
            </a:r>
            <a:r>
              <a:rPr lang="en-US" altLang="zh-CN" sz="2400" i="1"/>
              <a:t>b</a:t>
            </a:r>
            <a:r>
              <a:rPr lang="en-US" altLang="zh-CN" sz="2400"/>
              <a:t>2</a:t>
            </a:r>
            <a:r>
              <a:rPr lang="zh-CN" altLang="en-US" sz="2400"/>
              <a:t>＝</a:t>
            </a:r>
            <a:r>
              <a:rPr lang="en-US" altLang="zh-CN" sz="2400"/>
              <a:t>0  </a:t>
            </a:r>
            <a:r>
              <a:rPr lang="en-US" altLang="zh-CN" sz="2400" i="1"/>
              <a:t>a</a:t>
            </a:r>
            <a:r>
              <a:rPr lang="en-US" altLang="zh-CN" sz="2400"/>
              <a:t>1</a:t>
            </a:r>
            <a:r>
              <a:rPr lang="en-US" altLang="zh-CN" sz="2400" i="1"/>
              <a:t>b</a:t>
            </a:r>
            <a:r>
              <a:rPr lang="en-US" altLang="zh-CN" sz="2400"/>
              <a:t>2</a:t>
            </a:r>
            <a:r>
              <a:rPr lang="zh-CN" altLang="en-US" sz="2400"/>
              <a:t>＝</a:t>
            </a:r>
            <a:r>
              <a:rPr lang="en-US" altLang="zh-CN" sz="2400"/>
              <a:t>1  </a:t>
            </a:r>
            <a:r>
              <a:rPr lang="en-US" altLang="zh-CN" sz="2400" i="1"/>
              <a:t>a</a:t>
            </a:r>
            <a:r>
              <a:rPr lang="en-US" altLang="zh-CN" sz="2400"/>
              <a:t>0</a:t>
            </a:r>
            <a:r>
              <a:rPr lang="en-US" altLang="zh-CN" sz="2400" i="1"/>
              <a:t>b</a:t>
            </a:r>
            <a:r>
              <a:rPr lang="en-US" altLang="zh-CN" sz="2400"/>
              <a:t>2</a:t>
            </a:r>
            <a:r>
              <a:rPr lang="zh-CN" altLang="en-US" sz="2400"/>
              <a:t>＝</a:t>
            </a:r>
            <a:r>
              <a:rPr lang="en-US" altLang="zh-CN" sz="2400"/>
              <a:t>0</a:t>
            </a:r>
            <a:endParaRPr lang="en-US" altLang="zh-CN" sz="2400" i="1"/>
          </a:p>
          <a:p>
            <a:pPr eaLnBrk="1" hangingPunct="1">
              <a:lnSpc>
                <a:spcPct val="90000"/>
              </a:lnSpc>
              <a:buFont typeface="Wingdings 2" charset="2"/>
              <a:buNone/>
            </a:pPr>
            <a:r>
              <a:rPr lang="en-US" altLang="zh-CN" sz="2400" i="1"/>
              <a:t>a</a:t>
            </a:r>
            <a:r>
              <a:rPr lang="en-US" altLang="zh-CN" sz="2400"/>
              <a:t>4</a:t>
            </a:r>
            <a:r>
              <a:rPr lang="en-US" altLang="zh-CN" sz="2400" i="1"/>
              <a:t>b</a:t>
            </a:r>
            <a:r>
              <a:rPr lang="en-US" altLang="zh-CN" sz="2400"/>
              <a:t>3</a:t>
            </a:r>
            <a:r>
              <a:rPr lang="zh-CN" altLang="en-US" sz="2400"/>
              <a:t>＝</a:t>
            </a:r>
            <a:r>
              <a:rPr lang="en-US" altLang="zh-CN" sz="2400"/>
              <a:t>0  </a:t>
            </a:r>
            <a:r>
              <a:rPr lang="en-US" altLang="zh-CN" sz="2400" i="1"/>
              <a:t>a</a:t>
            </a:r>
            <a:r>
              <a:rPr lang="en-US" altLang="zh-CN" sz="2400"/>
              <a:t>3</a:t>
            </a:r>
            <a:r>
              <a:rPr lang="en-US" altLang="zh-CN" sz="2400" i="1"/>
              <a:t>b</a:t>
            </a:r>
            <a:r>
              <a:rPr lang="en-US" altLang="zh-CN" sz="2400"/>
              <a:t>3</a:t>
            </a:r>
            <a:r>
              <a:rPr lang="zh-CN" altLang="en-US" sz="2400"/>
              <a:t>＝</a:t>
            </a:r>
            <a:r>
              <a:rPr lang="en-US" altLang="zh-CN" sz="2400"/>
              <a:t>0  </a:t>
            </a:r>
            <a:r>
              <a:rPr lang="en-US" altLang="zh-CN" sz="2400" i="1"/>
              <a:t>a</a:t>
            </a:r>
            <a:r>
              <a:rPr lang="en-US" altLang="zh-CN" sz="2400"/>
              <a:t>2</a:t>
            </a:r>
            <a:r>
              <a:rPr lang="en-US" altLang="zh-CN" sz="2400" i="1"/>
              <a:t>b</a:t>
            </a:r>
            <a:r>
              <a:rPr lang="en-US" altLang="zh-CN" sz="2400"/>
              <a:t>3</a:t>
            </a:r>
            <a:r>
              <a:rPr lang="zh-CN" altLang="en-US" sz="2400"/>
              <a:t>＝</a:t>
            </a:r>
            <a:r>
              <a:rPr lang="en-US" altLang="zh-CN" sz="2400"/>
              <a:t>0  </a:t>
            </a:r>
            <a:r>
              <a:rPr lang="en-US" altLang="zh-CN" sz="2400" i="1"/>
              <a:t>a</a:t>
            </a:r>
            <a:r>
              <a:rPr lang="en-US" altLang="zh-CN" sz="2400"/>
              <a:t>1</a:t>
            </a:r>
            <a:r>
              <a:rPr lang="en-US" altLang="zh-CN" sz="2400" i="1"/>
              <a:t>b</a:t>
            </a:r>
            <a:r>
              <a:rPr lang="en-US" altLang="zh-CN" sz="2400"/>
              <a:t>3</a:t>
            </a:r>
            <a:r>
              <a:rPr lang="zh-CN" altLang="en-US" sz="2400"/>
              <a:t>＝</a:t>
            </a:r>
            <a:r>
              <a:rPr lang="en-US" altLang="zh-CN" sz="2400"/>
              <a:t>0  </a:t>
            </a:r>
            <a:r>
              <a:rPr lang="en-US" altLang="zh-CN" sz="2400" i="1"/>
              <a:t>a</a:t>
            </a:r>
            <a:r>
              <a:rPr lang="en-US" altLang="zh-CN" sz="2400"/>
              <a:t>0</a:t>
            </a:r>
            <a:r>
              <a:rPr lang="en-US" altLang="zh-CN" sz="2400" i="1"/>
              <a:t>b</a:t>
            </a:r>
            <a:r>
              <a:rPr lang="en-US" altLang="zh-CN" sz="2400"/>
              <a:t>3</a:t>
            </a:r>
            <a:r>
              <a:rPr lang="zh-CN" altLang="en-US" sz="2400"/>
              <a:t>＝</a:t>
            </a:r>
            <a:r>
              <a:rPr lang="en-US" altLang="zh-CN" sz="2400"/>
              <a:t>0</a:t>
            </a:r>
            <a:endParaRPr lang="en-US" altLang="zh-CN" sz="2400" i="1"/>
          </a:p>
          <a:p>
            <a:pPr eaLnBrk="1" hangingPunct="1">
              <a:lnSpc>
                <a:spcPct val="90000"/>
              </a:lnSpc>
              <a:buFont typeface="Wingdings 2" charset="2"/>
              <a:buNone/>
            </a:pPr>
            <a:r>
              <a:rPr lang="en-US" altLang="zh-CN" sz="2400" i="1"/>
              <a:t>a</a:t>
            </a:r>
            <a:r>
              <a:rPr lang="en-US" altLang="zh-CN" sz="2400"/>
              <a:t>4</a:t>
            </a:r>
            <a:r>
              <a:rPr lang="en-US" altLang="zh-CN" sz="2400" i="1"/>
              <a:t>b</a:t>
            </a:r>
            <a:r>
              <a:rPr lang="en-US" altLang="zh-CN" sz="2400"/>
              <a:t>4</a:t>
            </a:r>
            <a:r>
              <a:rPr lang="zh-CN" altLang="en-US" sz="2400"/>
              <a:t>＝</a:t>
            </a:r>
            <a:r>
              <a:rPr lang="en-US" altLang="zh-CN" sz="2400"/>
              <a:t>1  </a:t>
            </a:r>
            <a:r>
              <a:rPr lang="en-US" altLang="zh-CN" sz="2400" i="1"/>
              <a:t>a</a:t>
            </a:r>
            <a:r>
              <a:rPr lang="en-US" altLang="zh-CN" sz="2400"/>
              <a:t>3</a:t>
            </a:r>
            <a:r>
              <a:rPr lang="en-US" altLang="zh-CN" sz="2400" i="1"/>
              <a:t>b</a:t>
            </a:r>
            <a:r>
              <a:rPr lang="en-US" altLang="zh-CN" sz="2400"/>
              <a:t>4</a:t>
            </a:r>
            <a:r>
              <a:rPr lang="zh-CN" altLang="en-US" sz="2400"/>
              <a:t>＝</a:t>
            </a:r>
            <a:r>
              <a:rPr lang="en-US" altLang="zh-CN" sz="2400"/>
              <a:t>1  </a:t>
            </a:r>
            <a:r>
              <a:rPr lang="en-US" altLang="zh-CN" sz="2400" i="1"/>
              <a:t>a</a:t>
            </a:r>
            <a:r>
              <a:rPr lang="en-US" altLang="zh-CN" sz="2400"/>
              <a:t>2</a:t>
            </a:r>
            <a:r>
              <a:rPr lang="en-US" altLang="zh-CN" sz="2400" i="1"/>
              <a:t>b</a:t>
            </a:r>
            <a:r>
              <a:rPr lang="en-US" altLang="zh-CN" sz="2400"/>
              <a:t>4</a:t>
            </a:r>
            <a:r>
              <a:rPr lang="zh-CN" altLang="en-US" sz="2400"/>
              <a:t>＝</a:t>
            </a:r>
            <a:r>
              <a:rPr lang="en-US" altLang="zh-CN" sz="2400"/>
              <a:t>0  </a:t>
            </a:r>
            <a:r>
              <a:rPr lang="en-US" altLang="zh-CN" sz="2400" i="1"/>
              <a:t>a</a:t>
            </a:r>
            <a:r>
              <a:rPr lang="en-US" altLang="zh-CN" sz="2400"/>
              <a:t>1</a:t>
            </a:r>
            <a:r>
              <a:rPr lang="en-US" altLang="zh-CN" sz="2400" i="1"/>
              <a:t>b</a:t>
            </a:r>
            <a:r>
              <a:rPr lang="en-US" altLang="zh-CN" sz="2400"/>
              <a:t>4</a:t>
            </a:r>
            <a:r>
              <a:rPr lang="zh-CN" altLang="en-US" sz="2400"/>
              <a:t>＝</a:t>
            </a:r>
            <a:r>
              <a:rPr lang="en-US" altLang="zh-CN" sz="2400"/>
              <a:t>1  </a:t>
            </a:r>
            <a:r>
              <a:rPr lang="en-US" altLang="zh-CN" sz="2400" i="1"/>
              <a:t>a</a:t>
            </a:r>
            <a:r>
              <a:rPr lang="en-US" altLang="zh-CN" sz="2400"/>
              <a:t>0</a:t>
            </a:r>
            <a:r>
              <a:rPr lang="en-US" altLang="zh-CN" sz="2400" i="1"/>
              <a:t>b</a:t>
            </a:r>
            <a:r>
              <a:rPr lang="en-US" altLang="zh-CN" sz="2400"/>
              <a:t>4</a:t>
            </a:r>
            <a:r>
              <a:rPr lang="zh-CN" altLang="en-US" sz="2400"/>
              <a:t>＝</a:t>
            </a:r>
            <a:r>
              <a:rPr lang="en-US" altLang="zh-CN" sz="2400"/>
              <a:t>1</a:t>
            </a:r>
            <a:endParaRPr lang="en-US" altLang="zh-CN" sz="2400"/>
          </a:p>
          <a:p>
            <a:pPr eaLnBrk="1" hangingPunct="1">
              <a:lnSpc>
                <a:spcPct val="90000"/>
              </a:lnSpc>
              <a:buFont typeface="Wingdings 2" charset="2"/>
              <a:buNone/>
            </a:pPr>
            <a:endParaRPr lang="en-US" altLang="zh-CN" sz="2400"/>
          </a:p>
          <a:p>
            <a:pPr eaLnBrk="1" hangingPunct="1">
              <a:lnSpc>
                <a:spcPct val="90000"/>
              </a:lnSpc>
              <a:buFont typeface="Wingdings 2" charset="2"/>
              <a:buNone/>
            </a:pPr>
            <a:endParaRPr lang="en-US" altLang="zh-CN" sz="2400"/>
          </a:p>
          <a:p>
            <a:pPr eaLnBrk="1" hangingPunct="1">
              <a:lnSpc>
                <a:spcPct val="90000"/>
              </a:lnSpc>
              <a:buFont typeface="Wingdings 2" charset="2"/>
              <a:buNone/>
            </a:pPr>
            <a:endParaRPr lang="en-US" altLang="zh-CN" sz="2400"/>
          </a:p>
          <a:p>
            <a:pPr eaLnBrk="1" hangingPunct="1">
              <a:lnSpc>
                <a:spcPct val="90000"/>
              </a:lnSpc>
              <a:buFont typeface="Wingdings 2" charset="2"/>
              <a:buNone/>
            </a:pPr>
            <a:endParaRPr lang="en-US" altLang="zh-CN" sz="2400"/>
          </a:p>
          <a:p>
            <a:pPr eaLnBrk="1" hangingPunct="1">
              <a:lnSpc>
                <a:spcPct val="90000"/>
              </a:lnSpc>
              <a:buFont typeface="Wingdings 2" charset="2"/>
              <a:buNone/>
            </a:pPr>
            <a:endParaRPr lang="en-US" altLang="zh-CN" sz="2400"/>
          </a:p>
          <a:p>
            <a:pPr eaLnBrk="1" hangingPunct="1">
              <a:lnSpc>
                <a:spcPct val="90000"/>
              </a:lnSpc>
              <a:buFont typeface="Wingdings 2" charset="2"/>
              <a:buNone/>
            </a:pPr>
            <a:endParaRPr lang="en-US" altLang="zh-CN" sz="2400"/>
          </a:p>
          <a:p>
            <a:pPr eaLnBrk="1" hangingPunct="1">
              <a:lnSpc>
                <a:spcPct val="90000"/>
              </a:lnSpc>
              <a:buFont typeface="Wingdings 2" charset="2"/>
              <a:buNone/>
            </a:pPr>
            <a:endParaRPr lang="en-US" altLang="zh-CN" sz="2400"/>
          </a:p>
          <a:p>
            <a:pPr eaLnBrk="1" hangingPunct="1">
              <a:lnSpc>
                <a:spcPct val="90000"/>
              </a:lnSpc>
              <a:buFont typeface="Wingdings 2" charset="2"/>
              <a:buNone/>
            </a:pPr>
            <a:r>
              <a:rPr lang="en-US" altLang="zh-CN" sz="2800" i="1"/>
              <a:t>P</a:t>
            </a:r>
            <a:r>
              <a:rPr lang="zh-CN" altLang="en-US" sz="2800"/>
              <a:t>＝</a:t>
            </a:r>
            <a:r>
              <a:rPr lang="en-US" altLang="zh-CN" sz="2800" i="1"/>
              <a:t>p</a:t>
            </a:r>
            <a:r>
              <a:rPr lang="en-US" altLang="zh-CN" sz="2800"/>
              <a:t>9</a:t>
            </a:r>
            <a:r>
              <a:rPr lang="en-US" altLang="zh-CN" sz="2800" i="1"/>
              <a:t>p</a:t>
            </a:r>
            <a:r>
              <a:rPr lang="en-US" altLang="zh-CN" sz="2800"/>
              <a:t>8</a:t>
            </a:r>
            <a:r>
              <a:rPr lang="en-US" altLang="zh-CN" sz="2800" i="1"/>
              <a:t>p</a:t>
            </a:r>
            <a:r>
              <a:rPr lang="en-US" altLang="zh-CN" sz="2800"/>
              <a:t>7</a:t>
            </a:r>
            <a:r>
              <a:rPr lang="en-US" altLang="zh-CN" sz="2800" i="1"/>
              <a:t>p</a:t>
            </a:r>
            <a:r>
              <a:rPr lang="en-US" altLang="zh-CN" sz="2800"/>
              <a:t>6</a:t>
            </a:r>
            <a:r>
              <a:rPr lang="en-US" altLang="zh-CN" sz="2800" i="1"/>
              <a:t>p</a:t>
            </a:r>
            <a:r>
              <a:rPr lang="en-US" altLang="zh-CN" sz="2800"/>
              <a:t>5</a:t>
            </a:r>
            <a:r>
              <a:rPr lang="en-US" altLang="zh-CN" sz="2800" i="1"/>
              <a:t>p</a:t>
            </a:r>
            <a:r>
              <a:rPr lang="en-US" altLang="zh-CN" sz="2800"/>
              <a:t>4</a:t>
            </a:r>
            <a:r>
              <a:rPr lang="en-US" altLang="zh-CN" sz="2800" i="1"/>
              <a:t>p</a:t>
            </a:r>
            <a:r>
              <a:rPr lang="en-US" altLang="zh-CN" sz="2800"/>
              <a:t>3</a:t>
            </a:r>
            <a:r>
              <a:rPr lang="en-US" altLang="zh-CN" sz="2800" i="1"/>
              <a:t>p</a:t>
            </a:r>
            <a:r>
              <a:rPr lang="en-US" altLang="zh-CN" sz="2800"/>
              <a:t>2</a:t>
            </a:r>
            <a:r>
              <a:rPr lang="en-US" altLang="zh-CN" sz="2800" i="1"/>
              <a:t>p</a:t>
            </a:r>
            <a:r>
              <a:rPr lang="en-US" altLang="zh-CN" sz="2800"/>
              <a:t>1</a:t>
            </a:r>
            <a:r>
              <a:rPr lang="en-US" altLang="zh-CN" sz="2800" i="1"/>
              <a:t>p</a:t>
            </a:r>
            <a:r>
              <a:rPr lang="en-US" altLang="zh-CN" sz="2800"/>
              <a:t>0</a:t>
            </a:r>
            <a:r>
              <a:rPr lang="zh-CN" altLang="en-US" sz="2800"/>
              <a:t>＝</a:t>
            </a:r>
            <a:r>
              <a:rPr lang="en-US" altLang="zh-CN" sz="2800"/>
              <a:t>1000110111 (567</a:t>
            </a:r>
            <a:r>
              <a:rPr lang="en-US" altLang="zh-CN" sz="2800" baseline="-25000"/>
              <a:t>10</a:t>
            </a:r>
            <a:r>
              <a:rPr lang="en-US" altLang="zh-CN" sz="2800"/>
              <a:t>)</a:t>
            </a:r>
            <a:endParaRPr lang="en-US" altLang="zh-CN" sz="2800"/>
          </a:p>
        </p:txBody>
      </p:sp>
      <p:pic>
        <p:nvPicPr>
          <p:cNvPr id="41988" name="Picture 4"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6800" y="3124200"/>
            <a:ext cx="6072188"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2" name="Rectangle 2"/>
          <p:cNvSpPr>
            <a:spLocks noGrp="1" noChangeArrowheads="1"/>
          </p:cNvSpPr>
          <p:nvPr>
            <p:ph type="title"/>
          </p:nvPr>
        </p:nvSpPr>
        <p:spPr/>
        <p:txBody>
          <a:bodyPr/>
          <a:lstStyle/>
          <a:p>
            <a:pPr eaLnBrk="1" hangingPunct="1"/>
            <a:r>
              <a:rPr lang="zh-CN" altLang="en-US"/>
              <a:t>有符号数的并行乘法运算</a:t>
            </a:r>
            <a:endParaRPr lang="zh-CN" altLang="en-US"/>
          </a:p>
        </p:txBody>
      </p:sp>
      <p:sp>
        <p:nvSpPr>
          <p:cNvPr id="43010" name="Rectangle 3"/>
          <p:cNvSpPr>
            <a:spLocks noGrp="1" noChangeArrowheads="1"/>
          </p:cNvSpPr>
          <p:nvPr>
            <p:ph idx="1"/>
          </p:nvPr>
        </p:nvSpPr>
        <p:spPr/>
        <p:txBody>
          <a:bodyPr/>
          <a:lstStyle/>
          <a:p>
            <a:pPr eaLnBrk="1" hangingPunct="1">
              <a:lnSpc>
                <a:spcPct val="90000"/>
              </a:lnSpc>
            </a:pPr>
            <a:r>
              <a:rPr lang="zh-CN" altLang="en-US" dirty="0"/>
              <a:t>原码（即用原码表示的机器）</a:t>
            </a:r>
            <a:endParaRPr lang="zh-CN" altLang="en-US" dirty="0"/>
          </a:p>
          <a:p>
            <a:pPr lvl="1" eaLnBrk="1" hangingPunct="1">
              <a:lnSpc>
                <a:spcPct val="90000"/>
              </a:lnSpc>
            </a:pPr>
            <a:r>
              <a:rPr lang="zh-CN" altLang="en-US" dirty="0"/>
              <a:t>尾数参加无符号数乘法器运算。</a:t>
            </a:r>
            <a:endParaRPr lang="zh-CN" altLang="en-US" dirty="0"/>
          </a:p>
          <a:p>
            <a:pPr lvl="1" eaLnBrk="1" hangingPunct="1">
              <a:lnSpc>
                <a:spcPct val="90000"/>
              </a:lnSpc>
            </a:pPr>
            <a:r>
              <a:rPr lang="zh-CN" altLang="en-US" dirty="0"/>
              <a:t>符号位单独处理，即通过异或门得到乘积的符号。</a:t>
            </a:r>
            <a:endParaRPr lang="zh-CN" altLang="en-US" dirty="0"/>
          </a:p>
          <a:p>
            <a:pPr eaLnBrk="1" hangingPunct="1">
              <a:lnSpc>
                <a:spcPct val="90000"/>
              </a:lnSpc>
            </a:pPr>
            <a:r>
              <a:rPr lang="zh-CN" altLang="en-US" dirty="0"/>
              <a:t>补码（用补码表示的机器）</a:t>
            </a:r>
            <a:endParaRPr lang="zh-CN" altLang="en-US" dirty="0"/>
          </a:p>
          <a:p>
            <a:pPr lvl="1" eaLnBrk="1" hangingPunct="1">
              <a:lnSpc>
                <a:spcPct val="90000"/>
              </a:lnSpc>
            </a:pPr>
            <a:r>
              <a:rPr lang="zh-CN" altLang="en-US" dirty="0"/>
              <a:t>间接补码乘法</a:t>
            </a:r>
            <a:endParaRPr lang="zh-CN" altLang="en-US" dirty="0"/>
          </a:p>
          <a:p>
            <a:pPr lvl="2" eaLnBrk="1" hangingPunct="1">
              <a:lnSpc>
                <a:spcPct val="90000"/>
              </a:lnSpc>
              <a:spcBef>
                <a:spcPts val="600"/>
              </a:spcBef>
            </a:pPr>
            <a:r>
              <a:rPr lang="zh-CN" altLang="en-US" dirty="0">
                <a:latin typeface="宋体" panose="02010600030101010101" pitchFamily="2" charset="-122"/>
              </a:rPr>
              <a:t>正数：尾数参加无符号数乘法器运算</a:t>
            </a:r>
            <a:endParaRPr lang="zh-CN" altLang="en-US" dirty="0">
              <a:latin typeface="宋体" panose="02010600030101010101" pitchFamily="2" charset="-122"/>
            </a:endParaRPr>
          </a:p>
          <a:p>
            <a:pPr lvl="2" eaLnBrk="1" hangingPunct="1">
              <a:lnSpc>
                <a:spcPct val="90000"/>
              </a:lnSpc>
            </a:pPr>
            <a:r>
              <a:rPr lang="zh-CN" altLang="en-US" dirty="0">
                <a:latin typeface="宋体" panose="02010600030101010101" pitchFamily="2" charset="-122"/>
              </a:rPr>
              <a:t>负数：由补码求得其绝对值后参加无符号数乘法器运算</a:t>
            </a:r>
            <a:endParaRPr lang="zh-CN" altLang="en-US" dirty="0">
              <a:latin typeface="宋体" panose="02010600030101010101" pitchFamily="2" charset="-122"/>
            </a:endParaRPr>
          </a:p>
          <a:p>
            <a:pPr lvl="2" eaLnBrk="1" hangingPunct="1">
              <a:lnSpc>
                <a:spcPct val="90000"/>
              </a:lnSpc>
            </a:pPr>
            <a:r>
              <a:rPr lang="zh-CN" altLang="en-US" dirty="0">
                <a:latin typeface="宋体" panose="02010600030101010101" pitchFamily="2" charset="-122"/>
              </a:rPr>
              <a:t>符号位通过异或门得到乘积的符号</a:t>
            </a:r>
            <a:endParaRPr lang="zh-CN" altLang="en-US" dirty="0">
              <a:latin typeface="宋体" panose="02010600030101010101" pitchFamily="2" charset="-122"/>
            </a:endParaRPr>
          </a:p>
          <a:p>
            <a:pPr lvl="2" eaLnBrk="1" hangingPunct="1">
              <a:lnSpc>
                <a:spcPct val="90000"/>
              </a:lnSpc>
            </a:pPr>
            <a:r>
              <a:rPr lang="zh-CN" altLang="en-US" dirty="0">
                <a:latin typeface="宋体" panose="02010600030101010101" pitchFamily="2" charset="-122"/>
              </a:rPr>
              <a:t>若乘积为负数，需将乘积的绝对值经过求补电路得到积的补码</a:t>
            </a:r>
            <a:endParaRPr lang="zh-CN" altLang="en-US" dirty="0">
              <a:latin typeface="宋体" panose="02010600030101010101" pitchFamily="2" charset="-122"/>
            </a:endParaRPr>
          </a:p>
          <a:p>
            <a:pPr lvl="1" eaLnBrk="1" hangingPunct="1">
              <a:lnSpc>
                <a:spcPct val="90000"/>
              </a:lnSpc>
            </a:pPr>
            <a:r>
              <a:rPr lang="zh-CN" altLang="en-US" dirty="0"/>
              <a:t>直接补码乘法（不要求）</a:t>
            </a:r>
            <a:endParaRPr lang="zh-CN" altLang="en-US" dirty="0"/>
          </a:p>
        </p:txBody>
      </p:sp>
    </p:spTree>
  </p:cSld>
  <p:clrMapOvr>
    <a:masterClrMapping/>
  </p:clrMapOvr>
  <p:transition spd="med">
    <p:pull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r>
              <a:rPr lang="zh-CN" altLang="en-US" sz="4800" dirty="0"/>
              <a:t>求补器电路图</a:t>
            </a:r>
            <a:endParaRPr lang="zh-CN" altLang="en-US" sz="4800" dirty="0"/>
          </a:p>
        </p:txBody>
      </p:sp>
      <p:sp>
        <p:nvSpPr>
          <p:cNvPr id="826371" name="Rectangle 3"/>
          <p:cNvSpPr>
            <a:spLocks noGrp="1" noChangeArrowheads="1"/>
          </p:cNvSpPr>
          <p:nvPr>
            <p:ph idx="1"/>
          </p:nvPr>
        </p:nvSpPr>
        <p:spPr>
          <a:xfrm>
            <a:off x="179388" y="1095375"/>
            <a:ext cx="8713787" cy="5610225"/>
          </a:xfrm>
        </p:spPr>
        <p:txBody>
          <a:bodyPr/>
          <a:lstStyle/>
          <a:p>
            <a:pPr marL="0" indent="0" eaLnBrk="1" hangingPunct="1">
              <a:lnSpc>
                <a:spcPct val="80000"/>
              </a:lnSpc>
            </a:pPr>
            <a:r>
              <a:rPr kumimoji="0" lang="zh-CN" altLang="en-US" sz="2800" dirty="0">
                <a:effectLst>
                  <a:outerShdw blurRad="38100" dist="38100" dir="2700000" algn="tl">
                    <a:srgbClr val="C0C0C0"/>
                  </a:outerShdw>
                </a:effectLst>
              </a:rPr>
              <a:t>例：求补</a:t>
            </a:r>
            <a:endParaRPr kumimoji="0" lang="zh-CN" altLang="en-US" sz="2800" dirty="0">
              <a:effectLst>
                <a:outerShdw blurRad="38100" dist="38100" dir="2700000" algn="tl">
                  <a:srgbClr val="C0C0C0"/>
                </a:outerShdw>
              </a:effectLst>
            </a:endParaRPr>
          </a:p>
          <a:p>
            <a:pPr marL="0" indent="0" eaLnBrk="1" hangingPunct="1">
              <a:lnSpc>
                <a:spcPct val="80000"/>
              </a:lnSpc>
              <a:buFont typeface="Wingdings 2" charset="2"/>
              <a:buNone/>
            </a:pPr>
            <a:r>
              <a:rPr kumimoji="0" lang="en-US" altLang="zh-CN" sz="2800" b="0" dirty="0">
                <a:solidFill>
                  <a:srgbClr val="3333CC"/>
                </a:solidFill>
                <a:effectLst>
                  <a:outerShdw blurRad="38100" dist="38100" dir="2700000" algn="tl">
                    <a:srgbClr val="C0C0C0"/>
                  </a:outerShdw>
                </a:effectLst>
              </a:rPr>
              <a:t>1</a:t>
            </a:r>
            <a:r>
              <a:rPr kumimoji="0" lang="zh-CN" altLang="en-US" sz="2800" b="0" dirty="0">
                <a:effectLst>
                  <a:outerShdw blurRad="38100" dist="38100" dir="2700000" algn="tl">
                    <a:srgbClr val="C0C0C0"/>
                  </a:outerShdw>
                </a:effectLst>
              </a:rPr>
              <a:t> </a:t>
            </a:r>
            <a:r>
              <a:rPr kumimoji="0" lang="en-US" altLang="zh-CN" sz="2800" b="0" dirty="0">
                <a:effectLst>
                  <a:outerShdw blurRad="38100" dist="38100" dir="2700000" algn="tl">
                    <a:srgbClr val="C0C0C0"/>
                  </a:outerShdw>
                </a:effectLst>
              </a:rPr>
              <a:t>01010</a:t>
            </a:r>
            <a:r>
              <a:rPr kumimoji="0" lang="en-US" altLang="zh-CN" sz="2800" b="0" dirty="0">
                <a:solidFill>
                  <a:srgbClr val="FF0000"/>
                </a:solidFill>
                <a:effectLst>
                  <a:outerShdw blurRad="38100" dist="38100" dir="2700000" algn="tl">
                    <a:srgbClr val="C0C0C0"/>
                  </a:outerShdw>
                </a:effectLst>
              </a:rPr>
              <a:t>1</a:t>
            </a:r>
            <a:r>
              <a:rPr kumimoji="0" lang="en-US" altLang="zh-CN" sz="2800" b="0" dirty="0">
                <a:effectLst>
                  <a:outerShdw blurRad="38100" dist="38100" dir="2700000" algn="tl">
                    <a:srgbClr val="C0C0C0"/>
                  </a:outerShdw>
                </a:effectLst>
              </a:rPr>
              <a:t>  </a:t>
            </a:r>
            <a:r>
              <a:rPr kumimoji="0" lang="zh-CN" altLang="en-US" sz="2800" baseline="10000" dirty="0"/>
              <a:t>求补</a:t>
            </a:r>
            <a:r>
              <a:rPr kumimoji="0" lang="zh-CN" altLang="en-US" sz="2800" b="0" dirty="0">
                <a:effectLst>
                  <a:outerShdw blurRad="38100" dist="38100" dir="2700000" algn="tl">
                    <a:srgbClr val="C0C0C0"/>
                  </a:outerShdw>
                </a:effectLst>
              </a:rPr>
              <a:t> </a:t>
            </a:r>
            <a:r>
              <a:rPr kumimoji="0" lang="en-US" altLang="zh-CN" sz="2800" b="0" dirty="0">
                <a:solidFill>
                  <a:srgbClr val="3333CC"/>
                </a:solidFill>
                <a:effectLst>
                  <a:outerShdw blurRad="38100" dist="38100" dir="2700000" algn="tl">
                    <a:srgbClr val="C0C0C0"/>
                  </a:outerShdw>
                </a:effectLst>
              </a:rPr>
              <a:t>1</a:t>
            </a:r>
            <a:r>
              <a:rPr kumimoji="0" lang="zh-CN" altLang="en-US" sz="2800" b="0" dirty="0">
                <a:effectLst>
                  <a:outerShdw blurRad="38100" dist="38100" dir="2700000" algn="tl">
                    <a:srgbClr val="C0C0C0"/>
                  </a:outerShdw>
                </a:effectLst>
              </a:rPr>
              <a:t> </a:t>
            </a:r>
            <a:r>
              <a:rPr kumimoji="0" lang="en-US" altLang="zh-CN" sz="2800" b="0" dirty="0">
                <a:effectLst>
                  <a:outerShdw blurRad="38100" dist="38100" dir="2700000" algn="tl">
                    <a:srgbClr val="C0C0C0"/>
                  </a:outerShdw>
                </a:effectLst>
              </a:rPr>
              <a:t>10101</a:t>
            </a:r>
            <a:r>
              <a:rPr kumimoji="0" lang="en-US" altLang="zh-CN" sz="2800" b="0" dirty="0">
                <a:solidFill>
                  <a:srgbClr val="FF0000"/>
                </a:solidFill>
                <a:effectLst>
                  <a:outerShdw blurRad="38100" dist="38100" dir="2700000" algn="tl">
                    <a:srgbClr val="C0C0C0"/>
                  </a:outerShdw>
                </a:effectLst>
              </a:rPr>
              <a:t>1</a:t>
            </a:r>
            <a:r>
              <a:rPr kumimoji="0" lang="zh-CN" altLang="en-US" sz="2800" b="0" dirty="0">
                <a:effectLst>
                  <a:outerShdw blurRad="38100" dist="38100" dir="2700000" algn="tl">
                    <a:srgbClr val="C0C0C0"/>
                  </a:outerShdw>
                </a:effectLst>
              </a:rPr>
              <a:t>； </a:t>
            </a:r>
            <a:r>
              <a:rPr kumimoji="0" lang="en-US" altLang="zh-CN" sz="2800" b="0" dirty="0">
                <a:solidFill>
                  <a:srgbClr val="3333CC"/>
                </a:solidFill>
                <a:effectLst>
                  <a:outerShdw blurRad="38100" dist="38100" dir="2700000" algn="tl">
                    <a:srgbClr val="C0C0C0"/>
                  </a:outerShdw>
                </a:effectLst>
              </a:rPr>
              <a:t>1</a:t>
            </a:r>
            <a:r>
              <a:rPr kumimoji="0" lang="en-US" altLang="zh-CN" sz="2800" b="0" dirty="0">
                <a:effectLst>
                  <a:outerShdw blurRad="38100" dist="38100" dir="2700000" algn="tl">
                    <a:srgbClr val="C0C0C0"/>
                  </a:outerShdw>
                </a:effectLst>
              </a:rPr>
              <a:t> 10</a:t>
            </a:r>
            <a:r>
              <a:rPr kumimoji="0" lang="en-US" altLang="zh-CN" sz="2800" b="0" dirty="0">
                <a:solidFill>
                  <a:srgbClr val="FF0000"/>
                </a:solidFill>
                <a:effectLst>
                  <a:outerShdw blurRad="38100" dist="38100" dir="2700000" algn="tl">
                    <a:srgbClr val="C0C0C0"/>
                  </a:outerShdw>
                </a:effectLst>
              </a:rPr>
              <a:t>1</a:t>
            </a:r>
            <a:r>
              <a:rPr kumimoji="0" lang="en-US" altLang="zh-CN" sz="2800" b="0" dirty="0">
                <a:effectLst>
                  <a:outerShdw blurRad="38100" dist="38100" dir="2700000" algn="tl">
                    <a:srgbClr val="C0C0C0"/>
                  </a:outerShdw>
                </a:effectLst>
              </a:rPr>
              <a:t>000  </a:t>
            </a:r>
            <a:r>
              <a:rPr kumimoji="0" lang="zh-CN" altLang="en-US" sz="2800" baseline="10000" dirty="0"/>
              <a:t>求补</a:t>
            </a:r>
            <a:r>
              <a:rPr kumimoji="0" lang="zh-CN" altLang="en-US" sz="2800" b="0" dirty="0">
                <a:effectLst>
                  <a:outerShdw blurRad="38100" dist="38100" dir="2700000" algn="tl">
                    <a:srgbClr val="C0C0C0"/>
                  </a:outerShdw>
                </a:effectLst>
              </a:rPr>
              <a:t>  </a:t>
            </a:r>
            <a:r>
              <a:rPr kumimoji="0" lang="en-US" altLang="zh-CN" sz="2800" b="0" dirty="0">
                <a:solidFill>
                  <a:srgbClr val="3333CC"/>
                </a:solidFill>
                <a:effectLst>
                  <a:outerShdw blurRad="38100" dist="38100" dir="2700000" algn="tl">
                    <a:srgbClr val="C0C0C0"/>
                  </a:outerShdw>
                </a:effectLst>
              </a:rPr>
              <a:t>1</a:t>
            </a:r>
            <a:r>
              <a:rPr kumimoji="0" lang="en-US" altLang="zh-CN" sz="2800" b="0" dirty="0">
                <a:effectLst>
                  <a:outerShdw blurRad="38100" dist="38100" dir="2700000" algn="tl">
                    <a:srgbClr val="C0C0C0"/>
                  </a:outerShdw>
                </a:effectLst>
              </a:rPr>
              <a:t> 01</a:t>
            </a:r>
            <a:r>
              <a:rPr kumimoji="0" lang="en-US" altLang="zh-CN" sz="2800" b="0" dirty="0">
                <a:solidFill>
                  <a:srgbClr val="FF0000"/>
                </a:solidFill>
                <a:effectLst>
                  <a:outerShdw blurRad="38100" dist="38100" dir="2700000" algn="tl">
                    <a:srgbClr val="C0C0C0"/>
                  </a:outerShdw>
                </a:effectLst>
              </a:rPr>
              <a:t>1</a:t>
            </a:r>
            <a:r>
              <a:rPr kumimoji="0" lang="en-US" altLang="zh-CN" sz="2800" b="0" dirty="0">
                <a:effectLst>
                  <a:outerShdw blurRad="38100" dist="38100" dir="2700000" algn="tl">
                    <a:srgbClr val="C0C0C0"/>
                  </a:outerShdw>
                </a:effectLst>
              </a:rPr>
              <a:t>000</a:t>
            </a:r>
            <a:endParaRPr kumimoji="0" lang="en-US" altLang="zh-CN" sz="2800" b="0" dirty="0">
              <a:effectLst>
                <a:outerShdw blurRad="38100" dist="38100" dir="2700000" algn="tl">
                  <a:srgbClr val="C0C0C0"/>
                </a:outerShdw>
              </a:effectLst>
            </a:endParaRPr>
          </a:p>
          <a:p>
            <a:pPr lvl="1" eaLnBrk="1" hangingPunct="1">
              <a:lnSpc>
                <a:spcPct val="80000"/>
              </a:lnSpc>
            </a:pPr>
            <a:r>
              <a:rPr kumimoji="0" lang="zh-CN" altLang="en-US" sz="2400" dirty="0"/>
              <a:t>从数的最右端开始，从右向左直到找出第一个“</a:t>
            </a:r>
            <a:r>
              <a:rPr kumimoji="0" lang="en-US" altLang="zh-CN" sz="2400" dirty="0"/>
              <a:t>1”</a:t>
            </a:r>
            <a:r>
              <a:rPr kumimoji="0" lang="zh-CN" altLang="en-US" sz="2400" dirty="0"/>
              <a:t>，该“</a:t>
            </a:r>
            <a:r>
              <a:rPr kumimoji="0" lang="en-US" altLang="zh-CN" sz="2400" dirty="0"/>
              <a:t>1” </a:t>
            </a:r>
            <a:r>
              <a:rPr kumimoji="0" lang="zh-CN" altLang="en-US" sz="2400" dirty="0"/>
              <a:t>保持不变，以左的每一个位都求反</a:t>
            </a:r>
            <a:endParaRPr kumimoji="0" lang="zh-CN" altLang="en-US" sz="2400" dirty="0"/>
          </a:p>
          <a:p>
            <a:pPr marL="0" indent="0" eaLnBrk="1" hangingPunct="1">
              <a:lnSpc>
                <a:spcPct val="80000"/>
              </a:lnSpc>
              <a:buFont typeface="Wingdings 2" charset="2"/>
              <a:buNone/>
            </a:pPr>
            <a:r>
              <a:rPr kumimoji="0" lang="en-US" altLang="zh-CN" sz="2400" dirty="0">
                <a:solidFill>
                  <a:srgbClr val="FF0000"/>
                </a:solidFill>
              </a:rPr>
              <a:t>E</a:t>
            </a:r>
            <a:r>
              <a:rPr kumimoji="0" lang="zh-CN" altLang="en-US" sz="2400" dirty="0">
                <a:solidFill>
                  <a:srgbClr val="FF0000"/>
                </a:solidFill>
              </a:rPr>
              <a:t>是符号位</a:t>
            </a:r>
            <a:endParaRPr kumimoji="0" lang="en-US" altLang="zh-CN" sz="2400" dirty="0">
              <a:solidFill>
                <a:srgbClr val="FF0000"/>
              </a:solidFill>
            </a:endParaRPr>
          </a:p>
          <a:p>
            <a:pPr marL="0" indent="0" eaLnBrk="1" hangingPunct="1">
              <a:lnSpc>
                <a:spcPct val="80000"/>
              </a:lnSpc>
              <a:buFont typeface="Wingdings 2" charset="2"/>
              <a:buNone/>
            </a:pPr>
            <a:r>
              <a:rPr kumimoji="0" lang="en-US" altLang="zh-CN" sz="2400" dirty="0"/>
              <a:t>E</a:t>
            </a:r>
            <a:r>
              <a:rPr kumimoji="0" lang="zh-CN" altLang="en-US" sz="2400" dirty="0"/>
              <a:t>＝</a:t>
            </a:r>
            <a:r>
              <a:rPr kumimoji="0" lang="en-US" altLang="zh-CN" sz="2400" dirty="0"/>
              <a:t>0</a:t>
            </a:r>
            <a:r>
              <a:rPr kumimoji="0" lang="zh-CN" altLang="en-US" sz="2400" dirty="0"/>
              <a:t>时输出与输入相等</a:t>
            </a:r>
            <a:endParaRPr kumimoji="0" lang="zh-CN" altLang="en-US" sz="2400" dirty="0"/>
          </a:p>
          <a:p>
            <a:pPr marL="0" indent="0" eaLnBrk="1" hangingPunct="1">
              <a:lnSpc>
                <a:spcPct val="80000"/>
              </a:lnSpc>
              <a:buFont typeface="Wingdings 2" charset="2"/>
              <a:buNone/>
            </a:pPr>
            <a:r>
              <a:rPr kumimoji="0" lang="en-US" altLang="zh-CN" sz="2400" dirty="0"/>
              <a:t>E</a:t>
            </a:r>
            <a:r>
              <a:rPr kumimoji="0" lang="zh-CN" altLang="en-US" sz="2400" dirty="0"/>
              <a:t>＝</a:t>
            </a:r>
            <a:r>
              <a:rPr kumimoji="0" lang="en-US" altLang="zh-CN" sz="2400" dirty="0"/>
              <a:t>1</a:t>
            </a:r>
            <a:r>
              <a:rPr kumimoji="0" lang="zh-CN" altLang="en-US" sz="2400" dirty="0"/>
              <a:t>时对其求补</a:t>
            </a:r>
            <a:endParaRPr kumimoji="0" lang="en-US" altLang="zh-CN" sz="2400" dirty="0"/>
          </a:p>
          <a:p>
            <a:pPr marL="0" indent="0" eaLnBrk="1" hangingPunct="1">
              <a:lnSpc>
                <a:spcPct val="80000"/>
              </a:lnSpc>
              <a:buFont typeface="Wingdings 2" charset="2"/>
              <a:buNone/>
            </a:pPr>
            <a:r>
              <a:rPr kumimoji="0" lang="en-US" altLang="zh-CN" sz="2800" dirty="0"/>
              <a:t>C</a:t>
            </a:r>
            <a:r>
              <a:rPr kumimoji="0" lang="en-US" altLang="zh-CN" sz="2800" baseline="-25000" dirty="0"/>
              <a:t>-1</a:t>
            </a:r>
            <a:r>
              <a:rPr kumimoji="0" lang="en-US" altLang="zh-CN" sz="2800" dirty="0"/>
              <a:t>=0</a:t>
            </a:r>
            <a:endParaRPr kumimoji="0" lang="en-US" altLang="zh-CN" sz="2800" dirty="0"/>
          </a:p>
          <a:p>
            <a:pPr marL="0" indent="0" eaLnBrk="1" hangingPunct="1">
              <a:lnSpc>
                <a:spcPct val="80000"/>
              </a:lnSpc>
              <a:buFont typeface="Wingdings 2" charset="2"/>
              <a:buNone/>
            </a:pPr>
            <a:r>
              <a:rPr kumimoji="0" lang="en-US" altLang="zh-CN" sz="2800" dirty="0"/>
              <a:t>C</a:t>
            </a:r>
            <a:r>
              <a:rPr kumimoji="0" lang="en-US" altLang="zh-CN" sz="2800" baseline="-25000" dirty="0"/>
              <a:t>i</a:t>
            </a:r>
            <a:r>
              <a:rPr kumimoji="0" lang="zh-CN" altLang="en-US" sz="2800" dirty="0"/>
              <a:t>＝</a:t>
            </a:r>
            <a:r>
              <a:rPr kumimoji="0" lang="en-US" altLang="zh-CN" sz="2800" dirty="0"/>
              <a:t>a</a:t>
            </a:r>
            <a:r>
              <a:rPr kumimoji="0" lang="en-US" altLang="zh-CN" sz="2800" baseline="-25000" dirty="0"/>
              <a:t>i</a:t>
            </a:r>
            <a:r>
              <a:rPr kumimoji="0" lang="zh-CN" altLang="en-US" sz="2800" dirty="0"/>
              <a:t>＋</a:t>
            </a:r>
            <a:r>
              <a:rPr kumimoji="0" lang="en-US" altLang="zh-CN" sz="2800" dirty="0"/>
              <a:t>C</a:t>
            </a:r>
            <a:r>
              <a:rPr kumimoji="0" lang="en-US" altLang="zh-CN" sz="2800" baseline="-25000" dirty="0"/>
              <a:t>i</a:t>
            </a:r>
            <a:r>
              <a:rPr kumimoji="0" lang="zh-CN" altLang="en-US" sz="2800" baseline="-25000" dirty="0"/>
              <a:t>－</a:t>
            </a:r>
            <a:r>
              <a:rPr kumimoji="0" lang="en-US" altLang="zh-CN" sz="2800" baseline="-25000" dirty="0"/>
              <a:t>1</a:t>
            </a:r>
            <a:endParaRPr kumimoji="0" lang="en-US" altLang="zh-CN" sz="2800" baseline="-25000" dirty="0"/>
          </a:p>
          <a:p>
            <a:pPr marL="0" indent="0" eaLnBrk="1" hangingPunct="1">
              <a:lnSpc>
                <a:spcPct val="80000"/>
              </a:lnSpc>
              <a:buFont typeface="Wingdings 2" charset="2"/>
              <a:buNone/>
            </a:pPr>
            <a:r>
              <a:rPr kumimoji="0" lang="en-US" altLang="zh-CN" sz="2800" dirty="0"/>
              <a:t>a</a:t>
            </a:r>
            <a:r>
              <a:rPr kumimoji="0" lang="en-US" altLang="zh-CN" sz="2800" baseline="-25000" dirty="0"/>
              <a:t>i</a:t>
            </a:r>
            <a:r>
              <a:rPr kumimoji="0" lang="en-US" altLang="zh-CN" sz="2800" dirty="0"/>
              <a:t>*</a:t>
            </a:r>
            <a:r>
              <a:rPr kumimoji="0" lang="zh-CN" altLang="en-US" sz="2800" dirty="0"/>
              <a:t>＝</a:t>
            </a:r>
            <a:r>
              <a:rPr kumimoji="0" lang="en-US" altLang="zh-CN" sz="2800" dirty="0" err="1"/>
              <a:t>a</a:t>
            </a:r>
            <a:r>
              <a:rPr kumimoji="0" lang="en-US" altLang="zh-CN" sz="2800" baseline="-25000" dirty="0" err="1"/>
              <a:t>i</a:t>
            </a:r>
            <a:r>
              <a:rPr kumimoji="0" lang="en-US" altLang="zh-CN" sz="2800" dirty="0" err="1"/>
              <a:t>⊕EC</a:t>
            </a:r>
            <a:r>
              <a:rPr kumimoji="0" lang="en-US" altLang="zh-CN" sz="2800" baseline="-25000" dirty="0" err="1"/>
              <a:t>i</a:t>
            </a:r>
            <a:r>
              <a:rPr kumimoji="0" lang="zh-CN" altLang="en-US" sz="2800" baseline="-25000" dirty="0"/>
              <a:t>－</a:t>
            </a:r>
            <a:r>
              <a:rPr kumimoji="0" lang="en-US" altLang="zh-CN" sz="2800" baseline="-25000" dirty="0"/>
              <a:t>1</a:t>
            </a:r>
            <a:r>
              <a:rPr kumimoji="0" lang="en-US" altLang="zh-CN" sz="2800" dirty="0"/>
              <a:t> </a:t>
            </a:r>
            <a:endParaRPr kumimoji="0" lang="en-US" altLang="zh-CN" sz="2800" dirty="0"/>
          </a:p>
          <a:p>
            <a:pPr marL="0" indent="0" eaLnBrk="1" hangingPunct="1">
              <a:lnSpc>
                <a:spcPct val="80000"/>
              </a:lnSpc>
              <a:buFont typeface="Wingdings 2" charset="2"/>
              <a:buNone/>
            </a:pPr>
            <a:r>
              <a:rPr kumimoji="0" lang="en-US" altLang="zh-CN" sz="2800" dirty="0"/>
              <a:t>n+1</a:t>
            </a:r>
            <a:r>
              <a:rPr kumimoji="0" lang="zh-CN" altLang="en-US" sz="2800" dirty="0"/>
              <a:t>位</a:t>
            </a:r>
            <a:r>
              <a:rPr kumimoji="0" lang="en-US" altLang="zh-CN" sz="2800" dirty="0"/>
              <a:t>(</a:t>
            </a:r>
            <a:r>
              <a:rPr kumimoji="0" lang="zh-CN" altLang="en-US" sz="2800" dirty="0"/>
              <a:t>不含符号位</a:t>
            </a:r>
            <a:r>
              <a:rPr kumimoji="0" lang="en-US" altLang="zh-CN" sz="2800" dirty="0"/>
              <a:t>)</a:t>
            </a:r>
            <a:r>
              <a:rPr kumimoji="0" lang="zh-CN" altLang="en-US" sz="2800" dirty="0"/>
              <a:t>的时间：</a:t>
            </a:r>
            <a:endParaRPr kumimoji="0" lang="zh-CN" altLang="en-US" sz="2800" dirty="0"/>
          </a:p>
          <a:p>
            <a:pPr marL="0" indent="0" eaLnBrk="1" hangingPunct="1">
              <a:lnSpc>
                <a:spcPct val="80000"/>
              </a:lnSpc>
              <a:buFont typeface="Wingdings 2" charset="2"/>
              <a:buNone/>
            </a:pPr>
            <a:r>
              <a:rPr kumimoji="0" lang="en-US" altLang="zh-CN" sz="2800" dirty="0" err="1"/>
              <a:t>t</a:t>
            </a:r>
            <a:r>
              <a:rPr kumimoji="0" lang="en-US" altLang="zh-CN" sz="2800" baseline="-25000" dirty="0" err="1"/>
              <a:t>TC</a:t>
            </a:r>
            <a:r>
              <a:rPr kumimoji="0" lang="en-US" altLang="zh-CN" sz="2800" dirty="0"/>
              <a:t>=n*2T+5T</a:t>
            </a:r>
            <a:endParaRPr kumimoji="0" lang="en-US" altLang="zh-CN" sz="2800" dirty="0"/>
          </a:p>
          <a:p>
            <a:pPr marL="0" indent="0" eaLnBrk="1" hangingPunct="1">
              <a:lnSpc>
                <a:spcPct val="80000"/>
              </a:lnSpc>
              <a:buFont typeface="Wingdings 2" charset="2"/>
              <a:buNone/>
            </a:pPr>
            <a:r>
              <a:rPr kumimoji="0" lang="en-US" altLang="zh-CN" sz="2800" dirty="0"/>
              <a:t>=(2n+5)T</a:t>
            </a:r>
            <a:endParaRPr kumimoji="0" lang="en-US" altLang="zh-CN" sz="2800" dirty="0"/>
          </a:p>
          <a:p>
            <a:pPr marL="0" indent="0" eaLnBrk="1" hangingPunct="1">
              <a:lnSpc>
                <a:spcPct val="80000"/>
              </a:lnSpc>
              <a:buFont typeface="Wingdings 2" charset="2"/>
              <a:buNone/>
            </a:pPr>
            <a:r>
              <a:rPr kumimoji="0" lang="zh-CN" altLang="en-US" sz="2800" dirty="0"/>
              <a:t>假设：与门、或门延迟为</a:t>
            </a:r>
            <a:r>
              <a:rPr kumimoji="0" lang="en-US" altLang="zh-CN" sz="2800" dirty="0"/>
              <a:t>2T</a:t>
            </a:r>
            <a:r>
              <a:rPr kumimoji="0" lang="zh-CN" altLang="en-US" sz="2800" dirty="0"/>
              <a:t>，异或门延迟为</a:t>
            </a:r>
            <a:r>
              <a:rPr kumimoji="0" lang="en-US" altLang="zh-CN" sz="2800" dirty="0"/>
              <a:t>3T</a:t>
            </a:r>
            <a:endParaRPr kumimoji="0" lang="en-US" altLang="zh-CN" sz="2800" dirty="0"/>
          </a:p>
        </p:txBody>
      </p:sp>
      <p:sp>
        <p:nvSpPr>
          <p:cNvPr id="44036" name="Line 5"/>
          <p:cNvSpPr>
            <a:spLocks noChangeShapeType="1"/>
          </p:cNvSpPr>
          <p:nvPr/>
        </p:nvSpPr>
        <p:spPr bwMode="auto">
          <a:xfrm>
            <a:off x="1619250" y="1628775"/>
            <a:ext cx="792163" cy="0"/>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37" name="Line 6"/>
          <p:cNvSpPr>
            <a:spLocks noChangeShapeType="1"/>
          </p:cNvSpPr>
          <p:nvPr/>
        </p:nvSpPr>
        <p:spPr bwMode="auto">
          <a:xfrm>
            <a:off x="5508625" y="1628775"/>
            <a:ext cx="792163" cy="0"/>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826375" name="Picture 7" descr="p1"/>
          <p:cNvPicPr>
            <a:picLocks noChangeAspect="1" noChangeArrowheads="1"/>
          </p:cNvPicPr>
          <p:nvPr/>
        </p:nvPicPr>
        <p:blipFill>
          <a:blip r:embed="rId1">
            <a:extLst>
              <a:ext uri="{28A0092B-C50C-407E-A947-70E740481C1C}">
                <a14:useLocalDpi xmlns:a14="http://schemas.microsoft.com/office/drawing/2010/main" val="0"/>
              </a:ext>
            </a:extLst>
          </a:blip>
          <a:srcRect l="1782"/>
          <a:stretch>
            <a:fillRect/>
          </a:stretch>
        </p:blipFill>
        <p:spPr bwMode="auto">
          <a:xfrm>
            <a:off x="4427538" y="2505869"/>
            <a:ext cx="4716462" cy="332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6375"/>
                                        </p:tgtEl>
                                        <p:attrNameLst>
                                          <p:attrName>style.visibility</p:attrName>
                                        </p:attrNameLst>
                                      </p:cBhvr>
                                      <p:to>
                                        <p:strVal val="visible"/>
                                      </p:to>
                                    </p:set>
                                    <p:animEffect transition="in" filter="blinds(horizontal)">
                                      <p:cBhvr>
                                        <p:cTn id="7" dur="500"/>
                                        <p:tgtEl>
                                          <p:spTgt spid="82637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26371">
                                            <p:txEl>
                                              <p:pRg st="10" end="10"/>
                                            </p:txEl>
                                          </p:spTgt>
                                        </p:tgtEl>
                                        <p:attrNameLst>
                                          <p:attrName>style.visibility</p:attrName>
                                        </p:attrNameLst>
                                      </p:cBhvr>
                                      <p:to>
                                        <p:strVal val="visible"/>
                                      </p:to>
                                    </p:set>
                                    <p:animEffect transition="in" filter="blinds(horizontal)">
                                      <p:cBhvr>
                                        <p:cTn id="12" dur="500"/>
                                        <p:tgtEl>
                                          <p:spTgt spid="826371">
                                            <p:txEl>
                                              <p:pRg st="10" end="1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26371">
                                            <p:txEl>
                                              <p:pRg st="11" end="11"/>
                                            </p:txEl>
                                          </p:spTgt>
                                        </p:tgtEl>
                                        <p:attrNameLst>
                                          <p:attrName>style.visibility</p:attrName>
                                        </p:attrNameLst>
                                      </p:cBhvr>
                                      <p:to>
                                        <p:strVal val="visible"/>
                                      </p:to>
                                    </p:set>
                                    <p:animEffect transition="in" filter="blinds(horizontal)">
                                      <p:cBhvr>
                                        <p:cTn id="15" dur="500"/>
                                        <p:tgtEl>
                                          <p:spTgt spid="826371">
                                            <p:txEl>
                                              <p:pRg st="11" end="1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826371">
                                            <p:txEl>
                                              <p:pRg st="12" end="12"/>
                                            </p:txEl>
                                          </p:spTgt>
                                        </p:tgtEl>
                                        <p:attrNameLst>
                                          <p:attrName>style.visibility</p:attrName>
                                        </p:attrNameLst>
                                      </p:cBhvr>
                                      <p:to>
                                        <p:strVal val="visible"/>
                                      </p:to>
                                    </p:set>
                                    <p:animEffect transition="in" filter="blinds(horizontal)">
                                      <p:cBhvr>
                                        <p:cTn id="18" dur="500"/>
                                        <p:tgtEl>
                                          <p:spTgt spid="82637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Rectangle 2"/>
          <p:cNvSpPr>
            <a:spLocks noGrp="1" noChangeArrowheads="1"/>
          </p:cNvSpPr>
          <p:nvPr>
            <p:ph type="title"/>
          </p:nvPr>
        </p:nvSpPr>
        <p:spPr/>
        <p:txBody>
          <a:bodyPr/>
          <a:lstStyle/>
          <a:p>
            <a:pPr eaLnBrk="1" hangingPunct="1"/>
            <a:r>
              <a:rPr lang="en-US" altLang="zh-CN" dirty="0"/>
              <a:t>n+1</a:t>
            </a:r>
            <a:r>
              <a:rPr lang="zh-CN" altLang="en-US" dirty="0"/>
              <a:t>位间接补码阵列乘法器</a:t>
            </a:r>
            <a:endParaRPr lang="zh-CN" altLang="en-US" dirty="0"/>
          </a:p>
        </p:txBody>
      </p:sp>
      <p:sp>
        <p:nvSpPr>
          <p:cNvPr id="45058" name="Rectangle 3"/>
          <p:cNvSpPr>
            <a:spLocks noGrp="1" noChangeArrowheads="1"/>
          </p:cNvSpPr>
          <p:nvPr>
            <p:ph idx="1"/>
          </p:nvPr>
        </p:nvSpPr>
        <p:spPr>
          <a:xfrm>
            <a:off x="179388" y="1152525"/>
            <a:ext cx="1882775" cy="5400675"/>
          </a:xfrm>
        </p:spPr>
        <p:txBody>
          <a:bodyPr/>
          <a:lstStyle/>
          <a:p>
            <a:pPr marL="0" indent="0" eaLnBrk="1" hangingPunct="1">
              <a:buFont typeface="Wingdings 2" charset="2"/>
              <a:buNone/>
            </a:pPr>
            <a:r>
              <a:rPr lang="zh-CN" altLang="en-US" sz="2800" dirty="0"/>
              <a:t>三个求补器</a:t>
            </a:r>
            <a:r>
              <a:rPr lang="en-US" altLang="zh-CN" sz="2800" dirty="0"/>
              <a:t>:</a:t>
            </a:r>
            <a:endParaRPr lang="en-US" altLang="zh-CN" sz="2800" dirty="0"/>
          </a:p>
          <a:p>
            <a:pPr marL="0" indent="0" eaLnBrk="1" hangingPunct="1"/>
            <a:r>
              <a:rPr lang="zh-CN" altLang="en-US" sz="2800" dirty="0"/>
              <a:t>两个</a:t>
            </a:r>
            <a:r>
              <a:rPr lang="en-US" altLang="zh-CN" sz="2800" dirty="0"/>
              <a:t>n</a:t>
            </a:r>
            <a:r>
              <a:rPr lang="zh-CN" altLang="en-US" sz="2800" dirty="0"/>
              <a:t>位算前求补器</a:t>
            </a:r>
            <a:endParaRPr lang="zh-CN" altLang="en-US" sz="2800" dirty="0"/>
          </a:p>
          <a:p>
            <a:pPr marL="0" indent="0" eaLnBrk="1" hangingPunct="1"/>
            <a:r>
              <a:rPr lang="zh-CN" altLang="en-US" sz="2800" dirty="0"/>
              <a:t>一个</a:t>
            </a:r>
            <a:r>
              <a:rPr lang="en-US" altLang="zh-CN" sz="2800" dirty="0"/>
              <a:t>2n</a:t>
            </a:r>
            <a:r>
              <a:rPr lang="zh-CN" altLang="en-US" sz="2800" dirty="0"/>
              <a:t>位算后求补器</a:t>
            </a:r>
            <a:endParaRPr lang="zh-CN" altLang="en-US" sz="2800" dirty="0"/>
          </a:p>
          <a:p>
            <a:pPr marL="0" indent="0" eaLnBrk="1" hangingPunct="1">
              <a:buFont typeface="Wingdings 2" charset="2"/>
              <a:buNone/>
            </a:pPr>
            <a:r>
              <a:rPr lang="en-US" altLang="zh-CN" sz="2800" dirty="0" err="1"/>
              <a:t>n×n</a:t>
            </a:r>
            <a:r>
              <a:rPr lang="zh-CN" altLang="en-US" sz="2800" dirty="0"/>
              <a:t>位不带符号的乘法阵列</a:t>
            </a:r>
            <a:endParaRPr lang="zh-CN" altLang="en-US" sz="2800" dirty="0"/>
          </a:p>
        </p:txBody>
      </p:sp>
      <p:pic>
        <p:nvPicPr>
          <p:cNvPr id="45060" name="Picture 4" descr="p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39975" y="1143000"/>
            <a:ext cx="6769100" cy="531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p:cNvSpPr>
            <a:spLocks noGrp="1" noChangeArrowheads="1"/>
          </p:cNvSpPr>
          <p:nvPr>
            <p:ph type="title"/>
          </p:nvPr>
        </p:nvSpPr>
        <p:spPr/>
        <p:txBody>
          <a:bodyPr/>
          <a:lstStyle/>
          <a:p>
            <a:pPr eaLnBrk="1" hangingPunct="1">
              <a:defRPr/>
            </a:pPr>
            <a:r>
              <a:rPr lang="zh-CN" altLang="en-US"/>
              <a:t>例</a:t>
            </a:r>
            <a:endParaRPr lang="zh-CN" altLang="en-US"/>
          </a:p>
        </p:txBody>
      </p:sp>
      <p:sp>
        <p:nvSpPr>
          <p:cNvPr id="46082" name="Rectangle 3"/>
          <p:cNvSpPr>
            <a:spLocks noGrp="1" noChangeArrowheads="1"/>
          </p:cNvSpPr>
          <p:nvPr>
            <p:ph idx="1"/>
          </p:nvPr>
        </p:nvSpPr>
        <p:spPr>
          <a:xfrm>
            <a:off x="228600" y="1098550"/>
            <a:ext cx="8686800" cy="5683250"/>
          </a:xfrm>
        </p:spPr>
        <p:txBody>
          <a:bodyPr/>
          <a:lstStyle/>
          <a:p>
            <a:pPr marL="0" indent="0" eaLnBrk="1" hangingPunct="1">
              <a:lnSpc>
                <a:spcPct val="80000"/>
              </a:lnSpc>
              <a:buFont typeface="Wingdings 2" charset="2"/>
              <a:buNone/>
            </a:pPr>
            <a:r>
              <a:rPr lang="zh-CN" altLang="en-US" sz="2400" dirty="0"/>
              <a:t>设ｘ＝＋</a:t>
            </a:r>
            <a:r>
              <a:rPr lang="en-US" altLang="zh-CN" sz="2400" dirty="0"/>
              <a:t>15</a:t>
            </a:r>
            <a:r>
              <a:rPr lang="zh-CN" altLang="en-US" sz="2400" dirty="0"/>
              <a:t>，ｙ＝</a:t>
            </a:r>
            <a:r>
              <a:rPr lang="en-US" altLang="zh-CN" sz="2400" dirty="0">
                <a:latin typeface="宋体" panose="02010600030101010101" pitchFamily="2" charset="-122"/>
                <a:ea typeface="宋体" panose="02010600030101010101" pitchFamily="2" charset="-122"/>
              </a:rPr>
              <a:t>–</a:t>
            </a:r>
            <a:r>
              <a:rPr lang="en-US" altLang="zh-CN" sz="2400" dirty="0"/>
              <a:t>13</a:t>
            </a:r>
            <a:r>
              <a:rPr lang="zh-CN" altLang="en-US" sz="2400" dirty="0"/>
              <a:t>，</a:t>
            </a:r>
            <a:r>
              <a:rPr lang="en-US" altLang="zh-CN" sz="2400" dirty="0"/>
              <a:t> </a:t>
            </a:r>
            <a:r>
              <a:rPr lang="zh-CN" altLang="en-US" sz="2400" dirty="0"/>
              <a:t>已知机器补码表示有符号数，请用间接补码阵列乘法器求出乘积ｘ</a:t>
            </a:r>
            <a:r>
              <a:rPr lang="en-US" altLang="zh-CN" sz="2400" dirty="0">
                <a:latin typeface="仿宋" panose="02010609060101010101" pitchFamily="49" charset="-122"/>
                <a:ea typeface="仿宋" panose="02010609060101010101" pitchFamily="49" charset="-122"/>
              </a:rPr>
              <a:t>×</a:t>
            </a:r>
            <a:r>
              <a:rPr lang="zh-CN" altLang="en-US" sz="2400" dirty="0"/>
              <a:t>ｙ＝？</a:t>
            </a:r>
            <a:endParaRPr lang="zh-CN" altLang="en-US" sz="2400" dirty="0"/>
          </a:p>
          <a:p>
            <a:pPr marL="0" indent="0" eaLnBrk="1" hangingPunct="1">
              <a:lnSpc>
                <a:spcPct val="80000"/>
              </a:lnSpc>
              <a:buFont typeface="Wingdings 2" charset="2"/>
              <a:buNone/>
            </a:pPr>
            <a:r>
              <a:rPr lang="en-US" altLang="zh-CN" sz="2400" dirty="0"/>
              <a:t>[</a:t>
            </a:r>
            <a:r>
              <a:rPr lang="zh-CN" altLang="en-US" sz="2400" i="1" dirty="0"/>
              <a:t>ｘ</a:t>
            </a:r>
            <a:r>
              <a:rPr lang="en-US" altLang="zh-CN" sz="2400" dirty="0"/>
              <a:t>]</a:t>
            </a:r>
            <a:r>
              <a:rPr lang="zh-CN" altLang="en-US" sz="2400" baseline="-25000" dirty="0"/>
              <a:t>补 </a:t>
            </a:r>
            <a:r>
              <a:rPr lang="zh-CN" altLang="en-US" sz="2400" dirty="0"/>
              <a:t>＝</a:t>
            </a:r>
            <a:r>
              <a:rPr lang="en-US" altLang="zh-CN" sz="2400" dirty="0"/>
              <a:t>01111</a:t>
            </a:r>
            <a:r>
              <a:rPr lang="zh-CN" altLang="en-US" sz="2400" dirty="0"/>
              <a:t>　　　 </a:t>
            </a:r>
            <a:r>
              <a:rPr lang="en-US" altLang="zh-CN" sz="2400" dirty="0"/>
              <a:t>[</a:t>
            </a:r>
            <a:r>
              <a:rPr lang="zh-CN" altLang="en-US" sz="2400" i="1" dirty="0"/>
              <a:t>ｙ</a:t>
            </a:r>
            <a:r>
              <a:rPr lang="en-US" altLang="zh-CN" sz="2400" dirty="0"/>
              <a:t>]</a:t>
            </a:r>
            <a:r>
              <a:rPr lang="zh-CN" altLang="en-US" sz="2400" baseline="-25000" dirty="0"/>
              <a:t>补</a:t>
            </a:r>
            <a:r>
              <a:rPr lang="zh-CN" altLang="en-US" sz="2400" dirty="0"/>
              <a:t> ＝ </a:t>
            </a:r>
            <a:r>
              <a:rPr lang="en-US" altLang="zh-CN" sz="2400" dirty="0"/>
              <a:t>10011 </a:t>
            </a:r>
            <a:endParaRPr lang="en-US" altLang="zh-CN" sz="2400" dirty="0"/>
          </a:p>
          <a:p>
            <a:pPr marL="0" indent="0" eaLnBrk="1" hangingPunct="1">
              <a:lnSpc>
                <a:spcPct val="80000"/>
              </a:lnSpc>
              <a:buFont typeface="Wingdings 2" charset="2"/>
              <a:buNone/>
            </a:pPr>
            <a:r>
              <a:rPr lang="zh-CN" altLang="en-US" sz="2400" dirty="0"/>
              <a:t>算前求补器输出 </a:t>
            </a:r>
            <a:r>
              <a:rPr lang="en-US" altLang="zh-CN" sz="2400" dirty="0"/>
              <a:t>|</a:t>
            </a:r>
            <a:r>
              <a:rPr lang="zh-CN" altLang="en-US" sz="2400" dirty="0"/>
              <a:t>ｘ</a:t>
            </a:r>
            <a:r>
              <a:rPr lang="en-US" altLang="zh-CN" sz="2400" dirty="0"/>
              <a:t>|</a:t>
            </a:r>
            <a:r>
              <a:rPr lang="zh-CN" altLang="en-US" sz="2400" dirty="0"/>
              <a:t>＝</a:t>
            </a:r>
            <a:r>
              <a:rPr lang="en-US" altLang="zh-CN" sz="2400" dirty="0"/>
              <a:t>1111</a:t>
            </a:r>
            <a:r>
              <a:rPr lang="zh-CN" altLang="en-US" sz="2400" dirty="0"/>
              <a:t>，</a:t>
            </a:r>
            <a:r>
              <a:rPr lang="en-US" altLang="zh-CN" sz="2400" dirty="0"/>
              <a:t>|</a:t>
            </a:r>
            <a:r>
              <a:rPr lang="zh-CN" altLang="en-US" sz="2400" dirty="0"/>
              <a:t>ｙ</a:t>
            </a:r>
            <a:r>
              <a:rPr lang="en-US" altLang="zh-CN" sz="2400" dirty="0"/>
              <a:t>|</a:t>
            </a:r>
            <a:r>
              <a:rPr lang="zh-CN" altLang="en-US" sz="2400" dirty="0"/>
              <a:t>＝</a:t>
            </a:r>
            <a:r>
              <a:rPr lang="en-US" altLang="zh-CN" sz="2400" dirty="0"/>
              <a:t>1101</a:t>
            </a:r>
            <a:endParaRPr lang="en-US" altLang="zh-CN" sz="2400" dirty="0"/>
          </a:p>
          <a:p>
            <a:pPr marL="0" indent="0" eaLnBrk="1" hangingPunct="1">
              <a:lnSpc>
                <a:spcPct val="80000"/>
              </a:lnSpc>
              <a:buFont typeface="Wingdings 2" charset="2"/>
              <a:buNone/>
            </a:pPr>
            <a:r>
              <a:rPr lang="en-US" altLang="zh-CN" sz="2000" dirty="0"/>
              <a:t> </a:t>
            </a:r>
            <a:endParaRPr lang="en-US" altLang="zh-CN" sz="2000" dirty="0"/>
          </a:p>
          <a:p>
            <a:pPr marL="0" indent="0" eaLnBrk="1" hangingPunct="1">
              <a:lnSpc>
                <a:spcPct val="80000"/>
              </a:lnSpc>
              <a:buFont typeface="Wingdings 2" charset="2"/>
              <a:buNone/>
            </a:pPr>
            <a:endParaRPr lang="en-US" altLang="zh-CN" sz="2000" dirty="0"/>
          </a:p>
          <a:p>
            <a:pPr marL="0" indent="0" eaLnBrk="1" hangingPunct="1">
              <a:lnSpc>
                <a:spcPct val="80000"/>
              </a:lnSpc>
              <a:buFont typeface="Wingdings 2" charset="2"/>
              <a:buNone/>
            </a:pPr>
            <a:endParaRPr lang="en-US" altLang="zh-CN" sz="2000" dirty="0"/>
          </a:p>
          <a:p>
            <a:pPr marL="0" indent="0" eaLnBrk="1" hangingPunct="1">
              <a:lnSpc>
                <a:spcPct val="80000"/>
              </a:lnSpc>
              <a:buFont typeface="Wingdings 2" charset="2"/>
              <a:buNone/>
            </a:pPr>
            <a:endParaRPr lang="en-US" altLang="zh-CN" sz="2000" dirty="0"/>
          </a:p>
          <a:p>
            <a:pPr marL="0" indent="0" eaLnBrk="1" hangingPunct="1">
              <a:lnSpc>
                <a:spcPct val="80000"/>
              </a:lnSpc>
              <a:buFont typeface="Wingdings 2" charset="2"/>
              <a:buNone/>
            </a:pPr>
            <a:endParaRPr lang="en-US" altLang="zh-CN" sz="2000" dirty="0"/>
          </a:p>
          <a:p>
            <a:pPr marL="0" indent="0" eaLnBrk="1" hangingPunct="1">
              <a:lnSpc>
                <a:spcPct val="80000"/>
              </a:lnSpc>
              <a:buFont typeface="Wingdings 2" charset="2"/>
              <a:buNone/>
            </a:pPr>
            <a:endParaRPr lang="en-US" altLang="zh-CN" sz="2000" dirty="0"/>
          </a:p>
          <a:p>
            <a:pPr marL="0" indent="0" eaLnBrk="1" hangingPunct="1">
              <a:lnSpc>
                <a:spcPct val="80000"/>
              </a:lnSpc>
              <a:buFont typeface="Wingdings 2" charset="2"/>
              <a:buNone/>
            </a:pPr>
            <a:endParaRPr lang="en-US" altLang="zh-CN" sz="2400" dirty="0"/>
          </a:p>
          <a:p>
            <a:pPr marL="0" indent="0" eaLnBrk="1" hangingPunct="1">
              <a:lnSpc>
                <a:spcPct val="80000"/>
              </a:lnSpc>
              <a:buFont typeface="Wingdings 2" charset="2"/>
              <a:buNone/>
            </a:pPr>
            <a:r>
              <a:rPr lang="zh-CN" altLang="en-US" sz="2400" dirty="0"/>
              <a:t>算后求补级输出并加上乘积符号位</a:t>
            </a:r>
            <a:r>
              <a:rPr lang="en-US" altLang="zh-CN" sz="2400" dirty="0"/>
              <a:t>1</a:t>
            </a:r>
            <a:r>
              <a:rPr lang="zh-CN" altLang="en-US" sz="2400" dirty="0"/>
              <a:t>，得</a:t>
            </a:r>
            <a:endParaRPr lang="zh-CN" altLang="en-US" sz="2400" dirty="0"/>
          </a:p>
          <a:p>
            <a:pPr marL="0" indent="0" eaLnBrk="1" hangingPunct="1">
              <a:lnSpc>
                <a:spcPct val="80000"/>
              </a:lnSpc>
              <a:buFont typeface="Wingdings 2" charset="2"/>
              <a:buNone/>
            </a:pPr>
            <a:r>
              <a:rPr lang="en-US" altLang="zh-CN" sz="2400" dirty="0"/>
              <a:t>[</a:t>
            </a:r>
            <a:r>
              <a:rPr lang="zh-CN" altLang="en-US" sz="2400" dirty="0"/>
              <a:t>ｘ</a:t>
            </a:r>
            <a:r>
              <a:rPr lang="en-US" altLang="zh-CN" sz="2400" dirty="0"/>
              <a:t>× y]</a:t>
            </a:r>
            <a:r>
              <a:rPr lang="zh-CN" altLang="en-US" sz="2400" baseline="-25000" dirty="0"/>
              <a:t>补 </a:t>
            </a:r>
            <a:r>
              <a:rPr lang="zh-CN" altLang="en-US" sz="2400" dirty="0"/>
              <a:t>＝ </a:t>
            </a:r>
            <a:r>
              <a:rPr lang="en-US" altLang="zh-CN" sz="2400" dirty="0"/>
              <a:t>100111101</a:t>
            </a:r>
            <a:endParaRPr lang="en-US" altLang="zh-CN" sz="2400" dirty="0"/>
          </a:p>
          <a:p>
            <a:pPr marL="0" indent="0" eaLnBrk="1" hangingPunct="1">
              <a:lnSpc>
                <a:spcPct val="80000"/>
              </a:lnSpc>
              <a:buFont typeface="Wingdings 2" charset="2"/>
              <a:buNone/>
            </a:pPr>
            <a:r>
              <a:rPr lang="zh-CN" altLang="en-US" sz="2400" dirty="0"/>
              <a:t>二进制数真值</a:t>
            </a:r>
            <a:r>
              <a:rPr lang="en-US" altLang="zh-CN" sz="2400" dirty="0"/>
              <a:t>: </a:t>
            </a:r>
            <a:r>
              <a:rPr lang="zh-CN" altLang="en-US" sz="2400" i="1" dirty="0"/>
              <a:t>ｘ</a:t>
            </a:r>
            <a:r>
              <a:rPr lang="en-US" altLang="zh-CN" sz="2400" dirty="0"/>
              <a:t>×</a:t>
            </a:r>
            <a:r>
              <a:rPr lang="zh-CN" altLang="en-US" sz="2400" i="1" dirty="0"/>
              <a:t>ｙ</a:t>
            </a:r>
            <a:r>
              <a:rPr lang="zh-CN" altLang="en-US" sz="2400" dirty="0"/>
              <a:t>＝</a:t>
            </a:r>
            <a:r>
              <a:rPr lang="en-US" altLang="zh-CN" sz="2400" dirty="0"/>
              <a:t>( </a:t>
            </a:r>
            <a:r>
              <a:rPr lang="zh-CN" altLang="en-US" sz="2400" dirty="0"/>
              <a:t>－</a:t>
            </a:r>
            <a:r>
              <a:rPr lang="en-US" altLang="zh-CN" sz="2400" dirty="0"/>
              <a:t>11000011)</a:t>
            </a:r>
            <a:r>
              <a:rPr lang="en-US" altLang="zh-CN" sz="2400" baseline="-25000" dirty="0"/>
              <a:t>2</a:t>
            </a:r>
            <a:r>
              <a:rPr lang="en-US" altLang="zh-CN" sz="2400" dirty="0"/>
              <a:t>=(-195)</a:t>
            </a:r>
            <a:r>
              <a:rPr lang="en-US" altLang="zh-CN" sz="2400" baseline="-25000" dirty="0"/>
              <a:t>10</a:t>
            </a:r>
            <a:endParaRPr lang="en-US" altLang="zh-CN" sz="2400" baseline="-25000" dirty="0"/>
          </a:p>
          <a:p>
            <a:pPr marL="0" indent="0" eaLnBrk="1" hangingPunct="1">
              <a:lnSpc>
                <a:spcPct val="80000"/>
              </a:lnSpc>
              <a:buFont typeface="Wingdings 2" charset="2"/>
              <a:buNone/>
            </a:pPr>
            <a:r>
              <a:rPr lang="zh-CN" altLang="en-US" sz="2400" dirty="0"/>
              <a:t>十进制数验证：</a:t>
            </a:r>
            <a:r>
              <a:rPr lang="zh-CN" altLang="en-US" sz="2400" i="1" dirty="0"/>
              <a:t>ｘ</a:t>
            </a:r>
            <a:r>
              <a:rPr lang="en-US" altLang="zh-CN" sz="2400" dirty="0"/>
              <a:t>×</a:t>
            </a:r>
            <a:r>
              <a:rPr lang="zh-CN" altLang="en-US" sz="2400" dirty="0"/>
              <a:t>ｙ ＝ </a:t>
            </a:r>
            <a:r>
              <a:rPr lang="en-US" altLang="zh-CN" sz="2400" dirty="0"/>
              <a:t>15× (</a:t>
            </a:r>
            <a:r>
              <a:rPr lang="zh-CN" altLang="en-US" sz="2400" dirty="0"/>
              <a:t>－</a:t>
            </a:r>
            <a:r>
              <a:rPr lang="en-US" altLang="zh-CN" sz="2400" dirty="0"/>
              <a:t>13) </a:t>
            </a:r>
            <a:r>
              <a:rPr lang="zh-CN" altLang="en-US" sz="2400" dirty="0"/>
              <a:t>＝ －</a:t>
            </a:r>
            <a:r>
              <a:rPr lang="en-US" altLang="zh-CN" sz="2400" dirty="0"/>
              <a:t>195</a:t>
            </a:r>
            <a:r>
              <a:rPr lang="zh-CN" altLang="en-US" sz="2400" dirty="0"/>
              <a:t>相等。</a:t>
            </a:r>
            <a:r>
              <a:rPr lang="zh-CN" altLang="en-US" sz="1800" dirty="0"/>
              <a:t> </a:t>
            </a:r>
            <a:endParaRPr lang="zh-CN" altLang="en-US" sz="1800" dirty="0"/>
          </a:p>
        </p:txBody>
      </p:sp>
      <p:pic>
        <p:nvPicPr>
          <p:cNvPr id="46084" name="Picture 4"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1050" y="2460625"/>
            <a:ext cx="5546725"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2.4 </a:t>
            </a:r>
            <a:r>
              <a:rPr lang="zh-CN" altLang="en-US" dirty="0"/>
              <a:t>定点除法运算</a:t>
            </a:r>
            <a:endParaRPr lang="zh-CN"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Rectangle 2"/>
          <p:cNvSpPr>
            <a:spLocks noGrp="1" noChangeArrowheads="1"/>
          </p:cNvSpPr>
          <p:nvPr>
            <p:ph type="title"/>
          </p:nvPr>
        </p:nvSpPr>
        <p:spPr/>
        <p:txBody>
          <a:bodyPr/>
          <a:lstStyle/>
          <a:p>
            <a:pPr eaLnBrk="1" hangingPunct="1"/>
            <a:r>
              <a:rPr lang="zh-CN" altLang="en-US"/>
              <a:t>原码除法运算原理</a:t>
            </a:r>
            <a:endParaRPr lang="zh-CN" altLang="en-US"/>
          </a:p>
        </p:txBody>
      </p:sp>
      <p:sp>
        <p:nvSpPr>
          <p:cNvPr id="49154" name="Rectangle 3"/>
          <p:cNvSpPr>
            <a:spLocks noGrp="1" noChangeArrowheads="1"/>
          </p:cNvSpPr>
          <p:nvPr>
            <p:ph idx="1"/>
          </p:nvPr>
        </p:nvSpPr>
        <p:spPr>
          <a:xfrm>
            <a:off x="263525" y="1093694"/>
            <a:ext cx="8616950" cy="5248275"/>
          </a:xfrm>
        </p:spPr>
        <p:txBody>
          <a:bodyPr/>
          <a:lstStyle/>
          <a:p>
            <a:pPr eaLnBrk="1" hangingPunct="1"/>
            <a:r>
              <a:rPr lang="zh-CN" altLang="en-US" dirty="0"/>
              <a:t>设有</a:t>
            </a:r>
            <a:r>
              <a:rPr lang="en-US" altLang="zh-CN" dirty="0"/>
              <a:t>n</a:t>
            </a:r>
            <a:r>
              <a:rPr lang="zh-CN" altLang="en-US" dirty="0"/>
              <a:t>位定点小数（定点整数也适用）</a:t>
            </a:r>
            <a:endParaRPr lang="zh-CN" altLang="en-US" dirty="0"/>
          </a:p>
          <a:p>
            <a:pPr lvl="1" eaLnBrk="1" hangingPunct="1">
              <a:buFont typeface="Wingdings" panose="05000000000000000000" pitchFamily="2" charset="2"/>
              <a:buNone/>
            </a:pPr>
            <a:r>
              <a:rPr lang="zh-CN" altLang="en-US" dirty="0"/>
              <a:t>被除数</a:t>
            </a:r>
            <a:r>
              <a:rPr lang="en-US" altLang="zh-CN" dirty="0"/>
              <a:t>x</a:t>
            </a:r>
            <a:r>
              <a:rPr lang="zh-CN" altLang="en-US" dirty="0"/>
              <a:t>，其原码为</a:t>
            </a:r>
            <a:r>
              <a:rPr lang="en-US" altLang="zh-CN" dirty="0"/>
              <a:t>[x]</a:t>
            </a:r>
            <a:r>
              <a:rPr lang="zh-CN" altLang="en-US" baseline="-25000" dirty="0"/>
              <a:t>原</a:t>
            </a:r>
            <a:r>
              <a:rPr lang="zh-CN" altLang="en-US" dirty="0"/>
              <a:t>＝</a:t>
            </a:r>
            <a:r>
              <a:rPr lang="en-US" altLang="zh-CN" dirty="0"/>
              <a:t>x</a:t>
            </a:r>
            <a:r>
              <a:rPr lang="en-US" altLang="zh-CN" baseline="-25000" dirty="0"/>
              <a:t>f</a:t>
            </a:r>
            <a:r>
              <a:rPr lang="en-US" altLang="zh-CN" dirty="0"/>
              <a:t>.x</a:t>
            </a:r>
            <a:r>
              <a:rPr lang="en-US" altLang="zh-CN" baseline="-25000" dirty="0"/>
              <a:t>n-1</a:t>
            </a:r>
            <a:r>
              <a:rPr lang="en-US" altLang="zh-CN" dirty="0"/>
              <a:t>…x</a:t>
            </a:r>
            <a:r>
              <a:rPr lang="en-US" altLang="zh-CN" baseline="-25000" dirty="0"/>
              <a:t>1</a:t>
            </a:r>
            <a:r>
              <a:rPr lang="en-US" altLang="zh-CN" dirty="0"/>
              <a:t>x</a:t>
            </a:r>
            <a:r>
              <a:rPr lang="en-US" altLang="zh-CN" baseline="-25000" dirty="0"/>
              <a:t>0</a:t>
            </a:r>
            <a:endParaRPr lang="en-US" altLang="zh-CN" baseline="-25000" dirty="0"/>
          </a:p>
          <a:p>
            <a:pPr lvl="1" eaLnBrk="1" hangingPunct="1">
              <a:buFont typeface="Wingdings" panose="05000000000000000000" pitchFamily="2" charset="2"/>
              <a:buNone/>
            </a:pPr>
            <a:r>
              <a:rPr lang="zh-CN" altLang="en-US" dirty="0"/>
              <a:t>　除数</a:t>
            </a:r>
            <a:r>
              <a:rPr lang="en-US" altLang="zh-CN" dirty="0"/>
              <a:t>y</a:t>
            </a:r>
            <a:r>
              <a:rPr lang="zh-CN" altLang="en-US" dirty="0"/>
              <a:t>，其原码为</a:t>
            </a:r>
            <a:r>
              <a:rPr lang="en-US" altLang="zh-CN" dirty="0"/>
              <a:t>[y]</a:t>
            </a:r>
            <a:r>
              <a:rPr lang="zh-CN" altLang="en-US" baseline="-25000" dirty="0"/>
              <a:t>原</a:t>
            </a:r>
            <a:r>
              <a:rPr lang="zh-CN" altLang="en-US" dirty="0"/>
              <a:t>＝</a:t>
            </a:r>
            <a:r>
              <a:rPr lang="en-US" altLang="zh-CN" dirty="0"/>
              <a:t>y</a:t>
            </a:r>
            <a:r>
              <a:rPr lang="en-US" altLang="zh-CN" baseline="-25000" dirty="0"/>
              <a:t>f</a:t>
            </a:r>
            <a:r>
              <a:rPr lang="en-US" altLang="zh-CN" dirty="0"/>
              <a:t>.y</a:t>
            </a:r>
            <a:r>
              <a:rPr lang="en-US" altLang="zh-CN" baseline="-25000" dirty="0"/>
              <a:t>n-1</a:t>
            </a:r>
            <a:r>
              <a:rPr lang="en-US" altLang="zh-CN" dirty="0"/>
              <a:t>…y</a:t>
            </a:r>
            <a:r>
              <a:rPr lang="en-US" altLang="zh-CN" baseline="-25000" dirty="0"/>
              <a:t>1</a:t>
            </a:r>
            <a:r>
              <a:rPr lang="en-US" altLang="zh-CN" dirty="0"/>
              <a:t>y</a:t>
            </a:r>
            <a:r>
              <a:rPr lang="en-US" altLang="zh-CN" baseline="-25000" dirty="0"/>
              <a:t>0</a:t>
            </a:r>
            <a:endParaRPr lang="en-US" altLang="zh-CN" baseline="-25000" dirty="0"/>
          </a:p>
          <a:p>
            <a:pPr lvl="1" eaLnBrk="1" hangingPunct="1">
              <a:buFont typeface="Wingdings" panose="05000000000000000000" pitchFamily="2" charset="2"/>
              <a:buNone/>
            </a:pPr>
            <a:r>
              <a:rPr lang="zh-CN" altLang="en-US" dirty="0"/>
              <a:t>则其商</a:t>
            </a:r>
            <a:r>
              <a:rPr lang="en-US" altLang="zh-CN" dirty="0"/>
              <a:t>q</a:t>
            </a:r>
            <a:r>
              <a:rPr lang="zh-CN" altLang="en-US" dirty="0"/>
              <a:t>＝</a:t>
            </a:r>
            <a:r>
              <a:rPr lang="en-US" altLang="zh-CN" dirty="0" err="1"/>
              <a:t>x</a:t>
            </a:r>
            <a:r>
              <a:rPr lang="en-US" altLang="zh-CN" dirty="0" err="1">
                <a:sym typeface="Symbol" panose="05050102010706020507" pitchFamily="18" charset="2"/>
              </a:rPr>
              <a:t></a:t>
            </a:r>
            <a:r>
              <a:rPr lang="en-US" altLang="zh-CN" dirty="0" err="1"/>
              <a:t>y</a:t>
            </a:r>
            <a:r>
              <a:rPr lang="zh-CN" altLang="en-US" dirty="0"/>
              <a:t>，其原码为</a:t>
            </a:r>
            <a:endParaRPr lang="zh-CN" altLang="en-US" dirty="0"/>
          </a:p>
          <a:p>
            <a:pPr lvl="1" eaLnBrk="1" hangingPunct="1">
              <a:buFont typeface="Wingdings" panose="05000000000000000000" pitchFamily="2" charset="2"/>
              <a:buNone/>
            </a:pPr>
            <a:r>
              <a:rPr lang="zh-CN" altLang="en-US" dirty="0"/>
              <a:t>　</a:t>
            </a:r>
            <a:r>
              <a:rPr lang="en-US" altLang="zh-CN" dirty="0"/>
              <a:t>[q]</a:t>
            </a:r>
            <a:r>
              <a:rPr lang="zh-CN" altLang="en-US" baseline="-25000" dirty="0"/>
              <a:t>原</a:t>
            </a:r>
            <a:r>
              <a:rPr lang="zh-CN" altLang="en-US" dirty="0"/>
              <a:t>＝</a:t>
            </a:r>
            <a:r>
              <a:rPr lang="en-US" altLang="zh-CN" dirty="0"/>
              <a:t>(</a:t>
            </a:r>
            <a:r>
              <a:rPr lang="en-US" altLang="zh-CN" dirty="0" err="1"/>
              <a:t>x</a:t>
            </a:r>
            <a:r>
              <a:rPr lang="en-US" altLang="zh-CN" baseline="-25000" dirty="0" err="1"/>
              <a:t>f</a:t>
            </a:r>
            <a:r>
              <a:rPr lang="en-US" altLang="zh-CN" dirty="0" err="1"/>
              <a:t>⊕y</a:t>
            </a:r>
            <a:r>
              <a:rPr lang="en-US" altLang="zh-CN" baseline="-25000" dirty="0" err="1"/>
              <a:t>f</a:t>
            </a:r>
            <a:r>
              <a:rPr lang="en-US" altLang="zh-CN" dirty="0"/>
              <a:t>)+(0.x</a:t>
            </a:r>
            <a:r>
              <a:rPr lang="en-US" altLang="zh-CN" baseline="-25000" dirty="0"/>
              <a:t>n-1</a:t>
            </a:r>
            <a:r>
              <a:rPr lang="en-US" altLang="zh-CN" dirty="0"/>
              <a:t>…x</a:t>
            </a:r>
            <a:r>
              <a:rPr lang="en-US" altLang="zh-CN" baseline="-25000" dirty="0"/>
              <a:t>1</a:t>
            </a:r>
            <a:r>
              <a:rPr lang="en-US" altLang="zh-CN" dirty="0"/>
              <a:t>x</a:t>
            </a:r>
            <a:r>
              <a:rPr lang="en-US" altLang="zh-CN" baseline="-25000" dirty="0"/>
              <a:t>0</a:t>
            </a:r>
            <a:r>
              <a:rPr lang="en-US" altLang="zh-CN" dirty="0">
                <a:sym typeface="Symbol" panose="05050102010706020507" pitchFamily="18" charset="2"/>
              </a:rPr>
              <a:t></a:t>
            </a:r>
            <a:r>
              <a:rPr lang="en-US" altLang="zh-CN" dirty="0"/>
              <a:t>0.y</a:t>
            </a:r>
            <a:r>
              <a:rPr lang="en-US" altLang="zh-CN" baseline="-25000" dirty="0"/>
              <a:t>n-1</a:t>
            </a:r>
            <a:r>
              <a:rPr lang="en-US" altLang="zh-CN" dirty="0"/>
              <a:t>…y</a:t>
            </a:r>
            <a:r>
              <a:rPr lang="en-US" altLang="zh-CN" baseline="-25000" dirty="0"/>
              <a:t>1</a:t>
            </a:r>
            <a:r>
              <a:rPr lang="en-US" altLang="zh-CN" dirty="0"/>
              <a:t>y</a:t>
            </a:r>
            <a:r>
              <a:rPr lang="en-US" altLang="zh-CN" baseline="-25000" dirty="0"/>
              <a:t>0</a:t>
            </a:r>
            <a:r>
              <a:rPr lang="en-US" altLang="zh-CN" dirty="0"/>
              <a:t>)</a:t>
            </a:r>
            <a:endParaRPr lang="en-US" altLang="zh-CN" dirty="0"/>
          </a:p>
        </p:txBody>
      </p:sp>
    </p:spTree>
  </p:cSld>
  <p:clrMapOvr>
    <a:masterClrMapping/>
  </p:clrMapOvr>
  <p:transition spd="med">
    <p:pull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p:cNvSpPr>
            <a:spLocks noGrp="1" noChangeArrowheads="1"/>
          </p:cNvSpPr>
          <p:nvPr>
            <p:ph type="title"/>
          </p:nvPr>
        </p:nvSpPr>
        <p:spPr/>
        <p:txBody>
          <a:bodyPr/>
          <a:lstStyle/>
          <a:p>
            <a:pPr eaLnBrk="1" hangingPunct="1"/>
            <a:r>
              <a:rPr lang="zh-CN" altLang="en-US"/>
              <a:t>手工除法运算过程</a:t>
            </a:r>
            <a:endParaRPr lang="zh-CN" altLang="en-US"/>
          </a:p>
        </p:txBody>
      </p:sp>
      <p:sp>
        <p:nvSpPr>
          <p:cNvPr id="51202" name="Rectangle 4"/>
          <p:cNvSpPr>
            <a:spLocks noGrp="1" noChangeArrowheads="1"/>
          </p:cNvSpPr>
          <p:nvPr>
            <p:ph idx="1"/>
          </p:nvPr>
        </p:nvSpPr>
        <p:spPr/>
        <p:txBody>
          <a:bodyPr/>
          <a:lstStyle/>
          <a:p>
            <a:pPr marL="180975" indent="-180975" eaLnBrk="1" hangingPunct="1">
              <a:buFont typeface="Wingdings 2" charset="2"/>
              <a:buNone/>
            </a:pPr>
            <a:r>
              <a:rPr lang="en-US" altLang="zh-CN" sz="2800"/>
              <a:t>x÷y</a:t>
            </a:r>
            <a:r>
              <a:rPr lang="zh-CN" altLang="en-US" sz="2800"/>
              <a:t>？，</a:t>
            </a:r>
            <a:r>
              <a:rPr lang="en-US" altLang="zh-CN" sz="2800"/>
              <a:t>x=0.1001</a:t>
            </a:r>
            <a:r>
              <a:rPr lang="zh-CN" altLang="en-US" sz="2800"/>
              <a:t>，</a:t>
            </a:r>
            <a:r>
              <a:rPr lang="en-US" altLang="zh-CN" sz="2800"/>
              <a:t>y=0.1011</a:t>
            </a:r>
            <a:endParaRPr lang="en-US" altLang="zh-CN" sz="2800"/>
          </a:p>
          <a:p>
            <a:pPr marL="180975" indent="-180975" eaLnBrk="1" hangingPunct="1">
              <a:buFont typeface="Wingdings 2" charset="2"/>
              <a:buNone/>
            </a:pPr>
            <a:r>
              <a:rPr kumimoji="0" lang="en-US" altLang="zh-CN" sz="2000" b="0"/>
              <a:t>                  </a:t>
            </a:r>
            <a:r>
              <a:rPr kumimoji="0" lang="en-US" altLang="zh-CN" sz="2000" b="0" u="sng"/>
              <a:t>                 0.1 1 0 1 </a:t>
            </a:r>
            <a:r>
              <a:rPr kumimoji="0" lang="zh-CN" altLang="en-US" sz="2000" b="0"/>
              <a:t>　 </a:t>
            </a:r>
            <a:r>
              <a:rPr kumimoji="0" lang="zh-CN" altLang="en-US" sz="2000"/>
              <a:t>商</a:t>
            </a:r>
            <a:r>
              <a:rPr kumimoji="0" lang="en-US" altLang="zh-CN" sz="2000" i="1"/>
              <a:t>q</a:t>
            </a:r>
            <a:br>
              <a:rPr kumimoji="0" lang="en-US" altLang="zh-CN" sz="2000" b="0"/>
            </a:br>
            <a:r>
              <a:rPr kumimoji="0" lang="en-US" altLang="zh-CN" sz="2000" b="0"/>
              <a:t>0.1 0 1 1  </a:t>
            </a:r>
            <a:r>
              <a:rPr kumimoji="0" lang="zh-CN" altLang="en-US" sz="2000" b="0"/>
              <a:t>　</a:t>
            </a:r>
            <a:r>
              <a:rPr kumimoji="0" lang="en-US" altLang="zh-CN" sz="2000" b="0"/>
              <a:t>0.1 0 0 1 0</a:t>
            </a:r>
            <a:r>
              <a:rPr kumimoji="0" lang="zh-CN" altLang="en-US" sz="2000" b="0"/>
              <a:t>　　　  </a:t>
            </a:r>
            <a:r>
              <a:rPr kumimoji="0" lang="zh-CN" altLang="en-US" sz="2000"/>
              <a:t>ｘ</a:t>
            </a:r>
            <a:r>
              <a:rPr kumimoji="0" lang="en-US" altLang="zh-CN" sz="2000" b="0"/>
              <a:t>(</a:t>
            </a:r>
            <a:r>
              <a:rPr kumimoji="0" lang="en-US" altLang="zh-CN" sz="2000" i="1"/>
              <a:t>r</a:t>
            </a:r>
            <a:r>
              <a:rPr kumimoji="0" lang="en-US" altLang="zh-CN" sz="2000" i="1" baseline="-25000"/>
              <a:t>0</a:t>
            </a:r>
            <a:r>
              <a:rPr kumimoji="0" lang="en-US" altLang="zh-CN" sz="2000" b="0"/>
              <a:t>)</a:t>
            </a:r>
            <a:r>
              <a:rPr kumimoji="0" lang="zh-CN" altLang="en-US" sz="2000" b="0"/>
              <a:t>　</a:t>
            </a:r>
            <a:r>
              <a:rPr kumimoji="0" lang="zh-CN" altLang="en-US" sz="2000"/>
              <a:t>被除数小于除数，商</a:t>
            </a:r>
            <a:r>
              <a:rPr kumimoji="0" lang="en-US" altLang="zh-CN" sz="2000"/>
              <a:t>0</a:t>
            </a:r>
            <a:br>
              <a:rPr kumimoji="0" lang="en-US" altLang="zh-CN" sz="2000" b="0"/>
            </a:br>
            <a:r>
              <a:rPr kumimoji="0" lang="zh-CN" altLang="en-US" sz="2000" b="0"/>
              <a:t>　　　　－</a:t>
            </a:r>
            <a:r>
              <a:rPr kumimoji="0" lang="en-US" altLang="zh-CN" sz="2000" b="0" u="sng"/>
              <a:t>0.</a:t>
            </a:r>
            <a:r>
              <a:rPr kumimoji="0" lang="en-US" altLang="zh-CN" sz="2000" u="sng">
                <a:solidFill>
                  <a:srgbClr val="CC3300"/>
                </a:solidFill>
              </a:rPr>
              <a:t>0 </a:t>
            </a:r>
            <a:r>
              <a:rPr kumimoji="0" lang="en-US" altLang="zh-CN" sz="2000" b="0" u="sng"/>
              <a:t>1 0 1 1</a:t>
            </a:r>
            <a:r>
              <a:rPr kumimoji="0" lang="zh-CN" altLang="en-US" sz="2000" b="0" u="sng"/>
              <a:t>　　  </a:t>
            </a:r>
            <a:r>
              <a:rPr kumimoji="0" lang="zh-CN" altLang="en-US" sz="2000" b="0"/>
              <a:t>　 </a:t>
            </a:r>
            <a:r>
              <a:rPr kumimoji="0" lang="en-US" altLang="zh-CN" sz="2000" b="0"/>
              <a:t>2</a:t>
            </a:r>
            <a:r>
              <a:rPr kumimoji="0" lang="zh-CN" altLang="en-US" sz="2000" b="0" baseline="30000"/>
              <a:t>－</a:t>
            </a:r>
            <a:r>
              <a:rPr kumimoji="0" lang="en-US" altLang="zh-CN" sz="2000" b="0" baseline="30000"/>
              <a:t>1</a:t>
            </a:r>
            <a:r>
              <a:rPr kumimoji="0" lang="zh-CN" altLang="en-US" sz="2000" i="1"/>
              <a:t>ｙ </a:t>
            </a:r>
            <a:r>
              <a:rPr kumimoji="0" lang="zh-CN" altLang="en-US" sz="2000" b="0" i="1"/>
              <a:t> </a:t>
            </a:r>
            <a:r>
              <a:rPr kumimoji="0" lang="zh-CN" altLang="en-US" sz="2000"/>
              <a:t>除数右移</a:t>
            </a:r>
            <a:r>
              <a:rPr kumimoji="0" lang="en-US" altLang="zh-CN" sz="2000"/>
              <a:t>1</a:t>
            </a:r>
            <a:r>
              <a:rPr kumimoji="0" lang="zh-CN" altLang="en-US" sz="2000"/>
              <a:t>位，减除数，商</a:t>
            </a:r>
            <a:r>
              <a:rPr kumimoji="0" lang="en-US" altLang="zh-CN" sz="2000"/>
              <a:t>1</a:t>
            </a:r>
            <a:r>
              <a:rPr kumimoji="0" lang="en-US" altLang="zh-CN" sz="2000" b="0"/>
              <a:t> </a:t>
            </a:r>
            <a:br>
              <a:rPr kumimoji="0" lang="en-US" altLang="zh-CN" sz="2000" b="0"/>
            </a:br>
            <a:r>
              <a:rPr kumimoji="0" lang="zh-CN" altLang="en-US" sz="2000" b="0"/>
              <a:t>　　　　    </a:t>
            </a:r>
            <a:r>
              <a:rPr kumimoji="0" lang="en-US" altLang="zh-CN" sz="2000" b="0"/>
              <a:t>0.0 0 1 1 1 0</a:t>
            </a:r>
            <a:r>
              <a:rPr kumimoji="0" lang="zh-CN" altLang="en-US" sz="2000" b="0"/>
              <a:t>　　　</a:t>
            </a:r>
            <a:r>
              <a:rPr kumimoji="0" lang="en-US" altLang="zh-CN" sz="2000" i="1"/>
              <a:t>r</a:t>
            </a:r>
            <a:r>
              <a:rPr kumimoji="0" lang="en-US" altLang="zh-CN" sz="2000" i="1" baseline="-25000"/>
              <a:t>1</a:t>
            </a:r>
            <a:r>
              <a:rPr kumimoji="0" lang="zh-CN" altLang="en-US" sz="2000" b="0"/>
              <a:t>　　</a:t>
            </a:r>
            <a:r>
              <a:rPr kumimoji="0" lang="zh-CN" altLang="en-US" sz="2000"/>
              <a:t>得余数</a:t>
            </a:r>
            <a:r>
              <a:rPr kumimoji="0" lang="en-US" altLang="zh-CN" sz="2000"/>
              <a:t>r</a:t>
            </a:r>
            <a:r>
              <a:rPr kumimoji="0" lang="en-US" altLang="zh-CN" sz="2000" i="1" baseline="-25000"/>
              <a:t>1</a:t>
            </a:r>
            <a:br>
              <a:rPr kumimoji="0" lang="en-US" altLang="zh-CN" sz="2000"/>
            </a:br>
            <a:r>
              <a:rPr kumimoji="0" lang="zh-CN" altLang="en-US" sz="2000" b="0"/>
              <a:t>　　　    －</a:t>
            </a:r>
            <a:r>
              <a:rPr kumimoji="0" lang="en-US" altLang="zh-CN" sz="2000" b="0" u="sng"/>
              <a:t>0.</a:t>
            </a:r>
            <a:r>
              <a:rPr kumimoji="0" lang="en-US" altLang="zh-CN" sz="2000" u="sng">
                <a:solidFill>
                  <a:srgbClr val="CC3300"/>
                </a:solidFill>
              </a:rPr>
              <a:t>0</a:t>
            </a:r>
            <a:r>
              <a:rPr kumimoji="0" lang="en-US" altLang="zh-CN" sz="2000">
                <a:solidFill>
                  <a:srgbClr val="CC3300"/>
                </a:solidFill>
              </a:rPr>
              <a:t> </a:t>
            </a:r>
            <a:r>
              <a:rPr kumimoji="0" lang="en-US" altLang="zh-CN" sz="2000" u="sng">
                <a:solidFill>
                  <a:srgbClr val="CC3300"/>
                </a:solidFill>
              </a:rPr>
              <a:t>0</a:t>
            </a:r>
            <a:r>
              <a:rPr kumimoji="0" lang="en-US" altLang="zh-CN" sz="2000" b="0" u="sng"/>
              <a:t> 1 0 1 1</a:t>
            </a:r>
            <a:r>
              <a:rPr kumimoji="0" lang="zh-CN" altLang="en-US" sz="2000" b="0" u="sng"/>
              <a:t>　   </a:t>
            </a:r>
            <a:r>
              <a:rPr kumimoji="0" lang="zh-CN" altLang="en-US" sz="2000" b="0"/>
              <a:t>　 </a:t>
            </a:r>
            <a:r>
              <a:rPr kumimoji="0" lang="en-US" altLang="zh-CN" sz="2000" b="0"/>
              <a:t>2</a:t>
            </a:r>
            <a:r>
              <a:rPr kumimoji="0" lang="zh-CN" altLang="en-US" sz="2000" b="0" baseline="30000"/>
              <a:t>－</a:t>
            </a:r>
            <a:r>
              <a:rPr kumimoji="0" lang="en-US" altLang="zh-CN" sz="2000" b="0" baseline="30000"/>
              <a:t>2</a:t>
            </a:r>
            <a:r>
              <a:rPr kumimoji="0" lang="zh-CN" altLang="en-US" sz="2000" i="1"/>
              <a:t>ｙ</a:t>
            </a:r>
            <a:r>
              <a:rPr kumimoji="0" lang="zh-CN" altLang="en-US" sz="2000" b="0" i="1"/>
              <a:t>  </a:t>
            </a:r>
            <a:r>
              <a:rPr kumimoji="0" lang="zh-CN" altLang="en-US" sz="2000"/>
              <a:t>除数右移</a:t>
            </a:r>
            <a:r>
              <a:rPr kumimoji="0" lang="en-US" altLang="zh-CN" sz="2000"/>
              <a:t>1</a:t>
            </a:r>
            <a:r>
              <a:rPr kumimoji="0" lang="zh-CN" altLang="en-US" sz="2000"/>
              <a:t>位，减除数，商</a:t>
            </a:r>
            <a:r>
              <a:rPr kumimoji="0" lang="en-US" altLang="zh-CN" sz="2000"/>
              <a:t>1</a:t>
            </a:r>
            <a:br>
              <a:rPr kumimoji="0" lang="en-US" altLang="zh-CN" sz="2000"/>
            </a:br>
            <a:r>
              <a:rPr kumimoji="0" lang="en-US" altLang="zh-CN" sz="2000" b="0"/>
              <a:t>                    0.0 0 0 0 1 1 0</a:t>
            </a:r>
            <a:r>
              <a:rPr kumimoji="0" lang="zh-CN" altLang="en-US" sz="2000" b="0"/>
              <a:t>　　 </a:t>
            </a:r>
            <a:r>
              <a:rPr kumimoji="0" lang="en-US" altLang="zh-CN" sz="2000" i="1"/>
              <a:t>r</a:t>
            </a:r>
            <a:r>
              <a:rPr kumimoji="0" lang="en-US" altLang="zh-CN" sz="2000" i="1" baseline="-25000"/>
              <a:t>2</a:t>
            </a:r>
            <a:r>
              <a:rPr kumimoji="0" lang="zh-CN" altLang="en-US" sz="2000" b="0" i="1"/>
              <a:t>　　 </a:t>
            </a:r>
            <a:r>
              <a:rPr kumimoji="0" lang="zh-CN" altLang="en-US" sz="2000"/>
              <a:t>得余数</a:t>
            </a:r>
            <a:r>
              <a:rPr kumimoji="0" lang="en-US" altLang="zh-CN" sz="2000"/>
              <a:t>r</a:t>
            </a:r>
            <a:r>
              <a:rPr kumimoji="0" lang="en-US" altLang="zh-CN" sz="2000" i="1" baseline="-25000"/>
              <a:t>2</a:t>
            </a:r>
            <a:br>
              <a:rPr kumimoji="0" lang="en-US" altLang="zh-CN" sz="2000"/>
            </a:br>
            <a:r>
              <a:rPr kumimoji="0" lang="zh-CN" altLang="en-US" sz="2000" b="0"/>
              <a:t>　　　    －</a:t>
            </a:r>
            <a:r>
              <a:rPr kumimoji="0" lang="en-US" altLang="zh-CN" sz="2000" b="0" u="sng"/>
              <a:t>0.</a:t>
            </a:r>
            <a:r>
              <a:rPr kumimoji="0" lang="en-US" altLang="zh-CN" sz="2000" u="sng">
                <a:solidFill>
                  <a:srgbClr val="CC3300"/>
                </a:solidFill>
              </a:rPr>
              <a:t>0</a:t>
            </a:r>
            <a:r>
              <a:rPr kumimoji="0" lang="en-US" altLang="zh-CN" sz="2000" b="0" u="sng"/>
              <a:t> </a:t>
            </a:r>
            <a:r>
              <a:rPr kumimoji="0" lang="en-US" altLang="zh-CN" sz="2000" u="sng">
                <a:solidFill>
                  <a:srgbClr val="CC3300"/>
                </a:solidFill>
              </a:rPr>
              <a:t>0 0</a:t>
            </a:r>
            <a:r>
              <a:rPr kumimoji="0" lang="en-US" altLang="zh-CN" sz="2000" b="0" u="sng"/>
              <a:t> 1 0 1 1    </a:t>
            </a:r>
            <a:r>
              <a:rPr kumimoji="0" lang="en-US" altLang="zh-CN" sz="2000" b="0"/>
              <a:t>     2</a:t>
            </a:r>
            <a:r>
              <a:rPr kumimoji="0" lang="zh-CN" altLang="en-US" sz="2000" b="0" baseline="30000"/>
              <a:t>－</a:t>
            </a:r>
            <a:r>
              <a:rPr kumimoji="0" lang="en-US" altLang="zh-CN" sz="2000" b="0" baseline="30000"/>
              <a:t>3</a:t>
            </a:r>
            <a:r>
              <a:rPr kumimoji="0" lang="zh-CN" altLang="en-US" sz="2000" i="1"/>
              <a:t>ｙ</a:t>
            </a:r>
            <a:r>
              <a:rPr kumimoji="0" lang="zh-CN" altLang="en-US" sz="2000" b="0" i="1"/>
              <a:t>   </a:t>
            </a:r>
            <a:r>
              <a:rPr kumimoji="0" lang="zh-CN" altLang="en-US" sz="2000"/>
              <a:t>除数右移</a:t>
            </a:r>
            <a:r>
              <a:rPr kumimoji="0" lang="en-US" altLang="zh-CN" sz="2000"/>
              <a:t>1</a:t>
            </a:r>
            <a:r>
              <a:rPr kumimoji="0" lang="zh-CN" altLang="en-US" sz="2000"/>
              <a:t>位，不减除数，商</a:t>
            </a:r>
            <a:r>
              <a:rPr kumimoji="0" lang="en-US" altLang="zh-CN" sz="2000"/>
              <a:t>0</a:t>
            </a:r>
            <a:br>
              <a:rPr kumimoji="0" lang="en-US" altLang="zh-CN" sz="2000"/>
            </a:br>
            <a:r>
              <a:rPr kumimoji="0" lang="zh-CN" altLang="en-US" sz="2000" b="0"/>
              <a:t>　　　　    </a:t>
            </a:r>
            <a:r>
              <a:rPr kumimoji="0" lang="en-US" altLang="zh-CN" sz="2000" b="0"/>
              <a:t>0.0 0 0 0 1 1 0 0      </a:t>
            </a:r>
            <a:r>
              <a:rPr kumimoji="0" lang="en-US" altLang="zh-CN" sz="2000" i="1"/>
              <a:t>r</a:t>
            </a:r>
            <a:r>
              <a:rPr kumimoji="0" lang="en-US" altLang="zh-CN" sz="2000" i="1" baseline="-25000"/>
              <a:t>3</a:t>
            </a:r>
            <a:r>
              <a:rPr kumimoji="0" lang="zh-CN" altLang="en-US" sz="2000" b="0" i="1"/>
              <a:t>　　 </a:t>
            </a:r>
            <a:r>
              <a:rPr kumimoji="0" lang="zh-CN" altLang="en-US" sz="2000"/>
              <a:t>得余数</a:t>
            </a:r>
            <a:r>
              <a:rPr kumimoji="0" lang="en-US" altLang="zh-CN" sz="2000"/>
              <a:t>r</a:t>
            </a:r>
            <a:r>
              <a:rPr kumimoji="0" lang="en-US" altLang="zh-CN" sz="2000" i="1" baseline="-25000"/>
              <a:t>3</a:t>
            </a:r>
            <a:br>
              <a:rPr kumimoji="0" lang="en-US" altLang="zh-CN" sz="2000"/>
            </a:br>
            <a:r>
              <a:rPr kumimoji="0" lang="zh-CN" altLang="en-US" sz="2000" b="0"/>
              <a:t>　　　    －</a:t>
            </a:r>
            <a:r>
              <a:rPr kumimoji="0" lang="en-US" altLang="zh-CN" sz="2000" b="0" u="sng"/>
              <a:t>0.</a:t>
            </a:r>
            <a:r>
              <a:rPr kumimoji="0" lang="en-US" altLang="zh-CN" sz="2000" u="sng">
                <a:solidFill>
                  <a:srgbClr val="CC3300"/>
                </a:solidFill>
              </a:rPr>
              <a:t>0 0 0 0</a:t>
            </a:r>
            <a:r>
              <a:rPr kumimoji="0" lang="en-US" altLang="zh-CN" sz="2000" b="0" u="sng"/>
              <a:t> 1 0 1 1 </a:t>
            </a:r>
            <a:r>
              <a:rPr kumimoji="0" lang="en-US" altLang="zh-CN" sz="2000" b="0"/>
              <a:t>     2</a:t>
            </a:r>
            <a:r>
              <a:rPr kumimoji="0" lang="zh-CN" altLang="en-US" sz="2000" b="0" baseline="30000"/>
              <a:t>－</a:t>
            </a:r>
            <a:r>
              <a:rPr kumimoji="0" lang="en-US" altLang="zh-CN" sz="2000" b="0" baseline="30000"/>
              <a:t>4</a:t>
            </a:r>
            <a:r>
              <a:rPr kumimoji="0" lang="zh-CN" altLang="en-US" sz="2000" i="1"/>
              <a:t>ｙ</a:t>
            </a:r>
            <a:r>
              <a:rPr kumimoji="0" lang="zh-CN" altLang="en-US" sz="2000" b="0" i="1"/>
              <a:t>  </a:t>
            </a:r>
            <a:r>
              <a:rPr kumimoji="0" lang="zh-CN" altLang="en-US" sz="2000"/>
              <a:t>除数右移</a:t>
            </a:r>
            <a:r>
              <a:rPr kumimoji="0" lang="en-US" altLang="zh-CN" sz="2000"/>
              <a:t>1</a:t>
            </a:r>
            <a:r>
              <a:rPr kumimoji="0" lang="zh-CN" altLang="en-US" sz="2000"/>
              <a:t>位，减除数，商</a:t>
            </a:r>
            <a:r>
              <a:rPr kumimoji="0" lang="en-US" altLang="zh-CN" sz="2000"/>
              <a:t>1</a:t>
            </a:r>
            <a:br>
              <a:rPr kumimoji="0" lang="en-US" altLang="zh-CN" sz="2000"/>
            </a:br>
            <a:r>
              <a:rPr kumimoji="0" lang="zh-CN" altLang="en-US" sz="2000" b="0"/>
              <a:t>　　　　－</a:t>
            </a:r>
            <a:r>
              <a:rPr kumimoji="0" lang="en-US" altLang="zh-CN" sz="2000" b="0"/>
              <a:t>0.0 0 0 0 0 0 0 1</a:t>
            </a:r>
            <a:r>
              <a:rPr kumimoji="0" lang="zh-CN" altLang="en-US" sz="2000" b="0"/>
              <a:t>　  </a:t>
            </a:r>
            <a:r>
              <a:rPr kumimoji="0" lang="en-US" altLang="zh-CN" sz="2000" i="1"/>
              <a:t>r</a:t>
            </a:r>
            <a:r>
              <a:rPr kumimoji="0" lang="en-US" altLang="zh-CN" sz="2000" i="1" baseline="-25000"/>
              <a:t>4</a:t>
            </a:r>
            <a:r>
              <a:rPr kumimoji="0" lang="zh-CN" altLang="en-US" sz="2000" b="0"/>
              <a:t>　　 </a:t>
            </a:r>
            <a:r>
              <a:rPr kumimoji="0" lang="zh-CN" altLang="en-US" sz="2000"/>
              <a:t>得余数</a:t>
            </a:r>
            <a:r>
              <a:rPr kumimoji="0" lang="en-US" altLang="zh-CN" sz="2000"/>
              <a:t>r</a:t>
            </a:r>
            <a:r>
              <a:rPr kumimoji="0" lang="en-US" altLang="zh-CN" sz="2000" i="1" baseline="-25000"/>
              <a:t>4</a:t>
            </a:r>
            <a:r>
              <a:rPr kumimoji="0" lang="en-US" altLang="zh-CN" sz="2000"/>
              <a:t> </a:t>
            </a:r>
            <a:endParaRPr kumimoji="0" lang="en-US" altLang="zh-CN" sz="2000"/>
          </a:p>
          <a:p>
            <a:pPr marL="180975" indent="-180975" eaLnBrk="1" hangingPunct="1">
              <a:buFont typeface="Wingdings 2" charset="2"/>
              <a:buNone/>
            </a:pPr>
            <a:endParaRPr kumimoji="0" lang="en-US" altLang="zh-CN" sz="2000"/>
          </a:p>
          <a:p>
            <a:pPr marL="180975" indent="-180975" eaLnBrk="1" hangingPunct="1"/>
            <a:r>
              <a:rPr lang="zh-CN" altLang="en-US" sz="2400">
                <a:latin typeface="楷体_GB2312" pitchFamily="49" charset="-122"/>
              </a:rPr>
              <a:t>商</a:t>
            </a:r>
            <a:r>
              <a:rPr lang="en-US" altLang="zh-CN" sz="2400">
                <a:latin typeface="楷体_GB2312" pitchFamily="49" charset="-122"/>
              </a:rPr>
              <a:t>0</a:t>
            </a:r>
            <a:r>
              <a:rPr lang="zh-CN" altLang="en-US" sz="2400">
                <a:latin typeface="楷体_GB2312" pitchFamily="49" charset="-122"/>
              </a:rPr>
              <a:t>还是商</a:t>
            </a:r>
            <a:r>
              <a:rPr lang="en-US" altLang="zh-CN" sz="2400">
                <a:latin typeface="楷体_GB2312" pitchFamily="49" charset="-122"/>
              </a:rPr>
              <a:t>1</a:t>
            </a:r>
            <a:r>
              <a:rPr lang="zh-CN" altLang="en-US" sz="2400">
                <a:latin typeface="楷体_GB2312" pitchFamily="49" charset="-122"/>
              </a:rPr>
              <a:t>？人比较后才可以确定，但计算机如何确定？</a:t>
            </a:r>
            <a:endParaRPr lang="zh-CN" altLang="en-US" sz="2400">
              <a:latin typeface="楷体_GB2312" pitchFamily="49" charset="-122"/>
            </a:endParaRPr>
          </a:p>
          <a:p>
            <a:pPr marL="180975" indent="-180975" eaLnBrk="1" hangingPunct="1"/>
            <a:r>
              <a:rPr lang="zh-CN" altLang="en-US" sz="2400">
                <a:latin typeface="楷体_GB2312" pitchFamily="49" charset="-122"/>
              </a:rPr>
              <a:t>余数末位补</a:t>
            </a:r>
            <a:r>
              <a:rPr lang="en-US" altLang="zh-CN" sz="2400">
                <a:latin typeface="楷体_GB2312" pitchFamily="49" charset="-122"/>
              </a:rPr>
              <a:t>0</a:t>
            </a:r>
            <a:r>
              <a:rPr lang="zh-CN" altLang="en-US" sz="2400">
                <a:latin typeface="楷体_GB2312" pitchFamily="49" charset="-122"/>
              </a:rPr>
              <a:t>后，减去除数右移后的值，导致加法器尾数逐渐增多，最后要求加法器的位数必须为被除数的</a:t>
            </a:r>
            <a:r>
              <a:rPr lang="en-US" altLang="zh-CN" sz="2400">
                <a:latin typeface="楷体_GB2312" pitchFamily="49" charset="-122"/>
              </a:rPr>
              <a:t>2</a:t>
            </a:r>
            <a:r>
              <a:rPr lang="zh-CN" altLang="en-US" sz="2400">
                <a:latin typeface="楷体_GB2312" pitchFamily="49" charset="-122"/>
              </a:rPr>
              <a:t>倍</a:t>
            </a:r>
            <a:endParaRPr kumimoji="0" lang="zh-CN" altLang="en-US" sz="2400">
              <a:latin typeface="楷体_GB2312" pitchFamily="49" charset="-122"/>
            </a:endParaRPr>
          </a:p>
        </p:txBody>
      </p:sp>
      <p:sp>
        <p:nvSpPr>
          <p:cNvPr id="51204" name="Freeform 5"/>
          <p:cNvSpPr/>
          <p:nvPr/>
        </p:nvSpPr>
        <p:spPr bwMode="auto">
          <a:xfrm>
            <a:off x="1447800" y="1905000"/>
            <a:ext cx="144462" cy="319087"/>
          </a:xfrm>
          <a:custGeom>
            <a:avLst/>
            <a:gdLst>
              <a:gd name="T0" fmla="*/ 2147483646 w 63"/>
              <a:gd name="T1" fmla="*/ 0 h 201"/>
              <a:gd name="T2" fmla="*/ 2147483646 w 63"/>
              <a:gd name="T3" fmla="*/ 2147483646 h 201"/>
              <a:gd name="T4" fmla="*/ 0 w 63"/>
              <a:gd name="T5" fmla="*/ 2147483646 h 201"/>
              <a:gd name="T6" fmla="*/ 0 60000 65536"/>
              <a:gd name="T7" fmla="*/ 0 60000 65536"/>
              <a:gd name="T8" fmla="*/ 0 60000 65536"/>
              <a:gd name="T9" fmla="*/ 0 w 63"/>
              <a:gd name="T10" fmla="*/ 0 h 201"/>
              <a:gd name="T11" fmla="*/ 63 w 63"/>
              <a:gd name="T12" fmla="*/ 201 h 201"/>
            </a:gdLst>
            <a:ahLst/>
            <a:cxnLst>
              <a:cxn ang="T6">
                <a:pos x="T0" y="T1"/>
              </a:cxn>
              <a:cxn ang="T7">
                <a:pos x="T2" y="T3"/>
              </a:cxn>
              <a:cxn ang="T8">
                <a:pos x="T4" y="T5"/>
              </a:cxn>
            </a:cxnLst>
            <a:rect l="T9" t="T10" r="T11" b="T12"/>
            <a:pathLst>
              <a:path w="63" h="201">
                <a:moveTo>
                  <a:pt x="46" y="0"/>
                </a:moveTo>
                <a:cubicBezTo>
                  <a:pt x="54" y="52"/>
                  <a:pt x="63" y="104"/>
                  <a:pt x="55" y="137"/>
                </a:cubicBezTo>
                <a:cubicBezTo>
                  <a:pt x="47" y="170"/>
                  <a:pt x="23" y="160"/>
                  <a:pt x="0" y="201"/>
                </a:cubicBez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transition spd="med">
    <p:pull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38" name="Rectangle 2"/>
          <p:cNvSpPr>
            <a:spLocks noGrp="1" noChangeArrowheads="1"/>
          </p:cNvSpPr>
          <p:nvPr>
            <p:ph type="title"/>
          </p:nvPr>
        </p:nvSpPr>
        <p:spPr/>
        <p:txBody>
          <a:bodyPr/>
          <a:lstStyle/>
          <a:p>
            <a:pPr eaLnBrk="1" hangingPunct="1"/>
            <a:r>
              <a:rPr lang="zh-CN" altLang="en-US"/>
              <a:t>加减交替法（不恢复余数法）</a:t>
            </a:r>
            <a:endParaRPr lang="zh-CN" altLang="en-US"/>
          </a:p>
        </p:txBody>
      </p:sp>
      <p:sp>
        <p:nvSpPr>
          <p:cNvPr id="52226" name="Rectangle 3"/>
          <p:cNvSpPr>
            <a:spLocks noGrp="1" noChangeArrowheads="1"/>
          </p:cNvSpPr>
          <p:nvPr>
            <p:ph idx="1"/>
          </p:nvPr>
        </p:nvSpPr>
        <p:spPr/>
        <p:txBody>
          <a:bodyPr/>
          <a:lstStyle/>
          <a:p>
            <a:pPr marL="363855" indent="-363855" eaLnBrk="1" hangingPunct="1">
              <a:lnSpc>
                <a:spcPct val="90000"/>
              </a:lnSpc>
            </a:pPr>
            <a:r>
              <a:rPr lang="zh-CN" altLang="en-US" sz="2400" dirty="0"/>
              <a:t>判断是否够减： 被除数或部分余数</a:t>
            </a:r>
            <a:r>
              <a:rPr lang="zh-CN" altLang="en-US" sz="2400" dirty="0">
                <a:solidFill>
                  <a:srgbClr val="CC3300"/>
                </a:solidFill>
              </a:rPr>
              <a:t>左移</a:t>
            </a:r>
            <a:r>
              <a:rPr lang="zh-CN" altLang="en-US" sz="2400" dirty="0"/>
              <a:t>减去除数得新余数   </a:t>
            </a:r>
            <a:r>
              <a:rPr lang="en-US" altLang="zh-CN" sz="2400" dirty="0" err="1"/>
              <a:t>r</a:t>
            </a:r>
            <a:r>
              <a:rPr lang="en-US" altLang="zh-CN" sz="2400" dirty="0" err="1">
                <a:ea typeface="宋体" panose="02010600030101010101" pitchFamily="2" charset="-122"/>
                <a:cs typeface="Times New Roman" panose="02020603050405020304" pitchFamily="18" charset="0"/>
              </a:rPr>
              <a:t>'</a:t>
            </a:r>
            <a:r>
              <a:rPr lang="en-US" altLang="zh-CN" sz="2400" baseline="-25000" dirty="0" err="1"/>
              <a:t>i</a:t>
            </a:r>
            <a:r>
              <a:rPr lang="zh-CN" altLang="en-US" sz="2400" dirty="0"/>
              <a:t>＝</a:t>
            </a:r>
            <a:r>
              <a:rPr lang="en-US" altLang="zh-CN" sz="2400" dirty="0"/>
              <a:t>2r</a:t>
            </a:r>
            <a:r>
              <a:rPr lang="en-US" altLang="zh-CN" sz="2400" baseline="-25000" dirty="0"/>
              <a:t>i-1</a:t>
            </a:r>
            <a:r>
              <a:rPr lang="en-US" altLang="zh-CN" sz="2400" dirty="0">
                <a:latin typeface="宋体" panose="02010600030101010101" pitchFamily="2" charset="-122"/>
                <a:ea typeface="宋体" panose="02010600030101010101" pitchFamily="2" charset="-122"/>
              </a:rPr>
              <a:t>–</a:t>
            </a:r>
            <a:r>
              <a:rPr lang="en-US" altLang="zh-CN" sz="2400" dirty="0"/>
              <a:t>y</a:t>
            </a:r>
            <a:endParaRPr lang="en-US" altLang="zh-CN" sz="2400" dirty="0"/>
          </a:p>
          <a:p>
            <a:pPr marL="806450" lvl="1" indent="-263525" eaLnBrk="1" hangingPunct="1">
              <a:lnSpc>
                <a:spcPct val="90000"/>
              </a:lnSpc>
            </a:pPr>
            <a:r>
              <a:rPr lang="zh-CN" altLang="en-US" sz="2400" u="sng" dirty="0"/>
              <a:t>若</a:t>
            </a:r>
            <a:r>
              <a:rPr lang="en-US" altLang="zh-CN" sz="2400" u="sng" dirty="0" err="1"/>
              <a:t>r</a:t>
            </a:r>
            <a:r>
              <a:rPr lang="en-US" altLang="zh-CN" sz="2400" u="sng" dirty="0" err="1">
                <a:ea typeface="宋体" panose="02010600030101010101" pitchFamily="2" charset="-122"/>
              </a:rPr>
              <a:t>'</a:t>
            </a:r>
            <a:r>
              <a:rPr lang="en-US" altLang="zh-CN" sz="2400" u="sng" baseline="-25000" dirty="0" err="1">
                <a:cs typeface="Times New Roman" panose="02020603050405020304" pitchFamily="18" charset="0"/>
              </a:rPr>
              <a:t>i</a:t>
            </a:r>
            <a:r>
              <a:rPr lang="en-US" altLang="zh-CN" sz="2400" u="sng" dirty="0">
                <a:cs typeface="Times New Roman" panose="02020603050405020304" pitchFamily="18" charset="0"/>
              </a:rPr>
              <a:t>&gt;0</a:t>
            </a:r>
            <a:r>
              <a:rPr lang="zh-CN" altLang="en-US" sz="2400" u="sng" dirty="0">
                <a:cs typeface="Times New Roman" panose="02020603050405020304" pitchFamily="18" charset="0"/>
              </a:rPr>
              <a:t>，则</a:t>
            </a:r>
            <a:r>
              <a:rPr lang="en-US" altLang="zh-CN" sz="2400" u="sng" dirty="0" err="1">
                <a:cs typeface="Times New Roman" panose="02020603050405020304" pitchFamily="18" charset="0"/>
              </a:rPr>
              <a:t>i</a:t>
            </a:r>
            <a:r>
              <a:rPr lang="zh-CN" altLang="en-US" sz="2400" u="sng" dirty="0">
                <a:cs typeface="Times New Roman" panose="02020603050405020304" pitchFamily="18" charset="0"/>
              </a:rPr>
              <a:t>位上商</a:t>
            </a:r>
            <a:r>
              <a:rPr lang="en-US" altLang="zh-CN" sz="2400" u="sng" dirty="0">
                <a:cs typeface="Times New Roman" panose="02020603050405020304" pitchFamily="18" charset="0"/>
              </a:rPr>
              <a:t>1</a:t>
            </a:r>
            <a:r>
              <a:rPr lang="zh-CN" altLang="en-US" sz="2400" u="sng" dirty="0">
                <a:cs typeface="Times New Roman" panose="02020603050405020304" pitchFamily="18" charset="0"/>
              </a:rPr>
              <a:t>，且在下一步，</a:t>
            </a:r>
            <a:r>
              <a:rPr lang="en-US" altLang="zh-CN" sz="2400" u="sng" dirty="0" err="1">
                <a:cs typeface="Times New Roman" panose="02020603050405020304" pitchFamily="18" charset="0"/>
              </a:rPr>
              <a:t>r</a:t>
            </a:r>
            <a:r>
              <a:rPr lang="en-US" altLang="zh-CN" sz="2400" u="sng" baseline="-25000" dirty="0" err="1">
                <a:cs typeface="Times New Roman" panose="02020603050405020304" pitchFamily="18" charset="0"/>
              </a:rPr>
              <a:t>i</a:t>
            </a:r>
            <a:r>
              <a:rPr lang="zh-CN" altLang="en-US" sz="2400" u="sng" dirty="0">
                <a:cs typeface="Times New Roman" panose="02020603050405020304" pitchFamily="18" charset="0"/>
              </a:rPr>
              <a:t>左移减除数</a:t>
            </a:r>
            <a:r>
              <a:rPr lang="zh-CN" altLang="en-US" sz="2400" dirty="0">
                <a:cs typeface="Times New Roman" panose="02020603050405020304" pitchFamily="18" charset="0"/>
              </a:rPr>
              <a:t>。因为：</a:t>
            </a:r>
            <a:endParaRPr lang="zh-CN" altLang="en-US" sz="2400" dirty="0">
              <a:cs typeface="Times New Roman" panose="02020603050405020304" pitchFamily="18" charset="0"/>
            </a:endParaRPr>
          </a:p>
          <a:p>
            <a:pPr marL="1438275" lvl="2" indent="-452755" eaLnBrk="1" hangingPunct="1">
              <a:lnSpc>
                <a:spcPct val="90000"/>
              </a:lnSpc>
            </a:pPr>
            <a:r>
              <a:rPr lang="en-US" altLang="zh-CN" dirty="0" err="1">
                <a:cs typeface="Times New Roman" panose="02020603050405020304" pitchFamily="18" charset="0"/>
              </a:rPr>
              <a:t>r</a:t>
            </a:r>
            <a:r>
              <a:rPr lang="en-US" altLang="zh-CN" baseline="-25000" dirty="0" err="1">
                <a:cs typeface="Times New Roman" panose="02020603050405020304" pitchFamily="18" charset="0"/>
              </a:rPr>
              <a:t>i</a:t>
            </a:r>
            <a:r>
              <a:rPr lang="en-US" altLang="zh-CN" baseline="-25000" dirty="0">
                <a:cs typeface="Times New Roman" panose="02020603050405020304" pitchFamily="18" charset="0"/>
              </a:rPr>
              <a:t> </a:t>
            </a:r>
            <a:r>
              <a:rPr lang="zh-CN" altLang="en-US" dirty="0">
                <a:cs typeface="Times New Roman" panose="02020603050405020304" pitchFamily="18" charset="0"/>
              </a:rPr>
              <a:t>＝ </a:t>
            </a:r>
            <a:r>
              <a:rPr lang="en-US" altLang="zh-CN" dirty="0" err="1">
                <a:cs typeface="Times New Roman" panose="02020603050405020304" pitchFamily="18" charset="0"/>
              </a:rPr>
              <a:t>r</a:t>
            </a:r>
            <a:r>
              <a:rPr lang="en-US" altLang="zh-CN" dirty="0" err="1">
                <a:ea typeface="宋体" panose="02010600030101010101" pitchFamily="2" charset="-122"/>
              </a:rPr>
              <a:t>'</a:t>
            </a:r>
            <a:r>
              <a:rPr lang="en-US" altLang="zh-CN" baseline="-25000" dirty="0" err="1"/>
              <a:t>i</a:t>
            </a:r>
            <a:endParaRPr lang="en-US" altLang="zh-CN" dirty="0"/>
          </a:p>
          <a:p>
            <a:pPr marL="1438275" lvl="2" indent="-452755" eaLnBrk="1" hangingPunct="1">
              <a:lnSpc>
                <a:spcPct val="90000"/>
              </a:lnSpc>
            </a:pPr>
            <a:r>
              <a:rPr lang="en-US" altLang="zh-CN" dirty="0" err="1"/>
              <a:t>r</a:t>
            </a:r>
            <a:r>
              <a:rPr lang="en-US" altLang="zh-CN" baseline="-25000" dirty="0" err="1"/>
              <a:t>i</a:t>
            </a:r>
            <a:r>
              <a:rPr lang="zh-CN" altLang="en-US" baseline="-25000" dirty="0"/>
              <a:t>＋</a:t>
            </a:r>
            <a:r>
              <a:rPr lang="en-US" altLang="zh-CN" baseline="-25000" dirty="0"/>
              <a:t>1</a:t>
            </a:r>
            <a:r>
              <a:rPr lang="zh-CN" altLang="en-US" dirty="0"/>
              <a:t>＝ </a:t>
            </a:r>
            <a:r>
              <a:rPr lang="en-US" altLang="zh-CN" dirty="0"/>
              <a:t>2r</a:t>
            </a:r>
            <a:r>
              <a:rPr lang="en-US" altLang="zh-CN" baseline="-25000" dirty="0"/>
              <a:t>i</a:t>
            </a:r>
            <a:r>
              <a:rPr lang="en-US" altLang="zh-CN" dirty="0"/>
              <a:t> </a:t>
            </a:r>
            <a:r>
              <a:rPr lang="en-US" altLang="zh-CN" dirty="0">
                <a:latin typeface="宋体" panose="02010600030101010101" pitchFamily="2" charset="-122"/>
                <a:ea typeface="宋体" panose="02010600030101010101" pitchFamily="2" charset="-122"/>
              </a:rPr>
              <a:t>–</a:t>
            </a:r>
            <a:r>
              <a:rPr lang="en-US" altLang="zh-CN" dirty="0"/>
              <a:t>y </a:t>
            </a:r>
            <a:r>
              <a:rPr lang="zh-CN" altLang="en-US" dirty="0"/>
              <a:t>＝ </a:t>
            </a:r>
            <a:r>
              <a:rPr lang="en-US" altLang="zh-CN" dirty="0"/>
              <a:t>2r</a:t>
            </a:r>
            <a:r>
              <a:rPr lang="en-US" altLang="zh-CN" dirty="0">
                <a:ea typeface="宋体" panose="02010600030101010101" pitchFamily="2" charset="-122"/>
              </a:rPr>
              <a:t>'</a:t>
            </a:r>
            <a:r>
              <a:rPr lang="en-US" altLang="zh-CN" baseline="-25000" dirty="0"/>
              <a:t>i</a:t>
            </a:r>
            <a:r>
              <a:rPr lang="en-US" altLang="zh-CN" dirty="0"/>
              <a:t> </a:t>
            </a:r>
            <a:r>
              <a:rPr lang="en-US" altLang="zh-CN" dirty="0">
                <a:latin typeface="宋体" panose="02010600030101010101" pitchFamily="2" charset="-122"/>
                <a:ea typeface="宋体" panose="02010600030101010101" pitchFamily="2" charset="-122"/>
              </a:rPr>
              <a:t>–</a:t>
            </a:r>
            <a:r>
              <a:rPr lang="en-US" altLang="zh-CN" dirty="0"/>
              <a:t>y</a:t>
            </a:r>
            <a:endParaRPr lang="en-US" altLang="zh-CN" dirty="0"/>
          </a:p>
          <a:p>
            <a:pPr marL="806450" lvl="1" indent="-263525" eaLnBrk="1" hangingPunct="1">
              <a:lnSpc>
                <a:spcPct val="90000"/>
              </a:lnSpc>
            </a:pPr>
            <a:r>
              <a:rPr lang="zh-CN" altLang="en-US" sz="2400" u="sng" dirty="0"/>
              <a:t>若</a:t>
            </a:r>
            <a:r>
              <a:rPr lang="en-US" altLang="zh-CN" sz="2400" u="sng" dirty="0" err="1"/>
              <a:t>r</a:t>
            </a:r>
            <a:r>
              <a:rPr lang="en-US" altLang="zh-CN" sz="2400" u="sng" dirty="0" err="1">
                <a:ea typeface="宋体" panose="02010600030101010101" pitchFamily="2" charset="-122"/>
              </a:rPr>
              <a:t>'</a:t>
            </a:r>
            <a:r>
              <a:rPr lang="en-US" altLang="zh-CN" sz="2400" u="sng" baseline="-25000" dirty="0" err="1"/>
              <a:t>i</a:t>
            </a:r>
            <a:r>
              <a:rPr lang="en-US" altLang="zh-CN" sz="2400" u="sng" dirty="0"/>
              <a:t>&lt;0</a:t>
            </a:r>
            <a:r>
              <a:rPr lang="zh-CN" altLang="en-US" sz="2400" u="sng" dirty="0"/>
              <a:t>，则</a:t>
            </a:r>
            <a:r>
              <a:rPr lang="en-US" altLang="zh-CN" sz="2400" u="sng" dirty="0" err="1"/>
              <a:t>i</a:t>
            </a:r>
            <a:r>
              <a:rPr lang="zh-CN" altLang="en-US" sz="2400" u="sng" dirty="0"/>
              <a:t>位上商</a:t>
            </a:r>
            <a:r>
              <a:rPr lang="en-US" altLang="zh-CN" sz="2400" u="sng" dirty="0"/>
              <a:t>0</a:t>
            </a:r>
            <a:r>
              <a:rPr lang="zh-CN" altLang="en-US" sz="2400" u="sng" dirty="0"/>
              <a:t>，且在下一步，</a:t>
            </a:r>
            <a:r>
              <a:rPr lang="en-US" altLang="zh-CN" sz="2400" u="sng" dirty="0" err="1"/>
              <a:t>r</a:t>
            </a:r>
            <a:r>
              <a:rPr lang="en-US" altLang="zh-CN" sz="2400" u="sng" baseline="-25000" dirty="0" err="1"/>
              <a:t>i</a:t>
            </a:r>
            <a:r>
              <a:rPr lang="zh-CN" altLang="en-US" sz="2400" u="sng" dirty="0"/>
              <a:t>左移</a:t>
            </a:r>
            <a:r>
              <a:rPr lang="zh-CN" altLang="en-US" sz="2400" u="sng" dirty="0">
                <a:solidFill>
                  <a:srgbClr val="FF0000"/>
                </a:solidFill>
              </a:rPr>
              <a:t>加</a:t>
            </a:r>
            <a:r>
              <a:rPr lang="zh-CN" altLang="en-US" sz="2400" u="sng" dirty="0"/>
              <a:t>除数</a:t>
            </a:r>
            <a:r>
              <a:rPr lang="zh-CN" altLang="en-US" sz="2400" dirty="0"/>
              <a:t>。因为：</a:t>
            </a:r>
            <a:endParaRPr lang="zh-CN" altLang="en-US" sz="2400" dirty="0"/>
          </a:p>
          <a:p>
            <a:pPr marL="1438275" lvl="2" indent="-452755" eaLnBrk="1" hangingPunct="1">
              <a:lnSpc>
                <a:spcPct val="90000"/>
              </a:lnSpc>
            </a:pPr>
            <a:r>
              <a:rPr lang="en-US" altLang="zh-CN" dirty="0" err="1"/>
              <a:t>r</a:t>
            </a:r>
            <a:r>
              <a:rPr lang="en-US" altLang="zh-CN" baseline="-25000" dirty="0" err="1"/>
              <a:t>i</a:t>
            </a:r>
            <a:r>
              <a:rPr lang="en-US" altLang="zh-CN" baseline="-25000" dirty="0"/>
              <a:t> </a:t>
            </a:r>
            <a:r>
              <a:rPr lang="zh-CN" altLang="en-US" dirty="0"/>
              <a:t>＝ </a:t>
            </a:r>
            <a:r>
              <a:rPr lang="en-US" altLang="zh-CN" dirty="0" err="1"/>
              <a:t>r</a:t>
            </a:r>
            <a:r>
              <a:rPr lang="en-US" altLang="zh-CN" dirty="0" err="1">
                <a:ea typeface="宋体" panose="02010600030101010101" pitchFamily="2" charset="-122"/>
              </a:rPr>
              <a:t>'</a:t>
            </a:r>
            <a:r>
              <a:rPr lang="en-US" altLang="zh-CN" baseline="-25000" dirty="0" err="1"/>
              <a:t>i</a:t>
            </a:r>
            <a:r>
              <a:rPr lang="zh-CN" altLang="en-US" dirty="0"/>
              <a:t>＋</a:t>
            </a:r>
            <a:r>
              <a:rPr lang="en-US" altLang="zh-CN" dirty="0"/>
              <a:t>y</a:t>
            </a:r>
            <a:endParaRPr lang="en-US" altLang="zh-CN" dirty="0"/>
          </a:p>
          <a:p>
            <a:pPr marL="1438275" lvl="2" indent="-452755" eaLnBrk="1" hangingPunct="1">
              <a:lnSpc>
                <a:spcPct val="90000"/>
              </a:lnSpc>
            </a:pPr>
            <a:r>
              <a:rPr lang="en-US" altLang="zh-CN" dirty="0" err="1"/>
              <a:t>r</a:t>
            </a:r>
            <a:r>
              <a:rPr lang="en-US" altLang="zh-CN" baseline="-25000" dirty="0" err="1"/>
              <a:t>i</a:t>
            </a:r>
            <a:r>
              <a:rPr lang="zh-CN" altLang="en-US" baseline="-25000" dirty="0"/>
              <a:t>＋</a:t>
            </a:r>
            <a:r>
              <a:rPr lang="en-US" altLang="zh-CN" baseline="-25000" dirty="0"/>
              <a:t>1 </a:t>
            </a:r>
            <a:r>
              <a:rPr lang="zh-CN" altLang="en-US" dirty="0"/>
              <a:t>＝ </a:t>
            </a:r>
            <a:r>
              <a:rPr lang="en-US" altLang="zh-CN" dirty="0"/>
              <a:t>2r</a:t>
            </a:r>
            <a:r>
              <a:rPr lang="en-US" altLang="zh-CN" baseline="-25000" dirty="0"/>
              <a:t>i</a:t>
            </a:r>
            <a:r>
              <a:rPr lang="en-US" altLang="zh-CN" dirty="0"/>
              <a:t> </a:t>
            </a:r>
            <a:r>
              <a:rPr lang="en-US" altLang="zh-CN" dirty="0">
                <a:latin typeface="宋体" panose="02010600030101010101" pitchFamily="2" charset="-122"/>
                <a:ea typeface="宋体" panose="02010600030101010101" pitchFamily="2" charset="-122"/>
              </a:rPr>
              <a:t>–</a:t>
            </a:r>
            <a:r>
              <a:rPr lang="en-US" altLang="zh-CN" dirty="0"/>
              <a:t>y</a:t>
            </a:r>
            <a:r>
              <a:rPr lang="zh-CN" altLang="en-US" dirty="0"/>
              <a:t>＝ </a:t>
            </a:r>
            <a:r>
              <a:rPr lang="en-US" altLang="zh-CN" dirty="0"/>
              <a:t>2(</a:t>
            </a:r>
            <a:r>
              <a:rPr lang="en-US" altLang="zh-CN" dirty="0" err="1"/>
              <a:t>r</a:t>
            </a:r>
            <a:r>
              <a:rPr lang="en-US" altLang="zh-CN" dirty="0" err="1">
                <a:ea typeface="宋体" panose="02010600030101010101" pitchFamily="2" charset="-122"/>
              </a:rPr>
              <a:t>'</a:t>
            </a:r>
            <a:r>
              <a:rPr lang="en-US" altLang="zh-CN" baseline="-25000" dirty="0" err="1"/>
              <a:t>i</a:t>
            </a:r>
            <a:r>
              <a:rPr lang="zh-CN" altLang="en-US" dirty="0"/>
              <a:t>＋</a:t>
            </a:r>
            <a:r>
              <a:rPr lang="en-US" altLang="zh-CN" dirty="0"/>
              <a:t>y)</a:t>
            </a:r>
            <a:r>
              <a:rPr lang="en-US" altLang="zh-CN" dirty="0">
                <a:latin typeface="宋体" panose="02010600030101010101" pitchFamily="2" charset="-122"/>
                <a:ea typeface="宋体" panose="02010600030101010101" pitchFamily="2" charset="-122"/>
              </a:rPr>
              <a:t>–</a:t>
            </a:r>
            <a:r>
              <a:rPr lang="en-US" altLang="zh-CN" dirty="0"/>
              <a:t>y</a:t>
            </a:r>
            <a:r>
              <a:rPr lang="zh-CN" altLang="en-US" dirty="0"/>
              <a:t>＝</a:t>
            </a:r>
            <a:r>
              <a:rPr lang="en-US" altLang="zh-CN" dirty="0"/>
              <a:t>2r</a:t>
            </a:r>
            <a:r>
              <a:rPr lang="en-US" altLang="zh-CN" dirty="0">
                <a:ea typeface="宋体" panose="02010600030101010101" pitchFamily="2" charset="-122"/>
              </a:rPr>
              <a:t>'</a:t>
            </a:r>
            <a:r>
              <a:rPr lang="en-US" altLang="zh-CN" baseline="-25000" dirty="0"/>
              <a:t>i</a:t>
            </a:r>
            <a:r>
              <a:rPr lang="zh-CN" altLang="en-US" dirty="0"/>
              <a:t>＋</a:t>
            </a:r>
            <a:r>
              <a:rPr lang="en-US" altLang="zh-CN" dirty="0"/>
              <a:t>y</a:t>
            </a:r>
            <a:endParaRPr lang="en-US" altLang="zh-CN" dirty="0"/>
          </a:p>
          <a:p>
            <a:pPr marL="363855" indent="-363855" eaLnBrk="1" hangingPunct="1">
              <a:lnSpc>
                <a:spcPct val="90000"/>
              </a:lnSpc>
              <a:buFont typeface="Wingdings 2" charset="2"/>
              <a:buNone/>
            </a:pPr>
            <a:r>
              <a:rPr lang="en-US" altLang="zh-CN" sz="2400" dirty="0"/>
              <a:t>   </a:t>
            </a:r>
            <a:r>
              <a:rPr lang="zh-CN" altLang="en-US" sz="2400" dirty="0"/>
              <a:t>即：将</a:t>
            </a:r>
            <a:r>
              <a:rPr lang="zh-CN" altLang="en-US" sz="2400" dirty="0">
                <a:solidFill>
                  <a:schemeClr val="tx2"/>
                </a:solidFill>
              </a:rPr>
              <a:t>恢复余数</a:t>
            </a:r>
            <a:r>
              <a:rPr lang="zh-CN" altLang="en-US" sz="2400" dirty="0"/>
              <a:t>与下一步</a:t>
            </a:r>
            <a:r>
              <a:rPr lang="zh-CN" altLang="en-US" sz="2400" dirty="0">
                <a:solidFill>
                  <a:schemeClr val="tx2"/>
                </a:solidFill>
              </a:rPr>
              <a:t>部分余数左移减去除数</a:t>
            </a:r>
            <a:r>
              <a:rPr lang="zh-CN" altLang="en-US" sz="2400" dirty="0"/>
              <a:t>合并为</a:t>
            </a:r>
            <a:r>
              <a:rPr lang="zh-CN" altLang="en-US" sz="2400" dirty="0">
                <a:solidFill>
                  <a:schemeClr val="tx2"/>
                </a:solidFill>
              </a:rPr>
              <a:t>加余数。</a:t>
            </a:r>
            <a:endParaRPr lang="zh-CN" altLang="en-US" sz="2400" dirty="0">
              <a:solidFill>
                <a:schemeClr val="tx2"/>
              </a:solidFill>
            </a:endParaRPr>
          </a:p>
          <a:p>
            <a:pPr marL="363855" indent="-363855" eaLnBrk="1" hangingPunct="1">
              <a:lnSpc>
                <a:spcPct val="90000"/>
              </a:lnSpc>
              <a:buFont typeface="Wingdings 2" charset="2"/>
              <a:buNone/>
            </a:pPr>
            <a:r>
              <a:rPr lang="zh-CN" altLang="en-US" sz="2400" dirty="0"/>
              <a:t>    </a:t>
            </a:r>
            <a:r>
              <a:rPr lang="en-US" altLang="zh-CN" sz="2400" dirty="0"/>
              <a:t>2r</a:t>
            </a:r>
            <a:r>
              <a:rPr lang="en-US" altLang="zh-CN" sz="2400" dirty="0">
                <a:ea typeface="宋体" panose="02010600030101010101" pitchFamily="2" charset="-122"/>
              </a:rPr>
              <a:t>'</a:t>
            </a:r>
            <a:r>
              <a:rPr lang="en-US" altLang="zh-CN" sz="2400" baseline="-25000" dirty="0"/>
              <a:t>i</a:t>
            </a:r>
            <a:r>
              <a:rPr lang="zh-CN" altLang="en-US" sz="2400" dirty="0"/>
              <a:t>＋</a:t>
            </a:r>
            <a:r>
              <a:rPr lang="en-US" altLang="zh-CN" sz="2400" dirty="0"/>
              <a:t>y</a:t>
            </a:r>
            <a:r>
              <a:rPr lang="zh-CN" altLang="en-US" sz="2400" dirty="0"/>
              <a:t>也可理解为：商</a:t>
            </a:r>
            <a:r>
              <a:rPr lang="en-US" altLang="zh-CN" sz="2400" dirty="0"/>
              <a:t>0</a:t>
            </a:r>
            <a:r>
              <a:rPr lang="zh-CN" altLang="en-US" sz="2400" dirty="0"/>
              <a:t>后，</a:t>
            </a:r>
            <a:r>
              <a:rPr lang="en-US" altLang="zh-CN" sz="2400" dirty="0"/>
              <a:t>2r</a:t>
            </a:r>
            <a:r>
              <a:rPr lang="en-US" altLang="zh-CN" sz="2400" dirty="0">
                <a:ea typeface="宋体" panose="02010600030101010101" pitchFamily="2" charset="-122"/>
              </a:rPr>
              <a:t>'</a:t>
            </a:r>
            <a:r>
              <a:rPr lang="en-US" altLang="zh-CN" sz="2400" baseline="-25000" dirty="0"/>
              <a:t>i</a:t>
            </a:r>
            <a:r>
              <a:rPr lang="zh-CN" altLang="en-US" sz="2400" dirty="0"/>
              <a:t>中已多减了</a:t>
            </a:r>
            <a:r>
              <a:rPr lang="en-US" altLang="zh-CN" sz="2400" dirty="0"/>
              <a:t>2y</a:t>
            </a:r>
            <a:r>
              <a:rPr lang="zh-CN" altLang="en-US" sz="2400" dirty="0"/>
              <a:t>，计算</a:t>
            </a:r>
            <a:r>
              <a:rPr lang="en-US" altLang="zh-CN" sz="2400" dirty="0" err="1"/>
              <a:t>r</a:t>
            </a:r>
            <a:r>
              <a:rPr lang="en-US" altLang="zh-CN" sz="2400" baseline="-25000" dirty="0" err="1"/>
              <a:t>i</a:t>
            </a:r>
            <a:r>
              <a:rPr lang="zh-CN" altLang="en-US" sz="2400" baseline="-25000" dirty="0"/>
              <a:t>＋</a:t>
            </a:r>
            <a:r>
              <a:rPr lang="en-US" altLang="zh-CN" sz="2400" baseline="-25000" dirty="0"/>
              <a:t>1</a:t>
            </a:r>
            <a:r>
              <a:rPr lang="zh-CN" altLang="en-US" sz="2400" dirty="0"/>
              <a:t>时加</a:t>
            </a:r>
            <a:r>
              <a:rPr lang="en-US" altLang="zh-CN" sz="2400" dirty="0"/>
              <a:t>y</a:t>
            </a:r>
            <a:r>
              <a:rPr lang="zh-CN" altLang="en-US" sz="2400" dirty="0"/>
              <a:t>实际取得减除数的作用</a:t>
            </a:r>
            <a:r>
              <a:rPr lang="zh-CN" altLang="en-US" sz="2400" baseline="-25000" dirty="0"/>
              <a:t> </a:t>
            </a:r>
            <a:endParaRPr lang="zh-CN" altLang="en-US" sz="2400" dirty="0"/>
          </a:p>
          <a:p>
            <a:pPr marL="363855" indent="-363855" eaLnBrk="1" hangingPunct="1">
              <a:lnSpc>
                <a:spcPct val="90000"/>
              </a:lnSpc>
            </a:pPr>
            <a:r>
              <a:rPr lang="zh-CN" altLang="en-US" sz="2400" dirty="0"/>
              <a:t>如果最终的余数是负数，需“纠余”得到除法运算的余数： </a:t>
            </a:r>
            <a:r>
              <a:rPr lang="en-US" altLang="zh-CN" sz="2400" dirty="0" err="1"/>
              <a:t>r</a:t>
            </a:r>
            <a:r>
              <a:rPr lang="en-US" altLang="zh-CN" sz="2400" baseline="-25000" dirty="0" err="1"/>
              <a:t>n</a:t>
            </a:r>
            <a:r>
              <a:rPr lang="zh-CN" altLang="en-US" sz="2400" dirty="0"/>
              <a:t>＝</a:t>
            </a:r>
            <a:r>
              <a:rPr lang="en-US" altLang="zh-CN" sz="2400" dirty="0" err="1"/>
              <a:t>r</a:t>
            </a:r>
            <a:r>
              <a:rPr lang="en-US" altLang="zh-CN" sz="2400" dirty="0" err="1">
                <a:ea typeface="宋体" panose="02010600030101010101" pitchFamily="2" charset="-122"/>
              </a:rPr>
              <a:t>'</a:t>
            </a:r>
            <a:r>
              <a:rPr lang="en-US" altLang="zh-CN" sz="2400" baseline="-25000" dirty="0" err="1"/>
              <a:t>n</a:t>
            </a:r>
            <a:r>
              <a:rPr lang="zh-CN" altLang="en-US" sz="2400" dirty="0"/>
              <a:t>＋</a:t>
            </a:r>
            <a:r>
              <a:rPr lang="en-US" altLang="zh-CN" sz="2400" dirty="0"/>
              <a:t>y</a:t>
            </a:r>
            <a:endParaRPr lang="en-US" altLang="zh-CN" sz="2400" dirty="0"/>
          </a:p>
        </p:txBody>
      </p:sp>
    </p:spTree>
  </p:cSld>
  <p:clrMapOvr>
    <a:masterClrMapping/>
  </p:clrMapOvr>
  <p:transition spd="med">
    <p:pull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Line 2"/>
          <p:cNvSpPr>
            <a:spLocks noChangeShapeType="1"/>
          </p:cNvSpPr>
          <p:nvPr/>
        </p:nvSpPr>
        <p:spPr bwMode="auto">
          <a:xfrm>
            <a:off x="2195512" y="987425"/>
            <a:ext cx="6338887" cy="952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75" name="Text Box 3"/>
          <p:cNvSpPr txBox="1">
            <a:spLocks noChangeArrowheads="1"/>
          </p:cNvSpPr>
          <p:nvPr/>
        </p:nvSpPr>
        <p:spPr bwMode="auto">
          <a:xfrm>
            <a:off x="2347913" y="920750"/>
            <a:ext cx="20574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a:ea typeface="宋体" panose="02010600030101010101" pitchFamily="2" charset="-122"/>
              </a:rPr>
              <a:t>0 0 1 0 1 1</a:t>
            </a:r>
            <a:endParaRPr lang="en-US" altLang="zh-CN" sz="2400">
              <a:ea typeface="宋体" panose="02010600030101010101" pitchFamily="2" charset="-122"/>
            </a:endParaRPr>
          </a:p>
          <a:p>
            <a:pPr algn="ctr" eaLnBrk="1" hangingPunct="1">
              <a:spcBef>
                <a:spcPct val="0"/>
              </a:spcBef>
              <a:buClrTx/>
              <a:buFontTx/>
              <a:buNone/>
            </a:pPr>
            <a:r>
              <a:rPr lang="en-US" altLang="zh-CN" sz="2400">
                <a:ea typeface="宋体" panose="02010600030101010101" pitchFamily="2" charset="-122"/>
              </a:rPr>
              <a:t>1 1 0 0 1 1  </a:t>
            </a:r>
            <a:endParaRPr lang="en-US" altLang="zh-CN" sz="2400">
              <a:ea typeface="宋体" panose="02010600030101010101" pitchFamily="2" charset="-122"/>
            </a:endParaRPr>
          </a:p>
          <a:p>
            <a:pPr algn="ctr" eaLnBrk="1" hangingPunct="1">
              <a:spcBef>
                <a:spcPct val="0"/>
              </a:spcBef>
              <a:buClrTx/>
              <a:buFontTx/>
              <a:buNone/>
            </a:pPr>
            <a:r>
              <a:rPr lang="en-US" altLang="zh-CN" sz="2400" u="sng">
                <a:ea typeface="宋体" panose="02010600030101010101" pitchFamily="2" charset="-122"/>
              </a:rPr>
              <a:t>1</a:t>
            </a:r>
            <a:r>
              <a:rPr lang="en-US" altLang="zh-CN" sz="2400">
                <a:ea typeface="宋体" panose="02010600030101010101" pitchFamily="2" charset="-122"/>
              </a:rPr>
              <a:t> 1 1 1 1 0</a:t>
            </a:r>
            <a:endParaRPr lang="en-US" altLang="zh-CN" sz="2400">
              <a:ea typeface="宋体" panose="02010600030101010101" pitchFamily="2" charset="-122"/>
            </a:endParaRPr>
          </a:p>
          <a:p>
            <a:pPr algn="ctr" eaLnBrk="1" hangingPunct="1">
              <a:spcBef>
                <a:spcPct val="0"/>
              </a:spcBef>
              <a:buClrTx/>
              <a:buFontTx/>
              <a:buNone/>
            </a:pPr>
            <a:r>
              <a:rPr lang="en-US" altLang="zh-CN" sz="2400">
                <a:ea typeface="宋体" panose="02010600030101010101" pitchFamily="2" charset="-122"/>
              </a:rPr>
              <a:t>1 1 1 1 0 0</a:t>
            </a:r>
            <a:endParaRPr lang="en-US" altLang="zh-CN" sz="2400">
              <a:ea typeface="宋体" panose="02010600030101010101" pitchFamily="2" charset="-122"/>
            </a:endParaRPr>
          </a:p>
          <a:p>
            <a:pPr algn="ctr" eaLnBrk="1" hangingPunct="1">
              <a:spcBef>
                <a:spcPct val="0"/>
              </a:spcBef>
              <a:buClrTx/>
              <a:buFontTx/>
              <a:buNone/>
            </a:pPr>
            <a:r>
              <a:rPr lang="en-US" altLang="zh-CN" sz="2400">
                <a:ea typeface="宋体" panose="02010600030101010101" pitchFamily="2" charset="-122"/>
              </a:rPr>
              <a:t>0 0 1 1 0 1</a:t>
            </a:r>
            <a:endParaRPr lang="en-US" altLang="zh-CN" sz="2400">
              <a:ea typeface="宋体" panose="02010600030101010101" pitchFamily="2" charset="-122"/>
            </a:endParaRPr>
          </a:p>
          <a:p>
            <a:pPr algn="ctr" eaLnBrk="1" hangingPunct="1">
              <a:spcBef>
                <a:spcPct val="0"/>
              </a:spcBef>
              <a:buClrTx/>
              <a:buFontTx/>
              <a:buNone/>
            </a:pPr>
            <a:r>
              <a:rPr lang="en-US" altLang="zh-CN" sz="2400" u="sng">
                <a:ea typeface="宋体" panose="02010600030101010101" pitchFamily="2" charset="-122"/>
              </a:rPr>
              <a:t>0</a:t>
            </a:r>
            <a:r>
              <a:rPr lang="en-US" altLang="zh-CN" sz="2400">
                <a:ea typeface="宋体" panose="02010600030101010101" pitchFamily="2" charset="-122"/>
              </a:rPr>
              <a:t> 0 1 0 0 1</a:t>
            </a:r>
            <a:endParaRPr lang="en-US" altLang="zh-CN" sz="2400">
              <a:ea typeface="宋体" panose="02010600030101010101" pitchFamily="2" charset="-122"/>
            </a:endParaRPr>
          </a:p>
          <a:p>
            <a:pPr algn="ctr" eaLnBrk="1" hangingPunct="1">
              <a:spcBef>
                <a:spcPct val="0"/>
              </a:spcBef>
              <a:buClrTx/>
              <a:buFontTx/>
              <a:buNone/>
            </a:pPr>
            <a:r>
              <a:rPr lang="en-US" altLang="zh-CN" sz="2400">
                <a:ea typeface="宋体" panose="02010600030101010101" pitchFamily="2" charset="-122"/>
              </a:rPr>
              <a:t>0 1 0 0 10</a:t>
            </a:r>
            <a:endParaRPr lang="en-US" altLang="zh-CN" sz="2400">
              <a:ea typeface="宋体" panose="02010600030101010101" pitchFamily="2" charset="-122"/>
            </a:endParaRPr>
          </a:p>
          <a:p>
            <a:pPr algn="ctr" eaLnBrk="1" hangingPunct="1">
              <a:spcBef>
                <a:spcPct val="0"/>
              </a:spcBef>
              <a:buClrTx/>
              <a:buFontTx/>
              <a:buNone/>
            </a:pPr>
            <a:r>
              <a:rPr lang="en-US" altLang="zh-CN" sz="2400">
                <a:ea typeface="宋体" panose="02010600030101010101" pitchFamily="2" charset="-122"/>
              </a:rPr>
              <a:t>1 1 0 0 1 1</a:t>
            </a:r>
            <a:endParaRPr lang="en-US" altLang="zh-CN" sz="2400">
              <a:ea typeface="宋体" panose="02010600030101010101" pitchFamily="2" charset="-122"/>
            </a:endParaRPr>
          </a:p>
          <a:p>
            <a:pPr algn="ctr" eaLnBrk="1" hangingPunct="1">
              <a:spcBef>
                <a:spcPct val="0"/>
              </a:spcBef>
              <a:buClrTx/>
              <a:buFontTx/>
              <a:buNone/>
            </a:pPr>
            <a:r>
              <a:rPr lang="en-US" altLang="zh-CN" sz="2400" u="sng">
                <a:ea typeface="宋体" panose="02010600030101010101" pitchFamily="2" charset="-122"/>
              </a:rPr>
              <a:t>0</a:t>
            </a:r>
            <a:r>
              <a:rPr lang="en-US" altLang="zh-CN" sz="2400">
                <a:ea typeface="宋体" panose="02010600030101010101" pitchFamily="2" charset="-122"/>
              </a:rPr>
              <a:t> 0 0 1 0 1</a:t>
            </a:r>
            <a:endParaRPr lang="en-US" altLang="zh-CN" sz="2400">
              <a:ea typeface="宋体" panose="02010600030101010101" pitchFamily="2" charset="-122"/>
            </a:endParaRPr>
          </a:p>
          <a:p>
            <a:pPr algn="ctr" eaLnBrk="1" hangingPunct="1">
              <a:spcBef>
                <a:spcPct val="0"/>
              </a:spcBef>
              <a:buClrTx/>
              <a:buFontTx/>
              <a:buNone/>
            </a:pPr>
            <a:r>
              <a:rPr lang="en-US" altLang="zh-CN" sz="2400">
                <a:ea typeface="宋体" panose="02010600030101010101" pitchFamily="2" charset="-122"/>
              </a:rPr>
              <a:t>0 0 1 0 1 0</a:t>
            </a:r>
            <a:endParaRPr lang="en-US" altLang="zh-CN" sz="2400">
              <a:ea typeface="宋体" panose="02010600030101010101" pitchFamily="2" charset="-122"/>
            </a:endParaRPr>
          </a:p>
          <a:p>
            <a:pPr algn="ctr" eaLnBrk="1" hangingPunct="1">
              <a:spcBef>
                <a:spcPct val="0"/>
              </a:spcBef>
              <a:buClrTx/>
              <a:buFontTx/>
              <a:buNone/>
            </a:pPr>
            <a:r>
              <a:rPr lang="en-US" altLang="zh-CN" sz="2400">
                <a:ea typeface="宋体" panose="02010600030101010101" pitchFamily="2" charset="-122"/>
              </a:rPr>
              <a:t>1 1 0 0 1 1</a:t>
            </a:r>
            <a:endParaRPr lang="en-US" altLang="zh-CN" sz="2400">
              <a:ea typeface="宋体" panose="02010600030101010101" pitchFamily="2" charset="-122"/>
            </a:endParaRPr>
          </a:p>
          <a:p>
            <a:pPr algn="ctr" eaLnBrk="1" hangingPunct="1">
              <a:spcBef>
                <a:spcPct val="0"/>
              </a:spcBef>
              <a:buClrTx/>
              <a:buFontTx/>
              <a:buNone/>
            </a:pPr>
            <a:r>
              <a:rPr lang="en-US" altLang="zh-CN" sz="2400" u="sng">
                <a:ea typeface="宋体" panose="02010600030101010101" pitchFamily="2" charset="-122"/>
              </a:rPr>
              <a:t>1</a:t>
            </a:r>
            <a:r>
              <a:rPr lang="en-US" altLang="zh-CN" sz="2400">
                <a:ea typeface="宋体" panose="02010600030101010101" pitchFamily="2" charset="-122"/>
              </a:rPr>
              <a:t> 1 1 1 0 1</a:t>
            </a:r>
            <a:endParaRPr lang="en-US" altLang="zh-CN" sz="2400">
              <a:ea typeface="宋体" panose="02010600030101010101" pitchFamily="2" charset="-122"/>
            </a:endParaRPr>
          </a:p>
          <a:p>
            <a:pPr algn="ctr" eaLnBrk="1" hangingPunct="1">
              <a:spcBef>
                <a:spcPct val="0"/>
              </a:spcBef>
              <a:buClrTx/>
              <a:buFontTx/>
              <a:buNone/>
            </a:pPr>
            <a:r>
              <a:rPr lang="en-US" altLang="zh-CN" sz="2400">
                <a:ea typeface="宋体" panose="02010600030101010101" pitchFamily="2" charset="-122"/>
              </a:rPr>
              <a:t>1 1 1 0 1 0</a:t>
            </a:r>
            <a:endParaRPr lang="en-US" altLang="zh-CN" sz="2400">
              <a:ea typeface="宋体" panose="02010600030101010101" pitchFamily="2" charset="-122"/>
            </a:endParaRPr>
          </a:p>
          <a:p>
            <a:pPr algn="ctr" eaLnBrk="1" hangingPunct="1">
              <a:spcBef>
                <a:spcPct val="0"/>
              </a:spcBef>
              <a:buClrTx/>
              <a:buFontTx/>
              <a:buNone/>
            </a:pPr>
            <a:r>
              <a:rPr lang="en-US" altLang="zh-CN" sz="2400">
                <a:ea typeface="宋体" panose="02010600030101010101" pitchFamily="2" charset="-122"/>
              </a:rPr>
              <a:t>0 0 1 1 01</a:t>
            </a:r>
            <a:endParaRPr lang="en-US" altLang="zh-CN" sz="2400">
              <a:ea typeface="宋体" panose="02010600030101010101" pitchFamily="2" charset="-122"/>
            </a:endParaRPr>
          </a:p>
          <a:p>
            <a:pPr algn="ctr" eaLnBrk="1" hangingPunct="1">
              <a:spcBef>
                <a:spcPct val="0"/>
              </a:spcBef>
              <a:buClrTx/>
              <a:buFontTx/>
              <a:buNone/>
            </a:pPr>
            <a:r>
              <a:rPr lang="en-US" altLang="zh-CN" sz="2400" u="sng">
                <a:ea typeface="宋体" panose="02010600030101010101" pitchFamily="2" charset="-122"/>
              </a:rPr>
              <a:t>0</a:t>
            </a:r>
            <a:r>
              <a:rPr lang="en-US" altLang="zh-CN" sz="2400">
                <a:ea typeface="宋体" panose="02010600030101010101" pitchFamily="2" charset="-122"/>
              </a:rPr>
              <a:t> 0 0 1 1 1</a:t>
            </a:r>
            <a:endParaRPr lang="en-US" altLang="zh-CN" sz="2400">
              <a:ea typeface="宋体" panose="02010600030101010101" pitchFamily="2" charset="-122"/>
            </a:endParaRPr>
          </a:p>
        </p:txBody>
      </p:sp>
      <p:sp>
        <p:nvSpPr>
          <p:cNvPr id="54276" name="Line 4"/>
          <p:cNvSpPr>
            <a:spLocks noChangeShapeType="1"/>
          </p:cNvSpPr>
          <p:nvPr/>
        </p:nvSpPr>
        <p:spPr bwMode="auto">
          <a:xfrm>
            <a:off x="2463800" y="1687513"/>
            <a:ext cx="16764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77" name="Line 5"/>
          <p:cNvSpPr>
            <a:spLocks noChangeShapeType="1"/>
          </p:cNvSpPr>
          <p:nvPr/>
        </p:nvSpPr>
        <p:spPr bwMode="auto">
          <a:xfrm>
            <a:off x="2463800" y="2767013"/>
            <a:ext cx="16764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78" name="Line 6"/>
          <p:cNvSpPr>
            <a:spLocks noChangeShapeType="1"/>
          </p:cNvSpPr>
          <p:nvPr/>
        </p:nvSpPr>
        <p:spPr bwMode="auto">
          <a:xfrm>
            <a:off x="2411413" y="3892550"/>
            <a:ext cx="16764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79" name="Line 7"/>
          <p:cNvSpPr>
            <a:spLocks noChangeShapeType="1"/>
          </p:cNvSpPr>
          <p:nvPr/>
        </p:nvSpPr>
        <p:spPr bwMode="auto">
          <a:xfrm>
            <a:off x="2411413" y="4999038"/>
            <a:ext cx="1752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0" name="Line 8"/>
          <p:cNvSpPr>
            <a:spLocks noChangeShapeType="1"/>
          </p:cNvSpPr>
          <p:nvPr/>
        </p:nvSpPr>
        <p:spPr bwMode="auto">
          <a:xfrm>
            <a:off x="2411413" y="6080125"/>
            <a:ext cx="16764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1" name="Text Box 9"/>
          <p:cNvSpPr txBox="1">
            <a:spLocks noChangeArrowheads="1"/>
          </p:cNvSpPr>
          <p:nvPr/>
        </p:nvSpPr>
        <p:spPr bwMode="auto">
          <a:xfrm>
            <a:off x="5386387" y="971355"/>
            <a:ext cx="3581400"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0  0  0  0  0      </a:t>
            </a:r>
            <a:r>
              <a:rPr lang="zh-CN" altLang="en-US" sz="2400" dirty="0">
                <a:ea typeface="楷体" panose="02010609060101010101" pitchFamily="49" charset="-122"/>
                <a:cs typeface="Times New Roman" panose="02020603050405020304" pitchFamily="18" charset="0"/>
              </a:rPr>
              <a:t>开始情形</a:t>
            </a:r>
            <a:endParaRPr lang="zh-CN" altLang="en-US" sz="2400" dirty="0">
              <a:ea typeface="楷体" panose="02010609060101010101" pitchFamily="49" charset="-122"/>
              <a:cs typeface="Times New Roman" panose="02020603050405020304" pitchFamily="18" charset="0"/>
            </a:endParaRPr>
          </a:p>
          <a:p>
            <a:pPr algn="l" eaLnBrk="1" hangingPunct="1">
              <a:spcBef>
                <a:spcPct val="0"/>
              </a:spcBef>
              <a:buClrTx/>
              <a:buFontTx/>
              <a:buNone/>
            </a:pPr>
            <a:r>
              <a:rPr lang="zh-CN" altLang="en-US" sz="2400" dirty="0">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-Y</a:t>
            </a:r>
            <a:endParaRPr lang="en-US" altLang="zh-CN" sz="2400" dirty="0">
              <a:ea typeface="楷体" panose="02010609060101010101" pitchFamily="49" charset="-122"/>
              <a:cs typeface="Times New Roman" panose="02020603050405020304" pitchFamily="18" charset="0"/>
            </a:endParaRPr>
          </a:p>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0  0  0  0  </a:t>
            </a:r>
            <a:r>
              <a:rPr lang="en-US" altLang="zh-CN" sz="2400" u="sng" dirty="0">
                <a:solidFill>
                  <a:srgbClr val="000099"/>
                </a:solidFill>
                <a:ea typeface="楷体" panose="02010609060101010101" pitchFamily="49" charset="-122"/>
                <a:cs typeface="Times New Roman" panose="02020603050405020304" pitchFamily="18" charset="0"/>
              </a:rPr>
              <a:t>0</a:t>
            </a:r>
            <a:r>
              <a:rPr lang="en-US" altLang="zh-CN" sz="2400" dirty="0">
                <a:solidFill>
                  <a:srgbClr val="FF0000"/>
                </a:solidFill>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&lt;0, </a:t>
            </a:r>
            <a:r>
              <a:rPr lang="zh-CN" altLang="en-US" sz="2400" dirty="0">
                <a:ea typeface="楷体" panose="02010609060101010101" pitchFamily="49" charset="-122"/>
                <a:cs typeface="Times New Roman" panose="02020603050405020304" pitchFamily="18" charset="0"/>
              </a:rPr>
              <a:t>商</a:t>
            </a:r>
            <a:r>
              <a:rPr lang="en-US" altLang="zh-CN" sz="2400" dirty="0">
                <a:solidFill>
                  <a:schemeClr val="tx2"/>
                </a:solidFill>
                <a:ea typeface="楷体" panose="02010609060101010101" pitchFamily="49" charset="-122"/>
                <a:cs typeface="Times New Roman" panose="02020603050405020304" pitchFamily="18" charset="0"/>
              </a:rPr>
              <a:t>0</a:t>
            </a:r>
            <a:endParaRPr lang="en-US" altLang="zh-CN" sz="2400" dirty="0">
              <a:solidFill>
                <a:schemeClr val="tx2"/>
              </a:solidFill>
              <a:ea typeface="楷体" panose="02010609060101010101" pitchFamily="49" charset="-122"/>
              <a:cs typeface="Times New Roman" panose="02020603050405020304" pitchFamily="18" charset="0"/>
            </a:endParaRPr>
          </a:p>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0  0  0  </a:t>
            </a:r>
            <a:r>
              <a:rPr lang="en-US" altLang="zh-CN" sz="2400" dirty="0">
                <a:solidFill>
                  <a:srgbClr val="000099"/>
                </a:solidFill>
                <a:ea typeface="楷体" panose="02010609060101010101" pitchFamily="49" charset="-122"/>
                <a:cs typeface="Times New Roman" panose="02020603050405020304" pitchFamily="18" charset="0"/>
              </a:rPr>
              <a:t>0</a:t>
            </a:r>
            <a:r>
              <a:rPr lang="en-US" altLang="zh-CN" sz="2400" dirty="0">
                <a:ea typeface="楷体" panose="02010609060101010101" pitchFamily="49" charset="-122"/>
                <a:cs typeface="Times New Roman" panose="02020603050405020304" pitchFamily="18" charset="0"/>
              </a:rPr>
              <a:t>  0       </a:t>
            </a:r>
            <a:r>
              <a:rPr lang="zh-CN" altLang="en-US" sz="2400" dirty="0">
                <a:ea typeface="楷体" panose="02010609060101010101" pitchFamily="49" charset="-122"/>
                <a:cs typeface="Times New Roman" panose="02020603050405020304" pitchFamily="18" charset="0"/>
              </a:rPr>
              <a:t>左移</a:t>
            </a:r>
            <a:r>
              <a:rPr lang="en-US" altLang="zh-CN" sz="2400" dirty="0">
                <a:ea typeface="楷体" panose="02010609060101010101" pitchFamily="49" charset="-122"/>
                <a:cs typeface="Times New Roman" panose="02020603050405020304" pitchFamily="18" charset="0"/>
              </a:rPr>
              <a:t>1</a:t>
            </a:r>
            <a:r>
              <a:rPr lang="zh-CN" altLang="en-US" sz="2400" dirty="0">
                <a:ea typeface="楷体" panose="02010609060101010101" pitchFamily="49" charset="-122"/>
                <a:cs typeface="Times New Roman" panose="02020603050405020304" pitchFamily="18" charset="0"/>
              </a:rPr>
              <a:t>位</a:t>
            </a:r>
            <a:endParaRPr lang="zh-CN" altLang="en-US" sz="2400" dirty="0">
              <a:ea typeface="楷体" panose="02010609060101010101" pitchFamily="49" charset="-122"/>
              <a:cs typeface="Times New Roman" panose="02020603050405020304" pitchFamily="18" charset="0"/>
            </a:endParaRPr>
          </a:p>
          <a:p>
            <a:pPr algn="l" eaLnBrk="1" hangingPunct="1">
              <a:spcBef>
                <a:spcPct val="0"/>
              </a:spcBef>
              <a:buClrTx/>
              <a:buFontTx/>
              <a:buNone/>
            </a:pPr>
            <a:r>
              <a:rPr lang="zh-CN" altLang="en-US" sz="2400" dirty="0">
                <a:ea typeface="楷体" panose="02010609060101010101" pitchFamily="49" charset="-122"/>
                <a:cs typeface="Times New Roman" panose="02020603050405020304" pitchFamily="18" charset="0"/>
              </a:rPr>
              <a:t>                         </a:t>
            </a:r>
            <a:r>
              <a:rPr lang="en-US" altLang="zh-CN" sz="2400" dirty="0">
                <a:solidFill>
                  <a:srgbClr val="FF0000"/>
                </a:solidFill>
                <a:ea typeface="楷体" panose="02010609060101010101" pitchFamily="49" charset="-122"/>
                <a:cs typeface="Times New Roman" panose="02020603050405020304" pitchFamily="18" charset="0"/>
              </a:rPr>
              <a:t>+Y</a:t>
            </a:r>
            <a:endParaRPr lang="en-US" altLang="zh-CN" sz="2400" dirty="0">
              <a:solidFill>
                <a:srgbClr val="FF0000"/>
              </a:solidFill>
              <a:ea typeface="楷体" panose="02010609060101010101" pitchFamily="49" charset="-122"/>
              <a:cs typeface="Times New Roman" panose="02020603050405020304" pitchFamily="18" charset="0"/>
            </a:endParaRPr>
          </a:p>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0  0  0  </a:t>
            </a:r>
            <a:r>
              <a:rPr lang="en-US" altLang="zh-CN" sz="2400" dirty="0">
                <a:solidFill>
                  <a:srgbClr val="000099"/>
                </a:solidFill>
                <a:ea typeface="楷体" panose="02010609060101010101" pitchFamily="49" charset="-122"/>
                <a:cs typeface="Times New Roman" panose="02020603050405020304" pitchFamily="18" charset="0"/>
              </a:rPr>
              <a:t>0  </a:t>
            </a:r>
            <a:r>
              <a:rPr lang="en-US" altLang="zh-CN" sz="2400" u="sng" dirty="0">
                <a:solidFill>
                  <a:srgbClr val="000099"/>
                </a:solidFill>
                <a:ea typeface="楷体" panose="02010609060101010101" pitchFamily="49" charset="-122"/>
                <a:cs typeface="Times New Roman" panose="02020603050405020304" pitchFamily="18" charset="0"/>
              </a:rPr>
              <a:t>1</a:t>
            </a:r>
            <a:r>
              <a:rPr lang="en-US" altLang="zh-CN" sz="2400" dirty="0">
                <a:solidFill>
                  <a:srgbClr val="FF0000"/>
                </a:solidFill>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&gt;0, </a:t>
            </a:r>
            <a:r>
              <a:rPr lang="zh-CN" altLang="en-US" sz="2400" dirty="0">
                <a:ea typeface="楷体" panose="02010609060101010101" pitchFamily="49" charset="-122"/>
                <a:cs typeface="Times New Roman" panose="02020603050405020304" pitchFamily="18" charset="0"/>
              </a:rPr>
              <a:t>商</a:t>
            </a:r>
            <a:r>
              <a:rPr lang="en-US" altLang="zh-CN" sz="2400" dirty="0">
                <a:solidFill>
                  <a:schemeClr val="tx2"/>
                </a:solidFill>
                <a:ea typeface="楷体" panose="02010609060101010101" pitchFamily="49" charset="-122"/>
                <a:cs typeface="Times New Roman" panose="02020603050405020304" pitchFamily="18" charset="0"/>
              </a:rPr>
              <a:t>1</a:t>
            </a:r>
            <a:endParaRPr lang="en-US" altLang="zh-CN" sz="2400" dirty="0">
              <a:solidFill>
                <a:schemeClr val="tx2"/>
              </a:solidFill>
              <a:ea typeface="楷体" panose="02010609060101010101" pitchFamily="49" charset="-122"/>
              <a:cs typeface="Times New Roman" panose="02020603050405020304" pitchFamily="18" charset="0"/>
            </a:endParaRPr>
          </a:p>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0  0  </a:t>
            </a:r>
            <a:r>
              <a:rPr lang="en-US" altLang="zh-CN" sz="2400" dirty="0">
                <a:solidFill>
                  <a:srgbClr val="000099"/>
                </a:solidFill>
                <a:ea typeface="楷体" panose="02010609060101010101" pitchFamily="49" charset="-122"/>
                <a:cs typeface="Times New Roman" panose="02020603050405020304" pitchFamily="18" charset="0"/>
              </a:rPr>
              <a:t>0  1</a:t>
            </a:r>
            <a:r>
              <a:rPr lang="en-US" altLang="zh-CN" sz="2400" dirty="0">
                <a:ea typeface="楷体" panose="02010609060101010101" pitchFamily="49" charset="-122"/>
                <a:cs typeface="Times New Roman" panose="02020603050405020304" pitchFamily="18" charset="0"/>
              </a:rPr>
              <a:t>  0      </a:t>
            </a:r>
            <a:r>
              <a:rPr lang="zh-CN" altLang="en-US" sz="2400" dirty="0">
                <a:ea typeface="楷体" panose="02010609060101010101" pitchFamily="49" charset="-122"/>
                <a:cs typeface="Times New Roman" panose="02020603050405020304" pitchFamily="18" charset="0"/>
              </a:rPr>
              <a:t>左移</a:t>
            </a:r>
            <a:r>
              <a:rPr lang="en-US" altLang="zh-CN" sz="2400" dirty="0">
                <a:ea typeface="楷体" panose="02010609060101010101" pitchFamily="49" charset="-122"/>
                <a:cs typeface="Times New Roman" panose="02020603050405020304" pitchFamily="18" charset="0"/>
              </a:rPr>
              <a:t>1</a:t>
            </a:r>
            <a:r>
              <a:rPr lang="zh-CN" altLang="en-US" sz="2400" dirty="0">
                <a:ea typeface="楷体" panose="02010609060101010101" pitchFamily="49" charset="-122"/>
                <a:cs typeface="Times New Roman" panose="02020603050405020304" pitchFamily="18" charset="0"/>
              </a:rPr>
              <a:t>位</a:t>
            </a:r>
            <a:endParaRPr lang="zh-CN" altLang="en-US" sz="2400" dirty="0">
              <a:ea typeface="楷体" panose="02010609060101010101" pitchFamily="49" charset="-122"/>
              <a:cs typeface="Times New Roman" panose="02020603050405020304" pitchFamily="18" charset="0"/>
            </a:endParaRPr>
          </a:p>
          <a:p>
            <a:pPr algn="l" eaLnBrk="1" hangingPunct="1">
              <a:spcBef>
                <a:spcPct val="0"/>
              </a:spcBef>
              <a:buClrTx/>
              <a:buFontTx/>
              <a:buNone/>
            </a:pPr>
            <a:r>
              <a:rPr lang="zh-CN" altLang="en-US" sz="2400" dirty="0">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-Y</a:t>
            </a:r>
            <a:endParaRPr lang="en-US" altLang="zh-CN" sz="2400" dirty="0">
              <a:ea typeface="楷体" panose="02010609060101010101" pitchFamily="49" charset="-122"/>
              <a:cs typeface="Times New Roman" panose="02020603050405020304" pitchFamily="18" charset="0"/>
            </a:endParaRPr>
          </a:p>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0  0  </a:t>
            </a:r>
            <a:r>
              <a:rPr lang="en-US" altLang="zh-CN" sz="2400" dirty="0">
                <a:solidFill>
                  <a:srgbClr val="000099"/>
                </a:solidFill>
                <a:ea typeface="楷体" panose="02010609060101010101" pitchFamily="49" charset="-122"/>
                <a:cs typeface="Times New Roman" panose="02020603050405020304" pitchFamily="18" charset="0"/>
              </a:rPr>
              <a:t>0  1  </a:t>
            </a:r>
            <a:r>
              <a:rPr lang="en-US" altLang="zh-CN" sz="2400" u="sng" dirty="0">
                <a:solidFill>
                  <a:srgbClr val="000099"/>
                </a:solidFill>
                <a:ea typeface="楷体" panose="02010609060101010101" pitchFamily="49" charset="-122"/>
                <a:cs typeface="Times New Roman" panose="02020603050405020304" pitchFamily="18" charset="0"/>
              </a:rPr>
              <a:t>1</a:t>
            </a:r>
            <a:r>
              <a:rPr lang="en-US" altLang="zh-CN" sz="2400" dirty="0">
                <a:solidFill>
                  <a:srgbClr val="000099"/>
                </a:solidFill>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&gt;0, </a:t>
            </a:r>
            <a:r>
              <a:rPr lang="zh-CN" altLang="en-US" sz="2400" dirty="0">
                <a:ea typeface="楷体" panose="02010609060101010101" pitchFamily="49" charset="-122"/>
                <a:cs typeface="Times New Roman" panose="02020603050405020304" pitchFamily="18" charset="0"/>
              </a:rPr>
              <a:t>商</a:t>
            </a:r>
            <a:r>
              <a:rPr lang="en-US" altLang="zh-CN" sz="2400" dirty="0">
                <a:solidFill>
                  <a:schemeClr val="tx2"/>
                </a:solidFill>
                <a:ea typeface="楷体" panose="02010609060101010101" pitchFamily="49" charset="-122"/>
                <a:cs typeface="Times New Roman" panose="02020603050405020304" pitchFamily="18" charset="0"/>
              </a:rPr>
              <a:t>1</a:t>
            </a:r>
            <a:endParaRPr lang="en-US" altLang="zh-CN" sz="2400" dirty="0">
              <a:solidFill>
                <a:schemeClr val="tx2"/>
              </a:solidFill>
              <a:ea typeface="楷体" panose="02010609060101010101" pitchFamily="49" charset="-122"/>
              <a:cs typeface="Times New Roman" panose="02020603050405020304" pitchFamily="18" charset="0"/>
            </a:endParaRPr>
          </a:p>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a:t>
            </a:r>
            <a:r>
              <a:rPr lang="en-US" altLang="zh-CN" sz="2400" dirty="0">
                <a:solidFill>
                  <a:srgbClr val="000099"/>
                </a:solidFill>
                <a:ea typeface="楷体" panose="02010609060101010101" pitchFamily="49" charset="-122"/>
                <a:cs typeface="Times New Roman" panose="02020603050405020304" pitchFamily="18" charset="0"/>
              </a:rPr>
              <a:t>0  1  1  </a:t>
            </a:r>
            <a:r>
              <a:rPr lang="en-US" altLang="zh-CN" sz="2400" dirty="0">
                <a:ea typeface="楷体" panose="02010609060101010101" pitchFamily="49" charset="-122"/>
                <a:cs typeface="Times New Roman" panose="02020603050405020304" pitchFamily="18" charset="0"/>
              </a:rPr>
              <a:t>0      </a:t>
            </a:r>
            <a:r>
              <a:rPr lang="zh-CN" altLang="en-US" sz="2400" dirty="0">
                <a:ea typeface="楷体" panose="02010609060101010101" pitchFamily="49" charset="-122"/>
                <a:cs typeface="Times New Roman" panose="02020603050405020304" pitchFamily="18" charset="0"/>
              </a:rPr>
              <a:t>左移</a:t>
            </a:r>
            <a:r>
              <a:rPr lang="en-US" altLang="zh-CN" sz="2400" dirty="0">
                <a:ea typeface="楷体" panose="02010609060101010101" pitchFamily="49" charset="-122"/>
                <a:cs typeface="Times New Roman" panose="02020603050405020304" pitchFamily="18" charset="0"/>
              </a:rPr>
              <a:t>1</a:t>
            </a:r>
            <a:r>
              <a:rPr lang="zh-CN" altLang="en-US" sz="2400" dirty="0">
                <a:ea typeface="楷体" panose="02010609060101010101" pitchFamily="49" charset="-122"/>
                <a:cs typeface="Times New Roman" panose="02020603050405020304" pitchFamily="18" charset="0"/>
              </a:rPr>
              <a:t>位</a:t>
            </a:r>
            <a:endParaRPr lang="zh-CN" altLang="en-US" sz="2400" dirty="0">
              <a:ea typeface="楷体" panose="02010609060101010101" pitchFamily="49" charset="-122"/>
              <a:cs typeface="Times New Roman" panose="02020603050405020304" pitchFamily="18" charset="0"/>
            </a:endParaRPr>
          </a:p>
          <a:p>
            <a:pPr algn="l" eaLnBrk="1" hangingPunct="1">
              <a:spcBef>
                <a:spcPct val="0"/>
              </a:spcBef>
              <a:buClrTx/>
              <a:buFontTx/>
              <a:buNone/>
            </a:pPr>
            <a:r>
              <a:rPr lang="zh-CN" altLang="en-US" sz="2400" dirty="0">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-Y</a:t>
            </a:r>
            <a:endParaRPr lang="en-US" altLang="zh-CN" sz="2400" dirty="0">
              <a:ea typeface="楷体" panose="02010609060101010101" pitchFamily="49" charset="-122"/>
              <a:cs typeface="Times New Roman" panose="02020603050405020304" pitchFamily="18" charset="0"/>
            </a:endParaRPr>
          </a:p>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a:t>
            </a:r>
            <a:r>
              <a:rPr lang="en-US" altLang="zh-CN" sz="2400" dirty="0">
                <a:solidFill>
                  <a:srgbClr val="000099"/>
                </a:solidFill>
                <a:ea typeface="楷体" panose="02010609060101010101" pitchFamily="49" charset="-122"/>
                <a:cs typeface="Times New Roman" panose="02020603050405020304" pitchFamily="18" charset="0"/>
              </a:rPr>
              <a:t>0  1  1  </a:t>
            </a:r>
            <a:r>
              <a:rPr lang="en-US" altLang="zh-CN" sz="2400" u="sng" dirty="0">
                <a:solidFill>
                  <a:srgbClr val="000099"/>
                </a:solidFill>
                <a:ea typeface="楷体" panose="02010609060101010101" pitchFamily="49" charset="-122"/>
                <a:cs typeface="Times New Roman" panose="02020603050405020304" pitchFamily="18" charset="0"/>
              </a:rPr>
              <a:t>0</a:t>
            </a:r>
            <a:r>
              <a:rPr lang="en-US" altLang="zh-CN" sz="2400" dirty="0">
                <a:solidFill>
                  <a:srgbClr val="000099"/>
                </a:solidFill>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&lt;0, </a:t>
            </a:r>
            <a:r>
              <a:rPr lang="zh-CN" altLang="en-US" sz="2400" dirty="0">
                <a:ea typeface="楷体" panose="02010609060101010101" pitchFamily="49" charset="-122"/>
                <a:cs typeface="Times New Roman" panose="02020603050405020304" pitchFamily="18" charset="0"/>
              </a:rPr>
              <a:t>商</a:t>
            </a:r>
            <a:r>
              <a:rPr lang="en-US" altLang="zh-CN" sz="2400" dirty="0">
                <a:solidFill>
                  <a:schemeClr val="tx2"/>
                </a:solidFill>
                <a:ea typeface="楷体" panose="02010609060101010101" pitchFamily="49" charset="-122"/>
                <a:cs typeface="Times New Roman" panose="02020603050405020304" pitchFamily="18" charset="0"/>
              </a:rPr>
              <a:t>0</a:t>
            </a:r>
            <a:endParaRPr lang="en-US" altLang="zh-CN" sz="2400" dirty="0">
              <a:solidFill>
                <a:schemeClr val="tx2"/>
              </a:solidFill>
              <a:ea typeface="楷体" panose="02010609060101010101" pitchFamily="49" charset="-122"/>
              <a:cs typeface="Times New Roman" panose="02020603050405020304" pitchFamily="18" charset="0"/>
            </a:endParaRPr>
          </a:p>
          <a:p>
            <a:pPr algn="l" eaLnBrk="1" hangingPunct="1">
              <a:spcBef>
                <a:spcPct val="0"/>
              </a:spcBef>
              <a:buClrTx/>
              <a:buFontTx/>
              <a:buNone/>
            </a:pPr>
            <a:r>
              <a:rPr lang="en-US" altLang="zh-CN" sz="2400" dirty="0">
                <a:solidFill>
                  <a:srgbClr val="000099"/>
                </a:solidFill>
                <a:ea typeface="楷体" panose="02010609060101010101" pitchFamily="49" charset="-122"/>
                <a:cs typeface="Times New Roman" panose="02020603050405020304" pitchFamily="18" charset="0"/>
              </a:rPr>
              <a:t>0  1  1  0  </a:t>
            </a:r>
            <a:r>
              <a:rPr lang="en-US" altLang="zh-CN" sz="2400" dirty="0">
                <a:ea typeface="楷体" panose="02010609060101010101" pitchFamily="49" charset="-122"/>
                <a:cs typeface="Times New Roman" panose="02020603050405020304" pitchFamily="18" charset="0"/>
              </a:rPr>
              <a:t>0      </a:t>
            </a:r>
            <a:r>
              <a:rPr lang="zh-CN" altLang="en-US" sz="2400" dirty="0">
                <a:ea typeface="楷体" panose="02010609060101010101" pitchFamily="49" charset="-122"/>
                <a:cs typeface="Times New Roman" panose="02020603050405020304" pitchFamily="18" charset="0"/>
              </a:rPr>
              <a:t>左移</a:t>
            </a:r>
            <a:r>
              <a:rPr lang="en-US" altLang="zh-CN" sz="2400" dirty="0">
                <a:ea typeface="楷体" panose="02010609060101010101" pitchFamily="49" charset="-122"/>
                <a:cs typeface="Times New Roman" panose="02020603050405020304" pitchFamily="18" charset="0"/>
              </a:rPr>
              <a:t>1</a:t>
            </a:r>
            <a:r>
              <a:rPr lang="zh-CN" altLang="en-US" sz="2400" dirty="0">
                <a:ea typeface="楷体" panose="02010609060101010101" pitchFamily="49" charset="-122"/>
                <a:cs typeface="Times New Roman" panose="02020603050405020304" pitchFamily="18" charset="0"/>
              </a:rPr>
              <a:t>位</a:t>
            </a:r>
            <a:endParaRPr lang="zh-CN" altLang="en-US" sz="2400" dirty="0">
              <a:ea typeface="楷体" panose="02010609060101010101" pitchFamily="49" charset="-122"/>
              <a:cs typeface="Times New Roman" panose="02020603050405020304" pitchFamily="18" charset="0"/>
            </a:endParaRPr>
          </a:p>
          <a:p>
            <a:pPr algn="l" eaLnBrk="1" hangingPunct="1">
              <a:spcBef>
                <a:spcPct val="0"/>
              </a:spcBef>
              <a:buClrTx/>
              <a:buFontTx/>
              <a:buNone/>
            </a:pPr>
            <a:r>
              <a:rPr lang="zh-CN" altLang="en-US" sz="2400" dirty="0">
                <a:ea typeface="楷体" panose="02010609060101010101" pitchFamily="49" charset="-122"/>
                <a:cs typeface="Times New Roman" panose="02020603050405020304" pitchFamily="18" charset="0"/>
              </a:rPr>
              <a:t>                         </a:t>
            </a:r>
            <a:r>
              <a:rPr lang="en-US" altLang="zh-CN" sz="2400" dirty="0">
                <a:solidFill>
                  <a:srgbClr val="FF0000"/>
                </a:solidFill>
                <a:ea typeface="楷体" panose="02010609060101010101" pitchFamily="49" charset="-122"/>
                <a:cs typeface="Times New Roman" panose="02020603050405020304" pitchFamily="18" charset="0"/>
              </a:rPr>
              <a:t>+Y</a:t>
            </a:r>
            <a:endParaRPr lang="en-US" altLang="zh-CN" sz="2400" dirty="0">
              <a:solidFill>
                <a:srgbClr val="FF0000"/>
              </a:solidFill>
              <a:ea typeface="楷体" panose="02010609060101010101" pitchFamily="49" charset="-122"/>
              <a:cs typeface="Times New Roman" panose="02020603050405020304" pitchFamily="18" charset="0"/>
            </a:endParaRPr>
          </a:p>
          <a:p>
            <a:pPr algn="l" eaLnBrk="1" hangingPunct="1">
              <a:spcBef>
                <a:spcPct val="0"/>
              </a:spcBef>
              <a:buClrTx/>
              <a:buFontTx/>
              <a:buNone/>
            </a:pPr>
            <a:r>
              <a:rPr lang="en-US" altLang="zh-CN" sz="2400" dirty="0">
                <a:solidFill>
                  <a:srgbClr val="000099"/>
                </a:solidFill>
                <a:ea typeface="楷体" panose="02010609060101010101" pitchFamily="49" charset="-122"/>
                <a:cs typeface="Times New Roman" panose="02020603050405020304" pitchFamily="18" charset="0"/>
              </a:rPr>
              <a:t>0  1  1  0  </a:t>
            </a:r>
            <a:r>
              <a:rPr lang="en-US" altLang="zh-CN" sz="2400" u="sng" dirty="0">
                <a:solidFill>
                  <a:srgbClr val="000099"/>
                </a:solidFill>
                <a:ea typeface="楷体" panose="02010609060101010101" pitchFamily="49" charset="-122"/>
                <a:cs typeface="Times New Roman" panose="02020603050405020304" pitchFamily="18" charset="0"/>
              </a:rPr>
              <a:t>1</a:t>
            </a:r>
            <a:r>
              <a:rPr lang="en-US" altLang="zh-CN" sz="2400" dirty="0">
                <a:solidFill>
                  <a:srgbClr val="000099"/>
                </a:solidFill>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&gt;0, </a:t>
            </a:r>
            <a:r>
              <a:rPr lang="zh-CN" altLang="en-US" sz="2400" dirty="0">
                <a:ea typeface="楷体" panose="02010609060101010101" pitchFamily="49" charset="-122"/>
                <a:cs typeface="Times New Roman" panose="02020603050405020304" pitchFamily="18" charset="0"/>
              </a:rPr>
              <a:t>商</a:t>
            </a:r>
            <a:r>
              <a:rPr lang="en-US" altLang="zh-CN" sz="2400" dirty="0">
                <a:solidFill>
                  <a:schemeClr val="tx2"/>
                </a:solidFill>
                <a:ea typeface="楷体" panose="02010609060101010101" pitchFamily="49" charset="-122"/>
                <a:cs typeface="Times New Roman" panose="02020603050405020304" pitchFamily="18" charset="0"/>
              </a:rPr>
              <a:t>1</a:t>
            </a:r>
            <a:endParaRPr lang="en-US" altLang="zh-CN" sz="2400" dirty="0">
              <a:solidFill>
                <a:schemeClr val="tx2"/>
              </a:solidFill>
              <a:ea typeface="楷体" panose="02010609060101010101" pitchFamily="49" charset="-122"/>
              <a:cs typeface="Times New Roman" panose="02020603050405020304" pitchFamily="18" charset="0"/>
            </a:endParaRPr>
          </a:p>
        </p:txBody>
      </p:sp>
      <p:sp>
        <p:nvSpPr>
          <p:cNvPr id="54282" name="Line 10"/>
          <p:cNvSpPr>
            <a:spLocks noChangeShapeType="1"/>
          </p:cNvSpPr>
          <p:nvPr/>
        </p:nvSpPr>
        <p:spPr bwMode="auto">
          <a:xfrm>
            <a:off x="6615113" y="1606550"/>
            <a:ext cx="0" cy="5334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3" name="Line 11"/>
          <p:cNvSpPr>
            <a:spLocks noChangeShapeType="1"/>
          </p:cNvSpPr>
          <p:nvPr/>
        </p:nvSpPr>
        <p:spPr bwMode="auto">
          <a:xfrm flipH="1">
            <a:off x="6310313" y="2139950"/>
            <a:ext cx="3048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4" name="Line 12"/>
          <p:cNvSpPr>
            <a:spLocks noChangeShapeType="1"/>
          </p:cNvSpPr>
          <p:nvPr/>
        </p:nvSpPr>
        <p:spPr bwMode="auto">
          <a:xfrm>
            <a:off x="6310313" y="2139950"/>
            <a:ext cx="0" cy="10668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5" name="Line 13"/>
          <p:cNvSpPr>
            <a:spLocks noChangeShapeType="1"/>
          </p:cNvSpPr>
          <p:nvPr/>
        </p:nvSpPr>
        <p:spPr bwMode="auto">
          <a:xfrm flipH="1">
            <a:off x="6005513" y="3206750"/>
            <a:ext cx="3048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6" name="Line 14"/>
          <p:cNvSpPr>
            <a:spLocks noChangeShapeType="1"/>
          </p:cNvSpPr>
          <p:nvPr/>
        </p:nvSpPr>
        <p:spPr bwMode="auto">
          <a:xfrm>
            <a:off x="6005513" y="3206750"/>
            <a:ext cx="0" cy="107315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7" name="Line 15"/>
          <p:cNvSpPr>
            <a:spLocks noChangeShapeType="1"/>
          </p:cNvSpPr>
          <p:nvPr/>
        </p:nvSpPr>
        <p:spPr bwMode="auto">
          <a:xfrm flipH="1">
            <a:off x="5700713" y="4279900"/>
            <a:ext cx="3048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8" name="Line 16"/>
          <p:cNvSpPr>
            <a:spLocks noChangeShapeType="1"/>
          </p:cNvSpPr>
          <p:nvPr/>
        </p:nvSpPr>
        <p:spPr bwMode="auto">
          <a:xfrm>
            <a:off x="5700713" y="4279900"/>
            <a:ext cx="0" cy="113665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9" name="Line 17"/>
          <p:cNvSpPr>
            <a:spLocks noChangeShapeType="1"/>
          </p:cNvSpPr>
          <p:nvPr/>
        </p:nvSpPr>
        <p:spPr bwMode="auto">
          <a:xfrm flipH="1">
            <a:off x="5319713" y="5416550"/>
            <a:ext cx="3810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0" name="Line 18"/>
          <p:cNvSpPr>
            <a:spLocks noChangeShapeType="1"/>
          </p:cNvSpPr>
          <p:nvPr/>
        </p:nvSpPr>
        <p:spPr bwMode="auto">
          <a:xfrm>
            <a:off x="5319713" y="5416550"/>
            <a:ext cx="0" cy="10668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1" name="Text Box 19"/>
          <p:cNvSpPr txBox="1">
            <a:spLocks noChangeArrowheads="1"/>
          </p:cNvSpPr>
          <p:nvPr/>
        </p:nvSpPr>
        <p:spPr bwMode="auto">
          <a:xfrm>
            <a:off x="2398012" y="489892"/>
            <a:ext cx="20425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dirty="0">
                <a:latin typeface="楷体" panose="02010609060101010101" pitchFamily="49" charset="-122"/>
                <a:ea typeface="楷体" panose="02010609060101010101" pitchFamily="49" charset="-122"/>
              </a:rPr>
              <a:t>被除数</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余数</a:t>
            </a:r>
            <a:r>
              <a:rPr lang="en-US" altLang="zh-CN" sz="2400" dirty="0">
                <a:latin typeface="楷体" panose="02010609060101010101" pitchFamily="49" charset="-122"/>
                <a:ea typeface="楷体" panose="02010609060101010101" pitchFamily="49" charset="-122"/>
              </a:rPr>
              <a:t>)</a:t>
            </a:r>
            <a:endParaRPr lang="en-US" altLang="zh-CN" sz="2400" dirty="0">
              <a:solidFill>
                <a:srgbClr val="990033"/>
              </a:solidFill>
              <a:latin typeface="楷体" panose="02010609060101010101" pitchFamily="49" charset="-122"/>
              <a:ea typeface="楷体" panose="02010609060101010101" pitchFamily="49" charset="-122"/>
            </a:endParaRPr>
          </a:p>
        </p:txBody>
      </p:sp>
      <p:sp>
        <p:nvSpPr>
          <p:cNvPr id="54292" name="Text Box 20"/>
          <p:cNvSpPr txBox="1">
            <a:spLocks noChangeArrowheads="1"/>
          </p:cNvSpPr>
          <p:nvPr/>
        </p:nvSpPr>
        <p:spPr bwMode="auto">
          <a:xfrm>
            <a:off x="6005513" y="499418"/>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dirty="0">
                <a:latin typeface="楷体" panose="02010609060101010101" pitchFamily="49" charset="-122"/>
                <a:ea typeface="楷体" panose="02010609060101010101" pitchFamily="49" charset="-122"/>
              </a:rPr>
              <a:t>商</a:t>
            </a:r>
            <a:endParaRPr lang="zh-CN" altLang="en-US" sz="2400" dirty="0">
              <a:solidFill>
                <a:srgbClr val="990033"/>
              </a:solidFill>
              <a:latin typeface="楷体" panose="02010609060101010101" pitchFamily="49" charset="-122"/>
              <a:ea typeface="楷体" panose="02010609060101010101" pitchFamily="49" charset="-122"/>
            </a:endParaRPr>
          </a:p>
        </p:txBody>
      </p:sp>
      <p:sp>
        <p:nvSpPr>
          <p:cNvPr id="54293" name="Rectangle 21"/>
          <p:cNvSpPr>
            <a:spLocks noChangeArrowheads="1"/>
          </p:cNvSpPr>
          <p:nvPr/>
        </p:nvSpPr>
        <p:spPr bwMode="auto">
          <a:xfrm>
            <a:off x="2195513" y="5645150"/>
            <a:ext cx="45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a:ea typeface="宋体" panose="02010600030101010101" pitchFamily="2" charset="-122"/>
              </a:rPr>
              <a:t>+</a:t>
            </a:r>
            <a:r>
              <a:rPr lang="en-US" altLang="zh-CN" sz="2400" b="0">
                <a:ea typeface="宋体" panose="02010600030101010101" pitchFamily="2" charset="-122"/>
              </a:rPr>
              <a:t>)</a:t>
            </a:r>
            <a:endParaRPr lang="en-US" altLang="zh-CN" sz="2400" b="0">
              <a:ea typeface="宋体" panose="02010600030101010101" pitchFamily="2" charset="-122"/>
            </a:endParaRPr>
          </a:p>
        </p:txBody>
      </p:sp>
      <p:sp>
        <p:nvSpPr>
          <p:cNvPr id="54294" name="Rectangle 22"/>
          <p:cNvSpPr>
            <a:spLocks noChangeArrowheads="1"/>
          </p:cNvSpPr>
          <p:nvPr/>
        </p:nvSpPr>
        <p:spPr bwMode="auto">
          <a:xfrm>
            <a:off x="2195513" y="4578350"/>
            <a:ext cx="45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a:ea typeface="宋体" panose="02010600030101010101" pitchFamily="2" charset="-122"/>
              </a:rPr>
              <a:t>+</a:t>
            </a:r>
            <a:r>
              <a:rPr lang="en-US" altLang="zh-CN" sz="2400" b="0">
                <a:ea typeface="宋体" panose="02010600030101010101" pitchFamily="2" charset="-122"/>
              </a:rPr>
              <a:t>)</a:t>
            </a:r>
            <a:endParaRPr lang="en-US" altLang="zh-CN" sz="2400" b="0">
              <a:ea typeface="宋体" panose="02010600030101010101" pitchFamily="2" charset="-122"/>
            </a:endParaRPr>
          </a:p>
        </p:txBody>
      </p:sp>
      <p:sp>
        <p:nvSpPr>
          <p:cNvPr id="54295" name="Rectangle 23"/>
          <p:cNvSpPr>
            <a:spLocks noChangeArrowheads="1"/>
          </p:cNvSpPr>
          <p:nvPr/>
        </p:nvSpPr>
        <p:spPr bwMode="auto">
          <a:xfrm>
            <a:off x="2195513" y="3435350"/>
            <a:ext cx="45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a:ea typeface="宋体" panose="02010600030101010101" pitchFamily="2" charset="-122"/>
              </a:rPr>
              <a:t>+</a:t>
            </a:r>
            <a:r>
              <a:rPr lang="en-US" altLang="zh-CN" sz="2400" b="0">
                <a:ea typeface="宋体" panose="02010600030101010101" pitchFamily="2" charset="-122"/>
              </a:rPr>
              <a:t>)</a:t>
            </a:r>
            <a:endParaRPr lang="en-US" altLang="zh-CN" sz="2400" b="0">
              <a:ea typeface="宋体" panose="02010600030101010101" pitchFamily="2" charset="-122"/>
            </a:endParaRPr>
          </a:p>
        </p:txBody>
      </p:sp>
      <p:sp>
        <p:nvSpPr>
          <p:cNvPr id="54296" name="Rectangle 24"/>
          <p:cNvSpPr>
            <a:spLocks noChangeArrowheads="1"/>
          </p:cNvSpPr>
          <p:nvPr/>
        </p:nvSpPr>
        <p:spPr bwMode="auto">
          <a:xfrm>
            <a:off x="2195513" y="2368550"/>
            <a:ext cx="45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a:ea typeface="宋体" panose="02010600030101010101" pitchFamily="2" charset="-122"/>
              </a:rPr>
              <a:t>+</a:t>
            </a:r>
            <a:r>
              <a:rPr lang="en-US" altLang="zh-CN" sz="2400" b="0">
                <a:ea typeface="宋体" panose="02010600030101010101" pitchFamily="2" charset="-122"/>
              </a:rPr>
              <a:t>)</a:t>
            </a:r>
            <a:endParaRPr lang="en-US" altLang="zh-CN" sz="2400" b="0">
              <a:ea typeface="宋体" panose="02010600030101010101" pitchFamily="2" charset="-122"/>
            </a:endParaRPr>
          </a:p>
        </p:txBody>
      </p:sp>
      <p:sp>
        <p:nvSpPr>
          <p:cNvPr id="54297" name="Rectangle 25"/>
          <p:cNvSpPr>
            <a:spLocks noChangeArrowheads="1"/>
          </p:cNvSpPr>
          <p:nvPr/>
        </p:nvSpPr>
        <p:spPr bwMode="auto">
          <a:xfrm>
            <a:off x="2195513" y="1301750"/>
            <a:ext cx="45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a:ea typeface="宋体" panose="02010600030101010101" pitchFamily="2" charset="-122"/>
              </a:rPr>
              <a:t>+</a:t>
            </a:r>
            <a:r>
              <a:rPr lang="en-US" altLang="zh-CN" sz="2400" b="0">
                <a:ea typeface="宋体" panose="02010600030101010101" pitchFamily="2" charset="-122"/>
              </a:rPr>
              <a:t>)</a:t>
            </a:r>
            <a:endParaRPr lang="en-US" altLang="zh-CN" sz="2400" b="0">
              <a:ea typeface="宋体" panose="02010600030101010101" pitchFamily="2" charset="-122"/>
            </a:endParaRPr>
          </a:p>
        </p:txBody>
      </p:sp>
      <p:sp>
        <p:nvSpPr>
          <p:cNvPr id="54298" name="Text Box 27"/>
          <p:cNvSpPr txBox="1">
            <a:spLocks noChangeArrowheads="1"/>
          </p:cNvSpPr>
          <p:nvPr/>
        </p:nvSpPr>
        <p:spPr bwMode="auto">
          <a:xfrm>
            <a:off x="119063" y="161925"/>
            <a:ext cx="13049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4400" dirty="0">
                <a:solidFill>
                  <a:srgbClr val="000099"/>
                </a:solidFill>
                <a:latin typeface="Verdana" panose="020B0604030504040204" pitchFamily="34" charset="0"/>
                <a:ea typeface="黑体" panose="02010609060101010101" pitchFamily="49" charset="-122"/>
              </a:rPr>
              <a:t>例：</a:t>
            </a:r>
            <a:endParaRPr lang="zh-CN" altLang="en-US" sz="4400" dirty="0">
              <a:solidFill>
                <a:srgbClr val="000099"/>
              </a:solidFill>
              <a:latin typeface="Verdana" panose="020B0604030504040204" pitchFamily="34" charset="0"/>
              <a:ea typeface="黑体" panose="02010609060101010101" pitchFamily="49" charset="-122"/>
            </a:endParaRPr>
          </a:p>
        </p:txBody>
      </p:sp>
      <p:sp>
        <p:nvSpPr>
          <p:cNvPr id="54299" name="Text Box 28"/>
          <p:cNvSpPr txBox="1">
            <a:spLocks noChangeArrowheads="1"/>
          </p:cNvSpPr>
          <p:nvPr/>
        </p:nvSpPr>
        <p:spPr bwMode="auto">
          <a:xfrm>
            <a:off x="176213" y="996950"/>
            <a:ext cx="18002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800"/>
              <a:t>X=0.01011</a:t>
            </a:r>
            <a:endParaRPr lang="en-US" altLang="zh-CN" sz="2800"/>
          </a:p>
          <a:p>
            <a:pPr algn="ctr" eaLnBrk="1" hangingPunct="1">
              <a:spcBef>
                <a:spcPct val="0"/>
              </a:spcBef>
              <a:buClrTx/>
              <a:buFontTx/>
              <a:buNone/>
            </a:pPr>
            <a:r>
              <a:rPr lang="en-US" altLang="zh-CN" sz="2800"/>
              <a:t>Y=0.01101</a:t>
            </a:r>
            <a:endParaRPr lang="en-US" altLang="zh-CN" sz="2800"/>
          </a:p>
        </p:txBody>
      </p:sp>
      <p:sp>
        <p:nvSpPr>
          <p:cNvPr id="29" name="TextBox 28"/>
          <p:cNvSpPr txBox="1"/>
          <p:nvPr/>
        </p:nvSpPr>
        <p:spPr>
          <a:xfrm>
            <a:off x="2347913" y="2767013"/>
            <a:ext cx="338137" cy="461962"/>
          </a:xfrm>
          <a:prstGeom prst="rect">
            <a:avLst/>
          </a:prstGeom>
          <a:noFill/>
        </p:spPr>
        <p:txBody>
          <a:bodyPr wrap="none">
            <a:spAutoFit/>
          </a:bodyPr>
          <a:lstStyle/>
          <a:p>
            <a:pPr algn="ctr" eaLnBrk="1" hangingPunct="1">
              <a:spcBef>
                <a:spcPct val="20000"/>
              </a:spcBef>
              <a:buFont typeface="Wingdings" panose="05000000000000000000" pitchFamily="2" charset="2"/>
              <a:buNone/>
              <a:defRPr/>
            </a:pPr>
            <a:r>
              <a:rPr lang="en-US" altLang="zh-CN" sz="2400" dirty="0">
                <a:solidFill>
                  <a:srgbClr val="FF0000"/>
                </a:solidFill>
                <a:latin typeface="+mn-lt"/>
                <a:ea typeface="黑体" panose="02010609060101010101" pitchFamily="49" charset="-122"/>
              </a:rPr>
              <a:t>1</a:t>
            </a:r>
            <a:endParaRPr lang="zh-CN" altLang="en-US" sz="2400" dirty="0">
              <a:solidFill>
                <a:srgbClr val="FF0000"/>
              </a:solidFill>
              <a:latin typeface="+mn-lt"/>
              <a:ea typeface="黑体" panose="02010609060101010101" pitchFamily="49" charset="-122"/>
            </a:endParaRPr>
          </a:p>
        </p:txBody>
      </p:sp>
      <p:sp>
        <p:nvSpPr>
          <p:cNvPr id="30" name="TextBox 29"/>
          <p:cNvSpPr txBox="1"/>
          <p:nvPr/>
        </p:nvSpPr>
        <p:spPr>
          <a:xfrm>
            <a:off x="2376488" y="3844925"/>
            <a:ext cx="338137" cy="461963"/>
          </a:xfrm>
          <a:prstGeom prst="rect">
            <a:avLst/>
          </a:prstGeom>
          <a:noFill/>
        </p:spPr>
        <p:txBody>
          <a:bodyPr wrap="none">
            <a:spAutoFit/>
          </a:bodyPr>
          <a:lstStyle/>
          <a:p>
            <a:pPr algn="ctr" eaLnBrk="1" hangingPunct="1">
              <a:spcBef>
                <a:spcPct val="20000"/>
              </a:spcBef>
              <a:buFont typeface="Wingdings" panose="05000000000000000000" pitchFamily="2" charset="2"/>
              <a:buNone/>
              <a:defRPr/>
            </a:pPr>
            <a:r>
              <a:rPr lang="en-US" altLang="zh-CN" sz="2400" dirty="0">
                <a:solidFill>
                  <a:srgbClr val="FF0000"/>
                </a:solidFill>
                <a:latin typeface="+mn-lt"/>
                <a:ea typeface="黑体" panose="02010609060101010101" pitchFamily="49" charset="-122"/>
              </a:rPr>
              <a:t>1</a:t>
            </a:r>
            <a:endParaRPr lang="zh-CN" altLang="en-US" sz="2400" dirty="0">
              <a:solidFill>
                <a:srgbClr val="FF0000"/>
              </a:solidFill>
              <a:latin typeface="+mn-lt"/>
              <a:ea typeface="黑体" panose="02010609060101010101" pitchFamily="49" charset="-122"/>
            </a:endParaRPr>
          </a:p>
        </p:txBody>
      </p:sp>
      <p:sp>
        <p:nvSpPr>
          <p:cNvPr id="31" name="TextBox 30"/>
          <p:cNvSpPr txBox="1"/>
          <p:nvPr/>
        </p:nvSpPr>
        <p:spPr>
          <a:xfrm>
            <a:off x="2347913" y="6059488"/>
            <a:ext cx="338137" cy="461962"/>
          </a:xfrm>
          <a:prstGeom prst="rect">
            <a:avLst/>
          </a:prstGeom>
          <a:noFill/>
        </p:spPr>
        <p:txBody>
          <a:bodyPr wrap="none">
            <a:spAutoFit/>
          </a:bodyPr>
          <a:lstStyle/>
          <a:p>
            <a:pPr algn="ctr" eaLnBrk="1" hangingPunct="1">
              <a:spcBef>
                <a:spcPct val="20000"/>
              </a:spcBef>
              <a:buFont typeface="Wingdings" panose="05000000000000000000" pitchFamily="2" charset="2"/>
              <a:buNone/>
              <a:defRPr/>
            </a:pPr>
            <a:r>
              <a:rPr lang="en-US" altLang="zh-CN" sz="2400" dirty="0">
                <a:solidFill>
                  <a:srgbClr val="FF0000"/>
                </a:solidFill>
                <a:latin typeface="+mn-lt"/>
                <a:ea typeface="黑体" panose="02010609060101010101" pitchFamily="49" charset="-122"/>
              </a:rPr>
              <a:t>1</a:t>
            </a:r>
            <a:endParaRPr lang="zh-CN" altLang="en-US" sz="2400" dirty="0">
              <a:solidFill>
                <a:srgbClr val="FF0000"/>
              </a:solidFill>
              <a:latin typeface="+mn-lt"/>
              <a:ea typeface="黑体" panose="02010609060101010101" pitchFamily="49" charset="-122"/>
            </a:endParaRPr>
          </a:p>
        </p:txBody>
      </p:sp>
      <p:sp>
        <p:nvSpPr>
          <p:cNvPr id="32" name="TextBox 31"/>
          <p:cNvSpPr txBox="1"/>
          <p:nvPr/>
        </p:nvSpPr>
        <p:spPr>
          <a:xfrm>
            <a:off x="2357438" y="1630363"/>
            <a:ext cx="338137" cy="461962"/>
          </a:xfrm>
          <a:prstGeom prst="rect">
            <a:avLst/>
          </a:prstGeom>
          <a:noFill/>
        </p:spPr>
        <p:txBody>
          <a:bodyPr wrap="none">
            <a:spAutoFit/>
          </a:bodyPr>
          <a:lstStyle/>
          <a:p>
            <a:pPr algn="ctr" eaLnBrk="1" hangingPunct="1">
              <a:spcBef>
                <a:spcPct val="20000"/>
              </a:spcBef>
              <a:buFont typeface="Wingdings" panose="05000000000000000000" pitchFamily="2" charset="2"/>
              <a:buNone/>
              <a:defRPr/>
            </a:pPr>
            <a:r>
              <a:rPr lang="en-US" altLang="zh-CN" sz="2400" dirty="0">
                <a:solidFill>
                  <a:srgbClr val="FF0000"/>
                </a:solidFill>
                <a:latin typeface="+mn-lt"/>
                <a:ea typeface="黑体" panose="02010609060101010101" pitchFamily="49" charset="-122"/>
              </a:rPr>
              <a:t>0</a:t>
            </a:r>
            <a:endParaRPr lang="zh-CN" altLang="en-US" sz="2400" dirty="0">
              <a:solidFill>
                <a:srgbClr val="FF0000"/>
              </a:solidFill>
              <a:latin typeface="+mn-lt"/>
              <a:ea typeface="黑体" panose="02010609060101010101" pitchFamily="49" charset="-122"/>
            </a:endParaRPr>
          </a:p>
        </p:txBody>
      </p:sp>
      <p:sp>
        <p:nvSpPr>
          <p:cNvPr id="33" name="TextBox 32"/>
          <p:cNvSpPr txBox="1"/>
          <p:nvPr/>
        </p:nvSpPr>
        <p:spPr>
          <a:xfrm>
            <a:off x="2357438" y="4954588"/>
            <a:ext cx="338137" cy="461962"/>
          </a:xfrm>
          <a:prstGeom prst="rect">
            <a:avLst/>
          </a:prstGeom>
          <a:noFill/>
        </p:spPr>
        <p:txBody>
          <a:bodyPr wrap="none">
            <a:spAutoFit/>
          </a:bodyPr>
          <a:lstStyle/>
          <a:p>
            <a:pPr algn="ctr" eaLnBrk="1" hangingPunct="1">
              <a:spcBef>
                <a:spcPct val="20000"/>
              </a:spcBef>
              <a:buFont typeface="Wingdings" panose="05000000000000000000" pitchFamily="2" charset="2"/>
              <a:buNone/>
              <a:defRPr/>
            </a:pPr>
            <a:r>
              <a:rPr lang="en-US" altLang="zh-CN" sz="2400" dirty="0">
                <a:solidFill>
                  <a:srgbClr val="FF0000"/>
                </a:solidFill>
                <a:latin typeface="+mn-lt"/>
                <a:ea typeface="黑体" panose="02010609060101010101" pitchFamily="49" charset="-122"/>
              </a:rPr>
              <a:t>0</a:t>
            </a:r>
            <a:endParaRPr lang="zh-CN" altLang="en-US" sz="2400" dirty="0">
              <a:solidFill>
                <a:srgbClr val="FF0000"/>
              </a:solidFill>
              <a:latin typeface="+mn-lt"/>
              <a:ea typeface="黑体" panose="02010609060101010101" pitchFamily="49" charset="-122"/>
            </a:endParaRPr>
          </a:p>
        </p:txBody>
      </p:sp>
      <p:sp>
        <p:nvSpPr>
          <p:cNvPr id="2" name="文本框 1"/>
          <p:cNvSpPr txBox="1"/>
          <p:nvPr/>
        </p:nvSpPr>
        <p:spPr>
          <a:xfrm>
            <a:off x="4248150" y="1360488"/>
            <a:ext cx="595313" cy="339725"/>
          </a:xfrm>
          <a:prstGeom prst="rect">
            <a:avLst/>
          </a:prstGeom>
          <a:noFill/>
        </p:spPr>
        <p:txBody>
          <a:bodyPr wrap="none">
            <a:spAutoFit/>
          </a:bodyPr>
          <a:lstStyle/>
          <a:p>
            <a:pPr>
              <a:defRPr/>
            </a:pPr>
            <a:r>
              <a:rPr lang="zh-CN" altLang="en-US" sz="1600" b="1" dirty="0">
                <a:solidFill>
                  <a:srgbClr val="C00000"/>
                </a:solidFill>
                <a:latin typeface="+mn-ea"/>
                <a:ea typeface="+mn-ea"/>
              </a:rPr>
              <a:t>补码</a:t>
            </a:r>
            <a:endParaRPr lang="zh-CN" altLang="en-US" sz="1600" b="1" dirty="0">
              <a:solidFill>
                <a:srgbClr val="C00000"/>
              </a:solidFill>
              <a:latin typeface="+mn-ea"/>
              <a:ea typeface="+mn-ea"/>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Rectangle 2"/>
          <p:cNvSpPr>
            <a:spLocks noGrp="1" noChangeArrowheads="1"/>
          </p:cNvSpPr>
          <p:nvPr>
            <p:ph type="title"/>
          </p:nvPr>
        </p:nvSpPr>
        <p:spPr/>
        <p:txBody>
          <a:bodyPr/>
          <a:lstStyle/>
          <a:p>
            <a:pPr eaLnBrk="1" hangingPunct="1"/>
            <a:r>
              <a:rPr lang="zh-CN" altLang="en-US" dirty="0"/>
              <a:t>可控加法</a:t>
            </a:r>
            <a:r>
              <a:rPr lang="en-US" altLang="zh-CN" dirty="0"/>
              <a:t>/</a:t>
            </a:r>
            <a:r>
              <a:rPr lang="zh-CN" altLang="en-US" dirty="0"/>
              <a:t>减法（</a:t>
            </a:r>
            <a:r>
              <a:rPr lang="en-US" altLang="zh-CN" dirty="0"/>
              <a:t>CAS</a:t>
            </a:r>
            <a:r>
              <a:rPr lang="zh-CN" altLang="en-US" dirty="0"/>
              <a:t>）单元</a:t>
            </a:r>
            <a:endParaRPr lang="zh-CN" altLang="en-US" dirty="0"/>
          </a:p>
        </p:txBody>
      </p:sp>
      <p:sp>
        <p:nvSpPr>
          <p:cNvPr id="56322" name="Rectangle 3"/>
          <p:cNvSpPr>
            <a:spLocks noGrp="1" noChangeArrowheads="1"/>
          </p:cNvSpPr>
          <p:nvPr>
            <p:ph idx="1"/>
          </p:nvPr>
        </p:nvSpPr>
        <p:spPr/>
        <p:txBody>
          <a:bodyPr/>
          <a:lstStyle/>
          <a:p>
            <a:pPr eaLnBrk="1" hangingPunct="1"/>
            <a:r>
              <a:rPr lang="zh-CN" altLang="en-US"/>
              <a:t>当输入线</a:t>
            </a:r>
            <a:r>
              <a:rPr lang="en-US" altLang="zh-CN"/>
              <a:t>P=0</a:t>
            </a:r>
            <a:r>
              <a:rPr lang="zh-CN" altLang="en-US"/>
              <a:t>时，</a:t>
            </a:r>
            <a:r>
              <a:rPr lang="en-US" altLang="zh-CN"/>
              <a:t>CAS</a:t>
            </a:r>
            <a:r>
              <a:rPr lang="zh-CN" altLang="en-US"/>
              <a:t>做加法运算</a:t>
            </a:r>
            <a:endParaRPr lang="zh-CN" altLang="en-US"/>
          </a:p>
          <a:p>
            <a:pPr eaLnBrk="1" hangingPunct="1"/>
            <a:r>
              <a:rPr lang="zh-CN" altLang="en-US"/>
              <a:t>当输入线</a:t>
            </a:r>
            <a:r>
              <a:rPr lang="en-US" altLang="zh-CN"/>
              <a:t>P=1</a:t>
            </a:r>
            <a:r>
              <a:rPr lang="zh-CN" altLang="en-US"/>
              <a:t>时，</a:t>
            </a:r>
            <a:r>
              <a:rPr lang="en-US" altLang="zh-CN"/>
              <a:t>CAS</a:t>
            </a:r>
            <a:r>
              <a:rPr lang="zh-CN" altLang="en-US"/>
              <a:t>做减法运算</a:t>
            </a:r>
            <a:endParaRPr lang="zh-CN" altLang="en-US"/>
          </a:p>
          <a:p>
            <a:pPr eaLnBrk="1" hangingPunct="1">
              <a:buFont typeface="Wingdings 2" charset="2"/>
              <a:buNone/>
            </a:pPr>
            <a:r>
              <a:rPr lang="en-US" altLang="zh-CN" sz="2400"/>
              <a:t>S</a:t>
            </a:r>
            <a:r>
              <a:rPr lang="en-US" altLang="zh-CN" sz="2400" baseline="-25000"/>
              <a:t>i</a:t>
            </a:r>
            <a:r>
              <a:rPr lang="en-US" altLang="zh-CN" sz="2400"/>
              <a:t>=A</a:t>
            </a:r>
            <a:r>
              <a:rPr lang="en-US" altLang="zh-CN" sz="2400" baseline="-25000"/>
              <a:t>i</a:t>
            </a:r>
            <a:r>
              <a:rPr lang="en-US" altLang="zh-CN" sz="2400"/>
              <a:t>⊕(B</a:t>
            </a:r>
            <a:r>
              <a:rPr lang="en-US" altLang="zh-CN" sz="2400" baseline="-25000"/>
              <a:t>i</a:t>
            </a:r>
            <a:r>
              <a:rPr lang="en-US" altLang="zh-CN" sz="2400"/>
              <a:t>⊕P)⊕C</a:t>
            </a:r>
            <a:r>
              <a:rPr lang="en-US" altLang="zh-CN" sz="2400" baseline="-25000"/>
              <a:t>i</a:t>
            </a:r>
            <a:endParaRPr lang="en-US" altLang="zh-CN" sz="2400" baseline="-25000"/>
          </a:p>
          <a:p>
            <a:pPr eaLnBrk="1" hangingPunct="1">
              <a:buFont typeface="Wingdings 2" charset="2"/>
              <a:buNone/>
            </a:pPr>
            <a:r>
              <a:rPr lang="en-US" altLang="zh-CN" sz="2400"/>
              <a:t>C</a:t>
            </a:r>
            <a:r>
              <a:rPr lang="en-US" altLang="zh-CN" sz="2400" baseline="-25000"/>
              <a:t>i+1</a:t>
            </a:r>
            <a:r>
              <a:rPr lang="en-US" altLang="zh-CN" sz="2400"/>
              <a:t>=(A</a:t>
            </a:r>
            <a:r>
              <a:rPr lang="en-US" altLang="zh-CN" sz="2400" baseline="-25000"/>
              <a:t>i</a:t>
            </a:r>
            <a:r>
              <a:rPr lang="en-US" altLang="zh-CN" sz="2400"/>
              <a:t>+C</a:t>
            </a:r>
            <a:r>
              <a:rPr lang="en-US" altLang="zh-CN" sz="2400" baseline="-25000"/>
              <a:t>i</a:t>
            </a:r>
            <a:r>
              <a:rPr lang="en-US" altLang="zh-CN" sz="2400"/>
              <a:t>)(B</a:t>
            </a:r>
            <a:r>
              <a:rPr lang="en-US" altLang="zh-CN" sz="2400" baseline="-25000"/>
              <a:t>i</a:t>
            </a:r>
            <a:r>
              <a:rPr lang="en-US" altLang="zh-CN" sz="2400"/>
              <a:t>⊕P)+A</a:t>
            </a:r>
            <a:r>
              <a:rPr lang="en-US" altLang="zh-CN" sz="2400" baseline="-25000"/>
              <a:t>i</a:t>
            </a:r>
            <a:r>
              <a:rPr lang="en-US" altLang="zh-CN" sz="2400"/>
              <a:t>C</a:t>
            </a:r>
            <a:r>
              <a:rPr lang="en-US" altLang="zh-CN" sz="2400" baseline="-25000"/>
              <a:t>i</a:t>
            </a:r>
            <a:endParaRPr lang="en-US" altLang="zh-CN" sz="2400" baseline="-25000"/>
          </a:p>
          <a:p>
            <a:pPr eaLnBrk="1" hangingPunct="1">
              <a:buFont typeface="Wingdings 2" charset="2"/>
              <a:buNone/>
            </a:pPr>
            <a:r>
              <a:rPr lang="zh-CN" altLang="en-US" sz="2400"/>
              <a:t>当</a:t>
            </a:r>
            <a:r>
              <a:rPr lang="en-US" altLang="zh-CN" sz="2400"/>
              <a:t>P=0</a:t>
            </a:r>
            <a:r>
              <a:rPr lang="zh-CN" altLang="en-US" sz="2400"/>
              <a:t>时：</a:t>
            </a:r>
            <a:endParaRPr lang="zh-CN" altLang="en-US" sz="2400"/>
          </a:p>
          <a:p>
            <a:pPr eaLnBrk="1" hangingPunct="1">
              <a:buFont typeface="Wingdings 2" charset="2"/>
              <a:buNone/>
            </a:pPr>
            <a:r>
              <a:rPr lang="en-US" altLang="zh-CN" sz="2400"/>
              <a:t>S</a:t>
            </a:r>
            <a:r>
              <a:rPr lang="en-US" altLang="zh-CN" sz="2400" baseline="-25000"/>
              <a:t>i</a:t>
            </a:r>
            <a:r>
              <a:rPr lang="en-US" altLang="zh-CN" sz="2400"/>
              <a:t>=A</a:t>
            </a:r>
            <a:r>
              <a:rPr lang="en-US" altLang="zh-CN" sz="2400" baseline="-25000"/>
              <a:t>i</a:t>
            </a:r>
            <a:r>
              <a:rPr lang="en-US" altLang="zh-CN" sz="2400"/>
              <a:t>⊕B</a:t>
            </a:r>
            <a:r>
              <a:rPr lang="en-US" altLang="zh-CN" sz="2400" baseline="-25000"/>
              <a:t>i</a:t>
            </a:r>
            <a:r>
              <a:rPr lang="en-US" altLang="zh-CN" sz="2400"/>
              <a:t>⊕C</a:t>
            </a:r>
            <a:r>
              <a:rPr lang="en-US" altLang="zh-CN" sz="2400" baseline="-25000"/>
              <a:t>i</a:t>
            </a:r>
            <a:endParaRPr lang="en-US" altLang="zh-CN" sz="2400" baseline="-25000"/>
          </a:p>
          <a:p>
            <a:pPr eaLnBrk="1" hangingPunct="1">
              <a:buFont typeface="Wingdings 2" charset="2"/>
              <a:buNone/>
            </a:pPr>
            <a:r>
              <a:rPr lang="en-US" altLang="zh-CN" sz="2400"/>
              <a:t>C</a:t>
            </a:r>
            <a:r>
              <a:rPr lang="en-US" altLang="zh-CN" sz="2400" baseline="-25000"/>
              <a:t>i+1</a:t>
            </a:r>
            <a:r>
              <a:rPr lang="en-US" altLang="zh-CN" sz="2400"/>
              <a:t>= A</a:t>
            </a:r>
            <a:r>
              <a:rPr lang="en-US" altLang="zh-CN" sz="2400" baseline="-25000"/>
              <a:t>i</a:t>
            </a:r>
            <a:r>
              <a:rPr lang="en-US" altLang="zh-CN" sz="2400"/>
              <a:t>B</a:t>
            </a:r>
            <a:r>
              <a:rPr lang="en-US" altLang="zh-CN" sz="2400" baseline="-25000"/>
              <a:t>i</a:t>
            </a:r>
            <a:r>
              <a:rPr lang="en-US" altLang="zh-CN" sz="2400"/>
              <a:t>+B</a:t>
            </a:r>
            <a:r>
              <a:rPr lang="en-US" altLang="zh-CN" sz="2400" baseline="-25000"/>
              <a:t>i</a:t>
            </a:r>
            <a:r>
              <a:rPr lang="en-US" altLang="zh-CN" sz="2400"/>
              <a:t>C</a:t>
            </a:r>
            <a:r>
              <a:rPr lang="en-US" altLang="zh-CN" sz="2400" baseline="-25000"/>
              <a:t>i</a:t>
            </a:r>
            <a:r>
              <a:rPr lang="en-US" altLang="zh-CN" sz="2400"/>
              <a:t>+A</a:t>
            </a:r>
            <a:r>
              <a:rPr lang="en-US" altLang="zh-CN" sz="2400" baseline="-25000"/>
              <a:t>i</a:t>
            </a:r>
            <a:r>
              <a:rPr lang="en-US" altLang="zh-CN" sz="2400"/>
              <a:t>C</a:t>
            </a:r>
            <a:r>
              <a:rPr lang="en-US" altLang="zh-CN" sz="2400" baseline="-25000"/>
              <a:t>i</a:t>
            </a:r>
            <a:endParaRPr lang="en-US" altLang="zh-CN" sz="2400" baseline="-25000"/>
          </a:p>
          <a:p>
            <a:pPr eaLnBrk="1" hangingPunct="1">
              <a:buFont typeface="Wingdings 2" charset="2"/>
              <a:buNone/>
            </a:pPr>
            <a:r>
              <a:rPr lang="zh-CN" altLang="en-US" sz="2400"/>
              <a:t>当</a:t>
            </a:r>
            <a:r>
              <a:rPr lang="en-US" altLang="zh-CN" sz="2400"/>
              <a:t>P=1</a:t>
            </a:r>
            <a:r>
              <a:rPr lang="zh-CN" altLang="en-US" sz="2400"/>
              <a:t>时：</a:t>
            </a:r>
            <a:endParaRPr lang="zh-CN" altLang="en-US" sz="2400"/>
          </a:p>
          <a:p>
            <a:pPr eaLnBrk="1" hangingPunct="1">
              <a:buFont typeface="Wingdings 2" charset="2"/>
              <a:buNone/>
            </a:pPr>
            <a:r>
              <a:rPr lang="en-US" altLang="zh-CN" sz="2400"/>
              <a:t>S</a:t>
            </a:r>
            <a:r>
              <a:rPr lang="en-US" altLang="zh-CN" sz="2400" baseline="-25000"/>
              <a:t>i</a:t>
            </a:r>
            <a:r>
              <a:rPr lang="en-US" altLang="zh-CN" sz="2400"/>
              <a:t>=A</a:t>
            </a:r>
            <a:r>
              <a:rPr lang="en-US" altLang="zh-CN" sz="2400" baseline="-25000"/>
              <a:t>i</a:t>
            </a:r>
            <a:r>
              <a:rPr lang="en-US" altLang="zh-CN" sz="2400"/>
              <a:t>⊕B</a:t>
            </a:r>
            <a:r>
              <a:rPr lang="en-US" altLang="zh-CN" sz="2400" baseline="-25000"/>
              <a:t>i</a:t>
            </a:r>
            <a:r>
              <a:rPr lang="en-US" altLang="zh-CN" sz="2400"/>
              <a:t>⊕C</a:t>
            </a:r>
            <a:r>
              <a:rPr lang="en-US" altLang="zh-CN" sz="2400" baseline="-25000"/>
              <a:t>i</a:t>
            </a:r>
            <a:endParaRPr lang="en-US" altLang="zh-CN" sz="2400" baseline="-25000"/>
          </a:p>
          <a:p>
            <a:pPr eaLnBrk="1" hangingPunct="1">
              <a:buFont typeface="Wingdings 2" charset="2"/>
              <a:buNone/>
            </a:pPr>
            <a:r>
              <a:rPr lang="en-US" altLang="zh-CN" sz="2400"/>
              <a:t>C</a:t>
            </a:r>
            <a:r>
              <a:rPr lang="en-US" altLang="zh-CN" sz="2400" baseline="-25000"/>
              <a:t>i+1</a:t>
            </a:r>
            <a:r>
              <a:rPr lang="en-US" altLang="zh-CN" sz="2400"/>
              <a:t>=A</a:t>
            </a:r>
            <a:r>
              <a:rPr lang="en-US" altLang="zh-CN" sz="2400" baseline="-25000"/>
              <a:t>i</a:t>
            </a:r>
            <a:r>
              <a:rPr lang="en-US" altLang="zh-CN" sz="2400"/>
              <a:t>B</a:t>
            </a:r>
            <a:r>
              <a:rPr lang="en-US" altLang="zh-CN" sz="2400" baseline="-25000"/>
              <a:t>i</a:t>
            </a:r>
            <a:r>
              <a:rPr lang="en-US" altLang="zh-CN" sz="2400"/>
              <a:t>+B</a:t>
            </a:r>
            <a:r>
              <a:rPr lang="en-US" altLang="zh-CN" sz="2400" baseline="-25000"/>
              <a:t>i</a:t>
            </a:r>
            <a:r>
              <a:rPr lang="en-US" altLang="zh-CN" sz="2400"/>
              <a:t>C</a:t>
            </a:r>
            <a:r>
              <a:rPr lang="en-US" altLang="zh-CN" sz="2400" baseline="-25000"/>
              <a:t>i</a:t>
            </a:r>
            <a:r>
              <a:rPr lang="en-US" altLang="zh-CN" sz="2400"/>
              <a:t>+A</a:t>
            </a:r>
            <a:r>
              <a:rPr lang="en-US" altLang="zh-CN" sz="2400" baseline="-25000"/>
              <a:t>i</a:t>
            </a:r>
            <a:r>
              <a:rPr lang="en-US" altLang="zh-CN" sz="2400"/>
              <a:t>C</a:t>
            </a:r>
            <a:r>
              <a:rPr lang="en-US" altLang="zh-CN" sz="2400" baseline="-25000"/>
              <a:t>i</a:t>
            </a:r>
            <a:endParaRPr lang="en-US" altLang="zh-CN" sz="2400" baseline="-25000"/>
          </a:p>
        </p:txBody>
      </p:sp>
      <p:sp>
        <p:nvSpPr>
          <p:cNvPr id="56324" name="Line 7"/>
          <p:cNvSpPr>
            <a:spLocks noChangeShapeType="1"/>
          </p:cNvSpPr>
          <p:nvPr/>
        </p:nvSpPr>
        <p:spPr bwMode="auto">
          <a:xfrm>
            <a:off x="1258888" y="4868863"/>
            <a:ext cx="215900" cy="0"/>
          </a:xfrm>
          <a:prstGeom prst="line">
            <a:avLst/>
          </a:prstGeom>
          <a:noFill/>
          <a:ln w="158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25" name="Line 7"/>
          <p:cNvSpPr>
            <a:spLocks noChangeShapeType="1"/>
          </p:cNvSpPr>
          <p:nvPr/>
        </p:nvSpPr>
        <p:spPr bwMode="auto">
          <a:xfrm>
            <a:off x="1665288" y="5291138"/>
            <a:ext cx="215900" cy="0"/>
          </a:xfrm>
          <a:prstGeom prst="line">
            <a:avLst/>
          </a:prstGeom>
          <a:noFill/>
          <a:ln w="158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26" name="Line 7"/>
          <p:cNvSpPr>
            <a:spLocks noChangeShapeType="1"/>
          </p:cNvSpPr>
          <p:nvPr/>
        </p:nvSpPr>
        <p:spPr bwMode="auto">
          <a:xfrm>
            <a:off x="1187450" y="5300663"/>
            <a:ext cx="215900" cy="0"/>
          </a:xfrm>
          <a:prstGeom prst="line">
            <a:avLst/>
          </a:prstGeom>
          <a:noFill/>
          <a:ln w="158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6327"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432300" y="2239963"/>
            <a:ext cx="4640263" cy="417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p:cNvSpPr>
            <a:spLocks noGrp="1" noChangeArrowheads="1"/>
          </p:cNvSpPr>
          <p:nvPr>
            <p:ph type="title"/>
          </p:nvPr>
        </p:nvSpPr>
        <p:spPr/>
        <p:txBody>
          <a:bodyPr/>
          <a:lstStyle/>
          <a:p>
            <a:pPr eaLnBrk="1" hangingPunct="1"/>
            <a:r>
              <a:rPr lang="zh-CN" altLang="en-US" dirty="0"/>
              <a:t>不恢复余数的阵列除法器</a:t>
            </a:r>
            <a:endParaRPr lang="zh-CN" altLang="en-US" dirty="0"/>
          </a:p>
        </p:txBody>
      </p:sp>
      <p:sp>
        <p:nvSpPr>
          <p:cNvPr id="58370" name="Rectangle 3"/>
          <p:cNvSpPr>
            <a:spLocks noGrp="1" noChangeArrowheads="1"/>
          </p:cNvSpPr>
          <p:nvPr>
            <p:ph idx="1"/>
          </p:nvPr>
        </p:nvSpPr>
        <p:spPr>
          <a:xfrm>
            <a:off x="6227763" y="836613"/>
            <a:ext cx="2555875" cy="5334000"/>
          </a:xfrm>
        </p:spPr>
        <p:txBody>
          <a:bodyPr/>
          <a:lstStyle/>
          <a:p>
            <a:pPr eaLnBrk="1" hangingPunct="1">
              <a:buFont typeface="Wingdings 2" charset="2"/>
              <a:buNone/>
            </a:pPr>
            <a:r>
              <a:rPr kumimoji="0" lang="en-US" altLang="zh-CN" sz="2000">
                <a:solidFill>
                  <a:srgbClr val="CC3300"/>
                </a:solidFill>
              </a:rPr>
              <a:t>x=0.x1x2x3x4x5x6</a:t>
            </a:r>
            <a:endParaRPr kumimoji="0" lang="en-US" altLang="zh-CN" sz="2000">
              <a:solidFill>
                <a:srgbClr val="CC3300"/>
              </a:solidFill>
            </a:endParaRPr>
          </a:p>
          <a:p>
            <a:pPr eaLnBrk="1" hangingPunct="1">
              <a:buFont typeface="Wingdings 2" charset="2"/>
              <a:buNone/>
            </a:pPr>
            <a:r>
              <a:rPr kumimoji="0" lang="en-US" altLang="zh-CN" sz="2000">
                <a:solidFill>
                  <a:srgbClr val="CC3300"/>
                </a:solidFill>
              </a:rPr>
              <a:t>y=0.y1y2y3</a:t>
            </a:r>
            <a:endParaRPr kumimoji="0" lang="en-US" altLang="zh-CN" sz="2000">
              <a:solidFill>
                <a:srgbClr val="CC3300"/>
              </a:solidFill>
            </a:endParaRPr>
          </a:p>
          <a:p>
            <a:pPr eaLnBrk="1" hangingPunct="1">
              <a:buFont typeface="Wingdings 2" charset="2"/>
              <a:buNone/>
            </a:pPr>
            <a:r>
              <a:rPr kumimoji="0" lang="zh-CN" altLang="en-US" sz="2000">
                <a:solidFill>
                  <a:srgbClr val="CC3300"/>
                </a:solidFill>
              </a:rPr>
              <a:t>商</a:t>
            </a:r>
            <a:r>
              <a:rPr kumimoji="0" lang="en-US" altLang="zh-CN" sz="2000">
                <a:solidFill>
                  <a:srgbClr val="CC3300"/>
                </a:solidFill>
              </a:rPr>
              <a:t>q=0.q1q2q3</a:t>
            </a:r>
            <a:endParaRPr kumimoji="0" lang="en-US" altLang="zh-CN" sz="2000">
              <a:solidFill>
                <a:srgbClr val="CC3300"/>
              </a:solidFill>
            </a:endParaRPr>
          </a:p>
          <a:p>
            <a:pPr eaLnBrk="1" hangingPunct="1">
              <a:buFont typeface="Wingdings 2" charset="2"/>
              <a:buNone/>
            </a:pPr>
            <a:r>
              <a:rPr kumimoji="0" lang="zh-CN" altLang="en-US" sz="2000">
                <a:solidFill>
                  <a:srgbClr val="CC3300"/>
                </a:solidFill>
              </a:rPr>
              <a:t>余数 </a:t>
            </a:r>
            <a:r>
              <a:rPr kumimoji="0" lang="en-US" altLang="zh-CN" sz="2000">
                <a:solidFill>
                  <a:srgbClr val="CC3300"/>
                </a:solidFill>
              </a:rPr>
              <a:t>r=0.00r3r4r5r6</a:t>
            </a:r>
            <a:endParaRPr kumimoji="0" lang="en-US" altLang="zh-CN" sz="2000">
              <a:solidFill>
                <a:srgbClr val="CC3300"/>
              </a:solidFill>
            </a:endParaRPr>
          </a:p>
          <a:p>
            <a:pPr eaLnBrk="1" hangingPunct="1">
              <a:buFont typeface="Wingdings 2" charset="2"/>
              <a:buNone/>
            </a:pPr>
            <a:r>
              <a:rPr kumimoji="0" lang="zh-CN" altLang="en-US" sz="2000">
                <a:solidFill>
                  <a:srgbClr val="CC3300"/>
                </a:solidFill>
              </a:rPr>
              <a:t>　字长 </a:t>
            </a:r>
            <a:r>
              <a:rPr kumimoji="0" lang="en-US" altLang="zh-CN" sz="2000">
                <a:solidFill>
                  <a:srgbClr val="CC3300"/>
                </a:solidFill>
              </a:rPr>
              <a:t>n+1=4</a:t>
            </a:r>
            <a:endParaRPr lang="en-US" altLang="zh-CN" sz="2000">
              <a:solidFill>
                <a:srgbClr val="CC3300"/>
              </a:solidFill>
            </a:endParaRPr>
          </a:p>
        </p:txBody>
      </p:sp>
      <p:pic>
        <p:nvPicPr>
          <p:cNvPr id="58372" name="Picture 5"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3350" y="936625"/>
            <a:ext cx="7129463" cy="531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Text Box 6"/>
          <p:cNvSpPr txBox="1">
            <a:spLocks noChangeArrowheads="1"/>
          </p:cNvSpPr>
          <p:nvPr/>
        </p:nvSpPr>
        <p:spPr bwMode="auto">
          <a:xfrm>
            <a:off x="1476375" y="5516563"/>
            <a:ext cx="29956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lnSpc>
                <a:spcPct val="90000"/>
              </a:lnSpc>
              <a:spcBef>
                <a:spcPct val="0"/>
              </a:spcBef>
              <a:buClrTx/>
              <a:buFontTx/>
              <a:buNone/>
            </a:pPr>
            <a:r>
              <a:rPr kumimoji="0" lang="zh-CN" altLang="en-US" sz="2000" dirty="0">
                <a:solidFill>
                  <a:srgbClr val="CC3300"/>
                </a:solidFill>
                <a:latin typeface="楷体" panose="02010609060101010101" pitchFamily="49" charset="-122"/>
                <a:ea typeface="楷体" panose="02010609060101010101" pitchFamily="49" charset="-122"/>
              </a:rPr>
              <a:t>前提：除数大于被除数，</a:t>
            </a:r>
            <a:endParaRPr kumimoji="0" lang="zh-CN" altLang="en-US" sz="2000" dirty="0">
              <a:solidFill>
                <a:srgbClr val="CC3300"/>
              </a:solidFill>
              <a:latin typeface="楷体" panose="02010609060101010101" pitchFamily="49" charset="-122"/>
              <a:ea typeface="楷体" panose="02010609060101010101" pitchFamily="49" charset="-122"/>
            </a:endParaRPr>
          </a:p>
          <a:p>
            <a:pPr algn="l" eaLnBrk="1" hangingPunct="1">
              <a:lnSpc>
                <a:spcPct val="90000"/>
              </a:lnSpc>
              <a:spcBef>
                <a:spcPct val="0"/>
              </a:spcBef>
              <a:buClrTx/>
              <a:buFontTx/>
              <a:buNone/>
            </a:pPr>
            <a:r>
              <a:rPr kumimoji="0" lang="zh-CN" altLang="en-US" sz="2000" dirty="0">
                <a:solidFill>
                  <a:srgbClr val="CC3300"/>
                </a:solidFill>
                <a:latin typeface="楷体" panose="02010609060101010101" pitchFamily="49" charset="-122"/>
                <a:ea typeface="楷体" panose="02010609060101010101" pitchFamily="49" charset="-122"/>
              </a:rPr>
              <a:t>意味着商不会≥</a:t>
            </a:r>
            <a:r>
              <a:rPr kumimoji="0" lang="en-US" altLang="zh-CN" sz="2000" dirty="0">
                <a:solidFill>
                  <a:srgbClr val="CC3300"/>
                </a:solidFill>
                <a:latin typeface="楷体" panose="02010609060101010101" pitchFamily="49" charset="-122"/>
                <a:ea typeface="楷体" panose="02010609060101010101" pitchFamily="49" charset="-122"/>
              </a:rPr>
              <a:t>1</a:t>
            </a:r>
            <a:endParaRPr lang="en-US" altLang="zh-CN" sz="2000" dirty="0">
              <a:solidFill>
                <a:srgbClr val="CC3300"/>
              </a:solidFill>
              <a:latin typeface="楷体" panose="02010609060101010101" pitchFamily="49" charset="-122"/>
              <a:ea typeface="楷体" panose="02010609060101010101" pitchFamily="49" charset="-122"/>
            </a:endParaRPr>
          </a:p>
        </p:txBody>
      </p:sp>
      <p:sp>
        <p:nvSpPr>
          <p:cNvPr id="58374" name="Oval 7"/>
          <p:cNvSpPr>
            <a:spLocks noChangeArrowheads="1"/>
          </p:cNvSpPr>
          <p:nvPr/>
        </p:nvSpPr>
        <p:spPr bwMode="auto">
          <a:xfrm>
            <a:off x="1331913" y="1628775"/>
            <a:ext cx="431800" cy="360363"/>
          </a:xfrm>
          <a:prstGeom prst="ellipse">
            <a:avLst/>
          </a:prstGeom>
          <a:noFill/>
          <a:ln w="28575" algn="ctr">
            <a:solidFill>
              <a:srgbClr val="CC33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58375" name="Text Box 8"/>
          <p:cNvSpPr txBox="1">
            <a:spLocks noChangeArrowheads="1"/>
          </p:cNvSpPr>
          <p:nvPr/>
        </p:nvSpPr>
        <p:spPr bwMode="auto">
          <a:xfrm>
            <a:off x="338892" y="3845348"/>
            <a:ext cx="677108" cy="2112117"/>
          </a:xfrm>
          <a:prstGeom prst="rect">
            <a:avLst/>
          </a:prstGeom>
          <a:noFill/>
          <a:ln w="31750" algn="ctr">
            <a:solidFill>
              <a:schemeClr val="accent2"/>
            </a:solidFill>
            <a:miter lim="800000"/>
          </a:ln>
          <a:extLst>
            <a:ext uri="{909E8E84-426E-40DD-AFC4-6F175D3DCCD1}">
              <a14:hiddenFill xmlns:a14="http://schemas.microsoft.com/office/drawing/2010/main">
                <a:solidFill>
                  <a:srgbClr val="FFFFFF"/>
                </a:solidFill>
              </a14:hiddenFill>
            </a:ext>
          </a:extLst>
        </p:spPr>
        <p:txBody>
          <a:bodyPr vert="eaVert"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dirty="0">
                <a:solidFill>
                  <a:srgbClr val="000099"/>
                </a:solidFill>
                <a:latin typeface="楷体" panose="02010609060101010101" pitchFamily="49" charset="-122"/>
                <a:ea typeface="楷体" panose="02010609060101010101" pitchFamily="49" charset="-122"/>
              </a:rPr>
              <a:t>加减交替法</a:t>
            </a:r>
            <a:endParaRPr lang="zh-CN" altLang="en-US" dirty="0">
              <a:solidFill>
                <a:srgbClr val="000099"/>
              </a:solidFill>
              <a:latin typeface="楷体" panose="02010609060101010101" pitchFamily="49" charset="-122"/>
              <a:ea typeface="楷体" panose="02010609060101010101" pitchFamily="49" charset="-122"/>
            </a:endParaRPr>
          </a:p>
        </p:txBody>
      </p:sp>
      <p:sp>
        <p:nvSpPr>
          <p:cNvPr id="58376" name="Text Box 9"/>
          <p:cNvSpPr txBox="1">
            <a:spLocks noChangeArrowheads="1"/>
          </p:cNvSpPr>
          <p:nvPr/>
        </p:nvSpPr>
        <p:spPr bwMode="auto">
          <a:xfrm>
            <a:off x="3808413" y="229870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ea typeface="黑体" panose="02010609060101010101" pitchFamily="49" charset="-122"/>
              </a:rPr>
              <a:t>y</a:t>
            </a:r>
            <a:r>
              <a:rPr lang="en-US" altLang="zh-CN" sz="1800" baseline="-25000">
                <a:ea typeface="黑体" panose="02010609060101010101" pitchFamily="49" charset="-122"/>
              </a:rPr>
              <a:t>1</a:t>
            </a:r>
            <a:endParaRPr lang="en-US" altLang="zh-CN" sz="1800" baseline="-25000">
              <a:ea typeface="黑体" panose="02010609060101010101" pitchFamily="49" charset="-122"/>
            </a:endParaRPr>
          </a:p>
        </p:txBody>
      </p:sp>
      <p:sp>
        <p:nvSpPr>
          <p:cNvPr id="58377" name="Text Box 10"/>
          <p:cNvSpPr txBox="1">
            <a:spLocks noChangeArrowheads="1"/>
          </p:cNvSpPr>
          <p:nvPr/>
        </p:nvSpPr>
        <p:spPr bwMode="auto">
          <a:xfrm>
            <a:off x="4845050" y="2341563"/>
            <a:ext cx="374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ea typeface="黑体" panose="02010609060101010101" pitchFamily="49" charset="-122"/>
              </a:rPr>
              <a:t>y</a:t>
            </a:r>
            <a:r>
              <a:rPr lang="en-US" altLang="zh-CN" sz="1800" baseline="-25000">
                <a:ea typeface="黑体" panose="02010609060101010101" pitchFamily="49" charset="-122"/>
              </a:rPr>
              <a:t>2</a:t>
            </a:r>
            <a:endParaRPr lang="en-US" altLang="zh-CN" sz="1800" baseline="-25000">
              <a:ea typeface="黑体" panose="02010609060101010101" pitchFamily="49" charset="-122"/>
            </a:endParaRPr>
          </a:p>
        </p:txBody>
      </p:sp>
      <p:sp>
        <p:nvSpPr>
          <p:cNvPr id="58378" name="Text Box 11"/>
          <p:cNvSpPr txBox="1">
            <a:spLocks noChangeArrowheads="1"/>
          </p:cNvSpPr>
          <p:nvPr/>
        </p:nvSpPr>
        <p:spPr bwMode="auto">
          <a:xfrm>
            <a:off x="5853113" y="2341563"/>
            <a:ext cx="374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ea typeface="黑体" panose="02010609060101010101" pitchFamily="49" charset="-122"/>
              </a:rPr>
              <a:t>y</a:t>
            </a:r>
            <a:r>
              <a:rPr lang="en-US" altLang="zh-CN" sz="1800" baseline="-25000">
                <a:ea typeface="黑体" panose="02010609060101010101" pitchFamily="49" charset="-122"/>
              </a:rPr>
              <a:t>3</a:t>
            </a:r>
            <a:endParaRPr lang="en-US" altLang="zh-CN" sz="1800" baseline="-25000">
              <a:ea typeface="黑体" panose="02010609060101010101" pitchFamily="49" charset="-122"/>
            </a:endParaRPr>
          </a:p>
        </p:txBody>
      </p:sp>
      <p:sp>
        <p:nvSpPr>
          <p:cNvPr id="12" name="TextBox 11"/>
          <p:cNvSpPr txBox="1"/>
          <p:nvPr/>
        </p:nvSpPr>
        <p:spPr>
          <a:xfrm>
            <a:off x="6715125" y="936625"/>
            <a:ext cx="2008883" cy="1348061"/>
          </a:xfrm>
          <a:prstGeom prst="rect">
            <a:avLst/>
          </a:prstGeom>
          <a:noFill/>
          <a:ln w="19050">
            <a:solidFill>
              <a:schemeClr val="accent2"/>
            </a:solidFill>
          </a:ln>
        </p:spPr>
        <p:txBody>
          <a:bodyPr wrap="none">
            <a:spAutoFit/>
          </a:bodyPr>
          <a:lstStyle/>
          <a:p>
            <a:pPr algn="l" eaLnBrk="1" hangingPunct="1">
              <a:spcBef>
                <a:spcPct val="20000"/>
              </a:spcBef>
              <a:buFont typeface="Wingdings" panose="05000000000000000000" pitchFamily="2" charset="2"/>
              <a:buNone/>
              <a:defRPr/>
            </a:pPr>
            <a:r>
              <a:rPr lang="en-US" altLang="zh-CN" sz="2400" dirty="0" err="1">
                <a:latin typeface="+mn-ea"/>
                <a:ea typeface="+mn-ea"/>
              </a:rPr>
              <a:t>x</a:t>
            </a:r>
            <a:r>
              <a:rPr lang="en-US" altLang="zh-CN" sz="2400" dirty="0" err="1">
                <a:latin typeface="+mn-ea"/>
                <a:ea typeface="+mn-ea"/>
                <a:sym typeface="Symbol" panose="05050102010706020507"/>
              </a:rPr>
              <a:t>y</a:t>
            </a:r>
            <a:r>
              <a:rPr lang="en-US" altLang="zh-CN" sz="2400" dirty="0">
                <a:latin typeface="+mn-ea"/>
                <a:ea typeface="+mn-ea"/>
                <a:sym typeface="Symbol" panose="05050102010706020507"/>
              </a:rPr>
              <a:t>=</a:t>
            </a:r>
            <a:endParaRPr lang="en-US" altLang="zh-CN" sz="2400" dirty="0">
              <a:latin typeface="+mn-ea"/>
              <a:ea typeface="+mn-ea"/>
              <a:sym typeface="Symbol" panose="05050102010706020507"/>
            </a:endParaRPr>
          </a:p>
          <a:p>
            <a:pPr algn="l" eaLnBrk="1" hangingPunct="1">
              <a:spcBef>
                <a:spcPct val="20000"/>
              </a:spcBef>
              <a:buFont typeface="Wingdings" panose="05000000000000000000" pitchFamily="2" charset="2"/>
              <a:buNone/>
              <a:defRPr/>
            </a:pPr>
            <a:r>
              <a:rPr lang="en-US" altLang="zh-CN" sz="2400" dirty="0">
                <a:latin typeface="+mn-ea"/>
                <a:ea typeface="+mn-ea"/>
                <a:sym typeface="Symbol" panose="05050102010706020507"/>
              </a:rPr>
              <a:t>0.x</a:t>
            </a:r>
            <a:r>
              <a:rPr lang="en-US" altLang="zh-CN" sz="2400" baseline="-25000" dirty="0">
                <a:latin typeface="+mn-ea"/>
                <a:ea typeface="+mn-ea"/>
                <a:sym typeface="Symbol" panose="05050102010706020507"/>
              </a:rPr>
              <a:t>1</a:t>
            </a:r>
            <a:r>
              <a:rPr lang="en-US" altLang="zh-CN" sz="2400" dirty="0">
                <a:latin typeface="+mn-ea"/>
                <a:ea typeface="+mn-ea"/>
                <a:sym typeface="Symbol" panose="05050102010706020507"/>
              </a:rPr>
              <a:t>x</a:t>
            </a:r>
            <a:r>
              <a:rPr lang="en-US" altLang="zh-CN" sz="2400" baseline="-25000" dirty="0">
                <a:latin typeface="+mn-ea"/>
                <a:ea typeface="+mn-ea"/>
                <a:sym typeface="Symbol" panose="05050102010706020507"/>
              </a:rPr>
              <a:t>2</a:t>
            </a:r>
            <a:r>
              <a:rPr lang="en-US" altLang="zh-CN" sz="2400" dirty="0">
                <a:latin typeface="+mn-ea"/>
                <a:ea typeface="+mn-ea"/>
                <a:sym typeface="Symbol" panose="05050102010706020507"/>
              </a:rPr>
              <a:t>x</a:t>
            </a:r>
            <a:r>
              <a:rPr lang="en-US" altLang="zh-CN" sz="2400" baseline="-25000" dirty="0">
                <a:latin typeface="+mn-ea"/>
                <a:ea typeface="+mn-ea"/>
                <a:sym typeface="Symbol" panose="05050102010706020507"/>
              </a:rPr>
              <a:t>3</a:t>
            </a:r>
            <a:r>
              <a:rPr lang="en-US" altLang="zh-CN" sz="2400" dirty="0">
                <a:latin typeface="+mn-ea"/>
                <a:ea typeface="+mn-ea"/>
                <a:sym typeface="Symbol" panose="05050102010706020507"/>
              </a:rPr>
              <a:t>x</a:t>
            </a:r>
            <a:r>
              <a:rPr lang="en-US" altLang="zh-CN" sz="2400" baseline="-25000" dirty="0">
                <a:latin typeface="+mn-ea"/>
                <a:ea typeface="+mn-ea"/>
                <a:sym typeface="Symbol" panose="05050102010706020507"/>
              </a:rPr>
              <a:t>4</a:t>
            </a:r>
            <a:r>
              <a:rPr lang="en-US" altLang="zh-CN" sz="2400" dirty="0">
                <a:latin typeface="+mn-ea"/>
                <a:ea typeface="+mn-ea"/>
                <a:sym typeface="Symbol" panose="05050102010706020507"/>
              </a:rPr>
              <a:t>x</a:t>
            </a:r>
            <a:r>
              <a:rPr lang="en-US" altLang="zh-CN" sz="2400" baseline="-25000" dirty="0">
                <a:latin typeface="+mn-ea"/>
                <a:ea typeface="+mn-ea"/>
                <a:sym typeface="Symbol" panose="05050102010706020507"/>
              </a:rPr>
              <a:t>5</a:t>
            </a:r>
            <a:r>
              <a:rPr lang="en-US" altLang="zh-CN" sz="2400" dirty="0">
                <a:latin typeface="+mn-ea"/>
                <a:ea typeface="+mn-ea"/>
                <a:sym typeface="Symbol" panose="05050102010706020507"/>
              </a:rPr>
              <a:t>x</a:t>
            </a:r>
            <a:r>
              <a:rPr lang="en-US" altLang="zh-CN" sz="2400" baseline="-25000" dirty="0">
                <a:latin typeface="+mn-ea"/>
                <a:ea typeface="+mn-ea"/>
                <a:sym typeface="Symbol" panose="05050102010706020507"/>
              </a:rPr>
              <a:t>6</a:t>
            </a:r>
            <a:r>
              <a:rPr lang="en-US" altLang="zh-CN" sz="2400" dirty="0">
                <a:latin typeface="+mn-ea"/>
                <a:ea typeface="+mn-ea"/>
                <a:sym typeface="Symbol" panose="05050102010706020507"/>
              </a:rPr>
              <a:t></a:t>
            </a:r>
            <a:endParaRPr lang="en-US" altLang="zh-CN" sz="2400" dirty="0">
              <a:latin typeface="+mn-ea"/>
              <a:ea typeface="+mn-ea"/>
              <a:sym typeface="Symbol" panose="05050102010706020507"/>
            </a:endParaRPr>
          </a:p>
          <a:p>
            <a:pPr algn="l" eaLnBrk="1" hangingPunct="1">
              <a:spcBef>
                <a:spcPct val="20000"/>
              </a:spcBef>
              <a:buFont typeface="Wingdings" panose="05000000000000000000" pitchFamily="2" charset="2"/>
              <a:buNone/>
              <a:defRPr/>
            </a:pPr>
            <a:r>
              <a:rPr lang="en-US" altLang="zh-CN" sz="2400" dirty="0">
                <a:latin typeface="+mn-ea"/>
                <a:ea typeface="+mn-ea"/>
                <a:sym typeface="Symbol" panose="05050102010706020507"/>
              </a:rPr>
              <a:t>0.y</a:t>
            </a:r>
            <a:r>
              <a:rPr lang="en-US" altLang="zh-CN" sz="2400" baseline="-25000" dirty="0">
                <a:latin typeface="+mn-ea"/>
                <a:ea typeface="+mn-ea"/>
                <a:sym typeface="Symbol" panose="05050102010706020507"/>
              </a:rPr>
              <a:t>1</a:t>
            </a:r>
            <a:r>
              <a:rPr lang="en-US" altLang="zh-CN" sz="2400" dirty="0">
                <a:latin typeface="+mn-ea"/>
                <a:ea typeface="+mn-ea"/>
                <a:sym typeface="Symbol" panose="05050102010706020507"/>
              </a:rPr>
              <a:t>y</a:t>
            </a:r>
            <a:r>
              <a:rPr lang="en-US" altLang="zh-CN" sz="2400" baseline="-25000" dirty="0">
                <a:latin typeface="+mn-ea"/>
                <a:ea typeface="+mn-ea"/>
                <a:sym typeface="Symbol" panose="05050102010706020507"/>
              </a:rPr>
              <a:t>2</a:t>
            </a:r>
            <a:r>
              <a:rPr lang="en-US" altLang="zh-CN" sz="2400" dirty="0">
                <a:latin typeface="+mn-ea"/>
                <a:ea typeface="+mn-ea"/>
                <a:sym typeface="Symbol" panose="05050102010706020507"/>
              </a:rPr>
              <a:t>y</a:t>
            </a:r>
            <a:r>
              <a:rPr lang="en-US" altLang="zh-CN" sz="2400" baseline="-25000" dirty="0">
                <a:latin typeface="+mn-ea"/>
                <a:ea typeface="+mn-ea"/>
                <a:sym typeface="Symbol" panose="05050102010706020507"/>
              </a:rPr>
              <a:t>3</a:t>
            </a:r>
            <a:endParaRPr lang="zh-CN" altLang="en-US" sz="2400" baseline="-25000" dirty="0">
              <a:latin typeface="+mn-ea"/>
              <a:ea typeface="+mn-ea"/>
            </a:endParaRPr>
          </a:p>
        </p:txBody>
      </p:sp>
      <p:sp>
        <p:nvSpPr>
          <p:cNvPr id="58380" name="TextBox 13"/>
          <p:cNvSpPr txBox="1">
            <a:spLocks noChangeArrowheads="1"/>
          </p:cNvSpPr>
          <p:nvPr/>
        </p:nvSpPr>
        <p:spPr bwMode="auto">
          <a:xfrm>
            <a:off x="0" y="2355850"/>
            <a:ext cx="1643063" cy="930275"/>
          </a:xfrm>
          <a:prstGeom prst="rect">
            <a:avLst/>
          </a:prstGeom>
          <a:noFill/>
          <a:ln w="12700">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l" eaLnBrk="1" hangingPunct="1">
              <a:spcBef>
                <a:spcPct val="20000"/>
              </a:spcBef>
              <a:buFont typeface="Wingdings" panose="05000000000000000000" pitchFamily="2" charset="2"/>
              <a:buNone/>
            </a:pPr>
            <a:r>
              <a:rPr lang="zh-CN" altLang="en-US" sz="1600" b="1" dirty="0">
                <a:solidFill>
                  <a:srgbClr val="C00000"/>
                </a:solidFill>
                <a:latin typeface="楷体" panose="02010609060101010101" pitchFamily="49" charset="-122"/>
                <a:ea typeface="楷体" panose="02010609060101010101" pitchFamily="49" charset="-122"/>
              </a:rPr>
              <a:t>进位输出表示部</a:t>
            </a:r>
            <a:endParaRPr lang="en-US" altLang="zh-CN" sz="1600" b="1" dirty="0">
              <a:solidFill>
                <a:srgbClr val="C00000"/>
              </a:solidFill>
              <a:latin typeface="楷体" panose="02010609060101010101" pitchFamily="49" charset="-122"/>
              <a:ea typeface="楷体" panose="02010609060101010101" pitchFamily="49" charset="-122"/>
            </a:endParaRPr>
          </a:p>
          <a:p>
            <a:pPr algn="l" eaLnBrk="1" hangingPunct="1">
              <a:spcBef>
                <a:spcPct val="20000"/>
              </a:spcBef>
              <a:buFont typeface="Wingdings" panose="05000000000000000000" pitchFamily="2" charset="2"/>
              <a:buNone/>
            </a:pPr>
            <a:r>
              <a:rPr lang="zh-CN" altLang="en-US" sz="1600" b="1" dirty="0">
                <a:solidFill>
                  <a:srgbClr val="C00000"/>
                </a:solidFill>
                <a:latin typeface="楷体" panose="02010609060101010101" pitchFamily="49" charset="-122"/>
                <a:ea typeface="楷体" panose="02010609060101010101" pitchFamily="49" charset="-122"/>
              </a:rPr>
              <a:t>分余数的符号</a:t>
            </a:r>
            <a:endParaRPr lang="en-US" altLang="zh-CN" sz="1600" b="1" dirty="0">
              <a:solidFill>
                <a:srgbClr val="C00000"/>
              </a:solidFill>
              <a:latin typeface="楷体" panose="02010609060101010101" pitchFamily="49" charset="-122"/>
              <a:ea typeface="楷体" panose="02010609060101010101" pitchFamily="49" charset="-122"/>
            </a:endParaRPr>
          </a:p>
          <a:p>
            <a:pPr algn="l" eaLnBrk="1" hangingPunct="1">
              <a:spcBef>
                <a:spcPct val="20000"/>
              </a:spcBef>
              <a:buFont typeface="Wingdings" panose="05000000000000000000" pitchFamily="2" charset="2"/>
              <a:buNone/>
            </a:pPr>
            <a:r>
              <a:rPr lang="en-US" altLang="zh-CN" sz="1600" b="1" dirty="0">
                <a:solidFill>
                  <a:srgbClr val="C00000"/>
                </a:solidFill>
                <a:latin typeface="楷体" panose="02010609060101010101" pitchFamily="49" charset="-122"/>
                <a:ea typeface="楷体" panose="02010609060101010101" pitchFamily="49" charset="-122"/>
              </a:rPr>
              <a:t>0-</a:t>
            </a:r>
            <a:r>
              <a:rPr lang="zh-CN" altLang="en-US" sz="1600" b="1" dirty="0">
                <a:solidFill>
                  <a:srgbClr val="C00000"/>
                </a:solidFill>
                <a:latin typeface="楷体" panose="02010609060101010101" pitchFamily="49" charset="-122"/>
                <a:ea typeface="楷体" panose="02010609060101010101" pitchFamily="49" charset="-122"/>
              </a:rPr>
              <a:t>负数、</a:t>
            </a:r>
            <a:r>
              <a:rPr lang="en-US" altLang="zh-CN" sz="1600" b="1" dirty="0">
                <a:solidFill>
                  <a:srgbClr val="C00000"/>
                </a:solidFill>
                <a:latin typeface="楷体" panose="02010609060101010101" pitchFamily="49" charset="-122"/>
                <a:ea typeface="楷体" panose="02010609060101010101" pitchFamily="49" charset="-122"/>
              </a:rPr>
              <a:t>1-</a:t>
            </a:r>
            <a:r>
              <a:rPr lang="zh-CN" altLang="en-US" sz="1600" b="1" dirty="0">
                <a:solidFill>
                  <a:srgbClr val="C00000"/>
                </a:solidFill>
                <a:latin typeface="楷体" panose="02010609060101010101" pitchFamily="49" charset="-122"/>
                <a:ea typeface="楷体" panose="02010609060101010101" pitchFamily="49" charset="-122"/>
              </a:rPr>
              <a:t>正数</a:t>
            </a:r>
            <a:endParaRPr lang="zh-CN" altLang="en-US" sz="1600" b="1" dirty="0">
              <a:solidFill>
                <a:srgbClr val="C00000"/>
              </a:solidFill>
              <a:latin typeface="楷体" panose="02010609060101010101" pitchFamily="49" charset="-122"/>
              <a:ea typeface="楷体" panose="02010609060101010101" pitchFamily="49" charset="-122"/>
            </a:endParaRPr>
          </a:p>
        </p:txBody>
      </p:sp>
      <p:cxnSp>
        <p:nvCxnSpPr>
          <p:cNvPr id="58381" name="直接箭头连接符 17"/>
          <p:cNvCxnSpPr>
            <a:cxnSpLocks noChangeShapeType="1"/>
            <a:stCxn id="58380" idx="0"/>
          </p:cNvCxnSpPr>
          <p:nvPr/>
        </p:nvCxnSpPr>
        <p:spPr bwMode="auto">
          <a:xfrm rot="5400000" flipH="1" flipV="1">
            <a:off x="1000919" y="1953419"/>
            <a:ext cx="223837" cy="581025"/>
          </a:xfrm>
          <a:prstGeom prst="straightConnector1">
            <a:avLst/>
          </a:prstGeom>
          <a:noFill/>
          <a:ln w="19050" algn="ctr">
            <a:solidFill>
              <a:schemeClr val="accent2"/>
            </a:solidFill>
            <a:miter lim="800000"/>
            <a:tailEnd type="stealth" w="med" len="med"/>
          </a:ln>
          <a:extLst>
            <a:ext uri="{909E8E84-426E-40DD-AFC4-6F175D3DCCD1}">
              <a14:hiddenFill xmlns:a14="http://schemas.microsoft.com/office/drawing/2010/main">
                <a:noFill/>
              </a14:hiddenFill>
            </a:ext>
          </a:extLst>
        </p:spPr>
      </p:cxnSp>
      <p:sp>
        <p:nvSpPr>
          <p:cNvPr id="58382" name="Text Box 9"/>
          <p:cNvSpPr txBox="1">
            <a:spLocks noChangeArrowheads="1"/>
          </p:cNvSpPr>
          <p:nvPr/>
        </p:nvSpPr>
        <p:spPr bwMode="auto">
          <a:xfrm>
            <a:off x="2111375" y="2565400"/>
            <a:ext cx="300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ea typeface="黑体" panose="02010609060101010101" pitchFamily="49" charset="-122"/>
              </a:rPr>
              <a:t>0</a:t>
            </a:r>
            <a:endParaRPr lang="en-US" altLang="zh-CN" sz="1800" baseline="-25000">
              <a:ea typeface="黑体" panose="02010609060101010101" pitchFamily="49" charset="-122"/>
            </a:endParaRPr>
          </a:p>
        </p:txBody>
      </p:sp>
      <p:sp>
        <p:nvSpPr>
          <p:cNvPr id="58383" name="Text Box 9"/>
          <p:cNvSpPr txBox="1">
            <a:spLocks noChangeArrowheads="1"/>
          </p:cNvSpPr>
          <p:nvPr/>
        </p:nvSpPr>
        <p:spPr bwMode="auto">
          <a:xfrm>
            <a:off x="3055938" y="3532188"/>
            <a:ext cx="3635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ea typeface="黑体" panose="02010609060101010101" pitchFamily="49" charset="-122"/>
              </a:rPr>
              <a:t>r</a:t>
            </a:r>
            <a:r>
              <a:rPr lang="en-US" altLang="zh-CN" sz="1800" baseline="-25000">
                <a:ea typeface="黑体" panose="02010609060101010101" pitchFamily="49" charset="-122"/>
              </a:rPr>
              <a:t>1</a:t>
            </a:r>
            <a:endParaRPr lang="en-US" altLang="zh-CN" sz="1800" baseline="-25000">
              <a:ea typeface="黑体" panose="02010609060101010101" pitchFamily="49" charset="-122"/>
            </a:endParaRPr>
          </a:p>
        </p:txBody>
      </p:sp>
      <p:sp>
        <p:nvSpPr>
          <p:cNvPr id="58384" name="Text Box 9"/>
          <p:cNvSpPr txBox="1">
            <a:spLocks noChangeArrowheads="1"/>
          </p:cNvSpPr>
          <p:nvPr/>
        </p:nvSpPr>
        <p:spPr bwMode="auto">
          <a:xfrm>
            <a:off x="4135438" y="4581525"/>
            <a:ext cx="365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ea typeface="黑体" panose="02010609060101010101" pitchFamily="49" charset="-122"/>
              </a:rPr>
              <a:t>r</a:t>
            </a:r>
            <a:r>
              <a:rPr lang="en-US" altLang="zh-CN" sz="1800" baseline="-25000">
                <a:ea typeface="黑体" panose="02010609060101010101" pitchFamily="49" charset="-122"/>
              </a:rPr>
              <a:t>2</a:t>
            </a:r>
            <a:endParaRPr lang="en-US" altLang="zh-CN" sz="1800" baseline="-25000">
              <a:ea typeface="黑体" panose="02010609060101010101" pitchFamily="49" charset="-122"/>
            </a:endParaRPr>
          </a:p>
        </p:txBody>
      </p:sp>
    </p:spTree>
  </p:cSld>
  <p:clrMapOvr>
    <a:masterClrMapping/>
  </p:clrMapOvr>
  <p:transition spd="med">
    <p:pull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658" name="Rectangle 2"/>
          <p:cNvSpPr>
            <a:spLocks noGrp="1" noChangeArrowheads="1"/>
          </p:cNvSpPr>
          <p:nvPr>
            <p:ph type="title"/>
          </p:nvPr>
        </p:nvSpPr>
        <p:spPr/>
        <p:txBody>
          <a:bodyPr/>
          <a:lstStyle/>
          <a:p>
            <a:pPr eaLnBrk="1" hangingPunct="1"/>
            <a:r>
              <a:rPr lang="zh-CN" altLang="en-US"/>
              <a:t>时间延迟</a:t>
            </a:r>
            <a:endParaRPr lang="zh-CN" altLang="en-US"/>
          </a:p>
        </p:txBody>
      </p:sp>
      <p:sp>
        <p:nvSpPr>
          <p:cNvPr id="59394" name="Rectangle 3"/>
          <p:cNvSpPr>
            <a:spLocks noGrp="1" noChangeArrowheads="1"/>
          </p:cNvSpPr>
          <p:nvPr>
            <p:ph idx="1"/>
          </p:nvPr>
        </p:nvSpPr>
        <p:spPr/>
        <p:txBody>
          <a:bodyPr/>
          <a:lstStyle/>
          <a:p>
            <a:pPr marL="0" indent="0" eaLnBrk="1" hangingPunct="1">
              <a:buFont typeface="Wingdings 2" charset="2"/>
              <a:buNone/>
            </a:pPr>
            <a:r>
              <a:rPr lang="zh-CN" altLang="en-US"/>
              <a:t>对一个</a:t>
            </a:r>
            <a:r>
              <a:rPr lang="en-US" altLang="zh-CN"/>
              <a:t>2n</a:t>
            </a:r>
            <a:r>
              <a:rPr lang="zh-CN" altLang="en-US"/>
              <a:t>位（小数部分）除以</a:t>
            </a:r>
            <a:r>
              <a:rPr lang="en-US" altLang="zh-CN"/>
              <a:t>n</a:t>
            </a:r>
            <a:r>
              <a:rPr lang="zh-CN" altLang="en-US"/>
              <a:t>位的不恢复余数阵列除法器</a:t>
            </a:r>
            <a:endParaRPr lang="zh-CN" altLang="en-US"/>
          </a:p>
          <a:p>
            <a:pPr marL="0" indent="0" eaLnBrk="1" hangingPunct="1"/>
            <a:r>
              <a:rPr lang="en-US" altLang="zh-CN"/>
              <a:t>(n+1)</a:t>
            </a:r>
            <a:r>
              <a:rPr lang="en-US" altLang="zh-CN" baseline="30000"/>
              <a:t>2</a:t>
            </a:r>
            <a:r>
              <a:rPr lang="zh-CN" altLang="en-US"/>
              <a:t>个</a:t>
            </a:r>
            <a:r>
              <a:rPr lang="en-US" altLang="zh-CN"/>
              <a:t>CAS</a:t>
            </a:r>
            <a:r>
              <a:rPr lang="zh-CN" altLang="en-US"/>
              <a:t>单元</a:t>
            </a:r>
            <a:endParaRPr lang="zh-CN" altLang="en-US"/>
          </a:p>
          <a:p>
            <a:pPr marL="0" indent="0" eaLnBrk="1" hangingPunct="1"/>
            <a:r>
              <a:rPr lang="en-US" altLang="zh-CN"/>
              <a:t>CAS</a:t>
            </a:r>
            <a:r>
              <a:rPr lang="zh-CN" altLang="en-US"/>
              <a:t>单元的进位延迟为</a:t>
            </a:r>
            <a:r>
              <a:rPr lang="en-US" altLang="zh-CN"/>
              <a:t>3T</a:t>
            </a:r>
            <a:endParaRPr lang="en-US" altLang="zh-CN"/>
          </a:p>
          <a:p>
            <a:pPr marL="0" indent="0" eaLnBrk="1" hangingPunct="1">
              <a:buFont typeface="Wingdings 2" charset="2"/>
              <a:buNone/>
            </a:pPr>
            <a:r>
              <a:rPr lang="zh-CN" altLang="en-US"/>
              <a:t>除法的执行时间 </a:t>
            </a:r>
            <a:r>
              <a:rPr lang="en-US" altLang="zh-CN"/>
              <a:t>t= (n+1)</a:t>
            </a:r>
            <a:r>
              <a:rPr lang="en-US" altLang="zh-CN" baseline="30000"/>
              <a:t>2</a:t>
            </a:r>
            <a:r>
              <a:rPr lang="en-US" altLang="zh-CN"/>
              <a:t>3T </a:t>
            </a:r>
            <a:endParaRPr lang="en-US" altLang="zh-CN"/>
          </a:p>
          <a:p>
            <a:pPr marL="0" indent="0" eaLnBrk="1" hangingPunct="1">
              <a:buFont typeface="Wingdings 2" charset="2"/>
              <a:buNone/>
            </a:pPr>
            <a:r>
              <a:rPr lang="en-US" altLang="zh-CN"/>
              <a:t>                               =3(n+1)</a:t>
            </a:r>
            <a:r>
              <a:rPr lang="en-US" altLang="zh-CN" baseline="30000"/>
              <a:t>2</a:t>
            </a:r>
            <a:r>
              <a:rPr lang="en-US" altLang="zh-CN"/>
              <a:t>T </a:t>
            </a:r>
            <a:endParaRPr lang="en-US" altLang="zh-CN"/>
          </a:p>
          <a:p>
            <a:pPr marL="0" indent="0" eaLnBrk="1" hangingPunct="1">
              <a:buFont typeface="Wingdings 2" charset="2"/>
              <a:buNone/>
            </a:pPr>
            <a:endParaRPr lang="en-US" altLang="zh-CN"/>
          </a:p>
        </p:txBody>
      </p:sp>
    </p:spTree>
  </p:cSld>
  <p:clrMapOvr>
    <a:masterClrMapping/>
  </p:clrMapOvr>
  <p:transition spd="med">
    <p:pull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2.5 </a:t>
            </a:r>
            <a:r>
              <a:rPr lang="zh-CN" altLang="en-US" dirty="0"/>
              <a:t>定点运算器的组成</a:t>
            </a:r>
            <a:endParaRPr lang="zh-CN" alt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0" name="Rectangle 2"/>
          <p:cNvSpPr>
            <a:spLocks noGrp="1" noChangeArrowheads="1"/>
          </p:cNvSpPr>
          <p:nvPr>
            <p:ph type="title"/>
          </p:nvPr>
        </p:nvSpPr>
        <p:spPr/>
        <p:txBody>
          <a:bodyPr/>
          <a:lstStyle/>
          <a:p>
            <a:pPr eaLnBrk="1" hangingPunct="1"/>
            <a:r>
              <a:rPr lang="zh-CN" altLang="en-US" dirty="0"/>
              <a:t>运算器的基本结构</a:t>
            </a:r>
            <a:endParaRPr lang="zh-CN" altLang="en-US" dirty="0"/>
          </a:p>
        </p:txBody>
      </p:sp>
      <p:sp>
        <p:nvSpPr>
          <p:cNvPr id="63490" name="Rectangle 3"/>
          <p:cNvSpPr>
            <a:spLocks noGrp="1" noChangeArrowheads="1"/>
          </p:cNvSpPr>
          <p:nvPr>
            <p:ph idx="1"/>
          </p:nvPr>
        </p:nvSpPr>
        <p:spPr/>
        <p:txBody>
          <a:bodyPr/>
          <a:lstStyle/>
          <a:p>
            <a:pPr eaLnBrk="1" hangingPunct="1">
              <a:buFont typeface="Wingdings 2" charset="2"/>
              <a:buNone/>
            </a:pPr>
            <a:r>
              <a:rPr lang="zh-CN" altLang="en-US"/>
              <a:t>典型运算器包括：</a:t>
            </a:r>
            <a:endParaRPr lang="zh-CN" altLang="en-US"/>
          </a:p>
          <a:p>
            <a:pPr eaLnBrk="1" hangingPunct="1"/>
            <a:r>
              <a:rPr lang="zh-CN" altLang="en-US"/>
              <a:t>算术逻辑运算单元</a:t>
            </a:r>
            <a:r>
              <a:rPr lang="en-US" altLang="zh-CN"/>
              <a:t>ALU</a:t>
            </a:r>
            <a:endParaRPr lang="en-US" altLang="zh-CN"/>
          </a:p>
          <a:p>
            <a:pPr eaLnBrk="1" hangingPunct="1"/>
            <a:r>
              <a:rPr lang="zh-CN" altLang="en-US"/>
              <a:t>阵列乘除法器</a:t>
            </a:r>
            <a:endParaRPr lang="zh-CN" altLang="en-US"/>
          </a:p>
          <a:p>
            <a:pPr eaLnBrk="1" hangingPunct="1"/>
            <a:r>
              <a:rPr lang="zh-CN" altLang="en-US"/>
              <a:t>寄存器组</a:t>
            </a:r>
            <a:endParaRPr lang="zh-CN" altLang="en-US"/>
          </a:p>
          <a:p>
            <a:pPr eaLnBrk="1" hangingPunct="1"/>
            <a:r>
              <a:rPr lang="zh-CN" altLang="en-US"/>
              <a:t>多路选择器</a:t>
            </a:r>
            <a:endParaRPr lang="zh-CN" altLang="en-US"/>
          </a:p>
          <a:p>
            <a:pPr eaLnBrk="1" hangingPunct="1"/>
            <a:r>
              <a:rPr lang="zh-CN" altLang="en-US"/>
              <a:t>三态门</a:t>
            </a:r>
            <a:endParaRPr lang="zh-CN" altLang="en-US"/>
          </a:p>
          <a:p>
            <a:pPr eaLnBrk="1" hangingPunct="1"/>
            <a:r>
              <a:rPr lang="zh-CN" altLang="en-US"/>
              <a:t>数据总线</a:t>
            </a:r>
            <a:endParaRPr lang="zh-CN" altLang="en-US"/>
          </a:p>
        </p:txBody>
      </p:sp>
    </p:spTree>
  </p:cSld>
  <p:clrMapOvr>
    <a:masterClrMapping/>
  </p:clrMapOvr>
  <p:transition spd="med">
    <p:pull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寄存器</a:t>
            </a:r>
            <a:endParaRPr lang="zh-CN" altLang="en-US" dirty="0"/>
          </a:p>
        </p:txBody>
      </p:sp>
      <p:sp>
        <p:nvSpPr>
          <p:cNvPr id="64514" name="内容占位符 2"/>
          <p:cNvSpPr>
            <a:spLocks noGrp="1" noChangeArrowheads="1"/>
          </p:cNvSpPr>
          <p:nvPr>
            <p:ph idx="1"/>
          </p:nvPr>
        </p:nvSpPr>
        <p:spPr/>
        <p:txBody>
          <a:bodyPr/>
          <a:lstStyle/>
          <a:p>
            <a:endParaRPr lang="zh-CN" altLang="en-US"/>
          </a:p>
        </p:txBody>
      </p:sp>
      <p:pic>
        <p:nvPicPr>
          <p:cNvPr id="64516"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73038" y="1052513"/>
            <a:ext cx="8791575" cy="486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寄存器组</a:t>
            </a:r>
            <a:endParaRPr lang="zh-CN" altLang="en-US"/>
          </a:p>
        </p:txBody>
      </p:sp>
      <p:sp>
        <p:nvSpPr>
          <p:cNvPr id="65538" name="内容占位符 2"/>
          <p:cNvSpPr>
            <a:spLocks noGrp="1" noChangeArrowheads="1"/>
          </p:cNvSpPr>
          <p:nvPr>
            <p:ph idx="1"/>
          </p:nvPr>
        </p:nvSpPr>
        <p:spPr/>
        <p:txBody>
          <a:bodyPr/>
          <a:lstStyle/>
          <a:p>
            <a:endParaRPr lang="zh-CN" altLang="en-US" dirty="0"/>
          </a:p>
        </p:txBody>
      </p:sp>
      <p:grpSp>
        <p:nvGrpSpPr>
          <p:cNvPr id="65540" name="组合 5"/>
          <p:cNvGrpSpPr/>
          <p:nvPr/>
        </p:nvGrpSpPr>
        <p:grpSpPr bwMode="auto">
          <a:xfrm>
            <a:off x="1371600" y="1524000"/>
            <a:ext cx="7086600" cy="4114800"/>
            <a:chOff x="2051720" y="1683967"/>
            <a:chExt cx="5934075" cy="3438526"/>
          </a:xfrm>
        </p:grpSpPr>
        <p:pic>
          <p:nvPicPr>
            <p:cNvPr id="65541" name="Picture 2" descr="Hi! I want to simulate the Register File shown be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1720" y="1683967"/>
              <a:ext cx="5934075" cy="3438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3897983" y="3142879"/>
              <a:ext cx="1295400" cy="1077913"/>
            </a:xfrm>
            <a:prstGeom prst="rect">
              <a:avLst/>
            </a:prstGeom>
            <a:noFill/>
          </p:spPr>
          <p:txBody>
            <a:bodyPr wrap="none">
              <a:spAutoFit/>
            </a:bodyPr>
            <a:lstStyle/>
            <a:p>
              <a:pPr algn="ctr">
                <a:defRPr/>
              </a:pPr>
              <a:r>
                <a:rPr lang="en-US" altLang="zh-CN" sz="1600" b="1" dirty="0">
                  <a:latin typeface="+mn-lt"/>
                  <a:ea typeface="+mj-ea"/>
                </a:rPr>
                <a:t>32 bit</a:t>
              </a:r>
              <a:endParaRPr lang="en-US" altLang="zh-CN" sz="1600" b="1" dirty="0">
                <a:latin typeface="+mn-lt"/>
                <a:ea typeface="+mj-ea"/>
              </a:endParaRPr>
            </a:p>
            <a:p>
              <a:pPr algn="ctr">
                <a:defRPr/>
              </a:pPr>
              <a:r>
                <a:rPr lang="en-US" altLang="zh-CN" sz="1600" b="1" dirty="0">
                  <a:latin typeface="+mn-lt"/>
                  <a:ea typeface="+mj-ea"/>
                </a:rPr>
                <a:t>Register File</a:t>
              </a:r>
              <a:endParaRPr lang="en-US" altLang="zh-CN" sz="1600" b="1" dirty="0">
                <a:latin typeface="+mn-lt"/>
                <a:ea typeface="+mj-ea"/>
              </a:endParaRPr>
            </a:p>
            <a:p>
              <a:pPr algn="ctr">
                <a:defRPr/>
              </a:pPr>
              <a:r>
                <a:rPr lang="en-US" altLang="zh-CN" sz="1600" b="1" dirty="0">
                  <a:latin typeface="+mn-lt"/>
                  <a:ea typeface="+mj-ea"/>
                </a:rPr>
                <a:t>x32</a:t>
              </a:r>
              <a:endParaRPr lang="en-US" altLang="zh-CN" sz="1600" b="1" dirty="0">
                <a:latin typeface="+mn-lt"/>
                <a:ea typeface="+mj-ea"/>
              </a:endParaRPr>
            </a:p>
            <a:p>
              <a:pPr>
                <a:defRPr/>
              </a:pPr>
              <a:endParaRPr lang="zh-CN" altLang="en-US" sz="1600" dirty="0">
                <a:latin typeface="+mn-lt"/>
                <a:ea typeface="+mj-ea"/>
              </a:endParaRPr>
            </a:p>
          </p:txBody>
        </p:sp>
      </p:grpSp>
    </p:spTree>
  </p:cSld>
  <p:clrMapOvr>
    <a:masterClrMapping/>
  </p:clrMapOvr>
  <p:transition spd="med">
    <p:pull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多路复用器</a:t>
            </a:r>
            <a:r>
              <a:rPr lang="en-US" altLang="zh-CN"/>
              <a:t>/</a:t>
            </a:r>
            <a:r>
              <a:rPr lang="zh-CN" altLang="en-US"/>
              <a:t>多路分配器</a:t>
            </a:r>
            <a:endParaRPr lang="zh-CN" altLang="en-US"/>
          </a:p>
        </p:txBody>
      </p:sp>
      <p:sp>
        <p:nvSpPr>
          <p:cNvPr id="66562" name="内容占位符 2"/>
          <p:cNvSpPr>
            <a:spLocks noGrp="1" noChangeArrowheads="1"/>
          </p:cNvSpPr>
          <p:nvPr>
            <p:ph idx="1"/>
          </p:nvPr>
        </p:nvSpPr>
        <p:spPr/>
        <p:txBody>
          <a:bodyPr/>
          <a:lstStyle/>
          <a:p>
            <a:endParaRPr lang="zh-CN" altLang="en-US"/>
          </a:p>
        </p:txBody>
      </p:sp>
      <p:pic>
        <p:nvPicPr>
          <p:cNvPr id="66564"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79388" y="1006475"/>
            <a:ext cx="8794750" cy="494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2"/>
          <p:cNvSpPr>
            <a:spLocks noGrp="1" noChangeArrowheads="1"/>
          </p:cNvSpPr>
          <p:nvPr>
            <p:ph type="title"/>
          </p:nvPr>
        </p:nvSpPr>
        <p:spPr/>
        <p:txBody>
          <a:bodyPr/>
          <a:lstStyle/>
          <a:p>
            <a:pPr eaLnBrk="1" hangingPunct="1"/>
            <a:r>
              <a:rPr lang="zh-CN" altLang="en-US"/>
              <a:t>三态门</a:t>
            </a:r>
            <a:endParaRPr lang="zh-CN" altLang="en-US"/>
          </a:p>
        </p:txBody>
      </p:sp>
      <p:sp>
        <p:nvSpPr>
          <p:cNvPr id="67586" name="Rectangle 3"/>
          <p:cNvSpPr>
            <a:spLocks noGrp="1" noChangeArrowheads="1"/>
          </p:cNvSpPr>
          <p:nvPr>
            <p:ph idx="1"/>
          </p:nvPr>
        </p:nvSpPr>
        <p:spPr/>
        <p:txBody>
          <a:bodyPr/>
          <a:lstStyle/>
          <a:p>
            <a:pPr eaLnBrk="1" hangingPunct="1"/>
            <a:endParaRPr lang="zh-CN" altLang="zh-CN"/>
          </a:p>
        </p:txBody>
      </p:sp>
      <p:pic>
        <p:nvPicPr>
          <p:cNvPr id="5" name="Picture 4" descr="D:\jinerwork\组成\白中英版改编\visio\2.5_4.jpg"/>
          <p:cNvPicPr>
            <a:picLocks noChangeAspect="1" noChangeArrowheads="1"/>
          </p:cNvPicPr>
          <p:nvPr/>
        </p:nvPicPr>
        <p:blipFill>
          <a:blip r:embed="rId1" r:link="rId2">
            <a:extLst>
              <a:ext uri="{28A0092B-C50C-407E-A947-70E740481C1C}">
                <a14:useLocalDpi xmlns:a14="http://schemas.microsoft.com/office/drawing/2010/main" val="0"/>
              </a:ext>
            </a:extLst>
          </a:blip>
          <a:srcRect/>
          <a:stretch>
            <a:fillRect/>
          </a:stretch>
        </p:blipFill>
        <p:spPr bwMode="auto">
          <a:xfrm>
            <a:off x="1258888" y="1450975"/>
            <a:ext cx="6840537" cy="457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译码器</a:t>
            </a:r>
            <a:r>
              <a:rPr lang="en-US" altLang="zh-CN"/>
              <a:t>/</a:t>
            </a:r>
            <a:r>
              <a:rPr lang="zh-CN" altLang="en-US"/>
              <a:t>编码器</a:t>
            </a:r>
            <a:endParaRPr lang="zh-CN" altLang="en-US"/>
          </a:p>
        </p:txBody>
      </p:sp>
      <p:sp>
        <p:nvSpPr>
          <p:cNvPr id="68610" name="内容占位符 2"/>
          <p:cNvSpPr>
            <a:spLocks noGrp="1" noChangeArrowheads="1"/>
          </p:cNvSpPr>
          <p:nvPr>
            <p:ph idx="1"/>
          </p:nvPr>
        </p:nvSpPr>
        <p:spPr/>
        <p:txBody>
          <a:bodyPr/>
          <a:lstStyle/>
          <a:p>
            <a:endParaRPr lang="zh-CN" altLang="en-US"/>
          </a:p>
        </p:txBody>
      </p:sp>
      <p:pic>
        <p:nvPicPr>
          <p:cNvPr id="68612"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50825" y="1323975"/>
            <a:ext cx="8659813"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8613" name="直接连接符 3"/>
          <p:cNvCxnSpPr/>
          <p:nvPr/>
        </p:nvCxnSpPr>
        <p:spPr bwMode="auto">
          <a:xfrm>
            <a:off x="4211638" y="1052513"/>
            <a:ext cx="0" cy="5113337"/>
          </a:xfrm>
          <a:prstGeom prst="line">
            <a:avLst/>
          </a:prstGeom>
          <a:noFill/>
          <a:ln w="15875" algn="ctr">
            <a:solidFill>
              <a:srgbClr val="C00000"/>
            </a:solidFill>
            <a:prstDash val="dashDot"/>
            <a:miter lim="800000"/>
          </a:ln>
          <a:extLst>
            <a:ext uri="{909E8E84-426E-40DD-AFC4-6F175D3DCCD1}">
              <a14:hiddenFill xmlns:a14="http://schemas.microsoft.com/office/drawing/2010/main">
                <a:noFill/>
              </a14:hiddenFill>
            </a:ext>
          </a:extLst>
        </p:spPr>
      </p:cxnSp>
    </p:spTree>
  </p:cSld>
  <p:clrMapOvr>
    <a:masterClrMapping/>
  </p:clrMapOvr>
  <p:transition spd="med">
    <p:pull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Grp="1" noChangeArrowheads="1"/>
          </p:cNvSpPr>
          <p:nvPr>
            <p:ph type="title"/>
          </p:nvPr>
        </p:nvSpPr>
        <p:spPr/>
        <p:txBody>
          <a:bodyPr/>
          <a:lstStyle/>
          <a:p>
            <a:pPr eaLnBrk="1" hangingPunct="1">
              <a:defRPr/>
            </a:pPr>
            <a:r>
              <a:rPr lang="zh-CN" altLang="en-US" dirty="0"/>
              <a:t>总线驱动器</a:t>
            </a:r>
            <a:endParaRPr lang="zh-CN" altLang="zh-CN" dirty="0"/>
          </a:p>
        </p:txBody>
      </p:sp>
      <p:sp>
        <p:nvSpPr>
          <p:cNvPr id="69634" name="Rectangle 3"/>
          <p:cNvSpPr>
            <a:spLocks noGrp="1" noChangeArrowheads="1"/>
          </p:cNvSpPr>
          <p:nvPr>
            <p:ph idx="1"/>
          </p:nvPr>
        </p:nvSpPr>
        <p:spPr/>
        <p:txBody>
          <a:bodyPr/>
          <a:lstStyle/>
          <a:p>
            <a:pPr eaLnBrk="1" hangingPunct="1"/>
            <a:endParaRPr lang="zh-CN" altLang="zh-CN"/>
          </a:p>
        </p:txBody>
      </p:sp>
      <p:pic>
        <p:nvPicPr>
          <p:cNvPr id="69636" name="Picture 4"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9388" y="1568450"/>
            <a:ext cx="8736012" cy="432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Rectangle 2"/>
          <p:cNvSpPr>
            <a:spLocks noGrp="1" noChangeArrowheads="1"/>
          </p:cNvSpPr>
          <p:nvPr>
            <p:ph type="title"/>
          </p:nvPr>
        </p:nvSpPr>
        <p:spPr/>
        <p:txBody>
          <a:bodyPr/>
          <a:lstStyle/>
          <a:p>
            <a:pPr eaLnBrk="1" hangingPunct="1"/>
            <a:r>
              <a:rPr lang="zh-CN" altLang="en-US"/>
              <a:t>内部总线</a:t>
            </a:r>
            <a:endParaRPr lang="zh-CN" altLang="en-US"/>
          </a:p>
        </p:txBody>
      </p:sp>
      <p:sp>
        <p:nvSpPr>
          <p:cNvPr id="71682" name="Rectangle 3"/>
          <p:cNvSpPr>
            <a:spLocks noGrp="1" noChangeArrowheads="1"/>
          </p:cNvSpPr>
          <p:nvPr>
            <p:ph idx="1"/>
          </p:nvPr>
        </p:nvSpPr>
        <p:spPr/>
        <p:txBody>
          <a:bodyPr/>
          <a:lstStyle/>
          <a:p>
            <a:pPr eaLnBrk="1" hangingPunct="1"/>
            <a:r>
              <a:rPr lang="zh-CN" altLang="en-US"/>
              <a:t>机器内部各部件数据传送频繁，可以把寄存器间的数据传送通路加以归并，组成总线结构</a:t>
            </a:r>
            <a:endParaRPr lang="zh-CN" altLang="en-US"/>
          </a:p>
          <a:p>
            <a:pPr eaLnBrk="1" hangingPunct="1"/>
            <a:r>
              <a:rPr lang="zh-CN" altLang="en-US"/>
              <a:t>总线分类</a:t>
            </a:r>
            <a:endParaRPr lang="zh-CN" altLang="en-US"/>
          </a:p>
          <a:p>
            <a:pPr lvl="1" eaLnBrk="1" hangingPunct="1"/>
            <a:r>
              <a:rPr lang="zh-CN" altLang="en-US" sz="2900"/>
              <a:t>所处位置</a:t>
            </a:r>
            <a:endParaRPr lang="zh-CN" altLang="en-US" sz="2900"/>
          </a:p>
          <a:p>
            <a:pPr lvl="2" eaLnBrk="1" hangingPunct="1"/>
            <a:r>
              <a:rPr lang="zh-CN" altLang="en-US"/>
              <a:t>内部总线（</a:t>
            </a:r>
            <a:r>
              <a:rPr lang="en-US" altLang="zh-CN"/>
              <a:t>CPU</a:t>
            </a:r>
            <a:r>
              <a:rPr lang="zh-CN" altLang="en-US"/>
              <a:t>内）</a:t>
            </a:r>
            <a:endParaRPr lang="zh-CN" altLang="en-US"/>
          </a:p>
          <a:p>
            <a:pPr lvl="2" eaLnBrk="1" hangingPunct="1"/>
            <a:r>
              <a:rPr lang="zh-CN" altLang="en-US"/>
              <a:t>外部总线（系统总线）</a:t>
            </a:r>
            <a:endParaRPr lang="zh-CN" altLang="en-US"/>
          </a:p>
          <a:p>
            <a:pPr lvl="1" eaLnBrk="1" hangingPunct="1"/>
            <a:r>
              <a:rPr lang="zh-CN" altLang="en-US" sz="2900"/>
              <a:t>逻辑结构</a:t>
            </a:r>
            <a:endParaRPr lang="zh-CN" altLang="en-US" sz="2900"/>
          </a:p>
          <a:p>
            <a:pPr lvl="2" eaLnBrk="1" hangingPunct="1"/>
            <a:r>
              <a:rPr lang="zh-CN" altLang="en-US"/>
              <a:t>单向传送总线</a:t>
            </a:r>
            <a:endParaRPr lang="zh-CN" altLang="en-US"/>
          </a:p>
          <a:p>
            <a:pPr lvl="2" eaLnBrk="1" hangingPunct="1"/>
            <a:r>
              <a:rPr lang="zh-CN" altLang="en-US"/>
              <a:t>双向传送总线</a:t>
            </a:r>
            <a:endParaRPr lang="zh-CN" altLang="en-US"/>
          </a:p>
        </p:txBody>
      </p:sp>
    </p:spTree>
  </p:cSld>
  <p:clrMapOvr>
    <a:masterClrMapping/>
  </p:clrMapOvr>
  <p:transition spd="med">
    <p:pull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082" name="Rectangle 2"/>
          <p:cNvSpPr>
            <a:spLocks noGrp="1" noChangeArrowheads="1"/>
          </p:cNvSpPr>
          <p:nvPr>
            <p:ph type="title"/>
          </p:nvPr>
        </p:nvSpPr>
        <p:spPr/>
        <p:txBody>
          <a:bodyPr/>
          <a:lstStyle/>
          <a:p>
            <a:pPr eaLnBrk="1" hangingPunct="1"/>
            <a:r>
              <a:rPr lang="zh-CN" altLang="en-US"/>
              <a:t>逻辑运算的应用需求</a:t>
            </a:r>
            <a:endParaRPr lang="zh-CN" altLang="en-US"/>
          </a:p>
        </p:txBody>
      </p:sp>
      <p:sp>
        <p:nvSpPr>
          <p:cNvPr id="72706" name="Rectangle 3"/>
          <p:cNvSpPr>
            <a:spLocks noGrp="1" noChangeArrowheads="1"/>
          </p:cNvSpPr>
          <p:nvPr>
            <p:ph idx="1"/>
          </p:nvPr>
        </p:nvSpPr>
        <p:spPr/>
        <p:txBody>
          <a:bodyPr/>
          <a:lstStyle/>
          <a:p>
            <a:pPr eaLnBrk="1" hangingPunct="1"/>
            <a:r>
              <a:rPr lang="zh-CN" altLang="en-US" sz="2800"/>
              <a:t>逻辑或：	</a:t>
            </a:r>
            <a:r>
              <a:rPr lang="en-US" altLang="zh-CN" sz="2800"/>
              <a:t>1∨x=1</a:t>
            </a:r>
            <a:r>
              <a:rPr lang="zh-CN" altLang="en-US" sz="2800"/>
              <a:t>， </a:t>
            </a:r>
            <a:r>
              <a:rPr lang="en-US" altLang="zh-CN" sz="2800"/>
              <a:t>0∨x=x</a:t>
            </a:r>
            <a:endParaRPr lang="en-US" altLang="zh-CN" sz="2800"/>
          </a:p>
          <a:p>
            <a:pPr eaLnBrk="1" hangingPunct="1">
              <a:buFont typeface="Wingdings 2" charset="2"/>
              <a:buNone/>
            </a:pPr>
            <a:r>
              <a:rPr lang="en-US" altLang="zh-CN" sz="2800"/>
              <a:t>	</a:t>
            </a:r>
            <a:r>
              <a:rPr lang="zh-CN" altLang="en-US" sz="2800"/>
              <a:t>将一个数的某些指定比特置</a:t>
            </a:r>
            <a:r>
              <a:rPr lang="en-US" altLang="zh-CN" sz="2800"/>
              <a:t>1</a:t>
            </a:r>
            <a:r>
              <a:rPr lang="zh-CN" altLang="en-US" sz="2800"/>
              <a:t>，其他比特保持不变</a:t>
            </a:r>
            <a:endParaRPr lang="zh-CN" altLang="en-US" sz="2800"/>
          </a:p>
          <a:p>
            <a:pPr eaLnBrk="1" hangingPunct="1">
              <a:buFont typeface="Wingdings 2" charset="2"/>
              <a:buNone/>
            </a:pPr>
            <a:r>
              <a:rPr lang="zh-CN" altLang="en-US" sz="2800"/>
              <a:t>	例如：</a:t>
            </a:r>
            <a:r>
              <a:rPr lang="en-US" altLang="zh-CN" sz="2800"/>
              <a:t>a∨01000010 </a:t>
            </a:r>
            <a:r>
              <a:rPr lang="en-US" altLang="zh-CN" sz="2800">
                <a:latin typeface="宋体" panose="02010600030101010101" pitchFamily="2" charset="-122"/>
                <a:ea typeface="宋体" panose="02010600030101010101" pitchFamily="2" charset="-122"/>
                <a:sym typeface="Symbol" panose="05050102010706020507" pitchFamily="18" charset="2"/>
              </a:rPr>
              <a:t> </a:t>
            </a:r>
            <a:r>
              <a:rPr lang="zh-CN" altLang="en-US" sz="2800"/>
              <a:t>将</a:t>
            </a:r>
            <a:r>
              <a:rPr lang="en-US" altLang="zh-CN" sz="2800"/>
              <a:t>a</a:t>
            </a:r>
            <a:r>
              <a:rPr lang="zh-CN" altLang="en-US" sz="2800"/>
              <a:t>的第</a:t>
            </a:r>
            <a:r>
              <a:rPr lang="en-US" altLang="zh-CN" sz="2800"/>
              <a:t>1</a:t>
            </a:r>
            <a:r>
              <a:rPr lang="zh-CN" altLang="en-US" sz="2800"/>
              <a:t>和第</a:t>
            </a:r>
            <a:r>
              <a:rPr lang="en-US" altLang="zh-CN" sz="2800"/>
              <a:t>6</a:t>
            </a:r>
            <a:r>
              <a:rPr lang="zh-CN" altLang="en-US" sz="2800"/>
              <a:t>位置</a:t>
            </a:r>
            <a:r>
              <a:rPr lang="en-US" altLang="zh-CN" sz="2800"/>
              <a:t>1</a:t>
            </a:r>
            <a:endParaRPr lang="en-US" altLang="zh-CN" sz="2800"/>
          </a:p>
          <a:p>
            <a:pPr eaLnBrk="1" hangingPunct="1"/>
            <a:r>
              <a:rPr lang="zh-CN" altLang="en-US" sz="2800"/>
              <a:t>逻辑与：	</a:t>
            </a:r>
            <a:r>
              <a:rPr lang="en-US" altLang="zh-CN" sz="2800"/>
              <a:t>1∧x=x</a:t>
            </a:r>
            <a:r>
              <a:rPr lang="zh-CN" altLang="en-US" sz="2800"/>
              <a:t>， </a:t>
            </a:r>
            <a:r>
              <a:rPr lang="en-US" altLang="zh-CN" sz="2800"/>
              <a:t>0∧x=0</a:t>
            </a:r>
            <a:endParaRPr lang="en-US" altLang="zh-CN" sz="2800"/>
          </a:p>
          <a:p>
            <a:pPr eaLnBrk="1" hangingPunct="1">
              <a:buFont typeface="Wingdings 2" charset="2"/>
              <a:buNone/>
            </a:pPr>
            <a:r>
              <a:rPr lang="en-US" altLang="zh-CN" sz="2800"/>
              <a:t>	</a:t>
            </a:r>
            <a:r>
              <a:rPr lang="zh-CN" altLang="en-US" sz="2800"/>
              <a:t>将一个数的某些指定比特清</a:t>
            </a:r>
            <a:r>
              <a:rPr lang="en-US" altLang="zh-CN" sz="2800"/>
              <a:t>0</a:t>
            </a:r>
            <a:r>
              <a:rPr lang="zh-CN" altLang="en-US" sz="2800"/>
              <a:t>，其他比特保持不变</a:t>
            </a:r>
            <a:endParaRPr lang="zh-CN" altLang="en-US" sz="2800"/>
          </a:p>
          <a:p>
            <a:pPr eaLnBrk="1" hangingPunct="1">
              <a:buFont typeface="Wingdings 2" charset="2"/>
              <a:buNone/>
            </a:pPr>
            <a:r>
              <a:rPr lang="zh-CN" altLang="en-US" sz="2800"/>
              <a:t>	例如：</a:t>
            </a:r>
            <a:r>
              <a:rPr lang="en-US" altLang="zh-CN" sz="2800"/>
              <a:t>a∧10111101 </a:t>
            </a:r>
            <a:r>
              <a:rPr lang="en-US" altLang="zh-CN" sz="2800">
                <a:latin typeface="宋体" panose="02010600030101010101" pitchFamily="2" charset="-122"/>
                <a:ea typeface="宋体" panose="02010600030101010101" pitchFamily="2" charset="-122"/>
                <a:sym typeface="Symbol" panose="05050102010706020507" pitchFamily="18" charset="2"/>
              </a:rPr>
              <a:t> </a:t>
            </a:r>
            <a:r>
              <a:rPr lang="zh-CN" altLang="en-US" sz="2800"/>
              <a:t>将</a:t>
            </a:r>
            <a:r>
              <a:rPr lang="en-US" altLang="zh-CN" sz="2800"/>
              <a:t>a</a:t>
            </a:r>
            <a:r>
              <a:rPr lang="zh-CN" altLang="en-US" sz="2800"/>
              <a:t>的第</a:t>
            </a:r>
            <a:r>
              <a:rPr lang="en-US" altLang="zh-CN" sz="2800"/>
              <a:t>1</a:t>
            </a:r>
            <a:r>
              <a:rPr lang="zh-CN" altLang="en-US" sz="2800"/>
              <a:t>和第</a:t>
            </a:r>
            <a:r>
              <a:rPr lang="en-US" altLang="zh-CN" sz="2800"/>
              <a:t>6</a:t>
            </a:r>
            <a:r>
              <a:rPr lang="zh-CN" altLang="en-US" sz="2800"/>
              <a:t>位清</a:t>
            </a:r>
            <a:r>
              <a:rPr lang="en-US" altLang="zh-CN" sz="2800"/>
              <a:t>0</a:t>
            </a:r>
            <a:endParaRPr lang="en-US" altLang="zh-CN" sz="2800"/>
          </a:p>
          <a:p>
            <a:pPr eaLnBrk="1" hangingPunct="1"/>
            <a:r>
              <a:rPr lang="zh-CN" altLang="en-US" sz="2800"/>
              <a:t>逻辑异或：	</a:t>
            </a:r>
            <a:r>
              <a:rPr lang="en-US" altLang="zh-CN" sz="2800"/>
              <a:t>1⊕x=/x</a:t>
            </a:r>
            <a:r>
              <a:rPr lang="zh-CN" altLang="en-US" sz="2800"/>
              <a:t>， </a:t>
            </a:r>
            <a:r>
              <a:rPr lang="en-US" altLang="zh-CN" sz="2800"/>
              <a:t>0⊕x=x</a:t>
            </a:r>
            <a:endParaRPr lang="en-US" altLang="zh-CN" sz="2800"/>
          </a:p>
          <a:p>
            <a:pPr eaLnBrk="1" hangingPunct="1">
              <a:buFont typeface="Wingdings 2" charset="2"/>
              <a:buNone/>
            </a:pPr>
            <a:r>
              <a:rPr lang="en-US" altLang="zh-CN" sz="2800"/>
              <a:t>	</a:t>
            </a:r>
            <a:r>
              <a:rPr lang="zh-CN" altLang="en-US" sz="2800"/>
              <a:t>将一个数的某些指定比特取反，其他比特保持不变</a:t>
            </a:r>
            <a:endParaRPr lang="zh-CN" altLang="en-US" sz="2800"/>
          </a:p>
          <a:p>
            <a:pPr eaLnBrk="1" hangingPunct="1">
              <a:buFont typeface="Wingdings 2" charset="2"/>
              <a:buNone/>
            </a:pPr>
            <a:r>
              <a:rPr lang="zh-CN" altLang="en-US" sz="2800"/>
              <a:t>	例如：</a:t>
            </a:r>
            <a:r>
              <a:rPr lang="en-US" altLang="zh-CN" sz="2800"/>
              <a:t>a⊕01000010 </a:t>
            </a:r>
            <a:r>
              <a:rPr lang="en-US" altLang="zh-CN" sz="2800">
                <a:latin typeface="宋体" panose="02010600030101010101" pitchFamily="2" charset="-122"/>
                <a:ea typeface="宋体" panose="02010600030101010101" pitchFamily="2" charset="-122"/>
                <a:sym typeface="Symbol" panose="05050102010706020507" pitchFamily="18" charset="2"/>
              </a:rPr>
              <a:t> </a:t>
            </a:r>
            <a:r>
              <a:rPr lang="zh-CN" altLang="en-US" sz="2800"/>
              <a:t>将</a:t>
            </a:r>
            <a:r>
              <a:rPr lang="en-US" altLang="zh-CN" sz="2800"/>
              <a:t>a</a:t>
            </a:r>
            <a:r>
              <a:rPr lang="zh-CN" altLang="en-US" sz="2800"/>
              <a:t>的第</a:t>
            </a:r>
            <a:r>
              <a:rPr lang="en-US" altLang="zh-CN" sz="2800"/>
              <a:t>1</a:t>
            </a:r>
            <a:r>
              <a:rPr lang="zh-CN" altLang="en-US" sz="2800"/>
              <a:t>和第</a:t>
            </a:r>
            <a:r>
              <a:rPr lang="en-US" altLang="zh-CN" sz="2800"/>
              <a:t>6</a:t>
            </a:r>
            <a:r>
              <a:rPr lang="zh-CN" altLang="en-US" sz="2800"/>
              <a:t>位取反</a:t>
            </a:r>
            <a:endParaRPr lang="zh-CN" altLang="en-US" sz="2800"/>
          </a:p>
        </p:txBody>
      </p:sp>
    </p:spTree>
  </p:cSld>
  <p:clrMapOvr>
    <a:masterClrMapping/>
  </p:clrMapOvr>
  <p:transition spd="med">
    <p:pull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54" name="Rectangle 2"/>
          <p:cNvSpPr>
            <a:spLocks noGrp="1" noChangeArrowheads="1"/>
          </p:cNvSpPr>
          <p:nvPr>
            <p:ph type="title"/>
          </p:nvPr>
        </p:nvSpPr>
        <p:spPr/>
        <p:txBody>
          <a:bodyPr/>
          <a:lstStyle/>
          <a:p>
            <a:pPr eaLnBrk="1" hangingPunct="1">
              <a:defRPr/>
            </a:pPr>
            <a:r>
              <a:rPr lang="zh-CN" altLang="en-US" sz="4800" dirty="0"/>
              <a:t>一位全加器</a:t>
            </a:r>
            <a:r>
              <a:rPr lang="en-US" altLang="zh-CN" sz="4800" dirty="0"/>
              <a:t>FA</a:t>
            </a:r>
            <a:endParaRPr lang="en-US" altLang="zh-CN" sz="4800" dirty="0"/>
          </a:p>
        </p:txBody>
      </p:sp>
      <p:sp>
        <p:nvSpPr>
          <p:cNvPr id="73730" name="Rectangle 3"/>
          <p:cNvSpPr>
            <a:spLocks noGrp="1" noChangeArrowheads="1"/>
          </p:cNvSpPr>
          <p:nvPr>
            <p:ph idx="1"/>
          </p:nvPr>
        </p:nvSpPr>
        <p:spPr>
          <a:xfrm>
            <a:off x="179388" y="1076325"/>
            <a:ext cx="8763000" cy="5400675"/>
          </a:xfrm>
        </p:spPr>
        <p:txBody>
          <a:bodyPr/>
          <a:lstStyle/>
          <a:p>
            <a:pPr eaLnBrk="1" hangingPunct="1"/>
            <a:r>
              <a:rPr lang="zh-CN" altLang="en-US" sz="3600" dirty="0"/>
              <a:t>逻辑表达式</a:t>
            </a:r>
            <a:endParaRPr lang="zh-CN" altLang="en-US" sz="3600" dirty="0"/>
          </a:p>
          <a:p>
            <a:pPr lvl="1" eaLnBrk="1" hangingPunct="1">
              <a:buFont typeface="Wingdings" panose="05000000000000000000" pitchFamily="2" charset="2"/>
              <a:buNone/>
            </a:pPr>
            <a:r>
              <a:rPr lang="en-US" altLang="zh-CN" sz="3200" dirty="0"/>
              <a:t>F</a:t>
            </a:r>
            <a:r>
              <a:rPr lang="en-US" altLang="zh-CN" sz="3200" baseline="-25000" dirty="0"/>
              <a:t>i</a:t>
            </a:r>
            <a:r>
              <a:rPr lang="zh-CN" altLang="en-US" sz="3200" dirty="0"/>
              <a:t>＝</a:t>
            </a:r>
            <a:r>
              <a:rPr lang="en-US" altLang="zh-CN" sz="3200" dirty="0" err="1"/>
              <a:t>A</a:t>
            </a:r>
            <a:r>
              <a:rPr lang="en-US" altLang="zh-CN" sz="3200" baseline="-25000" dirty="0" err="1"/>
              <a:t>i</a:t>
            </a:r>
            <a:r>
              <a:rPr lang="en-US" altLang="zh-CN" sz="3200" dirty="0" err="1"/>
              <a:t>⊕B</a:t>
            </a:r>
            <a:r>
              <a:rPr lang="en-US" altLang="zh-CN" sz="3200" baseline="-25000" dirty="0" err="1"/>
              <a:t>i</a:t>
            </a:r>
            <a:r>
              <a:rPr lang="en-US" altLang="zh-CN" sz="3200" dirty="0" err="1"/>
              <a:t>⊕C</a:t>
            </a:r>
            <a:r>
              <a:rPr lang="en-US" altLang="zh-CN" sz="3200" baseline="-25000" dirty="0" err="1"/>
              <a:t>i</a:t>
            </a:r>
            <a:endParaRPr lang="en-US" altLang="zh-CN" sz="3200" baseline="-25000" dirty="0"/>
          </a:p>
          <a:p>
            <a:pPr lvl="1" eaLnBrk="1" hangingPunct="1">
              <a:buFont typeface="Wingdings" panose="05000000000000000000" pitchFamily="2" charset="2"/>
              <a:buNone/>
            </a:pPr>
            <a:r>
              <a:rPr lang="en-US" altLang="zh-CN" sz="3200" dirty="0"/>
              <a:t>C</a:t>
            </a:r>
            <a:r>
              <a:rPr lang="en-US" altLang="zh-CN" sz="3200" baseline="-25000" dirty="0"/>
              <a:t>i+1</a:t>
            </a:r>
            <a:r>
              <a:rPr lang="en-US" altLang="zh-CN" sz="3200" dirty="0"/>
              <a:t>=</a:t>
            </a:r>
            <a:r>
              <a:rPr lang="en-US" altLang="zh-CN" sz="3200" dirty="0" err="1"/>
              <a:t>A</a:t>
            </a:r>
            <a:r>
              <a:rPr lang="en-US" altLang="zh-CN" sz="3200" baseline="-25000" dirty="0" err="1"/>
              <a:t>i</a:t>
            </a:r>
            <a:r>
              <a:rPr lang="en-US" altLang="zh-CN" sz="3200" dirty="0" err="1"/>
              <a:t>B</a:t>
            </a:r>
            <a:r>
              <a:rPr lang="en-US" altLang="zh-CN" sz="3200" baseline="-25000" dirty="0" err="1"/>
              <a:t>i</a:t>
            </a:r>
            <a:r>
              <a:rPr lang="en-US" altLang="zh-CN" sz="3200" dirty="0" err="1"/>
              <a:t>+B</a:t>
            </a:r>
            <a:r>
              <a:rPr lang="en-US" altLang="zh-CN" sz="3200" baseline="-25000" dirty="0" err="1"/>
              <a:t>i</a:t>
            </a:r>
            <a:r>
              <a:rPr lang="en-US" altLang="zh-CN" sz="3200" dirty="0" err="1"/>
              <a:t>C</a:t>
            </a:r>
            <a:r>
              <a:rPr lang="en-US" altLang="zh-CN" sz="3200" baseline="-25000" dirty="0" err="1"/>
              <a:t>i</a:t>
            </a:r>
            <a:r>
              <a:rPr lang="en-US" altLang="zh-CN" sz="3200" dirty="0" err="1"/>
              <a:t>+C</a:t>
            </a:r>
            <a:r>
              <a:rPr lang="en-US" altLang="zh-CN" sz="3200" baseline="-25000" dirty="0" err="1"/>
              <a:t>i</a:t>
            </a:r>
            <a:r>
              <a:rPr lang="en-US" altLang="zh-CN" sz="3200" dirty="0" err="1"/>
              <a:t>A</a:t>
            </a:r>
            <a:r>
              <a:rPr lang="en-US" altLang="zh-CN" sz="3200" baseline="-25000" dirty="0" err="1"/>
              <a:t>i</a:t>
            </a:r>
            <a:endParaRPr lang="en-US" altLang="zh-CN" sz="3200" baseline="-25000" dirty="0"/>
          </a:p>
          <a:p>
            <a:pPr lvl="1" eaLnBrk="1" hangingPunct="1">
              <a:buFont typeface="Wingdings" panose="05000000000000000000" pitchFamily="2" charset="2"/>
              <a:buNone/>
            </a:pPr>
            <a:endParaRPr lang="en-US" altLang="zh-CN" sz="3200" baseline="-25000" dirty="0"/>
          </a:p>
          <a:p>
            <a:pPr eaLnBrk="1" hangingPunct="1"/>
            <a:r>
              <a:rPr lang="zh-CN" altLang="en-US" sz="3600" dirty="0">
                <a:latin typeface="楷体_GB2312" pitchFamily="49" charset="-122"/>
              </a:rPr>
              <a:t>一种解决方法</a:t>
            </a:r>
            <a:endParaRPr lang="zh-CN" altLang="en-US" sz="3600" dirty="0">
              <a:latin typeface="楷体_GB2312" pitchFamily="49" charset="-122"/>
            </a:endParaRPr>
          </a:p>
          <a:p>
            <a:pPr eaLnBrk="1" hangingPunct="1">
              <a:buFont typeface="Wingdings 2" charset="2"/>
              <a:buNone/>
            </a:pPr>
            <a:r>
              <a:rPr lang="zh-CN" altLang="en-US" sz="2800" dirty="0">
                <a:latin typeface="楷体_GB2312" pitchFamily="49" charset="-122"/>
              </a:rPr>
              <a:t>  为了实现多种算术逻辑运算，可将</a:t>
            </a:r>
            <a:r>
              <a:rPr lang="en-US" altLang="zh-CN" sz="2800" dirty="0">
                <a:latin typeface="楷体_GB2312" pitchFamily="49" charset="-122"/>
              </a:rPr>
              <a:t>A</a:t>
            </a:r>
            <a:r>
              <a:rPr lang="en-US" altLang="zh-CN" sz="2800" baseline="-25000" dirty="0">
                <a:latin typeface="楷体_GB2312" pitchFamily="49" charset="-122"/>
              </a:rPr>
              <a:t>i</a:t>
            </a:r>
            <a:r>
              <a:rPr lang="zh-CN" altLang="en-US" sz="2800" dirty="0">
                <a:latin typeface="楷体_GB2312" pitchFamily="49" charset="-122"/>
              </a:rPr>
              <a:t>和</a:t>
            </a:r>
            <a:r>
              <a:rPr lang="en-US" altLang="zh-CN" sz="2800" dirty="0">
                <a:latin typeface="楷体_GB2312" pitchFamily="49" charset="-122"/>
              </a:rPr>
              <a:t>B</a:t>
            </a:r>
            <a:r>
              <a:rPr lang="en-US" altLang="zh-CN" sz="2800" baseline="-25000" dirty="0">
                <a:latin typeface="楷体_GB2312" pitchFamily="49" charset="-122"/>
              </a:rPr>
              <a:t>i</a:t>
            </a:r>
            <a:r>
              <a:rPr lang="zh-CN" altLang="en-US" sz="2800" dirty="0">
                <a:latin typeface="楷体_GB2312" pitchFamily="49" charset="-122"/>
              </a:rPr>
              <a:t>输入一个函数发生器得到输出</a:t>
            </a:r>
            <a:r>
              <a:rPr lang="en-US" altLang="zh-CN" sz="2800" dirty="0">
                <a:latin typeface="楷体_GB2312" pitchFamily="49" charset="-122"/>
              </a:rPr>
              <a:t>X</a:t>
            </a:r>
            <a:r>
              <a:rPr lang="en-US" altLang="zh-CN" sz="2800" baseline="-25000" dirty="0">
                <a:latin typeface="楷体_GB2312" pitchFamily="49" charset="-122"/>
              </a:rPr>
              <a:t>i</a:t>
            </a:r>
            <a:r>
              <a:rPr lang="zh-CN" altLang="en-US" sz="2800" dirty="0">
                <a:latin typeface="楷体_GB2312" pitchFamily="49" charset="-122"/>
              </a:rPr>
              <a:t>和</a:t>
            </a:r>
            <a:r>
              <a:rPr lang="en-US" altLang="zh-CN" sz="2800" dirty="0">
                <a:latin typeface="楷体_GB2312" pitchFamily="49" charset="-122"/>
              </a:rPr>
              <a:t>Y</a:t>
            </a:r>
            <a:r>
              <a:rPr lang="en-US" altLang="zh-CN" sz="2800" baseline="-25000" dirty="0">
                <a:latin typeface="楷体_GB2312" pitchFamily="49" charset="-122"/>
              </a:rPr>
              <a:t>i</a:t>
            </a:r>
            <a:r>
              <a:rPr lang="zh-CN" altLang="en-US" sz="2800" dirty="0">
                <a:latin typeface="楷体_GB2312" pitchFamily="49" charset="-122"/>
              </a:rPr>
              <a:t>，再作为一位全加器的输入</a:t>
            </a:r>
            <a:endParaRPr lang="zh-CN" altLang="en-US" sz="2800" dirty="0">
              <a:latin typeface="楷体_GB2312" pitchFamily="49" charset="-122"/>
            </a:endParaRPr>
          </a:p>
        </p:txBody>
      </p:sp>
      <p:sp>
        <p:nvSpPr>
          <p:cNvPr id="73732" name="Text Box 7"/>
          <p:cNvSpPr txBox="1">
            <a:spLocks noChangeArrowheads="1"/>
          </p:cNvSpPr>
          <p:nvPr/>
        </p:nvSpPr>
        <p:spPr bwMode="auto">
          <a:xfrm>
            <a:off x="5181600" y="1905000"/>
            <a:ext cx="3417887" cy="523875"/>
          </a:xfrm>
          <a:prstGeom prst="rect">
            <a:avLst/>
          </a:prstGeom>
          <a:noFill/>
          <a:ln w="25400" algn="ctr">
            <a:solidFill>
              <a:srgbClr val="00F7F7"/>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800" dirty="0">
                <a:solidFill>
                  <a:srgbClr val="C00000"/>
                </a:solidFill>
                <a:latin typeface="楷体" panose="02010609060101010101" pitchFamily="49" charset="-122"/>
                <a:ea typeface="楷体" panose="02010609060101010101" pitchFamily="49" charset="-122"/>
              </a:rPr>
              <a:t>只能完成加、减运算</a:t>
            </a:r>
            <a:endParaRPr lang="zh-CN" altLang="en-US" sz="2800" dirty="0">
              <a:solidFill>
                <a:srgbClr val="C00000"/>
              </a:solidFill>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9" name="Rectangle 3"/>
          <p:cNvSpPr>
            <a:spLocks noGrp="1" noChangeArrowheads="1"/>
          </p:cNvSpPr>
          <p:nvPr>
            <p:ph type="title"/>
          </p:nvPr>
        </p:nvSpPr>
        <p:spPr/>
        <p:txBody>
          <a:bodyPr/>
          <a:lstStyle/>
          <a:p>
            <a:pPr eaLnBrk="1" hangingPunct="1"/>
            <a:r>
              <a:rPr lang="zh-CN" altLang="en-US"/>
              <a:t>算术</a:t>
            </a:r>
            <a:r>
              <a:rPr lang="en-US" altLang="zh-CN"/>
              <a:t>/</a:t>
            </a:r>
            <a:r>
              <a:rPr lang="zh-CN" altLang="en-US"/>
              <a:t>逻辑运算单元</a:t>
            </a:r>
            <a:r>
              <a:rPr lang="en-US" altLang="zh-CN"/>
              <a:t>ALU</a:t>
            </a:r>
            <a:r>
              <a:rPr lang="zh-CN" altLang="en-US"/>
              <a:t>（</a:t>
            </a:r>
            <a:r>
              <a:rPr lang="en-US" altLang="zh-CN"/>
              <a:t>1</a:t>
            </a:r>
            <a:r>
              <a:rPr lang="zh-CN" altLang="en-US"/>
              <a:t>）</a:t>
            </a:r>
            <a:endParaRPr lang="zh-CN" altLang="en-US"/>
          </a:p>
        </p:txBody>
      </p:sp>
      <p:sp>
        <p:nvSpPr>
          <p:cNvPr id="74754" name="Rectangle 4"/>
          <p:cNvSpPr>
            <a:spLocks noGrp="1" noChangeArrowheads="1"/>
          </p:cNvSpPr>
          <p:nvPr>
            <p:ph idx="1"/>
          </p:nvPr>
        </p:nvSpPr>
        <p:spPr>
          <a:xfrm>
            <a:off x="179388" y="1152525"/>
            <a:ext cx="4633912" cy="5400675"/>
          </a:xfrm>
        </p:spPr>
        <p:txBody>
          <a:bodyPr/>
          <a:lstStyle/>
          <a:p>
            <a:pPr eaLnBrk="1" hangingPunct="1">
              <a:buFont typeface="Wingdings 2" charset="2"/>
              <a:buNone/>
            </a:pPr>
            <a:r>
              <a:rPr lang="zh-CN" altLang="en-US" dirty="0"/>
              <a:t>基本思想</a:t>
            </a:r>
            <a:endParaRPr lang="zh-CN" altLang="en-US" dirty="0"/>
          </a:p>
          <a:p>
            <a:pPr eaLnBrk="1" hangingPunct="1"/>
            <a:r>
              <a:rPr lang="zh-CN" altLang="en-US" dirty="0"/>
              <a:t>先将原全加器的输入</a:t>
            </a:r>
            <a:r>
              <a:rPr lang="en-US" altLang="zh-CN" dirty="0"/>
              <a:t>A</a:t>
            </a:r>
            <a:r>
              <a:rPr lang="en-US" altLang="zh-CN" baseline="-25000" dirty="0"/>
              <a:t>i</a:t>
            </a:r>
            <a:r>
              <a:rPr lang="zh-CN" altLang="en-US" dirty="0"/>
              <a:t>、</a:t>
            </a:r>
            <a:r>
              <a:rPr lang="en-US" altLang="zh-CN" dirty="0"/>
              <a:t>B</a:t>
            </a:r>
            <a:r>
              <a:rPr lang="en-US" altLang="zh-CN" baseline="-25000" dirty="0"/>
              <a:t>i</a:t>
            </a:r>
            <a:r>
              <a:rPr lang="zh-CN" altLang="en-US" dirty="0"/>
              <a:t>送至函数发生器进行处理</a:t>
            </a:r>
            <a:endParaRPr lang="zh-CN" altLang="en-US" dirty="0"/>
          </a:p>
          <a:p>
            <a:pPr eaLnBrk="1" hangingPunct="1"/>
            <a:r>
              <a:rPr lang="en-US" altLang="zh-CN" dirty="0"/>
              <a:t>S</a:t>
            </a:r>
            <a:r>
              <a:rPr lang="en-US" altLang="zh-CN" baseline="-25000" dirty="0"/>
              <a:t>0</a:t>
            </a:r>
            <a:r>
              <a:rPr lang="zh-CN" altLang="en-US" dirty="0"/>
              <a:t>、</a:t>
            </a:r>
            <a:r>
              <a:rPr lang="en-US" altLang="zh-CN" dirty="0"/>
              <a:t>S</a:t>
            </a:r>
            <a:r>
              <a:rPr lang="en-US" altLang="zh-CN" baseline="-25000" dirty="0"/>
              <a:t>1</a:t>
            </a:r>
            <a:r>
              <a:rPr lang="zh-CN" altLang="en-US" dirty="0"/>
              <a:t>、</a:t>
            </a:r>
            <a:r>
              <a:rPr lang="en-US" altLang="zh-CN" dirty="0"/>
              <a:t>S</a:t>
            </a:r>
            <a:r>
              <a:rPr lang="en-US" altLang="zh-CN" baseline="-25000" dirty="0"/>
              <a:t>2</a:t>
            </a:r>
            <a:r>
              <a:rPr lang="zh-CN" altLang="en-US" dirty="0"/>
              <a:t>、</a:t>
            </a:r>
            <a:r>
              <a:rPr lang="en-US" altLang="zh-CN" dirty="0"/>
              <a:t>S</a:t>
            </a:r>
            <a:r>
              <a:rPr lang="en-US" altLang="zh-CN" baseline="-25000" dirty="0"/>
              <a:t>3</a:t>
            </a:r>
            <a:r>
              <a:rPr lang="zh-CN" altLang="en-US" dirty="0"/>
              <a:t>为函数发生器的控制信号</a:t>
            </a:r>
            <a:endParaRPr lang="zh-CN" altLang="en-US" dirty="0"/>
          </a:p>
          <a:p>
            <a:pPr eaLnBrk="1" hangingPunct="1"/>
            <a:r>
              <a:rPr lang="zh-CN" altLang="en-US" dirty="0"/>
              <a:t>函数发生器的输出</a:t>
            </a:r>
            <a:r>
              <a:rPr lang="en-US" altLang="zh-CN" dirty="0"/>
              <a:t>X</a:t>
            </a:r>
            <a:r>
              <a:rPr lang="en-US" altLang="zh-CN" baseline="-25000" dirty="0"/>
              <a:t>i</a:t>
            </a:r>
            <a:r>
              <a:rPr lang="zh-CN" altLang="en-US" dirty="0"/>
              <a:t>、</a:t>
            </a:r>
            <a:r>
              <a:rPr lang="en-US" altLang="zh-CN" dirty="0"/>
              <a:t>Y</a:t>
            </a:r>
            <a:r>
              <a:rPr lang="en-US" altLang="zh-CN" baseline="-25000" dirty="0"/>
              <a:t>i</a:t>
            </a:r>
            <a:r>
              <a:rPr lang="zh-CN" altLang="en-US" dirty="0"/>
              <a:t>至全加器进行全加</a:t>
            </a:r>
            <a:endParaRPr lang="zh-CN" altLang="en-US" dirty="0"/>
          </a:p>
          <a:p>
            <a:pPr eaLnBrk="1" hangingPunct="1"/>
            <a:r>
              <a:rPr lang="zh-CN" altLang="en-US" dirty="0"/>
              <a:t>由</a:t>
            </a:r>
            <a:r>
              <a:rPr lang="en-US" altLang="zh-CN" dirty="0"/>
              <a:t>S</a:t>
            </a:r>
            <a:r>
              <a:rPr lang="en-US" altLang="zh-CN" baseline="-25000" dirty="0"/>
              <a:t>0</a:t>
            </a:r>
            <a:r>
              <a:rPr lang="zh-CN" altLang="en-US" dirty="0"/>
              <a:t>、</a:t>
            </a:r>
            <a:r>
              <a:rPr lang="en-US" altLang="zh-CN" dirty="0"/>
              <a:t>S</a:t>
            </a:r>
            <a:r>
              <a:rPr lang="en-US" altLang="zh-CN" baseline="-25000" dirty="0"/>
              <a:t>1</a:t>
            </a:r>
            <a:r>
              <a:rPr lang="zh-CN" altLang="en-US" dirty="0"/>
              <a:t>、</a:t>
            </a:r>
            <a:r>
              <a:rPr lang="en-US" altLang="zh-CN" dirty="0"/>
              <a:t>S</a:t>
            </a:r>
            <a:r>
              <a:rPr lang="en-US" altLang="zh-CN" baseline="-25000" dirty="0"/>
              <a:t>2</a:t>
            </a:r>
            <a:r>
              <a:rPr lang="zh-CN" altLang="en-US" dirty="0"/>
              <a:t>、</a:t>
            </a:r>
            <a:r>
              <a:rPr lang="en-US" altLang="zh-CN" dirty="0"/>
              <a:t>S</a:t>
            </a:r>
            <a:r>
              <a:rPr lang="en-US" altLang="zh-CN" baseline="-25000" dirty="0"/>
              <a:t>3</a:t>
            </a:r>
            <a:r>
              <a:rPr lang="zh-CN" altLang="en-US" dirty="0"/>
              <a:t>来控制</a:t>
            </a:r>
            <a:r>
              <a:rPr lang="en-US" altLang="zh-CN" dirty="0"/>
              <a:t>ALU</a:t>
            </a:r>
            <a:r>
              <a:rPr lang="zh-CN" altLang="en-US" dirty="0"/>
              <a:t>所完成的运算</a:t>
            </a:r>
            <a:endParaRPr lang="zh-CN" altLang="en-US" dirty="0"/>
          </a:p>
        </p:txBody>
      </p:sp>
      <p:sp>
        <p:nvSpPr>
          <p:cNvPr id="74756" name="Rectangle 2"/>
          <p:cNvSpPr>
            <a:spLocks noChangeArrowheads="1"/>
          </p:cNvSpPr>
          <p:nvPr/>
        </p:nvSpPr>
        <p:spPr bwMode="auto">
          <a:xfrm>
            <a:off x="4718050" y="1141412"/>
            <a:ext cx="4462463" cy="5106988"/>
          </a:xfrm>
          <a:prstGeom prst="rect">
            <a:avLst/>
          </a:prstGeom>
          <a:noFill/>
          <a:ln w="15875" algn="ctr">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pic>
        <p:nvPicPr>
          <p:cNvPr id="74757" name="Picture 5" descr="2"/>
          <p:cNvPicPr>
            <a:picLocks noChangeAspect="1" noChangeArrowheads="1"/>
          </p:cNvPicPr>
          <p:nvPr/>
        </p:nvPicPr>
        <p:blipFill>
          <a:blip r:embed="rId1">
            <a:extLst>
              <a:ext uri="{28A0092B-C50C-407E-A947-70E740481C1C}">
                <a14:useLocalDpi xmlns:a14="http://schemas.microsoft.com/office/drawing/2010/main" val="0"/>
              </a:ext>
            </a:extLst>
          </a:blip>
          <a:srcRect b="6450"/>
          <a:stretch>
            <a:fillRect/>
          </a:stretch>
        </p:blipFill>
        <p:spPr bwMode="auto">
          <a:xfrm>
            <a:off x="4572000" y="1493838"/>
            <a:ext cx="4606925"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7400" y="4114800"/>
            <a:ext cx="4769601"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5778" name="Rectangle 3"/>
          <p:cNvSpPr>
            <a:spLocks noGrp="1" noChangeArrowheads="1"/>
          </p:cNvSpPr>
          <p:nvPr>
            <p:ph idx="1"/>
          </p:nvPr>
        </p:nvSpPr>
        <p:spPr/>
        <p:txBody>
          <a:bodyPr/>
          <a:lstStyle/>
          <a:p>
            <a:pPr marL="276225" indent="-457200" eaLnBrk="1" hangingPunct="1"/>
            <a:r>
              <a:rPr lang="en-US" altLang="zh-CN" dirty="0"/>
              <a:t>F</a:t>
            </a:r>
            <a:r>
              <a:rPr lang="en-US" altLang="zh-CN" baseline="-25000" dirty="0"/>
              <a:t>i</a:t>
            </a:r>
            <a:r>
              <a:rPr lang="zh-CN" altLang="en-US" dirty="0"/>
              <a:t>＝</a:t>
            </a:r>
            <a:r>
              <a:rPr lang="en-US" altLang="zh-CN" dirty="0" err="1"/>
              <a:t>X</a:t>
            </a:r>
            <a:r>
              <a:rPr lang="en-US" altLang="zh-CN" baseline="-25000" dirty="0" err="1"/>
              <a:t>i</a:t>
            </a:r>
            <a:r>
              <a:rPr lang="en-US" altLang="zh-CN" dirty="0" err="1"/>
              <a:t>⊕Y</a:t>
            </a:r>
            <a:r>
              <a:rPr lang="en-US" altLang="zh-CN" baseline="-25000" dirty="0" err="1"/>
              <a:t>i</a:t>
            </a:r>
            <a:r>
              <a:rPr lang="en-US" altLang="zh-CN" dirty="0" err="1"/>
              <a:t>⊕C</a:t>
            </a:r>
            <a:r>
              <a:rPr lang="en-US" altLang="zh-CN" baseline="-25000" dirty="0" err="1"/>
              <a:t>n+i</a:t>
            </a:r>
            <a:endParaRPr lang="en-US" altLang="zh-CN" baseline="-25000" dirty="0"/>
          </a:p>
          <a:p>
            <a:pPr marL="528955" lvl="1" eaLnBrk="1" hangingPunct="1">
              <a:buFont typeface="Wingdings" panose="05000000000000000000" pitchFamily="2" charset="2"/>
              <a:buNone/>
            </a:pPr>
            <a:r>
              <a:rPr lang="en-US" altLang="zh-CN" sz="3200" dirty="0"/>
              <a:t>  C</a:t>
            </a:r>
            <a:r>
              <a:rPr lang="en-US" altLang="zh-CN" sz="3200" baseline="-25000" dirty="0"/>
              <a:t>n+i+1</a:t>
            </a:r>
            <a:r>
              <a:rPr lang="en-US" altLang="zh-CN" sz="3200" dirty="0"/>
              <a:t>=</a:t>
            </a:r>
            <a:r>
              <a:rPr lang="en-US" altLang="zh-CN" sz="3200" dirty="0" err="1"/>
              <a:t>X</a:t>
            </a:r>
            <a:r>
              <a:rPr lang="en-US" altLang="zh-CN" sz="3200" baseline="-25000" dirty="0" err="1"/>
              <a:t>i</a:t>
            </a:r>
            <a:r>
              <a:rPr lang="en-US" altLang="zh-CN" sz="3200" dirty="0" err="1"/>
              <a:t>Y</a:t>
            </a:r>
            <a:r>
              <a:rPr lang="en-US" altLang="zh-CN" sz="3200" baseline="-25000" dirty="0" err="1"/>
              <a:t>i</a:t>
            </a:r>
            <a:r>
              <a:rPr lang="en-US" altLang="zh-CN" sz="3200" dirty="0" err="1"/>
              <a:t>+Y</a:t>
            </a:r>
            <a:r>
              <a:rPr lang="en-US" altLang="zh-CN" sz="3200" baseline="-25000" dirty="0" err="1"/>
              <a:t>i</a:t>
            </a:r>
            <a:r>
              <a:rPr lang="en-US" altLang="zh-CN" sz="3200" dirty="0" err="1"/>
              <a:t>C</a:t>
            </a:r>
            <a:r>
              <a:rPr lang="en-US" altLang="zh-CN" sz="3200" baseline="-25000" dirty="0" err="1"/>
              <a:t>n+i</a:t>
            </a:r>
            <a:r>
              <a:rPr lang="en-US" altLang="zh-CN" sz="3200" dirty="0" err="1"/>
              <a:t>+X</a:t>
            </a:r>
            <a:r>
              <a:rPr lang="en-US" altLang="zh-CN" sz="3200" baseline="-25000" dirty="0" err="1"/>
              <a:t>i</a:t>
            </a:r>
            <a:r>
              <a:rPr lang="en-US" altLang="zh-CN" sz="3200" dirty="0" err="1"/>
              <a:t>C</a:t>
            </a:r>
            <a:r>
              <a:rPr lang="en-US" altLang="zh-CN" sz="3200" baseline="-25000" dirty="0" err="1"/>
              <a:t>n+i</a:t>
            </a:r>
            <a:endParaRPr lang="en-US" altLang="zh-CN" sz="3200" baseline="-25000" dirty="0"/>
          </a:p>
          <a:p>
            <a:pPr marL="528955" lvl="1" eaLnBrk="1" hangingPunct="1">
              <a:buFont typeface="Wingdings" panose="05000000000000000000" pitchFamily="2" charset="2"/>
              <a:buNone/>
            </a:pPr>
            <a:endParaRPr lang="en-US" altLang="zh-CN" sz="3200" baseline="-25000" dirty="0"/>
          </a:p>
          <a:p>
            <a:pPr marL="528955" lvl="1" eaLnBrk="1" hangingPunct="1"/>
            <a:r>
              <a:rPr lang="zh-CN" altLang="en-US" dirty="0"/>
              <a:t>用</a:t>
            </a:r>
            <a:r>
              <a:rPr lang="en-US" altLang="zh-CN" dirty="0" err="1"/>
              <a:t>n+i</a:t>
            </a:r>
            <a:r>
              <a:rPr lang="zh-CN" altLang="en-US" dirty="0"/>
              <a:t>代替原来一位全加器</a:t>
            </a:r>
            <a:r>
              <a:rPr lang="en-US" altLang="zh-CN" dirty="0"/>
              <a:t>C</a:t>
            </a:r>
            <a:r>
              <a:rPr lang="en-US" altLang="zh-CN" baseline="-25000" dirty="0"/>
              <a:t>i</a:t>
            </a:r>
            <a:r>
              <a:rPr lang="zh-CN" altLang="en-US" dirty="0"/>
              <a:t>中的</a:t>
            </a:r>
            <a:r>
              <a:rPr lang="en-US" altLang="zh-CN" dirty="0" err="1"/>
              <a:t>i</a:t>
            </a:r>
            <a:r>
              <a:rPr lang="zh-CN" altLang="en-US" dirty="0"/>
              <a:t>，</a:t>
            </a:r>
            <a:r>
              <a:rPr lang="en-US" altLang="zh-CN" dirty="0" err="1"/>
              <a:t>i</a:t>
            </a:r>
            <a:r>
              <a:rPr lang="zh-CN" altLang="en-US" dirty="0"/>
              <a:t>表示在一片</a:t>
            </a:r>
            <a:r>
              <a:rPr lang="en-US" altLang="zh-CN" dirty="0"/>
              <a:t>ALU</a:t>
            </a:r>
            <a:r>
              <a:rPr lang="zh-CN" altLang="en-US" dirty="0"/>
              <a:t>芯片上二进制位数。对于一片</a:t>
            </a:r>
            <a:r>
              <a:rPr lang="en-US" altLang="zh-CN" dirty="0"/>
              <a:t>4</a:t>
            </a:r>
            <a:r>
              <a:rPr lang="zh-CN" altLang="en-US" dirty="0"/>
              <a:t>位</a:t>
            </a:r>
            <a:r>
              <a:rPr lang="en-US" altLang="zh-CN" dirty="0"/>
              <a:t>ALU</a:t>
            </a:r>
            <a:r>
              <a:rPr lang="zh-CN" altLang="en-US" dirty="0"/>
              <a:t>，</a:t>
            </a:r>
            <a:r>
              <a:rPr lang="en-US" altLang="zh-CN" dirty="0" err="1"/>
              <a:t>i</a:t>
            </a:r>
            <a:r>
              <a:rPr lang="zh-CN" altLang="en-US" dirty="0"/>
              <a:t>＝</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n</a:t>
            </a:r>
            <a:r>
              <a:rPr lang="zh-CN" altLang="en-US" dirty="0"/>
              <a:t>表示用多片</a:t>
            </a:r>
            <a:r>
              <a:rPr lang="en-US" altLang="zh-CN" dirty="0"/>
              <a:t>ALU</a:t>
            </a:r>
            <a:r>
              <a:rPr lang="zh-CN" altLang="en-US" dirty="0"/>
              <a:t>组成更多位数运算器时每片电路的进位输入。如果用</a:t>
            </a:r>
            <a:r>
              <a:rPr lang="en-US" altLang="zh-CN" dirty="0"/>
              <a:t>4</a:t>
            </a:r>
            <a:r>
              <a:rPr lang="zh-CN" altLang="en-US" dirty="0"/>
              <a:t>片</a:t>
            </a:r>
            <a:r>
              <a:rPr lang="en-US" altLang="zh-CN" dirty="0"/>
              <a:t>4</a:t>
            </a:r>
            <a:r>
              <a:rPr lang="zh-CN" altLang="en-US" dirty="0"/>
              <a:t>位</a:t>
            </a:r>
            <a:r>
              <a:rPr lang="en-US" altLang="zh-CN" dirty="0"/>
              <a:t>ALU</a:t>
            </a:r>
            <a:r>
              <a:rPr lang="zh-CN" altLang="en-US" dirty="0"/>
              <a:t>组成一个</a:t>
            </a:r>
            <a:r>
              <a:rPr lang="en-US" altLang="zh-CN" dirty="0"/>
              <a:t>16</a:t>
            </a:r>
            <a:r>
              <a:rPr lang="zh-CN" altLang="en-US" dirty="0"/>
              <a:t>位运算器，</a:t>
            </a:r>
            <a:r>
              <a:rPr lang="en-US" altLang="zh-CN" dirty="0"/>
              <a:t>n</a:t>
            </a:r>
            <a:r>
              <a:rPr lang="zh-CN" altLang="en-US" dirty="0"/>
              <a:t>＝</a:t>
            </a:r>
            <a:r>
              <a:rPr lang="en-US" altLang="zh-CN" dirty="0"/>
              <a:t>0</a:t>
            </a:r>
            <a:r>
              <a:rPr lang="zh-CN" altLang="en-US" dirty="0"/>
              <a:t>、</a:t>
            </a:r>
            <a:r>
              <a:rPr lang="en-US" altLang="zh-CN" dirty="0"/>
              <a:t>4</a:t>
            </a:r>
            <a:r>
              <a:rPr lang="zh-CN" altLang="en-US" dirty="0"/>
              <a:t>、</a:t>
            </a:r>
            <a:r>
              <a:rPr lang="en-US" altLang="zh-CN" dirty="0"/>
              <a:t>8</a:t>
            </a:r>
            <a:r>
              <a:rPr lang="zh-CN" altLang="en-US" dirty="0"/>
              <a:t>、</a:t>
            </a:r>
            <a:r>
              <a:rPr lang="en-US" altLang="zh-CN" dirty="0"/>
              <a:t>12</a:t>
            </a:r>
            <a:endParaRPr lang="en-US" altLang="zh-CN" dirty="0"/>
          </a:p>
        </p:txBody>
      </p:sp>
      <p:sp>
        <p:nvSpPr>
          <p:cNvPr id="844802" name="Rectangle 2"/>
          <p:cNvSpPr>
            <a:spLocks noGrp="1" noChangeArrowheads="1"/>
          </p:cNvSpPr>
          <p:nvPr>
            <p:ph type="title"/>
          </p:nvPr>
        </p:nvSpPr>
        <p:spPr/>
        <p:txBody>
          <a:bodyPr/>
          <a:lstStyle/>
          <a:p>
            <a:pPr eaLnBrk="1" hangingPunct="1"/>
            <a:r>
              <a:rPr lang="zh-CN" altLang="en-US"/>
              <a:t>算术</a:t>
            </a:r>
            <a:r>
              <a:rPr lang="en-US" altLang="zh-CN"/>
              <a:t>/</a:t>
            </a:r>
            <a:r>
              <a:rPr lang="zh-CN" altLang="en-US"/>
              <a:t>逻辑运算单元</a:t>
            </a:r>
            <a:r>
              <a:rPr lang="en-US" altLang="zh-CN"/>
              <a:t>ALU</a:t>
            </a:r>
            <a:r>
              <a:rPr lang="zh-CN" altLang="en-US"/>
              <a:t>（</a:t>
            </a:r>
            <a:r>
              <a:rPr lang="en-US" altLang="zh-CN"/>
              <a:t>2</a:t>
            </a:r>
            <a:r>
              <a:rPr lang="zh-CN" altLang="en-US"/>
              <a:t>）</a:t>
            </a:r>
            <a:endParaRPr lang="zh-CN" altLang="en-US"/>
          </a:p>
        </p:txBody>
      </p:sp>
    </p:spTree>
  </p:cSld>
  <p:clrMapOvr>
    <a:masterClrMapping/>
  </p:clrMapOvr>
  <p:transition spd="med">
    <p:pull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2"/>
          <p:cNvSpPr>
            <a:spLocks noGrp="1" noChangeArrowheads="1"/>
          </p:cNvSpPr>
          <p:nvPr>
            <p:ph type="title"/>
          </p:nvPr>
        </p:nvSpPr>
        <p:spPr>
          <a:xfrm>
            <a:off x="23812" y="252413"/>
            <a:ext cx="9109075" cy="762000"/>
          </a:xfrm>
        </p:spPr>
        <p:txBody>
          <a:bodyPr/>
          <a:lstStyle/>
          <a:p>
            <a:pPr eaLnBrk="1" hangingPunct="1"/>
            <a:r>
              <a:rPr lang="zh-CN" altLang="en-US" dirty="0"/>
              <a:t>算术</a:t>
            </a:r>
            <a:r>
              <a:rPr lang="en-US" altLang="zh-CN" dirty="0"/>
              <a:t>/</a:t>
            </a:r>
            <a:r>
              <a:rPr lang="zh-CN" altLang="en-US" dirty="0"/>
              <a:t>逻辑运算单元</a:t>
            </a:r>
            <a:r>
              <a:rPr lang="en-US" altLang="zh-CN" dirty="0"/>
              <a:t>ALU</a:t>
            </a:r>
            <a:r>
              <a:rPr lang="zh-CN" altLang="en-US" dirty="0"/>
              <a:t>逻辑表达式</a:t>
            </a:r>
            <a:endParaRPr lang="zh-CN" altLang="en-US" dirty="0"/>
          </a:p>
        </p:txBody>
      </p:sp>
      <p:sp>
        <p:nvSpPr>
          <p:cNvPr id="76802" name="Rectangle 3"/>
          <p:cNvSpPr>
            <a:spLocks noGrp="1" noChangeArrowheads="1"/>
          </p:cNvSpPr>
          <p:nvPr>
            <p:ph type="body" sz="half" idx="1"/>
          </p:nvPr>
        </p:nvSpPr>
        <p:spPr>
          <a:xfrm>
            <a:off x="196850" y="1143000"/>
            <a:ext cx="8763000" cy="5400675"/>
          </a:xfrm>
        </p:spPr>
        <p:txBody>
          <a:bodyPr/>
          <a:lstStyle/>
          <a:p>
            <a:pPr eaLnBrk="1" hangingPunct="1"/>
            <a:r>
              <a:rPr lang="en-US" altLang="zh-CN" sz="2800" dirty="0"/>
              <a:t>X</a:t>
            </a:r>
            <a:r>
              <a:rPr lang="en-US" altLang="zh-CN" sz="2800" baseline="-25000" dirty="0"/>
              <a:t>i</a:t>
            </a:r>
            <a:r>
              <a:rPr lang="zh-CN" altLang="en-US" sz="2800" dirty="0"/>
              <a:t>、</a:t>
            </a:r>
            <a:r>
              <a:rPr lang="en-US" altLang="zh-CN" sz="2800" dirty="0"/>
              <a:t>Y</a:t>
            </a:r>
            <a:r>
              <a:rPr lang="en-US" altLang="zh-CN" sz="2800" baseline="-25000" dirty="0"/>
              <a:t>i</a:t>
            </a:r>
            <a:r>
              <a:rPr lang="zh-CN" altLang="en-US" sz="2800" dirty="0"/>
              <a:t>与控制参数和输入量的关系</a:t>
            </a:r>
            <a:endParaRPr lang="zh-CN" altLang="en-US" sz="2800" dirty="0"/>
          </a:p>
          <a:p>
            <a:pPr eaLnBrk="1" hangingPunct="1"/>
            <a:endParaRPr lang="zh-CN" altLang="en-US" sz="2800" dirty="0"/>
          </a:p>
          <a:p>
            <a:pPr eaLnBrk="1" hangingPunct="1"/>
            <a:endParaRPr lang="zh-CN" altLang="en-US" sz="2800" dirty="0"/>
          </a:p>
          <a:p>
            <a:pPr eaLnBrk="1" hangingPunct="1"/>
            <a:endParaRPr lang="zh-CN" altLang="en-US" sz="2800" dirty="0"/>
          </a:p>
          <a:p>
            <a:pPr eaLnBrk="1" hangingPunct="1"/>
            <a:endParaRPr lang="zh-CN" altLang="en-US" sz="2800" dirty="0"/>
          </a:p>
          <a:p>
            <a:pPr eaLnBrk="1" hangingPunct="1"/>
            <a:endParaRPr lang="zh-CN" altLang="en-US" sz="2800" dirty="0"/>
          </a:p>
          <a:p>
            <a:pPr eaLnBrk="1" hangingPunct="1">
              <a:buFont typeface="Wingdings 2" charset="2"/>
              <a:buNone/>
            </a:pPr>
            <a:r>
              <a:rPr kumimoji="0" lang="en-US" altLang="zh-CN" sz="2400" dirty="0"/>
              <a:t>   X</a:t>
            </a:r>
            <a:r>
              <a:rPr kumimoji="0" lang="en-US" altLang="zh-CN" sz="2400" baseline="-25000" dirty="0"/>
              <a:t>i</a:t>
            </a:r>
            <a:r>
              <a:rPr kumimoji="0" lang="zh-CN" altLang="en-US" sz="2400" dirty="0"/>
              <a:t>＝</a:t>
            </a:r>
            <a:r>
              <a:rPr kumimoji="0" lang="en-US" altLang="zh-CN" sz="2400" dirty="0"/>
              <a:t>S</a:t>
            </a:r>
            <a:r>
              <a:rPr kumimoji="0" lang="en-US" altLang="zh-CN" sz="2400" baseline="-25000" dirty="0"/>
              <a:t>2</a:t>
            </a:r>
            <a:r>
              <a:rPr kumimoji="0" lang="en-US" altLang="zh-CN" sz="2400" dirty="0"/>
              <a:t>S</a:t>
            </a:r>
            <a:r>
              <a:rPr kumimoji="0" lang="en-US" altLang="zh-CN" sz="2400" baseline="-25000" dirty="0"/>
              <a:t>3</a:t>
            </a:r>
            <a:r>
              <a:rPr kumimoji="0" lang="zh-CN" altLang="en-US" sz="2400" dirty="0"/>
              <a:t>＋</a:t>
            </a:r>
            <a:r>
              <a:rPr kumimoji="0" lang="en-US" altLang="zh-CN" sz="2400" dirty="0"/>
              <a:t>S</a:t>
            </a:r>
            <a:r>
              <a:rPr kumimoji="0" lang="en-US" altLang="zh-CN" sz="2400" baseline="-25000" dirty="0"/>
              <a:t>2</a:t>
            </a:r>
            <a:r>
              <a:rPr kumimoji="0" lang="en-US" altLang="zh-CN" sz="2400" dirty="0"/>
              <a:t>S</a:t>
            </a:r>
            <a:r>
              <a:rPr kumimoji="0" lang="en-US" altLang="zh-CN" sz="2400" baseline="-25000" dirty="0"/>
              <a:t>3</a:t>
            </a:r>
            <a:r>
              <a:rPr kumimoji="0" lang="en-US" altLang="zh-CN" sz="2400" dirty="0"/>
              <a:t>(A</a:t>
            </a:r>
            <a:r>
              <a:rPr kumimoji="0" lang="en-US" altLang="zh-CN" sz="2400" baseline="-25000" dirty="0"/>
              <a:t>i</a:t>
            </a:r>
            <a:r>
              <a:rPr kumimoji="0" lang="zh-CN" altLang="en-US" sz="2400" dirty="0"/>
              <a:t>＋</a:t>
            </a:r>
            <a:r>
              <a:rPr kumimoji="0" lang="en-US" altLang="zh-CN" sz="2400" dirty="0"/>
              <a:t>B</a:t>
            </a:r>
            <a:r>
              <a:rPr kumimoji="0" lang="en-US" altLang="zh-CN" sz="2400" baseline="-25000" dirty="0"/>
              <a:t>i</a:t>
            </a:r>
            <a:r>
              <a:rPr kumimoji="0" lang="en-US" altLang="zh-CN" sz="2400" dirty="0"/>
              <a:t>)</a:t>
            </a:r>
            <a:r>
              <a:rPr kumimoji="0" lang="zh-CN" altLang="en-US" sz="2400" dirty="0"/>
              <a:t>＋</a:t>
            </a:r>
            <a:r>
              <a:rPr kumimoji="0" lang="en-US" altLang="zh-CN" sz="2400" dirty="0"/>
              <a:t>S</a:t>
            </a:r>
            <a:r>
              <a:rPr kumimoji="0" lang="en-US" altLang="zh-CN" sz="2400" baseline="-25000" dirty="0"/>
              <a:t>2</a:t>
            </a:r>
            <a:r>
              <a:rPr kumimoji="0" lang="en-US" altLang="zh-CN" sz="2400" dirty="0"/>
              <a:t>S</a:t>
            </a:r>
            <a:r>
              <a:rPr kumimoji="0" lang="en-US" altLang="zh-CN" sz="2400" baseline="-25000" dirty="0"/>
              <a:t>3</a:t>
            </a:r>
            <a:r>
              <a:rPr kumimoji="0" lang="en-US" altLang="zh-CN" sz="2400" dirty="0"/>
              <a:t>(A</a:t>
            </a:r>
            <a:r>
              <a:rPr kumimoji="0" lang="en-US" altLang="zh-CN" sz="2400" baseline="-25000" dirty="0"/>
              <a:t>i</a:t>
            </a:r>
            <a:r>
              <a:rPr kumimoji="0" lang="zh-CN" altLang="en-US" sz="2400" dirty="0"/>
              <a:t>＋</a:t>
            </a:r>
            <a:r>
              <a:rPr kumimoji="0" lang="en-US" altLang="zh-CN" sz="2400" dirty="0"/>
              <a:t>B</a:t>
            </a:r>
            <a:r>
              <a:rPr kumimoji="0" lang="en-US" altLang="zh-CN" sz="2400" baseline="-25000" dirty="0"/>
              <a:t>i</a:t>
            </a:r>
            <a:r>
              <a:rPr kumimoji="0" lang="en-US" altLang="zh-CN" sz="2400" dirty="0"/>
              <a:t>)</a:t>
            </a:r>
            <a:r>
              <a:rPr kumimoji="0" lang="zh-CN" altLang="en-US" sz="2400" dirty="0"/>
              <a:t>＋</a:t>
            </a:r>
            <a:r>
              <a:rPr kumimoji="0" lang="en-US" altLang="zh-CN" sz="2400" dirty="0"/>
              <a:t>S</a:t>
            </a:r>
            <a:r>
              <a:rPr kumimoji="0" lang="en-US" altLang="zh-CN" sz="2400" baseline="-25000" dirty="0"/>
              <a:t>2</a:t>
            </a:r>
            <a:r>
              <a:rPr kumimoji="0" lang="en-US" altLang="zh-CN" sz="2400" dirty="0"/>
              <a:t>S</a:t>
            </a:r>
            <a:r>
              <a:rPr kumimoji="0" lang="en-US" altLang="zh-CN" sz="2400" baseline="-25000" dirty="0"/>
              <a:t>3</a:t>
            </a:r>
            <a:r>
              <a:rPr kumimoji="0" lang="en-US" altLang="zh-CN" sz="2400" dirty="0"/>
              <a:t>A</a:t>
            </a:r>
            <a:r>
              <a:rPr kumimoji="0" lang="en-US" altLang="zh-CN" sz="2400" baseline="-25000" dirty="0"/>
              <a:t>i</a:t>
            </a:r>
            <a:endParaRPr kumimoji="0" lang="en-US" altLang="zh-CN" sz="2400" baseline="-25000" dirty="0"/>
          </a:p>
          <a:p>
            <a:pPr eaLnBrk="1" hangingPunct="1">
              <a:buFont typeface="Wingdings 2" charset="2"/>
              <a:buNone/>
            </a:pPr>
            <a:r>
              <a:rPr kumimoji="0" lang="en-US" altLang="zh-CN" sz="2400" dirty="0"/>
              <a:t>      </a:t>
            </a:r>
            <a:r>
              <a:rPr kumimoji="0" lang="zh-CN" altLang="en-US" sz="2400" dirty="0"/>
              <a:t>＝</a:t>
            </a:r>
            <a:r>
              <a:rPr kumimoji="0" lang="en-US" altLang="zh-CN" sz="2400" dirty="0"/>
              <a:t>S</a:t>
            </a:r>
            <a:r>
              <a:rPr kumimoji="0" lang="en-US" altLang="zh-CN" sz="2400" baseline="-25000" dirty="0"/>
              <a:t>3</a:t>
            </a:r>
            <a:r>
              <a:rPr kumimoji="0" lang="en-US" altLang="zh-CN" sz="2400" dirty="0"/>
              <a:t>A</a:t>
            </a:r>
            <a:r>
              <a:rPr kumimoji="0" lang="en-US" altLang="zh-CN" sz="2400" baseline="-25000" dirty="0"/>
              <a:t>i</a:t>
            </a:r>
            <a:r>
              <a:rPr kumimoji="0" lang="en-US" altLang="zh-CN" sz="2400" dirty="0"/>
              <a:t>B</a:t>
            </a:r>
            <a:r>
              <a:rPr kumimoji="0" lang="en-US" altLang="zh-CN" sz="2400" baseline="-25000" dirty="0"/>
              <a:t>i</a:t>
            </a:r>
            <a:r>
              <a:rPr kumimoji="0" lang="zh-CN" altLang="en-US" sz="2400" dirty="0"/>
              <a:t>＋</a:t>
            </a:r>
            <a:r>
              <a:rPr kumimoji="0" lang="en-US" altLang="zh-CN" sz="2400" dirty="0"/>
              <a:t>S</a:t>
            </a:r>
            <a:r>
              <a:rPr kumimoji="0" lang="en-US" altLang="zh-CN" sz="2400" baseline="-25000" dirty="0"/>
              <a:t>2</a:t>
            </a:r>
            <a:r>
              <a:rPr kumimoji="0" lang="en-US" altLang="zh-CN" sz="2400" dirty="0"/>
              <a:t>A</a:t>
            </a:r>
            <a:r>
              <a:rPr kumimoji="0" lang="en-US" altLang="zh-CN" sz="2400" baseline="-25000" dirty="0"/>
              <a:t>i</a:t>
            </a:r>
            <a:r>
              <a:rPr kumimoji="0" lang="en-US" altLang="zh-CN" sz="2400" dirty="0"/>
              <a:t>B</a:t>
            </a:r>
            <a:r>
              <a:rPr kumimoji="0" lang="en-US" altLang="zh-CN" sz="2400" baseline="-25000" dirty="0"/>
              <a:t>i</a:t>
            </a:r>
            <a:endParaRPr kumimoji="0" lang="en-US" altLang="zh-CN" sz="2400" baseline="-25000" dirty="0"/>
          </a:p>
          <a:p>
            <a:pPr eaLnBrk="1" hangingPunct="1">
              <a:buFont typeface="Wingdings 2" charset="2"/>
              <a:buNone/>
            </a:pPr>
            <a:r>
              <a:rPr kumimoji="0" lang="en-US" altLang="zh-CN" sz="2400" dirty="0"/>
              <a:t>   Y</a:t>
            </a:r>
            <a:r>
              <a:rPr kumimoji="0" lang="en-US" altLang="zh-CN" sz="2400" baseline="-25000" dirty="0"/>
              <a:t>i</a:t>
            </a:r>
            <a:r>
              <a:rPr kumimoji="0" lang="zh-CN" altLang="en-US" sz="2400" dirty="0"/>
              <a:t>＝</a:t>
            </a:r>
            <a:r>
              <a:rPr kumimoji="0" lang="en-US" altLang="zh-CN" sz="2400" dirty="0"/>
              <a:t>S</a:t>
            </a:r>
            <a:r>
              <a:rPr kumimoji="0" lang="en-US" altLang="zh-CN" sz="2400" baseline="-25000" dirty="0"/>
              <a:t>0</a:t>
            </a:r>
            <a:r>
              <a:rPr kumimoji="0" lang="en-US" altLang="zh-CN" sz="2400" dirty="0"/>
              <a:t>S</a:t>
            </a:r>
            <a:r>
              <a:rPr kumimoji="0" lang="en-US" altLang="zh-CN" sz="2400" baseline="-25000" dirty="0"/>
              <a:t>1</a:t>
            </a:r>
            <a:r>
              <a:rPr kumimoji="0" lang="en-US" altLang="zh-CN" sz="2400" dirty="0"/>
              <a:t>A</a:t>
            </a:r>
            <a:r>
              <a:rPr kumimoji="0" lang="en-US" altLang="zh-CN" sz="2400" baseline="-25000" dirty="0"/>
              <a:t>i</a:t>
            </a:r>
            <a:r>
              <a:rPr kumimoji="0" lang="zh-CN" altLang="en-US" sz="2400" dirty="0"/>
              <a:t>＋</a:t>
            </a:r>
            <a:r>
              <a:rPr kumimoji="0" lang="en-US" altLang="zh-CN" sz="2400" dirty="0"/>
              <a:t>S</a:t>
            </a:r>
            <a:r>
              <a:rPr kumimoji="0" lang="en-US" altLang="zh-CN" sz="2400" baseline="-25000" dirty="0"/>
              <a:t>0</a:t>
            </a:r>
            <a:r>
              <a:rPr kumimoji="0" lang="en-US" altLang="zh-CN" sz="2400" dirty="0"/>
              <a:t>S</a:t>
            </a:r>
            <a:r>
              <a:rPr kumimoji="0" lang="en-US" altLang="zh-CN" sz="2400" baseline="-25000" dirty="0"/>
              <a:t>1</a:t>
            </a:r>
            <a:r>
              <a:rPr kumimoji="0" lang="en-US" altLang="zh-CN" sz="2400" dirty="0"/>
              <a:t>A</a:t>
            </a:r>
            <a:r>
              <a:rPr kumimoji="0" lang="en-US" altLang="zh-CN" sz="2400" baseline="-25000" dirty="0"/>
              <a:t>i</a:t>
            </a:r>
            <a:r>
              <a:rPr kumimoji="0" lang="en-US" altLang="zh-CN" sz="2400" dirty="0"/>
              <a:t>B</a:t>
            </a:r>
            <a:r>
              <a:rPr kumimoji="0" lang="en-US" altLang="zh-CN" sz="2400" baseline="-25000" dirty="0"/>
              <a:t>i</a:t>
            </a:r>
            <a:r>
              <a:rPr kumimoji="0" lang="zh-CN" altLang="en-US" sz="2400" dirty="0"/>
              <a:t>＋</a:t>
            </a:r>
            <a:r>
              <a:rPr kumimoji="0" lang="en-US" altLang="zh-CN" sz="2400" dirty="0"/>
              <a:t>S</a:t>
            </a:r>
            <a:r>
              <a:rPr kumimoji="0" lang="en-US" altLang="zh-CN" sz="2400" baseline="-25000" dirty="0"/>
              <a:t>0</a:t>
            </a:r>
            <a:r>
              <a:rPr kumimoji="0" lang="en-US" altLang="zh-CN" sz="2400" dirty="0"/>
              <a:t>S</a:t>
            </a:r>
            <a:r>
              <a:rPr kumimoji="0" lang="en-US" altLang="zh-CN" sz="2400" baseline="-25000" dirty="0"/>
              <a:t>1</a:t>
            </a:r>
            <a:r>
              <a:rPr kumimoji="0" lang="en-US" altLang="zh-CN" sz="2400" dirty="0"/>
              <a:t>A</a:t>
            </a:r>
            <a:r>
              <a:rPr kumimoji="0" lang="en-US" altLang="zh-CN" sz="2400" baseline="-25000" dirty="0"/>
              <a:t>i</a:t>
            </a:r>
            <a:r>
              <a:rPr kumimoji="0" lang="en-US" altLang="zh-CN" sz="2400" dirty="0"/>
              <a:t>B</a:t>
            </a:r>
            <a:r>
              <a:rPr kumimoji="0" lang="en-US" altLang="zh-CN" sz="2400" baseline="-25000" dirty="0"/>
              <a:t>i</a:t>
            </a:r>
            <a:endParaRPr kumimoji="0" lang="en-US" altLang="zh-CN" sz="2400" baseline="-25000" dirty="0"/>
          </a:p>
          <a:p>
            <a:pPr eaLnBrk="1" hangingPunct="1">
              <a:buFont typeface="Wingdings 2" charset="2"/>
              <a:buNone/>
            </a:pPr>
            <a:r>
              <a:rPr kumimoji="0" lang="en-US" altLang="zh-CN" sz="2400" dirty="0"/>
              <a:t>      </a:t>
            </a:r>
            <a:r>
              <a:rPr kumimoji="0" lang="zh-CN" altLang="en-US" sz="2400" dirty="0"/>
              <a:t>＝</a:t>
            </a:r>
            <a:r>
              <a:rPr kumimoji="0" lang="en-US" altLang="zh-CN" sz="2400" dirty="0"/>
              <a:t>A</a:t>
            </a:r>
            <a:r>
              <a:rPr kumimoji="0" lang="en-US" altLang="zh-CN" sz="2400" baseline="-25000" dirty="0"/>
              <a:t>i</a:t>
            </a:r>
            <a:r>
              <a:rPr kumimoji="0" lang="zh-CN" altLang="en-US" sz="2400" dirty="0"/>
              <a:t>＋</a:t>
            </a:r>
            <a:r>
              <a:rPr kumimoji="0" lang="en-US" altLang="zh-CN" sz="2400" dirty="0"/>
              <a:t>S</a:t>
            </a:r>
            <a:r>
              <a:rPr kumimoji="0" lang="en-US" altLang="zh-CN" sz="2400" baseline="-25000" dirty="0"/>
              <a:t>0</a:t>
            </a:r>
            <a:r>
              <a:rPr kumimoji="0" lang="en-US" altLang="zh-CN" sz="2400" dirty="0"/>
              <a:t>B</a:t>
            </a:r>
            <a:r>
              <a:rPr kumimoji="0" lang="en-US" altLang="zh-CN" sz="2400" baseline="-25000" dirty="0"/>
              <a:t>i</a:t>
            </a:r>
            <a:r>
              <a:rPr kumimoji="0" lang="zh-CN" altLang="en-US" sz="2400" dirty="0"/>
              <a:t>＋</a:t>
            </a:r>
            <a:r>
              <a:rPr kumimoji="0" lang="en-US" altLang="zh-CN" sz="2400" dirty="0" err="1"/>
              <a:t>S</a:t>
            </a:r>
            <a:r>
              <a:rPr kumimoji="0" lang="en-US" altLang="zh-CN" sz="2400" baseline="-25000" dirty="0" err="1"/>
              <a:t>i</a:t>
            </a:r>
            <a:r>
              <a:rPr kumimoji="0" lang="en-US" altLang="zh-CN" sz="2400" dirty="0" err="1"/>
              <a:t>B</a:t>
            </a:r>
            <a:r>
              <a:rPr kumimoji="0" lang="en-US" altLang="zh-CN" sz="2400" baseline="-25000" dirty="0" err="1"/>
              <a:t>i</a:t>
            </a:r>
            <a:endParaRPr kumimoji="0" lang="en-US" altLang="zh-CN" sz="2400" baseline="-25000" dirty="0"/>
          </a:p>
          <a:p>
            <a:pPr eaLnBrk="1" hangingPunct="1">
              <a:buFont typeface="Wingdings 2" charset="2"/>
              <a:buNone/>
            </a:pPr>
            <a:r>
              <a:rPr kumimoji="0" lang="en-US" altLang="zh-CN" sz="2400" dirty="0"/>
              <a:t>  X</a:t>
            </a:r>
            <a:r>
              <a:rPr kumimoji="0" lang="en-US" altLang="zh-CN" sz="2400" baseline="-25000" dirty="0"/>
              <a:t>i</a:t>
            </a:r>
            <a:r>
              <a:rPr kumimoji="0" lang="en-US" altLang="zh-CN" sz="2400" dirty="0"/>
              <a:t> Y</a:t>
            </a:r>
            <a:r>
              <a:rPr kumimoji="0" lang="en-US" altLang="zh-CN" sz="2400" baseline="-25000" dirty="0"/>
              <a:t>i</a:t>
            </a:r>
            <a:r>
              <a:rPr kumimoji="0" lang="zh-CN" altLang="en-US" sz="2400" dirty="0"/>
              <a:t>＝</a:t>
            </a:r>
            <a:r>
              <a:rPr kumimoji="0" lang="en-US" altLang="zh-CN" sz="2400" dirty="0"/>
              <a:t>Y</a:t>
            </a:r>
            <a:r>
              <a:rPr kumimoji="0" lang="en-US" altLang="zh-CN" sz="2400" baseline="-25000" dirty="0"/>
              <a:t>i   </a:t>
            </a:r>
            <a:r>
              <a:rPr kumimoji="0" lang="en-US" altLang="zh-CN" sz="2400" dirty="0">
                <a:sym typeface="Symbol" panose="05050102010706020507" pitchFamily="18" charset="2"/>
              </a:rPr>
              <a:t>  </a:t>
            </a:r>
            <a:r>
              <a:rPr kumimoji="0" lang="en-US" altLang="zh-CN" sz="2400" dirty="0"/>
              <a:t>C</a:t>
            </a:r>
            <a:r>
              <a:rPr kumimoji="0" lang="en-US" altLang="zh-CN" sz="2400" baseline="-25000" dirty="0"/>
              <a:t>n+i+1</a:t>
            </a:r>
            <a:r>
              <a:rPr kumimoji="0" lang="en-US" altLang="zh-CN" sz="2400" dirty="0"/>
              <a:t>=</a:t>
            </a:r>
            <a:r>
              <a:rPr kumimoji="0" lang="en-US" altLang="zh-CN" sz="2400" dirty="0" err="1"/>
              <a:t>Y</a:t>
            </a:r>
            <a:r>
              <a:rPr kumimoji="0" lang="en-US" altLang="zh-CN" sz="2400" baseline="-25000" dirty="0" err="1"/>
              <a:t>i</a:t>
            </a:r>
            <a:r>
              <a:rPr kumimoji="0" lang="en-US" altLang="zh-CN" sz="2400" dirty="0" err="1"/>
              <a:t>+X</a:t>
            </a:r>
            <a:r>
              <a:rPr kumimoji="0" lang="en-US" altLang="zh-CN" sz="2400" baseline="-25000" dirty="0" err="1"/>
              <a:t>i</a:t>
            </a:r>
            <a:r>
              <a:rPr kumimoji="0" lang="en-US" altLang="zh-CN" sz="2400" dirty="0" err="1"/>
              <a:t>C</a:t>
            </a:r>
            <a:r>
              <a:rPr kumimoji="0" lang="en-US" altLang="zh-CN" sz="2400" baseline="-25000" dirty="0" err="1"/>
              <a:t>n+i</a:t>
            </a:r>
            <a:endParaRPr kumimoji="0" lang="en-US" altLang="zh-CN" sz="2400" baseline="-25000" dirty="0"/>
          </a:p>
        </p:txBody>
      </p:sp>
      <p:graphicFrame>
        <p:nvGraphicFramePr>
          <p:cNvPr id="845871" name="Group 47"/>
          <p:cNvGraphicFramePr>
            <a:graphicFrameLocks noGrp="1"/>
          </p:cNvGraphicFramePr>
          <p:nvPr>
            <p:ph sz="half" idx="2"/>
          </p:nvPr>
        </p:nvGraphicFramePr>
        <p:xfrm>
          <a:off x="1063345" y="1682604"/>
          <a:ext cx="6902450" cy="2429021"/>
        </p:xfrm>
        <a:graphic>
          <a:graphicData uri="http://schemas.openxmlformats.org/drawingml/2006/table">
            <a:tbl>
              <a:tblPr/>
              <a:tblGrid>
                <a:gridCol w="1725612"/>
                <a:gridCol w="1725613"/>
                <a:gridCol w="1725612"/>
                <a:gridCol w="1725613"/>
              </a:tblGrid>
              <a:tr h="591581">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S</a:t>
                      </a:r>
                      <a:r>
                        <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0</a:t>
                      </a: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 S</a:t>
                      </a:r>
                      <a:r>
                        <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1</a:t>
                      </a:r>
                      <a:endPar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Y</a:t>
                      </a:r>
                      <a:r>
                        <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i</a:t>
                      </a:r>
                      <a:endPar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S</a:t>
                      </a:r>
                      <a:r>
                        <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2</a:t>
                      </a: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 S</a:t>
                      </a:r>
                      <a:r>
                        <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3</a:t>
                      </a:r>
                      <a:endPar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X</a:t>
                      </a:r>
                      <a:r>
                        <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i</a:t>
                      </a:r>
                      <a:endPar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r>
              <a:tr h="441477">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0 0</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i</a:t>
                      </a:r>
                      <a:endPar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0 0</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2994">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0 1</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i</a:t>
                      </a: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i</a:t>
                      </a:r>
                      <a:endPar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0 1</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dirty="0" err="1">
                          <a:ln>
                            <a:noFill/>
                          </a:ln>
                          <a:solidFill>
                            <a:schemeClr val="tx1"/>
                          </a:solidFill>
                          <a:effectLst/>
                          <a:latin typeface="Times New Roman" panose="02020603050405020304" pitchFamily="18" charset="0"/>
                          <a:ea typeface="楷体_GB2312" pitchFamily="49" charset="-122"/>
                        </a:rPr>
                        <a:t>A</a:t>
                      </a:r>
                      <a:r>
                        <a:rPr kumimoji="1" lang="en-US" altLang="zh-CN" sz="2400" b="1" i="0" u="none" strike="noStrike" cap="none" normalizeH="0" baseline="-25000" dirty="0" err="1">
                          <a:ln>
                            <a:noFill/>
                          </a:ln>
                          <a:solidFill>
                            <a:schemeClr val="tx1"/>
                          </a:solidFill>
                          <a:effectLst/>
                          <a:latin typeface="Times New Roman" panose="02020603050405020304" pitchFamily="18" charset="0"/>
                          <a:ea typeface="楷体_GB2312" pitchFamily="49" charset="-122"/>
                        </a:rPr>
                        <a:t>i</a:t>
                      </a:r>
                      <a:r>
                        <a:rPr kumimoji="1" lang="en-US" altLang="zh-CN" sz="2400" b="1" i="0" u="none" strike="noStrike" cap="none" normalizeH="0" baseline="0" dirty="0" err="1">
                          <a:ln>
                            <a:noFill/>
                          </a:ln>
                          <a:solidFill>
                            <a:schemeClr val="tx1"/>
                          </a:solidFill>
                          <a:effectLst/>
                          <a:latin typeface="Times New Roman" panose="02020603050405020304" pitchFamily="18" charset="0"/>
                          <a:ea typeface="楷体_GB2312" pitchFamily="49" charset="-122"/>
                        </a:rPr>
                        <a:t>+B</a:t>
                      </a:r>
                      <a:r>
                        <a:rPr kumimoji="1" lang="en-US" altLang="zh-CN" sz="2400" b="1" i="0" u="none" strike="noStrike" cap="none" normalizeH="0" baseline="-25000" dirty="0" err="1">
                          <a:ln>
                            <a:noFill/>
                          </a:ln>
                          <a:solidFill>
                            <a:schemeClr val="tx1"/>
                          </a:solidFill>
                          <a:effectLst/>
                          <a:latin typeface="Times New Roman" panose="02020603050405020304" pitchFamily="18" charset="0"/>
                          <a:ea typeface="楷体_GB2312" pitchFamily="49" charset="-122"/>
                        </a:rPr>
                        <a:t>i</a:t>
                      </a:r>
                      <a:endParaRPr kumimoji="1" lang="en-US" altLang="zh-CN" sz="2400" b="1" i="0" u="none" strike="noStrike" cap="none" normalizeH="0" baseline="-25000" dirty="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1477">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1 0</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i</a:t>
                      </a: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i</a:t>
                      </a:r>
                      <a:endPar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1 0</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i</a:t>
                      </a: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i</a:t>
                      </a:r>
                      <a:endParaRPr kumimoji="1"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2994">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1 1</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1 1</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charset="2"/>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rPr>
                        <a:t>A</a:t>
                      </a:r>
                      <a:r>
                        <a:rPr kumimoji="1" lang="en-US" altLang="zh-CN" sz="2400" b="1" i="0" u="none" strike="noStrike" cap="none" normalizeH="0" baseline="-25000" dirty="0">
                          <a:ln>
                            <a:noFill/>
                          </a:ln>
                          <a:solidFill>
                            <a:schemeClr val="tx1"/>
                          </a:solidFill>
                          <a:effectLst/>
                          <a:latin typeface="Times New Roman" panose="02020603050405020304" pitchFamily="18" charset="0"/>
                          <a:ea typeface="楷体_GB2312" pitchFamily="49" charset="-122"/>
                        </a:rPr>
                        <a:t>i</a:t>
                      </a:r>
                      <a:endParaRPr kumimoji="1" lang="en-US" altLang="zh-CN" sz="2400" b="1" i="0" u="none" strike="noStrike" cap="none" normalizeH="0" baseline="-25000" dirty="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6834" name="Line 48"/>
          <p:cNvSpPr>
            <a:spLocks noChangeShapeType="1"/>
          </p:cNvSpPr>
          <p:nvPr/>
        </p:nvSpPr>
        <p:spPr bwMode="auto">
          <a:xfrm>
            <a:off x="1066800" y="422275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35" name="Line 49"/>
          <p:cNvSpPr>
            <a:spLocks noChangeShapeType="1"/>
          </p:cNvSpPr>
          <p:nvPr/>
        </p:nvSpPr>
        <p:spPr bwMode="auto">
          <a:xfrm>
            <a:off x="1371600" y="422275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36" name="Line 50"/>
          <p:cNvSpPr>
            <a:spLocks noChangeShapeType="1"/>
          </p:cNvSpPr>
          <p:nvPr/>
        </p:nvSpPr>
        <p:spPr bwMode="auto">
          <a:xfrm>
            <a:off x="1958975" y="422275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37" name="Line 51"/>
          <p:cNvSpPr>
            <a:spLocks noChangeShapeType="1"/>
          </p:cNvSpPr>
          <p:nvPr/>
        </p:nvSpPr>
        <p:spPr bwMode="auto">
          <a:xfrm>
            <a:off x="2606675" y="421640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38" name="Line 52"/>
          <p:cNvSpPr>
            <a:spLocks noChangeShapeType="1"/>
          </p:cNvSpPr>
          <p:nvPr/>
        </p:nvSpPr>
        <p:spPr bwMode="auto">
          <a:xfrm>
            <a:off x="3155950" y="419735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39" name="Line 53"/>
          <p:cNvSpPr>
            <a:spLocks noChangeShapeType="1"/>
          </p:cNvSpPr>
          <p:nvPr/>
        </p:nvSpPr>
        <p:spPr bwMode="auto">
          <a:xfrm>
            <a:off x="4098925" y="419100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40" name="Line 54"/>
          <p:cNvSpPr>
            <a:spLocks noChangeShapeType="1"/>
          </p:cNvSpPr>
          <p:nvPr/>
        </p:nvSpPr>
        <p:spPr bwMode="auto">
          <a:xfrm>
            <a:off x="4513263" y="419100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41" name="Line 56"/>
          <p:cNvSpPr>
            <a:spLocks noChangeShapeType="1"/>
          </p:cNvSpPr>
          <p:nvPr/>
        </p:nvSpPr>
        <p:spPr bwMode="auto">
          <a:xfrm>
            <a:off x="6315075" y="419100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42" name="Line 57"/>
          <p:cNvSpPr>
            <a:spLocks noChangeShapeType="1"/>
          </p:cNvSpPr>
          <p:nvPr/>
        </p:nvSpPr>
        <p:spPr bwMode="auto">
          <a:xfrm>
            <a:off x="939707" y="4648200"/>
            <a:ext cx="1944687"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43" name="Line 59"/>
          <p:cNvSpPr>
            <a:spLocks noChangeShapeType="1"/>
          </p:cNvSpPr>
          <p:nvPr/>
        </p:nvSpPr>
        <p:spPr bwMode="auto">
          <a:xfrm>
            <a:off x="2787650" y="443230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44" name="Line 60"/>
          <p:cNvSpPr>
            <a:spLocks noChangeShapeType="1"/>
          </p:cNvSpPr>
          <p:nvPr/>
        </p:nvSpPr>
        <p:spPr bwMode="auto">
          <a:xfrm>
            <a:off x="2689131" y="556260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45" name="Line 61"/>
          <p:cNvSpPr>
            <a:spLocks noChangeShapeType="1"/>
          </p:cNvSpPr>
          <p:nvPr/>
        </p:nvSpPr>
        <p:spPr bwMode="auto">
          <a:xfrm>
            <a:off x="992982" y="5486400"/>
            <a:ext cx="1944687"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46" name="Line 63"/>
          <p:cNvSpPr>
            <a:spLocks noChangeShapeType="1"/>
          </p:cNvSpPr>
          <p:nvPr/>
        </p:nvSpPr>
        <p:spPr bwMode="auto">
          <a:xfrm>
            <a:off x="1066800" y="510540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47" name="Line 64"/>
          <p:cNvSpPr>
            <a:spLocks noChangeShapeType="1"/>
          </p:cNvSpPr>
          <p:nvPr/>
        </p:nvSpPr>
        <p:spPr bwMode="auto">
          <a:xfrm>
            <a:off x="1371600" y="5102225"/>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48" name="Line 65"/>
          <p:cNvSpPr>
            <a:spLocks noChangeShapeType="1"/>
          </p:cNvSpPr>
          <p:nvPr/>
        </p:nvSpPr>
        <p:spPr bwMode="auto">
          <a:xfrm>
            <a:off x="1649413" y="510540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49" name="Line 66"/>
          <p:cNvSpPr>
            <a:spLocks noChangeShapeType="1"/>
          </p:cNvSpPr>
          <p:nvPr/>
        </p:nvSpPr>
        <p:spPr bwMode="auto">
          <a:xfrm>
            <a:off x="2211388" y="510540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50" name="Line 67"/>
          <p:cNvSpPr>
            <a:spLocks noChangeShapeType="1"/>
          </p:cNvSpPr>
          <p:nvPr/>
        </p:nvSpPr>
        <p:spPr bwMode="auto">
          <a:xfrm>
            <a:off x="2787650" y="5105400"/>
            <a:ext cx="173038"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51" name="Line 68"/>
          <p:cNvSpPr>
            <a:spLocks noChangeShapeType="1"/>
          </p:cNvSpPr>
          <p:nvPr/>
        </p:nvSpPr>
        <p:spPr bwMode="auto">
          <a:xfrm>
            <a:off x="3860800" y="510540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52" name="Line 69"/>
          <p:cNvSpPr>
            <a:spLocks noChangeShapeType="1"/>
          </p:cNvSpPr>
          <p:nvPr/>
        </p:nvSpPr>
        <p:spPr bwMode="auto">
          <a:xfrm>
            <a:off x="4148138" y="510540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53" name="Line 70"/>
          <p:cNvSpPr>
            <a:spLocks noChangeShapeType="1"/>
          </p:cNvSpPr>
          <p:nvPr/>
        </p:nvSpPr>
        <p:spPr bwMode="auto">
          <a:xfrm>
            <a:off x="4449763" y="510540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54" name="Line 71"/>
          <p:cNvSpPr>
            <a:spLocks noChangeShapeType="1"/>
          </p:cNvSpPr>
          <p:nvPr/>
        </p:nvSpPr>
        <p:spPr bwMode="auto">
          <a:xfrm>
            <a:off x="6835214" y="2828551"/>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55" name="Line 72"/>
          <p:cNvSpPr>
            <a:spLocks noChangeShapeType="1"/>
          </p:cNvSpPr>
          <p:nvPr/>
        </p:nvSpPr>
        <p:spPr bwMode="auto">
          <a:xfrm>
            <a:off x="7254314" y="2828551"/>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56" name="Line 73"/>
          <p:cNvSpPr>
            <a:spLocks noChangeShapeType="1"/>
          </p:cNvSpPr>
          <p:nvPr/>
        </p:nvSpPr>
        <p:spPr bwMode="auto">
          <a:xfrm>
            <a:off x="6822514" y="3260351"/>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57" name="Line 74"/>
          <p:cNvSpPr>
            <a:spLocks noChangeShapeType="1"/>
          </p:cNvSpPr>
          <p:nvPr/>
        </p:nvSpPr>
        <p:spPr bwMode="auto">
          <a:xfrm>
            <a:off x="7010400" y="373380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58" name="Line 75"/>
          <p:cNvSpPr>
            <a:spLocks noChangeShapeType="1"/>
          </p:cNvSpPr>
          <p:nvPr/>
        </p:nvSpPr>
        <p:spPr bwMode="auto">
          <a:xfrm>
            <a:off x="3559175" y="2362200"/>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59" name="Line 76"/>
          <p:cNvSpPr>
            <a:spLocks noChangeShapeType="1"/>
          </p:cNvSpPr>
          <p:nvPr/>
        </p:nvSpPr>
        <p:spPr bwMode="auto">
          <a:xfrm>
            <a:off x="3437964" y="2828551"/>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60" name="Line 77"/>
          <p:cNvSpPr>
            <a:spLocks noChangeShapeType="1"/>
          </p:cNvSpPr>
          <p:nvPr/>
        </p:nvSpPr>
        <p:spPr bwMode="auto">
          <a:xfrm>
            <a:off x="3452252" y="3260351"/>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61" name="Line 78"/>
          <p:cNvSpPr>
            <a:spLocks noChangeShapeType="1"/>
          </p:cNvSpPr>
          <p:nvPr/>
        </p:nvSpPr>
        <p:spPr bwMode="auto">
          <a:xfrm>
            <a:off x="3739589" y="3260351"/>
            <a:ext cx="130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pull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2"/>
          <p:cNvSpPr>
            <a:spLocks noGrp="1" noChangeArrowheads="1"/>
          </p:cNvSpPr>
          <p:nvPr>
            <p:ph type="title"/>
          </p:nvPr>
        </p:nvSpPr>
        <p:spPr>
          <a:xfrm>
            <a:off x="304800" y="254000"/>
            <a:ext cx="8790828" cy="762000"/>
          </a:xfrm>
        </p:spPr>
        <p:txBody>
          <a:bodyPr/>
          <a:lstStyle/>
          <a:p>
            <a:pPr eaLnBrk="1" hangingPunct="1"/>
            <a:r>
              <a:rPr lang="en-US" altLang="zh-CN" dirty="0"/>
              <a:t>ALU</a:t>
            </a:r>
            <a:r>
              <a:rPr lang="zh-CN" altLang="en-US" dirty="0"/>
              <a:t>的第</a:t>
            </a:r>
            <a:r>
              <a:rPr lang="en-US" altLang="zh-CN" dirty="0" err="1"/>
              <a:t>i</a:t>
            </a:r>
            <a:r>
              <a:rPr lang="zh-CN" altLang="en-US" dirty="0"/>
              <a:t>位逻辑表达式</a:t>
            </a:r>
            <a:endParaRPr lang="zh-CN" altLang="en-US" dirty="0"/>
          </a:p>
        </p:txBody>
      </p:sp>
      <p:sp>
        <p:nvSpPr>
          <p:cNvPr id="77826" name="Rectangle 3"/>
          <p:cNvSpPr>
            <a:spLocks noGrp="1" noChangeArrowheads="1"/>
          </p:cNvSpPr>
          <p:nvPr>
            <p:ph type="body" sz="half" idx="1"/>
          </p:nvPr>
        </p:nvSpPr>
        <p:spPr>
          <a:xfrm>
            <a:off x="179388" y="914400"/>
            <a:ext cx="5040312" cy="5538788"/>
          </a:xfrm>
        </p:spPr>
        <p:txBody>
          <a:bodyPr/>
          <a:lstStyle/>
          <a:p>
            <a:pPr eaLnBrk="1" hangingPunct="1">
              <a:buFont typeface="Wingdings 2" charset="2"/>
              <a:buNone/>
            </a:pPr>
            <a:r>
              <a:rPr kumimoji="0" lang="en-US" altLang="zh-CN" sz="2800" b="0"/>
              <a:t> </a:t>
            </a:r>
            <a:endParaRPr kumimoji="0" lang="en-US" altLang="zh-CN" sz="2800" b="0"/>
          </a:p>
          <a:p>
            <a:pPr eaLnBrk="1" hangingPunct="1">
              <a:buFont typeface="Wingdings 2" charset="2"/>
              <a:buNone/>
            </a:pPr>
            <a:r>
              <a:rPr kumimoji="0" lang="en-US" altLang="zh-CN" sz="2800" b="0"/>
              <a:t>      X</a:t>
            </a:r>
            <a:r>
              <a:rPr kumimoji="0" lang="en-US" altLang="zh-CN" sz="2800" b="0" baseline="-25000"/>
              <a:t>i</a:t>
            </a:r>
            <a:r>
              <a:rPr kumimoji="0" lang="zh-CN" altLang="en-US" sz="2800" b="0"/>
              <a:t>＝</a:t>
            </a:r>
            <a:r>
              <a:rPr kumimoji="0" lang="en-US" altLang="zh-CN" sz="2800" b="0"/>
              <a:t>S</a:t>
            </a:r>
            <a:r>
              <a:rPr kumimoji="0" lang="en-US" altLang="zh-CN" sz="2800" b="0" baseline="-25000"/>
              <a:t>3</a:t>
            </a:r>
            <a:r>
              <a:rPr kumimoji="0" lang="en-US" altLang="zh-CN" sz="2800" b="0"/>
              <a:t>A</a:t>
            </a:r>
            <a:r>
              <a:rPr kumimoji="0" lang="en-US" altLang="zh-CN" sz="2800" b="0" baseline="-25000"/>
              <a:t>i</a:t>
            </a:r>
            <a:r>
              <a:rPr kumimoji="0" lang="en-US" altLang="zh-CN" sz="2800" b="0"/>
              <a:t>B</a:t>
            </a:r>
            <a:r>
              <a:rPr kumimoji="0" lang="en-US" altLang="zh-CN" sz="2800" b="0" baseline="-25000"/>
              <a:t>i</a:t>
            </a:r>
            <a:r>
              <a:rPr kumimoji="0" lang="zh-CN" altLang="en-US" sz="2800" b="0"/>
              <a:t>＋</a:t>
            </a:r>
            <a:r>
              <a:rPr kumimoji="0" lang="en-US" altLang="zh-CN" sz="2800" b="0"/>
              <a:t>S</a:t>
            </a:r>
            <a:r>
              <a:rPr kumimoji="0" lang="en-US" altLang="zh-CN" sz="2800" b="0" baseline="-25000"/>
              <a:t>2</a:t>
            </a:r>
            <a:r>
              <a:rPr kumimoji="0" lang="en-US" altLang="zh-CN" sz="2800" b="0"/>
              <a:t>A</a:t>
            </a:r>
            <a:r>
              <a:rPr kumimoji="0" lang="en-US" altLang="zh-CN" sz="2800" b="0" baseline="-25000"/>
              <a:t>i</a:t>
            </a:r>
            <a:r>
              <a:rPr kumimoji="0" lang="en-US" altLang="zh-CN" sz="2800" b="0"/>
              <a:t>B</a:t>
            </a:r>
            <a:r>
              <a:rPr kumimoji="0" lang="en-US" altLang="zh-CN" sz="2800" b="0" baseline="-25000"/>
              <a:t>i</a:t>
            </a:r>
            <a:endParaRPr kumimoji="0" lang="en-US" altLang="zh-CN" sz="2800" b="0" baseline="-25000"/>
          </a:p>
          <a:p>
            <a:pPr eaLnBrk="1" hangingPunct="1">
              <a:buFont typeface="Wingdings 2" charset="2"/>
              <a:buNone/>
            </a:pPr>
            <a:r>
              <a:rPr kumimoji="0" lang="en-US" altLang="zh-CN" sz="2800" b="0"/>
              <a:t>      Y</a:t>
            </a:r>
            <a:r>
              <a:rPr kumimoji="0" lang="en-US" altLang="zh-CN" sz="2800" b="0" baseline="-25000"/>
              <a:t>i</a:t>
            </a:r>
            <a:r>
              <a:rPr kumimoji="0" lang="zh-CN" altLang="en-US" sz="2800" b="0"/>
              <a:t>＝</a:t>
            </a:r>
            <a:r>
              <a:rPr kumimoji="0" lang="en-US" altLang="zh-CN" sz="2800" b="0"/>
              <a:t>A</a:t>
            </a:r>
            <a:r>
              <a:rPr kumimoji="0" lang="en-US" altLang="zh-CN" sz="2800" b="0" baseline="-25000"/>
              <a:t>i</a:t>
            </a:r>
            <a:r>
              <a:rPr kumimoji="0" lang="zh-CN" altLang="en-US" sz="2800" b="0"/>
              <a:t>＋</a:t>
            </a:r>
            <a:r>
              <a:rPr kumimoji="0" lang="en-US" altLang="zh-CN" sz="2800" b="0"/>
              <a:t>S</a:t>
            </a:r>
            <a:r>
              <a:rPr kumimoji="0" lang="en-US" altLang="zh-CN" sz="2800" b="0" baseline="-25000"/>
              <a:t>0</a:t>
            </a:r>
            <a:r>
              <a:rPr kumimoji="0" lang="en-US" altLang="zh-CN" sz="2800" b="0"/>
              <a:t>B</a:t>
            </a:r>
            <a:r>
              <a:rPr kumimoji="0" lang="en-US" altLang="zh-CN" sz="2800" b="0" baseline="-25000"/>
              <a:t>i</a:t>
            </a:r>
            <a:r>
              <a:rPr kumimoji="0" lang="zh-CN" altLang="en-US" sz="2800" b="0"/>
              <a:t>＋</a:t>
            </a:r>
            <a:r>
              <a:rPr kumimoji="0" lang="en-US" altLang="zh-CN" sz="2800" b="0"/>
              <a:t>S</a:t>
            </a:r>
            <a:r>
              <a:rPr kumimoji="0" lang="en-US" altLang="zh-CN" sz="2800" b="0" baseline="-25000"/>
              <a:t>1</a:t>
            </a:r>
            <a:r>
              <a:rPr kumimoji="0" lang="en-US" altLang="zh-CN" sz="2800" b="0"/>
              <a:t>B</a:t>
            </a:r>
            <a:r>
              <a:rPr kumimoji="0" lang="en-US" altLang="zh-CN" sz="2800" b="0" baseline="-25000"/>
              <a:t>i</a:t>
            </a:r>
            <a:endParaRPr kumimoji="0" lang="en-US" altLang="zh-CN" sz="2800" b="0" baseline="-25000"/>
          </a:p>
          <a:p>
            <a:pPr eaLnBrk="1" hangingPunct="1">
              <a:buFont typeface="Wingdings 2" charset="2"/>
              <a:buNone/>
            </a:pPr>
            <a:r>
              <a:rPr kumimoji="0" lang="en-US" altLang="zh-CN" sz="2800" b="0"/>
              <a:t>      F</a:t>
            </a:r>
            <a:r>
              <a:rPr kumimoji="0" lang="en-US" altLang="zh-CN" sz="2800" b="0" baseline="-25000"/>
              <a:t>i</a:t>
            </a:r>
            <a:r>
              <a:rPr kumimoji="0" lang="zh-CN" altLang="en-US" sz="2800" b="0"/>
              <a:t>＝</a:t>
            </a:r>
            <a:r>
              <a:rPr kumimoji="0" lang="en-US" altLang="zh-CN" sz="2800" b="0"/>
              <a:t>X</a:t>
            </a:r>
            <a:r>
              <a:rPr kumimoji="0" lang="en-US" altLang="zh-CN" sz="2800" b="0" baseline="-25000"/>
              <a:t>i</a:t>
            </a:r>
            <a:r>
              <a:rPr kumimoji="0" lang="en-US" altLang="zh-CN" sz="2800" b="0"/>
              <a:t>⊕Y</a:t>
            </a:r>
            <a:r>
              <a:rPr kumimoji="0" lang="en-US" altLang="zh-CN" sz="2800" b="0" baseline="-25000"/>
              <a:t>i</a:t>
            </a:r>
            <a:r>
              <a:rPr kumimoji="0" lang="en-US" altLang="zh-CN" sz="2800" b="0"/>
              <a:t>⊕C</a:t>
            </a:r>
            <a:r>
              <a:rPr kumimoji="0" lang="en-US" altLang="zh-CN" sz="2800" b="0" baseline="-25000"/>
              <a:t>n+i</a:t>
            </a:r>
            <a:endParaRPr kumimoji="0" lang="en-US" altLang="zh-CN" sz="2800" b="0" baseline="-25000"/>
          </a:p>
          <a:p>
            <a:pPr eaLnBrk="1" hangingPunct="1">
              <a:buFont typeface="Wingdings 2" charset="2"/>
              <a:buNone/>
            </a:pPr>
            <a:r>
              <a:rPr kumimoji="0" lang="en-US" altLang="zh-CN" sz="2800" b="0"/>
              <a:t>      C</a:t>
            </a:r>
            <a:r>
              <a:rPr kumimoji="0" lang="en-US" altLang="zh-CN" sz="2800" b="0" baseline="-25000"/>
              <a:t>n+i+1</a:t>
            </a:r>
            <a:r>
              <a:rPr kumimoji="0" lang="en-US" altLang="zh-CN" sz="2800" b="0"/>
              <a:t>=Y</a:t>
            </a:r>
            <a:r>
              <a:rPr kumimoji="0" lang="en-US" altLang="zh-CN" sz="2800" b="0" baseline="-25000"/>
              <a:t>i</a:t>
            </a:r>
            <a:r>
              <a:rPr kumimoji="0" lang="en-US" altLang="zh-CN" sz="2800" b="0"/>
              <a:t>+X</a:t>
            </a:r>
            <a:r>
              <a:rPr kumimoji="0" lang="en-US" altLang="zh-CN" sz="2800" b="0" baseline="-25000"/>
              <a:t>i</a:t>
            </a:r>
            <a:r>
              <a:rPr kumimoji="0" lang="en-US" altLang="zh-CN" sz="2800" b="0"/>
              <a:t>C</a:t>
            </a:r>
            <a:r>
              <a:rPr kumimoji="0" lang="en-US" altLang="zh-CN" sz="2800" b="0" baseline="-25000"/>
              <a:t>n+i</a:t>
            </a:r>
            <a:endParaRPr lang="en-US" altLang="zh-CN" sz="2800"/>
          </a:p>
        </p:txBody>
      </p:sp>
      <p:graphicFrame>
        <p:nvGraphicFramePr>
          <p:cNvPr id="77827" name="Object 14"/>
          <p:cNvGraphicFramePr>
            <a:graphicFrameLocks noGrp="1" noChangeAspect="1"/>
          </p:cNvGraphicFramePr>
          <p:nvPr>
            <p:ph sz="half" idx="2"/>
          </p:nvPr>
        </p:nvGraphicFramePr>
        <p:xfrm>
          <a:off x="758825" y="4667250"/>
          <a:ext cx="4489450" cy="1381125"/>
        </p:xfrm>
        <a:graphic>
          <a:graphicData uri="http://schemas.openxmlformats.org/presentationml/2006/ole">
            <mc:AlternateContent xmlns:mc="http://schemas.openxmlformats.org/markup-compatibility/2006">
              <mc:Choice xmlns:v="urn:schemas-microsoft-com:vml" Requires="v">
                <p:oleObj spid="_x0000_s2051" name="公式" r:id="rId1" imgW="1550035" imgH="445770" progId="Equation.3">
                  <p:embed/>
                </p:oleObj>
              </mc:Choice>
              <mc:Fallback>
                <p:oleObj name="公式" r:id="rId1" imgW="1550035" imgH="445770" progId="Equation.3">
                  <p:embed/>
                  <p:pic>
                    <p:nvPicPr>
                      <p:cNvPr id="0" name="Object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825" y="4667250"/>
                        <a:ext cx="4489450" cy="1381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29" name="Line 5"/>
          <p:cNvSpPr>
            <a:spLocks noChangeShapeType="1"/>
          </p:cNvSpPr>
          <p:nvPr/>
        </p:nvSpPr>
        <p:spPr bwMode="auto">
          <a:xfrm>
            <a:off x="3441700" y="2044700"/>
            <a:ext cx="22225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30" name="Line 6"/>
          <p:cNvSpPr>
            <a:spLocks noChangeShapeType="1"/>
          </p:cNvSpPr>
          <p:nvPr/>
        </p:nvSpPr>
        <p:spPr bwMode="auto">
          <a:xfrm>
            <a:off x="1404938" y="1389063"/>
            <a:ext cx="24034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31" name="Line 7"/>
          <p:cNvSpPr>
            <a:spLocks noChangeShapeType="1"/>
          </p:cNvSpPr>
          <p:nvPr/>
        </p:nvSpPr>
        <p:spPr bwMode="auto">
          <a:xfrm>
            <a:off x="1404938" y="1976438"/>
            <a:ext cx="24034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32" name="AutoShape 8"/>
          <p:cNvSpPr/>
          <p:nvPr/>
        </p:nvSpPr>
        <p:spPr bwMode="auto">
          <a:xfrm>
            <a:off x="549275" y="1335088"/>
            <a:ext cx="277813" cy="2238375"/>
          </a:xfrm>
          <a:prstGeom prst="leftBrace">
            <a:avLst>
              <a:gd name="adj1" fmla="val 67143"/>
              <a:gd name="adj2" fmla="val 50000"/>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7833" name="Text Box 9"/>
          <p:cNvSpPr txBox="1">
            <a:spLocks noChangeArrowheads="1"/>
          </p:cNvSpPr>
          <p:nvPr/>
        </p:nvSpPr>
        <p:spPr bwMode="auto">
          <a:xfrm>
            <a:off x="2032000" y="3800475"/>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endParaRPr lang="zh-CN" altLang="zh-CN" sz="2800">
              <a:latin typeface="Verdana" panose="020B0604030504040204" pitchFamily="34" charset="0"/>
            </a:endParaRPr>
          </a:p>
        </p:txBody>
      </p:sp>
      <p:sp>
        <p:nvSpPr>
          <p:cNvPr id="77834" name="Line 10"/>
          <p:cNvSpPr>
            <a:spLocks noChangeShapeType="1"/>
          </p:cNvSpPr>
          <p:nvPr/>
        </p:nvSpPr>
        <p:spPr bwMode="auto">
          <a:xfrm>
            <a:off x="3441700" y="1473200"/>
            <a:ext cx="22225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35" name="Rectangle 12"/>
          <p:cNvSpPr>
            <a:spLocks noChangeArrowheads="1"/>
          </p:cNvSpPr>
          <p:nvPr/>
        </p:nvSpPr>
        <p:spPr bwMode="auto">
          <a:xfrm>
            <a:off x="5510213" y="1277938"/>
            <a:ext cx="3278187" cy="3603625"/>
          </a:xfrm>
          <a:prstGeom prst="rect">
            <a:avLst/>
          </a:prstGeom>
          <a:noFill/>
          <a:ln w="15875" algn="ctr">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pic>
        <p:nvPicPr>
          <p:cNvPr id="77836" name="Picture 13" descr="2"/>
          <p:cNvPicPr>
            <a:picLocks noChangeAspect="1" noChangeArrowheads="1"/>
          </p:cNvPicPr>
          <p:nvPr/>
        </p:nvPicPr>
        <p:blipFill>
          <a:blip r:embed="rId3">
            <a:extLst>
              <a:ext uri="{28A0092B-C50C-407E-A947-70E740481C1C}">
                <a14:useLocalDpi xmlns:a14="http://schemas.microsoft.com/office/drawing/2010/main" val="0"/>
              </a:ext>
            </a:extLst>
          </a:blip>
          <a:srcRect b="6450"/>
          <a:stretch>
            <a:fillRect/>
          </a:stretch>
        </p:blipFill>
        <p:spPr bwMode="auto">
          <a:xfrm>
            <a:off x="5207000" y="1277938"/>
            <a:ext cx="3384550" cy="332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7" name="Text Box 16"/>
          <p:cNvSpPr txBox="1">
            <a:spLocks noChangeArrowheads="1"/>
          </p:cNvSpPr>
          <p:nvPr/>
        </p:nvSpPr>
        <p:spPr bwMode="auto">
          <a:xfrm>
            <a:off x="611188" y="3648075"/>
            <a:ext cx="36734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b="0">
                <a:latin typeface="Tahoma" panose="020B0604030504040204" pitchFamily="34" charset="0"/>
                <a:ea typeface="宋体" panose="02010600030101010101" pitchFamily="2" charset="-122"/>
              </a:rPr>
              <a:t>例如：</a:t>
            </a:r>
            <a:r>
              <a:rPr lang="en-US" altLang="zh-CN" sz="2000" b="0">
                <a:latin typeface="Tahoma" panose="020B0604030504040204" pitchFamily="34" charset="0"/>
                <a:ea typeface="宋体" panose="02010600030101010101" pitchFamily="2" charset="-122"/>
              </a:rPr>
              <a:t>S</a:t>
            </a:r>
            <a:r>
              <a:rPr lang="en-US" altLang="zh-CN" sz="2000" b="0" baseline="-25000">
                <a:latin typeface="Tahoma" panose="020B0604030504040204" pitchFamily="34" charset="0"/>
                <a:ea typeface="宋体" panose="02010600030101010101" pitchFamily="2" charset="-122"/>
              </a:rPr>
              <a:t>3</a:t>
            </a:r>
            <a:r>
              <a:rPr lang="en-US" altLang="zh-CN" sz="2000" b="0">
                <a:latin typeface="Tahoma" panose="020B0604030504040204" pitchFamily="34" charset="0"/>
                <a:ea typeface="宋体" panose="02010600030101010101" pitchFamily="2" charset="-122"/>
              </a:rPr>
              <a:t>S</a:t>
            </a:r>
            <a:r>
              <a:rPr lang="en-US" altLang="zh-CN" sz="2000" b="0" baseline="-25000">
                <a:latin typeface="Tahoma" panose="020B0604030504040204" pitchFamily="34" charset="0"/>
                <a:ea typeface="宋体" panose="02010600030101010101" pitchFamily="2" charset="-122"/>
              </a:rPr>
              <a:t>2</a:t>
            </a:r>
            <a:r>
              <a:rPr lang="en-US" altLang="zh-CN" sz="2000" b="0">
                <a:latin typeface="Tahoma" panose="020B0604030504040204" pitchFamily="34" charset="0"/>
                <a:ea typeface="宋体" panose="02010600030101010101" pitchFamily="2" charset="-122"/>
              </a:rPr>
              <a:t>S</a:t>
            </a:r>
            <a:r>
              <a:rPr lang="en-US" altLang="zh-CN" sz="2000" b="0" baseline="-25000">
                <a:latin typeface="Tahoma" panose="020B0604030504040204" pitchFamily="34" charset="0"/>
                <a:ea typeface="宋体" panose="02010600030101010101" pitchFamily="2" charset="-122"/>
              </a:rPr>
              <a:t>0</a:t>
            </a:r>
            <a:r>
              <a:rPr lang="en-US" altLang="zh-CN" sz="2000" b="0">
                <a:latin typeface="Tahoma" panose="020B0604030504040204" pitchFamily="34" charset="0"/>
                <a:ea typeface="宋体" panose="02010600030101010101" pitchFamily="2" charset="-122"/>
              </a:rPr>
              <a:t>S</a:t>
            </a:r>
            <a:r>
              <a:rPr lang="en-US" altLang="zh-CN" sz="2000" b="0" baseline="-25000">
                <a:latin typeface="Tahoma" panose="020B0604030504040204" pitchFamily="34" charset="0"/>
                <a:ea typeface="宋体" panose="02010600030101010101" pitchFamily="2" charset="-122"/>
              </a:rPr>
              <a:t>1</a:t>
            </a:r>
            <a:r>
              <a:rPr lang="zh-CN" altLang="en-US" sz="2000" b="0">
                <a:latin typeface="Tahoma" panose="020B0604030504040204" pitchFamily="34" charset="0"/>
                <a:ea typeface="宋体" panose="02010600030101010101" pitchFamily="2" charset="-122"/>
              </a:rPr>
              <a:t>＝</a:t>
            </a:r>
            <a:r>
              <a:rPr lang="en-US" altLang="zh-CN" sz="2000" b="0">
                <a:latin typeface="Tahoma" panose="020B0604030504040204" pitchFamily="34" charset="0"/>
                <a:ea typeface="宋体" panose="02010600030101010101" pitchFamily="2" charset="-122"/>
              </a:rPr>
              <a:t>0000</a:t>
            </a:r>
            <a:endParaRPr lang="en-US" altLang="zh-CN" sz="2000" b="0">
              <a:latin typeface="Tahoma" panose="020B0604030504040204" pitchFamily="34" charset="0"/>
              <a:ea typeface="宋体" panose="02010600030101010101" pitchFamily="2" charset="-122"/>
            </a:endParaRPr>
          </a:p>
          <a:p>
            <a:pPr eaLnBrk="1" hangingPunct="1">
              <a:spcBef>
                <a:spcPct val="50000"/>
              </a:spcBef>
              <a:buClrTx/>
              <a:buFontTx/>
              <a:buNone/>
            </a:pPr>
            <a:r>
              <a:rPr lang="zh-CN" altLang="en-US" sz="2000" b="0">
                <a:latin typeface="Tahoma" panose="020B0604030504040204" pitchFamily="34" charset="0"/>
                <a:ea typeface="宋体" panose="02010600030101010101" pitchFamily="2" charset="-122"/>
              </a:rPr>
              <a:t>代入：</a:t>
            </a:r>
            <a:endParaRPr lang="zh-CN" altLang="en-US" sz="2000" b="0">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6" name="Rectangle 2"/>
          <p:cNvSpPr>
            <a:spLocks noGrp="1" noChangeArrowheads="1"/>
          </p:cNvSpPr>
          <p:nvPr>
            <p:ph type="title"/>
          </p:nvPr>
        </p:nvSpPr>
        <p:spPr/>
        <p:txBody>
          <a:bodyPr/>
          <a:lstStyle/>
          <a:p>
            <a:pPr eaLnBrk="1" hangingPunct="1"/>
            <a:r>
              <a:rPr lang="en-US" altLang="zh-CN" dirty="0"/>
              <a:t>4</a:t>
            </a:r>
            <a:r>
              <a:rPr lang="zh-CN" altLang="en-US" dirty="0"/>
              <a:t>位</a:t>
            </a:r>
            <a:r>
              <a:rPr lang="en-US" altLang="zh-CN" dirty="0"/>
              <a:t>ALU</a:t>
            </a:r>
            <a:r>
              <a:rPr lang="zh-CN" altLang="en-US" dirty="0"/>
              <a:t>结构</a:t>
            </a:r>
            <a:endParaRPr lang="zh-CN" altLang="en-US" dirty="0"/>
          </a:p>
        </p:txBody>
      </p:sp>
      <p:sp>
        <p:nvSpPr>
          <p:cNvPr id="79874" name="Rectangle 3"/>
          <p:cNvSpPr>
            <a:spLocks noGrp="1" noChangeArrowheads="1"/>
          </p:cNvSpPr>
          <p:nvPr>
            <p:ph idx="1"/>
          </p:nvPr>
        </p:nvSpPr>
        <p:spPr>
          <a:xfrm>
            <a:off x="179388" y="4879975"/>
            <a:ext cx="8785225" cy="1501775"/>
          </a:xfrm>
        </p:spPr>
        <p:txBody>
          <a:bodyPr/>
          <a:lstStyle/>
          <a:p>
            <a:pPr eaLnBrk="1" hangingPunct="1"/>
            <a:r>
              <a:rPr lang="zh-CN" altLang="en-US" sz="2800">
                <a:latin typeface="宋体" panose="02010600030101010101" pitchFamily="2" charset="-122"/>
              </a:rPr>
              <a:t>片内是串行进位还是并行进位？</a:t>
            </a:r>
            <a:endParaRPr lang="zh-CN" altLang="en-US" sz="2800">
              <a:latin typeface="宋体" panose="02010600030101010101" pitchFamily="2" charset="-122"/>
            </a:endParaRPr>
          </a:p>
        </p:txBody>
      </p:sp>
      <p:sp>
        <p:nvSpPr>
          <p:cNvPr id="850949" name="Text Box 5"/>
          <p:cNvSpPr txBox="1">
            <a:spLocks noChangeArrowheads="1"/>
          </p:cNvSpPr>
          <p:nvPr/>
        </p:nvSpPr>
        <p:spPr bwMode="auto">
          <a:xfrm>
            <a:off x="5797550" y="4868863"/>
            <a:ext cx="291297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Tx/>
              <a:buNone/>
            </a:pP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r>
              <a:rPr lang="zh-CN" altLang="en-US" sz="2400" b="0" baseline="-25000" dirty="0">
                <a:cs typeface="Times New Roman" panose="02020603050405020304" pitchFamily="18" charset="0"/>
              </a:rPr>
              <a:t>＋</a:t>
            </a:r>
            <a:r>
              <a:rPr lang="en-US" altLang="zh-CN" sz="2400" b="0" baseline="-25000" dirty="0">
                <a:cs typeface="Times New Roman" panose="02020603050405020304" pitchFamily="18" charset="0"/>
              </a:rPr>
              <a:t>1</a:t>
            </a:r>
            <a:r>
              <a:rPr lang="zh-CN" altLang="en-US" sz="2400" b="0" dirty="0">
                <a:cs typeface="Times New Roman" panose="02020603050405020304" pitchFamily="18" charset="0"/>
              </a:rPr>
              <a:t>＝</a:t>
            </a:r>
            <a:r>
              <a:rPr lang="en-US" altLang="zh-CN" sz="2400" b="0" dirty="0">
                <a:cs typeface="Times New Roman" panose="02020603050405020304" pitchFamily="18" charset="0"/>
              </a:rPr>
              <a:t>Y</a:t>
            </a:r>
            <a:r>
              <a:rPr lang="en-US" altLang="zh-CN" sz="2400" b="0" baseline="-25000" dirty="0">
                <a:cs typeface="Times New Roman" panose="02020603050405020304" pitchFamily="18" charset="0"/>
              </a:rPr>
              <a:t>0</a:t>
            </a:r>
            <a:r>
              <a:rPr lang="zh-CN" altLang="en-US" sz="2400" b="0" dirty="0">
                <a:cs typeface="Times New Roman" panose="02020603050405020304" pitchFamily="18" charset="0"/>
              </a:rPr>
              <a:t>＋</a:t>
            </a:r>
            <a:r>
              <a:rPr lang="en-US" altLang="zh-CN" sz="2400" b="0" dirty="0">
                <a:cs typeface="Times New Roman" panose="02020603050405020304" pitchFamily="18" charset="0"/>
              </a:rPr>
              <a:t>X</a:t>
            </a:r>
            <a:r>
              <a:rPr lang="en-US" altLang="zh-CN" sz="2400" b="0" baseline="-25000" dirty="0">
                <a:cs typeface="Times New Roman" panose="02020603050405020304" pitchFamily="18" charset="0"/>
              </a:rPr>
              <a:t>0</a:t>
            </a: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endParaRPr lang="en-US" altLang="zh-CN" sz="2400" b="0" baseline="-25000" dirty="0">
              <a:cs typeface="Times New Roman" panose="02020603050405020304" pitchFamily="18" charset="0"/>
            </a:endParaRPr>
          </a:p>
          <a:p>
            <a:pPr algn="l" eaLnBrk="1" hangingPunct="1">
              <a:spcBef>
                <a:spcPct val="0"/>
              </a:spcBef>
              <a:buClrTx/>
              <a:buFontTx/>
              <a:buNone/>
            </a:pP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r>
              <a:rPr lang="zh-CN" altLang="en-US" sz="2400" b="0" baseline="-25000" dirty="0">
                <a:cs typeface="Times New Roman" panose="02020603050405020304" pitchFamily="18" charset="0"/>
              </a:rPr>
              <a:t>＋</a:t>
            </a:r>
            <a:r>
              <a:rPr lang="en-US" altLang="zh-CN" sz="2400" b="0" baseline="-25000" dirty="0">
                <a:cs typeface="Times New Roman" panose="02020603050405020304" pitchFamily="18" charset="0"/>
              </a:rPr>
              <a:t>2</a:t>
            </a:r>
            <a:r>
              <a:rPr lang="zh-CN" altLang="en-US" sz="2400" b="0" dirty="0">
                <a:cs typeface="Times New Roman" panose="02020603050405020304" pitchFamily="18" charset="0"/>
              </a:rPr>
              <a:t>＝</a:t>
            </a:r>
            <a:r>
              <a:rPr lang="en-US" altLang="zh-CN" sz="2400" b="0" dirty="0">
                <a:cs typeface="Times New Roman" panose="02020603050405020304" pitchFamily="18" charset="0"/>
              </a:rPr>
              <a:t>Y</a:t>
            </a:r>
            <a:r>
              <a:rPr lang="en-US" altLang="zh-CN" sz="2400" b="0" baseline="-25000" dirty="0">
                <a:cs typeface="Times New Roman" panose="02020603050405020304" pitchFamily="18" charset="0"/>
              </a:rPr>
              <a:t>1</a:t>
            </a:r>
            <a:r>
              <a:rPr lang="zh-CN" altLang="en-US" sz="2400" b="0" dirty="0">
                <a:cs typeface="Times New Roman" panose="02020603050405020304" pitchFamily="18" charset="0"/>
              </a:rPr>
              <a:t>＋</a:t>
            </a:r>
            <a:r>
              <a:rPr lang="en-US" altLang="zh-CN" sz="2400" b="0" dirty="0">
                <a:cs typeface="Times New Roman" panose="02020603050405020304" pitchFamily="18" charset="0"/>
              </a:rPr>
              <a:t>X</a:t>
            </a:r>
            <a:r>
              <a:rPr lang="en-US" altLang="zh-CN" sz="2400" b="0" baseline="-25000" dirty="0">
                <a:cs typeface="Times New Roman" panose="02020603050405020304" pitchFamily="18" charset="0"/>
              </a:rPr>
              <a:t>1</a:t>
            </a: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r>
              <a:rPr lang="zh-CN" altLang="en-US" sz="2400" b="0" baseline="-25000" dirty="0">
                <a:cs typeface="Times New Roman" panose="02020603050405020304" pitchFamily="18" charset="0"/>
              </a:rPr>
              <a:t>＋</a:t>
            </a:r>
            <a:r>
              <a:rPr lang="en-US" altLang="zh-CN" sz="2400" b="0" baseline="-25000" dirty="0">
                <a:cs typeface="Times New Roman" panose="02020603050405020304" pitchFamily="18" charset="0"/>
              </a:rPr>
              <a:t>1</a:t>
            </a:r>
            <a:r>
              <a:rPr lang="en-US" altLang="zh-CN" sz="2400" b="0" dirty="0">
                <a:cs typeface="Times New Roman" panose="02020603050405020304" pitchFamily="18" charset="0"/>
              </a:rPr>
              <a:t>   </a:t>
            </a:r>
            <a:endParaRPr lang="en-US" altLang="zh-CN" sz="2400" b="0" dirty="0">
              <a:cs typeface="Times New Roman" panose="02020603050405020304" pitchFamily="18" charset="0"/>
            </a:endParaRPr>
          </a:p>
          <a:p>
            <a:pPr algn="l" eaLnBrk="1" hangingPunct="1">
              <a:spcBef>
                <a:spcPct val="0"/>
              </a:spcBef>
              <a:buClrTx/>
              <a:buFontTx/>
              <a:buNone/>
            </a:pP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r>
              <a:rPr lang="zh-CN" altLang="en-US" sz="2400" b="0" baseline="-25000" dirty="0">
                <a:cs typeface="Times New Roman" panose="02020603050405020304" pitchFamily="18" charset="0"/>
              </a:rPr>
              <a:t>＋</a:t>
            </a:r>
            <a:r>
              <a:rPr lang="en-US" altLang="zh-CN" sz="2400" b="0" baseline="-25000" dirty="0">
                <a:cs typeface="Times New Roman" panose="02020603050405020304" pitchFamily="18" charset="0"/>
              </a:rPr>
              <a:t>3</a:t>
            </a:r>
            <a:r>
              <a:rPr lang="zh-CN" altLang="en-US" sz="2400" b="0" dirty="0">
                <a:cs typeface="Times New Roman" panose="02020603050405020304" pitchFamily="18" charset="0"/>
              </a:rPr>
              <a:t>＝</a:t>
            </a:r>
            <a:r>
              <a:rPr lang="en-US" altLang="zh-CN" sz="2400" b="0" dirty="0">
                <a:cs typeface="Times New Roman" panose="02020603050405020304" pitchFamily="18" charset="0"/>
              </a:rPr>
              <a:t>Y</a:t>
            </a:r>
            <a:r>
              <a:rPr lang="en-US" altLang="zh-CN" sz="2400" b="0" baseline="-25000" dirty="0">
                <a:cs typeface="Times New Roman" panose="02020603050405020304" pitchFamily="18" charset="0"/>
              </a:rPr>
              <a:t>2</a:t>
            </a:r>
            <a:r>
              <a:rPr lang="zh-CN" altLang="en-US" sz="2400" b="0" dirty="0">
                <a:cs typeface="Times New Roman" panose="02020603050405020304" pitchFamily="18" charset="0"/>
              </a:rPr>
              <a:t>＋</a:t>
            </a:r>
            <a:r>
              <a:rPr lang="en-US" altLang="zh-CN" sz="2400" b="0" dirty="0">
                <a:cs typeface="Times New Roman" panose="02020603050405020304" pitchFamily="18" charset="0"/>
              </a:rPr>
              <a:t>X</a:t>
            </a:r>
            <a:r>
              <a:rPr lang="en-US" altLang="zh-CN" sz="2400" b="0" baseline="-25000" dirty="0">
                <a:cs typeface="Times New Roman" panose="02020603050405020304" pitchFamily="18" charset="0"/>
              </a:rPr>
              <a:t>2</a:t>
            </a: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r>
              <a:rPr lang="zh-CN" altLang="en-US" sz="2400" b="0" baseline="-25000" dirty="0">
                <a:cs typeface="Times New Roman" panose="02020603050405020304" pitchFamily="18" charset="0"/>
              </a:rPr>
              <a:t>＋</a:t>
            </a:r>
            <a:r>
              <a:rPr lang="en-US" altLang="zh-CN" sz="2400" b="0" baseline="-25000" dirty="0">
                <a:cs typeface="Times New Roman" panose="02020603050405020304" pitchFamily="18" charset="0"/>
              </a:rPr>
              <a:t>2</a:t>
            </a:r>
            <a:endParaRPr lang="en-US" altLang="zh-CN" sz="2400" b="0" baseline="-25000" dirty="0">
              <a:cs typeface="Times New Roman" panose="02020603050405020304" pitchFamily="18" charset="0"/>
            </a:endParaRPr>
          </a:p>
          <a:p>
            <a:pPr algn="l" eaLnBrk="1" hangingPunct="1">
              <a:spcBef>
                <a:spcPct val="0"/>
              </a:spcBef>
              <a:buClrTx/>
              <a:buFontTx/>
              <a:buNone/>
            </a:pP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r>
              <a:rPr lang="zh-CN" altLang="en-US" sz="2400" b="0" baseline="-25000" dirty="0">
                <a:cs typeface="Times New Roman" panose="02020603050405020304" pitchFamily="18" charset="0"/>
              </a:rPr>
              <a:t>＋</a:t>
            </a:r>
            <a:r>
              <a:rPr lang="en-US" altLang="zh-CN" sz="2400" b="0" baseline="-25000" dirty="0">
                <a:cs typeface="Times New Roman" panose="02020603050405020304" pitchFamily="18" charset="0"/>
              </a:rPr>
              <a:t>4</a:t>
            </a:r>
            <a:r>
              <a:rPr lang="zh-CN" altLang="en-US" sz="2400" b="0" dirty="0">
                <a:cs typeface="Times New Roman" panose="02020603050405020304" pitchFamily="18" charset="0"/>
              </a:rPr>
              <a:t>＝</a:t>
            </a:r>
            <a:r>
              <a:rPr lang="en-US" altLang="zh-CN" sz="2400" b="0" dirty="0">
                <a:cs typeface="Times New Roman" panose="02020603050405020304" pitchFamily="18" charset="0"/>
              </a:rPr>
              <a:t>Y</a:t>
            </a:r>
            <a:r>
              <a:rPr lang="en-US" altLang="zh-CN" sz="2400" b="0" baseline="-25000" dirty="0">
                <a:cs typeface="Times New Roman" panose="02020603050405020304" pitchFamily="18" charset="0"/>
              </a:rPr>
              <a:t>3</a:t>
            </a:r>
            <a:r>
              <a:rPr lang="zh-CN" altLang="en-US" sz="2400" b="0" dirty="0">
                <a:cs typeface="Times New Roman" panose="02020603050405020304" pitchFamily="18" charset="0"/>
              </a:rPr>
              <a:t>＋</a:t>
            </a:r>
            <a:r>
              <a:rPr lang="en-US" altLang="zh-CN" sz="2400" b="0" dirty="0">
                <a:cs typeface="Times New Roman" panose="02020603050405020304" pitchFamily="18" charset="0"/>
              </a:rPr>
              <a:t>X</a:t>
            </a:r>
            <a:r>
              <a:rPr lang="en-US" altLang="zh-CN" sz="2400" b="0" baseline="-25000" dirty="0">
                <a:cs typeface="Times New Roman" panose="02020603050405020304" pitchFamily="18" charset="0"/>
              </a:rPr>
              <a:t>3</a:t>
            </a: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r>
              <a:rPr lang="zh-CN" altLang="en-US" sz="2400" b="0" baseline="-25000" dirty="0">
                <a:cs typeface="Times New Roman" panose="02020603050405020304" pitchFamily="18" charset="0"/>
              </a:rPr>
              <a:t>＋</a:t>
            </a:r>
            <a:r>
              <a:rPr lang="en-US" altLang="zh-CN" sz="2400" b="0" baseline="-25000" dirty="0">
                <a:cs typeface="Times New Roman" panose="02020603050405020304" pitchFamily="18" charset="0"/>
              </a:rPr>
              <a:t>3</a:t>
            </a:r>
            <a:endParaRPr lang="en-US" altLang="zh-CN" sz="2400" b="0" baseline="-25000" dirty="0">
              <a:cs typeface="Times New Roman" panose="02020603050405020304" pitchFamily="18" charset="0"/>
            </a:endParaRPr>
          </a:p>
        </p:txBody>
      </p:sp>
      <p:sp>
        <p:nvSpPr>
          <p:cNvPr id="850950" name="Text Box 6"/>
          <p:cNvSpPr txBox="1">
            <a:spLocks noChangeArrowheads="1"/>
          </p:cNvSpPr>
          <p:nvPr/>
        </p:nvSpPr>
        <p:spPr bwMode="auto">
          <a:xfrm>
            <a:off x="592226" y="5589588"/>
            <a:ext cx="4873450" cy="523220"/>
          </a:xfrm>
          <a:prstGeom prst="rect">
            <a:avLst/>
          </a:prstGeom>
          <a:noFill/>
          <a:ln w="25400" algn="ctr">
            <a:solidFill>
              <a:srgbClr val="00F7F7"/>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800" dirty="0">
                <a:solidFill>
                  <a:srgbClr val="CC3300"/>
                </a:solidFill>
                <a:latin typeface="楷体" panose="02010609060101010101" pitchFamily="49" charset="-122"/>
                <a:ea typeface="楷体" panose="02010609060101010101" pitchFamily="49" charset="-122"/>
              </a:rPr>
              <a:t>串行进位，速度慢，可以改进</a:t>
            </a:r>
            <a:endParaRPr lang="zh-CN" altLang="en-US" sz="2800" dirty="0">
              <a:solidFill>
                <a:srgbClr val="CC3300"/>
              </a:solidFill>
              <a:latin typeface="楷体" panose="02010609060101010101" pitchFamily="49" charset="-122"/>
              <a:ea typeface="楷体" panose="02010609060101010101" pitchFamily="49" charset="-122"/>
            </a:endParaRPr>
          </a:p>
        </p:txBody>
      </p:sp>
      <p:pic>
        <p:nvPicPr>
          <p:cNvPr id="79878" name="Picture 4" descr="/D:/jinerwork/组成/白中英版改编/visio/2.5_1.jpg"/>
          <p:cNvPicPr>
            <a:picLocks noChangeAspect="1" noChangeArrowheads="1"/>
          </p:cNvPicPr>
          <p:nvPr/>
        </p:nvPicPr>
        <p:blipFill>
          <a:blip r:embed="rId1" r:link="rId2">
            <a:extLst>
              <a:ext uri="{28A0092B-C50C-407E-A947-70E740481C1C}">
                <a14:useLocalDpi xmlns:a14="http://schemas.microsoft.com/office/drawing/2010/main" val="0"/>
              </a:ext>
            </a:extLst>
          </a:blip>
          <a:srcRect/>
          <a:stretch>
            <a:fillRect/>
          </a:stretch>
        </p:blipFill>
        <p:spPr bwMode="auto">
          <a:xfrm>
            <a:off x="684213" y="914400"/>
            <a:ext cx="7777162" cy="385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50949"/>
                                        </p:tgtEl>
                                        <p:attrNameLst>
                                          <p:attrName>style.visibility</p:attrName>
                                        </p:attrNameLst>
                                      </p:cBhvr>
                                      <p:to>
                                        <p:strVal val="visible"/>
                                      </p:to>
                                    </p:set>
                                    <p:animEffect transition="in" filter="blinds(horizontal)">
                                      <p:cBhvr>
                                        <p:cTn id="7" dur="500"/>
                                        <p:tgtEl>
                                          <p:spTgt spid="85094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50950"/>
                                        </p:tgtEl>
                                        <p:attrNameLst>
                                          <p:attrName>style.visibility</p:attrName>
                                        </p:attrNameLst>
                                      </p:cBhvr>
                                      <p:to>
                                        <p:strVal val="visible"/>
                                      </p:to>
                                    </p:set>
                                    <p:animEffect transition="in" filter="blinds(horizontal)">
                                      <p:cBhvr>
                                        <p:cTn id="12" dur="500"/>
                                        <p:tgtEl>
                                          <p:spTgt spid="850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949" grpId="0"/>
      <p:bldP spid="85095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898" name="Rectangle 2"/>
          <p:cNvSpPr>
            <a:spLocks noGrp="1" noChangeArrowheads="1"/>
          </p:cNvSpPr>
          <p:nvPr>
            <p:ph type="title"/>
          </p:nvPr>
        </p:nvSpPr>
        <p:spPr/>
        <p:txBody>
          <a:bodyPr/>
          <a:lstStyle/>
          <a:p>
            <a:pPr eaLnBrk="1" hangingPunct="1"/>
            <a:r>
              <a:rPr lang="zh-CN" altLang="en-US"/>
              <a:t>采用先行进位</a:t>
            </a:r>
            <a:endParaRPr lang="zh-CN" altLang="en-US"/>
          </a:p>
        </p:txBody>
      </p:sp>
      <p:sp>
        <p:nvSpPr>
          <p:cNvPr id="80898" name="Rectangle 3"/>
          <p:cNvSpPr>
            <a:spLocks noGrp="1" noChangeArrowheads="1"/>
          </p:cNvSpPr>
          <p:nvPr>
            <p:ph idx="1"/>
          </p:nvPr>
        </p:nvSpPr>
        <p:spPr>
          <a:xfrm>
            <a:off x="179387" y="1066800"/>
            <a:ext cx="8785225" cy="5400675"/>
          </a:xfrm>
        </p:spPr>
        <p:txBody>
          <a:bodyPr/>
          <a:lstStyle/>
          <a:p>
            <a:pPr eaLnBrk="1" hangingPunct="1"/>
            <a:r>
              <a:rPr lang="zh-CN" altLang="en-US" dirty="0"/>
              <a:t>每一位的进位公式：</a:t>
            </a:r>
            <a:endParaRPr lang="zh-CN" altLang="en-US" dirty="0"/>
          </a:p>
          <a:p>
            <a:pPr eaLnBrk="1" hangingPunct="1"/>
            <a:endParaRPr lang="zh-CN" altLang="en-US" dirty="0"/>
          </a:p>
          <a:p>
            <a:pPr eaLnBrk="1" hangingPunct="1"/>
            <a:endParaRPr lang="zh-CN" altLang="en-US" dirty="0"/>
          </a:p>
          <a:p>
            <a:pPr eaLnBrk="1" hangingPunct="1"/>
            <a:endParaRPr lang="zh-CN" altLang="en-US" sz="2800" dirty="0"/>
          </a:p>
          <a:p>
            <a:pPr eaLnBrk="1" hangingPunct="1"/>
            <a:endParaRPr lang="zh-CN" altLang="en-US" sz="2800" dirty="0"/>
          </a:p>
          <a:p>
            <a:pPr eaLnBrk="1" hangingPunct="1"/>
            <a:endParaRPr lang="zh-CN" altLang="en-US" sz="2800" dirty="0"/>
          </a:p>
          <a:p>
            <a:pPr eaLnBrk="1" hangingPunct="1"/>
            <a:r>
              <a:rPr lang="en-US" altLang="zh-CN" sz="2800" dirty="0"/>
              <a:t>G</a:t>
            </a:r>
            <a:r>
              <a:rPr lang="zh-CN" altLang="en-US" sz="2800" dirty="0"/>
              <a:t>为进位发生输出     </a:t>
            </a:r>
            <a:r>
              <a:rPr lang="en-US" altLang="zh-CN" sz="2800" dirty="0"/>
              <a:t>P</a:t>
            </a:r>
            <a:r>
              <a:rPr lang="zh-CN" altLang="en-US" sz="2800" dirty="0"/>
              <a:t>为进位传送输出</a:t>
            </a:r>
            <a:endParaRPr lang="zh-CN" altLang="en-US" sz="2800" dirty="0"/>
          </a:p>
          <a:p>
            <a:pPr eaLnBrk="1" hangingPunct="1"/>
            <a:r>
              <a:rPr lang="en-US" altLang="zh-CN" sz="2800" dirty="0"/>
              <a:t>P</a:t>
            </a:r>
            <a:r>
              <a:rPr lang="zh-CN" altLang="en-US" sz="2800" dirty="0"/>
              <a:t>、</a:t>
            </a:r>
            <a:r>
              <a:rPr lang="en-US" altLang="zh-CN" sz="2800" dirty="0"/>
              <a:t>G</a:t>
            </a:r>
            <a:r>
              <a:rPr lang="zh-CN" altLang="en-US" sz="2800" dirty="0"/>
              <a:t>是为了实现多片</a:t>
            </a:r>
            <a:r>
              <a:rPr lang="en-US" altLang="zh-CN" sz="2800" dirty="0"/>
              <a:t>ALU</a:t>
            </a:r>
            <a:r>
              <a:rPr lang="zh-CN" altLang="en-US" sz="2800" dirty="0"/>
              <a:t>之间先行进位而设置的</a:t>
            </a:r>
            <a:endParaRPr lang="zh-CN" altLang="en-US" sz="2800" dirty="0"/>
          </a:p>
        </p:txBody>
      </p:sp>
      <p:sp>
        <p:nvSpPr>
          <p:cNvPr id="80900" name="Rectangle 4"/>
          <p:cNvSpPr>
            <a:spLocks noChangeArrowheads="1"/>
          </p:cNvSpPr>
          <p:nvPr/>
        </p:nvSpPr>
        <p:spPr bwMode="auto">
          <a:xfrm>
            <a:off x="755650" y="1425575"/>
            <a:ext cx="8093075" cy="294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lnSpc>
                <a:spcPct val="120000"/>
              </a:lnSpc>
              <a:spcBef>
                <a:spcPct val="0"/>
              </a:spcBef>
              <a:buClrTx/>
              <a:buFontTx/>
              <a:buNone/>
            </a:pP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n+1</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a:t>
            </a:r>
            <a:endParaRPr kumimoji="0" lang="en-US" altLang="zh-CN" sz="2400" b="0" baseline="-25000" dirty="0">
              <a:ea typeface="宋体" panose="02010600030101010101" pitchFamily="2" charset="-122"/>
              <a:cs typeface="Times New Roman" panose="02020603050405020304" pitchFamily="18" charset="0"/>
            </a:endParaRPr>
          </a:p>
          <a:p>
            <a:pPr algn="l" eaLnBrk="1" hangingPunct="1">
              <a:lnSpc>
                <a:spcPct val="120000"/>
              </a:lnSpc>
              <a:spcBef>
                <a:spcPct val="0"/>
              </a:spcBef>
              <a:buClrTx/>
              <a:buFontTx/>
              <a:buNone/>
            </a:pP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n+2</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n+1</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a:t>
            </a:r>
            <a:endParaRPr kumimoji="0" lang="en-US" altLang="zh-CN" sz="2400" b="0" baseline="-25000" dirty="0">
              <a:ea typeface="宋体" panose="02010600030101010101" pitchFamily="2" charset="-122"/>
              <a:cs typeface="Times New Roman" panose="02020603050405020304" pitchFamily="18" charset="0"/>
            </a:endParaRPr>
          </a:p>
          <a:p>
            <a:pPr algn="l" eaLnBrk="1" hangingPunct="1">
              <a:lnSpc>
                <a:spcPct val="120000"/>
              </a:lnSpc>
              <a:spcBef>
                <a:spcPct val="0"/>
              </a:spcBef>
              <a:buClrTx/>
              <a:buFontTx/>
              <a:buNone/>
            </a:pP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n+2</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a:t>
            </a:r>
            <a:endParaRPr kumimoji="0" lang="en-US" altLang="zh-CN" sz="2400" b="0" baseline="-25000" dirty="0">
              <a:ea typeface="宋体" panose="02010600030101010101" pitchFamily="2" charset="-122"/>
              <a:cs typeface="Times New Roman" panose="02020603050405020304" pitchFamily="18" charset="0"/>
            </a:endParaRPr>
          </a:p>
          <a:p>
            <a:pPr algn="l" eaLnBrk="1" hangingPunct="1">
              <a:lnSpc>
                <a:spcPct val="120000"/>
              </a:lnSpc>
              <a:spcBef>
                <a:spcPct val="0"/>
              </a:spcBef>
              <a:buClrTx/>
              <a:buFontTx/>
              <a:buNone/>
            </a:pPr>
            <a:r>
              <a:rPr kumimoji="0" lang="en-US" altLang="zh-CN" sz="2400" b="0" dirty="0">
                <a:solidFill>
                  <a:srgbClr val="FF0000"/>
                </a:solidFill>
                <a:ea typeface="宋体" panose="02010600030101010101" pitchFamily="2" charset="-122"/>
                <a:cs typeface="Times New Roman" panose="02020603050405020304" pitchFamily="18" charset="0"/>
              </a:rPr>
              <a:t>C</a:t>
            </a:r>
            <a:r>
              <a:rPr kumimoji="0" lang="en-US" altLang="zh-CN" sz="2400" b="0" baseline="-25000" dirty="0">
                <a:solidFill>
                  <a:srgbClr val="FF0000"/>
                </a:solidFill>
                <a:ea typeface="宋体" panose="02010600030101010101" pitchFamily="2" charset="-122"/>
                <a:cs typeface="Times New Roman" panose="02020603050405020304" pitchFamily="18" charset="0"/>
              </a:rPr>
              <a:t>n+4</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a:t>
            </a:r>
            <a:endParaRPr kumimoji="0" lang="en-US" altLang="zh-CN" sz="2400" b="0" baseline="-25000" dirty="0">
              <a:ea typeface="宋体" panose="02010600030101010101" pitchFamily="2" charset="-122"/>
              <a:cs typeface="Times New Roman" panose="02020603050405020304" pitchFamily="18" charset="0"/>
            </a:endParaRPr>
          </a:p>
          <a:p>
            <a:pPr algn="l" eaLnBrk="1" hangingPunct="1">
              <a:lnSpc>
                <a:spcPct val="120000"/>
              </a:lnSpc>
              <a:spcBef>
                <a:spcPct val="0"/>
              </a:spcBef>
              <a:buClrTx/>
              <a:buFontTx/>
              <a:buNone/>
            </a:pPr>
            <a:r>
              <a:rPr kumimoji="0" lang="en-US" altLang="zh-CN" sz="2400" b="0" dirty="0">
                <a:ea typeface="宋体" panose="02010600030101010101" pitchFamily="2" charset="-122"/>
                <a:cs typeface="Times New Roman" panose="02020603050405020304" pitchFamily="18" charset="0"/>
              </a:rPr>
              <a:t>      =</a:t>
            </a:r>
            <a:r>
              <a:rPr kumimoji="0" lang="en-US" altLang="zh-CN" sz="2400" b="0" dirty="0" err="1">
                <a:ea typeface="宋体" panose="02010600030101010101" pitchFamily="2" charset="-122"/>
                <a:cs typeface="Times New Roman" panose="02020603050405020304" pitchFamily="18" charset="0"/>
              </a:rPr>
              <a:t>G+PC</a:t>
            </a:r>
            <a:r>
              <a:rPr kumimoji="0" lang="en-US" altLang="zh-CN" sz="2400" b="0" baseline="-25000" dirty="0" err="1">
                <a:ea typeface="宋体" panose="02010600030101010101" pitchFamily="2" charset="-122"/>
                <a:cs typeface="Times New Roman" panose="02020603050405020304" pitchFamily="18" charset="0"/>
              </a:rPr>
              <a:t>n</a:t>
            </a:r>
            <a:r>
              <a:rPr kumimoji="0" lang="en-US" altLang="zh-CN" sz="2400" b="0" baseline="-25000" dirty="0">
                <a:ea typeface="宋体" panose="02010600030101010101" pitchFamily="2" charset="-122"/>
                <a:cs typeface="Times New Roman" panose="02020603050405020304" pitchFamily="18" charset="0"/>
              </a:rPr>
              <a:t>  </a:t>
            </a:r>
            <a:endParaRPr kumimoji="0" lang="en-US" altLang="zh-CN" sz="2400" b="0" baseline="-25000" dirty="0">
              <a:ea typeface="宋体" panose="02010600030101010101" pitchFamily="2" charset="-122"/>
              <a:cs typeface="Times New Roman" panose="02020603050405020304" pitchFamily="18" charset="0"/>
            </a:endParaRPr>
          </a:p>
          <a:p>
            <a:pPr algn="l" eaLnBrk="1" hangingPunct="1">
              <a:lnSpc>
                <a:spcPct val="120000"/>
              </a:lnSpc>
              <a:spcBef>
                <a:spcPct val="0"/>
              </a:spcBef>
              <a:buClrTx/>
              <a:buFontTx/>
              <a:buNone/>
            </a:pPr>
            <a:r>
              <a:rPr kumimoji="0" lang="zh-CN" altLang="en-US" sz="2400" b="0" dirty="0">
                <a:ea typeface="宋体" panose="02010600030101010101" pitchFamily="2" charset="-122"/>
                <a:cs typeface="Times New Roman" panose="02020603050405020304" pitchFamily="18" charset="0"/>
              </a:rPr>
              <a:t>其中，</a:t>
            </a:r>
            <a:r>
              <a:rPr kumimoji="0" lang="en-US" altLang="zh-CN" sz="2400" b="0" dirty="0">
                <a:ea typeface="宋体" panose="02010600030101010101" pitchFamily="2" charset="-122"/>
                <a:cs typeface="Times New Roman" panose="02020603050405020304" pitchFamily="18" charset="0"/>
              </a:rPr>
              <a:t>G</a:t>
            </a:r>
            <a:r>
              <a:rPr kumimoji="0" lang="zh-CN" altLang="en-US" sz="2400" b="0" dirty="0">
                <a:ea typeface="宋体" panose="02010600030101010101" pitchFamily="2" charset="-122"/>
                <a:cs typeface="Times New Roman" panose="02020603050405020304" pitchFamily="18" charset="0"/>
              </a:rPr>
              <a:t>＝</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zh-CN" altLang="en-US" sz="2400" b="0" dirty="0">
                <a:ea typeface="宋体" panose="02010600030101010101" pitchFamily="2" charset="-122"/>
                <a:cs typeface="Times New Roman" panose="02020603050405020304" pitchFamily="18" charset="0"/>
              </a:rPr>
              <a:t>，</a:t>
            </a:r>
            <a:r>
              <a:rPr kumimoji="0" lang="en-US" altLang="zh-CN" sz="2400" b="0" dirty="0">
                <a:ea typeface="宋体" panose="02010600030101010101" pitchFamily="2" charset="-122"/>
                <a:cs typeface="Times New Roman" panose="02020603050405020304" pitchFamily="18" charset="0"/>
              </a:rPr>
              <a:t>P=X</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endParaRPr kumimoji="0" lang="en-US" altLang="zh-CN" sz="2400" b="0" dirty="0">
              <a:ea typeface="宋体" panose="02010600030101010101" pitchFamily="2" charset="-122"/>
              <a:cs typeface="Times New Roman" panose="02020603050405020304" pitchFamily="18" charset="0"/>
            </a:endParaRPr>
          </a:p>
        </p:txBody>
      </p:sp>
      <p:sp>
        <p:nvSpPr>
          <p:cNvPr id="80901" name="Text Box 5"/>
          <p:cNvSpPr txBox="1">
            <a:spLocks noChangeArrowheads="1"/>
          </p:cNvSpPr>
          <p:nvPr/>
        </p:nvSpPr>
        <p:spPr bwMode="auto">
          <a:xfrm>
            <a:off x="1066800" y="5257800"/>
            <a:ext cx="6880225" cy="854075"/>
          </a:xfrm>
          <a:prstGeom prst="rect">
            <a:avLst/>
          </a:prstGeom>
          <a:noFill/>
          <a:ln w="25400" algn="ctr">
            <a:solidFill>
              <a:srgbClr val="00F7F7"/>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Tx/>
              <a:buNone/>
            </a:pPr>
            <a:r>
              <a:rPr kumimoji="0" lang="zh-CN" altLang="en-US" sz="2400" dirty="0">
                <a:solidFill>
                  <a:srgbClr val="CC3300"/>
                </a:solidFill>
                <a:latin typeface="楷体" panose="02010609060101010101" pitchFamily="49" charset="-122"/>
                <a:ea typeface="楷体" panose="02010609060101010101" pitchFamily="49" charset="-122"/>
              </a:rPr>
              <a:t>从上式可以看出：第</a:t>
            </a:r>
            <a:r>
              <a:rPr kumimoji="0" lang="en-US" altLang="zh-CN" sz="2400" dirty="0">
                <a:solidFill>
                  <a:srgbClr val="CC3300"/>
                </a:solidFill>
                <a:latin typeface="楷体" panose="02010609060101010101" pitchFamily="49" charset="-122"/>
                <a:ea typeface="楷体" panose="02010609060101010101" pitchFamily="49" charset="-122"/>
              </a:rPr>
              <a:t>0</a:t>
            </a:r>
            <a:r>
              <a:rPr kumimoji="0" lang="zh-CN" altLang="en-US" sz="2400" dirty="0">
                <a:solidFill>
                  <a:srgbClr val="CC3300"/>
                </a:solidFill>
                <a:latin typeface="楷体" panose="02010609060101010101" pitchFamily="49" charset="-122"/>
                <a:ea typeface="楷体" panose="02010609060101010101" pitchFamily="49" charset="-122"/>
              </a:rPr>
              <a:t>位的进位输入</a:t>
            </a:r>
            <a:r>
              <a:rPr kumimoji="0" lang="en-US" altLang="zh-CN" sz="2400" dirty="0">
                <a:solidFill>
                  <a:srgbClr val="CC3300"/>
                </a:solidFill>
                <a:latin typeface="楷体" panose="02010609060101010101" pitchFamily="49" charset="-122"/>
                <a:ea typeface="楷体" panose="02010609060101010101" pitchFamily="49" charset="-122"/>
              </a:rPr>
              <a:t>C</a:t>
            </a:r>
            <a:r>
              <a:rPr kumimoji="0" lang="en-US" altLang="zh-CN" sz="2400" baseline="-25000" dirty="0">
                <a:solidFill>
                  <a:srgbClr val="CC3300"/>
                </a:solidFill>
                <a:latin typeface="楷体" panose="02010609060101010101" pitchFamily="49" charset="-122"/>
                <a:ea typeface="楷体" panose="02010609060101010101" pitchFamily="49" charset="-122"/>
              </a:rPr>
              <a:t>n</a:t>
            </a:r>
            <a:r>
              <a:rPr kumimoji="0" lang="zh-CN" altLang="en-US" sz="2400" dirty="0">
                <a:solidFill>
                  <a:srgbClr val="CC3300"/>
                </a:solidFill>
                <a:latin typeface="楷体" panose="02010609060101010101" pitchFamily="49" charset="-122"/>
                <a:ea typeface="楷体" panose="02010609060101010101" pitchFamily="49" charset="-122"/>
              </a:rPr>
              <a:t>可以直接传</a:t>
            </a:r>
            <a:endParaRPr kumimoji="0" lang="zh-CN" altLang="en-US" sz="2400" dirty="0">
              <a:solidFill>
                <a:srgbClr val="CC3300"/>
              </a:solidFill>
              <a:latin typeface="楷体" panose="02010609060101010101" pitchFamily="49" charset="-122"/>
              <a:ea typeface="楷体" panose="02010609060101010101" pitchFamily="49" charset="-122"/>
            </a:endParaRPr>
          </a:p>
          <a:p>
            <a:pPr algn="l" eaLnBrk="1" hangingPunct="1">
              <a:spcBef>
                <a:spcPct val="0"/>
              </a:spcBef>
              <a:buClrTx/>
              <a:buFontTx/>
              <a:buNone/>
            </a:pPr>
            <a:r>
              <a:rPr kumimoji="0" lang="zh-CN" altLang="en-US" sz="2400" dirty="0">
                <a:solidFill>
                  <a:srgbClr val="CC3300"/>
                </a:solidFill>
                <a:latin typeface="楷体" panose="02010609060101010101" pitchFamily="49" charset="-122"/>
                <a:ea typeface="楷体" panose="02010609060101010101" pitchFamily="49" charset="-122"/>
              </a:rPr>
              <a:t>送到最高进位位上去，从而实现高速运算</a:t>
            </a:r>
            <a:endParaRPr kumimoji="0" lang="zh-CN" altLang="en-US" sz="2400" dirty="0">
              <a:solidFill>
                <a:srgbClr val="CC3300"/>
              </a:solidFill>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Rectangle 2"/>
          <p:cNvSpPr>
            <a:spLocks noGrp="1" noChangeArrowheads="1"/>
          </p:cNvSpPr>
          <p:nvPr>
            <p:ph type="title"/>
          </p:nvPr>
        </p:nvSpPr>
        <p:spPr/>
        <p:txBody>
          <a:bodyPr/>
          <a:lstStyle/>
          <a:p>
            <a:pPr eaLnBrk="1" hangingPunct="1"/>
            <a:r>
              <a:rPr lang="en-US" altLang="zh-CN"/>
              <a:t>4</a:t>
            </a:r>
            <a:r>
              <a:rPr lang="zh-CN" altLang="en-US"/>
              <a:t>位算术</a:t>
            </a:r>
            <a:r>
              <a:rPr lang="en-US" altLang="zh-CN"/>
              <a:t>/</a:t>
            </a:r>
            <a:r>
              <a:rPr lang="zh-CN" altLang="en-US"/>
              <a:t>逻辑运算单元实例</a:t>
            </a:r>
            <a:endParaRPr lang="zh-CN" altLang="en-US"/>
          </a:p>
        </p:txBody>
      </p:sp>
      <p:sp>
        <p:nvSpPr>
          <p:cNvPr id="82946" name="Rectangle 3"/>
          <p:cNvSpPr>
            <a:spLocks noGrp="1" noChangeArrowheads="1"/>
          </p:cNvSpPr>
          <p:nvPr>
            <p:ph idx="1"/>
          </p:nvPr>
        </p:nvSpPr>
        <p:spPr/>
        <p:txBody>
          <a:bodyPr/>
          <a:lstStyle/>
          <a:p>
            <a:pPr eaLnBrk="1" hangingPunct="1"/>
            <a:r>
              <a:rPr lang="en-US" altLang="zh-CN" dirty="0"/>
              <a:t>74181</a:t>
            </a:r>
            <a:endParaRPr lang="en-US" altLang="zh-CN" dirty="0"/>
          </a:p>
        </p:txBody>
      </p:sp>
      <p:pic>
        <p:nvPicPr>
          <p:cNvPr id="82948" name="Picture 5" descr="图片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1050" y="1916113"/>
            <a:ext cx="4970463" cy="354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4" name="Rectangle 2"/>
          <p:cNvSpPr>
            <a:spLocks noGrp="1" noChangeArrowheads="1"/>
          </p:cNvSpPr>
          <p:nvPr>
            <p:ph type="title"/>
          </p:nvPr>
        </p:nvSpPr>
        <p:spPr/>
        <p:txBody>
          <a:bodyPr/>
          <a:lstStyle/>
          <a:p>
            <a:pPr eaLnBrk="1" hangingPunct="1">
              <a:defRPr/>
            </a:pPr>
            <a:r>
              <a:rPr lang="en-US" altLang="zh-CN"/>
              <a:t>74181ALU</a:t>
            </a:r>
            <a:r>
              <a:rPr lang="zh-CN" altLang="en-US"/>
              <a:t>逻辑图</a:t>
            </a:r>
            <a:endParaRPr lang="zh-CN" altLang="en-US"/>
          </a:p>
        </p:txBody>
      </p:sp>
      <p:sp>
        <p:nvSpPr>
          <p:cNvPr id="83970" name="Rectangle 3"/>
          <p:cNvSpPr>
            <a:spLocks noGrp="1" noChangeArrowheads="1"/>
          </p:cNvSpPr>
          <p:nvPr>
            <p:ph idx="1"/>
          </p:nvPr>
        </p:nvSpPr>
        <p:spPr/>
        <p:txBody>
          <a:bodyPr/>
          <a:lstStyle/>
          <a:p>
            <a:pPr eaLnBrk="1" hangingPunct="1"/>
            <a:endParaRPr lang="zh-CN" altLang="zh-CN"/>
          </a:p>
        </p:txBody>
      </p:sp>
      <p:pic>
        <p:nvPicPr>
          <p:cNvPr id="83972" name="Picture 4"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9255" y="1097614"/>
            <a:ext cx="8351837"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3" name="Rectangle 5"/>
          <p:cNvSpPr>
            <a:spLocks noChangeArrowheads="1"/>
          </p:cNvSpPr>
          <p:nvPr/>
        </p:nvSpPr>
        <p:spPr bwMode="auto">
          <a:xfrm>
            <a:off x="6227763" y="4003675"/>
            <a:ext cx="1584325" cy="1873250"/>
          </a:xfrm>
          <a:prstGeom prst="rect">
            <a:avLst/>
          </a:prstGeom>
          <a:noFill/>
          <a:ln w="25400">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3974" name="Rectangle 6"/>
          <p:cNvSpPr>
            <a:spLocks noChangeArrowheads="1"/>
          </p:cNvSpPr>
          <p:nvPr/>
        </p:nvSpPr>
        <p:spPr bwMode="auto">
          <a:xfrm>
            <a:off x="1476375" y="3932238"/>
            <a:ext cx="1584325" cy="1873250"/>
          </a:xfrm>
          <a:prstGeom prst="rect">
            <a:avLst/>
          </a:prstGeom>
          <a:noFill/>
          <a:ln w="25400">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3975" name="Rectangle 7"/>
          <p:cNvSpPr>
            <a:spLocks noChangeArrowheads="1"/>
          </p:cNvSpPr>
          <p:nvPr/>
        </p:nvSpPr>
        <p:spPr bwMode="auto">
          <a:xfrm>
            <a:off x="7164388" y="1771650"/>
            <a:ext cx="1439862" cy="1873250"/>
          </a:xfrm>
          <a:prstGeom prst="rect">
            <a:avLst/>
          </a:prstGeom>
          <a:noFill/>
          <a:ln w="25400">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3976" name="Text Box 8"/>
          <p:cNvSpPr txBox="1">
            <a:spLocks noChangeArrowheads="1"/>
          </p:cNvSpPr>
          <p:nvPr/>
        </p:nvSpPr>
        <p:spPr bwMode="auto">
          <a:xfrm>
            <a:off x="6627813" y="1412875"/>
            <a:ext cx="2165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
                <a:schemeClr val="accent2"/>
              </a:buClr>
              <a:buSzPct val="90000"/>
              <a:buFont typeface="Wingdings" panose="05000000000000000000" pitchFamily="2" charset="2"/>
              <a:buNone/>
            </a:pPr>
            <a:r>
              <a:rPr kumimoji="0" lang="en-US" altLang="zh-CN" sz="2000">
                <a:solidFill>
                  <a:srgbClr val="000099"/>
                </a:solidFill>
                <a:latin typeface="Verdana" panose="020B0604030504040204" pitchFamily="34" charset="0"/>
              </a:rPr>
              <a:t>F</a:t>
            </a:r>
            <a:r>
              <a:rPr kumimoji="0" lang="en-US" altLang="zh-CN" sz="2000" baseline="-25000">
                <a:solidFill>
                  <a:srgbClr val="000099"/>
                </a:solidFill>
                <a:latin typeface="Verdana" panose="020B0604030504040204" pitchFamily="34" charset="0"/>
              </a:rPr>
              <a:t>i</a:t>
            </a:r>
            <a:r>
              <a:rPr kumimoji="0" lang="zh-CN" altLang="en-US" sz="2000">
                <a:solidFill>
                  <a:srgbClr val="000099"/>
                </a:solidFill>
                <a:latin typeface="Verdana" panose="020B0604030504040204" pitchFamily="34" charset="0"/>
              </a:rPr>
              <a:t>＝</a:t>
            </a:r>
            <a:r>
              <a:rPr kumimoji="0" lang="en-US" altLang="zh-CN" sz="2000">
                <a:solidFill>
                  <a:srgbClr val="000099"/>
                </a:solidFill>
                <a:latin typeface="Verdana" panose="020B0604030504040204" pitchFamily="34" charset="0"/>
              </a:rPr>
              <a:t>X</a:t>
            </a:r>
            <a:r>
              <a:rPr kumimoji="0" lang="en-US" altLang="zh-CN" sz="2000" baseline="-25000">
                <a:solidFill>
                  <a:srgbClr val="000099"/>
                </a:solidFill>
                <a:latin typeface="Verdana" panose="020B0604030504040204" pitchFamily="34" charset="0"/>
              </a:rPr>
              <a:t>i</a:t>
            </a:r>
            <a:r>
              <a:rPr kumimoji="0" lang="en-US" altLang="zh-CN" sz="2000">
                <a:solidFill>
                  <a:srgbClr val="000099"/>
                </a:solidFill>
                <a:latin typeface="Verdana" panose="020B0604030504040204" pitchFamily="34" charset="0"/>
              </a:rPr>
              <a:t>⊕Y</a:t>
            </a:r>
            <a:r>
              <a:rPr kumimoji="0" lang="en-US" altLang="zh-CN" sz="2000" baseline="-25000">
                <a:solidFill>
                  <a:srgbClr val="000099"/>
                </a:solidFill>
                <a:latin typeface="Verdana" panose="020B0604030504040204" pitchFamily="34" charset="0"/>
              </a:rPr>
              <a:t>i</a:t>
            </a:r>
            <a:r>
              <a:rPr kumimoji="0" lang="en-US" altLang="zh-CN" sz="2000">
                <a:solidFill>
                  <a:srgbClr val="000099"/>
                </a:solidFill>
                <a:latin typeface="Verdana" panose="020B0604030504040204" pitchFamily="34" charset="0"/>
              </a:rPr>
              <a:t>⊕C</a:t>
            </a:r>
            <a:r>
              <a:rPr kumimoji="0" lang="en-US" altLang="zh-CN" sz="2000" baseline="-25000">
                <a:solidFill>
                  <a:srgbClr val="000099"/>
                </a:solidFill>
                <a:latin typeface="Verdana" panose="020B0604030504040204" pitchFamily="34" charset="0"/>
              </a:rPr>
              <a:t>n+i</a:t>
            </a:r>
            <a:endParaRPr kumimoji="0" lang="en-US" altLang="zh-CN" sz="2000" baseline="-25000">
              <a:solidFill>
                <a:srgbClr val="000099"/>
              </a:solidFill>
              <a:latin typeface="Verdana" panose="020B0604030504040204" pitchFamily="34" charset="0"/>
            </a:endParaRPr>
          </a:p>
        </p:txBody>
      </p:sp>
    </p:spTree>
  </p:cSld>
  <p:clrMapOvr>
    <a:masterClrMapping/>
  </p:clrMapOvr>
  <p:transition spd="med">
    <p:pull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8" name="Rectangle 2"/>
          <p:cNvSpPr>
            <a:spLocks noGrp="1" noChangeArrowheads="1"/>
          </p:cNvSpPr>
          <p:nvPr>
            <p:ph type="title"/>
          </p:nvPr>
        </p:nvSpPr>
        <p:spPr/>
        <p:txBody>
          <a:bodyPr/>
          <a:lstStyle/>
          <a:p>
            <a:pPr eaLnBrk="1" hangingPunct="1"/>
            <a:r>
              <a:rPr lang="zh-CN" altLang="en-US"/>
              <a:t>算术逻辑运算的实现</a:t>
            </a:r>
            <a:endParaRPr lang="zh-CN" altLang="en-US"/>
          </a:p>
        </p:txBody>
      </p:sp>
      <p:sp>
        <p:nvSpPr>
          <p:cNvPr id="84994" name="Rectangle 3"/>
          <p:cNvSpPr>
            <a:spLocks noGrp="1" noChangeArrowheads="1"/>
          </p:cNvSpPr>
          <p:nvPr>
            <p:ph idx="1"/>
          </p:nvPr>
        </p:nvSpPr>
        <p:spPr/>
        <p:txBody>
          <a:bodyPr/>
          <a:lstStyle/>
          <a:p>
            <a:pPr eaLnBrk="1" hangingPunct="1"/>
            <a:r>
              <a:rPr lang="en-US" altLang="zh-CN" dirty="0"/>
              <a:t>M=L</a:t>
            </a:r>
            <a:r>
              <a:rPr lang="zh-CN" altLang="en-US" dirty="0"/>
              <a:t>时，对进位信号没有影响，做算术运算</a:t>
            </a:r>
            <a:endParaRPr lang="zh-CN" altLang="en-US" dirty="0"/>
          </a:p>
          <a:p>
            <a:pPr eaLnBrk="1" hangingPunct="1"/>
            <a:r>
              <a:rPr lang="en-US" altLang="zh-CN" dirty="0"/>
              <a:t>M=H</a:t>
            </a:r>
            <a:r>
              <a:rPr lang="zh-CN" altLang="en-US" dirty="0"/>
              <a:t>时，进位位门被封锁，做逻辑运算</a:t>
            </a:r>
            <a:endParaRPr lang="zh-CN" altLang="en-US" dirty="0"/>
          </a:p>
          <a:p>
            <a:pPr eaLnBrk="1" hangingPunct="1">
              <a:lnSpc>
                <a:spcPct val="75000"/>
              </a:lnSpc>
            </a:pPr>
            <a:r>
              <a:rPr lang="zh-CN" altLang="en-US" dirty="0"/>
              <a:t>说明：</a:t>
            </a:r>
            <a:endParaRPr lang="zh-CN" altLang="en-US" dirty="0"/>
          </a:p>
          <a:p>
            <a:pPr lvl="1" eaLnBrk="1" hangingPunct="1"/>
            <a:r>
              <a:rPr lang="en-US" altLang="zh-CN" dirty="0"/>
              <a:t>A=B</a:t>
            </a:r>
            <a:r>
              <a:rPr lang="zh-CN" altLang="en-US" dirty="0"/>
              <a:t>端可以判断两个数是否相等</a:t>
            </a:r>
            <a:endParaRPr lang="zh-CN" altLang="en-US" dirty="0"/>
          </a:p>
        </p:txBody>
      </p:sp>
    </p:spTree>
  </p:cSld>
  <p:clrMapOvr>
    <a:masterClrMapping/>
  </p:clrMapOvr>
  <p:transition spd="med">
    <p:pull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42" name="Rectangle 2"/>
          <p:cNvSpPr>
            <a:spLocks noGrp="1" noChangeArrowheads="1"/>
          </p:cNvSpPr>
          <p:nvPr>
            <p:ph type="title"/>
          </p:nvPr>
        </p:nvSpPr>
        <p:spPr/>
        <p:txBody>
          <a:bodyPr/>
          <a:lstStyle/>
          <a:p>
            <a:pPr eaLnBrk="1" hangingPunct="1"/>
            <a:r>
              <a:rPr lang="zh-CN" altLang="en-US"/>
              <a:t>设计一个</a:t>
            </a:r>
            <a:r>
              <a:rPr lang="en-US" altLang="zh-CN"/>
              <a:t>16</a:t>
            </a:r>
            <a:r>
              <a:rPr lang="zh-CN" altLang="en-US"/>
              <a:t>位</a:t>
            </a:r>
            <a:r>
              <a:rPr lang="en-US" altLang="zh-CN"/>
              <a:t>ALU</a:t>
            </a:r>
            <a:endParaRPr lang="en-US" altLang="zh-CN"/>
          </a:p>
        </p:txBody>
      </p:sp>
      <p:sp>
        <p:nvSpPr>
          <p:cNvPr id="86018" name="Rectangle 3"/>
          <p:cNvSpPr>
            <a:spLocks noGrp="1" noChangeArrowheads="1"/>
          </p:cNvSpPr>
          <p:nvPr>
            <p:ph idx="1"/>
          </p:nvPr>
        </p:nvSpPr>
        <p:spPr/>
        <p:txBody>
          <a:bodyPr/>
          <a:lstStyle/>
          <a:p>
            <a:pPr eaLnBrk="1" hangingPunct="1"/>
            <a:r>
              <a:rPr lang="zh-CN" altLang="en-US" sz="3000" dirty="0"/>
              <a:t>片内先行进位，片间串行进位</a:t>
            </a:r>
            <a:endParaRPr lang="zh-CN" altLang="en-US" dirty="0"/>
          </a:p>
        </p:txBody>
      </p:sp>
      <p:sp>
        <p:nvSpPr>
          <p:cNvPr id="86020" name="Text Box 6"/>
          <p:cNvSpPr txBox="1">
            <a:spLocks noChangeArrowheads="1"/>
          </p:cNvSpPr>
          <p:nvPr/>
        </p:nvSpPr>
        <p:spPr bwMode="auto">
          <a:xfrm>
            <a:off x="1835150" y="5573713"/>
            <a:ext cx="5899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800" dirty="0">
                <a:solidFill>
                  <a:srgbClr val="C00000"/>
                </a:solidFill>
                <a:latin typeface="楷体" panose="02010609060101010101" pitchFamily="49" charset="-122"/>
                <a:ea typeface="楷体" panose="02010609060101010101" pitchFamily="49" charset="-122"/>
              </a:rPr>
              <a:t>片间串行进位是否可以进一步改进？</a:t>
            </a:r>
            <a:endParaRPr lang="zh-CN" altLang="en-US" sz="2800" dirty="0">
              <a:solidFill>
                <a:srgbClr val="C00000"/>
              </a:solidFill>
              <a:latin typeface="楷体" panose="02010609060101010101" pitchFamily="49" charset="-122"/>
              <a:ea typeface="楷体" panose="02010609060101010101" pitchFamily="49" charset="-122"/>
            </a:endParaRPr>
          </a:p>
        </p:txBody>
      </p:sp>
      <p:pic>
        <p:nvPicPr>
          <p:cNvPr id="86021" name="Picture 4" descr="/D:/jinerwork/组成/白中英版改编/visio/2.5_2.jpg"/>
          <p:cNvPicPr>
            <a:picLocks noChangeAspect="1" noChangeArrowheads="1"/>
          </p:cNvPicPr>
          <p:nvPr/>
        </p:nvPicPr>
        <p:blipFill>
          <a:blip r:embed="rId1" r:link="rId2">
            <a:extLst>
              <a:ext uri="{28A0092B-C50C-407E-A947-70E740481C1C}">
                <a14:useLocalDpi xmlns:a14="http://schemas.microsoft.com/office/drawing/2010/main" val="0"/>
              </a:ext>
            </a:extLst>
          </a:blip>
          <a:srcRect/>
          <a:stretch>
            <a:fillRect/>
          </a:stretch>
        </p:blipFill>
        <p:spPr bwMode="auto">
          <a:xfrm>
            <a:off x="323850" y="1700213"/>
            <a:ext cx="8591550"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066" name="Rectangle 2"/>
          <p:cNvSpPr>
            <a:spLocks noGrp="1" noChangeArrowheads="1"/>
          </p:cNvSpPr>
          <p:nvPr>
            <p:ph type="title"/>
          </p:nvPr>
        </p:nvSpPr>
        <p:spPr/>
        <p:txBody>
          <a:bodyPr/>
          <a:lstStyle/>
          <a:p>
            <a:pPr algn="l" eaLnBrk="1" hangingPunct="1"/>
            <a:r>
              <a:rPr lang="zh-CN" altLang="en-US"/>
              <a:t>改进   两级先行进位</a:t>
            </a:r>
            <a:r>
              <a:rPr lang="en-US" altLang="zh-CN"/>
              <a:t>16</a:t>
            </a:r>
            <a:r>
              <a:rPr lang="zh-CN" altLang="en-US"/>
              <a:t>位</a:t>
            </a:r>
            <a:r>
              <a:rPr lang="en-US" altLang="zh-CN"/>
              <a:t>ALU</a:t>
            </a:r>
            <a:endParaRPr lang="en-US" altLang="zh-CN"/>
          </a:p>
        </p:txBody>
      </p:sp>
      <p:sp>
        <p:nvSpPr>
          <p:cNvPr id="87042" name="Rectangle 3"/>
          <p:cNvSpPr>
            <a:spLocks noGrp="1" noChangeArrowheads="1"/>
          </p:cNvSpPr>
          <p:nvPr>
            <p:ph idx="1"/>
          </p:nvPr>
        </p:nvSpPr>
        <p:spPr/>
        <p:txBody>
          <a:bodyPr/>
          <a:lstStyle/>
          <a:p>
            <a:pPr eaLnBrk="1" hangingPunct="1"/>
            <a:r>
              <a:rPr lang="en-US" altLang="zh-CN" dirty="0"/>
              <a:t>74181ALU</a:t>
            </a:r>
            <a:r>
              <a:rPr lang="zh-CN" altLang="en-US" dirty="0"/>
              <a:t>已设置了</a:t>
            </a:r>
            <a:r>
              <a:rPr lang="en-US" altLang="zh-CN" dirty="0"/>
              <a:t>P</a:t>
            </a:r>
            <a:r>
              <a:rPr lang="zh-CN" altLang="en-US" dirty="0"/>
              <a:t>和</a:t>
            </a:r>
            <a:r>
              <a:rPr lang="en-US" altLang="zh-CN" dirty="0"/>
              <a:t>G</a:t>
            </a:r>
            <a:r>
              <a:rPr lang="zh-CN" altLang="en-US" dirty="0"/>
              <a:t>两个本组先行进位输出端</a:t>
            </a:r>
            <a:endParaRPr lang="zh-CN" altLang="en-US" dirty="0"/>
          </a:p>
          <a:p>
            <a:pPr eaLnBrk="1" hangingPunct="1"/>
            <a:r>
              <a:rPr lang="zh-CN" altLang="en-US" dirty="0"/>
              <a:t>将</a:t>
            </a:r>
            <a:r>
              <a:rPr lang="en-US" altLang="zh-CN" dirty="0"/>
              <a:t>4</a:t>
            </a:r>
            <a:r>
              <a:rPr lang="zh-CN" altLang="en-US" dirty="0"/>
              <a:t>片</a:t>
            </a:r>
            <a:r>
              <a:rPr lang="en-US" altLang="zh-CN" dirty="0"/>
              <a:t>74181</a:t>
            </a:r>
            <a:r>
              <a:rPr lang="zh-CN" altLang="en-US" dirty="0"/>
              <a:t>的</a:t>
            </a:r>
            <a:r>
              <a:rPr lang="en-US" altLang="zh-CN" dirty="0"/>
              <a:t>P</a:t>
            </a:r>
            <a:r>
              <a:rPr lang="zh-CN" altLang="en-US" dirty="0"/>
              <a:t>、</a:t>
            </a:r>
            <a:r>
              <a:rPr lang="en-US" altLang="zh-CN" dirty="0"/>
              <a:t>G</a:t>
            </a:r>
            <a:r>
              <a:rPr lang="zh-CN" altLang="en-US" dirty="0"/>
              <a:t>输出端送入到</a:t>
            </a:r>
            <a:r>
              <a:rPr lang="en-US" altLang="zh-CN" dirty="0"/>
              <a:t>74182</a:t>
            </a:r>
            <a:r>
              <a:rPr lang="zh-CN" altLang="en-US" dirty="0"/>
              <a:t>先行进位部件（</a:t>
            </a:r>
            <a:r>
              <a:rPr lang="en-US" altLang="zh-CN" dirty="0"/>
              <a:t>CLA</a:t>
            </a:r>
            <a:r>
              <a:rPr lang="zh-CN" altLang="en-US" dirty="0"/>
              <a:t>），实现第二级的先行进位，即组与组之间的先行进位</a:t>
            </a:r>
            <a:endParaRPr lang="zh-CN" altLang="en-US" dirty="0"/>
          </a:p>
        </p:txBody>
      </p:sp>
    </p:spTree>
  </p:cSld>
  <p:clrMapOvr>
    <a:masterClrMapping/>
  </p:clrMapOvr>
  <p:transition spd="med">
    <p:pull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090" name="Rectangle 2"/>
          <p:cNvSpPr>
            <a:spLocks noGrp="1" noChangeArrowheads="1"/>
          </p:cNvSpPr>
          <p:nvPr>
            <p:ph type="title"/>
          </p:nvPr>
        </p:nvSpPr>
        <p:spPr/>
        <p:txBody>
          <a:bodyPr/>
          <a:lstStyle/>
          <a:p>
            <a:pPr eaLnBrk="1" hangingPunct="1"/>
            <a:r>
              <a:rPr lang="en-US" altLang="zh-CN"/>
              <a:t>74182CLA</a:t>
            </a:r>
            <a:r>
              <a:rPr lang="zh-CN" altLang="en-US"/>
              <a:t>的进位逻辑关系</a:t>
            </a:r>
            <a:endParaRPr lang="zh-CN" altLang="en-US"/>
          </a:p>
        </p:txBody>
      </p:sp>
      <p:sp>
        <p:nvSpPr>
          <p:cNvPr id="88066" name="Rectangle 3"/>
          <p:cNvSpPr>
            <a:spLocks noGrp="1" noChangeArrowheads="1"/>
          </p:cNvSpPr>
          <p:nvPr>
            <p:ph idx="1"/>
          </p:nvPr>
        </p:nvSpPr>
        <p:spPr/>
        <p:txBody>
          <a:bodyPr/>
          <a:lstStyle/>
          <a:p>
            <a:pPr lvl="1" eaLnBrk="1" hangingPunct="1">
              <a:buFont typeface="Wingdings" panose="05000000000000000000" pitchFamily="2" charset="2"/>
              <a:buNone/>
            </a:pPr>
            <a:r>
              <a:rPr lang="en-US" altLang="zh-CN" b="0" dirty="0" err="1"/>
              <a:t>C</a:t>
            </a:r>
            <a:r>
              <a:rPr lang="en-US" altLang="zh-CN" b="0" baseline="-25000" dirty="0" err="1"/>
              <a:t>n+x</a:t>
            </a:r>
            <a:r>
              <a:rPr lang="en-US" altLang="zh-CN" b="0" dirty="0"/>
              <a:t>=G</a:t>
            </a:r>
            <a:r>
              <a:rPr lang="en-US" altLang="zh-CN" b="0" baseline="-25000" dirty="0"/>
              <a:t>0</a:t>
            </a:r>
            <a:r>
              <a:rPr lang="en-US" altLang="zh-CN" b="0" dirty="0"/>
              <a:t>+P</a:t>
            </a:r>
            <a:r>
              <a:rPr lang="en-US" altLang="zh-CN" b="0" baseline="-25000" dirty="0"/>
              <a:t>0</a:t>
            </a:r>
            <a:r>
              <a:rPr lang="en-US" altLang="zh-CN" b="0" dirty="0"/>
              <a:t>C</a:t>
            </a:r>
            <a:r>
              <a:rPr lang="en-US" altLang="zh-CN" b="0" baseline="-25000" dirty="0"/>
              <a:t>n                        </a:t>
            </a:r>
            <a:endParaRPr lang="en-US" altLang="zh-CN" b="0" baseline="-25000" dirty="0"/>
          </a:p>
          <a:p>
            <a:pPr lvl="1" eaLnBrk="1" hangingPunct="1">
              <a:buFont typeface="Wingdings" panose="05000000000000000000" pitchFamily="2" charset="2"/>
              <a:buNone/>
            </a:pPr>
            <a:r>
              <a:rPr lang="en-US" altLang="zh-CN" b="0" dirty="0" err="1"/>
              <a:t>C</a:t>
            </a:r>
            <a:r>
              <a:rPr lang="en-US" altLang="zh-CN" b="0" baseline="-25000" dirty="0" err="1"/>
              <a:t>n+y</a:t>
            </a:r>
            <a:r>
              <a:rPr lang="en-US" altLang="zh-CN" b="0" dirty="0"/>
              <a:t>=G</a:t>
            </a:r>
            <a:r>
              <a:rPr lang="en-US" altLang="zh-CN" b="0" baseline="-25000" dirty="0"/>
              <a:t>1</a:t>
            </a:r>
            <a:r>
              <a:rPr lang="en-US" altLang="zh-CN" b="0" dirty="0"/>
              <a:t>+P</a:t>
            </a:r>
            <a:r>
              <a:rPr lang="en-US" altLang="zh-CN" b="0" baseline="-25000" dirty="0"/>
              <a:t>1</a:t>
            </a:r>
            <a:r>
              <a:rPr lang="en-US" altLang="zh-CN" b="0" dirty="0"/>
              <a:t>C</a:t>
            </a:r>
            <a:r>
              <a:rPr lang="en-US" altLang="zh-CN" b="0" baseline="-25000" dirty="0"/>
              <a:t>n+x</a:t>
            </a:r>
            <a:r>
              <a:rPr lang="en-US" altLang="zh-CN" b="0" dirty="0"/>
              <a:t>=G</a:t>
            </a:r>
            <a:r>
              <a:rPr lang="en-US" altLang="zh-CN" b="0" baseline="-25000" dirty="0"/>
              <a:t>1</a:t>
            </a:r>
            <a:r>
              <a:rPr lang="en-US" altLang="zh-CN" b="0" dirty="0"/>
              <a:t>+G</a:t>
            </a:r>
            <a:r>
              <a:rPr lang="en-US" altLang="zh-CN" b="0" baseline="-25000" dirty="0"/>
              <a:t>0</a:t>
            </a:r>
            <a:r>
              <a:rPr lang="en-US" altLang="zh-CN" b="0" dirty="0"/>
              <a:t>P</a:t>
            </a:r>
            <a:r>
              <a:rPr lang="en-US" altLang="zh-CN" b="0" baseline="-25000" dirty="0"/>
              <a:t>1</a:t>
            </a:r>
            <a:r>
              <a:rPr lang="en-US" altLang="zh-CN" b="0" dirty="0"/>
              <a:t>+P</a:t>
            </a:r>
            <a:r>
              <a:rPr lang="en-US" altLang="zh-CN" b="0" baseline="-25000" dirty="0"/>
              <a:t>0</a:t>
            </a:r>
            <a:r>
              <a:rPr lang="en-US" altLang="zh-CN" b="0" dirty="0"/>
              <a:t>P</a:t>
            </a:r>
            <a:r>
              <a:rPr lang="en-US" altLang="zh-CN" b="0" baseline="-25000" dirty="0"/>
              <a:t>1</a:t>
            </a:r>
            <a:r>
              <a:rPr lang="en-US" altLang="zh-CN" b="0" dirty="0"/>
              <a:t>C</a:t>
            </a:r>
            <a:r>
              <a:rPr lang="en-US" altLang="zh-CN" b="0" baseline="-25000" dirty="0"/>
              <a:t>n</a:t>
            </a:r>
            <a:endParaRPr lang="en-US" altLang="zh-CN" b="0" baseline="-25000" dirty="0"/>
          </a:p>
          <a:p>
            <a:pPr lvl="1" eaLnBrk="1" hangingPunct="1">
              <a:buFont typeface="Wingdings" panose="05000000000000000000" pitchFamily="2" charset="2"/>
              <a:buNone/>
            </a:pPr>
            <a:r>
              <a:rPr lang="en-US" altLang="zh-CN" b="0" dirty="0" err="1"/>
              <a:t>C</a:t>
            </a:r>
            <a:r>
              <a:rPr lang="en-US" altLang="zh-CN" b="0" baseline="-25000" dirty="0" err="1"/>
              <a:t>n+z</a:t>
            </a:r>
            <a:r>
              <a:rPr lang="en-US" altLang="zh-CN" b="0" dirty="0"/>
              <a:t>=G</a:t>
            </a:r>
            <a:r>
              <a:rPr lang="en-US" altLang="zh-CN" b="0" baseline="-25000" dirty="0"/>
              <a:t>2</a:t>
            </a:r>
            <a:r>
              <a:rPr lang="en-US" altLang="zh-CN" b="0" dirty="0"/>
              <a:t>+P</a:t>
            </a:r>
            <a:r>
              <a:rPr lang="en-US" altLang="zh-CN" b="0" baseline="-25000" dirty="0"/>
              <a:t>2</a:t>
            </a:r>
            <a:r>
              <a:rPr lang="en-US" altLang="zh-CN" b="0" dirty="0"/>
              <a:t>C</a:t>
            </a:r>
            <a:r>
              <a:rPr lang="en-US" altLang="zh-CN" b="0" baseline="-25000" dirty="0"/>
              <a:t>n+y</a:t>
            </a:r>
            <a:endParaRPr lang="en-US" altLang="zh-CN" b="0" baseline="-25000" dirty="0"/>
          </a:p>
          <a:p>
            <a:pPr lvl="1" eaLnBrk="1" hangingPunct="1">
              <a:buFont typeface="Wingdings" panose="05000000000000000000" pitchFamily="2" charset="2"/>
              <a:buNone/>
            </a:pPr>
            <a:r>
              <a:rPr lang="en-US" altLang="zh-CN" b="0" baseline="-25000" dirty="0"/>
              <a:t>         </a:t>
            </a:r>
            <a:r>
              <a:rPr lang="en-US" altLang="zh-CN" b="0" dirty="0"/>
              <a:t>=G</a:t>
            </a:r>
            <a:r>
              <a:rPr lang="en-US" altLang="zh-CN" b="0" baseline="-25000" dirty="0"/>
              <a:t>2</a:t>
            </a:r>
            <a:r>
              <a:rPr lang="en-US" altLang="zh-CN" b="0" dirty="0"/>
              <a:t>+G</a:t>
            </a:r>
            <a:r>
              <a:rPr lang="en-US" altLang="zh-CN" b="0" baseline="-25000" dirty="0"/>
              <a:t>1</a:t>
            </a:r>
            <a:r>
              <a:rPr lang="en-US" altLang="zh-CN" b="0" dirty="0"/>
              <a:t>P</a:t>
            </a:r>
            <a:r>
              <a:rPr lang="en-US" altLang="zh-CN" b="0" baseline="-25000" dirty="0"/>
              <a:t>2</a:t>
            </a:r>
            <a:r>
              <a:rPr lang="en-US" altLang="zh-CN" b="0" dirty="0"/>
              <a:t>+G</a:t>
            </a:r>
            <a:r>
              <a:rPr lang="en-US" altLang="zh-CN" b="0" baseline="-25000" dirty="0"/>
              <a:t>0</a:t>
            </a:r>
            <a:r>
              <a:rPr lang="en-US" altLang="zh-CN" b="0" dirty="0"/>
              <a:t>P</a:t>
            </a:r>
            <a:r>
              <a:rPr lang="en-US" altLang="zh-CN" b="0" baseline="-25000" dirty="0"/>
              <a:t>1</a:t>
            </a:r>
            <a:r>
              <a:rPr lang="en-US" altLang="zh-CN" b="0" dirty="0"/>
              <a:t>P</a:t>
            </a:r>
            <a:r>
              <a:rPr lang="en-US" altLang="zh-CN" b="0" baseline="-25000" dirty="0"/>
              <a:t>2</a:t>
            </a:r>
            <a:r>
              <a:rPr lang="en-US" altLang="zh-CN" b="0" dirty="0"/>
              <a:t>+P</a:t>
            </a:r>
            <a:r>
              <a:rPr lang="en-US" altLang="zh-CN" b="0" baseline="-25000" dirty="0"/>
              <a:t>0</a:t>
            </a:r>
            <a:r>
              <a:rPr lang="en-US" altLang="zh-CN" b="0" dirty="0"/>
              <a:t>P</a:t>
            </a:r>
            <a:r>
              <a:rPr lang="en-US" altLang="zh-CN" b="0" baseline="-25000" dirty="0"/>
              <a:t>1</a:t>
            </a:r>
            <a:r>
              <a:rPr lang="en-US" altLang="zh-CN" b="0" dirty="0"/>
              <a:t>P</a:t>
            </a:r>
            <a:r>
              <a:rPr lang="en-US" altLang="zh-CN" b="0" baseline="-25000" dirty="0"/>
              <a:t>2</a:t>
            </a:r>
            <a:r>
              <a:rPr lang="en-US" altLang="zh-CN" b="0" dirty="0"/>
              <a:t>C</a:t>
            </a:r>
            <a:r>
              <a:rPr lang="en-US" altLang="zh-CN" b="0" baseline="-25000" dirty="0"/>
              <a:t>n                  </a:t>
            </a:r>
            <a:endParaRPr lang="en-US" altLang="zh-CN" b="0" baseline="-25000" dirty="0"/>
          </a:p>
          <a:p>
            <a:pPr lvl="1" eaLnBrk="1" hangingPunct="1">
              <a:buFont typeface="Wingdings" panose="05000000000000000000" pitchFamily="2" charset="2"/>
              <a:buNone/>
            </a:pPr>
            <a:r>
              <a:rPr lang="en-US" altLang="zh-CN" b="0" dirty="0"/>
              <a:t>C</a:t>
            </a:r>
            <a:r>
              <a:rPr lang="en-US" altLang="zh-CN" b="0" baseline="-25000" dirty="0"/>
              <a:t>n+4</a:t>
            </a:r>
            <a:r>
              <a:rPr lang="en-US" altLang="zh-CN" b="0" dirty="0"/>
              <a:t>=G</a:t>
            </a:r>
            <a:r>
              <a:rPr lang="en-US" altLang="zh-CN" b="0" baseline="-25000" dirty="0"/>
              <a:t>3</a:t>
            </a:r>
            <a:r>
              <a:rPr lang="en-US" altLang="zh-CN" b="0" dirty="0"/>
              <a:t>+P</a:t>
            </a:r>
            <a:r>
              <a:rPr lang="en-US" altLang="zh-CN" b="0" baseline="-25000" dirty="0"/>
              <a:t>3</a:t>
            </a:r>
            <a:r>
              <a:rPr lang="en-US" altLang="zh-CN" b="0" dirty="0"/>
              <a:t>C</a:t>
            </a:r>
            <a:r>
              <a:rPr lang="en-US" altLang="zh-CN" b="0" baseline="-25000" dirty="0"/>
              <a:t>n+z</a:t>
            </a:r>
            <a:endParaRPr lang="en-US" altLang="zh-CN" b="0" baseline="-25000" dirty="0"/>
          </a:p>
          <a:p>
            <a:pPr lvl="1" eaLnBrk="1" hangingPunct="1">
              <a:buFont typeface="Wingdings" panose="05000000000000000000" pitchFamily="2" charset="2"/>
              <a:buNone/>
            </a:pPr>
            <a:r>
              <a:rPr lang="en-US" altLang="zh-CN" b="0" dirty="0"/>
              <a:t>    =G</a:t>
            </a:r>
            <a:r>
              <a:rPr lang="en-US" altLang="zh-CN" b="0" baseline="-25000" dirty="0"/>
              <a:t>3</a:t>
            </a:r>
            <a:r>
              <a:rPr lang="en-US" altLang="zh-CN" b="0" dirty="0"/>
              <a:t>+G</a:t>
            </a:r>
            <a:r>
              <a:rPr lang="en-US" altLang="zh-CN" b="0" baseline="-25000" dirty="0"/>
              <a:t>2</a:t>
            </a:r>
            <a:r>
              <a:rPr lang="en-US" altLang="zh-CN" b="0" dirty="0"/>
              <a:t>P</a:t>
            </a:r>
            <a:r>
              <a:rPr lang="en-US" altLang="zh-CN" b="0" baseline="-25000" dirty="0"/>
              <a:t>3</a:t>
            </a:r>
            <a:r>
              <a:rPr lang="en-US" altLang="zh-CN" b="0" dirty="0"/>
              <a:t>+G</a:t>
            </a:r>
            <a:r>
              <a:rPr lang="en-US" altLang="zh-CN" b="0" baseline="-25000" dirty="0"/>
              <a:t>1</a:t>
            </a:r>
            <a:r>
              <a:rPr lang="en-US" altLang="zh-CN" b="0" dirty="0"/>
              <a:t>P</a:t>
            </a:r>
            <a:r>
              <a:rPr lang="en-US" altLang="zh-CN" b="0" baseline="-25000" dirty="0"/>
              <a:t>2</a:t>
            </a:r>
            <a:r>
              <a:rPr lang="en-US" altLang="zh-CN" b="0" dirty="0"/>
              <a:t>P</a:t>
            </a:r>
            <a:r>
              <a:rPr lang="en-US" altLang="zh-CN" b="0" baseline="-25000" dirty="0"/>
              <a:t>3</a:t>
            </a:r>
            <a:r>
              <a:rPr lang="en-US" altLang="zh-CN" b="0" dirty="0"/>
              <a:t>+G</a:t>
            </a:r>
            <a:r>
              <a:rPr lang="en-US" altLang="zh-CN" b="0" baseline="-25000" dirty="0"/>
              <a:t>0</a:t>
            </a:r>
            <a:r>
              <a:rPr lang="en-US" altLang="zh-CN" b="0" dirty="0"/>
              <a:t>P</a:t>
            </a:r>
            <a:r>
              <a:rPr lang="en-US" altLang="zh-CN" b="0" baseline="-25000" dirty="0"/>
              <a:t>1</a:t>
            </a:r>
            <a:r>
              <a:rPr lang="en-US" altLang="zh-CN" b="0" dirty="0"/>
              <a:t>P</a:t>
            </a:r>
            <a:r>
              <a:rPr lang="en-US" altLang="zh-CN" b="0" baseline="-25000" dirty="0"/>
              <a:t>2</a:t>
            </a:r>
            <a:r>
              <a:rPr lang="en-US" altLang="zh-CN" b="0" dirty="0"/>
              <a:t>P</a:t>
            </a:r>
            <a:r>
              <a:rPr lang="en-US" altLang="zh-CN" b="0" baseline="-25000" dirty="0"/>
              <a:t>3</a:t>
            </a:r>
            <a:r>
              <a:rPr lang="en-US" altLang="zh-CN" b="0" dirty="0"/>
              <a:t>+P</a:t>
            </a:r>
            <a:r>
              <a:rPr lang="en-US" altLang="zh-CN" b="0" baseline="-25000" dirty="0"/>
              <a:t>0</a:t>
            </a:r>
            <a:r>
              <a:rPr lang="en-US" altLang="zh-CN" b="0" dirty="0"/>
              <a:t>P</a:t>
            </a:r>
            <a:r>
              <a:rPr lang="en-US" altLang="zh-CN" b="0" baseline="-25000" dirty="0"/>
              <a:t>1</a:t>
            </a:r>
            <a:r>
              <a:rPr lang="en-US" altLang="zh-CN" b="0" dirty="0"/>
              <a:t>P</a:t>
            </a:r>
            <a:r>
              <a:rPr lang="en-US" altLang="zh-CN" b="0" baseline="-25000" dirty="0"/>
              <a:t>2</a:t>
            </a:r>
            <a:r>
              <a:rPr lang="en-US" altLang="zh-CN" b="0" dirty="0"/>
              <a:t>P</a:t>
            </a:r>
            <a:r>
              <a:rPr lang="en-US" altLang="zh-CN" b="0" baseline="-25000" dirty="0"/>
              <a:t>3</a:t>
            </a:r>
            <a:r>
              <a:rPr lang="en-US" altLang="zh-CN" b="0" dirty="0"/>
              <a:t>C</a:t>
            </a:r>
            <a:r>
              <a:rPr lang="en-US" altLang="zh-CN" b="0" baseline="-25000" dirty="0"/>
              <a:t>n</a:t>
            </a:r>
            <a:endParaRPr lang="en-US" altLang="zh-CN" b="0" baseline="-25000" dirty="0"/>
          </a:p>
          <a:p>
            <a:pPr lvl="1" eaLnBrk="1" hangingPunct="1">
              <a:buFont typeface="Wingdings" panose="05000000000000000000" pitchFamily="2" charset="2"/>
              <a:buNone/>
            </a:pPr>
            <a:r>
              <a:rPr lang="en-US" altLang="zh-CN" b="0" dirty="0"/>
              <a:t>      =G*+P*C</a:t>
            </a:r>
            <a:r>
              <a:rPr lang="en-US" altLang="zh-CN" b="0" baseline="-25000" dirty="0"/>
              <a:t>n</a:t>
            </a:r>
            <a:endParaRPr lang="en-US" altLang="zh-CN" b="0" baseline="-25000" dirty="0"/>
          </a:p>
          <a:p>
            <a:pPr lvl="2" eaLnBrk="1" hangingPunct="1">
              <a:buFont typeface="Wingdings" panose="05000000000000000000" pitchFamily="2" charset="2"/>
              <a:buNone/>
            </a:pPr>
            <a:r>
              <a:rPr lang="en-US" altLang="zh-CN" sz="2800" dirty="0">
                <a:latin typeface="楷体" panose="02010609060101010101" pitchFamily="49" charset="-122"/>
                <a:ea typeface="楷体" panose="02010609060101010101" pitchFamily="49" charset="-122"/>
              </a:rPr>
              <a:t>G*</a:t>
            </a:r>
            <a:r>
              <a:rPr lang="zh-CN" altLang="en-US" sz="2800" dirty="0">
                <a:latin typeface="楷体" panose="02010609060101010101" pitchFamily="49" charset="-122"/>
                <a:ea typeface="楷体" panose="02010609060101010101" pitchFamily="49" charset="-122"/>
              </a:rPr>
              <a:t>为成组先行进位发生输出</a:t>
            </a:r>
            <a:endParaRPr lang="zh-CN" altLang="en-US" sz="2800" dirty="0">
              <a:latin typeface="楷体" panose="02010609060101010101" pitchFamily="49" charset="-122"/>
              <a:ea typeface="楷体" panose="02010609060101010101" pitchFamily="49" charset="-122"/>
            </a:endParaRPr>
          </a:p>
          <a:p>
            <a:pPr lvl="2" eaLnBrk="1" hangingPunct="1">
              <a:buFont typeface="Wingdings" panose="05000000000000000000" pitchFamily="2" charset="2"/>
              <a:buNone/>
            </a:pPr>
            <a:r>
              <a:rPr lang="en-US" altLang="zh-CN" sz="2800" dirty="0">
                <a:latin typeface="楷体" panose="02010609060101010101" pitchFamily="49" charset="-122"/>
                <a:ea typeface="楷体" panose="02010609060101010101" pitchFamily="49" charset="-122"/>
              </a:rPr>
              <a:t>P*</a:t>
            </a:r>
            <a:r>
              <a:rPr lang="zh-CN" altLang="en-US" sz="2800" dirty="0">
                <a:latin typeface="楷体" panose="02010609060101010101" pitchFamily="49" charset="-122"/>
                <a:ea typeface="楷体" panose="02010609060101010101" pitchFamily="49" charset="-122"/>
              </a:rPr>
              <a:t>为成组先行进位传送输出</a:t>
            </a:r>
            <a:endParaRPr lang="zh-CN" altLang="en-US" sz="2800" dirty="0">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4" name="Rectangle 2"/>
          <p:cNvSpPr>
            <a:spLocks noGrp="1" noChangeArrowheads="1"/>
          </p:cNvSpPr>
          <p:nvPr>
            <p:ph type="title"/>
          </p:nvPr>
        </p:nvSpPr>
        <p:spPr/>
        <p:txBody>
          <a:bodyPr/>
          <a:lstStyle/>
          <a:p>
            <a:pPr eaLnBrk="1" hangingPunct="1"/>
            <a:r>
              <a:rPr lang="en-US" altLang="zh-CN" dirty="0"/>
              <a:t>74182CLA</a:t>
            </a:r>
            <a:r>
              <a:rPr lang="zh-CN" altLang="en-US" dirty="0"/>
              <a:t>的逻辑电路图</a:t>
            </a:r>
            <a:endParaRPr lang="zh-CN" altLang="en-US" dirty="0"/>
          </a:p>
        </p:txBody>
      </p:sp>
      <p:sp>
        <p:nvSpPr>
          <p:cNvPr id="89090" name="Rectangle 3"/>
          <p:cNvSpPr>
            <a:spLocks noGrp="1" noChangeArrowheads="1"/>
          </p:cNvSpPr>
          <p:nvPr>
            <p:ph idx="1"/>
          </p:nvPr>
        </p:nvSpPr>
        <p:spPr/>
        <p:txBody>
          <a:bodyPr/>
          <a:lstStyle/>
          <a:p>
            <a:pPr eaLnBrk="1" hangingPunct="1"/>
            <a:endParaRPr lang="zh-CN" altLang="zh-CN"/>
          </a:p>
        </p:txBody>
      </p:sp>
      <p:pic>
        <p:nvPicPr>
          <p:cNvPr id="89092" name="Picture 4" descr="p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1371600"/>
            <a:ext cx="7240587" cy="4887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38" name="Rectangle 2"/>
          <p:cNvSpPr>
            <a:spLocks noGrp="1" noChangeArrowheads="1"/>
          </p:cNvSpPr>
          <p:nvPr>
            <p:ph type="title"/>
          </p:nvPr>
        </p:nvSpPr>
        <p:spPr/>
        <p:txBody>
          <a:bodyPr/>
          <a:lstStyle/>
          <a:p>
            <a:pPr eaLnBrk="1" hangingPunct="1"/>
            <a:r>
              <a:rPr lang="zh-CN" altLang="en-US" dirty="0"/>
              <a:t>设计一个</a:t>
            </a:r>
            <a:r>
              <a:rPr lang="en-US" altLang="zh-CN" dirty="0"/>
              <a:t>32</a:t>
            </a:r>
            <a:r>
              <a:rPr lang="zh-CN" altLang="en-US" dirty="0"/>
              <a:t>位</a:t>
            </a:r>
            <a:r>
              <a:rPr lang="en-US" altLang="zh-CN" dirty="0"/>
              <a:t>ALU</a:t>
            </a:r>
            <a:endParaRPr lang="en-US" altLang="zh-CN" dirty="0"/>
          </a:p>
        </p:txBody>
      </p:sp>
      <p:sp>
        <p:nvSpPr>
          <p:cNvPr id="90114" name="Rectangle 3"/>
          <p:cNvSpPr>
            <a:spLocks noGrp="1" noChangeArrowheads="1"/>
          </p:cNvSpPr>
          <p:nvPr>
            <p:ph idx="1"/>
          </p:nvPr>
        </p:nvSpPr>
        <p:spPr/>
        <p:txBody>
          <a:bodyPr/>
          <a:lstStyle/>
          <a:p>
            <a:pPr eaLnBrk="1" hangingPunct="1"/>
            <a:r>
              <a:rPr lang="zh-CN" altLang="en-US" dirty="0"/>
              <a:t>用两个</a:t>
            </a:r>
            <a:r>
              <a:rPr lang="en-US" altLang="zh-CN" dirty="0"/>
              <a:t>16</a:t>
            </a:r>
            <a:r>
              <a:rPr lang="zh-CN" altLang="en-US" dirty="0"/>
              <a:t>位全先行进位逻辑级联组成的</a:t>
            </a:r>
            <a:r>
              <a:rPr lang="en-US" altLang="zh-CN" dirty="0"/>
              <a:t>32</a:t>
            </a:r>
            <a:r>
              <a:rPr lang="zh-CN" altLang="en-US" dirty="0"/>
              <a:t>位</a:t>
            </a:r>
            <a:r>
              <a:rPr lang="en-US" altLang="zh-CN" dirty="0"/>
              <a:t>ALU</a:t>
            </a:r>
            <a:endParaRPr lang="en-US" altLang="zh-CN" dirty="0"/>
          </a:p>
        </p:txBody>
      </p:sp>
      <p:sp>
        <p:nvSpPr>
          <p:cNvPr id="90116" name="Rectangle 5"/>
          <p:cNvSpPr>
            <a:spLocks noChangeArrowheads="1"/>
          </p:cNvSpPr>
          <p:nvPr/>
        </p:nvSpPr>
        <p:spPr bwMode="auto">
          <a:xfrm>
            <a:off x="0" y="1600200"/>
            <a:ext cx="914400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pic>
        <p:nvPicPr>
          <p:cNvPr id="90117" name="Picture 4"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2174875"/>
            <a:ext cx="8594725" cy="257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8" name="TextBox 6"/>
          <p:cNvSpPr txBox="1">
            <a:spLocks noChangeArrowheads="1"/>
          </p:cNvSpPr>
          <p:nvPr/>
        </p:nvSpPr>
        <p:spPr bwMode="auto">
          <a:xfrm>
            <a:off x="7489825" y="4573588"/>
            <a:ext cx="9239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600">
                <a:solidFill>
                  <a:srgbClr val="3333CC"/>
                </a:solidFill>
                <a:ea typeface="黑体" panose="02010609060101010101" pitchFamily="49" charset="-122"/>
              </a:rPr>
              <a:t>4</a:t>
            </a:r>
            <a:r>
              <a:rPr lang="zh-CN" altLang="en-US" sz="1600">
                <a:solidFill>
                  <a:srgbClr val="3333CC"/>
                </a:solidFill>
                <a:ea typeface="黑体" panose="02010609060101010101" pitchFamily="49" charset="-122"/>
              </a:rPr>
              <a:t>位</a:t>
            </a:r>
            <a:r>
              <a:rPr lang="en-US" altLang="zh-CN" sz="1600">
                <a:solidFill>
                  <a:srgbClr val="3333CC"/>
                </a:solidFill>
                <a:ea typeface="黑体" panose="02010609060101010101" pitchFamily="49" charset="-122"/>
              </a:rPr>
              <a:t>ALU</a:t>
            </a:r>
            <a:endParaRPr lang="zh-CN" altLang="en-US" sz="1600">
              <a:solidFill>
                <a:srgbClr val="3333CC"/>
              </a:solidFill>
              <a:ea typeface="黑体" panose="02010609060101010101" pitchFamily="49" charset="-122"/>
            </a:endParaRPr>
          </a:p>
        </p:txBody>
      </p:sp>
      <p:sp>
        <p:nvSpPr>
          <p:cNvPr id="90119" name="TextBox 1"/>
          <p:cNvSpPr txBox="1">
            <a:spLocks noChangeArrowheads="1"/>
          </p:cNvSpPr>
          <p:nvPr/>
        </p:nvSpPr>
        <p:spPr bwMode="auto">
          <a:xfrm>
            <a:off x="4249738" y="4008438"/>
            <a:ext cx="5413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2000">
                <a:solidFill>
                  <a:srgbClr val="3333CC"/>
                </a:solidFill>
                <a:ea typeface="黑体" panose="02010609060101010101" pitchFamily="49" charset="-122"/>
              </a:rPr>
              <a:t>C</a:t>
            </a:r>
            <a:r>
              <a:rPr lang="en-US" altLang="zh-CN" sz="2000" baseline="-25000">
                <a:solidFill>
                  <a:srgbClr val="3333CC"/>
                </a:solidFill>
                <a:ea typeface="黑体" panose="02010609060101010101" pitchFamily="49" charset="-122"/>
              </a:rPr>
              <a:t>15</a:t>
            </a:r>
            <a:endParaRPr lang="zh-CN" altLang="en-US" sz="2000" baseline="-25000">
              <a:solidFill>
                <a:srgbClr val="3333CC"/>
              </a:solidFill>
              <a:ea typeface="黑体" panose="02010609060101010101" pitchFamily="49" charset="-122"/>
            </a:endParaRPr>
          </a:p>
        </p:txBody>
      </p:sp>
      <p:cxnSp>
        <p:nvCxnSpPr>
          <p:cNvPr id="90120" name="直接箭头连接符 3"/>
          <p:cNvCxnSpPr>
            <a:cxnSpLocks noChangeShapeType="1"/>
            <a:stCxn id="90118" idx="0"/>
          </p:cNvCxnSpPr>
          <p:nvPr/>
        </p:nvCxnSpPr>
        <p:spPr bwMode="auto">
          <a:xfrm flipH="1" flipV="1">
            <a:off x="7885113" y="4208463"/>
            <a:ext cx="66675" cy="365125"/>
          </a:xfrm>
          <a:prstGeom prst="straightConnector1">
            <a:avLst/>
          </a:prstGeom>
          <a:noFill/>
          <a:ln w="15875" algn="ctr">
            <a:solidFill>
              <a:srgbClr val="C00000"/>
            </a:solidFill>
            <a:miter lim="800000"/>
            <a:tailEnd type="arrow" w="med" len="med"/>
          </a:ln>
          <a:extLst>
            <a:ext uri="{909E8E84-426E-40DD-AFC4-6F175D3DCCD1}">
              <a14:hiddenFill xmlns:a14="http://schemas.microsoft.com/office/drawing/2010/main">
                <a:noFill/>
              </a14:hiddenFill>
            </a:ext>
          </a:extLst>
        </p:spPr>
      </p:cxnSp>
    </p:spTree>
  </p:cSld>
  <p:clrMapOvr>
    <a:masterClrMapping/>
  </p:clrMapOvr>
  <p:transition spd="med">
    <p:pull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Rectangle 2"/>
          <p:cNvSpPr>
            <a:spLocks noGrp="1" noChangeArrowheads="1"/>
          </p:cNvSpPr>
          <p:nvPr>
            <p:ph type="title"/>
          </p:nvPr>
        </p:nvSpPr>
        <p:spPr/>
        <p:txBody>
          <a:bodyPr/>
          <a:lstStyle/>
          <a:p>
            <a:pPr eaLnBrk="1" hangingPunct="1"/>
            <a:r>
              <a:rPr lang="zh-CN" altLang="en-US"/>
              <a:t>算术</a:t>
            </a:r>
            <a:r>
              <a:rPr lang="en-US" altLang="zh-CN"/>
              <a:t>/</a:t>
            </a:r>
            <a:r>
              <a:rPr lang="zh-CN" altLang="en-US"/>
              <a:t>逻辑运算</a:t>
            </a:r>
            <a:r>
              <a:rPr lang="en-US" altLang="zh-CN"/>
              <a:t>ALU</a:t>
            </a:r>
            <a:r>
              <a:rPr lang="zh-CN" altLang="en-US"/>
              <a:t>的另一个方案</a:t>
            </a:r>
            <a:endParaRPr lang="zh-CN" altLang="en-US"/>
          </a:p>
        </p:txBody>
      </p:sp>
      <p:sp>
        <p:nvSpPr>
          <p:cNvPr id="92162" name="Rectangle 3"/>
          <p:cNvSpPr>
            <a:spLocks noGrp="1" noChangeArrowheads="1"/>
          </p:cNvSpPr>
          <p:nvPr>
            <p:ph idx="1"/>
          </p:nvPr>
        </p:nvSpPr>
        <p:spPr/>
        <p:txBody>
          <a:bodyPr/>
          <a:lstStyle/>
          <a:p>
            <a:pPr eaLnBrk="1" hangingPunct="1"/>
            <a:r>
              <a:rPr lang="zh-CN" altLang="en-US" sz="2400" dirty="0"/>
              <a:t>实现功能简单</a:t>
            </a:r>
            <a:r>
              <a:rPr lang="zh-CN" altLang="en-US" sz="2400" dirty="0">
                <a:sym typeface="Wingdings" panose="05000000000000000000" pitchFamily="2" charset="2"/>
              </a:rPr>
              <a:t></a:t>
            </a:r>
            <a:r>
              <a:rPr lang="zh-CN" altLang="en-US" sz="2400" dirty="0"/>
              <a:t>逻辑电路简单</a:t>
            </a:r>
            <a:endParaRPr lang="zh-CN" altLang="en-US" sz="2400" dirty="0"/>
          </a:p>
        </p:txBody>
      </p:sp>
      <p:pic>
        <p:nvPicPr>
          <p:cNvPr id="52229" name="Picture 4" descr="页面提取自－ 07-read设计过程与ALU设计"/>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96140" y="2203917"/>
            <a:ext cx="3094809" cy="307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5" name="Picture 6" descr="页面提取自－ 07-read设计过程与ALU设计-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151" y="1657134"/>
            <a:ext cx="3657600" cy="4456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6" name="Line 7"/>
          <p:cNvSpPr>
            <a:spLocks noChangeShapeType="1"/>
          </p:cNvSpPr>
          <p:nvPr/>
        </p:nvSpPr>
        <p:spPr bwMode="auto">
          <a:xfrm flipV="1">
            <a:off x="2843213" y="2185988"/>
            <a:ext cx="3192462" cy="8636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167" name="Line 8"/>
          <p:cNvSpPr>
            <a:spLocks noChangeShapeType="1"/>
          </p:cNvSpPr>
          <p:nvPr/>
        </p:nvSpPr>
        <p:spPr bwMode="auto">
          <a:xfrm>
            <a:off x="2843213" y="3625850"/>
            <a:ext cx="3192462" cy="142081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168" name="Text Box 9"/>
          <p:cNvSpPr txBox="1">
            <a:spLocks noChangeArrowheads="1"/>
          </p:cNvSpPr>
          <p:nvPr/>
        </p:nvSpPr>
        <p:spPr bwMode="auto">
          <a:xfrm>
            <a:off x="2691927" y="1661616"/>
            <a:ext cx="12987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dirty="0">
                <a:solidFill>
                  <a:srgbClr val="3333CC"/>
                </a:solidFill>
                <a:ea typeface="楷体" panose="02010609060101010101" pitchFamily="49" charset="-122"/>
                <a:cs typeface="Times New Roman" panose="02020603050405020304" pitchFamily="18" charset="0"/>
              </a:rPr>
              <a:t>4</a:t>
            </a:r>
            <a:r>
              <a:rPr lang="zh-CN" altLang="en-US" sz="2400" dirty="0">
                <a:solidFill>
                  <a:srgbClr val="3333CC"/>
                </a:solidFill>
                <a:ea typeface="楷体" panose="02010609060101010101" pitchFamily="49" charset="-122"/>
                <a:cs typeface="Times New Roman" panose="02020603050405020304" pitchFamily="18" charset="0"/>
              </a:rPr>
              <a:t>位</a:t>
            </a:r>
            <a:r>
              <a:rPr lang="en-US" altLang="zh-CN" sz="2400" dirty="0">
                <a:solidFill>
                  <a:srgbClr val="3333CC"/>
                </a:solidFill>
                <a:ea typeface="楷体" panose="02010609060101010101" pitchFamily="49" charset="-122"/>
                <a:cs typeface="Times New Roman" panose="02020603050405020304" pitchFamily="18" charset="0"/>
              </a:rPr>
              <a:t>ALU</a:t>
            </a:r>
            <a:endParaRPr lang="en-US" altLang="zh-CN" sz="2400" dirty="0">
              <a:solidFill>
                <a:srgbClr val="3333CC"/>
              </a:solidFill>
              <a:ea typeface="楷体" panose="02010609060101010101" pitchFamily="49" charset="-122"/>
              <a:cs typeface="Times New Roman" panose="02020603050405020304" pitchFamily="18" charset="0"/>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2229"/>
                                        </p:tgtEl>
                                        <p:attrNameLst>
                                          <p:attrName>style.visibility</p:attrName>
                                        </p:attrNameLst>
                                      </p:cBhvr>
                                      <p:to>
                                        <p:strVal val="visible"/>
                                      </p:to>
                                    </p:set>
                                    <p:anim calcmode="lin" valueType="num">
                                      <p:cBhvr additive="base">
                                        <p:cTn id="7" dur="500" fill="hold"/>
                                        <p:tgtEl>
                                          <p:spTgt spid="52229"/>
                                        </p:tgtEl>
                                        <p:attrNameLst>
                                          <p:attrName>ppt_x</p:attrName>
                                        </p:attrNameLst>
                                      </p:cBhvr>
                                      <p:tavLst>
                                        <p:tav tm="0">
                                          <p:val>
                                            <p:strVal val="1+#ppt_w/2"/>
                                          </p:val>
                                        </p:tav>
                                        <p:tav tm="100000">
                                          <p:val>
                                            <p:strVal val="#ppt_x"/>
                                          </p:val>
                                        </p:tav>
                                      </p:tavLst>
                                    </p:anim>
                                    <p:anim calcmode="lin" valueType="num">
                                      <p:cBhvr additive="base">
                                        <p:cTn id="8" dur="500" fill="hold"/>
                                        <p:tgtEl>
                                          <p:spTgt spid="522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6" name="Rectangle 4"/>
          <p:cNvSpPr>
            <a:spLocks noGrp="1" noChangeArrowheads="1"/>
          </p:cNvSpPr>
          <p:nvPr>
            <p:ph type="title"/>
          </p:nvPr>
        </p:nvSpPr>
        <p:spPr/>
        <p:txBody>
          <a:bodyPr/>
          <a:lstStyle/>
          <a:p>
            <a:pPr eaLnBrk="1" hangingPunct="1"/>
            <a:r>
              <a:rPr lang="en-US" altLang="zh-CN" dirty="0"/>
              <a:t>BCD</a:t>
            </a:r>
            <a:r>
              <a:rPr lang="zh-CN" altLang="en-US" dirty="0"/>
              <a:t>码加法实例</a:t>
            </a:r>
            <a:endParaRPr lang="zh-CN" altLang="en-US" dirty="0"/>
          </a:p>
        </p:txBody>
      </p:sp>
      <p:sp>
        <p:nvSpPr>
          <p:cNvPr id="735235" name="Rectangle 3"/>
          <p:cNvSpPr>
            <a:spLocks noGrp="1" noChangeArrowheads="1"/>
          </p:cNvSpPr>
          <p:nvPr>
            <p:ph idx="1"/>
          </p:nvPr>
        </p:nvSpPr>
        <p:spPr>
          <a:xfrm>
            <a:off x="250825" y="1147762"/>
            <a:ext cx="8713788" cy="5329238"/>
          </a:xfrm>
        </p:spPr>
        <p:txBody>
          <a:bodyPr/>
          <a:lstStyle/>
          <a:p>
            <a:pPr eaLnBrk="1" hangingPunct="1"/>
            <a:r>
              <a:rPr lang="en-US" altLang="zh-CN" dirty="0"/>
              <a:t>	x=36, y=47, </a:t>
            </a:r>
            <a:r>
              <a:rPr lang="zh-CN" altLang="en-US" dirty="0"/>
              <a:t>求</a:t>
            </a:r>
            <a:r>
              <a:rPr lang="en-US" altLang="zh-CN" dirty="0" err="1"/>
              <a:t>x+y</a:t>
            </a:r>
            <a:endParaRPr lang="en-US" altLang="zh-CN" dirty="0"/>
          </a:p>
          <a:p>
            <a:pPr eaLnBrk="1" hangingPunct="1">
              <a:buFont typeface="Wingdings 2" charset="2"/>
              <a:buNone/>
            </a:pPr>
            <a:r>
              <a:rPr lang="zh-CN" altLang="en-US" sz="2800" dirty="0"/>
              <a:t>解：</a:t>
            </a:r>
            <a:r>
              <a:rPr lang="en-US" altLang="zh-CN" sz="2800" dirty="0"/>
              <a:t>[x]</a:t>
            </a:r>
            <a:r>
              <a:rPr lang="en-US" altLang="zh-CN" sz="2800" baseline="-25000" dirty="0"/>
              <a:t>BCD</a:t>
            </a:r>
            <a:r>
              <a:rPr lang="en-US" altLang="zh-CN" sz="2800" dirty="0"/>
              <a:t>=0011 0110, [y]</a:t>
            </a:r>
            <a:r>
              <a:rPr lang="en-US" altLang="zh-CN" sz="2800" baseline="-25000" dirty="0"/>
              <a:t>BCD</a:t>
            </a:r>
            <a:r>
              <a:rPr lang="en-US" altLang="zh-CN" sz="2800" dirty="0"/>
              <a:t>=0100 0111</a:t>
            </a:r>
            <a:endParaRPr lang="en-US" altLang="zh-CN" sz="2800" dirty="0"/>
          </a:p>
          <a:p>
            <a:pPr lvl="1" eaLnBrk="1" hangingPunct="1">
              <a:buFont typeface="Wingdings" panose="05000000000000000000" pitchFamily="2" charset="2"/>
              <a:buNone/>
            </a:pPr>
            <a:r>
              <a:rPr lang="en-US" altLang="zh-CN" dirty="0"/>
              <a:t>		[x]</a:t>
            </a:r>
            <a:r>
              <a:rPr lang="en-US" altLang="zh-CN" baseline="-25000" dirty="0"/>
              <a:t>BCD        </a:t>
            </a:r>
            <a:r>
              <a:rPr lang="en-US" altLang="zh-CN" dirty="0"/>
              <a:t>0011 0110</a:t>
            </a:r>
            <a:endParaRPr lang="en-US" altLang="zh-CN" dirty="0"/>
          </a:p>
          <a:p>
            <a:pPr lvl="1" eaLnBrk="1" hangingPunct="1">
              <a:buFont typeface="Wingdings" panose="05000000000000000000" pitchFamily="2" charset="2"/>
              <a:buNone/>
            </a:pPr>
            <a:r>
              <a:rPr lang="en-US" altLang="zh-CN" dirty="0"/>
              <a:t>	      +[y]</a:t>
            </a:r>
            <a:r>
              <a:rPr lang="en-US" altLang="zh-CN" baseline="-25000" dirty="0"/>
              <a:t>BCD        </a:t>
            </a:r>
            <a:r>
              <a:rPr lang="en-US" altLang="zh-CN" dirty="0"/>
              <a:t>0100 0111</a:t>
            </a:r>
            <a:endParaRPr lang="en-US" altLang="zh-CN" dirty="0"/>
          </a:p>
          <a:p>
            <a:pPr lvl="1" eaLnBrk="1" hangingPunct="1">
              <a:buFont typeface="Wingdings" panose="05000000000000000000" pitchFamily="2" charset="2"/>
              <a:buNone/>
            </a:pPr>
            <a:r>
              <a:rPr lang="en-US" altLang="zh-CN" dirty="0"/>
              <a:t>				 0111 1101</a:t>
            </a:r>
            <a:endParaRPr lang="en-US" altLang="zh-CN" dirty="0"/>
          </a:p>
          <a:p>
            <a:pPr eaLnBrk="1" hangingPunct="1">
              <a:buFont typeface="Wingdings 2" charset="2"/>
              <a:buNone/>
            </a:pPr>
            <a:r>
              <a:rPr lang="zh-CN" altLang="en-US" sz="2800" dirty="0"/>
              <a:t>校正                           ＋ </a:t>
            </a:r>
            <a:r>
              <a:rPr lang="en-US" altLang="zh-CN" sz="2800" dirty="0">
                <a:solidFill>
                  <a:schemeClr val="tx2"/>
                </a:solidFill>
              </a:rPr>
              <a:t>0110</a:t>
            </a:r>
            <a:endParaRPr lang="en-US" altLang="zh-CN" sz="2800" dirty="0">
              <a:solidFill>
                <a:schemeClr val="tx2"/>
              </a:solidFill>
            </a:endParaRPr>
          </a:p>
          <a:p>
            <a:pPr eaLnBrk="1" hangingPunct="1">
              <a:buFont typeface="Wingdings 2" charset="2"/>
              <a:buNone/>
            </a:pPr>
            <a:r>
              <a:rPr lang="en-US" altLang="zh-CN" sz="2800" dirty="0"/>
              <a:t>	         [</a:t>
            </a:r>
            <a:r>
              <a:rPr lang="en-US" altLang="zh-CN" sz="2800" dirty="0" err="1"/>
              <a:t>x+y</a:t>
            </a:r>
            <a:r>
              <a:rPr lang="en-US" altLang="zh-CN" sz="2800" dirty="0"/>
              <a:t>]</a:t>
            </a:r>
            <a:r>
              <a:rPr lang="en-US" altLang="zh-CN" sz="2800" baseline="-25000" dirty="0"/>
              <a:t>BCD</a:t>
            </a:r>
            <a:r>
              <a:rPr lang="en-US" altLang="zh-CN" sz="2800" dirty="0"/>
              <a:t>    1000 0011</a:t>
            </a:r>
            <a:endParaRPr lang="en-US" altLang="zh-CN" sz="2800" dirty="0"/>
          </a:p>
          <a:p>
            <a:pPr eaLnBrk="1" hangingPunct="1">
              <a:buFont typeface="Wingdings 2" charset="2"/>
              <a:buNone/>
            </a:pPr>
            <a:r>
              <a:rPr lang="zh-CN" altLang="en-US" sz="2800" dirty="0"/>
              <a:t>所以，</a:t>
            </a:r>
            <a:r>
              <a:rPr lang="en-US" altLang="zh-CN" sz="2800" dirty="0" err="1"/>
              <a:t>x+y</a:t>
            </a:r>
            <a:r>
              <a:rPr lang="en-US" altLang="zh-CN" sz="2800" dirty="0"/>
              <a:t>=83</a:t>
            </a:r>
            <a:endParaRPr lang="en-US" altLang="zh-CN" sz="2800" dirty="0"/>
          </a:p>
        </p:txBody>
      </p:sp>
      <p:sp>
        <p:nvSpPr>
          <p:cNvPr id="735237" name="Line 5"/>
          <p:cNvSpPr>
            <a:spLocks noChangeShapeType="1"/>
          </p:cNvSpPr>
          <p:nvPr/>
        </p:nvSpPr>
        <p:spPr bwMode="auto">
          <a:xfrm>
            <a:off x="1763713" y="2997200"/>
            <a:ext cx="4448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5239" name="Line 7"/>
          <p:cNvSpPr>
            <a:spLocks noChangeShapeType="1"/>
          </p:cNvSpPr>
          <p:nvPr/>
        </p:nvSpPr>
        <p:spPr bwMode="auto">
          <a:xfrm>
            <a:off x="1763713" y="4076700"/>
            <a:ext cx="444817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5240" name="Text Box 8"/>
          <p:cNvSpPr txBox="1">
            <a:spLocks noChangeArrowheads="1"/>
          </p:cNvSpPr>
          <p:nvPr/>
        </p:nvSpPr>
        <p:spPr bwMode="auto">
          <a:xfrm>
            <a:off x="1042988" y="5262563"/>
            <a:ext cx="7466012" cy="974725"/>
          </a:xfrm>
          <a:prstGeom prst="rect">
            <a:avLst/>
          </a:prstGeom>
          <a:noFill/>
          <a:ln w="28575" algn="ctr">
            <a:solidFill>
              <a:schemeClr val="accent2"/>
            </a:solidFill>
            <a:miter lim="800000"/>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zh-CN" altLang="en-US"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校正逻辑：</a:t>
            </a:r>
            <a:r>
              <a:rPr kumimoji="0" lang="en-US" altLang="zh-CN"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BCD</a:t>
            </a:r>
            <a:r>
              <a:rPr kumimoji="0" lang="zh-CN" altLang="en-US"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码完成十进制运算时，当和数</a:t>
            </a:r>
            <a:endParaRPr kumimoji="0" lang="zh-CN" altLang="en-US"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endParaRPr>
          </a:p>
          <a:p>
            <a:pPr eaLnBrk="1" hangingPunct="1"/>
            <a:r>
              <a:rPr kumimoji="0" lang="zh-CN" altLang="en-US"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大于</a:t>
            </a:r>
            <a:r>
              <a:rPr kumimoji="0" lang="en-US" altLang="zh-CN"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9</a:t>
            </a:r>
            <a:r>
              <a:rPr kumimoji="0" lang="zh-CN" altLang="en-US"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时，必须对和数进行加</a:t>
            </a:r>
            <a:r>
              <a:rPr kumimoji="0" lang="en-US" altLang="zh-CN"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6</a:t>
            </a:r>
            <a:r>
              <a:rPr kumimoji="0" lang="zh-CN" altLang="en-US"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修正</a:t>
            </a:r>
            <a:endParaRPr kumimoji="0" lang="zh-CN" altLang="en-US"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52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523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3523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352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3523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3523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35235">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35235">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352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178" name="Rectangle 2"/>
          <p:cNvSpPr>
            <a:spLocks noGrp="1" noChangeArrowheads="1"/>
          </p:cNvSpPr>
          <p:nvPr>
            <p:ph type="title"/>
          </p:nvPr>
        </p:nvSpPr>
        <p:spPr/>
        <p:txBody>
          <a:bodyPr/>
          <a:lstStyle/>
          <a:p>
            <a:pPr eaLnBrk="1" hangingPunct="1"/>
            <a:r>
              <a:rPr lang="en-US" altLang="zh-CN" dirty="0"/>
              <a:t>1</a:t>
            </a:r>
            <a:r>
              <a:rPr lang="zh-CN" altLang="en-US" dirty="0"/>
              <a:t>位十进制（</a:t>
            </a:r>
            <a:r>
              <a:rPr lang="en-US" altLang="zh-CN" dirty="0"/>
              <a:t>BCD</a:t>
            </a:r>
            <a:r>
              <a:rPr lang="zh-CN" altLang="en-US" dirty="0"/>
              <a:t>）加法器设计</a:t>
            </a:r>
            <a:endParaRPr lang="zh-CN" altLang="en-US" dirty="0"/>
          </a:p>
        </p:txBody>
      </p:sp>
      <p:sp>
        <p:nvSpPr>
          <p:cNvPr id="818179" name="Rectangle 3"/>
          <p:cNvSpPr>
            <a:spLocks noGrp="1" noChangeArrowheads="1"/>
          </p:cNvSpPr>
          <p:nvPr>
            <p:ph idx="1"/>
          </p:nvPr>
        </p:nvSpPr>
        <p:spPr>
          <a:xfrm>
            <a:off x="179388" y="1243012"/>
            <a:ext cx="8736012" cy="5538788"/>
          </a:xfrm>
        </p:spPr>
        <p:txBody>
          <a:bodyPr/>
          <a:lstStyle/>
          <a:p>
            <a:pPr marL="0" indent="0" eaLnBrk="1" hangingPunct="1">
              <a:lnSpc>
                <a:spcPct val="90000"/>
              </a:lnSpc>
              <a:buFont typeface="Wingdings 2" charset="2"/>
              <a:buNone/>
            </a:pPr>
            <a:r>
              <a:rPr lang="zh-CN" altLang="en-US" sz="2800" dirty="0"/>
              <a:t>令</a:t>
            </a:r>
            <a:r>
              <a:rPr lang="en-US" altLang="zh-CN" sz="2800" dirty="0"/>
              <a:t>X</a:t>
            </a:r>
            <a:r>
              <a:rPr lang="en-US" altLang="zh-CN" sz="2800" baseline="-25000" dirty="0"/>
              <a:t>i</a:t>
            </a:r>
            <a:r>
              <a:rPr lang="zh-CN" altLang="en-US" sz="2800" dirty="0"/>
              <a:t>和</a:t>
            </a:r>
            <a:r>
              <a:rPr lang="en-US" altLang="zh-CN" sz="2800" dirty="0"/>
              <a:t>Y</a:t>
            </a:r>
            <a:r>
              <a:rPr lang="en-US" altLang="zh-CN" sz="2800" baseline="-25000" dirty="0"/>
              <a:t>i</a:t>
            </a:r>
            <a:r>
              <a:rPr lang="zh-CN" altLang="en-US" sz="2800" dirty="0"/>
              <a:t>为两个一位</a:t>
            </a:r>
            <a:r>
              <a:rPr lang="en-US" altLang="zh-CN" sz="2800" dirty="0"/>
              <a:t>BCD</a:t>
            </a:r>
            <a:r>
              <a:rPr lang="zh-CN" altLang="en-US" sz="2800" dirty="0"/>
              <a:t>码。</a:t>
            </a:r>
            <a:endParaRPr lang="zh-CN" altLang="en-US" sz="2800" dirty="0"/>
          </a:p>
          <a:p>
            <a:pPr marL="0" indent="0" eaLnBrk="1" hangingPunct="1">
              <a:lnSpc>
                <a:spcPct val="90000"/>
              </a:lnSpc>
            </a:pPr>
            <a:r>
              <a:rPr lang="zh-CN" altLang="en-US" sz="2800" dirty="0"/>
              <a:t>设</a:t>
            </a:r>
            <a:r>
              <a:rPr lang="en-US" altLang="zh-CN" sz="2800" dirty="0"/>
              <a:t>S</a:t>
            </a:r>
            <a:r>
              <a:rPr lang="en-US" altLang="zh-CN" sz="2800" baseline="-25000" dirty="0"/>
              <a:t>i</a:t>
            </a:r>
            <a:r>
              <a:rPr lang="zh-CN" altLang="en-US" sz="2800" dirty="0"/>
              <a:t>为</a:t>
            </a:r>
            <a:r>
              <a:rPr lang="en-US" altLang="zh-CN" sz="2800" dirty="0"/>
              <a:t>BCD</a:t>
            </a:r>
            <a:r>
              <a:rPr lang="zh-CN" altLang="en-US" sz="2800" dirty="0"/>
              <a:t>码的和，</a:t>
            </a:r>
            <a:r>
              <a:rPr lang="en-US" altLang="zh-CN" sz="2800" dirty="0"/>
              <a:t>C</a:t>
            </a:r>
            <a:r>
              <a:rPr lang="en-US" altLang="zh-CN" sz="2800" baseline="-25000" dirty="0"/>
              <a:t>i</a:t>
            </a:r>
            <a:r>
              <a:rPr lang="zh-CN" altLang="en-US" sz="2800" baseline="-25000" dirty="0"/>
              <a:t>＋</a:t>
            </a:r>
            <a:r>
              <a:rPr lang="en-US" altLang="zh-CN" sz="2800" baseline="-25000" dirty="0"/>
              <a:t>1</a:t>
            </a:r>
            <a:r>
              <a:rPr lang="zh-CN" altLang="en-US" sz="2800" dirty="0"/>
              <a:t>为</a:t>
            </a:r>
            <a:r>
              <a:rPr lang="en-US" altLang="zh-CN" sz="2800" dirty="0"/>
              <a:t>BCD</a:t>
            </a:r>
            <a:r>
              <a:rPr lang="zh-CN" altLang="en-US" sz="2800" dirty="0"/>
              <a:t>码的进位输出，</a:t>
            </a:r>
            <a:r>
              <a:rPr lang="en-US" altLang="zh-CN" sz="2800" dirty="0"/>
              <a:t>C</a:t>
            </a:r>
            <a:r>
              <a:rPr lang="en-US" altLang="zh-CN" sz="2800" baseline="-25000" dirty="0"/>
              <a:t>i</a:t>
            </a:r>
            <a:r>
              <a:rPr lang="zh-CN" altLang="en-US" sz="2800" dirty="0"/>
              <a:t>为进位输入。</a:t>
            </a:r>
            <a:endParaRPr lang="zh-CN" altLang="en-US" sz="2800" dirty="0"/>
          </a:p>
          <a:p>
            <a:pPr marL="0" indent="0" eaLnBrk="1" hangingPunct="1">
              <a:lnSpc>
                <a:spcPct val="90000"/>
              </a:lnSpc>
            </a:pPr>
            <a:r>
              <a:rPr lang="zh-CN" altLang="en-US" sz="2800" dirty="0"/>
              <a:t>令</a:t>
            </a:r>
            <a:r>
              <a:rPr lang="en-US" altLang="zh-CN" sz="2800" dirty="0" err="1"/>
              <a:t>S'</a:t>
            </a:r>
            <a:r>
              <a:rPr lang="en-US" altLang="zh-CN" sz="2800" baseline="-25000" dirty="0" err="1"/>
              <a:t>i</a:t>
            </a:r>
            <a:r>
              <a:rPr lang="zh-CN" altLang="en-US" sz="2800" dirty="0"/>
              <a:t>为修正之前的二进制和，</a:t>
            </a:r>
            <a:r>
              <a:rPr lang="en-US" altLang="zh-CN" sz="2800" dirty="0" err="1"/>
              <a:t>C'</a:t>
            </a:r>
            <a:r>
              <a:rPr lang="en-US" altLang="zh-CN" sz="2800" baseline="-25000" dirty="0" err="1"/>
              <a:t>i</a:t>
            </a:r>
            <a:r>
              <a:rPr lang="zh-CN" altLang="en-US" sz="2800" baseline="-25000" dirty="0"/>
              <a:t>＋</a:t>
            </a:r>
            <a:r>
              <a:rPr lang="en-US" altLang="zh-CN" sz="2800" baseline="-25000" dirty="0"/>
              <a:t>1</a:t>
            </a:r>
            <a:r>
              <a:rPr lang="zh-CN" altLang="en-US" sz="2800" dirty="0"/>
              <a:t>为修正之前的进位。</a:t>
            </a:r>
            <a:endParaRPr lang="zh-CN" altLang="en-US" sz="2800" dirty="0"/>
          </a:p>
          <a:p>
            <a:pPr marL="0" indent="0" eaLnBrk="1" hangingPunct="1">
              <a:lnSpc>
                <a:spcPct val="90000"/>
              </a:lnSpc>
              <a:buFont typeface="Wingdings 2" charset="2"/>
              <a:buNone/>
            </a:pPr>
            <a:r>
              <a:rPr lang="en-US" altLang="zh-CN" sz="2800" dirty="0"/>
              <a:t>1</a:t>
            </a:r>
            <a:r>
              <a:rPr lang="zh-CN" altLang="en-US" sz="2800" dirty="0"/>
              <a:t>）若</a:t>
            </a:r>
            <a:r>
              <a:rPr lang="en-US" altLang="zh-CN" sz="2800" dirty="0"/>
              <a:t>0≤X</a:t>
            </a:r>
            <a:r>
              <a:rPr lang="en-US" altLang="zh-CN" sz="2800" baseline="-25000" dirty="0"/>
              <a:t>i</a:t>
            </a:r>
            <a:r>
              <a:rPr lang="zh-CN" altLang="en-US" sz="2800" dirty="0"/>
              <a:t>＋</a:t>
            </a:r>
            <a:r>
              <a:rPr lang="en-US" altLang="zh-CN" sz="2800" dirty="0"/>
              <a:t>Y</a:t>
            </a:r>
            <a:r>
              <a:rPr lang="en-US" altLang="zh-CN" sz="2800" baseline="-25000" dirty="0"/>
              <a:t>i</a:t>
            </a:r>
            <a:r>
              <a:rPr lang="zh-CN" altLang="en-US" sz="2800" dirty="0"/>
              <a:t>＋</a:t>
            </a:r>
            <a:r>
              <a:rPr lang="en-US" altLang="zh-CN" sz="2800" dirty="0"/>
              <a:t>C</a:t>
            </a:r>
            <a:r>
              <a:rPr lang="en-US" altLang="zh-CN" sz="2800" baseline="-25000" dirty="0"/>
              <a:t>i</a:t>
            </a:r>
            <a:r>
              <a:rPr lang="en-US" altLang="zh-CN" sz="2800" dirty="0"/>
              <a:t>&lt;10,</a:t>
            </a:r>
            <a:r>
              <a:rPr lang="zh-CN" altLang="en-US" sz="2800" dirty="0"/>
              <a:t>则</a:t>
            </a:r>
            <a:r>
              <a:rPr lang="en-US" altLang="zh-CN" sz="2800" dirty="0" err="1"/>
              <a:t>C'</a:t>
            </a:r>
            <a:r>
              <a:rPr lang="en-US" altLang="zh-CN" sz="2800" baseline="-25000" dirty="0" err="1"/>
              <a:t>i</a:t>
            </a:r>
            <a:r>
              <a:rPr lang="zh-CN" altLang="en-US" sz="2800" baseline="-25000" dirty="0"/>
              <a:t>＋</a:t>
            </a:r>
            <a:r>
              <a:rPr lang="en-US" altLang="zh-CN" sz="2800" baseline="-25000" dirty="0"/>
              <a:t>1</a:t>
            </a:r>
            <a:r>
              <a:rPr lang="zh-CN" altLang="en-US" sz="2800" dirty="0"/>
              <a:t>＝</a:t>
            </a:r>
            <a:r>
              <a:rPr lang="en-US" altLang="zh-CN" sz="2800" dirty="0"/>
              <a:t>0</a:t>
            </a:r>
            <a:r>
              <a:rPr lang="zh-CN" altLang="en-US" sz="2800" dirty="0"/>
              <a:t>，</a:t>
            </a:r>
            <a:r>
              <a:rPr lang="en-US" altLang="zh-CN" sz="2800" dirty="0"/>
              <a:t>0≤S'</a:t>
            </a:r>
            <a:r>
              <a:rPr lang="en-US" altLang="zh-CN" sz="2800" baseline="-25000" dirty="0"/>
              <a:t>i</a:t>
            </a:r>
            <a:r>
              <a:rPr lang="en-US" altLang="zh-CN" sz="2800" dirty="0"/>
              <a:t>≤9</a:t>
            </a:r>
            <a:endParaRPr lang="en-US" altLang="zh-CN" sz="2800" dirty="0"/>
          </a:p>
          <a:p>
            <a:pPr marL="0" indent="0" eaLnBrk="1" hangingPunct="1">
              <a:lnSpc>
                <a:spcPct val="90000"/>
              </a:lnSpc>
              <a:buFont typeface="Wingdings 2" charset="2"/>
              <a:buNone/>
            </a:pPr>
            <a:r>
              <a:rPr lang="en-US" altLang="zh-CN" sz="2800" dirty="0"/>
              <a:t>			S</a:t>
            </a:r>
            <a:r>
              <a:rPr lang="en-US" altLang="zh-CN" sz="2800" baseline="-25000" dirty="0"/>
              <a:t>i</a:t>
            </a:r>
            <a:r>
              <a:rPr lang="zh-CN" altLang="en-US" sz="2800" dirty="0"/>
              <a:t>＝</a:t>
            </a:r>
            <a:r>
              <a:rPr lang="en-US" altLang="zh-CN" sz="2800" dirty="0" err="1"/>
              <a:t>S</a:t>
            </a:r>
            <a:r>
              <a:rPr lang="en-US" altLang="zh-CN" sz="2800" dirty="0" err="1">
                <a:cs typeface="Times New Roman" panose="02020603050405020304" pitchFamily="18" charset="0"/>
              </a:rPr>
              <a:t>'</a:t>
            </a:r>
            <a:r>
              <a:rPr lang="en-US" altLang="zh-CN" sz="2800" baseline="-25000" dirty="0" err="1"/>
              <a:t>i</a:t>
            </a:r>
            <a:r>
              <a:rPr lang="en-US" altLang="zh-CN" sz="2800" dirty="0"/>
              <a:t> </a:t>
            </a:r>
            <a:r>
              <a:rPr lang="zh-CN" altLang="en-US" sz="2800" dirty="0"/>
              <a:t>， </a:t>
            </a:r>
            <a:r>
              <a:rPr lang="en-US" altLang="zh-CN" sz="2800" dirty="0"/>
              <a:t>C</a:t>
            </a:r>
            <a:r>
              <a:rPr lang="en-US" altLang="zh-CN" sz="2800" baseline="-25000" dirty="0"/>
              <a:t>i</a:t>
            </a:r>
            <a:r>
              <a:rPr lang="zh-CN" altLang="en-US" sz="2800" baseline="-25000" dirty="0"/>
              <a:t>＋</a:t>
            </a:r>
            <a:r>
              <a:rPr lang="en-US" altLang="zh-CN" sz="2800" baseline="-25000" dirty="0"/>
              <a:t>1</a:t>
            </a:r>
            <a:r>
              <a:rPr lang="en-US" altLang="zh-CN" sz="2800" dirty="0"/>
              <a:t>=0</a:t>
            </a:r>
            <a:endParaRPr lang="en-US" altLang="zh-CN" sz="2800" dirty="0"/>
          </a:p>
          <a:p>
            <a:pPr marL="0" indent="0" eaLnBrk="1" hangingPunct="1">
              <a:lnSpc>
                <a:spcPct val="90000"/>
              </a:lnSpc>
              <a:buFont typeface="Wingdings 2" charset="2"/>
              <a:buNone/>
            </a:pPr>
            <a:r>
              <a:rPr lang="en-US" altLang="zh-CN" sz="2800" dirty="0"/>
              <a:t>2</a:t>
            </a:r>
            <a:r>
              <a:rPr lang="zh-CN" altLang="en-US" sz="2800" dirty="0"/>
              <a:t>）若</a:t>
            </a:r>
            <a:r>
              <a:rPr lang="en-US" altLang="zh-CN" sz="2800" dirty="0"/>
              <a:t>10≤X</a:t>
            </a:r>
            <a:r>
              <a:rPr lang="en-US" altLang="zh-CN" sz="2800" baseline="-25000" dirty="0"/>
              <a:t>i</a:t>
            </a:r>
            <a:r>
              <a:rPr lang="zh-CN" altLang="en-US" sz="2800" dirty="0"/>
              <a:t>＋</a:t>
            </a:r>
            <a:r>
              <a:rPr lang="en-US" altLang="zh-CN" sz="2800" dirty="0"/>
              <a:t>Y</a:t>
            </a:r>
            <a:r>
              <a:rPr lang="en-US" altLang="zh-CN" sz="2800" baseline="-25000" dirty="0"/>
              <a:t>i</a:t>
            </a:r>
            <a:r>
              <a:rPr lang="zh-CN" altLang="en-US" sz="2800" dirty="0"/>
              <a:t>＋</a:t>
            </a:r>
            <a:r>
              <a:rPr lang="en-US" altLang="zh-CN" sz="2800" dirty="0"/>
              <a:t>C</a:t>
            </a:r>
            <a:r>
              <a:rPr lang="en-US" altLang="zh-CN" sz="2800" baseline="-25000" dirty="0"/>
              <a:t>i</a:t>
            </a:r>
            <a:r>
              <a:rPr lang="en-US" altLang="zh-CN" sz="2800" dirty="0"/>
              <a:t>≤15</a:t>
            </a:r>
            <a:r>
              <a:rPr lang="zh-CN" altLang="en-US" sz="2800" dirty="0"/>
              <a:t>，则</a:t>
            </a:r>
            <a:r>
              <a:rPr lang="en-US" altLang="zh-CN" sz="2800" dirty="0" err="1"/>
              <a:t>C</a:t>
            </a:r>
            <a:r>
              <a:rPr lang="en-US" altLang="zh-CN" sz="2800" dirty="0" err="1">
                <a:cs typeface="Times New Roman" panose="02020603050405020304" pitchFamily="18" charset="0"/>
              </a:rPr>
              <a:t>'</a:t>
            </a:r>
            <a:r>
              <a:rPr lang="en-US" altLang="zh-CN" sz="2800" baseline="-25000" dirty="0" err="1"/>
              <a:t>i</a:t>
            </a:r>
            <a:r>
              <a:rPr lang="zh-CN" altLang="en-US" sz="2800" baseline="-25000" dirty="0"/>
              <a:t>＋</a:t>
            </a:r>
            <a:r>
              <a:rPr lang="en-US" altLang="zh-CN" sz="2800" baseline="-25000" dirty="0"/>
              <a:t>1</a:t>
            </a:r>
            <a:r>
              <a:rPr lang="zh-CN" altLang="en-US" sz="2800" dirty="0"/>
              <a:t>＝</a:t>
            </a:r>
            <a:r>
              <a:rPr lang="en-US" altLang="zh-CN" sz="2800" dirty="0"/>
              <a:t>0</a:t>
            </a:r>
            <a:r>
              <a:rPr lang="zh-CN" altLang="en-US" sz="2800" dirty="0"/>
              <a:t>，</a:t>
            </a:r>
            <a:r>
              <a:rPr lang="en-US" altLang="zh-CN" sz="2800" dirty="0">
                <a:solidFill>
                  <a:srgbClr val="FF0000"/>
                </a:solidFill>
              </a:rPr>
              <a:t>10≤S'</a:t>
            </a:r>
            <a:r>
              <a:rPr lang="en-US" altLang="zh-CN" sz="2800" baseline="-25000" dirty="0">
                <a:solidFill>
                  <a:srgbClr val="FF0000"/>
                </a:solidFill>
              </a:rPr>
              <a:t>i</a:t>
            </a:r>
            <a:r>
              <a:rPr lang="en-US" altLang="zh-CN" sz="2800" dirty="0">
                <a:solidFill>
                  <a:srgbClr val="FF0000"/>
                </a:solidFill>
              </a:rPr>
              <a:t>≤15</a:t>
            </a:r>
            <a:endParaRPr lang="en-US" altLang="zh-CN" sz="2800" dirty="0">
              <a:solidFill>
                <a:srgbClr val="FF0000"/>
              </a:solidFill>
            </a:endParaRPr>
          </a:p>
          <a:p>
            <a:pPr marL="0" indent="0" eaLnBrk="1" hangingPunct="1">
              <a:lnSpc>
                <a:spcPct val="90000"/>
              </a:lnSpc>
              <a:buFont typeface="Wingdings 2" charset="2"/>
              <a:buNone/>
            </a:pPr>
            <a:r>
              <a:rPr lang="en-US" altLang="zh-CN" sz="2800" dirty="0"/>
              <a:t>		S</a:t>
            </a:r>
            <a:r>
              <a:rPr lang="en-US" altLang="zh-CN" sz="2800" baseline="-25000" dirty="0"/>
              <a:t>i</a:t>
            </a:r>
            <a:r>
              <a:rPr lang="zh-CN" altLang="en-US" sz="2800" dirty="0"/>
              <a:t>＝</a:t>
            </a:r>
            <a:r>
              <a:rPr lang="en-US" altLang="zh-CN" sz="2800" dirty="0" err="1"/>
              <a:t>S</a:t>
            </a:r>
            <a:r>
              <a:rPr lang="en-US" altLang="zh-CN" sz="2800" dirty="0" err="1">
                <a:cs typeface="Times New Roman" panose="02020603050405020304" pitchFamily="18" charset="0"/>
              </a:rPr>
              <a:t>'</a:t>
            </a:r>
            <a:r>
              <a:rPr lang="en-US" altLang="zh-CN" sz="2800" baseline="-25000" dirty="0" err="1"/>
              <a:t>i</a:t>
            </a:r>
            <a:r>
              <a:rPr lang="zh-CN" altLang="en-US" sz="2800" dirty="0"/>
              <a:t>＋</a:t>
            </a:r>
            <a:r>
              <a:rPr lang="en-US" altLang="zh-CN" sz="2800" dirty="0"/>
              <a:t>6 </a:t>
            </a:r>
            <a:r>
              <a:rPr lang="zh-CN" altLang="en-US" sz="2800" dirty="0"/>
              <a:t>（</a:t>
            </a:r>
            <a:r>
              <a:rPr lang="en-US" altLang="zh-CN" sz="2800" dirty="0"/>
              <a:t>mod 16</a:t>
            </a:r>
            <a:r>
              <a:rPr lang="zh-CN" altLang="en-US" sz="2800" dirty="0"/>
              <a:t>），</a:t>
            </a:r>
            <a:r>
              <a:rPr lang="en-US" altLang="zh-CN" sz="2800" dirty="0"/>
              <a:t>C</a:t>
            </a:r>
            <a:r>
              <a:rPr lang="en-US" altLang="zh-CN" sz="2800" baseline="-25000" dirty="0"/>
              <a:t>i</a:t>
            </a:r>
            <a:r>
              <a:rPr lang="zh-CN" altLang="en-US" sz="2800" baseline="-25000" dirty="0"/>
              <a:t>＋</a:t>
            </a:r>
            <a:r>
              <a:rPr lang="en-US" altLang="zh-CN" sz="2800" baseline="-25000" dirty="0"/>
              <a:t>1</a:t>
            </a:r>
            <a:r>
              <a:rPr lang="en-US" altLang="zh-CN" sz="2800" dirty="0"/>
              <a:t>=1</a:t>
            </a:r>
            <a:endParaRPr lang="en-US" altLang="zh-CN" sz="2800" dirty="0"/>
          </a:p>
          <a:p>
            <a:pPr marL="0" indent="0" algn="r" eaLnBrk="1" hangingPunct="1">
              <a:lnSpc>
                <a:spcPct val="90000"/>
              </a:lnSpc>
              <a:buFont typeface="Wingdings 2" charset="2"/>
              <a:buNone/>
            </a:pPr>
            <a:r>
              <a:rPr lang="en-US" altLang="zh-CN" sz="2800" u="sng" dirty="0">
                <a:solidFill>
                  <a:srgbClr val="CC3300"/>
                </a:solidFill>
                <a:effectLst>
                  <a:outerShdw blurRad="38100" dist="38100" dir="2700000" algn="tl">
                    <a:srgbClr val="C0C0C0"/>
                  </a:outerShdw>
                </a:effectLst>
              </a:rPr>
              <a:t>11xx</a:t>
            </a:r>
            <a:r>
              <a:rPr lang="zh-CN" altLang="en-US" sz="2800" u="sng" dirty="0">
                <a:solidFill>
                  <a:srgbClr val="CC3300"/>
                </a:solidFill>
                <a:effectLst>
                  <a:outerShdw blurRad="38100" dist="38100" dir="2700000" algn="tl">
                    <a:srgbClr val="C0C0C0"/>
                  </a:outerShdw>
                </a:effectLst>
              </a:rPr>
              <a:t>或</a:t>
            </a:r>
            <a:r>
              <a:rPr lang="en-US" altLang="zh-CN" sz="2800" u="sng" dirty="0">
                <a:solidFill>
                  <a:srgbClr val="CC3300"/>
                </a:solidFill>
                <a:effectLst>
                  <a:outerShdw blurRad="38100" dist="38100" dir="2700000" algn="tl">
                    <a:srgbClr val="C0C0C0"/>
                  </a:outerShdw>
                </a:effectLst>
              </a:rPr>
              <a:t>1x1x       </a:t>
            </a:r>
            <a:endParaRPr lang="en-US" altLang="zh-CN" sz="2800" u="sng" dirty="0">
              <a:solidFill>
                <a:srgbClr val="CC3300"/>
              </a:solidFill>
              <a:effectLst>
                <a:outerShdw blurRad="38100" dist="38100" dir="2700000" algn="tl">
                  <a:srgbClr val="C0C0C0"/>
                </a:outerShdw>
              </a:effectLst>
            </a:endParaRPr>
          </a:p>
          <a:p>
            <a:pPr marL="0" indent="0" eaLnBrk="1" hangingPunct="1">
              <a:lnSpc>
                <a:spcPct val="90000"/>
              </a:lnSpc>
              <a:buFont typeface="Wingdings 2" charset="2"/>
              <a:buNone/>
            </a:pPr>
            <a:r>
              <a:rPr lang="en-US" altLang="zh-CN" sz="2800" dirty="0"/>
              <a:t>3</a:t>
            </a:r>
            <a:r>
              <a:rPr lang="zh-CN" altLang="en-US" sz="2800" dirty="0"/>
              <a:t>）若</a:t>
            </a:r>
            <a:r>
              <a:rPr lang="en-US" altLang="zh-CN" sz="2800" dirty="0"/>
              <a:t>16≤X</a:t>
            </a:r>
            <a:r>
              <a:rPr lang="en-US" altLang="zh-CN" sz="2800" baseline="-25000" dirty="0"/>
              <a:t>i</a:t>
            </a:r>
            <a:r>
              <a:rPr lang="zh-CN" altLang="en-US" sz="2800" dirty="0"/>
              <a:t>＋</a:t>
            </a:r>
            <a:r>
              <a:rPr lang="en-US" altLang="zh-CN" sz="2800" dirty="0"/>
              <a:t>Y</a:t>
            </a:r>
            <a:r>
              <a:rPr lang="en-US" altLang="zh-CN" sz="2800" baseline="-25000" dirty="0"/>
              <a:t>i</a:t>
            </a:r>
            <a:r>
              <a:rPr lang="zh-CN" altLang="en-US" sz="2800" dirty="0"/>
              <a:t>＋</a:t>
            </a:r>
            <a:r>
              <a:rPr lang="en-US" altLang="zh-CN" sz="2800" dirty="0"/>
              <a:t>C</a:t>
            </a:r>
            <a:r>
              <a:rPr lang="en-US" altLang="zh-CN" sz="2800" baseline="-25000" dirty="0"/>
              <a:t>i</a:t>
            </a:r>
            <a:r>
              <a:rPr lang="en-US" altLang="zh-CN" sz="2800" dirty="0"/>
              <a:t>≤19</a:t>
            </a:r>
            <a:r>
              <a:rPr lang="zh-CN" altLang="en-US" sz="2800" dirty="0"/>
              <a:t>，则</a:t>
            </a:r>
            <a:r>
              <a:rPr lang="en-US" altLang="zh-CN" sz="2800" dirty="0" err="1">
                <a:solidFill>
                  <a:srgbClr val="FF0000"/>
                </a:solidFill>
                <a:effectLst>
                  <a:outerShdw blurRad="38100" dist="38100" dir="2700000" algn="tl">
                    <a:srgbClr val="C0C0C0"/>
                  </a:outerShdw>
                </a:effectLst>
              </a:rPr>
              <a:t>C'</a:t>
            </a:r>
            <a:r>
              <a:rPr lang="en-US" altLang="zh-CN" sz="2800" baseline="-25000" dirty="0" err="1">
                <a:solidFill>
                  <a:srgbClr val="FF0000"/>
                </a:solidFill>
                <a:effectLst>
                  <a:outerShdw blurRad="38100" dist="38100" dir="2700000" algn="tl">
                    <a:srgbClr val="C0C0C0"/>
                  </a:outerShdw>
                </a:effectLst>
              </a:rPr>
              <a:t>i</a:t>
            </a:r>
            <a:r>
              <a:rPr lang="zh-CN" altLang="en-US" sz="2800" baseline="-25000" dirty="0">
                <a:solidFill>
                  <a:srgbClr val="FF0000"/>
                </a:solidFill>
                <a:effectLst>
                  <a:outerShdw blurRad="38100" dist="38100" dir="2700000" algn="tl">
                    <a:srgbClr val="C0C0C0"/>
                  </a:outerShdw>
                </a:effectLst>
              </a:rPr>
              <a:t>＋</a:t>
            </a:r>
            <a:r>
              <a:rPr lang="en-US" altLang="zh-CN" sz="2800" baseline="-25000" dirty="0">
                <a:solidFill>
                  <a:srgbClr val="FF0000"/>
                </a:solidFill>
                <a:effectLst>
                  <a:outerShdw blurRad="38100" dist="38100" dir="2700000" algn="tl">
                    <a:srgbClr val="C0C0C0"/>
                  </a:outerShdw>
                </a:effectLst>
              </a:rPr>
              <a:t>1</a:t>
            </a:r>
            <a:r>
              <a:rPr lang="zh-CN" altLang="en-US" sz="2800" dirty="0">
                <a:solidFill>
                  <a:srgbClr val="FF0000"/>
                </a:solidFill>
                <a:effectLst>
                  <a:outerShdw blurRad="38100" dist="38100" dir="2700000" algn="tl">
                    <a:srgbClr val="C0C0C0"/>
                  </a:outerShdw>
                </a:effectLst>
              </a:rPr>
              <a:t>＝</a:t>
            </a:r>
            <a:r>
              <a:rPr lang="en-US" altLang="zh-CN" sz="2800" dirty="0">
                <a:solidFill>
                  <a:srgbClr val="FF0000"/>
                </a:solidFill>
                <a:effectLst>
                  <a:outerShdw blurRad="38100" dist="38100" dir="2700000" algn="tl">
                    <a:srgbClr val="C0C0C0"/>
                  </a:outerShdw>
                </a:effectLst>
              </a:rPr>
              <a:t>1</a:t>
            </a:r>
            <a:r>
              <a:rPr lang="zh-CN" altLang="en-US" sz="2800" dirty="0"/>
              <a:t>，</a:t>
            </a:r>
            <a:r>
              <a:rPr lang="en-US" altLang="zh-CN" sz="2800" dirty="0"/>
              <a:t>0≤S'</a:t>
            </a:r>
            <a:r>
              <a:rPr lang="en-US" altLang="zh-CN" sz="2800" baseline="-25000" dirty="0"/>
              <a:t>i</a:t>
            </a:r>
            <a:r>
              <a:rPr lang="en-US" altLang="zh-CN" sz="2800" dirty="0"/>
              <a:t>≤3</a:t>
            </a:r>
            <a:endParaRPr lang="en-US" altLang="zh-CN" sz="2800" dirty="0"/>
          </a:p>
          <a:p>
            <a:pPr marL="0" indent="0" eaLnBrk="1" hangingPunct="1">
              <a:lnSpc>
                <a:spcPct val="90000"/>
              </a:lnSpc>
              <a:buFont typeface="Wingdings 2" charset="2"/>
              <a:buNone/>
            </a:pPr>
            <a:r>
              <a:rPr lang="en-US" altLang="zh-CN" sz="2800" dirty="0"/>
              <a:t>		S</a:t>
            </a:r>
            <a:r>
              <a:rPr lang="en-US" altLang="zh-CN" sz="2800" baseline="-25000" dirty="0"/>
              <a:t>i</a:t>
            </a:r>
            <a:r>
              <a:rPr lang="zh-CN" altLang="en-US" sz="2800" dirty="0"/>
              <a:t>＝</a:t>
            </a:r>
            <a:r>
              <a:rPr lang="en-US" altLang="zh-CN" sz="2800" dirty="0" err="1"/>
              <a:t>S</a:t>
            </a:r>
            <a:r>
              <a:rPr lang="en-US" altLang="zh-CN" sz="2800" dirty="0" err="1">
                <a:cs typeface="Times New Roman" panose="02020603050405020304" pitchFamily="18" charset="0"/>
              </a:rPr>
              <a:t>'</a:t>
            </a:r>
            <a:r>
              <a:rPr lang="en-US" altLang="zh-CN" sz="2800" baseline="-25000" dirty="0" err="1"/>
              <a:t>i</a:t>
            </a:r>
            <a:r>
              <a:rPr lang="zh-CN" altLang="en-US" sz="2800" dirty="0"/>
              <a:t>＋</a:t>
            </a:r>
            <a:r>
              <a:rPr lang="en-US" altLang="zh-CN" sz="2800" dirty="0"/>
              <a:t>6 </a:t>
            </a:r>
            <a:r>
              <a:rPr lang="zh-CN" altLang="en-US" sz="2800" dirty="0"/>
              <a:t>（</a:t>
            </a:r>
            <a:r>
              <a:rPr lang="en-US" altLang="zh-CN" sz="2800" dirty="0"/>
              <a:t>mod 16</a:t>
            </a:r>
            <a:r>
              <a:rPr lang="zh-CN" altLang="en-US" sz="2800" dirty="0"/>
              <a:t>），</a:t>
            </a:r>
            <a:r>
              <a:rPr lang="en-US" altLang="zh-CN" sz="2800" dirty="0"/>
              <a:t>C</a:t>
            </a:r>
            <a:r>
              <a:rPr lang="en-US" altLang="zh-CN" sz="2800" baseline="-25000" dirty="0"/>
              <a:t>i</a:t>
            </a:r>
            <a:r>
              <a:rPr lang="zh-CN" altLang="en-US" sz="2800" baseline="-25000" dirty="0"/>
              <a:t>＋</a:t>
            </a:r>
            <a:r>
              <a:rPr lang="en-US" altLang="zh-CN" sz="2800" baseline="-25000" dirty="0"/>
              <a:t>1</a:t>
            </a:r>
            <a:r>
              <a:rPr lang="en-US" altLang="zh-CN" sz="2800" dirty="0"/>
              <a:t>=1</a:t>
            </a:r>
            <a:endParaRPr lang="en-US" altLang="zh-CN" sz="2800" u="sng" dirty="0">
              <a:effectLst>
                <a:outerShdw blurRad="38100" dist="38100" dir="2700000" algn="tl">
                  <a:srgbClr val="C0C0C0"/>
                </a:outerShdw>
              </a:effectLst>
            </a:endParaRPr>
          </a:p>
        </p:txBody>
      </p:sp>
      <p:sp>
        <p:nvSpPr>
          <p:cNvPr id="94212" name="AutoShape 4"/>
          <p:cNvSpPr>
            <a:spLocks noChangeArrowheads="1"/>
          </p:cNvSpPr>
          <p:nvPr/>
        </p:nvSpPr>
        <p:spPr bwMode="auto">
          <a:xfrm>
            <a:off x="7380288" y="4508500"/>
            <a:ext cx="288925" cy="360363"/>
          </a:xfrm>
          <a:prstGeom prst="downArrow">
            <a:avLst>
              <a:gd name="adj1" fmla="val 50000"/>
              <a:gd name="adj2" fmla="val 31181"/>
            </a:avLst>
          </a:prstGeom>
          <a:solidFill>
            <a:srgbClr val="CC3300"/>
          </a:solidFill>
          <a:ln w="15875" algn="ctr">
            <a:solidFill>
              <a:schemeClr val="bg1"/>
            </a:solidFill>
            <a:miter lim="800000"/>
          </a:ln>
          <a:effectLst>
            <a:outerShdw dist="35921" dir="2700000" algn="ctr" rotWithShape="0">
              <a:schemeClr val="bg2">
                <a:alpha val="50000"/>
              </a:schemeClr>
            </a:outerShdw>
          </a:effec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Tree>
  </p:cSld>
  <p:clrMapOvr>
    <a:masterClrMapping/>
  </p:clrMapOvr>
  <p:transition spd="med">
    <p:pull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0" name="Rectangle 2"/>
          <p:cNvSpPr>
            <a:spLocks noGrp="1" noChangeArrowheads="1"/>
          </p:cNvSpPr>
          <p:nvPr>
            <p:ph type="title"/>
          </p:nvPr>
        </p:nvSpPr>
        <p:spPr/>
        <p:txBody>
          <a:bodyPr/>
          <a:lstStyle/>
          <a:p>
            <a:pPr eaLnBrk="1" hangingPunct="1"/>
            <a:r>
              <a:rPr lang="en-US" altLang="zh-CN"/>
              <a:t>1</a:t>
            </a:r>
            <a:r>
              <a:rPr lang="zh-CN" altLang="en-US"/>
              <a:t>位十进制加法器电路</a:t>
            </a:r>
            <a:endParaRPr lang="zh-CN" altLang="en-US"/>
          </a:p>
        </p:txBody>
      </p:sp>
      <p:sp>
        <p:nvSpPr>
          <p:cNvPr id="95234" name="Rectangle 3"/>
          <p:cNvSpPr>
            <a:spLocks noGrp="1" noChangeArrowheads="1"/>
          </p:cNvSpPr>
          <p:nvPr>
            <p:ph idx="1"/>
          </p:nvPr>
        </p:nvSpPr>
        <p:spPr/>
        <p:txBody>
          <a:bodyPr/>
          <a:lstStyle/>
          <a:p>
            <a:pPr eaLnBrk="1" hangingPunct="1"/>
            <a:endParaRPr lang="zh-CN" altLang="zh-CN"/>
          </a:p>
        </p:txBody>
      </p:sp>
      <p:pic>
        <p:nvPicPr>
          <p:cNvPr id="95236" name="Picture 4"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8313" y="1509713"/>
            <a:ext cx="8172450" cy="419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p:cNvSpPr>
            <a:spLocks noGrp="1" noChangeArrowheads="1"/>
          </p:cNvSpPr>
          <p:nvPr>
            <p:ph type="title"/>
          </p:nvPr>
        </p:nvSpPr>
        <p:spPr>
          <a:xfrm>
            <a:off x="100012" y="228040"/>
            <a:ext cx="9109075" cy="762000"/>
          </a:xfrm>
        </p:spPr>
        <p:txBody>
          <a:bodyPr/>
          <a:lstStyle/>
          <a:p>
            <a:pPr eaLnBrk="1" hangingPunct="1"/>
            <a:r>
              <a:rPr lang="en-US" altLang="zh-CN" sz="4800" dirty="0"/>
              <a:t>n</a:t>
            </a:r>
            <a:r>
              <a:rPr lang="zh-CN" altLang="en-US" sz="4800" dirty="0"/>
              <a:t>位数的行波进位</a:t>
            </a:r>
            <a:r>
              <a:rPr lang="en-US" altLang="zh-CN" sz="4800" dirty="0"/>
              <a:t>BCD</a:t>
            </a:r>
            <a:r>
              <a:rPr lang="zh-CN" altLang="en-US" sz="4800" dirty="0"/>
              <a:t>加法器</a:t>
            </a:r>
            <a:endParaRPr lang="zh-CN" altLang="en-US" sz="4800" dirty="0"/>
          </a:p>
        </p:txBody>
      </p:sp>
      <p:sp>
        <p:nvSpPr>
          <p:cNvPr id="96258" name="Rectangle 3"/>
          <p:cNvSpPr>
            <a:spLocks noGrp="1" noChangeArrowheads="1"/>
          </p:cNvSpPr>
          <p:nvPr>
            <p:ph type="body" sz="half" idx="1"/>
          </p:nvPr>
        </p:nvSpPr>
        <p:spPr>
          <a:xfrm>
            <a:off x="179388" y="981075"/>
            <a:ext cx="8375650" cy="1457325"/>
          </a:xfrm>
        </p:spPr>
        <p:txBody>
          <a:bodyPr/>
          <a:lstStyle/>
          <a:p>
            <a:pPr eaLnBrk="1" hangingPunct="1"/>
            <a:endParaRPr lang="zh-CN" altLang="zh-CN"/>
          </a:p>
        </p:txBody>
      </p:sp>
      <p:pic>
        <p:nvPicPr>
          <p:cNvPr id="96259" name="Picture 4" descr="2"/>
          <p:cNvPicPr>
            <a:picLocks noGrp="1" noChangeAspect="1" noChangeArrowheads="1"/>
          </p:cNvPicPr>
          <p:nvPr>
            <p:ph sz="half" idx="2"/>
          </p:nvPr>
        </p:nvPicPr>
        <p:blipFill>
          <a:blip r:embed="rId1">
            <a:lum bright="-24000" contrast="48000"/>
            <a:extLst>
              <a:ext uri="{28A0092B-C50C-407E-A947-70E740481C1C}">
                <a14:useLocalDpi xmlns:a14="http://schemas.microsoft.com/office/drawing/2010/main" val="0"/>
              </a:ext>
            </a:extLst>
          </a:blip>
          <a:srcRect/>
          <a:stretch>
            <a:fillRect/>
          </a:stretch>
        </p:blipFill>
        <p:spPr>
          <a:xfrm>
            <a:off x="541338" y="2578100"/>
            <a:ext cx="8226425" cy="2530475"/>
          </a:xfrm>
          <a:noFill/>
        </p:spPr>
      </p:pic>
    </p:spTree>
  </p:cSld>
  <p:clrMapOvr>
    <a:masterClrMapping/>
  </p:clrMapOvr>
  <p:transition spd="med">
    <p:pull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p:cNvSpPr>
            <a:spLocks noGrp="1" noChangeArrowheads="1"/>
          </p:cNvSpPr>
          <p:nvPr>
            <p:ph type="title"/>
          </p:nvPr>
        </p:nvSpPr>
        <p:spPr/>
        <p:txBody>
          <a:bodyPr/>
          <a:lstStyle/>
          <a:p>
            <a:pPr eaLnBrk="1" hangingPunct="1"/>
            <a:r>
              <a:rPr lang="zh-CN" altLang="en-US" dirty="0"/>
              <a:t>单总线结构运算器</a:t>
            </a:r>
            <a:endParaRPr lang="zh-CN" altLang="en-US" dirty="0"/>
          </a:p>
        </p:txBody>
      </p:sp>
      <p:sp>
        <p:nvSpPr>
          <p:cNvPr id="97282" name="Rectangle 3"/>
          <p:cNvSpPr>
            <a:spLocks noGrp="1" noChangeArrowheads="1"/>
          </p:cNvSpPr>
          <p:nvPr>
            <p:ph idx="1"/>
          </p:nvPr>
        </p:nvSpPr>
        <p:spPr/>
        <p:txBody>
          <a:bodyPr/>
          <a:lstStyle/>
          <a:p>
            <a:pPr eaLnBrk="1" hangingPunct="1"/>
            <a:r>
              <a:rPr lang="zh-CN" altLang="en-US"/>
              <a:t>所有部件都接到同一总线上 </a:t>
            </a:r>
            <a:endParaRPr lang="zh-CN" altLang="en-US"/>
          </a:p>
          <a:p>
            <a:pPr eaLnBrk="1" hangingPunct="1"/>
            <a:r>
              <a:rPr lang="zh-CN" altLang="en-US"/>
              <a:t>在某一时刻，只有一个操作数能放在总线上</a:t>
            </a:r>
            <a:endParaRPr lang="zh-CN" altLang="en-US"/>
          </a:p>
          <a:p>
            <a:pPr eaLnBrk="1" hangingPunct="1"/>
            <a:r>
              <a:rPr lang="zh-CN" altLang="en-US"/>
              <a:t>控制电路比较简单，但操作速度较慢 </a:t>
            </a:r>
            <a:endParaRPr lang="zh-CN" altLang="en-US"/>
          </a:p>
        </p:txBody>
      </p:sp>
      <p:pic>
        <p:nvPicPr>
          <p:cNvPr id="97284" name="Picture 4"/>
          <p:cNvPicPr>
            <a:picLocks noChangeAspect="1" noChangeArrowheads="1"/>
          </p:cNvPicPr>
          <p:nvPr/>
        </p:nvPicPr>
        <p:blipFill>
          <a:blip r:embed="rId1">
            <a:extLst>
              <a:ext uri="{28A0092B-C50C-407E-A947-70E740481C1C}">
                <a14:useLocalDpi xmlns:a14="http://schemas.microsoft.com/office/drawing/2010/main" val="0"/>
              </a:ext>
            </a:extLst>
          </a:blip>
          <a:srcRect l="11218" t="17349" r="8858" b="33223"/>
          <a:stretch>
            <a:fillRect/>
          </a:stretch>
        </p:blipFill>
        <p:spPr bwMode="auto">
          <a:xfrm>
            <a:off x="698500" y="2686050"/>
            <a:ext cx="7761288"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330" name="Rectangle 2"/>
          <p:cNvSpPr>
            <a:spLocks noGrp="1" noChangeArrowheads="1"/>
          </p:cNvSpPr>
          <p:nvPr>
            <p:ph type="title"/>
          </p:nvPr>
        </p:nvSpPr>
        <p:spPr/>
        <p:txBody>
          <a:bodyPr/>
          <a:lstStyle/>
          <a:p>
            <a:pPr eaLnBrk="1" hangingPunct="1"/>
            <a:r>
              <a:rPr lang="zh-CN" altLang="en-US"/>
              <a:t>双总线结构运算器</a:t>
            </a:r>
            <a:endParaRPr lang="zh-CN" altLang="en-US"/>
          </a:p>
        </p:txBody>
      </p:sp>
      <p:sp>
        <p:nvSpPr>
          <p:cNvPr id="98306" name="Rectangle 3"/>
          <p:cNvSpPr>
            <a:spLocks noGrp="1" noChangeArrowheads="1"/>
          </p:cNvSpPr>
          <p:nvPr>
            <p:ph idx="1"/>
          </p:nvPr>
        </p:nvSpPr>
        <p:spPr/>
        <p:txBody>
          <a:bodyPr/>
          <a:lstStyle/>
          <a:p>
            <a:pPr eaLnBrk="1" hangingPunct="1"/>
            <a:r>
              <a:rPr lang="zh-CN" altLang="en-US" sz="2800"/>
              <a:t>两个操作数可同时加到</a:t>
            </a:r>
            <a:r>
              <a:rPr lang="en-US" altLang="zh-CN" sz="2800"/>
              <a:t>ALU</a:t>
            </a:r>
            <a:r>
              <a:rPr lang="zh-CN" altLang="en-US" sz="2800"/>
              <a:t>进行运算 </a:t>
            </a:r>
            <a:endParaRPr lang="zh-CN" altLang="en-US" sz="2800"/>
          </a:p>
          <a:p>
            <a:pPr eaLnBrk="1" hangingPunct="1"/>
            <a:r>
              <a:rPr lang="zh-CN" altLang="en-US" sz="2800"/>
              <a:t>特殊寄存器分为两组，它们分别与一条总线交换数据</a:t>
            </a:r>
            <a:endParaRPr lang="zh-CN" altLang="en-US" sz="2800"/>
          </a:p>
          <a:p>
            <a:pPr eaLnBrk="1" hangingPunct="1"/>
            <a:r>
              <a:rPr lang="zh-CN" altLang="en-US" sz="2800"/>
              <a:t>控制电路稍复杂，操作速度较快 </a:t>
            </a:r>
            <a:endParaRPr lang="zh-CN" altLang="en-US" sz="2800"/>
          </a:p>
        </p:txBody>
      </p:sp>
      <p:pic>
        <p:nvPicPr>
          <p:cNvPr id="98308" name="Picture 4"/>
          <p:cNvPicPr>
            <a:picLocks noChangeAspect="1" noChangeArrowheads="1"/>
          </p:cNvPicPr>
          <p:nvPr/>
        </p:nvPicPr>
        <p:blipFill>
          <a:blip r:embed="rId1">
            <a:extLst>
              <a:ext uri="{28A0092B-C50C-407E-A947-70E740481C1C}">
                <a14:useLocalDpi xmlns:a14="http://schemas.microsoft.com/office/drawing/2010/main" val="0"/>
              </a:ext>
            </a:extLst>
          </a:blip>
          <a:srcRect l="10333" t="12920" r="11809" b="29532"/>
          <a:stretch>
            <a:fillRect/>
          </a:stretch>
        </p:blipFill>
        <p:spPr bwMode="auto">
          <a:xfrm>
            <a:off x="1403350" y="2466975"/>
            <a:ext cx="6392863" cy="37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pic>
    </p:spTree>
  </p:cSld>
  <p:clrMapOvr>
    <a:masterClrMapping/>
  </p:clrMapOvr>
  <p:transition spd="med">
    <p:pull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Rectangle 2"/>
          <p:cNvSpPr>
            <a:spLocks noGrp="1" noChangeArrowheads="1"/>
          </p:cNvSpPr>
          <p:nvPr>
            <p:ph type="title"/>
          </p:nvPr>
        </p:nvSpPr>
        <p:spPr/>
        <p:txBody>
          <a:bodyPr/>
          <a:lstStyle/>
          <a:p>
            <a:pPr eaLnBrk="1" hangingPunct="1"/>
            <a:r>
              <a:rPr lang="zh-CN" altLang="en-US"/>
              <a:t>三总线结构运算器</a:t>
            </a:r>
            <a:endParaRPr lang="zh-CN" altLang="en-US"/>
          </a:p>
        </p:txBody>
      </p:sp>
      <p:sp>
        <p:nvSpPr>
          <p:cNvPr id="99330" name="Rectangle 3"/>
          <p:cNvSpPr>
            <a:spLocks noGrp="1" noChangeArrowheads="1"/>
          </p:cNvSpPr>
          <p:nvPr>
            <p:ph idx="1"/>
          </p:nvPr>
        </p:nvSpPr>
        <p:spPr/>
        <p:txBody>
          <a:bodyPr/>
          <a:lstStyle/>
          <a:p>
            <a:pPr eaLnBrk="1" hangingPunct="1"/>
            <a:r>
              <a:rPr lang="en-US" altLang="zh-CN" sz="2800"/>
              <a:t>ALU</a:t>
            </a:r>
            <a:r>
              <a:rPr lang="zh-CN" altLang="en-US" sz="2800"/>
              <a:t>的两个输入端各连至一条总线，而输出端连至第三条总线。算术逻辑操作可在一步控制之内完成</a:t>
            </a:r>
            <a:endParaRPr lang="zh-CN" altLang="en-US" sz="2800"/>
          </a:p>
          <a:p>
            <a:pPr eaLnBrk="1" hangingPunct="1"/>
            <a:r>
              <a:rPr lang="zh-CN" altLang="en-US" sz="2800"/>
              <a:t>控制电路复杂，操作速度快</a:t>
            </a:r>
            <a:r>
              <a:rPr lang="zh-CN" altLang="en-US"/>
              <a:t> </a:t>
            </a:r>
            <a:endParaRPr lang="zh-CN" altLang="en-US"/>
          </a:p>
        </p:txBody>
      </p:sp>
      <p:pic>
        <p:nvPicPr>
          <p:cNvPr id="99332" name="Picture 4"/>
          <p:cNvPicPr>
            <a:picLocks noChangeAspect="1" noChangeArrowheads="1"/>
          </p:cNvPicPr>
          <p:nvPr/>
        </p:nvPicPr>
        <p:blipFill>
          <a:blip r:embed="rId1">
            <a:extLst>
              <a:ext uri="{28A0092B-C50C-407E-A947-70E740481C1C}">
                <a14:useLocalDpi xmlns:a14="http://schemas.microsoft.com/office/drawing/2010/main" val="0"/>
              </a:ext>
            </a:extLst>
          </a:blip>
          <a:srcRect l="13286" t="12920" r="17714" b="33223"/>
          <a:stretch>
            <a:fillRect/>
          </a:stretch>
        </p:blipFill>
        <p:spPr bwMode="auto">
          <a:xfrm>
            <a:off x="1331913" y="2420938"/>
            <a:ext cx="6265862"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pic>
    </p:spTree>
  </p:cSld>
  <p:clrMapOvr>
    <a:masterClrMapping/>
  </p:clrMapOvr>
  <p:transition spd="med">
    <p:pull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a:xfrm>
            <a:off x="723900" y="1295400"/>
            <a:ext cx="7696200" cy="812800"/>
          </a:xfrm>
        </p:spPr>
        <p:txBody>
          <a:bodyPr/>
          <a:lstStyle/>
          <a:p>
            <a:r>
              <a:rPr lang="en-US" altLang="zh-CN" dirty="0"/>
              <a:t>2.6 </a:t>
            </a:r>
            <a:r>
              <a:rPr lang="zh-CN" altLang="en-US" dirty="0"/>
              <a:t>浮点运算方法和浮点运算器</a:t>
            </a:r>
            <a:endParaRPr lang="zh-CN" altLang="en-US" dirty="0"/>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522" name="Rectangle 2"/>
          <p:cNvSpPr>
            <a:spLocks noGrp="1" noChangeArrowheads="1"/>
          </p:cNvSpPr>
          <p:nvPr>
            <p:ph type="title"/>
          </p:nvPr>
        </p:nvSpPr>
        <p:spPr/>
        <p:txBody>
          <a:bodyPr/>
          <a:lstStyle/>
          <a:p>
            <a:pPr eaLnBrk="1" hangingPunct="1"/>
            <a:r>
              <a:rPr lang="zh-CN" altLang="en-US"/>
              <a:t>浮点数加、减法</a:t>
            </a:r>
            <a:endParaRPr lang="zh-CN" altLang="en-US"/>
          </a:p>
        </p:txBody>
      </p:sp>
      <p:sp>
        <p:nvSpPr>
          <p:cNvPr id="102402" name="Rectangle 3"/>
          <p:cNvSpPr>
            <a:spLocks noGrp="1" noChangeArrowheads="1"/>
          </p:cNvSpPr>
          <p:nvPr>
            <p:ph idx="1"/>
          </p:nvPr>
        </p:nvSpPr>
        <p:spPr/>
        <p:txBody>
          <a:bodyPr/>
          <a:lstStyle/>
          <a:p>
            <a:pPr eaLnBrk="1" hangingPunct="1">
              <a:buFont typeface="Wingdings 2" charset="2"/>
              <a:buNone/>
            </a:pPr>
            <a:r>
              <a:rPr lang="zh-CN" altLang="en-US" sz="2800" dirty="0">
                <a:latin typeface="楷体_GB2312" pitchFamily="49" charset="-122"/>
              </a:rPr>
              <a:t>设有两个浮点数ｘ＝</a:t>
            </a:r>
            <a:r>
              <a:rPr lang="en-US" altLang="zh-CN" sz="2800" dirty="0">
                <a:latin typeface="楷体_GB2312" pitchFamily="49" charset="-122"/>
              </a:rPr>
              <a:t>2</a:t>
            </a:r>
            <a:r>
              <a:rPr lang="en-US" altLang="zh-CN" sz="2800" baseline="30000" dirty="0">
                <a:latin typeface="楷体_GB2312" pitchFamily="49" charset="-122"/>
              </a:rPr>
              <a:t>E</a:t>
            </a:r>
            <a:r>
              <a:rPr lang="zh-CN" altLang="en-US" sz="2800" baseline="30000" dirty="0">
                <a:latin typeface="楷体_GB2312" pitchFamily="49" charset="-122"/>
              </a:rPr>
              <a:t>ｘ</a:t>
            </a:r>
            <a:r>
              <a:rPr lang="en-US" altLang="zh-CN" sz="2800" dirty="0"/>
              <a:t>·</a:t>
            </a:r>
            <a:r>
              <a:rPr lang="en-US" altLang="zh-CN" sz="2800" dirty="0">
                <a:latin typeface="楷体_GB2312" pitchFamily="49" charset="-122"/>
              </a:rPr>
              <a:t>M</a:t>
            </a:r>
            <a:r>
              <a:rPr lang="zh-CN" altLang="en-US" sz="2800" baseline="-25000" dirty="0">
                <a:latin typeface="楷体_GB2312" pitchFamily="49" charset="-122"/>
              </a:rPr>
              <a:t>ｘ</a:t>
            </a:r>
            <a:endParaRPr lang="zh-CN" altLang="en-US" sz="2800" baseline="-25000" dirty="0">
              <a:latin typeface="楷体_GB2312" pitchFamily="49" charset="-122"/>
            </a:endParaRPr>
          </a:p>
          <a:p>
            <a:pPr eaLnBrk="1" hangingPunct="1">
              <a:buFont typeface="Wingdings 2" charset="2"/>
              <a:buNone/>
            </a:pPr>
            <a:r>
              <a:rPr lang="zh-CN" altLang="en-US" sz="2800" dirty="0">
                <a:latin typeface="楷体_GB2312" pitchFamily="49" charset="-122"/>
              </a:rPr>
              <a:t>              ｙ＝</a:t>
            </a:r>
            <a:r>
              <a:rPr lang="en-US" altLang="zh-CN" sz="2800" dirty="0">
                <a:latin typeface="楷体_GB2312" pitchFamily="49" charset="-122"/>
              </a:rPr>
              <a:t>2</a:t>
            </a:r>
            <a:r>
              <a:rPr lang="en-US" altLang="zh-CN" sz="2800" baseline="30000" dirty="0">
                <a:latin typeface="楷体_GB2312" pitchFamily="49" charset="-122"/>
              </a:rPr>
              <a:t>E</a:t>
            </a:r>
            <a:r>
              <a:rPr lang="zh-CN" altLang="en-US" sz="2800" baseline="30000" dirty="0">
                <a:latin typeface="楷体_GB2312" pitchFamily="49" charset="-122"/>
              </a:rPr>
              <a:t>ｙ</a:t>
            </a:r>
            <a:r>
              <a:rPr lang="en-US" altLang="zh-CN" sz="2800" dirty="0"/>
              <a:t>·</a:t>
            </a:r>
            <a:r>
              <a:rPr lang="en-US" altLang="zh-CN" sz="2800" dirty="0">
                <a:latin typeface="楷体_GB2312" pitchFamily="49" charset="-122"/>
              </a:rPr>
              <a:t>M</a:t>
            </a:r>
            <a:r>
              <a:rPr lang="zh-CN" altLang="en-US" sz="2800" baseline="-25000" dirty="0">
                <a:latin typeface="楷体_GB2312" pitchFamily="49" charset="-122"/>
              </a:rPr>
              <a:t>ｙ</a:t>
            </a:r>
            <a:endParaRPr lang="zh-CN" altLang="en-US" sz="2800" baseline="-25000" dirty="0">
              <a:latin typeface="楷体_GB2312" pitchFamily="49" charset="-122"/>
            </a:endParaRPr>
          </a:p>
          <a:p>
            <a:pPr eaLnBrk="1" hangingPunct="1">
              <a:buFont typeface="Wingdings 2" charset="2"/>
              <a:buNone/>
            </a:pPr>
            <a:r>
              <a:rPr lang="zh-CN" altLang="en-US" sz="2800" dirty="0">
                <a:latin typeface="楷体_GB2312" pitchFamily="49" charset="-122"/>
              </a:rPr>
              <a:t>     ｘ</a:t>
            </a:r>
            <a:r>
              <a:rPr lang="en-US" altLang="zh-CN" sz="2800" dirty="0">
                <a:latin typeface="楷体_GB2312" pitchFamily="49" charset="-122"/>
              </a:rPr>
              <a:t>±</a:t>
            </a:r>
            <a:r>
              <a:rPr lang="zh-CN" altLang="en-US" sz="2800" dirty="0">
                <a:latin typeface="楷体_GB2312" pitchFamily="49" charset="-122"/>
              </a:rPr>
              <a:t>ｙ＝</a:t>
            </a:r>
            <a:r>
              <a:rPr lang="en-US" altLang="zh-CN" sz="2800" dirty="0">
                <a:latin typeface="楷体_GB2312" pitchFamily="49" charset="-122"/>
              </a:rPr>
              <a:t>(M</a:t>
            </a:r>
            <a:r>
              <a:rPr lang="zh-CN" altLang="en-US" sz="2800" baseline="-25000" dirty="0">
                <a:latin typeface="楷体_GB2312" pitchFamily="49" charset="-122"/>
              </a:rPr>
              <a:t>ｘ</a:t>
            </a:r>
            <a:r>
              <a:rPr lang="en-US" altLang="zh-CN" sz="2800" dirty="0">
                <a:latin typeface="楷体_GB2312" pitchFamily="49" charset="-122"/>
              </a:rPr>
              <a:t>2</a:t>
            </a:r>
            <a:r>
              <a:rPr lang="en-US" altLang="zh-CN" sz="2800" baseline="30000" dirty="0">
                <a:latin typeface="楷体_GB2312" pitchFamily="49" charset="-122"/>
              </a:rPr>
              <a:t>E</a:t>
            </a:r>
            <a:r>
              <a:rPr lang="zh-CN" altLang="en-US" sz="2800" baseline="30000" dirty="0">
                <a:latin typeface="楷体_GB2312" pitchFamily="49" charset="-122"/>
              </a:rPr>
              <a:t>ｘ－</a:t>
            </a:r>
            <a:r>
              <a:rPr lang="en-US" altLang="zh-CN" sz="2800" baseline="30000" dirty="0">
                <a:latin typeface="楷体_GB2312" pitchFamily="49" charset="-122"/>
              </a:rPr>
              <a:t>E</a:t>
            </a:r>
            <a:r>
              <a:rPr lang="zh-CN" altLang="en-US" sz="2800" baseline="30000" dirty="0">
                <a:latin typeface="楷体_GB2312" pitchFamily="49" charset="-122"/>
              </a:rPr>
              <a:t>ｙ</a:t>
            </a:r>
            <a:r>
              <a:rPr lang="zh-CN" altLang="en-US" sz="2800" dirty="0">
                <a:latin typeface="楷体_GB2312" pitchFamily="49" charset="-122"/>
              </a:rPr>
              <a:t> </a:t>
            </a:r>
            <a:r>
              <a:rPr lang="en-US" altLang="zh-CN" sz="2800" dirty="0">
                <a:latin typeface="楷体_GB2312" pitchFamily="49" charset="-122"/>
              </a:rPr>
              <a:t>±M</a:t>
            </a:r>
            <a:r>
              <a:rPr lang="zh-CN" altLang="en-US" sz="2800" baseline="-25000" dirty="0">
                <a:latin typeface="楷体_GB2312" pitchFamily="49" charset="-122"/>
              </a:rPr>
              <a:t>ｙ</a:t>
            </a:r>
            <a:r>
              <a:rPr lang="en-US" altLang="zh-CN" sz="2800" dirty="0">
                <a:latin typeface="楷体_GB2312" pitchFamily="49" charset="-122"/>
              </a:rPr>
              <a:t>)2 </a:t>
            </a:r>
            <a:r>
              <a:rPr lang="en-US" altLang="zh-CN" sz="2800" baseline="30000" dirty="0">
                <a:latin typeface="楷体_GB2312" pitchFamily="49" charset="-122"/>
              </a:rPr>
              <a:t>E</a:t>
            </a:r>
            <a:r>
              <a:rPr lang="zh-CN" altLang="en-US" sz="2800" baseline="30000" dirty="0">
                <a:latin typeface="楷体_GB2312" pitchFamily="49" charset="-122"/>
              </a:rPr>
              <a:t>ｙ</a:t>
            </a:r>
            <a:r>
              <a:rPr lang="zh-CN" altLang="en-US" sz="2800" i="1" dirty="0">
                <a:latin typeface="楷体_GB2312" pitchFamily="49" charset="-122"/>
              </a:rPr>
              <a:t>，</a:t>
            </a:r>
            <a:r>
              <a:rPr lang="en-US" altLang="zh-CN" sz="2800" dirty="0">
                <a:latin typeface="楷体_GB2312" pitchFamily="49" charset="-122"/>
              </a:rPr>
              <a:t>E</a:t>
            </a:r>
            <a:r>
              <a:rPr lang="zh-CN" altLang="en-US" sz="2800" baseline="-25000" dirty="0">
                <a:latin typeface="楷体_GB2312" pitchFamily="49" charset="-122"/>
              </a:rPr>
              <a:t>ｘ </a:t>
            </a:r>
            <a:r>
              <a:rPr lang="zh-CN" altLang="en-US" sz="2800" dirty="0">
                <a:latin typeface="楷体_GB2312" pitchFamily="49" charset="-122"/>
                <a:sym typeface="Symbol" panose="05050102010706020507" pitchFamily="18" charset="2"/>
              </a:rPr>
              <a:t> </a:t>
            </a:r>
            <a:r>
              <a:rPr lang="en-US" altLang="zh-CN" sz="2800" dirty="0">
                <a:latin typeface="楷体_GB2312" pitchFamily="49" charset="-122"/>
              </a:rPr>
              <a:t>E</a:t>
            </a:r>
            <a:r>
              <a:rPr lang="zh-CN" altLang="en-US" sz="2800" baseline="-25000" dirty="0">
                <a:latin typeface="楷体_GB2312" pitchFamily="49" charset="-122"/>
              </a:rPr>
              <a:t>ｙ</a:t>
            </a:r>
            <a:r>
              <a:rPr lang="zh-CN" altLang="en-US" dirty="0">
                <a:latin typeface="楷体_GB2312" pitchFamily="49" charset="-122"/>
              </a:rPr>
              <a:t> </a:t>
            </a:r>
            <a:endParaRPr lang="zh-CN" altLang="en-US" dirty="0">
              <a:latin typeface="楷体_GB2312" pitchFamily="49" charset="-122"/>
            </a:endParaRPr>
          </a:p>
          <a:p>
            <a:pPr eaLnBrk="1" hangingPunct="1"/>
            <a:r>
              <a:rPr lang="zh-CN" altLang="en-US" sz="2800" dirty="0">
                <a:latin typeface="楷体_GB2312" pitchFamily="49" charset="-122"/>
              </a:rPr>
              <a:t>算法</a:t>
            </a:r>
            <a:endParaRPr lang="zh-CN" altLang="en-US" sz="2800" dirty="0">
              <a:latin typeface="楷体_GB2312" pitchFamily="49" charset="-122"/>
            </a:endParaRPr>
          </a:p>
          <a:p>
            <a:pPr lvl="1" eaLnBrk="1" hangingPunct="1"/>
            <a:r>
              <a:rPr lang="zh-CN" altLang="en-US" dirty="0">
                <a:ea typeface="楷体" panose="02010609060101010101" pitchFamily="49" charset="-122"/>
              </a:rPr>
              <a:t>检查操作数是否为</a:t>
            </a:r>
            <a:r>
              <a:rPr lang="en-US" altLang="zh-CN" dirty="0">
                <a:ea typeface="楷体" panose="02010609060101010101" pitchFamily="49" charset="-122"/>
              </a:rPr>
              <a:t>0</a:t>
            </a:r>
            <a:endParaRPr lang="zh-CN" altLang="en-US" dirty="0">
              <a:ea typeface="楷体" panose="02010609060101010101" pitchFamily="49" charset="-122"/>
            </a:endParaRPr>
          </a:p>
          <a:p>
            <a:pPr lvl="1" eaLnBrk="1" hangingPunct="1"/>
            <a:r>
              <a:rPr lang="zh-CN" altLang="en-US" dirty="0">
                <a:ea typeface="楷体" panose="02010609060101010101" pitchFamily="49" charset="-122"/>
              </a:rPr>
              <a:t>对阶，求阶差： </a:t>
            </a:r>
            <a:r>
              <a:rPr lang="zh-CN" altLang="en-US" dirty="0">
                <a:ea typeface="楷体" panose="02010609060101010101" pitchFamily="49" charset="-122"/>
                <a:sym typeface="Symbol" panose="05050102010706020507" pitchFamily="18" charset="2"/>
              </a:rPr>
              <a:t></a:t>
            </a:r>
            <a:r>
              <a:rPr lang="en-US" altLang="zh-CN" dirty="0">
                <a:ea typeface="楷体" panose="02010609060101010101" pitchFamily="49" charset="-122"/>
              </a:rPr>
              <a:t>E= E</a:t>
            </a:r>
            <a:r>
              <a:rPr lang="en-US" altLang="zh-CN" baseline="-25000" dirty="0">
                <a:ea typeface="楷体" panose="02010609060101010101" pitchFamily="49" charset="-122"/>
              </a:rPr>
              <a:t>X </a:t>
            </a:r>
            <a:r>
              <a:rPr lang="en-US" altLang="zh-CN" dirty="0">
                <a:ea typeface="楷体" panose="02010609060101010101" pitchFamily="49" charset="-122"/>
              </a:rPr>
              <a:t>-E</a:t>
            </a:r>
            <a:r>
              <a:rPr lang="en-US" altLang="zh-CN" baseline="-25000" dirty="0">
                <a:ea typeface="楷体" panose="02010609060101010101" pitchFamily="49" charset="-122"/>
              </a:rPr>
              <a:t>Y</a:t>
            </a:r>
            <a:r>
              <a:rPr lang="zh-CN" altLang="en-US" dirty="0">
                <a:ea typeface="楷体" panose="02010609060101010101" pitchFamily="49" charset="-122"/>
              </a:rPr>
              <a:t>，使阶码小的数的尾数</a:t>
            </a:r>
            <a:r>
              <a:rPr lang="zh-CN" altLang="en-US" dirty="0">
                <a:solidFill>
                  <a:srgbClr val="FF0000"/>
                </a:solidFill>
                <a:ea typeface="楷体" panose="02010609060101010101" pitchFamily="49" charset="-122"/>
              </a:rPr>
              <a:t>右移</a:t>
            </a:r>
            <a:r>
              <a:rPr lang="zh-CN" altLang="en-US" dirty="0">
                <a:ea typeface="楷体" panose="02010609060101010101" pitchFamily="49" charset="-122"/>
                <a:sym typeface="Symbol" panose="05050102010706020507" pitchFamily="18" charset="2"/>
              </a:rPr>
              <a:t></a:t>
            </a:r>
            <a:r>
              <a:rPr lang="en-US" altLang="zh-CN" dirty="0">
                <a:ea typeface="楷体" panose="02010609060101010101" pitchFamily="49" charset="-122"/>
              </a:rPr>
              <a:t>E</a:t>
            </a:r>
            <a:r>
              <a:rPr lang="en-US" altLang="zh-CN" dirty="0">
                <a:ea typeface="楷体" panose="02010609060101010101" pitchFamily="49" charset="-122"/>
                <a:sym typeface="Symbol" panose="05050102010706020507" pitchFamily="18" charset="2"/>
              </a:rPr>
              <a:t></a:t>
            </a:r>
            <a:r>
              <a:rPr lang="zh-CN" altLang="en-US" dirty="0">
                <a:ea typeface="楷体" panose="02010609060101010101" pitchFamily="49" charset="-122"/>
              </a:rPr>
              <a:t>位，其阶码取大的阶码值</a:t>
            </a:r>
            <a:endParaRPr lang="zh-CN" altLang="en-US" dirty="0">
              <a:ea typeface="楷体" panose="02010609060101010101" pitchFamily="49" charset="-122"/>
            </a:endParaRPr>
          </a:p>
          <a:p>
            <a:pPr lvl="1" eaLnBrk="1" hangingPunct="1"/>
            <a:r>
              <a:rPr lang="zh-CN" altLang="en-US" dirty="0">
                <a:ea typeface="楷体" panose="02010609060101010101" pitchFamily="49" charset="-122"/>
              </a:rPr>
              <a:t>对尾数进行加、减法，求得结果</a:t>
            </a:r>
            <a:endParaRPr lang="zh-CN" altLang="en-US" dirty="0">
              <a:ea typeface="楷体" panose="02010609060101010101" pitchFamily="49" charset="-122"/>
            </a:endParaRPr>
          </a:p>
          <a:p>
            <a:pPr lvl="1" eaLnBrk="1" hangingPunct="1"/>
            <a:r>
              <a:rPr lang="zh-CN" altLang="en-US" dirty="0">
                <a:ea typeface="楷体" panose="02010609060101010101" pitchFamily="49" charset="-122"/>
              </a:rPr>
              <a:t>规格化，舍入（可能再次规格化），进行溢出检查（阶码）</a:t>
            </a:r>
            <a:endParaRPr lang="zh-CN" altLang="en-US" dirty="0">
              <a:ea typeface="楷体" panose="02010609060101010101" pitchFamily="49" charset="-122"/>
            </a:endParaRPr>
          </a:p>
        </p:txBody>
      </p:sp>
    </p:spTree>
  </p:cSld>
  <p:clrMapOvr>
    <a:masterClrMapping/>
  </p:clrMapOvr>
  <p:transition spd="med">
    <p:pull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Rectangle 2"/>
          <p:cNvSpPr>
            <a:spLocks noGrp="1" noChangeArrowheads="1"/>
          </p:cNvSpPr>
          <p:nvPr>
            <p:ph type="title"/>
          </p:nvPr>
        </p:nvSpPr>
        <p:spPr/>
        <p:txBody>
          <a:bodyPr/>
          <a:lstStyle/>
          <a:p>
            <a:pPr eaLnBrk="1" hangingPunct="1">
              <a:defRPr/>
            </a:pPr>
            <a:r>
              <a:rPr lang="zh-CN" altLang="en-US" dirty="0"/>
              <a:t>对阶</a:t>
            </a:r>
            <a:endParaRPr lang="zh-CN" altLang="en-US" dirty="0"/>
          </a:p>
        </p:txBody>
      </p:sp>
      <p:sp>
        <p:nvSpPr>
          <p:cNvPr id="103426" name="Rectangle 3"/>
          <p:cNvSpPr>
            <a:spLocks noGrp="1" noChangeArrowheads="1"/>
          </p:cNvSpPr>
          <p:nvPr>
            <p:ph idx="1"/>
          </p:nvPr>
        </p:nvSpPr>
        <p:spPr>
          <a:xfrm>
            <a:off x="179388" y="981075"/>
            <a:ext cx="8613775" cy="5400675"/>
          </a:xfrm>
        </p:spPr>
        <p:txBody>
          <a:bodyPr/>
          <a:lstStyle/>
          <a:p>
            <a:pPr eaLnBrk="1" hangingPunct="1"/>
            <a:r>
              <a:rPr lang="zh-CN" altLang="en-US" dirty="0">
                <a:latin typeface="楷体_GB2312" pitchFamily="49" charset="-122"/>
              </a:rPr>
              <a:t>原则：小阶向大阶看齐（思考：为什么？</a:t>
            </a:r>
            <a:r>
              <a:rPr lang="en-US" altLang="zh-CN" dirty="0">
                <a:latin typeface="宋体" panose="02010600030101010101" pitchFamily="2" charset="-122"/>
              </a:rPr>
              <a:t>)</a:t>
            </a:r>
            <a:r>
              <a:rPr lang="en-US" altLang="zh-CN" sz="3600" dirty="0">
                <a:latin typeface="宋体" panose="02010600030101010101" pitchFamily="2" charset="-122"/>
              </a:rPr>
              <a:t> </a:t>
            </a:r>
            <a:endParaRPr lang="en-US" altLang="zh-CN" sz="3600" dirty="0">
              <a:latin typeface="宋体" panose="02010600030101010101" pitchFamily="2" charset="-122"/>
            </a:endParaRPr>
          </a:p>
          <a:p>
            <a:pPr eaLnBrk="1" hangingPunct="1"/>
            <a:r>
              <a:rPr lang="zh-CN" altLang="en-US" dirty="0">
                <a:latin typeface="楷体_GB2312" pitchFamily="49" charset="-122"/>
              </a:rPr>
              <a:t>方法</a:t>
            </a:r>
            <a:r>
              <a:rPr lang="en-US" altLang="zh-CN" dirty="0">
                <a:latin typeface="楷体_GB2312" pitchFamily="49" charset="-122"/>
              </a:rPr>
              <a:t>: </a:t>
            </a:r>
            <a:endParaRPr lang="en-US" altLang="zh-CN" dirty="0">
              <a:latin typeface="楷体_GB2312" pitchFamily="49" charset="-122"/>
            </a:endParaRPr>
          </a:p>
          <a:p>
            <a:pPr lvl="1" eaLnBrk="1" hangingPunct="1"/>
            <a:r>
              <a:rPr lang="zh-CN" altLang="en-US" dirty="0">
                <a:latin typeface="宋体" panose="02010600030101010101" pitchFamily="2" charset="-122"/>
              </a:rPr>
              <a:t>逐位移位比较：小阶的尾数每次右移一位</a:t>
            </a:r>
            <a:r>
              <a:rPr lang="en-US" altLang="zh-CN" dirty="0">
                <a:latin typeface="宋体" panose="02010600030101010101" pitchFamily="2" charset="-122"/>
              </a:rPr>
              <a:t>,</a:t>
            </a:r>
            <a:r>
              <a:rPr lang="zh-CN" altLang="en-US" dirty="0">
                <a:latin typeface="宋体" panose="02010600030101010101" pitchFamily="2" charset="-122"/>
              </a:rPr>
              <a:t>其阶码加</a:t>
            </a:r>
            <a:r>
              <a:rPr lang="en-US" altLang="zh-CN" dirty="0">
                <a:latin typeface="宋体" panose="02010600030101010101" pitchFamily="2" charset="-122"/>
              </a:rPr>
              <a:t>1</a:t>
            </a:r>
            <a:r>
              <a:rPr lang="zh-CN" altLang="en-US" dirty="0">
                <a:latin typeface="宋体" panose="02010600030101010101" pitchFamily="2" charset="-122"/>
              </a:rPr>
              <a:t>，直到两数的阶码相等为止</a:t>
            </a:r>
            <a:endParaRPr lang="zh-CN" altLang="en-US" dirty="0">
              <a:latin typeface="宋体" panose="02010600030101010101" pitchFamily="2" charset="-122"/>
            </a:endParaRPr>
          </a:p>
          <a:p>
            <a:pPr lvl="1" eaLnBrk="1" hangingPunct="1"/>
            <a:r>
              <a:rPr lang="zh-CN" altLang="en-US" dirty="0">
                <a:latin typeface="宋体" panose="02010600030101010101" pitchFamily="2" charset="-122"/>
              </a:rPr>
              <a:t>求阶差：</a:t>
            </a:r>
            <a:endParaRPr lang="zh-CN" altLang="en-US" dirty="0">
              <a:latin typeface="宋体" panose="02010600030101010101" pitchFamily="2" charset="-122"/>
            </a:endParaRPr>
          </a:p>
          <a:p>
            <a:pPr lvl="2" eaLnBrk="1" hangingPunct="1"/>
            <a:r>
              <a:rPr lang="zh-CN" altLang="en-US" dirty="0">
                <a:latin typeface="宋体" panose="02010600030101010101" pitchFamily="2" charset="-122"/>
              </a:rPr>
              <a:t>右移的位数等于阶差△</a:t>
            </a:r>
            <a:r>
              <a:rPr lang="en-US" altLang="zh-CN" dirty="0">
                <a:latin typeface="宋体" panose="02010600030101010101" pitchFamily="2" charset="-122"/>
              </a:rPr>
              <a:t>E</a:t>
            </a:r>
            <a:r>
              <a:rPr lang="zh-CN" altLang="en-US" dirty="0">
                <a:latin typeface="宋体" panose="02010600030101010101" pitchFamily="2" charset="-122"/>
              </a:rPr>
              <a:t>＝</a:t>
            </a:r>
            <a:r>
              <a:rPr lang="en-US" altLang="zh-CN" dirty="0">
                <a:latin typeface="宋体" panose="02010600030101010101" pitchFamily="2" charset="-122"/>
              </a:rPr>
              <a:t>E</a:t>
            </a:r>
            <a:r>
              <a:rPr lang="zh-CN" altLang="en-US" dirty="0">
                <a:latin typeface="宋体" panose="02010600030101010101" pitchFamily="2" charset="-122"/>
              </a:rPr>
              <a:t>ｘ－</a:t>
            </a:r>
            <a:r>
              <a:rPr lang="en-US" altLang="zh-CN" dirty="0">
                <a:latin typeface="宋体" panose="02010600030101010101" pitchFamily="2" charset="-122"/>
              </a:rPr>
              <a:t>E</a:t>
            </a:r>
            <a:r>
              <a:rPr lang="zh-CN" altLang="en-US" dirty="0">
                <a:latin typeface="宋体" panose="02010600030101010101" pitchFamily="2" charset="-122"/>
              </a:rPr>
              <a:t>ｙ</a:t>
            </a:r>
            <a:endParaRPr lang="zh-CN" altLang="en-US" dirty="0">
              <a:latin typeface="宋体" panose="02010600030101010101" pitchFamily="2" charset="-122"/>
            </a:endParaRPr>
          </a:p>
          <a:p>
            <a:pPr lvl="2" eaLnBrk="1" hangingPunct="1"/>
            <a:r>
              <a:rPr lang="zh-CN" altLang="en-US" dirty="0">
                <a:latin typeface="宋体" panose="02010600030101010101" pitchFamily="2" charset="-122"/>
              </a:rPr>
              <a:t>哪个数移位由阶差的正负决定。</a:t>
            </a:r>
            <a:endParaRPr lang="zh-CN" altLang="en-US" dirty="0">
              <a:latin typeface="宋体" panose="02010600030101010101" pitchFamily="2" charset="-122"/>
            </a:endParaRPr>
          </a:p>
          <a:p>
            <a:pPr marL="897255" lvl="3" indent="14605" eaLnBrk="1" hangingPunct="1"/>
            <a:r>
              <a:rPr lang="zh-CN" altLang="en-US" sz="2400" dirty="0">
                <a:latin typeface="宋体" panose="02010600030101010101" pitchFamily="2" charset="-122"/>
                <a:ea typeface="宋体" panose="02010600030101010101" pitchFamily="2" charset="-122"/>
              </a:rPr>
              <a:t>若△</a:t>
            </a:r>
            <a:r>
              <a:rPr lang="en-US" altLang="zh-CN" sz="2400" i="1" dirty="0">
                <a:latin typeface="宋体" panose="02010600030101010101" pitchFamily="2" charset="-122"/>
                <a:ea typeface="宋体" panose="02010600030101010101" pitchFamily="2" charset="-122"/>
              </a:rPr>
              <a:t>E</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a:t>
            </a:r>
            <a:r>
              <a:rPr lang="zh-CN" altLang="en-US" sz="2400" dirty="0">
                <a:latin typeface="宋体" panose="02010600030101010101" pitchFamily="2" charset="-122"/>
                <a:ea typeface="宋体" panose="02010600030101010101" pitchFamily="2" charset="-122"/>
              </a:rPr>
              <a:t>表示两数阶码相等；</a:t>
            </a:r>
            <a:endParaRPr lang="zh-CN" altLang="en-US" sz="2400" dirty="0">
              <a:latin typeface="宋体" panose="02010600030101010101" pitchFamily="2" charset="-122"/>
              <a:ea typeface="宋体" panose="02010600030101010101" pitchFamily="2" charset="-122"/>
            </a:endParaRPr>
          </a:p>
          <a:p>
            <a:pPr marL="897255" lvl="3" indent="14605" eaLnBrk="1" hangingPunct="1"/>
            <a:r>
              <a:rPr lang="zh-CN" altLang="en-US" sz="2400" dirty="0">
                <a:latin typeface="宋体" panose="02010600030101010101" pitchFamily="2" charset="-122"/>
                <a:ea typeface="宋体" panose="02010600030101010101" pitchFamily="2" charset="-122"/>
              </a:rPr>
              <a:t>若△</a:t>
            </a:r>
            <a:r>
              <a:rPr lang="en-US" altLang="zh-CN" sz="2400" i="1" dirty="0">
                <a:latin typeface="宋体" panose="02010600030101010101" pitchFamily="2" charset="-122"/>
                <a:ea typeface="宋体" panose="02010600030101010101" pitchFamily="2" charset="-122"/>
              </a:rPr>
              <a:t>E</a:t>
            </a:r>
            <a:r>
              <a:rPr lang="en-US" altLang="zh-CN" sz="2400" dirty="0">
                <a:latin typeface="宋体" panose="02010600030101010101" pitchFamily="2" charset="-122"/>
                <a:ea typeface="宋体" panose="02010600030101010101" pitchFamily="2" charset="-122"/>
              </a:rPr>
              <a:t>&gt;0,</a:t>
            </a:r>
            <a:r>
              <a:rPr lang="zh-CN" altLang="en-US" sz="2400" dirty="0">
                <a:latin typeface="宋体" panose="02010600030101010101" pitchFamily="2" charset="-122"/>
                <a:ea typeface="宋体" panose="02010600030101010101" pitchFamily="2" charset="-122"/>
              </a:rPr>
              <a:t>表示</a:t>
            </a:r>
            <a:r>
              <a:rPr lang="en-US" altLang="zh-CN" sz="2400" i="1" dirty="0">
                <a:latin typeface="宋体" panose="02010600030101010101" pitchFamily="2" charset="-122"/>
                <a:ea typeface="宋体" panose="02010600030101010101" pitchFamily="2" charset="-122"/>
              </a:rPr>
              <a:t>E</a:t>
            </a:r>
            <a:r>
              <a:rPr lang="zh-CN" altLang="en-US" sz="2400" i="1" dirty="0">
                <a:latin typeface="宋体" panose="02010600030101010101" pitchFamily="2" charset="-122"/>
                <a:ea typeface="宋体" panose="02010600030101010101" pitchFamily="2" charset="-122"/>
              </a:rPr>
              <a:t>ｘ</a:t>
            </a:r>
            <a:r>
              <a:rPr lang="en-US" altLang="zh-CN" sz="2400" dirty="0">
                <a:latin typeface="宋体" panose="02010600030101010101" pitchFamily="2" charset="-122"/>
                <a:ea typeface="宋体" panose="02010600030101010101" pitchFamily="2" charset="-122"/>
              </a:rPr>
              <a:t>&gt;</a:t>
            </a:r>
            <a:r>
              <a:rPr lang="en-US" altLang="zh-CN" sz="2400" i="1" dirty="0">
                <a:latin typeface="宋体" panose="02010600030101010101" pitchFamily="2" charset="-122"/>
                <a:ea typeface="宋体" panose="02010600030101010101" pitchFamily="2" charset="-122"/>
              </a:rPr>
              <a:t>E</a:t>
            </a:r>
            <a:r>
              <a:rPr lang="zh-CN" altLang="en-US" sz="2400" i="1" dirty="0">
                <a:latin typeface="宋体" panose="02010600030101010101" pitchFamily="2" charset="-122"/>
                <a:ea typeface="宋体" panose="02010600030101010101" pitchFamily="2" charset="-122"/>
              </a:rPr>
              <a:t>ｙ</a:t>
            </a:r>
            <a:r>
              <a:rPr lang="zh-CN" altLang="en-US" sz="2400" dirty="0">
                <a:latin typeface="宋体" panose="02010600030101010101" pitchFamily="2" charset="-122"/>
                <a:ea typeface="宋体" panose="02010600030101010101" pitchFamily="2" charset="-122"/>
              </a:rPr>
              <a:t>；则</a:t>
            </a:r>
            <a:r>
              <a:rPr lang="en-US" altLang="zh-CN" sz="2400" dirty="0">
                <a:latin typeface="宋体" panose="02010600030101010101" pitchFamily="2" charset="-122"/>
                <a:ea typeface="宋体" panose="02010600030101010101" pitchFamily="2" charset="-122"/>
              </a:rPr>
              <a:t>y</a:t>
            </a:r>
            <a:r>
              <a:rPr lang="zh-CN" altLang="en-US" sz="2400" dirty="0">
                <a:latin typeface="宋体" panose="02010600030101010101" pitchFamily="2" charset="-122"/>
                <a:ea typeface="宋体" panose="02010600030101010101" pitchFamily="2" charset="-122"/>
              </a:rPr>
              <a:t>移位；</a:t>
            </a:r>
            <a:endParaRPr lang="zh-CN" altLang="en-US" sz="2400" dirty="0">
              <a:latin typeface="宋体" panose="02010600030101010101" pitchFamily="2" charset="-122"/>
              <a:ea typeface="宋体" panose="02010600030101010101" pitchFamily="2" charset="-122"/>
            </a:endParaRPr>
          </a:p>
          <a:p>
            <a:pPr marL="897255" lvl="3" indent="14605" eaLnBrk="1" hangingPunct="1"/>
            <a:r>
              <a:rPr lang="zh-CN" altLang="en-US" sz="2400" dirty="0">
                <a:latin typeface="宋体" panose="02010600030101010101" pitchFamily="2" charset="-122"/>
                <a:ea typeface="宋体" panose="02010600030101010101" pitchFamily="2" charset="-122"/>
              </a:rPr>
              <a:t>若△</a:t>
            </a:r>
            <a:r>
              <a:rPr lang="en-US" altLang="zh-CN" sz="2400" i="1" dirty="0">
                <a:latin typeface="宋体" panose="02010600030101010101" pitchFamily="2" charset="-122"/>
                <a:ea typeface="宋体" panose="02010600030101010101" pitchFamily="2" charset="-122"/>
              </a:rPr>
              <a:t>E</a:t>
            </a:r>
            <a:r>
              <a:rPr lang="en-US" altLang="zh-CN" sz="2400" dirty="0">
                <a:latin typeface="宋体" panose="02010600030101010101" pitchFamily="2" charset="-122"/>
                <a:ea typeface="宋体" panose="02010600030101010101" pitchFamily="2" charset="-122"/>
              </a:rPr>
              <a:t>&lt;0,</a:t>
            </a:r>
            <a:r>
              <a:rPr lang="zh-CN" altLang="en-US" sz="2400" dirty="0">
                <a:latin typeface="宋体" panose="02010600030101010101" pitchFamily="2" charset="-122"/>
                <a:ea typeface="宋体" panose="02010600030101010101" pitchFamily="2" charset="-122"/>
              </a:rPr>
              <a:t>表示</a:t>
            </a:r>
            <a:r>
              <a:rPr lang="en-US" altLang="zh-CN" sz="2400" i="1" dirty="0">
                <a:latin typeface="宋体" panose="02010600030101010101" pitchFamily="2" charset="-122"/>
                <a:ea typeface="宋体" panose="02010600030101010101" pitchFamily="2" charset="-122"/>
              </a:rPr>
              <a:t>E</a:t>
            </a:r>
            <a:r>
              <a:rPr lang="zh-CN" altLang="en-US" sz="2400" i="1" dirty="0">
                <a:latin typeface="宋体" panose="02010600030101010101" pitchFamily="2" charset="-122"/>
                <a:ea typeface="宋体" panose="02010600030101010101" pitchFamily="2" charset="-122"/>
              </a:rPr>
              <a:t>ｘ</a:t>
            </a:r>
            <a:r>
              <a:rPr lang="en-US" altLang="zh-CN" sz="2400" dirty="0">
                <a:latin typeface="宋体" panose="02010600030101010101" pitchFamily="2" charset="-122"/>
                <a:ea typeface="宋体" panose="02010600030101010101" pitchFamily="2" charset="-122"/>
              </a:rPr>
              <a:t>&lt;</a:t>
            </a:r>
            <a:r>
              <a:rPr lang="en-US" altLang="zh-CN" sz="2400" i="1" dirty="0">
                <a:latin typeface="宋体" panose="02010600030101010101" pitchFamily="2" charset="-122"/>
                <a:ea typeface="宋体" panose="02010600030101010101" pitchFamily="2" charset="-122"/>
              </a:rPr>
              <a:t>E</a:t>
            </a:r>
            <a:r>
              <a:rPr lang="zh-CN" altLang="en-US" sz="2400" i="1" dirty="0">
                <a:latin typeface="宋体" panose="02010600030101010101" pitchFamily="2" charset="-122"/>
                <a:ea typeface="宋体" panose="02010600030101010101" pitchFamily="2" charset="-122"/>
              </a:rPr>
              <a:t>ｙ；</a:t>
            </a:r>
            <a:r>
              <a:rPr lang="zh-CN" altLang="en-US" sz="2400" dirty="0">
                <a:latin typeface="宋体" panose="02010600030101010101" pitchFamily="2" charset="-122"/>
                <a:ea typeface="宋体" panose="02010600030101010101" pitchFamily="2" charset="-122"/>
              </a:rPr>
              <a:t>则</a:t>
            </a:r>
            <a:r>
              <a:rPr lang="en-US" altLang="zh-CN" sz="2400" dirty="0">
                <a:latin typeface="宋体" panose="02010600030101010101" pitchFamily="2" charset="-122"/>
                <a:ea typeface="宋体" panose="02010600030101010101" pitchFamily="2" charset="-122"/>
              </a:rPr>
              <a:t>x</a:t>
            </a:r>
            <a:r>
              <a:rPr lang="zh-CN" altLang="en-US" sz="2400" dirty="0">
                <a:latin typeface="宋体" panose="02010600030101010101" pitchFamily="2" charset="-122"/>
                <a:ea typeface="宋体" panose="02010600030101010101" pitchFamily="2" charset="-122"/>
              </a:rPr>
              <a:t>移位。</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med">
    <p:pull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0" name="Rectangle 2"/>
          <p:cNvSpPr>
            <a:spLocks noGrp="1" noChangeArrowheads="1"/>
          </p:cNvSpPr>
          <p:nvPr>
            <p:ph type="title"/>
          </p:nvPr>
        </p:nvSpPr>
        <p:spPr/>
        <p:txBody>
          <a:bodyPr/>
          <a:lstStyle/>
          <a:p>
            <a:pPr eaLnBrk="1" hangingPunct="1"/>
            <a:r>
              <a:rPr lang="zh-CN" altLang="en-US"/>
              <a:t>结果规格化</a:t>
            </a:r>
            <a:endParaRPr lang="zh-CN" altLang="en-US"/>
          </a:p>
        </p:txBody>
      </p:sp>
      <p:sp>
        <p:nvSpPr>
          <p:cNvPr id="877571" name="Rectangle 3"/>
          <p:cNvSpPr>
            <a:spLocks noGrp="1" noChangeArrowheads="1"/>
          </p:cNvSpPr>
          <p:nvPr>
            <p:ph idx="1"/>
          </p:nvPr>
        </p:nvSpPr>
        <p:spPr/>
        <p:txBody>
          <a:bodyPr/>
          <a:lstStyle/>
          <a:p>
            <a:pPr eaLnBrk="1" hangingPunct="1"/>
            <a:r>
              <a:rPr lang="zh-CN" altLang="en-US" dirty="0">
                <a:solidFill>
                  <a:schemeClr val="tx2"/>
                </a:solidFill>
                <a:effectLst>
                  <a:outerShdw blurRad="38100" dist="38100" dir="2700000" algn="tl">
                    <a:srgbClr val="C0C0C0"/>
                  </a:outerShdw>
                </a:effectLst>
                <a:latin typeface="楷体_GB2312" pitchFamily="49" charset="-122"/>
              </a:rPr>
              <a:t>左规</a:t>
            </a:r>
            <a:r>
              <a:rPr lang="zh-CN" altLang="en-US" dirty="0">
                <a:latin typeface="楷体_GB2312" pitchFamily="49" charset="-122"/>
              </a:rPr>
              <a:t>：向左规格化</a:t>
            </a:r>
            <a:endParaRPr lang="zh-CN" altLang="en-US" dirty="0">
              <a:latin typeface="楷体_GB2312" pitchFamily="49" charset="-122"/>
            </a:endParaRPr>
          </a:p>
          <a:p>
            <a:pPr lvl="1" eaLnBrk="1" hangingPunct="1"/>
            <a:r>
              <a:rPr lang="zh-CN" altLang="en-US" dirty="0"/>
              <a:t>当尾数为原码时，应使结果为</a:t>
            </a:r>
            <a:r>
              <a:rPr lang="en-US" altLang="zh-CN" dirty="0"/>
              <a:t>x.1xxxxx</a:t>
            </a:r>
            <a:endParaRPr lang="en-US" altLang="zh-CN" dirty="0"/>
          </a:p>
          <a:p>
            <a:pPr lvl="1" eaLnBrk="1" hangingPunct="1"/>
            <a:r>
              <a:rPr lang="zh-CN" altLang="en-US" dirty="0"/>
              <a:t>当尾数为补码时，应使尾数的最高位与符号位相反。即：若符号位与最高位相等，则应逐次使尾数</a:t>
            </a:r>
            <a:r>
              <a:rPr lang="zh-CN" altLang="en-US" dirty="0">
                <a:solidFill>
                  <a:srgbClr val="FF0000"/>
                </a:solidFill>
              </a:rPr>
              <a:t>左</a:t>
            </a:r>
            <a:r>
              <a:rPr lang="zh-CN" altLang="en-US" dirty="0"/>
              <a:t>移，低位补</a:t>
            </a:r>
            <a:r>
              <a:rPr lang="en-US" altLang="zh-CN" dirty="0"/>
              <a:t>0</a:t>
            </a:r>
            <a:r>
              <a:rPr lang="zh-CN" altLang="en-US" dirty="0"/>
              <a:t>，并使阶码减</a:t>
            </a:r>
            <a:r>
              <a:rPr lang="en-US" altLang="zh-CN" dirty="0"/>
              <a:t>1</a:t>
            </a:r>
            <a:r>
              <a:rPr lang="zh-CN" altLang="en-US" dirty="0"/>
              <a:t>，直到符合规定。</a:t>
            </a:r>
            <a:endParaRPr lang="en-US" altLang="zh-CN" dirty="0"/>
          </a:p>
          <a:p>
            <a:pPr lvl="1" eaLnBrk="1" hangingPunct="1"/>
            <a:r>
              <a:rPr lang="zh-CN" altLang="en-US" dirty="0"/>
              <a:t>而对</a:t>
            </a:r>
            <a:r>
              <a:rPr lang="en-US" altLang="zh-CN" dirty="0"/>
              <a:t>IEEE754</a:t>
            </a:r>
            <a:r>
              <a:rPr lang="zh-CN" altLang="en-US" dirty="0"/>
              <a:t>浮点格式，应使尾数变为</a:t>
            </a:r>
            <a:r>
              <a:rPr lang="en-US" altLang="zh-CN" dirty="0"/>
              <a:t>1.M</a:t>
            </a:r>
            <a:r>
              <a:rPr lang="zh-CN" altLang="en-US" dirty="0"/>
              <a:t>形式</a:t>
            </a:r>
            <a:endParaRPr lang="zh-CN" altLang="en-US" dirty="0"/>
          </a:p>
          <a:p>
            <a:pPr eaLnBrk="1" hangingPunct="1"/>
            <a:r>
              <a:rPr lang="zh-CN" altLang="en-US" dirty="0">
                <a:solidFill>
                  <a:schemeClr val="tx2"/>
                </a:solidFill>
                <a:effectLst>
                  <a:outerShdw blurRad="38100" dist="38100" dir="2700000" algn="tl">
                    <a:srgbClr val="C0C0C0"/>
                  </a:outerShdw>
                </a:effectLst>
                <a:latin typeface="楷体_GB2312" pitchFamily="49" charset="-122"/>
              </a:rPr>
              <a:t>右规</a:t>
            </a:r>
            <a:r>
              <a:rPr lang="zh-CN" altLang="en-US" dirty="0">
                <a:latin typeface="楷体_GB2312" pitchFamily="49" charset="-122"/>
              </a:rPr>
              <a:t>：向右规格化</a:t>
            </a:r>
            <a:endParaRPr lang="zh-CN" altLang="en-US" dirty="0">
              <a:latin typeface="楷体_GB2312" pitchFamily="49" charset="-122"/>
            </a:endParaRPr>
          </a:p>
          <a:p>
            <a:pPr lvl="1" eaLnBrk="1" hangingPunct="1"/>
            <a:r>
              <a:rPr lang="zh-CN" altLang="en-US" dirty="0"/>
              <a:t>若尾数求和的结果为</a:t>
            </a:r>
            <a:r>
              <a:rPr lang="en-US" altLang="zh-CN" dirty="0"/>
              <a:t>01.x…x</a:t>
            </a:r>
            <a:r>
              <a:rPr lang="zh-CN" altLang="en-US" dirty="0"/>
              <a:t>或</a:t>
            </a:r>
            <a:r>
              <a:rPr lang="en-US" altLang="zh-CN" dirty="0"/>
              <a:t>10.x…x, </a:t>
            </a:r>
            <a:r>
              <a:rPr lang="zh-CN" altLang="en-US" dirty="0"/>
              <a:t>应将运算结果右移以实现规格化表示</a:t>
            </a:r>
            <a:endParaRPr lang="zh-CN" altLang="en-US" dirty="0"/>
          </a:p>
          <a:p>
            <a:pPr lvl="1" eaLnBrk="1" hangingPunct="1"/>
            <a:r>
              <a:rPr lang="zh-CN" altLang="en-US" dirty="0"/>
              <a:t>规则：尾数右移</a:t>
            </a:r>
            <a:r>
              <a:rPr lang="en-US" altLang="zh-CN" dirty="0"/>
              <a:t>1</a:t>
            </a:r>
            <a:r>
              <a:rPr lang="zh-CN" altLang="en-US" dirty="0"/>
              <a:t>位</a:t>
            </a:r>
            <a:r>
              <a:rPr lang="en-US" altLang="zh-CN" dirty="0"/>
              <a:t>,</a:t>
            </a:r>
            <a:r>
              <a:rPr lang="zh-CN" altLang="en-US" dirty="0"/>
              <a:t>阶码加</a:t>
            </a:r>
            <a:r>
              <a:rPr lang="en-US" altLang="zh-CN" dirty="0"/>
              <a:t>1</a:t>
            </a:r>
            <a:endParaRPr lang="en-US" altLang="zh-CN" dirty="0"/>
          </a:p>
        </p:txBody>
      </p:sp>
    </p:spTree>
  </p:cSld>
  <p:clrMapOvr>
    <a:masterClrMapping/>
  </p:clrMapOvr>
  <p:transition spd="med">
    <p:pull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Rectangle 2"/>
          <p:cNvSpPr>
            <a:spLocks noGrp="1" noChangeArrowheads="1"/>
          </p:cNvSpPr>
          <p:nvPr>
            <p:ph type="title"/>
          </p:nvPr>
        </p:nvSpPr>
        <p:spPr/>
        <p:txBody>
          <a:bodyPr/>
          <a:lstStyle/>
          <a:p>
            <a:pPr eaLnBrk="1" hangingPunct="1"/>
            <a:r>
              <a:rPr lang="en-US" altLang="zh-CN"/>
              <a:t>IEEE754</a:t>
            </a:r>
            <a:r>
              <a:rPr lang="zh-CN" altLang="en-US"/>
              <a:t>的舍入处理</a:t>
            </a:r>
            <a:endParaRPr lang="zh-CN" altLang="en-US"/>
          </a:p>
        </p:txBody>
      </p:sp>
      <p:sp>
        <p:nvSpPr>
          <p:cNvPr id="105474" name="Rectangle 3"/>
          <p:cNvSpPr>
            <a:spLocks noGrp="1" noChangeArrowheads="1"/>
          </p:cNvSpPr>
          <p:nvPr>
            <p:ph idx="1"/>
          </p:nvPr>
        </p:nvSpPr>
        <p:spPr/>
        <p:txBody>
          <a:bodyPr/>
          <a:lstStyle/>
          <a:p>
            <a:pPr marL="0" indent="0" eaLnBrk="1" hangingPunct="1">
              <a:buFont typeface="Wingdings 2" charset="2"/>
              <a:buNone/>
            </a:pPr>
            <a:r>
              <a:rPr lang="zh-CN" altLang="en-US" sz="2400" dirty="0">
                <a:latin typeface="楷体_GB2312" pitchFamily="49" charset="-122"/>
              </a:rPr>
              <a:t>四种舍入（</a:t>
            </a:r>
            <a:r>
              <a:rPr lang="en-US" altLang="zh-CN" sz="2400" b="0" dirty="0"/>
              <a:t>Rounding</a:t>
            </a:r>
            <a:r>
              <a:rPr lang="zh-CN" altLang="en-US" sz="2400" dirty="0">
                <a:latin typeface="楷体_GB2312" pitchFamily="49" charset="-122"/>
              </a:rPr>
              <a:t>）方式：</a:t>
            </a:r>
            <a:endParaRPr lang="en-US" altLang="zh-CN" sz="2400" dirty="0">
              <a:latin typeface="楷体_GB2312" pitchFamily="49" charset="-122"/>
            </a:endParaRPr>
          </a:p>
          <a:p>
            <a:pPr marL="0" indent="0" eaLnBrk="1" hangingPunct="1"/>
            <a:r>
              <a:rPr lang="zh-CN" altLang="en-US" sz="2400" dirty="0">
                <a:solidFill>
                  <a:srgbClr val="CC3300"/>
                </a:solidFill>
                <a:latin typeface="楷体_GB2312" pitchFamily="49" charset="-122"/>
              </a:rPr>
              <a:t>就近舍入（向偶数舍入）：</a:t>
            </a:r>
            <a:r>
              <a:rPr lang="zh-CN" altLang="en-US" sz="2400" dirty="0">
                <a:latin typeface="楷体_GB2312" pitchFamily="49" charset="-122"/>
              </a:rPr>
              <a:t>若尾数超出规定的</a:t>
            </a:r>
            <a:r>
              <a:rPr lang="en-US" altLang="zh-CN" sz="2400" dirty="0">
                <a:latin typeface="楷体_GB2312" pitchFamily="49" charset="-122"/>
              </a:rPr>
              <a:t>23</a:t>
            </a:r>
            <a:r>
              <a:rPr lang="zh-CN" altLang="en-US" sz="2400" dirty="0">
                <a:latin typeface="楷体_GB2312" pitchFamily="49" charset="-122"/>
              </a:rPr>
              <a:t>位的多余位数共</a:t>
            </a:r>
            <a:r>
              <a:rPr lang="en-US" altLang="zh-CN" sz="2400" dirty="0">
                <a:latin typeface="楷体_GB2312" pitchFamily="49" charset="-122"/>
              </a:rPr>
              <a:t>3</a:t>
            </a:r>
            <a:r>
              <a:rPr lang="zh-CN" altLang="en-US" sz="2400" dirty="0">
                <a:latin typeface="楷体_GB2312" pitchFamily="49" charset="-122"/>
              </a:rPr>
              <a:t>位（形如</a:t>
            </a:r>
            <a:r>
              <a:rPr lang="en-US" altLang="zh-CN" sz="2400" dirty="0">
                <a:latin typeface="楷体_GB2312" pitchFamily="49" charset="-122"/>
              </a:rPr>
              <a:t>1.xxyabc</a:t>
            </a:r>
            <a:r>
              <a:rPr lang="zh-CN" altLang="en-US" sz="2400" dirty="0">
                <a:latin typeface="楷体_GB2312" pitchFamily="49" charset="-122"/>
              </a:rPr>
              <a:t>），若</a:t>
            </a:r>
            <a:r>
              <a:rPr lang="en-US" altLang="zh-CN" sz="2400" dirty="0" err="1">
                <a:latin typeface="楷体_GB2312" pitchFamily="49" charset="-122"/>
              </a:rPr>
              <a:t>abc</a:t>
            </a:r>
            <a:r>
              <a:rPr lang="zh-CN" altLang="en-US" sz="2400" dirty="0">
                <a:latin typeface="楷体_GB2312" pitchFamily="49" charset="-122"/>
              </a:rPr>
              <a:t>取值为</a:t>
            </a:r>
            <a:r>
              <a:rPr lang="en-US" altLang="zh-CN" sz="2400" dirty="0">
                <a:latin typeface="楷体_GB2312" pitchFamily="49" charset="-122"/>
              </a:rPr>
              <a:t>001</a:t>
            </a:r>
            <a:r>
              <a:rPr lang="zh-CN" altLang="en-US" sz="2400" dirty="0">
                <a:latin typeface="楷体_GB2312" pitchFamily="49" charset="-122"/>
              </a:rPr>
              <a:t>、</a:t>
            </a:r>
            <a:r>
              <a:rPr lang="en-US" altLang="zh-CN" sz="2400" dirty="0">
                <a:latin typeface="楷体_GB2312" pitchFamily="49" charset="-122"/>
              </a:rPr>
              <a:t>010</a:t>
            </a:r>
            <a:r>
              <a:rPr lang="zh-CN" altLang="en-US" sz="2400" dirty="0">
                <a:latin typeface="楷体_GB2312" pitchFamily="49" charset="-122"/>
              </a:rPr>
              <a:t>、</a:t>
            </a:r>
            <a:r>
              <a:rPr lang="en-US" altLang="zh-CN" sz="2400" dirty="0">
                <a:latin typeface="楷体_GB2312" pitchFamily="49" charset="-122"/>
              </a:rPr>
              <a:t>011</a:t>
            </a:r>
            <a:r>
              <a:rPr lang="zh-CN" altLang="en-US" sz="2400" dirty="0">
                <a:latin typeface="楷体_GB2312" pitchFamily="49" charset="-122"/>
              </a:rPr>
              <a:t>，则舍去；若取值为</a:t>
            </a:r>
            <a:r>
              <a:rPr lang="en-US" altLang="zh-CN" sz="2400" dirty="0">
                <a:solidFill>
                  <a:schemeClr val="tx2"/>
                </a:solidFill>
                <a:latin typeface="楷体_GB2312" pitchFamily="49" charset="-122"/>
              </a:rPr>
              <a:t>101</a:t>
            </a:r>
            <a:r>
              <a:rPr lang="zh-CN" altLang="en-US" sz="2400" dirty="0">
                <a:solidFill>
                  <a:schemeClr val="tx2"/>
                </a:solidFill>
                <a:latin typeface="楷体_GB2312" pitchFamily="49" charset="-122"/>
              </a:rPr>
              <a:t>、</a:t>
            </a:r>
            <a:r>
              <a:rPr lang="en-US" altLang="zh-CN" sz="2400" dirty="0">
                <a:solidFill>
                  <a:schemeClr val="tx2"/>
                </a:solidFill>
                <a:latin typeface="楷体_GB2312" pitchFamily="49" charset="-122"/>
              </a:rPr>
              <a:t>110</a:t>
            </a:r>
            <a:r>
              <a:rPr lang="zh-CN" altLang="en-US" sz="2400" dirty="0">
                <a:solidFill>
                  <a:schemeClr val="tx2"/>
                </a:solidFill>
                <a:latin typeface="楷体_GB2312" pitchFamily="49" charset="-122"/>
              </a:rPr>
              <a:t>、</a:t>
            </a:r>
            <a:r>
              <a:rPr lang="en-US" altLang="zh-CN" sz="2400" dirty="0">
                <a:solidFill>
                  <a:schemeClr val="tx2"/>
                </a:solidFill>
                <a:latin typeface="楷体_GB2312" pitchFamily="49" charset="-122"/>
              </a:rPr>
              <a:t>111</a:t>
            </a:r>
            <a:r>
              <a:rPr lang="zh-CN" altLang="en-US" sz="2400" dirty="0">
                <a:latin typeface="楷体_GB2312" pitchFamily="49" charset="-122"/>
              </a:rPr>
              <a:t>，则向最低有效位进位；若取值为中间值</a:t>
            </a:r>
            <a:r>
              <a:rPr lang="en-US" altLang="zh-CN" sz="2400" dirty="0">
                <a:latin typeface="楷体_GB2312" pitchFamily="49" charset="-122"/>
              </a:rPr>
              <a:t>100,</a:t>
            </a:r>
            <a:r>
              <a:rPr lang="zh-CN" altLang="en-US" sz="2400" dirty="0">
                <a:latin typeface="楷体_GB2312" pitchFamily="49" charset="-122"/>
              </a:rPr>
              <a:t>则进一步判断最低</a:t>
            </a:r>
            <a:r>
              <a:rPr lang="zh-CN" altLang="en-US" sz="2400" u="sng" dirty="0">
                <a:latin typeface="楷体_GB2312" pitchFamily="49" charset="-122"/>
              </a:rPr>
              <a:t>有效位</a:t>
            </a:r>
            <a:r>
              <a:rPr lang="en-US" altLang="zh-CN" sz="2400" u="sng" dirty="0">
                <a:latin typeface="楷体_GB2312" pitchFamily="49" charset="-122"/>
              </a:rPr>
              <a:t>y</a:t>
            </a:r>
            <a:r>
              <a:rPr lang="zh-CN" altLang="en-US" sz="2400" dirty="0">
                <a:latin typeface="楷体_GB2312" pitchFamily="49" charset="-122"/>
              </a:rPr>
              <a:t>，若为</a:t>
            </a:r>
            <a:r>
              <a:rPr lang="en-US" altLang="zh-CN" sz="2400" dirty="0">
                <a:latin typeface="楷体_GB2312" pitchFamily="49" charset="-122"/>
              </a:rPr>
              <a:t>0</a:t>
            </a:r>
            <a:r>
              <a:rPr lang="zh-CN" altLang="en-US" sz="2400" dirty="0">
                <a:latin typeface="楷体_GB2312" pitchFamily="49" charset="-122"/>
              </a:rPr>
              <a:t>，则舍去；否则，向最低有效位进位，最终结果为偶数。</a:t>
            </a:r>
            <a:endParaRPr lang="zh-CN" altLang="en-US" sz="2400" dirty="0">
              <a:latin typeface="楷体_GB2312" pitchFamily="49" charset="-122"/>
            </a:endParaRPr>
          </a:p>
          <a:p>
            <a:pPr marL="0" indent="0" eaLnBrk="1" hangingPunct="1"/>
            <a:r>
              <a:rPr lang="zh-CN" altLang="en-US" sz="2400" dirty="0">
                <a:solidFill>
                  <a:srgbClr val="CC3300"/>
                </a:solidFill>
                <a:latin typeface="楷体_GB2312" pitchFamily="49" charset="-122"/>
              </a:rPr>
              <a:t>朝</a:t>
            </a:r>
            <a:r>
              <a:rPr lang="en-US" altLang="zh-CN" sz="2400" dirty="0">
                <a:solidFill>
                  <a:srgbClr val="CC3300"/>
                </a:solidFill>
                <a:latin typeface="楷体_GB2312" pitchFamily="49" charset="-122"/>
              </a:rPr>
              <a:t>0</a:t>
            </a:r>
            <a:r>
              <a:rPr lang="zh-CN" altLang="en-US" sz="2400" dirty="0">
                <a:solidFill>
                  <a:srgbClr val="CC3300"/>
                </a:solidFill>
                <a:latin typeface="楷体_GB2312" pitchFamily="49" charset="-122"/>
              </a:rPr>
              <a:t>舍入：</a:t>
            </a:r>
            <a:r>
              <a:rPr lang="zh-CN" altLang="en-US" sz="2400" dirty="0">
                <a:latin typeface="楷体_GB2312" pitchFamily="49" charset="-122"/>
              </a:rPr>
              <a:t>即朝数轴原点方向舍入，就是把多余的位数简单的截去。截尾使取值的绝对值比原值的绝对值</a:t>
            </a:r>
            <a:r>
              <a:rPr lang="zh-CN" altLang="en-US" sz="2400" dirty="0">
                <a:solidFill>
                  <a:schemeClr val="tx2"/>
                </a:solidFill>
                <a:latin typeface="楷体_GB2312" pitchFamily="49" charset="-122"/>
              </a:rPr>
              <a:t>小</a:t>
            </a:r>
            <a:r>
              <a:rPr lang="zh-CN" altLang="en-US" sz="2400" dirty="0">
                <a:latin typeface="楷体_GB2312" pitchFamily="49" charset="-122"/>
              </a:rPr>
              <a:t>。</a:t>
            </a:r>
            <a:endParaRPr lang="zh-CN" altLang="en-US" sz="2400" dirty="0">
              <a:latin typeface="楷体_GB2312" pitchFamily="49" charset="-122"/>
            </a:endParaRPr>
          </a:p>
          <a:p>
            <a:pPr marL="0" indent="0" eaLnBrk="1" hangingPunct="1"/>
            <a:r>
              <a:rPr lang="zh-CN" altLang="en-US" sz="2400" dirty="0">
                <a:solidFill>
                  <a:srgbClr val="CC3300"/>
                </a:solidFill>
                <a:latin typeface="楷体_GB2312" pitchFamily="49" charset="-122"/>
              </a:rPr>
              <a:t>朝＋∞舍入：</a:t>
            </a:r>
            <a:r>
              <a:rPr lang="zh-CN" altLang="en-US" sz="2400" dirty="0">
                <a:latin typeface="楷体_GB2312" pitchFamily="49" charset="-122"/>
              </a:rPr>
              <a:t>对于正数，当多余位不全为</a:t>
            </a:r>
            <a:r>
              <a:rPr lang="en-US" altLang="zh-CN" sz="2400" dirty="0">
                <a:latin typeface="楷体_GB2312" pitchFamily="49" charset="-122"/>
              </a:rPr>
              <a:t>0</a:t>
            </a:r>
            <a:r>
              <a:rPr lang="zh-CN" altLang="en-US" sz="2400" dirty="0">
                <a:latin typeface="楷体_GB2312" pitchFamily="49" charset="-122"/>
              </a:rPr>
              <a:t>则向最低有效位进</a:t>
            </a:r>
            <a:r>
              <a:rPr lang="en-US" altLang="zh-CN" sz="2400" dirty="0">
                <a:latin typeface="楷体_GB2312" pitchFamily="49" charset="-122"/>
              </a:rPr>
              <a:t>1</a:t>
            </a:r>
            <a:r>
              <a:rPr lang="zh-CN" altLang="en-US" sz="2400" dirty="0">
                <a:latin typeface="楷体_GB2312" pitchFamily="49" charset="-122"/>
              </a:rPr>
              <a:t>；而对负数则是简单的截尾。</a:t>
            </a:r>
            <a:endParaRPr lang="zh-CN" altLang="en-US" sz="2400" dirty="0">
              <a:latin typeface="楷体_GB2312" pitchFamily="49" charset="-122"/>
            </a:endParaRPr>
          </a:p>
          <a:p>
            <a:pPr marL="0" indent="0" eaLnBrk="1" hangingPunct="1"/>
            <a:r>
              <a:rPr lang="zh-CN" altLang="en-US" sz="2400" dirty="0">
                <a:solidFill>
                  <a:srgbClr val="CC3300"/>
                </a:solidFill>
                <a:latin typeface="楷体_GB2312" pitchFamily="49" charset="-122"/>
              </a:rPr>
              <a:t>朝－∞舍入：</a:t>
            </a:r>
            <a:r>
              <a:rPr lang="zh-CN" altLang="en-US" sz="2400" dirty="0">
                <a:latin typeface="楷体_GB2312" pitchFamily="49" charset="-122"/>
              </a:rPr>
              <a:t>处理方法正好与朝＋∞舍入情况相反。对于正数，当多余位不全为</a:t>
            </a:r>
            <a:r>
              <a:rPr lang="en-US" altLang="zh-CN" sz="2400" dirty="0">
                <a:latin typeface="楷体_GB2312" pitchFamily="49" charset="-122"/>
              </a:rPr>
              <a:t>0</a:t>
            </a:r>
            <a:r>
              <a:rPr lang="zh-CN" altLang="en-US" sz="2400" dirty="0">
                <a:latin typeface="楷体_GB2312" pitchFamily="49" charset="-122"/>
              </a:rPr>
              <a:t>则简单截尾；而对负数，则向最低有效位进</a:t>
            </a:r>
            <a:r>
              <a:rPr lang="en-US" altLang="zh-CN" sz="2400" dirty="0">
                <a:latin typeface="楷体_GB2312" pitchFamily="49" charset="-122"/>
              </a:rPr>
              <a:t>1</a:t>
            </a:r>
            <a:r>
              <a:rPr lang="zh-CN" altLang="en-US" sz="2400" dirty="0">
                <a:latin typeface="楷体_GB2312" pitchFamily="49" charset="-122"/>
              </a:rPr>
              <a:t>。 </a:t>
            </a:r>
            <a:endParaRPr lang="zh-CN" altLang="en-US" sz="2400" dirty="0">
              <a:latin typeface="楷体_GB2312" pitchFamily="49" charset="-122"/>
            </a:endParaRPr>
          </a:p>
        </p:txBody>
      </p:sp>
    </p:spTree>
  </p:cSld>
  <p:clrMapOvr>
    <a:masterClrMapping/>
  </p:clrMapOvr>
  <p:transition spd="med">
    <p:pull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ChangeArrowheads="1"/>
          </p:cNvSpPr>
          <p:nvPr>
            <p:ph type="title"/>
          </p:nvPr>
        </p:nvSpPr>
        <p:spPr/>
        <p:txBody>
          <a:bodyPr/>
          <a:lstStyle/>
          <a:p>
            <a:pPr eaLnBrk="1" hangingPunct="1"/>
            <a:r>
              <a:rPr lang="zh-CN" altLang="en-US"/>
              <a:t>溢出判断和处理</a:t>
            </a:r>
            <a:endParaRPr lang="zh-CN" altLang="en-US"/>
          </a:p>
        </p:txBody>
      </p:sp>
      <p:sp>
        <p:nvSpPr>
          <p:cNvPr id="107522" name="Rectangle 3"/>
          <p:cNvSpPr>
            <a:spLocks noGrp="1" noChangeArrowheads="1"/>
          </p:cNvSpPr>
          <p:nvPr>
            <p:ph idx="1"/>
          </p:nvPr>
        </p:nvSpPr>
        <p:spPr/>
        <p:txBody>
          <a:bodyPr/>
          <a:lstStyle/>
          <a:p>
            <a:pPr eaLnBrk="1" hangingPunct="1"/>
            <a:r>
              <a:rPr lang="zh-CN" altLang="en-US" dirty="0"/>
              <a:t>阶码上溢，</a:t>
            </a:r>
            <a:r>
              <a:rPr lang="zh-CN" altLang="en-US" dirty="0">
                <a:latin typeface="宋体" panose="02010600030101010101" pitchFamily="2" charset="-122"/>
              </a:rPr>
              <a:t>一般将其认为是＋</a:t>
            </a:r>
            <a:r>
              <a:rPr lang="zh-CN" altLang="en-US" dirty="0"/>
              <a:t>∞</a:t>
            </a:r>
            <a:r>
              <a:rPr lang="zh-CN" altLang="en-US" dirty="0">
                <a:latin typeface="宋体" panose="02010600030101010101" pitchFamily="2" charset="-122"/>
              </a:rPr>
              <a:t>和－</a:t>
            </a:r>
            <a:r>
              <a:rPr lang="zh-CN" altLang="en-US" dirty="0"/>
              <a:t>∞ </a:t>
            </a:r>
            <a:endParaRPr lang="zh-CN" altLang="en-US" dirty="0"/>
          </a:p>
          <a:p>
            <a:pPr eaLnBrk="1" hangingPunct="1"/>
            <a:r>
              <a:rPr lang="zh-CN" altLang="en-US" dirty="0"/>
              <a:t>阶码下溢，则数值为</a:t>
            </a:r>
            <a:r>
              <a:rPr lang="en-US" altLang="zh-CN" dirty="0"/>
              <a:t>0</a:t>
            </a:r>
            <a:endParaRPr lang="en-US" altLang="zh-CN" dirty="0"/>
          </a:p>
          <a:p>
            <a:pPr eaLnBrk="1" hangingPunct="1"/>
            <a:r>
              <a:rPr lang="zh-CN" altLang="en-US" dirty="0"/>
              <a:t>尾数上溢，两个同符号位的数相加。处理方法是尾数右移，阶码</a:t>
            </a:r>
            <a:r>
              <a:rPr lang="zh-CN" altLang="en-US" dirty="0">
                <a:solidFill>
                  <a:schemeClr val="tx2"/>
                </a:solidFill>
              </a:rPr>
              <a:t>加</a:t>
            </a:r>
            <a:r>
              <a:rPr lang="en-US" altLang="zh-CN" dirty="0">
                <a:solidFill>
                  <a:schemeClr val="tx2"/>
                </a:solidFill>
              </a:rPr>
              <a:t>1</a:t>
            </a:r>
            <a:endParaRPr lang="en-US" altLang="zh-CN" dirty="0">
              <a:solidFill>
                <a:schemeClr val="tx2"/>
              </a:solidFill>
            </a:endParaRPr>
          </a:p>
          <a:p>
            <a:pPr eaLnBrk="1" hangingPunct="1"/>
            <a:r>
              <a:rPr lang="zh-CN" altLang="en-US" dirty="0"/>
              <a:t>尾数下溢。尾数右移时，最低位从最右端流出。</a:t>
            </a:r>
            <a:r>
              <a:rPr lang="zh-CN" altLang="en-US" dirty="0">
                <a:solidFill>
                  <a:schemeClr val="tx2"/>
                </a:solidFill>
                <a:latin typeface="宋体" panose="02010600030101010101" pitchFamily="2" charset="-122"/>
              </a:rPr>
              <a:t>要进行舍入处理</a:t>
            </a:r>
            <a:endParaRPr lang="zh-CN" altLang="en-US" dirty="0">
              <a:solidFill>
                <a:schemeClr val="tx2"/>
              </a:solidFill>
              <a:latin typeface="宋体" panose="02010600030101010101" pitchFamily="2" charset="-122"/>
            </a:endParaRPr>
          </a:p>
        </p:txBody>
      </p:sp>
    </p:spTree>
  </p:cSld>
  <p:clrMapOvr>
    <a:masterClrMapping/>
  </p:clrMapOvr>
  <p:transition spd="med">
    <p:pull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6" name="Rectangle 2"/>
          <p:cNvSpPr>
            <a:spLocks noGrp="1" noChangeArrowheads="1"/>
          </p:cNvSpPr>
          <p:nvPr>
            <p:ph type="title"/>
          </p:nvPr>
        </p:nvSpPr>
        <p:spPr/>
        <p:txBody>
          <a:bodyPr/>
          <a:lstStyle/>
          <a:p>
            <a:pPr eaLnBrk="1" hangingPunct="1">
              <a:defRPr/>
            </a:pPr>
            <a:endParaRPr lang="zh-CN" altLang="zh-CN"/>
          </a:p>
        </p:txBody>
      </p:sp>
      <p:sp>
        <p:nvSpPr>
          <p:cNvPr id="108546" name="Rectangle 3"/>
          <p:cNvSpPr>
            <a:spLocks noGrp="1" noChangeArrowheads="1"/>
          </p:cNvSpPr>
          <p:nvPr>
            <p:ph idx="1"/>
          </p:nvPr>
        </p:nvSpPr>
        <p:spPr/>
        <p:txBody>
          <a:bodyPr/>
          <a:lstStyle/>
          <a:p>
            <a:pPr eaLnBrk="1" hangingPunct="1"/>
            <a:endParaRPr lang="zh-CN" altLang="zh-CN"/>
          </a:p>
        </p:txBody>
      </p:sp>
      <p:sp>
        <p:nvSpPr>
          <p:cNvPr id="108547" name="页脚占位符 3"/>
          <p:cNvSpPr>
            <a:spLocks noGrp="1"/>
          </p:cNvSpPr>
          <p:nvPr>
            <p:ph type="ftr" sz="quarter" idx="4294967295"/>
          </p:nvPr>
        </p:nvSpPr>
        <p:spPr bwMode="auto">
          <a:xfrm>
            <a:off x="3028950" y="6356350"/>
            <a:ext cx="3086100" cy="365125"/>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endParaRPr lang="zh-CN" altLang="en-US" sz="1600" dirty="0">
              <a:solidFill>
                <a:srgbClr val="0099FF"/>
              </a:solidFill>
              <a:latin typeface="楷体_GB2312" pitchFamily="49" charset="-122"/>
            </a:endParaRPr>
          </a:p>
        </p:txBody>
      </p:sp>
      <p:pic>
        <p:nvPicPr>
          <p:cNvPr id="108548" name="Picture 4"/>
          <p:cNvPicPr>
            <a:picLocks noChangeAspect="1" noChangeArrowheads="1"/>
          </p:cNvPicPr>
          <p:nvPr/>
        </p:nvPicPr>
        <p:blipFill>
          <a:blip r:embed="rId1">
            <a:extLst>
              <a:ext uri="{28A0092B-C50C-407E-A947-70E740481C1C}">
                <a14:useLocalDpi xmlns:a14="http://schemas.microsoft.com/office/drawing/2010/main" val="0"/>
              </a:ext>
            </a:extLst>
          </a:blip>
          <a:srcRect l="4134" t="11075" r="5019" b="4799"/>
          <a:stretch>
            <a:fillRect/>
          </a:stretch>
        </p:blipFill>
        <p:spPr bwMode="auto">
          <a:xfrm>
            <a:off x="0" y="82550"/>
            <a:ext cx="9144000"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pic>
    </p:spTree>
  </p:cSld>
  <p:clrMapOvr>
    <a:masterClrMapping/>
  </p:clrMapOvr>
  <p:transition spd="med">
    <p:pull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6" name="Rectangle 2"/>
          <p:cNvSpPr>
            <a:spLocks noGrp="1" noChangeArrowheads="1"/>
          </p:cNvSpPr>
          <p:nvPr>
            <p:ph type="title"/>
          </p:nvPr>
        </p:nvSpPr>
        <p:spPr>
          <a:xfrm>
            <a:off x="473075" y="247649"/>
            <a:ext cx="8197850" cy="695325"/>
          </a:xfrm>
        </p:spPr>
        <p:txBody>
          <a:bodyPr/>
          <a:lstStyle/>
          <a:p>
            <a:pPr eaLnBrk="1" hangingPunct="1"/>
            <a:r>
              <a:rPr lang="zh-CN" altLang="en-US" dirty="0"/>
              <a:t>浮点运算部件</a:t>
            </a:r>
            <a:endParaRPr lang="zh-CN" altLang="en-US" dirty="0"/>
          </a:p>
        </p:txBody>
      </p:sp>
      <p:pic>
        <p:nvPicPr>
          <p:cNvPr id="109571" name="Picture 4" descr="f044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1050" y="1098550"/>
            <a:ext cx="5562600" cy="516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Rectangle 2"/>
          <p:cNvSpPr>
            <a:spLocks noGrp="1" noChangeArrowheads="1"/>
          </p:cNvSpPr>
          <p:nvPr>
            <p:ph type="title"/>
          </p:nvPr>
        </p:nvSpPr>
        <p:spPr/>
        <p:txBody>
          <a:bodyPr/>
          <a:lstStyle/>
          <a:p>
            <a:pPr eaLnBrk="1" hangingPunct="1">
              <a:defRPr/>
            </a:pPr>
            <a:r>
              <a:rPr lang="zh-CN" altLang="en-US" dirty="0">
                <a:latin typeface="宋体" panose="02010600030101010101" pitchFamily="2" charset="-122"/>
              </a:rPr>
              <a:t>例</a:t>
            </a:r>
            <a:r>
              <a:rPr lang="en-US" altLang="zh-CN" dirty="0">
                <a:latin typeface="宋体" panose="02010600030101010101" pitchFamily="2" charset="-122"/>
              </a:rPr>
              <a:t>(1)</a:t>
            </a:r>
            <a:endParaRPr lang="en-US" altLang="zh-CN" dirty="0">
              <a:latin typeface="宋体" panose="02010600030101010101" pitchFamily="2" charset="-122"/>
            </a:endParaRPr>
          </a:p>
        </p:txBody>
      </p:sp>
      <p:sp>
        <p:nvSpPr>
          <p:cNvPr id="110595" name="Rectangle 4"/>
          <p:cNvSpPr>
            <a:spLocks noChangeArrowheads="1"/>
          </p:cNvSpPr>
          <p:nvPr/>
        </p:nvSpPr>
        <p:spPr bwMode="auto">
          <a:xfrm>
            <a:off x="179388" y="981075"/>
            <a:ext cx="8785225" cy="514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9875" indent="-269875">
              <a:spcBef>
                <a:spcPct val="20000"/>
              </a:spcBef>
              <a:buClr>
                <a:srgbClr val="CC3300"/>
              </a:buClr>
              <a:buFont typeface="Wingdings 2"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14375" indent="-26543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buFont typeface="Wingdings 2" charset="2"/>
              <a:buNone/>
            </a:pPr>
            <a:r>
              <a:rPr lang="en-US" altLang="zh-CN" dirty="0">
                <a:ea typeface="宋体" panose="02010600030101010101" pitchFamily="2" charset="-122"/>
                <a:cs typeface="Times New Roman" panose="02020603050405020304" pitchFamily="18" charset="0"/>
              </a:rPr>
              <a:t>x</a:t>
            </a:r>
            <a:r>
              <a:rPr lang="zh-CN" altLang="en-US" dirty="0">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2</a:t>
            </a:r>
            <a:r>
              <a:rPr lang="en-US" altLang="zh-CN" baseline="30000" dirty="0">
                <a:ea typeface="宋体" panose="02010600030101010101" pitchFamily="2" charset="-122"/>
                <a:cs typeface="Times New Roman" panose="02020603050405020304" pitchFamily="18" charset="0"/>
              </a:rPr>
              <a:t>2</a:t>
            </a:r>
            <a:r>
              <a:rPr lang="en-US" altLang="zh-CN" dirty="0">
                <a:ea typeface="宋体" panose="02010600030101010101" pitchFamily="2" charset="-122"/>
                <a:cs typeface="Times New Roman" panose="02020603050405020304" pitchFamily="18" charset="0"/>
              </a:rPr>
              <a:t>×0.11011011</a:t>
            </a:r>
            <a:r>
              <a:rPr lang="zh-CN" altLang="en-US" dirty="0">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y=-2</a:t>
            </a:r>
            <a:r>
              <a:rPr lang="en-US" altLang="zh-CN" baseline="30000" dirty="0">
                <a:ea typeface="宋体" panose="02010600030101010101" pitchFamily="2" charset="-122"/>
                <a:cs typeface="Times New Roman" panose="02020603050405020304" pitchFamily="18" charset="0"/>
              </a:rPr>
              <a:t>4</a:t>
            </a:r>
            <a:r>
              <a:rPr lang="en-US" altLang="zh-CN" dirty="0">
                <a:ea typeface="宋体" panose="02010600030101010101" pitchFamily="2" charset="-122"/>
                <a:cs typeface="Times New Roman" panose="02020603050405020304" pitchFamily="18" charset="0"/>
              </a:rPr>
              <a:t>×0.10101100</a:t>
            </a:r>
            <a:endParaRPr lang="en-US" altLang="zh-CN" dirty="0">
              <a:ea typeface="宋体" panose="02010600030101010101" pitchFamily="2" charset="-122"/>
              <a:cs typeface="Times New Roman" panose="02020603050405020304" pitchFamily="18" charset="0"/>
            </a:endParaRPr>
          </a:p>
          <a:p>
            <a:pPr algn="l" eaLnBrk="1" hangingPunct="1">
              <a:buFont typeface="Wingdings 2" charset="2"/>
              <a:buNone/>
            </a:pPr>
            <a:r>
              <a:rPr lang="en-US" altLang="zh-CN" sz="2800" dirty="0">
                <a:ea typeface="宋体" panose="02010600030101010101" pitchFamily="2" charset="-122"/>
                <a:cs typeface="Times New Roman" panose="02020603050405020304" pitchFamily="18" charset="0"/>
              </a:rPr>
              <a:t>1</a:t>
            </a:r>
            <a:r>
              <a:rPr lang="zh-CN" altLang="en-US" sz="2800" dirty="0">
                <a:ea typeface="宋体" panose="02010600030101010101" pitchFamily="2" charset="-122"/>
                <a:cs typeface="Times New Roman" panose="02020603050405020304" pitchFamily="18" charset="0"/>
              </a:rPr>
              <a:t>、检查操作数不为</a:t>
            </a:r>
            <a:r>
              <a:rPr lang="en-US" altLang="zh-CN" sz="2800" dirty="0">
                <a:ea typeface="宋体" panose="02010600030101010101" pitchFamily="2" charset="-122"/>
                <a:cs typeface="Times New Roman" panose="02020603050405020304" pitchFamily="18" charset="0"/>
              </a:rPr>
              <a:t>0</a:t>
            </a:r>
            <a:endParaRPr lang="zh-CN" altLang="en-US" sz="2800" dirty="0">
              <a:ea typeface="宋体" panose="02010600030101010101" pitchFamily="2" charset="-122"/>
              <a:cs typeface="Times New Roman" panose="02020603050405020304" pitchFamily="18" charset="0"/>
            </a:endParaRPr>
          </a:p>
          <a:p>
            <a:pPr algn="l" eaLnBrk="1" hangingPunct="1">
              <a:buFont typeface="Wingdings 2" charset="2"/>
              <a:buNone/>
            </a:pPr>
            <a:r>
              <a:rPr lang="en-US" altLang="zh-CN" sz="2800" dirty="0">
                <a:ea typeface="宋体" panose="02010600030101010101" pitchFamily="2" charset="-122"/>
                <a:cs typeface="Times New Roman" panose="02020603050405020304" pitchFamily="18" charset="0"/>
              </a:rPr>
              <a:t>2</a:t>
            </a:r>
            <a:r>
              <a:rPr lang="zh-CN" altLang="en-US" sz="2800" dirty="0">
                <a:ea typeface="宋体" panose="02010600030101010101" pitchFamily="2" charset="-122"/>
                <a:cs typeface="Times New Roman" panose="02020603050405020304" pitchFamily="18" charset="0"/>
              </a:rPr>
              <a:t>、对阶：阶码对齐后才能加减。规则是阶码小的向阶 </a:t>
            </a:r>
            <a:endParaRPr lang="en-US" altLang="zh-CN" sz="2800" dirty="0">
              <a:ea typeface="宋体" panose="02010600030101010101" pitchFamily="2" charset="-122"/>
              <a:cs typeface="Times New Roman" panose="02020603050405020304" pitchFamily="18" charset="0"/>
            </a:endParaRPr>
          </a:p>
          <a:p>
            <a:pPr algn="l" eaLnBrk="1" hangingPunct="1">
              <a:buFont typeface="Wingdings 2" charset="2"/>
              <a:buNone/>
            </a:pPr>
            <a:r>
              <a:rPr lang="en-US" altLang="zh-CN" sz="2800" dirty="0">
                <a:ea typeface="宋体" panose="02010600030101010101" pitchFamily="2" charset="-122"/>
                <a:cs typeface="Times New Roman" panose="02020603050405020304" pitchFamily="18" charset="0"/>
              </a:rPr>
              <a:t>      </a:t>
            </a:r>
            <a:r>
              <a:rPr lang="zh-CN" altLang="en-US" sz="2800" dirty="0">
                <a:ea typeface="宋体" panose="02010600030101010101" pitchFamily="2" charset="-122"/>
                <a:cs typeface="Times New Roman" panose="02020603050405020304" pitchFamily="18" charset="0"/>
              </a:rPr>
              <a:t>码大的数对齐；</a:t>
            </a:r>
            <a:endParaRPr lang="zh-CN" altLang="en-US" sz="2800" dirty="0">
              <a:ea typeface="宋体" panose="02010600030101010101" pitchFamily="2" charset="-122"/>
              <a:cs typeface="Times New Roman" panose="02020603050405020304" pitchFamily="18" charset="0"/>
            </a:endParaRPr>
          </a:p>
          <a:p>
            <a:pPr lvl="1" algn="l" eaLnBrk="1" hangingPunct="1"/>
            <a:r>
              <a:rPr lang="zh-CN" altLang="en-US" sz="2400" dirty="0">
                <a:ea typeface="宋体" panose="02010600030101010101" pitchFamily="2" charset="-122"/>
                <a:cs typeface="Times New Roman" panose="02020603050405020304" pitchFamily="18" charset="0"/>
              </a:rPr>
              <a:t>阶差</a:t>
            </a:r>
            <a:r>
              <a:rPr lang="en-US" altLang="zh-CN" sz="2400" dirty="0">
                <a:ea typeface="宋体" panose="02010600030101010101" pitchFamily="2" charset="-122"/>
                <a:cs typeface="Times New Roman" panose="02020603050405020304" pitchFamily="18" charset="0"/>
              </a:rPr>
              <a:t>=E</a:t>
            </a:r>
            <a:r>
              <a:rPr lang="en-US" altLang="zh-CN" sz="2400" baseline="-25000" dirty="0">
                <a:ea typeface="宋体" panose="02010600030101010101" pitchFamily="2" charset="-122"/>
                <a:cs typeface="Times New Roman" panose="02020603050405020304" pitchFamily="18" charset="0"/>
              </a:rPr>
              <a:t>x</a:t>
            </a:r>
            <a:r>
              <a:rPr lang="en-US" altLang="zh-CN" sz="2400" dirty="0">
                <a:ea typeface="宋体" panose="02010600030101010101" pitchFamily="2" charset="-122"/>
                <a:cs typeface="Times New Roman" panose="02020603050405020304" pitchFamily="18" charset="0"/>
              </a:rPr>
              <a:t>-</a:t>
            </a:r>
            <a:r>
              <a:rPr lang="en-US" altLang="zh-CN" sz="2400" dirty="0" err="1">
                <a:ea typeface="宋体" panose="02010600030101010101" pitchFamily="2" charset="-122"/>
                <a:cs typeface="Times New Roman" panose="02020603050405020304" pitchFamily="18" charset="0"/>
              </a:rPr>
              <a:t>E</a:t>
            </a:r>
            <a:r>
              <a:rPr lang="en-US" altLang="zh-CN" sz="2400" baseline="-25000" dirty="0" err="1">
                <a:ea typeface="宋体" panose="02010600030101010101" pitchFamily="2" charset="-122"/>
                <a:cs typeface="Times New Roman" panose="02020603050405020304" pitchFamily="18" charset="0"/>
              </a:rPr>
              <a:t>y</a:t>
            </a:r>
            <a:r>
              <a:rPr lang="en-US" altLang="zh-CN" sz="2400" dirty="0">
                <a:ea typeface="宋体" panose="02010600030101010101" pitchFamily="2" charset="-122"/>
                <a:cs typeface="Times New Roman" panose="02020603050405020304" pitchFamily="18" charset="0"/>
              </a:rPr>
              <a:t>=00 010 - 00 100=11110</a:t>
            </a:r>
            <a:endParaRPr lang="en-US" altLang="zh-CN" sz="2400" dirty="0">
              <a:ea typeface="宋体" panose="02010600030101010101" pitchFamily="2" charset="-122"/>
              <a:cs typeface="Times New Roman" panose="02020603050405020304" pitchFamily="18" charset="0"/>
            </a:endParaRPr>
          </a:p>
          <a:p>
            <a:pPr lvl="1" algn="l" eaLnBrk="1" hangingPunct="1"/>
            <a:r>
              <a:rPr lang="zh-CN" altLang="en-US" sz="2400" dirty="0">
                <a:ea typeface="宋体" panose="02010600030101010101" pitchFamily="2" charset="-122"/>
                <a:cs typeface="Times New Roman" panose="02020603050405020304" pitchFamily="18" charset="0"/>
              </a:rPr>
              <a:t>即阶差为</a:t>
            </a:r>
            <a:r>
              <a:rPr lang="en-US" altLang="zh-CN" sz="2400" dirty="0">
                <a:ea typeface="宋体" panose="02010600030101010101" pitchFamily="2" charset="-122"/>
                <a:cs typeface="Times New Roman" panose="02020603050405020304" pitchFamily="18" charset="0"/>
              </a:rPr>
              <a:t>-2</a:t>
            </a:r>
            <a:r>
              <a:rPr lang="zh-CN" altLang="en-US" sz="2400" dirty="0">
                <a:ea typeface="宋体" panose="02010600030101010101" pitchFamily="2" charset="-122"/>
                <a:cs typeface="Times New Roman" panose="02020603050405020304" pitchFamily="18" charset="0"/>
              </a:rPr>
              <a:t>，</a:t>
            </a:r>
            <a:r>
              <a:rPr lang="en-US" altLang="zh-CN" sz="2400" dirty="0">
                <a:ea typeface="宋体" panose="02010600030101010101" pitchFamily="2" charset="-122"/>
                <a:cs typeface="Times New Roman" panose="02020603050405020304" pitchFamily="18" charset="0"/>
              </a:rPr>
              <a:t>M</a:t>
            </a:r>
            <a:r>
              <a:rPr lang="en-US" altLang="zh-CN" sz="2400" baseline="-25000" dirty="0">
                <a:ea typeface="宋体" panose="02010600030101010101" pitchFamily="2" charset="-122"/>
                <a:cs typeface="Times New Roman" panose="02020603050405020304" pitchFamily="18" charset="0"/>
              </a:rPr>
              <a:t>x</a:t>
            </a:r>
            <a:r>
              <a:rPr lang="zh-CN" altLang="en-US" sz="2400" dirty="0">
                <a:ea typeface="宋体" panose="02010600030101010101" pitchFamily="2" charset="-122"/>
                <a:cs typeface="Times New Roman" panose="02020603050405020304" pitchFamily="18" charset="0"/>
              </a:rPr>
              <a:t>右移两位，</a:t>
            </a:r>
            <a:r>
              <a:rPr lang="en-US" altLang="zh-CN" sz="2400" dirty="0">
                <a:ea typeface="宋体" panose="02010600030101010101" pitchFamily="2" charset="-122"/>
                <a:cs typeface="Times New Roman" panose="02020603050405020304" pitchFamily="18" charset="0"/>
              </a:rPr>
              <a:t>E</a:t>
            </a:r>
            <a:r>
              <a:rPr lang="en-US" altLang="zh-CN" sz="2400" baseline="-25000" dirty="0">
                <a:ea typeface="宋体" panose="02010600030101010101" pitchFamily="2" charset="-122"/>
                <a:cs typeface="Times New Roman" panose="02020603050405020304" pitchFamily="18" charset="0"/>
              </a:rPr>
              <a:t>x</a:t>
            </a:r>
            <a:r>
              <a:rPr lang="zh-CN" altLang="en-US" sz="2400" dirty="0">
                <a:ea typeface="宋体" panose="02010600030101010101" pitchFamily="2" charset="-122"/>
                <a:cs typeface="Times New Roman" panose="02020603050405020304" pitchFamily="18" charset="0"/>
              </a:rPr>
              <a:t>加</a:t>
            </a:r>
            <a:r>
              <a:rPr lang="en-US" altLang="zh-CN" sz="2400" dirty="0">
                <a:ea typeface="宋体" panose="02010600030101010101" pitchFamily="2" charset="-122"/>
                <a:cs typeface="Times New Roman" panose="02020603050405020304" pitchFamily="18" charset="0"/>
              </a:rPr>
              <a:t>2</a:t>
            </a:r>
            <a:endParaRPr lang="en-US" altLang="zh-CN" sz="2400" dirty="0">
              <a:ea typeface="宋体" panose="02010600030101010101" pitchFamily="2" charset="-122"/>
              <a:cs typeface="Times New Roman" panose="02020603050405020304" pitchFamily="18" charset="0"/>
            </a:endParaRPr>
          </a:p>
          <a:p>
            <a:pPr lvl="1" algn="l" eaLnBrk="1" hangingPunct="1"/>
            <a:r>
              <a:rPr lang="en-US" altLang="zh-CN" sz="2400" dirty="0">
                <a:ea typeface="宋体" panose="02010600030101010101" pitchFamily="2" charset="-122"/>
                <a:cs typeface="Times New Roman" panose="02020603050405020304" pitchFamily="18" charset="0"/>
              </a:rPr>
              <a:t>x=00100 , 0.00110110</a:t>
            </a:r>
            <a:r>
              <a:rPr lang="zh-CN" altLang="en-US" sz="2400" dirty="0">
                <a:ea typeface="宋体" panose="02010600030101010101" pitchFamily="2" charset="-122"/>
                <a:cs typeface="Times New Roman" panose="02020603050405020304" pitchFamily="18" charset="0"/>
              </a:rPr>
              <a:t>（</a:t>
            </a:r>
            <a:r>
              <a:rPr lang="en-US" altLang="zh-CN" sz="2400" dirty="0">
                <a:ea typeface="宋体" panose="02010600030101010101" pitchFamily="2" charset="-122"/>
                <a:cs typeface="Times New Roman" panose="02020603050405020304" pitchFamily="18" charset="0"/>
              </a:rPr>
              <a:t>11</a:t>
            </a:r>
            <a:r>
              <a:rPr lang="zh-CN" altLang="en-US" sz="2400" dirty="0">
                <a:ea typeface="宋体" panose="02010600030101010101" pitchFamily="2" charset="-122"/>
                <a:cs typeface="Times New Roman" panose="02020603050405020304" pitchFamily="18" charset="0"/>
              </a:rPr>
              <a:t>）</a:t>
            </a:r>
            <a:endParaRPr lang="zh-CN" altLang="en-US" sz="2400" dirty="0">
              <a:ea typeface="宋体" panose="02010600030101010101" pitchFamily="2" charset="-122"/>
              <a:cs typeface="Times New Roman" panose="02020603050405020304" pitchFamily="18" charset="0"/>
            </a:endParaRPr>
          </a:p>
          <a:p>
            <a:pPr algn="l" eaLnBrk="1" hangingPunct="1">
              <a:buFont typeface="Wingdings 2" charset="2"/>
              <a:buNone/>
            </a:pPr>
            <a:r>
              <a:rPr lang="en-US" altLang="zh-CN" sz="2800" dirty="0">
                <a:ea typeface="宋体" panose="02010600030101010101" pitchFamily="2" charset="-122"/>
                <a:cs typeface="Times New Roman" panose="02020603050405020304" pitchFamily="18" charset="0"/>
              </a:rPr>
              <a:t>3</a:t>
            </a:r>
            <a:r>
              <a:rPr lang="zh-CN" altLang="en-US" sz="2800" dirty="0">
                <a:ea typeface="宋体" panose="02010600030101010101" pitchFamily="2" charset="-122"/>
                <a:cs typeface="Times New Roman" panose="02020603050405020304" pitchFamily="18" charset="0"/>
              </a:rPr>
              <a:t>、尾数相加</a:t>
            </a:r>
            <a:endParaRPr lang="zh-CN" altLang="en-US" sz="2800" dirty="0">
              <a:ea typeface="宋体" panose="02010600030101010101" pitchFamily="2" charset="-122"/>
              <a:cs typeface="Times New Roman" panose="02020603050405020304" pitchFamily="18" charset="0"/>
            </a:endParaRPr>
          </a:p>
          <a:p>
            <a:pPr lvl="1" algn="l" eaLnBrk="1" hangingPunct="1">
              <a:buFont typeface="Wingdings" panose="05000000000000000000" pitchFamily="2" charset="2"/>
              <a:buNone/>
            </a:pPr>
            <a:r>
              <a:rPr lang="en-US" altLang="zh-CN" dirty="0">
                <a:ea typeface="宋体" panose="02010600030101010101" pitchFamily="2" charset="-122"/>
                <a:cs typeface="Times New Roman" panose="02020603050405020304" pitchFamily="18" charset="0"/>
              </a:rPr>
              <a:t>00.00110110(11)+11.01010100</a:t>
            </a:r>
            <a:endParaRPr lang="en-US" altLang="zh-CN" dirty="0">
              <a:ea typeface="宋体" panose="02010600030101010101" pitchFamily="2" charset="-122"/>
              <a:cs typeface="Times New Roman" panose="02020603050405020304" pitchFamily="18" charset="0"/>
            </a:endParaRPr>
          </a:p>
          <a:p>
            <a:pPr lvl="1" algn="l" eaLnBrk="1" hangingPunct="1">
              <a:buFont typeface="Wingdings" panose="05000000000000000000" pitchFamily="2" charset="2"/>
              <a:buNone/>
            </a:pPr>
            <a:r>
              <a:rPr lang="en-US" altLang="zh-CN" dirty="0">
                <a:ea typeface="宋体" panose="02010600030101010101" pitchFamily="2" charset="-122"/>
                <a:cs typeface="Times New Roman" panose="02020603050405020304" pitchFamily="18" charset="0"/>
              </a:rPr>
              <a:t>=11.10001010(11)</a:t>
            </a:r>
            <a:endParaRPr lang="en-US" altLang="zh-CN" sz="2400" dirty="0">
              <a:ea typeface="宋体" panose="02010600030101010101" pitchFamily="2" charset="-122"/>
              <a:cs typeface="Times New Roman" panose="02020603050405020304" pitchFamily="18" charset="0"/>
            </a:endParaRPr>
          </a:p>
        </p:txBody>
      </p:sp>
      <p:sp>
        <p:nvSpPr>
          <p:cNvPr id="3" name="TextBox 2"/>
          <p:cNvSpPr txBox="1"/>
          <p:nvPr/>
        </p:nvSpPr>
        <p:spPr>
          <a:xfrm>
            <a:off x="4859338" y="5884863"/>
            <a:ext cx="800100" cy="461962"/>
          </a:xfrm>
          <a:prstGeom prst="rect">
            <a:avLst/>
          </a:prstGeom>
          <a:noFill/>
        </p:spPr>
        <p:txBody>
          <a:bodyPr wrap="none">
            <a:spAutoFit/>
          </a:bodyPr>
          <a:lstStyle/>
          <a:p>
            <a:pPr algn="ctr" eaLnBrk="1" hangingPunct="1">
              <a:spcBef>
                <a:spcPct val="20000"/>
              </a:spcBef>
              <a:buFont typeface="Wingdings" panose="05000000000000000000" pitchFamily="2" charset="2"/>
              <a:buNone/>
              <a:defRPr/>
            </a:pPr>
            <a:r>
              <a:rPr lang="zh-CN" altLang="en-US" sz="2400" b="1" dirty="0">
                <a:solidFill>
                  <a:srgbClr val="C00000"/>
                </a:solidFill>
                <a:latin typeface="+mn-ea"/>
                <a:ea typeface="+mn-ea"/>
              </a:rPr>
              <a:t>补码</a:t>
            </a:r>
            <a:endParaRPr lang="zh-CN" altLang="en-US" sz="2400" b="1" dirty="0">
              <a:solidFill>
                <a:srgbClr val="C00000"/>
              </a:solidFill>
              <a:latin typeface="+mn-ea"/>
              <a:ea typeface="+mn-ea"/>
            </a:endParaRPr>
          </a:p>
        </p:txBody>
      </p:sp>
      <p:cxnSp>
        <p:nvCxnSpPr>
          <p:cNvPr id="110597" name="直接箭头连接符 4"/>
          <p:cNvCxnSpPr>
            <a:cxnSpLocks noChangeShapeType="1"/>
          </p:cNvCxnSpPr>
          <p:nvPr/>
        </p:nvCxnSpPr>
        <p:spPr bwMode="auto">
          <a:xfrm flipH="1" flipV="1">
            <a:off x="4427538" y="5445125"/>
            <a:ext cx="558800" cy="471488"/>
          </a:xfrm>
          <a:prstGeom prst="straightConnector1">
            <a:avLst/>
          </a:prstGeom>
          <a:noFill/>
          <a:ln w="22225" algn="ctr">
            <a:solidFill>
              <a:srgbClr val="C00000"/>
            </a:solidFill>
            <a:miter lim="800000"/>
            <a:tailEnd type="arrow" w="med" len="med"/>
          </a:ln>
          <a:extLst>
            <a:ext uri="{909E8E84-426E-40DD-AFC4-6F175D3DCCD1}">
              <a14:hiddenFill xmlns:a14="http://schemas.microsoft.com/office/drawing/2010/main">
                <a:noFill/>
              </a14:hiddenFill>
            </a:ext>
          </a:extLst>
        </p:spPr>
      </p:cxnSp>
    </p:spTree>
  </p:cSld>
  <p:clrMapOvr>
    <a:masterClrMapping/>
  </p:clrMapOvr>
  <p:transition spd="med">
    <p:pull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Rectangle 2"/>
          <p:cNvSpPr>
            <a:spLocks noGrp="1" noChangeArrowheads="1"/>
          </p:cNvSpPr>
          <p:nvPr>
            <p:ph type="title"/>
          </p:nvPr>
        </p:nvSpPr>
        <p:spPr/>
        <p:txBody>
          <a:bodyPr/>
          <a:lstStyle/>
          <a:p>
            <a:pPr eaLnBrk="1" hangingPunct="1">
              <a:defRPr/>
            </a:pPr>
            <a:r>
              <a:rPr lang="zh-CN" altLang="en-US">
                <a:latin typeface="宋体" panose="02010600030101010101" pitchFamily="2" charset="-122"/>
              </a:rPr>
              <a:t>例</a:t>
            </a:r>
            <a:r>
              <a:rPr lang="en-US" altLang="zh-CN">
                <a:latin typeface="宋体" panose="02010600030101010101" pitchFamily="2" charset="-122"/>
              </a:rPr>
              <a:t>(2)</a:t>
            </a:r>
            <a:endParaRPr lang="en-US" altLang="zh-CN">
              <a:latin typeface="宋体" panose="02010600030101010101" pitchFamily="2" charset="-122"/>
            </a:endParaRPr>
          </a:p>
        </p:txBody>
      </p:sp>
      <p:sp>
        <p:nvSpPr>
          <p:cNvPr id="111618" name="Rectangle 3"/>
          <p:cNvSpPr>
            <a:spLocks noGrp="1" noChangeArrowheads="1"/>
          </p:cNvSpPr>
          <p:nvPr>
            <p:ph idx="1"/>
          </p:nvPr>
        </p:nvSpPr>
        <p:spPr>
          <a:xfrm>
            <a:off x="381000" y="1143000"/>
            <a:ext cx="8763000" cy="5105400"/>
          </a:xfrm>
        </p:spPr>
        <p:txBody>
          <a:bodyPr/>
          <a:lstStyle/>
          <a:p>
            <a:pPr eaLnBrk="1" hangingPunct="1">
              <a:buFont typeface="Wingdings 2" charset="2"/>
              <a:buNone/>
            </a:pPr>
            <a:r>
              <a:rPr lang="en-US" altLang="zh-CN" dirty="0"/>
              <a:t>4</a:t>
            </a:r>
            <a:r>
              <a:rPr lang="zh-CN" altLang="en-US" dirty="0"/>
              <a:t>、结果规格化</a:t>
            </a:r>
            <a:endParaRPr lang="zh-CN" altLang="en-US" dirty="0"/>
          </a:p>
          <a:p>
            <a:pPr lvl="1" eaLnBrk="1" hangingPunct="1">
              <a:buFont typeface="Wingdings" panose="05000000000000000000" pitchFamily="2" charset="2"/>
              <a:buNone/>
            </a:pPr>
            <a:r>
              <a:rPr lang="zh-CN" altLang="en-US" sz="2800" dirty="0">
                <a:solidFill>
                  <a:schemeClr val="tx2"/>
                </a:solidFill>
              </a:rPr>
              <a:t>   右规，阶码加</a:t>
            </a:r>
            <a:r>
              <a:rPr lang="en-US" altLang="zh-CN" sz="2800" dirty="0">
                <a:solidFill>
                  <a:schemeClr val="tx2"/>
                </a:solidFill>
              </a:rPr>
              <a:t>1</a:t>
            </a:r>
            <a:r>
              <a:rPr lang="zh-CN" altLang="en-US" sz="2800" dirty="0">
                <a:solidFill>
                  <a:schemeClr val="tx2"/>
                </a:solidFill>
              </a:rPr>
              <a:t>；左规，阶码减</a:t>
            </a:r>
            <a:r>
              <a:rPr lang="en-US" altLang="zh-CN" sz="2800" dirty="0">
                <a:solidFill>
                  <a:schemeClr val="tx2"/>
                </a:solidFill>
              </a:rPr>
              <a:t>1</a:t>
            </a:r>
            <a:endParaRPr lang="en-US" altLang="zh-CN" sz="2800" dirty="0">
              <a:solidFill>
                <a:schemeClr val="tx2"/>
              </a:solidFill>
            </a:endParaRPr>
          </a:p>
          <a:p>
            <a:pPr lvl="1" eaLnBrk="1" hangingPunct="1">
              <a:buFont typeface="Wingdings" panose="05000000000000000000" pitchFamily="2" charset="2"/>
              <a:buNone/>
            </a:pPr>
            <a:r>
              <a:rPr lang="zh-CN" altLang="en-US" sz="2800" dirty="0"/>
              <a:t>   左规为</a:t>
            </a:r>
            <a:r>
              <a:rPr lang="en-US" altLang="zh-CN" sz="2800" dirty="0"/>
              <a:t>11.00010101</a:t>
            </a:r>
            <a:r>
              <a:rPr lang="zh-CN" altLang="en-US" sz="2800" dirty="0"/>
              <a:t>（</a:t>
            </a:r>
            <a:r>
              <a:rPr lang="en-US" altLang="zh-CN" sz="2800" dirty="0"/>
              <a:t>10</a:t>
            </a:r>
            <a:r>
              <a:rPr lang="zh-CN" altLang="en-US" sz="2800" dirty="0"/>
              <a:t>），阶码减</a:t>
            </a:r>
            <a:r>
              <a:rPr lang="en-US" altLang="zh-CN" sz="2800" dirty="0"/>
              <a:t>1</a:t>
            </a:r>
            <a:r>
              <a:rPr lang="zh-CN" altLang="en-US" sz="2800" dirty="0"/>
              <a:t>为</a:t>
            </a:r>
            <a:r>
              <a:rPr lang="en-US" altLang="zh-CN" sz="2800" dirty="0"/>
              <a:t>00011</a:t>
            </a:r>
            <a:endParaRPr lang="en-US" altLang="zh-CN" sz="2800" dirty="0"/>
          </a:p>
          <a:p>
            <a:pPr eaLnBrk="1" hangingPunct="1">
              <a:buFont typeface="Wingdings 2" charset="2"/>
              <a:buNone/>
            </a:pPr>
            <a:r>
              <a:rPr lang="en-US" altLang="zh-CN" dirty="0"/>
              <a:t>5</a:t>
            </a:r>
            <a:r>
              <a:rPr lang="zh-CN" altLang="en-US" dirty="0"/>
              <a:t>、舍入（</a:t>
            </a:r>
            <a:r>
              <a:rPr lang="en-US" altLang="zh-CN" dirty="0"/>
              <a:t>0</a:t>
            </a:r>
            <a:r>
              <a:rPr lang="zh-CN" altLang="en-US" dirty="0"/>
              <a:t>舍</a:t>
            </a:r>
            <a:r>
              <a:rPr lang="en-US" altLang="zh-CN" dirty="0"/>
              <a:t>1</a:t>
            </a:r>
            <a:r>
              <a:rPr lang="zh-CN" altLang="en-US" dirty="0"/>
              <a:t>入） </a:t>
            </a:r>
            <a:r>
              <a:rPr lang="en-US" altLang="zh-CN" dirty="0"/>
              <a:t>11.00010110</a:t>
            </a:r>
            <a:endParaRPr lang="en-US" altLang="zh-CN" dirty="0"/>
          </a:p>
          <a:p>
            <a:pPr eaLnBrk="1" hangingPunct="1">
              <a:buFont typeface="Wingdings 2" charset="2"/>
              <a:buNone/>
            </a:pPr>
            <a:r>
              <a:rPr lang="en-US" altLang="zh-CN" dirty="0"/>
              <a:t>      </a:t>
            </a:r>
            <a:r>
              <a:rPr lang="en-US" altLang="zh-CN" dirty="0" err="1"/>
              <a:t>x+y</a:t>
            </a:r>
            <a:r>
              <a:rPr lang="en-US" altLang="zh-CN" dirty="0"/>
              <a:t>=-0.11101010 × 2</a:t>
            </a:r>
            <a:r>
              <a:rPr lang="en-US" altLang="zh-CN" baseline="30000" dirty="0"/>
              <a:t>011</a:t>
            </a:r>
            <a:endParaRPr lang="en-US" altLang="zh-CN" dirty="0"/>
          </a:p>
        </p:txBody>
      </p:sp>
    </p:spTree>
  </p:cSld>
  <p:clrMapOvr>
    <a:masterClrMapping/>
  </p:clrMapOvr>
  <p:transition spd="med">
    <p:pull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eaLnBrk="1" hangingPunct="1">
              <a:defRPr/>
            </a:pPr>
            <a:r>
              <a:rPr lang="zh-CN" altLang="en-US" dirty="0"/>
              <a:t>浮点数乘、除法</a:t>
            </a:r>
            <a:endParaRPr lang="zh-CN" altLang="en-US" dirty="0"/>
          </a:p>
        </p:txBody>
      </p:sp>
      <p:sp>
        <p:nvSpPr>
          <p:cNvPr id="112642" name="Rectangle 3"/>
          <p:cNvSpPr>
            <a:spLocks noGrp="1" noChangeArrowheads="1"/>
          </p:cNvSpPr>
          <p:nvPr>
            <p:ph idx="1"/>
          </p:nvPr>
        </p:nvSpPr>
        <p:spPr/>
        <p:txBody>
          <a:bodyPr/>
          <a:lstStyle/>
          <a:p>
            <a:pPr eaLnBrk="1" hangingPunct="1">
              <a:buFont typeface="Wingdings 2" charset="2"/>
              <a:buNone/>
            </a:pPr>
            <a:r>
              <a:rPr lang="zh-CN" altLang="en-US"/>
              <a:t>设有两个浮点数ｘ＝</a:t>
            </a:r>
            <a:r>
              <a:rPr lang="en-US" altLang="zh-CN"/>
              <a:t>2</a:t>
            </a:r>
            <a:r>
              <a:rPr lang="en-US" altLang="zh-CN" baseline="30000"/>
              <a:t>E</a:t>
            </a:r>
            <a:r>
              <a:rPr lang="zh-CN" altLang="en-US" baseline="30000"/>
              <a:t>ｘ</a:t>
            </a:r>
            <a:r>
              <a:rPr lang="en-US" altLang="zh-CN"/>
              <a:t>×M</a:t>
            </a:r>
            <a:r>
              <a:rPr lang="zh-CN" altLang="en-US" baseline="-25000"/>
              <a:t>ｘ</a:t>
            </a:r>
            <a:endParaRPr lang="zh-CN" altLang="en-US" baseline="-25000"/>
          </a:p>
          <a:p>
            <a:pPr eaLnBrk="1" hangingPunct="1">
              <a:buFont typeface="Wingdings 2" charset="2"/>
              <a:buNone/>
            </a:pPr>
            <a:r>
              <a:rPr lang="zh-CN" altLang="en-US"/>
              <a:t>	                          ｙ＝</a:t>
            </a:r>
            <a:r>
              <a:rPr lang="en-US" altLang="zh-CN"/>
              <a:t>2</a:t>
            </a:r>
            <a:r>
              <a:rPr lang="en-US" altLang="zh-CN" baseline="30000"/>
              <a:t>E</a:t>
            </a:r>
            <a:r>
              <a:rPr lang="zh-CN" altLang="en-US" baseline="30000"/>
              <a:t>ｙ</a:t>
            </a:r>
            <a:r>
              <a:rPr lang="en-US" altLang="zh-CN"/>
              <a:t>×M</a:t>
            </a:r>
            <a:r>
              <a:rPr lang="zh-CN" altLang="en-US" baseline="-25000"/>
              <a:t>ｙ</a:t>
            </a:r>
            <a:endParaRPr lang="zh-CN" altLang="en-US" baseline="-25000"/>
          </a:p>
          <a:p>
            <a:pPr eaLnBrk="1" hangingPunct="1"/>
            <a:r>
              <a:rPr lang="zh-CN" altLang="en-US"/>
              <a:t>ｘ</a:t>
            </a:r>
            <a:r>
              <a:rPr lang="en-US" altLang="zh-CN">
                <a:latin typeface="方正粗圆简体" pitchFamily="2" charset="-122"/>
              </a:rPr>
              <a:t>×</a:t>
            </a:r>
            <a:r>
              <a:rPr lang="zh-CN" altLang="en-US"/>
              <a:t>ｙ＝</a:t>
            </a:r>
            <a:r>
              <a:rPr lang="en-US" altLang="zh-CN"/>
              <a:t>2</a:t>
            </a:r>
            <a:r>
              <a:rPr lang="zh-CN" altLang="en-US" baseline="30000"/>
              <a:t>（</a:t>
            </a:r>
            <a:r>
              <a:rPr lang="en-US" altLang="zh-CN" baseline="30000"/>
              <a:t>E</a:t>
            </a:r>
            <a:r>
              <a:rPr lang="zh-CN" altLang="en-US" baseline="30000"/>
              <a:t>ｘ＋</a:t>
            </a:r>
            <a:r>
              <a:rPr lang="en-US" altLang="zh-CN" baseline="30000"/>
              <a:t>E</a:t>
            </a:r>
            <a:r>
              <a:rPr lang="zh-CN" altLang="en-US" baseline="30000"/>
              <a:t>ｙ）</a:t>
            </a:r>
            <a:r>
              <a:rPr lang="zh-CN" altLang="en-US"/>
              <a:t> </a:t>
            </a:r>
            <a:r>
              <a:rPr lang="en-US" altLang="zh-CN"/>
              <a:t>×</a:t>
            </a:r>
            <a:r>
              <a:rPr lang="zh-CN" altLang="en-US"/>
              <a:t>（</a:t>
            </a:r>
            <a:r>
              <a:rPr lang="en-US" altLang="zh-CN"/>
              <a:t>M</a:t>
            </a:r>
            <a:r>
              <a:rPr lang="zh-CN" altLang="en-US" baseline="-25000"/>
              <a:t>ｘ</a:t>
            </a:r>
            <a:r>
              <a:rPr lang="en-US" altLang="zh-CN">
                <a:latin typeface="方正粗圆简体" pitchFamily="2" charset="-122"/>
              </a:rPr>
              <a:t>×</a:t>
            </a:r>
            <a:r>
              <a:rPr lang="en-US" altLang="zh-CN" baseline="-25000"/>
              <a:t> </a:t>
            </a:r>
            <a:r>
              <a:rPr lang="en-US" altLang="zh-CN"/>
              <a:t>M</a:t>
            </a:r>
            <a:r>
              <a:rPr lang="zh-CN" altLang="en-US" baseline="-25000"/>
              <a:t>ｙ</a:t>
            </a:r>
            <a:r>
              <a:rPr lang="zh-CN" altLang="en-US"/>
              <a:t>）</a:t>
            </a:r>
            <a:endParaRPr lang="zh-CN" altLang="en-US"/>
          </a:p>
          <a:p>
            <a:pPr eaLnBrk="1" hangingPunct="1">
              <a:buFont typeface="Wingdings 2" charset="2"/>
              <a:buNone/>
            </a:pPr>
            <a:r>
              <a:rPr lang="zh-CN" altLang="en-US"/>
              <a:t> ｘ</a:t>
            </a:r>
            <a:r>
              <a:rPr lang="en-US" altLang="zh-CN">
                <a:latin typeface="方正粗圆简体" pitchFamily="2" charset="-122"/>
              </a:rPr>
              <a:t>÷</a:t>
            </a:r>
            <a:r>
              <a:rPr lang="zh-CN" altLang="en-US"/>
              <a:t>ｙ＝</a:t>
            </a:r>
            <a:r>
              <a:rPr lang="en-US" altLang="zh-CN"/>
              <a:t>2</a:t>
            </a:r>
            <a:r>
              <a:rPr lang="zh-CN" altLang="en-US" baseline="30000"/>
              <a:t>（</a:t>
            </a:r>
            <a:r>
              <a:rPr lang="en-US" altLang="zh-CN" baseline="30000"/>
              <a:t>E</a:t>
            </a:r>
            <a:r>
              <a:rPr lang="zh-CN" altLang="en-US" baseline="30000"/>
              <a:t>ｘ</a:t>
            </a:r>
            <a:r>
              <a:rPr lang="en-US" altLang="zh-CN" baseline="30000"/>
              <a:t>-E</a:t>
            </a:r>
            <a:r>
              <a:rPr lang="zh-CN" altLang="en-US" baseline="30000"/>
              <a:t>ｙ）</a:t>
            </a:r>
            <a:r>
              <a:rPr lang="zh-CN" altLang="en-US"/>
              <a:t> </a:t>
            </a:r>
            <a:r>
              <a:rPr lang="en-US" altLang="zh-CN"/>
              <a:t>×</a:t>
            </a:r>
            <a:r>
              <a:rPr lang="zh-CN" altLang="en-US"/>
              <a:t>（</a:t>
            </a:r>
            <a:r>
              <a:rPr lang="en-US" altLang="zh-CN"/>
              <a:t>M</a:t>
            </a:r>
            <a:r>
              <a:rPr lang="zh-CN" altLang="en-US" baseline="-25000"/>
              <a:t>ｘ</a:t>
            </a:r>
            <a:r>
              <a:rPr lang="en-US" altLang="zh-CN">
                <a:latin typeface="方正粗圆简体" pitchFamily="2" charset="-122"/>
              </a:rPr>
              <a:t>÷</a:t>
            </a:r>
            <a:r>
              <a:rPr lang="en-US" altLang="zh-CN" baseline="-25000"/>
              <a:t> </a:t>
            </a:r>
            <a:r>
              <a:rPr lang="en-US" altLang="zh-CN"/>
              <a:t>M</a:t>
            </a:r>
            <a:r>
              <a:rPr lang="zh-CN" altLang="en-US" baseline="-25000"/>
              <a:t>ｙ</a:t>
            </a:r>
            <a:r>
              <a:rPr lang="zh-CN" altLang="en-US"/>
              <a:t>）</a:t>
            </a:r>
            <a:endParaRPr lang="zh-CN" altLang="en-US"/>
          </a:p>
          <a:p>
            <a:pPr eaLnBrk="1" hangingPunct="1"/>
            <a:r>
              <a:rPr lang="zh-CN" altLang="en-US"/>
              <a:t>算法</a:t>
            </a:r>
            <a:endParaRPr lang="zh-CN" altLang="en-US"/>
          </a:p>
          <a:p>
            <a:pPr lvl="1" eaLnBrk="1" hangingPunct="1"/>
            <a:r>
              <a:rPr lang="zh-CN" altLang="en-US"/>
              <a:t>检查操作数是否为</a:t>
            </a:r>
            <a:r>
              <a:rPr lang="en-US" altLang="zh-CN"/>
              <a:t>0</a:t>
            </a:r>
            <a:endParaRPr lang="en-US" altLang="zh-CN"/>
          </a:p>
          <a:p>
            <a:pPr lvl="1" eaLnBrk="1" hangingPunct="1"/>
            <a:r>
              <a:rPr lang="zh-CN" altLang="en-US"/>
              <a:t>阶码加、减：乘：</a:t>
            </a:r>
            <a:r>
              <a:rPr lang="en-US" altLang="zh-CN"/>
              <a:t>E</a:t>
            </a:r>
            <a:r>
              <a:rPr lang="en-US" altLang="zh-CN" baseline="-25000"/>
              <a:t>X</a:t>
            </a:r>
            <a:r>
              <a:rPr lang="en-US" altLang="zh-CN"/>
              <a:t>+E</a:t>
            </a:r>
            <a:r>
              <a:rPr lang="en-US" altLang="zh-CN" baseline="-25000"/>
              <a:t>Y</a:t>
            </a:r>
            <a:r>
              <a:rPr lang="en-US" altLang="zh-CN"/>
              <a:t> </a:t>
            </a:r>
            <a:r>
              <a:rPr lang="zh-CN" altLang="en-US"/>
              <a:t>，除：</a:t>
            </a:r>
            <a:r>
              <a:rPr lang="en-US" altLang="zh-CN"/>
              <a:t>E</a:t>
            </a:r>
            <a:r>
              <a:rPr lang="en-US" altLang="zh-CN" baseline="-25000"/>
              <a:t>X</a:t>
            </a:r>
            <a:r>
              <a:rPr lang="en-US" altLang="zh-CN"/>
              <a:t>- E</a:t>
            </a:r>
            <a:r>
              <a:rPr lang="en-US" altLang="zh-CN" baseline="-25000"/>
              <a:t>Y</a:t>
            </a:r>
            <a:endParaRPr lang="en-US" altLang="zh-CN"/>
          </a:p>
          <a:p>
            <a:pPr lvl="1" eaLnBrk="1" hangingPunct="1"/>
            <a:r>
              <a:rPr lang="zh-CN" altLang="en-US"/>
              <a:t>对尾数进行乘、除法，求得结果</a:t>
            </a:r>
            <a:endParaRPr lang="zh-CN" altLang="en-US"/>
          </a:p>
          <a:p>
            <a:pPr lvl="1" eaLnBrk="1" hangingPunct="1"/>
            <a:r>
              <a:rPr lang="zh-CN" altLang="en-US"/>
              <a:t>规格化、舍入处理（可能再次规格化）</a:t>
            </a:r>
            <a:endParaRPr lang="zh-CN" altLang="en-US"/>
          </a:p>
          <a:p>
            <a:pPr lvl="1" eaLnBrk="1" hangingPunct="1"/>
            <a:r>
              <a:rPr lang="zh-CN" altLang="en-US"/>
              <a:t>进行溢出检查（阶码）</a:t>
            </a:r>
            <a:endParaRPr lang="zh-CN" altLang="en-US"/>
          </a:p>
        </p:txBody>
      </p:sp>
    </p:spTree>
  </p:cSld>
  <p:clrMapOvr>
    <a:masterClrMapping/>
  </p:clrMapOvr>
  <p:transition spd="med">
    <p:pull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4" name="Rectangle 2"/>
          <p:cNvSpPr>
            <a:spLocks noGrp="1" noChangeArrowheads="1"/>
          </p:cNvSpPr>
          <p:nvPr>
            <p:ph type="title"/>
          </p:nvPr>
        </p:nvSpPr>
        <p:spPr/>
        <p:txBody>
          <a:bodyPr/>
          <a:lstStyle/>
          <a:p>
            <a:pPr eaLnBrk="1" hangingPunct="1"/>
            <a:r>
              <a:rPr lang="zh-CN" altLang="en-US"/>
              <a:t>尾数处理</a:t>
            </a:r>
            <a:endParaRPr lang="zh-CN" altLang="en-US"/>
          </a:p>
        </p:txBody>
      </p:sp>
      <p:sp>
        <p:nvSpPr>
          <p:cNvPr id="113666" name="Rectangle 3"/>
          <p:cNvSpPr>
            <a:spLocks noGrp="1" noChangeArrowheads="1"/>
          </p:cNvSpPr>
          <p:nvPr>
            <p:ph idx="1"/>
          </p:nvPr>
        </p:nvSpPr>
        <p:spPr/>
        <p:txBody>
          <a:bodyPr/>
          <a:lstStyle/>
          <a:p>
            <a:pPr marL="0" indent="0" eaLnBrk="1" hangingPunct="1">
              <a:lnSpc>
                <a:spcPct val="90000"/>
              </a:lnSpc>
              <a:buFont typeface="Wingdings 2" charset="2"/>
              <a:buNone/>
            </a:pPr>
            <a:r>
              <a:rPr lang="zh-CN" altLang="en-US"/>
              <a:t>方法</a:t>
            </a:r>
            <a:r>
              <a:rPr lang="en-US" altLang="zh-CN"/>
              <a:t>1</a:t>
            </a:r>
            <a:r>
              <a:rPr lang="zh-CN" altLang="en-US"/>
              <a:t>：截断</a:t>
            </a:r>
            <a:endParaRPr lang="zh-CN" altLang="en-US"/>
          </a:p>
          <a:p>
            <a:pPr marL="0" indent="0" eaLnBrk="1" hangingPunct="1">
              <a:lnSpc>
                <a:spcPct val="90000"/>
              </a:lnSpc>
              <a:buFont typeface="Wingdings 2" charset="2"/>
              <a:buNone/>
            </a:pPr>
            <a:r>
              <a:rPr lang="zh-CN" altLang="en-US"/>
              <a:t>方法</a:t>
            </a:r>
            <a:r>
              <a:rPr lang="en-US" altLang="zh-CN"/>
              <a:t>2</a:t>
            </a:r>
            <a:r>
              <a:rPr lang="zh-CN" altLang="en-US"/>
              <a:t>：舍入</a:t>
            </a:r>
            <a:r>
              <a:rPr lang="en-US" altLang="zh-CN"/>
              <a:t>–</a:t>
            </a:r>
            <a:r>
              <a:rPr lang="zh-CN" altLang="en-US"/>
              <a:t>按某种规则进行修正</a:t>
            </a:r>
            <a:endParaRPr lang="zh-CN" altLang="en-US"/>
          </a:p>
          <a:p>
            <a:pPr marL="881380" lvl="1" indent="-431800" eaLnBrk="1" hangingPunct="1">
              <a:lnSpc>
                <a:spcPct val="90000"/>
              </a:lnSpc>
            </a:pPr>
            <a:r>
              <a:rPr lang="zh-CN" altLang="en-US" sz="2900"/>
              <a:t>如果尾数用原码表示</a:t>
            </a:r>
            <a:endParaRPr lang="zh-CN" altLang="en-US" sz="2900"/>
          </a:p>
          <a:p>
            <a:pPr marL="1519555" lvl="2" indent="-438150" eaLnBrk="1" hangingPunct="1">
              <a:lnSpc>
                <a:spcPct val="90000"/>
              </a:lnSpc>
              <a:buFont typeface="Wingdings 2" charset="2"/>
              <a:buAutoNum type="circleNumDbPlain"/>
            </a:pPr>
            <a:r>
              <a:rPr lang="zh-CN" altLang="en-US"/>
              <a:t>只要尾数最低为</a:t>
            </a:r>
            <a:r>
              <a:rPr lang="en-US" altLang="zh-CN"/>
              <a:t>1</a:t>
            </a:r>
            <a:r>
              <a:rPr lang="zh-CN" altLang="en-US"/>
              <a:t>或者移出位中有</a:t>
            </a:r>
            <a:r>
              <a:rPr lang="en-US" altLang="zh-CN"/>
              <a:t>1</a:t>
            </a:r>
            <a:r>
              <a:rPr lang="zh-CN" altLang="en-US"/>
              <a:t>数值位，使最低位</a:t>
            </a:r>
            <a:r>
              <a:rPr lang="zh-CN" altLang="en-US">
                <a:solidFill>
                  <a:srgbClr val="FF0000"/>
                </a:solidFill>
              </a:rPr>
              <a:t>置</a:t>
            </a:r>
            <a:r>
              <a:rPr lang="en-US" altLang="zh-CN"/>
              <a:t>1</a:t>
            </a:r>
            <a:endParaRPr lang="en-US" altLang="zh-CN"/>
          </a:p>
          <a:p>
            <a:pPr marL="1519555" lvl="2" indent="-438150" eaLnBrk="1" hangingPunct="1">
              <a:lnSpc>
                <a:spcPct val="90000"/>
              </a:lnSpc>
              <a:buFont typeface="Wingdings 2" charset="2"/>
              <a:buAutoNum type="circleNumDbPlain"/>
            </a:pPr>
            <a:r>
              <a:rPr lang="en-US" altLang="zh-CN"/>
              <a:t>0</a:t>
            </a:r>
            <a:r>
              <a:rPr lang="zh-CN" altLang="en-US"/>
              <a:t>舍</a:t>
            </a:r>
            <a:r>
              <a:rPr lang="en-US" altLang="zh-CN"/>
              <a:t>1</a:t>
            </a:r>
            <a:r>
              <a:rPr lang="zh-CN" altLang="en-US"/>
              <a:t>入</a:t>
            </a:r>
            <a:endParaRPr lang="zh-CN" altLang="en-US"/>
          </a:p>
          <a:p>
            <a:pPr marL="881380" lvl="1" indent="-431800" eaLnBrk="1" hangingPunct="1">
              <a:lnSpc>
                <a:spcPct val="90000"/>
              </a:lnSpc>
            </a:pPr>
            <a:r>
              <a:rPr lang="zh-CN" altLang="en-US" sz="2900"/>
              <a:t>如果尾数用补码表示（</a:t>
            </a:r>
            <a:r>
              <a:rPr lang="zh-CN" altLang="en-US" sz="2900" u="sng"/>
              <a:t>第五版教材中未列出</a:t>
            </a:r>
            <a:r>
              <a:rPr lang="zh-CN" altLang="en-US" sz="2900"/>
              <a:t>）</a:t>
            </a:r>
            <a:endParaRPr lang="zh-CN" altLang="en-US" sz="2900"/>
          </a:p>
          <a:p>
            <a:pPr marL="1519555" lvl="2" indent="-438150" eaLnBrk="1" hangingPunct="1">
              <a:lnSpc>
                <a:spcPct val="90000"/>
              </a:lnSpc>
              <a:buFont typeface="Wingdings" panose="05000000000000000000" pitchFamily="2" charset="2"/>
              <a:buNone/>
            </a:pPr>
            <a:r>
              <a:rPr lang="zh-CN" altLang="en-US"/>
              <a:t>丢失的各位均为</a:t>
            </a:r>
            <a:r>
              <a:rPr lang="en-US" altLang="zh-CN"/>
              <a:t>0</a:t>
            </a:r>
            <a:r>
              <a:rPr lang="zh-CN" altLang="en-US"/>
              <a:t>，不必舍入；</a:t>
            </a:r>
            <a:endParaRPr lang="zh-CN" altLang="en-US"/>
          </a:p>
          <a:p>
            <a:pPr marL="1519555" lvl="2" indent="-438150" eaLnBrk="1" hangingPunct="1">
              <a:lnSpc>
                <a:spcPct val="90000"/>
              </a:lnSpc>
              <a:buFont typeface="Wingdings" panose="05000000000000000000" pitchFamily="2" charset="2"/>
              <a:buNone/>
            </a:pPr>
            <a:r>
              <a:rPr lang="zh-CN" altLang="en-US"/>
              <a:t>丢失的最高位为</a:t>
            </a:r>
            <a:r>
              <a:rPr lang="en-US" altLang="zh-CN"/>
              <a:t>0</a:t>
            </a:r>
            <a:r>
              <a:rPr lang="zh-CN" altLang="en-US"/>
              <a:t>，以后各位不全为</a:t>
            </a:r>
            <a:r>
              <a:rPr lang="en-US" altLang="zh-CN"/>
              <a:t>0</a:t>
            </a:r>
            <a:r>
              <a:rPr lang="zh-CN" altLang="en-US"/>
              <a:t>时；或者最高为</a:t>
            </a:r>
            <a:r>
              <a:rPr lang="en-US" altLang="zh-CN"/>
              <a:t>1</a:t>
            </a:r>
            <a:r>
              <a:rPr lang="zh-CN" altLang="en-US"/>
              <a:t>，以后各位全为</a:t>
            </a:r>
            <a:r>
              <a:rPr lang="en-US" altLang="zh-CN"/>
              <a:t>0</a:t>
            </a:r>
            <a:r>
              <a:rPr lang="zh-CN" altLang="en-US"/>
              <a:t>时，不必舍入；</a:t>
            </a:r>
            <a:endParaRPr lang="zh-CN" altLang="en-US"/>
          </a:p>
          <a:p>
            <a:pPr marL="1519555" lvl="2" indent="-438150" eaLnBrk="1" hangingPunct="1">
              <a:lnSpc>
                <a:spcPct val="90000"/>
              </a:lnSpc>
              <a:buFont typeface="Wingdings" panose="05000000000000000000" pitchFamily="2" charset="2"/>
              <a:buNone/>
            </a:pPr>
            <a:r>
              <a:rPr lang="zh-CN" altLang="en-US"/>
              <a:t>丢失的最高位为</a:t>
            </a:r>
            <a:r>
              <a:rPr lang="en-US" altLang="zh-CN"/>
              <a:t>1</a:t>
            </a:r>
            <a:r>
              <a:rPr lang="zh-CN" altLang="en-US"/>
              <a:t>，以后各位不全为</a:t>
            </a:r>
            <a:r>
              <a:rPr lang="en-US" altLang="zh-CN"/>
              <a:t>0</a:t>
            </a:r>
            <a:r>
              <a:rPr lang="zh-CN" altLang="en-US"/>
              <a:t>时，则在尾数的最低位进</a:t>
            </a:r>
            <a:r>
              <a:rPr lang="en-US" altLang="zh-CN"/>
              <a:t>1</a:t>
            </a:r>
            <a:r>
              <a:rPr lang="zh-CN" altLang="en-US"/>
              <a:t>的修正操作。</a:t>
            </a:r>
            <a:endParaRPr lang="zh-CN" altLang="en-US"/>
          </a:p>
        </p:txBody>
      </p:sp>
    </p:spTree>
  </p:cSld>
  <p:clrMapOvr>
    <a:masterClrMapping/>
  </p:clrMapOvr>
  <p:transition spd="med">
    <p:pull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2"/>
          <p:cNvSpPr>
            <a:spLocks noGrp="1" noChangeArrowheads="1"/>
          </p:cNvSpPr>
          <p:nvPr>
            <p:ph type="title"/>
          </p:nvPr>
        </p:nvSpPr>
        <p:spPr/>
        <p:txBody>
          <a:bodyPr/>
          <a:lstStyle/>
          <a:p>
            <a:pPr eaLnBrk="1" hangingPunct="1"/>
            <a:r>
              <a:rPr lang="zh-CN" altLang="en-US"/>
              <a:t>浮点运算器实例</a:t>
            </a:r>
            <a:endParaRPr lang="zh-CN" altLang="en-US"/>
          </a:p>
        </p:txBody>
      </p:sp>
      <p:sp>
        <p:nvSpPr>
          <p:cNvPr id="114690" name="Rectangle 3"/>
          <p:cNvSpPr>
            <a:spLocks noGrp="1" noChangeArrowheads="1"/>
          </p:cNvSpPr>
          <p:nvPr>
            <p:ph idx="1"/>
          </p:nvPr>
        </p:nvSpPr>
        <p:spPr/>
        <p:txBody>
          <a:bodyPr/>
          <a:lstStyle/>
          <a:p>
            <a:pPr eaLnBrk="1" hangingPunct="1"/>
            <a:r>
              <a:rPr lang="en-US" altLang="zh-CN" sz="2800"/>
              <a:t>CPU</a:t>
            </a:r>
            <a:r>
              <a:rPr lang="zh-CN" altLang="en-US" sz="2800"/>
              <a:t>之外的浮点运算器（数学协处理器）如</a:t>
            </a:r>
            <a:r>
              <a:rPr lang="en-US" altLang="zh-CN" sz="2800"/>
              <a:t>80x87</a:t>
            </a:r>
            <a:endParaRPr lang="en-US" altLang="zh-CN" sz="2800"/>
          </a:p>
          <a:p>
            <a:pPr lvl="1" eaLnBrk="1" hangingPunct="1"/>
            <a:r>
              <a:rPr lang="zh-CN" altLang="en-US" sz="2600"/>
              <a:t>完成浮点运算功能，不能单独使用</a:t>
            </a:r>
            <a:endParaRPr lang="zh-CN" altLang="en-US" sz="2600"/>
          </a:p>
          <a:p>
            <a:pPr lvl="1" eaLnBrk="1" hangingPunct="1"/>
            <a:r>
              <a:rPr lang="zh-CN" altLang="en-US" sz="2600"/>
              <a:t>可以和</a:t>
            </a:r>
            <a:r>
              <a:rPr lang="en-US" altLang="zh-CN" sz="2600"/>
              <a:t>80386</a:t>
            </a:r>
            <a:r>
              <a:rPr lang="zh-CN" altLang="en-US" sz="2600"/>
              <a:t>或</a:t>
            </a:r>
            <a:r>
              <a:rPr lang="en-US" altLang="zh-CN" sz="2600"/>
              <a:t>80286</a:t>
            </a:r>
            <a:r>
              <a:rPr lang="zh-CN" altLang="en-US" sz="2600"/>
              <a:t>异步并行工作</a:t>
            </a:r>
            <a:endParaRPr lang="zh-CN" altLang="en-US" sz="2600"/>
          </a:p>
          <a:p>
            <a:pPr lvl="1" eaLnBrk="1" hangingPunct="1"/>
            <a:r>
              <a:rPr lang="zh-CN" altLang="en-US" sz="2600"/>
              <a:t>使用特殊的</a:t>
            </a:r>
            <a:r>
              <a:rPr lang="en-US" altLang="zh-CN" sz="2600"/>
              <a:t>80</a:t>
            </a:r>
            <a:r>
              <a:rPr lang="zh-CN" altLang="en-US" sz="2600"/>
              <a:t>位的扩展精度格式。有</a:t>
            </a:r>
            <a:r>
              <a:rPr lang="en-US" altLang="zh-CN" sz="2600"/>
              <a:t>8</a:t>
            </a:r>
            <a:r>
              <a:rPr lang="zh-CN" altLang="en-US" sz="2600"/>
              <a:t>个</a:t>
            </a:r>
            <a:r>
              <a:rPr lang="en-US" altLang="zh-CN" sz="2600"/>
              <a:t>80</a:t>
            </a:r>
            <a:r>
              <a:rPr lang="zh-CN" altLang="en-US" sz="2600"/>
              <a:t>位的寄存器组。</a:t>
            </a:r>
            <a:r>
              <a:rPr lang="en-US" altLang="zh-CN" sz="2600"/>
              <a:t>754</a:t>
            </a:r>
            <a:r>
              <a:rPr lang="zh-CN" altLang="en-US" sz="2600"/>
              <a:t>标准单精度和双精度数从存储器加载到浮点寄存器中时转化成这种格式</a:t>
            </a:r>
            <a:endParaRPr lang="zh-CN" altLang="en-US" sz="2600"/>
          </a:p>
          <a:p>
            <a:pPr eaLnBrk="1" hangingPunct="1"/>
            <a:r>
              <a:rPr lang="en-US" altLang="zh-CN" sz="2800"/>
              <a:t>CPU</a:t>
            </a:r>
            <a:r>
              <a:rPr lang="zh-CN" altLang="en-US" sz="2800"/>
              <a:t>之内的浮点运算器</a:t>
            </a:r>
            <a:endParaRPr lang="zh-CN" altLang="en-US" sz="2800"/>
          </a:p>
          <a:p>
            <a:pPr eaLnBrk="1" hangingPunct="1">
              <a:buFont typeface="Wingdings 2" charset="2"/>
              <a:buNone/>
            </a:pPr>
            <a:r>
              <a:rPr lang="zh-CN" altLang="en-US" sz="2800"/>
              <a:t>   （</a:t>
            </a:r>
            <a:r>
              <a:rPr lang="en-US" altLang="zh-CN" sz="2800"/>
              <a:t>486DX</a:t>
            </a:r>
            <a:r>
              <a:rPr lang="zh-CN" altLang="en-US" sz="2800"/>
              <a:t>以上）</a:t>
            </a:r>
            <a:endParaRPr lang="en-US" altLang="zh-CN" sz="2800"/>
          </a:p>
          <a:p>
            <a:pPr lvl="1" eaLnBrk="1" hangingPunct="1">
              <a:buFont typeface="Wingdings" panose="05000000000000000000" pitchFamily="2" charset="2"/>
              <a:buNone/>
            </a:pPr>
            <a:r>
              <a:rPr lang="zh-CN" altLang="en-US" sz="2400"/>
              <a:t>较新的</a:t>
            </a:r>
            <a:r>
              <a:rPr lang="en-US" altLang="zh-CN" sz="2400"/>
              <a:t>Intel</a:t>
            </a:r>
            <a:r>
              <a:rPr lang="zh-CN" altLang="en-US" sz="2400"/>
              <a:t>处理器提供对</a:t>
            </a:r>
            <a:r>
              <a:rPr lang="en-US" altLang="zh-CN" sz="2400"/>
              <a:t>754</a:t>
            </a:r>
            <a:r>
              <a:rPr lang="zh-CN" altLang="en-US" sz="2400"/>
              <a:t>标准</a:t>
            </a:r>
            <a:endParaRPr lang="zh-CN" altLang="en-US" sz="2400"/>
          </a:p>
          <a:p>
            <a:pPr lvl="1" eaLnBrk="1" hangingPunct="1">
              <a:buFont typeface="Wingdings" panose="05000000000000000000" pitchFamily="2" charset="2"/>
              <a:buNone/>
            </a:pPr>
            <a:r>
              <a:rPr lang="zh-CN" altLang="en-US" sz="2400"/>
              <a:t>的直接硬件支持</a:t>
            </a:r>
            <a:endParaRPr lang="en-US" altLang="zh-CN" sz="2400"/>
          </a:p>
        </p:txBody>
      </p:sp>
      <p:pic>
        <p:nvPicPr>
          <p:cNvPr id="114692" name="Picture 4" descr="XTboard"/>
          <p:cNvPicPr>
            <a:picLocks noChangeAspect="1" noChangeArrowheads="1"/>
          </p:cNvPicPr>
          <p:nvPr/>
        </p:nvPicPr>
        <p:blipFill>
          <a:blip r:embed="rId1">
            <a:extLst>
              <a:ext uri="{28A0092B-C50C-407E-A947-70E740481C1C}">
                <a14:useLocalDpi xmlns:a14="http://schemas.microsoft.com/office/drawing/2010/main" val="0"/>
              </a:ext>
            </a:extLst>
          </a:blip>
          <a:srcRect l="2388" t="7632" r="5255" b="4453"/>
          <a:stretch>
            <a:fillRect/>
          </a:stretch>
        </p:blipFill>
        <p:spPr bwMode="auto">
          <a:xfrm>
            <a:off x="5181600" y="3790016"/>
            <a:ext cx="3887788" cy="277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ChangeArrowheads="1"/>
          </p:cNvSpPr>
          <p:nvPr>
            <p:ph type="title"/>
          </p:nvPr>
        </p:nvSpPr>
        <p:spPr/>
        <p:txBody>
          <a:bodyPr/>
          <a:lstStyle/>
          <a:p>
            <a:pPr eaLnBrk="1" hangingPunct="1"/>
            <a:r>
              <a:rPr lang="en-US" altLang="zh-CN"/>
              <a:t>80x87</a:t>
            </a:r>
            <a:r>
              <a:rPr lang="zh-CN" altLang="en-US"/>
              <a:t>浮点运算器逻辑框图</a:t>
            </a:r>
            <a:endParaRPr lang="zh-CN" altLang="en-US"/>
          </a:p>
        </p:txBody>
      </p:sp>
      <p:sp>
        <p:nvSpPr>
          <p:cNvPr id="116738" name="Rectangle 3"/>
          <p:cNvSpPr>
            <a:spLocks noGrp="1" noChangeArrowheads="1"/>
          </p:cNvSpPr>
          <p:nvPr>
            <p:ph idx="1"/>
          </p:nvPr>
        </p:nvSpPr>
        <p:spPr/>
        <p:txBody>
          <a:bodyPr/>
          <a:lstStyle/>
          <a:p>
            <a:pPr eaLnBrk="1" hangingPunct="1"/>
            <a:endParaRPr lang="zh-CN" altLang="zh-CN"/>
          </a:p>
        </p:txBody>
      </p:sp>
      <p:pic>
        <p:nvPicPr>
          <p:cNvPr id="116740" name="Picture 4" descr="2"/>
          <p:cNvPicPr>
            <a:picLocks noChangeAspect="1" noChangeArrowheads="1"/>
          </p:cNvPicPr>
          <p:nvPr/>
        </p:nvPicPr>
        <p:blipFill>
          <a:blip r:embed="rId1">
            <a:extLst>
              <a:ext uri="{28A0092B-C50C-407E-A947-70E740481C1C}">
                <a14:useLocalDpi xmlns:a14="http://schemas.microsoft.com/office/drawing/2010/main" val="0"/>
              </a:ext>
            </a:extLst>
          </a:blip>
          <a:srcRect b="9419"/>
          <a:stretch>
            <a:fillRect/>
          </a:stretch>
        </p:blipFill>
        <p:spPr bwMode="auto">
          <a:xfrm>
            <a:off x="1042988" y="1052513"/>
            <a:ext cx="7345362" cy="547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p:cNvSpPr>
            <a:spLocks noGrp="1" noChangeArrowheads="1"/>
          </p:cNvSpPr>
          <p:nvPr>
            <p:ph type="title"/>
          </p:nvPr>
        </p:nvSpPr>
        <p:spPr>
          <a:xfrm>
            <a:off x="473075" y="244475"/>
            <a:ext cx="8197850" cy="695325"/>
          </a:xfrm>
        </p:spPr>
        <p:txBody>
          <a:bodyPr/>
          <a:lstStyle/>
          <a:p>
            <a:pPr eaLnBrk="1" hangingPunct="1"/>
            <a:r>
              <a:rPr lang="en-US" altLang="zh-CN" dirty="0"/>
              <a:t>Pentium</a:t>
            </a:r>
            <a:r>
              <a:rPr lang="zh-CN" altLang="en-US" dirty="0"/>
              <a:t>结构简图</a:t>
            </a:r>
            <a:endParaRPr lang="zh-CN" altLang="en-US" dirty="0"/>
          </a:p>
        </p:txBody>
      </p:sp>
      <p:graphicFrame>
        <p:nvGraphicFramePr>
          <p:cNvPr id="118786" name="Object 3"/>
          <p:cNvGraphicFramePr>
            <a:graphicFrameLocks noGrp="1" noChangeAspect="1"/>
          </p:cNvGraphicFramePr>
          <p:nvPr>
            <p:ph idx="1"/>
          </p:nvPr>
        </p:nvGraphicFramePr>
        <p:xfrm>
          <a:off x="3506787" y="1212850"/>
          <a:ext cx="5164138" cy="5400675"/>
        </p:xfrm>
        <a:graphic>
          <a:graphicData uri="http://schemas.openxmlformats.org/presentationml/2006/ole">
            <mc:AlternateContent xmlns:mc="http://schemas.openxmlformats.org/markup-compatibility/2006">
              <mc:Choice xmlns:v="urn:schemas-microsoft-com:vml" Requires="v">
                <p:oleObj spid="_x0000_s3075" name="VISIO" r:id="rId1" imgW="6473825" imgH="6771005" progId="Visio.Drawing.6">
                  <p:embed/>
                </p:oleObj>
              </mc:Choice>
              <mc:Fallback>
                <p:oleObj name="VISIO" r:id="rId1" imgW="6473825" imgH="6771005" progId="Visio.Drawing.6">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6787" y="1212850"/>
                        <a:ext cx="5164138"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8788" name="Rectangle 4"/>
          <p:cNvSpPr>
            <a:spLocks noChangeArrowheads="1"/>
          </p:cNvSpPr>
          <p:nvPr/>
        </p:nvSpPr>
        <p:spPr bwMode="auto">
          <a:xfrm>
            <a:off x="0" y="908050"/>
            <a:ext cx="9144000" cy="5949950"/>
          </a:xfrm>
          <a:prstGeom prst="rect">
            <a:avLst/>
          </a:prstGeom>
          <a:noFill/>
          <a:ln w="15875" algn="ctr">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pic>
        <p:nvPicPr>
          <p:cNvPr id="118789"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388" y="2895600"/>
            <a:ext cx="4082546" cy="391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Rectangle 2"/>
          <p:cNvSpPr>
            <a:spLocks noGrp="1" noChangeArrowheads="1"/>
          </p:cNvSpPr>
          <p:nvPr>
            <p:ph type="title"/>
          </p:nvPr>
        </p:nvSpPr>
        <p:spPr/>
        <p:txBody>
          <a:bodyPr/>
          <a:lstStyle/>
          <a:p>
            <a:pPr eaLnBrk="1" hangingPunct="1"/>
            <a:r>
              <a:rPr lang="zh-CN" altLang="en-US"/>
              <a:t>本章小结</a:t>
            </a:r>
            <a:endParaRPr lang="zh-CN" altLang="en-US"/>
          </a:p>
        </p:txBody>
      </p:sp>
      <p:sp>
        <p:nvSpPr>
          <p:cNvPr id="119810" name="Rectangle 3"/>
          <p:cNvSpPr>
            <a:spLocks noGrp="1" noChangeArrowheads="1"/>
          </p:cNvSpPr>
          <p:nvPr>
            <p:ph idx="1"/>
          </p:nvPr>
        </p:nvSpPr>
        <p:spPr/>
        <p:txBody>
          <a:bodyPr/>
          <a:lstStyle/>
          <a:p>
            <a:pPr marL="450850" indent="-450850" eaLnBrk="1" hangingPunct="1"/>
            <a:r>
              <a:rPr lang="zh-CN" altLang="en-US" dirty="0"/>
              <a:t>运算器功能：处理数据</a:t>
            </a:r>
            <a:endParaRPr lang="zh-CN" altLang="en-US" dirty="0"/>
          </a:p>
          <a:p>
            <a:pPr marL="450850" indent="-450850" eaLnBrk="1" hangingPunct="1"/>
            <a:r>
              <a:rPr lang="zh-CN" altLang="en-US" dirty="0"/>
              <a:t>数据表示：原码、反码、补码、移码</a:t>
            </a:r>
            <a:endParaRPr lang="zh-CN" altLang="en-US" dirty="0"/>
          </a:p>
          <a:p>
            <a:pPr marL="450850" indent="-450850" eaLnBrk="1" hangingPunct="1"/>
            <a:r>
              <a:rPr lang="zh-CN" altLang="en-US" dirty="0"/>
              <a:t>功能实现：加、减、乘、除</a:t>
            </a:r>
            <a:endParaRPr lang="zh-CN" altLang="en-US" dirty="0"/>
          </a:p>
          <a:p>
            <a:pPr marL="450850" indent="-450850" eaLnBrk="1" hangingPunct="1"/>
            <a:r>
              <a:rPr lang="zh-CN" altLang="en-US" dirty="0"/>
              <a:t>运算器的构成</a:t>
            </a:r>
            <a:endParaRPr lang="zh-CN" altLang="en-US" dirty="0"/>
          </a:p>
          <a:p>
            <a:pPr marL="450850" indent="-450850" eaLnBrk="1" hangingPunct="1"/>
            <a:r>
              <a:rPr lang="zh-CN" altLang="en-US" dirty="0"/>
              <a:t>浮点数的表示及运算</a:t>
            </a:r>
            <a:endParaRPr lang="zh-CN" altLang="en-US" dirty="0"/>
          </a:p>
          <a:p>
            <a:pPr marL="450850" indent="-450850" eaLnBrk="1" hangingPunct="1"/>
            <a:r>
              <a:rPr lang="zh-CN" altLang="en-US" dirty="0"/>
              <a:t>浮点运算器</a:t>
            </a:r>
            <a:endParaRPr lang="zh-CN" altLang="en-US" dirty="0"/>
          </a:p>
        </p:txBody>
      </p:sp>
    </p:spTree>
  </p:cSld>
  <p:clrMapOvr>
    <a:masterClrMapping/>
  </p:clrMapOvr>
  <p:transition spd="med">
    <p:pull dir="r"/>
  </p:transition>
</p:sld>
</file>

<file path=ppt/theme/theme1.xml><?xml version="1.0" encoding="utf-8"?>
<a:theme xmlns:a="http://schemas.openxmlformats.org/drawingml/2006/main" name="Title and Content">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Only">
  <a:themeElements>
    <a:clrScheme name="">
      <a:dk1>
        <a:srgbClr val="000000"/>
      </a:dk1>
      <a:lt1>
        <a:srgbClr val="FFFFFF"/>
      </a:lt1>
      <a:dk2>
        <a:srgbClr val="000000"/>
      </a:dk2>
      <a:lt2>
        <a:srgbClr val="80808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Only">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Onl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微机接口-单色">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9770</Words>
  <Application>WPS 演示</Application>
  <PresentationFormat>全屏显示(4:3)</PresentationFormat>
  <Paragraphs>861</Paragraphs>
  <Slides>76</Slides>
  <Notes>21</Notes>
  <HiddenSlides>0</HiddenSlides>
  <MMClips>0</MMClips>
  <ScaleCrop>false</ScaleCrop>
  <HeadingPairs>
    <vt:vector size="8" baseType="variant">
      <vt:variant>
        <vt:lpstr>已用的字体</vt:lpstr>
      </vt:variant>
      <vt:variant>
        <vt:i4>41</vt:i4>
      </vt:variant>
      <vt:variant>
        <vt:lpstr>主题</vt:lpstr>
      </vt:variant>
      <vt:variant>
        <vt:i4>3</vt:i4>
      </vt:variant>
      <vt:variant>
        <vt:lpstr>嵌入 OLE 服务器</vt:lpstr>
      </vt:variant>
      <vt:variant>
        <vt:i4>3</vt:i4>
      </vt:variant>
      <vt:variant>
        <vt:lpstr>幻灯片标题</vt:lpstr>
      </vt:variant>
      <vt:variant>
        <vt:i4>76</vt:i4>
      </vt:variant>
    </vt:vector>
  </HeadingPairs>
  <TitlesOfParts>
    <vt:vector size="123" baseType="lpstr">
      <vt:lpstr>Arial</vt:lpstr>
      <vt:lpstr>宋体</vt:lpstr>
      <vt:lpstr>Wingdings</vt:lpstr>
      <vt:lpstr>Gill Sans</vt:lpstr>
      <vt:lpstr>Segoe Print</vt:lpstr>
      <vt:lpstr>ヒラギノ角ゴ ProN W3</vt:lpstr>
      <vt:lpstr>Calibri Bold</vt:lpstr>
      <vt:lpstr>Calibri</vt:lpstr>
      <vt:lpstr>MS PGothic</vt:lpstr>
      <vt:lpstr>Times New Roman</vt:lpstr>
      <vt:lpstr>黑体</vt:lpstr>
      <vt:lpstr>ヒラギノ角ゴ ProN W6</vt:lpstr>
      <vt:lpstr>Wingdings 2</vt:lpstr>
      <vt:lpstr>Calibri Bold</vt:lpstr>
      <vt:lpstr>Wingdings</vt:lpstr>
      <vt:lpstr>Arial Unicode MS</vt:lpstr>
      <vt:lpstr>仿宋</vt:lpstr>
      <vt:lpstr>楷体_GB2312</vt:lpstr>
      <vt:lpstr>新宋体</vt:lpstr>
      <vt:lpstr>华文新魏</vt:lpstr>
      <vt:lpstr>华文中宋</vt:lpstr>
      <vt:lpstr>隶书</vt:lpstr>
      <vt:lpstr>Arial Unicode MS</vt:lpstr>
      <vt:lpstr>楷体</vt:lpstr>
      <vt:lpstr>Verdana</vt:lpstr>
      <vt:lpstr>方正粗圆简体</vt:lpstr>
      <vt:lpstr>微软雅黑</vt:lpstr>
      <vt:lpstr>Tahoma</vt:lpstr>
      <vt:lpstr>Arial</vt:lpstr>
      <vt:lpstr>Symbol</vt:lpstr>
      <vt:lpstr>Symbol</vt:lpstr>
      <vt:lpstr>Symbol</vt:lpstr>
      <vt:lpstr>Wingdings 2</vt:lpstr>
      <vt:lpstr>方正粗圆简体</vt:lpstr>
      <vt:lpstr>楷体_GB2312</vt:lpstr>
      <vt:lpstr>Saturday Sans Regular</vt:lpstr>
      <vt:lpstr>华康瘦金体W3</vt:lpstr>
      <vt:lpstr>Kata Bold</vt:lpstr>
      <vt:lpstr>字魂大黑W6</vt:lpstr>
      <vt:lpstr>方正仿宋_GB2312</vt:lpstr>
      <vt:lpstr>方正楷体_GB2312</vt:lpstr>
      <vt:lpstr>Title and Content</vt:lpstr>
      <vt:lpstr>Title Only</vt:lpstr>
      <vt:lpstr>微机接口-单色</vt:lpstr>
      <vt:lpstr>Equation.DSMT4</vt:lpstr>
      <vt:lpstr>Equation.3</vt:lpstr>
      <vt:lpstr>Visio.Drawing.6</vt:lpstr>
      <vt:lpstr>第2章  运算方法和运算器b</vt:lpstr>
      <vt:lpstr>2.3 定点乘法运算</vt:lpstr>
      <vt:lpstr>乘除法运算的机器实现方法</vt:lpstr>
      <vt:lpstr>定点乘法运算算法</vt:lpstr>
      <vt:lpstr>原码一位乘法运算 </vt:lpstr>
      <vt:lpstr>二进制乘法</vt:lpstr>
      <vt:lpstr>部分积</vt:lpstr>
      <vt:lpstr>例:设X=0.1101,              Y=0.1011, 求X×Y</vt:lpstr>
      <vt:lpstr>算法流程</vt:lpstr>
      <vt:lpstr>原码一位乘法的硬件电路</vt:lpstr>
      <vt:lpstr>无符号数阵列乘法器</vt:lpstr>
      <vt:lpstr>m×n位不带符号的阵列乘法器逻辑图 </vt:lpstr>
      <vt:lpstr>5位×5位不带符号的阵列乘法器</vt:lpstr>
      <vt:lpstr>时间计算</vt:lpstr>
      <vt:lpstr>例19</vt:lpstr>
      <vt:lpstr>有符号数的并行乘法运算</vt:lpstr>
      <vt:lpstr>求补器电路图</vt:lpstr>
      <vt:lpstr>n+1位间接补码阵列乘法器</vt:lpstr>
      <vt:lpstr>例</vt:lpstr>
      <vt:lpstr>2.4 定点除法运算</vt:lpstr>
      <vt:lpstr>原码除法运算原理</vt:lpstr>
      <vt:lpstr>手工除法运算过程</vt:lpstr>
      <vt:lpstr>加减交替法（不恢复余数法）</vt:lpstr>
      <vt:lpstr>PowerPoint 演示文稿</vt:lpstr>
      <vt:lpstr>可控加法/减法（CAS）单元</vt:lpstr>
      <vt:lpstr>不恢复余数的阵列除法器</vt:lpstr>
      <vt:lpstr>时间延迟</vt:lpstr>
      <vt:lpstr>2.5 定点运算器的组成</vt:lpstr>
      <vt:lpstr>运算器的基本结构</vt:lpstr>
      <vt:lpstr>寄存器</vt:lpstr>
      <vt:lpstr>寄存器组</vt:lpstr>
      <vt:lpstr>多路复用器/多路分配器</vt:lpstr>
      <vt:lpstr>三态门</vt:lpstr>
      <vt:lpstr>译码器/编码器</vt:lpstr>
      <vt:lpstr>总线驱动器</vt:lpstr>
      <vt:lpstr>内部总线</vt:lpstr>
      <vt:lpstr>逻辑运算的应用需求</vt:lpstr>
      <vt:lpstr>一位全加器FA</vt:lpstr>
      <vt:lpstr>算术/逻辑运算单元ALU（1）</vt:lpstr>
      <vt:lpstr>算术/逻辑运算单元ALU（2）</vt:lpstr>
      <vt:lpstr>算术/逻辑运算单元ALU逻辑表达式</vt:lpstr>
      <vt:lpstr>ALU的第i位逻辑表达式</vt:lpstr>
      <vt:lpstr>4位ALU结构</vt:lpstr>
      <vt:lpstr>采用先行进位</vt:lpstr>
      <vt:lpstr>4位算术/逻辑运算单元实例</vt:lpstr>
      <vt:lpstr>74181ALU逻辑图</vt:lpstr>
      <vt:lpstr>算术逻辑运算的实现</vt:lpstr>
      <vt:lpstr>设计一个16位ALU</vt:lpstr>
      <vt:lpstr>改进   两级先行进位16位ALU</vt:lpstr>
      <vt:lpstr>74182CLA的进位逻辑关系</vt:lpstr>
      <vt:lpstr>74182CLA的逻辑电路图</vt:lpstr>
      <vt:lpstr>设计一个32位ALU</vt:lpstr>
      <vt:lpstr>算术/逻辑运算ALU的另一个方案</vt:lpstr>
      <vt:lpstr>BCD码加法实例</vt:lpstr>
      <vt:lpstr>1位十进制（BCD）加法器设计</vt:lpstr>
      <vt:lpstr>1位十进制加法器电路</vt:lpstr>
      <vt:lpstr>n位数的行波进位BCD加法器</vt:lpstr>
      <vt:lpstr>单总线结构运算器</vt:lpstr>
      <vt:lpstr>双总线结构运算器</vt:lpstr>
      <vt:lpstr>三总线结构运算器</vt:lpstr>
      <vt:lpstr>2.6 浮点运算方法和浮点运算器</vt:lpstr>
      <vt:lpstr>浮点数加、减法</vt:lpstr>
      <vt:lpstr>对阶</vt:lpstr>
      <vt:lpstr>结果规格化</vt:lpstr>
      <vt:lpstr>IEEE754的舍入处理</vt:lpstr>
      <vt:lpstr>溢出判断和处理</vt:lpstr>
      <vt:lpstr>PowerPoint 演示文稿</vt:lpstr>
      <vt:lpstr>浮点运算部件</vt:lpstr>
      <vt:lpstr>例(1)</vt:lpstr>
      <vt:lpstr>例(2)</vt:lpstr>
      <vt:lpstr>浮点数乘、除法</vt:lpstr>
      <vt:lpstr>尾数处理</vt:lpstr>
      <vt:lpstr>浮点运算器实例</vt:lpstr>
      <vt:lpstr>80x87浮点运算器逻辑框图</vt:lpstr>
      <vt:lpstr>Pentium结构简图</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 1st Lecture, Jan. 12th</dc:title>
  <dc:creator>Markus Pueschel</dc:creator>
  <cp:lastModifiedBy>初九</cp:lastModifiedBy>
  <cp:revision>182</cp:revision>
  <cp:lastPrinted>2019-09-24T06:12:00Z</cp:lastPrinted>
  <dcterms:created xsi:type="dcterms:W3CDTF">2012-09-06T15:16:00Z</dcterms:created>
  <dcterms:modified xsi:type="dcterms:W3CDTF">2026-03-20T10:39:42Z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D61ACA97774A446988EF8DE23A878D89_12</vt:lpwstr>
  </property>
</Properties>
</file>