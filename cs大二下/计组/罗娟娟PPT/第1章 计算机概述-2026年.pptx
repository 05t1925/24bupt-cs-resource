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2" r:id="rId3"/>
    <p:sldMasterId id="2147483672" r:id="rId4"/>
  </p:sldMasterIdLst>
  <p:notesMasterIdLst>
    <p:notesMasterId r:id="rId10"/>
  </p:notesMasterIdLst>
  <p:handoutMasterIdLst>
    <p:handoutMasterId r:id="rId57"/>
  </p:handoutMasterIdLst>
  <p:sldIdLst>
    <p:sldId id="519" r:id="rId5"/>
    <p:sldId id="354" r:id="rId6"/>
    <p:sldId id="410" r:id="rId7"/>
    <p:sldId id="411" r:id="rId8"/>
    <p:sldId id="409" r:id="rId9"/>
    <p:sldId id="360" r:id="rId11"/>
    <p:sldId id="355" r:id="rId12"/>
    <p:sldId id="495" r:id="rId13"/>
    <p:sldId id="362" r:id="rId14"/>
    <p:sldId id="417" r:id="rId15"/>
    <p:sldId id="499" r:id="rId16"/>
    <p:sldId id="340" r:id="rId17"/>
    <p:sldId id="341" r:id="rId18"/>
    <p:sldId id="508" r:id="rId19"/>
    <p:sldId id="509" r:id="rId20"/>
    <p:sldId id="500" r:id="rId21"/>
    <p:sldId id="344" r:id="rId22"/>
    <p:sldId id="346" r:id="rId23"/>
    <p:sldId id="347" r:id="rId24"/>
    <p:sldId id="510" r:id="rId25"/>
    <p:sldId id="520" r:id="rId26"/>
    <p:sldId id="521" r:id="rId27"/>
    <p:sldId id="522" r:id="rId28"/>
    <p:sldId id="523" r:id="rId29"/>
    <p:sldId id="511" r:id="rId30"/>
    <p:sldId id="352" r:id="rId31"/>
    <p:sldId id="524" r:id="rId32"/>
    <p:sldId id="386" r:id="rId33"/>
    <p:sldId id="387" r:id="rId34"/>
    <p:sldId id="388" r:id="rId35"/>
    <p:sldId id="426" r:id="rId36"/>
    <p:sldId id="501" r:id="rId37"/>
    <p:sldId id="313" r:id="rId38"/>
    <p:sldId id="314" r:id="rId39"/>
    <p:sldId id="373" r:id="rId40"/>
    <p:sldId id="374" r:id="rId41"/>
    <p:sldId id="513" r:id="rId42"/>
    <p:sldId id="377" r:id="rId43"/>
    <p:sldId id="502" r:id="rId44"/>
    <p:sldId id="380" r:id="rId45"/>
    <p:sldId id="424" r:id="rId46"/>
    <p:sldId id="283" r:id="rId47"/>
    <p:sldId id="363" r:id="rId48"/>
    <p:sldId id="364" r:id="rId49"/>
    <p:sldId id="503" r:id="rId50"/>
    <p:sldId id="397" r:id="rId51"/>
    <p:sldId id="383" r:id="rId52"/>
    <p:sldId id="342" r:id="rId53"/>
    <p:sldId id="343" r:id="rId54"/>
    <p:sldId id="512" r:id="rId55"/>
    <p:sldId id="518" r:id="rId56"/>
  </p:sldIdLst>
  <p:sldSz cx="9144000" cy="6858000" type="screen4x3"/>
  <p:notesSz cx="7103745" cy="1023429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48" userDrawn="1">
          <p15:clr>
            <a:srgbClr val="A4A3A4"/>
          </p15:clr>
        </p15:guide>
        <p15:guide id="2" pos="2784" userDrawn="1">
          <p15:clr>
            <a:srgbClr val="A4A3A4"/>
          </p15:clr>
        </p15:guide>
        <p15:guide id="3" pos="4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0000FF"/>
    <a:srgbClr val="00CCFF"/>
    <a:srgbClr val="326AC6"/>
    <a:srgbClr val="3366FF"/>
    <a:srgbClr val="0099FF"/>
    <a:srgbClr val="00FFFF"/>
    <a:srgbClr val="000066"/>
    <a:srgbClr val="3333CC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545" autoAdjust="0"/>
    <p:restoredTop sz="90012" autoAdjust="0"/>
  </p:normalViewPr>
  <p:slideViewPr>
    <p:cSldViewPr showGuides="1">
      <p:cViewPr varScale="1">
        <p:scale>
          <a:sx n="99" d="100"/>
          <a:sy n="99" d="100"/>
        </p:scale>
        <p:origin x="2502" y="66"/>
      </p:cViewPr>
      <p:guideLst>
        <p:guide orient="horz" pos="3648"/>
        <p:guide pos="2784"/>
        <p:guide pos="41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0" d="100"/>
        <a:sy n="16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3954" y="72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0" Type="http://schemas.openxmlformats.org/officeDocument/2006/relationships/tableStyles" Target="tableStyles.xml"/><Relationship Id="rId6" Type="http://schemas.openxmlformats.org/officeDocument/2006/relationships/slide" Target="slides/slide2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79C02A0-2CB8-F64C-87A7-A5563D28AA9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8885E4B-77DA-1E4C-9EDA-713D746B907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5363" y="768350"/>
            <a:ext cx="5113337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3314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710407" y="4861441"/>
            <a:ext cx="5683250" cy="46055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73104A6D-9045-4336-9046-8E607A942A9D}" type="slidenum">
              <a:rPr lang="en-US" altLang="zh-CN" sz="1300" smtClean="0">
                <a:ea typeface="宋体" panose="02010600030101010101" pitchFamily="2" charset="-122"/>
              </a:rPr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9A1E9C-5D6E-408C-B588-33D321F01DEA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6C286BA-6493-45D3-B387-AAE88C46F9F7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69B5C83-8B2C-492C-B7A8-2BE4DA51D994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0533E5F-2F46-4119-A5C4-16C9B9AF242C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9800EB41-F489-4028-BAA6-0D1D1F9287BF}" type="slidenum">
              <a:rPr lang="en-US" altLang="zh-CN" sz="1300" smtClean="0">
                <a:ea typeface="宋体" panose="02010600030101010101" pitchFamily="2" charset="-122"/>
              </a:rPr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839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6890B2ED-E991-4200-B8E8-8BD6E78AEE28}" type="slidenum">
              <a:rPr lang="en-US" altLang="zh-CN" sz="1300" smtClean="0">
                <a:ea typeface="宋体" panose="02010600030101010101" pitchFamily="2" charset="-122"/>
              </a:rPr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870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4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F1EEDE1C-85A1-41DF-B615-5ABE08F2CB04}" type="slidenum">
              <a:rPr lang="en-US" altLang="zh-CN" sz="1300" smtClean="0">
                <a:ea typeface="宋体" panose="02010600030101010101" pitchFamily="2" charset="-122"/>
              </a:rPr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9011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106CC33C-6B49-460F-88AE-0E76867FB5D0}" type="slidenum">
              <a:rPr lang="en-US" altLang="zh-CN" sz="1300" smtClean="0">
                <a:ea typeface="宋体" panose="02010600030101010101" pitchFamily="2" charset="-122"/>
              </a:rPr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2E808EE5-7898-445D-9A1B-8EF9DDBD674C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D41293-FDDB-4471-B419-E25AE512739E}" type="slidenum">
              <a:rPr lang="en-US" altLang="zh-CN" sz="1300" smtClean="0">
                <a:solidFill>
                  <a:srgbClr val="000000"/>
                </a:solidFill>
              </a:rPr>
            </a:fld>
            <a:endParaRPr lang="en-US" altLang="zh-CN" sz="1300">
              <a:solidFill>
                <a:srgbClr val="000000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6CE10E6-5BA7-4006-83C7-C1E3D64B88BA}" type="slidenum">
              <a:rPr lang="en-US" altLang="zh-CN" sz="1300" smtClean="0">
                <a:solidFill>
                  <a:srgbClr val="000000"/>
                </a:solidFill>
              </a:rPr>
            </a:fld>
            <a:endParaRPr lang="en-US" altLang="zh-CN" sz="1300">
              <a:solidFill>
                <a:srgbClr val="000000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7FA18D2-B1F0-460B-9FE4-9AB97D7C30FF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C048AE8-FA3B-4D7D-AB56-220659538CC3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A8A6FF-D16B-47AC-94E0-FD4FA1A06328}" type="slidenum">
              <a:rPr lang="en-US" altLang="zh-CN" sz="1300" smtClean="0">
                <a:solidFill>
                  <a:srgbClr val="000000"/>
                </a:solidFill>
              </a:rPr>
            </a:fld>
            <a:endParaRPr lang="en-US" altLang="zh-CN" sz="1300">
              <a:solidFill>
                <a:srgbClr val="000000"/>
              </a:solidFill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7AA4D4C-2560-43AE-9472-7E0155AED4D0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23A47057-AB30-4411-8BB2-BC3EDF75A367}" type="slidenum">
              <a:rPr lang="en-US" altLang="zh-CN" sz="1300" smtClean="0">
                <a:ea typeface="宋体" panose="02010600030101010101" pitchFamily="2" charset="-122"/>
              </a:rPr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B2CCE4-6C09-40B9-95B3-58F6C0F3119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249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521DD271-4B28-4B95-9F5C-EDDAC591EF47}" type="slidenum">
              <a:rPr lang="en-US" altLang="zh-CN" sz="1300" smtClean="0">
                <a:ea typeface="宋体" panose="02010600030101010101" pitchFamily="2" charset="-122"/>
              </a:rPr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086921-04C1-4588-8C19-31B2890D15D9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06EC19-BCB3-43A5-949D-25AB4A01B5BE}" type="slidenum">
              <a:rPr lang="en-US" altLang="zh-CN" sz="1300" smtClean="0"/>
            </a:fld>
            <a:endParaRPr lang="en-US" altLang="zh-CN" sz="130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819400"/>
            <a:ext cx="6400800" cy="2057400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66800" y="1295400"/>
            <a:ext cx="7315200" cy="812800"/>
          </a:xfrm>
        </p:spPr>
        <p:txBody>
          <a:bodyPr/>
          <a:lstStyle>
            <a:lvl1pPr algn="l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76215"/>
            <a:ext cx="8382000" cy="5376985"/>
          </a:xfrm>
        </p:spPr>
        <p:txBody>
          <a:bodyPr/>
          <a:lstStyle>
            <a:lvl1pPr marL="254000" indent="-254000">
              <a:buClr>
                <a:srgbClr val="CC3300"/>
              </a:buClr>
              <a:buSzPct val="70000"/>
              <a:buFont typeface="Wingdings" panose="05000000000000000000" pitchFamily="2" charset="2"/>
              <a:buChar char="n"/>
              <a:defRPr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8000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800100" indent="-203200">
              <a:buClr>
                <a:srgbClr val="9900CC"/>
              </a:buClr>
              <a:buSzPct val="70000"/>
              <a:buFont typeface="Wingdings" panose="05000000000000000000" pitchFamily="2" charset="2"/>
              <a:buChar char="p"/>
              <a:defRPr/>
            </a:lvl3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68400"/>
            <a:ext cx="4114800" cy="5384800"/>
          </a:xfrm>
        </p:spPr>
        <p:txBody>
          <a:bodyPr/>
          <a:lstStyle>
            <a:lvl1pPr marL="254000" indent="-254000">
              <a:buClr>
                <a:srgbClr val="CC3300"/>
              </a:buClr>
              <a:buSzPct val="70000"/>
              <a:buFont typeface="Wingdings" panose="05000000000000000000" pitchFamily="2" charset="2"/>
              <a:buChar char="n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8000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0"/>
          </p:nvPr>
        </p:nvSpPr>
        <p:spPr>
          <a:xfrm>
            <a:off x="4648202" y="1168400"/>
            <a:ext cx="4114800" cy="5384800"/>
          </a:xfrm>
        </p:spPr>
        <p:txBody>
          <a:bodyPr/>
          <a:lstStyle>
            <a:lvl1pPr marL="254000" indent="-254000">
              <a:buClr>
                <a:srgbClr val="CC3300"/>
              </a:buClr>
              <a:buSzPct val="70000"/>
              <a:buFont typeface="Wingdings" panose="05000000000000000000" pitchFamily="2" charset="2"/>
              <a:buChar char="n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8000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0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4960"/>
            <a:ext cx="4040188" cy="4738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410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14961"/>
            <a:ext cx="4041775" cy="47382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62039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5041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097614"/>
            <a:ext cx="8382000" cy="5455586"/>
          </a:xfrm>
          <a:noFill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5pPr marL="1971675" indent="-269875"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med"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16412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316413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pull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pull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25" y="3175"/>
            <a:ext cx="91090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179388" y="981075"/>
            <a:ext cx="8785225" cy="5400675"/>
          </a:xfrm>
        </p:spPr>
        <p:txBody>
          <a:bodyPr/>
          <a:lstStyle/>
          <a:p>
            <a:pPr lvl="0"/>
            <a:r>
              <a:rPr lang="zh-CN" altLang="en-US" noProof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 spd="med">
    <p:pull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819400"/>
            <a:ext cx="6400800" cy="2057400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66800" y="1295400"/>
            <a:ext cx="7315200" cy="812800"/>
          </a:xfrm>
        </p:spPr>
        <p:txBody>
          <a:bodyPr/>
          <a:lstStyle>
            <a:lvl1pPr algn="l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76215"/>
            <a:ext cx="8382000" cy="5435600"/>
          </a:xfrm>
        </p:spPr>
        <p:txBody>
          <a:bodyPr/>
          <a:lstStyle>
            <a:lvl1pPr marL="254000" indent="-254000">
              <a:buClr>
                <a:srgbClr val="003399"/>
              </a:buClr>
              <a:buSzPct val="70000"/>
              <a:buFont typeface="Wingdings" panose="05000000000000000000" pitchFamily="2" charset="2"/>
              <a:buChar char="n"/>
              <a:defRPr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3399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800100" indent="-203200">
              <a:buClr>
                <a:srgbClr val="003399"/>
              </a:buClr>
              <a:buSzPct val="70000"/>
              <a:buFont typeface="Wingdings" panose="05000000000000000000" pitchFamily="2" charset="2"/>
              <a:buChar char="p"/>
              <a:defRPr/>
            </a:lvl3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68400"/>
            <a:ext cx="4114800" cy="5435600"/>
          </a:xfrm>
        </p:spPr>
        <p:txBody>
          <a:bodyPr/>
          <a:lstStyle>
            <a:lvl1pPr marL="254000" indent="-254000">
              <a:buClr>
                <a:srgbClr val="003399"/>
              </a:buClr>
              <a:buSzPct val="70000"/>
              <a:buFont typeface="Wingdings" panose="05000000000000000000" pitchFamily="2" charset="2"/>
              <a:buChar char="n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3399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4648202" y="1168400"/>
            <a:ext cx="4114800" cy="5435600"/>
          </a:xfrm>
        </p:spPr>
        <p:txBody>
          <a:bodyPr/>
          <a:lstStyle>
            <a:lvl1pPr marL="254000" indent="-254000">
              <a:buClr>
                <a:srgbClr val="003399"/>
              </a:buClr>
              <a:buSzPct val="70000"/>
              <a:buFont typeface="Wingdings" panose="05000000000000000000" pitchFamily="2" charset="2"/>
              <a:buChar char="n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3399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523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4994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1523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54994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5pPr marL="1971675" indent="-269875"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med"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jpeg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812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 dirty="0">
                <a:sym typeface="Calibri Bold" charset="0"/>
              </a:rPr>
              <a:t>Click to edit title style</a:t>
            </a:r>
            <a:endParaRPr lang="en-US" dirty="0">
              <a:sym typeface="Calibri Bold" charset="0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97614"/>
            <a:ext cx="8382000" cy="54824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  <a:endParaRPr lang="en-US" dirty="0">
              <a:sym typeface="Calibri Bold" charset="0"/>
            </a:endParaRPr>
          </a:p>
          <a:p>
            <a:pPr lvl="1"/>
            <a:r>
              <a:rPr lang="en-US" dirty="0">
                <a:sym typeface="Calibri" panose="020F0502020204030204" charset="0"/>
              </a:rPr>
              <a:t>Second level</a:t>
            </a:r>
            <a:endParaRPr lang="en-US" dirty="0">
              <a:sym typeface="Calibri" panose="020F0502020204030204" charset="0"/>
            </a:endParaRPr>
          </a:p>
          <a:p>
            <a:pPr lvl="2"/>
            <a:r>
              <a:rPr lang="en-US" dirty="0">
                <a:sym typeface="Calibri" panose="020F0502020204030204" charset="0"/>
              </a:rPr>
              <a:t>Third level</a:t>
            </a:r>
            <a:endParaRPr lang="en-US" dirty="0">
              <a:sym typeface="Calibri" panose="020F0502020204030204" charset="0"/>
            </a:endParaRPr>
          </a:p>
          <a:p>
            <a:pPr lvl="3"/>
            <a:r>
              <a:rPr lang="en-US" dirty="0">
                <a:sym typeface="Calibri" panose="020F0502020204030204" charset="0"/>
              </a:rPr>
              <a:t>Fourth level</a:t>
            </a:r>
            <a:endParaRPr lang="en-US" dirty="0"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-96" charset="-128"/>
                <a:cs typeface="Times New Roman" panose="02020603050405020304" pitchFamily="18" charset="0"/>
              </a:rPr>
            </a:fld>
            <a:endParaRPr lang="en-US" sz="1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503426" y="6585945"/>
            <a:ext cx="23407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0" dirty="0">
                <a:solidFill>
                  <a:srgbClr val="326AC6"/>
                </a:solidFill>
                <a:effectLst/>
                <a:latin typeface="Calibri" panose="020F0502020204030204" charset="0"/>
              </a:rPr>
              <a:t>Principles of Computer Organization </a:t>
            </a:r>
            <a:endParaRPr lang="en-US" sz="1100" b="1" i="0" dirty="0">
              <a:solidFill>
                <a:srgbClr val="326AC6"/>
              </a:solidFill>
              <a:effectLst/>
              <a:latin typeface="Calibri" panose="020F0502020204030204" charset="0"/>
            </a:endParaRPr>
          </a:p>
        </p:txBody>
      </p:sp>
      <p:sp>
        <p:nvSpPr>
          <p:cNvPr id="6" name="Rectangle 1"/>
          <p:cNvSpPr/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003399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111399" y="-22999"/>
            <a:ext cx="202536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+mn-cs"/>
              </a:rPr>
              <a:t>School of Computer Science</a:t>
            </a:r>
            <a:endParaRPr lang="en-US" altLang="en-US" sz="1200" b="1" dirty="0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640" y="269430"/>
            <a:ext cx="716790" cy="7167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0014"/>
            <a:ext cx="503426" cy="5202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000066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CC3300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008000"/>
        </a:buClr>
        <a:buSzPct val="70000"/>
        <a:buFont typeface="Wingdings" panose="05000000000000000000" pitchFamily="2" charset="2"/>
        <a:buChar char="u"/>
        <a:defRPr sz="24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" panose="020F0502020204030204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9900CC"/>
        </a:buClr>
        <a:buSzPct val="70000"/>
        <a:buFont typeface="Wingdings" panose="05000000000000000000" pitchFamily="2" charset="2"/>
        <a:buChar char="p"/>
        <a:defRPr sz="20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" panose="020F0502020204030204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–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4pPr>
      <a:lvl5pPr marL="1231900" indent="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None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  <a:endParaRPr lang="en-US">
              <a:sym typeface="Calibri Bold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611779"/>
            <a:ext cx="2959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anose="020F0502020204030204" charset="0"/>
              </a:rPr>
              <a:t>Principles and Interface Technique of Microcomputer</a:t>
            </a:r>
            <a:endParaRPr lang="en-US" sz="1000" b="0" i="0" dirty="0">
              <a:latin typeface="Calibri" panose="020F0502020204030204" charset="0"/>
            </a:endParaRPr>
          </a:p>
        </p:txBody>
      </p:sp>
      <p:sp>
        <p:nvSpPr>
          <p:cNvPr id="6" name="Rectangle 1"/>
          <p:cNvSpPr/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003399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163575" y="-39607"/>
            <a:ext cx="202536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2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+mn-cs"/>
              </a:rPr>
              <a:t>School of Computer Science</a:t>
            </a:r>
            <a:endParaRPr lang="en-US" altLang="en-US" sz="1200" b="1" dirty="0">
              <a:solidFill>
                <a:srgbClr val="FFFFFF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–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812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/>
          <a:p>
            <a:pPr lvl="0"/>
            <a:r>
              <a:rPr lang="en-US" dirty="0">
                <a:sym typeface="Calibri Bold" charset="0"/>
              </a:rPr>
              <a:t>Click to edit title style</a:t>
            </a:r>
            <a:endParaRPr lang="en-US" dirty="0">
              <a:sym typeface="Calibri Bold" charset="0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97614"/>
            <a:ext cx="8382000" cy="5232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  <a:endParaRPr lang="en-US" dirty="0">
              <a:sym typeface="Calibri Bold" charset="0"/>
            </a:endParaRPr>
          </a:p>
          <a:p>
            <a:pPr lvl="1"/>
            <a:r>
              <a:rPr lang="en-US" dirty="0">
                <a:sym typeface="Calibri" panose="020F0502020204030204" charset="0"/>
              </a:rPr>
              <a:t>Second level</a:t>
            </a:r>
            <a:endParaRPr lang="en-US" dirty="0">
              <a:sym typeface="Calibri" panose="020F0502020204030204" charset="0"/>
            </a:endParaRPr>
          </a:p>
          <a:p>
            <a:pPr lvl="2"/>
            <a:r>
              <a:rPr lang="en-US" dirty="0">
                <a:sym typeface="Calibri" panose="020F0502020204030204" charset="0"/>
              </a:rPr>
              <a:t>Third level</a:t>
            </a:r>
            <a:endParaRPr lang="en-US" dirty="0">
              <a:sym typeface="Calibri" panose="020F0502020204030204" charset="0"/>
            </a:endParaRPr>
          </a:p>
          <a:p>
            <a:pPr lvl="3"/>
            <a:r>
              <a:rPr lang="en-US" dirty="0">
                <a:sym typeface="Calibri" panose="020F0502020204030204" charset="0"/>
              </a:rPr>
              <a:t>Fourth level</a:t>
            </a:r>
            <a:endParaRPr lang="en-US" dirty="0"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Bold"/>
                <a:ea typeface="MS PGothic" panose="020B0600070205080204" pitchFamily="-96" charset="-128"/>
                <a:cs typeface="MS PGothic" panose="020B0600070205080204" pitchFamily="-96" charset="-128"/>
                <a:sym typeface="Gill Sans" charset="0"/>
              </a:rPr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Bold"/>
              <a:sym typeface="Gill Sans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604000"/>
            <a:ext cx="2959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sym typeface="Gill Sans" charset="0"/>
              </a:rPr>
              <a:t>Principles and Interface Technique of Microcomputer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charset="0"/>
              <a:sym typeface="Gill Sans" charset="0"/>
            </a:endParaRPr>
          </a:p>
        </p:txBody>
      </p:sp>
      <p:sp>
        <p:nvSpPr>
          <p:cNvPr id="6" name="Rectangle 1"/>
          <p:cNvSpPr/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003399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111399" y="-22999"/>
            <a:ext cx="202536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Gill Sans" charset="0"/>
              </a:rPr>
              <a:t>School of Computer Science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Gill Sans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640" y="277976"/>
            <a:ext cx="716790" cy="7167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000066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003399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003399"/>
        </a:buClr>
        <a:buSzPct val="70000"/>
        <a:buFont typeface="Wingdings" panose="05000000000000000000" pitchFamily="2" charset="2"/>
        <a:buChar char="u"/>
        <a:defRPr sz="24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" panose="020F0502020204030204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3399"/>
        </a:buClr>
        <a:buSzPct val="70000"/>
        <a:buFont typeface="Wingdings" panose="05000000000000000000" pitchFamily="2" charset="2"/>
        <a:buChar char="p"/>
        <a:defRPr sz="20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" panose="020F0502020204030204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–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4pPr>
      <a:lvl5pPr marL="1231900" indent="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None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anose="020F0502020204030204" charset="0"/>
        <a:buChar char="»"/>
        <a:defRPr sz="2000">
          <a:solidFill>
            <a:schemeClr val="tx1"/>
          </a:solidFill>
          <a:latin typeface="Calibri" panose="020F0502020204030204" charset="0"/>
          <a:ea typeface="ヒラギノ角ゴ ProN W3" charset="0"/>
          <a:cs typeface="ヒラギノ角ゴ ProN W3" charset="0"/>
          <a:sym typeface="Calibri" panose="020F050202020403020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hyperlink" Target="1.1.swf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8" Type="http://schemas.openxmlformats.org/officeDocument/2006/relationships/slideLayout" Target="../slideLayouts/slideLayout10.xml"/><Relationship Id="rId17" Type="http://schemas.openxmlformats.org/officeDocument/2006/relationships/image" Target="../media/image38.png"/><Relationship Id="rId16" Type="http://schemas.openxmlformats.org/officeDocument/2006/relationships/image" Target="../media/image37.svg"/><Relationship Id="rId15" Type="http://schemas.openxmlformats.org/officeDocument/2006/relationships/image" Target="../media/image36.png"/><Relationship Id="rId14" Type="http://schemas.openxmlformats.org/officeDocument/2006/relationships/image" Target="../media/image35.svg"/><Relationship Id="rId13" Type="http://schemas.openxmlformats.org/officeDocument/2006/relationships/image" Target="../media/image34.png"/><Relationship Id="rId12" Type="http://schemas.openxmlformats.org/officeDocument/2006/relationships/image" Target="../media/image33.svg"/><Relationship Id="rId11" Type="http://schemas.openxmlformats.org/officeDocument/2006/relationships/image" Target="../media/image32.png"/><Relationship Id="rId10" Type="http://schemas.openxmlformats.org/officeDocument/2006/relationships/image" Target="../media/image31.svg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9.png"/><Relationship Id="rId1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0.png"/><Relationship Id="rId1" Type="http://schemas.openxmlformats.org/officeDocument/2006/relationships/oleObject" Target="../embeddings/oleObject2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1.png"/><Relationship Id="rId1" Type="http://schemas.openxmlformats.org/officeDocument/2006/relationships/oleObject" Target="../embeddings/oleObject3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0.png"/><Relationship Id="rId1" Type="http://schemas.openxmlformats.org/officeDocument/2006/relationships/hyperlink" Target="1.7.swf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1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1">
            <a:spLocks noChangeArrowheads="1"/>
          </p:cNvSpPr>
          <p:nvPr/>
        </p:nvSpPr>
        <p:spPr bwMode="auto">
          <a:xfrm>
            <a:off x="1371600" y="4671942"/>
            <a:ext cx="6400800" cy="1674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>
            <a:lvl1pPr marL="0" indent="0" algn="ctr" rtl="0" fontAlgn="base">
              <a:spcBef>
                <a:spcPts val="6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 2" charset="2"/>
              <a:buNone/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" panose="05000000000000000000" pitchFamily="2" charset="2"/>
              <a:buChar char="p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marL="1231900" indent="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None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 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uLnTx/>
                <a:uFillTx/>
                <a:latin typeface="宋体" panose="02010600030101010101" pitchFamily="2" charset="-122"/>
                <a:ea typeface="华文新魏" pitchFamily="2" charset="-122"/>
                <a:sym typeface="Calibri Bold" charset="0"/>
              </a:rPr>
              <a:t>北京邮电大学 计算机学院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uLnTx/>
              <a:uFillTx/>
              <a:latin typeface="宋体" panose="02010600030101010101" pitchFamily="2" charset="-122"/>
              <a:ea typeface="华文新魏" pitchFamily="2" charset="-122"/>
              <a:sym typeface="Calibri Bold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 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uLnTx/>
                <a:uFillTx/>
                <a:latin typeface="华文行楷" pitchFamily="2" charset="-122"/>
                <a:ea typeface="华文行楷" pitchFamily="2" charset="-122"/>
                <a:sym typeface="Calibri Bold" charset="0"/>
              </a:rPr>
              <a:t>罗娟娟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uLnTx/>
              <a:uFillTx/>
              <a:latin typeface="华文行楷" pitchFamily="2" charset="-122"/>
              <a:ea typeface="华文行楷" pitchFamily="2" charset="-122"/>
              <a:sym typeface="Calibri Bold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99"/>
              </a:buClr>
              <a:buSzPct val="70000"/>
              <a:buFont typeface="Wingdings 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 Bold" charset="0"/>
              </a:rPr>
              <a:t>jjluo@bupt.edu.cn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 Bold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4700"/>
            <a:ext cx="9144000" cy="3218590"/>
          </a:xfrm>
          <a:prstGeom prst="rect">
            <a:avLst/>
          </a:prstGeom>
        </p:spPr>
      </p:pic>
      <p:sp>
        <p:nvSpPr>
          <p:cNvPr id="4" name="标题 2"/>
          <p:cNvSpPr txBox="1"/>
          <p:nvPr/>
        </p:nvSpPr>
        <p:spPr bwMode="auto">
          <a:xfrm>
            <a:off x="533400" y="263893"/>
            <a:ext cx="7772400" cy="998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Calibri Bold" charset="0"/>
              </a:rPr>
              <a:t>计算机组成原理</a:t>
            </a:r>
            <a:endParaRPr kumimoji="0" lang="zh-CN" altLang="en-US" sz="5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课程计划</a:t>
            </a:r>
            <a:endParaRPr lang="zh-CN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总  学  时：</a:t>
            </a:r>
            <a:r>
              <a:rPr lang="en-US" altLang="zh-CN" sz="2800" dirty="0">
                <a:cs typeface="楷体_GB2312" pitchFamily="49" charset="-122"/>
              </a:rPr>
              <a:t>64</a:t>
            </a:r>
            <a:r>
              <a:rPr lang="zh-CN" altLang="en-US" sz="2800" dirty="0">
                <a:cs typeface="楷体_GB2312" pitchFamily="49" charset="-122"/>
              </a:rPr>
              <a:t>学时</a:t>
            </a:r>
            <a:endParaRPr lang="zh-CN" altLang="en-US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课堂教学：</a:t>
            </a:r>
            <a:r>
              <a:rPr lang="en-US" altLang="zh-CN" sz="2800" dirty="0">
                <a:cs typeface="楷体_GB2312" pitchFamily="49" charset="-122"/>
              </a:rPr>
              <a:t>48</a:t>
            </a:r>
            <a:r>
              <a:rPr lang="zh-CN" altLang="en-US" sz="2800" dirty="0">
                <a:cs typeface="楷体_GB2312" pitchFamily="49" charset="-122"/>
              </a:rPr>
              <a:t>学时</a:t>
            </a:r>
            <a:endParaRPr lang="zh-CN" altLang="en-US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实        验：</a:t>
            </a:r>
            <a:r>
              <a:rPr lang="en-US" altLang="zh-CN" sz="2800" dirty="0">
                <a:cs typeface="楷体_GB2312" pitchFamily="49" charset="-122"/>
              </a:rPr>
              <a:t>16</a:t>
            </a:r>
            <a:r>
              <a:rPr lang="zh-CN" altLang="en-US" sz="2800" dirty="0">
                <a:cs typeface="楷体_GB2312" pitchFamily="49" charset="-122"/>
              </a:rPr>
              <a:t>学时</a:t>
            </a:r>
            <a:endParaRPr lang="zh-CN" altLang="en-US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作        业：</a:t>
            </a:r>
            <a:r>
              <a:rPr lang="en-US" altLang="zh-CN" sz="2800" dirty="0">
                <a:cs typeface="楷体_GB2312" pitchFamily="49" charset="-122"/>
              </a:rPr>
              <a:t>6~8</a:t>
            </a:r>
            <a:r>
              <a:rPr lang="zh-CN" altLang="en-US" sz="2800" dirty="0">
                <a:cs typeface="楷体_GB2312" pitchFamily="49" charset="-122"/>
              </a:rPr>
              <a:t>次</a:t>
            </a:r>
            <a:endParaRPr lang="zh-CN" altLang="en-US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考        试：期中考试</a:t>
            </a:r>
            <a:endParaRPr lang="zh-CN" altLang="en-US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                    期末考试（闭卷）</a:t>
            </a:r>
            <a:endParaRPr lang="zh-CN" altLang="en-US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成        绩：</a:t>
            </a:r>
            <a:r>
              <a:rPr lang="zh-CN" altLang="en-US" dirty="0">
                <a:cs typeface="楷体_GB2312" pitchFamily="49" charset="-122"/>
              </a:rPr>
              <a:t>硬件</a:t>
            </a:r>
            <a:r>
              <a:rPr lang="zh-CN" altLang="en-US" sz="2800" dirty="0">
                <a:cs typeface="楷体_GB2312" pitchFamily="49" charset="-122"/>
              </a:rPr>
              <a:t>实验</a:t>
            </a:r>
            <a:r>
              <a:rPr lang="en-US" altLang="zh-CN" sz="2800" dirty="0">
                <a:cs typeface="楷体_GB2312" pitchFamily="49" charset="-122"/>
              </a:rPr>
              <a:t>20%</a:t>
            </a:r>
            <a:r>
              <a:rPr lang="zh-CN" altLang="en-US" sz="2800" dirty="0">
                <a:cs typeface="楷体_GB2312" pitchFamily="49" charset="-122"/>
              </a:rPr>
              <a:t>、期中考试</a:t>
            </a:r>
            <a:r>
              <a:rPr lang="en-US" altLang="zh-CN" sz="2800" dirty="0">
                <a:cs typeface="楷体_GB2312" pitchFamily="49" charset="-122"/>
              </a:rPr>
              <a:t>10</a:t>
            </a:r>
            <a:r>
              <a:rPr lang="zh-CN" altLang="en-US" sz="2800" dirty="0">
                <a:cs typeface="楷体_GB2312" pitchFamily="49" charset="-122"/>
              </a:rPr>
              <a:t>％及平时作 </a:t>
            </a:r>
            <a:endParaRPr lang="zh-CN" altLang="en-US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                    业</a:t>
            </a:r>
            <a:r>
              <a:rPr lang="en-US" altLang="zh-CN" sz="2800" dirty="0">
                <a:cs typeface="楷体_GB2312" pitchFamily="49" charset="-122"/>
              </a:rPr>
              <a:t>10%</a:t>
            </a:r>
            <a:r>
              <a:rPr lang="zh-CN" altLang="en-US" sz="2800" dirty="0">
                <a:cs typeface="楷体_GB2312" pitchFamily="49" charset="-122"/>
              </a:rPr>
              <a:t>、 期末考试</a:t>
            </a:r>
            <a:r>
              <a:rPr lang="en-US" altLang="zh-CN" sz="2800" dirty="0">
                <a:cs typeface="楷体_GB2312" pitchFamily="49" charset="-122"/>
              </a:rPr>
              <a:t>60%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答疑地点：欢迎同学在课间或课后及时提问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en-US" altLang="zh-CN" sz="2800" dirty="0">
                <a:cs typeface="楷体_GB2312" pitchFamily="49" charset="-122"/>
              </a:rPr>
              <a:t>                     </a:t>
            </a:r>
            <a:endParaRPr lang="zh-CN" altLang="zh-CN" sz="2800" dirty="0"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27572">
    <p:pull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课程内容</a:t>
            </a:r>
            <a:endParaRPr lang="zh-CN" altLang="en-US"/>
          </a:p>
        </p:txBody>
      </p:sp>
      <p:sp>
        <p:nvSpPr>
          <p:cNvPr id="44035" name="内容占位符 2"/>
          <p:cNvSpPr>
            <a:spLocks noGrp="1"/>
          </p:cNvSpPr>
          <p:nvPr>
            <p:ph sz="half" idx="1"/>
          </p:nvPr>
        </p:nvSpPr>
        <p:spPr>
          <a:ln>
            <a:noFill/>
            <a:miter lim="800000"/>
          </a:ln>
        </p:spPr>
        <p:txBody>
          <a:bodyPr/>
          <a:lstStyle/>
          <a:p>
            <a:r>
              <a:rPr lang="zh-CN" altLang="en-US" dirty="0">
                <a:cs typeface="楷体_GB2312" pitchFamily="49" charset="-122"/>
              </a:rPr>
              <a:t>计算机概述</a:t>
            </a:r>
            <a:endParaRPr lang="en-US" altLang="zh-CN" dirty="0">
              <a:cs typeface="楷体_GB2312" pitchFamily="49" charset="-122"/>
            </a:endParaRPr>
          </a:p>
          <a:p>
            <a:pPr lvl="1"/>
            <a:r>
              <a:rPr lang="zh-CN" altLang="en-US" dirty="0">
                <a:cs typeface="楷体_GB2312" pitchFamily="49" charset="-122"/>
              </a:rPr>
              <a:t>性能指标、层次结构</a:t>
            </a:r>
            <a:endParaRPr lang="en-US" altLang="zh-CN" dirty="0">
              <a:cs typeface="楷体_GB2312" pitchFamily="49" charset="-122"/>
            </a:endParaRPr>
          </a:p>
          <a:p>
            <a:r>
              <a:rPr lang="zh-CN" altLang="en-US" dirty="0">
                <a:cs typeface="楷体_GB2312" pitchFamily="49" charset="-122"/>
              </a:rPr>
              <a:t>数据表示与运算器</a:t>
            </a:r>
            <a:endParaRPr lang="en-US" altLang="zh-CN" dirty="0">
              <a:cs typeface="楷体_GB2312" pitchFamily="49" charset="-122"/>
            </a:endParaRPr>
          </a:p>
          <a:p>
            <a:pPr lvl="1"/>
            <a:r>
              <a:rPr lang="zh-CN" altLang="en-US" dirty="0">
                <a:cs typeface="楷体_GB2312" pitchFamily="49" charset="-122"/>
              </a:rPr>
              <a:t>数据的表示、运算器</a:t>
            </a:r>
            <a:endParaRPr lang="en-US" altLang="zh-CN" dirty="0">
              <a:cs typeface="楷体_GB2312" pitchFamily="49" charset="-122"/>
            </a:endParaRPr>
          </a:p>
          <a:p>
            <a:pPr lvl="1"/>
            <a:r>
              <a:rPr lang="zh-CN" altLang="en-US" dirty="0">
                <a:cs typeface="楷体_GB2312" pitchFamily="49" charset="-122"/>
              </a:rPr>
              <a:t>浮点运算方法</a:t>
            </a:r>
            <a:endParaRPr lang="en-US" altLang="zh-CN" dirty="0">
              <a:cs typeface="楷体_GB2312" pitchFamily="49" charset="-122"/>
            </a:endParaRPr>
          </a:p>
          <a:p>
            <a:r>
              <a:rPr lang="zh-CN" altLang="en-US" dirty="0">
                <a:cs typeface="楷体_GB2312" pitchFamily="49" charset="-122"/>
              </a:rPr>
              <a:t>存储器</a:t>
            </a:r>
            <a:endParaRPr lang="en-US" altLang="zh-CN" dirty="0">
              <a:cs typeface="楷体_GB2312" pitchFamily="49" charset="-122"/>
            </a:endParaRPr>
          </a:p>
          <a:p>
            <a:pPr lvl="1"/>
            <a:r>
              <a:rPr lang="zh-CN" altLang="en-US" dirty="0">
                <a:cs typeface="楷体_GB2312" pitchFamily="49" charset="-122"/>
              </a:rPr>
              <a:t>存储器系统、存储器控制器</a:t>
            </a:r>
            <a:endParaRPr lang="en-US" altLang="zh-CN" dirty="0">
              <a:cs typeface="楷体_GB2312" pitchFamily="49" charset="-122"/>
            </a:endParaRPr>
          </a:p>
          <a:p>
            <a:pPr lvl="1"/>
            <a:r>
              <a:rPr lang="en-US" altLang="zh-CN" dirty="0">
                <a:cs typeface="楷体_GB2312" pitchFamily="49" charset="-122"/>
              </a:rPr>
              <a:t>Cache</a:t>
            </a:r>
            <a:r>
              <a:rPr lang="zh-CN" altLang="en-US" dirty="0">
                <a:cs typeface="楷体_GB2312" pitchFamily="49" charset="-122"/>
              </a:rPr>
              <a:t>、虚拟存储器</a:t>
            </a:r>
            <a:endParaRPr lang="en-US" altLang="zh-CN" dirty="0">
              <a:cs typeface="楷体_GB2312" pitchFamily="49" charset="-122"/>
            </a:endParaRPr>
          </a:p>
          <a:p>
            <a:r>
              <a:rPr lang="zh-CN" altLang="en-US" dirty="0">
                <a:cs typeface="楷体_GB2312" pitchFamily="49" charset="-122"/>
              </a:rPr>
              <a:t>指令系统</a:t>
            </a:r>
            <a:endParaRPr lang="en-US" altLang="zh-CN" dirty="0">
              <a:cs typeface="楷体_GB2312" pitchFamily="49" charset="-122"/>
            </a:endParaRPr>
          </a:p>
          <a:p>
            <a:pPr lvl="1"/>
            <a:r>
              <a:rPr lang="zh-CN" altLang="en-US" dirty="0">
                <a:cs typeface="楷体_GB2312" pitchFamily="49" charset="-122"/>
              </a:rPr>
              <a:t>指令集架构、寻址方式</a:t>
            </a:r>
            <a:endParaRPr lang="en-US" altLang="zh-CN" dirty="0">
              <a:cs typeface="楷体_GB2312" pitchFamily="49" charset="-122"/>
            </a:endParaRPr>
          </a:p>
          <a:p>
            <a:pPr lvl="1"/>
            <a:r>
              <a:rPr lang="zh-CN" altLang="en-US" dirty="0">
                <a:cs typeface="楷体_GB2312" pitchFamily="49" charset="-122"/>
              </a:rPr>
              <a:t>典型指令</a:t>
            </a:r>
            <a:endParaRPr lang="en-US" altLang="zh-CN" dirty="0">
              <a:cs typeface="楷体_GB2312" pitchFamily="49" charset="-122"/>
            </a:endParaRPr>
          </a:p>
          <a:p>
            <a:endParaRPr lang="zh-CN" altLang="en-US" dirty="0">
              <a:cs typeface="楷体_GB2312" pitchFamily="49" charset="-122"/>
            </a:endParaRPr>
          </a:p>
        </p:txBody>
      </p:sp>
      <p:sp>
        <p:nvSpPr>
          <p:cNvPr id="44036" name="内容占位符 3"/>
          <p:cNvSpPr>
            <a:spLocks noGrp="1"/>
          </p:cNvSpPr>
          <p:nvPr>
            <p:ph sz="half" idx="2"/>
          </p:nvPr>
        </p:nvSpPr>
        <p:spPr>
          <a:ln>
            <a:noFill/>
            <a:miter lim="800000"/>
          </a:ln>
        </p:spPr>
        <p:txBody>
          <a:bodyPr/>
          <a:lstStyle/>
          <a:p>
            <a:r>
              <a:rPr lang="zh-CN" altLang="en-US">
                <a:cs typeface="楷体_GB2312" pitchFamily="49" charset="-122"/>
              </a:rPr>
              <a:t>中央处理器</a:t>
            </a:r>
            <a:endParaRPr lang="en-US" altLang="zh-CN">
              <a:cs typeface="楷体_GB2312" pitchFamily="49" charset="-122"/>
            </a:endParaRPr>
          </a:p>
          <a:p>
            <a:pPr lvl="1"/>
            <a:r>
              <a:rPr lang="en-US" altLang="zh-CN">
                <a:cs typeface="楷体_GB2312" pitchFamily="49" charset="-122"/>
              </a:rPr>
              <a:t>CPU</a:t>
            </a:r>
            <a:r>
              <a:rPr lang="zh-CN" altLang="en-US">
                <a:cs typeface="楷体_GB2312" pitchFamily="49" charset="-122"/>
              </a:rPr>
              <a:t>模型机、指令执行过程、微程序控制器</a:t>
            </a:r>
            <a:endParaRPr lang="en-US" altLang="zh-CN">
              <a:cs typeface="楷体_GB2312" pitchFamily="49" charset="-122"/>
            </a:endParaRPr>
          </a:p>
          <a:p>
            <a:pPr lvl="1"/>
            <a:r>
              <a:rPr lang="zh-CN" altLang="en-US">
                <a:cs typeface="楷体_GB2312" pitchFamily="49" charset="-122"/>
              </a:rPr>
              <a:t>硬布线控制器</a:t>
            </a:r>
            <a:endParaRPr lang="en-US" altLang="zh-CN">
              <a:cs typeface="楷体_GB2312" pitchFamily="49" charset="-122"/>
            </a:endParaRPr>
          </a:p>
          <a:p>
            <a:r>
              <a:rPr lang="zh-CN" altLang="en-US">
                <a:cs typeface="楷体_GB2312" pitchFamily="49" charset="-122"/>
              </a:rPr>
              <a:t>总线</a:t>
            </a:r>
            <a:endParaRPr lang="en-US" altLang="zh-CN">
              <a:cs typeface="楷体_GB2312" pitchFamily="49" charset="-122"/>
            </a:endParaRPr>
          </a:p>
          <a:p>
            <a:pPr lvl="1"/>
            <a:r>
              <a:rPr lang="zh-CN" altLang="en-US">
                <a:cs typeface="楷体_GB2312" pitchFamily="49" charset="-122"/>
              </a:rPr>
              <a:t>总线分类、总线仲裁</a:t>
            </a:r>
            <a:endParaRPr lang="en-US" altLang="zh-CN">
              <a:cs typeface="楷体_GB2312" pitchFamily="49" charset="-122"/>
            </a:endParaRPr>
          </a:p>
          <a:p>
            <a:pPr lvl="1"/>
            <a:r>
              <a:rPr lang="zh-CN" altLang="en-US">
                <a:cs typeface="楷体_GB2312" pitchFamily="49" charset="-122"/>
              </a:rPr>
              <a:t>总线定时</a:t>
            </a:r>
            <a:endParaRPr lang="en-US" altLang="zh-CN">
              <a:cs typeface="楷体_GB2312" pitchFamily="49" charset="-122"/>
            </a:endParaRPr>
          </a:p>
          <a:p>
            <a:r>
              <a:rPr lang="zh-CN" altLang="en-US">
                <a:cs typeface="楷体_GB2312" pitchFamily="49" charset="-122"/>
              </a:rPr>
              <a:t>外围设备</a:t>
            </a:r>
            <a:endParaRPr lang="en-US" altLang="zh-CN">
              <a:cs typeface="楷体_GB2312" pitchFamily="49" charset="-122"/>
            </a:endParaRPr>
          </a:p>
          <a:p>
            <a:pPr lvl="1"/>
            <a:r>
              <a:rPr lang="zh-CN" altLang="en-US">
                <a:cs typeface="楷体_GB2312" pitchFamily="49" charset="-122"/>
              </a:rPr>
              <a:t>磁盘、显示</a:t>
            </a:r>
            <a:endParaRPr lang="en-US" altLang="zh-CN">
              <a:cs typeface="楷体_GB2312" pitchFamily="49" charset="-122"/>
            </a:endParaRPr>
          </a:p>
          <a:p>
            <a:r>
              <a:rPr lang="zh-CN" altLang="en-US">
                <a:cs typeface="楷体_GB2312" pitchFamily="49" charset="-122"/>
              </a:rPr>
              <a:t>输入输出系统</a:t>
            </a:r>
            <a:endParaRPr lang="en-US" altLang="zh-CN">
              <a:cs typeface="楷体_GB2312" pitchFamily="49" charset="-122"/>
            </a:endParaRPr>
          </a:p>
          <a:p>
            <a:pPr lvl="1"/>
            <a:r>
              <a:rPr lang="zh-CN" altLang="en-US">
                <a:cs typeface="楷体_GB2312" pitchFamily="49" charset="-122"/>
              </a:rPr>
              <a:t>程序查询、中断、</a:t>
            </a:r>
            <a:r>
              <a:rPr lang="en-US" altLang="zh-CN">
                <a:cs typeface="楷体_GB2312" pitchFamily="49" charset="-122"/>
              </a:rPr>
              <a:t>DMA</a:t>
            </a:r>
            <a:endParaRPr lang="en-US" altLang="zh-CN">
              <a:cs typeface="楷体_GB2312" pitchFamily="49" charset="-122"/>
            </a:endParaRPr>
          </a:p>
          <a:p>
            <a:pPr lvl="1"/>
            <a:r>
              <a:rPr lang="zh-CN" altLang="en-US">
                <a:cs typeface="楷体_GB2312" pitchFamily="49" charset="-122"/>
              </a:rPr>
              <a:t>通道方式</a:t>
            </a:r>
            <a:endParaRPr lang="en-US" altLang="zh-CN">
              <a:cs typeface="楷体_GB2312" pitchFamily="49" charset="-122"/>
            </a:endParaRPr>
          </a:p>
          <a:p>
            <a:endParaRPr lang="zh-CN" altLang="en-US"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117024">
    <p:pull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实验内容</a:t>
            </a:r>
            <a:endParaRPr lang="zh-CN" altLang="en-US"/>
          </a:p>
        </p:txBody>
      </p:sp>
      <p:sp>
        <p:nvSpPr>
          <p:cNvPr id="4505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cs typeface="楷体_GB2312" pitchFamily="49" charset="-122"/>
              </a:rPr>
              <a:t>1. </a:t>
            </a:r>
            <a:r>
              <a:rPr lang="zh-CN" altLang="en-US" dirty="0">
                <a:cs typeface="楷体_GB2312" pitchFamily="49" charset="-122"/>
              </a:rPr>
              <a:t>运算器组成</a:t>
            </a:r>
            <a:endParaRPr lang="en-US" altLang="zh-CN" dirty="0">
              <a:cs typeface="楷体_GB2312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cs typeface="楷体_GB2312" pitchFamily="49" charset="-122"/>
              </a:rPr>
              <a:t>2. </a:t>
            </a:r>
            <a:r>
              <a:rPr lang="zh-CN" altLang="en-US" dirty="0">
                <a:cs typeface="楷体_GB2312" pitchFamily="49" charset="-122"/>
              </a:rPr>
              <a:t>双端口存储器</a:t>
            </a:r>
            <a:endParaRPr lang="en-US" altLang="zh-CN" dirty="0">
              <a:cs typeface="楷体_GB2312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cs typeface="楷体_GB2312" pitchFamily="49" charset="-122"/>
              </a:rPr>
              <a:t>3. </a:t>
            </a:r>
            <a:r>
              <a:rPr lang="zh-CN" altLang="en-US" dirty="0">
                <a:cs typeface="楷体_GB2312" pitchFamily="49" charset="-122"/>
              </a:rPr>
              <a:t>数据通路</a:t>
            </a:r>
            <a:endParaRPr lang="en-US" altLang="zh-CN" dirty="0">
              <a:cs typeface="楷体_GB2312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cs typeface="楷体_GB2312" pitchFamily="49" charset="-122"/>
              </a:rPr>
              <a:t>4. </a:t>
            </a:r>
            <a:r>
              <a:rPr lang="zh-CN" altLang="en-US" dirty="0">
                <a:cs typeface="楷体_GB2312" pitchFamily="49" charset="-122"/>
              </a:rPr>
              <a:t>微程序控制器</a:t>
            </a:r>
            <a:endParaRPr lang="en-US" altLang="zh-CN" dirty="0">
              <a:cs typeface="楷体_GB2312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cs typeface="楷体_GB2312" pitchFamily="49" charset="-122"/>
              </a:rPr>
              <a:t>5. CPU</a:t>
            </a:r>
            <a:r>
              <a:rPr lang="zh-CN" altLang="en-US" dirty="0">
                <a:cs typeface="楷体_GB2312" pitchFamily="49" charset="-122"/>
              </a:rPr>
              <a:t>组成与机器指令的执行</a:t>
            </a:r>
            <a:endParaRPr lang="en-US" altLang="zh-CN" dirty="0">
              <a:cs typeface="楷体_GB2312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cs typeface="楷体_GB2312" pitchFamily="49" charset="-122"/>
              </a:rPr>
              <a:t>6. </a:t>
            </a:r>
            <a:r>
              <a:rPr lang="zh-CN" altLang="en-US" dirty="0">
                <a:cs typeface="楷体_GB2312" pitchFamily="49" charset="-122"/>
              </a:rPr>
              <a:t>中断原理</a:t>
            </a:r>
            <a:endParaRPr lang="en-US" altLang="zh-CN" dirty="0">
              <a:cs typeface="楷体_GB2312" pitchFamily="49" charset="-122"/>
            </a:endParaRPr>
          </a:p>
          <a:p>
            <a:pPr marL="514350" indent="-514350"/>
            <a:endParaRPr lang="en-US" altLang="zh-CN" dirty="0">
              <a:cs typeface="楷体_GB2312" pitchFamily="49" charset="-122"/>
            </a:endParaRPr>
          </a:p>
          <a:p>
            <a:pPr marL="514350" indent="-514350"/>
            <a:r>
              <a:rPr lang="zh-CN" altLang="en-US" dirty="0">
                <a:cs typeface="楷体_GB2312" pitchFamily="49" charset="-122"/>
              </a:rPr>
              <a:t>实验设备： </a:t>
            </a:r>
            <a:r>
              <a:rPr lang="en-US" altLang="zh-CN" dirty="0">
                <a:cs typeface="楷体_GB2312" pitchFamily="49" charset="-122"/>
              </a:rPr>
              <a:t>TEC-8</a:t>
            </a:r>
            <a:endParaRPr lang="en-US" altLang="zh-CN" dirty="0">
              <a:cs typeface="楷体_GB2312" pitchFamily="49" charset="-122"/>
            </a:endParaRPr>
          </a:p>
          <a:p>
            <a:pPr marL="514350" indent="-514350">
              <a:buFont typeface="Wingdings 2" charset="2"/>
              <a:buNone/>
            </a:pPr>
            <a:r>
              <a:rPr lang="zh-CN" altLang="en-US" sz="2800" dirty="0">
                <a:solidFill>
                  <a:srgbClr val="C00000"/>
                </a:solidFill>
                <a:cs typeface="楷体_GB2312" pitchFamily="49" charset="-122"/>
              </a:rPr>
              <a:t>实验计划第</a:t>
            </a:r>
            <a:r>
              <a:rPr lang="en-US" altLang="zh-CN" sz="2800" dirty="0">
                <a:solidFill>
                  <a:srgbClr val="C00000"/>
                </a:solidFill>
                <a:cs typeface="楷体_GB2312" pitchFamily="49" charset="-122"/>
              </a:rPr>
              <a:t>5</a:t>
            </a:r>
            <a:r>
              <a:rPr lang="zh-CN" altLang="en-US" sz="2800" dirty="0">
                <a:solidFill>
                  <a:srgbClr val="C00000"/>
                </a:solidFill>
                <a:cs typeface="楷体_GB2312" pitchFamily="49" charset="-122"/>
              </a:rPr>
              <a:t>周开始。</a:t>
            </a:r>
            <a:endParaRPr lang="en-US" altLang="zh-CN" sz="2800" dirty="0">
              <a:solidFill>
                <a:srgbClr val="C00000"/>
              </a:solidFill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38340">
    <p:pull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课程目的</a:t>
            </a:r>
            <a:endParaRPr lang="zh-CN" altLang="en-US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了解计算机的组成</a:t>
            </a:r>
            <a:endParaRPr lang="en-US" altLang="zh-CN" sz="2800" dirty="0">
              <a:cs typeface="楷体_GB2312" pitchFamily="49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dirty="0">
                <a:cs typeface="楷体_GB2312" pitchFamily="49" charset="-122"/>
              </a:rPr>
              <a:t>构成计算机的五大部件</a:t>
            </a:r>
            <a:endParaRPr lang="en-US" altLang="zh-CN" sz="24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掌握计算机的运行机制</a:t>
            </a:r>
            <a:endParaRPr lang="en-US" altLang="zh-CN" sz="2800" dirty="0">
              <a:cs typeface="楷体_GB2312" pitchFamily="49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2400" dirty="0">
                <a:cs typeface="楷体_GB2312" pitchFamily="49" charset="-122"/>
              </a:rPr>
              <a:t>计算机是如何执行程序的</a:t>
            </a:r>
            <a:endParaRPr lang="en-US" altLang="zh-CN" sz="24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理解计算机中处理器、存储器、输入</a:t>
            </a:r>
            <a:r>
              <a:rPr lang="en-US" altLang="zh-CN" sz="2800" dirty="0">
                <a:cs typeface="楷体_GB2312" pitchFamily="49" charset="-122"/>
              </a:rPr>
              <a:t>/</a:t>
            </a:r>
            <a:r>
              <a:rPr lang="zh-CN" altLang="en-US" sz="2800" dirty="0">
                <a:cs typeface="楷体_GB2312" pitchFamily="49" charset="-122"/>
              </a:rPr>
              <a:t>输出设备等部件的工作原理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建立软件与硬件之间的关联、层次化结构计算机系统的概念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通过本课程的理论和实践学习 ，掌握单处理机系统的组成原理和实现方法，建立起完整的计算机系统概念，初步具备硬件的设计与调试能力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成为计算机“大牛”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 </a:t>
            </a:r>
            <a:endParaRPr lang="en-US" altLang="zh-CN" sz="2800" dirty="0"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82764">
    <p:pull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学习方法</a:t>
            </a: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79492"/>
            <a:ext cx="8382000" cy="5373707"/>
          </a:xfrm>
        </p:spPr>
        <p:txBody>
          <a:bodyPr/>
          <a:lstStyle/>
          <a:p>
            <a:pPr eaLnBrk="1" hangingPunct="1"/>
            <a:r>
              <a:rPr lang="zh-CN" altLang="en-US" dirty="0">
                <a:cs typeface="楷体_GB2312" pitchFamily="49" charset="-122"/>
              </a:rPr>
              <a:t>课堂听课</a:t>
            </a:r>
            <a:endParaRPr lang="zh-CN" altLang="en-US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课前预习</a:t>
            </a:r>
            <a:endParaRPr lang="en-US" altLang="zh-CN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课后消化所学内容</a:t>
            </a:r>
            <a:endParaRPr lang="zh-CN" altLang="en-US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阅读参考资料</a:t>
            </a:r>
            <a:endParaRPr lang="zh-CN" altLang="en-US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完成习题</a:t>
            </a:r>
            <a:endParaRPr lang="zh-CN" altLang="en-US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完成实验及实验报告</a:t>
            </a:r>
            <a:endParaRPr lang="zh-CN" altLang="en-US" dirty="0">
              <a:cs typeface="楷体_GB2312" pitchFamily="49" charset="-122"/>
            </a:endParaRPr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1915319" y="4724400"/>
            <a:ext cx="5313362" cy="954107"/>
          </a:xfrm>
          <a:prstGeom prst="rect">
            <a:avLst/>
          </a:prstGeom>
          <a:noFill/>
          <a:ln w="25400">
            <a:solidFill>
              <a:srgbClr val="33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专业课学习的本质是：理解原理，而不是刷题！</a:t>
            </a:r>
            <a:endParaRPr lang="zh-CN" altLang="en-US" sz="2800" dirty="0">
              <a:solidFill>
                <a:srgbClr val="CC33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542881" y="5867399"/>
            <a:ext cx="685800" cy="6858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Tm="61624"/>
    </mc:Choice>
    <mc:Fallback>
      <p:transition spd="slow" advTm="616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7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教材及参考书</a:t>
            </a: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79387" y="1203325"/>
            <a:ext cx="8785225" cy="5400675"/>
          </a:xfrm>
        </p:spPr>
        <p:txBody>
          <a:bodyPr/>
          <a:lstStyle/>
          <a:p>
            <a:pPr marL="0" indent="0" eaLnBrk="1" hangingPunct="1">
              <a:buFont typeface="Wingdings 2" charset="2"/>
              <a:buNone/>
            </a:pPr>
            <a:r>
              <a:rPr lang="zh-CN" altLang="en-US" sz="2800" dirty="0">
                <a:solidFill>
                  <a:schemeClr val="tx2"/>
                </a:solidFill>
                <a:cs typeface="楷体_GB2312" pitchFamily="49" charset="-122"/>
              </a:rPr>
              <a:t>教材</a:t>
            </a:r>
            <a:endParaRPr lang="en-US" altLang="zh-CN" sz="2800" dirty="0">
              <a:solidFill>
                <a:schemeClr val="tx2"/>
              </a:solidFill>
              <a:cs typeface="楷体_GB2312" pitchFamily="49" charset="-122"/>
            </a:endParaRPr>
          </a:p>
          <a:p>
            <a:pPr marL="0" indent="0" eaLnBrk="1" hangingPunct="1"/>
            <a:r>
              <a:rPr lang="en-US" altLang="zh-CN" sz="2800" dirty="0">
                <a:solidFill>
                  <a:schemeClr val="tx2"/>
                </a:solidFill>
                <a:cs typeface="楷体_GB2312" pitchFamily="49" charset="-122"/>
              </a:rPr>
              <a:t>《</a:t>
            </a:r>
            <a:r>
              <a:rPr lang="zh-CN" altLang="en-US" sz="2800" dirty="0">
                <a:solidFill>
                  <a:schemeClr val="tx2"/>
                </a:solidFill>
                <a:cs typeface="楷体_GB2312" pitchFamily="49" charset="-122"/>
              </a:rPr>
              <a:t>计算机组成原理</a:t>
            </a:r>
            <a:r>
              <a:rPr lang="en-US" altLang="zh-CN" sz="2800" dirty="0">
                <a:solidFill>
                  <a:schemeClr val="tx2"/>
                </a:solidFill>
                <a:cs typeface="楷体_GB2312" pitchFamily="49" charset="-122"/>
              </a:rPr>
              <a:t>》</a:t>
            </a:r>
            <a:r>
              <a:rPr lang="zh-CN" altLang="en-US" dirty="0">
                <a:solidFill>
                  <a:schemeClr val="tx2"/>
                </a:solidFill>
                <a:cs typeface="楷体_GB2312" pitchFamily="49" charset="-122"/>
              </a:rPr>
              <a:t>（第</a:t>
            </a:r>
            <a:r>
              <a:rPr lang="en-US" altLang="zh-CN" dirty="0">
                <a:solidFill>
                  <a:schemeClr val="tx2"/>
                </a:solidFill>
                <a:cs typeface="楷体_GB2312" pitchFamily="49" charset="-122"/>
              </a:rPr>
              <a:t>7</a:t>
            </a:r>
            <a:r>
              <a:rPr lang="zh-CN" altLang="en-US" dirty="0">
                <a:solidFill>
                  <a:schemeClr val="tx2"/>
                </a:solidFill>
                <a:cs typeface="楷体_GB2312" pitchFamily="49" charset="-122"/>
              </a:rPr>
              <a:t>版）白中英等编 科学</a:t>
            </a:r>
            <a:r>
              <a:rPr lang="zh-CN" altLang="en-US" sz="2800" dirty="0">
                <a:solidFill>
                  <a:schemeClr val="tx2"/>
                </a:solidFill>
                <a:cs typeface="楷体_GB2312" pitchFamily="49" charset="-122"/>
              </a:rPr>
              <a:t>出版社</a:t>
            </a:r>
            <a:endParaRPr lang="en-US" altLang="zh-CN" sz="2800" dirty="0">
              <a:solidFill>
                <a:schemeClr val="tx2"/>
              </a:solidFill>
              <a:cs typeface="楷体_GB2312" pitchFamily="49" charset="-122"/>
            </a:endParaRPr>
          </a:p>
          <a:p>
            <a:pPr marL="0" indent="0" eaLnBrk="1" hangingPunct="1">
              <a:buFont typeface="Wingdings 2" charset="2"/>
              <a:buNone/>
            </a:pPr>
            <a:endParaRPr lang="en-US" altLang="zh-CN" sz="2800" dirty="0">
              <a:solidFill>
                <a:schemeClr val="tx2"/>
              </a:solidFill>
              <a:cs typeface="楷体_GB2312" pitchFamily="49" charset="-122"/>
            </a:endParaRPr>
          </a:p>
          <a:p>
            <a:pPr marL="0" indent="0" eaLnBrk="1" hangingPunct="1">
              <a:buFont typeface="Wingdings 2" charset="2"/>
              <a:buNone/>
            </a:pPr>
            <a:r>
              <a:rPr lang="zh-CN" altLang="en-US" sz="2800" dirty="0">
                <a:solidFill>
                  <a:schemeClr val="tx2"/>
                </a:solidFill>
                <a:cs typeface="楷体_GB2312" pitchFamily="49" charset="-122"/>
              </a:rPr>
              <a:t>参考书</a:t>
            </a:r>
            <a:endParaRPr lang="zh-CN" altLang="en-US" sz="2800" dirty="0">
              <a:solidFill>
                <a:schemeClr val="tx2"/>
              </a:solidFill>
              <a:cs typeface="楷体_GB2312" pitchFamily="49" charset="-122"/>
            </a:endParaRPr>
          </a:p>
          <a:p>
            <a:pPr marL="0" indent="0" eaLnBrk="1" hangingPunct="1"/>
            <a:r>
              <a:rPr lang="en-US" altLang="zh-CN" sz="2800" dirty="0">
                <a:cs typeface="楷体_GB2312" pitchFamily="49" charset="-122"/>
              </a:rPr>
              <a:t>《</a:t>
            </a:r>
            <a:r>
              <a:rPr lang="zh-CN" altLang="en-US" sz="2800" dirty="0">
                <a:cs typeface="楷体_GB2312" pitchFamily="49" charset="-122"/>
              </a:rPr>
              <a:t>计算机组成与设计</a:t>
            </a:r>
            <a:r>
              <a:rPr lang="en-US" altLang="zh-CN" sz="2800" dirty="0">
                <a:cs typeface="楷体_GB2312" pitchFamily="49" charset="-122"/>
              </a:rPr>
              <a:t>》</a:t>
            </a:r>
            <a:r>
              <a:rPr lang="zh-CN" altLang="en-US" sz="2800" dirty="0">
                <a:cs typeface="楷体_GB2312" pitchFamily="49" charset="-122"/>
              </a:rPr>
              <a:t>（第</a:t>
            </a:r>
            <a:r>
              <a:rPr lang="en-US" altLang="zh-CN" sz="2800" dirty="0">
                <a:cs typeface="楷体_GB2312" pitchFamily="49" charset="-122"/>
              </a:rPr>
              <a:t>5</a:t>
            </a:r>
            <a:r>
              <a:rPr lang="zh-CN" altLang="en-US" sz="2800" dirty="0">
                <a:cs typeface="楷体_GB2312" pitchFamily="49" charset="-122"/>
              </a:rPr>
              <a:t>版）</a:t>
            </a:r>
            <a:r>
              <a:rPr lang="en-US" altLang="zh-CN" sz="2800" dirty="0">
                <a:cs typeface="楷体_GB2312" pitchFamily="49" charset="-122"/>
              </a:rPr>
              <a:t>David A. Patterson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John L. Hennessy</a:t>
            </a:r>
            <a:r>
              <a:rPr lang="zh-CN" altLang="en-US" sz="2800" dirty="0">
                <a:cs typeface="楷体_GB2312" pitchFamily="49" charset="-122"/>
              </a:rPr>
              <a:t>著，机械工业出版社</a:t>
            </a:r>
            <a:endParaRPr lang="en-US" altLang="zh-CN" sz="2800" dirty="0">
              <a:cs typeface="楷体_GB2312" pitchFamily="49" charset="-122"/>
            </a:endParaRPr>
          </a:p>
          <a:p>
            <a:pPr marL="0" indent="0" eaLnBrk="1" hangingPunct="1"/>
            <a:r>
              <a:rPr lang="en-US" altLang="zh-CN" sz="2800" dirty="0">
                <a:cs typeface="楷体_GB2312" pitchFamily="49" charset="-122"/>
              </a:rPr>
              <a:t>《</a:t>
            </a:r>
            <a:r>
              <a:rPr lang="zh-CN" altLang="en-US" sz="2800" dirty="0">
                <a:cs typeface="楷体_GB2312" pitchFamily="49" charset="-122"/>
              </a:rPr>
              <a:t>计算机组成原理</a:t>
            </a:r>
            <a:r>
              <a:rPr lang="en-US" altLang="zh-CN" sz="2800" dirty="0">
                <a:cs typeface="楷体_GB2312" pitchFamily="49" charset="-122"/>
              </a:rPr>
              <a:t>》</a:t>
            </a:r>
            <a:r>
              <a:rPr lang="zh-CN" altLang="en-US" sz="2800" dirty="0">
                <a:cs typeface="楷体_GB2312" pitchFamily="49" charset="-122"/>
              </a:rPr>
              <a:t>唐朔飞主编，高等教育出版社</a:t>
            </a:r>
            <a:endParaRPr lang="zh-CN" altLang="en-US" sz="2800" dirty="0">
              <a:cs typeface="楷体_GB2312" pitchFamily="49" charset="-122"/>
            </a:endParaRPr>
          </a:p>
          <a:p>
            <a:pPr marL="0" indent="0" eaLnBrk="1" hangingPunct="1"/>
            <a:r>
              <a:rPr lang="en-US" altLang="zh-CN" sz="2800" dirty="0">
                <a:cs typeface="楷体_GB2312" pitchFamily="49" charset="-122"/>
              </a:rPr>
              <a:t>《</a:t>
            </a:r>
            <a:r>
              <a:rPr lang="zh-CN" altLang="en-US" sz="2800" dirty="0">
                <a:cs typeface="楷体_GB2312" pitchFamily="49" charset="-122"/>
              </a:rPr>
              <a:t>深入理解计算机系统</a:t>
            </a:r>
            <a:r>
              <a:rPr lang="en-US" altLang="zh-CN" sz="2800" dirty="0">
                <a:cs typeface="楷体_GB2312" pitchFamily="49" charset="-122"/>
              </a:rPr>
              <a:t>》</a:t>
            </a:r>
            <a:r>
              <a:rPr lang="zh-CN" altLang="en-US" sz="2800" dirty="0">
                <a:cs typeface="楷体_GB2312" pitchFamily="49" charset="-122"/>
              </a:rPr>
              <a:t>（美）</a:t>
            </a:r>
            <a:r>
              <a:rPr lang="en-US" altLang="zh-CN" sz="2800" dirty="0">
                <a:cs typeface="楷体_GB2312" pitchFamily="49" charset="-122"/>
              </a:rPr>
              <a:t>Randal E. Bryant </a:t>
            </a:r>
            <a:r>
              <a:rPr lang="zh-CN" altLang="en-US" sz="2800" dirty="0">
                <a:cs typeface="楷体_GB2312" pitchFamily="49" charset="-122"/>
              </a:rPr>
              <a:t>等 第</a:t>
            </a:r>
            <a:r>
              <a:rPr lang="en-US" altLang="zh-CN" sz="2800" dirty="0">
                <a:cs typeface="楷体_GB2312" pitchFamily="49" charset="-122"/>
              </a:rPr>
              <a:t>2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3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4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6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9</a:t>
            </a:r>
            <a:r>
              <a:rPr lang="zh-CN" altLang="en-US" sz="2800" dirty="0">
                <a:cs typeface="楷体_GB2312" pitchFamily="49" charset="-122"/>
              </a:rPr>
              <a:t>、章</a:t>
            </a:r>
            <a:endParaRPr lang="en-US" altLang="zh-CN" sz="2800" dirty="0">
              <a:cs typeface="楷体_GB2312" pitchFamily="49" charset="-122"/>
            </a:endParaRPr>
          </a:p>
          <a:p>
            <a:pPr marL="0" indent="0" eaLnBrk="1" hangingPunct="1"/>
            <a:endParaRPr lang="en-US" altLang="zh-CN" dirty="0"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69638">
    <p:pull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计算机概述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计算机里有什么？</a:t>
            </a:r>
            <a:endParaRPr lang="zh-CN" altLang="en-US" dirty="0"/>
          </a:p>
        </p:txBody>
      </p:sp>
      <p:pic>
        <p:nvPicPr>
          <p:cNvPr id="82947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8688" y="1011238"/>
            <a:ext cx="3324225" cy="2492375"/>
          </a:xfrm>
        </p:spPr>
      </p:pic>
      <p:pic>
        <p:nvPicPr>
          <p:cNvPr id="82949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213" y="976313"/>
            <a:ext cx="3154362" cy="236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0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5" b="23575"/>
          <a:stretch>
            <a:fillRect/>
          </a:stretch>
        </p:blipFill>
        <p:spPr bwMode="auto">
          <a:xfrm>
            <a:off x="285750" y="3441700"/>
            <a:ext cx="8104188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51" name="文本框 7"/>
          <p:cNvSpPr txBox="1">
            <a:spLocks noChangeArrowheads="1"/>
          </p:cNvSpPr>
          <p:nvPr/>
        </p:nvSpPr>
        <p:spPr bwMode="auto">
          <a:xfrm>
            <a:off x="6678613" y="4083050"/>
            <a:ext cx="723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1400"/>
              <a:t>雷电</a:t>
            </a:r>
            <a:r>
              <a:rPr lang="en-US" altLang="zh-CN" sz="1400"/>
              <a:t>3</a:t>
            </a:r>
            <a:endParaRPr lang="en-US" altLang="zh-CN" sz="1400"/>
          </a:p>
          <a:p>
            <a:r>
              <a:rPr lang="zh-CN" altLang="en-US" sz="1400"/>
              <a:t>控制器</a:t>
            </a:r>
            <a:endParaRPr lang="zh-CN" altLang="en-US" sz="1400"/>
          </a:p>
        </p:txBody>
      </p:sp>
      <p:sp>
        <p:nvSpPr>
          <p:cNvPr id="82952" name="文本框 8"/>
          <p:cNvSpPr txBox="1">
            <a:spLocks noChangeArrowheads="1"/>
          </p:cNvSpPr>
          <p:nvPr/>
        </p:nvSpPr>
        <p:spPr bwMode="auto">
          <a:xfrm>
            <a:off x="3962400" y="4422775"/>
            <a:ext cx="877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1800" dirty="0">
                <a:solidFill>
                  <a:schemeClr val="bg1"/>
                </a:solidFill>
              </a:rPr>
              <a:t>处理器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82953" name="文本框 9"/>
          <p:cNvSpPr txBox="1">
            <a:spLocks noChangeArrowheads="1"/>
          </p:cNvSpPr>
          <p:nvPr/>
        </p:nvSpPr>
        <p:spPr bwMode="auto">
          <a:xfrm>
            <a:off x="3687763" y="5122862"/>
            <a:ext cx="16224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600" dirty="0">
                <a:solidFill>
                  <a:schemeClr val="bg1"/>
                </a:solidFill>
              </a:rPr>
              <a:t>LPDDR3 DRAM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82954" name="文本框 10"/>
          <p:cNvSpPr txBox="1">
            <a:spLocks noChangeArrowheads="1"/>
          </p:cNvSpPr>
          <p:nvPr/>
        </p:nvSpPr>
        <p:spPr bwMode="auto">
          <a:xfrm>
            <a:off x="5310188" y="4857750"/>
            <a:ext cx="6000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600">
                <a:solidFill>
                  <a:schemeClr val="bg1"/>
                </a:solidFill>
              </a:rPr>
              <a:t>WiFi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2955" name="文本框 11"/>
          <p:cNvSpPr txBox="1">
            <a:spLocks noChangeArrowheads="1"/>
          </p:cNvSpPr>
          <p:nvPr/>
        </p:nvSpPr>
        <p:spPr bwMode="auto">
          <a:xfrm>
            <a:off x="1411288" y="5934075"/>
            <a:ext cx="560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600">
                <a:solidFill>
                  <a:schemeClr val="bg1"/>
                </a:solidFill>
              </a:rPr>
              <a:t>SSD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2956" name="文本框 12"/>
          <p:cNvSpPr txBox="1">
            <a:spLocks noChangeArrowheads="1"/>
          </p:cNvSpPr>
          <p:nvPr/>
        </p:nvSpPr>
        <p:spPr bwMode="auto">
          <a:xfrm>
            <a:off x="647700" y="5027613"/>
            <a:ext cx="5603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600">
                <a:solidFill>
                  <a:schemeClr val="bg1"/>
                </a:solidFill>
              </a:rPr>
              <a:t>SSD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2957" name="文本框 13"/>
          <p:cNvSpPr txBox="1">
            <a:spLocks noChangeArrowheads="1"/>
          </p:cNvSpPr>
          <p:nvPr/>
        </p:nvSpPr>
        <p:spPr bwMode="auto">
          <a:xfrm>
            <a:off x="3105150" y="1169988"/>
            <a:ext cx="1233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/>
              <a:t> MacBook Pro</a:t>
            </a:r>
            <a:endParaRPr lang="en-US" altLang="zh-CN" sz="1400"/>
          </a:p>
          <a:p>
            <a:r>
              <a:rPr lang="en-US" altLang="zh-CN" sz="1400"/>
              <a:t> 2017</a:t>
            </a:r>
            <a:r>
              <a:rPr lang="zh-CN" altLang="en-US" sz="1400"/>
              <a:t>款</a:t>
            </a:r>
            <a:endParaRPr lang="zh-CN" altLang="en-US" sz="1400"/>
          </a:p>
        </p:txBody>
      </p:sp>
    </p:spTree>
  </p:cSld>
  <p:clrMapOvr>
    <a:masterClrMapping/>
  </p:clrMapOvr>
  <p:transition spd="med" advTm="59099">
    <p:pull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处理器内部视图</a:t>
            </a:r>
            <a:endParaRPr lang="zh-CN" altLang="en-US"/>
          </a:p>
        </p:txBody>
      </p:sp>
      <p:sp>
        <p:nvSpPr>
          <p:cNvPr id="52227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楷体_GB2312" pitchFamily="49" charset="-122"/>
            </a:endParaRPr>
          </a:p>
        </p:txBody>
      </p:sp>
      <p:pic>
        <p:nvPicPr>
          <p:cNvPr id="52229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75" y="1447800"/>
            <a:ext cx="6775450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文本框 5"/>
          <p:cNvSpPr txBox="1">
            <a:spLocks noChangeArrowheads="1"/>
          </p:cNvSpPr>
          <p:nvPr/>
        </p:nvSpPr>
        <p:spPr bwMode="auto">
          <a:xfrm>
            <a:off x="1936333" y="5760386"/>
            <a:ext cx="53062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it-IT" altLang="zh-CN" sz="2800" dirty="0"/>
              <a:t>Core i7 Mobile Processor  Die Map</a:t>
            </a:r>
            <a:endParaRPr lang="zh-CN" altLang="en-US" sz="2800" dirty="0"/>
          </a:p>
        </p:txBody>
      </p:sp>
    </p:spTree>
  </p:cSld>
  <p:clrMapOvr>
    <a:masterClrMapping/>
  </p:clrMapOvr>
  <p:transition spd="med" advTm="46942">
    <p:pull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计算机的分类和应用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通用计算机分类</a:t>
            </a:r>
            <a:endParaRPr lang="zh-CN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82000" cy="5334000"/>
          </a:xfrm>
        </p:spPr>
        <p:txBody>
          <a:bodyPr/>
          <a:lstStyle/>
          <a:p>
            <a:pPr eaLnBrk="1" hangingPunct="1">
              <a:buFont typeface="Wingdings 2" charset="2"/>
              <a:buNone/>
            </a:pPr>
            <a:r>
              <a:rPr lang="zh-CN" altLang="en-US" sz="2400" dirty="0"/>
              <a:t>   超级计算机、大型机 、服务器、工作站 、微型机、单片机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 bwMode="auto">
          <a:xfrm>
            <a:off x="6019800" y="3104260"/>
            <a:ext cx="1295400" cy="30480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Gill Sans" charset="0"/>
            </a:endParaRPr>
          </a:p>
        </p:txBody>
      </p:sp>
      <p:pic>
        <p:nvPicPr>
          <p:cNvPr id="7" name="Picture 4" descr="1A1">
            <a:hlinkClick r:id="rId1" action="ppaction://hlinkfil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069" y="2133600"/>
            <a:ext cx="7027862" cy="360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66197"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面向应用的分类</a:t>
            </a:r>
            <a:endParaRPr lang="zh-CN" alt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zh-CN" altLang="en-US"/>
              <a:t>通用计算机</a:t>
            </a:r>
            <a:endParaRPr lang="zh-CN" altLang="en-US"/>
          </a:p>
          <a:p>
            <a:pPr algn="just" eaLnBrk="1" hangingPunct="1">
              <a:buFont typeface="Wingdings 2" charset="2"/>
              <a:buNone/>
            </a:pPr>
            <a:r>
              <a:rPr lang="zh-CN" altLang="en-US"/>
              <a:t>   具有计算机的标准形态，通过安装不同的应用软件，以相似的外观呈现并应用在各行各业</a:t>
            </a:r>
            <a:endParaRPr lang="zh-CN" altLang="en-US"/>
          </a:p>
          <a:p>
            <a:pPr eaLnBrk="1" hangingPunct="1"/>
            <a:r>
              <a:rPr lang="zh-CN" altLang="en-US"/>
              <a:t>专用计算机</a:t>
            </a:r>
            <a:r>
              <a:rPr lang="en-US" altLang="zh-CN"/>
              <a:t>/</a:t>
            </a:r>
            <a:r>
              <a:rPr lang="zh-CN" altLang="en-US"/>
              <a:t>嵌入式（</a:t>
            </a:r>
            <a:r>
              <a:rPr lang="en-US" altLang="zh-CN"/>
              <a:t>Embedded</a:t>
            </a:r>
            <a:r>
              <a:rPr lang="zh-CN" altLang="en-US"/>
              <a:t>）计算机</a:t>
            </a:r>
            <a:endParaRPr lang="zh-CN" altLang="en-US"/>
          </a:p>
          <a:p>
            <a:pPr eaLnBrk="1" hangingPunct="1">
              <a:buFont typeface="Wingdings 2" charset="2"/>
              <a:buNone/>
            </a:pPr>
            <a:r>
              <a:rPr lang="zh-CN" altLang="en-US" i="1"/>
              <a:t>   </a:t>
            </a:r>
            <a:r>
              <a:rPr lang="zh-CN" altLang="en-US"/>
              <a:t>安装或嵌入到交通工具、仪器仪表、控制系统、通信设备和家电产品等中的模块化计算机</a:t>
            </a:r>
            <a:endParaRPr lang="zh-CN" altLang="en-US"/>
          </a:p>
        </p:txBody>
      </p:sp>
    </p:spTree>
  </p:cSld>
  <p:clrMapOvr>
    <a:masterClrMapping/>
  </p:clrMapOvr>
  <p:transition spd="med" advTm="56917">
    <p:pull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16568"/>
            <a:ext cx="8382000" cy="679450"/>
          </a:xfrm>
        </p:spPr>
        <p:txBody>
          <a:bodyPr/>
          <a:lstStyle/>
          <a:p>
            <a:pPr algn="l">
              <a:defRPr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  Autonomous Drone With AI and CV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868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919163"/>
            <a:ext cx="5010150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内容占位符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23121" y="973137"/>
            <a:ext cx="2074862" cy="5832475"/>
          </a:xfrm>
        </p:spPr>
      </p:pic>
      <p:pic>
        <p:nvPicPr>
          <p:cNvPr id="3687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7" t="3169" r="2493" b="9889"/>
          <a:stretch>
            <a:fillRect/>
          </a:stretch>
        </p:blipFill>
        <p:spPr bwMode="auto">
          <a:xfrm>
            <a:off x="614363" y="4005263"/>
            <a:ext cx="4105275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4802851" y="4041775"/>
            <a:ext cx="1629036" cy="2308324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嵌入式系统：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64bit ARM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256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GPU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4GBRAM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64GB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12x cameras 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1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WiFi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Tm="33735">
    <p:pull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计算机的应用领域</a:t>
            </a:r>
            <a:endParaRPr lang="zh-CN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82000" cy="53340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科学计算：密码破译、天气预报、地质勘探、卫星轨道计算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信息处理：信息数据处理、搜索引擎、文字处理、事务处理、信息管理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实时控制：程控交换机、路由器、自动驾驶、测控系统     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人工智能：自然语言处理、模式识别、机器学习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计算机辅助设计：电路设计、模拟仿真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娱乐和游戏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 advTm="21167">
    <p:pull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计算机发展简史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计算机的演进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/>
              <a:t>第</a:t>
            </a:r>
            <a:r>
              <a:rPr lang="en-US" altLang="zh-CN"/>
              <a:t>0</a:t>
            </a:r>
            <a:r>
              <a:rPr lang="zh-CN" altLang="en-US"/>
              <a:t>代  机械时代（</a:t>
            </a:r>
            <a:r>
              <a:rPr lang="en-US" altLang="zh-CN"/>
              <a:t>BC-1940</a:t>
            </a:r>
            <a:r>
              <a:rPr lang="zh-CN" altLang="en-US"/>
              <a:t>）</a:t>
            </a:r>
            <a:endParaRPr lang="en-US" altLang="zh-CN"/>
          </a:p>
          <a:p>
            <a:pPr eaLnBrk="1" hangingPunct="1">
              <a:lnSpc>
                <a:spcPct val="110000"/>
              </a:lnSpc>
            </a:pP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代  电子管时代（</a:t>
            </a:r>
            <a:r>
              <a:rPr lang="en-US" altLang="zh-CN"/>
              <a:t>1943-1959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耗电高，体积大，定点计算，机器语言，汇编语言</a:t>
            </a:r>
            <a:endParaRPr lang="zh-CN" altLang="en-US"/>
          </a:p>
          <a:p>
            <a:pPr eaLnBrk="1" hangingPunct="1">
              <a:lnSpc>
                <a:spcPct val="110000"/>
              </a:lnSpc>
            </a:pP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代  晶体管时代（</a:t>
            </a:r>
            <a:r>
              <a:rPr lang="en-US" altLang="zh-CN"/>
              <a:t>1960-1968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变集中处理为分级处理，浮点运算、高级语言</a:t>
            </a:r>
            <a:endParaRPr lang="zh-CN" altLang="en-US"/>
          </a:p>
          <a:p>
            <a:pPr eaLnBrk="1" hangingPunct="1">
              <a:lnSpc>
                <a:spcPct val="110000"/>
              </a:lnSpc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代  集成电路时代（</a:t>
            </a:r>
            <a:r>
              <a:rPr lang="en-US" altLang="zh-CN"/>
              <a:t>1969-1977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存储容量大，运算速度快，几十至几百万次</a:t>
            </a:r>
            <a:r>
              <a:rPr lang="en-US" altLang="zh-CN"/>
              <a:t>/</a:t>
            </a:r>
            <a:r>
              <a:rPr lang="zh-CN" altLang="en-US"/>
              <a:t>秒</a:t>
            </a:r>
            <a:endParaRPr lang="zh-CN" altLang="en-US"/>
          </a:p>
          <a:p>
            <a:pPr eaLnBrk="1" hangingPunct="1">
              <a:lnSpc>
                <a:spcPct val="110000"/>
              </a:lnSpc>
            </a:pP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代  超大规模集成电路时代（</a:t>
            </a:r>
            <a:r>
              <a:rPr lang="en-US" altLang="zh-CN"/>
              <a:t>1978</a:t>
            </a:r>
            <a:r>
              <a:rPr lang="zh-CN" altLang="en-US"/>
              <a:t>－现在）</a:t>
            </a:r>
            <a:endParaRPr lang="en-US" altLang="zh-CN"/>
          </a:p>
          <a:p>
            <a:pPr eaLnBrk="1" hangingPunct="1">
              <a:lnSpc>
                <a:spcPct val="110000"/>
              </a:lnSpc>
            </a:pP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代  量子计算机、光计算机、生物计算机？</a:t>
            </a:r>
            <a:endParaRPr lang="en-US" altLang="zh-CN"/>
          </a:p>
        </p:txBody>
      </p:sp>
    </p:spTree>
  </p:cSld>
  <p:clrMapOvr>
    <a:masterClrMapping/>
  </p:clrMapOvr>
  <p:transition spd="med" advTm="39445">
    <p:pull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8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361" y="4623126"/>
            <a:ext cx="3552825" cy="88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世界上第一台计算机</a:t>
            </a:r>
            <a:r>
              <a:rPr lang="en-US" altLang="zh-CN" dirty="0"/>
              <a:t>ENIAC</a:t>
            </a:r>
            <a:endParaRPr lang="en-US" altLang="zh-CN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144093" y="1143000"/>
            <a:ext cx="8820519" cy="523875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1946</a:t>
            </a:r>
            <a:r>
              <a:rPr lang="zh-CN" altLang="en-US" sz="2800" dirty="0"/>
              <a:t>美国宾夕法尼亚大学</a:t>
            </a:r>
            <a:endParaRPr lang="zh-CN" altLang="en-US" sz="2800" dirty="0"/>
          </a:p>
          <a:p>
            <a:pPr marL="533400" indent="-53340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1400" dirty="0"/>
          </a:p>
          <a:p>
            <a:pPr marL="533400" indent="-53340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Mauchly </a:t>
            </a:r>
            <a:r>
              <a:rPr lang="zh-CN" altLang="en-US" sz="2000" dirty="0"/>
              <a:t>和</a:t>
            </a:r>
            <a:r>
              <a:rPr lang="en-US" altLang="zh-CN" sz="2000" dirty="0"/>
              <a:t>Eckert </a:t>
            </a:r>
            <a:r>
              <a:rPr lang="zh-CN" altLang="zh-CN" sz="2000" dirty="0"/>
              <a:t>设计</a:t>
            </a:r>
            <a:endParaRPr lang="zh-CN" altLang="en-US" sz="2000" dirty="0"/>
          </a:p>
          <a:p>
            <a:pPr marL="533400" indent="-53340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endParaRPr lang="zh-CN" altLang="en-US" sz="1600" dirty="0"/>
          </a:p>
          <a:p>
            <a:pPr marL="533400" indent="-533400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2800" dirty="0">
                <a:latin typeface="宋体" panose="02010600030101010101" pitchFamily="2" charset="-122"/>
              </a:rPr>
              <a:t>用于计算火炮的弹道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18000</a:t>
            </a:r>
            <a:r>
              <a:rPr lang="zh-CN" altLang="en-US" sz="2800" dirty="0">
                <a:latin typeface="宋体" panose="02010600030101010101" pitchFamily="2" charset="-122"/>
              </a:rPr>
              <a:t>多个电子管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1500</a:t>
            </a:r>
            <a:r>
              <a:rPr lang="zh-CN" altLang="en-US" sz="2800" dirty="0">
                <a:latin typeface="宋体" panose="02010600030101010101" pitchFamily="2" charset="-122"/>
              </a:rPr>
              <a:t>多个继电器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150</a:t>
            </a:r>
            <a:r>
              <a:rPr lang="zh-CN" altLang="en-US" sz="2800" dirty="0">
                <a:latin typeface="宋体" panose="02010600030101010101" pitchFamily="2" charset="-122"/>
              </a:rPr>
              <a:t>千瓦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30</a:t>
            </a:r>
            <a:r>
              <a:rPr lang="zh-CN" altLang="en-US" sz="2800" dirty="0">
                <a:latin typeface="宋体" panose="02010600030101010101" pitchFamily="2" charset="-122"/>
              </a:rPr>
              <a:t>吨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1500</a:t>
            </a:r>
            <a:r>
              <a:rPr lang="zh-CN" altLang="en-US" sz="2800" dirty="0">
                <a:latin typeface="宋体" panose="02010600030101010101" pitchFamily="2" charset="-122"/>
              </a:rPr>
              <a:t>平方英尺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5000</a:t>
            </a:r>
            <a:r>
              <a:rPr lang="zh-CN" altLang="en-US" sz="2800" dirty="0">
                <a:latin typeface="宋体" panose="02010600030101010101" pitchFamily="2" charset="-122"/>
              </a:rPr>
              <a:t>次加法</a:t>
            </a:r>
            <a:r>
              <a:rPr lang="en-US" altLang="zh-CN" sz="2800" dirty="0">
                <a:latin typeface="宋体" panose="02010600030101010101" pitchFamily="2" charset="-122"/>
              </a:rPr>
              <a:t>/</a:t>
            </a:r>
            <a:r>
              <a:rPr lang="zh-CN" altLang="en-US" sz="2800" dirty="0">
                <a:latin typeface="宋体" panose="02010600030101010101" pitchFamily="2" charset="-122"/>
              </a:rPr>
              <a:t>秒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使用十进制数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20</a:t>
            </a:r>
            <a:r>
              <a:rPr lang="zh-CN" altLang="en-US" sz="2800" dirty="0">
                <a:latin typeface="宋体" panose="02010600030101010101" pitchFamily="2" charset="-122"/>
              </a:rPr>
              <a:t>个寄存器，每个存放</a:t>
            </a:r>
            <a:r>
              <a:rPr lang="en-US" altLang="zh-CN" sz="2800" dirty="0">
                <a:latin typeface="宋体" panose="02010600030101010101" pitchFamily="2" charset="-122"/>
              </a:rPr>
              <a:t>10</a:t>
            </a:r>
            <a:r>
              <a:rPr lang="zh-CN" altLang="en-US" sz="2800" dirty="0">
                <a:latin typeface="宋体" panose="02010600030101010101" pitchFamily="2" charset="-122"/>
              </a:rPr>
              <a:t>位有符号十进制数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358775" indent="-358775" eaLnBrk="1" hangingPunct="1">
              <a:lnSpc>
                <a:spcPct val="8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通过设置</a:t>
            </a:r>
            <a:r>
              <a:rPr lang="en-US" altLang="zh-CN" sz="2800" dirty="0">
                <a:latin typeface="宋体" panose="02010600030101010101" pitchFamily="2" charset="-122"/>
              </a:rPr>
              <a:t>6000</a:t>
            </a:r>
            <a:r>
              <a:rPr lang="zh-CN" altLang="en-US" sz="2800" dirty="0">
                <a:latin typeface="宋体" panose="02010600030101010101" pitchFamily="2" charset="-122"/>
              </a:rPr>
              <a:t>个开关和拔插电缆来实现编程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4067172" y="4270352"/>
            <a:ext cx="502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0" dirty="0">
                <a:ea typeface="宋体" panose="02010600030101010101" pitchFamily="2" charset="-122"/>
              </a:rPr>
              <a:t>Electronic Numerical Integrate And Calculator</a:t>
            </a:r>
            <a:r>
              <a:rPr lang="en-US" altLang="zh-CN" sz="2400" b="0" dirty="0">
                <a:ea typeface="宋体" panose="02010600030101010101" pitchFamily="2" charset="-122"/>
              </a:rPr>
              <a:t>   </a:t>
            </a:r>
            <a:endParaRPr lang="en-US" altLang="zh-CN" sz="2400" b="0" dirty="0">
              <a:ea typeface="宋体" panose="02010600030101010101" pitchFamily="2" charset="-122"/>
            </a:endParaRPr>
          </a:p>
        </p:txBody>
      </p:sp>
      <p:pic>
        <p:nvPicPr>
          <p:cNvPr id="44039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515" y="1042976"/>
            <a:ext cx="4608513" cy="332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67836">
    <p:pull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IAS machine </a:t>
            </a:r>
            <a:endParaRPr lang="en-US" altLang="zh-CN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sym typeface="+mn-ea"/>
              </a:rPr>
              <a:t>Institute for Advanced Study machine, </a:t>
            </a:r>
            <a:r>
              <a:rPr lang="zh-CN" altLang="en-US" sz="2400" dirty="0"/>
              <a:t>也称为</a:t>
            </a:r>
            <a:r>
              <a:rPr lang="en-US" altLang="zh-CN" sz="2400" dirty="0"/>
              <a:t>Von Neumann</a:t>
            </a:r>
            <a:r>
              <a:rPr lang="zh-CN" altLang="en-US" sz="2400" dirty="0"/>
              <a:t>机。冯</a:t>
            </a:r>
            <a:r>
              <a:rPr lang="en-US" altLang="zh-CN" sz="2400" dirty="0"/>
              <a:t>·</a:t>
            </a:r>
            <a:r>
              <a:rPr lang="zh-CN" altLang="en-US" sz="2400" dirty="0"/>
              <a:t>诺依曼结构计算机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现代计算机体系结构的鼻祖：五大功能部件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将程序和数据存储在同一个存储器中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采用二进制数据：简化了存储器设计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字长</a:t>
            </a:r>
            <a:r>
              <a:rPr lang="en-US" altLang="zh-CN" sz="2400" dirty="0"/>
              <a:t>40</a:t>
            </a:r>
            <a:r>
              <a:rPr lang="zh-CN" altLang="en-US" sz="2400" dirty="0"/>
              <a:t>位，存储器地址</a:t>
            </a:r>
            <a:r>
              <a:rPr lang="en-US" altLang="zh-CN" sz="2400" dirty="0"/>
              <a:t>12</a:t>
            </a:r>
            <a:r>
              <a:rPr lang="zh-CN" altLang="en-US" sz="2400" dirty="0"/>
              <a:t>位，指令长度</a:t>
            </a:r>
            <a:r>
              <a:rPr lang="en-US" altLang="zh-CN" sz="2400" dirty="0"/>
              <a:t>20</a:t>
            </a:r>
            <a:r>
              <a:rPr lang="zh-CN" altLang="en-US" sz="2400" dirty="0"/>
              <a:t>位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只实现整数运算：任何有能力的数学家都能在头脑中记住小数点的位置</a:t>
            </a:r>
            <a:endParaRPr lang="zh-CN" altLang="en-US" sz="2400" dirty="0"/>
          </a:p>
        </p:txBody>
      </p:sp>
      <p:pic>
        <p:nvPicPr>
          <p:cNvPr id="45061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191000"/>
            <a:ext cx="4543425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8" y="4062413"/>
            <a:ext cx="1809750" cy="231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87544">
    <p:pull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计算机技术飞速发展</a:t>
            </a:r>
            <a:endParaRPr lang="zh-CN" altLang="en-US"/>
          </a:p>
        </p:txBody>
      </p:sp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152400" y="1119574"/>
            <a:ext cx="8785225" cy="5327650"/>
          </a:xfrm>
        </p:spPr>
        <p:txBody>
          <a:bodyPr/>
          <a:lstStyle/>
          <a:p>
            <a:pPr marL="0" indent="0">
              <a:buFont typeface="Wingdings 2" charset="2"/>
              <a:buNone/>
            </a:pPr>
            <a:r>
              <a:rPr lang="en-US" altLang="zh-CN" sz="2400" dirty="0"/>
              <a:t>1946</a:t>
            </a:r>
            <a:r>
              <a:rPr lang="zh-CN" altLang="en-US" sz="2400" dirty="0"/>
              <a:t>年</a:t>
            </a:r>
            <a:r>
              <a:rPr lang="en-US" altLang="zh-CN" sz="2400" dirty="0"/>
              <a:t> → 2019</a:t>
            </a:r>
            <a:r>
              <a:rPr lang="zh-CN" altLang="en-US" sz="2400" dirty="0"/>
              <a:t>年，计算机处理速度：</a:t>
            </a:r>
            <a:endParaRPr lang="en-US" altLang="zh-CN" sz="2400" dirty="0"/>
          </a:p>
          <a:p>
            <a:pPr marL="0" indent="0">
              <a:buFont typeface="Wingdings 2" charset="2"/>
              <a:buNone/>
            </a:pPr>
            <a:r>
              <a:rPr lang="en-US" altLang="zh-CN" sz="2400" dirty="0"/>
              <a:t>5000</a:t>
            </a:r>
            <a:r>
              <a:rPr lang="zh-CN" altLang="en-US" sz="2400" dirty="0"/>
              <a:t>次加法</a:t>
            </a:r>
            <a:r>
              <a:rPr lang="en-US" altLang="zh-CN" sz="2400" dirty="0"/>
              <a:t>/</a:t>
            </a:r>
            <a:r>
              <a:rPr lang="zh-CN" altLang="en-US" sz="2400" dirty="0"/>
              <a:t>秒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Cambria Math" panose="02040503050406030204" pitchFamily="18" charset="0"/>
              </a:rPr>
              <a:t>→ </a:t>
            </a:r>
            <a:r>
              <a:rPr lang="en-US" altLang="zh-CN" sz="2400" dirty="0"/>
              <a:t>14.86</a:t>
            </a:r>
            <a:r>
              <a:rPr lang="zh-CN" altLang="en-US" sz="2400" dirty="0"/>
              <a:t>亿亿次</a:t>
            </a:r>
            <a:r>
              <a:rPr lang="en-US" altLang="zh-CN" sz="2400" dirty="0"/>
              <a:t>/</a:t>
            </a:r>
            <a:r>
              <a:rPr lang="zh-CN" altLang="en-US" sz="2400" dirty="0"/>
              <a:t>秒（超级计算机完成）</a:t>
            </a:r>
            <a:r>
              <a:rPr lang="en-US" altLang="zh-CN" sz="2400" dirty="0">
                <a:latin typeface="Cambria Math" panose="02040503050406030204" pitchFamily="18" charset="0"/>
              </a:rPr>
              <a:t> </a:t>
            </a:r>
            <a:endParaRPr lang="en-US" altLang="zh-CN" sz="2400" dirty="0">
              <a:latin typeface="Cambria Math" panose="02040503050406030204" pitchFamily="18" charset="0"/>
            </a:endParaRPr>
          </a:p>
          <a:p>
            <a:pPr marL="0" indent="0"/>
            <a:r>
              <a:rPr lang="zh-CN" altLang="en-US" sz="2400" dirty="0"/>
              <a:t>比尔盖茨曾在一个演讲中说到：假如</a:t>
            </a:r>
            <a:r>
              <a:rPr lang="en-US" altLang="zh-CN" sz="2400" dirty="0"/>
              <a:t>GM</a:t>
            </a:r>
            <a:r>
              <a:rPr lang="zh-CN" altLang="en-US" sz="2400" dirty="0"/>
              <a:t>的技术能象计算机技术那样发展，我们现在应该能用</a:t>
            </a:r>
            <a:r>
              <a:rPr lang="en-US" altLang="zh-CN" sz="2400" dirty="0"/>
              <a:t>25</a:t>
            </a:r>
            <a:r>
              <a:rPr lang="zh-CN" altLang="en-US" sz="2400" dirty="0"/>
              <a:t>美元买到一辆一加仑汽油跑</a:t>
            </a:r>
            <a:r>
              <a:rPr lang="en-US" altLang="zh-CN" sz="2400" dirty="0"/>
              <a:t>1000</a:t>
            </a:r>
            <a:r>
              <a:rPr lang="zh-CN" altLang="en-US" sz="2400" dirty="0"/>
              <a:t>英里的汽车</a:t>
            </a:r>
            <a:endParaRPr lang="en-US" altLang="zh-CN" sz="2400" dirty="0"/>
          </a:p>
          <a:p>
            <a:pPr marL="0" indent="0"/>
            <a:r>
              <a:rPr lang="zh-CN" altLang="en-US" sz="2400" dirty="0"/>
              <a:t> </a:t>
            </a:r>
            <a:r>
              <a:rPr lang="en-US" altLang="zh-CN" sz="2400" dirty="0"/>
              <a:t>GM</a:t>
            </a:r>
            <a:r>
              <a:rPr lang="zh-CN" altLang="en-US" sz="2400" dirty="0"/>
              <a:t>反驳道：如果</a:t>
            </a:r>
            <a:r>
              <a:rPr lang="en-US" altLang="zh-CN" sz="2400" dirty="0"/>
              <a:t>GM</a:t>
            </a:r>
            <a:r>
              <a:rPr lang="zh-CN" altLang="en-US" sz="2400" dirty="0"/>
              <a:t>发展的技术象微软那样，那么现在开的汽车会有以下特点：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你的汽车可能毫无道理地每天抛</a:t>
            </a:r>
            <a:r>
              <a:rPr lang="zh-CN" altLang="en-US" dirty="0"/>
              <a:t>锚两次</a:t>
            </a:r>
            <a:endParaRPr lang="zh-CN" altLang="en-US" sz="2400" dirty="0"/>
          </a:p>
          <a:p>
            <a:pPr marL="806450" lvl="1" indent="-34925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有时候你的车在高速公路上莫名其妙地熄火，你必需</a:t>
            </a:r>
            <a:r>
              <a:rPr lang="en-US" altLang="zh-CN" sz="2400" dirty="0">
                <a:cs typeface="Times New Roman" panose="02020603050405020304" pitchFamily="18" charset="0"/>
              </a:rPr>
              <a:t>Accept</a:t>
            </a:r>
            <a:r>
              <a:rPr lang="zh-CN" altLang="en-US" sz="2400" dirty="0">
                <a:cs typeface="Times New Roman" panose="02020603050405020304" pitchFamily="18" charset="0"/>
              </a:rPr>
              <a:t>，然后</a:t>
            </a:r>
            <a:r>
              <a:rPr lang="en-US" altLang="zh-CN" sz="2400" dirty="0">
                <a:cs typeface="Times New Roman" panose="02020603050405020304" pitchFamily="18" charset="0"/>
              </a:rPr>
              <a:t>Restart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806450" lvl="1" indent="-349250"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有时候你的车在左转弯时突然</a:t>
            </a:r>
            <a:r>
              <a:rPr lang="zh-CN" altLang="en-US" dirty="0"/>
              <a:t>熄火</a:t>
            </a:r>
            <a:r>
              <a:rPr lang="zh-CN" altLang="en-US" sz="2400" dirty="0">
                <a:cs typeface="Times New Roman" panose="02020603050405020304" pitchFamily="18" charset="0"/>
              </a:rPr>
              <a:t>，而且无法</a:t>
            </a:r>
            <a:r>
              <a:rPr lang="en-US" altLang="zh-CN" sz="2400" dirty="0">
                <a:cs typeface="Times New Roman" panose="02020603050405020304" pitchFamily="18" charset="0"/>
              </a:rPr>
              <a:t>Restart</a:t>
            </a:r>
            <a:r>
              <a:rPr lang="zh-CN" altLang="en-US" sz="2400" dirty="0">
                <a:cs typeface="Times New Roman" panose="02020603050405020304" pitchFamily="18" charset="0"/>
              </a:rPr>
              <a:t>，所以你必需</a:t>
            </a:r>
            <a:r>
              <a:rPr lang="en-US" altLang="zh-CN" sz="2400" dirty="0">
                <a:cs typeface="Times New Roman" panose="02020603050405020304" pitchFamily="18" charset="0"/>
              </a:rPr>
              <a:t>Reinstall</a:t>
            </a:r>
            <a:r>
              <a:rPr lang="zh-CN" altLang="en-US" sz="2400" dirty="0">
                <a:cs typeface="Times New Roman" panose="02020603050405020304" pitchFamily="18" charset="0"/>
              </a:rPr>
              <a:t>发动机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627380" lvl="1" indent="-170180">
              <a:buFont typeface="Wingdings" panose="05000000000000000000" pitchFamily="2" charset="2"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</a:t>
            </a:r>
            <a:r>
              <a:rPr lang="zh-CN" altLang="zh-CN" sz="2400" dirty="0">
                <a:cs typeface="Times New Roman" panose="02020603050405020304" pitchFamily="18" charset="0"/>
              </a:rPr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…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26402" y="6308725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97027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338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对比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sz="half" idx="1"/>
          </p:nvPr>
        </p:nvSpPr>
        <p:spPr>
          <a:xfrm>
            <a:off x="179388" y="3357563"/>
            <a:ext cx="4316412" cy="287972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1976 Cray1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 M Ops/second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~170,000 chips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0.5B transistors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5,000 kg, 115 KW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$9M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manufactured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/>
          </a:p>
        </p:txBody>
      </p:sp>
      <p:sp>
        <p:nvSpPr>
          <p:cNvPr id="49156" name="内容占位符 3"/>
          <p:cNvSpPr>
            <a:spLocks noGrp="1"/>
          </p:cNvSpPr>
          <p:nvPr>
            <p:ph sz="half" idx="2"/>
          </p:nvPr>
        </p:nvSpPr>
        <p:spPr>
          <a:xfrm>
            <a:off x="4284662" y="3357563"/>
            <a:ext cx="4679950" cy="310197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iPhone 17 Pro Max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150B Ops/second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chip (A19 Pro)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 transistors (CPU only)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220g, &lt; 5 W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9999RMB+/$1199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~million sold in first week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/>
          </a:p>
        </p:txBody>
      </p:sp>
      <p:pic>
        <p:nvPicPr>
          <p:cNvPr id="49158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" y="1062832"/>
            <a:ext cx="3449638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062990"/>
            <a:ext cx="1920240" cy="2347595"/>
          </a:xfrm>
          <a:prstGeom prst="rect">
            <a:avLst/>
          </a:prstGeom>
        </p:spPr>
      </p:pic>
    </p:spTree>
  </p:cSld>
  <p:clrMapOvr>
    <a:masterClrMapping/>
  </p:clrMapOvr>
  <p:transition spd="med" advTm="63221">
    <p:pull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 dirty="0">
                <a:sym typeface="+mn-ea"/>
              </a:rPr>
              <a:t>Top500</a:t>
            </a:r>
            <a:r>
              <a:rPr lang="zh-CN" altLang="en-US" dirty="0">
                <a:sym typeface="+mn-ea"/>
              </a:rPr>
              <a:t>排名第</a:t>
            </a:r>
            <a:r>
              <a:rPr lang="en-US" altLang="zh-CN" dirty="0">
                <a:sym typeface="+mn-ea"/>
              </a:rPr>
              <a:t>1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705" y="981075"/>
            <a:ext cx="8418195" cy="5400675"/>
          </a:xfrm>
        </p:spPr>
        <p:txBody>
          <a:bodyPr/>
          <a:p>
            <a:r>
              <a:rPr lang="en-US" altLang="zh-CN"/>
              <a:t> </a:t>
            </a:r>
            <a:r>
              <a:rPr lang="zh-CN" altLang="en-US"/>
              <a:t>（美国，第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机构：劳伦斯利弗莫尔国家实验室（</a:t>
            </a:r>
            <a:r>
              <a:rPr lang="en-US" altLang="zh-CN"/>
              <a:t>LLNL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性能：</a:t>
            </a:r>
            <a:r>
              <a:rPr lang="en-US" altLang="zh-CN"/>
              <a:t>1.809 Eflop/s</a:t>
            </a:r>
            <a:r>
              <a:rPr lang="zh-CN" altLang="en-US"/>
              <a:t>（</a:t>
            </a:r>
            <a:r>
              <a:rPr lang="en-US" altLang="zh-CN"/>
              <a:t>Rmax</a:t>
            </a:r>
            <a:r>
              <a:rPr lang="zh-CN" altLang="en-US"/>
              <a:t>）；理论峰值</a:t>
            </a:r>
            <a:r>
              <a:rPr lang="en-US" altLang="zh-CN"/>
              <a:t> 2.746 Eflop/s 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架构：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HPE Cray EX+</a:t>
            </a:r>
            <a:r>
              <a:rPr lang="en-US" altLang="zh-CN"/>
              <a:t>AMD MI300A APU</a:t>
            </a:r>
            <a:r>
              <a:rPr lang="zh-CN" altLang="en-US"/>
              <a:t>（</a:t>
            </a:r>
            <a:r>
              <a:rPr lang="en-US" altLang="zh-CN"/>
              <a:t>CPU+GPU</a:t>
            </a:r>
            <a:r>
              <a:rPr lang="zh-CN" altLang="en-US"/>
              <a:t>一体）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核心：约</a:t>
            </a:r>
            <a:r>
              <a:rPr lang="en-US" altLang="zh-CN"/>
              <a:t> 1113</a:t>
            </a:r>
            <a:r>
              <a:rPr lang="zh-CN" altLang="en-US"/>
              <a:t>万</a:t>
            </a:r>
            <a:r>
              <a:rPr lang="en-US" altLang="zh-CN"/>
              <a:t> </a:t>
            </a:r>
            <a:r>
              <a:rPr lang="zh-CN" altLang="en-US"/>
              <a:t>计算核心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内存：约</a:t>
            </a:r>
            <a:r>
              <a:rPr lang="en-US" altLang="zh-CN"/>
              <a:t>12PB</a:t>
            </a:r>
            <a:r>
              <a:rPr lang="zh-CN" altLang="en-US"/>
              <a:t>（</a:t>
            </a:r>
            <a:r>
              <a:rPr lang="en-US" altLang="zh-CN"/>
              <a:t>DDR5+HBM3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互联：</a:t>
            </a:r>
            <a:r>
              <a:rPr lang="en-US" altLang="zh-CN"/>
              <a:t>HPE Slingshot-11 </a:t>
            </a:r>
            <a:r>
              <a:rPr lang="zh-CN" altLang="en-US"/>
              <a:t>高速互联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功耗：</a:t>
            </a:r>
            <a:r>
              <a:rPr lang="en-US" altLang="zh-CN"/>
              <a:t>29.69 MW 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 dirty="0">
                <a:sym typeface="+mn-ea"/>
              </a:rPr>
              <a:t>Top500</a:t>
            </a:r>
            <a:r>
              <a:rPr lang="zh-CN" altLang="en-US" dirty="0">
                <a:sym typeface="+mn-ea"/>
              </a:rPr>
              <a:t>排名第</a:t>
            </a:r>
            <a:r>
              <a:rPr lang="en-US" altLang="zh-CN" dirty="0">
                <a:sym typeface="+mn-ea"/>
              </a:rPr>
              <a:t>2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705" y="981075"/>
            <a:ext cx="8418195" cy="5400675"/>
          </a:xfrm>
        </p:spPr>
        <p:txBody>
          <a:bodyPr/>
          <a:p>
            <a:r>
              <a:rPr lang="en-US" altLang="zh-CN"/>
              <a:t> Frontier</a:t>
            </a:r>
            <a:r>
              <a:rPr lang="zh-CN" altLang="en-US"/>
              <a:t>（美国，第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机构：橡树岭国家实验室（</a:t>
            </a:r>
            <a:r>
              <a:rPr lang="en-US" altLang="zh-CN"/>
              <a:t>ORNL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性能：</a:t>
            </a:r>
            <a:r>
              <a:rPr lang="en-US" altLang="zh-CN"/>
              <a:t>1.353 Eflop/s</a:t>
            </a:r>
            <a:r>
              <a:rPr lang="zh-CN" altLang="en-US"/>
              <a:t>（</a:t>
            </a:r>
            <a:r>
              <a:rPr lang="en-US" altLang="zh-CN"/>
              <a:t>Rmax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架构：</a:t>
            </a:r>
            <a:r>
              <a:rPr lang="en-US" altLang="zh-CN"/>
              <a:t>HPE Cray EX + AMD EPYC + MI250X GPU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总核数：</a:t>
            </a:r>
            <a:r>
              <a:rPr lang="en-US" altLang="zh-CN"/>
              <a:t>9,066,176 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内存：</a:t>
            </a:r>
            <a:r>
              <a:rPr lang="en-US" altLang="zh-CN"/>
              <a:t>4.6PB DDR4 + 4.6PB HBM2e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操作系统：</a:t>
            </a:r>
            <a:r>
              <a:rPr lang="en-US" altLang="zh-CN"/>
              <a:t>HPE Cray OS</a:t>
            </a:r>
            <a:r>
              <a:rPr lang="zh-CN" altLang="en-US"/>
              <a:t>（</a:t>
            </a:r>
            <a:r>
              <a:rPr lang="en-US" altLang="zh-CN"/>
              <a:t>Linux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互联：</a:t>
            </a:r>
            <a:r>
              <a:rPr lang="en-US" altLang="zh-CN"/>
              <a:t>HPE Slingshot-11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功耗：</a:t>
            </a:r>
            <a:r>
              <a:rPr lang="en-US" altLang="zh-CN"/>
              <a:t>24.61 MW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  <p:transition spd="med">
    <p:pull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 dirty="0">
                <a:sym typeface="+mn-ea"/>
              </a:rPr>
              <a:t>Top500</a:t>
            </a:r>
            <a:r>
              <a:rPr lang="zh-CN" altLang="en-US" dirty="0">
                <a:sym typeface="+mn-ea"/>
              </a:rPr>
              <a:t>排名第</a:t>
            </a:r>
            <a:r>
              <a:rPr lang="en-US" altLang="zh-CN" dirty="0">
                <a:sym typeface="+mn-ea"/>
              </a:rPr>
              <a:t>3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705" y="981075"/>
            <a:ext cx="8418195" cy="5400675"/>
          </a:xfrm>
        </p:spPr>
        <p:txBody>
          <a:bodyPr/>
          <a:p>
            <a:r>
              <a:rPr lang="en-US" altLang="zh-CN"/>
              <a:t> Aurora</a:t>
            </a:r>
            <a:r>
              <a:rPr lang="zh-CN" altLang="en-US"/>
              <a:t>（美国，第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机构：阿贡国家实验室（</a:t>
            </a:r>
            <a:r>
              <a:rPr lang="en-US" altLang="zh-CN"/>
              <a:t>ANL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性能：</a:t>
            </a:r>
            <a:r>
              <a:rPr lang="en-US" altLang="zh-CN"/>
              <a:t>1.012 Eflop/s</a:t>
            </a:r>
            <a:r>
              <a:rPr lang="zh-CN" altLang="en-US"/>
              <a:t>（</a:t>
            </a:r>
            <a:r>
              <a:rPr lang="en-US" altLang="zh-CN"/>
              <a:t>Rmax</a:t>
            </a:r>
            <a:r>
              <a:rPr lang="zh-CN" altLang="en-US"/>
              <a:t>）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架构：</a:t>
            </a:r>
            <a:r>
              <a:rPr lang="en-US" altLang="zh-CN"/>
              <a:t>HPE Cray EX + Intel Xeon + Ponte Vecchio GPU</a:t>
            </a:r>
            <a:endParaRPr lang="en-US" altLang="zh-CN"/>
          </a:p>
          <a:p>
            <a:r>
              <a:rPr lang="en-US" altLang="zh-CN"/>
              <a:t>-</a:t>
            </a:r>
            <a:r>
              <a:rPr lang="zh-CN" altLang="en-US"/>
              <a:t>处理器：</a:t>
            </a:r>
            <a:r>
              <a:rPr lang="en-US" altLang="zh-CN"/>
              <a:t>Intel Xeon Max CPU + Intel Data Center GPU Max 1550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总核数：</a:t>
            </a:r>
            <a:r>
              <a:rPr lang="en-US" altLang="zh-CN"/>
              <a:t>9,264,128 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内存：约</a:t>
            </a:r>
            <a:r>
              <a:rPr lang="en-US" altLang="zh-CN"/>
              <a:t>10PB</a:t>
            </a:r>
            <a:r>
              <a:rPr lang="zh-CN" altLang="en-US"/>
              <a:t>（</a:t>
            </a:r>
            <a:r>
              <a:rPr lang="en-US" altLang="zh-CN"/>
              <a:t>DDR5+HBM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操作系统：</a:t>
            </a:r>
            <a:r>
              <a:rPr lang="en-US" altLang="zh-CN"/>
              <a:t>HPE Cray OS</a:t>
            </a:r>
            <a:r>
              <a:rPr lang="zh-CN" altLang="en-US"/>
              <a:t>（</a:t>
            </a:r>
            <a:r>
              <a:rPr lang="en-US" altLang="zh-CN"/>
              <a:t>Linux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互联：</a:t>
            </a:r>
            <a:r>
              <a:rPr lang="en-US" altLang="zh-CN"/>
              <a:t>HPE Slingshot-11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功耗：</a:t>
            </a:r>
            <a:r>
              <a:rPr lang="en-US" altLang="zh-CN"/>
              <a:t>38.70 MW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  <p:transition spd="med">
    <p:pull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Moore’s Law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3335338" y="4589462"/>
            <a:ext cx="5629275" cy="1889126"/>
          </a:xfrm>
        </p:spPr>
        <p:txBody>
          <a:bodyPr/>
          <a:lstStyle/>
          <a:p>
            <a:r>
              <a:rPr lang="zh-CN" altLang="en-US" sz="2800" dirty="0"/>
              <a:t>摩尔定律：集成电路芯片中晶体管数量大体上每</a:t>
            </a:r>
            <a:r>
              <a:rPr lang="en-US" altLang="zh-CN" sz="2800" dirty="0"/>
              <a:t>2</a:t>
            </a:r>
            <a:r>
              <a:rPr lang="zh-CN" altLang="en-US" sz="2800" dirty="0"/>
              <a:t>年翻一番</a:t>
            </a:r>
            <a:endParaRPr lang="zh-CN" altLang="en-US" sz="2800" dirty="0"/>
          </a:p>
          <a:p>
            <a:endParaRPr lang="zh-CN" altLang="en-US" dirty="0"/>
          </a:p>
        </p:txBody>
      </p:sp>
      <p:pic>
        <p:nvPicPr>
          <p:cNvPr id="52229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1276350"/>
            <a:ext cx="2949575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38" y="1276350"/>
            <a:ext cx="5614987" cy="333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1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2447925"/>
            <a:ext cx="2100262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26690">
    <p:pull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Moore’s Law</a:t>
            </a:r>
            <a:r>
              <a:rPr lang="en-US" altLang="zh-CN" dirty="0"/>
              <a:t>: 50</a:t>
            </a:r>
            <a:r>
              <a:rPr lang="zh-CN" altLang="en-US" dirty="0"/>
              <a:t>年</a:t>
            </a:r>
            <a:endParaRPr lang="zh-CN" altLang="en-US" dirty="0"/>
          </a:p>
        </p:txBody>
      </p:sp>
      <p:pic>
        <p:nvPicPr>
          <p:cNvPr id="53252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1050925"/>
            <a:ext cx="8083550" cy="573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3"/>
          <p:cNvSpPr txBox="1"/>
          <p:nvPr/>
        </p:nvSpPr>
        <p:spPr>
          <a:xfrm>
            <a:off x="7312025" y="5157788"/>
            <a:ext cx="1346200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zh-CN" altLang="en-US" sz="1805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S PGothic" panose="020B0600070205080204" pitchFamily="-96" charset="-128"/>
              </a:rPr>
              <a:t>采样</a:t>
            </a:r>
            <a:r>
              <a:rPr kumimoji="0" lang="en-US" sz="1805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S PGothic" panose="020B0600070205080204" pitchFamily="-96" charset="-128"/>
              </a:rPr>
              <a:t>129</a:t>
            </a:r>
            <a:r>
              <a:rPr kumimoji="0" lang="zh-CN" altLang="en-US" sz="1805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S PGothic" panose="020B0600070205080204" pitchFamily="-96" charset="-128"/>
              </a:rPr>
              <a:t>块</a:t>
            </a:r>
            <a:endParaRPr kumimoji="0" lang="en-US" altLang="zh-CN" sz="1805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MS PGothic" panose="020B0600070205080204" pitchFamily="-96" charset="-128"/>
            </a:endParaRPr>
          </a:p>
          <a:p>
            <a:pPr algn="ctr">
              <a:defRPr/>
            </a:pPr>
            <a:r>
              <a:rPr kumimoji="0" lang="zh-CN" altLang="en-US" sz="1805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S PGothic" panose="020B0600070205080204" pitchFamily="-96" charset="-128"/>
              </a:rPr>
              <a:t>处理器芯片</a:t>
            </a:r>
            <a:endParaRPr kumimoji="0" lang="en-US" sz="1805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MS PGothic" panose="020B0600070205080204" pitchFamily="-96" charset="-128"/>
            </a:endParaRPr>
          </a:p>
        </p:txBody>
      </p:sp>
    </p:spTree>
  </p:cSld>
  <p:clrMapOvr>
    <a:masterClrMapping/>
  </p:clrMapOvr>
  <p:transition spd="med" advTm="41277">
    <p:pull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2"/>
          <p:cNvSpPr/>
          <p:nvPr/>
        </p:nvSpPr>
        <p:spPr>
          <a:xfrm>
            <a:off x="1524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2021-2025摩尔定律 vs 实际芯片发展对比</a:t>
            </a:r>
            <a:endParaRPr lang="en-US" sz="3200" b="1" i="0" u="none" strike="noStrike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177165" y="1397000"/>
            <a:ext cx="3980815" cy="3468370"/>
          </a:xfrm>
          <a:prstGeom prst="roundRect">
            <a:avLst>
              <a:gd name="adj" fmla="val 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00" y="1587500"/>
            <a:ext cx="304800" cy="304800"/>
          </a:xfrm>
          <a:prstGeom prst="rect">
            <a:avLst/>
          </a:prstGeom>
        </p:spPr>
      </p:pic>
      <p:sp>
        <p:nvSpPr>
          <p:cNvPr id="7" name="AutoShape 5"/>
          <p:cNvSpPr/>
          <p:nvPr/>
        </p:nvSpPr>
        <p:spPr>
          <a:xfrm>
            <a:off x="558800" y="1549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传统摩尔定律预期 (2021-2025)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6"/>
          <p:cNvCxnSpPr/>
          <p:nvPr/>
        </p:nvCxnSpPr>
        <p:spPr>
          <a:xfrm>
            <a:off x="177800" y="1968500"/>
            <a:ext cx="3709035" cy="1333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800" y="2159000"/>
            <a:ext cx="254000" cy="254000"/>
          </a:xfrm>
          <a:prstGeom prst="rect">
            <a:avLst/>
          </a:prstGeom>
        </p:spPr>
      </p:pic>
      <p:sp>
        <p:nvSpPr>
          <p:cNvPr id="10" name="AutoShape 8"/>
          <p:cNvSpPr/>
          <p:nvPr/>
        </p:nvSpPr>
        <p:spPr>
          <a:xfrm>
            <a:off x="558800" y="2133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 18-24 个月晶体管密度翻倍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800" y="2667000"/>
            <a:ext cx="254000" cy="254000"/>
          </a:xfrm>
          <a:prstGeom prst="rect">
            <a:avLst/>
          </a:prstGeom>
        </p:spPr>
      </p:pic>
      <p:sp>
        <p:nvSpPr>
          <p:cNvPr id="12" name="AutoShape 10"/>
          <p:cNvSpPr/>
          <p:nvPr/>
        </p:nvSpPr>
        <p:spPr>
          <a:xfrm>
            <a:off x="558800" y="2641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随密度增加而持续下降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7800" y="3175000"/>
            <a:ext cx="254000" cy="254000"/>
          </a:xfrm>
          <a:prstGeom prst="rect">
            <a:avLst/>
          </a:prstGeom>
        </p:spPr>
      </p:pic>
      <p:sp>
        <p:nvSpPr>
          <p:cNvPr id="14" name="AutoShape 12"/>
          <p:cNvSpPr/>
          <p:nvPr/>
        </p:nvSpPr>
        <p:spPr>
          <a:xfrm>
            <a:off x="558800" y="3149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依赖制程微缩与单核频率提升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7800" y="3683000"/>
            <a:ext cx="254000" cy="254000"/>
          </a:xfrm>
          <a:prstGeom prst="rect">
            <a:avLst/>
          </a:prstGeom>
        </p:spPr>
      </p:pic>
      <p:sp>
        <p:nvSpPr>
          <p:cNvPr id="16" name="AutoShape 14"/>
          <p:cNvSpPr/>
          <p:nvPr/>
        </p:nvSpPr>
        <p:spPr>
          <a:xfrm>
            <a:off x="558800" y="3657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单一维度缩小晶体管尺寸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7800" y="4191000"/>
            <a:ext cx="254000" cy="254000"/>
          </a:xfrm>
          <a:prstGeom prst="rect">
            <a:avLst/>
          </a:prstGeom>
        </p:spPr>
      </p:pic>
      <p:sp>
        <p:nvSpPr>
          <p:cNvPr id="18" name="AutoShape 16"/>
          <p:cNvSpPr/>
          <p:nvPr/>
        </p:nvSpPr>
        <p:spPr>
          <a:xfrm>
            <a:off x="558800" y="4165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遵循登纳德缩放，功耗随尺寸降低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7"/>
          <p:cNvSpPr/>
          <p:nvPr/>
        </p:nvSpPr>
        <p:spPr>
          <a:xfrm>
            <a:off x="4495800" y="1397000"/>
            <a:ext cx="4378325" cy="3459480"/>
          </a:xfrm>
          <a:prstGeom prst="roundRect">
            <a:avLst>
              <a:gd name="adj" fmla="val 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45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20" name="Picture 1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95800" y="1587500"/>
            <a:ext cx="304800" cy="304800"/>
          </a:xfrm>
          <a:prstGeom prst="rect">
            <a:avLst/>
          </a:prstGeom>
        </p:spPr>
      </p:pic>
      <p:sp>
        <p:nvSpPr>
          <p:cNvPr id="21" name="AutoShape 19"/>
          <p:cNvSpPr/>
          <p:nvPr/>
        </p:nvSpPr>
        <p:spPr>
          <a:xfrm>
            <a:off x="4876800" y="1549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近五年实际发展现状 (2021-2026)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0"/>
          <p:cNvCxnSpPr/>
          <p:nvPr/>
        </p:nvCxnSpPr>
        <p:spPr>
          <a:xfrm>
            <a:off x="4495800" y="1968500"/>
            <a:ext cx="4344086" cy="130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45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5800" y="2159000"/>
            <a:ext cx="254000" cy="254000"/>
          </a:xfrm>
          <a:prstGeom prst="rect">
            <a:avLst/>
          </a:prstGeom>
        </p:spPr>
      </p:pic>
      <p:sp>
        <p:nvSpPr>
          <p:cNvPr id="24" name="AutoShape 22"/>
          <p:cNvSpPr/>
          <p:nvPr/>
        </p:nvSpPr>
        <p:spPr>
          <a:xfrm>
            <a:off x="4876800" y="2133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拉长至 24-36 个月，逼近物理极限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5800" y="2667000"/>
            <a:ext cx="254000" cy="254000"/>
          </a:xfrm>
          <a:prstGeom prst="rect">
            <a:avLst/>
          </a:prstGeom>
        </p:spPr>
      </p:pic>
      <p:sp>
        <p:nvSpPr>
          <p:cNvPr id="26" name="AutoShape 24"/>
          <p:cNvSpPr/>
          <p:nvPr/>
        </p:nvSpPr>
        <p:spPr>
          <a:xfrm>
            <a:off x="4876800" y="2641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3nm/2nm 研发制造成本急剧上升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5800" y="3175000"/>
            <a:ext cx="254000" cy="254000"/>
          </a:xfrm>
          <a:prstGeom prst="rect">
            <a:avLst/>
          </a:prstGeom>
        </p:spPr>
      </p:pic>
      <p:sp>
        <p:nvSpPr>
          <p:cNvPr id="28" name="AutoShape 26"/>
          <p:cNvSpPr/>
          <p:nvPr/>
        </p:nvSpPr>
        <p:spPr>
          <a:xfrm>
            <a:off x="4876800" y="3149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转向架构优化、异构计算与先进封装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95800" y="3683000"/>
            <a:ext cx="254000" cy="254000"/>
          </a:xfrm>
          <a:prstGeom prst="rect">
            <a:avLst/>
          </a:prstGeom>
        </p:spPr>
      </p:pic>
      <p:sp>
        <p:nvSpPr>
          <p:cNvPr id="30" name="AutoShape 28"/>
          <p:cNvSpPr/>
          <p:nvPr/>
        </p:nvSpPr>
        <p:spPr>
          <a:xfrm>
            <a:off x="4876800" y="3657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Chiplet、3D堆叠、HBM及专用加速器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1" name="Picture 2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95800" y="4191000"/>
            <a:ext cx="254000" cy="254000"/>
          </a:xfrm>
          <a:prstGeom prst="rect">
            <a:avLst/>
          </a:prstGeom>
        </p:spPr>
      </p:pic>
      <p:sp>
        <p:nvSpPr>
          <p:cNvPr id="32" name="AutoShape 30"/>
          <p:cNvSpPr/>
          <p:nvPr/>
        </p:nvSpPr>
        <p:spPr>
          <a:xfrm>
            <a:off x="4876800" y="4165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驱动：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登纳德缩放失效，聚焦系统级能效比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4" name="Picture 3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7800" y="5410200"/>
            <a:ext cx="304800" cy="304800"/>
          </a:xfrm>
          <a:prstGeom prst="rect">
            <a:avLst/>
          </a:prstGeom>
        </p:spPr>
      </p:pic>
      <p:sp>
        <p:nvSpPr>
          <p:cNvPr id="35" name="AutoShape 33"/>
          <p:cNvSpPr/>
          <p:nvPr/>
        </p:nvSpPr>
        <p:spPr>
          <a:xfrm>
            <a:off x="622300" y="5359400"/>
            <a:ext cx="821309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总结：严格版摩尔定律已放缓，但“超越摩尔定律”的精神内核延续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虽然物理极限和成本压力导致传统路径受阻，但通过多元化技术路径（如Chiplet、异构计算），计算性能与性价比仍在持续提升。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6" name="Picture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298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  <p:transition spd="med">
    <p:pull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计算机的性能指标（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6019" name="内容占位符 2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82000" cy="54102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吞吐量：表征一台计算机在某一时间间隔内能够处理的</a:t>
            </a:r>
            <a:r>
              <a:rPr lang="zh-CN" altLang="en-US" dirty="0">
                <a:cs typeface="楷体_GB2312" pitchFamily="49" charset="-122"/>
              </a:rPr>
              <a:t>信息量，单位是字节</a:t>
            </a:r>
            <a:r>
              <a:rPr lang="en-US" altLang="zh-CN" dirty="0">
                <a:cs typeface="楷体_GB2312" pitchFamily="49" charset="-122"/>
              </a:rPr>
              <a:t>/</a:t>
            </a:r>
            <a:r>
              <a:rPr lang="zh-CN" altLang="en-US" dirty="0">
                <a:cs typeface="楷体_GB2312" pitchFamily="49" charset="-122"/>
              </a:rPr>
              <a:t>秒（</a:t>
            </a:r>
            <a:r>
              <a:rPr lang="en-US" altLang="zh-CN" dirty="0">
                <a:cs typeface="楷体_GB2312" pitchFamily="49" charset="-122"/>
              </a:rPr>
              <a:t>B/S</a:t>
            </a:r>
            <a:r>
              <a:rPr lang="zh-CN" altLang="en-US" dirty="0">
                <a:cs typeface="楷体_GB2312" pitchFamily="49" charset="-122"/>
              </a:rPr>
              <a:t>）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响应时间：表征从输入有效到系统产生响应之间的时间度量，用时间单位来度量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利用率：在给定的时间间隔内系统被实际使用的时间所占的比率，用百分比表示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处理机字长：指处理机运算器中一次能够完成二进制数运算的位数。如</a:t>
            </a:r>
            <a:r>
              <a:rPr lang="en-US" altLang="zh-CN" sz="2800" dirty="0">
                <a:cs typeface="楷体_GB2312" pitchFamily="49" charset="-122"/>
              </a:rPr>
              <a:t>32</a:t>
            </a:r>
            <a:r>
              <a:rPr lang="zh-CN" altLang="en-US" sz="2800" dirty="0">
                <a:cs typeface="楷体_GB2312" pitchFamily="49" charset="-122"/>
              </a:rPr>
              <a:t>位、</a:t>
            </a:r>
            <a:r>
              <a:rPr lang="en-US" altLang="zh-CN" sz="2800" dirty="0">
                <a:cs typeface="楷体_GB2312" pitchFamily="49" charset="-122"/>
              </a:rPr>
              <a:t>64</a:t>
            </a:r>
            <a:r>
              <a:rPr lang="zh-CN" altLang="en-US" sz="2800" dirty="0">
                <a:cs typeface="楷体_GB2312" pitchFamily="49" charset="-122"/>
              </a:rPr>
              <a:t>位等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总线宽度：通常指处理器与存储器之间进行互连</a:t>
            </a:r>
            <a:r>
              <a:rPr lang="zh-CN" altLang="en-US" dirty="0">
                <a:cs typeface="楷体_GB2312" pitchFamily="49" charset="-122"/>
              </a:rPr>
              <a:t>用于传送数据</a:t>
            </a:r>
            <a:r>
              <a:rPr lang="zh-CN" altLang="en-US" sz="2800" dirty="0">
                <a:cs typeface="楷体_GB2312" pitchFamily="49" charset="-122"/>
              </a:rPr>
              <a:t>的信号</a:t>
            </a:r>
            <a:r>
              <a:rPr lang="zh-CN" altLang="en-US" dirty="0">
                <a:cs typeface="楷体_GB2312" pitchFamily="49" charset="-122"/>
              </a:rPr>
              <a:t>线</a:t>
            </a:r>
            <a:r>
              <a:rPr lang="zh-CN" altLang="en-US" sz="2800" dirty="0">
                <a:cs typeface="楷体_GB2312" pitchFamily="49" charset="-122"/>
              </a:rPr>
              <a:t>数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endParaRPr lang="zh-CN" altLang="en-US" dirty="0"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110608">
    <p:pull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计算机的性能指标（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8067" name="内容占位符 2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82000" cy="54102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存储器容量：存储器中所有存储单元的总数。通常用</a:t>
            </a:r>
            <a:r>
              <a:rPr lang="en-US" altLang="zh-CN" sz="2800" dirty="0">
                <a:cs typeface="楷体_GB2312" pitchFamily="49" charset="-122"/>
              </a:rPr>
              <a:t>KB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MB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GB</a:t>
            </a:r>
            <a:r>
              <a:rPr lang="zh-CN" altLang="en-US" sz="2800" dirty="0">
                <a:cs typeface="楷体_GB2312" pitchFamily="49" charset="-122"/>
              </a:rPr>
              <a:t>和</a:t>
            </a:r>
            <a:r>
              <a:rPr lang="en-US" altLang="zh-CN" sz="2800" dirty="0">
                <a:cs typeface="楷体_GB2312" pitchFamily="49" charset="-122"/>
              </a:rPr>
              <a:t>TB</a:t>
            </a:r>
            <a:r>
              <a:rPr lang="zh-CN" altLang="en-US" sz="2800" dirty="0">
                <a:cs typeface="楷体_GB2312" pitchFamily="49" charset="-122"/>
              </a:rPr>
              <a:t>表示。</a:t>
            </a:r>
            <a:endParaRPr lang="en-US" altLang="zh-CN" sz="2800" dirty="0">
              <a:cs typeface="楷体_GB2312" pitchFamily="49" charset="-122"/>
            </a:endParaRPr>
          </a:p>
          <a:p>
            <a:pPr lvl="1"/>
            <a:r>
              <a:rPr lang="zh-CN" altLang="zh-CN" dirty="0"/>
              <a:t>其中K=2</a:t>
            </a:r>
            <a:r>
              <a:rPr lang="zh-CN" altLang="zh-CN" baseline="30000" dirty="0"/>
              <a:t>10</a:t>
            </a:r>
            <a:r>
              <a:rPr lang="zh-CN" altLang="zh-CN" dirty="0"/>
              <a:t>，M=2</a:t>
            </a:r>
            <a:r>
              <a:rPr lang="zh-CN" altLang="zh-CN" baseline="30000" dirty="0"/>
              <a:t>20</a:t>
            </a:r>
            <a:r>
              <a:rPr lang="zh-CN" altLang="zh-CN" dirty="0"/>
              <a:t>，G=2</a:t>
            </a:r>
            <a:r>
              <a:rPr lang="zh-CN" altLang="zh-CN" baseline="30000" dirty="0"/>
              <a:t>30</a:t>
            </a:r>
            <a:r>
              <a:rPr lang="zh-CN" altLang="zh-CN" dirty="0"/>
              <a:t>，T=2</a:t>
            </a:r>
            <a:r>
              <a:rPr lang="zh-CN" altLang="zh-CN" baseline="30000" dirty="0"/>
              <a:t>40</a:t>
            </a:r>
            <a:r>
              <a:rPr lang="zh-CN" altLang="zh-CN" dirty="0"/>
              <a:t>，</a:t>
            </a:r>
            <a:r>
              <a:rPr lang="en-US" altLang="zh-CN" dirty="0">
                <a:cs typeface="楷体_GB2312" pitchFamily="49" charset="-122"/>
              </a:rPr>
              <a:t> B</a:t>
            </a:r>
            <a:r>
              <a:rPr lang="zh-CN" altLang="en-US" dirty="0">
                <a:cs typeface="楷体_GB2312" pitchFamily="49" charset="-122"/>
              </a:rPr>
              <a:t>表示</a:t>
            </a:r>
            <a:r>
              <a:rPr lang="en-US" altLang="zh-CN" dirty="0">
                <a:cs typeface="楷体_GB2312" pitchFamily="49" charset="-122"/>
              </a:rPr>
              <a:t>Byte </a:t>
            </a:r>
            <a:r>
              <a:rPr lang="zh-CN" altLang="zh-CN" dirty="0"/>
              <a:t>=</a:t>
            </a:r>
            <a:r>
              <a:rPr lang="en-US" altLang="zh-CN" dirty="0"/>
              <a:t> </a:t>
            </a:r>
            <a:r>
              <a:rPr lang="zh-CN" altLang="zh-CN" dirty="0"/>
              <a:t>8位</a:t>
            </a:r>
            <a:endParaRPr lang="en-US" altLang="zh-CN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存储器带宽：单位时间内从存储器读出的字节数，一般用字节数</a:t>
            </a:r>
            <a:r>
              <a:rPr lang="en-US" altLang="zh-CN" sz="2800" dirty="0">
                <a:cs typeface="楷体_GB2312" pitchFamily="49" charset="-122"/>
              </a:rPr>
              <a:t>/</a:t>
            </a:r>
            <a:r>
              <a:rPr lang="zh-CN" altLang="en-US" sz="2800" dirty="0">
                <a:cs typeface="楷体_GB2312" pitchFamily="49" charset="-122"/>
              </a:rPr>
              <a:t>秒表示。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/>
            <a:r>
              <a:rPr lang="zh-CN" altLang="en-US" sz="2800" dirty="0">
                <a:cs typeface="楷体_GB2312" pitchFamily="49" charset="-122"/>
              </a:rPr>
              <a:t>主频</a:t>
            </a:r>
            <a:r>
              <a:rPr lang="en-US" altLang="zh-CN" sz="2800" dirty="0">
                <a:cs typeface="楷体_GB2312" pitchFamily="49" charset="-122"/>
              </a:rPr>
              <a:t>/</a:t>
            </a:r>
            <a:r>
              <a:rPr lang="zh-CN" altLang="en-US" sz="2800" dirty="0">
                <a:cs typeface="楷体_GB2312" pitchFamily="49" charset="-122"/>
              </a:rPr>
              <a:t>时钟周期：</a:t>
            </a:r>
            <a:r>
              <a:rPr lang="en-US" altLang="zh-CN" sz="2800" dirty="0">
                <a:cs typeface="楷体_GB2312" pitchFamily="49" charset="-122"/>
              </a:rPr>
              <a:t>CPU</a:t>
            </a:r>
            <a:r>
              <a:rPr lang="zh-CN" altLang="en-US" sz="2800" dirty="0">
                <a:cs typeface="楷体_GB2312" pitchFamily="49" charset="-122"/>
              </a:rPr>
              <a:t>的工作节拍受主时钟控制，主时钟不断产生固定频率的时钟，主时钟的频率</a:t>
            </a:r>
            <a:r>
              <a:rPr lang="en-US" altLang="zh-CN" sz="2800" dirty="0">
                <a:cs typeface="楷体_GB2312" pitchFamily="49" charset="-122"/>
              </a:rPr>
              <a:t>f </a:t>
            </a:r>
            <a:r>
              <a:rPr lang="zh-CN" altLang="en-US" sz="2800" dirty="0">
                <a:cs typeface="楷体_GB2312" pitchFamily="49" charset="-122"/>
              </a:rPr>
              <a:t>称为</a:t>
            </a:r>
            <a:r>
              <a:rPr lang="en-US" altLang="zh-CN" sz="2800" dirty="0">
                <a:cs typeface="楷体_GB2312" pitchFamily="49" charset="-122"/>
              </a:rPr>
              <a:t>CPU</a:t>
            </a:r>
            <a:r>
              <a:rPr lang="zh-CN" altLang="en-US" sz="2800" dirty="0">
                <a:cs typeface="楷体_GB2312" pitchFamily="49" charset="-122"/>
              </a:rPr>
              <a:t>的主频。度量单位是</a:t>
            </a:r>
            <a:r>
              <a:rPr lang="en-US" altLang="zh-CN" sz="2800" dirty="0">
                <a:cs typeface="楷体_GB2312" pitchFamily="49" charset="-122"/>
              </a:rPr>
              <a:t>MHz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GHz</a:t>
            </a:r>
            <a:endParaRPr lang="en-US" altLang="zh-CN" sz="2800" dirty="0">
              <a:cs typeface="楷体_GB2312" pitchFamily="49" charset="-122"/>
            </a:endParaRPr>
          </a:p>
          <a:p>
            <a:pPr eaLnBrk="1" hangingPunct="1">
              <a:buFont typeface="Wingdings 2" charset="2"/>
              <a:buNone/>
            </a:pPr>
            <a:r>
              <a:rPr lang="en-US" altLang="zh-CN" sz="2800" dirty="0">
                <a:cs typeface="楷体_GB2312" pitchFamily="49" charset="-122"/>
              </a:rPr>
              <a:t>   </a:t>
            </a:r>
            <a:r>
              <a:rPr lang="zh-CN" altLang="en-US" sz="2800" dirty="0">
                <a:cs typeface="楷体_GB2312" pitchFamily="49" charset="-122"/>
              </a:rPr>
              <a:t>主频的倒数称为</a:t>
            </a:r>
            <a:r>
              <a:rPr lang="en-US" altLang="zh-CN" sz="2800" dirty="0">
                <a:cs typeface="楷体_GB2312" pitchFamily="49" charset="-122"/>
              </a:rPr>
              <a:t>CPU</a:t>
            </a:r>
            <a:r>
              <a:rPr lang="zh-CN" altLang="en-US" sz="2800" dirty="0">
                <a:cs typeface="楷体_GB2312" pitchFamily="49" charset="-122"/>
              </a:rPr>
              <a:t>时钟周期</a:t>
            </a:r>
            <a:r>
              <a:rPr lang="en-US" altLang="zh-CN" sz="2800" dirty="0">
                <a:cs typeface="楷体_GB2312" pitchFamily="49" charset="-122"/>
              </a:rPr>
              <a:t>T</a:t>
            </a:r>
            <a:r>
              <a:rPr lang="zh-CN" altLang="en-US" sz="2800" dirty="0">
                <a:cs typeface="楷体_GB2312" pitchFamily="49" charset="-122"/>
              </a:rPr>
              <a:t>，</a:t>
            </a:r>
            <a:r>
              <a:rPr lang="en-US" altLang="zh-CN" sz="2800" dirty="0">
                <a:cs typeface="楷体_GB2312" pitchFamily="49" charset="-122"/>
              </a:rPr>
              <a:t>T=1/f</a:t>
            </a:r>
            <a:r>
              <a:rPr lang="zh-CN" altLang="en-US" sz="2800" dirty="0">
                <a:cs typeface="楷体_GB2312" pitchFamily="49" charset="-122"/>
              </a:rPr>
              <a:t>，度量单位是微秒、纳秒</a:t>
            </a:r>
            <a:endParaRPr lang="zh-CN" altLang="en-US" sz="2800" dirty="0"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74850">
    <p:pull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计算机的性能指标（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9091" name="内容占位符 2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82000" cy="5410200"/>
          </a:xfrm>
        </p:spPr>
        <p:txBody>
          <a:bodyPr/>
          <a:lstStyle/>
          <a:p>
            <a:r>
              <a:rPr lang="en-US" altLang="zh-CN" sz="2400" dirty="0">
                <a:cs typeface="楷体_GB2312" pitchFamily="49" charset="-122"/>
              </a:rPr>
              <a:t>CPI</a:t>
            </a:r>
            <a:r>
              <a:rPr lang="zh-CN" altLang="en-US" sz="2400" dirty="0">
                <a:cs typeface="楷体_GB2312" pitchFamily="49" charset="-122"/>
              </a:rPr>
              <a:t>（</a:t>
            </a:r>
            <a:r>
              <a:rPr lang="en-US" altLang="zh-CN" sz="2400" dirty="0">
                <a:cs typeface="楷体_GB2312" pitchFamily="49" charset="-122"/>
              </a:rPr>
              <a:t>Clock Cycles Per Instruction</a:t>
            </a:r>
            <a:r>
              <a:rPr lang="zh-CN" altLang="en-US" sz="2400" dirty="0">
                <a:cs typeface="楷体_GB2312" pitchFamily="49" charset="-122"/>
              </a:rPr>
              <a:t>）：表示每条指令执行所需要的时钟周期数，或每条指令执行所需的平均时钟周期数</a:t>
            </a:r>
            <a:endParaRPr lang="en-US" altLang="zh-CN" sz="2400" dirty="0">
              <a:cs typeface="楷体_GB2312" pitchFamily="49" charset="-122"/>
            </a:endParaRPr>
          </a:p>
          <a:p>
            <a:pPr>
              <a:buFont typeface="Wingdings 2" charset="2"/>
              <a:buNone/>
            </a:pPr>
            <a:r>
              <a:rPr lang="en-US" altLang="zh-CN" dirty="0">
                <a:cs typeface="楷体_GB2312" pitchFamily="49" charset="-122"/>
              </a:rPr>
              <a:t>   </a:t>
            </a:r>
            <a:r>
              <a:rPr lang="en-US" altLang="zh-CN" sz="2400" dirty="0">
                <a:cs typeface="楷体_GB2312" pitchFamily="49" charset="-122"/>
              </a:rPr>
              <a:t>CPI=</a:t>
            </a:r>
            <a:r>
              <a:rPr lang="zh-CN" altLang="en-US" sz="2400" dirty="0">
                <a:cs typeface="楷体_GB2312" pitchFamily="49" charset="-122"/>
              </a:rPr>
              <a:t>程序执行所需的</a:t>
            </a:r>
            <a:r>
              <a:rPr lang="en-US" altLang="zh-CN" sz="2400" dirty="0">
                <a:cs typeface="楷体_GB2312" pitchFamily="49" charset="-122"/>
              </a:rPr>
              <a:t>CPU</a:t>
            </a:r>
            <a:r>
              <a:rPr lang="zh-CN" altLang="en-US" sz="2400" dirty="0">
                <a:cs typeface="楷体_GB2312" pitchFamily="49" charset="-122"/>
              </a:rPr>
              <a:t>时钟周期总数</a:t>
            </a:r>
            <a:r>
              <a:rPr lang="en-US" altLang="zh-CN" sz="2400" dirty="0">
                <a:cs typeface="楷体_GB2312" pitchFamily="49" charset="-122"/>
              </a:rPr>
              <a:t>÷</a:t>
            </a:r>
            <a:r>
              <a:rPr lang="zh-CN" altLang="en-US" sz="2400" dirty="0">
                <a:cs typeface="楷体_GB2312" pitchFamily="49" charset="-122"/>
              </a:rPr>
              <a:t>程序的指令总数</a:t>
            </a:r>
            <a:endParaRPr lang="en-US" altLang="zh-CN" sz="2400" dirty="0">
              <a:cs typeface="楷体_GB2312" pitchFamily="49" charset="-122"/>
            </a:endParaRPr>
          </a:p>
          <a:p>
            <a:r>
              <a:rPr lang="en-US" altLang="zh-CN" sz="2400" dirty="0">
                <a:cs typeface="楷体_GB2312" pitchFamily="49" charset="-122"/>
              </a:rPr>
              <a:t>CPU</a:t>
            </a:r>
            <a:r>
              <a:rPr lang="zh-CN" altLang="en-US" sz="2400" dirty="0">
                <a:cs typeface="楷体_GB2312" pitchFamily="49" charset="-122"/>
              </a:rPr>
              <a:t>执行时间：表示</a:t>
            </a:r>
            <a:r>
              <a:rPr lang="en-US" altLang="zh-CN" sz="2400" dirty="0">
                <a:cs typeface="楷体_GB2312" pitchFamily="49" charset="-122"/>
              </a:rPr>
              <a:t>CPU</a:t>
            </a:r>
            <a:r>
              <a:rPr lang="zh-CN" altLang="en-US" sz="2400" dirty="0">
                <a:cs typeface="楷体_GB2312" pitchFamily="49" charset="-122"/>
              </a:rPr>
              <a:t>执行一段程序所占用的</a:t>
            </a:r>
            <a:r>
              <a:rPr lang="en-US" altLang="zh-CN" sz="2400" dirty="0">
                <a:cs typeface="楷体_GB2312" pitchFamily="49" charset="-122"/>
              </a:rPr>
              <a:t>CPU</a:t>
            </a:r>
            <a:r>
              <a:rPr lang="zh-CN" altLang="en-US" sz="2400" dirty="0">
                <a:cs typeface="楷体_GB2312" pitchFamily="49" charset="-122"/>
              </a:rPr>
              <a:t>时间</a:t>
            </a:r>
            <a:endParaRPr lang="en-US" altLang="zh-CN" sz="2400" dirty="0">
              <a:cs typeface="楷体_GB2312" pitchFamily="49" charset="-122"/>
            </a:endParaRPr>
          </a:p>
          <a:p>
            <a:pPr>
              <a:buFont typeface="Wingdings 2" charset="2"/>
              <a:buNone/>
            </a:pP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    CPU</a:t>
            </a:r>
            <a:r>
              <a:rPr lang="zh-CN" altLang="en-US" sz="2400" dirty="0">
                <a:solidFill>
                  <a:srgbClr val="000000"/>
                </a:solidFill>
                <a:cs typeface="楷体_GB2312" pitchFamily="49" charset="-122"/>
              </a:rPr>
              <a:t>执行时间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=</a:t>
            </a:r>
            <a:r>
              <a:rPr lang="zh-CN" altLang="en-US" sz="2400" dirty="0">
                <a:solidFill>
                  <a:srgbClr val="000000"/>
                </a:solidFill>
                <a:cs typeface="楷体_GB2312" pitchFamily="49" charset="-122"/>
              </a:rPr>
              <a:t>程序的指令数 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× CPI × CPU</a:t>
            </a:r>
            <a:r>
              <a:rPr lang="zh-CN" altLang="en-US" sz="2400" dirty="0">
                <a:solidFill>
                  <a:srgbClr val="000000"/>
                </a:solidFill>
                <a:cs typeface="楷体_GB2312" pitchFamily="49" charset="-122"/>
              </a:rPr>
              <a:t>时钟周期时间</a:t>
            </a:r>
            <a:endParaRPr lang="en-US" altLang="zh-CN" sz="2800" dirty="0">
              <a:cs typeface="楷体_GB2312" pitchFamily="49" charset="-122"/>
            </a:endParaRPr>
          </a:p>
          <a:p>
            <a:r>
              <a:rPr lang="en-US" altLang="zh-CN" sz="2400" dirty="0"/>
              <a:t>MIPS</a:t>
            </a:r>
            <a:r>
              <a:rPr lang="zh-CN" altLang="en-US" sz="2400" dirty="0"/>
              <a:t>：每秒百万指令数</a:t>
            </a:r>
            <a:endParaRPr lang="en-US" altLang="zh-CN" sz="2400" dirty="0"/>
          </a:p>
          <a:p>
            <a:pPr>
              <a:buFont typeface="Wingdings 2" charset="2"/>
              <a:buNone/>
            </a:pPr>
            <a:r>
              <a:rPr lang="en-US" altLang="zh-CN" dirty="0">
                <a:cs typeface="楷体_GB2312" pitchFamily="49" charset="-122"/>
              </a:rPr>
              <a:t>   </a:t>
            </a:r>
            <a:r>
              <a:rPr lang="en-US" altLang="zh-CN" sz="2400" dirty="0">
                <a:cs typeface="楷体_GB2312" pitchFamily="49" charset="-122"/>
              </a:rPr>
              <a:t>MIPS=</a:t>
            </a:r>
            <a:r>
              <a:rPr lang="zh-CN" altLang="en-US" sz="2400" dirty="0">
                <a:cs typeface="楷体_GB2312" pitchFamily="49" charset="-122"/>
              </a:rPr>
              <a:t>（指令总数 </a:t>
            </a:r>
            <a:r>
              <a:rPr lang="zh-CN" altLang="en-US" sz="2400" dirty="0">
                <a:cs typeface="楷体_GB2312" pitchFamily="49" charset="-122"/>
                <a:sym typeface="Symbol" panose="05050102010706020507" pitchFamily="18" charset="2"/>
              </a:rPr>
              <a:t> 程序执行时间）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 ×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  <a:sym typeface="Symbol" panose="05050102010706020507" pitchFamily="18" charset="2"/>
              </a:rPr>
              <a:t>10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  <a:sym typeface="Symbol" panose="05050102010706020507" pitchFamily="18" charset="2"/>
              </a:rPr>
              <a:t>-6</a:t>
            </a:r>
            <a:endParaRPr lang="en-US" altLang="zh-CN" sz="2400" baseline="30000" dirty="0">
              <a:cs typeface="楷体_GB2312" pitchFamily="49" charset="-122"/>
            </a:endParaRPr>
          </a:p>
          <a:p>
            <a:r>
              <a:rPr lang="en-US" altLang="zh-CN" sz="2400" dirty="0"/>
              <a:t>MFLOPS</a:t>
            </a:r>
            <a:r>
              <a:rPr lang="zh-CN" altLang="en-US" sz="2400" dirty="0"/>
              <a:t>：每秒百万次浮点操作次数</a:t>
            </a:r>
            <a:endParaRPr lang="en-US" altLang="zh-CN" sz="2400" dirty="0"/>
          </a:p>
          <a:p>
            <a:pPr>
              <a:buFont typeface="Wingdings 2" charset="2"/>
              <a:buNone/>
            </a:pPr>
            <a:r>
              <a:rPr lang="en-US" altLang="zh-CN" sz="2400" dirty="0">
                <a:cs typeface="楷体_GB2312" pitchFamily="49" charset="-122"/>
              </a:rPr>
              <a:t>    MFLOPS=</a:t>
            </a:r>
            <a:r>
              <a:rPr lang="zh-CN" altLang="en-US" sz="2400" dirty="0">
                <a:cs typeface="楷体_GB2312" pitchFamily="49" charset="-122"/>
              </a:rPr>
              <a:t>（程序中浮点运算次数 </a:t>
            </a:r>
            <a:r>
              <a:rPr lang="zh-CN" altLang="en-US" sz="2400" dirty="0">
                <a:cs typeface="楷体_GB2312" pitchFamily="49" charset="-122"/>
                <a:sym typeface="Symbol" panose="05050102010706020507" pitchFamily="18" charset="2"/>
              </a:rPr>
              <a:t> 程序执行时间）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  <a:sym typeface="Symbol" panose="05050102010706020507" pitchFamily="18" charset="2"/>
              </a:rPr>
              <a:t>10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  <a:sym typeface="Symbol" panose="05050102010706020507" pitchFamily="18" charset="2"/>
              </a:rPr>
              <a:t>-6</a:t>
            </a:r>
            <a:endParaRPr lang="en-US" altLang="zh-CN" sz="2400" baseline="30000" dirty="0">
              <a:cs typeface="楷体_GB2312" pitchFamily="49" charset="-122"/>
            </a:endParaRPr>
          </a:p>
          <a:p>
            <a:pPr lvl="0"/>
            <a:r>
              <a:rPr lang="en-US" altLang="zh-CN" sz="2400" dirty="0">
                <a:solidFill>
                  <a:srgbClr val="000000"/>
                </a:solidFill>
              </a:rPr>
              <a:t>TFLOPS</a:t>
            </a:r>
            <a:r>
              <a:rPr lang="zh-CN" altLang="en-US" sz="2400" dirty="0">
                <a:solidFill>
                  <a:srgbClr val="000000"/>
                </a:solidFill>
              </a:rPr>
              <a:t>：每秒万亿次浮点操作次数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lvl="0">
              <a:buNone/>
            </a:pP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    TFLOPS=</a:t>
            </a:r>
            <a:r>
              <a:rPr lang="zh-CN" altLang="en-US" sz="2400" dirty="0">
                <a:solidFill>
                  <a:srgbClr val="000000"/>
                </a:solidFill>
                <a:cs typeface="楷体_GB2312" pitchFamily="49" charset="-122"/>
              </a:rPr>
              <a:t>（程序中浮点运算次数 </a:t>
            </a:r>
            <a:r>
              <a:rPr lang="zh-CN" altLang="en-US" sz="2400" dirty="0">
                <a:solidFill>
                  <a:srgbClr val="000000"/>
                </a:solidFill>
                <a:cs typeface="楷体_GB2312" pitchFamily="49" charset="-122"/>
                <a:sym typeface="Symbol" panose="05050102010706020507" pitchFamily="18" charset="2"/>
              </a:rPr>
              <a:t> 程序执行时间）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×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cs typeface="楷体_GB2312" pitchFamily="49" charset="-122"/>
                <a:sym typeface="Symbol" panose="05050102010706020507" pitchFamily="18" charset="2"/>
              </a:rPr>
              <a:t>10</a:t>
            </a:r>
            <a:r>
              <a:rPr lang="en-US" altLang="zh-CN" sz="2400" baseline="30000" dirty="0">
                <a:solidFill>
                  <a:srgbClr val="000000"/>
                </a:solidFill>
                <a:latin typeface="宋体" panose="02010600030101010101" pitchFamily="2" charset="-122"/>
                <a:cs typeface="楷体_GB2312" pitchFamily="49" charset="-122"/>
                <a:sym typeface="Symbol" panose="05050102010706020507" pitchFamily="18" charset="2"/>
              </a:rPr>
              <a:t>-12</a:t>
            </a:r>
            <a:endParaRPr lang="en-US" altLang="zh-CN" sz="2400" baseline="30000" dirty="0">
              <a:solidFill>
                <a:srgbClr val="000000"/>
              </a:solidFill>
              <a:cs typeface="楷体_GB2312" pitchFamily="49" charset="-122"/>
            </a:endParaRPr>
          </a:p>
          <a:p>
            <a:endParaRPr lang="zh-CN" altLang="en-US" dirty="0"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104914">
    <p:pull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例题</a:t>
            </a:r>
            <a:endParaRPr lang="zh-CN" altLang="en-US"/>
          </a:p>
        </p:txBody>
      </p:sp>
      <p:sp>
        <p:nvSpPr>
          <p:cNvPr id="19459" name="内容占位符 2"/>
          <p:cNvSpPr>
            <a:spLocks noGrp="1" noChangeArrowheads="1"/>
          </p:cNvSpPr>
          <p:nvPr>
            <p:ph idx="1"/>
          </p:nvPr>
        </p:nvSpPr>
        <p:spPr>
          <a:xfrm>
            <a:off x="381000" y="1142999"/>
            <a:ext cx="8610600" cy="5407025"/>
          </a:xfrm>
        </p:spPr>
        <p:txBody>
          <a:bodyPr/>
          <a:lstStyle/>
          <a:p>
            <a:pPr marL="0" indent="0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某计算机主频为</a:t>
            </a:r>
            <a:r>
              <a:rPr lang="en-US" altLang="zh-CN" sz="2800" dirty="0">
                <a:cs typeface="楷体_GB2312" pitchFamily="49" charset="-122"/>
              </a:rPr>
              <a:t>1.2GHz</a:t>
            </a:r>
            <a:r>
              <a:rPr lang="zh-CN" altLang="en-US" sz="2800" dirty="0">
                <a:cs typeface="楷体_GB2312" pitchFamily="49" charset="-122"/>
              </a:rPr>
              <a:t>，其指令分为</a:t>
            </a:r>
            <a:r>
              <a:rPr lang="en-US" altLang="zh-CN" sz="2800" dirty="0">
                <a:cs typeface="楷体_GB2312" pitchFamily="49" charset="-122"/>
              </a:rPr>
              <a:t>A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B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C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D</a:t>
            </a:r>
            <a:r>
              <a:rPr lang="zh-CN" altLang="en-US" sz="2800" dirty="0">
                <a:cs typeface="楷体_GB2312" pitchFamily="49" charset="-122"/>
              </a:rPr>
              <a:t>四类，对应的</a:t>
            </a:r>
            <a:r>
              <a:rPr lang="en-US" altLang="zh-CN" sz="2800" dirty="0">
                <a:cs typeface="楷体_GB2312" pitchFamily="49" charset="-122"/>
              </a:rPr>
              <a:t>CPI</a:t>
            </a:r>
            <a:r>
              <a:rPr lang="zh-CN" altLang="en-US" sz="2800" dirty="0">
                <a:cs typeface="楷体_GB2312" pitchFamily="49" charset="-122"/>
              </a:rPr>
              <a:t>依次为</a:t>
            </a:r>
            <a:r>
              <a:rPr lang="en-US" altLang="zh-CN" sz="2800" dirty="0">
                <a:cs typeface="楷体_GB2312" pitchFamily="49" charset="-122"/>
              </a:rPr>
              <a:t>2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3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4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5</a:t>
            </a:r>
            <a:r>
              <a:rPr lang="zh-CN" altLang="en-US" sz="2800" dirty="0">
                <a:cs typeface="楷体_GB2312" pitchFamily="49" charset="-122"/>
              </a:rPr>
              <a:t>，我们可通过运行一基准程序来测定该机的执行速度，已知在这段基准程序中</a:t>
            </a:r>
            <a:r>
              <a:rPr lang="en-US" altLang="zh-CN" sz="2800" dirty="0">
                <a:cs typeface="楷体_GB2312" pitchFamily="49" charset="-122"/>
              </a:rPr>
              <a:t>A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B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C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D</a:t>
            </a:r>
            <a:r>
              <a:rPr lang="zh-CN" altLang="en-US" sz="2800" dirty="0">
                <a:cs typeface="楷体_GB2312" pitchFamily="49" charset="-122"/>
              </a:rPr>
              <a:t>这四类指令所占比例依次为</a:t>
            </a:r>
            <a:r>
              <a:rPr lang="en-US" altLang="zh-CN" sz="2800" dirty="0">
                <a:cs typeface="楷体_GB2312" pitchFamily="49" charset="-122"/>
              </a:rPr>
              <a:t>50%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20%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10%</a:t>
            </a:r>
            <a:r>
              <a:rPr lang="zh-CN" altLang="en-US" sz="2800" dirty="0">
                <a:cs typeface="楷体_GB2312" pitchFamily="49" charset="-122"/>
              </a:rPr>
              <a:t>、</a:t>
            </a:r>
            <a:r>
              <a:rPr lang="en-US" altLang="zh-CN" sz="2800" dirty="0">
                <a:cs typeface="楷体_GB2312" pitchFamily="49" charset="-122"/>
              </a:rPr>
              <a:t>20%</a:t>
            </a:r>
            <a:r>
              <a:rPr lang="zh-CN" altLang="en-US" sz="2800" dirty="0">
                <a:cs typeface="楷体_GB2312" pitchFamily="49" charset="-122"/>
              </a:rPr>
              <a:t>，请问该机的</a:t>
            </a:r>
            <a:r>
              <a:rPr lang="en-US" altLang="zh-CN" sz="2800" dirty="0">
                <a:cs typeface="楷体_GB2312" pitchFamily="49" charset="-122"/>
              </a:rPr>
              <a:t>MIPS</a:t>
            </a:r>
            <a:r>
              <a:rPr lang="zh-CN" altLang="en-US" sz="2800" dirty="0">
                <a:cs typeface="楷体_GB2312" pitchFamily="49" charset="-122"/>
              </a:rPr>
              <a:t>数是多少？    </a:t>
            </a:r>
            <a:endParaRPr lang="en-US" altLang="zh-CN" sz="2800" dirty="0">
              <a:cs typeface="楷体_GB2312" pitchFamily="49" charset="-122"/>
            </a:endParaRPr>
          </a:p>
          <a:p>
            <a:pPr marL="0" indent="0">
              <a:buFont typeface="Wingdings 2" charset="2"/>
              <a:buNone/>
            </a:pPr>
            <a:r>
              <a:rPr lang="zh-CN" altLang="en-US" sz="2800" dirty="0">
                <a:cs typeface="楷体_GB2312" pitchFamily="49" charset="-122"/>
              </a:rPr>
              <a:t>解</a:t>
            </a:r>
            <a:r>
              <a:rPr lang="en-US" altLang="zh-CN" sz="2800" dirty="0">
                <a:cs typeface="楷体_GB2312" pitchFamily="49" charset="-122"/>
              </a:rPr>
              <a:t>:</a:t>
            </a:r>
            <a:r>
              <a:rPr lang="zh-CN" altLang="en-US" sz="2800" dirty="0">
                <a:cs typeface="楷体_GB2312" pitchFamily="49" charset="-122"/>
              </a:rPr>
              <a:t>设该基准程序为</a:t>
            </a:r>
            <a:r>
              <a:rPr lang="en-US" altLang="zh-CN" sz="2800" dirty="0">
                <a:cs typeface="楷体_GB2312" pitchFamily="49" charset="-122"/>
              </a:rPr>
              <a:t>P</a:t>
            </a:r>
            <a:r>
              <a:rPr lang="zh-CN" altLang="en-US" sz="2800" dirty="0">
                <a:cs typeface="楷体_GB2312" pitchFamily="49" charset="-122"/>
              </a:rPr>
              <a:t>，指令条数为</a:t>
            </a:r>
            <a:r>
              <a:rPr lang="en-US" altLang="zh-CN" sz="2800" dirty="0">
                <a:cs typeface="楷体_GB2312" pitchFamily="49" charset="-122"/>
              </a:rPr>
              <a:t>n</a:t>
            </a:r>
            <a:r>
              <a:rPr lang="zh-CN" altLang="en-US" sz="2800" dirty="0">
                <a:cs typeface="楷体_GB2312" pitchFamily="49" charset="-122"/>
              </a:rPr>
              <a:t>，其平均</a:t>
            </a:r>
            <a:r>
              <a:rPr lang="en-US" altLang="zh-CN" sz="2800" dirty="0">
                <a:cs typeface="楷体_GB2312" pitchFamily="49" charset="-122"/>
              </a:rPr>
              <a:t>CPI</a:t>
            </a:r>
            <a:r>
              <a:rPr lang="zh-CN" altLang="en-US" sz="2800" dirty="0">
                <a:cs typeface="楷体_GB2312" pitchFamily="49" charset="-122"/>
              </a:rPr>
              <a:t>为：</a:t>
            </a:r>
            <a:endParaRPr lang="en-US" altLang="zh-CN" sz="2800" dirty="0">
              <a:cs typeface="楷体_GB2312" pitchFamily="49" charset="-122"/>
            </a:endParaRPr>
          </a:p>
          <a:p>
            <a:pPr marL="0" indent="0">
              <a:buFont typeface="Wingdings 2" charset="2"/>
              <a:buNone/>
            </a:pPr>
            <a:r>
              <a:rPr lang="en-US" altLang="zh-CN" sz="2800" dirty="0">
                <a:cs typeface="楷体_GB2312" pitchFamily="49" charset="-122"/>
              </a:rPr>
              <a:t>     CPI=</a:t>
            </a:r>
            <a:r>
              <a:rPr lang="zh-CN" altLang="en-US" sz="2800" dirty="0">
                <a:cs typeface="楷体_GB2312" pitchFamily="49" charset="-122"/>
              </a:rPr>
              <a:t>（</a:t>
            </a:r>
            <a:r>
              <a:rPr lang="en-US" altLang="zh-CN" sz="2800" dirty="0">
                <a:cs typeface="楷体_GB2312" pitchFamily="49" charset="-122"/>
              </a:rPr>
              <a:t>0.5n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 × </a:t>
            </a:r>
            <a:r>
              <a:rPr lang="en-US" altLang="zh-CN" sz="2800" dirty="0">
                <a:cs typeface="楷体_GB2312" pitchFamily="49" charset="-122"/>
              </a:rPr>
              <a:t>2+0.2n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 × </a:t>
            </a:r>
            <a:r>
              <a:rPr lang="en-US" altLang="zh-CN" sz="2800" dirty="0">
                <a:cs typeface="楷体_GB2312" pitchFamily="49" charset="-122"/>
              </a:rPr>
              <a:t>3+0.1n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 × </a:t>
            </a:r>
            <a:r>
              <a:rPr lang="en-US" altLang="zh-CN" sz="2800" dirty="0">
                <a:cs typeface="楷体_GB2312" pitchFamily="49" charset="-122"/>
              </a:rPr>
              <a:t>4+0.2n</a:t>
            </a:r>
            <a:r>
              <a:rPr lang="en-US" altLang="zh-CN" sz="2400" dirty="0">
                <a:solidFill>
                  <a:srgbClr val="000000"/>
                </a:solidFill>
                <a:cs typeface="楷体_GB2312" pitchFamily="49" charset="-122"/>
              </a:rPr>
              <a:t> × </a:t>
            </a:r>
            <a:r>
              <a:rPr lang="en-US" altLang="zh-CN" sz="2800" dirty="0">
                <a:cs typeface="楷体_GB2312" pitchFamily="49" charset="-122"/>
              </a:rPr>
              <a:t>5</a:t>
            </a:r>
            <a:r>
              <a:rPr lang="zh-CN" altLang="en-US" sz="2800" dirty="0">
                <a:cs typeface="楷体_GB2312" pitchFamily="49" charset="-122"/>
              </a:rPr>
              <a:t>）</a:t>
            </a:r>
            <a:r>
              <a:rPr lang="en-US" altLang="zh-CN" sz="2800" dirty="0">
                <a:cs typeface="楷体_GB2312" pitchFamily="49" charset="-122"/>
              </a:rPr>
              <a:t>/n=3</a:t>
            </a:r>
            <a:endParaRPr lang="en-US" altLang="zh-CN" sz="2800" dirty="0">
              <a:cs typeface="楷体_GB2312" pitchFamily="49" charset="-122"/>
            </a:endParaRPr>
          </a:p>
          <a:p>
            <a:pPr marL="0" indent="0">
              <a:buFont typeface="Wingdings 2" charset="2"/>
              <a:buNone/>
            </a:pPr>
            <a:r>
              <a:rPr lang="en-US" altLang="zh-CN" sz="2800" dirty="0">
                <a:cs typeface="楷体_GB2312" pitchFamily="49" charset="-122"/>
              </a:rPr>
              <a:t>     </a:t>
            </a:r>
            <a:r>
              <a:rPr lang="zh-CN" altLang="en-US" sz="2800" dirty="0">
                <a:cs typeface="楷体_GB2312" pitchFamily="49" charset="-122"/>
              </a:rPr>
              <a:t>故该机的</a:t>
            </a:r>
            <a:r>
              <a:rPr lang="en-US" altLang="zh-CN" sz="2800" dirty="0">
                <a:cs typeface="楷体_GB2312" pitchFamily="49" charset="-122"/>
              </a:rPr>
              <a:t>MIPS</a:t>
            </a:r>
            <a:r>
              <a:rPr lang="zh-CN" altLang="en-US" sz="2800" dirty="0">
                <a:cs typeface="楷体_GB2312" pitchFamily="49" charset="-122"/>
              </a:rPr>
              <a:t>数为：</a:t>
            </a:r>
            <a:endParaRPr lang="en-US" altLang="zh-CN" sz="2800" dirty="0">
              <a:cs typeface="楷体_GB2312" pitchFamily="49" charset="-122"/>
            </a:endParaRPr>
          </a:p>
          <a:p>
            <a:pPr marL="0" indent="0">
              <a:buFont typeface="Wingdings 2" charset="2"/>
              <a:buNone/>
            </a:pPr>
            <a:r>
              <a:rPr lang="en-US" altLang="zh-CN" sz="2800" dirty="0">
                <a:cs typeface="楷体_GB2312" pitchFamily="49" charset="-122"/>
              </a:rPr>
              <a:t>     1.2</a:t>
            </a:r>
            <a:r>
              <a:rPr lang="en-US" altLang="zh-CN" sz="2800" dirty="0">
                <a:cs typeface="楷体_GB2312" pitchFamily="49" charset="-122"/>
                <a:sym typeface="Symbol" panose="05050102010706020507" pitchFamily="18" charset="2"/>
              </a:rPr>
              <a:t>10</a:t>
            </a:r>
            <a:r>
              <a:rPr lang="en-US" altLang="zh-CN" sz="2800" baseline="30000" dirty="0">
                <a:cs typeface="楷体_GB2312" pitchFamily="49" charset="-122"/>
                <a:sym typeface="Symbol" panose="05050102010706020507" pitchFamily="18" charset="2"/>
              </a:rPr>
              <a:t>9 </a:t>
            </a:r>
            <a:r>
              <a:rPr lang="en-US" altLang="zh-CN" sz="2800" dirty="0">
                <a:cs typeface="楷体_GB2312" pitchFamily="49" charset="-122"/>
                <a:sym typeface="Symbol" panose="05050102010706020507" pitchFamily="18" charset="2"/>
              </a:rPr>
              <a:t>/ 3= 400 MIPS</a:t>
            </a:r>
            <a:endParaRPr lang="zh-CN" altLang="en-US" sz="2800" dirty="0">
              <a:cs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spd="med" advTm="144878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计算机的硬件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计算机组成</a:t>
            </a:r>
            <a:endParaRPr lang="zh-CN" altLang="en-US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xfrm>
            <a:off x="210721" y="990599"/>
            <a:ext cx="8533229" cy="5193889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计算机由运算器、控制器、存储器、输入设备和输出设备五大部件组成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存储器：存放程序和数据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控制器：根据取得的指令向其他部件发出控制信号，完成指令规定操作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运算器：完成算术和逻辑运算操作，也称为数据通路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输入</a:t>
            </a:r>
            <a:r>
              <a:rPr lang="en-US" altLang="zh-CN" sz="2000" dirty="0">
                <a:latin typeface="宋体" panose="02010600030101010101" pitchFamily="2" charset="-122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</a:rPr>
              <a:t>输出设备：完成人与计算机的相互通信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在机器内部，指令和数据均以二进制码表示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指令由操作码和地址码组成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机器以运算器为中心，数据传送都经过运算器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采用存储程序的方式，编制好的程序和数据存放在同一存储器中，计算机自动完成逐条取出指令和执行指令的操作。故称之为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存储程序式计算机</a:t>
            </a:r>
            <a:endParaRPr lang="zh-CN" altLang="en-US" sz="240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369120" y="4984954"/>
          <a:ext cx="3250880" cy="184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位图图像" r:id="rId1" imgW="5715000" imgH="3238500" progId="Paint.Picture">
                  <p:embed/>
                </p:oleObj>
              </mc:Choice>
              <mc:Fallback>
                <p:oleObj name="位图图像" r:id="rId1" imgW="5715000" imgH="32385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9120" y="4984954"/>
                        <a:ext cx="3250880" cy="184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350070" y="5791200"/>
            <a:ext cx="2305050" cy="854044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8" name="Text Box 0"/>
          <p:cNvSpPr txBox="1">
            <a:spLocks noChangeArrowheads="1"/>
          </p:cNvSpPr>
          <p:nvPr/>
        </p:nvSpPr>
        <p:spPr bwMode="auto">
          <a:xfrm>
            <a:off x="5225916" y="5788223"/>
            <a:ext cx="553357" cy="307777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CPU</a:t>
            </a:r>
            <a:endParaRPr lang="zh-CN" altLang="en-US" sz="1400" dirty="0">
              <a:solidFill>
                <a:srgbClr val="0000FF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25302" y="4988914"/>
            <a:ext cx="1637046" cy="646331"/>
          </a:xfrm>
          <a:prstGeom prst="rect">
            <a:avLst/>
          </a:prstGeom>
          <a:ln w="15875">
            <a:solidFill>
              <a:srgbClr val="00CCFF"/>
            </a:solidFill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  <a:defRPr/>
            </a:pPr>
            <a:r>
              <a:rPr lang="en-US" altLang="zh-CN" sz="18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Von Neumann Machine</a:t>
            </a:r>
            <a:endParaRPr lang="en-US" altLang="zh-CN" sz="1800" b="1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Tm="180516">
    <p:pull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743825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基于总线的计算机</a:t>
            </a:r>
            <a:endParaRPr lang="zh-CN" altLang="en-US" dirty="0"/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787233" y="1295400"/>
          <a:ext cx="7569534" cy="495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name="位图图像" r:id="rId1" imgW="5305425" imgH="3476625" progId="Paint.Picture">
                  <p:embed/>
                </p:oleObj>
              </mc:Choice>
              <mc:Fallback>
                <p:oleObj name="位图图像" r:id="rId1" imgW="5305425" imgH="347662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233" y="1295400"/>
                        <a:ext cx="7569534" cy="495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Tm="34485">
    <p:pull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234390"/>
            <a:ext cx="7743825" cy="7604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典型计算机的硬件组成</a:t>
            </a:r>
            <a:endParaRPr lang="zh-CN" altLang="en-US" dirty="0"/>
          </a:p>
        </p:txBody>
      </p:sp>
      <p:sp>
        <p:nvSpPr>
          <p:cNvPr id="5" name="Rectangle 146"/>
          <p:cNvSpPr>
            <a:spLocks noChangeArrowheads="1"/>
          </p:cNvSpPr>
          <p:nvPr/>
        </p:nvSpPr>
        <p:spPr bwMode="auto">
          <a:xfrm>
            <a:off x="6708775" y="2743200"/>
            <a:ext cx="909638" cy="914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Main</a:t>
            </a:r>
            <a:endParaRPr kumimoji="0" lang="en-US" altLang="zh-CN" sz="1600" kern="0" dirty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memory</a:t>
            </a:r>
            <a:endParaRPr kumimoji="0" lang="en-US" altLang="zh-CN" sz="1600" kern="0" dirty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6" name="AutoShape 201"/>
          <p:cNvSpPr>
            <a:spLocks noChangeArrowheads="1"/>
          </p:cNvSpPr>
          <p:nvPr/>
        </p:nvSpPr>
        <p:spPr bwMode="auto">
          <a:xfrm>
            <a:off x="5184775" y="2895600"/>
            <a:ext cx="1492250" cy="533400"/>
          </a:xfrm>
          <a:prstGeom prst="leftRightArrow">
            <a:avLst>
              <a:gd name="adj1" fmla="val 50000"/>
              <a:gd name="adj2" fmla="val 55952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7" name="Rectangle 202"/>
          <p:cNvSpPr>
            <a:spLocks noChangeArrowheads="1"/>
          </p:cNvSpPr>
          <p:nvPr/>
        </p:nvSpPr>
        <p:spPr bwMode="auto">
          <a:xfrm>
            <a:off x="4270375" y="2927350"/>
            <a:ext cx="909638" cy="5778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I/O 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bridge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8" name="AutoShape 205"/>
          <p:cNvSpPr>
            <a:spLocks noChangeArrowheads="1"/>
          </p:cNvSpPr>
          <p:nvPr/>
        </p:nvSpPr>
        <p:spPr bwMode="auto">
          <a:xfrm>
            <a:off x="2813050" y="2895600"/>
            <a:ext cx="1452563" cy="533400"/>
          </a:xfrm>
          <a:prstGeom prst="leftRightArrow">
            <a:avLst>
              <a:gd name="adj1" fmla="val 50000"/>
              <a:gd name="adj2" fmla="val 54464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9" name="Rectangle 206"/>
          <p:cNvSpPr>
            <a:spLocks noChangeArrowheads="1"/>
          </p:cNvSpPr>
          <p:nvPr/>
        </p:nvSpPr>
        <p:spPr bwMode="auto">
          <a:xfrm>
            <a:off x="912813" y="2927350"/>
            <a:ext cx="1873250" cy="5778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Bus interface</a:t>
            </a:r>
            <a:endParaRPr kumimoji="0" lang="en-US" altLang="zh-CN" sz="1600" kern="0" dirty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0" name="Rectangle 207"/>
          <p:cNvSpPr>
            <a:spLocks noChangeArrowheads="1"/>
          </p:cNvSpPr>
          <p:nvPr/>
        </p:nvSpPr>
        <p:spPr bwMode="auto">
          <a:xfrm>
            <a:off x="1828800" y="1600200"/>
            <a:ext cx="684213" cy="152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1" name="Rectangle 208"/>
          <p:cNvSpPr>
            <a:spLocks noChangeArrowheads="1"/>
          </p:cNvSpPr>
          <p:nvPr/>
        </p:nvSpPr>
        <p:spPr bwMode="auto">
          <a:xfrm>
            <a:off x="1828800" y="1752600"/>
            <a:ext cx="684213" cy="152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2" name="Rectangle 210"/>
          <p:cNvSpPr>
            <a:spLocks noChangeArrowheads="1"/>
          </p:cNvSpPr>
          <p:nvPr/>
        </p:nvSpPr>
        <p:spPr bwMode="auto">
          <a:xfrm>
            <a:off x="1828800" y="1905000"/>
            <a:ext cx="684213" cy="152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3" name="Rectangle 211"/>
          <p:cNvSpPr>
            <a:spLocks noChangeArrowheads="1"/>
          </p:cNvSpPr>
          <p:nvPr/>
        </p:nvSpPr>
        <p:spPr bwMode="auto">
          <a:xfrm>
            <a:off x="1828800" y="2057400"/>
            <a:ext cx="684213" cy="152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4" name="Rectangle 212"/>
          <p:cNvSpPr>
            <a:spLocks noChangeArrowheads="1"/>
          </p:cNvSpPr>
          <p:nvPr/>
        </p:nvSpPr>
        <p:spPr bwMode="auto">
          <a:xfrm>
            <a:off x="1828800" y="2209800"/>
            <a:ext cx="684213" cy="152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5" name="AutoShape 214"/>
          <p:cNvSpPr>
            <a:spLocks noChangeArrowheads="1"/>
          </p:cNvSpPr>
          <p:nvPr/>
        </p:nvSpPr>
        <p:spPr bwMode="auto">
          <a:xfrm>
            <a:off x="2601913" y="16002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6" name="AutoShape 215"/>
          <p:cNvSpPr>
            <a:spLocks noChangeArrowheads="1"/>
          </p:cNvSpPr>
          <p:nvPr/>
        </p:nvSpPr>
        <p:spPr bwMode="auto">
          <a:xfrm flipH="1">
            <a:off x="2513013" y="1981200"/>
            <a:ext cx="444500" cy="3810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7" name="Rectangle 220"/>
          <p:cNvSpPr>
            <a:spLocks noChangeArrowheads="1"/>
          </p:cNvSpPr>
          <p:nvPr/>
        </p:nvSpPr>
        <p:spPr bwMode="auto">
          <a:xfrm>
            <a:off x="3046413" y="1447800"/>
            <a:ext cx="533400" cy="1066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ALU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8" name="Text Box 221"/>
          <p:cNvSpPr txBox="1">
            <a:spLocks noChangeArrowheads="1"/>
          </p:cNvSpPr>
          <p:nvPr/>
        </p:nvSpPr>
        <p:spPr bwMode="auto">
          <a:xfrm>
            <a:off x="1560513" y="1279525"/>
            <a:ext cx="12557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Register file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19" name="AutoShape 222"/>
          <p:cNvSpPr>
            <a:spLocks noChangeArrowheads="1"/>
          </p:cNvSpPr>
          <p:nvPr/>
        </p:nvSpPr>
        <p:spPr bwMode="auto">
          <a:xfrm>
            <a:off x="1903413" y="2438400"/>
            <a:ext cx="609600" cy="457200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0" name="Rectangle 223"/>
          <p:cNvSpPr>
            <a:spLocks noChangeArrowheads="1"/>
          </p:cNvSpPr>
          <p:nvPr/>
        </p:nvSpPr>
        <p:spPr bwMode="auto">
          <a:xfrm>
            <a:off x="760413" y="1219200"/>
            <a:ext cx="2971800" cy="2438400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1" name="Text Box 225"/>
          <p:cNvSpPr txBox="1">
            <a:spLocks noChangeArrowheads="1"/>
          </p:cNvSpPr>
          <p:nvPr/>
        </p:nvSpPr>
        <p:spPr bwMode="auto">
          <a:xfrm>
            <a:off x="715963" y="1187450"/>
            <a:ext cx="6111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0" lang="en-US" altLang="zh-CN" sz="1600" dirty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CPU</a:t>
            </a:r>
            <a:endParaRPr kumimoji="0" lang="en-US" altLang="zh-CN" sz="1600" dirty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2" name="Text Box 229"/>
          <p:cNvSpPr txBox="1">
            <a:spLocks noChangeArrowheads="1"/>
          </p:cNvSpPr>
          <p:nvPr/>
        </p:nvSpPr>
        <p:spPr bwMode="auto">
          <a:xfrm>
            <a:off x="3722688" y="2209800"/>
            <a:ext cx="12461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System bus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3" name="Line 230"/>
          <p:cNvSpPr>
            <a:spLocks noChangeShapeType="1"/>
          </p:cNvSpPr>
          <p:nvPr/>
        </p:nvSpPr>
        <p:spPr bwMode="auto">
          <a:xfrm flipH="1">
            <a:off x="3579813" y="2514600"/>
            <a:ext cx="68580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4" name="Text Box 231"/>
          <p:cNvSpPr txBox="1">
            <a:spLocks noChangeArrowheads="1"/>
          </p:cNvSpPr>
          <p:nvPr/>
        </p:nvSpPr>
        <p:spPr bwMode="auto">
          <a:xfrm>
            <a:off x="5259388" y="2209800"/>
            <a:ext cx="1303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Memory bus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5" name="Line 232"/>
          <p:cNvSpPr>
            <a:spLocks noChangeShapeType="1"/>
          </p:cNvSpPr>
          <p:nvPr/>
        </p:nvSpPr>
        <p:spPr bwMode="auto">
          <a:xfrm>
            <a:off x="5865813" y="2514600"/>
            <a:ext cx="0" cy="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6" name="AutoShape 236"/>
          <p:cNvSpPr>
            <a:spLocks noChangeArrowheads="1"/>
          </p:cNvSpPr>
          <p:nvPr/>
        </p:nvSpPr>
        <p:spPr bwMode="auto">
          <a:xfrm>
            <a:off x="4494213" y="35814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7" name="AutoShape 238"/>
          <p:cNvSpPr>
            <a:spLocks noChangeArrowheads="1"/>
          </p:cNvSpPr>
          <p:nvPr/>
        </p:nvSpPr>
        <p:spPr bwMode="auto">
          <a:xfrm flipV="1">
            <a:off x="5599113" y="43180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8" name="Rectangle 239"/>
          <p:cNvSpPr>
            <a:spLocks noChangeArrowheads="1"/>
          </p:cNvSpPr>
          <p:nvPr/>
        </p:nvSpPr>
        <p:spPr bwMode="auto">
          <a:xfrm>
            <a:off x="5180013" y="5041900"/>
            <a:ext cx="1295400" cy="5207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Disk 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controller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29" name="AutoShape 240"/>
          <p:cNvSpPr>
            <a:spLocks noChangeArrowheads="1"/>
          </p:cNvSpPr>
          <p:nvPr/>
        </p:nvSpPr>
        <p:spPr bwMode="auto">
          <a:xfrm flipV="1">
            <a:off x="3268663" y="43180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0" name="Rectangle 241"/>
          <p:cNvSpPr>
            <a:spLocks noChangeArrowheads="1"/>
          </p:cNvSpPr>
          <p:nvPr/>
        </p:nvSpPr>
        <p:spPr bwMode="auto">
          <a:xfrm>
            <a:off x="2849563" y="5041900"/>
            <a:ext cx="1295400" cy="5207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Graphics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adapter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1" name="AutoShape 242"/>
          <p:cNvSpPr>
            <a:spLocks noChangeArrowheads="1"/>
          </p:cNvSpPr>
          <p:nvPr/>
        </p:nvSpPr>
        <p:spPr bwMode="auto">
          <a:xfrm flipV="1">
            <a:off x="1592263" y="4318000"/>
            <a:ext cx="495300" cy="685800"/>
          </a:xfrm>
          <a:prstGeom prst="upArrow">
            <a:avLst>
              <a:gd name="adj1" fmla="val 36667"/>
              <a:gd name="adj2" fmla="val 44872"/>
            </a:avLst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2" name="Rectangle 243"/>
          <p:cNvSpPr>
            <a:spLocks noChangeArrowheads="1"/>
          </p:cNvSpPr>
          <p:nvPr/>
        </p:nvSpPr>
        <p:spPr bwMode="auto">
          <a:xfrm>
            <a:off x="1249363" y="5029200"/>
            <a:ext cx="1143000" cy="5207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USB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controller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3" name="Line 246"/>
          <p:cNvSpPr>
            <a:spLocks noChangeShapeType="1"/>
          </p:cNvSpPr>
          <p:nvPr/>
        </p:nvSpPr>
        <p:spPr bwMode="auto">
          <a:xfrm>
            <a:off x="1477963" y="55626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4" name="Line 247"/>
          <p:cNvSpPr>
            <a:spLocks noChangeShapeType="1"/>
          </p:cNvSpPr>
          <p:nvPr/>
        </p:nvSpPr>
        <p:spPr bwMode="auto">
          <a:xfrm>
            <a:off x="2239963" y="55626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5" name="Text Box 248"/>
          <p:cNvSpPr txBox="1">
            <a:spLocks noChangeArrowheads="1"/>
          </p:cNvSpPr>
          <p:nvPr/>
        </p:nvSpPr>
        <p:spPr bwMode="auto">
          <a:xfrm>
            <a:off x="1065213" y="5791200"/>
            <a:ext cx="79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Mouse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6" name="Text Box 249"/>
          <p:cNvSpPr txBox="1">
            <a:spLocks noChangeArrowheads="1"/>
          </p:cNvSpPr>
          <p:nvPr/>
        </p:nvSpPr>
        <p:spPr bwMode="auto">
          <a:xfrm>
            <a:off x="1738313" y="5791200"/>
            <a:ext cx="10525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Keyboard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7" name="Line 250"/>
          <p:cNvSpPr>
            <a:spLocks noChangeShapeType="1"/>
          </p:cNvSpPr>
          <p:nvPr/>
        </p:nvSpPr>
        <p:spPr bwMode="auto">
          <a:xfrm>
            <a:off x="3535363" y="55626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8" name="Text Box 251"/>
          <p:cNvSpPr txBox="1">
            <a:spLocks noChangeArrowheads="1"/>
          </p:cNvSpPr>
          <p:nvPr/>
        </p:nvSpPr>
        <p:spPr bwMode="auto">
          <a:xfrm>
            <a:off x="3087688" y="5791200"/>
            <a:ext cx="847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Display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39" name="Line 258"/>
          <p:cNvSpPr>
            <a:spLocks noChangeShapeType="1"/>
          </p:cNvSpPr>
          <p:nvPr/>
        </p:nvSpPr>
        <p:spPr bwMode="auto">
          <a:xfrm>
            <a:off x="5840413" y="5562600"/>
            <a:ext cx="0" cy="381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0" name="AutoShape 259"/>
          <p:cNvSpPr>
            <a:spLocks noChangeArrowheads="1"/>
          </p:cNvSpPr>
          <p:nvPr/>
        </p:nvSpPr>
        <p:spPr bwMode="auto">
          <a:xfrm>
            <a:off x="5535613" y="5943600"/>
            <a:ext cx="609600" cy="609600"/>
          </a:xfrm>
          <a:prstGeom prst="can">
            <a:avLst>
              <a:gd name="adj" fmla="val 25000"/>
            </a:avLst>
          </a:prstGeom>
          <a:noFill/>
          <a:ln w="127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Disk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1" name="AutoShape 235"/>
          <p:cNvSpPr>
            <a:spLocks noChangeArrowheads="1"/>
          </p:cNvSpPr>
          <p:nvPr/>
        </p:nvSpPr>
        <p:spPr bwMode="auto">
          <a:xfrm>
            <a:off x="684213" y="4102100"/>
            <a:ext cx="7277100" cy="393700"/>
          </a:xfrm>
          <a:prstGeom prst="leftRightArrow">
            <a:avLst>
              <a:gd name="adj1" fmla="val 48611"/>
              <a:gd name="adj2" fmla="val 955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2" name="Rectangle 261"/>
          <p:cNvSpPr>
            <a:spLocks noChangeArrowheads="1"/>
          </p:cNvSpPr>
          <p:nvPr/>
        </p:nvSpPr>
        <p:spPr bwMode="auto">
          <a:xfrm>
            <a:off x="1760538" y="4271962"/>
            <a:ext cx="166687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3" name="Rectangle 262"/>
          <p:cNvSpPr>
            <a:spLocks noChangeArrowheads="1"/>
          </p:cNvSpPr>
          <p:nvPr/>
        </p:nvSpPr>
        <p:spPr bwMode="auto">
          <a:xfrm>
            <a:off x="3436938" y="4262437"/>
            <a:ext cx="166687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4" name="Rectangle 264"/>
          <p:cNvSpPr>
            <a:spLocks noChangeArrowheads="1"/>
          </p:cNvSpPr>
          <p:nvPr/>
        </p:nvSpPr>
        <p:spPr bwMode="auto">
          <a:xfrm>
            <a:off x="5770563" y="4252912"/>
            <a:ext cx="161925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5" name="Text Box 265"/>
          <p:cNvSpPr txBox="1">
            <a:spLocks noChangeArrowheads="1"/>
          </p:cNvSpPr>
          <p:nvPr/>
        </p:nvSpPr>
        <p:spPr bwMode="auto">
          <a:xfrm>
            <a:off x="4373563" y="4406900"/>
            <a:ext cx="8413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I/O bus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6" name="Rectangle 266"/>
          <p:cNvSpPr>
            <a:spLocks noChangeArrowheads="1"/>
          </p:cNvSpPr>
          <p:nvPr/>
        </p:nvSpPr>
        <p:spPr bwMode="auto">
          <a:xfrm>
            <a:off x="4660900" y="4191000"/>
            <a:ext cx="161925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7" name="Rectangle 267"/>
          <p:cNvSpPr>
            <a:spLocks noChangeArrowheads="1"/>
          </p:cNvSpPr>
          <p:nvPr/>
        </p:nvSpPr>
        <p:spPr bwMode="auto">
          <a:xfrm>
            <a:off x="6551613" y="4114800"/>
            <a:ext cx="127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8" name="Rectangle 268"/>
          <p:cNvSpPr>
            <a:spLocks noChangeArrowheads="1"/>
          </p:cNvSpPr>
          <p:nvPr/>
        </p:nvSpPr>
        <p:spPr bwMode="auto">
          <a:xfrm>
            <a:off x="6856413" y="4114800"/>
            <a:ext cx="127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49" name="Rectangle 269"/>
          <p:cNvSpPr>
            <a:spLocks noChangeArrowheads="1"/>
          </p:cNvSpPr>
          <p:nvPr/>
        </p:nvSpPr>
        <p:spPr bwMode="auto">
          <a:xfrm>
            <a:off x="7161213" y="4114800"/>
            <a:ext cx="127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50" name="Text Box 270"/>
          <p:cNvSpPr txBox="1">
            <a:spLocks noChangeArrowheads="1"/>
          </p:cNvSpPr>
          <p:nvPr/>
        </p:nvSpPr>
        <p:spPr bwMode="auto">
          <a:xfrm>
            <a:off x="6537325" y="4495800"/>
            <a:ext cx="2014538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Expansion slots for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  <a:p>
            <a:pPr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other devices such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  <a:p>
            <a:pPr>
              <a:defRPr/>
            </a:pPr>
            <a:r>
              <a:rPr kumimoji="0" lang="en-US" altLang="zh-CN" sz="160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as network adapters</a:t>
            </a: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  <a:p>
            <a:pPr>
              <a:defRPr/>
            </a:pPr>
            <a:endParaRPr kumimoji="0" lang="en-US" altLang="zh-CN" sz="160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  <p:sp>
        <p:nvSpPr>
          <p:cNvPr id="52" name="Rectangle 320"/>
          <p:cNvSpPr>
            <a:spLocks noChangeArrowheads="1"/>
          </p:cNvSpPr>
          <p:nvPr/>
        </p:nvSpPr>
        <p:spPr bwMode="auto">
          <a:xfrm>
            <a:off x="912813" y="1828800"/>
            <a:ext cx="762000" cy="304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1600" kern="0">
                <a:solidFill>
                  <a:srgbClr val="000000"/>
                </a:solidFill>
                <a:latin typeface="Helvetica" panose="020B0604020202020204" pitchFamily="34" charset="0"/>
                <a:ea typeface="+mn-ea"/>
              </a:rPr>
              <a:t>PC</a:t>
            </a:r>
            <a:endParaRPr kumimoji="0" lang="en-US" altLang="zh-CN" sz="1600" kern="0">
              <a:solidFill>
                <a:srgbClr val="000000"/>
              </a:solidFill>
              <a:latin typeface="Helvetica" panose="020B0604020202020204" pitchFamily="34" charset="0"/>
              <a:ea typeface="+mn-ea"/>
            </a:endParaRPr>
          </a:p>
        </p:txBody>
      </p:sp>
    </p:spTree>
  </p:cSld>
  <p:clrMapOvr>
    <a:masterClrMapping/>
  </p:clrMapOvr>
  <p:transition spd="med" advTm="91637">
    <p:pull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43825" cy="7604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多处理器</a:t>
            </a:r>
            <a:endParaRPr lang="zh-CN" altLang="en-US" dirty="0"/>
          </a:p>
        </p:txBody>
      </p:sp>
      <p:graphicFrame>
        <p:nvGraphicFramePr>
          <p:cNvPr id="107524" name="Object 4"/>
          <p:cNvGraphicFramePr>
            <a:graphicFrameLocks noChangeAspect="1"/>
          </p:cNvGraphicFramePr>
          <p:nvPr/>
        </p:nvGraphicFramePr>
        <p:xfrm>
          <a:off x="1676400" y="1524000"/>
          <a:ext cx="5791200" cy="495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9" name="位图图像" r:id="rId1" imgW="2781300" imgH="2381250" progId="Paint.Picture">
                  <p:embed/>
                </p:oleObj>
              </mc:Choice>
              <mc:Fallback>
                <p:oleObj name="位图图像" r:id="rId1" imgW="2781300" imgH="238125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24000"/>
                        <a:ext cx="5791200" cy="495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Tm="104448">
    <p:pull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13"/>
          <p:cNvSpPr>
            <a:spLocks noChangeArrowheads="1"/>
          </p:cNvSpPr>
          <p:nvPr/>
        </p:nvSpPr>
        <p:spPr bwMode="auto">
          <a:xfrm>
            <a:off x="0" y="908050"/>
            <a:ext cx="9144000" cy="532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88773" name="Text Box 5"/>
          <p:cNvSpPr txBox="1">
            <a:spLocks noChangeArrowheads="1"/>
          </p:cNvSpPr>
          <p:nvPr/>
        </p:nvSpPr>
        <p:spPr bwMode="auto">
          <a:xfrm>
            <a:off x="1028700" y="232418"/>
            <a:ext cx="70866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4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计算机硬件层剖析</a:t>
            </a:r>
            <a:endParaRPr lang="zh-CN" altLang="en-US" sz="44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6741" name="Rectangle 12"/>
          <p:cNvSpPr>
            <a:spLocks noChangeArrowheads="1"/>
          </p:cNvSpPr>
          <p:nvPr/>
        </p:nvSpPr>
        <p:spPr bwMode="auto">
          <a:xfrm>
            <a:off x="0" y="908050"/>
            <a:ext cx="9144000" cy="532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楷体_GB231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116742" name="组合 30"/>
          <p:cNvGrpSpPr/>
          <p:nvPr/>
        </p:nvGrpSpPr>
        <p:grpSpPr bwMode="auto">
          <a:xfrm>
            <a:off x="642938" y="1306513"/>
            <a:ext cx="7497762" cy="4637087"/>
            <a:chOff x="643629" y="1037247"/>
            <a:chExt cx="7497523" cy="4636260"/>
          </a:xfrm>
        </p:grpSpPr>
        <p:pic>
          <p:nvPicPr>
            <p:cNvPr id="116743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417" y="3282814"/>
              <a:ext cx="6967455" cy="181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744" name="Text Box 6"/>
            <p:cNvSpPr txBox="1">
              <a:spLocks noChangeArrowheads="1"/>
            </p:cNvSpPr>
            <p:nvPr/>
          </p:nvSpPr>
          <p:spPr bwMode="auto">
            <a:xfrm>
              <a:off x="801957" y="1037247"/>
              <a:ext cx="1828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计算机系统</a:t>
              </a:r>
              <a:endParaRPr lang="zh-CN" altLang="en-US" sz="24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745" name="Text Box 7"/>
            <p:cNvSpPr txBox="1">
              <a:spLocks noChangeArrowheads="1"/>
            </p:cNvSpPr>
            <p:nvPr/>
          </p:nvSpPr>
          <p:spPr bwMode="auto">
            <a:xfrm>
              <a:off x="3511455" y="1038028"/>
              <a:ext cx="1981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计算机结构</a:t>
              </a:r>
              <a:endParaRPr lang="zh-CN" altLang="en-US" sz="240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746" name="Text Box 8"/>
            <p:cNvSpPr txBox="1">
              <a:spLocks noChangeArrowheads="1"/>
            </p:cNvSpPr>
            <p:nvPr/>
          </p:nvSpPr>
          <p:spPr bwMode="auto">
            <a:xfrm>
              <a:off x="6083752" y="1038028"/>
              <a:ext cx="2057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处理器</a:t>
              </a:r>
              <a:endParaRPr lang="zh-CN" altLang="en-US" sz="2400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747" name="Text Box 9"/>
            <p:cNvSpPr txBox="1">
              <a:spLocks noChangeArrowheads="1"/>
            </p:cNvSpPr>
            <p:nvPr/>
          </p:nvSpPr>
          <p:spPr bwMode="auto">
            <a:xfrm>
              <a:off x="6278570" y="5216307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逻辑设计</a:t>
              </a:r>
              <a:endParaRPr lang="zh-CN" altLang="en-US" sz="240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748" name="Text Box 10"/>
            <p:cNvSpPr txBox="1">
              <a:spLocks noChangeArrowheads="1"/>
            </p:cNvSpPr>
            <p:nvPr/>
          </p:nvSpPr>
          <p:spPr bwMode="auto">
            <a:xfrm>
              <a:off x="3092355" y="5190238"/>
              <a:ext cx="2819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电路（</a:t>
              </a:r>
              <a:r>
                <a:rPr lang="en-US" altLang="zh-CN" sz="240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VLSI</a:t>
              </a:r>
              <a:r>
                <a:rPr lang="zh-CN" altLang="en-US" sz="240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）设计</a:t>
              </a:r>
              <a:endParaRPr lang="zh-CN" altLang="en-US" sz="240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749" name="Text Box 11"/>
            <p:cNvSpPr txBox="1">
              <a:spLocks noChangeArrowheads="1"/>
            </p:cNvSpPr>
            <p:nvPr/>
          </p:nvSpPr>
          <p:spPr bwMode="auto">
            <a:xfrm>
              <a:off x="1314450" y="5209980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设备制造</a:t>
              </a:r>
              <a:endParaRPr lang="zh-CN" altLang="en-US" sz="240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6750" name="内容占位符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629" y="1777831"/>
              <a:ext cx="1987128" cy="1489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751" name="图片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75" b="23575"/>
            <a:stretch>
              <a:fillRect/>
            </a:stretch>
          </p:blipFill>
          <p:spPr bwMode="auto">
            <a:xfrm>
              <a:off x="2976254" y="1845911"/>
              <a:ext cx="2740833" cy="1047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6752" name="直接连接符 2"/>
            <p:cNvCxnSpPr>
              <a:cxnSpLocks noChangeShapeType="1"/>
            </p:cNvCxnSpPr>
            <p:nvPr/>
          </p:nvCxnSpPr>
          <p:spPr bwMode="auto">
            <a:xfrm flipV="1">
              <a:off x="1891576" y="1945432"/>
              <a:ext cx="1167986" cy="22266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16753" name="图片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0071" y="1748562"/>
              <a:ext cx="1991992" cy="1215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6754" name="直接连接符 21"/>
            <p:cNvCxnSpPr>
              <a:cxnSpLocks noChangeShapeType="1"/>
            </p:cNvCxnSpPr>
            <p:nvPr/>
          </p:nvCxnSpPr>
          <p:spPr bwMode="auto">
            <a:xfrm>
              <a:off x="1921920" y="2651380"/>
              <a:ext cx="1137642" cy="145486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5" name="直接连接符 31"/>
            <p:cNvCxnSpPr>
              <a:cxnSpLocks noChangeShapeType="1"/>
            </p:cNvCxnSpPr>
            <p:nvPr/>
          </p:nvCxnSpPr>
          <p:spPr bwMode="auto">
            <a:xfrm flipV="1">
              <a:off x="4606145" y="1750661"/>
              <a:ext cx="1456439" cy="382327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6" name="直接连接符 33"/>
            <p:cNvCxnSpPr>
              <a:cxnSpLocks noChangeShapeType="1"/>
            </p:cNvCxnSpPr>
            <p:nvPr/>
          </p:nvCxnSpPr>
          <p:spPr bwMode="auto">
            <a:xfrm>
              <a:off x="4616932" y="2369649"/>
              <a:ext cx="1445652" cy="59473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7" name="直接连接符 35"/>
            <p:cNvCxnSpPr>
              <a:cxnSpLocks noChangeShapeType="1"/>
            </p:cNvCxnSpPr>
            <p:nvPr/>
          </p:nvCxnSpPr>
          <p:spPr bwMode="auto">
            <a:xfrm flipV="1">
              <a:off x="6780508" y="2897693"/>
              <a:ext cx="224726" cy="371957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8" name="直接连接符 44"/>
            <p:cNvCxnSpPr>
              <a:cxnSpLocks noChangeShapeType="1"/>
            </p:cNvCxnSpPr>
            <p:nvPr/>
          </p:nvCxnSpPr>
          <p:spPr bwMode="auto">
            <a:xfrm flipH="1" flipV="1">
              <a:off x="6996574" y="2881965"/>
              <a:ext cx="256251" cy="449136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advTm="4236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4382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计算机组成原理</a:t>
            </a:r>
            <a:endParaRPr lang="zh-CN" altLang="en-US" dirty="0"/>
          </a:p>
        </p:txBody>
      </p:sp>
      <p:pic>
        <p:nvPicPr>
          <p:cNvPr id="1116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1838" y="1676400"/>
            <a:ext cx="7320324" cy="4082098"/>
          </a:xfrm>
        </p:spPr>
      </p:pic>
    </p:spTree>
  </p:cSld>
  <p:clrMapOvr>
    <a:masterClrMapping/>
  </p:clrMapOvr>
  <p:transition spd="med" advTm="56647">
    <p:pull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计算机的软件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计算机软件分类</a:t>
            </a:r>
            <a:endParaRPr lang="zh-CN" altLang="en-US"/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cs typeface="楷体_GB2312" pitchFamily="49" charset="-122"/>
              </a:rPr>
              <a:t>系统程序</a:t>
            </a:r>
            <a:endParaRPr lang="zh-CN" altLang="en-US">
              <a:cs typeface="楷体_GB2312" pitchFamily="49" charset="-122"/>
            </a:endParaRPr>
          </a:p>
          <a:p>
            <a:pPr lvl="1" eaLnBrk="1" hangingPunct="1"/>
            <a:r>
              <a:rPr lang="zh-CN" altLang="en-US">
                <a:cs typeface="楷体_GB2312" pitchFamily="49" charset="-122"/>
              </a:rPr>
              <a:t>操作系统</a:t>
            </a:r>
            <a:endParaRPr lang="zh-CN" altLang="en-US">
              <a:cs typeface="楷体_GB2312" pitchFamily="49" charset="-122"/>
            </a:endParaRPr>
          </a:p>
          <a:p>
            <a:pPr lvl="1" eaLnBrk="1" hangingPunct="1"/>
            <a:r>
              <a:rPr lang="zh-CN" altLang="en-US">
                <a:cs typeface="楷体_GB2312" pitchFamily="49" charset="-122"/>
              </a:rPr>
              <a:t>调试程序、诊断程序</a:t>
            </a:r>
            <a:endParaRPr lang="zh-CN" altLang="en-US">
              <a:cs typeface="楷体_GB2312" pitchFamily="49" charset="-122"/>
            </a:endParaRPr>
          </a:p>
          <a:p>
            <a:pPr lvl="1" eaLnBrk="1" hangingPunct="1"/>
            <a:r>
              <a:rPr lang="zh-CN" altLang="en-US">
                <a:cs typeface="楷体_GB2312" pitchFamily="49" charset="-122"/>
              </a:rPr>
              <a:t>汇编器、编译器、解释程序</a:t>
            </a:r>
            <a:endParaRPr lang="zh-CN" altLang="en-US">
              <a:cs typeface="楷体_GB2312" pitchFamily="49" charset="-122"/>
            </a:endParaRPr>
          </a:p>
          <a:p>
            <a:pPr lvl="1" eaLnBrk="1" hangingPunct="1"/>
            <a:r>
              <a:rPr lang="zh-CN" altLang="en-US">
                <a:cs typeface="楷体_GB2312" pitchFamily="49" charset="-122"/>
              </a:rPr>
              <a:t>数据库管理系统</a:t>
            </a:r>
            <a:endParaRPr lang="zh-CN" altLang="en-US">
              <a:cs typeface="楷体_GB2312" pitchFamily="49" charset="-122"/>
            </a:endParaRPr>
          </a:p>
          <a:p>
            <a:pPr eaLnBrk="1" hangingPunct="1"/>
            <a:r>
              <a:rPr lang="zh-CN" altLang="en-US">
                <a:cs typeface="楷体_GB2312" pitchFamily="49" charset="-122"/>
              </a:rPr>
              <a:t>应用程序</a:t>
            </a:r>
            <a:endParaRPr lang="zh-CN" altLang="en-US">
              <a:cs typeface="楷体_GB2312" pitchFamily="49" charset="-122"/>
            </a:endParaRPr>
          </a:p>
          <a:p>
            <a:pPr lvl="1" eaLnBrk="1" hangingPunct="1"/>
            <a:r>
              <a:rPr lang="en-US" altLang="zh-CN">
                <a:cs typeface="楷体_GB2312" pitchFamily="49" charset="-122"/>
              </a:rPr>
              <a:t>EDA</a:t>
            </a:r>
            <a:r>
              <a:rPr lang="zh-CN" altLang="en-US">
                <a:cs typeface="楷体_GB2312" pitchFamily="49" charset="-122"/>
              </a:rPr>
              <a:t>设计软件</a:t>
            </a:r>
            <a:endParaRPr lang="zh-CN" altLang="en-US">
              <a:cs typeface="楷体_GB2312" pitchFamily="49" charset="-122"/>
            </a:endParaRPr>
          </a:p>
          <a:p>
            <a:pPr lvl="1" eaLnBrk="1" hangingPunct="1"/>
            <a:r>
              <a:rPr lang="zh-CN" altLang="en-US">
                <a:cs typeface="楷体_GB2312" pitchFamily="49" charset="-122"/>
              </a:rPr>
              <a:t>数据处理软件</a:t>
            </a:r>
            <a:endParaRPr lang="zh-CN" altLang="en-US">
              <a:cs typeface="楷体_GB2312" pitchFamily="49" charset="-122"/>
            </a:endParaRPr>
          </a:p>
          <a:p>
            <a:pPr lvl="1" eaLnBrk="1" hangingPunct="1"/>
            <a:r>
              <a:rPr lang="en-US" altLang="zh-CN">
                <a:cs typeface="楷体_GB2312" pitchFamily="49" charset="-122"/>
              </a:rPr>
              <a:t>… …</a:t>
            </a:r>
            <a:endParaRPr lang="en-US" altLang="zh-CN">
              <a:cs typeface="楷体_GB2312" pitchFamily="49" charset="-122"/>
            </a:endParaRPr>
          </a:p>
        </p:txBody>
      </p:sp>
    </p:spTree>
  </p:cSld>
  <p:clrMapOvr>
    <a:masterClrMapping/>
  </p:clrMapOvr>
  <p:transition spd="med" advTm="36401">
    <p:pull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计算机软件层剖析</a:t>
            </a:r>
            <a:endParaRPr lang="zh-CN" altLang="en-US"/>
          </a:p>
        </p:txBody>
      </p:sp>
      <p:grpSp>
        <p:nvGrpSpPr>
          <p:cNvPr id="116740" name="组合 8"/>
          <p:cNvGrpSpPr/>
          <p:nvPr/>
        </p:nvGrpSpPr>
        <p:grpSpPr bwMode="auto">
          <a:xfrm>
            <a:off x="642938" y="1160011"/>
            <a:ext cx="7448550" cy="4935989"/>
            <a:chOff x="643629" y="1084490"/>
            <a:chExt cx="7448434" cy="4935310"/>
          </a:xfrm>
        </p:grpSpPr>
        <p:sp>
          <p:nvSpPr>
            <p:cNvPr id="116741" name="Text Box 4"/>
            <p:cNvSpPr txBox="1">
              <a:spLocks noChangeArrowheads="1"/>
            </p:cNvSpPr>
            <p:nvPr/>
          </p:nvSpPr>
          <p:spPr bwMode="auto">
            <a:xfrm>
              <a:off x="1007520" y="1084490"/>
              <a:ext cx="1828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计算机系统</a:t>
              </a:r>
              <a:endPara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742" name="Text Box 5"/>
            <p:cNvSpPr txBox="1">
              <a:spLocks noChangeArrowheads="1"/>
            </p:cNvSpPr>
            <p:nvPr/>
          </p:nvSpPr>
          <p:spPr bwMode="auto">
            <a:xfrm>
              <a:off x="3871959" y="1088832"/>
              <a:ext cx="1981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计算机结构</a:t>
              </a:r>
              <a:endPara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743" name="Text Box 6"/>
            <p:cNvSpPr txBox="1">
              <a:spLocks noChangeArrowheads="1"/>
            </p:cNvSpPr>
            <p:nvPr/>
          </p:nvSpPr>
          <p:spPr bwMode="auto">
            <a:xfrm>
              <a:off x="6339483" y="1088832"/>
              <a:ext cx="151316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处理器</a:t>
              </a:r>
              <a:endPara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pic>
          <p:nvPicPr>
            <p:cNvPr id="116744" name="Picture 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289"/>
            <a:stretch>
              <a:fillRect/>
            </a:stretch>
          </p:blipFill>
          <p:spPr bwMode="auto">
            <a:xfrm>
              <a:off x="4420319" y="3645024"/>
              <a:ext cx="3248025" cy="1828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745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6344" y="3619500"/>
              <a:ext cx="2628900" cy="181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746" name="Text Box 10"/>
            <p:cNvSpPr txBox="1">
              <a:spLocks noChangeArrowheads="1"/>
            </p:cNvSpPr>
            <p:nvPr/>
          </p:nvSpPr>
          <p:spPr bwMode="auto">
            <a:xfrm>
              <a:off x="2272848" y="5562600"/>
              <a:ext cx="149585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高级语言</a:t>
              </a:r>
              <a:endPara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747" name="Text Box 11"/>
            <p:cNvSpPr txBox="1">
              <a:spLocks noChangeArrowheads="1"/>
            </p:cNvSpPr>
            <p:nvPr/>
          </p:nvSpPr>
          <p:spPr bwMode="auto">
            <a:xfrm>
              <a:off x="4313312" y="5562600"/>
              <a:ext cx="1554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汇编语言</a:t>
              </a:r>
              <a:endPara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748" name="Text Box 12"/>
            <p:cNvSpPr txBox="1">
              <a:spLocks noChangeArrowheads="1"/>
            </p:cNvSpPr>
            <p:nvPr/>
          </p:nvSpPr>
          <p:spPr bwMode="auto">
            <a:xfrm>
              <a:off x="6397691" y="5562600"/>
              <a:ext cx="1572344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机器语言</a:t>
              </a:r>
              <a:endParaRPr lang="zh-CN" altLang="en-US"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pic>
          <p:nvPicPr>
            <p:cNvPr id="116749" name="内容占位符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629" y="1758677"/>
              <a:ext cx="1987128" cy="1489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750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75" b="23575"/>
            <a:stretch>
              <a:fillRect/>
            </a:stretch>
          </p:blipFill>
          <p:spPr bwMode="auto">
            <a:xfrm>
              <a:off x="2976254" y="1826757"/>
              <a:ext cx="2740833" cy="1047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6751" name="直接连接符 15"/>
            <p:cNvCxnSpPr>
              <a:cxnSpLocks noChangeShapeType="1"/>
            </p:cNvCxnSpPr>
            <p:nvPr/>
          </p:nvCxnSpPr>
          <p:spPr bwMode="auto">
            <a:xfrm flipV="1">
              <a:off x="1891576" y="1926278"/>
              <a:ext cx="1167986" cy="22266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16752" name="图片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0071" y="1729408"/>
              <a:ext cx="1991992" cy="1215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6753" name="直接连接符 17"/>
            <p:cNvCxnSpPr>
              <a:cxnSpLocks noChangeShapeType="1"/>
            </p:cNvCxnSpPr>
            <p:nvPr/>
          </p:nvCxnSpPr>
          <p:spPr bwMode="auto">
            <a:xfrm>
              <a:off x="1921920" y="2632226"/>
              <a:ext cx="1137642" cy="145486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4" name="直接连接符 18"/>
            <p:cNvCxnSpPr>
              <a:cxnSpLocks noChangeShapeType="1"/>
            </p:cNvCxnSpPr>
            <p:nvPr/>
          </p:nvCxnSpPr>
          <p:spPr bwMode="auto">
            <a:xfrm flipV="1">
              <a:off x="4606145" y="1731507"/>
              <a:ext cx="1456439" cy="382327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5" name="直接连接符 19"/>
            <p:cNvCxnSpPr>
              <a:cxnSpLocks noChangeShapeType="1"/>
            </p:cNvCxnSpPr>
            <p:nvPr/>
          </p:nvCxnSpPr>
          <p:spPr bwMode="auto">
            <a:xfrm>
              <a:off x="4616932" y="2350495"/>
              <a:ext cx="1445652" cy="59473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6" name="直接连接符 20"/>
            <p:cNvCxnSpPr>
              <a:cxnSpLocks noChangeShapeType="1"/>
            </p:cNvCxnSpPr>
            <p:nvPr/>
          </p:nvCxnSpPr>
          <p:spPr bwMode="auto">
            <a:xfrm flipV="1">
              <a:off x="6710766" y="2957995"/>
              <a:ext cx="23953" cy="699605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6757" name="矩形 6"/>
            <p:cNvSpPr>
              <a:spLocks noChangeArrowheads="1"/>
            </p:cNvSpPr>
            <p:nvPr/>
          </p:nvSpPr>
          <p:spPr bwMode="auto">
            <a:xfrm>
              <a:off x="6934200" y="3632262"/>
              <a:ext cx="755576" cy="488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6758" name="直接连接符 21"/>
            <p:cNvCxnSpPr>
              <a:cxnSpLocks noChangeShapeType="1"/>
            </p:cNvCxnSpPr>
            <p:nvPr/>
          </p:nvCxnSpPr>
          <p:spPr bwMode="auto">
            <a:xfrm flipH="1" flipV="1">
              <a:off x="7183863" y="2964939"/>
              <a:ext cx="256250" cy="1127907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med" advTm="57667">
    <p:pull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计算机软件层剖析</a:t>
            </a:r>
            <a:endParaRPr lang="zh-CN" altLang="en-US" dirty="0"/>
          </a:p>
        </p:txBody>
      </p:sp>
      <p:sp>
        <p:nvSpPr>
          <p:cNvPr id="911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1141" name="Text Box 4"/>
          <p:cNvSpPr txBox="1">
            <a:spLocks noChangeArrowheads="1"/>
          </p:cNvSpPr>
          <p:nvPr/>
        </p:nvSpPr>
        <p:spPr bwMode="auto">
          <a:xfrm>
            <a:off x="1524000" y="16002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计算机系统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1142" name="Text Box 5"/>
          <p:cNvSpPr txBox="1">
            <a:spLocks noChangeArrowheads="1"/>
          </p:cNvSpPr>
          <p:nvPr/>
        </p:nvSpPr>
        <p:spPr bwMode="auto">
          <a:xfrm>
            <a:off x="3823449" y="1657818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计算机结构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1143" name="Text Box 6"/>
          <p:cNvSpPr txBox="1">
            <a:spLocks noChangeArrowheads="1"/>
          </p:cNvSpPr>
          <p:nvPr/>
        </p:nvSpPr>
        <p:spPr bwMode="auto">
          <a:xfrm>
            <a:off x="5927912" y="16623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处理器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1144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09800"/>
            <a:ext cx="233362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2359025"/>
            <a:ext cx="3248025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6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3619500"/>
            <a:ext cx="26289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7" name="Text Box 10"/>
          <p:cNvSpPr txBox="1">
            <a:spLocks noChangeArrowheads="1"/>
          </p:cNvSpPr>
          <p:nvPr/>
        </p:nvSpPr>
        <p:spPr bwMode="auto">
          <a:xfrm>
            <a:off x="1662953" y="5522261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高级语言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1148" name="Text Box 11"/>
          <p:cNvSpPr txBox="1">
            <a:spLocks noChangeArrowheads="1"/>
          </p:cNvSpPr>
          <p:nvPr/>
        </p:nvSpPr>
        <p:spPr bwMode="auto">
          <a:xfrm>
            <a:off x="3643032" y="5531786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汇编语言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1149" name="Text Box 12"/>
          <p:cNvSpPr txBox="1">
            <a:spLocks noChangeArrowheads="1"/>
          </p:cNvSpPr>
          <p:nvPr/>
        </p:nvSpPr>
        <p:spPr bwMode="auto">
          <a:xfrm>
            <a:off x="5927912" y="5546725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机器语言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 advTm="51796">
    <p:pull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</a:t>
            </a:r>
            <a:r>
              <a:rPr lang="zh-CN" altLang="en-US" dirty="0"/>
              <a:t>语言程序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zh-CN" altLang="en-US" dirty="0"/>
              <a:t>汇编语言程序</a:t>
            </a:r>
            <a:endParaRPr lang="zh-CN" altLang="en-US" dirty="0"/>
          </a:p>
        </p:txBody>
      </p:sp>
      <p:sp>
        <p:nvSpPr>
          <p:cNvPr id="16" name="Rectangle 5"/>
          <p:cNvSpPr/>
          <p:nvPr/>
        </p:nvSpPr>
        <p:spPr bwMode="auto">
          <a:xfrm>
            <a:off x="106363" y="1400175"/>
            <a:ext cx="4752975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8100" tIns="38100" rIns="38100" bIns="38100"/>
          <a:lstStyle/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#include &lt;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stdio.h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&gt;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void sum(int 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x,int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 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y,int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* z){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    *z=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x+y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;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}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int main(void){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    int result;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    sum(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100,200,&amp;result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);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    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printf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("100 + 200 = %d\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n",result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);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    return 0;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}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</p:txBody>
      </p:sp>
      <p:sp>
        <p:nvSpPr>
          <p:cNvPr id="93189" name="右箭头 6"/>
          <p:cNvSpPr>
            <a:spLocks noChangeArrowheads="1"/>
          </p:cNvSpPr>
          <p:nvPr/>
        </p:nvSpPr>
        <p:spPr bwMode="auto">
          <a:xfrm>
            <a:off x="2057400" y="6049589"/>
            <a:ext cx="4070350" cy="728662"/>
          </a:xfrm>
          <a:prstGeom prst="rightArrow">
            <a:avLst>
              <a:gd name="adj1" fmla="val 50000"/>
              <a:gd name="adj2" fmla="val 50094"/>
            </a:avLst>
          </a:prstGeom>
          <a:noFill/>
          <a:ln w="15875" algn="ctr">
            <a:solidFill>
              <a:srgbClr val="00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12900" y="6182939"/>
            <a:ext cx="4757737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编译命令 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gcc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Og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–S </a:t>
            </a:r>
            <a:r>
              <a:rPr lang="en-US" altLang="zh-CN" sz="20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sample.c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4"/>
          <p:cNvSpPr/>
          <p:nvPr/>
        </p:nvSpPr>
        <p:spPr bwMode="auto">
          <a:xfrm>
            <a:off x="5075238" y="1270000"/>
            <a:ext cx="3919537" cy="4703763"/>
          </a:xfrm>
          <a:prstGeom prst="rect">
            <a:avLst/>
          </a:prstGeom>
          <a:solidFill>
            <a:srgbClr val="F1C7C7"/>
          </a:solidFill>
          <a:ln w="12700" cap="flat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8100" tIns="38100" rIns="38100" bIns="38100"/>
          <a:lstStyle/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sum: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addl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edi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esi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esi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, (%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rdx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)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ret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main: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subq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$24,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rsp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movq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fs:40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rax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movq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rax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, 8(%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rsp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)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xorl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eax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eax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leaq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4(%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rsp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),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rdx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$200,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esi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$100,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edi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call	sum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4(%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rsp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),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edx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$.LC0,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esi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$1,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edi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movl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$0, %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eax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call	__</a:t>
            </a:r>
            <a:r>
              <a:rPr kumimoji="0" lang="en-US" sz="16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printf_chk</a:t>
            </a:r>
            <a:endParaRPr kumimoji="0" lang="en-US" sz="16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  <a:p>
            <a:pPr algn="l" fontAlgn="auto">
              <a:spcAft>
                <a:spcPts val="0"/>
              </a:spcAft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  <a:defRPr/>
            </a:pP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 Bold" charset="0"/>
              </a:rPr>
              <a:t>	</a:t>
            </a:r>
            <a:r>
              <a:rPr kumimoji="0" 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endParaRPr kumimoji="0" lang="en-US" sz="18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 Bold" charset="0"/>
            </a:endParaRPr>
          </a:p>
        </p:txBody>
      </p:sp>
      <p:sp>
        <p:nvSpPr>
          <p:cNvPr id="93192" name="文本框 8"/>
          <p:cNvSpPr txBox="1">
            <a:spLocks noChangeArrowheads="1"/>
          </p:cNvSpPr>
          <p:nvPr/>
        </p:nvSpPr>
        <p:spPr bwMode="auto">
          <a:xfrm>
            <a:off x="7783512" y="1268413"/>
            <a:ext cx="1211263" cy="40005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2000" b="1" dirty="0">
                <a:solidFill>
                  <a:schemeClr val="accent2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64</a:t>
            </a:r>
            <a:r>
              <a:rPr lang="zh-CN" altLang="en-US" sz="2000" b="1" dirty="0">
                <a:solidFill>
                  <a:schemeClr val="accent2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位汇编</a:t>
            </a:r>
            <a:endParaRPr lang="zh-CN" altLang="en-US" sz="2000" b="1" dirty="0">
              <a:solidFill>
                <a:schemeClr val="accent2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3" name="文本框 4"/>
          <p:cNvSpPr txBox="1">
            <a:spLocks noChangeArrowheads="1"/>
          </p:cNvSpPr>
          <p:nvPr/>
        </p:nvSpPr>
        <p:spPr bwMode="auto">
          <a:xfrm>
            <a:off x="49213" y="939800"/>
            <a:ext cx="998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800"/>
              <a:t>sample.c</a:t>
            </a:r>
            <a:endParaRPr lang="zh-CN" altLang="en-US" sz="1800"/>
          </a:p>
        </p:txBody>
      </p:sp>
      <p:sp>
        <p:nvSpPr>
          <p:cNvPr id="93194" name="文本框 10"/>
          <p:cNvSpPr txBox="1">
            <a:spLocks noChangeArrowheads="1"/>
          </p:cNvSpPr>
          <p:nvPr/>
        </p:nvSpPr>
        <p:spPr bwMode="auto">
          <a:xfrm>
            <a:off x="5003800" y="898525"/>
            <a:ext cx="985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800"/>
              <a:t>sample.s</a:t>
            </a:r>
            <a:endParaRPr lang="zh-CN" altLang="en-US" sz="1800"/>
          </a:p>
        </p:txBody>
      </p:sp>
    </p:spTree>
  </p:cSld>
  <p:clrMapOvr>
    <a:masterClrMapping/>
  </p:clrMapOvr>
  <p:transition spd="med" advTm="40571">
    <p:pull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机器码</a:t>
            </a:r>
            <a:endParaRPr lang="zh-CN" altLang="en-US" dirty="0"/>
          </a:p>
        </p:txBody>
      </p:sp>
      <p:sp>
        <p:nvSpPr>
          <p:cNvPr id="952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00000000004005bb &lt;main&gt;: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4005bb:	48 83 </a:t>
            </a:r>
            <a:r>
              <a:rPr lang="en-US" altLang="zh-CN" sz="1600" dirty="0" err="1"/>
              <a:t>ec</a:t>
            </a:r>
            <a:r>
              <a:rPr lang="en-US" altLang="zh-CN" sz="1600" dirty="0"/>
              <a:t> 18          	sub     $0x18,%rsp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4005bf:	64 48 8b 04 25 28 00 	mov    %fs:0x28,%rax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4005c6:	00 00 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4005c8:	48 89 44 24 08       	mov    %rax,0x8(%</a:t>
            </a:r>
            <a:r>
              <a:rPr lang="en-US" altLang="zh-CN" sz="1600" dirty="0" err="1"/>
              <a:t>rsp</a:t>
            </a:r>
            <a:r>
              <a:rPr lang="en-US" altLang="zh-CN" sz="1600" dirty="0"/>
              <a:t>)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4005cd:	31 c0                	</a:t>
            </a:r>
            <a:r>
              <a:rPr lang="en-US" altLang="zh-CN" sz="1600" dirty="0" err="1"/>
              <a:t>xor</a:t>
            </a:r>
            <a:r>
              <a:rPr lang="en-US" altLang="zh-CN" sz="1600" dirty="0"/>
              <a:t>     %</a:t>
            </a:r>
            <a:r>
              <a:rPr lang="en-US" altLang="zh-CN" sz="1600" dirty="0" err="1"/>
              <a:t>eax</a:t>
            </a:r>
            <a:r>
              <a:rPr lang="en-US" altLang="zh-CN" sz="1600" dirty="0"/>
              <a:t>,%</a:t>
            </a:r>
            <a:r>
              <a:rPr lang="en-US" altLang="zh-CN" sz="1600" dirty="0" err="1"/>
              <a:t>eax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4005cf:	48 8d 54 24 04       	lea      0x4(%</a:t>
            </a:r>
            <a:r>
              <a:rPr lang="en-US" altLang="zh-CN" sz="1600" dirty="0" err="1"/>
              <a:t>rsp</a:t>
            </a:r>
            <a:r>
              <a:rPr lang="en-US" altLang="zh-CN" sz="1600" dirty="0"/>
              <a:t>),%</a:t>
            </a:r>
            <a:r>
              <a:rPr lang="en-US" altLang="zh-CN" sz="1600" dirty="0" err="1"/>
              <a:t>rdx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4005d4:	be c8 00 00 00       	mov    $0xc8,%esi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4005d9:	bf 64 00 00 00       	mov    $0x64,%edi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4005de:	e8 d3 ff </a:t>
            </a:r>
            <a:r>
              <a:rPr lang="en-US" altLang="zh-CN" sz="1600" dirty="0" err="1"/>
              <a:t>ff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ff</a:t>
            </a:r>
            <a:r>
              <a:rPr lang="en-US" altLang="zh-CN" sz="1600" dirty="0"/>
              <a:t>       	</a:t>
            </a:r>
            <a:r>
              <a:rPr lang="en-US" altLang="zh-CN" sz="1600" dirty="0" err="1"/>
              <a:t>callq</a:t>
            </a:r>
            <a:r>
              <a:rPr lang="en-US" altLang="zh-CN" sz="1600" dirty="0"/>
              <a:t>   4005b6 &lt;sum&gt;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4005e3:	8b 54 24 04          	mov    0x4(%</a:t>
            </a:r>
            <a:r>
              <a:rPr lang="en-US" altLang="zh-CN" sz="1600" dirty="0" err="1"/>
              <a:t>rsp</a:t>
            </a:r>
            <a:r>
              <a:rPr lang="en-US" altLang="zh-CN" sz="1600" dirty="0"/>
              <a:t>),%</a:t>
            </a:r>
            <a:r>
              <a:rPr lang="en-US" altLang="zh-CN" sz="1600" dirty="0" err="1"/>
              <a:t>edx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4005e7:	be a4 06 40 00       	mov    $0x4006a4,%esi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4005ec:	bf 01 00 00 00       	mov    $0x1,%edi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4005f1:	b8 00 00 00 00       	mov    $0x0,%eax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4005f6:	e8 a5 </a:t>
            </a:r>
            <a:r>
              <a:rPr lang="en-US" altLang="zh-CN" sz="1600" dirty="0" err="1"/>
              <a:t>fe</a:t>
            </a:r>
            <a:r>
              <a:rPr lang="en-US" altLang="zh-CN" sz="1600" dirty="0"/>
              <a:t> ff </a:t>
            </a:r>
            <a:r>
              <a:rPr lang="en-US" altLang="zh-CN" sz="1600" dirty="0" err="1"/>
              <a:t>ff</a:t>
            </a:r>
            <a:r>
              <a:rPr lang="en-US" altLang="zh-CN" sz="1600" dirty="0"/>
              <a:t>       	</a:t>
            </a:r>
            <a:r>
              <a:rPr lang="en-US" altLang="zh-CN" sz="1600" dirty="0" err="1"/>
              <a:t>callq</a:t>
            </a:r>
            <a:r>
              <a:rPr lang="en-US" altLang="zh-CN" sz="1600" dirty="0"/>
              <a:t>   4004a0 &lt;__</a:t>
            </a:r>
            <a:r>
              <a:rPr lang="en-US" altLang="zh-CN" sz="1600" dirty="0" err="1"/>
              <a:t>printf_chk@plt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>
                <a:sym typeface="Symbol" panose="05050102010706020507" pitchFamily="18" charset="2"/>
              </a:rPr>
              <a:t>  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400610:	b8 00 00 00 00       	mov    $0x0,%eax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400615:	48 83 c4 18          	add    $0x18,%rsp</a:t>
            </a:r>
            <a:endParaRPr lang="en-US" altLang="zh-CN" sz="1600" dirty="0"/>
          </a:p>
          <a:p>
            <a:pPr marL="0" indent="0">
              <a:spcBef>
                <a:spcPts val="0"/>
              </a:spcBef>
              <a:buFont typeface="Wingdings 2" charset="2"/>
              <a:buNone/>
            </a:pPr>
            <a:r>
              <a:rPr lang="en-US" altLang="zh-CN" sz="1600" dirty="0"/>
              <a:t>  400619:	c3                   	</a:t>
            </a:r>
            <a:r>
              <a:rPr lang="en-US" altLang="zh-CN" sz="1600" dirty="0" err="1"/>
              <a:t>retq</a:t>
            </a:r>
            <a:r>
              <a:rPr lang="en-US" altLang="zh-CN" sz="1600" dirty="0"/>
              <a:t> </a:t>
            </a:r>
            <a:endParaRPr lang="zh-CN" altLang="en-US" sz="1600" dirty="0"/>
          </a:p>
        </p:txBody>
      </p:sp>
    </p:spTree>
  </p:cSld>
  <p:clrMapOvr>
    <a:masterClrMapping/>
  </p:clrMapOvr>
  <p:transition spd="med" advTm="60298">
    <p:pull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en-US" dirty="0"/>
              <a:t>计算机系统的层次结构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1a7">
            <a:hlinkClick r:id="rId1" action="ppaction://hlinkfil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108" y="2199785"/>
            <a:ext cx="3116262" cy="291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3" name="内容占位符 7"/>
          <p:cNvSpPr>
            <a:spLocks noGrp="1" noChangeArrowheads="1"/>
          </p:cNvSpPr>
          <p:nvPr>
            <p:ph idx="1"/>
          </p:nvPr>
        </p:nvSpPr>
        <p:spPr>
          <a:xfrm>
            <a:off x="34925" y="1371602"/>
            <a:ext cx="6111875" cy="4937123"/>
          </a:xfrm>
        </p:spPr>
        <p:txBody>
          <a:bodyPr/>
          <a:lstStyle/>
          <a:p>
            <a:r>
              <a:rPr lang="zh-CN" altLang="en-US" sz="2300" dirty="0">
                <a:cs typeface="楷体_GB2312" pitchFamily="49" charset="-122"/>
              </a:rPr>
              <a:t>第</a:t>
            </a:r>
            <a:r>
              <a:rPr lang="en-US" altLang="zh-CN" sz="2300" dirty="0">
                <a:cs typeface="楷体_GB2312" pitchFamily="49" charset="-122"/>
              </a:rPr>
              <a:t>1</a:t>
            </a:r>
            <a:r>
              <a:rPr lang="zh-CN" altLang="en-US" sz="2300" dirty="0">
                <a:cs typeface="楷体_GB2312" pitchFamily="49" charset="-122"/>
              </a:rPr>
              <a:t>级为微程序（或硬布线）级。是一个实际机器层，由硬件直接执行微指令。</a:t>
            </a:r>
            <a:endParaRPr lang="en-US" altLang="zh-CN" sz="2300" dirty="0">
              <a:cs typeface="楷体_GB2312" pitchFamily="49" charset="-122"/>
            </a:endParaRPr>
          </a:p>
          <a:p>
            <a:r>
              <a:rPr lang="zh-CN" altLang="en-US" sz="2300" dirty="0">
                <a:cs typeface="楷体_GB2312" pitchFamily="49" charset="-122"/>
              </a:rPr>
              <a:t>第</a:t>
            </a:r>
            <a:r>
              <a:rPr lang="en-US" altLang="zh-CN" sz="2300" dirty="0">
                <a:cs typeface="楷体_GB2312" pitchFamily="49" charset="-122"/>
              </a:rPr>
              <a:t>2</a:t>
            </a:r>
            <a:r>
              <a:rPr lang="zh-CN" altLang="en-US" sz="2300" dirty="0">
                <a:cs typeface="楷体_GB2312" pitchFamily="49" charset="-122"/>
              </a:rPr>
              <a:t>级为一般机器级。</a:t>
            </a:r>
            <a:r>
              <a:rPr lang="zh-CN" altLang="en-US" sz="2400" dirty="0"/>
              <a:t>也称为机器语言级，它由微程序解释机器指令系统。这一级也是硬件级</a:t>
            </a:r>
            <a:endParaRPr lang="en-US" altLang="zh-CN" sz="2400" dirty="0"/>
          </a:p>
          <a:p>
            <a:r>
              <a:rPr lang="zh-CN" altLang="en-US" sz="2300" dirty="0">
                <a:cs typeface="楷体_GB2312" pitchFamily="49" charset="-122"/>
              </a:rPr>
              <a:t>第</a:t>
            </a:r>
            <a:r>
              <a:rPr lang="en-US" altLang="zh-CN" sz="2300" dirty="0">
                <a:cs typeface="楷体_GB2312" pitchFamily="49" charset="-122"/>
              </a:rPr>
              <a:t>3</a:t>
            </a:r>
            <a:r>
              <a:rPr lang="zh-CN" altLang="en-US" sz="2300" dirty="0">
                <a:cs typeface="楷体_GB2312" pitchFamily="49" charset="-122"/>
              </a:rPr>
              <a:t>级为操作系统级。用于对计算机系统的软硬件资源进行管理和调度。也称为混合机</a:t>
            </a:r>
            <a:endParaRPr lang="en-US" altLang="zh-CN" sz="2300" dirty="0">
              <a:cs typeface="楷体_GB2312" pitchFamily="49" charset="-122"/>
            </a:endParaRPr>
          </a:p>
          <a:p>
            <a:r>
              <a:rPr lang="zh-CN" altLang="en-US" sz="2300" dirty="0">
                <a:cs typeface="楷体_GB2312" pitchFamily="49" charset="-122"/>
              </a:rPr>
              <a:t>第</a:t>
            </a:r>
            <a:r>
              <a:rPr lang="en-US" altLang="zh-CN" sz="2300" dirty="0">
                <a:cs typeface="楷体_GB2312" pitchFamily="49" charset="-122"/>
              </a:rPr>
              <a:t>4</a:t>
            </a:r>
            <a:r>
              <a:rPr lang="zh-CN" altLang="en-US" sz="2300" dirty="0">
                <a:cs typeface="楷体_GB2312" pitchFamily="49" charset="-122"/>
              </a:rPr>
              <a:t>级为汇编语言级。通过汇编器将汇编程序翻译成机器指令</a:t>
            </a:r>
            <a:endParaRPr lang="en-US" altLang="zh-CN" sz="2300" dirty="0">
              <a:cs typeface="楷体_GB2312" pitchFamily="49" charset="-122"/>
            </a:endParaRPr>
          </a:p>
          <a:p>
            <a:r>
              <a:rPr lang="zh-CN" altLang="en-US" sz="2300" dirty="0">
                <a:cs typeface="楷体_GB2312" pitchFamily="49" charset="-122"/>
              </a:rPr>
              <a:t>第</a:t>
            </a:r>
            <a:r>
              <a:rPr lang="en-US" altLang="zh-CN" sz="2300" dirty="0">
                <a:cs typeface="楷体_GB2312" pitchFamily="49" charset="-122"/>
              </a:rPr>
              <a:t>5</a:t>
            </a:r>
            <a:r>
              <a:rPr lang="zh-CN" altLang="en-US" sz="2300" dirty="0">
                <a:cs typeface="楷体_GB2312" pitchFamily="49" charset="-122"/>
              </a:rPr>
              <a:t>级为高级语言级。用编译程序翻译成第</a:t>
            </a:r>
            <a:r>
              <a:rPr lang="en-US" altLang="zh-CN" sz="2300" dirty="0">
                <a:cs typeface="楷体_GB2312" pitchFamily="49" charset="-122"/>
              </a:rPr>
              <a:t>4</a:t>
            </a:r>
            <a:r>
              <a:rPr lang="zh-CN" altLang="en-US" sz="2300" dirty="0">
                <a:cs typeface="楷体_GB2312" pitchFamily="49" charset="-122"/>
              </a:rPr>
              <a:t>级的汇编语言程序</a:t>
            </a:r>
            <a:endParaRPr lang="zh-CN" altLang="en-US" sz="2300" dirty="0">
              <a:cs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计算机系统的层次结构</a:t>
            </a:r>
            <a:endParaRPr lang="zh-CN" altLang="en-US"/>
          </a:p>
        </p:txBody>
      </p:sp>
    </p:spTree>
  </p:cSld>
  <p:clrMapOvr>
    <a:masterClrMapping/>
  </p:clrMapOvr>
  <p:transition spd="med" advTm="18467">
    <p:pull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46062"/>
            <a:ext cx="8980487" cy="762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dirty="0"/>
              <a:t>n</a:t>
            </a:r>
            <a:r>
              <a:rPr lang="zh-CN" altLang="en-US" dirty="0"/>
              <a:t>层计算机系统层次结构</a:t>
            </a:r>
            <a:endParaRPr lang="zh-CN" altLang="en-US" dirty="0"/>
          </a:p>
        </p:txBody>
      </p:sp>
      <p:sp>
        <p:nvSpPr>
          <p:cNvPr id="304131" name="Rectangle 3"/>
          <p:cNvSpPr>
            <a:spLocks noChangeArrowheads="1"/>
          </p:cNvSpPr>
          <p:nvPr/>
        </p:nvSpPr>
        <p:spPr bwMode="auto">
          <a:xfrm>
            <a:off x="2562225" y="5768975"/>
            <a:ext cx="3384550" cy="539750"/>
          </a:xfrm>
          <a:prstGeom prst="rect">
            <a:avLst/>
          </a:prstGeom>
          <a:solidFill>
            <a:srgbClr val="993366"/>
          </a:solidFill>
          <a:ln w="9525" algn="ctr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1800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实际计算机</a:t>
            </a:r>
            <a:r>
              <a:rPr lang="en-US" altLang="zh-CN" sz="1800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M1,</a:t>
            </a:r>
            <a:r>
              <a:rPr lang="zh-CN" altLang="en-US" sz="1800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其机器语言为</a:t>
            </a:r>
            <a:r>
              <a:rPr lang="en-US" altLang="zh-CN" sz="1800" b="1" dirty="0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L1</a:t>
            </a:r>
            <a:endParaRPr lang="en-US" altLang="zh-CN" sz="1800" b="1" dirty="0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2562225" y="4867275"/>
            <a:ext cx="3384550" cy="504825"/>
          </a:xfrm>
          <a:prstGeom prst="rect">
            <a:avLst/>
          </a:prstGeom>
          <a:solidFill>
            <a:srgbClr val="993366"/>
          </a:solidFill>
          <a:ln w="9525" algn="ctr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虚拟机</a:t>
            </a:r>
            <a:r>
              <a:rPr lang="en-US" altLang="zh-CN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M2</a:t>
            </a:r>
            <a:r>
              <a:rPr lang="zh-CN" altLang="en-US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，其机器语言为</a:t>
            </a:r>
            <a:r>
              <a:rPr lang="en-US" altLang="zh-CN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L2</a:t>
            </a:r>
            <a:endParaRPr lang="en-US" altLang="zh-CN" sz="2000" b="1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3910" name="AutoShape 5"/>
          <p:cNvCxnSpPr>
            <a:cxnSpLocks noChangeShapeType="1"/>
            <a:stCxn id="304132" idx="2"/>
            <a:endCxn id="304131" idx="0"/>
          </p:cNvCxnSpPr>
          <p:nvPr/>
        </p:nvCxnSpPr>
        <p:spPr bwMode="auto">
          <a:xfrm>
            <a:off x="4254500" y="5372100"/>
            <a:ext cx="0" cy="3968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2562225" y="3930650"/>
            <a:ext cx="3384550" cy="504825"/>
          </a:xfrm>
          <a:prstGeom prst="rect">
            <a:avLst/>
          </a:prstGeom>
          <a:solidFill>
            <a:srgbClr val="993366"/>
          </a:solidFill>
          <a:ln w="9525" algn="ctr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虚拟机</a:t>
            </a:r>
            <a:r>
              <a:rPr lang="en-US" altLang="zh-CN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M3</a:t>
            </a:r>
            <a:r>
              <a:rPr lang="zh-CN" altLang="en-US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，其机器语言为</a:t>
            </a:r>
            <a:r>
              <a:rPr lang="en-US" altLang="zh-CN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L3</a:t>
            </a:r>
            <a:endParaRPr lang="en-US" altLang="zh-CN" sz="2000" b="1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35" name="Rectangle 7"/>
          <p:cNvSpPr>
            <a:spLocks noChangeArrowheads="1"/>
          </p:cNvSpPr>
          <p:nvPr/>
        </p:nvSpPr>
        <p:spPr bwMode="auto">
          <a:xfrm>
            <a:off x="2562225" y="2995613"/>
            <a:ext cx="3384550" cy="504825"/>
          </a:xfrm>
          <a:prstGeom prst="rect">
            <a:avLst/>
          </a:prstGeom>
          <a:solidFill>
            <a:srgbClr val="993366"/>
          </a:solidFill>
          <a:ln w="9525" algn="ctr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虚拟机</a:t>
            </a:r>
            <a:r>
              <a:rPr lang="en-US" altLang="zh-CN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M4</a:t>
            </a:r>
            <a:r>
              <a:rPr lang="zh-CN" altLang="en-US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，其机器语言为</a:t>
            </a:r>
            <a:r>
              <a:rPr lang="en-US" altLang="zh-CN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L4</a:t>
            </a:r>
            <a:endParaRPr lang="en-US" altLang="zh-CN" sz="2000" b="1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37" name="Rectangle 9"/>
          <p:cNvSpPr>
            <a:spLocks noChangeArrowheads="1"/>
          </p:cNvSpPr>
          <p:nvPr/>
        </p:nvSpPr>
        <p:spPr bwMode="auto">
          <a:xfrm>
            <a:off x="2562225" y="1123950"/>
            <a:ext cx="3384550" cy="504825"/>
          </a:xfrm>
          <a:prstGeom prst="rect">
            <a:avLst/>
          </a:prstGeom>
          <a:solidFill>
            <a:srgbClr val="993366"/>
          </a:solidFill>
          <a:ln w="9525" algn="ctr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虚拟机</a:t>
            </a:r>
            <a:r>
              <a:rPr lang="en-US" altLang="zh-CN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Mn</a:t>
            </a:r>
            <a:r>
              <a:rPr lang="zh-CN" altLang="en-US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，其机器语言为</a:t>
            </a:r>
            <a:r>
              <a:rPr lang="en-US" altLang="zh-CN" sz="2000" b="1">
                <a:solidFill>
                  <a:schemeClr val="bg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Ln</a:t>
            </a:r>
            <a:endParaRPr lang="en-US" altLang="zh-CN" sz="2000" b="1">
              <a:solidFill>
                <a:schemeClr val="bg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3914" name="AutoShape 12"/>
          <p:cNvCxnSpPr>
            <a:cxnSpLocks noChangeShapeType="1"/>
            <a:stCxn id="304135" idx="2"/>
            <a:endCxn id="304134" idx="0"/>
          </p:cNvCxnSpPr>
          <p:nvPr/>
        </p:nvCxnSpPr>
        <p:spPr bwMode="auto">
          <a:xfrm>
            <a:off x="4254500" y="3500438"/>
            <a:ext cx="0" cy="4302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915" name="AutoShape 13"/>
          <p:cNvCxnSpPr>
            <a:cxnSpLocks noChangeShapeType="1"/>
            <a:stCxn id="304134" idx="2"/>
            <a:endCxn id="304132" idx="0"/>
          </p:cNvCxnSpPr>
          <p:nvPr/>
        </p:nvCxnSpPr>
        <p:spPr bwMode="auto">
          <a:xfrm>
            <a:off x="4254500" y="4435475"/>
            <a:ext cx="0" cy="431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4144" name="Text Box 16"/>
          <p:cNvSpPr txBox="1">
            <a:spLocks noChangeArrowheads="1"/>
          </p:cNvSpPr>
          <p:nvPr/>
        </p:nvSpPr>
        <p:spPr bwMode="auto">
          <a:xfrm>
            <a:off x="6408738" y="5535613"/>
            <a:ext cx="2627312" cy="7080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L1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编写的程序可直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接由电子电路执行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48" name="Text Box 20"/>
          <p:cNvSpPr txBox="1">
            <a:spLocks noChangeArrowheads="1"/>
          </p:cNvSpPr>
          <p:nvPr/>
        </p:nvSpPr>
        <p:spPr bwMode="auto">
          <a:xfrm>
            <a:off x="1622425" y="5840413"/>
            <a:ext cx="828675" cy="4000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49" name="Text Box 21"/>
          <p:cNvSpPr txBox="1">
            <a:spLocks noChangeArrowheads="1"/>
          </p:cNvSpPr>
          <p:nvPr/>
        </p:nvSpPr>
        <p:spPr bwMode="auto">
          <a:xfrm>
            <a:off x="1622425" y="4940300"/>
            <a:ext cx="828675" cy="4000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50" name="Text Box 22"/>
          <p:cNvSpPr txBox="1">
            <a:spLocks noChangeArrowheads="1"/>
          </p:cNvSpPr>
          <p:nvPr/>
        </p:nvSpPr>
        <p:spPr bwMode="auto">
          <a:xfrm>
            <a:off x="1622425" y="4005263"/>
            <a:ext cx="828675" cy="4000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51" name="Text Box 23"/>
          <p:cNvSpPr txBox="1">
            <a:spLocks noChangeArrowheads="1"/>
          </p:cNvSpPr>
          <p:nvPr/>
        </p:nvSpPr>
        <p:spPr bwMode="auto">
          <a:xfrm>
            <a:off x="1622425" y="3068638"/>
            <a:ext cx="828675" cy="4000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53" name="Text Box 25"/>
          <p:cNvSpPr txBox="1">
            <a:spLocks noChangeArrowheads="1"/>
          </p:cNvSpPr>
          <p:nvPr/>
        </p:nvSpPr>
        <p:spPr bwMode="auto">
          <a:xfrm>
            <a:off x="1619250" y="1158875"/>
            <a:ext cx="836613" cy="396875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</a:t>
            </a:r>
            <a:endParaRPr lang="zh-CN" altLang="en-US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54" name="Text Box 26"/>
          <p:cNvSpPr txBox="1">
            <a:spLocks noChangeArrowheads="1"/>
          </p:cNvSpPr>
          <p:nvPr/>
        </p:nvSpPr>
        <p:spPr bwMode="auto">
          <a:xfrm>
            <a:off x="4085910" y="2034153"/>
            <a:ext cx="492443" cy="605294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vert="eaVert"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……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3923" name="Line 28"/>
          <p:cNvSpPr>
            <a:spLocks noChangeShapeType="1"/>
          </p:cNvSpPr>
          <p:nvPr/>
        </p:nvSpPr>
        <p:spPr bwMode="auto">
          <a:xfrm flipH="1">
            <a:off x="5946775" y="5840413"/>
            <a:ext cx="461963" cy="2524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57" name="Text Box 29"/>
          <p:cNvSpPr txBox="1">
            <a:spLocks noChangeArrowheads="1"/>
          </p:cNvSpPr>
          <p:nvPr/>
        </p:nvSpPr>
        <p:spPr bwMode="auto">
          <a:xfrm>
            <a:off x="6378575" y="4133850"/>
            <a:ext cx="2657475" cy="13112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L2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编写的程序需经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运行在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M1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上的解释器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解释执行或翻译成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L1</a:t>
            </a:r>
            <a:endParaRPr lang="en-US" altLang="zh-CN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语言后执行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3925" name="Line 30"/>
          <p:cNvSpPr>
            <a:spLocks noChangeShapeType="1"/>
          </p:cNvSpPr>
          <p:nvPr/>
        </p:nvSpPr>
        <p:spPr bwMode="auto">
          <a:xfrm flipH="1">
            <a:off x="5946775" y="4905375"/>
            <a:ext cx="431800" cy="252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59" name="Text Box 31"/>
          <p:cNvSpPr txBox="1">
            <a:spLocks noChangeArrowheads="1"/>
          </p:cNvSpPr>
          <p:nvPr/>
        </p:nvSpPr>
        <p:spPr bwMode="auto">
          <a:xfrm>
            <a:off x="6378575" y="2492375"/>
            <a:ext cx="2657475" cy="16160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L3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编写的程序需经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运行在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M2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M1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上的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解释器解释执行，或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翻译成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L2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L1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语言后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执行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3927" name="Line 32"/>
          <p:cNvSpPr>
            <a:spLocks noChangeShapeType="1"/>
          </p:cNvSpPr>
          <p:nvPr/>
        </p:nvSpPr>
        <p:spPr bwMode="auto">
          <a:xfrm flipH="1">
            <a:off x="5946775" y="3716338"/>
            <a:ext cx="431800" cy="32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4161" name="Text Box 33"/>
          <p:cNvSpPr txBox="1">
            <a:spLocks noChangeArrowheads="1"/>
          </p:cNvSpPr>
          <p:nvPr/>
        </p:nvSpPr>
        <p:spPr bwMode="auto">
          <a:xfrm>
            <a:off x="6378576" y="620713"/>
            <a:ext cx="2754312" cy="16319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Ln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编写的程序需经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运行在更低级别的机器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上的解释器解释执行，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或翻译成更低级别机器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上语言后执行</a:t>
            </a:r>
            <a:endParaRPr lang="zh-CN" altLang="en-US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3929" name="Line 35"/>
          <p:cNvSpPr>
            <a:spLocks noChangeShapeType="1"/>
          </p:cNvSpPr>
          <p:nvPr/>
        </p:nvSpPr>
        <p:spPr bwMode="auto">
          <a:xfrm flipH="1" flipV="1">
            <a:off x="5946775" y="1304925"/>
            <a:ext cx="431800" cy="250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Tm="155742">
    <p:pull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软件与硬件的逻辑等价性</a:t>
            </a: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600" dirty="0">
                <a:cs typeface="楷体_GB2312" pitchFamily="49" charset="-122"/>
              </a:rPr>
              <a:t>硬件 </a:t>
            </a:r>
            <a:r>
              <a:rPr lang="en-US" altLang="zh-CN" sz="2600" dirty="0">
                <a:cs typeface="楷体_GB2312" pitchFamily="49" charset="-122"/>
              </a:rPr>
              <a:t>– </a:t>
            </a:r>
            <a:r>
              <a:rPr lang="zh-CN" altLang="en-US" sz="2600" dirty="0">
                <a:cs typeface="楷体_GB2312" pitchFamily="49" charset="-122"/>
              </a:rPr>
              <a:t>能实现高速的算术逻辑运算功能，但难以实现较复杂的功能或实现的代价太高</a:t>
            </a:r>
            <a:endParaRPr lang="zh-CN" altLang="en-US" sz="2600" dirty="0">
              <a:cs typeface="楷体_GB2312" pitchFamily="49" charset="-122"/>
            </a:endParaRPr>
          </a:p>
          <a:p>
            <a:pPr eaLnBrk="1" hangingPunct="1"/>
            <a:r>
              <a:rPr lang="zh-CN" altLang="en-US" sz="2600" dirty="0">
                <a:cs typeface="楷体_GB2312" pitchFamily="49" charset="-122"/>
              </a:rPr>
              <a:t>软件 </a:t>
            </a:r>
            <a:r>
              <a:rPr lang="en-US" altLang="zh-CN" sz="2600" dirty="0">
                <a:cs typeface="楷体_GB2312" pitchFamily="49" charset="-122"/>
              </a:rPr>
              <a:t>– </a:t>
            </a:r>
            <a:r>
              <a:rPr lang="zh-CN" altLang="en-US" sz="2600" dirty="0">
                <a:cs typeface="楷体_GB2312" pitchFamily="49" charset="-122"/>
              </a:rPr>
              <a:t>易于实现各种复杂的算术逻辑运算功能，但是频繁的访存操作制约了处理速度</a:t>
            </a:r>
            <a:endParaRPr lang="en-US" altLang="zh-CN" sz="2600" dirty="0">
              <a:cs typeface="楷体_GB2312" pitchFamily="49" charset="-122"/>
            </a:endParaRPr>
          </a:p>
          <a:p>
            <a:pPr eaLnBrk="1" hangingPunct="1"/>
            <a:r>
              <a:rPr lang="zh-CN" altLang="en-US" sz="2600" dirty="0">
                <a:cs typeface="楷体_GB2312" pitchFamily="49" charset="-122"/>
              </a:rPr>
              <a:t>从理论上讲，任何软件算法可以用软件实现，也可以用硬件实现，即：软件和硬件在逻辑上等价</a:t>
            </a:r>
            <a:endParaRPr lang="zh-CN" altLang="en-US" sz="2600" dirty="0">
              <a:cs typeface="楷体_GB2312" pitchFamily="49" charset="-122"/>
            </a:endParaRPr>
          </a:p>
          <a:p>
            <a:pPr eaLnBrk="1" hangingPunct="1"/>
            <a:r>
              <a:rPr lang="zh-CN" altLang="en-US" sz="2600" dirty="0">
                <a:cs typeface="楷体_GB2312" pitchFamily="49" charset="-122"/>
              </a:rPr>
              <a:t>对于某一具体功能，采用硬件方案还是软件方案，取决于设计目标、技术水平、器件价格、速度、可靠性、易维护性和变更周期等因素</a:t>
            </a:r>
            <a:endParaRPr lang="zh-CN" altLang="en-US" sz="2600" dirty="0">
              <a:cs typeface="楷体_GB2312" pitchFamily="49" charset="-122"/>
            </a:endParaRPr>
          </a:p>
        </p:txBody>
      </p:sp>
      <p:graphicFrame>
        <p:nvGraphicFramePr>
          <p:cNvPr id="191490" name="Group 2"/>
          <p:cNvGraphicFramePr>
            <a:graphicFrameLocks noGrp="1"/>
          </p:cNvGraphicFramePr>
          <p:nvPr/>
        </p:nvGraphicFramePr>
        <p:xfrm>
          <a:off x="990600" y="5119035"/>
          <a:ext cx="7162800" cy="1282701"/>
        </p:xfrm>
        <a:graphic>
          <a:graphicData uri="http://schemas.openxmlformats.org/drawingml/2006/table">
            <a:tbl>
              <a:tblPr/>
              <a:tblGrid>
                <a:gridCol w="1431925"/>
                <a:gridCol w="1433512"/>
                <a:gridCol w="1431925"/>
                <a:gridCol w="1433513"/>
                <a:gridCol w="1431925"/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器件价格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速度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易维护性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变更周期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硬件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快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低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长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软件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低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慢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高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itchFamily="2" charset="-122"/>
                          <a:cs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  <a:cs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Tx/>
                        <a:buFont typeface="Wingdings 2" charset="2"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短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Tm="156001">
    <p:pull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发展趋势</a:t>
            </a:r>
            <a:endParaRPr lang="zh-CN" alt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xfrm>
            <a:off x="206375" y="1143000"/>
            <a:ext cx="8556625" cy="5324475"/>
          </a:xfrm>
        </p:spPr>
        <p:txBody>
          <a:bodyPr/>
          <a:lstStyle/>
          <a:p>
            <a:pPr eaLnBrk="1" hangingPunct="1"/>
            <a:r>
              <a:rPr lang="zh-CN" altLang="en-US" dirty="0">
                <a:cs typeface="楷体_GB2312" pitchFamily="49" charset="-122"/>
              </a:rPr>
              <a:t>以前由软件实现的功能，现在更多地直接由硬件实现</a:t>
            </a:r>
            <a:endParaRPr lang="zh-CN" altLang="en-US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计算机系统的软、硬件界限已经变得模糊了</a:t>
            </a:r>
            <a:endParaRPr lang="en-US" altLang="zh-CN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众核处理器</a:t>
            </a:r>
            <a:endParaRPr lang="en-US" altLang="zh-CN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并行计算、分布式处理技术</a:t>
            </a:r>
            <a:endParaRPr lang="en-US" altLang="zh-CN" dirty="0">
              <a:cs typeface="楷体_GB2312" pitchFamily="49" charset="-122"/>
            </a:endParaRPr>
          </a:p>
          <a:p>
            <a:pPr eaLnBrk="1" hangingPunct="1"/>
            <a:r>
              <a:rPr lang="zh-CN" altLang="en-US" dirty="0">
                <a:cs typeface="楷体_GB2312" pitchFamily="49" charset="-122"/>
              </a:rPr>
              <a:t>寻找硅之外的突破</a:t>
            </a:r>
            <a:endParaRPr lang="en-US" altLang="zh-CN" dirty="0">
              <a:cs typeface="楷体_GB2312" pitchFamily="49" charset="-122"/>
            </a:endParaRPr>
          </a:p>
          <a:p>
            <a:pPr lvl="1" eaLnBrk="1" hangingPunct="1"/>
            <a:r>
              <a:rPr lang="zh-CN" altLang="en-US">
                <a:cs typeface="楷体_GB2312" pitchFamily="49" charset="-122"/>
              </a:rPr>
              <a:t>光计算机                </a:t>
            </a:r>
            <a:endParaRPr lang="en-US" altLang="zh-CN" dirty="0">
              <a:cs typeface="楷体_GB2312" pitchFamily="49" charset="-122"/>
            </a:endParaRPr>
          </a:p>
          <a:p>
            <a:pPr lvl="1" eaLnBrk="1" hangingPunct="1"/>
            <a:r>
              <a:rPr lang="zh-CN" altLang="en-US" dirty="0">
                <a:cs typeface="楷体_GB2312" pitchFamily="49" charset="-122"/>
              </a:rPr>
              <a:t>量子计算机</a:t>
            </a:r>
            <a:r>
              <a:rPr lang="en-US" altLang="zh-CN" dirty="0">
                <a:cs typeface="楷体_GB2312" pitchFamily="49" charset="-122"/>
              </a:rPr>
              <a:t>Quantum Computer</a:t>
            </a:r>
            <a:endParaRPr lang="en-US" altLang="zh-CN" dirty="0">
              <a:cs typeface="楷体_GB2312" pitchFamily="49" charset="-122"/>
            </a:endParaRPr>
          </a:p>
          <a:p>
            <a:pPr lvl="2"/>
            <a:r>
              <a:rPr lang="zh-CN" altLang="en-US" dirty="0">
                <a:cs typeface="楷体_GB2312" pitchFamily="49" charset="-122"/>
              </a:rPr>
              <a:t>量子比特</a:t>
            </a:r>
            <a:r>
              <a:rPr lang="en-US" altLang="zh-CN" dirty="0">
                <a:cs typeface="楷体_GB2312" pitchFamily="49" charset="-122"/>
              </a:rPr>
              <a:t>Qubit</a:t>
            </a:r>
            <a:endParaRPr lang="en-US" altLang="zh-CN" dirty="0">
              <a:cs typeface="楷体_GB2312" pitchFamily="49" charset="-122"/>
            </a:endParaRPr>
          </a:p>
          <a:p>
            <a:pPr lvl="2"/>
            <a:r>
              <a:rPr lang="zh-CN" altLang="en-US" dirty="0">
                <a:cs typeface="楷体_GB2312" pitchFamily="49" charset="-122"/>
              </a:rPr>
              <a:t>谷歌量子计算机</a:t>
            </a:r>
            <a:r>
              <a:rPr lang="en-US" altLang="zh-CN" dirty="0">
                <a:cs typeface="楷体_GB2312" pitchFamily="49" charset="-122"/>
              </a:rPr>
              <a:t>Sycamore</a:t>
            </a:r>
            <a:r>
              <a:rPr lang="zh-CN" altLang="en-US" dirty="0">
                <a:cs typeface="楷体_GB2312" pitchFamily="49" charset="-122"/>
              </a:rPr>
              <a:t>，</a:t>
            </a:r>
            <a:r>
              <a:rPr lang="en-US" altLang="zh-CN" dirty="0">
                <a:cs typeface="楷体_GB2312" pitchFamily="49" charset="-122"/>
              </a:rPr>
              <a:t>54</a:t>
            </a:r>
            <a:r>
              <a:rPr lang="zh-CN" altLang="en-US" dirty="0">
                <a:cs typeface="楷体_GB2312" pitchFamily="49" charset="-122"/>
              </a:rPr>
              <a:t>位量子比特</a:t>
            </a:r>
            <a:endParaRPr lang="en-US" altLang="zh-CN" dirty="0">
              <a:cs typeface="楷体_GB2312" pitchFamily="49" charset="-122"/>
            </a:endParaRPr>
          </a:p>
          <a:p>
            <a:pPr lvl="1" eaLnBrk="1" hangingPunct="1"/>
            <a:r>
              <a:rPr lang="zh-CN" altLang="en-US" dirty="0">
                <a:cs typeface="楷体_GB2312" pitchFamily="49" charset="-122"/>
              </a:rPr>
              <a:t>生物计算机</a:t>
            </a:r>
            <a:endParaRPr lang="en-US" altLang="zh-CN" dirty="0">
              <a:cs typeface="楷体_GB2312" pitchFamily="49" charset="-122"/>
            </a:endParaRPr>
          </a:p>
          <a:p>
            <a:pPr lvl="2"/>
            <a:r>
              <a:rPr lang="zh-CN" altLang="en-US" dirty="0">
                <a:cs typeface="楷体_GB2312" pitchFamily="49" charset="-122"/>
              </a:rPr>
              <a:t>生化反应机理生物计算机的</a:t>
            </a:r>
            <a:r>
              <a:rPr lang="en-US" altLang="zh-CN" dirty="0">
                <a:cs typeface="楷体_GB2312" pitchFamily="49" charset="-122"/>
              </a:rPr>
              <a:t>DNA</a:t>
            </a:r>
            <a:r>
              <a:rPr lang="zh-CN" altLang="en-US" dirty="0">
                <a:cs typeface="楷体_GB2312" pitchFamily="49" charset="-122"/>
              </a:rPr>
              <a:t>计算模型</a:t>
            </a:r>
            <a:endParaRPr lang="en-US" altLang="zh-CN" dirty="0">
              <a:cs typeface="楷体_GB2312" pitchFamily="49" charset="-122"/>
            </a:endParaRPr>
          </a:p>
          <a:p>
            <a:pPr lvl="2"/>
            <a:r>
              <a:rPr lang="zh-CN" altLang="en-US" dirty="0">
                <a:cs typeface="楷体_GB2312" pitchFamily="49" charset="-122"/>
              </a:rPr>
              <a:t>天然高集成度</a:t>
            </a:r>
            <a:endParaRPr lang="zh-CN" altLang="en-US" dirty="0">
              <a:cs typeface="楷体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733800"/>
            <a:ext cx="3246651" cy="2363314"/>
          </a:xfrm>
          <a:prstGeom prst="rect">
            <a:avLst/>
          </a:prstGeom>
        </p:spPr>
      </p:pic>
    </p:spTree>
  </p:cSld>
  <p:clrMapOvr>
    <a:masterClrMapping/>
  </p:clrMapOvr>
  <p:transition spd="med" advTm="155633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计算机分类</a:t>
            </a:r>
            <a:endParaRPr lang="en-US" altLang="zh-CN" dirty="0"/>
          </a:p>
          <a:p>
            <a:r>
              <a:rPr lang="zh-CN" altLang="en-US" dirty="0"/>
              <a:t>冯诺依曼结构计算机</a:t>
            </a:r>
            <a:endParaRPr lang="en-US" altLang="zh-CN" dirty="0"/>
          </a:p>
          <a:p>
            <a:r>
              <a:rPr lang="zh-CN" altLang="en-US" dirty="0"/>
              <a:t>计算机性能指标</a:t>
            </a:r>
            <a:endParaRPr lang="en-US" altLang="zh-CN" dirty="0"/>
          </a:p>
          <a:p>
            <a:r>
              <a:rPr lang="zh-CN" altLang="en-US" dirty="0"/>
              <a:t>计算机组成</a:t>
            </a:r>
            <a:endParaRPr lang="en-US" altLang="zh-CN" dirty="0"/>
          </a:p>
          <a:p>
            <a:pPr lvl="1"/>
            <a:r>
              <a:rPr lang="zh-CN" altLang="en-US" dirty="0"/>
              <a:t>软件</a:t>
            </a:r>
            <a:endParaRPr lang="en-US" altLang="zh-CN" dirty="0"/>
          </a:p>
          <a:p>
            <a:pPr lvl="1"/>
            <a:r>
              <a:rPr lang="zh-CN" altLang="en-US" dirty="0"/>
              <a:t>硬件</a:t>
            </a:r>
            <a:endParaRPr lang="en-US" altLang="zh-CN" dirty="0"/>
          </a:p>
          <a:p>
            <a:r>
              <a:rPr lang="zh-CN" altLang="en-US" dirty="0"/>
              <a:t>计算机系统层次结构</a:t>
            </a:r>
            <a:endParaRPr lang="en-US" altLang="zh-CN" dirty="0"/>
          </a:p>
          <a:p>
            <a:r>
              <a:rPr lang="zh-CN" altLang="en-US" dirty="0"/>
              <a:t>软硬件逻辑等价性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853" y="1066800"/>
            <a:ext cx="5050147" cy="443212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27249" y="2412197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行楷" pitchFamily="2" charset="-122"/>
                <a:ea typeface="华文行楷" pitchFamily="2" charset="-122"/>
              </a:rPr>
              <a:t>课间休息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33686" y="3330714"/>
            <a:ext cx="214177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5min</a:t>
            </a:r>
            <a:endParaRPr lang="zh-CN" altLang="en-US" sz="4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IMING" val="|42.8"/>
</p:tagLst>
</file>

<file path=ppt/tags/tag2.xml><?xml version="1.0" encoding="utf-8"?>
<p:tagLst xmlns:p="http://schemas.openxmlformats.org/presentationml/2006/main">
  <p:tag name="TIMING" val="|18|21.3|9.7|4.8|9.3"/>
</p:tagLst>
</file>

<file path=ppt/tags/tag3.xml><?xml version="1.0" encoding="utf-8"?>
<p:tagLst xmlns:p="http://schemas.openxmlformats.org/presentationml/2006/main">
  <p:tag name="TIMING" val="|82.5"/>
</p:tagLst>
</file>

<file path=ppt/theme/theme1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微机接口-单色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7474</Words>
  <Application>WPS 演示</Application>
  <PresentationFormat>全屏显示(4:3)</PresentationFormat>
  <Paragraphs>652</Paragraphs>
  <Slides>51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45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51</vt:i4>
      </vt:variant>
    </vt:vector>
  </HeadingPairs>
  <TitlesOfParts>
    <vt:vector size="102" baseType="lpstr">
      <vt:lpstr>Arial</vt:lpstr>
      <vt:lpstr>宋体</vt:lpstr>
      <vt:lpstr>Wingdings</vt:lpstr>
      <vt:lpstr>Gill Sans</vt:lpstr>
      <vt:lpstr>Segoe Print</vt:lpstr>
      <vt:lpstr>ヒラギノ角ゴ ProN W3</vt:lpstr>
      <vt:lpstr>Calibri Bold</vt:lpstr>
      <vt:lpstr>Calibri</vt:lpstr>
      <vt:lpstr>Times New Roman</vt:lpstr>
      <vt:lpstr>MS PGothic</vt:lpstr>
      <vt:lpstr>黑体</vt:lpstr>
      <vt:lpstr>ヒラギノ角ゴ ProN W6</vt:lpstr>
      <vt:lpstr>Wingdings 2</vt:lpstr>
      <vt:lpstr>Calibri Bold</vt:lpstr>
      <vt:lpstr>Wingdings</vt:lpstr>
      <vt:lpstr>华文新魏</vt:lpstr>
      <vt:lpstr>华文行楷</vt:lpstr>
      <vt:lpstr>楷体_GB2312</vt:lpstr>
      <vt:lpstr>新宋体</vt:lpstr>
      <vt:lpstr>华文中宋</vt:lpstr>
      <vt:lpstr>隶书</vt:lpstr>
      <vt:lpstr>楷体</vt:lpstr>
      <vt:lpstr>微软雅黑</vt:lpstr>
      <vt:lpstr>Arial Unicode MS</vt:lpstr>
      <vt:lpstr>Symbol</vt:lpstr>
      <vt:lpstr>Cambria Math</vt:lpstr>
      <vt:lpstr>Helvetica</vt:lpstr>
      <vt:lpstr>楷体_GB2312</vt:lpstr>
      <vt:lpstr>Courier New</vt:lpstr>
      <vt:lpstr>Courier New Bold</vt:lpstr>
      <vt:lpstr>Symbol</vt:lpstr>
      <vt:lpstr>Wingdings 2</vt:lpstr>
      <vt:lpstr>华文新魏</vt:lpstr>
      <vt:lpstr>华文行楷</vt:lpstr>
      <vt:lpstr>楷体_GB2312</vt:lpstr>
      <vt:lpstr>Saturday Sans Regular</vt:lpstr>
      <vt:lpstr>华康瘦金体W3</vt:lpstr>
      <vt:lpstr>Kata Bold</vt:lpstr>
      <vt:lpstr>字魂大黑W6</vt:lpstr>
      <vt:lpstr>方正仿宋_GB2312</vt:lpstr>
      <vt:lpstr>方正楷体_GB2312</vt:lpstr>
      <vt:lpstr>Sweetie</vt:lpstr>
      <vt:lpstr>Poppins</vt:lpstr>
      <vt:lpstr>Noto Sans SC</vt:lpstr>
      <vt:lpstr>Poppins</vt:lpstr>
      <vt:lpstr>Title and Content</vt:lpstr>
      <vt:lpstr>Title Only</vt:lpstr>
      <vt:lpstr>微机接口-单色</vt:lpstr>
      <vt:lpstr>Paint.Picture</vt:lpstr>
      <vt:lpstr>Paint.Picture</vt:lpstr>
      <vt:lpstr>Paint.Picture</vt:lpstr>
      <vt:lpstr>PowerPoint 演示文稿</vt:lpstr>
      <vt:lpstr>课程计划</vt:lpstr>
      <vt:lpstr>课程内容</vt:lpstr>
      <vt:lpstr>实验内容</vt:lpstr>
      <vt:lpstr>课程目的</vt:lpstr>
      <vt:lpstr>学习方法</vt:lpstr>
      <vt:lpstr>教材及参考书</vt:lpstr>
      <vt:lpstr>第1章 计算机概述</vt:lpstr>
      <vt:lpstr>计算机里有什么？</vt:lpstr>
      <vt:lpstr>处理器内部视图</vt:lpstr>
      <vt:lpstr>1.1 计算机的分类和应用</vt:lpstr>
      <vt:lpstr>通用计算机分类</vt:lpstr>
      <vt:lpstr>面向应用的分类</vt:lpstr>
      <vt:lpstr>e.g.   Autonomous Drone With AI and CV</vt:lpstr>
      <vt:lpstr>计算机的应用领域</vt:lpstr>
      <vt:lpstr>1.2 计算机发展简史</vt:lpstr>
      <vt:lpstr>计算机的演进</vt:lpstr>
      <vt:lpstr>世界上第一台计算机ENIAC</vt:lpstr>
      <vt:lpstr>IAS machine</vt:lpstr>
      <vt:lpstr>计算机技术飞速发展</vt:lpstr>
      <vt:lpstr>对比</vt:lpstr>
      <vt:lpstr>PowerPoint 演示文稿</vt:lpstr>
      <vt:lpstr>2025年11月Top500排名第1</vt:lpstr>
      <vt:lpstr>2025年12月Top500排名第2</vt:lpstr>
      <vt:lpstr>Moore’s Law </vt:lpstr>
      <vt:lpstr>Moore’s Law: 50年</vt:lpstr>
      <vt:lpstr>PowerPoint 演示文稿</vt:lpstr>
      <vt:lpstr>计算机的性能指标（1）</vt:lpstr>
      <vt:lpstr>计算机的性能指标（2）</vt:lpstr>
      <vt:lpstr>计算机的性能指标（3）</vt:lpstr>
      <vt:lpstr>例题</vt:lpstr>
      <vt:lpstr>1.3 计算机的硬件</vt:lpstr>
      <vt:lpstr>计算机组成</vt:lpstr>
      <vt:lpstr>基于总线的计算机</vt:lpstr>
      <vt:lpstr>典型计算机的硬件组成</vt:lpstr>
      <vt:lpstr>多处理器</vt:lpstr>
      <vt:lpstr>PowerPoint 演示文稿</vt:lpstr>
      <vt:lpstr>计算机组成原理</vt:lpstr>
      <vt:lpstr>1.4 计算机的软件</vt:lpstr>
      <vt:lpstr>计算机软件分类</vt:lpstr>
      <vt:lpstr>计算机软件层剖析</vt:lpstr>
      <vt:lpstr>计算机软件层剖析</vt:lpstr>
      <vt:lpstr>C语言程序汇编语言程序</vt:lpstr>
      <vt:lpstr>机器码</vt:lpstr>
      <vt:lpstr>1.5 计算机系统的层次结构</vt:lpstr>
      <vt:lpstr>计算机系统的层次结构</vt:lpstr>
      <vt:lpstr>n层计算机系统层次结构</vt:lpstr>
      <vt:lpstr>软件与硬件的逻辑等价性</vt:lpstr>
      <vt:lpstr>发展趋势</vt:lpstr>
      <vt:lpstr>本章小结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计算机组成原理</dc:title>
  <dc:creator>Markus Pueschel</dc:creator>
  <cp:lastModifiedBy>初九</cp:lastModifiedBy>
  <cp:revision>260</cp:revision>
  <cp:lastPrinted>2019-09-24T06:12:00Z</cp:lastPrinted>
  <dcterms:created xsi:type="dcterms:W3CDTF">2012-09-06T15:16:00Z</dcterms:created>
  <dcterms:modified xsi:type="dcterms:W3CDTF">2026-03-02T07:41:23Z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763D5D65B6CE41308F41CF929CA9A1CA_13</vt:lpwstr>
  </property>
</Properties>
</file>