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1" r:id="rId3"/>
    <p:sldMasterId id="2147483671" r:id="rId4"/>
  </p:sldMasterIdLst>
  <p:notesMasterIdLst>
    <p:notesMasterId r:id="rId26"/>
  </p:notesMasterIdLst>
  <p:handoutMasterIdLst>
    <p:handoutMasterId r:id="rId93"/>
  </p:handoutMasterIdLst>
  <p:sldIdLst>
    <p:sldId id="497" r:id="rId5"/>
    <p:sldId id="670" r:id="rId6"/>
    <p:sldId id="458" r:id="rId7"/>
    <p:sldId id="260" r:id="rId8"/>
    <p:sldId id="487" r:id="rId9"/>
    <p:sldId id="262" r:id="rId10"/>
    <p:sldId id="263" r:id="rId11"/>
    <p:sldId id="266" r:id="rId12"/>
    <p:sldId id="267" r:id="rId13"/>
    <p:sldId id="270" r:id="rId14"/>
    <p:sldId id="272" r:id="rId15"/>
    <p:sldId id="271" r:id="rId16"/>
    <p:sldId id="273" r:id="rId17"/>
    <p:sldId id="276" r:id="rId18"/>
    <p:sldId id="274" r:id="rId19"/>
    <p:sldId id="278" r:id="rId20"/>
    <p:sldId id="441" r:id="rId21"/>
    <p:sldId id="280" r:id="rId22"/>
    <p:sldId id="281" r:id="rId23"/>
    <p:sldId id="283" r:id="rId24"/>
    <p:sldId id="284" r:id="rId25"/>
    <p:sldId id="285" r:id="rId27"/>
    <p:sldId id="481" r:id="rId28"/>
    <p:sldId id="482" r:id="rId29"/>
    <p:sldId id="289" r:id="rId30"/>
    <p:sldId id="493" r:id="rId31"/>
    <p:sldId id="483" r:id="rId32"/>
    <p:sldId id="489" r:id="rId33"/>
    <p:sldId id="484" r:id="rId34"/>
    <p:sldId id="291" r:id="rId35"/>
    <p:sldId id="494" r:id="rId36"/>
    <p:sldId id="485" r:id="rId37"/>
    <p:sldId id="293" r:id="rId38"/>
    <p:sldId id="486" r:id="rId39"/>
    <p:sldId id="459" r:id="rId40"/>
    <p:sldId id="296" r:id="rId41"/>
    <p:sldId id="297" r:id="rId42"/>
    <p:sldId id="298" r:id="rId43"/>
    <p:sldId id="462" r:id="rId44"/>
    <p:sldId id="463" r:id="rId45"/>
    <p:sldId id="460" r:id="rId46"/>
    <p:sldId id="454" r:id="rId47"/>
    <p:sldId id="303" r:id="rId48"/>
    <p:sldId id="300" r:id="rId49"/>
    <p:sldId id="301" r:id="rId50"/>
    <p:sldId id="305" r:id="rId51"/>
    <p:sldId id="496" r:id="rId52"/>
    <p:sldId id="306" r:id="rId53"/>
    <p:sldId id="313" r:id="rId54"/>
    <p:sldId id="308" r:id="rId55"/>
    <p:sldId id="309" r:id="rId56"/>
    <p:sldId id="307" r:id="rId57"/>
    <p:sldId id="311" r:id="rId58"/>
    <p:sldId id="310" r:id="rId59"/>
    <p:sldId id="312" r:id="rId60"/>
    <p:sldId id="314" r:id="rId61"/>
    <p:sldId id="316" r:id="rId62"/>
    <p:sldId id="490" r:id="rId63"/>
    <p:sldId id="317" r:id="rId64"/>
    <p:sldId id="318" r:id="rId65"/>
    <p:sldId id="319" r:id="rId66"/>
    <p:sldId id="320" r:id="rId67"/>
    <p:sldId id="321" r:id="rId68"/>
    <p:sldId id="444" r:id="rId69"/>
    <p:sldId id="322" r:id="rId70"/>
    <p:sldId id="488" r:id="rId71"/>
    <p:sldId id="324" r:id="rId72"/>
    <p:sldId id="328" r:id="rId73"/>
    <p:sldId id="671" r:id="rId74"/>
    <p:sldId id="672" r:id="rId75"/>
    <p:sldId id="330" r:id="rId76"/>
    <p:sldId id="331" r:id="rId77"/>
    <p:sldId id="332" r:id="rId78"/>
    <p:sldId id="333" r:id="rId79"/>
    <p:sldId id="445" r:id="rId80"/>
    <p:sldId id="492" r:id="rId81"/>
    <p:sldId id="334" r:id="rId82"/>
    <p:sldId id="466" r:id="rId83"/>
    <p:sldId id="336" r:id="rId84"/>
    <p:sldId id="338" r:id="rId85"/>
    <p:sldId id="337" r:id="rId86"/>
    <p:sldId id="339" r:id="rId87"/>
    <p:sldId id="340" r:id="rId88"/>
    <p:sldId id="341" r:id="rId89"/>
    <p:sldId id="344" r:id="rId90"/>
    <p:sldId id="345" r:id="rId91"/>
    <p:sldId id="346" r:id="rId92"/>
  </p:sldIdLst>
  <p:sldSz cx="9144000" cy="6858000" type="screen4x3"/>
  <p:notesSz cx="7103745" cy="10234295"/>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userDrawn="1">
          <p15:clr>
            <a:srgbClr val="A4A3A4"/>
          </p15:clr>
        </p15:guide>
        <p15:guide id="2" pos="2784" userDrawn="1">
          <p15:clr>
            <a:srgbClr val="A4A3A4"/>
          </p15:clr>
        </p15:guide>
        <p15:guide id="3"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660066"/>
    <a:srgbClr val="FFCC00"/>
    <a:srgbClr val="006600"/>
    <a:srgbClr val="00F7F7"/>
    <a:srgbClr val="339933"/>
    <a:srgbClr val="3333CC"/>
    <a:srgbClr val="000066"/>
    <a:srgbClr val="0033CC"/>
    <a:srgbClr val="3333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6574" autoAdjust="0"/>
  </p:normalViewPr>
  <p:slideViewPr>
    <p:cSldViewPr showGuides="1">
      <p:cViewPr varScale="1">
        <p:scale>
          <a:sx n="106" d="100"/>
          <a:sy n="106" d="100"/>
        </p:scale>
        <p:origin x="1878" y="108"/>
      </p:cViewPr>
      <p:guideLst>
        <p:guide orient="horz" pos="3648"/>
        <p:guide pos="2784"/>
        <p:guide pos="4128"/>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148" d="100"/>
          <a:sy n="148" d="100"/>
        </p:scale>
        <p:origin x="-1925" y="-77"/>
      </p:cViewPr>
      <p:guideLst>
        <p:guide orient="horz" pos="3224"/>
        <p:guide pos="2222"/>
      </p:guideLst>
    </p:cSldViewPr>
  </p:notesViewPr>
  <p:gridSpacing cx="76200" cy="76200"/>
</p:viewPr>
</file>

<file path=ppt/_rels/presentation.xml.rels><?xml version="1.0" encoding="UTF-8" standalone="yes"?>
<Relationships xmlns="http://schemas.openxmlformats.org/package/2006/relationships"><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handoutMaster" Target="handoutMasters/handoutMaster1.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notesMaster" Target="notesMasters/notes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ln>
          <a:effectLst/>
        </p:spPr>
        <p:txBody>
          <a:bodyPr vert="horz" wrap="square" lIns="99075" tIns="49538" rIns="99075" bIns="49538"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p:cNvSpPr>
            <a:spLocks noGrp="1" noRot="1" noChangeAspect="1" noChangeArrowheads="1" noTextEdit="1"/>
          </p:cNvSpPr>
          <p:nvPr>
            <p:ph type="sldImg"/>
          </p:nvPr>
        </p:nvSpPr>
        <p:spPr>
          <a:xfrm>
            <a:off x="992188" y="768350"/>
            <a:ext cx="5114925" cy="3836988"/>
          </a:xfrm>
        </p:spPr>
      </p:sp>
      <p:sp>
        <p:nvSpPr>
          <p:cNvPr id="3993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82B24D5-6E6A-4461-AADD-141293C5D07E}"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39820ED-DD97-47CC-8EF4-27022BB88BED}" type="slidenum">
              <a:rPr lang="zh-CN" altLang="en-US" sz="1300" smtClean="0"/>
            </a:fld>
            <a:endParaRPr lang="en-US" altLang="zh-CN" sz="1300"/>
          </a:p>
        </p:txBody>
      </p:sp>
      <p:sp>
        <p:nvSpPr>
          <p:cNvPr id="55298" name="Rectangle 2"/>
          <p:cNvSpPr>
            <a:spLocks noGrp="1" noRot="1" noChangeAspect="1" noChangeArrowheads="1" noTextEdit="1"/>
          </p:cNvSpPr>
          <p:nvPr>
            <p:ph type="sldImg"/>
          </p:nvPr>
        </p:nvSpPr>
        <p:spPr>
          <a:xfrm>
            <a:off x="992188" y="768350"/>
            <a:ext cx="5114925" cy="3836988"/>
          </a:xfrm>
        </p:spPr>
      </p:sp>
      <p:sp>
        <p:nvSpPr>
          <p:cNvPr id="55299" name="Rectangle 3"/>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幻灯片图像占位符 1"/>
          <p:cNvSpPr>
            <a:spLocks noGrp="1" noRot="1" noChangeAspect="1" noChangeArrowheads="1" noTextEdit="1"/>
          </p:cNvSpPr>
          <p:nvPr>
            <p:ph type="sldImg"/>
          </p:nvPr>
        </p:nvSpPr>
        <p:spPr>
          <a:xfrm>
            <a:off x="992188" y="768350"/>
            <a:ext cx="5114925" cy="3836988"/>
          </a:xfrm>
        </p:spPr>
      </p:sp>
      <p:sp>
        <p:nvSpPr>
          <p:cNvPr id="59394"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39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0453BFB9-E1A3-469D-8EFD-645ECC0DDB06}"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幻灯片图像占位符 1"/>
          <p:cNvSpPr>
            <a:spLocks noGrp="1" noRot="1" noChangeAspect="1" noChangeArrowheads="1" noTextEdit="1"/>
          </p:cNvSpPr>
          <p:nvPr>
            <p:ph type="sldImg"/>
          </p:nvPr>
        </p:nvSpPr>
        <p:spPr>
          <a:xfrm>
            <a:off x="992188" y="768350"/>
            <a:ext cx="5114925" cy="3836988"/>
          </a:xfrm>
        </p:spPr>
      </p:sp>
      <p:sp>
        <p:nvSpPr>
          <p:cNvPr id="6758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DCA4F03B-A089-446E-9596-3A19B48C658F}"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幻灯片图像占位符 1"/>
          <p:cNvSpPr>
            <a:spLocks noGrp="1" noRot="1" noChangeAspect="1" noChangeArrowheads="1" noTextEdit="1"/>
          </p:cNvSpPr>
          <p:nvPr>
            <p:ph type="sldImg"/>
          </p:nvPr>
        </p:nvSpPr>
        <p:spPr>
          <a:xfrm>
            <a:off x="992188" y="768350"/>
            <a:ext cx="5114925" cy="3836988"/>
          </a:xfrm>
        </p:spPr>
      </p:sp>
      <p:sp>
        <p:nvSpPr>
          <p:cNvPr id="10035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F4A935F3-4B23-4A24-9D0E-21DD9FDC8AAD}"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幻灯片图像占位符 1"/>
          <p:cNvSpPr>
            <a:spLocks noGrp="1" noRot="1" noChangeAspect="1" noChangeArrowheads="1" noTextEdit="1"/>
          </p:cNvSpPr>
          <p:nvPr>
            <p:ph type="sldImg"/>
          </p:nvPr>
        </p:nvSpPr>
        <p:spPr>
          <a:xfrm>
            <a:off x="992188" y="768350"/>
            <a:ext cx="5114925" cy="3836988"/>
          </a:xfrm>
        </p:spPr>
      </p:sp>
      <p:sp>
        <p:nvSpPr>
          <p:cNvPr id="104450"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451"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8B86916-1827-4A54-B343-80674E60B9DB}"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p:cNvSpPr>
            <a:spLocks noGrp="1" noRot="1" noChangeAspect="1" noChangeArrowheads="1" noTextEdit="1"/>
          </p:cNvSpPr>
          <p:nvPr>
            <p:ph type="sldImg"/>
          </p:nvPr>
        </p:nvSpPr>
        <p:spPr>
          <a:xfrm>
            <a:off x="992188" y="768350"/>
            <a:ext cx="5114925" cy="3836988"/>
          </a:xfrm>
        </p:spPr>
      </p:sp>
      <p:sp>
        <p:nvSpPr>
          <p:cNvPr id="10649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49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322328EA-7E4A-4814-B0D7-9A99DB134728}"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p:cNvSpPr>
            <a:spLocks noGrp="1" noRot="1" noChangeAspect="1" noChangeArrowheads="1" noTextEdit="1"/>
          </p:cNvSpPr>
          <p:nvPr>
            <p:ph type="sldImg"/>
          </p:nvPr>
        </p:nvSpPr>
        <p:spPr>
          <a:xfrm>
            <a:off x="992188" y="768350"/>
            <a:ext cx="5114925" cy="3836988"/>
          </a:xfrm>
        </p:spPr>
      </p:sp>
      <p:sp>
        <p:nvSpPr>
          <p:cNvPr id="10854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D9B0162-2F5D-4B72-957C-7E0042EE42D8}" type="slidenum">
              <a:rPr kumimoji="0" lang="zh-CN" altLang="en-US" sz="1300" smtClean="0">
                <a:ea typeface="宋体" panose="02010600030101010101" pitchFamily="2" charset="-122"/>
              </a:rPr>
            </a:fld>
            <a:endParaRPr kumimoji="0" lang="en-US" altLang="zh-CN" sz="130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7" name="Content Placeholder 2"/>
          <p:cNvSpPr>
            <a:spLocks noGrp="1"/>
          </p:cNvSpPr>
          <p:nvPr>
            <p:ph sz="half" idx="10"/>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showMasterSp="0">
  <p:cSld name="标题幻灯片">
    <p:spTree>
      <p:nvGrpSpPr>
        <p:cNvPr id="1" name=""/>
        <p:cNvGrpSpPr/>
        <p:nvPr/>
      </p:nvGrpSpPr>
      <p:grpSpPr>
        <a:xfrm>
          <a:off x="0" y="0"/>
          <a:ext cx="0" cy="0"/>
          <a:chOff x="0" y="0"/>
          <a:chExt cx="0" cy="0"/>
        </a:xfrm>
      </p:grpSpPr>
      <p:sp>
        <p:nvSpPr>
          <p:cNvPr id="4" name="Rectangle 4"/>
          <p:cNvSpPr>
            <a:spLocks noChangeArrowheads="1"/>
          </p:cNvSpPr>
          <p:nvPr/>
        </p:nvSpPr>
        <p:spPr bwMode="auto">
          <a:xfrm>
            <a:off x="7772400" y="6570663"/>
            <a:ext cx="1143000" cy="254000"/>
          </a:xfrm>
          <a:prstGeom prst="rect">
            <a:avLst/>
          </a:prstGeom>
          <a:noFill/>
          <a:ln w="12700">
            <a:noFill/>
            <a:miter lim="800000"/>
          </a:ln>
          <a:effectLst/>
        </p:spPr>
        <p:txBody>
          <a:bodyPr lIns="90488" tIns="44450" rIns="90488" bIns="44450">
            <a:spAutoFit/>
          </a:bodyPr>
          <a:lstStyle>
            <a:lvl1pPr defTabSz="403225"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defTabSz="403225"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defTabSz="403225"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defTabSz="403225"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defTabSz="403225"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defTabSz="403225"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403225"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403225"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403225"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a:lnSpc>
                <a:spcPct val="90000"/>
              </a:lnSpc>
              <a:defRPr/>
            </a:pPr>
            <a:r>
              <a:rPr kumimoji="0" lang="en-US" altLang="zh-CN" sz="1200">
                <a:effectLst>
                  <a:outerShdw blurRad="38100" dist="38100" dir="2700000" algn="tl">
                    <a:srgbClr val="C0C0C0"/>
                  </a:outerShdw>
                </a:effectLst>
                <a:latin typeface="Arial" panose="020B0604020202020204" pitchFamily="34" charset="0"/>
                <a:ea typeface="宋体" panose="02010600030101010101" pitchFamily="2" charset="-122"/>
              </a:rPr>
              <a:t> </a:t>
            </a:r>
            <a:fld id="{E2764FD1-76A0-4D40-B880-8990CEF0A6A8}" type="slidenum">
              <a:rPr kumimoji="0" lang="en-US" altLang="zh-CN" sz="1200" smtClean="0">
                <a:latin typeface="Rotis Sans Serif for Nokia" pitchFamily="2" charset="0"/>
                <a:ea typeface="宋体" panose="02010600030101010101" pitchFamily="2" charset="-122"/>
              </a:rPr>
            </a:fld>
            <a:endParaRPr kumimoji="0" lang="en-US" altLang="zh-CN" sz="1200">
              <a:latin typeface="Rotis Sans Serif for Nokia" pitchFamily="2" charset="0"/>
              <a:ea typeface="宋体" panose="02010600030101010101" pitchFamily="2" charset="-122"/>
            </a:endParaRPr>
          </a:p>
        </p:txBody>
      </p:sp>
      <p:pic>
        <p:nvPicPr>
          <p:cNvPr id="5" name="Picture 5" descr="BUPTicon"/>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21650" y="115888"/>
            <a:ext cx="958850"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bup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3063" y="9525"/>
            <a:ext cx="1116012"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02" name="Rectangle 2"/>
          <p:cNvSpPr>
            <a:spLocks noGrp="1" noChangeArrowheads="1"/>
          </p:cNvSpPr>
          <p:nvPr>
            <p:ph type="subTitle" idx="1"/>
          </p:nvPr>
        </p:nvSpPr>
        <p:spPr>
          <a:xfrm>
            <a:off x="1371600" y="3386126"/>
            <a:ext cx="6400800" cy="1752600"/>
          </a:xfrm>
        </p:spPr>
        <p:txBody>
          <a:bodyPr/>
          <a:lstStyle>
            <a:lvl1pPr marL="0" indent="0" algn="ctr">
              <a:buFont typeface="Wingdings 2" pitchFamily="18" charset="2"/>
              <a:buNone/>
              <a:defRPr/>
            </a:lvl1pPr>
          </a:lstStyle>
          <a:p>
            <a:r>
              <a:rPr lang="zh-CN" altLang="en-US"/>
              <a:t>单击此处编辑母版副标题样式</a:t>
            </a:r>
            <a:endParaRPr lang="zh-CN" altLang="en-US"/>
          </a:p>
        </p:txBody>
      </p:sp>
      <p:sp>
        <p:nvSpPr>
          <p:cNvPr id="307203" name="Rectangle 3"/>
          <p:cNvSpPr>
            <a:spLocks noGrp="1" noChangeArrowheads="1"/>
          </p:cNvSpPr>
          <p:nvPr>
            <p:ph type="ctrTitle"/>
          </p:nvPr>
        </p:nvSpPr>
        <p:spPr>
          <a:xfrm>
            <a:off x="685800" y="1785926"/>
            <a:ext cx="7772400" cy="1143000"/>
          </a:xfrm>
        </p:spPr>
        <p:txBody>
          <a:bodyPr/>
          <a:lstStyle>
            <a:lvl1pPr algn="l">
              <a:defRPr/>
            </a:lvl1pPr>
          </a:lstStyle>
          <a:p>
            <a:r>
              <a:rPr lang="zh-CN" altLang="en-US"/>
              <a:t>单击此处编辑母版标题样式</a:t>
            </a:r>
            <a:endParaRPr lang="zh-CN" altLang="en-US"/>
          </a:p>
        </p:txBody>
      </p:sp>
    </p:spTree>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79388" y="981075"/>
            <a:ext cx="4316412"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81075"/>
            <a:ext cx="4316413" cy="5400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a:xfrm>
            <a:off x="2209800" y="6453188"/>
            <a:ext cx="4724400" cy="346075"/>
          </a:xfrm>
          <a:prstGeom prst="rect">
            <a:avLst/>
          </a:prstGeom>
        </p:spPr>
        <p:txBody>
          <a:bodyPr/>
          <a:lstStyle>
            <a:lvl1pPr>
              <a:defRPr/>
            </a:lvl1pPr>
          </a:lstStyle>
          <a:p>
            <a:r>
              <a:rPr lang="zh-CN" altLang="en-US"/>
              <a:t>计算机学院体系结构中心</a:t>
            </a:r>
            <a:endParaRPr lang="zh-CN" altLang="en-US"/>
          </a:p>
        </p:txBody>
      </p:sp>
    </p:spTree>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US" dirty="0"/>
          </a:p>
        </p:txBody>
      </p:sp>
      <p:sp>
        <p:nvSpPr>
          <p:cNvPr id="5" name="标题 4"/>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4" name="标题 3"/>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标题 4"/>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
        <p:nvSpPr>
          <p:cNvPr id="6" name="Content Placeholder 2"/>
          <p:cNvSpPr>
            <a:spLocks noGrp="1"/>
          </p:cNvSpPr>
          <p:nvPr>
            <p:ph sz="half" idx="10"/>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p:txBody>
      </p:sp>
      <p:sp>
        <p:nvSpPr>
          <p:cNvPr id="7" name="标题 6"/>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jpeg"/><Relationship Id="rId13" Type="http://schemas.openxmlformats.org/officeDocument/2006/relationships/image" Target="../media/image3.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0"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2" Type="http://schemas.openxmlformats.org/officeDocument/2006/relationships/theme" Target="../theme/theme3.xml"/><Relationship Id="rId11" Type="http://schemas.openxmlformats.org/officeDocument/2006/relationships/image" Target="../media/image3.jpeg"/><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MS PGothic" panose="020B0600070205080204" pitchFamily="-96" charset="-128"/>
                <a:cs typeface="MS PGothic" panose="020B0600070205080204" pitchFamily="-96" charset="-128"/>
              </a:rPr>
            </a:fld>
            <a:endParaRPr lang="en-US" sz="1000" dirty="0">
              <a:latin typeface="+mj-lt"/>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algn="l" eaLnBrk="0" hangingPunct="0"/>
            <a:r>
              <a:rPr lang="en-US" altLang="en-US"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pic>
        <p:nvPicPr>
          <p:cNvPr id="3" name="图片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anose="020F0502020204030204" charset="0"/>
              </a:rPr>
              <a:t>Principles of Computer Organization </a:t>
            </a:r>
            <a:endParaRPr lang="en-US" sz="1100" b="1" i="0" dirty="0">
              <a:solidFill>
                <a:srgbClr val="326AC6"/>
              </a:solidFill>
              <a:effectLst/>
              <a:latin typeface="Calibri" panose="020F050202020403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6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6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600"/>
        </a:spcBef>
        <a:spcAft>
          <a:spcPct val="0"/>
        </a:spcAft>
        <a:buClr>
          <a:srgbClr val="000000"/>
        </a:buClr>
        <a:buSzPct val="100000"/>
        <a:buFont typeface="Calibri" panose="020F0502020204030204" charset="0"/>
        <a:buChar char="–"/>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p>
            <a:pPr lvl="0"/>
            <a:r>
              <a:rPr lang="en-US">
                <a:sym typeface="Calibri Bold" charset="0"/>
              </a:rPr>
              <a:t>Click to edit Master title style</a:t>
            </a:r>
            <a:endParaRPr lang="en-US">
              <a:sym typeface="Calibri Bold" charset="0"/>
            </a:endParaRP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anose="020F0502020204030204" charset="0"/>
              </a:rPr>
              <a:t>Principles and Interface Technique of Microcomputer</a:t>
            </a:r>
            <a:endParaRPr lang="en-US" sz="1000" b="0" i="0" dirty="0">
              <a:latin typeface="Calibri" panose="020F0502020204030204"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p:spPr>
        <p:txBody>
          <a:bodyPr wrap="none">
            <a:spAutoFit/>
          </a:bodyPr>
          <a:lstStyle/>
          <a:p>
            <a:pPr algn="l" eaLnBrk="0" hangingPunct="0"/>
            <a:r>
              <a:rPr lang="en-US" altLang="zh-CN" sz="1200" b="1" dirty="0">
                <a:solidFill>
                  <a:srgbClr val="FFFFFF"/>
                </a:solidFill>
                <a:latin typeface="Times New Roman" panose="02020603050405020304" pitchFamily="18" charset="0"/>
                <a:ea typeface="+mn-ea"/>
                <a:cs typeface="+mn-cs"/>
              </a:rPr>
              <a:t>School of Computer Science</a:t>
            </a:r>
            <a:endParaRPr lang="en-US" altLang="en-US" sz="1200" b="1" dirty="0">
              <a:solidFill>
                <a:srgbClr val="FFFFFF"/>
              </a:solidFill>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ln>
          <a:effectLst/>
        </p:spPr>
        <p:txBody>
          <a:bodyPr vert="horz" wrap="square" lIns="38100" tIns="38100" rIns="38100" bIns="38100" numCol="1" anchor="ctr" anchorCtr="0" compatLnSpc="1"/>
          <a:lstStyle/>
          <a:p>
            <a:pPr lvl="0"/>
            <a:r>
              <a:rPr lang="en-US" dirty="0">
                <a:sym typeface="Calibri Bold" charset="0"/>
              </a:rPr>
              <a:t>Click to edit title style</a:t>
            </a:r>
            <a:endParaRPr lang="en-US" dirty="0">
              <a:sym typeface="Calibri Bold" charset="0"/>
            </a:endParaRP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ln>
          <a:effectLst/>
        </p:spPr>
        <p:txBody>
          <a:bodyPr vert="horz" wrap="square" lIns="38100" tIns="38100" rIns="38100" bIns="38100" numCol="1" anchor="t" anchorCtr="0" compatLnSpc="1"/>
          <a:lstStyle/>
          <a:p>
            <a:pPr lvl="0"/>
            <a:r>
              <a:rPr lang="en-US" dirty="0">
                <a:sym typeface="Calibri Bold" charset="0"/>
              </a:rPr>
              <a:t>Click to edit Master text styles</a:t>
            </a:r>
            <a:endParaRPr lang="en-US" dirty="0">
              <a:sym typeface="Calibri Bold" charset="0"/>
            </a:endParaRPr>
          </a:p>
          <a:p>
            <a:pPr lvl="1"/>
            <a:r>
              <a:rPr lang="en-US" dirty="0">
                <a:sym typeface="Calibri" panose="020F0502020204030204" charset="0"/>
              </a:rPr>
              <a:t>Second level</a:t>
            </a:r>
            <a:endParaRPr lang="en-US" dirty="0">
              <a:sym typeface="Calibri" panose="020F0502020204030204" charset="0"/>
            </a:endParaRPr>
          </a:p>
          <a:p>
            <a:pPr lvl="2"/>
            <a:r>
              <a:rPr lang="en-US" dirty="0">
                <a:sym typeface="Calibri" panose="020F0502020204030204" charset="0"/>
              </a:rPr>
              <a:t>Third level</a:t>
            </a:r>
            <a:endParaRPr lang="en-US" dirty="0">
              <a:sym typeface="Calibri" panose="020F0502020204030204" charset="0"/>
            </a:endParaRPr>
          </a:p>
          <a:p>
            <a:pPr lvl="3"/>
            <a:r>
              <a:rPr lang="en-US" dirty="0">
                <a:sym typeface="Calibri" panose="020F0502020204030204" charset="0"/>
              </a:rPr>
              <a:t>Fourth level</a:t>
            </a:r>
            <a:endParaRPr lang="en-US" dirty="0">
              <a:sym typeface="Calibri" panose="020F0502020204030204" charset="0"/>
            </a:endParaRP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MS PGothic" panose="020B0600070205080204" pitchFamily="-96" charset="-128"/>
                <a:cs typeface="MS PGothic" panose="020B0600070205080204" pitchFamily="-96" charset="-128"/>
                <a:sym typeface="Gill Sans" charset="0"/>
              </a:rPr>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rPr>
              <a:t>Principles and Interface Technique of Microcomputer</a:t>
            </a:r>
            <a:endParaRPr kumimoji="0" lang="en-US" sz="1000" b="0" i="0" u="none" strike="noStrike" kern="1200" cap="none" spc="0" normalizeH="0" baseline="0" noProof="0" dirty="0">
              <a:ln>
                <a:noFill/>
              </a:ln>
              <a:solidFill>
                <a:srgbClr val="000000"/>
              </a:solidFill>
              <a:effectLst/>
              <a:uLnTx/>
              <a:uFillTx/>
              <a:latin typeface="Calibri" panose="020F0502020204030204" charset="0"/>
              <a:sym typeface="Gill Sans" charset="0"/>
            </a:endParaRPr>
          </a:p>
        </p:txBody>
      </p:sp>
      <p:sp>
        <p:nvSpPr>
          <p:cNvPr id="6" name="Rectangle 1"/>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rPr>
              <a:t>School of Computer Science</a:t>
            </a:r>
            <a:endParaRPr kumimoji="0" lang="en-US" altLang="en-US" sz="1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mn-cs"/>
              <a:sym typeface="Gill Sans" charset="0"/>
            </a:endParaRPr>
          </a:p>
        </p:txBody>
      </p:sp>
      <p:pic>
        <p:nvPicPr>
          <p:cNvPr id="3" name="图片 2"/>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231900" indent="0" algn="l" rtl="0" fontAlgn="base">
        <a:spcBef>
          <a:spcPts val="500"/>
        </a:spcBef>
        <a:spcAft>
          <a:spcPct val="0"/>
        </a:spcAft>
        <a:buClr>
          <a:srgbClr val="000000"/>
        </a:buClr>
        <a:buSzPct val="100000"/>
        <a:buFont typeface="Calibri" panose="020F0502020204030204" charset="0"/>
        <a:buNone/>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15.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第</a:t>
            </a:r>
            <a:r>
              <a:rPr lang="en-US" altLang="zh-CN" dirty="0"/>
              <a:t>5</a:t>
            </a:r>
            <a:r>
              <a:rPr lang="zh-CN" altLang="en-US" dirty="0"/>
              <a:t>章 </a:t>
            </a:r>
            <a:r>
              <a:rPr lang="zh-CN" altLang="en-US" dirty="0">
                <a:latin typeface="黑体" panose="02010609060101010101" pitchFamily="49" charset="-122"/>
              </a:rPr>
              <a:t>中央处理器</a:t>
            </a:r>
            <a:r>
              <a:rPr lang="en-US" altLang="zh-CN" dirty="0">
                <a:latin typeface="黑体" panose="02010609060101010101" pitchFamily="49" charset="-122"/>
              </a:rPr>
              <a:t>1</a:t>
            </a:r>
            <a:endParaRPr lang="zh-CN"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p:txBody>
          <a:bodyPr/>
          <a:lstStyle/>
          <a:p>
            <a:endParaRPr lang="zh-CN" altLang="en-US"/>
          </a:p>
        </p:txBody>
      </p:sp>
      <p:sp>
        <p:nvSpPr>
          <p:cNvPr id="3" name="标题 2"/>
          <p:cNvSpPr>
            <a:spLocks noGrp="1"/>
          </p:cNvSpPr>
          <p:nvPr>
            <p:ph type="title"/>
          </p:nvPr>
        </p:nvSpPr>
        <p:spPr/>
        <p:txBody>
          <a:bodyPr/>
          <a:lstStyle/>
          <a:p>
            <a:r>
              <a:rPr lang="en-US" altLang="zh-CN" sz="4800" dirty="0"/>
              <a:t>5.1 </a:t>
            </a:r>
            <a:r>
              <a:rPr lang="en-US" altLang="zh-CN" dirty="0"/>
              <a:t>CPU</a:t>
            </a:r>
            <a:r>
              <a:rPr lang="zh-CN" altLang="en-US" dirty="0"/>
              <a:t>的功能和组成</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pPr eaLnBrk="1" hangingPunct="1"/>
            <a:r>
              <a:rPr lang="zh-CN" altLang="en-US"/>
              <a:t>计算机的五个基本部件</a:t>
            </a:r>
            <a:endParaRPr lang="zh-CN" altLang="en-US"/>
          </a:p>
        </p:txBody>
      </p:sp>
      <p:sp>
        <p:nvSpPr>
          <p:cNvPr id="20483" name="Rectangle 32"/>
          <p:cNvSpPr>
            <a:spLocks noChangeArrowheads="1"/>
          </p:cNvSpPr>
          <p:nvPr/>
        </p:nvSpPr>
        <p:spPr bwMode="auto">
          <a:xfrm>
            <a:off x="6489700" y="3606800"/>
            <a:ext cx="152400" cy="1295400"/>
          </a:xfrm>
          <a:prstGeom prst="rect">
            <a:avLst/>
          </a:prstGeom>
          <a:solidFill>
            <a:schemeClr val="tx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84" name="Rectangle 33"/>
          <p:cNvSpPr>
            <a:spLocks noChangeArrowheads="1"/>
          </p:cNvSpPr>
          <p:nvPr/>
        </p:nvSpPr>
        <p:spPr bwMode="auto">
          <a:xfrm>
            <a:off x="2755900" y="3530600"/>
            <a:ext cx="381000" cy="1295400"/>
          </a:xfrm>
          <a:prstGeom prst="rect">
            <a:avLst/>
          </a:prstGeom>
          <a:solidFill>
            <a:schemeClr val="tx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0485" name="Group 34"/>
          <p:cNvGrpSpPr/>
          <p:nvPr/>
        </p:nvGrpSpPr>
        <p:grpSpPr bwMode="auto">
          <a:xfrm>
            <a:off x="1917700" y="4368800"/>
            <a:ext cx="2057400" cy="1600200"/>
            <a:chOff x="816" y="2976"/>
            <a:chExt cx="1296" cy="1008"/>
          </a:xfrm>
        </p:grpSpPr>
        <p:sp>
          <p:nvSpPr>
            <p:cNvPr id="20498" name="AutoShape 35"/>
            <p:cNvSpPr>
              <a:spLocks noChangeArrowheads="1"/>
            </p:cNvSpPr>
            <p:nvPr/>
          </p:nvSpPr>
          <p:spPr bwMode="auto">
            <a:xfrm>
              <a:off x="816" y="2976"/>
              <a:ext cx="1296" cy="1008"/>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9" name="Rectangle 36"/>
            <p:cNvSpPr>
              <a:spLocks noChangeArrowheads="1"/>
            </p:cNvSpPr>
            <p:nvPr/>
          </p:nvSpPr>
          <p:spPr bwMode="auto">
            <a:xfrm>
              <a:off x="912" y="3072"/>
              <a:ext cx="1104" cy="816"/>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latin typeface="Comic Sans MS" panose="030F0702030302020204" pitchFamily="66" charset="0"/>
                  <a:ea typeface="宋体" panose="02010600030101010101" pitchFamily="2" charset="-122"/>
                </a:rPr>
                <a:t>Memory</a:t>
              </a:r>
              <a:endParaRPr kumimoji="0" lang="en-US" altLang="zh-CN" sz="2400">
                <a:latin typeface="Comic Sans MS" panose="030F0702030302020204" pitchFamily="66" charset="0"/>
                <a:ea typeface="宋体" panose="02010600030101010101" pitchFamily="2" charset="-122"/>
              </a:endParaRPr>
            </a:p>
          </p:txBody>
        </p:sp>
      </p:grpSp>
      <p:grpSp>
        <p:nvGrpSpPr>
          <p:cNvPr id="20486" name="Group 37"/>
          <p:cNvGrpSpPr/>
          <p:nvPr/>
        </p:nvGrpSpPr>
        <p:grpSpPr bwMode="auto">
          <a:xfrm>
            <a:off x="5575300" y="2844800"/>
            <a:ext cx="2057400" cy="1066800"/>
            <a:chOff x="816" y="2976"/>
            <a:chExt cx="1296" cy="1008"/>
          </a:xfrm>
        </p:grpSpPr>
        <p:sp>
          <p:nvSpPr>
            <p:cNvPr id="20496" name="AutoShape 38"/>
            <p:cNvSpPr>
              <a:spLocks noChangeArrowheads="1"/>
            </p:cNvSpPr>
            <p:nvPr/>
          </p:nvSpPr>
          <p:spPr bwMode="auto">
            <a:xfrm>
              <a:off x="816" y="2976"/>
              <a:ext cx="1296" cy="1008"/>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7" name="Rectangle 39"/>
            <p:cNvSpPr>
              <a:spLocks noChangeArrowheads="1"/>
            </p:cNvSpPr>
            <p:nvPr/>
          </p:nvSpPr>
          <p:spPr bwMode="auto">
            <a:xfrm>
              <a:off x="912" y="3072"/>
              <a:ext cx="1104" cy="816"/>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latin typeface="Comic Sans MS" panose="030F0702030302020204" pitchFamily="66" charset="0"/>
                  <a:ea typeface="宋体" panose="02010600030101010101" pitchFamily="2" charset="-122"/>
                </a:rPr>
                <a:t>Input</a:t>
              </a:r>
              <a:endParaRPr kumimoji="0" lang="en-US" altLang="zh-CN" sz="2400">
                <a:latin typeface="Comic Sans MS" panose="030F0702030302020204" pitchFamily="66" charset="0"/>
                <a:ea typeface="宋体" panose="02010600030101010101" pitchFamily="2" charset="-122"/>
              </a:endParaRPr>
            </a:p>
          </p:txBody>
        </p:sp>
      </p:grpSp>
      <p:grpSp>
        <p:nvGrpSpPr>
          <p:cNvPr id="20487" name="Group 40"/>
          <p:cNvGrpSpPr/>
          <p:nvPr/>
        </p:nvGrpSpPr>
        <p:grpSpPr bwMode="auto">
          <a:xfrm>
            <a:off x="5575300" y="4521200"/>
            <a:ext cx="2057400" cy="1066800"/>
            <a:chOff x="816" y="2976"/>
            <a:chExt cx="1296" cy="1008"/>
          </a:xfrm>
        </p:grpSpPr>
        <p:sp>
          <p:nvSpPr>
            <p:cNvPr id="20494" name="AutoShape 41"/>
            <p:cNvSpPr>
              <a:spLocks noChangeArrowheads="1"/>
            </p:cNvSpPr>
            <p:nvPr/>
          </p:nvSpPr>
          <p:spPr bwMode="auto">
            <a:xfrm>
              <a:off x="816" y="2976"/>
              <a:ext cx="1296" cy="1008"/>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5" name="Rectangle 42"/>
            <p:cNvSpPr>
              <a:spLocks noChangeArrowheads="1"/>
            </p:cNvSpPr>
            <p:nvPr/>
          </p:nvSpPr>
          <p:spPr bwMode="auto">
            <a:xfrm>
              <a:off x="912" y="3072"/>
              <a:ext cx="1104" cy="816"/>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latin typeface="Comic Sans MS" panose="030F0702030302020204" pitchFamily="66" charset="0"/>
                  <a:ea typeface="宋体" panose="02010600030101010101" pitchFamily="2" charset="-122"/>
                </a:rPr>
                <a:t>Output</a:t>
              </a:r>
              <a:endParaRPr kumimoji="0" lang="en-US" altLang="zh-CN" sz="2400">
                <a:latin typeface="Comic Sans MS" panose="030F0702030302020204" pitchFamily="66" charset="0"/>
                <a:ea typeface="宋体" panose="02010600030101010101" pitchFamily="2" charset="-122"/>
              </a:endParaRPr>
            </a:p>
          </p:txBody>
        </p:sp>
      </p:grpSp>
      <p:grpSp>
        <p:nvGrpSpPr>
          <p:cNvPr id="20488" name="Group 43"/>
          <p:cNvGrpSpPr/>
          <p:nvPr/>
        </p:nvGrpSpPr>
        <p:grpSpPr bwMode="auto">
          <a:xfrm>
            <a:off x="1630363" y="1376363"/>
            <a:ext cx="2420937" cy="2535237"/>
            <a:chOff x="587" y="1235"/>
            <a:chExt cx="1525" cy="1597"/>
          </a:xfrm>
        </p:grpSpPr>
        <p:sp>
          <p:nvSpPr>
            <p:cNvPr id="20490" name="AutoShape 44"/>
            <p:cNvSpPr>
              <a:spLocks noChangeArrowheads="1"/>
            </p:cNvSpPr>
            <p:nvPr/>
          </p:nvSpPr>
          <p:spPr bwMode="auto">
            <a:xfrm>
              <a:off x="768" y="1488"/>
              <a:ext cx="1344" cy="1344"/>
            </a:xfrm>
            <a:prstGeom prst="roundRect">
              <a:avLst>
                <a:gd name="adj" fmla="val 16667"/>
              </a:avLst>
            </a:prstGeom>
            <a:solidFill>
              <a:schemeClr val="accent1"/>
            </a:solidFill>
            <a:ln w="12700">
              <a:solidFill>
                <a:schemeClr val="tx1"/>
              </a:solidFill>
              <a:round/>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0491" name="Rectangle 45"/>
            <p:cNvSpPr>
              <a:spLocks noChangeArrowheads="1"/>
            </p:cNvSpPr>
            <p:nvPr/>
          </p:nvSpPr>
          <p:spPr bwMode="auto">
            <a:xfrm>
              <a:off x="864" y="2064"/>
              <a:ext cx="1152" cy="672"/>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latin typeface="Comic Sans MS" panose="030F0702030302020204" pitchFamily="66" charset="0"/>
                  <a:ea typeface="宋体" panose="02010600030101010101" pitchFamily="2" charset="-122"/>
                </a:rPr>
                <a:t>Datapath</a:t>
              </a:r>
              <a:endParaRPr kumimoji="0" lang="en-US" altLang="zh-CN" sz="2400">
                <a:latin typeface="Comic Sans MS" panose="030F0702030302020204" pitchFamily="66" charset="0"/>
                <a:ea typeface="宋体" panose="02010600030101010101" pitchFamily="2" charset="-122"/>
              </a:endParaRPr>
            </a:p>
          </p:txBody>
        </p:sp>
        <p:sp>
          <p:nvSpPr>
            <p:cNvPr id="20492" name="Rectangle 46"/>
            <p:cNvSpPr>
              <a:spLocks noChangeArrowheads="1"/>
            </p:cNvSpPr>
            <p:nvPr/>
          </p:nvSpPr>
          <p:spPr bwMode="auto">
            <a:xfrm>
              <a:off x="864" y="1584"/>
              <a:ext cx="1152" cy="480"/>
            </a:xfrm>
            <a:prstGeom prst="rect">
              <a:avLst/>
            </a:prstGeom>
            <a:solidFill>
              <a:schemeClr val="bg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a:latin typeface="Comic Sans MS" panose="030F0702030302020204" pitchFamily="66" charset="0"/>
                  <a:ea typeface="宋体" panose="02010600030101010101" pitchFamily="2" charset="-122"/>
                </a:rPr>
                <a:t>Control</a:t>
              </a:r>
              <a:endParaRPr kumimoji="0" lang="en-US" altLang="zh-CN" sz="2400">
                <a:latin typeface="Comic Sans MS" panose="030F0702030302020204" pitchFamily="66" charset="0"/>
                <a:ea typeface="宋体" panose="02010600030101010101" pitchFamily="2" charset="-122"/>
              </a:endParaRPr>
            </a:p>
          </p:txBody>
        </p:sp>
        <p:sp>
          <p:nvSpPr>
            <p:cNvPr id="20493" name="Text Box 47"/>
            <p:cNvSpPr txBox="1">
              <a:spLocks noChangeArrowheads="1"/>
            </p:cNvSpPr>
            <p:nvPr/>
          </p:nvSpPr>
          <p:spPr bwMode="auto">
            <a:xfrm>
              <a:off x="587" y="1235"/>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a:spcBef>
                  <a:spcPct val="0"/>
                </a:spcBef>
                <a:buClrTx/>
                <a:buFontTx/>
                <a:buNone/>
              </a:pPr>
              <a:r>
                <a:rPr kumimoji="0" lang="en-US" altLang="zh-CN" sz="2400" i="1">
                  <a:latin typeface="Arial" panose="020B0604020202020204" pitchFamily="34" charset="0"/>
                  <a:ea typeface="宋体" panose="02010600030101010101" pitchFamily="2" charset="-122"/>
                </a:rPr>
                <a:t>Processor</a:t>
              </a:r>
              <a:endParaRPr kumimoji="0" lang="en-US" altLang="zh-CN" sz="2400" i="1">
                <a:latin typeface="Arial" panose="020B0604020202020204" pitchFamily="34" charset="0"/>
                <a:ea typeface="宋体" panose="02010600030101010101" pitchFamily="2" charset="-122"/>
              </a:endParaRPr>
            </a:p>
          </p:txBody>
        </p:sp>
      </p:grpSp>
      <p:sp>
        <p:nvSpPr>
          <p:cNvPr id="20489" name="Rectangle 48"/>
          <p:cNvSpPr>
            <a:spLocks noChangeArrowheads="1"/>
          </p:cNvSpPr>
          <p:nvPr/>
        </p:nvSpPr>
        <p:spPr bwMode="auto">
          <a:xfrm>
            <a:off x="2908300" y="4064000"/>
            <a:ext cx="3657600" cy="152400"/>
          </a:xfrm>
          <a:prstGeom prst="rect">
            <a:avLst/>
          </a:prstGeom>
          <a:solidFill>
            <a:schemeClr val="tx1"/>
          </a:solidFill>
          <a:ln w="38100">
            <a:solidFill>
              <a:schemeClr val="tx1"/>
            </a:solidFill>
            <a:miter lim="800000"/>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r>
              <a:rPr lang="zh-CN" altLang="en-US"/>
              <a:t>处理器的功能</a:t>
            </a:r>
            <a:endParaRPr lang="zh-CN" altLang="en-US"/>
          </a:p>
        </p:txBody>
      </p:sp>
      <p:sp>
        <p:nvSpPr>
          <p:cNvPr id="21506" name="Rectangle 3"/>
          <p:cNvSpPr>
            <a:spLocks noGrp="1" noChangeArrowheads="1"/>
          </p:cNvSpPr>
          <p:nvPr>
            <p:ph idx="1"/>
          </p:nvPr>
        </p:nvSpPr>
        <p:spPr/>
        <p:txBody>
          <a:bodyPr/>
          <a:lstStyle/>
          <a:p>
            <a:pPr eaLnBrk="1" hangingPunct="1"/>
            <a:r>
              <a:rPr lang="zh-CN" altLang="en-US" sz="2400"/>
              <a:t>指令控制</a:t>
            </a:r>
            <a:endParaRPr lang="zh-CN" altLang="en-US" sz="2400"/>
          </a:p>
          <a:p>
            <a:pPr eaLnBrk="1" hangingPunct="1">
              <a:buFont typeface="Wingdings 2" pitchFamily="18" charset="2"/>
              <a:buNone/>
            </a:pPr>
            <a:r>
              <a:rPr lang="zh-CN" altLang="en-US" sz="2400"/>
              <a:t>   控制程序严格按规定的顺序执行</a:t>
            </a:r>
            <a:endParaRPr lang="zh-CN" altLang="en-US" sz="2400"/>
          </a:p>
          <a:p>
            <a:pPr eaLnBrk="1" hangingPunct="1"/>
            <a:r>
              <a:rPr lang="zh-CN" altLang="en-US" sz="2400"/>
              <a:t>操作控制</a:t>
            </a:r>
            <a:endParaRPr lang="zh-CN" altLang="en-US" sz="2400"/>
          </a:p>
          <a:p>
            <a:pPr eaLnBrk="1" hangingPunct="1">
              <a:buFont typeface="Wingdings 2" pitchFamily="18" charset="2"/>
              <a:buNone/>
            </a:pPr>
            <a:r>
              <a:rPr lang="en-US" altLang="zh-CN" sz="2400"/>
              <a:t>   </a:t>
            </a:r>
            <a:r>
              <a:rPr lang="zh-CN" altLang="en-US" sz="2400"/>
              <a:t>处理器根据从内存取出的每条指令产生相应的操作信号，送往相应的部件，控制这些部件按指令的要求进行动作</a:t>
            </a:r>
            <a:endParaRPr lang="zh-CN" altLang="en-US" sz="2400"/>
          </a:p>
          <a:p>
            <a:pPr eaLnBrk="1" hangingPunct="1"/>
            <a:r>
              <a:rPr lang="zh-CN" altLang="en-US" sz="2400"/>
              <a:t>时间控制</a:t>
            </a:r>
            <a:endParaRPr lang="zh-CN" altLang="en-US" sz="2400"/>
          </a:p>
          <a:p>
            <a:pPr eaLnBrk="1" hangingPunct="1">
              <a:buFont typeface="Wingdings 2" pitchFamily="18" charset="2"/>
              <a:buNone/>
            </a:pPr>
            <a:r>
              <a:rPr lang="zh-CN" altLang="en-US" sz="2400"/>
              <a:t>   对各种操作实施时间上的控制</a:t>
            </a:r>
            <a:endParaRPr lang="zh-CN" altLang="en-US" sz="2400"/>
          </a:p>
          <a:p>
            <a:pPr eaLnBrk="1" hangingPunct="1"/>
            <a:r>
              <a:rPr lang="zh-CN" altLang="en-US" sz="2400"/>
              <a:t>数据加工</a:t>
            </a:r>
            <a:endParaRPr lang="zh-CN" altLang="en-US" sz="2400"/>
          </a:p>
          <a:p>
            <a:pPr eaLnBrk="1" hangingPunct="1">
              <a:buFont typeface="Wingdings 2" pitchFamily="18" charset="2"/>
              <a:buNone/>
            </a:pPr>
            <a:r>
              <a:rPr lang="zh-CN" altLang="en-US" sz="2400"/>
              <a:t>   对数据进行算术运算和逻辑运算处理</a:t>
            </a:r>
            <a:endParaRPr lang="en-US" altLang="zh-CN" sz="2400"/>
          </a:p>
          <a:p>
            <a:pPr eaLnBrk="1" hangingPunct="1"/>
            <a:r>
              <a:rPr lang="zh-CN" altLang="en-US" sz="2400"/>
              <a:t>中断处理  </a:t>
            </a:r>
            <a:endParaRPr lang="en-US" altLang="zh-CN" sz="2400"/>
          </a:p>
          <a:p>
            <a:pPr eaLnBrk="1" hangingPunct="1">
              <a:buFont typeface="Wingdings 2" pitchFamily="18" charset="2"/>
              <a:buNone/>
            </a:pPr>
            <a:r>
              <a:rPr lang="en-US" altLang="zh-CN" sz="2400"/>
              <a:t>   </a:t>
            </a:r>
            <a:r>
              <a:rPr lang="zh-CN" altLang="en-US" sz="2400"/>
              <a:t>对计算机中出现的异常情况和特殊请求进行处理</a:t>
            </a:r>
            <a:endParaRPr lang="zh-CN" altLang="en-US" sz="2400"/>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CPU</a:t>
            </a:r>
            <a:r>
              <a:rPr lang="zh-CN" altLang="en-US" dirty="0"/>
              <a:t>模型</a:t>
            </a:r>
            <a:endParaRPr lang="zh-CN" altLang="en-US" dirty="0"/>
          </a:p>
        </p:txBody>
      </p:sp>
      <p:sp>
        <p:nvSpPr>
          <p:cNvPr id="22530" name="内容占位符 2"/>
          <p:cNvSpPr>
            <a:spLocks noGrp="1" noChangeArrowheads="1"/>
          </p:cNvSpPr>
          <p:nvPr>
            <p:ph idx="1"/>
          </p:nvPr>
        </p:nvSpPr>
        <p:spPr/>
        <p:txBody>
          <a:bodyPr/>
          <a:lstStyle/>
          <a:p>
            <a:endParaRPr lang="zh-CN" altLang="en-US"/>
          </a:p>
        </p:txBody>
      </p:sp>
      <p:pic>
        <p:nvPicPr>
          <p:cNvPr id="22532" name="Picture 4" descr="22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2500" y="928688"/>
            <a:ext cx="7219950"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228600" y="236538"/>
            <a:ext cx="8897937" cy="762000"/>
          </a:xfrm>
        </p:spPr>
        <p:txBody>
          <a:bodyPr/>
          <a:lstStyle/>
          <a:p>
            <a:pPr eaLnBrk="1" hangingPunct="1">
              <a:defRPr/>
            </a:pPr>
            <a:r>
              <a:rPr lang="en-US" altLang="zh-CN" dirty="0"/>
              <a:t>CPU</a:t>
            </a:r>
            <a:r>
              <a:rPr lang="zh-CN" altLang="en-US" dirty="0"/>
              <a:t>模型（一般化）</a:t>
            </a:r>
            <a:endParaRPr lang="en-US" altLang="zh-CN" dirty="0"/>
          </a:p>
        </p:txBody>
      </p:sp>
      <p:sp>
        <p:nvSpPr>
          <p:cNvPr id="23555" name="AutoShape 91"/>
          <p:cNvSpPr>
            <a:spLocks noChangeArrowheads="1"/>
          </p:cNvSpPr>
          <p:nvPr/>
        </p:nvSpPr>
        <p:spPr bwMode="auto">
          <a:xfrm flipV="1">
            <a:off x="5676900" y="5400675"/>
            <a:ext cx="449263" cy="260350"/>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724" name="AutoShape 92"/>
          <p:cNvSpPr>
            <a:spLocks noChangeArrowheads="1"/>
          </p:cNvSpPr>
          <p:nvPr/>
        </p:nvSpPr>
        <p:spPr bwMode="auto">
          <a:xfrm flipV="1">
            <a:off x="5705475" y="4708525"/>
            <a:ext cx="449263" cy="260350"/>
          </a:xfrm>
          <a:prstGeom prst="rightArrow">
            <a:avLst>
              <a:gd name="adj1" fmla="val 50000"/>
              <a:gd name="adj2" fmla="val 43140"/>
            </a:avLst>
          </a:prstGeom>
          <a:solidFill>
            <a:srgbClr val="FFFF00"/>
          </a:solidFill>
          <a:ln w="19050">
            <a:solidFill>
              <a:schemeClr val="tx1"/>
            </a:solidFill>
            <a:miter lim="800000"/>
            <a:tailEnd type="none" w="lg" len="lg"/>
          </a:ln>
          <a:effectLst/>
        </p:spPr>
        <p:txBody>
          <a:bodyPr rot="10800000"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57" name="Rectangle 93"/>
          <p:cNvSpPr>
            <a:spLocks noChangeArrowheads="1"/>
          </p:cNvSpPr>
          <p:nvPr/>
        </p:nvSpPr>
        <p:spPr bwMode="auto">
          <a:xfrm flipV="1">
            <a:off x="5670550" y="4306888"/>
            <a:ext cx="127000" cy="1287462"/>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81" name="AutoShape 49"/>
          <p:cNvSpPr>
            <a:spLocks noChangeArrowheads="1"/>
          </p:cNvSpPr>
          <p:nvPr/>
        </p:nvSpPr>
        <p:spPr bwMode="auto">
          <a:xfrm>
            <a:off x="4376738" y="4135438"/>
            <a:ext cx="247650" cy="304800"/>
          </a:xfrm>
          <a:prstGeom prst="upArrow">
            <a:avLst>
              <a:gd name="adj1" fmla="val 50000"/>
              <a:gd name="adj2" fmla="val 30769"/>
            </a:avLst>
          </a:prstGeom>
          <a:solidFill>
            <a:srgbClr val="FFFF00"/>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59" name="Rectangle 7"/>
          <p:cNvSpPr>
            <a:spLocks noChangeArrowheads="1"/>
          </p:cNvSpPr>
          <p:nvPr/>
        </p:nvSpPr>
        <p:spPr bwMode="auto">
          <a:xfrm>
            <a:off x="811213" y="4073525"/>
            <a:ext cx="1187450" cy="682625"/>
          </a:xfrm>
          <a:prstGeom prst="rect">
            <a:avLst/>
          </a:prstGeom>
          <a:solidFill>
            <a:srgbClr val="006600"/>
          </a:solidFill>
          <a:ln w="9525">
            <a:miter lim="800000"/>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输入</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a:t>
            </a:r>
            <a:r>
              <a:rPr kumimoji="0" lang="zh-CN" altLang="en-US" sz="2400">
                <a:solidFill>
                  <a:schemeClr val="bg1"/>
                </a:solidFill>
                <a:ea typeface="楷体" panose="02010609060101010101" pitchFamily="49" charset="-122"/>
                <a:cs typeface="Times New Roman" panose="02020603050405020304" pitchFamily="18" charset="0"/>
              </a:rPr>
              <a:t>输出</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23560" name="Rectangle 8"/>
          <p:cNvSpPr>
            <a:spLocks noChangeArrowheads="1"/>
          </p:cNvSpPr>
          <p:nvPr/>
        </p:nvSpPr>
        <p:spPr bwMode="auto">
          <a:xfrm>
            <a:off x="3968750" y="1808163"/>
            <a:ext cx="1625600" cy="450850"/>
          </a:xfrm>
          <a:prstGeom prst="rect">
            <a:avLst/>
          </a:prstGeom>
          <a:solidFill>
            <a:srgbClr val="9900CC"/>
          </a:solidFill>
          <a:ln w="9525">
            <a:miter lim="800000"/>
          </a:ln>
          <a:scene3d>
            <a:camera prst="legacyObliqueTopRight"/>
            <a:lightRig rig="legacyFlat3" dir="b"/>
          </a:scene3d>
          <a:sp3d extrusionH="354000" prstMaterial="legacyMatte">
            <a:bevelT w="13500" h="13500" prst="angle"/>
            <a:bevelB w="13500" h="13500" prst="angle"/>
            <a:extrusionClr>
              <a:srgbClr val="9900CC"/>
            </a:extrusionClr>
            <a:contourClr>
              <a:srgbClr val="9900CC"/>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ALU</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1" name="Rectangle 9"/>
          <p:cNvSpPr>
            <a:spLocks noChangeArrowheads="1"/>
          </p:cNvSpPr>
          <p:nvPr/>
        </p:nvSpPr>
        <p:spPr bwMode="auto">
          <a:xfrm>
            <a:off x="6329363" y="1719263"/>
            <a:ext cx="1770062" cy="769937"/>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操作控制器</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时序产生器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23562" name="Rectangle 10"/>
          <p:cNvSpPr>
            <a:spLocks noChangeArrowheads="1"/>
          </p:cNvSpPr>
          <p:nvPr/>
        </p:nvSpPr>
        <p:spPr bwMode="auto">
          <a:xfrm>
            <a:off x="3336925" y="2584450"/>
            <a:ext cx="1800225"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累加器</a:t>
            </a:r>
            <a:r>
              <a:rPr kumimoji="0" lang="en-US" altLang="zh-CN" sz="2200">
                <a:solidFill>
                  <a:schemeClr val="bg1"/>
                </a:solidFill>
                <a:ea typeface="楷体" panose="02010609060101010101" pitchFamily="49" charset="-122"/>
                <a:cs typeface="Times New Roman" panose="02020603050405020304" pitchFamily="18" charset="0"/>
              </a:rPr>
              <a:t>AC</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3" name="Rectangle 17"/>
          <p:cNvSpPr>
            <a:spLocks noChangeArrowheads="1"/>
          </p:cNvSpPr>
          <p:nvPr/>
        </p:nvSpPr>
        <p:spPr bwMode="auto">
          <a:xfrm>
            <a:off x="811213" y="2767013"/>
            <a:ext cx="1189037" cy="682625"/>
          </a:xfrm>
          <a:prstGeom prst="rect">
            <a:avLst/>
          </a:prstGeom>
          <a:solidFill>
            <a:srgbClr val="006600"/>
          </a:solidFill>
          <a:ln w="9525">
            <a:miter lim="800000"/>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存储器</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23564" name="Rectangle 18"/>
          <p:cNvSpPr>
            <a:spLocks noChangeArrowheads="1"/>
          </p:cNvSpPr>
          <p:nvPr/>
        </p:nvSpPr>
        <p:spPr bwMode="auto">
          <a:xfrm>
            <a:off x="2679700" y="3165475"/>
            <a:ext cx="2019300"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状态条件寄存器</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5" name="Rectangle 19"/>
          <p:cNvSpPr>
            <a:spLocks noChangeArrowheads="1"/>
          </p:cNvSpPr>
          <p:nvPr/>
        </p:nvSpPr>
        <p:spPr bwMode="auto">
          <a:xfrm>
            <a:off x="3395663" y="3741738"/>
            <a:ext cx="2119312" cy="392112"/>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200">
                <a:solidFill>
                  <a:schemeClr val="bg1"/>
                </a:solidFill>
                <a:ea typeface="楷体" panose="02010609060101010101" pitchFamily="49" charset="-122"/>
                <a:cs typeface="Times New Roman" panose="02020603050405020304" pitchFamily="18" charset="0"/>
              </a:rPr>
              <a:t>缓冲寄存器</a:t>
            </a:r>
            <a:r>
              <a:rPr kumimoji="0" lang="en-US" altLang="zh-CN" sz="2200">
                <a:solidFill>
                  <a:schemeClr val="bg1"/>
                </a:solidFill>
                <a:ea typeface="楷体" panose="02010609060101010101" pitchFamily="49" charset="-122"/>
                <a:cs typeface="Times New Roman" panose="02020603050405020304" pitchFamily="18" charset="0"/>
              </a:rPr>
              <a:t>DR</a:t>
            </a:r>
            <a:endParaRPr kumimoji="0" lang="en-US" altLang="zh-CN" sz="2200">
              <a:solidFill>
                <a:schemeClr val="bg1"/>
              </a:solidFill>
              <a:ea typeface="楷体" panose="02010609060101010101" pitchFamily="49" charset="-122"/>
              <a:cs typeface="Times New Roman" panose="02020603050405020304" pitchFamily="18" charset="0"/>
            </a:endParaRPr>
          </a:p>
        </p:txBody>
      </p:sp>
      <p:sp>
        <p:nvSpPr>
          <p:cNvPr id="23566" name="Rectangle 20"/>
          <p:cNvSpPr>
            <a:spLocks noChangeArrowheads="1"/>
          </p:cNvSpPr>
          <p:nvPr/>
        </p:nvSpPr>
        <p:spPr bwMode="auto">
          <a:xfrm>
            <a:off x="6249988" y="3778250"/>
            <a:ext cx="2003425" cy="392113"/>
          </a:xfrm>
          <a:prstGeom prst="rect">
            <a:avLst/>
          </a:prstGeom>
          <a:solidFill>
            <a:srgbClr val="FF9900"/>
          </a:solidFill>
          <a:ln w="9525">
            <a:miter lim="800000"/>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指令寄存器</a:t>
            </a:r>
            <a:r>
              <a:rPr kumimoji="0" lang="en-US" altLang="zh-CN" sz="2400">
                <a:solidFill>
                  <a:schemeClr val="bg1"/>
                </a:solidFill>
                <a:ea typeface="楷体" panose="02010609060101010101" pitchFamily="49" charset="-122"/>
                <a:cs typeface="Times New Roman" panose="02020603050405020304" pitchFamily="18" charset="0"/>
              </a:rPr>
              <a:t>IR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7" name="Rectangle 21"/>
          <p:cNvSpPr>
            <a:spLocks noChangeArrowheads="1"/>
          </p:cNvSpPr>
          <p:nvPr/>
        </p:nvSpPr>
        <p:spPr bwMode="auto">
          <a:xfrm>
            <a:off x="6169025" y="4645025"/>
            <a:ext cx="2162175" cy="392113"/>
          </a:xfrm>
          <a:prstGeom prst="rect">
            <a:avLst/>
          </a:prstGeom>
          <a:solidFill>
            <a:srgbClr val="FF9900"/>
          </a:solidFill>
          <a:ln w="9525">
            <a:miter lim="800000"/>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程序寄存器</a:t>
            </a:r>
            <a:r>
              <a:rPr kumimoji="0" lang="en-US" altLang="zh-CN" sz="2400">
                <a:solidFill>
                  <a:schemeClr val="bg1"/>
                </a:solidFill>
                <a:ea typeface="楷体" panose="02010609060101010101" pitchFamily="49" charset="-122"/>
                <a:cs typeface="Times New Roman" panose="02020603050405020304" pitchFamily="18" charset="0"/>
              </a:rPr>
              <a:t>PC</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8" name="Rectangle 22"/>
          <p:cNvSpPr>
            <a:spLocks noChangeArrowheads="1"/>
          </p:cNvSpPr>
          <p:nvPr/>
        </p:nvSpPr>
        <p:spPr bwMode="auto">
          <a:xfrm>
            <a:off x="6138863" y="5330825"/>
            <a:ext cx="2162175"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地址寄存器</a:t>
            </a:r>
            <a:r>
              <a:rPr kumimoji="0" lang="en-US" altLang="zh-CN" sz="2400">
                <a:solidFill>
                  <a:schemeClr val="bg1"/>
                </a:solidFill>
                <a:ea typeface="楷体" panose="02010609060101010101" pitchFamily="49" charset="-122"/>
                <a:cs typeface="Times New Roman" panose="02020603050405020304" pitchFamily="18" charset="0"/>
              </a:rPr>
              <a:t>AR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23569" name="Rectangle 23"/>
          <p:cNvSpPr>
            <a:spLocks noChangeArrowheads="1"/>
          </p:cNvSpPr>
          <p:nvPr/>
        </p:nvSpPr>
        <p:spPr bwMode="auto">
          <a:xfrm>
            <a:off x="6418263" y="2922588"/>
            <a:ext cx="1698625" cy="465137"/>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指令译码器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23570" name="AutoShape 25"/>
          <p:cNvSpPr>
            <a:spLocks noChangeArrowheads="1"/>
          </p:cNvSpPr>
          <p:nvPr/>
        </p:nvSpPr>
        <p:spPr bwMode="auto">
          <a:xfrm>
            <a:off x="7154863" y="5043488"/>
            <a:ext cx="261937" cy="246062"/>
          </a:xfrm>
          <a:prstGeom prst="downArrow">
            <a:avLst>
              <a:gd name="adj1" fmla="val 50000"/>
              <a:gd name="adj2" fmla="val 25000"/>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1" name="Rectangle 34"/>
          <p:cNvSpPr>
            <a:spLocks noChangeArrowheads="1"/>
          </p:cNvSpPr>
          <p:nvPr/>
        </p:nvSpPr>
        <p:spPr bwMode="auto">
          <a:xfrm>
            <a:off x="361950" y="5881688"/>
            <a:ext cx="7019925" cy="142875"/>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3572" name="Group 38"/>
          <p:cNvGrpSpPr/>
          <p:nvPr/>
        </p:nvGrpSpPr>
        <p:grpSpPr bwMode="auto">
          <a:xfrm>
            <a:off x="357188" y="2971800"/>
            <a:ext cx="455612" cy="3052763"/>
            <a:chOff x="225" y="2277"/>
            <a:chExt cx="287" cy="1923"/>
          </a:xfrm>
        </p:grpSpPr>
        <p:sp>
          <p:nvSpPr>
            <p:cNvPr id="23634" name="AutoShape 29"/>
            <p:cNvSpPr>
              <a:spLocks noChangeArrowheads="1"/>
            </p:cNvSpPr>
            <p:nvPr/>
          </p:nvSpPr>
          <p:spPr bwMode="auto">
            <a:xfrm>
              <a:off x="229" y="2277"/>
              <a:ext cx="283" cy="164"/>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2" name="AutoShape 30"/>
            <p:cNvSpPr>
              <a:spLocks noChangeArrowheads="1"/>
            </p:cNvSpPr>
            <p:nvPr/>
          </p:nvSpPr>
          <p:spPr bwMode="auto">
            <a:xfrm>
              <a:off x="229" y="3091"/>
              <a:ext cx="283" cy="164"/>
            </a:xfrm>
            <a:prstGeom prst="rightArrow">
              <a:avLst>
                <a:gd name="adj1" fmla="val 50000"/>
                <a:gd name="adj2" fmla="val 43140"/>
              </a:avLst>
            </a:prstGeom>
            <a:solidFill>
              <a:srgbClr val="FFFF00"/>
            </a:solidFill>
            <a:ln w="19050">
              <a:solidFill>
                <a:schemeClr val="tx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636" name="Rectangle 31"/>
            <p:cNvSpPr>
              <a:spLocks noChangeArrowheads="1"/>
            </p:cNvSpPr>
            <p:nvPr/>
          </p:nvSpPr>
          <p:spPr bwMode="auto">
            <a:xfrm>
              <a:off x="225" y="2319"/>
              <a:ext cx="80" cy="1881"/>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37" name="Rectangle 32"/>
            <p:cNvSpPr>
              <a:spLocks noChangeArrowheads="1"/>
            </p:cNvSpPr>
            <p:nvPr/>
          </p:nvSpPr>
          <p:spPr bwMode="auto">
            <a:xfrm>
              <a:off x="258" y="314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38" name="Rectangle 33"/>
            <p:cNvSpPr>
              <a:spLocks noChangeArrowheads="1"/>
            </p:cNvSpPr>
            <p:nvPr/>
          </p:nvSpPr>
          <p:spPr bwMode="auto">
            <a:xfrm>
              <a:off x="258" y="233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7" name="Rectangle 35"/>
            <p:cNvSpPr>
              <a:spLocks noChangeArrowheads="1"/>
            </p:cNvSpPr>
            <p:nvPr/>
          </p:nvSpPr>
          <p:spPr bwMode="auto">
            <a:xfrm>
              <a:off x="240" y="4086"/>
              <a:ext cx="60" cy="66"/>
            </a:xfrm>
            <a:prstGeom prst="rect">
              <a:avLst/>
            </a:prstGeom>
            <a:solidFill>
              <a:srgbClr val="FFFF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grpSp>
      <p:sp>
        <p:nvSpPr>
          <p:cNvPr id="23573" name="Rectangle 36"/>
          <p:cNvSpPr>
            <a:spLocks noChangeArrowheads="1"/>
          </p:cNvSpPr>
          <p:nvPr/>
        </p:nvSpPr>
        <p:spPr bwMode="auto">
          <a:xfrm>
            <a:off x="7248525" y="5734050"/>
            <a:ext cx="133350" cy="290513"/>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69" name="Rectangle 37"/>
          <p:cNvSpPr>
            <a:spLocks noChangeArrowheads="1"/>
          </p:cNvSpPr>
          <p:nvPr/>
        </p:nvSpPr>
        <p:spPr bwMode="auto">
          <a:xfrm>
            <a:off x="7210425" y="5910263"/>
            <a:ext cx="95250" cy="104775"/>
          </a:xfrm>
          <a:prstGeom prst="rect">
            <a:avLst/>
          </a:prstGeom>
          <a:solidFill>
            <a:srgbClr val="FFFF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75" name="AutoShape 40"/>
          <p:cNvSpPr>
            <a:spLocks noChangeArrowheads="1"/>
          </p:cNvSpPr>
          <p:nvPr/>
        </p:nvSpPr>
        <p:spPr bwMode="auto">
          <a:xfrm flipH="1">
            <a:off x="2038350" y="2970213"/>
            <a:ext cx="449263" cy="260350"/>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73" name="AutoShape 41"/>
          <p:cNvSpPr>
            <a:spLocks noChangeArrowheads="1"/>
          </p:cNvSpPr>
          <p:nvPr/>
        </p:nvSpPr>
        <p:spPr bwMode="auto">
          <a:xfrm flipH="1">
            <a:off x="2038350" y="4233863"/>
            <a:ext cx="5316538" cy="288925"/>
          </a:xfrm>
          <a:prstGeom prst="rightArrow">
            <a:avLst>
              <a:gd name="adj1" fmla="val 50556"/>
              <a:gd name="adj2" fmla="val 41914"/>
            </a:avLst>
          </a:prstGeom>
          <a:solidFill>
            <a:srgbClr val="FFFF00"/>
          </a:solidFill>
          <a:ln w="19050">
            <a:solidFill>
              <a:schemeClr val="tx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77" name="Rectangle 42"/>
          <p:cNvSpPr>
            <a:spLocks noChangeArrowheads="1"/>
          </p:cNvSpPr>
          <p:nvPr/>
        </p:nvSpPr>
        <p:spPr bwMode="auto">
          <a:xfrm flipH="1">
            <a:off x="2366963" y="3036888"/>
            <a:ext cx="141287" cy="1273175"/>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8" name="Rectangle 43"/>
          <p:cNvSpPr>
            <a:spLocks noChangeArrowheads="1"/>
          </p:cNvSpPr>
          <p:nvPr/>
        </p:nvSpPr>
        <p:spPr bwMode="auto">
          <a:xfrm flipH="1">
            <a:off x="2379663" y="4273550"/>
            <a:ext cx="128587"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79" name="Rectangle 44"/>
          <p:cNvSpPr>
            <a:spLocks noChangeArrowheads="1"/>
          </p:cNvSpPr>
          <p:nvPr/>
        </p:nvSpPr>
        <p:spPr bwMode="auto">
          <a:xfrm flipH="1">
            <a:off x="2298700" y="3060700"/>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0" name="AutoShape 46"/>
          <p:cNvSpPr>
            <a:spLocks noChangeArrowheads="1"/>
          </p:cNvSpPr>
          <p:nvPr/>
        </p:nvSpPr>
        <p:spPr bwMode="auto">
          <a:xfrm>
            <a:off x="4813300" y="2973388"/>
            <a:ext cx="260350" cy="709612"/>
          </a:xfrm>
          <a:prstGeom prst="upArrow">
            <a:avLst>
              <a:gd name="adj1" fmla="val 50000"/>
              <a:gd name="adj2" fmla="val 68140"/>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79" name="AutoShape 47"/>
          <p:cNvSpPr>
            <a:spLocks noChangeArrowheads="1"/>
          </p:cNvSpPr>
          <p:nvPr/>
        </p:nvSpPr>
        <p:spPr bwMode="auto">
          <a:xfrm>
            <a:off x="5276850" y="2260600"/>
            <a:ext cx="260350" cy="1422400"/>
          </a:xfrm>
          <a:prstGeom prst="upArrow">
            <a:avLst>
              <a:gd name="adj1" fmla="val 49639"/>
              <a:gd name="adj2" fmla="val 84405"/>
            </a:avLst>
          </a:prstGeom>
          <a:solidFill>
            <a:srgbClr val="FFFF00"/>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82" name="AutoShape 48"/>
          <p:cNvSpPr>
            <a:spLocks noChangeArrowheads="1"/>
          </p:cNvSpPr>
          <p:nvPr/>
        </p:nvSpPr>
        <p:spPr bwMode="auto">
          <a:xfrm>
            <a:off x="7164388" y="3363913"/>
            <a:ext cx="261937" cy="376237"/>
          </a:xfrm>
          <a:prstGeom prst="upArrow">
            <a:avLst>
              <a:gd name="adj1" fmla="val 50000"/>
              <a:gd name="adj2" fmla="val 35909"/>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3" name="Rectangle 50"/>
          <p:cNvSpPr>
            <a:spLocks noChangeArrowheads="1"/>
          </p:cNvSpPr>
          <p:nvPr/>
        </p:nvSpPr>
        <p:spPr bwMode="auto">
          <a:xfrm flipH="1">
            <a:off x="4449763" y="4273550"/>
            <a:ext cx="100012"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683" name="AutoShape 51"/>
          <p:cNvSpPr>
            <a:spLocks noChangeArrowheads="1"/>
          </p:cNvSpPr>
          <p:nvPr/>
        </p:nvSpPr>
        <p:spPr bwMode="auto">
          <a:xfrm>
            <a:off x="7177088" y="4144963"/>
            <a:ext cx="247650" cy="304800"/>
          </a:xfrm>
          <a:prstGeom prst="upArrow">
            <a:avLst>
              <a:gd name="adj1" fmla="val 50000"/>
              <a:gd name="adj2" fmla="val 30769"/>
            </a:avLst>
          </a:prstGeom>
          <a:solidFill>
            <a:srgbClr val="FFFF00"/>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585" name="Rectangle 52"/>
          <p:cNvSpPr>
            <a:spLocks noChangeArrowheads="1"/>
          </p:cNvSpPr>
          <p:nvPr/>
        </p:nvSpPr>
        <p:spPr bwMode="auto">
          <a:xfrm flipH="1">
            <a:off x="7192963" y="4321175"/>
            <a:ext cx="100012" cy="11430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586" name="AutoShape 53"/>
          <p:cNvSpPr>
            <a:spLocks noChangeArrowheads="1"/>
          </p:cNvSpPr>
          <p:nvPr/>
        </p:nvSpPr>
        <p:spPr bwMode="auto">
          <a:xfrm>
            <a:off x="5530850" y="3856038"/>
            <a:ext cx="711200" cy="233362"/>
          </a:xfrm>
          <a:prstGeom prst="rightArrow">
            <a:avLst>
              <a:gd name="adj1" fmla="val 50000"/>
              <a:gd name="adj2" fmla="val 76191"/>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23587" name="Group 107"/>
          <p:cNvGrpSpPr/>
          <p:nvPr/>
        </p:nvGrpSpPr>
        <p:grpSpPr bwMode="auto">
          <a:xfrm>
            <a:off x="6921500" y="2492375"/>
            <a:ext cx="900113" cy="333375"/>
            <a:chOff x="4360" y="1920"/>
            <a:chExt cx="567" cy="265"/>
          </a:xfrm>
        </p:grpSpPr>
        <p:sp>
          <p:nvSpPr>
            <p:cNvPr id="23627" name="Line 55"/>
            <p:cNvSpPr>
              <a:spLocks noChangeShapeType="1"/>
            </p:cNvSpPr>
            <p:nvPr/>
          </p:nvSpPr>
          <p:spPr bwMode="auto">
            <a:xfrm flipV="1">
              <a:off x="4360"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8" name="Line 56"/>
            <p:cNvSpPr>
              <a:spLocks noChangeShapeType="1"/>
            </p:cNvSpPr>
            <p:nvPr/>
          </p:nvSpPr>
          <p:spPr bwMode="auto">
            <a:xfrm flipV="1">
              <a:off x="4460"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9" name="Line 57"/>
            <p:cNvSpPr>
              <a:spLocks noChangeShapeType="1"/>
            </p:cNvSpPr>
            <p:nvPr/>
          </p:nvSpPr>
          <p:spPr bwMode="auto">
            <a:xfrm flipV="1">
              <a:off x="4551"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0" name="Line 58"/>
            <p:cNvSpPr>
              <a:spLocks noChangeShapeType="1"/>
            </p:cNvSpPr>
            <p:nvPr/>
          </p:nvSpPr>
          <p:spPr bwMode="auto">
            <a:xfrm flipV="1">
              <a:off x="4643"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1" name="Line 59"/>
            <p:cNvSpPr>
              <a:spLocks noChangeShapeType="1"/>
            </p:cNvSpPr>
            <p:nvPr/>
          </p:nvSpPr>
          <p:spPr bwMode="auto">
            <a:xfrm flipV="1">
              <a:off x="4726"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2" name="Line 60"/>
            <p:cNvSpPr>
              <a:spLocks noChangeShapeType="1"/>
            </p:cNvSpPr>
            <p:nvPr/>
          </p:nvSpPr>
          <p:spPr bwMode="auto">
            <a:xfrm flipV="1">
              <a:off x="4835"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33" name="Line 61"/>
            <p:cNvSpPr>
              <a:spLocks noChangeShapeType="1"/>
            </p:cNvSpPr>
            <p:nvPr/>
          </p:nvSpPr>
          <p:spPr bwMode="auto">
            <a:xfrm flipV="1">
              <a:off x="4927"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23588" name="Line 62"/>
          <p:cNvSpPr>
            <a:spLocks noChangeShapeType="1"/>
          </p:cNvSpPr>
          <p:nvPr/>
        </p:nvSpPr>
        <p:spPr bwMode="auto">
          <a:xfrm flipH="1">
            <a:off x="8139113" y="1812925"/>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89" name="Line 63"/>
          <p:cNvSpPr>
            <a:spLocks noChangeShapeType="1"/>
          </p:cNvSpPr>
          <p:nvPr/>
        </p:nvSpPr>
        <p:spPr bwMode="auto">
          <a:xfrm flipH="1">
            <a:off x="8139113" y="2246313"/>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nvGrpSpPr>
          <p:cNvPr id="23590" name="Group 80"/>
          <p:cNvGrpSpPr/>
          <p:nvPr/>
        </p:nvGrpSpPr>
        <p:grpSpPr bwMode="auto">
          <a:xfrm>
            <a:off x="6530975" y="1317625"/>
            <a:ext cx="871538" cy="333375"/>
            <a:chOff x="4162" y="1124"/>
            <a:chExt cx="549" cy="265"/>
          </a:xfrm>
        </p:grpSpPr>
        <p:sp>
          <p:nvSpPr>
            <p:cNvPr id="23620" name="Line 64"/>
            <p:cNvSpPr>
              <a:spLocks noChangeShapeType="1"/>
            </p:cNvSpPr>
            <p:nvPr/>
          </p:nvSpPr>
          <p:spPr bwMode="auto">
            <a:xfrm flipV="1">
              <a:off x="4162"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1" name="Line 65"/>
            <p:cNvSpPr>
              <a:spLocks noChangeShapeType="1"/>
            </p:cNvSpPr>
            <p:nvPr/>
          </p:nvSpPr>
          <p:spPr bwMode="auto">
            <a:xfrm flipV="1">
              <a:off x="4262"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2" name="Line 66"/>
            <p:cNvSpPr>
              <a:spLocks noChangeShapeType="1"/>
            </p:cNvSpPr>
            <p:nvPr/>
          </p:nvSpPr>
          <p:spPr bwMode="auto">
            <a:xfrm flipV="1">
              <a:off x="4353"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3" name="Line 67"/>
            <p:cNvSpPr>
              <a:spLocks noChangeShapeType="1"/>
            </p:cNvSpPr>
            <p:nvPr/>
          </p:nvSpPr>
          <p:spPr bwMode="auto">
            <a:xfrm flipV="1">
              <a:off x="4445"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4" name="Line 68"/>
            <p:cNvSpPr>
              <a:spLocks noChangeShapeType="1"/>
            </p:cNvSpPr>
            <p:nvPr/>
          </p:nvSpPr>
          <p:spPr bwMode="auto">
            <a:xfrm flipV="1">
              <a:off x="4528"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5" name="Line 69"/>
            <p:cNvSpPr>
              <a:spLocks noChangeShapeType="1"/>
            </p:cNvSpPr>
            <p:nvPr/>
          </p:nvSpPr>
          <p:spPr bwMode="auto">
            <a:xfrm flipV="1">
              <a:off x="4619"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26" name="Line 70"/>
            <p:cNvSpPr>
              <a:spLocks noChangeShapeType="1"/>
            </p:cNvSpPr>
            <p:nvPr/>
          </p:nvSpPr>
          <p:spPr bwMode="auto">
            <a:xfrm flipV="1">
              <a:off x="4711"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23591" name="Text Box 71"/>
          <p:cNvSpPr txBox="1">
            <a:spLocks noChangeArrowheads="1"/>
          </p:cNvSpPr>
          <p:nvPr/>
        </p:nvSpPr>
        <p:spPr bwMode="auto">
          <a:xfrm>
            <a:off x="8328446" y="1592263"/>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0"/>
              </a:spcBef>
              <a:buClrTx/>
              <a:buNone/>
            </a:pPr>
            <a:r>
              <a:rPr kumimoji="0" lang="zh-CN" altLang="en-US" sz="2000" dirty="0">
                <a:latin typeface="楷体" panose="02010609060101010101" pitchFamily="49" charset="-122"/>
                <a:ea typeface="楷体" panose="02010609060101010101" pitchFamily="49" charset="-122"/>
              </a:rPr>
              <a:t>时钟</a:t>
            </a:r>
            <a:endParaRPr kumimoji="0" lang="zh-CN" altLang="en-US" sz="2000" dirty="0">
              <a:latin typeface="楷体" panose="02010609060101010101" pitchFamily="49" charset="-122"/>
              <a:ea typeface="楷体" panose="02010609060101010101" pitchFamily="49" charset="-122"/>
            </a:endParaRPr>
          </a:p>
        </p:txBody>
      </p:sp>
      <p:sp>
        <p:nvSpPr>
          <p:cNvPr id="23592" name="Text Box 72"/>
          <p:cNvSpPr txBox="1">
            <a:spLocks noChangeArrowheads="1"/>
          </p:cNvSpPr>
          <p:nvPr/>
        </p:nvSpPr>
        <p:spPr bwMode="auto">
          <a:xfrm>
            <a:off x="8314158" y="1951038"/>
            <a:ext cx="700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80000"/>
              </a:lnSpc>
              <a:spcBef>
                <a:spcPct val="0"/>
              </a:spcBef>
              <a:buClrTx/>
              <a:buNone/>
            </a:pPr>
            <a:r>
              <a:rPr kumimoji="0" lang="zh-CN" altLang="en-US" sz="2000" dirty="0">
                <a:latin typeface="楷体" panose="02010609060101010101" pitchFamily="49" charset="-122"/>
                <a:ea typeface="楷体" panose="02010609060101010101" pitchFamily="49" charset="-122"/>
              </a:rPr>
              <a:t>状态</a:t>
            </a:r>
            <a:endParaRPr kumimoji="0" lang="zh-CN" altLang="en-US" sz="2000" dirty="0">
              <a:latin typeface="楷体" panose="02010609060101010101" pitchFamily="49" charset="-122"/>
              <a:ea typeface="楷体" panose="02010609060101010101" pitchFamily="49" charset="-122"/>
            </a:endParaRPr>
          </a:p>
          <a:p>
            <a:pPr eaLnBrk="1" hangingPunct="1">
              <a:lnSpc>
                <a:spcPct val="80000"/>
              </a:lnSpc>
              <a:spcBef>
                <a:spcPct val="0"/>
              </a:spcBef>
              <a:buClrTx/>
              <a:buNone/>
            </a:pPr>
            <a:r>
              <a:rPr kumimoji="0" lang="zh-CN" altLang="en-US" sz="2000" dirty="0">
                <a:latin typeface="楷体" panose="02010609060101010101" pitchFamily="49" charset="-122"/>
                <a:ea typeface="楷体" panose="02010609060101010101" pitchFamily="49" charset="-122"/>
              </a:rPr>
              <a:t>反馈</a:t>
            </a:r>
            <a:endParaRPr kumimoji="0" lang="zh-CN" altLang="en-US" sz="2000" dirty="0">
              <a:latin typeface="楷体" panose="02010609060101010101" pitchFamily="49" charset="-122"/>
              <a:ea typeface="楷体" panose="02010609060101010101" pitchFamily="49" charset="-122"/>
            </a:endParaRPr>
          </a:p>
        </p:txBody>
      </p:sp>
      <p:sp>
        <p:nvSpPr>
          <p:cNvPr id="23593" name="Line 73"/>
          <p:cNvSpPr>
            <a:spLocks noChangeShapeType="1"/>
          </p:cNvSpPr>
          <p:nvPr/>
        </p:nvSpPr>
        <p:spPr bwMode="auto">
          <a:xfrm flipH="1">
            <a:off x="8286750" y="3943350"/>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4" name="Text Box 74"/>
          <p:cNvSpPr txBox="1">
            <a:spLocks noChangeArrowheads="1"/>
          </p:cNvSpPr>
          <p:nvPr/>
        </p:nvSpPr>
        <p:spPr bwMode="auto">
          <a:xfrm>
            <a:off x="8509000" y="371792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595" name="Line 75"/>
          <p:cNvSpPr>
            <a:spLocks noChangeShapeType="1"/>
          </p:cNvSpPr>
          <p:nvPr/>
        </p:nvSpPr>
        <p:spPr bwMode="auto">
          <a:xfrm flipH="1">
            <a:off x="8359775" y="4800600"/>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6" name="Text Box 76"/>
          <p:cNvSpPr txBox="1">
            <a:spLocks noChangeArrowheads="1"/>
          </p:cNvSpPr>
          <p:nvPr/>
        </p:nvSpPr>
        <p:spPr bwMode="auto">
          <a:xfrm>
            <a:off x="8582025" y="457517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597" name="Line 77"/>
          <p:cNvSpPr>
            <a:spLocks noChangeShapeType="1"/>
          </p:cNvSpPr>
          <p:nvPr/>
        </p:nvSpPr>
        <p:spPr bwMode="auto">
          <a:xfrm flipH="1">
            <a:off x="8345488" y="5510213"/>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598" name="Text Box 78"/>
          <p:cNvSpPr txBox="1">
            <a:spLocks noChangeArrowheads="1"/>
          </p:cNvSpPr>
          <p:nvPr/>
        </p:nvSpPr>
        <p:spPr bwMode="auto">
          <a:xfrm>
            <a:off x="8567738" y="5284788"/>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599" name="Text Box 79"/>
          <p:cNvSpPr txBox="1">
            <a:spLocks noChangeArrowheads="1"/>
          </p:cNvSpPr>
          <p:nvPr/>
        </p:nvSpPr>
        <p:spPr bwMode="auto">
          <a:xfrm>
            <a:off x="7354888" y="121443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latin typeface="楷体" panose="02010609060101010101" pitchFamily="49" charset="-122"/>
                <a:ea typeface="楷体" panose="02010609060101010101" pitchFamily="49" charset="-122"/>
              </a:rPr>
              <a:t>指令执行控制</a:t>
            </a:r>
            <a:endParaRPr kumimoji="0" lang="zh-CN" altLang="en-US" sz="2000" dirty="0">
              <a:latin typeface="楷体" panose="02010609060101010101" pitchFamily="49" charset="-122"/>
              <a:ea typeface="楷体" panose="02010609060101010101" pitchFamily="49" charset="-122"/>
            </a:endParaRPr>
          </a:p>
        </p:txBody>
      </p:sp>
      <p:sp>
        <p:nvSpPr>
          <p:cNvPr id="23600" name="Line 81"/>
          <p:cNvSpPr>
            <a:spLocks noChangeShapeType="1"/>
          </p:cNvSpPr>
          <p:nvPr/>
        </p:nvSpPr>
        <p:spPr bwMode="auto">
          <a:xfrm>
            <a:off x="3136900" y="3957638"/>
            <a:ext cx="24606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1" name="Text Box 82"/>
          <p:cNvSpPr txBox="1">
            <a:spLocks noChangeArrowheads="1"/>
          </p:cNvSpPr>
          <p:nvPr/>
        </p:nvSpPr>
        <p:spPr bwMode="auto">
          <a:xfrm>
            <a:off x="2878138" y="373221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02" name="Line 83"/>
          <p:cNvSpPr>
            <a:spLocks noChangeShapeType="1"/>
          </p:cNvSpPr>
          <p:nvPr/>
        </p:nvSpPr>
        <p:spPr bwMode="auto">
          <a:xfrm>
            <a:off x="3079750" y="2782888"/>
            <a:ext cx="24606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3" name="Text Box 84"/>
          <p:cNvSpPr txBox="1">
            <a:spLocks noChangeArrowheads="1"/>
          </p:cNvSpPr>
          <p:nvPr/>
        </p:nvSpPr>
        <p:spPr bwMode="auto">
          <a:xfrm>
            <a:off x="2835275" y="2571750"/>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04" name="Line 85"/>
          <p:cNvSpPr>
            <a:spLocks noChangeShapeType="1"/>
          </p:cNvSpPr>
          <p:nvPr/>
        </p:nvSpPr>
        <p:spPr bwMode="auto">
          <a:xfrm>
            <a:off x="2843213" y="1897063"/>
            <a:ext cx="0" cy="121920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05" name="Line 86"/>
          <p:cNvSpPr>
            <a:spLocks noChangeShapeType="1"/>
          </p:cNvSpPr>
          <p:nvPr/>
        </p:nvSpPr>
        <p:spPr bwMode="auto">
          <a:xfrm>
            <a:off x="2830513" y="1898650"/>
            <a:ext cx="113188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3606" name="AutoShape 87"/>
          <p:cNvSpPr>
            <a:spLocks noChangeArrowheads="1"/>
          </p:cNvSpPr>
          <p:nvPr/>
        </p:nvSpPr>
        <p:spPr bwMode="auto">
          <a:xfrm>
            <a:off x="4799013" y="2246313"/>
            <a:ext cx="261937" cy="288925"/>
          </a:xfrm>
          <a:prstGeom prst="upArrow">
            <a:avLst>
              <a:gd name="adj1" fmla="val 50000"/>
              <a:gd name="adj2" fmla="val 27576"/>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07" name="AutoShape 88"/>
          <p:cNvSpPr>
            <a:spLocks noChangeArrowheads="1"/>
          </p:cNvSpPr>
          <p:nvPr/>
        </p:nvSpPr>
        <p:spPr bwMode="auto">
          <a:xfrm rot="5378730" flipV="1">
            <a:off x="3465512" y="2039938"/>
            <a:ext cx="506413" cy="465138"/>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FFFF00"/>
          </a:solidFill>
          <a:ln w="19050">
            <a:solidFill>
              <a:schemeClr val="tx1"/>
            </a:solidFill>
            <a:miter lim="800000"/>
            <a:tailEnd type="none" w="lg" len="lg"/>
          </a:ln>
        </p:spPr>
        <p:txBody>
          <a:bodyPr wrap="none" anchor="ctr"/>
          <a:lstStyle/>
          <a:p>
            <a:endParaRPr lang="zh-CN" altLang="en-US"/>
          </a:p>
        </p:txBody>
      </p:sp>
      <p:sp>
        <p:nvSpPr>
          <p:cNvPr id="197721" name="Rectangle 89"/>
          <p:cNvSpPr>
            <a:spLocks noChangeArrowheads="1"/>
          </p:cNvSpPr>
          <p:nvPr/>
        </p:nvSpPr>
        <p:spPr bwMode="auto">
          <a:xfrm flipH="1">
            <a:off x="404813" y="5899150"/>
            <a:ext cx="128587" cy="109538"/>
          </a:xfrm>
          <a:prstGeom prst="rect">
            <a:avLst/>
          </a:prstGeom>
          <a:solidFill>
            <a:srgbClr val="FFFF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609" name="Rectangle 94"/>
          <p:cNvSpPr>
            <a:spLocks noChangeArrowheads="1"/>
          </p:cNvSpPr>
          <p:nvPr/>
        </p:nvSpPr>
        <p:spPr bwMode="auto">
          <a:xfrm flipV="1">
            <a:off x="5722938" y="4803775"/>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10" name="Rectangle 95"/>
          <p:cNvSpPr>
            <a:spLocks noChangeArrowheads="1"/>
          </p:cNvSpPr>
          <p:nvPr/>
        </p:nvSpPr>
        <p:spPr bwMode="auto">
          <a:xfrm flipV="1">
            <a:off x="5722938" y="5475288"/>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97728" name="Rectangle 96"/>
          <p:cNvSpPr>
            <a:spLocks noChangeArrowheads="1"/>
          </p:cNvSpPr>
          <p:nvPr/>
        </p:nvSpPr>
        <p:spPr bwMode="auto">
          <a:xfrm flipV="1">
            <a:off x="5680075" y="4413250"/>
            <a:ext cx="111125" cy="88900"/>
          </a:xfrm>
          <a:prstGeom prst="rect">
            <a:avLst/>
          </a:prstGeom>
          <a:solidFill>
            <a:srgbClr val="FFFF00"/>
          </a:solidFill>
          <a:ln w="19050">
            <a:noFill/>
            <a:miter lim="800000"/>
            <a:tailEnd type="none" w="lg" len="lg"/>
          </a:ln>
          <a:effectLst/>
        </p:spPr>
        <p:txBody>
          <a:bodyPr rot="10800000"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3612" name="Line 99"/>
          <p:cNvSpPr>
            <a:spLocks noChangeShapeType="1"/>
          </p:cNvSpPr>
          <p:nvPr/>
        </p:nvSpPr>
        <p:spPr bwMode="auto">
          <a:xfrm>
            <a:off x="4716463" y="1462088"/>
            <a:ext cx="0" cy="29051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3" name="Text Box 100"/>
          <p:cNvSpPr txBox="1">
            <a:spLocks noChangeArrowheads="1"/>
          </p:cNvSpPr>
          <p:nvPr/>
        </p:nvSpPr>
        <p:spPr bwMode="auto">
          <a:xfrm>
            <a:off x="4548188"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14" name="Line 101"/>
          <p:cNvSpPr>
            <a:spLocks noChangeShapeType="1"/>
          </p:cNvSpPr>
          <p:nvPr/>
        </p:nvSpPr>
        <p:spPr bwMode="auto">
          <a:xfrm>
            <a:off x="4932363" y="1462088"/>
            <a:ext cx="0" cy="29051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5" name="Line 102"/>
          <p:cNvSpPr>
            <a:spLocks noChangeShapeType="1"/>
          </p:cNvSpPr>
          <p:nvPr/>
        </p:nvSpPr>
        <p:spPr bwMode="auto">
          <a:xfrm>
            <a:off x="5149850" y="1462088"/>
            <a:ext cx="0" cy="290512"/>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3616" name="Text Box 103"/>
          <p:cNvSpPr txBox="1">
            <a:spLocks noChangeArrowheads="1"/>
          </p:cNvSpPr>
          <p:nvPr/>
        </p:nvSpPr>
        <p:spPr bwMode="auto">
          <a:xfrm>
            <a:off x="4765675"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17" name="Text Box 104"/>
          <p:cNvSpPr txBox="1">
            <a:spLocks noChangeArrowheads="1"/>
          </p:cNvSpPr>
          <p:nvPr/>
        </p:nvSpPr>
        <p:spPr bwMode="auto">
          <a:xfrm>
            <a:off x="4983163" y="113506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a:t>
            </a:r>
            <a:endParaRPr kumimoji="0" lang="en-US" altLang="zh-CN" sz="2000">
              <a:latin typeface="Tahoma" panose="020B0604030504040204" pitchFamily="34" charset="0"/>
              <a:ea typeface="宋体" panose="02010600030101010101" pitchFamily="2" charset="-122"/>
            </a:endParaRPr>
          </a:p>
        </p:txBody>
      </p:sp>
      <p:sp>
        <p:nvSpPr>
          <p:cNvPr id="23618" name="Rectangle 105"/>
          <p:cNvSpPr>
            <a:spLocks noChangeArrowheads="1"/>
          </p:cNvSpPr>
          <p:nvPr/>
        </p:nvSpPr>
        <p:spPr bwMode="auto">
          <a:xfrm>
            <a:off x="2598738" y="1216025"/>
            <a:ext cx="6473825" cy="4913313"/>
          </a:xfrm>
          <a:prstGeom prst="rect">
            <a:avLst/>
          </a:prstGeom>
          <a:noFill/>
          <a:ln w="22225">
            <a:solidFill>
              <a:srgbClr val="FF0000"/>
            </a:solidFill>
            <a:prstDash val="dash"/>
            <a:miter lim="800000"/>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619" name="Text Box 106"/>
          <p:cNvSpPr txBox="1">
            <a:spLocks noChangeArrowheads="1"/>
          </p:cNvSpPr>
          <p:nvPr/>
        </p:nvSpPr>
        <p:spPr bwMode="auto">
          <a:xfrm>
            <a:off x="2898775" y="5197475"/>
            <a:ext cx="1019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a:solidFill>
                  <a:srgbClr val="FF0000"/>
                </a:solidFill>
                <a:ea typeface="宋体" panose="02010600030101010101" pitchFamily="2" charset="-122"/>
              </a:rPr>
              <a:t>CPU</a:t>
            </a:r>
            <a:endParaRPr kumimoji="0" lang="en-US" altLang="zh-CN">
              <a:solidFill>
                <a:srgbClr val="FF0000"/>
              </a:solidFill>
              <a:ea typeface="宋体" panose="02010600030101010101" pitchFamily="2" charset="-122"/>
            </a:endParaRPr>
          </a:p>
        </p:txBody>
      </p:sp>
    </p:spTree>
  </p:cSld>
  <p:clrMapOvr>
    <a:masterClrMapping/>
  </p:clrMapOvr>
  <p:transition spd="med">
    <p:pull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en-US" altLang="zh-CN"/>
              <a:t>CPU</a:t>
            </a:r>
            <a:r>
              <a:rPr lang="zh-CN" altLang="en-US"/>
              <a:t>的基本组成（</a:t>
            </a:r>
            <a:r>
              <a:rPr lang="en-US" altLang="zh-CN"/>
              <a:t>1</a:t>
            </a:r>
            <a:r>
              <a:rPr lang="zh-CN" altLang="en-US"/>
              <a:t>）</a:t>
            </a:r>
            <a:endParaRPr lang="zh-CN" altLang="en-US"/>
          </a:p>
        </p:txBody>
      </p:sp>
      <p:sp>
        <p:nvSpPr>
          <p:cNvPr id="24578" name="Rectangle 3"/>
          <p:cNvSpPr>
            <a:spLocks noGrp="1" noChangeArrowheads="1"/>
          </p:cNvSpPr>
          <p:nvPr>
            <p:ph idx="1"/>
          </p:nvPr>
        </p:nvSpPr>
        <p:spPr/>
        <p:txBody>
          <a:bodyPr/>
          <a:lstStyle/>
          <a:p>
            <a:pPr eaLnBrk="1" hangingPunct="1"/>
            <a:r>
              <a:rPr lang="zh-CN" altLang="en-US"/>
              <a:t>控制器 </a:t>
            </a:r>
            <a:endParaRPr lang="zh-CN" altLang="en-US"/>
          </a:p>
          <a:p>
            <a:pPr lvl="1" eaLnBrk="1" hangingPunct="1"/>
            <a:r>
              <a:rPr lang="zh-CN" altLang="en-US"/>
              <a:t>由程序计数器、指令寄存器、指令译码器、操作控制器和时序产生器组成</a:t>
            </a:r>
            <a:endParaRPr lang="zh-CN" altLang="en-US"/>
          </a:p>
          <a:p>
            <a:pPr lvl="1" eaLnBrk="1" hangingPunct="1"/>
            <a:r>
              <a:rPr lang="zh-CN" altLang="en-US"/>
              <a:t>完成指挥和协调整个计算机系统的操作</a:t>
            </a:r>
            <a:endParaRPr lang="zh-CN" altLang="en-US"/>
          </a:p>
          <a:p>
            <a:pPr lvl="1" eaLnBrk="1" hangingPunct="1"/>
            <a:r>
              <a:rPr lang="zh-CN" altLang="en-US"/>
              <a:t>主要功能</a:t>
            </a:r>
            <a:endParaRPr lang="zh-CN" altLang="en-US"/>
          </a:p>
          <a:p>
            <a:pPr lvl="2" eaLnBrk="1" hangingPunct="1"/>
            <a:r>
              <a:rPr lang="zh-CN" altLang="en-US"/>
              <a:t>从指令</a:t>
            </a:r>
            <a:r>
              <a:rPr lang="en-US" altLang="zh-CN"/>
              <a:t>cache</a:t>
            </a:r>
            <a:r>
              <a:rPr lang="zh-CN" altLang="en-US"/>
              <a:t>中取出一条指令，并指出下一条指令在指令</a:t>
            </a:r>
            <a:r>
              <a:rPr lang="en-US" altLang="zh-CN"/>
              <a:t>cache</a:t>
            </a:r>
            <a:r>
              <a:rPr lang="zh-CN" altLang="en-US"/>
              <a:t>中的位置</a:t>
            </a:r>
            <a:endParaRPr lang="zh-CN" altLang="en-US"/>
          </a:p>
          <a:p>
            <a:pPr lvl="2" eaLnBrk="1" hangingPunct="1"/>
            <a:r>
              <a:rPr lang="zh-CN" altLang="en-US"/>
              <a:t>对指令进行译码或测试，产生相应的操作控制信号，以便启动规定的动作</a:t>
            </a:r>
            <a:endParaRPr lang="zh-CN" altLang="en-US"/>
          </a:p>
          <a:p>
            <a:pPr lvl="2" eaLnBrk="1" hangingPunct="1"/>
            <a:r>
              <a:rPr lang="zh-CN" altLang="en-US"/>
              <a:t>指挥并控制</a:t>
            </a:r>
            <a:r>
              <a:rPr lang="en-US" altLang="zh-CN"/>
              <a:t>CPU</a:t>
            </a:r>
            <a:r>
              <a:rPr lang="zh-CN" altLang="en-US"/>
              <a:t>、内存和输入</a:t>
            </a:r>
            <a:r>
              <a:rPr lang="en-US" altLang="zh-CN"/>
              <a:t>/</a:t>
            </a:r>
            <a:r>
              <a:rPr lang="zh-CN" altLang="en-US"/>
              <a:t>输出设备之间数据流动的方向</a:t>
            </a:r>
            <a:endParaRPr lang="zh-CN" altLang="en-US"/>
          </a:p>
        </p:txBody>
      </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en-US" altLang="zh-CN"/>
              <a:t>CPU</a:t>
            </a:r>
            <a:r>
              <a:rPr lang="zh-CN" altLang="en-US"/>
              <a:t>的基本组成（</a:t>
            </a:r>
            <a:r>
              <a:rPr lang="en-US" altLang="zh-CN"/>
              <a:t>2</a:t>
            </a:r>
            <a:r>
              <a:rPr lang="zh-CN" altLang="en-US"/>
              <a:t>）</a:t>
            </a:r>
            <a:endParaRPr lang="en-US" altLang="zh-CN"/>
          </a:p>
        </p:txBody>
      </p:sp>
      <p:sp>
        <p:nvSpPr>
          <p:cNvPr id="25602" name="Rectangle 3"/>
          <p:cNvSpPr>
            <a:spLocks noGrp="1" noChangeArrowheads="1"/>
          </p:cNvSpPr>
          <p:nvPr>
            <p:ph idx="1"/>
          </p:nvPr>
        </p:nvSpPr>
        <p:spPr/>
        <p:txBody>
          <a:bodyPr/>
          <a:lstStyle/>
          <a:p>
            <a:pPr eaLnBrk="1" hangingPunct="1"/>
            <a:r>
              <a:rPr lang="zh-CN" altLang="en-US" dirty="0"/>
              <a:t>运算器</a:t>
            </a:r>
            <a:endParaRPr lang="zh-CN" altLang="en-US" dirty="0"/>
          </a:p>
          <a:p>
            <a:pPr lvl="1" eaLnBrk="1" hangingPunct="1"/>
            <a:r>
              <a:rPr lang="zh-CN" altLang="en-US" dirty="0"/>
              <a:t>由算术逻辑单元</a:t>
            </a:r>
            <a:r>
              <a:rPr lang="en-US" altLang="zh-CN" dirty="0"/>
              <a:t>(ALU)</a:t>
            </a:r>
            <a:r>
              <a:rPr lang="zh-CN" altLang="en-US" dirty="0"/>
              <a:t>、累加寄存器、数据缓冲寄存器</a:t>
            </a:r>
            <a:r>
              <a:rPr lang="en-US" altLang="zh-CN" dirty="0"/>
              <a:t>DR</a:t>
            </a:r>
            <a:r>
              <a:rPr lang="zh-CN" altLang="en-US" dirty="0"/>
              <a:t>和状态条件寄存器</a:t>
            </a:r>
            <a:r>
              <a:rPr lang="en-US" altLang="zh-CN" dirty="0"/>
              <a:t>PSW</a:t>
            </a:r>
            <a:r>
              <a:rPr lang="zh-CN" altLang="en-US" dirty="0"/>
              <a:t>组成</a:t>
            </a:r>
            <a:endParaRPr lang="zh-CN" altLang="en-US" dirty="0"/>
          </a:p>
          <a:p>
            <a:pPr lvl="1" eaLnBrk="1" hangingPunct="1"/>
            <a:r>
              <a:rPr lang="zh-CN" altLang="en-US" dirty="0"/>
              <a:t>是数据加工处理部件。运算器接受控制器的命令而进行动作 ，它是执行部件</a:t>
            </a:r>
            <a:endParaRPr lang="zh-CN" altLang="en-US" dirty="0"/>
          </a:p>
          <a:p>
            <a:pPr lvl="1" eaLnBrk="1" hangingPunct="1"/>
            <a:r>
              <a:rPr lang="zh-CN" altLang="en-US" dirty="0"/>
              <a:t>主要功能</a:t>
            </a:r>
            <a:endParaRPr lang="zh-CN" altLang="en-US" dirty="0"/>
          </a:p>
          <a:p>
            <a:pPr lvl="2" eaLnBrk="1" hangingPunct="1"/>
            <a:r>
              <a:rPr lang="zh-CN" altLang="en-US" dirty="0"/>
              <a:t>执行所有的算术运算</a:t>
            </a:r>
            <a:endParaRPr lang="zh-CN" altLang="en-US" dirty="0"/>
          </a:p>
          <a:p>
            <a:pPr lvl="2" eaLnBrk="1" hangingPunct="1"/>
            <a:r>
              <a:rPr lang="zh-CN" altLang="en-US" dirty="0"/>
              <a:t>执行所有的逻辑运算，并进行逻辑测试，如零值测试或两个值的比较</a:t>
            </a:r>
            <a:endParaRPr lang="zh-CN" altLang="en-US" dirty="0"/>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altLang="en-US"/>
              <a:t>CPU中的主要寄存器</a:t>
            </a:r>
            <a:r>
              <a:rPr lang="en-US" altLang="zh-CN"/>
              <a:t>（1</a:t>
            </a:r>
            <a:r>
              <a:rPr lang="zh-CN" altLang="en-US"/>
              <a:t>）</a:t>
            </a:r>
            <a:endParaRPr lang="zh-CN" altLang="en-US"/>
          </a:p>
        </p:txBody>
      </p:sp>
      <p:sp>
        <p:nvSpPr>
          <p:cNvPr id="26626" name="Rectangle 3"/>
          <p:cNvSpPr>
            <a:spLocks noGrp="1" noChangeArrowheads="1"/>
          </p:cNvSpPr>
          <p:nvPr>
            <p:ph idx="1"/>
          </p:nvPr>
        </p:nvSpPr>
        <p:spPr/>
        <p:txBody>
          <a:bodyPr/>
          <a:lstStyle/>
          <a:p>
            <a:pPr eaLnBrk="1" hangingPunct="1"/>
            <a:r>
              <a:rPr lang="zh-CN" altLang="en-US" dirty="0"/>
              <a:t>数据缓冲寄存器（</a:t>
            </a:r>
            <a:r>
              <a:rPr lang="en-US" altLang="zh-CN" dirty="0"/>
              <a:t>DR</a:t>
            </a:r>
            <a:r>
              <a:rPr lang="zh-CN" altLang="en-US" dirty="0"/>
              <a:t>）</a:t>
            </a:r>
            <a:endParaRPr lang="zh-CN" altLang="en-US" dirty="0"/>
          </a:p>
          <a:p>
            <a:pPr eaLnBrk="1" hangingPunct="1"/>
            <a:r>
              <a:rPr lang="zh-CN" altLang="en-US" dirty="0"/>
              <a:t>指令寄存器（</a:t>
            </a:r>
            <a:r>
              <a:rPr lang="en-US" altLang="zh-CN" dirty="0"/>
              <a:t>IR</a:t>
            </a:r>
            <a:r>
              <a:rPr lang="zh-CN" altLang="en-US" dirty="0"/>
              <a:t>）</a:t>
            </a:r>
            <a:endParaRPr lang="zh-CN" altLang="en-US" dirty="0"/>
          </a:p>
          <a:p>
            <a:pPr eaLnBrk="1" hangingPunct="1"/>
            <a:r>
              <a:rPr lang="zh-CN" altLang="en-US" dirty="0"/>
              <a:t>程序计数器（</a:t>
            </a:r>
            <a:r>
              <a:rPr lang="en-US" altLang="zh-CN" dirty="0"/>
              <a:t>PC</a:t>
            </a:r>
            <a:r>
              <a:rPr lang="zh-CN" altLang="en-US" dirty="0"/>
              <a:t>）</a:t>
            </a:r>
            <a:endParaRPr lang="zh-CN" altLang="en-US" dirty="0"/>
          </a:p>
          <a:p>
            <a:pPr eaLnBrk="1" hangingPunct="1"/>
            <a:r>
              <a:rPr lang="zh-CN" altLang="en-US" dirty="0"/>
              <a:t>地址寄存器（</a:t>
            </a:r>
            <a:r>
              <a:rPr lang="en-US" altLang="zh-CN" dirty="0"/>
              <a:t>AR</a:t>
            </a:r>
            <a:r>
              <a:rPr lang="zh-CN" altLang="en-US" dirty="0"/>
              <a:t>）</a:t>
            </a:r>
            <a:endParaRPr lang="zh-CN" altLang="en-US" dirty="0"/>
          </a:p>
          <a:p>
            <a:pPr eaLnBrk="1" hangingPunct="1"/>
            <a:r>
              <a:rPr lang="zh-CN" altLang="en-US" dirty="0"/>
              <a:t>通用寄存器（</a:t>
            </a:r>
            <a:r>
              <a:rPr lang="en-US" altLang="zh-CN" dirty="0"/>
              <a:t>R0~R3</a:t>
            </a:r>
            <a:r>
              <a:rPr lang="zh-CN" altLang="en-US" dirty="0"/>
              <a:t>）</a:t>
            </a:r>
            <a:endParaRPr lang="zh-CN" altLang="en-US" dirty="0"/>
          </a:p>
          <a:p>
            <a:pPr eaLnBrk="1" hangingPunct="1"/>
            <a:r>
              <a:rPr lang="zh-CN" altLang="en-US" dirty="0"/>
              <a:t>状态条件寄存器（</a:t>
            </a:r>
            <a:r>
              <a:rPr lang="en-US" altLang="zh-CN" dirty="0"/>
              <a:t>PSW</a:t>
            </a:r>
            <a:r>
              <a:rPr lang="zh-CN" altLang="en-US" dirty="0"/>
              <a:t>）</a:t>
            </a:r>
            <a:endParaRPr lang="zh-CN" altLang="en-US" dirty="0"/>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defRPr/>
            </a:pPr>
            <a:r>
              <a:rPr lang="en-US" altLang="en-US"/>
              <a:t>CPU中的主要寄存器</a:t>
            </a:r>
            <a:r>
              <a:rPr lang="en-US" altLang="zh-CN"/>
              <a:t>（2</a:t>
            </a:r>
            <a:r>
              <a:rPr lang="zh-CN" altLang="en-US"/>
              <a:t>）</a:t>
            </a:r>
            <a:endParaRPr lang="zh-CN" altLang="en-US"/>
          </a:p>
        </p:txBody>
      </p:sp>
      <p:sp>
        <p:nvSpPr>
          <p:cNvPr id="27650" name="Rectangle 3"/>
          <p:cNvSpPr>
            <a:spLocks noGrp="1" noChangeArrowheads="1"/>
          </p:cNvSpPr>
          <p:nvPr>
            <p:ph idx="1"/>
          </p:nvPr>
        </p:nvSpPr>
        <p:spPr/>
        <p:txBody>
          <a:bodyPr/>
          <a:lstStyle/>
          <a:p>
            <a:pPr eaLnBrk="1" hangingPunct="1"/>
            <a:r>
              <a:rPr lang="zh-CN" altLang="en-US"/>
              <a:t>数据缓冲寄存器（</a:t>
            </a:r>
            <a:r>
              <a:rPr lang="en-US" altLang="zh-CN"/>
              <a:t>DR</a:t>
            </a:r>
            <a:r>
              <a:rPr lang="zh-CN" altLang="en-US"/>
              <a:t>）</a:t>
            </a:r>
            <a:endParaRPr lang="zh-CN" altLang="en-US"/>
          </a:p>
          <a:p>
            <a:pPr lvl="1" eaLnBrk="1" hangingPunct="1"/>
            <a:r>
              <a:rPr lang="zh-CN" altLang="en-US"/>
              <a:t>用来暂时存放从数据</a:t>
            </a:r>
            <a:r>
              <a:rPr lang="en-US" altLang="zh-CN"/>
              <a:t>cache</a:t>
            </a:r>
            <a:r>
              <a:rPr lang="zh-CN" altLang="en-US"/>
              <a:t>读出的一个数据字，或来自外部接口的一个数据字，或</a:t>
            </a:r>
            <a:r>
              <a:rPr lang="en-US" altLang="zh-CN"/>
              <a:t>ALU</a:t>
            </a:r>
            <a:r>
              <a:rPr lang="zh-CN" altLang="en-US"/>
              <a:t>的运算结果</a:t>
            </a:r>
            <a:endParaRPr lang="zh-CN" altLang="en-US"/>
          </a:p>
          <a:p>
            <a:pPr lvl="1" eaLnBrk="1" hangingPunct="1"/>
            <a:r>
              <a:rPr lang="zh-CN" altLang="en-US"/>
              <a:t>向数据</a:t>
            </a:r>
            <a:r>
              <a:rPr lang="en-US" altLang="zh-CN"/>
              <a:t>cache</a:t>
            </a:r>
            <a:r>
              <a:rPr lang="zh-CN" altLang="en-US"/>
              <a:t>写入一个数据时，也是用</a:t>
            </a:r>
            <a:r>
              <a:rPr lang="en-US" altLang="zh-CN"/>
              <a:t>DR</a:t>
            </a:r>
            <a:r>
              <a:rPr lang="zh-CN" altLang="en-US"/>
              <a:t>暂存的</a:t>
            </a:r>
            <a:endParaRPr lang="zh-CN" altLang="en-US"/>
          </a:p>
          <a:p>
            <a:pPr lvl="1" eaLnBrk="1" hangingPunct="1"/>
            <a:r>
              <a:rPr lang="zh-CN" altLang="en-US"/>
              <a:t>作用</a:t>
            </a:r>
            <a:endParaRPr lang="zh-CN" altLang="en-US"/>
          </a:p>
          <a:p>
            <a:pPr lvl="2" eaLnBrk="1" hangingPunct="1"/>
            <a:r>
              <a:rPr lang="zh-CN" altLang="en-US"/>
              <a:t>作为</a:t>
            </a:r>
            <a:r>
              <a:rPr lang="en-US" altLang="zh-CN"/>
              <a:t>ALU</a:t>
            </a:r>
            <a:r>
              <a:rPr lang="zh-CN" altLang="en-US"/>
              <a:t>运算结果和通用寄存器之间信息传送中时间上的缓冲</a:t>
            </a:r>
            <a:endParaRPr lang="en-US" altLang="zh-CN"/>
          </a:p>
          <a:p>
            <a:pPr lvl="2" eaLnBrk="1" hangingPunct="1"/>
            <a:r>
              <a:rPr lang="zh-CN" altLang="en-US"/>
              <a:t>补偿</a:t>
            </a:r>
            <a:r>
              <a:rPr lang="en-US" altLang="zh-CN"/>
              <a:t>CPU</a:t>
            </a:r>
            <a:r>
              <a:rPr lang="zh-CN" altLang="en-US"/>
              <a:t>和内存、外设之间在操作速度上的差别</a:t>
            </a:r>
            <a:endParaRPr lang="zh-CN" altLang="en-US"/>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eaLnBrk="1" hangingPunct="1">
              <a:defRPr/>
            </a:pPr>
            <a:r>
              <a:rPr lang="en-US" altLang="en-US"/>
              <a:t>CPU中的主要寄存器</a:t>
            </a:r>
            <a:r>
              <a:rPr lang="en-US" altLang="zh-CN"/>
              <a:t>（3</a:t>
            </a:r>
            <a:r>
              <a:rPr lang="zh-CN" altLang="en-US"/>
              <a:t>）</a:t>
            </a:r>
            <a:endParaRPr lang="zh-CN" altLang="en-US"/>
          </a:p>
        </p:txBody>
      </p:sp>
      <p:sp>
        <p:nvSpPr>
          <p:cNvPr id="28674" name="Rectangle 3"/>
          <p:cNvSpPr>
            <a:spLocks noGrp="1" noChangeArrowheads="1"/>
          </p:cNvSpPr>
          <p:nvPr>
            <p:ph idx="1"/>
          </p:nvPr>
        </p:nvSpPr>
        <p:spPr/>
        <p:txBody>
          <a:bodyPr/>
          <a:lstStyle/>
          <a:p>
            <a:pPr eaLnBrk="1" hangingPunct="1">
              <a:lnSpc>
                <a:spcPct val="90000"/>
              </a:lnSpc>
            </a:pPr>
            <a:r>
              <a:rPr lang="zh-CN" altLang="en-US"/>
              <a:t>指令寄存器（</a:t>
            </a:r>
            <a:r>
              <a:rPr lang="en-US" altLang="zh-CN"/>
              <a:t>IR</a:t>
            </a:r>
            <a:r>
              <a:rPr lang="zh-CN" altLang="en-US"/>
              <a:t>）</a:t>
            </a:r>
            <a:endParaRPr lang="zh-CN" altLang="en-US"/>
          </a:p>
          <a:p>
            <a:pPr lvl="1" eaLnBrk="1" hangingPunct="1">
              <a:lnSpc>
                <a:spcPct val="90000"/>
              </a:lnSpc>
            </a:pPr>
            <a:r>
              <a:rPr lang="zh-CN" altLang="en-US"/>
              <a:t>用来保存当前正在执行的一条指令</a:t>
            </a:r>
            <a:endParaRPr lang="zh-CN" altLang="en-US"/>
          </a:p>
          <a:p>
            <a:pPr lvl="1" eaLnBrk="1" hangingPunct="1">
              <a:lnSpc>
                <a:spcPct val="90000"/>
              </a:lnSpc>
            </a:pPr>
            <a:r>
              <a:rPr lang="zh-CN" altLang="en-US"/>
              <a:t>指令寄存器中操作码字段的输出就是指令译码器的输入</a:t>
            </a:r>
            <a:endParaRPr lang="en-US" altLang="zh-CN"/>
          </a:p>
          <a:p>
            <a:pPr lvl="1" eaLnBrk="1" hangingPunct="1">
              <a:lnSpc>
                <a:spcPct val="90000"/>
              </a:lnSpc>
            </a:pPr>
            <a:r>
              <a:rPr lang="zh-CN" altLang="en-US"/>
              <a:t>操作码经译码器译码后，即可向操作控制器发出特定的操作信号</a:t>
            </a:r>
            <a:endParaRPr lang="zh-CN" altLang="en-US"/>
          </a:p>
        </p:txBody>
      </p:sp>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pPr eaLnBrk="1" hangingPunct="1">
              <a:defRPr/>
            </a:pPr>
            <a:r>
              <a:rPr lang="en-US" altLang="en-US"/>
              <a:t>CPU中的主要寄存器</a:t>
            </a:r>
            <a:r>
              <a:rPr lang="en-US" altLang="zh-CN"/>
              <a:t>（4</a:t>
            </a:r>
            <a:r>
              <a:rPr lang="zh-CN" altLang="en-US"/>
              <a:t>）</a:t>
            </a:r>
            <a:endParaRPr lang="zh-CN" altLang="en-US"/>
          </a:p>
        </p:txBody>
      </p:sp>
      <p:sp>
        <p:nvSpPr>
          <p:cNvPr id="29698" name="Rectangle 3"/>
          <p:cNvSpPr>
            <a:spLocks noGrp="1" noChangeArrowheads="1"/>
          </p:cNvSpPr>
          <p:nvPr>
            <p:ph idx="1"/>
          </p:nvPr>
        </p:nvSpPr>
        <p:spPr/>
        <p:txBody>
          <a:bodyPr/>
          <a:lstStyle/>
          <a:p>
            <a:pPr eaLnBrk="1" hangingPunct="1">
              <a:lnSpc>
                <a:spcPct val="90000"/>
              </a:lnSpc>
            </a:pPr>
            <a:r>
              <a:rPr lang="zh-CN" altLang="en-US"/>
              <a:t>程序计数器（</a:t>
            </a:r>
            <a:r>
              <a:rPr lang="en-US" altLang="zh-CN"/>
              <a:t>PC</a:t>
            </a:r>
            <a:r>
              <a:rPr lang="zh-CN" altLang="en-US"/>
              <a:t>）</a:t>
            </a:r>
            <a:endParaRPr lang="zh-CN" altLang="en-US"/>
          </a:p>
          <a:p>
            <a:pPr lvl="1" eaLnBrk="1" hangingPunct="1">
              <a:lnSpc>
                <a:spcPct val="90000"/>
              </a:lnSpc>
            </a:pPr>
            <a:r>
              <a:rPr lang="zh-CN" altLang="en-US"/>
              <a:t>也称为指令计数器，用来确定下一条指令的地址</a:t>
            </a:r>
            <a:endParaRPr lang="zh-CN" altLang="en-US"/>
          </a:p>
          <a:p>
            <a:pPr lvl="1" eaLnBrk="1" hangingPunct="1">
              <a:lnSpc>
                <a:spcPct val="90000"/>
              </a:lnSpc>
            </a:pPr>
            <a:r>
              <a:rPr lang="zh-CN" altLang="en-US"/>
              <a:t>在程序开始执行前，将程序的第一条指令所在的内存单元地址送入</a:t>
            </a:r>
            <a:r>
              <a:rPr lang="en-US" altLang="zh-CN"/>
              <a:t>PC</a:t>
            </a:r>
            <a:endParaRPr lang="en-US" altLang="zh-CN"/>
          </a:p>
          <a:p>
            <a:pPr lvl="1" eaLnBrk="1" hangingPunct="1">
              <a:lnSpc>
                <a:spcPct val="90000"/>
              </a:lnSpc>
            </a:pPr>
            <a:r>
              <a:rPr lang="zh-CN" altLang="en-US"/>
              <a:t>当执行指令时，</a:t>
            </a:r>
            <a:r>
              <a:rPr lang="en-US" altLang="zh-CN"/>
              <a:t>CPU</a:t>
            </a:r>
            <a:r>
              <a:rPr lang="zh-CN" altLang="en-US"/>
              <a:t>将自动修改</a:t>
            </a:r>
            <a:r>
              <a:rPr lang="en-US" altLang="zh-CN"/>
              <a:t>PC</a:t>
            </a:r>
            <a:r>
              <a:rPr lang="zh-CN" altLang="en-US"/>
              <a:t>的内容。</a:t>
            </a:r>
            <a:r>
              <a:rPr lang="en-US" altLang="zh-CN"/>
              <a:t>PC</a:t>
            </a:r>
            <a:r>
              <a:rPr lang="zh-CN" altLang="en-US"/>
              <a:t>的值始终是将要执行的下一条指令地址</a:t>
            </a:r>
            <a:endParaRPr lang="zh-CN" altLang="en-US"/>
          </a:p>
        </p:txBody>
      </p:sp>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pPr eaLnBrk="1" hangingPunct="1">
              <a:defRPr/>
            </a:pPr>
            <a:r>
              <a:rPr lang="en-US" altLang="en-US"/>
              <a:t>CPU中的主要寄存器</a:t>
            </a:r>
            <a:r>
              <a:rPr lang="en-US" altLang="zh-CN"/>
              <a:t>（5</a:t>
            </a:r>
            <a:r>
              <a:rPr lang="zh-CN" altLang="en-US"/>
              <a:t>）</a:t>
            </a:r>
            <a:endParaRPr lang="zh-CN" altLang="en-US"/>
          </a:p>
        </p:txBody>
      </p:sp>
      <p:sp>
        <p:nvSpPr>
          <p:cNvPr id="30722" name="Rectangle 3"/>
          <p:cNvSpPr>
            <a:spLocks noGrp="1" noChangeArrowheads="1"/>
          </p:cNvSpPr>
          <p:nvPr>
            <p:ph idx="1"/>
          </p:nvPr>
        </p:nvSpPr>
        <p:spPr/>
        <p:txBody>
          <a:bodyPr/>
          <a:lstStyle/>
          <a:p>
            <a:pPr eaLnBrk="1" hangingPunct="1">
              <a:lnSpc>
                <a:spcPct val="90000"/>
              </a:lnSpc>
            </a:pPr>
            <a:r>
              <a:rPr lang="zh-CN" altLang="en-US"/>
              <a:t>地址寄存器（</a:t>
            </a:r>
            <a:r>
              <a:rPr lang="en-US" altLang="zh-CN"/>
              <a:t>AR</a:t>
            </a:r>
            <a:r>
              <a:rPr lang="zh-CN" altLang="en-US"/>
              <a:t>）</a:t>
            </a:r>
            <a:endParaRPr lang="zh-CN" altLang="en-US"/>
          </a:p>
          <a:p>
            <a:pPr lvl="1" eaLnBrk="1" hangingPunct="1">
              <a:lnSpc>
                <a:spcPct val="90000"/>
              </a:lnSpc>
            </a:pPr>
            <a:r>
              <a:rPr lang="zh-CN" altLang="en-US"/>
              <a:t>用来保存当前处理器所访问的数据</a:t>
            </a:r>
            <a:r>
              <a:rPr lang="en-US" altLang="zh-CN"/>
              <a:t>cache</a:t>
            </a:r>
            <a:r>
              <a:rPr lang="zh-CN" altLang="en-US"/>
              <a:t>中单元的地址</a:t>
            </a:r>
            <a:endParaRPr lang="zh-CN" altLang="en-US"/>
          </a:p>
          <a:p>
            <a:pPr lvl="1" eaLnBrk="1" hangingPunct="1">
              <a:lnSpc>
                <a:spcPct val="90000"/>
              </a:lnSpc>
            </a:pPr>
            <a:r>
              <a:rPr lang="zh-CN" altLang="en-US"/>
              <a:t>地址寄存器的结构与数据缓冲寄存器、指令寄存器一样，使用单纯的寄存器结构</a:t>
            </a:r>
            <a:endParaRPr lang="zh-CN" altLang="en-US"/>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a:lstStyle/>
          <a:p>
            <a:pPr eaLnBrk="1" hangingPunct="1">
              <a:defRPr/>
            </a:pPr>
            <a:r>
              <a:rPr lang="en-US" altLang="en-US"/>
              <a:t>CPU中的主要寄存器</a:t>
            </a:r>
            <a:r>
              <a:rPr lang="en-US" altLang="zh-CN"/>
              <a:t>（6</a:t>
            </a:r>
            <a:r>
              <a:rPr lang="zh-CN" altLang="en-US"/>
              <a:t>）</a:t>
            </a:r>
            <a:endParaRPr lang="zh-CN" altLang="en-US"/>
          </a:p>
        </p:txBody>
      </p:sp>
      <p:sp>
        <p:nvSpPr>
          <p:cNvPr id="31746" name="Rectangle 3"/>
          <p:cNvSpPr>
            <a:spLocks noGrp="1" noChangeArrowheads="1"/>
          </p:cNvSpPr>
          <p:nvPr>
            <p:ph idx="1"/>
          </p:nvPr>
        </p:nvSpPr>
        <p:spPr/>
        <p:txBody>
          <a:bodyPr/>
          <a:lstStyle/>
          <a:p>
            <a:pPr eaLnBrk="1" hangingPunct="1"/>
            <a:r>
              <a:rPr lang="zh-CN" altLang="en-US"/>
              <a:t>通用寄存器（</a:t>
            </a:r>
            <a:r>
              <a:rPr lang="en-US" altLang="zh-CN"/>
              <a:t>R0~R3</a:t>
            </a:r>
            <a:r>
              <a:rPr lang="zh-CN" altLang="en-US"/>
              <a:t>）</a:t>
            </a:r>
            <a:endParaRPr lang="zh-CN" altLang="en-US"/>
          </a:p>
          <a:p>
            <a:pPr lvl="1" eaLnBrk="1" hangingPunct="1"/>
            <a:r>
              <a:rPr lang="zh-CN" altLang="en-US"/>
              <a:t>通用寄存器有</a:t>
            </a:r>
            <a:r>
              <a:rPr lang="en-US" altLang="zh-CN"/>
              <a:t>4</a:t>
            </a:r>
            <a:r>
              <a:rPr lang="zh-CN" altLang="en-US"/>
              <a:t>个，</a:t>
            </a:r>
            <a:r>
              <a:rPr lang="en-US" altLang="zh-CN"/>
              <a:t>R0</a:t>
            </a:r>
            <a:r>
              <a:rPr lang="zh-CN" altLang="en-US"/>
              <a:t>、</a:t>
            </a:r>
            <a:r>
              <a:rPr lang="en-US" altLang="zh-CN"/>
              <a:t>R1</a:t>
            </a:r>
            <a:r>
              <a:rPr lang="zh-CN" altLang="en-US"/>
              <a:t>、</a:t>
            </a:r>
            <a:r>
              <a:rPr lang="en-US" altLang="zh-CN"/>
              <a:t>R2</a:t>
            </a:r>
            <a:r>
              <a:rPr lang="zh-CN" altLang="en-US"/>
              <a:t>和</a:t>
            </a:r>
            <a:r>
              <a:rPr lang="en-US" altLang="zh-CN"/>
              <a:t>R3</a:t>
            </a:r>
            <a:endParaRPr lang="zh-CN" altLang="en-US"/>
          </a:p>
          <a:p>
            <a:pPr lvl="1" eaLnBrk="1" hangingPunct="1"/>
            <a:r>
              <a:rPr lang="zh-CN" altLang="en-US"/>
              <a:t>功能</a:t>
            </a:r>
            <a:endParaRPr lang="zh-CN" altLang="en-US"/>
          </a:p>
          <a:p>
            <a:pPr lvl="2" eaLnBrk="1" hangingPunct="1"/>
            <a:r>
              <a:rPr lang="zh-CN" altLang="en-US"/>
              <a:t>当运算器的算术逻辑单元</a:t>
            </a:r>
            <a:r>
              <a:rPr lang="en-US" altLang="zh-CN"/>
              <a:t>(ALU)</a:t>
            </a:r>
            <a:r>
              <a:rPr lang="zh-CN" altLang="en-US"/>
              <a:t>执行算术或逻辑运算时，为</a:t>
            </a:r>
            <a:r>
              <a:rPr lang="en-US" altLang="zh-CN"/>
              <a:t>ALU</a:t>
            </a:r>
            <a:r>
              <a:rPr lang="zh-CN" altLang="en-US"/>
              <a:t>提供一个暂存数据的工作区</a:t>
            </a:r>
            <a:endParaRPr lang="zh-CN" altLang="en-US"/>
          </a:p>
          <a:p>
            <a:pPr lvl="2" eaLnBrk="1" hangingPunct="1"/>
            <a:r>
              <a:rPr lang="zh-CN" altLang="en-US"/>
              <a:t>累加寄存器暂时存放</a:t>
            </a:r>
            <a:r>
              <a:rPr lang="en-US" altLang="zh-CN"/>
              <a:t>ALU</a:t>
            </a:r>
            <a:r>
              <a:rPr lang="zh-CN" altLang="en-US"/>
              <a:t>运算的结果信息</a:t>
            </a:r>
            <a:endParaRPr lang="zh-CN" altLang="en-US"/>
          </a:p>
          <a:p>
            <a:pPr lvl="1" eaLnBrk="1" hangingPunct="1"/>
            <a:r>
              <a:rPr lang="zh-CN" altLang="en-US"/>
              <a:t>处理器不同，通用寄存器数目也不相同。数目可从几十个到几百个。</a:t>
            </a:r>
            <a:endParaRPr lang="zh-CN" altLang="en-US"/>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eaLnBrk="1" hangingPunct="1">
              <a:defRPr/>
            </a:pPr>
            <a:r>
              <a:rPr lang="en-US" altLang="en-US"/>
              <a:t>CPU中的主要寄存器</a:t>
            </a:r>
            <a:r>
              <a:rPr lang="en-US" altLang="zh-CN"/>
              <a:t>（7</a:t>
            </a:r>
            <a:r>
              <a:rPr lang="zh-CN" altLang="en-US"/>
              <a:t>）</a:t>
            </a:r>
            <a:endParaRPr lang="zh-CN" altLang="en-US"/>
          </a:p>
        </p:txBody>
      </p:sp>
      <p:sp>
        <p:nvSpPr>
          <p:cNvPr id="32770" name="Rectangle 3"/>
          <p:cNvSpPr>
            <a:spLocks noGrp="1" noChangeArrowheads="1"/>
          </p:cNvSpPr>
          <p:nvPr>
            <p:ph idx="1"/>
          </p:nvPr>
        </p:nvSpPr>
        <p:spPr/>
        <p:txBody>
          <a:bodyPr/>
          <a:lstStyle/>
          <a:p>
            <a:pPr eaLnBrk="1" hangingPunct="1"/>
            <a:r>
              <a:rPr lang="zh-CN" altLang="en-US"/>
              <a:t>状态条件寄存器（</a:t>
            </a:r>
            <a:r>
              <a:rPr lang="en-US" altLang="zh-CN"/>
              <a:t>PSW</a:t>
            </a:r>
            <a:r>
              <a:rPr lang="zh-CN" altLang="en-US"/>
              <a:t>）</a:t>
            </a:r>
            <a:endParaRPr lang="zh-CN" altLang="en-US"/>
          </a:p>
          <a:p>
            <a:pPr lvl="1" eaLnBrk="1" hangingPunct="1"/>
            <a:r>
              <a:rPr lang="zh-CN" altLang="en-US"/>
              <a:t>保存根据算术指令、逻辑指令等运行的结果而设定的各种条件码内容</a:t>
            </a:r>
            <a:endParaRPr lang="zh-CN" altLang="en-US"/>
          </a:p>
          <a:p>
            <a:pPr lvl="2" eaLnBrk="1" hangingPunct="1"/>
            <a:r>
              <a:rPr lang="zh-CN" altLang="en-US"/>
              <a:t>如运算结果进位标志</a:t>
            </a:r>
            <a:r>
              <a:rPr lang="en-US" altLang="zh-CN"/>
              <a:t>(C)</a:t>
            </a:r>
            <a:r>
              <a:rPr lang="zh-CN" altLang="en-US"/>
              <a:t>，运算结果溢出标志</a:t>
            </a:r>
            <a:r>
              <a:rPr lang="en-US" altLang="zh-CN"/>
              <a:t>(V)</a:t>
            </a:r>
            <a:r>
              <a:rPr lang="zh-CN" altLang="en-US"/>
              <a:t>，运算结果为零标志</a:t>
            </a:r>
            <a:r>
              <a:rPr lang="en-US" altLang="zh-CN"/>
              <a:t>(Z)</a:t>
            </a:r>
            <a:r>
              <a:rPr lang="zh-CN" altLang="en-US"/>
              <a:t>，运算结果为负标志</a:t>
            </a:r>
            <a:r>
              <a:rPr lang="en-US" altLang="zh-CN"/>
              <a:t>(N)</a:t>
            </a:r>
            <a:r>
              <a:rPr lang="zh-CN" altLang="en-US"/>
              <a:t>等</a:t>
            </a:r>
            <a:endParaRPr lang="zh-CN" altLang="en-US"/>
          </a:p>
          <a:p>
            <a:pPr lvl="2" eaLnBrk="1" hangingPunct="1"/>
            <a:r>
              <a:rPr lang="zh-CN" altLang="en-US"/>
              <a:t>每个标志位通常由</a:t>
            </a:r>
            <a:r>
              <a:rPr lang="en-US" altLang="zh-CN"/>
              <a:t>1</a:t>
            </a:r>
            <a:r>
              <a:rPr lang="zh-CN" altLang="en-US"/>
              <a:t>位触发器保存</a:t>
            </a:r>
            <a:endParaRPr lang="zh-CN" altLang="en-US"/>
          </a:p>
          <a:p>
            <a:pPr lvl="1" eaLnBrk="1" hangingPunct="1"/>
            <a:r>
              <a:rPr lang="zh-CN" altLang="en-US"/>
              <a:t>保存中断和系统工作状态等信息</a:t>
            </a:r>
            <a:endParaRPr lang="zh-CN" altLang="en-US"/>
          </a:p>
          <a:p>
            <a:pPr lvl="2" eaLnBrk="1" hangingPunct="1"/>
            <a:r>
              <a:rPr lang="zh-CN" altLang="en-US"/>
              <a:t>处理器能及时了解机器运行状态和程序运行状态</a:t>
            </a:r>
            <a:endParaRPr lang="zh-CN" altLang="en-US"/>
          </a:p>
        </p:txBody>
      </p:sp>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r>
              <a:rPr lang="zh-CN" altLang="en-US"/>
              <a:t>操作控制器与时序产生器</a:t>
            </a:r>
            <a:endParaRPr lang="zh-CN" altLang="en-US"/>
          </a:p>
        </p:txBody>
      </p:sp>
      <p:sp>
        <p:nvSpPr>
          <p:cNvPr id="33794" name="Rectangle 3"/>
          <p:cNvSpPr>
            <a:spLocks noGrp="1" noChangeArrowheads="1"/>
          </p:cNvSpPr>
          <p:nvPr>
            <p:ph idx="1"/>
          </p:nvPr>
        </p:nvSpPr>
        <p:spPr>
          <a:xfrm>
            <a:off x="457201" y="925513"/>
            <a:ext cx="8382000" cy="5400675"/>
          </a:xfrm>
        </p:spPr>
        <p:txBody>
          <a:bodyPr/>
          <a:lstStyle/>
          <a:p>
            <a:pPr eaLnBrk="1" hangingPunct="1"/>
            <a:r>
              <a:rPr lang="zh-CN" altLang="en-US" sz="2400" dirty="0"/>
              <a:t>数据通路</a:t>
            </a:r>
            <a:endParaRPr lang="zh-CN" altLang="en-US" sz="2400" dirty="0"/>
          </a:p>
          <a:p>
            <a:pPr lvl="1" eaLnBrk="1" hangingPunct="1"/>
            <a:r>
              <a:rPr lang="zh-CN" altLang="en-US" sz="2000" dirty="0"/>
              <a:t>各寄存器之间、寄存器与</a:t>
            </a:r>
            <a:r>
              <a:rPr lang="en-US" altLang="zh-CN" sz="2000" dirty="0"/>
              <a:t>ALU</a:t>
            </a:r>
            <a:r>
              <a:rPr lang="zh-CN" altLang="en-US" sz="2000" dirty="0"/>
              <a:t>之间传送数据的通路称为数据通路</a:t>
            </a:r>
            <a:endParaRPr lang="zh-CN" altLang="en-US" sz="2000" dirty="0"/>
          </a:p>
          <a:p>
            <a:pPr lvl="1" eaLnBrk="1" hangingPunct="1"/>
            <a:r>
              <a:rPr lang="zh-CN" altLang="en-US" sz="2000" dirty="0"/>
              <a:t>信息从什么地方开始，中间经过哪个寄存器或多路开关，最后传送到哪个寄存器，都要加以控制</a:t>
            </a:r>
            <a:endParaRPr lang="zh-CN" altLang="en-US" sz="2000" dirty="0"/>
          </a:p>
          <a:p>
            <a:pPr lvl="1" eaLnBrk="1" hangingPunct="1"/>
            <a:r>
              <a:rPr lang="zh-CN" altLang="en-US" sz="2000" dirty="0"/>
              <a:t>在各寄存器之间建立数据通路的任务，是由称为操作控制器的部件来完成的</a:t>
            </a:r>
            <a:endParaRPr lang="zh-CN" altLang="en-US" sz="2000" dirty="0"/>
          </a:p>
          <a:p>
            <a:pPr eaLnBrk="1" hangingPunct="1"/>
            <a:r>
              <a:rPr lang="zh-CN" altLang="en-US" sz="2400" dirty="0"/>
              <a:t>操作控制器</a:t>
            </a:r>
            <a:endParaRPr lang="zh-CN" altLang="en-US" sz="2400" dirty="0"/>
          </a:p>
          <a:p>
            <a:pPr lvl="1" eaLnBrk="1" hangingPunct="1"/>
            <a:r>
              <a:rPr lang="zh-CN" altLang="en-US" sz="2000" dirty="0"/>
              <a:t>功能</a:t>
            </a:r>
            <a:endParaRPr lang="zh-CN" altLang="en-US" sz="2000" dirty="0"/>
          </a:p>
          <a:p>
            <a:pPr lvl="2" eaLnBrk="1" hangingPunct="1"/>
            <a:r>
              <a:rPr lang="zh-CN" altLang="en-US" sz="2000" dirty="0"/>
              <a:t>根据指令操作码和时序信号，产生各种操作控制信号，以便正确地建立数据通路，从而完成取指令和执行指令的控制</a:t>
            </a:r>
            <a:endParaRPr lang="zh-CN" altLang="en-US" sz="2000" dirty="0"/>
          </a:p>
          <a:p>
            <a:pPr lvl="1" eaLnBrk="1" hangingPunct="1"/>
            <a:r>
              <a:rPr lang="zh-CN" altLang="en-US" sz="2000" dirty="0"/>
              <a:t>根据设计方法不同，操作控制器可分为：</a:t>
            </a:r>
            <a:endParaRPr lang="zh-CN" altLang="en-US" sz="2000" dirty="0"/>
          </a:p>
          <a:p>
            <a:pPr lvl="2" eaLnBrk="1" hangingPunct="1"/>
            <a:r>
              <a:rPr lang="zh-CN" altLang="en-US" sz="2000" dirty="0"/>
              <a:t>时序逻辑型：采用时序逻辑技术来实现。称为硬布线控制器</a:t>
            </a:r>
            <a:endParaRPr lang="en-US" altLang="zh-CN" sz="2000" dirty="0"/>
          </a:p>
          <a:p>
            <a:pPr lvl="2" eaLnBrk="1" hangingPunct="1"/>
            <a:r>
              <a:rPr lang="zh-CN" altLang="en-US" sz="2000" dirty="0"/>
              <a:t>存储逻辑型：采用存储逻辑来实现。称为微程序控制器</a:t>
            </a:r>
            <a:endParaRPr lang="en-US" altLang="zh-CN" sz="2000" dirty="0"/>
          </a:p>
          <a:p>
            <a:pPr eaLnBrk="1" hangingPunct="1"/>
            <a:r>
              <a:rPr lang="zh-CN" altLang="en-US" sz="2400" dirty="0"/>
              <a:t>时序产生器：对各种操作信号进行时间上先后顺序的控制</a:t>
            </a:r>
            <a:endParaRPr lang="en-US" altLang="zh-CN" sz="2400" dirty="0"/>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p:cNvSpPr>
            <a:spLocks noGrp="1" noChangeArrowheads="1"/>
          </p:cNvSpPr>
          <p:nvPr>
            <p:ph type="subTitle" idx="1"/>
          </p:nvPr>
        </p:nvSpPr>
        <p:spPr>
          <a:xfrm>
            <a:off x="1403350" y="2874963"/>
            <a:ext cx="5545138" cy="2930525"/>
          </a:xfrm>
        </p:spPr>
        <p:txBody>
          <a:bodyPr/>
          <a:lstStyle/>
          <a:p>
            <a:pPr algn="l" eaLnBrk="1" hangingPunct="1">
              <a:buFont typeface="Wingdings 2" pitchFamily="18" charset="2"/>
              <a:buChar char="¡"/>
            </a:pPr>
            <a:endParaRPr lang="zh-CN" altLang="en-US" sz="4400"/>
          </a:p>
        </p:txBody>
      </p:sp>
      <p:sp>
        <p:nvSpPr>
          <p:cNvPr id="423938" name="Rectangle 2"/>
          <p:cNvSpPr>
            <a:spLocks noGrp="1" noChangeArrowheads="1"/>
          </p:cNvSpPr>
          <p:nvPr>
            <p:ph type="ctrTitle"/>
          </p:nvPr>
        </p:nvSpPr>
        <p:spPr>
          <a:xfrm>
            <a:off x="685800" y="1196975"/>
            <a:ext cx="7772400" cy="1470025"/>
          </a:xfrm>
        </p:spPr>
        <p:txBody>
          <a:bodyPr/>
          <a:lstStyle/>
          <a:p>
            <a:pPr eaLnBrk="1" hangingPunct="1">
              <a:defRPr/>
            </a:pPr>
            <a:r>
              <a:rPr lang="en-US" altLang="zh-CN" sz="4800"/>
              <a:t>5.2 </a:t>
            </a:r>
            <a:r>
              <a:rPr lang="zh-CN" altLang="en-US" sz="4800"/>
              <a:t>指令周期</a:t>
            </a:r>
            <a:endParaRPr lang="zh-CN" altLang="en-US"/>
          </a:p>
        </p:txBody>
      </p:sp>
    </p:spTree>
  </p:cSld>
  <p:clrMapOvr>
    <a:masterClrMapping/>
  </p:clrMapOvr>
  <p:transition spd="med">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defRPr/>
            </a:pPr>
            <a:r>
              <a:rPr lang="zh-CN" altLang="en-US"/>
              <a:t>基本概念（</a:t>
            </a:r>
            <a:r>
              <a:rPr lang="en-US" altLang="zh-CN"/>
              <a:t>1</a:t>
            </a:r>
            <a:r>
              <a:rPr lang="zh-CN" altLang="en-US"/>
              <a:t>）</a:t>
            </a:r>
            <a:endParaRPr lang="zh-CN" altLang="en-US"/>
          </a:p>
        </p:txBody>
      </p:sp>
      <p:sp>
        <p:nvSpPr>
          <p:cNvPr id="35842" name="Rectangle 3"/>
          <p:cNvSpPr>
            <a:spLocks noGrp="1" noChangeArrowheads="1"/>
          </p:cNvSpPr>
          <p:nvPr>
            <p:ph idx="1"/>
          </p:nvPr>
        </p:nvSpPr>
        <p:spPr/>
        <p:txBody>
          <a:bodyPr/>
          <a:lstStyle/>
          <a:p>
            <a:pPr eaLnBrk="1" hangingPunct="1"/>
            <a:r>
              <a:rPr lang="zh-CN" altLang="en-US" sz="2800" dirty="0"/>
              <a:t>冯</a:t>
            </a:r>
            <a:r>
              <a:rPr lang="en-US" altLang="zh-CN" sz="2800" dirty="0"/>
              <a:t>. </a:t>
            </a:r>
            <a:r>
              <a:rPr lang="zh-CN" altLang="en-US" sz="2800" dirty="0"/>
              <a:t>诺依曼结构的计算机</a:t>
            </a:r>
            <a:endParaRPr lang="zh-CN" altLang="en-US" sz="2800" dirty="0"/>
          </a:p>
          <a:p>
            <a:pPr eaLnBrk="1" hangingPunct="1">
              <a:buClr>
                <a:schemeClr val="tx1"/>
              </a:buClr>
              <a:buFont typeface="Wingdings 2" pitchFamily="18" charset="2"/>
              <a:buNone/>
            </a:pPr>
            <a:r>
              <a:rPr lang="zh-CN" altLang="en-US" sz="2400" dirty="0"/>
              <a:t>   即存储程序式计算机，即在程序运行之前，将程序和数据存放到内存中。</a:t>
            </a:r>
            <a:endParaRPr lang="zh-CN" altLang="en-US" sz="2400" dirty="0"/>
          </a:p>
          <a:p>
            <a:pPr eaLnBrk="1" hangingPunct="1">
              <a:buClr>
                <a:srgbClr val="C00000"/>
              </a:buClr>
            </a:pPr>
            <a:r>
              <a:rPr lang="zh-CN" altLang="en-US" sz="2800" dirty="0"/>
              <a:t>执行程序：</a:t>
            </a:r>
            <a:endParaRPr lang="zh-CN" altLang="en-US" sz="2800" dirty="0"/>
          </a:p>
          <a:p>
            <a:pPr lvl="1" eaLnBrk="1" hangingPunct="1">
              <a:buClr>
                <a:srgbClr val="006600"/>
              </a:buClr>
            </a:pPr>
            <a:r>
              <a:rPr lang="zh-CN" altLang="en-US" sz="2400" dirty="0"/>
              <a:t>将程序首地址送入到程序计数器</a:t>
            </a:r>
            <a:r>
              <a:rPr lang="en-US" altLang="zh-CN" sz="2400" dirty="0"/>
              <a:t>PC</a:t>
            </a:r>
            <a:r>
              <a:rPr lang="zh-CN" altLang="en-US" sz="2400" dirty="0"/>
              <a:t>中</a:t>
            </a:r>
            <a:endParaRPr lang="zh-CN" altLang="en-US" sz="2400" dirty="0"/>
          </a:p>
          <a:p>
            <a:pPr lvl="1" eaLnBrk="1" hangingPunct="1">
              <a:buClr>
                <a:srgbClr val="006600"/>
              </a:buClr>
            </a:pPr>
            <a:r>
              <a:rPr lang="zh-CN" altLang="en-US" sz="2400" dirty="0"/>
              <a:t>从内存（</a:t>
            </a:r>
            <a:r>
              <a:rPr lang="en-US" altLang="zh-CN" sz="2400" dirty="0"/>
              <a:t>cache</a:t>
            </a:r>
            <a:r>
              <a:rPr lang="zh-CN" altLang="en-US" sz="2400" dirty="0"/>
              <a:t>）中取出一条指令，正确执行指令</a:t>
            </a:r>
            <a:endParaRPr lang="zh-CN" altLang="en-US" sz="2400" dirty="0"/>
          </a:p>
          <a:p>
            <a:pPr lvl="1" eaLnBrk="1" hangingPunct="1">
              <a:buClr>
                <a:srgbClr val="008000"/>
              </a:buClr>
            </a:pPr>
            <a:r>
              <a:rPr lang="zh-CN" altLang="en-US" sz="2400" dirty="0"/>
              <a:t>形成下一条待执行指令的地址</a:t>
            </a:r>
            <a:endParaRPr lang="zh-CN" altLang="en-US" sz="2400" dirty="0"/>
          </a:p>
          <a:p>
            <a:pPr lvl="1" eaLnBrk="1" hangingPunct="1">
              <a:buClr>
                <a:srgbClr val="008000"/>
              </a:buClr>
            </a:pPr>
            <a:r>
              <a:rPr lang="zh-CN" altLang="en-US" sz="2400" dirty="0"/>
              <a:t>正确并自动地连续执行指令</a:t>
            </a:r>
            <a:endParaRPr lang="zh-CN" altLang="en-US" sz="2400" dirty="0"/>
          </a:p>
          <a:p>
            <a:pPr lvl="1" eaLnBrk="1" hangingPunct="1">
              <a:buClr>
                <a:srgbClr val="008000"/>
              </a:buClr>
            </a:pPr>
            <a:r>
              <a:rPr lang="zh-CN" altLang="en-US" sz="2400" dirty="0"/>
              <a:t>直到程序的最后一条指令</a:t>
            </a:r>
            <a:endParaRPr lang="zh-CN" altLang="en-US" sz="2400" dirty="0"/>
          </a:p>
        </p:txBody>
      </p:sp>
      <p:sp>
        <p:nvSpPr>
          <p:cNvPr id="35844" name="Oval 4"/>
          <p:cNvSpPr>
            <a:spLocks noChangeArrowheads="1"/>
          </p:cNvSpPr>
          <p:nvPr/>
        </p:nvSpPr>
        <p:spPr bwMode="auto">
          <a:xfrm>
            <a:off x="4986338" y="4979988"/>
            <a:ext cx="1185862" cy="938212"/>
          </a:xfrm>
          <a:prstGeom prst="ellipse">
            <a:avLst/>
          </a:prstGeom>
          <a:solidFill>
            <a:srgbClr val="009900"/>
          </a:solidFill>
          <a:ln w="9525">
            <a:round/>
          </a:ln>
          <a:scene3d>
            <a:camera prst="legacyObliqueTopRight"/>
            <a:lightRig rig="legacyFlat3" dir="b"/>
          </a:scene3d>
          <a:sp3d extrusionH="430200" prstMaterial="legacyMatte">
            <a:bevelT w="13500" h="13500" prst="angle"/>
            <a:bevelB w="13500" h="13500" prst="angle"/>
            <a:extrusionClr>
              <a:srgbClr val="000066"/>
            </a:extrusionClr>
            <a:contourClr>
              <a:srgbClr val="0099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Tahoma" panose="020B0604030504040204" pitchFamily="34" charset="0"/>
                <a:ea typeface="宋体" panose="02010600030101010101" pitchFamily="2" charset="-122"/>
              </a:rPr>
              <a:t>取一条</a:t>
            </a:r>
            <a:endParaRPr kumimoji="0" lang="zh-CN" altLang="en-US" sz="2000" dirty="0">
              <a:solidFill>
                <a:schemeClr val="bg1"/>
              </a:solidFill>
              <a:latin typeface="Tahoma" panose="020B0604030504040204" pitchFamily="34" charset="0"/>
              <a:ea typeface="宋体" panose="02010600030101010101" pitchFamily="2" charset="-122"/>
            </a:endParaRPr>
          </a:p>
          <a:p>
            <a:pPr algn="ctr" eaLnBrk="1" hangingPunct="1">
              <a:spcBef>
                <a:spcPct val="0"/>
              </a:spcBef>
              <a:buClrTx/>
              <a:buFontTx/>
              <a:buNone/>
            </a:pPr>
            <a:r>
              <a:rPr kumimoji="0" lang="zh-CN" altLang="en-US" sz="2000" dirty="0">
                <a:solidFill>
                  <a:schemeClr val="bg1"/>
                </a:solidFill>
                <a:latin typeface="Tahoma" panose="020B0604030504040204" pitchFamily="34" charset="0"/>
                <a:ea typeface="宋体" panose="02010600030101010101" pitchFamily="2" charset="-122"/>
              </a:rPr>
              <a:t>指令</a:t>
            </a:r>
            <a:endParaRPr kumimoji="0" lang="zh-CN" altLang="en-US" sz="2000" dirty="0">
              <a:solidFill>
                <a:schemeClr val="bg1"/>
              </a:solidFill>
              <a:latin typeface="Tahoma" panose="020B0604030504040204" pitchFamily="34" charset="0"/>
              <a:ea typeface="宋体" panose="02010600030101010101" pitchFamily="2" charset="-122"/>
            </a:endParaRPr>
          </a:p>
        </p:txBody>
      </p:sp>
      <p:sp>
        <p:nvSpPr>
          <p:cNvPr id="35845" name="Oval 5"/>
          <p:cNvSpPr>
            <a:spLocks noChangeArrowheads="1"/>
          </p:cNvSpPr>
          <p:nvPr/>
        </p:nvSpPr>
        <p:spPr bwMode="auto">
          <a:xfrm>
            <a:off x="7615238" y="4979988"/>
            <a:ext cx="1147762" cy="938212"/>
          </a:xfrm>
          <a:prstGeom prst="ellipse">
            <a:avLst/>
          </a:prstGeom>
          <a:solidFill>
            <a:srgbClr val="9900CC"/>
          </a:solidFill>
          <a:ln w="9525">
            <a:round/>
          </a:ln>
          <a:scene3d>
            <a:camera prst="legacyObliqueTopRight"/>
            <a:lightRig rig="legacyFlat3" dir="b"/>
          </a:scene3d>
          <a:sp3d extrusionH="430200" prstMaterial="legacyMatte">
            <a:bevelT w="13500" h="13500" prst="angle"/>
            <a:bevelB w="13500" h="13500" prst="angle"/>
            <a:extrusionClr>
              <a:srgbClr val="000066"/>
            </a:extrusionClr>
            <a:contourClr>
              <a:srgbClr val="9900CC"/>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Tahoma" panose="020B0604030504040204" pitchFamily="34" charset="0"/>
                <a:ea typeface="宋体" panose="02010600030101010101" pitchFamily="2" charset="-122"/>
              </a:rPr>
              <a:t>执行</a:t>
            </a:r>
            <a:endParaRPr kumimoji="0" lang="zh-CN" altLang="en-US" sz="2000" dirty="0">
              <a:solidFill>
                <a:schemeClr val="bg1"/>
              </a:solidFill>
              <a:latin typeface="Tahoma" panose="020B0604030504040204" pitchFamily="34" charset="0"/>
              <a:ea typeface="宋体" panose="02010600030101010101" pitchFamily="2" charset="-122"/>
            </a:endParaRPr>
          </a:p>
          <a:p>
            <a:pPr algn="ctr" eaLnBrk="1" hangingPunct="1">
              <a:spcBef>
                <a:spcPct val="0"/>
              </a:spcBef>
              <a:buClrTx/>
              <a:buFontTx/>
              <a:buNone/>
            </a:pPr>
            <a:r>
              <a:rPr kumimoji="0" lang="zh-CN" altLang="en-US" sz="2000" dirty="0">
                <a:solidFill>
                  <a:schemeClr val="bg1"/>
                </a:solidFill>
                <a:latin typeface="Tahoma" panose="020B0604030504040204" pitchFamily="34" charset="0"/>
                <a:ea typeface="宋体" panose="02010600030101010101" pitchFamily="2" charset="-122"/>
              </a:rPr>
              <a:t>该指令</a:t>
            </a:r>
            <a:endParaRPr kumimoji="0" lang="zh-CN" altLang="en-US" sz="2000" dirty="0">
              <a:solidFill>
                <a:schemeClr val="bg1"/>
              </a:solidFill>
              <a:latin typeface="Tahoma" panose="020B0604030504040204" pitchFamily="34" charset="0"/>
              <a:ea typeface="宋体" panose="02010600030101010101" pitchFamily="2" charset="-122"/>
            </a:endParaRPr>
          </a:p>
        </p:txBody>
      </p:sp>
      <p:sp>
        <p:nvSpPr>
          <p:cNvPr id="35846" name="AutoShape 7"/>
          <p:cNvSpPr>
            <a:spLocks noChangeArrowheads="1"/>
          </p:cNvSpPr>
          <p:nvPr/>
        </p:nvSpPr>
        <p:spPr bwMode="auto">
          <a:xfrm flipV="1">
            <a:off x="5606163" y="6026521"/>
            <a:ext cx="2878137" cy="496887"/>
          </a:xfrm>
          <a:prstGeom prst="curvedDownArrow">
            <a:avLst>
              <a:gd name="adj1" fmla="val 76588"/>
              <a:gd name="adj2" fmla="val 166583"/>
              <a:gd name="adj3" fmla="val 36190"/>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47" name="AutoShape 8"/>
          <p:cNvSpPr>
            <a:spLocks noChangeArrowheads="1"/>
          </p:cNvSpPr>
          <p:nvPr/>
        </p:nvSpPr>
        <p:spPr bwMode="auto">
          <a:xfrm rot="10800000" flipV="1">
            <a:off x="5486400" y="4289705"/>
            <a:ext cx="2878137" cy="496888"/>
          </a:xfrm>
          <a:prstGeom prst="curvedDownArrow">
            <a:avLst>
              <a:gd name="adj1" fmla="val 76587"/>
              <a:gd name="adj2" fmla="val 166583"/>
              <a:gd name="adj3" fmla="val 36190"/>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48" name="AutoShape 9"/>
          <p:cNvSpPr>
            <a:spLocks noChangeArrowheads="1"/>
          </p:cNvSpPr>
          <p:nvPr/>
        </p:nvSpPr>
        <p:spPr bwMode="auto">
          <a:xfrm>
            <a:off x="3616325" y="5251450"/>
            <a:ext cx="1082675" cy="666750"/>
          </a:xfrm>
          <a:prstGeom prst="rightArrow">
            <a:avLst>
              <a:gd name="adj1" fmla="val 50000"/>
              <a:gd name="adj2" fmla="val 34762"/>
            </a:avLst>
          </a:prstGeom>
          <a:solidFill>
            <a:srgbClr val="FFCC99"/>
          </a:solidFill>
          <a:ln w="9525">
            <a:miter lim="800000"/>
          </a:ln>
          <a:scene3d>
            <a:camera prst="legacyObliqueTopRight"/>
            <a:lightRig rig="legacyFlat3" dir="b"/>
          </a:scene3d>
          <a:sp3d extrusionH="430200" prstMaterial="legacyMatte">
            <a:bevelT w="13500" h="13500" prst="angle"/>
            <a:bevelB w="13500" h="13500" prst="angle"/>
            <a:extrusionClr>
              <a:srgbClr val="FFCC99"/>
            </a:extrusionClr>
            <a:contourClr>
              <a:srgbClr val="FFCC99"/>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latin typeface="Tahoma" panose="020B0604030504040204" pitchFamily="34" charset="0"/>
                <a:ea typeface="宋体" panose="02010600030101010101" pitchFamily="2" charset="-122"/>
              </a:rPr>
              <a:t>开始</a:t>
            </a:r>
            <a:endParaRPr kumimoji="0" lang="zh-CN" altLang="en-US" sz="2400" dirty="0">
              <a:solidFill>
                <a:schemeClr val="bg1"/>
              </a:solidFill>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defRPr/>
            </a:pPr>
            <a:r>
              <a:rPr lang="zh-CN" altLang="en-US"/>
              <a:t>基本概念（</a:t>
            </a:r>
            <a:r>
              <a:rPr lang="en-US" altLang="zh-CN"/>
              <a:t>2</a:t>
            </a:r>
            <a:r>
              <a:rPr lang="zh-CN" altLang="en-US"/>
              <a:t>）</a:t>
            </a:r>
            <a:endParaRPr lang="zh-CN" altLang="en-US"/>
          </a:p>
        </p:txBody>
      </p:sp>
      <p:sp>
        <p:nvSpPr>
          <p:cNvPr id="36866" name="Rectangle 3"/>
          <p:cNvSpPr>
            <a:spLocks noGrp="1" noChangeArrowheads="1"/>
          </p:cNvSpPr>
          <p:nvPr>
            <p:ph idx="1"/>
          </p:nvPr>
        </p:nvSpPr>
        <p:spPr/>
        <p:txBody>
          <a:bodyPr/>
          <a:lstStyle/>
          <a:p>
            <a:pPr eaLnBrk="1" hangingPunct="1"/>
            <a:r>
              <a:rPr lang="zh-CN" altLang="en-US" sz="2800" dirty="0"/>
              <a:t>指令周期</a:t>
            </a:r>
            <a:endParaRPr lang="zh-CN" altLang="en-US" sz="2800" dirty="0"/>
          </a:p>
          <a:p>
            <a:pPr lvl="1" eaLnBrk="1" hangingPunct="1"/>
            <a:r>
              <a:rPr lang="zh-CN" altLang="en-US" dirty="0"/>
              <a:t>指令周期是取指令、分析指令并执行指令所需的总时间</a:t>
            </a:r>
            <a:endParaRPr lang="zh-CN" altLang="en-US" dirty="0"/>
          </a:p>
          <a:p>
            <a:pPr lvl="1" eaLnBrk="1" hangingPunct="1"/>
            <a:r>
              <a:rPr lang="zh-CN" altLang="en-US" dirty="0"/>
              <a:t>由于各种指令的操作功能不同，因此各种指令的指令周期长度是</a:t>
            </a:r>
            <a:r>
              <a:rPr lang="zh-CN" altLang="en-US" b="0" dirty="0"/>
              <a:t>不</a:t>
            </a:r>
            <a:r>
              <a:rPr lang="zh-CN" altLang="en-US" dirty="0"/>
              <a:t>相同的</a:t>
            </a:r>
            <a:endParaRPr lang="zh-CN" altLang="en-US" dirty="0"/>
          </a:p>
          <a:p>
            <a:pPr lvl="1" eaLnBrk="1" hangingPunct="1"/>
            <a:r>
              <a:rPr lang="zh-CN" altLang="en-US" dirty="0"/>
              <a:t>指令周期通常包含若干个</a:t>
            </a:r>
            <a:r>
              <a:rPr lang="en-US" altLang="zh-CN" dirty="0"/>
              <a:t>CPU</a:t>
            </a:r>
            <a:r>
              <a:rPr lang="zh-CN" altLang="en-US" dirty="0"/>
              <a:t>周期</a:t>
            </a:r>
            <a:endParaRPr lang="zh-CN" altLang="en-US" dirty="0"/>
          </a:p>
          <a:p>
            <a:pPr eaLnBrk="1" hangingPunct="1"/>
            <a:r>
              <a:rPr lang="en-US" altLang="zh-CN" sz="2800" dirty="0"/>
              <a:t>CPU</a:t>
            </a:r>
            <a:r>
              <a:rPr lang="zh-CN" altLang="en-US" sz="2800" dirty="0"/>
              <a:t>周期（也称机器周期）</a:t>
            </a:r>
            <a:endParaRPr lang="zh-CN" altLang="en-US" sz="2800" dirty="0"/>
          </a:p>
          <a:p>
            <a:pPr lvl="1" eaLnBrk="1" hangingPunct="1"/>
            <a:r>
              <a:rPr lang="zh-CN" altLang="en-US" dirty="0"/>
              <a:t>是指内存中读取一个指令字的最短时间</a:t>
            </a:r>
            <a:endParaRPr lang="zh-CN" altLang="en-US" dirty="0"/>
          </a:p>
          <a:p>
            <a:pPr lvl="1" eaLnBrk="1" hangingPunct="1"/>
            <a:r>
              <a:rPr lang="en-US" altLang="zh-CN" dirty="0"/>
              <a:t>CPU</a:t>
            </a:r>
            <a:r>
              <a:rPr lang="zh-CN" altLang="en-US" dirty="0"/>
              <a:t>周期通常包含若干个时钟周期</a:t>
            </a:r>
            <a:endParaRPr lang="zh-CN" altLang="en-US" dirty="0"/>
          </a:p>
          <a:p>
            <a:pPr eaLnBrk="1" hangingPunct="1"/>
            <a:r>
              <a:rPr lang="zh-CN" altLang="en-US" sz="2800" dirty="0"/>
              <a:t>时钟周期</a:t>
            </a:r>
            <a:endParaRPr lang="zh-CN" altLang="en-US" sz="2800" dirty="0"/>
          </a:p>
          <a:p>
            <a:pPr lvl="1" eaLnBrk="1" hangingPunct="1"/>
            <a:r>
              <a:rPr lang="zh-CN" altLang="en-US" dirty="0"/>
              <a:t>是处理操作的最基本单位，也称为节拍脉冲或</a:t>
            </a:r>
            <a:r>
              <a:rPr lang="en-US" altLang="zh-CN" dirty="0"/>
              <a:t>T</a:t>
            </a:r>
            <a:r>
              <a:rPr lang="zh-CN" altLang="en-US" dirty="0"/>
              <a:t>周期</a:t>
            </a:r>
            <a:endParaRPr lang="zh-CN" altLang="en-US" dirty="0"/>
          </a:p>
        </p:txBody>
      </p:sp>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r>
              <a:rPr lang="zh-CN" altLang="en-US"/>
              <a:t>时钟周期、</a:t>
            </a:r>
            <a:r>
              <a:rPr lang="en-US" altLang="zh-CN"/>
              <a:t>CPU</a:t>
            </a:r>
            <a:r>
              <a:rPr lang="zh-CN" altLang="en-US"/>
              <a:t>周期、指令周期</a:t>
            </a:r>
            <a:endParaRPr lang="zh-CN" altLang="en-US"/>
          </a:p>
        </p:txBody>
      </p:sp>
      <p:sp>
        <p:nvSpPr>
          <p:cNvPr id="37891" name="Rectangle 82"/>
          <p:cNvSpPr>
            <a:spLocks noChangeArrowheads="1"/>
          </p:cNvSpPr>
          <p:nvPr/>
        </p:nvSpPr>
        <p:spPr bwMode="auto">
          <a:xfrm>
            <a:off x="809625" y="3887788"/>
            <a:ext cx="7748588"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892" name="Rectangle 71"/>
          <p:cNvSpPr>
            <a:spLocks noChangeArrowheads="1"/>
          </p:cNvSpPr>
          <p:nvPr/>
        </p:nvSpPr>
        <p:spPr bwMode="auto">
          <a:xfrm>
            <a:off x="4364038" y="3492500"/>
            <a:ext cx="355282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893" name="Rectangle 63"/>
          <p:cNvSpPr>
            <a:spLocks noChangeArrowheads="1"/>
          </p:cNvSpPr>
          <p:nvPr/>
        </p:nvSpPr>
        <p:spPr bwMode="auto">
          <a:xfrm>
            <a:off x="809625" y="3492500"/>
            <a:ext cx="355441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894" name="Rectangle 60"/>
          <p:cNvSpPr>
            <a:spLocks noChangeArrowheads="1"/>
          </p:cNvSpPr>
          <p:nvPr/>
        </p:nvSpPr>
        <p:spPr bwMode="auto">
          <a:xfrm>
            <a:off x="7916863" y="3095625"/>
            <a:ext cx="6413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895" name="Rectangle 58"/>
          <p:cNvSpPr>
            <a:spLocks noChangeArrowheads="1"/>
          </p:cNvSpPr>
          <p:nvPr/>
        </p:nvSpPr>
        <p:spPr bwMode="auto">
          <a:xfrm>
            <a:off x="7031038" y="3095625"/>
            <a:ext cx="885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T4</a:t>
            </a:r>
            <a:endParaRPr lang="en-US" altLang="zh-CN" sz="2400"/>
          </a:p>
        </p:txBody>
      </p:sp>
      <p:sp>
        <p:nvSpPr>
          <p:cNvPr id="37896" name="Rectangle 56"/>
          <p:cNvSpPr>
            <a:spLocks noChangeArrowheads="1"/>
          </p:cNvSpPr>
          <p:nvPr/>
        </p:nvSpPr>
        <p:spPr bwMode="auto">
          <a:xfrm>
            <a:off x="6140450" y="3095625"/>
            <a:ext cx="890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T3</a:t>
            </a:r>
            <a:endParaRPr lang="en-US" altLang="zh-CN" sz="2400"/>
          </a:p>
        </p:txBody>
      </p:sp>
      <p:sp>
        <p:nvSpPr>
          <p:cNvPr id="37897" name="Rectangle 54"/>
          <p:cNvSpPr>
            <a:spLocks noChangeArrowheads="1"/>
          </p:cNvSpPr>
          <p:nvPr/>
        </p:nvSpPr>
        <p:spPr bwMode="auto">
          <a:xfrm>
            <a:off x="5251450" y="3095625"/>
            <a:ext cx="889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T2</a:t>
            </a:r>
            <a:endParaRPr lang="en-US" altLang="zh-CN" sz="2400"/>
          </a:p>
        </p:txBody>
      </p:sp>
      <p:sp>
        <p:nvSpPr>
          <p:cNvPr id="37898" name="Rectangle 52"/>
          <p:cNvSpPr>
            <a:spLocks noChangeArrowheads="1"/>
          </p:cNvSpPr>
          <p:nvPr/>
        </p:nvSpPr>
        <p:spPr bwMode="auto">
          <a:xfrm>
            <a:off x="4364038" y="3095625"/>
            <a:ext cx="887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T1</a:t>
            </a:r>
            <a:endParaRPr lang="en-US" altLang="zh-CN" sz="2400"/>
          </a:p>
        </p:txBody>
      </p:sp>
      <p:sp>
        <p:nvSpPr>
          <p:cNvPr id="37899" name="Rectangle 50"/>
          <p:cNvSpPr>
            <a:spLocks noChangeArrowheads="1"/>
          </p:cNvSpPr>
          <p:nvPr/>
        </p:nvSpPr>
        <p:spPr bwMode="auto">
          <a:xfrm>
            <a:off x="3476625" y="3095625"/>
            <a:ext cx="887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T4</a:t>
            </a:r>
            <a:endParaRPr lang="en-US" altLang="zh-CN" sz="2400"/>
          </a:p>
        </p:txBody>
      </p:sp>
      <p:sp>
        <p:nvSpPr>
          <p:cNvPr id="37900" name="Rectangle 48"/>
          <p:cNvSpPr>
            <a:spLocks noChangeArrowheads="1"/>
          </p:cNvSpPr>
          <p:nvPr/>
        </p:nvSpPr>
        <p:spPr bwMode="auto">
          <a:xfrm>
            <a:off x="2589213" y="3095625"/>
            <a:ext cx="887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T3</a:t>
            </a:r>
            <a:endParaRPr lang="en-US" altLang="zh-CN" sz="2400"/>
          </a:p>
        </p:txBody>
      </p:sp>
      <p:sp>
        <p:nvSpPr>
          <p:cNvPr id="37901" name="Rectangle 46"/>
          <p:cNvSpPr>
            <a:spLocks noChangeArrowheads="1"/>
          </p:cNvSpPr>
          <p:nvPr/>
        </p:nvSpPr>
        <p:spPr bwMode="auto">
          <a:xfrm>
            <a:off x="1698625" y="3095625"/>
            <a:ext cx="890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r>
              <a:rPr lang="en-US" altLang="zh-CN" sz="2400"/>
              <a:t>T2</a:t>
            </a:r>
            <a:endParaRPr lang="en-US" altLang="zh-CN" sz="2400"/>
          </a:p>
        </p:txBody>
      </p:sp>
      <p:sp>
        <p:nvSpPr>
          <p:cNvPr id="37902" name="Rectangle 44"/>
          <p:cNvSpPr>
            <a:spLocks noChangeArrowheads="1"/>
          </p:cNvSpPr>
          <p:nvPr/>
        </p:nvSpPr>
        <p:spPr bwMode="auto">
          <a:xfrm>
            <a:off x="809625" y="3095625"/>
            <a:ext cx="889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Font typeface="Wingdings 2" pitchFamily="18" charset="2"/>
              <a:buNone/>
            </a:pPr>
            <a:endParaRPr lang="en-US" altLang="zh-CN" sz="2400"/>
          </a:p>
        </p:txBody>
      </p:sp>
      <p:sp>
        <p:nvSpPr>
          <p:cNvPr id="37903" name="Rectangle 43"/>
          <p:cNvSpPr>
            <a:spLocks noChangeArrowheads="1"/>
          </p:cNvSpPr>
          <p:nvPr/>
        </p:nvSpPr>
        <p:spPr bwMode="auto">
          <a:xfrm>
            <a:off x="585788" y="3095625"/>
            <a:ext cx="2238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04" name="Rectangle 42"/>
          <p:cNvSpPr>
            <a:spLocks noChangeArrowheads="1"/>
          </p:cNvSpPr>
          <p:nvPr/>
        </p:nvSpPr>
        <p:spPr bwMode="auto">
          <a:xfrm>
            <a:off x="8362950" y="2700338"/>
            <a:ext cx="1952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05" name="Rectangle 41"/>
          <p:cNvSpPr>
            <a:spLocks noChangeArrowheads="1"/>
          </p:cNvSpPr>
          <p:nvPr/>
        </p:nvSpPr>
        <p:spPr bwMode="auto">
          <a:xfrm>
            <a:off x="7916863" y="2700338"/>
            <a:ext cx="4460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06" name="Rectangle 40"/>
          <p:cNvSpPr>
            <a:spLocks noChangeArrowheads="1"/>
          </p:cNvSpPr>
          <p:nvPr/>
        </p:nvSpPr>
        <p:spPr bwMode="auto">
          <a:xfrm>
            <a:off x="7473950" y="2700338"/>
            <a:ext cx="4429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07" name="Rectangle 39"/>
          <p:cNvSpPr>
            <a:spLocks noChangeArrowheads="1"/>
          </p:cNvSpPr>
          <p:nvPr/>
        </p:nvSpPr>
        <p:spPr bwMode="auto">
          <a:xfrm>
            <a:off x="7031038" y="2700338"/>
            <a:ext cx="442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08" name="Rectangle 38"/>
          <p:cNvSpPr>
            <a:spLocks noChangeArrowheads="1"/>
          </p:cNvSpPr>
          <p:nvPr/>
        </p:nvSpPr>
        <p:spPr bwMode="auto">
          <a:xfrm>
            <a:off x="6583363" y="2700338"/>
            <a:ext cx="4476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09" name="Rectangle 37"/>
          <p:cNvSpPr>
            <a:spLocks noChangeArrowheads="1"/>
          </p:cNvSpPr>
          <p:nvPr/>
        </p:nvSpPr>
        <p:spPr bwMode="auto">
          <a:xfrm>
            <a:off x="6140450" y="2700338"/>
            <a:ext cx="4429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0" name="Rectangle 36"/>
          <p:cNvSpPr>
            <a:spLocks noChangeArrowheads="1"/>
          </p:cNvSpPr>
          <p:nvPr/>
        </p:nvSpPr>
        <p:spPr bwMode="auto">
          <a:xfrm>
            <a:off x="5695950" y="2700338"/>
            <a:ext cx="4445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1" name="Rectangle 35"/>
          <p:cNvSpPr>
            <a:spLocks noChangeArrowheads="1"/>
          </p:cNvSpPr>
          <p:nvPr/>
        </p:nvSpPr>
        <p:spPr bwMode="auto">
          <a:xfrm>
            <a:off x="5251450" y="2700338"/>
            <a:ext cx="4445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2" name="Rectangle 34"/>
          <p:cNvSpPr>
            <a:spLocks noChangeArrowheads="1"/>
          </p:cNvSpPr>
          <p:nvPr/>
        </p:nvSpPr>
        <p:spPr bwMode="auto">
          <a:xfrm>
            <a:off x="4808538" y="2700338"/>
            <a:ext cx="442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3" name="Rectangle 33"/>
          <p:cNvSpPr>
            <a:spLocks noChangeArrowheads="1"/>
          </p:cNvSpPr>
          <p:nvPr/>
        </p:nvSpPr>
        <p:spPr bwMode="auto">
          <a:xfrm>
            <a:off x="4364038" y="2700338"/>
            <a:ext cx="4445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4" name="Rectangle 32"/>
          <p:cNvSpPr>
            <a:spLocks noChangeArrowheads="1"/>
          </p:cNvSpPr>
          <p:nvPr/>
        </p:nvSpPr>
        <p:spPr bwMode="auto">
          <a:xfrm>
            <a:off x="3921125" y="2700338"/>
            <a:ext cx="4429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5" name="Rectangle 31"/>
          <p:cNvSpPr>
            <a:spLocks noChangeArrowheads="1"/>
          </p:cNvSpPr>
          <p:nvPr/>
        </p:nvSpPr>
        <p:spPr bwMode="auto">
          <a:xfrm>
            <a:off x="3476625" y="2700338"/>
            <a:ext cx="4445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6" name="Rectangle 30"/>
          <p:cNvSpPr>
            <a:spLocks noChangeArrowheads="1"/>
          </p:cNvSpPr>
          <p:nvPr/>
        </p:nvSpPr>
        <p:spPr bwMode="auto">
          <a:xfrm>
            <a:off x="3032125" y="2700338"/>
            <a:ext cx="4445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7" name="Rectangle 29"/>
          <p:cNvSpPr>
            <a:spLocks noChangeArrowheads="1"/>
          </p:cNvSpPr>
          <p:nvPr/>
        </p:nvSpPr>
        <p:spPr bwMode="auto">
          <a:xfrm>
            <a:off x="2589213" y="2700338"/>
            <a:ext cx="442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8" name="Rectangle 28"/>
          <p:cNvSpPr>
            <a:spLocks noChangeArrowheads="1"/>
          </p:cNvSpPr>
          <p:nvPr/>
        </p:nvSpPr>
        <p:spPr bwMode="auto">
          <a:xfrm>
            <a:off x="2141538" y="2700338"/>
            <a:ext cx="447675"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19" name="Rectangle 27"/>
          <p:cNvSpPr>
            <a:spLocks noChangeArrowheads="1"/>
          </p:cNvSpPr>
          <p:nvPr/>
        </p:nvSpPr>
        <p:spPr bwMode="auto">
          <a:xfrm>
            <a:off x="1698625" y="2700338"/>
            <a:ext cx="44291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0" name="Rectangle 26"/>
          <p:cNvSpPr>
            <a:spLocks noChangeArrowheads="1"/>
          </p:cNvSpPr>
          <p:nvPr/>
        </p:nvSpPr>
        <p:spPr bwMode="auto">
          <a:xfrm>
            <a:off x="1255713" y="2700338"/>
            <a:ext cx="44291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1" name="Rectangle 25"/>
          <p:cNvSpPr>
            <a:spLocks noChangeArrowheads="1"/>
          </p:cNvSpPr>
          <p:nvPr/>
        </p:nvSpPr>
        <p:spPr bwMode="auto">
          <a:xfrm>
            <a:off x="809625" y="2700338"/>
            <a:ext cx="446088"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2" name="Rectangle 24"/>
          <p:cNvSpPr>
            <a:spLocks noChangeArrowheads="1"/>
          </p:cNvSpPr>
          <p:nvPr/>
        </p:nvSpPr>
        <p:spPr bwMode="auto">
          <a:xfrm>
            <a:off x="585788" y="2700338"/>
            <a:ext cx="22383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3" name="Rectangle 22"/>
          <p:cNvSpPr>
            <a:spLocks noChangeArrowheads="1"/>
          </p:cNvSpPr>
          <p:nvPr/>
        </p:nvSpPr>
        <p:spPr bwMode="auto">
          <a:xfrm>
            <a:off x="7916863" y="2305050"/>
            <a:ext cx="6413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4" name="Rectangle 20"/>
          <p:cNvSpPr>
            <a:spLocks noChangeArrowheads="1"/>
          </p:cNvSpPr>
          <p:nvPr/>
        </p:nvSpPr>
        <p:spPr bwMode="auto">
          <a:xfrm>
            <a:off x="7031038" y="2305050"/>
            <a:ext cx="885825"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5" name="Rectangle 18"/>
          <p:cNvSpPr>
            <a:spLocks noChangeArrowheads="1"/>
          </p:cNvSpPr>
          <p:nvPr/>
        </p:nvSpPr>
        <p:spPr bwMode="auto">
          <a:xfrm>
            <a:off x="6140450" y="2305050"/>
            <a:ext cx="8905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6" name="Rectangle 16"/>
          <p:cNvSpPr>
            <a:spLocks noChangeArrowheads="1"/>
          </p:cNvSpPr>
          <p:nvPr/>
        </p:nvSpPr>
        <p:spPr bwMode="auto">
          <a:xfrm>
            <a:off x="5251450" y="2305050"/>
            <a:ext cx="8890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7" name="Rectangle 14"/>
          <p:cNvSpPr>
            <a:spLocks noChangeArrowheads="1"/>
          </p:cNvSpPr>
          <p:nvPr/>
        </p:nvSpPr>
        <p:spPr bwMode="auto">
          <a:xfrm>
            <a:off x="4364038" y="2305050"/>
            <a:ext cx="88741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8" name="Rectangle 12"/>
          <p:cNvSpPr>
            <a:spLocks noChangeArrowheads="1"/>
          </p:cNvSpPr>
          <p:nvPr/>
        </p:nvSpPr>
        <p:spPr bwMode="auto">
          <a:xfrm>
            <a:off x="3476625" y="2305050"/>
            <a:ext cx="88741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29" name="Rectangle 10"/>
          <p:cNvSpPr>
            <a:spLocks noChangeArrowheads="1"/>
          </p:cNvSpPr>
          <p:nvPr/>
        </p:nvSpPr>
        <p:spPr bwMode="auto">
          <a:xfrm>
            <a:off x="2589213" y="2305050"/>
            <a:ext cx="88741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30" name="Rectangle 8"/>
          <p:cNvSpPr>
            <a:spLocks noChangeArrowheads="1"/>
          </p:cNvSpPr>
          <p:nvPr/>
        </p:nvSpPr>
        <p:spPr bwMode="auto">
          <a:xfrm>
            <a:off x="1698625" y="2305050"/>
            <a:ext cx="8905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31" name="Rectangle 6"/>
          <p:cNvSpPr>
            <a:spLocks noChangeArrowheads="1"/>
          </p:cNvSpPr>
          <p:nvPr/>
        </p:nvSpPr>
        <p:spPr bwMode="auto">
          <a:xfrm>
            <a:off x="809625" y="2305050"/>
            <a:ext cx="8890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32" name="Rectangle 5"/>
          <p:cNvSpPr>
            <a:spLocks noChangeArrowheads="1"/>
          </p:cNvSpPr>
          <p:nvPr/>
        </p:nvSpPr>
        <p:spPr bwMode="auto">
          <a:xfrm>
            <a:off x="585788" y="2305050"/>
            <a:ext cx="22383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lstStyle>
            <a:lvl1pPr>
              <a:spcBef>
                <a:spcPct val="20000"/>
              </a:spcBef>
              <a:buClr>
                <a:srgbClr val="CC3300"/>
              </a:buClr>
              <a:buFont typeface="Wingdings 2"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buFont typeface="Wingdings 2" pitchFamily="18" charset="2"/>
              <a:buNone/>
            </a:pPr>
            <a:endParaRPr lang="zh-CN" altLang="en-US" sz="2400"/>
          </a:p>
        </p:txBody>
      </p:sp>
      <p:sp>
        <p:nvSpPr>
          <p:cNvPr id="37933" name="Line 100"/>
          <p:cNvSpPr>
            <a:spLocks noChangeShapeType="1"/>
          </p:cNvSpPr>
          <p:nvPr/>
        </p:nvSpPr>
        <p:spPr bwMode="auto">
          <a:xfrm>
            <a:off x="585788" y="2305050"/>
            <a:ext cx="2238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34" name="Line 102"/>
          <p:cNvSpPr>
            <a:spLocks noChangeShapeType="1"/>
          </p:cNvSpPr>
          <p:nvPr/>
        </p:nvSpPr>
        <p:spPr bwMode="auto">
          <a:xfrm>
            <a:off x="585788" y="3095625"/>
            <a:ext cx="223837"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35" name="Line 105"/>
          <p:cNvSpPr>
            <a:spLocks noChangeShapeType="1"/>
          </p:cNvSpPr>
          <p:nvPr/>
        </p:nvSpPr>
        <p:spPr bwMode="auto">
          <a:xfrm>
            <a:off x="585788" y="4283075"/>
            <a:ext cx="2238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36" name="Line 106"/>
          <p:cNvSpPr>
            <a:spLocks noChangeShapeType="1"/>
          </p:cNvSpPr>
          <p:nvPr/>
        </p:nvSpPr>
        <p:spPr bwMode="auto">
          <a:xfrm>
            <a:off x="585788" y="2305050"/>
            <a:ext cx="0" cy="395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37" name="Line 107"/>
          <p:cNvSpPr>
            <a:spLocks noChangeShapeType="1"/>
          </p:cNvSpPr>
          <p:nvPr/>
        </p:nvSpPr>
        <p:spPr bwMode="auto">
          <a:xfrm>
            <a:off x="809625"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38" name="Line 109"/>
          <p:cNvSpPr>
            <a:spLocks noChangeShapeType="1"/>
          </p:cNvSpPr>
          <p:nvPr/>
        </p:nvSpPr>
        <p:spPr bwMode="auto">
          <a:xfrm>
            <a:off x="1698625"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39" name="Line 111"/>
          <p:cNvSpPr>
            <a:spLocks noChangeShapeType="1"/>
          </p:cNvSpPr>
          <p:nvPr/>
        </p:nvSpPr>
        <p:spPr bwMode="auto">
          <a:xfrm>
            <a:off x="2589213"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0" name="Line 113"/>
          <p:cNvSpPr>
            <a:spLocks noChangeShapeType="1"/>
          </p:cNvSpPr>
          <p:nvPr/>
        </p:nvSpPr>
        <p:spPr bwMode="auto">
          <a:xfrm>
            <a:off x="3476625"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1" name="Line 115"/>
          <p:cNvSpPr>
            <a:spLocks noChangeShapeType="1"/>
          </p:cNvSpPr>
          <p:nvPr/>
        </p:nvSpPr>
        <p:spPr bwMode="auto">
          <a:xfrm>
            <a:off x="4364038"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2" name="Line 117"/>
          <p:cNvSpPr>
            <a:spLocks noChangeShapeType="1"/>
          </p:cNvSpPr>
          <p:nvPr/>
        </p:nvSpPr>
        <p:spPr bwMode="auto">
          <a:xfrm>
            <a:off x="5251450"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3" name="Line 119"/>
          <p:cNvSpPr>
            <a:spLocks noChangeShapeType="1"/>
          </p:cNvSpPr>
          <p:nvPr/>
        </p:nvSpPr>
        <p:spPr bwMode="auto">
          <a:xfrm>
            <a:off x="6140450"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4" name="Line 121"/>
          <p:cNvSpPr>
            <a:spLocks noChangeShapeType="1"/>
          </p:cNvSpPr>
          <p:nvPr/>
        </p:nvSpPr>
        <p:spPr bwMode="auto">
          <a:xfrm>
            <a:off x="7031038"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5" name="Line 123"/>
          <p:cNvSpPr>
            <a:spLocks noChangeShapeType="1"/>
          </p:cNvSpPr>
          <p:nvPr/>
        </p:nvSpPr>
        <p:spPr bwMode="auto">
          <a:xfrm>
            <a:off x="7916863" y="2305050"/>
            <a:ext cx="0" cy="395288"/>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46" name="Line 125"/>
          <p:cNvSpPr>
            <a:spLocks noChangeShapeType="1"/>
          </p:cNvSpPr>
          <p:nvPr/>
        </p:nvSpPr>
        <p:spPr bwMode="auto">
          <a:xfrm>
            <a:off x="8558213" y="2305050"/>
            <a:ext cx="0" cy="395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47" name="Line 131"/>
          <p:cNvSpPr>
            <a:spLocks noChangeShapeType="1"/>
          </p:cNvSpPr>
          <p:nvPr/>
        </p:nvSpPr>
        <p:spPr bwMode="auto">
          <a:xfrm>
            <a:off x="809625" y="2305050"/>
            <a:ext cx="889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48" name="Line 132"/>
          <p:cNvSpPr>
            <a:spLocks noChangeShapeType="1"/>
          </p:cNvSpPr>
          <p:nvPr/>
        </p:nvSpPr>
        <p:spPr bwMode="auto">
          <a:xfrm>
            <a:off x="585788" y="2700338"/>
            <a:ext cx="0" cy="3952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49" name="Line 135"/>
          <p:cNvSpPr>
            <a:spLocks noChangeShapeType="1"/>
          </p:cNvSpPr>
          <p:nvPr/>
        </p:nvSpPr>
        <p:spPr bwMode="auto">
          <a:xfrm>
            <a:off x="1698625" y="2305050"/>
            <a:ext cx="89058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0" name="Line 139"/>
          <p:cNvSpPr>
            <a:spLocks noChangeShapeType="1"/>
          </p:cNvSpPr>
          <p:nvPr/>
        </p:nvSpPr>
        <p:spPr bwMode="auto">
          <a:xfrm>
            <a:off x="2589213" y="2305050"/>
            <a:ext cx="8874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1" name="Line 143"/>
          <p:cNvSpPr>
            <a:spLocks noChangeShapeType="1"/>
          </p:cNvSpPr>
          <p:nvPr/>
        </p:nvSpPr>
        <p:spPr bwMode="auto">
          <a:xfrm>
            <a:off x="3476625" y="2305050"/>
            <a:ext cx="8874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2" name="Line 147"/>
          <p:cNvSpPr>
            <a:spLocks noChangeShapeType="1"/>
          </p:cNvSpPr>
          <p:nvPr/>
        </p:nvSpPr>
        <p:spPr bwMode="auto">
          <a:xfrm>
            <a:off x="4364038" y="2305050"/>
            <a:ext cx="8874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3" name="Line 151"/>
          <p:cNvSpPr>
            <a:spLocks noChangeShapeType="1"/>
          </p:cNvSpPr>
          <p:nvPr/>
        </p:nvSpPr>
        <p:spPr bwMode="auto">
          <a:xfrm>
            <a:off x="5251450" y="2305050"/>
            <a:ext cx="889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4" name="Line 155"/>
          <p:cNvSpPr>
            <a:spLocks noChangeShapeType="1"/>
          </p:cNvSpPr>
          <p:nvPr/>
        </p:nvSpPr>
        <p:spPr bwMode="auto">
          <a:xfrm>
            <a:off x="6140450" y="2305050"/>
            <a:ext cx="89058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5" name="Line 159"/>
          <p:cNvSpPr>
            <a:spLocks noChangeShapeType="1"/>
          </p:cNvSpPr>
          <p:nvPr/>
        </p:nvSpPr>
        <p:spPr bwMode="auto">
          <a:xfrm>
            <a:off x="7031038" y="2305050"/>
            <a:ext cx="8858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6" name="Line 163"/>
          <p:cNvSpPr>
            <a:spLocks noChangeShapeType="1"/>
          </p:cNvSpPr>
          <p:nvPr/>
        </p:nvSpPr>
        <p:spPr bwMode="auto">
          <a:xfrm>
            <a:off x="7916863" y="2305050"/>
            <a:ext cx="6413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7" name="Line 168"/>
          <p:cNvSpPr>
            <a:spLocks noChangeShapeType="1"/>
          </p:cNvSpPr>
          <p:nvPr/>
        </p:nvSpPr>
        <p:spPr bwMode="auto">
          <a:xfrm>
            <a:off x="8558213" y="2700338"/>
            <a:ext cx="0" cy="3952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58" name="Line 214"/>
          <p:cNvSpPr>
            <a:spLocks noChangeShapeType="1"/>
          </p:cNvSpPr>
          <p:nvPr/>
        </p:nvSpPr>
        <p:spPr bwMode="auto">
          <a:xfrm>
            <a:off x="2141538"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59" name="Line 216"/>
          <p:cNvSpPr>
            <a:spLocks noChangeShapeType="1"/>
          </p:cNvSpPr>
          <p:nvPr/>
        </p:nvSpPr>
        <p:spPr bwMode="auto">
          <a:xfrm>
            <a:off x="3032125"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0" name="Line 218"/>
          <p:cNvSpPr>
            <a:spLocks noChangeShapeType="1"/>
          </p:cNvSpPr>
          <p:nvPr/>
        </p:nvSpPr>
        <p:spPr bwMode="auto">
          <a:xfrm>
            <a:off x="3921125"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1" name="Line 220"/>
          <p:cNvSpPr>
            <a:spLocks noChangeShapeType="1"/>
          </p:cNvSpPr>
          <p:nvPr/>
        </p:nvSpPr>
        <p:spPr bwMode="auto">
          <a:xfrm>
            <a:off x="4808538"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2" name="Line 222"/>
          <p:cNvSpPr>
            <a:spLocks noChangeShapeType="1"/>
          </p:cNvSpPr>
          <p:nvPr/>
        </p:nvSpPr>
        <p:spPr bwMode="auto">
          <a:xfrm>
            <a:off x="5695950"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3" name="Line 224"/>
          <p:cNvSpPr>
            <a:spLocks noChangeShapeType="1"/>
          </p:cNvSpPr>
          <p:nvPr/>
        </p:nvSpPr>
        <p:spPr bwMode="auto">
          <a:xfrm>
            <a:off x="6583363"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4" name="Line 226"/>
          <p:cNvSpPr>
            <a:spLocks noChangeShapeType="1"/>
          </p:cNvSpPr>
          <p:nvPr/>
        </p:nvSpPr>
        <p:spPr bwMode="auto">
          <a:xfrm>
            <a:off x="7473950"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5" name="Line 228"/>
          <p:cNvSpPr>
            <a:spLocks noChangeShapeType="1"/>
          </p:cNvSpPr>
          <p:nvPr/>
        </p:nvSpPr>
        <p:spPr bwMode="auto">
          <a:xfrm>
            <a:off x="8362950"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66" name="Line 251"/>
          <p:cNvSpPr>
            <a:spLocks noChangeShapeType="1"/>
          </p:cNvSpPr>
          <p:nvPr/>
        </p:nvSpPr>
        <p:spPr bwMode="auto">
          <a:xfrm>
            <a:off x="585788" y="3095625"/>
            <a:ext cx="0" cy="11874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67" name="Line 263"/>
          <p:cNvSpPr>
            <a:spLocks noChangeShapeType="1"/>
          </p:cNvSpPr>
          <p:nvPr/>
        </p:nvSpPr>
        <p:spPr bwMode="auto">
          <a:xfrm>
            <a:off x="809625" y="4283075"/>
            <a:ext cx="774858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68" name="Line 295"/>
          <p:cNvSpPr>
            <a:spLocks noChangeShapeType="1"/>
          </p:cNvSpPr>
          <p:nvPr/>
        </p:nvSpPr>
        <p:spPr bwMode="auto">
          <a:xfrm>
            <a:off x="8558213" y="3095625"/>
            <a:ext cx="0" cy="7921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69" name="Line 301"/>
          <p:cNvSpPr>
            <a:spLocks noChangeShapeType="1"/>
          </p:cNvSpPr>
          <p:nvPr/>
        </p:nvSpPr>
        <p:spPr bwMode="auto">
          <a:xfrm>
            <a:off x="8558213" y="3887788"/>
            <a:ext cx="0" cy="3952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none" w="lg" len="lg"/>
              </a14:hiddenLine>
            </a:ext>
          </a:extLst>
        </p:spPr>
        <p:txBody>
          <a:bodyPr/>
          <a:lstStyle/>
          <a:p>
            <a:endParaRPr lang="zh-CN" altLang="en-US"/>
          </a:p>
        </p:txBody>
      </p:sp>
      <p:sp>
        <p:nvSpPr>
          <p:cNvPr id="37970" name="Line 565"/>
          <p:cNvSpPr>
            <a:spLocks noChangeShapeType="1"/>
          </p:cNvSpPr>
          <p:nvPr/>
        </p:nvSpPr>
        <p:spPr bwMode="auto">
          <a:xfrm>
            <a:off x="1255713"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1" name="Line 708"/>
          <p:cNvSpPr>
            <a:spLocks noChangeShapeType="1"/>
          </p:cNvSpPr>
          <p:nvPr/>
        </p:nvSpPr>
        <p:spPr bwMode="auto">
          <a:xfrm>
            <a:off x="809625"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2" name="Line 709"/>
          <p:cNvSpPr>
            <a:spLocks noChangeShapeType="1"/>
          </p:cNvSpPr>
          <p:nvPr/>
        </p:nvSpPr>
        <p:spPr bwMode="auto">
          <a:xfrm>
            <a:off x="809625" y="3095625"/>
            <a:ext cx="0" cy="118745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3" name="Line 711"/>
          <p:cNvSpPr>
            <a:spLocks noChangeShapeType="1"/>
          </p:cNvSpPr>
          <p:nvPr/>
        </p:nvSpPr>
        <p:spPr bwMode="auto">
          <a:xfrm>
            <a:off x="1698625"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4" name="Line 712"/>
          <p:cNvSpPr>
            <a:spLocks noChangeShapeType="1"/>
          </p:cNvSpPr>
          <p:nvPr/>
        </p:nvSpPr>
        <p:spPr bwMode="auto">
          <a:xfrm>
            <a:off x="1698625" y="3095625"/>
            <a:ext cx="0" cy="3968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5" name="Line 714"/>
          <p:cNvSpPr>
            <a:spLocks noChangeShapeType="1"/>
          </p:cNvSpPr>
          <p:nvPr/>
        </p:nvSpPr>
        <p:spPr bwMode="auto">
          <a:xfrm>
            <a:off x="2589213"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6" name="Line 715"/>
          <p:cNvSpPr>
            <a:spLocks noChangeShapeType="1"/>
          </p:cNvSpPr>
          <p:nvPr/>
        </p:nvSpPr>
        <p:spPr bwMode="auto">
          <a:xfrm>
            <a:off x="2589213" y="3095625"/>
            <a:ext cx="0" cy="3968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7" name="Line 717"/>
          <p:cNvSpPr>
            <a:spLocks noChangeShapeType="1"/>
          </p:cNvSpPr>
          <p:nvPr/>
        </p:nvSpPr>
        <p:spPr bwMode="auto">
          <a:xfrm>
            <a:off x="3476625"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8" name="Line 718"/>
          <p:cNvSpPr>
            <a:spLocks noChangeShapeType="1"/>
          </p:cNvSpPr>
          <p:nvPr/>
        </p:nvSpPr>
        <p:spPr bwMode="auto">
          <a:xfrm>
            <a:off x="3476625" y="3095625"/>
            <a:ext cx="0" cy="3968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79" name="Line 720"/>
          <p:cNvSpPr>
            <a:spLocks noChangeShapeType="1"/>
          </p:cNvSpPr>
          <p:nvPr/>
        </p:nvSpPr>
        <p:spPr bwMode="auto">
          <a:xfrm>
            <a:off x="4364038"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0" name="Line 721"/>
          <p:cNvSpPr>
            <a:spLocks noChangeShapeType="1"/>
          </p:cNvSpPr>
          <p:nvPr/>
        </p:nvSpPr>
        <p:spPr bwMode="auto">
          <a:xfrm>
            <a:off x="4364038" y="3095625"/>
            <a:ext cx="0" cy="792163"/>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1" name="Line 723"/>
          <p:cNvSpPr>
            <a:spLocks noChangeShapeType="1"/>
          </p:cNvSpPr>
          <p:nvPr/>
        </p:nvSpPr>
        <p:spPr bwMode="auto">
          <a:xfrm>
            <a:off x="5251450"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2" name="Line 724"/>
          <p:cNvSpPr>
            <a:spLocks noChangeShapeType="1"/>
          </p:cNvSpPr>
          <p:nvPr/>
        </p:nvSpPr>
        <p:spPr bwMode="auto">
          <a:xfrm>
            <a:off x="5251450" y="3095625"/>
            <a:ext cx="0" cy="3968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3" name="Line 726"/>
          <p:cNvSpPr>
            <a:spLocks noChangeShapeType="1"/>
          </p:cNvSpPr>
          <p:nvPr/>
        </p:nvSpPr>
        <p:spPr bwMode="auto">
          <a:xfrm>
            <a:off x="6140450"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4" name="Line 727"/>
          <p:cNvSpPr>
            <a:spLocks noChangeShapeType="1"/>
          </p:cNvSpPr>
          <p:nvPr/>
        </p:nvSpPr>
        <p:spPr bwMode="auto">
          <a:xfrm>
            <a:off x="6140450" y="3095625"/>
            <a:ext cx="0" cy="3968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5" name="Line 729"/>
          <p:cNvSpPr>
            <a:spLocks noChangeShapeType="1"/>
          </p:cNvSpPr>
          <p:nvPr/>
        </p:nvSpPr>
        <p:spPr bwMode="auto">
          <a:xfrm>
            <a:off x="7031038"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6" name="Line 730"/>
          <p:cNvSpPr>
            <a:spLocks noChangeShapeType="1"/>
          </p:cNvSpPr>
          <p:nvPr/>
        </p:nvSpPr>
        <p:spPr bwMode="auto">
          <a:xfrm>
            <a:off x="7031038" y="3095625"/>
            <a:ext cx="0" cy="3968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7" name="Line 732"/>
          <p:cNvSpPr>
            <a:spLocks noChangeShapeType="1"/>
          </p:cNvSpPr>
          <p:nvPr/>
        </p:nvSpPr>
        <p:spPr bwMode="auto">
          <a:xfrm>
            <a:off x="7916863" y="2700338"/>
            <a:ext cx="0" cy="395287"/>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8" name="Line 733"/>
          <p:cNvSpPr>
            <a:spLocks noChangeShapeType="1"/>
          </p:cNvSpPr>
          <p:nvPr/>
        </p:nvSpPr>
        <p:spPr bwMode="auto">
          <a:xfrm>
            <a:off x="7916863" y="3095625"/>
            <a:ext cx="0" cy="792163"/>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89" name="Line 745"/>
          <p:cNvSpPr>
            <a:spLocks noChangeShapeType="1"/>
          </p:cNvSpPr>
          <p:nvPr/>
        </p:nvSpPr>
        <p:spPr bwMode="auto">
          <a:xfrm>
            <a:off x="809625" y="2700338"/>
            <a:ext cx="446088"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0" name="Line 749"/>
          <p:cNvSpPr>
            <a:spLocks noChangeShapeType="1"/>
          </p:cNvSpPr>
          <p:nvPr/>
        </p:nvSpPr>
        <p:spPr bwMode="auto">
          <a:xfrm>
            <a:off x="1255713" y="3095625"/>
            <a:ext cx="442912"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1" name="Line 752"/>
          <p:cNvSpPr>
            <a:spLocks noChangeShapeType="1"/>
          </p:cNvSpPr>
          <p:nvPr/>
        </p:nvSpPr>
        <p:spPr bwMode="auto">
          <a:xfrm>
            <a:off x="1698625" y="2700338"/>
            <a:ext cx="442913"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2" name="Line 757"/>
          <p:cNvSpPr>
            <a:spLocks noChangeShapeType="1"/>
          </p:cNvSpPr>
          <p:nvPr/>
        </p:nvSpPr>
        <p:spPr bwMode="auto">
          <a:xfrm>
            <a:off x="2141538" y="3095625"/>
            <a:ext cx="447675"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3" name="Line 760"/>
          <p:cNvSpPr>
            <a:spLocks noChangeShapeType="1"/>
          </p:cNvSpPr>
          <p:nvPr/>
        </p:nvSpPr>
        <p:spPr bwMode="auto">
          <a:xfrm>
            <a:off x="2589213" y="2700338"/>
            <a:ext cx="442912"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4" name="Line 765"/>
          <p:cNvSpPr>
            <a:spLocks noChangeShapeType="1"/>
          </p:cNvSpPr>
          <p:nvPr/>
        </p:nvSpPr>
        <p:spPr bwMode="auto">
          <a:xfrm>
            <a:off x="3032125" y="3095625"/>
            <a:ext cx="444500"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5" name="Line 768"/>
          <p:cNvSpPr>
            <a:spLocks noChangeShapeType="1"/>
          </p:cNvSpPr>
          <p:nvPr/>
        </p:nvSpPr>
        <p:spPr bwMode="auto">
          <a:xfrm>
            <a:off x="3476625" y="2700338"/>
            <a:ext cx="444500"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6" name="Line 773"/>
          <p:cNvSpPr>
            <a:spLocks noChangeShapeType="1"/>
          </p:cNvSpPr>
          <p:nvPr/>
        </p:nvSpPr>
        <p:spPr bwMode="auto">
          <a:xfrm>
            <a:off x="3921125" y="3095625"/>
            <a:ext cx="442913"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7" name="Line 776"/>
          <p:cNvSpPr>
            <a:spLocks noChangeShapeType="1"/>
          </p:cNvSpPr>
          <p:nvPr/>
        </p:nvSpPr>
        <p:spPr bwMode="auto">
          <a:xfrm>
            <a:off x="4364038" y="2700338"/>
            <a:ext cx="444500"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8" name="Line 781"/>
          <p:cNvSpPr>
            <a:spLocks noChangeShapeType="1"/>
          </p:cNvSpPr>
          <p:nvPr/>
        </p:nvSpPr>
        <p:spPr bwMode="auto">
          <a:xfrm>
            <a:off x="4808538" y="3095625"/>
            <a:ext cx="442912"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7999" name="Line 784"/>
          <p:cNvSpPr>
            <a:spLocks noChangeShapeType="1"/>
          </p:cNvSpPr>
          <p:nvPr/>
        </p:nvSpPr>
        <p:spPr bwMode="auto">
          <a:xfrm>
            <a:off x="5251450" y="2700338"/>
            <a:ext cx="444500"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0" name="Line 789"/>
          <p:cNvSpPr>
            <a:spLocks noChangeShapeType="1"/>
          </p:cNvSpPr>
          <p:nvPr/>
        </p:nvSpPr>
        <p:spPr bwMode="auto">
          <a:xfrm>
            <a:off x="5695950" y="3095625"/>
            <a:ext cx="444500"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1" name="Line 792"/>
          <p:cNvSpPr>
            <a:spLocks noChangeShapeType="1"/>
          </p:cNvSpPr>
          <p:nvPr/>
        </p:nvSpPr>
        <p:spPr bwMode="auto">
          <a:xfrm>
            <a:off x="6140450" y="2700338"/>
            <a:ext cx="442913"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2" name="Line 797"/>
          <p:cNvSpPr>
            <a:spLocks noChangeShapeType="1"/>
          </p:cNvSpPr>
          <p:nvPr/>
        </p:nvSpPr>
        <p:spPr bwMode="auto">
          <a:xfrm>
            <a:off x="6583363" y="3095625"/>
            <a:ext cx="447675"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3" name="Line 800"/>
          <p:cNvSpPr>
            <a:spLocks noChangeShapeType="1"/>
          </p:cNvSpPr>
          <p:nvPr/>
        </p:nvSpPr>
        <p:spPr bwMode="auto">
          <a:xfrm>
            <a:off x="7031038" y="2700338"/>
            <a:ext cx="442912"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4" name="Line 805"/>
          <p:cNvSpPr>
            <a:spLocks noChangeShapeType="1"/>
          </p:cNvSpPr>
          <p:nvPr/>
        </p:nvSpPr>
        <p:spPr bwMode="auto">
          <a:xfrm>
            <a:off x="7473950" y="3095625"/>
            <a:ext cx="442913"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5" name="Line 808"/>
          <p:cNvSpPr>
            <a:spLocks noChangeShapeType="1"/>
          </p:cNvSpPr>
          <p:nvPr/>
        </p:nvSpPr>
        <p:spPr bwMode="auto">
          <a:xfrm>
            <a:off x="7916863" y="2700338"/>
            <a:ext cx="446087"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6" name="Line 813"/>
          <p:cNvSpPr>
            <a:spLocks noChangeShapeType="1"/>
          </p:cNvSpPr>
          <p:nvPr/>
        </p:nvSpPr>
        <p:spPr bwMode="auto">
          <a:xfrm>
            <a:off x="8362950" y="3095625"/>
            <a:ext cx="195263" cy="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8007" name="Line 818"/>
          <p:cNvSpPr>
            <a:spLocks noChangeShapeType="1"/>
          </p:cNvSpPr>
          <p:nvPr/>
        </p:nvSpPr>
        <p:spPr bwMode="auto">
          <a:xfrm>
            <a:off x="814388" y="3451225"/>
            <a:ext cx="871537"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8008" name="Text Box 819"/>
          <p:cNvSpPr txBox="1">
            <a:spLocks noChangeArrowheads="1"/>
          </p:cNvSpPr>
          <p:nvPr/>
        </p:nvSpPr>
        <p:spPr bwMode="auto">
          <a:xfrm>
            <a:off x="1079500" y="3135313"/>
            <a:ext cx="2857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tIns="0" r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b="0">
                <a:latin typeface="Tahoma" panose="020B0604030504040204" pitchFamily="34" charset="0"/>
                <a:ea typeface="宋体" panose="02010600030101010101" pitchFamily="2" charset="-122"/>
              </a:rPr>
              <a:t>T1</a:t>
            </a:r>
            <a:endParaRPr kumimoji="0" lang="zh-CN" altLang="en-US" sz="2000" b="0">
              <a:latin typeface="Tahoma" panose="020B0604030504040204" pitchFamily="34" charset="0"/>
              <a:ea typeface="宋体" panose="02010600030101010101" pitchFamily="2" charset="-122"/>
            </a:endParaRPr>
          </a:p>
        </p:txBody>
      </p:sp>
      <p:sp>
        <p:nvSpPr>
          <p:cNvPr id="38009" name="Line 821"/>
          <p:cNvSpPr>
            <a:spLocks noChangeShapeType="1"/>
          </p:cNvSpPr>
          <p:nvPr/>
        </p:nvSpPr>
        <p:spPr bwMode="auto">
          <a:xfrm>
            <a:off x="814388" y="2508250"/>
            <a:ext cx="871537"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8010" name="Text Box 822"/>
          <p:cNvSpPr txBox="1">
            <a:spLocks noChangeArrowheads="1"/>
          </p:cNvSpPr>
          <p:nvPr/>
        </p:nvSpPr>
        <p:spPr bwMode="auto">
          <a:xfrm>
            <a:off x="847156" y="2105025"/>
            <a:ext cx="77425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tIns="0" r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楷体" panose="02010609060101010101" pitchFamily="49" charset="-122"/>
                <a:ea typeface="楷体" panose="02010609060101010101" pitchFamily="49" charset="-122"/>
              </a:rPr>
              <a:t>T</a:t>
            </a:r>
            <a:r>
              <a:rPr kumimoji="0" lang="zh-CN" altLang="en-US" sz="2400">
                <a:latin typeface="楷体" panose="02010609060101010101" pitchFamily="49" charset="-122"/>
                <a:ea typeface="楷体" panose="02010609060101010101" pitchFamily="49" charset="-122"/>
              </a:rPr>
              <a:t>周期</a:t>
            </a:r>
            <a:endParaRPr kumimoji="0" lang="zh-CN" altLang="en-US" sz="2400">
              <a:latin typeface="楷体" panose="02010609060101010101" pitchFamily="49" charset="-122"/>
              <a:ea typeface="楷体" panose="02010609060101010101" pitchFamily="49" charset="-122"/>
            </a:endParaRPr>
          </a:p>
        </p:txBody>
      </p:sp>
      <p:sp>
        <p:nvSpPr>
          <p:cNvPr id="38011" name="Line 823"/>
          <p:cNvSpPr>
            <a:spLocks noChangeShapeType="1"/>
          </p:cNvSpPr>
          <p:nvPr/>
        </p:nvSpPr>
        <p:spPr bwMode="auto">
          <a:xfrm>
            <a:off x="814388" y="3879850"/>
            <a:ext cx="3543300"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8012" name="Text Box 824"/>
          <p:cNvSpPr txBox="1">
            <a:spLocks noChangeArrowheads="1"/>
          </p:cNvSpPr>
          <p:nvPr/>
        </p:nvSpPr>
        <p:spPr bwMode="auto">
          <a:xfrm>
            <a:off x="1811795" y="3598863"/>
            <a:ext cx="1546898"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tIns="0" r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400" dirty="0">
                <a:latin typeface="楷体" panose="02010609060101010101" pitchFamily="49" charset="-122"/>
                <a:ea typeface="楷体" panose="02010609060101010101" pitchFamily="49" charset="-122"/>
              </a:rPr>
              <a:t>CPU</a:t>
            </a:r>
            <a:r>
              <a:rPr kumimoji="0" lang="zh-CN" altLang="en-US" sz="2400" dirty="0">
                <a:latin typeface="楷体" panose="02010609060101010101" pitchFamily="49" charset="-122"/>
                <a:ea typeface="楷体" panose="02010609060101010101" pitchFamily="49" charset="-122"/>
              </a:rPr>
              <a:t>周期</a:t>
            </a:r>
            <a:endParaRPr kumimoji="0" lang="zh-CN" altLang="en-US" sz="2400" dirty="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zh-CN" altLang="en-US" sz="2400" dirty="0">
                <a:latin typeface="楷体" panose="02010609060101010101" pitchFamily="49" charset="-122"/>
                <a:ea typeface="楷体" panose="02010609060101010101" pitchFamily="49" charset="-122"/>
              </a:rPr>
              <a:t>（取指令）</a:t>
            </a:r>
            <a:endParaRPr kumimoji="0" lang="zh-CN" altLang="en-US" sz="2400" dirty="0">
              <a:latin typeface="楷体" panose="02010609060101010101" pitchFamily="49" charset="-122"/>
              <a:ea typeface="楷体" panose="02010609060101010101" pitchFamily="49" charset="-122"/>
            </a:endParaRPr>
          </a:p>
        </p:txBody>
      </p:sp>
      <p:sp>
        <p:nvSpPr>
          <p:cNvPr id="38013" name="Line 825"/>
          <p:cNvSpPr>
            <a:spLocks noChangeShapeType="1"/>
          </p:cNvSpPr>
          <p:nvPr/>
        </p:nvSpPr>
        <p:spPr bwMode="auto">
          <a:xfrm>
            <a:off x="4371975" y="3879850"/>
            <a:ext cx="3543300"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8014" name="Text Box 826"/>
          <p:cNvSpPr txBox="1">
            <a:spLocks noChangeArrowheads="1"/>
          </p:cNvSpPr>
          <p:nvPr/>
        </p:nvSpPr>
        <p:spPr bwMode="auto">
          <a:xfrm>
            <a:off x="5213899" y="3598863"/>
            <a:ext cx="185627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tIns="0" r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400">
                <a:latin typeface="楷体" panose="02010609060101010101" pitchFamily="49" charset="-122"/>
                <a:ea typeface="楷体" panose="02010609060101010101" pitchFamily="49" charset="-122"/>
              </a:rPr>
              <a:t>CPU</a:t>
            </a:r>
            <a:r>
              <a:rPr kumimoji="0" lang="zh-CN" altLang="en-US" sz="2400">
                <a:latin typeface="楷体" panose="02010609060101010101" pitchFamily="49" charset="-122"/>
                <a:ea typeface="楷体" panose="02010609060101010101" pitchFamily="49" charset="-122"/>
              </a:rPr>
              <a:t>周期</a:t>
            </a:r>
            <a:endParaRPr kumimoji="0" lang="zh-CN" altLang="en-US" sz="24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zh-CN" altLang="en-US" sz="2400">
                <a:latin typeface="楷体" panose="02010609060101010101" pitchFamily="49" charset="-122"/>
                <a:ea typeface="楷体" panose="02010609060101010101" pitchFamily="49" charset="-122"/>
              </a:rPr>
              <a:t>（执行指令）</a:t>
            </a:r>
            <a:endParaRPr kumimoji="0" lang="zh-CN" altLang="en-US" sz="2400">
              <a:latin typeface="楷体" panose="02010609060101010101" pitchFamily="49" charset="-122"/>
              <a:ea typeface="楷体" panose="02010609060101010101" pitchFamily="49" charset="-122"/>
            </a:endParaRPr>
          </a:p>
        </p:txBody>
      </p:sp>
      <p:sp>
        <p:nvSpPr>
          <p:cNvPr id="38015" name="Line 827"/>
          <p:cNvSpPr>
            <a:spLocks noChangeShapeType="1"/>
          </p:cNvSpPr>
          <p:nvPr/>
        </p:nvSpPr>
        <p:spPr bwMode="auto">
          <a:xfrm>
            <a:off x="814388" y="4437063"/>
            <a:ext cx="7100887"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38016" name="Text Box 828"/>
          <p:cNvSpPr txBox="1">
            <a:spLocks noChangeArrowheads="1"/>
          </p:cNvSpPr>
          <p:nvPr/>
        </p:nvSpPr>
        <p:spPr bwMode="auto">
          <a:xfrm>
            <a:off x="3737341" y="4094163"/>
            <a:ext cx="1237518" cy="295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tIns="0" r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latin typeface="楷体" panose="02010609060101010101" pitchFamily="49" charset="-122"/>
                <a:ea typeface="楷体" panose="02010609060101010101" pitchFamily="49" charset="-122"/>
              </a:rPr>
              <a:t>指令周期</a:t>
            </a:r>
            <a:endParaRPr kumimoji="0" lang="zh-CN" altLang="en-US" sz="2400">
              <a:latin typeface="楷体" panose="02010609060101010101" pitchFamily="49" charset="-122"/>
              <a:ea typeface="楷体" panose="02010609060101010101" pitchFamily="49" charset="-122"/>
            </a:endParaRPr>
          </a:p>
        </p:txBody>
      </p:sp>
      <p:sp>
        <p:nvSpPr>
          <p:cNvPr id="38017" name="Line 831"/>
          <p:cNvSpPr>
            <a:spLocks noChangeShapeType="1"/>
          </p:cNvSpPr>
          <p:nvPr/>
        </p:nvSpPr>
        <p:spPr bwMode="auto">
          <a:xfrm>
            <a:off x="7915275" y="4065588"/>
            <a:ext cx="0" cy="514350"/>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defRPr/>
            </a:pPr>
            <a:r>
              <a:rPr lang="zh-CN" altLang="en-US"/>
              <a:t>程序示例</a:t>
            </a:r>
            <a:endParaRPr lang="zh-CN" altLang="en-US"/>
          </a:p>
        </p:txBody>
      </p:sp>
      <p:sp>
        <p:nvSpPr>
          <p:cNvPr id="38914" name="Rectangle 3"/>
          <p:cNvSpPr>
            <a:spLocks noGrp="1" noChangeArrowheads="1"/>
          </p:cNvSpPr>
          <p:nvPr>
            <p:ph idx="1"/>
          </p:nvPr>
        </p:nvSpPr>
        <p:spPr/>
        <p:txBody>
          <a:bodyPr/>
          <a:lstStyle/>
          <a:p>
            <a:pPr eaLnBrk="1" hangingPunct="1"/>
            <a:r>
              <a:rPr lang="zh-CN" altLang="en-US"/>
              <a:t>六条典型指令组成的一个程序</a:t>
            </a:r>
            <a:endParaRPr lang="en-US" altLang="zh-CN"/>
          </a:p>
          <a:p>
            <a:pPr eaLnBrk="1" hangingPunct="1">
              <a:buFont typeface="Wingdings 2" pitchFamily="18" charset="2"/>
              <a:buNone/>
            </a:pPr>
            <a:r>
              <a:rPr lang="zh-CN" altLang="en-US"/>
              <a:t>执行前 </a:t>
            </a:r>
            <a:r>
              <a:rPr lang="en-US" altLang="zh-CN"/>
              <a:t>(R0)=0</a:t>
            </a:r>
            <a:r>
              <a:rPr lang="zh-CN" altLang="en-US"/>
              <a:t>，</a:t>
            </a:r>
            <a:r>
              <a:rPr lang="en-US" altLang="zh-CN"/>
              <a:t>(R1)=10</a:t>
            </a:r>
            <a:r>
              <a:rPr lang="zh-CN" altLang="en-US"/>
              <a:t>，</a:t>
            </a:r>
            <a:r>
              <a:rPr lang="en-US" altLang="zh-CN"/>
              <a:t>(R2)=20</a:t>
            </a:r>
            <a:r>
              <a:rPr lang="zh-CN" altLang="en-US"/>
              <a:t>，</a:t>
            </a:r>
            <a:r>
              <a:rPr lang="en-US" altLang="zh-CN"/>
              <a:t>(R3)=30</a:t>
            </a:r>
            <a:endParaRPr lang="en-US" altLang="zh-CN"/>
          </a:p>
          <a:p>
            <a:pPr eaLnBrk="1" hangingPunct="1"/>
            <a:endParaRPr lang="zh-CN" altLang="en-US"/>
          </a:p>
        </p:txBody>
      </p:sp>
      <p:graphicFrame>
        <p:nvGraphicFramePr>
          <p:cNvPr id="223317" name="Group 85"/>
          <p:cNvGraphicFramePr>
            <a:graphicFrameLocks noGrp="1"/>
          </p:cNvGraphicFramePr>
          <p:nvPr/>
        </p:nvGraphicFramePr>
        <p:xfrm>
          <a:off x="1481138" y="2128838"/>
          <a:ext cx="6096000" cy="4216406"/>
        </p:xfrm>
        <a:graphic>
          <a:graphicData uri="http://schemas.openxmlformats.org/drawingml/2006/table">
            <a:tbl>
              <a:tblPr/>
              <a:tblGrid>
                <a:gridCol w="2032000"/>
                <a:gridCol w="2032000"/>
                <a:gridCol w="2032000"/>
              </a:tblGrid>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rgbClr val="FF0000"/>
                          </a:solidFill>
                          <a:effectLst/>
                          <a:latin typeface="楷体" panose="02010609060101010101" pitchFamily="49" charset="-122"/>
                          <a:ea typeface="楷体" panose="02010609060101010101" pitchFamily="49" charset="-122"/>
                        </a:rPr>
                        <a:t>八</a:t>
                      </a: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进制地址</a:t>
                      </a:r>
                      <a:endParaRPr kumimoji="1" lang="en-US" altLang="zh-CN"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助  记  符</a:t>
                      </a:r>
                      <a:endPar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说明</a:t>
                      </a:r>
                      <a:endParaRPr kumimoji="1" lang="zh-CN" altLang="en-US" sz="20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MOV R1, R0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LAD 6, R1 </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ADD R1, R2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(R1)+(R2)</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 R2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STO R2, (R3)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(R2)</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 (R3)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JMP 101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1800" b="1" i="0" u="none" strike="noStrike" cap="none" normalizeH="0" baseline="0">
                          <a:ln>
                            <a:noFill/>
                          </a:ln>
                          <a:solidFill>
                            <a:schemeClr val="tx1"/>
                          </a:solidFill>
                          <a:effectLst/>
                          <a:latin typeface="楷体_GB2312" pitchFamily="49" charset="-122"/>
                          <a:ea typeface="楷体_GB2312" pitchFamily="49" charset="-122"/>
                        </a:rPr>
                        <a:t>转跳至</a:t>
                      </a:r>
                      <a:r>
                        <a:rPr kumimoji="1" lang="en-US" altLang="zh-CN" sz="1800" b="1" i="0" u="none" strike="noStrike" cap="none" normalizeH="0" baseline="0">
                          <a:ln>
                            <a:noFill/>
                          </a:ln>
                          <a:solidFill>
                            <a:schemeClr val="tx1"/>
                          </a:solidFill>
                          <a:effectLst/>
                          <a:latin typeface="楷体_GB2312" pitchFamily="49" charset="-122"/>
                          <a:ea typeface="楷体_GB2312" pitchFamily="49" charset="-122"/>
                        </a:rPr>
                        <a:t>101</a:t>
                      </a:r>
                      <a:endParaRPr kumimoji="1" lang="en-US" altLang="zh-CN" sz="1800" b="1" i="0" u="none" strike="noStrike" cap="none" normalizeH="0" baseline="0">
                        <a:ln>
                          <a:noFill/>
                        </a:ln>
                        <a:solidFill>
                          <a:schemeClr val="tx1"/>
                        </a:solidFill>
                        <a:effectLst/>
                        <a:latin typeface="楷体_GB2312" pitchFamily="49" charset="-122"/>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106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AND R1, R3</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(R1)</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(R3)</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sym typeface="Symbol" panose="05050102010706020507" pitchFamily="18" charset="2"/>
                        </a:rPr>
                        <a:t> </a:t>
                      </a: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R3</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rowSpan="5">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rPr>
                        <a:t>数据</a:t>
                      </a:r>
                      <a:endParaRPr kumimoji="1" lang="zh-CN" altLang="en-US" sz="2800" b="1" i="0" u="none" strike="noStrike" cap="none" normalizeH="0" baseline="0" dirty="0">
                        <a:ln>
                          <a:noFill/>
                        </a:ln>
                        <a:solidFill>
                          <a:schemeClr val="tx1"/>
                        </a:solidFill>
                        <a:effectLst/>
                        <a:latin typeface="楷体" panose="02010609060101010101" pitchFamily="49" charset="-122"/>
                        <a:ea typeface="楷体" panose="02010609060101010101" pitchFamily="49" charset="-122"/>
                      </a:endParaRPr>
                    </a:p>
                  </a:txBody>
                  <a:tcPr marL="90000" marR="90000" marT="18001" marB="18001"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vMerge="1">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7</a:t>
                      </a:r>
                      <a:endParaRPr kumimoji="1" lang="zh-CN" altLang="en-US" sz="2000" b="1" i="0" u="none" strike="noStrike" cap="none" normalizeH="0" baseline="0">
                        <a:ln>
                          <a:noFill/>
                        </a:ln>
                        <a:solidFill>
                          <a:schemeClr val="bg2"/>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 66</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solidFill>
                      <a:srgbClr val="F0F49E"/>
                    </a:solidFill>
                  </a:tcPr>
                </a:tc>
                <a:tc vMerge="1">
                  <a:tcPr/>
                </a:tc>
              </a:tr>
              <a:tr h="34131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77</a:t>
                      </a: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vMerge="1">
                  <a:tcPr/>
                </a:tc>
              </a:tr>
              <a:tr h="461963">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lvl1pPr>
                        <a:spcBef>
                          <a:spcPct val="20000"/>
                        </a:spcBef>
                        <a:buClr>
                          <a:srgbClr val="CC3300"/>
                        </a:buClr>
                        <a:buFont typeface="Wingdings 2" pitchFamily="18" charset="2"/>
                        <a:tabLst>
                          <a:tab pos="1524000" algn="l"/>
                        </a:tabLst>
                        <a:defRPr kumimoji="1" sz="28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tabLst>
                          <a:tab pos="1524000" algn="l"/>
                        </a:tabLst>
                        <a:defRPr kumimoji="1" sz="24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tabLst>
                          <a:tab pos="1524000" algn="l"/>
                        </a:tabLst>
                        <a:defRPr kumimoji="1" sz="20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tabLst>
                          <a:tab pos="1524000" algn="l"/>
                        </a:tabLst>
                        <a:defRPr kumimoji="1"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tabLst>
                          <a:tab pos="1524000" algn="l"/>
                        </a:tabLst>
                        <a:defRPr kumimoji="1"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tabLst>
                          <a:tab pos="1524000" algn="l"/>
                        </a:tabLst>
                        <a:defRPr kumimoji="1"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40</a:t>
                      </a:r>
                      <a:r>
                        <a:rPr kumimoji="1"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120</a:t>
                      </a:r>
                      <a:r>
                        <a:rPr kumimoji="1"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rPr>
                        <a:t>）</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90000" marR="90000" marT="18001" marB="18001"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vMerge="1">
                  <a:tcPr/>
                </a:tc>
              </a:tr>
            </a:tbl>
          </a:graphicData>
        </a:graphic>
      </p:graphicFrame>
      <p:sp>
        <p:nvSpPr>
          <p:cNvPr id="38966" name="Line 86"/>
          <p:cNvSpPr>
            <a:spLocks noChangeShapeType="1"/>
          </p:cNvSpPr>
          <p:nvPr/>
        </p:nvSpPr>
        <p:spPr bwMode="auto">
          <a:xfrm>
            <a:off x="1481138" y="4511675"/>
            <a:ext cx="6118225" cy="1588"/>
          </a:xfrm>
          <a:prstGeom prst="line">
            <a:avLst/>
          </a:prstGeom>
          <a:noFill/>
          <a:ln w="31750">
            <a:solidFill>
              <a:srgbClr val="0000FF"/>
            </a:solidFill>
            <a:miter lim="800000"/>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eaLnBrk="1" hangingPunct="1">
              <a:defRPr/>
            </a:pPr>
            <a:r>
              <a:rPr lang="en-US" altLang="zh-CN"/>
              <a:t>MOV</a:t>
            </a:r>
            <a:r>
              <a:rPr lang="zh-CN" altLang="en-US"/>
              <a:t>指令的指令周期</a:t>
            </a:r>
            <a:endParaRPr lang="zh-CN" altLang="en-US"/>
          </a:p>
        </p:txBody>
      </p:sp>
      <p:sp>
        <p:nvSpPr>
          <p:cNvPr id="40962" name="Rectangle 3"/>
          <p:cNvSpPr>
            <a:spLocks noGrp="1" noChangeArrowheads="1"/>
          </p:cNvSpPr>
          <p:nvPr>
            <p:ph idx="1"/>
          </p:nvPr>
        </p:nvSpPr>
        <p:spPr>
          <a:xfrm>
            <a:off x="5123656" y="1066800"/>
            <a:ext cx="3889375" cy="5197475"/>
          </a:xfrm>
        </p:spPr>
        <p:txBody>
          <a:bodyPr/>
          <a:lstStyle/>
          <a:p>
            <a:pPr eaLnBrk="1" hangingPunct="1"/>
            <a:r>
              <a:rPr kumimoji="0" lang="en-US" altLang="zh-CN" sz="2400" dirty="0"/>
              <a:t>MOV</a:t>
            </a:r>
            <a:r>
              <a:rPr kumimoji="0" lang="zh-CN" altLang="en-US" sz="2400" dirty="0"/>
              <a:t>是一条</a:t>
            </a:r>
            <a:r>
              <a:rPr kumimoji="0" lang="en-US" altLang="zh-CN" sz="2400" dirty="0"/>
              <a:t>RR</a:t>
            </a:r>
            <a:r>
              <a:rPr kumimoji="0" lang="zh-CN" altLang="en-US" sz="2400" dirty="0"/>
              <a:t>型指令，需要两个</a:t>
            </a:r>
            <a:r>
              <a:rPr kumimoji="0" lang="en-US" altLang="zh-CN" sz="2400" dirty="0"/>
              <a:t>CPU</a:t>
            </a:r>
            <a:r>
              <a:rPr kumimoji="0" lang="zh-CN" altLang="en-US" sz="2400" dirty="0"/>
              <a:t>周期</a:t>
            </a:r>
            <a:endParaRPr kumimoji="0" lang="zh-CN" altLang="en-US" sz="2400" dirty="0"/>
          </a:p>
          <a:p>
            <a:pPr eaLnBrk="1" hangingPunct="1"/>
            <a:r>
              <a:rPr kumimoji="0" lang="zh-CN" altLang="en-US" sz="2400" dirty="0"/>
              <a:t>取指阶段</a:t>
            </a:r>
            <a:endParaRPr kumimoji="0" lang="zh-CN" altLang="en-US" sz="2400" dirty="0"/>
          </a:p>
          <a:p>
            <a:pPr lvl="1" eaLnBrk="1" hangingPunct="1"/>
            <a:r>
              <a:rPr kumimoji="0" lang="zh-CN" altLang="en-US" sz="2400" dirty="0"/>
              <a:t>从内存取出指令</a:t>
            </a:r>
            <a:endParaRPr kumimoji="0" lang="zh-CN" altLang="en-US" sz="2400" dirty="0"/>
          </a:p>
          <a:p>
            <a:pPr lvl="1" eaLnBrk="1" hangingPunct="1"/>
            <a:r>
              <a:rPr kumimoji="0" lang="en-US" altLang="zh-CN" sz="2400" dirty="0"/>
              <a:t>PC+1</a:t>
            </a:r>
            <a:r>
              <a:rPr kumimoji="0" lang="zh-CN" altLang="en-US" sz="2400" dirty="0"/>
              <a:t>，为取下条指令做好准备</a:t>
            </a:r>
            <a:endParaRPr kumimoji="0" lang="zh-CN" altLang="en-US" sz="2400" dirty="0"/>
          </a:p>
          <a:p>
            <a:pPr lvl="1" eaLnBrk="1" hangingPunct="1"/>
            <a:r>
              <a:rPr kumimoji="0" lang="zh-CN" altLang="en-US" sz="2400" dirty="0"/>
              <a:t>指令译码或测试</a:t>
            </a:r>
            <a:endParaRPr kumimoji="0" lang="zh-CN" altLang="en-US" sz="2400" dirty="0"/>
          </a:p>
          <a:p>
            <a:pPr eaLnBrk="1" hangingPunct="1"/>
            <a:r>
              <a:rPr kumimoji="0" lang="zh-CN" altLang="en-US" sz="2400" dirty="0"/>
              <a:t>执行指令阶段</a:t>
            </a:r>
            <a:endParaRPr kumimoji="0" lang="zh-CN" altLang="en-US" sz="2400" dirty="0"/>
          </a:p>
          <a:p>
            <a:pPr lvl="1" eaLnBrk="1" hangingPunct="1"/>
            <a:r>
              <a:rPr kumimoji="0" lang="zh-CN" altLang="en-US" sz="2400" dirty="0"/>
              <a:t>完成指令所要求的操作</a:t>
            </a:r>
            <a:endParaRPr kumimoji="0" lang="zh-CN" altLang="en-US" sz="2400" dirty="0"/>
          </a:p>
          <a:p>
            <a:pPr lvl="1" eaLnBrk="1" hangingPunct="1"/>
            <a:r>
              <a:rPr kumimoji="0" lang="zh-CN" altLang="en-US" sz="2400" dirty="0"/>
              <a:t>即完成通用寄存器</a:t>
            </a:r>
            <a:r>
              <a:rPr kumimoji="0" lang="en-US" altLang="zh-CN" sz="2400" dirty="0"/>
              <a:t>R0</a:t>
            </a:r>
            <a:r>
              <a:rPr kumimoji="0" lang="zh-CN" altLang="en-US" sz="2400" dirty="0"/>
              <a:t>、</a:t>
            </a:r>
            <a:r>
              <a:rPr kumimoji="0" lang="en-US" altLang="zh-CN" sz="2400" dirty="0"/>
              <a:t>R1</a:t>
            </a:r>
            <a:r>
              <a:rPr kumimoji="0" lang="zh-CN" altLang="en-US" sz="2400" dirty="0"/>
              <a:t>之间的数据传送操作</a:t>
            </a:r>
            <a:endParaRPr lang="zh-CN" altLang="en-US" sz="2400" dirty="0"/>
          </a:p>
        </p:txBody>
      </p:sp>
      <p:sp>
        <p:nvSpPr>
          <p:cNvPr id="40964" name="Line 4"/>
          <p:cNvSpPr>
            <a:spLocks noChangeShapeType="1"/>
          </p:cNvSpPr>
          <p:nvPr/>
        </p:nvSpPr>
        <p:spPr bwMode="auto">
          <a:xfrm>
            <a:off x="779463" y="1747838"/>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0965" name="Line 7"/>
          <p:cNvSpPr>
            <a:spLocks noChangeShapeType="1"/>
          </p:cNvSpPr>
          <p:nvPr/>
        </p:nvSpPr>
        <p:spPr bwMode="auto">
          <a:xfrm>
            <a:off x="765175" y="1890713"/>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0966" name="Line 8"/>
          <p:cNvSpPr>
            <a:spLocks noChangeShapeType="1"/>
          </p:cNvSpPr>
          <p:nvPr/>
        </p:nvSpPr>
        <p:spPr bwMode="auto">
          <a:xfrm>
            <a:off x="2208213" y="1890713"/>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0967" name="Text Box 10"/>
          <p:cNvSpPr txBox="1">
            <a:spLocks noChangeArrowheads="1"/>
          </p:cNvSpPr>
          <p:nvPr/>
        </p:nvSpPr>
        <p:spPr bwMode="auto">
          <a:xfrm>
            <a:off x="1050925" y="1343025"/>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_GB2312" pitchFamily="49" charset="-122"/>
              </a:rPr>
              <a:t>一个</a:t>
            </a:r>
            <a:endParaRPr kumimoji="0" lang="zh-CN" altLang="en-US" sz="2000">
              <a:latin typeface="楷体_GB2312" pitchFamily="49" charset="-122"/>
            </a:endParaRPr>
          </a:p>
          <a:p>
            <a:pPr algn="ctr" eaLnBrk="1" hangingPunct="1">
              <a:lnSpc>
                <a:spcPct val="80000"/>
              </a:lnSpc>
              <a:spcBef>
                <a:spcPct val="0"/>
              </a:spcBef>
              <a:buClrTx/>
              <a:buFontTx/>
              <a:buNone/>
            </a:pPr>
            <a:r>
              <a:rPr kumimoji="0" lang="en-US" altLang="zh-CN" sz="2000">
                <a:latin typeface="楷体_GB2312" pitchFamily="49" charset="-122"/>
              </a:rPr>
              <a:t>CPU</a:t>
            </a:r>
            <a:r>
              <a:rPr kumimoji="0" lang="zh-CN" altLang="en-US" sz="2000">
                <a:latin typeface="楷体_GB2312" pitchFamily="49" charset="-122"/>
              </a:rPr>
              <a:t>周期</a:t>
            </a:r>
            <a:endParaRPr kumimoji="0" lang="zh-CN" altLang="en-US" sz="2000">
              <a:latin typeface="楷体_GB2312" pitchFamily="49" charset="-122"/>
            </a:endParaRPr>
          </a:p>
        </p:txBody>
      </p:sp>
      <p:sp>
        <p:nvSpPr>
          <p:cNvPr id="40968" name="Text Box 12"/>
          <p:cNvSpPr txBox="1">
            <a:spLocks noChangeArrowheads="1"/>
          </p:cNvSpPr>
          <p:nvPr/>
        </p:nvSpPr>
        <p:spPr bwMode="auto">
          <a:xfrm>
            <a:off x="2493963" y="1343025"/>
            <a:ext cx="8969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_GB2312" pitchFamily="49" charset="-122"/>
              </a:rPr>
              <a:t>一个</a:t>
            </a:r>
            <a:endParaRPr kumimoji="0" lang="zh-CN" altLang="en-US" sz="2000">
              <a:latin typeface="楷体_GB2312" pitchFamily="49" charset="-122"/>
            </a:endParaRPr>
          </a:p>
          <a:p>
            <a:pPr algn="ctr" eaLnBrk="1" hangingPunct="1">
              <a:lnSpc>
                <a:spcPct val="80000"/>
              </a:lnSpc>
              <a:spcBef>
                <a:spcPct val="0"/>
              </a:spcBef>
              <a:buClrTx/>
              <a:buFontTx/>
              <a:buNone/>
            </a:pPr>
            <a:r>
              <a:rPr kumimoji="0" lang="en-US" altLang="zh-CN" sz="2000">
                <a:latin typeface="楷体_GB2312" pitchFamily="49" charset="-122"/>
              </a:rPr>
              <a:t>CPU</a:t>
            </a:r>
            <a:r>
              <a:rPr kumimoji="0" lang="zh-CN" altLang="en-US" sz="2000">
                <a:latin typeface="楷体_GB2312" pitchFamily="49" charset="-122"/>
              </a:rPr>
              <a:t>周期</a:t>
            </a:r>
            <a:endParaRPr kumimoji="0" lang="zh-CN" altLang="en-US" sz="2000">
              <a:latin typeface="楷体_GB2312" pitchFamily="49" charset="-122"/>
            </a:endParaRPr>
          </a:p>
        </p:txBody>
      </p:sp>
      <p:sp>
        <p:nvSpPr>
          <p:cNvPr id="40969" name="Oval 13"/>
          <p:cNvSpPr>
            <a:spLocks noChangeArrowheads="1"/>
          </p:cNvSpPr>
          <p:nvPr/>
        </p:nvSpPr>
        <p:spPr bwMode="auto">
          <a:xfrm>
            <a:off x="922338" y="2190750"/>
            <a:ext cx="1143000" cy="1143000"/>
          </a:xfrm>
          <a:prstGeom prst="ellipse">
            <a:avLst/>
          </a:prstGeom>
          <a:solidFill>
            <a:srgbClr val="800080"/>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取指令</a:t>
            </a:r>
            <a:endParaRPr kumimoji="0" lang="zh-CN" altLang="en-US" sz="2400" dirty="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400" dirty="0">
                <a:solidFill>
                  <a:schemeClr val="bg1"/>
                </a:solidFill>
                <a:ea typeface="楷体" panose="02010609060101010101" pitchFamily="49" charset="-122"/>
                <a:cs typeface="Times New Roman" panose="02020603050405020304" pitchFamily="18" charset="0"/>
              </a:rPr>
              <a:t>PC+1</a:t>
            </a:r>
            <a:endParaRPr kumimoji="0" lang="en-US" altLang="zh-CN" sz="2400" dirty="0">
              <a:solidFill>
                <a:schemeClr val="bg1"/>
              </a:solidFill>
              <a:ea typeface="楷体" panose="02010609060101010101" pitchFamily="49" charset="-122"/>
              <a:cs typeface="Times New Roman" panose="02020603050405020304" pitchFamily="18" charset="0"/>
            </a:endParaRPr>
          </a:p>
        </p:txBody>
      </p:sp>
      <p:sp>
        <p:nvSpPr>
          <p:cNvPr id="40970" name="AutoShape 14"/>
          <p:cNvSpPr>
            <a:spLocks noChangeArrowheads="1"/>
          </p:cNvSpPr>
          <p:nvPr/>
        </p:nvSpPr>
        <p:spPr bwMode="auto">
          <a:xfrm>
            <a:off x="93663" y="2390775"/>
            <a:ext cx="814387" cy="600075"/>
          </a:xfrm>
          <a:prstGeom prst="rightArrow">
            <a:avLst>
              <a:gd name="adj1" fmla="val 59259"/>
              <a:gd name="adj2" fmla="val 38622"/>
            </a:avLst>
          </a:prstGeom>
          <a:solidFill>
            <a:srgbClr val="6633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开始</a:t>
            </a:r>
            <a:endParaRPr kumimoji="0" lang="zh-CN" altLang="en-US" sz="2000">
              <a:solidFill>
                <a:schemeClr val="bg1"/>
              </a:solidFill>
              <a:latin typeface="楷体_GB2312" pitchFamily="49" charset="-122"/>
            </a:endParaRPr>
          </a:p>
        </p:txBody>
      </p:sp>
      <p:sp>
        <p:nvSpPr>
          <p:cNvPr id="40971" name="Oval 15"/>
          <p:cNvSpPr>
            <a:spLocks noChangeArrowheads="1"/>
          </p:cNvSpPr>
          <p:nvPr/>
        </p:nvSpPr>
        <p:spPr bwMode="auto">
          <a:xfrm>
            <a:off x="922338" y="3819525"/>
            <a:ext cx="1143000" cy="1143000"/>
          </a:xfrm>
          <a:prstGeom prst="ellipse">
            <a:avLst/>
          </a:prstGeom>
          <a:solidFill>
            <a:srgbClr val="800080"/>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对指令</a:t>
            </a:r>
            <a:endParaRPr kumimoji="0" lang="zh-CN" altLang="en-US" sz="2400" dirty="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译码</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40972" name="Line 16"/>
          <p:cNvSpPr>
            <a:spLocks noChangeShapeType="1"/>
          </p:cNvSpPr>
          <p:nvPr/>
        </p:nvSpPr>
        <p:spPr bwMode="auto">
          <a:xfrm>
            <a:off x="2222500" y="1747838"/>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0973" name="Line 17"/>
          <p:cNvSpPr>
            <a:spLocks noChangeShapeType="1"/>
          </p:cNvSpPr>
          <p:nvPr/>
        </p:nvSpPr>
        <p:spPr bwMode="auto">
          <a:xfrm>
            <a:off x="3665538" y="1747838"/>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0974" name="AutoShape 19"/>
          <p:cNvSpPr>
            <a:spLocks noChangeArrowheads="1"/>
          </p:cNvSpPr>
          <p:nvPr/>
        </p:nvSpPr>
        <p:spPr bwMode="auto">
          <a:xfrm>
            <a:off x="1236663" y="3405188"/>
            <a:ext cx="485775" cy="357187"/>
          </a:xfrm>
          <a:prstGeom prst="downArrow">
            <a:avLst>
              <a:gd name="adj1" fmla="val 50000"/>
              <a:gd name="adj2" fmla="val 25000"/>
            </a:avLst>
          </a:prstGeom>
          <a:solidFill>
            <a:srgbClr val="6633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0975" name="Oval 20"/>
          <p:cNvSpPr>
            <a:spLocks noChangeArrowheads="1"/>
          </p:cNvSpPr>
          <p:nvPr/>
        </p:nvSpPr>
        <p:spPr bwMode="auto">
          <a:xfrm>
            <a:off x="2422525" y="2733675"/>
            <a:ext cx="1143000" cy="1143000"/>
          </a:xfrm>
          <a:prstGeom prst="ellipse">
            <a:avLst/>
          </a:prstGeom>
          <a:solidFill>
            <a:srgbClr val="800080"/>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执行</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0976" name="AutoShape 21"/>
          <p:cNvSpPr>
            <a:spLocks noChangeArrowheads="1"/>
          </p:cNvSpPr>
          <p:nvPr/>
        </p:nvSpPr>
        <p:spPr bwMode="auto">
          <a:xfrm rot="-2312369">
            <a:off x="1965325" y="3662363"/>
            <a:ext cx="557213" cy="371475"/>
          </a:xfrm>
          <a:prstGeom prst="rightArrow">
            <a:avLst>
              <a:gd name="adj1" fmla="val 50000"/>
              <a:gd name="adj2" fmla="val 37500"/>
            </a:avLst>
          </a:prstGeom>
          <a:solidFill>
            <a:srgbClr val="6633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0977" name="AutoShape 22"/>
          <p:cNvSpPr>
            <a:spLocks noChangeArrowheads="1"/>
          </p:cNvSpPr>
          <p:nvPr/>
        </p:nvSpPr>
        <p:spPr bwMode="auto">
          <a:xfrm rot="-2312369">
            <a:off x="3465513" y="2562225"/>
            <a:ext cx="557212" cy="371475"/>
          </a:xfrm>
          <a:prstGeom prst="rightArrow">
            <a:avLst>
              <a:gd name="adj1" fmla="val 50000"/>
              <a:gd name="adj2" fmla="val 37500"/>
            </a:avLst>
          </a:prstGeom>
          <a:solidFill>
            <a:srgbClr val="6633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0978" name="Oval 23"/>
          <p:cNvSpPr>
            <a:spLocks noChangeArrowheads="1"/>
          </p:cNvSpPr>
          <p:nvPr/>
        </p:nvSpPr>
        <p:spPr bwMode="auto">
          <a:xfrm>
            <a:off x="3922713" y="1690688"/>
            <a:ext cx="1143000" cy="1143000"/>
          </a:xfrm>
          <a:prstGeom prst="ellipse">
            <a:avLst/>
          </a:prstGeom>
          <a:solidFill>
            <a:srgbClr val="800080"/>
          </a:solidFill>
          <a:ln w="25400">
            <a:noFill/>
            <a:prstDash val="dash"/>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下条指令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0979" name="AutoShape 25"/>
          <p:cNvSpPr/>
          <p:nvPr/>
        </p:nvSpPr>
        <p:spPr bwMode="auto">
          <a:xfrm rot="5400000" flipV="1">
            <a:off x="1400969" y="4541044"/>
            <a:ext cx="185738" cy="1428750"/>
          </a:xfrm>
          <a:prstGeom prst="rightBrace">
            <a:avLst>
              <a:gd name="adj1" fmla="val 64102"/>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0980" name="AutoShape 26"/>
          <p:cNvSpPr/>
          <p:nvPr/>
        </p:nvSpPr>
        <p:spPr bwMode="auto">
          <a:xfrm rot="5400000" flipV="1">
            <a:off x="2858294" y="4541044"/>
            <a:ext cx="185738" cy="1428750"/>
          </a:xfrm>
          <a:prstGeom prst="rightBrace">
            <a:avLst>
              <a:gd name="adj1" fmla="val 64102"/>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0981" name="Text Box 27"/>
          <p:cNvSpPr txBox="1">
            <a:spLocks noChangeArrowheads="1"/>
          </p:cNvSpPr>
          <p:nvPr/>
        </p:nvSpPr>
        <p:spPr bwMode="auto">
          <a:xfrm>
            <a:off x="741363" y="5283200"/>
            <a:ext cx="1462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_GB2312" pitchFamily="49" charset="-122"/>
              </a:rPr>
              <a:t>取指令阶段</a:t>
            </a:r>
            <a:endParaRPr kumimoji="0" lang="zh-CN" altLang="en-US" sz="2000">
              <a:latin typeface="楷体_GB2312" pitchFamily="49" charset="-122"/>
            </a:endParaRPr>
          </a:p>
        </p:txBody>
      </p:sp>
      <p:sp>
        <p:nvSpPr>
          <p:cNvPr id="40982" name="Text Box 28"/>
          <p:cNvSpPr txBox="1">
            <a:spLocks noChangeArrowheads="1"/>
          </p:cNvSpPr>
          <p:nvPr/>
        </p:nvSpPr>
        <p:spPr bwMode="auto">
          <a:xfrm>
            <a:off x="2082800" y="5283200"/>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_GB2312" pitchFamily="49" charset="-122"/>
              </a:rPr>
              <a:t>执行指令阶段</a:t>
            </a:r>
            <a:endParaRPr kumimoji="0" lang="zh-CN" altLang="en-US" sz="2000">
              <a:latin typeface="楷体_GB2312" pitchFamily="49" charset="-122"/>
            </a:endParaRPr>
          </a:p>
        </p:txBody>
      </p:sp>
    </p:spTree>
  </p:cSld>
  <p:clrMapOvr>
    <a:masterClrMapping/>
  </p:clrMapOvr>
  <p:transition spd="med">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pPr eaLnBrk="1" hangingPunct="1">
              <a:defRPr/>
            </a:pPr>
            <a:r>
              <a:rPr lang="en-US" altLang="zh-CN" sz="4800">
                <a:latin typeface="黑体" panose="02010609060101010101" pitchFamily="49" charset="-122"/>
              </a:rPr>
              <a:t>MOV</a:t>
            </a:r>
            <a:r>
              <a:rPr lang="zh-CN" altLang="en-US" sz="4800">
                <a:latin typeface="黑体" panose="02010609060101010101" pitchFamily="49" charset="-122"/>
              </a:rPr>
              <a:t>指令取指周期</a:t>
            </a:r>
            <a:endParaRPr lang="zh-CN" altLang="en-US" sz="4800">
              <a:latin typeface="黑体" panose="02010609060101010101" pitchFamily="49" charset="-122"/>
            </a:endParaRPr>
          </a:p>
        </p:txBody>
      </p:sp>
      <p:sp>
        <p:nvSpPr>
          <p:cNvPr id="41986" name="Rectangle 3"/>
          <p:cNvSpPr>
            <a:spLocks noGrp="1" noChangeArrowheads="1"/>
          </p:cNvSpPr>
          <p:nvPr>
            <p:ph idx="1"/>
          </p:nvPr>
        </p:nvSpPr>
        <p:spPr/>
        <p:txBody>
          <a:bodyPr/>
          <a:lstStyle/>
          <a:p>
            <a:pPr eaLnBrk="1" hangingPunct="1"/>
            <a:endParaRPr lang="zh-CN" altLang="en-US"/>
          </a:p>
        </p:txBody>
      </p:sp>
      <p:pic>
        <p:nvPicPr>
          <p:cNvPr id="41988" name="Picture 4" descr="222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2500" y="928688"/>
            <a:ext cx="7219950"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pPr eaLnBrk="1" hangingPunct="1"/>
            <a:r>
              <a:rPr lang="en-US" altLang="zh-CN" sz="4800">
                <a:latin typeface="黑体" panose="02010609060101010101" pitchFamily="49" charset="-122"/>
              </a:rPr>
              <a:t>MOV</a:t>
            </a:r>
            <a:r>
              <a:rPr lang="zh-CN" altLang="en-US" sz="4800">
                <a:latin typeface="黑体" panose="02010609060101010101" pitchFamily="49" charset="-122"/>
              </a:rPr>
              <a:t>指令执行周期</a:t>
            </a:r>
            <a:endParaRPr lang="zh-CN" altLang="en-US" sz="4800">
              <a:latin typeface="黑体" panose="02010609060101010101" pitchFamily="49" charset="-122"/>
            </a:endParaRPr>
          </a:p>
        </p:txBody>
      </p:sp>
      <p:sp>
        <p:nvSpPr>
          <p:cNvPr id="43010" name="Rectangle 3"/>
          <p:cNvSpPr>
            <a:spLocks noGrp="1" noChangeArrowheads="1"/>
          </p:cNvSpPr>
          <p:nvPr>
            <p:ph idx="1"/>
          </p:nvPr>
        </p:nvSpPr>
        <p:spPr/>
        <p:txBody>
          <a:bodyPr/>
          <a:lstStyle/>
          <a:p>
            <a:pPr eaLnBrk="1" hangingPunct="1"/>
            <a:endParaRPr lang="zh-CN" altLang="en-US"/>
          </a:p>
        </p:txBody>
      </p:sp>
      <p:pic>
        <p:nvPicPr>
          <p:cNvPr id="43012" name="Picture 4" descr="33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700" y="908050"/>
            <a:ext cx="7246938" cy="546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pPr eaLnBrk="1" hangingPunct="1">
              <a:defRPr/>
            </a:pPr>
            <a:r>
              <a:rPr lang="en-US" altLang="zh-CN" dirty="0"/>
              <a:t>LAD</a:t>
            </a:r>
            <a:r>
              <a:rPr lang="zh-CN" altLang="en-US" dirty="0"/>
              <a:t>指令的指令周期（</a:t>
            </a:r>
            <a:r>
              <a:rPr lang="en-US" altLang="zh-CN" dirty="0"/>
              <a:t>1</a:t>
            </a:r>
            <a:r>
              <a:rPr lang="zh-CN" altLang="en-US" dirty="0"/>
              <a:t>）</a:t>
            </a:r>
            <a:endParaRPr lang="zh-CN" altLang="en-US" dirty="0"/>
          </a:p>
        </p:txBody>
      </p:sp>
      <p:sp>
        <p:nvSpPr>
          <p:cNvPr id="44034" name="Rectangle 3"/>
          <p:cNvSpPr>
            <a:spLocks noGrp="1" noChangeArrowheads="1"/>
          </p:cNvSpPr>
          <p:nvPr>
            <p:ph idx="1"/>
          </p:nvPr>
        </p:nvSpPr>
        <p:spPr>
          <a:xfrm>
            <a:off x="220663" y="944563"/>
            <a:ext cx="8674100" cy="5346700"/>
          </a:xfrm>
        </p:spPr>
        <p:txBody>
          <a:bodyPr/>
          <a:lstStyle/>
          <a:p>
            <a:pPr eaLnBrk="1" hangingPunct="1"/>
            <a:r>
              <a:rPr kumimoji="0" lang="en-US" altLang="zh-CN"/>
              <a:t>LAD</a:t>
            </a:r>
            <a:r>
              <a:rPr kumimoji="0" lang="zh-CN" altLang="en-US"/>
              <a:t>指令是一条</a:t>
            </a:r>
            <a:r>
              <a:rPr kumimoji="0" lang="en-US" altLang="zh-CN"/>
              <a:t>RS</a:t>
            </a:r>
            <a:r>
              <a:rPr kumimoji="0" lang="zh-CN" altLang="en-US"/>
              <a:t>型指令</a:t>
            </a:r>
            <a:endParaRPr kumimoji="0" lang="zh-CN" altLang="en-US"/>
          </a:p>
          <a:p>
            <a:pPr eaLnBrk="1" hangingPunct="1"/>
            <a:r>
              <a:rPr kumimoji="0" lang="zh-CN" altLang="en-US"/>
              <a:t>由三个</a:t>
            </a:r>
            <a:r>
              <a:rPr kumimoji="0" lang="en-US" altLang="zh-CN"/>
              <a:t>CPU</a:t>
            </a:r>
            <a:r>
              <a:rPr kumimoji="0" lang="zh-CN" altLang="en-US"/>
              <a:t>周期组成</a:t>
            </a:r>
            <a:endParaRPr kumimoji="0" lang="zh-CN" altLang="en-US"/>
          </a:p>
        </p:txBody>
      </p:sp>
      <p:sp>
        <p:nvSpPr>
          <p:cNvPr id="44036" name="Line 5"/>
          <p:cNvSpPr>
            <a:spLocks noChangeShapeType="1"/>
          </p:cNvSpPr>
          <p:nvPr/>
        </p:nvSpPr>
        <p:spPr bwMode="auto">
          <a:xfrm>
            <a:off x="2119313" y="2457450"/>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4037" name="Line 6"/>
          <p:cNvSpPr>
            <a:spLocks noChangeShapeType="1"/>
          </p:cNvSpPr>
          <p:nvPr/>
        </p:nvSpPr>
        <p:spPr bwMode="auto">
          <a:xfrm>
            <a:off x="2105025" y="2600325"/>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4038" name="Line 7"/>
          <p:cNvSpPr>
            <a:spLocks noChangeShapeType="1"/>
          </p:cNvSpPr>
          <p:nvPr/>
        </p:nvSpPr>
        <p:spPr bwMode="auto">
          <a:xfrm>
            <a:off x="3548063" y="2600325"/>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4039" name="Text Box 8"/>
          <p:cNvSpPr txBox="1">
            <a:spLocks noChangeArrowheads="1"/>
          </p:cNvSpPr>
          <p:nvPr/>
        </p:nvSpPr>
        <p:spPr bwMode="auto">
          <a:xfrm>
            <a:off x="2390775" y="2052638"/>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dirty="0">
                <a:latin typeface="楷体" panose="02010609060101010101" pitchFamily="49" charset="-122"/>
                <a:ea typeface="楷体" panose="02010609060101010101" pitchFamily="49" charset="-122"/>
              </a:rPr>
              <a:t>一个</a:t>
            </a:r>
            <a:endParaRPr kumimoji="0" lang="zh-CN" altLang="en-US" sz="2000" dirty="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dirty="0">
                <a:latin typeface="楷体" panose="02010609060101010101" pitchFamily="49" charset="-122"/>
                <a:ea typeface="楷体" panose="02010609060101010101" pitchFamily="49" charset="-122"/>
              </a:rPr>
              <a:t>CPU</a:t>
            </a:r>
            <a:r>
              <a:rPr kumimoji="0" lang="zh-CN" altLang="en-US" sz="2000" dirty="0">
                <a:latin typeface="楷体" panose="02010609060101010101" pitchFamily="49" charset="-122"/>
                <a:ea typeface="楷体" panose="02010609060101010101" pitchFamily="49" charset="-122"/>
              </a:rPr>
              <a:t>周期</a:t>
            </a:r>
            <a:endParaRPr kumimoji="0" lang="zh-CN" altLang="en-US" sz="2000" dirty="0">
              <a:latin typeface="楷体" panose="02010609060101010101" pitchFamily="49" charset="-122"/>
              <a:ea typeface="楷体" panose="02010609060101010101" pitchFamily="49" charset="-122"/>
            </a:endParaRPr>
          </a:p>
        </p:txBody>
      </p:sp>
      <p:sp>
        <p:nvSpPr>
          <p:cNvPr id="44040" name="Text Box 9"/>
          <p:cNvSpPr txBox="1">
            <a:spLocks noChangeArrowheads="1"/>
          </p:cNvSpPr>
          <p:nvPr/>
        </p:nvSpPr>
        <p:spPr bwMode="auto">
          <a:xfrm>
            <a:off x="3829433" y="2052638"/>
            <a:ext cx="9056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44041" name="Oval 10"/>
          <p:cNvSpPr>
            <a:spLocks noChangeArrowheads="1"/>
          </p:cNvSpPr>
          <p:nvPr/>
        </p:nvSpPr>
        <p:spPr bwMode="auto">
          <a:xfrm>
            <a:off x="2262188" y="290036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4042" name="AutoShape 11"/>
          <p:cNvSpPr>
            <a:spLocks noChangeArrowheads="1"/>
          </p:cNvSpPr>
          <p:nvPr/>
        </p:nvSpPr>
        <p:spPr bwMode="auto">
          <a:xfrm>
            <a:off x="1433513" y="3100388"/>
            <a:ext cx="814387" cy="600075"/>
          </a:xfrm>
          <a:prstGeom prst="rightArrow">
            <a:avLst>
              <a:gd name="adj1" fmla="val 59259"/>
              <a:gd name="adj2" fmla="val 38622"/>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开始</a:t>
            </a:r>
            <a:endParaRPr kumimoji="0" lang="zh-CN" altLang="en-US" sz="2000">
              <a:solidFill>
                <a:schemeClr val="bg1"/>
              </a:solidFill>
              <a:latin typeface="楷体_GB2312" pitchFamily="49" charset="-122"/>
            </a:endParaRPr>
          </a:p>
        </p:txBody>
      </p:sp>
      <p:sp>
        <p:nvSpPr>
          <p:cNvPr id="44043" name="Oval 12"/>
          <p:cNvSpPr>
            <a:spLocks noChangeArrowheads="1"/>
          </p:cNvSpPr>
          <p:nvPr/>
        </p:nvSpPr>
        <p:spPr bwMode="auto">
          <a:xfrm>
            <a:off x="2262188" y="4529138"/>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对指令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译码</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4044" name="Line 13"/>
          <p:cNvSpPr>
            <a:spLocks noChangeShapeType="1"/>
          </p:cNvSpPr>
          <p:nvPr/>
        </p:nvSpPr>
        <p:spPr bwMode="auto">
          <a:xfrm>
            <a:off x="3562350" y="2457450"/>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4045" name="Line 14"/>
          <p:cNvSpPr>
            <a:spLocks noChangeShapeType="1"/>
          </p:cNvSpPr>
          <p:nvPr/>
        </p:nvSpPr>
        <p:spPr bwMode="auto">
          <a:xfrm>
            <a:off x="5005388" y="2457450"/>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4046" name="AutoShape 15"/>
          <p:cNvSpPr>
            <a:spLocks noChangeArrowheads="1"/>
          </p:cNvSpPr>
          <p:nvPr/>
        </p:nvSpPr>
        <p:spPr bwMode="auto">
          <a:xfrm>
            <a:off x="2576513" y="4114800"/>
            <a:ext cx="485775" cy="357188"/>
          </a:xfrm>
          <a:prstGeom prst="downArrow">
            <a:avLst>
              <a:gd name="adj1" fmla="val 50000"/>
              <a:gd name="adj2" fmla="val 25000"/>
            </a:avLst>
          </a:prstGeom>
          <a:solidFill>
            <a:srgbClr val="663300"/>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047" name="Oval 16"/>
          <p:cNvSpPr>
            <a:spLocks noChangeArrowheads="1"/>
          </p:cNvSpPr>
          <p:nvPr/>
        </p:nvSpPr>
        <p:spPr bwMode="auto">
          <a:xfrm>
            <a:off x="3719513" y="4529138"/>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送操作</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数地址</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4048" name="AutoShape 17"/>
          <p:cNvSpPr>
            <a:spLocks noChangeArrowheads="1"/>
          </p:cNvSpPr>
          <p:nvPr/>
        </p:nvSpPr>
        <p:spPr bwMode="auto">
          <a:xfrm>
            <a:off x="3348038" y="4929188"/>
            <a:ext cx="442912" cy="371475"/>
          </a:xfrm>
          <a:prstGeom prst="rightArrow">
            <a:avLst>
              <a:gd name="adj1" fmla="val 50000"/>
              <a:gd name="adj2" fmla="val 29808"/>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049" name="Oval 19"/>
          <p:cNvSpPr>
            <a:spLocks noChangeArrowheads="1"/>
          </p:cNvSpPr>
          <p:nvPr/>
        </p:nvSpPr>
        <p:spPr bwMode="auto">
          <a:xfrm>
            <a:off x="6848475" y="2900363"/>
            <a:ext cx="1143000" cy="1143000"/>
          </a:xfrm>
          <a:prstGeom prst="ellipse">
            <a:avLst/>
          </a:prstGeom>
          <a:solidFill>
            <a:srgbClr val="660066"/>
          </a:solidFill>
          <a:ln w="25400">
            <a:noFill/>
            <a:prstDash val="dash"/>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下条指令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4050" name="AutoShape 20"/>
          <p:cNvSpPr/>
          <p:nvPr/>
        </p:nvSpPr>
        <p:spPr bwMode="auto">
          <a:xfrm rot="5400000" flipV="1">
            <a:off x="2740819" y="5250657"/>
            <a:ext cx="185737" cy="1428750"/>
          </a:xfrm>
          <a:prstGeom prst="rightBrace">
            <a:avLst>
              <a:gd name="adj1" fmla="val 64103"/>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051" name="AutoShape 21"/>
          <p:cNvSpPr/>
          <p:nvPr/>
        </p:nvSpPr>
        <p:spPr bwMode="auto">
          <a:xfrm rot="5400000" flipV="1">
            <a:off x="4933951" y="4529137"/>
            <a:ext cx="157162" cy="2900363"/>
          </a:xfrm>
          <a:prstGeom prst="rightBrace">
            <a:avLst>
              <a:gd name="adj1" fmla="val 153788"/>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052" name="Text Box 22"/>
          <p:cNvSpPr txBox="1">
            <a:spLocks noChangeArrowheads="1"/>
          </p:cNvSpPr>
          <p:nvPr/>
        </p:nvSpPr>
        <p:spPr bwMode="auto">
          <a:xfrm>
            <a:off x="2081213" y="5992813"/>
            <a:ext cx="1462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取指令阶段</a:t>
            </a:r>
            <a:endParaRPr kumimoji="0" lang="zh-CN" altLang="en-US" sz="2000">
              <a:latin typeface="楷体" panose="02010609060101010101" pitchFamily="49" charset="-122"/>
              <a:ea typeface="楷体" panose="02010609060101010101" pitchFamily="49" charset="-122"/>
            </a:endParaRPr>
          </a:p>
        </p:txBody>
      </p:sp>
      <p:sp>
        <p:nvSpPr>
          <p:cNvPr id="44053" name="Text Box 23"/>
          <p:cNvSpPr txBox="1">
            <a:spLocks noChangeArrowheads="1"/>
          </p:cNvSpPr>
          <p:nvPr/>
        </p:nvSpPr>
        <p:spPr bwMode="auto">
          <a:xfrm>
            <a:off x="4137025" y="5992813"/>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执行指令阶段</a:t>
            </a:r>
            <a:endParaRPr kumimoji="0" lang="zh-CN" altLang="en-US" sz="2000">
              <a:latin typeface="楷体" panose="02010609060101010101" pitchFamily="49" charset="-122"/>
              <a:ea typeface="楷体" panose="02010609060101010101" pitchFamily="49" charset="-122"/>
            </a:endParaRPr>
          </a:p>
        </p:txBody>
      </p:sp>
      <p:sp>
        <p:nvSpPr>
          <p:cNvPr id="44054" name="Line 26"/>
          <p:cNvSpPr>
            <a:spLocks noChangeShapeType="1"/>
          </p:cNvSpPr>
          <p:nvPr/>
        </p:nvSpPr>
        <p:spPr bwMode="auto">
          <a:xfrm>
            <a:off x="6462713" y="2457450"/>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4055" name="Line 27"/>
          <p:cNvSpPr>
            <a:spLocks noChangeShapeType="1"/>
          </p:cNvSpPr>
          <p:nvPr/>
        </p:nvSpPr>
        <p:spPr bwMode="auto">
          <a:xfrm>
            <a:off x="5005388" y="2600325"/>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4056" name="Oval 31"/>
          <p:cNvSpPr>
            <a:spLocks noChangeArrowheads="1"/>
          </p:cNvSpPr>
          <p:nvPr/>
        </p:nvSpPr>
        <p:spPr bwMode="auto">
          <a:xfrm>
            <a:off x="5162550" y="4529138"/>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取出</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操作数</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4057" name="AutoShape 32"/>
          <p:cNvSpPr>
            <a:spLocks noChangeArrowheads="1"/>
          </p:cNvSpPr>
          <p:nvPr/>
        </p:nvSpPr>
        <p:spPr bwMode="auto">
          <a:xfrm>
            <a:off x="4805363" y="4929188"/>
            <a:ext cx="442912" cy="371475"/>
          </a:xfrm>
          <a:prstGeom prst="rightArrow">
            <a:avLst>
              <a:gd name="adj1" fmla="val 50000"/>
              <a:gd name="adj2" fmla="val 29808"/>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058" name="Oval 33"/>
          <p:cNvSpPr>
            <a:spLocks noChangeArrowheads="1"/>
          </p:cNvSpPr>
          <p:nvPr/>
        </p:nvSpPr>
        <p:spPr bwMode="auto">
          <a:xfrm>
            <a:off x="5205413" y="290036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装入通</a:t>
            </a:r>
            <a:endParaRPr kumimoji="0" lang="zh-CN" altLang="en-US"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用寄存器</a:t>
            </a:r>
            <a:endParaRPr kumimoji="0" lang="zh-CN" altLang="en-US" sz="2000">
              <a:solidFill>
                <a:schemeClr val="bg1"/>
              </a:solidFill>
              <a:ea typeface="楷体" panose="02010609060101010101" pitchFamily="49" charset="-122"/>
              <a:cs typeface="Times New Roman" panose="02020603050405020304" pitchFamily="18" charset="0"/>
            </a:endParaRPr>
          </a:p>
        </p:txBody>
      </p:sp>
      <p:sp>
        <p:nvSpPr>
          <p:cNvPr id="44059" name="Text Box 34"/>
          <p:cNvSpPr txBox="1">
            <a:spLocks noChangeArrowheads="1"/>
          </p:cNvSpPr>
          <p:nvPr/>
        </p:nvSpPr>
        <p:spPr bwMode="auto">
          <a:xfrm>
            <a:off x="5305425" y="2052638"/>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44060" name="AutoShape 36"/>
          <p:cNvSpPr>
            <a:spLocks noChangeArrowheads="1"/>
          </p:cNvSpPr>
          <p:nvPr/>
        </p:nvSpPr>
        <p:spPr bwMode="auto">
          <a:xfrm flipV="1">
            <a:off x="5505450" y="4114800"/>
            <a:ext cx="485775" cy="357188"/>
          </a:xfrm>
          <a:prstGeom prst="downArrow">
            <a:avLst>
              <a:gd name="adj1" fmla="val 50000"/>
              <a:gd name="adj2" fmla="val 25000"/>
            </a:avLst>
          </a:prstGeom>
          <a:solidFill>
            <a:srgbClr val="663300"/>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0437" name="AutoShape 37"/>
          <p:cNvSpPr>
            <a:spLocks noChangeArrowheads="1"/>
          </p:cNvSpPr>
          <p:nvPr/>
        </p:nvSpPr>
        <p:spPr bwMode="auto">
          <a:xfrm>
            <a:off x="6376988" y="3300413"/>
            <a:ext cx="442912" cy="371475"/>
          </a:xfrm>
          <a:prstGeom prst="rightArrow">
            <a:avLst>
              <a:gd name="adj1" fmla="val 50000"/>
              <a:gd name="adj2" fmla="val 29808"/>
            </a:avLst>
          </a:prstGeom>
          <a:solidFill>
            <a:srgbClr val="6633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LAD</a:t>
            </a:r>
            <a:r>
              <a:rPr lang="zh-CN" altLang="en-US" dirty="0"/>
              <a:t>指令的指令周期（</a:t>
            </a:r>
            <a:r>
              <a:rPr lang="en-US" altLang="zh-CN" dirty="0"/>
              <a:t>2</a:t>
            </a:r>
            <a:r>
              <a:rPr lang="zh-CN" altLang="en-US" dirty="0"/>
              <a:t>）</a:t>
            </a:r>
            <a:endParaRPr lang="zh-CN" altLang="en-US" dirty="0"/>
          </a:p>
        </p:txBody>
      </p:sp>
      <p:sp>
        <p:nvSpPr>
          <p:cNvPr id="45058" name="内容占位符 2"/>
          <p:cNvSpPr>
            <a:spLocks noGrp="1" noChangeArrowheads="1"/>
          </p:cNvSpPr>
          <p:nvPr>
            <p:ph idx="1"/>
          </p:nvPr>
        </p:nvSpPr>
        <p:spPr/>
        <p:txBody>
          <a:bodyPr/>
          <a:lstStyle/>
          <a:p>
            <a:pPr eaLnBrk="1" hangingPunct="1"/>
            <a:r>
              <a:rPr kumimoji="0" lang="zh-CN" altLang="en-US" sz="2400">
                <a:solidFill>
                  <a:srgbClr val="000000"/>
                </a:solidFill>
              </a:rPr>
              <a:t>取指阶段</a:t>
            </a:r>
            <a:endParaRPr kumimoji="0" lang="zh-CN" altLang="en-US" sz="2400">
              <a:solidFill>
                <a:srgbClr val="000000"/>
              </a:solidFill>
            </a:endParaRPr>
          </a:p>
          <a:p>
            <a:pPr lvl="1" eaLnBrk="1" hangingPunct="1"/>
            <a:r>
              <a:rPr kumimoji="0" lang="zh-CN" altLang="en-US" sz="2400">
                <a:solidFill>
                  <a:srgbClr val="000000"/>
                </a:solidFill>
              </a:rPr>
              <a:t>从内存取出指令</a:t>
            </a:r>
            <a:endParaRPr kumimoji="0" lang="zh-CN" altLang="en-US" sz="2400">
              <a:solidFill>
                <a:srgbClr val="000000"/>
              </a:solidFill>
            </a:endParaRPr>
          </a:p>
          <a:p>
            <a:pPr lvl="1" eaLnBrk="1" hangingPunct="1"/>
            <a:r>
              <a:rPr kumimoji="0" lang="en-US" altLang="zh-CN" sz="2400">
                <a:solidFill>
                  <a:srgbClr val="000000"/>
                </a:solidFill>
              </a:rPr>
              <a:t>PC+1</a:t>
            </a:r>
            <a:r>
              <a:rPr kumimoji="0" lang="zh-CN" altLang="en-US" sz="2400">
                <a:solidFill>
                  <a:srgbClr val="000000"/>
                </a:solidFill>
              </a:rPr>
              <a:t>，为取下条指令做好准备</a:t>
            </a:r>
            <a:endParaRPr kumimoji="0" lang="zh-CN" altLang="en-US" sz="2400">
              <a:solidFill>
                <a:srgbClr val="000000"/>
              </a:solidFill>
            </a:endParaRPr>
          </a:p>
          <a:p>
            <a:pPr lvl="1" eaLnBrk="1" hangingPunct="1"/>
            <a:r>
              <a:rPr kumimoji="0" lang="zh-CN" altLang="en-US" sz="2400">
                <a:solidFill>
                  <a:srgbClr val="000000"/>
                </a:solidFill>
              </a:rPr>
              <a:t>指令译码</a:t>
            </a:r>
            <a:endParaRPr kumimoji="0" lang="zh-CN" altLang="en-US" sz="2400">
              <a:solidFill>
                <a:srgbClr val="000000"/>
              </a:solidFill>
            </a:endParaRPr>
          </a:p>
          <a:p>
            <a:pPr eaLnBrk="1" hangingPunct="1"/>
            <a:r>
              <a:rPr kumimoji="0" lang="zh-CN" altLang="en-US" sz="2400">
                <a:solidFill>
                  <a:srgbClr val="000000"/>
                </a:solidFill>
              </a:rPr>
              <a:t>执行指令阶段</a:t>
            </a:r>
            <a:endParaRPr kumimoji="0" lang="zh-CN" altLang="en-US" sz="2400">
              <a:solidFill>
                <a:srgbClr val="000000"/>
              </a:solidFill>
            </a:endParaRPr>
          </a:p>
          <a:p>
            <a:pPr lvl="1" eaLnBrk="1" hangingPunct="1"/>
            <a:r>
              <a:rPr kumimoji="0" lang="zh-CN" altLang="en-US" sz="2400">
                <a:solidFill>
                  <a:srgbClr val="000000"/>
                </a:solidFill>
              </a:rPr>
              <a:t>将指令中的直接地址</a:t>
            </a:r>
            <a:r>
              <a:rPr kumimoji="0" lang="en-US" altLang="zh-CN" sz="2400">
                <a:solidFill>
                  <a:srgbClr val="000000"/>
                </a:solidFill>
              </a:rPr>
              <a:t>6 </a:t>
            </a:r>
            <a:r>
              <a:rPr kumimoji="0" lang="zh-CN" altLang="en-US" sz="2400">
                <a:solidFill>
                  <a:srgbClr val="000000"/>
                </a:solidFill>
              </a:rPr>
              <a:t>装入地址寄存器</a:t>
            </a:r>
            <a:r>
              <a:rPr kumimoji="0" lang="en-US" altLang="zh-CN" sz="2400">
                <a:solidFill>
                  <a:srgbClr val="000000"/>
                </a:solidFill>
              </a:rPr>
              <a:t>AR</a:t>
            </a:r>
            <a:r>
              <a:rPr kumimoji="0" lang="zh-CN" altLang="en-US" sz="2400">
                <a:solidFill>
                  <a:srgbClr val="000000"/>
                </a:solidFill>
              </a:rPr>
              <a:t>中</a:t>
            </a:r>
            <a:endParaRPr kumimoji="0" lang="en-US" altLang="zh-CN" sz="2400">
              <a:solidFill>
                <a:srgbClr val="000000"/>
              </a:solidFill>
            </a:endParaRPr>
          </a:p>
          <a:p>
            <a:pPr lvl="1" eaLnBrk="1" hangingPunct="1"/>
            <a:r>
              <a:rPr kumimoji="0" lang="zh-CN" altLang="en-US" sz="2400">
                <a:solidFill>
                  <a:srgbClr val="000000"/>
                </a:solidFill>
              </a:rPr>
              <a:t>发出读命令，将数据存储器读出的数据装入</a:t>
            </a:r>
            <a:r>
              <a:rPr kumimoji="0" lang="en-US" altLang="zh-CN" sz="2400">
                <a:solidFill>
                  <a:srgbClr val="000000"/>
                </a:solidFill>
              </a:rPr>
              <a:t>DR</a:t>
            </a:r>
            <a:r>
              <a:rPr kumimoji="0" lang="zh-CN" altLang="en-US" sz="2400">
                <a:solidFill>
                  <a:srgbClr val="000000"/>
                </a:solidFill>
              </a:rPr>
              <a:t>中</a:t>
            </a:r>
            <a:endParaRPr kumimoji="0" lang="zh-CN" altLang="en-US" sz="2400">
              <a:solidFill>
                <a:srgbClr val="000000"/>
              </a:solidFill>
            </a:endParaRPr>
          </a:p>
          <a:p>
            <a:pPr lvl="1" eaLnBrk="1" hangingPunct="1"/>
            <a:r>
              <a:rPr kumimoji="0" lang="zh-CN" altLang="en-US" sz="2400">
                <a:solidFill>
                  <a:srgbClr val="000000"/>
                </a:solidFill>
              </a:rPr>
              <a:t>将</a:t>
            </a:r>
            <a:r>
              <a:rPr kumimoji="0" lang="en-US" altLang="zh-CN" sz="2400">
                <a:solidFill>
                  <a:srgbClr val="000000"/>
                </a:solidFill>
              </a:rPr>
              <a:t>DR</a:t>
            </a:r>
            <a:r>
              <a:rPr kumimoji="0" lang="zh-CN" altLang="en-US" sz="2400">
                <a:solidFill>
                  <a:srgbClr val="000000"/>
                </a:solidFill>
              </a:rPr>
              <a:t>中的数据装入通用寄存器</a:t>
            </a:r>
            <a:r>
              <a:rPr kumimoji="0" lang="en-US" altLang="zh-CN" sz="2400">
                <a:solidFill>
                  <a:srgbClr val="000000"/>
                </a:solidFill>
              </a:rPr>
              <a:t>R1</a:t>
            </a:r>
            <a:r>
              <a:rPr kumimoji="0" lang="zh-CN" altLang="en-US" sz="2400">
                <a:solidFill>
                  <a:srgbClr val="000000"/>
                </a:solidFill>
              </a:rPr>
              <a:t>中</a:t>
            </a:r>
            <a:endParaRPr lang="zh-CN" altLang="en-US" sz="2400">
              <a:solidFill>
                <a:srgbClr val="000000"/>
              </a:solidFill>
            </a:endParaRPr>
          </a:p>
          <a:p>
            <a:endParaRPr lang="zh-CN" altLang="en-US"/>
          </a:p>
        </p:txBody>
      </p: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pPr eaLnBrk="1" hangingPunct="1"/>
            <a:r>
              <a:rPr lang="en-US" altLang="zh-CN"/>
              <a:t>LAD</a:t>
            </a:r>
            <a:r>
              <a:rPr lang="zh-CN" altLang="en-US"/>
              <a:t>指令执行周期</a:t>
            </a:r>
            <a:endParaRPr lang="zh-CN" altLang="en-US"/>
          </a:p>
        </p:txBody>
      </p:sp>
      <p:sp>
        <p:nvSpPr>
          <p:cNvPr id="46082" name="Rectangle 3"/>
          <p:cNvSpPr>
            <a:spLocks noGrp="1" noChangeArrowheads="1"/>
          </p:cNvSpPr>
          <p:nvPr>
            <p:ph idx="1"/>
          </p:nvPr>
        </p:nvSpPr>
        <p:spPr/>
        <p:txBody>
          <a:bodyPr/>
          <a:lstStyle/>
          <a:p>
            <a:pPr eaLnBrk="1" hangingPunct="1"/>
            <a:endParaRPr lang="zh-CN" altLang="en-US"/>
          </a:p>
        </p:txBody>
      </p:sp>
      <p:pic>
        <p:nvPicPr>
          <p:cNvPr id="46084" name="Picture 4" descr="444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825" y="903288"/>
            <a:ext cx="7289800" cy="549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eaLnBrk="1" hangingPunct="1">
              <a:defRPr/>
            </a:pPr>
            <a:r>
              <a:rPr lang="en-US" altLang="zh-CN" dirty="0"/>
              <a:t>ADD</a:t>
            </a:r>
            <a:r>
              <a:rPr lang="zh-CN" altLang="en-US" dirty="0"/>
              <a:t>指令的指令周期</a:t>
            </a:r>
            <a:endParaRPr lang="zh-CN" altLang="en-US" dirty="0"/>
          </a:p>
        </p:txBody>
      </p:sp>
      <p:sp>
        <p:nvSpPr>
          <p:cNvPr id="47106" name="Rectangle 3"/>
          <p:cNvSpPr>
            <a:spLocks noGrp="1" noChangeArrowheads="1"/>
          </p:cNvSpPr>
          <p:nvPr>
            <p:ph idx="1"/>
          </p:nvPr>
        </p:nvSpPr>
        <p:spPr>
          <a:xfrm>
            <a:off x="5141913" y="935038"/>
            <a:ext cx="3889375" cy="5197475"/>
          </a:xfrm>
        </p:spPr>
        <p:txBody>
          <a:bodyPr/>
          <a:lstStyle/>
          <a:p>
            <a:pPr eaLnBrk="1" hangingPunct="1"/>
            <a:r>
              <a:rPr kumimoji="0" lang="en-US" altLang="zh-CN" sz="2400"/>
              <a:t>ADD</a:t>
            </a:r>
            <a:r>
              <a:rPr kumimoji="0" lang="zh-CN" altLang="en-US" sz="2400"/>
              <a:t>是一条</a:t>
            </a:r>
            <a:r>
              <a:rPr kumimoji="0" lang="en-US" altLang="zh-CN" sz="2400"/>
              <a:t>RR</a:t>
            </a:r>
            <a:r>
              <a:rPr kumimoji="0" lang="zh-CN" altLang="en-US" sz="2400"/>
              <a:t>型指令。需要两个</a:t>
            </a:r>
            <a:r>
              <a:rPr kumimoji="0" lang="en-US" altLang="zh-CN" sz="2400"/>
              <a:t>CPU</a:t>
            </a:r>
            <a:r>
              <a:rPr kumimoji="0" lang="zh-CN" altLang="en-US" sz="2400"/>
              <a:t>周期</a:t>
            </a:r>
            <a:endParaRPr kumimoji="0" lang="zh-CN" altLang="en-US" sz="2400"/>
          </a:p>
          <a:p>
            <a:pPr eaLnBrk="1" hangingPunct="1"/>
            <a:r>
              <a:rPr kumimoji="0" lang="zh-CN" altLang="en-US" sz="2400"/>
              <a:t>取指阶段</a:t>
            </a:r>
            <a:endParaRPr kumimoji="0" lang="zh-CN" altLang="en-US" sz="2400"/>
          </a:p>
          <a:p>
            <a:pPr lvl="1" eaLnBrk="1" hangingPunct="1"/>
            <a:r>
              <a:rPr kumimoji="0" lang="zh-CN" altLang="en-US" sz="2400"/>
              <a:t>从内存取出指令</a:t>
            </a:r>
            <a:endParaRPr kumimoji="0" lang="zh-CN" altLang="en-US" sz="2400"/>
          </a:p>
          <a:p>
            <a:pPr lvl="1" eaLnBrk="1" hangingPunct="1"/>
            <a:r>
              <a:rPr kumimoji="0" lang="en-US" altLang="zh-CN" sz="2400"/>
              <a:t>PC+1</a:t>
            </a:r>
            <a:r>
              <a:rPr kumimoji="0" lang="zh-CN" altLang="en-US" sz="2400"/>
              <a:t>，为取下条指令做好准备</a:t>
            </a:r>
            <a:endParaRPr kumimoji="0" lang="zh-CN" altLang="en-US" sz="2400"/>
          </a:p>
          <a:p>
            <a:pPr lvl="1" eaLnBrk="1" hangingPunct="1"/>
            <a:r>
              <a:rPr kumimoji="0" lang="zh-CN" altLang="en-US" sz="2400"/>
              <a:t>指令译码</a:t>
            </a:r>
            <a:endParaRPr kumimoji="0" lang="zh-CN" altLang="en-US" sz="2400"/>
          </a:p>
          <a:p>
            <a:pPr eaLnBrk="1" hangingPunct="1"/>
            <a:r>
              <a:rPr kumimoji="0" lang="zh-CN" altLang="en-US" sz="2400"/>
              <a:t>执行指令阶段</a:t>
            </a:r>
            <a:endParaRPr kumimoji="0" lang="zh-CN" altLang="en-US" sz="2400"/>
          </a:p>
          <a:p>
            <a:pPr lvl="1" eaLnBrk="1" hangingPunct="1"/>
            <a:r>
              <a:rPr kumimoji="0" lang="zh-CN" altLang="en-US" sz="2400"/>
              <a:t>完成指令所要求的操作</a:t>
            </a:r>
            <a:endParaRPr kumimoji="0" lang="zh-CN" altLang="en-US" sz="2400"/>
          </a:p>
          <a:p>
            <a:pPr lvl="1" eaLnBrk="1" hangingPunct="1"/>
            <a:r>
              <a:rPr kumimoji="0" lang="zh-CN" altLang="en-US" sz="2400"/>
              <a:t>即完成通用寄存器</a:t>
            </a:r>
            <a:r>
              <a:rPr kumimoji="0" lang="en-US" altLang="zh-CN" sz="2400"/>
              <a:t>R1</a:t>
            </a:r>
            <a:r>
              <a:rPr kumimoji="0" lang="zh-CN" altLang="en-US" sz="2400"/>
              <a:t>、</a:t>
            </a:r>
            <a:r>
              <a:rPr kumimoji="0" lang="en-US" altLang="zh-CN" sz="2400"/>
              <a:t>R2</a:t>
            </a:r>
            <a:r>
              <a:rPr kumimoji="0" lang="zh-CN" altLang="en-US" sz="2400"/>
              <a:t>内容相加，其结果送</a:t>
            </a:r>
            <a:r>
              <a:rPr kumimoji="0" lang="en-US" altLang="zh-CN" sz="2400"/>
              <a:t>R2</a:t>
            </a:r>
            <a:endParaRPr lang="zh-CN" altLang="en-US" sz="2400"/>
          </a:p>
        </p:txBody>
      </p:sp>
      <p:sp>
        <p:nvSpPr>
          <p:cNvPr id="47108" name="Line 4"/>
          <p:cNvSpPr>
            <a:spLocks noChangeShapeType="1"/>
          </p:cNvSpPr>
          <p:nvPr/>
        </p:nvSpPr>
        <p:spPr bwMode="auto">
          <a:xfrm>
            <a:off x="779463" y="1747838"/>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7109" name="Line 7"/>
          <p:cNvSpPr>
            <a:spLocks noChangeShapeType="1"/>
          </p:cNvSpPr>
          <p:nvPr/>
        </p:nvSpPr>
        <p:spPr bwMode="auto">
          <a:xfrm>
            <a:off x="765175" y="1890713"/>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7110" name="Line 8"/>
          <p:cNvSpPr>
            <a:spLocks noChangeShapeType="1"/>
          </p:cNvSpPr>
          <p:nvPr/>
        </p:nvSpPr>
        <p:spPr bwMode="auto">
          <a:xfrm>
            <a:off x="2208213" y="1890713"/>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7111" name="Text Box 10"/>
          <p:cNvSpPr txBox="1">
            <a:spLocks noChangeArrowheads="1"/>
          </p:cNvSpPr>
          <p:nvPr/>
        </p:nvSpPr>
        <p:spPr bwMode="auto">
          <a:xfrm>
            <a:off x="1050925" y="1343025"/>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dirty="0">
                <a:latin typeface="楷体" panose="02010609060101010101" pitchFamily="49" charset="-122"/>
                <a:ea typeface="楷体" panose="02010609060101010101" pitchFamily="49" charset="-122"/>
              </a:rPr>
              <a:t>一个</a:t>
            </a:r>
            <a:endParaRPr kumimoji="0" lang="zh-CN" altLang="en-US" sz="2000" dirty="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dirty="0">
                <a:latin typeface="楷体" panose="02010609060101010101" pitchFamily="49" charset="-122"/>
                <a:ea typeface="楷体" panose="02010609060101010101" pitchFamily="49" charset="-122"/>
              </a:rPr>
              <a:t>CPU</a:t>
            </a:r>
            <a:r>
              <a:rPr kumimoji="0" lang="zh-CN" altLang="en-US" sz="2000" dirty="0">
                <a:latin typeface="楷体" panose="02010609060101010101" pitchFamily="49" charset="-122"/>
                <a:ea typeface="楷体" panose="02010609060101010101" pitchFamily="49" charset="-122"/>
              </a:rPr>
              <a:t>周期</a:t>
            </a:r>
            <a:endParaRPr kumimoji="0" lang="zh-CN" altLang="en-US" sz="2000" dirty="0">
              <a:latin typeface="楷体" panose="02010609060101010101" pitchFamily="49" charset="-122"/>
              <a:ea typeface="楷体" panose="02010609060101010101" pitchFamily="49" charset="-122"/>
            </a:endParaRPr>
          </a:p>
        </p:txBody>
      </p:sp>
      <p:sp>
        <p:nvSpPr>
          <p:cNvPr id="47112" name="Text Box 12"/>
          <p:cNvSpPr txBox="1">
            <a:spLocks noChangeArrowheads="1"/>
          </p:cNvSpPr>
          <p:nvPr/>
        </p:nvSpPr>
        <p:spPr bwMode="auto">
          <a:xfrm>
            <a:off x="2489583" y="1343025"/>
            <a:ext cx="9056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47113" name="Oval 13"/>
          <p:cNvSpPr>
            <a:spLocks noChangeArrowheads="1"/>
          </p:cNvSpPr>
          <p:nvPr/>
        </p:nvSpPr>
        <p:spPr bwMode="auto">
          <a:xfrm>
            <a:off x="922338" y="2190750"/>
            <a:ext cx="1143000" cy="1143000"/>
          </a:xfrm>
          <a:prstGeom prst="ellipse">
            <a:avLst/>
          </a:prstGeom>
          <a:solidFill>
            <a:srgbClr val="800080"/>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7114" name="AutoShape 14"/>
          <p:cNvSpPr>
            <a:spLocks noChangeArrowheads="1"/>
          </p:cNvSpPr>
          <p:nvPr/>
        </p:nvSpPr>
        <p:spPr bwMode="auto">
          <a:xfrm>
            <a:off x="93663" y="2390775"/>
            <a:ext cx="814387" cy="600075"/>
          </a:xfrm>
          <a:prstGeom prst="rightArrow">
            <a:avLst>
              <a:gd name="adj1" fmla="val 59259"/>
              <a:gd name="adj2" fmla="val 38622"/>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latin typeface="楷体_GB2312" pitchFamily="49" charset="-122"/>
              </a:rPr>
              <a:t>开始</a:t>
            </a:r>
            <a:endParaRPr kumimoji="0" lang="zh-CN" altLang="en-US" sz="2000">
              <a:solidFill>
                <a:schemeClr val="bg1"/>
              </a:solidFill>
              <a:latin typeface="楷体_GB2312" pitchFamily="49" charset="-122"/>
            </a:endParaRPr>
          </a:p>
        </p:txBody>
      </p:sp>
      <p:sp>
        <p:nvSpPr>
          <p:cNvPr id="47115" name="Oval 15"/>
          <p:cNvSpPr>
            <a:spLocks noChangeArrowheads="1"/>
          </p:cNvSpPr>
          <p:nvPr/>
        </p:nvSpPr>
        <p:spPr bwMode="auto">
          <a:xfrm>
            <a:off x="922338" y="3819525"/>
            <a:ext cx="1143000" cy="1143000"/>
          </a:xfrm>
          <a:prstGeom prst="ellipse">
            <a:avLst/>
          </a:prstGeom>
          <a:solidFill>
            <a:srgbClr val="800080"/>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对指令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译码</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7116" name="Line 16"/>
          <p:cNvSpPr>
            <a:spLocks noChangeShapeType="1"/>
          </p:cNvSpPr>
          <p:nvPr/>
        </p:nvSpPr>
        <p:spPr bwMode="auto">
          <a:xfrm>
            <a:off x="2222500" y="1747838"/>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7117" name="Line 17"/>
          <p:cNvSpPr>
            <a:spLocks noChangeShapeType="1"/>
          </p:cNvSpPr>
          <p:nvPr/>
        </p:nvSpPr>
        <p:spPr bwMode="auto">
          <a:xfrm>
            <a:off x="3665538" y="1747838"/>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7118" name="AutoShape 19"/>
          <p:cNvSpPr>
            <a:spLocks noChangeArrowheads="1"/>
          </p:cNvSpPr>
          <p:nvPr/>
        </p:nvSpPr>
        <p:spPr bwMode="auto">
          <a:xfrm>
            <a:off x="1236663" y="3405188"/>
            <a:ext cx="485775" cy="357187"/>
          </a:xfrm>
          <a:prstGeom prst="downArrow">
            <a:avLst>
              <a:gd name="adj1" fmla="val 50000"/>
              <a:gd name="adj2" fmla="val 25000"/>
            </a:avLst>
          </a:prstGeom>
          <a:solidFill>
            <a:srgbClr val="663300"/>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7119" name="Oval 20"/>
          <p:cNvSpPr>
            <a:spLocks noChangeArrowheads="1"/>
          </p:cNvSpPr>
          <p:nvPr/>
        </p:nvSpPr>
        <p:spPr bwMode="auto">
          <a:xfrm>
            <a:off x="2422525" y="2733675"/>
            <a:ext cx="1143000" cy="1143000"/>
          </a:xfrm>
          <a:prstGeom prst="ellipse">
            <a:avLst/>
          </a:prstGeom>
          <a:solidFill>
            <a:srgbClr val="800080"/>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执行</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7120" name="AutoShape 21"/>
          <p:cNvSpPr>
            <a:spLocks noChangeArrowheads="1"/>
          </p:cNvSpPr>
          <p:nvPr/>
        </p:nvSpPr>
        <p:spPr bwMode="auto">
          <a:xfrm rot="-2312369">
            <a:off x="1965325" y="3662363"/>
            <a:ext cx="557213" cy="371475"/>
          </a:xfrm>
          <a:prstGeom prst="rightArrow">
            <a:avLst>
              <a:gd name="adj1" fmla="val 50000"/>
              <a:gd name="adj2" fmla="val 37500"/>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7121" name="AutoShape 22"/>
          <p:cNvSpPr>
            <a:spLocks noChangeArrowheads="1"/>
          </p:cNvSpPr>
          <p:nvPr/>
        </p:nvSpPr>
        <p:spPr bwMode="auto">
          <a:xfrm rot="-2312369">
            <a:off x="3465513" y="2562225"/>
            <a:ext cx="557212" cy="371475"/>
          </a:xfrm>
          <a:prstGeom prst="rightArrow">
            <a:avLst>
              <a:gd name="adj1" fmla="val 50000"/>
              <a:gd name="adj2" fmla="val 37500"/>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7122" name="Oval 23"/>
          <p:cNvSpPr>
            <a:spLocks noChangeArrowheads="1"/>
          </p:cNvSpPr>
          <p:nvPr/>
        </p:nvSpPr>
        <p:spPr bwMode="auto">
          <a:xfrm>
            <a:off x="3922713" y="1690688"/>
            <a:ext cx="1143000" cy="1143000"/>
          </a:xfrm>
          <a:prstGeom prst="ellipse">
            <a:avLst/>
          </a:prstGeom>
          <a:solidFill>
            <a:srgbClr val="800080"/>
          </a:solidFill>
          <a:ln w="25400">
            <a:noFill/>
            <a:prstDash val="dash"/>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下条指令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7123" name="AutoShape 25"/>
          <p:cNvSpPr/>
          <p:nvPr/>
        </p:nvSpPr>
        <p:spPr bwMode="auto">
          <a:xfrm rot="5400000" flipV="1">
            <a:off x="1400969" y="4541044"/>
            <a:ext cx="185738" cy="1428750"/>
          </a:xfrm>
          <a:prstGeom prst="rightBrace">
            <a:avLst>
              <a:gd name="adj1" fmla="val 64102"/>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7124" name="AutoShape 26"/>
          <p:cNvSpPr/>
          <p:nvPr/>
        </p:nvSpPr>
        <p:spPr bwMode="auto">
          <a:xfrm rot="5400000" flipV="1">
            <a:off x="2858294" y="4541044"/>
            <a:ext cx="185738" cy="1428750"/>
          </a:xfrm>
          <a:prstGeom prst="rightBrace">
            <a:avLst>
              <a:gd name="adj1" fmla="val 64102"/>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7125" name="Text Box 27"/>
          <p:cNvSpPr txBox="1">
            <a:spLocks noChangeArrowheads="1"/>
          </p:cNvSpPr>
          <p:nvPr/>
        </p:nvSpPr>
        <p:spPr bwMode="auto">
          <a:xfrm>
            <a:off x="741363" y="5283200"/>
            <a:ext cx="1462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取指令阶段</a:t>
            </a:r>
            <a:endParaRPr kumimoji="0" lang="zh-CN" altLang="en-US" sz="2000">
              <a:latin typeface="楷体" panose="02010609060101010101" pitchFamily="49" charset="-122"/>
              <a:ea typeface="楷体" panose="02010609060101010101" pitchFamily="49" charset="-122"/>
            </a:endParaRPr>
          </a:p>
        </p:txBody>
      </p:sp>
      <p:sp>
        <p:nvSpPr>
          <p:cNvPr id="47126" name="Text Box 28"/>
          <p:cNvSpPr txBox="1">
            <a:spLocks noChangeArrowheads="1"/>
          </p:cNvSpPr>
          <p:nvPr/>
        </p:nvSpPr>
        <p:spPr bwMode="auto">
          <a:xfrm>
            <a:off x="2082800" y="5283200"/>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执行指令阶段</a:t>
            </a:r>
            <a:endParaRPr kumimoji="0" lang="zh-CN" altLang="en-US" sz="200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pPr eaLnBrk="1" hangingPunct="1"/>
            <a:r>
              <a:rPr lang="en-US" altLang="zh-CN"/>
              <a:t>ADD</a:t>
            </a:r>
            <a:r>
              <a:rPr lang="zh-CN" altLang="en-US"/>
              <a:t>指令执行周期</a:t>
            </a:r>
            <a:endParaRPr lang="zh-CN" altLang="en-US"/>
          </a:p>
        </p:txBody>
      </p:sp>
      <p:sp>
        <p:nvSpPr>
          <p:cNvPr id="48130" name="Rectangle 3"/>
          <p:cNvSpPr>
            <a:spLocks noGrp="1" noChangeArrowheads="1"/>
          </p:cNvSpPr>
          <p:nvPr>
            <p:ph idx="1"/>
          </p:nvPr>
        </p:nvSpPr>
        <p:spPr/>
        <p:txBody>
          <a:bodyPr/>
          <a:lstStyle/>
          <a:p>
            <a:pPr eaLnBrk="1" hangingPunct="1"/>
            <a:endParaRPr lang="zh-CN" altLang="en-US"/>
          </a:p>
        </p:txBody>
      </p:sp>
      <p:pic>
        <p:nvPicPr>
          <p:cNvPr id="48132" name="Picture 4" descr="666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9163" y="1001712"/>
            <a:ext cx="7262812" cy="547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pPr eaLnBrk="1" hangingPunct="1">
              <a:defRPr/>
            </a:pPr>
            <a:r>
              <a:rPr lang="en-US" altLang="zh-CN" dirty="0"/>
              <a:t>STO</a:t>
            </a:r>
            <a:r>
              <a:rPr lang="zh-CN" altLang="en-US" dirty="0"/>
              <a:t>指令的指令周期（</a:t>
            </a:r>
            <a:r>
              <a:rPr lang="en-US" altLang="zh-CN" dirty="0"/>
              <a:t>1</a:t>
            </a:r>
            <a:r>
              <a:rPr lang="zh-CN" altLang="en-US" dirty="0"/>
              <a:t>）</a:t>
            </a:r>
            <a:endParaRPr lang="zh-CN" altLang="en-US" dirty="0"/>
          </a:p>
        </p:txBody>
      </p:sp>
      <p:sp>
        <p:nvSpPr>
          <p:cNvPr id="49154" name="Rectangle 3"/>
          <p:cNvSpPr>
            <a:spLocks noGrp="1" noChangeArrowheads="1"/>
          </p:cNvSpPr>
          <p:nvPr>
            <p:ph idx="1"/>
          </p:nvPr>
        </p:nvSpPr>
        <p:spPr>
          <a:xfrm>
            <a:off x="142875" y="927100"/>
            <a:ext cx="8770938" cy="5205413"/>
          </a:xfrm>
        </p:spPr>
        <p:txBody>
          <a:bodyPr/>
          <a:lstStyle/>
          <a:p>
            <a:pPr eaLnBrk="1" hangingPunct="1"/>
            <a:r>
              <a:rPr kumimoji="0" lang="en-US" altLang="zh-CN"/>
              <a:t>STO</a:t>
            </a:r>
            <a:r>
              <a:rPr kumimoji="0" lang="zh-CN" altLang="en-US"/>
              <a:t>指令是</a:t>
            </a:r>
            <a:r>
              <a:rPr kumimoji="0" lang="en-US" altLang="zh-CN"/>
              <a:t>RS</a:t>
            </a:r>
            <a:r>
              <a:rPr kumimoji="0" lang="zh-CN" altLang="en-US"/>
              <a:t>型指令，是访内存的存数指令</a:t>
            </a:r>
            <a:r>
              <a:rPr kumimoji="0" lang="en-US" altLang="zh-CN">
                <a:latin typeface="楷体_GB2312" pitchFamily="49" charset="-122"/>
              </a:rPr>
              <a:t>,</a:t>
            </a:r>
            <a:r>
              <a:rPr kumimoji="0" lang="zh-CN" altLang="en-US"/>
              <a:t>由三个</a:t>
            </a:r>
            <a:r>
              <a:rPr kumimoji="0" lang="en-US" altLang="zh-CN"/>
              <a:t>CPU</a:t>
            </a:r>
            <a:r>
              <a:rPr kumimoji="0" lang="zh-CN" altLang="en-US"/>
              <a:t>周期组成</a:t>
            </a:r>
            <a:r>
              <a:rPr kumimoji="0" lang="zh-CN" altLang="en-US" b="0"/>
              <a:t>。</a:t>
            </a:r>
            <a:endParaRPr lang="en-US" altLang="zh-CN">
              <a:latin typeface="楷体_GB2312" pitchFamily="49" charset="-122"/>
            </a:endParaRPr>
          </a:p>
        </p:txBody>
      </p:sp>
      <p:sp>
        <p:nvSpPr>
          <p:cNvPr id="49156" name="Line 4"/>
          <p:cNvSpPr>
            <a:spLocks noChangeShapeType="1"/>
          </p:cNvSpPr>
          <p:nvPr/>
        </p:nvSpPr>
        <p:spPr bwMode="auto">
          <a:xfrm>
            <a:off x="1976438"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9157" name="Line 5"/>
          <p:cNvSpPr>
            <a:spLocks noChangeShapeType="1"/>
          </p:cNvSpPr>
          <p:nvPr/>
        </p:nvSpPr>
        <p:spPr bwMode="auto">
          <a:xfrm>
            <a:off x="1962150" y="2387600"/>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9158" name="Line 6"/>
          <p:cNvSpPr>
            <a:spLocks noChangeShapeType="1"/>
          </p:cNvSpPr>
          <p:nvPr/>
        </p:nvSpPr>
        <p:spPr bwMode="auto">
          <a:xfrm>
            <a:off x="3405188" y="2379663"/>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9159" name="Text Box 7"/>
          <p:cNvSpPr txBox="1">
            <a:spLocks noChangeArrowheads="1"/>
          </p:cNvSpPr>
          <p:nvPr/>
        </p:nvSpPr>
        <p:spPr bwMode="auto">
          <a:xfrm>
            <a:off x="2247900" y="1819275"/>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49160" name="Text Box 8"/>
          <p:cNvSpPr txBox="1">
            <a:spLocks noChangeArrowheads="1"/>
          </p:cNvSpPr>
          <p:nvPr/>
        </p:nvSpPr>
        <p:spPr bwMode="auto">
          <a:xfrm>
            <a:off x="3686558" y="1819275"/>
            <a:ext cx="9056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49161" name="Oval 9"/>
          <p:cNvSpPr>
            <a:spLocks noChangeArrowheads="1"/>
          </p:cNvSpPr>
          <p:nvPr/>
        </p:nvSpPr>
        <p:spPr bwMode="auto">
          <a:xfrm>
            <a:off x="2119313" y="2687638"/>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9162" name="AutoShape 10"/>
          <p:cNvSpPr>
            <a:spLocks noChangeArrowheads="1"/>
          </p:cNvSpPr>
          <p:nvPr/>
        </p:nvSpPr>
        <p:spPr bwMode="auto">
          <a:xfrm>
            <a:off x="1290638" y="2887663"/>
            <a:ext cx="814387" cy="600075"/>
          </a:xfrm>
          <a:prstGeom prst="rightArrow">
            <a:avLst>
              <a:gd name="adj1" fmla="val 59259"/>
              <a:gd name="adj2" fmla="val 38622"/>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楷体" panose="02010609060101010101" pitchFamily="49" charset="-122"/>
                <a:ea typeface="楷体" panose="02010609060101010101" pitchFamily="49" charset="-122"/>
              </a:rPr>
              <a:t>开始</a:t>
            </a:r>
            <a:endParaRPr kumimoji="0" lang="zh-CN" altLang="en-US" sz="2000" dirty="0">
              <a:solidFill>
                <a:schemeClr val="bg1"/>
              </a:solidFill>
              <a:latin typeface="楷体" panose="02010609060101010101" pitchFamily="49" charset="-122"/>
              <a:ea typeface="楷体" panose="02010609060101010101" pitchFamily="49" charset="-122"/>
            </a:endParaRPr>
          </a:p>
        </p:txBody>
      </p:sp>
      <p:sp>
        <p:nvSpPr>
          <p:cNvPr id="49163" name="Oval 11"/>
          <p:cNvSpPr>
            <a:spLocks noChangeArrowheads="1"/>
          </p:cNvSpPr>
          <p:nvPr/>
        </p:nvSpPr>
        <p:spPr bwMode="auto">
          <a:xfrm>
            <a:off x="2119313" y="431641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对指令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译码</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9164" name="Line 12"/>
          <p:cNvSpPr>
            <a:spLocks noChangeShapeType="1"/>
          </p:cNvSpPr>
          <p:nvPr/>
        </p:nvSpPr>
        <p:spPr bwMode="auto">
          <a:xfrm>
            <a:off x="3419475"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9165" name="Line 13"/>
          <p:cNvSpPr>
            <a:spLocks noChangeShapeType="1"/>
          </p:cNvSpPr>
          <p:nvPr/>
        </p:nvSpPr>
        <p:spPr bwMode="auto">
          <a:xfrm>
            <a:off x="4862513"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9166" name="AutoShape 14"/>
          <p:cNvSpPr>
            <a:spLocks noChangeArrowheads="1"/>
          </p:cNvSpPr>
          <p:nvPr/>
        </p:nvSpPr>
        <p:spPr bwMode="auto">
          <a:xfrm>
            <a:off x="2433638" y="3902075"/>
            <a:ext cx="485775" cy="357188"/>
          </a:xfrm>
          <a:prstGeom prst="downArrow">
            <a:avLst>
              <a:gd name="adj1" fmla="val 50000"/>
              <a:gd name="adj2" fmla="val 25000"/>
            </a:avLst>
          </a:prstGeom>
          <a:solidFill>
            <a:srgbClr val="663300"/>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9167" name="Oval 15"/>
          <p:cNvSpPr>
            <a:spLocks noChangeArrowheads="1"/>
          </p:cNvSpPr>
          <p:nvPr/>
        </p:nvSpPr>
        <p:spPr bwMode="auto">
          <a:xfrm>
            <a:off x="3576638" y="431641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送操作</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数地址</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9168" name="AutoShape 16"/>
          <p:cNvSpPr>
            <a:spLocks noChangeArrowheads="1"/>
          </p:cNvSpPr>
          <p:nvPr/>
        </p:nvSpPr>
        <p:spPr bwMode="auto">
          <a:xfrm>
            <a:off x="3205163" y="4716463"/>
            <a:ext cx="442912" cy="371475"/>
          </a:xfrm>
          <a:prstGeom prst="rightArrow">
            <a:avLst>
              <a:gd name="adj1" fmla="val 50000"/>
              <a:gd name="adj2" fmla="val 29808"/>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9169" name="Oval 17"/>
          <p:cNvSpPr>
            <a:spLocks noChangeArrowheads="1"/>
          </p:cNvSpPr>
          <p:nvPr/>
        </p:nvSpPr>
        <p:spPr bwMode="auto">
          <a:xfrm>
            <a:off x="6705600" y="2687638"/>
            <a:ext cx="1143000" cy="1143000"/>
          </a:xfrm>
          <a:prstGeom prst="ellipse">
            <a:avLst/>
          </a:prstGeom>
          <a:solidFill>
            <a:srgbClr val="660066"/>
          </a:solidFill>
          <a:ln w="25400">
            <a:noFill/>
            <a:prstDash val="dash"/>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下条指令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49170" name="AutoShape 18"/>
          <p:cNvSpPr/>
          <p:nvPr/>
        </p:nvSpPr>
        <p:spPr bwMode="auto">
          <a:xfrm rot="5400000" flipV="1">
            <a:off x="2597944" y="5037932"/>
            <a:ext cx="185737" cy="1428750"/>
          </a:xfrm>
          <a:prstGeom prst="rightBrace">
            <a:avLst>
              <a:gd name="adj1" fmla="val 64103"/>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9171" name="AutoShape 19"/>
          <p:cNvSpPr/>
          <p:nvPr/>
        </p:nvSpPr>
        <p:spPr bwMode="auto">
          <a:xfrm rot="5400000" flipV="1">
            <a:off x="4791076" y="4316412"/>
            <a:ext cx="157162" cy="2900363"/>
          </a:xfrm>
          <a:prstGeom prst="rightBrace">
            <a:avLst>
              <a:gd name="adj1" fmla="val 153788"/>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9172" name="Text Box 20"/>
          <p:cNvSpPr txBox="1">
            <a:spLocks noChangeArrowheads="1"/>
          </p:cNvSpPr>
          <p:nvPr/>
        </p:nvSpPr>
        <p:spPr bwMode="auto">
          <a:xfrm>
            <a:off x="1930400" y="5899150"/>
            <a:ext cx="1462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取指令阶段</a:t>
            </a:r>
            <a:endParaRPr kumimoji="0" lang="zh-CN" altLang="en-US" sz="2000">
              <a:latin typeface="楷体" panose="02010609060101010101" pitchFamily="49" charset="-122"/>
              <a:ea typeface="楷体" panose="02010609060101010101" pitchFamily="49" charset="-122"/>
            </a:endParaRPr>
          </a:p>
        </p:txBody>
      </p:sp>
      <p:sp>
        <p:nvSpPr>
          <p:cNvPr id="49173" name="Text Box 21"/>
          <p:cNvSpPr txBox="1">
            <a:spLocks noChangeArrowheads="1"/>
          </p:cNvSpPr>
          <p:nvPr/>
        </p:nvSpPr>
        <p:spPr bwMode="auto">
          <a:xfrm>
            <a:off x="3986213" y="5899150"/>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执行指令阶段</a:t>
            </a:r>
            <a:endParaRPr kumimoji="0" lang="zh-CN" altLang="en-US" sz="2000">
              <a:latin typeface="楷体" panose="02010609060101010101" pitchFamily="49" charset="-122"/>
              <a:ea typeface="楷体" panose="02010609060101010101" pitchFamily="49" charset="-122"/>
            </a:endParaRPr>
          </a:p>
        </p:txBody>
      </p:sp>
      <p:sp>
        <p:nvSpPr>
          <p:cNvPr id="49174" name="Line 23"/>
          <p:cNvSpPr>
            <a:spLocks noChangeShapeType="1"/>
          </p:cNvSpPr>
          <p:nvPr/>
        </p:nvSpPr>
        <p:spPr bwMode="auto">
          <a:xfrm>
            <a:off x="6319838"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9175" name="Line 24"/>
          <p:cNvSpPr>
            <a:spLocks noChangeShapeType="1"/>
          </p:cNvSpPr>
          <p:nvPr/>
        </p:nvSpPr>
        <p:spPr bwMode="auto">
          <a:xfrm>
            <a:off x="4862513" y="2387600"/>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9176" name="Oval 25"/>
          <p:cNvSpPr>
            <a:spLocks noChangeArrowheads="1"/>
          </p:cNvSpPr>
          <p:nvPr/>
        </p:nvSpPr>
        <p:spPr bwMode="auto">
          <a:xfrm>
            <a:off x="5019675" y="431641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送</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操作数</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9177" name="AutoShape 26"/>
          <p:cNvSpPr>
            <a:spLocks noChangeArrowheads="1"/>
          </p:cNvSpPr>
          <p:nvPr/>
        </p:nvSpPr>
        <p:spPr bwMode="auto">
          <a:xfrm>
            <a:off x="4662488" y="4716463"/>
            <a:ext cx="442912" cy="371475"/>
          </a:xfrm>
          <a:prstGeom prst="rightArrow">
            <a:avLst>
              <a:gd name="adj1" fmla="val 50000"/>
              <a:gd name="adj2" fmla="val 29808"/>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9178" name="Oval 27"/>
          <p:cNvSpPr>
            <a:spLocks noChangeArrowheads="1"/>
          </p:cNvSpPr>
          <p:nvPr/>
        </p:nvSpPr>
        <p:spPr bwMode="auto">
          <a:xfrm>
            <a:off x="5062538" y="2687638"/>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执行</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写操作</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49179" name="Text Box 28"/>
          <p:cNvSpPr txBox="1">
            <a:spLocks noChangeArrowheads="1"/>
          </p:cNvSpPr>
          <p:nvPr/>
        </p:nvSpPr>
        <p:spPr bwMode="auto">
          <a:xfrm>
            <a:off x="5162550" y="1819275"/>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49180" name="AutoShape 29"/>
          <p:cNvSpPr>
            <a:spLocks noChangeArrowheads="1"/>
          </p:cNvSpPr>
          <p:nvPr/>
        </p:nvSpPr>
        <p:spPr bwMode="auto">
          <a:xfrm flipV="1">
            <a:off x="5362575" y="3902075"/>
            <a:ext cx="485775" cy="357188"/>
          </a:xfrm>
          <a:prstGeom prst="downArrow">
            <a:avLst>
              <a:gd name="adj1" fmla="val 50000"/>
              <a:gd name="adj2" fmla="val 25000"/>
            </a:avLst>
          </a:prstGeom>
          <a:solidFill>
            <a:srgbClr val="663300"/>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33502" name="AutoShape 30"/>
          <p:cNvSpPr>
            <a:spLocks noChangeArrowheads="1"/>
          </p:cNvSpPr>
          <p:nvPr/>
        </p:nvSpPr>
        <p:spPr bwMode="auto">
          <a:xfrm>
            <a:off x="6234113" y="3087688"/>
            <a:ext cx="442912" cy="371475"/>
          </a:xfrm>
          <a:prstGeom prst="rightArrow">
            <a:avLst>
              <a:gd name="adj1" fmla="val 50000"/>
              <a:gd name="adj2" fmla="val 29808"/>
            </a:avLst>
          </a:prstGeom>
          <a:solidFill>
            <a:srgbClr val="663300"/>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STO</a:t>
            </a:r>
            <a:r>
              <a:rPr lang="zh-CN" altLang="en-US" dirty="0"/>
              <a:t>指令的指令周期（</a:t>
            </a:r>
            <a:r>
              <a:rPr lang="en-US" altLang="zh-CN" dirty="0"/>
              <a:t>2</a:t>
            </a:r>
            <a:r>
              <a:rPr lang="zh-CN" altLang="en-US" dirty="0"/>
              <a:t>）</a:t>
            </a:r>
            <a:endParaRPr lang="zh-CN" altLang="en-US" dirty="0"/>
          </a:p>
        </p:txBody>
      </p:sp>
      <p:sp>
        <p:nvSpPr>
          <p:cNvPr id="50178" name="内容占位符 2"/>
          <p:cNvSpPr>
            <a:spLocks noGrp="1" noChangeArrowheads="1"/>
          </p:cNvSpPr>
          <p:nvPr>
            <p:ph idx="1"/>
          </p:nvPr>
        </p:nvSpPr>
        <p:spPr/>
        <p:txBody>
          <a:bodyPr/>
          <a:lstStyle/>
          <a:p>
            <a:pPr eaLnBrk="1" hangingPunct="1"/>
            <a:r>
              <a:rPr kumimoji="0" lang="zh-CN" altLang="en-US" sz="2400">
                <a:solidFill>
                  <a:srgbClr val="000000"/>
                </a:solidFill>
              </a:rPr>
              <a:t>取指阶段</a:t>
            </a:r>
            <a:endParaRPr kumimoji="0" lang="zh-CN" altLang="en-US" sz="2400">
              <a:solidFill>
                <a:srgbClr val="000000"/>
              </a:solidFill>
            </a:endParaRPr>
          </a:p>
          <a:p>
            <a:pPr lvl="1" eaLnBrk="1" hangingPunct="1"/>
            <a:r>
              <a:rPr kumimoji="0" lang="zh-CN" altLang="en-US" sz="2400">
                <a:solidFill>
                  <a:srgbClr val="000000"/>
                </a:solidFill>
              </a:rPr>
              <a:t>从内存取出指令</a:t>
            </a:r>
            <a:endParaRPr kumimoji="0" lang="zh-CN" altLang="en-US" sz="2400">
              <a:solidFill>
                <a:srgbClr val="000000"/>
              </a:solidFill>
            </a:endParaRPr>
          </a:p>
          <a:p>
            <a:pPr lvl="1" eaLnBrk="1" hangingPunct="1"/>
            <a:r>
              <a:rPr kumimoji="0" lang="en-US" altLang="zh-CN" sz="2400">
                <a:solidFill>
                  <a:srgbClr val="000000"/>
                </a:solidFill>
              </a:rPr>
              <a:t>PC+1</a:t>
            </a:r>
            <a:r>
              <a:rPr kumimoji="0" lang="zh-CN" altLang="en-US" sz="2400">
                <a:solidFill>
                  <a:srgbClr val="000000"/>
                </a:solidFill>
              </a:rPr>
              <a:t>，为取下条指令做好准备</a:t>
            </a:r>
            <a:endParaRPr kumimoji="0" lang="zh-CN" altLang="en-US" sz="2400">
              <a:solidFill>
                <a:srgbClr val="000000"/>
              </a:solidFill>
            </a:endParaRPr>
          </a:p>
          <a:p>
            <a:pPr lvl="1" eaLnBrk="1" hangingPunct="1"/>
            <a:r>
              <a:rPr kumimoji="0" lang="zh-CN" altLang="en-US" sz="2400">
                <a:solidFill>
                  <a:srgbClr val="000000"/>
                </a:solidFill>
              </a:rPr>
              <a:t>指令译码</a:t>
            </a:r>
            <a:endParaRPr kumimoji="0" lang="zh-CN" altLang="en-US" sz="2400">
              <a:solidFill>
                <a:srgbClr val="000000"/>
              </a:solidFill>
            </a:endParaRPr>
          </a:p>
          <a:p>
            <a:pPr eaLnBrk="1" hangingPunct="1"/>
            <a:r>
              <a:rPr kumimoji="0" lang="zh-CN" altLang="en-US" sz="2400">
                <a:solidFill>
                  <a:srgbClr val="000000"/>
                </a:solidFill>
              </a:rPr>
              <a:t>执行指令阶段</a:t>
            </a:r>
            <a:endParaRPr kumimoji="0" lang="zh-CN" altLang="en-US" sz="2400">
              <a:solidFill>
                <a:srgbClr val="000000"/>
              </a:solidFill>
            </a:endParaRPr>
          </a:p>
          <a:p>
            <a:pPr lvl="1" eaLnBrk="1" hangingPunct="1"/>
            <a:r>
              <a:rPr kumimoji="0" lang="zh-CN" altLang="en-US" sz="2400">
                <a:solidFill>
                  <a:srgbClr val="000000"/>
                </a:solidFill>
              </a:rPr>
              <a:t>将通用寄存器</a:t>
            </a:r>
            <a:r>
              <a:rPr kumimoji="0" lang="en-US" altLang="zh-CN" sz="2400">
                <a:solidFill>
                  <a:srgbClr val="000000"/>
                </a:solidFill>
              </a:rPr>
              <a:t>R3</a:t>
            </a:r>
            <a:r>
              <a:rPr kumimoji="0" lang="zh-CN" altLang="en-US" sz="2400">
                <a:solidFill>
                  <a:srgbClr val="000000"/>
                </a:solidFill>
              </a:rPr>
              <a:t>的内容读出，装入地址寄存器</a:t>
            </a:r>
            <a:r>
              <a:rPr kumimoji="0" lang="en-US" altLang="zh-CN" sz="2400">
                <a:solidFill>
                  <a:srgbClr val="000000"/>
                </a:solidFill>
              </a:rPr>
              <a:t>AR</a:t>
            </a:r>
            <a:r>
              <a:rPr kumimoji="0" lang="zh-CN" altLang="en-US" sz="2400">
                <a:solidFill>
                  <a:srgbClr val="000000"/>
                </a:solidFill>
              </a:rPr>
              <a:t>中</a:t>
            </a:r>
            <a:endParaRPr kumimoji="0" lang="en-US" altLang="zh-CN" sz="2400">
              <a:solidFill>
                <a:srgbClr val="000000"/>
              </a:solidFill>
            </a:endParaRPr>
          </a:p>
          <a:p>
            <a:pPr lvl="1" eaLnBrk="1" hangingPunct="1"/>
            <a:r>
              <a:rPr kumimoji="0" lang="zh-CN" altLang="en-US" sz="2400">
                <a:solidFill>
                  <a:srgbClr val="000000"/>
                </a:solidFill>
              </a:rPr>
              <a:t>将通用寄存器</a:t>
            </a:r>
            <a:r>
              <a:rPr kumimoji="0" lang="en-US" altLang="zh-CN" sz="2400">
                <a:solidFill>
                  <a:srgbClr val="000000"/>
                </a:solidFill>
              </a:rPr>
              <a:t>R2</a:t>
            </a:r>
            <a:r>
              <a:rPr kumimoji="0" lang="zh-CN" altLang="en-US" sz="2400">
                <a:solidFill>
                  <a:srgbClr val="000000"/>
                </a:solidFill>
              </a:rPr>
              <a:t>的内容读出，将数据放到数据总线上</a:t>
            </a:r>
            <a:endParaRPr kumimoji="0" lang="zh-CN" altLang="en-US" sz="2400">
              <a:solidFill>
                <a:srgbClr val="000000"/>
              </a:solidFill>
            </a:endParaRPr>
          </a:p>
          <a:p>
            <a:pPr lvl="1" eaLnBrk="1" hangingPunct="1"/>
            <a:r>
              <a:rPr kumimoji="0" lang="zh-CN" altLang="en-US" sz="2400">
                <a:solidFill>
                  <a:srgbClr val="000000"/>
                </a:solidFill>
              </a:rPr>
              <a:t>发出写命令，将数据</a:t>
            </a:r>
            <a:r>
              <a:rPr kumimoji="0" lang="en-US" altLang="zh-CN" sz="2400">
                <a:solidFill>
                  <a:srgbClr val="000000"/>
                </a:solidFill>
              </a:rPr>
              <a:t>120</a:t>
            </a:r>
            <a:r>
              <a:rPr kumimoji="0" lang="zh-CN" altLang="en-US" sz="2400">
                <a:solidFill>
                  <a:srgbClr val="000000"/>
                </a:solidFill>
              </a:rPr>
              <a:t>写入到</a:t>
            </a:r>
            <a:r>
              <a:rPr kumimoji="0" lang="en-US" altLang="zh-CN" sz="2400">
                <a:solidFill>
                  <a:srgbClr val="000000"/>
                </a:solidFill>
              </a:rPr>
              <a:t>30</a:t>
            </a:r>
            <a:r>
              <a:rPr kumimoji="0" lang="zh-CN" altLang="en-US" sz="2400">
                <a:solidFill>
                  <a:srgbClr val="000000"/>
                </a:solidFill>
              </a:rPr>
              <a:t>号单元中</a:t>
            </a:r>
            <a:endParaRPr lang="zh-CN" altLang="en-US" sz="2400">
              <a:solidFill>
                <a:srgbClr val="000000"/>
              </a:solidFill>
            </a:endParaRPr>
          </a:p>
          <a:p>
            <a:endParaRPr lang="zh-CN" altLang="en-US"/>
          </a:p>
        </p:txBody>
      </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pPr eaLnBrk="1" hangingPunct="1"/>
            <a:r>
              <a:rPr lang="en-US" altLang="zh-CN"/>
              <a:t>STO</a:t>
            </a:r>
            <a:r>
              <a:rPr lang="zh-CN" altLang="en-US"/>
              <a:t>指令执行周期</a:t>
            </a:r>
            <a:endParaRPr lang="zh-CN" altLang="en-US"/>
          </a:p>
        </p:txBody>
      </p:sp>
      <p:sp>
        <p:nvSpPr>
          <p:cNvPr id="51202" name="Rectangle 3"/>
          <p:cNvSpPr>
            <a:spLocks noGrp="1" noChangeArrowheads="1"/>
          </p:cNvSpPr>
          <p:nvPr>
            <p:ph idx="1"/>
          </p:nvPr>
        </p:nvSpPr>
        <p:spPr/>
        <p:txBody>
          <a:bodyPr/>
          <a:lstStyle/>
          <a:p>
            <a:pPr eaLnBrk="1" hangingPunct="1"/>
            <a:endParaRPr lang="zh-CN" altLang="en-US"/>
          </a:p>
        </p:txBody>
      </p:sp>
      <p:pic>
        <p:nvPicPr>
          <p:cNvPr id="51204" name="Picture 4" descr="777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5038" y="935038"/>
            <a:ext cx="7212012" cy="543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pPr eaLnBrk="1" hangingPunct="1">
              <a:defRPr/>
            </a:pPr>
            <a:r>
              <a:rPr lang="en-US" altLang="zh-CN"/>
              <a:t>JMP</a:t>
            </a:r>
            <a:r>
              <a:rPr lang="zh-CN" altLang="en-US"/>
              <a:t>指令的指令周期</a:t>
            </a:r>
            <a:endParaRPr lang="zh-CN" altLang="en-US"/>
          </a:p>
        </p:txBody>
      </p:sp>
      <p:sp>
        <p:nvSpPr>
          <p:cNvPr id="52226" name="Rectangle 3"/>
          <p:cNvSpPr>
            <a:spLocks noGrp="1" noChangeArrowheads="1"/>
          </p:cNvSpPr>
          <p:nvPr>
            <p:ph idx="1"/>
          </p:nvPr>
        </p:nvSpPr>
        <p:spPr>
          <a:xfrm>
            <a:off x="201613" y="993775"/>
            <a:ext cx="8728075" cy="5270500"/>
          </a:xfrm>
        </p:spPr>
        <p:txBody>
          <a:bodyPr/>
          <a:lstStyle/>
          <a:p>
            <a:pPr eaLnBrk="1" hangingPunct="1"/>
            <a:r>
              <a:rPr kumimoji="0" lang="en-US" altLang="zh-CN"/>
              <a:t>JMP</a:t>
            </a:r>
            <a:r>
              <a:rPr kumimoji="0" lang="zh-CN" altLang="en-US"/>
              <a:t>指令是一条无条件转移指令</a:t>
            </a:r>
            <a:endParaRPr kumimoji="0" lang="zh-CN" altLang="en-US"/>
          </a:p>
          <a:p>
            <a:pPr eaLnBrk="1" hangingPunct="1"/>
            <a:r>
              <a:rPr kumimoji="0" lang="zh-CN" altLang="en-US"/>
              <a:t>由两个</a:t>
            </a:r>
            <a:r>
              <a:rPr kumimoji="0" lang="en-US" altLang="zh-CN"/>
              <a:t>CPU</a:t>
            </a:r>
            <a:r>
              <a:rPr kumimoji="0" lang="zh-CN" altLang="en-US"/>
              <a:t>周期组成</a:t>
            </a:r>
            <a:endParaRPr kumimoji="0" lang="zh-CN" altLang="en-US"/>
          </a:p>
        </p:txBody>
      </p:sp>
      <p:sp>
        <p:nvSpPr>
          <p:cNvPr id="52228" name="Line 4"/>
          <p:cNvSpPr>
            <a:spLocks noChangeShapeType="1"/>
          </p:cNvSpPr>
          <p:nvPr/>
        </p:nvSpPr>
        <p:spPr bwMode="auto">
          <a:xfrm>
            <a:off x="2825750"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2229" name="Line 5"/>
          <p:cNvSpPr>
            <a:spLocks noChangeShapeType="1"/>
          </p:cNvSpPr>
          <p:nvPr/>
        </p:nvSpPr>
        <p:spPr bwMode="auto">
          <a:xfrm>
            <a:off x="2811463" y="2387600"/>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2230" name="Line 6"/>
          <p:cNvSpPr>
            <a:spLocks noChangeShapeType="1"/>
          </p:cNvSpPr>
          <p:nvPr/>
        </p:nvSpPr>
        <p:spPr bwMode="auto">
          <a:xfrm>
            <a:off x="4254500" y="2387600"/>
            <a:ext cx="14573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2231" name="Text Box 7"/>
          <p:cNvSpPr txBox="1">
            <a:spLocks noChangeArrowheads="1"/>
          </p:cNvSpPr>
          <p:nvPr/>
        </p:nvSpPr>
        <p:spPr bwMode="auto">
          <a:xfrm>
            <a:off x="3092833" y="2112963"/>
            <a:ext cx="9056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52232" name="Text Box 8"/>
          <p:cNvSpPr txBox="1">
            <a:spLocks noChangeArrowheads="1"/>
          </p:cNvSpPr>
          <p:nvPr/>
        </p:nvSpPr>
        <p:spPr bwMode="auto">
          <a:xfrm>
            <a:off x="4540250" y="2112963"/>
            <a:ext cx="8969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lIns="0" r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000">
                <a:latin typeface="楷体" panose="02010609060101010101" pitchFamily="49" charset="-122"/>
                <a:ea typeface="楷体" panose="02010609060101010101" pitchFamily="49" charset="-122"/>
              </a:rPr>
              <a:t>一个</a:t>
            </a:r>
            <a:endParaRPr kumimoji="0" lang="zh-CN" altLang="en-US" sz="2000">
              <a:latin typeface="楷体" panose="02010609060101010101" pitchFamily="49" charset="-122"/>
              <a:ea typeface="楷体" panose="02010609060101010101" pitchFamily="49" charset="-122"/>
            </a:endParaRPr>
          </a:p>
          <a:p>
            <a:pPr algn="ctr" eaLnBrk="1" hangingPunct="1">
              <a:lnSpc>
                <a:spcPct val="80000"/>
              </a:lnSpc>
              <a:spcBef>
                <a:spcPct val="0"/>
              </a:spcBef>
              <a:buClrTx/>
              <a:buFontTx/>
              <a:buNone/>
            </a:pPr>
            <a:r>
              <a:rPr kumimoji="0" lang="en-US" altLang="zh-CN" sz="2000">
                <a:latin typeface="楷体" panose="02010609060101010101" pitchFamily="49" charset="-122"/>
                <a:ea typeface="楷体" panose="02010609060101010101" pitchFamily="49" charset="-122"/>
              </a:rPr>
              <a:t>CPU</a:t>
            </a:r>
            <a:r>
              <a:rPr kumimoji="0" lang="zh-CN" altLang="en-US" sz="2000">
                <a:latin typeface="楷体" panose="02010609060101010101" pitchFamily="49" charset="-122"/>
                <a:ea typeface="楷体" panose="02010609060101010101" pitchFamily="49" charset="-122"/>
              </a:rPr>
              <a:t>周期</a:t>
            </a:r>
            <a:endParaRPr kumimoji="0" lang="zh-CN" altLang="en-US" sz="2000">
              <a:latin typeface="楷体" panose="02010609060101010101" pitchFamily="49" charset="-122"/>
              <a:ea typeface="楷体" panose="02010609060101010101" pitchFamily="49" charset="-122"/>
            </a:endParaRPr>
          </a:p>
        </p:txBody>
      </p:sp>
      <p:sp>
        <p:nvSpPr>
          <p:cNvPr id="52233" name="Oval 9"/>
          <p:cNvSpPr>
            <a:spLocks noChangeArrowheads="1"/>
          </p:cNvSpPr>
          <p:nvPr/>
        </p:nvSpPr>
        <p:spPr bwMode="auto">
          <a:xfrm>
            <a:off x="2968625" y="2687638"/>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52234" name="AutoShape 10"/>
          <p:cNvSpPr>
            <a:spLocks noChangeArrowheads="1"/>
          </p:cNvSpPr>
          <p:nvPr/>
        </p:nvSpPr>
        <p:spPr bwMode="auto">
          <a:xfrm>
            <a:off x="2139950" y="2887663"/>
            <a:ext cx="814388" cy="600075"/>
          </a:xfrm>
          <a:prstGeom prst="rightArrow">
            <a:avLst>
              <a:gd name="adj1" fmla="val 59259"/>
              <a:gd name="adj2" fmla="val 38622"/>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楷体" panose="02010609060101010101" pitchFamily="49" charset="-122"/>
                <a:ea typeface="楷体" panose="02010609060101010101" pitchFamily="49" charset="-122"/>
              </a:rPr>
              <a:t>开始</a:t>
            </a:r>
            <a:endParaRPr kumimoji="0" lang="zh-CN" altLang="en-US" sz="2000" dirty="0">
              <a:solidFill>
                <a:schemeClr val="bg1"/>
              </a:solidFill>
              <a:latin typeface="楷体" panose="02010609060101010101" pitchFamily="49" charset="-122"/>
              <a:ea typeface="楷体" panose="02010609060101010101" pitchFamily="49" charset="-122"/>
            </a:endParaRPr>
          </a:p>
        </p:txBody>
      </p:sp>
      <p:sp>
        <p:nvSpPr>
          <p:cNvPr id="52235" name="Oval 11"/>
          <p:cNvSpPr>
            <a:spLocks noChangeArrowheads="1"/>
          </p:cNvSpPr>
          <p:nvPr/>
        </p:nvSpPr>
        <p:spPr bwMode="auto">
          <a:xfrm>
            <a:off x="2968625" y="431641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对指令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译码</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52236" name="Line 12"/>
          <p:cNvSpPr>
            <a:spLocks noChangeShapeType="1"/>
          </p:cNvSpPr>
          <p:nvPr/>
        </p:nvSpPr>
        <p:spPr bwMode="auto">
          <a:xfrm>
            <a:off x="4268788"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2237" name="Line 13"/>
          <p:cNvSpPr>
            <a:spLocks noChangeShapeType="1"/>
          </p:cNvSpPr>
          <p:nvPr/>
        </p:nvSpPr>
        <p:spPr bwMode="auto">
          <a:xfrm>
            <a:off x="5711825" y="2244725"/>
            <a:ext cx="0" cy="3457575"/>
          </a:xfrm>
          <a:prstGeom prst="line">
            <a:avLst/>
          </a:prstGeom>
          <a:noFill/>
          <a:ln w="25400">
            <a:solidFill>
              <a:schemeClr val="tx1"/>
            </a:solidFill>
            <a:prstDash val="dash"/>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2238" name="AutoShape 14"/>
          <p:cNvSpPr>
            <a:spLocks noChangeArrowheads="1"/>
          </p:cNvSpPr>
          <p:nvPr/>
        </p:nvSpPr>
        <p:spPr bwMode="auto">
          <a:xfrm>
            <a:off x="3282950" y="3902075"/>
            <a:ext cx="485775" cy="357188"/>
          </a:xfrm>
          <a:prstGeom prst="downArrow">
            <a:avLst>
              <a:gd name="adj1" fmla="val 50000"/>
              <a:gd name="adj2" fmla="val 25000"/>
            </a:avLst>
          </a:prstGeom>
          <a:solidFill>
            <a:srgbClr val="663300"/>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2239" name="Oval 15"/>
          <p:cNvSpPr>
            <a:spLocks noChangeArrowheads="1"/>
          </p:cNvSpPr>
          <p:nvPr/>
        </p:nvSpPr>
        <p:spPr bwMode="auto">
          <a:xfrm>
            <a:off x="4425950" y="4316413"/>
            <a:ext cx="1143000" cy="1143000"/>
          </a:xfrm>
          <a:prstGeom prst="ellipse">
            <a:avLst/>
          </a:prstGeom>
          <a:solidFill>
            <a:srgbClr val="660066"/>
          </a:solidFill>
          <a:ln w="19050">
            <a:no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送转移</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地址</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52240" name="AutoShape 16"/>
          <p:cNvSpPr>
            <a:spLocks noChangeArrowheads="1"/>
          </p:cNvSpPr>
          <p:nvPr/>
        </p:nvSpPr>
        <p:spPr bwMode="auto">
          <a:xfrm>
            <a:off x="4054475" y="4716463"/>
            <a:ext cx="442913" cy="371475"/>
          </a:xfrm>
          <a:prstGeom prst="rightArrow">
            <a:avLst>
              <a:gd name="adj1" fmla="val 50000"/>
              <a:gd name="adj2" fmla="val 29808"/>
            </a:avLst>
          </a:prstGeom>
          <a:solidFill>
            <a:srgbClr val="6633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2241" name="Oval 17"/>
          <p:cNvSpPr>
            <a:spLocks noChangeArrowheads="1"/>
          </p:cNvSpPr>
          <p:nvPr/>
        </p:nvSpPr>
        <p:spPr bwMode="auto">
          <a:xfrm>
            <a:off x="5883275" y="2730500"/>
            <a:ext cx="1143000" cy="1143000"/>
          </a:xfrm>
          <a:prstGeom prst="ellipse">
            <a:avLst/>
          </a:prstGeom>
          <a:solidFill>
            <a:srgbClr val="660066"/>
          </a:solidFill>
          <a:ln w="25400">
            <a:noFill/>
            <a:prstDash val="dash"/>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取</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下条指令</a:t>
            </a:r>
            <a:endParaRPr kumimoji="0" lang="zh-CN" altLang="en-US" sz="2400">
              <a:solidFill>
                <a:schemeClr val="bg1"/>
              </a:solidFill>
              <a:ea typeface="楷体" panose="02010609060101010101" pitchFamily="49" charset="-122"/>
              <a:cs typeface="Times New Roman" panose="02020603050405020304" pitchFamily="18" charset="0"/>
            </a:endParaRPr>
          </a:p>
          <a:p>
            <a:pPr algn="ctr" eaLnBrk="1" hangingPunct="1">
              <a:lnSpc>
                <a:spcPct val="80000"/>
              </a:lnSpc>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PC+1</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52242" name="AutoShape 18"/>
          <p:cNvSpPr/>
          <p:nvPr/>
        </p:nvSpPr>
        <p:spPr bwMode="auto">
          <a:xfrm rot="5400000" flipV="1">
            <a:off x="3447256" y="5037932"/>
            <a:ext cx="185737" cy="1428750"/>
          </a:xfrm>
          <a:prstGeom prst="rightBrace">
            <a:avLst>
              <a:gd name="adj1" fmla="val 64103"/>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2243" name="AutoShape 19"/>
          <p:cNvSpPr/>
          <p:nvPr/>
        </p:nvSpPr>
        <p:spPr bwMode="auto">
          <a:xfrm rot="5400000" flipV="1">
            <a:off x="4890294" y="5037931"/>
            <a:ext cx="200025" cy="1414463"/>
          </a:xfrm>
          <a:prstGeom prst="rightBrace">
            <a:avLst>
              <a:gd name="adj1" fmla="val 58929"/>
              <a:gd name="adj2" fmla="val 50000"/>
            </a:avLst>
          </a:prstGeom>
          <a:noFill/>
          <a:ln w="2540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2244" name="Text Box 20"/>
          <p:cNvSpPr txBox="1">
            <a:spLocks noChangeArrowheads="1"/>
          </p:cNvSpPr>
          <p:nvPr/>
        </p:nvSpPr>
        <p:spPr bwMode="auto">
          <a:xfrm>
            <a:off x="2787650" y="5780088"/>
            <a:ext cx="1462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取指令阶段</a:t>
            </a:r>
            <a:endParaRPr kumimoji="0" lang="zh-CN" altLang="en-US" sz="2000">
              <a:latin typeface="楷体" panose="02010609060101010101" pitchFamily="49" charset="-122"/>
              <a:ea typeface="楷体" panose="02010609060101010101" pitchFamily="49" charset="-122"/>
            </a:endParaRPr>
          </a:p>
        </p:txBody>
      </p:sp>
      <p:sp>
        <p:nvSpPr>
          <p:cNvPr id="52245" name="Text Box 21"/>
          <p:cNvSpPr txBox="1">
            <a:spLocks noChangeArrowheads="1"/>
          </p:cNvSpPr>
          <p:nvPr/>
        </p:nvSpPr>
        <p:spPr bwMode="auto">
          <a:xfrm>
            <a:off x="4129088" y="578008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楷体" panose="02010609060101010101" pitchFamily="49" charset="-122"/>
                <a:ea typeface="楷体" panose="02010609060101010101" pitchFamily="49" charset="-122"/>
              </a:rPr>
              <a:t>执行指令阶段</a:t>
            </a:r>
            <a:endParaRPr kumimoji="0" lang="zh-CN" altLang="en-US" sz="2000">
              <a:latin typeface="楷体" panose="02010609060101010101" pitchFamily="49" charset="-122"/>
              <a:ea typeface="楷体" panose="02010609060101010101" pitchFamily="49" charset="-122"/>
            </a:endParaRPr>
          </a:p>
        </p:txBody>
      </p:sp>
      <p:sp>
        <p:nvSpPr>
          <p:cNvPr id="235552" name="AutoShape 32"/>
          <p:cNvSpPr>
            <a:spLocks noChangeArrowheads="1"/>
          </p:cNvSpPr>
          <p:nvPr/>
        </p:nvSpPr>
        <p:spPr bwMode="auto">
          <a:xfrm rot="-3005805">
            <a:off x="5343525" y="3970338"/>
            <a:ext cx="898525" cy="387350"/>
          </a:xfrm>
          <a:prstGeom prst="rightArrow">
            <a:avLst>
              <a:gd name="adj1" fmla="val 50000"/>
              <a:gd name="adj2" fmla="val 57992"/>
            </a:avLst>
          </a:prstGeom>
          <a:solidFill>
            <a:srgbClr val="663300"/>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pPr eaLnBrk="1" hangingPunct="1"/>
            <a:r>
              <a:rPr lang="en-US" altLang="zh-CN"/>
              <a:t>JMP</a:t>
            </a:r>
            <a:r>
              <a:rPr lang="zh-CN" altLang="en-US"/>
              <a:t>指令执行周期</a:t>
            </a:r>
            <a:endParaRPr lang="zh-CN" altLang="en-US"/>
          </a:p>
        </p:txBody>
      </p:sp>
      <p:sp>
        <p:nvSpPr>
          <p:cNvPr id="53250" name="Rectangle 3"/>
          <p:cNvSpPr>
            <a:spLocks noGrp="1" noChangeArrowheads="1"/>
          </p:cNvSpPr>
          <p:nvPr>
            <p:ph idx="1"/>
          </p:nvPr>
        </p:nvSpPr>
        <p:spPr/>
        <p:txBody>
          <a:bodyPr/>
          <a:lstStyle/>
          <a:p>
            <a:pPr eaLnBrk="1" hangingPunct="1"/>
            <a:endParaRPr lang="zh-CN" altLang="en-US"/>
          </a:p>
        </p:txBody>
      </p:sp>
      <p:pic>
        <p:nvPicPr>
          <p:cNvPr id="53252" name="Picture 4" descr="888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9638" y="889000"/>
            <a:ext cx="7270750" cy="548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a:xfrm>
            <a:off x="152400" y="228600"/>
            <a:ext cx="8991600" cy="723900"/>
          </a:xfrm>
        </p:spPr>
        <p:txBody>
          <a:bodyPr/>
          <a:lstStyle/>
          <a:p>
            <a:pPr eaLnBrk="1" hangingPunct="1"/>
            <a:r>
              <a:rPr lang="zh-CN" altLang="en-US" dirty="0"/>
              <a:t>总结：每条指令的执行步骤</a:t>
            </a:r>
            <a:endParaRPr lang="zh-CN" altLang="en-US" dirty="0"/>
          </a:p>
        </p:txBody>
      </p:sp>
      <p:sp>
        <p:nvSpPr>
          <p:cNvPr id="449539" name="Rectangle 3"/>
          <p:cNvSpPr>
            <a:spLocks noGrp="1" noChangeArrowheads="1"/>
          </p:cNvSpPr>
          <p:nvPr>
            <p:ph idx="1"/>
          </p:nvPr>
        </p:nvSpPr>
        <p:spPr>
          <a:xfrm>
            <a:off x="1297362" y="824287"/>
            <a:ext cx="7815262" cy="5014912"/>
          </a:xfrm>
        </p:spPr>
        <p:txBody>
          <a:bodyPr/>
          <a:lstStyle/>
          <a:p>
            <a:pPr eaLnBrk="1" hangingPunct="1">
              <a:buClr>
                <a:schemeClr val="tx1"/>
              </a:buClr>
              <a:buFont typeface="Wingdings 2" pitchFamily="18" charset="2"/>
              <a:buNone/>
            </a:pPr>
            <a:r>
              <a:rPr lang="en-US" altLang="zh-CN" sz="2800" dirty="0">
                <a:latin typeface="楷体_GB2312" pitchFamily="49" charset="-122"/>
              </a:rPr>
              <a:t>1</a:t>
            </a:r>
            <a:r>
              <a:rPr lang="zh-CN" altLang="en-US" sz="2800" dirty="0">
                <a:latin typeface="楷体_GB2312" pitchFamily="49" charset="-122"/>
              </a:rPr>
              <a:t>）读取指令</a:t>
            </a:r>
            <a:endParaRPr lang="zh-CN" altLang="en-US" sz="2800" dirty="0">
              <a:latin typeface="楷体_GB2312" pitchFamily="49" charset="-122"/>
            </a:endParaRPr>
          </a:p>
          <a:p>
            <a:pPr eaLnBrk="1" hangingPunct="1">
              <a:buClr>
                <a:schemeClr val="tx1"/>
              </a:buClr>
              <a:buFont typeface="Wingdings 2" pitchFamily="18" charset="2"/>
              <a:buNone/>
            </a:pPr>
            <a:r>
              <a:rPr lang="zh-CN" altLang="en-US" sz="2400" dirty="0">
                <a:latin typeface="楷体_GB2312" pitchFamily="49" charset="-122"/>
              </a:rPr>
              <a:t>      </a:t>
            </a:r>
            <a:r>
              <a:rPr lang="zh-CN" altLang="en-US" sz="2000" dirty="0">
                <a:latin typeface="楷体_GB2312" pitchFamily="49" charset="-122"/>
              </a:rPr>
              <a:t>指令地址送入主存地址寄存器</a:t>
            </a:r>
            <a:endParaRPr lang="zh-CN" altLang="en-US" sz="2000" dirty="0">
              <a:latin typeface="楷体_GB2312" pitchFamily="49" charset="-122"/>
            </a:endParaRPr>
          </a:p>
          <a:p>
            <a:pPr lvl="2" eaLnBrk="1" hangingPunct="1">
              <a:buClr>
                <a:schemeClr val="tx1"/>
              </a:buClr>
              <a:buFont typeface="Wingdings" panose="05000000000000000000" pitchFamily="2" charset="2"/>
              <a:buNone/>
            </a:pPr>
            <a:r>
              <a:rPr lang="zh-CN" altLang="en-US" sz="2000" dirty="0">
                <a:latin typeface="宋体" panose="02010600030101010101" pitchFamily="2" charset="-122"/>
              </a:rPr>
              <a:t>读主存，读出内容送入指令寄存器</a:t>
            </a:r>
            <a:endParaRPr lang="zh-CN" altLang="en-US" sz="2000" dirty="0">
              <a:latin typeface="宋体" panose="02010600030101010101" pitchFamily="2" charset="-122"/>
            </a:endParaRPr>
          </a:p>
          <a:p>
            <a:pPr eaLnBrk="1" hangingPunct="1">
              <a:lnSpc>
                <a:spcPct val="120000"/>
              </a:lnSpc>
              <a:buClr>
                <a:schemeClr val="tx1"/>
              </a:buClr>
              <a:buFont typeface="Wingdings 2" pitchFamily="18" charset="2"/>
              <a:buNone/>
            </a:pPr>
            <a:r>
              <a:rPr lang="en-US" altLang="zh-CN" sz="2800" dirty="0">
                <a:latin typeface="楷体_GB2312" pitchFamily="49" charset="-122"/>
              </a:rPr>
              <a:t>2</a:t>
            </a:r>
            <a:r>
              <a:rPr lang="zh-CN" altLang="en-US" sz="2800" dirty="0">
                <a:latin typeface="楷体_GB2312" pitchFamily="49" charset="-122"/>
              </a:rPr>
              <a:t>）分析指令</a:t>
            </a:r>
            <a:endParaRPr lang="zh-CN" altLang="en-US" sz="2800" dirty="0">
              <a:latin typeface="楷体_GB2312" pitchFamily="49" charset="-122"/>
            </a:endParaRPr>
          </a:p>
          <a:p>
            <a:pPr eaLnBrk="1" hangingPunct="1">
              <a:buClr>
                <a:schemeClr val="tx1"/>
              </a:buClr>
              <a:buFont typeface="Wingdings 2" pitchFamily="18" charset="2"/>
              <a:buNone/>
            </a:pPr>
            <a:r>
              <a:rPr lang="en-US" altLang="zh-CN" sz="2800" dirty="0">
                <a:latin typeface="楷体_GB2312" pitchFamily="49" charset="-122"/>
              </a:rPr>
              <a:t>3</a:t>
            </a:r>
            <a:r>
              <a:rPr lang="zh-CN" altLang="en-US" sz="2800" dirty="0">
                <a:latin typeface="楷体_GB2312" pitchFamily="49" charset="-122"/>
              </a:rPr>
              <a:t>）按指令规定内容执行指令</a:t>
            </a:r>
            <a:endParaRPr lang="zh-CN" altLang="en-US" sz="2800" dirty="0">
              <a:latin typeface="楷体_GB2312" pitchFamily="49" charset="-122"/>
            </a:endParaRPr>
          </a:p>
          <a:p>
            <a:pPr lvl="2" eaLnBrk="1" hangingPunct="1">
              <a:buClr>
                <a:schemeClr val="tx1"/>
              </a:buClr>
              <a:buFont typeface="Wingdings" panose="05000000000000000000" pitchFamily="2" charset="2"/>
              <a:buNone/>
            </a:pPr>
            <a:r>
              <a:rPr lang="zh-CN" altLang="en-US" sz="2000" dirty="0">
                <a:latin typeface="楷体_GB2312" pitchFamily="49" charset="-122"/>
                <a:ea typeface="楷体_GB2312" pitchFamily="49" charset="-122"/>
              </a:rPr>
              <a:t>           </a:t>
            </a:r>
            <a:r>
              <a:rPr lang="zh-CN" altLang="en-US" sz="2000" dirty="0">
                <a:latin typeface="宋体" panose="02010600030101010101" pitchFamily="2" charset="-122"/>
              </a:rPr>
              <a:t>不同指令的操作步骤数</a:t>
            </a:r>
            <a:endParaRPr lang="zh-CN" altLang="en-US" sz="2000" dirty="0">
              <a:latin typeface="宋体" panose="02010600030101010101" pitchFamily="2" charset="-122"/>
            </a:endParaRPr>
          </a:p>
          <a:p>
            <a:pPr lvl="2">
              <a:buClr>
                <a:schemeClr val="tx1"/>
              </a:buClr>
              <a:buNone/>
            </a:pPr>
            <a:r>
              <a:rPr lang="zh-CN" altLang="en-US" sz="2000" dirty="0">
                <a:latin typeface="楷体_GB2312" pitchFamily="49" charset="-122"/>
                <a:ea typeface="楷体_GB2312" pitchFamily="49" charset="-122"/>
              </a:rPr>
              <a:t>           </a:t>
            </a:r>
            <a:r>
              <a:rPr lang="zh-CN" altLang="en-US" dirty="0">
                <a:latin typeface="宋体" panose="02010600030101010101" pitchFamily="2" charset="-122"/>
              </a:rPr>
              <a:t>和具体操作内容差异很大</a:t>
            </a:r>
            <a:r>
              <a:rPr lang="en-US" altLang="zh-CN" dirty="0">
                <a:latin typeface="宋体" panose="02010600030101010101" pitchFamily="2" charset="-122"/>
              </a:rPr>
              <a:t>,</a:t>
            </a:r>
            <a:endParaRPr lang="en-US" altLang="zh-CN" dirty="0">
              <a:latin typeface="宋体" panose="02010600030101010101" pitchFamily="2" charset="-122"/>
            </a:endParaRPr>
          </a:p>
          <a:p>
            <a:pPr eaLnBrk="1" hangingPunct="1">
              <a:spcBef>
                <a:spcPct val="0"/>
              </a:spcBef>
              <a:buClrTx/>
              <a:buFontTx/>
              <a:buNone/>
            </a:pPr>
            <a:r>
              <a:rPr lang="zh-CN" altLang="en-US" sz="2400" dirty="0">
                <a:latin typeface="楷体_GB2312" pitchFamily="49" charset="-122"/>
              </a:rPr>
              <a:t>               </a:t>
            </a:r>
            <a:r>
              <a:rPr lang="zh-CN" altLang="en-US" sz="2000" dirty="0">
                <a:latin typeface="楷体_GB2312" pitchFamily="49" charset="-122"/>
              </a:rPr>
              <a:t>是每一条指令的特定操作</a:t>
            </a:r>
            <a:endParaRPr lang="zh-CN" altLang="en-US" sz="2000" dirty="0">
              <a:latin typeface="楷体_GB2312" pitchFamily="49" charset="-122"/>
            </a:endParaRPr>
          </a:p>
          <a:p>
            <a:pPr eaLnBrk="1" hangingPunct="1">
              <a:spcBef>
                <a:spcPct val="0"/>
              </a:spcBef>
              <a:buClrTx/>
              <a:buFontTx/>
              <a:buNone/>
            </a:pPr>
            <a:r>
              <a:rPr lang="zh-CN" altLang="en-US" sz="2400" dirty="0">
                <a:latin typeface="楷体_GB2312" pitchFamily="49" charset="-122"/>
              </a:rPr>
              <a:t>			   </a:t>
            </a:r>
            <a:r>
              <a:rPr lang="zh-CN" altLang="en-US" sz="2000" dirty="0">
                <a:latin typeface="楷体_GB2312" pitchFamily="49" charset="-122"/>
              </a:rPr>
              <a:t>可能执行一次或多次</a:t>
            </a:r>
            <a:r>
              <a:rPr lang="en-US" altLang="zh-CN" sz="2800" dirty="0">
                <a:latin typeface="楷体_GB2312" pitchFamily="49" charset="-122"/>
              </a:rPr>
              <a:t>          </a:t>
            </a:r>
            <a:endParaRPr lang="en-US" altLang="zh-CN" sz="2800" dirty="0">
              <a:latin typeface="楷体_GB2312" pitchFamily="49" charset="-122"/>
            </a:endParaRPr>
          </a:p>
          <a:p>
            <a:pPr eaLnBrk="1" hangingPunct="1">
              <a:lnSpc>
                <a:spcPct val="120000"/>
              </a:lnSpc>
              <a:spcBef>
                <a:spcPct val="50000"/>
              </a:spcBef>
              <a:buClr>
                <a:schemeClr val="tx1"/>
              </a:buClr>
              <a:buFont typeface="Wingdings 2" pitchFamily="18" charset="2"/>
              <a:buNone/>
            </a:pPr>
            <a:r>
              <a:rPr lang="en-US" altLang="zh-CN" sz="2800" dirty="0">
                <a:latin typeface="楷体_GB2312" pitchFamily="49" charset="-122"/>
              </a:rPr>
              <a:t>4</a:t>
            </a:r>
            <a:r>
              <a:rPr lang="zh-CN" altLang="en-US" sz="2800" dirty="0">
                <a:latin typeface="楷体_GB2312" pitchFamily="49" charset="-122"/>
              </a:rPr>
              <a:t>）检查有无中断请求</a:t>
            </a:r>
            <a:endParaRPr lang="zh-CN" altLang="en-US" sz="2800" dirty="0">
              <a:latin typeface="楷体_GB2312" pitchFamily="49" charset="-122"/>
            </a:endParaRPr>
          </a:p>
          <a:p>
            <a:pPr lvl="2" eaLnBrk="1" hangingPunct="1">
              <a:buClr>
                <a:schemeClr val="tx1"/>
              </a:buClr>
              <a:buNone/>
            </a:pPr>
            <a:r>
              <a:rPr lang="zh-CN" altLang="en-US" dirty="0">
                <a:latin typeface="宋体" panose="02010600030101010101" pitchFamily="2" charset="-122"/>
              </a:rPr>
              <a:t>若有，则响应中断并转中断处理</a:t>
            </a:r>
            <a:endParaRPr lang="zh-CN" altLang="en-US" dirty="0">
              <a:latin typeface="宋体" panose="02010600030101010101" pitchFamily="2" charset="-122"/>
            </a:endParaRPr>
          </a:p>
          <a:p>
            <a:pPr lvl="2">
              <a:buClr>
                <a:schemeClr val="tx1"/>
              </a:buClr>
              <a:buNone/>
            </a:pPr>
            <a:r>
              <a:rPr lang="zh-CN" altLang="en-US" dirty="0">
                <a:latin typeface="宋体" panose="02010600030101010101" pitchFamily="2" charset="-122"/>
              </a:rPr>
              <a:t>若无，则转入下一条指令的执行过程</a:t>
            </a:r>
            <a:endParaRPr lang="zh-CN" altLang="en-US" dirty="0">
              <a:latin typeface="宋体" panose="02010600030101010101" pitchFamily="2" charset="-122"/>
            </a:endParaRPr>
          </a:p>
        </p:txBody>
      </p:sp>
      <p:sp>
        <p:nvSpPr>
          <p:cNvPr id="35845" name="Text Box 5"/>
          <p:cNvSpPr txBox="1">
            <a:spLocks noChangeArrowheads="1"/>
          </p:cNvSpPr>
          <p:nvPr/>
        </p:nvSpPr>
        <p:spPr bwMode="auto">
          <a:xfrm>
            <a:off x="6708002" y="2434611"/>
            <a:ext cx="553998" cy="2819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vert="eaVert" wrap="none" anchor="ct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Tx/>
              <a:buNone/>
            </a:pPr>
            <a:r>
              <a:rPr lang="zh-CN" altLang="en-US" sz="2400" dirty="0">
                <a:latin typeface="楷体" panose="02010609060101010101" pitchFamily="49" charset="-122"/>
                <a:ea typeface="楷体" panose="02010609060101010101" pitchFamily="49" charset="-122"/>
              </a:rPr>
              <a:t>形成下一条指令地址</a:t>
            </a:r>
            <a:endParaRPr lang="zh-CN" altLang="en-US" sz="2000" dirty="0">
              <a:solidFill>
                <a:schemeClr val="tx2"/>
              </a:solidFill>
              <a:latin typeface="楷体" panose="02010609060101010101" pitchFamily="49" charset="-122"/>
              <a:ea typeface="楷体" panose="02010609060101010101" pitchFamily="49" charset="-122"/>
            </a:endParaRPr>
          </a:p>
        </p:txBody>
      </p:sp>
      <p:sp>
        <p:nvSpPr>
          <p:cNvPr id="449545" name="Freeform 9"/>
          <p:cNvSpPr/>
          <p:nvPr/>
        </p:nvSpPr>
        <p:spPr bwMode="auto">
          <a:xfrm>
            <a:off x="4286250" y="1062038"/>
            <a:ext cx="4598988" cy="4857750"/>
          </a:xfrm>
          <a:custGeom>
            <a:avLst/>
            <a:gdLst>
              <a:gd name="T0" fmla="*/ 2147483646 w 3264"/>
              <a:gd name="T1" fmla="*/ 2147483646 h 2880"/>
              <a:gd name="T2" fmla="*/ 2147483646 w 3264"/>
              <a:gd name="T3" fmla="*/ 2147483646 h 2880"/>
              <a:gd name="T4" fmla="*/ 2147483646 w 3264"/>
              <a:gd name="T5" fmla="*/ 0 h 2880"/>
              <a:gd name="T6" fmla="*/ 0 w 3264"/>
              <a:gd name="T7" fmla="*/ 0 h 2880"/>
              <a:gd name="T8" fmla="*/ 0 60000 65536"/>
              <a:gd name="T9" fmla="*/ 0 60000 65536"/>
              <a:gd name="T10" fmla="*/ 0 60000 65536"/>
              <a:gd name="T11" fmla="*/ 0 60000 65536"/>
              <a:gd name="T12" fmla="*/ 0 w 3264"/>
              <a:gd name="T13" fmla="*/ 0 h 2880"/>
              <a:gd name="T14" fmla="*/ 3264 w 3264"/>
              <a:gd name="T15" fmla="*/ 2880 h 2880"/>
            </a:gdLst>
            <a:ahLst/>
            <a:cxnLst>
              <a:cxn ang="T8">
                <a:pos x="T0" y="T1"/>
              </a:cxn>
              <a:cxn ang="T9">
                <a:pos x="T2" y="T3"/>
              </a:cxn>
              <a:cxn ang="T10">
                <a:pos x="T4" y="T5"/>
              </a:cxn>
              <a:cxn ang="T11">
                <a:pos x="T6" y="T7"/>
              </a:cxn>
            </a:cxnLst>
            <a:rect l="T12" t="T13" r="T14" b="T15"/>
            <a:pathLst>
              <a:path w="3264" h="2880">
                <a:moveTo>
                  <a:pt x="2208" y="2880"/>
                </a:moveTo>
                <a:lnTo>
                  <a:pt x="3264" y="2880"/>
                </a:lnTo>
                <a:lnTo>
                  <a:pt x="3264" y="0"/>
                </a:lnTo>
                <a:lnTo>
                  <a:pt x="0" y="0"/>
                </a:lnTo>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zh-CN" altLang="en-US"/>
          </a:p>
        </p:txBody>
      </p:sp>
      <p:sp>
        <p:nvSpPr>
          <p:cNvPr id="449547" name="Text Box 11"/>
          <p:cNvSpPr txBox="1">
            <a:spLocks noChangeArrowheads="1"/>
          </p:cNvSpPr>
          <p:nvPr/>
        </p:nvSpPr>
        <p:spPr bwMode="auto">
          <a:xfrm>
            <a:off x="334963" y="3386138"/>
            <a:ext cx="2286000" cy="133350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lang="en-US" altLang="zh-CN" sz="2000" dirty="0">
                <a:ea typeface="楷体" panose="02010609060101010101" pitchFamily="49" charset="-122"/>
                <a:cs typeface="Times New Roman" panose="02020603050405020304" pitchFamily="18" charset="0"/>
              </a:rPr>
              <a:t>R_R</a:t>
            </a:r>
            <a:r>
              <a:rPr lang="zh-CN" altLang="en-US" sz="2000" dirty="0">
                <a:ea typeface="楷体" panose="02010609060101010101" pitchFamily="49" charset="-122"/>
                <a:cs typeface="Times New Roman" panose="02020603050405020304" pitchFamily="18" charset="0"/>
              </a:rPr>
              <a:t>类型指令</a:t>
            </a:r>
            <a:endParaRPr lang="zh-CN" altLang="en-US" sz="20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000" dirty="0">
                <a:ea typeface="楷体" panose="02010609060101010101" pitchFamily="49" charset="-122"/>
                <a:cs typeface="Times New Roman" panose="02020603050405020304" pitchFamily="18" charset="0"/>
              </a:rPr>
              <a:t>读写内存类型指令</a:t>
            </a:r>
            <a:endParaRPr lang="zh-CN" altLang="en-US" sz="20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000" dirty="0">
                <a:ea typeface="楷体" panose="02010609060101010101" pitchFamily="49" charset="-122"/>
                <a:cs typeface="Times New Roman" panose="02020603050405020304" pitchFamily="18" charset="0"/>
              </a:rPr>
              <a:t>输入输出类型指令</a:t>
            </a:r>
            <a:endParaRPr lang="zh-CN" altLang="en-US" sz="2000" dirty="0">
              <a:ea typeface="楷体" panose="02010609060101010101" pitchFamily="49" charset="-122"/>
              <a:cs typeface="Times New Roman" panose="02020603050405020304" pitchFamily="18" charset="0"/>
            </a:endParaRPr>
          </a:p>
          <a:p>
            <a:pPr algn="l" eaLnBrk="1" hangingPunct="1">
              <a:spcBef>
                <a:spcPct val="0"/>
              </a:spcBef>
              <a:buClrTx/>
              <a:buFontTx/>
              <a:buNone/>
            </a:pPr>
            <a:r>
              <a:rPr lang="zh-CN" altLang="en-US" sz="2000" dirty="0">
                <a:ea typeface="楷体" panose="02010609060101010101" pitchFamily="49" charset="-122"/>
                <a:cs typeface="Times New Roman" panose="02020603050405020304" pitchFamily="18" charset="0"/>
              </a:rPr>
              <a:t>其他类型指令</a:t>
            </a:r>
            <a:endParaRPr lang="zh-CN" altLang="en-US" sz="2000" dirty="0">
              <a:ea typeface="楷体" panose="02010609060101010101" pitchFamily="49" charset="-122"/>
              <a:cs typeface="Times New Roman" panose="02020603050405020304" pitchFamily="18" charset="0"/>
            </a:endParaRPr>
          </a:p>
        </p:txBody>
      </p:sp>
      <p:sp>
        <p:nvSpPr>
          <p:cNvPr id="449549" name="Text Box 13"/>
          <p:cNvSpPr txBox="1">
            <a:spLocks noChangeArrowheads="1"/>
          </p:cNvSpPr>
          <p:nvPr/>
        </p:nvSpPr>
        <p:spPr bwMode="auto">
          <a:xfrm>
            <a:off x="258763" y="1393825"/>
            <a:ext cx="1295400" cy="723900"/>
          </a:xfrm>
          <a:prstGeom prst="rect">
            <a:avLst/>
          </a:prstGeom>
          <a:noFill/>
          <a:ln w="222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zh-CN" altLang="en-US" sz="2000" dirty="0">
                <a:latin typeface="楷体" panose="02010609060101010101" pitchFamily="49" charset="-122"/>
                <a:ea typeface="楷体" panose="02010609060101010101" pitchFamily="49" charset="-122"/>
              </a:rPr>
              <a:t>是一次读</a:t>
            </a:r>
            <a:endParaRPr lang="zh-CN" altLang="en-US" sz="2000" dirty="0">
              <a:latin typeface="楷体" panose="02010609060101010101" pitchFamily="49" charset="-122"/>
              <a:ea typeface="楷体" panose="02010609060101010101" pitchFamily="49" charset="-122"/>
            </a:endParaRPr>
          </a:p>
          <a:p>
            <a:pPr eaLnBrk="1" hangingPunct="1">
              <a:spcBef>
                <a:spcPct val="0"/>
              </a:spcBef>
              <a:buClrTx/>
              <a:buFontTx/>
              <a:buNone/>
            </a:pPr>
            <a:r>
              <a:rPr lang="zh-CN" altLang="en-US" sz="2000" dirty="0">
                <a:latin typeface="楷体" panose="02010609060101010101" pitchFamily="49" charset="-122"/>
                <a:ea typeface="楷体" panose="02010609060101010101" pitchFamily="49" charset="-122"/>
              </a:rPr>
              <a:t>内存操作</a:t>
            </a:r>
            <a:endParaRPr lang="zh-CN" altLang="en-US" sz="2000" dirty="0">
              <a:latin typeface="楷体" panose="02010609060101010101" pitchFamily="49" charset="-122"/>
              <a:ea typeface="楷体" panose="02010609060101010101" pitchFamily="49" charset="-122"/>
            </a:endParaRPr>
          </a:p>
        </p:txBody>
      </p:sp>
      <p:sp>
        <p:nvSpPr>
          <p:cNvPr id="449550" name="Text Box 14"/>
          <p:cNvSpPr txBox="1">
            <a:spLocks noChangeArrowheads="1"/>
          </p:cNvSpPr>
          <p:nvPr/>
        </p:nvSpPr>
        <p:spPr bwMode="auto">
          <a:xfrm>
            <a:off x="6286500" y="1560513"/>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ea typeface="宋体" panose="02010600030101010101" pitchFamily="2" charset="-122"/>
              </a:rPr>
              <a:t>公共操作</a:t>
            </a:r>
            <a:endParaRPr lang="zh-CN" altLang="en-US" sz="2000">
              <a:ea typeface="宋体" panose="02010600030101010101" pitchFamily="2" charset="-122"/>
            </a:endParaRPr>
          </a:p>
        </p:txBody>
      </p:sp>
      <p:sp>
        <p:nvSpPr>
          <p:cNvPr id="449551" name="Text Box 15"/>
          <p:cNvSpPr txBox="1">
            <a:spLocks noChangeArrowheads="1"/>
          </p:cNvSpPr>
          <p:nvPr/>
        </p:nvSpPr>
        <p:spPr bwMode="auto">
          <a:xfrm>
            <a:off x="6248400" y="5672138"/>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a:ea typeface="宋体" panose="02010600030101010101" pitchFamily="2" charset="-122"/>
              </a:rPr>
              <a:t>公共操作</a:t>
            </a:r>
            <a:endParaRPr lang="zh-CN" altLang="en-US" sz="2000">
              <a:ea typeface="宋体" panose="02010600030101010101" pitchFamily="2" charset="-122"/>
            </a:endParaRPr>
          </a:p>
        </p:txBody>
      </p:sp>
      <p:sp>
        <p:nvSpPr>
          <p:cNvPr id="449553" name="AutoShape 17"/>
          <p:cNvSpPr/>
          <p:nvPr/>
        </p:nvSpPr>
        <p:spPr bwMode="auto">
          <a:xfrm>
            <a:off x="5897563" y="1428750"/>
            <a:ext cx="376237" cy="762000"/>
          </a:xfrm>
          <a:prstGeom prst="rightBrace">
            <a:avLst>
              <a:gd name="adj1" fmla="val 16878"/>
              <a:gd name="adj2" fmla="val 50000"/>
            </a:avLst>
          </a:prstGeom>
          <a:noFill/>
          <a:ln w="2222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449554" name="AutoShape 18"/>
          <p:cNvSpPr/>
          <p:nvPr/>
        </p:nvSpPr>
        <p:spPr bwMode="auto">
          <a:xfrm>
            <a:off x="5965871" y="5398576"/>
            <a:ext cx="376237" cy="989012"/>
          </a:xfrm>
          <a:prstGeom prst="rightBrace">
            <a:avLst>
              <a:gd name="adj1" fmla="val 21906"/>
              <a:gd name="adj2" fmla="val 50000"/>
            </a:avLst>
          </a:prstGeom>
          <a:noFill/>
          <a:ln w="2222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9539">
                                            <p:txEl>
                                              <p:pRg st="0" end="0"/>
                                            </p:txEl>
                                          </p:spTgt>
                                        </p:tgtEl>
                                        <p:attrNameLst>
                                          <p:attrName>style.visibility</p:attrName>
                                        </p:attrNameLst>
                                      </p:cBhvr>
                                      <p:to>
                                        <p:strVal val="visible"/>
                                      </p:to>
                                    </p:set>
                                    <p:animEffect transition="in" filter="wipe(left)">
                                      <p:cBhvr>
                                        <p:cTn id="7" dur="500"/>
                                        <p:tgtEl>
                                          <p:spTgt spid="449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9539">
                                            <p:txEl>
                                              <p:pRg st="1" end="1"/>
                                            </p:txEl>
                                          </p:spTgt>
                                        </p:tgtEl>
                                        <p:attrNameLst>
                                          <p:attrName>style.visibility</p:attrName>
                                        </p:attrNameLst>
                                      </p:cBhvr>
                                      <p:to>
                                        <p:strVal val="visible"/>
                                      </p:to>
                                    </p:set>
                                    <p:animEffect transition="in" filter="wipe(left)">
                                      <p:cBhvr>
                                        <p:cTn id="12" dur="500"/>
                                        <p:tgtEl>
                                          <p:spTgt spid="449539">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49539">
                                            <p:txEl>
                                              <p:pRg st="2" end="2"/>
                                            </p:txEl>
                                          </p:spTgt>
                                        </p:tgtEl>
                                        <p:attrNameLst>
                                          <p:attrName>style.visibility</p:attrName>
                                        </p:attrNameLst>
                                      </p:cBhvr>
                                      <p:to>
                                        <p:strVal val="visible"/>
                                      </p:to>
                                    </p:set>
                                    <p:animEffect transition="in" filter="wipe(left)">
                                      <p:cBhvr>
                                        <p:cTn id="15" dur="500"/>
                                        <p:tgtEl>
                                          <p:spTgt spid="44953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49549"/>
                                        </p:tgtEl>
                                        <p:attrNameLst>
                                          <p:attrName>style.visibility</p:attrName>
                                        </p:attrNameLst>
                                      </p:cBhvr>
                                      <p:to>
                                        <p:strVal val="visible"/>
                                      </p:to>
                                    </p:set>
                                    <p:animEffect transition="in" filter="wipe(left)">
                                      <p:cBhvr>
                                        <p:cTn id="20" dur="500"/>
                                        <p:tgtEl>
                                          <p:spTgt spid="44954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49553"/>
                                        </p:tgtEl>
                                        <p:attrNameLst>
                                          <p:attrName>style.visibility</p:attrName>
                                        </p:attrNameLst>
                                      </p:cBhvr>
                                      <p:to>
                                        <p:strVal val="visible"/>
                                      </p:to>
                                    </p:set>
                                    <p:animEffect transition="in" filter="dissolve">
                                      <p:cBhvr>
                                        <p:cTn id="23" dur="500"/>
                                        <p:tgtEl>
                                          <p:spTgt spid="44955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49550"/>
                                        </p:tgtEl>
                                        <p:attrNameLst>
                                          <p:attrName>style.visibility</p:attrName>
                                        </p:attrNameLst>
                                      </p:cBhvr>
                                      <p:to>
                                        <p:strVal val="visible"/>
                                      </p:to>
                                    </p:set>
                                    <p:animEffect transition="in" filter="dissolve">
                                      <p:cBhvr>
                                        <p:cTn id="28" dur="500"/>
                                        <p:tgtEl>
                                          <p:spTgt spid="4495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49539">
                                            <p:txEl>
                                              <p:pRg st="3" end="3"/>
                                            </p:txEl>
                                          </p:spTgt>
                                        </p:tgtEl>
                                        <p:attrNameLst>
                                          <p:attrName>style.visibility</p:attrName>
                                        </p:attrNameLst>
                                      </p:cBhvr>
                                      <p:to>
                                        <p:strVal val="visible"/>
                                      </p:to>
                                    </p:set>
                                    <p:animEffect transition="in" filter="wipe(left)">
                                      <p:cBhvr>
                                        <p:cTn id="33" dur="500"/>
                                        <p:tgtEl>
                                          <p:spTgt spid="449539">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49539">
                                            <p:txEl>
                                              <p:pRg st="4" end="4"/>
                                            </p:txEl>
                                          </p:spTgt>
                                        </p:tgtEl>
                                        <p:attrNameLst>
                                          <p:attrName>style.visibility</p:attrName>
                                        </p:attrNameLst>
                                      </p:cBhvr>
                                      <p:to>
                                        <p:strVal val="visible"/>
                                      </p:to>
                                    </p:set>
                                    <p:animEffect transition="in" filter="wipe(left)">
                                      <p:cBhvr>
                                        <p:cTn id="38" dur="500"/>
                                        <p:tgtEl>
                                          <p:spTgt spid="449539">
                                            <p:txEl>
                                              <p:pRg st="4" end="4"/>
                                            </p:txEl>
                                          </p:spTgt>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449539">
                                            <p:txEl>
                                              <p:pRg st="5" end="5"/>
                                            </p:txEl>
                                          </p:spTgt>
                                        </p:tgtEl>
                                        <p:attrNameLst>
                                          <p:attrName>style.visibility</p:attrName>
                                        </p:attrNameLst>
                                      </p:cBhvr>
                                      <p:to>
                                        <p:strVal val="visible"/>
                                      </p:to>
                                    </p:set>
                                    <p:animEffect transition="in" filter="wipe(left)">
                                      <p:cBhvr>
                                        <p:cTn id="41" dur="500"/>
                                        <p:tgtEl>
                                          <p:spTgt spid="449539">
                                            <p:txEl>
                                              <p:pRg st="5" end="5"/>
                                            </p:txEl>
                                          </p:spTgt>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449539">
                                            <p:txEl>
                                              <p:pRg st="6" end="6"/>
                                            </p:txEl>
                                          </p:spTgt>
                                        </p:tgtEl>
                                        <p:attrNameLst>
                                          <p:attrName>style.visibility</p:attrName>
                                        </p:attrNameLst>
                                      </p:cBhvr>
                                      <p:to>
                                        <p:strVal val="visible"/>
                                      </p:to>
                                    </p:set>
                                    <p:animEffect transition="in" filter="wipe(left)">
                                      <p:cBhvr>
                                        <p:cTn id="44" dur="500"/>
                                        <p:tgtEl>
                                          <p:spTgt spid="449539">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49539">
                                            <p:txEl>
                                              <p:pRg st="7" end="7"/>
                                            </p:txEl>
                                          </p:spTgt>
                                        </p:tgtEl>
                                        <p:attrNameLst>
                                          <p:attrName>style.visibility</p:attrName>
                                        </p:attrNameLst>
                                      </p:cBhvr>
                                      <p:to>
                                        <p:strVal val="visible"/>
                                      </p:to>
                                    </p:set>
                                    <p:animEffect transition="in" filter="wipe(left)">
                                      <p:cBhvr>
                                        <p:cTn id="49" dur="500"/>
                                        <p:tgtEl>
                                          <p:spTgt spid="449539">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49539">
                                            <p:txEl>
                                              <p:pRg st="8" end="8"/>
                                            </p:txEl>
                                          </p:spTgt>
                                        </p:tgtEl>
                                        <p:attrNameLst>
                                          <p:attrName>style.visibility</p:attrName>
                                        </p:attrNameLst>
                                      </p:cBhvr>
                                      <p:to>
                                        <p:strVal val="visible"/>
                                      </p:to>
                                    </p:set>
                                    <p:animEffect transition="in" filter="wipe(left)">
                                      <p:cBhvr>
                                        <p:cTn id="54" dur="500"/>
                                        <p:tgtEl>
                                          <p:spTgt spid="449539">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49547"/>
                                        </p:tgtEl>
                                        <p:attrNameLst>
                                          <p:attrName>style.visibility</p:attrName>
                                        </p:attrNameLst>
                                      </p:cBhvr>
                                      <p:to>
                                        <p:strVal val="visible"/>
                                      </p:to>
                                    </p:set>
                                    <p:animEffect transition="in" filter="wipe(left)">
                                      <p:cBhvr>
                                        <p:cTn id="59" dur="500"/>
                                        <p:tgtEl>
                                          <p:spTgt spid="449547"/>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5845"/>
                                        </p:tgtEl>
                                        <p:attrNameLst>
                                          <p:attrName>style.visibility</p:attrName>
                                        </p:attrNameLst>
                                      </p:cBhvr>
                                      <p:to>
                                        <p:strVal val="visible"/>
                                      </p:to>
                                    </p:set>
                                    <p:animEffect transition="in" filter="blinds(horizontal)">
                                      <p:cBhvr>
                                        <p:cTn id="64" dur="500"/>
                                        <p:tgtEl>
                                          <p:spTgt spid="3584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49539">
                                            <p:txEl>
                                              <p:pRg st="9" end="9"/>
                                            </p:txEl>
                                          </p:spTgt>
                                        </p:tgtEl>
                                        <p:attrNameLst>
                                          <p:attrName>style.visibility</p:attrName>
                                        </p:attrNameLst>
                                      </p:cBhvr>
                                      <p:to>
                                        <p:strVal val="visible"/>
                                      </p:to>
                                    </p:set>
                                    <p:animEffect transition="in" filter="wipe(left)">
                                      <p:cBhvr>
                                        <p:cTn id="69" dur="500"/>
                                        <p:tgtEl>
                                          <p:spTgt spid="449539">
                                            <p:txEl>
                                              <p:pRg st="9" end="9"/>
                                            </p:txEl>
                                          </p:spTgt>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449539">
                                            <p:txEl>
                                              <p:pRg st="10" end="10"/>
                                            </p:txEl>
                                          </p:spTgt>
                                        </p:tgtEl>
                                        <p:attrNameLst>
                                          <p:attrName>style.visibility</p:attrName>
                                        </p:attrNameLst>
                                      </p:cBhvr>
                                      <p:to>
                                        <p:strVal val="visible"/>
                                      </p:to>
                                    </p:set>
                                    <p:animEffect transition="in" filter="wipe(left)">
                                      <p:cBhvr>
                                        <p:cTn id="72" dur="500"/>
                                        <p:tgtEl>
                                          <p:spTgt spid="449539">
                                            <p:txEl>
                                              <p:pRg st="10" end="10"/>
                                            </p:txEl>
                                          </p:spTgt>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449539">
                                            <p:txEl>
                                              <p:pRg st="11" end="11"/>
                                            </p:txEl>
                                          </p:spTgt>
                                        </p:tgtEl>
                                        <p:attrNameLst>
                                          <p:attrName>style.visibility</p:attrName>
                                        </p:attrNameLst>
                                      </p:cBhvr>
                                      <p:to>
                                        <p:strVal val="visible"/>
                                      </p:to>
                                    </p:set>
                                    <p:animEffect transition="in" filter="wipe(left)">
                                      <p:cBhvr>
                                        <p:cTn id="75" dur="500"/>
                                        <p:tgtEl>
                                          <p:spTgt spid="449539">
                                            <p:txEl>
                                              <p:pRg st="11" end="1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449554"/>
                                        </p:tgtEl>
                                        <p:attrNameLst>
                                          <p:attrName>style.visibility</p:attrName>
                                        </p:attrNameLst>
                                      </p:cBhvr>
                                      <p:to>
                                        <p:strVal val="visible"/>
                                      </p:to>
                                    </p:set>
                                    <p:animEffect transition="in" filter="dissolve">
                                      <p:cBhvr>
                                        <p:cTn id="80" dur="500"/>
                                        <p:tgtEl>
                                          <p:spTgt spid="44955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449545"/>
                                        </p:tgtEl>
                                        <p:attrNameLst>
                                          <p:attrName>style.visibility</p:attrName>
                                        </p:attrNameLst>
                                      </p:cBhvr>
                                      <p:to>
                                        <p:strVal val="visible"/>
                                      </p:to>
                                    </p:set>
                                    <p:animEffect transition="in" filter="wipe(right)">
                                      <p:cBhvr>
                                        <p:cTn id="85" dur="500"/>
                                        <p:tgtEl>
                                          <p:spTgt spid="449545"/>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449551"/>
                                        </p:tgtEl>
                                        <p:attrNameLst>
                                          <p:attrName>style.visibility</p:attrName>
                                        </p:attrNameLst>
                                      </p:cBhvr>
                                      <p:to>
                                        <p:strVal val="visible"/>
                                      </p:to>
                                    </p:set>
                                    <p:animEffect transition="in" filter="dissolve">
                                      <p:cBhvr>
                                        <p:cTn id="88" dur="500"/>
                                        <p:tgtEl>
                                          <p:spTgt spid="449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39" grpId="0" autoUpdateAnimBg="0" build="p"/>
      <p:bldP spid="35845" grpId="0"/>
      <p:bldP spid="449547" grpId="0" animBg="1"/>
      <p:bldP spid="449549" grpId="0" animBg="1"/>
      <p:bldP spid="449550" grpId="0"/>
      <p:bldP spid="449551" grpId="0"/>
      <p:bldP spid="449553" grpId="0" animBg="1"/>
      <p:bldP spid="44955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pPr eaLnBrk="1" hangingPunct="1"/>
            <a:r>
              <a:rPr lang="zh-CN" altLang="en-US"/>
              <a:t>方框图语言</a:t>
            </a:r>
            <a:endParaRPr lang="zh-CN" altLang="en-US"/>
          </a:p>
        </p:txBody>
      </p:sp>
      <p:sp>
        <p:nvSpPr>
          <p:cNvPr id="56322" name="Rectangle 3"/>
          <p:cNvSpPr>
            <a:spLocks noGrp="1" noChangeArrowheads="1"/>
          </p:cNvSpPr>
          <p:nvPr>
            <p:ph idx="1"/>
          </p:nvPr>
        </p:nvSpPr>
        <p:spPr/>
        <p:txBody>
          <a:bodyPr/>
          <a:lstStyle/>
          <a:p>
            <a:pPr eaLnBrk="1" hangingPunct="1"/>
            <a:r>
              <a:rPr lang="zh-CN" altLang="en-US"/>
              <a:t>在进行中央处理器设计时，可用方框图语言来描述一条指令的指令周期</a:t>
            </a:r>
            <a:endParaRPr lang="zh-CN" altLang="en-US"/>
          </a:p>
          <a:p>
            <a:pPr lvl="1" eaLnBrk="1" hangingPunct="1"/>
            <a:r>
              <a:rPr lang="zh-CN" altLang="en-US"/>
              <a:t>方框：代表一个</a:t>
            </a:r>
            <a:r>
              <a:rPr lang="en-US" altLang="zh-CN"/>
              <a:t>CPU</a:t>
            </a:r>
            <a:r>
              <a:rPr lang="zh-CN" altLang="en-US"/>
              <a:t>周期，方框中的内容表示数据通路的操作或某种控制操作</a:t>
            </a:r>
            <a:endParaRPr lang="zh-CN" altLang="en-US"/>
          </a:p>
          <a:p>
            <a:pPr lvl="1" eaLnBrk="1" hangingPunct="1"/>
            <a:r>
              <a:rPr lang="zh-CN" altLang="en-US"/>
              <a:t> 菱形：通常用来表示某种判别或测试，在时间上依附于紧接它的前面一个方框的</a:t>
            </a:r>
            <a:r>
              <a:rPr lang="en-US" altLang="zh-CN"/>
              <a:t>CPU</a:t>
            </a:r>
            <a:r>
              <a:rPr lang="zh-CN" altLang="en-US"/>
              <a:t>周期，不单独占用一个</a:t>
            </a:r>
            <a:r>
              <a:rPr lang="en-US" altLang="zh-CN"/>
              <a:t>CPU</a:t>
            </a:r>
            <a:r>
              <a:rPr lang="zh-CN" altLang="en-US"/>
              <a:t>周期</a:t>
            </a:r>
            <a:endParaRPr lang="zh-CN" altLang="en-US"/>
          </a:p>
        </p:txBody>
      </p:sp>
    </p:spTree>
  </p:cSld>
  <p:clrMapOvr>
    <a:masterClrMapping/>
  </p:clrMapOvr>
  <p:transition spd="med">
    <p:pull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67" name="Text Box 51"/>
          <p:cNvSpPr txBox="1">
            <a:spLocks noChangeArrowheads="1"/>
          </p:cNvSpPr>
          <p:nvPr/>
        </p:nvSpPr>
        <p:spPr bwMode="auto">
          <a:xfrm>
            <a:off x="6147547" y="5534865"/>
            <a:ext cx="3009900" cy="1323975"/>
          </a:xfrm>
          <a:prstGeom prst="rect">
            <a:avLst/>
          </a:prstGeom>
          <a:noFill/>
          <a:ln w="22225" algn="ctr">
            <a:solidFill>
              <a:srgbClr val="00F7F7"/>
            </a:solidFill>
            <a:miter lim="800000"/>
            <a:tailEnd type="none" w="lg" len="lg"/>
          </a:ln>
          <a:effectLst/>
        </p:spPr>
        <p:txBody>
          <a:bodyPr>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eaLnBrk="1" hangingPunct="1"/>
            <a:r>
              <a:rPr kumimoji="0" lang="zh-CN" altLang="en-US" sz="1600" b="1" dirty="0">
                <a:solidFill>
                  <a:srgbClr val="C00000"/>
                </a:solidFill>
                <a:latin typeface="楷体" panose="02010609060101010101" pitchFamily="49" charset="-122"/>
                <a:ea typeface="楷体" panose="02010609060101010101" pitchFamily="49" charset="-122"/>
              </a:rPr>
              <a:t>公操作符号：表示一条指令已经执行完毕，转入公操作。</a:t>
            </a:r>
            <a:endParaRPr kumimoji="0" lang="zh-CN" altLang="en-US" sz="1600" b="1" dirty="0">
              <a:solidFill>
                <a:srgbClr val="C00000"/>
              </a:solidFill>
              <a:latin typeface="楷体" panose="02010609060101010101" pitchFamily="49" charset="-122"/>
              <a:ea typeface="楷体" panose="02010609060101010101" pitchFamily="49" charset="-122"/>
            </a:endParaRPr>
          </a:p>
          <a:p>
            <a:pPr algn="l" eaLnBrk="1" hangingPunct="1"/>
            <a:r>
              <a:rPr kumimoji="0" lang="zh-CN" altLang="en-US" sz="1600" b="1" dirty="0">
                <a:solidFill>
                  <a:srgbClr val="C00000"/>
                </a:solidFill>
                <a:latin typeface="楷体" panose="02010609060101010101" pitchFamily="49" charset="-122"/>
                <a:ea typeface="楷体" panose="02010609060101010101" pitchFamily="49" charset="-122"/>
              </a:rPr>
              <a:t>公操作：是一条指令执行完毕后，</a:t>
            </a:r>
            <a:r>
              <a:rPr kumimoji="0" lang="en-US" altLang="zh-CN" sz="1600" b="1" dirty="0">
                <a:solidFill>
                  <a:srgbClr val="C00000"/>
                </a:solidFill>
                <a:latin typeface="楷体" panose="02010609060101010101" pitchFamily="49" charset="-122"/>
                <a:ea typeface="楷体" panose="02010609060101010101" pitchFamily="49" charset="-122"/>
              </a:rPr>
              <a:t>CPU</a:t>
            </a:r>
            <a:r>
              <a:rPr kumimoji="0" lang="zh-CN" altLang="en-US" sz="1600" b="1" dirty="0">
                <a:solidFill>
                  <a:srgbClr val="C00000"/>
                </a:solidFill>
                <a:latin typeface="楷体" panose="02010609060101010101" pitchFamily="49" charset="-122"/>
                <a:ea typeface="楷体" panose="02010609060101010101" pitchFamily="49" charset="-122"/>
              </a:rPr>
              <a:t>所进行的公共操作，如中断处理等。</a:t>
            </a:r>
            <a:endParaRPr lang="zh-CN" altLang="en-US" sz="1600"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
        <p:nvSpPr>
          <p:cNvPr id="57345" name="Rectangle 3"/>
          <p:cNvSpPr>
            <a:spLocks noGrp="1" noChangeArrowheads="1"/>
          </p:cNvSpPr>
          <p:nvPr>
            <p:ph idx="1"/>
          </p:nvPr>
        </p:nvSpPr>
        <p:spPr>
          <a:xfrm>
            <a:off x="-100012" y="142875"/>
            <a:ext cx="9144000" cy="571500"/>
          </a:xfrm>
        </p:spPr>
        <p:txBody>
          <a:bodyPr/>
          <a:lstStyle/>
          <a:p>
            <a:pPr algn="ctr" eaLnBrk="1" hangingPunct="1">
              <a:buFont typeface="Wingdings 2" pitchFamily="18" charset="2"/>
              <a:buNone/>
            </a:pPr>
            <a:r>
              <a:rPr lang="zh-CN" altLang="en-US" sz="4800" dirty="0">
                <a:solidFill>
                  <a:srgbClr val="000099"/>
                </a:solidFill>
                <a:ea typeface="黑体" panose="02010609060101010101" pitchFamily="49" charset="-122"/>
              </a:rPr>
              <a:t>五条典型指令的指令周期</a:t>
            </a:r>
            <a:endParaRPr lang="zh-CN" altLang="en-US" sz="4800" dirty="0">
              <a:solidFill>
                <a:srgbClr val="000099"/>
              </a:solidFill>
              <a:ea typeface="黑体" panose="02010609060101010101" pitchFamily="49" charset="-122"/>
            </a:endParaRPr>
          </a:p>
        </p:txBody>
      </p:sp>
      <p:sp>
        <p:nvSpPr>
          <p:cNvPr id="57347" name="AutoShape 4"/>
          <p:cNvSpPr>
            <a:spLocks noChangeArrowheads="1"/>
          </p:cNvSpPr>
          <p:nvPr/>
        </p:nvSpPr>
        <p:spPr bwMode="auto">
          <a:xfrm>
            <a:off x="2968625" y="1501775"/>
            <a:ext cx="2185988" cy="900112"/>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PC→ABUS(I)</a:t>
            </a:r>
            <a:endParaRPr kumimoji="0" lang="en-US" altLang="zh-CN"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IBUS→IR</a:t>
            </a:r>
            <a:endParaRPr kumimoji="0" lang="en-US" altLang="zh-CN" sz="200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PC+1</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48" name="AutoShape 6"/>
          <p:cNvSpPr>
            <a:spLocks noChangeArrowheads="1"/>
          </p:cNvSpPr>
          <p:nvPr/>
        </p:nvSpPr>
        <p:spPr bwMode="auto">
          <a:xfrm>
            <a:off x="2811463" y="2662237"/>
            <a:ext cx="2528887" cy="800100"/>
          </a:xfrm>
          <a:prstGeom prst="flowChartDecision">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译码</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57349" name="AutoShape 7"/>
          <p:cNvSpPr>
            <a:spLocks noChangeArrowheads="1"/>
          </p:cNvSpPr>
          <p:nvPr/>
        </p:nvSpPr>
        <p:spPr bwMode="auto">
          <a:xfrm>
            <a:off x="182563" y="4119562"/>
            <a:ext cx="1114425" cy="385763"/>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R1→R0</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50" name="AutoShape 8"/>
          <p:cNvSpPr>
            <a:spLocks noChangeArrowheads="1"/>
          </p:cNvSpPr>
          <p:nvPr/>
        </p:nvSpPr>
        <p:spPr bwMode="auto">
          <a:xfrm>
            <a:off x="1868488" y="4119562"/>
            <a:ext cx="1114425" cy="385763"/>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IR→AR</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51" name="AutoShape 9"/>
          <p:cNvSpPr>
            <a:spLocks noChangeArrowheads="1"/>
          </p:cNvSpPr>
          <p:nvPr/>
        </p:nvSpPr>
        <p:spPr bwMode="auto">
          <a:xfrm>
            <a:off x="3281363" y="4119562"/>
            <a:ext cx="1595437" cy="385763"/>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R1+R2→R2</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52" name="AutoShape 10"/>
          <p:cNvSpPr>
            <a:spLocks noChangeArrowheads="1"/>
          </p:cNvSpPr>
          <p:nvPr/>
        </p:nvSpPr>
        <p:spPr bwMode="auto">
          <a:xfrm>
            <a:off x="5226050" y="4119562"/>
            <a:ext cx="1114425" cy="385763"/>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R3→AR</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53" name="AutoShape 12"/>
          <p:cNvSpPr>
            <a:spLocks noChangeArrowheads="1"/>
          </p:cNvSpPr>
          <p:nvPr/>
        </p:nvSpPr>
        <p:spPr bwMode="auto">
          <a:xfrm>
            <a:off x="1657350" y="4899025"/>
            <a:ext cx="1543050" cy="830262"/>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7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DBUS→DR</a:t>
            </a:r>
            <a:endParaRPr kumimoji="0" lang="en-US" altLang="zh-CN" sz="2000">
              <a:solidFill>
                <a:schemeClr val="bg1"/>
              </a:solidFill>
              <a:ea typeface="楷体" panose="02010609060101010101" pitchFamily="49" charset="-122"/>
              <a:cs typeface="Times New Roman" panose="02020603050405020304" pitchFamily="18" charset="0"/>
            </a:endParaRPr>
          </a:p>
          <a:p>
            <a:pPr algn="ctr" eaLnBrk="1" hangingPunct="1">
              <a:lnSpc>
                <a:spcPct val="7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DR→R1</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54" name="AutoShape 14"/>
          <p:cNvSpPr>
            <a:spLocks noChangeArrowheads="1"/>
          </p:cNvSpPr>
          <p:nvPr/>
        </p:nvSpPr>
        <p:spPr bwMode="auto">
          <a:xfrm>
            <a:off x="5057775" y="4954587"/>
            <a:ext cx="1543050" cy="615950"/>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R2→DBUS</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55" name="Line 16"/>
          <p:cNvSpPr>
            <a:spLocks noChangeShapeType="1"/>
          </p:cNvSpPr>
          <p:nvPr/>
        </p:nvSpPr>
        <p:spPr bwMode="auto">
          <a:xfrm>
            <a:off x="754063" y="3719512"/>
            <a:ext cx="6686550" cy="0"/>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56" name="Freeform 19"/>
          <p:cNvSpPr/>
          <p:nvPr/>
        </p:nvSpPr>
        <p:spPr bwMode="auto">
          <a:xfrm>
            <a:off x="2027008" y="6050756"/>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solidFill>
            <a:srgbClr val="9900CC"/>
          </a:solidFill>
          <a:ln w="28575">
            <a:solidFill>
              <a:schemeClr val="tx1"/>
            </a:solidFill>
            <a:round/>
            <a:tailEnd type="none" w="lg" len="lg"/>
          </a:ln>
        </p:spPr>
        <p:txBody>
          <a:bodyPr/>
          <a:lstStyle/>
          <a:p>
            <a:endParaRPr lang="zh-CN" altLang="en-US"/>
          </a:p>
        </p:txBody>
      </p:sp>
      <p:sp>
        <p:nvSpPr>
          <p:cNvPr id="57357" name="Freeform 20"/>
          <p:cNvSpPr/>
          <p:nvPr/>
        </p:nvSpPr>
        <p:spPr bwMode="auto">
          <a:xfrm>
            <a:off x="368300" y="4833937"/>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solidFill>
            <a:srgbClr val="9900CC"/>
          </a:solidFill>
          <a:ln w="28575">
            <a:solidFill>
              <a:schemeClr val="tx1"/>
            </a:solidFill>
            <a:round/>
            <a:tailEnd type="none" w="lg" len="lg"/>
          </a:ln>
        </p:spPr>
        <p:txBody>
          <a:bodyPr/>
          <a:lstStyle/>
          <a:p>
            <a:endParaRPr lang="zh-CN" altLang="en-US"/>
          </a:p>
        </p:txBody>
      </p:sp>
      <p:sp>
        <p:nvSpPr>
          <p:cNvPr id="57358" name="Freeform 21"/>
          <p:cNvSpPr/>
          <p:nvPr/>
        </p:nvSpPr>
        <p:spPr bwMode="auto">
          <a:xfrm>
            <a:off x="3729038" y="4730750"/>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solidFill>
            <a:srgbClr val="9900CC"/>
          </a:solidFill>
          <a:ln w="28575">
            <a:solidFill>
              <a:schemeClr val="tx1"/>
            </a:solidFill>
            <a:round/>
            <a:tailEnd type="none" w="lg" len="lg"/>
          </a:ln>
        </p:spPr>
        <p:txBody>
          <a:bodyPr/>
          <a:lstStyle/>
          <a:p>
            <a:endParaRPr lang="zh-CN" altLang="en-US"/>
          </a:p>
        </p:txBody>
      </p:sp>
      <p:sp>
        <p:nvSpPr>
          <p:cNvPr id="57359" name="Freeform 22"/>
          <p:cNvSpPr/>
          <p:nvPr/>
        </p:nvSpPr>
        <p:spPr bwMode="auto">
          <a:xfrm>
            <a:off x="5380038" y="5912642"/>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solidFill>
            <a:srgbClr val="9900CC"/>
          </a:solidFill>
          <a:ln w="28575">
            <a:solidFill>
              <a:schemeClr val="tx1"/>
            </a:solidFill>
            <a:round/>
            <a:tailEnd type="none" w="lg" len="lg"/>
          </a:ln>
        </p:spPr>
        <p:txBody>
          <a:bodyPr/>
          <a:lstStyle/>
          <a:p>
            <a:endParaRPr lang="zh-CN" altLang="en-US"/>
          </a:p>
        </p:txBody>
      </p:sp>
      <p:sp>
        <p:nvSpPr>
          <p:cNvPr id="57360" name="Freeform 23"/>
          <p:cNvSpPr/>
          <p:nvPr/>
        </p:nvSpPr>
        <p:spPr bwMode="auto">
          <a:xfrm>
            <a:off x="7054850" y="4833937"/>
            <a:ext cx="742950" cy="214313"/>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solidFill>
            <a:srgbClr val="9900CC"/>
          </a:solidFill>
          <a:ln w="28575">
            <a:solidFill>
              <a:schemeClr val="tx1"/>
            </a:solidFill>
            <a:round/>
            <a:tailEnd type="none" w="lg" len="lg"/>
          </a:ln>
        </p:spPr>
        <p:txBody>
          <a:bodyPr/>
          <a:lstStyle/>
          <a:p>
            <a:endParaRPr lang="zh-CN" altLang="en-US"/>
          </a:p>
        </p:txBody>
      </p:sp>
      <p:sp>
        <p:nvSpPr>
          <p:cNvPr id="57361" name="Line 24"/>
          <p:cNvSpPr>
            <a:spLocks noChangeShapeType="1"/>
          </p:cNvSpPr>
          <p:nvPr/>
        </p:nvSpPr>
        <p:spPr bwMode="auto">
          <a:xfrm>
            <a:off x="754063" y="3705225"/>
            <a:ext cx="0" cy="414337"/>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2" name="Line 25"/>
          <p:cNvSpPr>
            <a:spLocks noChangeShapeType="1"/>
          </p:cNvSpPr>
          <p:nvPr/>
        </p:nvSpPr>
        <p:spPr bwMode="auto">
          <a:xfrm>
            <a:off x="2439988" y="3719512"/>
            <a:ext cx="0" cy="414338"/>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3" name="Line 26"/>
          <p:cNvSpPr>
            <a:spLocks noChangeShapeType="1"/>
          </p:cNvSpPr>
          <p:nvPr/>
        </p:nvSpPr>
        <p:spPr bwMode="auto">
          <a:xfrm>
            <a:off x="4068763" y="3448050"/>
            <a:ext cx="0" cy="685800"/>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4" name="Line 27"/>
          <p:cNvSpPr>
            <a:spLocks noChangeShapeType="1"/>
          </p:cNvSpPr>
          <p:nvPr/>
        </p:nvSpPr>
        <p:spPr bwMode="auto">
          <a:xfrm>
            <a:off x="5783263" y="3719512"/>
            <a:ext cx="0" cy="414338"/>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5" name="Line 28"/>
          <p:cNvSpPr>
            <a:spLocks noChangeShapeType="1"/>
          </p:cNvSpPr>
          <p:nvPr/>
        </p:nvSpPr>
        <p:spPr bwMode="auto">
          <a:xfrm>
            <a:off x="7426325" y="3719512"/>
            <a:ext cx="0" cy="414338"/>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6" name="Line 29"/>
          <p:cNvSpPr>
            <a:spLocks noChangeShapeType="1"/>
          </p:cNvSpPr>
          <p:nvPr/>
        </p:nvSpPr>
        <p:spPr bwMode="auto">
          <a:xfrm>
            <a:off x="4068763" y="2362200"/>
            <a:ext cx="0" cy="314325"/>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7" name="Line 30"/>
          <p:cNvSpPr>
            <a:spLocks noChangeShapeType="1"/>
          </p:cNvSpPr>
          <p:nvPr/>
        </p:nvSpPr>
        <p:spPr bwMode="auto">
          <a:xfrm>
            <a:off x="4068763" y="1236663"/>
            <a:ext cx="0" cy="265112"/>
          </a:xfrm>
          <a:prstGeom prst="line">
            <a:avLst/>
          </a:prstGeom>
          <a:noFill/>
          <a:ln w="2540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57368" name="Line 32"/>
          <p:cNvSpPr>
            <a:spLocks noChangeShapeType="1"/>
          </p:cNvSpPr>
          <p:nvPr/>
        </p:nvSpPr>
        <p:spPr bwMode="auto">
          <a:xfrm>
            <a:off x="754063" y="4519612"/>
            <a:ext cx="0" cy="428625"/>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69" name="Line 33"/>
          <p:cNvSpPr>
            <a:spLocks noChangeShapeType="1"/>
          </p:cNvSpPr>
          <p:nvPr/>
        </p:nvSpPr>
        <p:spPr bwMode="auto">
          <a:xfrm>
            <a:off x="2423647" y="5729287"/>
            <a:ext cx="0" cy="428625"/>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70" name="Line 34"/>
          <p:cNvSpPr>
            <a:spLocks noChangeShapeType="1"/>
          </p:cNvSpPr>
          <p:nvPr/>
        </p:nvSpPr>
        <p:spPr bwMode="auto">
          <a:xfrm>
            <a:off x="5780088" y="5570537"/>
            <a:ext cx="0" cy="428625"/>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71" name="Line 35"/>
          <p:cNvSpPr>
            <a:spLocks noChangeShapeType="1"/>
          </p:cNvSpPr>
          <p:nvPr/>
        </p:nvSpPr>
        <p:spPr bwMode="auto">
          <a:xfrm>
            <a:off x="5783263" y="4519612"/>
            <a:ext cx="0" cy="428625"/>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72" name="Line 36"/>
          <p:cNvSpPr>
            <a:spLocks noChangeShapeType="1"/>
          </p:cNvSpPr>
          <p:nvPr/>
        </p:nvSpPr>
        <p:spPr bwMode="auto">
          <a:xfrm>
            <a:off x="7426325" y="4505325"/>
            <a:ext cx="0" cy="428625"/>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73" name="Line 37"/>
          <p:cNvSpPr>
            <a:spLocks noChangeShapeType="1"/>
          </p:cNvSpPr>
          <p:nvPr/>
        </p:nvSpPr>
        <p:spPr bwMode="auto">
          <a:xfrm>
            <a:off x="2439988" y="4519612"/>
            <a:ext cx="0" cy="328613"/>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74" name="Line 38"/>
          <p:cNvSpPr>
            <a:spLocks noChangeShapeType="1"/>
          </p:cNvSpPr>
          <p:nvPr/>
        </p:nvSpPr>
        <p:spPr bwMode="auto">
          <a:xfrm>
            <a:off x="4083050" y="4519612"/>
            <a:ext cx="0" cy="328613"/>
          </a:xfrm>
          <a:prstGeom prst="line">
            <a:avLst/>
          </a:prstGeom>
          <a:noFill/>
          <a:ln w="2540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57375" name="Text Box 39"/>
          <p:cNvSpPr txBox="1">
            <a:spLocks noChangeArrowheads="1"/>
          </p:cNvSpPr>
          <p:nvPr/>
        </p:nvSpPr>
        <p:spPr bwMode="auto">
          <a:xfrm>
            <a:off x="3698875" y="869156"/>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宋体" panose="02010600030101010101" pitchFamily="2" charset="-122"/>
                <a:ea typeface="宋体" panose="02010600030101010101" pitchFamily="2" charset="-122"/>
              </a:rPr>
              <a:t>开始</a:t>
            </a:r>
            <a:endParaRPr kumimoji="0" lang="zh-CN" altLang="en-US" sz="2400" dirty="0">
              <a:latin typeface="宋体" panose="02010600030101010101" pitchFamily="2" charset="-122"/>
              <a:ea typeface="宋体" panose="02010600030101010101" pitchFamily="2" charset="-122"/>
            </a:endParaRPr>
          </a:p>
        </p:txBody>
      </p:sp>
      <p:sp>
        <p:nvSpPr>
          <p:cNvPr id="57376" name="Text Box 40"/>
          <p:cNvSpPr txBox="1">
            <a:spLocks noChangeArrowheads="1"/>
          </p:cNvSpPr>
          <p:nvPr/>
        </p:nvSpPr>
        <p:spPr bwMode="auto">
          <a:xfrm>
            <a:off x="2803507" y="1057275"/>
            <a:ext cx="9557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dirty="0">
                <a:ea typeface="宋体" panose="02010600030101010101" pitchFamily="2" charset="-122"/>
                <a:cs typeface="Times New Roman" panose="02020603050405020304" pitchFamily="18" charset="0"/>
              </a:rPr>
              <a:t>RD(I)</a:t>
            </a:r>
            <a:endParaRPr kumimoji="0" lang="en-US" altLang="zh-CN" sz="2400" dirty="0">
              <a:ea typeface="宋体" panose="02010600030101010101" pitchFamily="2" charset="-122"/>
              <a:cs typeface="Times New Roman" panose="02020603050405020304" pitchFamily="18" charset="0"/>
            </a:endParaRPr>
          </a:p>
        </p:txBody>
      </p:sp>
      <p:sp>
        <p:nvSpPr>
          <p:cNvPr id="57377" name="Text Box 41"/>
          <p:cNvSpPr txBox="1">
            <a:spLocks noChangeArrowheads="1"/>
          </p:cNvSpPr>
          <p:nvPr/>
        </p:nvSpPr>
        <p:spPr bwMode="auto">
          <a:xfrm>
            <a:off x="278682" y="3300412"/>
            <a:ext cx="936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MOV</a:t>
            </a:r>
            <a:endParaRPr kumimoji="0" lang="en-US" altLang="zh-CN" sz="2400">
              <a:ea typeface="宋体" panose="02010600030101010101" pitchFamily="2" charset="-122"/>
              <a:cs typeface="Times New Roman" panose="02020603050405020304" pitchFamily="18" charset="0"/>
            </a:endParaRPr>
          </a:p>
        </p:txBody>
      </p:sp>
      <p:sp>
        <p:nvSpPr>
          <p:cNvPr id="57378" name="Text Box 42"/>
          <p:cNvSpPr txBox="1">
            <a:spLocks noChangeArrowheads="1"/>
          </p:cNvSpPr>
          <p:nvPr/>
        </p:nvSpPr>
        <p:spPr bwMode="auto">
          <a:xfrm>
            <a:off x="2027008" y="3314700"/>
            <a:ext cx="8354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LAD</a:t>
            </a:r>
            <a:endParaRPr kumimoji="0" lang="en-US" altLang="zh-CN" sz="2400">
              <a:ea typeface="宋体" panose="02010600030101010101" pitchFamily="2" charset="-122"/>
              <a:cs typeface="Times New Roman" panose="02020603050405020304" pitchFamily="18" charset="0"/>
            </a:endParaRPr>
          </a:p>
        </p:txBody>
      </p:sp>
      <p:sp>
        <p:nvSpPr>
          <p:cNvPr id="57379" name="Text Box 43"/>
          <p:cNvSpPr txBox="1">
            <a:spLocks noChangeArrowheads="1"/>
          </p:cNvSpPr>
          <p:nvPr/>
        </p:nvSpPr>
        <p:spPr bwMode="auto">
          <a:xfrm>
            <a:off x="3209925" y="3314700"/>
            <a:ext cx="852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ADD</a:t>
            </a:r>
            <a:endParaRPr kumimoji="0" lang="en-US" altLang="zh-CN" sz="2400">
              <a:ea typeface="宋体" panose="02010600030101010101" pitchFamily="2" charset="-122"/>
              <a:cs typeface="Times New Roman" panose="02020603050405020304" pitchFamily="18" charset="0"/>
            </a:endParaRPr>
          </a:p>
        </p:txBody>
      </p:sp>
      <p:sp>
        <p:nvSpPr>
          <p:cNvPr id="57380" name="Text Box 44"/>
          <p:cNvSpPr txBox="1">
            <a:spLocks noChangeArrowheads="1"/>
          </p:cNvSpPr>
          <p:nvPr/>
        </p:nvSpPr>
        <p:spPr bwMode="auto">
          <a:xfrm>
            <a:off x="5380038" y="3300412"/>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STO</a:t>
            </a:r>
            <a:endParaRPr kumimoji="0" lang="en-US" altLang="zh-CN" sz="2400">
              <a:ea typeface="宋体" panose="02010600030101010101" pitchFamily="2" charset="-122"/>
              <a:cs typeface="Times New Roman" panose="02020603050405020304" pitchFamily="18" charset="0"/>
            </a:endParaRPr>
          </a:p>
        </p:txBody>
      </p:sp>
      <p:sp>
        <p:nvSpPr>
          <p:cNvPr id="57381" name="Text Box 45"/>
          <p:cNvSpPr txBox="1">
            <a:spLocks noChangeArrowheads="1"/>
          </p:cNvSpPr>
          <p:nvPr/>
        </p:nvSpPr>
        <p:spPr bwMode="auto">
          <a:xfrm>
            <a:off x="7011057" y="3300412"/>
            <a:ext cx="8162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JMP</a:t>
            </a:r>
            <a:endParaRPr kumimoji="0" lang="en-US" altLang="zh-CN" sz="2400">
              <a:ea typeface="宋体" panose="02010600030101010101" pitchFamily="2" charset="-122"/>
              <a:cs typeface="Times New Roman" panose="02020603050405020304" pitchFamily="18" charset="0"/>
            </a:endParaRPr>
          </a:p>
        </p:txBody>
      </p:sp>
      <p:sp>
        <p:nvSpPr>
          <p:cNvPr id="57382" name="Text Box 46"/>
          <p:cNvSpPr txBox="1">
            <a:spLocks noChangeArrowheads="1"/>
          </p:cNvSpPr>
          <p:nvPr/>
        </p:nvSpPr>
        <p:spPr bwMode="auto">
          <a:xfrm>
            <a:off x="1324255" y="4443412"/>
            <a:ext cx="10583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RD(D)</a:t>
            </a:r>
            <a:endParaRPr kumimoji="0" lang="en-US" altLang="zh-CN" sz="2400">
              <a:ea typeface="宋体" panose="02010600030101010101" pitchFamily="2" charset="-122"/>
              <a:cs typeface="Times New Roman" panose="02020603050405020304" pitchFamily="18" charset="0"/>
            </a:endParaRPr>
          </a:p>
        </p:txBody>
      </p:sp>
      <p:sp>
        <p:nvSpPr>
          <p:cNvPr id="57384" name="AutoShape 52"/>
          <p:cNvSpPr>
            <a:spLocks noChangeArrowheads="1"/>
          </p:cNvSpPr>
          <p:nvPr/>
        </p:nvSpPr>
        <p:spPr bwMode="auto">
          <a:xfrm>
            <a:off x="6881813" y="4129087"/>
            <a:ext cx="1114425" cy="385763"/>
          </a:xfrm>
          <a:prstGeom prst="flowChartProcess">
            <a:avLst/>
          </a:prstGeom>
          <a:solidFill>
            <a:srgbClr val="000099"/>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楷体" panose="02010609060101010101" pitchFamily="49" charset="-122"/>
                <a:cs typeface="Times New Roman" panose="02020603050405020304" pitchFamily="18" charset="0"/>
              </a:rPr>
              <a:t>IR→PC</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57385" name="Text Box 53"/>
          <p:cNvSpPr txBox="1">
            <a:spLocks noChangeArrowheads="1"/>
          </p:cNvSpPr>
          <p:nvPr/>
        </p:nvSpPr>
        <p:spPr bwMode="auto">
          <a:xfrm>
            <a:off x="4731498" y="4500562"/>
            <a:ext cx="11256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cs typeface="Times New Roman" panose="02020603050405020304" pitchFamily="18" charset="0"/>
              </a:rPr>
              <a:t>WE(D)</a:t>
            </a:r>
            <a:endParaRPr kumimoji="0" lang="en-US" altLang="zh-CN" sz="2400">
              <a:ea typeface="宋体" panose="02010600030101010101" pitchFamily="2" charset="-122"/>
              <a:cs typeface="Times New Roman" panose="02020603050405020304" pitchFamily="18" charset="0"/>
            </a:endParaRPr>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pPr eaLnBrk="1" hangingPunct="1">
              <a:defRPr/>
            </a:pPr>
            <a:r>
              <a:rPr lang="zh-CN" altLang="en-US"/>
              <a:t>例</a:t>
            </a:r>
            <a:r>
              <a:rPr lang="en-US" altLang="zh-CN"/>
              <a:t>1</a:t>
            </a:r>
            <a:endParaRPr lang="zh-CN" altLang="en-US"/>
          </a:p>
        </p:txBody>
      </p:sp>
      <p:sp>
        <p:nvSpPr>
          <p:cNvPr id="58370" name="Rectangle 3"/>
          <p:cNvSpPr>
            <a:spLocks noGrp="1" noChangeArrowheads="1"/>
          </p:cNvSpPr>
          <p:nvPr>
            <p:ph idx="1"/>
          </p:nvPr>
        </p:nvSpPr>
        <p:spPr>
          <a:xfrm>
            <a:off x="304800" y="1143000"/>
            <a:ext cx="8534400" cy="5334000"/>
          </a:xfrm>
        </p:spPr>
        <p:txBody>
          <a:bodyPr/>
          <a:lstStyle/>
          <a:p>
            <a:pPr eaLnBrk="1" hangingPunct="1">
              <a:lnSpc>
                <a:spcPct val="90000"/>
              </a:lnSpc>
              <a:buFont typeface="Wingdings 2" pitchFamily="18" charset="2"/>
              <a:buNone/>
            </a:pPr>
            <a:r>
              <a:rPr lang="zh-CN" altLang="en-US" sz="2800" dirty="0"/>
              <a:t>   </a:t>
            </a:r>
            <a:r>
              <a:rPr lang="zh-CN" altLang="en-US" sz="2400" dirty="0"/>
              <a:t>双总线结构机器的数据通路如图所示，</a:t>
            </a:r>
            <a:r>
              <a:rPr lang="en-US" altLang="zh-CN" sz="2400" dirty="0"/>
              <a:t>IR</a:t>
            </a:r>
            <a:r>
              <a:rPr lang="zh-CN" altLang="en-US" sz="2400" dirty="0"/>
              <a:t>为指令寄存器，</a:t>
            </a:r>
            <a:r>
              <a:rPr lang="en-US" altLang="zh-CN" sz="2400" dirty="0"/>
              <a:t>PC</a:t>
            </a:r>
            <a:r>
              <a:rPr lang="zh-CN" altLang="en-US" sz="2400" dirty="0"/>
              <a:t>为程序计数器（具有自增功能），</a:t>
            </a:r>
            <a:r>
              <a:rPr lang="en-US" altLang="zh-CN" sz="2400" dirty="0"/>
              <a:t>M</a:t>
            </a:r>
            <a:r>
              <a:rPr lang="zh-CN" altLang="en-US" sz="2400" dirty="0"/>
              <a:t>为主存（受</a:t>
            </a:r>
            <a:r>
              <a:rPr lang="en-US" altLang="zh-CN" sz="2400" dirty="0"/>
              <a:t>R/W#</a:t>
            </a:r>
            <a:r>
              <a:rPr lang="zh-CN" altLang="en-US" sz="2400" dirty="0"/>
              <a:t>信号控制），</a:t>
            </a:r>
            <a:r>
              <a:rPr lang="en-US" altLang="zh-CN" sz="2400" dirty="0"/>
              <a:t>AR</a:t>
            </a:r>
            <a:r>
              <a:rPr lang="zh-CN" altLang="en-US" sz="2400" dirty="0"/>
              <a:t>为地址寄存器，</a:t>
            </a:r>
            <a:r>
              <a:rPr lang="en-US" altLang="zh-CN" sz="2400" dirty="0"/>
              <a:t>DR</a:t>
            </a:r>
            <a:r>
              <a:rPr lang="zh-CN" altLang="en-US" sz="2400" dirty="0"/>
              <a:t>为数据缓冲寄存器， </a:t>
            </a:r>
            <a:r>
              <a:rPr lang="en-US" altLang="zh-CN" sz="2400" dirty="0"/>
              <a:t>ALU</a:t>
            </a:r>
            <a:r>
              <a:rPr lang="zh-CN" altLang="en-US" sz="2400" dirty="0"/>
              <a:t>由加、减控制信号决定完成何种操作，控制信号</a:t>
            </a:r>
            <a:r>
              <a:rPr lang="en-US" altLang="zh-CN" sz="2400" dirty="0"/>
              <a:t>G</a:t>
            </a:r>
            <a:r>
              <a:rPr lang="zh-CN" altLang="en-US" sz="2400" dirty="0"/>
              <a:t>控制的是一个门电路。另外，线上标注的小圈表示有控制信号，</a:t>
            </a:r>
            <a:r>
              <a:rPr lang="en-US" altLang="zh-CN" sz="2400" dirty="0" err="1"/>
              <a:t>yi</a:t>
            </a:r>
            <a:r>
              <a:rPr lang="zh-CN" altLang="en-US" sz="2400" dirty="0"/>
              <a:t>表示</a:t>
            </a:r>
            <a:r>
              <a:rPr lang="en-US" altLang="zh-CN" sz="2400" dirty="0"/>
              <a:t>y</a:t>
            </a:r>
            <a:r>
              <a:rPr lang="zh-CN" altLang="en-US" sz="2400" dirty="0"/>
              <a:t>寄存器的输入控制信号，</a:t>
            </a:r>
            <a:r>
              <a:rPr lang="en-US" altLang="zh-CN" sz="2400" dirty="0"/>
              <a:t>R1o</a:t>
            </a:r>
            <a:r>
              <a:rPr lang="zh-CN" altLang="en-US" sz="2400" dirty="0"/>
              <a:t>为</a:t>
            </a:r>
            <a:r>
              <a:rPr lang="en-US" altLang="zh-CN" sz="2400" dirty="0"/>
              <a:t>R1</a:t>
            </a:r>
            <a:r>
              <a:rPr lang="zh-CN" altLang="en-US" sz="2400" dirty="0"/>
              <a:t>的输出控制信号，未标小圈的线为直通线，不受控制。 </a:t>
            </a:r>
            <a:endParaRPr lang="zh-CN" altLang="en-US" sz="2400" dirty="0"/>
          </a:p>
          <a:p>
            <a:pPr eaLnBrk="1" hangingPunct="1">
              <a:lnSpc>
                <a:spcPct val="90000"/>
              </a:lnSpc>
              <a:buFont typeface="Wingdings 2" pitchFamily="18" charset="2"/>
              <a:buNone/>
            </a:pPr>
            <a:r>
              <a:rPr lang="en-US" altLang="zh-CN" sz="2400" dirty="0"/>
              <a:t>   (1)“ADD R2</a:t>
            </a:r>
            <a:r>
              <a:rPr lang="zh-CN" altLang="en-US" sz="2400" dirty="0"/>
              <a:t>，</a:t>
            </a:r>
            <a:r>
              <a:rPr lang="en-US" altLang="zh-CN" sz="2400" dirty="0"/>
              <a:t>R0”</a:t>
            </a:r>
            <a:r>
              <a:rPr lang="zh-CN" altLang="en-US" sz="2400" dirty="0"/>
              <a:t>指令完成</a:t>
            </a:r>
            <a:r>
              <a:rPr lang="en-US" altLang="zh-CN" sz="2400" dirty="0"/>
              <a:t>(R0)+(R2)→R0</a:t>
            </a:r>
            <a:r>
              <a:rPr lang="zh-CN" altLang="en-US" sz="2400" dirty="0"/>
              <a:t>的功能，画出其指令周期流程图，假设该指令的地址已放入</a:t>
            </a:r>
            <a:r>
              <a:rPr lang="en-US" altLang="zh-CN" sz="2400" dirty="0"/>
              <a:t>PC</a:t>
            </a:r>
            <a:r>
              <a:rPr lang="zh-CN" altLang="en-US" sz="2400" dirty="0"/>
              <a:t>中。列出相应的微操作控制信号序列。 </a:t>
            </a:r>
            <a:endParaRPr lang="zh-CN" altLang="en-US" sz="2400" dirty="0"/>
          </a:p>
          <a:p>
            <a:pPr eaLnBrk="1" hangingPunct="1">
              <a:lnSpc>
                <a:spcPct val="90000"/>
              </a:lnSpc>
              <a:buFont typeface="Wingdings 2" pitchFamily="18" charset="2"/>
              <a:buNone/>
            </a:pPr>
            <a:r>
              <a:rPr lang="en-US" altLang="zh-CN" sz="2400" dirty="0"/>
              <a:t>   (2)“SUB R1</a:t>
            </a:r>
            <a:r>
              <a:rPr lang="zh-CN" altLang="en-US" sz="2400" dirty="0"/>
              <a:t>，</a:t>
            </a:r>
            <a:r>
              <a:rPr lang="en-US" altLang="zh-CN" sz="2400" dirty="0"/>
              <a:t>R3”</a:t>
            </a:r>
            <a:r>
              <a:rPr lang="zh-CN" altLang="en-US" sz="2400" dirty="0"/>
              <a:t>指令完成</a:t>
            </a:r>
            <a:r>
              <a:rPr lang="en-US" altLang="zh-CN" sz="2400" dirty="0"/>
              <a:t>(R3)-(R1)→R3</a:t>
            </a:r>
            <a:r>
              <a:rPr lang="zh-CN" altLang="en-US" sz="2400" dirty="0"/>
              <a:t>的功能，画出其指令期流程图，列出相应的微操作控制信号序列。</a:t>
            </a:r>
            <a:endParaRPr lang="zh-CN" altLang="en-US" sz="2400" dirty="0"/>
          </a:p>
        </p:txBody>
      </p:sp>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p:txBody>
          <a:bodyPr/>
          <a:lstStyle/>
          <a:p>
            <a:pPr eaLnBrk="1" hangingPunct="1">
              <a:defRPr/>
            </a:pPr>
            <a:r>
              <a:rPr lang="zh-CN" altLang="en-US"/>
              <a:t>例</a:t>
            </a:r>
            <a:r>
              <a:rPr lang="en-US" altLang="zh-CN"/>
              <a:t>1</a:t>
            </a:r>
            <a:r>
              <a:rPr lang="zh-CN" altLang="en-US"/>
              <a:t>图</a:t>
            </a:r>
            <a:endParaRPr lang="zh-CN" altLang="en-US"/>
          </a:p>
        </p:txBody>
      </p:sp>
      <p:sp>
        <p:nvSpPr>
          <p:cNvPr id="60418" name="Rectangle 3"/>
          <p:cNvSpPr>
            <a:spLocks noGrp="1" noChangeArrowheads="1"/>
          </p:cNvSpPr>
          <p:nvPr>
            <p:ph idx="1"/>
          </p:nvPr>
        </p:nvSpPr>
        <p:spPr>
          <a:xfrm>
            <a:off x="179388" y="4278313"/>
            <a:ext cx="8785225" cy="2103437"/>
          </a:xfrm>
        </p:spPr>
        <p:txBody>
          <a:bodyPr/>
          <a:lstStyle/>
          <a:p>
            <a:pPr eaLnBrk="1" hangingPunct="1"/>
            <a:endParaRPr lang="zh-CN" altLang="en-US"/>
          </a:p>
        </p:txBody>
      </p:sp>
      <p:pic>
        <p:nvPicPr>
          <p:cNvPr id="60420" name="Picture 4" descr="5"/>
          <p:cNvPicPr>
            <a:picLocks noChangeAspect="1" noChangeArrowheads="1"/>
          </p:cNvPicPr>
          <p:nvPr/>
        </p:nvPicPr>
        <p:blipFill>
          <a:blip r:embed="rId1">
            <a:extLst>
              <a:ext uri="{28A0092B-C50C-407E-A947-70E740481C1C}">
                <a14:useLocalDpi xmlns:a14="http://schemas.microsoft.com/office/drawing/2010/main" val="0"/>
              </a:ext>
            </a:extLst>
          </a:blip>
          <a:srcRect l="2322" r="1161"/>
          <a:stretch>
            <a:fillRect/>
          </a:stretch>
        </p:blipFill>
        <p:spPr bwMode="auto">
          <a:xfrm>
            <a:off x="206375" y="927100"/>
            <a:ext cx="8745538"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椭圆 5"/>
          <p:cNvSpPr>
            <a:spLocks noChangeArrowheads="1"/>
          </p:cNvSpPr>
          <p:nvPr/>
        </p:nvSpPr>
        <p:spPr bwMode="auto">
          <a:xfrm>
            <a:off x="7704138" y="3228975"/>
            <a:ext cx="112712" cy="112713"/>
          </a:xfrm>
          <a:prstGeom prst="ellipse">
            <a:avLst/>
          </a:prstGeom>
          <a:solidFill>
            <a:schemeClr val="bg1"/>
          </a:solidFill>
          <a:ln w="12700" algn="ctr">
            <a:solidFill>
              <a:schemeClr val="tx1"/>
            </a:solidFill>
            <a:miter lim="800000"/>
          </a:ln>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0422" name="TextBox 6"/>
          <p:cNvSpPr txBox="1">
            <a:spLocks noChangeArrowheads="1"/>
          </p:cNvSpPr>
          <p:nvPr/>
        </p:nvSpPr>
        <p:spPr bwMode="auto">
          <a:xfrm>
            <a:off x="7720013" y="3140075"/>
            <a:ext cx="6540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400">
                <a:ea typeface="黑体" panose="02010609060101010101" pitchFamily="49" charset="-122"/>
              </a:rPr>
              <a:t>ALUo</a:t>
            </a:r>
            <a:endParaRPr lang="zh-CN" altLang="en-US" sz="1400">
              <a:ea typeface="黑体" panose="02010609060101010101" pitchFamily="49" charset="-122"/>
            </a:endParaRPr>
          </a:p>
        </p:txBody>
      </p:sp>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pPr eaLnBrk="1" hangingPunct="1">
              <a:defRPr/>
            </a:pPr>
            <a:r>
              <a:rPr lang="zh-CN" altLang="en-US"/>
              <a:t>例</a:t>
            </a:r>
            <a:r>
              <a:rPr lang="en-US" altLang="zh-CN"/>
              <a:t>1</a:t>
            </a:r>
            <a:r>
              <a:rPr lang="zh-CN" altLang="en-US"/>
              <a:t>解（</a:t>
            </a:r>
            <a:r>
              <a:rPr lang="en-US" altLang="zh-CN"/>
              <a:t>1</a:t>
            </a:r>
            <a:r>
              <a:rPr lang="zh-CN" altLang="en-US"/>
              <a:t>）</a:t>
            </a:r>
            <a:endParaRPr lang="zh-CN" altLang="en-US"/>
          </a:p>
        </p:txBody>
      </p:sp>
      <p:sp>
        <p:nvSpPr>
          <p:cNvPr id="61442" name="Rectangle 3"/>
          <p:cNvSpPr>
            <a:spLocks noGrp="1" noChangeArrowheads="1"/>
          </p:cNvSpPr>
          <p:nvPr>
            <p:ph idx="1"/>
          </p:nvPr>
        </p:nvSpPr>
        <p:spPr>
          <a:xfrm>
            <a:off x="179387" y="1004888"/>
            <a:ext cx="4621213" cy="5376862"/>
          </a:xfrm>
        </p:spPr>
        <p:txBody>
          <a:bodyPr/>
          <a:lstStyle/>
          <a:p>
            <a:pPr eaLnBrk="1" hangingPunct="1">
              <a:buFont typeface="Wingdings 2" pitchFamily="18" charset="2"/>
              <a:buNone/>
            </a:pPr>
            <a:r>
              <a:rPr lang="en-US" altLang="zh-CN" sz="2400" dirty="0"/>
              <a:t>(1)“ADD R2</a:t>
            </a:r>
            <a:r>
              <a:rPr lang="zh-CN" altLang="en-US" sz="2400" dirty="0"/>
              <a:t>，</a:t>
            </a:r>
            <a:r>
              <a:rPr lang="en-US" altLang="zh-CN" sz="2400" dirty="0"/>
              <a:t>R0”</a:t>
            </a:r>
            <a:r>
              <a:rPr lang="zh-CN" altLang="en-US" sz="2400" dirty="0"/>
              <a:t>指令是一条加法指令，参与运算的两个数放在寄存器</a:t>
            </a:r>
            <a:r>
              <a:rPr lang="en-US" altLang="zh-CN" sz="2400" dirty="0"/>
              <a:t>R2</a:t>
            </a:r>
            <a:r>
              <a:rPr lang="zh-CN" altLang="en-US" sz="2400" dirty="0"/>
              <a:t>和</a:t>
            </a:r>
            <a:r>
              <a:rPr lang="en-US" altLang="zh-CN" sz="2400" dirty="0"/>
              <a:t>R0</a:t>
            </a:r>
            <a:r>
              <a:rPr lang="zh-CN" altLang="en-US" sz="2400" dirty="0"/>
              <a:t>中，指令周期流程图包括取指令阶段和执行指令阶段两部分。根据给定的数据通路图，“</a:t>
            </a:r>
            <a:r>
              <a:rPr lang="en-US" altLang="zh-CN" sz="2400" dirty="0"/>
              <a:t>ADD R2</a:t>
            </a:r>
            <a:r>
              <a:rPr lang="zh-CN" altLang="en-US" sz="2400" dirty="0"/>
              <a:t>，</a:t>
            </a:r>
            <a:r>
              <a:rPr lang="en-US" altLang="zh-CN" sz="2400" dirty="0"/>
              <a:t>R0”</a:t>
            </a:r>
            <a:r>
              <a:rPr lang="zh-CN" altLang="en-US" sz="2400" dirty="0"/>
              <a:t>指令的详细指令周期流程图如右图所示，图的右边部分标注了每一个机器周期中用到的微操作控制信号序列。</a:t>
            </a:r>
            <a:endParaRPr lang="zh-CN" altLang="en-US" sz="2400" dirty="0"/>
          </a:p>
        </p:txBody>
      </p:sp>
      <p:sp>
        <p:nvSpPr>
          <p:cNvPr id="61444" name="Line 4"/>
          <p:cNvSpPr>
            <a:spLocks noChangeShapeType="1"/>
          </p:cNvSpPr>
          <p:nvPr/>
        </p:nvSpPr>
        <p:spPr bwMode="auto">
          <a:xfrm>
            <a:off x="6380163" y="1462088"/>
            <a:ext cx="0" cy="491966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1445" name="AutoShape 5"/>
          <p:cNvSpPr>
            <a:spLocks noChangeArrowheads="1"/>
          </p:cNvSpPr>
          <p:nvPr/>
        </p:nvSpPr>
        <p:spPr bwMode="auto">
          <a:xfrm>
            <a:off x="5737225" y="1290638"/>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PC→AR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46" name="AutoShape 6"/>
          <p:cNvSpPr>
            <a:spLocks noChangeArrowheads="1"/>
          </p:cNvSpPr>
          <p:nvPr/>
        </p:nvSpPr>
        <p:spPr bwMode="auto">
          <a:xfrm>
            <a:off x="5737225" y="196215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M→DR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47" name="AutoShape 7"/>
          <p:cNvSpPr>
            <a:spLocks noChangeArrowheads="1"/>
          </p:cNvSpPr>
          <p:nvPr/>
        </p:nvSpPr>
        <p:spPr bwMode="auto">
          <a:xfrm>
            <a:off x="5737225" y="2619375"/>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DR→IR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48" name="AutoShape 8"/>
          <p:cNvSpPr>
            <a:spLocks noChangeArrowheads="1"/>
          </p:cNvSpPr>
          <p:nvPr/>
        </p:nvSpPr>
        <p:spPr bwMode="auto">
          <a:xfrm>
            <a:off x="5580063" y="5553075"/>
            <a:ext cx="1571625"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Y+X→R</a:t>
            </a:r>
            <a:r>
              <a:rPr kumimoji="0" lang="en-US" altLang="zh-CN" sz="2000" baseline="-25000">
                <a:solidFill>
                  <a:schemeClr val="bg1"/>
                </a:solidFill>
                <a:ea typeface="宋体" panose="02010600030101010101" pitchFamily="2" charset="-122"/>
                <a:cs typeface="Times New Roman" panose="02020603050405020304" pitchFamily="18" charset="0"/>
              </a:rPr>
              <a:t>0</a:t>
            </a:r>
            <a:endParaRPr kumimoji="0" lang="en-US" altLang="zh-CN" sz="2000" baseline="-25000">
              <a:solidFill>
                <a:schemeClr val="bg1"/>
              </a:solidFill>
              <a:ea typeface="宋体" panose="02010600030101010101" pitchFamily="2" charset="-122"/>
              <a:cs typeface="Times New Roman" panose="02020603050405020304" pitchFamily="18" charset="0"/>
            </a:endParaRPr>
          </a:p>
        </p:txBody>
      </p:sp>
      <p:sp>
        <p:nvSpPr>
          <p:cNvPr id="61449" name="AutoShape 9"/>
          <p:cNvSpPr>
            <a:spLocks noChangeArrowheads="1"/>
          </p:cNvSpPr>
          <p:nvPr/>
        </p:nvSpPr>
        <p:spPr bwMode="auto">
          <a:xfrm>
            <a:off x="5737225" y="421005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2</a:t>
            </a:r>
            <a:r>
              <a:rPr kumimoji="0" lang="en-US" altLang="zh-CN" sz="2000">
                <a:solidFill>
                  <a:schemeClr val="bg1"/>
                </a:solidFill>
                <a:ea typeface="宋体" panose="02010600030101010101" pitchFamily="2" charset="-122"/>
                <a:cs typeface="Times New Roman" panose="02020603050405020304" pitchFamily="18" charset="0"/>
              </a:rPr>
              <a:t>→Y</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50" name="AutoShape 10"/>
          <p:cNvSpPr>
            <a:spLocks noChangeArrowheads="1"/>
          </p:cNvSpPr>
          <p:nvPr/>
        </p:nvSpPr>
        <p:spPr bwMode="auto">
          <a:xfrm>
            <a:off x="5737225" y="4881563"/>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0</a:t>
            </a:r>
            <a:r>
              <a:rPr kumimoji="0" lang="en-US" altLang="zh-CN" sz="2000">
                <a:solidFill>
                  <a:schemeClr val="bg1"/>
                </a:solidFill>
                <a:ea typeface="宋体" panose="02010600030101010101" pitchFamily="2" charset="-122"/>
                <a:cs typeface="Times New Roman" panose="02020603050405020304" pitchFamily="18" charset="0"/>
              </a:rPr>
              <a:t>→X</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1451" name="AutoShape 11"/>
          <p:cNvSpPr>
            <a:spLocks noChangeArrowheads="1"/>
          </p:cNvSpPr>
          <p:nvPr/>
        </p:nvSpPr>
        <p:spPr bwMode="auto">
          <a:xfrm>
            <a:off x="5701506" y="3249613"/>
            <a:ext cx="1357313" cy="642937"/>
          </a:xfrm>
          <a:prstGeom prst="flowChartDecision">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52" name="Line 12"/>
          <p:cNvSpPr>
            <a:spLocks noChangeShapeType="1"/>
          </p:cNvSpPr>
          <p:nvPr/>
        </p:nvSpPr>
        <p:spPr bwMode="auto">
          <a:xfrm>
            <a:off x="6380163" y="904875"/>
            <a:ext cx="0" cy="385763"/>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1453" name="Freeform 13"/>
          <p:cNvSpPr/>
          <p:nvPr/>
        </p:nvSpPr>
        <p:spPr bwMode="auto">
          <a:xfrm>
            <a:off x="5994400" y="6253163"/>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54" name="AutoShape 14"/>
          <p:cNvSpPr/>
          <p:nvPr/>
        </p:nvSpPr>
        <p:spPr bwMode="auto">
          <a:xfrm>
            <a:off x="5451475" y="127635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55" name="Text Box 15"/>
          <p:cNvSpPr txBox="1">
            <a:spLocks noChangeArrowheads="1"/>
          </p:cNvSpPr>
          <p:nvPr/>
        </p:nvSpPr>
        <p:spPr bwMode="auto">
          <a:xfrm>
            <a:off x="4965701" y="1806574"/>
            <a:ext cx="54927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取指</a:t>
            </a:r>
            <a:endParaRPr kumimoji="0" lang="zh-CN" altLang="en-US" sz="2400" dirty="0">
              <a:latin typeface="Tahoma" panose="020B0604030504040204" pitchFamily="34" charset="0"/>
              <a:ea typeface="宋体" panose="02010600030101010101" pitchFamily="2" charset="-122"/>
            </a:endParaRPr>
          </a:p>
        </p:txBody>
      </p:sp>
      <p:sp>
        <p:nvSpPr>
          <p:cNvPr id="454672" name="Text Box 16"/>
          <p:cNvSpPr txBox="1">
            <a:spLocks noChangeArrowheads="1"/>
          </p:cNvSpPr>
          <p:nvPr/>
        </p:nvSpPr>
        <p:spPr bwMode="auto">
          <a:xfrm>
            <a:off x="6959600" y="13208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PC</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AR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3" name="Text Box 17"/>
          <p:cNvSpPr txBox="1">
            <a:spLocks noChangeArrowheads="1"/>
          </p:cNvSpPr>
          <p:nvPr/>
        </p:nvSpPr>
        <p:spPr bwMode="auto">
          <a:xfrm>
            <a:off x="6959600" y="1978025"/>
            <a:ext cx="1166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R/W=R</a:t>
            </a:r>
            <a:endParaRPr kumimoji="0" lang="en-US" altLang="zh-CN" sz="2000">
              <a:latin typeface="Tahoma" panose="020B0604030504040204" pitchFamily="34" charset="0"/>
              <a:ea typeface="宋体" panose="02010600030101010101" pitchFamily="2" charset="-122"/>
            </a:endParaRPr>
          </a:p>
        </p:txBody>
      </p:sp>
      <p:sp>
        <p:nvSpPr>
          <p:cNvPr id="61458" name="Line 18"/>
          <p:cNvSpPr>
            <a:spLocks noChangeShapeType="1"/>
          </p:cNvSpPr>
          <p:nvPr/>
        </p:nvSpPr>
        <p:spPr bwMode="auto">
          <a:xfrm>
            <a:off x="7366000" y="2047875"/>
            <a:ext cx="27146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454675" name="Text Box 19"/>
          <p:cNvSpPr txBox="1">
            <a:spLocks noChangeArrowheads="1"/>
          </p:cNvSpPr>
          <p:nvPr/>
        </p:nvSpPr>
        <p:spPr bwMode="auto">
          <a:xfrm>
            <a:off x="6959600" y="2635250"/>
            <a:ext cx="151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DR</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IR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6" name="Text Box 20"/>
          <p:cNvSpPr txBox="1">
            <a:spLocks noChangeArrowheads="1"/>
          </p:cNvSpPr>
          <p:nvPr/>
        </p:nvSpPr>
        <p:spPr bwMode="auto">
          <a:xfrm>
            <a:off x="6988175" y="4211638"/>
            <a:ext cx="1290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2o</a:t>
            </a:r>
            <a:r>
              <a:rPr kumimoji="0" lang="en-US" altLang="zh-CN" sz="2000">
                <a:latin typeface="Tahoma" panose="020B0604030504040204" pitchFamily="34" charset="0"/>
                <a:ea typeface="宋体" panose="02010600030101010101" pitchFamily="2" charset="-122"/>
              </a:rPr>
              <a:t>, G, Y</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7" name="Text Box 21"/>
          <p:cNvSpPr txBox="1">
            <a:spLocks noChangeArrowheads="1"/>
          </p:cNvSpPr>
          <p:nvPr/>
        </p:nvSpPr>
        <p:spPr bwMode="auto">
          <a:xfrm>
            <a:off x="6988175" y="488315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0o</a:t>
            </a:r>
            <a:r>
              <a:rPr kumimoji="0" lang="en-US" altLang="zh-CN" sz="2000">
                <a:latin typeface="Tahoma" panose="020B0604030504040204" pitchFamily="34" charset="0"/>
                <a:ea typeface="宋体" panose="02010600030101010101" pitchFamily="2" charset="-122"/>
              </a:rPr>
              <a:t>, G, X</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454678" name="Text Box 22"/>
          <p:cNvSpPr txBox="1">
            <a:spLocks noChangeArrowheads="1"/>
          </p:cNvSpPr>
          <p:nvPr/>
        </p:nvSpPr>
        <p:spPr bwMode="auto">
          <a:xfrm>
            <a:off x="7159625" y="5554663"/>
            <a:ext cx="1993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 ALUo,G, R</a:t>
            </a:r>
            <a:r>
              <a:rPr kumimoji="0" lang="en-US" altLang="zh-CN" sz="2000" baseline="-25000">
                <a:latin typeface="Tahoma" panose="020B0604030504040204" pitchFamily="34" charset="0"/>
                <a:ea typeface="宋体" panose="02010600030101010101" pitchFamily="2" charset="-122"/>
              </a:rPr>
              <a:t>0i</a:t>
            </a:r>
            <a:endParaRPr kumimoji="0" lang="en-US" altLang="zh-CN" sz="2000" baseline="-25000">
              <a:latin typeface="Tahoma" panose="020B0604030504040204" pitchFamily="34" charset="0"/>
              <a:ea typeface="宋体" panose="02010600030101010101" pitchFamily="2" charset="-122"/>
            </a:endParaRPr>
          </a:p>
        </p:txBody>
      </p:sp>
      <p:sp>
        <p:nvSpPr>
          <p:cNvPr id="61463" name="AutoShape 14"/>
          <p:cNvSpPr/>
          <p:nvPr/>
        </p:nvSpPr>
        <p:spPr bwMode="auto">
          <a:xfrm>
            <a:off x="5311775" y="419100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64" name="Text Box 15"/>
          <p:cNvSpPr txBox="1">
            <a:spLocks noChangeArrowheads="1"/>
          </p:cNvSpPr>
          <p:nvPr/>
        </p:nvSpPr>
        <p:spPr bwMode="auto">
          <a:xfrm>
            <a:off x="4818856" y="4727575"/>
            <a:ext cx="5540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执行</a:t>
            </a:r>
            <a:endParaRPr kumimoji="0" lang="zh-CN" altLang="en-US" sz="2400" dirty="0">
              <a:latin typeface="Tahoma" panose="020B0604030504040204" pitchFamily="34" charset="0"/>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4672"/>
                                        </p:tgtEl>
                                        <p:attrNameLst>
                                          <p:attrName>style.visibility</p:attrName>
                                        </p:attrNameLst>
                                      </p:cBhvr>
                                      <p:to>
                                        <p:strVal val="visible"/>
                                      </p:to>
                                    </p:set>
                                    <p:animEffect transition="in" filter="dissolve">
                                      <p:cBhvr>
                                        <p:cTn id="7" dur="500"/>
                                        <p:tgtEl>
                                          <p:spTgt spid="4546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4673"/>
                                        </p:tgtEl>
                                        <p:attrNameLst>
                                          <p:attrName>style.visibility</p:attrName>
                                        </p:attrNameLst>
                                      </p:cBhvr>
                                      <p:to>
                                        <p:strVal val="visible"/>
                                      </p:to>
                                    </p:set>
                                    <p:animEffect transition="in" filter="dissolve">
                                      <p:cBhvr>
                                        <p:cTn id="12" dur="500"/>
                                        <p:tgtEl>
                                          <p:spTgt spid="45467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4675"/>
                                        </p:tgtEl>
                                        <p:attrNameLst>
                                          <p:attrName>style.visibility</p:attrName>
                                        </p:attrNameLst>
                                      </p:cBhvr>
                                      <p:to>
                                        <p:strVal val="visible"/>
                                      </p:to>
                                    </p:set>
                                    <p:animEffect transition="in" filter="dissolve">
                                      <p:cBhvr>
                                        <p:cTn id="17" dur="500"/>
                                        <p:tgtEl>
                                          <p:spTgt spid="45467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4676"/>
                                        </p:tgtEl>
                                        <p:attrNameLst>
                                          <p:attrName>style.visibility</p:attrName>
                                        </p:attrNameLst>
                                      </p:cBhvr>
                                      <p:to>
                                        <p:strVal val="visible"/>
                                      </p:to>
                                    </p:set>
                                    <p:animEffect transition="in" filter="dissolve">
                                      <p:cBhvr>
                                        <p:cTn id="22" dur="500"/>
                                        <p:tgtEl>
                                          <p:spTgt spid="45467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54677"/>
                                        </p:tgtEl>
                                        <p:attrNameLst>
                                          <p:attrName>style.visibility</p:attrName>
                                        </p:attrNameLst>
                                      </p:cBhvr>
                                      <p:to>
                                        <p:strVal val="visible"/>
                                      </p:to>
                                    </p:set>
                                    <p:animEffect transition="in" filter="dissolve">
                                      <p:cBhvr>
                                        <p:cTn id="27" dur="500"/>
                                        <p:tgtEl>
                                          <p:spTgt spid="45467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54678"/>
                                        </p:tgtEl>
                                        <p:attrNameLst>
                                          <p:attrName>style.visibility</p:attrName>
                                        </p:attrNameLst>
                                      </p:cBhvr>
                                      <p:to>
                                        <p:strVal val="visible"/>
                                      </p:to>
                                    </p:set>
                                    <p:animEffect transition="in" filter="dissolve">
                                      <p:cBhvr>
                                        <p:cTn id="32" dur="500"/>
                                        <p:tgtEl>
                                          <p:spTgt spid="454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4672" grpId="0"/>
      <p:bldP spid="454673" grpId="0"/>
      <p:bldP spid="454675" grpId="0"/>
      <p:bldP spid="454676" grpId="0"/>
      <p:bldP spid="454677" grpId="0"/>
      <p:bldP spid="45467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pPr eaLnBrk="1" hangingPunct="1">
              <a:defRPr/>
            </a:pPr>
            <a:r>
              <a:rPr lang="zh-CN" altLang="en-US"/>
              <a:t>例</a:t>
            </a:r>
            <a:r>
              <a:rPr lang="en-US" altLang="zh-CN"/>
              <a:t>1</a:t>
            </a:r>
            <a:r>
              <a:rPr lang="zh-CN" altLang="en-US"/>
              <a:t>解（</a:t>
            </a:r>
            <a:r>
              <a:rPr lang="en-US" altLang="zh-CN"/>
              <a:t>2</a:t>
            </a:r>
            <a:r>
              <a:rPr lang="zh-CN" altLang="en-US"/>
              <a:t>）</a:t>
            </a:r>
            <a:endParaRPr lang="zh-CN" altLang="en-US"/>
          </a:p>
        </p:txBody>
      </p:sp>
      <p:sp>
        <p:nvSpPr>
          <p:cNvPr id="62466" name="Rectangle 3"/>
          <p:cNvSpPr>
            <a:spLocks noGrp="1" noChangeArrowheads="1"/>
          </p:cNvSpPr>
          <p:nvPr>
            <p:ph idx="1"/>
          </p:nvPr>
        </p:nvSpPr>
        <p:spPr>
          <a:xfrm>
            <a:off x="179388" y="981075"/>
            <a:ext cx="4787900" cy="5400675"/>
          </a:xfrm>
        </p:spPr>
        <p:txBody>
          <a:bodyPr/>
          <a:lstStyle/>
          <a:p>
            <a:pPr eaLnBrk="1" hangingPunct="1">
              <a:spcBef>
                <a:spcPct val="0"/>
              </a:spcBef>
              <a:buClrTx/>
              <a:buFont typeface="Wingdings 2" pitchFamily="18" charset="2"/>
              <a:buNone/>
            </a:pPr>
            <a:r>
              <a:rPr lang="en-US" altLang="zh-CN"/>
              <a:t>(2)“SUB R1</a:t>
            </a:r>
            <a:r>
              <a:rPr lang="zh-CN" altLang="en-US"/>
              <a:t>，</a:t>
            </a:r>
            <a:r>
              <a:rPr lang="en-US" altLang="zh-CN"/>
              <a:t>R3”</a:t>
            </a:r>
            <a:r>
              <a:rPr lang="zh-CN" altLang="en-US"/>
              <a:t>指令是一条减法指令，其指令周期流程图如右图所示。与</a:t>
            </a:r>
            <a:r>
              <a:rPr lang="en-US" altLang="zh-CN"/>
              <a:t>ADD</a:t>
            </a:r>
            <a:r>
              <a:rPr lang="zh-CN" altLang="en-US"/>
              <a:t>指令不同的是：在执行指令阶段，微操作控制信号序列有所不同。</a:t>
            </a:r>
            <a:endParaRPr lang="zh-CN" altLang="en-US"/>
          </a:p>
        </p:txBody>
      </p:sp>
      <p:sp>
        <p:nvSpPr>
          <p:cNvPr id="62468" name="Line 4"/>
          <p:cNvSpPr>
            <a:spLocks noChangeShapeType="1"/>
          </p:cNvSpPr>
          <p:nvPr/>
        </p:nvSpPr>
        <p:spPr bwMode="auto">
          <a:xfrm>
            <a:off x="6348413" y="1449388"/>
            <a:ext cx="0" cy="47990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2469" name="AutoShape 5"/>
          <p:cNvSpPr>
            <a:spLocks noChangeArrowheads="1"/>
          </p:cNvSpPr>
          <p:nvPr/>
        </p:nvSpPr>
        <p:spPr bwMode="auto">
          <a:xfrm>
            <a:off x="5705475" y="1277938"/>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PC→AR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0" name="AutoShape 6"/>
          <p:cNvSpPr>
            <a:spLocks noChangeArrowheads="1"/>
          </p:cNvSpPr>
          <p:nvPr/>
        </p:nvSpPr>
        <p:spPr bwMode="auto">
          <a:xfrm>
            <a:off x="5705475" y="194945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M→DR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1" name="AutoShape 7"/>
          <p:cNvSpPr>
            <a:spLocks noChangeArrowheads="1"/>
          </p:cNvSpPr>
          <p:nvPr/>
        </p:nvSpPr>
        <p:spPr bwMode="auto">
          <a:xfrm>
            <a:off x="5705475" y="2606675"/>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DR→IR</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2" name="AutoShape 8"/>
          <p:cNvSpPr>
            <a:spLocks noChangeArrowheads="1"/>
          </p:cNvSpPr>
          <p:nvPr/>
        </p:nvSpPr>
        <p:spPr bwMode="auto">
          <a:xfrm>
            <a:off x="5548313" y="5407025"/>
            <a:ext cx="1571625"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Y-X→R</a:t>
            </a:r>
            <a:r>
              <a:rPr kumimoji="0" lang="en-US" altLang="zh-CN" sz="2000" baseline="-25000">
                <a:solidFill>
                  <a:schemeClr val="bg1"/>
                </a:solidFill>
                <a:ea typeface="宋体" panose="02010600030101010101" pitchFamily="2" charset="-122"/>
                <a:cs typeface="Times New Roman" panose="02020603050405020304" pitchFamily="18" charset="0"/>
              </a:rPr>
              <a:t>3</a:t>
            </a:r>
            <a:endParaRPr kumimoji="0" lang="en-US" altLang="zh-CN" sz="2000" baseline="-25000">
              <a:solidFill>
                <a:schemeClr val="bg1"/>
              </a:solidFill>
              <a:ea typeface="宋体" panose="02010600030101010101" pitchFamily="2" charset="-122"/>
              <a:cs typeface="Times New Roman" panose="02020603050405020304" pitchFamily="18" charset="0"/>
            </a:endParaRPr>
          </a:p>
        </p:txBody>
      </p:sp>
      <p:sp>
        <p:nvSpPr>
          <p:cNvPr id="62473" name="AutoShape 9"/>
          <p:cNvSpPr>
            <a:spLocks noChangeArrowheads="1"/>
          </p:cNvSpPr>
          <p:nvPr/>
        </p:nvSpPr>
        <p:spPr bwMode="auto">
          <a:xfrm>
            <a:off x="5705475" y="4064000"/>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3</a:t>
            </a:r>
            <a:r>
              <a:rPr kumimoji="0" lang="en-US" altLang="zh-CN" sz="2000">
                <a:solidFill>
                  <a:schemeClr val="bg1"/>
                </a:solidFill>
                <a:ea typeface="宋体" panose="02010600030101010101" pitchFamily="2" charset="-122"/>
                <a:cs typeface="Times New Roman" panose="02020603050405020304" pitchFamily="18" charset="0"/>
              </a:rPr>
              <a:t>→Y</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4" name="AutoShape 10"/>
          <p:cNvSpPr>
            <a:spLocks noChangeArrowheads="1"/>
          </p:cNvSpPr>
          <p:nvPr/>
        </p:nvSpPr>
        <p:spPr bwMode="auto">
          <a:xfrm>
            <a:off x="5705475" y="4735513"/>
            <a:ext cx="12430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ea typeface="宋体" panose="02010600030101010101" pitchFamily="2" charset="-122"/>
                <a:cs typeface="Times New Roman" panose="02020603050405020304" pitchFamily="18" charset="0"/>
              </a:rPr>
              <a:t>R</a:t>
            </a:r>
            <a:r>
              <a:rPr kumimoji="0" lang="en-US" altLang="zh-CN" sz="2000" baseline="-25000">
                <a:solidFill>
                  <a:schemeClr val="bg1"/>
                </a:solidFill>
                <a:ea typeface="宋体" panose="02010600030101010101" pitchFamily="2" charset="-122"/>
                <a:cs typeface="Times New Roman" panose="02020603050405020304" pitchFamily="18" charset="0"/>
              </a:rPr>
              <a:t>1</a:t>
            </a:r>
            <a:r>
              <a:rPr kumimoji="0" lang="en-US" altLang="zh-CN" sz="2000">
                <a:solidFill>
                  <a:schemeClr val="bg1"/>
                </a:solidFill>
                <a:ea typeface="宋体" panose="02010600030101010101" pitchFamily="2" charset="-122"/>
                <a:cs typeface="Times New Roman" panose="02020603050405020304" pitchFamily="18" charset="0"/>
              </a:rPr>
              <a:t>→X</a:t>
            </a:r>
            <a:endParaRPr kumimoji="0" lang="en-US" altLang="zh-CN" sz="2000">
              <a:solidFill>
                <a:schemeClr val="bg1"/>
              </a:solidFill>
              <a:ea typeface="宋体" panose="02010600030101010101" pitchFamily="2" charset="-122"/>
              <a:cs typeface="Times New Roman" panose="02020603050405020304" pitchFamily="18" charset="0"/>
            </a:endParaRPr>
          </a:p>
        </p:txBody>
      </p:sp>
      <p:sp>
        <p:nvSpPr>
          <p:cNvPr id="62475" name="AutoShape 11"/>
          <p:cNvSpPr>
            <a:spLocks noChangeArrowheads="1"/>
          </p:cNvSpPr>
          <p:nvPr/>
        </p:nvSpPr>
        <p:spPr bwMode="auto">
          <a:xfrm>
            <a:off x="5669756" y="3227201"/>
            <a:ext cx="1357313" cy="642937"/>
          </a:xfrm>
          <a:prstGeom prst="flowChartDecision">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cs typeface="Times New Roman" panose="02020603050405020304" pitchFamily="18" charset="0"/>
            </a:endParaRPr>
          </a:p>
        </p:txBody>
      </p:sp>
      <p:sp>
        <p:nvSpPr>
          <p:cNvPr id="62476" name="Line 12"/>
          <p:cNvSpPr>
            <a:spLocks noChangeShapeType="1"/>
          </p:cNvSpPr>
          <p:nvPr/>
        </p:nvSpPr>
        <p:spPr bwMode="auto">
          <a:xfrm>
            <a:off x="6348413" y="892175"/>
            <a:ext cx="0" cy="385763"/>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2477" name="Freeform 13"/>
          <p:cNvSpPr/>
          <p:nvPr/>
        </p:nvSpPr>
        <p:spPr bwMode="auto">
          <a:xfrm>
            <a:off x="5962650" y="6107113"/>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78" name="AutoShape 14"/>
          <p:cNvSpPr/>
          <p:nvPr/>
        </p:nvSpPr>
        <p:spPr bwMode="auto">
          <a:xfrm>
            <a:off x="5419725" y="126365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479" name="Text Box 15"/>
          <p:cNvSpPr txBox="1">
            <a:spLocks noChangeArrowheads="1"/>
          </p:cNvSpPr>
          <p:nvPr/>
        </p:nvSpPr>
        <p:spPr bwMode="auto">
          <a:xfrm>
            <a:off x="4918170" y="1793875"/>
            <a:ext cx="54927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取指</a:t>
            </a:r>
            <a:endParaRPr kumimoji="0" lang="zh-CN" altLang="en-US" sz="2400" dirty="0">
              <a:latin typeface="Tahoma" panose="020B0604030504040204" pitchFamily="34" charset="0"/>
              <a:ea typeface="宋体" panose="02010600030101010101" pitchFamily="2" charset="-122"/>
            </a:endParaRPr>
          </a:p>
        </p:txBody>
      </p:sp>
      <p:sp>
        <p:nvSpPr>
          <p:cNvPr id="62480" name="Text Box 16"/>
          <p:cNvSpPr txBox="1">
            <a:spLocks noChangeArrowheads="1"/>
          </p:cNvSpPr>
          <p:nvPr/>
        </p:nvSpPr>
        <p:spPr bwMode="auto">
          <a:xfrm>
            <a:off x="6927850" y="1308100"/>
            <a:ext cx="1527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PC</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AR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1" name="Text Box 17"/>
          <p:cNvSpPr txBox="1">
            <a:spLocks noChangeArrowheads="1"/>
          </p:cNvSpPr>
          <p:nvPr/>
        </p:nvSpPr>
        <p:spPr bwMode="auto">
          <a:xfrm>
            <a:off x="6927850" y="1965325"/>
            <a:ext cx="1166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R/W=R</a:t>
            </a:r>
            <a:endParaRPr kumimoji="0" lang="en-US" altLang="zh-CN" sz="2000">
              <a:latin typeface="Tahoma" panose="020B0604030504040204" pitchFamily="34" charset="0"/>
              <a:ea typeface="宋体" panose="02010600030101010101" pitchFamily="2" charset="-122"/>
            </a:endParaRPr>
          </a:p>
        </p:txBody>
      </p:sp>
      <p:sp>
        <p:nvSpPr>
          <p:cNvPr id="62482" name="Line 18"/>
          <p:cNvSpPr>
            <a:spLocks noChangeShapeType="1"/>
          </p:cNvSpPr>
          <p:nvPr/>
        </p:nvSpPr>
        <p:spPr bwMode="auto">
          <a:xfrm>
            <a:off x="7334250" y="2035175"/>
            <a:ext cx="27146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62483" name="Text Box 19"/>
          <p:cNvSpPr txBox="1">
            <a:spLocks noChangeArrowheads="1"/>
          </p:cNvSpPr>
          <p:nvPr/>
        </p:nvSpPr>
        <p:spPr bwMode="auto">
          <a:xfrm>
            <a:off x="6927850" y="2622550"/>
            <a:ext cx="151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DR</a:t>
            </a:r>
            <a:r>
              <a:rPr kumimoji="0" lang="en-US" altLang="zh-CN" sz="2000" baseline="-25000">
                <a:latin typeface="Tahoma" panose="020B0604030504040204" pitchFamily="34" charset="0"/>
                <a:ea typeface="宋体" panose="02010600030101010101" pitchFamily="2" charset="-122"/>
              </a:rPr>
              <a:t>o</a:t>
            </a:r>
            <a:r>
              <a:rPr kumimoji="0" lang="en-US" altLang="zh-CN" sz="2000">
                <a:latin typeface="Tahoma" panose="020B0604030504040204" pitchFamily="34" charset="0"/>
                <a:ea typeface="宋体" panose="02010600030101010101" pitchFamily="2" charset="-122"/>
              </a:rPr>
              <a:t>, G, IR</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4" name="Text Box 20"/>
          <p:cNvSpPr txBox="1">
            <a:spLocks noChangeArrowheads="1"/>
          </p:cNvSpPr>
          <p:nvPr/>
        </p:nvSpPr>
        <p:spPr bwMode="auto">
          <a:xfrm>
            <a:off x="6956425" y="4065588"/>
            <a:ext cx="1290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3o</a:t>
            </a:r>
            <a:r>
              <a:rPr kumimoji="0" lang="en-US" altLang="zh-CN" sz="2000">
                <a:latin typeface="Tahoma" panose="020B0604030504040204" pitchFamily="34" charset="0"/>
                <a:ea typeface="宋体" panose="02010600030101010101" pitchFamily="2" charset="-122"/>
              </a:rPr>
              <a:t>, G, Y</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5" name="Text Box 21"/>
          <p:cNvSpPr txBox="1">
            <a:spLocks noChangeArrowheads="1"/>
          </p:cNvSpPr>
          <p:nvPr/>
        </p:nvSpPr>
        <p:spPr bwMode="auto">
          <a:xfrm>
            <a:off x="6956425" y="47371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r>
              <a:rPr kumimoji="0" lang="en-US" altLang="zh-CN" sz="2000" baseline="-25000">
                <a:latin typeface="Tahoma" panose="020B0604030504040204" pitchFamily="34" charset="0"/>
                <a:ea typeface="宋体" panose="02010600030101010101" pitchFamily="2" charset="-122"/>
              </a:rPr>
              <a:t>1o</a:t>
            </a:r>
            <a:r>
              <a:rPr kumimoji="0" lang="en-US" altLang="zh-CN" sz="2000">
                <a:latin typeface="Tahoma" panose="020B0604030504040204" pitchFamily="34" charset="0"/>
                <a:ea typeface="宋体" panose="02010600030101010101" pitchFamily="2" charset="-122"/>
              </a:rPr>
              <a:t>, G, X</a:t>
            </a:r>
            <a:r>
              <a:rPr kumimoji="0" lang="en-US" altLang="zh-CN" sz="2000" baseline="-25000">
                <a:latin typeface="Tahoma" panose="020B0604030504040204" pitchFamily="34" charset="0"/>
                <a:ea typeface="宋体" panose="02010600030101010101" pitchFamily="2" charset="-122"/>
              </a:rPr>
              <a:t>i</a:t>
            </a:r>
            <a:endParaRPr kumimoji="0" lang="en-US" altLang="zh-CN" sz="2000" baseline="-25000">
              <a:latin typeface="Tahoma" panose="020B0604030504040204" pitchFamily="34" charset="0"/>
              <a:ea typeface="宋体" panose="02010600030101010101" pitchFamily="2" charset="-122"/>
            </a:endParaRPr>
          </a:p>
        </p:txBody>
      </p:sp>
      <p:sp>
        <p:nvSpPr>
          <p:cNvPr id="62486" name="Text Box 22"/>
          <p:cNvSpPr txBox="1">
            <a:spLocks noChangeArrowheads="1"/>
          </p:cNvSpPr>
          <p:nvPr/>
        </p:nvSpPr>
        <p:spPr bwMode="auto">
          <a:xfrm>
            <a:off x="7177088" y="5408613"/>
            <a:ext cx="1970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-,ALUo , G, R</a:t>
            </a:r>
            <a:r>
              <a:rPr kumimoji="0" lang="en-US" altLang="zh-CN" sz="2000" baseline="-25000">
                <a:latin typeface="Tahoma" panose="020B0604030504040204" pitchFamily="34" charset="0"/>
                <a:ea typeface="宋体" panose="02010600030101010101" pitchFamily="2" charset="-122"/>
              </a:rPr>
              <a:t>3i</a:t>
            </a:r>
            <a:endParaRPr kumimoji="0" lang="en-US" altLang="zh-CN" sz="2000" baseline="-25000">
              <a:latin typeface="Tahoma" panose="020B0604030504040204" pitchFamily="34" charset="0"/>
              <a:ea typeface="宋体" panose="02010600030101010101" pitchFamily="2" charset="-122"/>
            </a:endParaRPr>
          </a:p>
        </p:txBody>
      </p:sp>
      <p:sp>
        <p:nvSpPr>
          <p:cNvPr id="62487" name="AutoShape 14"/>
          <p:cNvSpPr/>
          <p:nvPr/>
        </p:nvSpPr>
        <p:spPr bwMode="auto">
          <a:xfrm>
            <a:off x="5224463" y="3962400"/>
            <a:ext cx="200025" cy="1771650"/>
          </a:xfrm>
          <a:prstGeom prst="leftBrace">
            <a:avLst>
              <a:gd name="adj1" fmla="val 73810"/>
              <a:gd name="adj2" fmla="val 50000"/>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488" name="Text Box 15"/>
          <p:cNvSpPr txBox="1">
            <a:spLocks noChangeArrowheads="1"/>
          </p:cNvSpPr>
          <p:nvPr/>
        </p:nvSpPr>
        <p:spPr bwMode="auto">
          <a:xfrm>
            <a:off x="4713287" y="4498975"/>
            <a:ext cx="5540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vert="eaVert"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Tahoma" panose="020B0604030504040204" pitchFamily="34" charset="0"/>
                <a:ea typeface="宋体" panose="02010600030101010101" pitchFamily="2" charset="-122"/>
              </a:rPr>
              <a:t>执行</a:t>
            </a:r>
            <a:endParaRPr kumimoji="0" lang="zh-CN" altLang="en-US" sz="2400" dirty="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3"/>
          <p:cNvSpPr>
            <a:spLocks noGrp="1" noChangeArrowheads="1"/>
          </p:cNvSpPr>
          <p:nvPr>
            <p:ph type="subTitle" idx="1"/>
          </p:nvPr>
        </p:nvSpPr>
        <p:spPr>
          <a:xfrm>
            <a:off x="1403350" y="2874963"/>
            <a:ext cx="5545138" cy="2930525"/>
          </a:xfrm>
        </p:spPr>
        <p:txBody>
          <a:bodyPr/>
          <a:lstStyle/>
          <a:p>
            <a:pPr algn="l" eaLnBrk="1" hangingPunct="1">
              <a:buFont typeface="Wingdings 2" pitchFamily="18" charset="2"/>
              <a:buChar char="¡"/>
            </a:pPr>
            <a:endParaRPr lang="zh-CN" altLang="en-US" sz="4400"/>
          </a:p>
        </p:txBody>
      </p:sp>
      <p:sp>
        <p:nvSpPr>
          <p:cNvPr id="438274" name="Rectangle 2"/>
          <p:cNvSpPr>
            <a:spLocks noGrp="1" noChangeArrowheads="1"/>
          </p:cNvSpPr>
          <p:nvPr>
            <p:ph type="ctrTitle"/>
          </p:nvPr>
        </p:nvSpPr>
        <p:spPr>
          <a:xfrm>
            <a:off x="685800" y="1196975"/>
            <a:ext cx="7772400" cy="1470025"/>
          </a:xfrm>
        </p:spPr>
        <p:txBody>
          <a:bodyPr/>
          <a:lstStyle/>
          <a:p>
            <a:pPr eaLnBrk="1" hangingPunct="1"/>
            <a:r>
              <a:rPr lang="en-US" altLang="zh-CN"/>
              <a:t>5.3  </a:t>
            </a:r>
            <a:r>
              <a:rPr lang="zh-CN" altLang="en-US"/>
              <a:t>时序产生器和控制方式</a:t>
            </a:r>
            <a:endParaRPr lang="zh-CN" altLang="en-US"/>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pPr eaLnBrk="1" hangingPunct="1">
              <a:defRPr/>
            </a:pPr>
            <a:r>
              <a:rPr lang="zh-CN" altLang="en-US"/>
              <a:t>基本概念</a:t>
            </a:r>
            <a:endParaRPr lang="en-US" altLang="zh-CN"/>
          </a:p>
        </p:txBody>
      </p:sp>
      <p:sp>
        <p:nvSpPr>
          <p:cNvPr id="64514" name="Rectangle 3"/>
          <p:cNvSpPr>
            <a:spLocks noGrp="1" noChangeArrowheads="1"/>
          </p:cNvSpPr>
          <p:nvPr>
            <p:ph idx="1"/>
          </p:nvPr>
        </p:nvSpPr>
        <p:spPr/>
        <p:txBody>
          <a:bodyPr/>
          <a:lstStyle/>
          <a:p>
            <a:pPr eaLnBrk="1" hangingPunct="1"/>
            <a:r>
              <a:rPr lang="zh-CN" altLang="en-US" sz="2800"/>
              <a:t>时序（</a:t>
            </a:r>
            <a:r>
              <a:rPr lang="en-US" altLang="zh-CN" sz="2800"/>
              <a:t>Timing</a:t>
            </a:r>
            <a:r>
              <a:rPr lang="zh-CN" altLang="en-US" sz="2800"/>
              <a:t>）</a:t>
            </a:r>
            <a:endParaRPr lang="en-US" altLang="zh-CN" sz="2800"/>
          </a:p>
          <a:p>
            <a:pPr eaLnBrk="1" hangingPunct="1"/>
            <a:r>
              <a:rPr lang="zh-CN" altLang="en-US" sz="2800"/>
              <a:t>在一个</a:t>
            </a:r>
            <a:r>
              <a:rPr lang="en-US" altLang="zh-CN" sz="2800"/>
              <a:t>CPU</a:t>
            </a:r>
            <a:r>
              <a:rPr lang="zh-CN" altLang="en-US" sz="2800"/>
              <a:t>周期中，时间可分为若干个小段，在每一个小段，</a:t>
            </a:r>
            <a:r>
              <a:rPr lang="en-US" altLang="zh-CN" sz="2800"/>
              <a:t>CPU</a:t>
            </a:r>
            <a:r>
              <a:rPr lang="zh-CN" altLang="en-US" sz="2800"/>
              <a:t>完成一个特定的操作</a:t>
            </a:r>
            <a:endParaRPr lang="zh-CN" altLang="en-US" sz="2800"/>
          </a:p>
          <a:p>
            <a:pPr eaLnBrk="1" hangingPunct="1"/>
            <a:r>
              <a:rPr lang="zh-CN" altLang="en-US" sz="2800"/>
              <a:t>计算机以时序信号为基准完成协调动作</a:t>
            </a:r>
            <a:endParaRPr lang="zh-CN" altLang="en-US" sz="2800"/>
          </a:p>
          <a:p>
            <a:pPr eaLnBrk="1" hangingPunct="1">
              <a:buFont typeface="Wingdings 2" pitchFamily="18" charset="2"/>
              <a:buNone/>
            </a:pPr>
            <a:r>
              <a:rPr lang="zh-CN" altLang="en-US" sz="2800"/>
              <a:t>控制器分类：</a:t>
            </a:r>
            <a:endParaRPr lang="zh-CN" altLang="en-US" sz="2800"/>
          </a:p>
          <a:p>
            <a:pPr eaLnBrk="1" hangingPunct="1"/>
            <a:r>
              <a:rPr lang="zh-CN" altLang="en-US" sz="2800"/>
              <a:t>硬布线控制器</a:t>
            </a:r>
            <a:endParaRPr lang="zh-CN" altLang="en-US" sz="2800"/>
          </a:p>
          <a:p>
            <a:pPr lvl="1" eaLnBrk="1" hangingPunct="1"/>
            <a:r>
              <a:rPr lang="zh-CN" altLang="en-US"/>
              <a:t>时序信号一般采用主状态周期</a:t>
            </a:r>
            <a:r>
              <a:rPr lang="en-US" altLang="zh-CN"/>
              <a:t>-</a:t>
            </a:r>
            <a:r>
              <a:rPr lang="zh-CN" altLang="en-US"/>
              <a:t>节拍电位</a:t>
            </a:r>
            <a:r>
              <a:rPr lang="en-US" altLang="zh-CN"/>
              <a:t>-</a:t>
            </a:r>
            <a:r>
              <a:rPr lang="zh-CN" altLang="en-US"/>
              <a:t>节拍脉冲三级体制。节拍电位的时间</a:t>
            </a:r>
            <a:r>
              <a:rPr lang="en-US" altLang="zh-CN"/>
              <a:t>=CPU</a:t>
            </a:r>
            <a:r>
              <a:rPr lang="zh-CN" altLang="en-US"/>
              <a:t>周期的时间</a:t>
            </a:r>
            <a:endParaRPr lang="zh-CN" altLang="en-US"/>
          </a:p>
          <a:p>
            <a:pPr eaLnBrk="1" hangingPunct="1"/>
            <a:r>
              <a:rPr lang="zh-CN" altLang="en-US" sz="2800"/>
              <a:t>微程序控制器</a:t>
            </a:r>
            <a:endParaRPr lang="zh-CN" altLang="en-US" sz="2800"/>
          </a:p>
          <a:p>
            <a:pPr lvl="1" eaLnBrk="1" hangingPunct="1"/>
            <a:r>
              <a:rPr lang="zh-CN" altLang="en-US"/>
              <a:t>时序信号比较简单。一般采用节拍电位</a:t>
            </a:r>
            <a:r>
              <a:rPr lang="en-US" altLang="zh-CN"/>
              <a:t>-</a:t>
            </a:r>
            <a:r>
              <a:rPr lang="zh-CN" altLang="en-US"/>
              <a:t>节拍脉冲二级体制</a:t>
            </a:r>
            <a:endParaRPr lang="zh-CN" altLang="en-US"/>
          </a:p>
        </p:txBody>
      </p:sp>
    </p:spTree>
  </p:cSld>
  <p:clrMapOvr>
    <a:masterClrMapping/>
  </p:clrMapOvr>
  <p:transition spd="med">
    <p:pull dir="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pPr eaLnBrk="1" hangingPunct="1"/>
            <a:r>
              <a:rPr lang="zh-CN" altLang="en-US"/>
              <a:t>问题？</a:t>
            </a:r>
            <a:endParaRPr lang="zh-CN" altLang="en-US"/>
          </a:p>
        </p:txBody>
      </p:sp>
      <p:sp>
        <p:nvSpPr>
          <p:cNvPr id="65538" name="Rectangle 3"/>
          <p:cNvSpPr>
            <a:spLocks noGrp="1" noChangeArrowheads="1"/>
          </p:cNvSpPr>
          <p:nvPr>
            <p:ph idx="1"/>
          </p:nvPr>
        </p:nvSpPr>
        <p:spPr>
          <a:xfrm>
            <a:off x="381000" y="1143000"/>
            <a:ext cx="8458200" cy="5054600"/>
          </a:xfrm>
        </p:spPr>
        <p:txBody>
          <a:bodyPr/>
          <a:lstStyle/>
          <a:p>
            <a:pPr eaLnBrk="1" hangingPunct="1"/>
            <a:r>
              <a:rPr lang="zh-CN" altLang="en-US" dirty="0"/>
              <a:t>用二进制码表示的指令和数据都放在内存里，那么</a:t>
            </a:r>
            <a:r>
              <a:rPr lang="en-US" altLang="zh-CN" dirty="0"/>
              <a:t>CPU</a:t>
            </a:r>
            <a:r>
              <a:rPr lang="zh-CN" altLang="en-US" dirty="0"/>
              <a:t>是怎样识别出它们是数据还是指令呢</a:t>
            </a:r>
            <a:r>
              <a:rPr lang="en-US" altLang="zh-CN" dirty="0"/>
              <a:t>?</a:t>
            </a:r>
            <a:endParaRPr lang="en-US" altLang="zh-CN" dirty="0"/>
          </a:p>
          <a:p>
            <a:pPr lvl="1" eaLnBrk="1" hangingPunct="1"/>
            <a:r>
              <a:rPr lang="zh-CN" altLang="en-US" dirty="0"/>
              <a:t>从时间上来说，取指令事件发生在指令周期的第一个</a:t>
            </a:r>
            <a:r>
              <a:rPr lang="en-US" altLang="zh-CN" dirty="0"/>
              <a:t>CPU</a:t>
            </a:r>
            <a:r>
              <a:rPr lang="zh-CN" altLang="en-US" dirty="0"/>
              <a:t>周期中，即发生在“取指令”阶段，而取数据事件发生在“执行指令”阶段</a:t>
            </a:r>
            <a:endParaRPr lang="zh-CN" altLang="en-US" dirty="0"/>
          </a:p>
          <a:p>
            <a:pPr lvl="1" eaLnBrk="1" hangingPunct="1"/>
            <a:r>
              <a:rPr lang="zh-CN" altLang="en-US" dirty="0"/>
              <a:t>从空间上来说，如果取出的代码是指令，那么一定送往指令寄存器，如果取出的代码是数据，那么一定送往运算器，由此可见，时间控制对计算机来说是太重要了</a:t>
            </a:r>
            <a:endParaRPr lang="zh-CN" altLang="en-US" dirty="0"/>
          </a:p>
        </p:txBody>
      </p:sp>
      <p:sp>
        <p:nvSpPr>
          <p:cNvPr id="242692" name="Text Box 4"/>
          <p:cNvSpPr txBox="1">
            <a:spLocks noChangeArrowheads="1"/>
          </p:cNvSpPr>
          <p:nvPr/>
        </p:nvSpPr>
        <p:spPr bwMode="auto">
          <a:xfrm>
            <a:off x="3255962" y="5191125"/>
            <a:ext cx="2708275" cy="523875"/>
          </a:xfrm>
          <a:prstGeom prst="rect">
            <a:avLst/>
          </a:prstGeom>
          <a:noFill/>
          <a:ln w="22225" algn="ctr">
            <a:solidFill>
              <a:srgbClr val="33CCCC"/>
            </a:solid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lang="zh-CN" altLang="en-US" sz="2800" b="1" dirty="0">
                <a:solidFill>
                  <a:srgbClr val="FF3300"/>
                </a:solidFill>
                <a:latin typeface="楷体" panose="02010609060101010101" pitchFamily="49" charset="-122"/>
                <a:ea typeface="楷体" panose="02010609060101010101" pitchFamily="49" charset="-122"/>
              </a:rPr>
              <a:t>解释不太准确！</a:t>
            </a:r>
            <a:endParaRPr lang="en-US" altLang="zh-CN" sz="2800" b="1" dirty="0">
              <a:solidFill>
                <a:srgbClr val="FF3300"/>
              </a:solidFill>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pPr eaLnBrk="1" hangingPunct="1"/>
            <a:r>
              <a:rPr lang="zh-CN" altLang="en-US"/>
              <a:t>时序信号产生器</a:t>
            </a:r>
            <a:endParaRPr lang="zh-CN" altLang="en-US"/>
          </a:p>
        </p:txBody>
      </p:sp>
      <p:sp>
        <p:nvSpPr>
          <p:cNvPr id="66562" name="Rectangle 3"/>
          <p:cNvSpPr>
            <a:spLocks noGrp="1" noChangeArrowheads="1"/>
          </p:cNvSpPr>
          <p:nvPr>
            <p:ph idx="1"/>
          </p:nvPr>
        </p:nvSpPr>
        <p:spPr/>
        <p:txBody>
          <a:bodyPr/>
          <a:lstStyle/>
          <a:p>
            <a:pPr eaLnBrk="1" hangingPunct="1"/>
            <a:r>
              <a:rPr lang="zh-CN" altLang="en-US"/>
              <a:t>微程序控制器中时序信号产生器的组成</a:t>
            </a:r>
            <a:endParaRPr lang="zh-CN" altLang="en-US"/>
          </a:p>
          <a:p>
            <a:pPr lvl="1" eaLnBrk="1" hangingPunct="1"/>
            <a:r>
              <a:rPr lang="zh-CN" altLang="en-US"/>
              <a:t>时钟源</a:t>
            </a:r>
            <a:endParaRPr lang="zh-CN" altLang="en-US"/>
          </a:p>
          <a:p>
            <a:pPr lvl="1" eaLnBrk="1" hangingPunct="1"/>
            <a:r>
              <a:rPr lang="zh-CN" altLang="en-US"/>
              <a:t>环形脉冲发生器</a:t>
            </a:r>
            <a:endParaRPr lang="zh-CN" altLang="en-US"/>
          </a:p>
          <a:p>
            <a:pPr lvl="1" eaLnBrk="1" hangingPunct="1"/>
            <a:r>
              <a:rPr lang="zh-CN" altLang="en-US"/>
              <a:t>节拍脉冲和读</a:t>
            </a:r>
            <a:r>
              <a:rPr lang="en-US" altLang="zh-CN"/>
              <a:t>/</a:t>
            </a:r>
            <a:r>
              <a:rPr lang="zh-CN" altLang="en-US"/>
              <a:t>写时序的译码</a:t>
            </a:r>
            <a:endParaRPr lang="zh-CN" altLang="en-US"/>
          </a:p>
          <a:p>
            <a:pPr lvl="1" eaLnBrk="1" hangingPunct="1"/>
            <a:r>
              <a:rPr lang="zh-CN" altLang="en-US"/>
              <a:t>启停控制逻辑</a:t>
            </a:r>
            <a:endParaRPr lang="zh-CN" altLang="en-US"/>
          </a:p>
        </p:txBody>
      </p:sp>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pPr eaLnBrk="1" hangingPunct="1"/>
            <a:r>
              <a:rPr lang="zh-CN" altLang="en-US"/>
              <a:t>时序信号产生器框图</a:t>
            </a:r>
            <a:endParaRPr lang="zh-CN" altLang="en-US"/>
          </a:p>
        </p:txBody>
      </p:sp>
      <p:sp>
        <p:nvSpPr>
          <p:cNvPr id="68611" name="Rectangle 4"/>
          <p:cNvSpPr>
            <a:spLocks noChangeArrowheads="1"/>
          </p:cNvSpPr>
          <p:nvPr/>
        </p:nvSpPr>
        <p:spPr bwMode="auto">
          <a:xfrm>
            <a:off x="1903413" y="2489200"/>
            <a:ext cx="4043362" cy="785813"/>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启停控制逻辑</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68612" name="Rectangle 5"/>
          <p:cNvSpPr>
            <a:spLocks noChangeArrowheads="1"/>
          </p:cNvSpPr>
          <p:nvPr/>
        </p:nvSpPr>
        <p:spPr bwMode="auto">
          <a:xfrm>
            <a:off x="1931988" y="3875088"/>
            <a:ext cx="4043362" cy="785812"/>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节拍脉冲和读写时序译码</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68613" name="Rectangle 6"/>
          <p:cNvSpPr>
            <a:spLocks noChangeArrowheads="1"/>
          </p:cNvSpPr>
          <p:nvPr/>
        </p:nvSpPr>
        <p:spPr bwMode="auto">
          <a:xfrm>
            <a:off x="1931988" y="5246688"/>
            <a:ext cx="4043362" cy="785812"/>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环形脉冲发生器</a:t>
            </a:r>
            <a:endParaRPr kumimoji="0" lang="zh-CN" altLang="en-US" sz="2400">
              <a:solidFill>
                <a:schemeClr val="bg1"/>
              </a:solidFill>
              <a:latin typeface="楷体" panose="02010609060101010101" pitchFamily="49" charset="-122"/>
              <a:ea typeface="楷体" panose="02010609060101010101" pitchFamily="49" charset="-122"/>
            </a:endParaRPr>
          </a:p>
        </p:txBody>
      </p:sp>
      <p:sp>
        <p:nvSpPr>
          <p:cNvPr id="68614" name="Rectangle 7"/>
          <p:cNvSpPr>
            <a:spLocks noChangeArrowheads="1"/>
          </p:cNvSpPr>
          <p:nvPr/>
        </p:nvSpPr>
        <p:spPr bwMode="auto">
          <a:xfrm>
            <a:off x="6746875" y="5346700"/>
            <a:ext cx="1657350" cy="628650"/>
          </a:xfrm>
          <a:prstGeom prst="rect">
            <a:avLst/>
          </a:prstGeom>
          <a:solidFill>
            <a:srgbClr val="80008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楷体" panose="02010609060101010101" pitchFamily="49" charset="-122"/>
                <a:ea typeface="楷体" panose="02010609060101010101" pitchFamily="49" charset="-122"/>
              </a:rPr>
              <a:t>时钟源</a:t>
            </a:r>
            <a:endParaRPr kumimoji="0" lang="en-US" altLang="zh-CN" sz="2400">
              <a:solidFill>
                <a:schemeClr val="bg1"/>
              </a:solidFill>
              <a:latin typeface="楷体" panose="02010609060101010101" pitchFamily="49" charset="-122"/>
              <a:ea typeface="楷体" panose="02010609060101010101" pitchFamily="49" charset="-122"/>
            </a:endParaRPr>
          </a:p>
        </p:txBody>
      </p:sp>
      <p:sp>
        <p:nvSpPr>
          <p:cNvPr id="68615" name="Line 8"/>
          <p:cNvSpPr>
            <a:spLocks noChangeShapeType="1"/>
          </p:cNvSpPr>
          <p:nvPr/>
        </p:nvSpPr>
        <p:spPr bwMode="auto">
          <a:xfrm flipH="1">
            <a:off x="5975350" y="5646738"/>
            <a:ext cx="7715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6" name="Line 9"/>
          <p:cNvSpPr>
            <a:spLocks noChangeShapeType="1"/>
          </p:cNvSpPr>
          <p:nvPr/>
        </p:nvSpPr>
        <p:spPr bwMode="auto">
          <a:xfrm flipV="1">
            <a:off x="291782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7" name="Line 10"/>
          <p:cNvSpPr>
            <a:spLocks noChangeShapeType="1"/>
          </p:cNvSpPr>
          <p:nvPr/>
        </p:nvSpPr>
        <p:spPr bwMode="auto">
          <a:xfrm flipV="1">
            <a:off x="240347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8" name="Line 11"/>
          <p:cNvSpPr>
            <a:spLocks noChangeShapeType="1"/>
          </p:cNvSpPr>
          <p:nvPr/>
        </p:nvSpPr>
        <p:spPr bwMode="auto">
          <a:xfrm flipV="1">
            <a:off x="343217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19" name="Line 12"/>
          <p:cNvSpPr>
            <a:spLocks noChangeShapeType="1"/>
          </p:cNvSpPr>
          <p:nvPr/>
        </p:nvSpPr>
        <p:spPr bwMode="auto">
          <a:xfrm flipV="1">
            <a:off x="4475163"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0" name="Line 13"/>
          <p:cNvSpPr>
            <a:spLocks noChangeShapeType="1"/>
          </p:cNvSpPr>
          <p:nvPr/>
        </p:nvSpPr>
        <p:spPr bwMode="auto">
          <a:xfrm flipV="1">
            <a:off x="394652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1" name="Line 14"/>
          <p:cNvSpPr>
            <a:spLocks noChangeShapeType="1"/>
          </p:cNvSpPr>
          <p:nvPr/>
        </p:nvSpPr>
        <p:spPr bwMode="auto">
          <a:xfrm flipV="1">
            <a:off x="4989513"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2" name="Line 15"/>
          <p:cNvSpPr>
            <a:spLocks noChangeShapeType="1"/>
          </p:cNvSpPr>
          <p:nvPr/>
        </p:nvSpPr>
        <p:spPr bwMode="auto">
          <a:xfrm flipV="1">
            <a:off x="5489575" y="4660900"/>
            <a:ext cx="0" cy="58578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3" name="Line 16"/>
          <p:cNvSpPr>
            <a:spLocks noChangeShapeType="1"/>
          </p:cNvSpPr>
          <p:nvPr/>
        </p:nvSpPr>
        <p:spPr bwMode="auto">
          <a:xfrm flipV="1">
            <a:off x="3117850"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4" name="Line 17"/>
          <p:cNvSpPr>
            <a:spLocks noChangeShapeType="1"/>
          </p:cNvSpPr>
          <p:nvPr/>
        </p:nvSpPr>
        <p:spPr bwMode="auto">
          <a:xfrm flipV="1">
            <a:off x="2546350"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5" name="Line 18"/>
          <p:cNvSpPr>
            <a:spLocks noChangeShapeType="1"/>
          </p:cNvSpPr>
          <p:nvPr/>
        </p:nvSpPr>
        <p:spPr bwMode="auto">
          <a:xfrm flipV="1">
            <a:off x="3775075"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6" name="Line 19"/>
          <p:cNvSpPr>
            <a:spLocks noChangeShapeType="1"/>
          </p:cNvSpPr>
          <p:nvPr/>
        </p:nvSpPr>
        <p:spPr bwMode="auto">
          <a:xfrm flipV="1">
            <a:off x="4732338"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7" name="Line 20"/>
          <p:cNvSpPr>
            <a:spLocks noChangeShapeType="1"/>
          </p:cNvSpPr>
          <p:nvPr/>
        </p:nvSpPr>
        <p:spPr bwMode="auto">
          <a:xfrm flipV="1">
            <a:off x="4246563"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8" name="Line 21"/>
          <p:cNvSpPr>
            <a:spLocks noChangeShapeType="1"/>
          </p:cNvSpPr>
          <p:nvPr/>
        </p:nvSpPr>
        <p:spPr bwMode="auto">
          <a:xfrm flipV="1">
            <a:off x="5246688" y="32750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29" name="Line 23"/>
          <p:cNvSpPr>
            <a:spLocks noChangeShapeType="1"/>
          </p:cNvSpPr>
          <p:nvPr/>
        </p:nvSpPr>
        <p:spPr bwMode="auto">
          <a:xfrm flipV="1">
            <a:off x="257492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0" name="Line 25"/>
          <p:cNvSpPr>
            <a:spLocks noChangeShapeType="1"/>
          </p:cNvSpPr>
          <p:nvPr/>
        </p:nvSpPr>
        <p:spPr bwMode="auto">
          <a:xfrm flipV="1">
            <a:off x="314642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1" name="Line 26"/>
          <p:cNvSpPr>
            <a:spLocks noChangeShapeType="1"/>
          </p:cNvSpPr>
          <p:nvPr/>
        </p:nvSpPr>
        <p:spPr bwMode="auto">
          <a:xfrm flipV="1">
            <a:off x="423227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2" name="Line 27"/>
          <p:cNvSpPr>
            <a:spLocks noChangeShapeType="1"/>
          </p:cNvSpPr>
          <p:nvPr/>
        </p:nvSpPr>
        <p:spPr bwMode="auto">
          <a:xfrm flipV="1">
            <a:off x="3703638"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3" name="Line 28"/>
          <p:cNvSpPr>
            <a:spLocks noChangeShapeType="1"/>
          </p:cNvSpPr>
          <p:nvPr/>
        </p:nvSpPr>
        <p:spPr bwMode="auto">
          <a:xfrm flipV="1">
            <a:off x="4746625"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4" name="Line 29"/>
          <p:cNvSpPr>
            <a:spLocks noChangeShapeType="1"/>
          </p:cNvSpPr>
          <p:nvPr/>
        </p:nvSpPr>
        <p:spPr bwMode="auto">
          <a:xfrm flipV="1">
            <a:off x="5246688" y="1903413"/>
            <a:ext cx="0" cy="58578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35" name="Text Box 31"/>
          <p:cNvSpPr txBox="1">
            <a:spLocks noChangeArrowheads="1"/>
          </p:cNvSpPr>
          <p:nvPr/>
        </p:nvSpPr>
        <p:spPr bwMode="auto">
          <a:xfrm>
            <a:off x="2268538" y="154146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68636" name="Text Box 32"/>
          <p:cNvSpPr txBox="1">
            <a:spLocks noChangeArrowheads="1"/>
          </p:cNvSpPr>
          <p:nvPr/>
        </p:nvSpPr>
        <p:spPr bwMode="auto">
          <a:xfrm>
            <a:off x="2811463" y="1541463"/>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68637" name="Text Box 33"/>
          <p:cNvSpPr txBox="1">
            <a:spLocks noChangeArrowheads="1"/>
          </p:cNvSpPr>
          <p:nvPr/>
        </p:nvSpPr>
        <p:spPr bwMode="auto">
          <a:xfrm>
            <a:off x="3471863"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68638" name="Text Box 34"/>
          <p:cNvSpPr txBox="1">
            <a:spLocks noChangeArrowheads="1"/>
          </p:cNvSpPr>
          <p:nvPr/>
        </p:nvSpPr>
        <p:spPr bwMode="auto">
          <a:xfrm>
            <a:off x="3986213"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68639" name="Text Box 35"/>
          <p:cNvSpPr txBox="1">
            <a:spLocks noChangeArrowheads="1"/>
          </p:cNvSpPr>
          <p:nvPr/>
        </p:nvSpPr>
        <p:spPr bwMode="auto">
          <a:xfrm>
            <a:off x="4514850"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68640" name="Text Box 36"/>
          <p:cNvSpPr txBox="1">
            <a:spLocks noChangeArrowheads="1"/>
          </p:cNvSpPr>
          <p:nvPr/>
        </p:nvSpPr>
        <p:spPr bwMode="auto">
          <a:xfrm>
            <a:off x="5014913" y="15414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grpSp>
        <p:nvGrpSpPr>
          <p:cNvPr id="68641" name="Group 42"/>
          <p:cNvGrpSpPr/>
          <p:nvPr/>
        </p:nvGrpSpPr>
        <p:grpSpPr bwMode="auto">
          <a:xfrm>
            <a:off x="2497138" y="3398838"/>
            <a:ext cx="635000" cy="457200"/>
            <a:chOff x="4361" y="1824"/>
            <a:chExt cx="400" cy="288"/>
          </a:xfrm>
        </p:grpSpPr>
        <p:sp>
          <p:nvSpPr>
            <p:cNvPr id="68665" name="Text Box 30"/>
            <p:cNvSpPr txBox="1">
              <a:spLocks noChangeArrowheads="1"/>
            </p:cNvSpPr>
            <p:nvPr/>
          </p:nvSpPr>
          <p:spPr bwMode="auto">
            <a:xfrm>
              <a:off x="4361" y="1824"/>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68666" name="Oval 37"/>
            <p:cNvSpPr>
              <a:spLocks noChangeArrowheads="1"/>
            </p:cNvSpPr>
            <p:nvPr/>
          </p:nvSpPr>
          <p:spPr bwMode="auto">
            <a:xfrm>
              <a:off x="4671" y="185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68642" name="Text Box 44"/>
          <p:cNvSpPr txBox="1">
            <a:spLocks noChangeArrowheads="1"/>
          </p:cNvSpPr>
          <p:nvPr/>
        </p:nvSpPr>
        <p:spPr bwMode="auto">
          <a:xfrm>
            <a:off x="3068638" y="3384550"/>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68643" name="Oval 45"/>
          <p:cNvSpPr>
            <a:spLocks noChangeArrowheads="1"/>
          </p:cNvSpPr>
          <p:nvPr/>
        </p:nvSpPr>
        <p:spPr bwMode="auto">
          <a:xfrm>
            <a:off x="3646488"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44" name="Text Box 47"/>
          <p:cNvSpPr txBox="1">
            <a:spLocks noChangeArrowheads="1"/>
          </p:cNvSpPr>
          <p:nvPr/>
        </p:nvSpPr>
        <p:spPr bwMode="auto">
          <a:xfrm>
            <a:off x="3768725"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68645" name="Oval 48"/>
          <p:cNvSpPr>
            <a:spLocks noChangeArrowheads="1"/>
          </p:cNvSpPr>
          <p:nvPr/>
        </p:nvSpPr>
        <p:spPr bwMode="auto">
          <a:xfrm>
            <a:off x="4089400"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46" name="Text Box 49"/>
          <p:cNvSpPr txBox="1">
            <a:spLocks noChangeArrowheads="1"/>
          </p:cNvSpPr>
          <p:nvPr/>
        </p:nvSpPr>
        <p:spPr bwMode="auto">
          <a:xfrm>
            <a:off x="4225925"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68647" name="Oval 50"/>
          <p:cNvSpPr>
            <a:spLocks noChangeArrowheads="1"/>
          </p:cNvSpPr>
          <p:nvPr/>
        </p:nvSpPr>
        <p:spPr bwMode="auto">
          <a:xfrm>
            <a:off x="4546600"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48" name="Text Box 51"/>
          <p:cNvSpPr txBox="1">
            <a:spLocks noChangeArrowheads="1"/>
          </p:cNvSpPr>
          <p:nvPr/>
        </p:nvSpPr>
        <p:spPr bwMode="auto">
          <a:xfrm>
            <a:off x="4783138"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68649" name="Oval 52"/>
          <p:cNvSpPr>
            <a:spLocks noChangeArrowheads="1"/>
          </p:cNvSpPr>
          <p:nvPr/>
        </p:nvSpPr>
        <p:spPr bwMode="auto">
          <a:xfrm>
            <a:off x="5095875"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50" name="Text Box 53"/>
          <p:cNvSpPr txBox="1">
            <a:spLocks noChangeArrowheads="1"/>
          </p:cNvSpPr>
          <p:nvPr/>
        </p:nvSpPr>
        <p:spPr bwMode="auto">
          <a:xfrm>
            <a:off x="5283200" y="33845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68651" name="Oval 54"/>
          <p:cNvSpPr>
            <a:spLocks noChangeArrowheads="1"/>
          </p:cNvSpPr>
          <p:nvPr/>
        </p:nvSpPr>
        <p:spPr bwMode="auto">
          <a:xfrm>
            <a:off x="5595938" y="34321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8652" name="Line 55"/>
          <p:cNvSpPr>
            <a:spLocks noChangeShapeType="1"/>
          </p:cNvSpPr>
          <p:nvPr/>
        </p:nvSpPr>
        <p:spPr bwMode="auto">
          <a:xfrm flipH="1">
            <a:off x="5946775" y="2646363"/>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3" name="Line 56"/>
          <p:cNvSpPr>
            <a:spLocks noChangeShapeType="1"/>
          </p:cNvSpPr>
          <p:nvPr/>
        </p:nvSpPr>
        <p:spPr bwMode="auto">
          <a:xfrm flipH="1">
            <a:off x="5978525" y="3089275"/>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4" name="Text Box 57"/>
          <p:cNvSpPr txBox="1">
            <a:spLocks noChangeArrowheads="1"/>
          </p:cNvSpPr>
          <p:nvPr/>
        </p:nvSpPr>
        <p:spPr bwMode="auto">
          <a:xfrm>
            <a:off x="6678537" y="2400300"/>
            <a:ext cx="803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启动</a:t>
            </a:r>
            <a:endParaRPr kumimoji="0" lang="zh-CN" altLang="en-US" sz="2400">
              <a:latin typeface="楷体" panose="02010609060101010101" pitchFamily="49" charset="-122"/>
              <a:ea typeface="楷体" panose="02010609060101010101" pitchFamily="49" charset="-122"/>
            </a:endParaRPr>
          </a:p>
        </p:txBody>
      </p:sp>
      <p:sp>
        <p:nvSpPr>
          <p:cNvPr id="68655" name="Text Box 58"/>
          <p:cNvSpPr txBox="1">
            <a:spLocks noChangeArrowheads="1"/>
          </p:cNvSpPr>
          <p:nvPr/>
        </p:nvSpPr>
        <p:spPr bwMode="auto">
          <a:xfrm>
            <a:off x="6678537" y="2843213"/>
            <a:ext cx="803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停机</a:t>
            </a:r>
            <a:endParaRPr kumimoji="0" lang="zh-CN" altLang="en-US" sz="2400">
              <a:latin typeface="楷体" panose="02010609060101010101" pitchFamily="49" charset="-122"/>
              <a:ea typeface="楷体" panose="02010609060101010101" pitchFamily="49" charset="-122"/>
            </a:endParaRPr>
          </a:p>
        </p:txBody>
      </p:sp>
      <p:sp>
        <p:nvSpPr>
          <p:cNvPr id="68656" name="Line 59"/>
          <p:cNvSpPr>
            <a:spLocks noChangeShapeType="1"/>
          </p:cNvSpPr>
          <p:nvPr/>
        </p:nvSpPr>
        <p:spPr bwMode="auto">
          <a:xfrm flipH="1">
            <a:off x="6007100" y="4060825"/>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7" name="Line 60"/>
          <p:cNvSpPr>
            <a:spLocks noChangeShapeType="1"/>
          </p:cNvSpPr>
          <p:nvPr/>
        </p:nvSpPr>
        <p:spPr bwMode="auto">
          <a:xfrm flipH="1">
            <a:off x="5975350" y="4503738"/>
            <a:ext cx="78581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8658" name="Text Box 61"/>
          <p:cNvSpPr txBox="1">
            <a:spLocks noChangeArrowheads="1"/>
          </p:cNvSpPr>
          <p:nvPr/>
        </p:nvSpPr>
        <p:spPr bwMode="auto">
          <a:xfrm>
            <a:off x="6721475" y="3835400"/>
            <a:ext cx="709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rPr>
              <a:t>RD'</a:t>
            </a:r>
            <a:endParaRPr kumimoji="0" lang="en-US" altLang="zh-CN" sz="2400">
              <a:ea typeface="宋体" panose="02010600030101010101" pitchFamily="2" charset="-122"/>
            </a:endParaRPr>
          </a:p>
        </p:txBody>
      </p:sp>
      <p:sp>
        <p:nvSpPr>
          <p:cNvPr id="68659" name="Text Box 62"/>
          <p:cNvSpPr txBox="1">
            <a:spLocks noChangeArrowheads="1"/>
          </p:cNvSpPr>
          <p:nvPr/>
        </p:nvSpPr>
        <p:spPr bwMode="auto">
          <a:xfrm>
            <a:off x="6708775" y="4278313"/>
            <a:ext cx="776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ea typeface="宋体" panose="02010600030101010101" pitchFamily="2" charset="-122"/>
              </a:rPr>
              <a:t>WE'</a:t>
            </a:r>
            <a:endParaRPr kumimoji="0" lang="en-US" altLang="zh-CN" sz="2400">
              <a:ea typeface="宋体" panose="02010600030101010101" pitchFamily="2" charset="-122"/>
            </a:endParaRPr>
          </a:p>
        </p:txBody>
      </p:sp>
      <p:sp>
        <p:nvSpPr>
          <p:cNvPr id="68660" name="Text Box 63"/>
          <p:cNvSpPr txBox="1">
            <a:spLocks noChangeArrowheads="1"/>
          </p:cNvSpPr>
          <p:nvPr/>
        </p:nvSpPr>
        <p:spPr bwMode="auto">
          <a:xfrm>
            <a:off x="6094413" y="5276850"/>
            <a:ext cx="676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rPr>
              <a:t>CLK</a:t>
            </a:r>
            <a:endParaRPr kumimoji="0" lang="en-US" altLang="zh-CN" sz="2000">
              <a:latin typeface="Tahoma" panose="020B0604030504040204" pitchFamily="34" charset="0"/>
            </a:endParaRPr>
          </a:p>
        </p:txBody>
      </p:sp>
      <p:sp>
        <p:nvSpPr>
          <p:cNvPr id="68661" name="TextBox 1"/>
          <p:cNvSpPr txBox="1">
            <a:spLocks noChangeArrowheads="1"/>
          </p:cNvSpPr>
          <p:nvPr/>
        </p:nvSpPr>
        <p:spPr bwMode="auto">
          <a:xfrm>
            <a:off x="7575550" y="3198813"/>
            <a:ext cx="1211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zh-CN" altLang="en-US" sz="2000">
                <a:solidFill>
                  <a:srgbClr val="2D2DB9"/>
                </a:solidFill>
                <a:latin typeface="楷体" panose="02010609060101010101" pitchFamily="49" charset="-122"/>
                <a:ea typeface="楷体" panose="02010609060101010101" pitchFamily="49" charset="-122"/>
              </a:rPr>
              <a:t>节拍脉冲</a:t>
            </a:r>
            <a:endParaRPr lang="zh-CN" altLang="en-US" sz="2000">
              <a:solidFill>
                <a:srgbClr val="2D2DB9"/>
              </a:solidFill>
              <a:latin typeface="楷体" panose="02010609060101010101" pitchFamily="49" charset="-122"/>
              <a:ea typeface="楷体" panose="02010609060101010101" pitchFamily="49" charset="-122"/>
            </a:endParaRPr>
          </a:p>
        </p:txBody>
      </p:sp>
      <p:cxnSp>
        <p:nvCxnSpPr>
          <p:cNvPr id="4" name="直接箭头连接符 3"/>
          <p:cNvCxnSpPr>
            <a:stCxn id="68661" idx="1"/>
          </p:cNvCxnSpPr>
          <p:nvPr/>
        </p:nvCxnSpPr>
        <p:spPr bwMode="auto">
          <a:xfrm flipH="1">
            <a:off x="5784850" y="3398838"/>
            <a:ext cx="1790700" cy="122237"/>
          </a:xfrm>
          <a:prstGeom prst="straightConnector1">
            <a:avLst/>
          </a:prstGeom>
          <a:noFill/>
          <a:ln w="15875" cap="flat" cmpd="sng" algn="ctr">
            <a:solidFill>
              <a:schemeClr val="accent6"/>
            </a:solidFill>
            <a:prstDash val="solid"/>
            <a:miter lim="800000"/>
            <a:headEnd type="none" w="med" len="med"/>
            <a:tailEnd type="arrow"/>
          </a:ln>
          <a:effectLst/>
        </p:spPr>
      </p:cxnSp>
      <p:sp>
        <p:nvSpPr>
          <p:cNvPr id="68663" name="TextBox 59"/>
          <p:cNvSpPr txBox="1">
            <a:spLocks noChangeArrowheads="1"/>
          </p:cNvSpPr>
          <p:nvPr/>
        </p:nvSpPr>
        <p:spPr bwMode="auto">
          <a:xfrm>
            <a:off x="7799388" y="4846638"/>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lang="zh-CN" altLang="en-US" sz="2000">
                <a:solidFill>
                  <a:srgbClr val="2D2DB9"/>
                </a:solidFill>
                <a:latin typeface="楷体" panose="02010609060101010101" pitchFamily="49" charset="-122"/>
                <a:ea typeface="楷体" panose="02010609060101010101" pitchFamily="49" charset="-122"/>
              </a:rPr>
              <a:t>节拍电位</a:t>
            </a:r>
            <a:endParaRPr lang="zh-CN" altLang="en-US" sz="2000">
              <a:solidFill>
                <a:srgbClr val="2D2DB9"/>
              </a:solidFill>
              <a:latin typeface="楷体" panose="02010609060101010101" pitchFamily="49" charset="-122"/>
              <a:ea typeface="楷体" panose="02010609060101010101" pitchFamily="49" charset="-122"/>
            </a:endParaRPr>
          </a:p>
        </p:txBody>
      </p:sp>
      <p:cxnSp>
        <p:nvCxnSpPr>
          <p:cNvPr id="61" name="直接箭头连接符 60"/>
          <p:cNvCxnSpPr/>
          <p:nvPr/>
        </p:nvCxnSpPr>
        <p:spPr bwMode="auto">
          <a:xfrm flipH="1" flipV="1">
            <a:off x="7431088" y="4660900"/>
            <a:ext cx="368300" cy="400050"/>
          </a:xfrm>
          <a:prstGeom prst="straightConnector1">
            <a:avLst/>
          </a:prstGeom>
          <a:noFill/>
          <a:ln w="15875" cap="flat" cmpd="sng" algn="ctr">
            <a:solidFill>
              <a:schemeClr val="accent6"/>
            </a:solidFill>
            <a:prstDash val="solid"/>
            <a:miter lim="800000"/>
            <a:headEnd type="none" w="med" len="med"/>
            <a:tailEnd type="arrow"/>
          </a:ln>
          <a:effectLst/>
        </p:spPr>
      </p:cxn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eaLnBrk="1" hangingPunct="1"/>
            <a:r>
              <a:rPr lang="zh-CN" altLang="en-US" sz="4000"/>
              <a:t>时序信号产生器的输出</a:t>
            </a:r>
            <a:endParaRPr lang="zh-CN" altLang="en-US" sz="4000"/>
          </a:p>
        </p:txBody>
      </p:sp>
      <p:pic>
        <p:nvPicPr>
          <p:cNvPr id="69635" name="Picture 5" descr="p27"/>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1344613"/>
            <a:ext cx="752633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eaLnBrk="1" hangingPunct="1"/>
            <a:r>
              <a:rPr lang="zh-CN" altLang="en-US"/>
              <a:t>时序信号产生器（</a:t>
            </a:r>
            <a:r>
              <a:rPr lang="en-US" altLang="zh-CN"/>
              <a:t>1</a:t>
            </a:r>
            <a:r>
              <a:rPr lang="zh-CN" altLang="en-US"/>
              <a:t>）</a:t>
            </a:r>
            <a:endParaRPr lang="zh-CN" altLang="en-US"/>
          </a:p>
        </p:txBody>
      </p:sp>
      <p:sp>
        <p:nvSpPr>
          <p:cNvPr id="70658" name="Rectangle 3"/>
          <p:cNvSpPr>
            <a:spLocks noGrp="1" noChangeArrowheads="1"/>
          </p:cNvSpPr>
          <p:nvPr>
            <p:ph idx="1"/>
          </p:nvPr>
        </p:nvSpPr>
        <p:spPr/>
        <p:txBody>
          <a:bodyPr/>
          <a:lstStyle/>
          <a:p>
            <a:pPr eaLnBrk="1" hangingPunct="1"/>
            <a:r>
              <a:rPr lang="zh-CN" altLang="en-US" sz="3600"/>
              <a:t>环形脉冲发生器</a:t>
            </a:r>
            <a:endParaRPr lang="zh-CN" altLang="en-US" sz="3600"/>
          </a:p>
          <a:p>
            <a:pPr lvl="1" eaLnBrk="1" hangingPunct="1"/>
            <a:r>
              <a:rPr lang="zh-CN" altLang="en-US" sz="3200"/>
              <a:t>产生一组有序的间隔相等或不等的脉冲序列，以便通过译码电路来产生最后所需的节拍脉冲</a:t>
            </a:r>
            <a:endParaRPr lang="zh-CN" altLang="en-US" sz="3200"/>
          </a:p>
          <a:p>
            <a:pPr lvl="1" eaLnBrk="1" hangingPunct="1"/>
            <a:r>
              <a:rPr lang="zh-CN" altLang="en-US" sz="3200"/>
              <a:t>为了在节拍脉冲上不带干扰毛刺，环形脉冲发生器通常采用循环移位寄存器形式</a:t>
            </a:r>
            <a:endParaRPr lang="zh-CN" altLang="en-US" sz="3200"/>
          </a:p>
        </p:txBody>
      </p:sp>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pPr eaLnBrk="1" hangingPunct="1"/>
            <a:r>
              <a:rPr lang="zh-CN" altLang="en-US"/>
              <a:t>节拍电位与节拍脉冲时序关系图</a:t>
            </a:r>
            <a:r>
              <a:rPr lang="en-US" altLang="zh-CN"/>
              <a:t>1</a:t>
            </a:r>
            <a:endParaRPr lang="zh-CN" altLang="en-US"/>
          </a:p>
        </p:txBody>
      </p:sp>
      <p:pic>
        <p:nvPicPr>
          <p:cNvPr id="71683" name="Picture 6" descr="p2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763" y="2270125"/>
            <a:ext cx="7804150"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Text Box 8"/>
          <p:cNvSpPr txBox="1">
            <a:spLocks noChangeArrowheads="1"/>
          </p:cNvSpPr>
          <p:nvPr/>
        </p:nvSpPr>
        <p:spPr bwMode="auto">
          <a:xfrm>
            <a:off x="693738" y="3009900"/>
            <a:ext cx="515937"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C4</a:t>
            </a:r>
            <a:endParaRPr kumimoji="0" lang="en-US" altLang="zh-CN" sz="2000">
              <a:latin typeface="Tahoma" panose="020B0604030504040204" pitchFamily="34" charset="0"/>
              <a:ea typeface="宋体" panose="02010600030101010101" pitchFamily="2" charset="-122"/>
            </a:endParaRPr>
          </a:p>
        </p:txBody>
      </p:sp>
      <p:sp>
        <p:nvSpPr>
          <p:cNvPr id="71685" name="Text Box 9"/>
          <p:cNvSpPr txBox="1">
            <a:spLocks noChangeArrowheads="1"/>
          </p:cNvSpPr>
          <p:nvPr/>
        </p:nvSpPr>
        <p:spPr bwMode="auto">
          <a:xfrm>
            <a:off x="708025" y="3652838"/>
            <a:ext cx="515938"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C1</a:t>
            </a:r>
            <a:endParaRPr kumimoji="0" lang="en-US" altLang="zh-CN" sz="2000">
              <a:latin typeface="Tahoma" panose="020B0604030504040204" pitchFamily="34" charset="0"/>
              <a:ea typeface="宋体" panose="02010600030101010101" pitchFamily="2" charset="-122"/>
            </a:endParaRPr>
          </a:p>
        </p:txBody>
      </p:sp>
      <p:sp>
        <p:nvSpPr>
          <p:cNvPr id="71686" name="Text Box 10"/>
          <p:cNvSpPr txBox="1">
            <a:spLocks noChangeArrowheads="1"/>
          </p:cNvSpPr>
          <p:nvPr/>
        </p:nvSpPr>
        <p:spPr bwMode="auto">
          <a:xfrm>
            <a:off x="693738" y="4324350"/>
            <a:ext cx="515937"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C2</a:t>
            </a:r>
            <a:endParaRPr kumimoji="0" lang="en-US" altLang="zh-CN" sz="2000">
              <a:latin typeface="Tahoma" panose="020B0604030504040204" pitchFamily="34" charset="0"/>
              <a:ea typeface="宋体" panose="02010600030101010101" pitchFamily="2" charset="-122"/>
            </a:endParaRPr>
          </a:p>
        </p:txBody>
      </p:sp>
      <p:sp>
        <p:nvSpPr>
          <p:cNvPr id="71687" name="Text Box 11"/>
          <p:cNvSpPr txBox="1">
            <a:spLocks noChangeArrowheads="1"/>
          </p:cNvSpPr>
          <p:nvPr/>
        </p:nvSpPr>
        <p:spPr bwMode="auto">
          <a:xfrm>
            <a:off x="693738" y="4867275"/>
            <a:ext cx="515937" cy="3048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tIns="0" bIns="0">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C3</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pPr eaLnBrk="1" hangingPunct="1"/>
            <a:r>
              <a:rPr lang="zh-CN" altLang="en-US"/>
              <a:t>环形脉冲发生器与译码逻辑（</a:t>
            </a:r>
            <a:r>
              <a:rPr lang="en-US" altLang="zh-CN"/>
              <a:t>1</a:t>
            </a:r>
            <a:r>
              <a:rPr lang="zh-CN" altLang="en-US"/>
              <a:t>）</a:t>
            </a:r>
            <a:endParaRPr lang="zh-CN" altLang="en-US"/>
          </a:p>
        </p:txBody>
      </p:sp>
      <p:sp>
        <p:nvSpPr>
          <p:cNvPr id="72707" name="Rectangle 4"/>
          <p:cNvSpPr>
            <a:spLocks noChangeArrowheads="1"/>
          </p:cNvSpPr>
          <p:nvPr/>
        </p:nvSpPr>
        <p:spPr bwMode="auto">
          <a:xfrm>
            <a:off x="2062163" y="2754313"/>
            <a:ext cx="1271587"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08" name="Text Box 5"/>
          <p:cNvSpPr txBox="1">
            <a:spLocks noChangeArrowheads="1"/>
          </p:cNvSpPr>
          <p:nvPr/>
        </p:nvSpPr>
        <p:spPr bwMode="auto">
          <a:xfrm>
            <a:off x="209867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09" name="Text Box 6"/>
          <p:cNvSpPr txBox="1">
            <a:spLocks noChangeArrowheads="1"/>
          </p:cNvSpPr>
          <p:nvPr/>
        </p:nvSpPr>
        <p:spPr bwMode="auto">
          <a:xfrm>
            <a:off x="295592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0" name="Line 7"/>
          <p:cNvSpPr>
            <a:spLocks noChangeShapeType="1"/>
          </p:cNvSpPr>
          <p:nvPr/>
        </p:nvSpPr>
        <p:spPr bwMode="auto">
          <a:xfrm>
            <a:off x="3033713" y="2797175"/>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11" name="Text Box 8"/>
          <p:cNvSpPr txBox="1">
            <a:spLocks noChangeArrowheads="1"/>
          </p:cNvSpPr>
          <p:nvPr/>
        </p:nvSpPr>
        <p:spPr bwMode="auto">
          <a:xfrm>
            <a:off x="2112963" y="3198813"/>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2" name="Text Box 9"/>
          <p:cNvSpPr txBox="1">
            <a:spLocks noChangeArrowheads="1"/>
          </p:cNvSpPr>
          <p:nvPr/>
        </p:nvSpPr>
        <p:spPr bwMode="auto">
          <a:xfrm>
            <a:off x="2484438" y="2984500"/>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3" name="Text Box 10"/>
          <p:cNvSpPr txBox="1">
            <a:spLocks noChangeArrowheads="1"/>
          </p:cNvSpPr>
          <p:nvPr/>
        </p:nvSpPr>
        <p:spPr bwMode="auto">
          <a:xfrm>
            <a:off x="2927350" y="3332163"/>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4" name="Oval 11"/>
          <p:cNvSpPr>
            <a:spLocks noChangeArrowheads="1"/>
          </p:cNvSpPr>
          <p:nvPr/>
        </p:nvSpPr>
        <p:spPr bwMode="auto">
          <a:xfrm>
            <a:off x="3333750" y="3125788"/>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15" name="Rectangle 12"/>
          <p:cNvSpPr>
            <a:spLocks noChangeArrowheads="1"/>
          </p:cNvSpPr>
          <p:nvPr/>
        </p:nvSpPr>
        <p:spPr bwMode="auto">
          <a:xfrm>
            <a:off x="4233863" y="2754313"/>
            <a:ext cx="1271587"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16" name="Text Box 13"/>
          <p:cNvSpPr txBox="1">
            <a:spLocks noChangeArrowheads="1"/>
          </p:cNvSpPr>
          <p:nvPr/>
        </p:nvSpPr>
        <p:spPr bwMode="auto">
          <a:xfrm>
            <a:off x="427037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7" name="Text Box 14"/>
          <p:cNvSpPr txBox="1">
            <a:spLocks noChangeArrowheads="1"/>
          </p:cNvSpPr>
          <p:nvPr/>
        </p:nvSpPr>
        <p:spPr bwMode="auto">
          <a:xfrm>
            <a:off x="5127625" y="271303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18" name="Line 15"/>
          <p:cNvSpPr>
            <a:spLocks noChangeShapeType="1"/>
          </p:cNvSpPr>
          <p:nvPr/>
        </p:nvSpPr>
        <p:spPr bwMode="auto">
          <a:xfrm>
            <a:off x="5205413" y="2797175"/>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19" name="Text Box 16"/>
          <p:cNvSpPr txBox="1">
            <a:spLocks noChangeArrowheads="1"/>
          </p:cNvSpPr>
          <p:nvPr/>
        </p:nvSpPr>
        <p:spPr bwMode="auto">
          <a:xfrm>
            <a:off x="4284663" y="3198813"/>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0" name="Text Box 17"/>
          <p:cNvSpPr txBox="1">
            <a:spLocks noChangeArrowheads="1"/>
          </p:cNvSpPr>
          <p:nvPr/>
        </p:nvSpPr>
        <p:spPr bwMode="auto">
          <a:xfrm>
            <a:off x="4656138" y="2984500"/>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1" name="Text Box 18"/>
          <p:cNvSpPr txBox="1">
            <a:spLocks noChangeArrowheads="1"/>
          </p:cNvSpPr>
          <p:nvPr/>
        </p:nvSpPr>
        <p:spPr bwMode="auto">
          <a:xfrm>
            <a:off x="5099050" y="3332163"/>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2" name="Oval 19"/>
          <p:cNvSpPr>
            <a:spLocks noChangeArrowheads="1"/>
          </p:cNvSpPr>
          <p:nvPr/>
        </p:nvSpPr>
        <p:spPr bwMode="auto">
          <a:xfrm>
            <a:off x="5505450" y="3125788"/>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23" name="Rectangle 20"/>
          <p:cNvSpPr>
            <a:spLocks noChangeArrowheads="1"/>
          </p:cNvSpPr>
          <p:nvPr/>
        </p:nvSpPr>
        <p:spPr bwMode="auto">
          <a:xfrm>
            <a:off x="6305550" y="2754313"/>
            <a:ext cx="1271588"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24" name="Text Box 21"/>
          <p:cNvSpPr txBox="1">
            <a:spLocks noChangeArrowheads="1"/>
          </p:cNvSpPr>
          <p:nvPr/>
        </p:nvSpPr>
        <p:spPr bwMode="auto">
          <a:xfrm>
            <a:off x="6342063" y="2713038"/>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5" name="Text Box 22"/>
          <p:cNvSpPr txBox="1">
            <a:spLocks noChangeArrowheads="1"/>
          </p:cNvSpPr>
          <p:nvPr/>
        </p:nvSpPr>
        <p:spPr bwMode="auto">
          <a:xfrm>
            <a:off x="7199313" y="2713038"/>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6" name="Line 23"/>
          <p:cNvSpPr>
            <a:spLocks noChangeShapeType="1"/>
          </p:cNvSpPr>
          <p:nvPr/>
        </p:nvSpPr>
        <p:spPr bwMode="auto">
          <a:xfrm>
            <a:off x="7277100" y="2797175"/>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27" name="Text Box 24"/>
          <p:cNvSpPr txBox="1">
            <a:spLocks noChangeArrowheads="1"/>
          </p:cNvSpPr>
          <p:nvPr/>
        </p:nvSpPr>
        <p:spPr bwMode="auto">
          <a:xfrm>
            <a:off x="6356350" y="3198813"/>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8" name="Text Box 25"/>
          <p:cNvSpPr txBox="1">
            <a:spLocks noChangeArrowheads="1"/>
          </p:cNvSpPr>
          <p:nvPr/>
        </p:nvSpPr>
        <p:spPr bwMode="auto">
          <a:xfrm>
            <a:off x="6727825" y="2984500"/>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29" name="Text Box 26"/>
          <p:cNvSpPr txBox="1">
            <a:spLocks noChangeArrowheads="1"/>
          </p:cNvSpPr>
          <p:nvPr/>
        </p:nvSpPr>
        <p:spPr bwMode="auto">
          <a:xfrm>
            <a:off x="7170738" y="33321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0" name="Oval 27"/>
          <p:cNvSpPr>
            <a:spLocks noChangeArrowheads="1"/>
          </p:cNvSpPr>
          <p:nvPr/>
        </p:nvSpPr>
        <p:spPr bwMode="auto">
          <a:xfrm>
            <a:off x="7577138" y="3125788"/>
            <a:ext cx="100012"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31" name="Line 28"/>
          <p:cNvSpPr>
            <a:spLocks noChangeShapeType="1"/>
          </p:cNvSpPr>
          <p:nvPr/>
        </p:nvSpPr>
        <p:spPr bwMode="auto">
          <a:xfrm>
            <a:off x="3433763" y="3168650"/>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32" name="Rectangle 29"/>
          <p:cNvSpPr>
            <a:spLocks noChangeArrowheads="1"/>
          </p:cNvSpPr>
          <p:nvPr/>
        </p:nvSpPr>
        <p:spPr bwMode="auto">
          <a:xfrm>
            <a:off x="1876425" y="47688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33" name="Text Box 30"/>
          <p:cNvSpPr txBox="1">
            <a:spLocks noChangeArrowheads="1"/>
          </p:cNvSpPr>
          <p:nvPr/>
        </p:nvSpPr>
        <p:spPr bwMode="auto">
          <a:xfrm>
            <a:off x="1912938" y="47275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4" name="Text Box 31"/>
          <p:cNvSpPr txBox="1">
            <a:spLocks noChangeArrowheads="1"/>
          </p:cNvSpPr>
          <p:nvPr/>
        </p:nvSpPr>
        <p:spPr bwMode="auto">
          <a:xfrm>
            <a:off x="2770188" y="47275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5" name="Line 32"/>
          <p:cNvSpPr>
            <a:spLocks noChangeShapeType="1"/>
          </p:cNvSpPr>
          <p:nvPr/>
        </p:nvSpPr>
        <p:spPr bwMode="auto">
          <a:xfrm>
            <a:off x="2847975" y="48117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36" name="Text Box 33"/>
          <p:cNvSpPr txBox="1">
            <a:spLocks noChangeArrowheads="1"/>
          </p:cNvSpPr>
          <p:nvPr/>
        </p:nvSpPr>
        <p:spPr bwMode="auto">
          <a:xfrm>
            <a:off x="1927225" y="52133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7" name="Text Box 34"/>
          <p:cNvSpPr txBox="1">
            <a:spLocks noChangeArrowheads="1"/>
          </p:cNvSpPr>
          <p:nvPr/>
        </p:nvSpPr>
        <p:spPr bwMode="auto">
          <a:xfrm>
            <a:off x="2298700" y="49990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8" name="Text Box 35"/>
          <p:cNvSpPr txBox="1">
            <a:spLocks noChangeArrowheads="1"/>
          </p:cNvSpPr>
          <p:nvPr/>
        </p:nvSpPr>
        <p:spPr bwMode="auto">
          <a:xfrm>
            <a:off x="2741613" y="5356225"/>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39" name="Oval 36"/>
          <p:cNvSpPr>
            <a:spLocks noChangeArrowheads="1"/>
          </p:cNvSpPr>
          <p:nvPr/>
        </p:nvSpPr>
        <p:spPr bwMode="auto">
          <a:xfrm>
            <a:off x="1790700" y="51403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740" name="AutoShape 37"/>
          <p:cNvSpPr>
            <a:spLocks noChangeArrowheads="1"/>
          </p:cNvSpPr>
          <p:nvPr/>
        </p:nvSpPr>
        <p:spPr bwMode="auto">
          <a:xfrm rot="-5400000">
            <a:off x="3443288" y="4202113"/>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2741" name="AutoShape 38"/>
          <p:cNvSpPr>
            <a:spLocks noChangeArrowheads="1"/>
          </p:cNvSpPr>
          <p:nvPr/>
        </p:nvSpPr>
        <p:spPr bwMode="auto">
          <a:xfrm rot="-5400000">
            <a:off x="2214563" y="41973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2742" name="AutoShape 39"/>
          <p:cNvSpPr>
            <a:spLocks noChangeArrowheads="1"/>
          </p:cNvSpPr>
          <p:nvPr/>
        </p:nvSpPr>
        <p:spPr bwMode="auto">
          <a:xfrm rot="-5400000">
            <a:off x="3757613" y="1787525"/>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0920" name="AutoShape 40"/>
          <p:cNvSpPr>
            <a:spLocks noChangeArrowheads="1"/>
          </p:cNvSpPr>
          <p:nvPr/>
        </p:nvSpPr>
        <p:spPr bwMode="auto">
          <a:xfrm rot="-5400000">
            <a:off x="4386263" y="1787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1" name="AutoShape 41"/>
          <p:cNvSpPr>
            <a:spLocks noChangeArrowheads="1"/>
          </p:cNvSpPr>
          <p:nvPr/>
        </p:nvSpPr>
        <p:spPr bwMode="auto">
          <a:xfrm rot="-5400000">
            <a:off x="5915025" y="1782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2" name="AutoShape 42"/>
          <p:cNvSpPr>
            <a:spLocks noChangeArrowheads="1"/>
          </p:cNvSpPr>
          <p:nvPr/>
        </p:nvSpPr>
        <p:spPr bwMode="auto">
          <a:xfrm rot="-5400000">
            <a:off x="7843838" y="1787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3" name="Oval 43"/>
          <p:cNvSpPr>
            <a:spLocks noChangeArrowheads="1"/>
          </p:cNvSpPr>
          <p:nvPr/>
        </p:nvSpPr>
        <p:spPr bwMode="auto">
          <a:xfrm>
            <a:off x="2324100" y="41163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0924" name="Oval 44"/>
          <p:cNvSpPr>
            <a:spLocks noChangeArrowheads="1"/>
          </p:cNvSpPr>
          <p:nvPr/>
        </p:nvSpPr>
        <p:spPr bwMode="auto">
          <a:xfrm>
            <a:off x="3552825" y="41211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0925" name="AutoShape 45"/>
          <p:cNvSpPr>
            <a:spLocks noChangeArrowheads="1"/>
          </p:cNvSpPr>
          <p:nvPr/>
        </p:nvSpPr>
        <p:spPr bwMode="auto">
          <a:xfrm rot="-5400000">
            <a:off x="2952750" y="179228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6" name="Oval 46"/>
          <p:cNvSpPr>
            <a:spLocks noChangeArrowheads="1"/>
          </p:cNvSpPr>
          <p:nvPr/>
        </p:nvSpPr>
        <p:spPr bwMode="auto">
          <a:xfrm>
            <a:off x="3062288" y="17113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0927" name="AutoShape 47"/>
          <p:cNvSpPr>
            <a:spLocks noChangeArrowheads="1"/>
          </p:cNvSpPr>
          <p:nvPr/>
        </p:nvSpPr>
        <p:spPr bwMode="auto">
          <a:xfrm rot="-5400000">
            <a:off x="7253288" y="1787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28" name="Oval 48"/>
          <p:cNvSpPr>
            <a:spLocks noChangeArrowheads="1"/>
          </p:cNvSpPr>
          <p:nvPr/>
        </p:nvSpPr>
        <p:spPr bwMode="auto">
          <a:xfrm>
            <a:off x="7362825" y="17065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2752" name="Line 49"/>
          <p:cNvSpPr>
            <a:spLocks noChangeShapeType="1"/>
          </p:cNvSpPr>
          <p:nvPr/>
        </p:nvSpPr>
        <p:spPr bwMode="auto">
          <a:xfrm>
            <a:off x="1604963" y="5183188"/>
            <a:ext cx="184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30" name="Text Box 50"/>
          <p:cNvSpPr txBox="1">
            <a:spLocks noChangeArrowheads="1"/>
          </p:cNvSpPr>
          <p:nvPr/>
        </p:nvSpPr>
        <p:spPr bwMode="auto">
          <a:xfrm>
            <a:off x="1183482" y="4784725"/>
            <a:ext cx="6000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Set</a:t>
            </a:r>
            <a:endParaRPr kumimoji="0" lang="en-US" altLang="zh-CN" sz="2000">
              <a:latin typeface="Tahoma" panose="020B0604030504040204" pitchFamily="34" charset="0"/>
              <a:ea typeface="宋体" panose="02010600030101010101" pitchFamily="2" charset="-122"/>
            </a:endParaRPr>
          </a:p>
        </p:txBody>
      </p:sp>
      <p:sp>
        <p:nvSpPr>
          <p:cNvPr id="72754" name="Text Box 51"/>
          <p:cNvSpPr txBox="1">
            <a:spLocks noChangeArrowheads="1"/>
          </p:cNvSpPr>
          <p:nvPr/>
        </p:nvSpPr>
        <p:spPr bwMode="auto">
          <a:xfrm>
            <a:off x="1827213" y="4956175"/>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2755" name="Line 52"/>
          <p:cNvSpPr>
            <a:spLocks noChangeShapeType="1"/>
          </p:cNvSpPr>
          <p:nvPr/>
        </p:nvSpPr>
        <p:spPr bwMode="auto">
          <a:xfrm>
            <a:off x="1162050" y="4587875"/>
            <a:ext cx="0" cy="1166813"/>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6" name="Line 53"/>
          <p:cNvSpPr>
            <a:spLocks noChangeShapeType="1"/>
          </p:cNvSpPr>
          <p:nvPr/>
        </p:nvSpPr>
        <p:spPr bwMode="auto">
          <a:xfrm>
            <a:off x="1152525" y="5745163"/>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7" name="Line 54"/>
          <p:cNvSpPr>
            <a:spLocks noChangeShapeType="1"/>
          </p:cNvSpPr>
          <p:nvPr/>
        </p:nvSpPr>
        <p:spPr bwMode="auto">
          <a:xfrm>
            <a:off x="2105025" y="5554663"/>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8" name="Line 55"/>
          <p:cNvSpPr>
            <a:spLocks noChangeShapeType="1"/>
          </p:cNvSpPr>
          <p:nvPr/>
        </p:nvSpPr>
        <p:spPr bwMode="auto">
          <a:xfrm>
            <a:off x="2105025" y="5926138"/>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59" name="Line 56"/>
          <p:cNvSpPr>
            <a:spLocks noChangeShapeType="1"/>
          </p:cNvSpPr>
          <p:nvPr/>
        </p:nvSpPr>
        <p:spPr bwMode="auto">
          <a:xfrm>
            <a:off x="2938463" y="5554663"/>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37" name="Oval 57"/>
          <p:cNvSpPr>
            <a:spLocks noChangeArrowheads="1"/>
          </p:cNvSpPr>
          <p:nvPr/>
        </p:nvSpPr>
        <p:spPr bwMode="auto">
          <a:xfrm>
            <a:off x="2905125" y="57070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761" name="Line 58"/>
          <p:cNvSpPr>
            <a:spLocks noChangeShapeType="1"/>
          </p:cNvSpPr>
          <p:nvPr/>
        </p:nvSpPr>
        <p:spPr bwMode="auto">
          <a:xfrm>
            <a:off x="1157288" y="4592638"/>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2" name="Line 59"/>
          <p:cNvSpPr>
            <a:spLocks noChangeShapeType="1"/>
          </p:cNvSpPr>
          <p:nvPr/>
        </p:nvSpPr>
        <p:spPr bwMode="auto">
          <a:xfrm flipV="1">
            <a:off x="2271713" y="4478338"/>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3" name="Line 60"/>
          <p:cNvSpPr>
            <a:spLocks noChangeShapeType="1"/>
          </p:cNvSpPr>
          <p:nvPr/>
        </p:nvSpPr>
        <p:spPr bwMode="auto">
          <a:xfrm flipV="1">
            <a:off x="2100263" y="4649788"/>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4" name="Line 61"/>
          <p:cNvSpPr>
            <a:spLocks noChangeShapeType="1"/>
          </p:cNvSpPr>
          <p:nvPr/>
        </p:nvSpPr>
        <p:spPr bwMode="auto">
          <a:xfrm>
            <a:off x="2100263" y="4659313"/>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5" name="Line 62"/>
          <p:cNvSpPr>
            <a:spLocks noChangeShapeType="1"/>
          </p:cNvSpPr>
          <p:nvPr/>
        </p:nvSpPr>
        <p:spPr bwMode="auto">
          <a:xfrm>
            <a:off x="2424113" y="4478338"/>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6" name="Line 63"/>
          <p:cNvSpPr>
            <a:spLocks noChangeShapeType="1"/>
          </p:cNvSpPr>
          <p:nvPr/>
        </p:nvSpPr>
        <p:spPr bwMode="auto">
          <a:xfrm>
            <a:off x="2414588" y="4592638"/>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7" name="Line 64"/>
          <p:cNvSpPr>
            <a:spLocks noChangeShapeType="1"/>
          </p:cNvSpPr>
          <p:nvPr/>
        </p:nvSpPr>
        <p:spPr bwMode="auto">
          <a:xfrm flipV="1">
            <a:off x="2967038" y="4583113"/>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8" name="Line 65"/>
          <p:cNvSpPr>
            <a:spLocks noChangeShapeType="1"/>
          </p:cNvSpPr>
          <p:nvPr/>
        </p:nvSpPr>
        <p:spPr bwMode="auto">
          <a:xfrm flipV="1">
            <a:off x="3500438" y="4487863"/>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69" name="Line 66"/>
          <p:cNvSpPr>
            <a:spLocks noChangeShapeType="1"/>
          </p:cNvSpPr>
          <p:nvPr/>
        </p:nvSpPr>
        <p:spPr bwMode="auto">
          <a:xfrm>
            <a:off x="3671888" y="4487863"/>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0" name="Line 67"/>
          <p:cNvSpPr>
            <a:spLocks noChangeShapeType="1"/>
          </p:cNvSpPr>
          <p:nvPr/>
        </p:nvSpPr>
        <p:spPr bwMode="auto">
          <a:xfrm>
            <a:off x="3667125" y="4659313"/>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1" name="AutoShape 68"/>
          <p:cNvSpPr>
            <a:spLocks noChangeArrowheads="1"/>
          </p:cNvSpPr>
          <p:nvPr/>
        </p:nvSpPr>
        <p:spPr bwMode="auto">
          <a:xfrm rot="-5400000" flipH="1" flipV="1">
            <a:off x="4905375" y="5111750"/>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0949" name="Oval 69"/>
          <p:cNvSpPr>
            <a:spLocks noChangeArrowheads="1"/>
          </p:cNvSpPr>
          <p:nvPr/>
        </p:nvSpPr>
        <p:spPr bwMode="auto">
          <a:xfrm>
            <a:off x="4867275" y="520223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2773" name="Line 70"/>
          <p:cNvSpPr>
            <a:spLocks noChangeShapeType="1"/>
          </p:cNvSpPr>
          <p:nvPr/>
        </p:nvSpPr>
        <p:spPr bwMode="auto">
          <a:xfrm flipH="1">
            <a:off x="4529138" y="5240338"/>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4" name="Line 71"/>
          <p:cNvSpPr>
            <a:spLocks noChangeShapeType="1"/>
          </p:cNvSpPr>
          <p:nvPr/>
        </p:nvSpPr>
        <p:spPr bwMode="auto">
          <a:xfrm>
            <a:off x="4538663" y="5240338"/>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5" name="Rectangle 72"/>
          <p:cNvSpPr>
            <a:spLocks noChangeArrowheads="1"/>
          </p:cNvSpPr>
          <p:nvPr/>
        </p:nvSpPr>
        <p:spPr bwMode="auto">
          <a:xfrm>
            <a:off x="5681663" y="4926013"/>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   </a:t>
            </a:r>
            <a:endParaRPr kumimoji="0" lang="zh-CN" altLang="en-US" sz="2400">
              <a:solidFill>
                <a:schemeClr val="bg1"/>
              </a:solidFill>
              <a:latin typeface="Tahoma" panose="020B0604030504040204" pitchFamily="34" charset="0"/>
            </a:endParaRPr>
          </a:p>
        </p:txBody>
      </p:sp>
      <p:sp>
        <p:nvSpPr>
          <p:cNvPr id="72776" name="Line 73"/>
          <p:cNvSpPr>
            <a:spLocks noChangeShapeType="1"/>
          </p:cNvSpPr>
          <p:nvPr/>
        </p:nvSpPr>
        <p:spPr bwMode="auto">
          <a:xfrm>
            <a:off x="5186363" y="5240338"/>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77" name="Line 74"/>
          <p:cNvSpPr>
            <a:spLocks noChangeShapeType="1"/>
          </p:cNvSpPr>
          <p:nvPr/>
        </p:nvSpPr>
        <p:spPr bwMode="auto">
          <a:xfrm>
            <a:off x="5405438" y="4649788"/>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55" name="Oval 75"/>
          <p:cNvSpPr>
            <a:spLocks noChangeArrowheads="1"/>
          </p:cNvSpPr>
          <p:nvPr/>
        </p:nvSpPr>
        <p:spPr bwMode="auto">
          <a:xfrm>
            <a:off x="5362575" y="520223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779" name="Line 76"/>
          <p:cNvSpPr>
            <a:spLocks noChangeShapeType="1"/>
          </p:cNvSpPr>
          <p:nvPr/>
        </p:nvSpPr>
        <p:spPr bwMode="auto">
          <a:xfrm flipV="1">
            <a:off x="2366963" y="4002088"/>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0" name="Line 77"/>
          <p:cNvSpPr>
            <a:spLocks noChangeShapeType="1"/>
          </p:cNvSpPr>
          <p:nvPr/>
        </p:nvSpPr>
        <p:spPr bwMode="auto">
          <a:xfrm>
            <a:off x="2357438" y="4002088"/>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1" name="Line 78"/>
          <p:cNvSpPr>
            <a:spLocks noChangeShapeType="1"/>
          </p:cNvSpPr>
          <p:nvPr/>
        </p:nvSpPr>
        <p:spPr bwMode="auto">
          <a:xfrm flipV="1">
            <a:off x="3128963" y="3544888"/>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2" name="Line 79"/>
          <p:cNvSpPr>
            <a:spLocks noChangeShapeType="1"/>
          </p:cNvSpPr>
          <p:nvPr/>
        </p:nvSpPr>
        <p:spPr bwMode="auto">
          <a:xfrm flipV="1">
            <a:off x="3595688" y="3154363"/>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3" name="Line 80"/>
          <p:cNvSpPr>
            <a:spLocks noChangeShapeType="1"/>
          </p:cNvSpPr>
          <p:nvPr/>
        </p:nvSpPr>
        <p:spPr bwMode="auto">
          <a:xfrm flipV="1">
            <a:off x="2290763" y="2544763"/>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4" name="Line 81"/>
          <p:cNvSpPr>
            <a:spLocks noChangeShapeType="1"/>
          </p:cNvSpPr>
          <p:nvPr/>
        </p:nvSpPr>
        <p:spPr bwMode="auto">
          <a:xfrm>
            <a:off x="2281238" y="2554288"/>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5" name="Line 82"/>
          <p:cNvSpPr>
            <a:spLocks noChangeShapeType="1"/>
          </p:cNvSpPr>
          <p:nvPr/>
        </p:nvSpPr>
        <p:spPr bwMode="auto">
          <a:xfrm flipV="1">
            <a:off x="3824288" y="2068513"/>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6" name="Line 83"/>
          <p:cNvSpPr>
            <a:spLocks noChangeShapeType="1"/>
          </p:cNvSpPr>
          <p:nvPr/>
        </p:nvSpPr>
        <p:spPr bwMode="auto">
          <a:xfrm>
            <a:off x="3814763" y="3640138"/>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7" name="Line 84"/>
          <p:cNvSpPr>
            <a:spLocks noChangeShapeType="1"/>
          </p:cNvSpPr>
          <p:nvPr/>
        </p:nvSpPr>
        <p:spPr bwMode="auto">
          <a:xfrm flipV="1">
            <a:off x="4471988" y="3535363"/>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88" name="Line 85"/>
          <p:cNvSpPr>
            <a:spLocks noChangeShapeType="1"/>
          </p:cNvSpPr>
          <p:nvPr/>
        </p:nvSpPr>
        <p:spPr bwMode="auto">
          <a:xfrm>
            <a:off x="3586163" y="3802063"/>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66" name="Oval 86"/>
          <p:cNvSpPr>
            <a:spLocks noChangeArrowheads="1"/>
          </p:cNvSpPr>
          <p:nvPr/>
        </p:nvSpPr>
        <p:spPr bwMode="auto">
          <a:xfrm>
            <a:off x="3562350" y="37639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solidFill>
                <a:schemeClr val="bg1"/>
              </a:solidFill>
              <a:effectLst>
                <a:outerShdw blurRad="38100" dist="38100" dir="2700000" algn="tl">
                  <a:srgbClr val="808080"/>
                </a:outerShdw>
              </a:effectLst>
              <a:latin typeface="Tahoma" panose="020B0604030504040204" pitchFamily="34" charset="0"/>
              <a:ea typeface="宋体" panose="02010600030101010101" pitchFamily="2" charset="-122"/>
            </a:endParaRPr>
          </a:p>
        </p:txBody>
      </p:sp>
      <p:sp>
        <p:nvSpPr>
          <p:cNvPr id="72790" name="Line 87"/>
          <p:cNvSpPr>
            <a:spLocks noChangeShapeType="1"/>
          </p:cNvSpPr>
          <p:nvPr/>
        </p:nvSpPr>
        <p:spPr bwMode="auto">
          <a:xfrm flipV="1">
            <a:off x="7367588" y="3535363"/>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1" name="Line 88"/>
          <p:cNvSpPr>
            <a:spLocks noChangeShapeType="1"/>
          </p:cNvSpPr>
          <p:nvPr/>
        </p:nvSpPr>
        <p:spPr bwMode="auto">
          <a:xfrm flipV="1">
            <a:off x="5300663" y="3535363"/>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69" name="Oval 89"/>
          <p:cNvSpPr>
            <a:spLocks noChangeArrowheads="1"/>
          </p:cNvSpPr>
          <p:nvPr/>
        </p:nvSpPr>
        <p:spPr bwMode="auto">
          <a:xfrm>
            <a:off x="3086100" y="39544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0970" name="Oval 90"/>
          <p:cNvSpPr>
            <a:spLocks noChangeArrowheads="1"/>
          </p:cNvSpPr>
          <p:nvPr/>
        </p:nvSpPr>
        <p:spPr bwMode="auto">
          <a:xfrm>
            <a:off x="5267325" y="39639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794" name="Line 91"/>
          <p:cNvSpPr>
            <a:spLocks noChangeShapeType="1"/>
          </p:cNvSpPr>
          <p:nvPr/>
        </p:nvSpPr>
        <p:spPr bwMode="auto">
          <a:xfrm>
            <a:off x="5614988" y="3178175"/>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5" name="Line 92"/>
          <p:cNvSpPr>
            <a:spLocks noChangeShapeType="1"/>
          </p:cNvSpPr>
          <p:nvPr/>
        </p:nvSpPr>
        <p:spPr bwMode="auto">
          <a:xfrm flipV="1">
            <a:off x="5776913" y="3163888"/>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73" name="Oval 93"/>
          <p:cNvSpPr>
            <a:spLocks noChangeArrowheads="1"/>
          </p:cNvSpPr>
          <p:nvPr/>
        </p:nvSpPr>
        <p:spPr bwMode="auto">
          <a:xfrm>
            <a:off x="5743575" y="37734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solidFill>
                <a:schemeClr val="bg1"/>
              </a:solidFill>
              <a:effectLst>
                <a:outerShdw blurRad="38100" dist="38100" dir="2700000" algn="tl">
                  <a:srgbClr val="808080"/>
                </a:outerShdw>
              </a:effectLst>
              <a:latin typeface="Tahoma" panose="020B0604030504040204" pitchFamily="34" charset="0"/>
              <a:ea typeface="宋体" panose="02010600030101010101" pitchFamily="2" charset="-122"/>
            </a:endParaRPr>
          </a:p>
        </p:txBody>
      </p:sp>
      <p:sp>
        <p:nvSpPr>
          <p:cNvPr id="72797" name="Line 94"/>
          <p:cNvSpPr>
            <a:spLocks noChangeShapeType="1"/>
          </p:cNvSpPr>
          <p:nvPr/>
        </p:nvSpPr>
        <p:spPr bwMode="auto">
          <a:xfrm>
            <a:off x="7672388" y="3168650"/>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8" name="Line 95"/>
          <p:cNvSpPr>
            <a:spLocks noChangeShapeType="1"/>
          </p:cNvSpPr>
          <p:nvPr/>
        </p:nvSpPr>
        <p:spPr bwMode="auto">
          <a:xfrm flipV="1">
            <a:off x="7834313" y="3154363"/>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799" name="Line 96"/>
          <p:cNvSpPr>
            <a:spLocks noChangeShapeType="1"/>
          </p:cNvSpPr>
          <p:nvPr/>
        </p:nvSpPr>
        <p:spPr bwMode="auto">
          <a:xfrm flipV="1">
            <a:off x="4452938" y="2068513"/>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0" name="Line 97"/>
          <p:cNvSpPr>
            <a:spLocks noChangeShapeType="1"/>
          </p:cNvSpPr>
          <p:nvPr/>
        </p:nvSpPr>
        <p:spPr bwMode="auto">
          <a:xfrm>
            <a:off x="4443413" y="2554288"/>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1" name="Line 98"/>
          <p:cNvSpPr>
            <a:spLocks noChangeShapeType="1"/>
          </p:cNvSpPr>
          <p:nvPr/>
        </p:nvSpPr>
        <p:spPr bwMode="auto">
          <a:xfrm flipV="1">
            <a:off x="5986463" y="2068513"/>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2" name="Line 99"/>
          <p:cNvSpPr>
            <a:spLocks noChangeShapeType="1"/>
          </p:cNvSpPr>
          <p:nvPr/>
        </p:nvSpPr>
        <p:spPr bwMode="auto">
          <a:xfrm>
            <a:off x="5976938" y="3640138"/>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3" name="Line 100"/>
          <p:cNvSpPr>
            <a:spLocks noChangeShapeType="1"/>
          </p:cNvSpPr>
          <p:nvPr/>
        </p:nvSpPr>
        <p:spPr bwMode="auto">
          <a:xfrm flipV="1">
            <a:off x="6548438" y="3535363"/>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4" name="Line 101"/>
          <p:cNvSpPr>
            <a:spLocks noChangeShapeType="1"/>
          </p:cNvSpPr>
          <p:nvPr/>
        </p:nvSpPr>
        <p:spPr bwMode="auto">
          <a:xfrm flipV="1">
            <a:off x="8053388" y="2068513"/>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5" name="Line 102"/>
          <p:cNvSpPr>
            <a:spLocks noChangeShapeType="1"/>
          </p:cNvSpPr>
          <p:nvPr/>
        </p:nvSpPr>
        <p:spPr bwMode="auto">
          <a:xfrm>
            <a:off x="6491288" y="2554288"/>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6" name="Line 103"/>
          <p:cNvSpPr>
            <a:spLocks noChangeShapeType="1"/>
          </p:cNvSpPr>
          <p:nvPr/>
        </p:nvSpPr>
        <p:spPr bwMode="auto">
          <a:xfrm flipV="1">
            <a:off x="6491288" y="2544763"/>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07" name="Line 104"/>
          <p:cNvSpPr>
            <a:spLocks noChangeShapeType="1"/>
          </p:cNvSpPr>
          <p:nvPr/>
        </p:nvSpPr>
        <p:spPr bwMode="auto">
          <a:xfrm>
            <a:off x="2300288" y="3544888"/>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85" name="Oval 105"/>
          <p:cNvSpPr>
            <a:spLocks noChangeArrowheads="1"/>
          </p:cNvSpPr>
          <p:nvPr/>
        </p:nvSpPr>
        <p:spPr bwMode="auto">
          <a:xfrm>
            <a:off x="2257425" y="378301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solidFill>
                <a:schemeClr val="bg1"/>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2809" name="Text Box 106"/>
          <p:cNvSpPr txBox="1">
            <a:spLocks noChangeArrowheads="1"/>
          </p:cNvSpPr>
          <p:nvPr/>
        </p:nvSpPr>
        <p:spPr bwMode="auto">
          <a:xfrm>
            <a:off x="1555750" y="3560763"/>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2810" name="Line 107"/>
          <p:cNvSpPr>
            <a:spLocks noChangeShapeType="1"/>
          </p:cNvSpPr>
          <p:nvPr/>
        </p:nvSpPr>
        <p:spPr bwMode="auto">
          <a:xfrm flipV="1">
            <a:off x="3100388" y="2068513"/>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88" name="Oval 108"/>
          <p:cNvSpPr>
            <a:spLocks noChangeArrowheads="1"/>
          </p:cNvSpPr>
          <p:nvPr/>
        </p:nvSpPr>
        <p:spPr bwMode="auto">
          <a:xfrm>
            <a:off x="3781425" y="25161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12" name="Line 109"/>
          <p:cNvSpPr>
            <a:spLocks noChangeShapeType="1"/>
          </p:cNvSpPr>
          <p:nvPr/>
        </p:nvSpPr>
        <p:spPr bwMode="auto">
          <a:xfrm flipV="1">
            <a:off x="5319713" y="2382838"/>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13" name="Line 110"/>
          <p:cNvSpPr>
            <a:spLocks noChangeShapeType="1"/>
          </p:cNvSpPr>
          <p:nvPr/>
        </p:nvSpPr>
        <p:spPr bwMode="auto">
          <a:xfrm flipH="1">
            <a:off x="3976688" y="2382838"/>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14" name="Line 111"/>
          <p:cNvSpPr>
            <a:spLocks noChangeShapeType="1"/>
          </p:cNvSpPr>
          <p:nvPr/>
        </p:nvSpPr>
        <p:spPr bwMode="auto">
          <a:xfrm flipV="1">
            <a:off x="3976688" y="2068513"/>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0992" name="Oval 112"/>
          <p:cNvSpPr>
            <a:spLocks noChangeArrowheads="1"/>
          </p:cNvSpPr>
          <p:nvPr/>
        </p:nvSpPr>
        <p:spPr bwMode="auto">
          <a:xfrm>
            <a:off x="4419600" y="25161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16" name="Line 113"/>
          <p:cNvSpPr>
            <a:spLocks noChangeShapeType="1"/>
          </p:cNvSpPr>
          <p:nvPr/>
        </p:nvSpPr>
        <p:spPr bwMode="auto">
          <a:xfrm flipV="1">
            <a:off x="4595813" y="2068513"/>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17" name="Text Box 114"/>
          <p:cNvSpPr txBox="1">
            <a:spLocks noChangeArrowheads="1"/>
          </p:cNvSpPr>
          <p:nvPr/>
        </p:nvSpPr>
        <p:spPr bwMode="auto">
          <a:xfrm>
            <a:off x="4527550" y="2046288"/>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0995" name="Oval 115"/>
          <p:cNvSpPr>
            <a:spLocks noChangeArrowheads="1"/>
          </p:cNvSpPr>
          <p:nvPr/>
        </p:nvSpPr>
        <p:spPr bwMode="auto">
          <a:xfrm>
            <a:off x="3067050" y="2506663"/>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19" name="Line 116"/>
          <p:cNvSpPr>
            <a:spLocks noChangeShapeType="1"/>
          </p:cNvSpPr>
          <p:nvPr/>
        </p:nvSpPr>
        <p:spPr bwMode="auto">
          <a:xfrm flipV="1">
            <a:off x="7396163" y="2078038"/>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0" name="Line 117"/>
          <p:cNvSpPr>
            <a:spLocks noChangeShapeType="1"/>
          </p:cNvSpPr>
          <p:nvPr/>
        </p:nvSpPr>
        <p:spPr bwMode="auto">
          <a:xfrm flipH="1">
            <a:off x="6119813" y="2382838"/>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1" name="Line 118"/>
          <p:cNvSpPr>
            <a:spLocks noChangeShapeType="1"/>
          </p:cNvSpPr>
          <p:nvPr/>
        </p:nvSpPr>
        <p:spPr bwMode="auto">
          <a:xfrm flipV="1">
            <a:off x="6119813" y="2068513"/>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2" name="Line 119"/>
          <p:cNvSpPr>
            <a:spLocks noChangeShapeType="1"/>
          </p:cNvSpPr>
          <p:nvPr/>
        </p:nvSpPr>
        <p:spPr bwMode="auto">
          <a:xfrm flipV="1">
            <a:off x="7920038" y="2068513"/>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3" name="Text Box 120"/>
          <p:cNvSpPr txBox="1">
            <a:spLocks noChangeArrowheads="1"/>
          </p:cNvSpPr>
          <p:nvPr/>
        </p:nvSpPr>
        <p:spPr bwMode="auto">
          <a:xfrm>
            <a:off x="7432675" y="2141538"/>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1001" name="Oval 121"/>
          <p:cNvSpPr>
            <a:spLocks noChangeArrowheads="1"/>
          </p:cNvSpPr>
          <p:nvPr/>
        </p:nvSpPr>
        <p:spPr bwMode="auto">
          <a:xfrm>
            <a:off x="7362825" y="234473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002" name="Oval 122"/>
          <p:cNvSpPr>
            <a:spLocks noChangeArrowheads="1"/>
          </p:cNvSpPr>
          <p:nvPr/>
        </p:nvSpPr>
        <p:spPr bwMode="auto">
          <a:xfrm>
            <a:off x="5943600" y="2516188"/>
            <a:ext cx="71438" cy="71437"/>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2826" name="Line 123"/>
          <p:cNvSpPr>
            <a:spLocks noChangeShapeType="1"/>
          </p:cNvSpPr>
          <p:nvPr/>
        </p:nvSpPr>
        <p:spPr bwMode="auto">
          <a:xfrm flipV="1">
            <a:off x="3100388" y="1497013"/>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7" name="Line 124"/>
          <p:cNvSpPr>
            <a:spLocks noChangeShapeType="1"/>
          </p:cNvSpPr>
          <p:nvPr/>
        </p:nvSpPr>
        <p:spPr bwMode="auto">
          <a:xfrm flipV="1">
            <a:off x="3900488"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8" name="Line 125"/>
          <p:cNvSpPr>
            <a:spLocks noChangeShapeType="1"/>
          </p:cNvSpPr>
          <p:nvPr/>
        </p:nvSpPr>
        <p:spPr bwMode="auto">
          <a:xfrm flipV="1">
            <a:off x="4529138"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29" name="Line 126"/>
          <p:cNvSpPr>
            <a:spLocks noChangeShapeType="1"/>
          </p:cNvSpPr>
          <p:nvPr/>
        </p:nvSpPr>
        <p:spPr bwMode="auto">
          <a:xfrm flipV="1">
            <a:off x="6048375"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30" name="Line 127"/>
          <p:cNvSpPr>
            <a:spLocks noChangeShapeType="1"/>
          </p:cNvSpPr>
          <p:nvPr/>
        </p:nvSpPr>
        <p:spPr bwMode="auto">
          <a:xfrm flipV="1">
            <a:off x="7986713" y="1535113"/>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31" name="Line 128"/>
          <p:cNvSpPr>
            <a:spLocks noChangeShapeType="1"/>
          </p:cNvSpPr>
          <p:nvPr/>
        </p:nvSpPr>
        <p:spPr bwMode="auto">
          <a:xfrm flipV="1">
            <a:off x="7405688" y="1497013"/>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32" name="Text Box 130"/>
          <p:cNvSpPr txBox="1">
            <a:spLocks noChangeArrowheads="1"/>
          </p:cNvSpPr>
          <p:nvPr/>
        </p:nvSpPr>
        <p:spPr bwMode="auto">
          <a:xfrm>
            <a:off x="4471988" y="1336675"/>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2833" name="Oval 131"/>
          <p:cNvSpPr>
            <a:spLocks noChangeArrowheads="1"/>
          </p:cNvSpPr>
          <p:nvPr/>
        </p:nvSpPr>
        <p:spPr bwMode="auto">
          <a:xfrm>
            <a:off x="4964113" y="138430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34" name="Text Box 132"/>
          <p:cNvSpPr txBox="1">
            <a:spLocks noChangeArrowheads="1"/>
          </p:cNvSpPr>
          <p:nvPr/>
        </p:nvSpPr>
        <p:spPr bwMode="auto">
          <a:xfrm>
            <a:off x="7372350" y="1293813"/>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2835" name="Oval 133"/>
          <p:cNvSpPr>
            <a:spLocks noChangeArrowheads="1"/>
          </p:cNvSpPr>
          <p:nvPr/>
        </p:nvSpPr>
        <p:spPr bwMode="auto">
          <a:xfrm>
            <a:off x="7950200" y="13414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36" name="Text Box 134"/>
          <p:cNvSpPr txBox="1">
            <a:spLocks noChangeArrowheads="1"/>
          </p:cNvSpPr>
          <p:nvPr/>
        </p:nvSpPr>
        <p:spPr bwMode="auto">
          <a:xfrm>
            <a:off x="3814763" y="129381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2837" name="Oval 135"/>
          <p:cNvSpPr>
            <a:spLocks noChangeArrowheads="1"/>
          </p:cNvSpPr>
          <p:nvPr/>
        </p:nvSpPr>
        <p:spPr bwMode="auto">
          <a:xfrm>
            <a:off x="4135438" y="13414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38" name="Text Box 136"/>
          <p:cNvSpPr txBox="1">
            <a:spLocks noChangeArrowheads="1"/>
          </p:cNvSpPr>
          <p:nvPr/>
        </p:nvSpPr>
        <p:spPr bwMode="auto">
          <a:xfrm>
            <a:off x="5986463" y="132238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2839" name="Oval 137"/>
          <p:cNvSpPr>
            <a:spLocks noChangeArrowheads="1"/>
          </p:cNvSpPr>
          <p:nvPr/>
        </p:nvSpPr>
        <p:spPr bwMode="auto">
          <a:xfrm>
            <a:off x="6307138" y="13700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40" name="Text Box 138"/>
          <p:cNvSpPr txBox="1">
            <a:spLocks noChangeArrowheads="1"/>
          </p:cNvSpPr>
          <p:nvPr/>
        </p:nvSpPr>
        <p:spPr bwMode="auto">
          <a:xfrm>
            <a:off x="6943725" y="12795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2841" name="Oval 139"/>
          <p:cNvSpPr>
            <a:spLocks noChangeArrowheads="1"/>
          </p:cNvSpPr>
          <p:nvPr/>
        </p:nvSpPr>
        <p:spPr bwMode="auto">
          <a:xfrm>
            <a:off x="7264400" y="13271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42" name="Text Box 140"/>
          <p:cNvSpPr txBox="1">
            <a:spLocks noChangeArrowheads="1"/>
          </p:cNvSpPr>
          <p:nvPr/>
        </p:nvSpPr>
        <p:spPr bwMode="auto">
          <a:xfrm>
            <a:off x="2657475" y="12795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2843" name="Oval 141"/>
          <p:cNvSpPr>
            <a:spLocks noChangeArrowheads="1"/>
          </p:cNvSpPr>
          <p:nvPr/>
        </p:nvSpPr>
        <p:spPr bwMode="auto">
          <a:xfrm>
            <a:off x="2978150" y="13271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2844" name="Text Box 142"/>
          <p:cNvSpPr txBox="1">
            <a:spLocks noChangeArrowheads="1"/>
          </p:cNvSpPr>
          <p:nvPr/>
        </p:nvSpPr>
        <p:spPr bwMode="auto">
          <a:xfrm>
            <a:off x="4413250" y="4370388"/>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2845" name="Text Box 143"/>
          <p:cNvSpPr txBox="1">
            <a:spLocks noChangeArrowheads="1"/>
          </p:cNvSpPr>
          <p:nvPr/>
        </p:nvSpPr>
        <p:spPr bwMode="auto">
          <a:xfrm>
            <a:off x="4513263" y="5056188"/>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2846" name="Line 144"/>
          <p:cNvSpPr>
            <a:spLocks noChangeShapeType="1"/>
          </p:cNvSpPr>
          <p:nvPr/>
        </p:nvSpPr>
        <p:spPr bwMode="auto">
          <a:xfrm>
            <a:off x="4605338" y="5340350"/>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2" name="Group 145"/>
          <p:cNvGrpSpPr/>
          <p:nvPr/>
        </p:nvGrpSpPr>
        <p:grpSpPr bwMode="auto">
          <a:xfrm>
            <a:off x="4676775" y="4325938"/>
            <a:ext cx="800100" cy="271462"/>
            <a:chOff x="3258" y="2997"/>
            <a:chExt cx="504" cy="171"/>
          </a:xfrm>
        </p:grpSpPr>
        <p:sp>
          <p:nvSpPr>
            <p:cNvPr id="72872" name="Line 146"/>
            <p:cNvSpPr>
              <a:spLocks noChangeShapeType="1"/>
            </p:cNvSpPr>
            <p:nvPr/>
          </p:nvSpPr>
          <p:spPr bwMode="auto">
            <a:xfrm>
              <a:off x="3258" y="2997"/>
              <a:ext cx="81" cy="0"/>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3" name="Line 147"/>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4" name="Line 14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5" name="Line 14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6" name="Line 15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7" name="Line 15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8" name="Line 15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9" name="Line 15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80" name="Line 15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55"/>
          <p:cNvGrpSpPr/>
          <p:nvPr/>
        </p:nvGrpSpPr>
        <p:grpSpPr bwMode="auto">
          <a:xfrm flipV="1">
            <a:off x="3619500" y="5411788"/>
            <a:ext cx="800100" cy="271462"/>
            <a:chOff x="3258" y="2997"/>
            <a:chExt cx="504" cy="171"/>
          </a:xfrm>
        </p:grpSpPr>
        <p:sp>
          <p:nvSpPr>
            <p:cNvPr id="72863" name="Line 156"/>
            <p:cNvSpPr>
              <a:spLocks noChangeShapeType="1"/>
            </p:cNvSpPr>
            <p:nvPr/>
          </p:nvSpPr>
          <p:spPr bwMode="auto">
            <a:xfrm>
              <a:off x="3258" y="2997"/>
              <a:ext cx="81" cy="0"/>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4" name="Line 157"/>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5" name="Line 15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6" name="Line 15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7" name="Line 16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8" name="Line 16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69" name="Line 16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0" name="Line 16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2871" name="Line 16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251047" name="Text Box 167"/>
          <p:cNvSpPr txBox="1">
            <a:spLocks noChangeArrowheads="1"/>
          </p:cNvSpPr>
          <p:nvPr/>
        </p:nvSpPr>
        <p:spPr bwMode="auto">
          <a:xfrm>
            <a:off x="1998663" y="2413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56" name="Text Box 176"/>
          <p:cNvSpPr txBox="1">
            <a:spLocks noChangeArrowheads="1"/>
          </p:cNvSpPr>
          <p:nvPr/>
        </p:nvSpPr>
        <p:spPr bwMode="auto">
          <a:xfrm>
            <a:off x="4141788" y="2413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57" name="Text Box 177"/>
          <p:cNvSpPr txBox="1">
            <a:spLocks noChangeArrowheads="1"/>
          </p:cNvSpPr>
          <p:nvPr/>
        </p:nvSpPr>
        <p:spPr bwMode="auto">
          <a:xfrm>
            <a:off x="6199188" y="2413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62" name="Line 182"/>
          <p:cNvSpPr>
            <a:spLocks noChangeShapeType="1"/>
          </p:cNvSpPr>
          <p:nvPr/>
        </p:nvSpPr>
        <p:spPr bwMode="auto">
          <a:xfrm>
            <a:off x="1233488" y="4868863"/>
            <a:ext cx="46990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63" name="Text Box 183"/>
          <p:cNvSpPr txBox="1">
            <a:spLocks noChangeArrowheads="1"/>
          </p:cNvSpPr>
          <p:nvPr/>
        </p:nvSpPr>
        <p:spPr bwMode="auto">
          <a:xfrm>
            <a:off x="3198813" y="4313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1069" name="Text Box 189"/>
          <p:cNvSpPr txBox="1">
            <a:spLocks noChangeArrowheads="1"/>
          </p:cNvSpPr>
          <p:nvPr/>
        </p:nvSpPr>
        <p:spPr bwMode="auto">
          <a:xfrm>
            <a:off x="3284538" y="27987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70" name="Text Box 190"/>
          <p:cNvSpPr txBox="1">
            <a:spLocks noChangeArrowheads="1"/>
          </p:cNvSpPr>
          <p:nvPr/>
        </p:nvSpPr>
        <p:spPr bwMode="auto">
          <a:xfrm>
            <a:off x="5456238" y="27844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71" name="Text Box 191"/>
          <p:cNvSpPr txBox="1">
            <a:spLocks noChangeArrowheads="1"/>
          </p:cNvSpPr>
          <p:nvPr/>
        </p:nvSpPr>
        <p:spPr bwMode="auto">
          <a:xfrm>
            <a:off x="7527925" y="27987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1082" name="Line 202"/>
          <p:cNvSpPr>
            <a:spLocks noChangeShapeType="1"/>
          </p:cNvSpPr>
          <p:nvPr/>
        </p:nvSpPr>
        <p:spPr bwMode="auto">
          <a:xfrm flipV="1">
            <a:off x="1219200" y="524033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3" name="Line 203"/>
          <p:cNvSpPr>
            <a:spLocks noChangeShapeType="1"/>
          </p:cNvSpPr>
          <p:nvPr/>
        </p:nvSpPr>
        <p:spPr bwMode="auto">
          <a:xfrm flipV="1">
            <a:off x="1390650" y="5240338"/>
            <a:ext cx="0" cy="27146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4" name="Line 204"/>
          <p:cNvSpPr>
            <a:spLocks noChangeShapeType="1"/>
          </p:cNvSpPr>
          <p:nvPr/>
        </p:nvSpPr>
        <p:spPr bwMode="auto">
          <a:xfrm flipV="1">
            <a:off x="1404938" y="5511800"/>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5" name="Line 205"/>
          <p:cNvSpPr>
            <a:spLocks noChangeShapeType="1"/>
          </p:cNvSpPr>
          <p:nvPr/>
        </p:nvSpPr>
        <p:spPr bwMode="auto">
          <a:xfrm flipV="1">
            <a:off x="1576388" y="5240338"/>
            <a:ext cx="0" cy="27146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6" name="Line 206"/>
          <p:cNvSpPr>
            <a:spLocks noChangeShapeType="1"/>
          </p:cNvSpPr>
          <p:nvPr/>
        </p:nvSpPr>
        <p:spPr bwMode="auto">
          <a:xfrm flipV="1">
            <a:off x="1590675" y="524033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087" name="Text Box 207"/>
          <p:cNvSpPr txBox="1">
            <a:spLocks noChangeArrowheads="1"/>
          </p:cNvSpPr>
          <p:nvPr/>
        </p:nvSpPr>
        <p:spPr bwMode="auto">
          <a:xfrm>
            <a:off x="1841500" y="567055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10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10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09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10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10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10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10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108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106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107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10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10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10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10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1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930" grpId="0"/>
      <p:bldP spid="251047" grpId="0"/>
      <p:bldP spid="251056" grpId="0"/>
      <p:bldP spid="251057" grpId="0"/>
      <p:bldP spid="251063" grpId="0"/>
      <p:bldP spid="251069" grpId="0"/>
      <p:bldP spid="251070" grpId="0"/>
      <p:bldP spid="251071" grpId="0"/>
      <p:bldP spid="25108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pPr eaLnBrk="1" hangingPunct="1"/>
            <a:r>
              <a:rPr lang="zh-CN" altLang="en-US"/>
              <a:t>环形脉冲发生器与译码逻辑（</a:t>
            </a:r>
            <a:r>
              <a:rPr lang="en-US" altLang="zh-CN"/>
              <a:t>2</a:t>
            </a:r>
            <a:r>
              <a:rPr lang="zh-CN" altLang="en-US"/>
              <a:t>）</a:t>
            </a:r>
            <a:endParaRPr lang="zh-CN" altLang="en-US"/>
          </a:p>
        </p:txBody>
      </p:sp>
      <p:sp>
        <p:nvSpPr>
          <p:cNvPr id="73731" name="Rectangle 4"/>
          <p:cNvSpPr>
            <a:spLocks noChangeArrowheads="1"/>
          </p:cNvSpPr>
          <p:nvPr/>
        </p:nvSpPr>
        <p:spPr bwMode="auto">
          <a:xfrm>
            <a:off x="2063750" y="2752725"/>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32" name="Text Box 5"/>
          <p:cNvSpPr txBox="1">
            <a:spLocks noChangeArrowheads="1"/>
          </p:cNvSpPr>
          <p:nvPr/>
        </p:nvSpPr>
        <p:spPr bwMode="auto">
          <a:xfrm>
            <a:off x="210026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3" name="Text Box 6"/>
          <p:cNvSpPr txBox="1">
            <a:spLocks noChangeArrowheads="1"/>
          </p:cNvSpPr>
          <p:nvPr/>
        </p:nvSpPr>
        <p:spPr bwMode="auto">
          <a:xfrm>
            <a:off x="295751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4" name="Line 7"/>
          <p:cNvSpPr>
            <a:spLocks noChangeShapeType="1"/>
          </p:cNvSpPr>
          <p:nvPr/>
        </p:nvSpPr>
        <p:spPr bwMode="auto">
          <a:xfrm>
            <a:off x="3035300" y="2795588"/>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35" name="Text Box 8"/>
          <p:cNvSpPr txBox="1">
            <a:spLocks noChangeArrowheads="1"/>
          </p:cNvSpPr>
          <p:nvPr/>
        </p:nvSpPr>
        <p:spPr bwMode="auto">
          <a:xfrm>
            <a:off x="2114550" y="3197225"/>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6" name="Text Box 9"/>
          <p:cNvSpPr txBox="1">
            <a:spLocks noChangeArrowheads="1"/>
          </p:cNvSpPr>
          <p:nvPr/>
        </p:nvSpPr>
        <p:spPr bwMode="auto">
          <a:xfrm>
            <a:off x="2486025" y="2982913"/>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7" name="Text Box 10"/>
          <p:cNvSpPr txBox="1">
            <a:spLocks noChangeArrowheads="1"/>
          </p:cNvSpPr>
          <p:nvPr/>
        </p:nvSpPr>
        <p:spPr bwMode="auto">
          <a:xfrm>
            <a:off x="2928938" y="3330575"/>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38" name="Oval 11"/>
          <p:cNvSpPr>
            <a:spLocks noChangeArrowheads="1"/>
          </p:cNvSpPr>
          <p:nvPr/>
        </p:nvSpPr>
        <p:spPr bwMode="auto">
          <a:xfrm>
            <a:off x="3335338" y="3124200"/>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39" name="Rectangle 12"/>
          <p:cNvSpPr>
            <a:spLocks noChangeArrowheads="1"/>
          </p:cNvSpPr>
          <p:nvPr/>
        </p:nvSpPr>
        <p:spPr bwMode="auto">
          <a:xfrm>
            <a:off x="4235450" y="2752725"/>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40" name="Text Box 13"/>
          <p:cNvSpPr txBox="1">
            <a:spLocks noChangeArrowheads="1"/>
          </p:cNvSpPr>
          <p:nvPr/>
        </p:nvSpPr>
        <p:spPr bwMode="auto">
          <a:xfrm>
            <a:off x="427196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1" name="Text Box 14"/>
          <p:cNvSpPr txBox="1">
            <a:spLocks noChangeArrowheads="1"/>
          </p:cNvSpPr>
          <p:nvPr/>
        </p:nvSpPr>
        <p:spPr bwMode="auto">
          <a:xfrm>
            <a:off x="5129213" y="2711450"/>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2" name="Line 15"/>
          <p:cNvSpPr>
            <a:spLocks noChangeShapeType="1"/>
          </p:cNvSpPr>
          <p:nvPr/>
        </p:nvSpPr>
        <p:spPr bwMode="auto">
          <a:xfrm>
            <a:off x="5207000" y="2795588"/>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43" name="Text Box 16"/>
          <p:cNvSpPr txBox="1">
            <a:spLocks noChangeArrowheads="1"/>
          </p:cNvSpPr>
          <p:nvPr/>
        </p:nvSpPr>
        <p:spPr bwMode="auto">
          <a:xfrm>
            <a:off x="4286250" y="3197225"/>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4" name="Text Box 17"/>
          <p:cNvSpPr txBox="1">
            <a:spLocks noChangeArrowheads="1"/>
          </p:cNvSpPr>
          <p:nvPr/>
        </p:nvSpPr>
        <p:spPr bwMode="auto">
          <a:xfrm>
            <a:off x="4657725" y="2982913"/>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5" name="Text Box 18"/>
          <p:cNvSpPr txBox="1">
            <a:spLocks noChangeArrowheads="1"/>
          </p:cNvSpPr>
          <p:nvPr/>
        </p:nvSpPr>
        <p:spPr bwMode="auto">
          <a:xfrm>
            <a:off x="5100638" y="3330575"/>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6" name="Oval 19"/>
          <p:cNvSpPr>
            <a:spLocks noChangeArrowheads="1"/>
          </p:cNvSpPr>
          <p:nvPr/>
        </p:nvSpPr>
        <p:spPr bwMode="auto">
          <a:xfrm>
            <a:off x="5507038" y="3124200"/>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47" name="Rectangle 20"/>
          <p:cNvSpPr>
            <a:spLocks noChangeArrowheads="1"/>
          </p:cNvSpPr>
          <p:nvPr/>
        </p:nvSpPr>
        <p:spPr bwMode="auto">
          <a:xfrm>
            <a:off x="6307138" y="2752725"/>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48" name="Text Box 21"/>
          <p:cNvSpPr txBox="1">
            <a:spLocks noChangeArrowheads="1"/>
          </p:cNvSpPr>
          <p:nvPr/>
        </p:nvSpPr>
        <p:spPr bwMode="auto">
          <a:xfrm>
            <a:off x="6343650" y="2711450"/>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49" name="Text Box 22"/>
          <p:cNvSpPr txBox="1">
            <a:spLocks noChangeArrowheads="1"/>
          </p:cNvSpPr>
          <p:nvPr/>
        </p:nvSpPr>
        <p:spPr bwMode="auto">
          <a:xfrm>
            <a:off x="7200900" y="2711450"/>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0" name="Line 23"/>
          <p:cNvSpPr>
            <a:spLocks noChangeShapeType="1"/>
          </p:cNvSpPr>
          <p:nvPr/>
        </p:nvSpPr>
        <p:spPr bwMode="auto">
          <a:xfrm>
            <a:off x="7278688" y="2795588"/>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51" name="Text Box 24"/>
          <p:cNvSpPr txBox="1">
            <a:spLocks noChangeArrowheads="1"/>
          </p:cNvSpPr>
          <p:nvPr/>
        </p:nvSpPr>
        <p:spPr bwMode="auto">
          <a:xfrm>
            <a:off x="6357938" y="3197225"/>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2" name="Text Box 25"/>
          <p:cNvSpPr txBox="1">
            <a:spLocks noChangeArrowheads="1"/>
          </p:cNvSpPr>
          <p:nvPr/>
        </p:nvSpPr>
        <p:spPr bwMode="auto">
          <a:xfrm>
            <a:off x="6729413" y="2982913"/>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3" name="Text Box 26"/>
          <p:cNvSpPr txBox="1">
            <a:spLocks noChangeArrowheads="1"/>
          </p:cNvSpPr>
          <p:nvPr/>
        </p:nvSpPr>
        <p:spPr bwMode="auto">
          <a:xfrm>
            <a:off x="7172325" y="3330575"/>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4" name="Oval 27"/>
          <p:cNvSpPr>
            <a:spLocks noChangeArrowheads="1"/>
          </p:cNvSpPr>
          <p:nvPr/>
        </p:nvSpPr>
        <p:spPr bwMode="auto">
          <a:xfrm>
            <a:off x="7578725" y="3124200"/>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55" name="Line 28"/>
          <p:cNvSpPr>
            <a:spLocks noChangeShapeType="1"/>
          </p:cNvSpPr>
          <p:nvPr/>
        </p:nvSpPr>
        <p:spPr bwMode="auto">
          <a:xfrm>
            <a:off x="3435350" y="316706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56" name="Rectangle 29"/>
          <p:cNvSpPr>
            <a:spLocks noChangeArrowheads="1"/>
          </p:cNvSpPr>
          <p:nvPr/>
        </p:nvSpPr>
        <p:spPr bwMode="auto">
          <a:xfrm>
            <a:off x="1878013" y="4767263"/>
            <a:ext cx="1271587"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57" name="Text Box 30"/>
          <p:cNvSpPr txBox="1">
            <a:spLocks noChangeArrowheads="1"/>
          </p:cNvSpPr>
          <p:nvPr/>
        </p:nvSpPr>
        <p:spPr bwMode="auto">
          <a:xfrm>
            <a:off x="1914525" y="472598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8" name="Text Box 31"/>
          <p:cNvSpPr txBox="1">
            <a:spLocks noChangeArrowheads="1"/>
          </p:cNvSpPr>
          <p:nvPr/>
        </p:nvSpPr>
        <p:spPr bwMode="auto">
          <a:xfrm>
            <a:off x="2771775" y="4725988"/>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59" name="Line 32"/>
          <p:cNvSpPr>
            <a:spLocks noChangeShapeType="1"/>
          </p:cNvSpPr>
          <p:nvPr/>
        </p:nvSpPr>
        <p:spPr bwMode="auto">
          <a:xfrm>
            <a:off x="2849563" y="4810125"/>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60" name="Text Box 33"/>
          <p:cNvSpPr txBox="1">
            <a:spLocks noChangeArrowheads="1"/>
          </p:cNvSpPr>
          <p:nvPr/>
        </p:nvSpPr>
        <p:spPr bwMode="auto">
          <a:xfrm>
            <a:off x="1928813" y="5211763"/>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61" name="Text Box 34"/>
          <p:cNvSpPr txBox="1">
            <a:spLocks noChangeArrowheads="1"/>
          </p:cNvSpPr>
          <p:nvPr/>
        </p:nvSpPr>
        <p:spPr bwMode="auto">
          <a:xfrm>
            <a:off x="2300288" y="4997450"/>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62" name="Text Box 35"/>
          <p:cNvSpPr txBox="1">
            <a:spLocks noChangeArrowheads="1"/>
          </p:cNvSpPr>
          <p:nvPr/>
        </p:nvSpPr>
        <p:spPr bwMode="auto">
          <a:xfrm>
            <a:off x="2743200" y="5354638"/>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63" name="Oval 36"/>
          <p:cNvSpPr>
            <a:spLocks noChangeArrowheads="1"/>
          </p:cNvSpPr>
          <p:nvPr/>
        </p:nvSpPr>
        <p:spPr bwMode="auto">
          <a:xfrm>
            <a:off x="1792288" y="5138738"/>
            <a:ext cx="100012"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64" name="AutoShape 37"/>
          <p:cNvSpPr>
            <a:spLocks noChangeArrowheads="1"/>
          </p:cNvSpPr>
          <p:nvPr/>
        </p:nvSpPr>
        <p:spPr bwMode="auto">
          <a:xfrm rot="-5400000">
            <a:off x="3444875" y="4200525"/>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3765" name="AutoShape 38"/>
          <p:cNvSpPr>
            <a:spLocks noChangeArrowheads="1"/>
          </p:cNvSpPr>
          <p:nvPr/>
        </p:nvSpPr>
        <p:spPr bwMode="auto">
          <a:xfrm rot="-5400000">
            <a:off x="2216150" y="4195763"/>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3766" name="AutoShape 39"/>
          <p:cNvSpPr>
            <a:spLocks noChangeArrowheads="1"/>
          </p:cNvSpPr>
          <p:nvPr/>
        </p:nvSpPr>
        <p:spPr bwMode="auto">
          <a:xfrm rot="-5400000">
            <a:off x="3759200" y="1785938"/>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1944" name="AutoShape 40"/>
          <p:cNvSpPr>
            <a:spLocks noChangeArrowheads="1"/>
          </p:cNvSpPr>
          <p:nvPr/>
        </p:nvSpPr>
        <p:spPr bwMode="auto">
          <a:xfrm rot="-5400000">
            <a:off x="4387850" y="178593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45" name="AutoShape 41"/>
          <p:cNvSpPr>
            <a:spLocks noChangeArrowheads="1"/>
          </p:cNvSpPr>
          <p:nvPr/>
        </p:nvSpPr>
        <p:spPr bwMode="auto">
          <a:xfrm rot="-5400000">
            <a:off x="5916613" y="178117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46" name="AutoShape 42"/>
          <p:cNvSpPr>
            <a:spLocks noChangeArrowheads="1"/>
          </p:cNvSpPr>
          <p:nvPr/>
        </p:nvSpPr>
        <p:spPr bwMode="auto">
          <a:xfrm rot="-5400000">
            <a:off x="7845425" y="178593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47" name="Oval 43"/>
          <p:cNvSpPr>
            <a:spLocks noChangeArrowheads="1"/>
          </p:cNvSpPr>
          <p:nvPr/>
        </p:nvSpPr>
        <p:spPr bwMode="auto">
          <a:xfrm>
            <a:off x="2325688" y="41148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1948" name="Oval 44"/>
          <p:cNvSpPr>
            <a:spLocks noChangeArrowheads="1"/>
          </p:cNvSpPr>
          <p:nvPr/>
        </p:nvSpPr>
        <p:spPr bwMode="auto">
          <a:xfrm>
            <a:off x="3554413" y="41195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1949" name="AutoShape 45"/>
          <p:cNvSpPr>
            <a:spLocks noChangeArrowheads="1"/>
          </p:cNvSpPr>
          <p:nvPr/>
        </p:nvSpPr>
        <p:spPr bwMode="auto">
          <a:xfrm rot="-5400000">
            <a:off x="2954338" y="17907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50" name="Oval 46"/>
          <p:cNvSpPr>
            <a:spLocks noChangeArrowheads="1"/>
          </p:cNvSpPr>
          <p:nvPr/>
        </p:nvSpPr>
        <p:spPr bwMode="auto">
          <a:xfrm>
            <a:off x="3063875" y="170973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1951" name="AutoShape 47"/>
          <p:cNvSpPr>
            <a:spLocks noChangeArrowheads="1"/>
          </p:cNvSpPr>
          <p:nvPr/>
        </p:nvSpPr>
        <p:spPr bwMode="auto">
          <a:xfrm rot="-5400000">
            <a:off x="7254875" y="1785938"/>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52" name="Oval 48"/>
          <p:cNvSpPr>
            <a:spLocks noChangeArrowheads="1"/>
          </p:cNvSpPr>
          <p:nvPr/>
        </p:nvSpPr>
        <p:spPr bwMode="auto">
          <a:xfrm>
            <a:off x="7364413" y="17049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3776" name="Line 49"/>
          <p:cNvSpPr>
            <a:spLocks noChangeShapeType="1"/>
          </p:cNvSpPr>
          <p:nvPr/>
        </p:nvSpPr>
        <p:spPr bwMode="auto">
          <a:xfrm>
            <a:off x="1606550" y="5181600"/>
            <a:ext cx="1857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77" name="Text Box 51"/>
          <p:cNvSpPr txBox="1">
            <a:spLocks noChangeArrowheads="1"/>
          </p:cNvSpPr>
          <p:nvPr/>
        </p:nvSpPr>
        <p:spPr bwMode="auto">
          <a:xfrm>
            <a:off x="1828800" y="4954588"/>
            <a:ext cx="344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3778" name="Line 52"/>
          <p:cNvSpPr>
            <a:spLocks noChangeShapeType="1"/>
          </p:cNvSpPr>
          <p:nvPr/>
        </p:nvSpPr>
        <p:spPr bwMode="auto">
          <a:xfrm>
            <a:off x="1163638" y="4586288"/>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79" name="Line 53"/>
          <p:cNvSpPr>
            <a:spLocks noChangeShapeType="1"/>
          </p:cNvSpPr>
          <p:nvPr/>
        </p:nvSpPr>
        <p:spPr bwMode="auto">
          <a:xfrm>
            <a:off x="1154113" y="5743575"/>
            <a:ext cx="33861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0" name="Line 54"/>
          <p:cNvSpPr>
            <a:spLocks noChangeShapeType="1"/>
          </p:cNvSpPr>
          <p:nvPr/>
        </p:nvSpPr>
        <p:spPr bwMode="auto">
          <a:xfrm>
            <a:off x="2106613" y="5553075"/>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1" name="Line 55"/>
          <p:cNvSpPr>
            <a:spLocks noChangeShapeType="1"/>
          </p:cNvSpPr>
          <p:nvPr/>
        </p:nvSpPr>
        <p:spPr bwMode="auto">
          <a:xfrm>
            <a:off x="2106613" y="5924550"/>
            <a:ext cx="595788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2" name="Line 56"/>
          <p:cNvSpPr>
            <a:spLocks noChangeShapeType="1"/>
          </p:cNvSpPr>
          <p:nvPr/>
        </p:nvSpPr>
        <p:spPr bwMode="auto">
          <a:xfrm>
            <a:off x="2940050" y="5553075"/>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61" name="Oval 57"/>
          <p:cNvSpPr>
            <a:spLocks noChangeArrowheads="1"/>
          </p:cNvSpPr>
          <p:nvPr/>
        </p:nvSpPr>
        <p:spPr bwMode="auto">
          <a:xfrm>
            <a:off x="2906713" y="57054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784" name="Line 58"/>
          <p:cNvSpPr>
            <a:spLocks noChangeShapeType="1"/>
          </p:cNvSpPr>
          <p:nvPr/>
        </p:nvSpPr>
        <p:spPr bwMode="auto">
          <a:xfrm>
            <a:off x="1158875" y="4591050"/>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5" name="Line 59"/>
          <p:cNvSpPr>
            <a:spLocks noChangeShapeType="1"/>
          </p:cNvSpPr>
          <p:nvPr/>
        </p:nvSpPr>
        <p:spPr bwMode="auto">
          <a:xfrm flipV="1">
            <a:off x="2273300" y="447675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6" name="Line 60"/>
          <p:cNvSpPr>
            <a:spLocks noChangeShapeType="1"/>
          </p:cNvSpPr>
          <p:nvPr/>
        </p:nvSpPr>
        <p:spPr bwMode="auto">
          <a:xfrm flipV="1">
            <a:off x="2101850" y="46482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7" name="Line 61"/>
          <p:cNvSpPr>
            <a:spLocks noChangeShapeType="1"/>
          </p:cNvSpPr>
          <p:nvPr/>
        </p:nvSpPr>
        <p:spPr bwMode="auto">
          <a:xfrm>
            <a:off x="2101850" y="4657725"/>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8" name="Line 62"/>
          <p:cNvSpPr>
            <a:spLocks noChangeShapeType="1"/>
          </p:cNvSpPr>
          <p:nvPr/>
        </p:nvSpPr>
        <p:spPr bwMode="auto">
          <a:xfrm>
            <a:off x="2425700" y="4476750"/>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89" name="Line 63"/>
          <p:cNvSpPr>
            <a:spLocks noChangeShapeType="1"/>
          </p:cNvSpPr>
          <p:nvPr/>
        </p:nvSpPr>
        <p:spPr bwMode="auto">
          <a:xfrm>
            <a:off x="2416175" y="4591050"/>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0" name="Line 64"/>
          <p:cNvSpPr>
            <a:spLocks noChangeShapeType="1"/>
          </p:cNvSpPr>
          <p:nvPr/>
        </p:nvSpPr>
        <p:spPr bwMode="auto">
          <a:xfrm flipV="1">
            <a:off x="2968625" y="4581525"/>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1" name="Line 65"/>
          <p:cNvSpPr>
            <a:spLocks noChangeShapeType="1"/>
          </p:cNvSpPr>
          <p:nvPr/>
        </p:nvSpPr>
        <p:spPr bwMode="auto">
          <a:xfrm flipV="1">
            <a:off x="3502025" y="4486275"/>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2" name="Line 66"/>
          <p:cNvSpPr>
            <a:spLocks noChangeShapeType="1"/>
          </p:cNvSpPr>
          <p:nvPr/>
        </p:nvSpPr>
        <p:spPr bwMode="auto">
          <a:xfrm>
            <a:off x="3673475" y="4486275"/>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3" name="Line 67"/>
          <p:cNvSpPr>
            <a:spLocks noChangeShapeType="1"/>
          </p:cNvSpPr>
          <p:nvPr/>
        </p:nvSpPr>
        <p:spPr bwMode="auto">
          <a:xfrm>
            <a:off x="3668713" y="4657725"/>
            <a:ext cx="17478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4" name="AutoShape 68"/>
          <p:cNvSpPr>
            <a:spLocks noChangeArrowheads="1"/>
          </p:cNvSpPr>
          <p:nvPr/>
        </p:nvSpPr>
        <p:spPr bwMode="auto">
          <a:xfrm rot="-5400000" flipH="1" flipV="1">
            <a:off x="4906963" y="5110163"/>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1973" name="Oval 69"/>
          <p:cNvSpPr>
            <a:spLocks noChangeArrowheads="1"/>
          </p:cNvSpPr>
          <p:nvPr/>
        </p:nvSpPr>
        <p:spPr bwMode="auto">
          <a:xfrm>
            <a:off x="4868863" y="52006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3796" name="Line 70"/>
          <p:cNvSpPr>
            <a:spLocks noChangeShapeType="1"/>
          </p:cNvSpPr>
          <p:nvPr/>
        </p:nvSpPr>
        <p:spPr bwMode="auto">
          <a:xfrm flipH="1">
            <a:off x="4530725" y="5238750"/>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7" name="Line 71"/>
          <p:cNvSpPr>
            <a:spLocks noChangeShapeType="1"/>
          </p:cNvSpPr>
          <p:nvPr/>
        </p:nvSpPr>
        <p:spPr bwMode="auto">
          <a:xfrm>
            <a:off x="4540250" y="5238750"/>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98" name="Rectangle 72"/>
          <p:cNvSpPr>
            <a:spLocks noChangeArrowheads="1"/>
          </p:cNvSpPr>
          <p:nvPr/>
        </p:nvSpPr>
        <p:spPr bwMode="auto">
          <a:xfrm>
            <a:off x="5683250" y="4924425"/>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a:t>
            </a:r>
            <a:endParaRPr kumimoji="0" lang="zh-CN" altLang="en-US" sz="2400">
              <a:solidFill>
                <a:schemeClr val="bg1"/>
              </a:solidFill>
              <a:latin typeface="Tahoma" panose="020B0604030504040204" pitchFamily="34" charset="0"/>
            </a:endParaRPr>
          </a:p>
        </p:txBody>
      </p:sp>
      <p:sp>
        <p:nvSpPr>
          <p:cNvPr id="73799" name="Line 73"/>
          <p:cNvSpPr>
            <a:spLocks noChangeShapeType="1"/>
          </p:cNvSpPr>
          <p:nvPr/>
        </p:nvSpPr>
        <p:spPr bwMode="auto">
          <a:xfrm>
            <a:off x="5187950" y="5238750"/>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0" name="Line 74"/>
          <p:cNvSpPr>
            <a:spLocks noChangeShapeType="1"/>
          </p:cNvSpPr>
          <p:nvPr/>
        </p:nvSpPr>
        <p:spPr bwMode="auto">
          <a:xfrm>
            <a:off x="5407025" y="4648200"/>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79" name="Oval 75"/>
          <p:cNvSpPr>
            <a:spLocks noChangeArrowheads="1"/>
          </p:cNvSpPr>
          <p:nvPr/>
        </p:nvSpPr>
        <p:spPr bwMode="auto">
          <a:xfrm>
            <a:off x="5364163" y="520065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02" name="Line 76"/>
          <p:cNvSpPr>
            <a:spLocks noChangeShapeType="1"/>
          </p:cNvSpPr>
          <p:nvPr/>
        </p:nvSpPr>
        <p:spPr bwMode="auto">
          <a:xfrm flipV="1">
            <a:off x="2368550" y="4000500"/>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3" name="Line 77"/>
          <p:cNvSpPr>
            <a:spLocks noChangeShapeType="1"/>
          </p:cNvSpPr>
          <p:nvPr/>
        </p:nvSpPr>
        <p:spPr bwMode="auto">
          <a:xfrm>
            <a:off x="2359025" y="4000500"/>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4" name="Line 78"/>
          <p:cNvSpPr>
            <a:spLocks noChangeShapeType="1"/>
          </p:cNvSpPr>
          <p:nvPr/>
        </p:nvSpPr>
        <p:spPr bwMode="auto">
          <a:xfrm flipV="1">
            <a:off x="3130550" y="35433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5" name="Line 79"/>
          <p:cNvSpPr>
            <a:spLocks noChangeShapeType="1"/>
          </p:cNvSpPr>
          <p:nvPr/>
        </p:nvSpPr>
        <p:spPr bwMode="auto">
          <a:xfrm flipV="1">
            <a:off x="3597275" y="3152775"/>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6" name="Line 80"/>
          <p:cNvSpPr>
            <a:spLocks noChangeShapeType="1"/>
          </p:cNvSpPr>
          <p:nvPr/>
        </p:nvSpPr>
        <p:spPr bwMode="auto">
          <a:xfrm flipV="1">
            <a:off x="2292350" y="2543175"/>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7" name="Line 81"/>
          <p:cNvSpPr>
            <a:spLocks noChangeShapeType="1"/>
          </p:cNvSpPr>
          <p:nvPr/>
        </p:nvSpPr>
        <p:spPr bwMode="auto">
          <a:xfrm>
            <a:off x="2282825" y="2552700"/>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8" name="Line 82"/>
          <p:cNvSpPr>
            <a:spLocks noChangeShapeType="1"/>
          </p:cNvSpPr>
          <p:nvPr/>
        </p:nvSpPr>
        <p:spPr bwMode="auto">
          <a:xfrm flipV="1">
            <a:off x="3825875" y="2066925"/>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09" name="Line 83"/>
          <p:cNvSpPr>
            <a:spLocks noChangeShapeType="1"/>
          </p:cNvSpPr>
          <p:nvPr/>
        </p:nvSpPr>
        <p:spPr bwMode="auto">
          <a:xfrm>
            <a:off x="3816350" y="3638550"/>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0" name="Line 84"/>
          <p:cNvSpPr>
            <a:spLocks noChangeShapeType="1"/>
          </p:cNvSpPr>
          <p:nvPr/>
        </p:nvSpPr>
        <p:spPr bwMode="auto">
          <a:xfrm flipV="1">
            <a:off x="4473575" y="35337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1" name="Line 85"/>
          <p:cNvSpPr>
            <a:spLocks noChangeShapeType="1"/>
          </p:cNvSpPr>
          <p:nvPr/>
        </p:nvSpPr>
        <p:spPr bwMode="auto">
          <a:xfrm>
            <a:off x="3587750" y="3800475"/>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90" name="Oval 86"/>
          <p:cNvSpPr>
            <a:spLocks noChangeArrowheads="1"/>
          </p:cNvSpPr>
          <p:nvPr/>
        </p:nvSpPr>
        <p:spPr bwMode="auto">
          <a:xfrm>
            <a:off x="3563938" y="37623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13" name="Line 87"/>
          <p:cNvSpPr>
            <a:spLocks noChangeShapeType="1"/>
          </p:cNvSpPr>
          <p:nvPr/>
        </p:nvSpPr>
        <p:spPr bwMode="auto">
          <a:xfrm flipV="1">
            <a:off x="7369175" y="353377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4" name="Line 88"/>
          <p:cNvSpPr>
            <a:spLocks noChangeShapeType="1"/>
          </p:cNvSpPr>
          <p:nvPr/>
        </p:nvSpPr>
        <p:spPr bwMode="auto">
          <a:xfrm flipV="1">
            <a:off x="5302250" y="353377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93" name="Oval 89"/>
          <p:cNvSpPr>
            <a:spLocks noChangeArrowheads="1"/>
          </p:cNvSpPr>
          <p:nvPr/>
        </p:nvSpPr>
        <p:spPr bwMode="auto">
          <a:xfrm>
            <a:off x="3087688" y="39528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1994" name="Oval 90"/>
          <p:cNvSpPr>
            <a:spLocks noChangeArrowheads="1"/>
          </p:cNvSpPr>
          <p:nvPr/>
        </p:nvSpPr>
        <p:spPr bwMode="auto">
          <a:xfrm>
            <a:off x="5268913" y="39624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17" name="Line 91"/>
          <p:cNvSpPr>
            <a:spLocks noChangeShapeType="1"/>
          </p:cNvSpPr>
          <p:nvPr/>
        </p:nvSpPr>
        <p:spPr bwMode="auto">
          <a:xfrm>
            <a:off x="5616575" y="31765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18" name="Line 92"/>
          <p:cNvSpPr>
            <a:spLocks noChangeShapeType="1"/>
          </p:cNvSpPr>
          <p:nvPr/>
        </p:nvSpPr>
        <p:spPr bwMode="auto">
          <a:xfrm flipV="1">
            <a:off x="5778500" y="3162300"/>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1997" name="Oval 93"/>
          <p:cNvSpPr>
            <a:spLocks noChangeArrowheads="1"/>
          </p:cNvSpPr>
          <p:nvPr/>
        </p:nvSpPr>
        <p:spPr bwMode="auto">
          <a:xfrm>
            <a:off x="5745163" y="37719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20" name="Line 94"/>
          <p:cNvSpPr>
            <a:spLocks noChangeShapeType="1"/>
          </p:cNvSpPr>
          <p:nvPr/>
        </p:nvSpPr>
        <p:spPr bwMode="auto">
          <a:xfrm>
            <a:off x="7673975" y="316706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1" name="Line 95"/>
          <p:cNvSpPr>
            <a:spLocks noChangeShapeType="1"/>
          </p:cNvSpPr>
          <p:nvPr/>
        </p:nvSpPr>
        <p:spPr bwMode="auto">
          <a:xfrm flipV="1">
            <a:off x="7835900" y="3152775"/>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2" name="Line 96"/>
          <p:cNvSpPr>
            <a:spLocks noChangeShapeType="1"/>
          </p:cNvSpPr>
          <p:nvPr/>
        </p:nvSpPr>
        <p:spPr bwMode="auto">
          <a:xfrm flipV="1">
            <a:off x="4454525" y="206692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3" name="Line 97"/>
          <p:cNvSpPr>
            <a:spLocks noChangeShapeType="1"/>
          </p:cNvSpPr>
          <p:nvPr/>
        </p:nvSpPr>
        <p:spPr bwMode="auto">
          <a:xfrm>
            <a:off x="4445000" y="2552700"/>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4" name="Line 98"/>
          <p:cNvSpPr>
            <a:spLocks noChangeShapeType="1"/>
          </p:cNvSpPr>
          <p:nvPr/>
        </p:nvSpPr>
        <p:spPr bwMode="auto">
          <a:xfrm flipV="1">
            <a:off x="5988050" y="2066925"/>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5" name="Line 99"/>
          <p:cNvSpPr>
            <a:spLocks noChangeShapeType="1"/>
          </p:cNvSpPr>
          <p:nvPr/>
        </p:nvSpPr>
        <p:spPr bwMode="auto">
          <a:xfrm>
            <a:off x="5978525" y="3638550"/>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6" name="Line 100"/>
          <p:cNvSpPr>
            <a:spLocks noChangeShapeType="1"/>
          </p:cNvSpPr>
          <p:nvPr/>
        </p:nvSpPr>
        <p:spPr bwMode="auto">
          <a:xfrm flipV="1">
            <a:off x="6550025" y="35337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7" name="Line 101"/>
          <p:cNvSpPr>
            <a:spLocks noChangeShapeType="1"/>
          </p:cNvSpPr>
          <p:nvPr/>
        </p:nvSpPr>
        <p:spPr bwMode="auto">
          <a:xfrm flipV="1">
            <a:off x="8054975" y="2066925"/>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8" name="Line 102"/>
          <p:cNvSpPr>
            <a:spLocks noChangeShapeType="1"/>
          </p:cNvSpPr>
          <p:nvPr/>
        </p:nvSpPr>
        <p:spPr bwMode="auto">
          <a:xfrm>
            <a:off x="6492875" y="2552700"/>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29" name="Line 103"/>
          <p:cNvSpPr>
            <a:spLocks noChangeShapeType="1"/>
          </p:cNvSpPr>
          <p:nvPr/>
        </p:nvSpPr>
        <p:spPr bwMode="auto">
          <a:xfrm flipV="1">
            <a:off x="6492875" y="2543175"/>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30" name="Line 104"/>
          <p:cNvSpPr>
            <a:spLocks noChangeShapeType="1"/>
          </p:cNvSpPr>
          <p:nvPr/>
        </p:nvSpPr>
        <p:spPr bwMode="auto">
          <a:xfrm>
            <a:off x="2301875" y="354330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009" name="Oval 105"/>
          <p:cNvSpPr>
            <a:spLocks noChangeArrowheads="1"/>
          </p:cNvSpPr>
          <p:nvPr/>
        </p:nvSpPr>
        <p:spPr bwMode="auto">
          <a:xfrm>
            <a:off x="2259013" y="37814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3832" name="Text Box 106"/>
          <p:cNvSpPr txBox="1">
            <a:spLocks noChangeArrowheads="1"/>
          </p:cNvSpPr>
          <p:nvPr/>
        </p:nvSpPr>
        <p:spPr bwMode="auto">
          <a:xfrm>
            <a:off x="1557338" y="3559175"/>
            <a:ext cx="773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3833" name="Line 107"/>
          <p:cNvSpPr>
            <a:spLocks noChangeShapeType="1"/>
          </p:cNvSpPr>
          <p:nvPr/>
        </p:nvSpPr>
        <p:spPr bwMode="auto">
          <a:xfrm flipV="1">
            <a:off x="3101975" y="2066925"/>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012" name="Oval 108"/>
          <p:cNvSpPr>
            <a:spLocks noChangeArrowheads="1"/>
          </p:cNvSpPr>
          <p:nvPr/>
        </p:nvSpPr>
        <p:spPr bwMode="auto">
          <a:xfrm>
            <a:off x="3783013" y="25146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35" name="Line 109"/>
          <p:cNvSpPr>
            <a:spLocks noChangeShapeType="1"/>
          </p:cNvSpPr>
          <p:nvPr/>
        </p:nvSpPr>
        <p:spPr bwMode="auto">
          <a:xfrm flipV="1">
            <a:off x="5321300" y="2381250"/>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36" name="Line 110"/>
          <p:cNvSpPr>
            <a:spLocks noChangeShapeType="1"/>
          </p:cNvSpPr>
          <p:nvPr/>
        </p:nvSpPr>
        <p:spPr bwMode="auto">
          <a:xfrm flipH="1">
            <a:off x="3978275" y="2381250"/>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37" name="Line 111"/>
          <p:cNvSpPr>
            <a:spLocks noChangeShapeType="1"/>
          </p:cNvSpPr>
          <p:nvPr/>
        </p:nvSpPr>
        <p:spPr bwMode="auto">
          <a:xfrm flipV="1">
            <a:off x="3978275" y="2066925"/>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016" name="Oval 112"/>
          <p:cNvSpPr>
            <a:spLocks noChangeArrowheads="1"/>
          </p:cNvSpPr>
          <p:nvPr/>
        </p:nvSpPr>
        <p:spPr bwMode="auto">
          <a:xfrm>
            <a:off x="4421188" y="25146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39" name="Line 113"/>
          <p:cNvSpPr>
            <a:spLocks noChangeShapeType="1"/>
          </p:cNvSpPr>
          <p:nvPr/>
        </p:nvSpPr>
        <p:spPr bwMode="auto">
          <a:xfrm flipV="1">
            <a:off x="4597400" y="2066925"/>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0" name="Text Box 114"/>
          <p:cNvSpPr txBox="1">
            <a:spLocks noChangeArrowheads="1"/>
          </p:cNvSpPr>
          <p:nvPr/>
        </p:nvSpPr>
        <p:spPr bwMode="auto">
          <a:xfrm>
            <a:off x="4529138" y="2044700"/>
            <a:ext cx="630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2019" name="Oval 115"/>
          <p:cNvSpPr>
            <a:spLocks noChangeArrowheads="1"/>
          </p:cNvSpPr>
          <p:nvPr/>
        </p:nvSpPr>
        <p:spPr bwMode="auto">
          <a:xfrm>
            <a:off x="3068638" y="2505075"/>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42" name="Line 116"/>
          <p:cNvSpPr>
            <a:spLocks noChangeShapeType="1"/>
          </p:cNvSpPr>
          <p:nvPr/>
        </p:nvSpPr>
        <p:spPr bwMode="auto">
          <a:xfrm flipV="1">
            <a:off x="7397750" y="20764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3" name="Line 117"/>
          <p:cNvSpPr>
            <a:spLocks noChangeShapeType="1"/>
          </p:cNvSpPr>
          <p:nvPr/>
        </p:nvSpPr>
        <p:spPr bwMode="auto">
          <a:xfrm flipH="1">
            <a:off x="6121400" y="2381250"/>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4" name="Line 118"/>
          <p:cNvSpPr>
            <a:spLocks noChangeShapeType="1"/>
          </p:cNvSpPr>
          <p:nvPr/>
        </p:nvSpPr>
        <p:spPr bwMode="auto">
          <a:xfrm flipV="1">
            <a:off x="6121400" y="2066925"/>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5" name="Line 119"/>
          <p:cNvSpPr>
            <a:spLocks noChangeShapeType="1"/>
          </p:cNvSpPr>
          <p:nvPr/>
        </p:nvSpPr>
        <p:spPr bwMode="auto">
          <a:xfrm flipV="1">
            <a:off x="7921625" y="2066925"/>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46" name="Text Box 120"/>
          <p:cNvSpPr txBox="1">
            <a:spLocks noChangeArrowheads="1"/>
          </p:cNvSpPr>
          <p:nvPr/>
        </p:nvSpPr>
        <p:spPr bwMode="auto">
          <a:xfrm>
            <a:off x="7434263" y="2139950"/>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2025" name="Oval 121"/>
          <p:cNvSpPr>
            <a:spLocks noChangeArrowheads="1"/>
          </p:cNvSpPr>
          <p:nvPr/>
        </p:nvSpPr>
        <p:spPr bwMode="auto">
          <a:xfrm>
            <a:off x="7364413" y="234315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026" name="Oval 122"/>
          <p:cNvSpPr>
            <a:spLocks noChangeArrowheads="1"/>
          </p:cNvSpPr>
          <p:nvPr/>
        </p:nvSpPr>
        <p:spPr bwMode="auto">
          <a:xfrm>
            <a:off x="5945188" y="2514600"/>
            <a:ext cx="71437"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3849" name="Line 123"/>
          <p:cNvSpPr>
            <a:spLocks noChangeShapeType="1"/>
          </p:cNvSpPr>
          <p:nvPr/>
        </p:nvSpPr>
        <p:spPr bwMode="auto">
          <a:xfrm flipV="1">
            <a:off x="3101975" y="1495425"/>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0" name="Line 124"/>
          <p:cNvSpPr>
            <a:spLocks noChangeShapeType="1"/>
          </p:cNvSpPr>
          <p:nvPr/>
        </p:nvSpPr>
        <p:spPr bwMode="auto">
          <a:xfrm flipV="1">
            <a:off x="3902075" y="1533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1" name="Line 125"/>
          <p:cNvSpPr>
            <a:spLocks noChangeShapeType="1"/>
          </p:cNvSpPr>
          <p:nvPr/>
        </p:nvSpPr>
        <p:spPr bwMode="auto">
          <a:xfrm flipV="1">
            <a:off x="4530725" y="15081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2" name="Line 126"/>
          <p:cNvSpPr>
            <a:spLocks noChangeShapeType="1"/>
          </p:cNvSpPr>
          <p:nvPr/>
        </p:nvSpPr>
        <p:spPr bwMode="auto">
          <a:xfrm flipV="1">
            <a:off x="6049963" y="1533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3" name="Line 127"/>
          <p:cNvSpPr>
            <a:spLocks noChangeShapeType="1"/>
          </p:cNvSpPr>
          <p:nvPr/>
        </p:nvSpPr>
        <p:spPr bwMode="auto">
          <a:xfrm flipV="1">
            <a:off x="7988300" y="1533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4" name="Line 128"/>
          <p:cNvSpPr>
            <a:spLocks noChangeShapeType="1"/>
          </p:cNvSpPr>
          <p:nvPr/>
        </p:nvSpPr>
        <p:spPr bwMode="auto">
          <a:xfrm flipV="1">
            <a:off x="7407275" y="1495425"/>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55" name="Text Box 130"/>
          <p:cNvSpPr txBox="1">
            <a:spLocks noChangeArrowheads="1"/>
          </p:cNvSpPr>
          <p:nvPr/>
        </p:nvSpPr>
        <p:spPr bwMode="auto">
          <a:xfrm>
            <a:off x="4473575" y="1309688"/>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3856" name="Oval 131"/>
          <p:cNvSpPr>
            <a:spLocks noChangeArrowheads="1"/>
          </p:cNvSpPr>
          <p:nvPr/>
        </p:nvSpPr>
        <p:spPr bwMode="auto">
          <a:xfrm>
            <a:off x="4965700" y="13573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57" name="Text Box 132"/>
          <p:cNvSpPr txBox="1">
            <a:spLocks noChangeArrowheads="1"/>
          </p:cNvSpPr>
          <p:nvPr/>
        </p:nvSpPr>
        <p:spPr bwMode="auto">
          <a:xfrm>
            <a:off x="7373938" y="1292225"/>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3858" name="Oval 133"/>
          <p:cNvSpPr>
            <a:spLocks noChangeArrowheads="1"/>
          </p:cNvSpPr>
          <p:nvPr/>
        </p:nvSpPr>
        <p:spPr bwMode="auto">
          <a:xfrm>
            <a:off x="7951788" y="13398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59" name="Text Box 134"/>
          <p:cNvSpPr txBox="1">
            <a:spLocks noChangeArrowheads="1"/>
          </p:cNvSpPr>
          <p:nvPr/>
        </p:nvSpPr>
        <p:spPr bwMode="auto">
          <a:xfrm>
            <a:off x="3816350" y="12922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3860" name="Oval 135"/>
          <p:cNvSpPr>
            <a:spLocks noChangeArrowheads="1"/>
          </p:cNvSpPr>
          <p:nvPr/>
        </p:nvSpPr>
        <p:spPr bwMode="auto">
          <a:xfrm>
            <a:off x="4137025" y="13398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1" name="Text Box 136"/>
          <p:cNvSpPr txBox="1">
            <a:spLocks noChangeArrowheads="1"/>
          </p:cNvSpPr>
          <p:nvPr/>
        </p:nvSpPr>
        <p:spPr bwMode="auto">
          <a:xfrm>
            <a:off x="5988050" y="132080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3862" name="Oval 137"/>
          <p:cNvSpPr>
            <a:spLocks noChangeArrowheads="1"/>
          </p:cNvSpPr>
          <p:nvPr/>
        </p:nvSpPr>
        <p:spPr bwMode="auto">
          <a:xfrm>
            <a:off x="6308725" y="136842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3" name="Text Box 138"/>
          <p:cNvSpPr txBox="1">
            <a:spLocks noChangeArrowheads="1"/>
          </p:cNvSpPr>
          <p:nvPr/>
        </p:nvSpPr>
        <p:spPr bwMode="auto">
          <a:xfrm>
            <a:off x="6945313" y="127793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3864" name="Oval 139"/>
          <p:cNvSpPr>
            <a:spLocks noChangeArrowheads="1"/>
          </p:cNvSpPr>
          <p:nvPr/>
        </p:nvSpPr>
        <p:spPr bwMode="auto">
          <a:xfrm>
            <a:off x="7265988" y="132556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5" name="Text Box 140"/>
          <p:cNvSpPr txBox="1">
            <a:spLocks noChangeArrowheads="1"/>
          </p:cNvSpPr>
          <p:nvPr/>
        </p:nvSpPr>
        <p:spPr bwMode="auto">
          <a:xfrm>
            <a:off x="2659063" y="1277938"/>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3866" name="Oval 141"/>
          <p:cNvSpPr>
            <a:spLocks noChangeArrowheads="1"/>
          </p:cNvSpPr>
          <p:nvPr/>
        </p:nvSpPr>
        <p:spPr bwMode="auto">
          <a:xfrm>
            <a:off x="2979738" y="132556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67" name="Text Box 142"/>
          <p:cNvSpPr txBox="1">
            <a:spLocks noChangeArrowheads="1"/>
          </p:cNvSpPr>
          <p:nvPr/>
        </p:nvSpPr>
        <p:spPr bwMode="auto">
          <a:xfrm>
            <a:off x="4414838" y="4368800"/>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3868" name="Text Box 143"/>
          <p:cNvSpPr txBox="1">
            <a:spLocks noChangeArrowheads="1"/>
          </p:cNvSpPr>
          <p:nvPr/>
        </p:nvSpPr>
        <p:spPr bwMode="auto">
          <a:xfrm>
            <a:off x="4514850" y="5054600"/>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3869" name="Line 144"/>
          <p:cNvSpPr>
            <a:spLocks noChangeShapeType="1"/>
          </p:cNvSpPr>
          <p:nvPr/>
        </p:nvSpPr>
        <p:spPr bwMode="auto">
          <a:xfrm>
            <a:off x="4606925" y="5338763"/>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3870" name="Group 145"/>
          <p:cNvGrpSpPr/>
          <p:nvPr/>
        </p:nvGrpSpPr>
        <p:grpSpPr bwMode="auto">
          <a:xfrm>
            <a:off x="4678363" y="4324350"/>
            <a:ext cx="800100" cy="271463"/>
            <a:chOff x="3258" y="2997"/>
            <a:chExt cx="504" cy="171"/>
          </a:xfrm>
        </p:grpSpPr>
        <p:sp>
          <p:nvSpPr>
            <p:cNvPr id="73889" name="Line 146"/>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0" name="Line 147"/>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1" name="Line 14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2" name="Line 14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3" name="Line 15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4" name="Line 15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5" name="Line 15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6" name="Line 15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97" name="Line 15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3871" name="Group 155"/>
          <p:cNvGrpSpPr/>
          <p:nvPr/>
        </p:nvGrpSpPr>
        <p:grpSpPr bwMode="auto">
          <a:xfrm flipV="1">
            <a:off x="3621088" y="5410200"/>
            <a:ext cx="800100" cy="271463"/>
            <a:chOff x="3258" y="2997"/>
            <a:chExt cx="504" cy="171"/>
          </a:xfrm>
        </p:grpSpPr>
        <p:sp>
          <p:nvSpPr>
            <p:cNvPr id="73880" name="Line 156"/>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1" name="Line 157"/>
            <p:cNvSpPr>
              <a:spLocks noChangeShapeType="1"/>
            </p:cNvSpPr>
            <p:nvPr/>
          </p:nvSpPr>
          <p:spPr bwMode="auto">
            <a:xfrm>
              <a:off x="3339" y="2997"/>
              <a:ext cx="0" cy="171"/>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2" name="Line 158"/>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3" name="Line 159"/>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4" name="Line 160"/>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5" name="Line 161"/>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6" name="Line 162"/>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7" name="Line 163"/>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888" name="Line 164"/>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73872" name="Text Box 165"/>
          <p:cNvSpPr txBox="1">
            <a:spLocks noChangeArrowheads="1"/>
          </p:cNvSpPr>
          <p:nvPr/>
        </p:nvSpPr>
        <p:spPr bwMode="auto">
          <a:xfrm>
            <a:off x="2000250" y="2411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3" name="Text Box 166"/>
          <p:cNvSpPr txBox="1">
            <a:spLocks noChangeArrowheads="1"/>
          </p:cNvSpPr>
          <p:nvPr/>
        </p:nvSpPr>
        <p:spPr bwMode="auto">
          <a:xfrm>
            <a:off x="4143375" y="2411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4" name="Text Box 167"/>
          <p:cNvSpPr txBox="1">
            <a:spLocks noChangeArrowheads="1"/>
          </p:cNvSpPr>
          <p:nvPr/>
        </p:nvSpPr>
        <p:spPr bwMode="auto">
          <a:xfrm>
            <a:off x="6200775" y="24114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5" name="Text Box 169"/>
          <p:cNvSpPr txBox="1">
            <a:spLocks noChangeArrowheads="1"/>
          </p:cNvSpPr>
          <p:nvPr/>
        </p:nvSpPr>
        <p:spPr bwMode="auto">
          <a:xfrm>
            <a:off x="3200400" y="431165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3876" name="Text Box 170"/>
          <p:cNvSpPr txBox="1">
            <a:spLocks noChangeArrowheads="1"/>
          </p:cNvSpPr>
          <p:nvPr/>
        </p:nvSpPr>
        <p:spPr bwMode="auto">
          <a:xfrm>
            <a:off x="3286125" y="27971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3877" name="Text Box 171"/>
          <p:cNvSpPr txBox="1">
            <a:spLocks noChangeArrowheads="1"/>
          </p:cNvSpPr>
          <p:nvPr/>
        </p:nvSpPr>
        <p:spPr bwMode="auto">
          <a:xfrm>
            <a:off x="5457825" y="27828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3878" name="Text Box 172"/>
          <p:cNvSpPr txBox="1">
            <a:spLocks noChangeArrowheads="1"/>
          </p:cNvSpPr>
          <p:nvPr/>
        </p:nvSpPr>
        <p:spPr bwMode="auto">
          <a:xfrm>
            <a:off x="7529513" y="27971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3879" name="Text Box 183"/>
          <p:cNvSpPr txBox="1">
            <a:spLocks noChangeArrowheads="1"/>
          </p:cNvSpPr>
          <p:nvPr/>
        </p:nvSpPr>
        <p:spPr bwMode="auto">
          <a:xfrm>
            <a:off x="1843088" y="566896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pPr eaLnBrk="1" hangingPunct="1"/>
            <a:r>
              <a:rPr lang="zh-CN" altLang="en-US"/>
              <a:t>环形脉冲发生器与译码逻辑（</a:t>
            </a:r>
            <a:r>
              <a:rPr lang="en-US" altLang="zh-CN"/>
              <a:t>3</a:t>
            </a:r>
            <a:r>
              <a:rPr lang="zh-CN" altLang="en-US"/>
              <a:t>）</a:t>
            </a:r>
            <a:endParaRPr lang="zh-CN" altLang="en-US"/>
          </a:p>
        </p:txBody>
      </p:sp>
      <p:sp>
        <p:nvSpPr>
          <p:cNvPr id="250051" name="Text Box 195"/>
          <p:cNvSpPr txBox="1">
            <a:spLocks noChangeArrowheads="1"/>
          </p:cNvSpPr>
          <p:nvPr/>
        </p:nvSpPr>
        <p:spPr bwMode="auto">
          <a:xfrm>
            <a:off x="1998663"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756" name="Rectangle 4"/>
          <p:cNvSpPr>
            <a:spLocks noChangeArrowheads="1"/>
          </p:cNvSpPr>
          <p:nvPr/>
        </p:nvSpPr>
        <p:spPr bwMode="auto">
          <a:xfrm>
            <a:off x="20621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57" name="Text Box 5"/>
          <p:cNvSpPr txBox="1">
            <a:spLocks noChangeArrowheads="1"/>
          </p:cNvSpPr>
          <p:nvPr/>
        </p:nvSpPr>
        <p:spPr bwMode="auto">
          <a:xfrm>
            <a:off x="20986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58" name="Text Box 6"/>
          <p:cNvSpPr txBox="1">
            <a:spLocks noChangeArrowheads="1"/>
          </p:cNvSpPr>
          <p:nvPr/>
        </p:nvSpPr>
        <p:spPr bwMode="auto">
          <a:xfrm>
            <a:off x="29559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59" name="Line 7"/>
          <p:cNvSpPr>
            <a:spLocks noChangeShapeType="1"/>
          </p:cNvSpPr>
          <p:nvPr/>
        </p:nvSpPr>
        <p:spPr bwMode="auto">
          <a:xfrm>
            <a:off x="30337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60" name="Text Box 8"/>
          <p:cNvSpPr txBox="1">
            <a:spLocks noChangeArrowheads="1"/>
          </p:cNvSpPr>
          <p:nvPr/>
        </p:nvSpPr>
        <p:spPr bwMode="auto">
          <a:xfrm>
            <a:off x="21129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1" name="Text Box 9"/>
          <p:cNvSpPr txBox="1">
            <a:spLocks noChangeArrowheads="1"/>
          </p:cNvSpPr>
          <p:nvPr/>
        </p:nvSpPr>
        <p:spPr bwMode="auto">
          <a:xfrm>
            <a:off x="24844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2" name="Text Box 10"/>
          <p:cNvSpPr txBox="1">
            <a:spLocks noChangeArrowheads="1"/>
          </p:cNvSpPr>
          <p:nvPr/>
        </p:nvSpPr>
        <p:spPr bwMode="auto">
          <a:xfrm>
            <a:off x="29273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3" name="Oval 11"/>
          <p:cNvSpPr>
            <a:spLocks noChangeArrowheads="1"/>
          </p:cNvSpPr>
          <p:nvPr/>
        </p:nvSpPr>
        <p:spPr bwMode="auto">
          <a:xfrm>
            <a:off x="33337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64" name="Rectangle 14"/>
          <p:cNvSpPr>
            <a:spLocks noChangeArrowheads="1"/>
          </p:cNvSpPr>
          <p:nvPr/>
        </p:nvSpPr>
        <p:spPr bwMode="auto">
          <a:xfrm>
            <a:off x="42338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65" name="Text Box 15"/>
          <p:cNvSpPr txBox="1">
            <a:spLocks noChangeArrowheads="1"/>
          </p:cNvSpPr>
          <p:nvPr/>
        </p:nvSpPr>
        <p:spPr bwMode="auto">
          <a:xfrm>
            <a:off x="42703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6" name="Text Box 16"/>
          <p:cNvSpPr txBox="1">
            <a:spLocks noChangeArrowheads="1"/>
          </p:cNvSpPr>
          <p:nvPr/>
        </p:nvSpPr>
        <p:spPr bwMode="auto">
          <a:xfrm>
            <a:off x="51276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7" name="Line 17"/>
          <p:cNvSpPr>
            <a:spLocks noChangeShapeType="1"/>
          </p:cNvSpPr>
          <p:nvPr/>
        </p:nvSpPr>
        <p:spPr bwMode="auto">
          <a:xfrm>
            <a:off x="52054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68" name="Text Box 18"/>
          <p:cNvSpPr txBox="1">
            <a:spLocks noChangeArrowheads="1"/>
          </p:cNvSpPr>
          <p:nvPr/>
        </p:nvSpPr>
        <p:spPr bwMode="auto">
          <a:xfrm>
            <a:off x="42846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69" name="Text Box 19"/>
          <p:cNvSpPr txBox="1">
            <a:spLocks noChangeArrowheads="1"/>
          </p:cNvSpPr>
          <p:nvPr/>
        </p:nvSpPr>
        <p:spPr bwMode="auto">
          <a:xfrm>
            <a:off x="46561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0" name="Text Box 20"/>
          <p:cNvSpPr txBox="1">
            <a:spLocks noChangeArrowheads="1"/>
          </p:cNvSpPr>
          <p:nvPr/>
        </p:nvSpPr>
        <p:spPr bwMode="auto">
          <a:xfrm>
            <a:off x="50990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1" name="Oval 21"/>
          <p:cNvSpPr>
            <a:spLocks noChangeArrowheads="1"/>
          </p:cNvSpPr>
          <p:nvPr/>
        </p:nvSpPr>
        <p:spPr bwMode="auto">
          <a:xfrm>
            <a:off x="55054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72" name="Rectangle 23"/>
          <p:cNvSpPr>
            <a:spLocks noChangeArrowheads="1"/>
          </p:cNvSpPr>
          <p:nvPr/>
        </p:nvSpPr>
        <p:spPr bwMode="auto">
          <a:xfrm>
            <a:off x="6305550" y="27749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73" name="Text Box 24"/>
          <p:cNvSpPr txBox="1">
            <a:spLocks noChangeArrowheads="1"/>
          </p:cNvSpPr>
          <p:nvPr/>
        </p:nvSpPr>
        <p:spPr bwMode="auto">
          <a:xfrm>
            <a:off x="634206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4" name="Text Box 25"/>
          <p:cNvSpPr txBox="1">
            <a:spLocks noChangeArrowheads="1"/>
          </p:cNvSpPr>
          <p:nvPr/>
        </p:nvSpPr>
        <p:spPr bwMode="auto">
          <a:xfrm>
            <a:off x="719931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5" name="Line 26"/>
          <p:cNvSpPr>
            <a:spLocks noChangeShapeType="1"/>
          </p:cNvSpPr>
          <p:nvPr/>
        </p:nvSpPr>
        <p:spPr bwMode="auto">
          <a:xfrm>
            <a:off x="7277100" y="28178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76" name="Text Box 27"/>
          <p:cNvSpPr txBox="1">
            <a:spLocks noChangeArrowheads="1"/>
          </p:cNvSpPr>
          <p:nvPr/>
        </p:nvSpPr>
        <p:spPr bwMode="auto">
          <a:xfrm>
            <a:off x="6356350" y="32194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7" name="Text Box 28"/>
          <p:cNvSpPr txBox="1">
            <a:spLocks noChangeArrowheads="1"/>
          </p:cNvSpPr>
          <p:nvPr/>
        </p:nvSpPr>
        <p:spPr bwMode="auto">
          <a:xfrm>
            <a:off x="6727825" y="30051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8" name="Text Box 29"/>
          <p:cNvSpPr txBox="1">
            <a:spLocks noChangeArrowheads="1"/>
          </p:cNvSpPr>
          <p:nvPr/>
        </p:nvSpPr>
        <p:spPr bwMode="auto">
          <a:xfrm>
            <a:off x="7170738" y="3352800"/>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79" name="Oval 30"/>
          <p:cNvSpPr>
            <a:spLocks noChangeArrowheads="1"/>
          </p:cNvSpPr>
          <p:nvPr/>
        </p:nvSpPr>
        <p:spPr bwMode="auto">
          <a:xfrm>
            <a:off x="7577138" y="3146425"/>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80" name="Line 32"/>
          <p:cNvSpPr>
            <a:spLocks noChangeShapeType="1"/>
          </p:cNvSpPr>
          <p:nvPr/>
        </p:nvSpPr>
        <p:spPr bwMode="auto">
          <a:xfrm>
            <a:off x="3433763"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81" name="Rectangle 34"/>
          <p:cNvSpPr>
            <a:spLocks noChangeArrowheads="1"/>
          </p:cNvSpPr>
          <p:nvPr/>
        </p:nvSpPr>
        <p:spPr bwMode="auto">
          <a:xfrm>
            <a:off x="1876425" y="4789488"/>
            <a:ext cx="1271588" cy="785812"/>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82" name="Text Box 35"/>
          <p:cNvSpPr txBox="1">
            <a:spLocks noChangeArrowheads="1"/>
          </p:cNvSpPr>
          <p:nvPr/>
        </p:nvSpPr>
        <p:spPr bwMode="auto">
          <a:xfrm>
            <a:off x="191293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3" name="Text Box 36"/>
          <p:cNvSpPr txBox="1">
            <a:spLocks noChangeArrowheads="1"/>
          </p:cNvSpPr>
          <p:nvPr/>
        </p:nvSpPr>
        <p:spPr bwMode="auto">
          <a:xfrm>
            <a:off x="277018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4" name="Line 37"/>
          <p:cNvSpPr>
            <a:spLocks noChangeShapeType="1"/>
          </p:cNvSpPr>
          <p:nvPr/>
        </p:nvSpPr>
        <p:spPr bwMode="auto">
          <a:xfrm>
            <a:off x="2847975" y="4832350"/>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785" name="Text Box 38"/>
          <p:cNvSpPr txBox="1">
            <a:spLocks noChangeArrowheads="1"/>
          </p:cNvSpPr>
          <p:nvPr/>
        </p:nvSpPr>
        <p:spPr bwMode="auto">
          <a:xfrm>
            <a:off x="1927225" y="5233988"/>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6" name="Text Box 39"/>
          <p:cNvSpPr txBox="1">
            <a:spLocks noChangeArrowheads="1"/>
          </p:cNvSpPr>
          <p:nvPr/>
        </p:nvSpPr>
        <p:spPr bwMode="auto">
          <a:xfrm>
            <a:off x="2298700" y="5019675"/>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7" name="Text Box 40"/>
          <p:cNvSpPr txBox="1">
            <a:spLocks noChangeArrowheads="1"/>
          </p:cNvSpPr>
          <p:nvPr/>
        </p:nvSpPr>
        <p:spPr bwMode="auto">
          <a:xfrm>
            <a:off x="2741613" y="53768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788" name="Oval 41"/>
          <p:cNvSpPr>
            <a:spLocks noChangeArrowheads="1"/>
          </p:cNvSpPr>
          <p:nvPr/>
        </p:nvSpPr>
        <p:spPr bwMode="auto">
          <a:xfrm>
            <a:off x="1790700" y="5160963"/>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789" name="AutoShape 42"/>
          <p:cNvSpPr>
            <a:spLocks noChangeArrowheads="1"/>
          </p:cNvSpPr>
          <p:nvPr/>
        </p:nvSpPr>
        <p:spPr bwMode="auto">
          <a:xfrm rot="-5400000">
            <a:off x="3443288" y="42227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4790" name="AutoShape 44"/>
          <p:cNvSpPr>
            <a:spLocks noChangeArrowheads="1"/>
          </p:cNvSpPr>
          <p:nvPr/>
        </p:nvSpPr>
        <p:spPr bwMode="auto">
          <a:xfrm rot="-5400000">
            <a:off x="2214563" y="4217988"/>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4791" name="AutoShape 45"/>
          <p:cNvSpPr>
            <a:spLocks noChangeArrowheads="1"/>
          </p:cNvSpPr>
          <p:nvPr/>
        </p:nvSpPr>
        <p:spPr bwMode="auto">
          <a:xfrm rot="-5400000">
            <a:off x="3757613" y="1808163"/>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49902" name="AutoShape 46"/>
          <p:cNvSpPr>
            <a:spLocks noChangeArrowheads="1"/>
          </p:cNvSpPr>
          <p:nvPr/>
        </p:nvSpPr>
        <p:spPr bwMode="auto">
          <a:xfrm rot="-5400000">
            <a:off x="4386263"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03" name="AutoShape 47"/>
          <p:cNvSpPr>
            <a:spLocks noChangeArrowheads="1"/>
          </p:cNvSpPr>
          <p:nvPr/>
        </p:nvSpPr>
        <p:spPr bwMode="auto">
          <a:xfrm rot="-5400000">
            <a:off x="5915025" y="18034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05" name="AutoShape 49"/>
          <p:cNvSpPr>
            <a:spLocks noChangeArrowheads="1"/>
          </p:cNvSpPr>
          <p:nvPr/>
        </p:nvSpPr>
        <p:spPr bwMode="auto">
          <a:xfrm rot="-5400000">
            <a:off x="784383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06" name="Oval 50"/>
          <p:cNvSpPr>
            <a:spLocks noChangeArrowheads="1"/>
          </p:cNvSpPr>
          <p:nvPr/>
        </p:nvSpPr>
        <p:spPr bwMode="auto">
          <a:xfrm>
            <a:off x="2324100" y="41370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49907" name="Oval 51"/>
          <p:cNvSpPr>
            <a:spLocks noChangeArrowheads="1"/>
          </p:cNvSpPr>
          <p:nvPr/>
        </p:nvSpPr>
        <p:spPr bwMode="auto">
          <a:xfrm>
            <a:off x="3552825" y="41417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49909" name="AutoShape 53"/>
          <p:cNvSpPr>
            <a:spLocks noChangeArrowheads="1"/>
          </p:cNvSpPr>
          <p:nvPr/>
        </p:nvSpPr>
        <p:spPr bwMode="auto">
          <a:xfrm rot="-5400000">
            <a:off x="2952750" y="18129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10" name="Oval 54"/>
          <p:cNvSpPr>
            <a:spLocks noChangeArrowheads="1"/>
          </p:cNvSpPr>
          <p:nvPr/>
        </p:nvSpPr>
        <p:spPr bwMode="auto">
          <a:xfrm>
            <a:off x="3062288" y="17319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49911" name="AutoShape 55"/>
          <p:cNvSpPr>
            <a:spLocks noChangeArrowheads="1"/>
          </p:cNvSpPr>
          <p:nvPr/>
        </p:nvSpPr>
        <p:spPr bwMode="auto">
          <a:xfrm rot="-5400000">
            <a:off x="725328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12" name="Oval 56"/>
          <p:cNvSpPr>
            <a:spLocks noChangeArrowheads="1"/>
          </p:cNvSpPr>
          <p:nvPr/>
        </p:nvSpPr>
        <p:spPr bwMode="auto">
          <a:xfrm>
            <a:off x="7362825" y="17272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4801" name="Line 57"/>
          <p:cNvSpPr>
            <a:spLocks noChangeShapeType="1"/>
          </p:cNvSpPr>
          <p:nvPr/>
        </p:nvSpPr>
        <p:spPr bwMode="auto">
          <a:xfrm>
            <a:off x="1604963" y="5203825"/>
            <a:ext cx="1857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2" name="Text Box 59"/>
          <p:cNvSpPr txBox="1">
            <a:spLocks noChangeArrowheads="1"/>
          </p:cNvSpPr>
          <p:nvPr/>
        </p:nvSpPr>
        <p:spPr bwMode="auto">
          <a:xfrm>
            <a:off x="1827213" y="497681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4803" name="Line 60"/>
          <p:cNvSpPr>
            <a:spLocks noChangeShapeType="1"/>
          </p:cNvSpPr>
          <p:nvPr/>
        </p:nvSpPr>
        <p:spPr bwMode="auto">
          <a:xfrm>
            <a:off x="1162050" y="4608513"/>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4" name="Line 61"/>
          <p:cNvSpPr>
            <a:spLocks noChangeShapeType="1"/>
          </p:cNvSpPr>
          <p:nvPr/>
        </p:nvSpPr>
        <p:spPr bwMode="auto">
          <a:xfrm>
            <a:off x="1152525" y="5765800"/>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5" name="Line 62"/>
          <p:cNvSpPr>
            <a:spLocks noChangeShapeType="1"/>
          </p:cNvSpPr>
          <p:nvPr/>
        </p:nvSpPr>
        <p:spPr bwMode="auto">
          <a:xfrm>
            <a:off x="2105025" y="5575300"/>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6" name="Line 63"/>
          <p:cNvSpPr>
            <a:spLocks noChangeShapeType="1"/>
          </p:cNvSpPr>
          <p:nvPr/>
        </p:nvSpPr>
        <p:spPr bwMode="auto">
          <a:xfrm>
            <a:off x="2105025" y="5946775"/>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07" name="Line 64"/>
          <p:cNvSpPr>
            <a:spLocks noChangeShapeType="1"/>
          </p:cNvSpPr>
          <p:nvPr/>
        </p:nvSpPr>
        <p:spPr bwMode="auto">
          <a:xfrm>
            <a:off x="2938463" y="55753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22" name="Oval 66"/>
          <p:cNvSpPr>
            <a:spLocks noChangeArrowheads="1"/>
          </p:cNvSpPr>
          <p:nvPr/>
        </p:nvSpPr>
        <p:spPr bwMode="auto">
          <a:xfrm>
            <a:off x="2905125" y="57277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09" name="Line 67"/>
          <p:cNvSpPr>
            <a:spLocks noChangeShapeType="1"/>
          </p:cNvSpPr>
          <p:nvPr/>
        </p:nvSpPr>
        <p:spPr bwMode="auto">
          <a:xfrm>
            <a:off x="1157288" y="4613275"/>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0" name="Line 68"/>
          <p:cNvSpPr>
            <a:spLocks noChangeShapeType="1"/>
          </p:cNvSpPr>
          <p:nvPr/>
        </p:nvSpPr>
        <p:spPr bwMode="auto">
          <a:xfrm flipV="1">
            <a:off x="2271713" y="44989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1" name="Line 69"/>
          <p:cNvSpPr>
            <a:spLocks noChangeShapeType="1"/>
          </p:cNvSpPr>
          <p:nvPr/>
        </p:nvSpPr>
        <p:spPr bwMode="auto">
          <a:xfrm flipV="1">
            <a:off x="2100263" y="467042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2" name="Line 70"/>
          <p:cNvSpPr>
            <a:spLocks noChangeShapeType="1"/>
          </p:cNvSpPr>
          <p:nvPr/>
        </p:nvSpPr>
        <p:spPr bwMode="auto">
          <a:xfrm>
            <a:off x="2100263" y="4679950"/>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3" name="Line 71"/>
          <p:cNvSpPr>
            <a:spLocks noChangeShapeType="1"/>
          </p:cNvSpPr>
          <p:nvPr/>
        </p:nvSpPr>
        <p:spPr bwMode="auto">
          <a:xfrm>
            <a:off x="2424113" y="449897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4" name="Line 72"/>
          <p:cNvSpPr>
            <a:spLocks noChangeShapeType="1"/>
          </p:cNvSpPr>
          <p:nvPr/>
        </p:nvSpPr>
        <p:spPr bwMode="auto">
          <a:xfrm>
            <a:off x="2414588" y="4613275"/>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5" name="Line 73"/>
          <p:cNvSpPr>
            <a:spLocks noChangeShapeType="1"/>
          </p:cNvSpPr>
          <p:nvPr/>
        </p:nvSpPr>
        <p:spPr bwMode="auto">
          <a:xfrm flipV="1">
            <a:off x="2967038" y="460375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6" name="Line 74"/>
          <p:cNvSpPr>
            <a:spLocks noChangeShapeType="1"/>
          </p:cNvSpPr>
          <p:nvPr/>
        </p:nvSpPr>
        <p:spPr bwMode="auto">
          <a:xfrm flipV="1">
            <a:off x="3500438" y="450850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7" name="Line 75"/>
          <p:cNvSpPr>
            <a:spLocks noChangeShapeType="1"/>
          </p:cNvSpPr>
          <p:nvPr/>
        </p:nvSpPr>
        <p:spPr bwMode="auto">
          <a:xfrm>
            <a:off x="3671888" y="4508500"/>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8" name="Line 76"/>
          <p:cNvSpPr>
            <a:spLocks noChangeShapeType="1"/>
          </p:cNvSpPr>
          <p:nvPr/>
        </p:nvSpPr>
        <p:spPr bwMode="auto">
          <a:xfrm>
            <a:off x="3667125" y="4679950"/>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19" name="AutoShape 77"/>
          <p:cNvSpPr>
            <a:spLocks noChangeArrowheads="1"/>
          </p:cNvSpPr>
          <p:nvPr/>
        </p:nvSpPr>
        <p:spPr bwMode="auto">
          <a:xfrm rot="-5400000" flipH="1" flipV="1">
            <a:off x="4905375" y="5132388"/>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49934" name="Oval 78"/>
          <p:cNvSpPr>
            <a:spLocks noChangeArrowheads="1"/>
          </p:cNvSpPr>
          <p:nvPr/>
        </p:nvSpPr>
        <p:spPr bwMode="auto">
          <a:xfrm>
            <a:off x="4867275" y="52228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4821" name="Line 79"/>
          <p:cNvSpPr>
            <a:spLocks noChangeShapeType="1"/>
          </p:cNvSpPr>
          <p:nvPr/>
        </p:nvSpPr>
        <p:spPr bwMode="auto">
          <a:xfrm flipH="1">
            <a:off x="4529138" y="5260975"/>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2" name="Line 80"/>
          <p:cNvSpPr>
            <a:spLocks noChangeShapeType="1"/>
          </p:cNvSpPr>
          <p:nvPr/>
        </p:nvSpPr>
        <p:spPr bwMode="auto">
          <a:xfrm>
            <a:off x="4538663" y="5260975"/>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3" name="Rectangle 81"/>
          <p:cNvSpPr>
            <a:spLocks noChangeArrowheads="1"/>
          </p:cNvSpPr>
          <p:nvPr/>
        </p:nvSpPr>
        <p:spPr bwMode="auto">
          <a:xfrm>
            <a:off x="5681663" y="4946650"/>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ea typeface="宋体" panose="02010600030101010101" pitchFamily="2" charset="-122"/>
              </a:rPr>
              <a:t>时钟源</a:t>
            </a:r>
            <a:endParaRPr kumimoji="0" lang="zh-CN" altLang="en-US" sz="2400">
              <a:solidFill>
                <a:schemeClr val="bg1"/>
              </a:solidFill>
              <a:latin typeface="Tahoma" panose="020B0604030504040204" pitchFamily="34" charset="0"/>
              <a:ea typeface="宋体" panose="02010600030101010101" pitchFamily="2" charset="-122"/>
            </a:endParaRPr>
          </a:p>
        </p:txBody>
      </p:sp>
      <p:sp>
        <p:nvSpPr>
          <p:cNvPr id="74824" name="Line 82"/>
          <p:cNvSpPr>
            <a:spLocks noChangeShapeType="1"/>
          </p:cNvSpPr>
          <p:nvPr/>
        </p:nvSpPr>
        <p:spPr bwMode="auto">
          <a:xfrm>
            <a:off x="5186363" y="5260975"/>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5" name="Line 83"/>
          <p:cNvSpPr>
            <a:spLocks noChangeShapeType="1"/>
          </p:cNvSpPr>
          <p:nvPr/>
        </p:nvSpPr>
        <p:spPr bwMode="auto">
          <a:xfrm>
            <a:off x="5405438" y="4670425"/>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40" name="Oval 84"/>
          <p:cNvSpPr>
            <a:spLocks noChangeArrowheads="1"/>
          </p:cNvSpPr>
          <p:nvPr/>
        </p:nvSpPr>
        <p:spPr bwMode="auto">
          <a:xfrm>
            <a:off x="5362575" y="52228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27" name="Line 85"/>
          <p:cNvSpPr>
            <a:spLocks noChangeShapeType="1"/>
          </p:cNvSpPr>
          <p:nvPr/>
        </p:nvSpPr>
        <p:spPr bwMode="auto">
          <a:xfrm flipV="1">
            <a:off x="2366963" y="402272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8" name="Line 86"/>
          <p:cNvSpPr>
            <a:spLocks noChangeShapeType="1"/>
          </p:cNvSpPr>
          <p:nvPr/>
        </p:nvSpPr>
        <p:spPr bwMode="auto">
          <a:xfrm>
            <a:off x="2357438" y="4022725"/>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29" name="Line 87"/>
          <p:cNvSpPr>
            <a:spLocks noChangeShapeType="1"/>
          </p:cNvSpPr>
          <p:nvPr/>
        </p:nvSpPr>
        <p:spPr bwMode="auto">
          <a:xfrm flipV="1">
            <a:off x="3128963" y="356552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0" name="Line 88"/>
          <p:cNvSpPr>
            <a:spLocks noChangeShapeType="1"/>
          </p:cNvSpPr>
          <p:nvPr/>
        </p:nvSpPr>
        <p:spPr bwMode="auto">
          <a:xfrm flipV="1">
            <a:off x="3595688" y="3175000"/>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1" name="Line 90"/>
          <p:cNvSpPr>
            <a:spLocks noChangeShapeType="1"/>
          </p:cNvSpPr>
          <p:nvPr/>
        </p:nvSpPr>
        <p:spPr bwMode="auto">
          <a:xfrm flipV="1">
            <a:off x="2290763"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2" name="Line 91"/>
          <p:cNvSpPr>
            <a:spLocks noChangeShapeType="1"/>
          </p:cNvSpPr>
          <p:nvPr/>
        </p:nvSpPr>
        <p:spPr bwMode="auto">
          <a:xfrm>
            <a:off x="228123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3" name="Line 92"/>
          <p:cNvSpPr>
            <a:spLocks noChangeShapeType="1"/>
          </p:cNvSpPr>
          <p:nvPr/>
        </p:nvSpPr>
        <p:spPr bwMode="auto">
          <a:xfrm flipV="1">
            <a:off x="3824288"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4" name="Line 93"/>
          <p:cNvSpPr>
            <a:spLocks noChangeShapeType="1"/>
          </p:cNvSpPr>
          <p:nvPr/>
        </p:nvSpPr>
        <p:spPr bwMode="auto">
          <a:xfrm>
            <a:off x="3814763" y="3660775"/>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5" name="Line 94"/>
          <p:cNvSpPr>
            <a:spLocks noChangeShapeType="1"/>
          </p:cNvSpPr>
          <p:nvPr/>
        </p:nvSpPr>
        <p:spPr bwMode="auto">
          <a:xfrm flipV="1">
            <a:off x="447198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6" name="Line 95"/>
          <p:cNvSpPr>
            <a:spLocks noChangeShapeType="1"/>
          </p:cNvSpPr>
          <p:nvPr/>
        </p:nvSpPr>
        <p:spPr bwMode="auto">
          <a:xfrm>
            <a:off x="3586163" y="3822700"/>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52" name="Oval 96"/>
          <p:cNvSpPr>
            <a:spLocks noChangeArrowheads="1"/>
          </p:cNvSpPr>
          <p:nvPr/>
        </p:nvSpPr>
        <p:spPr bwMode="auto">
          <a:xfrm>
            <a:off x="3562350" y="37846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38" name="Line 97"/>
          <p:cNvSpPr>
            <a:spLocks noChangeShapeType="1"/>
          </p:cNvSpPr>
          <p:nvPr/>
        </p:nvSpPr>
        <p:spPr bwMode="auto">
          <a:xfrm flipV="1">
            <a:off x="7367588"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39" name="Line 98"/>
          <p:cNvSpPr>
            <a:spLocks noChangeShapeType="1"/>
          </p:cNvSpPr>
          <p:nvPr/>
        </p:nvSpPr>
        <p:spPr bwMode="auto">
          <a:xfrm flipV="1">
            <a:off x="5300663"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55" name="Oval 99"/>
          <p:cNvSpPr>
            <a:spLocks noChangeArrowheads="1"/>
          </p:cNvSpPr>
          <p:nvPr/>
        </p:nvSpPr>
        <p:spPr bwMode="auto">
          <a:xfrm>
            <a:off x="3086100" y="39751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56" name="Oval 100"/>
          <p:cNvSpPr>
            <a:spLocks noChangeArrowheads="1"/>
          </p:cNvSpPr>
          <p:nvPr/>
        </p:nvSpPr>
        <p:spPr bwMode="auto">
          <a:xfrm>
            <a:off x="5267325" y="39846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42" name="Line 101"/>
          <p:cNvSpPr>
            <a:spLocks noChangeShapeType="1"/>
          </p:cNvSpPr>
          <p:nvPr/>
        </p:nvSpPr>
        <p:spPr bwMode="auto">
          <a:xfrm>
            <a:off x="5614988" y="319881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3" name="Line 102"/>
          <p:cNvSpPr>
            <a:spLocks noChangeShapeType="1"/>
          </p:cNvSpPr>
          <p:nvPr/>
        </p:nvSpPr>
        <p:spPr bwMode="auto">
          <a:xfrm flipV="1">
            <a:off x="5776913" y="3184525"/>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59" name="Oval 103"/>
          <p:cNvSpPr>
            <a:spLocks noChangeArrowheads="1"/>
          </p:cNvSpPr>
          <p:nvPr/>
        </p:nvSpPr>
        <p:spPr bwMode="auto">
          <a:xfrm>
            <a:off x="5743575" y="37941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45" name="Line 104"/>
          <p:cNvSpPr>
            <a:spLocks noChangeShapeType="1"/>
          </p:cNvSpPr>
          <p:nvPr/>
        </p:nvSpPr>
        <p:spPr bwMode="auto">
          <a:xfrm>
            <a:off x="7672388"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6" name="Line 105"/>
          <p:cNvSpPr>
            <a:spLocks noChangeShapeType="1"/>
          </p:cNvSpPr>
          <p:nvPr/>
        </p:nvSpPr>
        <p:spPr bwMode="auto">
          <a:xfrm flipV="1">
            <a:off x="7834313" y="3175000"/>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7" name="Line 107"/>
          <p:cNvSpPr>
            <a:spLocks noChangeShapeType="1"/>
          </p:cNvSpPr>
          <p:nvPr/>
        </p:nvSpPr>
        <p:spPr bwMode="auto">
          <a:xfrm flipV="1">
            <a:off x="4452938" y="20891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8" name="Line 108"/>
          <p:cNvSpPr>
            <a:spLocks noChangeShapeType="1"/>
          </p:cNvSpPr>
          <p:nvPr/>
        </p:nvSpPr>
        <p:spPr bwMode="auto">
          <a:xfrm>
            <a:off x="4443413"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49" name="Line 109"/>
          <p:cNvSpPr>
            <a:spLocks noChangeShapeType="1"/>
          </p:cNvSpPr>
          <p:nvPr/>
        </p:nvSpPr>
        <p:spPr bwMode="auto">
          <a:xfrm flipV="1">
            <a:off x="5986463"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0" name="Line 110"/>
          <p:cNvSpPr>
            <a:spLocks noChangeShapeType="1"/>
          </p:cNvSpPr>
          <p:nvPr/>
        </p:nvSpPr>
        <p:spPr bwMode="auto">
          <a:xfrm>
            <a:off x="5976938" y="3660775"/>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1" name="Line 111"/>
          <p:cNvSpPr>
            <a:spLocks noChangeShapeType="1"/>
          </p:cNvSpPr>
          <p:nvPr/>
        </p:nvSpPr>
        <p:spPr bwMode="auto">
          <a:xfrm flipV="1">
            <a:off x="654843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2" name="Line 112"/>
          <p:cNvSpPr>
            <a:spLocks noChangeShapeType="1"/>
          </p:cNvSpPr>
          <p:nvPr/>
        </p:nvSpPr>
        <p:spPr bwMode="auto">
          <a:xfrm flipV="1">
            <a:off x="8053388" y="2089150"/>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3" name="Line 113"/>
          <p:cNvSpPr>
            <a:spLocks noChangeShapeType="1"/>
          </p:cNvSpPr>
          <p:nvPr/>
        </p:nvSpPr>
        <p:spPr bwMode="auto">
          <a:xfrm>
            <a:off x="649128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4" name="Line 114"/>
          <p:cNvSpPr>
            <a:spLocks noChangeShapeType="1"/>
          </p:cNvSpPr>
          <p:nvPr/>
        </p:nvSpPr>
        <p:spPr bwMode="auto">
          <a:xfrm flipV="1">
            <a:off x="6491288"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55" name="Line 115"/>
          <p:cNvSpPr>
            <a:spLocks noChangeShapeType="1"/>
          </p:cNvSpPr>
          <p:nvPr/>
        </p:nvSpPr>
        <p:spPr bwMode="auto">
          <a:xfrm>
            <a:off x="2300288" y="3565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72" name="Oval 116"/>
          <p:cNvSpPr>
            <a:spLocks noChangeArrowheads="1"/>
          </p:cNvSpPr>
          <p:nvPr/>
        </p:nvSpPr>
        <p:spPr bwMode="auto">
          <a:xfrm>
            <a:off x="2257425" y="38036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4857" name="Text Box 117"/>
          <p:cNvSpPr txBox="1">
            <a:spLocks noChangeArrowheads="1"/>
          </p:cNvSpPr>
          <p:nvPr/>
        </p:nvSpPr>
        <p:spPr bwMode="auto">
          <a:xfrm>
            <a:off x="1555750" y="3581400"/>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4858" name="Line 118"/>
          <p:cNvSpPr>
            <a:spLocks noChangeShapeType="1"/>
          </p:cNvSpPr>
          <p:nvPr/>
        </p:nvSpPr>
        <p:spPr bwMode="auto">
          <a:xfrm flipV="1">
            <a:off x="3100388" y="2089150"/>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76" name="Oval 120"/>
          <p:cNvSpPr>
            <a:spLocks noChangeArrowheads="1"/>
          </p:cNvSpPr>
          <p:nvPr/>
        </p:nvSpPr>
        <p:spPr bwMode="auto">
          <a:xfrm>
            <a:off x="3781425"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60" name="Line 121"/>
          <p:cNvSpPr>
            <a:spLocks noChangeShapeType="1"/>
          </p:cNvSpPr>
          <p:nvPr/>
        </p:nvSpPr>
        <p:spPr bwMode="auto">
          <a:xfrm flipV="1">
            <a:off x="5319713" y="2403475"/>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1" name="Line 122"/>
          <p:cNvSpPr>
            <a:spLocks noChangeShapeType="1"/>
          </p:cNvSpPr>
          <p:nvPr/>
        </p:nvSpPr>
        <p:spPr bwMode="auto">
          <a:xfrm flipH="1">
            <a:off x="3976688" y="2403475"/>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2" name="Line 123"/>
          <p:cNvSpPr>
            <a:spLocks noChangeShapeType="1"/>
          </p:cNvSpPr>
          <p:nvPr/>
        </p:nvSpPr>
        <p:spPr bwMode="auto">
          <a:xfrm flipV="1">
            <a:off x="3976688"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49982" name="Oval 126"/>
          <p:cNvSpPr>
            <a:spLocks noChangeArrowheads="1"/>
          </p:cNvSpPr>
          <p:nvPr/>
        </p:nvSpPr>
        <p:spPr bwMode="auto">
          <a:xfrm>
            <a:off x="4419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64" name="Line 127"/>
          <p:cNvSpPr>
            <a:spLocks noChangeShapeType="1"/>
          </p:cNvSpPr>
          <p:nvPr/>
        </p:nvSpPr>
        <p:spPr bwMode="auto">
          <a:xfrm flipV="1">
            <a:off x="4595813"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5" name="Text Box 128"/>
          <p:cNvSpPr txBox="1">
            <a:spLocks noChangeArrowheads="1"/>
          </p:cNvSpPr>
          <p:nvPr/>
        </p:nvSpPr>
        <p:spPr bwMode="auto">
          <a:xfrm>
            <a:off x="4527550" y="20669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49985" name="Oval 129"/>
          <p:cNvSpPr>
            <a:spLocks noChangeArrowheads="1"/>
          </p:cNvSpPr>
          <p:nvPr/>
        </p:nvSpPr>
        <p:spPr bwMode="auto">
          <a:xfrm>
            <a:off x="3067050" y="25273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67" name="Line 130"/>
          <p:cNvSpPr>
            <a:spLocks noChangeShapeType="1"/>
          </p:cNvSpPr>
          <p:nvPr/>
        </p:nvSpPr>
        <p:spPr bwMode="auto">
          <a:xfrm flipV="1">
            <a:off x="7396163" y="209867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8" name="Line 131"/>
          <p:cNvSpPr>
            <a:spLocks noChangeShapeType="1"/>
          </p:cNvSpPr>
          <p:nvPr/>
        </p:nvSpPr>
        <p:spPr bwMode="auto">
          <a:xfrm flipH="1">
            <a:off x="6119813" y="2403475"/>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69" name="Line 132"/>
          <p:cNvSpPr>
            <a:spLocks noChangeShapeType="1"/>
          </p:cNvSpPr>
          <p:nvPr/>
        </p:nvSpPr>
        <p:spPr bwMode="auto">
          <a:xfrm flipV="1">
            <a:off x="6119813"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0" name="Line 133"/>
          <p:cNvSpPr>
            <a:spLocks noChangeShapeType="1"/>
          </p:cNvSpPr>
          <p:nvPr/>
        </p:nvSpPr>
        <p:spPr bwMode="auto">
          <a:xfrm flipV="1">
            <a:off x="7920038"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1" name="Text Box 134"/>
          <p:cNvSpPr txBox="1">
            <a:spLocks noChangeArrowheads="1"/>
          </p:cNvSpPr>
          <p:nvPr/>
        </p:nvSpPr>
        <p:spPr bwMode="auto">
          <a:xfrm>
            <a:off x="7432675" y="2162175"/>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49991" name="Oval 135"/>
          <p:cNvSpPr>
            <a:spLocks noChangeArrowheads="1"/>
          </p:cNvSpPr>
          <p:nvPr/>
        </p:nvSpPr>
        <p:spPr bwMode="auto">
          <a:xfrm>
            <a:off x="7362825" y="23653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49992" name="Oval 136"/>
          <p:cNvSpPr>
            <a:spLocks noChangeArrowheads="1"/>
          </p:cNvSpPr>
          <p:nvPr/>
        </p:nvSpPr>
        <p:spPr bwMode="auto">
          <a:xfrm>
            <a:off x="5943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4874" name="Line 137"/>
          <p:cNvSpPr>
            <a:spLocks noChangeShapeType="1"/>
          </p:cNvSpPr>
          <p:nvPr/>
        </p:nvSpPr>
        <p:spPr bwMode="auto">
          <a:xfrm flipV="1">
            <a:off x="31003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5" name="Line 138"/>
          <p:cNvSpPr>
            <a:spLocks noChangeShapeType="1"/>
          </p:cNvSpPr>
          <p:nvPr/>
        </p:nvSpPr>
        <p:spPr bwMode="auto">
          <a:xfrm flipV="1">
            <a:off x="390048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6" name="Line 139"/>
          <p:cNvSpPr>
            <a:spLocks noChangeShapeType="1"/>
          </p:cNvSpPr>
          <p:nvPr/>
        </p:nvSpPr>
        <p:spPr bwMode="auto">
          <a:xfrm flipV="1">
            <a:off x="452913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7" name="Line 140"/>
          <p:cNvSpPr>
            <a:spLocks noChangeShapeType="1"/>
          </p:cNvSpPr>
          <p:nvPr/>
        </p:nvSpPr>
        <p:spPr bwMode="auto">
          <a:xfrm flipV="1">
            <a:off x="6048375"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8" name="Line 141"/>
          <p:cNvSpPr>
            <a:spLocks noChangeShapeType="1"/>
          </p:cNvSpPr>
          <p:nvPr/>
        </p:nvSpPr>
        <p:spPr bwMode="auto">
          <a:xfrm flipV="1">
            <a:off x="7986713"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79" name="Line 142"/>
          <p:cNvSpPr>
            <a:spLocks noChangeShapeType="1"/>
          </p:cNvSpPr>
          <p:nvPr/>
        </p:nvSpPr>
        <p:spPr bwMode="auto">
          <a:xfrm flipV="1">
            <a:off x="74056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880" name="Text Box 145"/>
          <p:cNvSpPr txBox="1">
            <a:spLocks noChangeArrowheads="1"/>
          </p:cNvSpPr>
          <p:nvPr/>
        </p:nvSpPr>
        <p:spPr bwMode="auto">
          <a:xfrm>
            <a:off x="4484688" y="130651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4881" name="Oval 146"/>
          <p:cNvSpPr>
            <a:spLocks noChangeArrowheads="1"/>
          </p:cNvSpPr>
          <p:nvPr/>
        </p:nvSpPr>
        <p:spPr bwMode="auto">
          <a:xfrm>
            <a:off x="4976813" y="13541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2" name="Text Box 147"/>
          <p:cNvSpPr txBox="1">
            <a:spLocks noChangeArrowheads="1"/>
          </p:cNvSpPr>
          <p:nvPr/>
        </p:nvSpPr>
        <p:spPr bwMode="auto">
          <a:xfrm>
            <a:off x="7372350" y="1314450"/>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4883" name="Oval 148"/>
          <p:cNvSpPr>
            <a:spLocks noChangeArrowheads="1"/>
          </p:cNvSpPr>
          <p:nvPr/>
        </p:nvSpPr>
        <p:spPr bwMode="auto">
          <a:xfrm>
            <a:off x="7950200"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4" name="Text Box 149"/>
          <p:cNvSpPr txBox="1">
            <a:spLocks noChangeArrowheads="1"/>
          </p:cNvSpPr>
          <p:nvPr/>
        </p:nvSpPr>
        <p:spPr bwMode="auto">
          <a:xfrm>
            <a:off x="3814763" y="13144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4885" name="Oval 150"/>
          <p:cNvSpPr>
            <a:spLocks noChangeArrowheads="1"/>
          </p:cNvSpPr>
          <p:nvPr/>
        </p:nvSpPr>
        <p:spPr bwMode="auto">
          <a:xfrm>
            <a:off x="4135438"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6" name="Text Box 151"/>
          <p:cNvSpPr txBox="1">
            <a:spLocks noChangeArrowheads="1"/>
          </p:cNvSpPr>
          <p:nvPr/>
        </p:nvSpPr>
        <p:spPr bwMode="auto">
          <a:xfrm>
            <a:off x="5986463" y="13430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4887" name="Oval 152"/>
          <p:cNvSpPr>
            <a:spLocks noChangeArrowheads="1"/>
          </p:cNvSpPr>
          <p:nvPr/>
        </p:nvSpPr>
        <p:spPr bwMode="auto">
          <a:xfrm>
            <a:off x="6307138" y="13906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88" name="Text Box 153"/>
          <p:cNvSpPr txBox="1">
            <a:spLocks noChangeArrowheads="1"/>
          </p:cNvSpPr>
          <p:nvPr/>
        </p:nvSpPr>
        <p:spPr bwMode="auto">
          <a:xfrm>
            <a:off x="694372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4889" name="Oval 154"/>
          <p:cNvSpPr>
            <a:spLocks noChangeArrowheads="1"/>
          </p:cNvSpPr>
          <p:nvPr/>
        </p:nvSpPr>
        <p:spPr bwMode="auto">
          <a:xfrm>
            <a:off x="726440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90" name="Text Box 155"/>
          <p:cNvSpPr txBox="1">
            <a:spLocks noChangeArrowheads="1"/>
          </p:cNvSpPr>
          <p:nvPr/>
        </p:nvSpPr>
        <p:spPr bwMode="auto">
          <a:xfrm>
            <a:off x="265747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4891" name="Oval 156"/>
          <p:cNvSpPr>
            <a:spLocks noChangeArrowheads="1"/>
          </p:cNvSpPr>
          <p:nvPr/>
        </p:nvSpPr>
        <p:spPr bwMode="auto">
          <a:xfrm>
            <a:off x="297815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4892" name="Text Box 157"/>
          <p:cNvSpPr txBox="1">
            <a:spLocks noChangeArrowheads="1"/>
          </p:cNvSpPr>
          <p:nvPr/>
        </p:nvSpPr>
        <p:spPr bwMode="auto">
          <a:xfrm>
            <a:off x="4413250" y="4391025"/>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4893" name="Text Box 158"/>
          <p:cNvSpPr txBox="1">
            <a:spLocks noChangeArrowheads="1"/>
          </p:cNvSpPr>
          <p:nvPr/>
        </p:nvSpPr>
        <p:spPr bwMode="auto">
          <a:xfrm>
            <a:off x="4513263" y="5076825"/>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4894" name="Line 159"/>
          <p:cNvSpPr>
            <a:spLocks noChangeShapeType="1"/>
          </p:cNvSpPr>
          <p:nvPr/>
        </p:nvSpPr>
        <p:spPr bwMode="auto">
          <a:xfrm>
            <a:off x="4605338" y="5360988"/>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4895" name="Group 169"/>
          <p:cNvGrpSpPr/>
          <p:nvPr/>
        </p:nvGrpSpPr>
        <p:grpSpPr bwMode="auto">
          <a:xfrm>
            <a:off x="4676775" y="4346575"/>
            <a:ext cx="800100" cy="271463"/>
            <a:chOff x="3258" y="2997"/>
            <a:chExt cx="504" cy="171"/>
          </a:xfrm>
        </p:grpSpPr>
        <p:sp>
          <p:nvSpPr>
            <p:cNvPr id="74925" name="Line 160"/>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6" name="Line 161"/>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7" name="Line 162"/>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8" name="Line 163"/>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9" name="Line 164"/>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0" name="Line 165"/>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1" name="Line 166"/>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2" name="Line 167"/>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33" name="Line 168"/>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4896" name="Group 170"/>
          <p:cNvGrpSpPr/>
          <p:nvPr/>
        </p:nvGrpSpPr>
        <p:grpSpPr bwMode="auto">
          <a:xfrm flipV="1">
            <a:off x="3619500" y="5432425"/>
            <a:ext cx="800100" cy="271463"/>
            <a:chOff x="3258" y="2997"/>
            <a:chExt cx="504" cy="171"/>
          </a:xfrm>
        </p:grpSpPr>
        <p:sp>
          <p:nvSpPr>
            <p:cNvPr id="74916" name="Line 171"/>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17" name="Line 172"/>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18" name="Line 173"/>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19" name="Line 174"/>
            <p:cNvSpPr>
              <a:spLocks noChangeShapeType="1"/>
            </p:cNvSpPr>
            <p:nvPr/>
          </p:nvSpPr>
          <p:spPr bwMode="auto">
            <a:xfrm>
              <a:off x="3447" y="2997"/>
              <a:ext cx="0" cy="171"/>
            </a:xfrm>
            <a:prstGeom prst="line">
              <a:avLst/>
            </a:prstGeom>
            <a:noFill/>
            <a:ln w="19050">
              <a:solidFill>
                <a:srgbClr val="FF0000"/>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0" name="Line 175"/>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1" name="Line 176"/>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2" name="Line 177"/>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3" name="Line 178"/>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4924" name="Line 179"/>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250036" name="Text Box 180"/>
          <p:cNvSpPr txBox="1">
            <a:spLocks noChangeArrowheads="1"/>
          </p:cNvSpPr>
          <p:nvPr/>
        </p:nvSpPr>
        <p:spPr bwMode="auto">
          <a:xfrm>
            <a:off x="1998663"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37" name="Text Box 181"/>
          <p:cNvSpPr txBox="1">
            <a:spLocks noChangeArrowheads="1"/>
          </p:cNvSpPr>
          <p:nvPr/>
        </p:nvSpPr>
        <p:spPr bwMode="auto">
          <a:xfrm>
            <a:off x="61991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38" name="Text Box 182"/>
          <p:cNvSpPr txBox="1">
            <a:spLocks noChangeArrowheads="1"/>
          </p:cNvSpPr>
          <p:nvPr/>
        </p:nvSpPr>
        <p:spPr bwMode="auto">
          <a:xfrm>
            <a:off x="1997075" y="24352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0" name="Text Box 184"/>
          <p:cNvSpPr txBox="1">
            <a:spLocks noChangeArrowheads="1"/>
          </p:cNvSpPr>
          <p:nvPr/>
        </p:nvSpPr>
        <p:spPr bwMode="auto">
          <a:xfrm>
            <a:off x="6164263" y="24352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4" name="Text Box 188"/>
          <p:cNvSpPr txBox="1">
            <a:spLocks noChangeArrowheads="1"/>
          </p:cNvSpPr>
          <p:nvPr/>
        </p:nvSpPr>
        <p:spPr bwMode="auto">
          <a:xfrm>
            <a:off x="1841500" y="56911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5" name="Text Box 189"/>
          <p:cNvSpPr txBox="1">
            <a:spLocks noChangeArrowheads="1"/>
          </p:cNvSpPr>
          <p:nvPr/>
        </p:nvSpPr>
        <p:spPr bwMode="auto">
          <a:xfrm>
            <a:off x="41417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46" name="Text Box 190"/>
          <p:cNvSpPr txBox="1">
            <a:spLocks noChangeArrowheads="1"/>
          </p:cNvSpPr>
          <p:nvPr/>
        </p:nvSpPr>
        <p:spPr bwMode="auto">
          <a:xfrm>
            <a:off x="4143375" y="24368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47" name="Text Box 191"/>
          <p:cNvSpPr txBox="1">
            <a:spLocks noChangeArrowheads="1"/>
          </p:cNvSpPr>
          <p:nvPr/>
        </p:nvSpPr>
        <p:spPr bwMode="auto">
          <a:xfrm>
            <a:off x="4133850" y="24526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8" name="Text Box 192"/>
          <p:cNvSpPr txBox="1">
            <a:spLocks noChangeArrowheads="1"/>
          </p:cNvSpPr>
          <p:nvPr/>
        </p:nvSpPr>
        <p:spPr bwMode="auto">
          <a:xfrm>
            <a:off x="61991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49" name="Text Box 193"/>
          <p:cNvSpPr txBox="1">
            <a:spLocks noChangeArrowheads="1"/>
          </p:cNvSpPr>
          <p:nvPr/>
        </p:nvSpPr>
        <p:spPr bwMode="auto">
          <a:xfrm>
            <a:off x="1995488" y="24098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50" name="Text Box 194"/>
          <p:cNvSpPr txBox="1">
            <a:spLocks noChangeArrowheads="1"/>
          </p:cNvSpPr>
          <p:nvPr/>
        </p:nvSpPr>
        <p:spPr bwMode="auto">
          <a:xfrm>
            <a:off x="41417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52" name="Text Box 196"/>
          <p:cNvSpPr txBox="1">
            <a:spLocks noChangeArrowheads="1"/>
          </p:cNvSpPr>
          <p:nvPr/>
        </p:nvSpPr>
        <p:spPr bwMode="auto">
          <a:xfrm>
            <a:off x="6164263" y="24415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909" name="Text Box 199"/>
          <p:cNvSpPr txBox="1">
            <a:spLocks noChangeArrowheads="1"/>
          </p:cNvSpPr>
          <p:nvPr/>
        </p:nvSpPr>
        <p:spPr bwMode="auto">
          <a:xfrm>
            <a:off x="3198813" y="43338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4910" name="Text Box 205"/>
          <p:cNvSpPr txBox="1">
            <a:spLocks noChangeArrowheads="1"/>
          </p:cNvSpPr>
          <p:nvPr/>
        </p:nvSpPr>
        <p:spPr bwMode="auto">
          <a:xfrm>
            <a:off x="3284538"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911" name="Text Box 206"/>
          <p:cNvSpPr txBox="1">
            <a:spLocks noChangeArrowheads="1"/>
          </p:cNvSpPr>
          <p:nvPr/>
        </p:nvSpPr>
        <p:spPr bwMode="auto">
          <a:xfrm>
            <a:off x="5456238" y="28051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4912" name="Text Box 207"/>
          <p:cNvSpPr txBox="1">
            <a:spLocks noChangeArrowheads="1"/>
          </p:cNvSpPr>
          <p:nvPr/>
        </p:nvSpPr>
        <p:spPr bwMode="auto">
          <a:xfrm>
            <a:off x="7527925"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250064" name="Text Box 208"/>
          <p:cNvSpPr txBox="1">
            <a:spLocks noChangeArrowheads="1"/>
          </p:cNvSpPr>
          <p:nvPr/>
        </p:nvSpPr>
        <p:spPr bwMode="auto">
          <a:xfrm>
            <a:off x="1843088" y="56911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65" name="Text Box 209"/>
          <p:cNvSpPr txBox="1">
            <a:spLocks noChangeArrowheads="1"/>
          </p:cNvSpPr>
          <p:nvPr/>
        </p:nvSpPr>
        <p:spPr bwMode="auto">
          <a:xfrm>
            <a:off x="1817688" y="570865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250066" name="Text Box 210"/>
          <p:cNvSpPr txBox="1">
            <a:spLocks noChangeArrowheads="1"/>
          </p:cNvSpPr>
          <p:nvPr/>
        </p:nvSpPr>
        <p:spPr bwMode="auto">
          <a:xfrm>
            <a:off x="1843088" y="569912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0038"/>
                                        </p:tgtEl>
                                        <p:attrNameLst>
                                          <p:attrName>style.visibility</p:attrName>
                                        </p:attrNameLst>
                                      </p:cBhvr>
                                      <p:to>
                                        <p:strVal val="visible"/>
                                      </p:to>
                                    </p:set>
                                  </p:childTnLst>
                                  <p:subTnLst>
                                    <p:set>
                                      <p:cBhvr override="childStyle">
                                        <p:cTn dur="1" fill="hold" display="0" masterRel="nextClick" afterEffect="1"/>
                                        <p:tgtEl>
                                          <p:spTgt spid="250038"/>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50047"/>
                                        </p:tgtEl>
                                        <p:attrNameLst>
                                          <p:attrName>style.visibility</p:attrName>
                                        </p:attrNameLst>
                                      </p:cBhvr>
                                      <p:to>
                                        <p:strVal val="visible"/>
                                      </p:to>
                                    </p:set>
                                  </p:childTnLst>
                                  <p:subTnLst>
                                    <p:set>
                                      <p:cBhvr override="childStyle">
                                        <p:cTn dur="1" fill="hold" display="0" masterRel="nextClick" afterEffect="1"/>
                                        <p:tgtEl>
                                          <p:spTgt spid="250047"/>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50048"/>
                                        </p:tgtEl>
                                        <p:attrNameLst>
                                          <p:attrName>style.visibility</p:attrName>
                                        </p:attrNameLst>
                                      </p:cBhvr>
                                      <p:to>
                                        <p:strVal val="visible"/>
                                      </p:to>
                                    </p:set>
                                  </p:childTnLst>
                                  <p:subTnLst>
                                    <p:set>
                                      <p:cBhvr override="childStyle">
                                        <p:cTn dur="1" fill="hold" display="0" masterRel="nextClick" afterEffect="1"/>
                                        <p:tgtEl>
                                          <p:spTgt spid="250048"/>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50044"/>
                                        </p:tgtEl>
                                        <p:attrNameLst>
                                          <p:attrName>style.visibility</p:attrName>
                                        </p:attrNameLst>
                                      </p:cBhvr>
                                      <p:to>
                                        <p:strVal val="visible"/>
                                      </p:to>
                                    </p:set>
                                  </p:childTnLst>
                                  <p:subTnLst>
                                    <p:set>
                                      <p:cBhvr override="childStyle">
                                        <p:cTn dur="1" fill="hold" display="0" masterRel="nextClick" afterEffect="1"/>
                                        <p:tgtEl>
                                          <p:spTgt spid="25004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0050"/>
                                        </p:tgtEl>
                                        <p:attrNameLst>
                                          <p:attrName>style.visibility</p:attrName>
                                        </p:attrNameLst>
                                      </p:cBhvr>
                                      <p:to>
                                        <p:strVal val="visible"/>
                                      </p:to>
                                    </p:set>
                                  </p:childTnLst>
                                  <p:subTnLst>
                                    <p:set>
                                      <p:cBhvr override="childStyle">
                                        <p:cTn dur="1" fill="hold" display="0" masterRel="nextClick" afterEffect="1"/>
                                        <p:tgtEl>
                                          <p:spTgt spid="250050"/>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50049"/>
                                        </p:tgtEl>
                                        <p:attrNameLst>
                                          <p:attrName>style.visibility</p:attrName>
                                        </p:attrNameLst>
                                      </p:cBhvr>
                                      <p:to>
                                        <p:strVal val="visible"/>
                                      </p:to>
                                    </p:set>
                                  </p:childTnLst>
                                  <p:subTnLst>
                                    <p:set>
                                      <p:cBhvr override="childStyle">
                                        <p:cTn dur="1" fill="hold" display="0" masterRel="nextClick" afterEffect="1"/>
                                        <p:tgtEl>
                                          <p:spTgt spid="250049"/>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250040"/>
                                        </p:tgtEl>
                                        <p:attrNameLst>
                                          <p:attrName>style.visibility</p:attrName>
                                        </p:attrNameLst>
                                      </p:cBhvr>
                                      <p:to>
                                        <p:strVal val="visible"/>
                                      </p:to>
                                    </p:set>
                                  </p:childTnLst>
                                  <p:subTnLst>
                                    <p:set>
                                      <p:cBhvr override="childStyle">
                                        <p:cTn dur="1" fill="hold" display="0" masterRel="nextClick" afterEffect="1"/>
                                        <p:tgtEl>
                                          <p:spTgt spid="250040"/>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250064"/>
                                        </p:tgtEl>
                                        <p:attrNameLst>
                                          <p:attrName>style.visibility</p:attrName>
                                        </p:attrNameLst>
                                      </p:cBhvr>
                                      <p:to>
                                        <p:strVal val="visible"/>
                                      </p:to>
                                    </p:set>
                                  </p:childTnLst>
                                  <p:subTnLst>
                                    <p:set>
                                      <p:cBhvr override="childStyle">
                                        <p:cTn dur="1" fill="hold" display="0" masterRel="nextClick" afterEffect="1"/>
                                        <p:tgtEl>
                                          <p:spTgt spid="250064"/>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0051"/>
                                        </p:tgtEl>
                                        <p:attrNameLst>
                                          <p:attrName>style.visibility</p:attrName>
                                        </p:attrNameLst>
                                      </p:cBhvr>
                                      <p:to>
                                        <p:strVal val="visible"/>
                                      </p:to>
                                    </p:set>
                                  </p:childTnLst>
                                  <p:subTnLst>
                                    <p:set>
                                      <p:cBhvr override="childStyle">
                                        <p:cTn dur="1" fill="hold" display="0" masterRel="nextClick" afterEffect="1"/>
                                        <p:tgtEl>
                                          <p:spTgt spid="250051"/>
                                        </p:tgtEl>
                                        <p:attrNameLst>
                                          <p:attrName>style.visibility</p:attrName>
                                        </p:attrNameLst>
                                      </p:cBhvr>
                                      <p:to>
                                        <p:strVal val="hidden"/>
                                      </p:to>
                                    </p:set>
                                  </p:subTnLst>
                                </p:cTn>
                              </p:par>
                              <p:par>
                                <p:cTn id="27" presetID="1" presetClass="entr" presetSubtype="0" fill="hold" grpId="0" nodeType="withEffect">
                                  <p:stCondLst>
                                    <p:cond delay="0"/>
                                  </p:stCondLst>
                                  <p:childTnLst>
                                    <p:set>
                                      <p:cBhvr>
                                        <p:cTn id="28" dur="1" fill="hold">
                                          <p:stCondLst>
                                            <p:cond delay="0"/>
                                          </p:stCondLst>
                                        </p:cTn>
                                        <p:tgtEl>
                                          <p:spTgt spid="250046"/>
                                        </p:tgtEl>
                                        <p:attrNameLst>
                                          <p:attrName>style.visibility</p:attrName>
                                        </p:attrNameLst>
                                      </p:cBhvr>
                                      <p:to>
                                        <p:strVal val="visible"/>
                                      </p:to>
                                    </p:set>
                                  </p:childTnLst>
                                  <p:subTnLst>
                                    <p:set>
                                      <p:cBhvr override="childStyle">
                                        <p:cTn dur="1" fill="hold" display="0" masterRel="nextClick" afterEffect="1"/>
                                        <p:tgtEl>
                                          <p:spTgt spid="250046"/>
                                        </p:tgtEl>
                                        <p:attrNameLst>
                                          <p:attrName>style.visibility</p:attrName>
                                        </p:attrNameLst>
                                      </p:cBhvr>
                                      <p:to>
                                        <p:strVal val="hidden"/>
                                      </p:to>
                                    </p:set>
                                  </p:subTnLst>
                                </p:cTn>
                              </p:par>
                              <p:par>
                                <p:cTn id="29" presetID="1" presetClass="entr" presetSubtype="0" fill="hold" grpId="0" nodeType="withEffect">
                                  <p:stCondLst>
                                    <p:cond delay="0"/>
                                  </p:stCondLst>
                                  <p:childTnLst>
                                    <p:set>
                                      <p:cBhvr>
                                        <p:cTn id="30" dur="1" fill="hold">
                                          <p:stCondLst>
                                            <p:cond delay="0"/>
                                          </p:stCondLst>
                                        </p:cTn>
                                        <p:tgtEl>
                                          <p:spTgt spid="250037"/>
                                        </p:tgtEl>
                                        <p:attrNameLst>
                                          <p:attrName>style.visibility</p:attrName>
                                        </p:attrNameLst>
                                      </p:cBhvr>
                                      <p:to>
                                        <p:strVal val="visible"/>
                                      </p:to>
                                    </p:set>
                                  </p:childTnLst>
                                  <p:subTnLst>
                                    <p:set>
                                      <p:cBhvr override="childStyle">
                                        <p:cTn dur="1" fill="hold" display="0" masterRel="nextClick" afterEffect="1"/>
                                        <p:tgtEl>
                                          <p:spTgt spid="250037"/>
                                        </p:tgtEl>
                                        <p:attrNameLst>
                                          <p:attrName>style.visibility</p:attrName>
                                        </p:attrNameLst>
                                      </p:cBhvr>
                                      <p:to>
                                        <p:strVal val="hidden"/>
                                      </p:to>
                                    </p:set>
                                  </p:subTnLst>
                                </p:cTn>
                              </p:par>
                              <p:par>
                                <p:cTn id="31" presetID="1" presetClass="entr" presetSubtype="0" fill="hold" grpId="0" nodeType="withEffect">
                                  <p:stCondLst>
                                    <p:cond delay="0"/>
                                  </p:stCondLst>
                                  <p:childTnLst>
                                    <p:set>
                                      <p:cBhvr>
                                        <p:cTn id="32" dur="1" fill="hold">
                                          <p:stCondLst>
                                            <p:cond delay="0"/>
                                          </p:stCondLst>
                                        </p:cTn>
                                        <p:tgtEl>
                                          <p:spTgt spid="250065"/>
                                        </p:tgtEl>
                                        <p:attrNameLst>
                                          <p:attrName>style.visibility</p:attrName>
                                        </p:attrNameLst>
                                      </p:cBhvr>
                                      <p:to>
                                        <p:strVal val="visible"/>
                                      </p:to>
                                    </p:set>
                                  </p:childTnLst>
                                  <p:subTnLst>
                                    <p:set>
                                      <p:cBhvr override="childStyle">
                                        <p:cTn dur="1" fill="hold" display="0" masterRel="nextClick" afterEffect="1"/>
                                        <p:tgtEl>
                                          <p:spTgt spid="250065"/>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00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00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00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0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051" grpId="0"/>
      <p:bldP spid="250036" grpId="0"/>
      <p:bldP spid="250037" grpId="0"/>
      <p:bldP spid="250038" grpId="0"/>
      <p:bldP spid="250040" grpId="0"/>
      <p:bldP spid="250044" grpId="0"/>
      <p:bldP spid="250045" grpId="0"/>
      <p:bldP spid="250046" grpId="0"/>
      <p:bldP spid="250047" grpId="0"/>
      <p:bldP spid="250048" grpId="0"/>
      <p:bldP spid="250049" grpId="0"/>
      <p:bldP spid="250050" grpId="0"/>
      <p:bldP spid="250052" grpId="0"/>
      <p:bldP spid="250064" grpId="0"/>
      <p:bldP spid="250065" grpId="0"/>
      <p:bldP spid="25006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pPr eaLnBrk="1" hangingPunct="1"/>
            <a:r>
              <a:rPr lang="zh-CN" altLang="en-US"/>
              <a:t>环形脉冲发生器与译码逻辑（</a:t>
            </a:r>
            <a:r>
              <a:rPr lang="en-US" altLang="zh-CN"/>
              <a:t>4</a:t>
            </a:r>
            <a:r>
              <a:rPr lang="zh-CN" altLang="en-US"/>
              <a:t>）</a:t>
            </a:r>
            <a:endParaRPr lang="zh-CN" altLang="en-US"/>
          </a:p>
        </p:txBody>
      </p:sp>
      <p:sp>
        <p:nvSpPr>
          <p:cNvPr id="75779" name="Rectangle 4"/>
          <p:cNvSpPr>
            <a:spLocks noChangeArrowheads="1"/>
          </p:cNvSpPr>
          <p:nvPr/>
        </p:nvSpPr>
        <p:spPr bwMode="auto">
          <a:xfrm>
            <a:off x="20621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80" name="Text Box 5"/>
          <p:cNvSpPr txBox="1">
            <a:spLocks noChangeArrowheads="1"/>
          </p:cNvSpPr>
          <p:nvPr/>
        </p:nvSpPr>
        <p:spPr bwMode="auto">
          <a:xfrm>
            <a:off x="20986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1" name="Text Box 6"/>
          <p:cNvSpPr txBox="1">
            <a:spLocks noChangeArrowheads="1"/>
          </p:cNvSpPr>
          <p:nvPr/>
        </p:nvSpPr>
        <p:spPr bwMode="auto">
          <a:xfrm>
            <a:off x="29559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2" name="Line 7"/>
          <p:cNvSpPr>
            <a:spLocks noChangeShapeType="1"/>
          </p:cNvSpPr>
          <p:nvPr/>
        </p:nvSpPr>
        <p:spPr bwMode="auto">
          <a:xfrm>
            <a:off x="30337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783" name="Text Box 8"/>
          <p:cNvSpPr txBox="1">
            <a:spLocks noChangeArrowheads="1"/>
          </p:cNvSpPr>
          <p:nvPr/>
        </p:nvSpPr>
        <p:spPr bwMode="auto">
          <a:xfrm>
            <a:off x="21129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4" name="Text Box 9"/>
          <p:cNvSpPr txBox="1">
            <a:spLocks noChangeArrowheads="1"/>
          </p:cNvSpPr>
          <p:nvPr/>
        </p:nvSpPr>
        <p:spPr bwMode="auto">
          <a:xfrm>
            <a:off x="24844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5" name="Text Box 10"/>
          <p:cNvSpPr txBox="1">
            <a:spLocks noChangeArrowheads="1"/>
          </p:cNvSpPr>
          <p:nvPr/>
        </p:nvSpPr>
        <p:spPr bwMode="auto">
          <a:xfrm>
            <a:off x="29273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6" name="Oval 11"/>
          <p:cNvSpPr>
            <a:spLocks noChangeArrowheads="1"/>
          </p:cNvSpPr>
          <p:nvPr/>
        </p:nvSpPr>
        <p:spPr bwMode="auto">
          <a:xfrm>
            <a:off x="33337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87" name="Rectangle 12"/>
          <p:cNvSpPr>
            <a:spLocks noChangeArrowheads="1"/>
          </p:cNvSpPr>
          <p:nvPr/>
        </p:nvSpPr>
        <p:spPr bwMode="auto">
          <a:xfrm>
            <a:off x="4233863" y="27749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88" name="Text Box 13"/>
          <p:cNvSpPr txBox="1">
            <a:spLocks noChangeArrowheads="1"/>
          </p:cNvSpPr>
          <p:nvPr/>
        </p:nvSpPr>
        <p:spPr bwMode="auto">
          <a:xfrm>
            <a:off x="427037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89" name="Text Box 14"/>
          <p:cNvSpPr txBox="1">
            <a:spLocks noChangeArrowheads="1"/>
          </p:cNvSpPr>
          <p:nvPr/>
        </p:nvSpPr>
        <p:spPr bwMode="auto">
          <a:xfrm>
            <a:off x="5127625" y="27336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0" name="Line 15"/>
          <p:cNvSpPr>
            <a:spLocks noChangeShapeType="1"/>
          </p:cNvSpPr>
          <p:nvPr/>
        </p:nvSpPr>
        <p:spPr bwMode="auto">
          <a:xfrm>
            <a:off x="5205413" y="28178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791" name="Text Box 16"/>
          <p:cNvSpPr txBox="1">
            <a:spLocks noChangeArrowheads="1"/>
          </p:cNvSpPr>
          <p:nvPr/>
        </p:nvSpPr>
        <p:spPr bwMode="auto">
          <a:xfrm>
            <a:off x="4284663" y="32194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2" name="Text Box 17"/>
          <p:cNvSpPr txBox="1">
            <a:spLocks noChangeArrowheads="1"/>
          </p:cNvSpPr>
          <p:nvPr/>
        </p:nvSpPr>
        <p:spPr bwMode="auto">
          <a:xfrm>
            <a:off x="4656138" y="30051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3" name="Text Box 18"/>
          <p:cNvSpPr txBox="1">
            <a:spLocks noChangeArrowheads="1"/>
          </p:cNvSpPr>
          <p:nvPr/>
        </p:nvSpPr>
        <p:spPr bwMode="auto">
          <a:xfrm>
            <a:off x="5099050" y="33528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4" name="Oval 19"/>
          <p:cNvSpPr>
            <a:spLocks noChangeArrowheads="1"/>
          </p:cNvSpPr>
          <p:nvPr/>
        </p:nvSpPr>
        <p:spPr bwMode="auto">
          <a:xfrm>
            <a:off x="5505450" y="31464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95" name="Rectangle 20"/>
          <p:cNvSpPr>
            <a:spLocks noChangeArrowheads="1"/>
          </p:cNvSpPr>
          <p:nvPr/>
        </p:nvSpPr>
        <p:spPr bwMode="auto">
          <a:xfrm>
            <a:off x="6305550" y="27749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796" name="Text Box 21"/>
          <p:cNvSpPr txBox="1">
            <a:spLocks noChangeArrowheads="1"/>
          </p:cNvSpPr>
          <p:nvPr/>
        </p:nvSpPr>
        <p:spPr bwMode="auto">
          <a:xfrm>
            <a:off x="634206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7" name="Text Box 22"/>
          <p:cNvSpPr txBox="1">
            <a:spLocks noChangeArrowheads="1"/>
          </p:cNvSpPr>
          <p:nvPr/>
        </p:nvSpPr>
        <p:spPr bwMode="auto">
          <a:xfrm>
            <a:off x="7199313" y="27336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798" name="Line 23"/>
          <p:cNvSpPr>
            <a:spLocks noChangeShapeType="1"/>
          </p:cNvSpPr>
          <p:nvPr/>
        </p:nvSpPr>
        <p:spPr bwMode="auto">
          <a:xfrm>
            <a:off x="7277100" y="28178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799" name="Text Box 24"/>
          <p:cNvSpPr txBox="1">
            <a:spLocks noChangeArrowheads="1"/>
          </p:cNvSpPr>
          <p:nvPr/>
        </p:nvSpPr>
        <p:spPr bwMode="auto">
          <a:xfrm>
            <a:off x="6356350" y="32194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0" name="Text Box 25"/>
          <p:cNvSpPr txBox="1">
            <a:spLocks noChangeArrowheads="1"/>
          </p:cNvSpPr>
          <p:nvPr/>
        </p:nvSpPr>
        <p:spPr bwMode="auto">
          <a:xfrm>
            <a:off x="6727825" y="30051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1" name="Text Box 26"/>
          <p:cNvSpPr txBox="1">
            <a:spLocks noChangeArrowheads="1"/>
          </p:cNvSpPr>
          <p:nvPr/>
        </p:nvSpPr>
        <p:spPr bwMode="auto">
          <a:xfrm>
            <a:off x="7170738" y="3352800"/>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2" name="Oval 27"/>
          <p:cNvSpPr>
            <a:spLocks noChangeArrowheads="1"/>
          </p:cNvSpPr>
          <p:nvPr/>
        </p:nvSpPr>
        <p:spPr bwMode="auto">
          <a:xfrm>
            <a:off x="7577138" y="3146425"/>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803" name="Line 28"/>
          <p:cNvSpPr>
            <a:spLocks noChangeShapeType="1"/>
          </p:cNvSpPr>
          <p:nvPr/>
        </p:nvSpPr>
        <p:spPr bwMode="auto">
          <a:xfrm>
            <a:off x="3433763"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04" name="Rectangle 29"/>
          <p:cNvSpPr>
            <a:spLocks noChangeArrowheads="1"/>
          </p:cNvSpPr>
          <p:nvPr/>
        </p:nvSpPr>
        <p:spPr bwMode="auto">
          <a:xfrm>
            <a:off x="1876425" y="4789488"/>
            <a:ext cx="1271588"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805" name="Text Box 30"/>
          <p:cNvSpPr txBox="1">
            <a:spLocks noChangeArrowheads="1"/>
          </p:cNvSpPr>
          <p:nvPr/>
        </p:nvSpPr>
        <p:spPr bwMode="auto">
          <a:xfrm>
            <a:off x="191293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6" name="Text Box 31"/>
          <p:cNvSpPr txBox="1">
            <a:spLocks noChangeArrowheads="1"/>
          </p:cNvSpPr>
          <p:nvPr/>
        </p:nvSpPr>
        <p:spPr bwMode="auto">
          <a:xfrm>
            <a:off x="2770188" y="47482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7" name="Line 32"/>
          <p:cNvSpPr>
            <a:spLocks noChangeShapeType="1"/>
          </p:cNvSpPr>
          <p:nvPr/>
        </p:nvSpPr>
        <p:spPr bwMode="auto">
          <a:xfrm>
            <a:off x="2847975" y="4832350"/>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08" name="Text Box 33"/>
          <p:cNvSpPr txBox="1">
            <a:spLocks noChangeArrowheads="1"/>
          </p:cNvSpPr>
          <p:nvPr/>
        </p:nvSpPr>
        <p:spPr bwMode="auto">
          <a:xfrm>
            <a:off x="1927225" y="5233988"/>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09" name="Text Box 34"/>
          <p:cNvSpPr txBox="1">
            <a:spLocks noChangeArrowheads="1"/>
          </p:cNvSpPr>
          <p:nvPr/>
        </p:nvSpPr>
        <p:spPr bwMode="auto">
          <a:xfrm>
            <a:off x="2298700" y="5019675"/>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10" name="Text Box 35"/>
          <p:cNvSpPr txBox="1">
            <a:spLocks noChangeArrowheads="1"/>
          </p:cNvSpPr>
          <p:nvPr/>
        </p:nvSpPr>
        <p:spPr bwMode="auto">
          <a:xfrm>
            <a:off x="2741613" y="53768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11" name="Oval 36"/>
          <p:cNvSpPr>
            <a:spLocks noChangeArrowheads="1"/>
          </p:cNvSpPr>
          <p:nvPr/>
        </p:nvSpPr>
        <p:spPr bwMode="auto">
          <a:xfrm>
            <a:off x="1790700" y="5160963"/>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812" name="AutoShape 37"/>
          <p:cNvSpPr>
            <a:spLocks noChangeArrowheads="1"/>
          </p:cNvSpPr>
          <p:nvPr/>
        </p:nvSpPr>
        <p:spPr bwMode="auto">
          <a:xfrm rot="-5400000">
            <a:off x="3443288" y="42227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5813" name="AutoShape 38"/>
          <p:cNvSpPr>
            <a:spLocks noChangeArrowheads="1"/>
          </p:cNvSpPr>
          <p:nvPr/>
        </p:nvSpPr>
        <p:spPr bwMode="auto">
          <a:xfrm rot="-5400000">
            <a:off x="2214563" y="4217988"/>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5814" name="AutoShape 39"/>
          <p:cNvSpPr>
            <a:spLocks noChangeArrowheads="1"/>
          </p:cNvSpPr>
          <p:nvPr/>
        </p:nvSpPr>
        <p:spPr bwMode="auto">
          <a:xfrm rot="-5400000">
            <a:off x="3757613" y="1808163"/>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3992" name="AutoShape 40"/>
          <p:cNvSpPr>
            <a:spLocks noChangeArrowheads="1"/>
          </p:cNvSpPr>
          <p:nvPr/>
        </p:nvSpPr>
        <p:spPr bwMode="auto">
          <a:xfrm rot="-5400000">
            <a:off x="4386263"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3" name="AutoShape 41"/>
          <p:cNvSpPr>
            <a:spLocks noChangeArrowheads="1"/>
          </p:cNvSpPr>
          <p:nvPr/>
        </p:nvSpPr>
        <p:spPr bwMode="auto">
          <a:xfrm rot="-5400000">
            <a:off x="5915025" y="18034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4" name="AutoShape 42"/>
          <p:cNvSpPr>
            <a:spLocks noChangeArrowheads="1"/>
          </p:cNvSpPr>
          <p:nvPr/>
        </p:nvSpPr>
        <p:spPr bwMode="auto">
          <a:xfrm rot="-5400000">
            <a:off x="784383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5" name="Oval 43"/>
          <p:cNvSpPr>
            <a:spLocks noChangeArrowheads="1"/>
          </p:cNvSpPr>
          <p:nvPr/>
        </p:nvSpPr>
        <p:spPr bwMode="auto">
          <a:xfrm>
            <a:off x="2324100" y="41370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3996" name="Oval 44"/>
          <p:cNvSpPr>
            <a:spLocks noChangeArrowheads="1"/>
          </p:cNvSpPr>
          <p:nvPr/>
        </p:nvSpPr>
        <p:spPr bwMode="auto">
          <a:xfrm>
            <a:off x="3552825" y="41417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3997" name="AutoShape 45"/>
          <p:cNvSpPr>
            <a:spLocks noChangeArrowheads="1"/>
          </p:cNvSpPr>
          <p:nvPr/>
        </p:nvSpPr>
        <p:spPr bwMode="auto">
          <a:xfrm rot="-5400000">
            <a:off x="2952750" y="18129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998" name="Oval 46"/>
          <p:cNvSpPr>
            <a:spLocks noChangeArrowheads="1"/>
          </p:cNvSpPr>
          <p:nvPr/>
        </p:nvSpPr>
        <p:spPr bwMode="auto">
          <a:xfrm>
            <a:off x="3062288" y="17319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3999" name="AutoShape 47"/>
          <p:cNvSpPr>
            <a:spLocks noChangeArrowheads="1"/>
          </p:cNvSpPr>
          <p:nvPr/>
        </p:nvSpPr>
        <p:spPr bwMode="auto">
          <a:xfrm rot="-5400000">
            <a:off x="7253288" y="18081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4000" name="Oval 48"/>
          <p:cNvSpPr>
            <a:spLocks noChangeArrowheads="1"/>
          </p:cNvSpPr>
          <p:nvPr/>
        </p:nvSpPr>
        <p:spPr bwMode="auto">
          <a:xfrm>
            <a:off x="7362825" y="17272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5824" name="Line 49"/>
          <p:cNvSpPr>
            <a:spLocks noChangeShapeType="1"/>
          </p:cNvSpPr>
          <p:nvPr/>
        </p:nvSpPr>
        <p:spPr bwMode="auto">
          <a:xfrm>
            <a:off x="1604963" y="5203825"/>
            <a:ext cx="1857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5" name="Text Box 50"/>
          <p:cNvSpPr txBox="1">
            <a:spLocks noChangeArrowheads="1"/>
          </p:cNvSpPr>
          <p:nvPr/>
        </p:nvSpPr>
        <p:spPr bwMode="auto">
          <a:xfrm>
            <a:off x="1827213" y="497681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5826" name="Line 51"/>
          <p:cNvSpPr>
            <a:spLocks noChangeShapeType="1"/>
          </p:cNvSpPr>
          <p:nvPr/>
        </p:nvSpPr>
        <p:spPr bwMode="auto">
          <a:xfrm>
            <a:off x="1162050" y="4608513"/>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7" name="Line 52"/>
          <p:cNvSpPr>
            <a:spLocks noChangeShapeType="1"/>
          </p:cNvSpPr>
          <p:nvPr/>
        </p:nvSpPr>
        <p:spPr bwMode="auto">
          <a:xfrm>
            <a:off x="1152525" y="5765800"/>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8" name="Line 53"/>
          <p:cNvSpPr>
            <a:spLocks noChangeShapeType="1"/>
          </p:cNvSpPr>
          <p:nvPr/>
        </p:nvSpPr>
        <p:spPr bwMode="auto">
          <a:xfrm>
            <a:off x="2105025" y="5575300"/>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29" name="Line 54"/>
          <p:cNvSpPr>
            <a:spLocks noChangeShapeType="1"/>
          </p:cNvSpPr>
          <p:nvPr/>
        </p:nvSpPr>
        <p:spPr bwMode="auto">
          <a:xfrm>
            <a:off x="2105025" y="5946775"/>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0" name="Line 55"/>
          <p:cNvSpPr>
            <a:spLocks noChangeShapeType="1"/>
          </p:cNvSpPr>
          <p:nvPr/>
        </p:nvSpPr>
        <p:spPr bwMode="auto">
          <a:xfrm>
            <a:off x="2938463" y="55753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08" name="Oval 56"/>
          <p:cNvSpPr>
            <a:spLocks noChangeArrowheads="1"/>
          </p:cNvSpPr>
          <p:nvPr/>
        </p:nvSpPr>
        <p:spPr bwMode="auto">
          <a:xfrm>
            <a:off x="2905125" y="57277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32" name="Line 57"/>
          <p:cNvSpPr>
            <a:spLocks noChangeShapeType="1"/>
          </p:cNvSpPr>
          <p:nvPr/>
        </p:nvSpPr>
        <p:spPr bwMode="auto">
          <a:xfrm>
            <a:off x="1157288" y="4613275"/>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3" name="Line 58"/>
          <p:cNvSpPr>
            <a:spLocks noChangeShapeType="1"/>
          </p:cNvSpPr>
          <p:nvPr/>
        </p:nvSpPr>
        <p:spPr bwMode="auto">
          <a:xfrm flipV="1">
            <a:off x="2271713" y="44989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4" name="Line 59"/>
          <p:cNvSpPr>
            <a:spLocks noChangeShapeType="1"/>
          </p:cNvSpPr>
          <p:nvPr/>
        </p:nvSpPr>
        <p:spPr bwMode="auto">
          <a:xfrm flipV="1">
            <a:off x="2100263" y="467042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5" name="Line 60"/>
          <p:cNvSpPr>
            <a:spLocks noChangeShapeType="1"/>
          </p:cNvSpPr>
          <p:nvPr/>
        </p:nvSpPr>
        <p:spPr bwMode="auto">
          <a:xfrm>
            <a:off x="2100263" y="4679950"/>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6" name="Line 61"/>
          <p:cNvSpPr>
            <a:spLocks noChangeShapeType="1"/>
          </p:cNvSpPr>
          <p:nvPr/>
        </p:nvSpPr>
        <p:spPr bwMode="auto">
          <a:xfrm>
            <a:off x="2424113" y="449897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7" name="Line 62"/>
          <p:cNvSpPr>
            <a:spLocks noChangeShapeType="1"/>
          </p:cNvSpPr>
          <p:nvPr/>
        </p:nvSpPr>
        <p:spPr bwMode="auto">
          <a:xfrm>
            <a:off x="2414588" y="4613275"/>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8" name="Line 63"/>
          <p:cNvSpPr>
            <a:spLocks noChangeShapeType="1"/>
          </p:cNvSpPr>
          <p:nvPr/>
        </p:nvSpPr>
        <p:spPr bwMode="auto">
          <a:xfrm flipV="1">
            <a:off x="2967038" y="460375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39" name="Line 64"/>
          <p:cNvSpPr>
            <a:spLocks noChangeShapeType="1"/>
          </p:cNvSpPr>
          <p:nvPr/>
        </p:nvSpPr>
        <p:spPr bwMode="auto">
          <a:xfrm flipV="1">
            <a:off x="3500438" y="450850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0" name="Line 65"/>
          <p:cNvSpPr>
            <a:spLocks noChangeShapeType="1"/>
          </p:cNvSpPr>
          <p:nvPr/>
        </p:nvSpPr>
        <p:spPr bwMode="auto">
          <a:xfrm>
            <a:off x="3671888" y="4508500"/>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1" name="Line 66"/>
          <p:cNvSpPr>
            <a:spLocks noChangeShapeType="1"/>
          </p:cNvSpPr>
          <p:nvPr/>
        </p:nvSpPr>
        <p:spPr bwMode="auto">
          <a:xfrm>
            <a:off x="3667125" y="4679950"/>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2" name="AutoShape 67"/>
          <p:cNvSpPr>
            <a:spLocks noChangeArrowheads="1"/>
          </p:cNvSpPr>
          <p:nvPr/>
        </p:nvSpPr>
        <p:spPr bwMode="auto">
          <a:xfrm rot="-5400000" flipH="1" flipV="1">
            <a:off x="4905375" y="5132388"/>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4020" name="Oval 68"/>
          <p:cNvSpPr>
            <a:spLocks noChangeArrowheads="1"/>
          </p:cNvSpPr>
          <p:nvPr/>
        </p:nvSpPr>
        <p:spPr bwMode="auto">
          <a:xfrm>
            <a:off x="4867275" y="52228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5844" name="Line 69"/>
          <p:cNvSpPr>
            <a:spLocks noChangeShapeType="1"/>
          </p:cNvSpPr>
          <p:nvPr/>
        </p:nvSpPr>
        <p:spPr bwMode="auto">
          <a:xfrm flipH="1">
            <a:off x="4529138" y="5260975"/>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5" name="Line 70"/>
          <p:cNvSpPr>
            <a:spLocks noChangeShapeType="1"/>
          </p:cNvSpPr>
          <p:nvPr/>
        </p:nvSpPr>
        <p:spPr bwMode="auto">
          <a:xfrm>
            <a:off x="4538663" y="5260975"/>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6" name="Rectangle 71"/>
          <p:cNvSpPr>
            <a:spLocks noChangeArrowheads="1"/>
          </p:cNvSpPr>
          <p:nvPr/>
        </p:nvSpPr>
        <p:spPr bwMode="auto">
          <a:xfrm>
            <a:off x="5681663" y="4946650"/>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a:t>
            </a:r>
            <a:endParaRPr kumimoji="0" lang="zh-CN" altLang="en-US" sz="2400">
              <a:solidFill>
                <a:schemeClr val="bg1"/>
              </a:solidFill>
              <a:latin typeface="Tahoma" panose="020B0604030504040204" pitchFamily="34" charset="0"/>
            </a:endParaRPr>
          </a:p>
        </p:txBody>
      </p:sp>
      <p:sp>
        <p:nvSpPr>
          <p:cNvPr id="75847" name="Line 72"/>
          <p:cNvSpPr>
            <a:spLocks noChangeShapeType="1"/>
          </p:cNvSpPr>
          <p:nvPr/>
        </p:nvSpPr>
        <p:spPr bwMode="auto">
          <a:xfrm>
            <a:off x="5186363" y="5260975"/>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48" name="Line 73"/>
          <p:cNvSpPr>
            <a:spLocks noChangeShapeType="1"/>
          </p:cNvSpPr>
          <p:nvPr/>
        </p:nvSpPr>
        <p:spPr bwMode="auto">
          <a:xfrm>
            <a:off x="5405438" y="4670425"/>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26" name="Oval 74"/>
          <p:cNvSpPr>
            <a:spLocks noChangeArrowheads="1"/>
          </p:cNvSpPr>
          <p:nvPr/>
        </p:nvSpPr>
        <p:spPr bwMode="auto">
          <a:xfrm>
            <a:off x="5362575" y="52228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50" name="Line 75"/>
          <p:cNvSpPr>
            <a:spLocks noChangeShapeType="1"/>
          </p:cNvSpPr>
          <p:nvPr/>
        </p:nvSpPr>
        <p:spPr bwMode="auto">
          <a:xfrm flipV="1">
            <a:off x="2366963" y="402272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1" name="Line 76"/>
          <p:cNvSpPr>
            <a:spLocks noChangeShapeType="1"/>
          </p:cNvSpPr>
          <p:nvPr/>
        </p:nvSpPr>
        <p:spPr bwMode="auto">
          <a:xfrm>
            <a:off x="2357438" y="4022725"/>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2" name="Line 77"/>
          <p:cNvSpPr>
            <a:spLocks noChangeShapeType="1"/>
          </p:cNvSpPr>
          <p:nvPr/>
        </p:nvSpPr>
        <p:spPr bwMode="auto">
          <a:xfrm flipV="1">
            <a:off x="3128963" y="356552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3" name="Line 78"/>
          <p:cNvSpPr>
            <a:spLocks noChangeShapeType="1"/>
          </p:cNvSpPr>
          <p:nvPr/>
        </p:nvSpPr>
        <p:spPr bwMode="auto">
          <a:xfrm flipV="1">
            <a:off x="3595688" y="3175000"/>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4" name="Line 79"/>
          <p:cNvSpPr>
            <a:spLocks noChangeShapeType="1"/>
          </p:cNvSpPr>
          <p:nvPr/>
        </p:nvSpPr>
        <p:spPr bwMode="auto">
          <a:xfrm flipV="1">
            <a:off x="2290763"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5" name="Line 80"/>
          <p:cNvSpPr>
            <a:spLocks noChangeShapeType="1"/>
          </p:cNvSpPr>
          <p:nvPr/>
        </p:nvSpPr>
        <p:spPr bwMode="auto">
          <a:xfrm>
            <a:off x="228123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6" name="Line 81"/>
          <p:cNvSpPr>
            <a:spLocks noChangeShapeType="1"/>
          </p:cNvSpPr>
          <p:nvPr/>
        </p:nvSpPr>
        <p:spPr bwMode="auto">
          <a:xfrm flipV="1">
            <a:off x="3824288"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7" name="Line 82"/>
          <p:cNvSpPr>
            <a:spLocks noChangeShapeType="1"/>
          </p:cNvSpPr>
          <p:nvPr/>
        </p:nvSpPr>
        <p:spPr bwMode="auto">
          <a:xfrm>
            <a:off x="3814763" y="3660775"/>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8" name="Line 83"/>
          <p:cNvSpPr>
            <a:spLocks noChangeShapeType="1"/>
          </p:cNvSpPr>
          <p:nvPr/>
        </p:nvSpPr>
        <p:spPr bwMode="auto">
          <a:xfrm flipV="1">
            <a:off x="447198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59" name="Line 84"/>
          <p:cNvSpPr>
            <a:spLocks noChangeShapeType="1"/>
          </p:cNvSpPr>
          <p:nvPr/>
        </p:nvSpPr>
        <p:spPr bwMode="auto">
          <a:xfrm>
            <a:off x="3586163" y="3822700"/>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37" name="Oval 85"/>
          <p:cNvSpPr>
            <a:spLocks noChangeArrowheads="1"/>
          </p:cNvSpPr>
          <p:nvPr/>
        </p:nvSpPr>
        <p:spPr bwMode="auto">
          <a:xfrm>
            <a:off x="3562350" y="37846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61" name="Line 86"/>
          <p:cNvSpPr>
            <a:spLocks noChangeShapeType="1"/>
          </p:cNvSpPr>
          <p:nvPr/>
        </p:nvSpPr>
        <p:spPr bwMode="auto">
          <a:xfrm flipV="1">
            <a:off x="7367588"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62" name="Line 87"/>
          <p:cNvSpPr>
            <a:spLocks noChangeShapeType="1"/>
          </p:cNvSpPr>
          <p:nvPr/>
        </p:nvSpPr>
        <p:spPr bwMode="auto">
          <a:xfrm flipV="1">
            <a:off x="5300663" y="35560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40" name="Oval 88"/>
          <p:cNvSpPr>
            <a:spLocks noChangeArrowheads="1"/>
          </p:cNvSpPr>
          <p:nvPr/>
        </p:nvSpPr>
        <p:spPr bwMode="auto">
          <a:xfrm>
            <a:off x="3086100" y="39751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4041" name="Oval 89"/>
          <p:cNvSpPr>
            <a:spLocks noChangeArrowheads="1"/>
          </p:cNvSpPr>
          <p:nvPr/>
        </p:nvSpPr>
        <p:spPr bwMode="auto">
          <a:xfrm>
            <a:off x="5267325" y="39846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65" name="Line 90"/>
          <p:cNvSpPr>
            <a:spLocks noChangeShapeType="1"/>
          </p:cNvSpPr>
          <p:nvPr/>
        </p:nvSpPr>
        <p:spPr bwMode="auto">
          <a:xfrm>
            <a:off x="5614988" y="319881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66" name="Line 91"/>
          <p:cNvSpPr>
            <a:spLocks noChangeShapeType="1"/>
          </p:cNvSpPr>
          <p:nvPr/>
        </p:nvSpPr>
        <p:spPr bwMode="auto">
          <a:xfrm flipV="1">
            <a:off x="5776913" y="3184525"/>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44" name="Oval 92"/>
          <p:cNvSpPr>
            <a:spLocks noChangeArrowheads="1"/>
          </p:cNvSpPr>
          <p:nvPr/>
        </p:nvSpPr>
        <p:spPr bwMode="auto">
          <a:xfrm>
            <a:off x="5743575" y="37941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68" name="Line 93"/>
          <p:cNvSpPr>
            <a:spLocks noChangeShapeType="1"/>
          </p:cNvSpPr>
          <p:nvPr/>
        </p:nvSpPr>
        <p:spPr bwMode="auto">
          <a:xfrm>
            <a:off x="7672388" y="31892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69" name="Line 94"/>
          <p:cNvSpPr>
            <a:spLocks noChangeShapeType="1"/>
          </p:cNvSpPr>
          <p:nvPr/>
        </p:nvSpPr>
        <p:spPr bwMode="auto">
          <a:xfrm flipV="1">
            <a:off x="7834313" y="3175000"/>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0" name="Line 95"/>
          <p:cNvSpPr>
            <a:spLocks noChangeShapeType="1"/>
          </p:cNvSpPr>
          <p:nvPr/>
        </p:nvSpPr>
        <p:spPr bwMode="auto">
          <a:xfrm flipV="1">
            <a:off x="4452938" y="20891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1" name="Line 96"/>
          <p:cNvSpPr>
            <a:spLocks noChangeShapeType="1"/>
          </p:cNvSpPr>
          <p:nvPr/>
        </p:nvSpPr>
        <p:spPr bwMode="auto">
          <a:xfrm>
            <a:off x="4443413"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2" name="Line 97"/>
          <p:cNvSpPr>
            <a:spLocks noChangeShapeType="1"/>
          </p:cNvSpPr>
          <p:nvPr/>
        </p:nvSpPr>
        <p:spPr bwMode="auto">
          <a:xfrm flipV="1">
            <a:off x="5986463" y="20891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3" name="Line 98"/>
          <p:cNvSpPr>
            <a:spLocks noChangeShapeType="1"/>
          </p:cNvSpPr>
          <p:nvPr/>
        </p:nvSpPr>
        <p:spPr bwMode="auto">
          <a:xfrm>
            <a:off x="5976938" y="3660775"/>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4" name="Line 99"/>
          <p:cNvSpPr>
            <a:spLocks noChangeShapeType="1"/>
          </p:cNvSpPr>
          <p:nvPr/>
        </p:nvSpPr>
        <p:spPr bwMode="auto">
          <a:xfrm flipV="1">
            <a:off x="6548438" y="35560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5" name="Line 100"/>
          <p:cNvSpPr>
            <a:spLocks noChangeShapeType="1"/>
          </p:cNvSpPr>
          <p:nvPr/>
        </p:nvSpPr>
        <p:spPr bwMode="auto">
          <a:xfrm flipV="1">
            <a:off x="8053388" y="2089150"/>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6" name="Line 101"/>
          <p:cNvSpPr>
            <a:spLocks noChangeShapeType="1"/>
          </p:cNvSpPr>
          <p:nvPr/>
        </p:nvSpPr>
        <p:spPr bwMode="auto">
          <a:xfrm>
            <a:off x="6491288" y="25749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7" name="Line 102"/>
          <p:cNvSpPr>
            <a:spLocks noChangeShapeType="1"/>
          </p:cNvSpPr>
          <p:nvPr/>
        </p:nvSpPr>
        <p:spPr bwMode="auto">
          <a:xfrm flipV="1">
            <a:off x="6491288" y="25654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78" name="Line 103"/>
          <p:cNvSpPr>
            <a:spLocks noChangeShapeType="1"/>
          </p:cNvSpPr>
          <p:nvPr/>
        </p:nvSpPr>
        <p:spPr bwMode="auto">
          <a:xfrm>
            <a:off x="2300288" y="35655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56" name="Oval 104"/>
          <p:cNvSpPr>
            <a:spLocks noChangeArrowheads="1"/>
          </p:cNvSpPr>
          <p:nvPr/>
        </p:nvSpPr>
        <p:spPr bwMode="auto">
          <a:xfrm>
            <a:off x="2257425" y="38036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5880" name="Text Box 105"/>
          <p:cNvSpPr txBox="1">
            <a:spLocks noChangeArrowheads="1"/>
          </p:cNvSpPr>
          <p:nvPr/>
        </p:nvSpPr>
        <p:spPr bwMode="auto">
          <a:xfrm>
            <a:off x="1555750" y="3581400"/>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5881" name="Line 106"/>
          <p:cNvSpPr>
            <a:spLocks noChangeShapeType="1"/>
          </p:cNvSpPr>
          <p:nvPr/>
        </p:nvSpPr>
        <p:spPr bwMode="auto">
          <a:xfrm flipV="1">
            <a:off x="3100388" y="2089150"/>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59" name="Oval 107"/>
          <p:cNvSpPr>
            <a:spLocks noChangeArrowheads="1"/>
          </p:cNvSpPr>
          <p:nvPr/>
        </p:nvSpPr>
        <p:spPr bwMode="auto">
          <a:xfrm>
            <a:off x="3781425"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83" name="Line 108"/>
          <p:cNvSpPr>
            <a:spLocks noChangeShapeType="1"/>
          </p:cNvSpPr>
          <p:nvPr/>
        </p:nvSpPr>
        <p:spPr bwMode="auto">
          <a:xfrm flipV="1">
            <a:off x="5319713" y="2403475"/>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84" name="Line 109"/>
          <p:cNvSpPr>
            <a:spLocks noChangeShapeType="1"/>
          </p:cNvSpPr>
          <p:nvPr/>
        </p:nvSpPr>
        <p:spPr bwMode="auto">
          <a:xfrm flipH="1">
            <a:off x="3976688" y="2403475"/>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85" name="Line 110"/>
          <p:cNvSpPr>
            <a:spLocks noChangeShapeType="1"/>
          </p:cNvSpPr>
          <p:nvPr/>
        </p:nvSpPr>
        <p:spPr bwMode="auto">
          <a:xfrm flipV="1">
            <a:off x="3976688"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4063" name="Oval 111"/>
          <p:cNvSpPr>
            <a:spLocks noChangeArrowheads="1"/>
          </p:cNvSpPr>
          <p:nvPr/>
        </p:nvSpPr>
        <p:spPr bwMode="auto">
          <a:xfrm>
            <a:off x="4419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87" name="Line 112"/>
          <p:cNvSpPr>
            <a:spLocks noChangeShapeType="1"/>
          </p:cNvSpPr>
          <p:nvPr/>
        </p:nvSpPr>
        <p:spPr bwMode="auto">
          <a:xfrm flipV="1">
            <a:off x="4595813"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88" name="Text Box 113"/>
          <p:cNvSpPr txBox="1">
            <a:spLocks noChangeArrowheads="1"/>
          </p:cNvSpPr>
          <p:nvPr/>
        </p:nvSpPr>
        <p:spPr bwMode="auto">
          <a:xfrm>
            <a:off x="4527550" y="20669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4066" name="Oval 114"/>
          <p:cNvSpPr>
            <a:spLocks noChangeArrowheads="1"/>
          </p:cNvSpPr>
          <p:nvPr/>
        </p:nvSpPr>
        <p:spPr bwMode="auto">
          <a:xfrm>
            <a:off x="3067050" y="25273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90" name="Line 115"/>
          <p:cNvSpPr>
            <a:spLocks noChangeShapeType="1"/>
          </p:cNvSpPr>
          <p:nvPr/>
        </p:nvSpPr>
        <p:spPr bwMode="auto">
          <a:xfrm flipV="1">
            <a:off x="7396163" y="209867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1" name="Line 116"/>
          <p:cNvSpPr>
            <a:spLocks noChangeShapeType="1"/>
          </p:cNvSpPr>
          <p:nvPr/>
        </p:nvSpPr>
        <p:spPr bwMode="auto">
          <a:xfrm flipH="1">
            <a:off x="6119813" y="2403475"/>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2" name="Line 117"/>
          <p:cNvSpPr>
            <a:spLocks noChangeShapeType="1"/>
          </p:cNvSpPr>
          <p:nvPr/>
        </p:nvSpPr>
        <p:spPr bwMode="auto">
          <a:xfrm flipV="1">
            <a:off x="6119813" y="20891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3" name="Line 118"/>
          <p:cNvSpPr>
            <a:spLocks noChangeShapeType="1"/>
          </p:cNvSpPr>
          <p:nvPr/>
        </p:nvSpPr>
        <p:spPr bwMode="auto">
          <a:xfrm flipV="1">
            <a:off x="7920038" y="20891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4" name="Text Box 119"/>
          <p:cNvSpPr txBox="1">
            <a:spLocks noChangeArrowheads="1"/>
          </p:cNvSpPr>
          <p:nvPr/>
        </p:nvSpPr>
        <p:spPr bwMode="auto">
          <a:xfrm>
            <a:off x="7432675" y="2162175"/>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4072" name="Oval 120"/>
          <p:cNvSpPr>
            <a:spLocks noChangeArrowheads="1"/>
          </p:cNvSpPr>
          <p:nvPr/>
        </p:nvSpPr>
        <p:spPr bwMode="auto">
          <a:xfrm>
            <a:off x="7362825" y="23653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4073" name="Oval 121"/>
          <p:cNvSpPr>
            <a:spLocks noChangeArrowheads="1"/>
          </p:cNvSpPr>
          <p:nvPr/>
        </p:nvSpPr>
        <p:spPr bwMode="auto">
          <a:xfrm>
            <a:off x="5943600" y="25368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5897" name="Line 122"/>
          <p:cNvSpPr>
            <a:spLocks noChangeShapeType="1"/>
          </p:cNvSpPr>
          <p:nvPr/>
        </p:nvSpPr>
        <p:spPr bwMode="auto">
          <a:xfrm flipV="1">
            <a:off x="31003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8" name="Line 123"/>
          <p:cNvSpPr>
            <a:spLocks noChangeShapeType="1"/>
          </p:cNvSpPr>
          <p:nvPr/>
        </p:nvSpPr>
        <p:spPr bwMode="auto">
          <a:xfrm flipV="1">
            <a:off x="390048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899" name="Line 124"/>
          <p:cNvSpPr>
            <a:spLocks noChangeShapeType="1"/>
          </p:cNvSpPr>
          <p:nvPr/>
        </p:nvSpPr>
        <p:spPr bwMode="auto">
          <a:xfrm flipV="1">
            <a:off x="4529138"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0" name="Line 125"/>
          <p:cNvSpPr>
            <a:spLocks noChangeShapeType="1"/>
          </p:cNvSpPr>
          <p:nvPr/>
        </p:nvSpPr>
        <p:spPr bwMode="auto">
          <a:xfrm flipV="1">
            <a:off x="6048375"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1" name="Line 126"/>
          <p:cNvSpPr>
            <a:spLocks noChangeShapeType="1"/>
          </p:cNvSpPr>
          <p:nvPr/>
        </p:nvSpPr>
        <p:spPr bwMode="auto">
          <a:xfrm flipV="1">
            <a:off x="7986713" y="15557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2" name="Line 127"/>
          <p:cNvSpPr>
            <a:spLocks noChangeShapeType="1"/>
          </p:cNvSpPr>
          <p:nvPr/>
        </p:nvSpPr>
        <p:spPr bwMode="auto">
          <a:xfrm flipV="1">
            <a:off x="7405688" y="15176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03" name="Text Box 129"/>
          <p:cNvSpPr txBox="1">
            <a:spLocks noChangeArrowheads="1"/>
          </p:cNvSpPr>
          <p:nvPr/>
        </p:nvSpPr>
        <p:spPr bwMode="auto">
          <a:xfrm>
            <a:off x="4484688" y="133191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5904" name="Oval 130"/>
          <p:cNvSpPr>
            <a:spLocks noChangeArrowheads="1"/>
          </p:cNvSpPr>
          <p:nvPr/>
        </p:nvSpPr>
        <p:spPr bwMode="auto">
          <a:xfrm>
            <a:off x="4976813" y="13795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05" name="Text Box 131"/>
          <p:cNvSpPr txBox="1">
            <a:spLocks noChangeArrowheads="1"/>
          </p:cNvSpPr>
          <p:nvPr/>
        </p:nvSpPr>
        <p:spPr bwMode="auto">
          <a:xfrm>
            <a:off x="7372350" y="1314450"/>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5906" name="Oval 132"/>
          <p:cNvSpPr>
            <a:spLocks noChangeArrowheads="1"/>
          </p:cNvSpPr>
          <p:nvPr/>
        </p:nvSpPr>
        <p:spPr bwMode="auto">
          <a:xfrm>
            <a:off x="7950200"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07" name="Text Box 133"/>
          <p:cNvSpPr txBox="1">
            <a:spLocks noChangeArrowheads="1"/>
          </p:cNvSpPr>
          <p:nvPr/>
        </p:nvSpPr>
        <p:spPr bwMode="auto">
          <a:xfrm>
            <a:off x="3814763" y="13144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5908" name="Oval 134"/>
          <p:cNvSpPr>
            <a:spLocks noChangeArrowheads="1"/>
          </p:cNvSpPr>
          <p:nvPr/>
        </p:nvSpPr>
        <p:spPr bwMode="auto">
          <a:xfrm>
            <a:off x="4135438" y="1362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09" name="Text Box 135"/>
          <p:cNvSpPr txBox="1">
            <a:spLocks noChangeArrowheads="1"/>
          </p:cNvSpPr>
          <p:nvPr/>
        </p:nvSpPr>
        <p:spPr bwMode="auto">
          <a:xfrm>
            <a:off x="5986463" y="13430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5910" name="Oval 136"/>
          <p:cNvSpPr>
            <a:spLocks noChangeArrowheads="1"/>
          </p:cNvSpPr>
          <p:nvPr/>
        </p:nvSpPr>
        <p:spPr bwMode="auto">
          <a:xfrm>
            <a:off x="6307138" y="13906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11" name="Text Box 137"/>
          <p:cNvSpPr txBox="1">
            <a:spLocks noChangeArrowheads="1"/>
          </p:cNvSpPr>
          <p:nvPr/>
        </p:nvSpPr>
        <p:spPr bwMode="auto">
          <a:xfrm>
            <a:off x="694372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5912" name="Oval 138"/>
          <p:cNvSpPr>
            <a:spLocks noChangeArrowheads="1"/>
          </p:cNvSpPr>
          <p:nvPr/>
        </p:nvSpPr>
        <p:spPr bwMode="auto">
          <a:xfrm>
            <a:off x="726440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13" name="Text Box 139"/>
          <p:cNvSpPr txBox="1">
            <a:spLocks noChangeArrowheads="1"/>
          </p:cNvSpPr>
          <p:nvPr/>
        </p:nvSpPr>
        <p:spPr bwMode="auto">
          <a:xfrm>
            <a:off x="2657475" y="13001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5914" name="Oval 140"/>
          <p:cNvSpPr>
            <a:spLocks noChangeArrowheads="1"/>
          </p:cNvSpPr>
          <p:nvPr/>
        </p:nvSpPr>
        <p:spPr bwMode="auto">
          <a:xfrm>
            <a:off x="2978150" y="13477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5915" name="Text Box 141"/>
          <p:cNvSpPr txBox="1">
            <a:spLocks noChangeArrowheads="1"/>
          </p:cNvSpPr>
          <p:nvPr/>
        </p:nvSpPr>
        <p:spPr bwMode="auto">
          <a:xfrm>
            <a:off x="4413250" y="4391025"/>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5916" name="Text Box 142"/>
          <p:cNvSpPr txBox="1">
            <a:spLocks noChangeArrowheads="1"/>
          </p:cNvSpPr>
          <p:nvPr/>
        </p:nvSpPr>
        <p:spPr bwMode="auto">
          <a:xfrm>
            <a:off x="4513263" y="5076825"/>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5917" name="Line 143"/>
          <p:cNvSpPr>
            <a:spLocks noChangeShapeType="1"/>
          </p:cNvSpPr>
          <p:nvPr/>
        </p:nvSpPr>
        <p:spPr bwMode="auto">
          <a:xfrm>
            <a:off x="4605338" y="5360988"/>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5918" name="Group 144"/>
          <p:cNvGrpSpPr/>
          <p:nvPr/>
        </p:nvGrpSpPr>
        <p:grpSpPr bwMode="auto">
          <a:xfrm>
            <a:off x="4676775" y="4346575"/>
            <a:ext cx="800100" cy="271463"/>
            <a:chOff x="3258" y="2997"/>
            <a:chExt cx="504" cy="171"/>
          </a:xfrm>
        </p:grpSpPr>
        <p:sp>
          <p:nvSpPr>
            <p:cNvPr id="75937" name="Line 14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8" name="Line 14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9" name="Line 14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0" name="Line 14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1" name="Line 14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2" name="Line 15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3" name="Line 15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4" name="Line 15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45" name="Line 15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5919" name="Group 154"/>
          <p:cNvGrpSpPr/>
          <p:nvPr/>
        </p:nvGrpSpPr>
        <p:grpSpPr bwMode="auto">
          <a:xfrm flipV="1">
            <a:off x="3619500" y="5432425"/>
            <a:ext cx="800100" cy="271463"/>
            <a:chOff x="3258" y="2997"/>
            <a:chExt cx="504" cy="171"/>
          </a:xfrm>
        </p:grpSpPr>
        <p:sp>
          <p:nvSpPr>
            <p:cNvPr id="75928" name="Line 15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29" name="Line 15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0" name="Line 15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1" name="Line 15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2" name="Line 15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3" name="Line 16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4" name="Line 16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5" name="Line 16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5936" name="Line 16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75920" name="Text Box 164"/>
          <p:cNvSpPr txBox="1">
            <a:spLocks noChangeArrowheads="1"/>
          </p:cNvSpPr>
          <p:nvPr/>
        </p:nvSpPr>
        <p:spPr bwMode="auto">
          <a:xfrm>
            <a:off x="1998663"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1" name="Text Box 165"/>
          <p:cNvSpPr txBox="1">
            <a:spLocks noChangeArrowheads="1"/>
          </p:cNvSpPr>
          <p:nvPr/>
        </p:nvSpPr>
        <p:spPr bwMode="auto">
          <a:xfrm>
            <a:off x="41417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2" name="Text Box 166"/>
          <p:cNvSpPr txBox="1">
            <a:spLocks noChangeArrowheads="1"/>
          </p:cNvSpPr>
          <p:nvPr/>
        </p:nvSpPr>
        <p:spPr bwMode="auto">
          <a:xfrm>
            <a:off x="6199188" y="24336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3" name="Text Box 167"/>
          <p:cNvSpPr txBox="1">
            <a:spLocks noChangeArrowheads="1"/>
          </p:cNvSpPr>
          <p:nvPr/>
        </p:nvSpPr>
        <p:spPr bwMode="auto">
          <a:xfrm>
            <a:off x="3198813" y="43338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5924" name="Text Box 168"/>
          <p:cNvSpPr txBox="1">
            <a:spLocks noChangeArrowheads="1"/>
          </p:cNvSpPr>
          <p:nvPr/>
        </p:nvSpPr>
        <p:spPr bwMode="auto">
          <a:xfrm>
            <a:off x="3284538"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5925" name="Text Box 169"/>
          <p:cNvSpPr txBox="1">
            <a:spLocks noChangeArrowheads="1"/>
          </p:cNvSpPr>
          <p:nvPr/>
        </p:nvSpPr>
        <p:spPr bwMode="auto">
          <a:xfrm>
            <a:off x="5456238" y="28051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5926" name="Text Box 170"/>
          <p:cNvSpPr txBox="1">
            <a:spLocks noChangeArrowheads="1"/>
          </p:cNvSpPr>
          <p:nvPr/>
        </p:nvSpPr>
        <p:spPr bwMode="auto">
          <a:xfrm>
            <a:off x="7527925" y="28194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5927" name="Text Box 171"/>
          <p:cNvSpPr txBox="1">
            <a:spLocks noChangeArrowheads="1"/>
          </p:cNvSpPr>
          <p:nvPr/>
        </p:nvSpPr>
        <p:spPr bwMode="auto">
          <a:xfrm>
            <a:off x="1841500" y="56911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p:txBody>
          <a:bodyPr/>
          <a:lstStyle/>
          <a:p>
            <a:pPr eaLnBrk="1" hangingPunct="1"/>
            <a:r>
              <a:rPr lang="zh-CN" altLang="en-US"/>
              <a:t>环形脉冲发生器与译码逻辑（</a:t>
            </a:r>
            <a:r>
              <a:rPr lang="en-US" altLang="zh-CN"/>
              <a:t>5</a:t>
            </a:r>
            <a:r>
              <a:rPr lang="zh-CN" altLang="en-US"/>
              <a:t>）</a:t>
            </a:r>
            <a:endParaRPr lang="zh-CN" altLang="en-US"/>
          </a:p>
        </p:txBody>
      </p:sp>
      <p:sp>
        <p:nvSpPr>
          <p:cNvPr id="76802" name="Rectangle 173"/>
          <p:cNvSpPr>
            <a:spLocks noGrp="1" noChangeArrowheads="1"/>
          </p:cNvSpPr>
          <p:nvPr>
            <p:ph idx="1"/>
          </p:nvPr>
        </p:nvSpPr>
        <p:spPr/>
        <p:txBody>
          <a:bodyPr/>
          <a:lstStyle/>
          <a:p>
            <a:pPr marL="0" indent="0" eaLnBrk="1" hangingPunct="1">
              <a:buFont typeface="Wingdings 2" pitchFamily="18" charset="2"/>
              <a:buNone/>
            </a:pPr>
            <a:r>
              <a:rPr kumimoji="0" lang="en-US" altLang="zh-CN"/>
              <a:t>C</a:t>
            </a:r>
            <a:r>
              <a:rPr kumimoji="0" lang="en-US" altLang="zh-CN" baseline="-25000"/>
              <a:t>1</a:t>
            </a:r>
            <a:r>
              <a:rPr kumimoji="0" lang="en-US" altLang="zh-CN"/>
              <a:t>C</a:t>
            </a:r>
            <a:r>
              <a:rPr kumimoji="0" lang="en-US" altLang="zh-CN" baseline="-25000"/>
              <a:t>2</a:t>
            </a:r>
            <a:r>
              <a:rPr kumimoji="0" lang="en-US" altLang="zh-CN"/>
              <a:t>C</a:t>
            </a:r>
            <a:r>
              <a:rPr kumimoji="0" lang="en-US" altLang="zh-CN" baseline="-25000"/>
              <a:t>3</a:t>
            </a:r>
            <a:r>
              <a:rPr kumimoji="0" lang="en-US" altLang="zh-CN"/>
              <a:t>: </a:t>
            </a:r>
            <a:r>
              <a:rPr kumimoji="0" lang="en-US" altLang="zh-CN">
                <a:solidFill>
                  <a:srgbClr val="FF0000"/>
                </a:solidFill>
              </a:rPr>
              <a:t>000</a:t>
            </a:r>
            <a:r>
              <a:rPr kumimoji="0" lang="en-US" altLang="zh-CN" b="0"/>
              <a:t> → </a:t>
            </a:r>
            <a:r>
              <a:rPr kumimoji="0" lang="en-US" altLang="zh-CN">
                <a:solidFill>
                  <a:srgbClr val="FF0000"/>
                </a:solidFill>
              </a:rPr>
              <a:t>100</a:t>
            </a:r>
            <a:r>
              <a:rPr kumimoji="0" lang="en-US" altLang="zh-CN" b="0"/>
              <a:t> → </a:t>
            </a:r>
            <a:r>
              <a:rPr kumimoji="0" lang="en-US" altLang="zh-CN">
                <a:solidFill>
                  <a:srgbClr val="FF0000"/>
                </a:solidFill>
              </a:rPr>
              <a:t>110</a:t>
            </a:r>
            <a:r>
              <a:rPr kumimoji="0" lang="en-US" altLang="zh-CN" b="0"/>
              <a:t> → </a:t>
            </a:r>
            <a:r>
              <a:rPr kumimoji="0" lang="en-US" altLang="zh-CN">
                <a:solidFill>
                  <a:srgbClr val="FF0000"/>
                </a:solidFill>
              </a:rPr>
              <a:t>111</a:t>
            </a:r>
            <a:r>
              <a:rPr kumimoji="0" lang="en-US" altLang="zh-CN" b="0"/>
              <a:t> → 000 → 100</a:t>
            </a:r>
            <a:endParaRPr kumimoji="0" lang="zh-CN" altLang="en-US" b="0"/>
          </a:p>
        </p:txBody>
      </p:sp>
      <p:sp>
        <p:nvSpPr>
          <p:cNvPr id="76804" name="Rectangle 4"/>
          <p:cNvSpPr>
            <a:spLocks noChangeArrowheads="1"/>
          </p:cNvSpPr>
          <p:nvPr/>
        </p:nvSpPr>
        <p:spPr bwMode="auto">
          <a:xfrm>
            <a:off x="2068513" y="28765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05" name="Text Box 5"/>
          <p:cNvSpPr txBox="1">
            <a:spLocks noChangeArrowheads="1"/>
          </p:cNvSpPr>
          <p:nvPr/>
        </p:nvSpPr>
        <p:spPr bwMode="auto">
          <a:xfrm>
            <a:off x="210502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06" name="Text Box 6"/>
          <p:cNvSpPr txBox="1">
            <a:spLocks noChangeArrowheads="1"/>
          </p:cNvSpPr>
          <p:nvPr/>
        </p:nvSpPr>
        <p:spPr bwMode="auto">
          <a:xfrm>
            <a:off x="296227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07" name="Line 7"/>
          <p:cNvSpPr>
            <a:spLocks noChangeShapeType="1"/>
          </p:cNvSpPr>
          <p:nvPr/>
        </p:nvSpPr>
        <p:spPr bwMode="auto">
          <a:xfrm>
            <a:off x="3040063" y="29194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08" name="Text Box 8"/>
          <p:cNvSpPr txBox="1">
            <a:spLocks noChangeArrowheads="1"/>
          </p:cNvSpPr>
          <p:nvPr/>
        </p:nvSpPr>
        <p:spPr bwMode="auto">
          <a:xfrm>
            <a:off x="2119313" y="33210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09" name="Text Box 9"/>
          <p:cNvSpPr txBox="1">
            <a:spLocks noChangeArrowheads="1"/>
          </p:cNvSpPr>
          <p:nvPr/>
        </p:nvSpPr>
        <p:spPr bwMode="auto">
          <a:xfrm>
            <a:off x="2490788" y="31067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0" name="Text Box 10"/>
          <p:cNvSpPr txBox="1">
            <a:spLocks noChangeArrowheads="1"/>
          </p:cNvSpPr>
          <p:nvPr/>
        </p:nvSpPr>
        <p:spPr bwMode="auto">
          <a:xfrm>
            <a:off x="2933700" y="34544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1" name="Oval 11"/>
          <p:cNvSpPr>
            <a:spLocks noChangeArrowheads="1"/>
          </p:cNvSpPr>
          <p:nvPr/>
        </p:nvSpPr>
        <p:spPr bwMode="auto">
          <a:xfrm>
            <a:off x="3340100" y="32480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12" name="Rectangle 12"/>
          <p:cNvSpPr>
            <a:spLocks noChangeArrowheads="1"/>
          </p:cNvSpPr>
          <p:nvPr/>
        </p:nvSpPr>
        <p:spPr bwMode="auto">
          <a:xfrm>
            <a:off x="4240213" y="2876550"/>
            <a:ext cx="1271587"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13" name="Text Box 13"/>
          <p:cNvSpPr txBox="1">
            <a:spLocks noChangeArrowheads="1"/>
          </p:cNvSpPr>
          <p:nvPr/>
        </p:nvSpPr>
        <p:spPr bwMode="auto">
          <a:xfrm>
            <a:off x="427672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4" name="Text Box 14"/>
          <p:cNvSpPr txBox="1">
            <a:spLocks noChangeArrowheads="1"/>
          </p:cNvSpPr>
          <p:nvPr/>
        </p:nvSpPr>
        <p:spPr bwMode="auto">
          <a:xfrm>
            <a:off x="5133975" y="2835275"/>
            <a:ext cx="379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5" name="Line 15"/>
          <p:cNvSpPr>
            <a:spLocks noChangeShapeType="1"/>
          </p:cNvSpPr>
          <p:nvPr/>
        </p:nvSpPr>
        <p:spPr bwMode="auto">
          <a:xfrm>
            <a:off x="5211763" y="2919413"/>
            <a:ext cx="214312"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16" name="Text Box 16"/>
          <p:cNvSpPr txBox="1">
            <a:spLocks noChangeArrowheads="1"/>
          </p:cNvSpPr>
          <p:nvPr/>
        </p:nvSpPr>
        <p:spPr bwMode="auto">
          <a:xfrm>
            <a:off x="4291013" y="3321050"/>
            <a:ext cx="376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7" name="Text Box 17"/>
          <p:cNvSpPr txBox="1">
            <a:spLocks noChangeArrowheads="1"/>
          </p:cNvSpPr>
          <p:nvPr/>
        </p:nvSpPr>
        <p:spPr bwMode="auto">
          <a:xfrm>
            <a:off x="4662488" y="3106738"/>
            <a:ext cx="515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C2</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8" name="Text Box 18"/>
          <p:cNvSpPr txBox="1">
            <a:spLocks noChangeArrowheads="1"/>
          </p:cNvSpPr>
          <p:nvPr/>
        </p:nvSpPr>
        <p:spPr bwMode="auto">
          <a:xfrm>
            <a:off x="5105400" y="3454400"/>
            <a:ext cx="392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19" name="Oval 19"/>
          <p:cNvSpPr>
            <a:spLocks noChangeArrowheads="1"/>
          </p:cNvSpPr>
          <p:nvPr/>
        </p:nvSpPr>
        <p:spPr bwMode="auto">
          <a:xfrm>
            <a:off x="5511800" y="3248025"/>
            <a:ext cx="100013"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20" name="Rectangle 20"/>
          <p:cNvSpPr>
            <a:spLocks noChangeArrowheads="1"/>
          </p:cNvSpPr>
          <p:nvPr/>
        </p:nvSpPr>
        <p:spPr bwMode="auto">
          <a:xfrm>
            <a:off x="6311900" y="2876550"/>
            <a:ext cx="1271588" cy="785813"/>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21" name="Text Box 21"/>
          <p:cNvSpPr txBox="1">
            <a:spLocks noChangeArrowheads="1"/>
          </p:cNvSpPr>
          <p:nvPr/>
        </p:nvSpPr>
        <p:spPr bwMode="auto">
          <a:xfrm>
            <a:off x="6348413" y="28352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2" name="Text Box 22"/>
          <p:cNvSpPr txBox="1">
            <a:spLocks noChangeArrowheads="1"/>
          </p:cNvSpPr>
          <p:nvPr/>
        </p:nvSpPr>
        <p:spPr bwMode="auto">
          <a:xfrm>
            <a:off x="7205663" y="2835275"/>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3" name="Line 23"/>
          <p:cNvSpPr>
            <a:spLocks noChangeShapeType="1"/>
          </p:cNvSpPr>
          <p:nvPr/>
        </p:nvSpPr>
        <p:spPr bwMode="auto">
          <a:xfrm>
            <a:off x="7283450" y="2919413"/>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24" name="Text Box 24"/>
          <p:cNvSpPr txBox="1">
            <a:spLocks noChangeArrowheads="1"/>
          </p:cNvSpPr>
          <p:nvPr/>
        </p:nvSpPr>
        <p:spPr bwMode="auto">
          <a:xfrm>
            <a:off x="6362700" y="3321050"/>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5" name="Text Box 25"/>
          <p:cNvSpPr txBox="1">
            <a:spLocks noChangeArrowheads="1"/>
          </p:cNvSpPr>
          <p:nvPr/>
        </p:nvSpPr>
        <p:spPr bwMode="auto">
          <a:xfrm>
            <a:off x="6734175" y="3106738"/>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C3</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6" name="Text Box 26"/>
          <p:cNvSpPr txBox="1">
            <a:spLocks noChangeArrowheads="1"/>
          </p:cNvSpPr>
          <p:nvPr/>
        </p:nvSpPr>
        <p:spPr bwMode="auto">
          <a:xfrm>
            <a:off x="7177088" y="3454400"/>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27" name="Oval 27"/>
          <p:cNvSpPr>
            <a:spLocks noChangeArrowheads="1"/>
          </p:cNvSpPr>
          <p:nvPr/>
        </p:nvSpPr>
        <p:spPr bwMode="auto">
          <a:xfrm>
            <a:off x="7583488" y="3248025"/>
            <a:ext cx="100012" cy="10001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28" name="Line 28"/>
          <p:cNvSpPr>
            <a:spLocks noChangeShapeType="1"/>
          </p:cNvSpPr>
          <p:nvPr/>
        </p:nvSpPr>
        <p:spPr bwMode="auto">
          <a:xfrm>
            <a:off x="3440113" y="32908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29" name="Rectangle 29"/>
          <p:cNvSpPr>
            <a:spLocks noChangeArrowheads="1"/>
          </p:cNvSpPr>
          <p:nvPr/>
        </p:nvSpPr>
        <p:spPr bwMode="auto">
          <a:xfrm>
            <a:off x="1882775" y="4891088"/>
            <a:ext cx="1271588" cy="785812"/>
          </a:xfrm>
          <a:prstGeom prst="rect">
            <a:avLst/>
          </a:prstGeom>
          <a:solidFill>
            <a:srgbClr val="0080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30" name="Text Box 30"/>
          <p:cNvSpPr txBox="1">
            <a:spLocks noChangeArrowheads="1"/>
          </p:cNvSpPr>
          <p:nvPr/>
        </p:nvSpPr>
        <p:spPr bwMode="auto">
          <a:xfrm>
            <a:off x="1919288" y="48498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1" name="Text Box 31"/>
          <p:cNvSpPr txBox="1">
            <a:spLocks noChangeArrowheads="1"/>
          </p:cNvSpPr>
          <p:nvPr/>
        </p:nvSpPr>
        <p:spPr bwMode="auto">
          <a:xfrm>
            <a:off x="2776538" y="4849813"/>
            <a:ext cx="379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2" name="Line 32"/>
          <p:cNvSpPr>
            <a:spLocks noChangeShapeType="1"/>
          </p:cNvSpPr>
          <p:nvPr/>
        </p:nvSpPr>
        <p:spPr bwMode="auto">
          <a:xfrm>
            <a:off x="2854325" y="4933950"/>
            <a:ext cx="214313" cy="0"/>
          </a:xfrm>
          <a:prstGeom prst="line">
            <a:avLst/>
          </a:prstGeom>
          <a:noFill/>
          <a:ln w="19050">
            <a:solidFill>
              <a:schemeClr val="bg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33" name="Text Box 33"/>
          <p:cNvSpPr txBox="1">
            <a:spLocks noChangeArrowheads="1"/>
          </p:cNvSpPr>
          <p:nvPr/>
        </p:nvSpPr>
        <p:spPr bwMode="auto">
          <a:xfrm>
            <a:off x="1933575" y="5335588"/>
            <a:ext cx="376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4" name="Text Box 34"/>
          <p:cNvSpPr txBox="1">
            <a:spLocks noChangeArrowheads="1"/>
          </p:cNvSpPr>
          <p:nvPr/>
        </p:nvSpPr>
        <p:spPr bwMode="auto">
          <a:xfrm>
            <a:off x="2305050" y="5121275"/>
            <a:ext cx="515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C4</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5" name="Text Box 35"/>
          <p:cNvSpPr txBox="1">
            <a:spLocks noChangeArrowheads="1"/>
          </p:cNvSpPr>
          <p:nvPr/>
        </p:nvSpPr>
        <p:spPr bwMode="auto">
          <a:xfrm>
            <a:off x="2747963" y="5478463"/>
            <a:ext cx="392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36" name="Oval 36"/>
          <p:cNvSpPr>
            <a:spLocks noChangeArrowheads="1"/>
          </p:cNvSpPr>
          <p:nvPr/>
        </p:nvSpPr>
        <p:spPr bwMode="auto">
          <a:xfrm>
            <a:off x="1797050" y="5262563"/>
            <a:ext cx="100013" cy="100012"/>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837" name="AutoShape 37"/>
          <p:cNvSpPr>
            <a:spLocks noChangeArrowheads="1"/>
          </p:cNvSpPr>
          <p:nvPr/>
        </p:nvSpPr>
        <p:spPr bwMode="auto">
          <a:xfrm rot="-5400000">
            <a:off x="3449638" y="4324350"/>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3</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6838" name="AutoShape 38"/>
          <p:cNvSpPr>
            <a:spLocks noChangeArrowheads="1"/>
          </p:cNvSpPr>
          <p:nvPr/>
        </p:nvSpPr>
        <p:spPr bwMode="auto">
          <a:xfrm rot="-5400000">
            <a:off x="2220913" y="4319588"/>
            <a:ext cx="285750" cy="285750"/>
          </a:xfrm>
          <a:prstGeom prst="flowChartDelay">
            <a:avLst/>
          </a:prstGeom>
          <a:solidFill>
            <a:schemeClr val="accent1"/>
          </a:solidFill>
          <a:ln w="19050">
            <a:no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1800" dirty="0">
                <a:solidFill>
                  <a:schemeClr val="bg1"/>
                </a:solidFill>
                <a:latin typeface="Tahoma" panose="020B0604030504040204" pitchFamily="34" charset="0"/>
                <a:ea typeface="宋体" panose="02010600030101010101" pitchFamily="2" charset="-122"/>
              </a:rPr>
              <a:t>2</a:t>
            </a:r>
            <a:endParaRPr kumimoji="0" lang="en-US" altLang="zh-CN" sz="1800" dirty="0">
              <a:solidFill>
                <a:schemeClr val="bg1"/>
              </a:solidFill>
              <a:latin typeface="Tahoma" panose="020B0604030504040204" pitchFamily="34" charset="0"/>
              <a:ea typeface="宋体" panose="02010600030101010101" pitchFamily="2" charset="-122"/>
            </a:endParaRPr>
          </a:p>
        </p:txBody>
      </p:sp>
      <p:sp>
        <p:nvSpPr>
          <p:cNvPr id="76839" name="AutoShape 39"/>
          <p:cNvSpPr>
            <a:spLocks noChangeArrowheads="1"/>
          </p:cNvSpPr>
          <p:nvPr/>
        </p:nvSpPr>
        <p:spPr bwMode="auto">
          <a:xfrm rot="-5400000">
            <a:off x="3763963" y="1909763"/>
            <a:ext cx="285750" cy="285750"/>
          </a:xfrm>
          <a:prstGeom prst="flowChartDelay">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2968" name="AutoShape 40"/>
          <p:cNvSpPr>
            <a:spLocks noChangeArrowheads="1"/>
          </p:cNvSpPr>
          <p:nvPr/>
        </p:nvSpPr>
        <p:spPr bwMode="auto">
          <a:xfrm rot="-5400000">
            <a:off x="4392613" y="1909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69" name="AutoShape 41"/>
          <p:cNvSpPr>
            <a:spLocks noChangeArrowheads="1"/>
          </p:cNvSpPr>
          <p:nvPr/>
        </p:nvSpPr>
        <p:spPr bwMode="auto">
          <a:xfrm rot="-5400000">
            <a:off x="5921375" y="1905000"/>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0" name="AutoShape 42"/>
          <p:cNvSpPr>
            <a:spLocks noChangeArrowheads="1"/>
          </p:cNvSpPr>
          <p:nvPr/>
        </p:nvSpPr>
        <p:spPr bwMode="auto">
          <a:xfrm rot="-5400000">
            <a:off x="7850188" y="1909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1" name="Oval 43"/>
          <p:cNvSpPr>
            <a:spLocks noChangeArrowheads="1"/>
          </p:cNvSpPr>
          <p:nvPr/>
        </p:nvSpPr>
        <p:spPr bwMode="auto">
          <a:xfrm>
            <a:off x="2330450" y="423862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2972" name="Oval 44"/>
          <p:cNvSpPr>
            <a:spLocks noChangeArrowheads="1"/>
          </p:cNvSpPr>
          <p:nvPr/>
        </p:nvSpPr>
        <p:spPr bwMode="auto">
          <a:xfrm>
            <a:off x="3559175" y="4243388"/>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2973" name="AutoShape 45"/>
          <p:cNvSpPr>
            <a:spLocks noChangeArrowheads="1"/>
          </p:cNvSpPr>
          <p:nvPr/>
        </p:nvSpPr>
        <p:spPr bwMode="auto">
          <a:xfrm rot="-5400000">
            <a:off x="2959100" y="1914525"/>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4" name="Oval 46"/>
          <p:cNvSpPr>
            <a:spLocks noChangeArrowheads="1"/>
          </p:cNvSpPr>
          <p:nvPr/>
        </p:nvSpPr>
        <p:spPr bwMode="auto">
          <a:xfrm>
            <a:off x="3068638" y="1833563"/>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52975" name="AutoShape 47"/>
          <p:cNvSpPr>
            <a:spLocks noChangeArrowheads="1"/>
          </p:cNvSpPr>
          <p:nvPr/>
        </p:nvSpPr>
        <p:spPr bwMode="auto">
          <a:xfrm rot="-5400000">
            <a:off x="7259638" y="1909763"/>
            <a:ext cx="285750" cy="28575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2976" name="Oval 48"/>
          <p:cNvSpPr>
            <a:spLocks noChangeArrowheads="1"/>
          </p:cNvSpPr>
          <p:nvPr/>
        </p:nvSpPr>
        <p:spPr bwMode="auto">
          <a:xfrm>
            <a:off x="7369175" y="182880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6849" name="Line 49"/>
          <p:cNvSpPr>
            <a:spLocks noChangeShapeType="1"/>
          </p:cNvSpPr>
          <p:nvPr/>
        </p:nvSpPr>
        <p:spPr bwMode="auto">
          <a:xfrm>
            <a:off x="1611313" y="5305425"/>
            <a:ext cx="18573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0" name="Text Box 50"/>
          <p:cNvSpPr txBox="1">
            <a:spLocks noChangeArrowheads="1"/>
          </p:cNvSpPr>
          <p:nvPr/>
        </p:nvSpPr>
        <p:spPr bwMode="auto">
          <a:xfrm>
            <a:off x="1833563" y="5078413"/>
            <a:ext cx="3444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S</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76851" name="Line 51"/>
          <p:cNvSpPr>
            <a:spLocks noChangeShapeType="1"/>
          </p:cNvSpPr>
          <p:nvPr/>
        </p:nvSpPr>
        <p:spPr bwMode="auto">
          <a:xfrm>
            <a:off x="1168400" y="4710113"/>
            <a:ext cx="0" cy="116681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2" name="Line 52"/>
          <p:cNvSpPr>
            <a:spLocks noChangeShapeType="1"/>
          </p:cNvSpPr>
          <p:nvPr/>
        </p:nvSpPr>
        <p:spPr bwMode="auto">
          <a:xfrm>
            <a:off x="1158875" y="5867400"/>
            <a:ext cx="33861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3" name="Line 53"/>
          <p:cNvSpPr>
            <a:spLocks noChangeShapeType="1"/>
          </p:cNvSpPr>
          <p:nvPr/>
        </p:nvSpPr>
        <p:spPr bwMode="auto">
          <a:xfrm>
            <a:off x="2111375" y="5676900"/>
            <a:ext cx="0" cy="3714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4" name="Line 54"/>
          <p:cNvSpPr>
            <a:spLocks noChangeShapeType="1"/>
          </p:cNvSpPr>
          <p:nvPr/>
        </p:nvSpPr>
        <p:spPr bwMode="auto">
          <a:xfrm>
            <a:off x="2111375" y="6048375"/>
            <a:ext cx="595788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5" name="Line 55"/>
          <p:cNvSpPr>
            <a:spLocks noChangeShapeType="1"/>
          </p:cNvSpPr>
          <p:nvPr/>
        </p:nvSpPr>
        <p:spPr bwMode="auto">
          <a:xfrm>
            <a:off x="2944813" y="56769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2984" name="Oval 56"/>
          <p:cNvSpPr>
            <a:spLocks noChangeArrowheads="1"/>
          </p:cNvSpPr>
          <p:nvPr/>
        </p:nvSpPr>
        <p:spPr bwMode="auto">
          <a:xfrm>
            <a:off x="2911475" y="58293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57" name="Line 57"/>
          <p:cNvSpPr>
            <a:spLocks noChangeShapeType="1"/>
          </p:cNvSpPr>
          <p:nvPr/>
        </p:nvSpPr>
        <p:spPr bwMode="auto">
          <a:xfrm>
            <a:off x="1163638" y="4714875"/>
            <a:ext cx="11239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8" name="Line 58"/>
          <p:cNvSpPr>
            <a:spLocks noChangeShapeType="1"/>
          </p:cNvSpPr>
          <p:nvPr/>
        </p:nvSpPr>
        <p:spPr bwMode="auto">
          <a:xfrm flipV="1">
            <a:off x="2278063" y="460057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59" name="Line 59"/>
          <p:cNvSpPr>
            <a:spLocks noChangeShapeType="1"/>
          </p:cNvSpPr>
          <p:nvPr/>
        </p:nvSpPr>
        <p:spPr bwMode="auto">
          <a:xfrm flipV="1">
            <a:off x="2106613" y="4772025"/>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0" name="Line 60"/>
          <p:cNvSpPr>
            <a:spLocks noChangeShapeType="1"/>
          </p:cNvSpPr>
          <p:nvPr/>
        </p:nvSpPr>
        <p:spPr bwMode="auto">
          <a:xfrm>
            <a:off x="2106613" y="4781550"/>
            <a:ext cx="1400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1" name="Line 61"/>
          <p:cNvSpPr>
            <a:spLocks noChangeShapeType="1"/>
          </p:cNvSpPr>
          <p:nvPr/>
        </p:nvSpPr>
        <p:spPr bwMode="auto">
          <a:xfrm>
            <a:off x="2430463" y="460057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2" name="Line 62"/>
          <p:cNvSpPr>
            <a:spLocks noChangeShapeType="1"/>
          </p:cNvSpPr>
          <p:nvPr/>
        </p:nvSpPr>
        <p:spPr bwMode="auto">
          <a:xfrm>
            <a:off x="2420938" y="4714875"/>
            <a:ext cx="5429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3" name="Line 63"/>
          <p:cNvSpPr>
            <a:spLocks noChangeShapeType="1"/>
          </p:cNvSpPr>
          <p:nvPr/>
        </p:nvSpPr>
        <p:spPr bwMode="auto">
          <a:xfrm flipV="1">
            <a:off x="2973388" y="470535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4" name="Line 64"/>
          <p:cNvSpPr>
            <a:spLocks noChangeShapeType="1"/>
          </p:cNvSpPr>
          <p:nvPr/>
        </p:nvSpPr>
        <p:spPr bwMode="auto">
          <a:xfrm flipV="1">
            <a:off x="3506788" y="4610100"/>
            <a:ext cx="0" cy="1809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5" name="Line 65"/>
          <p:cNvSpPr>
            <a:spLocks noChangeShapeType="1"/>
          </p:cNvSpPr>
          <p:nvPr/>
        </p:nvSpPr>
        <p:spPr bwMode="auto">
          <a:xfrm>
            <a:off x="3678238" y="4610100"/>
            <a:ext cx="0" cy="1714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6" name="Line 66"/>
          <p:cNvSpPr>
            <a:spLocks noChangeShapeType="1"/>
          </p:cNvSpPr>
          <p:nvPr/>
        </p:nvSpPr>
        <p:spPr bwMode="auto">
          <a:xfrm>
            <a:off x="3673475" y="4781550"/>
            <a:ext cx="174783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67" name="AutoShape 67"/>
          <p:cNvSpPr>
            <a:spLocks noChangeArrowheads="1"/>
          </p:cNvSpPr>
          <p:nvPr/>
        </p:nvSpPr>
        <p:spPr bwMode="auto">
          <a:xfrm rot="-5400000" flipH="1" flipV="1">
            <a:off x="4911725" y="5233988"/>
            <a:ext cx="314325" cy="257175"/>
          </a:xfrm>
          <a:prstGeom prst="flowChartMerge">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52996" name="Oval 68"/>
          <p:cNvSpPr>
            <a:spLocks noChangeArrowheads="1"/>
          </p:cNvSpPr>
          <p:nvPr/>
        </p:nvSpPr>
        <p:spPr bwMode="auto">
          <a:xfrm>
            <a:off x="4873625" y="5324475"/>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6869" name="Line 69"/>
          <p:cNvSpPr>
            <a:spLocks noChangeShapeType="1"/>
          </p:cNvSpPr>
          <p:nvPr/>
        </p:nvSpPr>
        <p:spPr bwMode="auto">
          <a:xfrm flipH="1">
            <a:off x="4535488" y="5362575"/>
            <a:ext cx="3333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0" name="Line 70"/>
          <p:cNvSpPr>
            <a:spLocks noChangeShapeType="1"/>
          </p:cNvSpPr>
          <p:nvPr/>
        </p:nvSpPr>
        <p:spPr bwMode="auto">
          <a:xfrm>
            <a:off x="4545013" y="5362575"/>
            <a:ext cx="0" cy="5048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1" name="Rectangle 71"/>
          <p:cNvSpPr>
            <a:spLocks noChangeArrowheads="1"/>
          </p:cNvSpPr>
          <p:nvPr/>
        </p:nvSpPr>
        <p:spPr bwMode="auto">
          <a:xfrm>
            <a:off x="5688013" y="5048250"/>
            <a:ext cx="1771650" cy="628650"/>
          </a:xfrm>
          <a:prstGeom prst="rect">
            <a:avLst/>
          </a:prstGeom>
          <a:solidFill>
            <a:srgbClr val="99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latin typeface="Tahoma" panose="020B0604030504040204" pitchFamily="34" charset="0"/>
              </a:rPr>
              <a:t>时钟源</a:t>
            </a:r>
            <a:endParaRPr kumimoji="0" lang="zh-CN" altLang="en-US" sz="2400">
              <a:solidFill>
                <a:schemeClr val="bg1"/>
              </a:solidFill>
              <a:latin typeface="Tahoma" panose="020B0604030504040204" pitchFamily="34" charset="0"/>
            </a:endParaRPr>
          </a:p>
        </p:txBody>
      </p:sp>
      <p:sp>
        <p:nvSpPr>
          <p:cNvPr id="76872" name="Line 72"/>
          <p:cNvSpPr>
            <a:spLocks noChangeShapeType="1"/>
          </p:cNvSpPr>
          <p:nvPr/>
        </p:nvSpPr>
        <p:spPr bwMode="auto">
          <a:xfrm>
            <a:off x="5192713" y="5362575"/>
            <a:ext cx="4857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3" name="Line 73"/>
          <p:cNvSpPr>
            <a:spLocks noChangeShapeType="1"/>
          </p:cNvSpPr>
          <p:nvPr/>
        </p:nvSpPr>
        <p:spPr bwMode="auto">
          <a:xfrm>
            <a:off x="5411788" y="4772025"/>
            <a:ext cx="0" cy="581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02" name="Oval 74"/>
          <p:cNvSpPr>
            <a:spLocks noChangeArrowheads="1"/>
          </p:cNvSpPr>
          <p:nvPr/>
        </p:nvSpPr>
        <p:spPr bwMode="auto">
          <a:xfrm>
            <a:off x="5368925" y="53244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75" name="Line 75"/>
          <p:cNvSpPr>
            <a:spLocks noChangeShapeType="1"/>
          </p:cNvSpPr>
          <p:nvPr/>
        </p:nvSpPr>
        <p:spPr bwMode="auto">
          <a:xfrm flipV="1">
            <a:off x="2373313" y="4124325"/>
            <a:ext cx="0" cy="114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6" name="Line 76"/>
          <p:cNvSpPr>
            <a:spLocks noChangeShapeType="1"/>
          </p:cNvSpPr>
          <p:nvPr/>
        </p:nvSpPr>
        <p:spPr bwMode="auto">
          <a:xfrm>
            <a:off x="2363788" y="4124325"/>
            <a:ext cx="50196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7" name="Line 77"/>
          <p:cNvSpPr>
            <a:spLocks noChangeShapeType="1"/>
          </p:cNvSpPr>
          <p:nvPr/>
        </p:nvSpPr>
        <p:spPr bwMode="auto">
          <a:xfrm flipV="1">
            <a:off x="3135313" y="3667125"/>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8" name="Line 78"/>
          <p:cNvSpPr>
            <a:spLocks noChangeShapeType="1"/>
          </p:cNvSpPr>
          <p:nvPr/>
        </p:nvSpPr>
        <p:spPr bwMode="auto">
          <a:xfrm flipV="1">
            <a:off x="3602038" y="3276600"/>
            <a:ext cx="0" cy="971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79" name="Line 79"/>
          <p:cNvSpPr>
            <a:spLocks noChangeShapeType="1"/>
          </p:cNvSpPr>
          <p:nvPr/>
        </p:nvSpPr>
        <p:spPr bwMode="auto">
          <a:xfrm flipV="1">
            <a:off x="2297113" y="26670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0" name="Line 80"/>
          <p:cNvSpPr>
            <a:spLocks noChangeShapeType="1"/>
          </p:cNvSpPr>
          <p:nvPr/>
        </p:nvSpPr>
        <p:spPr bwMode="auto">
          <a:xfrm>
            <a:off x="2287588" y="26765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1" name="Line 81"/>
          <p:cNvSpPr>
            <a:spLocks noChangeShapeType="1"/>
          </p:cNvSpPr>
          <p:nvPr/>
        </p:nvSpPr>
        <p:spPr bwMode="auto">
          <a:xfrm flipV="1">
            <a:off x="3830638" y="21907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2" name="Line 82"/>
          <p:cNvSpPr>
            <a:spLocks noChangeShapeType="1"/>
          </p:cNvSpPr>
          <p:nvPr/>
        </p:nvSpPr>
        <p:spPr bwMode="auto">
          <a:xfrm>
            <a:off x="3821113" y="3762375"/>
            <a:ext cx="666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3" name="Line 83"/>
          <p:cNvSpPr>
            <a:spLocks noChangeShapeType="1"/>
          </p:cNvSpPr>
          <p:nvPr/>
        </p:nvSpPr>
        <p:spPr bwMode="auto">
          <a:xfrm flipV="1">
            <a:off x="4478338" y="36576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4" name="Line 84"/>
          <p:cNvSpPr>
            <a:spLocks noChangeShapeType="1"/>
          </p:cNvSpPr>
          <p:nvPr/>
        </p:nvSpPr>
        <p:spPr bwMode="auto">
          <a:xfrm>
            <a:off x="3592513" y="3924300"/>
            <a:ext cx="42481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13" name="Oval 85"/>
          <p:cNvSpPr>
            <a:spLocks noChangeArrowheads="1"/>
          </p:cNvSpPr>
          <p:nvPr/>
        </p:nvSpPr>
        <p:spPr bwMode="auto">
          <a:xfrm>
            <a:off x="3568700" y="38862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86" name="Line 86"/>
          <p:cNvSpPr>
            <a:spLocks noChangeShapeType="1"/>
          </p:cNvSpPr>
          <p:nvPr/>
        </p:nvSpPr>
        <p:spPr bwMode="auto">
          <a:xfrm flipV="1">
            <a:off x="7373938" y="36576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87" name="Line 87"/>
          <p:cNvSpPr>
            <a:spLocks noChangeShapeType="1"/>
          </p:cNvSpPr>
          <p:nvPr/>
        </p:nvSpPr>
        <p:spPr bwMode="auto">
          <a:xfrm flipV="1">
            <a:off x="5307013" y="3657600"/>
            <a:ext cx="0" cy="4667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16" name="Oval 88"/>
          <p:cNvSpPr>
            <a:spLocks noChangeArrowheads="1"/>
          </p:cNvSpPr>
          <p:nvPr/>
        </p:nvSpPr>
        <p:spPr bwMode="auto">
          <a:xfrm>
            <a:off x="3092450" y="40767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017" name="Oval 89"/>
          <p:cNvSpPr>
            <a:spLocks noChangeArrowheads="1"/>
          </p:cNvSpPr>
          <p:nvPr/>
        </p:nvSpPr>
        <p:spPr bwMode="auto">
          <a:xfrm>
            <a:off x="5273675" y="40862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90" name="Line 90"/>
          <p:cNvSpPr>
            <a:spLocks noChangeShapeType="1"/>
          </p:cNvSpPr>
          <p:nvPr/>
        </p:nvSpPr>
        <p:spPr bwMode="auto">
          <a:xfrm>
            <a:off x="5621338" y="3300413"/>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1" name="Line 91"/>
          <p:cNvSpPr>
            <a:spLocks noChangeShapeType="1"/>
          </p:cNvSpPr>
          <p:nvPr/>
        </p:nvSpPr>
        <p:spPr bwMode="auto">
          <a:xfrm flipV="1">
            <a:off x="5783263" y="3286125"/>
            <a:ext cx="0" cy="6381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20" name="Oval 92"/>
          <p:cNvSpPr>
            <a:spLocks noChangeArrowheads="1"/>
          </p:cNvSpPr>
          <p:nvPr/>
        </p:nvSpPr>
        <p:spPr bwMode="auto">
          <a:xfrm>
            <a:off x="5749925" y="38957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893" name="Line 93"/>
          <p:cNvSpPr>
            <a:spLocks noChangeShapeType="1"/>
          </p:cNvSpPr>
          <p:nvPr/>
        </p:nvSpPr>
        <p:spPr bwMode="auto">
          <a:xfrm>
            <a:off x="7678738" y="3290888"/>
            <a:ext cx="1714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4" name="Line 94"/>
          <p:cNvSpPr>
            <a:spLocks noChangeShapeType="1"/>
          </p:cNvSpPr>
          <p:nvPr/>
        </p:nvSpPr>
        <p:spPr bwMode="auto">
          <a:xfrm flipV="1">
            <a:off x="7840663" y="3276600"/>
            <a:ext cx="0" cy="6572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5" name="Line 95"/>
          <p:cNvSpPr>
            <a:spLocks noChangeShapeType="1"/>
          </p:cNvSpPr>
          <p:nvPr/>
        </p:nvSpPr>
        <p:spPr bwMode="auto">
          <a:xfrm flipV="1">
            <a:off x="4459288" y="2190750"/>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6" name="Line 96"/>
          <p:cNvSpPr>
            <a:spLocks noChangeShapeType="1"/>
          </p:cNvSpPr>
          <p:nvPr/>
        </p:nvSpPr>
        <p:spPr bwMode="auto">
          <a:xfrm>
            <a:off x="4449763" y="26765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7" name="Line 97"/>
          <p:cNvSpPr>
            <a:spLocks noChangeShapeType="1"/>
          </p:cNvSpPr>
          <p:nvPr/>
        </p:nvSpPr>
        <p:spPr bwMode="auto">
          <a:xfrm flipV="1">
            <a:off x="5992813" y="2190750"/>
            <a:ext cx="0" cy="15811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8" name="Line 98"/>
          <p:cNvSpPr>
            <a:spLocks noChangeShapeType="1"/>
          </p:cNvSpPr>
          <p:nvPr/>
        </p:nvSpPr>
        <p:spPr bwMode="auto">
          <a:xfrm>
            <a:off x="5983288" y="3762375"/>
            <a:ext cx="58102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899" name="Line 99"/>
          <p:cNvSpPr>
            <a:spLocks noChangeShapeType="1"/>
          </p:cNvSpPr>
          <p:nvPr/>
        </p:nvSpPr>
        <p:spPr bwMode="auto">
          <a:xfrm flipV="1">
            <a:off x="6554788" y="3657600"/>
            <a:ext cx="0" cy="1047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0" name="Line 100"/>
          <p:cNvSpPr>
            <a:spLocks noChangeShapeType="1"/>
          </p:cNvSpPr>
          <p:nvPr/>
        </p:nvSpPr>
        <p:spPr bwMode="auto">
          <a:xfrm flipV="1">
            <a:off x="8059738" y="2190750"/>
            <a:ext cx="0" cy="38481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1" name="Line 101"/>
          <p:cNvSpPr>
            <a:spLocks noChangeShapeType="1"/>
          </p:cNvSpPr>
          <p:nvPr/>
        </p:nvSpPr>
        <p:spPr bwMode="auto">
          <a:xfrm>
            <a:off x="6497638" y="2676525"/>
            <a:ext cx="15525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2" name="Line 102"/>
          <p:cNvSpPr>
            <a:spLocks noChangeShapeType="1"/>
          </p:cNvSpPr>
          <p:nvPr/>
        </p:nvSpPr>
        <p:spPr bwMode="auto">
          <a:xfrm flipV="1">
            <a:off x="6497638" y="2667000"/>
            <a:ext cx="0" cy="2000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3" name="Line 103"/>
          <p:cNvSpPr>
            <a:spLocks noChangeShapeType="1"/>
          </p:cNvSpPr>
          <p:nvPr/>
        </p:nvSpPr>
        <p:spPr bwMode="auto">
          <a:xfrm>
            <a:off x="2306638" y="3667125"/>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32" name="Oval 104"/>
          <p:cNvSpPr>
            <a:spLocks noChangeArrowheads="1"/>
          </p:cNvSpPr>
          <p:nvPr/>
        </p:nvSpPr>
        <p:spPr bwMode="auto">
          <a:xfrm>
            <a:off x="2263775" y="3905250"/>
            <a:ext cx="79375" cy="79375"/>
          </a:xfrm>
          <a:prstGeom prst="ellipse">
            <a:avLst/>
          </a:prstGeom>
          <a:no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76905" name="Text Box 105"/>
          <p:cNvSpPr txBox="1">
            <a:spLocks noChangeArrowheads="1"/>
          </p:cNvSpPr>
          <p:nvPr/>
        </p:nvSpPr>
        <p:spPr bwMode="auto">
          <a:xfrm>
            <a:off x="1562100" y="3683000"/>
            <a:ext cx="77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5V</a:t>
            </a:r>
            <a:endParaRPr kumimoji="0" lang="en-US" altLang="zh-CN" sz="2000">
              <a:latin typeface="Tahoma" panose="020B0604030504040204" pitchFamily="34" charset="0"/>
              <a:ea typeface="宋体" panose="02010600030101010101" pitchFamily="2" charset="-122"/>
            </a:endParaRPr>
          </a:p>
        </p:txBody>
      </p:sp>
      <p:sp>
        <p:nvSpPr>
          <p:cNvPr id="76906" name="Line 106"/>
          <p:cNvSpPr>
            <a:spLocks noChangeShapeType="1"/>
          </p:cNvSpPr>
          <p:nvPr/>
        </p:nvSpPr>
        <p:spPr bwMode="auto">
          <a:xfrm flipV="1">
            <a:off x="3106738" y="2190750"/>
            <a:ext cx="0" cy="4762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35" name="Oval 107"/>
          <p:cNvSpPr>
            <a:spLocks noChangeArrowheads="1"/>
          </p:cNvSpPr>
          <p:nvPr/>
        </p:nvSpPr>
        <p:spPr bwMode="auto">
          <a:xfrm>
            <a:off x="3787775" y="26384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08" name="Line 108"/>
          <p:cNvSpPr>
            <a:spLocks noChangeShapeType="1"/>
          </p:cNvSpPr>
          <p:nvPr/>
        </p:nvSpPr>
        <p:spPr bwMode="auto">
          <a:xfrm flipV="1">
            <a:off x="5326063" y="2505075"/>
            <a:ext cx="0" cy="3619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09" name="Line 109"/>
          <p:cNvSpPr>
            <a:spLocks noChangeShapeType="1"/>
          </p:cNvSpPr>
          <p:nvPr/>
        </p:nvSpPr>
        <p:spPr bwMode="auto">
          <a:xfrm flipH="1">
            <a:off x="3983038" y="2505075"/>
            <a:ext cx="13525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0" name="Line 110"/>
          <p:cNvSpPr>
            <a:spLocks noChangeShapeType="1"/>
          </p:cNvSpPr>
          <p:nvPr/>
        </p:nvSpPr>
        <p:spPr bwMode="auto">
          <a:xfrm flipV="1">
            <a:off x="3983038" y="21907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53039" name="Oval 111"/>
          <p:cNvSpPr>
            <a:spLocks noChangeArrowheads="1"/>
          </p:cNvSpPr>
          <p:nvPr/>
        </p:nvSpPr>
        <p:spPr bwMode="auto">
          <a:xfrm>
            <a:off x="4425950" y="26384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12" name="Line 112"/>
          <p:cNvSpPr>
            <a:spLocks noChangeShapeType="1"/>
          </p:cNvSpPr>
          <p:nvPr/>
        </p:nvSpPr>
        <p:spPr bwMode="auto">
          <a:xfrm flipV="1">
            <a:off x="4602163" y="21907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3" name="Text Box 113"/>
          <p:cNvSpPr txBox="1">
            <a:spLocks noChangeArrowheads="1"/>
          </p:cNvSpPr>
          <p:nvPr/>
        </p:nvSpPr>
        <p:spPr bwMode="auto">
          <a:xfrm>
            <a:off x="4533900" y="2168525"/>
            <a:ext cx="630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RD</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3042" name="Oval 114"/>
          <p:cNvSpPr>
            <a:spLocks noChangeArrowheads="1"/>
          </p:cNvSpPr>
          <p:nvPr/>
        </p:nvSpPr>
        <p:spPr bwMode="auto">
          <a:xfrm>
            <a:off x="3073400" y="2628900"/>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15" name="Line 115"/>
          <p:cNvSpPr>
            <a:spLocks noChangeShapeType="1"/>
          </p:cNvSpPr>
          <p:nvPr/>
        </p:nvSpPr>
        <p:spPr bwMode="auto">
          <a:xfrm flipV="1">
            <a:off x="7402513" y="2200275"/>
            <a:ext cx="0" cy="67627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6" name="Line 116"/>
          <p:cNvSpPr>
            <a:spLocks noChangeShapeType="1"/>
          </p:cNvSpPr>
          <p:nvPr/>
        </p:nvSpPr>
        <p:spPr bwMode="auto">
          <a:xfrm flipH="1">
            <a:off x="6126163" y="2505075"/>
            <a:ext cx="12858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7" name="Line 117"/>
          <p:cNvSpPr>
            <a:spLocks noChangeShapeType="1"/>
          </p:cNvSpPr>
          <p:nvPr/>
        </p:nvSpPr>
        <p:spPr bwMode="auto">
          <a:xfrm flipV="1">
            <a:off x="6126163" y="2190750"/>
            <a:ext cx="0" cy="3238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8" name="Line 118"/>
          <p:cNvSpPr>
            <a:spLocks noChangeShapeType="1"/>
          </p:cNvSpPr>
          <p:nvPr/>
        </p:nvSpPr>
        <p:spPr bwMode="auto">
          <a:xfrm flipV="1">
            <a:off x="7926388" y="2190750"/>
            <a:ext cx="0" cy="16192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19" name="Text Box 119"/>
          <p:cNvSpPr txBox="1">
            <a:spLocks noChangeArrowheads="1"/>
          </p:cNvSpPr>
          <p:nvPr/>
        </p:nvSpPr>
        <p:spPr bwMode="auto">
          <a:xfrm>
            <a:off x="7439025" y="2263775"/>
            <a:ext cx="669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WE</a:t>
            </a:r>
            <a:r>
              <a:rPr kumimoji="0" lang="en-US" altLang="zh-CN" sz="2000">
                <a:latin typeface="Arial" panose="020B0604020202020204" pitchFamily="34" charset="0"/>
                <a:ea typeface="宋体" panose="02010600030101010101" pitchFamily="2" charset="-122"/>
              </a:rPr>
              <a:t>’</a:t>
            </a:r>
            <a:endParaRPr kumimoji="0" lang="en-US" altLang="zh-CN" sz="2000">
              <a:latin typeface="Tahoma" panose="020B0604030504040204" pitchFamily="34" charset="0"/>
              <a:ea typeface="宋体" panose="02010600030101010101" pitchFamily="2" charset="-122"/>
            </a:endParaRPr>
          </a:p>
        </p:txBody>
      </p:sp>
      <p:sp>
        <p:nvSpPr>
          <p:cNvPr id="253048" name="Oval 120"/>
          <p:cNvSpPr>
            <a:spLocks noChangeArrowheads="1"/>
          </p:cNvSpPr>
          <p:nvPr/>
        </p:nvSpPr>
        <p:spPr bwMode="auto">
          <a:xfrm>
            <a:off x="7369175" y="246697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53049" name="Oval 121"/>
          <p:cNvSpPr>
            <a:spLocks noChangeArrowheads="1"/>
          </p:cNvSpPr>
          <p:nvPr/>
        </p:nvSpPr>
        <p:spPr bwMode="auto">
          <a:xfrm>
            <a:off x="5949950" y="2638425"/>
            <a:ext cx="71438" cy="71438"/>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76922" name="Line 122"/>
          <p:cNvSpPr>
            <a:spLocks noChangeShapeType="1"/>
          </p:cNvSpPr>
          <p:nvPr/>
        </p:nvSpPr>
        <p:spPr bwMode="auto">
          <a:xfrm flipV="1">
            <a:off x="3106738" y="16192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3" name="Line 123"/>
          <p:cNvSpPr>
            <a:spLocks noChangeShapeType="1"/>
          </p:cNvSpPr>
          <p:nvPr/>
        </p:nvSpPr>
        <p:spPr bwMode="auto">
          <a:xfrm flipV="1">
            <a:off x="3906838"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4" name="Line 124"/>
          <p:cNvSpPr>
            <a:spLocks noChangeShapeType="1"/>
          </p:cNvSpPr>
          <p:nvPr/>
        </p:nvSpPr>
        <p:spPr bwMode="auto">
          <a:xfrm flipV="1">
            <a:off x="4535488"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5" name="Line 125"/>
          <p:cNvSpPr>
            <a:spLocks noChangeShapeType="1"/>
          </p:cNvSpPr>
          <p:nvPr/>
        </p:nvSpPr>
        <p:spPr bwMode="auto">
          <a:xfrm flipV="1">
            <a:off x="6054725"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6" name="Line 126"/>
          <p:cNvSpPr>
            <a:spLocks noChangeShapeType="1"/>
          </p:cNvSpPr>
          <p:nvPr/>
        </p:nvSpPr>
        <p:spPr bwMode="auto">
          <a:xfrm flipV="1">
            <a:off x="7993063" y="1657350"/>
            <a:ext cx="0" cy="2476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7" name="Line 127"/>
          <p:cNvSpPr>
            <a:spLocks noChangeShapeType="1"/>
          </p:cNvSpPr>
          <p:nvPr/>
        </p:nvSpPr>
        <p:spPr bwMode="auto">
          <a:xfrm flipV="1">
            <a:off x="7412038" y="1619250"/>
            <a:ext cx="0" cy="2095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28" name="Text Box 129"/>
          <p:cNvSpPr txBox="1">
            <a:spLocks noChangeArrowheads="1"/>
          </p:cNvSpPr>
          <p:nvPr/>
        </p:nvSpPr>
        <p:spPr bwMode="auto">
          <a:xfrm>
            <a:off x="4491038" y="1433513"/>
            <a:ext cx="63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76929" name="Oval 130"/>
          <p:cNvSpPr>
            <a:spLocks noChangeArrowheads="1"/>
          </p:cNvSpPr>
          <p:nvPr/>
        </p:nvSpPr>
        <p:spPr bwMode="auto">
          <a:xfrm>
            <a:off x="4983163" y="148113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0" name="Text Box 131"/>
          <p:cNvSpPr txBox="1">
            <a:spLocks noChangeArrowheads="1"/>
          </p:cNvSpPr>
          <p:nvPr/>
        </p:nvSpPr>
        <p:spPr bwMode="auto">
          <a:xfrm>
            <a:off x="7378700" y="1416050"/>
            <a:ext cx="684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76931" name="Oval 132"/>
          <p:cNvSpPr>
            <a:spLocks noChangeArrowheads="1"/>
          </p:cNvSpPr>
          <p:nvPr/>
        </p:nvSpPr>
        <p:spPr bwMode="auto">
          <a:xfrm>
            <a:off x="7956550" y="14636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2" name="Text Box 133"/>
          <p:cNvSpPr txBox="1">
            <a:spLocks noChangeArrowheads="1"/>
          </p:cNvSpPr>
          <p:nvPr/>
        </p:nvSpPr>
        <p:spPr bwMode="auto">
          <a:xfrm>
            <a:off x="3821113" y="1416050"/>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6933" name="Oval 134"/>
          <p:cNvSpPr>
            <a:spLocks noChangeArrowheads="1"/>
          </p:cNvSpPr>
          <p:nvPr/>
        </p:nvSpPr>
        <p:spPr bwMode="auto">
          <a:xfrm>
            <a:off x="4141788" y="14636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4" name="Text Box 135"/>
          <p:cNvSpPr txBox="1">
            <a:spLocks noChangeArrowheads="1"/>
          </p:cNvSpPr>
          <p:nvPr/>
        </p:nvSpPr>
        <p:spPr bwMode="auto">
          <a:xfrm>
            <a:off x="5992813" y="1444625"/>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6935" name="Oval 136"/>
          <p:cNvSpPr>
            <a:spLocks noChangeArrowheads="1"/>
          </p:cNvSpPr>
          <p:nvPr/>
        </p:nvSpPr>
        <p:spPr bwMode="auto">
          <a:xfrm>
            <a:off x="6313488" y="14922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6" name="Text Box 137"/>
          <p:cNvSpPr txBox="1">
            <a:spLocks noChangeArrowheads="1"/>
          </p:cNvSpPr>
          <p:nvPr/>
        </p:nvSpPr>
        <p:spPr bwMode="auto">
          <a:xfrm>
            <a:off x="6950075" y="14017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6937" name="Oval 138"/>
          <p:cNvSpPr>
            <a:spLocks noChangeArrowheads="1"/>
          </p:cNvSpPr>
          <p:nvPr/>
        </p:nvSpPr>
        <p:spPr bwMode="auto">
          <a:xfrm>
            <a:off x="7270750" y="14493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38" name="Text Box 139"/>
          <p:cNvSpPr txBox="1">
            <a:spLocks noChangeArrowheads="1"/>
          </p:cNvSpPr>
          <p:nvPr/>
        </p:nvSpPr>
        <p:spPr bwMode="auto">
          <a:xfrm>
            <a:off x="2663825" y="1401763"/>
            <a:ext cx="501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76939" name="Oval 140"/>
          <p:cNvSpPr>
            <a:spLocks noChangeArrowheads="1"/>
          </p:cNvSpPr>
          <p:nvPr/>
        </p:nvSpPr>
        <p:spPr bwMode="auto">
          <a:xfrm>
            <a:off x="2984500" y="1449388"/>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6940" name="Text Box 141"/>
          <p:cNvSpPr txBox="1">
            <a:spLocks noChangeArrowheads="1"/>
          </p:cNvSpPr>
          <p:nvPr/>
        </p:nvSpPr>
        <p:spPr bwMode="auto">
          <a:xfrm>
            <a:off x="4419600" y="4492625"/>
            <a:ext cx="4397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6941" name="Text Box 142"/>
          <p:cNvSpPr txBox="1">
            <a:spLocks noChangeArrowheads="1"/>
          </p:cNvSpPr>
          <p:nvPr/>
        </p:nvSpPr>
        <p:spPr bwMode="auto">
          <a:xfrm>
            <a:off x="4519613" y="5178425"/>
            <a:ext cx="4397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4000">
                <a:latin typeface="宋体" panose="02010600030101010101" pitchFamily="2" charset="-122"/>
              </a:rPr>
              <a:t>ø</a:t>
            </a:r>
            <a:endParaRPr kumimoji="0" lang="en-US" altLang="zh-CN" sz="4000">
              <a:latin typeface="Tahoma" panose="020B0604030504040204" pitchFamily="34" charset="0"/>
            </a:endParaRPr>
          </a:p>
        </p:txBody>
      </p:sp>
      <p:sp>
        <p:nvSpPr>
          <p:cNvPr id="76942" name="Line 143"/>
          <p:cNvSpPr>
            <a:spLocks noChangeShapeType="1"/>
          </p:cNvSpPr>
          <p:nvPr/>
        </p:nvSpPr>
        <p:spPr bwMode="auto">
          <a:xfrm>
            <a:off x="4611688" y="5462588"/>
            <a:ext cx="25717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76943" name="Group 144"/>
          <p:cNvGrpSpPr/>
          <p:nvPr/>
        </p:nvGrpSpPr>
        <p:grpSpPr bwMode="auto">
          <a:xfrm>
            <a:off x="4683125" y="4448175"/>
            <a:ext cx="800100" cy="271463"/>
            <a:chOff x="3258" y="2997"/>
            <a:chExt cx="504" cy="171"/>
          </a:xfrm>
        </p:grpSpPr>
        <p:sp>
          <p:nvSpPr>
            <p:cNvPr id="76962" name="Line 14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3" name="Line 14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4" name="Line 14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5" name="Line 14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6" name="Line 14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7" name="Line 15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8" name="Line 15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9" name="Line 15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70" name="Line 15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76944" name="Group 154"/>
          <p:cNvGrpSpPr/>
          <p:nvPr/>
        </p:nvGrpSpPr>
        <p:grpSpPr bwMode="auto">
          <a:xfrm flipV="1">
            <a:off x="3625850" y="5534025"/>
            <a:ext cx="800100" cy="271463"/>
            <a:chOff x="3258" y="2997"/>
            <a:chExt cx="504" cy="171"/>
          </a:xfrm>
        </p:grpSpPr>
        <p:sp>
          <p:nvSpPr>
            <p:cNvPr id="76953" name="Line 155"/>
            <p:cNvSpPr>
              <a:spLocks noChangeShapeType="1"/>
            </p:cNvSpPr>
            <p:nvPr/>
          </p:nvSpPr>
          <p:spPr bwMode="auto">
            <a:xfrm>
              <a:off x="3258"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4" name="Line 156"/>
            <p:cNvSpPr>
              <a:spLocks noChangeShapeType="1"/>
            </p:cNvSpPr>
            <p:nvPr/>
          </p:nvSpPr>
          <p:spPr bwMode="auto">
            <a:xfrm>
              <a:off x="3339"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5" name="Line 157"/>
            <p:cNvSpPr>
              <a:spLocks noChangeShapeType="1"/>
            </p:cNvSpPr>
            <p:nvPr/>
          </p:nvSpPr>
          <p:spPr bwMode="auto">
            <a:xfrm>
              <a:off x="3339"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6" name="Line 158"/>
            <p:cNvSpPr>
              <a:spLocks noChangeShapeType="1"/>
            </p:cNvSpPr>
            <p:nvPr/>
          </p:nvSpPr>
          <p:spPr bwMode="auto">
            <a:xfrm>
              <a:off x="3447"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7" name="Line 159"/>
            <p:cNvSpPr>
              <a:spLocks noChangeShapeType="1"/>
            </p:cNvSpPr>
            <p:nvPr/>
          </p:nvSpPr>
          <p:spPr bwMode="auto">
            <a:xfrm>
              <a:off x="3456" y="2997"/>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8" name="Line 160"/>
            <p:cNvSpPr>
              <a:spLocks noChangeShapeType="1"/>
            </p:cNvSpPr>
            <p:nvPr/>
          </p:nvSpPr>
          <p:spPr bwMode="auto">
            <a:xfrm>
              <a:off x="3564"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59" name="Line 161"/>
            <p:cNvSpPr>
              <a:spLocks noChangeShapeType="1"/>
            </p:cNvSpPr>
            <p:nvPr/>
          </p:nvSpPr>
          <p:spPr bwMode="auto">
            <a:xfrm>
              <a:off x="3573" y="3168"/>
              <a:ext cx="108"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0" name="Line 162"/>
            <p:cNvSpPr>
              <a:spLocks noChangeShapeType="1"/>
            </p:cNvSpPr>
            <p:nvPr/>
          </p:nvSpPr>
          <p:spPr bwMode="auto">
            <a:xfrm>
              <a:off x="3681" y="2997"/>
              <a:ext cx="0" cy="17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6961" name="Line 163"/>
            <p:cNvSpPr>
              <a:spLocks noChangeShapeType="1"/>
            </p:cNvSpPr>
            <p:nvPr/>
          </p:nvSpPr>
          <p:spPr bwMode="auto">
            <a:xfrm>
              <a:off x="3681" y="2997"/>
              <a:ext cx="8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76945" name="Text Box 164"/>
          <p:cNvSpPr txBox="1">
            <a:spLocks noChangeArrowheads="1"/>
          </p:cNvSpPr>
          <p:nvPr/>
        </p:nvSpPr>
        <p:spPr bwMode="auto">
          <a:xfrm>
            <a:off x="2033588" y="2535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46" name="Text Box 165"/>
          <p:cNvSpPr txBox="1">
            <a:spLocks noChangeArrowheads="1"/>
          </p:cNvSpPr>
          <p:nvPr/>
        </p:nvSpPr>
        <p:spPr bwMode="auto">
          <a:xfrm>
            <a:off x="4148138" y="2535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47" name="Text Box 166"/>
          <p:cNvSpPr txBox="1">
            <a:spLocks noChangeArrowheads="1"/>
          </p:cNvSpPr>
          <p:nvPr/>
        </p:nvSpPr>
        <p:spPr bwMode="auto">
          <a:xfrm>
            <a:off x="6234113" y="253523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48" name="Text Box 167"/>
          <p:cNvSpPr txBox="1">
            <a:spLocks noChangeArrowheads="1"/>
          </p:cNvSpPr>
          <p:nvPr/>
        </p:nvSpPr>
        <p:spPr bwMode="auto">
          <a:xfrm>
            <a:off x="3205163" y="4435475"/>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76949" name="Text Box 168"/>
          <p:cNvSpPr txBox="1">
            <a:spLocks noChangeArrowheads="1"/>
          </p:cNvSpPr>
          <p:nvPr/>
        </p:nvSpPr>
        <p:spPr bwMode="auto">
          <a:xfrm>
            <a:off x="3290888" y="2921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50" name="Text Box 169"/>
          <p:cNvSpPr txBox="1">
            <a:spLocks noChangeArrowheads="1"/>
          </p:cNvSpPr>
          <p:nvPr/>
        </p:nvSpPr>
        <p:spPr bwMode="auto">
          <a:xfrm>
            <a:off x="5462588" y="2906713"/>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51" name="Text Box 170"/>
          <p:cNvSpPr txBox="1">
            <a:spLocks noChangeArrowheads="1"/>
          </p:cNvSpPr>
          <p:nvPr/>
        </p:nvSpPr>
        <p:spPr bwMode="auto">
          <a:xfrm>
            <a:off x="7534275" y="2921000"/>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
        <p:nvSpPr>
          <p:cNvPr id="76952" name="Text Box 171"/>
          <p:cNvSpPr txBox="1">
            <a:spLocks noChangeArrowheads="1"/>
          </p:cNvSpPr>
          <p:nvPr/>
        </p:nvSpPr>
        <p:spPr bwMode="auto">
          <a:xfrm>
            <a:off x="1847850" y="5792788"/>
            <a:ext cx="34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0</a:t>
            </a:r>
            <a:endParaRPr kumimoji="0" lang="en-US" altLang="zh-CN" sz="2000">
              <a:latin typeface="Tahoma" panose="020B0604030504040204" pitchFamily="34" charset="0"/>
              <a:ea typeface="宋体" panose="02010600030101010101" pitchFamily="2" charset="-122"/>
            </a:endParaRPr>
          </a:p>
        </p:txBody>
      </p:sp>
    </p:spTree>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lstStyle/>
          <a:p>
            <a:pPr eaLnBrk="1" hangingPunct="1"/>
            <a:r>
              <a:rPr lang="zh-CN" altLang="en-US"/>
              <a:t>时序信号产生器（</a:t>
            </a:r>
            <a:r>
              <a:rPr lang="en-US" altLang="zh-CN"/>
              <a:t>2</a:t>
            </a:r>
            <a:r>
              <a:rPr lang="zh-CN" altLang="en-US"/>
              <a:t>）</a:t>
            </a:r>
            <a:endParaRPr lang="zh-CN" altLang="en-US"/>
          </a:p>
        </p:txBody>
      </p:sp>
      <p:sp>
        <p:nvSpPr>
          <p:cNvPr id="77826" name="Rectangle 3"/>
          <p:cNvSpPr>
            <a:spLocks noGrp="1" noChangeArrowheads="1"/>
          </p:cNvSpPr>
          <p:nvPr>
            <p:ph idx="1"/>
          </p:nvPr>
        </p:nvSpPr>
        <p:spPr>
          <a:xfrm>
            <a:off x="152400" y="1087437"/>
            <a:ext cx="8736012" cy="5516563"/>
          </a:xfrm>
        </p:spPr>
        <p:txBody>
          <a:bodyPr/>
          <a:lstStyle/>
          <a:p>
            <a:pPr eaLnBrk="1" hangingPunct="1">
              <a:lnSpc>
                <a:spcPct val="90000"/>
              </a:lnSpc>
            </a:pPr>
            <a:r>
              <a:rPr lang="zh-CN" altLang="en-US" dirty="0"/>
              <a:t>节拍脉冲和存储器读</a:t>
            </a:r>
            <a:r>
              <a:rPr lang="en-US" altLang="zh-CN" dirty="0"/>
              <a:t>/</a:t>
            </a:r>
            <a:r>
              <a:rPr lang="zh-CN" altLang="en-US" dirty="0"/>
              <a:t>写时序的译码</a:t>
            </a:r>
            <a:endParaRPr lang="zh-CN" altLang="en-US" dirty="0"/>
          </a:p>
          <a:p>
            <a:pPr lvl="1" eaLnBrk="1" hangingPunct="1">
              <a:lnSpc>
                <a:spcPct val="90000"/>
              </a:lnSpc>
            </a:pPr>
            <a:r>
              <a:rPr lang="zh-CN" altLang="en-US" dirty="0"/>
              <a:t>若在一个</a:t>
            </a:r>
            <a:r>
              <a:rPr lang="en-US" altLang="zh-CN" dirty="0"/>
              <a:t>CPU</a:t>
            </a:r>
            <a:r>
              <a:rPr lang="zh-CN" altLang="en-US" dirty="0"/>
              <a:t>周期中产生四个等间隔的节拍脉冲，则其译码逻辑可表示为：</a:t>
            </a:r>
            <a:endParaRPr lang="zh-CN" altLang="en-US" dirty="0"/>
          </a:p>
          <a:p>
            <a:pPr lvl="1" eaLnBrk="1" hangingPunct="1">
              <a:lnSpc>
                <a:spcPct val="90000"/>
              </a:lnSpc>
            </a:pPr>
            <a:endParaRPr lang="zh-CN" altLang="en-US" dirty="0"/>
          </a:p>
          <a:p>
            <a:pPr lvl="1" eaLnBrk="1" hangingPunct="1">
              <a:lnSpc>
                <a:spcPct val="90000"/>
              </a:lnSpc>
            </a:pPr>
            <a:endParaRPr lang="zh-CN" altLang="en-US" sz="3200" dirty="0"/>
          </a:p>
          <a:p>
            <a:pPr lvl="1" eaLnBrk="1" hangingPunct="1">
              <a:lnSpc>
                <a:spcPct val="90000"/>
              </a:lnSpc>
            </a:pPr>
            <a:endParaRPr lang="zh-CN" altLang="en-US" sz="3200" dirty="0"/>
          </a:p>
          <a:p>
            <a:pPr lvl="1" eaLnBrk="1" hangingPunct="1">
              <a:lnSpc>
                <a:spcPct val="90000"/>
              </a:lnSpc>
            </a:pPr>
            <a:r>
              <a:rPr lang="zh-CN" altLang="en-US" dirty="0"/>
              <a:t>存储器读</a:t>
            </a:r>
            <a:r>
              <a:rPr lang="en-US" altLang="zh-CN" dirty="0"/>
              <a:t>/</a:t>
            </a:r>
            <a:r>
              <a:rPr lang="zh-CN" altLang="en-US" dirty="0"/>
              <a:t>写时序信号的译码逻辑表达式为</a:t>
            </a:r>
            <a:endParaRPr lang="zh-CN" altLang="en-US" dirty="0"/>
          </a:p>
          <a:p>
            <a:pPr eaLnBrk="1" hangingPunct="1">
              <a:lnSpc>
                <a:spcPct val="90000"/>
              </a:lnSpc>
            </a:pPr>
            <a:endParaRPr lang="zh-CN" altLang="en-US" sz="2800" dirty="0"/>
          </a:p>
          <a:p>
            <a:pPr eaLnBrk="1" hangingPunct="1">
              <a:lnSpc>
                <a:spcPct val="90000"/>
              </a:lnSpc>
            </a:pPr>
            <a:endParaRPr lang="zh-CN" altLang="en-US" dirty="0"/>
          </a:p>
          <a:p>
            <a:pPr lvl="1" eaLnBrk="1" hangingPunct="1">
              <a:lnSpc>
                <a:spcPct val="90000"/>
              </a:lnSpc>
              <a:buFont typeface="Wingdings" panose="05000000000000000000" pitchFamily="2" charset="2"/>
              <a:buNone/>
            </a:pPr>
            <a:r>
              <a:rPr lang="en-US" altLang="zh-CN" sz="3200" dirty="0"/>
              <a:t>   </a:t>
            </a:r>
            <a:r>
              <a:rPr lang="en-US" altLang="zh-CN" dirty="0">
                <a:solidFill>
                  <a:srgbClr val="C00000"/>
                </a:solidFill>
              </a:rPr>
              <a:t>RD</a:t>
            </a:r>
            <a:r>
              <a:rPr lang="en-US" altLang="zh-CN" dirty="0">
                <a:solidFill>
                  <a:srgbClr val="C00000"/>
                </a:solidFill>
                <a:sym typeface="Symbol" panose="05050102010706020507" pitchFamily="18" charset="2"/>
              </a:rPr>
              <a:t></a:t>
            </a:r>
            <a:r>
              <a:rPr lang="zh-CN" altLang="en-US" dirty="0">
                <a:solidFill>
                  <a:srgbClr val="C00000"/>
                </a:solidFill>
              </a:rPr>
              <a:t>、</a:t>
            </a:r>
            <a:r>
              <a:rPr lang="en-US" altLang="zh-CN" dirty="0">
                <a:solidFill>
                  <a:srgbClr val="C00000"/>
                </a:solidFill>
              </a:rPr>
              <a:t>WE</a:t>
            </a:r>
            <a:r>
              <a:rPr lang="en-US" altLang="zh-CN" dirty="0">
                <a:solidFill>
                  <a:srgbClr val="C00000"/>
                </a:solidFill>
                <a:sym typeface="Symbol" panose="05050102010706020507" pitchFamily="18" charset="2"/>
              </a:rPr>
              <a:t></a:t>
            </a:r>
            <a:r>
              <a:rPr lang="zh-CN" altLang="en-US" dirty="0">
                <a:solidFill>
                  <a:srgbClr val="C00000"/>
                </a:solidFill>
              </a:rPr>
              <a:t>信号来自微程序控制器的控制信号，都是持续时间为一个</a:t>
            </a:r>
            <a:r>
              <a:rPr lang="en-US" altLang="zh-CN" dirty="0">
                <a:solidFill>
                  <a:srgbClr val="C00000"/>
                </a:solidFill>
              </a:rPr>
              <a:t>CPU</a:t>
            </a:r>
            <a:r>
              <a:rPr lang="zh-CN" altLang="en-US" dirty="0">
                <a:solidFill>
                  <a:srgbClr val="C00000"/>
                </a:solidFill>
              </a:rPr>
              <a:t>周期的节拍电位信号</a:t>
            </a:r>
            <a:endParaRPr lang="zh-CN" altLang="en-US" dirty="0">
              <a:solidFill>
                <a:srgbClr val="C00000"/>
              </a:solidFill>
            </a:endParaRPr>
          </a:p>
        </p:txBody>
      </p:sp>
      <p:sp>
        <p:nvSpPr>
          <p:cNvPr id="77828" name="Text Box 4"/>
          <p:cNvSpPr txBox="1">
            <a:spLocks noChangeArrowheads="1"/>
          </p:cNvSpPr>
          <p:nvPr/>
        </p:nvSpPr>
        <p:spPr bwMode="auto">
          <a:xfrm>
            <a:off x="1827213" y="2479675"/>
            <a:ext cx="1493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1</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77829" name="Line 5"/>
          <p:cNvSpPr>
            <a:spLocks noChangeShapeType="1"/>
          </p:cNvSpPr>
          <p:nvPr/>
        </p:nvSpPr>
        <p:spPr bwMode="auto">
          <a:xfrm>
            <a:off x="2890838" y="2568575"/>
            <a:ext cx="285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7830" name="Oval 6"/>
          <p:cNvSpPr>
            <a:spLocks noChangeArrowheads="1"/>
          </p:cNvSpPr>
          <p:nvPr/>
        </p:nvSpPr>
        <p:spPr bwMode="auto">
          <a:xfrm>
            <a:off x="2149475" y="252730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1" name="Text Box 7"/>
          <p:cNvSpPr txBox="1">
            <a:spLocks noChangeArrowheads="1"/>
          </p:cNvSpPr>
          <p:nvPr/>
        </p:nvSpPr>
        <p:spPr bwMode="auto">
          <a:xfrm>
            <a:off x="4970463" y="2465388"/>
            <a:ext cx="1493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2</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7832" name="Line 8"/>
          <p:cNvSpPr>
            <a:spLocks noChangeShapeType="1"/>
          </p:cNvSpPr>
          <p:nvPr/>
        </p:nvSpPr>
        <p:spPr bwMode="auto">
          <a:xfrm>
            <a:off x="6034088" y="2554288"/>
            <a:ext cx="285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7833" name="Oval 9"/>
          <p:cNvSpPr>
            <a:spLocks noChangeArrowheads="1"/>
          </p:cNvSpPr>
          <p:nvPr/>
        </p:nvSpPr>
        <p:spPr bwMode="auto">
          <a:xfrm>
            <a:off x="5292725" y="25130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4" name="Text Box 10"/>
          <p:cNvSpPr txBox="1">
            <a:spLocks noChangeArrowheads="1"/>
          </p:cNvSpPr>
          <p:nvPr/>
        </p:nvSpPr>
        <p:spPr bwMode="auto">
          <a:xfrm>
            <a:off x="1812925" y="2963863"/>
            <a:ext cx="1084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77835" name="Oval 12"/>
          <p:cNvSpPr>
            <a:spLocks noChangeArrowheads="1"/>
          </p:cNvSpPr>
          <p:nvPr/>
        </p:nvSpPr>
        <p:spPr bwMode="auto">
          <a:xfrm>
            <a:off x="2135188" y="301307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6" name="Text Box 13"/>
          <p:cNvSpPr txBox="1">
            <a:spLocks noChangeArrowheads="1"/>
          </p:cNvSpPr>
          <p:nvPr/>
        </p:nvSpPr>
        <p:spPr bwMode="auto">
          <a:xfrm>
            <a:off x="4970463" y="3035300"/>
            <a:ext cx="1084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r>
              <a:rPr kumimoji="0" lang="en-US" altLang="zh-CN" sz="2400">
                <a:latin typeface="Tahoma" panose="020B0604030504040204" pitchFamily="34" charset="0"/>
                <a:ea typeface="宋体" panose="02010600030101010101" pitchFamily="2" charset="-122"/>
              </a:rPr>
              <a:t>=C</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77837" name="Oval 14"/>
          <p:cNvSpPr>
            <a:spLocks noChangeArrowheads="1"/>
          </p:cNvSpPr>
          <p:nvPr/>
        </p:nvSpPr>
        <p:spPr bwMode="auto">
          <a:xfrm>
            <a:off x="5292725" y="3084513"/>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8" name="Line 15"/>
          <p:cNvSpPr>
            <a:spLocks noChangeShapeType="1"/>
          </p:cNvSpPr>
          <p:nvPr/>
        </p:nvSpPr>
        <p:spPr bwMode="auto">
          <a:xfrm>
            <a:off x="5619750" y="3125788"/>
            <a:ext cx="285750"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7839" name="Text Box 16"/>
          <p:cNvSpPr txBox="1">
            <a:spLocks noChangeArrowheads="1"/>
          </p:cNvSpPr>
          <p:nvPr/>
        </p:nvSpPr>
        <p:spPr bwMode="auto">
          <a:xfrm>
            <a:off x="1817688" y="4381500"/>
            <a:ext cx="1863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RD=C</a:t>
            </a:r>
            <a:r>
              <a:rPr kumimoji="0" lang="en-US" altLang="zh-CN" sz="2400" baseline="-25000">
                <a:latin typeface="Tahoma" panose="020B0604030504040204" pitchFamily="34" charset="0"/>
                <a:ea typeface="宋体" panose="02010600030101010101" pitchFamily="2" charset="-122"/>
              </a:rPr>
              <a:t>2</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RD</a:t>
            </a:r>
            <a:r>
              <a:rPr kumimoji="0" lang="en-US" altLang="zh-CN" sz="2400">
                <a:latin typeface="Arial" panose="020B0604020202020204" pitchFamily="34" charset="0"/>
                <a:ea typeface="宋体" panose="02010600030101010101" pitchFamily="2" charset="-122"/>
                <a:sym typeface="Symbol" panose="05050102010706020507" pitchFamily="18" charset="2"/>
              </a:rPr>
              <a:t></a:t>
            </a:r>
            <a:endParaRPr kumimoji="0" lang="en-US" altLang="zh-CN" sz="2400" baseline="-25000">
              <a:latin typeface="Tahoma" panose="020B0604030504040204" pitchFamily="34" charset="0"/>
              <a:ea typeface="宋体" panose="02010600030101010101" pitchFamily="2" charset="-122"/>
            </a:endParaRPr>
          </a:p>
        </p:txBody>
      </p:sp>
      <p:sp>
        <p:nvSpPr>
          <p:cNvPr id="77840" name="Oval 17"/>
          <p:cNvSpPr>
            <a:spLocks noChangeArrowheads="1"/>
          </p:cNvSpPr>
          <p:nvPr/>
        </p:nvSpPr>
        <p:spPr bwMode="auto">
          <a:xfrm>
            <a:off x="2297113" y="4429125"/>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41" name="Text Box 18"/>
          <p:cNvSpPr txBox="1">
            <a:spLocks noChangeArrowheads="1"/>
          </p:cNvSpPr>
          <p:nvPr/>
        </p:nvSpPr>
        <p:spPr bwMode="auto">
          <a:xfrm>
            <a:off x="4960938" y="4367213"/>
            <a:ext cx="1962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WE=C</a:t>
            </a:r>
            <a:r>
              <a:rPr kumimoji="0" lang="en-US" altLang="zh-CN" sz="2400" baseline="-25000">
                <a:latin typeface="Tahoma" panose="020B0604030504040204" pitchFamily="34" charset="0"/>
                <a:ea typeface="宋体" panose="02010600030101010101" pitchFamily="2" charset="-122"/>
              </a:rPr>
              <a:t>3</a:t>
            </a:r>
            <a:r>
              <a:rPr kumimoji="0" lang="en-US" altLang="zh-CN" sz="2400">
                <a:ea typeface="宋体" panose="02010600030101010101" pitchFamily="2" charset="-122"/>
                <a:cs typeface="Times New Roman" panose="02020603050405020304" pitchFamily="18" charset="0"/>
              </a:rPr>
              <a:t>·</a:t>
            </a:r>
            <a:r>
              <a:rPr kumimoji="0" lang="en-US" altLang="zh-CN" sz="2400">
                <a:latin typeface="Tahoma" panose="020B0604030504040204" pitchFamily="34" charset="0"/>
                <a:ea typeface="宋体" panose="02010600030101010101" pitchFamily="2" charset="-122"/>
              </a:rPr>
              <a:t>WE</a:t>
            </a:r>
            <a:r>
              <a:rPr kumimoji="0" lang="en-US" altLang="zh-CN" sz="2400">
                <a:latin typeface="Arial" panose="020B0604020202020204" pitchFamily="34" charset="0"/>
                <a:ea typeface="宋体" panose="02010600030101010101" pitchFamily="2" charset="-122"/>
                <a:sym typeface="Symbol" panose="05050102010706020507" pitchFamily="18" charset="2"/>
              </a:rPr>
              <a:t></a:t>
            </a:r>
            <a:endParaRPr kumimoji="0" lang="en-US" altLang="zh-CN" sz="2400" baseline="-25000">
              <a:latin typeface="Tahoma" panose="020B0604030504040204" pitchFamily="34" charset="0"/>
              <a:ea typeface="宋体" panose="02010600030101010101" pitchFamily="2" charset="-122"/>
            </a:endParaRPr>
          </a:p>
        </p:txBody>
      </p:sp>
      <p:sp>
        <p:nvSpPr>
          <p:cNvPr id="77842" name="Oval 19"/>
          <p:cNvSpPr>
            <a:spLocks noChangeArrowheads="1"/>
          </p:cNvSpPr>
          <p:nvPr/>
        </p:nvSpPr>
        <p:spPr bwMode="auto">
          <a:xfrm>
            <a:off x="5540375" y="4400550"/>
            <a:ext cx="88900" cy="88900"/>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pPr eaLnBrk="1" hangingPunct="1"/>
            <a:r>
              <a:rPr lang="zh-CN" altLang="en-US"/>
              <a:t>节拍电位与节拍脉冲时序关系图</a:t>
            </a:r>
            <a:r>
              <a:rPr lang="en-US" altLang="zh-CN"/>
              <a:t>2</a:t>
            </a:r>
            <a:endParaRPr lang="zh-CN" altLang="en-US"/>
          </a:p>
        </p:txBody>
      </p:sp>
      <p:sp>
        <p:nvSpPr>
          <p:cNvPr id="78850" name="页脚占位符 3"/>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计算机学院体系结构中心</a:t>
            </a:r>
            <a:endParaRPr lang="zh-CN" altLang="en-US" sz="1600">
              <a:solidFill>
                <a:srgbClr val="0099FF"/>
              </a:solidFill>
              <a:latin typeface="楷体_GB2312" pitchFamily="49" charset="-122"/>
            </a:endParaRPr>
          </a:p>
        </p:txBody>
      </p:sp>
      <p:pic>
        <p:nvPicPr>
          <p:cNvPr id="78851" name="Picture 5" descr="p27"/>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1344613"/>
            <a:ext cx="752633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pPr eaLnBrk="1" hangingPunct="1"/>
            <a:r>
              <a:rPr lang="zh-CN" altLang="en-US"/>
              <a:t>时序信号产生器（</a:t>
            </a:r>
            <a:r>
              <a:rPr lang="en-US" altLang="zh-CN"/>
              <a:t>3</a:t>
            </a:r>
            <a:r>
              <a:rPr lang="zh-CN" altLang="en-US"/>
              <a:t>）</a:t>
            </a:r>
            <a:endParaRPr lang="zh-CN" altLang="en-US"/>
          </a:p>
        </p:txBody>
      </p:sp>
      <p:sp>
        <p:nvSpPr>
          <p:cNvPr id="79874" name="Rectangle 3"/>
          <p:cNvSpPr>
            <a:spLocks noGrp="1" noChangeArrowheads="1"/>
          </p:cNvSpPr>
          <p:nvPr>
            <p:ph idx="1"/>
          </p:nvPr>
        </p:nvSpPr>
        <p:spPr/>
        <p:txBody>
          <a:bodyPr/>
          <a:lstStyle/>
          <a:p>
            <a:pPr eaLnBrk="1" hangingPunct="1"/>
            <a:r>
              <a:rPr lang="zh-CN" altLang="en-US" sz="3600"/>
              <a:t>启停控制逻辑</a:t>
            </a:r>
            <a:endParaRPr lang="zh-CN" altLang="en-US" sz="3600"/>
          </a:p>
          <a:p>
            <a:pPr lvl="1" eaLnBrk="1" hangingPunct="1"/>
            <a:r>
              <a:rPr lang="zh-CN" altLang="en-US" sz="3200"/>
              <a:t>机器一旦接通电源，就会自动产生原始的节拍脉冲信号</a:t>
            </a:r>
            <a:r>
              <a:rPr lang="en-US" altLang="zh-CN" sz="3200"/>
              <a:t>T</a:t>
            </a:r>
            <a:r>
              <a:rPr lang="en-US" altLang="zh-CN" sz="3200" baseline="-25000"/>
              <a:t>1</a:t>
            </a:r>
            <a:r>
              <a:rPr lang="en-US" altLang="zh-CN" sz="3200" baseline="30000"/>
              <a:t>°</a:t>
            </a:r>
            <a:r>
              <a:rPr lang="en-US" altLang="zh-CN" sz="3200"/>
              <a:t>-T</a:t>
            </a:r>
            <a:r>
              <a:rPr lang="en-US" altLang="zh-CN" sz="3200" baseline="-25000"/>
              <a:t>4</a:t>
            </a:r>
            <a:r>
              <a:rPr lang="en-US" altLang="zh-CN" sz="3200" baseline="30000"/>
              <a:t>°</a:t>
            </a:r>
            <a:r>
              <a:rPr lang="zh-CN" altLang="en-US" sz="3200"/>
              <a:t>。但只有发出启动信号后，才允许时序产生器发出</a:t>
            </a:r>
            <a:r>
              <a:rPr lang="en-US" altLang="zh-CN" sz="3200"/>
              <a:t>CPU</a:t>
            </a:r>
            <a:r>
              <a:rPr lang="zh-CN" altLang="en-US" sz="3200"/>
              <a:t>工作所需的</a:t>
            </a:r>
            <a:r>
              <a:rPr lang="zh-CN" altLang="en-US" sz="3200">
                <a:solidFill>
                  <a:srgbClr val="C00000"/>
                </a:solidFill>
              </a:rPr>
              <a:t>完整</a:t>
            </a:r>
            <a:r>
              <a:rPr lang="zh-CN" altLang="en-US" sz="3200"/>
              <a:t>节拍脉冲</a:t>
            </a:r>
            <a:r>
              <a:rPr lang="en-US" altLang="zh-CN" sz="3200"/>
              <a:t>T</a:t>
            </a:r>
            <a:r>
              <a:rPr lang="en-US" altLang="zh-CN" sz="3200" baseline="-25000"/>
              <a:t>1</a:t>
            </a:r>
            <a:r>
              <a:rPr lang="en-US" altLang="zh-CN" sz="3200" baseline="30000">
                <a:solidFill>
                  <a:srgbClr val="000000"/>
                </a:solidFill>
                <a:ea typeface="楷体_GB2312" pitchFamily="49" charset="-122"/>
              </a:rPr>
              <a:t>°</a:t>
            </a:r>
            <a:r>
              <a:rPr lang="en-US" altLang="zh-CN" sz="3200"/>
              <a:t>-T</a:t>
            </a:r>
            <a:r>
              <a:rPr lang="en-US" altLang="zh-CN" sz="3200" baseline="-25000"/>
              <a:t>4</a:t>
            </a:r>
            <a:r>
              <a:rPr lang="en-US" altLang="zh-CN" sz="3200" baseline="30000">
                <a:solidFill>
                  <a:srgbClr val="000000"/>
                </a:solidFill>
                <a:ea typeface="楷体_GB2312" pitchFamily="49" charset="-122"/>
              </a:rPr>
              <a:t>°</a:t>
            </a:r>
            <a:endParaRPr lang="en-US" altLang="zh-CN" sz="3200" baseline="-25000"/>
          </a:p>
          <a:p>
            <a:pPr lvl="1" eaLnBrk="1" hangingPunct="1"/>
            <a:r>
              <a:rPr lang="zh-CN" altLang="en-US" sz="3200"/>
              <a:t>故需要由启停控制逻辑来控制</a:t>
            </a:r>
            <a:r>
              <a:rPr lang="en-US" altLang="zh-CN" sz="3200">
                <a:solidFill>
                  <a:srgbClr val="000000"/>
                </a:solidFill>
                <a:ea typeface="楷体_GB2312" pitchFamily="49" charset="-122"/>
              </a:rPr>
              <a:t>T</a:t>
            </a:r>
            <a:r>
              <a:rPr lang="en-US" altLang="zh-CN" sz="3200" baseline="-25000">
                <a:solidFill>
                  <a:srgbClr val="000000"/>
                </a:solidFill>
                <a:ea typeface="楷体_GB2312" pitchFamily="49" charset="-122"/>
              </a:rPr>
              <a:t>1</a:t>
            </a:r>
            <a:r>
              <a:rPr lang="en-US" altLang="zh-CN" sz="3200" baseline="30000">
                <a:solidFill>
                  <a:srgbClr val="000000"/>
                </a:solidFill>
                <a:ea typeface="楷体_GB2312" pitchFamily="49" charset="-122"/>
              </a:rPr>
              <a:t>°</a:t>
            </a:r>
            <a:r>
              <a:rPr lang="en-US" altLang="zh-CN" sz="3200">
                <a:solidFill>
                  <a:srgbClr val="000000"/>
                </a:solidFill>
                <a:ea typeface="楷体_GB2312" pitchFamily="49" charset="-122"/>
              </a:rPr>
              <a:t>-T</a:t>
            </a:r>
            <a:r>
              <a:rPr lang="en-US" altLang="zh-CN" sz="3200" baseline="-25000">
                <a:solidFill>
                  <a:srgbClr val="000000"/>
                </a:solidFill>
                <a:ea typeface="楷体_GB2312" pitchFamily="49" charset="-122"/>
              </a:rPr>
              <a:t>4</a:t>
            </a:r>
            <a:r>
              <a:rPr lang="en-US" altLang="zh-CN" sz="3200" baseline="30000">
                <a:solidFill>
                  <a:srgbClr val="000000"/>
                </a:solidFill>
                <a:ea typeface="楷体_GB2312" pitchFamily="49" charset="-122"/>
              </a:rPr>
              <a:t>°</a:t>
            </a:r>
            <a:r>
              <a:rPr lang="zh-CN" altLang="en-US" sz="3200"/>
              <a:t>以及读</a:t>
            </a:r>
            <a:r>
              <a:rPr lang="en-US" altLang="zh-CN" sz="3200"/>
              <a:t>/</a:t>
            </a:r>
            <a:r>
              <a:rPr lang="zh-CN" altLang="en-US" sz="3200"/>
              <a:t>写信号的产生</a:t>
            </a:r>
            <a:endParaRPr lang="zh-CN" altLang="en-US" sz="3200"/>
          </a:p>
        </p:txBody>
      </p:sp>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0" y="304800"/>
            <a:ext cx="8839200" cy="812800"/>
          </a:xfrm>
        </p:spPr>
        <p:txBody>
          <a:bodyPr/>
          <a:lstStyle/>
          <a:p>
            <a:pPr eaLnBrk="1" hangingPunct="1"/>
            <a:r>
              <a:rPr lang="zh-CN" altLang="en-US" sz="4000" dirty="0"/>
              <a:t>启动信号保证产生完整的</a:t>
            </a:r>
            <a:r>
              <a:rPr lang="en-US" altLang="zh-CN" sz="4000" dirty="0"/>
              <a:t>CPU</a:t>
            </a:r>
            <a:r>
              <a:rPr lang="zh-CN" altLang="en-US" sz="4000" dirty="0"/>
              <a:t>周期信号</a:t>
            </a:r>
            <a:endParaRPr lang="zh-CN" altLang="en-US" sz="4000" dirty="0"/>
          </a:p>
        </p:txBody>
      </p:sp>
      <p:pic>
        <p:nvPicPr>
          <p:cNvPr id="80899" name="Picture 5" descr="p27"/>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7088" y="1344613"/>
            <a:ext cx="7526337" cy="467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eaLnBrk="1" hangingPunct="1"/>
            <a:r>
              <a:rPr lang="zh-CN" altLang="en-US"/>
              <a:t>启停控制逻辑</a:t>
            </a:r>
            <a:endParaRPr lang="zh-CN" altLang="en-US"/>
          </a:p>
        </p:txBody>
      </p:sp>
      <p:sp>
        <p:nvSpPr>
          <p:cNvPr id="81922" name="Rectangle 3"/>
          <p:cNvSpPr>
            <a:spLocks noGrp="1" noChangeArrowheads="1"/>
          </p:cNvSpPr>
          <p:nvPr>
            <p:ph idx="1"/>
          </p:nvPr>
        </p:nvSpPr>
        <p:spPr>
          <a:xfrm>
            <a:off x="186531" y="1086643"/>
            <a:ext cx="8770938" cy="5053013"/>
          </a:xfrm>
        </p:spPr>
        <p:txBody>
          <a:bodyPr/>
          <a:lstStyle/>
          <a:p>
            <a:pPr eaLnBrk="1" hangingPunct="1"/>
            <a:r>
              <a:rPr kumimoji="0" lang="zh-CN" altLang="en-US" sz="2800" dirty="0"/>
              <a:t>当触发器</a:t>
            </a:r>
            <a:r>
              <a:rPr kumimoji="0" lang="en-US" altLang="zh-CN" sz="2800" dirty="0"/>
              <a:t>Cr</a:t>
            </a:r>
            <a:r>
              <a:rPr kumimoji="0" lang="zh-CN" altLang="en-US" sz="2800" dirty="0"/>
              <a:t>的</a:t>
            </a:r>
            <a:r>
              <a:rPr kumimoji="0" lang="en-US" altLang="zh-CN" sz="2800" dirty="0"/>
              <a:t>Q</a:t>
            </a:r>
            <a:r>
              <a:rPr kumimoji="0" lang="zh-CN" altLang="en-US" sz="2800" dirty="0"/>
              <a:t>端为“</a:t>
            </a:r>
            <a:r>
              <a:rPr kumimoji="0" lang="en-US" altLang="zh-CN" sz="2800" dirty="0"/>
              <a:t>1”</a:t>
            </a:r>
            <a:r>
              <a:rPr kumimoji="0" lang="zh-CN" altLang="en-US" sz="2800" dirty="0"/>
              <a:t>时，原始节拍脉冲和读</a:t>
            </a:r>
            <a:r>
              <a:rPr kumimoji="0" lang="en-US" altLang="zh-CN" sz="2800" dirty="0"/>
              <a:t>/</a:t>
            </a:r>
            <a:r>
              <a:rPr kumimoji="0" lang="zh-CN" altLang="en-US" sz="2800" dirty="0"/>
              <a:t>写信号通过门电路发送出去，变成</a:t>
            </a:r>
            <a:r>
              <a:rPr kumimoji="0" lang="en-US" altLang="zh-CN" sz="2800" dirty="0"/>
              <a:t>CPU</a:t>
            </a:r>
            <a:r>
              <a:rPr kumimoji="0" lang="zh-CN" altLang="en-US" sz="2800" dirty="0"/>
              <a:t>真正需要的节拍脉冲信号和读写时序，反之，就关闭时序产生器</a:t>
            </a:r>
            <a:endParaRPr kumimoji="0" lang="zh-CN" altLang="en-US" sz="2800" dirty="0"/>
          </a:p>
          <a:p>
            <a:pPr eaLnBrk="1" hangingPunct="1"/>
            <a:endParaRPr kumimoji="0" lang="zh-CN" altLang="en-US" sz="2800" b="0" dirty="0"/>
          </a:p>
          <a:p>
            <a:pPr eaLnBrk="1" hangingPunct="1">
              <a:spcBef>
                <a:spcPct val="0"/>
              </a:spcBef>
              <a:buClrTx/>
              <a:buFontTx/>
              <a:buNone/>
            </a:pPr>
            <a:endParaRPr lang="zh-CN" altLang="en-US" sz="2800" dirty="0"/>
          </a:p>
        </p:txBody>
      </p:sp>
      <p:grpSp>
        <p:nvGrpSpPr>
          <p:cNvPr id="81924" name="Group 261"/>
          <p:cNvGrpSpPr/>
          <p:nvPr/>
        </p:nvGrpSpPr>
        <p:grpSpPr bwMode="auto">
          <a:xfrm>
            <a:off x="1568450" y="2382838"/>
            <a:ext cx="6276975" cy="3986212"/>
            <a:chOff x="996" y="1486"/>
            <a:chExt cx="3954" cy="2511"/>
          </a:xfrm>
        </p:grpSpPr>
        <p:sp>
          <p:nvSpPr>
            <p:cNvPr id="81937" name="Rectangle 29"/>
            <p:cNvSpPr>
              <a:spLocks noChangeArrowheads="1"/>
            </p:cNvSpPr>
            <p:nvPr/>
          </p:nvSpPr>
          <p:spPr bwMode="auto">
            <a:xfrm>
              <a:off x="1431" y="2670"/>
              <a:ext cx="801" cy="495"/>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38" name="Text Box 30"/>
            <p:cNvSpPr txBox="1">
              <a:spLocks noChangeArrowheads="1"/>
            </p:cNvSpPr>
            <p:nvPr/>
          </p:nvSpPr>
          <p:spPr bwMode="auto">
            <a:xfrm>
              <a:off x="1454" y="2644"/>
              <a:ext cx="2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solidFill>
                    <a:schemeClr val="bg1"/>
                  </a:solidFill>
                  <a:latin typeface="Tahoma" panose="020B0604030504040204" pitchFamily="34" charset="0"/>
                  <a:ea typeface="宋体" panose="02010600030101010101" pitchFamily="2" charset="-122"/>
                </a:rPr>
                <a:t>Q</a:t>
              </a:r>
              <a:endParaRPr kumimoji="0" lang="en-US" altLang="zh-CN" sz="2000" dirty="0">
                <a:solidFill>
                  <a:schemeClr val="bg1"/>
                </a:solidFill>
                <a:latin typeface="Tahoma" panose="020B0604030504040204" pitchFamily="34" charset="0"/>
                <a:ea typeface="宋体" panose="02010600030101010101" pitchFamily="2" charset="-122"/>
              </a:endParaRPr>
            </a:p>
          </p:txBody>
        </p:sp>
        <p:sp>
          <p:nvSpPr>
            <p:cNvPr id="81939" name="Text Box 31"/>
            <p:cNvSpPr txBox="1">
              <a:spLocks noChangeArrowheads="1"/>
            </p:cNvSpPr>
            <p:nvPr/>
          </p:nvSpPr>
          <p:spPr bwMode="auto">
            <a:xfrm>
              <a:off x="1994" y="2644"/>
              <a:ext cx="2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Q</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81940" name="Line 32"/>
            <p:cNvSpPr>
              <a:spLocks noChangeShapeType="1"/>
            </p:cNvSpPr>
            <p:nvPr/>
          </p:nvSpPr>
          <p:spPr bwMode="auto">
            <a:xfrm>
              <a:off x="2043" y="2697"/>
              <a:ext cx="13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41" name="Text Box 33"/>
            <p:cNvSpPr txBox="1">
              <a:spLocks noChangeArrowheads="1"/>
            </p:cNvSpPr>
            <p:nvPr/>
          </p:nvSpPr>
          <p:spPr bwMode="auto">
            <a:xfrm>
              <a:off x="1991" y="2956"/>
              <a:ext cx="2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81942" name="Text Box 34"/>
            <p:cNvSpPr txBox="1">
              <a:spLocks noChangeArrowheads="1"/>
            </p:cNvSpPr>
            <p:nvPr/>
          </p:nvSpPr>
          <p:spPr bwMode="auto">
            <a:xfrm>
              <a:off x="1697" y="2815"/>
              <a:ext cx="2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solidFill>
                    <a:schemeClr val="bg1"/>
                  </a:solidFill>
                  <a:latin typeface="Tahoma" panose="020B0604030504040204" pitchFamily="34" charset="0"/>
                  <a:ea typeface="宋体" panose="02010600030101010101" pitchFamily="2" charset="-122"/>
                </a:rPr>
                <a:t>Cr</a:t>
              </a:r>
              <a:endParaRPr kumimoji="0" lang="en-US" altLang="zh-CN" sz="2000" dirty="0">
                <a:solidFill>
                  <a:schemeClr val="bg1"/>
                </a:solidFill>
                <a:latin typeface="Tahoma" panose="020B0604030504040204" pitchFamily="34" charset="0"/>
                <a:ea typeface="宋体" panose="02010600030101010101" pitchFamily="2" charset="-122"/>
              </a:endParaRPr>
            </a:p>
          </p:txBody>
        </p:sp>
        <p:sp>
          <p:nvSpPr>
            <p:cNvPr id="81943" name="Text Box 35"/>
            <p:cNvSpPr txBox="1">
              <a:spLocks noChangeArrowheads="1"/>
            </p:cNvSpPr>
            <p:nvPr/>
          </p:nvSpPr>
          <p:spPr bwMode="auto">
            <a:xfrm>
              <a:off x="1454" y="3028"/>
              <a:ext cx="2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dirty="0">
                  <a:solidFill>
                    <a:schemeClr val="bg1"/>
                  </a:solidFill>
                  <a:latin typeface="Tahoma" panose="020B0604030504040204" pitchFamily="34" charset="0"/>
                  <a:ea typeface="宋体" panose="02010600030101010101" pitchFamily="2" charset="-122"/>
                </a:rPr>
                <a:t>^</a:t>
              </a:r>
              <a:endParaRPr kumimoji="0" lang="en-US" altLang="zh-CN" sz="2000" dirty="0">
                <a:solidFill>
                  <a:schemeClr val="bg1"/>
                </a:solidFill>
                <a:latin typeface="Tahoma" panose="020B0604030504040204" pitchFamily="34" charset="0"/>
                <a:ea typeface="宋体" panose="02010600030101010101" pitchFamily="2" charset="-122"/>
              </a:endParaRPr>
            </a:p>
          </p:txBody>
        </p:sp>
        <p:sp>
          <p:nvSpPr>
            <p:cNvPr id="81944" name="Oval 36"/>
            <p:cNvSpPr>
              <a:spLocks noChangeArrowheads="1"/>
            </p:cNvSpPr>
            <p:nvPr/>
          </p:nvSpPr>
          <p:spPr bwMode="auto">
            <a:xfrm>
              <a:off x="2229" y="2898"/>
              <a:ext cx="63" cy="63"/>
            </a:xfrm>
            <a:prstGeom prst="ellipse">
              <a:avLst/>
            </a:prstGeom>
            <a:noFill/>
            <a:ln w="19050">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63213" name="AutoShape 45"/>
            <p:cNvSpPr>
              <a:spLocks noChangeArrowheads="1"/>
            </p:cNvSpPr>
            <p:nvPr/>
          </p:nvSpPr>
          <p:spPr bwMode="auto">
            <a:xfrm rot="-5400000">
              <a:off x="1164" y="1896"/>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46" name="Line 49"/>
            <p:cNvSpPr>
              <a:spLocks noChangeShapeType="1"/>
            </p:cNvSpPr>
            <p:nvPr/>
          </p:nvSpPr>
          <p:spPr bwMode="auto">
            <a:xfrm>
              <a:off x="2292" y="2931"/>
              <a:ext cx="1845"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47" name="Text Box 50"/>
            <p:cNvSpPr txBox="1">
              <a:spLocks noChangeArrowheads="1"/>
            </p:cNvSpPr>
            <p:nvPr/>
          </p:nvSpPr>
          <p:spPr bwMode="auto">
            <a:xfrm>
              <a:off x="2246" y="2716"/>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latin typeface="Tahoma" panose="020B0604030504040204" pitchFamily="34" charset="0"/>
                  <a:ea typeface="宋体" panose="02010600030101010101" pitchFamily="2" charset="-122"/>
                </a:rPr>
                <a:t>R</a:t>
              </a:r>
              <a:endParaRPr kumimoji="0" lang="en-US" altLang="zh-CN" sz="2000">
                <a:latin typeface="Tahoma" panose="020B0604030504040204" pitchFamily="34" charset="0"/>
                <a:ea typeface="宋体" panose="02010600030101010101" pitchFamily="2" charset="-122"/>
              </a:endParaRPr>
            </a:p>
          </p:txBody>
        </p:sp>
        <p:sp>
          <p:nvSpPr>
            <p:cNvPr id="81948" name="Line 51"/>
            <p:cNvSpPr>
              <a:spLocks noChangeShapeType="1"/>
            </p:cNvSpPr>
            <p:nvPr/>
          </p:nvSpPr>
          <p:spPr bwMode="auto">
            <a:xfrm>
              <a:off x="1575" y="3168"/>
              <a:ext cx="0" cy="327"/>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49" name="Line 52"/>
            <p:cNvSpPr>
              <a:spLocks noChangeShapeType="1"/>
            </p:cNvSpPr>
            <p:nvPr/>
          </p:nvSpPr>
          <p:spPr bwMode="auto">
            <a:xfrm>
              <a:off x="2103" y="3291"/>
              <a:ext cx="627"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0" name="Line 53"/>
            <p:cNvSpPr>
              <a:spLocks noChangeShapeType="1"/>
            </p:cNvSpPr>
            <p:nvPr/>
          </p:nvSpPr>
          <p:spPr bwMode="auto">
            <a:xfrm>
              <a:off x="1575" y="2178"/>
              <a:ext cx="0" cy="486"/>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1" name="Line 55"/>
            <p:cNvSpPr>
              <a:spLocks noChangeShapeType="1"/>
            </p:cNvSpPr>
            <p:nvPr/>
          </p:nvSpPr>
          <p:spPr bwMode="auto">
            <a:xfrm>
              <a:off x="2106" y="3165"/>
              <a:ext cx="0" cy="126"/>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2" name="Line 106"/>
            <p:cNvSpPr>
              <a:spLocks noChangeShapeType="1"/>
            </p:cNvSpPr>
            <p:nvPr/>
          </p:nvSpPr>
          <p:spPr bwMode="auto">
            <a:xfrm flipV="1">
              <a:off x="1203" y="2070"/>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3" name="Line 122"/>
            <p:cNvSpPr>
              <a:spLocks noChangeShapeType="1"/>
            </p:cNvSpPr>
            <p:nvPr/>
          </p:nvSpPr>
          <p:spPr bwMode="auto">
            <a:xfrm flipV="1">
              <a:off x="1257" y="1758"/>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54" name="Text Box 131"/>
            <p:cNvSpPr txBox="1">
              <a:spLocks noChangeArrowheads="1"/>
            </p:cNvSpPr>
            <p:nvPr/>
          </p:nvSpPr>
          <p:spPr bwMode="auto">
            <a:xfrm>
              <a:off x="4443" y="1486"/>
              <a:ext cx="4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81955" name="Text Box 133"/>
            <p:cNvSpPr txBox="1">
              <a:spLocks noChangeArrowheads="1"/>
            </p:cNvSpPr>
            <p:nvPr/>
          </p:nvSpPr>
          <p:spPr bwMode="auto">
            <a:xfrm>
              <a:off x="1812" y="1486"/>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81956" name="Text Box 135"/>
            <p:cNvSpPr txBox="1">
              <a:spLocks noChangeArrowheads="1"/>
            </p:cNvSpPr>
            <p:nvPr/>
          </p:nvSpPr>
          <p:spPr bwMode="auto">
            <a:xfrm>
              <a:off x="3168" y="1486"/>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81957" name="Text Box 137"/>
            <p:cNvSpPr txBox="1">
              <a:spLocks noChangeArrowheads="1"/>
            </p:cNvSpPr>
            <p:nvPr/>
          </p:nvSpPr>
          <p:spPr bwMode="auto">
            <a:xfrm>
              <a:off x="3837" y="1489"/>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81958" name="Text Box 139"/>
            <p:cNvSpPr txBox="1">
              <a:spLocks noChangeArrowheads="1"/>
            </p:cNvSpPr>
            <p:nvPr/>
          </p:nvSpPr>
          <p:spPr bwMode="auto">
            <a:xfrm>
              <a:off x="1131" y="1489"/>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81959" name="Text Box 171"/>
            <p:cNvSpPr txBox="1">
              <a:spLocks noChangeArrowheads="1"/>
            </p:cNvSpPr>
            <p:nvPr/>
          </p:nvSpPr>
          <p:spPr bwMode="auto">
            <a:xfrm>
              <a:off x="2445" y="1486"/>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81960" name="Text Box 186"/>
            <p:cNvSpPr txBox="1">
              <a:spLocks noChangeArrowheads="1"/>
            </p:cNvSpPr>
            <p:nvPr/>
          </p:nvSpPr>
          <p:spPr bwMode="auto">
            <a:xfrm>
              <a:off x="2464" y="2314"/>
              <a:ext cx="4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RD</a:t>
              </a:r>
              <a:endParaRPr kumimoji="0" lang="en-US" altLang="zh-CN" sz="2400">
                <a:latin typeface="Tahoma" panose="020B0604030504040204" pitchFamily="34" charset="0"/>
                <a:ea typeface="宋体" panose="02010600030101010101" pitchFamily="2" charset="-122"/>
              </a:endParaRPr>
            </a:p>
          </p:txBody>
        </p:sp>
        <p:sp>
          <p:nvSpPr>
            <p:cNvPr id="81961" name="Oval 187"/>
            <p:cNvSpPr>
              <a:spLocks noChangeArrowheads="1"/>
            </p:cNvSpPr>
            <p:nvPr/>
          </p:nvSpPr>
          <p:spPr bwMode="auto">
            <a:xfrm>
              <a:off x="2774" y="2320"/>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2" name="Text Box 188"/>
            <p:cNvSpPr txBox="1">
              <a:spLocks noChangeArrowheads="1"/>
            </p:cNvSpPr>
            <p:nvPr/>
          </p:nvSpPr>
          <p:spPr bwMode="auto">
            <a:xfrm>
              <a:off x="4495" y="2314"/>
              <a:ext cx="4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WE</a:t>
              </a:r>
              <a:endParaRPr kumimoji="0" lang="en-US" altLang="zh-CN" sz="2400">
                <a:latin typeface="Tahoma" panose="020B0604030504040204" pitchFamily="34" charset="0"/>
                <a:ea typeface="宋体" panose="02010600030101010101" pitchFamily="2" charset="-122"/>
              </a:endParaRPr>
            </a:p>
          </p:txBody>
        </p:sp>
        <p:sp>
          <p:nvSpPr>
            <p:cNvPr id="81963" name="Oval 189"/>
            <p:cNvSpPr>
              <a:spLocks noChangeArrowheads="1"/>
            </p:cNvSpPr>
            <p:nvPr/>
          </p:nvSpPr>
          <p:spPr bwMode="auto">
            <a:xfrm>
              <a:off x="4859"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4" name="Text Box 190"/>
            <p:cNvSpPr txBox="1">
              <a:spLocks noChangeArrowheads="1"/>
            </p:cNvSpPr>
            <p:nvPr/>
          </p:nvSpPr>
          <p:spPr bwMode="auto">
            <a:xfrm>
              <a:off x="1876"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1</a:t>
              </a:r>
              <a:endParaRPr kumimoji="0" lang="en-US" altLang="zh-CN" sz="2400" baseline="-25000">
                <a:latin typeface="Tahoma" panose="020B0604030504040204" pitchFamily="34" charset="0"/>
                <a:ea typeface="宋体" panose="02010600030101010101" pitchFamily="2" charset="-122"/>
              </a:endParaRPr>
            </a:p>
          </p:txBody>
        </p:sp>
        <p:sp>
          <p:nvSpPr>
            <p:cNvPr id="81965" name="Oval 191"/>
            <p:cNvSpPr>
              <a:spLocks noChangeArrowheads="1"/>
            </p:cNvSpPr>
            <p:nvPr/>
          </p:nvSpPr>
          <p:spPr bwMode="auto">
            <a:xfrm>
              <a:off x="2078"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6" name="Text Box 192"/>
            <p:cNvSpPr txBox="1">
              <a:spLocks noChangeArrowheads="1"/>
            </p:cNvSpPr>
            <p:nvPr/>
          </p:nvSpPr>
          <p:spPr bwMode="auto">
            <a:xfrm>
              <a:off x="3232"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2</a:t>
              </a:r>
              <a:endParaRPr kumimoji="0" lang="en-US" altLang="zh-CN" sz="2400" baseline="-25000">
                <a:latin typeface="Tahoma" panose="020B0604030504040204" pitchFamily="34" charset="0"/>
                <a:ea typeface="宋体" panose="02010600030101010101" pitchFamily="2" charset="-122"/>
              </a:endParaRPr>
            </a:p>
          </p:txBody>
        </p:sp>
        <p:sp>
          <p:nvSpPr>
            <p:cNvPr id="81967" name="Oval 193"/>
            <p:cNvSpPr>
              <a:spLocks noChangeArrowheads="1"/>
            </p:cNvSpPr>
            <p:nvPr/>
          </p:nvSpPr>
          <p:spPr bwMode="auto">
            <a:xfrm>
              <a:off x="3434"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68" name="Text Box 194"/>
            <p:cNvSpPr txBox="1">
              <a:spLocks noChangeArrowheads="1"/>
            </p:cNvSpPr>
            <p:nvPr/>
          </p:nvSpPr>
          <p:spPr bwMode="auto">
            <a:xfrm>
              <a:off x="3901"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3</a:t>
              </a:r>
              <a:endParaRPr kumimoji="0" lang="en-US" altLang="zh-CN" sz="2400" baseline="-25000">
                <a:latin typeface="Tahoma" panose="020B0604030504040204" pitchFamily="34" charset="0"/>
                <a:ea typeface="宋体" panose="02010600030101010101" pitchFamily="2" charset="-122"/>
              </a:endParaRPr>
            </a:p>
          </p:txBody>
        </p:sp>
        <p:sp>
          <p:nvSpPr>
            <p:cNvPr id="81969" name="Oval 195"/>
            <p:cNvSpPr>
              <a:spLocks noChangeArrowheads="1"/>
            </p:cNvSpPr>
            <p:nvPr/>
          </p:nvSpPr>
          <p:spPr bwMode="auto">
            <a:xfrm>
              <a:off x="4103"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70" name="Text Box 196"/>
            <p:cNvSpPr txBox="1">
              <a:spLocks noChangeArrowheads="1"/>
            </p:cNvSpPr>
            <p:nvPr/>
          </p:nvSpPr>
          <p:spPr bwMode="auto">
            <a:xfrm>
              <a:off x="1183" y="2314"/>
              <a:ext cx="3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T</a:t>
              </a:r>
              <a:r>
                <a:rPr kumimoji="0" lang="en-US" altLang="zh-CN" sz="2400" baseline="-25000">
                  <a:latin typeface="Tahoma" panose="020B0604030504040204" pitchFamily="34" charset="0"/>
                  <a:ea typeface="宋体" panose="02010600030101010101" pitchFamily="2" charset="-122"/>
                </a:rPr>
                <a:t>4</a:t>
              </a:r>
              <a:endParaRPr kumimoji="0" lang="en-US" altLang="zh-CN" sz="2400" baseline="-25000">
                <a:latin typeface="Tahoma" panose="020B0604030504040204" pitchFamily="34" charset="0"/>
                <a:ea typeface="宋体" panose="02010600030101010101" pitchFamily="2" charset="-122"/>
              </a:endParaRPr>
            </a:p>
          </p:txBody>
        </p:sp>
        <p:sp>
          <p:nvSpPr>
            <p:cNvPr id="81971" name="Oval 197"/>
            <p:cNvSpPr>
              <a:spLocks noChangeArrowheads="1"/>
            </p:cNvSpPr>
            <p:nvPr/>
          </p:nvSpPr>
          <p:spPr bwMode="auto">
            <a:xfrm>
              <a:off x="1385" y="2314"/>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72" name="Line 198"/>
            <p:cNvSpPr>
              <a:spLocks noChangeShapeType="1"/>
            </p:cNvSpPr>
            <p:nvPr/>
          </p:nvSpPr>
          <p:spPr bwMode="auto">
            <a:xfrm flipV="1">
              <a:off x="1302" y="2070"/>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73" name="Line 199"/>
            <p:cNvSpPr>
              <a:spLocks noChangeShapeType="1"/>
            </p:cNvSpPr>
            <p:nvPr/>
          </p:nvSpPr>
          <p:spPr bwMode="auto">
            <a:xfrm>
              <a:off x="1197" y="2178"/>
              <a:ext cx="375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81974" name="Group 204"/>
            <p:cNvGrpSpPr/>
            <p:nvPr/>
          </p:nvGrpSpPr>
          <p:grpSpPr bwMode="auto">
            <a:xfrm>
              <a:off x="1854" y="1752"/>
              <a:ext cx="180" cy="612"/>
              <a:chOff x="2160" y="1752"/>
              <a:chExt cx="180" cy="612"/>
            </a:xfrm>
          </p:grpSpPr>
          <p:sp>
            <p:nvSpPr>
              <p:cNvPr id="263368" name="AutoShape 200"/>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28" name="Line 201"/>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9" name="Line 202"/>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30" name="Line 203"/>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5" name="Group 205"/>
            <p:cNvGrpSpPr/>
            <p:nvPr/>
          </p:nvGrpSpPr>
          <p:grpSpPr bwMode="auto">
            <a:xfrm>
              <a:off x="2520" y="1752"/>
              <a:ext cx="180" cy="612"/>
              <a:chOff x="2160" y="1752"/>
              <a:chExt cx="180" cy="612"/>
            </a:xfrm>
          </p:grpSpPr>
          <p:sp>
            <p:nvSpPr>
              <p:cNvPr id="263374" name="AutoShape 206"/>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24" name="Line 207"/>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5" name="Line 208"/>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6" name="Line 209"/>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6" name="Group 210"/>
            <p:cNvGrpSpPr/>
            <p:nvPr/>
          </p:nvGrpSpPr>
          <p:grpSpPr bwMode="auto">
            <a:xfrm>
              <a:off x="3210" y="1752"/>
              <a:ext cx="180" cy="612"/>
              <a:chOff x="2160" y="1752"/>
              <a:chExt cx="180" cy="612"/>
            </a:xfrm>
          </p:grpSpPr>
          <p:sp>
            <p:nvSpPr>
              <p:cNvPr id="263379" name="AutoShape 211"/>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20" name="Line 212"/>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1" name="Line 213"/>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22" name="Line 214"/>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7" name="Group 215"/>
            <p:cNvGrpSpPr/>
            <p:nvPr/>
          </p:nvGrpSpPr>
          <p:grpSpPr bwMode="auto">
            <a:xfrm>
              <a:off x="3882" y="1752"/>
              <a:ext cx="180" cy="612"/>
              <a:chOff x="2160" y="1752"/>
              <a:chExt cx="180" cy="612"/>
            </a:xfrm>
          </p:grpSpPr>
          <p:sp>
            <p:nvSpPr>
              <p:cNvPr id="263384" name="AutoShape 216"/>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16" name="Line 217"/>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7" name="Line 218"/>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8" name="Line 219"/>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78" name="Group 220"/>
            <p:cNvGrpSpPr/>
            <p:nvPr/>
          </p:nvGrpSpPr>
          <p:grpSpPr bwMode="auto">
            <a:xfrm>
              <a:off x="4584" y="1752"/>
              <a:ext cx="180" cy="612"/>
              <a:chOff x="2160" y="1752"/>
              <a:chExt cx="180" cy="612"/>
            </a:xfrm>
          </p:grpSpPr>
          <p:sp>
            <p:nvSpPr>
              <p:cNvPr id="263389" name="AutoShape 221"/>
              <p:cNvSpPr>
                <a:spLocks noChangeArrowheads="1"/>
              </p:cNvSpPr>
              <p:nvPr/>
            </p:nvSpPr>
            <p:spPr bwMode="auto">
              <a:xfrm rot="-5400000">
                <a:off x="2160" y="1890"/>
                <a:ext cx="180" cy="180"/>
              </a:xfrm>
              <a:prstGeom prst="flowChartDelay">
                <a:avLst/>
              </a:prstGeom>
              <a:solidFill>
                <a:schemeClr val="accent1"/>
              </a:solidFill>
              <a:ln w="19050">
                <a:no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2012" name="Line 222"/>
              <p:cNvSpPr>
                <a:spLocks noChangeShapeType="1"/>
              </p:cNvSpPr>
              <p:nvPr/>
            </p:nvSpPr>
            <p:spPr bwMode="auto">
              <a:xfrm flipV="1">
                <a:off x="2199" y="2064"/>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3" name="Line 223"/>
              <p:cNvSpPr>
                <a:spLocks noChangeShapeType="1"/>
              </p:cNvSpPr>
              <p:nvPr/>
            </p:nvSpPr>
            <p:spPr bwMode="auto">
              <a:xfrm flipV="1">
                <a:off x="2253" y="1752"/>
                <a:ext cx="0" cy="13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14" name="Line 224"/>
              <p:cNvSpPr>
                <a:spLocks noChangeShapeType="1"/>
              </p:cNvSpPr>
              <p:nvPr/>
            </p:nvSpPr>
            <p:spPr bwMode="auto">
              <a:xfrm flipV="1">
                <a:off x="2298" y="2064"/>
                <a:ext cx="0" cy="30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81979" name="Oval 227"/>
            <p:cNvSpPr>
              <a:spLocks noChangeArrowheads="1"/>
            </p:cNvSpPr>
            <p:nvPr/>
          </p:nvSpPr>
          <p:spPr bwMode="auto">
            <a:xfrm>
              <a:off x="1562" y="2167"/>
              <a:ext cx="34" cy="34"/>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63396" name="Oval 228"/>
            <p:cNvSpPr>
              <a:spLocks noChangeArrowheads="1"/>
            </p:cNvSpPr>
            <p:nvPr/>
          </p:nvSpPr>
          <p:spPr bwMode="auto">
            <a:xfrm>
              <a:off x="1877"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397" name="Oval 229"/>
            <p:cNvSpPr>
              <a:spLocks noChangeArrowheads="1"/>
            </p:cNvSpPr>
            <p:nvPr/>
          </p:nvSpPr>
          <p:spPr bwMode="auto">
            <a:xfrm>
              <a:off x="2537"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398" name="Oval 230"/>
            <p:cNvSpPr>
              <a:spLocks noChangeArrowheads="1"/>
            </p:cNvSpPr>
            <p:nvPr/>
          </p:nvSpPr>
          <p:spPr bwMode="auto">
            <a:xfrm>
              <a:off x="3233"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399" name="Oval 231"/>
            <p:cNvSpPr>
              <a:spLocks noChangeArrowheads="1"/>
            </p:cNvSpPr>
            <p:nvPr/>
          </p:nvSpPr>
          <p:spPr bwMode="auto">
            <a:xfrm>
              <a:off x="3905"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263400" name="Oval 232"/>
            <p:cNvSpPr>
              <a:spLocks noChangeArrowheads="1"/>
            </p:cNvSpPr>
            <p:nvPr/>
          </p:nvSpPr>
          <p:spPr bwMode="auto">
            <a:xfrm>
              <a:off x="4607" y="2158"/>
              <a:ext cx="34" cy="34"/>
            </a:xfrm>
            <a:prstGeom prst="ellipse">
              <a:avLst/>
            </a:prstGeom>
            <a:solidFill>
              <a:schemeClr val="tx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85" name="Oval 233"/>
            <p:cNvSpPr>
              <a:spLocks noChangeArrowheads="1"/>
            </p:cNvSpPr>
            <p:nvPr/>
          </p:nvSpPr>
          <p:spPr bwMode="auto">
            <a:xfrm>
              <a:off x="3542" y="2917"/>
              <a:ext cx="34" cy="34"/>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86" name="Text Box 234"/>
            <p:cNvSpPr txBox="1">
              <a:spLocks noChangeArrowheads="1"/>
            </p:cNvSpPr>
            <p:nvPr/>
          </p:nvSpPr>
          <p:spPr bwMode="auto">
            <a:xfrm>
              <a:off x="996" y="3532"/>
              <a:ext cx="1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        T</a:t>
              </a:r>
              <a:r>
                <a:rPr kumimoji="0" lang="en-US" altLang="zh-CN" sz="2400" baseline="-25000">
                  <a:latin typeface="Tahoma" panose="020B0604030504040204" pitchFamily="34" charset="0"/>
                  <a:ea typeface="宋体" panose="02010600030101010101" pitchFamily="2" charset="-122"/>
                </a:rPr>
                <a:t>4</a:t>
              </a:r>
              <a:r>
                <a:rPr kumimoji="0" lang="en-US" altLang="zh-CN" sz="2400">
                  <a:latin typeface="Tahoma" panose="020B0604030504040204" pitchFamily="34" charset="0"/>
                  <a:ea typeface="宋体" panose="02010600030101010101" pitchFamily="2" charset="-122"/>
                </a:rPr>
                <a:t>(C1)</a:t>
              </a:r>
              <a:endParaRPr kumimoji="0" lang="en-US" altLang="zh-CN" sz="2400">
                <a:latin typeface="Tahoma" panose="020B0604030504040204" pitchFamily="34" charset="0"/>
                <a:ea typeface="宋体" panose="02010600030101010101" pitchFamily="2" charset="-122"/>
              </a:endParaRPr>
            </a:p>
          </p:txBody>
        </p:sp>
        <p:sp>
          <p:nvSpPr>
            <p:cNvPr id="81987" name="Oval 235"/>
            <p:cNvSpPr>
              <a:spLocks noChangeArrowheads="1"/>
            </p:cNvSpPr>
            <p:nvPr/>
          </p:nvSpPr>
          <p:spPr bwMode="auto">
            <a:xfrm>
              <a:off x="1637" y="3586"/>
              <a:ext cx="56" cy="56"/>
            </a:xfrm>
            <a:prstGeom prst="ellipse">
              <a:avLst/>
            </a:prstGeom>
            <a:solidFill>
              <a:schemeClr val="bg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1988" name="Line 236"/>
            <p:cNvSpPr>
              <a:spLocks noChangeShapeType="1"/>
            </p:cNvSpPr>
            <p:nvPr/>
          </p:nvSpPr>
          <p:spPr bwMode="auto">
            <a:xfrm>
              <a:off x="1479" y="3567"/>
              <a:ext cx="183"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3406" name="AutoShape 238"/>
            <p:cNvSpPr>
              <a:spLocks noChangeArrowheads="1"/>
            </p:cNvSpPr>
            <p:nvPr/>
          </p:nvSpPr>
          <p:spPr bwMode="auto">
            <a:xfrm flipH="1">
              <a:off x="2772" y="3198"/>
              <a:ext cx="180" cy="180"/>
            </a:xfrm>
            <a:prstGeom prst="flowChartDelay">
              <a:avLst/>
            </a:prstGeom>
            <a:solidFill>
              <a:schemeClr val="accent1"/>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90" name="Line 239"/>
            <p:cNvSpPr>
              <a:spLocks noChangeShapeType="1"/>
            </p:cNvSpPr>
            <p:nvPr/>
          </p:nvSpPr>
          <p:spPr bwMode="auto">
            <a:xfrm rot="-5400000" flipH="1" flipV="1">
              <a:off x="3002" y="3277"/>
              <a:ext cx="0" cy="111"/>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1" name="Line 241"/>
            <p:cNvSpPr>
              <a:spLocks noChangeShapeType="1"/>
            </p:cNvSpPr>
            <p:nvPr/>
          </p:nvSpPr>
          <p:spPr bwMode="auto">
            <a:xfrm rot="-5400000" flipH="1" flipV="1">
              <a:off x="3072" y="3120"/>
              <a:ext cx="0" cy="24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3410" name="Oval 242"/>
            <p:cNvSpPr>
              <a:spLocks noChangeArrowheads="1"/>
            </p:cNvSpPr>
            <p:nvPr/>
          </p:nvSpPr>
          <p:spPr bwMode="auto">
            <a:xfrm>
              <a:off x="2720" y="3262"/>
              <a:ext cx="56" cy="56"/>
            </a:xfrm>
            <a:prstGeom prst="ellipse">
              <a:avLst/>
            </a:prstGeom>
            <a:solidFill>
              <a:schemeClr val="bg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63411" name="AutoShape 243"/>
            <p:cNvSpPr>
              <a:spLocks noChangeArrowheads="1"/>
            </p:cNvSpPr>
            <p:nvPr/>
          </p:nvSpPr>
          <p:spPr bwMode="auto">
            <a:xfrm flipH="1">
              <a:off x="2772" y="3600"/>
              <a:ext cx="180" cy="180"/>
            </a:xfrm>
            <a:prstGeom prst="flowChartDelay">
              <a:avLst/>
            </a:prstGeom>
            <a:solidFill>
              <a:schemeClr val="accent1"/>
            </a:solidFill>
            <a:ln w="19050">
              <a:no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FFFFFF"/>
                  </a:outerShdw>
                </a:effectLst>
                <a:latin typeface="Tahoma" panose="020B0604030504040204" pitchFamily="34" charset="0"/>
                <a:ea typeface="宋体" panose="02010600030101010101" pitchFamily="2" charset="-122"/>
              </a:endParaRPr>
            </a:p>
          </p:txBody>
        </p:sp>
        <p:sp>
          <p:nvSpPr>
            <p:cNvPr id="81994" name="Line 244"/>
            <p:cNvSpPr>
              <a:spLocks noChangeShapeType="1"/>
            </p:cNvSpPr>
            <p:nvPr/>
          </p:nvSpPr>
          <p:spPr bwMode="auto">
            <a:xfrm rot="-5400000" flipH="1" flipV="1">
              <a:off x="3149" y="3544"/>
              <a:ext cx="0" cy="40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5" name="Line 245"/>
            <p:cNvSpPr>
              <a:spLocks noChangeShapeType="1"/>
            </p:cNvSpPr>
            <p:nvPr/>
          </p:nvSpPr>
          <p:spPr bwMode="auto">
            <a:xfrm rot="-5400000" flipH="1" flipV="1">
              <a:off x="3003" y="3579"/>
              <a:ext cx="0" cy="10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3414" name="Oval 246"/>
            <p:cNvSpPr>
              <a:spLocks noChangeArrowheads="1"/>
            </p:cNvSpPr>
            <p:nvPr/>
          </p:nvSpPr>
          <p:spPr bwMode="auto">
            <a:xfrm>
              <a:off x="2720" y="3664"/>
              <a:ext cx="56" cy="56"/>
            </a:xfrm>
            <a:prstGeom prst="ellipse">
              <a:avLst/>
            </a:prstGeom>
            <a:solidFill>
              <a:schemeClr val="bg1"/>
            </a:solidFill>
            <a:ln w="19050">
              <a:solidFill>
                <a:schemeClr val="tx1"/>
              </a:solidFill>
              <a:round/>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81997" name="Line 247"/>
            <p:cNvSpPr>
              <a:spLocks noChangeShapeType="1"/>
            </p:cNvSpPr>
            <p:nvPr/>
          </p:nvSpPr>
          <p:spPr bwMode="auto">
            <a:xfrm>
              <a:off x="2520" y="3288"/>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8" name="Line 248"/>
            <p:cNvSpPr>
              <a:spLocks noChangeShapeType="1"/>
            </p:cNvSpPr>
            <p:nvPr/>
          </p:nvSpPr>
          <p:spPr bwMode="auto">
            <a:xfrm rot="-5400000" flipH="1" flipV="1">
              <a:off x="2618" y="3595"/>
              <a:ext cx="0" cy="195"/>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1999" name="Line 249"/>
            <p:cNvSpPr>
              <a:spLocks noChangeShapeType="1"/>
            </p:cNvSpPr>
            <p:nvPr/>
          </p:nvSpPr>
          <p:spPr bwMode="auto">
            <a:xfrm>
              <a:off x="2520" y="3612"/>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0" name="Line 250"/>
            <p:cNvSpPr>
              <a:spLocks noChangeShapeType="1"/>
            </p:cNvSpPr>
            <p:nvPr/>
          </p:nvSpPr>
          <p:spPr bwMode="auto">
            <a:xfrm>
              <a:off x="3054" y="3330"/>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1" name="Line 251"/>
            <p:cNvSpPr>
              <a:spLocks noChangeShapeType="1"/>
            </p:cNvSpPr>
            <p:nvPr/>
          </p:nvSpPr>
          <p:spPr bwMode="auto">
            <a:xfrm>
              <a:off x="3054" y="3546"/>
              <a:ext cx="0" cy="9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2" name="Line 252"/>
            <p:cNvSpPr>
              <a:spLocks noChangeShapeType="1"/>
            </p:cNvSpPr>
            <p:nvPr/>
          </p:nvSpPr>
          <p:spPr bwMode="auto">
            <a:xfrm rot="-5400000" flipH="1" flipV="1">
              <a:off x="3255" y="3381"/>
              <a:ext cx="0" cy="606"/>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3" name="Line 253"/>
            <p:cNvSpPr>
              <a:spLocks noChangeShapeType="1"/>
            </p:cNvSpPr>
            <p:nvPr/>
          </p:nvSpPr>
          <p:spPr bwMode="auto">
            <a:xfrm>
              <a:off x="3561" y="2934"/>
              <a:ext cx="0" cy="753"/>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4" name="Line 254"/>
            <p:cNvSpPr>
              <a:spLocks noChangeShapeType="1"/>
            </p:cNvSpPr>
            <p:nvPr/>
          </p:nvSpPr>
          <p:spPr bwMode="auto">
            <a:xfrm>
              <a:off x="2520" y="3372"/>
              <a:ext cx="534" cy="18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5" name="Line 255"/>
            <p:cNvSpPr>
              <a:spLocks noChangeShapeType="1"/>
            </p:cNvSpPr>
            <p:nvPr/>
          </p:nvSpPr>
          <p:spPr bwMode="auto">
            <a:xfrm flipV="1">
              <a:off x="2514" y="3414"/>
              <a:ext cx="534" cy="192"/>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82006" name="Oval 256"/>
            <p:cNvSpPr>
              <a:spLocks noChangeArrowheads="1"/>
            </p:cNvSpPr>
            <p:nvPr/>
          </p:nvSpPr>
          <p:spPr bwMode="auto">
            <a:xfrm>
              <a:off x="2504" y="3271"/>
              <a:ext cx="34" cy="34"/>
            </a:xfrm>
            <a:prstGeom prst="ellipse">
              <a:avLst/>
            </a:prstGeom>
            <a:solidFill>
              <a:schemeClr val="tx1"/>
            </a:solidFill>
            <a:ln w="19050">
              <a:solidFill>
                <a:schemeClr val="tx1"/>
              </a:solidFill>
              <a:round/>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007" name="Text Box 257"/>
            <p:cNvSpPr txBox="1">
              <a:spLocks noChangeArrowheads="1"/>
            </p:cNvSpPr>
            <p:nvPr/>
          </p:nvSpPr>
          <p:spPr bwMode="auto">
            <a:xfrm>
              <a:off x="2706" y="2937"/>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启动</a:t>
              </a:r>
              <a:endParaRPr kumimoji="0" lang="zh-CN" altLang="en-US" sz="2400">
                <a:latin typeface="Tahoma" panose="020B0604030504040204" pitchFamily="34" charset="0"/>
                <a:ea typeface="宋体" panose="02010600030101010101" pitchFamily="2" charset="-122"/>
              </a:endParaRPr>
            </a:p>
          </p:txBody>
        </p:sp>
        <p:sp>
          <p:nvSpPr>
            <p:cNvPr id="82008" name="Text Box 258"/>
            <p:cNvSpPr txBox="1">
              <a:spLocks noChangeArrowheads="1"/>
            </p:cNvSpPr>
            <p:nvPr/>
          </p:nvSpPr>
          <p:spPr bwMode="auto">
            <a:xfrm>
              <a:off x="3248" y="3709"/>
              <a:ext cx="5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ea typeface="宋体" panose="02010600030101010101" pitchFamily="2" charset="-122"/>
                </a:rPr>
                <a:t>停机</a:t>
              </a:r>
              <a:endParaRPr kumimoji="0" lang="zh-CN" altLang="en-US" sz="2400">
                <a:latin typeface="Tahoma" panose="020B0604030504040204" pitchFamily="34" charset="0"/>
                <a:ea typeface="宋体" panose="02010600030101010101" pitchFamily="2" charset="-122"/>
              </a:endParaRPr>
            </a:p>
          </p:txBody>
        </p:sp>
        <p:sp>
          <p:nvSpPr>
            <p:cNvPr id="82009" name="Text Box 259"/>
            <p:cNvSpPr txBox="1">
              <a:spLocks noChangeArrowheads="1"/>
            </p:cNvSpPr>
            <p:nvPr/>
          </p:nvSpPr>
          <p:spPr bwMode="auto">
            <a:xfrm>
              <a:off x="3854" y="2925"/>
              <a:ext cx="4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Tahoma" panose="020B0604030504040204" pitchFamily="34" charset="0"/>
                  <a:ea typeface="宋体" panose="02010600030101010101" pitchFamily="2" charset="-122"/>
                </a:rPr>
                <a:t>CLR</a:t>
              </a:r>
              <a:endParaRPr kumimoji="0" lang="en-US" altLang="zh-CN" sz="2400">
                <a:latin typeface="Tahoma" panose="020B0604030504040204" pitchFamily="34" charset="0"/>
                <a:ea typeface="宋体" panose="02010600030101010101" pitchFamily="2" charset="-122"/>
              </a:endParaRPr>
            </a:p>
          </p:txBody>
        </p:sp>
        <p:sp>
          <p:nvSpPr>
            <p:cNvPr id="82010" name="Line 260"/>
            <p:cNvSpPr>
              <a:spLocks noChangeShapeType="1"/>
            </p:cNvSpPr>
            <p:nvPr/>
          </p:nvSpPr>
          <p:spPr bwMode="auto">
            <a:xfrm>
              <a:off x="3915" y="2979"/>
              <a:ext cx="351" cy="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25" name="组合 129"/>
          <p:cNvGrpSpPr/>
          <p:nvPr/>
        </p:nvGrpSpPr>
        <p:grpSpPr bwMode="auto">
          <a:xfrm>
            <a:off x="5903913" y="6040438"/>
            <a:ext cx="638175" cy="204787"/>
            <a:chOff x="6125592" y="6121236"/>
            <a:chExt cx="807868" cy="252933"/>
          </a:xfrm>
        </p:grpSpPr>
        <p:cxnSp>
          <p:nvCxnSpPr>
            <p:cNvPr id="103" name="直接连接符 102"/>
            <p:cNvCxnSpPr/>
            <p:nvPr/>
          </p:nvCxnSpPr>
          <p:spPr bwMode="auto">
            <a:xfrm>
              <a:off x="6125592" y="6125157"/>
              <a:ext cx="275318" cy="19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0" name="直接连接符 109"/>
            <p:cNvCxnSpPr/>
            <p:nvPr/>
          </p:nvCxnSpPr>
          <p:spPr bwMode="auto">
            <a:xfrm rot="16200000" flipH="1">
              <a:off x="6282310" y="6253560"/>
              <a:ext cx="239209" cy="2010"/>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23" name="直接连接符 122"/>
            <p:cNvCxnSpPr/>
            <p:nvPr/>
          </p:nvCxnSpPr>
          <p:spPr bwMode="auto">
            <a:xfrm flipV="1">
              <a:off x="6400910" y="6362405"/>
              <a:ext cx="255223" cy="19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5" name="直接连接符 124"/>
            <p:cNvCxnSpPr/>
            <p:nvPr/>
          </p:nvCxnSpPr>
          <p:spPr bwMode="auto">
            <a:xfrm rot="16200000" flipH="1">
              <a:off x="6529494" y="6239836"/>
              <a:ext cx="239209" cy="2009"/>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26" name="直接连接符 125"/>
            <p:cNvCxnSpPr/>
            <p:nvPr/>
          </p:nvCxnSpPr>
          <p:spPr bwMode="auto">
            <a:xfrm flipV="1">
              <a:off x="6646083" y="6123196"/>
              <a:ext cx="287377" cy="19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81926" name="组合 130"/>
          <p:cNvGrpSpPr/>
          <p:nvPr/>
        </p:nvGrpSpPr>
        <p:grpSpPr bwMode="auto">
          <a:xfrm>
            <a:off x="4951413" y="4851400"/>
            <a:ext cx="636587" cy="204788"/>
            <a:chOff x="6125592" y="6121236"/>
            <a:chExt cx="807868" cy="252933"/>
          </a:xfrm>
        </p:grpSpPr>
        <p:cxnSp>
          <p:nvCxnSpPr>
            <p:cNvPr id="132" name="直接连接符 131"/>
            <p:cNvCxnSpPr/>
            <p:nvPr/>
          </p:nvCxnSpPr>
          <p:spPr bwMode="auto">
            <a:xfrm>
              <a:off x="6125592" y="6125157"/>
              <a:ext cx="276004" cy="196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3" name="直接连接符 132"/>
            <p:cNvCxnSpPr/>
            <p:nvPr/>
          </p:nvCxnSpPr>
          <p:spPr bwMode="auto">
            <a:xfrm rot="16200000" flipH="1">
              <a:off x="6283000" y="6253558"/>
              <a:ext cx="239207" cy="2015"/>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34" name="直接连接符 133"/>
            <p:cNvCxnSpPr/>
            <p:nvPr/>
          </p:nvCxnSpPr>
          <p:spPr bwMode="auto">
            <a:xfrm flipV="1">
              <a:off x="6399582" y="6362405"/>
              <a:ext cx="255858" cy="19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直接连接符 134"/>
            <p:cNvCxnSpPr/>
            <p:nvPr/>
          </p:nvCxnSpPr>
          <p:spPr bwMode="auto">
            <a:xfrm rot="16200000" flipH="1">
              <a:off x="6530800" y="6239833"/>
              <a:ext cx="239207" cy="2014"/>
            </a:xfrm>
            <a:prstGeom prst="line">
              <a:avLst/>
            </a:prstGeom>
            <a:noFill/>
            <a:ln w="9525" cap="flat" cmpd="sng" algn="ctr">
              <a:solidFill>
                <a:schemeClr val="dk1">
                  <a:shade val="95000"/>
                  <a:satMod val="105000"/>
                </a:schemeClr>
              </a:solidFill>
              <a:prstDash val="solid"/>
              <a:miter lim="800000"/>
              <a:headEnd type="none" w="med" len="med"/>
              <a:tailEnd type="none" w="med" len="med"/>
            </a:ln>
            <a:effectLst/>
          </p:spPr>
        </p:cxnSp>
        <p:cxnSp>
          <p:nvCxnSpPr>
            <p:cNvPr id="136" name="直接连接符 135"/>
            <p:cNvCxnSpPr/>
            <p:nvPr/>
          </p:nvCxnSpPr>
          <p:spPr bwMode="auto">
            <a:xfrm flipV="1">
              <a:off x="6645368" y="6123197"/>
              <a:ext cx="288092" cy="19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pPr eaLnBrk="1" hangingPunct="1">
              <a:defRPr/>
            </a:pPr>
            <a:r>
              <a:rPr lang="zh-CN" altLang="en-US"/>
              <a:t>控制方式</a:t>
            </a:r>
            <a:endParaRPr lang="zh-CN" altLang="en-US"/>
          </a:p>
        </p:txBody>
      </p:sp>
      <p:sp>
        <p:nvSpPr>
          <p:cNvPr id="82946" name="Rectangle 3"/>
          <p:cNvSpPr>
            <a:spLocks noGrp="1" noChangeArrowheads="1"/>
          </p:cNvSpPr>
          <p:nvPr>
            <p:ph idx="1"/>
          </p:nvPr>
        </p:nvSpPr>
        <p:spPr/>
        <p:txBody>
          <a:bodyPr/>
          <a:lstStyle/>
          <a:p>
            <a:pPr eaLnBrk="1" hangingPunct="1"/>
            <a:r>
              <a:rPr lang="zh-CN" altLang="en-US" dirty="0"/>
              <a:t>控制器的控制方式</a:t>
            </a:r>
            <a:endParaRPr lang="zh-CN" altLang="en-US" dirty="0"/>
          </a:p>
          <a:p>
            <a:pPr lvl="1" eaLnBrk="1" hangingPunct="1"/>
            <a:r>
              <a:rPr lang="zh-CN" altLang="en-US" dirty="0"/>
              <a:t>控制不同操作序列时序信号的方法</a:t>
            </a:r>
            <a:endParaRPr lang="zh-CN" altLang="en-US" dirty="0"/>
          </a:p>
          <a:p>
            <a:pPr eaLnBrk="1" hangingPunct="1"/>
            <a:r>
              <a:rPr lang="zh-CN" altLang="en-US" dirty="0"/>
              <a:t>常用的控制方式</a:t>
            </a:r>
            <a:endParaRPr lang="zh-CN" altLang="en-US" dirty="0"/>
          </a:p>
          <a:p>
            <a:pPr lvl="1" eaLnBrk="1" hangingPunct="1"/>
            <a:r>
              <a:rPr lang="zh-CN" altLang="en-US" dirty="0"/>
              <a:t>同步控制</a:t>
            </a:r>
            <a:endParaRPr lang="zh-CN" altLang="en-US" dirty="0"/>
          </a:p>
          <a:p>
            <a:pPr lvl="1" eaLnBrk="1" hangingPunct="1"/>
            <a:r>
              <a:rPr lang="zh-CN" altLang="en-US" dirty="0"/>
              <a:t>异步控制</a:t>
            </a:r>
            <a:endParaRPr lang="zh-CN" altLang="en-US" dirty="0"/>
          </a:p>
          <a:p>
            <a:pPr lvl="1" eaLnBrk="1" hangingPunct="1"/>
            <a:r>
              <a:rPr lang="zh-CN" altLang="en-US" dirty="0"/>
              <a:t>联合控制</a:t>
            </a:r>
            <a:endParaRPr lang="zh-CN" altLang="en-US" dirty="0"/>
          </a:p>
        </p:txBody>
      </p:sp>
    </p:spTree>
  </p:cSld>
  <p:clrMapOvr>
    <a:masterClrMapping/>
  </p:clrMapOvr>
  <p:transition spd="med">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p:txBody>
          <a:bodyPr/>
          <a:lstStyle/>
          <a:p>
            <a:pPr eaLnBrk="1" hangingPunct="1"/>
            <a:r>
              <a:rPr lang="en-US" altLang="zh-CN"/>
              <a:t>1</a:t>
            </a:r>
            <a:r>
              <a:rPr lang="zh-CN" altLang="en-US"/>
              <a:t>、同步控制方式</a:t>
            </a:r>
            <a:endParaRPr lang="zh-CN" altLang="en-US"/>
          </a:p>
        </p:txBody>
      </p:sp>
      <p:sp>
        <p:nvSpPr>
          <p:cNvPr id="83970" name="Rectangle 3"/>
          <p:cNvSpPr>
            <a:spLocks noGrp="1" noChangeArrowheads="1"/>
          </p:cNvSpPr>
          <p:nvPr>
            <p:ph idx="1"/>
          </p:nvPr>
        </p:nvSpPr>
        <p:spPr/>
        <p:txBody>
          <a:bodyPr/>
          <a:lstStyle/>
          <a:p>
            <a:pPr eaLnBrk="1" hangingPunct="1"/>
            <a:r>
              <a:rPr lang="zh-CN" altLang="en-US" dirty="0"/>
              <a:t>在任何情况下，各指令在执行时所需的机器周期数和时钟周期数都固定不变</a:t>
            </a:r>
            <a:endParaRPr lang="zh-CN" altLang="en-US" dirty="0"/>
          </a:p>
          <a:p>
            <a:pPr eaLnBrk="1" hangingPunct="1"/>
            <a:r>
              <a:rPr lang="zh-CN" altLang="en-US" dirty="0"/>
              <a:t>同步控制方式实现方案如下：</a:t>
            </a:r>
            <a:endParaRPr lang="zh-CN" altLang="en-US" dirty="0"/>
          </a:p>
          <a:p>
            <a:pPr marL="962025" lvl="1" indent="-514350" eaLnBrk="1" hangingPunct="1">
              <a:buFont typeface="Times New Roman" panose="02020603050405020304" pitchFamily="18" charset="0"/>
              <a:buAutoNum type="arabicPeriod"/>
            </a:pPr>
            <a:r>
              <a:rPr lang="zh-CN" altLang="en-US" dirty="0"/>
              <a:t>采用完全统一的机器周期执行各种不同的指令。简单指令会导致时间浪费</a:t>
            </a:r>
            <a:endParaRPr lang="zh-CN" altLang="en-US" dirty="0"/>
          </a:p>
          <a:p>
            <a:pPr marL="962025" lvl="1" indent="-514350" eaLnBrk="1" hangingPunct="1">
              <a:buFont typeface="Times New Roman" panose="02020603050405020304" pitchFamily="18" charset="0"/>
              <a:buAutoNum type="arabicPeriod"/>
            </a:pPr>
            <a:r>
              <a:rPr lang="zh-CN" altLang="en-US" dirty="0"/>
              <a:t>采用不定长机器周期。复杂指令采取延长机器周期的方法</a:t>
            </a:r>
            <a:endParaRPr lang="zh-CN" altLang="en-US" dirty="0"/>
          </a:p>
          <a:p>
            <a:pPr marL="962025" lvl="1" indent="-514350" eaLnBrk="1" hangingPunct="1">
              <a:buFont typeface="Times New Roman" panose="02020603050405020304" pitchFamily="18" charset="0"/>
              <a:buAutoNum type="arabicPeriod"/>
            </a:pPr>
            <a:r>
              <a:rPr lang="zh-CN" altLang="en-US" dirty="0"/>
              <a:t>中央控制与局部控制结合。上述方法的结合</a:t>
            </a:r>
            <a:endParaRPr lang="zh-CN" altLang="en-US" dirty="0"/>
          </a:p>
        </p:txBody>
      </p:sp>
    </p:spTree>
  </p:cSld>
  <p:clrMapOvr>
    <a:masterClrMapping/>
  </p:clrMapOvr>
  <p:transition spd="med">
    <p:pull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pPr eaLnBrk="1" hangingPunct="1"/>
            <a:r>
              <a:rPr lang="en-US" altLang="zh-CN"/>
              <a:t>2</a:t>
            </a:r>
            <a:r>
              <a:rPr lang="zh-CN" altLang="en-US"/>
              <a:t>、异步控制方式</a:t>
            </a:r>
            <a:endParaRPr lang="zh-CN" altLang="en-US"/>
          </a:p>
        </p:txBody>
      </p:sp>
      <p:sp>
        <p:nvSpPr>
          <p:cNvPr id="84994" name="Rectangle 3"/>
          <p:cNvSpPr>
            <a:spLocks noGrp="1" noChangeArrowheads="1"/>
          </p:cNvSpPr>
          <p:nvPr>
            <p:ph idx="1"/>
          </p:nvPr>
        </p:nvSpPr>
        <p:spPr>
          <a:xfrm>
            <a:off x="333749" y="1143000"/>
            <a:ext cx="8429251" cy="5530850"/>
          </a:xfrm>
        </p:spPr>
        <p:txBody>
          <a:bodyPr/>
          <a:lstStyle/>
          <a:p>
            <a:pPr eaLnBrk="1" hangingPunct="1"/>
            <a:r>
              <a:rPr lang="zh-CN" altLang="en-US" dirty="0"/>
              <a:t>每条指令、每个操作控制信号按需占用时间</a:t>
            </a:r>
            <a:endParaRPr lang="zh-CN" altLang="en-US" dirty="0"/>
          </a:p>
          <a:p>
            <a:pPr eaLnBrk="1" hangingPunct="1"/>
            <a:r>
              <a:rPr lang="zh-CN" altLang="en-US" dirty="0"/>
              <a:t>在异步控制方式中，各项操作不采用统一的时序信号控制，而是根据指令或部件的具体情况决定。这是一种“应答”方式，没有时间上的浪费，但控制比较复杂。</a:t>
            </a:r>
            <a:endParaRPr lang="en-US" altLang="zh-CN" dirty="0"/>
          </a:p>
          <a:p>
            <a:pPr eaLnBrk="1" hangingPunct="1"/>
            <a:r>
              <a:rPr lang="zh-CN" altLang="en-US" dirty="0"/>
              <a:t>用这种方式产生的操作控制序列没有固定的机器周期数或严格的时钟周期与之同步</a:t>
            </a:r>
            <a:r>
              <a:rPr lang="zh-CN" altLang="en-US" b="0" dirty="0"/>
              <a:t> </a:t>
            </a:r>
            <a:endParaRPr lang="zh-CN" altLang="en-US" b="0" dirty="0"/>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eaLnBrk="1" hangingPunct="1"/>
            <a:r>
              <a:rPr lang="en-US" altLang="zh-CN"/>
              <a:t>3</a:t>
            </a:r>
            <a:r>
              <a:rPr lang="zh-CN" altLang="en-US"/>
              <a:t>、联合控制方式</a:t>
            </a:r>
            <a:endParaRPr lang="zh-CN" altLang="en-US"/>
          </a:p>
        </p:txBody>
      </p:sp>
      <p:sp>
        <p:nvSpPr>
          <p:cNvPr id="86018" name="Rectangle 3"/>
          <p:cNvSpPr>
            <a:spLocks noGrp="1" noChangeArrowheads="1"/>
          </p:cNvSpPr>
          <p:nvPr>
            <p:ph idx="1"/>
          </p:nvPr>
        </p:nvSpPr>
        <p:spPr/>
        <p:txBody>
          <a:bodyPr/>
          <a:lstStyle/>
          <a:p>
            <a:pPr marL="533400" indent="-533400" eaLnBrk="1" hangingPunct="1">
              <a:buFont typeface="Wingdings 2" pitchFamily="18" charset="2"/>
              <a:buNone/>
            </a:pPr>
            <a:r>
              <a:rPr lang="zh-CN" altLang="en-US" dirty="0"/>
              <a:t>同步控制和异步控制相结合的方式</a:t>
            </a:r>
            <a:endParaRPr lang="zh-CN" altLang="en-US" dirty="0"/>
          </a:p>
          <a:p>
            <a:pPr marL="533400" indent="-533400" eaLnBrk="1" hangingPunct="1">
              <a:buFont typeface="Wingdings" panose="05000000000000000000" pitchFamily="2" charset="2"/>
              <a:buAutoNum type="arabicPeriod"/>
            </a:pPr>
            <a:r>
              <a:rPr lang="zh-CN" altLang="en-US" dirty="0"/>
              <a:t>大部分操作序列安排在固定的机器周期中，对某些时间难以确定的操作则以执行部件的“应答”信号作为本次操作的结束</a:t>
            </a:r>
            <a:endParaRPr lang="zh-CN" altLang="en-US" dirty="0"/>
          </a:p>
          <a:p>
            <a:pPr marL="533400" indent="-533400" eaLnBrk="1" hangingPunct="1">
              <a:buFont typeface="Wingdings" panose="05000000000000000000" pitchFamily="2" charset="2"/>
              <a:buAutoNum type="arabicPeriod"/>
            </a:pPr>
            <a:r>
              <a:rPr lang="zh-CN" altLang="en-US" dirty="0"/>
              <a:t>机器周期的节拍脉冲数固定，但是各条指令周期的机器周期数不固定</a:t>
            </a:r>
            <a:endParaRPr lang="zh-CN" altLang="en-US" dirty="0"/>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3"/>
          <p:cNvSpPr>
            <a:spLocks noGrp="1" noChangeArrowheads="1"/>
          </p:cNvSpPr>
          <p:nvPr>
            <p:ph type="subTitle" idx="1"/>
          </p:nvPr>
        </p:nvSpPr>
        <p:spPr>
          <a:xfrm>
            <a:off x="1403350" y="2874963"/>
            <a:ext cx="5545138" cy="2930525"/>
          </a:xfrm>
        </p:spPr>
        <p:txBody>
          <a:bodyPr/>
          <a:lstStyle/>
          <a:p>
            <a:pPr algn="l" eaLnBrk="1" hangingPunct="1">
              <a:buFont typeface="Wingdings 2" pitchFamily="18" charset="2"/>
              <a:buChar char="¡"/>
            </a:pPr>
            <a:endParaRPr lang="zh-CN" altLang="en-US" sz="4400"/>
          </a:p>
        </p:txBody>
      </p:sp>
      <p:sp>
        <p:nvSpPr>
          <p:cNvPr id="428034" name="Rectangle 2"/>
          <p:cNvSpPr>
            <a:spLocks noGrp="1" noChangeArrowheads="1"/>
          </p:cNvSpPr>
          <p:nvPr>
            <p:ph type="ctrTitle"/>
          </p:nvPr>
        </p:nvSpPr>
        <p:spPr>
          <a:xfrm>
            <a:off x="685800" y="1196975"/>
            <a:ext cx="7772400" cy="1470025"/>
          </a:xfrm>
        </p:spPr>
        <p:txBody>
          <a:bodyPr/>
          <a:lstStyle/>
          <a:p>
            <a:pPr eaLnBrk="1" hangingPunct="1">
              <a:defRPr/>
            </a:pPr>
            <a:r>
              <a:rPr lang="en-US" altLang="zh-CN" sz="4800"/>
              <a:t>5.4  </a:t>
            </a:r>
            <a:r>
              <a:rPr lang="zh-CN" altLang="en-US" sz="4800"/>
              <a:t>微程序控制器</a:t>
            </a:r>
            <a:endParaRPr lang="zh-CN" altLang="en-US" sz="4800"/>
          </a:p>
        </p:txBody>
      </p:sp>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pPr eaLnBrk="1" hangingPunct="1">
              <a:defRPr/>
            </a:pPr>
            <a:r>
              <a:rPr lang="zh-CN" altLang="en-US" dirty="0"/>
              <a:t>基本概念（</a:t>
            </a:r>
            <a:r>
              <a:rPr lang="en-US" altLang="zh-CN" dirty="0"/>
              <a:t>1</a:t>
            </a:r>
            <a:r>
              <a:rPr lang="zh-CN" altLang="en-US" dirty="0"/>
              <a:t>）</a:t>
            </a:r>
            <a:endParaRPr lang="zh-CN" altLang="en-US" dirty="0"/>
          </a:p>
        </p:txBody>
      </p:sp>
      <p:sp>
        <p:nvSpPr>
          <p:cNvPr id="88066" name="Rectangle 3"/>
          <p:cNvSpPr>
            <a:spLocks noGrp="1" noChangeArrowheads="1"/>
          </p:cNvSpPr>
          <p:nvPr>
            <p:ph idx="1"/>
          </p:nvPr>
        </p:nvSpPr>
        <p:spPr/>
        <p:txBody>
          <a:bodyPr/>
          <a:lstStyle/>
          <a:p>
            <a:pPr eaLnBrk="1" hangingPunct="1"/>
            <a:r>
              <a:rPr lang="en-US" altLang="zh-CN"/>
              <a:t>1951</a:t>
            </a:r>
            <a:r>
              <a:rPr lang="zh-CN" altLang="en-US"/>
              <a:t>年，在曼彻斯特大学召开的计算机会议上，英国剑桥大学的</a:t>
            </a:r>
            <a:r>
              <a:rPr lang="en-US" altLang="zh-CN"/>
              <a:t>Maurice Vincent Wilkes</a:t>
            </a:r>
            <a:r>
              <a:rPr lang="zh-CN" altLang="en-US"/>
              <a:t>教授首先提出了微程序的概念和原理</a:t>
            </a:r>
            <a:endParaRPr lang="en-US" altLang="zh-CN"/>
          </a:p>
          <a:p>
            <a:pPr eaLnBrk="1" hangingPunct="1"/>
            <a:r>
              <a:rPr lang="zh-CN" altLang="en-US"/>
              <a:t>微程序设计技术是利用软件方法来设计硬件的一门技术</a:t>
            </a:r>
            <a:endParaRPr lang="zh-CN" altLang="en-US"/>
          </a:p>
          <a:p>
            <a:pPr lvl="1" eaLnBrk="1" hangingPunct="1"/>
            <a:r>
              <a:rPr lang="zh-CN" altLang="en-US"/>
              <a:t>微程序控制器与硬布线控制器相比较，具有规整性、灵活性、可维护性等一系列优点</a:t>
            </a:r>
            <a:endParaRPr lang="en-US" altLang="zh-CN"/>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pPr eaLnBrk="1" hangingPunct="1">
              <a:defRPr/>
            </a:pPr>
            <a:r>
              <a:rPr lang="zh-CN" altLang="en-US" dirty="0"/>
              <a:t>基本概念（</a:t>
            </a:r>
            <a:r>
              <a:rPr lang="en-US" altLang="zh-CN" dirty="0"/>
              <a:t>2</a:t>
            </a:r>
            <a:r>
              <a:rPr lang="zh-CN" altLang="en-US" dirty="0"/>
              <a:t>）</a:t>
            </a:r>
            <a:endParaRPr lang="zh-CN" altLang="en-US" dirty="0"/>
          </a:p>
        </p:txBody>
      </p:sp>
      <p:sp>
        <p:nvSpPr>
          <p:cNvPr id="89090" name="Rectangle 3"/>
          <p:cNvSpPr>
            <a:spLocks noGrp="1" noChangeArrowheads="1"/>
          </p:cNvSpPr>
          <p:nvPr>
            <p:ph idx="1"/>
          </p:nvPr>
        </p:nvSpPr>
        <p:spPr/>
        <p:txBody>
          <a:bodyPr/>
          <a:lstStyle/>
          <a:p>
            <a:pPr eaLnBrk="1" hangingPunct="1"/>
            <a:r>
              <a:rPr lang="zh-CN" altLang="en-US" dirty="0"/>
              <a:t>微程序控制的基本思想</a:t>
            </a:r>
            <a:endParaRPr lang="zh-CN" altLang="en-US" dirty="0"/>
          </a:p>
          <a:p>
            <a:pPr lvl="1" eaLnBrk="1" hangingPunct="1"/>
            <a:r>
              <a:rPr lang="zh-CN" altLang="en-US" dirty="0"/>
              <a:t>用多条微指令（即：一个微程序）解释每条指令的执行过程。全部的微程序有机地组合在一起，存储在</a:t>
            </a:r>
            <a:r>
              <a:rPr lang="zh-CN" altLang="en-US" dirty="0">
                <a:solidFill>
                  <a:srgbClr val="CC3300"/>
                </a:solidFill>
              </a:rPr>
              <a:t>控制存储器</a:t>
            </a:r>
            <a:r>
              <a:rPr lang="zh-CN" altLang="en-US" dirty="0"/>
              <a:t>（只读存储器）中</a:t>
            </a:r>
            <a:endParaRPr lang="zh-CN" altLang="en-US" dirty="0"/>
          </a:p>
          <a:p>
            <a:pPr lvl="1" eaLnBrk="1" hangingPunct="1"/>
            <a:r>
              <a:rPr lang="zh-CN" altLang="en-US" dirty="0"/>
              <a:t>当机器运行时，一条一条地读出这些微指令，从而产生全机所需要的各种操作控制信号，使相应的部件执行特定的操作</a:t>
            </a:r>
            <a:endParaRPr lang="zh-CN" altLang="en-US" dirty="0"/>
          </a:p>
        </p:txBody>
      </p:sp>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eaLnBrk="1" hangingPunct="1">
              <a:defRPr/>
            </a:pPr>
            <a:r>
              <a:rPr lang="zh-CN" altLang="en-US"/>
              <a:t>微命令和微操作</a:t>
            </a:r>
            <a:endParaRPr lang="zh-CN" altLang="en-US"/>
          </a:p>
        </p:txBody>
      </p:sp>
      <p:sp>
        <p:nvSpPr>
          <p:cNvPr id="90114" name="Rectangle 3"/>
          <p:cNvSpPr>
            <a:spLocks noGrp="1" noChangeArrowheads="1"/>
          </p:cNvSpPr>
          <p:nvPr>
            <p:ph idx="1"/>
          </p:nvPr>
        </p:nvSpPr>
        <p:spPr/>
        <p:txBody>
          <a:bodyPr/>
          <a:lstStyle/>
          <a:p>
            <a:pPr eaLnBrk="1" hangingPunct="1"/>
            <a:r>
              <a:rPr lang="zh-CN" altLang="en-US" sz="2800" dirty="0"/>
              <a:t>计算机的构成</a:t>
            </a:r>
            <a:endParaRPr lang="zh-CN" altLang="en-US" sz="2800" dirty="0"/>
          </a:p>
          <a:p>
            <a:pPr lvl="1" eaLnBrk="1" hangingPunct="1"/>
            <a:r>
              <a:rPr lang="zh-CN" altLang="en-US" sz="2400" dirty="0"/>
              <a:t>控制部件－控制器</a:t>
            </a:r>
            <a:endParaRPr lang="zh-CN" altLang="en-US" sz="2400" dirty="0"/>
          </a:p>
          <a:p>
            <a:pPr lvl="1" eaLnBrk="1" hangingPunct="1"/>
            <a:r>
              <a:rPr lang="zh-CN" altLang="en-US" sz="2400" dirty="0"/>
              <a:t>执行部件－运算器、存储器、外围设备</a:t>
            </a:r>
            <a:endParaRPr lang="zh-CN" altLang="en-US" sz="2400" dirty="0"/>
          </a:p>
          <a:p>
            <a:pPr eaLnBrk="1" hangingPunct="1"/>
            <a:r>
              <a:rPr lang="zh-CN" altLang="en-US" sz="2800" dirty="0"/>
              <a:t>微命令－控制部件通过控制线向执行部件发出各种控制命令（即：控制信号）</a:t>
            </a:r>
            <a:endParaRPr lang="zh-CN" altLang="en-US" sz="2800" dirty="0"/>
          </a:p>
          <a:p>
            <a:pPr eaLnBrk="1" hangingPunct="1"/>
            <a:r>
              <a:rPr lang="zh-CN" altLang="en-US" sz="2800" dirty="0"/>
              <a:t>微操作－执行部件接受微命令后所进行的特定操作</a:t>
            </a:r>
            <a:endParaRPr lang="zh-CN" altLang="en-US" sz="2800" dirty="0"/>
          </a:p>
          <a:p>
            <a:pPr eaLnBrk="1" hangingPunct="1"/>
            <a:r>
              <a:rPr lang="zh-CN" altLang="en-US" sz="2800" dirty="0"/>
              <a:t>反馈信息</a:t>
            </a:r>
            <a:endParaRPr lang="zh-CN" altLang="en-US" sz="2800" dirty="0"/>
          </a:p>
          <a:p>
            <a:pPr lvl="1" eaLnBrk="1" hangingPunct="1"/>
            <a:r>
              <a:rPr lang="zh-CN" altLang="en-US" sz="2400" dirty="0"/>
              <a:t>通常执行部件使用反馈线向控制部件报告操作情况，控制部件则根据执行部件的“状态”发出新的微命令</a:t>
            </a:r>
            <a:endParaRPr lang="zh-CN" altLang="en-US" sz="2400" dirty="0"/>
          </a:p>
        </p:txBody>
      </p:sp>
      <p:pic>
        <p:nvPicPr>
          <p:cNvPr id="90116" name="Picture 5" descr="5"/>
          <p:cNvPicPr>
            <a:picLocks noChangeAspect="1" noChangeArrowheads="1"/>
          </p:cNvPicPr>
          <p:nvPr/>
        </p:nvPicPr>
        <p:blipFill>
          <a:blip r:embed="rId1">
            <a:extLst>
              <a:ext uri="{28A0092B-C50C-407E-A947-70E740481C1C}">
                <a14:useLocalDpi xmlns:a14="http://schemas.microsoft.com/office/drawing/2010/main" val="0"/>
              </a:ext>
            </a:extLst>
          </a:blip>
          <a:srcRect t="8493"/>
          <a:stretch>
            <a:fillRect/>
          </a:stretch>
        </p:blipFill>
        <p:spPr bwMode="auto">
          <a:xfrm>
            <a:off x="2438400" y="5202238"/>
            <a:ext cx="4732337"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pPr eaLnBrk="1" hangingPunct="1"/>
            <a:r>
              <a:rPr lang="zh-CN" altLang="en-US"/>
              <a:t>微操作分类</a:t>
            </a:r>
            <a:endParaRPr lang="zh-CN" altLang="en-US"/>
          </a:p>
        </p:txBody>
      </p:sp>
      <p:sp>
        <p:nvSpPr>
          <p:cNvPr id="91138" name="Rectangle 3"/>
          <p:cNvSpPr>
            <a:spLocks noGrp="1" noChangeArrowheads="1"/>
          </p:cNvSpPr>
          <p:nvPr>
            <p:ph idx="1"/>
          </p:nvPr>
        </p:nvSpPr>
        <p:spPr/>
        <p:txBody>
          <a:bodyPr/>
          <a:lstStyle/>
          <a:p>
            <a:pPr eaLnBrk="1" hangingPunct="1"/>
            <a:r>
              <a:rPr lang="zh-CN" altLang="en-US" dirty="0"/>
              <a:t>相容性操作：同时或在同一个</a:t>
            </a:r>
            <a:r>
              <a:rPr lang="en-US" altLang="zh-CN" dirty="0"/>
              <a:t>CPU</a:t>
            </a:r>
            <a:r>
              <a:rPr lang="zh-CN" altLang="en-US" dirty="0"/>
              <a:t>周期内可以并行执行的微操作</a:t>
            </a:r>
            <a:endParaRPr lang="zh-CN" altLang="en-US" dirty="0"/>
          </a:p>
          <a:p>
            <a:pPr eaLnBrk="1" hangingPunct="1"/>
            <a:r>
              <a:rPr lang="zh-CN" altLang="en-US" dirty="0"/>
              <a:t>相斥性操作：不能同时或不能在同一个</a:t>
            </a:r>
            <a:r>
              <a:rPr lang="en-US" altLang="zh-CN" dirty="0"/>
              <a:t>CPU</a:t>
            </a:r>
            <a:r>
              <a:rPr lang="zh-CN" altLang="en-US" dirty="0"/>
              <a:t>周期内并行执行的微操作</a:t>
            </a:r>
            <a:endParaRPr lang="zh-CN" altLang="en-US" dirty="0"/>
          </a:p>
        </p:txBody>
      </p:sp>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381000" y="1168400"/>
            <a:ext cx="2667000" cy="5435600"/>
          </a:xfrm>
        </p:spPr>
        <p:txBody>
          <a:bodyPr/>
          <a:lstStyle/>
          <a:p>
            <a:r>
              <a:rPr lang="zh-CN" altLang="en-US" dirty="0"/>
              <a:t>“＋”、“－”、“</a:t>
            </a:r>
            <a:r>
              <a:rPr lang="en-US" altLang="zh-CN" dirty="0"/>
              <a:t>M”</a:t>
            </a:r>
            <a:r>
              <a:rPr lang="zh-CN" altLang="en-US" dirty="0"/>
              <a:t>三个微操作是相斥性微操作</a:t>
            </a:r>
            <a:endParaRPr lang="zh-CN" altLang="en-US" dirty="0"/>
          </a:p>
          <a:p>
            <a:r>
              <a:rPr lang="en-US" altLang="zh-CN" dirty="0"/>
              <a:t>4/6/8</a:t>
            </a:r>
            <a:r>
              <a:rPr lang="zh-CN" altLang="en-US" dirty="0"/>
              <a:t>三个微操作是相斥的，</a:t>
            </a:r>
            <a:r>
              <a:rPr lang="en-US" altLang="zh-CN" dirty="0"/>
              <a:t>5/7/9</a:t>
            </a:r>
            <a:r>
              <a:rPr lang="zh-CN" altLang="en-US" dirty="0"/>
              <a:t>也是相斥性的</a:t>
            </a:r>
            <a:endParaRPr lang="zh-CN" altLang="en-US" dirty="0"/>
          </a:p>
          <a:p>
            <a:r>
              <a:rPr lang="en-US" altLang="zh-CN" dirty="0"/>
              <a:t>1/2/3</a:t>
            </a:r>
            <a:r>
              <a:rPr lang="zh-CN" altLang="en-US" dirty="0"/>
              <a:t>可同时进行的，所以是相容性的微操作</a:t>
            </a:r>
            <a:endParaRPr lang="zh-CN" altLang="en-US" dirty="0"/>
          </a:p>
          <a:p>
            <a:r>
              <a:rPr lang="en-US" altLang="zh-CN" dirty="0"/>
              <a:t>ALU</a:t>
            </a:r>
            <a:r>
              <a:rPr lang="zh-CN" altLang="en-US" dirty="0"/>
              <a:t>的</a:t>
            </a:r>
            <a:r>
              <a:rPr lang="en-US" altLang="zh-CN" dirty="0"/>
              <a:t>X</a:t>
            </a:r>
            <a:r>
              <a:rPr lang="zh-CN" altLang="en-US" dirty="0"/>
              <a:t>输入微操作</a:t>
            </a:r>
            <a:r>
              <a:rPr lang="en-US" altLang="zh-CN" dirty="0"/>
              <a:t>4/6/8</a:t>
            </a:r>
            <a:r>
              <a:rPr lang="zh-CN" altLang="en-US" dirty="0"/>
              <a:t>和</a:t>
            </a:r>
            <a:r>
              <a:rPr lang="en-US" altLang="zh-CN" dirty="0"/>
              <a:t>Y</a:t>
            </a:r>
            <a:r>
              <a:rPr lang="zh-CN" altLang="en-US" dirty="0"/>
              <a:t>输入的</a:t>
            </a:r>
            <a:r>
              <a:rPr lang="en-US" altLang="zh-CN" dirty="0"/>
              <a:t>5/7/9</a:t>
            </a:r>
            <a:r>
              <a:rPr lang="zh-CN" altLang="en-US" dirty="0"/>
              <a:t>任意两个微操作，也都是相容性的</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简单运算器数据通路图</a:t>
            </a:r>
            <a:endParaRPr lang="zh-CN" altLang="en-US" dirty="0"/>
          </a:p>
        </p:txBody>
      </p:sp>
      <p:pic>
        <p:nvPicPr>
          <p:cNvPr id="5" name="Picture 32"/>
          <p:cNvPicPr>
            <a:picLocks noChangeAspect="1" noChangeArrowheads="1"/>
          </p:cNvPicPr>
          <p:nvPr/>
        </p:nvPicPr>
        <p:blipFill>
          <a:blip r:embed="rId1">
            <a:extLst>
              <a:ext uri="{28A0092B-C50C-407E-A947-70E740481C1C}">
                <a14:useLocalDpi xmlns:a14="http://schemas.microsoft.com/office/drawing/2010/main" val="0"/>
              </a:ext>
            </a:extLst>
          </a:blip>
          <a:srcRect l="14766" t="17719" r="18457" b="14273"/>
          <a:stretch>
            <a:fillRect/>
          </a:stretch>
        </p:blipFill>
        <p:spPr bwMode="auto">
          <a:xfrm>
            <a:off x="3048000" y="1371600"/>
            <a:ext cx="5905846" cy="461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228600" y="236538"/>
            <a:ext cx="8897937" cy="762000"/>
          </a:xfrm>
        </p:spPr>
        <p:txBody>
          <a:bodyPr/>
          <a:lstStyle/>
          <a:p>
            <a:pPr eaLnBrk="1" hangingPunct="1">
              <a:defRPr/>
            </a:pPr>
            <a:r>
              <a:rPr lang="zh-CN" altLang="en-US" dirty="0"/>
              <a:t>与之配套的控制器</a:t>
            </a:r>
            <a:endParaRPr lang="en-US" altLang="zh-CN" dirty="0"/>
          </a:p>
        </p:txBody>
      </p:sp>
      <p:sp>
        <p:nvSpPr>
          <p:cNvPr id="23555" name="AutoShape 91"/>
          <p:cNvSpPr>
            <a:spLocks noChangeArrowheads="1"/>
          </p:cNvSpPr>
          <p:nvPr/>
        </p:nvSpPr>
        <p:spPr bwMode="auto">
          <a:xfrm flipV="1">
            <a:off x="5676900" y="5400675"/>
            <a:ext cx="449263" cy="260350"/>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724" name="AutoShape 92"/>
          <p:cNvSpPr>
            <a:spLocks noChangeArrowheads="1"/>
          </p:cNvSpPr>
          <p:nvPr/>
        </p:nvSpPr>
        <p:spPr bwMode="auto">
          <a:xfrm flipV="1">
            <a:off x="5705475" y="4708525"/>
            <a:ext cx="449263" cy="260350"/>
          </a:xfrm>
          <a:prstGeom prst="rightArrow">
            <a:avLst>
              <a:gd name="adj1" fmla="val 50000"/>
              <a:gd name="adj2" fmla="val 43140"/>
            </a:avLst>
          </a:prstGeom>
          <a:solidFill>
            <a:srgbClr val="FFFF00"/>
          </a:solidFill>
          <a:ln w="19050">
            <a:solidFill>
              <a:schemeClr val="tx1"/>
            </a:solidFill>
            <a:miter lim="800000"/>
            <a:tailEnd type="none" w="lg" len="lg"/>
          </a:ln>
          <a:effectLst/>
        </p:spPr>
        <p:txBody>
          <a:bodyPr rot="10800000"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557" name="Rectangle 93"/>
          <p:cNvSpPr>
            <a:spLocks noChangeArrowheads="1"/>
          </p:cNvSpPr>
          <p:nvPr/>
        </p:nvSpPr>
        <p:spPr bwMode="auto">
          <a:xfrm flipV="1">
            <a:off x="5670550" y="4306888"/>
            <a:ext cx="127000" cy="1287462"/>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81" name="AutoShape 49"/>
          <p:cNvSpPr>
            <a:spLocks noChangeArrowheads="1"/>
          </p:cNvSpPr>
          <p:nvPr/>
        </p:nvSpPr>
        <p:spPr bwMode="auto">
          <a:xfrm>
            <a:off x="4376738" y="4135438"/>
            <a:ext cx="247650" cy="304800"/>
          </a:xfrm>
          <a:prstGeom prst="upArrow">
            <a:avLst>
              <a:gd name="adj1" fmla="val 50000"/>
              <a:gd name="adj2" fmla="val 30769"/>
            </a:avLst>
          </a:prstGeom>
          <a:solidFill>
            <a:srgbClr val="FFFF00"/>
          </a:solidFill>
          <a:ln w="19050">
            <a:solidFill>
              <a:schemeClr val="tx1"/>
            </a:solidFill>
            <a:miter lim="800000"/>
            <a:tailEnd type="none" w="lg" len="lg"/>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559" name="Rectangle 7"/>
          <p:cNvSpPr>
            <a:spLocks noChangeArrowheads="1"/>
          </p:cNvSpPr>
          <p:nvPr/>
        </p:nvSpPr>
        <p:spPr bwMode="auto">
          <a:xfrm>
            <a:off x="811213" y="4073525"/>
            <a:ext cx="1187450" cy="682625"/>
          </a:xfrm>
          <a:prstGeom prst="rect">
            <a:avLst/>
          </a:prstGeom>
          <a:solidFill>
            <a:srgbClr val="006600"/>
          </a:solidFill>
          <a:ln w="9525">
            <a:miter lim="800000"/>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输入</a:t>
            </a:r>
            <a:endPar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a:p>
            <a:pPr marL="0" marR="0" lvl="0" indent="0" algn="ctr" defTabSz="914400" rtl="0" eaLnBrk="1" fontAlgn="base" latinLnBrk="0" hangingPunct="1">
              <a:lnSpc>
                <a:spcPct val="80000"/>
              </a:lnSpc>
              <a:spcBef>
                <a:spcPct val="0"/>
              </a:spcBef>
              <a:spcAft>
                <a:spcPct val="0"/>
              </a:spcAft>
              <a:buClrTx/>
              <a:buSzTx/>
              <a:buFontTx/>
              <a:buNone/>
              <a:defRPr/>
            </a:pPr>
            <a:r>
              <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a:t>
            </a: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输出</a:t>
            </a:r>
            <a:endPar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1" name="Rectangle 9"/>
          <p:cNvSpPr>
            <a:spLocks noChangeArrowheads="1"/>
          </p:cNvSpPr>
          <p:nvPr/>
        </p:nvSpPr>
        <p:spPr bwMode="auto">
          <a:xfrm>
            <a:off x="6329363" y="1719263"/>
            <a:ext cx="1770062" cy="769937"/>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操作控制器</a:t>
            </a:r>
            <a:endPar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时序产生器</a:t>
            </a:r>
            <a:endPar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3" name="Rectangle 17"/>
          <p:cNvSpPr>
            <a:spLocks noChangeArrowheads="1"/>
          </p:cNvSpPr>
          <p:nvPr/>
        </p:nvSpPr>
        <p:spPr bwMode="auto">
          <a:xfrm>
            <a:off x="811213" y="2767013"/>
            <a:ext cx="1189037" cy="682625"/>
          </a:xfrm>
          <a:prstGeom prst="rect">
            <a:avLst/>
          </a:prstGeom>
          <a:solidFill>
            <a:srgbClr val="006600"/>
          </a:solidFill>
          <a:ln w="9525">
            <a:miter lim="800000"/>
          </a:ln>
          <a:scene3d>
            <a:camera prst="legacyObliqueTopRight"/>
            <a:lightRig rig="legacyFlat3" dir="b"/>
          </a:scene3d>
          <a:sp3d extrusionH="430200" prstMaterial="legacyMatte">
            <a:bevelT w="13500" h="13500" prst="angle"/>
            <a:bevelB w="13500" h="13500" prst="angle"/>
            <a:extrusionClr>
              <a:srgbClr val="006600"/>
            </a:extrusionClr>
            <a:contourClr>
              <a:srgbClr val="006600"/>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存储器</a:t>
            </a:r>
            <a:endParaRPr kumimoji="0"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4" name="Rectangle 18"/>
          <p:cNvSpPr>
            <a:spLocks noChangeArrowheads="1"/>
          </p:cNvSpPr>
          <p:nvPr/>
        </p:nvSpPr>
        <p:spPr bwMode="auto">
          <a:xfrm>
            <a:off x="2679700" y="3165475"/>
            <a:ext cx="2019300"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状态条件寄存器</a:t>
            </a:r>
            <a:endParaRPr kumimoji="0" lang="en-US" altLang="zh-CN" sz="22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5" name="Rectangle 19"/>
          <p:cNvSpPr>
            <a:spLocks noChangeArrowheads="1"/>
          </p:cNvSpPr>
          <p:nvPr/>
        </p:nvSpPr>
        <p:spPr bwMode="auto">
          <a:xfrm>
            <a:off x="3395663" y="3741738"/>
            <a:ext cx="2119312" cy="392112"/>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缓冲寄存器</a:t>
            </a:r>
            <a:r>
              <a:rPr kumimoji="0" lang="en-US" altLang="zh-CN" sz="22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DR</a:t>
            </a:r>
            <a:endParaRPr kumimoji="0" lang="en-US" altLang="zh-CN" sz="22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6" name="Rectangle 20"/>
          <p:cNvSpPr>
            <a:spLocks noChangeArrowheads="1"/>
          </p:cNvSpPr>
          <p:nvPr/>
        </p:nvSpPr>
        <p:spPr bwMode="auto">
          <a:xfrm>
            <a:off x="6249988" y="3778250"/>
            <a:ext cx="2003425" cy="392113"/>
          </a:xfrm>
          <a:prstGeom prst="rect">
            <a:avLst/>
          </a:prstGeom>
          <a:solidFill>
            <a:srgbClr val="FF9900"/>
          </a:solidFill>
          <a:ln w="9525">
            <a:miter lim="800000"/>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指令寄存器</a:t>
            </a:r>
            <a:r>
              <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IR</a:t>
            </a:r>
            <a:endPar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7" name="Rectangle 21"/>
          <p:cNvSpPr>
            <a:spLocks noChangeArrowheads="1"/>
          </p:cNvSpPr>
          <p:nvPr/>
        </p:nvSpPr>
        <p:spPr bwMode="auto">
          <a:xfrm>
            <a:off x="6169025" y="4645025"/>
            <a:ext cx="2162175" cy="392113"/>
          </a:xfrm>
          <a:prstGeom prst="rect">
            <a:avLst/>
          </a:prstGeom>
          <a:solidFill>
            <a:srgbClr val="FF9900"/>
          </a:solidFill>
          <a:ln w="9525">
            <a:miter lim="800000"/>
          </a:ln>
          <a:scene3d>
            <a:camera prst="legacyObliqueTopRight"/>
            <a:lightRig rig="legacyFlat3" dir="b"/>
          </a:scene3d>
          <a:sp3d extrusionH="227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程序寄存器</a:t>
            </a:r>
            <a:r>
              <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PC</a:t>
            </a:r>
            <a:endPar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8" name="Rectangle 22"/>
          <p:cNvSpPr>
            <a:spLocks noChangeArrowheads="1"/>
          </p:cNvSpPr>
          <p:nvPr/>
        </p:nvSpPr>
        <p:spPr bwMode="auto">
          <a:xfrm>
            <a:off x="6138863" y="5330825"/>
            <a:ext cx="2162175" cy="392113"/>
          </a:xfrm>
          <a:prstGeom prst="rect">
            <a:avLst/>
          </a:prstGeom>
          <a:solidFill>
            <a:srgbClr val="996633"/>
          </a:solidFill>
          <a:ln w="9525">
            <a:miter lim="800000"/>
          </a:ln>
          <a:scene3d>
            <a:camera prst="legacyObliqueTopRight"/>
            <a:lightRig rig="legacyFlat3" dir="b"/>
          </a:scene3d>
          <a:sp3d extrusionH="227000" prstMaterial="legacyMatte">
            <a:bevelT w="13500" h="13500" prst="angle"/>
            <a:bevelB w="13500" h="13500" prst="angle"/>
            <a:extrusionClr>
              <a:srgbClr val="996633"/>
            </a:extrusionClr>
            <a:contourClr>
              <a:srgbClr val="996633"/>
            </a:contourClr>
          </a:sp3d>
        </p:spPr>
        <p:txBody>
          <a:bodyPr wrap="none" lIns="0" tIns="0" rIns="0" bIns="0"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地址寄存器</a:t>
            </a:r>
            <a:r>
              <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AR</a:t>
            </a:r>
            <a:endParaRPr kumimoji="0" lang="en-US" altLang="zh-CN"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69" name="Rectangle 23"/>
          <p:cNvSpPr>
            <a:spLocks noChangeArrowheads="1"/>
          </p:cNvSpPr>
          <p:nvPr/>
        </p:nvSpPr>
        <p:spPr bwMode="auto">
          <a:xfrm>
            <a:off x="6418263" y="2922588"/>
            <a:ext cx="1698625" cy="465137"/>
          </a:xfrm>
          <a:prstGeom prst="rect">
            <a:avLst/>
          </a:prstGeom>
          <a:solidFill>
            <a:schemeClr val="accent1"/>
          </a:solidFill>
          <a:ln w="9525">
            <a:miter lim="800000"/>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rPr>
              <a:t>指令译码器</a:t>
            </a:r>
            <a:endParaRPr kumimoji="0" lang="zh-CN" altLang="en-US" sz="2400" b="1" i="0" u="none" strike="noStrike" kern="1200" cap="none" spc="0" normalizeH="0" baseline="0" noProof="0">
              <a:ln>
                <a:noFill/>
              </a:ln>
              <a:solidFill>
                <a:srgbClr val="FFFFFF"/>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Gill Sans" charset="0"/>
            </a:endParaRPr>
          </a:p>
        </p:txBody>
      </p:sp>
      <p:sp>
        <p:nvSpPr>
          <p:cNvPr id="23570" name="AutoShape 25"/>
          <p:cNvSpPr>
            <a:spLocks noChangeArrowheads="1"/>
          </p:cNvSpPr>
          <p:nvPr/>
        </p:nvSpPr>
        <p:spPr bwMode="auto">
          <a:xfrm>
            <a:off x="7154863" y="5043488"/>
            <a:ext cx="261937" cy="246062"/>
          </a:xfrm>
          <a:prstGeom prst="downArrow">
            <a:avLst>
              <a:gd name="adj1" fmla="val 50000"/>
              <a:gd name="adj2" fmla="val 25000"/>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571" name="Rectangle 34"/>
          <p:cNvSpPr>
            <a:spLocks noChangeArrowheads="1"/>
          </p:cNvSpPr>
          <p:nvPr/>
        </p:nvSpPr>
        <p:spPr bwMode="auto">
          <a:xfrm>
            <a:off x="361950" y="5881688"/>
            <a:ext cx="7019925" cy="142875"/>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grpSp>
        <p:nvGrpSpPr>
          <p:cNvPr id="23572" name="Group 38"/>
          <p:cNvGrpSpPr/>
          <p:nvPr/>
        </p:nvGrpSpPr>
        <p:grpSpPr bwMode="auto">
          <a:xfrm>
            <a:off x="357188" y="2971800"/>
            <a:ext cx="455612" cy="3052763"/>
            <a:chOff x="225" y="2277"/>
            <a:chExt cx="287" cy="1923"/>
          </a:xfrm>
        </p:grpSpPr>
        <p:sp>
          <p:nvSpPr>
            <p:cNvPr id="23634" name="AutoShape 29"/>
            <p:cNvSpPr>
              <a:spLocks noChangeArrowheads="1"/>
            </p:cNvSpPr>
            <p:nvPr/>
          </p:nvSpPr>
          <p:spPr bwMode="auto">
            <a:xfrm>
              <a:off x="229" y="2277"/>
              <a:ext cx="283" cy="164"/>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62" name="AutoShape 30"/>
            <p:cNvSpPr>
              <a:spLocks noChangeArrowheads="1"/>
            </p:cNvSpPr>
            <p:nvPr/>
          </p:nvSpPr>
          <p:spPr bwMode="auto">
            <a:xfrm>
              <a:off x="229" y="3091"/>
              <a:ext cx="283" cy="164"/>
            </a:xfrm>
            <a:prstGeom prst="rightArrow">
              <a:avLst>
                <a:gd name="adj1" fmla="val 50000"/>
                <a:gd name="adj2" fmla="val 43140"/>
              </a:avLst>
            </a:prstGeom>
            <a:solidFill>
              <a:srgbClr val="FFFF00"/>
            </a:solidFill>
            <a:ln w="19050">
              <a:solidFill>
                <a:schemeClr val="tx1"/>
              </a:solidFill>
              <a:miter lim="800000"/>
              <a:tailEnd type="none" w="lg" len="lg"/>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636" name="Rectangle 31"/>
            <p:cNvSpPr>
              <a:spLocks noChangeArrowheads="1"/>
            </p:cNvSpPr>
            <p:nvPr/>
          </p:nvSpPr>
          <p:spPr bwMode="auto">
            <a:xfrm>
              <a:off x="225" y="2319"/>
              <a:ext cx="80" cy="1881"/>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637" name="Rectangle 32"/>
            <p:cNvSpPr>
              <a:spLocks noChangeArrowheads="1"/>
            </p:cNvSpPr>
            <p:nvPr/>
          </p:nvSpPr>
          <p:spPr bwMode="auto">
            <a:xfrm>
              <a:off x="258" y="314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638" name="Rectangle 33"/>
            <p:cNvSpPr>
              <a:spLocks noChangeArrowheads="1"/>
            </p:cNvSpPr>
            <p:nvPr/>
          </p:nvSpPr>
          <p:spPr bwMode="auto">
            <a:xfrm>
              <a:off x="258" y="2334"/>
              <a:ext cx="90" cy="6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67" name="Rectangle 35"/>
            <p:cNvSpPr>
              <a:spLocks noChangeArrowheads="1"/>
            </p:cNvSpPr>
            <p:nvPr/>
          </p:nvSpPr>
          <p:spPr bwMode="auto">
            <a:xfrm>
              <a:off x="240" y="4086"/>
              <a:ext cx="60" cy="66"/>
            </a:xfrm>
            <a:prstGeom prst="rect">
              <a:avLst/>
            </a:prstGeom>
            <a:solidFill>
              <a:srgbClr val="FFFF00"/>
            </a:solidFill>
            <a:ln w="19050">
              <a:noFill/>
              <a:miter lim="800000"/>
              <a:tailEnd type="none" w="lg" len="lg"/>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grpSp>
      <p:sp>
        <p:nvSpPr>
          <p:cNvPr id="23573" name="Rectangle 36"/>
          <p:cNvSpPr>
            <a:spLocks noChangeArrowheads="1"/>
          </p:cNvSpPr>
          <p:nvPr/>
        </p:nvSpPr>
        <p:spPr bwMode="auto">
          <a:xfrm>
            <a:off x="7248525" y="5734050"/>
            <a:ext cx="133350" cy="290513"/>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69" name="Rectangle 37"/>
          <p:cNvSpPr>
            <a:spLocks noChangeArrowheads="1"/>
          </p:cNvSpPr>
          <p:nvPr/>
        </p:nvSpPr>
        <p:spPr bwMode="auto">
          <a:xfrm>
            <a:off x="7210425" y="5910263"/>
            <a:ext cx="95250" cy="104775"/>
          </a:xfrm>
          <a:prstGeom prst="rect">
            <a:avLst/>
          </a:prstGeom>
          <a:solidFill>
            <a:srgbClr val="FFFF00"/>
          </a:solidFill>
          <a:ln w="19050">
            <a:noFill/>
            <a:miter lim="800000"/>
            <a:tailEnd type="none" w="lg" len="lg"/>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575" name="AutoShape 40"/>
          <p:cNvSpPr>
            <a:spLocks noChangeArrowheads="1"/>
          </p:cNvSpPr>
          <p:nvPr/>
        </p:nvSpPr>
        <p:spPr bwMode="auto">
          <a:xfrm flipH="1">
            <a:off x="2038350" y="2970213"/>
            <a:ext cx="449263" cy="260350"/>
          </a:xfrm>
          <a:prstGeom prst="rightArrow">
            <a:avLst>
              <a:gd name="adj1" fmla="val 50000"/>
              <a:gd name="adj2" fmla="val 43140"/>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73" name="AutoShape 41"/>
          <p:cNvSpPr>
            <a:spLocks noChangeArrowheads="1"/>
          </p:cNvSpPr>
          <p:nvPr/>
        </p:nvSpPr>
        <p:spPr bwMode="auto">
          <a:xfrm flipH="1">
            <a:off x="2038350" y="4233863"/>
            <a:ext cx="5316538" cy="288925"/>
          </a:xfrm>
          <a:prstGeom prst="rightArrow">
            <a:avLst>
              <a:gd name="adj1" fmla="val 50556"/>
              <a:gd name="adj2" fmla="val 41914"/>
            </a:avLst>
          </a:prstGeom>
          <a:solidFill>
            <a:srgbClr val="FFFF00"/>
          </a:solidFill>
          <a:ln w="19050">
            <a:solidFill>
              <a:schemeClr val="tx1"/>
            </a:solidFill>
            <a:miter lim="800000"/>
            <a:tailEnd type="none" w="lg" len="lg"/>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577" name="Rectangle 42"/>
          <p:cNvSpPr>
            <a:spLocks noChangeArrowheads="1"/>
          </p:cNvSpPr>
          <p:nvPr/>
        </p:nvSpPr>
        <p:spPr bwMode="auto">
          <a:xfrm flipH="1">
            <a:off x="2366963" y="3036888"/>
            <a:ext cx="141287" cy="1273175"/>
          </a:xfrm>
          <a:prstGeom prst="rect">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578" name="Rectangle 43"/>
          <p:cNvSpPr>
            <a:spLocks noChangeArrowheads="1"/>
          </p:cNvSpPr>
          <p:nvPr/>
        </p:nvSpPr>
        <p:spPr bwMode="auto">
          <a:xfrm flipH="1">
            <a:off x="2379663" y="4273550"/>
            <a:ext cx="128587"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579" name="Rectangle 44"/>
          <p:cNvSpPr>
            <a:spLocks noChangeArrowheads="1"/>
          </p:cNvSpPr>
          <p:nvPr/>
        </p:nvSpPr>
        <p:spPr bwMode="auto">
          <a:xfrm flipH="1">
            <a:off x="2298700" y="3060700"/>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580" name="AutoShape 46"/>
          <p:cNvSpPr>
            <a:spLocks noChangeArrowheads="1"/>
          </p:cNvSpPr>
          <p:nvPr/>
        </p:nvSpPr>
        <p:spPr bwMode="auto">
          <a:xfrm>
            <a:off x="4813300" y="2973388"/>
            <a:ext cx="260350" cy="709612"/>
          </a:xfrm>
          <a:prstGeom prst="upArrow">
            <a:avLst>
              <a:gd name="adj1" fmla="val 50000"/>
              <a:gd name="adj2" fmla="val 68140"/>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79" name="AutoShape 47"/>
          <p:cNvSpPr>
            <a:spLocks noChangeArrowheads="1"/>
          </p:cNvSpPr>
          <p:nvPr/>
        </p:nvSpPr>
        <p:spPr bwMode="auto">
          <a:xfrm>
            <a:off x="5276850" y="2260600"/>
            <a:ext cx="260350" cy="1422400"/>
          </a:xfrm>
          <a:prstGeom prst="upArrow">
            <a:avLst>
              <a:gd name="adj1" fmla="val 49639"/>
              <a:gd name="adj2" fmla="val 84405"/>
            </a:avLst>
          </a:prstGeom>
          <a:solidFill>
            <a:srgbClr val="FFFF00"/>
          </a:solidFill>
          <a:ln w="19050">
            <a:solidFill>
              <a:schemeClr val="tx1"/>
            </a:solidFill>
            <a:miter lim="800000"/>
            <a:tailEnd type="none" w="lg" len="lg"/>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582" name="AutoShape 48"/>
          <p:cNvSpPr>
            <a:spLocks noChangeArrowheads="1"/>
          </p:cNvSpPr>
          <p:nvPr/>
        </p:nvSpPr>
        <p:spPr bwMode="auto">
          <a:xfrm>
            <a:off x="7164388" y="3363913"/>
            <a:ext cx="261937" cy="376237"/>
          </a:xfrm>
          <a:prstGeom prst="upArrow">
            <a:avLst>
              <a:gd name="adj1" fmla="val 50000"/>
              <a:gd name="adj2" fmla="val 35909"/>
            </a:avLst>
          </a:prstGeom>
          <a:solidFill>
            <a:srgbClr val="FFFF00"/>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583" name="Rectangle 50"/>
          <p:cNvSpPr>
            <a:spLocks noChangeArrowheads="1"/>
          </p:cNvSpPr>
          <p:nvPr/>
        </p:nvSpPr>
        <p:spPr bwMode="auto">
          <a:xfrm flipH="1">
            <a:off x="4449763" y="4273550"/>
            <a:ext cx="100012"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683" name="AutoShape 51"/>
          <p:cNvSpPr>
            <a:spLocks noChangeArrowheads="1"/>
          </p:cNvSpPr>
          <p:nvPr/>
        </p:nvSpPr>
        <p:spPr bwMode="auto">
          <a:xfrm>
            <a:off x="7177088" y="4144963"/>
            <a:ext cx="247650" cy="304800"/>
          </a:xfrm>
          <a:prstGeom prst="upArrow">
            <a:avLst>
              <a:gd name="adj1" fmla="val 50000"/>
              <a:gd name="adj2" fmla="val 30769"/>
            </a:avLst>
          </a:prstGeom>
          <a:solidFill>
            <a:srgbClr val="FFFF00"/>
          </a:solidFill>
          <a:ln w="19050">
            <a:solidFill>
              <a:schemeClr val="tx1"/>
            </a:solidFill>
            <a:miter lim="800000"/>
            <a:tailEnd type="none" w="lg" len="lg"/>
          </a:ln>
          <a:effectLst/>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585" name="Rectangle 52"/>
          <p:cNvSpPr>
            <a:spLocks noChangeArrowheads="1"/>
          </p:cNvSpPr>
          <p:nvPr/>
        </p:nvSpPr>
        <p:spPr bwMode="auto">
          <a:xfrm flipH="1">
            <a:off x="7192963" y="4321175"/>
            <a:ext cx="100012" cy="11430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586" name="AutoShape 53"/>
          <p:cNvSpPr>
            <a:spLocks noChangeArrowheads="1"/>
          </p:cNvSpPr>
          <p:nvPr/>
        </p:nvSpPr>
        <p:spPr bwMode="auto">
          <a:xfrm>
            <a:off x="5530850" y="3856038"/>
            <a:ext cx="711200" cy="233362"/>
          </a:xfrm>
          <a:prstGeom prst="rightArrow">
            <a:avLst>
              <a:gd name="adj1" fmla="val 50000"/>
              <a:gd name="adj2" fmla="val 76191"/>
            </a:avLst>
          </a:prstGeom>
          <a:solidFill>
            <a:srgbClr val="FFFF00"/>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grpSp>
        <p:nvGrpSpPr>
          <p:cNvPr id="23587" name="Group 107"/>
          <p:cNvGrpSpPr/>
          <p:nvPr/>
        </p:nvGrpSpPr>
        <p:grpSpPr bwMode="auto">
          <a:xfrm>
            <a:off x="6921500" y="2492375"/>
            <a:ext cx="900113" cy="333375"/>
            <a:chOff x="4360" y="1920"/>
            <a:chExt cx="567" cy="265"/>
          </a:xfrm>
        </p:grpSpPr>
        <p:sp>
          <p:nvSpPr>
            <p:cNvPr id="23627" name="Line 55"/>
            <p:cNvSpPr>
              <a:spLocks noChangeShapeType="1"/>
            </p:cNvSpPr>
            <p:nvPr/>
          </p:nvSpPr>
          <p:spPr bwMode="auto">
            <a:xfrm flipV="1">
              <a:off x="4360"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8" name="Line 56"/>
            <p:cNvSpPr>
              <a:spLocks noChangeShapeType="1"/>
            </p:cNvSpPr>
            <p:nvPr/>
          </p:nvSpPr>
          <p:spPr bwMode="auto">
            <a:xfrm flipV="1">
              <a:off x="4460"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9" name="Line 57"/>
            <p:cNvSpPr>
              <a:spLocks noChangeShapeType="1"/>
            </p:cNvSpPr>
            <p:nvPr/>
          </p:nvSpPr>
          <p:spPr bwMode="auto">
            <a:xfrm flipV="1">
              <a:off x="4551"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30" name="Line 58"/>
            <p:cNvSpPr>
              <a:spLocks noChangeShapeType="1"/>
            </p:cNvSpPr>
            <p:nvPr/>
          </p:nvSpPr>
          <p:spPr bwMode="auto">
            <a:xfrm flipV="1">
              <a:off x="4643"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31" name="Line 59"/>
            <p:cNvSpPr>
              <a:spLocks noChangeShapeType="1"/>
            </p:cNvSpPr>
            <p:nvPr/>
          </p:nvSpPr>
          <p:spPr bwMode="auto">
            <a:xfrm flipV="1">
              <a:off x="4726"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32" name="Line 60"/>
            <p:cNvSpPr>
              <a:spLocks noChangeShapeType="1"/>
            </p:cNvSpPr>
            <p:nvPr/>
          </p:nvSpPr>
          <p:spPr bwMode="auto">
            <a:xfrm flipV="1">
              <a:off x="4835"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33" name="Line 61"/>
            <p:cNvSpPr>
              <a:spLocks noChangeShapeType="1"/>
            </p:cNvSpPr>
            <p:nvPr/>
          </p:nvSpPr>
          <p:spPr bwMode="auto">
            <a:xfrm flipV="1">
              <a:off x="4927" y="1920"/>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grpSp>
      <p:sp>
        <p:nvSpPr>
          <p:cNvPr id="23588" name="Line 62"/>
          <p:cNvSpPr>
            <a:spLocks noChangeShapeType="1"/>
          </p:cNvSpPr>
          <p:nvPr/>
        </p:nvSpPr>
        <p:spPr bwMode="auto">
          <a:xfrm flipH="1">
            <a:off x="8139113" y="1812925"/>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589" name="Line 63"/>
          <p:cNvSpPr>
            <a:spLocks noChangeShapeType="1"/>
          </p:cNvSpPr>
          <p:nvPr/>
        </p:nvSpPr>
        <p:spPr bwMode="auto">
          <a:xfrm flipH="1">
            <a:off x="8139113" y="2246313"/>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grpSp>
        <p:nvGrpSpPr>
          <p:cNvPr id="23590" name="Group 80"/>
          <p:cNvGrpSpPr/>
          <p:nvPr/>
        </p:nvGrpSpPr>
        <p:grpSpPr bwMode="auto">
          <a:xfrm>
            <a:off x="6530975" y="1317625"/>
            <a:ext cx="871538" cy="333375"/>
            <a:chOff x="4162" y="1124"/>
            <a:chExt cx="549" cy="265"/>
          </a:xfrm>
        </p:grpSpPr>
        <p:sp>
          <p:nvSpPr>
            <p:cNvPr id="23620" name="Line 64"/>
            <p:cNvSpPr>
              <a:spLocks noChangeShapeType="1"/>
            </p:cNvSpPr>
            <p:nvPr/>
          </p:nvSpPr>
          <p:spPr bwMode="auto">
            <a:xfrm flipV="1">
              <a:off x="4162"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1" name="Line 65"/>
            <p:cNvSpPr>
              <a:spLocks noChangeShapeType="1"/>
            </p:cNvSpPr>
            <p:nvPr/>
          </p:nvSpPr>
          <p:spPr bwMode="auto">
            <a:xfrm flipV="1">
              <a:off x="4262"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2" name="Line 66"/>
            <p:cNvSpPr>
              <a:spLocks noChangeShapeType="1"/>
            </p:cNvSpPr>
            <p:nvPr/>
          </p:nvSpPr>
          <p:spPr bwMode="auto">
            <a:xfrm flipV="1">
              <a:off x="4353"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3" name="Line 67"/>
            <p:cNvSpPr>
              <a:spLocks noChangeShapeType="1"/>
            </p:cNvSpPr>
            <p:nvPr/>
          </p:nvSpPr>
          <p:spPr bwMode="auto">
            <a:xfrm flipV="1">
              <a:off x="4445"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4" name="Line 68"/>
            <p:cNvSpPr>
              <a:spLocks noChangeShapeType="1"/>
            </p:cNvSpPr>
            <p:nvPr/>
          </p:nvSpPr>
          <p:spPr bwMode="auto">
            <a:xfrm flipV="1">
              <a:off x="4528"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5" name="Line 69"/>
            <p:cNvSpPr>
              <a:spLocks noChangeShapeType="1"/>
            </p:cNvSpPr>
            <p:nvPr/>
          </p:nvSpPr>
          <p:spPr bwMode="auto">
            <a:xfrm flipV="1">
              <a:off x="4619"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26" name="Line 70"/>
            <p:cNvSpPr>
              <a:spLocks noChangeShapeType="1"/>
            </p:cNvSpPr>
            <p:nvPr/>
          </p:nvSpPr>
          <p:spPr bwMode="auto">
            <a:xfrm flipV="1">
              <a:off x="4711" y="1124"/>
              <a:ext cx="0" cy="265"/>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grpSp>
      <p:sp>
        <p:nvSpPr>
          <p:cNvPr id="23591" name="Text Box 71"/>
          <p:cNvSpPr txBox="1">
            <a:spLocks noChangeArrowheads="1"/>
          </p:cNvSpPr>
          <p:nvPr/>
        </p:nvSpPr>
        <p:spPr bwMode="auto">
          <a:xfrm>
            <a:off x="8328446" y="1592263"/>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defRPr/>
            </a:pPr>
            <a:r>
              <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rPr>
              <a:t>时钟</a:t>
            </a:r>
            <a:endPar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endParaRPr>
          </a:p>
        </p:txBody>
      </p:sp>
      <p:sp>
        <p:nvSpPr>
          <p:cNvPr id="23592" name="Text Box 72"/>
          <p:cNvSpPr txBox="1">
            <a:spLocks noChangeArrowheads="1"/>
          </p:cNvSpPr>
          <p:nvPr/>
        </p:nvSpPr>
        <p:spPr bwMode="auto">
          <a:xfrm>
            <a:off x="8314158" y="1951038"/>
            <a:ext cx="7008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80000"/>
              </a:lnSpc>
              <a:spcBef>
                <a:spcPct val="0"/>
              </a:spcBef>
              <a:spcAft>
                <a:spcPct val="0"/>
              </a:spcAft>
              <a:buClrTx/>
              <a:buSzTx/>
              <a:buFont typeface="Wingdings 2" pitchFamily="18" charset="2"/>
              <a:buNone/>
              <a:defRPr/>
            </a:pPr>
            <a:r>
              <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rPr>
              <a:t>状态</a:t>
            </a:r>
            <a:endPar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endParaRPr>
          </a:p>
          <a:p>
            <a:pPr marL="0" marR="0" lvl="0" indent="0" algn="ctr" defTabSz="914400" rtl="0" eaLnBrk="1" fontAlgn="base" latinLnBrk="0" hangingPunct="1">
              <a:lnSpc>
                <a:spcPct val="80000"/>
              </a:lnSpc>
              <a:spcBef>
                <a:spcPct val="0"/>
              </a:spcBef>
              <a:spcAft>
                <a:spcPct val="0"/>
              </a:spcAft>
              <a:buClrTx/>
              <a:buSzTx/>
              <a:buFont typeface="Wingdings 2" pitchFamily="18" charset="2"/>
              <a:buNone/>
              <a:defRPr/>
            </a:pPr>
            <a:r>
              <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rPr>
              <a:t>反馈</a:t>
            </a:r>
            <a:endPar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endParaRPr>
          </a:p>
        </p:txBody>
      </p:sp>
      <p:sp>
        <p:nvSpPr>
          <p:cNvPr id="23593" name="Line 73"/>
          <p:cNvSpPr>
            <a:spLocks noChangeShapeType="1"/>
          </p:cNvSpPr>
          <p:nvPr/>
        </p:nvSpPr>
        <p:spPr bwMode="auto">
          <a:xfrm flipH="1">
            <a:off x="8286750" y="3943350"/>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594" name="Text Box 74"/>
          <p:cNvSpPr txBox="1">
            <a:spLocks noChangeArrowheads="1"/>
          </p:cNvSpPr>
          <p:nvPr/>
        </p:nvSpPr>
        <p:spPr bwMode="auto">
          <a:xfrm>
            <a:off x="8509000" y="371792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rPr>
              <a:t>c</a:t>
            </a:r>
            <a:endPar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endParaRPr>
          </a:p>
        </p:txBody>
      </p:sp>
      <p:sp>
        <p:nvSpPr>
          <p:cNvPr id="23595" name="Line 75"/>
          <p:cNvSpPr>
            <a:spLocks noChangeShapeType="1"/>
          </p:cNvSpPr>
          <p:nvPr/>
        </p:nvSpPr>
        <p:spPr bwMode="auto">
          <a:xfrm flipH="1">
            <a:off x="8359775" y="4800600"/>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596" name="Text Box 76"/>
          <p:cNvSpPr txBox="1">
            <a:spLocks noChangeArrowheads="1"/>
          </p:cNvSpPr>
          <p:nvPr/>
        </p:nvSpPr>
        <p:spPr bwMode="auto">
          <a:xfrm>
            <a:off x="8582025" y="4575175"/>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rPr>
              <a:t>c</a:t>
            </a:r>
            <a:endPar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endParaRPr>
          </a:p>
        </p:txBody>
      </p:sp>
      <p:sp>
        <p:nvSpPr>
          <p:cNvPr id="23597" name="Line 77"/>
          <p:cNvSpPr>
            <a:spLocks noChangeShapeType="1"/>
          </p:cNvSpPr>
          <p:nvPr/>
        </p:nvSpPr>
        <p:spPr bwMode="auto">
          <a:xfrm flipH="1">
            <a:off x="8345488" y="5510213"/>
            <a:ext cx="288925"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598" name="Text Box 78"/>
          <p:cNvSpPr txBox="1">
            <a:spLocks noChangeArrowheads="1"/>
          </p:cNvSpPr>
          <p:nvPr/>
        </p:nvSpPr>
        <p:spPr bwMode="auto">
          <a:xfrm>
            <a:off x="8567738" y="5284788"/>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rPr>
              <a:t>c</a:t>
            </a:r>
            <a:endPar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endParaRPr>
          </a:p>
        </p:txBody>
      </p:sp>
      <p:sp>
        <p:nvSpPr>
          <p:cNvPr id="23599" name="Text Box 79"/>
          <p:cNvSpPr txBox="1">
            <a:spLocks noChangeArrowheads="1"/>
          </p:cNvSpPr>
          <p:nvPr/>
        </p:nvSpPr>
        <p:spPr bwMode="auto">
          <a:xfrm>
            <a:off x="7354888" y="1214438"/>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rPr>
              <a:t>指令执行控制</a:t>
            </a:r>
            <a:endParaRPr kumimoji="0" lang="zh-CN" altLang="en-US" sz="2000" b="1" i="0" u="none" strike="noStrike" kern="1200" cap="none" spc="0" normalizeH="0" baseline="0" noProof="0" dirty="0">
              <a:ln>
                <a:noFill/>
              </a:ln>
              <a:solidFill>
                <a:srgbClr val="000000"/>
              </a:solidFill>
              <a:effectLst/>
              <a:uLnTx/>
              <a:uFillTx/>
              <a:latin typeface="楷体" panose="02010609060101010101" pitchFamily="49" charset="-122"/>
              <a:ea typeface="楷体" panose="02010609060101010101" pitchFamily="49" charset="-122"/>
              <a:sym typeface="Gill Sans" charset="0"/>
            </a:endParaRPr>
          </a:p>
        </p:txBody>
      </p:sp>
      <p:sp>
        <p:nvSpPr>
          <p:cNvPr id="23600" name="Line 81"/>
          <p:cNvSpPr>
            <a:spLocks noChangeShapeType="1"/>
          </p:cNvSpPr>
          <p:nvPr/>
        </p:nvSpPr>
        <p:spPr bwMode="auto">
          <a:xfrm>
            <a:off x="3136900" y="3957638"/>
            <a:ext cx="246063"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23601" name="Text Box 82"/>
          <p:cNvSpPr txBox="1">
            <a:spLocks noChangeArrowheads="1"/>
          </p:cNvSpPr>
          <p:nvPr/>
        </p:nvSpPr>
        <p:spPr bwMode="auto">
          <a:xfrm>
            <a:off x="2878138" y="3732213"/>
            <a:ext cx="317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rPr>
              <a:t>c</a:t>
            </a:r>
            <a:endParaRPr kumimoji="0" lang="en-US" altLang="zh-CN" sz="2000"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sym typeface="Gill Sans" charset="0"/>
            </a:endParaRPr>
          </a:p>
        </p:txBody>
      </p:sp>
      <p:sp>
        <p:nvSpPr>
          <p:cNvPr id="197721" name="Rectangle 89"/>
          <p:cNvSpPr>
            <a:spLocks noChangeArrowheads="1"/>
          </p:cNvSpPr>
          <p:nvPr/>
        </p:nvSpPr>
        <p:spPr bwMode="auto">
          <a:xfrm flipH="1">
            <a:off x="404813" y="5899150"/>
            <a:ext cx="128587" cy="109538"/>
          </a:xfrm>
          <a:prstGeom prst="rect">
            <a:avLst/>
          </a:prstGeom>
          <a:solidFill>
            <a:srgbClr val="FFFF00"/>
          </a:solidFill>
          <a:ln w="19050">
            <a:noFill/>
            <a:miter lim="800000"/>
            <a:tailEnd type="none" w="lg" len="lg"/>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609" name="Rectangle 94"/>
          <p:cNvSpPr>
            <a:spLocks noChangeArrowheads="1"/>
          </p:cNvSpPr>
          <p:nvPr/>
        </p:nvSpPr>
        <p:spPr bwMode="auto">
          <a:xfrm flipV="1">
            <a:off x="5722938" y="4803775"/>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610" name="Rectangle 95"/>
          <p:cNvSpPr>
            <a:spLocks noChangeArrowheads="1"/>
          </p:cNvSpPr>
          <p:nvPr/>
        </p:nvSpPr>
        <p:spPr bwMode="auto">
          <a:xfrm flipV="1">
            <a:off x="5722938" y="5475288"/>
            <a:ext cx="142875" cy="95250"/>
          </a:xfrm>
          <a:prstGeom prst="rect">
            <a:avLst/>
          </a:prstGeom>
          <a:solidFill>
            <a:srgbClr val="FFFF00"/>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197728" name="Rectangle 96"/>
          <p:cNvSpPr>
            <a:spLocks noChangeArrowheads="1"/>
          </p:cNvSpPr>
          <p:nvPr/>
        </p:nvSpPr>
        <p:spPr bwMode="auto">
          <a:xfrm flipV="1">
            <a:off x="5680075" y="4413250"/>
            <a:ext cx="111125" cy="88900"/>
          </a:xfrm>
          <a:prstGeom prst="rect">
            <a:avLst/>
          </a:prstGeom>
          <a:solidFill>
            <a:srgbClr val="FFFF00"/>
          </a:solidFill>
          <a:ln w="19050">
            <a:noFill/>
            <a:miter lim="800000"/>
            <a:tailEnd type="none" w="lg" len="lg"/>
          </a:ln>
          <a:effectLst/>
        </p:spPr>
        <p:txBody>
          <a:bodyPr rot="10800000"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outerShdw blurRad="38100" dist="38100" dir="2700000" algn="tl">
                  <a:srgbClr val="FFFFFF"/>
                </a:outerShdw>
              </a:effectLst>
              <a:uLnTx/>
              <a:uFillTx/>
              <a:latin typeface="Tahoma" panose="020B0604030504040204" pitchFamily="34" charset="0"/>
              <a:ea typeface="宋体" panose="02010600030101010101" pitchFamily="2" charset="-122"/>
              <a:sym typeface="Gill Sans" charset="0"/>
            </a:endParaRPr>
          </a:p>
        </p:txBody>
      </p:sp>
      <p:sp>
        <p:nvSpPr>
          <p:cNvPr id="23618" name="Rectangle 105"/>
          <p:cNvSpPr>
            <a:spLocks noChangeArrowheads="1"/>
          </p:cNvSpPr>
          <p:nvPr/>
        </p:nvSpPr>
        <p:spPr bwMode="auto">
          <a:xfrm>
            <a:off x="2598738" y="1216025"/>
            <a:ext cx="6473825" cy="4913313"/>
          </a:xfrm>
          <a:prstGeom prst="rect">
            <a:avLst/>
          </a:prstGeom>
          <a:noFill/>
          <a:ln w="22225">
            <a:solidFill>
              <a:srgbClr val="FF0000"/>
            </a:solidFill>
            <a:prstDash val="dash"/>
            <a:miter lim="800000"/>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Gill Sans" charset="0"/>
            </a:endParaRPr>
          </a:p>
        </p:txBody>
      </p:sp>
      <p:sp>
        <p:nvSpPr>
          <p:cNvPr id="23619" name="Text Box 106"/>
          <p:cNvSpPr txBox="1">
            <a:spLocks noChangeArrowheads="1"/>
          </p:cNvSpPr>
          <p:nvPr/>
        </p:nvSpPr>
        <p:spPr bwMode="auto">
          <a:xfrm>
            <a:off x="2898775" y="5197475"/>
            <a:ext cx="1019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sym typeface="Gill Sans" charset="0"/>
              </a:rPr>
              <a:t>CPU</a:t>
            </a:r>
            <a:endParaRPr kumimoji="0" lang="en-US" altLang="zh-CN" sz="32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sym typeface="Gill Sans" charset="0"/>
            </a:endParaRPr>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eaLnBrk="1" hangingPunct="1">
              <a:defRPr/>
            </a:pPr>
            <a:r>
              <a:rPr lang="zh-CN" altLang="en-US"/>
              <a:t>微指令</a:t>
            </a:r>
            <a:endParaRPr lang="zh-CN" altLang="en-US"/>
          </a:p>
        </p:txBody>
      </p:sp>
      <p:sp>
        <p:nvSpPr>
          <p:cNvPr id="94210" name="Rectangle 3"/>
          <p:cNvSpPr>
            <a:spLocks noGrp="1" noChangeArrowheads="1"/>
          </p:cNvSpPr>
          <p:nvPr>
            <p:ph idx="1"/>
          </p:nvPr>
        </p:nvSpPr>
        <p:spPr/>
        <p:txBody>
          <a:bodyPr/>
          <a:lstStyle/>
          <a:p>
            <a:pPr eaLnBrk="1" hangingPunct="1"/>
            <a:r>
              <a:rPr lang="zh-CN" altLang="en-US"/>
              <a:t>在机器的一个</a:t>
            </a:r>
            <a:r>
              <a:rPr lang="en-US" altLang="zh-CN"/>
              <a:t>CPU</a:t>
            </a:r>
            <a:r>
              <a:rPr lang="zh-CN" altLang="en-US"/>
              <a:t>周期中，一组实现一定操作功能的微命令的组合，构成一条微指令</a:t>
            </a:r>
            <a:endParaRPr lang="zh-CN" altLang="en-US"/>
          </a:p>
          <a:p>
            <a:pPr eaLnBrk="1" hangingPunct="1">
              <a:buFont typeface="Wingdings 2" pitchFamily="18" charset="2"/>
              <a:buNone/>
            </a:pPr>
            <a:r>
              <a:rPr lang="zh-CN" altLang="en-US"/>
              <a:t>或者说</a:t>
            </a:r>
            <a:endParaRPr lang="zh-CN" altLang="en-US"/>
          </a:p>
          <a:p>
            <a:pPr eaLnBrk="1" hangingPunct="1"/>
            <a:r>
              <a:rPr lang="zh-CN" altLang="en-US"/>
              <a:t>用一条微指令对应一条机器指令的一个执行步骤</a:t>
            </a:r>
            <a:endParaRPr lang="zh-CN" altLang="en-US"/>
          </a:p>
          <a:p>
            <a:pPr eaLnBrk="1" hangingPunct="1"/>
            <a:r>
              <a:rPr lang="zh-CN" altLang="en-US"/>
              <a:t>微指令需要具备的</a:t>
            </a:r>
            <a:r>
              <a:rPr lang="en-US" altLang="zh-CN"/>
              <a:t>2</a:t>
            </a:r>
            <a:r>
              <a:rPr lang="zh-CN" altLang="en-US"/>
              <a:t>个功能</a:t>
            </a:r>
            <a:endParaRPr lang="zh-CN" altLang="en-US"/>
          </a:p>
          <a:p>
            <a:pPr lvl="1" eaLnBrk="1" hangingPunct="1"/>
            <a:r>
              <a:rPr lang="zh-CN" altLang="en-US"/>
              <a:t>提供一条机器指令的一个执行步骤所需要的控制信号，以实现该执行步骤的操作功能</a:t>
            </a:r>
            <a:endParaRPr lang="zh-CN" altLang="en-US"/>
          </a:p>
          <a:p>
            <a:pPr lvl="1" eaLnBrk="1" hangingPunct="1"/>
            <a:r>
              <a:rPr lang="zh-CN" altLang="en-US"/>
              <a:t>提供读出下一条待用微指令的地址，以便自动有序地读出每一条微指令，解决机器指令执行步骤之间的正确的接续关系</a:t>
            </a:r>
            <a:endParaRPr lang="zh-CN" altLang="en-US"/>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p:txBody>
          <a:bodyPr/>
          <a:lstStyle/>
          <a:p>
            <a:pPr eaLnBrk="1" hangingPunct="1">
              <a:defRPr/>
            </a:pPr>
            <a:r>
              <a:rPr lang="zh-CN" altLang="en-US"/>
              <a:t>微指令基本格式</a:t>
            </a:r>
            <a:endParaRPr lang="zh-CN" altLang="en-US"/>
          </a:p>
        </p:txBody>
      </p:sp>
      <p:sp>
        <p:nvSpPr>
          <p:cNvPr id="95234" name="Rectangle 3"/>
          <p:cNvSpPr>
            <a:spLocks noGrp="1" noChangeArrowheads="1"/>
          </p:cNvSpPr>
          <p:nvPr>
            <p:ph idx="1"/>
          </p:nvPr>
        </p:nvSpPr>
        <p:spPr>
          <a:xfrm>
            <a:off x="186531" y="1045696"/>
            <a:ext cx="8770938" cy="3389312"/>
          </a:xfrm>
        </p:spPr>
        <p:txBody>
          <a:bodyPr/>
          <a:lstStyle/>
          <a:p>
            <a:pPr eaLnBrk="1" hangingPunct="1"/>
            <a:r>
              <a:rPr kumimoji="0" lang="zh-CN" altLang="en-US" sz="2400" dirty="0"/>
              <a:t>微指令由操作控制和顺序控制两大部分组成，图中微指令字长为</a:t>
            </a:r>
            <a:r>
              <a:rPr kumimoji="0" lang="en-US" altLang="zh-CN" sz="2400" dirty="0"/>
              <a:t>23</a:t>
            </a:r>
            <a:r>
              <a:rPr kumimoji="0" lang="zh-CN" altLang="en-US" sz="2400" dirty="0"/>
              <a:t>位，</a:t>
            </a:r>
            <a:endParaRPr kumimoji="0" lang="zh-CN" altLang="en-US" sz="2400" dirty="0"/>
          </a:p>
          <a:p>
            <a:pPr eaLnBrk="1" hangingPunct="1"/>
            <a:r>
              <a:rPr kumimoji="0" lang="zh-CN" altLang="en-US" sz="2400" dirty="0"/>
              <a:t>操作控制部分用来发出控制信号，每一位表示一个微命令</a:t>
            </a:r>
            <a:endParaRPr kumimoji="0" lang="zh-CN" altLang="en-US" sz="2400" dirty="0"/>
          </a:p>
          <a:p>
            <a:pPr lvl="1" eaLnBrk="1" hangingPunct="1"/>
            <a:r>
              <a:rPr kumimoji="0" lang="zh-CN" altLang="en-US" sz="2000" dirty="0"/>
              <a:t>控制信号均为节拍电位信号，持续时间都是一个</a:t>
            </a:r>
            <a:r>
              <a:rPr kumimoji="0" lang="en-US" altLang="zh-CN" sz="2000" dirty="0"/>
              <a:t>CPU</a:t>
            </a:r>
            <a:r>
              <a:rPr kumimoji="0" lang="zh-CN" altLang="en-US" sz="2000" dirty="0"/>
              <a:t>周期，只有与节拍脉冲相结合才能得到实际控制信号</a:t>
            </a:r>
            <a:endParaRPr kumimoji="0" lang="zh-CN" altLang="en-US" sz="2000" dirty="0"/>
          </a:p>
          <a:p>
            <a:pPr eaLnBrk="1" hangingPunct="1"/>
            <a:r>
              <a:rPr kumimoji="0" lang="zh-CN" altLang="en-US" sz="2400" dirty="0"/>
              <a:t>顺序控制部分用来指明下一条微指令的地址</a:t>
            </a:r>
            <a:endParaRPr kumimoji="0" lang="zh-CN" altLang="en-US" sz="2400" dirty="0"/>
          </a:p>
          <a:p>
            <a:pPr lvl="1" eaLnBrk="1" hangingPunct="1"/>
            <a:r>
              <a:rPr kumimoji="0" lang="zh-CN" altLang="en-US" sz="2000" dirty="0"/>
              <a:t>微指令中最后</a:t>
            </a:r>
            <a:r>
              <a:rPr kumimoji="0" lang="en-US" altLang="zh-CN" sz="2000" dirty="0"/>
              <a:t>4</a:t>
            </a:r>
            <a:r>
              <a:rPr kumimoji="0" lang="zh-CN" altLang="en-US" sz="2000" dirty="0"/>
              <a:t>位直接给出下一条微指令的地址，另外两位为测试方式位，根据测试结果来决定下一条微指令的地址</a:t>
            </a:r>
            <a:endParaRPr kumimoji="0" lang="zh-CN" altLang="en-US" sz="2000" dirty="0"/>
          </a:p>
        </p:txBody>
      </p:sp>
      <p:graphicFrame>
        <p:nvGraphicFramePr>
          <p:cNvPr id="282628" name="Group 4"/>
          <p:cNvGraphicFramePr>
            <a:graphicFrameLocks noGrp="1"/>
          </p:cNvGraphicFramePr>
          <p:nvPr/>
        </p:nvGraphicFramePr>
        <p:xfrm>
          <a:off x="561975" y="5221288"/>
          <a:ext cx="8253413" cy="1122362"/>
        </p:xfrm>
        <a:graphic>
          <a:graphicData uri="http://schemas.openxmlformats.org/drawingml/2006/table">
            <a:tbl>
              <a:tblPr/>
              <a:tblGrid>
                <a:gridCol w="358775"/>
                <a:gridCol w="358775"/>
                <a:gridCol w="358775"/>
                <a:gridCol w="358775"/>
                <a:gridCol w="360363"/>
                <a:gridCol w="358775"/>
                <a:gridCol w="358775"/>
                <a:gridCol w="358775"/>
                <a:gridCol w="358775"/>
                <a:gridCol w="358775"/>
                <a:gridCol w="358775"/>
                <a:gridCol w="357187"/>
                <a:gridCol w="358775"/>
                <a:gridCol w="358775"/>
                <a:gridCol w="358775"/>
                <a:gridCol w="358775"/>
                <a:gridCol w="358775"/>
                <a:gridCol w="358775"/>
                <a:gridCol w="360363"/>
                <a:gridCol w="358775"/>
                <a:gridCol w="358775"/>
                <a:gridCol w="358775"/>
                <a:gridCol w="358775"/>
              </a:tblGrid>
              <a:tr h="398422">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723940">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23</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r>
            </a:tbl>
          </a:graphicData>
        </a:graphic>
      </p:graphicFrame>
      <p:graphicFrame>
        <p:nvGraphicFramePr>
          <p:cNvPr id="282728" name="Group 104"/>
          <p:cNvGraphicFramePr>
            <a:graphicFrameLocks noGrp="1"/>
          </p:cNvGraphicFramePr>
          <p:nvPr/>
        </p:nvGraphicFramePr>
        <p:xfrm>
          <a:off x="590550" y="5246688"/>
          <a:ext cx="8196263" cy="331787"/>
        </p:xfrm>
        <a:graphic>
          <a:graphicData uri="http://schemas.openxmlformats.org/drawingml/2006/table">
            <a:tbl>
              <a:tblPr/>
              <a:tblGrid>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tblGrid>
              <a:tr h="33178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cap="flat">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cap="flat">
                      <a:noFill/>
                    </a:lnR>
                    <a:lnT cap="flat">
                      <a:noFill/>
                    </a:lnT>
                    <a:lnB cap="flat">
                      <a:noFill/>
                    </a:lnB>
                    <a:lnTlToBr>
                      <a:noFill/>
                    </a:lnTlToBr>
                    <a:lnBlToTr>
                      <a:noFill/>
                    </a:lnBlToTr>
                    <a:solidFill>
                      <a:schemeClr val="bg1"/>
                    </a:solidFill>
                  </a:tcPr>
                </a:tc>
              </a:tr>
            </a:tbl>
          </a:graphicData>
        </a:graphic>
      </p:graphicFrame>
      <p:sp>
        <p:nvSpPr>
          <p:cNvPr id="95333" name="Line 176"/>
          <p:cNvSpPr>
            <a:spLocks noChangeShapeType="1"/>
          </p:cNvSpPr>
          <p:nvPr/>
        </p:nvSpPr>
        <p:spPr bwMode="auto">
          <a:xfrm>
            <a:off x="6662738" y="5221288"/>
            <a:ext cx="0" cy="6000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34" name="Line 177"/>
          <p:cNvSpPr>
            <a:spLocks noChangeShapeType="1"/>
          </p:cNvSpPr>
          <p:nvPr/>
        </p:nvSpPr>
        <p:spPr bwMode="auto">
          <a:xfrm>
            <a:off x="723900" y="4478338"/>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35" name="Line 178"/>
          <p:cNvSpPr>
            <a:spLocks noChangeShapeType="1"/>
          </p:cNvSpPr>
          <p:nvPr/>
        </p:nvSpPr>
        <p:spPr bwMode="auto">
          <a:xfrm>
            <a:off x="1109663" y="4892675"/>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82803" name="Text Box 179"/>
          <p:cNvSpPr txBox="1">
            <a:spLocks noChangeArrowheads="1"/>
          </p:cNvSpPr>
          <p:nvPr/>
        </p:nvSpPr>
        <p:spPr bwMode="auto">
          <a:xfrm>
            <a:off x="246063" y="4152900"/>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04" name="Text Box 180"/>
          <p:cNvSpPr txBox="1">
            <a:spLocks noChangeArrowheads="1"/>
          </p:cNvSpPr>
          <p:nvPr/>
        </p:nvSpPr>
        <p:spPr bwMode="auto">
          <a:xfrm>
            <a:off x="660400" y="4567238"/>
            <a:ext cx="8810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38" name="Line 181"/>
          <p:cNvSpPr>
            <a:spLocks noChangeShapeType="1"/>
          </p:cNvSpPr>
          <p:nvPr/>
        </p:nvSpPr>
        <p:spPr bwMode="auto">
          <a:xfrm>
            <a:off x="1481138" y="4478338"/>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82806" name="Text Box 182"/>
          <p:cNvSpPr txBox="1">
            <a:spLocks noChangeArrowheads="1"/>
          </p:cNvSpPr>
          <p:nvPr/>
        </p:nvSpPr>
        <p:spPr bwMode="auto">
          <a:xfrm>
            <a:off x="1017588" y="4152900"/>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40" name="Line 183"/>
          <p:cNvSpPr>
            <a:spLocks noChangeShapeType="1"/>
          </p:cNvSpPr>
          <p:nvPr/>
        </p:nvSpPr>
        <p:spPr bwMode="auto">
          <a:xfrm>
            <a:off x="1824038" y="4892675"/>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82808" name="Text Box 184"/>
          <p:cNvSpPr txBox="1">
            <a:spLocks noChangeArrowheads="1"/>
          </p:cNvSpPr>
          <p:nvPr/>
        </p:nvSpPr>
        <p:spPr bwMode="auto">
          <a:xfrm>
            <a:off x="1446213" y="4551363"/>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42" name="Line 185"/>
          <p:cNvSpPr>
            <a:spLocks noChangeShapeType="1"/>
          </p:cNvSpPr>
          <p:nvPr/>
        </p:nvSpPr>
        <p:spPr bwMode="auto">
          <a:xfrm>
            <a:off x="1766888" y="4749800"/>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sp>
        <p:nvSpPr>
          <p:cNvPr id="95343" name="Line 186"/>
          <p:cNvSpPr>
            <a:spLocks noChangeShapeType="1"/>
          </p:cNvSpPr>
          <p:nvPr/>
        </p:nvSpPr>
        <p:spPr bwMode="auto">
          <a:xfrm>
            <a:off x="2181225" y="44926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95344" name="Group 187"/>
          <p:cNvGrpSpPr/>
          <p:nvPr/>
        </p:nvGrpSpPr>
        <p:grpSpPr bwMode="auto">
          <a:xfrm>
            <a:off x="1846263" y="4151313"/>
            <a:ext cx="690562" cy="396875"/>
            <a:chOff x="1121" y="2395"/>
            <a:chExt cx="435" cy="250"/>
          </a:xfrm>
        </p:grpSpPr>
        <p:sp>
          <p:nvSpPr>
            <p:cNvPr id="282812" name="Text Box 188"/>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92" name="Line 189"/>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95345" name="Line 190"/>
          <p:cNvSpPr>
            <a:spLocks noChangeShapeType="1"/>
          </p:cNvSpPr>
          <p:nvPr/>
        </p:nvSpPr>
        <p:spPr bwMode="auto">
          <a:xfrm>
            <a:off x="2524125" y="4892675"/>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95346" name="Group 191"/>
          <p:cNvGrpSpPr/>
          <p:nvPr/>
        </p:nvGrpSpPr>
        <p:grpSpPr bwMode="auto">
          <a:xfrm>
            <a:off x="2882900" y="4494213"/>
            <a:ext cx="1042988" cy="728662"/>
            <a:chOff x="1774" y="2638"/>
            <a:chExt cx="657" cy="459"/>
          </a:xfrm>
        </p:grpSpPr>
        <p:sp>
          <p:nvSpPr>
            <p:cNvPr id="95387" name="Line 19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8" name="Line 19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9" name="Line 19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90" name="Line 19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95347" name="Group 196"/>
          <p:cNvGrpSpPr/>
          <p:nvPr/>
        </p:nvGrpSpPr>
        <p:grpSpPr bwMode="auto">
          <a:xfrm>
            <a:off x="4325938" y="4494213"/>
            <a:ext cx="1042987" cy="728662"/>
            <a:chOff x="1774" y="2638"/>
            <a:chExt cx="657" cy="459"/>
          </a:xfrm>
        </p:grpSpPr>
        <p:sp>
          <p:nvSpPr>
            <p:cNvPr id="95383" name="Line 197"/>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4" name="Line 198"/>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5" name="Line 199"/>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6" name="Line 200"/>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95348" name="Group 201"/>
          <p:cNvGrpSpPr/>
          <p:nvPr/>
        </p:nvGrpSpPr>
        <p:grpSpPr bwMode="auto">
          <a:xfrm>
            <a:off x="5754688" y="4494213"/>
            <a:ext cx="1042987" cy="728662"/>
            <a:chOff x="1774" y="2638"/>
            <a:chExt cx="657" cy="459"/>
          </a:xfrm>
        </p:grpSpPr>
        <p:sp>
          <p:nvSpPr>
            <p:cNvPr id="95379" name="Line 20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0" name="Line 20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1" name="Line 20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82" name="Line 20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95349" name="Line 206"/>
          <p:cNvSpPr>
            <a:spLocks noChangeShapeType="1"/>
          </p:cNvSpPr>
          <p:nvPr/>
        </p:nvSpPr>
        <p:spPr bwMode="auto">
          <a:xfrm>
            <a:off x="7183438" y="4494213"/>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50" name="Line 207"/>
          <p:cNvSpPr>
            <a:spLocks noChangeShapeType="1"/>
          </p:cNvSpPr>
          <p:nvPr/>
        </p:nvSpPr>
        <p:spPr bwMode="auto">
          <a:xfrm>
            <a:off x="7526338" y="48942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51" name="Line 208"/>
          <p:cNvSpPr>
            <a:spLocks noChangeShapeType="1"/>
          </p:cNvSpPr>
          <p:nvPr/>
        </p:nvSpPr>
        <p:spPr bwMode="auto">
          <a:xfrm>
            <a:off x="7883525" y="4894263"/>
            <a:ext cx="0" cy="32861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52" name="Line 209"/>
          <p:cNvSpPr>
            <a:spLocks noChangeShapeType="1"/>
          </p:cNvSpPr>
          <p:nvPr/>
        </p:nvSpPr>
        <p:spPr bwMode="auto">
          <a:xfrm>
            <a:off x="8226425" y="48942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95353" name="Line 210"/>
          <p:cNvSpPr>
            <a:spLocks noChangeShapeType="1"/>
          </p:cNvSpPr>
          <p:nvPr/>
        </p:nvSpPr>
        <p:spPr bwMode="auto">
          <a:xfrm>
            <a:off x="8596313" y="4892675"/>
            <a:ext cx="0" cy="32861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82835" name="Text Box 211"/>
          <p:cNvSpPr txBox="1">
            <a:spLocks noChangeArrowheads="1"/>
          </p:cNvSpPr>
          <p:nvPr/>
        </p:nvSpPr>
        <p:spPr bwMode="auto">
          <a:xfrm>
            <a:off x="2189163" y="4551363"/>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55" name="Line 212"/>
          <p:cNvSpPr>
            <a:spLocks noChangeShapeType="1"/>
          </p:cNvSpPr>
          <p:nvPr/>
        </p:nvSpPr>
        <p:spPr bwMode="auto">
          <a:xfrm>
            <a:off x="2509838" y="4749800"/>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95356" name="Group 213"/>
          <p:cNvGrpSpPr/>
          <p:nvPr/>
        </p:nvGrpSpPr>
        <p:grpSpPr bwMode="auto">
          <a:xfrm>
            <a:off x="2560638" y="4151313"/>
            <a:ext cx="690562" cy="396875"/>
            <a:chOff x="1121" y="2395"/>
            <a:chExt cx="435" cy="250"/>
          </a:xfrm>
        </p:grpSpPr>
        <p:sp>
          <p:nvSpPr>
            <p:cNvPr id="282838" name="Text Box 214"/>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78" name="Line 215"/>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82840" name="Text Box 216"/>
          <p:cNvSpPr txBox="1">
            <a:spLocks noChangeArrowheads="1"/>
          </p:cNvSpPr>
          <p:nvPr/>
        </p:nvSpPr>
        <p:spPr bwMode="auto">
          <a:xfrm>
            <a:off x="2817813" y="4551363"/>
            <a:ext cx="8302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58" name="Line 217"/>
          <p:cNvSpPr>
            <a:spLocks noChangeShapeType="1"/>
          </p:cNvSpPr>
          <p:nvPr/>
        </p:nvSpPr>
        <p:spPr bwMode="auto">
          <a:xfrm>
            <a:off x="3281363" y="4749800"/>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95359" name="Group 218"/>
          <p:cNvGrpSpPr/>
          <p:nvPr/>
        </p:nvGrpSpPr>
        <p:grpSpPr bwMode="auto">
          <a:xfrm>
            <a:off x="3260725" y="4151313"/>
            <a:ext cx="690563" cy="396875"/>
            <a:chOff x="1121" y="2395"/>
            <a:chExt cx="435" cy="250"/>
          </a:xfrm>
        </p:grpSpPr>
        <p:sp>
          <p:nvSpPr>
            <p:cNvPr id="282843" name="Text Box 219"/>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5376" name="Line 220"/>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82845" name="Text Box 221"/>
          <p:cNvSpPr txBox="1">
            <a:spLocks noChangeArrowheads="1"/>
          </p:cNvSpPr>
          <p:nvPr/>
        </p:nvSpPr>
        <p:spPr bwMode="auto">
          <a:xfrm>
            <a:off x="3746500" y="4551363"/>
            <a:ext cx="39211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46" name="Text Box 222"/>
          <p:cNvSpPr txBox="1">
            <a:spLocks noChangeArrowheads="1"/>
          </p:cNvSpPr>
          <p:nvPr/>
        </p:nvSpPr>
        <p:spPr bwMode="auto">
          <a:xfrm>
            <a:off x="4117975" y="4151313"/>
            <a:ext cx="41116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M</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47" name="Text Box 223"/>
          <p:cNvSpPr txBox="1">
            <a:spLocks noChangeArrowheads="1"/>
          </p:cNvSpPr>
          <p:nvPr/>
        </p:nvSpPr>
        <p:spPr bwMode="auto">
          <a:xfrm>
            <a:off x="4446588" y="4570413"/>
            <a:ext cx="439737" cy="396875"/>
          </a:xfrm>
          <a:prstGeom prst="rect">
            <a:avLst/>
          </a:prstGeom>
          <a:noFill/>
          <a:ln w="19050">
            <a:noFill/>
            <a:miter lim="800000"/>
            <a:tailEnd type="none" w="lg" len="lg"/>
          </a:ln>
          <a:effectLst/>
        </p:spPr>
        <p:txBody>
          <a:bodyPr wrap="none">
            <a:spAutoFit/>
          </a:bodyPr>
          <a:lstStyle/>
          <a:p>
            <a:pPr eaLnBrk="1" hangingPunct="1">
              <a:defRPr/>
            </a:pPr>
            <a:r>
              <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48" name="Text Box 224"/>
          <p:cNvSpPr txBox="1">
            <a:spLocks noChangeArrowheads="1"/>
          </p:cNvSpPr>
          <p:nvPr/>
        </p:nvSpPr>
        <p:spPr bwMode="auto">
          <a:xfrm>
            <a:off x="4703763" y="4152900"/>
            <a:ext cx="63023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RD’</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49" name="Text Box 225"/>
          <p:cNvSpPr txBox="1">
            <a:spLocks noChangeArrowheads="1"/>
          </p:cNvSpPr>
          <p:nvPr/>
        </p:nvSpPr>
        <p:spPr bwMode="auto">
          <a:xfrm>
            <a:off x="4875213" y="4567238"/>
            <a:ext cx="96837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LDDR’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50" name="Text Box 226"/>
          <p:cNvSpPr txBox="1">
            <a:spLocks noChangeArrowheads="1"/>
          </p:cNvSpPr>
          <p:nvPr/>
        </p:nvSpPr>
        <p:spPr bwMode="auto">
          <a:xfrm>
            <a:off x="5318125" y="4152900"/>
            <a:ext cx="8985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LDIR’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51" name="Text Box 227"/>
          <p:cNvSpPr txBox="1">
            <a:spLocks noChangeArrowheads="1"/>
          </p:cNvSpPr>
          <p:nvPr/>
        </p:nvSpPr>
        <p:spPr bwMode="auto">
          <a:xfrm>
            <a:off x="5689600" y="4567238"/>
            <a:ext cx="95091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LDAR’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52" name="Text Box 228"/>
          <p:cNvSpPr txBox="1">
            <a:spLocks noChangeArrowheads="1"/>
          </p:cNvSpPr>
          <p:nvPr/>
        </p:nvSpPr>
        <p:spPr bwMode="auto">
          <a:xfrm>
            <a:off x="6075363" y="4151313"/>
            <a:ext cx="89058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PC+1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53" name="Text Box 229"/>
          <p:cNvSpPr txBox="1">
            <a:spLocks noChangeArrowheads="1"/>
          </p:cNvSpPr>
          <p:nvPr/>
        </p:nvSpPr>
        <p:spPr bwMode="auto">
          <a:xfrm>
            <a:off x="6561138" y="4565650"/>
            <a:ext cx="5127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54" name="Text Box 230"/>
          <p:cNvSpPr txBox="1">
            <a:spLocks noChangeArrowheads="1"/>
          </p:cNvSpPr>
          <p:nvPr/>
        </p:nvSpPr>
        <p:spPr bwMode="auto">
          <a:xfrm>
            <a:off x="6946900" y="4151313"/>
            <a:ext cx="5127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P2</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2855" name="Text Box 231"/>
          <p:cNvSpPr txBox="1">
            <a:spLocks noChangeArrowheads="1"/>
          </p:cNvSpPr>
          <p:nvPr/>
        </p:nvSpPr>
        <p:spPr bwMode="auto">
          <a:xfrm>
            <a:off x="7458075" y="4527550"/>
            <a:ext cx="1206500" cy="396875"/>
          </a:xfrm>
          <a:prstGeom prst="rect">
            <a:avLst/>
          </a:prstGeom>
          <a:noFill/>
          <a:ln w="19050">
            <a:noFill/>
            <a:miter lim="800000"/>
            <a:tailEnd type="none" w="lg" len="lg"/>
          </a:ln>
          <a:effectLst/>
        </p:spPr>
        <p:txBody>
          <a:bodyPr wrap="none">
            <a:spAutoFit/>
          </a:bodyPr>
          <a:lstStyle/>
          <a:p>
            <a:pPr algn="ctr" eaLnBrk="1" hangingPunct="1">
              <a:defRPr/>
            </a:pPr>
            <a:r>
              <a:rPr kumimoji="0" lang="zh-CN" altLang="en-US" sz="2000" b="1">
                <a:effectLst>
                  <a:outerShdw blurRad="38100" dist="38100" dir="2700000" algn="tl">
                    <a:srgbClr val="C0C0C0"/>
                  </a:outerShdw>
                </a:effectLst>
                <a:latin typeface="Tahoma" panose="020B0604030504040204" pitchFamily="34" charset="0"/>
                <a:ea typeface="楷体_GB2312" pitchFamily="49" charset="-122"/>
              </a:rPr>
              <a:t>直接地址</a:t>
            </a:r>
            <a:endParaRPr kumimoji="0" lang="zh-CN" altLang="en-US" sz="2000" b="1">
              <a:effectLst>
                <a:outerShdw blurRad="38100" dist="38100" dir="2700000" algn="tl">
                  <a:srgbClr val="C0C0C0"/>
                </a:outerShdw>
              </a:effectLst>
              <a:latin typeface="Tahoma" panose="020B0604030504040204" pitchFamily="34" charset="0"/>
              <a:ea typeface="楷体_GB2312" pitchFamily="49" charset="-122"/>
            </a:endParaRPr>
          </a:p>
        </p:txBody>
      </p:sp>
      <p:sp>
        <p:nvSpPr>
          <p:cNvPr id="95371" name="Line 232"/>
          <p:cNvSpPr>
            <a:spLocks noChangeShapeType="1"/>
          </p:cNvSpPr>
          <p:nvPr/>
        </p:nvSpPr>
        <p:spPr bwMode="auto">
          <a:xfrm>
            <a:off x="552450" y="6221413"/>
            <a:ext cx="6100763"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5372" name="Text Box 233"/>
          <p:cNvSpPr txBox="1">
            <a:spLocks noChangeArrowheads="1"/>
          </p:cNvSpPr>
          <p:nvPr/>
        </p:nvSpPr>
        <p:spPr bwMode="auto">
          <a:xfrm>
            <a:off x="2843213" y="5961063"/>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操作控制</a:t>
            </a:r>
            <a:endParaRPr kumimoji="0" lang="zh-CN" altLang="en-US" sz="2400">
              <a:latin typeface="Tahoma" panose="020B0604030504040204" pitchFamily="34" charset="0"/>
            </a:endParaRPr>
          </a:p>
        </p:txBody>
      </p:sp>
      <p:sp>
        <p:nvSpPr>
          <p:cNvPr id="95373" name="Line 234"/>
          <p:cNvSpPr>
            <a:spLocks noChangeShapeType="1"/>
          </p:cNvSpPr>
          <p:nvPr/>
        </p:nvSpPr>
        <p:spPr bwMode="auto">
          <a:xfrm>
            <a:off x="6653213" y="6221413"/>
            <a:ext cx="215741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5374" name="Text Box 235"/>
          <p:cNvSpPr txBox="1">
            <a:spLocks noChangeArrowheads="1"/>
          </p:cNvSpPr>
          <p:nvPr/>
        </p:nvSpPr>
        <p:spPr bwMode="auto">
          <a:xfrm>
            <a:off x="7058025" y="5961063"/>
            <a:ext cx="1409700"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顺序控制</a:t>
            </a:r>
            <a:endParaRPr kumimoji="0" lang="zh-CN" altLang="en-US" sz="2400">
              <a:latin typeface="Tahoma" panose="020B0604030504040204" pitchFamily="34" charset="0"/>
            </a:endParaRPr>
          </a:p>
        </p:txBody>
      </p:sp>
    </p:spTree>
  </p:cSld>
  <p:clrMapOvr>
    <a:masterClrMapping/>
  </p:clrMapOvr>
  <p:transition spd="med">
    <p:pull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pPr eaLnBrk="1" hangingPunct="1">
              <a:defRPr/>
            </a:pPr>
            <a:r>
              <a:rPr lang="zh-CN" altLang="en-US"/>
              <a:t>微程序控制器</a:t>
            </a:r>
            <a:endParaRPr lang="zh-CN" altLang="en-US"/>
          </a:p>
        </p:txBody>
      </p:sp>
      <p:sp>
        <p:nvSpPr>
          <p:cNvPr id="96258" name="Rectangle 3"/>
          <p:cNvSpPr>
            <a:spLocks noGrp="1" noChangeArrowheads="1"/>
          </p:cNvSpPr>
          <p:nvPr>
            <p:ph idx="1"/>
          </p:nvPr>
        </p:nvSpPr>
        <p:spPr/>
        <p:txBody>
          <a:bodyPr/>
          <a:lstStyle/>
          <a:p>
            <a:pPr eaLnBrk="1" hangingPunct="1"/>
            <a:r>
              <a:rPr lang="zh-CN" altLang="en-US"/>
              <a:t>微程序控制器</a:t>
            </a:r>
            <a:endParaRPr lang="zh-CN" altLang="en-US"/>
          </a:p>
          <a:p>
            <a:pPr lvl="1" eaLnBrk="1" hangingPunct="1"/>
            <a:r>
              <a:rPr lang="zh-CN" altLang="en-US"/>
              <a:t>控制存储器</a:t>
            </a:r>
            <a:endParaRPr lang="zh-CN" altLang="en-US"/>
          </a:p>
          <a:p>
            <a:pPr lvl="1" eaLnBrk="1" hangingPunct="1"/>
            <a:r>
              <a:rPr lang="zh-CN" altLang="en-US"/>
              <a:t>微指令寄存器</a:t>
            </a:r>
            <a:endParaRPr lang="zh-CN" altLang="en-US"/>
          </a:p>
          <a:p>
            <a:pPr lvl="2" eaLnBrk="1" hangingPunct="1"/>
            <a:r>
              <a:rPr lang="zh-CN" altLang="en-US"/>
              <a:t>微地址寄存器</a:t>
            </a:r>
            <a:endParaRPr lang="zh-CN" altLang="en-US"/>
          </a:p>
          <a:p>
            <a:pPr lvl="2" eaLnBrk="1" hangingPunct="1"/>
            <a:r>
              <a:rPr lang="zh-CN" altLang="en-US"/>
              <a:t>微命令寄存器</a:t>
            </a:r>
            <a:endParaRPr lang="zh-CN" altLang="en-US"/>
          </a:p>
          <a:p>
            <a:pPr lvl="1" eaLnBrk="1" hangingPunct="1"/>
            <a:r>
              <a:rPr lang="zh-CN" altLang="en-US"/>
              <a:t>地址转移逻辑</a:t>
            </a:r>
            <a:endParaRPr lang="zh-CN" altLang="en-US"/>
          </a:p>
        </p:txBody>
      </p:sp>
    </p:spTree>
  </p:cSld>
  <p:clrMapOvr>
    <a:masterClrMapping/>
  </p:clrMapOvr>
  <p:transition spd="med">
    <p:pull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页脚占位符 1"/>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r>
              <a:rPr lang="zh-CN" altLang="en-US" sz="1600">
                <a:solidFill>
                  <a:srgbClr val="0099FF"/>
                </a:solidFill>
                <a:latin typeface="楷体_GB2312" pitchFamily="49" charset="-122"/>
              </a:rPr>
              <a:t>计算机学院体系结构中心</a:t>
            </a:r>
            <a:endParaRPr lang="zh-CN" altLang="en-US" sz="1600">
              <a:solidFill>
                <a:srgbClr val="0099FF"/>
              </a:solidFill>
              <a:latin typeface="楷体_GB2312" pitchFamily="49" charset="-122"/>
            </a:endParaRPr>
          </a:p>
        </p:txBody>
      </p:sp>
      <p:sp>
        <p:nvSpPr>
          <p:cNvPr id="285698" name="Rectangle 2"/>
          <p:cNvSpPr>
            <a:spLocks noGrp="1" noChangeArrowheads="1"/>
          </p:cNvSpPr>
          <p:nvPr>
            <p:ph type="title" idx="4294967295"/>
          </p:nvPr>
        </p:nvSpPr>
        <p:spPr>
          <a:xfrm>
            <a:off x="304800" y="224537"/>
            <a:ext cx="8839200" cy="862013"/>
          </a:xfrm>
        </p:spPr>
        <p:txBody>
          <a:bodyPr/>
          <a:lstStyle/>
          <a:p>
            <a:pPr eaLnBrk="1" hangingPunct="1"/>
            <a:r>
              <a:rPr lang="zh-CN" altLang="en-US" dirty="0"/>
              <a:t>微程序控制器原理框图（</a:t>
            </a:r>
            <a:r>
              <a:rPr lang="en-US" altLang="zh-CN" dirty="0"/>
              <a:t>1</a:t>
            </a:r>
            <a:r>
              <a:rPr lang="zh-CN" altLang="en-US" dirty="0"/>
              <a:t>）</a:t>
            </a:r>
            <a:endParaRPr lang="zh-CN" altLang="en-US" dirty="0"/>
          </a:p>
        </p:txBody>
      </p:sp>
      <p:sp>
        <p:nvSpPr>
          <p:cNvPr id="97283" name="Rectangle 4"/>
          <p:cNvSpPr>
            <a:spLocks noChangeArrowheads="1"/>
          </p:cNvSpPr>
          <p:nvPr/>
        </p:nvSpPr>
        <p:spPr bwMode="auto">
          <a:xfrm>
            <a:off x="3603625" y="1808163"/>
            <a:ext cx="1557338" cy="442912"/>
          </a:xfrm>
          <a:prstGeom prst="rect">
            <a:avLst/>
          </a:prstGeom>
          <a:solidFill>
            <a:srgbClr val="660066"/>
          </a:solidFill>
          <a:ln w="19050" algn="ctr">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OP</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97284" name="Text Box 5"/>
          <p:cNvSpPr txBox="1">
            <a:spLocks noChangeArrowheads="1"/>
          </p:cNvSpPr>
          <p:nvPr/>
        </p:nvSpPr>
        <p:spPr bwMode="auto">
          <a:xfrm>
            <a:off x="3165475" y="1347788"/>
            <a:ext cx="2516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指令寄存器</a:t>
            </a:r>
            <a:r>
              <a:rPr kumimoji="0" lang="en-US" altLang="zh-CN" sz="2000">
                <a:latin typeface="楷体" panose="02010609060101010101" pitchFamily="49" charset="-122"/>
                <a:ea typeface="楷体" panose="02010609060101010101" pitchFamily="49" charset="-122"/>
              </a:rPr>
              <a:t>IR</a:t>
            </a:r>
            <a:endParaRPr kumimoji="0" lang="en-US" altLang="zh-CN" sz="2000">
              <a:latin typeface="楷体" panose="02010609060101010101" pitchFamily="49" charset="-122"/>
              <a:ea typeface="楷体" panose="02010609060101010101" pitchFamily="49" charset="-122"/>
            </a:endParaRPr>
          </a:p>
        </p:txBody>
      </p:sp>
      <p:sp>
        <p:nvSpPr>
          <p:cNvPr id="97285" name="Rectangle 6"/>
          <p:cNvSpPr>
            <a:spLocks noChangeArrowheads="1"/>
          </p:cNvSpPr>
          <p:nvPr/>
        </p:nvSpPr>
        <p:spPr bwMode="auto">
          <a:xfrm>
            <a:off x="2874963" y="2951163"/>
            <a:ext cx="1971675" cy="442912"/>
          </a:xfrm>
          <a:prstGeom prst="rect">
            <a:avLst/>
          </a:prstGeom>
          <a:solidFill>
            <a:srgbClr val="660066"/>
          </a:solidFill>
          <a:ln w="19050" algn="ctr">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微地址寄存器</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97286" name="Rectangle 7"/>
          <p:cNvSpPr>
            <a:spLocks noChangeArrowheads="1"/>
          </p:cNvSpPr>
          <p:nvPr/>
        </p:nvSpPr>
        <p:spPr bwMode="auto">
          <a:xfrm>
            <a:off x="5432425" y="2636838"/>
            <a:ext cx="1357313" cy="1257300"/>
          </a:xfrm>
          <a:prstGeom prst="rect">
            <a:avLst/>
          </a:prstGeom>
          <a:solidFill>
            <a:srgbClr val="660066"/>
          </a:solidFill>
          <a:ln w="19050" algn="ctr">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地址转移</a:t>
            </a:r>
            <a:endParaRPr kumimoji="0" lang="zh-CN" altLang="en-US" sz="2400" dirty="0">
              <a:solidFill>
                <a:schemeClr val="bg1"/>
              </a:solidFill>
              <a:ea typeface="楷体" panose="02010609060101010101" pitchFamily="49" charset="-122"/>
              <a:cs typeface="Times New Roman" panose="02020603050405020304" pitchFamily="18" charset="0"/>
            </a:endParaRPr>
          </a:p>
          <a:p>
            <a:pPr algn="ctr" eaLnBrk="1" hangingPunct="1">
              <a:spcBef>
                <a:spcPct val="0"/>
              </a:spcBef>
              <a:buClrTx/>
              <a:buFontTx/>
              <a:buNone/>
            </a:pPr>
            <a:r>
              <a:rPr kumimoji="0" lang="zh-CN" altLang="en-US" sz="2400" dirty="0">
                <a:solidFill>
                  <a:schemeClr val="bg1"/>
                </a:solidFill>
                <a:ea typeface="楷体" panose="02010609060101010101" pitchFamily="49" charset="-122"/>
                <a:cs typeface="Times New Roman" panose="02020603050405020304" pitchFamily="18" charset="0"/>
              </a:rPr>
              <a:t>逻辑</a:t>
            </a:r>
            <a:endParaRPr kumimoji="0" lang="zh-CN" altLang="en-US" sz="2400" dirty="0">
              <a:solidFill>
                <a:schemeClr val="bg1"/>
              </a:solidFill>
              <a:ea typeface="楷体" panose="02010609060101010101" pitchFamily="49" charset="-122"/>
              <a:cs typeface="Times New Roman" panose="02020603050405020304" pitchFamily="18" charset="0"/>
            </a:endParaRPr>
          </a:p>
        </p:txBody>
      </p:sp>
      <p:sp>
        <p:nvSpPr>
          <p:cNvPr id="97287" name="Rectangle 8"/>
          <p:cNvSpPr>
            <a:spLocks noChangeArrowheads="1"/>
          </p:cNvSpPr>
          <p:nvPr/>
        </p:nvSpPr>
        <p:spPr bwMode="auto">
          <a:xfrm>
            <a:off x="574675" y="3308350"/>
            <a:ext cx="1800225" cy="1271588"/>
          </a:xfrm>
          <a:prstGeom prst="rect">
            <a:avLst/>
          </a:prstGeom>
          <a:solidFill>
            <a:srgbClr val="660066"/>
          </a:solidFill>
          <a:ln w="19050">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solidFill>
                  <a:schemeClr val="bg1"/>
                </a:solidFill>
                <a:latin typeface="楷体" panose="02010609060101010101" pitchFamily="49" charset="-122"/>
                <a:ea typeface="楷体" panose="02010609060101010101" pitchFamily="49" charset="-122"/>
              </a:rPr>
              <a:t>控制存储器</a:t>
            </a:r>
            <a:endParaRPr kumimoji="0" lang="zh-CN" altLang="en-US" sz="2400" dirty="0">
              <a:solidFill>
                <a:schemeClr val="bg1"/>
              </a:solidFill>
              <a:latin typeface="楷体" panose="02010609060101010101" pitchFamily="49" charset="-122"/>
              <a:ea typeface="楷体" panose="02010609060101010101" pitchFamily="49" charset="-122"/>
            </a:endParaRPr>
          </a:p>
        </p:txBody>
      </p:sp>
      <p:sp>
        <p:nvSpPr>
          <p:cNvPr id="97288" name="AutoShape 9"/>
          <p:cNvSpPr>
            <a:spLocks noChangeArrowheads="1"/>
          </p:cNvSpPr>
          <p:nvPr/>
        </p:nvSpPr>
        <p:spPr bwMode="auto">
          <a:xfrm flipV="1">
            <a:off x="574675" y="2936875"/>
            <a:ext cx="1814513" cy="3857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2969 w 21600"/>
              <a:gd name="T13" fmla="*/ 2969 h 21600"/>
              <a:gd name="T14" fmla="*/ 18631 w 21600"/>
              <a:gd name="T15" fmla="*/ 18631 h 21600"/>
            </a:gdLst>
            <a:ahLst/>
            <a:cxnLst>
              <a:cxn ang="T8">
                <a:pos x="T0" y="T1"/>
              </a:cxn>
              <a:cxn ang="T9">
                <a:pos x="T2" y="T3"/>
              </a:cxn>
              <a:cxn ang="T10">
                <a:pos x="T4" y="T5"/>
              </a:cxn>
              <a:cxn ang="T11">
                <a:pos x="T6" y="T7"/>
              </a:cxn>
            </a:cxnLst>
            <a:rect l="T12" t="T13" r="T14" b="T15"/>
            <a:pathLst>
              <a:path w="21600" h="21600">
                <a:moveTo>
                  <a:pt x="0" y="0"/>
                </a:moveTo>
                <a:lnTo>
                  <a:pt x="2338" y="21600"/>
                </a:lnTo>
                <a:lnTo>
                  <a:pt x="19262" y="21600"/>
                </a:lnTo>
                <a:lnTo>
                  <a:pt x="21600" y="0"/>
                </a:lnTo>
                <a:lnTo>
                  <a:pt x="0" y="0"/>
                </a:lnTo>
                <a:close/>
              </a:path>
            </a:pathLst>
          </a:custGeom>
          <a:solidFill>
            <a:srgbClr val="660066"/>
          </a:solidFill>
          <a:ln w="19050">
            <a:solidFill>
              <a:schemeClr val="bg1"/>
            </a:solidFill>
            <a:miter lim="800000"/>
            <a:tailEnd type="none" w="lg" len="lg"/>
          </a:ln>
        </p:spPr>
        <p:txBody>
          <a:bodyPr rot="10800000"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dirty="0">
                <a:solidFill>
                  <a:schemeClr val="bg1"/>
                </a:solidFill>
                <a:latin typeface="楷体" panose="02010609060101010101" pitchFamily="49" charset="-122"/>
                <a:ea typeface="楷体" panose="02010609060101010101" pitchFamily="49" charset="-122"/>
              </a:rPr>
              <a:t>地址译码</a:t>
            </a:r>
            <a:endParaRPr kumimoji="0" lang="zh-CN" altLang="en-US" sz="2000" dirty="0">
              <a:solidFill>
                <a:schemeClr val="bg1"/>
              </a:solidFill>
              <a:latin typeface="楷体" panose="02010609060101010101" pitchFamily="49" charset="-122"/>
              <a:ea typeface="楷体" panose="02010609060101010101" pitchFamily="49" charset="-122"/>
            </a:endParaRPr>
          </a:p>
        </p:txBody>
      </p:sp>
      <p:sp>
        <p:nvSpPr>
          <p:cNvPr id="97289" name="Rectangle 10"/>
          <p:cNvSpPr>
            <a:spLocks noChangeArrowheads="1"/>
          </p:cNvSpPr>
          <p:nvPr/>
        </p:nvSpPr>
        <p:spPr bwMode="auto">
          <a:xfrm>
            <a:off x="5546725" y="4537075"/>
            <a:ext cx="957263" cy="385763"/>
          </a:xfrm>
          <a:prstGeom prst="rect">
            <a:avLst/>
          </a:prstGeom>
          <a:solidFill>
            <a:srgbClr val="660066"/>
          </a:solidFill>
          <a:ln w="19050" algn="ctr">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solidFill>
                  <a:schemeClr val="bg1"/>
                </a:solidFill>
                <a:ea typeface="楷体" panose="02010609060101010101" pitchFamily="49" charset="-122"/>
                <a:cs typeface="Times New Roman" panose="02020603050405020304" pitchFamily="18" charset="0"/>
              </a:rPr>
              <a:t>P</a:t>
            </a:r>
            <a:r>
              <a:rPr kumimoji="0" lang="zh-CN" altLang="en-US" sz="2400">
                <a:solidFill>
                  <a:schemeClr val="bg1"/>
                </a:solidFill>
                <a:ea typeface="楷体" panose="02010609060101010101" pitchFamily="49" charset="-122"/>
                <a:cs typeface="Times New Roman" panose="02020603050405020304" pitchFamily="18" charset="0"/>
              </a:rPr>
              <a:t>字段</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97290" name="Rectangle 11"/>
          <p:cNvSpPr>
            <a:spLocks noChangeArrowheads="1"/>
          </p:cNvSpPr>
          <p:nvPr/>
        </p:nvSpPr>
        <p:spPr bwMode="auto">
          <a:xfrm>
            <a:off x="6503988" y="4537075"/>
            <a:ext cx="2143125" cy="385763"/>
          </a:xfrm>
          <a:prstGeom prst="rect">
            <a:avLst/>
          </a:prstGeom>
          <a:solidFill>
            <a:srgbClr val="660066"/>
          </a:solidFill>
          <a:ln w="19050" algn="ctr">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控制字段</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97291" name="Rectangle 13"/>
          <p:cNvSpPr>
            <a:spLocks noChangeArrowheads="1"/>
          </p:cNvSpPr>
          <p:nvPr/>
        </p:nvSpPr>
        <p:spPr bwMode="auto">
          <a:xfrm>
            <a:off x="3860800" y="2522538"/>
            <a:ext cx="128588" cy="428625"/>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2" name="AutoShape 14"/>
          <p:cNvSpPr>
            <a:spLocks noChangeArrowheads="1"/>
          </p:cNvSpPr>
          <p:nvPr/>
        </p:nvSpPr>
        <p:spPr bwMode="auto">
          <a:xfrm>
            <a:off x="1317625" y="2522538"/>
            <a:ext cx="257175" cy="428625"/>
          </a:xfrm>
          <a:prstGeom prst="downArrow">
            <a:avLst>
              <a:gd name="adj1" fmla="val 50000"/>
              <a:gd name="adj2" fmla="val 41667"/>
            </a:avLst>
          </a:prstGeom>
          <a:solidFill>
            <a:schemeClr val="bg1"/>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3" name="Rectangle 12"/>
          <p:cNvSpPr>
            <a:spLocks noChangeArrowheads="1"/>
          </p:cNvSpPr>
          <p:nvPr/>
        </p:nvSpPr>
        <p:spPr bwMode="auto">
          <a:xfrm>
            <a:off x="1374775" y="2508250"/>
            <a:ext cx="2614613" cy="142875"/>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4" name="Rectangle 18"/>
          <p:cNvSpPr>
            <a:spLocks noChangeArrowheads="1"/>
          </p:cNvSpPr>
          <p:nvPr/>
        </p:nvSpPr>
        <p:spPr bwMode="auto">
          <a:xfrm>
            <a:off x="1508125" y="4579938"/>
            <a:ext cx="128588" cy="790575"/>
          </a:xfrm>
          <a:prstGeom prst="rect">
            <a:avLst/>
          </a:prstGeom>
          <a:solidFill>
            <a:schemeClr val="bg1"/>
          </a:solidFill>
          <a:ln w="19050">
            <a:solidFill>
              <a:schemeClr val="tx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5" name="AutoShape 19"/>
          <p:cNvSpPr>
            <a:spLocks noChangeArrowheads="1"/>
          </p:cNvSpPr>
          <p:nvPr/>
        </p:nvSpPr>
        <p:spPr bwMode="auto">
          <a:xfrm>
            <a:off x="3846513" y="3398838"/>
            <a:ext cx="228600" cy="1971675"/>
          </a:xfrm>
          <a:prstGeom prst="upArrow">
            <a:avLst>
              <a:gd name="adj1" fmla="val 58333"/>
              <a:gd name="adj2" fmla="val 60694"/>
            </a:avLst>
          </a:prstGeom>
          <a:solidFill>
            <a:schemeClr val="bg1"/>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97296" name="AutoShape 20"/>
          <p:cNvSpPr>
            <a:spLocks noChangeArrowheads="1"/>
          </p:cNvSpPr>
          <p:nvPr/>
        </p:nvSpPr>
        <p:spPr bwMode="auto">
          <a:xfrm>
            <a:off x="5913438" y="4922838"/>
            <a:ext cx="266700" cy="438150"/>
          </a:xfrm>
          <a:prstGeom prst="upArrow">
            <a:avLst>
              <a:gd name="adj1" fmla="val 50000"/>
              <a:gd name="adj2" fmla="val 41071"/>
            </a:avLst>
          </a:prstGeom>
          <a:solidFill>
            <a:schemeClr val="bg1"/>
          </a:solidFill>
          <a:ln w="19050">
            <a:solidFill>
              <a:schemeClr val="tx1"/>
            </a:solidFill>
            <a:miter lim="800000"/>
            <a:tailEnd type="none" w="lg" len="lg"/>
          </a:ln>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85717" name="AutoShape 21"/>
          <p:cNvSpPr>
            <a:spLocks noChangeArrowheads="1"/>
          </p:cNvSpPr>
          <p:nvPr/>
        </p:nvSpPr>
        <p:spPr bwMode="auto">
          <a:xfrm>
            <a:off x="7427913" y="4932363"/>
            <a:ext cx="276225" cy="438150"/>
          </a:xfrm>
          <a:prstGeom prst="upArrow">
            <a:avLst>
              <a:gd name="adj1" fmla="val 50000"/>
              <a:gd name="adj2" fmla="val 39655"/>
            </a:avLst>
          </a:prstGeom>
          <a:solidFill>
            <a:schemeClr val="bg1"/>
          </a:solidFill>
          <a:ln w="19050">
            <a:solidFill>
              <a:schemeClr val="tx1"/>
            </a:solidFill>
            <a:miter lim="800000"/>
            <a:tailEnd type="none" w="lg" len="lg"/>
          </a:ln>
          <a:effectLst/>
        </p:spPr>
        <p:txBody>
          <a:bodyPr vert="eaVert"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5713" name="Rectangle 17"/>
          <p:cNvSpPr>
            <a:spLocks noChangeArrowheads="1"/>
          </p:cNvSpPr>
          <p:nvPr/>
        </p:nvSpPr>
        <p:spPr bwMode="auto">
          <a:xfrm>
            <a:off x="1508125" y="5232400"/>
            <a:ext cx="6129338" cy="142875"/>
          </a:xfrm>
          <a:prstGeom prst="rect">
            <a:avLst/>
          </a:prstGeom>
          <a:solidFill>
            <a:schemeClr val="bg1"/>
          </a:solidFill>
          <a:ln w="19050">
            <a:solidFill>
              <a:schemeClr val="tx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7299" name="Rectangle 22"/>
          <p:cNvSpPr>
            <a:spLocks noChangeArrowheads="1"/>
          </p:cNvSpPr>
          <p:nvPr/>
        </p:nvSpPr>
        <p:spPr bwMode="auto">
          <a:xfrm>
            <a:off x="1522413" y="5180013"/>
            <a:ext cx="95250" cy="114300"/>
          </a:xfrm>
          <a:prstGeom prst="rect">
            <a:avLst/>
          </a:prstGeom>
          <a:solidFill>
            <a:schemeClr val="bg1"/>
          </a:solidFill>
          <a:ln w="19050">
            <a:solidFill>
              <a:schemeClr val="bg1"/>
            </a:solid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285719" name="Rectangle 23"/>
          <p:cNvSpPr>
            <a:spLocks noChangeArrowheads="1"/>
          </p:cNvSpPr>
          <p:nvPr/>
        </p:nvSpPr>
        <p:spPr bwMode="auto">
          <a:xfrm>
            <a:off x="3913188" y="5170488"/>
            <a:ext cx="95250" cy="114300"/>
          </a:xfrm>
          <a:prstGeom prst="rect">
            <a:avLst/>
          </a:prstGeom>
          <a:solidFill>
            <a:schemeClr val="bg1"/>
          </a:solidFill>
          <a:ln w="19050">
            <a:solidFill>
              <a:schemeClr val="bg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5720" name="Rectangle 24"/>
          <p:cNvSpPr>
            <a:spLocks noChangeArrowheads="1"/>
          </p:cNvSpPr>
          <p:nvPr/>
        </p:nvSpPr>
        <p:spPr bwMode="auto">
          <a:xfrm>
            <a:off x="5999163" y="5180013"/>
            <a:ext cx="95250" cy="114300"/>
          </a:xfrm>
          <a:prstGeom prst="rect">
            <a:avLst/>
          </a:prstGeom>
          <a:solidFill>
            <a:schemeClr val="bg1"/>
          </a:solidFill>
          <a:ln w="19050">
            <a:solidFill>
              <a:schemeClr val="bg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5721" name="Rectangle 25"/>
          <p:cNvSpPr>
            <a:spLocks noChangeArrowheads="1"/>
          </p:cNvSpPr>
          <p:nvPr/>
        </p:nvSpPr>
        <p:spPr bwMode="auto">
          <a:xfrm>
            <a:off x="7523163" y="5199063"/>
            <a:ext cx="95250" cy="114300"/>
          </a:xfrm>
          <a:prstGeom prst="rect">
            <a:avLst/>
          </a:prstGeom>
          <a:solidFill>
            <a:schemeClr val="bg1"/>
          </a:solidFill>
          <a:ln w="19050">
            <a:solidFill>
              <a:schemeClr val="bg1"/>
            </a:solidFill>
            <a:miter lim="800000"/>
            <a:tailEnd type="none" w="lg" len="lg"/>
          </a:ln>
          <a:effectLst/>
        </p:spPr>
        <p:txBody>
          <a:bodyPr wrap="none" anchor="ctr"/>
          <a:lstStyle/>
          <a:p>
            <a:pPr algn="ctr" eaLnBrk="1" hangingPunct="1">
              <a:defRPr/>
            </a:pPr>
            <a:endParaRPr kumimoji="0" lang="zh-CN" altLang="en-US" sz="18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97303" name="Line 26"/>
          <p:cNvSpPr>
            <a:spLocks noChangeShapeType="1"/>
          </p:cNvSpPr>
          <p:nvPr/>
        </p:nvSpPr>
        <p:spPr bwMode="auto">
          <a:xfrm flipV="1">
            <a:off x="6046788" y="3894138"/>
            <a:ext cx="0" cy="6286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4" name="Line 27"/>
          <p:cNvSpPr>
            <a:spLocks noChangeShapeType="1"/>
          </p:cNvSpPr>
          <p:nvPr/>
        </p:nvSpPr>
        <p:spPr bwMode="auto">
          <a:xfrm flipV="1">
            <a:off x="7018338" y="3908425"/>
            <a:ext cx="0" cy="6286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5" name="Line 28"/>
          <p:cNvSpPr>
            <a:spLocks noChangeShapeType="1"/>
          </p:cNvSpPr>
          <p:nvPr/>
        </p:nvSpPr>
        <p:spPr bwMode="auto">
          <a:xfrm flipV="1">
            <a:off x="7275513" y="3908425"/>
            <a:ext cx="0" cy="6286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6" name="Line 29"/>
          <p:cNvSpPr>
            <a:spLocks noChangeShapeType="1"/>
          </p:cNvSpPr>
          <p:nvPr/>
        </p:nvSpPr>
        <p:spPr bwMode="auto">
          <a:xfrm flipV="1">
            <a:off x="7518400" y="3908425"/>
            <a:ext cx="0" cy="6286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7" name="Line 30"/>
          <p:cNvSpPr>
            <a:spLocks noChangeShapeType="1"/>
          </p:cNvSpPr>
          <p:nvPr/>
        </p:nvSpPr>
        <p:spPr bwMode="auto">
          <a:xfrm flipV="1">
            <a:off x="8247063" y="3908425"/>
            <a:ext cx="0" cy="6286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08" name="Text Box 31"/>
          <p:cNvSpPr txBox="1">
            <a:spLocks noChangeArrowheads="1"/>
          </p:cNvSpPr>
          <p:nvPr/>
        </p:nvSpPr>
        <p:spPr bwMode="auto">
          <a:xfrm>
            <a:off x="7497763" y="395287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Arial" panose="020B0604020202020204" pitchFamily="34" charset="0"/>
                <a:ea typeface="宋体" panose="02010600030101010101" pitchFamily="2" charset="-122"/>
              </a:rPr>
              <a:t>……</a:t>
            </a:r>
            <a:endParaRPr kumimoji="0" lang="en-US" altLang="zh-CN" sz="2400">
              <a:latin typeface="Tahoma" panose="020B0604030504040204" pitchFamily="34" charset="0"/>
              <a:ea typeface="宋体" panose="02010600030101010101" pitchFamily="2" charset="-122"/>
            </a:endParaRPr>
          </a:p>
        </p:txBody>
      </p:sp>
      <p:sp>
        <p:nvSpPr>
          <p:cNvPr id="97309" name="Text Box 32"/>
          <p:cNvSpPr txBox="1">
            <a:spLocks noChangeArrowheads="1"/>
          </p:cNvSpPr>
          <p:nvPr/>
        </p:nvSpPr>
        <p:spPr bwMode="auto">
          <a:xfrm>
            <a:off x="6784975" y="3490913"/>
            <a:ext cx="1716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微命令信号</a:t>
            </a:r>
            <a:endParaRPr kumimoji="0" lang="zh-CN" altLang="en-US" sz="2400">
              <a:latin typeface="楷体" panose="02010609060101010101" pitchFamily="49" charset="-122"/>
              <a:ea typeface="楷体" panose="02010609060101010101" pitchFamily="49" charset="-122"/>
            </a:endParaRPr>
          </a:p>
        </p:txBody>
      </p:sp>
      <p:sp>
        <p:nvSpPr>
          <p:cNvPr id="97310" name="Line 34"/>
          <p:cNvSpPr>
            <a:spLocks noChangeShapeType="1"/>
          </p:cNvSpPr>
          <p:nvPr/>
        </p:nvSpPr>
        <p:spPr bwMode="auto">
          <a:xfrm>
            <a:off x="6018213" y="2093913"/>
            <a:ext cx="0" cy="52863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11" name="Text Box 36"/>
          <p:cNvSpPr txBox="1">
            <a:spLocks noChangeArrowheads="1"/>
          </p:cNvSpPr>
          <p:nvPr/>
        </p:nvSpPr>
        <p:spPr bwMode="auto">
          <a:xfrm>
            <a:off x="6140450" y="203835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Arial" panose="020B0604020202020204" pitchFamily="34" charset="0"/>
                <a:ea typeface="宋体" panose="02010600030101010101" pitchFamily="2" charset="-122"/>
              </a:rPr>
              <a:t>…</a:t>
            </a:r>
            <a:endParaRPr kumimoji="0" lang="en-US" altLang="zh-CN" sz="2400">
              <a:latin typeface="Tahoma" panose="020B0604030504040204" pitchFamily="34" charset="0"/>
              <a:ea typeface="宋体" panose="02010600030101010101" pitchFamily="2" charset="-122"/>
            </a:endParaRPr>
          </a:p>
        </p:txBody>
      </p:sp>
      <p:sp>
        <p:nvSpPr>
          <p:cNvPr id="97312" name="Line 37"/>
          <p:cNvSpPr>
            <a:spLocks noChangeShapeType="1"/>
          </p:cNvSpPr>
          <p:nvPr/>
        </p:nvSpPr>
        <p:spPr bwMode="auto">
          <a:xfrm>
            <a:off x="6203950" y="2093913"/>
            <a:ext cx="0" cy="528637"/>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13" name="Line 38"/>
          <p:cNvSpPr>
            <a:spLocks noChangeShapeType="1"/>
          </p:cNvSpPr>
          <p:nvPr/>
        </p:nvSpPr>
        <p:spPr bwMode="auto">
          <a:xfrm>
            <a:off x="6561138" y="2108200"/>
            <a:ext cx="0" cy="5286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97314" name="AutoShape 39"/>
          <p:cNvSpPr>
            <a:spLocks noChangeArrowheads="1"/>
          </p:cNvSpPr>
          <p:nvPr/>
        </p:nvSpPr>
        <p:spPr bwMode="auto">
          <a:xfrm flipV="1">
            <a:off x="5175250" y="1979613"/>
            <a:ext cx="628650" cy="642937"/>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6234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15" y="0"/>
                </a:moveTo>
                <a:lnTo>
                  <a:pt x="10829" y="7200"/>
                </a:lnTo>
                <a:lnTo>
                  <a:pt x="13915" y="7200"/>
                </a:lnTo>
                <a:lnTo>
                  <a:pt x="13915" y="16234"/>
                </a:lnTo>
                <a:lnTo>
                  <a:pt x="0" y="16234"/>
                </a:lnTo>
                <a:lnTo>
                  <a:pt x="0" y="21600"/>
                </a:lnTo>
                <a:lnTo>
                  <a:pt x="18514" y="21600"/>
                </a:lnTo>
                <a:lnTo>
                  <a:pt x="18514" y="7200"/>
                </a:lnTo>
                <a:lnTo>
                  <a:pt x="21600" y="7200"/>
                </a:lnTo>
                <a:lnTo>
                  <a:pt x="16215" y="0"/>
                </a:lnTo>
                <a:close/>
              </a:path>
            </a:pathLst>
          </a:custGeom>
          <a:solidFill>
            <a:schemeClr val="bg1"/>
          </a:solidFill>
          <a:ln w="19050">
            <a:solidFill>
              <a:schemeClr val="tx1"/>
            </a:solidFill>
            <a:miter lim="800000"/>
            <a:tailEnd type="none" w="lg" len="lg"/>
          </a:ln>
        </p:spPr>
        <p:txBody>
          <a:bodyPr wrap="none" anchor="ctr"/>
          <a:lstStyle/>
          <a:p>
            <a:endParaRPr lang="zh-CN" altLang="en-US"/>
          </a:p>
        </p:txBody>
      </p:sp>
      <p:sp>
        <p:nvSpPr>
          <p:cNvPr id="97315" name="Text Box 40"/>
          <p:cNvSpPr txBox="1">
            <a:spLocks noChangeArrowheads="1"/>
          </p:cNvSpPr>
          <p:nvPr/>
        </p:nvSpPr>
        <p:spPr bwMode="auto">
          <a:xfrm>
            <a:off x="5603875" y="16192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状态条件</a:t>
            </a:r>
            <a:endParaRPr kumimoji="0" lang="zh-CN" altLang="en-US" sz="2400">
              <a:latin typeface="楷体" panose="02010609060101010101" pitchFamily="49" charset="-122"/>
              <a:ea typeface="楷体" panose="02010609060101010101" pitchFamily="49" charset="-122"/>
            </a:endParaRPr>
          </a:p>
        </p:txBody>
      </p:sp>
      <p:sp>
        <p:nvSpPr>
          <p:cNvPr id="97316" name="Text Box 41"/>
          <p:cNvSpPr txBox="1">
            <a:spLocks noChangeArrowheads="1"/>
          </p:cNvSpPr>
          <p:nvPr/>
        </p:nvSpPr>
        <p:spPr bwMode="auto">
          <a:xfrm>
            <a:off x="4448192" y="4305300"/>
            <a:ext cx="11128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微指令</a:t>
            </a:r>
            <a:endParaRPr kumimoji="0" lang="zh-CN" altLang="en-US" sz="2400">
              <a:latin typeface="楷体" panose="02010609060101010101" pitchFamily="49" charset="-122"/>
              <a:ea typeface="楷体" panose="02010609060101010101" pitchFamily="49" charset="-122"/>
            </a:endParaRPr>
          </a:p>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寄存器</a:t>
            </a:r>
            <a:endParaRPr kumimoji="0" lang="zh-CN" altLang="en-US" sz="2400">
              <a:latin typeface="楷体" panose="02010609060101010101" pitchFamily="49" charset="-122"/>
              <a:ea typeface="楷体" panose="02010609060101010101" pitchFamily="49" charset="-122"/>
            </a:endParaRPr>
          </a:p>
        </p:txBody>
      </p:sp>
      <p:sp>
        <p:nvSpPr>
          <p:cNvPr id="97317" name="AutoShape 42"/>
          <p:cNvSpPr>
            <a:spLocks noChangeArrowheads="1"/>
          </p:cNvSpPr>
          <p:nvPr/>
        </p:nvSpPr>
        <p:spPr bwMode="auto">
          <a:xfrm>
            <a:off x="4846638" y="3065463"/>
            <a:ext cx="585787" cy="271462"/>
          </a:xfrm>
          <a:prstGeom prst="leftArrow">
            <a:avLst>
              <a:gd name="adj1" fmla="val 50000"/>
              <a:gd name="adj2" fmla="val 53947"/>
            </a:avLst>
          </a:prstGeom>
          <a:solidFill>
            <a:srgbClr val="660066"/>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idx="4294967295"/>
          </p:nvPr>
        </p:nvSpPr>
        <p:spPr>
          <a:xfrm>
            <a:off x="304799" y="228600"/>
            <a:ext cx="8875059" cy="862013"/>
          </a:xfrm>
        </p:spPr>
        <p:txBody>
          <a:bodyPr/>
          <a:lstStyle/>
          <a:p>
            <a:pPr eaLnBrk="1" hangingPunct="1"/>
            <a:r>
              <a:rPr lang="zh-CN" altLang="en-US" dirty="0"/>
              <a:t>微程序控制器原理框图（</a:t>
            </a:r>
            <a:r>
              <a:rPr lang="en-US" altLang="zh-CN" dirty="0"/>
              <a:t>2</a:t>
            </a:r>
            <a:r>
              <a:rPr lang="zh-CN" altLang="en-US" dirty="0"/>
              <a:t>）</a:t>
            </a:r>
            <a:endParaRPr lang="zh-CN" altLang="en-US" dirty="0"/>
          </a:p>
        </p:txBody>
      </p:sp>
      <p:sp>
        <p:nvSpPr>
          <p:cNvPr id="98307" name="Rectangle 3"/>
          <p:cNvSpPr>
            <a:spLocks noGrp="1" noChangeArrowheads="1"/>
          </p:cNvSpPr>
          <p:nvPr>
            <p:ph type="body" idx="4294967295"/>
          </p:nvPr>
        </p:nvSpPr>
        <p:spPr>
          <a:xfrm>
            <a:off x="356393" y="1090613"/>
            <a:ext cx="8431214" cy="5262562"/>
          </a:xfrm>
        </p:spPr>
        <p:txBody>
          <a:bodyPr/>
          <a:lstStyle/>
          <a:p>
            <a:pPr eaLnBrk="1" hangingPunct="1">
              <a:lnSpc>
                <a:spcPct val="90000"/>
              </a:lnSpc>
            </a:pPr>
            <a:r>
              <a:rPr kumimoji="0" lang="zh-CN" altLang="en-US" sz="2800"/>
              <a:t>微指令寄存器</a:t>
            </a:r>
            <a:endParaRPr kumimoji="0" lang="zh-CN" altLang="en-US" sz="2800"/>
          </a:p>
          <a:p>
            <a:pPr lvl="1" eaLnBrk="1" hangingPunct="1">
              <a:lnSpc>
                <a:spcPct val="90000"/>
              </a:lnSpc>
            </a:pPr>
            <a:r>
              <a:rPr kumimoji="0" lang="zh-CN" altLang="en-US" sz="2400"/>
              <a:t>用来存放由控制存储器读出的一条微指令</a:t>
            </a:r>
            <a:endParaRPr kumimoji="0" lang="zh-CN" altLang="en-US" sz="2400"/>
          </a:p>
          <a:p>
            <a:pPr lvl="1" eaLnBrk="1" hangingPunct="1">
              <a:lnSpc>
                <a:spcPct val="90000"/>
              </a:lnSpc>
            </a:pPr>
            <a:r>
              <a:rPr kumimoji="0" lang="zh-CN" altLang="en-US" sz="2400"/>
              <a:t>其中微地址寄存器决定将要访问的下一条微指令的地址</a:t>
            </a:r>
            <a:endParaRPr kumimoji="0" lang="zh-CN" altLang="en-US" sz="2400"/>
          </a:p>
          <a:p>
            <a:pPr eaLnBrk="1" hangingPunct="1">
              <a:lnSpc>
                <a:spcPct val="90000"/>
              </a:lnSpc>
            </a:pPr>
            <a:r>
              <a:rPr kumimoji="0" lang="zh-CN" altLang="en-US" sz="2800"/>
              <a:t>地址转移逻辑</a:t>
            </a:r>
            <a:endParaRPr kumimoji="0" lang="zh-CN" altLang="en-US" sz="2800"/>
          </a:p>
          <a:p>
            <a:pPr lvl="1" eaLnBrk="1" hangingPunct="1">
              <a:lnSpc>
                <a:spcPct val="90000"/>
              </a:lnSpc>
            </a:pPr>
            <a:r>
              <a:rPr kumimoji="0" lang="zh-CN" altLang="en-US" sz="2400"/>
              <a:t>通常由微指令的顺序控制部分直接给出下一条微指令的地址（微地址），存放在微地址寄存器中</a:t>
            </a:r>
            <a:endParaRPr kumimoji="0" lang="zh-CN" altLang="en-US" sz="2400"/>
          </a:p>
          <a:p>
            <a:pPr lvl="1" eaLnBrk="1" hangingPunct="1">
              <a:lnSpc>
                <a:spcPct val="90000"/>
              </a:lnSpc>
            </a:pPr>
            <a:r>
              <a:rPr kumimoji="0" lang="zh-CN" altLang="en-US" sz="2400"/>
              <a:t>微程序出现分支时地址转移逻辑要完成修改微地址的任务</a:t>
            </a:r>
            <a:endParaRPr kumimoji="0" lang="zh-CN" altLang="en-US" sz="2400"/>
          </a:p>
          <a:p>
            <a:pPr eaLnBrk="1" hangingPunct="1">
              <a:lnSpc>
                <a:spcPct val="90000"/>
              </a:lnSpc>
            </a:pPr>
            <a:r>
              <a:rPr kumimoji="0" lang="zh-CN" altLang="en-US" sz="2800"/>
              <a:t>控制存储器</a:t>
            </a:r>
            <a:endParaRPr kumimoji="0" lang="zh-CN" altLang="en-US" sz="2800"/>
          </a:p>
          <a:p>
            <a:pPr lvl="1" eaLnBrk="1" hangingPunct="1">
              <a:lnSpc>
                <a:spcPct val="90000"/>
              </a:lnSpc>
            </a:pPr>
            <a:r>
              <a:rPr kumimoji="0" lang="zh-CN" altLang="en-US" sz="2400"/>
              <a:t>用来存放实现全部指令系统的微程序的只读存储器</a:t>
            </a:r>
            <a:endParaRPr kumimoji="0" lang="zh-CN" altLang="en-US" sz="2400"/>
          </a:p>
          <a:p>
            <a:pPr lvl="1" eaLnBrk="1" hangingPunct="1">
              <a:lnSpc>
                <a:spcPct val="90000"/>
              </a:lnSpc>
            </a:pPr>
            <a:r>
              <a:rPr kumimoji="0" lang="zh-CN" altLang="en-US" sz="2400"/>
              <a:t>读出一条微指令并执行的时间总和称为一个微指令周期</a:t>
            </a:r>
            <a:endParaRPr kumimoji="0" lang="zh-CN" altLang="en-US" sz="2400"/>
          </a:p>
          <a:p>
            <a:pPr lvl="1" eaLnBrk="1" hangingPunct="1">
              <a:lnSpc>
                <a:spcPct val="90000"/>
              </a:lnSpc>
            </a:pPr>
            <a:r>
              <a:rPr kumimoji="0" lang="zh-CN" altLang="en-US" sz="2400"/>
              <a:t>在串行方式的微程序控制器中，微指令周期就是只读存储器的工作周期</a:t>
            </a:r>
            <a:endParaRPr kumimoji="0" lang="zh-CN" altLang="en-US" sz="2400"/>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控制存储器</a:t>
            </a:r>
            <a:endParaRPr lang="zh-CN" altLang="en-US"/>
          </a:p>
        </p:txBody>
      </p:sp>
      <p:graphicFrame>
        <p:nvGraphicFramePr>
          <p:cNvPr id="5" name="内容占位符 4"/>
          <p:cNvGraphicFramePr>
            <a:graphicFrameLocks noGrp="1"/>
          </p:cNvGraphicFramePr>
          <p:nvPr>
            <p:ph idx="1"/>
          </p:nvPr>
        </p:nvGraphicFramePr>
        <p:xfrm>
          <a:off x="2489200" y="1203325"/>
          <a:ext cx="3571875" cy="4317998"/>
        </p:xfrm>
        <a:graphic>
          <a:graphicData uri="http://schemas.openxmlformats.org/drawingml/2006/table">
            <a:tbl>
              <a:tblPr firstRow="1" bandRow="1">
                <a:tableStyleId>{22838BEF-8BB2-4498-84A7-C5851F593DF1}</a:tableStyleId>
              </a:tblPr>
              <a:tblGrid>
                <a:gridCol w="1917532"/>
                <a:gridCol w="917408"/>
                <a:gridCol w="736935"/>
              </a:tblGrid>
              <a:tr h="278299">
                <a:tc>
                  <a:txBody>
                    <a:bodyPr/>
                    <a:lstStyle/>
                    <a:p>
                      <a:pPr algn="ctr"/>
                      <a:r>
                        <a:rPr lang="zh-CN" altLang="en-US" sz="1200" dirty="0"/>
                        <a:t>微命令</a:t>
                      </a:r>
                      <a:endParaRPr lang="zh-CN" altLang="en-US" sz="1200" dirty="0"/>
                    </a:p>
                  </a:txBody>
                  <a:tcPr marL="91417" marR="91417" marT="45727" marB="45727"/>
                </a:tc>
                <a:tc>
                  <a:txBody>
                    <a:bodyPr/>
                    <a:lstStyle/>
                    <a:p>
                      <a:pPr algn="ctr"/>
                      <a:r>
                        <a:rPr lang="en-US" altLang="zh-CN" sz="1200" dirty="0"/>
                        <a:t>P</a:t>
                      </a:r>
                      <a:endParaRPr lang="zh-CN" altLang="en-US" sz="1200" dirty="0"/>
                    </a:p>
                  </a:txBody>
                  <a:tcPr marL="91417" marR="91417" marT="45727" marB="45727"/>
                </a:tc>
                <a:tc>
                  <a:txBody>
                    <a:bodyPr/>
                    <a:lstStyle/>
                    <a:p>
                      <a:pPr algn="ctr"/>
                      <a:r>
                        <a:rPr lang="en-US" altLang="zh-CN" sz="1200" dirty="0"/>
                        <a:t>001</a:t>
                      </a:r>
                      <a:endParaRPr lang="zh-CN" altLang="en-US" sz="1200" dirty="0"/>
                    </a:p>
                  </a:txBody>
                  <a:tcPr marL="91417" marR="91417" marT="45727" marB="45727"/>
                </a:tc>
              </a:tr>
              <a:tr h="27829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dirty="0"/>
                        <a:t>微命令</a:t>
                      </a:r>
                      <a:endParaRPr lang="zh-CN" altLang="en-US" sz="1200" b="1" dirty="0"/>
                    </a:p>
                  </a:txBody>
                  <a:tcPr marL="91417" marR="91417" marT="45727" marB="45727"/>
                </a:tc>
                <a:tc>
                  <a:txBody>
                    <a:bodyPr/>
                    <a:lstStyle/>
                    <a:p>
                      <a:pPr algn="ctr"/>
                      <a:r>
                        <a:rPr lang="en-US" altLang="zh-CN" sz="1200" b="1" dirty="0"/>
                        <a:t>p</a:t>
                      </a:r>
                      <a:endParaRPr lang="zh-CN" altLang="en-US" sz="1200" b="1" dirty="0"/>
                    </a:p>
                  </a:txBody>
                  <a:tcPr marL="91417" marR="91417" marT="45727" marB="45727"/>
                </a:tc>
                <a:tc>
                  <a:txBody>
                    <a:bodyPr/>
                    <a:lstStyle/>
                    <a:p>
                      <a:pPr algn="ctr"/>
                      <a:r>
                        <a:rPr lang="en-US" altLang="zh-CN" sz="1200" b="1" dirty="0"/>
                        <a:t>002</a:t>
                      </a:r>
                      <a:endParaRPr lang="zh-CN" altLang="en-US" sz="1200" b="1" dirty="0"/>
                    </a:p>
                  </a:txBody>
                  <a:tcPr marL="91417" marR="91417" marT="45727" marB="45727"/>
                </a:tc>
              </a:tr>
              <a:tr h="278299">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dirty="0"/>
                        <a:t>微命令</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algn="ctr"/>
                      <a:r>
                        <a:rPr lang="en-US" altLang="zh-CN" sz="1200" b="1" dirty="0"/>
                        <a:t>p</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algn="ctr"/>
                      <a:r>
                        <a:rPr lang="en-US" altLang="zh-CN" sz="1200" b="1" dirty="0"/>
                        <a:t>002</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r>
              <a:tr h="278299">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r>
              <a:tr h="36581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dk1"/>
                          </a:solidFill>
                          <a:latin typeface="+mn-lt"/>
                          <a:ea typeface="+mn-ea"/>
                          <a:cs typeface="+mn-cs"/>
                          <a:sym typeface="Symbol" panose="05050102010706020507"/>
                        </a:rPr>
                        <a:t></a:t>
                      </a:r>
                      <a:endParaRPr lang="zh-CN" altLang="en-US" sz="1800" kern="1200" dirty="0">
                        <a:solidFill>
                          <a:schemeClr val="dk1"/>
                        </a:solidFill>
                        <a:latin typeface="+mn-lt"/>
                        <a:ea typeface="+mn-ea"/>
                        <a:cs typeface="+mn-cs"/>
                      </a:endParaRPr>
                    </a:p>
                  </a:txBody>
                  <a:tcPr marL="91417" marR="91417" marT="45727" marB="45727">
                    <a:lnB w="19050" cap="flat" cmpd="sng" algn="ctr">
                      <a:solidFill>
                        <a:schemeClr val="accent2"/>
                      </a:solidFill>
                      <a:prstDash val="solid"/>
                      <a:round/>
                      <a:headEnd type="none" w="med" len="med"/>
                      <a:tailEnd type="none" w="med" len="med"/>
                    </a:lnB>
                  </a:tcPr>
                </a:tc>
                <a:tc>
                  <a:txBody>
                    <a:bodyPr/>
                    <a:lstStyle/>
                    <a:p>
                      <a:pPr algn="ctr"/>
                      <a:endParaRPr lang="zh-CN" altLang="en-US" sz="1200"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algn="ctr"/>
                      <a:endParaRPr lang="zh-CN" altLang="en-US" sz="1200" dirty="0"/>
                    </a:p>
                  </a:txBody>
                  <a:tcPr marL="91417" marR="91417" marT="45727" marB="45727">
                    <a:lnB w="19050" cap="flat" cmpd="sng" algn="ctr">
                      <a:solidFill>
                        <a:schemeClr val="accent2"/>
                      </a:solidFill>
                      <a:prstDash val="solid"/>
                      <a:round/>
                      <a:headEnd type="none" w="med" len="med"/>
                      <a:tailEnd type="none" w="med" len="med"/>
                    </a:lnB>
                  </a:tcPr>
                </a:tc>
              </a:tr>
              <a:tr h="304844">
                <a:tc>
                  <a:txBody>
                    <a:bodyPr/>
                    <a:lstStyle/>
                    <a:p>
                      <a:pPr algn="ctr"/>
                      <a:r>
                        <a:rPr lang="zh-CN" altLang="en-US" sz="1200" b="1" dirty="0"/>
                        <a:t>微命令</a:t>
                      </a:r>
                      <a:endParaRPr lang="zh-CN" altLang="en-US" sz="1200" b="1"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r>
                        <a:rPr lang="en-US" altLang="zh-CN" sz="1200" dirty="0"/>
                        <a:t>P</a:t>
                      </a: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r>
                        <a:rPr lang="en-US" altLang="zh-CN" sz="1400" dirty="0"/>
                        <a:t>xxx+1</a:t>
                      </a:r>
                      <a:endParaRPr lang="zh-CN" altLang="en-US" sz="1400" dirty="0"/>
                    </a:p>
                  </a:txBody>
                  <a:tcPr marL="91417" marR="91417" marT="45727" marB="45727">
                    <a:lnT w="19050" cap="flat" cmpd="sng" algn="ctr">
                      <a:solidFill>
                        <a:schemeClr val="accent2"/>
                      </a:solidFill>
                      <a:prstDash val="solid"/>
                      <a:round/>
                      <a:headEnd type="none" w="med" len="med"/>
                      <a:tailEnd type="none" w="med" len="med"/>
                    </a:lnT>
                  </a:tcPr>
                </a:tc>
              </a:tr>
              <a:tr h="304844">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dirty="0"/>
                        <a:t>微命令</a:t>
                      </a:r>
                      <a:endParaRPr lang="zh-CN" altLang="en-US" sz="1200" b="1" dirty="0"/>
                    </a:p>
                  </a:txBody>
                  <a:tcPr marL="91417" marR="91417" marT="45727" marB="45727"/>
                </a:tc>
                <a:tc>
                  <a:txBody>
                    <a:bodyPr/>
                    <a:lstStyle/>
                    <a:p>
                      <a:pPr algn="ctr"/>
                      <a:r>
                        <a:rPr lang="en-US" altLang="zh-CN" sz="1200" b="1" dirty="0"/>
                        <a:t>p</a:t>
                      </a:r>
                      <a:endParaRPr lang="zh-CN" altLang="en-US" sz="1200" b="1" dirty="0"/>
                    </a:p>
                  </a:txBody>
                  <a:tcPr marL="91417" marR="91417" marT="45727" marB="45727"/>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xxx+2</a:t>
                      </a:r>
                      <a:endParaRPr lang="zh-CN" altLang="en-US" sz="1400" dirty="0"/>
                    </a:p>
                  </a:txBody>
                  <a:tcPr marL="91417" marR="91417" marT="45727" marB="45727"/>
                </a:tc>
              </a:tr>
              <a:tr h="304844">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dirty="0"/>
                        <a:t>微命令</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algn="ctr"/>
                      <a:r>
                        <a:rPr lang="en-US" altLang="zh-CN" sz="1200" b="1" dirty="0"/>
                        <a:t>p</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000</a:t>
                      </a:r>
                      <a:endParaRPr lang="zh-CN" altLang="en-US" sz="1400" dirty="0"/>
                    </a:p>
                  </a:txBody>
                  <a:tcPr marL="91417" marR="91417" marT="45727" marB="45727">
                    <a:lnB w="19050" cap="flat" cmpd="sng" algn="ctr">
                      <a:solidFill>
                        <a:schemeClr val="accent2"/>
                      </a:solidFill>
                      <a:prstDash val="solid"/>
                      <a:round/>
                      <a:headEnd type="none" w="med" len="med"/>
                      <a:tailEnd type="none" w="med" len="med"/>
                    </a:lnB>
                  </a:tcPr>
                </a:tc>
              </a:tr>
              <a:tr h="365813">
                <a:tc>
                  <a:txBody>
                    <a:bodyPr/>
                    <a:lstStyle/>
                    <a:p>
                      <a:pPr algn="ctr"/>
                      <a:r>
                        <a:rPr lang="zh-CN" altLang="en-US" sz="1800" dirty="0">
                          <a:sym typeface="Symbol" panose="05050102010706020507"/>
                        </a:rPr>
                        <a:t></a:t>
                      </a:r>
                      <a:endParaRPr lang="zh-CN" altLang="en-US" sz="1800" dirty="0"/>
                    </a:p>
                  </a:txBody>
                  <a:tcPr marL="91417" marR="91417" marT="45727" marB="45727">
                    <a:lnT w="19050" cap="flat" cmpd="sng" algn="ctr">
                      <a:solidFill>
                        <a:schemeClr val="accent2"/>
                      </a:solidFill>
                      <a:prstDash val="solid"/>
                      <a:round/>
                      <a:headEnd type="none" w="med" len="med"/>
                      <a:tailEnd type="none" w="med" len="med"/>
                    </a:lnT>
                    <a:lnB w="19050" cap="flat" cmpd="sng" algn="ctr">
                      <a:solidFill>
                        <a:schemeClr val="accent2"/>
                      </a:solidFill>
                      <a:prstDash val="solid"/>
                      <a:round/>
                      <a:headEnd type="none" w="med" len="med"/>
                      <a:tailEnd type="none" w="med" len="med"/>
                    </a:lnB>
                  </a:tcPr>
                </a:tc>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lnB w="19050" cap="flat" cmpd="sng" algn="ctr">
                      <a:solidFill>
                        <a:schemeClr val="accent2"/>
                      </a:solidFill>
                      <a:prstDash val="solid"/>
                      <a:round/>
                      <a:headEnd type="none" w="med" len="med"/>
                      <a:tailEnd type="none" w="med" len="med"/>
                    </a:lnB>
                  </a:tcPr>
                </a:tc>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lnB w="19050" cap="flat" cmpd="sng" algn="ctr">
                      <a:solidFill>
                        <a:schemeClr val="accent2"/>
                      </a:solidFill>
                      <a:prstDash val="solid"/>
                      <a:round/>
                      <a:headEnd type="none" w="med" len="med"/>
                      <a:tailEnd type="none" w="med" len="med"/>
                    </a:lnB>
                  </a:tcPr>
                </a:tc>
              </a:tr>
              <a:tr h="304844">
                <a:tc>
                  <a:txBody>
                    <a:bodyPr/>
                    <a:lstStyle/>
                    <a:p>
                      <a:pPr algn="ctr"/>
                      <a:r>
                        <a:rPr lang="zh-CN" altLang="en-US" sz="1200" b="1" dirty="0"/>
                        <a:t>微命令</a:t>
                      </a:r>
                      <a:endParaRPr lang="zh-CN" altLang="en-US" sz="1200" b="1"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r>
                        <a:rPr lang="en-US" altLang="zh-CN" sz="1200" dirty="0"/>
                        <a:t>P</a:t>
                      </a: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r>
                        <a:rPr lang="en-US" altLang="zh-CN" sz="1400" dirty="0"/>
                        <a:t>yyy+1</a:t>
                      </a:r>
                      <a:endParaRPr lang="zh-CN" altLang="en-US" sz="1400" dirty="0"/>
                    </a:p>
                  </a:txBody>
                  <a:tcPr marL="91417" marR="91417" marT="45727" marB="45727">
                    <a:lnT w="19050" cap="flat" cmpd="sng" algn="ctr">
                      <a:solidFill>
                        <a:schemeClr val="accent2"/>
                      </a:solidFill>
                      <a:prstDash val="solid"/>
                      <a:round/>
                      <a:headEnd type="none" w="med" len="med"/>
                      <a:tailEnd type="none" w="med" len="med"/>
                    </a:lnT>
                  </a:tcPr>
                </a:tc>
              </a:tr>
              <a:tr h="304844">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dirty="0"/>
                        <a:t>微命令</a:t>
                      </a:r>
                      <a:endParaRPr lang="zh-CN" altLang="en-US" sz="1200" b="1" dirty="0"/>
                    </a:p>
                  </a:txBody>
                  <a:tcPr marL="91417" marR="91417" marT="45727" marB="45727"/>
                </a:tc>
                <a:tc>
                  <a:txBody>
                    <a:bodyPr/>
                    <a:lstStyle/>
                    <a:p>
                      <a:pPr algn="ctr"/>
                      <a:r>
                        <a:rPr lang="en-US" altLang="zh-CN" sz="1200" b="1" dirty="0"/>
                        <a:t>p</a:t>
                      </a:r>
                      <a:endParaRPr lang="zh-CN" altLang="en-US" sz="1200" b="1" dirty="0"/>
                    </a:p>
                  </a:txBody>
                  <a:tcPr marL="91417" marR="91417" marT="45727" marB="45727"/>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yyy+2</a:t>
                      </a:r>
                      <a:endParaRPr lang="zh-CN" altLang="en-US" sz="1400" dirty="0"/>
                    </a:p>
                  </a:txBody>
                  <a:tcPr marL="91417" marR="91417" marT="45727" marB="45727"/>
                </a:tc>
              </a:tr>
              <a:tr h="304844">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b="1" dirty="0"/>
                        <a:t>微命令</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algn="ctr"/>
                      <a:r>
                        <a:rPr lang="en-US" altLang="zh-CN" sz="1200" b="1" dirty="0"/>
                        <a:t>p</a:t>
                      </a:r>
                      <a:endParaRPr lang="zh-CN" altLang="en-US" sz="1200" b="1" dirty="0"/>
                    </a:p>
                  </a:txBody>
                  <a:tcPr marL="91417" marR="91417" marT="45727" marB="45727">
                    <a:lnB w="19050" cap="flat" cmpd="sng" algn="ctr">
                      <a:solidFill>
                        <a:schemeClr val="accent2"/>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dirty="0"/>
                        <a:t>000</a:t>
                      </a:r>
                      <a:endParaRPr lang="zh-CN" altLang="en-US" sz="1400" dirty="0"/>
                    </a:p>
                  </a:txBody>
                  <a:tcPr marL="91417" marR="91417" marT="45727" marB="45727">
                    <a:lnB w="19050" cap="flat" cmpd="sng" algn="ctr">
                      <a:solidFill>
                        <a:schemeClr val="accent2"/>
                      </a:solidFill>
                      <a:prstDash val="solid"/>
                      <a:round/>
                      <a:headEnd type="none" w="med" len="med"/>
                      <a:tailEnd type="none" w="med" len="med"/>
                    </a:lnB>
                  </a:tcPr>
                </a:tc>
              </a:tr>
              <a:tr h="36581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800" kern="1200" dirty="0">
                          <a:solidFill>
                            <a:schemeClr val="dk1"/>
                          </a:solidFill>
                          <a:latin typeface="+mn-lt"/>
                          <a:ea typeface="+mn-ea"/>
                          <a:cs typeface="+mn-cs"/>
                          <a:sym typeface="Symbol" panose="05050102010706020507"/>
                        </a:rPr>
                        <a:t></a:t>
                      </a:r>
                      <a:endParaRPr lang="zh-CN" altLang="en-US" sz="1800" kern="1200" dirty="0">
                        <a:solidFill>
                          <a:schemeClr val="dk1"/>
                        </a:solidFill>
                        <a:latin typeface="+mn-lt"/>
                        <a:ea typeface="+mn-ea"/>
                        <a:cs typeface="+mn-cs"/>
                      </a:endParaRPr>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c>
                  <a:txBody>
                    <a:bodyPr/>
                    <a:lstStyle/>
                    <a:p>
                      <a:pPr algn="ctr"/>
                      <a:endParaRPr lang="zh-CN" altLang="en-US" sz="1200" dirty="0"/>
                    </a:p>
                  </a:txBody>
                  <a:tcPr marL="91417" marR="91417" marT="45727" marB="45727">
                    <a:lnT w="19050" cap="flat" cmpd="sng" algn="ctr">
                      <a:solidFill>
                        <a:schemeClr val="accent2"/>
                      </a:solidFill>
                      <a:prstDash val="solid"/>
                      <a:round/>
                      <a:headEnd type="none" w="med" len="med"/>
                      <a:tailEnd type="none" w="med" len="med"/>
                    </a:lnT>
                  </a:tcPr>
                </a:tc>
              </a:tr>
              <a:tr h="278299">
                <a:tc>
                  <a:txBody>
                    <a:bodyPr/>
                    <a:lstStyle/>
                    <a:p>
                      <a:pPr algn="ctr"/>
                      <a:endParaRPr lang="zh-CN" altLang="en-US" sz="1200" dirty="0"/>
                    </a:p>
                  </a:txBody>
                  <a:tcPr marL="91417" marR="91417" marT="45727" marB="45727"/>
                </a:tc>
                <a:tc>
                  <a:txBody>
                    <a:bodyPr/>
                    <a:lstStyle/>
                    <a:p>
                      <a:pPr algn="ctr"/>
                      <a:endParaRPr lang="zh-CN" altLang="en-US" sz="1200" dirty="0"/>
                    </a:p>
                  </a:txBody>
                  <a:tcPr marL="91417" marR="91417" marT="45727" marB="45727"/>
                </a:tc>
                <a:tc>
                  <a:txBody>
                    <a:bodyPr/>
                    <a:lstStyle/>
                    <a:p>
                      <a:pPr algn="ctr"/>
                      <a:endParaRPr lang="zh-CN" altLang="en-US" sz="1200" dirty="0"/>
                    </a:p>
                  </a:txBody>
                  <a:tcPr marL="91417" marR="91417" marT="45727" marB="45727"/>
                </a:tc>
              </a:tr>
            </a:tbl>
          </a:graphicData>
        </a:graphic>
      </p:graphicFrame>
      <p:sp>
        <p:nvSpPr>
          <p:cNvPr id="99393" name="TextBox 5"/>
          <p:cNvSpPr txBox="1">
            <a:spLocks noChangeArrowheads="1"/>
          </p:cNvSpPr>
          <p:nvPr/>
        </p:nvSpPr>
        <p:spPr bwMode="auto">
          <a:xfrm>
            <a:off x="1922463" y="1196975"/>
            <a:ext cx="4159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200">
                <a:ea typeface="黑体" panose="02010609060101010101" pitchFamily="49" charset="-122"/>
              </a:rPr>
              <a:t>000</a:t>
            </a:r>
            <a:endParaRPr lang="zh-CN" altLang="en-US" sz="1200">
              <a:ea typeface="黑体" panose="02010609060101010101" pitchFamily="49" charset="-122"/>
            </a:endParaRPr>
          </a:p>
        </p:txBody>
      </p:sp>
      <p:sp>
        <p:nvSpPr>
          <p:cNvPr id="99394" name="TextBox 6"/>
          <p:cNvSpPr txBox="1">
            <a:spLocks noChangeArrowheads="1"/>
          </p:cNvSpPr>
          <p:nvPr/>
        </p:nvSpPr>
        <p:spPr bwMode="auto">
          <a:xfrm>
            <a:off x="1922463" y="1474788"/>
            <a:ext cx="415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200">
                <a:ea typeface="黑体" panose="02010609060101010101" pitchFamily="49" charset="-122"/>
              </a:rPr>
              <a:t>001</a:t>
            </a:r>
            <a:endParaRPr lang="zh-CN" altLang="en-US" sz="1200">
              <a:ea typeface="黑体" panose="02010609060101010101" pitchFamily="49" charset="-122"/>
            </a:endParaRPr>
          </a:p>
        </p:txBody>
      </p:sp>
      <p:sp>
        <p:nvSpPr>
          <p:cNvPr id="99395" name="TextBox 7"/>
          <p:cNvSpPr txBox="1">
            <a:spLocks noChangeArrowheads="1"/>
          </p:cNvSpPr>
          <p:nvPr/>
        </p:nvSpPr>
        <p:spPr bwMode="auto">
          <a:xfrm>
            <a:off x="1922463" y="1782763"/>
            <a:ext cx="4159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200">
                <a:ea typeface="黑体" panose="02010609060101010101" pitchFamily="49" charset="-122"/>
              </a:rPr>
              <a:t>002</a:t>
            </a:r>
            <a:endParaRPr lang="zh-CN" altLang="en-US" sz="1200">
              <a:ea typeface="黑体" panose="02010609060101010101" pitchFamily="49" charset="-122"/>
            </a:endParaRPr>
          </a:p>
        </p:txBody>
      </p:sp>
      <p:sp>
        <p:nvSpPr>
          <p:cNvPr id="99396" name="右大括号 8"/>
          <p:cNvSpPr/>
          <p:nvPr/>
        </p:nvSpPr>
        <p:spPr bwMode="auto">
          <a:xfrm>
            <a:off x="6211888" y="1270000"/>
            <a:ext cx="136525" cy="723900"/>
          </a:xfrm>
          <a:prstGeom prst="rightBrace">
            <a:avLst>
              <a:gd name="adj1" fmla="val 63628"/>
              <a:gd name="adj2" fmla="val 51093"/>
            </a:avLst>
          </a:prstGeom>
          <a:noFill/>
          <a:ln w="15875" algn="ctr">
            <a:solidFill>
              <a:srgbClr val="C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 name="TextBox 10"/>
          <p:cNvSpPr txBox="1"/>
          <p:nvPr/>
        </p:nvSpPr>
        <p:spPr>
          <a:xfrm>
            <a:off x="6450013" y="1465263"/>
            <a:ext cx="1631950" cy="338137"/>
          </a:xfrm>
          <a:prstGeom prst="rect">
            <a:avLst/>
          </a:prstGeom>
          <a:noFill/>
        </p:spPr>
        <p:txBody>
          <a:bodyPr wrap="none">
            <a:spAutoFit/>
          </a:bodyPr>
          <a:lstStyle/>
          <a:p>
            <a:pPr eaLnBrk="1" hangingPunct="1">
              <a:defRPr/>
            </a:pPr>
            <a:r>
              <a:rPr lang="zh-CN" altLang="en-US" sz="1600" b="1" dirty="0">
                <a:solidFill>
                  <a:srgbClr val="C00000"/>
                </a:solidFill>
                <a:latin typeface="+mn-ea"/>
                <a:ea typeface="+mn-ea"/>
              </a:rPr>
              <a:t>取指周期微程序</a:t>
            </a:r>
            <a:endParaRPr lang="zh-CN" altLang="en-US" sz="1600" b="1" dirty="0">
              <a:solidFill>
                <a:srgbClr val="C00000"/>
              </a:solidFill>
              <a:latin typeface="+mn-ea"/>
              <a:ea typeface="+mn-ea"/>
            </a:endParaRPr>
          </a:p>
        </p:txBody>
      </p:sp>
      <p:sp>
        <p:nvSpPr>
          <p:cNvPr id="99398" name="右大括号 11"/>
          <p:cNvSpPr/>
          <p:nvPr/>
        </p:nvSpPr>
        <p:spPr bwMode="auto">
          <a:xfrm>
            <a:off x="6211888" y="2657475"/>
            <a:ext cx="136525" cy="722313"/>
          </a:xfrm>
          <a:prstGeom prst="rightBrace">
            <a:avLst>
              <a:gd name="adj1" fmla="val 63488"/>
              <a:gd name="adj2" fmla="val 51093"/>
            </a:avLst>
          </a:prstGeom>
          <a:noFill/>
          <a:ln w="15875" algn="ctr">
            <a:solidFill>
              <a:srgbClr val="C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3" name="TextBox 12"/>
          <p:cNvSpPr txBox="1"/>
          <p:nvPr/>
        </p:nvSpPr>
        <p:spPr>
          <a:xfrm>
            <a:off x="6450013" y="2851150"/>
            <a:ext cx="1530350" cy="339725"/>
          </a:xfrm>
          <a:prstGeom prst="rect">
            <a:avLst/>
          </a:prstGeom>
          <a:noFill/>
        </p:spPr>
        <p:txBody>
          <a:bodyPr wrap="none">
            <a:spAutoFit/>
          </a:bodyPr>
          <a:lstStyle/>
          <a:p>
            <a:pPr eaLnBrk="1" hangingPunct="1">
              <a:defRPr/>
            </a:pPr>
            <a:r>
              <a:rPr lang="en-US" altLang="zh-CN" sz="1600" b="1" dirty="0">
                <a:solidFill>
                  <a:srgbClr val="C00000"/>
                </a:solidFill>
                <a:latin typeface="+mn-ea"/>
                <a:ea typeface="+mn-ea"/>
              </a:rPr>
              <a:t>ADD</a:t>
            </a:r>
            <a:r>
              <a:rPr lang="zh-CN" altLang="en-US" sz="1600" b="1" dirty="0">
                <a:solidFill>
                  <a:srgbClr val="C00000"/>
                </a:solidFill>
                <a:latin typeface="+mn-ea"/>
                <a:ea typeface="+mn-ea"/>
              </a:rPr>
              <a:t>操作微程序</a:t>
            </a:r>
            <a:endParaRPr lang="zh-CN" altLang="en-US" sz="1600" b="1" dirty="0">
              <a:solidFill>
                <a:srgbClr val="C00000"/>
              </a:solidFill>
              <a:latin typeface="+mn-ea"/>
              <a:ea typeface="+mn-ea"/>
            </a:endParaRPr>
          </a:p>
        </p:txBody>
      </p:sp>
      <p:sp>
        <p:nvSpPr>
          <p:cNvPr id="99400" name="右大括号 13"/>
          <p:cNvSpPr/>
          <p:nvPr/>
        </p:nvSpPr>
        <p:spPr bwMode="auto">
          <a:xfrm>
            <a:off x="6196013" y="4035425"/>
            <a:ext cx="136525" cy="722313"/>
          </a:xfrm>
          <a:prstGeom prst="rightBrace">
            <a:avLst>
              <a:gd name="adj1" fmla="val 63488"/>
              <a:gd name="adj2" fmla="val 51093"/>
            </a:avLst>
          </a:prstGeom>
          <a:noFill/>
          <a:ln w="15875" algn="ctr">
            <a:solidFill>
              <a:srgbClr val="C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5" name="TextBox 14"/>
          <p:cNvSpPr txBox="1"/>
          <p:nvPr/>
        </p:nvSpPr>
        <p:spPr>
          <a:xfrm>
            <a:off x="6432550" y="4229100"/>
            <a:ext cx="1531938" cy="339725"/>
          </a:xfrm>
          <a:prstGeom prst="rect">
            <a:avLst/>
          </a:prstGeom>
          <a:noFill/>
        </p:spPr>
        <p:txBody>
          <a:bodyPr wrap="none">
            <a:spAutoFit/>
          </a:bodyPr>
          <a:lstStyle/>
          <a:p>
            <a:pPr eaLnBrk="1" hangingPunct="1">
              <a:defRPr/>
            </a:pPr>
            <a:r>
              <a:rPr lang="en-US" altLang="zh-CN" sz="1600" b="1" dirty="0">
                <a:solidFill>
                  <a:srgbClr val="C00000"/>
                </a:solidFill>
                <a:latin typeface="+mn-ea"/>
                <a:ea typeface="+mn-ea"/>
              </a:rPr>
              <a:t>LDA</a:t>
            </a:r>
            <a:r>
              <a:rPr lang="zh-CN" altLang="en-US" sz="1600" b="1" dirty="0">
                <a:solidFill>
                  <a:srgbClr val="C00000"/>
                </a:solidFill>
                <a:latin typeface="+mn-ea"/>
                <a:ea typeface="+mn-ea"/>
              </a:rPr>
              <a:t>操作微程序</a:t>
            </a:r>
            <a:endParaRPr lang="zh-CN" altLang="en-US" sz="1600" b="1" dirty="0">
              <a:solidFill>
                <a:srgbClr val="C00000"/>
              </a:solidFill>
              <a:latin typeface="+mn-ea"/>
              <a:ea typeface="+mn-ea"/>
            </a:endParaRPr>
          </a:p>
        </p:txBody>
      </p:sp>
      <p:sp>
        <p:nvSpPr>
          <p:cNvPr id="99402" name="TextBox 15"/>
          <p:cNvSpPr txBox="1">
            <a:spLocks noChangeArrowheads="1"/>
          </p:cNvSpPr>
          <p:nvPr/>
        </p:nvSpPr>
        <p:spPr bwMode="auto">
          <a:xfrm>
            <a:off x="1922463" y="2665413"/>
            <a:ext cx="454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400">
                <a:ea typeface="黑体" panose="02010609060101010101" pitchFamily="49" charset="-122"/>
              </a:rPr>
              <a:t>xxx</a:t>
            </a:r>
            <a:endParaRPr lang="zh-CN" altLang="en-US" sz="1400">
              <a:ea typeface="黑体" panose="02010609060101010101" pitchFamily="49" charset="-122"/>
            </a:endParaRPr>
          </a:p>
        </p:txBody>
      </p:sp>
      <p:sp>
        <p:nvSpPr>
          <p:cNvPr id="99403" name="TextBox 16"/>
          <p:cNvSpPr txBox="1">
            <a:spLocks noChangeArrowheads="1"/>
          </p:cNvSpPr>
          <p:nvPr/>
        </p:nvSpPr>
        <p:spPr bwMode="auto">
          <a:xfrm>
            <a:off x="1922463" y="3868738"/>
            <a:ext cx="454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lang="en-US" altLang="zh-CN" sz="1400">
                <a:ea typeface="黑体" panose="02010609060101010101" pitchFamily="49" charset="-122"/>
              </a:rPr>
              <a:t>yyy</a:t>
            </a:r>
            <a:endParaRPr lang="zh-CN" altLang="en-US" sz="1400">
              <a:ea typeface="黑体" panose="02010609060101010101" pitchFamily="49" charset="-122"/>
            </a:endParaRPr>
          </a:p>
        </p:txBody>
      </p:sp>
    </p:spTree>
  </p:cSld>
  <p:clrMapOvr>
    <a:masterClrMapping/>
  </p:clrMapOvr>
  <p:transition spd="med">
    <p:pull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pPr eaLnBrk="1" hangingPunct="1">
              <a:defRPr/>
            </a:pPr>
            <a:r>
              <a:rPr lang="zh-CN" altLang="en-US"/>
              <a:t>微程序特点</a:t>
            </a:r>
            <a:endParaRPr lang="zh-CN" altLang="en-US"/>
          </a:p>
        </p:txBody>
      </p:sp>
      <p:sp>
        <p:nvSpPr>
          <p:cNvPr id="101378" name="Rectangle 3"/>
          <p:cNvSpPr>
            <a:spLocks noGrp="1" noChangeArrowheads="1"/>
          </p:cNvSpPr>
          <p:nvPr>
            <p:ph idx="1"/>
          </p:nvPr>
        </p:nvSpPr>
        <p:spPr/>
        <p:txBody>
          <a:bodyPr/>
          <a:lstStyle/>
          <a:p>
            <a:pPr eaLnBrk="1" hangingPunct="1"/>
            <a:r>
              <a:rPr lang="zh-CN" altLang="en-US"/>
              <a:t>一条机器指令是若干条微指令组成的序列来实现的</a:t>
            </a:r>
            <a:endParaRPr lang="zh-CN" altLang="en-US"/>
          </a:p>
          <a:p>
            <a:pPr eaLnBrk="1" hangingPunct="1"/>
            <a:r>
              <a:rPr lang="zh-CN" altLang="en-US"/>
              <a:t>一条机器指令对应着一段微程序，而微程序的总和便可实现整个的指令系统</a:t>
            </a:r>
            <a:endParaRPr lang="zh-CN" altLang="en-US"/>
          </a:p>
          <a:p>
            <a:pPr eaLnBrk="1" hangingPunct="1"/>
            <a:r>
              <a:rPr lang="zh-CN" altLang="en-US"/>
              <a:t>微程序设计可以很容易地在不同的微体系结构上实现相同的指令系统</a:t>
            </a:r>
            <a:endParaRPr lang="zh-CN" altLang="en-US"/>
          </a:p>
        </p:txBody>
      </p:sp>
    </p:spTree>
  </p:cSld>
  <p:clrMapOvr>
    <a:masterClrMapping/>
  </p:clrMapOvr>
  <p:transition spd="med">
    <p:pull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eaLnBrk="1" hangingPunct="1"/>
            <a:r>
              <a:rPr lang="zh-CN" altLang="en-US"/>
              <a:t>微程序举例（</a:t>
            </a:r>
            <a:r>
              <a:rPr lang="en-US" altLang="zh-CN"/>
              <a:t>1</a:t>
            </a:r>
            <a:r>
              <a:rPr lang="zh-CN" altLang="en-US"/>
              <a:t>）</a:t>
            </a:r>
            <a:endParaRPr lang="zh-CN" altLang="en-US"/>
          </a:p>
        </p:txBody>
      </p:sp>
      <p:sp>
        <p:nvSpPr>
          <p:cNvPr id="462851" name="Rectangle 3"/>
          <p:cNvSpPr>
            <a:spLocks noGrp="1" noChangeArrowheads="1"/>
          </p:cNvSpPr>
          <p:nvPr>
            <p:ph idx="1"/>
          </p:nvPr>
        </p:nvSpPr>
        <p:spPr/>
        <p:txBody>
          <a:bodyPr/>
          <a:lstStyle/>
          <a:p>
            <a:pPr eaLnBrk="1" hangingPunct="1">
              <a:lnSpc>
                <a:spcPct val="90000"/>
              </a:lnSpc>
            </a:pPr>
            <a:r>
              <a:rPr lang="zh-CN" altLang="en-US" sz="2800"/>
              <a:t>十进制</a:t>
            </a:r>
            <a:r>
              <a:rPr lang="zh-CN" altLang="en-US" sz="2800">
                <a:solidFill>
                  <a:srgbClr val="FF0000"/>
                </a:solidFill>
              </a:rPr>
              <a:t>加</a:t>
            </a:r>
            <a:r>
              <a:rPr lang="zh-CN" altLang="en-US" sz="2800"/>
              <a:t>法</a:t>
            </a:r>
            <a:endParaRPr lang="zh-CN" altLang="en-US" sz="2800"/>
          </a:p>
          <a:p>
            <a:pPr lvl="1" eaLnBrk="1" hangingPunct="1">
              <a:lnSpc>
                <a:spcPct val="90000"/>
              </a:lnSpc>
            </a:pPr>
            <a:r>
              <a:rPr lang="zh-CN" altLang="en-US"/>
              <a:t>用</a:t>
            </a:r>
            <a:r>
              <a:rPr lang="en-US" altLang="zh-CN"/>
              <a:t>BCD</a:t>
            </a:r>
            <a:r>
              <a:rPr lang="zh-CN" altLang="en-US"/>
              <a:t>码来完成十进制数的加法运算</a:t>
            </a:r>
            <a:endParaRPr lang="zh-CN" altLang="en-US"/>
          </a:p>
          <a:p>
            <a:pPr lvl="1" eaLnBrk="1" hangingPunct="1">
              <a:lnSpc>
                <a:spcPct val="90000"/>
              </a:lnSpc>
            </a:pPr>
            <a:r>
              <a:rPr lang="zh-CN" altLang="en-US"/>
              <a:t>当二数相加之和大于</a:t>
            </a:r>
            <a:r>
              <a:rPr lang="en-US" altLang="zh-CN"/>
              <a:t>9</a:t>
            </a:r>
            <a:r>
              <a:rPr lang="zh-CN" altLang="en-US"/>
              <a:t>时，必须对和数进行加</a:t>
            </a:r>
            <a:r>
              <a:rPr lang="en-US" altLang="zh-CN"/>
              <a:t>6</a:t>
            </a:r>
            <a:r>
              <a:rPr lang="zh-CN" altLang="en-US"/>
              <a:t>修正</a:t>
            </a:r>
            <a:endParaRPr lang="zh-CN" altLang="en-US"/>
          </a:p>
          <a:p>
            <a:pPr eaLnBrk="1" hangingPunct="1">
              <a:lnSpc>
                <a:spcPct val="90000"/>
              </a:lnSpc>
            </a:pPr>
            <a:r>
              <a:rPr lang="zh-CN" altLang="en-US" sz="2800"/>
              <a:t>假设数</a:t>
            </a:r>
            <a:r>
              <a:rPr lang="en-US" altLang="zh-CN" sz="2800"/>
              <a:t>a</a:t>
            </a:r>
            <a:r>
              <a:rPr lang="zh-CN" altLang="en-US" sz="2800"/>
              <a:t>和</a:t>
            </a:r>
            <a:r>
              <a:rPr lang="en-US" altLang="zh-CN" sz="2800"/>
              <a:t>b</a:t>
            </a:r>
            <a:r>
              <a:rPr lang="zh-CN" altLang="en-US" sz="2800"/>
              <a:t>已存放在</a:t>
            </a:r>
            <a:r>
              <a:rPr lang="en-US" altLang="zh-CN" sz="2800"/>
              <a:t>R1</a:t>
            </a:r>
            <a:r>
              <a:rPr lang="zh-CN" altLang="en-US" sz="2800"/>
              <a:t>和</a:t>
            </a:r>
            <a:r>
              <a:rPr lang="en-US" altLang="zh-CN" sz="2800"/>
              <a:t>R2</a:t>
            </a:r>
            <a:r>
              <a:rPr lang="zh-CN" altLang="en-US" sz="2800"/>
              <a:t>寄存器中，数</a:t>
            </a:r>
            <a:r>
              <a:rPr lang="en-US" altLang="zh-CN" sz="2800"/>
              <a:t>6</a:t>
            </a:r>
            <a:r>
              <a:rPr lang="zh-CN" altLang="en-US" sz="2800"/>
              <a:t>存放在寄存器</a:t>
            </a:r>
            <a:r>
              <a:rPr lang="en-US" altLang="zh-CN" sz="2800"/>
              <a:t>R3</a:t>
            </a:r>
            <a:r>
              <a:rPr lang="zh-CN" altLang="en-US" sz="2800"/>
              <a:t>中</a:t>
            </a:r>
            <a:endParaRPr lang="zh-CN" altLang="en-US" sz="2800"/>
          </a:p>
          <a:p>
            <a:pPr eaLnBrk="1" hangingPunct="1">
              <a:lnSpc>
                <a:spcPct val="90000"/>
              </a:lnSpc>
            </a:pPr>
            <a:r>
              <a:rPr lang="zh-CN" altLang="en-US" sz="2800"/>
              <a:t>算法要求先进行</a:t>
            </a:r>
            <a:r>
              <a:rPr lang="en-US" altLang="zh-CN" sz="2800"/>
              <a:t>a</a:t>
            </a:r>
            <a:r>
              <a:rPr lang="zh-CN" altLang="en-US" sz="2800"/>
              <a:t>＋</a:t>
            </a:r>
            <a:r>
              <a:rPr lang="en-US" altLang="zh-CN" sz="2800"/>
              <a:t>b</a:t>
            </a:r>
            <a:r>
              <a:rPr lang="zh-CN" altLang="en-US" sz="2800"/>
              <a:t>＋</a:t>
            </a:r>
            <a:r>
              <a:rPr lang="en-US" altLang="zh-CN" sz="2800"/>
              <a:t>6</a:t>
            </a:r>
            <a:r>
              <a:rPr lang="zh-CN" altLang="en-US" sz="2800"/>
              <a:t>运算，然后判断结果有无进位：当进位标志</a:t>
            </a:r>
            <a:r>
              <a:rPr lang="en-US" altLang="zh-CN" sz="2800"/>
              <a:t>Cy</a:t>
            </a:r>
            <a:r>
              <a:rPr lang="zh-CN" altLang="en-US" sz="2800"/>
              <a:t>＝</a:t>
            </a:r>
            <a:r>
              <a:rPr lang="en-US" altLang="zh-CN" sz="2800"/>
              <a:t>1</a:t>
            </a:r>
            <a:r>
              <a:rPr lang="zh-CN" altLang="en-US" sz="2800"/>
              <a:t>，不减</a:t>
            </a:r>
            <a:r>
              <a:rPr lang="en-US" altLang="zh-CN" sz="2800"/>
              <a:t>6</a:t>
            </a:r>
            <a:r>
              <a:rPr lang="zh-CN" altLang="en-US" sz="2800"/>
              <a:t>；当</a:t>
            </a:r>
            <a:r>
              <a:rPr lang="en-US" altLang="zh-CN" sz="2800"/>
              <a:t>Cy</a:t>
            </a:r>
            <a:r>
              <a:rPr lang="zh-CN" altLang="en-US" sz="2800"/>
              <a:t>＝</a:t>
            </a:r>
            <a:r>
              <a:rPr lang="en-US" altLang="zh-CN" sz="2800"/>
              <a:t>0</a:t>
            </a:r>
            <a:r>
              <a:rPr lang="zh-CN" altLang="en-US" sz="2800"/>
              <a:t>，减去</a:t>
            </a:r>
            <a:r>
              <a:rPr lang="en-US" altLang="zh-CN" sz="2800"/>
              <a:t>6</a:t>
            </a:r>
            <a:endParaRPr lang="en-US" altLang="zh-CN" sz="2800"/>
          </a:p>
          <a:p>
            <a:pPr eaLnBrk="1" hangingPunct="1">
              <a:lnSpc>
                <a:spcPct val="90000"/>
              </a:lnSpc>
            </a:pPr>
            <a:r>
              <a:rPr lang="zh-CN" altLang="en-US" sz="2800"/>
              <a:t>画出十进制加法微程序流程图，由四条微指令组成</a:t>
            </a:r>
            <a:endParaRPr lang="zh-CN" altLang="en-US" sz="2800"/>
          </a:p>
          <a:p>
            <a:pPr lvl="1" eaLnBrk="1" hangingPunct="1">
              <a:lnSpc>
                <a:spcPct val="90000"/>
              </a:lnSpc>
            </a:pPr>
            <a:r>
              <a:rPr kumimoji="0" lang="zh-CN" altLang="en-US"/>
              <a:t>第一条是“取指”微指令</a:t>
            </a:r>
            <a:endParaRPr kumimoji="0" lang="zh-CN" altLang="en-US"/>
          </a:p>
          <a:p>
            <a:pPr lvl="1" eaLnBrk="1" hangingPunct="1">
              <a:lnSpc>
                <a:spcPct val="90000"/>
              </a:lnSpc>
            </a:pPr>
            <a:r>
              <a:rPr kumimoji="0" lang="zh-CN" altLang="en-US"/>
              <a:t>第二条微指令完成</a:t>
            </a:r>
            <a:r>
              <a:rPr kumimoji="0" lang="en-US" altLang="zh-CN"/>
              <a:t>a</a:t>
            </a:r>
            <a:r>
              <a:rPr kumimoji="0" lang="zh-CN" altLang="en-US"/>
              <a:t>＋</a:t>
            </a:r>
            <a:r>
              <a:rPr kumimoji="0" lang="en-US" altLang="zh-CN"/>
              <a:t>b</a:t>
            </a:r>
            <a:r>
              <a:rPr kumimoji="0" lang="zh-CN" altLang="en-US"/>
              <a:t>运算</a:t>
            </a:r>
            <a:endParaRPr kumimoji="0" lang="zh-CN" altLang="en-US"/>
          </a:p>
          <a:p>
            <a:pPr lvl="1" eaLnBrk="1" hangingPunct="1">
              <a:lnSpc>
                <a:spcPct val="90000"/>
              </a:lnSpc>
            </a:pPr>
            <a:r>
              <a:rPr kumimoji="0" lang="zh-CN" altLang="en-US"/>
              <a:t>第三条微指令完成</a:t>
            </a:r>
            <a:r>
              <a:rPr kumimoji="0" lang="en-US" altLang="zh-CN"/>
              <a:t>a+b+6</a:t>
            </a:r>
            <a:r>
              <a:rPr kumimoji="0" lang="zh-CN" altLang="en-US"/>
              <a:t>运算，同时进行判别测试</a:t>
            </a:r>
            <a:endParaRPr kumimoji="0" lang="zh-CN" altLang="en-US"/>
          </a:p>
          <a:p>
            <a:pPr lvl="1" eaLnBrk="1" hangingPunct="1">
              <a:lnSpc>
                <a:spcPct val="90000"/>
              </a:lnSpc>
            </a:pPr>
            <a:r>
              <a:rPr kumimoji="0" lang="zh-CN" altLang="en-US"/>
              <a:t>第四条微指令完成和数减</a:t>
            </a:r>
            <a:r>
              <a:rPr kumimoji="0" lang="en-US" altLang="zh-CN"/>
              <a:t>6</a:t>
            </a:r>
            <a:r>
              <a:rPr kumimoji="0" lang="zh-CN" altLang="en-US"/>
              <a:t>运算</a:t>
            </a:r>
            <a:endParaRPr kumimoji="0" lang="zh-CN" altLang="en-US"/>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62851">
                                            <p:txEl>
                                              <p:pRg st="3" end="3"/>
                                            </p:txEl>
                                          </p:spTgt>
                                        </p:tgtEl>
                                        <p:attrNameLst>
                                          <p:attrName>style.visibility</p:attrName>
                                        </p:attrNameLst>
                                      </p:cBhvr>
                                      <p:to>
                                        <p:strVal val="visible"/>
                                      </p:to>
                                    </p:set>
                                    <p:anim calcmode="lin" valueType="num">
                                      <p:cBhvr additive="base">
                                        <p:cTn id="7" dur="500" fill="hold"/>
                                        <p:tgtEl>
                                          <p:spTgt spid="462851">
                                            <p:txEl>
                                              <p:pRg st="3" end="3"/>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62851">
                                            <p:txEl>
                                              <p:pRg st="3" end="3"/>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462851">
                                            <p:txEl>
                                              <p:pRg st="4" end="4"/>
                                            </p:txEl>
                                          </p:spTgt>
                                        </p:tgtEl>
                                        <p:attrNameLst>
                                          <p:attrName>style.visibility</p:attrName>
                                        </p:attrNameLst>
                                      </p:cBhvr>
                                      <p:to>
                                        <p:strVal val="visible"/>
                                      </p:to>
                                    </p:set>
                                    <p:anim calcmode="lin" valueType="num">
                                      <p:cBhvr additive="base">
                                        <p:cTn id="11" dur="500" fill="hold"/>
                                        <p:tgtEl>
                                          <p:spTgt spid="462851">
                                            <p:txEl>
                                              <p:pRg st="4" end="4"/>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628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462851">
                                            <p:txEl>
                                              <p:pRg st="5" end="5"/>
                                            </p:txEl>
                                          </p:spTgt>
                                        </p:tgtEl>
                                        <p:attrNameLst>
                                          <p:attrName>style.visibility</p:attrName>
                                        </p:attrNameLst>
                                      </p:cBhvr>
                                      <p:to>
                                        <p:strVal val="visible"/>
                                      </p:to>
                                    </p:set>
                                    <p:anim calcmode="lin" valueType="num">
                                      <p:cBhvr additive="base">
                                        <p:cTn id="17" dur="500" fill="hold"/>
                                        <p:tgtEl>
                                          <p:spTgt spid="462851">
                                            <p:txEl>
                                              <p:pRg st="5" end="5"/>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62851">
                                            <p:txEl>
                                              <p:pRg st="5" end="5"/>
                                            </p:txEl>
                                          </p:spTgt>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462851">
                                            <p:txEl>
                                              <p:pRg st="6" end="6"/>
                                            </p:txEl>
                                          </p:spTgt>
                                        </p:tgtEl>
                                        <p:attrNameLst>
                                          <p:attrName>style.visibility</p:attrName>
                                        </p:attrNameLst>
                                      </p:cBhvr>
                                      <p:to>
                                        <p:strVal val="visible"/>
                                      </p:to>
                                    </p:set>
                                    <p:anim calcmode="lin" valueType="num">
                                      <p:cBhvr additive="base">
                                        <p:cTn id="21" dur="500" fill="hold"/>
                                        <p:tgtEl>
                                          <p:spTgt spid="462851">
                                            <p:txEl>
                                              <p:pRg st="6" end="6"/>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462851">
                                            <p:txEl>
                                              <p:pRg st="6" end="6"/>
                                            </p:txEl>
                                          </p:spTgt>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462851">
                                            <p:txEl>
                                              <p:pRg st="7" end="7"/>
                                            </p:txEl>
                                          </p:spTgt>
                                        </p:tgtEl>
                                        <p:attrNameLst>
                                          <p:attrName>style.visibility</p:attrName>
                                        </p:attrNameLst>
                                      </p:cBhvr>
                                      <p:to>
                                        <p:strVal val="visible"/>
                                      </p:to>
                                    </p:set>
                                    <p:anim calcmode="lin" valueType="num">
                                      <p:cBhvr additive="base">
                                        <p:cTn id="25" dur="500" fill="hold"/>
                                        <p:tgtEl>
                                          <p:spTgt spid="462851">
                                            <p:txEl>
                                              <p:pRg st="7" end="7"/>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62851">
                                            <p:txEl>
                                              <p:pRg st="7" end="7"/>
                                            </p:txEl>
                                          </p:spTgt>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462851">
                                            <p:txEl>
                                              <p:pRg st="8" end="8"/>
                                            </p:txEl>
                                          </p:spTgt>
                                        </p:tgtEl>
                                        <p:attrNameLst>
                                          <p:attrName>style.visibility</p:attrName>
                                        </p:attrNameLst>
                                      </p:cBhvr>
                                      <p:to>
                                        <p:strVal val="visible"/>
                                      </p:to>
                                    </p:set>
                                    <p:anim calcmode="lin" valueType="num">
                                      <p:cBhvr additive="base">
                                        <p:cTn id="29" dur="500" fill="hold"/>
                                        <p:tgtEl>
                                          <p:spTgt spid="462851">
                                            <p:txEl>
                                              <p:pRg st="8" end="8"/>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62851">
                                            <p:txEl>
                                              <p:pRg st="8" end="8"/>
                                            </p:txEl>
                                          </p:spTgt>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462851">
                                            <p:txEl>
                                              <p:pRg st="9" end="9"/>
                                            </p:txEl>
                                          </p:spTgt>
                                        </p:tgtEl>
                                        <p:attrNameLst>
                                          <p:attrName>style.visibility</p:attrName>
                                        </p:attrNameLst>
                                      </p:cBhvr>
                                      <p:to>
                                        <p:strVal val="visible"/>
                                      </p:to>
                                    </p:set>
                                    <p:anim calcmode="lin" valueType="num">
                                      <p:cBhvr additive="base">
                                        <p:cTn id="33" dur="500" fill="hold"/>
                                        <p:tgtEl>
                                          <p:spTgt spid="462851">
                                            <p:txEl>
                                              <p:pRg st="9" end="9"/>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462851">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p:txBody>
          <a:bodyPr/>
          <a:lstStyle/>
          <a:p>
            <a:pPr eaLnBrk="1" hangingPunct="1"/>
            <a:r>
              <a:rPr lang="zh-CN" altLang="en-US"/>
              <a:t>微程序举例（</a:t>
            </a:r>
            <a:r>
              <a:rPr lang="en-US" altLang="zh-CN"/>
              <a:t>2</a:t>
            </a:r>
            <a:r>
              <a:rPr lang="zh-CN" altLang="en-US"/>
              <a:t>）</a:t>
            </a:r>
            <a:endParaRPr lang="zh-CN" altLang="en-US"/>
          </a:p>
        </p:txBody>
      </p:sp>
      <p:pic>
        <p:nvPicPr>
          <p:cNvPr id="103427" name="Picture 99"/>
          <p:cNvPicPr>
            <a:picLocks noChangeAspect="1" noChangeArrowheads="1"/>
          </p:cNvPicPr>
          <p:nvPr/>
        </p:nvPicPr>
        <p:blipFill>
          <a:blip r:embed="rId1">
            <a:extLst>
              <a:ext uri="{28A0092B-C50C-407E-A947-70E740481C1C}">
                <a14:useLocalDpi xmlns:a14="http://schemas.microsoft.com/office/drawing/2010/main" val="0"/>
              </a:ext>
            </a:extLst>
          </a:blip>
          <a:srcRect l="14766" t="17719" r="18457" b="14273"/>
          <a:stretch>
            <a:fillRect/>
          </a:stretch>
        </p:blipFill>
        <p:spPr bwMode="auto">
          <a:xfrm>
            <a:off x="3387725" y="1555750"/>
            <a:ext cx="5581650" cy="426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pic>
      <p:sp>
        <p:nvSpPr>
          <p:cNvPr id="103428" name="Text Box 28"/>
          <p:cNvSpPr txBox="1">
            <a:spLocks noChangeArrowheads="1"/>
          </p:cNvSpPr>
          <p:nvPr/>
        </p:nvSpPr>
        <p:spPr bwMode="auto">
          <a:xfrm>
            <a:off x="4483100" y="4799013"/>
            <a:ext cx="366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solidFill>
                  <a:srgbClr val="CC3300"/>
                </a:solidFill>
                <a:latin typeface="Tahoma" panose="020B0604030504040204" pitchFamily="34" charset="0"/>
                <a:ea typeface="宋体" panose="02010600030101010101" pitchFamily="2" charset="-122"/>
              </a:rPr>
              <a:t>a</a:t>
            </a:r>
            <a:endParaRPr kumimoji="0" lang="en-US" altLang="zh-CN" sz="2400">
              <a:solidFill>
                <a:srgbClr val="CC3300"/>
              </a:solidFill>
              <a:latin typeface="Tahoma" panose="020B0604030504040204" pitchFamily="34" charset="0"/>
              <a:ea typeface="宋体" panose="02010600030101010101" pitchFamily="2" charset="-122"/>
            </a:endParaRPr>
          </a:p>
        </p:txBody>
      </p:sp>
      <p:sp>
        <p:nvSpPr>
          <p:cNvPr id="103429" name="Text Box 29"/>
          <p:cNvSpPr txBox="1">
            <a:spLocks noChangeArrowheads="1"/>
          </p:cNvSpPr>
          <p:nvPr/>
        </p:nvSpPr>
        <p:spPr bwMode="auto">
          <a:xfrm>
            <a:off x="6118225" y="4835525"/>
            <a:ext cx="376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solidFill>
                  <a:srgbClr val="CC3300"/>
                </a:solidFill>
                <a:latin typeface="Tahoma" panose="020B0604030504040204" pitchFamily="34" charset="0"/>
                <a:ea typeface="宋体" panose="02010600030101010101" pitchFamily="2" charset="-122"/>
              </a:rPr>
              <a:t>b</a:t>
            </a:r>
            <a:endParaRPr kumimoji="0" lang="en-US" altLang="zh-CN" sz="2400">
              <a:solidFill>
                <a:srgbClr val="CC3300"/>
              </a:solidFill>
              <a:latin typeface="Tahoma" panose="020B0604030504040204" pitchFamily="34" charset="0"/>
              <a:ea typeface="宋体" panose="02010600030101010101" pitchFamily="2" charset="-122"/>
            </a:endParaRPr>
          </a:p>
        </p:txBody>
      </p:sp>
      <p:sp>
        <p:nvSpPr>
          <p:cNvPr id="103430" name="Text Box 30"/>
          <p:cNvSpPr txBox="1">
            <a:spLocks noChangeArrowheads="1"/>
          </p:cNvSpPr>
          <p:nvPr/>
        </p:nvSpPr>
        <p:spPr bwMode="auto">
          <a:xfrm>
            <a:off x="7853363" y="4841875"/>
            <a:ext cx="377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Tx/>
              <a:buNone/>
            </a:pPr>
            <a:r>
              <a:rPr kumimoji="0" lang="en-US" altLang="zh-CN" sz="2400">
                <a:solidFill>
                  <a:srgbClr val="CC3300"/>
                </a:solidFill>
                <a:latin typeface="Tahoma" panose="020B0604030504040204" pitchFamily="34" charset="0"/>
                <a:ea typeface="宋体" panose="02010600030101010101" pitchFamily="2" charset="-122"/>
              </a:rPr>
              <a:t>6</a:t>
            </a:r>
            <a:endParaRPr kumimoji="0" lang="en-US" altLang="zh-CN" sz="2400">
              <a:solidFill>
                <a:srgbClr val="CC3300"/>
              </a:solidFill>
              <a:latin typeface="Tahoma" panose="020B0604030504040204" pitchFamily="34" charset="0"/>
              <a:ea typeface="宋体" panose="02010600030101010101" pitchFamily="2" charset="-122"/>
            </a:endParaRPr>
          </a:p>
        </p:txBody>
      </p:sp>
      <p:sp>
        <p:nvSpPr>
          <p:cNvPr id="103431" name="Rectangle 75"/>
          <p:cNvSpPr>
            <a:spLocks noChangeArrowheads="1"/>
          </p:cNvSpPr>
          <p:nvPr/>
        </p:nvSpPr>
        <p:spPr bwMode="auto">
          <a:xfrm>
            <a:off x="14288" y="1216025"/>
            <a:ext cx="3271837"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03432" name="Line 76"/>
          <p:cNvSpPr>
            <a:spLocks noChangeShapeType="1"/>
          </p:cNvSpPr>
          <p:nvPr/>
        </p:nvSpPr>
        <p:spPr bwMode="auto">
          <a:xfrm>
            <a:off x="1657350" y="2030413"/>
            <a:ext cx="0" cy="3829050"/>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3433" name="AutoShape 77"/>
          <p:cNvSpPr>
            <a:spLocks noChangeArrowheads="1"/>
          </p:cNvSpPr>
          <p:nvPr/>
        </p:nvSpPr>
        <p:spPr bwMode="auto">
          <a:xfrm>
            <a:off x="214313" y="1530350"/>
            <a:ext cx="2886075" cy="614363"/>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PC→AR→ABUS</a:t>
            </a:r>
            <a:endParaRPr kumimoji="0" lang="en-US" altLang="zh-CN" sz="2000">
              <a:solidFill>
                <a:schemeClr val="bg1"/>
              </a:solidFill>
              <a:latin typeface="Tahoma" panose="020B0604030504040204" pitchFamily="34" charset="0"/>
              <a:ea typeface="宋体" panose="02010600030101010101" pitchFamily="2" charset="-122"/>
            </a:endParaRPr>
          </a:p>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DBUS→DR→IR,PC+1</a:t>
            </a:r>
            <a:endParaRPr kumimoji="0" lang="en-US" altLang="zh-CN" sz="2000">
              <a:solidFill>
                <a:schemeClr val="bg1"/>
              </a:solidFill>
              <a:latin typeface="Tahoma" panose="020B0604030504040204" pitchFamily="34" charset="0"/>
              <a:ea typeface="宋体" panose="02010600030101010101" pitchFamily="2" charset="-122"/>
            </a:endParaRPr>
          </a:p>
        </p:txBody>
      </p:sp>
      <p:sp>
        <p:nvSpPr>
          <p:cNvPr id="103434" name="AutoShape 78"/>
          <p:cNvSpPr>
            <a:spLocks noChangeArrowheads="1"/>
          </p:cNvSpPr>
          <p:nvPr/>
        </p:nvSpPr>
        <p:spPr bwMode="auto">
          <a:xfrm>
            <a:off x="914400" y="3759200"/>
            <a:ext cx="1485900"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2</a:t>
            </a: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3</a:t>
            </a: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2</a:t>
            </a:r>
            <a:endParaRPr kumimoji="0" lang="en-US" altLang="zh-CN" sz="2000" baseline="-25000">
              <a:solidFill>
                <a:schemeClr val="bg1"/>
              </a:solidFill>
              <a:latin typeface="Tahoma" panose="020B0604030504040204" pitchFamily="34" charset="0"/>
              <a:ea typeface="宋体" panose="02010600030101010101" pitchFamily="2" charset="-122"/>
            </a:endParaRPr>
          </a:p>
        </p:txBody>
      </p:sp>
      <p:sp>
        <p:nvSpPr>
          <p:cNvPr id="103435" name="AutoShape 79"/>
          <p:cNvSpPr>
            <a:spLocks noChangeArrowheads="1"/>
          </p:cNvSpPr>
          <p:nvPr/>
        </p:nvSpPr>
        <p:spPr bwMode="auto">
          <a:xfrm>
            <a:off x="914400" y="3130550"/>
            <a:ext cx="1471613"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1</a:t>
            </a: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2</a:t>
            </a: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2</a:t>
            </a:r>
            <a:endParaRPr kumimoji="0" lang="en-US" altLang="zh-CN" sz="2000" baseline="-25000">
              <a:solidFill>
                <a:schemeClr val="bg1"/>
              </a:solidFill>
              <a:latin typeface="Tahoma" panose="020B0604030504040204" pitchFamily="34" charset="0"/>
              <a:ea typeface="宋体" panose="02010600030101010101" pitchFamily="2" charset="-122"/>
            </a:endParaRPr>
          </a:p>
        </p:txBody>
      </p:sp>
      <p:sp>
        <p:nvSpPr>
          <p:cNvPr id="103436" name="AutoShape 80"/>
          <p:cNvSpPr>
            <a:spLocks noChangeArrowheads="1"/>
          </p:cNvSpPr>
          <p:nvPr/>
        </p:nvSpPr>
        <p:spPr bwMode="auto">
          <a:xfrm>
            <a:off x="871538" y="5073650"/>
            <a:ext cx="1571625" cy="400050"/>
          </a:xfrm>
          <a:prstGeom prst="flowChartProcess">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2</a:t>
            </a:r>
            <a:r>
              <a:rPr kumimoji="0" lang="zh-CN" altLang="en-US" sz="2000">
                <a:solidFill>
                  <a:schemeClr val="bg1"/>
                </a:solidFill>
                <a:latin typeface="Tahoma" panose="020B0604030504040204" pitchFamily="34" charset="0"/>
                <a:ea typeface="宋体" panose="02010600030101010101" pitchFamily="2" charset="-122"/>
              </a:rPr>
              <a:t>－</a:t>
            </a: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3</a:t>
            </a:r>
            <a:r>
              <a:rPr kumimoji="0" lang="en-US" altLang="zh-CN" sz="2000">
                <a:solidFill>
                  <a:schemeClr val="bg1"/>
                </a:solidFill>
                <a:latin typeface="Tahoma" panose="020B0604030504040204" pitchFamily="34" charset="0"/>
                <a:ea typeface="宋体" panose="02010600030101010101" pitchFamily="2" charset="-122"/>
              </a:rPr>
              <a:t>→R</a:t>
            </a:r>
            <a:r>
              <a:rPr kumimoji="0" lang="en-US" altLang="zh-CN" sz="2000" baseline="-25000">
                <a:solidFill>
                  <a:schemeClr val="bg1"/>
                </a:solidFill>
                <a:latin typeface="Tahoma" panose="020B0604030504040204" pitchFamily="34" charset="0"/>
                <a:ea typeface="宋体" panose="02010600030101010101" pitchFamily="2" charset="-122"/>
              </a:rPr>
              <a:t>2</a:t>
            </a:r>
            <a:endParaRPr kumimoji="0" lang="en-US" altLang="zh-CN" sz="2000" baseline="-25000">
              <a:solidFill>
                <a:schemeClr val="bg1"/>
              </a:solidFill>
              <a:latin typeface="Tahoma" panose="020B0604030504040204" pitchFamily="34" charset="0"/>
              <a:ea typeface="宋体" panose="02010600030101010101" pitchFamily="2" charset="-122"/>
            </a:endParaRPr>
          </a:p>
        </p:txBody>
      </p:sp>
      <p:sp>
        <p:nvSpPr>
          <p:cNvPr id="103437" name="AutoShape 81"/>
          <p:cNvSpPr>
            <a:spLocks noChangeArrowheads="1"/>
          </p:cNvSpPr>
          <p:nvPr/>
        </p:nvSpPr>
        <p:spPr bwMode="auto">
          <a:xfrm>
            <a:off x="971550" y="4302125"/>
            <a:ext cx="1357313" cy="642938"/>
          </a:xfrm>
          <a:prstGeom prst="flowChartDecision">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b="0">
                <a:solidFill>
                  <a:schemeClr val="bg1"/>
                </a:solidFill>
                <a:latin typeface="Tahoma" panose="020B0604030504040204" pitchFamily="34" charset="0"/>
                <a:ea typeface="宋体" panose="02010600030101010101" pitchFamily="2" charset="-122"/>
              </a:rPr>
              <a:t>P2</a:t>
            </a:r>
            <a:endParaRPr kumimoji="0" lang="en-US" altLang="zh-CN" sz="2000" b="0">
              <a:solidFill>
                <a:schemeClr val="bg1"/>
              </a:solidFill>
              <a:latin typeface="Tahoma" panose="020B0604030504040204" pitchFamily="34" charset="0"/>
              <a:ea typeface="宋体" panose="02010600030101010101" pitchFamily="2" charset="-122"/>
            </a:endParaRPr>
          </a:p>
        </p:txBody>
      </p:sp>
      <p:sp>
        <p:nvSpPr>
          <p:cNvPr id="103438" name="Line 82"/>
          <p:cNvSpPr>
            <a:spLocks noChangeShapeType="1"/>
          </p:cNvSpPr>
          <p:nvPr/>
        </p:nvSpPr>
        <p:spPr bwMode="auto">
          <a:xfrm>
            <a:off x="1658938" y="1301750"/>
            <a:ext cx="0" cy="2349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3439" name="Freeform 83"/>
          <p:cNvSpPr/>
          <p:nvPr/>
        </p:nvSpPr>
        <p:spPr bwMode="auto">
          <a:xfrm>
            <a:off x="1285875" y="5745163"/>
            <a:ext cx="742950" cy="214312"/>
          </a:xfrm>
          <a:custGeom>
            <a:avLst/>
            <a:gdLst>
              <a:gd name="T0" fmla="*/ 0 w 657"/>
              <a:gd name="T1" fmla="*/ 2147483646 h 117"/>
              <a:gd name="T2" fmla="*/ 2147483646 w 657"/>
              <a:gd name="T3" fmla="*/ 2147483646 h 117"/>
              <a:gd name="T4" fmla="*/ 2147483646 w 657"/>
              <a:gd name="T5" fmla="*/ 2147483646 h 117"/>
              <a:gd name="T6" fmla="*/ 2147483646 w 657"/>
              <a:gd name="T7" fmla="*/ 0 h 117"/>
              <a:gd name="T8" fmla="*/ 0 60000 65536"/>
              <a:gd name="T9" fmla="*/ 0 60000 65536"/>
              <a:gd name="T10" fmla="*/ 0 60000 65536"/>
              <a:gd name="T11" fmla="*/ 0 60000 65536"/>
              <a:gd name="T12" fmla="*/ 0 w 657"/>
              <a:gd name="T13" fmla="*/ 0 h 117"/>
              <a:gd name="T14" fmla="*/ 657 w 657"/>
              <a:gd name="T15" fmla="*/ 117 h 117"/>
            </a:gdLst>
            <a:ahLst/>
            <a:cxnLst>
              <a:cxn ang="T8">
                <a:pos x="T0" y="T1"/>
              </a:cxn>
              <a:cxn ang="T9">
                <a:pos x="T2" y="T3"/>
              </a:cxn>
              <a:cxn ang="T10">
                <a:pos x="T4" y="T5"/>
              </a:cxn>
              <a:cxn ang="T11">
                <a:pos x="T6" y="T7"/>
              </a:cxn>
            </a:cxnLst>
            <a:rect l="T12" t="T13" r="T14" b="T15"/>
            <a:pathLst>
              <a:path w="657" h="117">
                <a:moveTo>
                  <a:pt x="0" y="117"/>
                </a:moveTo>
                <a:cubicBezTo>
                  <a:pt x="34" y="99"/>
                  <a:pt x="69" y="82"/>
                  <a:pt x="153" y="72"/>
                </a:cubicBezTo>
                <a:cubicBezTo>
                  <a:pt x="237" y="62"/>
                  <a:pt x="420" y="66"/>
                  <a:pt x="504" y="54"/>
                </a:cubicBezTo>
                <a:cubicBezTo>
                  <a:pt x="588" y="42"/>
                  <a:pt x="611" y="7"/>
                  <a:pt x="657" y="0"/>
                </a:cubicBezTo>
              </a:path>
            </a:pathLst>
          </a:custGeom>
          <a:noFill/>
          <a:ln w="28575">
            <a:solidFill>
              <a:schemeClr val="tx1"/>
            </a:solidFill>
            <a:round/>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440" name="AutoShape 84"/>
          <p:cNvSpPr>
            <a:spLocks noChangeArrowheads="1"/>
          </p:cNvSpPr>
          <p:nvPr/>
        </p:nvSpPr>
        <p:spPr bwMode="auto">
          <a:xfrm>
            <a:off x="985838" y="2316163"/>
            <a:ext cx="1357312" cy="642937"/>
          </a:xfrm>
          <a:prstGeom prst="flowChartDecision">
            <a:avLst/>
          </a:prstGeom>
          <a:solidFill>
            <a:srgbClr val="006600"/>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b="0">
                <a:solidFill>
                  <a:schemeClr val="bg1"/>
                </a:solidFill>
                <a:latin typeface="Tahoma" panose="020B0604030504040204" pitchFamily="34" charset="0"/>
                <a:ea typeface="宋体" panose="02010600030101010101" pitchFamily="2" charset="-122"/>
              </a:rPr>
              <a:t>P1</a:t>
            </a:r>
            <a:endParaRPr kumimoji="0" lang="en-US" altLang="zh-CN" sz="2000" b="0">
              <a:solidFill>
                <a:schemeClr val="bg1"/>
              </a:solidFill>
              <a:latin typeface="Tahoma" panose="020B0604030504040204" pitchFamily="34" charset="0"/>
              <a:ea typeface="宋体" panose="02010600030101010101" pitchFamily="2" charset="-122"/>
            </a:endParaRPr>
          </a:p>
        </p:txBody>
      </p:sp>
      <p:sp>
        <p:nvSpPr>
          <p:cNvPr id="103441" name="Line 85"/>
          <p:cNvSpPr>
            <a:spLocks noChangeShapeType="1"/>
          </p:cNvSpPr>
          <p:nvPr/>
        </p:nvSpPr>
        <p:spPr bwMode="auto">
          <a:xfrm flipH="1">
            <a:off x="100013" y="4616450"/>
            <a:ext cx="871537"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3442" name="Line 86"/>
          <p:cNvSpPr>
            <a:spLocks noChangeShapeType="1"/>
          </p:cNvSpPr>
          <p:nvPr/>
        </p:nvSpPr>
        <p:spPr bwMode="auto">
          <a:xfrm>
            <a:off x="114300" y="5716588"/>
            <a:ext cx="1543050" cy="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03443" name="Line 87"/>
          <p:cNvSpPr>
            <a:spLocks noChangeShapeType="1"/>
          </p:cNvSpPr>
          <p:nvPr/>
        </p:nvSpPr>
        <p:spPr bwMode="auto">
          <a:xfrm flipV="1">
            <a:off x="100013" y="4616450"/>
            <a:ext cx="0" cy="1100138"/>
          </a:xfrm>
          <a:prstGeom prst="line">
            <a:avLst/>
          </a:prstGeom>
          <a:noFill/>
          <a:ln w="19050">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88856" name="Text Box 88"/>
          <p:cNvSpPr txBox="1">
            <a:spLocks noChangeArrowheads="1"/>
          </p:cNvSpPr>
          <p:nvPr/>
        </p:nvSpPr>
        <p:spPr bwMode="auto">
          <a:xfrm>
            <a:off x="-20638" y="4189413"/>
            <a:ext cx="78581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a:effectLst>
                  <a:outerShdw blurRad="38100" dist="38100" dir="2700000" algn="tl">
                    <a:srgbClr val="C0C0C0"/>
                  </a:outerShdw>
                </a:effectLst>
                <a:latin typeface="Tahoma" panose="020B0604030504040204" pitchFamily="34" charset="0"/>
                <a:ea typeface="宋体" panose="02010600030101010101" pitchFamily="2" charset="-122"/>
              </a:rPr>
              <a:t>Cy=1</a:t>
            </a:r>
            <a:endParaRPr kumimoji="0" lang="en-US" altLang="zh-CN" sz="20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57" name="Text Box 89"/>
          <p:cNvSpPr txBox="1">
            <a:spLocks noChangeArrowheads="1"/>
          </p:cNvSpPr>
          <p:nvPr/>
        </p:nvSpPr>
        <p:spPr bwMode="auto">
          <a:xfrm>
            <a:off x="179388" y="1174750"/>
            <a:ext cx="56038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RD</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58" name="Text Box 90"/>
          <p:cNvSpPr txBox="1">
            <a:spLocks noChangeArrowheads="1"/>
          </p:cNvSpPr>
          <p:nvPr/>
        </p:nvSpPr>
        <p:spPr bwMode="auto">
          <a:xfrm>
            <a:off x="2379663" y="1174750"/>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0000</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59" name="Text Box 91"/>
          <p:cNvSpPr txBox="1">
            <a:spLocks noChangeArrowheads="1"/>
          </p:cNvSpPr>
          <p:nvPr/>
        </p:nvSpPr>
        <p:spPr bwMode="auto">
          <a:xfrm>
            <a:off x="2393950" y="2089150"/>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0000</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0" name="Text Box 92"/>
          <p:cNvSpPr txBox="1">
            <a:spLocks noChangeArrowheads="1"/>
          </p:cNvSpPr>
          <p:nvPr/>
        </p:nvSpPr>
        <p:spPr bwMode="auto">
          <a:xfrm>
            <a:off x="2379663" y="2803525"/>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1010</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1" name="Text Box 93"/>
          <p:cNvSpPr txBox="1">
            <a:spLocks noChangeArrowheads="1"/>
          </p:cNvSpPr>
          <p:nvPr/>
        </p:nvSpPr>
        <p:spPr bwMode="auto">
          <a:xfrm>
            <a:off x="2393950" y="3432175"/>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1001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2" name="Text Box 94"/>
          <p:cNvSpPr txBox="1">
            <a:spLocks noChangeArrowheads="1"/>
          </p:cNvSpPr>
          <p:nvPr/>
        </p:nvSpPr>
        <p:spPr bwMode="auto">
          <a:xfrm>
            <a:off x="2393950" y="4089400"/>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0000</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3" name="Text Box 95"/>
          <p:cNvSpPr txBox="1">
            <a:spLocks noChangeArrowheads="1"/>
          </p:cNvSpPr>
          <p:nvPr/>
        </p:nvSpPr>
        <p:spPr bwMode="auto">
          <a:xfrm>
            <a:off x="2408238" y="4746625"/>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0001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4" name="Text Box 96"/>
          <p:cNvSpPr txBox="1">
            <a:spLocks noChangeArrowheads="1"/>
          </p:cNvSpPr>
          <p:nvPr/>
        </p:nvSpPr>
        <p:spPr bwMode="auto">
          <a:xfrm>
            <a:off x="2393950" y="5432425"/>
            <a:ext cx="831850"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0000</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5" name="Text Box 97"/>
          <p:cNvSpPr txBox="1">
            <a:spLocks noChangeArrowheads="1"/>
          </p:cNvSpPr>
          <p:nvPr/>
        </p:nvSpPr>
        <p:spPr bwMode="auto">
          <a:xfrm>
            <a:off x="722313" y="4732338"/>
            <a:ext cx="78581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a:effectLst>
                  <a:outerShdw blurRad="38100" dist="38100" dir="2700000" algn="tl">
                    <a:srgbClr val="C0C0C0"/>
                  </a:outerShdw>
                </a:effectLst>
                <a:latin typeface="Tahoma" panose="020B0604030504040204" pitchFamily="34" charset="0"/>
                <a:ea typeface="宋体" panose="02010600030101010101" pitchFamily="2" charset="-122"/>
              </a:rPr>
              <a:t>Cy=0</a:t>
            </a:r>
            <a:endParaRPr kumimoji="0" lang="en-US" altLang="zh-CN" sz="200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88868" name="Text Box 100"/>
          <p:cNvSpPr txBox="1">
            <a:spLocks noChangeArrowheads="1"/>
          </p:cNvSpPr>
          <p:nvPr/>
        </p:nvSpPr>
        <p:spPr bwMode="auto">
          <a:xfrm>
            <a:off x="3368675" y="5173663"/>
            <a:ext cx="285750" cy="336550"/>
          </a:xfrm>
          <a:prstGeom prst="rect">
            <a:avLst/>
          </a:prstGeom>
          <a:noFill/>
          <a:ln w="19050" algn="ctr">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1600" b="1">
                <a:solidFill>
                  <a:srgbClr val="CC3300"/>
                </a:solidFill>
                <a:effectLst>
                  <a:outerShdw blurRad="38100" dist="38100" dir="2700000" algn="tl">
                    <a:srgbClr val="C0C0C0"/>
                  </a:outerShdw>
                </a:effectLst>
                <a:ea typeface="方正准圆简体" pitchFamily="2" charset="-122"/>
              </a:rPr>
              <a:t>1</a:t>
            </a:r>
            <a:endParaRPr lang="en-US" altLang="zh-CN" sz="1600" b="1">
              <a:solidFill>
                <a:srgbClr val="CC3300"/>
              </a:solidFill>
              <a:effectLst>
                <a:outerShdw blurRad="38100" dist="38100" dir="2700000" algn="tl">
                  <a:srgbClr val="C0C0C0"/>
                </a:outerShdw>
              </a:effectLst>
              <a:ea typeface="方正准圆简体" pitchFamily="2" charset="-122"/>
            </a:endParaRPr>
          </a:p>
        </p:txBody>
      </p:sp>
      <p:sp>
        <p:nvSpPr>
          <p:cNvPr id="103455" name="文本框 1"/>
          <p:cNvSpPr txBox="1">
            <a:spLocks noChangeArrowheads="1"/>
          </p:cNvSpPr>
          <p:nvPr/>
        </p:nvSpPr>
        <p:spPr bwMode="auto">
          <a:xfrm>
            <a:off x="8475663" y="4248150"/>
            <a:ext cx="287337"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a:t>5</a:t>
            </a:r>
            <a:endParaRPr lang="zh-CN" altLang="en-US" sz="1600"/>
          </a:p>
        </p:txBody>
      </p:sp>
      <p:sp>
        <p:nvSpPr>
          <p:cNvPr id="103456" name="文本框 32"/>
          <p:cNvSpPr txBox="1">
            <a:spLocks noChangeArrowheads="1"/>
          </p:cNvSpPr>
          <p:nvPr/>
        </p:nvSpPr>
        <p:spPr bwMode="auto">
          <a:xfrm>
            <a:off x="8475663" y="3683000"/>
            <a:ext cx="287337"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a:t>9</a:t>
            </a:r>
            <a:endParaRPr lang="zh-CN" altLang="en-US" sz="1600"/>
          </a:p>
        </p:txBody>
      </p:sp>
    </p:spTree>
  </p:cSld>
  <p:clrMapOvr>
    <a:masterClrMapping/>
  </p:clrMapOvr>
  <p:transition spd="med">
    <p:pull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p:txBody>
          <a:bodyPr/>
          <a:lstStyle/>
          <a:p>
            <a:pPr eaLnBrk="1" hangingPunct="1"/>
            <a:r>
              <a:rPr lang="zh-CN" altLang="en-US"/>
              <a:t>微程序举例（</a:t>
            </a:r>
            <a:r>
              <a:rPr lang="en-US" altLang="zh-CN"/>
              <a:t>3</a:t>
            </a:r>
            <a:r>
              <a:rPr lang="zh-CN" altLang="en-US"/>
              <a:t>）</a:t>
            </a:r>
            <a:endParaRPr lang="zh-CN" altLang="en-US"/>
          </a:p>
        </p:txBody>
      </p:sp>
      <p:sp>
        <p:nvSpPr>
          <p:cNvPr id="291843" name="Rectangle 3"/>
          <p:cNvSpPr>
            <a:spLocks noGrp="1" noChangeArrowheads="1"/>
          </p:cNvSpPr>
          <p:nvPr>
            <p:ph idx="1"/>
          </p:nvPr>
        </p:nvSpPr>
        <p:spPr/>
        <p:txBody>
          <a:bodyPr/>
          <a:lstStyle/>
          <a:p>
            <a:pPr eaLnBrk="1" hangingPunct="1"/>
            <a:r>
              <a:rPr lang="zh-CN" altLang="en-US" dirty="0"/>
              <a:t>微程序的调用</a:t>
            </a:r>
            <a:endParaRPr lang="zh-CN" altLang="en-US" dirty="0"/>
          </a:p>
          <a:p>
            <a:pPr lvl="1" eaLnBrk="1" hangingPunct="1"/>
            <a:r>
              <a:rPr lang="zh-CN" altLang="en-US" dirty="0"/>
              <a:t>以十进制加法指令操作码为地址，去查微地址映射部件得到微程序在控制存储器中的地址，就可以调出所需要的微程序（如上图中微程序地址为</a:t>
            </a:r>
            <a:r>
              <a:rPr lang="en-US" altLang="zh-CN" dirty="0"/>
              <a:t>1010</a:t>
            </a:r>
            <a:r>
              <a:rPr lang="zh-CN" altLang="en-US" dirty="0"/>
              <a:t>）</a:t>
            </a:r>
            <a:endParaRPr lang="zh-CN" altLang="en-US" dirty="0"/>
          </a:p>
          <a:p>
            <a:pPr lvl="1" eaLnBrk="1" hangingPunct="1"/>
            <a:r>
              <a:rPr lang="zh-CN" altLang="en-US" dirty="0"/>
              <a:t>微地址映射部件是用</a:t>
            </a:r>
            <a:r>
              <a:rPr lang="en-US" altLang="zh-CN" dirty="0"/>
              <a:t>ROM</a:t>
            </a:r>
            <a:r>
              <a:rPr lang="zh-CN" altLang="en-US" dirty="0"/>
              <a:t>实现的，地址输入为指令寄存器</a:t>
            </a:r>
            <a:r>
              <a:rPr lang="en-US" altLang="zh-CN" dirty="0"/>
              <a:t>IR</a:t>
            </a:r>
            <a:r>
              <a:rPr lang="zh-CN" altLang="en-US" dirty="0"/>
              <a:t>的操作码，输出为该指令对应的微程序段的入口地址</a:t>
            </a:r>
            <a:endParaRPr lang="zh-CN" altLang="en-US" dirty="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1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p:txBody>
          <a:bodyPr/>
          <a:lstStyle/>
          <a:p>
            <a:pPr eaLnBrk="1" hangingPunct="1"/>
            <a:r>
              <a:rPr lang="zh-CN" altLang="en-US"/>
              <a:t>微程序举例（</a:t>
            </a:r>
            <a:r>
              <a:rPr lang="en-US" altLang="zh-CN"/>
              <a:t>4</a:t>
            </a:r>
            <a:r>
              <a:rPr lang="zh-CN" altLang="en-US"/>
              <a:t>）</a:t>
            </a:r>
            <a:endParaRPr lang="zh-CN" altLang="en-US"/>
          </a:p>
        </p:txBody>
      </p:sp>
      <p:sp>
        <p:nvSpPr>
          <p:cNvPr id="107522" name="Rectangle 3"/>
          <p:cNvSpPr>
            <a:spLocks noGrp="1" noChangeArrowheads="1"/>
          </p:cNvSpPr>
          <p:nvPr>
            <p:ph idx="1"/>
          </p:nvPr>
        </p:nvSpPr>
        <p:spPr/>
        <p:txBody>
          <a:bodyPr/>
          <a:lstStyle/>
          <a:p>
            <a:pPr eaLnBrk="1" hangingPunct="1"/>
            <a:r>
              <a:rPr lang="zh-CN" altLang="en-US"/>
              <a:t>第一条微指令的二进制编码是</a:t>
            </a:r>
            <a:endParaRPr lang="zh-CN" altLang="en-US"/>
          </a:p>
          <a:p>
            <a:pPr eaLnBrk="1" hangingPunct="1"/>
            <a:endParaRPr lang="en-US" altLang="zh-CN"/>
          </a:p>
          <a:p>
            <a:pPr lvl="1" eaLnBrk="1" hangingPunct="1"/>
            <a:r>
              <a:rPr kumimoji="0" lang="zh-CN" altLang="en-US" sz="2400"/>
              <a:t>操作控制字段有五个微命令，完成“取指”操作，并对</a:t>
            </a:r>
            <a:r>
              <a:rPr kumimoji="0" lang="en-US" altLang="zh-CN" sz="2400"/>
              <a:t>PC+1</a:t>
            </a:r>
            <a:endParaRPr kumimoji="0" lang="en-US" altLang="zh-CN" sz="2400"/>
          </a:p>
          <a:p>
            <a:pPr lvl="1" eaLnBrk="1" hangingPunct="1"/>
            <a:r>
              <a:rPr kumimoji="0" lang="zh-CN" altLang="en-US" sz="2400"/>
              <a:t>顺序控制字段指明下一条微指令的地址是</a:t>
            </a:r>
            <a:r>
              <a:rPr kumimoji="0" lang="en-US" altLang="zh-CN" sz="2400"/>
              <a:t>0000</a:t>
            </a:r>
            <a:r>
              <a:rPr kumimoji="0" lang="zh-CN" altLang="en-US" sz="2400"/>
              <a:t>，但由于第</a:t>
            </a:r>
            <a:r>
              <a:rPr kumimoji="0" lang="en-US" altLang="zh-CN" sz="2400"/>
              <a:t>18</a:t>
            </a:r>
            <a:r>
              <a:rPr kumimoji="0" lang="zh-CN" altLang="en-US" sz="2400"/>
              <a:t>位为</a:t>
            </a:r>
            <a:r>
              <a:rPr kumimoji="0" lang="en-US" altLang="zh-CN" sz="2400"/>
              <a:t>1</a:t>
            </a:r>
            <a:r>
              <a:rPr kumimoji="0" lang="zh-CN" altLang="en-US" sz="2400"/>
              <a:t>，是</a:t>
            </a:r>
            <a:r>
              <a:rPr kumimoji="0" lang="en-US" altLang="zh-CN" sz="2400"/>
              <a:t>P1</a:t>
            </a:r>
            <a:r>
              <a:rPr kumimoji="0" lang="zh-CN" altLang="en-US" sz="2400"/>
              <a:t>测试，即用</a:t>
            </a:r>
            <a:r>
              <a:rPr kumimoji="0" lang="en-US" altLang="zh-CN" sz="2400"/>
              <a:t>OP</a:t>
            </a:r>
            <a:r>
              <a:rPr kumimoji="0" lang="zh-CN" altLang="en-US" sz="2400"/>
              <a:t>字段（</a:t>
            </a:r>
            <a:r>
              <a:rPr kumimoji="0" lang="en-US" altLang="zh-CN" sz="2400"/>
              <a:t>1010</a:t>
            </a:r>
            <a:r>
              <a:rPr kumimoji="0" lang="zh-CN" altLang="en-US" sz="2400"/>
              <a:t>）作为形成下一条微指令的地址，故微地址寄存器的内容修改为</a:t>
            </a:r>
            <a:r>
              <a:rPr kumimoji="0" lang="en-US" altLang="zh-CN" sz="2400"/>
              <a:t>1010</a:t>
            </a:r>
            <a:endParaRPr kumimoji="0" lang="zh-CN" altLang="en-US" sz="2400"/>
          </a:p>
        </p:txBody>
      </p:sp>
      <p:graphicFrame>
        <p:nvGraphicFramePr>
          <p:cNvPr id="290820" name="Group 4"/>
          <p:cNvGraphicFramePr>
            <a:graphicFrameLocks noGrp="1"/>
          </p:cNvGraphicFramePr>
          <p:nvPr/>
        </p:nvGraphicFramePr>
        <p:xfrm>
          <a:off x="568325" y="5172075"/>
          <a:ext cx="8253413" cy="1122363"/>
        </p:xfrm>
        <a:graphic>
          <a:graphicData uri="http://schemas.openxmlformats.org/drawingml/2006/table">
            <a:tbl>
              <a:tblPr/>
              <a:tblGrid>
                <a:gridCol w="358775"/>
                <a:gridCol w="358775"/>
                <a:gridCol w="358775"/>
                <a:gridCol w="358775"/>
                <a:gridCol w="360363"/>
                <a:gridCol w="358775"/>
                <a:gridCol w="358775"/>
                <a:gridCol w="358775"/>
                <a:gridCol w="358775"/>
                <a:gridCol w="358775"/>
                <a:gridCol w="358775"/>
                <a:gridCol w="357187"/>
                <a:gridCol w="358775"/>
                <a:gridCol w="358775"/>
                <a:gridCol w="358775"/>
                <a:gridCol w="358775"/>
                <a:gridCol w="358775"/>
                <a:gridCol w="358775"/>
                <a:gridCol w="360363"/>
                <a:gridCol w="358775"/>
                <a:gridCol w="358775"/>
                <a:gridCol w="358775"/>
                <a:gridCol w="358775"/>
              </a:tblGrid>
              <a:tr h="398422">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72394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23</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r>
            </a:tbl>
          </a:graphicData>
        </a:graphic>
      </p:graphicFrame>
      <p:graphicFrame>
        <p:nvGraphicFramePr>
          <p:cNvPr id="290920" name="Group 104"/>
          <p:cNvGraphicFramePr>
            <a:graphicFrameLocks noGrp="1"/>
          </p:cNvGraphicFramePr>
          <p:nvPr/>
        </p:nvGraphicFramePr>
        <p:xfrm>
          <a:off x="596900" y="5197475"/>
          <a:ext cx="8196263" cy="331788"/>
        </p:xfrm>
        <a:graphic>
          <a:graphicData uri="http://schemas.openxmlformats.org/drawingml/2006/table">
            <a:tbl>
              <a:tblPr/>
              <a:tblGrid>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tblGrid>
              <a:tr h="331788">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cap="flat">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cap="flat">
                      <a:noFill/>
                    </a:lnR>
                    <a:lnT cap="flat">
                      <a:noFill/>
                    </a:lnT>
                    <a:lnB cap="flat">
                      <a:noFill/>
                    </a:lnB>
                    <a:lnTlToBr>
                      <a:noFill/>
                    </a:lnTlToBr>
                    <a:lnBlToTr>
                      <a:noFill/>
                    </a:lnBlToTr>
                    <a:solidFill>
                      <a:schemeClr val="bg1"/>
                    </a:solidFill>
                  </a:tcPr>
                </a:tc>
              </a:tr>
            </a:tbl>
          </a:graphicData>
        </a:graphic>
      </p:graphicFrame>
      <p:sp>
        <p:nvSpPr>
          <p:cNvPr id="107621" name="Line 176"/>
          <p:cNvSpPr>
            <a:spLocks noChangeShapeType="1"/>
          </p:cNvSpPr>
          <p:nvPr/>
        </p:nvSpPr>
        <p:spPr bwMode="auto">
          <a:xfrm>
            <a:off x="6669088" y="5172075"/>
            <a:ext cx="0" cy="6000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22" name="Line 177"/>
          <p:cNvSpPr>
            <a:spLocks noChangeShapeType="1"/>
          </p:cNvSpPr>
          <p:nvPr/>
        </p:nvSpPr>
        <p:spPr bwMode="auto">
          <a:xfrm>
            <a:off x="730250" y="44291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23" name="Line 178"/>
          <p:cNvSpPr>
            <a:spLocks noChangeShapeType="1"/>
          </p:cNvSpPr>
          <p:nvPr/>
        </p:nvSpPr>
        <p:spPr bwMode="auto">
          <a:xfrm>
            <a:off x="1116013" y="48434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0995" name="Text Box 179"/>
          <p:cNvSpPr txBox="1">
            <a:spLocks noChangeArrowheads="1"/>
          </p:cNvSpPr>
          <p:nvPr/>
        </p:nvSpPr>
        <p:spPr bwMode="auto">
          <a:xfrm>
            <a:off x="252413" y="4103688"/>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0996" name="Text Box 180"/>
          <p:cNvSpPr txBox="1">
            <a:spLocks noChangeArrowheads="1"/>
          </p:cNvSpPr>
          <p:nvPr/>
        </p:nvSpPr>
        <p:spPr bwMode="auto">
          <a:xfrm>
            <a:off x="666750" y="4518025"/>
            <a:ext cx="8810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26" name="Line 181"/>
          <p:cNvSpPr>
            <a:spLocks noChangeShapeType="1"/>
          </p:cNvSpPr>
          <p:nvPr/>
        </p:nvSpPr>
        <p:spPr bwMode="auto">
          <a:xfrm>
            <a:off x="1487488" y="44291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0998" name="Text Box 182"/>
          <p:cNvSpPr txBox="1">
            <a:spLocks noChangeArrowheads="1"/>
          </p:cNvSpPr>
          <p:nvPr/>
        </p:nvSpPr>
        <p:spPr bwMode="auto">
          <a:xfrm>
            <a:off x="1023938" y="4103688"/>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28" name="Line 183"/>
          <p:cNvSpPr>
            <a:spLocks noChangeShapeType="1"/>
          </p:cNvSpPr>
          <p:nvPr/>
        </p:nvSpPr>
        <p:spPr bwMode="auto">
          <a:xfrm>
            <a:off x="1830388" y="48434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1000" name="Text Box 184"/>
          <p:cNvSpPr txBox="1">
            <a:spLocks noChangeArrowheads="1"/>
          </p:cNvSpPr>
          <p:nvPr/>
        </p:nvSpPr>
        <p:spPr bwMode="auto">
          <a:xfrm>
            <a:off x="1452563" y="4502150"/>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30" name="Line 185"/>
          <p:cNvSpPr>
            <a:spLocks noChangeShapeType="1"/>
          </p:cNvSpPr>
          <p:nvPr/>
        </p:nvSpPr>
        <p:spPr bwMode="auto">
          <a:xfrm>
            <a:off x="1773238" y="4700588"/>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sp>
        <p:nvSpPr>
          <p:cNvPr id="107631" name="Line 186"/>
          <p:cNvSpPr>
            <a:spLocks noChangeShapeType="1"/>
          </p:cNvSpPr>
          <p:nvPr/>
        </p:nvSpPr>
        <p:spPr bwMode="auto">
          <a:xfrm>
            <a:off x="2187575" y="4443413"/>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07632" name="Group 187"/>
          <p:cNvGrpSpPr/>
          <p:nvPr/>
        </p:nvGrpSpPr>
        <p:grpSpPr bwMode="auto">
          <a:xfrm>
            <a:off x="1852613" y="4102100"/>
            <a:ext cx="690562" cy="396875"/>
            <a:chOff x="1121" y="2395"/>
            <a:chExt cx="435" cy="250"/>
          </a:xfrm>
        </p:grpSpPr>
        <p:sp>
          <p:nvSpPr>
            <p:cNvPr id="291004" name="Text Box 188"/>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90" name="Line 189"/>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107633" name="Line 190"/>
          <p:cNvSpPr>
            <a:spLocks noChangeShapeType="1"/>
          </p:cNvSpPr>
          <p:nvPr/>
        </p:nvSpPr>
        <p:spPr bwMode="auto">
          <a:xfrm>
            <a:off x="2530475" y="48434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07634" name="Group 191"/>
          <p:cNvGrpSpPr/>
          <p:nvPr/>
        </p:nvGrpSpPr>
        <p:grpSpPr bwMode="auto">
          <a:xfrm>
            <a:off x="2889250" y="4445000"/>
            <a:ext cx="1042988" cy="728663"/>
            <a:chOff x="1774" y="2638"/>
            <a:chExt cx="657" cy="459"/>
          </a:xfrm>
        </p:grpSpPr>
        <p:sp>
          <p:nvSpPr>
            <p:cNvPr id="107685" name="Line 19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6" name="Line 19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7" name="Line 19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8" name="Line 19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07635" name="Group 196"/>
          <p:cNvGrpSpPr/>
          <p:nvPr/>
        </p:nvGrpSpPr>
        <p:grpSpPr bwMode="auto">
          <a:xfrm>
            <a:off x="4332288" y="4445000"/>
            <a:ext cx="1042987" cy="728663"/>
            <a:chOff x="1774" y="2638"/>
            <a:chExt cx="657" cy="459"/>
          </a:xfrm>
        </p:grpSpPr>
        <p:sp>
          <p:nvSpPr>
            <p:cNvPr id="107681" name="Line 197"/>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2" name="Line 198"/>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3" name="Line 199"/>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4" name="Line 200"/>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07636" name="Group 201"/>
          <p:cNvGrpSpPr/>
          <p:nvPr/>
        </p:nvGrpSpPr>
        <p:grpSpPr bwMode="auto">
          <a:xfrm>
            <a:off x="5761038" y="4445000"/>
            <a:ext cx="1042987" cy="728663"/>
            <a:chOff x="1774" y="2638"/>
            <a:chExt cx="657" cy="459"/>
          </a:xfrm>
        </p:grpSpPr>
        <p:sp>
          <p:nvSpPr>
            <p:cNvPr id="107677" name="Line 20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78" name="Line 20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79" name="Line 20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80" name="Line 20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107637" name="Line 206"/>
          <p:cNvSpPr>
            <a:spLocks noChangeShapeType="1"/>
          </p:cNvSpPr>
          <p:nvPr/>
        </p:nvSpPr>
        <p:spPr bwMode="auto">
          <a:xfrm>
            <a:off x="7189788" y="4445000"/>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38" name="Line 207"/>
          <p:cNvSpPr>
            <a:spLocks noChangeShapeType="1"/>
          </p:cNvSpPr>
          <p:nvPr/>
        </p:nvSpPr>
        <p:spPr bwMode="auto">
          <a:xfrm>
            <a:off x="7532688" y="48450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39" name="Line 208"/>
          <p:cNvSpPr>
            <a:spLocks noChangeShapeType="1"/>
          </p:cNvSpPr>
          <p:nvPr/>
        </p:nvSpPr>
        <p:spPr bwMode="auto">
          <a:xfrm>
            <a:off x="7889875" y="4845050"/>
            <a:ext cx="0" cy="32861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40" name="Line 209"/>
          <p:cNvSpPr>
            <a:spLocks noChangeShapeType="1"/>
          </p:cNvSpPr>
          <p:nvPr/>
        </p:nvSpPr>
        <p:spPr bwMode="auto">
          <a:xfrm>
            <a:off x="8232775" y="48450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7641" name="Line 210"/>
          <p:cNvSpPr>
            <a:spLocks noChangeShapeType="1"/>
          </p:cNvSpPr>
          <p:nvPr/>
        </p:nvSpPr>
        <p:spPr bwMode="auto">
          <a:xfrm>
            <a:off x="8602663" y="4843463"/>
            <a:ext cx="0" cy="32861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1027" name="Text Box 211"/>
          <p:cNvSpPr txBox="1">
            <a:spLocks noChangeArrowheads="1"/>
          </p:cNvSpPr>
          <p:nvPr/>
        </p:nvSpPr>
        <p:spPr bwMode="auto">
          <a:xfrm>
            <a:off x="2195513" y="4502150"/>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43" name="Line 212"/>
          <p:cNvSpPr>
            <a:spLocks noChangeShapeType="1"/>
          </p:cNvSpPr>
          <p:nvPr/>
        </p:nvSpPr>
        <p:spPr bwMode="auto">
          <a:xfrm>
            <a:off x="2516188" y="4700588"/>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07644" name="Group 213"/>
          <p:cNvGrpSpPr/>
          <p:nvPr/>
        </p:nvGrpSpPr>
        <p:grpSpPr bwMode="auto">
          <a:xfrm>
            <a:off x="2566988" y="4102100"/>
            <a:ext cx="690562" cy="396875"/>
            <a:chOff x="1121" y="2395"/>
            <a:chExt cx="435" cy="250"/>
          </a:xfrm>
        </p:grpSpPr>
        <p:sp>
          <p:nvSpPr>
            <p:cNvPr id="291030" name="Text Box 214"/>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76" name="Line 215"/>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1032" name="Text Box 216"/>
          <p:cNvSpPr txBox="1">
            <a:spLocks noChangeArrowheads="1"/>
          </p:cNvSpPr>
          <p:nvPr/>
        </p:nvSpPr>
        <p:spPr bwMode="auto">
          <a:xfrm>
            <a:off x="2824163" y="4502150"/>
            <a:ext cx="8302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46" name="Line 217"/>
          <p:cNvSpPr>
            <a:spLocks noChangeShapeType="1"/>
          </p:cNvSpPr>
          <p:nvPr/>
        </p:nvSpPr>
        <p:spPr bwMode="auto">
          <a:xfrm>
            <a:off x="3287713" y="4700588"/>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07647" name="Group 218"/>
          <p:cNvGrpSpPr/>
          <p:nvPr/>
        </p:nvGrpSpPr>
        <p:grpSpPr bwMode="auto">
          <a:xfrm>
            <a:off x="3267075" y="4102100"/>
            <a:ext cx="690563" cy="396875"/>
            <a:chOff x="1121" y="2395"/>
            <a:chExt cx="435" cy="250"/>
          </a:xfrm>
        </p:grpSpPr>
        <p:sp>
          <p:nvSpPr>
            <p:cNvPr id="291035" name="Text Box 219"/>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7674" name="Line 220"/>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1037" name="Text Box 221"/>
          <p:cNvSpPr txBox="1">
            <a:spLocks noChangeArrowheads="1"/>
          </p:cNvSpPr>
          <p:nvPr/>
        </p:nvSpPr>
        <p:spPr bwMode="auto">
          <a:xfrm>
            <a:off x="3752850" y="4502150"/>
            <a:ext cx="39211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38" name="Text Box 222"/>
          <p:cNvSpPr txBox="1">
            <a:spLocks noChangeArrowheads="1"/>
          </p:cNvSpPr>
          <p:nvPr/>
        </p:nvSpPr>
        <p:spPr bwMode="auto">
          <a:xfrm>
            <a:off x="4124325" y="4102100"/>
            <a:ext cx="41116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M</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39" name="Text Box 223"/>
          <p:cNvSpPr txBox="1">
            <a:spLocks noChangeArrowheads="1"/>
          </p:cNvSpPr>
          <p:nvPr/>
        </p:nvSpPr>
        <p:spPr bwMode="auto">
          <a:xfrm>
            <a:off x="4452938" y="4521200"/>
            <a:ext cx="439737" cy="396875"/>
          </a:xfrm>
          <a:prstGeom prst="rect">
            <a:avLst/>
          </a:prstGeom>
          <a:noFill/>
          <a:ln w="19050">
            <a:noFill/>
            <a:miter lim="800000"/>
            <a:tailEnd type="none" w="lg" len="lg"/>
          </a:ln>
          <a:effectLst/>
        </p:spPr>
        <p:txBody>
          <a:bodyPr wrap="none">
            <a:spAutoFit/>
          </a:bodyPr>
          <a:lstStyle/>
          <a:p>
            <a:pPr eaLnBrk="1" hangingPunct="1">
              <a:defRPr/>
            </a:pPr>
            <a:r>
              <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0" name="Text Box 224"/>
          <p:cNvSpPr txBox="1">
            <a:spLocks noChangeArrowheads="1"/>
          </p:cNvSpPr>
          <p:nvPr/>
        </p:nvSpPr>
        <p:spPr bwMode="auto">
          <a:xfrm>
            <a:off x="4710113" y="4103688"/>
            <a:ext cx="63023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RD’</a:t>
            </a:r>
            <a:endPar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1" name="Text Box 225"/>
          <p:cNvSpPr txBox="1">
            <a:spLocks noChangeArrowheads="1"/>
          </p:cNvSpPr>
          <p:nvPr/>
        </p:nvSpPr>
        <p:spPr bwMode="auto">
          <a:xfrm>
            <a:off x="4881563" y="4518025"/>
            <a:ext cx="96837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LDDR’</a:t>
            </a:r>
            <a:endPar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2" name="Text Box 226"/>
          <p:cNvSpPr txBox="1">
            <a:spLocks noChangeArrowheads="1"/>
          </p:cNvSpPr>
          <p:nvPr/>
        </p:nvSpPr>
        <p:spPr bwMode="auto">
          <a:xfrm>
            <a:off x="5324475" y="4103688"/>
            <a:ext cx="8985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LDIR’</a:t>
            </a:r>
            <a:endPar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3" name="Text Box 227"/>
          <p:cNvSpPr txBox="1">
            <a:spLocks noChangeArrowheads="1"/>
          </p:cNvSpPr>
          <p:nvPr/>
        </p:nvSpPr>
        <p:spPr bwMode="auto">
          <a:xfrm>
            <a:off x="5695950" y="4518025"/>
            <a:ext cx="95091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LDAR’</a:t>
            </a:r>
            <a:endPar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4" name="Text Box 228"/>
          <p:cNvSpPr txBox="1">
            <a:spLocks noChangeArrowheads="1"/>
          </p:cNvSpPr>
          <p:nvPr/>
        </p:nvSpPr>
        <p:spPr bwMode="auto">
          <a:xfrm>
            <a:off x="6081713" y="4102100"/>
            <a:ext cx="89058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PC+1</a:t>
            </a:r>
            <a:endPar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5" name="Text Box 229"/>
          <p:cNvSpPr txBox="1">
            <a:spLocks noChangeArrowheads="1"/>
          </p:cNvSpPr>
          <p:nvPr/>
        </p:nvSpPr>
        <p:spPr bwMode="auto">
          <a:xfrm>
            <a:off x="6567488" y="4516438"/>
            <a:ext cx="5127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FF0000"/>
                </a:solidFill>
                <a:effectLst>
                  <a:outerShdw blurRad="38100" dist="38100" dir="2700000" algn="tl">
                    <a:srgbClr val="C0C0C0"/>
                  </a:outerShdw>
                </a:effectLst>
                <a:latin typeface="Tahoma" panose="020B0604030504040204" pitchFamily="34" charset="0"/>
                <a:ea typeface="宋体" panose="02010600030101010101" pitchFamily="2" charset="-122"/>
              </a:rPr>
              <a:t>P1</a:t>
            </a:r>
            <a:endParaRPr kumimoji="0" lang="en-US" altLang="zh-CN" sz="2000" b="1" dirty="0">
              <a:solidFill>
                <a:srgbClr val="FF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6" name="Text Box 230"/>
          <p:cNvSpPr txBox="1">
            <a:spLocks noChangeArrowheads="1"/>
          </p:cNvSpPr>
          <p:nvPr/>
        </p:nvSpPr>
        <p:spPr bwMode="auto">
          <a:xfrm>
            <a:off x="6953250" y="4102100"/>
            <a:ext cx="5127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P2</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1047" name="Text Box 231"/>
          <p:cNvSpPr txBox="1">
            <a:spLocks noChangeArrowheads="1"/>
          </p:cNvSpPr>
          <p:nvPr/>
        </p:nvSpPr>
        <p:spPr bwMode="auto">
          <a:xfrm>
            <a:off x="7464425" y="4478338"/>
            <a:ext cx="1206500" cy="396875"/>
          </a:xfrm>
          <a:prstGeom prst="rect">
            <a:avLst/>
          </a:prstGeom>
          <a:noFill/>
          <a:ln w="19050">
            <a:noFill/>
            <a:miter lim="800000"/>
            <a:tailEnd type="none" w="lg" len="lg"/>
          </a:ln>
          <a:effectLst/>
        </p:spPr>
        <p:txBody>
          <a:bodyPr wrap="none">
            <a:spAutoFit/>
          </a:bodyPr>
          <a:lstStyle/>
          <a:p>
            <a:pPr algn="ctr" eaLnBrk="1" hangingPunct="1">
              <a:defRPr/>
            </a:pPr>
            <a:r>
              <a:rPr kumimoji="0" lang="zh-CN" altLang="en-US" sz="2000" b="1">
                <a:latin typeface="楷体" panose="02010609060101010101" pitchFamily="49" charset="-122"/>
                <a:ea typeface="楷体" panose="02010609060101010101" pitchFamily="49" charset="-122"/>
              </a:rPr>
              <a:t>直接地址</a:t>
            </a:r>
            <a:endParaRPr kumimoji="0" lang="zh-CN" altLang="en-US" sz="2000" b="1">
              <a:latin typeface="楷体" panose="02010609060101010101" pitchFamily="49" charset="-122"/>
              <a:ea typeface="楷体" panose="02010609060101010101" pitchFamily="49" charset="-122"/>
            </a:endParaRPr>
          </a:p>
        </p:txBody>
      </p:sp>
      <p:sp>
        <p:nvSpPr>
          <p:cNvPr id="107659" name="Line 232"/>
          <p:cNvSpPr>
            <a:spLocks noChangeShapeType="1"/>
          </p:cNvSpPr>
          <p:nvPr/>
        </p:nvSpPr>
        <p:spPr bwMode="auto">
          <a:xfrm>
            <a:off x="558800" y="6172200"/>
            <a:ext cx="6100763"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1049" name="Text Box 233"/>
          <p:cNvSpPr txBox="1">
            <a:spLocks noChangeArrowheads="1"/>
          </p:cNvSpPr>
          <p:nvPr/>
        </p:nvSpPr>
        <p:spPr bwMode="auto">
          <a:xfrm>
            <a:off x="2849563" y="5911850"/>
            <a:ext cx="1409700" cy="457200"/>
          </a:xfrm>
          <a:prstGeom prst="rect">
            <a:avLst/>
          </a:prstGeom>
          <a:solidFill>
            <a:schemeClr val="bg1"/>
          </a:solidFill>
          <a:ln w="19050">
            <a:noFill/>
            <a:miter lim="800000"/>
            <a:tailEnd type="none" w="lg" len="lg"/>
          </a:ln>
          <a:effectLst/>
        </p:spPr>
        <p:txBody>
          <a:bodyPr wrap="none">
            <a:spAutoFit/>
          </a:bodyPr>
          <a:lstStyle/>
          <a:p>
            <a:pPr algn="ctr" eaLnBrk="1" hangingPunct="1">
              <a:defRPr/>
            </a:pPr>
            <a:r>
              <a:rPr kumimoji="0" lang="zh-CN" altLang="en-US" sz="2400" b="1" dirty="0">
                <a:latin typeface="楷体" panose="02010609060101010101" pitchFamily="49" charset="-122"/>
                <a:ea typeface="楷体" panose="02010609060101010101" pitchFamily="49" charset="-122"/>
              </a:rPr>
              <a:t>操作控制</a:t>
            </a:r>
            <a:endParaRPr kumimoji="0" lang="zh-CN" altLang="en-US" sz="2400" b="1" dirty="0">
              <a:latin typeface="楷体" panose="02010609060101010101" pitchFamily="49" charset="-122"/>
              <a:ea typeface="楷体" panose="02010609060101010101" pitchFamily="49" charset="-122"/>
            </a:endParaRPr>
          </a:p>
        </p:txBody>
      </p:sp>
      <p:sp>
        <p:nvSpPr>
          <p:cNvPr id="107661" name="Line 234"/>
          <p:cNvSpPr>
            <a:spLocks noChangeShapeType="1"/>
          </p:cNvSpPr>
          <p:nvPr/>
        </p:nvSpPr>
        <p:spPr bwMode="auto">
          <a:xfrm>
            <a:off x="6659563" y="6172200"/>
            <a:ext cx="215741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1051" name="Text Box 235"/>
          <p:cNvSpPr txBox="1">
            <a:spLocks noChangeArrowheads="1"/>
          </p:cNvSpPr>
          <p:nvPr/>
        </p:nvSpPr>
        <p:spPr bwMode="auto">
          <a:xfrm>
            <a:off x="7064375" y="5911850"/>
            <a:ext cx="1409700" cy="457200"/>
          </a:xfrm>
          <a:prstGeom prst="rect">
            <a:avLst/>
          </a:prstGeom>
          <a:solidFill>
            <a:schemeClr val="bg1"/>
          </a:solidFill>
          <a:ln w="19050">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latin typeface="楷体" panose="02010609060101010101" pitchFamily="49" charset="-122"/>
                <a:ea typeface="楷体" panose="02010609060101010101" pitchFamily="49" charset="-122"/>
              </a:rPr>
              <a:t>顺序控制</a:t>
            </a:r>
            <a:endParaRPr kumimoji="0" lang="zh-CN" altLang="en-US" sz="2400" b="1">
              <a:latin typeface="楷体" panose="02010609060101010101" pitchFamily="49" charset="-122"/>
              <a:ea typeface="楷体" panose="02010609060101010101" pitchFamily="49" charset="-122"/>
            </a:endParaRPr>
          </a:p>
        </p:txBody>
      </p:sp>
      <p:graphicFrame>
        <p:nvGraphicFramePr>
          <p:cNvPr id="291073" name="Group 257"/>
          <p:cNvGraphicFramePr>
            <a:graphicFrameLocks noGrp="1"/>
          </p:cNvGraphicFramePr>
          <p:nvPr/>
        </p:nvGraphicFramePr>
        <p:xfrm>
          <a:off x="525462" y="1642455"/>
          <a:ext cx="8291513" cy="457200"/>
        </p:xfrm>
        <a:graphic>
          <a:graphicData uri="http://schemas.openxmlformats.org/drawingml/2006/table">
            <a:tbl>
              <a:tblPr/>
              <a:tblGrid>
                <a:gridCol w="6129338"/>
                <a:gridCol w="728662"/>
                <a:gridCol w="1433513"/>
              </a:tblGrid>
              <a:tr h="227013">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0  0  0  0  0  0  0  0  0  0  0  0  </a:t>
                      </a:r>
                      <a:r>
                        <a:rPr kumimoji="1" lang="en-US" altLang="zh-CN" sz="2400" b="1" i="0" u="none" strike="noStrike" cap="none" normalizeH="0" baseline="0" dirty="0">
                          <a:ln>
                            <a:noFill/>
                          </a:ln>
                          <a:solidFill>
                            <a:srgbClr val="CC3300"/>
                          </a:solidFill>
                          <a:effectLst/>
                          <a:latin typeface="Times New Roman" panose="02020603050405020304" pitchFamily="18" charset="0"/>
                          <a:ea typeface="楷体_GB2312" pitchFamily="49" charset="-122"/>
                        </a:rPr>
                        <a:t>1  1  1  1  1</a:t>
                      </a:r>
                      <a:endParaRPr kumimoji="1" lang="en-US" altLang="zh-CN" sz="2400" b="1" i="0" u="none" strike="noStrike" cap="none" normalizeH="0" baseline="0" dirty="0">
                        <a:ln>
                          <a:noFill/>
                        </a:ln>
                        <a:solidFill>
                          <a:srgbClr val="CC3300"/>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rgbClr val="FF0000"/>
                          </a:solidFill>
                          <a:effectLst/>
                          <a:latin typeface="Times New Roman" panose="02020603050405020304" pitchFamily="18" charset="0"/>
                          <a:ea typeface="楷体_GB2312" pitchFamily="49" charset="-122"/>
                        </a:rPr>
                        <a:t>1</a:t>
                      </a: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  0</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0  0  0  0</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bl>
          </a:graphicData>
        </a:graphic>
      </p:graphicFrame>
    </p:spTree>
  </p:cSld>
  <p:clrMapOvr>
    <a:masterClrMapping/>
  </p:clrMapOvr>
  <p:transition spd="med">
    <p:pull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p:txBody>
          <a:bodyPr/>
          <a:lstStyle/>
          <a:p>
            <a:pPr eaLnBrk="1" hangingPunct="1"/>
            <a:r>
              <a:rPr lang="zh-CN" altLang="en-US"/>
              <a:t>微程序举例（</a:t>
            </a:r>
            <a:r>
              <a:rPr lang="en-US" altLang="zh-CN"/>
              <a:t>5</a:t>
            </a:r>
            <a:r>
              <a:rPr lang="zh-CN" altLang="en-US"/>
              <a:t>）</a:t>
            </a:r>
            <a:endParaRPr lang="zh-CN" altLang="en-US"/>
          </a:p>
        </p:txBody>
      </p:sp>
      <p:sp>
        <p:nvSpPr>
          <p:cNvPr id="109570" name="Rectangle 3"/>
          <p:cNvSpPr>
            <a:spLocks noGrp="1" noChangeArrowheads="1"/>
          </p:cNvSpPr>
          <p:nvPr>
            <p:ph idx="1"/>
          </p:nvPr>
        </p:nvSpPr>
        <p:spPr>
          <a:xfrm>
            <a:off x="179388" y="914400"/>
            <a:ext cx="8736012" cy="5535613"/>
          </a:xfrm>
        </p:spPr>
        <p:txBody>
          <a:bodyPr/>
          <a:lstStyle/>
          <a:p>
            <a:pPr eaLnBrk="1" hangingPunct="1"/>
            <a:r>
              <a:rPr lang="zh-CN" altLang="en-US" sz="2400"/>
              <a:t>在第二个</a:t>
            </a:r>
            <a:r>
              <a:rPr lang="en-US" altLang="zh-CN" sz="2400"/>
              <a:t>CPU</a:t>
            </a:r>
            <a:r>
              <a:rPr lang="zh-CN" altLang="en-US" sz="2400"/>
              <a:t>周期，按照</a:t>
            </a:r>
            <a:r>
              <a:rPr lang="en-US" altLang="zh-CN" sz="2400"/>
              <a:t>1010</a:t>
            </a:r>
            <a:r>
              <a:rPr lang="zh-CN" altLang="en-US" sz="2400"/>
              <a:t>这个微地址读出第二条微指令，其二进制编码是</a:t>
            </a:r>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kumimoji="0" lang="zh-CN" altLang="en-US" sz="2400" b="0"/>
          </a:p>
          <a:p>
            <a:pPr eaLnBrk="1" hangingPunct="1"/>
            <a:r>
              <a:rPr kumimoji="0" lang="zh-CN" altLang="en-US" sz="2400"/>
              <a:t>这条微指令中，操作控制部分发出四个微命令，完成</a:t>
            </a:r>
            <a:r>
              <a:rPr kumimoji="0" lang="en-US" altLang="zh-CN" sz="2400"/>
              <a:t>R1+R2→R2</a:t>
            </a:r>
            <a:r>
              <a:rPr kumimoji="0" lang="zh-CN" altLang="en-US" sz="2400"/>
              <a:t>运算</a:t>
            </a:r>
            <a:endParaRPr kumimoji="0" lang="en-US" altLang="zh-CN" sz="2400"/>
          </a:p>
          <a:p>
            <a:pPr eaLnBrk="1" hangingPunct="1">
              <a:buFont typeface="Wingdings 2" pitchFamily="18" charset="2"/>
              <a:buNone/>
            </a:pPr>
            <a:r>
              <a:rPr kumimoji="0" lang="zh-CN" altLang="en-US" sz="2800"/>
              <a:t>   </a:t>
            </a:r>
            <a:r>
              <a:rPr kumimoji="0" lang="zh-CN" altLang="en-US" sz="2400"/>
              <a:t>顺序控制部分由于判别测试字段</a:t>
            </a:r>
            <a:r>
              <a:rPr kumimoji="0" lang="en-US" altLang="zh-CN" sz="2400"/>
              <a:t>P1</a:t>
            </a:r>
            <a:r>
              <a:rPr kumimoji="0" lang="zh-CN" altLang="en-US" sz="2400"/>
              <a:t>和</a:t>
            </a:r>
            <a:r>
              <a:rPr kumimoji="0" lang="en-US" altLang="zh-CN" sz="2400"/>
              <a:t>P2</a:t>
            </a:r>
            <a:r>
              <a:rPr kumimoji="0" lang="zh-CN" altLang="en-US" sz="2400"/>
              <a:t>均为</a:t>
            </a:r>
            <a:r>
              <a:rPr kumimoji="0" lang="en-US" altLang="zh-CN" sz="2400"/>
              <a:t>0</a:t>
            </a:r>
            <a:r>
              <a:rPr kumimoji="0" lang="zh-CN" altLang="en-US" sz="2400"/>
              <a:t>，表示不进行测试，于是直接给出下一条微指令的地址为</a:t>
            </a:r>
            <a:r>
              <a:rPr kumimoji="0" lang="en-US" altLang="zh-CN" sz="2400"/>
              <a:t>1001</a:t>
            </a:r>
            <a:endParaRPr kumimoji="0" lang="zh-CN" altLang="en-US" sz="2400"/>
          </a:p>
        </p:txBody>
      </p:sp>
      <p:graphicFrame>
        <p:nvGraphicFramePr>
          <p:cNvPr id="293892" name="Group 4"/>
          <p:cNvGraphicFramePr>
            <a:graphicFrameLocks noGrp="1"/>
          </p:cNvGraphicFramePr>
          <p:nvPr/>
        </p:nvGraphicFramePr>
        <p:xfrm>
          <a:off x="536575" y="3330575"/>
          <a:ext cx="8253413" cy="1122363"/>
        </p:xfrm>
        <a:graphic>
          <a:graphicData uri="http://schemas.openxmlformats.org/drawingml/2006/table">
            <a:tbl>
              <a:tblPr/>
              <a:tblGrid>
                <a:gridCol w="358775"/>
                <a:gridCol w="358775"/>
                <a:gridCol w="358775"/>
                <a:gridCol w="358775"/>
                <a:gridCol w="360363"/>
                <a:gridCol w="358775"/>
                <a:gridCol w="358775"/>
                <a:gridCol w="358775"/>
                <a:gridCol w="358775"/>
                <a:gridCol w="358775"/>
                <a:gridCol w="358775"/>
                <a:gridCol w="357187"/>
                <a:gridCol w="358775"/>
                <a:gridCol w="358775"/>
                <a:gridCol w="358775"/>
                <a:gridCol w="358775"/>
                <a:gridCol w="358775"/>
                <a:gridCol w="358775"/>
                <a:gridCol w="360363"/>
                <a:gridCol w="358775"/>
                <a:gridCol w="358775"/>
                <a:gridCol w="358775"/>
                <a:gridCol w="358775"/>
              </a:tblGrid>
              <a:tr h="398422">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72394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23</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r>
            </a:tbl>
          </a:graphicData>
        </a:graphic>
      </p:graphicFrame>
      <p:graphicFrame>
        <p:nvGraphicFramePr>
          <p:cNvPr id="293992" name="Group 104"/>
          <p:cNvGraphicFramePr>
            <a:graphicFrameLocks noGrp="1"/>
          </p:cNvGraphicFramePr>
          <p:nvPr/>
        </p:nvGraphicFramePr>
        <p:xfrm>
          <a:off x="565150" y="3355975"/>
          <a:ext cx="8196263" cy="331788"/>
        </p:xfrm>
        <a:graphic>
          <a:graphicData uri="http://schemas.openxmlformats.org/drawingml/2006/table">
            <a:tbl>
              <a:tblPr/>
              <a:tblGrid>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tblGrid>
              <a:tr h="331788">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cap="flat">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cap="flat">
                      <a:noFill/>
                    </a:lnR>
                    <a:lnT cap="flat">
                      <a:noFill/>
                    </a:lnT>
                    <a:lnB cap="flat">
                      <a:noFill/>
                    </a:lnB>
                    <a:lnTlToBr>
                      <a:noFill/>
                    </a:lnTlToBr>
                    <a:lnBlToTr>
                      <a:noFill/>
                    </a:lnBlToTr>
                    <a:solidFill>
                      <a:schemeClr val="bg1"/>
                    </a:solidFill>
                  </a:tcPr>
                </a:tc>
              </a:tr>
            </a:tbl>
          </a:graphicData>
        </a:graphic>
      </p:graphicFrame>
      <p:sp>
        <p:nvSpPr>
          <p:cNvPr id="109669" name="Line 176"/>
          <p:cNvSpPr>
            <a:spLocks noChangeShapeType="1"/>
          </p:cNvSpPr>
          <p:nvPr/>
        </p:nvSpPr>
        <p:spPr bwMode="auto">
          <a:xfrm>
            <a:off x="6637338" y="3330575"/>
            <a:ext cx="0" cy="6000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670" name="Line 177"/>
          <p:cNvSpPr>
            <a:spLocks noChangeShapeType="1"/>
          </p:cNvSpPr>
          <p:nvPr/>
        </p:nvSpPr>
        <p:spPr bwMode="auto">
          <a:xfrm>
            <a:off x="698500" y="25876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671" name="Line 178"/>
          <p:cNvSpPr>
            <a:spLocks noChangeShapeType="1"/>
          </p:cNvSpPr>
          <p:nvPr/>
        </p:nvSpPr>
        <p:spPr bwMode="auto">
          <a:xfrm>
            <a:off x="1084263" y="30019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4067" name="Text Box 179"/>
          <p:cNvSpPr txBox="1">
            <a:spLocks noChangeArrowheads="1"/>
          </p:cNvSpPr>
          <p:nvPr/>
        </p:nvSpPr>
        <p:spPr bwMode="auto">
          <a:xfrm>
            <a:off x="220663" y="2262188"/>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068" name="Text Box 180"/>
          <p:cNvSpPr txBox="1">
            <a:spLocks noChangeArrowheads="1"/>
          </p:cNvSpPr>
          <p:nvPr/>
        </p:nvSpPr>
        <p:spPr bwMode="auto">
          <a:xfrm>
            <a:off x="635000" y="2676525"/>
            <a:ext cx="8810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674" name="Line 181"/>
          <p:cNvSpPr>
            <a:spLocks noChangeShapeType="1"/>
          </p:cNvSpPr>
          <p:nvPr/>
        </p:nvSpPr>
        <p:spPr bwMode="auto">
          <a:xfrm>
            <a:off x="1455738" y="25876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4070" name="Text Box 182"/>
          <p:cNvSpPr txBox="1">
            <a:spLocks noChangeArrowheads="1"/>
          </p:cNvSpPr>
          <p:nvPr/>
        </p:nvSpPr>
        <p:spPr bwMode="auto">
          <a:xfrm>
            <a:off x="992188" y="2262188"/>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676" name="Line 183"/>
          <p:cNvSpPr>
            <a:spLocks noChangeShapeType="1"/>
          </p:cNvSpPr>
          <p:nvPr/>
        </p:nvSpPr>
        <p:spPr bwMode="auto">
          <a:xfrm>
            <a:off x="1798638" y="30019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4072" name="Text Box 184"/>
          <p:cNvSpPr txBox="1">
            <a:spLocks noChangeArrowheads="1"/>
          </p:cNvSpPr>
          <p:nvPr/>
        </p:nvSpPr>
        <p:spPr bwMode="auto">
          <a:xfrm>
            <a:off x="1420813" y="2660650"/>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678" name="Line 185"/>
          <p:cNvSpPr>
            <a:spLocks noChangeShapeType="1"/>
          </p:cNvSpPr>
          <p:nvPr/>
        </p:nvSpPr>
        <p:spPr bwMode="auto">
          <a:xfrm>
            <a:off x="1741488" y="2859088"/>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sp>
        <p:nvSpPr>
          <p:cNvPr id="109679" name="Line 186"/>
          <p:cNvSpPr>
            <a:spLocks noChangeShapeType="1"/>
          </p:cNvSpPr>
          <p:nvPr/>
        </p:nvSpPr>
        <p:spPr bwMode="auto">
          <a:xfrm>
            <a:off x="2155825" y="2601913"/>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09680" name="Group 187"/>
          <p:cNvGrpSpPr/>
          <p:nvPr/>
        </p:nvGrpSpPr>
        <p:grpSpPr bwMode="auto">
          <a:xfrm>
            <a:off x="1820863" y="2260600"/>
            <a:ext cx="690562" cy="396875"/>
            <a:chOff x="1121" y="2395"/>
            <a:chExt cx="435" cy="250"/>
          </a:xfrm>
        </p:grpSpPr>
        <p:sp>
          <p:nvSpPr>
            <p:cNvPr id="294076" name="Text Box 188"/>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738" name="Line 189"/>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109681" name="Line 190"/>
          <p:cNvSpPr>
            <a:spLocks noChangeShapeType="1"/>
          </p:cNvSpPr>
          <p:nvPr/>
        </p:nvSpPr>
        <p:spPr bwMode="auto">
          <a:xfrm>
            <a:off x="2498725" y="30019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09682" name="Group 191"/>
          <p:cNvGrpSpPr/>
          <p:nvPr/>
        </p:nvGrpSpPr>
        <p:grpSpPr bwMode="auto">
          <a:xfrm>
            <a:off x="2857500" y="2603500"/>
            <a:ext cx="1042988" cy="728663"/>
            <a:chOff x="1774" y="2638"/>
            <a:chExt cx="657" cy="459"/>
          </a:xfrm>
        </p:grpSpPr>
        <p:sp>
          <p:nvSpPr>
            <p:cNvPr id="109733" name="Line 19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34" name="Line 19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35" name="Line 19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36" name="Line 19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09683" name="Group 196"/>
          <p:cNvGrpSpPr/>
          <p:nvPr/>
        </p:nvGrpSpPr>
        <p:grpSpPr bwMode="auto">
          <a:xfrm>
            <a:off x="4300538" y="2603500"/>
            <a:ext cx="1042987" cy="728663"/>
            <a:chOff x="1774" y="2638"/>
            <a:chExt cx="657" cy="459"/>
          </a:xfrm>
        </p:grpSpPr>
        <p:sp>
          <p:nvSpPr>
            <p:cNvPr id="109729" name="Line 197"/>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30" name="Line 198"/>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31" name="Line 199"/>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32" name="Line 200"/>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09684" name="Group 201"/>
          <p:cNvGrpSpPr/>
          <p:nvPr/>
        </p:nvGrpSpPr>
        <p:grpSpPr bwMode="auto">
          <a:xfrm>
            <a:off x="5729288" y="2603500"/>
            <a:ext cx="1042987" cy="728663"/>
            <a:chOff x="1774" y="2638"/>
            <a:chExt cx="657" cy="459"/>
          </a:xfrm>
        </p:grpSpPr>
        <p:sp>
          <p:nvSpPr>
            <p:cNvPr id="109725" name="Line 20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26" name="Line 20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27" name="Line 20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728" name="Line 20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109685" name="Line 206"/>
          <p:cNvSpPr>
            <a:spLocks noChangeShapeType="1"/>
          </p:cNvSpPr>
          <p:nvPr/>
        </p:nvSpPr>
        <p:spPr bwMode="auto">
          <a:xfrm>
            <a:off x="7158038" y="2603500"/>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686" name="Line 207"/>
          <p:cNvSpPr>
            <a:spLocks noChangeShapeType="1"/>
          </p:cNvSpPr>
          <p:nvPr/>
        </p:nvSpPr>
        <p:spPr bwMode="auto">
          <a:xfrm>
            <a:off x="7500938" y="30035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687" name="Line 208"/>
          <p:cNvSpPr>
            <a:spLocks noChangeShapeType="1"/>
          </p:cNvSpPr>
          <p:nvPr/>
        </p:nvSpPr>
        <p:spPr bwMode="auto">
          <a:xfrm>
            <a:off x="7858125" y="3003550"/>
            <a:ext cx="0" cy="32861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688" name="Line 209"/>
          <p:cNvSpPr>
            <a:spLocks noChangeShapeType="1"/>
          </p:cNvSpPr>
          <p:nvPr/>
        </p:nvSpPr>
        <p:spPr bwMode="auto">
          <a:xfrm>
            <a:off x="8201025" y="30035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09689" name="Line 210"/>
          <p:cNvSpPr>
            <a:spLocks noChangeShapeType="1"/>
          </p:cNvSpPr>
          <p:nvPr/>
        </p:nvSpPr>
        <p:spPr bwMode="auto">
          <a:xfrm>
            <a:off x="8570913" y="3001963"/>
            <a:ext cx="0" cy="32861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4099" name="Text Box 211"/>
          <p:cNvSpPr txBox="1">
            <a:spLocks noChangeArrowheads="1"/>
          </p:cNvSpPr>
          <p:nvPr/>
        </p:nvSpPr>
        <p:spPr bwMode="auto">
          <a:xfrm>
            <a:off x="2163763" y="2660650"/>
            <a:ext cx="704850" cy="4000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dirty="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dirty="0">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dirty="0">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691" name="Line 212"/>
          <p:cNvSpPr>
            <a:spLocks noChangeShapeType="1"/>
          </p:cNvSpPr>
          <p:nvPr/>
        </p:nvSpPr>
        <p:spPr bwMode="auto">
          <a:xfrm>
            <a:off x="2484438" y="2859088"/>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09692" name="Group 213"/>
          <p:cNvGrpSpPr/>
          <p:nvPr/>
        </p:nvGrpSpPr>
        <p:grpSpPr bwMode="auto">
          <a:xfrm>
            <a:off x="2535238" y="2260600"/>
            <a:ext cx="700087" cy="400050"/>
            <a:chOff x="1121" y="2395"/>
            <a:chExt cx="441" cy="252"/>
          </a:xfrm>
        </p:grpSpPr>
        <p:sp>
          <p:nvSpPr>
            <p:cNvPr id="294102" name="Text Box 214"/>
            <p:cNvSpPr txBox="1">
              <a:spLocks noChangeArrowheads="1"/>
            </p:cNvSpPr>
            <p:nvPr/>
          </p:nvSpPr>
          <p:spPr bwMode="auto">
            <a:xfrm>
              <a:off x="1121" y="2395"/>
              <a:ext cx="441" cy="252"/>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dirty="0">
                <a:solidFill>
                  <a:srgbClr val="C0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724" name="Line 215"/>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4104" name="Text Box 216"/>
          <p:cNvSpPr txBox="1">
            <a:spLocks noChangeArrowheads="1"/>
          </p:cNvSpPr>
          <p:nvPr/>
        </p:nvSpPr>
        <p:spPr bwMode="auto">
          <a:xfrm>
            <a:off x="2792413" y="2660650"/>
            <a:ext cx="830262" cy="396875"/>
          </a:xfrm>
          <a:prstGeom prst="rect">
            <a:avLst/>
          </a:prstGeom>
          <a:noFill/>
          <a:ln w="19050">
            <a:noFill/>
            <a:miter lim="800000"/>
            <a:tailEnd type="none" w="lg" len="lg"/>
          </a:ln>
          <a:effectLst/>
        </p:spPr>
        <p:txBody>
          <a:bodyPr wrap="none">
            <a:spAutoFit/>
          </a:bodyPr>
          <a:lstStyle/>
          <a:p>
            <a:pPr algn="ct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694" name="Line 217"/>
          <p:cNvSpPr>
            <a:spLocks noChangeShapeType="1"/>
          </p:cNvSpPr>
          <p:nvPr/>
        </p:nvSpPr>
        <p:spPr bwMode="auto">
          <a:xfrm>
            <a:off x="3255963" y="2859088"/>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09695" name="Group 218"/>
          <p:cNvGrpSpPr/>
          <p:nvPr/>
        </p:nvGrpSpPr>
        <p:grpSpPr bwMode="auto">
          <a:xfrm>
            <a:off x="3235325" y="2260600"/>
            <a:ext cx="690563" cy="396875"/>
            <a:chOff x="1121" y="2395"/>
            <a:chExt cx="435" cy="250"/>
          </a:xfrm>
        </p:grpSpPr>
        <p:sp>
          <p:nvSpPr>
            <p:cNvPr id="294107" name="Text Box 219"/>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09722" name="Line 220"/>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4109" name="Text Box 221"/>
          <p:cNvSpPr txBox="1">
            <a:spLocks noChangeArrowheads="1"/>
          </p:cNvSpPr>
          <p:nvPr/>
        </p:nvSpPr>
        <p:spPr bwMode="auto">
          <a:xfrm>
            <a:off x="3721100" y="2660650"/>
            <a:ext cx="39211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0" name="Text Box 222"/>
          <p:cNvSpPr txBox="1">
            <a:spLocks noChangeArrowheads="1"/>
          </p:cNvSpPr>
          <p:nvPr/>
        </p:nvSpPr>
        <p:spPr bwMode="auto">
          <a:xfrm>
            <a:off x="4092575" y="2260600"/>
            <a:ext cx="41116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M</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1" name="Text Box 223"/>
          <p:cNvSpPr txBox="1">
            <a:spLocks noChangeArrowheads="1"/>
          </p:cNvSpPr>
          <p:nvPr/>
        </p:nvSpPr>
        <p:spPr bwMode="auto">
          <a:xfrm>
            <a:off x="4421188" y="2679700"/>
            <a:ext cx="439737" cy="396875"/>
          </a:xfrm>
          <a:prstGeom prst="rect">
            <a:avLst/>
          </a:prstGeom>
          <a:noFill/>
          <a:ln w="19050">
            <a:noFill/>
            <a:miter lim="800000"/>
            <a:tailEnd type="none" w="lg" len="lg"/>
          </a:ln>
          <a:effectLst/>
        </p:spPr>
        <p:txBody>
          <a:bodyPr wrap="none">
            <a:spAutoFit/>
          </a:bodyPr>
          <a:lstStyle/>
          <a:p>
            <a:pPr algn="ctr" eaLnBrk="1" hangingPunct="1">
              <a:defRPr/>
            </a:pPr>
            <a:r>
              <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2" name="Text Box 224"/>
          <p:cNvSpPr txBox="1">
            <a:spLocks noChangeArrowheads="1"/>
          </p:cNvSpPr>
          <p:nvPr/>
        </p:nvSpPr>
        <p:spPr bwMode="auto">
          <a:xfrm>
            <a:off x="4678363" y="2262188"/>
            <a:ext cx="63023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RD’</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3" name="Text Box 225"/>
          <p:cNvSpPr txBox="1">
            <a:spLocks noChangeArrowheads="1"/>
          </p:cNvSpPr>
          <p:nvPr/>
        </p:nvSpPr>
        <p:spPr bwMode="auto">
          <a:xfrm>
            <a:off x="4849813" y="2676525"/>
            <a:ext cx="968375" cy="396875"/>
          </a:xfrm>
          <a:prstGeom prst="rect">
            <a:avLst/>
          </a:prstGeom>
          <a:noFill/>
          <a:ln w="19050">
            <a:noFill/>
            <a:miter lim="800000"/>
            <a:tailEnd type="none" w="lg" len="lg"/>
          </a:ln>
          <a:effectLst/>
        </p:spPr>
        <p:txBody>
          <a:bodyPr wrap="none">
            <a:spAutoFit/>
          </a:bodyPr>
          <a:lstStyle/>
          <a:p>
            <a:pPr algn="ct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LDDR’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4" name="Text Box 226"/>
          <p:cNvSpPr txBox="1">
            <a:spLocks noChangeArrowheads="1"/>
          </p:cNvSpPr>
          <p:nvPr/>
        </p:nvSpPr>
        <p:spPr bwMode="auto">
          <a:xfrm>
            <a:off x="5292725" y="2262188"/>
            <a:ext cx="8985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LDIR’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5" name="Text Box 227"/>
          <p:cNvSpPr txBox="1">
            <a:spLocks noChangeArrowheads="1"/>
          </p:cNvSpPr>
          <p:nvPr/>
        </p:nvSpPr>
        <p:spPr bwMode="auto">
          <a:xfrm>
            <a:off x="5664200" y="2676525"/>
            <a:ext cx="950913" cy="396875"/>
          </a:xfrm>
          <a:prstGeom prst="rect">
            <a:avLst/>
          </a:prstGeom>
          <a:noFill/>
          <a:ln w="19050">
            <a:noFill/>
            <a:miter lim="800000"/>
            <a:tailEnd type="none" w="lg" len="lg"/>
          </a:ln>
          <a:effectLst/>
        </p:spPr>
        <p:txBody>
          <a:bodyPr wrap="none">
            <a:spAutoFit/>
          </a:bodyPr>
          <a:lstStyle/>
          <a:p>
            <a:pPr algn="ct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LDAR’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6" name="Text Box 228"/>
          <p:cNvSpPr txBox="1">
            <a:spLocks noChangeArrowheads="1"/>
          </p:cNvSpPr>
          <p:nvPr/>
        </p:nvSpPr>
        <p:spPr bwMode="auto">
          <a:xfrm>
            <a:off x="6049963" y="2260600"/>
            <a:ext cx="89058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PC+1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7" name="Text Box 229"/>
          <p:cNvSpPr txBox="1">
            <a:spLocks noChangeArrowheads="1"/>
          </p:cNvSpPr>
          <p:nvPr/>
        </p:nvSpPr>
        <p:spPr bwMode="auto">
          <a:xfrm>
            <a:off x="6535738" y="2674938"/>
            <a:ext cx="512762" cy="396875"/>
          </a:xfrm>
          <a:prstGeom prst="rect">
            <a:avLst/>
          </a:prstGeom>
          <a:noFill/>
          <a:ln w="19050">
            <a:noFill/>
            <a:miter lim="800000"/>
            <a:tailEnd type="none" w="lg" len="lg"/>
          </a:ln>
          <a:effectLst/>
        </p:spPr>
        <p:txBody>
          <a:bodyPr wrap="none">
            <a:spAutoFit/>
          </a:bodyPr>
          <a:lstStyle/>
          <a:p>
            <a:pPr algn="ct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8" name="Text Box 230"/>
          <p:cNvSpPr txBox="1">
            <a:spLocks noChangeArrowheads="1"/>
          </p:cNvSpPr>
          <p:nvPr/>
        </p:nvSpPr>
        <p:spPr bwMode="auto">
          <a:xfrm>
            <a:off x="6921500" y="2260600"/>
            <a:ext cx="5127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P2</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4119" name="Text Box 231"/>
          <p:cNvSpPr txBox="1">
            <a:spLocks noChangeArrowheads="1"/>
          </p:cNvSpPr>
          <p:nvPr/>
        </p:nvSpPr>
        <p:spPr bwMode="auto">
          <a:xfrm>
            <a:off x="7432675" y="2636838"/>
            <a:ext cx="1206500" cy="396875"/>
          </a:xfrm>
          <a:prstGeom prst="rect">
            <a:avLst/>
          </a:prstGeom>
          <a:noFill/>
          <a:ln w="19050">
            <a:noFill/>
            <a:miter lim="800000"/>
            <a:tailEnd type="none" w="lg" len="lg"/>
          </a:ln>
          <a:effectLst/>
        </p:spPr>
        <p:txBody>
          <a:bodyPr wrap="none">
            <a:spAutoFit/>
          </a:bodyPr>
          <a:lstStyle/>
          <a:p>
            <a:pPr algn="ctr" eaLnBrk="1" hangingPunct="1">
              <a:defRPr/>
            </a:pPr>
            <a:r>
              <a:rPr kumimoji="0" lang="zh-CN" altLang="en-US" sz="2000" b="1">
                <a:latin typeface="楷体" panose="02010609060101010101" pitchFamily="49" charset="-122"/>
                <a:ea typeface="楷体" panose="02010609060101010101" pitchFamily="49" charset="-122"/>
              </a:rPr>
              <a:t>直接地址</a:t>
            </a:r>
            <a:endParaRPr kumimoji="0" lang="zh-CN" altLang="en-US" sz="2000" b="1">
              <a:latin typeface="楷体" panose="02010609060101010101" pitchFamily="49" charset="-122"/>
              <a:ea typeface="楷体" panose="02010609060101010101" pitchFamily="49" charset="-122"/>
            </a:endParaRPr>
          </a:p>
        </p:txBody>
      </p:sp>
      <p:sp>
        <p:nvSpPr>
          <p:cNvPr id="109707" name="Line 232"/>
          <p:cNvSpPr>
            <a:spLocks noChangeShapeType="1"/>
          </p:cNvSpPr>
          <p:nvPr/>
        </p:nvSpPr>
        <p:spPr bwMode="auto">
          <a:xfrm>
            <a:off x="527050" y="4330700"/>
            <a:ext cx="6100763"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4121" name="Text Box 233"/>
          <p:cNvSpPr txBox="1">
            <a:spLocks noChangeArrowheads="1"/>
          </p:cNvSpPr>
          <p:nvPr/>
        </p:nvSpPr>
        <p:spPr bwMode="auto">
          <a:xfrm>
            <a:off x="2817813" y="4070350"/>
            <a:ext cx="1409700" cy="457200"/>
          </a:xfrm>
          <a:prstGeom prst="rect">
            <a:avLst/>
          </a:prstGeom>
          <a:solidFill>
            <a:schemeClr val="bg1"/>
          </a:solidFill>
          <a:ln w="19050">
            <a:noFill/>
            <a:miter lim="800000"/>
            <a:tailEnd type="none" w="lg" len="lg"/>
          </a:ln>
          <a:effectLst/>
        </p:spPr>
        <p:txBody>
          <a:bodyPr wrap="none">
            <a:spAutoFit/>
          </a:bodyPr>
          <a:lstStyle/>
          <a:p>
            <a:pPr algn="ctr" eaLnBrk="1" hangingPunct="1">
              <a:defRPr/>
            </a:pPr>
            <a:r>
              <a:rPr kumimoji="0" lang="zh-CN" altLang="en-US" sz="2400" b="1">
                <a:latin typeface="楷体" panose="02010609060101010101" pitchFamily="49" charset="-122"/>
                <a:ea typeface="楷体" panose="02010609060101010101" pitchFamily="49" charset="-122"/>
              </a:rPr>
              <a:t>操作控制</a:t>
            </a:r>
            <a:endParaRPr kumimoji="0" lang="zh-CN" altLang="en-US" sz="2400" b="1">
              <a:latin typeface="楷体" panose="02010609060101010101" pitchFamily="49" charset="-122"/>
              <a:ea typeface="楷体" panose="02010609060101010101" pitchFamily="49" charset="-122"/>
            </a:endParaRPr>
          </a:p>
        </p:txBody>
      </p:sp>
      <p:sp>
        <p:nvSpPr>
          <p:cNvPr id="109709" name="Line 234"/>
          <p:cNvSpPr>
            <a:spLocks noChangeShapeType="1"/>
          </p:cNvSpPr>
          <p:nvPr/>
        </p:nvSpPr>
        <p:spPr bwMode="auto">
          <a:xfrm>
            <a:off x="6627813" y="4330700"/>
            <a:ext cx="215741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4123" name="Text Box 235"/>
          <p:cNvSpPr txBox="1">
            <a:spLocks noChangeArrowheads="1"/>
          </p:cNvSpPr>
          <p:nvPr/>
        </p:nvSpPr>
        <p:spPr bwMode="auto">
          <a:xfrm>
            <a:off x="7032625" y="4070350"/>
            <a:ext cx="1409700" cy="457200"/>
          </a:xfrm>
          <a:prstGeom prst="rect">
            <a:avLst/>
          </a:prstGeom>
          <a:solidFill>
            <a:schemeClr val="bg1"/>
          </a:solidFill>
          <a:ln w="19050">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latin typeface="楷体" panose="02010609060101010101" pitchFamily="49" charset="-122"/>
                <a:ea typeface="楷体" panose="02010609060101010101" pitchFamily="49" charset="-122"/>
              </a:rPr>
              <a:t>顺序控制</a:t>
            </a:r>
            <a:endParaRPr kumimoji="0" lang="zh-CN" altLang="en-US" sz="2400" b="1">
              <a:latin typeface="楷体" panose="02010609060101010101" pitchFamily="49" charset="-122"/>
              <a:ea typeface="楷体" panose="02010609060101010101" pitchFamily="49" charset="-122"/>
            </a:endParaRPr>
          </a:p>
        </p:txBody>
      </p:sp>
      <p:graphicFrame>
        <p:nvGraphicFramePr>
          <p:cNvPr id="294135" name="Group 247"/>
          <p:cNvGraphicFramePr>
            <a:graphicFrameLocks noGrp="1"/>
          </p:cNvGraphicFramePr>
          <p:nvPr/>
        </p:nvGraphicFramePr>
        <p:xfrm>
          <a:off x="527050" y="1740274"/>
          <a:ext cx="8291513" cy="457200"/>
        </p:xfrm>
        <a:graphic>
          <a:graphicData uri="http://schemas.openxmlformats.org/drawingml/2006/table">
            <a:tbl>
              <a:tblPr/>
              <a:tblGrid>
                <a:gridCol w="6129338"/>
                <a:gridCol w="728662"/>
                <a:gridCol w="1433513"/>
              </a:tblGrid>
              <a:tr h="455613">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 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0  0  0  0  0  0  0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1  0  0  1</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bl>
          </a:graphicData>
        </a:graphic>
      </p:graphicFrame>
    </p:spTree>
  </p:cSld>
  <p:clrMapOvr>
    <a:masterClrMapping/>
  </p:clrMapOvr>
  <p:transition spd="med">
    <p:pull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p:txBody>
          <a:bodyPr/>
          <a:lstStyle/>
          <a:p>
            <a:pPr eaLnBrk="1" hangingPunct="1"/>
            <a:r>
              <a:rPr lang="zh-CN" altLang="en-US"/>
              <a:t>微程序举例（</a:t>
            </a:r>
            <a:r>
              <a:rPr lang="en-US" altLang="zh-CN"/>
              <a:t>6</a:t>
            </a:r>
            <a:r>
              <a:rPr lang="zh-CN" altLang="en-US"/>
              <a:t>）</a:t>
            </a:r>
            <a:endParaRPr lang="zh-CN" altLang="en-US"/>
          </a:p>
        </p:txBody>
      </p:sp>
      <p:sp>
        <p:nvSpPr>
          <p:cNvPr id="110594" name="Rectangle 3"/>
          <p:cNvSpPr>
            <a:spLocks noGrp="1" noChangeArrowheads="1"/>
          </p:cNvSpPr>
          <p:nvPr>
            <p:ph idx="1"/>
          </p:nvPr>
        </p:nvSpPr>
        <p:spPr>
          <a:xfrm>
            <a:off x="179388" y="914400"/>
            <a:ext cx="8736012" cy="5594350"/>
          </a:xfrm>
        </p:spPr>
        <p:txBody>
          <a:bodyPr/>
          <a:lstStyle/>
          <a:p>
            <a:pPr eaLnBrk="1" hangingPunct="1">
              <a:lnSpc>
                <a:spcPct val="90000"/>
              </a:lnSpc>
            </a:pPr>
            <a:r>
              <a:rPr lang="zh-CN" altLang="en-US" sz="2400"/>
              <a:t>在第三个</a:t>
            </a:r>
            <a:r>
              <a:rPr lang="en-US" altLang="zh-CN" sz="2400"/>
              <a:t>CPU</a:t>
            </a:r>
            <a:r>
              <a:rPr lang="zh-CN" altLang="en-US" sz="2400"/>
              <a:t>周期，按照</a:t>
            </a:r>
            <a:r>
              <a:rPr lang="en-US" altLang="zh-CN" sz="2400"/>
              <a:t>1001</a:t>
            </a:r>
            <a:r>
              <a:rPr lang="zh-CN" altLang="en-US" sz="2400"/>
              <a:t>这个微地址读出第三条微指令，其二进制编码是</a:t>
            </a: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lang="zh-CN" altLang="en-US" sz="2400"/>
          </a:p>
          <a:p>
            <a:pPr eaLnBrk="1" hangingPunct="1">
              <a:lnSpc>
                <a:spcPct val="90000"/>
              </a:lnSpc>
            </a:pPr>
            <a:endParaRPr kumimoji="0" lang="zh-CN" altLang="en-US" sz="2400"/>
          </a:p>
          <a:p>
            <a:pPr eaLnBrk="1" hangingPunct="1">
              <a:lnSpc>
                <a:spcPct val="90000"/>
              </a:lnSpc>
            </a:pPr>
            <a:r>
              <a:rPr kumimoji="0" lang="zh-CN" altLang="en-US" sz="2400"/>
              <a:t>这条微指令中，操作控制部分发出四个微命令，完成</a:t>
            </a:r>
            <a:r>
              <a:rPr kumimoji="0" lang="en-US" altLang="zh-CN" sz="2400"/>
              <a:t>R2+R3→R2</a:t>
            </a:r>
            <a:r>
              <a:rPr kumimoji="0" lang="zh-CN" altLang="en-US" sz="2400"/>
              <a:t>运算</a:t>
            </a:r>
            <a:endParaRPr kumimoji="0" lang="en-US" altLang="zh-CN" sz="2400"/>
          </a:p>
          <a:p>
            <a:pPr eaLnBrk="1" hangingPunct="1">
              <a:lnSpc>
                <a:spcPct val="90000"/>
              </a:lnSpc>
            </a:pPr>
            <a:r>
              <a:rPr kumimoji="0" lang="zh-CN" altLang="en-US" sz="2400"/>
              <a:t>顺序控制部分的测试字段</a:t>
            </a:r>
            <a:r>
              <a:rPr kumimoji="0" lang="en-US" altLang="zh-CN" sz="2400"/>
              <a:t>P2</a:t>
            </a:r>
            <a:r>
              <a:rPr kumimoji="0" lang="zh-CN" altLang="en-US" sz="2400"/>
              <a:t>为</a:t>
            </a:r>
            <a:r>
              <a:rPr kumimoji="0" lang="en-US" altLang="zh-CN" sz="2400"/>
              <a:t>1</a:t>
            </a:r>
            <a:r>
              <a:rPr kumimoji="0" lang="zh-CN" altLang="en-US" sz="2400"/>
              <a:t>，表示需要进行</a:t>
            </a:r>
            <a:r>
              <a:rPr kumimoji="0" lang="en-US" altLang="zh-CN" sz="2400"/>
              <a:t>P2</a:t>
            </a:r>
            <a:r>
              <a:rPr kumimoji="0" lang="zh-CN" altLang="en-US" sz="2400"/>
              <a:t>测试，</a:t>
            </a:r>
            <a:r>
              <a:rPr kumimoji="0" lang="en-US" altLang="zh-CN" sz="2400"/>
              <a:t>P2</a:t>
            </a:r>
            <a:r>
              <a:rPr kumimoji="0" lang="zh-CN" altLang="en-US" sz="2400"/>
              <a:t>测试就是检测标志位</a:t>
            </a:r>
            <a:r>
              <a:rPr kumimoji="0" lang="en-US" altLang="zh-CN" sz="2400"/>
              <a:t>Cy</a:t>
            </a:r>
            <a:r>
              <a:rPr kumimoji="0" lang="zh-CN" altLang="en-US" sz="2400"/>
              <a:t>，当</a:t>
            </a:r>
            <a:r>
              <a:rPr kumimoji="0" lang="en-US" altLang="zh-CN" sz="2400"/>
              <a:t>Cy</a:t>
            </a:r>
            <a:r>
              <a:rPr kumimoji="0" lang="zh-CN" altLang="en-US" sz="2400"/>
              <a:t>＝</a:t>
            </a:r>
            <a:r>
              <a:rPr kumimoji="0" lang="en-US" altLang="zh-CN" sz="2400"/>
              <a:t>0</a:t>
            </a:r>
            <a:r>
              <a:rPr kumimoji="0" lang="zh-CN" altLang="en-US" sz="2400"/>
              <a:t>时，下一条微指令的地址为</a:t>
            </a:r>
            <a:r>
              <a:rPr kumimoji="0" lang="en-US" altLang="zh-CN" sz="2400"/>
              <a:t>0001</a:t>
            </a:r>
            <a:r>
              <a:rPr kumimoji="0" lang="zh-CN" altLang="en-US" sz="2400"/>
              <a:t>；而当</a:t>
            </a:r>
            <a:r>
              <a:rPr kumimoji="0" lang="en-US" altLang="zh-CN" sz="2400"/>
              <a:t>Cy</a:t>
            </a:r>
            <a:r>
              <a:rPr kumimoji="0" lang="zh-CN" altLang="en-US" sz="2400"/>
              <a:t>＝</a:t>
            </a:r>
            <a:r>
              <a:rPr kumimoji="0" lang="en-US" altLang="zh-CN" sz="2400"/>
              <a:t>1</a:t>
            </a:r>
            <a:r>
              <a:rPr kumimoji="0" lang="zh-CN" altLang="en-US" sz="2400"/>
              <a:t>时，下一条微指令的地址为</a:t>
            </a:r>
            <a:r>
              <a:rPr kumimoji="0" lang="en-US" altLang="zh-CN" sz="2400"/>
              <a:t>0000</a:t>
            </a:r>
            <a:endParaRPr lang="zh-CN" altLang="en-US" sz="2400"/>
          </a:p>
        </p:txBody>
      </p:sp>
      <p:graphicFrame>
        <p:nvGraphicFramePr>
          <p:cNvPr id="294916" name="Group 4"/>
          <p:cNvGraphicFramePr>
            <a:graphicFrameLocks noGrp="1"/>
          </p:cNvGraphicFramePr>
          <p:nvPr/>
        </p:nvGraphicFramePr>
        <p:xfrm>
          <a:off x="568325" y="3243263"/>
          <a:ext cx="8253413" cy="1122362"/>
        </p:xfrm>
        <a:graphic>
          <a:graphicData uri="http://schemas.openxmlformats.org/drawingml/2006/table">
            <a:tbl>
              <a:tblPr/>
              <a:tblGrid>
                <a:gridCol w="358775"/>
                <a:gridCol w="358775"/>
                <a:gridCol w="358775"/>
                <a:gridCol w="358775"/>
                <a:gridCol w="360363"/>
                <a:gridCol w="358775"/>
                <a:gridCol w="358775"/>
                <a:gridCol w="358775"/>
                <a:gridCol w="358775"/>
                <a:gridCol w="358775"/>
                <a:gridCol w="358775"/>
                <a:gridCol w="357187"/>
                <a:gridCol w="358775"/>
                <a:gridCol w="358775"/>
                <a:gridCol w="358775"/>
                <a:gridCol w="358775"/>
                <a:gridCol w="358775"/>
                <a:gridCol w="358775"/>
                <a:gridCol w="360363"/>
                <a:gridCol w="358775"/>
                <a:gridCol w="358775"/>
                <a:gridCol w="358775"/>
                <a:gridCol w="358775"/>
              </a:tblGrid>
              <a:tr h="398422">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723940">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23</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r>
            </a:tbl>
          </a:graphicData>
        </a:graphic>
      </p:graphicFrame>
      <p:graphicFrame>
        <p:nvGraphicFramePr>
          <p:cNvPr id="295016" name="Group 104"/>
          <p:cNvGraphicFramePr>
            <a:graphicFrameLocks noGrp="1"/>
          </p:cNvGraphicFramePr>
          <p:nvPr/>
        </p:nvGraphicFramePr>
        <p:xfrm>
          <a:off x="596900" y="3268663"/>
          <a:ext cx="8196263" cy="331787"/>
        </p:xfrm>
        <a:graphic>
          <a:graphicData uri="http://schemas.openxmlformats.org/drawingml/2006/table">
            <a:tbl>
              <a:tblPr/>
              <a:tblGrid>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tblGrid>
              <a:tr h="33178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cap="flat">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cap="flat">
                      <a:noFill/>
                    </a:lnR>
                    <a:lnT cap="flat">
                      <a:noFill/>
                    </a:lnT>
                    <a:lnB cap="flat">
                      <a:noFill/>
                    </a:lnB>
                    <a:lnTlToBr>
                      <a:noFill/>
                    </a:lnTlToBr>
                    <a:lnBlToTr>
                      <a:noFill/>
                    </a:lnBlToTr>
                    <a:solidFill>
                      <a:schemeClr val="bg1"/>
                    </a:solidFill>
                  </a:tcPr>
                </a:tc>
              </a:tr>
            </a:tbl>
          </a:graphicData>
        </a:graphic>
      </p:graphicFrame>
      <p:sp>
        <p:nvSpPr>
          <p:cNvPr id="110693" name="Line 176"/>
          <p:cNvSpPr>
            <a:spLocks noChangeShapeType="1"/>
          </p:cNvSpPr>
          <p:nvPr/>
        </p:nvSpPr>
        <p:spPr bwMode="auto">
          <a:xfrm>
            <a:off x="6669088" y="3243263"/>
            <a:ext cx="0" cy="6000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694" name="Line 177"/>
          <p:cNvSpPr>
            <a:spLocks noChangeShapeType="1"/>
          </p:cNvSpPr>
          <p:nvPr/>
        </p:nvSpPr>
        <p:spPr bwMode="auto">
          <a:xfrm>
            <a:off x="730250" y="2500313"/>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695" name="Line 178"/>
          <p:cNvSpPr>
            <a:spLocks noChangeShapeType="1"/>
          </p:cNvSpPr>
          <p:nvPr/>
        </p:nvSpPr>
        <p:spPr bwMode="auto">
          <a:xfrm>
            <a:off x="1116013" y="29146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5091" name="Text Box 179"/>
          <p:cNvSpPr txBox="1">
            <a:spLocks noChangeArrowheads="1"/>
          </p:cNvSpPr>
          <p:nvPr/>
        </p:nvSpPr>
        <p:spPr bwMode="auto">
          <a:xfrm>
            <a:off x="252413" y="2174875"/>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092" name="Text Box 180"/>
          <p:cNvSpPr txBox="1">
            <a:spLocks noChangeArrowheads="1"/>
          </p:cNvSpPr>
          <p:nvPr/>
        </p:nvSpPr>
        <p:spPr bwMode="auto">
          <a:xfrm>
            <a:off x="666750" y="2589213"/>
            <a:ext cx="8810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698" name="Line 181"/>
          <p:cNvSpPr>
            <a:spLocks noChangeShapeType="1"/>
          </p:cNvSpPr>
          <p:nvPr/>
        </p:nvSpPr>
        <p:spPr bwMode="auto">
          <a:xfrm>
            <a:off x="1487488" y="2500313"/>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5094" name="Text Box 182"/>
          <p:cNvSpPr txBox="1">
            <a:spLocks noChangeArrowheads="1"/>
          </p:cNvSpPr>
          <p:nvPr/>
        </p:nvSpPr>
        <p:spPr bwMode="auto">
          <a:xfrm>
            <a:off x="1023938" y="2174875"/>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00" name="Line 183"/>
          <p:cNvSpPr>
            <a:spLocks noChangeShapeType="1"/>
          </p:cNvSpPr>
          <p:nvPr/>
        </p:nvSpPr>
        <p:spPr bwMode="auto">
          <a:xfrm>
            <a:off x="1830388" y="29146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5096" name="Text Box 184"/>
          <p:cNvSpPr txBox="1">
            <a:spLocks noChangeArrowheads="1"/>
          </p:cNvSpPr>
          <p:nvPr/>
        </p:nvSpPr>
        <p:spPr bwMode="auto">
          <a:xfrm>
            <a:off x="1452563" y="2573338"/>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02" name="Line 185"/>
          <p:cNvSpPr>
            <a:spLocks noChangeShapeType="1"/>
          </p:cNvSpPr>
          <p:nvPr/>
        </p:nvSpPr>
        <p:spPr bwMode="auto">
          <a:xfrm>
            <a:off x="1773238" y="2771775"/>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sp>
        <p:nvSpPr>
          <p:cNvPr id="110703" name="Line 186"/>
          <p:cNvSpPr>
            <a:spLocks noChangeShapeType="1"/>
          </p:cNvSpPr>
          <p:nvPr/>
        </p:nvSpPr>
        <p:spPr bwMode="auto">
          <a:xfrm>
            <a:off x="2187575" y="2514600"/>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10704" name="Group 187"/>
          <p:cNvGrpSpPr/>
          <p:nvPr/>
        </p:nvGrpSpPr>
        <p:grpSpPr bwMode="auto">
          <a:xfrm>
            <a:off x="1852613" y="2173288"/>
            <a:ext cx="690562" cy="396875"/>
            <a:chOff x="1121" y="2395"/>
            <a:chExt cx="435" cy="250"/>
          </a:xfrm>
        </p:grpSpPr>
        <p:sp>
          <p:nvSpPr>
            <p:cNvPr id="295100" name="Text Box 188"/>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62" name="Line 189"/>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110705" name="Line 190"/>
          <p:cNvSpPr>
            <a:spLocks noChangeShapeType="1"/>
          </p:cNvSpPr>
          <p:nvPr/>
        </p:nvSpPr>
        <p:spPr bwMode="auto">
          <a:xfrm>
            <a:off x="2530475" y="29146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10706" name="Group 191"/>
          <p:cNvGrpSpPr/>
          <p:nvPr/>
        </p:nvGrpSpPr>
        <p:grpSpPr bwMode="auto">
          <a:xfrm>
            <a:off x="2889250" y="2516188"/>
            <a:ext cx="1042988" cy="728662"/>
            <a:chOff x="1774" y="2638"/>
            <a:chExt cx="657" cy="459"/>
          </a:xfrm>
        </p:grpSpPr>
        <p:sp>
          <p:nvSpPr>
            <p:cNvPr id="110757" name="Line 19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8" name="Line 19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9" name="Line 19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60" name="Line 19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10707" name="Group 196"/>
          <p:cNvGrpSpPr/>
          <p:nvPr/>
        </p:nvGrpSpPr>
        <p:grpSpPr bwMode="auto">
          <a:xfrm>
            <a:off x="4332288" y="2516188"/>
            <a:ext cx="1042987" cy="728662"/>
            <a:chOff x="1774" y="2638"/>
            <a:chExt cx="657" cy="459"/>
          </a:xfrm>
        </p:grpSpPr>
        <p:sp>
          <p:nvSpPr>
            <p:cNvPr id="110753" name="Line 197"/>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4" name="Line 198"/>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5" name="Line 199"/>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6" name="Line 200"/>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10708" name="Group 201"/>
          <p:cNvGrpSpPr/>
          <p:nvPr/>
        </p:nvGrpSpPr>
        <p:grpSpPr bwMode="auto">
          <a:xfrm>
            <a:off x="5761038" y="2516188"/>
            <a:ext cx="1042987" cy="728662"/>
            <a:chOff x="1774" y="2638"/>
            <a:chExt cx="657" cy="459"/>
          </a:xfrm>
        </p:grpSpPr>
        <p:sp>
          <p:nvSpPr>
            <p:cNvPr id="110749" name="Line 20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0" name="Line 20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1" name="Line 20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52" name="Line 20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110709" name="Line 206"/>
          <p:cNvSpPr>
            <a:spLocks noChangeShapeType="1"/>
          </p:cNvSpPr>
          <p:nvPr/>
        </p:nvSpPr>
        <p:spPr bwMode="auto">
          <a:xfrm>
            <a:off x="7189788" y="2516188"/>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10" name="Line 207"/>
          <p:cNvSpPr>
            <a:spLocks noChangeShapeType="1"/>
          </p:cNvSpPr>
          <p:nvPr/>
        </p:nvSpPr>
        <p:spPr bwMode="auto">
          <a:xfrm>
            <a:off x="7532688" y="2916238"/>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11" name="Line 208"/>
          <p:cNvSpPr>
            <a:spLocks noChangeShapeType="1"/>
          </p:cNvSpPr>
          <p:nvPr/>
        </p:nvSpPr>
        <p:spPr bwMode="auto">
          <a:xfrm>
            <a:off x="7889875" y="2916238"/>
            <a:ext cx="0" cy="32861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12" name="Line 209"/>
          <p:cNvSpPr>
            <a:spLocks noChangeShapeType="1"/>
          </p:cNvSpPr>
          <p:nvPr/>
        </p:nvSpPr>
        <p:spPr bwMode="auto">
          <a:xfrm>
            <a:off x="8232775" y="2916238"/>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0713" name="Line 210"/>
          <p:cNvSpPr>
            <a:spLocks noChangeShapeType="1"/>
          </p:cNvSpPr>
          <p:nvPr/>
        </p:nvSpPr>
        <p:spPr bwMode="auto">
          <a:xfrm>
            <a:off x="8602663" y="2914650"/>
            <a:ext cx="0" cy="32861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5123" name="Text Box 211"/>
          <p:cNvSpPr txBox="1">
            <a:spLocks noChangeArrowheads="1"/>
          </p:cNvSpPr>
          <p:nvPr/>
        </p:nvSpPr>
        <p:spPr bwMode="auto">
          <a:xfrm>
            <a:off x="2195513" y="2573338"/>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15" name="Line 212"/>
          <p:cNvSpPr>
            <a:spLocks noChangeShapeType="1"/>
          </p:cNvSpPr>
          <p:nvPr/>
        </p:nvSpPr>
        <p:spPr bwMode="auto">
          <a:xfrm>
            <a:off x="2516188" y="2771775"/>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10716" name="Group 213"/>
          <p:cNvGrpSpPr/>
          <p:nvPr/>
        </p:nvGrpSpPr>
        <p:grpSpPr bwMode="auto">
          <a:xfrm>
            <a:off x="2566988" y="2173288"/>
            <a:ext cx="690562" cy="396875"/>
            <a:chOff x="1121" y="2395"/>
            <a:chExt cx="435" cy="250"/>
          </a:xfrm>
        </p:grpSpPr>
        <p:sp>
          <p:nvSpPr>
            <p:cNvPr id="295126" name="Text Box 214"/>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48" name="Line 215"/>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5128" name="Text Box 216"/>
          <p:cNvSpPr txBox="1">
            <a:spLocks noChangeArrowheads="1"/>
          </p:cNvSpPr>
          <p:nvPr/>
        </p:nvSpPr>
        <p:spPr bwMode="auto">
          <a:xfrm>
            <a:off x="2824163" y="2573338"/>
            <a:ext cx="8302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18" name="Line 217"/>
          <p:cNvSpPr>
            <a:spLocks noChangeShapeType="1"/>
          </p:cNvSpPr>
          <p:nvPr/>
        </p:nvSpPr>
        <p:spPr bwMode="auto">
          <a:xfrm>
            <a:off x="3287713" y="2771775"/>
            <a:ext cx="157162"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10719" name="Group 218"/>
          <p:cNvGrpSpPr/>
          <p:nvPr/>
        </p:nvGrpSpPr>
        <p:grpSpPr bwMode="auto">
          <a:xfrm>
            <a:off x="3267075" y="2173288"/>
            <a:ext cx="690563" cy="396875"/>
            <a:chOff x="1121" y="2395"/>
            <a:chExt cx="435" cy="250"/>
          </a:xfrm>
        </p:grpSpPr>
        <p:sp>
          <p:nvSpPr>
            <p:cNvPr id="295131" name="Text Box 219"/>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3 </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0746" name="Line 220"/>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5133" name="Text Box 221"/>
          <p:cNvSpPr txBox="1">
            <a:spLocks noChangeArrowheads="1"/>
          </p:cNvSpPr>
          <p:nvPr/>
        </p:nvSpPr>
        <p:spPr bwMode="auto">
          <a:xfrm>
            <a:off x="3752850" y="2573338"/>
            <a:ext cx="39211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34" name="Text Box 222"/>
          <p:cNvSpPr txBox="1">
            <a:spLocks noChangeArrowheads="1"/>
          </p:cNvSpPr>
          <p:nvPr/>
        </p:nvSpPr>
        <p:spPr bwMode="auto">
          <a:xfrm>
            <a:off x="4124325" y="2173288"/>
            <a:ext cx="411163"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M</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35" name="Text Box 223"/>
          <p:cNvSpPr txBox="1">
            <a:spLocks noChangeArrowheads="1"/>
          </p:cNvSpPr>
          <p:nvPr/>
        </p:nvSpPr>
        <p:spPr bwMode="auto">
          <a:xfrm>
            <a:off x="4452938" y="2592388"/>
            <a:ext cx="439737" cy="396875"/>
          </a:xfrm>
          <a:prstGeom prst="rect">
            <a:avLst/>
          </a:prstGeom>
          <a:noFill/>
          <a:ln w="19050">
            <a:noFill/>
            <a:miter lim="800000"/>
            <a:tailEnd type="none" w="lg" len="lg"/>
          </a:ln>
          <a:effectLst/>
        </p:spPr>
        <p:txBody>
          <a:bodyPr wrap="none">
            <a:spAutoFit/>
          </a:bodyPr>
          <a:lstStyle/>
          <a:p>
            <a:pPr eaLnBrk="1" hangingPunct="1">
              <a:defRPr/>
            </a:pPr>
            <a:r>
              <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36" name="Text Box 224"/>
          <p:cNvSpPr txBox="1">
            <a:spLocks noChangeArrowheads="1"/>
          </p:cNvSpPr>
          <p:nvPr/>
        </p:nvSpPr>
        <p:spPr bwMode="auto">
          <a:xfrm>
            <a:off x="4710113" y="2174875"/>
            <a:ext cx="63023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RD’</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37" name="Text Box 225"/>
          <p:cNvSpPr txBox="1">
            <a:spLocks noChangeArrowheads="1"/>
          </p:cNvSpPr>
          <p:nvPr/>
        </p:nvSpPr>
        <p:spPr bwMode="auto">
          <a:xfrm>
            <a:off x="4881563" y="2589213"/>
            <a:ext cx="96837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LDDR’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38" name="Text Box 226"/>
          <p:cNvSpPr txBox="1">
            <a:spLocks noChangeArrowheads="1"/>
          </p:cNvSpPr>
          <p:nvPr/>
        </p:nvSpPr>
        <p:spPr bwMode="auto">
          <a:xfrm>
            <a:off x="5324475" y="2174875"/>
            <a:ext cx="8985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LDIR’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39" name="Text Box 227"/>
          <p:cNvSpPr txBox="1">
            <a:spLocks noChangeArrowheads="1"/>
          </p:cNvSpPr>
          <p:nvPr/>
        </p:nvSpPr>
        <p:spPr bwMode="auto">
          <a:xfrm>
            <a:off x="5695950" y="2589213"/>
            <a:ext cx="95091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LDAR’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40" name="Text Box 228"/>
          <p:cNvSpPr txBox="1">
            <a:spLocks noChangeArrowheads="1"/>
          </p:cNvSpPr>
          <p:nvPr/>
        </p:nvSpPr>
        <p:spPr bwMode="auto">
          <a:xfrm>
            <a:off x="6081713" y="2173288"/>
            <a:ext cx="890587"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PC+1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41" name="Text Box 229"/>
          <p:cNvSpPr txBox="1">
            <a:spLocks noChangeArrowheads="1"/>
          </p:cNvSpPr>
          <p:nvPr/>
        </p:nvSpPr>
        <p:spPr bwMode="auto">
          <a:xfrm>
            <a:off x="6567488" y="2587625"/>
            <a:ext cx="5127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42" name="Text Box 230"/>
          <p:cNvSpPr txBox="1">
            <a:spLocks noChangeArrowheads="1"/>
          </p:cNvSpPr>
          <p:nvPr/>
        </p:nvSpPr>
        <p:spPr bwMode="auto">
          <a:xfrm>
            <a:off x="6953250" y="2173288"/>
            <a:ext cx="5127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dirty="0">
                <a:solidFill>
                  <a:srgbClr val="FF0000"/>
                </a:solidFill>
                <a:effectLst>
                  <a:outerShdw blurRad="38100" dist="38100" dir="2700000" algn="tl">
                    <a:srgbClr val="C0C0C0"/>
                  </a:outerShdw>
                </a:effectLst>
                <a:latin typeface="Tahoma" panose="020B0604030504040204" pitchFamily="34" charset="0"/>
                <a:ea typeface="宋体" panose="02010600030101010101" pitchFamily="2" charset="-122"/>
              </a:rPr>
              <a:t>P2</a:t>
            </a:r>
            <a:endParaRPr kumimoji="0" lang="en-US" altLang="zh-CN" sz="2000" b="1" dirty="0">
              <a:solidFill>
                <a:srgbClr val="FF00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5143" name="Text Box 231"/>
          <p:cNvSpPr txBox="1">
            <a:spLocks noChangeArrowheads="1"/>
          </p:cNvSpPr>
          <p:nvPr/>
        </p:nvSpPr>
        <p:spPr bwMode="auto">
          <a:xfrm>
            <a:off x="7464425" y="2549525"/>
            <a:ext cx="1206500" cy="396875"/>
          </a:xfrm>
          <a:prstGeom prst="rect">
            <a:avLst/>
          </a:prstGeom>
          <a:noFill/>
          <a:ln w="19050">
            <a:noFill/>
            <a:miter lim="800000"/>
            <a:tailEnd type="none" w="lg" len="lg"/>
          </a:ln>
          <a:effectLst/>
        </p:spPr>
        <p:txBody>
          <a:bodyPr wrap="none">
            <a:spAutoFit/>
          </a:bodyPr>
          <a:lstStyle/>
          <a:p>
            <a:pPr algn="ctr" eaLnBrk="1" hangingPunct="1">
              <a:defRPr/>
            </a:pPr>
            <a:r>
              <a:rPr kumimoji="0" lang="zh-CN" altLang="en-US" sz="2000" b="1">
                <a:latin typeface="楷体" panose="02010609060101010101" pitchFamily="49" charset="-122"/>
                <a:ea typeface="楷体" panose="02010609060101010101" pitchFamily="49" charset="-122"/>
              </a:rPr>
              <a:t>直接地址</a:t>
            </a:r>
            <a:endParaRPr kumimoji="0" lang="zh-CN" altLang="en-US" sz="2000" b="1">
              <a:latin typeface="楷体" panose="02010609060101010101" pitchFamily="49" charset="-122"/>
              <a:ea typeface="楷体" panose="02010609060101010101" pitchFamily="49" charset="-122"/>
            </a:endParaRPr>
          </a:p>
        </p:txBody>
      </p:sp>
      <p:sp>
        <p:nvSpPr>
          <p:cNvPr id="110731" name="Line 232"/>
          <p:cNvSpPr>
            <a:spLocks noChangeShapeType="1"/>
          </p:cNvSpPr>
          <p:nvPr/>
        </p:nvSpPr>
        <p:spPr bwMode="auto">
          <a:xfrm>
            <a:off x="558800" y="4243388"/>
            <a:ext cx="6100763"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5145" name="Text Box 233"/>
          <p:cNvSpPr txBox="1">
            <a:spLocks noChangeArrowheads="1"/>
          </p:cNvSpPr>
          <p:nvPr/>
        </p:nvSpPr>
        <p:spPr bwMode="auto">
          <a:xfrm>
            <a:off x="2849563" y="3983038"/>
            <a:ext cx="1409700" cy="457200"/>
          </a:xfrm>
          <a:prstGeom prst="rect">
            <a:avLst/>
          </a:prstGeom>
          <a:solidFill>
            <a:schemeClr val="bg1"/>
          </a:solidFill>
          <a:ln w="19050">
            <a:noFill/>
            <a:miter lim="800000"/>
            <a:tailEnd type="none" w="lg" len="lg"/>
          </a:ln>
          <a:effectLst/>
        </p:spPr>
        <p:txBody>
          <a:bodyPr wrap="none">
            <a:spAutoFit/>
          </a:bodyPr>
          <a:lstStyle/>
          <a:p>
            <a:pPr algn="ctr" eaLnBrk="1" hangingPunct="1">
              <a:defRPr/>
            </a:pPr>
            <a:r>
              <a:rPr kumimoji="0" lang="zh-CN" altLang="en-US" sz="2400" b="1" dirty="0">
                <a:latin typeface="楷体" panose="02010609060101010101" pitchFamily="49" charset="-122"/>
                <a:ea typeface="楷体" panose="02010609060101010101" pitchFamily="49" charset="-122"/>
              </a:rPr>
              <a:t>操作控制</a:t>
            </a:r>
            <a:endParaRPr kumimoji="0" lang="zh-CN" altLang="en-US" sz="2400" b="1" dirty="0">
              <a:latin typeface="楷体" panose="02010609060101010101" pitchFamily="49" charset="-122"/>
              <a:ea typeface="楷体" panose="02010609060101010101" pitchFamily="49" charset="-122"/>
            </a:endParaRPr>
          </a:p>
        </p:txBody>
      </p:sp>
      <p:sp>
        <p:nvSpPr>
          <p:cNvPr id="110733" name="Line 234"/>
          <p:cNvSpPr>
            <a:spLocks noChangeShapeType="1"/>
          </p:cNvSpPr>
          <p:nvPr/>
        </p:nvSpPr>
        <p:spPr bwMode="auto">
          <a:xfrm>
            <a:off x="6659563" y="4243388"/>
            <a:ext cx="215741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5147" name="Text Box 235"/>
          <p:cNvSpPr txBox="1">
            <a:spLocks noChangeArrowheads="1"/>
          </p:cNvSpPr>
          <p:nvPr/>
        </p:nvSpPr>
        <p:spPr bwMode="auto">
          <a:xfrm>
            <a:off x="7064375" y="3983038"/>
            <a:ext cx="1409700" cy="457200"/>
          </a:xfrm>
          <a:prstGeom prst="rect">
            <a:avLst/>
          </a:prstGeom>
          <a:solidFill>
            <a:schemeClr val="bg1"/>
          </a:solidFill>
          <a:ln w="19050">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latin typeface="楷体" panose="02010609060101010101" pitchFamily="49" charset="-122"/>
                <a:ea typeface="楷体" panose="02010609060101010101" pitchFamily="49" charset="-122"/>
              </a:rPr>
              <a:t>顺序控制</a:t>
            </a:r>
            <a:endParaRPr kumimoji="0" lang="zh-CN" altLang="en-US" sz="2400" b="1">
              <a:latin typeface="楷体" panose="02010609060101010101" pitchFamily="49" charset="-122"/>
              <a:ea typeface="楷体" panose="02010609060101010101" pitchFamily="49" charset="-122"/>
            </a:endParaRPr>
          </a:p>
        </p:txBody>
      </p:sp>
      <p:graphicFrame>
        <p:nvGraphicFramePr>
          <p:cNvPr id="295148" name="Group 236"/>
          <p:cNvGraphicFramePr>
            <a:graphicFrameLocks noGrp="1"/>
          </p:cNvGraphicFramePr>
          <p:nvPr/>
        </p:nvGraphicFramePr>
        <p:xfrm>
          <a:off x="542925" y="1697038"/>
          <a:ext cx="8291513" cy="457200"/>
        </p:xfrm>
        <a:graphic>
          <a:graphicData uri="http://schemas.openxmlformats.org/drawingml/2006/table">
            <a:tbl>
              <a:tblPr/>
              <a:tblGrid>
                <a:gridCol w="6129338"/>
                <a:gridCol w="728662"/>
                <a:gridCol w="1433513"/>
              </a:tblGrid>
              <a:tr h="455613">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0  </a:t>
                      </a:r>
                      <a:r>
                        <a:rPr kumimoji="1" lang="en-US" altLang="zh-CN" sz="2400" b="1" i="0" u="none" strike="noStrike" cap="none" normalizeH="0" baseline="0" dirty="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  0  0  0  </a:t>
                      </a:r>
                      <a:r>
                        <a:rPr kumimoji="1" lang="en-US" altLang="zh-CN" sz="2400" b="1" i="0" u="none" strike="noStrike" cap="none" normalizeH="0" baseline="0" dirty="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  0  0  </a:t>
                      </a:r>
                      <a:r>
                        <a:rPr kumimoji="1" lang="en-US" altLang="zh-CN" sz="2400" b="1" i="0" u="none" strike="noStrike" cap="none" normalizeH="0" baseline="0" dirty="0">
                          <a:ln>
                            <a:noFill/>
                          </a:ln>
                          <a:solidFill>
                            <a:srgbClr val="CC3300"/>
                          </a:solidFill>
                          <a:effectLst/>
                          <a:latin typeface="Times New Roman" panose="02020603050405020304" pitchFamily="18" charset="0"/>
                          <a:ea typeface="楷体_GB2312" pitchFamily="49" charset="-122"/>
                        </a:rPr>
                        <a:t>1  1</a:t>
                      </a: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  0  0  0  0  0  0  0</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0  </a:t>
                      </a:r>
                      <a:r>
                        <a:rPr kumimoji="1" lang="en-US" altLang="zh-CN" sz="2400" b="1" i="0" u="none" strike="noStrike" cap="none" normalizeH="0" baseline="0" dirty="0">
                          <a:ln>
                            <a:noFill/>
                          </a:ln>
                          <a:solidFill>
                            <a:srgbClr val="FF0000"/>
                          </a:solidFill>
                          <a:effectLst/>
                          <a:latin typeface="Times New Roman" panose="02020603050405020304" pitchFamily="18" charset="0"/>
                          <a:ea typeface="楷体_GB2312" pitchFamily="49" charset="-122"/>
                        </a:rPr>
                        <a:t>1</a:t>
                      </a:r>
                      <a:endParaRPr kumimoji="1" lang="en-US" altLang="zh-CN" sz="2400" b="1" i="0" u="none" strike="noStrike" cap="none" normalizeH="0" baseline="0" dirty="0">
                        <a:ln>
                          <a:noFill/>
                        </a:ln>
                        <a:solidFill>
                          <a:srgbClr val="FF0000"/>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0  0  0  0</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bl>
          </a:graphicData>
        </a:graphic>
      </p:graphicFrame>
    </p:spTree>
  </p:cSld>
  <p:clrMapOvr>
    <a:masterClrMapping/>
  </p:clrMapOvr>
  <p:transition spd="med">
    <p:pull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pPr eaLnBrk="1" hangingPunct="1"/>
            <a:r>
              <a:rPr lang="zh-CN" altLang="en-US"/>
              <a:t>微程序举例（</a:t>
            </a:r>
            <a:r>
              <a:rPr lang="en-US" altLang="zh-CN"/>
              <a:t>7</a:t>
            </a:r>
            <a:r>
              <a:rPr lang="zh-CN" altLang="en-US"/>
              <a:t>）</a:t>
            </a:r>
            <a:endParaRPr lang="zh-CN" altLang="en-US"/>
          </a:p>
        </p:txBody>
      </p:sp>
      <p:sp>
        <p:nvSpPr>
          <p:cNvPr id="111618" name="Rectangle 3"/>
          <p:cNvSpPr>
            <a:spLocks noGrp="1" noChangeArrowheads="1"/>
          </p:cNvSpPr>
          <p:nvPr>
            <p:ph idx="1"/>
          </p:nvPr>
        </p:nvSpPr>
        <p:spPr>
          <a:xfrm>
            <a:off x="179388" y="914400"/>
            <a:ext cx="8736012" cy="5627688"/>
          </a:xfrm>
        </p:spPr>
        <p:txBody>
          <a:bodyPr/>
          <a:lstStyle/>
          <a:p>
            <a:pPr eaLnBrk="1" hangingPunct="1"/>
            <a:r>
              <a:rPr lang="zh-CN" altLang="en-US" sz="2400"/>
              <a:t>假设</a:t>
            </a:r>
            <a:r>
              <a:rPr lang="en-US" altLang="zh-CN" sz="2400"/>
              <a:t>Cy</a:t>
            </a:r>
            <a:r>
              <a:rPr lang="zh-CN" altLang="en-US" sz="2400"/>
              <a:t>＝</a:t>
            </a:r>
            <a:r>
              <a:rPr lang="en-US" altLang="zh-CN" sz="2400"/>
              <a:t>0</a:t>
            </a:r>
            <a:r>
              <a:rPr lang="zh-CN" altLang="en-US" sz="2400"/>
              <a:t>，第四个</a:t>
            </a:r>
            <a:r>
              <a:rPr lang="en-US" altLang="zh-CN" sz="2400"/>
              <a:t>CPU</a:t>
            </a:r>
            <a:r>
              <a:rPr lang="zh-CN" altLang="en-US" sz="2400"/>
              <a:t>周期开始时，按照</a:t>
            </a:r>
            <a:r>
              <a:rPr lang="en-US" altLang="zh-CN" sz="2400"/>
              <a:t>0001</a:t>
            </a:r>
            <a:r>
              <a:rPr lang="zh-CN" altLang="en-US" sz="2400"/>
              <a:t>这个微地址读出第四条微指令，其二进制编码是</a:t>
            </a:r>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lang="zh-CN" altLang="en-US" sz="2400"/>
          </a:p>
          <a:p>
            <a:pPr eaLnBrk="1" hangingPunct="1"/>
            <a:endParaRPr kumimoji="0" lang="zh-CN" altLang="en-US" sz="2400"/>
          </a:p>
          <a:p>
            <a:pPr eaLnBrk="1" hangingPunct="1"/>
            <a:r>
              <a:rPr kumimoji="0" lang="zh-CN" altLang="en-US" sz="2400"/>
              <a:t>这条微指令中，操作控制部分发出四个微命令，完成</a:t>
            </a:r>
            <a:r>
              <a:rPr kumimoji="0" lang="en-US" altLang="zh-CN" sz="2400"/>
              <a:t>R2-R3→R2</a:t>
            </a:r>
            <a:r>
              <a:rPr kumimoji="0" lang="zh-CN" altLang="en-US" sz="2400"/>
              <a:t>运算</a:t>
            </a:r>
            <a:endParaRPr kumimoji="0" lang="en-US" altLang="zh-CN" sz="2400"/>
          </a:p>
          <a:p>
            <a:pPr eaLnBrk="1" hangingPunct="1"/>
            <a:r>
              <a:rPr kumimoji="0" lang="zh-CN" altLang="en-US" sz="2400"/>
              <a:t>顺序控制部分</a:t>
            </a:r>
            <a:r>
              <a:rPr kumimoji="0" lang="zh-CN" altLang="zh-CN" sz="2400"/>
              <a:t>直接给出下一条微指令的地址为</a:t>
            </a:r>
            <a:r>
              <a:rPr kumimoji="0" lang="en-US" altLang="zh-CN" sz="2400"/>
              <a:t>0000</a:t>
            </a:r>
            <a:r>
              <a:rPr kumimoji="0" lang="zh-CN" altLang="en-US" sz="2400"/>
              <a:t>，该地址存放的微指令是“</a:t>
            </a:r>
            <a:r>
              <a:rPr kumimoji="0" lang="zh-CN" altLang="en-US" sz="2400">
                <a:solidFill>
                  <a:srgbClr val="FF0000"/>
                </a:solidFill>
              </a:rPr>
              <a:t>取指</a:t>
            </a:r>
            <a:r>
              <a:rPr kumimoji="0" lang="zh-CN" altLang="en-US" sz="2400"/>
              <a:t>”微指令。即取下一条指令</a:t>
            </a:r>
            <a:endParaRPr kumimoji="0" lang="zh-CN" altLang="en-US" sz="2400"/>
          </a:p>
        </p:txBody>
      </p:sp>
      <p:graphicFrame>
        <p:nvGraphicFramePr>
          <p:cNvPr id="295940" name="Group 4"/>
          <p:cNvGraphicFramePr>
            <a:graphicFrameLocks noGrp="1"/>
          </p:cNvGraphicFramePr>
          <p:nvPr/>
        </p:nvGraphicFramePr>
        <p:xfrm>
          <a:off x="528638" y="3457575"/>
          <a:ext cx="8253412" cy="1122363"/>
        </p:xfrm>
        <a:graphic>
          <a:graphicData uri="http://schemas.openxmlformats.org/drawingml/2006/table">
            <a:tbl>
              <a:tblPr/>
              <a:tblGrid>
                <a:gridCol w="358775"/>
                <a:gridCol w="358775"/>
                <a:gridCol w="358775"/>
                <a:gridCol w="358775"/>
                <a:gridCol w="360362"/>
                <a:gridCol w="358775"/>
                <a:gridCol w="358775"/>
                <a:gridCol w="358775"/>
                <a:gridCol w="358775"/>
                <a:gridCol w="358775"/>
                <a:gridCol w="358775"/>
                <a:gridCol w="357188"/>
                <a:gridCol w="358775"/>
                <a:gridCol w="358775"/>
                <a:gridCol w="358775"/>
                <a:gridCol w="358775"/>
                <a:gridCol w="358775"/>
                <a:gridCol w="358775"/>
                <a:gridCol w="360362"/>
                <a:gridCol w="358775"/>
                <a:gridCol w="358775"/>
                <a:gridCol w="358775"/>
                <a:gridCol w="358775"/>
              </a:tblGrid>
              <a:tr h="398422">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r>
              <a:tr h="72394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13</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14</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15</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16</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17</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18</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w="28575"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19</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20</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21</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rPr>
                        <a:t>22</a:t>
                      </a:r>
                      <a:endParaRPr kumimoji="1" lang="en-US" altLang="zh-CN" sz="20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rPr>
                        <a:t>23</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0" marR="0" marT="46803" marB="46803"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r>
            </a:tbl>
          </a:graphicData>
        </a:graphic>
      </p:graphicFrame>
      <p:graphicFrame>
        <p:nvGraphicFramePr>
          <p:cNvPr id="296040" name="Group 104"/>
          <p:cNvGraphicFramePr>
            <a:graphicFrameLocks noGrp="1"/>
          </p:cNvGraphicFramePr>
          <p:nvPr/>
        </p:nvGraphicFramePr>
        <p:xfrm>
          <a:off x="557213" y="3482975"/>
          <a:ext cx="8196262" cy="331788"/>
        </p:xfrm>
        <a:graphic>
          <a:graphicData uri="http://schemas.openxmlformats.org/drawingml/2006/table">
            <a:tbl>
              <a:tblPr/>
              <a:tblGrid>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gridCol w="357188"/>
                <a:gridCol w="355600"/>
                <a:gridCol w="357187"/>
                <a:gridCol w="355600"/>
              </a:tblGrid>
              <a:tr h="331788">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cap="flat">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a:noFill/>
                    </a:lnR>
                    <a:lnT cap="flat">
                      <a:noFill/>
                    </a:lnT>
                    <a:lnB cap="flat">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1" lang="zh-CN" altLang="en-US" sz="2000" b="0" i="0"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0" marB="0" horzOverflow="overflow">
                    <a:lnL>
                      <a:noFill/>
                    </a:lnL>
                    <a:lnR cap="flat">
                      <a:noFill/>
                    </a:lnR>
                    <a:lnT cap="flat">
                      <a:noFill/>
                    </a:lnT>
                    <a:lnB cap="flat">
                      <a:noFill/>
                    </a:lnB>
                    <a:lnTlToBr>
                      <a:noFill/>
                    </a:lnTlToBr>
                    <a:lnBlToTr>
                      <a:noFill/>
                    </a:lnBlToTr>
                    <a:solidFill>
                      <a:schemeClr val="bg1"/>
                    </a:solidFill>
                  </a:tcPr>
                </a:tc>
              </a:tr>
            </a:tbl>
          </a:graphicData>
        </a:graphic>
      </p:graphicFrame>
      <p:sp>
        <p:nvSpPr>
          <p:cNvPr id="111717" name="Line 176"/>
          <p:cNvSpPr>
            <a:spLocks noChangeShapeType="1"/>
          </p:cNvSpPr>
          <p:nvPr/>
        </p:nvSpPr>
        <p:spPr bwMode="auto">
          <a:xfrm>
            <a:off x="6629400" y="3457575"/>
            <a:ext cx="0" cy="600075"/>
          </a:xfrm>
          <a:prstGeom prst="line">
            <a:avLst/>
          </a:prstGeom>
          <a:noFill/>
          <a:ln w="28575">
            <a:solidFill>
              <a:schemeClr val="tx1"/>
            </a:solidFill>
            <a:round/>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18" name="Line 177"/>
          <p:cNvSpPr>
            <a:spLocks noChangeShapeType="1"/>
          </p:cNvSpPr>
          <p:nvPr/>
        </p:nvSpPr>
        <p:spPr bwMode="auto">
          <a:xfrm>
            <a:off x="690563" y="27146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19" name="Line 178"/>
          <p:cNvSpPr>
            <a:spLocks noChangeShapeType="1"/>
          </p:cNvSpPr>
          <p:nvPr/>
        </p:nvSpPr>
        <p:spPr bwMode="auto">
          <a:xfrm>
            <a:off x="1076325" y="31289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6115" name="Text Box 179"/>
          <p:cNvSpPr txBox="1">
            <a:spLocks noChangeArrowheads="1"/>
          </p:cNvSpPr>
          <p:nvPr/>
        </p:nvSpPr>
        <p:spPr bwMode="auto">
          <a:xfrm>
            <a:off x="212725" y="2389188"/>
            <a:ext cx="8810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16" name="Text Box 180"/>
          <p:cNvSpPr txBox="1">
            <a:spLocks noChangeArrowheads="1"/>
          </p:cNvSpPr>
          <p:nvPr/>
        </p:nvSpPr>
        <p:spPr bwMode="auto">
          <a:xfrm>
            <a:off x="627063" y="2803525"/>
            <a:ext cx="8810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22" name="Line 181"/>
          <p:cNvSpPr>
            <a:spLocks noChangeShapeType="1"/>
          </p:cNvSpPr>
          <p:nvPr/>
        </p:nvSpPr>
        <p:spPr bwMode="auto">
          <a:xfrm>
            <a:off x="1447800" y="2714625"/>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6118" name="Text Box 182"/>
          <p:cNvSpPr txBox="1">
            <a:spLocks noChangeArrowheads="1"/>
          </p:cNvSpPr>
          <p:nvPr/>
        </p:nvSpPr>
        <p:spPr bwMode="auto">
          <a:xfrm>
            <a:off x="984250" y="2389188"/>
            <a:ext cx="8810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3</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24" name="Line 183"/>
          <p:cNvSpPr>
            <a:spLocks noChangeShapeType="1"/>
          </p:cNvSpPr>
          <p:nvPr/>
        </p:nvSpPr>
        <p:spPr bwMode="auto">
          <a:xfrm>
            <a:off x="1790700" y="31289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6120" name="Text Box 184"/>
          <p:cNvSpPr txBox="1">
            <a:spLocks noChangeArrowheads="1"/>
          </p:cNvSpPr>
          <p:nvPr/>
        </p:nvSpPr>
        <p:spPr bwMode="auto">
          <a:xfrm>
            <a:off x="1412875" y="2787650"/>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26" name="Line 185"/>
          <p:cNvSpPr>
            <a:spLocks noChangeShapeType="1"/>
          </p:cNvSpPr>
          <p:nvPr/>
        </p:nvSpPr>
        <p:spPr bwMode="auto">
          <a:xfrm>
            <a:off x="1733550" y="2986088"/>
            <a:ext cx="157163"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sp>
        <p:nvSpPr>
          <p:cNvPr id="111727" name="Line 186"/>
          <p:cNvSpPr>
            <a:spLocks noChangeShapeType="1"/>
          </p:cNvSpPr>
          <p:nvPr/>
        </p:nvSpPr>
        <p:spPr bwMode="auto">
          <a:xfrm>
            <a:off x="2147888" y="2728913"/>
            <a:ext cx="0" cy="72866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11728" name="Group 187"/>
          <p:cNvGrpSpPr/>
          <p:nvPr/>
        </p:nvGrpSpPr>
        <p:grpSpPr bwMode="auto">
          <a:xfrm>
            <a:off x="1812925" y="2387600"/>
            <a:ext cx="690563" cy="396875"/>
            <a:chOff x="1121" y="2395"/>
            <a:chExt cx="435" cy="250"/>
          </a:xfrm>
        </p:grpSpPr>
        <p:sp>
          <p:nvSpPr>
            <p:cNvPr id="296124" name="Text Box 188"/>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1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86" name="Line 189"/>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111729" name="Line 190"/>
          <p:cNvSpPr>
            <a:spLocks noChangeShapeType="1"/>
          </p:cNvSpPr>
          <p:nvPr/>
        </p:nvSpPr>
        <p:spPr bwMode="auto">
          <a:xfrm>
            <a:off x="2490788" y="3128963"/>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nvGrpSpPr>
          <p:cNvPr id="111730" name="Group 191"/>
          <p:cNvGrpSpPr/>
          <p:nvPr/>
        </p:nvGrpSpPr>
        <p:grpSpPr bwMode="auto">
          <a:xfrm>
            <a:off x="2849563" y="2730500"/>
            <a:ext cx="1042987" cy="728663"/>
            <a:chOff x="1774" y="2638"/>
            <a:chExt cx="657" cy="459"/>
          </a:xfrm>
        </p:grpSpPr>
        <p:sp>
          <p:nvSpPr>
            <p:cNvPr id="111781" name="Line 19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82" name="Line 19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83" name="Line 19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84" name="Line 19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11731" name="Group 196"/>
          <p:cNvGrpSpPr/>
          <p:nvPr/>
        </p:nvGrpSpPr>
        <p:grpSpPr bwMode="auto">
          <a:xfrm>
            <a:off x="4292600" y="2730500"/>
            <a:ext cx="1042988" cy="728663"/>
            <a:chOff x="1774" y="2638"/>
            <a:chExt cx="657" cy="459"/>
          </a:xfrm>
        </p:grpSpPr>
        <p:sp>
          <p:nvSpPr>
            <p:cNvPr id="111777" name="Line 197"/>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78" name="Line 198"/>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79" name="Line 199"/>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80" name="Line 200"/>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11732" name="Group 201"/>
          <p:cNvGrpSpPr/>
          <p:nvPr/>
        </p:nvGrpSpPr>
        <p:grpSpPr bwMode="auto">
          <a:xfrm>
            <a:off x="5721350" y="2730500"/>
            <a:ext cx="1042988" cy="728663"/>
            <a:chOff x="1774" y="2638"/>
            <a:chExt cx="657" cy="459"/>
          </a:xfrm>
        </p:grpSpPr>
        <p:sp>
          <p:nvSpPr>
            <p:cNvPr id="111773" name="Line 202"/>
            <p:cNvSpPr>
              <a:spLocks noChangeShapeType="1"/>
            </p:cNvSpPr>
            <p:nvPr/>
          </p:nvSpPr>
          <p:spPr bwMode="auto">
            <a:xfrm>
              <a:off x="1774"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74" name="Line 203"/>
            <p:cNvSpPr>
              <a:spLocks noChangeShapeType="1"/>
            </p:cNvSpPr>
            <p:nvPr/>
          </p:nvSpPr>
          <p:spPr bwMode="auto">
            <a:xfrm>
              <a:off x="1990"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75" name="Line 204"/>
            <p:cNvSpPr>
              <a:spLocks noChangeShapeType="1"/>
            </p:cNvSpPr>
            <p:nvPr/>
          </p:nvSpPr>
          <p:spPr bwMode="auto">
            <a:xfrm>
              <a:off x="2215" y="2638"/>
              <a:ext cx="0" cy="459"/>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76" name="Line 205"/>
            <p:cNvSpPr>
              <a:spLocks noChangeShapeType="1"/>
            </p:cNvSpPr>
            <p:nvPr/>
          </p:nvSpPr>
          <p:spPr bwMode="auto">
            <a:xfrm>
              <a:off x="2431" y="2890"/>
              <a:ext cx="0" cy="198"/>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grpSp>
      <p:sp>
        <p:nvSpPr>
          <p:cNvPr id="111733" name="Line 206"/>
          <p:cNvSpPr>
            <a:spLocks noChangeShapeType="1"/>
          </p:cNvSpPr>
          <p:nvPr/>
        </p:nvSpPr>
        <p:spPr bwMode="auto">
          <a:xfrm>
            <a:off x="7150100" y="2730500"/>
            <a:ext cx="0" cy="72866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34" name="Line 207"/>
          <p:cNvSpPr>
            <a:spLocks noChangeShapeType="1"/>
          </p:cNvSpPr>
          <p:nvPr/>
        </p:nvSpPr>
        <p:spPr bwMode="auto">
          <a:xfrm>
            <a:off x="7493000" y="31305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35" name="Line 208"/>
          <p:cNvSpPr>
            <a:spLocks noChangeShapeType="1"/>
          </p:cNvSpPr>
          <p:nvPr/>
        </p:nvSpPr>
        <p:spPr bwMode="auto">
          <a:xfrm>
            <a:off x="7850188" y="3130550"/>
            <a:ext cx="0" cy="328613"/>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36" name="Line 209"/>
          <p:cNvSpPr>
            <a:spLocks noChangeShapeType="1"/>
          </p:cNvSpPr>
          <p:nvPr/>
        </p:nvSpPr>
        <p:spPr bwMode="auto">
          <a:xfrm>
            <a:off x="8193088" y="3130550"/>
            <a:ext cx="0" cy="314325"/>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111737" name="Line 210"/>
          <p:cNvSpPr>
            <a:spLocks noChangeShapeType="1"/>
          </p:cNvSpPr>
          <p:nvPr/>
        </p:nvSpPr>
        <p:spPr bwMode="auto">
          <a:xfrm>
            <a:off x="8562975" y="3128963"/>
            <a:ext cx="0" cy="328612"/>
          </a:xfrm>
          <a:prstGeom prst="line">
            <a:avLst/>
          </a:prstGeom>
          <a:noFill/>
          <a:ln w="19050">
            <a:solidFill>
              <a:schemeClr val="tx1"/>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96147" name="Text Box 211"/>
          <p:cNvSpPr txBox="1">
            <a:spLocks noChangeArrowheads="1"/>
          </p:cNvSpPr>
          <p:nvPr/>
        </p:nvSpPr>
        <p:spPr bwMode="auto">
          <a:xfrm>
            <a:off x="2155825" y="2787650"/>
            <a:ext cx="6953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39" name="Line 212"/>
          <p:cNvSpPr>
            <a:spLocks noChangeShapeType="1"/>
          </p:cNvSpPr>
          <p:nvPr/>
        </p:nvSpPr>
        <p:spPr bwMode="auto">
          <a:xfrm>
            <a:off x="2476500" y="2986088"/>
            <a:ext cx="157163"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11740" name="Group 213"/>
          <p:cNvGrpSpPr/>
          <p:nvPr/>
        </p:nvGrpSpPr>
        <p:grpSpPr bwMode="auto">
          <a:xfrm>
            <a:off x="2527300" y="2387600"/>
            <a:ext cx="690563" cy="396875"/>
            <a:chOff x="1121" y="2395"/>
            <a:chExt cx="435" cy="250"/>
          </a:xfrm>
        </p:grpSpPr>
        <p:sp>
          <p:nvSpPr>
            <p:cNvPr id="296150" name="Text Box 214"/>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2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72" name="Line 215"/>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6152" name="Text Box 216"/>
          <p:cNvSpPr txBox="1">
            <a:spLocks noChangeArrowheads="1"/>
          </p:cNvSpPr>
          <p:nvPr/>
        </p:nvSpPr>
        <p:spPr bwMode="auto">
          <a:xfrm>
            <a:off x="2784475" y="2787650"/>
            <a:ext cx="8302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DR</a:t>
            </a:r>
            <a:r>
              <a:rPr kumimoji="0" lang="en-US" altLang="zh-CN" sz="2000" b="1" baseline="-25000">
                <a:effectLst>
                  <a:outerShdw blurRad="38100" dist="38100" dir="2700000" algn="tl">
                    <a:srgbClr val="C0C0C0"/>
                  </a:outerShdw>
                </a:effectLst>
                <a:latin typeface="Tahoma" panose="020B0604030504040204" pitchFamily="34" charset="0"/>
                <a:ea typeface="宋体" panose="02010600030101010101" pitchFamily="2" charset="-122"/>
              </a:rPr>
              <a:t>  </a:t>
            </a: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X</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42" name="Line 217"/>
          <p:cNvSpPr>
            <a:spLocks noChangeShapeType="1"/>
          </p:cNvSpPr>
          <p:nvPr/>
        </p:nvSpPr>
        <p:spPr bwMode="auto">
          <a:xfrm>
            <a:off x="3248025" y="2986088"/>
            <a:ext cx="157163"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nvGrpSpPr>
          <p:cNvPr id="111743" name="Group 218"/>
          <p:cNvGrpSpPr/>
          <p:nvPr/>
        </p:nvGrpSpPr>
        <p:grpSpPr bwMode="auto">
          <a:xfrm>
            <a:off x="3227388" y="2387600"/>
            <a:ext cx="690562" cy="396875"/>
            <a:chOff x="1121" y="2395"/>
            <a:chExt cx="435" cy="250"/>
          </a:xfrm>
        </p:grpSpPr>
        <p:sp>
          <p:nvSpPr>
            <p:cNvPr id="296155" name="Text Box 219"/>
            <p:cNvSpPr txBox="1">
              <a:spLocks noChangeArrowheads="1"/>
            </p:cNvSpPr>
            <p:nvPr/>
          </p:nvSpPr>
          <p:spPr bwMode="auto">
            <a:xfrm>
              <a:off x="1121" y="2395"/>
              <a:ext cx="435" cy="250"/>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R</a:t>
              </a:r>
              <a:r>
                <a:rPr kumimoji="0" lang="en-US" altLang="zh-CN" sz="2000" b="1" baseline="-2500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3 </a:t>
              </a:r>
              <a:r>
                <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Y</a:t>
              </a:r>
              <a:endParaRPr kumimoji="0" lang="en-US" altLang="zh-CN" sz="2000" b="1">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111770" name="Line 220"/>
            <p:cNvSpPr>
              <a:spLocks noChangeShapeType="1"/>
            </p:cNvSpPr>
            <p:nvPr/>
          </p:nvSpPr>
          <p:spPr bwMode="auto">
            <a:xfrm>
              <a:off x="1323" y="2520"/>
              <a:ext cx="99" cy="0"/>
            </a:xfrm>
            <a:prstGeom prst="line">
              <a:avLst/>
            </a:prstGeom>
            <a:noFill/>
            <a:ln w="19050">
              <a:solidFill>
                <a:schemeClr val="tx1"/>
              </a:solidFill>
              <a:round/>
              <a:tailEnd type="arrow" w="lg" len="med"/>
            </a:ln>
            <a:extLst>
              <a:ext uri="{909E8E84-426E-40DD-AFC4-6F175D3DCCD1}">
                <a14:hiddenFill xmlns:a14="http://schemas.microsoft.com/office/drawing/2010/main">
                  <a:noFill/>
                </a14:hiddenFill>
              </a:ext>
            </a:extLst>
          </p:spPr>
          <p:txBody>
            <a:bodyPr/>
            <a:lstStyle/>
            <a:p>
              <a:endParaRPr lang="zh-CN" altLang="en-US"/>
            </a:p>
          </p:txBody>
        </p:sp>
      </p:grpSp>
      <p:sp>
        <p:nvSpPr>
          <p:cNvPr id="296157" name="Text Box 221"/>
          <p:cNvSpPr txBox="1">
            <a:spLocks noChangeArrowheads="1"/>
          </p:cNvSpPr>
          <p:nvPr/>
        </p:nvSpPr>
        <p:spPr bwMode="auto">
          <a:xfrm>
            <a:off x="3713163" y="2787650"/>
            <a:ext cx="392112"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58" name="Text Box 222"/>
          <p:cNvSpPr txBox="1">
            <a:spLocks noChangeArrowheads="1"/>
          </p:cNvSpPr>
          <p:nvPr/>
        </p:nvSpPr>
        <p:spPr bwMode="auto">
          <a:xfrm>
            <a:off x="4084638" y="2387600"/>
            <a:ext cx="411162" cy="396875"/>
          </a:xfrm>
          <a:prstGeom prst="rect">
            <a:avLst/>
          </a:prstGeom>
          <a:noFill/>
          <a:ln w="19050">
            <a:noFill/>
            <a:miter lim="800000"/>
            <a:tailEnd type="none" w="lg" len="lg"/>
          </a:ln>
          <a:effectLst/>
        </p:spPr>
        <p:txBody>
          <a:bodyPr wrap="none">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M</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59" name="Text Box 223"/>
          <p:cNvSpPr txBox="1">
            <a:spLocks noChangeArrowheads="1"/>
          </p:cNvSpPr>
          <p:nvPr/>
        </p:nvSpPr>
        <p:spPr bwMode="auto">
          <a:xfrm>
            <a:off x="4413250" y="2806700"/>
            <a:ext cx="439738" cy="396875"/>
          </a:xfrm>
          <a:prstGeom prst="rect">
            <a:avLst/>
          </a:prstGeom>
          <a:noFill/>
          <a:ln w="19050">
            <a:noFill/>
            <a:miter lim="800000"/>
            <a:tailEnd type="none" w="lg" len="lg"/>
          </a:ln>
          <a:effectLst/>
        </p:spPr>
        <p:txBody>
          <a:bodyPr wrap="none">
            <a:spAutoFit/>
          </a:bodyPr>
          <a:lstStyle/>
          <a:p>
            <a:pPr eaLnBrk="1" hangingPunct="1">
              <a:defRPr/>
            </a:pPr>
            <a:r>
              <a:rPr kumimoji="0" lang="zh-CN" altLang="en-US" sz="2000" b="1" dirty="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rPr>
              <a:t>－</a:t>
            </a:r>
            <a:endParaRPr kumimoji="0" lang="zh-CN" altLang="en-US" sz="2000" b="1" dirty="0">
              <a:solidFill>
                <a:srgbClr val="CC3300"/>
              </a:solidFill>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0" name="Text Box 224"/>
          <p:cNvSpPr txBox="1">
            <a:spLocks noChangeArrowheads="1"/>
          </p:cNvSpPr>
          <p:nvPr/>
        </p:nvSpPr>
        <p:spPr bwMode="auto">
          <a:xfrm>
            <a:off x="4670425" y="2389188"/>
            <a:ext cx="630238"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RD’</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1" name="Text Box 225"/>
          <p:cNvSpPr txBox="1">
            <a:spLocks noChangeArrowheads="1"/>
          </p:cNvSpPr>
          <p:nvPr/>
        </p:nvSpPr>
        <p:spPr bwMode="auto">
          <a:xfrm>
            <a:off x="4841875" y="2803525"/>
            <a:ext cx="96837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LDDR’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2" name="Text Box 226"/>
          <p:cNvSpPr txBox="1">
            <a:spLocks noChangeArrowheads="1"/>
          </p:cNvSpPr>
          <p:nvPr/>
        </p:nvSpPr>
        <p:spPr bwMode="auto">
          <a:xfrm>
            <a:off x="5284788" y="2389188"/>
            <a:ext cx="898525"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LDIR’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3" name="Text Box 227"/>
          <p:cNvSpPr txBox="1">
            <a:spLocks noChangeArrowheads="1"/>
          </p:cNvSpPr>
          <p:nvPr/>
        </p:nvSpPr>
        <p:spPr bwMode="auto">
          <a:xfrm>
            <a:off x="5656263" y="2803525"/>
            <a:ext cx="95091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LDAR’</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4" name="Text Box 228"/>
          <p:cNvSpPr txBox="1">
            <a:spLocks noChangeArrowheads="1"/>
          </p:cNvSpPr>
          <p:nvPr/>
        </p:nvSpPr>
        <p:spPr bwMode="auto">
          <a:xfrm>
            <a:off x="6042025" y="2387600"/>
            <a:ext cx="890588"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PC+1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5" name="Text Box 229"/>
          <p:cNvSpPr txBox="1">
            <a:spLocks noChangeArrowheads="1"/>
          </p:cNvSpPr>
          <p:nvPr/>
        </p:nvSpPr>
        <p:spPr bwMode="auto">
          <a:xfrm>
            <a:off x="6527800" y="2801938"/>
            <a:ext cx="512763"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P1</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6" name="Text Box 230"/>
          <p:cNvSpPr txBox="1">
            <a:spLocks noChangeArrowheads="1"/>
          </p:cNvSpPr>
          <p:nvPr/>
        </p:nvSpPr>
        <p:spPr bwMode="auto">
          <a:xfrm>
            <a:off x="6913563" y="2387600"/>
            <a:ext cx="512762" cy="396875"/>
          </a:xfrm>
          <a:prstGeom prst="rect">
            <a:avLst/>
          </a:prstGeom>
          <a:noFill/>
          <a:ln w="19050">
            <a:noFill/>
            <a:miter lim="800000"/>
            <a:tailEnd type="none" w="lg" len="lg"/>
          </a:ln>
          <a:effectLst/>
        </p:spPr>
        <p:txBody>
          <a:bodyPr wrap="none">
            <a:spAutoFit/>
          </a:bodyPr>
          <a:lstStyle/>
          <a:p>
            <a:pPr eaLnBrk="1" hangingPunct="1">
              <a:defRPr/>
            </a:pPr>
            <a:r>
              <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rPr>
              <a:t>P2</a:t>
            </a:r>
            <a:endParaRPr kumimoji="0" lang="en-US" altLang="zh-CN" sz="2000" b="1">
              <a:effectLst>
                <a:outerShdw blurRad="38100" dist="38100" dir="2700000" algn="tl">
                  <a:srgbClr val="C0C0C0"/>
                </a:outerShdw>
              </a:effectLst>
              <a:latin typeface="Tahoma" panose="020B0604030504040204" pitchFamily="34" charset="0"/>
              <a:ea typeface="宋体" panose="02010600030101010101" pitchFamily="2" charset="-122"/>
            </a:endParaRPr>
          </a:p>
        </p:txBody>
      </p:sp>
      <p:sp>
        <p:nvSpPr>
          <p:cNvPr id="296167" name="Text Box 231"/>
          <p:cNvSpPr txBox="1">
            <a:spLocks noChangeArrowheads="1"/>
          </p:cNvSpPr>
          <p:nvPr/>
        </p:nvSpPr>
        <p:spPr bwMode="auto">
          <a:xfrm>
            <a:off x="7424738" y="2763838"/>
            <a:ext cx="1206500" cy="396875"/>
          </a:xfrm>
          <a:prstGeom prst="rect">
            <a:avLst/>
          </a:prstGeom>
          <a:noFill/>
          <a:ln w="19050">
            <a:noFill/>
            <a:miter lim="800000"/>
            <a:tailEnd type="none" w="lg" len="lg"/>
          </a:ln>
          <a:effectLst/>
        </p:spPr>
        <p:txBody>
          <a:bodyPr wrap="none">
            <a:spAutoFit/>
          </a:bodyPr>
          <a:lstStyle/>
          <a:p>
            <a:pPr algn="ctr" eaLnBrk="1" hangingPunct="1">
              <a:defRPr/>
            </a:pPr>
            <a:r>
              <a:rPr kumimoji="0" lang="zh-CN" altLang="en-US" sz="2000" b="1">
                <a:latin typeface="楷体" panose="02010609060101010101" pitchFamily="49" charset="-122"/>
                <a:ea typeface="楷体" panose="02010609060101010101" pitchFamily="49" charset="-122"/>
              </a:rPr>
              <a:t>直接地址</a:t>
            </a:r>
            <a:endParaRPr kumimoji="0" lang="zh-CN" altLang="en-US" sz="2000" b="1">
              <a:latin typeface="楷体" panose="02010609060101010101" pitchFamily="49" charset="-122"/>
              <a:ea typeface="楷体" panose="02010609060101010101" pitchFamily="49" charset="-122"/>
            </a:endParaRPr>
          </a:p>
        </p:txBody>
      </p:sp>
      <p:sp>
        <p:nvSpPr>
          <p:cNvPr id="111755" name="Line 232"/>
          <p:cNvSpPr>
            <a:spLocks noChangeShapeType="1"/>
          </p:cNvSpPr>
          <p:nvPr/>
        </p:nvSpPr>
        <p:spPr bwMode="auto">
          <a:xfrm>
            <a:off x="519113" y="4457700"/>
            <a:ext cx="6100762"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6169" name="Text Box 233"/>
          <p:cNvSpPr txBox="1">
            <a:spLocks noChangeArrowheads="1"/>
          </p:cNvSpPr>
          <p:nvPr/>
        </p:nvSpPr>
        <p:spPr bwMode="auto">
          <a:xfrm>
            <a:off x="2809875" y="4197350"/>
            <a:ext cx="1409700" cy="457200"/>
          </a:xfrm>
          <a:prstGeom prst="rect">
            <a:avLst/>
          </a:prstGeom>
          <a:solidFill>
            <a:schemeClr val="bg1"/>
          </a:solidFill>
          <a:ln w="19050">
            <a:noFill/>
            <a:miter lim="800000"/>
            <a:tailEnd type="none" w="lg" len="lg"/>
          </a:ln>
          <a:effectLst/>
        </p:spPr>
        <p:txBody>
          <a:bodyPr wrap="none">
            <a:spAutoFit/>
          </a:bodyPr>
          <a:lstStyle/>
          <a:p>
            <a:pPr algn="ctr" eaLnBrk="1" hangingPunct="1">
              <a:defRPr/>
            </a:pPr>
            <a:r>
              <a:rPr kumimoji="0" lang="zh-CN" altLang="en-US" sz="2400" b="1" dirty="0">
                <a:latin typeface="楷体" panose="02010609060101010101" pitchFamily="49" charset="-122"/>
                <a:ea typeface="楷体" panose="02010609060101010101" pitchFamily="49" charset="-122"/>
              </a:rPr>
              <a:t>操作控制</a:t>
            </a:r>
            <a:endParaRPr kumimoji="0" lang="zh-CN" altLang="en-US" sz="2400" b="1" dirty="0">
              <a:latin typeface="楷体" panose="02010609060101010101" pitchFamily="49" charset="-122"/>
              <a:ea typeface="楷体" panose="02010609060101010101" pitchFamily="49" charset="-122"/>
            </a:endParaRPr>
          </a:p>
        </p:txBody>
      </p:sp>
      <p:sp>
        <p:nvSpPr>
          <p:cNvPr id="111757" name="Line 234"/>
          <p:cNvSpPr>
            <a:spLocks noChangeShapeType="1"/>
          </p:cNvSpPr>
          <p:nvPr/>
        </p:nvSpPr>
        <p:spPr bwMode="auto">
          <a:xfrm>
            <a:off x="6619875" y="4457700"/>
            <a:ext cx="2157413"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296171" name="Text Box 235"/>
          <p:cNvSpPr txBox="1">
            <a:spLocks noChangeArrowheads="1"/>
          </p:cNvSpPr>
          <p:nvPr/>
        </p:nvSpPr>
        <p:spPr bwMode="auto">
          <a:xfrm>
            <a:off x="7024688" y="4197350"/>
            <a:ext cx="1409700" cy="457200"/>
          </a:xfrm>
          <a:prstGeom prst="rect">
            <a:avLst/>
          </a:prstGeom>
          <a:solidFill>
            <a:schemeClr val="bg1"/>
          </a:solidFill>
          <a:ln w="19050">
            <a:noFill/>
            <a:miter lim="800000"/>
            <a:tailEnd type="none" w="lg" len="lg"/>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a:latin typeface="楷体" panose="02010609060101010101" pitchFamily="49" charset="-122"/>
                <a:ea typeface="楷体" panose="02010609060101010101" pitchFamily="49" charset="-122"/>
              </a:rPr>
              <a:t>顺序控制</a:t>
            </a:r>
            <a:endParaRPr kumimoji="0" lang="zh-CN" altLang="en-US" sz="2400" b="1">
              <a:latin typeface="楷体" panose="02010609060101010101" pitchFamily="49" charset="-122"/>
              <a:ea typeface="楷体" panose="02010609060101010101" pitchFamily="49" charset="-122"/>
            </a:endParaRPr>
          </a:p>
        </p:txBody>
      </p:sp>
      <p:graphicFrame>
        <p:nvGraphicFramePr>
          <p:cNvPr id="296172" name="Group 236"/>
          <p:cNvGraphicFramePr>
            <a:graphicFrameLocks noGrp="1"/>
          </p:cNvGraphicFramePr>
          <p:nvPr/>
        </p:nvGraphicFramePr>
        <p:xfrm>
          <a:off x="503238" y="1911350"/>
          <a:ext cx="8291512" cy="457200"/>
        </p:xfrm>
        <a:graphic>
          <a:graphicData uri="http://schemas.openxmlformats.org/drawingml/2006/table">
            <a:tbl>
              <a:tblPr/>
              <a:tblGrid>
                <a:gridCol w="6129337"/>
                <a:gridCol w="728663"/>
                <a:gridCol w="1433512"/>
              </a:tblGrid>
              <a:tr h="455613">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 </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a:t>
                      </a:r>
                      <a:r>
                        <a:rPr kumimoji="1" lang="en-US" altLang="zh-CN" sz="2400" b="1" i="0" u="none" strike="noStrike" cap="none" normalizeH="0" baseline="0">
                          <a:ln>
                            <a:noFill/>
                          </a:ln>
                          <a:solidFill>
                            <a:srgbClr val="CC3300"/>
                          </a:solidFill>
                          <a:effectLst/>
                          <a:latin typeface="Times New Roman" panose="02020603050405020304" pitchFamily="18" charset="0"/>
                          <a:ea typeface="楷体_GB2312" pitchFamily="49"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  0  0  0  0  0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0  0</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rPr>
                        <a:t>0  0  0  0</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28575" cap="flat" cmpd="sng" algn="ctr">
                      <a:solidFill>
                        <a:schemeClr val="tx1"/>
                      </a:solidFill>
                      <a:prstDash val="solid"/>
                      <a:round/>
                      <a:headEnd type="none" w="med" len="med"/>
                      <a:tailEnd type="none" w="lg" len="lg"/>
                    </a:lnB>
                    <a:lnTlToBr>
                      <a:noFill/>
                    </a:lnTlToBr>
                    <a:lnBlToTr>
                      <a:noFill/>
                    </a:lnBlToTr>
                    <a:noFill/>
                  </a:tcPr>
                </a:tc>
              </a:tr>
            </a:tbl>
          </a:graphicData>
        </a:graphic>
      </p:graphicFrame>
    </p:spTree>
  </p:cSld>
  <p:clrMapOvr>
    <a:masterClrMapping/>
  </p:clrMapOvr>
  <p:transition spd="med">
    <p:pull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pPr eaLnBrk="1" hangingPunct="1"/>
            <a:r>
              <a:rPr lang="zh-CN" altLang="en-US"/>
              <a:t>微指令周期与</a:t>
            </a:r>
            <a:r>
              <a:rPr lang="en-US" altLang="zh-CN"/>
              <a:t>CPU</a:t>
            </a:r>
            <a:r>
              <a:rPr lang="zh-CN" altLang="en-US"/>
              <a:t>周期的关系</a:t>
            </a:r>
            <a:endParaRPr lang="zh-CN" altLang="en-US"/>
          </a:p>
        </p:txBody>
      </p:sp>
      <p:sp>
        <p:nvSpPr>
          <p:cNvPr id="112642" name="Rectangle 3"/>
          <p:cNvSpPr>
            <a:spLocks noGrp="1" noChangeArrowheads="1"/>
          </p:cNvSpPr>
          <p:nvPr>
            <p:ph idx="1"/>
          </p:nvPr>
        </p:nvSpPr>
        <p:spPr/>
        <p:txBody>
          <a:bodyPr/>
          <a:lstStyle/>
          <a:p>
            <a:pPr eaLnBrk="1" hangingPunct="1">
              <a:lnSpc>
                <a:spcPct val="80000"/>
              </a:lnSpc>
            </a:pPr>
            <a:r>
              <a:rPr lang="zh-CN" altLang="en-US" sz="2400" dirty="0"/>
              <a:t>在串行方式的微程序控制器中，</a:t>
            </a:r>
            <a:r>
              <a:rPr lang="zh-CN" altLang="en-US" sz="2400" dirty="0">
                <a:solidFill>
                  <a:srgbClr val="FF0000"/>
                </a:solidFill>
              </a:rPr>
              <a:t>微指令周期</a:t>
            </a:r>
            <a:r>
              <a:rPr lang="zh-CN" altLang="en-US" sz="2400" dirty="0"/>
              <a:t>等于读出微指令的时间加上执行该条微指令的时间</a:t>
            </a:r>
            <a:endParaRPr lang="zh-CN" altLang="en-US" sz="2400" dirty="0"/>
          </a:p>
          <a:p>
            <a:pPr eaLnBrk="1" hangingPunct="1">
              <a:lnSpc>
                <a:spcPct val="80000"/>
              </a:lnSpc>
            </a:pPr>
            <a:r>
              <a:rPr lang="zh-CN" altLang="en-US" sz="2400" dirty="0"/>
              <a:t>为了保证整个机器控制信号的同步，可以将一个微指令周期时间设计得恰好和</a:t>
            </a:r>
            <a:r>
              <a:rPr lang="en-US" altLang="zh-CN" sz="2400" dirty="0"/>
              <a:t>CPU</a:t>
            </a:r>
            <a:r>
              <a:rPr lang="zh-CN" altLang="en-US" sz="2400" dirty="0"/>
              <a:t>周期时间相等</a:t>
            </a:r>
            <a:endParaRPr lang="zh-CN" altLang="en-US" sz="2400" dirty="0"/>
          </a:p>
          <a:p>
            <a:pPr eaLnBrk="1" hangingPunct="1">
              <a:lnSpc>
                <a:spcPct val="80000"/>
              </a:lnSpc>
            </a:pPr>
            <a:endParaRPr lang="zh-CN" altLang="en-US" sz="2400" dirty="0"/>
          </a:p>
          <a:p>
            <a:pPr eaLnBrk="1" hangingPunct="1">
              <a:lnSpc>
                <a:spcPct val="80000"/>
              </a:lnSpc>
            </a:pPr>
            <a:endParaRPr lang="zh-CN" altLang="en-US" sz="2400" dirty="0"/>
          </a:p>
          <a:p>
            <a:pPr eaLnBrk="1" hangingPunct="1">
              <a:lnSpc>
                <a:spcPct val="80000"/>
              </a:lnSpc>
            </a:pPr>
            <a:endParaRPr lang="zh-CN" altLang="en-US" sz="2400" dirty="0"/>
          </a:p>
          <a:p>
            <a:pPr eaLnBrk="1" hangingPunct="1">
              <a:lnSpc>
                <a:spcPct val="80000"/>
              </a:lnSpc>
            </a:pPr>
            <a:endParaRPr lang="zh-CN" altLang="en-US" sz="2400" dirty="0"/>
          </a:p>
          <a:p>
            <a:pPr eaLnBrk="1" hangingPunct="1">
              <a:lnSpc>
                <a:spcPct val="80000"/>
              </a:lnSpc>
            </a:pPr>
            <a:endParaRPr lang="zh-CN" altLang="en-US" sz="2400" dirty="0"/>
          </a:p>
          <a:p>
            <a:pPr eaLnBrk="1" hangingPunct="1">
              <a:lnSpc>
                <a:spcPct val="80000"/>
              </a:lnSpc>
            </a:pPr>
            <a:endParaRPr lang="zh-CN" altLang="en-US" sz="2400" dirty="0"/>
          </a:p>
          <a:p>
            <a:pPr eaLnBrk="1" hangingPunct="1">
              <a:lnSpc>
                <a:spcPct val="80000"/>
              </a:lnSpc>
            </a:pPr>
            <a:r>
              <a:rPr kumimoji="0" lang="zh-CN" altLang="en-US" sz="2400" dirty="0"/>
              <a:t>一个</a:t>
            </a:r>
            <a:r>
              <a:rPr kumimoji="0" lang="en-US" altLang="zh-CN" sz="2400" dirty="0"/>
              <a:t>CPU</a:t>
            </a:r>
            <a:r>
              <a:rPr kumimoji="0" lang="zh-CN" altLang="en-US" sz="2400" dirty="0"/>
              <a:t>周期为</a:t>
            </a:r>
            <a:r>
              <a:rPr kumimoji="0" lang="en-US" altLang="zh-CN" sz="2400" dirty="0"/>
              <a:t>0.8</a:t>
            </a:r>
            <a:r>
              <a:rPr kumimoji="0" lang="el-GR" altLang="zh-CN" sz="2400" dirty="0"/>
              <a:t>μ</a:t>
            </a:r>
            <a:r>
              <a:rPr kumimoji="0" lang="en-US" altLang="zh-CN" sz="2400" dirty="0"/>
              <a:t>s</a:t>
            </a:r>
            <a:r>
              <a:rPr kumimoji="0" lang="zh-CN" altLang="en-US" sz="2400" dirty="0"/>
              <a:t>，包含四个等间隔的节拍脉冲</a:t>
            </a:r>
            <a:r>
              <a:rPr kumimoji="0" lang="en-US" altLang="zh-CN" sz="2400" dirty="0"/>
              <a:t>T1</a:t>
            </a:r>
            <a:r>
              <a:rPr kumimoji="0" lang="zh-CN" altLang="en-US" sz="2400" dirty="0"/>
              <a:t>－</a:t>
            </a:r>
            <a:r>
              <a:rPr kumimoji="0" lang="en-US" altLang="zh-CN" sz="2400" dirty="0"/>
              <a:t>T4</a:t>
            </a:r>
            <a:r>
              <a:rPr kumimoji="0" lang="zh-CN" altLang="en-US" sz="2400" dirty="0"/>
              <a:t>，每个脉冲宽度为</a:t>
            </a:r>
            <a:r>
              <a:rPr kumimoji="0" lang="en-US" altLang="zh-CN" sz="2400" dirty="0"/>
              <a:t>200ns</a:t>
            </a:r>
            <a:endParaRPr kumimoji="0" lang="en-US" altLang="zh-CN" sz="2400" dirty="0"/>
          </a:p>
          <a:p>
            <a:pPr eaLnBrk="1" hangingPunct="1">
              <a:lnSpc>
                <a:spcPct val="80000"/>
              </a:lnSpc>
            </a:pPr>
            <a:r>
              <a:rPr kumimoji="0" lang="zh-CN" altLang="en-US" sz="2400" dirty="0"/>
              <a:t>用</a:t>
            </a:r>
            <a:r>
              <a:rPr kumimoji="0" lang="en-US" altLang="zh-CN" sz="2400" dirty="0"/>
              <a:t>T4</a:t>
            </a:r>
            <a:r>
              <a:rPr kumimoji="0" lang="zh-CN" altLang="en-US" sz="2400" dirty="0"/>
              <a:t>作为读取微指令的时间，用</a:t>
            </a:r>
            <a:r>
              <a:rPr kumimoji="0" lang="en-US" altLang="zh-CN" sz="2400" dirty="0"/>
              <a:t>T1</a:t>
            </a:r>
            <a:r>
              <a:rPr kumimoji="0" lang="zh-CN" altLang="en-US" sz="2400" dirty="0"/>
              <a:t>＋</a:t>
            </a:r>
            <a:r>
              <a:rPr kumimoji="0" lang="en-US" altLang="zh-CN" sz="2400" dirty="0"/>
              <a:t>T2</a:t>
            </a:r>
            <a:r>
              <a:rPr kumimoji="0" lang="zh-CN" altLang="en-US" sz="2400" dirty="0"/>
              <a:t>＋</a:t>
            </a:r>
            <a:r>
              <a:rPr kumimoji="0" lang="en-US" altLang="zh-CN" sz="2400" dirty="0"/>
              <a:t>T3</a:t>
            </a:r>
            <a:r>
              <a:rPr kumimoji="0" lang="zh-CN" altLang="en-US" sz="2400" dirty="0"/>
              <a:t>时间作为执行微指令的时间</a:t>
            </a:r>
            <a:endParaRPr kumimoji="0" lang="zh-CN" altLang="en-US" sz="2400" dirty="0"/>
          </a:p>
        </p:txBody>
      </p:sp>
      <p:graphicFrame>
        <p:nvGraphicFramePr>
          <p:cNvPr id="299121" name="Group 113"/>
          <p:cNvGraphicFramePr>
            <a:graphicFrameLocks noGrp="1"/>
          </p:cNvGraphicFramePr>
          <p:nvPr/>
        </p:nvGraphicFramePr>
        <p:xfrm>
          <a:off x="1387475" y="2852738"/>
          <a:ext cx="6096000" cy="1566861"/>
        </p:xfrm>
        <a:graphic>
          <a:graphicData uri="http://schemas.openxmlformats.org/drawingml/2006/table">
            <a:tbl>
              <a:tblPr/>
              <a:tblGrid>
                <a:gridCol w="762000"/>
                <a:gridCol w="762000"/>
                <a:gridCol w="762000"/>
                <a:gridCol w="762000"/>
                <a:gridCol w="762000"/>
                <a:gridCol w="762000"/>
                <a:gridCol w="762000"/>
                <a:gridCol w="762000"/>
              </a:tblGrid>
              <a:tr h="477837">
                <a:tc gridSpan="3">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cap="flat">
                      <a:noFill/>
                    </a:lnT>
                    <a:lnB w="12700" cap="flat" cmpd="sng" algn="ctr">
                      <a:solidFill>
                        <a:schemeClr val="tx1"/>
                      </a:solidFill>
                      <a:prstDash val="solid"/>
                      <a:round/>
                      <a:headEnd type="none" w="med" len="med"/>
                      <a:tailEnd type="none" w="lg" len="lg"/>
                    </a:lnB>
                    <a:lnTlToBr>
                      <a:noFill/>
                    </a:lnTlToBr>
                    <a:lnBlToTr>
                      <a:noFill/>
                    </a:lnBlToTr>
                    <a:noFill/>
                  </a:tcPr>
                </a:tc>
                <a:tc hMerge="1">
                  <a:tcPr/>
                </a:tc>
                <a:tc hMerge="1">
                  <a:tcPr/>
                </a:tc>
                <a:tc gridSpan="4">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cap="flat">
                      <a:noFill/>
                    </a:lnT>
                    <a:lnB w="12700" cap="flat" cmpd="sng" algn="ctr">
                      <a:solidFill>
                        <a:schemeClr val="tx1"/>
                      </a:solidFill>
                      <a:prstDash val="solid"/>
                      <a:round/>
                      <a:headEnd type="none" w="med" len="med"/>
                      <a:tailEnd type="none" w="lg" len="lg"/>
                    </a:lnB>
                    <a:lnTlToBr>
                      <a:noFill/>
                    </a:lnTlToBr>
                    <a:lnBlToTr>
                      <a:noFill/>
                    </a:lnBlToTr>
                    <a:noFill/>
                  </a:tcPr>
                </a:tc>
                <a:tc hMerge="1">
                  <a:tcPr/>
                </a:tc>
                <a:tc hMerge="1">
                  <a:tcPr/>
                </a:tc>
                <a:tc hMerge="1">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cap="flat">
                      <a:noFill/>
                    </a:lnT>
                    <a:lnB w="12700" cap="flat" cmpd="sng" algn="ctr">
                      <a:solidFill>
                        <a:schemeClr val="tx1"/>
                      </a:solidFill>
                      <a:prstDash val="solid"/>
                      <a:round/>
                      <a:headEnd type="none" w="med" len="med"/>
                      <a:tailEnd type="none" w="lg" len="lg"/>
                    </a:lnB>
                    <a:lnTlToBr>
                      <a:noFill/>
                    </a:lnTlToBr>
                    <a:lnBlToTr>
                      <a:noFill/>
                    </a:lnBlToTr>
                    <a:noFill/>
                  </a:tcPr>
                </a:tc>
              </a:tr>
              <a:tr h="61118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T2</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T3</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T4</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pct80">
                      <a:fgClr>
                        <a:schemeClr val="accent1"/>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T1</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T2</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T3</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r>
                        <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rPr>
                        <a:t>T4</a:t>
                      </a:r>
                      <a:endParaRPr kumimoji="1" lang="en-US" altLang="zh-CN"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pattFill prst="pct80">
                      <a:fgClr>
                        <a:schemeClr val="accent1"/>
                      </a:fgClr>
                      <a:bgClr>
                        <a:schemeClr val="bg1"/>
                      </a:bgClr>
                    </a:pattFill>
                  </a:tcPr>
                </a:tc>
              </a:tr>
              <a:tr h="477837">
                <a:tc gridSpan="4">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cap="flat">
                      <a:noFill/>
                    </a:lnB>
                    <a:lnTlToBr>
                      <a:noFill/>
                    </a:lnTlToBr>
                    <a:lnBlToTr>
                      <a:noFill/>
                    </a:lnBlToTr>
                    <a:noFill/>
                  </a:tcPr>
                </a:tc>
                <a:tc hMerge="1">
                  <a:tcPr/>
                </a:tc>
                <a:tc hMerge="1">
                  <a:tcPr/>
                </a:tc>
                <a:tc hMerge="1">
                  <a:tcPr/>
                </a:tc>
                <a:tc gridSpan="4">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tab pos="1524000" algn="l"/>
                        </a:tabLst>
                      </a:pPr>
                      <a:endParaRPr kumimoji="1" lang="zh-CN" altLang="en-US" sz="2400" b="1" i="0" u="none" strike="noStrike" cap="none" normalizeH="0" baseline="0" dirty="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lg" len="lg"/>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cap="flat">
                      <a:noFill/>
                    </a:lnB>
                    <a:lnTlToBr>
                      <a:noFill/>
                    </a:lnTlToBr>
                    <a:lnBlToTr>
                      <a:noFill/>
                    </a:lnBlToTr>
                    <a:noFill/>
                  </a:tcPr>
                </a:tc>
                <a:tc hMerge="1">
                  <a:tcPr/>
                </a:tc>
                <a:tc hMerge="1">
                  <a:tcPr/>
                </a:tc>
                <a:tc hMerge="1">
                  <a:tcPr/>
                </a:tc>
              </a:tr>
            </a:tbl>
          </a:graphicData>
        </a:graphic>
      </p:graphicFrame>
      <p:sp>
        <p:nvSpPr>
          <p:cNvPr id="112669" name="Line 114"/>
          <p:cNvSpPr>
            <a:spLocks noChangeShapeType="1"/>
          </p:cNvSpPr>
          <p:nvPr/>
        </p:nvSpPr>
        <p:spPr bwMode="auto">
          <a:xfrm>
            <a:off x="1392238" y="4256088"/>
            <a:ext cx="3043237"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2670" name="Line 115"/>
          <p:cNvSpPr>
            <a:spLocks noChangeShapeType="1"/>
          </p:cNvSpPr>
          <p:nvPr/>
        </p:nvSpPr>
        <p:spPr bwMode="auto">
          <a:xfrm>
            <a:off x="4435475" y="4256088"/>
            <a:ext cx="3043238"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2671" name="Text Box 116"/>
          <p:cNvSpPr txBox="1">
            <a:spLocks noChangeArrowheads="1"/>
          </p:cNvSpPr>
          <p:nvPr/>
        </p:nvSpPr>
        <p:spPr bwMode="auto">
          <a:xfrm>
            <a:off x="2275732" y="4044950"/>
            <a:ext cx="1269899" cy="46166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楷体" panose="02010609060101010101" pitchFamily="49" charset="-122"/>
                <a:ea typeface="楷体" panose="02010609060101010101" pitchFamily="49" charset="-122"/>
              </a:rPr>
              <a:t>CPU</a:t>
            </a:r>
            <a:r>
              <a:rPr kumimoji="0" lang="zh-CN" altLang="en-US" sz="2400">
                <a:latin typeface="楷体" panose="02010609060101010101" pitchFamily="49" charset="-122"/>
                <a:ea typeface="楷体" panose="02010609060101010101" pitchFamily="49" charset="-122"/>
              </a:rPr>
              <a:t>周期</a:t>
            </a:r>
            <a:endParaRPr kumimoji="0" lang="zh-CN" altLang="en-US" sz="2400">
              <a:latin typeface="楷体" panose="02010609060101010101" pitchFamily="49" charset="-122"/>
              <a:ea typeface="楷体" panose="02010609060101010101" pitchFamily="49" charset="-122"/>
            </a:endParaRPr>
          </a:p>
        </p:txBody>
      </p:sp>
      <p:sp>
        <p:nvSpPr>
          <p:cNvPr id="112672" name="Text Box 117"/>
          <p:cNvSpPr txBox="1">
            <a:spLocks noChangeArrowheads="1"/>
          </p:cNvSpPr>
          <p:nvPr/>
        </p:nvSpPr>
        <p:spPr bwMode="auto">
          <a:xfrm>
            <a:off x="5318969" y="4044950"/>
            <a:ext cx="1269899" cy="461665"/>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latin typeface="楷体" panose="02010609060101010101" pitchFamily="49" charset="-122"/>
                <a:ea typeface="楷体" panose="02010609060101010101" pitchFamily="49" charset="-122"/>
              </a:rPr>
              <a:t>CPU</a:t>
            </a:r>
            <a:r>
              <a:rPr kumimoji="0" lang="zh-CN" altLang="en-US" sz="2400">
                <a:latin typeface="楷体" panose="02010609060101010101" pitchFamily="49" charset="-122"/>
                <a:ea typeface="楷体" panose="02010609060101010101" pitchFamily="49" charset="-122"/>
              </a:rPr>
              <a:t>周期</a:t>
            </a:r>
            <a:endParaRPr kumimoji="0" lang="zh-CN" altLang="en-US" sz="2400">
              <a:latin typeface="楷体" panose="02010609060101010101" pitchFamily="49" charset="-122"/>
              <a:ea typeface="楷体" panose="02010609060101010101" pitchFamily="49" charset="-122"/>
            </a:endParaRPr>
          </a:p>
        </p:txBody>
      </p:sp>
      <p:sp>
        <p:nvSpPr>
          <p:cNvPr id="112673" name="Line 118"/>
          <p:cNvSpPr>
            <a:spLocks noChangeShapeType="1"/>
          </p:cNvSpPr>
          <p:nvPr/>
        </p:nvSpPr>
        <p:spPr bwMode="auto">
          <a:xfrm>
            <a:off x="1406525" y="3041650"/>
            <a:ext cx="2257425"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2674" name="Text Box 119"/>
          <p:cNvSpPr txBox="1">
            <a:spLocks noChangeArrowheads="1"/>
          </p:cNvSpPr>
          <p:nvPr/>
        </p:nvSpPr>
        <p:spPr bwMode="auto">
          <a:xfrm>
            <a:off x="1697038" y="2809875"/>
            <a:ext cx="1716087"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dirty="0">
                <a:latin typeface="楷体" panose="02010609060101010101" pitchFamily="49" charset="-122"/>
                <a:ea typeface="楷体" panose="02010609060101010101" pitchFamily="49" charset="-122"/>
              </a:rPr>
              <a:t>执行微指令</a:t>
            </a:r>
            <a:endParaRPr kumimoji="0" lang="zh-CN" altLang="en-US" sz="2400" dirty="0">
              <a:latin typeface="楷体" panose="02010609060101010101" pitchFamily="49" charset="-122"/>
              <a:ea typeface="楷体" panose="02010609060101010101" pitchFamily="49" charset="-122"/>
            </a:endParaRPr>
          </a:p>
        </p:txBody>
      </p:sp>
      <p:sp>
        <p:nvSpPr>
          <p:cNvPr id="112675" name="Line 120"/>
          <p:cNvSpPr>
            <a:spLocks noChangeShapeType="1"/>
          </p:cNvSpPr>
          <p:nvPr/>
        </p:nvSpPr>
        <p:spPr bwMode="auto">
          <a:xfrm>
            <a:off x="3678238" y="3041650"/>
            <a:ext cx="3043237" cy="0"/>
          </a:xfrm>
          <a:prstGeom prst="line">
            <a:avLst/>
          </a:prstGeom>
          <a:noFill/>
          <a:ln w="19050">
            <a:solidFill>
              <a:schemeClr val="tx1"/>
            </a:solidFill>
            <a:round/>
            <a:headEnd type="stealth" w="lg" len="lg"/>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2676" name="Text Box 121"/>
          <p:cNvSpPr txBox="1">
            <a:spLocks noChangeArrowheads="1"/>
          </p:cNvSpPr>
          <p:nvPr/>
        </p:nvSpPr>
        <p:spPr bwMode="auto">
          <a:xfrm>
            <a:off x="4325938" y="2809875"/>
            <a:ext cx="1716087" cy="4572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楷体" panose="02010609060101010101" pitchFamily="49" charset="-122"/>
                <a:ea typeface="楷体" panose="02010609060101010101" pitchFamily="49" charset="-122"/>
              </a:rPr>
              <a:t>微指令周期</a:t>
            </a:r>
            <a:endParaRPr kumimoji="0" lang="zh-CN" altLang="en-US" sz="2400">
              <a:latin typeface="楷体" panose="02010609060101010101" pitchFamily="49" charset="-122"/>
              <a:ea typeface="楷体" panose="02010609060101010101" pitchFamily="49" charset="-122"/>
            </a:endParaRPr>
          </a:p>
        </p:txBody>
      </p:sp>
      <p:sp>
        <p:nvSpPr>
          <p:cNvPr id="112677" name="Text Box 122"/>
          <p:cNvSpPr txBox="1">
            <a:spLocks noChangeArrowheads="1"/>
          </p:cNvSpPr>
          <p:nvPr/>
        </p:nvSpPr>
        <p:spPr bwMode="auto">
          <a:xfrm>
            <a:off x="6292850" y="2359371"/>
            <a:ext cx="1600200" cy="387798"/>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squar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0"/>
              </a:spcBef>
              <a:buClrTx/>
              <a:buFontTx/>
              <a:buNone/>
            </a:pPr>
            <a:r>
              <a:rPr kumimoji="0" lang="zh-CN" altLang="en-US" sz="2400" dirty="0">
                <a:latin typeface="楷体" panose="02010609060101010101" pitchFamily="49" charset="-122"/>
                <a:ea typeface="楷体" panose="02010609060101010101" pitchFamily="49" charset="-122"/>
              </a:rPr>
              <a:t>读微指令</a:t>
            </a:r>
            <a:endParaRPr kumimoji="0" lang="zh-CN" altLang="en-US" sz="2400" dirty="0">
              <a:latin typeface="楷体" panose="02010609060101010101" pitchFamily="49" charset="-122"/>
              <a:ea typeface="楷体" panose="02010609060101010101" pitchFamily="49" charset="-122"/>
            </a:endParaRPr>
          </a:p>
        </p:txBody>
      </p:sp>
      <p:sp>
        <p:nvSpPr>
          <p:cNvPr id="112678" name="Line 123"/>
          <p:cNvSpPr>
            <a:spLocks noChangeShapeType="1"/>
          </p:cNvSpPr>
          <p:nvPr/>
        </p:nvSpPr>
        <p:spPr bwMode="auto">
          <a:xfrm>
            <a:off x="7092950" y="2741613"/>
            <a:ext cx="0" cy="285750"/>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a:lstStyle/>
          <a:p>
            <a:pPr eaLnBrk="1" hangingPunct="1"/>
            <a:r>
              <a:rPr lang="zh-CN" altLang="en-US"/>
              <a:t>机器指令与微指令的关系（</a:t>
            </a:r>
            <a:r>
              <a:rPr lang="en-US" altLang="zh-CN"/>
              <a:t>1</a:t>
            </a:r>
            <a:r>
              <a:rPr lang="zh-CN" altLang="en-US"/>
              <a:t>）</a:t>
            </a:r>
            <a:endParaRPr lang="zh-CN" altLang="en-US"/>
          </a:p>
        </p:txBody>
      </p:sp>
      <p:sp>
        <p:nvSpPr>
          <p:cNvPr id="113666" name="Rectangle 3"/>
          <p:cNvSpPr>
            <a:spLocks noGrp="1" noChangeArrowheads="1"/>
          </p:cNvSpPr>
          <p:nvPr>
            <p:ph idx="1"/>
          </p:nvPr>
        </p:nvSpPr>
        <p:spPr/>
        <p:txBody>
          <a:bodyPr/>
          <a:lstStyle/>
          <a:p>
            <a:pPr eaLnBrk="1" hangingPunct="1">
              <a:lnSpc>
                <a:spcPct val="90000"/>
              </a:lnSpc>
            </a:pPr>
            <a:r>
              <a:rPr lang="zh-CN" altLang="en-US" sz="2800"/>
              <a:t>一条机器指令对应一个微程序，这个微程序是由若干条微指令序列组成的</a:t>
            </a:r>
            <a:endParaRPr lang="zh-CN" altLang="en-US" sz="2800"/>
          </a:p>
          <a:p>
            <a:pPr eaLnBrk="1" hangingPunct="1">
              <a:lnSpc>
                <a:spcPct val="90000"/>
              </a:lnSpc>
            </a:pPr>
            <a:r>
              <a:rPr lang="zh-CN" altLang="en-US" sz="2800"/>
              <a:t>从指令与微指令，程序与微程序，地址与微地址的对应关系来看，前者与内存储器有关，后者与控制存储器有关</a:t>
            </a:r>
            <a:endParaRPr lang="zh-CN" altLang="en-US" sz="2800"/>
          </a:p>
        </p:txBody>
      </p:sp>
    </p:spTree>
  </p:cSld>
  <p:clrMapOvr>
    <a:masterClrMapping/>
  </p:clrMapOvr>
  <p:transition spd="med">
    <p:pull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13" name="AutoShape 23"/>
          <p:cNvSpPr>
            <a:spLocks noChangeArrowheads="1"/>
          </p:cNvSpPr>
          <p:nvPr/>
        </p:nvSpPr>
        <p:spPr bwMode="auto">
          <a:xfrm>
            <a:off x="6021388" y="2009775"/>
            <a:ext cx="228600" cy="500063"/>
          </a:xfrm>
          <a:prstGeom prst="upArrow">
            <a:avLst>
              <a:gd name="adj1" fmla="val 50000"/>
              <a:gd name="adj2" fmla="val 54688"/>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02082" name="Rectangle 2"/>
          <p:cNvSpPr>
            <a:spLocks noGrp="1" noChangeArrowheads="1"/>
          </p:cNvSpPr>
          <p:nvPr>
            <p:ph type="title"/>
          </p:nvPr>
        </p:nvSpPr>
        <p:spPr/>
        <p:txBody>
          <a:bodyPr/>
          <a:lstStyle/>
          <a:p>
            <a:pPr eaLnBrk="1" hangingPunct="1"/>
            <a:r>
              <a:rPr lang="zh-CN" altLang="en-US"/>
              <a:t>机器指令与微指令的关系（</a:t>
            </a:r>
            <a:r>
              <a:rPr lang="en-US" altLang="zh-CN"/>
              <a:t>2</a:t>
            </a:r>
            <a:r>
              <a:rPr lang="zh-CN" altLang="en-US"/>
              <a:t>）</a:t>
            </a:r>
            <a:endParaRPr lang="en-US" altLang="zh-CN"/>
          </a:p>
        </p:txBody>
      </p:sp>
      <p:sp>
        <p:nvSpPr>
          <p:cNvPr id="114691" name="AutoShape 39"/>
          <p:cNvSpPr>
            <a:spLocks noChangeArrowheads="1"/>
          </p:cNvSpPr>
          <p:nvPr/>
        </p:nvSpPr>
        <p:spPr bwMode="auto">
          <a:xfrm>
            <a:off x="7235825" y="4195763"/>
            <a:ext cx="442913" cy="257175"/>
          </a:xfrm>
          <a:prstGeom prst="leftArrow">
            <a:avLst>
              <a:gd name="adj1" fmla="val 50000"/>
              <a:gd name="adj2" fmla="val 43056"/>
            </a:avLst>
          </a:prstGeom>
          <a:solidFill>
            <a:srgbClr val="FFCC00"/>
          </a:solidFill>
          <a:ln w="19050">
            <a:noFill/>
            <a:miter lim="800000"/>
            <a:tailEnd type="none" w="lg" len="lg"/>
          </a:ln>
          <a:effectLst>
            <a:outerShdw blurRad="50800" dist="50800" dir="5400000" algn="ctr" rotWithShape="0">
              <a:schemeClr val="tx1">
                <a:lumMod val="50000"/>
                <a:lumOff val="50000"/>
              </a:scheme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4692" name="Rectangle 5"/>
          <p:cNvSpPr>
            <a:spLocks noChangeArrowheads="1"/>
          </p:cNvSpPr>
          <p:nvPr/>
        </p:nvSpPr>
        <p:spPr bwMode="auto">
          <a:xfrm>
            <a:off x="1677988" y="2233613"/>
            <a:ext cx="2227262" cy="442912"/>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程序计数器</a:t>
            </a:r>
            <a:r>
              <a:rPr kumimoji="0" lang="en-US" altLang="zh-CN" sz="2400">
                <a:solidFill>
                  <a:schemeClr val="bg1"/>
                </a:solidFill>
                <a:ea typeface="楷体" panose="02010609060101010101" pitchFamily="49" charset="-122"/>
                <a:cs typeface="Times New Roman" panose="02020603050405020304" pitchFamily="18" charset="0"/>
              </a:rPr>
              <a:t>PC</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114693" name="Rectangle 6"/>
          <p:cNvSpPr>
            <a:spLocks noChangeArrowheads="1"/>
          </p:cNvSpPr>
          <p:nvPr/>
        </p:nvSpPr>
        <p:spPr bwMode="auto">
          <a:xfrm>
            <a:off x="1663700" y="3076575"/>
            <a:ext cx="2286000" cy="442913"/>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地址寄存器</a:t>
            </a:r>
            <a:r>
              <a:rPr kumimoji="0" lang="en-US" altLang="zh-CN" sz="2400">
                <a:solidFill>
                  <a:schemeClr val="bg1"/>
                </a:solidFill>
                <a:ea typeface="楷体" panose="02010609060101010101" pitchFamily="49" charset="-122"/>
                <a:cs typeface="Times New Roman" panose="02020603050405020304" pitchFamily="18" charset="0"/>
              </a:rPr>
              <a:t>AR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114694" name="Rectangle 7"/>
          <p:cNvSpPr>
            <a:spLocks noChangeArrowheads="1"/>
          </p:cNvSpPr>
          <p:nvPr/>
        </p:nvSpPr>
        <p:spPr bwMode="auto">
          <a:xfrm>
            <a:off x="1663700" y="4317206"/>
            <a:ext cx="2286000" cy="971550"/>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主存储器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114695" name="AutoShape 8"/>
          <p:cNvSpPr>
            <a:spLocks noChangeArrowheads="1"/>
          </p:cNvSpPr>
          <p:nvPr/>
        </p:nvSpPr>
        <p:spPr bwMode="auto">
          <a:xfrm flipV="1">
            <a:off x="1663700" y="3962400"/>
            <a:ext cx="2300288" cy="3429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2889 w 21600"/>
              <a:gd name="T13" fmla="*/ 2889 h 21600"/>
              <a:gd name="T14" fmla="*/ 18711 w 21600"/>
              <a:gd name="T15" fmla="*/ 18711 h 21600"/>
            </a:gdLst>
            <a:ahLst/>
            <a:cxnLst>
              <a:cxn ang="T8">
                <a:pos x="T0" y="T1"/>
              </a:cxn>
              <a:cxn ang="T9">
                <a:pos x="T2" y="T3"/>
              </a:cxn>
              <a:cxn ang="T10">
                <a:pos x="T4" y="T5"/>
              </a:cxn>
              <a:cxn ang="T11">
                <a:pos x="T6" y="T7"/>
              </a:cxn>
            </a:cxnLst>
            <a:rect l="T12" t="T13" r="T14" b="T15"/>
            <a:pathLst>
              <a:path w="21600" h="21600">
                <a:moveTo>
                  <a:pt x="0" y="0"/>
                </a:moveTo>
                <a:lnTo>
                  <a:pt x="2177" y="21600"/>
                </a:lnTo>
                <a:lnTo>
                  <a:pt x="19423" y="21600"/>
                </a:lnTo>
                <a:lnTo>
                  <a:pt x="21600" y="0"/>
                </a:lnTo>
                <a:lnTo>
                  <a:pt x="0" y="0"/>
                </a:lnTo>
                <a:close/>
              </a:path>
            </a:pathLst>
          </a:custGeom>
          <a:solidFill>
            <a:schemeClr val="accent1"/>
          </a:solidFill>
          <a:ln w="19050">
            <a:noFill/>
            <a:miter lim="800000"/>
            <a:tailEnd type="none" w="lg" len="lg"/>
          </a:ln>
        </p:spPr>
        <p:txBody>
          <a:bodyPr rot="10800000"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地址译码</a:t>
            </a:r>
            <a:endParaRPr kumimoji="0" lang="zh-CN" altLang="en-US" sz="2000">
              <a:solidFill>
                <a:schemeClr val="bg1"/>
              </a:solidFill>
              <a:ea typeface="楷体" panose="02010609060101010101" pitchFamily="49" charset="-122"/>
              <a:cs typeface="Times New Roman" panose="02020603050405020304" pitchFamily="18" charset="0"/>
            </a:endParaRPr>
          </a:p>
        </p:txBody>
      </p:sp>
      <p:sp>
        <p:nvSpPr>
          <p:cNvPr id="114696" name="Rectangle 9"/>
          <p:cNvSpPr>
            <a:spLocks noChangeArrowheads="1"/>
          </p:cNvSpPr>
          <p:nvPr/>
        </p:nvSpPr>
        <p:spPr bwMode="auto">
          <a:xfrm>
            <a:off x="1663700" y="5719763"/>
            <a:ext cx="2286000" cy="442912"/>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数据寄存器</a:t>
            </a:r>
            <a:r>
              <a:rPr kumimoji="0" lang="en-US" altLang="zh-CN" sz="2400">
                <a:solidFill>
                  <a:schemeClr val="bg1"/>
                </a:solidFill>
                <a:ea typeface="楷体" panose="02010609060101010101" pitchFamily="49" charset="-122"/>
                <a:cs typeface="Times New Roman" panose="02020603050405020304" pitchFamily="18" charset="0"/>
              </a:rPr>
              <a:t>DR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114697" name="Rectangle 10"/>
          <p:cNvSpPr>
            <a:spLocks noChangeArrowheads="1"/>
          </p:cNvSpPr>
          <p:nvPr/>
        </p:nvSpPr>
        <p:spPr bwMode="auto">
          <a:xfrm>
            <a:off x="5113338" y="5741988"/>
            <a:ext cx="2109787" cy="442912"/>
          </a:xfrm>
          <a:prstGeom prst="rect">
            <a:avLst/>
          </a:prstGeom>
          <a:solidFill>
            <a:schemeClr val="accent1"/>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指令寄存器</a:t>
            </a:r>
            <a:r>
              <a:rPr kumimoji="0" lang="en-US" altLang="zh-CN" sz="2400">
                <a:solidFill>
                  <a:schemeClr val="bg1"/>
                </a:solidFill>
                <a:ea typeface="楷体" panose="02010609060101010101" pitchFamily="49" charset="-122"/>
                <a:cs typeface="Times New Roman" panose="02020603050405020304" pitchFamily="18" charset="0"/>
              </a:rPr>
              <a:t>IR</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114698" name="Rectangle 11"/>
          <p:cNvSpPr>
            <a:spLocks noChangeArrowheads="1"/>
          </p:cNvSpPr>
          <p:nvPr/>
        </p:nvSpPr>
        <p:spPr bwMode="auto">
          <a:xfrm>
            <a:off x="5292725" y="4095750"/>
            <a:ext cx="1928813" cy="442913"/>
          </a:xfrm>
          <a:prstGeom prst="rect">
            <a:avLst/>
          </a:prstGeom>
          <a:solidFill>
            <a:srgbClr val="9900CC"/>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微地址寄存器</a:t>
            </a:r>
            <a:endParaRPr kumimoji="0" lang="en-US" altLang="zh-CN" sz="2400">
              <a:solidFill>
                <a:schemeClr val="bg1"/>
              </a:solidFill>
              <a:ea typeface="楷体" panose="02010609060101010101" pitchFamily="49" charset="-122"/>
              <a:cs typeface="Times New Roman" panose="02020603050405020304" pitchFamily="18" charset="0"/>
            </a:endParaRPr>
          </a:p>
        </p:txBody>
      </p:sp>
      <p:sp>
        <p:nvSpPr>
          <p:cNvPr id="114699" name="Rectangle 12"/>
          <p:cNvSpPr>
            <a:spLocks noChangeArrowheads="1"/>
          </p:cNvSpPr>
          <p:nvPr/>
        </p:nvSpPr>
        <p:spPr bwMode="auto">
          <a:xfrm>
            <a:off x="5292725" y="2509838"/>
            <a:ext cx="1657350" cy="828675"/>
          </a:xfrm>
          <a:prstGeom prst="rect">
            <a:avLst/>
          </a:prstGeom>
          <a:solidFill>
            <a:srgbClr val="9900CC"/>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控制存储器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114700" name="AutoShape 13"/>
          <p:cNvSpPr>
            <a:spLocks noChangeArrowheads="1"/>
          </p:cNvSpPr>
          <p:nvPr/>
        </p:nvSpPr>
        <p:spPr bwMode="auto">
          <a:xfrm>
            <a:off x="5292725" y="3352800"/>
            <a:ext cx="1671638" cy="3429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2889 w 21600"/>
              <a:gd name="T13" fmla="*/ 2889 h 21600"/>
              <a:gd name="T14" fmla="*/ 18711 w 21600"/>
              <a:gd name="T15" fmla="*/ 18711 h 21600"/>
            </a:gdLst>
            <a:ahLst/>
            <a:cxnLst>
              <a:cxn ang="T8">
                <a:pos x="T0" y="T1"/>
              </a:cxn>
              <a:cxn ang="T9">
                <a:pos x="T2" y="T3"/>
              </a:cxn>
              <a:cxn ang="T10">
                <a:pos x="T4" y="T5"/>
              </a:cxn>
              <a:cxn ang="T11">
                <a:pos x="T6" y="T7"/>
              </a:cxn>
            </a:cxnLst>
            <a:rect l="T12" t="T13" r="T14" b="T15"/>
            <a:pathLst>
              <a:path w="21600" h="21600">
                <a:moveTo>
                  <a:pt x="0" y="0"/>
                </a:moveTo>
                <a:lnTo>
                  <a:pt x="2177" y="21600"/>
                </a:lnTo>
                <a:lnTo>
                  <a:pt x="19423" y="21600"/>
                </a:lnTo>
                <a:lnTo>
                  <a:pt x="21600" y="0"/>
                </a:lnTo>
                <a:lnTo>
                  <a:pt x="0" y="0"/>
                </a:lnTo>
                <a:close/>
              </a:path>
            </a:pathLst>
          </a:custGeom>
          <a:solidFill>
            <a:srgbClr val="9900CC"/>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地址译码</a:t>
            </a:r>
            <a:endParaRPr kumimoji="0" lang="zh-CN" altLang="en-US" sz="2000">
              <a:solidFill>
                <a:schemeClr val="bg1"/>
              </a:solidFill>
              <a:ea typeface="楷体" panose="02010609060101010101" pitchFamily="49" charset="-122"/>
              <a:cs typeface="Times New Roman" panose="02020603050405020304" pitchFamily="18" charset="0"/>
            </a:endParaRPr>
          </a:p>
        </p:txBody>
      </p:sp>
      <p:sp>
        <p:nvSpPr>
          <p:cNvPr id="114701" name="Rectangle 14"/>
          <p:cNvSpPr>
            <a:spLocks noChangeArrowheads="1"/>
          </p:cNvSpPr>
          <p:nvPr/>
        </p:nvSpPr>
        <p:spPr bwMode="auto">
          <a:xfrm>
            <a:off x="5126038" y="1566863"/>
            <a:ext cx="2000250" cy="442912"/>
          </a:xfrm>
          <a:prstGeom prst="rect">
            <a:avLst/>
          </a:prstGeom>
          <a:solidFill>
            <a:srgbClr val="9900CC"/>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solidFill>
                  <a:schemeClr val="bg1"/>
                </a:solidFill>
                <a:ea typeface="楷体" panose="02010609060101010101" pitchFamily="49" charset="-122"/>
                <a:cs typeface="Times New Roman" panose="02020603050405020304" pitchFamily="18" charset="0"/>
              </a:rPr>
              <a:t>微命令寄存器</a:t>
            </a:r>
            <a:endParaRPr kumimoji="0" lang="zh-CN" altLang="en-US" sz="2400">
              <a:solidFill>
                <a:schemeClr val="bg1"/>
              </a:solidFill>
              <a:ea typeface="楷体" panose="02010609060101010101" pitchFamily="49" charset="-122"/>
              <a:cs typeface="Times New Roman" panose="02020603050405020304" pitchFamily="18" charset="0"/>
            </a:endParaRPr>
          </a:p>
        </p:txBody>
      </p:sp>
      <p:sp>
        <p:nvSpPr>
          <p:cNvPr id="114702" name="Line 15"/>
          <p:cNvSpPr>
            <a:spLocks noChangeShapeType="1"/>
          </p:cNvSpPr>
          <p:nvPr/>
        </p:nvSpPr>
        <p:spPr bwMode="auto">
          <a:xfrm flipV="1">
            <a:off x="5354638"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3" name="Line 16"/>
          <p:cNvSpPr>
            <a:spLocks noChangeShapeType="1"/>
          </p:cNvSpPr>
          <p:nvPr/>
        </p:nvSpPr>
        <p:spPr bwMode="auto">
          <a:xfrm flipV="1">
            <a:off x="5554663"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4" name="Line 17"/>
          <p:cNvSpPr>
            <a:spLocks noChangeShapeType="1"/>
          </p:cNvSpPr>
          <p:nvPr/>
        </p:nvSpPr>
        <p:spPr bwMode="auto">
          <a:xfrm flipV="1">
            <a:off x="5754688"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5" name="Line 18"/>
          <p:cNvSpPr>
            <a:spLocks noChangeShapeType="1"/>
          </p:cNvSpPr>
          <p:nvPr/>
        </p:nvSpPr>
        <p:spPr bwMode="auto">
          <a:xfrm flipV="1">
            <a:off x="5940425"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6" name="Line 19"/>
          <p:cNvSpPr>
            <a:spLocks noChangeShapeType="1"/>
          </p:cNvSpPr>
          <p:nvPr/>
        </p:nvSpPr>
        <p:spPr bwMode="auto">
          <a:xfrm flipV="1">
            <a:off x="6126163"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7" name="Line 20"/>
          <p:cNvSpPr>
            <a:spLocks noChangeShapeType="1"/>
          </p:cNvSpPr>
          <p:nvPr/>
        </p:nvSpPr>
        <p:spPr bwMode="auto">
          <a:xfrm flipV="1">
            <a:off x="6311900"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8" name="Line 21"/>
          <p:cNvSpPr>
            <a:spLocks noChangeShapeType="1"/>
          </p:cNvSpPr>
          <p:nvPr/>
        </p:nvSpPr>
        <p:spPr bwMode="auto">
          <a:xfrm flipV="1">
            <a:off x="6926263" y="1266825"/>
            <a:ext cx="0" cy="300038"/>
          </a:xfrm>
          <a:prstGeom prst="line">
            <a:avLst/>
          </a:prstGeom>
          <a:noFill/>
          <a:ln w="19050">
            <a:solidFill>
              <a:schemeClr val="tx1"/>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14709" name="Text Box 22"/>
          <p:cNvSpPr txBox="1">
            <a:spLocks noChangeArrowheads="1"/>
          </p:cNvSpPr>
          <p:nvPr/>
        </p:nvSpPr>
        <p:spPr bwMode="auto">
          <a:xfrm>
            <a:off x="6376988" y="11255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400"/>
              <a:t>…</a:t>
            </a:r>
            <a:endParaRPr kumimoji="0" lang="en-US" altLang="zh-CN" sz="2400"/>
          </a:p>
        </p:txBody>
      </p:sp>
      <p:sp>
        <p:nvSpPr>
          <p:cNvPr id="114710" name="AutoShape 24"/>
          <p:cNvSpPr>
            <a:spLocks noChangeArrowheads="1"/>
          </p:cNvSpPr>
          <p:nvPr/>
        </p:nvSpPr>
        <p:spPr bwMode="auto">
          <a:xfrm>
            <a:off x="6007100" y="3681413"/>
            <a:ext cx="242888" cy="414337"/>
          </a:xfrm>
          <a:prstGeom prst="upArrow">
            <a:avLst>
              <a:gd name="adj1" fmla="val 50000"/>
              <a:gd name="adj2" fmla="val 42647"/>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02105" name="AutoShape 25"/>
          <p:cNvSpPr>
            <a:spLocks noChangeArrowheads="1"/>
          </p:cNvSpPr>
          <p:nvPr/>
        </p:nvSpPr>
        <p:spPr bwMode="auto">
          <a:xfrm>
            <a:off x="6022975" y="5297488"/>
            <a:ext cx="242888" cy="442912"/>
          </a:xfrm>
          <a:prstGeom prst="upArrow">
            <a:avLst>
              <a:gd name="adj1" fmla="val 50000"/>
              <a:gd name="adj2" fmla="val 45588"/>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p>
            <a:pPr algn="ctr" eaLnBrk="1" hangingPunct="1">
              <a:defRPr/>
            </a:pPr>
            <a:endParaRPr kumimoji="0" lang="zh-CN" altLang="en-US" sz="1800">
              <a:solidFill>
                <a:schemeClr val="bg1"/>
              </a:solidFill>
              <a:effectLst>
                <a:outerShdw blurRad="38100" dist="38100" dir="2700000" algn="tl">
                  <a:srgbClr val="000000"/>
                </a:outerShdw>
              </a:effectLst>
              <a:ea typeface="楷体_GB2312" pitchFamily="49" charset="-122"/>
            </a:endParaRPr>
          </a:p>
        </p:txBody>
      </p:sp>
      <p:sp>
        <p:nvSpPr>
          <p:cNvPr id="114715" name="Rectangle 29"/>
          <p:cNvSpPr>
            <a:spLocks noChangeArrowheads="1"/>
          </p:cNvSpPr>
          <p:nvPr/>
        </p:nvSpPr>
        <p:spPr bwMode="auto">
          <a:xfrm>
            <a:off x="7383463" y="2247900"/>
            <a:ext cx="142875" cy="100013"/>
          </a:xfrm>
          <a:prstGeom prst="rect">
            <a:avLst/>
          </a:prstGeom>
          <a:solidFill>
            <a:srgbClr val="FFFF99"/>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4716" name="Rectangle 30"/>
          <p:cNvSpPr>
            <a:spLocks noChangeArrowheads="1"/>
          </p:cNvSpPr>
          <p:nvPr/>
        </p:nvSpPr>
        <p:spPr bwMode="auto">
          <a:xfrm>
            <a:off x="7569200" y="4276725"/>
            <a:ext cx="128588" cy="114300"/>
          </a:xfrm>
          <a:prstGeom prst="rect">
            <a:avLst/>
          </a:prstGeom>
          <a:solidFill>
            <a:srgbClr val="FFFF99"/>
          </a:solidFill>
          <a:ln>
            <a:noFill/>
          </a:ln>
          <a:extLst>
            <a:ext uri="{91240B29-F687-4F45-9708-019B960494DF}">
              <a14:hiddenLine xmlns:a14="http://schemas.microsoft.com/office/drawing/2010/main" w="19050">
                <a:solidFill>
                  <a:srgbClr val="000000"/>
                </a:solidFill>
                <a:miter lim="800000"/>
                <a:headEnd/>
                <a:tailEnd type="none" w="lg" len="lg"/>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4717" name="AutoShape 31"/>
          <p:cNvSpPr>
            <a:spLocks noChangeArrowheads="1"/>
          </p:cNvSpPr>
          <p:nvPr/>
        </p:nvSpPr>
        <p:spPr bwMode="auto">
          <a:xfrm>
            <a:off x="3963988" y="5819775"/>
            <a:ext cx="1144587" cy="257175"/>
          </a:xfrm>
          <a:prstGeom prst="rightArrow">
            <a:avLst>
              <a:gd name="adj1" fmla="val 49380"/>
              <a:gd name="adj2" fmla="val 53696"/>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4718" name="AutoShape 33"/>
          <p:cNvSpPr>
            <a:spLocks noChangeArrowheads="1"/>
          </p:cNvSpPr>
          <p:nvPr/>
        </p:nvSpPr>
        <p:spPr bwMode="auto">
          <a:xfrm>
            <a:off x="2678113" y="2690813"/>
            <a:ext cx="257175" cy="385762"/>
          </a:xfrm>
          <a:prstGeom prst="downArrow">
            <a:avLst>
              <a:gd name="adj1" fmla="val 50000"/>
              <a:gd name="adj2" fmla="val 37500"/>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4719" name="AutoShape 34"/>
          <p:cNvSpPr>
            <a:spLocks noChangeArrowheads="1"/>
          </p:cNvSpPr>
          <p:nvPr/>
        </p:nvSpPr>
        <p:spPr bwMode="auto">
          <a:xfrm>
            <a:off x="2692400" y="3533775"/>
            <a:ext cx="257175" cy="414338"/>
          </a:xfrm>
          <a:prstGeom prst="downArrow">
            <a:avLst>
              <a:gd name="adj1" fmla="val 50000"/>
              <a:gd name="adj2" fmla="val 40278"/>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02115" name="AutoShape 35"/>
          <p:cNvSpPr>
            <a:spLocks noChangeArrowheads="1"/>
          </p:cNvSpPr>
          <p:nvPr/>
        </p:nvSpPr>
        <p:spPr bwMode="auto">
          <a:xfrm>
            <a:off x="2706688" y="5276850"/>
            <a:ext cx="257175" cy="442913"/>
          </a:xfrm>
          <a:prstGeom prst="downArrow">
            <a:avLst>
              <a:gd name="adj1" fmla="val 50000"/>
              <a:gd name="adj2" fmla="val 43056"/>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p>
            <a:pPr algn="ctr" eaLnBrk="1" hangingPunct="1">
              <a:defRPr/>
            </a:pPr>
            <a:endParaRPr kumimoji="0" lang="zh-CN" altLang="en-US" sz="1800">
              <a:solidFill>
                <a:schemeClr val="bg1"/>
              </a:solidFill>
              <a:effectLst>
                <a:outerShdw blurRad="38100" dist="38100" dir="2700000" algn="tl">
                  <a:srgbClr val="000000"/>
                </a:outerShdw>
              </a:effectLst>
              <a:ea typeface="楷体_GB2312" pitchFamily="49" charset="-122"/>
            </a:endParaRPr>
          </a:p>
        </p:txBody>
      </p:sp>
      <p:sp>
        <p:nvSpPr>
          <p:cNvPr id="114721" name="Line 36"/>
          <p:cNvSpPr>
            <a:spLocks noChangeShapeType="1"/>
          </p:cNvSpPr>
          <p:nvPr/>
        </p:nvSpPr>
        <p:spPr bwMode="auto">
          <a:xfrm>
            <a:off x="1020763" y="2462213"/>
            <a:ext cx="657225" cy="0"/>
          </a:xfrm>
          <a:prstGeom prst="line">
            <a:avLst/>
          </a:prstGeom>
          <a:noFill/>
          <a:ln w="1905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14722" name="Text Box 37"/>
          <p:cNvSpPr txBox="1">
            <a:spLocks noChangeArrowheads="1"/>
          </p:cNvSpPr>
          <p:nvPr/>
        </p:nvSpPr>
        <p:spPr bwMode="auto">
          <a:xfrm>
            <a:off x="985838" y="2078038"/>
            <a:ext cx="601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latin typeface="Tahoma" panose="020B0604030504040204" pitchFamily="34" charset="0"/>
                <a:ea typeface="宋体" panose="02010600030101010101" pitchFamily="2" charset="-122"/>
              </a:rPr>
              <a:t>＋</a:t>
            </a:r>
            <a:r>
              <a:rPr kumimoji="0" lang="en-US" altLang="zh-CN" sz="2000">
                <a:latin typeface="Tahoma" panose="020B0604030504040204" pitchFamily="34" charset="0"/>
                <a:ea typeface="宋体" panose="02010600030101010101" pitchFamily="2" charset="-122"/>
              </a:rPr>
              <a:t>1</a:t>
            </a:r>
            <a:endParaRPr kumimoji="0" lang="en-US" altLang="zh-CN" sz="2000">
              <a:latin typeface="Tahoma" panose="020B0604030504040204" pitchFamily="34" charset="0"/>
              <a:ea typeface="宋体" panose="02010600030101010101" pitchFamily="2" charset="-122"/>
            </a:endParaRPr>
          </a:p>
        </p:txBody>
      </p:sp>
      <p:sp>
        <p:nvSpPr>
          <p:cNvPr id="114723" name="Text Box 38"/>
          <p:cNvSpPr txBox="1">
            <a:spLocks noChangeArrowheads="1"/>
          </p:cNvSpPr>
          <p:nvPr/>
        </p:nvSpPr>
        <p:spPr bwMode="auto">
          <a:xfrm>
            <a:off x="5508625" y="5368925"/>
            <a:ext cx="536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n-US" altLang="zh-CN" sz="2000">
                <a:solidFill>
                  <a:schemeClr val="bg1"/>
                </a:solidFill>
              </a:rPr>
              <a:t>OP</a:t>
            </a:r>
            <a:endParaRPr kumimoji="0" lang="en-US" altLang="zh-CN" sz="2000">
              <a:solidFill>
                <a:schemeClr val="bg1"/>
              </a:solidFill>
            </a:endParaRPr>
          </a:p>
        </p:txBody>
      </p:sp>
      <p:sp>
        <p:nvSpPr>
          <p:cNvPr id="114724" name="Text Box 40"/>
          <p:cNvSpPr txBox="1">
            <a:spLocks noChangeArrowheads="1"/>
          </p:cNvSpPr>
          <p:nvPr/>
        </p:nvSpPr>
        <p:spPr bwMode="auto">
          <a:xfrm>
            <a:off x="5603875" y="849313"/>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400">
                <a:latin typeface="Tahoma" panose="020B0604030504040204" pitchFamily="34" charset="0"/>
              </a:rPr>
              <a:t>微命令</a:t>
            </a:r>
            <a:endParaRPr kumimoji="0" lang="en-US" altLang="zh-CN" sz="2400">
              <a:latin typeface="Tahoma" panose="020B0604030504040204" pitchFamily="34" charset="0"/>
            </a:endParaRPr>
          </a:p>
        </p:txBody>
      </p:sp>
      <p:sp>
        <p:nvSpPr>
          <p:cNvPr id="114725" name="Rectangle 41"/>
          <p:cNvSpPr>
            <a:spLocks noChangeArrowheads="1"/>
          </p:cNvSpPr>
          <p:nvPr/>
        </p:nvSpPr>
        <p:spPr bwMode="auto">
          <a:xfrm>
            <a:off x="5233988" y="4835525"/>
            <a:ext cx="1928812" cy="442913"/>
          </a:xfrm>
          <a:prstGeom prst="rect">
            <a:avLst/>
          </a:prstGeom>
          <a:solidFill>
            <a:srgbClr val="9900CC"/>
          </a:solidFill>
          <a:ln w="19050">
            <a:noFill/>
            <a:miter lim="800000"/>
            <a:tailEnd type="none" w="lg" len="lg"/>
          </a:ln>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zh-CN" altLang="en-US" sz="2000">
                <a:solidFill>
                  <a:schemeClr val="bg1"/>
                </a:solidFill>
                <a:ea typeface="楷体" panose="02010609060101010101" pitchFamily="49" charset="-122"/>
                <a:cs typeface="Times New Roman" panose="02020603050405020304" pitchFamily="18" charset="0"/>
              </a:rPr>
              <a:t>微地址映射部件</a:t>
            </a:r>
            <a:endParaRPr kumimoji="0" lang="en-US" altLang="zh-CN" sz="2000">
              <a:solidFill>
                <a:schemeClr val="bg1"/>
              </a:solidFill>
              <a:ea typeface="楷体" panose="02010609060101010101" pitchFamily="49" charset="-122"/>
              <a:cs typeface="Times New Roman" panose="02020603050405020304" pitchFamily="18" charset="0"/>
            </a:endParaRPr>
          </a:p>
        </p:txBody>
      </p:sp>
      <p:sp>
        <p:nvSpPr>
          <p:cNvPr id="302122" name="AutoShape 42"/>
          <p:cNvSpPr>
            <a:spLocks noChangeArrowheads="1"/>
          </p:cNvSpPr>
          <p:nvPr/>
        </p:nvSpPr>
        <p:spPr bwMode="auto">
          <a:xfrm>
            <a:off x="6002338" y="4573588"/>
            <a:ext cx="242887" cy="233362"/>
          </a:xfrm>
          <a:prstGeom prst="upArrow">
            <a:avLst>
              <a:gd name="adj1" fmla="val 50000"/>
              <a:gd name="adj2" fmla="val 25000"/>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vert="eaVert" wrap="none" anchor="ctr"/>
          <a:lstStyle/>
          <a:p>
            <a:pPr algn="ctr" eaLnBrk="1" hangingPunct="1">
              <a:defRPr/>
            </a:pPr>
            <a:endParaRPr kumimoji="0" lang="zh-CN" altLang="en-US" sz="1800">
              <a:solidFill>
                <a:schemeClr val="bg1"/>
              </a:solidFill>
              <a:effectLst>
                <a:outerShdw blurRad="38100" dist="38100" dir="2700000" algn="tl">
                  <a:srgbClr val="000000"/>
                </a:outerShdw>
              </a:effectLst>
              <a:ea typeface="楷体_GB2312" pitchFamily="49" charset="-122"/>
            </a:endParaRPr>
          </a:p>
        </p:txBody>
      </p:sp>
      <p:sp>
        <p:nvSpPr>
          <p:cNvPr id="114727" name="Text Box 43"/>
          <p:cNvSpPr txBox="1">
            <a:spLocks noChangeArrowheads="1"/>
          </p:cNvSpPr>
          <p:nvPr/>
        </p:nvSpPr>
        <p:spPr bwMode="auto">
          <a:xfrm>
            <a:off x="4486275" y="4071938"/>
            <a:ext cx="827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lg" len="lg"/>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kumimoji="0" lang="el-GR" altLang="zh-CN" sz="2400">
                <a:latin typeface="Tahoma" panose="020B0604030504040204" pitchFamily="34" charset="0"/>
                <a:ea typeface="宋体" panose="02010600030101010101" pitchFamily="2" charset="-122"/>
                <a:cs typeface="Tahoma" panose="020B0604030504040204" pitchFamily="34" charset="0"/>
              </a:rPr>
              <a:t>μ</a:t>
            </a:r>
            <a:r>
              <a:rPr kumimoji="0" lang="en-US" altLang="zh-CN" sz="2000">
                <a:latin typeface="Tahoma" panose="020B0604030504040204" pitchFamily="34" charset="0"/>
                <a:ea typeface="宋体" panose="02010600030101010101" pitchFamily="2" charset="-122"/>
                <a:cs typeface="Tahoma" panose="020B0604030504040204" pitchFamily="34" charset="0"/>
              </a:rPr>
              <a:t>PC</a:t>
            </a:r>
            <a:endParaRPr kumimoji="0" lang="en-US" altLang="zh-CN" sz="2000">
              <a:latin typeface="Tahoma" panose="020B0604030504040204" pitchFamily="34" charset="0"/>
              <a:ea typeface="宋体" panose="02010600030101010101" pitchFamily="2" charset="-122"/>
              <a:cs typeface="Tahoma" panose="020B0604030504040204" pitchFamily="34" charset="0"/>
            </a:endParaRPr>
          </a:p>
        </p:txBody>
      </p:sp>
      <p:sp>
        <p:nvSpPr>
          <p:cNvPr id="114712" name="Rectangle 27"/>
          <p:cNvSpPr>
            <a:spLocks noChangeArrowheads="1"/>
          </p:cNvSpPr>
          <p:nvPr/>
        </p:nvSpPr>
        <p:spPr bwMode="auto">
          <a:xfrm>
            <a:off x="6207125" y="2245519"/>
            <a:ext cx="1585913" cy="128587"/>
          </a:xfrm>
          <a:prstGeom prst="rect">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114714" name="Rectangle 28"/>
          <p:cNvSpPr>
            <a:spLocks noChangeArrowheads="1"/>
          </p:cNvSpPr>
          <p:nvPr/>
        </p:nvSpPr>
        <p:spPr bwMode="auto">
          <a:xfrm>
            <a:off x="7650163" y="2224088"/>
            <a:ext cx="142875" cy="2157412"/>
          </a:xfrm>
          <a:prstGeom prst="rect">
            <a:avLst/>
          </a:prstGeom>
          <a:solidFill>
            <a:srgbClr val="FFCC00"/>
          </a:solidFill>
          <a:ln w="19050">
            <a:noFill/>
            <a:miter lim="800000"/>
            <a:tailEnd type="none" w="lg" len="lg"/>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10425</Words>
  <Application>WPS 演示</Application>
  <PresentationFormat>全屏显示(4:3)</PresentationFormat>
  <Paragraphs>2483</Paragraphs>
  <Slides>87</Slides>
  <Notes>8</Notes>
  <HiddenSlides>1</HiddenSlides>
  <MMClips>0</MMClips>
  <ScaleCrop>false</ScaleCrop>
  <HeadingPairs>
    <vt:vector size="6" baseType="variant">
      <vt:variant>
        <vt:lpstr>已用的字体</vt:lpstr>
      </vt:variant>
      <vt:variant>
        <vt:i4>40</vt:i4>
      </vt:variant>
      <vt:variant>
        <vt:lpstr>主题</vt:lpstr>
      </vt:variant>
      <vt:variant>
        <vt:i4>3</vt:i4>
      </vt:variant>
      <vt:variant>
        <vt:lpstr>幻灯片标题</vt:lpstr>
      </vt:variant>
      <vt:variant>
        <vt:i4>87</vt:i4>
      </vt:variant>
    </vt:vector>
  </HeadingPairs>
  <TitlesOfParts>
    <vt:vector size="130" baseType="lpstr">
      <vt:lpstr>Arial</vt:lpstr>
      <vt:lpstr>宋体</vt:lpstr>
      <vt:lpstr>Wingdings</vt:lpstr>
      <vt:lpstr>Gill Sans</vt:lpstr>
      <vt:lpstr>Segoe Print</vt:lpstr>
      <vt:lpstr>ヒラギノ角ゴ ProN W3</vt:lpstr>
      <vt:lpstr>Calibri Bold</vt:lpstr>
      <vt:lpstr>Calibri</vt:lpstr>
      <vt:lpstr>MS PGothic</vt:lpstr>
      <vt:lpstr>Times New Roman</vt:lpstr>
      <vt:lpstr>黑体</vt:lpstr>
      <vt:lpstr>ヒラギノ角ゴ ProN W6</vt:lpstr>
      <vt:lpstr>Rotis Sans Serif for Nokia</vt:lpstr>
      <vt:lpstr>Wingdings 2</vt:lpstr>
      <vt:lpstr>Calibri Bold</vt:lpstr>
      <vt:lpstr>Wingdings</vt:lpstr>
      <vt:lpstr>楷体_GB2312</vt:lpstr>
      <vt:lpstr>新宋体</vt:lpstr>
      <vt:lpstr>华文新魏</vt:lpstr>
      <vt:lpstr>华文中宋</vt:lpstr>
      <vt:lpstr>隶书</vt:lpstr>
      <vt:lpstr>微软雅黑</vt:lpstr>
      <vt:lpstr>Comic Sans MS</vt:lpstr>
      <vt:lpstr>Tahoma</vt:lpstr>
      <vt:lpstr>楷体</vt:lpstr>
      <vt:lpstr>Arial Unicode MS</vt:lpstr>
      <vt:lpstr>Symbol</vt:lpstr>
      <vt:lpstr>Symbol</vt:lpstr>
      <vt:lpstr>方正准圆简体</vt:lpstr>
      <vt:lpstr>Symbol</vt:lpstr>
      <vt:lpstr>Wingdings 2</vt:lpstr>
      <vt:lpstr>方正准圆简体</vt:lpstr>
      <vt:lpstr>楷体_GB2312</vt:lpstr>
      <vt:lpstr>Saturday Sans Regular</vt:lpstr>
      <vt:lpstr>华康瘦金体W3</vt:lpstr>
      <vt:lpstr>Kata Bold</vt:lpstr>
      <vt:lpstr>华康UD宋 W6</vt:lpstr>
      <vt:lpstr>方正仿宋_GB2312</vt:lpstr>
      <vt:lpstr>方正楷体_GB2312</vt:lpstr>
      <vt:lpstr>方正准圆_GBK</vt:lpstr>
      <vt:lpstr>Title and Content</vt:lpstr>
      <vt:lpstr>Title Only</vt:lpstr>
      <vt:lpstr>微机接口-单色</vt:lpstr>
      <vt:lpstr>第5章 中央处理器1</vt:lpstr>
      <vt:lpstr>5.1 CPU的功能和组成</vt:lpstr>
      <vt:lpstr>计算机的五个基本部件</vt:lpstr>
      <vt:lpstr>处理器的功能</vt:lpstr>
      <vt:lpstr>CPU模型</vt:lpstr>
      <vt:lpstr>CPU模型（一般化）</vt:lpstr>
      <vt:lpstr>CPU的基本组成（1）</vt:lpstr>
      <vt:lpstr>CPU的基本组成（2）</vt:lpstr>
      <vt:lpstr>CPU中的主要寄存器（1）</vt:lpstr>
      <vt:lpstr>CPU中的主要寄存器（2）</vt:lpstr>
      <vt:lpstr>CPU中的主要寄存器（3）</vt:lpstr>
      <vt:lpstr>CPU中的主要寄存器（4）</vt:lpstr>
      <vt:lpstr>CPU中的主要寄存器（5）</vt:lpstr>
      <vt:lpstr>CPU中的主要寄存器（6）</vt:lpstr>
      <vt:lpstr>CPU中的主要寄存器（7）</vt:lpstr>
      <vt:lpstr>操作控制器与时序产生器</vt:lpstr>
      <vt:lpstr>5.2 指令周期</vt:lpstr>
      <vt:lpstr>基本概念（1）</vt:lpstr>
      <vt:lpstr>基本概念（2）</vt:lpstr>
      <vt:lpstr>时钟周期、CPU周期、指令周期</vt:lpstr>
      <vt:lpstr>程序示例</vt:lpstr>
      <vt:lpstr>MOV指令的指令周期</vt:lpstr>
      <vt:lpstr>MOV指令取指周期</vt:lpstr>
      <vt:lpstr>MOV指令执行周期</vt:lpstr>
      <vt:lpstr>LAD指令的指令周期（1）</vt:lpstr>
      <vt:lpstr>LAD指令的指令周期（2）</vt:lpstr>
      <vt:lpstr>LAD指令执行周期</vt:lpstr>
      <vt:lpstr>ADD指令的指令周期</vt:lpstr>
      <vt:lpstr>ADD指令执行周期</vt:lpstr>
      <vt:lpstr>STO指令的指令周期（1）</vt:lpstr>
      <vt:lpstr>STO指令的指令周期（2）</vt:lpstr>
      <vt:lpstr>STO指令执行周期</vt:lpstr>
      <vt:lpstr>JMP指令的指令周期</vt:lpstr>
      <vt:lpstr>JMP指令执行周期</vt:lpstr>
      <vt:lpstr>总结：每条指令的执行步骤</vt:lpstr>
      <vt:lpstr>方框图语言</vt:lpstr>
      <vt:lpstr>PowerPoint 演示文稿</vt:lpstr>
      <vt:lpstr>例1</vt:lpstr>
      <vt:lpstr>例1图</vt:lpstr>
      <vt:lpstr>例1解（1）</vt:lpstr>
      <vt:lpstr>例1解（2）</vt:lpstr>
      <vt:lpstr>5.3  时序产生器和控制方式</vt:lpstr>
      <vt:lpstr>基本概念</vt:lpstr>
      <vt:lpstr>问题？</vt:lpstr>
      <vt:lpstr>时序信号产生器</vt:lpstr>
      <vt:lpstr>时序信号产生器框图</vt:lpstr>
      <vt:lpstr>时序信号产生器的输出</vt:lpstr>
      <vt:lpstr>时序信号产生器（1）</vt:lpstr>
      <vt:lpstr>节拍电位与节拍脉冲时序关系图1</vt:lpstr>
      <vt:lpstr>环形脉冲发生器与译码逻辑（1）</vt:lpstr>
      <vt:lpstr>环形脉冲发生器与译码逻辑（2）</vt:lpstr>
      <vt:lpstr>环形脉冲发生器与译码逻辑（3）</vt:lpstr>
      <vt:lpstr>环形脉冲发生器与译码逻辑（4）</vt:lpstr>
      <vt:lpstr>环形脉冲发生器与译码逻辑（5）</vt:lpstr>
      <vt:lpstr>时序信号产生器（2）</vt:lpstr>
      <vt:lpstr>节拍电位与节拍脉冲时序关系图2</vt:lpstr>
      <vt:lpstr>时序信号产生器（3）</vt:lpstr>
      <vt:lpstr>启动信号保证产生完整的CPU周期信号</vt:lpstr>
      <vt:lpstr>启停控制逻辑</vt:lpstr>
      <vt:lpstr>控制方式</vt:lpstr>
      <vt:lpstr>1、同步控制方式</vt:lpstr>
      <vt:lpstr>2、异步控制方式</vt:lpstr>
      <vt:lpstr>3、联合控制方式</vt:lpstr>
      <vt:lpstr>5.4  微程序控制器</vt:lpstr>
      <vt:lpstr>基本概念（1）</vt:lpstr>
      <vt:lpstr>基本概念（2）</vt:lpstr>
      <vt:lpstr>微命令和微操作</vt:lpstr>
      <vt:lpstr>微操作分类</vt:lpstr>
      <vt:lpstr>简单运算器数据通路图</vt:lpstr>
      <vt:lpstr>与之配套的控制器</vt:lpstr>
      <vt:lpstr>微指令</vt:lpstr>
      <vt:lpstr>微指令基本格式</vt:lpstr>
      <vt:lpstr>微程序控制器</vt:lpstr>
      <vt:lpstr>微程序控制器原理框图（1）</vt:lpstr>
      <vt:lpstr>微程序控制器原理框图（2）</vt:lpstr>
      <vt:lpstr>控制存储器</vt:lpstr>
      <vt:lpstr>微程序特点</vt:lpstr>
      <vt:lpstr>微程序举例（1）</vt:lpstr>
      <vt:lpstr>微程序举例（2）</vt:lpstr>
      <vt:lpstr>微程序举例（3）</vt:lpstr>
      <vt:lpstr>微程序举例（4）</vt:lpstr>
      <vt:lpstr>微程序举例（5）</vt:lpstr>
      <vt:lpstr>微程序举例（6）</vt:lpstr>
      <vt:lpstr>微程序举例（7）</vt:lpstr>
      <vt:lpstr>微指令周期与CPU周期的关系</vt:lpstr>
      <vt:lpstr>机器指令与微指令的关系（1）</vt:lpstr>
      <vt:lpstr>机器指令与微指令的关系（2）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初九</cp:lastModifiedBy>
  <cp:revision>195</cp:revision>
  <cp:lastPrinted>2019-09-24T06:12:00Z</cp:lastPrinted>
  <dcterms:created xsi:type="dcterms:W3CDTF">2012-09-06T15:16:00Z</dcterms:created>
  <dcterms:modified xsi:type="dcterms:W3CDTF">2026-04-21T07:27:51Z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8728EFA09F1E443C94858472205D3D72_12</vt:lpwstr>
  </property>
</Properties>
</file>