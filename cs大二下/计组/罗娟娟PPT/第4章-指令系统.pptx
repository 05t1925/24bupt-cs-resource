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1"/>
  </p:handoutMasterIdLst>
  <p:sldIdLst>
    <p:sldId id="256" r:id="rId3"/>
    <p:sldId id="648" r:id="rId5"/>
    <p:sldId id="649" r:id="rId6"/>
    <p:sldId id="728" r:id="rId7"/>
    <p:sldId id="729" r:id="rId8"/>
    <p:sldId id="730" r:id="rId9"/>
    <p:sldId id="731" r:id="rId10"/>
    <p:sldId id="734" r:id="rId11"/>
    <p:sldId id="733" r:id="rId12"/>
    <p:sldId id="650" r:id="rId13"/>
    <p:sldId id="651" r:id="rId14"/>
    <p:sldId id="732" r:id="rId15"/>
    <p:sldId id="726" r:id="rId16"/>
    <p:sldId id="727" r:id="rId17"/>
    <p:sldId id="653" r:id="rId18"/>
    <p:sldId id="654" r:id="rId19"/>
    <p:sldId id="655" r:id="rId20"/>
    <p:sldId id="656" r:id="rId21"/>
    <p:sldId id="657" r:id="rId22"/>
    <p:sldId id="658" r:id="rId23"/>
    <p:sldId id="744" r:id="rId24"/>
    <p:sldId id="745" r:id="rId25"/>
    <p:sldId id="659" r:id="rId26"/>
    <p:sldId id="660" r:id="rId27"/>
    <p:sldId id="661" r:id="rId28"/>
    <p:sldId id="662" r:id="rId29"/>
    <p:sldId id="663" r:id="rId30"/>
    <p:sldId id="746" r:id="rId31"/>
    <p:sldId id="747" r:id="rId32"/>
    <p:sldId id="664" r:id="rId33"/>
    <p:sldId id="665" r:id="rId34"/>
    <p:sldId id="668" r:id="rId35"/>
    <p:sldId id="743" r:id="rId36"/>
    <p:sldId id="736" r:id="rId37"/>
    <p:sldId id="737" r:id="rId38"/>
    <p:sldId id="670" r:id="rId39"/>
    <p:sldId id="672" r:id="rId40"/>
    <p:sldId id="673" r:id="rId41"/>
    <p:sldId id="674" r:id="rId42"/>
    <p:sldId id="675" r:id="rId43"/>
    <p:sldId id="676" r:id="rId44"/>
    <p:sldId id="677" r:id="rId45"/>
    <p:sldId id="678" r:id="rId46"/>
    <p:sldId id="680" r:id="rId47"/>
    <p:sldId id="681" r:id="rId48"/>
    <p:sldId id="682" r:id="rId49"/>
    <p:sldId id="683" r:id="rId50"/>
    <p:sldId id="684" r:id="rId51"/>
    <p:sldId id="685" r:id="rId52"/>
    <p:sldId id="686" r:id="rId53"/>
    <p:sldId id="687" r:id="rId54"/>
    <p:sldId id="688" r:id="rId55"/>
    <p:sldId id="689" r:id="rId56"/>
    <p:sldId id="691" r:id="rId57"/>
    <p:sldId id="693" r:id="rId58"/>
    <p:sldId id="694" r:id="rId59"/>
    <p:sldId id="695" r:id="rId60"/>
    <p:sldId id="696" r:id="rId61"/>
    <p:sldId id="697" r:id="rId62"/>
    <p:sldId id="698" r:id="rId63"/>
    <p:sldId id="704" r:id="rId64"/>
    <p:sldId id="705" r:id="rId65"/>
    <p:sldId id="706" r:id="rId66"/>
    <p:sldId id="707" r:id="rId67"/>
    <p:sldId id="708" r:id="rId68"/>
    <p:sldId id="711" r:id="rId69"/>
    <p:sldId id="740" r:id="rId70"/>
    <p:sldId id="712" r:id="rId71"/>
    <p:sldId id="741" r:id="rId72"/>
    <p:sldId id="742" r:id="rId73"/>
    <p:sldId id="722" r:id="rId74"/>
    <p:sldId id="723" r:id="rId75"/>
    <p:sldId id="724" r:id="rId76"/>
    <p:sldId id="725" r:id="rId77"/>
    <p:sldId id="714" r:id="rId78"/>
    <p:sldId id="715" r:id="rId79"/>
    <p:sldId id="716" r:id="rId80"/>
  </p:sldIdLst>
  <p:sldSz cx="9144000" cy="6858000" type="screen4x3"/>
  <p:notesSz cx="7102475" cy="10233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CD"/>
    <a:srgbClr val="CC66FF"/>
    <a:srgbClr val="0073C4"/>
    <a:srgbClr val="0072C1"/>
    <a:srgbClr val="30859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77490"/>
  </p:normalViewPr>
  <p:slideViewPr>
    <p:cSldViewPr showGuides="1">
      <p:cViewPr varScale="1">
        <p:scale>
          <a:sx n="65" d="100"/>
          <a:sy n="65" d="100"/>
        </p:scale>
        <p:origin x="15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57" tIns="49528" rIns="99057" bIns="4952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4022725" y="0"/>
            <a:ext cx="3078163" cy="511175"/>
          </a:xfrm>
          <a:prstGeom prst="rect">
            <a:avLst/>
          </a:prstGeom>
        </p:spPr>
        <p:txBody>
          <a:bodyPr vert="horz" wrap="square" lIns="99057" tIns="49528" rIns="99057" bIns="49528"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9969665D-EC9A-406C-8750-BC91D0C4A76E}" type="datetimeFigureOut">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720263"/>
            <a:ext cx="3078163" cy="511175"/>
          </a:xfrm>
          <a:prstGeom prst="rect">
            <a:avLst/>
          </a:prstGeom>
        </p:spPr>
        <p:txBody>
          <a:bodyPr vert="horz" lIns="99057" tIns="49528" rIns="99057" bIns="4952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4022725" y="9720263"/>
            <a:ext cx="3078163" cy="511175"/>
          </a:xfrm>
          <a:prstGeom prst="rect">
            <a:avLst/>
          </a:prstGeom>
        </p:spPr>
        <p:txBody>
          <a:bodyPr vert="horz" wrap="square" lIns="99057" tIns="49528" rIns="99057" bIns="4952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C6DCB9AF-8DB8-4BFC-9E22-5C935D00F6E1}"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57" tIns="49528" rIns="99057" bIns="4952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4022725" y="0"/>
            <a:ext cx="3078163" cy="511175"/>
          </a:xfrm>
          <a:prstGeom prst="rect">
            <a:avLst/>
          </a:prstGeom>
        </p:spPr>
        <p:txBody>
          <a:bodyPr vert="horz" wrap="square" lIns="99057" tIns="49528" rIns="99057" bIns="49528"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3D114514-6B51-4224-9D20-A03C9F456A3F}" type="datetimeFigureOut">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92188" y="766763"/>
            <a:ext cx="5118100" cy="3838575"/>
          </a:xfrm>
          <a:prstGeom prst="rect">
            <a:avLst/>
          </a:prstGeom>
          <a:noFill/>
          <a:ln w="12700">
            <a:solidFill>
              <a:prstClr val="black"/>
            </a:solidFill>
          </a:ln>
        </p:spPr>
        <p:txBody>
          <a:bodyPr vert="horz" lIns="99057" tIns="49528" rIns="99057" bIns="49528"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5" name="备注占位符 4"/>
          <p:cNvSpPr>
            <a:spLocks noGrp="1"/>
          </p:cNvSpPr>
          <p:nvPr>
            <p:ph type="body" sz="quarter" idx="3"/>
          </p:nvPr>
        </p:nvSpPr>
        <p:spPr>
          <a:xfrm>
            <a:off x="709613" y="4860925"/>
            <a:ext cx="5683250" cy="4605338"/>
          </a:xfrm>
          <a:prstGeom prst="rect">
            <a:avLst/>
          </a:prstGeom>
        </p:spPr>
        <p:txBody>
          <a:bodyPr vert="horz" wrap="square" lIns="99057" tIns="49528" rIns="99057" bIns="49528"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1" lang="en-US"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720263"/>
            <a:ext cx="3078163" cy="511175"/>
          </a:xfrm>
          <a:prstGeom prst="rect">
            <a:avLst/>
          </a:prstGeom>
        </p:spPr>
        <p:txBody>
          <a:bodyPr vert="horz" lIns="99057" tIns="49528" rIns="99057" bIns="4952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4022725" y="9720263"/>
            <a:ext cx="3078163" cy="511175"/>
          </a:xfrm>
          <a:prstGeom prst="rect">
            <a:avLst/>
          </a:prstGeom>
        </p:spPr>
        <p:txBody>
          <a:bodyPr vert="horz" wrap="square" lIns="99057" tIns="49528" rIns="99057" bIns="4952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8A14EB44-C882-4AEC-851E-33D3ECC3493E}"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幻灯片图像占位符 1"/>
          <p:cNvSpPr>
            <a:spLocks noGrp="1" noRot="1" noChangeAspect="1" noTextEdit="1"/>
          </p:cNvSpPr>
          <p:nvPr>
            <p:ph type="sldImg"/>
          </p:nvPr>
        </p:nvSpPr>
        <p:spPr>
          <a:ln>
            <a:solidFill>
              <a:srgbClr val="000000">
                <a:alpha val="100000"/>
              </a:srgbClr>
            </a:solidFill>
            <a:miter lim="800000"/>
          </a:ln>
        </p:spPr>
      </p:sp>
      <p:sp>
        <p:nvSpPr>
          <p:cNvPr id="9219" name="备注占位符 2"/>
          <p:cNvSpPr>
            <a:spLocks noGrp="1"/>
          </p:cNvSpPr>
          <p:nvPr>
            <p:ph type="body" idx="1"/>
          </p:nvPr>
        </p:nvSpPr>
        <p:spPr>
          <a:noFill/>
          <a:ln>
            <a:noFill/>
          </a:ln>
        </p:spPr>
        <p:txBody>
          <a:bodyPr wrap="square" lIns="99057" tIns="49528" rIns="99057" bIns="49528" anchor="t" anchorCtr="0"/>
          <a:p>
            <a:pPr lvl="0" eaLnBrk="1" hangingPunct="1">
              <a:spcBef>
                <a:spcPct val="0"/>
              </a:spcBef>
            </a:pPr>
            <a:endParaRPr lang="en-US" altLang="zh-CN" dirty="0"/>
          </a:p>
        </p:txBody>
      </p:sp>
      <p:sp>
        <p:nvSpPr>
          <p:cNvPr id="922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a:ln>
            <a:solidFill>
              <a:srgbClr val="000000">
                <a:alpha val="100000"/>
              </a:srgbClr>
            </a:solidFill>
            <a:miter lim="800000"/>
          </a:ln>
        </p:spPr>
      </p:sp>
      <p:sp>
        <p:nvSpPr>
          <p:cNvPr id="27651" name="备注占位符 2"/>
          <p:cNvSpPr>
            <a:spLocks noGrp="1"/>
          </p:cNvSpPr>
          <p:nvPr>
            <p:ph type="body" idx="1"/>
          </p:nvPr>
        </p:nvSpPr>
        <p:spPr>
          <a:noFill/>
          <a:ln>
            <a:noFill/>
          </a:ln>
        </p:spPr>
        <p:txBody>
          <a:bodyPr wrap="square" lIns="99057" tIns="49528" rIns="99057" bIns="49528" anchor="t" anchorCtr="0"/>
          <a:p>
            <a:pPr lvl="0"/>
            <a:r>
              <a:rPr lang="zh-CN" altLang="en-US" dirty="0"/>
              <a:t>第五周</a:t>
            </a:r>
            <a:r>
              <a:rPr lang="en-US" altLang="zh-CN" dirty="0"/>
              <a:t>3</a:t>
            </a:r>
            <a:r>
              <a:rPr lang="zh-CN" altLang="en-US" dirty="0"/>
              <a:t>，</a:t>
            </a:r>
            <a:r>
              <a:rPr lang="en-US" altLang="zh-CN" dirty="0"/>
              <a:t>4</a:t>
            </a:r>
            <a:r>
              <a:rPr lang="zh-CN" altLang="en-US" dirty="0"/>
              <a:t>节下课</a:t>
            </a:r>
            <a:endParaRPr lang="en-US" altLang="zh-CN" dirty="0"/>
          </a:p>
          <a:p>
            <a:pPr lvl="0"/>
            <a:endParaRPr lang="zh-CN" altLang="en-US" dirty="0"/>
          </a:p>
        </p:txBody>
      </p:sp>
      <p:sp>
        <p:nvSpPr>
          <p:cNvPr id="27652"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a:ln>
            <a:solidFill>
              <a:srgbClr val="000000">
                <a:alpha val="100000"/>
              </a:srgbClr>
            </a:solidFill>
            <a:miter lim="800000"/>
          </a:ln>
        </p:spPr>
      </p:sp>
      <p:sp>
        <p:nvSpPr>
          <p:cNvPr id="34819" name="备注占位符 2"/>
          <p:cNvSpPr>
            <a:spLocks noGrp="1"/>
          </p:cNvSpPr>
          <p:nvPr>
            <p:ph type="body" idx="1"/>
          </p:nvPr>
        </p:nvSpPr>
        <p:spPr>
          <a:noFill/>
          <a:ln>
            <a:noFill/>
          </a:ln>
        </p:spPr>
        <p:txBody>
          <a:bodyPr wrap="square" lIns="99057" tIns="49528" rIns="99057" bIns="49528" anchor="t" anchorCtr="0"/>
          <a:p>
            <a:pPr lvl="0"/>
            <a:endParaRPr lang="zh-CN" altLang="en-US" dirty="0"/>
          </a:p>
        </p:txBody>
      </p:sp>
      <p:sp>
        <p:nvSpPr>
          <p:cNvPr id="3482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幻灯片图像占位符 1"/>
          <p:cNvSpPr>
            <a:spLocks noGrp="1" noRot="1" noChangeAspect="1" noTextEdit="1"/>
          </p:cNvSpPr>
          <p:nvPr>
            <p:ph type="sldImg"/>
          </p:nvPr>
        </p:nvSpPr>
        <p:spPr>
          <a:ln>
            <a:solidFill>
              <a:srgbClr val="000000">
                <a:alpha val="100000"/>
              </a:srgbClr>
            </a:solidFill>
            <a:miter lim="800000"/>
          </a:ln>
        </p:spPr>
      </p:sp>
      <p:sp>
        <p:nvSpPr>
          <p:cNvPr id="39939" name="备注占位符 2"/>
          <p:cNvSpPr>
            <a:spLocks noGrp="1"/>
          </p:cNvSpPr>
          <p:nvPr>
            <p:ph type="body" idx="1"/>
          </p:nvPr>
        </p:nvSpPr>
        <p:spPr>
          <a:noFill/>
          <a:ln>
            <a:noFill/>
          </a:ln>
        </p:spPr>
        <p:txBody>
          <a:bodyPr wrap="square" lIns="99057" tIns="49528" rIns="99057" bIns="49528" anchor="t" anchorCtr="0"/>
          <a:p>
            <a:pPr lvl="0"/>
            <a:r>
              <a:rPr lang="zh-CN" altLang="en-US" dirty="0"/>
              <a:t>答案</a:t>
            </a:r>
            <a:r>
              <a:rPr lang="en-US" altLang="zh-CN" dirty="0"/>
              <a:t>D</a:t>
            </a:r>
            <a:endParaRPr lang="zh-CN" altLang="en-US" dirty="0"/>
          </a:p>
        </p:txBody>
      </p:sp>
      <p:sp>
        <p:nvSpPr>
          <p:cNvPr id="3994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幻灯片图像占位符 1"/>
          <p:cNvSpPr>
            <a:spLocks noGrp="1" noRot="1" noChangeAspect="1" noTextEdit="1"/>
          </p:cNvSpPr>
          <p:nvPr>
            <p:ph type="sldImg"/>
          </p:nvPr>
        </p:nvSpPr>
        <p:spPr>
          <a:ln>
            <a:solidFill>
              <a:srgbClr val="000000">
                <a:alpha val="100000"/>
              </a:srgbClr>
            </a:solidFill>
            <a:miter lim="800000"/>
          </a:ln>
        </p:spPr>
      </p:sp>
      <p:sp>
        <p:nvSpPr>
          <p:cNvPr id="41987" name="备注占位符 2"/>
          <p:cNvSpPr>
            <a:spLocks noGrp="1"/>
          </p:cNvSpPr>
          <p:nvPr>
            <p:ph type="body" idx="1"/>
          </p:nvPr>
        </p:nvSpPr>
        <p:spPr>
          <a:noFill/>
          <a:ln>
            <a:noFill/>
          </a:ln>
        </p:spPr>
        <p:txBody>
          <a:bodyPr wrap="square" lIns="99057" tIns="49528" rIns="99057" bIns="49528" anchor="t" anchorCtr="0"/>
          <a:p>
            <a:pPr lvl="0"/>
            <a:r>
              <a:rPr lang="zh-CN" altLang="en-US" dirty="0"/>
              <a:t>答案</a:t>
            </a:r>
            <a:r>
              <a:rPr lang="en-US" altLang="zh-CN" dirty="0"/>
              <a:t>A</a:t>
            </a:r>
            <a:r>
              <a:rPr lang="zh-CN" altLang="en-US" dirty="0"/>
              <a:t>，</a:t>
            </a:r>
            <a:r>
              <a:rPr lang="en-US" altLang="zh-CN" dirty="0"/>
              <a:t>23-》24</a:t>
            </a:r>
            <a:endParaRPr lang="zh-CN" altLang="en-US" dirty="0"/>
          </a:p>
        </p:txBody>
      </p:sp>
      <p:sp>
        <p:nvSpPr>
          <p:cNvPr id="41988"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a:ln>
            <a:solidFill>
              <a:srgbClr val="000000">
                <a:alpha val="100000"/>
              </a:srgbClr>
            </a:solidFill>
            <a:miter lim="800000"/>
          </a:ln>
        </p:spPr>
      </p:sp>
      <p:sp>
        <p:nvSpPr>
          <p:cNvPr id="54275" name="备注占位符 2"/>
          <p:cNvSpPr>
            <a:spLocks noGrp="1"/>
          </p:cNvSpPr>
          <p:nvPr>
            <p:ph type="body" idx="1"/>
          </p:nvPr>
        </p:nvSpPr>
        <p:spPr>
          <a:noFill/>
          <a:ln>
            <a:noFill/>
          </a:ln>
        </p:spPr>
        <p:txBody>
          <a:bodyPr wrap="square" lIns="99057" tIns="49528" rIns="99057" bIns="49528" anchor="t" anchorCtr="0"/>
          <a:p>
            <a:pPr lvl="0"/>
            <a:r>
              <a:rPr lang="en-US" altLang="zh-CN" dirty="0"/>
              <a:t>2013</a:t>
            </a:r>
            <a:r>
              <a:rPr lang="zh-CN" altLang="en-US" dirty="0"/>
              <a:t>年</a:t>
            </a:r>
            <a:r>
              <a:rPr lang="en-US" altLang="zh-CN" dirty="0"/>
              <a:t>11</a:t>
            </a:r>
            <a:r>
              <a:rPr lang="zh-CN" altLang="en-US" dirty="0"/>
              <a:t>月</a:t>
            </a:r>
            <a:r>
              <a:rPr lang="en-US" altLang="zh-CN" dirty="0"/>
              <a:t>1</a:t>
            </a:r>
            <a:r>
              <a:rPr lang="zh-CN" altLang="en-US" dirty="0"/>
              <a:t>号下课</a:t>
            </a:r>
            <a:endParaRPr lang="zh-CN" altLang="en-US" dirty="0"/>
          </a:p>
        </p:txBody>
      </p:sp>
      <p:sp>
        <p:nvSpPr>
          <p:cNvPr id="54276"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a:solidFill>
              <a:srgbClr val="000000"/>
            </a:solidFill>
            <a:miter/>
          </a:ln>
        </p:spPr>
      </p:sp>
      <p:sp>
        <p:nvSpPr>
          <p:cNvPr id="87043" name="备注占位符 2"/>
          <p:cNvSpPr>
            <a:spLocks noGrp="1"/>
          </p:cNvSpPr>
          <p:nvPr>
            <p:ph type="body" idx="1"/>
          </p:nvPr>
        </p:nvSpPr>
        <p:spPr>
          <a:noFill/>
          <a:ln>
            <a:noFill/>
          </a:ln>
        </p:spPr>
        <p:txBody>
          <a:bodyPr wrap="square" lIns="99057" tIns="49528" rIns="99057" bIns="49528" anchor="t" anchorCtr="0"/>
          <a:p>
            <a:pPr lvl="0"/>
            <a:r>
              <a:rPr lang="en-US" altLang="zh-CN" dirty="0"/>
              <a:t>C</a:t>
            </a:r>
            <a:endParaRPr lang="zh-CN" altLang="en-US" dirty="0"/>
          </a:p>
        </p:txBody>
      </p:sp>
      <p:sp>
        <p:nvSpPr>
          <p:cNvPr id="8704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buNone/>
            </a:pPr>
            <a:fld id="{9A0DB2DC-4C9A-4742-B13C-FB6460FD3503}" type="slidenum">
              <a:rPr lang="en-US" altLang="zh-CN" sz="1300" dirty="0"/>
            </a:fld>
            <a:endParaRPr lang="en-US" altLang="zh-CN"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a:solidFill>
              <a:srgbClr val="000000"/>
            </a:solidFill>
            <a:miter/>
          </a:ln>
        </p:spPr>
      </p:sp>
      <p:sp>
        <p:nvSpPr>
          <p:cNvPr id="89091" name="备注占位符 2"/>
          <p:cNvSpPr>
            <a:spLocks noGrp="1"/>
          </p:cNvSpPr>
          <p:nvPr>
            <p:ph type="body" idx="1"/>
          </p:nvPr>
        </p:nvSpPr>
        <p:spPr>
          <a:noFill/>
          <a:ln>
            <a:noFill/>
          </a:ln>
        </p:spPr>
        <p:txBody>
          <a:bodyPr wrap="square" lIns="99057" tIns="49528" rIns="99057" bIns="49528" anchor="t" anchorCtr="0"/>
          <a:p>
            <a:pPr lvl="0"/>
            <a:r>
              <a:rPr lang="en-US" altLang="zh-CN" dirty="0"/>
              <a:t>A</a:t>
            </a:r>
            <a:endParaRPr lang="zh-CN" altLang="en-US" dirty="0"/>
          </a:p>
        </p:txBody>
      </p:sp>
      <p:sp>
        <p:nvSpPr>
          <p:cNvPr id="89092"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buNone/>
            </a:pPr>
            <a:fld id="{9A0DB2DC-4C9A-4742-B13C-FB6460FD3503}" type="slidenum">
              <a:rPr lang="en-US" altLang="zh-CN" sz="1300" dirty="0"/>
            </a:fld>
            <a:endParaRPr lang="en-US" altLang="zh-CN"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a:solidFill>
              <a:srgbClr val="000000"/>
            </a:solidFill>
            <a:miter/>
          </a:ln>
        </p:spPr>
      </p:sp>
      <p:sp>
        <p:nvSpPr>
          <p:cNvPr id="91139" name="备注占位符 2"/>
          <p:cNvSpPr>
            <a:spLocks noGrp="1"/>
          </p:cNvSpPr>
          <p:nvPr>
            <p:ph type="body" idx="1"/>
          </p:nvPr>
        </p:nvSpPr>
        <p:spPr>
          <a:noFill/>
          <a:ln>
            <a:noFill/>
          </a:ln>
        </p:spPr>
        <p:txBody>
          <a:bodyPr wrap="square" lIns="99057" tIns="49528" rIns="99057" bIns="49528" anchor="t" anchorCtr="0"/>
          <a:p>
            <a:pPr lvl="0"/>
            <a:r>
              <a:rPr lang="en-US" altLang="zh-CN" dirty="0"/>
              <a:t>D</a:t>
            </a:r>
            <a:endParaRPr lang="zh-CN" altLang="en-US" dirty="0"/>
          </a:p>
        </p:txBody>
      </p:sp>
      <p:sp>
        <p:nvSpPr>
          <p:cNvPr id="91140"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buNone/>
            </a:pPr>
            <a:fld id="{9A0DB2DC-4C9A-4742-B13C-FB6460FD3503}" type="slidenum">
              <a:rPr lang="en-US" altLang="zh-CN" sz="1300" dirty="0"/>
            </a:fld>
            <a:endParaRPr lang="en-US" altLang="zh-CN" sz="13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a:solidFill>
              <a:srgbClr val="000000">
                <a:alpha val="100000"/>
              </a:srgbClr>
            </a:solidFill>
            <a:miter lim="800000"/>
          </a:ln>
        </p:spPr>
      </p:sp>
      <p:sp>
        <p:nvSpPr>
          <p:cNvPr id="93187" name="备注占位符 2"/>
          <p:cNvSpPr>
            <a:spLocks noGrp="1"/>
          </p:cNvSpPr>
          <p:nvPr>
            <p:ph type="body" idx="1"/>
          </p:nvPr>
        </p:nvSpPr>
        <p:spPr>
          <a:noFill/>
          <a:ln>
            <a:noFill/>
          </a:ln>
        </p:spPr>
        <p:txBody>
          <a:bodyPr wrap="square" lIns="99057" tIns="49528" rIns="99057" bIns="49528" anchor="t" anchorCtr="0"/>
          <a:p>
            <a:pPr lvl="0"/>
            <a:endParaRPr lang="zh-CN" altLang="en-US" dirty="0"/>
          </a:p>
        </p:txBody>
      </p:sp>
      <p:sp>
        <p:nvSpPr>
          <p:cNvPr id="93188"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a:solidFill>
              <a:srgbClr val="000000">
                <a:alpha val="100000"/>
              </a:srgbClr>
            </a:solidFill>
            <a:miter lim="800000"/>
          </a:ln>
        </p:spPr>
      </p:sp>
      <p:sp>
        <p:nvSpPr>
          <p:cNvPr id="97283" name="备注占位符 2"/>
          <p:cNvSpPr>
            <a:spLocks noGrp="1"/>
          </p:cNvSpPr>
          <p:nvPr>
            <p:ph type="body" idx="1"/>
          </p:nvPr>
        </p:nvSpPr>
        <p:spPr>
          <a:noFill/>
          <a:ln>
            <a:noFill/>
          </a:ln>
        </p:spPr>
        <p:txBody>
          <a:bodyPr wrap="square" lIns="99057" tIns="49528" rIns="99057" bIns="49528" anchor="t" anchorCtr="0"/>
          <a:p>
            <a:pPr lvl="0"/>
            <a:r>
              <a:rPr lang="en-US" altLang="zh-CN" dirty="0"/>
              <a:t>2013</a:t>
            </a:r>
            <a:r>
              <a:rPr lang="zh-CN" altLang="en-US" dirty="0"/>
              <a:t>年</a:t>
            </a:r>
            <a:r>
              <a:rPr lang="en-US" altLang="zh-CN" dirty="0"/>
              <a:t>11</a:t>
            </a:r>
            <a:r>
              <a:rPr lang="zh-CN" altLang="en-US" dirty="0"/>
              <a:t>月</a:t>
            </a:r>
            <a:r>
              <a:rPr lang="en-US" altLang="zh-CN" dirty="0"/>
              <a:t>5</a:t>
            </a:r>
            <a:r>
              <a:rPr lang="zh-CN" altLang="en-US" dirty="0"/>
              <a:t>号</a:t>
            </a:r>
            <a:endParaRPr lang="zh-CN" altLang="en-US" dirty="0"/>
          </a:p>
        </p:txBody>
      </p:sp>
      <p:sp>
        <p:nvSpPr>
          <p:cNvPr id="97284" name="灯片编号占位符 3"/>
          <p:cNvSpPr txBox="1">
            <a:spLocks noGrp="1"/>
          </p:cNvSpPr>
          <p:nvPr>
            <p:ph type="sldNum" sz="quarter"/>
          </p:nvPr>
        </p:nvSpPr>
        <p:spPr>
          <a:xfrm>
            <a:off x="4022725" y="9720263"/>
            <a:ext cx="3078163" cy="511175"/>
          </a:xfrm>
          <a:prstGeom prst="rect">
            <a:avLst/>
          </a:prstGeom>
          <a:noFill/>
          <a:ln w="9525">
            <a:noFill/>
          </a:ln>
        </p:spPr>
        <p:txBody>
          <a:bodyPr lIns="99057" tIns="49528" rIns="99057" bIns="4952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7"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537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1" name="Rectangle 16"/>
          <p:cNvSpPr>
            <a:spLocks noGrp="1" noChangeArrowheads="1"/>
          </p:cNvSpPr>
          <p:nvPr>
            <p:ph type="dt" sz="half" idx="2"/>
          </p:nvPr>
        </p:nvSpPr>
        <p:spPr>
          <a:xfrm>
            <a:off x="3635375" y="6237288"/>
            <a:ext cx="2133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a:xfrm>
            <a:off x="5940425" y="6237288"/>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graphicFrame>
        <p:nvGraphicFramePr>
          <p:cNvPr id="3074"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9" name="" r:id="rId2" imgW="8534400" imgH="6794500" progId="Photoshop.Image.7">
                  <p:embed/>
                </p:oleObj>
              </mc:Choice>
              <mc:Fallback>
                <p:oleObj name="" r:id="rId2" imgW="8534400" imgH="6794500" progId="Photoshop.Image.7">
                  <p:embed/>
                  <p:pic>
                    <p:nvPicPr>
                      <p:cNvPr id="0" name="图片 3078"/>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3075" name="Group 4"/>
          <p:cNvGrpSpPr/>
          <p:nvPr/>
        </p:nvGrpSpPr>
        <p:grpSpPr>
          <a:xfrm>
            <a:off x="0" y="0"/>
            <a:ext cx="9144000" cy="546100"/>
            <a:chOff x="0" y="0"/>
            <a:chExt cx="5760" cy="344"/>
          </a:xfrm>
        </p:grpSpPr>
        <p:sp>
          <p:nvSpPr>
            <p:cNvPr id="1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3"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4"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5"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7"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28" name="Line 5"/>
          <p:cNvSpPr>
            <a:spLocks noChangeShapeType="1"/>
          </p:cNvSpPr>
          <p:nvPr/>
        </p:nvSpPr>
        <p:spPr bwMode="ltGray">
          <a:xfrm>
            <a:off x="468313" y="6429375"/>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 name="Text Box 11"/>
          <p:cNvSpPr txBox="1">
            <a:spLocks noChangeArrowheads="1"/>
          </p:cNvSpPr>
          <p:nvPr/>
        </p:nvSpPr>
        <p:spPr bwMode="auto">
          <a:xfrm>
            <a:off x="6500813" y="6450013"/>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47BA2A0-394C-4EF6-A561-F0FFD90E5162}" type="slidenum">
              <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fld>
            <a:r>
              <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t>/230</a:t>
            </a:r>
            <a:endPar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endParaRPr>
          </a:p>
        </p:txBody>
      </p:sp>
      <p:sp>
        <p:nvSpPr>
          <p:cNvPr id="30" name="Line 5"/>
          <p:cNvSpPr>
            <a:spLocks noChangeShapeType="1"/>
          </p:cNvSpPr>
          <p:nvPr/>
        </p:nvSpPr>
        <p:spPr bwMode="ltGray">
          <a:xfrm>
            <a:off x="-746125" y="3162300"/>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chemeClr val="bg1"/>
        </a:solidFill>
        <a:effectLst/>
      </p:bgPr>
    </p:bg>
    <p:spTree>
      <p:nvGrpSpPr>
        <p:cNvPr id="1" name=""/>
        <p:cNvGrpSpPr/>
        <p:nvPr/>
      </p:nvGrpSpPr>
      <p:grpSpPr>
        <a:xfrm>
          <a:off x="0" y="0"/>
          <a:ext cx="0" cy="0"/>
          <a:chOff x="0" y="0"/>
          <a:chExt cx="0" cy="0"/>
        </a:xfrm>
      </p:grpSpPr>
      <p:graphicFrame>
        <p:nvGraphicFramePr>
          <p:cNvPr id="4098"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8" name="" r:id="rId2" imgW="8534400" imgH="6794500" progId="Photoshop.Image.7">
                  <p:embed/>
                </p:oleObj>
              </mc:Choice>
              <mc:Fallback>
                <p:oleObj name="" r:id="rId2" imgW="8534400" imgH="6794500" progId="Photoshop.Image.7">
                  <p:embed/>
                  <p:pic>
                    <p:nvPicPr>
                      <p:cNvPr id="0" name="图片 3077"/>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4099" name="Group 4"/>
          <p:cNvGrpSpPr/>
          <p:nvPr/>
        </p:nvGrpSpPr>
        <p:grpSpPr>
          <a:xfrm>
            <a:off x="0" y="0"/>
            <a:ext cx="9144000" cy="546100"/>
            <a:chOff x="0" y="0"/>
            <a:chExt cx="5760" cy="344"/>
          </a:xfrm>
        </p:grpSpPr>
        <p:sp>
          <p:nvSpPr>
            <p:cNvPr id="1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3"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4"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5"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7"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410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 name="标题 1"/>
          <p:cNvSpPr>
            <a:spLocks noGrp="1"/>
          </p:cNvSpPr>
          <p:nvPr>
            <p:ph type="title"/>
          </p:nvPr>
        </p:nvSpPr>
        <p:spPr>
          <a:xfrm>
            <a:off x="468313" y="122238"/>
            <a:ext cx="7532687" cy="78581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29" name="页脚占位符 5"/>
          <p:cNvSpPr>
            <a:spLocks noGrp="1"/>
          </p:cNvSpPr>
          <p:nvPr>
            <p:ph type="ftr" sz="quarter" idx="3"/>
          </p:nvPr>
        </p:nvSpPr>
        <p:spPr>
          <a:xfrm>
            <a:off x="3124200" y="6248400"/>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bl" showMasterSp="0">
  <p:cSld name="Title and Table">
    <p:bg>
      <p:bgPr>
        <a:solidFill>
          <a:schemeClr val="bg1"/>
        </a:solidFill>
        <a:effectLst/>
      </p:bgPr>
    </p:bg>
    <p:spTree>
      <p:nvGrpSpPr>
        <p:cNvPr id="1" name=""/>
        <p:cNvGrpSpPr/>
        <p:nvPr/>
      </p:nvGrpSpPr>
      <p:grpSpPr>
        <a:xfrm>
          <a:off x="0" y="0"/>
          <a:ext cx="0" cy="0"/>
          <a:chOff x="0" y="0"/>
          <a:chExt cx="0" cy="0"/>
        </a:xfrm>
      </p:grpSpPr>
      <p:graphicFrame>
        <p:nvGraphicFramePr>
          <p:cNvPr id="5122"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7" name="" r:id="rId2" imgW="8534400" imgH="6794500" progId="Photoshop.Image.7">
                  <p:embed/>
                </p:oleObj>
              </mc:Choice>
              <mc:Fallback>
                <p:oleObj name="" r:id="rId2" imgW="8534400" imgH="6794500" progId="Photoshop.Image.7">
                  <p:embed/>
                  <p:pic>
                    <p:nvPicPr>
                      <p:cNvPr id="0" name="图片 3076"/>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5123" name="Group 4"/>
          <p:cNvGrpSpPr/>
          <p:nvPr/>
        </p:nvGrpSpPr>
        <p:grpSpPr>
          <a:xfrm>
            <a:off x="0" y="0"/>
            <a:ext cx="9144000" cy="546100"/>
            <a:chOff x="0" y="0"/>
            <a:chExt cx="5760" cy="344"/>
          </a:xfrm>
        </p:grpSpPr>
        <p:sp>
          <p:nvSpPr>
            <p:cNvPr id="1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2"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3"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4"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5"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7"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5124"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29" name="Text Box 11"/>
          <p:cNvSpPr txBox="1">
            <a:spLocks noChangeArrowheads="1"/>
          </p:cNvSpPr>
          <p:nvPr/>
        </p:nvSpPr>
        <p:spPr bwMode="auto">
          <a:xfrm>
            <a:off x="6500813" y="6450013"/>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D980E19-56B9-4FC6-8EB2-55D93C1EAD0E}" type="slidenum">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fld>
            <a:r>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/230</a:t>
            </a:r>
            <a:endPar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endParaRPr>
          </a:p>
        </p:txBody>
      </p:sp>
      <p:sp>
        <p:nvSpPr>
          <p:cNvPr id="2" name="Title 1"/>
          <p:cNvSpPr>
            <a:spLocks noGrp="1"/>
          </p:cNvSpPr>
          <p:nvPr>
            <p:ph type="title"/>
          </p:nvPr>
        </p:nvSpPr>
        <p:spPr>
          <a:xfrm>
            <a:off x="468313" y="122238"/>
            <a:ext cx="7532687" cy="785812"/>
          </a:xfrm>
        </p:spPr>
        <p:txBody>
          <a:bodyPr/>
          <a:lstStyle/>
          <a:p>
            <a:r>
              <a:rPr lang="en-US" altLang="zh-CN" dirty="0" smtClean="0"/>
              <a:t>Click to edit Master title style</a:t>
            </a:r>
            <a:endParaRPr lang="zh-CN" altLang="en-US" dirty="0"/>
          </a:p>
        </p:txBody>
      </p:sp>
      <p:sp>
        <p:nvSpPr>
          <p:cNvPr id="3" name="Table Placeholder 2"/>
          <p:cNvSpPr>
            <a:spLocks noGrp="1"/>
          </p:cNvSpPr>
          <p:nvPr>
            <p:ph type="tbl" idx="1"/>
          </p:nvPr>
        </p:nvSpPr>
        <p:spPr>
          <a:xfrm>
            <a:off x="457200" y="1268413"/>
            <a:ext cx="8229600" cy="486251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4.vml"/><Relationship Id="rId15" Type="http://schemas.openxmlformats.org/officeDocument/2006/relationships/image" Target="../media/image1.png"/><Relationship Id="rId14" Type="http://schemas.openxmlformats.org/officeDocument/2006/relationships/oleObject" Target="../embeddings/oleObject4.bin"/><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6" name="" r:id="rId14" imgW="8534400" imgH="6794500" progId="Photoshop.Image.7">
                  <p:embed/>
                </p:oleObj>
              </mc:Choice>
              <mc:Fallback>
                <p:oleObj name="" r:id="rId14" imgW="8534400" imgH="6794500" progId="Photoshop.Image.7">
                  <p:embed/>
                  <p:pic>
                    <p:nvPicPr>
                      <p:cNvPr id="0" name="图片 3075"/>
                      <p:cNvPicPr/>
                      <p:nvPr/>
                    </p:nvPicPr>
                    <p:blipFill>
                      <a:blip r:embed="rId15"/>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1027" name="Group 4"/>
          <p:cNvGrpSpPr/>
          <p:nvPr/>
        </p:nvGrpSpPr>
        <p:grpSpPr>
          <a:xfrm>
            <a:off x="0" y="0"/>
            <a:ext cx="9144000" cy="546100"/>
            <a:chOff x="0" y="0"/>
            <a:chExt cx="5760" cy="344"/>
          </a:xfrm>
        </p:grpSpPr>
        <p:sp>
          <p:nvSpPr>
            <p:cNvPr id="103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7"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9"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1"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2"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3"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200025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1034" name="Text Box 11"/>
          <p:cNvSpPr txBox="1">
            <a:spLocks noChangeArrowheads="1"/>
          </p:cNvSpPr>
          <p:nvPr/>
        </p:nvSpPr>
        <p:spPr bwMode="auto">
          <a:xfrm>
            <a:off x="6500813" y="6450013"/>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41B6C16-AA84-4D5F-B249-3708A09CF4F2}" type="slidenum">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fld>
            <a:r>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/230</a:t>
            </a:r>
            <a:endPar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a:solidFill>
            <a:schemeClr val="tx1"/>
          </a:solidFill>
          <a:latin typeface="+mj-lt"/>
          <a:ea typeface="+mj-ea"/>
          <a:cs typeface="宋体" panose="02010600030101010101" pitchFamily="2" charset="-122"/>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hyperlink" Target="1.4.sw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hyperlink" Target="4.1.sw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hyperlink" Target="4.2.swf" TargetMode="Externa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hyperlink" Target="4.4.swf"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ctrTitle"/>
          </p:nvPr>
        </p:nvSpPr>
        <p:spPr>
          <a:xfrm>
            <a:off x="250825" y="1989138"/>
            <a:ext cx="7561263" cy="2209800"/>
          </a:xfrm>
          <a:ln/>
        </p:spPr>
        <p:txBody>
          <a:bodyPr vert="horz" wrap="square" lIns="91440" tIns="45720" rIns="91440" bIns="45720" anchor="ctr" anchorCtr="0"/>
          <a:p>
            <a:pPr algn="r" eaLnBrk="1" hangingPunct="1">
              <a:buClrTx/>
              <a:buSzTx/>
              <a:buFontTx/>
            </a:pPr>
            <a:r>
              <a:rPr kumimoji="1" lang="zh-CN" altLang="en-US" sz="5400" b="1" dirty="0">
                <a:solidFill>
                  <a:srgbClr val="F2F2F2"/>
                </a:solidFill>
                <a:latin typeface="+mj-lt"/>
                <a:ea typeface="+mj-ea"/>
                <a:cs typeface="宋体" panose="02010600030101010101" pitchFamily="2" charset="-122"/>
              </a:rPr>
              <a:t>第四章 指令系统</a:t>
            </a:r>
            <a:endParaRPr kumimoji="1" lang="zh-CN" altLang="en-US" sz="5400" dirty="0">
              <a:solidFill>
                <a:srgbClr val="F2F2F2"/>
              </a:solidFill>
              <a:latin typeface="黑体" panose="02010609060101010101" pitchFamily="49" charset="-122"/>
              <a:ea typeface="黑体" panose="02010609060101010101" pitchFamily="49" charset="-122"/>
              <a:cs typeface="宋体" panose="02010600030101010101" pitchFamily="2" charset="-122"/>
            </a:endParaRPr>
          </a:p>
        </p:txBody>
      </p:sp>
      <p:sp>
        <p:nvSpPr>
          <p:cNvPr id="8195" name="Rectangle 3"/>
          <p:cNvSpPr txBox="1"/>
          <p:nvPr/>
        </p:nvSpPr>
        <p:spPr>
          <a:xfrm>
            <a:off x="1714500" y="4748213"/>
            <a:ext cx="6400800" cy="120173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eaLnBrk="1" hangingPunct="1">
              <a:buFontTx/>
              <a:buNone/>
            </a:pPr>
            <a:endParaRPr lang="en-US" altLang="zh-CN" sz="2800" b="1" dirty="0">
              <a:solidFill>
                <a:srgbClr val="0070C0"/>
              </a:solidFill>
              <a:latin typeface="黑体" panose="02010609060101010101" pitchFamily="49" charset="-122"/>
              <a:ea typeface="黑体" panose="02010609060101010101" pitchFamily="49" charset="-122"/>
            </a:endParaRPr>
          </a:p>
        </p:txBody>
      </p:sp>
      <p:sp>
        <p:nvSpPr>
          <p:cNvPr id="8196" name="Rectangle 2"/>
          <p:cNvSpPr txBox="1"/>
          <p:nvPr/>
        </p:nvSpPr>
        <p:spPr>
          <a:xfrm>
            <a:off x="0" y="260350"/>
            <a:ext cx="4427538" cy="165417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Tx/>
              <a:buFontTx/>
              <a:buNone/>
            </a:pPr>
            <a:r>
              <a:rPr lang="zh-CN" altLang="en-US" sz="3600" dirty="0">
                <a:solidFill>
                  <a:srgbClr val="0078CD"/>
                </a:solidFill>
                <a:latin typeface="黑体" panose="02010609060101010101" pitchFamily="49" charset="-122"/>
                <a:ea typeface="黑体" panose="02010609060101010101" pitchFamily="49" charset="-122"/>
              </a:rPr>
              <a:t>计算机组成原理课程</a:t>
            </a:r>
            <a:endParaRPr lang="zh-CN" altLang="en-US" sz="3600" dirty="0">
              <a:solidFill>
                <a:srgbClr val="0078CD"/>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91440" tIns="45720" rIns="91440" bIns="45720" anchor="ctr" anchorCtr="0"/>
          <a:p>
            <a:r>
              <a:rPr lang="zh-CN" altLang="en-US" dirty="0"/>
              <a:t>第四章  指令系统</a:t>
            </a:r>
            <a:endParaRPr lang="zh-CN" altLang="en-US" dirty="0"/>
          </a:p>
        </p:txBody>
      </p:sp>
      <p:sp>
        <p:nvSpPr>
          <p:cNvPr id="10243" name="Rectangle 3"/>
          <p:cNvSpPr>
            <a:spLocks noGrp="1"/>
          </p:cNvSpPr>
          <p:nvPr>
            <p:ph idx="1"/>
          </p:nvPr>
        </p:nvSpPr>
        <p:spPr>
          <a:xfrm>
            <a:off x="889000" y="1590675"/>
            <a:ext cx="7138988" cy="4862513"/>
          </a:xfrm>
          <a:ln/>
        </p:spPr>
        <p:txBody>
          <a:bodyPr vert="horz" wrap="square" lIns="91440" tIns="45720" rIns="91440" bIns="45720" anchor="t" anchorCtr="0"/>
          <a:p>
            <a:r>
              <a:rPr lang="en-US" altLang="zh-CN" dirty="0">
                <a:cs typeface="Times New Roman" panose="02020603050405020304" pitchFamily="18" charset="0"/>
              </a:rPr>
              <a:t>4.1 </a:t>
            </a:r>
            <a:r>
              <a:rPr lang="zh-CN" altLang="en-US" dirty="0"/>
              <a:t>指令系统的发展与性能要求</a:t>
            </a:r>
            <a:endParaRPr lang="zh-CN" altLang="en-US" dirty="0"/>
          </a:p>
          <a:p>
            <a:r>
              <a:rPr lang="en-US" altLang="zh-CN" dirty="0">
                <a:cs typeface="Times New Roman" panose="02020603050405020304" pitchFamily="18" charset="0"/>
              </a:rPr>
              <a:t>4.2 </a:t>
            </a:r>
            <a:r>
              <a:rPr lang="zh-CN" altLang="en-US" dirty="0"/>
              <a:t>指令格式</a:t>
            </a:r>
            <a:endParaRPr lang="zh-CN" altLang="en-US" dirty="0"/>
          </a:p>
          <a:p>
            <a:r>
              <a:rPr lang="en-US" altLang="zh-CN" dirty="0">
                <a:cs typeface="Times New Roman" panose="02020603050405020304" pitchFamily="18" charset="0"/>
              </a:rPr>
              <a:t>4.3 </a:t>
            </a:r>
            <a:r>
              <a:rPr lang="zh-CN" altLang="en-US" dirty="0"/>
              <a:t>操作数类型</a:t>
            </a:r>
            <a:endParaRPr lang="zh-CN" altLang="en-US" dirty="0"/>
          </a:p>
          <a:p>
            <a:r>
              <a:rPr lang="en-US" altLang="zh-CN" dirty="0">
                <a:cs typeface="Times New Roman" panose="02020603050405020304" pitchFamily="18" charset="0"/>
              </a:rPr>
              <a:t>4.4 </a:t>
            </a:r>
            <a:r>
              <a:rPr lang="zh-CN" altLang="en-US" dirty="0"/>
              <a:t>指令和数据的寻址方式</a:t>
            </a:r>
            <a:endParaRPr lang="zh-CN" altLang="en-US" dirty="0"/>
          </a:p>
          <a:p>
            <a:r>
              <a:rPr lang="en-US" altLang="zh-CN" dirty="0"/>
              <a:t>4.5 </a:t>
            </a:r>
            <a:r>
              <a:rPr lang="zh-CN" altLang="en-US" dirty="0"/>
              <a:t>典型指令</a:t>
            </a:r>
            <a:endParaRPr lang="en-US" altLang="zh-CN" dirty="0"/>
          </a:p>
          <a:p>
            <a:r>
              <a:rPr lang="en-US" altLang="zh-CN" dirty="0"/>
              <a:t>4.6  ARM</a:t>
            </a:r>
            <a:r>
              <a:rPr lang="zh-CN" altLang="en-US" dirty="0"/>
              <a:t>汇编语言</a:t>
            </a:r>
            <a:endParaRPr lang="zh-CN" altLang="en-US" dirty="0"/>
          </a:p>
          <a:p>
            <a:pPr>
              <a:buNone/>
            </a:pPr>
            <a:endParaRPr lang="zh-CN" altLang="en-US" dirty="0"/>
          </a:p>
          <a:p>
            <a:pPr lvl="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639763" y="555625"/>
            <a:ext cx="7532687" cy="785813"/>
          </a:xfrm>
          <a:ln/>
        </p:spPr>
        <p:txBody>
          <a:bodyPr vert="horz" wrap="square" lIns="91440" tIns="45720" rIns="91440" bIns="45720" anchor="ctr" anchorCtr="0"/>
          <a:p>
            <a:r>
              <a:rPr lang="en-US" altLang="zh-CN" dirty="0">
                <a:cs typeface="Times New Roman" panose="02020603050405020304" pitchFamily="18" charset="0"/>
              </a:rPr>
              <a:t>4.1 </a:t>
            </a:r>
            <a:r>
              <a:rPr lang="zh-CN" altLang="en-US" sz="3600" dirty="0"/>
              <a:t>指令系统的发展与性能要求</a:t>
            </a:r>
            <a:endParaRPr lang="zh-CN" altLang="en-US" sz="3600" dirty="0"/>
          </a:p>
        </p:txBody>
      </p:sp>
      <p:sp>
        <p:nvSpPr>
          <p:cNvPr id="11267" name="Rectangle 3"/>
          <p:cNvSpPr>
            <a:spLocks noGrp="1"/>
          </p:cNvSpPr>
          <p:nvPr>
            <p:ph idx="1"/>
          </p:nvPr>
        </p:nvSpPr>
        <p:spPr>
          <a:xfrm>
            <a:off x="457200" y="1628775"/>
            <a:ext cx="8229600" cy="3886200"/>
          </a:xfrm>
          <a:ln/>
        </p:spPr>
        <p:txBody>
          <a:bodyPr vert="horz" wrap="square" lIns="91440" tIns="45720" rIns="91440" bIns="45720" anchor="t" anchorCtr="0"/>
          <a:p>
            <a:pPr>
              <a:buNone/>
            </a:pPr>
            <a:r>
              <a:rPr lang="en-US" altLang="zh-CN" dirty="0"/>
              <a:t>1</a:t>
            </a:r>
            <a:r>
              <a:rPr lang="zh-CN" altLang="en-US" dirty="0"/>
              <a:t>、指令在计算机系统中的地位</a:t>
            </a:r>
            <a:endParaRPr lang="zh-CN" altLang="en-US" dirty="0"/>
          </a:p>
          <a:p>
            <a:pPr>
              <a:buNone/>
            </a:pPr>
            <a:r>
              <a:rPr lang="zh-CN" altLang="en-US" dirty="0"/>
              <a:t>（</a:t>
            </a:r>
            <a:r>
              <a:rPr lang="en-US" altLang="zh-CN" dirty="0"/>
              <a:t>1</a:t>
            </a:r>
            <a:r>
              <a:rPr lang="zh-CN" altLang="en-US" dirty="0"/>
              <a:t>）是</a:t>
            </a:r>
            <a:r>
              <a:rPr lang="zh-CN" altLang="en-US" dirty="0">
                <a:solidFill>
                  <a:srgbClr val="FF3300"/>
                </a:solidFill>
              </a:rPr>
              <a:t>软件和硬件</a:t>
            </a:r>
            <a:r>
              <a:rPr lang="zh-CN" altLang="en-US" dirty="0"/>
              <a:t>分界面的一个主要标志</a:t>
            </a:r>
            <a:endParaRPr lang="zh-CN" altLang="en-US" dirty="0"/>
          </a:p>
          <a:p>
            <a:pPr lvl="1"/>
            <a:r>
              <a:rPr lang="zh-CN" altLang="en-US" dirty="0"/>
              <a:t>硬件设计人员采用各种手段实现它；</a:t>
            </a:r>
            <a:endParaRPr lang="zh-CN" altLang="en-US" dirty="0"/>
          </a:p>
          <a:p>
            <a:pPr lvl="1"/>
            <a:r>
              <a:rPr lang="zh-CN" altLang="en-US" dirty="0"/>
              <a:t>软件设计人员则利用它编制各种各样的系统软件和应用软件</a:t>
            </a:r>
            <a:endParaRPr lang="zh-CN" altLang="en-US" dirty="0"/>
          </a:p>
          <a:p>
            <a:pPr>
              <a:buNone/>
            </a:pPr>
            <a:r>
              <a:rPr lang="zh-CN" altLang="en-US" dirty="0"/>
              <a:t>（</a:t>
            </a:r>
            <a:r>
              <a:rPr lang="en-US" altLang="zh-CN" dirty="0"/>
              <a:t>2</a:t>
            </a:r>
            <a:r>
              <a:rPr lang="zh-CN" altLang="en-US" dirty="0"/>
              <a:t>）是硬件设计人员和软件设计人员之间的分界面，也是他们之间沟通的桥梁。</a:t>
            </a:r>
            <a:endParaRPr lang="zh-CN" altLang="en-US" dirty="0"/>
          </a:p>
          <a:p>
            <a:pPr lvl="1"/>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2"/>
          <p:cNvPicPr>
            <a:picLocks noChangeAspect="1"/>
          </p:cNvPicPr>
          <p:nvPr/>
        </p:nvPicPr>
        <p:blipFill>
          <a:blip r:embed="rId1"/>
          <a:stretch>
            <a:fillRect/>
          </a:stretch>
        </p:blipFill>
        <p:spPr>
          <a:xfrm>
            <a:off x="579438" y="1084263"/>
            <a:ext cx="8001000" cy="3795712"/>
          </a:xfrm>
          <a:prstGeom prst="rect">
            <a:avLst/>
          </a:prstGeom>
          <a:noFill/>
          <a:ln w="9525">
            <a:noFill/>
          </a:ln>
        </p:spPr>
      </p:pic>
      <p:sp>
        <p:nvSpPr>
          <p:cNvPr id="12291" name="Rectangle 3"/>
          <p:cNvSpPr>
            <a:spLocks noGrp="1"/>
          </p:cNvSpPr>
          <p:nvPr>
            <p:ph type="title"/>
          </p:nvPr>
        </p:nvSpPr>
        <p:spPr>
          <a:xfrm>
            <a:off x="373063" y="198438"/>
            <a:ext cx="11110912" cy="1143000"/>
          </a:xfrm>
          <a:ln/>
        </p:spPr>
        <p:txBody>
          <a:bodyPr vert="horz" wrap="square" lIns="92075" tIns="46038" rIns="92075" bIns="46038" anchor="ctr" anchorCtr="0"/>
          <a:p>
            <a:pPr eaLnBrk="1" hangingPunct="1"/>
            <a:r>
              <a:rPr lang="en-US" altLang="zh-CN" sz="3600" dirty="0">
                <a:solidFill>
                  <a:srgbClr val="FF3300"/>
                </a:solidFill>
              </a:rPr>
              <a:t>Hardware/Software Interface</a:t>
            </a:r>
            <a:r>
              <a:rPr lang="zh-CN" altLang="en-US" sz="3600" dirty="0">
                <a:solidFill>
                  <a:srgbClr val="FF3300"/>
                </a:solidFill>
              </a:rPr>
              <a:t>（界面）</a:t>
            </a:r>
            <a:endParaRPr lang="zh-CN" altLang="en-US" sz="3600" dirty="0">
              <a:solidFill>
                <a:srgbClr val="FF3300"/>
              </a:solidFill>
            </a:endParaRPr>
          </a:p>
        </p:txBody>
      </p:sp>
      <p:sp>
        <p:nvSpPr>
          <p:cNvPr id="12292" name="Rectangle 5"/>
          <p:cNvSpPr/>
          <p:nvPr/>
        </p:nvSpPr>
        <p:spPr>
          <a:xfrm>
            <a:off x="441325" y="4789488"/>
            <a:ext cx="8588375" cy="1082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30000"/>
              </a:spcBef>
              <a:buClrTx/>
              <a:buSzTx/>
              <a:buFontTx/>
              <a:buNone/>
            </a:pPr>
            <a:r>
              <a:rPr lang="zh-CN" altLang="en-US" sz="2800" b="1" dirty="0">
                <a:solidFill>
                  <a:srgbClr val="ED1611"/>
                </a:solidFill>
                <a:latin typeface="Times New Roman" panose="02020603050405020304" pitchFamily="18" charset="0"/>
              </a:rPr>
              <a:t>软件和硬件的界面： </a:t>
            </a:r>
            <a:r>
              <a:rPr lang="en-US" altLang="zh-CN" sz="2800" b="1" dirty="0">
                <a:latin typeface="Times New Roman" panose="02020603050405020304" pitchFamily="18" charset="0"/>
              </a:rPr>
              <a:t>ISA</a:t>
            </a:r>
            <a:r>
              <a:rPr lang="zh-CN" altLang="en-US" sz="2800" b="1" dirty="0">
                <a:latin typeface="Times New Roman" panose="02020603050405020304" pitchFamily="18" charset="0"/>
              </a:rPr>
              <a:t>（</a:t>
            </a:r>
            <a:r>
              <a:rPr lang="en-US" altLang="zh-CN" sz="2400" b="1" dirty="0">
                <a:latin typeface="Times New Roman" panose="02020603050405020304" pitchFamily="18" charset="0"/>
              </a:rPr>
              <a:t>Instruction Set Architecture </a:t>
            </a:r>
            <a:r>
              <a:rPr lang="zh-CN" altLang="en-US" sz="24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a:spcBef>
                <a:spcPct val="30000"/>
              </a:spcBef>
              <a:buClrTx/>
              <a:buSzTx/>
              <a:buFontTx/>
              <a:buNone/>
            </a:pPr>
            <a:r>
              <a:rPr lang="zh-CN" altLang="en-US" sz="2800" dirty="0">
                <a:solidFill>
                  <a:schemeClr val="tx2"/>
                </a:solidFill>
                <a:latin typeface="Times New Roman" panose="02020603050405020304" pitchFamily="18" charset="0"/>
                <a:ea typeface="黑体" panose="02010609060101010101" pitchFamily="49" charset="-122"/>
              </a:rPr>
              <a:t>       </a:t>
            </a:r>
            <a:r>
              <a:rPr lang="en-US" altLang="zh-CN" sz="2800" dirty="0">
                <a:solidFill>
                  <a:schemeClr val="tx2"/>
                </a:solidFill>
                <a:latin typeface="Times New Roman" panose="02020603050405020304" pitchFamily="18" charset="0"/>
                <a:ea typeface="黑体" panose="02010609060101010101" pitchFamily="49" charset="-122"/>
              </a:rPr>
              <a:t>                      </a:t>
            </a:r>
            <a:r>
              <a:rPr lang="zh-CN" altLang="en-US" sz="2800" dirty="0">
                <a:solidFill>
                  <a:schemeClr val="tx2"/>
                </a:solidFill>
                <a:latin typeface="Times New Roman" panose="02020603050405020304" pitchFamily="18" charset="0"/>
                <a:ea typeface="黑体" panose="02010609060101010101" pitchFamily="49" charset="-122"/>
              </a:rPr>
              <a:t> 指令集体系结构</a:t>
            </a:r>
            <a:endParaRPr lang="zh-CN" altLang="en-US" sz="2800" dirty="0">
              <a:solidFill>
                <a:schemeClr val="tx2"/>
              </a:solidFill>
              <a:latin typeface="Times New Roman" panose="02020603050405020304" pitchFamily="18" charset="0"/>
              <a:ea typeface="黑体" panose="02010609060101010101" pitchFamily="49" charset="-122"/>
            </a:endParaRPr>
          </a:p>
        </p:txBody>
      </p:sp>
      <p:sp>
        <p:nvSpPr>
          <p:cNvPr id="12293" name="Text Box 6"/>
          <p:cNvSpPr txBox="1"/>
          <p:nvPr/>
        </p:nvSpPr>
        <p:spPr>
          <a:xfrm>
            <a:off x="1536700" y="1663700"/>
            <a:ext cx="1727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3600" b="1" dirty="0">
                <a:solidFill>
                  <a:srgbClr val="0000FF"/>
                </a:solidFill>
                <a:latin typeface="Times New Roman" panose="02020603050405020304" pitchFamily="18" charset="0"/>
              </a:rPr>
              <a:t>软件</a:t>
            </a:r>
            <a:endParaRPr lang="zh-CN" altLang="en-US" sz="3600" b="1" dirty="0">
              <a:solidFill>
                <a:srgbClr val="0000FF"/>
              </a:solidFill>
              <a:latin typeface="Times New Roman" panose="02020603050405020304" pitchFamily="18" charset="0"/>
            </a:endParaRPr>
          </a:p>
        </p:txBody>
      </p:sp>
      <p:sp>
        <p:nvSpPr>
          <p:cNvPr id="12294" name="Text Box 7"/>
          <p:cNvSpPr txBox="1"/>
          <p:nvPr/>
        </p:nvSpPr>
        <p:spPr>
          <a:xfrm>
            <a:off x="1625600" y="3416300"/>
            <a:ext cx="1727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3600" b="1" dirty="0">
                <a:solidFill>
                  <a:srgbClr val="0000FF"/>
                </a:solidFill>
                <a:latin typeface="Times New Roman" panose="02020603050405020304" pitchFamily="18" charset="0"/>
              </a:rPr>
              <a:t>硬件</a:t>
            </a:r>
            <a:endParaRPr lang="zh-CN" altLang="en-US" sz="3600" b="1" dirty="0">
              <a:solidFill>
                <a:srgbClr val="0000FF"/>
              </a:solidFill>
              <a:latin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1440" tIns="45720" rIns="91440" bIns="45720" anchor="ctr" anchorCtr="0"/>
          <a:p>
            <a:pPr eaLnBrk="1" hangingPunct="1"/>
            <a:r>
              <a:rPr lang="zh-CN" altLang="en-US" dirty="0">
                <a:solidFill>
                  <a:srgbClr val="FF0000"/>
                </a:solidFill>
              </a:rPr>
              <a:t>回顾：</a:t>
            </a:r>
            <a:endParaRPr lang="zh-CN" altLang="en-US" dirty="0">
              <a:solidFill>
                <a:srgbClr val="FF0000"/>
              </a:solidFill>
            </a:endParaRPr>
          </a:p>
        </p:txBody>
      </p:sp>
      <p:sp>
        <p:nvSpPr>
          <p:cNvPr id="13315" name="Rectangle 3"/>
          <p:cNvSpPr>
            <a:spLocks noGrp="1"/>
          </p:cNvSpPr>
          <p:nvPr>
            <p:ph idx="1"/>
          </p:nvPr>
        </p:nvSpPr>
        <p:spPr>
          <a:ln/>
        </p:spPr>
        <p:txBody>
          <a:bodyPr vert="horz" wrap="square" lIns="91440" tIns="45720" rIns="91440" bIns="45720" anchor="t" anchorCtr="0"/>
          <a:p>
            <a:pPr eaLnBrk="1" hangingPunct="1">
              <a:buNone/>
            </a:pPr>
            <a:r>
              <a:rPr lang="zh-CN" altLang="en-US" dirty="0"/>
              <a:t>		通过一个例子我们来了解数字计算机的主要组成和工作原理。</a:t>
            </a:r>
            <a:endParaRPr lang="zh-CN" altLang="en-US" dirty="0"/>
          </a:p>
          <a:p>
            <a:pPr eaLnBrk="1" hangingPunct="1"/>
            <a:r>
              <a:rPr lang="zh-CN" altLang="en-US" dirty="0"/>
              <a:t>假设给一个算盘、一张带有横格的纸和一支笔，要求我们计算</a:t>
            </a:r>
            <a:r>
              <a:rPr lang="en-US" altLang="zh-CN" dirty="0"/>
              <a:t>y=ax+b-c</a:t>
            </a:r>
            <a:r>
              <a:rPr lang="zh-CN" altLang="en-US" dirty="0"/>
              <a:t>这样一个题目。</a:t>
            </a:r>
            <a:endParaRPr lang="zh-CN" altLang="en-US" dirty="0"/>
          </a:p>
          <a:p>
            <a:pPr eaLnBrk="1" hangingPunct="1"/>
            <a:r>
              <a:rPr lang="zh-CN" altLang="en-US" dirty="0"/>
              <a:t>解题步骤和数据记录在横格纸上，请看过程。</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3" descr="1">
            <a:hlinkClick r:id="rId1" action="ppaction://hlinkfile"/>
          </p:cNvPr>
          <p:cNvPicPr>
            <a:picLocks noChangeAspect="1"/>
          </p:cNvPicPr>
          <p:nvPr/>
        </p:nvPicPr>
        <p:blipFill>
          <a:blip r:embed="rId2"/>
          <a:stretch>
            <a:fillRect/>
          </a:stretch>
        </p:blipFill>
        <p:spPr>
          <a:xfrm>
            <a:off x="1187450" y="771525"/>
            <a:ext cx="7273925" cy="6086475"/>
          </a:xfrm>
          <a:prstGeom prst="rect">
            <a:avLst/>
          </a:prstGeom>
          <a:noFill/>
          <a:ln w="9525">
            <a:noFill/>
          </a:ln>
        </p:spPr>
      </p:pic>
      <p:sp>
        <p:nvSpPr>
          <p:cNvPr id="14339" name="Rectangle 2"/>
          <p:cNvSpPr>
            <a:spLocks noGrp="1"/>
          </p:cNvSpPr>
          <p:nvPr>
            <p:ph type="title"/>
          </p:nvPr>
        </p:nvSpPr>
        <p:spPr>
          <a:xfrm>
            <a:off x="468313" y="315913"/>
            <a:ext cx="7532687" cy="520700"/>
          </a:xfrm>
          <a:ln/>
        </p:spPr>
        <p:txBody>
          <a:bodyPr vert="horz" wrap="square" lIns="91440" tIns="45720" rIns="91440" bIns="45720" anchor="ctr" anchorCtr="0"/>
          <a:p>
            <a:pPr eaLnBrk="1" hangingPunct="1"/>
            <a:r>
              <a:rPr lang="zh-CN" altLang="en-US" dirty="0"/>
              <a:t>手工模仿计算机工作（</a:t>
            </a:r>
            <a:r>
              <a:rPr lang="en-US" altLang="zh-CN" dirty="0"/>
              <a:t>1</a:t>
            </a:r>
            <a:r>
              <a:rPr lang="zh-CN" altLang="en-US" dirty="0"/>
              <a:t>）</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98"/>
          <p:cNvSpPr>
            <a:spLocks noGrp="1"/>
          </p:cNvSpPr>
          <p:nvPr>
            <p:ph type="title"/>
          </p:nvPr>
        </p:nvSpPr>
        <p:spPr>
          <a:xfrm>
            <a:off x="468313" y="339725"/>
            <a:ext cx="7532687" cy="785813"/>
          </a:xfrm>
          <a:ln/>
        </p:spPr>
        <p:txBody>
          <a:bodyPr vert="horz" wrap="square" lIns="91440" tIns="45720" rIns="91440" bIns="45720" anchor="ctr" anchorCtr="0"/>
          <a:p>
            <a:pPr eaLnBrk="1" hangingPunct="1"/>
            <a:r>
              <a:rPr lang="zh-CN" altLang="en-US" dirty="0"/>
              <a:t>表</a:t>
            </a:r>
            <a:r>
              <a:rPr lang="en-US" altLang="zh-CN" dirty="0"/>
              <a:t>1.4 </a:t>
            </a:r>
            <a:r>
              <a:rPr lang="zh-CN" altLang="en-US" dirty="0"/>
              <a:t>计算 </a:t>
            </a:r>
            <a:r>
              <a:rPr lang="en-US" altLang="zh-CN" dirty="0"/>
              <a:t>y=ax+b-c </a:t>
            </a:r>
            <a:r>
              <a:rPr lang="zh-CN" altLang="en-US" dirty="0"/>
              <a:t>的程序</a:t>
            </a:r>
            <a:endParaRPr lang="zh-CN" altLang="en-US" dirty="0"/>
          </a:p>
        </p:txBody>
      </p:sp>
      <p:graphicFrame>
        <p:nvGraphicFramePr>
          <p:cNvPr id="147460" name="Group 4"/>
          <p:cNvGraphicFramePr>
            <a:graphicFrameLocks noGrp="1"/>
          </p:cNvGraphicFramePr>
          <p:nvPr>
            <p:ph idx="1"/>
          </p:nvPr>
        </p:nvGraphicFramePr>
        <p:xfrm>
          <a:off x="457200" y="1268413"/>
          <a:ext cx="8229600" cy="4862513"/>
        </p:xfrm>
        <a:graphic>
          <a:graphicData uri="http://schemas.openxmlformats.org/drawingml/2006/table">
            <a:tbl>
              <a:tblPr/>
              <a:tblGrid>
                <a:gridCol w="1103313"/>
                <a:gridCol w="873125"/>
                <a:gridCol w="874712"/>
                <a:gridCol w="1528763"/>
                <a:gridCol w="3849687"/>
              </a:tblGrid>
              <a:tr h="303213">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指令地址</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指令</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指令操作内容</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说    明</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vMerge="1">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操作码</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地址码</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取数</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存储器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号地址的数</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运算器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乘法</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(A)*(12)→A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完成</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a*x</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，结果保留在运算器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加法</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(A)+(10)→A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完成</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ax+b</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，结果保留在运算器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减法</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(A)-(11)→A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完成</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y=ax+b-c</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，结果保留在运算器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存数</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 13</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运算器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中的结果</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送入存储器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号地址</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打印</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 Print</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将</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中的结果</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经打印机打印出来</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停止</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Stop</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机器停止工作</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数据地址</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a:t>
                      </a:r>
                      <a:r>
                        <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据</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说    明</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数据</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存放在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号单元</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数据</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存放在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号单元</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数据</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存放在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号单元</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数据</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存放在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号单元</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3213">
                <a:tc>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
                          <a:schemeClr val="bg1"/>
                        </a:buClr>
                        <a:buSzPct val="70000"/>
                        <a:buFontTx/>
                        <a:buNone/>
                      </a:pP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a:t>
                      </a:r>
                      <a:endPar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en-US" sz="13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bg1"/>
                        </a:buClr>
                        <a:buSzPct val="70000"/>
                        <a:buFontTx/>
                        <a:buNone/>
                      </a:pP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运算结果</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y</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存放在</a:t>
                      </a:r>
                      <a:r>
                        <a:rPr kumimoji="0" lang="en-US" altLang="zh-CN"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r>
                        <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号单元</a:t>
                      </a:r>
                      <a:endParaRPr kumimoji="0" lang="zh-CN" altLang="en-US" sz="13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96"/>
          <p:cNvPicPr>
            <a:picLocks noChangeAspect="1"/>
          </p:cNvPicPr>
          <p:nvPr/>
        </p:nvPicPr>
        <p:blipFill>
          <a:blip r:embed="rId1"/>
          <a:stretch>
            <a:fillRect/>
          </a:stretch>
        </p:blipFill>
        <p:spPr>
          <a:xfrm>
            <a:off x="395288" y="1268413"/>
            <a:ext cx="8402637" cy="44640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1331913" y="379413"/>
            <a:ext cx="6529387" cy="528637"/>
          </a:xfrm>
          <a:ln/>
        </p:spPr>
        <p:txBody>
          <a:bodyPr vert="horz" wrap="square" lIns="91440" tIns="45720" rIns="91440" bIns="45720" anchor="ctr" anchorCtr="0"/>
          <a:p>
            <a:pPr eaLnBrk="1" hangingPunct="1"/>
            <a:r>
              <a:rPr lang="zh-CN" altLang="en-US" sz="3600" dirty="0"/>
              <a:t>一个典型程序的转换处理过程</a:t>
            </a:r>
            <a:endParaRPr lang="zh-CN" altLang="en-US" sz="3600" dirty="0"/>
          </a:p>
        </p:txBody>
      </p:sp>
      <p:sp>
        <p:nvSpPr>
          <p:cNvPr id="17411" name="Rectangle 3"/>
          <p:cNvSpPr>
            <a:spLocks noGrp="1"/>
          </p:cNvSpPr>
          <p:nvPr>
            <p:ph type="body" sz="half" idx="1"/>
          </p:nvPr>
        </p:nvSpPr>
        <p:spPr>
          <a:xfrm>
            <a:off x="352425" y="1566863"/>
            <a:ext cx="3178175" cy="1973262"/>
          </a:xfrm>
          <a:ln/>
        </p:spPr>
        <p:txBody>
          <a:bodyPr vert="horz" wrap="square" lIns="91440" tIns="45720" rIns="91440" bIns="45720" anchor="t" anchorCtr="0"/>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1 #include &lt;stdio.h&gt;</a:t>
            </a:r>
            <a:endParaRPr lang="en-US" altLang="zh-CN" sz="2000" dirty="0">
              <a:solidFill>
                <a:schemeClr val="accent2"/>
              </a:solidFill>
              <a:cs typeface="Arial" panose="020B0604020202020204" pitchFamily="34" charset="0"/>
            </a:endParaRPr>
          </a:p>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2</a:t>
            </a:r>
            <a:endParaRPr lang="en-US" altLang="zh-CN" sz="2000" dirty="0">
              <a:solidFill>
                <a:schemeClr val="accent2"/>
              </a:solidFill>
              <a:cs typeface="Arial" panose="020B0604020202020204" pitchFamily="34" charset="0"/>
            </a:endParaRPr>
          </a:p>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3 int main()</a:t>
            </a:r>
            <a:endParaRPr lang="en-US" altLang="zh-CN" sz="2000" dirty="0">
              <a:solidFill>
                <a:schemeClr val="accent2"/>
              </a:solidFill>
              <a:cs typeface="Arial" panose="020B0604020202020204" pitchFamily="34" charset="0"/>
            </a:endParaRPr>
          </a:p>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4 {</a:t>
            </a:r>
            <a:endParaRPr lang="en-US" altLang="zh-CN" sz="2000" dirty="0">
              <a:solidFill>
                <a:schemeClr val="accent2"/>
              </a:solidFill>
              <a:cs typeface="Arial" panose="020B0604020202020204" pitchFamily="34" charset="0"/>
            </a:endParaRPr>
          </a:p>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5 printf("hello, world\n");</a:t>
            </a:r>
            <a:endParaRPr lang="en-US" altLang="zh-CN" sz="2000" dirty="0">
              <a:solidFill>
                <a:schemeClr val="accent2"/>
              </a:solidFill>
              <a:cs typeface="Arial" panose="020B0604020202020204" pitchFamily="34" charset="0"/>
            </a:endParaRPr>
          </a:p>
          <a:p>
            <a:pPr eaLnBrk="1" hangingPunct="1">
              <a:spcBef>
                <a:spcPct val="0"/>
              </a:spcBef>
              <a:buClr>
                <a:schemeClr val="accent2"/>
              </a:buClr>
              <a:buSzPct val="75000"/>
              <a:buFont typeface="Wingdings" panose="05000000000000000000" pitchFamily="2" charset="2"/>
              <a:buNone/>
            </a:pPr>
            <a:r>
              <a:rPr lang="en-US" altLang="zh-CN" sz="2000" dirty="0">
                <a:solidFill>
                  <a:schemeClr val="accent2"/>
                </a:solidFill>
                <a:cs typeface="Arial" panose="020B0604020202020204" pitchFamily="34" charset="0"/>
              </a:rPr>
              <a:t>6 }</a:t>
            </a:r>
            <a:endParaRPr lang="en-US" altLang="zh-CN" sz="2000" dirty="0">
              <a:solidFill>
                <a:schemeClr val="accent2"/>
              </a:solidFill>
              <a:cs typeface="Arial" panose="020B0604020202020204" pitchFamily="34" charset="0"/>
            </a:endParaRPr>
          </a:p>
          <a:p>
            <a:pPr eaLnBrk="1" hangingPunct="1">
              <a:spcBef>
                <a:spcPct val="0"/>
              </a:spcBef>
              <a:buClr>
                <a:schemeClr val="bg2"/>
              </a:buClr>
              <a:buSzPct val="75000"/>
              <a:buFont typeface="Wingdings" panose="05000000000000000000" pitchFamily="2" charset="2"/>
            </a:pPr>
            <a:endParaRPr lang="en-US" altLang="zh-CN" sz="2000" dirty="0">
              <a:solidFill>
                <a:schemeClr val="accent2"/>
              </a:solidFill>
              <a:ea typeface="Arial" panose="020B0604020202020204" pitchFamily="34" charset="0"/>
            </a:endParaRPr>
          </a:p>
        </p:txBody>
      </p:sp>
      <p:sp>
        <p:nvSpPr>
          <p:cNvPr id="17412" name="Text Box 4"/>
          <p:cNvSpPr txBox="1"/>
          <p:nvPr/>
        </p:nvSpPr>
        <p:spPr>
          <a:xfrm>
            <a:off x="247650" y="1147763"/>
            <a:ext cx="3049588"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1800" b="1" dirty="0">
                <a:cs typeface="Arial" panose="020B0604020202020204" pitchFamily="34" charset="0"/>
              </a:rPr>
              <a:t>经典的“ </a:t>
            </a:r>
            <a:r>
              <a:rPr lang="en-US" altLang="zh-CN" sz="1800" b="1" dirty="0">
                <a:cs typeface="Arial" panose="020B0604020202020204" pitchFamily="34" charset="0"/>
              </a:rPr>
              <a:t>hello.c ”C-</a:t>
            </a:r>
            <a:r>
              <a:rPr lang="zh-CN" altLang="en-US" sz="1800" b="1" dirty="0">
                <a:cs typeface="Arial" panose="020B0604020202020204" pitchFamily="34" charset="0"/>
              </a:rPr>
              <a:t>源程序</a:t>
            </a:r>
            <a:endParaRPr lang="zh-CN" altLang="en-US" sz="1800" b="1" dirty="0">
              <a:ea typeface="Arial" panose="020B0604020202020204" pitchFamily="34" charset="0"/>
            </a:endParaRPr>
          </a:p>
        </p:txBody>
      </p:sp>
      <p:sp>
        <p:nvSpPr>
          <p:cNvPr id="17413" name="Rectangle 5"/>
          <p:cNvSpPr/>
          <p:nvPr/>
        </p:nvSpPr>
        <p:spPr>
          <a:xfrm>
            <a:off x="3563938" y="1506538"/>
            <a:ext cx="5372100" cy="20574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dist">
              <a:spcBef>
                <a:spcPct val="0"/>
              </a:spcBef>
              <a:buClrTx/>
              <a:buSzTx/>
              <a:buFontTx/>
              <a:buNone/>
            </a:pPr>
            <a:r>
              <a:rPr lang="en-US" altLang="zh-CN" sz="1600" b="1" dirty="0">
                <a:solidFill>
                  <a:srgbClr val="ED1611"/>
                </a:solidFill>
                <a:latin typeface="Times New Roman" panose="02020603050405020304" pitchFamily="18" charset="0"/>
              </a:rPr>
              <a:t># i n c l u d e &lt;sp&gt; &lt; s t d i o .</a:t>
            </a:r>
            <a:endParaRPr lang="en-US" altLang="zh-CN" sz="1600" b="1" dirty="0">
              <a:solidFill>
                <a:srgbClr val="ED1611"/>
              </a:solidFill>
              <a:latin typeface="Times New Roman" panose="02020603050405020304" pitchFamily="18" charset="0"/>
            </a:endParaRPr>
          </a:p>
          <a:p>
            <a:pPr marL="0" lvl="0" indent="0" algn="dist">
              <a:spcBef>
                <a:spcPct val="0"/>
              </a:spcBef>
              <a:buClrTx/>
              <a:buSzTx/>
              <a:buFontTx/>
              <a:buNone/>
            </a:pPr>
            <a:r>
              <a:rPr lang="en-US" altLang="zh-CN" sz="1600" b="1" dirty="0">
                <a:latin typeface="Times New Roman" panose="02020603050405020304" pitchFamily="18" charset="0"/>
              </a:rPr>
              <a:t>35 105 110 99 108 117 100 101 32 60 115 116 100 105 111 46</a:t>
            </a:r>
            <a:endParaRPr lang="en-US" altLang="zh-CN" sz="1600" b="1" dirty="0">
              <a:latin typeface="Times New Roman" panose="02020603050405020304" pitchFamily="18" charset="0"/>
            </a:endParaRPr>
          </a:p>
          <a:p>
            <a:pPr marL="0" lvl="0" indent="0" algn="dist">
              <a:spcBef>
                <a:spcPct val="0"/>
              </a:spcBef>
              <a:buClrTx/>
              <a:buSzTx/>
              <a:buFontTx/>
              <a:buNone/>
            </a:pPr>
            <a:r>
              <a:rPr lang="en-US" altLang="zh-CN" sz="1600" b="1" dirty="0">
                <a:solidFill>
                  <a:srgbClr val="ED1611"/>
                </a:solidFill>
                <a:latin typeface="Times New Roman" panose="02020603050405020304" pitchFamily="18" charset="0"/>
              </a:rPr>
              <a:t>h &gt; \n \n i n t &lt;sp&gt; m a i n ( ) \n {</a:t>
            </a:r>
            <a:endParaRPr lang="en-US" altLang="zh-CN" sz="1600" b="1" dirty="0">
              <a:solidFill>
                <a:srgbClr val="ED1611"/>
              </a:solidFill>
              <a:latin typeface="Times New Roman" panose="02020603050405020304" pitchFamily="18" charset="0"/>
            </a:endParaRPr>
          </a:p>
          <a:p>
            <a:pPr marL="0" lvl="0" indent="0" algn="dist">
              <a:spcBef>
                <a:spcPct val="0"/>
              </a:spcBef>
              <a:buClrTx/>
              <a:buSzTx/>
              <a:buFontTx/>
              <a:buNone/>
            </a:pPr>
            <a:r>
              <a:rPr lang="en-US" altLang="zh-CN" sz="1600" b="1" dirty="0">
                <a:latin typeface="Times New Roman" panose="02020603050405020304" pitchFamily="18" charset="0"/>
              </a:rPr>
              <a:t>104 62 10 10 105 110 116 32 109 97 105 110 40 41 10 123</a:t>
            </a:r>
            <a:endParaRPr lang="en-US" altLang="zh-CN" sz="1600" b="1" dirty="0">
              <a:latin typeface="Times New Roman" panose="02020603050405020304" pitchFamily="18" charset="0"/>
            </a:endParaRPr>
          </a:p>
          <a:p>
            <a:pPr marL="0" lvl="0" indent="0" algn="dist">
              <a:spcBef>
                <a:spcPct val="0"/>
              </a:spcBef>
              <a:buClrTx/>
              <a:buSzTx/>
              <a:buFontTx/>
              <a:buNone/>
            </a:pPr>
            <a:r>
              <a:rPr lang="en-US" altLang="zh-CN" sz="1600" b="1" dirty="0">
                <a:solidFill>
                  <a:srgbClr val="ED1611"/>
                </a:solidFill>
                <a:latin typeface="Times New Roman" panose="02020603050405020304" pitchFamily="18" charset="0"/>
              </a:rPr>
              <a:t>\n &lt;sp&gt; &lt;sp&gt; &lt;sp&gt; &lt;sp&gt; p r i n t f ( " h e l</a:t>
            </a:r>
            <a:endParaRPr lang="en-US" altLang="zh-CN" sz="1600" b="1" dirty="0">
              <a:solidFill>
                <a:srgbClr val="ED1611"/>
              </a:solidFill>
              <a:latin typeface="Times New Roman" panose="02020603050405020304" pitchFamily="18" charset="0"/>
            </a:endParaRPr>
          </a:p>
          <a:p>
            <a:pPr marL="0" lvl="0" indent="0" algn="dist">
              <a:spcBef>
                <a:spcPct val="0"/>
              </a:spcBef>
              <a:buClrTx/>
              <a:buSzTx/>
              <a:buFontTx/>
              <a:buNone/>
            </a:pPr>
            <a:r>
              <a:rPr lang="en-US" altLang="zh-CN" sz="1600" b="1" dirty="0">
                <a:latin typeface="Times New Roman" panose="02020603050405020304" pitchFamily="18" charset="0"/>
              </a:rPr>
              <a:t>10 32 32 32 32 112 114 105 110 116 102 40 34 104 101 108</a:t>
            </a:r>
            <a:endParaRPr lang="en-US" altLang="zh-CN" sz="1600" b="1" dirty="0">
              <a:latin typeface="Times New Roman" panose="02020603050405020304" pitchFamily="18" charset="0"/>
            </a:endParaRPr>
          </a:p>
          <a:p>
            <a:pPr marL="0" lvl="0" indent="0" algn="dist">
              <a:spcBef>
                <a:spcPct val="0"/>
              </a:spcBef>
              <a:buClrTx/>
              <a:buSzTx/>
              <a:buFontTx/>
              <a:buNone/>
            </a:pPr>
            <a:r>
              <a:rPr lang="en-US" altLang="zh-CN" sz="1600" b="1" dirty="0">
                <a:solidFill>
                  <a:srgbClr val="ED1611"/>
                </a:solidFill>
                <a:latin typeface="Times New Roman" panose="02020603050405020304" pitchFamily="18" charset="0"/>
              </a:rPr>
              <a:t>l o , &lt;sp&gt; w o r l d \ n " ) ; \n }</a:t>
            </a:r>
            <a:endParaRPr lang="en-US" altLang="zh-CN" sz="1600" b="1" dirty="0">
              <a:solidFill>
                <a:srgbClr val="ED1611"/>
              </a:solidFill>
              <a:latin typeface="Times New Roman" panose="02020603050405020304" pitchFamily="18" charset="0"/>
            </a:endParaRPr>
          </a:p>
          <a:p>
            <a:pPr marL="0" lvl="0" indent="0" algn="dist">
              <a:spcBef>
                <a:spcPct val="0"/>
              </a:spcBef>
              <a:buClrTx/>
              <a:buSzTx/>
              <a:buFontTx/>
              <a:buNone/>
            </a:pPr>
            <a:r>
              <a:rPr lang="en-US" altLang="zh-CN" sz="1600" b="1" dirty="0">
                <a:latin typeface="Times New Roman" panose="02020603050405020304" pitchFamily="18" charset="0"/>
              </a:rPr>
              <a:t>108 111 44 32 119 111 114 108 100 92 110 34 41 59 10 125</a:t>
            </a:r>
            <a:endParaRPr lang="en-US" altLang="zh-CN" sz="1600" b="1" dirty="0">
              <a:latin typeface="Times New Roman" panose="02020603050405020304" pitchFamily="18" charset="0"/>
            </a:endParaRPr>
          </a:p>
        </p:txBody>
      </p:sp>
      <p:sp>
        <p:nvSpPr>
          <p:cNvPr id="17414" name="Text Box 6"/>
          <p:cNvSpPr txBox="1"/>
          <p:nvPr/>
        </p:nvSpPr>
        <p:spPr>
          <a:xfrm>
            <a:off x="3570288" y="1058863"/>
            <a:ext cx="49926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en-US" altLang="zh-CN" sz="1800" b="1" dirty="0">
                <a:solidFill>
                  <a:schemeClr val="accent2"/>
                </a:solidFill>
                <a:cs typeface="Arial" panose="020B0604020202020204" pitchFamily="34" charset="0"/>
              </a:rPr>
              <a:t>hello.c</a:t>
            </a:r>
            <a:r>
              <a:rPr lang="zh-CN" altLang="en-US" sz="1800" b="1" dirty="0">
                <a:solidFill>
                  <a:schemeClr val="accent2"/>
                </a:solidFill>
                <a:cs typeface="Arial" panose="020B0604020202020204" pitchFamily="34" charset="0"/>
              </a:rPr>
              <a:t>的</a:t>
            </a:r>
            <a:r>
              <a:rPr lang="en-US" altLang="zh-CN" sz="1800" b="1" dirty="0">
                <a:solidFill>
                  <a:schemeClr val="accent2"/>
                </a:solidFill>
                <a:cs typeface="Arial" panose="020B0604020202020204" pitchFamily="34" charset="0"/>
              </a:rPr>
              <a:t>ASCII</a:t>
            </a:r>
            <a:r>
              <a:rPr lang="zh-CN" altLang="en-US" sz="1800" b="1" dirty="0">
                <a:solidFill>
                  <a:schemeClr val="accent2"/>
                </a:solidFill>
                <a:cs typeface="Arial" panose="020B0604020202020204" pitchFamily="34" charset="0"/>
              </a:rPr>
              <a:t>文本表示</a:t>
            </a:r>
            <a:endParaRPr lang="zh-CN" altLang="en-US" sz="1800" b="1" dirty="0">
              <a:solidFill>
                <a:schemeClr val="accent2"/>
              </a:solidFill>
              <a:ea typeface="Arial" panose="020B0604020202020204" pitchFamily="34" charset="0"/>
            </a:endParaRPr>
          </a:p>
        </p:txBody>
      </p:sp>
      <p:sp>
        <p:nvSpPr>
          <p:cNvPr id="17415" name="AutoShape 7"/>
          <p:cNvSpPr/>
          <p:nvPr/>
        </p:nvSpPr>
        <p:spPr>
          <a:xfrm>
            <a:off x="5111750" y="4129088"/>
            <a:ext cx="3733800" cy="1038225"/>
          </a:xfrm>
          <a:prstGeom prst="cloudCallout">
            <a:avLst>
              <a:gd name="adj1" fmla="val -45236"/>
              <a:gd name="adj2" fmla="val 9431"/>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rgbClr val="ED1611"/>
                </a:solidFill>
                <a:latin typeface="Times New Roman" panose="02020603050405020304" pitchFamily="18" charset="0"/>
              </a:rPr>
              <a:t>计算机能够直接识别</a:t>
            </a:r>
            <a:r>
              <a:rPr lang="en-US" altLang="zh-CN" sz="2000" b="1" dirty="0">
                <a:solidFill>
                  <a:srgbClr val="ED1611"/>
                </a:solidFill>
                <a:latin typeface="Times New Roman" panose="02020603050405020304" pitchFamily="18" charset="0"/>
              </a:rPr>
              <a:t>hello.c</a:t>
            </a:r>
            <a:r>
              <a:rPr lang="zh-CN" altLang="en-US" sz="2000" b="1" dirty="0">
                <a:solidFill>
                  <a:srgbClr val="ED1611"/>
                </a:solidFill>
                <a:latin typeface="Times New Roman" panose="02020603050405020304" pitchFamily="18" charset="0"/>
              </a:rPr>
              <a:t>源程序吗？</a:t>
            </a:r>
            <a:endParaRPr lang="zh-CN" altLang="en-US" sz="2000" b="1" dirty="0">
              <a:solidFill>
                <a:srgbClr val="ED1611"/>
              </a:solidFill>
              <a:latin typeface="Times New Roman" panose="02020603050405020304" pitchFamily="18" charset="0"/>
            </a:endParaRPr>
          </a:p>
        </p:txBody>
      </p:sp>
      <p:sp>
        <p:nvSpPr>
          <p:cNvPr id="17416" name="AutoShape 8"/>
          <p:cNvSpPr/>
          <p:nvPr/>
        </p:nvSpPr>
        <p:spPr>
          <a:xfrm>
            <a:off x="477838" y="4264025"/>
            <a:ext cx="3992562" cy="1038225"/>
          </a:xfrm>
          <a:prstGeom prst="cloudCallout">
            <a:avLst>
              <a:gd name="adj1" fmla="val 40417"/>
              <a:gd name="adj2" fmla="val 18500"/>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50000"/>
              </a:spcBef>
              <a:buClrTx/>
              <a:buSzTx/>
              <a:buFontTx/>
              <a:buNone/>
            </a:pPr>
            <a:r>
              <a:rPr lang="zh-CN" altLang="en-US" sz="2000" b="1" dirty="0">
                <a:solidFill>
                  <a:schemeClr val="accent2"/>
                </a:solidFill>
                <a:latin typeface="Times New Roman" panose="02020603050405020304" pitchFamily="18" charset="0"/>
              </a:rPr>
              <a:t>不能，需要转换为机器语言代码</a:t>
            </a:r>
            <a:r>
              <a:rPr lang="en-US" altLang="zh-CN" sz="2000" b="1" dirty="0">
                <a:solidFill>
                  <a:schemeClr val="accent2"/>
                </a:solidFill>
                <a:latin typeface="Times New Roman" panose="02020603050405020304" pitchFamily="18" charset="0"/>
              </a:rPr>
              <a:t>! </a:t>
            </a:r>
            <a:r>
              <a:rPr lang="zh-CN" altLang="en-US" sz="2000" b="1" dirty="0">
                <a:solidFill>
                  <a:schemeClr val="accent2"/>
                </a:solidFill>
                <a:latin typeface="Times New Roman" panose="02020603050405020304" pitchFamily="18" charset="0"/>
              </a:rPr>
              <a:t>即：编译</a:t>
            </a:r>
            <a:endParaRPr lang="zh-CN" altLang="en-US" sz="2000" b="1" dirty="0">
              <a:solidFill>
                <a:schemeClr val="accent2"/>
              </a:solidFill>
              <a:latin typeface="Times New Roman" panose="02020603050405020304" pitchFamily="18" charset="0"/>
            </a:endParaRPr>
          </a:p>
        </p:txBody>
      </p:sp>
      <p:graphicFrame>
        <p:nvGraphicFramePr>
          <p:cNvPr id="17417" name="Object 9"/>
          <p:cNvGraphicFramePr>
            <a:graphicFrameLocks noChangeAspect="1"/>
          </p:cNvGraphicFramePr>
          <p:nvPr>
            <p:ph sz="half" idx="2"/>
          </p:nvPr>
        </p:nvGraphicFramePr>
        <p:xfrm>
          <a:off x="395288" y="3716338"/>
          <a:ext cx="8548687" cy="2692400"/>
        </p:xfrm>
        <a:graphic>
          <a:graphicData uri="http://schemas.openxmlformats.org/presentationml/2006/ole">
            <mc:AlternateContent xmlns:mc="http://schemas.openxmlformats.org/markup-compatibility/2006">
              <mc:Choice xmlns:v="urn:schemas-microsoft-com:vml" Requires="v">
                <p:oleObj spid="_x0000_s3080" name="" r:id="rId1" imgW="7210425" imgH="1628775" progId="Paint.Picture">
                  <p:embed/>
                </p:oleObj>
              </mc:Choice>
              <mc:Fallback>
                <p:oleObj name="" r:id="rId1" imgW="7210425" imgH="1628775" progId="Paint.Picture">
                  <p:embed/>
                  <p:pic>
                    <p:nvPicPr>
                      <p:cNvPr id="0" name="图片 3079"/>
                      <p:cNvPicPr/>
                      <p:nvPr/>
                    </p:nvPicPr>
                    <p:blipFill>
                      <a:blip r:embed="rId2"/>
                      <a:srcRect/>
                      <a:stretch>
                        <a:fillRect/>
                      </a:stretch>
                    </p:blipFill>
                    <p:spPr>
                      <a:xfrm>
                        <a:off x="395288" y="3716338"/>
                        <a:ext cx="8548687" cy="2692400"/>
                      </a:xfrm>
                      <a:prstGeom prst="rect">
                        <a:avLst/>
                      </a:prstGeom>
                      <a:noFill/>
                      <a:ln w="38100">
                        <a:miter/>
                      </a:ln>
                    </p:spPr>
                  </p:pic>
                </p:oleObj>
              </mc:Fallback>
            </mc:AlternateContent>
          </a:graphicData>
        </a:graphic>
      </p:graphicFrame>
      <p:sp>
        <p:nvSpPr>
          <p:cNvPr id="17418" name="Text Box 10"/>
          <p:cNvSpPr txBox="1"/>
          <p:nvPr/>
        </p:nvSpPr>
        <p:spPr>
          <a:xfrm>
            <a:off x="217488" y="3324225"/>
            <a:ext cx="2743200"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buClrTx/>
              <a:buSzTx/>
              <a:buFontTx/>
              <a:buNone/>
            </a:pPr>
            <a:r>
              <a:rPr lang="zh-CN" altLang="en-US" sz="2000" b="1" dirty="0">
                <a:solidFill>
                  <a:srgbClr val="CC3300"/>
                </a:solidFill>
                <a:cs typeface="Arial" panose="020B0604020202020204" pitchFamily="34" charset="0"/>
              </a:rPr>
              <a:t>程序的功能是：</a:t>
            </a:r>
            <a:endParaRPr lang="zh-CN" altLang="en-US" sz="2000" b="1" dirty="0">
              <a:solidFill>
                <a:srgbClr val="CC3300"/>
              </a:solidFill>
              <a:cs typeface="Arial" panose="020B0604020202020204" pitchFamily="34" charset="0"/>
            </a:endParaRPr>
          </a:p>
          <a:p>
            <a:pPr marL="0" lvl="0" indent="0" algn="ctr">
              <a:buClrTx/>
              <a:buSzTx/>
              <a:buFontTx/>
              <a:buNone/>
            </a:pPr>
            <a:r>
              <a:rPr lang="zh-CN" altLang="en-US" sz="2000" b="1" dirty="0">
                <a:solidFill>
                  <a:srgbClr val="CC3300"/>
                </a:solidFill>
                <a:cs typeface="Arial" panose="020B0604020202020204" pitchFamily="34" charset="0"/>
              </a:rPr>
              <a:t>输出“</a:t>
            </a:r>
            <a:r>
              <a:rPr lang="en-US" altLang="zh-CN" sz="2000" b="1" dirty="0">
                <a:solidFill>
                  <a:srgbClr val="CC3300"/>
                </a:solidFill>
                <a:cs typeface="Arial" panose="020B0604020202020204" pitchFamily="34" charset="0"/>
              </a:rPr>
              <a:t>hello,world”</a:t>
            </a:r>
            <a:endParaRPr lang="en-US" altLang="zh-CN" sz="2000" b="1" dirty="0">
              <a:solidFill>
                <a:srgbClr val="CC3300"/>
              </a:solidFill>
              <a:ea typeface="Arial" panose="020B060402020202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idx="1"/>
          </p:nvPr>
        </p:nvSpPr>
        <p:spPr>
          <a:xfrm>
            <a:off x="539750" y="935038"/>
            <a:ext cx="8291513" cy="5589587"/>
          </a:xfrm>
          <a:ln/>
        </p:spPr>
        <p:txBody>
          <a:bodyPr vert="horz" wrap="square" lIns="91440" tIns="45720" rIns="91440" bIns="45720" anchor="t" anchorCtr="0"/>
          <a:p>
            <a:pPr>
              <a:lnSpc>
                <a:spcPct val="90000"/>
              </a:lnSpc>
              <a:buNone/>
            </a:pPr>
            <a:r>
              <a:rPr lang="en-US" altLang="zh-CN" sz="2800" dirty="0"/>
              <a:t>2</a:t>
            </a:r>
            <a:r>
              <a:rPr lang="zh-CN" altLang="en-US" sz="2800" dirty="0"/>
              <a:t>、指令系统基本概念</a:t>
            </a:r>
            <a:endParaRPr lang="zh-CN" altLang="en-US" sz="2800" dirty="0"/>
          </a:p>
          <a:p>
            <a:pPr>
              <a:lnSpc>
                <a:spcPct val="90000"/>
              </a:lnSpc>
            </a:pPr>
            <a:r>
              <a:rPr lang="zh-CN" altLang="en-US" sz="2400" b="1" dirty="0">
                <a:solidFill>
                  <a:srgbClr val="3333FF"/>
                </a:solidFill>
              </a:rPr>
              <a:t>指令</a:t>
            </a:r>
            <a:r>
              <a:rPr lang="zh-CN" altLang="en-US" sz="2400" dirty="0"/>
              <a:t>：</a:t>
            </a:r>
            <a:r>
              <a:rPr lang="zh-CN" altLang="en-US" sz="2400" dirty="0">
                <a:solidFill>
                  <a:srgbClr val="3333FF"/>
                </a:solidFill>
              </a:rPr>
              <a:t>就是要计算机执行某种操作的命令</a:t>
            </a:r>
            <a:r>
              <a:rPr lang="zh-CN" altLang="en-US" sz="2400" dirty="0"/>
              <a:t>。从计算机组成的层次结构来说，计算机的指令有</a:t>
            </a:r>
            <a:r>
              <a:rPr lang="zh-CN" altLang="en-US" sz="2400" dirty="0">
                <a:solidFill>
                  <a:srgbClr val="3333FF"/>
                </a:solidFill>
              </a:rPr>
              <a:t>微指令</a:t>
            </a:r>
            <a:r>
              <a:rPr lang="zh-CN" altLang="en-US" sz="2400" dirty="0"/>
              <a:t>、</a:t>
            </a:r>
            <a:r>
              <a:rPr lang="zh-CN" altLang="en-US" sz="2400" dirty="0">
                <a:solidFill>
                  <a:srgbClr val="3333FF"/>
                </a:solidFill>
              </a:rPr>
              <a:t>机器指令</a:t>
            </a:r>
            <a:r>
              <a:rPr lang="zh-CN" altLang="en-US" sz="2400" dirty="0"/>
              <a:t>和</a:t>
            </a:r>
            <a:r>
              <a:rPr lang="zh-CN" altLang="en-US" sz="2400" dirty="0">
                <a:solidFill>
                  <a:srgbClr val="3333FF"/>
                </a:solidFill>
              </a:rPr>
              <a:t>宏指令</a:t>
            </a:r>
            <a:r>
              <a:rPr lang="zh-CN" altLang="en-US" sz="2400" dirty="0"/>
              <a:t>之分。</a:t>
            </a:r>
            <a:r>
              <a:rPr lang="zh-CN" altLang="en-US" sz="2400" dirty="0">
                <a:solidFill>
                  <a:srgbClr val="3333FF"/>
                </a:solidFill>
              </a:rPr>
              <a:t>微指令是微程序级的命令，它属于硬件</a:t>
            </a:r>
            <a:r>
              <a:rPr lang="zh-CN" altLang="en-US" sz="2400" dirty="0"/>
              <a:t>；</a:t>
            </a:r>
            <a:endParaRPr lang="zh-CN" altLang="en-US" sz="2400" dirty="0"/>
          </a:p>
          <a:p>
            <a:pPr>
              <a:lnSpc>
                <a:spcPct val="90000"/>
              </a:lnSpc>
            </a:pPr>
            <a:r>
              <a:rPr lang="zh-CN" altLang="en-US" sz="2400" b="1" dirty="0">
                <a:solidFill>
                  <a:srgbClr val="FF3300"/>
                </a:solidFill>
              </a:rPr>
              <a:t>宏指令</a:t>
            </a:r>
            <a:r>
              <a:rPr lang="zh-CN" altLang="en-US" sz="2400" dirty="0"/>
              <a:t>：由若干条机器指令组成的软件指令，它属于软件；</a:t>
            </a:r>
            <a:endParaRPr lang="zh-CN" altLang="en-US" sz="2400" dirty="0"/>
          </a:p>
          <a:p>
            <a:pPr>
              <a:lnSpc>
                <a:spcPct val="90000"/>
              </a:lnSpc>
            </a:pPr>
            <a:r>
              <a:rPr lang="zh-CN" altLang="en-US" sz="2400" dirty="0">
                <a:solidFill>
                  <a:srgbClr val="3333FF"/>
                </a:solidFill>
              </a:rPr>
              <a:t>机器指令</a:t>
            </a:r>
            <a:r>
              <a:rPr lang="zh-CN" altLang="en-US" sz="2400" dirty="0"/>
              <a:t>：介于</a:t>
            </a:r>
            <a:r>
              <a:rPr lang="zh-CN" altLang="en-US" sz="2400" dirty="0">
                <a:solidFill>
                  <a:srgbClr val="3333FF"/>
                </a:solidFill>
              </a:rPr>
              <a:t>微指令与宏指令</a:t>
            </a:r>
            <a:r>
              <a:rPr lang="zh-CN" altLang="en-US" sz="2400" dirty="0"/>
              <a:t>之间，通常简称为指令，每一条指令可完成一个独立的算术运算或逻辑运算操作。</a:t>
            </a:r>
            <a:endParaRPr lang="zh-CN" altLang="en-US" sz="2400" dirty="0"/>
          </a:p>
          <a:p>
            <a:pPr>
              <a:lnSpc>
                <a:spcPct val="90000"/>
              </a:lnSpc>
            </a:pPr>
            <a:r>
              <a:rPr lang="zh-CN" altLang="en-US" sz="2400" b="1" dirty="0"/>
              <a:t>本章所讨论的指令，是</a:t>
            </a:r>
            <a:r>
              <a:rPr lang="zh-CN" altLang="en-US" sz="2400" b="1" dirty="0">
                <a:solidFill>
                  <a:srgbClr val="FF3300"/>
                </a:solidFill>
              </a:rPr>
              <a:t>机器指令</a:t>
            </a:r>
            <a:r>
              <a:rPr lang="zh-CN" altLang="en-US" sz="2400" b="1" dirty="0"/>
              <a:t>。</a:t>
            </a:r>
            <a:endParaRPr lang="zh-CN" altLang="en-US" sz="2400" b="1" dirty="0"/>
          </a:p>
          <a:p>
            <a:pPr>
              <a:lnSpc>
                <a:spcPct val="90000"/>
              </a:lnSpc>
            </a:pPr>
            <a:r>
              <a:rPr lang="zh-CN" altLang="en-US" sz="2400" dirty="0"/>
              <a:t>一台计算机中所有机器指令的集合，称为这台计算机的</a:t>
            </a:r>
            <a:r>
              <a:rPr lang="zh-CN" altLang="en-US" sz="2400" dirty="0">
                <a:solidFill>
                  <a:srgbClr val="FF3300"/>
                </a:solidFill>
              </a:rPr>
              <a:t>指令系统（</a:t>
            </a:r>
            <a:r>
              <a:rPr lang="en-US" altLang="zh-CN" sz="2400" dirty="0">
                <a:solidFill>
                  <a:srgbClr val="FF3300"/>
                </a:solidFill>
              </a:rPr>
              <a:t>ISA</a:t>
            </a:r>
            <a:r>
              <a:rPr lang="zh-CN" altLang="en-US" sz="2400" dirty="0">
                <a:solidFill>
                  <a:srgbClr val="FF3300"/>
                </a:solidFill>
              </a:rPr>
              <a:t>）。</a:t>
            </a:r>
            <a:endParaRPr lang="zh-CN" altLang="en-US" sz="2400" dirty="0">
              <a:solidFill>
                <a:srgbClr val="FF3300"/>
              </a:solidFill>
            </a:endParaRPr>
          </a:p>
          <a:p>
            <a:pPr lvl="1">
              <a:lnSpc>
                <a:spcPct val="90000"/>
              </a:lnSpc>
            </a:pPr>
            <a:r>
              <a:rPr lang="zh-CN" altLang="en-US" sz="2400" dirty="0"/>
              <a:t>指令系统是表征一台计算机性能的重要因素，它的格式与功能不仅直接影响到机器的</a:t>
            </a:r>
            <a:r>
              <a:rPr lang="zh-CN" altLang="en-US" sz="2400" dirty="0">
                <a:solidFill>
                  <a:srgbClr val="FF3300"/>
                </a:solidFill>
              </a:rPr>
              <a:t>硬件结构</a:t>
            </a:r>
            <a:r>
              <a:rPr lang="zh-CN" altLang="en-US" sz="2400" dirty="0"/>
              <a:t>，而且也直接影响到</a:t>
            </a:r>
            <a:r>
              <a:rPr lang="zh-CN" altLang="en-US" sz="2400" dirty="0">
                <a:solidFill>
                  <a:srgbClr val="FF3300"/>
                </a:solidFill>
              </a:rPr>
              <a:t>系统软件</a:t>
            </a:r>
            <a:r>
              <a:rPr lang="zh-CN" altLang="en-US" sz="2400" dirty="0"/>
              <a:t>，影响到机器的适用范围</a:t>
            </a:r>
            <a:endParaRPr lang="zh-CN" altLang="en-US" sz="2400" dirty="0"/>
          </a:p>
        </p:txBody>
      </p:sp>
      <p:sp>
        <p:nvSpPr>
          <p:cNvPr id="18435" name="Rectangle 9"/>
          <p:cNvSpPr>
            <a:spLocks noGrp="1"/>
          </p:cNvSpPr>
          <p:nvPr>
            <p:ph type="title"/>
          </p:nvPr>
        </p:nvSpPr>
        <p:spPr>
          <a:xfrm>
            <a:off x="395288" y="328613"/>
            <a:ext cx="7532687" cy="723900"/>
          </a:xfrm>
          <a:ln/>
        </p:spPr>
        <p:txBody>
          <a:bodyPr vert="horz" wrap="square" lIns="91440" tIns="45720" rIns="91440" bIns="45720" anchor="ctr" anchorCtr="0"/>
          <a:p>
            <a:r>
              <a:rPr lang="en-US" altLang="zh-CN" sz="3600" dirty="0"/>
              <a:t>4.1  </a:t>
            </a:r>
            <a:r>
              <a:rPr lang="zh-CN" altLang="en-US" sz="3600" dirty="0"/>
              <a:t>指令系统的发展与性能要求</a:t>
            </a:r>
            <a:endParaRPr lang="zh-CN" alt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568325" y="473075"/>
            <a:ext cx="7532688" cy="723900"/>
          </a:xfrm>
          <a:ln/>
        </p:spPr>
        <p:txBody>
          <a:bodyPr vert="horz" wrap="square" lIns="91440" tIns="45720" rIns="91440" bIns="45720" anchor="ctr" anchorCtr="0"/>
          <a:p>
            <a:r>
              <a:rPr lang="en-US" altLang="zh-CN" sz="3500" dirty="0">
                <a:cs typeface="Times New Roman" panose="02020603050405020304" pitchFamily="18" charset="0"/>
              </a:rPr>
              <a:t>4.1  </a:t>
            </a:r>
            <a:r>
              <a:rPr lang="zh-CN" altLang="en-US" sz="3600" dirty="0"/>
              <a:t>指令系统</a:t>
            </a:r>
            <a:r>
              <a:rPr lang="zh-CN" altLang="en-US" sz="3500" dirty="0"/>
              <a:t>的发展与性能要求</a:t>
            </a:r>
            <a:endParaRPr lang="zh-CN" altLang="en-US" sz="3500" dirty="0"/>
          </a:p>
        </p:txBody>
      </p:sp>
      <p:sp>
        <p:nvSpPr>
          <p:cNvPr id="19459" name="Rectangle 3"/>
          <p:cNvSpPr>
            <a:spLocks noGrp="1"/>
          </p:cNvSpPr>
          <p:nvPr>
            <p:ph idx="1"/>
          </p:nvPr>
        </p:nvSpPr>
        <p:spPr>
          <a:xfrm>
            <a:off x="457200" y="1341438"/>
            <a:ext cx="8229600" cy="3886200"/>
          </a:xfrm>
          <a:ln/>
        </p:spPr>
        <p:txBody>
          <a:bodyPr vert="horz" wrap="square" lIns="91440" tIns="45720" rIns="91440" bIns="45720" anchor="t" anchorCtr="0"/>
          <a:p>
            <a:pPr>
              <a:buNone/>
            </a:pPr>
            <a:r>
              <a:rPr lang="en-US" altLang="zh-CN" dirty="0"/>
              <a:t>3</a:t>
            </a:r>
            <a:r>
              <a:rPr lang="zh-CN" altLang="en-US" dirty="0"/>
              <a:t>、发展情况</a:t>
            </a:r>
            <a:endParaRPr lang="zh-CN" altLang="en-US" dirty="0"/>
          </a:p>
          <a:p>
            <a:pPr lvl="1"/>
            <a:r>
              <a:rPr lang="zh-CN" altLang="en-US" sz="3000" dirty="0">
                <a:solidFill>
                  <a:srgbClr val="FF3300"/>
                </a:solidFill>
              </a:rPr>
              <a:t>复杂指令系统计算机</a:t>
            </a:r>
            <a:r>
              <a:rPr lang="zh-CN" altLang="en-US" sz="3000" dirty="0"/>
              <a:t>（</a:t>
            </a:r>
            <a:r>
              <a:rPr lang="en-US" altLang="zh-CN" sz="3000" dirty="0"/>
              <a:t>Complex Instructions Set Computer</a:t>
            </a:r>
            <a:r>
              <a:rPr lang="zh-CN" altLang="en-US" sz="3000" dirty="0"/>
              <a:t>），简称</a:t>
            </a:r>
            <a:r>
              <a:rPr lang="en-US" altLang="zh-CN" sz="3000" dirty="0"/>
              <a:t>CISC</a:t>
            </a:r>
            <a:r>
              <a:rPr lang="zh-CN" altLang="en-US" sz="3000" dirty="0"/>
              <a:t>。但是如此庞大的指令系统不但使计算机的研制周期变长，难以保证正确性，不易调试维护，而且由于采用了大量使用频率很低的复杂指令而造成硬件资源浪费。</a:t>
            </a:r>
            <a:endParaRPr lang="zh-CN" altLang="en-US" sz="3000" dirty="0"/>
          </a:p>
          <a:p>
            <a:pPr lvl="1"/>
            <a:r>
              <a:rPr lang="zh-CN" altLang="en-US" sz="3000" dirty="0">
                <a:solidFill>
                  <a:srgbClr val="FF3300"/>
                </a:solidFill>
              </a:rPr>
              <a:t>精简指令系统计算机</a:t>
            </a:r>
            <a:r>
              <a:rPr lang="en-US" altLang="zh-CN" sz="3000" dirty="0"/>
              <a:t>(Reduced Instructions Set Computer)</a:t>
            </a:r>
            <a:r>
              <a:rPr lang="zh-CN" altLang="en-US" sz="3000" dirty="0"/>
              <a:t>：简称</a:t>
            </a:r>
            <a:r>
              <a:rPr lang="en-US" altLang="zh-CN" sz="3000" dirty="0"/>
              <a:t>RISC</a:t>
            </a:r>
            <a:r>
              <a:rPr lang="zh-CN" altLang="en-US" sz="3000" dirty="0"/>
              <a:t>，人们又提出了便于</a:t>
            </a:r>
            <a:r>
              <a:rPr lang="en-US" altLang="zh-CN" sz="3000" dirty="0"/>
              <a:t>VLSI</a:t>
            </a:r>
            <a:r>
              <a:rPr lang="zh-CN" altLang="en-US" sz="3000" dirty="0"/>
              <a:t>技术实现的精简指令系统计算机。</a:t>
            </a:r>
            <a:endParaRPr lang="zh-CN" alt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68313" y="339725"/>
            <a:ext cx="8178800" cy="785813"/>
          </a:xfrm>
          <a:ln/>
        </p:spPr>
        <p:txBody>
          <a:bodyPr vert="horz" wrap="square" lIns="91440" tIns="45720" rIns="91440" bIns="45720" anchor="ctr" anchorCtr="0"/>
          <a:p>
            <a:r>
              <a:rPr lang="en-US" altLang="zh-CN" dirty="0">
                <a:cs typeface="Times New Roman" panose="02020603050405020304" pitchFamily="18" charset="0"/>
              </a:rPr>
              <a:t>4.1  </a:t>
            </a:r>
            <a:r>
              <a:rPr lang="zh-CN" altLang="en-US" sz="3600" dirty="0"/>
              <a:t>指令系统的发展与性能要求</a:t>
            </a:r>
            <a:endParaRPr lang="zh-CN" altLang="en-US" sz="3600" dirty="0"/>
          </a:p>
        </p:txBody>
      </p:sp>
      <p:sp>
        <p:nvSpPr>
          <p:cNvPr id="9219" name="Rectangle 3"/>
          <p:cNvSpPr>
            <a:spLocks noGrp="1"/>
          </p:cNvSpPr>
          <p:nvPr>
            <p:ph idx="1"/>
          </p:nvPr>
        </p:nvSpPr>
        <p:spPr>
          <a:xfrm>
            <a:off x="457200" y="1125538"/>
            <a:ext cx="8435975" cy="5184775"/>
          </a:xfrm>
          <a:ln/>
        </p:spPr>
        <p:txBody>
          <a:bodyPr vert="horz" wrap="square" lIns="91440" tIns="45720" rIns="91440" bIns="45720" anchor="t" anchorCtr="0"/>
          <a:p>
            <a:pPr>
              <a:lnSpc>
                <a:spcPct val="90000"/>
              </a:lnSpc>
              <a:buNone/>
            </a:pPr>
            <a:r>
              <a:rPr lang="en-US" altLang="zh-CN" sz="2800" dirty="0"/>
              <a:t>4</a:t>
            </a:r>
            <a:r>
              <a:rPr lang="zh-CN" altLang="en-US" sz="2800" dirty="0"/>
              <a:t>、为什么会出现</a:t>
            </a:r>
            <a:r>
              <a:rPr lang="en-US" altLang="zh-CN" sz="2800" dirty="0"/>
              <a:t>CISC</a:t>
            </a:r>
            <a:r>
              <a:rPr lang="zh-CN" altLang="en-US" sz="2800" dirty="0"/>
              <a:t>到</a:t>
            </a:r>
            <a:r>
              <a:rPr lang="en-US" altLang="zh-CN" sz="2800" dirty="0"/>
              <a:t>RISC</a:t>
            </a:r>
            <a:r>
              <a:rPr lang="zh-CN" altLang="en-US" sz="2800" dirty="0"/>
              <a:t>的转变</a:t>
            </a:r>
            <a:endParaRPr lang="zh-CN" altLang="en-US" sz="2800" dirty="0"/>
          </a:p>
          <a:p>
            <a:pPr lvl="1">
              <a:lnSpc>
                <a:spcPct val="90000"/>
              </a:lnSpc>
            </a:pPr>
            <a:r>
              <a:rPr lang="en-US" altLang="zh-CN" b="1" dirty="0"/>
              <a:t>2/8</a:t>
            </a:r>
            <a:r>
              <a:rPr lang="zh-CN" altLang="en-US" b="1" dirty="0"/>
              <a:t>规则</a:t>
            </a:r>
            <a:endParaRPr lang="zh-CN" altLang="en-US" b="1" dirty="0"/>
          </a:p>
          <a:p>
            <a:pPr lvl="1">
              <a:lnSpc>
                <a:spcPct val="90000"/>
              </a:lnSpc>
            </a:pPr>
            <a:r>
              <a:rPr lang="en-US" altLang="zh-CN" sz="2400" b="1" dirty="0">
                <a:solidFill>
                  <a:srgbClr val="FF3300"/>
                </a:solidFill>
              </a:rPr>
              <a:t>20%</a:t>
            </a:r>
            <a:r>
              <a:rPr lang="zh-CN" altLang="en-US" sz="2400" b="1" dirty="0">
                <a:solidFill>
                  <a:srgbClr val="FF3300"/>
                </a:solidFill>
              </a:rPr>
              <a:t>和</a:t>
            </a:r>
            <a:r>
              <a:rPr lang="en-US" altLang="zh-CN" sz="2400" b="1" dirty="0">
                <a:solidFill>
                  <a:srgbClr val="FF3300"/>
                </a:solidFill>
              </a:rPr>
              <a:t>80%</a:t>
            </a:r>
            <a:r>
              <a:rPr lang="zh-CN" altLang="en-US" sz="2400" b="1" dirty="0">
                <a:solidFill>
                  <a:srgbClr val="FF3300"/>
                </a:solidFill>
              </a:rPr>
              <a:t>规律</a:t>
            </a:r>
            <a:r>
              <a:rPr lang="zh-CN" altLang="en-US" sz="2400" dirty="0"/>
              <a:t>：经过统计发现：</a:t>
            </a:r>
            <a:r>
              <a:rPr lang="en-US" altLang="zh-CN" sz="2400" dirty="0"/>
              <a:t>CISC</a:t>
            </a:r>
            <a:r>
              <a:rPr lang="zh-CN" altLang="en-US" sz="2400" dirty="0"/>
              <a:t>中大约有</a:t>
            </a:r>
            <a:r>
              <a:rPr lang="en-US" altLang="zh-CN" sz="2400" dirty="0"/>
              <a:t>20%</a:t>
            </a:r>
            <a:r>
              <a:rPr lang="zh-CN" altLang="en-US" sz="2400" dirty="0"/>
              <a:t>的指令使用频率高，占据了</a:t>
            </a:r>
            <a:r>
              <a:rPr lang="en-US" altLang="zh-CN" sz="2400" dirty="0"/>
              <a:t>80%</a:t>
            </a:r>
            <a:r>
              <a:rPr lang="zh-CN" altLang="en-US" sz="2400" dirty="0"/>
              <a:t>的处理机时间；而有</a:t>
            </a:r>
            <a:r>
              <a:rPr lang="en-US" altLang="zh-CN" sz="2400" dirty="0"/>
              <a:t>80%</a:t>
            </a:r>
            <a:r>
              <a:rPr lang="zh-CN" altLang="en-US" sz="2400" dirty="0"/>
              <a:t>的不常用指令只占用处理机的</a:t>
            </a:r>
            <a:r>
              <a:rPr lang="en-US" altLang="zh-CN" sz="2400" dirty="0"/>
              <a:t>20%</a:t>
            </a:r>
            <a:r>
              <a:rPr lang="zh-CN" altLang="en-US" sz="2400" dirty="0"/>
              <a:t>时间。</a:t>
            </a:r>
            <a:endParaRPr lang="zh-CN" altLang="en-US" sz="2400" dirty="0"/>
          </a:p>
          <a:p>
            <a:pPr lvl="1">
              <a:lnSpc>
                <a:spcPct val="90000"/>
              </a:lnSpc>
            </a:pPr>
            <a:r>
              <a:rPr lang="zh-CN" altLang="en-US" b="1" dirty="0"/>
              <a:t>控制器设计难度下降</a:t>
            </a:r>
            <a:endParaRPr lang="zh-CN" altLang="en-US" b="1" dirty="0"/>
          </a:p>
          <a:p>
            <a:pPr lvl="1">
              <a:lnSpc>
                <a:spcPct val="90000"/>
              </a:lnSpc>
            </a:pPr>
            <a:endParaRPr lang="zh-CN" altLang="en-US" b="1" dirty="0"/>
          </a:p>
          <a:p>
            <a:pPr lvl="1">
              <a:lnSpc>
                <a:spcPct val="90000"/>
              </a:lnSpc>
            </a:pPr>
            <a:r>
              <a:rPr lang="zh-CN" altLang="en-US" b="1" dirty="0"/>
              <a:t>请问</a:t>
            </a:r>
            <a:r>
              <a:rPr lang="en-US" altLang="zh-CN" b="1" dirty="0"/>
              <a:t>Intel X86</a:t>
            </a:r>
            <a:r>
              <a:rPr lang="zh-CN" altLang="en-US" b="1" dirty="0"/>
              <a:t>处理器采用的是</a:t>
            </a:r>
            <a:r>
              <a:rPr lang="en-US" altLang="zh-CN" b="1" dirty="0"/>
              <a:t>CISC</a:t>
            </a:r>
            <a:r>
              <a:rPr lang="zh-CN" altLang="en-US" b="1" dirty="0"/>
              <a:t>还是</a:t>
            </a:r>
            <a:r>
              <a:rPr lang="en-US" altLang="zh-CN" b="1" dirty="0"/>
              <a:t>RISC</a:t>
            </a:r>
            <a:r>
              <a:rPr lang="zh-CN" altLang="en-US" b="1" dirty="0"/>
              <a:t>？</a:t>
            </a:r>
            <a:endParaRPr lang="zh-CN" altLang="en-US" b="1" dirty="0"/>
          </a:p>
          <a:p>
            <a:pPr lvl="1">
              <a:lnSpc>
                <a:spcPct val="90000"/>
              </a:lnSpc>
            </a:pPr>
            <a:r>
              <a:rPr lang="en-US" altLang="zh-CN" b="1" dirty="0"/>
              <a:t>CISC</a:t>
            </a:r>
            <a:r>
              <a:rPr lang="zh-CN" altLang="en-US" b="1" dirty="0"/>
              <a:t>的代表：</a:t>
            </a:r>
            <a:r>
              <a:rPr lang="en-US" altLang="zh-CN" b="1" dirty="0"/>
              <a:t>X86</a:t>
            </a:r>
            <a:r>
              <a:rPr lang="zh-CN" altLang="en-US" b="1" dirty="0"/>
              <a:t>；</a:t>
            </a:r>
            <a:endParaRPr lang="zh-CN" altLang="en-US" b="1" dirty="0"/>
          </a:p>
          <a:p>
            <a:pPr lvl="1">
              <a:lnSpc>
                <a:spcPct val="90000"/>
              </a:lnSpc>
            </a:pPr>
            <a:r>
              <a:rPr lang="en-US" altLang="zh-CN" b="1" dirty="0"/>
              <a:t>RISC</a:t>
            </a:r>
            <a:r>
              <a:rPr lang="zh-CN" altLang="en-US" b="1" dirty="0"/>
              <a:t>的代表：</a:t>
            </a:r>
            <a:r>
              <a:rPr lang="en-US" altLang="zh-CN" b="1" dirty="0"/>
              <a:t>MIPS</a:t>
            </a:r>
            <a:r>
              <a:rPr lang="zh-CN" altLang="en-US" b="1" dirty="0"/>
              <a:t>、</a:t>
            </a:r>
            <a:r>
              <a:rPr lang="en-US" altLang="zh-CN" b="1" dirty="0"/>
              <a:t>DIX</a:t>
            </a:r>
            <a:r>
              <a:rPr lang="zh-CN" altLang="en-US" b="1" dirty="0"/>
              <a:t>、</a:t>
            </a:r>
            <a:r>
              <a:rPr lang="en-US" altLang="zh-CN" b="1" dirty="0"/>
              <a:t>POWER PC</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charRg st="27" end="102"/>
                                            </p:txEl>
                                          </p:spTgt>
                                        </p:tgtEl>
                                        <p:attrNameLst>
                                          <p:attrName>style.visibility</p:attrName>
                                        </p:attrNameLst>
                                      </p:cBhvr>
                                      <p:to>
                                        <p:strVal val="visible"/>
                                      </p:to>
                                    </p:set>
                                    <p:animEffect transition="in" filter="blinds(horizontal)">
                                      <p:cBhvr>
                                        <p:cTn id="7" dur="500"/>
                                        <p:tgtEl>
                                          <p:spTgt spid="9219">
                                            <p:txEl>
                                              <p:charRg st="27" end="10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charRg st="113" end="143"/>
                                            </p:txEl>
                                          </p:spTgt>
                                        </p:tgtEl>
                                        <p:attrNameLst>
                                          <p:attrName>style.visibility</p:attrName>
                                        </p:attrNameLst>
                                      </p:cBhvr>
                                      <p:to>
                                        <p:strVal val="visible"/>
                                      </p:to>
                                    </p:set>
                                    <p:animEffect transition="in" filter="blinds(horizontal)">
                                      <p:cBhvr>
                                        <p:cTn id="12" dur="500"/>
                                        <p:tgtEl>
                                          <p:spTgt spid="9219">
                                            <p:txEl>
                                              <p:charRg st="113" end="14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19">
                                            <p:txEl>
                                              <p:charRg st="143" end="156"/>
                                            </p:txEl>
                                          </p:spTgt>
                                        </p:tgtEl>
                                        <p:attrNameLst>
                                          <p:attrName>style.visibility</p:attrName>
                                        </p:attrNameLst>
                                      </p:cBhvr>
                                      <p:to>
                                        <p:strVal val="visible"/>
                                      </p:to>
                                    </p:set>
                                    <p:animEffect transition="in" filter="blinds(horizontal)">
                                      <p:cBhvr>
                                        <p:cTn id="17" dur="500"/>
                                        <p:tgtEl>
                                          <p:spTgt spid="9219">
                                            <p:txEl>
                                              <p:charRg st="143" end="156"/>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9219">
                                            <p:txEl>
                                              <p:charRg st="156" end="182"/>
                                            </p:txEl>
                                          </p:spTgt>
                                        </p:tgtEl>
                                        <p:attrNameLst>
                                          <p:attrName>style.visibility</p:attrName>
                                        </p:attrNameLst>
                                      </p:cBhvr>
                                      <p:to>
                                        <p:strVal val="visible"/>
                                      </p:to>
                                    </p:set>
                                    <p:animEffect transition="in" filter="blinds(horizontal)">
                                      <p:cBhvr>
                                        <p:cTn id="20" dur="500"/>
                                        <p:tgtEl>
                                          <p:spTgt spid="9219">
                                            <p:txEl>
                                              <p:charRg st="156"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表格 5"/>
          <p:cNvGraphicFramePr>
            <a:graphicFrameLocks noGrp="1"/>
          </p:cNvGraphicFramePr>
          <p:nvPr/>
        </p:nvGraphicFramePr>
        <p:xfrm>
          <a:off x="323850" y="836613"/>
          <a:ext cx="8424863" cy="4335463"/>
        </p:xfrm>
        <a:graphic>
          <a:graphicData uri="http://schemas.openxmlformats.org/drawingml/2006/table">
            <a:tbl>
              <a:tblPr/>
              <a:tblGrid>
                <a:gridCol w="2808288"/>
                <a:gridCol w="2808287"/>
                <a:gridCol w="2808288"/>
              </a:tblGrid>
              <a:tr h="4302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rgbClr val="0078CD"/>
                          </a:solidFill>
                          <a:effectLst/>
                          <a:latin typeface="宋体" panose="02010600030101010101" pitchFamily="2" charset="-122"/>
                          <a:ea typeface="宋体" panose="02010600030101010101" pitchFamily="2" charset="-122"/>
                        </a:rPr>
                        <a:t>比较内容</a:t>
                      </a:r>
                      <a:endParaRPr kumimoji="0" lang="zh-CN" altLang="en-US" sz="2000" b="0" i="0" u="none" strike="noStrike" cap="none" normalizeH="0" baseline="0" smtClean="0">
                        <a:ln>
                          <a:noFill/>
                        </a:ln>
                        <a:solidFill>
                          <a:srgbClr val="0078CD"/>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78CD"/>
                          </a:solidFill>
                          <a:effectLst/>
                          <a:latin typeface="宋体" panose="02010600030101010101" pitchFamily="2" charset="-122"/>
                          <a:ea typeface="宋体" panose="02010600030101010101" pitchFamily="2" charset="-122"/>
                        </a:rPr>
                        <a:t>CISC</a:t>
                      </a:r>
                      <a:endParaRPr kumimoji="0" lang="en-US" altLang="zh-CN" sz="2000" b="0" i="0" u="none" strike="noStrike" cap="none" normalizeH="0" baseline="0" smtClean="0">
                        <a:ln>
                          <a:noFill/>
                        </a:ln>
                        <a:solidFill>
                          <a:srgbClr val="0078CD"/>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78CD"/>
                          </a:solidFill>
                          <a:effectLst/>
                          <a:latin typeface="宋体" panose="02010600030101010101" pitchFamily="2" charset="-122"/>
                          <a:ea typeface="宋体" panose="02010600030101010101" pitchFamily="2" charset="-122"/>
                        </a:rPr>
                        <a:t>RISC</a:t>
                      </a:r>
                      <a:endParaRPr kumimoji="0" lang="en-US" altLang="zh-CN" sz="2000" b="0" i="0" u="none" strike="noStrike" cap="none" normalizeH="0" baseline="0" smtClean="0">
                        <a:ln>
                          <a:noFill/>
                        </a:ln>
                        <a:solidFill>
                          <a:srgbClr val="0078CD"/>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指令系统</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复杂，庞大</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简单，精简</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指令数目</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一般大于</a:t>
                      </a:r>
                      <a:r>
                        <a:rPr kumimoji="0" lang="en-US" altLang="zh-CN"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200</a:t>
                      </a: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条</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一般小于</a:t>
                      </a:r>
                      <a:r>
                        <a:rPr kumimoji="0" lang="en-US" altLang="zh-CN"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100</a:t>
                      </a: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条</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指令字长</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不固定</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等长</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可访存指令</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不加限制</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只有</a:t>
                      </a:r>
                      <a:r>
                        <a:rPr kumimoji="0" lang="en-US" altLang="zh-CN"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LOAD/STORE</a:t>
                      </a: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指令</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各种指令使用频率</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相差很大</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相差不大</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各种指令执行时间</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相差很大</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绝大多数在一个周期内完成</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优化编译实现</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很难</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较容易</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程序源代码长度</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较短</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较长</a:t>
                      </a:r>
                      <a:endParaRPr kumimoji="0" lang="en-US" altLang="zh-CN"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控制器实现方式</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绝大多数为微程序控制</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绝大多数为硬布线控制</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通用寄存器数量</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较少</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rPr>
                        <a:t>较多</a:t>
                      </a:r>
                      <a:endParaRPr kumimoji="0" lang="zh-CN" altLang="en-US" sz="1800" b="0" i="0" u="none" strike="noStrike" cap="none" normalizeH="0" baseline="0" smtClean="0">
                        <a:ln>
                          <a:noFill/>
                        </a:ln>
                        <a:solidFill>
                          <a:srgbClr val="FF0000"/>
                        </a:solidFill>
                        <a:effectLst/>
                        <a:latin typeface="Verdana" panose="020B0604030504040204" pitchFamily="34" charset="0"/>
                        <a:ea typeface="宋体" panose="02010600030101010101" pitchFamily="2" charset="-122"/>
                      </a:endParaRPr>
                    </a:p>
                  </a:txBody>
                  <a:tcPr marL="9525" marR="9525" marT="9525" marB="95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	</a:t>
            </a:r>
            <a:endParaRPr lang="zh-CN" altLang="en-US" sz="3500" dirty="0"/>
          </a:p>
        </p:txBody>
      </p:sp>
      <p:sp>
        <p:nvSpPr>
          <p:cNvPr id="22531" name="Rectangle 3"/>
          <p:cNvSpPr>
            <a:spLocks noGrp="1"/>
          </p:cNvSpPr>
          <p:nvPr>
            <p:ph idx="1"/>
          </p:nvPr>
        </p:nvSpPr>
        <p:spPr>
          <a:xfrm>
            <a:off x="107950" y="549275"/>
            <a:ext cx="8604250" cy="4968875"/>
          </a:xfrm>
          <a:ln/>
        </p:spPr>
        <p:txBody>
          <a:bodyPr vert="horz" wrap="square" lIns="91440" tIns="45720" rIns="91440" bIns="45720" anchor="t" anchorCtr="0"/>
          <a:p>
            <a:endParaRPr lang="en-US" altLang="zh-CN" sz="2400" dirty="0">
              <a:solidFill>
                <a:srgbClr val="FF0000"/>
              </a:solidFill>
            </a:endParaRPr>
          </a:p>
          <a:p>
            <a:r>
              <a:rPr lang="en-US" altLang="zh-CN" sz="2400" dirty="0">
                <a:solidFill>
                  <a:srgbClr val="FF0000"/>
                </a:solidFill>
              </a:rPr>
              <a:t>1) </a:t>
            </a:r>
            <a:r>
              <a:rPr lang="zh-CN" altLang="en-US" sz="2400" dirty="0">
                <a:solidFill>
                  <a:srgbClr val="FF0000"/>
                </a:solidFill>
              </a:rPr>
              <a:t>下列关于</a:t>
            </a:r>
            <a:r>
              <a:rPr lang="en-US" altLang="zh-CN" sz="2400" dirty="0">
                <a:solidFill>
                  <a:srgbClr val="FF0000"/>
                </a:solidFill>
              </a:rPr>
              <a:t>RISC</a:t>
            </a:r>
            <a:r>
              <a:rPr lang="zh-CN" altLang="en-US" sz="2400" dirty="0">
                <a:solidFill>
                  <a:srgbClr val="FF0000"/>
                </a:solidFill>
              </a:rPr>
              <a:t>说法中</a:t>
            </a:r>
            <a:r>
              <a:rPr lang="en-US" altLang="zh-CN" sz="2400" dirty="0">
                <a:solidFill>
                  <a:srgbClr val="FF0000"/>
                </a:solidFill>
              </a:rPr>
              <a:t>,</a:t>
            </a:r>
            <a:r>
              <a:rPr lang="zh-CN" altLang="en-US" sz="2400" dirty="0">
                <a:solidFill>
                  <a:srgbClr val="FF0000"/>
                </a:solidFill>
              </a:rPr>
              <a:t>错误的是</a:t>
            </a:r>
            <a:r>
              <a:rPr lang="en-US" altLang="zh-CN" sz="2400" dirty="0">
                <a:solidFill>
                  <a:srgbClr val="FF0000"/>
                </a:solidFill>
              </a:rPr>
              <a:t>().</a:t>
            </a:r>
            <a:endParaRPr lang="en-US" altLang="zh-CN" sz="2400" dirty="0">
              <a:solidFill>
                <a:srgbClr val="FF0000"/>
              </a:solidFill>
            </a:endParaRPr>
          </a:p>
          <a:p>
            <a:r>
              <a:rPr lang="en-US" altLang="zh-CN" sz="2400" dirty="0">
                <a:solidFill>
                  <a:srgbClr val="FF0000"/>
                </a:solidFill>
              </a:rPr>
              <a:t>A. RISC</a:t>
            </a:r>
            <a:r>
              <a:rPr lang="zh-CN" altLang="en-US" sz="2400" dirty="0">
                <a:solidFill>
                  <a:srgbClr val="FF0000"/>
                </a:solidFill>
              </a:rPr>
              <a:t>普遍采用微程序控制器</a:t>
            </a:r>
            <a:endParaRPr lang="en-US" altLang="zh-CN" sz="2400" dirty="0">
              <a:solidFill>
                <a:srgbClr val="FF0000"/>
              </a:solidFill>
            </a:endParaRPr>
          </a:p>
          <a:p>
            <a:r>
              <a:rPr lang="en-US" altLang="zh-CN" sz="2400" dirty="0">
                <a:solidFill>
                  <a:srgbClr val="FF0000"/>
                </a:solidFill>
              </a:rPr>
              <a:t>B. RISC</a:t>
            </a:r>
            <a:r>
              <a:rPr lang="zh-CN" altLang="en-US" sz="2400" dirty="0">
                <a:solidFill>
                  <a:srgbClr val="FF0000"/>
                </a:solidFill>
              </a:rPr>
              <a:t>大多数指令在一个时钟周期内完成</a:t>
            </a:r>
            <a:endParaRPr lang="en-US" altLang="zh-CN" sz="2400" dirty="0">
              <a:solidFill>
                <a:srgbClr val="FF0000"/>
              </a:solidFill>
            </a:endParaRPr>
          </a:p>
          <a:p>
            <a:r>
              <a:rPr lang="en-US" altLang="zh-CN" sz="2400" dirty="0">
                <a:solidFill>
                  <a:srgbClr val="FF0000"/>
                </a:solidFill>
              </a:rPr>
              <a:t>C.RISC</a:t>
            </a:r>
            <a:r>
              <a:rPr lang="zh-CN" altLang="en-US" sz="2400" dirty="0">
                <a:solidFill>
                  <a:srgbClr val="FF0000"/>
                </a:solidFill>
              </a:rPr>
              <a:t>的内部通用寄存器数量相对</a:t>
            </a:r>
            <a:r>
              <a:rPr lang="en-US" altLang="zh-CN" sz="2400" dirty="0">
                <a:solidFill>
                  <a:srgbClr val="FF0000"/>
                </a:solidFill>
              </a:rPr>
              <a:t>CISC</a:t>
            </a:r>
            <a:r>
              <a:rPr lang="zh-CN" altLang="en-US" sz="2400" dirty="0">
                <a:solidFill>
                  <a:srgbClr val="FF0000"/>
                </a:solidFill>
              </a:rPr>
              <a:t>多</a:t>
            </a:r>
            <a:endParaRPr lang="en-US" altLang="zh-CN" sz="2400" dirty="0">
              <a:solidFill>
                <a:srgbClr val="FF0000"/>
              </a:solidFill>
            </a:endParaRPr>
          </a:p>
          <a:p>
            <a:r>
              <a:rPr lang="en-US" altLang="zh-CN" sz="2400" dirty="0">
                <a:solidFill>
                  <a:srgbClr val="FF0000"/>
                </a:solidFill>
              </a:rPr>
              <a:t>D.RISC</a:t>
            </a:r>
            <a:r>
              <a:rPr lang="zh-CN" altLang="en-US" sz="2400" dirty="0">
                <a:solidFill>
                  <a:srgbClr val="FF0000"/>
                </a:solidFill>
              </a:rPr>
              <a:t>的指令数</a:t>
            </a:r>
            <a:r>
              <a:rPr lang="en-US" altLang="zh-CN" sz="2400" dirty="0">
                <a:solidFill>
                  <a:srgbClr val="FF0000"/>
                </a:solidFill>
              </a:rPr>
              <a:t>,</a:t>
            </a:r>
            <a:r>
              <a:rPr lang="zh-CN" altLang="en-US" sz="2400" dirty="0">
                <a:solidFill>
                  <a:srgbClr val="FF0000"/>
                </a:solidFill>
              </a:rPr>
              <a:t>寻址方式 和指令合适种类相对</a:t>
            </a:r>
            <a:r>
              <a:rPr lang="en-US" altLang="zh-CN" sz="2400" dirty="0">
                <a:solidFill>
                  <a:srgbClr val="FF0000"/>
                </a:solidFill>
              </a:rPr>
              <a:t>CISC</a:t>
            </a:r>
            <a:r>
              <a:rPr lang="zh-CN" altLang="en-US" sz="2400" dirty="0">
                <a:solidFill>
                  <a:srgbClr val="FF0000"/>
                </a:solidFill>
              </a:rPr>
              <a:t>少</a:t>
            </a:r>
            <a:endParaRPr lang="en-US" altLang="zh-CN" sz="2400" dirty="0">
              <a:solidFill>
                <a:srgbClr val="FF0000"/>
              </a:solidFill>
            </a:endParaRPr>
          </a:p>
          <a:p>
            <a:endParaRPr lang="en-US" altLang="zh-CN" sz="2400" dirty="0">
              <a:solidFill>
                <a:srgbClr val="FF0000"/>
              </a:solidFill>
            </a:endParaRPr>
          </a:p>
          <a:p>
            <a:endParaRPr lang="zh-CN" altLang="en-US" sz="2400"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68313" y="287338"/>
            <a:ext cx="7532687" cy="765175"/>
          </a:xfrm>
          <a:ln/>
        </p:spPr>
        <p:txBody>
          <a:bodyPr vert="horz" wrap="square" lIns="91440" tIns="45720" rIns="91440" bIns="45720" anchor="ctr" anchorCtr="0"/>
          <a:p>
            <a:r>
              <a:rPr lang="en-US" altLang="zh-CN" sz="3600" dirty="0">
                <a:cs typeface="Times New Roman" panose="02020603050405020304" pitchFamily="18" charset="0"/>
              </a:rPr>
              <a:t>4.1  </a:t>
            </a:r>
            <a:r>
              <a:rPr lang="zh-CN" altLang="en-US" sz="3600" dirty="0"/>
              <a:t>指令系统的发展与性能要求</a:t>
            </a:r>
            <a:endParaRPr lang="zh-CN" altLang="en-US" sz="3600" dirty="0"/>
          </a:p>
        </p:txBody>
      </p:sp>
      <p:sp>
        <p:nvSpPr>
          <p:cNvPr id="10243" name="Rectangle 3"/>
          <p:cNvSpPr>
            <a:spLocks noGrp="1"/>
          </p:cNvSpPr>
          <p:nvPr>
            <p:ph idx="1"/>
          </p:nvPr>
        </p:nvSpPr>
        <p:spPr>
          <a:xfrm>
            <a:off x="457200" y="1052513"/>
            <a:ext cx="8229600" cy="5078412"/>
          </a:xfrm>
          <a:ln/>
        </p:spPr>
        <p:txBody>
          <a:bodyPr vert="horz" wrap="square" lIns="91440" tIns="45720" rIns="91440" bIns="45720" anchor="t" anchorCtr="0"/>
          <a:p>
            <a:pPr>
              <a:lnSpc>
                <a:spcPct val="80000"/>
              </a:lnSpc>
              <a:buNone/>
            </a:pPr>
            <a:r>
              <a:rPr lang="en-US" altLang="zh-CN" sz="2800" dirty="0"/>
              <a:t>5</a:t>
            </a:r>
            <a:r>
              <a:rPr lang="zh-CN" altLang="en-US" sz="2800" dirty="0"/>
              <a:t>、对指令系统的要求</a:t>
            </a:r>
            <a:endParaRPr lang="zh-CN" altLang="en-US" sz="2800" dirty="0"/>
          </a:p>
          <a:p>
            <a:pPr>
              <a:lnSpc>
                <a:spcPct val="80000"/>
              </a:lnSpc>
            </a:pPr>
            <a:r>
              <a:rPr lang="zh-CN" altLang="en-US" sz="2400" b="1" dirty="0">
                <a:solidFill>
                  <a:srgbClr val="3333FF"/>
                </a:solidFill>
              </a:rPr>
              <a:t>完备性</a:t>
            </a:r>
            <a:r>
              <a:rPr lang="zh-CN" altLang="en-US" sz="2400" b="1" dirty="0"/>
              <a:t>：</a:t>
            </a:r>
            <a:r>
              <a:rPr lang="zh-CN" altLang="en-US" sz="2400" dirty="0"/>
              <a:t>完备性是指用汇编语言编写各种程序时，指令系统直接提供的指令足够使用。完备性要求指令系统丰富、功能齐全、使用方便。</a:t>
            </a:r>
            <a:r>
              <a:rPr lang="zh-CN" altLang="en-US" sz="2400" dirty="0">
                <a:solidFill>
                  <a:srgbClr val="FF3300"/>
                </a:solidFill>
              </a:rPr>
              <a:t>一台计算机中最基本、必不可少的指令是</a:t>
            </a:r>
            <a:r>
              <a:rPr lang="zh-CN" altLang="en-US" sz="2400" dirty="0">
                <a:solidFill>
                  <a:srgbClr val="3333FF"/>
                </a:solidFill>
              </a:rPr>
              <a:t>不多</a:t>
            </a:r>
            <a:r>
              <a:rPr lang="zh-CN" altLang="en-US" sz="2400" dirty="0">
                <a:solidFill>
                  <a:srgbClr val="FF3300"/>
                </a:solidFill>
              </a:rPr>
              <a:t>的</a:t>
            </a:r>
            <a:r>
              <a:rPr lang="zh-CN" altLang="en-US" sz="2400" dirty="0"/>
              <a:t>。许多指令可用最基本的指令编程来实现。</a:t>
            </a:r>
            <a:endParaRPr lang="zh-CN" altLang="en-US" sz="2400" dirty="0"/>
          </a:p>
          <a:p>
            <a:pPr>
              <a:lnSpc>
                <a:spcPct val="80000"/>
              </a:lnSpc>
            </a:pPr>
            <a:r>
              <a:rPr lang="zh-CN" altLang="en-US" sz="2400" dirty="0"/>
              <a:t>例如，乘除运算指令、浮点运算指令可直接用硬件来实现，也可用基本指令编写的程序来实现。采用硬件指令的目的是提高程序执行速度，便于用户编写程序。</a:t>
            </a:r>
            <a:endParaRPr lang="zh-CN" altLang="en-US" sz="2400" dirty="0"/>
          </a:p>
          <a:p>
            <a:pPr>
              <a:lnSpc>
                <a:spcPct val="80000"/>
              </a:lnSpc>
            </a:pPr>
            <a:endParaRPr lang="zh-CN" altLang="en-US" sz="2400" dirty="0"/>
          </a:p>
          <a:p>
            <a:pPr>
              <a:lnSpc>
                <a:spcPct val="80000"/>
              </a:lnSpc>
            </a:pPr>
            <a:r>
              <a:rPr lang="zh-CN" altLang="en-US" sz="2400" b="1" dirty="0">
                <a:solidFill>
                  <a:srgbClr val="3333FF"/>
                </a:solidFill>
              </a:rPr>
              <a:t>有效性：</a:t>
            </a:r>
            <a:r>
              <a:rPr lang="zh-CN" altLang="en-US" sz="2400" dirty="0"/>
              <a:t>有效性是指利用该指令系统所编写的程序能够高效率地运行。</a:t>
            </a:r>
            <a:endParaRPr lang="zh-CN" altLang="en-US" sz="2400" dirty="0"/>
          </a:p>
          <a:p>
            <a:pPr>
              <a:lnSpc>
                <a:spcPct val="80000"/>
              </a:lnSpc>
            </a:pPr>
            <a:r>
              <a:rPr lang="zh-CN" altLang="en-US" sz="2400" dirty="0"/>
              <a:t>高效率主要表现在程序</a:t>
            </a:r>
            <a:r>
              <a:rPr lang="zh-CN" altLang="en-US" sz="2400" dirty="0">
                <a:solidFill>
                  <a:srgbClr val="FF0000"/>
                </a:solidFill>
              </a:rPr>
              <a:t>占据存储空间小、执行速度快</a:t>
            </a:r>
            <a:r>
              <a:rPr lang="zh-CN" altLang="en-US" sz="2400" dirty="0"/>
              <a:t>。一般来说，一个功能更强、更完善的指令系统，必定有更好的有效性。</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charRg st="184" end="216"/>
                                            </p:txEl>
                                          </p:spTgt>
                                        </p:tgtEl>
                                        <p:attrNameLst>
                                          <p:attrName>style.visibility</p:attrName>
                                        </p:attrNameLst>
                                      </p:cBhvr>
                                      <p:to>
                                        <p:strVal val="visible"/>
                                      </p:to>
                                    </p:set>
                                    <p:animEffect transition="in" filter="blinds(horizontal)">
                                      <p:cBhvr>
                                        <p:cTn id="7" dur="500"/>
                                        <p:tgtEl>
                                          <p:spTgt spid="10243">
                                            <p:txEl>
                                              <p:charRg st="184" end="21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43">
                                            <p:txEl>
                                              <p:charRg st="216" end="273"/>
                                            </p:txEl>
                                          </p:spTgt>
                                        </p:tgtEl>
                                        <p:attrNameLst>
                                          <p:attrName>style.visibility</p:attrName>
                                        </p:attrNameLst>
                                      </p:cBhvr>
                                      <p:to>
                                        <p:strVal val="visible"/>
                                      </p:to>
                                    </p:set>
                                    <p:animEffect transition="in" filter="blinds(horizontal)">
                                      <p:cBhvr>
                                        <p:cTn id="10" dur="500"/>
                                        <p:tgtEl>
                                          <p:spTgt spid="10243">
                                            <p:txEl>
                                              <p:charRg st="216" end="2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539750" y="188913"/>
            <a:ext cx="7532688" cy="765175"/>
          </a:xfrm>
          <a:ln/>
        </p:spPr>
        <p:txBody>
          <a:bodyPr vert="horz" wrap="square" lIns="91440" tIns="45720" rIns="91440" bIns="45720" anchor="ctr" anchorCtr="0"/>
          <a:p>
            <a:r>
              <a:rPr lang="en-US" altLang="zh-CN" sz="3600" dirty="0">
                <a:cs typeface="Times New Roman" panose="02020603050405020304" pitchFamily="18" charset="0"/>
              </a:rPr>
              <a:t>4.1  </a:t>
            </a:r>
            <a:r>
              <a:rPr lang="zh-CN" altLang="en-US" sz="3600" dirty="0"/>
              <a:t>指令系统的发展与性能要求</a:t>
            </a:r>
            <a:endParaRPr lang="zh-CN" altLang="en-US" sz="3600" dirty="0"/>
          </a:p>
        </p:txBody>
      </p:sp>
      <p:sp>
        <p:nvSpPr>
          <p:cNvPr id="92163" name="Rectangle 3"/>
          <p:cNvSpPr>
            <a:spLocks noGrp="1"/>
          </p:cNvSpPr>
          <p:nvPr>
            <p:ph idx="1"/>
          </p:nvPr>
        </p:nvSpPr>
        <p:spPr>
          <a:xfrm>
            <a:off x="457200" y="765175"/>
            <a:ext cx="8229600" cy="5616575"/>
          </a:xfrm>
          <a:ln/>
        </p:spPr>
        <p:txBody>
          <a:bodyPr vert="horz" wrap="square" lIns="91440" tIns="45720" rIns="91440" bIns="45720" anchor="t" anchorCtr="0"/>
          <a:p>
            <a:pPr>
              <a:lnSpc>
                <a:spcPct val="80000"/>
              </a:lnSpc>
              <a:buNone/>
            </a:pPr>
            <a:r>
              <a:rPr lang="en-US" altLang="zh-CN" sz="2800" dirty="0"/>
              <a:t>5</a:t>
            </a:r>
            <a:r>
              <a:rPr lang="zh-CN" altLang="en-US" sz="2800" dirty="0"/>
              <a:t>、对指令系统的要求</a:t>
            </a:r>
            <a:endParaRPr lang="zh-CN" altLang="en-US" sz="2800" dirty="0"/>
          </a:p>
          <a:p>
            <a:pPr>
              <a:lnSpc>
                <a:spcPct val="80000"/>
              </a:lnSpc>
            </a:pPr>
            <a:r>
              <a:rPr lang="zh-CN" altLang="en-US" sz="2400" b="1" dirty="0">
                <a:solidFill>
                  <a:srgbClr val="3333FF"/>
                </a:solidFill>
              </a:rPr>
              <a:t>规整性：</a:t>
            </a:r>
            <a:r>
              <a:rPr lang="zh-CN" altLang="en-US" sz="2400" dirty="0"/>
              <a:t>规整性包括指令系统的</a:t>
            </a:r>
            <a:r>
              <a:rPr lang="zh-CN" altLang="en-US" sz="2400" dirty="0">
                <a:solidFill>
                  <a:srgbClr val="3333FF"/>
                </a:solidFill>
              </a:rPr>
              <a:t>对称性</a:t>
            </a:r>
            <a:r>
              <a:rPr lang="zh-CN" altLang="en-US" sz="2400" dirty="0"/>
              <a:t>、</a:t>
            </a:r>
            <a:r>
              <a:rPr lang="zh-CN" altLang="en-US" sz="2400" dirty="0">
                <a:solidFill>
                  <a:srgbClr val="3333FF"/>
                </a:solidFill>
              </a:rPr>
              <a:t>匀齐性</a:t>
            </a:r>
            <a:r>
              <a:rPr lang="zh-CN" altLang="en-US" sz="2400" dirty="0"/>
              <a:t>、</a:t>
            </a:r>
            <a:r>
              <a:rPr lang="zh-CN" altLang="en-US" sz="2400" dirty="0">
                <a:solidFill>
                  <a:srgbClr val="3333FF"/>
                </a:solidFill>
              </a:rPr>
              <a:t>指令格式</a:t>
            </a:r>
            <a:r>
              <a:rPr lang="zh-CN" altLang="en-US" sz="2400" dirty="0"/>
              <a:t>和</a:t>
            </a:r>
            <a:r>
              <a:rPr lang="zh-CN" altLang="en-US" sz="2400" dirty="0">
                <a:solidFill>
                  <a:srgbClr val="3333FF"/>
                </a:solidFill>
              </a:rPr>
              <a:t>数据格式的一致性</a:t>
            </a:r>
            <a:r>
              <a:rPr lang="zh-CN" altLang="en-US" sz="2400" dirty="0"/>
              <a:t>。</a:t>
            </a:r>
            <a:r>
              <a:rPr lang="zh-CN" altLang="en-US" sz="2400" dirty="0">
                <a:solidFill>
                  <a:srgbClr val="FF3300"/>
                </a:solidFill>
              </a:rPr>
              <a:t>对称性</a:t>
            </a:r>
            <a:r>
              <a:rPr lang="zh-CN" altLang="en-US" sz="2400" dirty="0"/>
              <a:t>是指：在指令系统中所有的</a:t>
            </a:r>
            <a:r>
              <a:rPr lang="zh-CN" altLang="en-US" sz="2400" dirty="0">
                <a:solidFill>
                  <a:srgbClr val="3333FF"/>
                </a:solidFill>
              </a:rPr>
              <a:t>寄存器和存储器单元</a:t>
            </a:r>
            <a:r>
              <a:rPr lang="zh-CN" altLang="en-US" sz="2400" dirty="0"/>
              <a:t>都可同等对待，所有的指令都可使用各种寻址方式；</a:t>
            </a:r>
            <a:endParaRPr lang="zh-CN" altLang="en-US" sz="2400" dirty="0"/>
          </a:p>
          <a:p>
            <a:pPr>
              <a:lnSpc>
                <a:spcPct val="80000"/>
              </a:lnSpc>
            </a:pPr>
            <a:r>
              <a:rPr lang="zh-CN" altLang="en-US" sz="2400" dirty="0">
                <a:solidFill>
                  <a:srgbClr val="FF3300"/>
                </a:solidFill>
              </a:rPr>
              <a:t>匀齐性</a:t>
            </a:r>
            <a:r>
              <a:rPr lang="zh-CN" altLang="en-US" sz="2400" dirty="0"/>
              <a:t>是指：一种操作性质的指令可以支持各种数据类型，如算术运算指令可支持字节、字、双字整数的运算，十进制数运算和单、双精度浮点数运算等；</a:t>
            </a:r>
            <a:endParaRPr lang="zh-CN" altLang="en-US" sz="2400" dirty="0"/>
          </a:p>
          <a:p>
            <a:pPr>
              <a:lnSpc>
                <a:spcPct val="80000"/>
              </a:lnSpc>
            </a:pPr>
            <a:r>
              <a:rPr lang="zh-CN" altLang="en-US" sz="2400" dirty="0"/>
              <a:t>指令格式和数据格式的</a:t>
            </a:r>
            <a:r>
              <a:rPr lang="zh-CN" altLang="en-US" sz="2400" dirty="0">
                <a:solidFill>
                  <a:srgbClr val="FF3300"/>
                </a:solidFill>
              </a:rPr>
              <a:t>一致性</a:t>
            </a:r>
            <a:r>
              <a:rPr lang="zh-CN" altLang="en-US" sz="2400" dirty="0"/>
              <a:t>是指：指令长度和数据长度有一定的关系，以方便处理和存取。</a:t>
            </a:r>
            <a:r>
              <a:rPr lang="zh-CN" altLang="en-US" sz="2400" dirty="0">
                <a:solidFill>
                  <a:srgbClr val="3333FF"/>
                </a:solidFill>
              </a:rPr>
              <a:t>例如指令长度和数据长度通常是字节长度的整数倍。</a:t>
            </a:r>
            <a:endParaRPr lang="zh-CN" altLang="en-US" sz="2400" dirty="0">
              <a:solidFill>
                <a:srgbClr val="3333FF"/>
              </a:solidFill>
            </a:endParaRPr>
          </a:p>
          <a:p>
            <a:pPr>
              <a:lnSpc>
                <a:spcPct val="80000"/>
              </a:lnSpc>
            </a:pPr>
            <a:endParaRPr lang="zh-CN" altLang="en-US" sz="2400" dirty="0">
              <a:solidFill>
                <a:srgbClr val="3333FF"/>
              </a:solidFill>
            </a:endParaRPr>
          </a:p>
          <a:p>
            <a:pPr>
              <a:lnSpc>
                <a:spcPct val="80000"/>
              </a:lnSpc>
            </a:pPr>
            <a:r>
              <a:rPr lang="zh-CN" altLang="en-US" sz="2400" b="1" dirty="0">
                <a:solidFill>
                  <a:srgbClr val="3333FF"/>
                </a:solidFill>
              </a:rPr>
              <a:t>兼容性：</a:t>
            </a:r>
            <a:r>
              <a:rPr lang="zh-CN" altLang="en-US" sz="2400" dirty="0"/>
              <a:t>系列机各机种之间</a:t>
            </a:r>
            <a:r>
              <a:rPr lang="zh-CN" altLang="en-US" sz="2400" dirty="0">
                <a:solidFill>
                  <a:srgbClr val="3333FF"/>
                </a:solidFill>
              </a:rPr>
              <a:t>具有相同的基本结构和共同的基本指令集</a:t>
            </a:r>
            <a:r>
              <a:rPr lang="zh-CN" altLang="en-US" sz="2400" dirty="0"/>
              <a:t>，因而指令系统是兼容的，即各机种上基本软件可以通用。但由于不同机种推出的时间不同，在结构和性能上有差异，做到所有软件都完全兼容是不可能的，只能做到“</a:t>
            </a:r>
            <a:r>
              <a:rPr lang="zh-CN" altLang="en-US" sz="2400" dirty="0">
                <a:solidFill>
                  <a:srgbClr val="3333FF"/>
                </a:solidFill>
              </a:rPr>
              <a:t>向上兼容</a:t>
            </a:r>
            <a:r>
              <a:rPr lang="zh-CN" altLang="en-US" sz="2400" dirty="0"/>
              <a:t>”，即</a:t>
            </a:r>
            <a:r>
              <a:rPr lang="zh-CN" altLang="en-US" sz="2400" dirty="0">
                <a:solidFill>
                  <a:srgbClr val="FF3300"/>
                </a:solidFill>
              </a:rPr>
              <a:t>低档机上运行的软件可以在高档机上运行</a:t>
            </a:r>
            <a:r>
              <a:rPr lang="zh-CN" altLang="en-US"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3">
                                            <p:txEl>
                                              <p:charRg st="230" end="361"/>
                                            </p:txEl>
                                          </p:spTgt>
                                        </p:tgtEl>
                                        <p:attrNameLst>
                                          <p:attrName>style.visibility</p:attrName>
                                        </p:attrNameLst>
                                      </p:cBhvr>
                                      <p:to>
                                        <p:strVal val="visible"/>
                                      </p:to>
                                    </p:set>
                                    <p:animEffect transition="in" filter="blinds(horizontal)">
                                      <p:cBhvr>
                                        <p:cTn id="7" dur="500"/>
                                        <p:tgtEl>
                                          <p:spTgt spid="92163">
                                            <p:txEl>
                                              <p:charRg st="230" end="3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468313" y="184150"/>
            <a:ext cx="7532687" cy="723900"/>
          </a:xfrm>
          <a:ln/>
        </p:spPr>
        <p:txBody>
          <a:bodyPr vert="horz" wrap="square" lIns="91440" tIns="45720" rIns="91440" bIns="45720" anchor="ctr" anchorCtr="0"/>
          <a:p>
            <a:r>
              <a:rPr lang="en-US" altLang="zh-CN" sz="3500" dirty="0">
                <a:cs typeface="Times New Roman" panose="02020603050405020304" pitchFamily="18" charset="0"/>
              </a:rPr>
              <a:t>4.1  </a:t>
            </a:r>
            <a:r>
              <a:rPr lang="zh-CN" altLang="en-US" sz="3600" dirty="0"/>
              <a:t>指令系统</a:t>
            </a:r>
            <a:r>
              <a:rPr lang="zh-CN" altLang="en-US" sz="3500" dirty="0"/>
              <a:t>的发展与性能要求</a:t>
            </a:r>
            <a:endParaRPr lang="zh-CN" altLang="en-US" sz="3500" dirty="0"/>
          </a:p>
        </p:txBody>
      </p:sp>
      <p:sp>
        <p:nvSpPr>
          <p:cNvPr id="25603" name="Rectangle 3"/>
          <p:cNvSpPr>
            <a:spLocks noGrp="1"/>
          </p:cNvSpPr>
          <p:nvPr>
            <p:ph idx="1"/>
          </p:nvPr>
        </p:nvSpPr>
        <p:spPr>
          <a:xfrm>
            <a:off x="539750" y="765175"/>
            <a:ext cx="8001000" cy="503238"/>
          </a:xfrm>
          <a:ln/>
        </p:spPr>
        <p:txBody>
          <a:bodyPr vert="horz" wrap="square" lIns="91440" tIns="45720" rIns="91440" bIns="45720" anchor="t" anchorCtr="0"/>
          <a:p>
            <a:pPr>
              <a:lnSpc>
                <a:spcPct val="90000"/>
              </a:lnSpc>
              <a:buNone/>
            </a:pPr>
            <a:r>
              <a:rPr lang="en-US" altLang="zh-CN" sz="2800" dirty="0"/>
              <a:t>6</a:t>
            </a:r>
            <a:r>
              <a:rPr lang="zh-CN" altLang="en-US" sz="2800" dirty="0"/>
              <a:t>、低级语言与高级语言关系</a:t>
            </a:r>
            <a:endParaRPr lang="zh-CN" altLang="en-US" sz="2800" dirty="0"/>
          </a:p>
        </p:txBody>
      </p:sp>
      <p:grpSp>
        <p:nvGrpSpPr>
          <p:cNvPr id="25604" name="Group 4"/>
          <p:cNvGrpSpPr/>
          <p:nvPr/>
        </p:nvGrpSpPr>
        <p:grpSpPr>
          <a:xfrm>
            <a:off x="611188" y="1196975"/>
            <a:ext cx="7848600" cy="5157788"/>
            <a:chOff x="-3" y="-3"/>
            <a:chExt cx="3239" cy="6772"/>
          </a:xfrm>
        </p:grpSpPr>
        <p:grpSp>
          <p:nvGrpSpPr>
            <p:cNvPr id="25605" name="Group 5"/>
            <p:cNvGrpSpPr/>
            <p:nvPr/>
          </p:nvGrpSpPr>
          <p:grpSpPr>
            <a:xfrm>
              <a:off x="0" y="0"/>
              <a:ext cx="3233" cy="6766"/>
              <a:chOff x="0" y="0"/>
              <a:chExt cx="3233" cy="6766"/>
            </a:xfrm>
          </p:grpSpPr>
          <p:grpSp>
            <p:nvGrpSpPr>
              <p:cNvPr id="25607" name="Group 6"/>
              <p:cNvGrpSpPr/>
              <p:nvPr/>
            </p:nvGrpSpPr>
            <p:grpSpPr>
              <a:xfrm>
                <a:off x="0" y="0"/>
                <a:ext cx="294" cy="1038"/>
                <a:chOff x="0" y="0"/>
                <a:chExt cx="294" cy="1038"/>
              </a:xfrm>
            </p:grpSpPr>
            <p:sp>
              <p:nvSpPr>
                <p:cNvPr id="25689" name="Rectangle 7"/>
                <p:cNvSpPr/>
                <p:nvPr/>
              </p:nvSpPr>
              <p:spPr>
                <a:xfrm>
                  <a:off x="43" y="0"/>
                  <a:ext cx="208"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latin typeface="Times New Roman" panose="02020603050405020304" pitchFamily="18" charset="0"/>
                    </a:rPr>
                    <a:t> </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90" name="Rectangle 8"/>
                <p:cNvSpPr/>
                <p:nvPr/>
              </p:nvSpPr>
              <p:spPr>
                <a:xfrm>
                  <a:off x="0" y="0"/>
                  <a:ext cx="294"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08" name="Group 9"/>
              <p:cNvGrpSpPr/>
              <p:nvPr/>
            </p:nvGrpSpPr>
            <p:grpSpPr>
              <a:xfrm>
                <a:off x="294" y="0"/>
                <a:ext cx="1239" cy="1038"/>
                <a:chOff x="294" y="0"/>
                <a:chExt cx="1239" cy="1038"/>
              </a:xfrm>
            </p:grpSpPr>
            <p:sp>
              <p:nvSpPr>
                <p:cNvPr id="25687" name="Rectangle 10"/>
                <p:cNvSpPr/>
                <p:nvPr/>
              </p:nvSpPr>
              <p:spPr>
                <a:xfrm>
                  <a:off x="337" y="0"/>
                  <a:ext cx="1153"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比较内容</a:t>
                  </a:r>
                  <a:endParaRPr lang="zh-CN" altLang="en-US" sz="2400" dirty="0">
                    <a:latin typeface="Times New Roman" panose="02020603050405020304" pitchFamily="18" charset="0"/>
                  </a:endParaRPr>
                </a:p>
              </p:txBody>
            </p:sp>
            <p:sp>
              <p:nvSpPr>
                <p:cNvPr id="25688" name="Rectangle 11"/>
                <p:cNvSpPr/>
                <p:nvPr/>
              </p:nvSpPr>
              <p:spPr>
                <a:xfrm>
                  <a:off x="294" y="0"/>
                  <a:ext cx="1239"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09" name="Group 12"/>
              <p:cNvGrpSpPr/>
              <p:nvPr/>
            </p:nvGrpSpPr>
            <p:grpSpPr>
              <a:xfrm>
                <a:off x="1533" y="0"/>
                <a:ext cx="850" cy="1038"/>
                <a:chOff x="1533" y="0"/>
                <a:chExt cx="850" cy="1038"/>
              </a:xfrm>
            </p:grpSpPr>
            <p:sp>
              <p:nvSpPr>
                <p:cNvPr id="25685" name="Rectangle 13"/>
                <p:cNvSpPr/>
                <p:nvPr/>
              </p:nvSpPr>
              <p:spPr>
                <a:xfrm>
                  <a:off x="1576" y="0"/>
                  <a:ext cx="764"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高级语言</a:t>
                  </a:r>
                  <a:endParaRPr lang="zh-CN" altLang="en-US" sz="2400" dirty="0">
                    <a:latin typeface="Times New Roman" panose="02020603050405020304" pitchFamily="18" charset="0"/>
                  </a:endParaRPr>
                </a:p>
              </p:txBody>
            </p:sp>
            <p:sp>
              <p:nvSpPr>
                <p:cNvPr id="25686" name="Rectangle 14"/>
                <p:cNvSpPr/>
                <p:nvPr/>
              </p:nvSpPr>
              <p:spPr>
                <a:xfrm>
                  <a:off x="1533" y="0"/>
                  <a:ext cx="850"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0" name="Group 15"/>
              <p:cNvGrpSpPr/>
              <p:nvPr/>
            </p:nvGrpSpPr>
            <p:grpSpPr>
              <a:xfrm>
                <a:off x="2383" y="0"/>
                <a:ext cx="850" cy="1038"/>
                <a:chOff x="2383" y="0"/>
                <a:chExt cx="850" cy="1038"/>
              </a:xfrm>
            </p:grpSpPr>
            <p:sp>
              <p:nvSpPr>
                <p:cNvPr id="25683" name="Rectangle 16"/>
                <p:cNvSpPr/>
                <p:nvPr/>
              </p:nvSpPr>
              <p:spPr>
                <a:xfrm>
                  <a:off x="2426" y="0"/>
                  <a:ext cx="764"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低级语言</a:t>
                  </a:r>
                  <a:endParaRPr lang="zh-CN" altLang="en-US" sz="2400" dirty="0">
                    <a:latin typeface="Times New Roman" panose="02020603050405020304" pitchFamily="18" charset="0"/>
                  </a:endParaRPr>
                </a:p>
              </p:txBody>
            </p:sp>
            <p:sp>
              <p:nvSpPr>
                <p:cNvPr id="25684" name="Rectangle 17"/>
                <p:cNvSpPr/>
                <p:nvPr/>
              </p:nvSpPr>
              <p:spPr>
                <a:xfrm>
                  <a:off x="2383" y="0"/>
                  <a:ext cx="850"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1" name="Group 18"/>
              <p:cNvGrpSpPr/>
              <p:nvPr/>
            </p:nvGrpSpPr>
            <p:grpSpPr>
              <a:xfrm>
                <a:off x="0" y="1038"/>
                <a:ext cx="294" cy="1538"/>
                <a:chOff x="0" y="1038"/>
                <a:chExt cx="294" cy="1538"/>
              </a:xfrm>
            </p:grpSpPr>
            <p:sp>
              <p:nvSpPr>
                <p:cNvPr id="25681" name="Rectangle 19"/>
                <p:cNvSpPr/>
                <p:nvPr/>
              </p:nvSpPr>
              <p:spPr>
                <a:xfrm>
                  <a:off x="43" y="1038"/>
                  <a:ext cx="208" cy="1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1</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82" name="Rectangle 20"/>
                <p:cNvSpPr/>
                <p:nvPr/>
              </p:nvSpPr>
              <p:spPr>
                <a:xfrm>
                  <a:off x="0" y="1038"/>
                  <a:ext cx="294" cy="15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2" name="Group 21"/>
              <p:cNvGrpSpPr/>
              <p:nvPr/>
            </p:nvGrpSpPr>
            <p:grpSpPr>
              <a:xfrm>
                <a:off x="294" y="1038"/>
                <a:ext cx="1239" cy="1538"/>
                <a:chOff x="294" y="1038"/>
                <a:chExt cx="1239" cy="1538"/>
              </a:xfrm>
            </p:grpSpPr>
            <p:sp>
              <p:nvSpPr>
                <p:cNvPr id="25679" name="Rectangle 22"/>
                <p:cNvSpPr/>
                <p:nvPr/>
              </p:nvSpPr>
              <p:spPr>
                <a:xfrm>
                  <a:off x="337" y="1038"/>
                  <a:ext cx="1153" cy="1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dirty="0">
                      <a:latin typeface="Times New Roman" panose="02020603050405020304" pitchFamily="18" charset="0"/>
                    </a:rPr>
                    <a:t>对程序员的训练要求</a:t>
                  </a:r>
                  <a:endParaRPr lang="zh-CN" altLang="en-US" sz="1800" dirty="0">
                    <a:latin typeface="Times New Roman" panose="02020603050405020304" pitchFamily="18" charset="0"/>
                  </a:endParaRPr>
                </a:p>
                <a:p>
                  <a:pPr marL="0" lvl="0" indent="0" algn="just" eaLnBrk="1" hangingPunct="1">
                    <a:spcBef>
                      <a:spcPct val="0"/>
                    </a:spcBef>
                    <a:buClrTx/>
                    <a:buSzTx/>
                    <a:buFontTx/>
                    <a:buNone/>
                  </a:pPr>
                  <a:r>
                    <a:rPr lang="en-US" altLang="zh-CN" sz="1800" dirty="0">
                      <a:latin typeface="Times New Roman" panose="02020603050405020304" pitchFamily="18" charset="0"/>
                    </a:rPr>
                    <a:t>(1)</a:t>
                  </a:r>
                  <a:r>
                    <a:rPr lang="zh-CN" altLang="en-US" sz="1800" dirty="0">
                      <a:latin typeface="Times New Roman" panose="02020603050405020304" pitchFamily="18" charset="0"/>
                    </a:rPr>
                    <a:t>通用算法</a:t>
                  </a:r>
                  <a:endParaRPr lang="zh-CN" altLang="en-US" sz="1800" dirty="0">
                    <a:latin typeface="Times New Roman" panose="02020603050405020304" pitchFamily="18" charset="0"/>
                  </a:endParaRPr>
                </a:p>
                <a:p>
                  <a:pPr marL="0" lvl="0" indent="0" algn="just">
                    <a:spcBef>
                      <a:spcPct val="0"/>
                    </a:spcBef>
                    <a:buClrTx/>
                    <a:buSzTx/>
                    <a:buFontTx/>
                    <a:buNone/>
                  </a:pPr>
                  <a:r>
                    <a:rPr lang="en-US" altLang="zh-CN" sz="1800" dirty="0">
                      <a:latin typeface="Times New Roman" panose="02020603050405020304" pitchFamily="18" charset="0"/>
                    </a:rPr>
                    <a:t>(2)</a:t>
                  </a:r>
                  <a:r>
                    <a:rPr lang="zh-CN" altLang="en-US" sz="1800" dirty="0">
                      <a:latin typeface="Times New Roman" panose="02020603050405020304" pitchFamily="18" charset="0"/>
                    </a:rPr>
                    <a:t>语言规则</a:t>
                  </a:r>
                  <a:endParaRPr lang="zh-CN" altLang="en-US" sz="1800" dirty="0">
                    <a:latin typeface="Times New Roman" panose="02020603050405020304" pitchFamily="18" charset="0"/>
                  </a:endParaRPr>
                </a:p>
                <a:p>
                  <a:pPr marL="0" lvl="0" indent="0" algn="just">
                    <a:spcBef>
                      <a:spcPct val="0"/>
                    </a:spcBef>
                    <a:buClrTx/>
                    <a:buSzTx/>
                    <a:buFontTx/>
                    <a:buNone/>
                  </a:pPr>
                  <a:r>
                    <a:rPr lang="en-US" altLang="zh-CN" sz="1800" dirty="0">
                      <a:latin typeface="Times New Roman" panose="02020603050405020304" pitchFamily="18" charset="0"/>
                    </a:rPr>
                    <a:t>(3)</a:t>
                  </a:r>
                  <a:r>
                    <a:rPr lang="zh-CN" altLang="en-US" sz="1800" dirty="0">
                      <a:latin typeface="Times New Roman" panose="02020603050405020304" pitchFamily="18" charset="0"/>
                    </a:rPr>
                    <a:t>硬件知识</a:t>
                  </a:r>
                  <a:endParaRPr lang="zh-CN" altLang="en-US" sz="1800" dirty="0">
                    <a:latin typeface="Times New Roman" panose="02020603050405020304" pitchFamily="18" charset="0"/>
                  </a:endParaRPr>
                </a:p>
              </p:txBody>
            </p:sp>
            <p:sp>
              <p:nvSpPr>
                <p:cNvPr id="25680" name="Rectangle 23"/>
                <p:cNvSpPr/>
                <p:nvPr/>
              </p:nvSpPr>
              <p:spPr>
                <a:xfrm>
                  <a:off x="294" y="1038"/>
                  <a:ext cx="1239" cy="15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3" name="Group 24"/>
              <p:cNvGrpSpPr/>
              <p:nvPr/>
            </p:nvGrpSpPr>
            <p:grpSpPr>
              <a:xfrm>
                <a:off x="1533" y="1038"/>
                <a:ext cx="850" cy="1538"/>
                <a:chOff x="1533" y="1038"/>
                <a:chExt cx="850" cy="1538"/>
              </a:xfrm>
            </p:grpSpPr>
            <p:sp>
              <p:nvSpPr>
                <p:cNvPr id="25677" name="Rectangle 25"/>
                <p:cNvSpPr/>
                <p:nvPr/>
              </p:nvSpPr>
              <p:spPr>
                <a:xfrm>
                  <a:off x="1576" y="1038"/>
                  <a:ext cx="764" cy="1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600" dirty="0">
                      <a:latin typeface="Times New Roman" panose="02020603050405020304" pitchFamily="18" charset="0"/>
                    </a:rPr>
                    <a:t> </a:t>
                  </a:r>
                  <a:endParaRPr lang="en-US" altLang="zh-CN" sz="1000" dirty="0">
                    <a:latin typeface="Times New Roman" panose="02020603050405020304" pitchFamily="18" charset="0"/>
                  </a:endParaRPr>
                </a:p>
                <a:p>
                  <a:pPr marL="0" lvl="0" indent="0" algn="just">
                    <a:spcBef>
                      <a:spcPct val="0"/>
                    </a:spcBef>
                    <a:buClrTx/>
                    <a:buSzTx/>
                    <a:buFontTx/>
                    <a:buNone/>
                  </a:pPr>
                  <a:r>
                    <a:rPr lang="zh-CN" altLang="en-US" sz="2000" dirty="0">
                      <a:latin typeface="Times New Roman" panose="02020603050405020304" pitchFamily="18" charset="0"/>
                    </a:rPr>
                    <a:t>有</a:t>
                  </a:r>
                  <a:endParaRPr lang="zh-CN" altLang="en-US" sz="2000" dirty="0">
                    <a:latin typeface="Times New Roman" panose="02020603050405020304" pitchFamily="18" charset="0"/>
                  </a:endParaRPr>
                </a:p>
                <a:p>
                  <a:pPr marL="0" lvl="0" indent="0" algn="just">
                    <a:spcBef>
                      <a:spcPct val="0"/>
                    </a:spcBef>
                    <a:buClrTx/>
                    <a:buSzTx/>
                    <a:buFontTx/>
                    <a:buNone/>
                  </a:pPr>
                  <a:r>
                    <a:rPr lang="zh-CN" altLang="en-US" sz="2000" dirty="0">
                      <a:latin typeface="Times New Roman" panose="02020603050405020304" pitchFamily="18" charset="0"/>
                    </a:rPr>
                    <a:t>较少</a:t>
                  </a:r>
                  <a:endParaRPr lang="zh-CN" altLang="en-US" sz="2000" dirty="0">
                    <a:latin typeface="Times New Roman" panose="02020603050405020304" pitchFamily="18" charset="0"/>
                  </a:endParaRPr>
                </a:p>
                <a:p>
                  <a:pPr marL="0" lvl="0" indent="0" algn="just">
                    <a:spcBef>
                      <a:spcPct val="0"/>
                    </a:spcBef>
                    <a:buClrTx/>
                    <a:buSzTx/>
                    <a:buFontTx/>
                    <a:buNone/>
                  </a:pPr>
                  <a:r>
                    <a:rPr lang="zh-CN" altLang="en-US" sz="2000" dirty="0">
                      <a:latin typeface="Times New Roman" panose="02020603050405020304" pitchFamily="18" charset="0"/>
                    </a:rPr>
                    <a:t>不要</a:t>
                  </a:r>
                  <a:endParaRPr lang="zh-CN" altLang="en-US" sz="2000" dirty="0">
                    <a:latin typeface="Times New Roman" panose="02020603050405020304" pitchFamily="18" charset="0"/>
                  </a:endParaRPr>
                </a:p>
                <a:p>
                  <a:pPr marL="0" lvl="0" indent="0" algn="just">
                    <a:spcBef>
                      <a:spcPct val="0"/>
                    </a:spcBef>
                    <a:buClrTx/>
                    <a:buSzTx/>
                    <a:buFontTx/>
                    <a:buNone/>
                  </a:pPr>
                  <a:endParaRPr lang="en-US" altLang="zh-CN" sz="2000" dirty="0">
                    <a:latin typeface="Times New Roman" panose="02020603050405020304" pitchFamily="18" charset="0"/>
                  </a:endParaRPr>
                </a:p>
              </p:txBody>
            </p:sp>
            <p:sp>
              <p:nvSpPr>
                <p:cNvPr id="25678" name="Rectangle 26"/>
                <p:cNvSpPr/>
                <p:nvPr/>
              </p:nvSpPr>
              <p:spPr>
                <a:xfrm>
                  <a:off x="1533" y="1038"/>
                  <a:ext cx="850" cy="15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4" name="Group 27"/>
              <p:cNvGrpSpPr/>
              <p:nvPr/>
            </p:nvGrpSpPr>
            <p:grpSpPr>
              <a:xfrm>
                <a:off x="2383" y="1038"/>
                <a:ext cx="850" cy="1538"/>
                <a:chOff x="2383" y="1038"/>
                <a:chExt cx="850" cy="1538"/>
              </a:xfrm>
            </p:grpSpPr>
            <p:sp>
              <p:nvSpPr>
                <p:cNvPr id="25675" name="Rectangle 28"/>
                <p:cNvSpPr/>
                <p:nvPr/>
              </p:nvSpPr>
              <p:spPr>
                <a:xfrm>
                  <a:off x="2426" y="1038"/>
                  <a:ext cx="764" cy="1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600" dirty="0">
                      <a:latin typeface="Times New Roman" panose="02020603050405020304" pitchFamily="18" charset="0"/>
                    </a:rPr>
                    <a:t> </a:t>
                  </a:r>
                  <a:r>
                    <a:rPr lang="zh-CN" altLang="en-US" sz="2000" dirty="0">
                      <a:latin typeface="Times New Roman" panose="02020603050405020304" pitchFamily="18" charset="0"/>
                    </a:rPr>
                    <a:t>有</a:t>
                  </a:r>
                  <a:endParaRPr lang="zh-CN" altLang="en-US" sz="2000" dirty="0">
                    <a:latin typeface="Times New Roman" panose="02020603050405020304" pitchFamily="18" charset="0"/>
                  </a:endParaRPr>
                </a:p>
                <a:p>
                  <a:pPr marL="0" lvl="0" indent="0" algn="just">
                    <a:spcBef>
                      <a:spcPct val="0"/>
                    </a:spcBef>
                    <a:buClrTx/>
                    <a:buSzTx/>
                    <a:buFontTx/>
                    <a:buNone/>
                  </a:pPr>
                  <a:r>
                    <a:rPr lang="zh-CN" altLang="en-US" sz="2000" dirty="0">
                      <a:latin typeface="Times New Roman" panose="02020603050405020304" pitchFamily="18" charset="0"/>
                    </a:rPr>
                    <a:t>较多</a:t>
                  </a:r>
                  <a:endParaRPr lang="zh-CN" altLang="en-US" sz="2000" dirty="0">
                    <a:latin typeface="Times New Roman" panose="02020603050405020304" pitchFamily="18" charset="0"/>
                  </a:endParaRPr>
                </a:p>
                <a:p>
                  <a:pPr marL="0" lvl="0" indent="0" algn="just">
                    <a:spcBef>
                      <a:spcPct val="0"/>
                    </a:spcBef>
                    <a:buClrTx/>
                    <a:buSzTx/>
                    <a:buFontTx/>
                    <a:buNone/>
                  </a:pPr>
                  <a:r>
                    <a:rPr lang="zh-CN" altLang="en-US" sz="2000" dirty="0">
                      <a:latin typeface="Times New Roman" panose="02020603050405020304" pitchFamily="18" charset="0"/>
                    </a:rPr>
                    <a:t>要</a:t>
                  </a:r>
                  <a:endParaRPr lang="zh-CN" altLang="en-US" sz="2000" dirty="0">
                    <a:latin typeface="Times New Roman" panose="02020603050405020304" pitchFamily="18" charset="0"/>
                  </a:endParaRPr>
                </a:p>
              </p:txBody>
            </p:sp>
            <p:sp>
              <p:nvSpPr>
                <p:cNvPr id="25676" name="Rectangle 29"/>
                <p:cNvSpPr/>
                <p:nvPr/>
              </p:nvSpPr>
              <p:spPr>
                <a:xfrm>
                  <a:off x="2383" y="1038"/>
                  <a:ext cx="850" cy="15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5" name="Group 30"/>
              <p:cNvGrpSpPr/>
              <p:nvPr/>
            </p:nvGrpSpPr>
            <p:grpSpPr>
              <a:xfrm>
                <a:off x="0" y="2576"/>
                <a:ext cx="294" cy="788"/>
                <a:chOff x="0" y="2576"/>
                <a:chExt cx="294" cy="788"/>
              </a:xfrm>
            </p:grpSpPr>
            <p:sp>
              <p:nvSpPr>
                <p:cNvPr id="25673" name="Rectangle 31"/>
                <p:cNvSpPr/>
                <p:nvPr/>
              </p:nvSpPr>
              <p:spPr>
                <a:xfrm>
                  <a:off x="43" y="2576"/>
                  <a:ext cx="208"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2</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74" name="Rectangle 32"/>
                <p:cNvSpPr/>
                <p:nvPr/>
              </p:nvSpPr>
              <p:spPr>
                <a:xfrm>
                  <a:off x="0" y="2576"/>
                  <a:ext cx="294"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6" name="Group 33"/>
              <p:cNvGrpSpPr/>
              <p:nvPr/>
            </p:nvGrpSpPr>
            <p:grpSpPr>
              <a:xfrm>
                <a:off x="294" y="2576"/>
                <a:ext cx="1239" cy="788"/>
                <a:chOff x="294" y="2576"/>
                <a:chExt cx="1239" cy="788"/>
              </a:xfrm>
            </p:grpSpPr>
            <p:sp>
              <p:nvSpPr>
                <p:cNvPr id="25671" name="Rectangle 34"/>
                <p:cNvSpPr/>
                <p:nvPr/>
              </p:nvSpPr>
              <p:spPr>
                <a:xfrm>
                  <a:off x="337" y="2576"/>
                  <a:ext cx="1153"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对机器独立的程度</a:t>
                  </a:r>
                  <a:endParaRPr lang="zh-CN" altLang="en-US" sz="2000" dirty="0">
                    <a:latin typeface="Times New Roman" panose="02020603050405020304" pitchFamily="18" charset="0"/>
                  </a:endParaRPr>
                </a:p>
              </p:txBody>
            </p:sp>
            <p:sp>
              <p:nvSpPr>
                <p:cNvPr id="25672" name="Rectangle 35"/>
                <p:cNvSpPr/>
                <p:nvPr/>
              </p:nvSpPr>
              <p:spPr>
                <a:xfrm>
                  <a:off x="294" y="2576"/>
                  <a:ext cx="1239"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7" name="Group 36"/>
              <p:cNvGrpSpPr/>
              <p:nvPr/>
            </p:nvGrpSpPr>
            <p:grpSpPr>
              <a:xfrm>
                <a:off x="1533" y="2576"/>
                <a:ext cx="850" cy="788"/>
                <a:chOff x="1533" y="2576"/>
                <a:chExt cx="850" cy="788"/>
              </a:xfrm>
            </p:grpSpPr>
            <p:sp>
              <p:nvSpPr>
                <p:cNvPr id="25669" name="Rectangle 37"/>
                <p:cNvSpPr/>
                <p:nvPr/>
              </p:nvSpPr>
              <p:spPr>
                <a:xfrm>
                  <a:off x="1576" y="2576"/>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独立</a:t>
                  </a:r>
                  <a:endParaRPr lang="zh-CN" altLang="en-US" sz="2000" dirty="0">
                    <a:latin typeface="Times New Roman" panose="02020603050405020304" pitchFamily="18" charset="0"/>
                  </a:endParaRPr>
                </a:p>
              </p:txBody>
            </p:sp>
            <p:sp>
              <p:nvSpPr>
                <p:cNvPr id="25670" name="Rectangle 38"/>
                <p:cNvSpPr/>
                <p:nvPr/>
              </p:nvSpPr>
              <p:spPr>
                <a:xfrm>
                  <a:off x="1533" y="2576"/>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8" name="Group 39"/>
              <p:cNvGrpSpPr/>
              <p:nvPr/>
            </p:nvGrpSpPr>
            <p:grpSpPr>
              <a:xfrm>
                <a:off x="2383" y="2576"/>
                <a:ext cx="850" cy="788"/>
                <a:chOff x="2383" y="2576"/>
                <a:chExt cx="850" cy="788"/>
              </a:xfrm>
            </p:grpSpPr>
            <p:sp>
              <p:nvSpPr>
                <p:cNvPr id="25667" name="Rectangle 40"/>
                <p:cNvSpPr/>
                <p:nvPr/>
              </p:nvSpPr>
              <p:spPr>
                <a:xfrm>
                  <a:off x="2426" y="2576"/>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不独立</a:t>
                  </a:r>
                  <a:endParaRPr lang="zh-CN" altLang="en-US" sz="2000" dirty="0">
                    <a:latin typeface="Times New Roman" panose="02020603050405020304" pitchFamily="18" charset="0"/>
                  </a:endParaRPr>
                </a:p>
              </p:txBody>
            </p:sp>
            <p:sp>
              <p:nvSpPr>
                <p:cNvPr id="25668" name="Rectangle 41"/>
                <p:cNvSpPr/>
                <p:nvPr/>
              </p:nvSpPr>
              <p:spPr>
                <a:xfrm>
                  <a:off x="2383" y="2576"/>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19" name="Group 42"/>
              <p:cNvGrpSpPr/>
              <p:nvPr/>
            </p:nvGrpSpPr>
            <p:grpSpPr>
              <a:xfrm>
                <a:off x="0" y="3364"/>
                <a:ext cx="294" cy="788"/>
                <a:chOff x="0" y="3364"/>
                <a:chExt cx="294" cy="788"/>
              </a:xfrm>
            </p:grpSpPr>
            <p:sp>
              <p:nvSpPr>
                <p:cNvPr id="25665" name="Rectangle 43"/>
                <p:cNvSpPr/>
                <p:nvPr/>
              </p:nvSpPr>
              <p:spPr>
                <a:xfrm>
                  <a:off x="43" y="3364"/>
                  <a:ext cx="208"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3</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66" name="Rectangle 44"/>
                <p:cNvSpPr/>
                <p:nvPr/>
              </p:nvSpPr>
              <p:spPr>
                <a:xfrm>
                  <a:off x="0" y="3364"/>
                  <a:ext cx="294"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0" name="Group 45"/>
              <p:cNvGrpSpPr/>
              <p:nvPr/>
            </p:nvGrpSpPr>
            <p:grpSpPr>
              <a:xfrm>
                <a:off x="294" y="3364"/>
                <a:ext cx="1239" cy="788"/>
                <a:chOff x="294" y="3364"/>
                <a:chExt cx="1239" cy="788"/>
              </a:xfrm>
            </p:grpSpPr>
            <p:sp>
              <p:nvSpPr>
                <p:cNvPr id="25663" name="Rectangle 46"/>
                <p:cNvSpPr/>
                <p:nvPr/>
              </p:nvSpPr>
              <p:spPr>
                <a:xfrm>
                  <a:off x="337" y="3364"/>
                  <a:ext cx="1153"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dirty="0">
                      <a:latin typeface="Times New Roman" panose="02020603050405020304" pitchFamily="18" charset="0"/>
                    </a:rPr>
                    <a:t>编制程序的难易程度</a:t>
                  </a:r>
                  <a:endParaRPr lang="zh-CN" altLang="en-US" sz="1800" dirty="0">
                    <a:latin typeface="Times New Roman" panose="02020603050405020304" pitchFamily="18" charset="0"/>
                  </a:endParaRPr>
                </a:p>
              </p:txBody>
            </p:sp>
            <p:sp>
              <p:nvSpPr>
                <p:cNvPr id="25664" name="Rectangle 47"/>
                <p:cNvSpPr/>
                <p:nvPr/>
              </p:nvSpPr>
              <p:spPr>
                <a:xfrm>
                  <a:off x="294" y="3364"/>
                  <a:ext cx="1239"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1" name="Group 48"/>
              <p:cNvGrpSpPr/>
              <p:nvPr/>
            </p:nvGrpSpPr>
            <p:grpSpPr>
              <a:xfrm>
                <a:off x="1533" y="3364"/>
                <a:ext cx="850" cy="788"/>
                <a:chOff x="1533" y="3364"/>
                <a:chExt cx="850" cy="788"/>
              </a:xfrm>
            </p:grpSpPr>
            <p:sp>
              <p:nvSpPr>
                <p:cNvPr id="25661" name="Rectangle 49"/>
                <p:cNvSpPr/>
                <p:nvPr/>
              </p:nvSpPr>
              <p:spPr>
                <a:xfrm>
                  <a:off x="1576" y="3364"/>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易</a:t>
                  </a:r>
                  <a:endParaRPr lang="zh-CN" altLang="en-US" sz="2000" dirty="0">
                    <a:latin typeface="Times New Roman" panose="02020603050405020304" pitchFamily="18" charset="0"/>
                  </a:endParaRPr>
                </a:p>
              </p:txBody>
            </p:sp>
            <p:sp>
              <p:nvSpPr>
                <p:cNvPr id="25662" name="Rectangle 50"/>
                <p:cNvSpPr/>
                <p:nvPr/>
              </p:nvSpPr>
              <p:spPr>
                <a:xfrm>
                  <a:off x="1533" y="3364"/>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2" name="Group 51"/>
              <p:cNvGrpSpPr/>
              <p:nvPr/>
            </p:nvGrpSpPr>
            <p:grpSpPr>
              <a:xfrm>
                <a:off x="2383" y="3364"/>
                <a:ext cx="850" cy="788"/>
                <a:chOff x="2383" y="3364"/>
                <a:chExt cx="850" cy="788"/>
              </a:xfrm>
            </p:grpSpPr>
            <p:sp>
              <p:nvSpPr>
                <p:cNvPr id="25659" name="Rectangle 52"/>
                <p:cNvSpPr/>
                <p:nvPr/>
              </p:nvSpPr>
              <p:spPr>
                <a:xfrm>
                  <a:off x="2426" y="3364"/>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难</a:t>
                  </a:r>
                  <a:endParaRPr lang="zh-CN" altLang="en-US" sz="2000" dirty="0">
                    <a:latin typeface="Times New Roman" panose="02020603050405020304" pitchFamily="18" charset="0"/>
                  </a:endParaRPr>
                </a:p>
              </p:txBody>
            </p:sp>
            <p:sp>
              <p:nvSpPr>
                <p:cNvPr id="25660" name="Rectangle 53"/>
                <p:cNvSpPr/>
                <p:nvPr/>
              </p:nvSpPr>
              <p:spPr>
                <a:xfrm>
                  <a:off x="2383" y="3364"/>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3" name="Group 54"/>
              <p:cNvGrpSpPr/>
              <p:nvPr/>
            </p:nvGrpSpPr>
            <p:grpSpPr>
              <a:xfrm>
                <a:off x="0" y="4152"/>
                <a:ext cx="294" cy="788"/>
                <a:chOff x="0" y="4152"/>
                <a:chExt cx="294" cy="788"/>
              </a:xfrm>
            </p:grpSpPr>
            <p:sp>
              <p:nvSpPr>
                <p:cNvPr id="25657" name="Rectangle 55"/>
                <p:cNvSpPr/>
                <p:nvPr/>
              </p:nvSpPr>
              <p:spPr>
                <a:xfrm>
                  <a:off x="43" y="4152"/>
                  <a:ext cx="208"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4</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58" name="Rectangle 56"/>
                <p:cNvSpPr/>
                <p:nvPr/>
              </p:nvSpPr>
              <p:spPr>
                <a:xfrm>
                  <a:off x="0" y="4152"/>
                  <a:ext cx="294"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4" name="Group 57"/>
              <p:cNvGrpSpPr/>
              <p:nvPr/>
            </p:nvGrpSpPr>
            <p:grpSpPr>
              <a:xfrm>
                <a:off x="294" y="4152"/>
                <a:ext cx="1239" cy="788"/>
                <a:chOff x="294" y="4152"/>
                <a:chExt cx="1239" cy="788"/>
              </a:xfrm>
            </p:grpSpPr>
            <p:sp>
              <p:nvSpPr>
                <p:cNvPr id="25655" name="Rectangle 58"/>
                <p:cNvSpPr/>
                <p:nvPr/>
              </p:nvSpPr>
              <p:spPr>
                <a:xfrm>
                  <a:off x="337" y="4152"/>
                  <a:ext cx="1153"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编制程序所需时间</a:t>
                  </a:r>
                  <a:endParaRPr lang="zh-CN" altLang="en-US" sz="2000" dirty="0">
                    <a:latin typeface="Times New Roman" panose="02020603050405020304" pitchFamily="18" charset="0"/>
                  </a:endParaRPr>
                </a:p>
              </p:txBody>
            </p:sp>
            <p:sp>
              <p:nvSpPr>
                <p:cNvPr id="25656" name="Rectangle 59"/>
                <p:cNvSpPr/>
                <p:nvPr/>
              </p:nvSpPr>
              <p:spPr>
                <a:xfrm>
                  <a:off x="294" y="4152"/>
                  <a:ext cx="1239"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5" name="Group 60"/>
              <p:cNvGrpSpPr/>
              <p:nvPr/>
            </p:nvGrpSpPr>
            <p:grpSpPr>
              <a:xfrm>
                <a:off x="1533" y="4152"/>
                <a:ext cx="850" cy="788"/>
                <a:chOff x="1533" y="4152"/>
                <a:chExt cx="850" cy="788"/>
              </a:xfrm>
            </p:grpSpPr>
            <p:sp>
              <p:nvSpPr>
                <p:cNvPr id="25653" name="Rectangle 61"/>
                <p:cNvSpPr/>
                <p:nvPr/>
              </p:nvSpPr>
              <p:spPr>
                <a:xfrm>
                  <a:off x="1576" y="4152"/>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短</a:t>
                  </a:r>
                  <a:endParaRPr lang="zh-CN" altLang="en-US" sz="2000" dirty="0">
                    <a:latin typeface="Times New Roman" panose="02020603050405020304" pitchFamily="18" charset="0"/>
                  </a:endParaRPr>
                </a:p>
              </p:txBody>
            </p:sp>
            <p:sp>
              <p:nvSpPr>
                <p:cNvPr id="25654" name="Rectangle 62"/>
                <p:cNvSpPr/>
                <p:nvPr/>
              </p:nvSpPr>
              <p:spPr>
                <a:xfrm>
                  <a:off x="1533" y="4152"/>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6" name="Group 63"/>
              <p:cNvGrpSpPr/>
              <p:nvPr/>
            </p:nvGrpSpPr>
            <p:grpSpPr>
              <a:xfrm>
                <a:off x="2383" y="4152"/>
                <a:ext cx="850" cy="788"/>
                <a:chOff x="2383" y="4152"/>
                <a:chExt cx="850" cy="788"/>
              </a:xfrm>
            </p:grpSpPr>
            <p:sp>
              <p:nvSpPr>
                <p:cNvPr id="25651" name="Rectangle 64"/>
                <p:cNvSpPr/>
                <p:nvPr/>
              </p:nvSpPr>
              <p:spPr>
                <a:xfrm>
                  <a:off x="2426" y="4152"/>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较长</a:t>
                  </a:r>
                  <a:endParaRPr lang="zh-CN" altLang="en-US" sz="2000" dirty="0">
                    <a:latin typeface="Times New Roman" panose="02020603050405020304" pitchFamily="18" charset="0"/>
                  </a:endParaRPr>
                </a:p>
              </p:txBody>
            </p:sp>
            <p:sp>
              <p:nvSpPr>
                <p:cNvPr id="25652" name="Rectangle 65"/>
                <p:cNvSpPr/>
                <p:nvPr/>
              </p:nvSpPr>
              <p:spPr>
                <a:xfrm>
                  <a:off x="2383" y="4152"/>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7" name="Group 66"/>
              <p:cNvGrpSpPr/>
              <p:nvPr/>
            </p:nvGrpSpPr>
            <p:grpSpPr>
              <a:xfrm>
                <a:off x="0" y="4940"/>
                <a:ext cx="294" cy="788"/>
                <a:chOff x="0" y="4940"/>
                <a:chExt cx="294" cy="788"/>
              </a:xfrm>
            </p:grpSpPr>
            <p:sp>
              <p:nvSpPr>
                <p:cNvPr id="25649" name="Rectangle 67"/>
                <p:cNvSpPr/>
                <p:nvPr/>
              </p:nvSpPr>
              <p:spPr>
                <a:xfrm>
                  <a:off x="43" y="4940"/>
                  <a:ext cx="208"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5</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50" name="Rectangle 68"/>
                <p:cNvSpPr/>
                <p:nvPr/>
              </p:nvSpPr>
              <p:spPr>
                <a:xfrm>
                  <a:off x="0" y="4940"/>
                  <a:ext cx="294"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8" name="Group 69"/>
              <p:cNvGrpSpPr/>
              <p:nvPr/>
            </p:nvGrpSpPr>
            <p:grpSpPr>
              <a:xfrm>
                <a:off x="294" y="4940"/>
                <a:ext cx="1239" cy="788"/>
                <a:chOff x="294" y="4940"/>
                <a:chExt cx="1239" cy="788"/>
              </a:xfrm>
            </p:grpSpPr>
            <p:sp>
              <p:nvSpPr>
                <p:cNvPr id="25647" name="Rectangle 70"/>
                <p:cNvSpPr/>
                <p:nvPr/>
              </p:nvSpPr>
              <p:spPr>
                <a:xfrm>
                  <a:off x="337" y="4940"/>
                  <a:ext cx="1153"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程序执行时间</a:t>
                  </a:r>
                  <a:endParaRPr lang="zh-CN" altLang="en-US" sz="2000" dirty="0">
                    <a:latin typeface="Times New Roman" panose="02020603050405020304" pitchFamily="18" charset="0"/>
                  </a:endParaRPr>
                </a:p>
              </p:txBody>
            </p:sp>
            <p:sp>
              <p:nvSpPr>
                <p:cNvPr id="25648" name="Rectangle 71"/>
                <p:cNvSpPr/>
                <p:nvPr/>
              </p:nvSpPr>
              <p:spPr>
                <a:xfrm>
                  <a:off x="294" y="4940"/>
                  <a:ext cx="1239"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29" name="Group 72"/>
              <p:cNvGrpSpPr/>
              <p:nvPr/>
            </p:nvGrpSpPr>
            <p:grpSpPr>
              <a:xfrm>
                <a:off x="1533" y="4940"/>
                <a:ext cx="850" cy="788"/>
                <a:chOff x="1533" y="4940"/>
                <a:chExt cx="850" cy="788"/>
              </a:xfrm>
            </p:grpSpPr>
            <p:sp>
              <p:nvSpPr>
                <p:cNvPr id="25645" name="Rectangle 73"/>
                <p:cNvSpPr/>
                <p:nvPr/>
              </p:nvSpPr>
              <p:spPr>
                <a:xfrm>
                  <a:off x="1576" y="4940"/>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较长</a:t>
                  </a:r>
                  <a:endParaRPr lang="zh-CN" altLang="en-US" sz="2000" dirty="0">
                    <a:latin typeface="Times New Roman" panose="02020603050405020304" pitchFamily="18" charset="0"/>
                  </a:endParaRPr>
                </a:p>
              </p:txBody>
            </p:sp>
            <p:sp>
              <p:nvSpPr>
                <p:cNvPr id="25646" name="Rectangle 74"/>
                <p:cNvSpPr/>
                <p:nvPr/>
              </p:nvSpPr>
              <p:spPr>
                <a:xfrm>
                  <a:off x="1533" y="4940"/>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30" name="Group 75"/>
              <p:cNvGrpSpPr/>
              <p:nvPr/>
            </p:nvGrpSpPr>
            <p:grpSpPr>
              <a:xfrm>
                <a:off x="2383" y="4940"/>
                <a:ext cx="850" cy="788"/>
                <a:chOff x="2383" y="4940"/>
                <a:chExt cx="850" cy="788"/>
              </a:xfrm>
            </p:grpSpPr>
            <p:sp>
              <p:nvSpPr>
                <p:cNvPr id="25643" name="Rectangle 76"/>
                <p:cNvSpPr/>
                <p:nvPr/>
              </p:nvSpPr>
              <p:spPr>
                <a:xfrm>
                  <a:off x="2426" y="4940"/>
                  <a:ext cx="764" cy="78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短</a:t>
                  </a:r>
                  <a:endParaRPr lang="zh-CN" altLang="en-US" sz="2000" dirty="0">
                    <a:latin typeface="Times New Roman" panose="02020603050405020304" pitchFamily="18" charset="0"/>
                  </a:endParaRPr>
                </a:p>
              </p:txBody>
            </p:sp>
            <p:sp>
              <p:nvSpPr>
                <p:cNvPr id="25644" name="Rectangle 77"/>
                <p:cNvSpPr/>
                <p:nvPr/>
              </p:nvSpPr>
              <p:spPr>
                <a:xfrm>
                  <a:off x="2383" y="4940"/>
                  <a:ext cx="850" cy="7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31" name="Group 78"/>
              <p:cNvGrpSpPr/>
              <p:nvPr/>
            </p:nvGrpSpPr>
            <p:grpSpPr>
              <a:xfrm>
                <a:off x="0" y="5728"/>
                <a:ext cx="294" cy="1038"/>
                <a:chOff x="0" y="5728"/>
                <a:chExt cx="294" cy="1038"/>
              </a:xfrm>
            </p:grpSpPr>
            <p:sp>
              <p:nvSpPr>
                <p:cNvPr id="25641" name="Rectangle 79"/>
                <p:cNvSpPr/>
                <p:nvPr/>
              </p:nvSpPr>
              <p:spPr>
                <a:xfrm>
                  <a:off x="43" y="5728"/>
                  <a:ext cx="208"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6</a:t>
                  </a:r>
                  <a:endParaRPr lang="en-US" altLang="zh-CN" sz="1000" dirty="0">
                    <a:latin typeface="Times New Roman" panose="02020603050405020304" pitchFamily="18" charset="0"/>
                  </a:endParaRPr>
                </a:p>
                <a:p>
                  <a:pPr marL="0" lvl="0" indent="0" algn="just">
                    <a:spcBef>
                      <a:spcPct val="0"/>
                    </a:spcBef>
                    <a:buClrTx/>
                    <a:buSzTx/>
                    <a:buFontTx/>
                    <a:buNone/>
                  </a:pPr>
                  <a:endParaRPr lang="en-US" altLang="zh-CN" sz="2400" dirty="0">
                    <a:latin typeface="Times New Roman" panose="02020603050405020304" pitchFamily="18" charset="0"/>
                  </a:endParaRPr>
                </a:p>
              </p:txBody>
            </p:sp>
            <p:sp>
              <p:nvSpPr>
                <p:cNvPr id="25642" name="Rectangle 80"/>
                <p:cNvSpPr/>
                <p:nvPr/>
              </p:nvSpPr>
              <p:spPr>
                <a:xfrm>
                  <a:off x="0" y="5728"/>
                  <a:ext cx="294"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32" name="Group 81"/>
              <p:cNvGrpSpPr/>
              <p:nvPr/>
            </p:nvGrpSpPr>
            <p:grpSpPr>
              <a:xfrm>
                <a:off x="294" y="5728"/>
                <a:ext cx="1239" cy="1038"/>
                <a:chOff x="294" y="5728"/>
                <a:chExt cx="1239" cy="1038"/>
              </a:xfrm>
            </p:grpSpPr>
            <p:sp>
              <p:nvSpPr>
                <p:cNvPr id="25639" name="Rectangle 82"/>
                <p:cNvSpPr/>
                <p:nvPr/>
              </p:nvSpPr>
              <p:spPr>
                <a:xfrm>
                  <a:off x="337" y="5728"/>
                  <a:ext cx="1153"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编译过程中对计算机资源的要求</a:t>
                  </a:r>
                  <a:endParaRPr lang="zh-CN" altLang="en-US" sz="2000" dirty="0">
                    <a:latin typeface="Times New Roman" panose="02020603050405020304" pitchFamily="18" charset="0"/>
                  </a:endParaRPr>
                </a:p>
              </p:txBody>
            </p:sp>
            <p:sp>
              <p:nvSpPr>
                <p:cNvPr id="25640" name="Rectangle 83"/>
                <p:cNvSpPr/>
                <p:nvPr/>
              </p:nvSpPr>
              <p:spPr>
                <a:xfrm>
                  <a:off x="294" y="5728"/>
                  <a:ext cx="1239"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33" name="Group 84"/>
              <p:cNvGrpSpPr/>
              <p:nvPr/>
            </p:nvGrpSpPr>
            <p:grpSpPr>
              <a:xfrm>
                <a:off x="1533" y="5728"/>
                <a:ext cx="850" cy="1038"/>
                <a:chOff x="1533" y="5728"/>
                <a:chExt cx="850" cy="1038"/>
              </a:xfrm>
            </p:grpSpPr>
            <p:sp>
              <p:nvSpPr>
                <p:cNvPr id="25637" name="Rectangle 85"/>
                <p:cNvSpPr/>
                <p:nvPr/>
              </p:nvSpPr>
              <p:spPr>
                <a:xfrm>
                  <a:off x="1576" y="5728"/>
                  <a:ext cx="764"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多</a:t>
                  </a:r>
                  <a:endParaRPr lang="zh-CN" altLang="en-US" sz="2000" dirty="0">
                    <a:latin typeface="Times New Roman" panose="02020603050405020304" pitchFamily="18" charset="0"/>
                  </a:endParaRPr>
                </a:p>
              </p:txBody>
            </p:sp>
            <p:sp>
              <p:nvSpPr>
                <p:cNvPr id="25638" name="Rectangle 86"/>
                <p:cNvSpPr/>
                <p:nvPr/>
              </p:nvSpPr>
              <p:spPr>
                <a:xfrm>
                  <a:off x="1533" y="5728"/>
                  <a:ext cx="850"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25634" name="Group 87"/>
              <p:cNvGrpSpPr/>
              <p:nvPr/>
            </p:nvGrpSpPr>
            <p:grpSpPr>
              <a:xfrm>
                <a:off x="2383" y="5728"/>
                <a:ext cx="850" cy="1038"/>
                <a:chOff x="2383" y="5728"/>
                <a:chExt cx="850" cy="1038"/>
              </a:xfrm>
            </p:grpSpPr>
            <p:sp>
              <p:nvSpPr>
                <p:cNvPr id="25635" name="Rectangle 88"/>
                <p:cNvSpPr/>
                <p:nvPr/>
              </p:nvSpPr>
              <p:spPr>
                <a:xfrm>
                  <a:off x="2426" y="5728"/>
                  <a:ext cx="764" cy="10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000" dirty="0">
                      <a:latin typeface="Times New Roman" panose="02020603050405020304" pitchFamily="18" charset="0"/>
                    </a:rPr>
                    <a:t>少</a:t>
                  </a:r>
                  <a:endParaRPr lang="zh-CN" altLang="en-US" sz="2000" dirty="0">
                    <a:latin typeface="Times New Roman" panose="02020603050405020304" pitchFamily="18" charset="0"/>
                  </a:endParaRPr>
                </a:p>
              </p:txBody>
            </p:sp>
            <p:sp>
              <p:nvSpPr>
                <p:cNvPr id="25636" name="Rectangle 89"/>
                <p:cNvSpPr/>
                <p:nvPr/>
              </p:nvSpPr>
              <p:spPr>
                <a:xfrm>
                  <a:off x="2383" y="5728"/>
                  <a:ext cx="850" cy="103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sp>
          <p:nvSpPr>
            <p:cNvPr id="25606" name="Rectangle 90"/>
            <p:cNvSpPr/>
            <p:nvPr/>
          </p:nvSpPr>
          <p:spPr>
            <a:xfrm>
              <a:off x="-3" y="-3"/>
              <a:ext cx="3239" cy="6772"/>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468313" y="215900"/>
            <a:ext cx="7532687" cy="692150"/>
          </a:xfrm>
          <a:ln/>
        </p:spPr>
        <p:txBody>
          <a:bodyPr vert="horz" wrap="square" lIns="91440" tIns="45720" rIns="91440" bIns="45720" anchor="ctr" anchorCtr="0"/>
          <a:p>
            <a:r>
              <a:rPr lang="en-US" altLang="zh-CN" sz="3200" dirty="0">
                <a:cs typeface="Times New Roman" panose="02020603050405020304" pitchFamily="18" charset="0"/>
              </a:rPr>
              <a:t>4.2 </a:t>
            </a:r>
            <a:r>
              <a:rPr lang="zh-CN" altLang="en-US" sz="3200" dirty="0"/>
              <a:t>指令格式</a:t>
            </a:r>
            <a:endParaRPr lang="zh-CN" altLang="en-US" sz="3200" dirty="0"/>
          </a:p>
        </p:txBody>
      </p:sp>
      <p:sp>
        <p:nvSpPr>
          <p:cNvPr id="26627" name="Rectangle 3"/>
          <p:cNvSpPr>
            <a:spLocks noGrp="1"/>
          </p:cNvSpPr>
          <p:nvPr>
            <p:ph idx="1"/>
          </p:nvPr>
        </p:nvSpPr>
        <p:spPr>
          <a:xfrm>
            <a:off x="468313" y="746125"/>
            <a:ext cx="8229600" cy="4411663"/>
          </a:xfrm>
          <a:ln/>
        </p:spPr>
        <p:txBody>
          <a:bodyPr vert="horz" wrap="square" lIns="91440" tIns="45720" rIns="91440" bIns="45720" anchor="t" anchorCtr="0"/>
          <a:p>
            <a:pPr>
              <a:lnSpc>
                <a:spcPct val="90000"/>
              </a:lnSpc>
            </a:pPr>
            <a:r>
              <a:rPr lang="zh-CN" altLang="en-US" sz="2800" dirty="0"/>
              <a:t>影响计算机指令格式的因素</a:t>
            </a:r>
            <a:endParaRPr lang="zh-CN" altLang="en-US" sz="2800" dirty="0"/>
          </a:p>
          <a:p>
            <a:pPr lvl="1">
              <a:lnSpc>
                <a:spcPct val="90000"/>
              </a:lnSpc>
            </a:pPr>
            <a:r>
              <a:rPr lang="zh-CN" altLang="en-US" dirty="0"/>
              <a:t>机器的字长</a:t>
            </a:r>
            <a:endParaRPr lang="zh-CN" altLang="en-US" dirty="0"/>
          </a:p>
          <a:p>
            <a:pPr lvl="1">
              <a:lnSpc>
                <a:spcPct val="90000"/>
              </a:lnSpc>
            </a:pPr>
            <a:r>
              <a:rPr lang="zh-CN" altLang="en-US" dirty="0"/>
              <a:t>存储器的容量</a:t>
            </a:r>
            <a:endParaRPr lang="zh-CN" altLang="en-US" dirty="0"/>
          </a:p>
          <a:p>
            <a:pPr lvl="1">
              <a:lnSpc>
                <a:spcPct val="90000"/>
              </a:lnSpc>
            </a:pPr>
            <a:r>
              <a:rPr lang="zh-CN" altLang="en-US" dirty="0"/>
              <a:t>指令的功能</a:t>
            </a:r>
            <a:endParaRPr lang="zh-CN" altLang="en-US" dirty="0"/>
          </a:p>
          <a:p>
            <a:pPr>
              <a:lnSpc>
                <a:spcPct val="90000"/>
              </a:lnSpc>
            </a:pPr>
            <a:r>
              <a:rPr lang="zh-CN" altLang="en-US" sz="2800" dirty="0"/>
              <a:t>指令能反映以下信息（</a:t>
            </a:r>
            <a:r>
              <a:rPr lang="en-US" altLang="zh-CN" sz="2800" dirty="0"/>
              <a:t>4</a:t>
            </a:r>
            <a:r>
              <a:rPr lang="zh-CN" altLang="en-US" sz="2800" dirty="0"/>
              <a:t>个方面）</a:t>
            </a:r>
            <a:endParaRPr lang="zh-CN" altLang="en-US" sz="2800" dirty="0"/>
          </a:p>
          <a:p>
            <a:pPr lvl="1">
              <a:lnSpc>
                <a:spcPct val="90000"/>
              </a:lnSpc>
            </a:pPr>
            <a:r>
              <a:rPr lang="zh-CN" altLang="en-US" dirty="0">
                <a:solidFill>
                  <a:srgbClr val="3333FF"/>
                </a:solidFill>
              </a:rPr>
              <a:t>做什么操作（指令功能）</a:t>
            </a:r>
            <a:endParaRPr lang="zh-CN" altLang="en-US" dirty="0">
              <a:solidFill>
                <a:srgbClr val="3333FF"/>
              </a:solidFill>
            </a:endParaRPr>
          </a:p>
          <a:p>
            <a:pPr lvl="1">
              <a:lnSpc>
                <a:spcPct val="90000"/>
              </a:lnSpc>
            </a:pPr>
            <a:r>
              <a:rPr lang="zh-CN" altLang="en-US" dirty="0">
                <a:solidFill>
                  <a:srgbClr val="FF3300"/>
                </a:solidFill>
              </a:rPr>
              <a:t>如果需要操作数，从哪里取，怎么取（寻址方式）</a:t>
            </a:r>
            <a:endParaRPr lang="zh-CN" altLang="en-US" dirty="0">
              <a:solidFill>
                <a:srgbClr val="FF3300"/>
              </a:solidFill>
            </a:endParaRPr>
          </a:p>
          <a:p>
            <a:pPr lvl="1">
              <a:lnSpc>
                <a:spcPct val="90000"/>
              </a:lnSpc>
            </a:pPr>
            <a:r>
              <a:rPr lang="zh-CN" altLang="en-US" dirty="0">
                <a:solidFill>
                  <a:srgbClr val="009900"/>
                </a:solidFill>
              </a:rPr>
              <a:t>结果送哪里（写回结果）</a:t>
            </a:r>
            <a:endParaRPr lang="zh-CN" altLang="en-US" dirty="0">
              <a:solidFill>
                <a:srgbClr val="009900"/>
              </a:solidFill>
            </a:endParaRPr>
          </a:p>
          <a:p>
            <a:pPr lvl="1">
              <a:lnSpc>
                <a:spcPct val="90000"/>
              </a:lnSpc>
            </a:pPr>
            <a:r>
              <a:rPr lang="zh-CN" altLang="en-US" dirty="0"/>
              <a:t>下一条指令从哪里取（取指方式）</a:t>
            </a:r>
            <a:endParaRPr lang="zh-CN" altLang="en-US" dirty="0"/>
          </a:p>
          <a:p>
            <a:pPr>
              <a:lnSpc>
                <a:spcPct val="90000"/>
              </a:lnSpc>
            </a:pPr>
            <a:r>
              <a:rPr lang="zh-CN" altLang="en-US" sz="2600" dirty="0"/>
              <a:t>所以指令格式包括两个方面：</a:t>
            </a:r>
            <a:endParaRPr lang="zh-CN" altLang="en-US" sz="2600" dirty="0"/>
          </a:p>
          <a:p>
            <a:pPr>
              <a:lnSpc>
                <a:spcPct val="90000"/>
              </a:lnSpc>
            </a:pPr>
            <a:endParaRPr lang="en-US" altLang="zh-CN" dirty="0"/>
          </a:p>
        </p:txBody>
      </p:sp>
      <p:sp>
        <p:nvSpPr>
          <p:cNvPr id="26628" name="Rectangle 5"/>
          <p:cNvSpPr/>
          <p:nvPr/>
        </p:nvSpPr>
        <p:spPr>
          <a:xfrm>
            <a:off x="1403350" y="5732463"/>
            <a:ext cx="70104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6629" name="Line 6"/>
          <p:cNvSpPr/>
          <p:nvPr/>
        </p:nvSpPr>
        <p:spPr>
          <a:xfrm>
            <a:off x="4679950" y="5732463"/>
            <a:ext cx="0" cy="685800"/>
          </a:xfrm>
          <a:prstGeom prst="line">
            <a:avLst/>
          </a:prstGeom>
          <a:ln w="9525" cap="flat" cmpd="sng">
            <a:solidFill>
              <a:schemeClr val="tx1"/>
            </a:solidFill>
            <a:prstDash val="solid"/>
            <a:headEnd type="none" w="med" len="med"/>
            <a:tailEnd type="none" w="med" len="med"/>
          </a:ln>
        </p:spPr>
      </p:sp>
      <p:sp>
        <p:nvSpPr>
          <p:cNvPr id="26630" name="Rectangle 7"/>
          <p:cNvSpPr/>
          <p:nvPr/>
        </p:nvSpPr>
        <p:spPr>
          <a:xfrm>
            <a:off x="2089150" y="5808663"/>
            <a:ext cx="226695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3333FF"/>
                </a:solidFill>
                <a:latin typeface="Times New Roman" panose="02020603050405020304" pitchFamily="18" charset="0"/>
              </a:rPr>
              <a:t>操作码字段</a:t>
            </a:r>
            <a:r>
              <a:rPr lang="en-US" altLang="zh-CN" sz="2800" b="1" dirty="0">
                <a:solidFill>
                  <a:srgbClr val="3333FF"/>
                </a:solidFill>
                <a:latin typeface="Times New Roman" panose="02020603050405020304" pitchFamily="18" charset="0"/>
              </a:rPr>
              <a:t>OP</a:t>
            </a:r>
            <a:endParaRPr lang="en-US" altLang="zh-CN" sz="2800" b="1" dirty="0">
              <a:solidFill>
                <a:srgbClr val="3333FF"/>
              </a:solidFill>
              <a:latin typeface="Times New Roman" panose="02020603050405020304" pitchFamily="18" charset="0"/>
            </a:endParaRPr>
          </a:p>
        </p:txBody>
      </p:sp>
      <p:sp>
        <p:nvSpPr>
          <p:cNvPr id="26631" name="Rectangle 8"/>
          <p:cNvSpPr/>
          <p:nvPr/>
        </p:nvSpPr>
        <p:spPr>
          <a:xfrm>
            <a:off x="5518150" y="5808663"/>
            <a:ext cx="2149475"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3333FF"/>
                </a:solidFill>
                <a:latin typeface="Times New Roman" panose="02020603050405020304" pitchFamily="18" charset="0"/>
              </a:rPr>
              <a:t>地址码字段</a:t>
            </a:r>
            <a:r>
              <a:rPr lang="en-US" altLang="zh-CN" sz="2800" b="1" dirty="0">
                <a:solidFill>
                  <a:srgbClr val="3333FF"/>
                </a:solidFill>
                <a:latin typeface="Times New Roman" panose="02020603050405020304" pitchFamily="18" charset="0"/>
              </a:rPr>
              <a:t>A</a:t>
            </a:r>
            <a:endParaRPr lang="en-US" altLang="zh-CN" sz="2800" b="1" dirty="0">
              <a:solidFill>
                <a:srgbClr val="3333FF"/>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468313" y="328613"/>
            <a:ext cx="7532687" cy="723900"/>
          </a:xfrm>
          <a:ln/>
        </p:spPr>
        <p:txBody>
          <a:bodyPr vert="horz" wrap="square" lIns="91440" tIns="45720" rIns="91440" bIns="45720" anchor="ctr" anchorCtr="0"/>
          <a:p>
            <a:r>
              <a:rPr lang="en-US" altLang="zh-CN" sz="3500" dirty="0">
                <a:cs typeface="Times New Roman" panose="02020603050405020304" pitchFamily="18" charset="0"/>
              </a:rPr>
              <a:t>4.2 </a:t>
            </a:r>
            <a:r>
              <a:rPr lang="zh-CN" altLang="en-US" sz="3500" dirty="0"/>
              <a:t>指令格式</a:t>
            </a:r>
            <a:endParaRPr lang="zh-CN" altLang="en-US" sz="3500" dirty="0"/>
          </a:p>
        </p:txBody>
      </p:sp>
      <p:sp>
        <p:nvSpPr>
          <p:cNvPr id="28675" name="Rectangle 3"/>
          <p:cNvSpPr>
            <a:spLocks noGrp="1"/>
          </p:cNvSpPr>
          <p:nvPr>
            <p:ph idx="1"/>
          </p:nvPr>
        </p:nvSpPr>
        <p:spPr>
          <a:xfrm>
            <a:off x="395288" y="981075"/>
            <a:ext cx="8208962" cy="5400675"/>
          </a:xfrm>
          <a:ln/>
        </p:spPr>
        <p:txBody>
          <a:bodyPr vert="horz" wrap="square" lIns="91440" tIns="45720" rIns="91440" bIns="45720" anchor="t" anchorCtr="0"/>
          <a:p>
            <a:pPr>
              <a:lnSpc>
                <a:spcPct val="90000"/>
              </a:lnSpc>
              <a:buNone/>
            </a:pPr>
            <a:r>
              <a:rPr lang="en-US" altLang="zh-CN" sz="2400" b="1" dirty="0">
                <a:cs typeface="Times New Roman" panose="02020603050405020304" pitchFamily="18" charset="0"/>
              </a:rPr>
              <a:t> </a:t>
            </a:r>
            <a:r>
              <a:rPr lang="zh-CN" altLang="en-US" sz="2400" b="1" dirty="0">
                <a:cs typeface="Times New Roman" panose="02020603050405020304" pitchFamily="18" charset="0"/>
              </a:rPr>
              <a:t>一</a:t>
            </a:r>
            <a:r>
              <a:rPr lang="zh-CN" altLang="en-US" sz="2400" b="1" dirty="0"/>
              <a:t>、操作码</a:t>
            </a:r>
            <a:endParaRPr lang="zh-CN" altLang="en-US" sz="2400" b="1" dirty="0"/>
          </a:p>
          <a:p>
            <a:pPr>
              <a:lnSpc>
                <a:spcPct val="90000"/>
              </a:lnSpc>
            </a:pPr>
            <a:r>
              <a:rPr lang="zh-CN" altLang="en-US" sz="2400" dirty="0">
                <a:solidFill>
                  <a:srgbClr val="3333FF"/>
                </a:solidFill>
              </a:rPr>
              <a:t>设计计算机时，对指令系统的每一条指令都要规定一个操作码。指令的</a:t>
            </a:r>
            <a:r>
              <a:rPr lang="zh-CN" altLang="en-US" sz="2400" dirty="0">
                <a:solidFill>
                  <a:srgbClr val="FF3300"/>
                </a:solidFill>
              </a:rPr>
              <a:t>操作码</a:t>
            </a:r>
            <a:r>
              <a:rPr lang="en-US" altLang="zh-CN" sz="2400" dirty="0">
                <a:solidFill>
                  <a:srgbClr val="FF3300"/>
                </a:solidFill>
              </a:rPr>
              <a:t>OP</a:t>
            </a:r>
            <a:r>
              <a:rPr lang="zh-CN" altLang="en-US" sz="2400" dirty="0">
                <a:solidFill>
                  <a:srgbClr val="3333FF"/>
                </a:solidFill>
              </a:rPr>
              <a:t>表示该指令应进行什么性质的操作，如进行加法、减法、乘法、除法、取数、存数等等。</a:t>
            </a:r>
            <a:endParaRPr lang="zh-CN" altLang="en-US" sz="2400" dirty="0">
              <a:solidFill>
                <a:srgbClr val="3333FF"/>
              </a:solidFill>
            </a:endParaRPr>
          </a:p>
          <a:p>
            <a:pPr>
              <a:lnSpc>
                <a:spcPct val="90000"/>
              </a:lnSpc>
            </a:pPr>
            <a:r>
              <a:rPr lang="zh-CN" altLang="en-US" sz="2400" dirty="0">
                <a:solidFill>
                  <a:srgbClr val="3333FF"/>
                </a:solidFill>
              </a:rPr>
              <a:t>不同的指令用操作码字段的不同编码来表示，</a:t>
            </a:r>
            <a:r>
              <a:rPr lang="zh-CN" altLang="en-US" sz="2400" dirty="0">
                <a:solidFill>
                  <a:srgbClr val="FF3300"/>
                </a:solidFill>
              </a:rPr>
              <a:t>每一种编码代表一种指令。</a:t>
            </a:r>
            <a:endParaRPr lang="zh-CN" altLang="en-US" sz="2400" dirty="0">
              <a:solidFill>
                <a:srgbClr val="FF3300"/>
              </a:solidFill>
            </a:endParaRPr>
          </a:p>
          <a:p>
            <a:pPr>
              <a:lnSpc>
                <a:spcPct val="90000"/>
              </a:lnSpc>
            </a:pPr>
            <a:r>
              <a:rPr lang="zh-CN" altLang="en-US" sz="2400" dirty="0"/>
              <a:t>组成操作码字段的位数一般取决于计算机指令系统的规模。较大的指令系统就需要更多的位数来表示每条特定的指令。</a:t>
            </a:r>
            <a:endParaRPr lang="zh-CN" altLang="en-US" sz="2400" dirty="0"/>
          </a:p>
          <a:p>
            <a:pPr lvl="1">
              <a:lnSpc>
                <a:spcPct val="90000"/>
              </a:lnSpc>
            </a:pPr>
            <a:r>
              <a:rPr lang="zh-CN" altLang="en-US" sz="2400" dirty="0"/>
              <a:t>等长指令结构（指令规整，译码简单</a:t>
            </a:r>
            <a:r>
              <a:rPr lang="en-US" altLang="zh-CN" sz="2400" dirty="0"/>
              <a:t>)。</a:t>
            </a:r>
            <a:endParaRPr lang="zh-CN" altLang="en-US" sz="2400" dirty="0"/>
          </a:p>
          <a:p>
            <a:pPr lvl="1">
              <a:lnSpc>
                <a:spcPct val="90000"/>
              </a:lnSpc>
            </a:pPr>
            <a:r>
              <a:rPr lang="zh-CN" altLang="en-US" sz="2400" dirty="0"/>
              <a:t>变长指令结构  </a:t>
            </a:r>
            <a:r>
              <a:rPr lang="en-US" altLang="zh-CN" sz="2400" dirty="0"/>
              <a:t>(</a:t>
            </a:r>
            <a:r>
              <a:rPr lang="zh-CN" altLang="en-US" sz="2400" dirty="0"/>
              <a:t>指令结构灵活</a:t>
            </a:r>
            <a:r>
              <a:rPr lang="en-US" altLang="zh-CN" sz="2400" dirty="0"/>
              <a:t>,</a:t>
            </a:r>
            <a:r>
              <a:rPr lang="zh-CN" altLang="en-US" sz="2400" dirty="0"/>
              <a:t>控制相对复杂</a:t>
            </a:r>
            <a:r>
              <a:rPr lang="en-US" altLang="zh-CN" sz="2400" dirty="0"/>
              <a:t>)</a:t>
            </a:r>
            <a:r>
              <a:rPr lang="zh-CN" altLang="en-US" sz="2400" dirty="0"/>
              <a:t>。</a:t>
            </a:r>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457200" y="44450"/>
            <a:ext cx="8229600" cy="1371600"/>
          </a:xfrm>
          <a:ln/>
        </p:spPr>
        <p:txBody>
          <a:bodyPr vert="horz" wrap="square" lIns="91440" tIns="45720" rIns="91440" bIns="45720" anchor="ctr" anchorCtr="0"/>
          <a:p>
            <a:r>
              <a:rPr lang="zh-CN" altLang="en-US" sz="3500" dirty="0"/>
              <a:t>二、地址码</a:t>
            </a:r>
            <a:endParaRPr lang="zh-CN" altLang="en-US" sz="3500" dirty="0"/>
          </a:p>
        </p:txBody>
      </p:sp>
      <p:sp>
        <p:nvSpPr>
          <p:cNvPr id="29699" name="Rectangle 3"/>
          <p:cNvSpPr>
            <a:spLocks noGrp="1"/>
          </p:cNvSpPr>
          <p:nvPr>
            <p:ph idx="1"/>
          </p:nvPr>
        </p:nvSpPr>
        <p:spPr>
          <a:xfrm>
            <a:off x="457200" y="1125538"/>
            <a:ext cx="8362950" cy="3455987"/>
          </a:xfrm>
          <a:ln/>
        </p:spPr>
        <p:txBody>
          <a:bodyPr vert="horz" wrap="square" lIns="91440" tIns="45720" rIns="91440" bIns="45720" anchor="t" anchorCtr="0"/>
          <a:p>
            <a:pPr algn="just">
              <a:lnSpc>
                <a:spcPct val="80000"/>
              </a:lnSpc>
            </a:pPr>
            <a:r>
              <a:rPr lang="zh-CN" altLang="en-US" sz="2400" dirty="0"/>
              <a:t>根据一条指令中有几个操作数地址，可将该指令称为几操作数指令或几地址指令。</a:t>
            </a:r>
            <a:endParaRPr lang="zh-CN" altLang="en-US" sz="2400" dirty="0"/>
          </a:p>
          <a:p>
            <a:pPr lvl="1" algn="just">
              <a:lnSpc>
                <a:spcPct val="80000"/>
              </a:lnSpc>
              <a:buFont typeface="Wingdings" panose="05000000000000000000" pitchFamily="2" charset="2"/>
              <a:buChar char="Ø"/>
            </a:pPr>
            <a:r>
              <a:rPr lang="zh-CN" altLang="en-US" sz="2400" dirty="0">
                <a:latin typeface="宋体" panose="02010600030101010101" pitchFamily="2" charset="-122"/>
              </a:rPr>
              <a:t>三地址指令</a:t>
            </a:r>
            <a:endParaRPr lang="zh-CN" altLang="en-US" sz="2400" dirty="0">
              <a:latin typeface="宋体" panose="02010600030101010101" pitchFamily="2" charset="-122"/>
            </a:endParaRPr>
          </a:p>
          <a:p>
            <a:pPr lvl="1" algn="just">
              <a:lnSpc>
                <a:spcPct val="80000"/>
              </a:lnSpc>
              <a:buFont typeface="Wingdings" panose="05000000000000000000" pitchFamily="2" charset="2"/>
              <a:buChar char="Ø"/>
            </a:pPr>
            <a:r>
              <a:rPr lang="zh-CN" altLang="en-US" sz="2400" dirty="0">
                <a:latin typeface="宋体" panose="02010600030101010101" pitchFamily="2" charset="-122"/>
              </a:rPr>
              <a:t>二地址指令</a:t>
            </a:r>
            <a:endParaRPr lang="zh-CN" altLang="en-US" sz="2400" dirty="0">
              <a:latin typeface="宋体" panose="02010600030101010101" pitchFamily="2" charset="-122"/>
            </a:endParaRPr>
          </a:p>
          <a:p>
            <a:pPr lvl="1" algn="just">
              <a:lnSpc>
                <a:spcPct val="80000"/>
              </a:lnSpc>
              <a:buFont typeface="Wingdings" panose="05000000000000000000" pitchFamily="2" charset="2"/>
              <a:buChar char="Ø"/>
            </a:pPr>
            <a:r>
              <a:rPr lang="zh-CN" altLang="en-US" sz="2400" dirty="0">
                <a:latin typeface="宋体" panose="02010600030101010101" pitchFamily="2" charset="-122"/>
              </a:rPr>
              <a:t>单地址指令</a:t>
            </a:r>
            <a:endParaRPr lang="zh-CN" altLang="en-US" sz="2400" dirty="0">
              <a:latin typeface="宋体" panose="02010600030101010101" pitchFamily="2" charset="-122"/>
            </a:endParaRPr>
          </a:p>
          <a:p>
            <a:pPr lvl="1" algn="just">
              <a:lnSpc>
                <a:spcPct val="80000"/>
              </a:lnSpc>
              <a:buFont typeface="Wingdings" panose="05000000000000000000" pitchFamily="2" charset="2"/>
              <a:buChar char="Ø"/>
            </a:pPr>
            <a:r>
              <a:rPr lang="zh-CN" altLang="en-US" sz="2400" dirty="0">
                <a:latin typeface="宋体" panose="02010600030101010101" pitchFamily="2" charset="-122"/>
              </a:rPr>
              <a:t>零地址指令</a:t>
            </a:r>
            <a:endParaRPr lang="zh-CN" altLang="en-US" sz="2400" dirty="0">
              <a:latin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ln/>
        </p:spPr>
        <p:txBody>
          <a:bodyPr vert="horz" wrap="square" lIns="91440" tIns="45720" rIns="91440" bIns="45720" anchor="ctr" anchorCtr="0"/>
          <a:p>
            <a:pPr eaLnBrk="1" hangingPunct="1"/>
            <a:r>
              <a:rPr lang="zh-CN" altLang="en-US" dirty="0"/>
              <a:t>定长操作码指令格式</a:t>
            </a:r>
            <a:endParaRPr lang="zh-CN" altLang="en-US" dirty="0"/>
          </a:p>
        </p:txBody>
      </p:sp>
      <p:sp>
        <p:nvSpPr>
          <p:cNvPr id="30723" name="页脚占位符 3"/>
          <p:cNvSpPr txBox="1">
            <a:spLocks noGrp="1"/>
          </p:cNvSpPr>
          <p:nvPr>
            <p:ph type="ftr" sz="quarter"/>
          </p:nvPr>
        </p:nvSpPr>
        <p:spPr>
          <a:xfrm>
            <a:off x="0" y="0"/>
            <a:ext cx="0" cy="0"/>
          </a:xfrm>
          <a:prstGeom prst="rect">
            <a:avLst/>
          </a:prstGeom>
          <a:noFill/>
          <a:ln w="0">
            <a:noFill/>
          </a:ln>
        </p:spPr>
        <p:txBody>
          <a:bodyPr/>
          <a:p>
            <a:pPr marL="0" indent="0" defTabSz="914400">
              <a:spcBef>
                <a:spcPct val="50000"/>
              </a:spcBef>
              <a:buClrTx/>
              <a:buSzTx/>
              <a:buFont typeface="Arial" panose="020B0604020202020204" pitchFamily="34" charset="0"/>
              <a:buNone/>
              <a:tabLst>
                <a:tab pos="0" algn="l"/>
              </a:tabLst>
            </a:pPr>
            <a:endParaRPr lang="zh-CN" altLang="en-US" sz="1600" b="1" dirty="0">
              <a:solidFill>
                <a:srgbClr val="0099FF"/>
              </a:solidFill>
              <a:latin typeface="楷体_GB2312"/>
              <a:ea typeface="楷体_GB2312"/>
            </a:endParaRPr>
          </a:p>
        </p:txBody>
      </p:sp>
      <p:graphicFrame>
        <p:nvGraphicFramePr>
          <p:cNvPr id="77848" name="Group 24"/>
          <p:cNvGraphicFramePr>
            <a:graphicFrameLocks noGrp="1"/>
          </p:cNvGraphicFramePr>
          <p:nvPr/>
        </p:nvGraphicFramePr>
        <p:xfrm>
          <a:off x="952500" y="2114550"/>
          <a:ext cx="7053263" cy="520700"/>
        </p:xfrm>
        <a:graphic>
          <a:graphicData uri="http://schemas.openxmlformats.org/drawingml/2006/table">
            <a:tbl>
              <a:tblPr/>
              <a:tblGrid>
                <a:gridCol w="1781175"/>
                <a:gridCol w="1317625"/>
                <a:gridCol w="1319213"/>
                <a:gridCol w="1317625"/>
                <a:gridCol w="1317625"/>
              </a:tblGrid>
              <a:tr h="520700">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楷体_GB2312"/>
                          <a:cs typeface="楷体_GB2312"/>
                        </a:rPr>
                        <a:t>三地址指令</a:t>
                      </a:r>
                      <a:endParaRPr kumimoji="1" lang="zh-CN" altLang="en-US" sz="2400" b="1" i="0" u="none" strike="noStrike" cap="none" normalizeH="0" baseline="0" dirty="0" smtClean="0">
                        <a:ln>
                          <a:noFill/>
                        </a:ln>
                        <a:solidFill>
                          <a:schemeClr val="tx1"/>
                        </a:solidFill>
                        <a:effectLst/>
                        <a:latin typeface="Times New Roman" panose="02020603050405020304" pitchFamily="18" charset="0"/>
                        <a:ea typeface="楷体_GB2312"/>
                        <a:cs typeface="楷体_GB231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操作码</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A1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A2</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smtClean="0">
                          <a:ln>
                            <a:noFill/>
                          </a:ln>
                          <a:solidFill>
                            <a:schemeClr val="tx1"/>
                          </a:solidFill>
                          <a:effectLst/>
                          <a:latin typeface="Times New Roman" panose="02020603050405020304" pitchFamily="18" charset="0"/>
                          <a:ea typeface="楷体_GB2312"/>
                          <a:cs typeface="楷体_GB2312"/>
                        </a:rPr>
                        <a:t>A3</a:t>
                      </a:r>
                      <a:endParaRPr kumimoji="1" lang="en-US" altLang="zh-CN" sz="2400" b="1" i="0" u="none" strike="noStrike" cap="none" normalizeH="0" baseline="0" dirty="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7868" name="Group 44"/>
          <p:cNvGraphicFramePr>
            <a:graphicFrameLocks noGrp="1"/>
          </p:cNvGraphicFramePr>
          <p:nvPr/>
        </p:nvGraphicFramePr>
        <p:xfrm>
          <a:off x="952500" y="2913063"/>
          <a:ext cx="7053263" cy="520700"/>
        </p:xfrm>
        <a:graphic>
          <a:graphicData uri="http://schemas.openxmlformats.org/drawingml/2006/table">
            <a:tbl>
              <a:tblPr/>
              <a:tblGrid>
                <a:gridCol w="1781175"/>
                <a:gridCol w="1317625"/>
                <a:gridCol w="1992313"/>
                <a:gridCol w="1962150"/>
              </a:tblGrid>
              <a:tr h="520700">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二地址指令</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操作码</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A1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A2</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7884" name="Group 60"/>
          <p:cNvGraphicFramePr>
            <a:graphicFrameLocks noGrp="1"/>
          </p:cNvGraphicFramePr>
          <p:nvPr/>
        </p:nvGraphicFramePr>
        <p:xfrm>
          <a:off x="952500" y="3711575"/>
          <a:ext cx="7053263" cy="520700"/>
        </p:xfrm>
        <a:graphic>
          <a:graphicData uri="http://schemas.openxmlformats.org/drawingml/2006/table">
            <a:tbl>
              <a:tblPr/>
              <a:tblGrid>
                <a:gridCol w="1781175"/>
                <a:gridCol w="1317625"/>
                <a:gridCol w="3954463"/>
              </a:tblGrid>
              <a:tr h="520700">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一地址指令</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操作码</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A</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7899" name="Group 75"/>
          <p:cNvGraphicFramePr>
            <a:graphicFrameLocks noGrp="1"/>
          </p:cNvGraphicFramePr>
          <p:nvPr/>
        </p:nvGraphicFramePr>
        <p:xfrm>
          <a:off x="952500" y="4510088"/>
          <a:ext cx="7053263" cy="520700"/>
        </p:xfrm>
        <a:graphic>
          <a:graphicData uri="http://schemas.openxmlformats.org/drawingml/2006/table">
            <a:tbl>
              <a:tblPr/>
              <a:tblGrid>
                <a:gridCol w="1781175"/>
                <a:gridCol w="1317625"/>
                <a:gridCol w="3954463"/>
              </a:tblGrid>
              <a:tr h="520700">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零地址指令</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rPr>
                        <a:t>操作码</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sz="2800" b="1">
                          <a:solidFill>
                            <a:schemeClr val="tx1"/>
                          </a:solidFill>
                          <a:latin typeface="Times New Roman" panose="02020603050405020304" pitchFamily="18" charset="0"/>
                          <a:ea typeface="楷体_GB2312"/>
                          <a:cs typeface="楷体_GB2312"/>
                        </a:defRPr>
                      </a:lvl1pPr>
                      <a:lvl2pPr marL="742950" indent="-285750">
                        <a:spcBef>
                          <a:spcPct val="20000"/>
                        </a:spcBef>
                        <a:buClr>
                          <a:srgbClr val="339933"/>
                        </a:buClr>
                        <a:buSzPct val="80000"/>
                        <a:buFont typeface="Wingdings" panose="05000000000000000000" pitchFamily="2" charset="2"/>
                        <a:tabLst>
                          <a:tab pos="1524000" algn="l"/>
                        </a:tabLst>
                        <a:defRPr sz="2400" b="1">
                          <a:solidFill>
                            <a:schemeClr val="tx1"/>
                          </a:solidFill>
                          <a:latin typeface="Times New Roman" panose="02020603050405020304" pitchFamily="18" charset="0"/>
                          <a:ea typeface="华文新魏" panose="02010800040101010101" pitchFamily="2" charset="-122"/>
                          <a:cs typeface="楷体_GB2312"/>
                        </a:defRPr>
                      </a:lvl2pPr>
                      <a:lvl3pPr marL="1143000" indent="-228600">
                        <a:spcBef>
                          <a:spcPct val="20000"/>
                        </a:spcBef>
                        <a:buClr>
                          <a:srgbClr val="800080"/>
                        </a:buClr>
                        <a:buSzPct val="90000"/>
                        <a:buFont typeface="Wingdings" panose="05000000000000000000" pitchFamily="2" charset="2"/>
                        <a:tabLst>
                          <a:tab pos="1524000" algn="l"/>
                        </a:tabLst>
                        <a:defRPr sz="2000" b="1">
                          <a:solidFill>
                            <a:schemeClr val="tx1"/>
                          </a:solidFill>
                          <a:latin typeface="Times New Roman" panose="02020603050405020304" pitchFamily="18" charset="0"/>
                          <a:ea typeface="华文中宋" panose="02010600040101010101" pitchFamily="2" charset="-122"/>
                          <a:cs typeface="楷体_GB2312"/>
                        </a:defRPr>
                      </a:lvl3pPr>
                      <a:lvl4pPr marL="1600200" indent="-228600">
                        <a:spcBef>
                          <a:spcPct val="20000"/>
                        </a:spcBef>
                        <a:buSzPct val="90000"/>
                        <a:buFont typeface="Wingdings 2" pitchFamily="18" charset="2"/>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4pPr>
                      <a:lvl5pPr marL="2057400" indent="-228600">
                        <a:spcBef>
                          <a:spcPct val="20000"/>
                        </a:spcBef>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5pPr>
                      <a:lvl6pPr marL="25146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6pPr>
                      <a:lvl7pPr marL="29718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7pPr>
                      <a:lvl8pPr marL="34290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8pPr>
                      <a:lvl9pPr marL="3886200" indent="-228600" eaLnBrk="0" fontAlgn="base" hangingPunct="0">
                        <a:spcBef>
                          <a:spcPct val="20000"/>
                        </a:spcBef>
                        <a:spcAft>
                          <a:spcPct val="0"/>
                        </a:spcAft>
                        <a:tabLst>
                          <a:tab pos="1524000" algn="l"/>
                        </a:tabLst>
                        <a:defRPr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en-US" altLang="zh-CN" sz="2400" b="1" i="0" u="none" strike="noStrike" cap="none" normalizeH="0" baseline="0" smtClean="0">
                        <a:ln>
                          <a:noFill/>
                        </a:ln>
                        <a:solidFill>
                          <a:schemeClr val="tx1"/>
                        </a:solidFill>
                        <a:effectLst/>
                        <a:latin typeface="Times New Roman" panose="02020603050405020304" pitchFamily="18" charset="0"/>
                        <a:ea typeface="楷体_GB2312"/>
                        <a:cs typeface="楷体_GB231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xfrm>
            <a:off x="446088" y="-77787"/>
            <a:ext cx="8229600" cy="1371600"/>
          </a:xfrm>
          <a:ln/>
        </p:spPr>
        <p:txBody>
          <a:bodyPr vert="horz" wrap="square" lIns="91440" tIns="45720" rIns="91440" bIns="45720" anchor="ctr" anchorCtr="0"/>
          <a:p>
            <a:r>
              <a:rPr lang="zh-CN" altLang="en-US" dirty="0"/>
              <a:t>扩展操作码指令格式</a:t>
            </a:r>
            <a:endParaRPr lang="zh-CN" altLang="en-US" dirty="0"/>
          </a:p>
        </p:txBody>
      </p:sp>
      <p:sp>
        <p:nvSpPr>
          <p:cNvPr id="31747" name="页脚占位符 3"/>
          <p:cNvSpPr txBox="1">
            <a:spLocks noGrp="1"/>
          </p:cNvSpPr>
          <p:nvPr>
            <p:ph type="ftr" sz="quarter"/>
          </p:nvPr>
        </p:nvSpPr>
        <p:spPr>
          <a:xfrm>
            <a:off x="0" y="0"/>
            <a:ext cx="0" cy="0"/>
          </a:xfrm>
          <a:prstGeom prst="rect">
            <a:avLst/>
          </a:prstGeom>
          <a:noFill/>
          <a:ln w="0">
            <a:noFill/>
          </a:ln>
        </p:spPr>
        <p:txBody>
          <a:bodyPr/>
          <a:p>
            <a:pPr marL="0" indent="0" defTabSz="914400">
              <a:spcBef>
                <a:spcPct val="50000"/>
              </a:spcBef>
              <a:buClrTx/>
              <a:buSzTx/>
              <a:buFont typeface="Arial" panose="020B0604020202020204" pitchFamily="34" charset="0"/>
              <a:buNone/>
              <a:tabLst>
                <a:tab pos="0" algn="l"/>
              </a:tabLst>
            </a:pPr>
            <a:endParaRPr lang="zh-CN" altLang="en-US" sz="1600" b="1" dirty="0">
              <a:solidFill>
                <a:srgbClr val="0099FF"/>
              </a:solidFill>
              <a:latin typeface="楷体_GB2312"/>
              <a:ea typeface="楷体_GB2312"/>
            </a:endParaRPr>
          </a:p>
        </p:txBody>
      </p:sp>
      <p:grpSp>
        <p:nvGrpSpPr>
          <p:cNvPr id="3" name="Group 4"/>
          <p:cNvGrpSpPr/>
          <p:nvPr/>
        </p:nvGrpSpPr>
        <p:grpSpPr>
          <a:xfrm>
            <a:off x="2752725" y="1011238"/>
            <a:ext cx="3114675" cy="457200"/>
            <a:chOff x="1686" y="1056"/>
            <a:chExt cx="1920" cy="288"/>
          </a:xfrm>
        </p:grpSpPr>
        <p:sp>
          <p:nvSpPr>
            <p:cNvPr id="31829" name="Text Box 5"/>
            <p:cNvSpPr txBox="1"/>
            <p:nvPr/>
          </p:nvSpPr>
          <p:spPr>
            <a:xfrm>
              <a:off x="1736" y="1056"/>
              <a:ext cx="37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400" dirty="0">
                  <a:latin typeface="Times New Roman" panose="02020603050405020304" pitchFamily="18" charset="0"/>
                  <a:ea typeface="黑体" panose="02010609060101010101" pitchFamily="49" charset="-122"/>
                </a:rPr>
                <a:t>OP</a:t>
              </a:r>
              <a:endParaRPr lang="en-US" altLang="zh-CN" sz="2400" dirty="0">
                <a:latin typeface="Times New Roman" panose="02020603050405020304" pitchFamily="18" charset="0"/>
                <a:ea typeface="黑体" panose="02010609060101010101" pitchFamily="49" charset="-122"/>
              </a:endParaRPr>
            </a:p>
          </p:txBody>
        </p:sp>
        <p:sp>
          <p:nvSpPr>
            <p:cNvPr id="31830" name="Text Box 6"/>
            <p:cNvSpPr txBox="1"/>
            <p:nvPr/>
          </p:nvSpPr>
          <p:spPr>
            <a:xfrm>
              <a:off x="2214" y="1056"/>
              <a:ext cx="36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400" dirty="0">
                  <a:latin typeface="Times New Roman" panose="02020603050405020304" pitchFamily="18" charset="0"/>
                  <a:ea typeface="黑体" panose="02010609060101010101" pitchFamily="49" charset="-122"/>
                </a:rPr>
                <a:t> A</a:t>
              </a:r>
              <a:r>
                <a:rPr lang="en-US" altLang="zh-CN" sz="2400" baseline="-25000" dirty="0">
                  <a:latin typeface="Times New Roman" panose="02020603050405020304" pitchFamily="18" charset="0"/>
                  <a:ea typeface="黑体" panose="02010609060101010101" pitchFamily="49" charset="-122"/>
                </a:rPr>
                <a:t>1</a:t>
              </a:r>
              <a:endParaRPr lang="en-US" altLang="zh-CN" sz="2400" baseline="-25000" dirty="0">
                <a:latin typeface="Times New Roman" panose="02020603050405020304" pitchFamily="18" charset="0"/>
                <a:ea typeface="黑体" panose="02010609060101010101" pitchFamily="49" charset="-122"/>
              </a:endParaRPr>
            </a:p>
          </p:txBody>
        </p:sp>
        <p:sp>
          <p:nvSpPr>
            <p:cNvPr id="31831" name="Text Box 7"/>
            <p:cNvSpPr txBox="1"/>
            <p:nvPr/>
          </p:nvSpPr>
          <p:spPr>
            <a:xfrm>
              <a:off x="2711" y="1056"/>
              <a:ext cx="35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400" dirty="0">
                  <a:latin typeface="Times New Roman" panose="02020603050405020304" pitchFamily="18" charset="0"/>
                  <a:ea typeface="黑体" panose="02010609060101010101" pitchFamily="49" charset="-122"/>
                </a:rPr>
                <a:t> A</a:t>
              </a:r>
              <a:r>
                <a:rPr lang="en-US" altLang="zh-CN" sz="2400" baseline="-25000" dirty="0">
                  <a:latin typeface="Times New Roman" panose="02020603050405020304" pitchFamily="18" charset="0"/>
                  <a:ea typeface="黑体" panose="02010609060101010101" pitchFamily="49" charset="-122"/>
                </a:rPr>
                <a:t>2</a:t>
              </a:r>
              <a:endParaRPr lang="en-US" altLang="zh-CN" sz="2400" baseline="-25000" dirty="0">
                <a:latin typeface="Times New Roman" panose="02020603050405020304" pitchFamily="18" charset="0"/>
                <a:ea typeface="黑体" panose="02010609060101010101" pitchFamily="49" charset="-122"/>
              </a:endParaRPr>
            </a:p>
          </p:txBody>
        </p:sp>
        <p:sp>
          <p:nvSpPr>
            <p:cNvPr id="31832" name="Text Box 8"/>
            <p:cNvSpPr txBox="1"/>
            <p:nvPr/>
          </p:nvSpPr>
          <p:spPr>
            <a:xfrm>
              <a:off x="3174" y="1056"/>
              <a:ext cx="36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400" dirty="0">
                  <a:latin typeface="Times New Roman" panose="02020603050405020304" pitchFamily="18" charset="0"/>
                  <a:ea typeface="黑体" panose="02010609060101010101" pitchFamily="49" charset="-122"/>
                </a:rPr>
                <a:t> A</a:t>
              </a:r>
              <a:r>
                <a:rPr lang="en-US" altLang="zh-CN" sz="2400" baseline="-25000" dirty="0">
                  <a:latin typeface="Times New Roman" panose="02020603050405020304" pitchFamily="18" charset="0"/>
                  <a:ea typeface="黑体" panose="02010609060101010101" pitchFamily="49" charset="-122"/>
                </a:rPr>
                <a:t>3</a:t>
              </a:r>
              <a:endParaRPr lang="en-US" altLang="zh-CN" sz="2400" baseline="-25000" dirty="0">
                <a:latin typeface="Times New Roman" panose="02020603050405020304" pitchFamily="18" charset="0"/>
                <a:ea typeface="黑体" panose="02010609060101010101" pitchFamily="49" charset="-122"/>
              </a:endParaRPr>
            </a:p>
          </p:txBody>
        </p:sp>
        <p:sp>
          <p:nvSpPr>
            <p:cNvPr id="31833" name="Rectangle 9"/>
            <p:cNvSpPr/>
            <p:nvPr/>
          </p:nvSpPr>
          <p:spPr>
            <a:xfrm>
              <a:off x="1686" y="1056"/>
              <a:ext cx="478" cy="288"/>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834" name="Rectangle 10"/>
            <p:cNvSpPr/>
            <p:nvPr/>
          </p:nvSpPr>
          <p:spPr>
            <a:xfrm>
              <a:off x="2168" y="1056"/>
              <a:ext cx="478" cy="288"/>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835" name="Rectangle 11"/>
            <p:cNvSpPr/>
            <p:nvPr/>
          </p:nvSpPr>
          <p:spPr>
            <a:xfrm>
              <a:off x="2646" y="1056"/>
              <a:ext cx="478" cy="288"/>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836" name="Rectangle 12"/>
            <p:cNvSpPr/>
            <p:nvPr/>
          </p:nvSpPr>
          <p:spPr>
            <a:xfrm>
              <a:off x="3128" y="1056"/>
              <a:ext cx="478" cy="288"/>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grpSp>
      <p:grpSp>
        <p:nvGrpSpPr>
          <p:cNvPr id="4" name="Group 13"/>
          <p:cNvGrpSpPr/>
          <p:nvPr/>
        </p:nvGrpSpPr>
        <p:grpSpPr>
          <a:xfrm>
            <a:off x="2752725" y="1620838"/>
            <a:ext cx="3124200" cy="1143000"/>
            <a:chOff x="1686" y="1200"/>
            <a:chExt cx="1968" cy="720"/>
          </a:xfrm>
        </p:grpSpPr>
        <p:sp>
          <p:nvSpPr>
            <p:cNvPr id="31812" name="Rectangle 14"/>
            <p:cNvSpPr/>
            <p:nvPr/>
          </p:nvSpPr>
          <p:spPr>
            <a:xfrm>
              <a:off x="1686" y="1210"/>
              <a:ext cx="1968" cy="672"/>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813" name="Text Box 15"/>
            <p:cNvSpPr txBox="1"/>
            <p:nvPr/>
          </p:nvSpPr>
          <p:spPr>
            <a:xfrm>
              <a:off x="1734" y="120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0000</a:t>
              </a:r>
              <a:endParaRPr lang="zh-CN" altLang="en-US" sz="2000" dirty="0">
                <a:latin typeface="Times New Roman" panose="02020603050405020304" pitchFamily="18" charset="0"/>
                <a:ea typeface="黑体" panose="02010609060101010101" pitchFamily="49" charset="-122"/>
              </a:endParaRPr>
            </a:p>
          </p:txBody>
        </p:sp>
        <p:sp>
          <p:nvSpPr>
            <p:cNvPr id="31814" name="Text Box 16"/>
            <p:cNvSpPr txBox="1"/>
            <p:nvPr/>
          </p:nvSpPr>
          <p:spPr>
            <a:xfrm>
              <a:off x="1734" y="135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0001</a:t>
              </a:r>
              <a:endParaRPr lang="zh-CN" altLang="en-US" sz="2000" dirty="0">
                <a:latin typeface="Times New Roman" panose="02020603050405020304" pitchFamily="18" charset="0"/>
                <a:ea typeface="黑体" panose="02010609060101010101" pitchFamily="49" charset="-122"/>
              </a:endParaRPr>
            </a:p>
          </p:txBody>
        </p:sp>
        <p:sp>
          <p:nvSpPr>
            <p:cNvPr id="31815" name="Text Box 17"/>
            <p:cNvSpPr txBox="1"/>
            <p:nvPr/>
          </p:nvSpPr>
          <p:spPr>
            <a:xfrm>
              <a:off x="1734" y="167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1110</a:t>
              </a:r>
              <a:endParaRPr lang="zh-CN" altLang="en-US" sz="2000" dirty="0">
                <a:latin typeface="Times New Roman" panose="02020603050405020304" pitchFamily="18" charset="0"/>
                <a:ea typeface="黑体" panose="02010609060101010101" pitchFamily="49" charset="-122"/>
              </a:endParaRPr>
            </a:p>
          </p:txBody>
        </p:sp>
        <p:sp>
          <p:nvSpPr>
            <p:cNvPr id="31816" name="Text Box 18"/>
            <p:cNvSpPr txBox="1"/>
            <p:nvPr/>
          </p:nvSpPr>
          <p:spPr>
            <a:xfrm>
              <a:off x="1810" y="1536"/>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817" name="Text Box 19"/>
            <p:cNvSpPr txBox="1"/>
            <p:nvPr/>
          </p:nvSpPr>
          <p:spPr>
            <a:xfrm>
              <a:off x="2310" y="120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1</a:t>
              </a:r>
              <a:endParaRPr lang="en-US" altLang="zh-CN" sz="2000" baseline="-25000" dirty="0">
                <a:latin typeface="Times New Roman" panose="02020603050405020304" pitchFamily="18" charset="0"/>
                <a:ea typeface="黑体" panose="02010609060101010101" pitchFamily="49" charset="-122"/>
              </a:endParaRPr>
            </a:p>
          </p:txBody>
        </p:sp>
        <p:sp>
          <p:nvSpPr>
            <p:cNvPr id="31818" name="Text Box 20"/>
            <p:cNvSpPr txBox="1"/>
            <p:nvPr/>
          </p:nvSpPr>
          <p:spPr>
            <a:xfrm>
              <a:off x="2310" y="1344"/>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1</a:t>
              </a:r>
              <a:endParaRPr lang="en-US" altLang="zh-CN" sz="2000" baseline="-25000" dirty="0">
                <a:latin typeface="Times New Roman" panose="02020603050405020304" pitchFamily="18" charset="0"/>
                <a:ea typeface="黑体" panose="02010609060101010101" pitchFamily="49" charset="-122"/>
              </a:endParaRPr>
            </a:p>
          </p:txBody>
        </p:sp>
        <p:sp>
          <p:nvSpPr>
            <p:cNvPr id="31819" name="Text Box 21"/>
            <p:cNvSpPr txBox="1"/>
            <p:nvPr/>
          </p:nvSpPr>
          <p:spPr>
            <a:xfrm>
              <a:off x="2310" y="167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1</a:t>
              </a:r>
              <a:endParaRPr lang="en-US" altLang="zh-CN" sz="2000" baseline="-15000" dirty="0">
                <a:latin typeface="Times New Roman" panose="02020603050405020304" pitchFamily="18" charset="0"/>
                <a:ea typeface="黑体" panose="02010609060101010101" pitchFamily="49" charset="-122"/>
              </a:endParaRPr>
            </a:p>
          </p:txBody>
        </p:sp>
        <p:sp>
          <p:nvSpPr>
            <p:cNvPr id="31820" name="Text Box 22"/>
            <p:cNvSpPr txBox="1"/>
            <p:nvPr/>
          </p:nvSpPr>
          <p:spPr>
            <a:xfrm>
              <a:off x="2310" y="1536"/>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821" name="Text Box 23"/>
            <p:cNvSpPr txBox="1"/>
            <p:nvPr/>
          </p:nvSpPr>
          <p:spPr>
            <a:xfrm>
              <a:off x="2770" y="120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2</a:t>
              </a:r>
              <a:endParaRPr lang="en-US" altLang="zh-CN" sz="2000" baseline="-25000" dirty="0">
                <a:latin typeface="Times New Roman" panose="02020603050405020304" pitchFamily="18" charset="0"/>
                <a:ea typeface="黑体" panose="02010609060101010101" pitchFamily="49" charset="-122"/>
              </a:endParaRPr>
            </a:p>
          </p:txBody>
        </p:sp>
        <p:sp>
          <p:nvSpPr>
            <p:cNvPr id="31822" name="Text Box 24"/>
            <p:cNvSpPr txBox="1"/>
            <p:nvPr/>
          </p:nvSpPr>
          <p:spPr>
            <a:xfrm>
              <a:off x="2770" y="1344"/>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2</a:t>
              </a:r>
              <a:endParaRPr lang="en-US" altLang="zh-CN" sz="2000" baseline="-25000" dirty="0">
                <a:latin typeface="Times New Roman" panose="02020603050405020304" pitchFamily="18" charset="0"/>
                <a:ea typeface="黑体" panose="02010609060101010101" pitchFamily="49" charset="-122"/>
              </a:endParaRPr>
            </a:p>
          </p:txBody>
        </p:sp>
        <p:sp>
          <p:nvSpPr>
            <p:cNvPr id="31823" name="Text Box 25"/>
            <p:cNvSpPr txBox="1"/>
            <p:nvPr/>
          </p:nvSpPr>
          <p:spPr>
            <a:xfrm>
              <a:off x="2770" y="167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2</a:t>
              </a:r>
              <a:endParaRPr lang="en-US" altLang="zh-CN" sz="2000" baseline="-15000" dirty="0">
                <a:latin typeface="Times New Roman" panose="02020603050405020304" pitchFamily="18" charset="0"/>
                <a:ea typeface="黑体" panose="02010609060101010101" pitchFamily="49" charset="-122"/>
              </a:endParaRPr>
            </a:p>
          </p:txBody>
        </p:sp>
        <p:sp>
          <p:nvSpPr>
            <p:cNvPr id="31824" name="Text Box 26"/>
            <p:cNvSpPr txBox="1"/>
            <p:nvPr/>
          </p:nvSpPr>
          <p:spPr>
            <a:xfrm>
              <a:off x="2770" y="1536"/>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825" name="Text Box 27"/>
            <p:cNvSpPr txBox="1"/>
            <p:nvPr/>
          </p:nvSpPr>
          <p:spPr>
            <a:xfrm>
              <a:off x="3202" y="120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826" name="Text Box 28"/>
            <p:cNvSpPr txBox="1"/>
            <p:nvPr/>
          </p:nvSpPr>
          <p:spPr>
            <a:xfrm>
              <a:off x="3202" y="1344"/>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827" name="Text Box 29"/>
            <p:cNvSpPr txBox="1"/>
            <p:nvPr/>
          </p:nvSpPr>
          <p:spPr>
            <a:xfrm>
              <a:off x="3202" y="167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3</a:t>
              </a:r>
              <a:endParaRPr lang="en-US" altLang="zh-CN" sz="2000" baseline="-15000" dirty="0">
                <a:latin typeface="Times New Roman" panose="02020603050405020304" pitchFamily="18" charset="0"/>
                <a:ea typeface="黑体" panose="02010609060101010101" pitchFamily="49" charset="-122"/>
              </a:endParaRPr>
            </a:p>
          </p:txBody>
        </p:sp>
        <p:sp>
          <p:nvSpPr>
            <p:cNvPr id="31828" name="Text Box 30"/>
            <p:cNvSpPr txBox="1"/>
            <p:nvPr/>
          </p:nvSpPr>
          <p:spPr>
            <a:xfrm>
              <a:off x="3202" y="1536"/>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grpSp>
      <p:grpSp>
        <p:nvGrpSpPr>
          <p:cNvPr id="5" name="Group 31"/>
          <p:cNvGrpSpPr/>
          <p:nvPr/>
        </p:nvGrpSpPr>
        <p:grpSpPr>
          <a:xfrm>
            <a:off x="2752725" y="2840038"/>
            <a:ext cx="3124200" cy="1143000"/>
            <a:chOff x="1686" y="1968"/>
            <a:chExt cx="1968" cy="720"/>
          </a:xfrm>
        </p:grpSpPr>
        <p:sp>
          <p:nvSpPr>
            <p:cNvPr id="31795" name="Rectangle 32"/>
            <p:cNvSpPr/>
            <p:nvPr/>
          </p:nvSpPr>
          <p:spPr>
            <a:xfrm>
              <a:off x="1686" y="1978"/>
              <a:ext cx="1968" cy="672"/>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796" name="Text Box 33"/>
            <p:cNvSpPr txBox="1"/>
            <p:nvPr/>
          </p:nvSpPr>
          <p:spPr>
            <a:xfrm>
              <a:off x="2770" y="1968"/>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2</a:t>
              </a:r>
              <a:endParaRPr lang="en-US" altLang="zh-CN" sz="2000" baseline="-25000" dirty="0">
                <a:latin typeface="Times New Roman" panose="02020603050405020304" pitchFamily="18" charset="0"/>
                <a:ea typeface="黑体" panose="02010609060101010101" pitchFamily="49" charset="-122"/>
              </a:endParaRPr>
            </a:p>
          </p:txBody>
        </p:sp>
        <p:sp>
          <p:nvSpPr>
            <p:cNvPr id="31797" name="Text Box 34"/>
            <p:cNvSpPr txBox="1"/>
            <p:nvPr/>
          </p:nvSpPr>
          <p:spPr>
            <a:xfrm>
              <a:off x="2770" y="2112"/>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2</a:t>
              </a:r>
              <a:endParaRPr lang="en-US" altLang="zh-CN" sz="2000" baseline="-25000" dirty="0">
                <a:latin typeface="Times New Roman" panose="02020603050405020304" pitchFamily="18" charset="0"/>
                <a:ea typeface="黑体" panose="02010609060101010101" pitchFamily="49" charset="-122"/>
              </a:endParaRPr>
            </a:p>
          </p:txBody>
        </p:sp>
        <p:sp>
          <p:nvSpPr>
            <p:cNvPr id="31798" name="Text Box 35"/>
            <p:cNvSpPr txBox="1"/>
            <p:nvPr/>
          </p:nvSpPr>
          <p:spPr>
            <a:xfrm>
              <a:off x="2770" y="2438"/>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2</a:t>
              </a:r>
              <a:endParaRPr lang="en-US" altLang="zh-CN" sz="2000" baseline="-15000" dirty="0">
                <a:latin typeface="Times New Roman" panose="02020603050405020304" pitchFamily="18" charset="0"/>
                <a:ea typeface="黑体" panose="02010609060101010101" pitchFamily="49" charset="-122"/>
              </a:endParaRPr>
            </a:p>
          </p:txBody>
        </p:sp>
        <p:sp>
          <p:nvSpPr>
            <p:cNvPr id="31799" name="Text Box 36"/>
            <p:cNvSpPr txBox="1"/>
            <p:nvPr/>
          </p:nvSpPr>
          <p:spPr>
            <a:xfrm>
              <a:off x="2770" y="2304"/>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800" name="Text Box 37"/>
            <p:cNvSpPr txBox="1"/>
            <p:nvPr/>
          </p:nvSpPr>
          <p:spPr>
            <a:xfrm>
              <a:off x="3202" y="1968"/>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801" name="Text Box 38"/>
            <p:cNvSpPr txBox="1"/>
            <p:nvPr/>
          </p:nvSpPr>
          <p:spPr>
            <a:xfrm>
              <a:off x="3202" y="2112"/>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802" name="Text Box 39"/>
            <p:cNvSpPr txBox="1"/>
            <p:nvPr/>
          </p:nvSpPr>
          <p:spPr>
            <a:xfrm>
              <a:off x="3202" y="2438"/>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3</a:t>
              </a:r>
              <a:endParaRPr lang="en-US" altLang="zh-CN" sz="2000" baseline="-15000" dirty="0">
                <a:latin typeface="Times New Roman" panose="02020603050405020304" pitchFamily="18" charset="0"/>
                <a:ea typeface="黑体" panose="02010609060101010101" pitchFamily="49" charset="-122"/>
              </a:endParaRPr>
            </a:p>
          </p:txBody>
        </p:sp>
        <p:sp>
          <p:nvSpPr>
            <p:cNvPr id="31803" name="Text Box 40"/>
            <p:cNvSpPr txBox="1"/>
            <p:nvPr/>
          </p:nvSpPr>
          <p:spPr>
            <a:xfrm>
              <a:off x="3202" y="2304"/>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804" name="Text Box 41"/>
            <p:cNvSpPr txBox="1"/>
            <p:nvPr/>
          </p:nvSpPr>
          <p:spPr>
            <a:xfrm>
              <a:off x="1734" y="196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805" name="Text Box 42"/>
            <p:cNvSpPr txBox="1"/>
            <p:nvPr/>
          </p:nvSpPr>
          <p:spPr>
            <a:xfrm>
              <a:off x="1734" y="2102"/>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806" name="Text Box 43"/>
            <p:cNvSpPr txBox="1"/>
            <p:nvPr/>
          </p:nvSpPr>
          <p:spPr>
            <a:xfrm>
              <a:off x="1734" y="24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807" name="Text Box 44"/>
            <p:cNvSpPr txBox="1"/>
            <p:nvPr/>
          </p:nvSpPr>
          <p:spPr>
            <a:xfrm>
              <a:off x="1808" y="2303"/>
              <a:ext cx="310" cy="220"/>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808" name="Text Box 45"/>
            <p:cNvSpPr txBox="1"/>
            <p:nvPr/>
          </p:nvSpPr>
          <p:spPr>
            <a:xfrm>
              <a:off x="2214" y="196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0000</a:t>
              </a:r>
              <a:endParaRPr lang="zh-CN" altLang="en-US" sz="2000" dirty="0">
                <a:latin typeface="Times New Roman" panose="02020603050405020304" pitchFamily="18" charset="0"/>
                <a:ea typeface="黑体" panose="02010609060101010101" pitchFamily="49" charset="-122"/>
              </a:endParaRPr>
            </a:p>
          </p:txBody>
        </p:sp>
        <p:sp>
          <p:nvSpPr>
            <p:cNvPr id="31809" name="Text Box 46"/>
            <p:cNvSpPr txBox="1"/>
            <p:nvPr/>
          </p:nvSpPr>
          <p:spPr>
            <a:xfrm>
              <a:off x="2214" y="2102"/>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0001</a:t>
              </a:r>
              <a:endParaRPr lang="zh-CN" altLang="en-US" sz="2000" dirty="0">
                <a:latin typeface="Times New Roman" panose="02020603050405020304" pitchFamily="18" charset="0"/>
                <a:ea typeface="黑体" panose="02010609060101010101" pitchFamily="49" charset="-122"/>
              </a:endParaRPr>
            </a:p>
          </p:txBody>
        </p:sp>
        <p:sp>
          <p:nvSpPr>
            <p:cNvPr id="31810" name="Text Box 47"/>
            <p:cNvSpPr txBox="1"/>
            <p:nvPr/>
          </p:nvSpPr>
          <p:spPr>
            <a:xfrm>
              <a:off x="2214" y="24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1110</a:t>
              </a:r>
              <a:endParaRPr lang="zh-CN" altLang="en-US" sz="2000" dirty="0">
                <a:latin typeface="Times New Roman" panose="02020603050405020304" pitchFamily="18" charset="0"/>
                <a:ea typeface="黑体" panose="02010609060101010101" pitchFamily="49" charset="-122"/>
              </a:endParaRPr>
            </a:p>
          </p:txBody>
        </p:sp>
        <p:sp>
          <p:nvSpPr>
            <p:cNvPr id="31811" name="Text Box 48"/>
            <p:cNvSpPr txBox="1"/>
            <p:nvPr/>
          </p:nvSpPr>
          <p:spPr>
            <a:xfrm>
              <a:off x="2290" y="2304"/>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grpSp>
      <p:grpSp>
        <p:nvGrpSpPr>
          <p:cNvPr id="6" name="Group 49"/>
          <p:cNvGrpSpPr/>
          <p:nvPr/>
        </p:nvGrpSpPr>
        <p:grpSpPr>
          <a:xfrm>
            <a:off x="2752725" y="5278438"/>
            <a:ext cx="3124200" cy="1143000"/>
            <a:chOff x="1686" y="3504"/>
            <a:chExt cx="1968" cy="720"/>
          </a:xfrm>
        </p:grpSpPr>
        <p:sp>
          <p:nvSpPr>
            <p:cNvPr id="31778" name="Rectangle 50"/>
            <p:cNvSpPr/>
            <p:nvPr/>
          </p:nvSpPr>
          <p:spPr>
            <a:xfrm>
              <a:off x="1686" y="3514"/>
              <a:ext cx="1968" cy="672"/>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779" name="Text Box 51"/>
            <p:cNvSpPr txBox="1"/>
            <p:nvPr/>
          </p:nvSpPr>
          <p:spPr>
            <a:xfrm>
              <a:off x="1734" y="350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0" name="Text Box 52"/>
            <p:cNvSpPr txBox="1"/>
            <p:nvPr/>
          </p:nvSpPr>
          <p:spPr>
            <a:xfrm>
              <a:off x="1734" y="36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1" name="Text Box 53"/>
            <p:cNvSpPr txBox="1"/>
            <p:nvPr/>
          </p:nvSpPr>
          <p:spPr>
            <a:xfrm>
              <a:off x="1734" y="397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2" name="Text Box 54"/>
            <p:cNvSpPr txBox="1"/>
            <p:nvPr/>
          </p:nvSpPr>
          <p:spPr>
            <a:xfrm>
              <a:off x="1810" y="3840"/>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chemeClr val="folHlink"/>
                  </a:solidFill>
                  <a:latin typeface="Times New Roman" panose="02020603050405020304" pitchFamily="18" charset="0"/>
                  <a:ea typeface="黑体" panose="02010609060101010101" pitchFamily="49" charset="-122"/>
                </a:rPr>
                <a:t>…</a:t>
              </a:r>
              <a:endParaRPr lang="zh-CN" altLang="en-US" sz="2000" dirty="0">
                <a:solidFill>
                  <a:schemeClr val="folHlink"/>
                </a:solidFill>
                <a:latin typeface="Times New Roman" panose="02020603050405020304" pitchFamily="18" charset="0"/>
                <a:ea typeface="黑体" panose="02010609060101010101" pitchFamily="49" charset="-122"/>
              </a:endParaRPr>
            </a:p>
          </p:txBody>
        </p:sp>
        <p:sp>
          <p:nvSpPr>
            <p:cNvPr id="31783" name="Text Box 55"/>
            <p:cNvSpPr txBox="1"/>
            <p:nvPr/>
          </p:nvSpPr>
          <p:spPr>
            <a:xfrm>
              <a:off x="2214" y="350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4" name="Text Box 56"/>
            <p:cNvSpPr txBox="1"/>
            <p:nvPr/>
          </p:nvSpPr>
          <p:spPr>
            <a:xfrm>
              <a:off x="2214" y="36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5" name="Text Box 57"/>
            <p:cNvSpPr txBox="1"/>
            <p:nvPr/>
          </p:nvSpPr>
          <p:spPr>
            <a:xfrm>
              <a:off x="2214" y="397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6" name="Text Box 58"/>
            <p:cNvSpPr txBox="1"/>
            <p:nvPr/>
          </p:nvSpPr>
          <p:spPr>
            <a:xfrm>
              <a:off x="2290" y="3840"/>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chemeClr val="folHlink"/>
                  </a:solidFill>
                  <a:latin typeface="Times New Roman" panose="02020603050405020304" pitchFamily="18" charset="0"/>
                  <a:ea typeface="黑体" panose="02010609060101010101" pitchFamily="49" charset="-122"/>
                </a:rPr>
                <a:t>…</a:t>
              </a:r>
              <a:endParaRPr lang="zh-CN" altLang="en-US" sz="2000" dirty="0">
                <a:solidFill>
                  <a:schemeClr val="folHlink"/>
                </a:solidFill>
                <a:latin typeface="Times New Roman" panose="02020603050405020304" pitchFamily="18" charset="0"/>
                <a:ea typeface="黑体" panose="02010609060101010101" pitchFamily="49" charset="-122"/>
              </a:endParaRPr>
            </a:p>
          </p:txBody>
        </p:sp>
        <p:sp>
          <p:nvSpPr>
            <p:cNvPr id="31787" name="Text Box 59"/>
            <p:cNvSpPr txBox="1"/>
            <p:nvPr/>
          </p:nvSpPr>
          <p:spPr>
            <a:xfrm>
              <a:off x="2690" y="350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8" name="Text Box 60"/>
            <p:cNvSpPr txBox="1"/>
            <p:nvPr/>
          </p:nvSpPr>
          <p:spPr>
            <a:xfrm>
              <a:off x="2690" y="36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89" name="Text Box 61"/>
            <p:cNvSpPr txBox="1"/>
            <p:nvPr/>
          </p:nvSpPr>
          <p:spPr>
            <a:xfrm>
              <a:off x="2690" y="397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90" name="Text Box 62"/>
            <p:cNvSpPr txBox="1"/>
            <p:nvPr/>
          </p:nvSpPr>
          <p:spPr>
            <a:xfrm>
              <a:off x="2766" y="3840"/>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chemeClr val="folHlink"/>
                  </a:solidFill>
                  <a:latin typeface="Times New Roman" panose="02020603050405020304" pitchFamily="18" charset="0"/>
                  <a:ea typeface="黑体" panose="02010609060101010101" pitchFamily="49" charset="-122"/>
                </a:rPr>
                <a:t>…</a:t>
              </a:r>
              <a:endParaRPr lang="zh-CN" altLang="en-US" sz="2000" dirty="0">
                <a:solidFill>
                  <a:schemeClr val="folHlink"/>
                </a:solidFill>
                <a:latin typeface="Times New Roman" panose="02020603050405020304" pitchFamily="18" charset="0"/>
                <a:ea typeface="黑体" panose="02010609060101010101" pitchFamily="49" charset="-122"/>
              </a:endParaRPr>
            </a:p>
          </p:txBody>
        </p:sp>
        <p:sp>
          <p:nvSpPr>
            <p:cNvPr id="31791" name="Text Box 63"/>
            <p:cNvSpPr txBox="1"/>
            <p:nvPr/>
          </p:nvSpPr>
          <p:spPr>
            <a:xfrm>
              <a:off x="3170" y="350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0000</a:t>
              </a:r>
              <a:endParaRPr lang="zh-CN" altLang="en-US" sz="2000" dirty="0">
                <a:latin typeface="Times New Roman" panose="02020603050405020304" pitchFamily="18" charset="0"/>
                <a:ea typeface="黑体" panose="02010609060101010101" pitchFamily="49" charset="-122"/>
              </a:endParaRPr>
            </a:p>
          </p:txBody>
        </p:sp>
        <p:sp>
          <p:nvSpPr>
            <p:cNvPr id="31792" name="Text Box 64"/>
            <p:cNvSpPr txBox="1"/>
            <p:nvPr/>
          </p:nvSpPr>
          <p:spPr>
            <a:xfrm>
              <a:off x="3170" y="3638"/>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0001</a:t>
              </a:r>
              <a:endParaRPr lang="zh-CN" altLang="en-US" sz="2000" dirty="0">
                <a:latin typeface="Times New Roman" panose="02020603050405020304" pitchFamily="18" charset="0"/>
                <a:ea typeface="黑体" panose="02010609060101010101" pitchFamily="49" charset="-122"/>
              </a:endParaRPr>
            </a:p>
          </p:txBody>
        </p:sp>
        <p:sp>
          <p:nvSpPr>
            <p:cNvPr id="31793" name="Text Box 65"/>
            <p:cNvSpPr txBox="1"/>
            <p:nvPr/>
          </p:nvSpPr>
          <p:spPr>
            <a:xfrm>
              <a:off x="3170" y="3974"/>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1111</a:t>
              </a:r>
              <a:endParaRPr lang="zh-CN" altLang="en-US" sz="2000" dirty="0">
                <a:latin typeface="Times New Roman" panose="02020603050405020304" pitchFamily="18" charset="0"/>
                <a:ea typeface="黑体" panose="02010609060101010101" pitchFamily="49" charset="-122"/>
              </a:endParaRPr>
            </a:p>
          </p:txBody>
        </p:sp>
        <p:sp>
          <p:nvSpPr>
            <p:cNvPr id="31794" name="Text Box 66"/>
            <p:cNvSpPr txBox="1"/>
            <p:nvPr/>
          </p:nvSpPr>
          <p:spPr>
            <a:xfrm>
              <a:off x="3246" y="3840"/>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grpSp>
      <p:grpSp>
        <p:nvGrpSpPr>
          <p:cNvPr id="7" name="Group 67"/>
          <p:cNvGrpSpPr/>
          <p:nvPr/>
        </p:nvGrpSpPr>
        <p:grpSpPr>
          <a:xfrm>
            <a:off x="2752725" y="4059238"/>
            <a:ext cx="3124200" cy="1143000"/>
            <a:chOff x="1686" y="2736"/>
            <a:chExt cx="1968" cy="720"/>
          </a:xfrm>
        </p:grpSpPr>
        <p:sp>
          <p:nvSpPr>
            <p:cNvPr id="31761" name="Rectangle 68"/>
            <p:cNvSpPr/>
            <p:nvPr/>
          </p:nvSpPr>
          <p:spPr>
            <a:xfrm>
              <a:off x="1686" y="2746"/>
              <a:ext cx="1968" cy="672"/>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31762" name="Text Box 69"/>
            <p:cNvSpPr txBox="1"/>
            <p:nvPr/>
          </p:nvSpPr>
          <p:spPr>
            <a:xfrm>
              <a:off x="1734" y="273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3" name="Text Box 70"/>
            <p:cNvSpPr txBox="1"/>
            <p:nvPr/>
          </p:nvSpPr>
          <p:spPr>
            <a:xfrm>
              <a:off x="1734" y="287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4" name="Text Box 71"/>
            <p:cNvSpPr txBox="1"/>
            <p:nvPr/>
          </p:nvSpPr>
          <p:spPr>
            <a:xfrm>
              <a:off x="1734" y="320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5" name="Text Box 72"/>
            <p:cNvSpPr txBox="1"/>
            <p:nvPr/>
          </p:nvSpPr>
          <p:spPr>
            <a:xfrm>
              <a:off x="1810" y="3072"/>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chemeClr val="folHlink"/>
                  </a:solidFill>
                  <a:latin typeface="Times New Roman" panose="02020603050405020304" pitchFamily="18" charset="0"/>
                  <a:ea typeface="黑体" panose="02010609060101010101" pitchFamily="49" charset="-122"/>
                </a:rPr>
                <a:t>…</a:t>
              </a:r>
              <a:endParaRPr lang="zh-CN" altLang="en-US" sz="2000" dirty="0">
                <a:solidFill>
                  <a:schemeClr val="folHlink"/>
                </a:solidFill>
                <a:latin typeface="Times New Roman" panose="02020603050405020304" pitchFamily="18" charset="0"/>
                <a:ea typeface="黑体" panose="02010609060101010101" pitchFamily="49" charset="-122"/>
              </a:endParaRPr>
            </a:p>
          </p:txBody>
        </p:sp>
        <p:sp>
          <p:nvSpPr>
            <p:cNvPr id="31766" name="Text Box 73"/>
            <p:cNvSpPr txBox="1"/>
            <p:nvPr/>
          </p:nvSpPr>
          <p:spPr>
            <a:xfrm>
              <a:off x="2214" y="273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7" name="Text Box 74"/>
            <p:cNvSpPr txBox="1"/>
            <p:nvPr/>
          </p:nvSpPr>
          <p:spPr>
            <a:xfrm>
              <a:off x="2214" y="287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8" name="Text Box 75"/>
            <p:cNvSpPr txBox="1"/>
            <p:nvPr/>
          </p:nvSpPr>
          <p:spPr>
            <a:xfrm>
              <a:off x="2214" y="320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rgbClr val="C00000"/>
                  </a:solidFill>
                  <a:latin typeface="Times New Roman" panose="02020603050405020304" pitchFamily="18" charset="0"/>
                  <a:ea typeface="黑体" panose="02010609060101010101" pitchFamily="49" charset="-122"/>
                </a:rPr>
                <a:t>1111</a:t>
              </a:r>
              <a:endParaRPr lang="zh-CN" altLang="en-US" sz="2000" dirty="0">
                <a:solidFill>
                  <a:srgbClr val="C00000"/>
                </a:solidFill>
                <a:latin typeface="Times New Roman" panose="02020603050405020304" pitchFamily="18" charset="0"/>
                <a:ea typeface="黑体" panose="02010609060101010101" pitchFamily="49" charset="-122"/>
              </a:endParaRPr>
            </a:p>
          </p:txBody>
        </p:sp>
        <p:sp>
          <p:nvSpPr>
            <p:cNvPr id="31769" name="Text Box 76"/>
            <p:cNvSpPr txBox="1"/>
            <p:nvPr/>
          </p:nvSpPr>
          <p:spPr>
            <a:xfrm>
              <a:off x="2290" y="3072"/>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solidFill>
                    <a:schemeClr val="folHlink"/>
                  </a:solidFill>
                  <a:latin typeface="Times New Roman" panose="02020603050405020304" pitchFamily="18" charset="0"/>
                  <a:ea typeface="黑体" panose="02010609060101010101" pitchFamily="49" charset="-122"/>
                </a:rPr>
                <a:t>…</a:t>
              </a:r>
              <a:endParaRPr lang="zh-CN" altLang="en-US" sz="2000" dirty="0">
                <a:solidFill>
                  <a:schemeClr val="folHlink"/>
                </a:solidFill>
                <a:latin typeface="Times New Roman" panose="02020603050405020304" pitchFamily="18" charset="0"/>
                <a:ea typeface="黑体" panose="02010609060101010101" pitchFamily="49" charset="-122"/>
              </a:endParaRPr>
            </a:p>
          </p:txBody>
        </p:sp>
        <p:sp>
          <p:nvSpPr>
            <p:cNvPr id="31770" name="Text Box 77"/>
            <p:cNvSpPr txBox="1"/>
            <p:nvPr/>
          </p:nvSpPr>
          <p:spPr>
            <a:xfrm>
              <a:off x="3202" y="2736"/>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771" name="Text Box 78"/>
            <p:cNvSpPr txBox="1"/>
            <p:nvPr/>
          </p:nvSpPr>
          <p:spPr>
            <a:xfrm>
              <a:off x="3202" y="2880"/>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25000" dirty="0">
                  <a:latin typeface="Times New Roman" panose="02020603050405020304" pitchFamily="18" charset="0"/>
                  <a:ea typeface="黑体" panose="02010609060101010101" pitchFamily="49" charset="-122"/>
                </a:rPr>
                <a:t>3</a:t>
              </a:r>
              <a:endParaRPr lang="en-US" altLang="zh-CN" sz="2000" baseline="-25000" dirty="0">
                <a:latin typeface="Times New Roman" panose="02020603050405020304" pitchFamily="18" charset="0"/>
                <a:ea typeface="黑体" panose="02010609060101010101" pitchFamily="49" charset="-122"/>
              </a:endParaRPr>
            </a:p>
          </p:txBody>
        </p:sp>
        <p:sp>
          <p:nvSpPr>
            <p:cNvPr id="31772" name="Text Box 79"/>
            <p:cNvSpPr txBox="1"/>
            <p:nvPr/>
          </p:nvSpPr>
          <p:spPr>
            <a:xfrm>
              <a:off x="3202" y="3206"/>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en-US" altLang="zh-CN" sz="2000" dirty="0">
                  <a:latin typeface="Times New Roman" panose="02020603050405020304" pitchFamily="18" charset="0"/>
                  <a:ea typeface="黑体" panose="02010609060101010101" pitchFamily="49" charset="-122"/>
                </a:rPr>
                <a:t>A</a:t>
              </a:r>
              <a:r>
                <a:rPr lang="en-US" altLang="zh-CN" sz="2000" baseline="-15000" dirty="0">
                  <a:latin typeface="Times New Roman" panose="02020603050405020304" pitchFamily="18" charset="0"/>
                  <a:ea typeface="黑体" panose="02010609060101010101" pitchFamily="49" charset="-122"/>
                </a:rPr>
                <a:t>3</a:t>
              </a:r>
              <a:endParaRPr lang="en-US" altLang="zh-CN" sz="2000" baseline="-15000" dirty="0">
                <a:latin typeface="Times New Roman" panose="02020603050405020304" pitchFamily="18" charset="0"/>
                <a:ea typeface="黑体" panose="02010609060101010101" pitchFamily="49" charset="-122"/>
              </a:endParaRPr>
            </a:p>
          </p:txBody>
        </p:sp>
        <p:sp>
          <p:nvSpPr>
            <p:cNvPr id="31773" name="Text Box 80"/>
            <p:cNvSpPr txBox="1"/>
            <p:nvPr/>
          </p:nvSpPr>
          <p:spPr>
            <a:xfrm>
              <a:off x="3202" y="3072"/>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sp>
          <p:nvSpPr>
            <p:cNvPr id="31774" name="Text Box 81"/>
            <p:cNvSpPr txBox="1"/>
            <p:nvPr/>
          </p:nvSpPr>
          <p:spPr>
            <a:xfrm>
              <a:off x="2690" y="273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0000</a:t>
              </a:r>
              <a:endParaRPr lang="zh-CN" altLang="en-US" sz="2000" dirty="0">
                <a:latin typeface="Times New Roman" panose="02020603050405020304" pitchFamily="18" charset="0"/>
                <a:ea typeface="黑体" panose="02010609060101010101" pitchFamily="49" charset="-122"/>
              </a:endParaRPr>
            </a:p>
          </p:txBody>
        </p:sp>
        <p:sp>
          <p:nvSpPr>
            <p:cNvPr id="31775" name="Text Box 82"/>
            <p:cNvSpPr txBox="1"/>
            <p:nvPr/>
          </p:nvSpPr>
          <p:spPr>
            <a:xfrm>
              <a:off x="2690" y="2870"/>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0001</a:t>
              </a:r>
              <a:endParaRPr lang="zh-CN" altLang="en-US" sz="2000" dirty="0">
                <a:latin typeface="Times New Roman" panose="02020603050405020304" pitchFamily="18" charset="0"/>
                <a:ea typeface="黑体" panose="02010609060101010101" pitchFamily="49" charset="-122"/>
              </a:endParaRPr>
            </a:p>
          </p:txBody>
        </p:sp>
        <p:sp>
          <p:nvSpPr>
            <p:cNvPr id="31776" name="Text Box 83"/>
            <p:cNvSpPr txBox="1"/>
            <p:nvPr/>
          </p:nvSpPr>
          <p:spPr>
            <a:xfrm>
              <a:off x="2690" y="3206"/>
              <a:ext cx="4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1110</a:t>
              </a:r>
              <a:endParaRPr lang="zh-CN" altLang="en-US" sz="2000" dirty="0">
                <a:latin typeface="Times New Roman" panose="02020603050405020304" pitchFamily="18" charset="0"/>
                <a:ea typeface="黑体" panose="02010609060101010101" pitchFamily="49" charset="-122"/>
              </a:endParaRPr>
            </a:p>
          </p:txBody>
        </p:sp>
        <p:sp>
          <p:nvSpPr>
            <p:cNvPr id="31777" name="Text Box 84"/>
            <p:cNvSpPr txBox="1"/>
            <p:nvPr/>
          </p:nvSpPr>
          <p:spPr>
            <a:xfrm>
              <a:off x="2766" y="3072"/>
              <a:ext cx="308" cy="218"/>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a:t>
              </a:r>
              <a:endParaRPr lang="zh-CN" altLang="en-US" sz="2000" dirty="0">
                <a:latin typeface="Times New Roman" panose="02020603050405020304" pitchFamily="18" charset="0"/>
                <a:ea typeface="黑体" panose="02010609060101010101" pitchFamily="49" charset="-122"/>
              </a:endParaRPr>
            </a:p>
          </p:txBody>
        </p:sp>
      </p:grpSp>
      <p:sp>
        <p:nvSpPr>
          <p:cNvPr id="86" name="Text Box 85"/>
          <p:cNvSpPr txBox="1"/>
          <p:nvPr/>
        </p:nvSpPr>
        <p:spPr>
          <a:xfrm>
            <a:off x="1117600" y="1985963"/>
            <a:ext cx="13970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4 位操作码</a:t>
            </a:r>
            <a:endParaRPr lang="zh-CN" altLang="en-US" sz="2000" dirty="0">
              <a:latin typeface="Times New Roman" panose="02020603050405020304" pitchFamily="18" charset="0"/>
              <a:ea typeface="黑体" panose="02010609060101010101" pitchFamily="49" charset="-122"/>
            </a:endParaRPr>
          </a:p>
        </p:txBody>
      </p:sp>
      <p:sp>
        <p:nvSpPr>
          <p:cNvPr id="87" name="Text Box 86"/>
          <p:cNvSpPr txBox="1"/>
          <p:nvPr/>
        </p:nvSpPr>
        <p:spPr>
          <a:xfrm>
            <a:off x="1117600" y="3205163"/>
            <a:ext cx="13970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8 位操作码</a:t>
            </a:r>
            <a:endParaRPr lang="zh-CN" altLang="en-US" sz="2000" dirty="0">
              <a:latin typeface="Times New Roman" panose="02020603050405020304" pitchFamily="18" charset="0"/>
              <a:ea typeface="黑体" panose="02010609060101010101" pitchFamily="49" charset="-122"/>
            </a:endParaRPr>
          </a:p>
        </p:txBody>
      </p:sp>
      <p:sp>
        <p:nvSpPr>
          <p:cNvPr id="88" name="Text Box 87"/>
          <p:cNvSpPr txBox="1"/>
          <p:nvPr/>
        </p:nvSpPr>
        <p:spPr>
          <a:xfrm>
            <a:off x="990600" y="4440238"/>
            <a:ext cx="15240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12 位操作码</a:t>
            </a:r>
            <a:endParaRPr lang="zh-CN" altLang="en-US" sz="2000" dirty="0">
              <a:latin typeface="Times New Roman" panose="02020603050405020304" pitchFamily="18" charset="0"/>
              <a:ea typeface="黑体" panose="02010609060101010101" pitchFamily="49" charset="-122"/>
            </a:endParaRPr>
          </a:p>
        </p:txBody>
      </p:sp>
      <p:sp>
        <p:nvSpPr>
          <p:cNvPr id="89" name="Text Box 88"/>
          <p:cNvSpPr txBox="1"/>
          <p:nvPr/>
        </p:nvSpPr>
        <p:spPr>
          <a:xfrm>
            <a:off x="990600" y="5643563"/>
            <a:ext cx="15240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16 位操作码</a:t>
            </a:r>
            <a:endParaRPr lang="zh-CN" altLang="en-US" sz="2000" dirty="0">
              <a:latin typeface="Times New Roman" panose="02020603050405020304" pitchFamily="18" charset="0"/>
              <a:ea typeface="黑体" panose="02010609060101010101" pitchFamily="49" charset="-122"/>
            </a:endParaRPr>
          </a:p>
        </p:txBody>
      </p:sp>
      <p:sp>
        <p:nvSpPr>
          <p:cNvPr id="90" name="Text Box 89"/>
          <p:cNvSpPr txBox="1"/>
          <p:nvPr/>
        </p:nvSpPr>
        <p:spPr>
          <a:xfrm>
            <a:off x="6029325" y="1985963"/>
            <a:ext cx="31146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最多15条三地址指令</a:t>
            </a:r>
            <a:endParaRPr lang="zh-CN" altLang="en-US" sz="2000" dirty="0">
              <a:latin typeface="Times New Roman" panose="02020603050405020304" pitchFamily="18" charset="0"/>
              <a:ea typeface="黑体" panose="02010609060101010101" pitchFamily="49" charset="-122"/>
            </a:endParaRPr>
          </a:p>
        </p:txBody>
      </p:sp>
      <p:sp>
        <p:nvSpPr>
          <p:cNvPr id="91" name="Text Box 90"/>
          <p:cNvSpPr txBox="1"/>
          <p:nvPr/>
        </p:nvSpPr>
        <p:spPr>
          <a:xfrm>
            <a:off x="6029325" y="3205163"/>
            <a:ext cx="271938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最多15条二地址指令</a:t>
            </a:r>
            <a:endParaRPr lang="zh-CN" altLang="en-US" sz="2000" dirty="0">
              <a:latin typeface="Times New Roman" panose="02020603050405020304" pitchFamily="18" charset="0"/>
              <a:ea typeface="黑体" panose="02010609060101010101" pitchFamily="49" charset="-122"/>
            </a:endParaRPr>
          </a:p>
        </p:txBody>
      </p:sp>
      <p:sp>
        <p:nvSpPr>
          <p:cNvPr id="92" name="Text Box 91"/>
          <p:cNvSpPr txBox="1"/>
          <p:nvPr/>
        </p:nvSpPr>
        <p:spPr>
          <a:xfrm>
            <a:off x="6029325" y="4440238"/>
            <a:ext cx="26463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最多15条一地址指令</a:t>
            </a:r>
            <a:endParaRPr lang="zh-CN" altLang="en-US" sz="2000" dirty="0">
              <a:latin typeface="Times New Roman" panose="02020603050405020304" pitchFamily="18" charset="0"/>
              <a:ea typeface="黑体" panose="02010609060101010101" pitchFamily="49" charset="-122"/>
            </a:endParaRPr>
          </a:p>
        </p:txBody>
      </p:sp>
      <p:sp>
        <p:nvSpPr>
          <p:cNvPr id="93" name="Text Box 92"/>
          <p:cNvSpPr txBox="1"/>
          <p:nvPr/>
        </p:nvSpPr>
        <p:spPr>
          <a:xfrm>
            <a:off x="6029325" y="5643563"/>
            <a:ext cx="19716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spcBef>
                <a:spcPct val="0"/>
              </a:spcBef>
              <a:buClrTx/>
              <a:buSzTx/>
              <a:buNone/>
              <a:tabLst>
                <a:tab pos="0" algn="l"/>
              </a:tabLst>
            </a:pPr>
            <a:r>
              <a:rPr lang="zh-CN" altLang="en-US" sz="2000" dirty="0">
                <a:latin typeface="Times New Roman" panose="02020603050405020304" pitchFamily="18" charset="0"/>
                <a:ea typeface="黑体" panose="02010609060101010101" pitchFamily="49" charset="-122"/>
              </a:rPr>
              <a:t>16条零地址指令</a:t>
            </a:r>
            <a:endParaRPr lang="zh-CN" altLang="en-US" sz="2000" dirty="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blinds(horizontal)">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blinds(horizontal)">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
                                        </p:tgtEl>
                                        <p:attrNameLst>
                                          <p:attrName>style.visibility</p:attrName>
                                        </p:attrNameLst>
                                      </p:cBhvr>
                                      <p:to>
                                        <p:strVal val="visible"/>
                                      </p:to>
                                    </p:set>
                                    <p:animEffect transition="in" filter="blinds(horizontal)">
                                      <p:cBhvr>
                                        <p:cTn id="27" dur="500"/>
                                        <p:tgtEl>
                                          <p:spTgt spid="8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outVertic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1"/>
                                        </p:tgtEl>
                                        <p:attrNameLst>
                                          <p:attrName>style.visibility</p:attrName>
                                        </p:attrNameLst>
                                      </p:cBhvr>
                                      <p:to>
                                        <p:strVal val="visible"/>
                                      </p:to>
                                    </p:set>
                                    <p:animEffect transition="in" filter="blinds(horizontal)">
                                      <p:cBhvr>
                                        <p:cTn id="37" dur="500"/>
                                        <p:tgtEl>
                                          <p:spTgt spid="9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blinds(horizontal)">
                                      <p:cBhvr>
                                        <p:cTn id="42" dur="500"/>
                                        <p:tgtEl>
                                          <p:spTgt spid="8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arn(outVertical)">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blinds(horizontal)">
                                      <p:cBhvr>
                                        <p:cTn id="52" dur="500"/>
                                        <p:tgtEl>
                                          <p:spTgt spid="9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9"/>
                                        </p:tgtEl>
                                        <p:attrNameLst>
                                          <p:attrName>style.visibility</p:attrName>
                                        </p:attrNameLst>
                                      </p:cBhvr>
                                      <p:to>
                                        <p:strVal val="visible"/>
                                      </p:to>
                                    </p:set>
                                    <p:animEffect transition="in" filter="blinds(horizontal)">
                                      <p:cBhvr>
                                        <p:cTn id="57" dur="500"/>
                                        <p:tgtEl>
                                          <p:spTgt spid="89"/>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barn(outVertical)">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blinds(horizontal)">
                                      <p:cBhvr>
                                        <p:cTn id="6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88" grpId="0"/>
      <p:bldP spid="89" grpId="0"/>
      <p:bldP spid="90" grpId="0"/>
      <p:bldP spid="91" grpId="0"/>
      <p:bldP spid="92" grpId="0"/>
      <p:bldP spid="9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二、地址码</a:t>
            </a:r>
            <a:endParaRPr lang="zh-CN" altLang="en-US" sz="3500" dirty="0"/>
          </a:p>
        </p:txBody>
      </p:sp>
      <p:sp>
        <p:nvSpPr>
          <p:cNvPr id="32771" name="Rectangle 3"/>
          <p:cNvSpPr>
            <a:spLocks noGrp="1"/>
          </p:cNvSpPr>
          <p:nvPr>
            <p:ph idx="1"/>
          </p:nvPr>
        </p:nvSpPr>
        <p:spPr>
          <a:xfrm>
            <a:off x="457200" y="1341438"/>
            <a:ext cx="8229600" cy="3886200"/>
          </a:xfrm>
          <a:ln/>
        </p:spPr>
        <p:txBody>
          <a:bodyPr vert="horz" wrap="square" lIns="91440" tIns="45720" rIns="91440" bIns="45720" anchor="t" anchorCtr="0"/>
          <a:p>
            <a:pPr>
              <a:lnSpc>
                <a:spcPct val="90000"/>
              </a:lnSpc>
            </a:pPr>
            <a:r>
              <a:rPr lang="zh-CN" altLang="en-US" dirty="0">
                <a:solidFill>
                  <a:srgbClr val="FF3300"/>
                </a:solidFill>
              </a:rPr>
              <a:t>三地址指令</a:t>
            </a:r>
            <a:endParaRPr lang="zh-CN" altLang="en-US" dirty="0">
              <a:solidFill>
                <a:srgbClr val="FF3300"/>
              </a:solidFill>
            </a:endParaRPr>
          </a:p>
          <a:p>
            <a:pPr lvl="1">
              <a:lnSpc>
                <a:spcPct val="90000"/>
              </a:lnSpc>
            </a:pPr>
            <a:r>
              <a:rPr lang="zh-CN" altLang="en-US" dirty="0"/>
              <a:t>指令格式如下：</a:t>
            </a:r>
            <a:endParaRPr lang="zh-CN" altLang="en-US" dirty="0"/>
          </a:p>
          <a:p>
            <a:pPr lvl="1">
              <a:lnSpc>
                <a:spcPct val="90000"/>
              </a:lnSpc>
            </a:pPr>
            <a:endParaRPr lang="zh-CN" altLang="en-US" dirty="0"/>
          </a:p>
          <a:p>
            <a:pPr lvl="1">
              <a:lnSpc>
                <a:spcPct val="90000"/>
              </a:lnSpc>
            </a:pPr>
            <a:endParaRPr lang="zh-CN" altLang="en-US" dirty="0"/>
          </a:p>
          <a:p>
            <a:pPr lvl="1">
              <a:lnSpc>
                <a:spcPct val="90000"/>
              </a:lnSpc>
            </a:pPr>
            <a:r>
              <a:rPr lang="zh-CN" altLang="en-US" sz="2400" b="1" dirty="0">
                <a:solidFill>
                  <a:srgbClr val="3333FF"/>
                </a:solidFill>
              </a:rPr>
              <a:t>操作码</a:t>
            </a:r>
            <a:r>
              <a:rPr lang="en-US" altLang="zh-CN" sz="2400" b="1" dirty="0">
                <a:solidFill>
                  <a:srgbClr val="3333FF"/>
                </a:solidFill>
              </a:rPr>
              <a:t>θ   </a:t>
            </a:r>
            <a:r>
              <a:rPr lang="zh-CN" altLang="en-US" sz="2400" b="1" dirty="0">
                <a:solidFill>
                  <a:srgbClr val="3333FF"/>
                </a:solidFill>
              </a:rPr>
              <a:t>第一操作数</a:t>
            </a:r>
            <a:r>
              <a:rPr lang="en-US" altLang="zh-CN" sz="2400" b="1" dirty="0">
                <a:solidFill>
                  <a:srgbClr val="3333FF"/>
                </a:solidFill>
              </a:rPr>
              <a:t>A1   </a:t>
            </a:r>
            <a:r>
              <a:rPr lang="zh-CN" altLang="en-US" sz="2400" b="1" dirty="0">
                <a:solidFill>
                  <a:srgbClr val="3333FF"/>
                </a:solidFill>
              </a:rPr>
              <a:t>第二操作数</a:t>
            </a:r>
            <a:r>
              <a:rPr lang="en-US" altLang="zh-CN" sz="2400" b="1" dirty="0">
                <a:solidFill>
                  <a:srgbClr val="3333FF"/>
                </a:solidFill>
              </a:rPr>
              <a:t>A2      </a:t>
            </a:r>
            <a:r>
              <a:rPr lang="zh-CN" altLang="en-US" sz="2400" b="1" dirty="0">
                <a:solidFill>
                  <a:srgbClr val="3333FF"/>
                </a:solidFill>
              </a:rPr>
              <a:t>结果</a:t>
            </a:r>
            <a:r>
              <a:rPr lang="en-US" altLang="zh-CN" sz="2400" b="1" dirty="0">
                <a:solidFill>
                  <a:srgbClr val="3333FF"/>
                </a:solidFill>
              </a:rPr>
              <a:t>A3</a:t>
            </a:r>
            <a:r>
              <a:rPr lang="en-US" altLang="zh-CN" dirty="0"/>
              <a:t> </a:t>
            </a:r>
            <a:endParaRPr lang="en-US" altLang="zh-CN" dirty="0"/>
          </a:p>
          <a:p>
            <a:pPr lvl="1">
              <a:lnSpc>
                <a:spcPct val="90000"/>
              </a:lnSpc>
            </a:pPr>
            <a:r>
              <a:rPr lang="zh-CN" altLang="en-US" dirty="0"/>
              <a:t>功能描述： </a:t>
            </a:r>
            <a:endParaRPr lang="zh-CN" altLang="en-US" dirty="0"/>
          </a:p>
          <a:p>
            <a:pPr lvl="1">
              <a:lnSpc>
                <a:spcPct val="90000"/>
              </a:lnSpc>
            </a:pPr>
            <a:r>
              <a:rPr lang="en-US" altLang="zh-CN" dirty="0">
                <a:solidFill>
                  <a:srgbClr val="FF3300"/>
                </a:solidFill>
              </a:rPr>
              <a:t>(A1)θ(A2)→A3</a:t>
            </a:r>
            <a:endParaRPr lang="en-US" altLang="zh-CN" dirty="0">
              <a:solidFill>
                <a:srgbClr val="FF3300"/>
              </a:solidFill>
            </a:endParaRPr>
          </a:p>
          <a:p>
            <a:pPr lvl="1">
              <a:lnSpc>
                <a:spcPct val="90000"/>
              </a:lnSpc>
            </a:pPr>
            <a:r>
              <a:rPr lang="en-US" altLang="zh-CN" dirty="0">
                <a:solidFill>
                  <a:srgbClr val="FF3300"/>
                </a:solidFill>
              </a:rPr>
              <a:t>(PC) +1→PC</a:t>
            </a:r>
            <a:endParaRPr lang="en-US" altLang="zh-CN" dirty="0">
              <a:solidFill>
                <a:srgbClr val="FF3300"/>
              </a:solidFill>
            </a:endParaRPr>
          </a:p>
          <a:p>
            <a:pPr lvl="1">
              <a:lnSpc>
                <a:spcPct val="90000"/>
              </a:lnSpc>
            </a:pPr>
            <a:r>
              <a:rPr lang="zh-CN" altLang="en-US" dirty="0"/>
              <a:t>这种格式指令长度比较长，所以只在字长较长的大、中型机中使用，而小型、微型机中很少使用。</a:t>
            </a:r>
            <a:endParaRPr lang="zh-CN" altLang="en-US" dirty="0"/>
          </a:p>
        </p:txBody>
      </p:sp>
      <p:grpSp>
        <p:nvGrpSpPr>
          <p:cNvPr id="32772" name="Group 4"/>
          <p:cNvGrpSpPr/>
          <p:nvPr/>
        </p:nvGrpSpPr>
        <p:grpSpPr>
          <a:xfrm>
            <a:off x="1187450" y="2390775"/>
            <a:ext cx="7200900" cy="533400"/>
            <a:chOff x="1344" y="1824"/>
            <a:chExt cx="2880" cy="336"/>
          </a:xfrm>
        </p:grpSpPr>
        <p:sp>
          <p:nvSpPr>
            <p:cNvPr id="32773" name="Rectangle 5"/>
            <p:cNvSpPr/>
            <p:nvPr/>
          </p:nvSpPr>
          <p:spPr>
            <a:xfrm>
              <a:off x="1344" y="1824"/>
              <a:ext cx="2880"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2774" name="Line 6"/>
            <p:cNvSpPr/>
            <p:nvPr/>
          </p:nvSpPr>
          <p:spPr>
            <a:xfrm>
              <a:off x="1968" y="1824"/>
              <a:ext cx="0" cy="336"/>
            </a:xfrm>
            <a:prstGeom prst="line">
              <a:avLst/>
            </a:prstGeom>
            <a:ln w="9525" cap="flat" cmpd="sng">
              <a:solidFill>
                <a:schemeClr val="tx1"/>
              </a:solidFill>
              <a:prstDash val="solid"/>
              <a:headEnd type="none" w="med" len="med"/>
              <a:tailEnd type="none" w="med" len="med"/>
            </a:ln>
          </p:spPr>
        </p:sp>
        <p:sp>
          <p:nvSpPr>
            <p:cNvPr id="32775" name="Line 7"/>
            <p:cNvSpPr/>
            <p:nvPr/>
          </p:nvSpPr>
          <p:spPr>
            <a:xfrm>
              <a:off x="3456" y="1824"/>
              <a:ext cx="0" cy="336"/>
            </a:xfrm>
            <a:prstGeom prst="line">
              <a:avLst/>
            </a:prstGeom>
            <a:ln w="9525" cap="flat" cmpd="sng">
              <a:solidFill>
                <a:schemeClr val="tx1"/>
              </a:solidFill>
              <a:prstDash val="solid"/>
              <a:headEnd type="none" w="med" len="med"/>
              <a:tailEnd type="none" w="med" len="med"/>
            </a:ln>
          </p:spPr>
        </p:sp>
        <p:sp>
          <p:nvSpPr>
            <p:cNvPr id="32776" name="Line 8"/>
            <p:cNvSpPr/>
            <p:nvPr/>
          </p:nvSpPr>
          <p:spPr>
            <a:xfrm>
              <a:off x="2688" y="1824"/>
              <a:ext cx="0" cy="336"/>
            </a:xfrm>
            <a:prstGeom prst="line">
              <a:avLst/>
            </a:prstGeom>
            <a:ln w="9525" cap="flat" cmpd="sng">
              <a:solidFill>
                <a:schemeClr val="tx1"/>
              </a:solidFill>
              <a:prstDash val="solid"/>
              <a:headEnd type="none" w="med" len="med"/>
              <a:tailEnd type="none" w="med" len="med"/>
            </a:ln>
          </p:spPr>
        </p:sp>
        <p:sp>
          <p:nvSpPr>
            <p:cNvPr id="15369" name="Text Box 9"/>
            <p:cNvSpPr txBox="1">
              <a:spLocks noChangeArrowheads="1"/>
            </p:cNvSpPr>
            <p:nvPr/>
          </p:nvSpPr>
          <p:spPr bwMode="auto">
            <a:xfrm>
              <a:off x="1536"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dirty="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θ</a:t>
              </a:r>
              <a:endParaRPr kumimoji="1" lang="en-US" altLang="zh-CN" sz="2800" kern="1200" cap="none" spc="0" normalizeH="0" baseline="0" noProof="0" dirty="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5370" name="Text Box 10"/>
            <p:cNvSpPr txBox="1">
              <a:spLocks noChangeArrowheads="1"/>
            </p:cNvSpPr>
            <p:nvPr/>
          </p:nvSpPr>
          <p:spPr bwMode="auto">
            <a:xfrm>
              <a:off x="3696"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A3</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5371" name="Text Box 11"/>
            <p:cNvSpPr txBox="1">
              <a:spLocks noChangeArrowheads="1"/>
            </p:cNvSpPr>
            <p:nvPr/>
          </p:nvSpPr>
          <p:spPr bwMode="auto">
            <a:xfrm>
              <a:off x="2784" y="1824"/>
              <a:ext cx="480" cy="327"/>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A2</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5372" name="Text Box 12"/>
            <p:cNvSpPr txBox="1">
              <a:spLocks noChangeArrowheads="1"/>
            </p:cNvSpPr>
            <p:nvPr/>
          </p:nvSpPr>
          <p:spPr bwMode="auto">
            <a:xfrm>
              <a:off x="2160"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A1</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468313" y="328613"/>
            <a:ext cx="7532687" cy="723900"/>
          </a:xfrm>
          <a:ln/>
        </p:spPr>
        <p:txBody>
          <a:bodyPr vert="horz" wrap="square" lIns="91440" tIns="45720" rIns="91440" bIns="45720" anchor="ctr" anchorCtr="0"/>
          <a:p>
            <a:r>
              <a:rPr lang="zh-CN" altLang="en-US" sz="3500" dirty="0"/>
              <a:t>二、地址码</a:t>
            </a:r>
            <a:endParaRPr lang="zh-CN" altLang="en-US" sz="3500" dirty="0"/>
          </a:p>
        </p:txBody>
      </p:sp>
      <p:sp>
        <p:nvSpPr>
          <p:cNvPr id="33795" name="Rectangle 3"/>
          <p:cNvSpPr>
            <a:spLocks noGrp="1"/>
          </p:cNvSpPr>
          <p:nvPr>
            <p:ph idx="1"/>
          </p:nvPr>
        </p:nvSpPr>
        <p:spPr>
          <a:xfrm>
            <a:off x="457200" y="1268413"/>
            <a:ext cx="8229600" cy="3886200"/>
          </a:xfrm>
          <a:ln/>
        </p:spPr>
        <p:txBody>
          <a:bodyPr vert="horz" wrap="square" lIns="91440" tIns="45720" rIns="91440" bIns="45720" anchor="t" anchorCtr="0"/>
          <a:p>
            <a:pPr>
              <a:lnSpc>
                <a:spcPct val="90000"/>
              </a:lnSpc>
            </a:pPr>
            <a:r>
              <a:rPr lang="zh-CN" altLang="en-US" dirty="0">
                <a:solidFill>
                  <a:srgbClr val="FF3300"/>
                </a:solidFill>
              </a:rPr>
              <a:t>二地址指令</a:t>
            </a:r>
            <a:endParaRPr lang="zh-CN" altLang="en-US" dirty="0">
              <a:solidFill>
                <a:srgbClr val="FF3300"/>
              </a:solidFill>
            </a:endParaRPr>
          </a:p>
          <a:p>
            <a:pPr lvl="1">
              <a:lnSpc>
                <a:spcPct val="90000"/>
              </a:lnSpc>
            </a:pPr>
            <a:r>
              <a:rPr lang="zh-CN" altLang="en-US" dirty="0"/>
              <a:t>其格式如下：</a:t>
            </a:r>
            <a:endParaRPr lang="zh-CN" altLang="en-US" dirty="0"/>
          </a:p>
          <a:p>
            <a:pPr lvl="1">
              <a:lnSpc>
                <a:spcPct val="90000"/>
              </a:lnSpc>
            </a:pPr>
            <a:endParaRPr lang="zh-CN" altLang="en-US" dirty="0"/>
          </a:p>
          <a:p>
            <a:pPr lvl="1">
              <a:lnSpc>
                <a:spcPct val="90000"/>
              </a:lnSpc>
            </a:pPr>
            <a:r>
              <a:rPr lang="zh-CN" altLang="en-US" dirty="0"/>
              <a:t></a:t>
            </a:r>
            <a:endParaRPr lang="zh-CN" altLang="en-US" dirty="0"/>
          </a:p>
          <a:p>
            <a:pPr lvl="1">
              <a:lnSpc>
                <a:spcPct val="90000"/>
              </a:lnSpc>
            </a:pPr>
            <a:r>
              <a:rPr lang="zh-CN" altLang="en-US" dirty="0">
                <a:solidFill>
                  <a:srgbClr val="3333FF"/>
                </a:solidFill>
              </a:rPr>
              <a:t>操作码</a:t>
            </a:r>
            <a:r>
              <a:rPr lang="en-US" altLang="zh-CN" dirty="0">
                <a:solidFill>
                  <a:srgbClr val="3333FF"/>
                </a:solidFill>
              </a:rPr>
              <a:t>θ </a:t>
            </a:r>
            <a:r>
              <a:rPr lang="zh-CN" altLang="en-US" dirty="0">
                <a:solidFill>
                  <a:srgbClr val="3333FF"/>
                </a:solidFill>
              </a:rPr>
              <a:t>第一操作数</a:t>
            </a:r>
            <a:r>
              <a:rPr lang="en-US" altLang="zh-CN" dirty="0">
                <a:solidFill>
                  <a:srgbClr val="3333FF"/>
                </a:solidFill>
              </a:rPr>
              <a:t>A1  </a:t>
            </a:r>
            <a:r>
              <a:rPr lang="zh-CN" altLang="en-US" dirty="0">
                <a:solidFill>
                  <a:srgbClr val="3333FF"/>
                </a:solidFill>
              </a:rPr>
              <a:t>第二操作数</a:t>
            </a:r>
            <a:r>
              <a:rPr lang="en-US" altLang="zh-CN" dirty="0">
                <a:solidFill>
                  <a:srgbClr val="3333FF"/>
                </a:solidFill>
              </a:rPr>
              <a:t>A2</a:t>
            </a:r>
            <a:endParaRPr lang="en-US" altLang="zh-CN" dirty="0">
              <a:solidFill>
                <a:srgbClr val="3333FF"/>
              </a:solidFill>
            </a:endParaRPr>
          </a:p>
          <a:p>
            <a:pPr lvl="1">
              <a:lnSpc>
                <a:spcPct val="90000"/>
              </a:lnSpc>
            </a:pPr>
            <a:r>
              <a:rPr lang="en-US" altLang="zh-CN" dirty="0"/>
              <a:t>    </a:t>
            </a:r>
            <a:r>
              <a:rPr lang="zh-CN" altLang="en-US" dirty="0"/>
              <a:t>功能描述：</a:t>
            </a:r>
            <a:endParaRPr lang="zh-CN" altLang="en-US" dirty="0"/>
          </a:p>
          <a:p>
            <a:pPr lvl="1">
              <a:lnSpc>
                <a:spcPct val="90000"/>
              </a:lnSpc>
            </a:pPr>
            <a:r>
              <a:rPr lang="en-US" altLang="zh-CN" dirty="0">
                <a:solidFill>
                  <a:srgbClr val="FF3300"/>
                </a:solidFill>
              </a:rPr>
              <a:t>(A1)θ(A2)→A1</a:t>
            </a:r>
            <a:endParaRPr lang="en-US" altLang="zh-CN" dirty="0">
              <a:solidFill>
                <a:srgbClr val="FF3300"/>
              </a:solidFill>
            </a:endParaRPr>
          </a:p>
          <a:p>
            <a:pPr lvl="1">
              <a:lnSpc>
                <a:spcPct val="90000"/>
              </a:lnSpc>
            </a:pPr>
            <a:r>
              <a:rPr lang="en-US" altLang="zh-CN" dirty="0">
                <a:solidFill>
                  <a:srgbClr val="FF3300"/>
                </a:solidFill>
              </a:rPr>
              <a:t>(PC)+1→PC</a:t>
            </a:r>
            <a:endParaRPr lang="en-US" altLang="zh-CN" dirty="0">
              <a:solidFill>
                <a:srgbClr val="FF3300"/>
              </a:solidFill>
            </a:endParaRPr>
          </a:p>
          <a:p>
            <a:pPr lvl="1">
              <a:lnSpc>
                <a:spcPct val="90000"/>
              </a:lnSpc>
            </a:pPr>
            <a:r>
              <a:rPr lang="zh-CN" altLang="en-US" dirty="0"/>
              <a:t>二地址指令在计算机中得到了广泛的应用，但是在使用时有一点必须注意：</a:t>
            </a:r>
            <a:r>
              <a:rPr lang="zh-CN" altLang="en-US" dirty="0">
                <a:solidFill>
                  <a:srgbClr val="3333FF"/>
                </a:solidFill>
              </a:rPr>
              <a:t>指令执行之后，</a:t>
            </a:r>
            <a:r>
              <a:rPr lang="en-US" altLang="zh-CN" dirty="0">
                <a:solidFill>
                  <a:srgbClr val="3333FF"/>
                </a:solidFill>
              </a:rPr>
              <a:t>A1</a:t>
            </a:r>
            <a:r>
              <a:rPr lang="zh-CN" altLang="en-US" dirty="0">
                <a:solidFill>
                  <a:srgbClr val="3333FF"/>
                </a:solidFill>
              </a:rPr>
              <a:t>中原存的内容已经被新的运算结果替换了</a:t>
            </a:r>
            <a:r>
              <a:rPr lang="zh-CN" altLang="en-US" dirty="0"/>
              <a:t>。</a:t>
            </a:r>
            <a:endParaRPr lang="zh-CN" altLang="en-US" dirty="0"/>
          </a:p>
        </p:txBody>
      </p:sp>
      <p:grpSp>
        <p:nvGrpSpPr>
          <p:cNvPr id="33796" name="Group 4"/>
          <p:cNvGrpSpPr/>
          <p:nvPr/>
        </p:nvGrpSpPr>
        <p:grpSpPr>
          <a:xfrm>
            <a:off x="1331913" y="2349500"/>
            <a:ext cx="5688012" cy="533400"/>
            <a:chOff x="1344" y="1824"/>
            <a:chExt cx="2064" cy="336"/>
          </a:xfrm>
        </p:grpSpPr>
        <p:sp>
          <p:nvSpPr>
            <p:cNvPr id="33797" name="Rectangle 5"/>
            <p:cNvSpPr/>
            <p:nvPr/>
          </p:nvSpPr>
          <p:spPr>
            <a:xfrm>
              <a:off x="1344" y="1824"/>
              <a:ext cx="2064"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3798" name="Line 6"/>
            <p:cNvSpPr/>
            <p:nvPr/>
          </p:nvSpPr>
          <p:spPr>
            <a:xfrm>
              <a:off x="1968" y="1824"/>
              <a:ext cx="0" cy="336"/>
            </a:xfrm>
            <a:prstGeom prst="line">
              <a:avLst/>
            </a:prstGeom>
            <a:ln w="9525" cap="flat" cmpd="sng">
              <a:solidFill>
                <a:schemeClr val="tx1"/>
              </a:solidFill>
              <a:prstDash val="solid"/>
              <a:headEnd type="none" w="med" len="med"/>
              <a:tailEnd type="none" w="med" len="med"/>
            </a:ln>
          </p:spPr>
        </p:sp>
        <p:sp>
          <p:nvSpPr>
            <p:cNvPr id="33799" name="Line 7"/>
            <p:cNvSpPr/>
            <p:nvPr/>
          </p:nvSpPr>
          <p:spPr>
            <a:xfrm>
              <a:off x="2688" y="1824"/>
              <a:ext cx="0" cy="336"/>
            </a:xfrm>
            <a:prstGeom prst="line">
              <a:avLst/>
            </a:prstGeom>
            <a:ln w="9525" cap="flat" cmpd="sng">
              <a:solidFill>
                <a:schemeClr val="tx1"/>
              </a:solidFill>
              <a:prstDash val="solid"/>
              <a:headEnd type="none" w="med" len="med"/>
              <a:tailEnd type="none" w="med" len="med"/>
            </a:ln>
          </p:spPr>
        </p:sp>
        <p:sp>
          <p:nvSpPr>
            <p:cNvPr id="16392" name="Text Box 8"/>
            <p:cNvSpPr txBox="1">
              <a:spLocks noChangeArrowheads="1"/>
            </p:cNvSpPr>
            <p:nvPr/>
          </p:nvSpPr>
          <p:spPr bwMode="auto">
            <a:xfrm>
              <a:off x="1536"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θ</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6393" name="Text Box 9"/>
            <p:cNvSpPr txBox="1">
              <a:spLocks noChangeArrowheads="1"/>
            </p:cNvSpPr>
            <p:nvPr/>
          </p:nvSpPr>
          <p:spPr bwMode="auto">
            <a:xfrm>
              <a:off x="2784" y="1824"/>
              <a:ext cx="480" cy="327"/>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A2</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6394" name="Text Box 10"/>
            <p:cNvSpPr txBox="1">
              <a:spLocks noChangeArrowheads="1"/>
            </p:cNvSpPr>
            <p:nvPr/>
          </p:nvSpPr>
          <p:spPr bwMode="auto">
            <a:xfrm>
              <a:off x="2160"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A1</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二、地址码</a:t>
            </a:r>
            <a:endParaRPr lang="zh-CN" altLang="en-US" sz="3500" dirty="0"/>
          </a:p>
        </p:txBody>
      </p:sp>
      <p:sp>
        <p:nvSpPr>
          <p:cNvPr id="35843" name="Rectangle 3"/>
          <p:cNvSpPr>
            <a:spLocks noGrp="1"/>
          </p:cNvSpPr>
          <p:nvPr>
            <p:ph idx="1"/>
          </p:nvPr>
        </p:nvSpPr>
        <p:spPr>
          <a:xfrm>
            <a:off x="457200" y="1268413"/>
            <a:ext cx="6994525" cy="4862512"/>
          </a:xfrm>
          <a:ln/>
        </p:spPr>
        <p:txBody>
          <a:bodyPr vert="horz" wrap="square" lIns="91440" tIns="45720" rIns="91440" bIns="45720" anchor="t" anchorCtr="0"/>
          <a:p>
            <a:pPr lvl="1"/>
            <a:r>
              <a:rPr lang="zh-CN" altLang="en-US" sz="3200" dirty="0"/>
              <a:t>二地址指令根据操作数存取的物理位置可分为：</a:t>
            </a:r>
            <a:endParaRPr lang="zh-CN" altLang="en-US" sz="3200" dirty="0"/>
          </a:p>
          <a:p>
            <a:pPr lvl="2"/>
            <a:r>
              <a:rPr lang="en-US" altLang="zh-CN" sz="2800" dirty="0"/>
              <a:t>MM   </a:t>
            </a:r>
            <a:r>
              <a:rPr lang="zh-CN" altLang="en-US" sz="2800" dirty="0"/>
              <a:t>存储器</a:t>
            </a:r>
            <a:r>
              <a:rPr lang="en-US" altLang="zh-CN" sz="2800" dirty="0"/>
              <a:t>-</a:t>
            </a:r>
            <a:r>
              <a:rPr lang="zh-CN" altLang="en-US" sz="2800" dirty="0"/>
              <a:t>存储器类型</a:t>
            </a:r>
            <a:endParaRPr lang="zh-CN" altLang="en-US" sz="2800" dirty="0"/>
          </a:p>
          <a:p>
            <a:pPr lvl="2"/>
            <a:r>
              <a:rPr lang="en-US" altLang="zh-CN" sz="2800" dirty="0"/>
              <a:t>RM   </a:t>
            </a:r>
            <a:r>
              <a:rPr lang="zh-CN" altLang="en-US" sz="2800" dirty="0"/>
              <a:t>寄存器</a:t>
            </a:r>
            <a:r>
              <a:rPr lang="en-US" altLang="zh-CN" sz="2800" dirty="0"/>
              <a:t>-</a:t>
            </a:r>
            <a:r>
              <a:rPr lang="zh-CN" altLang="en-US" sz="2800" dirty="0"/>
              <a:t>存储器类型</a:t>
            </a:r>
            <a:endParaRPr lang="zh-CN" altLang="en-US" sz="2800" dirty="0"/>
          </a:p>
          <a:p>
            <a:pPr lvl="2"/>
            <a:r>
              <a:rPr lang="en-US" altLang="zh-CN" sz="2800" dirty="0"/>
              <a:t>RR   </a:t>
            </a:r>
            <a:r>
              <a:rPr lang="zh-CN" altLang="en-US" sz="2800" dirty="0"/>
              <a:t>寄存器</a:t>
            </a:r>
            <a:r>
              <a:rPr lang="en-US" altLang="zh-CN" sz="2800" dirty="0"/>
              <a:t>-</a:t>
            </a:r>
            <a:r>
              <a:rPr lang="zh-CN" altLang="en-US" sz="2800" dirty="0"/>
              <a:t>寄存器类型	</a:t>
            </a:r>
            <a:endParaRPr lang="zh-CN" altLang="en-US" sz="2800" dirty="0"/>
          </a:p>
        </p:txBody>
      </p:sp>
      <p:sp>
        <p:nvSpPr>
          <p:cNvPr id="35844" name="AutoShape 4"/>
          <p:cNvSpPr/>
          <p:nvPr/>
        </p:nvSpPr>
        <p:spPr>
          <a:xfrm>
            <a:off x="539750" y="2492375"/>
            <a:ext cx="457200" cy="1295400"/>
          </a:xfrm>
          <a:prstGeom prst="upArrow">
            <a:avLst>
              <a:gd name="adj1" fmla="val 50000"/>
              <a:gd name="adj2" fmla="val 70833"/>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5845" name="Text Box 5"/>
          <p:cNvSpPr txBox="1"/>
          <p:nvPr/>
        </p:nvSpPr>
        <p:spPr>
          <a:xfrm>
            <a:off x="0" y="2997200"/>
            <a:ext cx="838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3600" dirty="0">
                <a:latin typeface="Times New Roman" panose="02020603050405020304" pitchFamily="18" charset="0"/>
              </a:rPr>
              <a:t>慢</a:t>
            </a:r>
            <a:endParaRPr lang="zh-CN" altLang="en-US" sz="3600"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二、地址码</a:t>
            </a:r>
            <a:endParaRPr lang="zh-CN" altLang="en-US" sz="3500" dirty="0"/>
          </a:p>
        </p:txBody>
      </p:sp>
      <p:sp>
        <p:nvSpPr>
          <p:cNvPr id="36867" name="Rectangle 3"/>
          <p:cNvSpPr>
            <a:spLocks noGrp="1"/>
          </p:cNvSpPr>
          <p:nvPr>
            <p:ph idx="1"/>
          </p:nvPr>
        </p:nvSpPr>
        <p:spPr>
          <a:xfrm>
            <a:off x="457200" y="1341438"/>
            <a:ext cx="8507413" cy="3886200"/>
          </a:xfrm>
          <a:ln/>
        </p:spPr>
        <p:txBody>
          <a:bodyPr vert="horz" wrap="square" lIns="91440" tIns="45720" rIns="91440" bIns="45720" anchor="t" anchorCtr="0"/>
          <a:p>
            <a:pPr>
              <a:lnSpc>
                <a:spcPct val="90000"/>
              </a:lnSpc>
            </a:pPr>
            <a:r>
              <a:rPr lang="zh-CN" altLang="en-US" dirty="0">
                <a:solidFill>
                  <a:srgbClr val="FF3300"/>
                </a:solidFill>
              </a:rPr>
              <a:t>一地址指令</a:t>
            </a:r>
            <a:endParaRPr lang="zh-CN" altLang="en-US" dirty="0">
              <a:solidFill>
                <a:srgbClr val="FF3300"/>
              </a:solidFill>
            </a:endParaRPr>
          </a:p>
          <a:p>
            <a:pPr lvl="1">
              <a:lnSpc>
                <a:spcPct val="90000"/>
              </a:lnSpc>
            </a:pPr>
            <a:r>
              <a:rPr lang="zh-CN" altLang="en-US" dirty="0"/>
              <a:t>指令格式为：</a:t>
            </a:r>
            <a:endParaRPr lang="zh-CN" altLang="en-US" dirty="0"/>
          </a:p>
          <a:p>
            <a:pPr lvl="1">
              <a:lnSpc>
                <a:spcPct val="90000"/>
              </a:lnSpc>
            </a:pPr>
            <a:endParaRPr lang="zh-CN" altLang="en-US" dirty="0"/>
          </a:p>
          <a:p>
            <a:pPr lvl="1">
              <a:lnSpc>
                <a:spcPct val="90000"/>
              </a:lnSpc>
            </a:pPr>
            <a:endParaRPr lang="zh-CN" altLang="en-US" dirty="0"/>
          </a:p>
          <a:p>
            <a:pPr lvl="1">
              <a:lnSpc>
                <a:spcPct val="90000"/>
              </a:lnSpc>
            </a:pPr>
            <a:r>
              <a:rPr lang="zh-CN" altLang="en-US" dirty="0"/>
              <a:t> 操作码</a:t>
            </a:r>
            <a:r>
              <a:rPr lang="en-US" altLang="zh-CN" dirty="0"/>
              <a:t>θ     </a:t>
            </a:r>
            <a:r>
              <a:rPr lang="zh-CN" altLang="en-US" dirty="0"/>
              <a:t>第一操作数</a:t>
            </a:r>
            <a:r>
              <a:rPr lang="en-US" altLang="zh-CN" dirty="0"/>
              <a:t>A1</a:t>
            </a:r>
            <a:endParaRPr lang="en-US" altLang="zh-CN" dirty="0"/>
          </a:p>
          <a:p>
            <a:pPr lvl="1">
              <a:lnSpc>
                <a:spcPct val="90000"/>
              </a:lnSpc>
            </a:pPr>
            <a:r>
              <a:rPr lang="zh-CN" altLang="en-US" dirty="0"/>
              <a:t>功能描述：</a:t>
            </a:r>
            <a:endParaRPr lang="zh-CN" altLang="en-US" dirty="0"/>
          </a:p>
          <a:p>
            <a:pPr lvl="1">
              <a:lnSpc>
                <a:spcPct val="90000"/>
              </a:lnSpc>
            </a:pPr>
            <a:r>
              <a:rPr lang="en-US" altLang="zh-CN" dirty="0">
                <a:solidFill>
                  <a:srgbClr val="3333FF"/>
                </a:solidFill>
              </a:rPr>
              <a:t>(AC)θ(A1) →A1</a:t>
            </a:r>
            <a:endParaRPr lang="en-US" altLang="zh-CN" dirty="0">
              <a:solidFill>
                <a:srgbClr val="3333FF"/>
              </a:solidFill>
            </a:endParaRPr>
          </a:p>
          <a:p>
            <a:pPr lvl="1">
              <a:lnSpc>
                <a:spcPct val="90000"/>
              </a:lnSpc>
            </a:pPr>
            <a:r>
              <a:rPr lang="en-US" altLang="zh-CN" dirty="0">
                <a:solidFill>
                  <a:srgbClr val="3333FF"/>
                </a:solidFill>
              </a:rPr>
              <a:t>(PC)+1→PC</a:t>
            </a:r>
            <a:endParaRPr lang="en-US" altLang="zh-CN" dirty="0">
              <a:solidFill>
                <a:srgbClr val="3333FF"/>
              </a:solidFill>
            </a:endParaRPr>
          </a:p>
          <a:p>
            <a:pPr lvl="1">
              <a:lnSpc>
                <a:spcPct val="90000"/>
              </a:lnSpc>
            </a:pPr>
            <a:r>
              <a:rPr lang="zh-CN" altLang="en-US" dirty="0"/>
              <a:t>单操作数运算指令，如“</a:t>
            </a:r>
            <a:r>
              <a:rPr lang="en-US" altLang="zh-CN" dirty="0"/>
              <a:t>+1”</a:t>
            </a:r>
            <a:r>
              <a:rPr lang="zh-CN" altLang="en-US" dirty="0"/>
              <a:t>、“</a:t>
            </a:r>
            <a:r>
              <a:rPr lang="en-US" altLang="zh-CN" dirty="0"/>
              <a:t>-1”</a:t>
            </a:r>
            <a:r>
              <a:rPr lang="zh-CN" altLang="en-US" dirty="0"/>
              <a:t>、“求反”</a:t>
            </a:r>
            <a:endParaRPr lang="zh-CN" altLang="en-US" dirty="0"/>
          </a:p>
          <a:p>
            <a:pPr lvl="1">
              <a:lnSpc>
                <a:spcPct val="90000"/>
              </a:lnSpc>
            </a:pPr>
            <a:r>
              <a:rPr lang="zh-CN" altLang="en-US" dirty="0"/>
              <a:t>指令中给出一个源操作数的地址</a:t>
            </a:r>
            <a:endParaRPr lang="zh-CN" altLang="en-US" dirty="0"/>
          </a:p>
        </p:txBody>
      </p:sp>
      <p:grpSp>
        <p:nvGrpSpPr>
          <p:cNvPr id="36868" name="Group 4"/>
          <p:cNvGrpSpPr/>
          <p:nvPr/>
        </p:nvGrpSpPr>
        <p:grpSpPr>
          <a:xfrm>
            <a:off x="1331913" y="2390775"/>
            <a:ext cx="4032250" cy="533400"/>
            <a:chOff x="1392" y="1824"/>
            <a:chExt cx="1392" cy="336"/>
          </a:xfrm>
        </p:grpSpPr>
        <p:sp>
          <p:nvSpPr>
            <p:cNvPr id="36869" name="Rectangle 5"/>
            <p:cNvSpPr/>
            <p:nvPr/>
          </p:nvSpPr>
          <p:spPr>
            <a:xfrm>
              <a:off x="1392" y="1824"/>
              <a:ext cx="139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6870" name="Line 6"/>
            <p:cNvSpPr/>
            <p:nvPr/>
          </p:nvSpPr>
          <p:spPr>
            <a:xfrm>
              <a:off x="2016" y="1824"/>
              <a:ext cx="0" cy="336"/>
            </a:xfrm>
            <a:prstGeom prst="line">
              <a:avLst/>
            </a:prstGeom>
            <a:ln w="9525" cap="flat" cmpd="sng">
              <a:solidFill>
                <a:schemeClr val="tx1"/>
              </a:solidFill>
              <a:prstDash val="solid"/>
              <a:headEnd type="none" w="med" len="med"/>
              <a:tailEnd type="none" w="med" len="med"/>
            </a:ln>
          </p:spPr>
        </p:sp>
        <p:sp>
          <p:nvSpPr>
            <p:cNvPr id="18439" name="Text Box 7"/>
            <p:cNvSpPr txBox="1">
              <a:spLocks noChangeArrowheads="1"/>
            </p:cNvSpPr>
            <p:nvPr/>
          </p:nvSpPr>
          <p:spPr bwMode="auto">
            <a:xfrm>
              <a:off x="1584"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θ</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sp>
          <p:nvSpPr>
            <p:cNvPr id="18440" name="Text Box 8"/>
            <p:cNvSpPr txBox="1">
              <a:spLocks noChangeArrowheads="1"/>
            </p:cNvSpPr>
            <p:nvPr/>
          </p:nvSpPr>
          <p:spPr bwMode="auto">
            <a:xfrm>
              <a:off x="2208" y="1824"/>
              <a:ext cx="480"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A1</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468313" y="473075"/>
            <a:ext cx="7532687" cy="723900"/>
          </a:xfrm>
          <a:ln/>
        </p:spPr>
        <p:txBody>
          <a:bodyPr vert="horz" wrap="square" lIns="91440" tIns="45720" rIns="91440" bIns="45720" anchor="ctr" anchorCtr="0"/>
          <a:p>
            <a:r>
              <a:rPr lang="zh-CN" altLang="en-US" sz="3500" dirty="0"/>
              <a:t>二、地址码</a:t>
            </a:r>
            <a:endParaRPr lang="zh-CN" altLang="en-US" sz="3500" dirty="0"/>
          </a:p>
        </p:txBody>
      </p:sp>
      <p:sp>
        <p:nvSpPr>
          <p:cNvPr id="37891" name="Rectangle 3"/>
          <p:cNvSpPr>
            <a:spLocks noGrp="1"/>
          </p:cNvSpPr>
          <p:nvPr>
            <p:ph idx="1"/>
          </p:nvPr>
        </p:nvSpPr>
        <p:spPr>
          <a:xfrm>
            <a:off x="457200" y="1412875"/>
            <a:ext cx="8229600" cy="3886200"/>
          </a:xfrm>
          <a:ln/>
        </p:spPr>
        <p:txBody>
          <a:bodyPr vert="horz" wrap="square" lIns="91440" tIns="45720" rIns="91440" bIns="45720" anchor="t" anchorCtr="0"/>
          <a:p>
            <a:r>
              <a:rPr lang="zh-CN" altLang="en-US" sz="3400" dirty="0">
                <a:solidFill>
                  <a:srgbClr val="FF3300"/>
                </a:solidFill>
              </a:rPr>
              <a:t>零地址指令 </a:t>
            </a:r>
            <a:r>
              <a:rPr lang="zh-CN" altLang="en-US" sz="2100" dirty="0"/>
              <a:t> </a:t>
            </a:r>
            <a:endParaRPr lang="zh-CN" altLang="en-US" sz="2100" dirty="0"/>
          </a:p>
          <a:p>
            <a:pPr lvl="1"/>
            <a:r>
              <a:rPr lang="zh-CN" altLang="en-US" sz="3000" dirty="0"/>
              <a:t>其格式为：</a:t>
            </a:r>
            <a:endParaRPr lang="zh-CN" altLang="en-US" sz="3000" dirty="0"/>
          </a:p>
          <a:p>
            <a:pPr lvl="1"/>
            <a:endParaRPr lang="zh-CN" altLang="en-US" sz="3000" dirty="0"/>
          </a:p>
          <a:p>
            <a:pPr lvl="1"/>
            <a:endParaRPr lang="zh-CN" altLang="en-US" sz="3000" dirty="0"/>
          </a:p>
          <a:p>
            <a:pPr lvl="1"/>
            <a:r>
              <a:rPr lang="zh-CN" altLang="en-US" sz="3000" dirty="0"/>
              <a:t> 操作码</a:t>
            </a:r>
            <a:r>
              <a:rPr lang="en-US" altLang="zh-CN" sz="3000" dirty="0"/>
              <a:t>θ</a:t>
            </a:r>
            <a:endParaRPr lang="en-US" altLang="zh-CN" sz="3000" dirty="0"/>
          </a:p>
          <a:p>
            <a:pPr lvl="1"/>
            <a:r>
              <a:rPr lang="en-US" altLang="zh-CN" sz="3000" dirty="0"/>
              <a:t>“</a:t>
            </a:r>
            <a:r>
              <a:rPr lang="zh-CN" altLang="en-US" sz="3000" dirty="0"/>
              <a:t>停机”、“空操作”、“清除”等</a:t>
            </a:r>
            <a:r>
              <a:rPr lang="zh-CN" altLang="en-US" sz="3000" dirty="0">
                <a:solidFill>
                  <a:srgbClr val="FF0000"/>
                </a:solidFill>
              </a:rPr>
              <a:t>控制类</a:t>
            </a:r>
            <a:r>
              <a:rPr lang="zh-CN" altLang="en-US" sz="3000" dirty="0"/>
              <a:t>指令。</a:t>
            </a:r>
            <a:endParaRPr lang="zh-CN" altLang="en-US" sz="3000" dirty="0"/>
          </a:p>
        </p:txBody>
      </p:sp>
      <p:grpSp>
        <p:nvGrpSpPr>
          <p:cNvPr id="37892" name="Group 4"/>
          <p:cNvGrpSpPr/>
          <p:nvPr/>
        </p:nvGrpSpPr>
        <p:grpSpPr>
          <a:xfrm>
            <a:off x="2057400" y="2751138"/>
            <a:ext cx="1001713" cy="533400"/>
            <a:chOff x="1344" y="1632"/>
            <a:chExt cx="960" cy="336"/>
          </a:xfrm>
        </p:grpSpPr>
        <p:sp>
          <p:nvSpPr>
            <p:cNvPr id="37893" name="Rectangle 5"/>
            <p:cNvSpPr/>
            <p:nvPr/>
          </p:nvSpPr>
          <p:spPr>
            <a:xfrm>
              <a:off x="1344" y="1632"/>
              <a:ext cx="960"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9462" name="Text Box 6"/>
            <p:cNvSpPr txBox="1">
              <a:spLocks noChangeArrowheads="1"/>
            </p:cNvSpPr>
            <p:nvPr/>
          </p:nvSpPr>
          <p:spPr bwMode="auto">
            <a:xfrm>
              <a:off x="1489" y="1632"/>
              <a:ext cx="479" cy="327"/>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rPr>
                <a:t>θ</a:t>
              </a:r>
              <a:endParaRPr kumimoji="1" lang="en-US" altLang="zh-CN" sz="2800" kern="1200" cap="none" spc="0" normalizeH="0" baseline="0" noProof="0">
                <a:solidFill>
                  <a:srgbClr val="3333FF"/>
                </a:solidFill>
                <a:effectLst>
                  <a:outerShdw blurRad="38100" dist="38100" dir="2700000" algn="tl">
                    <a:srgbClr val="C0C0C0"/>
                  </a:outerShdw>
                </a:effectLst>
                <a:latin typeface="Arial Black" panose="020B0A04020102020204" pitchFamily="34" charset="0"/>
                <a:ea typeface="宋体" panose="02010600030101010101" pitchFamily="2" charset="-122"/>
                <a:cs typeface="+mn-c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3"/>
          <p:cNvSpPr txBox="1">
            <a:spLocks noGrp="1"/>
          </p:cNvSpPr>
          <p:nvPr>
            <p:ph type="ftr" sz="quarter"/>
          </p:nvPr>
        </p:nvSpPr>
        <p:spPr>
          <a:xfrm>
            <a:off x="0" y="0"/>
            <a:ext cx="0" cy="0"/>
          </a:xfrm>
          <a:prstGeom prst="rect">
            <a:avLst/>
          </a:prstGeom>
          <a:noFill/>
          <a:ln w="0">
            <a:noFill/>
          </a:ln>
        </p:spPr>
        <p:txBody>
          <a:bodyPr/>
          <a:p>
            <a:pPr marL="0" indent="0" defTabSz="914400">
              <a:spcBef>
                <a:spcPct val="50000"/>
              </a:spcBef>
              <a:buClrTx/>
              <a:buSzTx/>
              <a:buFont typeface="Arial" panose="020B0604020202020204" pitchFamily="34" charset="0"/>
              <a:buNone/>
              <a:tabLst>
                <a:tab pos="0" algn="l"/>
              </a:tabLst>
            </a:pPr>
            <a:endParaRPr lang="zh-CN" altLang="en-US" sz="1600" b="1" dirty="0">
              <a:solidFill>
                <a:srgbClr val="0099FF"/>
              </a:solidFill>
              <a:latin typeface="楷体_GB2312"/>
              <a:ea typeface="楷体_GB2312"/>
            </a:endParaRPr>
          </a:p>
        </p:txBody>
      </p:sp>
      <p:sp>
        <p:nvSpPr>
          <p:cNvPr id="38915" name="矩形 7"/>
          <p:cNvSpPr/>
          <p:nvPr/>
        </p:nvSpPr>
        <p:spPr>
          <a:xfrm>
            <a:off x="1476375" y="1628775"/>
            <a:ext cx="6624638" cy="3786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400" dirty="0">
                <a:solidFill>
                  <a:srgbClr val="1F3D4D"/>
                </a:solidFill>
              </a:rPr>
              <a:t>设计某指令系统时，假设采用</a:t>
            </a:r>
            <a:r>
              <a:rPr lang="en-US" altLang="zh-CN" sz="2400" dirty="0">
                <a:solidFill>
                  <a:srgbClr val="1F3D4D"/>
                </a:solidFill>
              </a:rPr>
              <a:t>16</a:t>
            </a:r>
            <a:r>
              <a:rPr lang="zh-CN" altLang="en-US" sz="2400" dirty="0">
                <a:solidFill>
                  <a:srgbClr val="1F3D4D"/>
                </a:solidFill>
              </a:rPr>
              <a:t>位定长指令字格式，操作码使用扩展编码方式，地址码为</a:t>
            </a:r>
            <a:r>
              <a:rPr lang="en-US" altLang="zh-CN" sz="2400" dirty="0">
                <a:solidFill>
                  <a:srgbClr val="1F3D4D"/>
                </a:solidFill>
              </a:rPr>
              <a:t>6</a:t>
            </a:r>
            <a:r>
              <a:rPr lang="zh-CN" altLang="en-US" sz="2400" dirty="0">
                <a:solidFill>
                  <a:srgbClr val="1F3D4D"/>
                </a:solidFill>
              </a:rPr>
              <a:t>位，包含零地址、一地址和二地址</a:t>
            </a:r>
            <a:r>
              <a:rPr lang="en-US" altLang="zh-CN" sz="2400" dirty="0">
                <a:solidFill>
                  <a:srgbClr val="1F3D4D"/>
                </a:solidFill>
              </a:rPr>
              <a:t>3</a:t>
            </a:r>
            <a:r>
              <a:rPr lang="zh-CN" altLang="en-US" sz="2400" dirty="0">
                <a:solidFill>
                  <a:srgbClr val="1F3D4D"/>
                </a:solidFill>
              </a:rPr>
              <a:t>种格式的指令。若二地址指令有</a:t>
            </a:r>
            <a:r>
              <a:rPr lang="en-US" altLang="zh-CN" sz="2400" dirty="0">
                <a:solidFill>
                  <a:srgbClr val="1F3D4D"/>
                </a:solidFill>
              </a:rPr>
              <a:t>12</a:t>
            </a:r>
            <a:r>
              <a:rPr lang="zh-CN" altLang="en-US" sz="2400" dirty="0">
                <a:solidFill>
                  <a:srgbClr val="1F3D4D"/>
                </a:solidFill>
              </a:rPr>
              <a:t>条，一地址指令有</a:t>
            </a:r>
            <a:r>
              <a:rPr lang="en-US" altLang="zh-CN" sz="2400" dirty="0">
                <a:solidFill>
                  <a:srgbClr val="1F3D4D"/>
                </a:solidFill>
              </a:rPr>
              <a:t>254</a:t>
            </a:r>
            <a:r>
              <a:rPr lang="zh-CN" altLang="en-US" sz="2400" dirty="0">
                <a:solidFill>
                  <a:srgbClr val="1F3D4D"/>
                </a:solidFill>
              </a:rPr>
              <a:t>条，则零地址指令的条数最多为（ ）。</a:t>
            </a:r>
            <a:endParaRPr lang="zh-CN" altLang="en-US" sz="2400" dirty="0">
              <a:solidFill>
                <a:srgbClr val="1F3D4D"/>
              </a:solidFill>
            </a:endParaRPr>
          </a:p>
          <a:p>
            <a:pPr marL="0" lvl="0" indent="0">
              <a:spcBef>
                <a:spcPct val="0"/>
              </a:spcBef>
              <a:buClrTx/>
              <a:buSzTx/>
              <a:buFontTx/>
              <a:buNone/>
            </a:pPr>
            <a:br>
              <a:rPr lang="zh-CN" altLang="en-US" sz="2400" dirty="0">
                <a:solidFill>
                  <a:srgbClr val="1F3D4D"/>
                </a:solidFill>
              </a:rPr>
            </a:br>
            <a:r>
              <a:rPr lang="en-US" altLang="zh-CN" sz="2400" dirty="0">
                <a:solidFill>
                  <a:srgbClr val="1F3D4D"/>
                </a:solidFill>
              </a:rPr>
              <a:t>A.0</a:t>
            </a:r>
            <a:br>
              <a:rPr lang="en-US" altLang="zh-CN" sz="2400" dirty="0">
                <a:solidFill>
                  <a:srgbClr val="1F3D4D"/>
                </a:solidFill>
              </a:rPr>
            </a:br>
            <a:r>
              <a:rPr lang="en-US" altLang="zh-CN" sz="2400" dirty="0">
                <a:solidFill>
                  <a:srgbClr val="1F3D4D"/>
                </a:solidFill>
              </a:rPr>
              <a:t>B.2</a:t>
            </a:r>
            <a:br>
              <a:rPr lang="en-US" altLang="zh-CN" sz="2400" dirty="0">
                <a:solidFill>
                  <a:srgbClr val="1F3D4D"/>
                </a:solidFill>
              </a:rPr>
            </a:br>
            <a:r>
              <a:rPr lang="en-US" altLang="zh-CN" sz="2400" dirty="0">
                <a:solidFill>
                  <a:srgbClr val="1F3D4D"/>
                </a:solidFill>
              </a:rPr>
              <a:t>C.64</a:t>
            </a:r>
            <a:br>
              <a:rPr lang="en-US" altLang="zh-CN" sz="2400" dirty="0">
                <a:solidFill>
                  <a:srgbClr val="1F3D4D"/>
                </a:solidFill>
              </a:rPr>
            </a:br>
            <a:r>
              <a:rPr lang="en-US" altLang="zh-CN" sz="2400" dirty="0">
                <a:solidFill>
                  <a:srgbClr val="1F3D4D"/>
                </a:solidFill>
              </a:rPr>
              <a:t>D.128</a:t>
            </a:r>
            <a:endParaRPr lang="en-US" altLang="zh-CN" sz="2400" dirty="0">
              <a:solidFill>
                <a:srgbClr val="1F3D4D"/>
              </a:solidFill>
            </a:endParaRPr>
          </a:p>
        </p:txBody>
      </p:sp>
      <p:sp>
        <p:nvSpPr>
          <p:cNvPr id="38916" name="矩形 8"/>
          <p:cNvSpPr/>
          <p:nvPr/>
        </p:nvSpPr>
        <p:spPr>
          <a:xfrm>
            <a:off x="806450" y="1125538"/>
            <a:ext cx="1057275" cy="3413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90000"/>
              </a:lnSpc>
              <a:spcBef>
                <a:spcPct val="0"/>
              </a:spcBef>
              <a:buClrTx/>
              <a:buSzTx/>
              <a:buFontTx/>
              <a:buNone/>
            </a:pPr>
            <a:r>
              <a:rPr lang="en-US" altLang="zh-CN" sz="1800" dirty="0">
                <a:solidFill>
                  <a:srgbClr val="FF3300"/>
                </a:solidFill>
              </a:rPr>
              <a:t>22</a:t>
            </a:r>
            <a:r>
              <a:rPr lang="zh-CN" altLang="en-US" sz="1800" dirty="0">
                <a:solidFill>
                  <a:srgbClr val="FF3300"/>
                </a:solidFill>
              </a:rPr>
              <a:t>年</a:t>
            </a:r>
            <a:r>
              <a:rPr lang="en-US" altLang="zh-CN" sz="1800" dirty="0">
                <a:solidFill>
                  <a:srgbClr val="FF3300"/>
                </a:solidFill>
              </a:rPr>
              <a:t>408</a:t>
            </a:r>
            <a:endParaRPr lang="zh-CN" altLang="en-US" sz="1800" dirty="0">
              <a:solidFill>
                <a:srgbClr val="FF3300"/>
              </a:solidFill>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3"/>
          <p:cNvSpPr txBox="1">
            <a:spLocks noGrp="1"/>
          </p:cNvSpPr>
          <p:nvPr>
            <p:ph type="ftr" sz="quarter"/>
          </p:nvPr>
        </p:nvSpPr>
        <p:spPr>
          <a:xfrm>
            <a:off x="0" y="0"/>
            <a:ext cx="0" cy="0"/>
          </a:xfrm>
          <a:prstGeom prst="rect">
            <a:avLst/>
          </a:prstGeom>
          <a:noFill/>
          <a:ln w="0">
            <a:noFill/>
          </a:ln>
        </p:spPr>
        <p:txBody>
          <a:bodyPr/>
          <a:p>
            <a:pPr marL="0" indent="0" defTabSz="914400">
              <a:spcBef>
                <a:spcPct val="50000"/>
              </a:spcBef>
              <a:buClrTx/>
              <a:buSzTx/>
              <a:buFont typeface="Arial" panose="020B0604020202020204" pitchFamily="34" charset="0"/>
              <a:buNone/>
              <a:tabLst>
                <a:tab pos="0" algn="l"/>
              </a:tabLst>
            </a:pPr>
            <a:endParaRPr lang="zh-CN" altLang="en-US" sz="1600" b="1" dirty="0">
              <a:solidFill>
                <a:srgbClr val="0099FF"/>
              </a:solidFill>
              <a:latin typeface="楷体_GB2312"/>
              <a:ea typeface="楷体_GB2312"/>
            </a:endParaRPr>
          </a:p>
        </p:txBody>
      </p:sp>
      <p:sp>
        <p:nvSpPr>
          <p:cNvPr id="40963" name="矩形 8"/>
          <p:cNvSpPr/>
          <p:nvPr/>
        </p:nvSpPr>
        <p:spPr>
          <a:xfrm>
            <a:off x="806450" y="1125538"/>
            <a:ext cx="1057275" cy="3413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90000"/>
              </a:lnSpc>
              <a:spcBef>
                <a:spcPct val="0"/>
              </a:spcBef>
              <a:buClrTx/>
              <a:buSzTx/>
              <a:buFontTx/>
              <a:buNone/>
            </a:pPr>
            <a:r>
              <a:rPr lang="en-US" altLang="zh-CN" sz="1800" dirty="0">
                <a:solidFill>
                  <a:srgbClr val="FF3300"/>
                </a:solidFill>
              </a:rPr>
              <a:t>17</a:t>
            </a:r>
            <a:r>
              <a:rPr lang="zh-CN" altLang="en-US" sz="1800" dirty="0">
                <a:solidFill>
                  <a:srgbClr val="FF3300"/>
                </a:solidFill>
              </a:rPr>
              <a:t>年</a:t>
            </a:r>
            <a:r>
              <a:rPr lang="en-US" altLang="zh-CN" sz="1800" dirty="0">
                <a:solidFill>
                  <a:srgbClr val="FF3300"/>
                </a:solidFill>
              </a:rPr>
              <a:t>408</a:t>
            </a:r>
            <a:endParaRPr lang="zh-CN" altLang="en-US" sz="1800" dirty="0">
              <a:solidFill>
                <a:srgbClr val="FF3300"/>
              </a:solidFill>
            </a:endParaRPr>
          </a:p>
        </p:txBody>
      </p:sp>
      <p:sp>
        <p:nvSpPr>
          <p:cNvPr id="40964" name="矩形 9"/>
          <p:cNvSpPr/>
          <p:nvPr/>
        </p:nvSpPr>
        <p:spPr>
          <a:xfrm>
            <a:off x="971550" y="1700213"/>
            <a:ext cx="7272338" cy="35401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800" dirty="0">
                <a:solidFill>
                  <a:srgbClr val="000000"/>
                </a:solidFill>
                <a:latin typeface="Helvetica Neue"/>
              </a:rPr>
              <a:t>某计算机按字节编址，指令字长固定且只有两种指令格式，其中三地址指令</a:t>
            </a:r>
            <a:r>
              <a:rPr lang="en-US" altLang="zh-CN" sz="2800" dirty="0">
                <a:solidFill>
                  <a:srgbClr val="000000"/>
                </a:solidFill>
                <a:latin typeface="Helvetica Neue"/>
              </a:rPr>
              <a:t>29</a:t>
            </a:r>
            <a:r>
              <a:rPr lang="zh-CN" altLang="en-US" sz="2800" dirty="0">
                <a:solidFill>
                  <a:srgbClr val="000000"/>
                </a:solidFill>
                <a:latin typeface="Helvetica Neue"/>
              </a:rPr>
              <a:t>条， 二地址指令</a:t>
            </a:r>
            <a:r>
              <a:rPr lang="en-US" altLang="zh-CN" sz="2800" dirty="0">
                <a:solidFill>
                  <a:srgbClr val="000000"/>
                </a:solidFill>
                <a:latin typeface="Helvetica Neue"/>
              </a:rPr>
              <a:t>107</a:t>
            </a:r>
            <a:r>
              <a:rPr lang="zh-CN" altLang="en-US" sz="2800" dirty="0">
                <a:solidFill>
                  <a:srgbClr val="000000"/>
                </a:solidFill>
                <a:latin typeface="Helvetica Neue"/>
              </a:rPr>
              <a:t>条， 每个地址字段为</a:t>
            </a:r>
            <a:r>
              <a:rPr lang="en-US" altLang="zh-CN" sz="2800" dirty="0">
                <a:solidFill>
                  <a:srgbClr val="000000"/>
                </a:solidFill>
                <a:latin typeface="Helvetica Neue"/>
              </a:rPr>
              <a:t>6</a:t>
            </a:r>
            <a:r>
              <a:rPr lang="zh-CN" altLang="en-US" sz="2800" dirty="0">
                <a:solidFill>
                  <a:srgbClr val="000000"/>
                </a:solidFill>
                <a:latin typeface="Helvetica Neue"/>
              </a:rPr>
              <a:t>位，则指令字长至少应该是（  ）。</a:t>
            </a:r>
            <a:endParaRPr lang="zh-CN" altLang="en-US" sz="2800" dirty="0">
              <a:solidFill>
                <a:srgbClr val="000000"/>
              </a:solidFill>
              <a:latin typeface="Helvetica Neue"/>
            </a:endParaRPr>
          </a:p>
          <a:p>
            <a:pPr marL="0" lvl="0" indent="0">
              <a:spcBef>
                <a:spcPct val="0"/>
              </a:spcBef>
              <a:buClrTx/>
              <a:buSzTx/>
              <a:buFontTx/>
              <a:buNone/>
            </a:pPr>
            <a:r>
              <a:rPr lang="en-US" altLang="zh-CN" sz="2800" dirty="0">
                <a:solidFill>
                  <a:srgbClr val="000000"/>
                </a:solidFill>
                <a:latin typeface="Helvetica Neue"/>
              </a:rPr>
              <a:t>A.24</a:t>
            </a:r>
            <a:r>
              <a:rPr lang="zh-CN" altLang="en-US" sz="2800" dirty="0">
                <a:solidFill>
                  <a:srgbClr val="000000"/>
                </a:solidFill>
                <a:latin typeface="Helvetica Neue"/>
              </a:rPr>
              <a:t>位</a:t>
            </a:r>
            <a:endParaRPr lang="zh-CN" altLang="en-US" sz="2800" dirty="0">
              <a:solidFill>
                <a:srgbClr val="000000"/>
              </a:solidFill>
              <a:latin typeface="Helvetica Neue"/>
            </a:endParaRPr>
          </a:p>
          <a:p>
            <a:pPr marL="0" lvl="0" indent="0">
              <a:spcBef>
                <a:spcPct val="0"/>
              </a:spcBef>
              <a:buClrTx/>
              <a:buSzTx/>
              <a:buFontTx/>
              <a:buNone/>
            </a:pPr>
            <a:r>
              <a:rPr lang="en-US" altLang="zh-CN" sz="2800" dirty="0">
                <a:solidFill>
                  <a:srgbClr val="000000"/>
                </a:solidFill>
                <a:latin typeface="Helvetica Neue"/>
              </a:rPr>
              <a:t>B.26</a:t>
            </a:r>
            <a:r>
              <a:rPr lang="zh-CN" altLang="en-US" sz="2800" dirty="0">
                <a:solidFill>
                  <a:srgbClr val="000000"/>
                </a:solidFill>
                <a:latin typeface="Helvetica Neue"/>
              </a:rPr>
              <a:t>位</a:t>
            </a:r>
            <a:endParaRPr lang="zh-CN" altLang="en-US" sz="2800" dirty="0">
              <a:solidFill>
                <a:srgbClr val="000000"/>
              </a:solidFill>
              <a:latin typeface="Helvetica Neue"/>
            </a:endParaRPr>
          </a:p>
          <a:p>
            <a:pPr marL="0" lvl="0" indent="0">
              <a:spcBef>
                <a:spcPct val="0"/>
              </a:spcBef>
              <a:buClrTx/>
              <a:buSzTx/>
              <a:buFontTx/>
              <a:buNone/>
            </a:pPr>
            <a:r>
              <a:rPr lang="en-US" altLang="zh-CN" sz="2800" dirty="0">
                <a:solidFill>
                  <a:srgbClr val="000000"/>
                </a:solidFill>
                <a:latin typeface="Helvetica Neue"/>
              </a:rPr>
              <a:t>C.28</a:t>
            </a:r>
            <a:r>
              <a:rPr lang="zh-CN" altLang="en-US" sz="2800" dirty="0">
                <a:solidFill>
                  <a:srgbClr val="000000"/>
                </a:solidFill>
                <a:latin typeface="Helvetica Neue"/>
              </a:rPr>
              <a:t>位</a:t>
            </a:r>
            <a:endParaRPr lang="zh-CN" altLang="en-US" sz="2800" dirty="0">
              <a:solidFill>
                <a:srgbClr val="000000"/>
              </a:solidFill>
              <a:latin typeface="Helvetica Neue"/>
            </a:endParaRPr>
          </a:p>
          <a:p>
            <a:pPr marL="0" lvl="0" indent="0">
              <a:spcBef>
                <a:spcPct val="0"/>
              </a:spcBef>
              <a:buClrTx/>
              <a:buSzTx/>
              <a:buFontTx/>
              <a:buNone/>
            </a:pPr>
            <a:r>
              <a:rPr lang="en-US" altLang="zh-CN" sz="2800" dirty="0">
                <a:solidFill>
                  <a:srgbClr val="000000"/>
                </a:solidFill>
                <a:latin typeface="Helvetica Neue"/>
              </a:rPr>
              <a:t>D.32</a:t>
            </a:r>
            <a:r>
              <a:rPr lang="zh-CN" altLang="en-US" sz="2800" dirty="0">
                <a:solidFill>
                  <a:srgbClr val="000000"/>
                </a:solidFill>
                <a:latin typeface="Helvetica Neue"/>
              </a:rPr>
              <a:t>位</a:t>
            </a:r>
            <a:endParaRPr lang="zh-CN" altLang="en-US" sz="2800" dirty="0">
              <a:solidFill>
                <a:srgbClr val="000000"/>
              </a:solidFill>
              <a:latin typeface="Helvetica Neue"/>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468313" y="328613"/>
            <a:ext cx="7532687" cy="723900"/>
          </a:xfrm>
          <a:ln/>
        </p:spPr>
        <p:txBody>
          <a:bodyPr vert="horz" wrap="square" lIns="91440" tIns="45720" rIns="91440" bIns="45720" anchor="ctr" anchorCtr="0"/>
          <a:p>
            <a:r>
              <a:rPr lang="zh-CN" altLang="en-US" sz="3500" dirty="0">
                <a:latin typeface="宋体" panose="02010600030101010101" pitchFamily="2" charset="-122"/>
                <a:cs typeface="Times New Roman" panose="02020603050405020304" pitchFamily="18" charset="0"/>
              </a:rPr>
              <a:t>三</a:t>
            </a:r>
            <a:r>
              <a:rPr lang="zh-CN" altLang="en-US" sz="3500" dirty="0">
                <a:latin typeface="宋体" panose="02010600030101010101" pitchFamily="2" charset="-122"/>
              </a:rPr>
              <a:t>、指令长度</a:t>
            </a:r>
            <a:endParaRPr lang="zh-CN" altLang="en-US" sz="3500" dirty="0">
              <a:latin typeface="宋体" panose="02010600030101010101" pitchFamily="2" charset="-122"/>
              <a:ea typeface="Times New Roman" panose="02020603050405020304" pitchFamily="18" charset="0"/>
            </a:endParaRPr>
          </a:p>
        </p:txBody>
      </p:sp>
      <p:sp>
        <p:nvSpPr>
          <p:cNvPr id="43011" name="Rectangle 3"/>
          <p:cNvSpPr>
            <a:spLocks noGrp="1"/>
          </p:cNvSpPr>
          <p:nvPr>
            <p:ph idx="1"/>
          </p:nvPr>
        </p:nvSpPr>
        <p:spPr>
          <a:xfrm>
            <a:off x="457200" y="981075"/>
            <a:ext cx="8229600" cy="5256213"/>
          </a:xfrm>
          <a:ln/>
        </p:spPr>
        <p:txBody>
          <a:bodyPr vert="horz" wrap="square" lIns="91440" tIns="45720" rIns="91440" bIns="45720" anchor="t" anchorCtr="0"/>
          <a:p>
            <a:pPr>
              <a:lnSpc>
                <a:spcPct val="90000"/>
              </a:lnSpc>
            </a:pPr>
            <a:r>
              <a:rPr lang="zh-CN" altLang="en-US" sz="2800" dirty="0"/>
              <a:t>概念</a:t>
            </a:r>
            <a:endParaRPr lang="zh-CN" altLang="en-US" sz="2800" dirty="0"/>
          </a:p>
          <a:p>
            <a:pPr lvl="1">
              <a:lnSpc>
                <a:spcPct val="90000"/>
              </a:lnSpc>
            </a:pPr>
            <a:r>
              <a:rPr lang="zh-CN" altLang="en-US" sz="2400" dirty="0"/>
              <a:t>指令字长度（一个指令字包含二进制代码的位数）</a:t>
            </a:r>
            <a:endParaRPr lang="zh-CN" altLang="en-US" sz="2400" dirty="0"/>
          </a:p>
          <a:p>
            <a:pPr lvl="1">
              <a:lnSpc>
                <a:spcPct val="90000"/>
              </a:lnSpc>
            </a:pPr>
            <a:r>
              <a:rPr lang="zh-CN" altLang="en-US" sz="2400" dirty="0">
                <a:solidFill>
                  <a:srgbClr val="FF3300"/>
                </a:solidFill>
              </a:rPr>
              <a:t>机器字长：</a:t>
            </a:r>
            <a:r>
              <a:rPr lang="zh-CN" altLang="en-US" sz="2400" dirty="0"/>
              <a:t>计算机能直接处理的二进制数据的位数。</a:t>
            </a:r>
            <a:endParaRPr lang="zh-CN" altLang="en-US" sz="2400" dirty="0"/>
          </a:p>
          <a:p>
            <a:pPr lvl="1">
              <a:lnSpc>
                <a:spcPct val="90000"/>
              </a:lnSpc>
            </a:pPr>
            <a:r>
              <a:rPr lang="zh-CN" altLang="en-US" sz="2400" dirty="0"/>
              <a:t>单字长指令</a:t>
            </a:r>
            <a:endParaRPr lang="zh-CN" altLang="en-US" sz="2400" dirty="0"/>
          </a:p>
          <a:p>
            <a:pPr lvl="1">
              <a:lnSpc>
                <a:spcPct val="90000"/>
              </a:lnSpc>
            </a:pPr>
            <a:r>
              <a:rPr lang="zh-CN" altLang="en-US" sz="2400" dirty="0"/>
              <a:t>半字长指令</a:t>
            </a:r>
            <a:endParaRPr lang="zh-CN" altLang="en-US" sz="2400" dirty="0"/>
          </a:p>
          <a:p>
            <a:pPr lvl="1">
              <a:lnSpc>
                <a:spcPct val="90000"/>
              </a:lnSpc>
            </a:pPr>
            <a:r>
              <a:rPr lang="zh-CN" altLang="en-US" sz="2400" dirty="0"/>
              <a:t>双字长指令</a:t>
            </a:r>
            <a:endParaRPr lang="zh-CN" altLang="en-US" sz="2400" dirty="0"/>
          </a:p>
          <a:p>
            <a:pPr>
              <a:lnSpc>
                <a:spcPct val="90000"/>
              </a:lnSpc>
            </a:pPr>
            <a:r>
              <a:rPr lang="zh-CN" altLang="en-US" sz="2100" b="1" dirty="0">
                <a:solidFill>
                  <a:srgbClr val="3333FF"/>
                </a:solidFill>
              </a:rPr>
              <a:t>多字长指令</a:t>
            </a:r>
            <a:r>
              <a:rPr lang="zh-CN" altLang="en-US" sz="2100" dirty="0">
                <a:solidFill>
                  <a:srgbClr val="3333FF"/>
                </a:solidFill>
              </a:rPr>
              <a:t>的优缺点</a:t>
            </a:r>
            <a:endParaRPr lang="zh-CN" altLang="en-US" sz="2100" dirty="0">
              <a:solidFill>
                <a:srgbClr val="3333FF"/>
              </a:solidFill>
            </a:endParaRPr>
          </a:p>
          <a:p>
            <a:pPr lvl="1">
              <a:lnSpc>
                <a:spcPct val="90000"/>
              </a:lnSpc>
            </a:pPr>
            <a:r>
              <a:rPr lang="zh-CN" altLang="en-US" sz="2000" dirty="0">
                <a:solidFill>
                  <a:srgbClr val="3333FF"/>
                </a:solidFill>
              </a:rPr>
              <a:t>优点提供足够的地址位来解决访问内存任何单元的寻址问题 ；</a:t>
            </a:r>
            <a:endParaRPr lang="zh-CN" altLang="en-US" sz="2000" dirty="0">
              <a:solidFill>
                <a:srgbClr val="3333FF"/>
              </a:solidFill>
            </a:endParaRPr>
          </a:p>
          <a:p>
            <a:pPr lvl="1">
              <a:lnSpc>
                <a:spcPct val="90000"/>
              </a:lnSpc>
            </a:pPr>
            <a:r>
              <a:rPr lang="zh-CN" altLang="en-US" sz="2000" dirty="0">
                <a:solidFill>
                  <a:srgbClr val="3333FF"/>
                </a:solidFill>
              </a:rPr>
              <a:t>缺点必须</a:t>
            </a:r>
            <a:r>
              <a:rPr lang="zh-CN" altLang="en-US" sz="2000" dirty="0">
                <a:solidFill>
                  <a:srgbClr val="FF3300"/>
                </a:solidFill>
              </a:rPr>
              <a:t>两次或多次访问内存以取出一整条指令</a:t>
            </a:r>
            <a:r>
              <a:rPr lang="zh-CN" altLang="en-US" sz="2000" dirty="0">
                <a:solidFill>
                  <a:srgbClr val="3333FF"/>
                </a:solidFill>
              </a:rPr>
              <a:t>，降低了</a:t>
            </a:r>
            <a:r>
              <a:rPr lang="en-US" altLang="zh-CN" sz="2000" dirty="0">
                <a:solidFill>
                  <a:srgbClr val="3333FF"/>
                </a:solidFill>
              </a:rPr>
              <a:t>CPU</a:t>
            </a:r>
            <a:r>
              <a:rPr lang="zh-CN" altLang="en-US" sz="2000" dirty="0">
                <a:solidFill>
                  <a:srgbClr val="3333FF"/>
                </a:solidFill>
              </a:rPr>
              <a:t>的运算速度，又占用了更多的存储空间。</a:t>
            </a:r>
            <a:endParaRPr lang="zh-CN" altLang="en-US" sz="2000" dirty="0">
              <a:solidFill>
                <a:srgbClr val="3333FF"/>
              </a:solidFill>
            </a:endParaRPr>
          </a:p>
          <a:p>
            <a:pPr>
              <a:lnSpc>
                <a:spcPct val="90000"/>
              </a:lnSpc>
            </a:pPr>
            <a:r>
              <a:rPr lang="zh-CN" altLang="en-US" sz="2100" dirty="0">
                <a:solidFill>
                  <a:srgbClr val="3333FF"/>
                </a:solidFill>
              </a:rPr>
              <a:t>指令系统中指令采用</a:t>
            </a:r>
            <a:r>
              <a:rPr lang="zh-CN" altLang="en-US" sz="2100" b="1" i="1" dirty="0">
                <a:solidFill>
                  <a:srgbClr val="3333FF"/>
                </a:solidFill>
              </a:rPr>
              <a:t>等长指令</a:t>
            </a:r>
            <a:r>
              <a:rPr lang="zh-CN" altLang="en-US" sz="2100" dirty="0">
                <a:solidFill>
                  <a:srgbClr val="3333FF"/>
                </a:solidFill>
              </a:rPr>
              <a:t>的优点：各种指令字长度是相等的，</a:t>
            </a:r>
            <a:r>
              <a:rPr lang="zh-CN" altLang="en-US" sz="2100" u="sng" dirty="0">
                <a:solidFill>
                  <a:srgbClr val="FF3300"/>
                </a:solidFill>
              </a:rPr>
              <a:t>指令字结构简单，且指令字长度是不变的</a:t>
            </a:r>
            <a:r>
              <a:rPr lang="zh-CN" altLang="en-US" sz="2100" dirty="0">
                <a:solidFill>
                  <a:srgbClr val="3333FF"/>
                </a:solidFill>
              </a:rPr>
              <a:t> ；</a:t>
            </a:r>
            <a:endParaRPr lang="zh-CN" altLang="en-US" sz="2100" dirty="0">
              <a:solidFill>
                <a:srgbClr val="3333FF"/>
              </a:solidFill>
            </a:endParaRPr>
          </a:p>
          <a:p>
            <a:pPr>
              <a:lnSpc>
                <a:spcPct val="90000"/>
              </a:lnSpc>
            </a:pPr>
            <a:r>
              <a:rPr lang="zh-CN" altLang="en-US" sz="2100" dirty="0">
                <a:solidFill>
                  <a:srgbClr val="3333FF"/>
                </a:solidFill>
              </a:rPr>
              <a:t>采用</a:t>
            </a:r>
            <a:r>
              <a:rPr lang="zh-CN" altLang="en-US" sz="2100" b="1" i="1" dirty="0">
                <a:solidFill>
                  <a:srgbClr val="3333FF"/>
                </a:solidFill>
              </a:rPr>
              <a:t>非等长指令</a:t>
            </a:r>
            <a:r>
              <a:rPr lang="zh-CN" altLang="en-US" sz="2100" dirty="0">
                <a:solidFill>
                  <a:srgbClr val="3333FF"/>
                </a:solidFill>
              </a:rPr>
              <a:t>的的优点：各种指令字长度随指令功能而异，</a:t>
            </a:r>
            <a:r>
              <a:rPr lang="zh-CN" altLang="en-US" sz="2100" u="sng" dirty="0">
                <a:solidFill>
                  <a:srgbClr val="FF3300"/>
                </a:solidFill>
              </a:rPr>
              <a:t>结构灵活，能充分利用指令长度，但指令的控制较复杂</a:t>
            </a:r>
            <a:r>
              <a:rPr lang="zh-CN" altLang="en-US" sz="2100" dirty="0">
                <a:solidFill>
                  <a:srgbClr val="3333FF"/>
                </a:solidFill>
              </a:rPr>
              <a:t> 。</a:t>
            </a:r>
            <a:endParaRPr lang="zh-CN" altLang="en-US" sz="2100" dirty="0">
              <a:solidFill>
                <a:srgbClr val="3333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468313" y="298450"/>
            <a:ext cx="7632700" cy="538163"/>
          </a:xfrm>
          <a:ln/>
        </p:spPr>
        <p:txBody>
          <a:bodyPr vert="horz" wrap="square" lIns="63500" tIns="25400" rIns="63500" bIns="25400" anchor="t" anchorCtr="0">
            <a:spAutoFit/>
          </a:bodyPr>
          <a:p>
            <a:r>
              <a:rPr lang="zh-CN" altLang="en-US" sz="3200" dirty="0"/>
              <a:t>从指令执行周期看指令设计涉及的问题</a:t>
            </a:r>
            <a:endParaRPr lang="zh-CN" altLang="en-US" sz="3200" dirty="0"/>
          </a:p>
        </p:txBody>
      </p:sp>
      <p:sp>
        <p:nvSpPr>
          <p:cNvPr id="44035" name="Rectangle 3"/>
          <p:cNvSpPr/>
          <p:nvPr/>
        </p:nvSpPr>
        <p:spPr>
          <a:xfrm>
            <a:off x="933450" y="107950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6000"/>
              </a:lnSpc>
              <a:spcBef>
                <a:spcPct val="40000"/>
              </a:spcBef>
              <a:buClrTx/>
              <a:buSzTx/>
              <a:buFontTx/>
              <a:buNone/>
            </a:pPr>
            <a:r>
              <a:rPr lang="en-US" altLang="zh-CN" sz="1800" b="1" i="1" dirty="0"/>
              <a:t>Instruction</a:t>
            </a:r>
            <a:endParaRPr lang="en-US" altLang="zh-CN" sz="1800" b="1" i="1" dirty="0"/>
          </a:p>
          <a:p>
            <a:pPr marL="342900" lvl="0" indent="-342900" algn="ctr">
              <a:lnSpc>
                <a:spcPct val="86000"/>
              </a:lnSpc>
              <a:spcBef>
                <a:spcPct val="40000"/>
              </a:spcBef>
              <a:buClrTx/>
              <a:buSzTx/>
              <a:buFontTx/>
              <a:buNone/>
            </a:pPr>
            <a:r>
              <a:rPr lang="en-US" altLang="zh-CN" sz="1800" b="1" i="1" dirty="0"/>
              <a:t>Fetch</a:t>
            </a:r>
            <a:endParaRPr lang="en-US" altLang="zh-CN" sz="1800" b="1" i="1" dirty="0"/>
          </a:p>
        </p:txBody>
      </p:sp>
      <p:sp>
        <p:nvSpPr>
          <p:cNvPr id="44036" name="Rectangle 4"/>
          <p:cNvSpPr/>
          <p:nvPr/>
        </p:nvSpPr>
        <p:spPr>
          <a:xfrm>
            <a:off x="933450" y="207010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6000"/>
              </a:lnSpc>
              <a:spcBef>
                <a:spcPct val="40000"/>
              </a:spcBef>
              <a:buClrTx/>
              <a:buSzTx/>
              <a:buFontTx/>
              <a:buNone/>
            </a:pPr>
            <a:r>
              <a:rPr lang="en-US" altLang="zh-CN" sz="1800" b="1" i="1" dirty="0"/>
              <a:t>Instruction</a:t>
            </a:r>
            <a:endParaRPr lang="en-US" altLang="zh-CN" sz="1800" b="1" i="1" dirty="0"/>
          </a:p>
          <a:p>
            <a:pPr marL="342900" lvl="0" indent="-342900" algn="ctr">
              <a:lnSpc>
                <a:spcPct val="86000"/>
              </a:lnSpc>
              <a:spcBef>
                <a:spcPct val="40000"/>
              </a:spcBef>
              <a:buClrTx/>
              <a:buSzTx/>
              <a:buFontTx/>
              <a:buNone/>
            </a:pPr>
            <a:r>
              <a:rPr lang="en-US" altLang="zh-CN" sz="1800" b="1" i="1" dirty="0"/>
              <a:t>Decode</a:t>
            </a:r>
            <a:endParaRPr lang="en-US" altLang="zh-CN" sz="1800" b="1" i="1" dirty="0"/>
          </a:p>
        </p:txBody>
      </p:sp>
      <p:sp>
        <p:nvSpPr>
          <p:cNvPr id="44037" name="Rectangle 5"/>
          <p:cNvSpPr/>
          <p:nvPr/>
        </p:nvSpPr>
        <p:spPr>
          <a:xfrm>
            <a:off x="933450" y="306070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6000"/>
              </a:lnSpc>
              <a:spcBef>
                <a:spcPct val="40000"/>
              </a:spcBef>
              <a:buClrTx/>
              <a:buSzTx/>
              <a:buFontTx/>
              <a:buNone/>
            </a:pPr>
            <a:r>
              <a:rPr lang="en-US" altLang="zh-CN" sz="1800" b="1" i="1" dirty="0"/>
              <a:t>Operand</a:t>
            </a:r>
            <a:endParaRPr lang="en-US" altLang="zh-CN" sz="1800" b="1" i="1" dirty="0"/>
          </a:p>
          <a:p>
            <a:pPr marL="342900" lvl="0" indent="-342900" algn="ctr">
              <a:lnSpc>
                <a:spcPct val="86000"/>
              </a:lnSpc>
              <a:spcBef>
                <a:spcPct val="40000"/>
              </a:spcBef>
              <a:buClrTx/>
              <a:buSzTx/>
              <a:buFontTx/>
              <a:buNone/>
            </a:pPr>
            <a:r>
              <a:rPr lang="en-US" altLang="zh-CN" sz="1800" b="1" i="1" dirty="0"/>
              <a:t>Fetch</a:t>
            </a:r>
            <a:endParaRPr lang="en-US" altLang="zh-CN" sz="1800" b="1" i="1" dirty="0"/>
          </a:p>
        </p:txBody>
      </p:sp>
      <p:sp>
        <p:nvSpPr>
          <p:cNvPr id="44038" name="Rectangle 6"/>
          <p:cNvSpPr/>
          <p:nvPr/>
        </p:nvSpPr>
        <p:spPr>
          <a:xfrm>
            <a:off x="933450" y="4051300"/>
            <a:ext cx="1574800" cy="304800"/>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8000"/>
              </a:lnSpc>
              <a:spcBef>
                <a:spcPct val="43000"/>
              </a:spcBef>
              <a:buClrTx/>
              <a:buSzTx/>
              <a:buFontTx/>
              <a:buNone/>
            </a:pPr>
            <a:r>
              <a:rPr lang="en-US" altLang="zh-CN" sz="1800" b="1" i="1" dirty="0"/>
              <a:t>Execute</a:t>
            </a:r>
            <a:endParaRPr lang="en-US" altLang="zh-CN" sz="1800" b="1" i="1" dirty="0"/>
          </a:p>
        </p:txBody>
      </p:sp>
      <p:sp>
        <p:nvSpPr>
          <p:cNvPr id="44039" name="Rectangle 7"/>
          <p:cNvSpPr/>
          <p:nvPr/>
        </p:nvSpPr>
        <p:spPr>
          <a:xfrm>
            <a:off x="933450" y="473710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6000"/>
              </a:lnSpc>
              <a:spcBef>
                <a:spcPct val="40000"/>
              </a:spcBef>
              <a:buClrTx/>
              <a:buSzTx/>
              <a:buFontTx/>
              <a:buNone/>
            </a:pPr>
            <a:r>
              <a:rPr lang="en-US" altLang="zh-CN" sz="1800" b="1" i="1" dirty="0"/>
              <a:t>Result</a:t>
            </a:r>
            <a:endParaRPr lang="en-US" altLang="zh-CN" sz="1800" b="1" i="1" dirty="0"/>
          </a:p>
          <a:p>
            <a:pPr marL="342900" lvl="0" indent="-342900" algn="ctr">
              <a:lnSpc>
                <a:spcPct val="86000"/>
              </a:lnSpc>
              <a:spcBef>
                <a:spcPct val="40000"/>
              </a:spcBef>
              <a:buClrTx/>
              <a:buSzTx/>
              <a:buFontTx/>
              <a:buNone/>
            </a:pPr>
            <a:r>
              <a:rPr lang="en-US" altLang="zh-CN" sz="1800" b="1" i="1" dirty="0"/>
              <a:t>Store</a:t>
            </a:r>
            <a:endParaRPr lang="en-US" altLang="zh-CN" sz="1800" b="1" i="1" dirty="0"/>
          </a:p>
        </p:txBody>
      </p:sp>
      <p:sp>
        <p:nvSpPr>
          <p:cNvPr id="44040" name="Rectangle 8"/>
          <p:cNvSpPr/>
          <p:nvPr/>
        </p:nvSpPr>
        <p:spPr>
          <a:xfrm>
            <a:off x="933450" y="572770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a:lnSpc>
                <a:spcPct val="86000"/>
              </a:lnSpc>
              <a:spcBef>
                <a:spcPct val="40000"/>
              </a:spcBef>
              <a:buClrTx/>
              <a:buSzTx/>
              <a:buFontTx/>
              <a:buNone/>
            </a:pPr>
            <a:r>
              <a:rPr lang="en-US" altLang="zh-CN" sz="1800" b="1" i="1" dirty="0"/>
              <a:t>Next</a:t>
            </a:r>
            <a:endParaRPr lang="en-US" altLang="zh-CN" sz="1800" b="1" i="1" dirty="0"/>
          </a:p>
          <a:p>
            <a:pPr marL="342900" lvl="0" indent="-342900" algn="ctr">
              <a:lnSpc>
                <a:spcPct val="86000"/>
              </a:lnSpc>
              <a:spcBef>
                <a:spcPct val="40000"/>
              </a:spcBef>
              <a:buClrTx/>
              <a:buSzTx/>
              <a:buFontTx/>
              <a:buNone/>
            </a:pPr>
            <a:r>
              <a:rPr lang="en-US" altLang="zh-CN" sz="1800" b="1" i="1" dirty="0"/>
              <a:t>Instruction</a:t>
            </a:r>
            <a:endParaRPr lang="en-US" altLang="zh-CN" sz="1800" b="1" i="1" dirty="0"/>
          </a:p>
        </p:txBody>
      </p:sp>
      <p:sp>
        <p:nvSpPr>
          <p:cNvPr id="44041" name="Line 9"/>
          <p:cNvSpPr/>
          <p:nvPr/>
        </p:nvSpPr>
        <p:spPr>
          <a:xfrm>
            <a:off x="1676400" y="1758950"/>
            <a:ext cx="0" cy="279400"/>
          </a:xfrm>
          <a:prstGeom prst="line">
            <a:avLst/>
          </a:prstGeom>
          <a:ln w="25400" cap="flat" cmpd="sng">
            <a:solidFill>
              <a:schemeClr val="tx1"/>
            </a:solidFill>
            <a:prstDash val="solid"/>
            <a:headEnd type="none" w="med" len="med"/>
            <a:tailEnd type="triangle" w="med" len="med"/>
          </a:ln>
        </p:spPr>
      </p:sp>
      <p:sp>
        <p:nvSpPr>
          <p:cNvPr id="44042" name="Line 10"/>
          <p:cNvSpPr/>
          <p:nvPr/>
        </p:nvSpPr>
        <p:spPr>
          <a:xfrm>
            <a:off x="1676400" y="3740150"/>
            <a:ext cx="0" cy="279400"/>
          </a:xfrm>
          <a:prstGeom prst="line">
            <a:avLst/>
          </a:prstGeom>
          <a:ln w="25400" cap="flat" cmpd="sng">
            <a:solidFill>
              <a:schemeClr val="tx1"/>
            </a:solidFill>
            <a:prstDash val="solid"/>
            <a:headEnd type="none" w="med" len="med"/>
            <a:tailEnd type="triangle" w="med" len="med"/>
          </a:ln>
        </p:spPr>
      </p:sp>
      <p:sp>
        <p:nvSpPr>
          <p:cNvPr id="44043" name="Line 11"/>
          <p:cNvSpPr/>
          <p:nvPr/>
        </p:nvSpPr>
        <p:spPr>
          <a:xfrm>
            <a:off x="1676400" y="2749550"/>
            <a:ext cx="0" cy="279400"/>
          </a:xfrm>
          <a:prstGeom prst="line">
            <a:avLst/>
          </a:prstGeom>
          <a:ln w="25400" cap="flat" cmpd="sng">
            <a:solidFill>
              <a:schemeClr val="tx1"/>
            </a:solidFill>
            <a:prstDash val="solid"/>
            <a:headEnd type="none" w="med" len="med"/>
            <a:tailEnd type="triangle" w="med" len="med"/>
          </a:ln>
        </p:spPr>
      </p:sp>
      <p:sp>
        <p:nvSpPr>
          <p:cNvPr id="44044" name="Line 12"/>
          <p:cNvSpPr/>
          <p:nvPr/>
        </p:nvSpPr>
        <p:spPr>
          <a:xfrm>
            <a:off x="1676400" y="5416550"/>
            <a:ext cx="0" cy="279400"/>
          </a:xfrm>
          <a:prstGeom prst="line">
            <a:avLst/>
          </a:prstGeom>
          <a:ln w="25400" cap="flat" cmpd="sng">
            <a:solidFill>
              <a:schemeClr val="tx1"/>
            </a:solidFill>
            <a:prstDash val="solid"/>
            <a:headEnd type="none" w="med" len="med"/>
            <a:tailEnd type="triangle" w="med" len="med"/>
          </a:ln>
        </p:spPr>
      </p:sp>
      <p:sp>
        <p:nvSpPr>
          <p:cNvPr id="44045" name="Line 13"/>
          <p:cNvSpPr/>
          <p:nvPr/>
        </p:nvSpPr>
        <p:spPr>
          <a:xfrm>
            <a:off x="1676400" y="4349750"/>
            <a:ext cx="0" cy="355600"/>
          </a:xfrm>
          <a:prstGeom prst="line">
            <a:avLst/>
          </a:prstGeom>
          <a:ln w="25400" cap="flat" cmpd="sng">
            <a:solidFill>
              <a:schemeClr val="tx1"/>
            </a:solidFill>
            <a:prstDash val="solid"/>
            <a:headEnd type="none" w="med" len="med"/>
            <a:tailEnd type="triangle" w="med" len="med"/>
          </a:ln>
        </p:spPr>
      </p:sp>
      <p:sp>
        <p:nvSpPr>
          <p:cNvPr id="44046" name="Line 14"/>
          <p:cNvSpPr/>
          <p:nvPr/>
        </p:nvSpPr>
        <p:spPr>
          <a:xfrm>
            <a:off x="1676400" y="6407150"/>
            <a:ext cx="0" cy="127000"/>
          </a:xfrm>
          <a:prstGeom prst="line">
            <a:avLst/>
          </a:prstGeom>
          <a:ln w="25400" cap="flat" cmpd="sng">
            <a:solidFill>
              <a:schemeClr val="tx1"/>
            </a:solidFill>
            <a:prstDash val="solid"/>
            <a:headEnd type="none" w="med" len="med"/>
            <a:tailEnd type="none" w="med" len="med"/>
          </a:ln>
        </p:spPr>
      </p:sp>
      <p:sp>
        <p:nvSpPr>
          <p:cNvPr id="44047" name="Line 15"/>
          <p:cNvSpPr/>
          <p:nvPr/>
        </p:nvSpPr>
        <p:spPr>
          <a:xfrm flipH="1">
            <a:off x="596900" y="6546850"/>
            <a:ext cx="1092200" cy="0"/>
          </a:xfrm>
          <a:prstGeom prst="line">
            <a:avLst/>
          </a:prstGeom>
          <a:ln w="25400" cap="flat" cmpd="sng">
            <a:solidFill>
              <a:schemeClr val="tx1"/>
            </a:solidFill>
            <a:prstDash val="solid"/>
            <a:headEnd type="none" w="med" len="med"/>
            <a:tailEnd type="none" w="med" len="med"/>
          </a:ln>
        </p:spPr>
      </p:sp>
      <p:sp>
        <p:nvSpPr>
          <p:cNvPr id="44048" name="Line 16"/>
          <p:cNvSpPr/>
          <p:nvPr/>
        </p:nvSpPr>
        <p:spPr>
          <a:xfrm flipV="1">
            <a:off x="609600" y="742950"/>
            <a:ext cx="0" cy="5816600"/>
          </a:xfrm>
          <a:prstGeom prst="line">
            <a:avLst/>
          </a:prstGeom>
          <a:ln w="25400" cap="flat" cmpd="sng">
            <a:solidFill>
              <a:schemeClr val="tx1"/>
            </a:solidFill>
            <a:prstDash val="solid"/>
            <a:headEnd type="none" w="med" len="med"/>
            <a:tailEnd type="none" w="med" len="med"/>
          </a:ln>
        </p:spPr>
      </p:sp>
      <p:sp>
        <p:nvSpPr>
          <p:cNvPr id="44049" name="Line 17"/>
          <p:cNvSpPr/>
          <p:nvPr/>
        </p:nvSpPr>
        <p:spPr>
          <a:xfrm>
            <a:off x="622300" y="755650"/>
            <a:ext cx="1041400" cy="0"/>
          </a:xfrm>
          <a:prstGeom prst="line">
            <a:avLst/>
          </a:prstGeom>
          <a:ln w="25400" cap="flat" cmpd="sng">
            <a:solidFill>
              <a:schemeClr val="tx1"/>
            </a:solidFill>
            <a:prstDash val="solid"/>
            <a:headEnd type="none" w="med" len="med"/>
            <a:tailEnd type="none" w="med" len="med"/>
          </a:ln>
        </p:spPr>
      </p:sp>
      <p:sp>
        <p:nvSpPr>
          <p:cNvPr id="44050" name="Line 18"/>
          <p:cNvSpPr/>
          <p:nvPr/>
        </p:nvSpPr>
        <p:spPr>
          <a:xfrm>
            <a:off x="1676400" y="768350"/>
            <a:ext cx="0" cy="279400"/>
          </a:xfrm>
          <a:prstGeom prst="line">
            <a:avLst/>
          </a:prstGeom>
          <a:ln w="25400" cap="flat" cmpd="sng">
            <a:solidFill>
              <a:schemeClr val="tx1"/>
            </a:solidFill>
            <a:prstDash val="solid"/>
            <a:headEnd type="none" w="med" len="med"/>
            <a:tailEnd type="triangle" w="med" len="med"/>
          </a:ln>
        </p:spPr>
      </p:sp>
      <p:sp>
        <p:nvSpPr>
          <p:cNvPr id="44051" name="Rectangle 19"/>
          <p:cNvSpPr/>
          <p:nvPr/>
        </p:nvSpPr>
        <p:spPr>
          <a:xfrm>
            <a:off x="3136900" y="820738"/>
            <a:ext cx="5549900"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Obtain instruction from program storage</a:t>
            </a:r>
            <a:endParaRPr lang="en-US" altLang="zh-CN" sz="2000" b="1" dirty="0"/>
          </a:p>
        </p:txBody>
      </p:sp>
      <p:sp>
        <p:nvSpPr>
          <p:cNvPr id="44052" name="Rectangle 20"/>
          <p:cNvSpPr/>
          <p:nvPr/>
        </p:nvSpPr>
        <p:spPr>
          <a:xfrm>
            <a:off x="3136900" y="1811338"/>
            <a:ext cx="3470275"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Determine required actions</a:t>
            </a:r>
            <a:r>
              <a:rPr lang="en-US" altLang="zh-CN" sz="1800" b="1" dirty="0"/>
              <a:t> </a:t>
            </a:r>
            <a:endParaRPr lang="en-US" altLang="zh-CN" sz="1800" b="1" dirty="0"/>
          </a:p>
        </p:txBody>
      </p:sp>
      <p:sp>
        <p:nvSpPr>
          <p:cNvPr id="44053" name="Rectangle 21"/>
          <p:cNvSpPr/>
          <p:nvPr/>
        </p:nvSpPr>
        <p:spPr>
          <a:xfrm>
            <a:off x="3136900" y="2801938"/>
            <a:ext cx="5321300"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Locate and obtain operand data</a:t>
            </a:r>
            <a:endParaRPr lang="en-US" altLang="zh-CN" sz="2000" b="1" dirty="0"/>
          </a:p>
        </p:txBody>
      </p:sp>
      <p:sp>
        <p:nvSpPr>
          <p:cNvPr id="44054" name="Rectangle 22"/>
          <p:cNvSpPr/>
          <p:nvPr/>
        </p:nvSpPr>
        <p:spPr>
          <a:xfrm>
            <a:off x="3136900" y="3716338"/>
            <a:ext cx="5321300"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Compute result value or status</a:t>
            </a:r>
            <a:endParaRPr lang="en-US" altLang="zh-CN" sz="2000" b="1" dirty="0"/>
          </a:p>
        </p:txBody>
      </p:sp>
      <p:sp>
        <p:nvSpPr>
          <p:cNvPr id="44055" name="Rectangle 23"/>
          <p:cNvSpPr/>
          <p:nvPr/>
        </p:nvSpPr>
        <p:spPr>
          <a:xfrm>
            <a:off x="3136900" y="4478338"/>
            <a:ext cx="5245100"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Deposit results in storage for later use</a:t>
            </a:r>
            <a:endParaRPr lang="en-US" altLang="zh-CN" sz="2000" b="1" dirty="0"/>
          </a:p>
        </p:txBody>
      </p:sp>
      <p:sp>
        <p:nvSpPr>
          <p:cNvPr id="44056" name="Rectangle 24"/>
          <p:cNvSpPr/>
          <p:nvPr/>
        </p:nvSpPr>
        <p:spPr>
          <a:xfrm>
            <a:off x="3136900" y="5468938"/>
            <a:ext cx="5168900" cy="346075"/>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a:lnSpc>
                <a:spcPct val="97000"/>
              </a:lnSpc>
              <a:spcBef>
                <a:spcPct val="49000"/>
              </a:spcBef>
              <a:buClrTx/>
              <a:buSzTx/>
              <a:buFontTx/>
              <a:buNone/>
            </a:pPr>
            <a:r>
              <a:rPr lang="en-US" altLang="zh-CN" sz="2000" b="1" dirty="0"/>
              <a:t>Determine successor instruction</a:t>
            </a:r>
            <a:endParaRPr lang="en-US" altLang="zh-CN" sz="2000" b="1" dirty="0"/>
          </a:p>
        </p:txBody>
      </p:sp>
      <p:sp>
        <p:nvSpPr>
          <p:cNvPr id="44057" name="Text Box 25"/>
          <p:cNvSpPr txBox="1"/>
          <p:nvPr/>
        </p:nvSpPr>
        <p:spPr>
          <a:xfrm>
            <a:off x="3201988" y="1211263"/>
            <a:ext cx="4545012"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指令地址、指令长度（定长</a:t>
            </a:r>
            <a:r>
              <a:rPr lang="en-US" altLang="zh-CN" sz="2000" b="1" dirty="0">
                <a:solidFill>
                  <a:srgbClr val="FF3300"/>
                </a:solidFill>
                <a:ea typeface="黑体" panose="02010609060101010101" pitchFamily="49" charset="-122"/>
              </a:rPr>
              <a:t>/</a:t>
            </a:r>
            <a:r>
              <a:rPr lang="zh-CN" altLang="en-US" sz="2000" b="1" dirty="0">
                <a:solidFill>
                  <a:srgbClr val="FF3300"/>
                </a:solidFill>
                <a:ea typeface="黑体" panose="02010609060101010101" pitchFamily="49" charset="-122"/>
              </a:rPr>
              <a:t>变长）</a:t>
            </a:r>
            <a:endParaRPr lang="zh-CN" altLang="en-US" sz="2000" b="1" dirty="0">
              <a:solidFill>
                <a:srgbClr val="FF3300"/>
              </a:solidFill>
              <a:ea typeface="黑体" panose="02010609060101010101" pitchFamily="49" charset="-122"/>
            </a:endParaRPr>
          </a:p>
        </p:txBody>
      </p:sp>
      <p:sp>
        <p:nvSpPr>
          <p:cNvPr id="44058" name="Text Box 26"/>
          <p:cNvSpPr txBox="1"/>
          <p:nvPr/>
        </p:nvSpPr>
        <p:spPr>
          <a:xfrm>
            <a:off x="3205163" y="2252663"/>
            <a:ext cx="4545012"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指令格式、操作码编码、操作数类型</a:t>
            </a:r>
            <a:endParaRPr lang="zh-CN" altLang="en-US" sz="2000" b="1" dirty="0">
              <a:solidFill>
                <a:srgbClr val="FF3300"/>
              </a:solidFill>
              <a:ea typeface="黑体" panose="02010609060101010101" pitchFamily="49" charset="-122"/>
            </a:endParaRPr>
          </a:p>
        </p:txBody>
      </p:sp>
      <p:sp>
        <p:nvSpPr>
          <p:cNvPr id="44059" name="Text Box 27"/>
          <p:cNvSpPr txBox="1"/>
          <p:nvPr/>
        </p:nvSpPr>
        <p:spPr>
          <a:xfrm>
            <a:off x="3186113" y="3270250"/>
            <a:ext cx="5357812"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地址码、寻址方式、操作数格式和存放方式</a:t>
            </a:r>
            <a:endParaRPr lang="zh-CN" altLang="en-US" sz="2000" b="1" dirty="0">
              <a:solidFill>
                <a:srgbClr val="FF3300"/>
              </a:solidFill>
              <a:ea typeface="黑体" panose="02010609060101010101" pitchFamily="49" charset="-122"/>
            </a:endParaRPr>
          </a:p>
        </p:txBody>
      </p:sp>
      <p:sp>
        <p:nvSpPr>
          <p:cNvPr id="44060" name="Text Box 28"/>
          <p:cNvSpPr txBox="1"/>
          <p:nvPr/>
        </p:nvSpPr>
        <p:spPr>
          <a:xfrm>
            <a:off x="3243263" y="4127500"/>
            <a:ext cx="4545012"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操作类型、标志或条件码</a:t>
            </a:r>
            <a:endParaRPr lang="zh-CN" altLang="en-US" sz="2000" b="1" dirty="0">
              <a:solidFill>
                <a:srgbClr val="FF3300"/>
              </a:solidFill>
              <a:ea typeface="黑体" panose="02010609060101010101" pitchFamily="49" charset="-122"/>
            </a:endParaRPr>
          </a:p>
        </p:txBody>
      </p:sp>
      <p:sp>
        <p:nvSpPr>
          <p:cNvPr id="44061" name="Text Box 29"/>
          <p:cNvSpPr txBox="1"/>
          <p:nvPr/>
        </p:nvSpPr>
        <p:spPr>
          <a:xfrm>
            <a:off x="3200400" y="4897438"/>
            <a:ext cx="4545013"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结果数据位置（目的操作数）</a:t>
            </a:r>
            <a:endParaRPr lang="zh-CN" altLang="en-US" sz="2000" b="1" dirty="0">
              <a:solidFill>
                <a:srgbClr val="FF3300"/>
              </a:solidFill>
              <a:ea typeface="黑体" panose="02010609060101010101" pitchFamily="49" charset="-122"/>
            </a:endParaRPr>
          </a:p>
        </p:txBody>
      </p:sp>
      <p:sp>
        <p:nvSpPr>
          <p:cNvPr id="44062" name="Text Box 30"/>
          <p:cNvSpPr txBox="1"/>
          <p:nvPr/>
        </p:nvSpPr>
        <p:spPr>
          <a:xfrm>
            <a:off x="3159125" y="5867400"/>
            <a:ext cx="4545013"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FF3300"/>
                </a:solidFill>
                <a:ea typeface="黑体" panose="02010609060101010101" pitchFamily="49" charset="-122"/>
              </a:rPr>
              <a:t>下条指令地址（顺序 </a:t>
            </a:r>
            <a:r>
              <a:rPr lang="en-US" altLang="zh-CN" sz="2000" b="1" dirty="0">
                <a:solidFill>
                  <a:srgbClr val="FF3300"/>
                </a:solidFill>
                <a:ea typeface="黑体" panose="02010609060101010101" pitchFamily="49" charset="-122"/>
              </a:rPr>
              <a:t>/ </a:t>
            </a:r>
            <a:r>
              <a:rPr lang="zh-CN" altLang="en-US" sz="2000" b="1" dirty="0">
                <a:solidFill>
                  <a:srgbClr val="FF3300"/>
                </a:solidFill>
                <a:ea typeface="黑体" panose="02010609060101010101" pitchFamily="49" charset="-122"/>
              </a:rPr>
              <a:t>转移）</a:t>
            </a:r>
            <a:endParaRPr lang="zh-CN" altLang="en-US" sz="2000" b="1" dirty="0">
              <a:solidFill>
                <a:srgbClr val="FF3300"/>
              </a:solidFill>
              <a:ea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五、指令助记符</a:t>
            </a:r>
            <a:endParaRPr lang="zh-CN" altLang="en-US" sz="3500" dirty="0"/>
          </a:p>
        </p:txBody>
      </p:sp>
      <p:sp>
        <p:nvSpPr>
          <p:cNvPr id="45059" name="Rectangle 3"/>
          <p:cNvSpPr>
            <a:spLocks noGrp="1"/>
          </p:cNvSpPr>
          <p:nvPr>
            <p:ph idx="1"/>
          </p:nvPr>
        </p:nvSpPr>
        <p:spPr>
          <a:xfrm>
            <a:off x="457200" y="1268413"/>
            <a:ext cx="8229600" cy="3886200"/>
          </a:xfrm>
          <a:ln/>
        </p:spPr>
        <p:txBody>
          <a:bodyPr vert="horz" wrap="square" lIns="91440" tIns="45720" rIns="91440" bIns="45720" anchor="t" anchorCtr="0"/>
          <a:p>
            <a:r>
              <a:rPr lang="zh-CN" altLang="en-US" dirty="0"/>
              <a:t>由于硬件只能识别</a:t>
            </a:r>
            <a:r>
              <a:rPr lang="en-US" altLang="zh-CN" dirty="0"/>
              <a:t>1</a:t>
            </a:r>
            <a:r>
              <a:rPr lang="zh-CN" altLang="en-US" dirty="0"/>
              <a:t>和</a:t>
            </a:r>
            <a:r>
              <a:rPr lang="en-US" altLang="zh-CN" dirty="0"/>
              <a:t>0</a:t>
            </a:r>
            <a:r>
              <a:rPr lang="zh-CN" altLang="en-US" dirty="0"/>
              <a:t>，所以采用二进制操作码是必要的，但是我们用二进制来书写程序却非常麻烦。</a:t>
            </a:r>
            <a:endParaRPr lang="zh-CN" altLang="en-US" sz="2600" dirty="0"/>
          </a:p>
          <a:p>
            <a:r>
              <a:rPr lang="zh-CN" altLang="en-US" dirty="0"/>
              <a:t>为了便于书写和阅读程序，每条指令通常用</a:t>
            </a:r>
            <a:r>
              <a:rPr lang="en-US" altLang="zh-CN" dirty="0"/>
              <a:t>3</a:t>
            </a:r>
            <a:r>
              <a:rPr lang="zh-CN" altLang="en-US" dirty="0"/>
              <a:t>个或</a:t>
            </a:r>
            <a:r>
              <a:rPr lang="en-US" altLang="zh-CN" dirty="0"/>
              <a:t>4</a:t>
            </a:r>
            <a:r>
              <a:rPr lang="zh-CN" altLang="en-US" dirty="0"/>
              <a:t>个英文缩写字母来表示。这种缩写码叫做</a:t>
            </a:r>
            <a:r>
              <a:rPr lang="zh-CN" altLang="en-US" dirty="0">
                <a:solidFill>
                  <a:srgbClr val="3333FF"/>
                </a:solidFill>
              </a:rPr>
              <a:t>指令助记符</a:t>
            </a:r>
            <a:endParaRPr lang="zh-CN" altLang="en-US" sz="2600" dirty="0">
              <a:solidFill>
                <a:srgbClr val="3333FF"/>
              </a:solidFill>
            </a:endParaRPr>
          </a:p>
          <a:p>
            <a:pPr lvl="1">
              <a:buFont typeface="Wingdings" panose="05000000000000000000" pitchFamily="2" charset="2"/>
              <a:buChar char="Ø"/>
            </a:pPr>
            <a:r>
              <a:rPr lang="zh-CN" altLang="en-US" sz="2200" dirty="0"/>
              <a:t>用</a:t>
            </a:r>
            <a:r>
              <a:rPr lang="en-US" altLang="zh-CN" sz="2200" dirty="0"/>
              <a:t>3</a:t>
            </a:r>
            <a:r>
              <a:rPr lang="zh-CN" altLang="en-US" sz="2200" dirty="0"/>
              <a:t>～</a:t>
            </a:r>
            <a:r>
              <a:rPr lang="en-US" altLang="zh-CN" sz="2200" dirty="0"/>
              <a:t>4</a:t>
            </a:r>
            <a:r>
              <a:rPr lang="zh-CN" altLang="en-US" sz="2200" dirty="0"/>
              <a:t>个英文字母来表示操作码，一般为英文缩写</a:t>
            </a:r>
            <a:endParaRPr lang="zh-CN" altLang="en-US" sz="2200" dirty="0"/>
          </a:p>
          <a:p>
            <a:pPr lvl="1">
              <a:buFont typeface="Wingdings" panose="05000000000000000000" pitchFamily="2" charset="2"/>
              <a:buChar char="Ø"/>
            </a:pPr>
            <a:r>
              <a:rPr lang="zh-CN" altLang="en-US" sz="2200" dirty="0"/>
              <a:t>不同的计算机系统，规定不一样</a:t>
            </a:r>
            <a:endParaRPr lang="zh-CN" altLang="en-US" sz="2200" dirty="0"/>
          </a:p>
          <a:p>
            <a:pPr lvl="1">
              <a:buFont typeface="Wingdings" panose="05000000000000000000" pitchFamily="2" charset="2"/>
              <a:buChar char="Ø"/>
            </a:pPr>
            <a:r>
              <a:rPr lang="zh-CN" altLang="en-US" sz="2200" dirty="0"/>
              <a:t>必须用汇编语言翻译成二进制代码</a:t>
            </a:r>
            <a:endParaRPr lang="zh-CN" altLang="en-US" sz="2200" dirty="0"/>
          </a:p>
          <a:p>
            <a:pPr lvl="1">
              <a:buFont typeface="Wingdings" panose="05000000000000000000" pitchFamily="2" charset="2"/>
              <a:buChar char="Ø"/>
            </a:pPr>
            <a:r>
              <a:rPr lang="zh-CN" altLang="en-US" sz="2200" dirty="0"/>
              <a:t>如</a:t>
            </a:r>
            <a:r>
              <a:rPr lang="en-US" altLang="zh-CN" sz="2200" dirty="0"/>
              <a:t>ADD</a:t>
            </a:r>
            <a:r>
              <a:rPr lang="zh-CN" altLang="en-US" sz="2200" dirty="0"/>
              <a:t>：</a:t>
            </a:r>
            <a:r>
              <a:rPr lang="en-US" altLang="zh-CN" sz="2200" dirty="0"/>
              <a:t>001</a:t>
            </a:r>
            <a:r>
              <a:rPr lang="zh-CN" altLang="en-US" sz="2200" dirty="0"/>
              <a:t>；</a:t>
            </a:r>
            <a:r>
              <a:rPr lang="en-US" altLang="zh-CN" sz="2200" dirty="0"/>
              <a:t>SUB</a:t>
            </a:r>
            <a:r>
              <a:rPr lang="zh-CN" altLang="en-US" sz="2200" dirty="0"/>
              <a:t>：</a:t>
            </a:r>
            <a:r>
              <a:rPr lang="en-US" altLang="zh-CN" sz="2200" dirty="0"/>
              <a:t>010</a:t>
            </a:r>
            <a:r>
              <a:rPr lang="zh-CN" altLang="en-US" sz="2200" dirty="0"/>
              <a:t>；</a:t>
            </a:r>
            <a:r>
              <a:rPr lang="en-US" altLang="zh-CN" sz="2200" dirty="0"/>
              <a:t>MOV</a:t>
            </a:r>
            <a:r>
              <a:rPr lang="zh-CN" altLang="en-US" sz="2200" dirty="0"/>
              <a:t>：</a:t>
            </a:r>
            <a:r>
              <a:rPr lang="en-US" altLang="zh-CN" sz="2200" dirty="0"/>
              <a:t>011</a:t>
            </a:r>
            <a:endParaRPr lang="en-US" altLang="zh-CN"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ln/>
        </p:spPr>
        <p:txBody>
          <a:bodyPr vert="horz" wrap="square" lIns="91440" tIns="45720" rIns="91440" bIns="45720" anchor="ctr" anchorCtr="0"/>
          <a:p>
            <a:pPr eaLnBrk="1" hangingPunct="1"/>
            <a:r>
              <a:rPr lang="zh-CN" altLang="en-US" dirty="0"/>
              <a:t>举例</a:t>
            </a:r>
            <a:r>
              <a:rPr lang="en-US" altLang="zh-CN" dirty="0"/>
              <a:t>1</a:t>
            </a:r>
            <a:r>
              <a:rPr lang="zh-CN" altLang="en-US" dirty="0"/>
              <a:t>：八位微型计算机的指令格式</a:t>
            </a:r>
            <a:endParaRPr lang="zh-CN" altLang="en-US" dirty="0"/>
          </a:p>
        </p:txBody>
      </p:sp>
      <p:sp>
        <p:nvSpPr>
          <p:cNvPr id="46083" name="Rectangle 3"/>
          <p:cNvSpPr>
            <a:spLocks noGrp="1"/>
          </p:cNvSpPr>
          <p:nvPr>
            <p:ph idx="1"/>
          </p:nvPr>
        </p:nvSpPr>
        <p:spPr>
          <a:ln/>
        </p:spPr>
        <p:txBody>
          <a:bodyPr vert="horz" wrap="square" lIns="91440" tIns="45720" rIns="91440" bIns="45720" anchor="t" anchorCtr="0"/>
          <a:p>
            <a:pPr eaLnBrk="1" hangingPunct="1"/>
            <a:r>
              <a:rPr lang="en-US" altLang="zh-CN" dirty="0"/>
              <a:t>8</a:t>
            </a:r>
            <a:r>
              <a:rPr lang="zh-CN" altLang="en-US" dirty="0"/>
              <a:t>位微型机字长只有</a:t>
            </a:r>
            <a:r>
              <a:rPr lang="en-US" altLang="zh-CN" dirty="0"/>
              <a:t>8</a:t>
            </a:r>
            <a:r>
              <a:rPr lang="zh-CN" altLang="en-US" dirty="0"/>
              <a:t>位，指令结构是一种可变字长形式，包含单字长、双字长、三字长指令等多种格式</a:t>
            </a:r>
            <a:endParaRPr lang="zh-CN" altLang="en-US" dirty="0"/>
          </a:p>
          <a:p>
            <a:pPr eaLnBrk="1" hangingPunct="1"/>
            <a:r>
              <a:rPr lang="zh-CN" altLang="en-US" dirty="0"/>
              <a:t>内存按字节编址</a:t>
            </a:r>
            <a:endParaRPr lang="zh-CN" altLang="en-US" dirty="0"/>
          </a:p>
        </p:txBody>
      </p:sp>
      <p:sp>
        <p:nvSpPr>
          <p:cNvPr id="46084" name="矩形 5"/>
          <p:cNvSpPr/>
          <p:nvPr/>
        </p:nvSpPr>
        <p:spPr>
          <a:xfrm>
            <a:off x="2809875" y="4824413"/>
            <a:ext cx="914400" cy="914400"/>
          </a:xfrm>
          <a:prstGeom prst="rect">
            <a:avLst/>
          </a:prstGeom>
          <a:noFill/>
          <a:ln w="9525" cap="flat" cmpd="sng">
            <a:solidFill>
              <a:schemeClr val="bg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defTabSz="914400" eaLnBrk="1" hangingPunct="1">
              <a:buClrTx/>
              <a:buSzTx/>
              <a:buNone/>
              <a:tabLst>
                <a:tab pos="0" algn="l"/>
              </a:tabLst>
            </a:pPr>
            <a:endParaRPr lang="zh-CN" altLang="en-US" dirty="0">
              <a:latin typeface="Times New Roman" panose="02020603050405020304" pitchFamily="18" charset="0"/>
              <a:ea typeface="黑体" panose="02010609060101010101" pitchFamily="49" charset="-122"/>
            </a:endParaRPr>
          </a:p>
        </p:txBody>
      </p:sp>
      <p:sp>
        <p:nvSpPr>
          <p:cNvPr id="7" name="矩形 6"/>
          <p:cNvSpPr/>
          <p:nvPr/>
        </p:nvSpPr>
        <p:spPr bwMode="auto">
          <a:xfrm>
            <a:off x="2357438" y="4283075"/>
            <a:ext cx="1562100" cy="509588"/>
          </a:xfrm>
          <a:prstGeom prst="rect">
            <a:avLst/>
          </a:prstGeom>
          <a:solidFill>
            <a:srgbClr val="000099"/>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lvl1pPr>
              <a:spcBef>
                <a:spcPct val="20000"/>
              </a:spcBef>
              <a:buClr>
                <a:srgbClr val="CC3300"/>
              </a:buClr>
              <a:buFont typeface="Wingdings 2" pitchFamily="18" charset="2"/>
              <a:buChar char="¡"/>
              <a:defRPr sz="3200" b="1">
                <a:solidFill>
                  <a:schemeClr val="tx1"/>
                </a:solidFill>
                <a:latin typeface="Times New Roman" panose="02020603050405020304" pitchFamily="18" charset="0"/>
                <a:ea typeface="楷体_GB2312"/>
                <a:cs typeface="楷体_GB2312"/>
              </a:defRPr>
            </a:lvl1pPr>
            <a:lvl2pPr marL="714375" indent="-265430">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cs typeface="楷体_GB2312"/>
              </a:defRPr>
            </a:lvl2pPr>
            <a:lvl3pPr marL="1167130"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cs typeface="楷体_GB2312"/>
              </a:defRPr>
            </a:lvl3pPr>
            <a:lvl4pPr marL="1611630" indent="-265430">
              <a:spcBef>
                <a:spcPct val="20000"/>
              </a:spcBef>
              <a:buSzPct val="90000"/>
              <a:buFont typeface="Wingdings 2" pitchFamily="18" charset="2"/>
              <a:buChar char="°"/>
              <a:defRPr sz="2000" b="1">
                <a:solidFill>
                  <a:schemeClr val="tx1"/>
                </a:solidFill>
                <a:latin typeface="Times New Roman" panose="02020603050405020304" pitchFamily="18" charset="0"/>
                <a:ea typeface="隶书" panose="02010509060101010101" pitchFamily="49" charset="-122"/>
                <a:cs typeface="楷体_GB231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cs typeface="楷体_GB231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rPr>
              <a:t>操作码</a:t>
            </a:r>
            <a:endPar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endParaRPr>
          </a:p>
        </p:txBody>
      </p:sp>
      <p:sp>
        <p:nvSpPr>
          <p:cNvPr id="8" name="矩形 7"/>
          <p:cNvSpPr/>
          <p:nvPr/>
        </p:nvSpPr>
        <p:spPr bwMode="auto">
          <a:xfrm>
            <a:off x="2363788" y="4953000"/>
            <a:ext cx="1562100" cy="509588"/>
          </a:xfrm>
          <a:prstGeom prst="rect">
            <a:avLst/>
          </a:prstGeom>
          <a:solidFill>
            <a:srgbClr val="000099"/>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lvl1pPr>
              <a:spcBef>
                <a:spcPct val="20000"/>
              </a:spcBef>
              <a:buClr>
                <a:srgbClr val="CC3300"/>
              </a:buClr>
              <a:buFont typeface="Wingdings 2" pitchFamily="18" charset="2"/>
              <a:buChar char="¡"/>
              <a:defRPr sz="3200" b="1">
                <a:solidFill>
                  <a:schemeClr val="tx1"/>
                </a:solidFill>
                <a:latin typeface="Times New Roman" panose="02020603050405020304" pitchFamily="18" charset="0"/>
                <a:ea typeface="楷体_GB2312"/>
                <a:cs typeface="楷体_GB2312"/>
              </a:defRPr>
            </a:lvl1pPr>
            <a:lvl2pPr marL="714375" indent="-265430">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cs typeface="楷体_GB2312"/>
              </a:defRPr>
            </a:lvl2pPr>
            <a:lvl3pPr marL="1167130"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cs typeface="楷体_GB2312"/>
              </a:defRPr>
            </a:lvl3pPr>
            <a:lvl4pPr marL="1611630" indent="-265430">
              <a:spcBef>
                <a:spcPct val="20000"/>
              </a:spcBef>
              <a:buSzPct val="90000"/>
              <a:buFont typeface="Wingdings 2" pitchFamily="18" charset="2"/>
              <a:buChar char="°"/>
              <a:defRPr sz="2000" b="1">
                <a:solidFill>
                  <a:schemeClr val="tx1"/>
                </a:solidFill>
                <a:latin typeface="Times New Roman" panose="02020603050405020304" pitchFamily="18" charset="0"/>
                <a:ea typeface="隶书" panose="02010509060101010101" pitchFamily="49" charset="-122"/>
                <a:cs typeface="楷体_GB231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cs typeface="楷体_GB231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rPr>
              <a:t>操作码</a:t>
            </a:r>
            <a:endPar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endParaRPr>
          </a:p>
        </p:txBody>
      </p:sp>
      <p:sp>
        <p:nvSpPr>
          <p:cNvPr id="9" name="矩形 8"/>
          <p:cNvSpPr/>
          <p:nvPr/>
        </p:nvSpPr>
        <p:spPr bwMode="auto">
          <a:xfrm>
            <a:off x="2363788" y="5656263"/>
            <a:ext cx="1562100" cy="509588"/>
          </a:xfrm>
          <a:prstGeom prst="rect">
            <a:avLst/>
          </a:prstGeom>
          <a:solidFill>
            <a:srgbClr val="000099"/>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lvl1pPr>
              <a:spcBef>
                <a:spcPct val="20000"/>
              </a:spcBef>
              <a:buClr>
                <a:srgbClr val="CC3300"/>
              </a:buClr>
              <a:buFont typeface="Wingdings 2" pitchFamily="18" charset="2"/>
              <a:buChar char="¡"/>
              <a:defRPr sz="3200" b="1">
                <a:solidFill>
                  <a:schemeClr val="tx1"/>
                </a:solidFill>
                <a:latin typeface="Times New Roman" panose="02020603050405020304" pitchFamily="18" charset="0"/>
                <a:ea typeface="楷体_GB2312"/>
                <a:cs typeface="楷体_GB2312"/>
              </a:defRPr>
            </a:lvl1pPr>
            <a:lvl2pPr marL="714375" indent="-265430">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cs typeface="楷体_GB2312"/>
              </a:defRPr>
            </a:lvl2pPr>
            <a:lvl3pPr marL="1167130"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cs typeface="楷体_GB2312"/>
              </a:defRPr>
            </a:lvl3pPr>
            <a:lvl4pPr marL="1611630" indent="-265430">
              <a:spcBef>
                <a:spcPct val="20000"/>
              </a:spcBef>
              <a:buSzPct val="90000"/>
              <a:buFont typeface="Wingdings 2" pitchFamily="18" charset="2"/>
              <a:buChar char="°"/>
              <a:defRPr sz="2000" b="1">
                <a:solidFill>
                  <a:schemeClr val="tx1"/>
                </a:solidFill>
                <a:latin typeface="Times New Roman" panose="02020603050405020304" pitchFamily="18" charset="0"/>
                <a:ea typeface="隶书" panose="02010509060101010101" pitchFamily="49" charset="-122"/>
                <a:cs typeface="楷体_GB231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cs typeface="楷体_GB231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rPr>
              <a:t>操作码</a:t>
            </a:r>
            <a:endParaRPr kumimoji="0" lang="zh-CN" altLang="en-US" sz="2800" b="0" i="0" u="none" strike="noStrike" kern="1200" cap="none" spc="0" normalizeH="0" baseline="0" noProof="0" smtClean="0">
              <a:ln>
                <a:noFill/>
              </a:ln>
              <a:solidFill>
                <a:schemeClr val="bg1"/>
              </a:solidFill>
              <a:effectLst/>
              <a:uLnTx/>
              <a:uFillTx/>
              <a:latin typeface="楷体_GB2312"/>
              <a:ea typeface="楷体_GB2312"/>
              <a:cs typeface="楷体_GB2312"/>
            </a:endParaRPr>
          </a:p>
        </p:txBody>
      </p:sp>
      <p:sp>
        <p:nvSpPr>
          <p:cNvPr id="10" name="矩形 9"/>
          <p:cNvSpPr/>
          <p:nvPr/>
        </p:nvSpPr>
        <p:spPr bwMode="auto">
          <a:xfrm>
            <a:off x="3925888" y="4953000"/>
            <a:ext cx="2049463" cy="509588"/>
          </a:xfrm>
          <a:prstGeom prst="rect">
            <a:avLst/>
          </a:prstGeom>
          <a:solidFill>
            <a:srgbClr val="006600"/>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rPr>
              <a:t>操作数地址</a:t>
            </a:r>
            <a:endPar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endParaRPr>
          </a:p>
        </p:txBody>
      </p:sp>
      <p:sp>
        <p:nvSpPr>
          <p:cNvPr id="11" name="矩形 10"/>
          <p:cNvSpPr/>
          <p:nvPr/>
        </p:nvSpPr>
        <p:spPr bwMode="auto">
          <a:xfrm>
            <a:off x="3924300" y="5654675"/>
            <a:ext cx="2049463" cy="511175"/>
          </a:xfrm>
          <a:prstGeom prst="rect">
            <a:avLst/>
          </a:prstGeom>
          <a:solidFill>
            <a:srgbClr val="006600"/>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rPr>
              <a:t>操作数地址</a:t>
            </a:r>
            <a:endPar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endParaRPr>
          </a:p>
        </p:txBody>
      </p:sp>
      <p:sp>
        <p:nvSpPr>
          <p:cNvPr id="12" name="矩形 11"/>
          <p:cNvSpPr/>
          <p:nvPr/>
        </p:nvSpPr>
        <p:spPr bwMode="auto">
          <a:xfrm>
            <a:off x="5980113" y="5654675"/>
            <a:ext cx="2047875" cy="511175"/>
          </a:xfrm>
          <a:prstGeom prst="rect">
            <a:avLst/>
          </a:prstGeom>
          <a:solidFill>
            <a:srgbClr val="006600"/>
          </a:solidFill>
          <a:ln w="9525" cap="flat" cmpd="sng" algn="ctr">
            <a:solidFill>
              <a:schemeClr val="bg1"/>
            </a:solidFill>
            <a:prstDash val="solid"/>
            <a:miter lim="800000"/>
            <a:headEnd type="none" w="med" len="med"/>
            <a:tailEnd type="none" w="med" len="med"/>
          </a:ln>
          <a:effectLst>
            <a:outerShdw blurRad="50800" dist="38100" dir="2700000" algn="tl" rotWithShape="0">
              <a:prstClr val="black">
                <a:alpha val="40000"/>
              </a:prstClr>
            </a:outerShdw>
          </a:effectLst>
        </p:spPr>
        <p: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rPr>
              <a:t>操作数地址</a:t>
            </a:r>
            <a:endPar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mn-ea"/>
            </a:endParaRPr>
          </a:p>
        </p:txBody>
      </p:sp>
      <p:sp>
        <p:nvSpPr>
          <p:cNvPr id="46091" name="TextBox 12"/>
          <p:cNvSpPr txBox="1"/>
          <p:nvPr/>
        </p:nvSpPr>
        <p:spPr>
          <a:xfrm>
            <a:off x="390525" y="4249738"/>
            <a:ext cx="1989138"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Tx/>
              <a:buNone/>
            </a:pPr>
            <a:r>
              <a:rPr lang="zh-CN" altLang="en-US" sz="2800" b="1" dirty="0">
                <a:latin typeface="楷体_GB2312"/>
                <a:ea typeface="楷体_GB2312"/>
              </a:rPr>
              <a:t>单字长指令</a:t>
            </a:r>
            <a:endParaRPr lang="zh-CN" altLang="en-US" sz="2800" b="1" dirty="0">
              <a:latin typeface="楷体_GB2312"/>
              <a:ea typeface="楷体_GB2312"/>
            </a:endParaRPr>
          </a:p>
        </p:txBody>
      </p:sp>
      <p:sp>
        <p:nvSpPr>
          <p:cNvPr id="46092" name="TextBox 13"/>
          <p:cNvSpPr txBox="1"/>
          <p:nvPr/>
        </p:nvSpPr>
        <p:spPr>
          <a:xfrm>
            <a:off x="390525" y="4887913"/>
            <a:ext cx="1987550"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Tx/>
              <a:buNone/>
            </a:pPr>
            <a:r>
              <a:rPr lang="zh-CN" altLang="en-US" sz="2800" b="1" dirty="0">
                <a:latin typeface="楷体_GB2312"/>
                <a:ea typeface="楷体_GB2312"/>
              </a:rPr>
              <a:t>双字长指令</a:t>
            </a:r>
            <a:endParaRPr lang="zh-CN" altLang="en-US" sz="2800" b="1" dirty="0">
              <a:latin typeface="楷体_GB2312"/>
              <a:ea typeface="楷体_GB2312"/>
            </a:endParaRPr>
          </a:p>
        </p:txBody>
      </p:sp>
      <p:sp>
        <p:nvSpPr>
          <p:cNvPr id="46093" name="TextBox 14"/>
          <p:cNvSpPr txBox="1"/>
          <p:nvPr/>
        </p:nvSpPr>
        <p:spPr>
          <a:xfrm>
            <a:off x="414338" y="5616575"/>
            <a:ext cx="1987550" cy="522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Tx/>
              <a:buNone/>
            </a:pPr>
            <a:r>
              <a:rPr lang="zh-CN" altLang="en-US" sz="2800" b="1" dirty="0">
                <a:latin typeface="楷体_GB2312"/>
                <a:ea typeface="楷体_GB2312"/>
              </a:rPr>
              <a:t>三字长指令</a:t>
            </a:r>
            <a:endParaRPr lang="zh-CN" altLang="en-US" sz="2800" b="1" dirty="0">
              <a:latin typeface="楷体_GB2312"/>
              <a:ea typeface="楷体_GB231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457200" y="41275"/>
            <a:ext cx="8229600" cy="1371600"/>
          </a:xfrm>
          <a:ln/>
        </p:spPr>
        <p:txBody>
          <a:bodyPr vert="horz" wrap="square" lIns="91440" tIns="45720" rIns="91440" bIns="45720" anchor="ctr" anchorCtr="0"/>
          <a:p>
            <a:r>
              <a:rPr lang="zh-CN" altLang="en-US" sz="3500" dirty="0"/>
              <a:t>六、指令格式举例</a:t>
            </a:r>
            <a:endParaRPr lang="zh-CN" altLang="en-US" sz="3500" dirty="0"/>
          </a:p>
        </p:txBody>
      </p:sp>
      <p:sp>
        <p:nvSpPr>
          <p:cNvPr id="47107" name="Rectangle 3"/>
          <p:cNvSpPr>
            <a:spLocks noGrp="1"/>
          </p:cNvSpPr>
          <p:nvPr>
            <p:ph idx="1"/>
          </p:nvPr>
        </p:nvSpPr>
        <p:spPr>
          <a:xfrm>
            <a:off x="636588" y="549275"/>
            <a:ext cx="8507412" cy="3886200"/>
          </a:xfrm>
          <a:ln/>
        </p:spPr>
        <p:txBody>
          <a:bodyPr vert="horz" wrap="square" lIns="91440" tIns="45720" rIns="91440" bIns="45720" anchor="t" anchorCtr="0"/>
          <a:p>
            <a:pPr lvl="1">
              <a:buNone/>
            </a:pPr>
            <a:endParaRPr lang="zh-CN" altLang="en-US" sz="2200" dirty="0"/>
          </a:p>
          <a:p>
            <a:r>
              <a:rPr lang="en-US" altLang="zh-CN" sz="2600" b="1" dirty="0">
                <a:solidFill>
                  <a:srgbClr val="3333FF"/>
                </a:solidFill>
              </a:rPr>
              <a:t>2</a:t>
            </a:r>
            <a:r>
              <a:rPr lang="zh-CN" altLang="en-US" sz="2600" b="1" dirty="0">
                <a:solidFill>
                  <a:srgbClr val="3333FF"/>
                </a:solidFill>
              </a:rPr>
              <a:t>、</a:t>
            </a:r>
            <a:r>
              <a:rPr lang="en-US" altLang="zh-CN" sz="2600" b="1" dirty="0">
                <a:solidFill>
                  <a:srgbClr val="3333FF"/>
                </a:solidFill>
              </a:rPr>
              <a:t>MIPS R4000</a:t>
            </a:r>
            <a:r>
              <a:rPr lang="zh-CN" altLang="en-US" sz="2600" b="1" dirty="0">
                <a:solidFill>
                  <a:srgbClr val="3333FF"/>
                </a:solidFill>
              </a:rPr>
              <a:t>指令格式</a:t>
            </a:r>
            <a:endParaRPr lang="zh-CN" altLang="en-US" sz="2600" b="1" dirty="0">
              <a:solidFill>
                <a:srgbClr val="3333FF"/>
              </a:solidFill>
            </a:endParaRPr>
          </a:p>
        </p:txBody>
      </p:sp>
      <p:pic>
        <p:nvPicPr>
          <p:cNvPr id="47108" name="Picture 2"/>
          <p:cNvPicPr>
            <a:picLocks noChangeAspect="1"/>
          </p:cNvPicPr>
          <p:nvPr/>
        </p:nvPicPr>
        <p:blipFill>
          <a:blip r:embed="rId1"/>
          <a:stretch>
            <a:fillRect/>
          </a:stretch>
        </p:blipFill>
        <p:spPr>
          <a:xfrm>
            <a:off x="1476375" y="1557338"/>
            <a:ext cx="5759450" cy="4691062"/>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457200" y="41275"/>
            <a:ext cx="8229600" cy="1371600"/>
          </a:xfrm>
          <a:ln/>
        </p:spPr>
        <p:txBody>
          <a:bodyPr vert="horz" wrap="square" lIns="91440" tIns="45720" rIns="91440" bIns="45720" anchor="ctr" anchorCtr="0"/>
          <a:p>
            <a:r>
              <a:rPr lang="zh-CN" altLang="en-US" sz="3500" dirty="0"/>
              <a:t>六、指令格式举例</a:t>
            </a:r>
            <a:endParaRPr lang="zh-CN" altLang="en-US" sz="3500" dirty="0"/>
          </a:p>
        </p:txBody>
      </p:sp>
      <p:sp>
        <p:nvSpPr>
          <p:cNvPr id="48131" name="Rectangle 3"/>
          <p:cNvSpPr>
            <a:spLocks noGrp="1"/>
          </p:cNvSpPr>
          <p:nvPr>
            <p:ph idx="1"/>
          </p:nvPr>
        </p:nvSpPr>
        <p:spPr>
          <a:xfrm>
            <a:off x="636588" y="549275"/>
            <a:ext cx="8507412" cy="3886200"/>
          </a:xfrm>
          <a:ln/>
        </p:spPr>
        <p:txBody>
          <a:bodyPr vert="horz" wrap="square" lIns="91440" tIns="45720" rIns="91440" bIns="45720" anchor="t" anchorCtr="0"/>
          <a:p>
            <a:pPr lvl="1">
              <a:buNone/>
            </a:pPr>
            <a:endParaRPr lang="zh-CN" altLang="en-US" sz="2200" dirty="0"/>
          </a:p>
          <a:p>
            <a:r>
              <a:rPr lang="en-US" altLang="zh-CN" sz="2600" b="1" dirty="0">
                <a:solidFill>
                  <a:srgbClr val="3333FF"/>
                </a:solidFill>
              </a:rPr>
              <a:t>2</a:t>
            </a:r>
            <a:r>
              <a:rPr lang="zh-CN" altLang="en-US" sz="2600" b="1" dirty="0">
                <a:solidFill>
                  <a:srgbClr val="3333FF"/>
                </a:solidFill>
              </a:rPr>
              <a:t>、</a:t>
            </a:r>
            <a:r>
              <a:rPr lang="en-US" altLang="zh-CN" sz="2600" b="1" dirty="0">
                <a:solidFill>
                  <a:srgbClr val="3333FF"/>
                </a:solidFill>
              </a:rPr>
              <a:t>ARM </a:t>
            </a:r>
            <a:r>
              <a:rPr lang="zh-CN" altLang="en-US" sz="2600" b="1" dirty="0">
                <a:solidFill>
                  <a:srgbClr val="3333FF"/>
                </a:solidFill>
              </a:rPr>
              <a:t>指令格式</a:t>
            </a:r>
            <a:endParaRPr lang="zh-CN" altLang="en-US" sz="2600" b="1" dirty="0">
              <a:solidFill>
                <a:srgbClr val="3333FF"/>
              </a:solidFill>
            </a:endParaRPr>
          </a:p>
        </p:txBody>
      </p:sp>
      <p:pic>
        <p:nvPicPr>
          <p:cNvPr id="48132" name="Picture 3"/>
          <p:cNvPicPr>
            <a:picLocks noChangeAspect="1"/>
          </p:cNvPicPr>
          <p:nvPr/>
        </p:nvPicPr>
        <p:blipFill>
          <a:blip r:embed="rId1"/>
          <a:stretch>
            <a:fillRect/>
          </a:stretch>
        </p:blipFill>
        <p:spPr>
          <a:xfrm>
            <a:off x="1042988" y="1341438"/>
            <a:ext cx="7489825" cy="5221287"/>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612775" y="981075"/>
            <a:ext cx="3743325" cy="647700"/>
          </a:xfrm>
          <a:ln/>
        </p:spPr>
        <p:txBody>
          <a:bodyPr vert="horz" wrap="square" lIns="91440" tIns="45720" rIns="91440" bIns="45720" anchor="ctr" anchorCtr="0"/>
          <a:p>
            <a:r>
              <a:rPr lang="en-US" altLang="zh-CN" sz="2600" dirty="0">
                <a:solidFill>
                  <a:srgbClr val="3333FF"/>
                </a:solidFill>
              </a:rPr>
              <a:t>3</a:t>
            </a:r>
            <a:r>
              <a:rPr lang="zh-CN" altLang="en-US" sz="2600" dirty="0">
                <a:solidFill>
                  <a:srgbClr val="3333FF"/>
                </a:solidFill>
              </a:rPr>
              <a:t>、</a:t>
            </a:r>
            <a:r>
              <a:rPr lang="en-US" altLang="zh-CN" sz="2600" dirty="0">
                <a:solidFill>
                  <a:srgbClr val="3333FF"/>
                </a:solidFill>
              </a:rPr>
              <a:t>Pentium</a:t>
            </a:r>
            <a:r>
              <a:rPr lang="zh-CN" altLang="en-US" sz="2600" dirty="0">
                <a:solidFill>
                  <a:srgbClr val="3333FF"/>
                </a:solidFill>
              </a:rPr>
              <a:t>指令格式</a:t>
            </a:r>
            <a:endParaRPr lang="zh-CN" altLang="en-US" sz="2600" dirty="0">
              <a:solidFill>
                <a:srgbClr val="3333FF"/>
              </a:solidFill>
            </a:endParaRPr>
          </a:p>
        </p:txBody>
      </p:sp>
      <p:sp>
        <p:nvSpPr>
          <p:cNvPr id="49155" name="Rectangle 3"/>
          <p:cNvSpPr>
            <a:spLocks noGrp="1"/>
          </p:cNvSpPr>
          <p:nvPr>
            <p:ph idx="1"/>
          </p:nvPr>
        </p:nvSpPr>
        <p:spPr>
          <a:xfrm>
            <a:off x="539750" y="1660525"/>
            <a:ext cx="7848600" cy="4648200"/>
          </a:xfrm>
          <a:ln/>
        </p:spPr>
        <p:txBody>
          <a:bodyPr vert="horz" wrap="square" lIns="91440" tIns="45720" rIns="91440" bIns="45720" anchor="t" anchorCtr="0"/>
          <a:p>
            <a:r>
              <a:rPr lang="zh-CN" altLang="en-US" sz="2600" dirty="0"/>
              <a:t>指令长度可变，最短</a:t>
            </a:r>
            <a:r>
              <a:rPr lang="en-US" altLang="zh-CN" sz="2600" dirty="0"/>
              <a:t>1</a:t>
            </a:r>
            <a:r>
              <a:rPr lang="zh-CN" altLang="en-US" sz="2600" dirty="0"/>
              <a:t>个字节，最长</a:t>
            </a:r>
            <a:r>
              <a:rPr lang="en-US" altLang="zh-CN" sz="2600" dirty="0"/>
              <a:t>12</a:t>
            </a:r>
            <a:r>
              <a:rPr lang="zh-CN" altLang="en-US" sz="2600" dirty="0"/>
              <a:t>个字节，</a:t>
            </a:r>
            <a:r>
              <a:rPr lang="zh-CN" altLang="en-US" sz="2600" dirty="0">
                <a:solidFill>
                  <a:srgbClr val="3333FF"/>
                </a:solidFill>
              </a:rPr>
              <a:t>典型的</a:t>
            </a:r>
            <a:r>
              <a:rPr lang="en-US" altLang="zh-CN" sz="2600" dirty="0">
                <a:solidFill>
                  <a:srgbClr val="3333FF"/>
                </a:solidFill>
              </a:rPr>
              <a:t>CISC</a:t>
            </a:r>
            <a:r>
              <a:rPr lang="zh-CN" altLang="en-US" sz="2600" dirty="0">
                <a:solidFill>
                  <a:srgbClr val="3333FF"/>
                </a:solidFill>
              </a:rPr>
              <a:t>指令系统</a:t>
            </a:r>
            <a:endParaRPr lang="zh-CN" altLang="en-US" sz="2600" dirty="0">
              <a:solidFill>
                <a:srgbClr val="3333FF"/>
              </a:solidFill>
            </a:endParaRPr>
          </a:p>
          <a:p>
            <a:r>
              <a:rPr lang="zh-CN" altLang="en-US" sz="2600" dirty="0"/>
              <a:t>由可选前缀（</a:t>
            </a:r>
            <a:r>
              <a:rPr lang="en-US" altLang="zh-CN" sz="2600" dirty="0"/>
              <a:t>0~4</a:t>
            </a:r>
            <a:r>
              <a:rPr lang="zh-CN" altLang="en-US" sz="2600" dirty="0"/>
              <a:t>）、操作码（</a:t>
            </a:r>
            <a:r>
              <a:rPr lang="en-US" altLang="zh-CN" sz="2600" dirty="0"/>
              <a:t>1~2</a:t>
            </a:r>
            <a:r>
              <a:rPr lang="zh-CN" altLang="en-US" sz="2600" dirty="0"/>
              <a:t>）、</a:t>
            </a:r>
            <a:r>
              <a:rPr lang="zh-CN" altLang="en-US" sz="2600" u="sng" dirty="0"/>
              <a:t>一个由</a:t>
            </a:r>
            <a:r>
              <a:rPr lang="en-US" altLang="zh-CN" sz="2600" u="sng" dirty="0"/>
              <a:t>mod-R/M</a:t>
            </a:r>
            <a:r>
              <a:rPr lang="zh-CN" altLang="en-US" sz="2600" u="sng" dirty="0"/>
              <a:t>字节和一个</a:t>
            </a:r>
            <a:r>
              <a:rPr lang="en-US" altLang="zh-CN" sz="2600" u="sng" dirty="0"/>
              <a:t>SIB</a:t>
            </a:r>
            <a:r>
              <a:rPr lang="zh-CN" altLang="en-US" sz="2600" u="sng" dirty="0"/>
              <a:t>（</a:t>
            </a:r>
            <a:r>
              <a:rPr lang="en-US" altLang="zh-CN" sz="2600" u="sng" dirty="0"/>
              <a:t>Scale Index Base</a:t>
            </a:r>
            <a:r>
              <a:rPr lang="zh-CN" altLang="en-US" sz="2600" u="sng" dirty="0"/>
              <a:t>）比例变址字节组成的地址指定器</a:t>
            </a:r>
            <a:r>
              <a:rPr lang="zh-CN" altLang="en-US" sz="2600" dirty="0"/>
              <a:t>、一个可选的位移量（</a:t>
            </a:r>
            <a:r>
              <a:rPr lang="en-US" altLang="zh-CN" sz="2600" dirty="0"/>
              <a:t>0~4</a:t>
            </a:r>
            <a:r>
              <a:rPr lang="zh-CN" altLang="en-US" sz="2600" dirty="0"/>
              <a:t>）和一个可选的立即数字段（</a:t>
            </a:r>
            <a:r>
              <a:rPr lang="en-US" altLang="zh-CN" sz="2600" dirty="0"/>
              <a:t>0~4</a:t>
            </a:r>
            <a:r>
              <a:rPr lang="zh-CN" altLang="en-US" sz="2600" dirty="0"/>
              <a:t>）构成。</a:t>
            </a:r>
            <a:endParaRPr lang="zh-CN" altLang="en-US" sz="2600" dirty="0"/>
          </a:p>
        </p:txBody>
      </p:sp>
      <p:grpSp>
        <p:nvGrpSpPr>
          <p:cNvPr id="49156" name="Group 9"/>
          <p:cNvGrpSpPr/>
          <p:nvPr/>
        </p:nvGrpSpPr>
        <p:grpSpPr>
          <a:xfrm>
            <a:off x="839788" y="4724400"/>
            <a:ext cx="7620000" cy="466725"/>
            <a:chOff x="720" y="2448"/>
            <a:chExt cx="4800" cy="294"/>
          </a:xfrm>
        </p:grpSpPr>
        <p:sp>
          <p:nvSpPr>
            <p:cNvPr id="49168" name="Text Box 10"/>
            <p:cNvSpPr txBox="1"/>
            <p:nvPr/>
          </p:nvSpPr>
          <p:spPr>
            <a:xfrm>
              <a:off x="720" y="2448"/>
              <a:ext cx="4800"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Times New Roman" panose="02020603050405020304" pitchFamily="18" charset="0"/>
                </a:rPr>
                <a:t>操作码   </a:t>
              </a:r>
              <a:r>
                <a:rPr lang="en-US" altLang="zh-CN" sz="2400" dirty="0">
                  <a:latin typeface="Times New Roman" panose="02020603050405020304" pitchFamily="18" charset="0"/>
                </a:rPr>
                <a:t>Mod Reg</a:t>
              </a:r>
              <a:r>
                <a:rPr lang="zh-CN" altLang="en-US" sz="2400" dirty="0">
                  <a:latin typeface="Times New Roman" panose="02020603050405020304" pitchFamily="18" charset="0"/>
                </a:rPr>
                <a:t>或操作码  </a:t>
              </a:r>
              <a:r>
                <a:rPr lang="en-US" altLang="zh-CN" sz="2400" dirty="0">
                  <a:latin typeface="Times New Roman" panose="02020603050405020304" pitchFamily="18" charset="0"/>
                </a:rPr>
                <a:t>R/M S  I  B </a:t>
              </a:r>
              <a:r>
                <a:rPr lang="zh-CN" altLang="en-US" sz="2400" dirty="0">
                  <a:latin typeface="Times New Roman" panose="02020603050405020304" pitchFamily="18" charset="0"/>
                </a:rPr>
                <a:t>位移量   立即数</a:t>
              </a:r>
              <a:endParaRPr lang="zh-CN" altLang="en-US" sz="2400" dirty="0">
                <a:latin typeface="Times New Roman" panose="02020603050405020304" pitchFamily="18" charset="0"/>
              </a:endParaRPr>
            </a:p>
          </p:txBody>
        </p:sp>
        <p:sp>
          <p:nvSpPr>
            <p:cNvPr id="49169" name="Line 11"/>
            <p:cNvSpPr/>
            <p:nvPr/>
          </p:nvSpPr>
          <p:spPr>
            <a:xfrm>
              <a:off x="1392" y="2448"/>
              <a:ext cx="0" cy="288"/>
            </a:xfrm>
            <a:prstGeom prst="line">
              <a:avLst/>
            </a:prstGeom>
            <a:ln w="9525" cap="flat" cmpd="sng">
              <a:solidFill>
                <a:schemeClr val="tx1"/>
              </a:solidFill>
              <a:prstDash val="solid"/>
              <a:miter/>
              <a:headEnd type="none" w="med" len="med"/>
              <a:tailEnd type="none" w="med" len="med"/>
            </a:ln>
          </p:spPr>
        </p:sp>
        <p:sp>
          <p:nvSpPr>
            <p:cNvPr id="49170" name="Line 12"/>
            <p:cNvSpPr/>
            <p:nvPr/>
          </p:nvSpPr>
          <p:spPr>
            <a:xfrm>
              <a:off x="1920" y="2448"/>
              <a:ext cx="0" cy="288"/>
            </a:xfrm>
            <a:prstGeom prst="line">
              <a:avLst/>
            </a:prstGeom>
            <a:ln w="9525" cap="flat" cmpd="sng">
              <a:solidFill>
                <a:schemeClr val="tx1"/>
              </a:solidFill>
              <a:prstDash val="solid"/>
              <a:miter/>
              <a:headEnd type="none" w="med" len="med"/>
              <a:tailEnd type="none" w="med" len="med"/>
            </a:ln>
          </p:spPr>
        </p:sp>
        <p:sp>
          <p:nvSpPr>
            <p:cNvPr id="49171" name="Line 13"/>
            <p:cNvSpPr/>
            <p:nvPr/>
          </p:nvSpPr>
          <p:spPr>
            <a:xfrm>
              <a:off x="3024" y="2448"/>
              <a:ext cx="0" cy="288"/>
            </a:xfrm>
            <a:prstGeom prst="line">
              <a:avLst/>
            </a:prstGeom>
            <a:ln w="9525" cap="flat" cmpd="sng">
              <a:solidFill>
                <a:schemeClr val="tx1"/>
              </a:solidFill>
              <a:prstDash val="solid"/>
              <a:miter/>
              <a:headEnd type="none" w="med" len="med"/>
              <a:tailEnd type="none" w="med" len="med"/>
            </a:ln>
          </p:spPr>
        </p:sp>
        <p:sp>
          <p:nvSpPr>
            <p:cNvPr id="49172" name="Line 14"/>
            <p:cNvSpPr/>
            <p:nvPr/>
          </p:nvSpPr>
          <p:spPr>
            <a:xfrm>
              <a:off x="3456" y="2448"/>
              <a:ext cx="0" cy="288"/>
            </a:xfrm>
            <a:prstGeom prst="line">
              <a:avLst/>
            </a:prstGeom>
            <a:ln w="9525" cap="flat" cmpd="sng">
              <a:solidFill>
                <a:schemeClr val="tx1"/>
              </a:solidFill>
              <a:prstDash val="solid"/>
              <a:miter/>
              <a:headEnd type="none" w="med" len="med"/>
              <a:tailEnd type="none" w="med" len="med"/>
            </a:ln>
          </p:spPr>
        </p:sp>
        <p:sp>
          <p:nvSpPr>
            <p:cNvPr id="49173" name="Line 15"/>
            <p:cNvSpPr/>
            <p:nvPr/>
          </p:nvSpPr>
          <p:spPr>
            <a:xfrm>
              <a:off x="3600" y="2448"/>
              <a:ext cx="0" cy="288"/>
            </a:xfrm>
            <a:prstGeom prst="line">
              <a:avLst/>
            </a:prstGeom>
            <a:ln w="9525" cap="flat" cmpd="sng">
              <a:solidFill>
                <a:schemeClr val="tx1"/>
              </a:solidFill>
              <a:prstDash val="solid"/>
              <a:miter/>
              <a:headEnd type="none" w="med" len="med"/>
              <a:tailEnd type="none" w="med" len="med"/>
            </a:ln>
          </p:spPr>
        </p:sp>
        <p:sp>
          <p:nvSpPr>
            <p:cNvPr id="49174" name="Line 16"/>
            <p:cNvSpPr/>
            <p:nvPr/>
          </p:nvSpPr>
          <p:spPr>
            <a:xfrm>
              <a:off x="3792" y="2448"/>
              <a:ext cx="0" cy="288"/>
            </a:xfrm>
            <a:prstGeom prst="line">
              <a:avLst/>
            </a:prstGeom>
            <a:ln w="9525" cap="flat" cmpd="sng">
              <a:solidFill>
                <a:schemeClr val="tx1"/>
              </a:solidFill>
              <a:prstDash val="solid"/>
              <a:miter/>
              <a:headEnd type="none" w="med" len="med"/>
              <a:tailEnd type="none" w="med" len="med"/>
            </a:ln>
          </p:spPr>
        </p:sp>
        <p:sp>
          <p:nvSpPr>
            <p:cNvPr id="49175" name="Line 17"/>
            <p:cNvSpPr/>
            <p:nvPr/>
          </p:nvSpPr>
          <p:spPr>
            <a:xfrm>
              <a:off x="3984" y="2448"/>
              <a:ext cx="0" cy="288"/>
            </a:xfrm>
            <a:prstGeom prst="line">
              <a:avLst/>
            </a:prstGeom>
            <a:ln w="9525" cap="flat" cmpd="sng">
              <a:solidFill>
                <a:schemeClr val="tx1"/>
              </a:solidFill>
              <a:prstDash val="solid"/>
              <a:miter/>
              <a:headEnd type="none" w="med" len="med"/>
              <a:tailEnd type="none" w="med" len="med"/>
            </a:ln>
          </p:spPr>
        </p:sp>
        <p:sp>
          <p:nvSpPr>
            <p:cNvPr id="49176" name="Line 18"/>
            <p:cNvSpPr/>
            <p:nvPr/>
          </p:nvSpPr>
          <p:spPr>
            <a:xfrm>
              <a:off x="4656" y="2448"/>
              <a:ext cx="0" cy="288"/>
            </a:xfrm>
            <a:prstGeom prst="line">
              <a:avLst/>
            </a:prstGeom>
            <a:ln w="9525" cap="flat" cmpd="sng">
              <a:solidFill>
                <a:schemeClr val="tx1"/>
              </a:solidFill>
              <a:prstDash val="solid"/>
              <a:miter/>
              <a:headEnd type="none" w="med" len="med"/>
              <a:tailEnd type="none" w="med" len="med"/>
            </a:ln>
          </p:spPr>
        </p:sp>
      </p:grpSp>
      <p:sp>
        <p:nvSpPr>
          <p:cNvPr id="49157" name="Rectangle 19"/>
          <p:cNvSpPr/>
          <p:nvPr/>
        </p:nvSpPr>
        <p:spPr>
          <a:xfrm>
            <a:off x="468313" y="195263"/>
            <a:ext cx="7532687" cy="785812"/>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3500" b="1" dirty="0">
                <a:solidFill>
                  <a:schemeClr val="tx2"/>
                </a:solidFill>
              </a:rPr>
              <a:t>六、指令格式举例</a:t>
            </a:r>
            <a:endParaRPr lang="zh-CN" altLang="en-US" sz="3500" b="1" dirty="0">
              <a:solidFill>
                <a:schemeClr val="tx2"/>
              </a:solidFill>
            </a:endParaRPr>
          </a:p>
        </p:txBody>
      </p:sp>
      <p:sp>
        <p:nvSpPr>
          <p:cNvPr id="49158" name="Text Box 20"/>
          <p:cNvSpPr txBox="1"/>
          <p:nvPr/>
        </p:nvSpPr>
        <p:spPr>
          <a:xfrm>
            <a:off x="8027988" y="5264150"/>
            <a:ext cx="8699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字节数</a:t>
            </a:r>
            <a:endParaRPr lang="zh-CN" altLang="en-US" sz="1800" dirty="0"/>
          </a:p>
        </p:txBody>
      </p:sp>
      <p:sp>
        <p:nvSpPr>
          <p:cNvPr id="49159" name="Text Box 21"/>
          <p:cNvSpPr txBox="1"/>
          <p:nvPr/>
        </p:nvSpPr>
        <p:spPr>
          <a:xfrm>
            <a:off x="881063" y="5307013"/>
            <a:ext cx="6667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1-2B</a:t>
            </a:r>
            <a:endParaRPr lang="en-US" altLang="zh-CN" sz="1800" dirty="0"/>
          </a:p>
        </p:txBody>
      </p:sp>
      <p:sp>
        <p:nvSpPr>
          <p:cNvPr id="49160" name="Text Box 22"/>
          <p:cNvSpPr txBox="1"/>
          <p:nvPr/>
        </p:nvSpPr>
        <p:spPr>
          <a:xfrm>
            <a:off x="1889125"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2b</a:t>
            </a:r>
            <a:endParaRPr lang="en-US" altLang="zh-CN" sz="1800" dirty="0"/>
          </a:p>
        </p:txBody>
      </p:sp>
      <p:sp>
        <p:nvSpPr>
          <p:cNvPr id="49161" name="Text Box 23"/>
          <p:cNvSpPr txBox="1"/>
          <p:nvPr/>
        </p:nvSpPr>
        <p:spPr>
          <a:xfrm>
            <a:off x="3348038"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3b</a:t>
            </a:r>
            <a:endParaRPr lang="en-US" altLang="zh-CN" sz="1800" dirty="0"/>
          </a:p>
        </p:txBody>
      </p:sp>
      <p:sp>
        <p:nvSpPr>
          <p:cNvPr id="49162" name="Text Box 24"/>
          <p:cNvSpPr txBox="1"/>
          <p:nvPr/>
        </p:nvSpPr>
        <p:spPr>
          <a:xfrm>
            <a:off x="4494213"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3b</a:t>
            </a:r>
            <a:endParaRPr lang="en-US" altLang="zh-CN" sz="1800" dirty="0"/>
          </a:p>
        </p:txBody>
      </p:sp>
      <p:sp>
        <p:nvSpPr>
          <p:cNvPr id="49163" name="Text Box 25"/>
          <p:cNvSpPr txBox="1"/>
          <p:nvPr/>
        </p:nvSpPr>
        <p:spPr>
          <a:xfrm>
            <a:off x="4997450"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2b</a:t>
            </a:r>
            <a:endParaRPr lang="en-US" altLang="zh-CN" sz="1800" dirty="0"/>
          </a:p>
        </p:txBody>
      </p:sp>
      <p:sp>
        <p:nvSpPr>
          <p:cNvPr id="49164" name="Text Box 26"/>
          <p:cNvSpPr txBox="1"/>
          <p:nvPr/>
        </p:nvSpPr>
        <p:spPr>
          <a:xfrm>
            <a:off x="5286375"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3b</a:t>
            </a:r>
            <a:endParaRPr lang="en-US" altLang="zh-CN" sz="1800" dirty="0"/>
          </a:p>
        </p:txBody>
      </p:sp>
      <p:sp>
        <p:nvSpPr>
          <p:cNvPr id="49165" name="Text Box 27"/>
          <p:cNvSpPr txBox="1"/>
          <p:nvPr/>
        </p:nvSpPr>
        <p:spPr>
          <a:xfrm>
            <a:off x="5580063" y="52990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3b</a:t>
            </a:r>
            <a:endParaRPr lang="en-US" altLang="zh-CN" sz="1800" dirty="0"/>
          </a:p>
        </p:txBody>
      </p:sp>
      <p:sp>
        <p:nvSpPr>
          <p:cNvPr id="49166" name="Text Box 28"/>
          <p:cNvSpPr txBox="1"/>
          <p:nvPr/>
        </p:nvSpPr>
        <p:spPr>
          <a:xfrm>
            <a:off x="6300788" y="5329238"/>
            <a:ext cx="6667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0-4B</a:t>
            </a:r>
            <a:endParaRPr lang="en-US" altLang="zh-CN" sz="1800" dirty="0"/>
          </a:p>
        </p:txBody>
      </p:sp>
      <p:sp>
        <p:nvSpPr>
          <p:cNvPr id="49167" name="Text Box 29"/>
          <p:cNvSpPr txBox="1"/>
          <p:nvPr/>
        </p:nvSpPr>
        <p:spPr>
          <a:xfrm>
            <a:off x="7218363" y="5299075"/>
            <a:ext cx="6667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0-4B</a:t>
            </a:r>
            <a:endParaRPr lang="en-US" altLang="zh-CN"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457200" y="115888"/>
            <a:ext cx="8229600" cy="1371600"/>
          </a:xfrm>
          <a:ln/>
        </p:spPr>
        <p:txBody>
          <a:bodyPr vert="horz" wrap="square" lIns="91440" tIns="45720" rIns="91440" bIns="45720" anchor="ctr" anchorCtr="0"/>
          <a:p>
            <a:r>
              <a:rPr lang="zh-CN" altLang="en-US" sz="3500" dirty="0">
                <a:cs typeface="Times New Roman" panose="02020603050405020304" pitchFamily="18" charset="0"/>
              </a:rPr>
              <a:t>七</a:t>
            </a:r>
            <a:r>
              <a:rPr lang="zh-CN" altLang="en-US" sz="3500" dirty="0"/>
              <a:t>、 </a:t>
            </a:r>
            <a:r>
              <a:rPr lang="en-US" altLang="zh-CN" dirty="0"/>
              <a:t>Pentium</a:t>
            </a:r>
            <a:r>
              <a:rPr lang="zh-CN" altLang="en-US" dirty="0"/>
              <a:t>指令格式</a:t>
            </a:r>
            <a:endParaRPr lang="zh-CN" altLang="en-US" dirty="0"/>
          </a:p>
        </p:txBody>
      </p:sp>
      <p:sp>
        <p:nvSpPr>
          <p:cNvPr id="50179" name="Rectangle 3"/>
          <p:cNvSpPr>
            <a:spLocks noGrp="1"/>
          </p:cNvSpPr>
          <p:nvPr>
            <p:ph idx="1"/>
          </p:nvPr>
        </p:nvSpPr>
        <p:spPr>
          <a:xfrm>
            <a:off x="457200" y="1052513"/>
            <a:ext cx="8362950" cy="3886200"/>
          </a:xfrm>
          <a:ln/>
        </p:spPr>
        <p:txBody>
          <a:bodyPr vert="horz" wrap="square" lIns="91440" tIns="45720" rIns="91440" bIns="45720" anchor="t" anchorCtr="0"/>
          <a:p>
            <a:r>
              <a:rPr lang="zh-CN" altLang="en-US" dirty="0"/>
              <a:t>操作码是必须的，</a:t>
            </a:r>
            <a:r>
              <a:rPr lang="en-US" altLang="zh-CN" dirty="0"/>
              <a:t>1</a:t>
            </a:r>
            <a:r>
              <a:rPr lang="zh-CN" altLang="en-US" dirty="0"/>
              <a:t>～</a:t>
            </a:r>
            <a:r>
              <a:rPr lang="en-US" altLang="zh-CN" dirty="0"/>
              <a:t>2</a:t>
            </a:r>
            <a:r>
              <a:rPr lang="zh-CN" altLang="en-US" dirty="0"/>
              <a:t>个字节</a:t>
            </a:r>
            <a:endParaRPr lang="zh-CN" altLang="en-US" dirty="0"/>
          </a:p>
          <a:p>
            <a:r>
              <a:rPr lang="en-US" altLang="zh-CN" dirty="0"/>
              <a:t>Mod</a:t>
            </a:r>
            <a:r>
              <a:rPr lang="zh-CN" altLang="en-US" dirty="0"/>
              <a:t>、</a:t>
            </a:r>
            <a:r>
              <a:rPr lang="en-US" altLang="zh-CN" dirty="0"/>
              <a:t>Reg</a:t>
            </a:r>
            <a:r>
              <a:rPr lang="zh-CN" altLang="en-US" dirty="0"/>
              <a:t>、</a:t>
            </a:r>
            <a:r>
              <a:rPr lang="en-US" altLang="zh-CN" dirty="0"/>
              <a:t>R/M</a:t>
            </a:r>
            <a:r>
              <a:rPr lang="zh-CN" altLang="en-US" dirty="0"/>
              <a:t>为共</a:t>
            </a:r>
            <a:r>
              <a:rPr lang="en-US" altLang="zh-CN" dirty="0"/>
              <a:t>1</a:t>
            </a:r>
            <a:r>
              <a:rPr lang="zh-CN" altLang="en-US" dirty="0"/>
              <a:t>个字节，是可选的。</a:t>
            </a:r>
            <a:endParaRPr lang="zh-CN" altLang="en-US" dirty="0"/>
          </a:p>
          <a:p>
            <a:pPr lvl="1"/>
            <a:r>
              <a:rPr lang="en-US" altLang="zh-CN" dirty="0"/>
              <a:t>mod-R/M</a:t>
            </a:r>
            <a:r>
              <a:rPr lang="zh-CN" altLang="en-US" dirty="0"/>
              <a:t>指定的操作数是在</a:t>
            </a:r>
            <a:r>
              <a:rPr lang="en-US" altLang="zh-CN" dirty="0">
                <a:solidFill>
                  <a:srgbClr val="3333FF"/>
                </a:solidFill>
              </a:rPr>
              <a:t>R</a:t>
            </a:r>
            <a:r>
              <a:rPr lang="zh-CN" altLang="en-US" dirty="0"/>
              <a:t>中还是在</a:t>
            </a:r>
            <a:r>
              <a:rPr lang="en-US" altLang="zh-CN" dirty="0">
                <a:solidFill>
                  <a:srgbClr val="3333FF"/>
                </a:solidFill>
              </a:rPr>
              <a:t>M</a:t>
            </a:r>
            <a:r>
              <a:rPr lang="zh-CN" altLang="en-US" dirty="0"/>
              <a:t>中。</a:t>
            </a:r>
            <a:endParaRPr lang="zh-CN" altLang="en-US" dirty="0"/>
          </a:p>
          <a:p>
            <a:pPr lvl="1"/>
            <a:r>
              <a:rPr lang="en-US" altLang="zh-CN" dirty="0"/>
              <a:t>mod</a:t>
            </a:r>
            <a:r>
              <a:rPr lang="zh-CN" altLang="en-US" dirty="0"/>
              <a:t>（</a:t>
            </a:r>
            <a:r>
              <a:rPr lang="en-US" altLang="zh-CN" dirty="0"/>
              <a:t>2</a:t>
            </a:r>
            <a:r>
              <a:rPr lang="zh-CN" altLang="en-US" dirty="0"/>
              <a:t>位）</a:t>
            </a:r>
            <a:r>
              <a:rPr lang="en-US" altLang="zh-CN" dirty="0"/>
              <a:t>R/M</a:t>
            </a:r>
            <a:r>
              <a:rPr lang="zh-CN" altLang="en-US" dirty="0"/>
              <a:t>（</a:t>
            </a:r>
            <a:r>
              <a:rPr lang="en-US" altLang="zh-CN" dirty="0"/>
              <a:t>3</a:t>
            </a:r>
            <a:r>
              <a:rPr lang="zh-CN" altLang="en-US" dirty="0"/>
              <a:t>位）的</a:t>
            </a:r>
            <a:r>
              <a:rPr lang="en-US" altLang="zh-CN" dirty="0"/>
              <a:t>32</a:t>
            </a:r>
            <a:r>
              <a:rPr lang="zh-CN" altLang="en-US" dirty="0"/>
              <a:t>种值构成了</a:t>
            </a:r>
            <a:r>
              <a:rPr lang="en-US" altLang="zh-CN" dirty="0">
                <a:solidFill>
                  <a:srgbClr val="FF3300"/>
                </a:solidFill>
              </a:rPr>
              <a:t>8</a:t>
            </a:r>
            <a:r>
              <a:rPr lang="zh-CN" altLang="en-US" dirty="0">
                <a:solidFill>
                  <a:srgbClr val="FF3300"/>
                </a:solidFill>
              </a:rPr>
              <a:t>种寄存器方式和</a:t>
            </a:r>
            <a:r>
              <a:rPr lang="en-US" altLang="zh-CN" dirty="0">
                <a:solidFill>
                  <a:srgbClr val="FF3300"/>
                </a:solidFill>
              </a:rPr>
              <a:t>24</a:t>
            </a:r>
            <a:r>
              <a:rPr lang="zh-CN" altLang="en-US" dirty="0">
                <a:solidFill>
                  <a:srgbClr val="FF3300"/>
                </a:solidFill>
              </a:rPr>
              <a:t>种变址方式</a:t>
            </a:r>
            <a:r>
              <a:rPr lang="zh-CN" altLang="en-US" dirty="0"/>
              <a:t>；</a:t>
            </a:r>
            <a:endParaRPr lang="zh-CN" altLang="en-US" dirty="0"/>
          </a:p>
          <a:p>
            <a:pPr lvl="1"/>
            <a:r>
              <a:rPr lang="en-US" altLang="zh-CN" dirty="0"/>
              <a:t>Reg</a:t>
            </a:r>
            <a:r>
              <a:rPr lang="zh-CN" altLang="en-US" dirty="0"/>
              <a:t>或</a:t>
            </a:r>
            <a:r>
              <a:rPr lang="en-US" altLang="zh-CN" dirty="0"/>
              <a:t>OP</a:t>
            </a:r>
            <a:r>
              <a:rPr lang="zh-CN" altLang="en-US" dirty="0"/>
              <a:t>（</a:t>
            </a:r>
            <a:r>
              <a:rPr lang="en-US" altLang="zh-CN" dirty="0"/>
              <a:t>3</a:t>
            </a:r>
            <a:r>
              <a:rPr lang="zh-CN" altLang="en-US" dirty="0"/>
              <a:t>位）指定另一个操作数（寄存器）或用作</a:t>
            </a:r>
            <a:r>
              <a:rPr lang="en-US" altLang="zh-CN" dirty="0"/>
              <a:t>OP</a:t>
            </a:r>
            <a:r>
              <a:rPr lang="zh-CN" altLang="en-US" dirty="0"/>
              <a:t>的补充。</a:t>
            </a:r>
            <a:endParaRPr lang="zh-CN" altLang="en-US" dirty="0"/>
          </a:p>
        </p:txBody>
      </p:sp>
      <p:grpSp>
        <p:nvGrpSpPr>
          <p:cNvPr id="50180" name="Group 4"/>
          <p:cNvGrpSpPr/>
          <p:nvPr/>
        </p:nvGrpSpPr>
        <p:grpSpPr>
          <a:xfrm>
            <a:off x="1042988" y="4868863"/>
            <a:ext cx="7620000" cy="1538287"/>
            <a:chOff x="657" y="3203"/>
            <a:chExt cx="4800" cy="969"/>
          </a:xfrm>
        </p:grpSpPr>
        <p:grpSp>
          <p:nvGrpSpPr>
            <p:cNvPr id="50181" name="Group 5"/>
            <p:cNvGrpSpPr/>
            <p:nvPr/>
          </p:nvGrpSpPr>
          <p:grpSpPr>
            <a:xfrm>
              <a:off x="657" y="3203"/>
              <a:ext cx="4800" cy="294"/>
              <a:chOff x="657" y="3203"/>
              <a:chExt cx="4800" cy="294"/>
            </a:xfrm>
          </p:grpSpPr>
          <p:sp>
            <p:nvSpPr>
              <p:cNvPr id="50185" name="Text Box 6"/>
              <p:cNvSpPr txBox="1"/>
              <p:nvPr/>
            </p:nvSpPr>
            <p:spPr>
              <a:xfrm>
                <a:off x="657" y="3203"/>
                <a:ext cx="4800"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Times New Roman" panose="02020603050405020304" pitchFamily="18" charset="0"/>
                  </a:rPr>
                  <a:t>操作码   </a:t>
                </a:r>
                <a:r>
                  <a:rPr lang="en-US" altLang="zh-CN" sz="2400" dirty="0">
                    <a:latin typeface="Times New Roman" panose="02020603050405020304" pitchFamily="18" charset="0"/>
                  </a:rPr>
                  <a:t>Mod Reg</a:t>
                </a:r>
                <a:r>
                  <a:rPr lang="zh-CN" altLang="en-US" sz="2400" dirty="0">
                    <a:latin typeface="Times New Roman" panose="02020603050405020304" pitchFamily="18" charset="0"/>
                  </a:rPr>
                  <a:t>或操作码  </a:t>
                </a:r>
                <a:r>
                  <a:rPr lang="en-US" altLang="zh-CN" sz="2400" dirty="0">
                    <a:latin typeface="Times New Roman" panose="02020603050405020304" pitchFamily="18" charset="0"/>
                  </a:rPr>
                  <a:t>R/M S  I  B </a:t>
                </a:r>
                <a:r>
                  <a:rPr lang="zh-CN" altLang="en-US" sz="2400" dirty="0">
                    <a:latin typeface="Times New Roman" panose="02020603050405020304" pitchFamily="18" charset="0"/>
                  </a:rPr>
                  <a:t>位移量 立即数</a:t>
                </a:r>
                <a:endParaRPr lang="zh-CN" altLang="en-US" sz="2400" dirty="0">
                  <a:latin typeface="Times New Roman" panose="02020603050405020304" pitchFamily="18" charset="0"/>
                </a:endParaRPr>
              </a:p>
            </p:txBody>
          </p:sp>
          <p:sp>
            <p:nvSpPr>
              <p:cNvPr id="50186" name="Line 7"/>
              <p:cNvSpPr/>
              <p:nvPr/>
            </p:nvSpPr>
            <p:spPr>
              <a:xfrm>
                <a:off x="1329" y="3203"/>
                <a:ext cx="0" cy="288"/>
              </a:xfrm>
              <a:prstGeom prst="line">
                <a:avLst/>
              </a:prstGeom>
              <a:ln w="9525" cap="flat" cmpd="sng">
                <a:solidFill>
                  <a:schemeClr val="tx1"/>
                </a:solidFill>
                <a:prstDash val="solid"/>
                <a:miter/>
                <a:headEnd type="none" w="med" len="med"/>
                <a:tailEnd type="none" w="med" len="med"/>
              </a:ln>
            </p:spPr>
          </p:sp>
          <p:sp>
            <p:nvSpPr>
              <p:cNvPr id="50187" name="Line 8"/>
              <p:cNvSpPr/>
              <p:nvPr/>
            </p:nvSpPr>
            <p:spPr>
              <a:xfrm>
                <a:off x="1857" y="3203"/>
                <a:ext cx="0" cy="288"/>
              </a:xfrm>
              <a:prstGeom prst="line">
                <a:avLst/>
              </a:prstGeom>
              <a:ln w="9525" cap="flat" cmpd="sng">
                <a:solidFill>
                  <a:schemeClr val="tx1"/>
                </a:solidFill>
                <a:prstDash val="solid"/>
                <a:miter/>
                <a:headEnd type="none" w="med" len="med"/>
                <a:tailEnd type="none" w="med" len="med"/>
              </a:ln>
            </p:spPr>
          </p:sp>
          <p:sp>
            <p:nvSpPr>
              <p:cNvPr id="50188" name="Line 9"/>
              <p:cNvSpPr/>
              <p:nvPr/>
            </p:nvSpPr>
            <p:spPr>
              <a:xfrm>
                <a:off x="2961" y="3203"/>
                <a:ext cx="0" cy="288"/>
              </a:xfrm>
              <a:prstGeom prst="line">
                <a:avLst/>
              </a:prstGeom>
              <a:ln w="9525" cap="flat" cmpd="sng">
                <a:solidFill>
                  <a:schemeClr val="tx1"/>
                </a:solidFill>
                <a:prstDash val="solid"/>
                <a:miter/>
                <a:headEnd type="none" w="med" len="med"/>
                <a:tailEnd type="none" w="med" len="med"/>
              </a:ln>
            </p:spPr>
          </p:sp>
          <p:sp>
            <p:nvSpPr>
              <p:cNvPr id="50189" name="Line 10"/>
              <p:cNvSpPr/>
              <p:nvPr/>
            </p:nvSpPr>
            <p:spPr>
              <a:xfrm>
                <a:off x="3393" y="3203"/>
                <a:ext cx="0" cy="288"/>
              </a:xfrm>
              <a:prstGeom prst="line">
                <a:avLst/>
              </a:prstGeom>
              <a:ln w="9525" cap="flat" cmpd="sng">
                <a:solidFill>
                  <a:schemeClr val="tx1"/>
                </a:solidFill>
                <a:prstDash val="solid"/>
                <a:miter/>
                <a:headEnd type="none" w="med" len="med"/>
                <a:tailEnd type="none" w="med" len="med"/>
              </a:ln>
            </p:spPr>
          </p:sp>
          <p:sp>
            <p:nvSpPr>
              <p:cNvPr id="50190" name="Line 11"/>
              <p:cNvSpPr/>
              <p:nvPr/>
            </p:nvSpPr>
            <p:spPr>
              <a:xfrm>
                <a:off x="3537" y="3203"/>
                <a:ext cx="0" cy="288"/>
              </a:xfrm>
              <a:prstGeom prst="line">
                <a:avLst/>
              </a:prstGeom>
              <a:ln w="9525" cap="flat" cmpd="sng">
                <a:solidFill>
                  <a:schemeClr val="tx1"/>
                </a:solidFill>
                <a:prstDash val="solid"/>
                <a:miter/>
                <a:headEnd type="none" w="med" len="med"/>
                <a:tailEnd type="none" w="med" len="med"/>
              </a:ln>
            </p:spPr>
          </p:sp>
          <p:sp>
            <p:nvSpPr>
              <p:cNvPr id="50191" name="Line 12"/>
              <p:cNvSpPr/>
              <p:nvPr/>
            </p:nvSpPr>
            <p:spPr>
              <a:xfrm>
                <a:off x="3729" y="3203"/>
                <a:ext cx="0" cy="288"/>
              </a:xfrm>
              <a:prstGeom prst="line">
                <a:avLst/>
              </a:prstGeom>
              <a:ln w="9525" cap="flat" cmpd="sng">
                <a:solidFill>
                  <a:schemeClr val="tx1"/>
                </a:solidFill>
                <a:prstDash val="solid"/>
                <a:miter/>
                <a:headEnd type="none" w="med" len="med"/>
                <a:tailEnd type="none" w="med" len="med"/>
              </a:ln>
            </p:spPr>
          </p:sp>
          <p:sp>
            <p:nvSpPr>
              <p:cNvPr id="50192" name="Line 13"/>
              <p:cNvSpPr/>
              <p:nvPr/>
            </p:nvSpPr>
            <p:spPr>
              <a:xfrm>
                <a:off x="3921" y="3203"/>
                <a:ext cx="0" cy="288"/>
              </a:xfrm>
              <a:prstGeom prst="line">
                <a:avLst/>
              </a:prstGeom>
              <a:ln w="9525" cap="flat" cmpd="sng">
                <a:solidFill>
                  <a:schemeClr val="tx1"/>
                </a:solidFill>
                <a:prstDash val="solid"/>
                <a:miter/>
                <a:headEnd type="none" w="med" len="med"/>
                <a:tailEnd type="none" w="med" len="med"/>
              </a:ln>
            </p:spPr>
          </p:sp>
          <p:sp>
            <p:nvSpPr>
              <p:cNvPr id="50193" name="Line 14"/>
              <p:cNvSpPr/>
              <p:nvPr/>
            </p:nvSpPr>
            <p:spPr>
              <a:xfrm>
                <a:off x="4593" y="3203"/>
                <a:ext cx="0" cy="288"/>
              </a:xfrm>
              <a:prstGeom prst="line">
                <a:avLst/>
              </a:prstGeom>
              <a:ln w="9525" cap="flat" cmpd="sng">
                <a:solidFill>
                  <a:schemeClr val="tx1"/>
                </a:solidFill>
                <a:prstDash val="solid"/>
                <a:miter/>
                <a:headEnd type="none" w="med" len="med"/>
                <a:tailEnd type="none" w="med" len="med"/>
              </a:ln>
            </p:spPr>
          </p:sp>
        </p:grpSp>
        <p:sp>
          <p:nvSpPr>
            <p:cNvPr id="50182" name="AutoShape 15"/>
            <p:cNvSpPr/>
            <p:nvPr/>
          </p:nvSpPr>
          <p:spPr>
            <a:xfrm rot="5400000">
              <a:off x="2245" y="2750"/>
              <a:ext cx="227" cy="1859"/>
            </a:xfrm>
            <a:prstGeom prst="rightBrace">
              <a:avLst>
                <a:gd name="adj1" fmla="val 68245"/>
                <a:gd name="adj2"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0183" name="AutoShape 16"/>
            <p:cNvSpPr/>
            <p:nvPr/>
          </p:nvSpPr>
          <p:spPr>
            <a:xfrm rot="5400000">
              <a:off x="3560" y="3475"/>
              <a:ext cx="181" cy="454"/>
            </a:xfrm>
            <a:prstGeom prst="rightBrace">
              <a:avLst>
                <a:gd name="adj1" fmla="val 20902"/>
                <a:gd name="adj2"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0184" name="Text Box 17"/>
            <p:cNvSpPr txBox="1"/>
            <p:nvPr/>
          </p:nvSpPr>
          <p:spPr>
            <a:xfrm>
              <a:off x="1927" y="3884"/>
              <a:ext cx="294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1</a:t>
              </a:r>
              <a:r>
                <a:rPr lang="zh-CN" altLang="en-US" sz="2400" dirty="0">
                  <a:latin typeface="Times New Roman" panose="02020603050405020304" pitchFamily="18" charset="0"/>
                </a:rPr>
                <a:t>个字节               </a:t>
              </a:r>
              <a:r>
                <a:rPr lang="en-US" altLang="zh-CN" sz="2400" dirty="0">
                  <a:latin typeface="Times New Roman" panose="02020603050405020304" pitchFamily="18" charset="0"/>
                </a:rPr>
                <a:t>1</a:t>
              </a:r>
              <a:r>
                <a:rPr lang="zh-CN" altLang="en-US" sz="2400" dirty="0">
                  <a:latin typeface="Times New Roman" panose="02020603050405020304" pitchFamily="18" charset="0"/>
                </a:rPr>
                <a:t>个字节 </a:t>
              </a:r>
              <a:endParaRPr lang="zh-CN" altLang="en-US" sz="2400" dirty="0">
                <a:latin typeface="Times New Roman" panose="02020603050405020304" pitchFamily="18" charset="0"/>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323850" y="-26987"/>
            <a:ext cx="8229600" cy="1371600"/>
          </a:xfrm>
          <a:ln/>
        </p:spPr>
        <p:txBody>
          <a:bodyPr vert="horz" wrap="square" lIns="91440" tIns="45720" rIns="91440" bIns="45720" anchor="ctr" anchorCtr="0"/>
          <a:p>
            <a:r>
              <a:rPr lang="zh-CN" altLang="en-US" sz="3500" dirty="0">
                <a:cs typeface="Times New Roman" panose="02020603050405020304" pitchFamily="18" charset="0"/>
              </a:rPr>
              <a:t>七</a:t>
            </a:r>
            <a:r>
              <a:rPr lang="zh-CN" altLang="en-US" sz="3500" dirty="0"/>
              <a:t>、 </a:t>
            </a:r>
            <a:r>
              <a:rPr lang="en-US" altLang="zh-CN" dirty="0"/>
              <a:t>Pentium</a:t>
            </a:r>
            <a:r>
              <a:rPr lang="zh-CN" altLang="en-US" dirty="0"/>
              <a:t>指令格式</a:t>
            </a:r>
            <a:endParaRPr lang="zh-CN" altLang="en-US" dirty="0"/>
          </a:p>
        </p:txBody>
      </p:sp>
      <p:sp>
        <p:nvSpPr>
          <p:cNvPr id="51203" name="Rectangle 3"/>
          <p:cNvSpPr>
            <a:spLocks noGrp="1"/>
          </p:cNvSpPr>
          <p:nvPr>
            <p:ph idx="1"/>
          </p:nvPr>
        </p:nvSpPr>
        <p:spPr>
          <a:xfrm>
            <a:off x="457200" y="927100"/>
            <a:ext cx="8229600" cy="4537075"/>
          </a:xfrm>
          <a:ln/>
        </p:spPr>
        <p:txBody>
          <a:bodyPr vert="horz" wrap="square" lIns="91440" tIns="45720" rIns="91440" bIns="45720" anchor="t" anchorCtr="0"/>
          <a:p>
            <a:r>
              <a:rPr lang="en-US" altLang="zh-CN" sz="2600" dirty="0"/>
              <a:t>S</a:t>
            </a:r>
            <a:r>
              <a:rPr lang="zh-CN" altLang="en-US" sz="2600" dirty="0"/>
              <a:t>、</a:t>
            </a:r>
            <a:r>
              <a:rPr lang="en-US" altLang="zh-CN" sz="2600" dirty="0"/>
              <a:t>I</a:t>
            </a:r>
            <a:r>
              <a:rPr lang="zh-CN" altLang="en-US" sz="2600" dirty="0"/>
              <a:t>、</a:t>
            </a:r>
            <a:r>
              <a:rPr lang="en-US" altLang="zh-CN" sz="2600" dirty="0"/>
              <a:t>B</a:t>
            </a:r>
            <a:r>
              <a:rPr lang="zh-CN" altLang="en-US" sz="2600" dirty="0"/>
              <a:t>共</a:t>
            </a:r>
            <a:r>
              <a:rPr lang="en-US" altLang="zh-CN" sz="2600" dirty="0"/>
              <a:t>1</a:t>
            </a:r>
            <a:r>
              <a:rPr lang="zh-CN" altLang="en-US" sz="2600" dirty="0"/>
              <a:t>个字节，分别是</a:t>
            </a:r>
            <a:r>
              <a:rPr lang="zh-CN" altLang="en-US" sz="2600" dirty="0">
                <a:solidFill>
                  <a:srgbClr val="3333FF"/>
                </a:solidFill>
              </a:rPr>
              <a:t>比例系数</a:t>
            </a:r>
            <a:r>
              <a:rPr lang="zh-CN" altLang="en-US" sz="2600" dirty="0"/>
              <a:t>、</a:t>
            </a:r>
            <a:r>
              <a:rPr lang="zh-CN" altLang="en-US" sz="2600" dirty="0">
                <a:solidFill>
                  <a:srgbClr val="3333FF"/>
                </a:solidFill>
              </a:rPr>
              <a:t>变址寄存器号</a:t>
            </a:r>
            <a:r>
              <a:rPr lang="zh-CN" altLang="en-US" sz="2600" dirty="0"/>
              <a:t>、</a:t>
            </a:r>
            <a:r>
              <a:rPr lang="zh-CN" altLang="en-US" sz="2600" dirty="0">
                <a:solidFill>
                  <a:srgbClr val="3333FF"/>
                </a:solidFill>
              </a:rPr>
              <a:t>基址寄存器号</a:t>
            </a:r>
            <a:r>
              <a:rPr lang="zh-CN" altLang="en-US" sz="2600" dirty="0"/>
              <a:t>，可选。</a:t>
            </a:r>
            <a:r>
              <a:rPr lang="en-US" altLang="zh-CN" sz="2600" dirty="0"/>
              <a:t>mod-R/M</a:t>
            </a:r>
            <a:r>
              <a:rPr lang="zh-CN" altLang="en-US" sz="2600" dirty="0"/>
              <a:t>中的某些编码要求</a:t>
            </a:r>
            <a:r>
              <a:rPr lang="en-US" altLang="zh-CN" sz="2600" dirty="0"/>
              <a:t>SIB</a:t>
            </a:r>
            <a:r>
              <a:rPr lang="zh-CN" altLang="en-US" sz="2600" dirty="0"/>
              <a:t>字节来完成寻址方式的指定；</a:t>
            </a:r>
            <a:endParaRPr lang="zh-CN" altLang="en-US" sz="2600" dirty="0"/>
          </a:p>
          <a:p>
            <a:pPr lvl="1"/>
            <a:r>
              <a:rPr lang="en-US" altLang="zh-CN" sz="2200" dirty="0"/>
              <a:t>SS</a:t>
            </a:r>
            <a:r>
              <a:rPr lang="zh-CN" altLang="en-US" sz="2200" dirty="0"/>
              <a:t>（</a:t>
            </a:r>
            <a:r>
              <a:rPr lang="en-US" altLang="zh-CN" sz="2200" dirty="0"/>
              <a:t>2</a:t>
            </a:r>
            <a:r>
              <a:rPr lang="zh-CN" altLang="en-US" sz="2200" dirty="0"/>
              <a:t>）指定比例变换的因子，</a:t>
            </a:r>
            <a:endParaRPr lang="zh-CN" altLang="en-US" sz="2200" dirty="0"/>
          </a:p>
          <a:p>
            <a:pPr lvl="1"/>
            <a:r>
              <a:rPr lang="en-US" altLang="zh-CN" sz="2200" dirty="0"/>
              <a:t>Index</a:t>
            </a:r>
            <a:r>
              <a:rPr lang="zh-CN" altLang="en-US" sz="2200" dirty="0"/>
              <a:t>（</a:t>
            </a:r>
            <a:r>
              <a:rPr lang="en-US" altLang="zh-CN" sz="2200" dirty="0"/>
              <a:t>2</a:t>
            </a:r>
            <a:r>
              <a:rPr lang="zh-CN" altLang="en-US" sz="2200" dirty="0"/>
              <a:t>）指定变址寄存器，</a:t>
            </a:r>
            <a:endParaRPr lang="zh-CN" altLang="en-US" sz="2200" dirty="0"/>
          </a:p>
          <a:p>
            <a:pPr lvl="1"/>
            <a:r>
              <a:rPr lang="en-US" altLang="zh-CN" sz="2200" dirty="0"/>
              <a:t>Base</a:t>
            </a:r>
            <a:r>
              <a:rPr lang="zh-CN" altLang="en-US" sz="2200" dirty="0"/>
              <a:t>（</a:t>
            </a:r>
            <a:r>
              <a:rPr lang="en-US" altLang="zh-CN" sz="2200" dirty="0"/>
              <a:t>3</a:t>
            </a:r>
            <a:r>
              <a:rPr lang="zh-CN" altLang="en-US" sz="2200" dirty="0"/>
              <a:t>）指定基址寄存器</a:t>
            </a:r>
            <a:endParaRPr lang="zh-CN" altLang="en-US" sz="2200" dirty="0"/>
          </a:p>
          <a:p>
            <a:r>
              <a:rPr lang="zh-CN" altLang="en-US" sz="2600" dirty="0"/>
              <a:t>位移量：可以是</a:t>
            </a:r>
            <a:r>
              <a:rPr lang="en-US" altLang="zh-CN" sz="2600" dirty="0"/>
              <a:t>0</a:t>
            </a:r>
            <a:r>
              <a:rPr lang="zh-CN" altLang="en-US" sz="2600" dirty="0"/>
              <a:t>，</a:t>
            </a:r>
            <a:r>
              <a:rPr lang="en-US" altLang="zh-CN" sz="2600" dirty="0"/>
              <a:t>1</a:t>
            </a:r>
            <a:r>
              <a:rPr lang="zh-CN" altLang="en-US" sz="2600" dirty="0"/>
              <a:t>，</a:t>
            </a:r>
            <a:r>
              <a:rPr lang="en-US" altLang="zh-CN" sz="2600" dirty="0"/>
              <a:t>2</a:t>
            </a:r>
            <a:r>
              <a:rPr lang="zh-CN" altLang="en-US" sz="2600" dirty="0"/>
              <a:t>，</a:t>
            </a:r>
            <a:r>
              <a:rPr lang="en-US" altLang="zh-CN" sz="2600" dirty="0"/>
              <a:t>4</a:t>
            </a:r>
            <a:r>
              <a:rPr lang="zh-CN" altLang="en-US" sz="2600" dirty="0"/>
              <a:t>个字节</a:t>
            </a:r>
            <a:endParaRPr lang="zh-CN" altLang="en-US" sz="2600" dirty="0"/>
          </a:p>
          <a:p>
            <a:r>
              <a:rPr lang="zh-CN" altLang="en-US" sz="2600" dirty="0"/>
              <a:t>立即数：可以是</a:t>
            </a:r>
            <a:r>
              <a:rPr lang="en-US" altLang="zh-CN" sz="2600" dirty="0"/>
              <a:t>0</a:t>
            </a:r>
            <a:r>
              <a:rPr lang="zh-CN" altLang="en-US" sz="2600" dirty="0"/>
              <a:t>，</a:t>
            </a:r>
            <a:r>
              <a:rPr lang="en-US" altLang="zh-CN" sz="2600" dirty="0"/>
              <a:t>1</a:t>
            </a:r>
            <a:r>
              <a:rPr lang="zh-CN" altLang="en-US" sz="2600" dirty="0"/>
              <a:t>，</a:t>
            </a:r>
            <a:r>
              <a:rPr lang="en-US" altLang="zh-CN" sz="2600" dirty="0"/>
              <a:t>2</a:t>
            </a:r>
            <a:r>
              <a:rPr lang="zh-CN" altLang="en-US" sz="2600" dirty="0"/>
              <a:t>，</a:t>
            </a:r>
            <a:r>
              <a:rPr lang="en-US" altLang="zh-CN" sz="2600" dirty="0"/>
              <a:t>4</a:t>
            </a:r>
            <a:r>
              <a:rPr lang="zh-CN" altLang="en-US" sz="2600" dirty="0"/>
              <a:t>个字节</a:t>
            </a:r>
            <a:endParaRPr lang="zh-CN" altLang="en-US" sz="2600" dirty="0"/>
          </a:p>
          <a:p>
            <a:r>
              <a:rPr lang="en-US" altLang="zh-CN" sz="2600" dirty="0">
                <a:solidFill>
                  <a:srgbClr val="3333FF"/>
                </a:solidFill>
              </a:rPr>
              <a:t>Pentium</a:t>
            </a:r>
            <a:r>
              <a:rPr lang="zh-CN" altLang="en-US" sz="2600" dirty="0">
                <a:solidFill>
                  <a:srgbClr val="3333FF"/>
                </a:solidFill>
              </a:rPr>
              <a:t>采用</a:t>
            </a:r>
            <a:r>
              <a:rPr lang="en-US" altLang="zh-CN" sz="2600" dirty="0">
                <a:solidFill>
                  <a:srgbClr val="3333FF"/>
                </a:solidFill>
              </a:rPr>
              <a:t>R/M</a:t>
            </a:r>
            <a:r>
              <a:rPr lang="zh-CN" altLang="en-US" sz="2600" dirty="0">
                <a:solidFill>
                  <a:srgbClr val="3333FF"/>
                </a:solidFill>
              </a:rPr>
              <a:t>（</a:t>
            </a:r>
            <a:r>
              <a:rPr lang="en-US" altLang="zh-CN" sz="2600" dirty="0">
                <a:solidFill>
                  <a:srgbClr val="3333FF"/>
                </a:solidFill>
              </a:rPr>
              <a:t>R/S</a:t>
            </a:r>
            <a:r>
              <a:rPr lang="zh-CN" altLang="en-US" sz="2600" dirty="0">
                <a:solidFill>
                  <a:srgbClr val="3333FF"/>
                </a:solidFill>
              </a:rPr>
              <a:t>）寄存器</a:t>
            </a:r>
            <a:r>
              <a:rPr lang="en-US" altLang="zh-CN" sz="2600" dirty="0">
                <a:solidFill>
                  <a:srgbClr val="3333FF"/>
                </a:solidFill>
              </a:rPr>
              <a:t>/</a:t>
            </a:r>
            <a:r>
              <a:rPr lang="zh-CN" altLang="en-US" sz="2600" dirty="0">
                <a:solidFill>
                  <a:srgbClr val="3333FF"/>
                </a:solidFill>
              </a:rPr>
              <a:t>存储器型指令，指令格式中只有一个存储器操作数。</a:t>
            </a:r>
            <a:endParaRPr lang="zh-CN" altLang="en-US" sz="2600" dirty="0">
              <a:solidFill>
                <a:srgbClr val="3333FF"/>
              </a:solidFill>
            </a:endParaRPr>
          </a:p>
        </p:txBody>
      </p:sp>
      <p:grpSp>
        <p:nvGrpSpPr>
          <p:cNvPr id="51204" name="Group 4"/>
          <p:cNvGrpSpPr/>
          <p:nvPr/>
        </p:nvGrpSpPr>
        <p:grpSpPr>
          <a:xfrm>
            <a:off x="684213" y="5319713"/>
            <a:ext cx="7620000" cy="466725"/>
            <a:chOff x="720" y="2448"/>
            <a:chExt cx="4800" cy="294"/>
          </a:xfrm>
        </p:grpSpPr>
        <p:sp>
          <p:nvSpPr>
            <p:cNvPr id="51205" name="Text Box 5"/>
            <p:cNvSpPr txBox="1"/>
            <p:nvPr/>
          </p:nvSpPr>
          <p:spPr>
            <a:xfrm>
              <a:off x="720" y="2448"/>
              <a:ext cx="4800" cy="294"/>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Times New Roman" panose="02020603050405020304" pitchFamily="18" charset="0"/>
                </a:rPr>
                <a:t>操作码   </a:t>
              </a:r>
              <a:r>
                <a:rPr lang="en-US" altLang="zh-CN" sz="2400" dirty="0">
                  <a:latin typeface="Times New Roman" panose="02020603050405020304" pitchFamily="18" charset="0"/>
                </a:rPr>
                <a:t>Mod Reg</a:t>
              </a:r>
              <a:r>
                <a:rPr lang="zh-CN" altLang="en-US" sz="2400" dirty="0">
                  <a:latin typeface="Times New Roman" panose="02020603050405020304" pitchFamily="18" charset="0"/>
                </a:rPr>
                <a:t>或操作码  </a:t>
              </a:r>
              <a:r>
                <a:rPr lang="en-US" altLang="zh-CN" sz="2400" dirty="0">
                  <a:latin typeface="Times New Roman" panose="02020603050405020304" pitchFamily="18" charset="0"/>
                </a:rPr>
                <a:t>R/M S  I  B </a:t>
              </a:r>
              <a:r>
                <a:rPr lang="zh-CN" altLang="en-US" sz="2400" dirty="0">
                  <a:latin typeface="Times New Roman" panose="02020603050405020304" pitchFamily="18" charset="0"/>
                </a:rPr>
                <a:t>位移量 立即数</a:t>
              </a:r>
              <a:endParaRPr lang="zh-CN" altLang="en-US" sz="2400" dirty="0">
                <a:latin typeface="Times New Roman" panose="02020603050405020304" pitchFamily="18" charset="0"/>
              </a:endParaRPr>
            </a:p>
          </p:txBody>
        </p:sp>
        <p:sp>
          <p:nvSpPr>
            <p:cNvPr id="51206" name="Line 6"/>
            <p:cNvSpPr/>
            <p:nvPr/>
          </p:nvSpPr>
          <p:spPr>
            <a:xfrm>
              <a:off x="1392" y="2448"/>
              <a:ext cx="0" cy="288"/>
            </a:xfrm>
            <a:prstGeom prst="line">
              <a:avLst/>
            </a:prstGeom>
            <a:ln w="9525" cap="flat" cmpd="sng">
              <a:solidFill>
                <a:schemeClr val="tx1"/>
              </a:solidFill>
              <a:prstDash val="solid"/>
              <a:miter/>
              <a:headEnd type="none" w="med" len="med"/>
              <a:tailEnd type="none" w="med" len="med"/>
            </a:ln>
          </p:spPr>
        </p:sp>
        <p:sp>
          <p:nvSpPr>
            <p:cNvPr id="51207" name="Line 7"/>
            <p:cNvSpPr/>
            <p:nvPr/>
          </p:nvSpPr>
          <p:spPr>
            <a:xfrm>
              <a:off x="1920" y="2448"/>
              <a:ext cx="0" cy="288"/>
            </a:xfrm>
            <a:prstGeom prst="line">
              <a:avLst/>
            </a:prstGeom>
            <a:ln w="9525" cap="flat" cmpd="sng">
              <a:solidFill>
                <a:schemeClr val="tx1"/>
              </a:solidFill>
              <a:prstDash val="solid"/>
              <a:miter/>
              <a:headEnd type="none" w="med" len="med"/>
              <a:tailEnd type="none" w="med" len="med"/>
            </a:ln>
          </p:spPr>
        </p:sp>
        <p:sp>
          <p:nvSpPr>
            <p:cNvPr id="51208" name="Line 8"/>
            <p:cNvSpPr/>
            <p:nvPr/>
          </p:nvSpPr>
          <p:spPr>
            <a:xfrm>
              <a:off x="3024" y="2448"/>
              <a:ext cx="0" cy="288"/>
            </a:xfrm>
            <a:prstGeom prst="line">
              <a:avLst/>
            </a:prstGeom>
            <a:ln w="9525" cap="flat" cmpd="sng">
              <a:solidFill>
                <a:schemeClr val="tx1"/>
              </a:solidFill>
              <a:prstDash val="solid"/>
              <a:miter/>
              <a:headEnd type="none" w="med" len="med"/>
              <a:tailEnd type="none" w="med" len="med"/>
            </a:ln>
          </p:spPr>
        </p:sp>
        <p:sp>
          <p:nvSpPr>
            <p:cNvPr id="51209" name="Line 9"/>
            <p:cNvSpPr/>
            <p:nvPr/>
          </p:nvSpPr>
          <p:spPr>
            <a:xfrm>
              <a:off x="3456" y="2448"/>
              <a:ext cx="0" cy="288"/>
            </a:xfrm>
            <a:prstGeom prst="line">
              <a:avLst/>
            </a:prstGeom>
            <a:ln w="9525" cap="flat" cmpd="sng">
              <a:solidFill>
                <a:schemeClr val="tx1"/>
              </a:solidFill>
              <a:prstDash val="solid"/>
              <a:miter/>
              <a:headEnd type="none" w="med" len="med"/>
              <a:tailEnd type="none" w="med" len="med"/>
            </a:ln>
          </p:spPr>
        </p:sp>
        <p:sp>
          <p:nvSpPr>
            <p:cNvPr id="51210" name="Line 10"/>
            <p:cNvSpPr/>
            <p:nvPr/>
          </p:nvSpPr>
          <p:spPr>
            <a:xfrm>
              <a:off x="3600" y="2448"/>
              <a:ext cx="0" cy="288"/>
            </a:xfrm>
            <a:prstGeom prst="line">
              <a:avLst/>
            </a:prstGeom>
            <a:ln w="9525" cap="flat" cmpd="sng">
              <a:solidFill>
                <a:schemeClr val="tx1"/>
              </a:solidFill>
              <a:prstDash val="solid"/>
              <a:miter/>
              <a:headEnd type="none" w="med" len="med"/>
              <a:tailEnd type="none" w="med" len="med"/>
            </a:ln>
          </p:spPr>
        </p:sp>
        <p:sp>
          <p:nvSpPr>
            <p:cNvPr id="51211" name="Line 11"/>
            <p:cNvSpPr/>
            <p:nvPr/>
          </p:nvSpPr>
          <p:spPr>
            <a:xfrm>
              <a:off x="3792" y="2448"/>
              <a:ext cx="0" cy="288"/>
            </a:xfrm>
            <a:prstGeom prst="line">
              <a:avLst/>
            </a:prstGeom>
            <a:ln w="9525" cap="flat" cmpd="sng">
              <a:solidFill>
                <a:schemeClr val="tx1"/>
              </a:solidFill>
              <a:prstDash val="solid"/>
              <a:miter/>
              <a:headEnd type="none" w="med" len="med"/>
              <a:tailEnd type="none" w="med" len="med"/>
            </a:ln>
          </p:spPr>
        </p:sp>
        <p:sp>
          <p:nvSpPr>
            <p:cNvPr id="51212" name="Line 12"/>
            <p:cNvSpPr/>
            <p:nvPr/>
          </p:nvSpPr>
          <p:spPr>
            <a:xfrm>
              <a:off x="3984" y="2448"/>
              <a:ext cx="0" cy="288"/>
            </a:xfrm>
            <a:prstGeom prst="line">
              <a:avLst/>
            </a:prstGeom>
            <a:ln w="9525" cap="flat" cmpd="sng">
              <a:solidFill>
                <a:schemeClr val="tx1"/>
              </a:solidFill>
              <a:prstDash val="solid"/>
              <a:miter/>
              <a:headEnd type="none" w="med" len="med"/>
              <a:tailEnd type="none" w="med" len="med"/>
            </a:ln>
          </p:spPr>
        </p:sp>
        <p:sp>
          <p:nvSpPr>
            <p:cNvPr id="51213" name="Line 13"/>
            <p:cNvSpPr/>
            <p:nvPr/>
          </p:nvSpPr>
          <p:spPr>
            <a:xfrm>
              <a:off x="4656" y="2448"/>
              <a:ext cx="0" cy="288"/>
            </a:xfrm>
            <a:prstGeom prst="line">
              <a:avLst/>
            </a:prstGeom>
            <a:ln w="9525" cap="flat" cmpd="sng">
              <a:solidFill>
                <a:schemeClr val="tx1"/>
              </a:solidFill>
              <a:prstDash val="solid"/>
              <a:miter/>
              <a:headEnd type="none" w="med" len="med"/>
              <a:tailEnd type="none" w="med" len="med"/>
            </a:ln>
          </p:spPr>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457200" y="188913"/>
            <a:ext cx="8229600" cy="1371600"/>
          </a:xfrm>
          <a:ln/>
        </p:spPr>
        <p:txBody>
          <a:bodyPr vert="horz" wrap="square" lIns="91440" tIns="45720" rIns="91440" bIns="45720" anchor="ctr" anchorCtr="0"/>
          <a:p>
            <a:r>
              <a:rPr lang="en-US" altLang="zh-CN" dirty="0">
                <a:cs typeface="Times New Roman" panose="02020603050405020304" pitchFamily="18" charset="0"/>
              </a:rPr>
              <a:t>4.3 </a:t>
            </a:r>
            <a:r>
              <a:rPr lang="zh-CN" altLang="en-US" dirty="0"/>
              <a:t>操作数类型</a:t>
            </a:r>
            <a:endParaRPr lang="zh-CN" altLang="en-US" dirty="0"/>
          </a:p>
        </p:txBody>
      </p:sp>
      <p:sp>
        <p:nvSpPr>
          <p:cNvPr id="52227" name="Rectangle 3"/>
          <p:cNvSpPr>
            <a:spLocks noGrp="1"/>
          </p:cNvSpPr>
          <p:nvPr>
            <p:ph idx="1"/>
          </p:nvPr>
        </p:nvSpPr>
        <p:spPr>
          <a:xfrm>
            <a:off x="457200" y="1268413"/>
            <a:ext cx="8229600" cy="5040312"/>
          </a:xfrm>
          <a:ln/>
        </p:spPr>
        <p:txBody>
          <a:bodyPr vert="horz" wrap="square" lIns="91440" tIns="45720" rIns="91440" bIns="45720" anchor="t" anchorCtr="0"/>
          <a:p>
            <a:pPr>
              <a:lnSpc>
                <a:spcPct val="90000"/>
              </a:lnSpc>
            </a:pPr>
            <a:r>
              <a:rPr lang="zh-CN" altLang="en-US" sz="2800" dirty="0"/>
              <a:t>操作数类型</a:t>
            </a:r>
            <a:endParaRPr lang="zh-CN" altLang="en-US" sz="2800" dirty="0"/>
          </a:p>
          <a:p>
            <a:pPr lvl="1">
              <a:lnSpc>
                <a:spcPct val="90000"/>
              </a:lnSpc>
            </a:pPr>
            <a:r>
              <a:rPr lang="zh-CN" altLang="en-US" sz="2400" dirty="0">
                <a:solidFill>
                  <a:srgbClr val="FF3300"/>
                </a:solidFill>
              </a:rPr>
              <a:t>地址数据</a:t>
            </a:r>
            <a:r>
              <a:rPr lang="en-US" altLang="zh-CN" sz="2400" dirty="0">
                <a:solidFill>
                  <a:srgbClr val="FF3300"/>
                </a:solidFill>
              </a:rPr>
              <a:t>:</a:t>
            </a:r>
            <a:r>
              <a:rPr lang="zh-CN" altLang="en-US" sz="2400" dirty="0"/>
              <a:t>地址实际上也是一种形式的数据。</a:t>
            </a:r>
            <a:endParaRPr lang="zh-CN" altLang="en-US" sz="2400" dirty="0"/>
          </a:p>
          <a:p>
            <a:pPr lvl="1">
              <a:lnSpc>
                <a:spcPct val="90000"/>
              </a:lnSpc>
            </a:pPr>
            <a:r>
              <a:rPr lang="zh-CN" altLang="en-US" sz="2400" dirty="0">
                <a:solidFill>
                  <a:srgbClr val="FF3300"/>
                </a:solidFill>
              </a:rPr>
              <a:t>数值数据</a:t>
            </a:r>
            <a:r>
              <a:rPr lang="en-US" altLang="zh-CN" sz="2400" dirty="0">
                <a:solidFill>
                  <a:srgbClr val="FF3300"/>
                </a:solidFill>
              </a:rPr>
              <a:t>:</a:t>
            </a:r>
            <a:r>
              <a:rPr lang="zh-CN" altLang="en-US" sz="2400" dirty="0"/>
              <a:t>计算机中普遍使用的三种类型的数值数据。</a:t>
            </a:r>
            <a:endParaRPr lang="zh-CN" altLang="en-US" sz="2400" dirty="0"/>
          </a:p>
          <a:p>
            <a:pPr lvl="1">
              <a:lnSpc>
                <a:spcPct val="90000"/>
              </a:lnSpc>
            </a:pPr>
            <a:r>
              <a:rPr lang="zh-CN" altLang="en-US" sz="2400" dirty="0">
                <a:solidFill>
                  <a:srgbClr val="FF3300"/>
                </a:solidFill>
              </a:rPr>
              <a:t>字符数据</a:t>
            </a:r>
            <a:r>
              <a:rPr lang="en-US" altLang="zh-CN" sz="2400" dirty="0">
                <a:solidFill>
                  <a:srgbClr val="FF3300"/>
                </a:solidFill>
              </a:rPr>
              <a:t>:</a:t>
            </a:r>
            <a:r>
              <a:rPr lang="zh-CN" altLang="en-US" sz="2400" dirty="0"/>
              <a:t>文本数据或字符串，目前广泛使用</a:t>
            </a:r>
            <a:r>
              <a:rPr lang="en-US" altLang="zh-CN" sz="2400" dirty="0"/>
              <a:t>ASCII</a:t>
            </a:r>
            <a:r>
              <a:rPr lang="zh-CN" altLang="en-US" sz="2400" dirty="0"/>
              <a:t>码。</a:t>
            </a:r>
            <a:endParaRPr lang="zh-CN" altLang="en-US" sz="2400" dirty="0"/>
          </a:p>
          <a:p>
            <a:pPr lvl="1">
              <a:lnSpc>
                <a:spcPct val="90000"/>
              </a:lnSpc>
            </a:pPr>
            <a:r>
              <a:rPr lang="zh-CN" altLang="en-US" sz="2400" dirty="0">
                <a:solidFill>
                  <a:srgbClr val="FF3300"/>
                </a:solidFill>
              </a:rPr>
              <a:t>逻辑数据</a:t>
            </a:r>
            <a:r>
              <a:rPr lang="en-US" altLang="zh-CN" sz="2400" dirty="0">
                <a:solidFill>
                  <a:srgbClr val="FF3300"/>
                </a:solidFill>
              </a:rPr>
              <a:t>:</a:t>
            </a:r>
            <a:r>
              <a:rPr lang="zh-CN" altLang="en-US" sz="2400" dirty="0"/>
              <a:t>一个单元中有几位二进制</a:t>
            </a:r>
            <a:r>
              <a:rPr lang="en-US" altLang="zh-CN" sz="2400" dirty="0"/>
              <a:t>bit</a:t>
            </a:r>
            <a:r>
              <a:rPr lang="zh-CN" altLang="en-US" sz="2400" dirty="0"/>
              <a:t>项组成，每个</a:t>
            </a:r>
            <a:r>
              <a:rPr lang="en-US" altLang="zh-CN" sz="2400" dirty="0"/>
              <a:t>bit</a:t>
            </a:r>
            <a:r>
              <a:rPr lang="zh-CN" altLang="en-US" sz="2400" dirty="0"/>
              <a:t>的值可以是</a:t>
            </a:r>
            <a:r>
              <a:rPr lang="en-US" altLang="zh-CN" sz="2400" dirty="0"/>
              <a:t>1</a:t>
            </a:r>
            <a:r>
              <a:rPr lang="zh-CN" altLang="en-US" sz="2400" dirty="0"/>
              <a:t>或</a:t>
            </a:r>
            <a:r>
              <a:rPr lang="en-US" altLang="zh-CN" sz="2400" dirty="0"/>
              <a:t>0</a:t>
            </a:r>
            <a:r>
              <a:rPr lang="zh-CN" altLang="en-US" sz="2400" dirty="0"/>
              <a:t>。当数据以这种方式看待时，称为逻辑性数据。</a:t>
            </a:r>
            <a:endParaRPr lang="zh-CN" altLang="en-US" sz="2400" dirty="0"/>
          </a:p>
          <a:p>
            <a:pPr lvl="1">
              <a:lnSpc>
                <a:spcPct val="90000"/>
              </a:lnSpc>
            </a:pPr>
            <a:endParaRPr lang="zh-CN" altLang="en-US" sz="2200" dirty="0"/>
          </a:p>
          <a:p>
            <a:pPr>
              <a:lnSpc>
                <a:spcPct val="90000"/>
              </a:lnSpc>
            </a:pPr>
            <a:r>
              <a:rPr lang="en-US" altLang="zh-CN" sz="2800" dirty="0"/>
              <a:t>Pentium</a:t>
            </a:r>
            <a:r>
              <a:rPr lang="zh-CN" altLang="en-US" sz="2800" dirty="0"/>
              <a:t>数据类型</a:t>
            </a:r>
            <a:r>
              <a:rPr lang="en-US" altLang="zh-CN" sz="2800" dirty="0"/>
              <a:t>(</a:t>
            </a:r>
            <a:r>
              <a:rPr lang="zh-CN" altLang="en-US" sz="2800" dirty="0"/>
              <a:t>见</a:t>
            </a:r>
            <a:r>
              <a:rPr lang="en-US" altLang="zh-CN" sz="2800" dirty="0"/>
              <a:t>P122</a:t>
            </a:r>
            <a:r>
              <a:rPr lang="zh-CN" altLang="en-US" sz="2800" dirty="0"/>
              <a:t>表</a:t>
            </a:r>
            <a:r>
              <a:rPr lang="en-US" altLang="zh-CN" sz="2800" dirty="0"/>
              <a:t>4.6)</a:t>
            </a:r>
            <a:endParaRPr lang="en-US" altLang="zh-CN" sz="2800" dirty="0"/>
          </a:p>
          <a:p>
            <a:pPr lvl="1">
              <a:lnSpc>
                <a:spcPct val="90000"/>
              </a:lnSpc>
            </a:pPr>
            <a:r>
              <a:rPr lang="zh-CN" altLang="en-US" sz="2400" dirty="0"/>
              <a:t>常规数据类型</a:t>
            </a:r>
            <a:endParaRPr lang="zh-CN" altLang="en-US" sz="2400" dirty="0"/>
          </a:p>
          <a:p>
            <a:pPr lvl="1">
              <a:lnSpc>
                <a:spcPct val="90000"/>
              </a:lnSpc>
            </a:pPr>
            <a:r>
              <a:rPr lang="zh-CN" altLang="en-US" sz="2400" dirty="0"/>
              <a:t>整数数据类型</a:t>
            </a:r>
            <a:endParaRPr lang="zh-CN" altLang="en-US" sz="2400" dirty="0"/>
          </a:p>
          <a:p>
            <a:pPr lvl="1">
              <a:lnSpc>
                <a:spcPct val="90000"/>
              </a:lnSpc>
            </a:pPr>
            <a:r>
              <a:rPr lang="en-US" altLang="zh-CN" sz="2400" dirty="0"/>
              <a:t>……..</a:t>
            </a:r>
            <a:endParaRPr lang="en-US" altLang="zh-CN"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468313" y="401638"/>
            <a:ext cx="7532687" cy="723900"/>
          </a:xfrm>
          <a:ln/>
        </p:spPr>
        <p:txBody>
          <a:bodyPr vert="horz" wrap="square" lIns="91440" tIns="45720" rIns="91440" bIns="45720" anchor="ctr" anchorCtr="0"/>
          <a:p>
            <a:r>
              <a:rPr lang="en-US" altLang="zh-CN" sz="3500" dirty="0">
                <a:cs typeface="Times New Roman" panose="02020603050405020304" pitchFamily="18" charset="0"/>
              </a:rPr>
              <a:t>4.4 </a:t>
            </a:r>
            <a:r>
              <a:rPr lang="zh-CN" altLang="en-US" sz="3500" dirty="0">
                <a:solidFill>
                  <a:srgbClr val="FF3300"/>
                </a:solidFill>
              </a:rPr>
              <a:t>指令</a:t>
            </a:r>
            <a:r>
              <a:rPr lang="zh-CN" altLang="en-US" sz="3500" dirty="0"/>
              <a:t>和</a:t>
            </a:r>
            <a:r>
              <a:rPr lang="zh-CN" altLang="en-US" sz="3500" dirty="0">
                <a:solidFill>
                  <a:srgbClr val="FF3300"/>
                </a:solidFill>
              </a:rPr>
              <a:t>数据</a:t>
            </a:r>
            <a:r>
              <a:rPr lang="zh-CN" altLang="en-US" sz="3500" dirty="0"/>
              <a:t>的寻址方式</a:t>
            </a:r>
            <a:endParaRPr lang="zh-CN" altLang="en-US" sz="3500" dirty="0"/>
          </a:p>
        </p:txBody>
      </p:sp>
      <p:sp>
        <p:nvSpPr>
          <p:cNvPr id="53251" name="Rectangle 3"/>
          <p:cNvSpPr>
            <a:spLocks noGrp="1"/>
          </p:cNvSpPr>
          <p:nvPr>
            <p:ph idx="1"/>
          </p:nvPr>
        </p:nvSpPr>
        <p:spPr>
          <a:xfrm>
            <a:off x="457200" y="1484313"/>
            <a:ext cx="8229600" cy="3886200"/>
          </a:xfrm>
          <a:ln/>
        </p:spPr>
        <p:txBody>
          <a:bodyPr vert="horz" wrap="square" lIns="91440" tIns="45720" rIns="91440" bIns="45720" anchor="t" anchorCtr="0"/>
          <a:p>
            <a:r>
              <a:rPr lang="zh-CN" altLang="en-US" dirty="0"/>
              <a:t>研究问题</a:t>
            </a:r>
            <a:endParaRPr lang="zh-CN" altLang="en-US" dirty="0"/>
          </a:p>
          <a:p>
            <a:pPr lvl="1"/>
            <a:r>
              <a:rPr lang="zh-CN" altLang="en-US" dirty="0">
                <a:solidFill>
                  <a:srgbClr val="FF3300"/>
                </a:solidFill>
              </a:rPr>
              <a:t>确定本条指令中各操作数的地址</a:t>
            </a:r>
            <a:endParaRPr lang="zh-CN" altLang="en-US" dirty="0">
              <a:solidFill>
                <a:srgbClr val="FF3300"/>
              </a:solidFill>
            </a:endParaRPr>
          </a:p>
          <a:p>
            <a:pPr lvl="1"/>
            <a:r>
              <a:rPr lang="zh-CN" altLang="en-US" dirty="0">
                <a:solidFill>
                  <a:srgbClr val="3333FF"/>
                </a:solidFill>
              </a:rPr>
              <a:t>下一条指令的地址</a:t>
            </a:r>
            <a:endParaRPr lang="zh-CN" altLang="en-US" dirty="0">
              <a:solidFill>
                <a:srgbClr val="3333FF"/>
              </a:solidFill>
            </a:endParaRPr>
          </a:p>
          <a:p>
            <a:pPr lvl="1"/>
            <a:endParaRPr lang="zh-CN" altLang="en-US" dirty="0">
              <a:solidFill>
                <a:srgbClr val="3333FF"/>
              </a:solidFill>
            </a:endParaRPr>
          </a:p>
          <a:p>
            <a:r>
              <a:rPr lang="zh-CN" altLang="en-US" b="1" dirty="0">
                <a:solidFill>
                  <a:srgbClr val="FF3300"/>
                </a:solidFill>
              </a:rPr>
              <a:t>寻址方式</a:t>
            </a:r>
            <a:r>
              <a:rPr lang="zh-CN" altLang="en-US" dirty="0"/>
              <a:t>是指</a:t>
            </a:r>
            <a:r>
              <a:rPr lang="en-US" altLang="zh-CN" dirty="0"/>
              <a:t>CPU</a:t>
            </a:r>
            <a:r>
              <a:rPr lang="zh-CN" altLang="en-US" dirty="0"/>
              <a:t>根据指令中给出的地址码字段寻找相应的操作数的方式，它与计算机硬件结构紧密相关，而且对指令的格式和功能有很大的影响。</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495300" y="287338"/>
            <a:ext cx="7532688" cy="765175"/>
          </a:xfrm>
          <a:ln/>
        </p:spPr>
        <p:txBody>
          <a:bodyPr vert="horz" wrap="square" lIns="91440" tIns="45720" rIns="91440" bIns="45720" anchor="ctr" anchorCtr="0"/>
          <a:p>
            <a:r>
              <a:rPr lang="en-US" altLang="zh-CN" sz="3600" dirty="0">
                <a:cs typeface="Times New Roman" panose="02020603050405020304" pitchFamily="18" charset="0"/>
              </a:rPr>
              <a:t>4.4 </a:t>
            </a:r>
            <a:r>
              <a:rPr lang="zh-CN" altLang="en-US" sz="3600" dirty="0"/>
              <a:t>指令和数据的寻址方式</a:t>
            </a:r>
            <a:endParaRPr lang="zh-CN" altLang="en-US" sz="3600" dirty="0"/>
          </a:p>
        </p:txBody>
      </p:sp>
      <p:sp>
        <p:nvSpPr>
          <p:cNvPr id="55299" name="Rectangle 3"/>
          <p:cNvSpPr>
            <a:spLocks noGrp="1"/>
          </p:cNvSpPr>
          <p:nvPr>
            <p:ph idx="1"/>
          </p:nvPr>
        </p:nvSpPr>
        <p:spPr>
          <a:xfrm>
            <a:off x="468313" y="1052513"/>
            <a:ext cx="8229600" cy="4411662"/>
          </a:xfrm>
          <a:ln/>
        </p:spPr>
        <p:txBody>
          <a:bodyPr vert="horz" wrap="square" lIns="91440" tIns="45720" rIns="91440" bIns="45720" anchor="t" anchorCtr="0"/>
          <a:p>
            <a:r>
              <a:rPr lang="zh-CN" altLang="en-US" b="1" dirty="0">
                <a:solidFill>
                  <a:srgbClr val="3333FF"/>
                </a:solidFill>
              </a:rPr>
              <a:t>指令</a:t>
            </a:r>
            <a:r>
              <a:rPr lang="zh-CN" altLang="en-US" dirty="0"/>
              <a:t>的寻址方式（两种）</a:t>
            </a:r>
            <a:endParaRPr lang="zh-CN" altLang="en-US" dirty="0"/>
          </a:p>
          <a:p>
            <a:pPr lvl="1"/>
            <a:r>
              <a:rPr lang="zh-CN" altLang="en-US" dirty="0">
                <a:solidFill>
                  <a:srgbClr val="3333FF"/>
                </a:solidFill>
              </a:rPr>
              <a:t>顺序方式</a:t>
            </a:r>
            <a:endParaRPr lang="zh-CN" altLang="en-US" dirty="0">
              <a:solidFill>
                <a:srgbClr val="3333FF"/>
              </a:solidFill>
            </a:endParaRPr>
          </a:p>
          <a:p>
            <a:pPr lvl="2"/>
            <a:r>
              <a:rPr lang="en-US" altLang="zh-CN" dirty="0"/>
              <a:t>PC (Program Counter)</a:t>
            </a:r>
            <a:endParaRPr lang="en-US" altLang="zh-CN" dirty="0"/>
          </a:p>
          <a:p>
            <a:pPr lvl="1"/>
            <a:r>
              <a:rPr lang="zh-CN" altLang="en-US" dirty="0">
                <a:solidFill>
                  <a:srgbClr val="3333FF"/>
                </a:solidFill>
              </a:rPr>
              <a:t>跳跃方式</a:t>
            </a:r>
            <a:endParaRPr lang="zh-CN" altLang="en-US" dirty="0">
              <a:solidFill>
                <a:srgbClr val="3333FF"/>
              </a:solidFill>
            </a:endParaRPr>
          </a:p>
        </p:txBody>
      </p:sp>
      <p:pic>
        <p:nvPicPr>
          <p:cNvPr id="55300" name="Picture 4" descr="4a1">
            <a:hlinkClick r:id="rId1" action="ppaction://hlinkfile"/>
          </p:cNvPr>
          <p:cNvPicPr>
            <a:picLocks noChangeAspect="1"/>
          </p:cNvPicPr>
          <p:nvPr/>
        </p:nvPicPr>
        <p:blipFill>
          <a:blip r:embed="rId2"/>
          <a:stretch>
            <a:fillRect/>
          </a:stretch>
        </p:blipFill>
        <p:spPr>
          <a:xfrm>
            <a:off x="611188" y="2997200"/>
            <a:ext cx="8137525" cy="316547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457200" y="188913"/>
            <a:ext cx="8229600" cy="1371600"/>
          </a:xfrm>
          <a:ln/>
        </p:spPr>
        <p:txBody>
          <a:bodyPr vert="horz" wrap="square" lIns="91440" tIns="45720" rIns="91440" bIns="45720" anchor="ctr" anchorCtr="0"/>
          <a:p>
            <a:r>
              <a:rPr lang="en-US" altLang="zh-CN" sz="3600" dirty="0">
                <a:cs typeface="Times New Roman" panose="02020603050405020304" pitchFamily="18" charset="0"/>
              </a:rPr>
              <a:t>4.4 </a:t>
            </a:r>
            <a:r>
              <a:rPr lang="zh-CN" altLang="en-US" sz="3600" dirty="0"/>
              <a:t>指令和数据的寻址方式</a:t>
            </a:r>
            <a:endParaRPr lang="zh-CN" altLang="en-US" sz="3600" dirty="0"/>
          </a:p>
        </p:txBody>
      </p:sp>
      <p:sp>
        <p:nvSpPr>
          <p:cNvPr id="56323" name="Rectangle 3"/>
          <p:cNvSpPr>
            <a:spLocks noGrp="1"/>
          </p:cNvSpPr>
          <p:nvPr>
            <p:ph idx="1"/>
          </p:nvPr>
        </p:nvSpPr>
        <p:spPr>
          <a:xfrm>
            <a:off x="457200" y="1268413"/>
            <a:ext cx="8147050" cy="4862512"/>
          </a:xfrm>
          <a:ln/>
        </p:spPr>
        <p:txBody>
          <a:bodyPr vert="horz" wrap="square" lIns="91440" tIns="45720" rIns="91440" bIns="45720" anchor="t" anchorCtr="0"/>
          <a:p>
            <a:pPr>
              <a:lnSpc>
                <a:spcPct val="80000"/>
              </a:lnSpc>
            </a:pPr>
            <a:r>
              <a:rPr lang="zh-CN" altLang="en-US" sz="2800" b="1" dirty="0">
                <a:solidFill>
                  <a:srgbClr val="3333FF"/>
                </a:solidFill>
              </a:rPr>
              <a:t>操作数</a:t>
            </a:r>
            <a:r>
              <a:rPr lang="zh-CN" altLang="en-US" sz="2800" dirty="0"/>
              <a:t>的寻址方式</a:t>
            </a:r>
            <a:endParaRPr lang="zh-CN" altLang="en-US" sz="2800" dirty="0"/>
          </a:p>
          <a:p>
            <a:pPr lvl="1">
              <a:lnSpc>
                <a:spcPct val="80000"/>
              </a:lnSpc>
            </a:pPr>
            <a:r>
              <a:rPr lang="zh-CN" altLang="en-US" dirty="0">
                <a:solidFill>
                  <a:srgbClr val="FF3300"/>
                </a:solidFill>
              </a:rPr>
              <a:t>形成操作数有效地址的方法，称为寻址方式。</a:t>
            </a:r>
            <a:endParaRPr lang="zh-CN" altLang="en-US" dirty="0">
              <a:solidFill>
                <a:srgbClr val="FF3300"/>
              </a:solidFill>
            </a:endParaRPr>
          </a:p>
          <a:p>
            <a:pPr lvl="1">
              <a:lnSpc>
                <a:spcPct val="80000"/>
              </a:lnSpc>
            </a:pPr>
            <a:r>
              <a:rPr lang="zh-CN" altLang="en-US" dirty="0">
                <a:solidFill>
                  <a:srgbClr val="3333FF"/>
                </a:solidFill>
              </a:rPr>
              <a:t>即把操作数的形式地址变换为有效地址（物理地址）的过程。</a:t>
            </a:r>
            <a:endParaRPr lang="zh-CN" altLang="en-US" dirty="0">
              <a:solidFill>
                <a:srgbClr val="3333FF"/>
              </a:solidFill>
            </a:endParaRPr>
          </a:p>
          <a:p>
            <a:pPr lvl="1">
              <a:lnSpc>
                <a:spcPct val="80000"/>
              </a:lnSpc>
            </a:pPr>
            <a:r>
              <a:rPr lang="zh-CN" altLang="en-US" dirty="0">
                <a:solidFill>
                  <a:srgbClr val="FF3300"/>
                </a:solidFill>
              </a:rPr>
              <a:t>操作数通常放在哪儿呢？</a:t>
            </a:r>
            <a:endParaRPr lang="zh-CN" altLang="en-US" dirty="0">
              <a:solidFill>
                <a:srgbClr val="FF3300"/>
              </a:solidFill>
            </a:endParaRPr>
          </a:p>
          <a:p>
            <a:pPr>
              <a:lnSpc>
                <a:spcPct val="80000"/>
              </a:lnSpc>
            </a:pPr>
            <a:endParaRPr lang="zh-CN" altLang="en-US" sz="2800" dirty="0">
              <a:solidFill>
                <a:srgbClr val="FF3300"/>
              </a:solidFill>
            </a:endParaRPr>
          </a:p>
          <a:p>
            <a:pPr>
              <a:lnSpc>
                <a:spcPct val="80000"/>
              </a:lnSpc>
            </a:pPr>
            <a:r>
              <a:rPr lang="zh-CN" altLang="en-US" sz="2600" dirty="0"/>
              <a:t>操作数包含在指令中；</a:t>
            </a:r>
            <a:endParaRPr lang="zh-CN" altLang="en-US" sz="2600" dirty="0"/>
          </a:p>
          <a:p>
            <a:pPr>
              <a:lnSpc>
                <a:spcPct val="80000"/>
              </a:lnSpc>
            </a:pPr>
            <a:r>
              <a:rPr lang="zh-CN" altLang="en-US" sz="2600" dirty="0"/>
              <a:t>操作数包含在</a:t>
            </a:r>
            <a:r>
              <a:rPr lang="en-US" altLang="zh-CN" sz="2600" dirty="0"/>
              <a:t>CPU</a:t>
            </a:r>
            <a:r>
              <a:rPr lang="zh-CN" altLang="en-US" sz="2600" dirty="0"/>
              <a:t>的某一个内部寄存器中；</a:t>
            </a:r>
            <a:endParaRPr lang="zh-CN" altLang="en-US" sz="2600" dirty="0"/>
          </a:p>
          <a:p>
            <a:pPr>
              <a:lnSpc>
                <a:spcPct val="80000"/>
              </a:lnSpc>
            </a:pPr>
            <a:r>
              <a:rPr lang="zh-CN" altLang="en-US" sz="2600" dirty="0"/>
              <a:t>操作数包含在主存储器中；</a:t>
            </a:r>
            <a:endParaRPr lang="zh-CN" altLang="en-US" sz="2600" dirty="0"/>
          </a:p>
          <a:p>
            <a:pPr>
              <a:lnSpc>
                <a:spcPct val="80000"/>
              </a:lnSpc>
            </a:pPr>
            <a:r>
              <a:rPr lang="zh-CN" altLang="en-US" sz="2600" dirty="0"/>
              <a:t>操作数包含在</a:t>
            </a:r>
            <a:r>
              <a:rPr lang="en-US" altLang="zh-CN" sz="2600" dirty="0"/>
              <a:t>I/O</a:t>
            </a:r>
            <a:r>
              <a:rPr lang="zh-CN" altLang="en-US" sz="2600" dirty="0"/>
              <a:t>设备的端口中</a:t>
            </a:r>
            <a:endParaRPr lang="zh-CN" altLang="en-US" sz="2600" dirty="0"/>
          </a:p>
          <a:p>
            <a:pPr>
              <a:lnSpc>
                <a:spcPct val="80000"/>
              </a:lnSpc>
            </a:pPr>
            <a:r>
              <a:rPr lang="zh-CN" altLang="en-US" sz="2600" dirty="0"/>
              <a:t>根据操作数放在不同的地方，从而派生各种不同的寻址方式，往往不同的计算机具有不同的寻址方式。</a:t>
            </a:r>
            <a:endParaRPr lang="zh-CN" alt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1069975" y="323850"/>
            <a:ext cx="6597650" cy="512763"/>
          </a:xfrm>
          <a:ln/>
        </p:spPr>
        <p:txBody>
          <a:bodyPr vert="horz" wrap="square" lIns="91440" tIns="45720" rIns="91440" bIns="45720" anchor="ctr" anchorCtr="0"/>
          <a:p>
            <a:r>
              <a:rPr lang="en-US" altLang="zh-CN" sz="3200" dirty="0"/>
              <a:t>Addressing Modes</a:t>
            </a:r>
            <a:r>
              <a:rPr lang="zh-CN" altLang="en-US" sz="3200" dirty="0"/>
              <a:t>（寻址方式）</a:t>
            </a:r>
            <a:endParaRPr lang="zh-CN" altLang="en-US" sz="3200" dirty="0"/>
          </a:p>
        </p:txBody>
      </p:sp>
      <p:sp>
        <p:nvSpPr>
          <p:cNvPr id="57347" name="Rectangle 3"/>
          <p:cNvSpPr>
            <a:spLocks noGrp="1"/>
          </p:cNvSpPr>
          <p:nvPr>
            <p:ph idx="1"/>
          </p:nvPr>
        </p:nvSpPr>
        <p:spPr>
          <a:xfrm>
            <a:off x="355600" y="1341438"/>
            <a:ext cx="8362950" cy="2514600"/>
          </a:xfrm>
          <a:ln/>
        </p:spPr>
        <p:txBody>
          <a:bodyPr vert="horz" wrap="square" lIns="91440" tIns="45720" rIns="91440" bIns="45720" anchor="t" anchorCtr="0"/>
          <a:p>
            <a:pPr>
              <a:lnSpc>
                <a:spcPct val="110000"/>
              </a:lnSpc>
            </a:pPr>
            <a:r>
              <a:rPr lang="zh-CN" altLang="en-US" sz="2000" dirty="0">
                <a:ea typeface="黑体" panose="02010609060101010101" pitchFamily="49" charset="-122"/>
              </a:rPr>
              <a:t>地址码编码由操作数的寻址方式决定</a:t>
            </a:r>
            <a:endParaRPr lang="zh-CN" altLang="en-US" sz="2000" dirty="0">
              <a:ea typeface="黑体" panose="02010609060101010101" pitchFamily="49" charset="-122"/>
            </a:endParaRPr>
          </a:p>
          <a:p>
            <a:pPr>
              <a:lnSpc>
                <a:spcPct val="110000"/>
              </a:lnSpc>
            </a:pPr>
            <a:r>
              <a:rPr lang="zh-CN" altLang="en-US" sz="2000" dirty="0">
                <a:ea typeface="黑体" panose="02010609060101010101" pitchFamily="49" charset="-122"/>
              </a:rPr>
              <a:t>地址码编码原则：</a:t>
            </a:r>
            <a:endParaRPr lang="zh-CN" altLang="en-US" sz="2000" dirty="0">
              <a:ea typeface="黑体" panose="02010609060101010101" pitchFamily="49" charset="-122"/>
            </a:endParaRPr>
          </a:p>
          <a:p>
            <a:pPr>
              <a:lnSpc>
                <a:spcPct val="110000"/>
              </a:lnSpc>
              <a:buFont typeface="Monotype Sorts" pitchFamily="-84" charset="2"/>
              <a:buNone/>
            </a:pPr>
            <a:r>
              <a:rPr lang="zh-CN" altLang="en-US" sz="2000" dirty="0">
                <a:ea typeface="黑体" panose="02010609060101010101" pitchFamily="49" charset="-122"/>
              </a:rPr>
              <a:t>   </a:t>
            </a:r>
            <a:r>
              <a:rPr lang="zh-CN" altLang="en-US" sz="2000" dirty="0">
                <a:solidFill>
                  <a:srgbClr val="0000FF"/>
                </a:solidFill>
                <a:ea typeface="黑体" panose="02010609060101010101" pitchFamily="49" charset="-122"/>
              </a:rPr>
              <a:t>指令地址码尽量短</a:t>
            </a:r>
            <a:endParaRPr lang="zh-CN" altLang="en-US" sz="2000" dirty="0">
              <a:solidFill>
                <a:srgbClr val="0000FF"/>
              </a:solidFill>
              <a:ea typeface="黑体" panose="02010609060101010101" pitchFamily="49" charset="-122"/>
            </a:endParaRPr>
          </a:p>
          <a:p>
            <a:pPr>
              <a:lnSpc>
                <a:spcPct val="110000"/>
              </a:lnSpc>
              <a:buFont typeface="Monotype Sorts" pitchFamily="-84" charset="2"/>
              <a:buNone/>
            </a:pPr>
            <a:r>
              <a:rPr lang="zh-CN" altLang="en-US" sz="2000" dirty="0">
                <a:solidFill>
                  <a:srgbClr val="0000FF"/>
                </a:solidFill>
                <a:ea typeface="黑体" panose="02010609060101010101" pitchFamily="49" charset="-122"/>
              </a:rPr>
              <a:t>   操作数存放位置灵活，空间应尽量大</a:t>
            </a:r>
            <a:endParaRPr lang="zh-CN" altLang="en-US" sz="2000" dirty="0">
              <a:solidFill>
                <a:srgbClr val="0000FF"/>
              </a:solidFill>
              <a:ea typeface="黑体" panose="02010609060101010101" pitchFamily="49" charset="-122"/>
            </a:endParaRPr>
          </a:p>
          <a:p>
            <a:pPr>
              <a:lnSpc>
                <a:spcPct val="110000"/>
              </a:lnSpc>
              <a:buFont typeface="Monotype Sorts" pitchFamily="-84" charset="2"/>
              <a:buNone/>
            </a:pPr>
            <a:r>
              <a:rPr lang="zh-CN" altLang="en-US" sz="2000" dirty="0">
                <a:solidFill>
                  <a:srgbClr val="0000FF"/>
                </a:solidFill>
                <a:ea typeface="黑体" panose="02010609060101010101" pitchFamily="49" charset="-122"/>
              </a:rPr>
              <a:t>   有效地址计算过程尽量简单</a:t>
            </a:r>
            <a:endParaRPr lang="zh-CN" altLang="en-US" sz="2000" dirty="0">
              <a:ea typeface="黑体" panose="02010609060101010101" pitchFamily="49" charset="-122"/>
            </a:endParaRPr>
          </a:p>
        </p:txBody>
      </p:sp>
      <p:sp>
        <p:nvSpPr>
          <p:cNvPr id="57348" name="Rectangle 4"/>
          <p:cNvSpPr/>
          <p:nvPr/>
        </p:nvSpPr>
        <p:spPr>
          <a:xfrm>
            <a:off x="360363" y="3411538"/>
            <a:ext cx="8308975" cy="240347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Clr>
                <a:schemeClr val="tx2"/>
              </a:buClr>
              <a:buSzPct val="70000"/>
              <a:buFont typeface="Wingdings" panose="05000000000000000000" pitchFamily="2" charset="2"/>
              <a:buChar char="l"/>
            </a:pPr>
            <a:r>
              <a:rPr lang="zh-CN" altLang="en-US" sz="2000" dirty="0">
                <a:ea typeface="黑体" panose="02010609060101010101" pitchFamily="49" charset="-122"/>
              </a:rPr>
              <a:t>指令的寻址</a:t>
            </a:r>
            <a:r>
              <a:rPr lang="en-US" altLang="zh-CN" sz="2000" dirty="0">
                <a:ea typeface="黑体" panose="02010609060101010101" pitchFamily="49" charset="-122"/>
              </a:rPr>
              <a:t>----</a:t>
            </a:r>
            <a:r>
              <a:rPr lang="zh-CN" altLang="en-US" sz="2000" dirty="0">
                <a:ea typeface="黑体" panose="02010609060101010101" pitchFamily="49" charset="-122"/>
              </a:rPr>
              <a:t>简单</a:t>
            </a:r>
            <a:endParaRPr lang="zh-CN" altLang="en-US" sz="2000" dirty="0">
              <a:ea typeface="黑体" panose="02010609060101010101" pitchFamily="49" charset="-122"/>
            </a:endParaRPr>
          </a:p>
          <a:p>
            <a:pPr marL="742950" lvl="1" indent="-285750" eaLnBrk="1" hangingPunct="1">
              <a:buClr>
                <a:srgbClr val="0000FF"/>
              </a:buClr>
              <a:buSzPct val="70000"/>
              <a:buNone/>
            </a:pPr>
            <a:r>
              <a:rPr lang="zh-CN" altLang="en-US" sz="2000" dirty="0">
                <a:solidFill>
                  <a:srgbClr val="0000FF"/>
                </a:solidFill>
                <a:ea typeface="黑体" panose="02010609060101010101" pitchFamily="49" charset="-122"/>
              </a:rPr>
              <a:t>正常：</a:t>
            </a:r>
            <a:r>
              <a:rPr lang="en-US" altLang="zh-CN" sz="2000" dirty="0">
                <a:solidFill>
                  <a:srgbClr val="0000FF"/>
                </a:solidFill>
                <a:ea typeface="黑体" panose="02010609060101010101" pitchFamily="49" charset="-122"/>
              </a:rPr>
              <a:t>PC</a:t>
            </a:r>
            <a:r>
              <a:rPr lang="zh-CN" altLang="en-US" sz="2000" dirty="0">
                <a:solidFill>
                  <a:srgbClr val="0000FF"/>
                </a:solidFill>
                <a:ea typeface="黑体" panose="02010609060101010101" pitchFamily="49" charset="-122"/>
              </a:rPr>
              <a:t>增值</a:t>
            </a:r>
            <a:endParaRPr lang="zh-CN" altLang="en-US" sz="2000" dirty="0">
              <a:solidFill>
                <a:srgbClr val="0000FF"/>
              </a:solidFill>
              <a:ea typeface="黑体" panose="02010609060101010101" pitchFamily="49" charset="-122"/>
            </a:endParaRPr>
          </a:p>
          <a:p>
            <a:pPr marL="742950" lvl="1" indent="-285750" eaLnBrk="1" hangingPunct="1">
              <a:buClr>
                <a:srgbClr val="0000FF"/>
              </a:buClr>
              <a:buSzPct val="70000"/>
              <a:buNone/>
            </a:pPr>
            <a:r>
              <a:rPr lang="zh-CN" altLang="en-US" sz="2000" dirty="0">
                <a:solidFill>
                  <a:srgbClr val="0000FF"/>
                </a:solidFill>
                <a:ea typeface="黑体" panose="02010609060101010101" pitchFamily="49" charset="-122"/>
              </a:rPr>
              <a:t>跳转 </a:t>
            </a:r>
            <a:r>
              <a:rPr lang="en-US" altLang="zh-CN" sz="2000" dirty="0">
                <a:solidFill>
                  <a:srgbClr val="0000FF"/>
                </a:solidFill>
                <a:ea typeface="黑体" panose="02010609060101010101" pitchFamily="49" charset="-122"/>
              </a:rPr>
              <a:t>( jump / branch / call / return )</a:t>
            </a:r>
            <a:r>
              <a:rPr lang="zh-CN" altLang="en-US" sz="2000" dirty="0">
                <a:solidFill>
                  <a:srgbClr val="0000FF"/>
                </a:solidFill>
                <a:ea typeface="黑体" panose="02010609060101010101" pitchFamily="49" charset="-122"/>
              </a:rPr>
              <a:t>：同操作数的寻址</a:t>
            </a:r>
            <a:endParaRPr lang="zh-CN" altLang="en-US" sz="2000" dirty="0">
              <a:solidFill>
                <a:srgbClr val="0000FF"/>
              </a:solidFill>
              <a:ea typeface="黑体" panose="02010609060101010101" pitchFamily="49" charset="-122"/>
            </a:endParaRPr>
          </a:p>
          <a:p>
            <a:pPr marL="342900" lvl="0" indent="-342900" eaLnBrk="1" hangingPunct="1">
              <a:buClr>
                <a:schemeClr val="tx2"/>
              </a:buClr>
              <a:buSzPct val="70000"/>
              <a:buFont typeface="Wingdings" panose="05000000000000000000" pitchFamily="2" charset="2"/>
              <a:buChar char="l"/>
            </a:pPr>
            <a:r>
              <a:rPr lang="zh-CN" altLang="en-US" sz="2000" dirty="0">
                <a:ea typeface="黑体" panose="02010609060101010101" pitchFamily="49" charset="-122"/>
              </a:rPr>
              <a:t>操作数的寻址</a:t>
            </a:r>
            <a:r>
              <a:rPr lang="en-US" altLang="zh-CN" sz="2000" dirty="0">
                <a:ea typeface="黑体" panose="02010609060101010101" pitchFamily="49" charset="-122"/>
              </a:rPr>
              <a:t>----</a:t>
            </a:r>
            <a:r>
              <a:rPr lang="zh-CN" altLang="en-US" sz="2000" dirty="0">
                <a:ea typeface="黑体" panose="02010609060101010101" pitchFamily="49" charset="-122"/>
              </a:rPr>
              <a:t>复杂</a:t>
            </a:r>
            <a:endParaRPr lang="zh-CN" altLang="en-US" sz="2000" dirty="0">
              <a:ea typeface="黑体" panose="02010609060101010101" pitchFamily="49" charset="-122"/>
            </a:endParaRPr>
          </a:p>
          <a:p>
            <a:pPr marL="742950" lvl="1" indent="-285750" eaLnBrk="1" hangingPunct="1">
              <a:buClr>
                <a:srgbClr val="0000FF"/>
              </a:buClr>
              <a:buSzPct val="70000"/>
              <a:buNone/>
            </a:pPr>
            <a:r>
              <a:rPr lang="zh-CN" altLang="en-US" sz="2000" dirty="0">
                <a:solidFill>
                  <a:srgbClr val="0000FF"/>
                </a:solidFill>
                <a:ea typeface="黑体" panose="02010609060101010101" pitchFamily="49" charset="-122"/>
              </a:rPr>
              <a:t>操作数来源：寄存器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外设端口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主</a:t>
            </a:r>
            <a:r>
              <a:rPr lang="en-US" altLang="zh-CN" sz="2000" dirty="0">
                <a:solidFill>
                  <a:srgbClr val="0000FF"/>
                </a:solidFill>
                <a:ea typeface="黑体" panose="02010609060101010101" pitchFamily="49" charset="-122"/>
              </a:rPr>
              <a:t>(</a:t>
            </a:r>
            <a:r>
              <a:rPr lang="zh-CN" altLang="en-US" sz="2000" dirty="0">
                <a:solidFill>
                  <a:srgbClr val="0000FF"/>
                </a:solidFill>
                <a:ea typeface="黑体" panose="02010609060101010101" pitchFamily="49" charset="-122"/>
              </a:rPr>
              <a:t>虚</a:t>
            </a:r>
            <a:r>
              <a:rPr lang="en-US" altLang="zh-CN" sz="2000" dirty="0">
                <a:solidFill>
                  <a:srgbClr val="0000FF"/>
                </a:solidFill>
                <a:ea typeface="黑体" panose="02010609060101010101" pitchFamily="49" charset="-122"/>
              </a:rPr>
              <a:t>)</a:t>
            </a:r>
            <a:r>
              <a:rPr lang="zh-CN" altLang="en-US" sz="2000" dirty="0">
                <a:solidFill>
                  <a:srgbClr val="0000FF"/>
                </a:solidFill>
                <a:ea typeface="黑体" panose="02010609060101010101" pitchFamily="49" charset="-122"/>
              </a:rPr>
              <a:t>存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栈顶</a:t>
            </a:r>
            <a:endParaRPr lang="zh-CN" altLang="en-US" sz="2000" dirty="0">
              <a:solidFill>
                <a:srgbClr val="0000FF"/>
              </a:solidFill>
              <a:ea typeface="黑体" panose="02010609060101010101" pitchFamily="49" charset="-122"/>
            </a:endParaRPr>
          </a:p>
          <a:p>
            <a:pPr marL="742950" lvl="1" indent="-285750" eaLnBrk="1" hangingPunct="1">
              <a:buClr>
                <a:srgbClr val="0000FF"/>
              </a:buClr>
              <a:buSzPct val="70000"/>
              <a:buNone/>
            </a:pPr>
            <a:r>
              <a:rPr lang="zh-CN" altLang="en-US" sz="2000" dirty="0">
                <a:solidFill>
                  <a:srgbClr val="0000FF"/>
                </a:solidFill>
                <a:ea typeface="黑体" panose="02010609060101010101" pitchFamily="49" charset="-122"/>
              </a:rPr>
              <a:t>操作数结构：位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字节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半字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字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双字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一维表 </a:t>
            </a:r>
            <a:r>
              <a:rPr lang="en-US" altLang="zh-CN" sz="2000" dirty="0">
                <a:solidFill>
                  <a:srgbClr val="0000FF"/>
                </a:solidFill>
                <a:ea typeface="黑体" panose="02010609060101010101" pitchFamily="49" charset="-122"/>
              </a:rPr>
              <a:t>/ </a:t>
            </a:r>
            <a:r>
              <a:rPr lang="zh-CN" altLang="en-US" sz="2000" dirty="0">
                <a:solidFill>
                  <a:srgbClr val="0000FF"/>
                </a:solidFill>
                <a:ea typeface="黑体" panose="02010609060101010101" pitchFamily="49" charset="-122"/>
              </a:rPr>
              <a:t>二维表 </a:t>
            </a:r>
            <a:r>
              <a:rPr lang="en-US" altLang="zh-CN" sz="2000" dirty="0">
                <a:solidFill>
                  <a:srgbClr val="0000FF"/>
                </a:solidFill>
                <a:ea typeface="黑体" panose="02010609060101010101" pitchFamily="49" charset="-122"/>
              </a:rPr>
              <a:t>/…</a:t>
            </a:r>
            <a:r>
              <a:rPr lang="en-US" altLang="zh-CN" sz="2000" dirty="0">
                <a:ea typeface="黑体" panose="02010609060101010101" pitchFamily="49" charset="-122"/>
              </a:rPr>
              <a:t>   </a:t>
            </a:r>
            <a:endParaRPr lang="en-US" altLang="zh-CN" sz="2000" dirty="0">
              <a:ea typeface="黑体" panose="02010609060101010101" pitchFamily="49" charset="-122"/>
            </a:endParaRPr>
          </a:p>
        </p:txBody>
      </p:sp>
      <p:sp>
        <p:nvSpPr>
          <p:cNvPr id="57349" name="Rectangle 5"/>
          <p:cNvSpPr/>
          <p:nvPr/>
        </p:nvSpPr>
        <p:spPr>
          <a:xfrm>
            <a:off x="908050" y="5989638"/>
            <a:ext cx="3959225" cy="325437"/>
          </a:xfrm>
          <a:prstGeom prst="rect">
            <a:avLst/>
          </a:prstGeom>
          <a:noFill/>
          <a:ln w="12700">
            <a:noFill/>
          </a:ln>
        </p:spPr>
        <p:txBody>
          <a:bodyPr wrap="none"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90000"/>
              </a:lnSpc>
              <a:spcBef>
                <a:spcPct val="30000"/>
              </a:spcBef>
              <a:buClrTx/>
              <a:buSzPct val="100000"/>
              <a:buFontTx/>
              <a:buNone/>
            </a:pPr>
            <a:r>
              <a:rPr lang="zh-CN" altLang="en-US" sz="2000" b="1" dirty="0">
                <a:ea typeface="黑体" panose="02010609060101010101" pitchFamily="49" charset="-122"/>
              </a:rPr>
              <a:t>通常寻址方式特指</a:t>
            </a:r>
            <a:r>
              <a:rPr lang="zh-CN" altLang="en-US" sz="2000" b="1" dirty="0">
                <a:solidFill>
                  <a:srgbClr val="CC3300"/>
                </a:solidFill>
                <a:ea typeface="黑体" panose="02010609060101010101" pitchFamily="49" charset="-122"/>
              </a:rPr>
              <a:t>“操作数的寻址”</a:t>
            </a:r>
            <a:endParaRPr lang="zh-CN" altLang="en-US" sz="2000" b="1" dirty="0">
              <a:solidFill>
                <a:srgbClr val="CC3300"/>
              </a:solidFill>
              <a:ea typeface="黑体" panose="02010609060101010101" pitchFamily="49" charset="-122"/>
            </a:endParaRPr>
          </a:p>
        </p:txBody>
      </p:sp>
      <p:sp>
        <p:nvSpPr>
          <p:cNvPr id="57350" name="Text Box 6"/>
          <p:cNvSpPr txBox="1"/>
          <p:nvPr/>
        </p:nvSpPr>
        <p:spPr>
          <a:xfrm>
            <a:off x="3816350" y="2005013"/>
            <a:ext cx="1066800" cy="325437"/>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1800" b="1" dirty="0">
                <a:solidFill>
                  <a:schemeClr val="accent1"/>
                </a:solidFill>
                <a:ea typeface="黑体" panose="02010609060101010101" pitchFamily="49" charset="-122"/>
              </a:rPr>
              <a:t>为什么？</a:t>
            </a:r>
            <a:endParaRPr lang="zh-CN" altLang="en-US" sz="1800" b="1" dirty="0">
              <a:solidFill>
                <a:schemeClr val="accent1"/>
              </a:solidFill>
              <a:ea typeface="黑体" panose="02010609060101010101" pitchFamily="49" charset="-122"/>
            </a:endParaRPr>
          </a:p>
        </p:txBody>
      </p:sp>
      <p:sp>
        <p:nvSpPr>
          <p:cNvPr id="57351" name="Line 7"/>
          <p:cNvSpPr/>
          <p:nvPr/>
        </p:nvSpPr>
        <p:spPr>
          <a:xfrm>
            <a:off x="3190875" y="2459038"/>
            <a:ext cx="2084388" cy="0"/>
          </a:xfrm>
          <a:prstGeom prst="line">
            <a:avLst/>
          </a:prstGeom>
          <a:ln w="12700" cap="flat" cmpd="sng">
            <a:solidFill>
              <a:srgbClr val="0033CC"/>
            </a:solidFill>
            <a:prstDash val="solid"/>
            <a:headEnd type="none" w="med" len="med"/>
            <a:tailEnd type="triangle" w="med" len="med"/>
          </a:ln>
        </p:spPr>
      </p:sp>
      <p:sp>
        <p:nvSpPr>
          <p:cNvPr id="57352" name="Line 8"/>
          <p:cNvSpPr/>
          <p:nvPr/>
        </p:nvSpPr>
        <p:spPr>
          <a:xfrm flipV="1">
            <a:off x="4951413" y="2841625"/>
            <a:ext cx="327025" cy="0"/>
          </a:xfrm>
          <a:prstGeom prst="line">
            <a:avLst/>
          </a:prstGeom>
          <a:ln w="12700" cap="flat" cmpd="sng">
            <a:solidFill>
              <a:srgbClr val="0033CC"/>
            </a:solidFill>
            <a:prstDash val="solid"/>
            <a:headEnd type="none" w="med" len="med"/>
            <a:tailEnd type="triangle" w="med" len="med"/>
          </a:ln>
        </p:spPr>
      </p:sp>
      <p:sp>
        <p:nvSpPr>
          <p:cNvPr id="57353" name="Line 9"/>
          <p:cNvSpPr/>
          <p:nvPr/>
        </p:nvSpPr>
        <p:spPr>
          <a:xfrm>
            <a:off x="3960813" y="3190875"/>
            <a:ext cx="1352550" cy="0"/>
          </a:xfrm>
          <a:prstGeom prst="line">
            <a:avLst/>
          </a:prstGeom>
          <a:ln w="12700" cap="flat" cmpd="sng">
            <a:solidFill>
              <a:srgbClr val="0033CC"/>
            </a:solidFill>
            <a:prstDash val="solid"/>
            <a:headEnd type="none" w="med" len="med"/>
            <a:tailEnd type="triangle" w="med" len="med"/>
          </a:ln>
        </p:spPr>
      </p:sp>
      <p:sp>
        <p:nvSpPr>
          <p:cNvPr id="57354" name="Text Box 10"/>
          <p:cNvSpPr txBox="1"/>
          <p:nvPr/>
        </p:nvSpPr>
        <p:spPr>
          <a:xfrm>
            <a:off x="5272088" y="2208213"/>
            <a:ext cx="3722687" cy="1176337"/>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10000"/>
              </a:lnSpc>
              <a:buClrTx/>
              <a:buSzTx/>
              <a:buFontTx/>
              <a:buNone/>
            </a:pPr>
            <a:r>
              <a:rPr lang="zh-CN" altLang="en-US" sz="2000" b="1" dirty="0">
                <a:solidFill>
                  <a:schemeClr val="accent1"/>
                </a:solidFill>
                <a:ea typeface="黑体" panose="02010609060101010101" pitchFamily="49" charset="-122"/>
              </a:rPr>
              <a:t>目标代码短，省空间</a:t>
            </a:r>
            <a:endParaRPr lang="zh-CN" altLang="en-US" sz="2000" b="1" dirty="0">
              <a:solidFill>
                <a:schemeClr val="accent1"/>
              </a:solidFill>
              <a:ea typeface="黑体" panose="02010609060101010101" pitchFamily="49" charset="-122"/>
            </a:endParaRPr>
          </a:p>
          <a:p>
            <a:pPr marL="0" lvl="0" indent="0">
              <a:lnSpc>
                <a:spcPct val="110000"/>
              </a:lnSpc>
              <a:buClrTx/>
              <a:buSzTx/>
              <a:buFontTx/>
              <a:buNone/>
            </a:pPr>
            <a:r>
              <a:rPr lang="zh-CN" altLang="en-US" sz="2000" b="1" dirty="0">
                <a:solidFill>
                  <a:schemeClr val="accent1"/>
                </a:solidFill>
                <a:ea typeface="黑体" panose="02010609060101010101" pitchFamily="49" charset="-122"/>
              </a:rPr>
              <a:t>利于编译器优化产生高效代码</a:t>
            </a:r>
            <a:endParaRPr lang="zh-CN" altLang="en-US" sz="2000" b="1" dirty="0">
              <a:solidFill>
                <a:schemeClr val="accent1"/>
              </a:solidFill>
              <a:ea typeface="黑体" panose="02010609060101010101" pitchFamily="49" charset="-122"/>
            </a:endParaRPr>
          </a:p>
          <a:p>
            <a:pPr marL="0" lvl="0" indent="0">
              <a:lnSpc>
                <a:spcPct val="110000"/>
              </a:lnSpc>
              <a:buClrTx/>
              <a:buSzTx/>
              <a:buFontTx/>
              <a:buNone/>
            </a:pPr>
            <a:r>
              <a:rPr lang="zh-CN" altLang="en-US" sz="2000" b="1" dirty="0">
                <a:solidFill>
                  <a:schemeClr val="accent1"/>
                </a:solidFill>
                <a:ea typeface="黑体" panose="02010609060101010101" pitchFamily="49" charset="-122"/>
              </a:rPr>
              <a:t>指令执行快</a:t>
            </a:r>
            <a:endParaRPr lang="zh-CN" altLang="en-US" sz="2000" b="1" dirty="0">
              <a:solidFill>
                <a:schemeClr val="accent1"/>
              </a:solidFill>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0" name="Picture 2" descr="4a2">
            <a:hlinkClick r:id="rId1" action="ppaction://hlinkfile"/>
          </p:cNvPr>
          <p:cNvPicPr>
            <a:picLocks noChangeAspect="1"/>
          </p:cNvPicPr>
          <p:nvPr/>
        </p:nvPicPr>
        <p:blipFill>
          <a:blip r:embed="rId2"/>
          <a:stretch>
            <a:fillRect/>
          </a:stretch>
        </p:blipFill>
        <p:spPr>
          <a:xfrm>
            <a:off x="971550" y="476250"/>
            <a:ext cx="6985000" cy="590232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xfrm>
            <a:off x="468313" y="688975"/>
            <a:ext cx="7532687" cy="723900"/>
          </a:xfrm>
          <a:ln/>
        </p:spPr>
        <p:txBody>
          <a:bodyPr vert="horz" wrap="square" lIns="91440" tIns="45720" rIns="91440" bIns="45720" anchor="ctr" anchorCtr="0"/>
          <a:p>
            <a:r>
              <a:rPr lang="en-US" altLang="zh-CN" sz="3500" dirty="0"/>
              <a:t>1</a:t>
            </a:r>
            <a:r>
              <a:rPr lang="zh-CN" altLang="en-US" sz="3500" dirty="0"/>
              <a:t>、隐含寻址</a:t>
            </a:r>
            <a:endParaRPr lang="zh-CN" altLang="en-US" sz="3500" dirty="0"/>
          </a:p>
        </p:txBody>
      </p:sp>
      <p:sp>
        <p:nvSpPr>
          <p:cNvPr id="59395" name="Rectangle 3"/>
          <p:cNvSpPr>
            <a:spLocks noGrp="1"/>
          </p:cNvSpPr>
          <p:nvPr>
            <p:ph idx="1"/>
          </p:nvPr>
        </p:nvSpPr>
        <p:spPr>
          <a:xfrm>
            <a:off x="457200" y="1716088"/>
            <a:ext cx="8229600" cy="3886200"/>
          </a:xfrm>
          <a:ln/>
        </p:spPr>
        <p:txBody>
          <a:bodyPr vert="horz" wrap="square" lIns="91440" tIns="45720" rIns="91440" bIns="45720" anchor="t" anchorCtr="0"/>
          <a:p>
            <a:r>
              <a:rPr lang="zh-CN" altLang="en-US" sz="2600" dirty="0"/>
              <a:t>指令中隐含着操作数的地址</a:t>
            </a:r>
            <a:endParaRPr lang="zh-CN" altLang="en-US" sz="2600" dirty="0"/>
          </a:p>
          <a:p>
            <a:r>
              <a:rPr lang="zh-CN" altLang="en-US" sz="2600" dirty="0"/>
              <a:t>如某些运算，隐含了累加器</a:t>
            </a:r>
            <a:r>
              <a:rPr lang="en-US" altLang="zh-CN" sz="2600" dirty="0"/>
              <a:t>AC</a:t>
            </a:r>
            <a:r>
              <a:rPr lang="zh-CN" altLang="en-US" sz="2600" dirty="0"/>
              <a:t>作为</a:t>
            </a:r>
            <a:r>
              <a:rPr lang="zh-CN" altLang="en-US" sz="2600" dirty="0">
                <a:solidFill>
                  <a:srgbClr val="FF3300"/>
                </a:solidFill>
              </a:rPr>
              <a:t>源和目的寄存器</a:t>
            </a:r>
            <a:endParaRPr lang="zh-CN" altLang="en-US" sz="2600" dirty="0">
              <a:solidFill>
                <a:srgbClr val="FF3300"/>
              </a:solidFill>
            </a:endParaRPr>
          </a:p>
          <a:p>
            <a:pPr lvl="1"/>
            <a:r>
              <a:rPr lang="zh-CN" altLang="en-US" sz="2400" dirty="0"/>
              <a:t>如</a:t>
            </a:r>
            <a:r>
              <a:rPr lang="en-US" altLang="zh-CN" sz="2400" dirty="0"/>
              <a:t>8086</a:t>
            </a:r>
            <a:r>
              <a:rPr lang="zh-CN" altLang="en-US" sz="2400" dirty="0"/>
              <a:t>汇编中的</a:t>
            </a:r>
            <a:r>
              <a:rPr lang="en-US" altLang="zh-CN" sz="2400" dirty="0"/>
              <a:t>STC</a:t>
            </a:r>
            <a:r>
              <a:rPr lang="zh-CN" altLang="en-US" sz="2400" dirty="0"/>
              <a:t>指令，设置标志寄存器的</a:t>
            </a:r>
            <a:r>
              <a:rPr lang="en-US" altLang="zh-CN" sz="2400" dirty="0"/>
              <a:t>C</a:t>
            </a:r>
            <a:r>
              <a:rPr lang="zh-CN" altLang="en-US" sz="2400" dirty="0"/>
              <a:t>为</a:t>
            </a:r>
            <a:r>
              <a:rPr lang="en-US" altLang="zh-CN" sz="2400" dirty="0"/>
              <a:t>1</a:t>
            </a:r>
            <a:r>
              <a:rPr lang="en-US" altLang="zh-CN" sz="2200" dirty="0"/>
              <a:t>  </a:t>
            </a:r>
            <a:endParaRPr lang="en-US" altLang="zh-CN" sz="2200" dirty="0"/>
          </a:p>
        </p:txBody>
      </p:sp>
      <p:pic>
        <p:nvPicPr>
          <p:cNvPr id="59396" name="Picture 4"/>
          <p:cNvPicPr>
            <a:picLocks noChangeAspect="1"/>
          </p:cNvPicPr>
          <p:nvPr/>
        </p:nvPicPr>
        <p:blipFill>
          <a:blip r:embed="rId1"/>
          <a:stretch>
            <a:fillRect/>
          </a:stretch>
        </p:blipFill>
        <p:spPr>
          <a:xfrm>
            <a:off x="2051050" y="3314700"/>
            <a:ext cx="4897438" cy="277812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468313" y="401638"/>
            <a:ext cx="7532687" cy="723900"/>
          </a:xfrm>
          <a:ln/>
        </p:spPr>
        <p:txBody>
          <a:bodyPr vert="horz" wrap="square" lIns="91440" tIns="45720" rIns="91440" bIns="45720" anchor="ctr" anchorCtr="0"/>
          <a:p>
            <a:r>
              <a:rPr lang="en-US" altLang="zh-CN" sz="3500" dirty="0"/>
              <a:t>2</a:t>
            </a:r>
            <a:r>
              <a:rPr lang="zh-CN" altLang="en-US" sz="3500" dirty="0"/>
              <a:t>、立即寻址</a:t>
            </a:r>
            <a:endParaRPr lang="zh-CN" altLang="en-US" sz="3500" dirty="0"/>
          </a:p>
        </p:txBody>
      </p:sp>
      <p:sp>
        <p:nvSpPr>
          <p:cNvPr id="60419" name="Rectangle 3"/>
          <p:cNvSpPr>
            <a:spLocks noGrp="1"/>
          </p:cNvSpPr>
          <p:nvPr>
            <p:ph idx="1"/>
          </p:nvPr>
        </p:nvSpPr>
        <p:spPr>
          <a:xfrm>
            <a:off x="457200" y="1268413"/>
            <a:ext cx="8229600" cy="3186112"/>
          </a:xfrm>
          <a:ln/>
        </p:spPr>
        <p:txBody>
          <a:bodyPr vert="horz" wrap="square" lIns="91440" tIns="45720" rIns="91440" bIns="45720" anchor="t" anchorCtr="0"/>
          <a:p>
            <a:r>
              <a:rPr lang="zh-CN" altLang="en-US" sz="2600" b="1" dirty="0">
                <a:solidFill>
                  <a:srgbClr val="FF3300"/>
                </a:solidFill>
              </a:rPr>
              <a:t>立即寻址</a:t>
            </a:r>
            <a:r>
              <a:rPr lang="zh-CN" altLang="en-US" sz="2600" dirty="0"/>
              <a:t>是一种特殊的寻址方式，指令中在操作码字段后面的部分</a:t>
            </a:r>
            <a:r>
              <a:rPr lang="zh-CN" altLang="en-US" sz="2600" dirty="0">
                <a:solidFill>
                  <a:srgbClr val="FF3300"/>
                </a:solidFill>
              </a:rPr>
              <a:t>不</a:t>
            </a:r>
            <a:r>
              <a:rPr lang="zh-CN" altLang="en-US" sz="2600" dirty="0"/>
              <a:t>是通常意义上的操作数</a:t>
            </a:r>
            <a:r>
              <a:rPr lang="zh-CN" altLang="en-US" sz="2600" dirty="0">
                <a:solidFill>
                  <a:srgbClr val="FF3300"/>
                </a:solidFill>
              </a:rPr>
              <a:t>地址</a:t>
            </a:r>
            <a:r>
              <a:rPr lang="zh-CN" altLang="en-US" sz="2600" dirty="0"/>
              <a:t>，</a:t>
            </a:r>
            <a:r>
              <a:rPr lang="zh-CN" altLang="en-US" sz="2600" dirty="0">
                <a:solidFill>
                  <a:srgbClr val="FF3300"/>
                </a:solidFill>
              </a:rPr>
              <a:t>而是操作数本身</a:t>
            </a:r>
            <a:r>
              <a:rPr lang="zh-CN" altLang="en-US" sz="2600" dirty="0"/>
              <a:t>，也就是说数据就包含在指令中，只要取出指令，就取出了可以立即使用的操作数，因此，这样的操作数被称为</a:t>
            </a:r>
            <a:r>
              <a:rPr lang="zh-CN" altLang="en-US" sz="2600" b="1" dirty="0">
                <a:solidFill>
                  <a:srgbClr val="FF3300"/>
                </a:solidFill>
              </a:rPr>
              <a:t>立即数</a:t>
            </a:r>
            <a:r>
              <a:rPr lang="zh-CN" altLang="en-US" sz="2600" dirty="0"/>
              <a:t>。</a:t>
            </a:r>
            <a:endParaRPr lang="zh-CN" altLang="en-US" sz="2600" dirty="0"/>
          </a:p>
          <a:p>
            <a:r>
              <a:rPr lang="zh-CN" altLang="en-US" sz="2600" dirty="0"/>
              <a:t>指令格式：操作码</a:t>
            </a:r>
            <a:r>
              <a:rPr lang="en-US" altLang="zh-CN" sz="2600" dirty="0"/>
              <a:t>θ  </a:t>
            </a:r>
            <a:r>
              <a:rPr lang="zh-CN" altLang="en-US" sz="2600" dirty="0"/>
              <a:t>操作数</a:t>
            </a:r>
            <a:r>
              <a:rPr lang="en-US" altLang="zh-CN" sz="2600" dirty="0"/>
              <a:t>A </a:t>
            </a:r>
            <a:endParaRPr lang="en-US" altLang="zh-CN" sz="2600" dirty="0"/>
          </a:p>
          <a:p>
            <a:endParaRPr lang="en-US" altLang="zh-CN" dirty="0"/>
          </a:p>
        </p:txBody>
      </p:sp>
      <p:pic>
        <p:nvPicPr>
          <p:cNvPr id="60420" name="Picture 4"/>
          <p:cNvPicPr>
            <a:picLocks noChangeAspect="1"/>
          </p:cNvPicPr>
          <p:nvPr/>
        </p:nvPicPr>
        <p:blipFill>
          <a:blip r:embed="rId1"/>
          <a:stretch>
            <a:fillRect/>
          </a:stretch>
        </p:blipFill>
        <p:spPr>
          <a:xfrm>
            <a:off x="2411413" y="4076700"/>
            <a:ext cx="4249737" cy="22352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395288" y="-26987"/>
            <a:ext cx="8229600" cy="1371600"/>
          </a:xfrm>
          <a:ln/>
        </p:spPr>
        <p:txBody>
          <a:bodyPr vert="horz" wrap="square" lIns="91440" tIns="45720" rIns="91440" bIns="45720" anchor="ctr" anchorCtr="0"/>
          <a:p>
            <a:r>
              <a:rPr lang="en-US" altLang="zh-CN" sz="3500" dirty="0"/>
              <a:t>2</a:t>
            </a:r>
            <a:r>
              <a:rPr lang="zh-CN" altLang="en-US" sz="3500" dirty="0"/>
              <a:t>、立即寻址</a:t>
            </a:r>
            <a:endParaRPr lang="zh-CN" altLang="en-US" sz="3500" dirty="0"/>
          </a:p>
        </p:txBody>
      </p:sp>
      <p:sp>
        <p:nvSpPr>
          <p:cNvPr id="61443" name="Rectangle 3"/>
          <p:cNvSpPr>
            <a:spLocks noGrp="1"/>
          </p:cNvSpPr>
          <p:nvPr>
            <p:ph idx="1"/>
          </p:nvPr>
        </p:nvSpPr>
        <p:spPr>
          <a:xfrm>
            <a:off x="457200" y="981075"/>
            <a:ext cx="8229600" cy="3886200"/>
          </a:xfrm>
          <a:ln/>
        </p:spPr>
        <p:txBody>
          <a:bodyPr vert="horz" wrap="square" lIns="91440" tIns="45720" rIns="91440" bIns="45720" anchor="t" anchorCtr="0"/>
          <a:p>
            <a:r>
              <a:rPr lang="zh-CN" altLang="en-US" sz="2600" dirty="0"/>
              <a:t>特点：在取指令时，操作码和操作数被同时取出，不必再次访问存储器，从而提高了指令的执行速度。</a:t>
            </a:r>
            <a:endParaRPr lang="zh-CN" altLang="en-US" sz="2600" dirty="0"/>
          </a:p>
          <a:p>
            <a:r>
              <a:rPr lang="zh-CN" altLang="en-US" sz="2600" dirty="0"/>
              <a:t>但是，因为操作数是指令的一部分，不能被修改；</a:t>
            </a:r>
            <a:endParaRPr lang="zh-CN" altLang="en-US" sz="2600" dirty="0"/>
          </a:p>
          <a:p>
            <a:r>
              <a:rPr lang="zh-CN" altLang="en-US" sz="2600" dirty="0"/>
              <a:t>而且对于定 长指令格式，操作数的大小将受到指令长度的限制，所以这种寻址方式灵活性最差</a:t>
            </a:r>
            <a:endParaRPr lang="zh-CN" altLang="en-US" sz="2600" dirty="0"/>
          </a:p>
          <a:p>
            <a:r>
              <a:rPr lang="zh-CN" altLang="en-US" sz="2600" dirty="0"/>
              <a:t>通常用于给某一寄存器或主存单元赋初值，或者用于提供一个常数。</a:t>
            </a:r>
            <a:endParaRPr lang="zh-CN" altLang="en-US" sz="2600" dirty="0"/>
          </a:p>
          <a:p>
            <a:endParaRPr lang="en-US" altLang="zh-CN" dirty="0"/>
          </a:p>
        </p:txBody>
      </p:sp>
      <p:pic>
        <p:nvPicPr>
          <p:cNvPr id="61444" name="Picture 4"/>
          <p:cNvPicPr>
            <a:picLocks noChangeAspect="1"/>
          </p:cNvPicPr>
          <p:nvPr/>
        </p:nvPicPr>
        <p:blipFill>
          <a:blip r:embed="rId1"/>
          <a:stretch>
            <a:fillRect/>
          </a:stretch>
        </p:blipFill>
        <p:spPr>
          <a:xfrm>
            <a:off x="2555875" y="4076700"/>
            <a:ext cx="4249738" cy="223520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457200" y="115888"/>
            <a:ext cx="8229600" cy="1371600"/>
          </a:xfrm>
          <a:ln/>
        </p:spPr>
        <p:txBody>
          <a:bodyPr vert="horz" wrap="square" lIns="91440" tIns="45720" rIns="91440" bIns="45720" anchor="ctr" anchorCtr="0"/>
          <a:p>
            <a:r>
              <a:rPr lang="en-US" altLang="zh-CN" sz="3500" dirty="0">
                <a:cs typeface="Times New Roman" panose="02020603050405020304" pitchFamily="18" charset="0"/>
              </a:rPr>
              <a:t>3</a:t>
            </a:r>
            <a:r>
              <a:rPr lang="zh-CN" altLang="en-US" sz="3500" dirty="0"/>
              <a:t>、</a:t>
            </a:r>
            <a:r>
              <a:rPr lang="zh-CN" altLang="en-US" dirty="0"/>
              <a:t>直接寻址</a:t>
            </a:r>
            <a:endParaRPr lang="zh-CN" altLang="en-US" sz="3500" dirty="0"/>
          </a:p>
        </p:txBody>
      </p:sp>
      <p:sp>
        <p:nvSpPr>
          <p:cNvPr id="62467" name="Rectangle 3"/>
          <p:cNvSpPr>
            <a:spLocks noGrp="1"/>
          </p:cNvSpPr>
          <p:nvPr>
            <p:ph idx="1"/>
          </p:nvPr>
        </p:nvSpPr>
        <p:spPr>
          <a:xfrm>
            <a:off x="457200" y="1268413"/>
            <a:ext cx="8229600" cy="3886200"/>
          </a:xfrm>
          <a:ln/>
        </p:spPr>
        <p:txBody>
          <a:bodyPr vert="horz" wrap="square" lIns="91440" tIns="45720" rIns="91440" bIns="45720" anchor="t" anchorCtr="0"/>
          <a:p>
            <a:r>
              <a:rPr lang="en-US" altLang="zh-CN" b="1" dirty="0"/>
              <a:t> </a:t>
            </a:r>
            <a:r>
              <a:rPr lang="zh-CN" altLang="en-US" dirty="0"/>
              <a:t>指令中地址码字段给出的地址</a:t>
            </a:r>
            <a:r>
              <a:rPr lang="en-US" altLang="zh-CN" dirty="0"/>
              <a:t>A</a:t>
            </a:r>
            <a:r>
              <a:rPr lang="zh-CN" altLang="en-US" dirty="0"/>
              <a:t>就是操作数的</a:t>
            </a:r>
            <a:r>
              <a:rPr lang="zh-CN" altLang="en-US" b="1" dirty="0">
                <a:solidFill>
                  <a:srgbClr val="FF3300"/>
                </a:solidFill>
              </a:rPr>
              <a:t>有效地址</a:t>
            </a:r>
            <a:r>
              <a:rPr lang="en-US" altLang="zh-CN" dirty="0"/>
              <a:t>EA(Effective Address)</a:t>
            </a:r>
            <a:r>
              <a:rPr lang="zh-CN" altLang="en-US" dirty="0"/>
              <a:t>，即</a:t>
            </a:r>
            <a:r>
              <a:rPr lang="en-US" altLang="zh-CN" dirty="0"/>
              <a:t>EA</a:t>
            </a:r>
            <a:r>
              <a:rPr lang="zh-CN" altLang="en-US" dirty="0"/>
              <a:t>＝</a:t>
            </a:r>
            <a:r>
              <a:rPr lang="en-US" altLang="zh-CN" dirty="0"/>
              <a:t>A</a:t>
            </a:r>
            <a:r>
              <a:rPr lang="zh-CN" altLang="en-US" dirty="0"/>
              <a:t>。</a:t>
            </a:r>
            <a:endParaRPr lang="zh-CN" altLang="en-US" dirty="0"/>
          </a:p>
          <a:p>
            <a:pPr lvl="1"/>
            <a:endParaRPr lang="en-US" altLang="zh-CN" dirty="0"/>
          </a:p>
        </p:txBody>
      </p:sp>
      <p:pic>
        <p:nvPicPr>
          <p:cNvPr id="62468" name="Picture 6"/>
          <p:cNvPicPr>
            <a:picLocks noChangeAspect="1"/>
          </p:cNvPicPr>
          <p:nvPr/>
        </p:nvPicPr>
        <p:blipFill>
          <a:blip r:embed="rId1"/>
          <a:stretch>
            <a:fillRect/>
          </a:stretch>
        </p:blipFill>
        <p:spPr>
          <a:xfrm>
            <a:off x="2124075" y="2492375"/>
            <a:ext cx="4905375" cy="383857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457200" y="44450"/>
            <a:ext cx="8229600" cy="1371600"/>
          </a:xfrm>
          <a:ln/>
        </p:spPr>
        <p:txBody>
          <a:bodyPr vert="horz" wrap="square" lIns="91440" tIns="45720" rIns="91440" bIns="45720" anchor="ctr" anchorCtr="0"/>
          <a:p>
            <a:r>
              <a:rPr lang="en-US" altLang="zh-CN" sz="3500" dirty="0">
                <a:cs typeface="Times New Roman" panose="02020603050405020304" pitchFamily="18" charset="0"/>
              </a:rPr>
              <a:t>3</a:t>
            </a:r>
            <a:r>
              <a:rPr lang="zh-CN" altLang="en-US" sz="3500" dirty="0"/>
              <a:t>、</a:t>
            </a:r>
            <a:r>
              <a:rPr lang="zh-CN" altLang="en-US" dirty="0"/>
              <a:t>直接寻址</a:t>
            </a:r>
            <a:endParaRPr lang="zh-CN" altLang="en-US" dirty="0"/>
          </a:p>
        </p:txBody>
      </p:sp>
      <p:sp>
        <p:nvSpPr>
          <p:cNvPr id="63491" name="Rectangle 3"/>
          <p:cNvSpPr>
            <a:spLocks noGrp="1"/>
          </p:cNvSpPr>
          <p:nvPr>
            <p:ph idx="1"/>
          </p:nvPr>
        </p:nvSpPr>
        <p:spPr>
          <a:xfrm>
            <a:off x="395288" y="981075"/>
            <a:ext cx="8229600" cy="5113338"/>
          </a:xfrm>
          <a:ln/>
        </p:spPr>
        <p:txBody>
          <a:bodyPr vert="horz" wrap="square" lIns="91440" tIns="45720" rIns="91440" bIns="45720" anchor="t" anchorCtr="0"/>
          <a:p>
            <a:pPr lvl="1"/>
            <a:r>
              <a:rPr lang="zh-CN" altLang="en-US" dirty="0"/>
              <a:t>操作数地址是不能修改的，与程序本身所在的位置无关，所以又叫做</a:t>
            </a:r>
            <a:r>
              <a:rPr lang="zh-CN" altLang="en-US" b="1" dirty="0">
                <a:solidFill>
                  <a:srgbClr val="FF3300"/>
                </a:solidFill>
              </a:rPr>
              <a:t>绝对寻址方式</a:t>
            </a:r>
            <a:endParaRPr lang="zh-CN" altLang="en-US" b="1" dirty="0">
              <a:solidFill>
                <a:srgbClr val="FF3300"/>
              </a:solidFill>
            </a:endParaRPr>
          </a:p>
          <a:p>
            <a:pPr lvl="1"/>
            <a:r>
              <a:rPr lang="zh-CN" altLang="en-US" dirty="0"/>
              <a:t>在早期的计算机中，主存储器的容量较小，指令中地址码的位数要求不长，采用直接寻址方式简单快速，也便于硬件实现，因此，常被作为主要的寻址方式。</a:t>
            </a:r>
            <a:endParaRPr lang="zh-CN" altLang="en-US" dirty="0"/>
          </a:p>
          <a:p>
            <a:pPr lvl="1"/>
            <a:r>
              <a:rPr lang="zh-CN" altLang="en-US" dirty="0"/>
              <a:t>但在现代，随着计算机主存容量的不断扩大，所需的地址码将会越来越长。指令中地址码的位数将不能满足整个主存空间寻址的要求，因此直接寻址方式受到了很大的限制。另外，在指令的执行过程中，为了取得操作数，必须进行访存操作，降低了指令的执行速度。</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457200" y="115888"/>
            <a:ext cx="8229600" cy="1371600"/>
          </a:xfrm>
          <a:ln/>
        </p:spPr>
        <p:txBody>
          <a:bodyPr vert="horz" wrap="square" lIns="91440" tIns="45720" rIns="91440" bIns="45720" anchor="ctr" anchorCtr="0"/>
          <a:p>
            <a:r>
              <a:rPr lang="en-US" altLang="zh-CN" sz="3500" dirty="0">
                <a:cs typeface="Times New Roman" panose="02020603050405020304" pitchFamily="18" charset="0"/>
              </a:rPr>
              <a:t>4</a:t>
            </a:r>
            <a:r>
              <a:rPr lang="zh-CN" altLang="en-US" sz="3500" dirty="0"/>
              <a:t>、</a:t>
            </a:r>
            <a:r>
              <a:rPr lang="zh-CN" altLang="en-US" dirty="0"/>
              <a:t>间接寻址</a:t>
            </a:r>
            <a:endParaRPr lang="zh-CN" altLang="en-US" sz="3500" dirty="0"/>
          </a:p>
        </p:txBody>
      </p:sp>
      <p:sp>
        <p:nvSpPr>
          <p:cNvPr id="64515" name="Rectangle 3"/>
          <p:cNvSpPr>
            <a:spLocks noGrp="1"/>
          </p:cNvSpPr>
          <p:nvPr>
            <p:ph idx="1"/>
          </p:nvPr>
        </p:nvSpPr>
        <p:spPr>
          <a:xfrm>
            <a:off x="539750" y="981075"/>
            <a:ext cx="7848600" cy="4876800"/>
          </a:xfrm>
          <a:ln/>
        </p:spPr>
        <p:txBody>
          <a:bodyPr vert="horz" wrap="square" lIns="91440" tIns="45720" rIns="91440" bIns="45720" anchor="t" anchorCtr="0"/>
          <a:p>
            <a:r>
              <a:rPr lang="en-US" altLang="zh-CN" b="1" dirty="0"/>
              <a:t> </a:t>
            </a:r>
            <a:r>
              <a:rPr lang="zh-CN" altLang="en-US" dirty="0"/>
              <a:t>间接寻址意味着指令的地址码部分给出的地址</a:t>
            </a:r>
            <a:r>
              <a:rPr lang="en-US" altLang="zh-CN" dirty="0">
                <a:solidFill>
                  <a:srgbClr val="FF3300"/>
                </a:solidFill>
              </a:rPr>
              <a:t>A</a:t>
            </a:r>
            <a:r>
              <a:rPr lang="zh-CN" altLang="en-US" dirty="0">
                <a:solidFill>
                  <a:srgbClr val="FF3300"/>
                </a:solidFill>
              </a:rPr>
              <a:t>不是操作数的地址</a:t>
            </a:r>
            <a:r>
              <a:rPr lang="zh-CN" altLang="en-US" dirty="0"/>
              <a:t>，而是</a:t>
            </a:r>
            <a:r>
              <a:rPr lang="zh-CN" altLang="en-US" dirty="0">
                <a:solidFill>
                  <a:srgbClr val="FF3300"/>
                </a:solidFill>
              </a:rPr>
              <a:t>存放操作数地址的主存单元的地址</a:t>
            </a:r>
            <a:r>
              <a:rPr lang="zh-CN" altLang="en-US" dirty="0"/>
              <a:t>，简称操作数</a:t>
            </a:r>
            <a:r>
              <a:rPr lang="zh-CN" altLang="en-US" dirty="0">
                <a:solidFill>
                  <a:srgbClr val="FF3300"/>
                </a:solidFill>
              </a:rPr>
              <a:t>地址的地址</a:t>
            </a:r>
            <a:r>
              <a:rPr lang="zh-CN" altLang="en-US" dirty="0"/>
              <a:t>。操作数的有效地址的计算公式为：</a:t>
            </a:r>
            <a:r>
              <a:rPr lang="en-US" altLang="zh-CN" b="1" dirty="0">
                <a:solidFill>
                  <a:srgbClr val="FF3300"/>
                </a:solidFill>
              </a:rPr>
              <a:t>EA</a:t>
            </a:r>
            <a:r>
              <a:rPr lang="zh-CN" altLang="en-US" b="1" dirty="0">
                <a:solidFill>
                  <a:srgbClr val="FF3300"/>
                </a:solidFill>
              </a:rPr>
              <a:t>＝</a:t>
            </a:r>
            <a:r>
              <a:rPr lang="en-US" altLang="zh-CN" b="1" dirty="0">
                <a:solidFill>
                  <a:srgbClr val="FF3300"/>
                </a:solidFill>
              </a:rPr>
              <a:t>(A)</a:t>
            </a:r>
            <a:r>
              <a:rPr lang="en-US" altLang="zh-CN" b="1" dirty="0"/>
              <a:t></a:t>
            </a:r>
            <a:endParaRPr lang="en-US" altLang="zh-CN" b="1" dirty="0"/>
          </a:p>
        </p:txBody>
      </p:sp>
      <p:pic>
        <p:nvPicPr>
          <p:cNvPr id="64516" name="Picture 5"/>
          <p:cNvPicPr>
            <a:picLocks noChangeAspect="1"/>
          </p:cNvPicPr>
          <p:nvPr/>
        </p:nvPicPr>
        <p:blipFill>
          <a:blip r:embed="rId1"/>
          <a:stretch>
            <a:fillRect/>
          </a:stretch>
        </p:blipFill>
        <p:spPr>
          <a:xfrm>
            <a:off x="3059113" y="3500438"/>
            <a:ext cx="3744912" cy="2968625"/>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xfrm>
            <a:off x="468313" y="328613"/>
            <a:ext cx="7532687" cy="723900"/>
          </a:xfrm>
          <a:ln/>
        </p:spPr>
        <p:txBody>
          <a:bodyPr vert="horz" wrap="square" lIns="91440" tIns="45720" rIns="91440" bIns="45720" anchor="ctr" anchorCtr="0"/>
          <a:p>
            <a:r>
              <a:rPr lang="en-US" altLang="zh-CN" sz="3500" dirty="0">
                <a:cs typeface="Times New Roman" panose="02020603050405020304" pitchFamily="18" charset="0"/>
              </a:rPr>
              <a:t>4</a:t>
            </a:r>
            <a:r>
              <a:rPr lang="zh-CN" altLang="en-US" sz="3500" dirty="0"/>
              <a:t>、</a:t>
            </a:r>
            <a:r>
              <a:rPr lang="zh-CN" altLang="en-US" dirty="0"/>
              <a:t>间接寻址</a:t>
            </a:r>
            <a:endParaRPr lang="zh-CN" altLang="en-US" dirty="0"/>
          </a:p>
        </p:txBody>
      </p:sp>
      <p:sp>
        <p:nvSpPr>
          <p:cNvPr id="65539" name="Rectangle 3"/>
          <p:cNvSpPr>
            <a:spLocks noGrp="1"/>
          </p:cNvSpPr>
          <p:nvPr>
            <p:ph idx="1"/>
          </p:nvPr>
        </p:nvSpPr>
        <p:spPr>
          <a:xfrm>
            <a:off x="323850" y="1268413"/>
            <a:ext cx="8229600" cy="5113337"/>
          </a:xfrm>
          <a:ln/>
        </p:spPr>
        <p:txBody>
          <a:bodyPr vert="horz" wrap="square" lIns="91440" tIns="45720" rIns="91440" bIns="45720" anchor="t" anchorCtr="0"/>
          <a:p>
            <a:pPr lvl="1"/>
            <a:r>
              <a:rPr lang="zh-CN" altLang="en-US" dirty="0"/>
              <a:t>特点：因为操作数的有效地址在主存储器中，可以被灵活的修改而不必修改指令，从而使间接寻址要比直接寻址灵活得多。</a:t>
            </a:r>
            <a:endParaRPr lang="zh-CN" altLang="en-US" dirty="0"/>
          </a:p>
          <a:p>
            <a:pPr lvl="1"/>
            <a:r>
              <a:rPr lang="zh-CN" altLang="en-US" dirty="0"/>
              <a:t>但是，间接寻址在指令执行过程中至少需要两次访问主存储器才能取出操作数，严重降低了指令执行的速度。</a:t>
            </a:r>
            <a:endParaRPr lang="zh-CN" altLang="en-US" dirty="0"/>
          </a:p>
          <a:p>
            <a:pPr lvl="1"/>
            <a:endParaRPr lang="zh-CN" altLang="en-US" dirty="0"/>
          </a:p>
          <a:p>
            <a:pPr lvl="1"/>
            <a:endParaRPr lang="zh-CN" altLang="en-US" dirty="0"/>
          </a:p>
          <a:p>
            <a:pPr lvl="1"/>
            <a:r>
              <a:rPr lang="zh-CN" altLang="en-US" dirty="0"/>
              <a:t>若寻址特征位</a:t>
            </a:r>
            <a:r>
              <a:rPr lang="en-US" altLang="zh-CN" dirty="0"/>
              <a:t>I=0</a:t>
            </a:r>
            <a:r>
              <a:rPr lang="zh-CN" altLang="en-US" dirty="0"/>
              <a:t>，表示直接寻址，</a:t>
            </a:r>
            <a:r>
              <a:rPr lang="en-US" altLang="zh-CN" dirty="0"/>
              <a:t>EA=A</a:t>
            </a:r>
            <a:r>
              <a:rPr lang="zh-CN" altLang="en-US" dirty="0"/>
              <a:t>；</a:t>
            </a:r>
            <a:endParaRPr lang="zh-CN" altLang="en-US" dirty="0"/>
          </a:p>
          <a:p>
            <a:pPr lvl="1"/>
            <a:r>
              <a:rPr lang="zh-CN" altLang="en-US" dirty="0"/>
              <a:t>若寻址特征位</a:t>
            </a:r>
            <a:r>
              <a:rPr lang="en-US" altLang="zh-CN" dirty="0"/>
              <a:t>I=1</a:t>
            </a:r>
            <a:r>
              <a:rPr lang="zh-CN" altLang="en-US" dirty="0"/>
              <a:t>，表示间接寻址，</a:t>
            </a:r>
            <a:r>
              <a:rPr lang="en-US" altLang="zh-CN" dirty="0"/>
              <a:t>EA=(A)</a:t>
            </a:r>
            <a:r>
              <a:rPr lang="zh-CN" altLang="en-US" dirty="0"/>
              <a:t>；</a:t>
            </a:r>
            <a:endParaRPr lang="zh-CN" altLang="en-US" dirty="0"/>
          </a:p>
        </p:txBody>
      </p:sp>
      <p:grpSp>
        <p:nvGrpSpPr>
          <p:cNvPr id="65540" name="Group 5"/>
          <p:cNvGrpSpPr/>
          <p:nvPr/>
        </p:nvGrpSpPr>
        <p:grpSpPr>
          <a:xfrm>
            <a:off x="1331913" y="4335463"/>
            <a:ext cx="5688012" cy="533400"/>
            <a:chOff x="1344" y="1824"/>
            <a:chExt cx="2064" cy="336"/>
          </a:xfrm>
        </p:grpSpPr>
        <p:sp>
          <p:nvSpPr>
            <p:cNvPr id="65541" name="Rectangle 6"/>
            <p:cNvSpPr/>
            <p:nvPr/>
          </p:nvSpPr>
          <p:spPr>
            <a:xfrm>
              <a:off x="1344" y="1824"/>
              <a:ext cx="2064"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65542" name="Line 7"/>
            <p:cNvSpPr/>
            <p:nvPr/>
          </p:nvSpPr>
          <p:spPr>
            <a:xfrm>
              <a:off x="1968" y="1824"/>
              <a:ext cx="0" cy="336"/>
            </a:xfrm>
            <a:prstGeom prst="line">
              <a:avLst/>
            </a:prstGeom>
            <a:ln w="9525" cap="flat" cmpd="sng">
              <a:solidFill>
                <a:schemeClr val="tx1"/>
              </a:solidFill>
              <a:prstDash val="solid"/>
              <a:headEnd type="none" w="med" len="med"/>
              <a:tailEnd type="none" w="med" len="med"/>
            </a:ln>
          </p:spPr>
        </p:sp>
        <p:sp>
          <p:nvSpPr>
            <p:cNvPr id="65543" name="Line 8"/>
            <p:cNvSpPr/>
            <p:nvPr/>
          </p:nvSpPr>
          <p:spPr>
            <a:xfrm>
              <a:off x="2688" y="1824"/>
              <a:ext cx="0" cy="336"/>
            </a:xfrm>
            <a:prstGeom prst="line">
              <a:avLst/>
            </a:prstGeom>
            <a:ln w="9525" cap="flat" cmpd="sng">
              <a:solidFill>
                <a:schemeClr val="tx1"/>
              </a:solidFill>
              <a:prstDash val="solid"/>
              <a:headEnd type="none" w="med" len="med"/>
              <a:tailEnd type="none" w="med" len="med"/>
            </a:ln>
          </p:spPr>
        </p:sp>
        <p:sp>
          <p:nvSpPr>
            <p:cNvPr id="65544" name="Text Box 9"/>
            <p:cNvSpPr txBox="1"/>
            <p:nvPr/>
          </p:nvSpPr>
          <p:spPr>
            <a:xfrm>
              <a:off x="1536" y="1824"/>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dirty="0">
                  <a:solidFill>
                    <a:srgbClr val="FF3300"/>
                  </a:solidFill>
                  <a:latin typeface="Arial Black" panose="020B0A04020102020204" pitchFamily="34" charset="0"/>
                </a:rPr>
                <a:t>操作码</a:t>
              </a:r>
              <a:endParaRPr lang="zh-CN" altLang="en-US" sz="2800" dirty="0">
                <a:solidFill>
                  <a:srgbClr val="FF3300"/>
                </a:solidFill>
                <a:latin typeface="Arial Black" panose="020B0A04020102020204" pitchFamily="34" charset="0"/>
              </a:endParaRPr>
            </a:p>
          </p:txBody>
        </p:sp>
        <p:sp>
          <p:nvSpPr>
            <p:cNvPr id="65545" name="Text Box 10"/>
            <p:cNvSpPr txBox="1"/>
            <p:nvPr/>
          </p:nvSpPr>
          <p:spPr>
            <a:xfrm>
              <a:off x="2784" y="1824"/>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2800" dirty="0">
                  <a:solidFill>
                    <a:srgbClr val="FF3300"/>
                  </a:solidFill>
                  <a:latin typeface="Arial Black" panose="020B0A04020102020204" pitchFamily="34" charset="0"/>
                </a:rPr>
                <a:t>A</a:t>
              </a:r>
              <a:endParaRPr lang="en-US" altLang="zh-CN" sz="2800" dirty="0">
                <a:solidFill>
                  <a:srgbClr val="FF3300"/>
                </a:solidFill>
                <a:latin typeface="Arial Black" panose="020B0A04020102020204" pitchFamily="34" charset="0"/>
              </a:endParaRPr>
            </a:p>
          </p:txBody>
        </p:sp>
        <p:sp>
          <p:nvSpPr>
            <p:cNvPr id="65546" name="Text Box 11"/>
            <p:cNvSpPr txBox="1"/>
            <p:nvPr/>
          </p:nvSpPr>
          <p:spPr>
            <a:xfrm>
              <a:off x="2160" y="1824"/>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800" dirty="0">
                  <a:solidFill>
                    <a:srgbClr val="FF3300"/>
                  </a:solidFill>
                  <a:latin typeface="Arial Black" panose="020B0A04020102020204" pitchFamily="34" charset="0"/>
                </a:rPr>
                <a:t>I</a:t>
              </a:r>
              <a:endParaRPr lang="en-US" altLang="zh-CN" sz="2800" dirty="0">
                <a:solidFill>
                  <a:srgbClr val="FF3300"/>
                </a:solidFill>
                <a:latin typeface="Arial Black" panose="020B0A04020102020204" pitchFamily="34" charset="0"/>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457200" y="-103187"/>
            <a:ext cx="8229600" cy="1371600"/>
          </a:xfrm>
          <a:ln/>
        </p:spPr>
        <p:txBody>
          <a:bodyPr vert="horz" wrap="square" lIns="91440" tIns="45720" rIns="91440" bIns="45720" anchor="ctr" anchorCtr="0"/>
          <a:p>
            <a:r>
              <a:rPr lang="en-US" altLang="zh-CN" dirty="0"/>
              <a:t>5</a:t>
            </a:r>
            <a:r>
              <a:rPr lang="zh-CN" altLang="en-US" dirty="0"/>
              <a:t>、寄存器寻址   </a:t>
            </a:r>
            <a:endParaRPr lang="zh-CN" altLang="en-US" dirty="0"/>
          </a:p>
        </p:txBody>
      </p:sp>
      <p:sp>
        <p:nvSpPr>
          <p:cNvPr id="66563" name="Rectangle 3"/>
          <p:cNvSpPr>
            <a:spLocks noGrp="1"/>
          </p:cNvSpPr>
          <p:nvPr>
            <p:ph idx="1"/>
          </p:nvPr>
        </p:nvSpPr>
        <p:spPr>
          <a:xfrm>
            <a:off x="250825" y="730250"/>
            <a:ext cx="8497888" cy="5183188"/>
          </a:xfrm>
          <a:ln/>
        </p:spPr>
        <p:txBody>
          <a:bodyPr vert="horz" wrap="square" lIns="91440" tIns="45720" rIns="91440" bIns="45720" anchor="t" anchorCtr="0"/>
          <a:p>
            <a:pPr lvl="1"/>
            <a:r>
              <a:rPr lang="zh-CN" altLang="en-US" dirty="0"/>
              <a:t>在指令的地址码部分给出</a:t>
            </a:r>
            <a:r>
              <a:rPr lang="en-US" altLang="zh-CN" dirty="0"/>
              <a:t>CPU</a:t>
            </a:r>
            <a:r>
              <a:rPr lang="zh-CN" altLang="en-US" dirty="0"/>
              <a:t>内某一通用寄存器的编号，指令的操作数存放在相应的寄存器中，即</a:t>
            </a:r>
            <a:r>
              <a:rPr lang="en-US" altLang="zh-CN" dirty="0"/>
              <a:t>EA=R</a:t>
            </a:r>
            <a:r>
              <a:rPr lang="en-US" altLang="zh-CN" baseline="-25000" dirty="0"/>
              <a:t>i</a:t>
            </a:r>
            <a:r>
              <a:rPr lang="en-US" altLang="zh-CN" dirty="0"/>
              <a:t> </a:t>
            </a:r>
            <a:endParaRPr lang="en-US" altLang="zh-CN" dirty="0"/>
          </a:p>
          <a:p>
            <a:pPr lvl="1">
              <a:buNone/>
            </a:pPr>
            <a:endParaRPr lang="en-US" altLang="zh-CN" dirty="0"/>
          </a:p>
          <a:p>
            <a:pPr lvl="1">
              <a:buNone/>
            </a:pPr>
            <a:endParaRPr lang="en-US" altLang="zh-CN" dirty="0"/>
          </a:p>
          <a:p>
            <a:pPr lvl="1">
              <a:buNone/>
            </a:pPr>
            <a:endParaRPr lang="en-US" altLang="zh-CN" dirty="0"/>
          </a:p>
          <a:p>
            <a:pPr lvl="1">
              <a:buNone/>
            </a:pPr>
            <a:r>
              <a:rPr lang="zh-CN" altLang="en-US" dirty="0"/>
              <a:t>优点：</a:t>
            </a:r>
            <a:endParaRPr lang="zh-CN" altLang="en-US" dirty="0"/>
          </a:p>
          <a:p>
            <a:pPr lvl="1">
              <a:buNone/>
            </a:pPr>
            <a:r>
              <a:rPr lang="en-US" altLang="zh-CN" dirty="0"/>
              <a:t>(1)</a:t>
            </a:r>
            <a:r>
              <a:rPr lang="zh-CN" altLang="en-US" dirty="0"/>
              <a:t>由于寄存器在</a:t>
            </a:r>
            <a:r>
              <a:rPr lang="en-US" altLang="zh-CN" dirty="0"/>
              <a:t>CPU</a:t>
            </a:r>
            <a:r>
              <a:rPr lang="zh-CN" altLang="en-US" dirty="0"/>
              <a:t>的内部，指令在执行时从寄存器中取操作数比访问主存要快得多；</a:t>
            </a:r>
            <a:endParaRPr lang="zh-CN" altLang="en-US" dirty="0"/>
          </a:p>
          <a:p>
            <a:pPr lvl="1">
              <a:buNone/>
            </a:pPr>
            <a:r>
              <a:rPr lang="en-US" altLang="zh-CN" dirty="0"/>
              <a:t>(2)</a:t>
            </a:r>
            <a:r>
              <a:rPr lang="zh-CN" altLang="en-US" dirty="0"/>
              <a:t>由于寄存器的数量较少，因此寄存器编号所占位数也较少，从而可以有效减少指令的地址码字段的长度。</a:t>
            </a:r>
            <a:endParaRPr lang="zh-CN" altLang="en-US" dirty="0"/>
          </a:p>
        </p:txBody>
      </p:sp>
      <p:pic>
        <p:nvPicPr>
          <p:cNvPr id="66564" name="Picture 4" descr="jxnr533"/>
          <p:cNvPicPr>
            <a:picLocks noChangeAspect="1"/>
          </p:cNvPicPr>
          <p:nvPr/>
        </p:nvPicPr>
        <p:blipFill>
          <a:blip r:embed="rId1"/>
          <a:stretch>
            <a:fillRect/>
          </a:stretch>
        </p:blipFill>
        <p:spPr>
          <a:xfrm>
            <a:off x="900113" y="2025650"/>
            <a:ext cx="4032250" cy="1360488"/>
          </a:xfrm>
          <a:prstGeom prst="rect">
            <a:avLst/>
          </a:prstGeom>
          <a:noFill/>
          <a:ln w="9525">
            <a:noFill/>
          </a:ln>
        </p:spPr>
      </p:pic>
      <p:pic>
        <p:nvPicPr>
          <p:cNvPr id="66565" name="Picture 6"/>
          <p:cNvPicPr>
            <a:picLocks noChangeAspect="1"/>
          </p:cNvPicPr>
          <p:nvPr/>
        </p:nvPicPr>
        <p:blipFill>
          <a:blip r:embed="rId2"/>
          <a:stretch>
            <a:fillRect/>
          </a:stretch>
        </p:blipFill>
        <p:spPr>
          <a:xfrm>
            <a:off x="5219700" y="1736725"/>
            <a:ext cx="3105150" cy="2484438"/>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457200" y="44450"/>
            <a:ext cx="8229600" cy="1371600"/>
          </a:xfrm>
          <a:ln/>
        </p:spPr>
        <p:txBody>
          <a:bodyPr vert="horz" wrap="square" lIns="91440" tIns="45720" rIns="91440" bIns="45720" anchor="ctr" anchorCtr="0"/>
          <a:p>
            <a:r>
              <a:rPr lang="en-US" altLang="zh-CN" dirty="0"/>
              <a:t>6</a:t>
            </a:r>
            <a:r>
              <a:rPr lang="zh-CN" altLang="en-US" dirty="0"/>
              <a:t>、寄存器间接寻址  </a:t>
            </a:r>
            <a:endParaRPr lang="zh-CN" altLang="en-US" dirty="0"/>
          </a:p>
        </p:txBody>
      </p:sp>
      <p:sp>
        <p:nvSpPr>
          <p:cNvPr id="67587" name="Rectangle 3"/>
          <p:cNvSpPr>
            <a:spLocks noGrp="1"/>
          </p:cNvSpPr>
          <p:nvPr>
            <p:ph idx="1"/>
          </p:nvPr>
        </p:nvSpPr>
        <p:spPr>
          <a:xfrm>
            <a:off x="611188" y="1196975"/>
            <a:ext cx="8137525" cy="5105400"/>
          </a:xfrm>
          <a:ln/>
        </p:spPr>
        <p:txBody>
          <a:bodyPr vert="horz" wrap="square" lIns="91440" tIns="45720" rIns="91440" bIns="45720" anchor="t" anchorCtr="0"/>
          <a:p>
            <a:pPr>
              <a:lnSpc>
                <a:spcPct val="90000"/>
              </a:lnSpc>
            </a:pPr>
            <a:r>
              <a:rPr lang="zh-CN" altLang="en-US" sz="2100" dirty="0"/>
              <a:t>为了克服间接寻址中多次访存的缺点，可采用寄存器间接寻址，即将操作数放在主存储器中，而操作数的地址放在某一通用寄存器中，然后在指令的地址码部分给出该通用寄存器的编号，这时有</a:t>
            </a:r>
            <a:r>
              <a:rPr lang="en-US" altLang="zh-CN" sz="2100" dirty="0"/>
              <a:t>EA=(R</a:t>
            </a:r>
            <a:r>
              <a:rPr lang="en-US" altLang="zh-CN" sz="2100" baseline="-25000" dirty="0"/>
              <a:t>i</a:t>
            </a:r>
            <a:r>
              <a:rPr lang="en-US" altLang="zh-CN" sz="2100" dirty="0"/>
              <a:t>)</a:t>
            </a:r>
            <a:endParaRPr lang="en-US" altLang="zh-CN" sz="2100" dirty="0"/>
          </a:p>
          <a:p>
            <a:pPr>
              <a:lnSpc>
                <a:spcPct val="90000"/>
              </a:lnSpc>
            </a:pPr>
            <a:endParaRPr lang="en-US" altLang="zh-CN" sz="2100" dirty="0"/>
          </a:p>
          <a:p>
            <a:pPr>
              <a:lnSpc>
                <a:spcPct val="90000"/>
              </a:lnSpc>
            </a:pPr>
            <a:endParaRPr lang="en-US" altLang="zh-CN" dirty="0"/>
          </a:p>
          <a:p>
            <a:pPr>
              <a:lnSpc>
                <a:spcPct val="90000"/>
              </a:lnSpc>
            </a:pPr>
            <a:endParaRPr lang="en-US" altLang="zh-CN"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endParaRPr lang="en-US" altLang="zh-CN" sz="1900" dirty="0"/>
          </a:p>
          <a:p>
            <a:pPr>
              <a:lnSpc>
                <a:spcPct val="90000"/>
              </a:lnSpc>
              <a:spcBef>
                <a:spcPct val="0"/>
              </a:spcBef>
            </a:pPr>
            <a:r>
              <a:rPr lang="zh-CN" altLang="en-US" sz="1900" dirty="0"/>
              <a:t>这种寻址方式的指令较短，并且在取指后只需一次访存便可得到操作数，因此指令执行速度较前述的间接寻址方式要快，也是目前在计算机中使用较为广泛的一种寻址方式。</a:t>
            </a:r>
            <a:endParaRPr lang="zh-CN" altLang="en-US" sz="1900" dirty="0"/>
          </a:p>
        </p:txBody>
      </p:sp>
      <p:pic>
        <p:nvPicPr>
          <p:cNvPr id="67588" name="Picture 4"/>
          <p:cNvPicPr>
            <a:picLocks noChangeAspect="1"/>
          </p:cNvPicPr>
          <p:nvPr/>
        </p:nvPicPr>
        <p:blipFill>
          <a:blip r:embed="rId1"/>
          <a:stretch>
            <a:fillRect/>
          </a:stretch>
        </p:blipFill>
        <p:spPr>
          <a:xfrm>
            <a:off x="2051050" y="2492375"/>
            <a:ext cx="5099050" cy="3071813"/>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457200" y="44450"/>
            <a:ext cx="8229600" cy="1371600"/>
          </a:xfrm>
          <a:ln/>
        </p:spPr>
        <p:txBody>
          <a:bodyPr vert="horz" wrap="square" lIns="91440" tIns="45720" rIns="91440" bIns="45720" anchor="ctr" anchorCtr="0"/>
          <a:p>
            <a:r>
              <a:rPr lang="en-US" altLang="zh-CN" dirty="0"/>
              <a:t>7</a:t>
            </a:r>
            <a:r>
              <a:rPr lang="zh-CN" altLang="en-US" dirty="0"/>
              <a:t>、相对寻址</a:t>
            </a:r>
            <a:endParaRPr lang="zh-CN" altLang="en-US" dirty="0"/>
          </a:p>
        </p:txBody>
      </p:sp>
      <p:sp>
        <p:nvSpPr>
          <p:cNvPr id="68611" name="Rectangle 3"/>
          <p:cNvSpPr>
            <a:spLocks noGrp="1"/>
          </p:cNvSpPr>
          <p:nvPr>
            <p:ph idx="1"/>
          </p:nvPr>
        </p:nvSpPr>
        <p:spPr>
          <a:xfrm>
            <a:off x="250825" y="979488"/>
            <a:ext cx="8229600" cy="4862512"/>
          </a:xfrm>
          <a:ln/>
        </p:spPr>
        <p:txBody>
          <a:bodyPr vert="horz" wrap="square" lIns="91440" tIns="45720" rIns="91440" bIns="45720" anchor="t" anchorCtr="0"/>
          <a:p>
            <a:pPr lvl="1"/>
            <a:r>
              <a:rPr lang="zh-CN" altLang="en-US" b="1" dirty="0">
                <a:solidFill>
                  <a:srgbClr val="FF3300"/>
                </a:solidFill>
              </a:rPr>
              <a:t>偏移寻址</a:t>
            </a:r>
            <a:r>
              <a:rPr lang="zh-CN" altLang="en-US" b="1" dirty="0"/>
              <a:t>又分为：</a:t>
            </a:r>
            <a:r>
              <a:rPr lang="zh-CN" altLang="en-US" b="1" dirty="0">
                <a:solidFill>
                  <a:srgbClr val="3333FF"/>
                </a:solidFill>
              </a:rPr>
              <a:t>相对寻址、基址寻址和变址寻址</a:t>
            </a:r>
            <a:endParaRPr lang="zh-CN" altLang="en-US" b="1" dirty="0">
              <a:solidFill>
                <a:srgbClr val="3333FF"/>
              </a:solidFill>
            </a:endParaRPr>
          </a:p>
          <a:p>
            <a:pPr lvl="1"/>
            <a:r>
              <a:rPr lang="zh-CN" altLang="en-US" b="1" dirty="0">
                <a:solidFill>
                  <a:srgbClr val="3333FF"/>
                </a:solidFill>
              </a:rPr>
              <a:t>相对寻址：</a:t>
            </a:r>
            <a:r>
              <a:rPr lang="zh-CN" altLang="en-US" b="1" dirty="0"/>
              <a:t>由程序计数器</a:t>
            </a:r>
            <a:r>
              <a:rPr lang="en-US" altLang="zh-CN" b="1" dirty="0"/>
              <a:t>PC</a:t>
            </a:r>
            <a:r>
              <a:rPr lang="zh-CN" altLang="en-US" b="1" dirty="0"/>
              <a:t>提供基准地址，而指令的地址码部分给出相对的位移量</a:t>
            </a:r>
            <a:r>
              <a:rPr lang="en-US" altLang="zh-CN" b="1" dirty="0"/>
              <a:t>D</a:t>
            </a:r>
            <a:r>
              <a:rPr lang="zh-CN" altLang="en-US" b="1" dirty="0"/>
              <a:t>，两者相加后作为操作数的有效地址，即：</a:t>
            </a:r>
            <a:r>
              <a:rPr lang="en-US" altLang="zh-CN" b="1" dirty="0"/>
              <a:t>EA</a:t>
            </a:r>
            <a:r>
              <a:rPr lang="zh-CN" altLang="en-US" b="1" dirty="0"/>
              <a:t>＝</a:t>
            </a:r>
            <a:r>
              <a:rPr lang="en-US" altLang="zh-CN" b="1" dirty="0"/>
              <a:t>(PC)</a:t>
            </a:r>
            <a:r>
              <a:rPr lang="zh-CN" altLang="en-US" b="1" dirty="0"/>
              <a:t>＋</a:t>
            </a:r>
            <a:r>
              <a:rPr lang="en-US" altLang="zh-CN" b="1" dirty="0"/>
              <a:t>D</a:t>
            </a:r>
            <a:r>
              <a:rPr lang="zh-CN" altLang="en-US" b="1" dirty="0"/>
              <a:t>。</a:t>
            </a:r>
            <a:endParaRPr lang="zh-CN" altLang="en-US" b="1" dirty="0"/>
          </a:p>
          <a:p>
            <a:pPr lvl="1"/>
            <a:endParaRPr lang="en-US" altLang="zh-CN" dirty="0"/>
          </a:p>
        </p:txBody>
      </p:sp>
      <p:pic>
        <p:nvPicPr>
          <p:cNvPr id="68612" name="Picture 4" descr="jxnr537"/>
          <p:cNvPicPr>
            <a:picLocks noChangeAspect="1"/>
          </p:cNvPicPr>
          <p:nvPr/>
        </p:nvPicPr>
        <p:blipFill>
          <a:blip r:embed="rId1"/>
          <a:stretch>
            <a:fillRect/>
          </a:stretch>
        </p:blipFill>
        <p:spPr>
          <a:xfrm>
            <a:off x="395288" y="3608388"/>
            <a:ext cx="8229600" cy="284480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457200" y="-26987"/>
            <a:ext cx="8229600" cy="1371600"/>
          </a:xfrm>
          <a:ln/>
        </p:spPr>
        <p:txBody>
          <a:bodyPr vert="horz" wrap="square" lIns="91440" tIns="45720" rIns="91440" bIns="45720" anchor="ctr" anchorCtr="0"/>
          <a:p>
            <a:r>
              <a:rPr lang="en-US" altLang="zh-CN" dirty="0"/>
              <a:t>8</a:t>
            </a:r>
            <a:r>
              <a:rPr lang="zh-CN" altLang="en-US" dirty="0"/>
              <a:t>、基址寻址</a:t>
            </a:r>
            <a:endParaRPr lang="zh-CN" altLang="en-US" dirty="0"/>
          </a:p>
        </p:txBody>
      </p:sp>
      <p:sp>
        <p:nvSpPr>
          <p:cNvPr id="45059" name="Rectangle 3"/>
          <p:cNvSpPr>
            <a:spLocks noGrp="1"/>
          </p:cNvSpPr>
          <p:nvPr>
            <p:ph idx="1"/>
          </p:nvPr>
        </p:nvSpPr>
        <p:spPr>
          <a:xfrm>
            <a:off x="457200" y="1052513"/>
            <a:ext cx="8229600" cy="3886200"/>
          </a:xfrm>
          <a:ln/>
        </p:spPr>
        <p:txBody>
          <a:bodyPr vert="horz" wrap="square" lIns="91440" tIns="45720" rIns="91440" bIns="45720" anchor="t" anchorCtr="0"/>
          <a:p>
            <a:r>
              <a:rPr lang="zh-CN" altLang="en-US" dirty="0"/>
              <a:t>在</a:t>
            </a:r>
            <a:r>
              <a:rPr lang="zh-CN" altLang="en-US" dirty="0">
                <a:solidFill>
                  <a:srgbClr val="3333FF"/>
                </a:solidFill>
              </a:rPr>
              <a:t>基址寻址方式</a:t>
            </a:r>
            <a:r>
              <a:rPr lang="zh-CN" altLang="en-US" dirty="0"/>
              <a:t>中，指令的地址码部分给出偏移量</a:t>
            </a:r>
            <a:r>
              <a:rPr lang="en-US" altLang="zh-CN" dirty="0"/>
              <a:t>D</a:t>
            </a:r>
            <a:r>
              <a:rPr lang="zh-CN" altLang="en-US" dirty="0"/>
              <a:t>，而</a:t>
            </a:r>
            <a:r>
              <a:rPr lang="zh-CN" altLang="en-US" dirty="0">
                <a:solidFill>
                  <a:srgbClr val="3333FF"/>
                </a:solidFill>
              </a:rPr>
              <a:t>基准地址</a:t>
            </a:r>
            <a:r>
              <a:rPr lang="en-US" altLang="zh-CN" dirty="0">
                <a:solidFill>
                  <a:srgbClr val="3333FF"/>
                </a:solidFill>
              </a:rPr>
              <a:t>A(</a:t>
            </a:r>
            <a:r>
              <a:rPr lang="zh-CN" altLang="en-US" dirty="0">
                <a:solidFill>
                  <a:srgbClr val="FF3300"/>
                </a:solidFill>
              </a:rPr>
              <a:t>即某个存储器地址</a:t>
            </a:r>
            <a:r>
              <a:rPr lang="en-US" altLang="zh-CN" dirty="0">
                <a:solidFill>
                  <a:srgbClr val="FF3300"/>
                </a:solidFill>
              </a:rPr>
              <a:t>A</a:t>
            </a:r>
            <a:r>
              <a:rPr lang="en-US" altLang="zh-CN" dirty="0">
                <a:solidFill>
                  <a:srgbClr val="3333FF"/>
                </a:solidFill>
              </a:rPr>
              <a:t>) </a:t>
            </a:r>
            <a:r>
              <a:rPr lang="zh-CN" altLang="en-US" dirty="0"/>
              <a:t>放在基址寄存器</a:t>
            </a:r>
            <a:r>
              <a:rPr lang="en-US" altLang="zh-CN" dirty="0"/>
              <a:t>R</a:t>
            </a:r>
            <a:r>
              <a:rPr lang="en-US" altLang="zh-CN" baseline="-25000" dirty="0"/>
              <a:t>b</a:t>
            </a:r>
            <a:r>
              <a:rPr lang="zh-CN" altLang="en-US" dirty="0"/>
              <a:t>中，最后操作数的有效地址仍然是由基准地址</a:t>
            </a:r>
            <a:r>
              <a:rPr lang="en-US" altLang="zh-CN" dirty="0"/>
              <a:t>A</a:t>
            </a:r>
            <a:r>
              <a:rPr lang="zh-CN" altLang="en-US" dirty="0"/>
              <a:t>与偏移量</a:t>
            </a:r>
            <a:r>
              <a:rPr lang="en-US" altLang="zh-CN" dirty="0"/>
              <a:t>D</a:t>
            </a:r>
            <a:r>
              <a:rPr lang="zh-CN" altLang="en-US" dirty="0"/>
              <a:t>相加而成，即：</a:t>
            </a:r>
            <a:r>
              <a:rPr lang="en-US" altLang="zh-CN" dirty="0"/>
              <a:t>EA</a:t>
            </a:r>
            <a:r>
              <a:rPr lang="zh-CN" altLang="en-US" dirty="0"/>
              <a:t>＝</a:t>
            </a:r>
            <a:r>
              <a:rPr lang="en-US" altLang="zh-CN" dirty="0"/>
              <a:t>(R</a:t>
            </a:r>
            <a:r>
              <a:rPr lang="en-US" altLang="zh-CN" baseline="-25000" dirty="0"/>
              <a:t>b</a:t>
            </a:r>
            <a:r>
              <a:rPr lang="en-US" altLang="zh-CN" dirty="0"/>
              <a:t>)</a:t>
            </a:r>
            <a:r>
              <a:rPr lang="zh-CN" altLang="en-US" dirty="0"/>
              <a:t>＋</a:t>
            </a:r>
            <a:r>
              <a:rPr lang="en-US" altLang="zh-CN" dirty="0"/>
              <a:t>D</a:t>
            </a:r>
            <a:r>
              <a:rPr lang="zh-CN" altLang="en-US" dirty="0"/>
              <a:t>。</a:t>
            </a:r>
            <a:endParaRPr lang="zh-CN" altLang="en-US" dirty="0"/>
          </a:p>
          <a:p>
            <a:r>
              <a:rPr lang="zh-CN" altLang="en-US" dirty="0"/>
              <a:t>用哪一个寄存器作为基址寄存器也必须在硬件设计时就事先规定，基址寄存器</a:t>
            </a:r>
            <a:r>
              <a:rPr lang="en-US" altLang="zh-CN" dirty="0"/>
              <a:t>R</a:t>
            </a:r>
            <a:r>
              <a:rPr lang="en-US" altLang="zh-CN" baseline="-25000" dirty="0"/>
              <a:t>b</a:t>
            </a:r>
            <a:r>
              <a:rPr lang="zh-CN" altLang="en-US" dirty="0"/>
              <a:t>中的内容称为基准地址，该值可正可负。</a:t>
            </a:r>
            <a:endParaRPr lang="zh-CN" altLang="en-US" dirty="0"/>
          </a:p>
          <a:p>
            <a:r>
              <a:rPr lang="zh-CN" altLang="en-US" dirty="0">
                <a:solidFill>
                  <a:srgbClr val="3333FF"/>
                </a:solidFill>
              </a:rPr>
              <a:t>段寻址方式</a:t>
            </a:r>
            <a:r>
              <a:rPr lang="zh-CN" altLang="en-US" dirty="0"/>
              <a:t>，就是采用了</a:t>
            </a:r>
            <a:r>
              <a:rPr lang="zh-CN" altLang="en-US" dirty="0">
                <a:solidFill>
                  <a:srgbClr val="FF3300"/>
                </a:solidFill>
              </a:rPr>
              <a:t>段基址寄存器</a:t>
            </a:r>
            <a:r>
              <a:rPr lang="zh-CN" altLang="en-US" dirty="0"/>
              <a:t>进行的基址寻址。</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charRg st="150" end="176"/>
                                            </p:txEl>
                                          </p:spTgt>
                                        </p:tgtEl>
                                        <p:attrNameLst>
                                          <p:attrName>style.visibility</p:attrName>
                                        </p:attrNameLst>
                                      </p:cBhvr>
                                      <p:to>
                                        <p:strVal val="visible"/>
                                      </p:to>
                                    </p:set>
                                    <p:anim calcmode="lin" valueType="num">
                                      <p:cBhvr additive="base">
                                        <p:cTn id="7" dur="500" fill="hold"/>
                                        <p:tgtEl>
                                          <p:spTgt spid="45059">
                                            <p:txEl>
                                              <p:charRg st="150" end="17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charRg st="150" end="17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457200" y="115888"/>
            <a:ext cx="8229600" cy="1371600"/>
          </a:xfrm>
          <a:ln/>
        </p:spPr>
        <p:txBody>
          <a:bodyPr vert="horz" wrap="square" lIns="91440" tIns="45720" rIns="91440" bIns="45720" anchor="ctr" anchorCtr="0"/>
          <a:p>
            <a:r>
              <a:rPr lang="en-US" altLang="zh-CN" dirty="0"/>
              <a:t>8</a:t>
            </a:r>
            <a:r>
              <a:rPr lang="zh-CN" altLang="en-US" dirty="0"/>
              <a:t>、基址寻址</a:t>
            </a:r>
            <a:endParaRPr lang="zh-CN" altLang="en-US" dirty="0"/>
          </a:p>
        </p:txBody>
      </p:sp>
      <p:sp>
        <p:nvSpPr>
          <p:cNvPr id="70659" name="Rectangle 3"/>
          <p:cNvSpPr>
            <a:spLocks noGrp="1"/>
          </p:cNvSpPr>
          <p:nvPr>
            <p:ph idx="1"/>
          </p:nvPr>
        </p:nvSpPr>
        <p:spPr>
          <a:xfrm>
            <a:off x="395288" y="1196975"/>
            <a:ext cx="8424862" cy="4862513"/>
          </a:xfrm>
          <a:ln/>
        </p:spPr>
        <p:txBody>
          <a:bodyPr vert="horz" wrap="square" lIns="91440" tIns="45720" rIns="91440" bIns="45720" anchor="t" anchorCtr="0"/>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基址寄存器的位数可以设置得很长，从而可以在较大的存储空间中寻址。</a:t>
            </a:r>
            <a:endParaRPr lang="zh-CN" altLang="en-US" dirty="0"/>
          </a:p>
          <a:p>
            <a:pPr lvl="1"/>
            <a:r>
              <a:rPr lang="zh-CN" altLang="en-US" dirty="0"/>
              <a:t>寄存器的引用可以是显式的，也可以是隐式的。</a:t>
            </a:r>
            <a:endParaRPr lang="zh-CN" altLang="en-US" dirty="0"/>
          </a:p>
        </p:txBody>
      </p:sp>
      <p:pic>
        <p:nvPicPr>
          <p:cNvPr id="70660" name="Picture 4" descr="jxnr536"/>
          <p:cNvPicPr>
            <a:picLocks noChangeAspect="1"/>
          </p:cNvPicPr>
          <p:nvPr/>
        </p:nvPicPr>
        <p:blipFill>
          <a:blip r:embed="rId1"/>
          <a:stretch>
            <a:fillRect/>
          </a:stretch>
        </p:blipFill>
        <p:spPr>
          <a:xfrm>
            <a:off x="1547813" y="1268413"/>
            <a:ext cx="5943600" cy="2895600"/>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457200" y="115888"/>
            <a:ext cx="8229600" cy="1371600"/>
          </a:xfrm>
          <a:ln/>
        </p:spPr>
        <p:txBody>
          <a:bodyPr vert="horz" wrap="square" lIns="91440" tIns="45720" rIns="91440" bIns="45720" anchor="ctr" anchorCtr="0"/>
          <a:p>
            <a:r>
              <a:rPr lang="en-US" altLang="zh-CN" dirty="0"/>
              <a:t>9</a:t>
            </a:r>
            <a:r>
              <a:rPr lang="zh-CN" altLang="en-US" dirty="0"/>
              <a:t>、变址寻址</a:t>
            </a:r>
            <a:endParaRPr lang="zh-CN" altLang="en-US" dirty="0"/>
          </a:p>
        </p:txBody>
      </p:sp>
      <p:sp>
        <p:nvSpPr>
          <p:cNvPr id="71683" name="Rectangle 3"/>
          <p:cNvSpPr>
            <a:spLocks noGrp="1"/>
          </p:cNvSpPr>
          <p:nvPr>
            <p:ph idx="1"/>
          </p:nvPr>
        </p:nvSpPr>
        <p:spPr>
          <a:xfrm>
            <a:off x="539750" y="1030288"/>
            <a:ext cx="8229600" cy="4862512"/>
          </a:xfrm>
          <a:ln/>
        </p:spPr>
        <p:txBody>
          <a:bodyPr vert="horz" wrap="square" lIns="91440" tIns="45720" rIns="91440" bIns="45720" anchor="t" anchorCtr="0"/>
          <a:p>
            <a:r>
              <a:rPr lang="zh-CN" altLang="en-US" dirty="0">
                <a:solidFill>
                  <a:srgbClr val="3333FF"/>
                </a:solidFill>
              </a:rPr>
              <a:t>变址寻址</a:t>
            </a:r>
            <a:r>
              <a:rPr lang="zh-CN" altLang="en-US" dirty="0"/>
              <a:t>就是将指令的地址码部分给出的</a:t>
            </a:r>
            <a:r>
              <a:rPr lang="zh-CN" altLang="en-US" dirty="0">
                <a:solidFill>
                  <a:srgbClr val="3333FF"/>
                </a:solidFill>
              </a:rPr>
              <a:t>基准地址</a:t>
            </a:r>
            <a:r>
              <a:rPr lang="en-US" altLang="zh-CN" dirty="0">
                <a:solidFill>
                  <a:srgbClr val="3333FF"/>
                </a:solidFill>
              </a:rPr>
              <a:t>A</a:t>
            </a:r>
            <a:r>
              <a:rPr lang="zh-CN" altLang="en-US" dirty="0">
                <a:solidFill>
                  <a:srgbClr val="3333FF"/>
                </a:solidFill>
              </a:rPr>
              <a:t>（即存储器地址</a:t>
            </a:r>
            <a:r>
              <a:rPr lang="en-US" altLang="zh-CN" dirty="0">
                <a:solidFill>
                  <a:srgbClr val="3333FF"/>
                </a:solidFill>
              </a:rPr>
              <a:t>A</a:t>
            </a:r>
            <a:r>
              <a:rPr lang="zh-CN" altLang="en-US" dirty="0">
                <a:solidFill>
                  <a:srgbClr val="3333FF"/>
                </a:solidFill>
              </a:rPr>
              <a:t>）</a:t>
            </a:r>
            <a:r>
              <a:rPr lang="zh-CN" altLang="en-US" dirty="0"/>
              <a:t>与</a:t>
            </a:r>
            <a:r>
              <a:rPr lang="en-US" altLang="zh-CN" dirty="0"/>
              <a:t>CPU</a:t>
            </a:r>
            <a:r>
              <a:rPr lang="zh-CN" altLang="en-US" dirty="0"/>
              <a:t>内某特定的变址寄存器</a:t>
            </a:r>
            <a:r>
              <a:rPr lang="en-US" altLang="zh-CN" dirty="0"/>
              <a:t>R</a:t>
            </a:r>
            <a:r>
              <a:rPr lang="en-US" altLang="zh-CN" baseline="-25000" dirty="0"/>
              <a:t>x</a:t>
            </a:r>
            <a:r>
              <a:rPr lang="zh-CN" altLang="en-US" dirty="0"/>
              <a:t>中的正向偏移值</a:t>
            </a:r>
            <a:r>
              <a:rPr lang="en-US" altLang="zh-CN" dirty="0"/>
              <a:t>D</a:t>
            </a:r>
            <a:r>
              <a:rPr lang="zh-CN" altLang="en-US" dirty="0"/>
              <a:t>相加，以形成操作数的有效地址，即：</a:t>
            </a:r>
            <a:r>
              <a:rPr lang="en-US" altLang="zh-CN" dirty="0"/>
              <a:t>EA</a:t>
            </a:r>
            <a:r>
              <a:rPr lang="zh-CN" altLang="en-US" dirty="0"/>
              <a:t>＝</a:t>
            </a:r>
            <a:r>
              <a:rPr lang="en-US" altLang="zh-CN" dirty="0"/>
              <a:t>A</a:t>
            </a:r>
            <a:r>
              <a:rPr lang="zh-CN" altLang="en-US" dirty="0"/>
              <a:t>＋</a:t>
            </a:r>
            <a:r>
              <a:rPr lang="en-US" altLang="zh-CN" dirty="0"/>
              <a:t>(R</a:t>
            </a:r>
            <a:r>
              <a:rPr lang="en-US" altLang="zh-CN" baseline="-25000" dirty="0"/>
              <a:t>x</a:t>
            </a:r>
            <a:r>
              <a:rPr lang="en-US" altLang="zh-CN" dirty="0"/>
              <a:t>)</a:t>
            </a:r>
            <a:r>
              <a:rPr lang="zh-CN" altLang="en-US" dirty="0"/>
              <a:t>。</a:t>
            </a:r>
            <a:endParaRPr lang="zh-CN" altLang="en-US" dirty="0"/>
          </a:p>
          <a:p>
            <a:r>
              <a:rPr lang="zh-CN" altLang="en-US" dirty="0"/>
              <a:t>变址寻址方式刚好是基址寻址相对。</a:t>
            </a:r>
            <a:endParaRPr lang="zh-CN" altLang="en-US" dirty="0"/>
          </a:p>
        </p:txBody>
      </p:sp>
      <p:pic>
        <p:nvPicPr>
          <p:cNvPr id="71684" name="Picture 4" descr="jxnr535"/>
          <p:cNvPicPr>
            <a:picLocks noChangeAspect="1"/>
          </p:cNvPicPr>
          <p:nvPr/>
        </p:nvPicPr>
        <p:blipFill>
          <a:blip r:embed="rId1"/>
          <a:stretch>
            <a:fillRect/>
          </a:stretch>
        </p:blipFill>
        <p:spPr>
          <a:xfrm>
            <a:off x="827088" y="4056063"/>
            <a:ext cx="7272337" cy="2325687"/>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468313" y="401638"/>
            <a:ext cx="7532687" cy="723900"/>
          </a:xfrm>
          <a:ln/>
        </p:spPr>
        <p:txBody>
          <a:bodyPr vert="horz" wrap="square" lIns="91440" tIns="45720" rIns="91440" bIns="45720" anchor="ctr" anchorCtr="0"/>
          <a:p>
            <a:r>
              <a:rPr lang="en-US" altLang="zh-CN" sz="3600" dirty="0"/>
              <a:t>9</a:t>
            </a:r>
            <a:r>
              <a:rPr lang="zh-CN" altLang="en-US" sz="3600" dirty="0"/>
              <a:t>、变址寻址</a:t>
            </a:r>
            <a:endParaRPr lang="zh-CN" altLang="en-US" sz="3600" dirty="0"/>
          </a:p>
        </p:txBody>
      </p:sp>
      <p:sp>
        <p:nvSpPr>
          <p:cNvPr id="72707" name="Rectangle 3"/>
          <p:cNvSpPr>
            <a:spLocks noGrp="1"/>
          </p:cNvSpPr>
          <p:nvPr>
            <p:ph idx="1"/>
          </p:nvPr>
        </p:nvSpPr>
        <p:spPr>
          <a:xfrm>
            <a:off x="107950" y="1268413"/>
            <a:ext cx="8713788" cy="4862512"/>
          </a:xfrm>
          <a:ln/>
        </p:spPr>
        <p:txBody>
          <a:bodyPr vert="horz" wrap="square" lIns="91440" tIns="45720" rIns="91440" bIns="45720" anchor="t" anchorCtr="0"/>
          <a:p>
            <a:pPr lvl="1"/>
            <a:r>
              <a:rPr lang="zh-CN" altLang="en-US" sz="3200" dirty="0"/>
              <a:t>变址寻址方式是一种被广泛采用的寻址方式，最典型的应用就是将指令的地址码部分给出的地址</a:t>
            </a:r>
            <a:r>
              <a:rPr lang="en-US" altLang="zh-CN" sz="3200" dirty="0"/>
              <a:t>A</a:t>
            </a:r>
            <a:r>
              <a:rPr lang="zh-CN" altLang="en-US" sz="3200" dirty="0"/>
              <a:t>作为基准地址，而将变址寄存器</a:t>
            </a:r>
            <a:r>
              <a:rPr lang="en-US" altLang="zh-CN" sz="3200" dirty="0"/>
              <a:t>R</a:t>
            </a:r>
            <a:r>
              <a:rPr lang="en-US" altLang="zh-CN" sz="3200" baseline="-25000" dirty="0"/>
              <a:t>x</a:t>
            </a:r>
            <a:r>
              <a:rPr lang="zh-CN" altLang="en-US" sz="3200" dirty="0"/>
              <a:t>中的内容作为修改量。</a:t>
            </a:r>
            <a:endParaRPr lang="zh-CN" altLang="en-US" sz="3200" dirty="0"/>
          </a:p>
          <a:p>
            <a:pPr lvl="1"/>
            <a:r>
              <a:rPr lang="zh-CN" altLang="en-US" sz="3200" dirty="0"/>
              <a:t>在遇到需要频繁修改操作数地址时，无须修改指令，只要修改</a:t>
            </a:r>
            <a:r>
              <a:rPr lang="en-US" altLang="zh-CN" sz="3200" dirty="0"/>
              <a:t>R</a:t>
            </a:r>
            <a:r>
              <a:rPr lang="en-US" altLang="zh-CN" sz="3200" baseline="-25000" dirty="0"/>
              <a:t>x</a:t>
            </a:r>
            <a:r>
              <a:rPr lang="zh-CN" altLang="en-US" sz="3200" dirty="0"/>
              <a:t>中的变址值就可以了，这对于</a:t>
            </a:r>
            <a:r>
              <a:rPr lang="zh-CN" altLang="en-US" sz="3200" dirty="0">
                <a:solidFill>
                  <a:srgbClr val="3333FF"/>
                </a:solidFill>
              </a:rPr>
              <a:t>数组运算、字符串操作</a:t>
            </a:r>
            <a:r>
              <a:rPr lang="zh-CN" altLang="en-US" sz="3200" dirty="0"/>
              <a:t>等一些进行成批数据处理的指令是很有用的。</a:t>
            </a:r>
            <a:endParaRPr lang="zh-CN" altLang="en-US" sz="3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468313" y="333375"/>
            <a:ext cx="5345112" cy="431800"/>
          </a:xfrm>
          <a:ln/>
        </p:spPr>
        <p:txBody>
          <a:bodyPr vert="horz" wrap="square" lIns="91440" tIns="45720" rIns="91440" bIns="45720" anchor="ctr" anchorCtr="0"/>
          <a:p>
            <a:r>
              <a:rPr lang="zh-CN" altLang="en-US" sz="3600" dirty="0">
                <a:solidFill>
                  <a:srgbClr val="FF0000"/>
                </a:solidFill>
              </a:rPr>
              <a:t>偏移寻址方式（小结）</a:t>
            </a:r>
            <a:endParaRPr lang="zh-CN" altLang="en-US" sz="3600" dirty="0">
              <a:solidFill>
                <a:srgbClr val="FF0000"/>
              </a:solidFill>
            </a:endParaRPr>
          </a:p>
        </p:txBody>
      </p:sp>
      <p:sp>
        <p:nvSpPr>
          <p:cNvPr id="73731" name="Rectangle 3"/>
          <p:cNvSpPr/>
          <p:nvPr/>
        </p:nvSpPr>
        <p:spPr>
          <a:xfrm>
            <a:off x="2193925" y="820738"/>
            <a:ext cx="3081338" cy="577850"/>
          </a:xfrm>
          <a:prstGeom prst="rect">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3732" name="Line 4"/>
          <p:cNvSpPr/>
          <p:nvPr/>
        </p:nvSpPr>
        <p:spPr>
          <a:xfrm>
            <a:off x="2867025" y="820738"/>
            <a:ext cx="0" cy="577850"/>
          </a:xfrm>
          <a:prstGeom prst="line">
            <a:avLst/>
          </a:prstGeom>
          <a:ln w="38100" cap="flat" cmpd="sng">
            <a:solidFill>
              <a:schemeClr val="tx1"/>
            </a:solidFill>
            <a:prstDash val="solid"/>
            <a:headEnd type="none" w="med" len="med"/>
            <a:tailEnd type="none" w="med" len="med"/>
          </a:ln>
        </p:spPr>
      </p:sp>
      <p:sp>
        <p:nvSpPr>
          <p:cNvPr id="73733" name="Text Box 5"/>
          <p:cNvSpPr txBox="1"/>
          <p:nvPr/>
        </p:nvSpPr>
        <p:spPr>
          <a:xfrm>
            <a:off x="3068638" y="846138"/>
            <a:ext cx="417512" cy="4572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400" b="1" dirty="0"/>
              <a:t>R</a:t>
            </a:r>
            <a:endParaRPr lang="en-US" altLang="zh-CN" sz="2400" b="1" dirty="0"/>
          </a:p>
        </p:txBody>
      </p:sp>
      <p:sp>
        <p:nvSpPr>
          <p:cNvPr id="73734" name="Rectangle 6"/>
          <p:cNvSpPr/>
          <p:nvPr/>
        </p:nvSpPr>
        <p:spPr>
          <a:xfrm>
            <a:off x="5894388" y="863600"/>
            <a:ext cx="1584325" cy="2403475"/>
          </a:xfrm>
          <a:prstGeom prst="rect">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3735" name="Text Box 7"/>
          <p:cNvSpPr txBox="1"/>
          <p:nvPr/>
        </p:nvSpPr>
        <p:spPr>
          <a:xfrm>
            <a:off x="6075363" y="457200"/>
            <a:ext cx="13779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solidFill>
                  <a:srgbClr val="0000FF"/>
                </a:solidFill>
                <a:latin typeface="Times New Roman" panose="02020603050405020304" pitchFamily="18" charset="0"/>
                <a:ea typeface="黑体" panose="02010609060101010101" pitchFamily="49" charset="-122"/>
              </a:rPr>
              <a:t>存储器</a:t>
            </a:r>
            <a:endParaRPr lang="zh-CN" altLang="en-US" sz="2000" b="1" dirty="0">
              <a:solidFill>
                <a:srgbClr val="0000FF"/>
              </a:solidFill>
              <a:latin typeface="Times New Roman" panose="02020603050405020304" pitchFamily="18" charset="0"/>
              <a:ea typeface="黑体" panose="02010609060101010101" pitchFamily="49" charset="-122"/>
            </a:endParaRPr>
          </a:p>
        </p:txBody>
      </p:sp>
      <p:sp>
        <p:nvSpPr>
          <p:cNvPr id="73736" name="Line 8"/>
          <p:cNvSpPr/>
          <p:nvPr/>
        </p:nvSpPr>
        <p:spPr>
          <a:xfrm>
            <a:off x="5894388" y="2163763"/>
            <a:ext cx="1584325" cy="0"/>
          </a:xfrm>
          <a:prstGeom prst="line">
            <a:avLst/>
          </a:prstGeom>
          <a:ln w="38100" cap="flat" cmpd="sng">
            <a:solidFill>
              <a:schemeClr val="tx1"/>
            </a:solidFill>
            <a:prstDash val="solid"/>
            <a:headEnd type="none" w="med" len="med"/>
            <a:tailEnd type="none" w="med" len="med"/>
          </a:ln>
        </p:spPr>
      </p:sp>
      <p:sp>
        <p:nvSpPr>
          <p:cNvPr id="73737" name="Line 9"/>
          <p:cNvSpPr/>
          <p:nvPr/>
        </p:nvSpPr>
        <p:spPr>
          <a:xfrm>
            <a:off x="5889625" y="2576513"/>
            <a:ext cx="1584325" cy="0"/>
          </a:xfrm>
          <a:prstGeom prst="line">
            <a:avLst/>
          </a:prstGeom>
          <a:ln w="38100" cap="flat" cmpd="sng">
            <a:solidFill>
              <a:schemeClr val="tx1"/>
            </a:solidFill>
            <a:prstDash val="solid"/>
            <a:headEnd type="none" w="med" len="med"/>
            <a:tailEnd type="none" w="med" len="med"/>
          </a:ln>
        </p:spPr>
      </p:sp>
      <p:sp>
        <p:nvSpPr>
          <p:cNvPr id="73738" name="Text Box 10"/>
          <p:cNvSpPr txBox="1"/>
          <p:nvPr/>
        </p:nvSpPr>
        <p:spPr>
          <a:xfrm>
            <a:off x="6199188" y="2154238"/>
            <a:ext cx="1012825" cy="36671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1800" b="1" dirty="0">
                <a:solidFill>
                  <a:srgbClr val="A50021"/>
                </a:solidFill>
                <a:latin typeface="Times New Roman" panose="02020603050405020304" pitchFamily="18" charset="0"/>
                <a:ea typeface="黑体" panose="02010609060101010101" pitchFamily="49" charset="-122"/>
              </a:rPr>
              <a:t>操作数</a:t>
            </a:r>
            <a:endParaRPr lang="zh-CN" altLang="en-US" sz="1800" b="1" dirty="0">
              <a:solidFill>
                <a:srgbClr val="A50021"/>
              </a:solidFill>
              <a:latin typeface="Times New Roman" panose="02020603050405020304" pitchFamily="18" charset="0"/>
              <a:ea typeface="黑体" panose="02010609060101010101" pitchFamily="49" charset="-122"/>
            </a:endParaRPr>
          </a:p>
        </p:txBody>
      </p:sp>
      <p:sp>
        <p:nvSpPr>
          <p:cNvPr id="73739" name="Line 11"/>
          <p:cNvSpPr/>
          <p:nvPr/>
        </p:nvSpPr>
        <p:spPr>
          <a:xfrm>
            <a:off x="3602038" y="820738"/>
            <a:ext cx="0" cy="577850"/>
          </a:xfrm>
          <a:prstGeom prst="line">
            <a:avLst/>
          </a:prstGeom>
          <a:ln w="38100" cap="flat" cmpd="sng">
            <a:solidFill>
              <a:schemeClr val="tx1"/>
            </a:solidFill>
            <a:prstDash val="solid"/>
            <a:headEnd type="none" w="med" len="med"/>
            <a:tailEnd type="none" w="med" len="med"/>
          </a:ln>
        </p:spPr>
      </p:sp>
      <p:grpSp>
        <p:nvGrpSpPr>
          <p:cNvPr id="73740" name="Group 12"/>
          <p:cNvGrpSpPr/>
          <p:nvPr/>
        </p:nvGrpSpPr>
        <p:grpSpPr>
          <a:xfrm>
            <a:off x="1938338" y="1306513"/>
            <a:ext cx="1136650" cy="2482850"/>
            <a:chOff x="1544" y="1177"/>
            <a:chExt cx="716" cy="1564"/>
          </a:xfrm>
        </p:grpSpPr>
        <p:sp>
          <p:nvSpPr>
            <p:cNvPr id="73767" name="Line 13"/>
            <p:cNvSpPr/>
            <p:nvPr/>
          </p:nvSpPr>
          <p:spPr>
            <a:xfrm>
              <a:off x="2251" y="1177"/>
              <a:ext cx="0" cy="266"/>
            </a:xfrm>
            <a:prstGeom prst="line">
              <a:avLst/>
            </a:prstGeom>
            <a:ln w="38100" cap="flat" cmpd="sng">
              <a:solidFill>
                <a:schemeClr val="accent2"/>
              </a:solidFill>
              <a:prstDash val="solid"/>
              <a:headEnd type="none" w="med" len="med"/>
              <a:tailEnd type="none" w="med" len="med"/>
            </a:ln>
          </p:spPr>
        </p:sp>
        <p:sp>
          <p:nvSpPr>
            <p:cNvPr id="73768" name="Line 14"/>
            <p:cNvSpPr/>
            <p:nvPr/>
          </p:nvSpPr>
          <p:spPr>
            <a:xfrm>
              <a:off x="1544" y="2741"/>
              <a:ext cx="503" cy="0"/>
            </a:xfrm>
            <a:prstGeom prst="line">
              <a:avLst/>
            </a:prstGeom>
            <a:ln w="38100" cap="flat" cmpd="sng">
              <a:solidFill>
                <a:schemeClr val="accent2"/>
              </a:solidFill>
              <a:prstDash val="solid"/>
              <a:headEnd type="none" w="med" len="med"/>
              <a:tailEnd type="arrow" w="med" len="med"/>
            </a:ln>
          </p:spPr>
        </p:sp>
        <p:sp>
          <p:nvSpPr>
            <p:cNvPr id="73769" name="Line 15"/>
            <p:cNvSpPr/>
            <p:nvPr/>
          </p:nvSpPr>
          <p:spPr>
            <a:xfrm flipV="1">
              <a:off x="1554" y="1443"/>
              <a:ext cx="706" cy="10"/>
            </a:xfrm>
            <a:prstGeom prst="line">
              <a:avLst/>
            </a:prstGeom>
            <a:ln w="38100" cap="flat" cmpd="sng">
              <a:solidFill>
                <a:schemeClr val="accent2"/>
              </a:solidFill>
              <a:prstDash val="solid"/>
              <a:headEnd type="none" w="med" len="med"/>
              <a:tailEnd type="none" w="med" len="med"/>
            </a:ln>
          </p:spPr>
        </p:sp>
        <p:sp>
          <p:nvSpPr>
            <p:cNvPr id="73770" name="Line 16"/>
            <p:cNvSpPr/>
            <p:nvPr/>
          </p:nvSpPr>
          <p:spPr>
            <a:xfrm>
              <a:off x="1554" y="1443"/>
              <a:ext cx="0" cy="1294"/>
            </a:xfrm>
            <a:prstGeom prst="line">
              <a:avLst/>
            </a:prstGeom>
            <a:ln w="38100" cap="flat" cmpd="sng">
              <a:solidFill>
                <a:schemeClr val="accent2"/>
              </a:solidFill>
              <a:prstDash val="solid"/>
              <a:headEnd type="none" w="med" len="med"/>
              <a:tailEnd type="none" w="med" len="med"/>
            </a:ln>
          </p:spPr>
        </p:sp>
      </p:grpSp>
      <p:sp>
        <p:nvSpPr>
          <p:cNvPr id="73741" name="Rectangle 17"/>
          <p:cNvSpPr/>
          <p:nvPr/>
        </p:nvSpPr>
        <p:spPr>
          <a:xfrm>
            <a:off x="2698750" y="3022600"/>
            <a:ext cx="1584325" cy="1468438"/>
          </a:xfrm>
          <a:prstGeom prst="rect">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3742" name="Text Box 18"/>
          <p:cNvSpPr txBox="1"/>
          <p:nvPr/>
        </p:nvSpPr>
        <p:spPr>
          <a:xfrm>
            <a:off x="2746375" y="2609850"/>
            <a:ext cx="1692275" cy="396875"/>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zh-CN" altLang="en-US" sz="2000" b="1" dirty="0">
                <a:latin typeface="Times New Roman" panose="02020603050405020304" pitchFamily="18" charset="0"/>
                <a:ea typeface="黑体" panose="02010609060101010101" pitchFamily="49" charset="-122"/>
              </a:rPr>
              <a:t>寄存器堆</a:t>
            </a:r>
            <a:endParaRPr lang="zh-CN" altLang="en-US" sz="2000" b="1" dirty="0">
              <a:latin typeface="Times New Roman" panose="02020603050405020304" pitchFamily="18" charset="0"/>
              <a:ea typeface="黑体" panose="02010609060101010101" pitchFamily="49" charset="-122"/>
            </a:endParaRPr>
          </a:p>
        </p:txBody>
      </p:sp>
      <p:sp>
        <p:nvSpPr>
          <p:cNvPr id="73743" name="Line 19"/>
          <p:cNvSpPr/>
          <p:nvPr/>
        </p:nvSpPr>
        <p:spPr>
          <a:xfrm>
            <a:off x="2698750" y="3527425"/>
            <a:ext cx="1584325" cy="0"/>
          </a:xfrm>
          <a:prstGeom prst="line">
            <a:avLst/>
          </a:prstGeom>
          <a:ln w="38100" cap="flat" cmpd="sng">
            <a:solidFill>
              <a:schemeClr val="tx1"/>
            </a:solidFill>
            <a:prstDash val="solid"/>
            <a:headEnd type="none" w="med" len="med"/>
            <a:tailEnd type="none" w="med" len="med"/>
          </a:ln>
        </p:spPr>
      </p:sp>
      <p:sp>
        <p:nvSpPr>
          <p:cNvPr id="73744" name="Line 20"/>
          <p:cNvSpPr/>
          <p:nvPr/>
        </p:nvSpPr>
        <p:spPr>
          <a:xfrm>
            <a:off x="2692400" y="3940175"/>
            <a:ext cx="1584325" cy="0"/>
          </a:xfrm>
          <a:prstGeom prst="line">
            <a:avLst/>
          </a:prstGeom>
          <a:ln w="38100" cap="flat" cmpd="sng">
            <a:solidFill>
              <a:schemeClr val="tx1"/>
            </a:solidFill>
            <a:prstDash val="solid"/>
            <a:headEnd type="none" w="med" len="med"/>
            <a:tailEnd type="none" w="med" len="med"/>
          </a:ln>
        </p:spPr>
      </p:sp>
      <p:sp>
        <p:nvSpPr>
          <p:cNvPr id="73745" name="Line 21"/>
          <p:cNvSpPr/>
          <p:nvPr/>
        </p:nvSpPr>
        <p:spPr>
          <a:xfrm>
            <a:off x="4916488" y="2363788"/>
            <a:ext cx="973137" cy="0"/>
          </a:xfrm>
          <a:prstGeom prst="line">
            <a:avLst/>
          </a:prstGeom>
          <a:ln w="38100" cap="flat" cmpd="sng">
            <a:solidFill>
              <a:schemeClr val="tx2"/>
            </a:solidFill>
            <a:prstDash val="solid"/>
            <a:headEnd type="none" w="med" len="med"/>
            <a:tailEnd type="arrow" w="med" len="med"/>
          </a:ln>
        </p:spPr>
      </p:sp>
      <p:sp>
        <p:nvSpPr>
          <p:cNvPr id="73746" name="Text Box 22"/>
          <p:cNvSpPr txBox="1"/>
          <p:nvPr/>
        </p:nvSpPr>
        <p:spPr>
          <a:xfrm>
            <a:off x="3849688" y="820738"/>
            <a:ext cx="417512" cy="4572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400" b="1" dirty="0"/>
              <a:t>A</a:t>
            </a:r>
            <a:endParaRPr lang="en-US" altLang="zh-CN" sz="2400" b="1" dirty="0"/>
          </a:p>
        </p:txBody>
      </p:sp>
      <p:sp>
        <p:nvSpPr>
          <p:cNvPr id="73747" name="Line 23"/>
          <p:cNvSpPr/>
          <p:nvPr/>
        </p:nvSpPr>
        <p:spPr>
          <a:xfrm flipH="1">
            <a:off x="4737100" y="2498725"/>
            <a:ext cx="0" cy="1300163"/>
          </a:xfrm>
          <a:prstGeom prst="line">
            <a:avLst/>
          </a:prstGeom>
          <a:ln w="38100" cap="flat" cmpd="sng">
            <a:solidFill>
              <a:schemeClr val="accent2"/>
            </a:solidFill>
            <a:prstDash val="solid"/>
            <a:headEnd type="arrow" w="med" len="med"/>
            <a:tailEnd type="none" w="med" len="med"/>
          </a:ln>
        </p:spPr>
      </p:sp>
      <p:sp>
        <p:nvSpPr>
          <p:cNvPr id="73748" name="Line 24"/>
          <p:cNvSpPr/>
          <p:nvPr/>
        </p:nvSpPr>
        <p:spPr>
          <a:xfrm>
            <a:off x="4248150" y="3789363"/>
            <a:ext cx="488950" cy="0"/>
          </a:xfrm>
          <a:prstGeom prst="line">
            <a:avLst/>
          </a:prstGeom>
          <a:ln w="38100" cap="flat" cmpd="sng">
            <a:solidFill>
              <a:schemeClr val="accent2"/>
            </a:solidFill>
            <a:prstDash val="solid"/>
            <a:headEnd type="none" w="med" len="med"/>
            <a:tailEnd type="none" w="med" len="med"/>
          </a:ln>
        </p:spPr>
      </p:sp>
      <p:sp>
        <p:nvSpPr>
          <p:cNvPr id="73749" name="Line 25"/>
          <p:cNvSpPr/>
          <p:nvPr/>
        </p:nvSpPr>
        <p:spPr>
          <a:xfrm>
            <a:off x="4035425" y="1355725"/>
            <a:ext cx="0" cy="303213"/>
          </a:xfrm>
          <a:prstGeom prst="line">
            <a:avLst/>
          </a:prstGeom>
          <a:ln w="38100" cap="flat" cmpd="sng">
            <a:solidFill>
              <a:schemeClr val="accent2"/>
            </a:solidFill>
            <a:prstDash val="solid"/>
            <a:headEnd type="none" w="med" len="med"/>
            <a:tailEnd type="none" w="med" len="med"/>
          </a:ln>
        </p:spPr>
      </p:sp>
      <p:sp>
        <p:nvSpPr>
          <p:cNvPr id="73750" name="Line 26"/>
          <p:cNvSpPr/>
          <p:nvPr/>
        </p:nvSpPr>
        <p:spPr>
          <a:xfrm>
            <a:off x="4035425" y="1658938"/>
            <a:ext cx="701675" cy="0"/>
          </a:xfrm>
          <a:prstGeom prst="line">
            <a:avLst/>
          </a:prstGeom>
          <a:ln w="38100" cap="flat" cmpd="sng">
            <a:solidFill>
              <a:schemeClr val="accent2"/>
            </a:solidFill>
            <a:prstDash val="solid"/>
            <a:headEnd type="none" w="med" len="med"/>
            <a:tailEnd type="none" w="med" len="med"/>
          </a:ln>
        </p:spPr>
      </p:sp>
      <p:sp>
        <p:nvSpPr>
          <p:cNvPr id="73751" name="Line 27"/>
          <p:cNvSpPr/>
          <p:nvPr/>
        </p:nvSpPr>
        <p:spPr>
          <a:xfrm>
            <a:off x="4721225" y="1658938"/>
            <a:ext cx="0" cy="447675"/>
          </a:xfrm>
          <a:prstGeom prst="line">
            <a:avLst/>
          </a:prstGeom>
          <a:ln w="38100" cap="flat" cmpd="sng">
            <a:solidFill>
              <a:schemeClr val="accent2"/>
            </a:solidFill>
            <a:prstDash val="solid"/>
            <a:headEnd type="none" w="med" len="med"/>
            <a:tailEnd type="arrow" w="med" len="med"/>
          </a:ln>
        </p:spPr>
      </p:sp>
      <p:sp>
        <p:nvSpPr>
          <p:cNvPr id="73752" name="Oval 28"/>
          <p:cNvSpPr/>
          <p:nvPr/>
        </p:nvSpPr>
        <p:spPr>
          <a:xfrm>
            <a:off x="4554538" y="2122488"/>
            <a:ext cx="361950" cy="396875"/>
          </a:xfrm>
          <a:prstGeom prst="ellipse">
            <a:avLst/>
          </a:prstGeom>
          <a:solidFill>
            <a:schemeClr val="hlink"/>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73753" name="Text Box 29"/>
          <p:cNvSpPr txBox="1"/>
          <p:nvPr/>
        </p:nvSpPr>
        <p:spPr>
          <a:xfrm>
            <a:off x="4554538" y="2070100"/>
            <a:ext cx="361950" cy="4572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400" b="1" dirty="0">
                <a:cs typeface="Arial" panose="020B0604020202020204" pitchFamily="34" charset="0"/>
              </a:rPr>
              <a:t>+</a:t>
            </a:r>
            <a:endParaRPr lang="en-US" altLang="zh-CN" sz="2400" b="1" dirty="0">
              <a:ea typeface="Arial" panose="020B0604020202020204" pitchFamily="34" charset="0"/>
            </a:endParaRPr>
          </a:p>
        </p:txBody>
      </p:sp>
      <p:sp>
        <p:nvSpPr>
          <p:cNvPr id="73754" name="Line 30"/>
          <p:cNvSpPr/>
          <p:nvPr/>
        </p:nvSpPr>
        <p:spPr>
          <a:xfrm>
            <a:off x="5889625" y="1306513"/>
            <a:ext cx="1584325" cy="0"/>
          </a:xfrm>
          <a:prstGeom prst="line">
            <a:avLst/>
          </a:prstGeom>
          <a:ln w="38100" cap="flat" cmpd="sng">
            <a:solidFill>
              <a:schemeClr val="tx1"/>
            </a:solidFill>
            <a:prstDash val="solid"/>
            <a:headEnd type="none" w="med" len="med"/>
            <a:tailEnd type="none" w="med" len="med"/>
          </a:ln>
        </p:spPr>
      </p:sp>
      <p:sp>
        <p:nvSpPr>
          <p:cNvPr id="73755" name="Line 31"/>
          <p:cNvSpPr/>
          <p:nvPr/>
        </p:nvSpPr>
        <p:spPr>
          <a:xfrm>
            <a:off x="4737100" y="3797300"/>
            <a:ext cx="3132138" cy="0"/>
          </a:xfrm>
          <a:prstGeom prst="line">
            <a:avLst/>
          </a:prstGeom>
          <a:ln w="38100" cap="flat" cmpd="sng">
            <a:solidFill>
              <a:schemeClr val="tx1"/>
            </a:solidFill>
            <a:prstDash val="sysDot"/>
            <a:headEnd type="none" w="med" len="med"/>
            <a:tailEnd type="none" w="med" len="med"/>
          </a:ln>
        </p:spPr>
      </p:sp>
      <p:sp>
        <p:nvSpPr>
          <p:cNvPr id="73756" name="Line 32"/>
          <p:cNvSpPr/>
          <p:nvPr/>
        </p:nvSpPr>
        <p:spPr>
          <a:xfrm>
            <a:off x="7869238" y="1306513"/>
            <a:ext cx="0" cy="2476500"/>
          </a:xfrm>
          <a:prstGeom prst="line">
            <a:avLst/>
          </a:prstGeom>
          <a:ln w="38100" cap="flat" cmpd="sng">
            <a:solidFill>
              <a:schemeClr val="tx1"/>
            </a:solidFill>
            <a:prstDash val="sysDot"/>
            <a:headEnd type="none" w="med" len="med"/>
            <a:tailEnd type="none" w="med" len="med"/>
          </a:ln>
        </p:spPr>
      </p:sp>
      <p:sp>
        <p:nvSpPr>
          <p:cNvPr id="73757" name="Line 33"/>
          <p:cNvSpPr/>
          <p:nvPr/>
        </p:nvSpPr>
        <p:spPr>
          <a:xfrm flipH="1">
            <a:off x="7478713" y="1306513"/>
            <a:ext cx="390525" cy="0"/>
          </a:xfrm>
          <a:prstGeom prst="line">
            <a:avLst/>
          </a:prstGeom>
          <a:ln w="38100" cap="flat" cmpd="sng">
            <a:solidFill>
              <a:schemeClr val="tx1"/>
            </a:solidFill>
            <a:prstDash val="sysDot"/>
            <a:headEnd type="none" w="med" len="med"/>
            <a:tailEnd type="triangle" w="med" len="med"/>
          </a:ln>
        </p:spPr>
      </p:sp>
      <p:sp>
        <p:nvSpPr>
          <p:cNvPr id="73758" name="Line 34"/>
          <p:cNvSpPr/>
          <p:nvPr/>
        </p:nvSpPr>
        <p:spPr>
          <a:xfrm>
            <a:off x="5484813" y="1306513"/>
            <a:ext cx="404812" cy="0"/>
          </a:xfrm>
          <a:prstGeom prst="line">
            <a:avLst/>
          </a:prstGeom>
          <a:ln w="38100" cap="flat" cmpd="sng">
            <a:solidFill>
              <a:schemeClr val="tx1"/>
            </a:solidFill>
            <a:prstDash val="sysDot"/>
            <a:headEnd type="none" w="med" len="med"/>
            <a:tailEnd type="none" w="med" len="med"/>
          </a:ln>
        </p:spPr>
      </p:sp>
      <p:sp>
        <p:nvSpPr>
          <p:cNvPr id="73759" name="Line 35"/>
          <p:cNvSpPr/>
          <p:nvPr/>
        </p:nvSpPr>
        <p:spPr>
          <a:xfrm>
            <a:off x="5699125" y="1306513"/>
            <a:ext cx="0" cy="422275"/>
          </a:xfrm>
          <a:prstGeom prst="line">
            <a:avLst/>
          </a:prstGeom>
          <a:ln w="38100" cap="flat" cmpd="sng">
            <a:solidFill>
              <a:schemeClr val="tx1"/>
            </a:solidFill>
            <a:prstDash val="sysDot"/>
            <a:headEnd type="triangle" w="med" len="med"/>
            <a:tailEnd type="none" w="med" len="med"/>
          </a:ln>
        </p:spPr>
      </p:sp>
      <p:sp>
        <p:nvSpPr>
          <p:cNvPr id="73760" name="Line 36"/>
          <p:cNvSpPr/>
          <p:nvPr/>
        </p:nvSpPr>
        <p:spPr>
          <a:xfrm>
            <a:off x="5699125" y="1658938"/>
            <a:ext cx="0" cy="704850"/>
          </a:xfrm>
          <a:prstGeom prst="line">
            <a:avLst/>
          </a:prstGeom>
          <a:ln w="38100" cap="flat" cmpd="sng">
            <a:solidFill>
              <a:schemeClr val="tx1"/>
            </a:solidFill>
            <a:prstDash val="sysDot"/>
            <a:headEnd type="none" w="med" len="med"/>
            <a:tailEnd type="triangle" w="med" len="med"/>
          </a:ln>
        </p:spPr>
      </p:sp>
      <p:sp>
        <p:nvSpPr>
          <p:cNvPr id="73761" name="Text Box 37"/>
          <p:cNvSpPr txBox="1"/>
          <p:nvPr/>
        </p:nvSpPr>
        <p:spPr>
          <a:xfrm>
            <a:off x="5307013" y="1487488"/>
            <a:ext cx="525462" cy="4572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73762" name="Text Box 38"/>
          <p:cNvSpPr txBox="1"/>
          <p:nvPr/>
        </p:nvSpPr>
        <p:spPr>
          <a:xfrm>
            <a:off x="2195513" y="858838"/>
            <a:ext cx="793750" cy="4572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400" b="1" dirty="0"/>
              <a:t>OP</a:t>
            </a:r>
            <a:endParaRPr lang="en-US" altLang="zh-CN" sz="2400" b="1" dirty="0"/>
          </a:p>
        </p:txBody>
      </p:sp>
      <p:sp>
        <p:nvSpPr>
          <p:cNvPr id="73763" name="Rectangle 39"/>
          <p:cNvSpPr/>
          <p:nvPr/>
        </p:nvSpPr>
        <p:spPr>
          <a:xfrm>
            <a:off x="192088" y="4518025"/>
            <a:ext cx="8269287" cy="1935163"/>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0000"/>
              </a:lnSpc>
              <a:buClrTx/>
              <a:buSzTx/>
              <a:buFontTx/>
              <a:buNone/>
            </a:pPr>
            <a:r>
              <a:rPr lang="zh-CN" altLang="en-US" sz="1800" b="1" dirty="0">
                <a:solidFill>
                  <a:srgbClr val="A50021"/>
                </a:solidFill>
                <a:ea typeface="黑体" panose="02010609060101010101" pitchFamily="49" charset="-122"/>
              </a:rPr>
              <a:t>偏移寻址：</a:t>
            </a:r>
            <a:r>
              <a:rPr lang="en-US" altLang="zh-CN" sz="1800" b="1" dirty="0">
                <a:solidFill>
                  <a:srgbClr val="A50021"/>
                </a:solidFill>
                <a:ea typeface="黑体" panose="02010609060101010101" pitchFamily="49" charset="-122"/>
              </a:rPr>
              <a:t>EA=D+(R)   R</a:t>
            </a:r>
            <a:r>
              <a:rPr lang="zh-CN" altLang="en-US" sz="1800" b="1" dirty="0">
                <a:solidFill>
                  <a:srgbClr val="A50021"/>
                </a:solidFill>
                <a:ea typeface="黑体" panose="02010609060101010101" pitchFamily="49" charset="-122"/>
              </a:rPr>
              <a:t>可以明显给出，也可以隐含给出</a:t>
            </a:r>
            <a:endParaRPr lang="zh-CN" altLang="en-US" sz="1800" b="1" dirty="0">
              <a:solidFill>
                <a:srgbClr val="A50021"/>
              </a:solidFill>
              <a:ea typeface="黑体" panose="02010609060101010101" pitchFamily="49" charset="-122"/>
            </a:endParaRPr>
          </a:p>
          <a:p>
            <a:pPr marL="0" lvl="0" indent="0">
              <a:lnSpc>
                <a:spcPct val="120000"/>
              </a:lnSpc>
              <a:buClrTx/>
              <a:buSzTx/>
              <a:buFontTx/>
              <a:buNone/>
            </a:pPr>
            <a:r>
              <a:rPr lang="zh-CN" altLang="en-US" sz="1800" b="1" dirty="0">
                <a:solidFill>
                  <a:srgbClr val="A50021"/>
                </a:solidFill>
                <a:ea typeface="黑体" panose="02010609060101010101" pitchFamily="49" charset="-122"/>
              </a:rPr>
              <a:t>                                      </a:t>
            </a:r>
            <a:r>
              <a:rPr lang="en-US" altLang="zh-CN" sz="1800" b="1" dirty="0">
                <a:solidFill>
                  <a:srgbClr val="A50021"/>
                </a:solidFill>
                <a:ea typeface="黑体" panose="02010609060101010101" pitchFamily="49" charset="-122"/>
              </a:rPr>
              <a:t>R</a:t>
            </a:r>
            <a:r>
              <a:rPr lang="zh-CN" altLang="en-US" sz="1800" b="1" dirty="0">
                <a:solidFill>
                  <a:srgbClr val="A50021"/>
                </a:solidFill>
                <a:ea typeface="黑体" panose="02010609060101010101" pitchFamily="49" charset="-122"/>
              </a:rPr>
              <a:t>可以为</a:t>
            </a:r>
            <a:r>
              <a:rPr lang="en-US" altLang="zh-CN" sz="1800" b="1" dirty="0">
                <a:solidFill>
                  <a:srgbClr val="A50021"/>
                </a:solidFill>
                <a:ea typeface="黑体" panose="02010609060101010101" pitchFamily="49" charset="-122"/>
              </a:rPr>
              <a:t>PC</a:t>
            </a:r>
            <a:r>
              <a:rPr lang="zh-CN" altLang="en-US" sz="1800" b="1" dirty="0">
                <a:solidFill>
                  <a:srgbClr val="A50021"/>
                </a:solidFill>
                <a:ea typeface="黑体" panose="02010609060101010101" pitchFamily="49" charset="-122"/>
              </a:rPr>
              <a:t>、基址寄存器</a:t>
            </a:r>
            <a:r>
              <a:rPr lang="en-US" altLang="zh-CN" sz="1800" b="1" dirty="0">
                <a:solidFill>
                  <a:srgbClr val="A50021"/>
                </a:solidFill>
                <a:ea typeface="黑体" panose="02010609060101010101" pitchFamily="49" charset="-122"/>
              </a:rPr>
              <a:t>B</a:t>
            </a:r>
            <a:r>
              <a:rPr lang="zh-CN" altLang="en-US" sz="1800" b="1" dirty="0">
                <a:solidFill>
                  <a:srgbClr val="A50021"/>
                </a:solidFill>
                <a:ea typeface="黑体" panose="02010609060101010101" pitchFamily="49" charset="-122"/>
              </a:rPr>
              <a:t>、变址寄存器</a:t>
            </a:r>
            <a:r>
              <a:rPr lang="en-US" altLang="zh-CN" sz="1800" b="1" dirty="0">
                <a:solidFill>
                  <a:srgbClr val="A50021"/>
                </a:solidFill>
                <a:ea typeface="黑体" panose="02010609060101010101" pitchFamily="49" charset="-122"/>
              </a:rPr>
              <a:t>I</a:t>
            </a:r>
            <a:endParaRPr lang="en-US" altLang="zh-CN" sz="1800" b="1" dirty="0">
              <a:solidFill>
                <a:srgbClr val="A50021"/>
              </a:solidFill>
              <a:ea typeface="黑体" panose="02010609060101010101" pitchFamily="49" charset="-122"/>
            </a:endParaRPr>
          </a:p>
          <a:p>
            <a:pPr marL="457200" lvl="1" indent="0">
              <a:lnSpc>
                <a:spcPct val="120000"/>
              </a:lnSpc>
              <a:buClrTx/>
              <a:buSzTx/>
              <a:buFontTx/>
              <a:buChar char="•"/>
            </a:pPr>
            <a:r>
              <a:rPr lang="en-US" altLang="zh-CN" sz="1800" b="1" dirty="0">
                <a:solidFill>
                  <a:srgbClr val="FF0000"/>
                </a:solidFill>
                <a:ea typeface="黑体" panose="02010609060101010101" pitchFamily="49" charset="-122"/>
              </a:rPr>
              <a:t> </a:t>
            </a:r>
            <a:r>
              <a:rPr lang="zh-CN" altLang="en-US" sz="1800" b="1" dirty="0">
                <a:solidFill>
                  <a:srgbClr val="FF0000"/>
                </a:solidFill>
                <a:ea typeface="黑体" panose="02010609060101010101" pitchFamily="49" charset="-122"/>
              </a:rPr>
              <a:t>相对寻址： </a:t>
            </a:r>
            <a:r>
              <a:rPr lang="en-US" altLang="zh-CN" sz="1800" b="1" dirty="0">
                <a:solidFill>
                  <a:srgbClr val="FF0000"/>
                </a:solidFill>
                <a:ea typeface="黑体" panose="02010609060101010101" pitchFamily="49" charset="-122"/>
              </a:rPr>
              <a:t>EA=D+(PC)    </a:t>
            </a:r>
            <a:r>
              <a:rPr lang="zh-CN" altLang="en-US" sz="1800" b="1" dirty="0">
                <a:solidFill>
                  <a:srgbClr val="FF0000"/>
                </a:solidFill>
                <a:ea typeface="黑体" panose="02010609060101010101" pitchFamily="49" charset="-122"/>
              </a:rPr>
              <a:t>相对于当前指令处位移量为</a:t>
            </a:r>
            <a:r>
              <a:rPr lang="en-US" altLang="zh-CN" sz="1800" b="1" dirty="0">
                <a:solidFill>
                  <a:srgbClr val="FF0000"/>
                </a:solidFill>
                <a:ea typeface="黑体" panose="02010609060101010101" pitchFamily="49" charset="-122"/>
              </a:rPr>
              <a:t>D</a:t>
            </a:r>
            <a:r>
              <a:rPr lang="zh-CN" altLang="en-US" sz="1800" b="1" dirty="0">
                <a:solidFill>
                  <a:srgbClr val="FF0000"/>
                </a:solidFill>
                <a:ea typeface="黑体" panose="02010609060101010101" pitchFamily="49" charset="-122"/>
              </a:rPr>
              <a:t>的单元</a:t>
            </a:r>
            <a:endParaRPr lang="zh-CN" altLang="en-US" sz="1800" b="1" dirty="0">
              <a:solidFill>
                <a:srgbClr val="FF0000"/>
              </a:solidFill>
              <a:ea typeface="黑体" panose="02010609060101010101" pitchFamily="49" charset="-122"/>
            </a:endParaRPr>
          </a:p>
          <a:p>
            <a:pPr marL="457200" lvl="1" indent="0">
              <a:lnSpc>
                <a:spcPct val="120000"/>
              </a:lnSpc>
              <a:buClrTx/>
              <a:buSzTx/>
              <a:buFontTx/>
              <a:buChar char="•"/>
            </a:pPr>
            <a:r>
              <a:rPr lang="zh-CN" altLang="en-US" sz="1800" b="1" dirty="0">
                <a:solidFill>
                  <a:srgbClr val="FF0000"/>
                </a:solidFill>
                <a:ea typeface="黑体" panose="02010609060101010101" pitchFamily="49" charset="-122"/>
              </a:rPr>
              <a:t> 基址寻址： </a:t>
            </a:r>
            <a:r>
              <a:rPr lang="en-US" altLang="zh-CN" sz="1800" b="1" dirty="0">
                <a:solidFill>
                  <a:srgbClr val="FF0000"/>
                </a:solidFill>
                <a:ea typeface="黑体" panose="02010609060101010101" pitchFamily="49" charset="-122"/>
              </a:rPr>
              <a:t>EA=D+(B)      </a:t>
            </a:r>
            <a:r>
              <a:rPr lang="zh-CN" altLang="en-US" sz="1800" b="1" dirty="0">
                <a:solidFill>
                  <a:srgbClr val="FF0000"/>
                </a:solidFill>
                <a:ea typeface="黑体" panose="02010609060101010101" pitchFamily="49" charset="-122"/>
              </a:rPr>
              <a:t>相对于基址</a:t>
            </a:r>
            <a:r>
              <a:rPr lang="en-US" altLang="zh-CN" sz="1800" b="1" dirty="0">
                <a:solidFill>
                  <a:srgbClr val="FF0000"/>
                </a:solidFill>
                <a:ea typeface="黑体" panose="02010609060101010101" pitchFamily="49" charset="-122"/>
              </a:rPr>
              <a:t>(B)</a:t>
            </a:r>
            <a:r>
              <a:rPr lang="zh-CN" altLang="en-US" sz="1800" b="1" dirty="0">
                <a:solidFill>
                  <a:srgbClr val="FF0000"/>
                </a:solidFill>
                <a:ea typeface="黑体" panose="02010609060101010101" pitchFamily="49" charset="-122"/>
              </a:rPr>
              <a:t>处位移量为</a:t>
            </a:r>
            <a:r>
              <a:rPr lang="en-US" altLang="zh-CN" sz="1800" b="1" dirty="0">
                <a:solidFill>
                  <a:srgbClr val="FF0000"/>
                </a:solidFill>
                <a:ea typeface="黑体" panose="02010609060101010101" pitchFamily="49" charset="-122"/>
              </a:rPr>
              <a:t>D</a:t>
            </a:r>
            <a:r>
              <a:rPr lang="zh-CN" altLang="en-US" sz="1800" b="1" dirty="0">
                <a:solidFill>
                  <a:srgbClr val="FF0000"/>
                </a:solidFill>
                <a:ea typeface="黑体" panose="02010609060101010101" pitchFamily="49" charset="-122"/>
              </a:rPr>
              <a:t>的单元</a:t>
            </a:r>
            <a:endParaRPr lang="zh-CN" altLang="en-US" sz="1800" b="1" dirty="0">
              <a:solidFill>
                <a:srgbClr val="FF0000"/>
              </a:solidFill>
              <a:ea typeface="黑体" panose="02010609060101010101" pitchFamily="49" charset="-122"/>
            </a:endParaRPr>
          </a:p>
          <a:p>
            <a:pPr marL="457200" lvl="1" indent="0">
              <a:lnSpc>
                <a:spcPct val="120000"/>
              </a:lnSpc>
              <a:buClrTx/>
              <a:buSzTx/>
              <a:buFontTx/>
              <a:buChar char="•"/>
            </a:pPr>
            <a:r>
              <a:rPr lang="zh-CN" altLang="en-US" sz="1800" b="1" dirty="0">
                <a:solidFill>
                  <a:srgbClr val="FF0000"/>
                </a:solidFill>
                <a:ea typeface="黑体" panose="02010609060101010101" pitchFamily="49" charset="-122"/>
              </a:rPr>
              <a:t> 变址寻址： </a:t>
            </a:r>
            <a:r>
              <a:rPr lang="en-US" altLang="zh-CN" sz="1800" b="1" dirty="0">
                <a:solidFill>
                  <a:srgbClr val="FF0000"/>
                </a:solidFill>
                <a:ea typeface="黑体" panose="02010609060101010101" pitchFamily="49" charset="-122"/>
              </a:rPr>
              <a:t>EA=D+(I)        </a:t>
            </a:r>
            <a:r>
              <a:rPr lang="zh-CN" altLang="en-US" sz="1800" b="1" dirty="0">
                <a:solidFill>
                  <a:srgbClr val="FF0000"/>
                </a:solidFill>
                <a:ea typeface="黑体" panose="02010609060101010101" pitchFamily="49" charset="-122"/>
              </a:rPr>
              <a:t>相对于首址</a:t>
            </a:r>
            <a:r>
              <a:rPr lang="en-US" altLang="zh-CN" sz="1800" b="1" dirty="0">
                <a:solidFill>
                  <a:srgbClr val="FF0000"/>
                </a:solidFill>
                <a:ea typeface="黑体" panose="02010609060101010101" pitchFamily="49" charset="-122"/>
              </a:rPr>
              <a:t>D</a:t>
            </a:r>
            <a:r>
              <a:rPr lang="zh-CN" altLang="en-US" sz="1800" b="1" dirty="0">
                <a:solidFill>
                  <a:srgbClr val="FF0000"/>
                </a:solidFill>
                <a:ea typeface="黑体" panose="02010609060101010101" pitchFamily="49" charset="-122"/>
              </a:rPr>
              <a:t>处位移量为</a:t>
            </a:r>
            <a:r>
              <a:rPr lang="en-US" altLang="zh-CN" sz="1800" b="1" dirty="0">
                <a:solidFill>
                  <a:srgbClr val="FF0000"/>
                </a:solidFill>
                <a:ea typeface="黑体" panose="02010609060101010101" pitchFamily="49" charset="-122"/>
              </a:rPr>
              <a:t>(I)</a:t>
            </a:r>
            <a:r>
              <a:rPr lang="zh-CN" altLang="en-US" sz="1800" b="1" dirty="0">
                <a:solidFill>
                  <a:srgbClr val="FF0000"/>
                </a:solidFill>
                <a:ea typeface="黑体" panose="02010609060101010101" pitchFamily="49" charset="-122"/>
              </a:rPr>
              <a:t>的单元</a:t>
            </a:r>
            <a:endParaRPr lang="zh-CN" altLang="en-US" sz="1800" b="1" dirty="0">
              <a:solidFill>
                <a:srgbClr val="FF0000"/>
              </a:solidFill>
              <a:ea typeface="黑体" panose="02010609060101010101" pitchFamily="49" charset="-122"/>
            </a:endParaRPr>
          </a:p>
        </p:txBody>
      </p:sp>
      <p:sp>
        <p:nvSpPr>
          <p:cNvPr id="73764" name="Line 40"/>
          <p:cNvSpPr/>
          <p:nvPr/>
        </p:nvSpPr>
        <p:spPr>
          <a:xfrm>
            <a:off x="4403725" y="815975"/>
            <a:ext cx="0" cy="577850"/>
          </a:xfrm>
          <a:prstGeom prst="line">
            <a:avLst/>
          </a:prstGeom>
          <a:ln w="38100" cap="flat" cmpd="sng">
            <a:solidFill>
              <a:schemeClr val="tx1"/>
            </a:solidFill>
            <a:prstDash val="solid"/>
            <a:headEnd type="none" w="med" len="med"/>
            <a:tailEnd type="none" w="med" len="med"/>
          </a:ln>
        </p:spPr>
      </p:sp>
      <p:sp>
        <p:nvSpPr>
          <p:cNvPr id="73765" name="Text Box 41"/>
          <p:cNvSpPr txBox="1"/>
          <p:nvPr/>
        </p:nvSpPr>
        <p:spPr>
          <a:xfrm>
            <a:off x="4516438" y="841375"/>
            <a:ext cx="766762" cy="355600"/>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50000"/>
              </a:spcBef>
              <a:buClrTx/>
              <a:buSzTx/>
              <a:buFontTx/>
              <a:buNone/>
            </a:pPr>
            <a:r>
              <a:rPr lang="en-US" altLang="zh-CN" sz="2000" b="1" dirty="0"/>
              <a:t>......</a:t>
            </a:r>
            <a:endParaRPr lang="en-US" altLang="zh-CN" sz="2000" b="1" dirty="0"/>
          </a:p>
        </p:txBody>
      </p:sp>
      <p:sp>
        <p:nvSpPr>
          <p:cNvPr id="73766" name="Text Box 42"/>
          <p:cNvSpPr txBox="1"/>
          <p:nvPr/>
        </p:nvSpPr>
        <p:spPr>
          <a:xfrm>
            <a:off x="246063" y="1238250"/>
            <a:ext cx="1270000" cy="1528763"/>
          </a:xfrm>
          <a:prstGeom prst="rect">
            <a:avLst/>
          </a:prstGeom>
          <a:noFill/>
          <a:ln w="12700">
            <a:noFill/>
          </a:ln>
        </p:spPr>
        <p:txBody>
          <a:bodyPr lIns="63500" tIns="25400" rIns="63500" bIns="254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0000"/>
              </a:lnSpc>
              <a:spcBef>
                <a:spcPct val="50000"/>
              </a:spcBef>
              <a:buClrTx/>
              <a:buSzTx/>
              <a:buFontTx/>
              <a:buNone/>
            </a:pPr>
            <a:r>
              <a:rPr lang="zh-CN" altLang="en-US" sz="2000" b="1" dirty="0">
                <a:solidFill>
                  <a:srgbClr val="FF0000"/>
                </a:solidFill>
                <a:ea typeface="黑体" panose="02010609060101010101" pitchFamily="49" charset="-122"/>
              </a:rPr>
              <a:t>指令中给出的地址码</a:t>
            </a:r>
            <a:r>
              <a:rPr lang="en-US" altLang="zh-CN" sz="2000" b="1" dirty="0">
                <a:solidFill>
                  <a:srgbClr val="FF0000"/>
                </a:solidFill>
                <a:ea typeface="黑体" panose="02010609060101010101" pitchFamily="49" charset="-122"/>
              </a:rPr>
              <a:t>A</a:t>
            </a:r>
            <a:r>
              <a:rPr lang="zh-CN" altLang="en-US" sz="2000" b="1" dirty="0">
                <a:solidFill>
                  <a:srgbClr val="FF0000"/>
                </a:solidFill>
                <a:ea typeface="黑体" panose="02010609060101010101" pitchFamily="49" charset="-122"/>
              </a:rPr>
              <a:t>称为形式地址</a:t>
            </a:r>
            <a:endParaRPr lang="zh-CN" altLang="en-US" sz="2000" b="1" dirty="0">
              <a:solidFill>
                <a:srgbClr val="FF0000"/>
              </a:solidFill>
              <a:ea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Rectangle 3"/>
          <p:cNvSpPr>
            <a:spLocks noGrp="1" noChangeArrowheads="1"/>
          </p:cNvSpPr>
          <p:nvPr>
            <p:ph idx="1"/>
          </p:nvPr>
        </p:nvSpPr>
        <p:spPr>
          <a:xfrm>
            <a:off x="182563" y="954088"/>
            <a:ext cx="8704263" cy="571500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l"/>
              <a:defRPr/>
            </a:pPr>
            <a:r>
              <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hlinkClick r:id="" action="ppaction://noaction"/>
              </a:rPr>
              <a:t>相对寻址</a:t>
            </a:r>
            <a:endPar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指令地址码给出一个偏移量</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带符号数</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，基准地址</a:t>
            </a:r>
            <a:r>
              <a:rPr kumimoji="1" lang="zh-CN" altLang="en-US" sz="22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宋体" panose="02010600030101010101" pitchFamily="2" charset="-122"/>
              </a:rPr>
              <a:t>隐含</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由</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PC</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给出。</a:t>
            </a:r>
            <a:endPar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即：</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EA=(PC)+D              </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ex. MIPS’s instruction:  </a:t>
            </a:r>
            <a:r>
              <a:rPr kumimoji="1" lang="en-US" altLang="zh-CN" sz="2200" b="0" i="0" u="none" strike="noStrike" kern="0" cap="none" spc="0" normalizeH="0" baseline="0" noProof="0" dirty="0" err="1" smtClean="0">
                <a:ln>
                  <a:noFill/>
                </a:ln>
                <a:solidFill>
                  <a:schemeClr val="tx1"/>
                </a:solidFill>
                <a:effectLst/>
                <a:uLnTx/>
                <a:uFillTx/>
                <a:latin typeface="+mn-lt"/>
                <a:ea typeface="黑体" panose="02010609060101010101" pitchFamily="49" charset="-122"/>
                <a:cs typeface="宋体" panose="02010600030101010101" pitchFamily="2" charset="-122"/>
              </a:rPr>
              <a:t>Beq</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endPar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可用来实现程序</a:t>
            </a:r>
            <a:r>
              <a:rPr kumimoji="1" lang="en-US" altLang="zh-CN"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公共子程序</a:t>
            </a:r>
            <a:r>
              <a:rPr kumimoji="1" lang="en-US" altLang="zh-CN"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的浮动，或指定转移目标地址</a:t>
            </a:r>
            <a:endPar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l"/>
              <a:defRPr/>
            </a:pPr>
            <a:r>
              <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hlinkClick r:id="" action="ppaction://noaction"/>
              </a:rPr>
              <a:t>基址寻址</a:t>
            </a:r>
            <a:endPar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指令地址码给出一个偏移量，基准地址</a:t>
            </a:r>
            <a:r>
              <a:rPr kumimoji="1" lang="zh-CN" altLang="en-US" sz="22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宋体" panose="02010600030101010101" pitchFamily="2" charset="-122"/>
              </a:rPr>
              <a:t>明显或隐含</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由基址寄存器</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B</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给出。即：</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EA=(B)+D   </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ex. MIPS’s instructions:  </a:t>
            </a:r>
            <a:r>
              <a:rPr kumimoji="1" lang="en-US" altLang="zh-CN" sz="2200" b="0" i="0" u="none" strike="noStrike" kern="0" cap="none" spc="0" normalizeH="0" baseline="0" noProof="0" dirty="0" err="1" smtClean="0">
                <a:ln>
                  <a:noFill/>
                </a:ln>
                <a:solidFill>
                  <a:schemeClr val="tx1"/>
                </a:solidFill>
                <a:effectLst/>
                <a:uLnTx/>
                <a:uFillTx/>
                <a:latin typeface="+mn-lt"/>
                <a:ea typeface="黑体" panose="02010609060101010101" pitchFamily="49" charset="-122"/>
                <a:cs typeface="宋体" panose="02010600030101010101" pitchFamily="2" charset="-122"/>
              </a:rPr>
              <a:t>lw</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 / </a:t>
            </a:r>
            <a:r>
              <a:rPr kumimoji="1" lang="en-US" altLang="zh-CN" sz="2200" b="0" i="0" u="none" strike="noStrike" kern="0" cap="none" spc="0" normalizeH="0" baseline="0" noProof="0" dirty="0" err="1" smtClean="0">
                <a:ln>
                  <a:noFill/>
                </a:ln>
                <a:solidFill>
                  <a:schemeClr val="tx1"/>
                </a:solidFill>
                <a:effectLst/>
                <a:uLnTx/>
                <a:uFillTx/>
                <a:latin typeface="+mn-lt"/>
                <a:ea typeface="黑体" panose="02010609060101010101" pitchFamily="49" charset="-122"/>
                <a:cs typeface="宋体" panose="02010600030101010101" pitchFamily="2" charset="-122"/>
              </a:rPr>
              <a:t>sw</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endPar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rgbClr val="FF0000"/>
                </a:solidFill>
                <a:effectLst/>
                <a:uLnTx/>
                <a:uFillTx/>
                <a:latin typeface="+mn-lt"/>
                <a:ea typeface="黑体" panose="02010609060101010101" pitchFamily="49" charset="-122"/>
                <a:cs typeface="宋体" panose="02010600030101010101" pitchFamily="2" charset="-122"/>
              </a:rPr>
              <a:t>可用来实现多道程序重定位，或过程调用中参数的访问</a:t>
            </a:r>
            <a:endParaRPr kumimoji="1" lang="zh-CN" altLang="en-US" sz="2200" b="0" i="0" u="none" strike="noStrike" kern="0" cap="none" spc="0" normalizeH="0" baseline="0" noProof="0" dirty="0" smtClean="0">
              <a:ln>
                <a:noFill/>
              </a:ln>
              <a:solidFill>
                <a:srgbClr val="FF0000"/>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l"/>
              <a:defRPr/>
            </a:pPr>
            <a:r>
              <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hlinkClick r:id="" action="ppaction://noaction"/>
              </a:rPr>
              <a:t>变址寻址</a:t>
            </a:r>
            <a:endParaRPr kumimoji="1" lang="zh-CN" altLang="en-US" sz="2200" b="0" i="0" u="none" strike="noStrike" kern="0" cap="none" spc="0" normalizeH="0" baseline="0" noProof="0" dirty="0" smtClean="0">
              <a:ln>
                <a:noFill/>
              </a:ln>
              <a:solidFill>
                <a:srgbClr val="FF3300"/>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指令地址码给出一个基准地址，而偏移量</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无符号数</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a:t>
            </a:r>
            <a:r>
              <a:rPr kumimoji="1" lang="zh-CN" altLang="en-US" sz="22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宋体" panose="02010600030101010101" pitchFamily="2" charset="-122"/>
              </a:rPr>
              <a:t>明显或隐含</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由变址寄存器</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I</a:t>
            </a:r>
            <a:r>
              <a:rPr kumimoji="1" lang="zh-CN" altLang="en-US"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给出。即：</a:t>
            </a:r>
            <a:r>
              <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rPr>
              <a:t>EA=(I)+D</a:t>
            </a:r>
            <a:endParaRPr kumimoji="1" lang="en-US" altLang="zh-CN" sz="2200" b="0" i="0" u="none" strike="noStrike" kern="0" cap="none" spc="0" normalizeH="0" baseline="0" noProof="0" dirty="0" smtClean="0">
              <a:ln>
                <a:noFill/>
              </a:ln>
              <a:solidFill>
                <a:schemeClr val="tx1"/>
              </a:solidFill>
              <a:effectLst/>
              <a:uLnTx/>
              <a:uFillTx/>
              <a:latin typeface="+mn-lt"/>
              <a:ea typeface="黑体" panose="02010609060101010101" pitchFamily="49" charset="-122"/>
              <a:cs typeface="宋体" panose="02010600030101010101" pitchFamily="2" charset="-122"/>
            </a:endParaRPr>
          </a:p>
          <a:p>
            <a:pPr marL="342900" marR="0" lvl="0" indent="-342900" algn="l" defTabSz="914400" rtl="0" eaLnBrk="0" fontAlgn="base" latinLnBrk="0" hangingPunct="0">
              <a:lnSpc>
                <a:spcPct val="110000"/>
              </a:lnSpc>
              <a:spcBef>
                <a:spcPct val="20000"/>
              </a:spcBef>
              <a:spcAft>
                <a:spcPct val="0"/>
              </a:spcAft>
              <a:buClr>
                <a:schemeClr val="bg2"/>
              </a:buClr>
              <a:buSzPct val="75000"/>
              <a:buFont typeface="Monotype Sorts" pitchFamily="-84" charset="2"/>
              <a:buChar char=" "/>
              <a:defRPr/>
            </a:pPr>
            <a:r>
              <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rPr>
              <a:t>可为循环重复操作提供一种高效机制，如实现对线性表的方便操作</a:t>
            </a:r>
            <a:endParaRPr kumimoji="1" lang="zh-CN" altLang="en-US" sz="2200" b="0" i="0" u="none" strike="noStrike" kern="0" cap="none" spc="0" normalizeH="0" baseline="0" noProof="0" dirty="0" smtClean="0">
              <a:ln>
                <a:noFill/>
              </a:ln>
              <a:solidFill>
                <a:srgbClr val="0000FF"/>
              </a:solidFill>
              <a:effectLst/>
              <a:uLnTx/>
              <a:uFillTx/>
              <a:latin typeface="+mn-lt"/>
              <a:ea typeface="黑体" panose="02010609060101010101" pitchFamily="49" charset="-122"/>
              <a:cs typeface="宋体" panose="02010600030101010101" pitchFamily="2" charset="-122"/>
            </a:endParaRPr>
          </a:p>
        </p:txBody>
      </p:sp>
      <p:sp>
        <p:nvSpPr>
          <p:cNvPr id="74755" name="Rectangle 6"/>
          <p:cNvSpPr>
            <a:spLocks noGrp="1"/>
          </p:cNvSpPr>
          <p:nvPr>
            <p:ph type="title"/>
          </p:nvPr>
        </p:nvSpPr>
        <p:spPr>
          <a:xfrm>
            <a:off x="323850" y="476250"/>
            <a:ext cx="6353175" cy="431800"/>
          </a:xfrm>
          <a:ln/>
        </p:spPr>
        <p:txBody>
          <a:bodyPr vert="horz" wrap="square" lIns="91440" tIns="45720" rIns="91440" bIns="45720" anchor="ctr" anchorCtr="0"/>
          <a:p>
            <a:r>
              <a:rPr lang="zh-CN" altLang="en-US" dirty="0">
                <a:solidFill>
                  <a:srgbClr val="FF0000"/>
                </a:solidFill>
              </a:rPr>
              <a:t>偏移寻址方式（小结）</a:t>
            </a:r>
            <a:endParaRPr lang="zh-CN" altLang="en-US"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468313" y="328613"/>
            <a:ext cx="7532687" cy="723900"/>
          </a:xfrm>
          <a:ln/>
        </p:spPr>
        <p:txBody>
          <a:bodyPr vert="horz" wrap="square" lIns="91440" tIns="45720" rIns="91440" bIns="45720" anchor="ctr" anchorCtr="0"/>
          <a:p>
            <a:r>
              <a:rPr lang="en-US" altLang="zh-CN" sz="3500" dirty="0"/>
              <a:t>10</a:t>
            </a:r>
            <a:r>
              <a:rPr lang="zh-CN" altLang="en-US" sz="3500" dirty="0"/>
              <a:t>、段寻址方式</a:t>
            </a:r>
            <a:endParaRPr lang="zh-CN" altLang="en-US" sz="3500" dirty="0"/>
          </a:p>
        </p:txBody>
      </p:sp>
      <p:pic>
        <p:nvPicPr>
          <p:cNvPr id="75779" name="Picture 3" descr="4a3"/>
          <p:cNvPicPr>
            <a:picLocks noChangeAspect="1"/>
          </p:cNvPicPr>
          <p:nvPr/>
        </p:nvPicPr>
        <p:blipFill>
          <a:blip r:embed="rId1"/>
          <a:stretch>
            <a:fillRect/>
          </a:stretch>
        </p:blipFill>
        <p:spPr>
          <a:xfrm>
            <a:off x="5719763" y="1628775"/>
            <a:ext cx="3244850" cy="3670300"/>
          </a:xfrm>
          <a:prstGeom prst="rect">
            <a:avLst/>
          </a:prstGeom>
          <a:noFill/>
          <a:ln w="9525">
            <a:noFill/>
          </a:ln>
        </p:spPr>
      </p:pic>
      <p:sp>
        <p:nvSpPr>
          <p:cNvPr id="75780" name="Text Box 4"/>
          <p:cNvSpPr txBox="1"/>
          <p:nvPr/>
        </p:nvSpPr>
        <p:spPr>
          <a:xfrm>
            <a:off x="323850" y="1125538"/>
            <a:ext cx="5276850" cy="4838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t>      </a:t>
            </a:r>
            <a:r>
              <a:rPr lang="zh-CN" altLang="en-US" sz="2400" dirty="0"/>
              <a:t>微型机中采用了段寻址方式，例如它们可以给定一个</a:t>
            </a:r>
            <a:r>
              <a:rPr lang="en-US" altLang="zh-CN" sz="2400" dirty="0"/>
              <a:t>20</a:t>
            </a:r>
            <a:r>
              <a:rPr lang="zh-CN" altLang="en-US" sz="2400" dirty="0"/>
              <a:t>位的地址，从而有</a:t>
            </a:r>
            <a:r>
              <a:rPr lang="en-US" altLang="zh-CN" sz="2400" dirty="0"/>
              <a:t>2</a:t>
            </a:r>
            <a:r>
              <a:rPr lang="en-US" altLang="zh-CN" sz="2400" baseline="30000" dirty="0"/>
              <a:t>20</a:t>
            </a:r>
            <a:r>
              <a:rPr lang="en-US" altLang="zh-CN" sz="2400" dirty="0"/>
              <a:t>=1M</a:t>
            </a:r>
            <a:r>
              <a:rPr lang="zh-CN" altLang="en-US" sz="2400" dirty="0"/>
              <a:t>存储空间的直接寻址能力。那么可以将整个</a:t>
            </a:r>
            <a:r>
              <a:rPr lang="en-US" altLang="zh-CN" sz="2400" dirty="0"/>
              <a:t>1M</a:t>
            </a:r>
            <a:r>
              <a:rPr lang="zh-CN" altLang="en-US" sz="2400" dirty="0"/>
              <a:t>空间存储器以</a:t>
            </a:r>
            <a:r>
              <a:rPr lang="en-US" altLang="zh-CN" sz="2400" dirty="0"/>
              <a:t>64K</a:t>
            </a:r>
            <a:r>
              <a:rPr lang="zh-CN" altLang="en-US" sz="2400" dirty="0"/>
              <a:t>（</a:t>
            </a:r>
            <a:r>
              <a:rPr lang="en-US" altLang="zh-CN" sz="2400" dirty="0"/>
              <a:t>2</a:t>
            </a:r>
            <a:r>
              <a:rPr lang="en-US" altLang="zh-CN" sz="2400" baseline="30000" dirty="0"/>
              <a:t>16</a:t>
            </a:r>
            <a:r>
              <a:rPr lang="zh-CN" altLang="en-US" sz="2400" dirty="0"/>
              <a:t>）为单位划分成若干个段。</a:t>
            </a:r>
            <a:endParaRPr lang="zh-CN" altLang="en-US" sz="2400" dirty="0"/>
          </a:p>
          <a:p>
            <a:pPr marL="0" lvl="0" indent="0" eaLnBrk="1" hangingPunct="1">
              <a:spcBef>
                <a:spcPct val="0"/>
              </a:spcBef>
              <a:buClrTx/>
              <a:buSzTx/>
              <a:buFontTx/>
              <a:buNone/>
            </a:pPr>
            <a:r>
              <a:rPr lang="zh-CN" altLang="en-US" sz="2400" dirty="0"/>
              <a:t>     在寻址一个内存具体单元时，由一个基地址再加上某些寄存器提供的</a:t>
            </a:r>
            <a:r>
              <a:rPr lang="en-US" altLang="zh-CN" sz="2400" dirty="0"/>
              <a:t>16</a:t>
            </a:r>
            <a:r>
              <a:rPr lang="zh-CN" altLang="en-US" sz="2400" dirty="0"/>
              <a:t>位偏移量来形成实际的</a:t>
            </a:r>
            <a:r>
              <a:rPr lang="en-US" altLang="zh-CN" sz="2400" dirty="0">
                <a:solidFill>
                  <a:srgbClr val="FF3300"/>
                </a:solidFill>
              </a:rPr>
              <a:t>20</a:t>
            </a:r>
            <a:r>
              <a:rPr lang="zh-CN" altLang="en-US" sz="2400" dirty="0">
                <a:solidFill>
                  <a:srgbClr val="FF3300"/>
                </a:solidFill>
              </a:rPr>
              <a:t>位物理地址</a:t>
            </a:r>
            <a:r>
              <a:rPr lang="zh-CN" altLang="en-US" sz="2400" dirty="0"/>
              <a:t>。</a:t>
            </a:r>
            <a:endParaRPr lang="zh-CN" altLang="en-US" sz="2400" dirty="0"/>
          </a:p>
          <a:p>
            <a:pPr marL="0" lvl="0" indent="0" eaLnBrk="1" hangingPunct="1">
              <a:spcBef>
                <a:spcPct val="0"/>
              </a:spcBef>
              <a:buClrTx/>
              <a:buSzTx/>
              <a:buFontTx/>
              <a:buNone/>
            </a:pPr>
            <a:r>
              <a:rPr lang="zh-CN" altLang="en-US" sz="2400" dirty="0"/>
              <a:t>     这个基地址就是</a:t>
            </a:r>
            <a:r>
              <a:rPr lang="en-US" altLang="zh-CN" sz="2400" dirty="0"/>
              <a:t>CPU</a:t>
            </a:r>
            <a:r>
              <a:rPr lang="zh-CN" altLang="en-US" sz="2400" dirty="0"/>
              <a:t>中的</a:t>
            </a:r>
            <a:r>
              <a:rPr lang="zh-CN" altLang="en-US" sz="2400" dirty="0">
                <a:solidFill>
                  <a:srgbClr val="FF3300"/>
                </a:solidFill>
              </a:rPr>
              <a:t>段寄存器</a:t>
            </a:r>
            <a:r>
              <a:rPr lang="zh-CN" altLang="en-US" sz="2400" dirty="0"/>
              <a:t>。    在形成</a:t>
            </a:r>
            <a:r>
              <a:rPr lang="en-US" altLang="zh-CN" sz="2400" dirty="0"/>
              <a:t>20</a:t>
            </a:r>
            <a:r>
              <a:rPr lang="zh-CN" altLang="en-US" sz="2400" dirty="0"/>
              <a:t>位物理地址时，段寄存器中的</a:t>
            </a:r>
            <a:r>
              <a:rPr lang="en-US" altLang="zh-CN" sz="2400" dirty="0"/>
              <a:t>16</a:t>
            </a:r>
            <a:r>
              <a:rPr lang="zh-CN" altLang="en-US" sz="2400" dirty="0"/>
              <a:t>位数会自动左移</a:t>
            </a:r>
            <a:r>
              <a:rPr lang="en-US" altLang="zh-CN" sz="2400" dirty="0"/>
              <a:t>4</a:t>
            </a:r>
            <a:r>
              <a:rPr lang="zh-CN" altLang="en-US" sz="2400" dirty="0"/>
              <a:t>位，然后与</a:t>
            </a:r>
            <a:r>
              <a:rPr lang="en-US" altLang="zh-CN" sz="2400" dirty="0"/>
              <a:t>16</a:t>
            </a:r>
            <a:r>
              <a:rPr lang="zh-CN" altLang="en-US" sz="2400" dirty="0"/>
              <a:t>位偏移量相加，即可形成所需的内存地址。</a:t>
            </a:r>
            <a:endParaRPr lang="zh-CN"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457200" y="188913"/>
            <a:ext cx="8229600" cy="1371600"/>
          </a:xfrm>
          <a:ln/>
        </p:spPr>
        <p:txBody>
          <a:bodyPr vert="horz" wrap="square" lIns="91440" tIns="45720" rIns="91440" bIns="45720" anchor="ctr" anchorCtr="0"/>
          <a:p>
            <a:r>
              <a:rPr lang="en-US" altLang="zh-CN" dirty="0"/>
              <a:t>11</a:t>
            </a:r>
            <a:r>
              <a:rPr lang="zh-CN" altLang="en-US" dirty="0"/>
              <a:t>、堆栈寻址</a:t>
            </a:r>
            <a:endParaRPr lang="zh-CN" altLang="en-US" dirty="0"/>
          </a:p>
        </p:txBody>
      </p:sp>
      <p:sp>
        <p:nvSpPr>
          <p:cNvPr id="76803" name="Rectangle 3"/>
          <p:cNvSpPr>
            <a:spLocks noGrp="1"/>
          </p:cNvSpPr>
          <p:nvPr>
            <p:ph idx="1"/>
          </p:nvPr>
        </p:nvSpPr>
        <p:spPr>
          <a:xfrm>
            <a:off x="250825" y="1196975"/>
            <a:ext cx="8893175" cy="3886200"/>
          </a:xfrm>
          <a:ln/>
        </p:spPr>
        <p:txBody>
          <a:bodyPr vert="horz" wrap="square" lIns="91440" tIns="45720" rIns="91440" bIns="45720" anchor="t" anchorCtr="0"/>
          <a:p>
            <a:r>
              <a:rPr lang="zh-CN" altLang="en-US" dirty="0"/>
              <a:t>堆栈有寄存器堆栈和存储器堆栈两种形式；</a:t>
            </a:r>
            <a:endParaRPr lang="zh-CN" altLang="en-US" dirty="0"/>
          </a:p>
          <a:p>
            <a:r>
              <a:rPr lang="zh-CN" altLang="en-US" dirty="0"/>
              <a:t>都是以</a:t>
            </a:r>
            <a:r>
              <a:rPr lang="en-US" altLang="zh-CN" dirty="0"/>
              <a:t>FILO</a:t>
            </a:r>
            <a:r>
              <a:rPr lang="zh-CN" altLang="en-US" dirty="0"/>
              <a:t>新进后出的原理存储数据的。</a:t>
            </a:r>
            <a:endParaRPr lang="zh-CN" altLang="en-US" dirty="0"/>
          </a:p>
          <a:p>
            <a:r>
              <a:rPr lang="zh-CN" altLang="en-US" dirty="0"/>
              <a:t>数据的存取都只与栈顶地址打交道，因此需要一个隐式或者显式的堆栈指示器记录栈顶地址。</a:t>
            </a:r>
            <a:endParaRPr lang="zh-CN" altLang="en-US" dirty="0"/>
          </a:p>
          <a:p>
            <a:r>
              <a:rPr lang="zh-CN" altLang="en-US" dirty="0"/>
              <a:t>数据进栈时用</a:t>
            </a:r>
            <a:r>
              <a:rPr lang="en-US" altLang="zh-CN" dirty="0"/>
              <a:t>PUSH</a:t>
            </a:r>
            <a:r>
              <a:rPr lang="zh-CN" altLang="en-US" dirty="0"/>
              <a:t>指令，压入栈顶地址，堆栈指示器减</a:t>
            </a:r>
            <a:r>
              <a:rPr lang="en-US" altLang="zh-CN" dirty="0"/>
              <a:t>1</a:t>
            </a:r>
            <a:r>
              <a:rPr lang="zh-CN" altLang="en-US" dirty="0"/>
              <a:t>；</a:t>
            </a:r>
            <a:endParaRPr lang="zh-CN" altLang="en-US" dirty="0"/>
          </a:p>
          <a:p>
            <a:r>
              <a:rPr lang="zh-CN" altLang="en-US" dirty="0"/>
              <a:t>出栈是用</a:t>
            </a:r>
            <a:r>
              <a:rPr lang="en-US" altLang="zh-CN" dirty="0"/>
              <a:t>POP</a:t>
            </a:r>
            <a:r>
              <a:rPr lang="zh-CN" altLang="en-US" dirty="0"/>
              <a:t>指令，数据从栈顶地址弹出，堆栈指示器加</a:t>
            </a:r>
            <a:r>
              <a:rPr lang="en-US" altLang="zh-CN" dirty="0"/>
              <a:t>1</a:t>
            </a:r>
            <a:r>
              <a:rPr lang="zh-CN" altLang="en-US" dirty="0"/>
              <a:t>。</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468313" y="339725"/>
            <a:ext cx="7532687" cy="785813"/>
          </a:xfrm>
          <a:ln/>
        </p:spPr>
        <p:txBody>
          <a:bodyPr vert="horz" wrap="square" lIns="91440" tIns="45720" rIns="91440" bIns="45720" anchor="ctr" anchorCtr="0"/>
          <a:p>
            <a:r>
              <a:rPr lang="en-US" altLang="zh-CN" sz="4300" dirty="0"/>
              <a:t>4.4.3 Pentium</a:t>
            </a:r>
            <a:r>
              <a:rPr lang="zh-CN" altLang="en-US" sz="4300" dirty="0"/>
              <a:t>寻址方式</a:t>
            </a:r>
            <a:endParaRPr lang="zh-CN" altLang="en-US" sz="4300" dirty="0"/>
          </a:p>
        </p:txBody>
      </p:sp>
      <p:sp>
        <p:nvSpPr>
          <p:cNvPr id="71719" name="Text Box 39"/>
          <p:cNvSpPr txBox="1"/>
          <p:nvPr/>
        </p:nvSpPr>
        <p:spPr>
          <a:xfrm>
            <a:off x="541338" y="1209675"/>
            <a:ext cx="7775575" cy="44942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600" dirty="0"/>
              <a:t>      在</a:t>
            </a:r>
            <a:r>
              <a:rPr lang="zh-CN" altLang="en-US" sz="2600" dirty="0">
                <a:solidFill>
                  <a:srgbClr val="FF3300"/>
                </a:solidFill>
              </a:rPr>
              <a:t>实地址模式</a:t>
            </a:r>
            <a:r>
              <a:rPr lang="zh-CN" altLang="en-US" sz="2600" dirty="0"/>
              <a:t>下，逻辑地址形式为</a:t>
            </a:r>
            <a:r>
              <a:rPr lang="zh-CN" altLang="en-US" sz="2600" dirty="0">
                <a:solidFill>
                  <a:srgbClr val="FF3300"/>
                </a:solidFill>
              </a:rPr>
              <a:t>段寻址方式</a:t>
            </a:r>
            <a:r>
              <a:rPr lang="zh-CN" altLang="en-US" sz="2600" dirty="0"/>
              <a:t>： 将段名所指定的段寄存器内容</a:t>
            </a:r>
            <a:r>
              <a:rPr lang="en-US" altLang="zh-CN" sz="2600" dirty="0"/>
              <a:t>(16</a:t>
            </a:r>
            <a:r>
              <a:rPr lang="zh-CN" altLang="en-US" sz="2600" dirty="0"/>
              <a:t>位</a:t>
            </a:r>
            <a:r>
              <a:rPr lang="en-US" altLang="zh-CN" sz="2600" dirty="0"/>
              <a:t>)</a:t>
            </a:r>
            <a:r>
              <a:rPr lang="zh-CN" altLang="en-US" sz="2600" dirty="0"/>
              <a:t>左移</a:t>
            </a:r>
            <a:r>
              <a:rPr lang="en-US" altLang="zh-CN" sz="2600" dirty="0"/>
              <a:t>4</a:t>
            </a:r>
            <a:r>
              <a:rPr lang="zh-CN" altLang="en-US" sz="2600" dirty="0"/>
              <a:t>位，低</a:t>
            </a:r>
            <a:r>
              <a:rPr lang="en-US" altLang="zh-CN" sz="2600" dirty="0"/>
              <a:t>4</a:t>
            </a:r>
            <a:r>
              <a:rPr lang="zh-CN" altLang="en-US" sz="2600" dirty="0"/>
              <a:t>位补全</a:t>
            </a:r>
            <a:r>
              <a:rPr lang="en-US" altLang="zh-CN" sz="2600" dirty="0"/>
              <a:t>0</a:t>
            </a:r>
            <a:r>
              <a:rPr lang="zh-CN" altLang="en-US" sz="2600" dirty="0"/>
              <a:t>，得到</a:t>
            </a:r>
            <a:r>
              <a:rPr lang="en-US" altLang="zh-CN" sz="2600" dirty="0"/>
              <a:t>20</a:t>
            </a:r>
            <a:r>
              <a:rPr lang="zh-CN" altLang="en-US" sz="2600" dirty="0"/>
              <a:t>位段基地址，再加上</a:t>
            </a:r>
            <a:r>
              <a:rPr lang="en-US" altLang="zh-CN" sz="2600" dirty="0"/>
              <a:t>16</a:t>
            </a:r>
            <a:r>
              <a:rPr lang="zh-CN" altLang="en-US" sz="2600" dirty="0"/>
              <a:t>位段内偏移，即得</a:t>
            </a:r>
            <a:r>
              <a:rPr lang="en-US" altLang="zh-CN" sz="2600" dirty="0"/>
              <a:t>20</a:t>
            </a:r>
            <a:r>
              <a:rPr lang="zh-CN" altLang="en-US" sz="2600" dirty="0"/>
              <a:t>位物理地址。（</a:t>
            </a:r>
            <a:r>
              <a:rPr lang="zh-CN" altLang="en-US" sz="2600" dirty="0">
                <a:solidFill>
                  <a:srgbClr val="FF3300"/>
                </a:solidFill>
              </a:rPr>
              <a:t>实模式下，操作数与地址默认长度为</a:t>
            </a:r>
            <a:r>
              <a:rPr lang="en-US" altLang="zh-CN" sz="2600" dirty="0">
                <a:solidFill>
                  <a:srgbClr val="FF3300"/>
                </a:solidFill>
              </a:rPr>
              <a:t>16</a:t>
            </a:r>
            <a:r>
              <a:rPr lang="zh-CN" altLang="en-US" sz="2600" dirty="0">
                <a:solidFill>
                  <a:srgbClr val="FF3300"/>
                </a:solidFill>
              </a:rPr>
              <a:t>位</a:t>
            </a:r>
            <a:r>
              <a:rPr lang="zh-CN" altLang="en-US" sz="2600" dirty="0"/>
              <a:t>）</a:t>
            </a:r>
            <a:endParaRPr lang="zh-CN" altLang="en-US" sz="2600" dirty="0"/>
          </a:p>
          <a:p>
            <a:pPr marL="0" lvl="0" indent="0" eaLnBrk="1" hangingPunct="1">
              <a:spcBef>
                <a:spcPct val="0"/>
              </a:spcBef>
              <a:buClrTx/>
              <a:buSzTx/>
              <a:buFontTx/>
              <a:buNone/>
            </a:pPr>
            <a:r>
              <a:rPr lang="zh-CN" altLang="en-US" sz="2600" dirty="0"/>
              <a:t>     在</a:t>
            </a:r>
            <a:r>
              <a:rPr lang="zh-CN" altLang="en-US" sz="2600" dirty="0">
                <a:solidFill>
                  <a:srgbClr val="FF3300"/>
                </a:solidFill>
              </a:rPr>
              <a:t>保护模式</a:t>
            </a:r>
            <a:r>
              <a:rPr lang="zh-CN" altLang="en-US" sz="2600" dirty="0"/>
              <a:t>下，</a:t>
            </a:r>
            <a:r>
              <a:rPr lang="en-US" altLang="zh-CN" sz="2600" dirty="0"/>
              <a:t>32</a:t>
            </a:r>
            <a:r>
              <a:rPr lang="zh-CN" altLang="en-US" sz="2600" dirty="0"/>
              <a:t>位段基地址加上段内偏移得到</a:t>
            </a:r>
            <a:r>
              <a:rPr lang="en-US" altLang="zh-CN" sz="2600" dirty="0"/>
              <a:t>32</a:t>
            </a:r>
            <a:r>
              <a:rPr lang="zh-CN" altLang="en-US" sz="2600" dirty="0"/>
              <a:t>位线性地址</a:t>
            </a:r>
            <a:r>
              <a:rPr lang="en-US" altLang="zh-CN" sz="2600" dirty="0"/>
              <a:t>LA</a:t>
            </a:r>
            <a:r>
              <a:rPr lang="zh-CN" altLang="en-US" sz="2600" dirty="0"/>
              <a:t>。由存储管理部件将其转换成</a:t>
            </a:r>
            <a:r>
              <a:rPr lang="en-US" altLang="zh-CN" sz="2600" dirty="0"/>
              <a:t>32</a:t>
            </a:r>
            <a:r>
              <a:rPr lang="zh-CN" altLang="en-US" sz="2600" dirty="0"/>
              <a:t>位的物理地址，如图</a:t>
            </a:r>
            <a:r>
              <a:rPr lang="en-US" altLang="zh-CN" sz="2600" dirty="0"/>
              <a:t>4.4</a:t>
            </a:r>
            <a:r>
              <a:rPr lang="zh-CN" altLang="en-US" sz="2600" dirty="0"/>
              <a:t>所示。这个转换过程对指令系统和程序员是透明的。有</a:t>
            </a:r>
            <a:r>
              <a:rPr lang="en-US" altLang="zh-CN" sz="2600" dirty="0"/>
              <a:t>6</a:t>
            </a:r>
            <a:r>
              <a:rPr lang="zh-CN" altLang="en-US" sz="2600" dirty="0"/>
              <a:t>个用户可见的段寄存器，每个保存相应段的起始地址、段长和访问权限。（</a:t>
            </a:r>
            <a:r>
              <a:rPr lang="zh-CN" altLang="en-US" sz="2600" dirty="0">
                <a:solidFill>
                  <a:srgbClr val="FF3300"/>
                </a:solidFill>
              </a:rPr>
              <a:t>保护模式下，操作数与地址默认长度为</a:t>
            </a:r>
            <a:r>
              <a:rPr lang="en-US" altLang="zh-CN" sz="2600" dirty="0">
                <a:solidFill>
                  <a:srgbClr val="FF3300"/>
                </a:solidFill>
              </a:rPr>
              <a:t>32</a:t>
            </a:r>
            <a:r>
              <a:rPr lang="zh-CN" altLang="en-US" sz="2600" dirty="0">
                <a:solidFill>
                  <a:srgbClr val="FF3300"/>
                </a:solidFill>
              </a:rPr>
              <a:t>位</a:t>
            </a:r>
            <a:r>
              <a:rPr lang="zh-CN" altLang="en-US" sz="2600" dirty="0"/>
              <a:t>）</a:t>
            </a:r>
            <a:endParaRPr lang="zh-CN" alt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9">
                                            <p:txEl>
                                              <p:charRg st="0" end="111"/>
                                            </p:txEl>
                                          </p:spTgt>
                                        </p:tgtEl>
                                        <p:attrNameLst>
                                          <p:attrName>style.visibility</p:attrName>
                                        </p:attrNameLst>
                                      </p:cBhvr>
                                      <p:to>
                                        <p:strVal val="visible"/>
                                      </p:to>
                                    </p:set>
                                    <p:anim calcmode="lin" valueType="num">
                                      <p:cBhvr additive="base">
                                        <p:cTn id="7" dur="500" fill="hold"/>
                                        <p:tgtEl>
                                          <p:spTgt spid="71719">
                                            <p:txEl>
                                              <p:charRg st="0" end="1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9">
                                            <p:txEl>
                                              <p:charRg st="0" end="1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9">
                                            <p:txEl>
                                              <p:charRg st="111" end="254"/>
                                            </p:txEl>
                                          </p:spTgt>
                                        </p:tgtEl>
                                        <p:attrNameLst>
                                          <p:attrName>style.visibility</p:attrName>
                                        </p:attrNameLst>
                                      </p:cBhvr>
                                      <p:to>
                                        <p:strVal val="visible"/>
                                      </p:to>
                                    </p:set>
                                    <p:anim calcmode="lin" valueType="num">
                                      <p:cBhvr additive="base">
                                        <p:cTn id="13" dur="500" fill="hold"/>
                                        <p:tgtEl>
                                          <p:spTgt spid="71719">
                                            <p:txEl>
                                              <p:charRg st="111" end="25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9">
                                            <p:txEl>
                                              <p:charRg st="111" end="25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457200" y="41275"/>
            <a:ext cx="8229600" cy="1371600"/>
          </a:xfrm>
          <a:ln/>
        </p:spPr>
        <p:txBody>
          <a:bodyPr vert="horz" wrap="square" lIns="91440" tIns="45720" rIns="91440" bIns="45720" anchor="ctr" anchorCtr="0"/>
          <a:p>
            <a:r>
              <a:rPr lang="zh-CN" altLang="en-US" sz="4300" dirty="0"/>
              <a:t>寻址方式举例： </a:t>
            </a:r>
            <a:r>
              <a:rPr lang="en-US" altLang="zh-CN" sz="4300" dirty="0"/>
              <a:t>Pentium</a:t>
            </a:r>
            <a:endParaRPr lang="en-US" altLang="zh-CN" sz="4300" dirty="0"/>
          </a:p>
        </p:txBody>
      </p:sp>
      <p:pic>
        <p:nvPicPr>
          <p:cNvPr id="78851" name="Picture 3" descr="4a4">
            <a:hlinkClick r:id="rId1" action="ppaction://hlinkfile"/>
          </p:cNvPr>
          <p:cNvPicPr>
            <a:picLocks noChangeAspect="1"/>
          </p:cNvPicPr>
          <p:nvPr/>
        </p:nvPicPr>
        <p:blipFill>
          <a:blip r:embed="rId2"/>
          <a:stretch>
            <a:fillRect/>
          </a:stretch>
        </p:blipFill>
        <p:spPr>
          <a:xfrm>
            <a:off x="971550" y="1125538"/>
            <a:ext cx="7488238" cy="5041900"/>
          </a:xfrm>
          <a:prstGeom prst="rect">
            <a:avLst/>
          </a:prstGeom>
          <a:noFill/>
          <a:ln w="9525">
            <a:noFill/>
          </a:ln>
        </p:spPr>
      </p:pic>
      <p:sp>
        <p:nvSpPr>
          <p:cNvPr id="78852" name="Text Box 5"/>
          <p:cNvSpPr txBox="1"/>
          <p:nvPr/>
        </p:nvSpPr>
        <p:spPr>
          <a:xfrm>
            <a:off x="1874838" y="6021388"/>
            <a:ext cx="4929187"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t>图</a:t>
            </a:r>
            <a:r>
              <a:rPr lang="en-US" altLang="zh-CN" sz="2800" dirty="0"/>
              <a:t>4.4 Pentium</a:t>
            </a:r>
            <a:r>
              <a:rPr lang="zh-CN" altLang="en-US" sz="2800" dirty="0"/>
              <a:t>寻址方式的计算</a:t>
            </a:r>
            <a:endParaRPr lang="zh-CN" alt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468313" y="266700"/>
            <a:ext cx="7532687" cy="785813"/>
          </a:xfrm>
          <a:ln/>
        </p:spPr>
        <p:txBody>
          <a:bodyPr vert="horz" wrap="square" lIns="91440" tIns="45720" rIns="91440" bIns="45720" anchor="ctr" anchorCtr="0"/>
          <a:p>
            <a:r>
              <a:rPr lang="en-US" altLang="zh-CN" sz="4300" dirty="0"/>
              <a:t>Pentium</a:t>
            </a:r>
            <a:r>
              <a:rPr lang="zh-CN" altLang="en-US" sz="4300" dirty="0"/>
              <a:t>寻址方式</a:t>
            </a:r>
            <a:endParaRPr lang="zh-CN" altLang="en-US" sz="4300" dirty="0"/>
          </a:p>
        </p:txBody>
      </p:sp>
      <p:graphicFrame>
        <p:nvGraphicFramePr>
          <p:cNvPr id="52227" name="Group 3"/>
          <p:cNvGraphicFramePr>
            <a:graphicFrameLocks noGrp="1"/>
          </p:cNvGraphicFramePr>
          <p:nvPr>
            <p:ph sz="half" idx="1"/>
          </p:nvPr>
        </p:nvGraphicFramePr>
        <p:xfrm>
          <a:off x="900113" y="1628775"/>
          <a:ext cx="7127875" cy="4572000"/>
        </p:xfrm>
        <a:graphic>
          <a:graphicData uri="http://schemas.openxmlformats.org/drawingml/2006/table">
            <a:tbl>
              <a:tblPr/>
              <a:tblGrid>
                <a:gridCol w="3565525"/>
                <a:gridCol w="3562350"/>
              </a:tblGrid>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方式</a:t>
                      </a:r>
                      <a:endParaRPr kumimoji="1" lang="zh-CN" altLang="en-US"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算法</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立即</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操作数</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寄存器</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EA=R</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偏移量</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91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基址</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EA=(SR)+(B)</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基址带偏移量</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EA=(SR)+(B)+A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比例变址带偏移量</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EA=(SR)+(I)×S+A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基址带变址和偏移量</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EA=(SR)+(B)+(I)+A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基址带比例变址和偏移量</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EA=(SR)+(B)+(I)×S+A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175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相对</a:t>
                      </a:r>
                      <a:endParaRPr kumimoji="1" lang="zh-CN" altLang="en-US"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EA=(PC)+A</a:t>
                      </a:r>
                      <a:endParaRPr kumimoji="1" lang="en-US" altLang="zh-CN" sz="4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79910" name="Text Box 38"/>
          <p:cNvSpPr txBox="1"/>
          <p:nvPr/>
        </p:nvSpPr>
        <p:spPr>
          <a:xfrm>
            <a:off x="2389188" y="1071563"/>
            <a:ext cx="3367087"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t>表</a:t>
            </a:r>
            <a:r>
              <a:rPr lang="en-US" altLang="zh-CN" sz="2400" dirty="0"/>
              <a:t>4.8 Pentium</a:t>
            </a:r>
            <a:r>
              <a:rPr lang="zh-CN" altLang="en-US" sz="2400" dirty="0"/>
              <a:t>寻址方式</a:t>
            </a:r>
            <a:endParaRPr lang="zh-CN" alt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468313" y="473075"/>
            <a:ext cx="7532687" cy="723900"/>
          </a:xfrm>
          <a:ln/>
        </p:spPr>
        <p:txBody>
          <a:bodyPr vert="horz" wrap="square" lIns="91440" tIns="45720" rIns="91440" bIns="45720" anchor="ctr" anchorCtr="0"/>
          <a:p>
            <a:r>
              <a:rPr lang="en-US" altLang="zh-CN" sz="3500" dirty="0">
                <a:cs typeface="Times New Roman" panose="02020603050405020304" pitchFamily="18" charset="0"/>
              </a:rPr>
              <a:t>4.5 </a:t>
            </a:r>
            <a:r>
              <a:rPr lang="zh-CN" altLang="en-US" sz="3500" dirty="0"/>
              <a:t>典型指令</a:t>
            </a:r>
            <a:endParaRPr lang="zh-CN" altLang="en-US" sz="3500" dirty="0"/>
          </a:p>
        </p:txBody>
      </p:sp>
      <p:sp>
        <p:nvSpPr>
          <p:cNvPr id="55299" name="Rectangle 3"/>
          <p:cNvSpPr>
            <a:spLocks noGrp="1"/>
          </p:cNvSpPr>
          <p:nvPr>
            <p:ph idx="1"/>
          </p:nvPr>
        </p:nvSpPr>
        <p:spPr>
          <a:xfrm>
            <a:off x="457200" y="1341438"/>
            <a:ext cx="8229600" cy="5183187"/>
          </a:xfrm>
          <a:ln/>
        </p:spPr>
        <p:txBody>
          <a:bodyPr vert="horz" wrap="square" lIns="91440" tIns="45720" rIns="91440" bIns="45720" anchor="t" anchorCtr="0"/>
          <a:p>
            <a:pPr>
              <a:lnSpc>
                <a:spcPct val="90000"/>
              </a:lnSpc>
            </a:pPr>
            <a:r>
              <a:rPr lang="zh-CN" altLang="en-US" sz="2600" b="1" dirty="0"/>
              <a:t>指令分类与基本指令类型   </a:t>
            </a:r>
            <a:endParaRPr lang="zh-CN" altLang="en-US" sz="2600" dirty="0"/>
          </a:p>
          <a:p>
            <a:pPr lvl="1">
              <a:lnSpc>
                <a:spcPct val="90000"/>
              </a:lnSpc>
            </a:pPr>
            <a:r>
              <a:rPr lang="zh-CN" altLang="en-US" sz="2200" dirty="0"/>
              <a:t>数据传送类指令</a:t>
            </a:r>
            <a:endParaRPr lang="zh-CN" altLang="en-US" sz="2200" dirty="0"/>
          </a:p>
          <a:p>
            <a:pPr lvl="2">
              <a:lnSpc>
                <a:spcPct val="90000"/>
              </a:lnSpc>
            </a:pPr>
            <a:r>
              <a:rPr lang="zh-CN" altLang="en-US" sz="2100" dirty="0"/>
              <a:t>一般传送指令：   </a:t>
            </a:r>
            <a:r>
              <a:rPr lang="en-US" altLang="zh-CN" sz="2100" dirty="0"/>
              <a:t>MOV   AX</a:t>
            </a:r>
            <a:r>
              <a:rPr lang="zh-CN" altLang="en-US" sz="2100" dirty="0"/>
              <a:t>，</a:t>
            </a:r>
            <a:r>
              <a:rPr lang="en-US" altLang="zh-CN" sz="2100" dirty="0"/>
              <a:t>BX</a:t>
            </a:r>
            <a:endParaRPr lang="en-US" altLang="zh-CN" sz="2100" dirty="0"/>
          </a:p>
          <a:p>
            <a:pPr lvl="2">
              <a:lnSpc>
                <a:spcPct val="90000"/>
              </a:lnSpc>
            </a:pPr>
            <a:r>
              <a:rPr lang="zh-CN" altLang="en-US" sz="2100" dirty="0"/>
              <a:t>数据交换指令：   </a:t>
            </a:r>
            <a:r>
              <a:rPr lang="en-US" altLang="zh-CN" sz="2100" dirty="0"/>
              <a:t>XCHG</a:t>
            </a:r>
            <a:endParaRPr lang="en-US" altLang="zh-CN" sz="2100" dirty="0"/>
          </a:p>
          <a:p>
            <a:pPr lvl="2">
              <a:lnSpc>
                <a:spcPct val="90000"/>
              </a:lnSpc>
            </a:pPr>
            <a:r>
              <a:rPr lang="zh-CN" altLang="en-US" sz="2100" dirty="0"/>
              <a:t>堆栈操作指令：   </a:t>
            </a:r>
            <a:r>
              <a:rPr lang="en-US" altLang="zh-CN" sz="2100" dirty="0"/>
              <a:t>PUSH</a:t>
            </a:r>
            <a:r>
              <a:rPr lang="zh-CN" altLang="en-US" sz="2100" dirty="0"/>
              <a:t>，</a:t>
            </a:r>
            <a:r>
              <a:rPr lang="en-US" altLang="zh-CN" sz="2100" dirty="0"/>
              <a:t>POP</a:t>
            </a:r>
            <a:endParaRPr lang="en-US" altLang="zh-CN" sz="2100" dirty="0"/>
          </a:p>
          <a:p>
            <a:pPr lvl="1">
              <a:lnSpc>
                <a:spcPct val="90000"/>
              </a:lnSpc>
            </a:pPr>
            <a:r>
              <a:rPr lang="zh-CN" altLang="en-US" sz="2200" dirty="0"/>
              <a:t>运算类指令</a:t>
            </a:r>
            <a:endParaRPr lang="zh-CN" altLang="en-US" sz="2200" dirty="0"/>
          </a:p>
          <a:p>
            <a:pPr lvl="2">
              <a:lnSpc>
                <a:spcPct val="90000"/>
              </a:lnSpc>
            </a:pPr>
            <a:r>
              <a:rPr lang="zh-CN" altLang="en-US" sz="2100" dirty="0"/>
              <a:t>算术运算指令： 加、减、乘、除以及加</a:t>
            </a:r>
            <a:r>
              <a:rPr lang="en-US" altLang="zh-CN" sz="2100" dirty="0"/>
              <a:t>1</a:t>
            </a:r>
            <a:r>
              <a:rPr lang="zh-CN" altLang="en-US" sz="2100" dirty="0"/>
              <a:t>、减</a:t>
            </a:r>
            <a:r>
              <a:rPr lang="en-US" altLang="zh-CN" sz="2100" dirty="0"/>
              <a:t>1</a:t>
            </a:r>
            <a:r>
              <a:rPr lang="zh-CN" altLang="en-US" sz="2100" dirty="0"/>
              <a:t>、比较</a:t>
            </a:r>
            <a:endParaRPr lang="zh-CN" altLang="en-US" sz="2100" dirty="0"/>
          </a:p>
          <a:p>
            <a:pPr lvl="2">
              <a:lnSpc>
                <a:spcPct val="90000"/>
              </a:lnSpc>
            </a:pPr>
            <a:r>
              <a:rPr lang="zh-CN" altLang="en-US" sz="2100" dirty="0"/>
              <a:t>逻辑运算指令：  </a:t>
            </a:r>
            <a:endParaRPr lang="zh-CN" altLang="en-US" sz="2100" dirty="0"/>
          </a:p>
          <a:p>
            <a:pPr lvl="2">
              <a:lnSpc>
                <a:spcPct val="90000"/>
              </a:lnSpc>
            </a:pPr>
            <a:r>
              <a:rPr lang="zh-CN" altLang="en-US" sz="2100" dirty="0"/>
              <a:t>移位指令   </a:t>
            </a:r>
            <a:endParaRPr lang="zh-CN" altLang="en-US" sz="2100" dirty="0"/>
          </a:p>
          <a:p>
            <a:pPr lvl="1">
              <a:lnSpc>
                <a:spcPct val="90000"/>
              </a:lnSpc>
            </a:pPr>
            <a:r>
              <a:rPr lang="zh-CN" altLang="en-US" sz="2200" dirty="0"/>
              <a:t>程序控制类指令   </a:t>
            </a:r>
            <a:endParaRPr lang="zh-CN" altLang="en-US" sz="2200" dirty="0"/>
          </a:p>
          <a:p>
            <a:pPr lvl="2">
              <a:lnSpc>
                <a:spcPct val="90000"/>
              </a:lnSpc>
            </a:pPr>
            <a:r>
              <a:rPr lang="zh-CN" altLang="en-US" sz="2100" dirty="0"/>
              <a:t>程序控制类指令用于控制程序的执行方向，并使程序具有测试、分析与判断的能力。</a:t>
            </a:r>
            <a:endParaRPr lang="zh-CN" altLang="en-US" sz="2100" dirty="0"/>
          </a:p>
          <a:p>
            <a:pPr lvl="1">
              <a:lnSpc>
                <a:spcPct val="90000"/>
              </a:lnSpc>
            </a:pPr>
            <a:r>
              <a:rPr lang="zh-CN" altLang="en-US" sz="2200" dirty="0"/>
              <a:t>  输入和输出指令、字符串处理指令、特权指令、其他指令</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charRg st="15" end="23"/>
                                            </p:txEl>
                                          </p:spTgt>
                                        </p:tgtEl>
                                        <p:attrNameLst>
                                          <p:attrName>style.visibility</p:attrName>
                                        </p:attrNameLst>
                                      </p:cBhvr>
                                      <p:to>
                                        <p:strVal val="visible"/>
                                      </p:to>
                                    </p:set>
                                    <p:animEffect transition="in" filter="blinds(horizontal)">
                                      <p:cBhvr>
                                        <p:cTn id="7" dur="500"/>
                                        <p:tgtEl>
                                          <p:spTgt spid="55299">
                                            <p:txEl>
                                              <p:charRg st="15" end="2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5299">
                                            <p:txEl>
                                              <p:charRg st="23" end="45"/>
                                            </p:txEl>
                                          </p:spTgt>
                                        </p:tgtEl>
                                        <p:attrNameLst>
                                          <p:attrName>style.visibility</p:attrName>
                                        </p:attrNameLst>
                                      </p:cBhvr>
                                      <p:to>
                                        <p:strVal val="visible"/>
                                      </p:to>
                                    </p:set>
                                    <p:animEffect transition="in" filter="blinds(horizontal)">
                                      <p:cBhvr>
                                        <p:cTn id="10" dur="500"/>
                                        <p:tgtEl>
                                          <p:spTgt spid="55299">
                                            <p:txEl>
                                              <p:charRg st="23" end="4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5299">
                                            <p:txEl>
                                              <p:charRg st="45" end="60"/>
                                            </p:txEl>
                                          </p:spTgt>
                                        </p:tgtEl>
                                        <p:attrNameLst>
                                          <p:attrName>style.visibility</p:attrName>
                                        </p:attrNameLst>
                                      </p:cBhvr>
                                      <p:to>
                                        <p:strVal val="visible"/>
                                      </p:to>
                                    </p:set>
                                    <p:animEffect transition="in" filter="blinds(horizontal)">
                                      <p:cBhvr>
                                        <p:cTn id="13" dur="500"/>
                                        <p:tgtEl>
                                          <p:spTgt spid="55299">
                                            <p:txEl>
                                              <p:charRg st="45" end="6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5299">
                                            <p:txEl>
                                              <p:charRg st="60" end="79"/>
                                            </p:txEl>
                                          </p:spTgt>
                                        </p:tgtEl>
                                        <p:attrNameLst>
                                          <p:attrName>style.visibility</p:attrName>
                                        </p:attrNameLst>
                                      </p:cBhvr>
                                      <p:to>
                                        <p:strVal val="visible"/>
                                      </p:to>
                                    </p:set>
                                    <p:animEffect transition="in" filter="blinds(horizontal)">
                                      <p:cBhvr>
                                        <p:cTn id="16" dur="500"/>
                                        <p:tgtEl>
                                          <p:spTgt spid="55299">
                                            <p:txEl>
                                              <p:charRg st="60" end="7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5299">
                                            <p:txEl>
                                              <p:charRg st="79" end="85"/>
                                            </p:txEl>
                                          </p:spTgt>
                                        </p:tgtEl>
                                        <p:attrNameLst>
                                          <p:attrName>style.visibility</p:attrName>
                                        </p:attrNameLst>
                                      </p:cBhvr>
                                      <p:to>
                                        <p:strVal val="visible"/>
                                      </p:to>
                                    </p:set>
                                    <p:animEffect transition="in" filter="blinds(horizontal)">
                                      <p:cBhvr>
                                        <p:cTn id="21" dur="500"/>
                                        <p:tgtEl>
                                          <p:spTgt spid="55299">
                                            <p:txEl>
                                              <p:charRg st="79" end="8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5299">
                                            <p:txEl>
                                              <p:charRg st="85" end="111"/>
                                            </p:txEl>
                                          </p:spTgt>
                                        </p:tgtEl>
                                        <p:attrNameLst>
                                          <p:attrName>style.visibility</p:attrName>
                                        </p:attrNameLst>
                                      </p:cBhvr>
                                      <p:to>
                                        <p:strVal val="visible"/>
                                      </p:to>
                                    </p:set>
                                    <p:animEffect transition="in" filter="blinds(horizontal)">
                                      <p:cBhvr>
                                        <p:cTn id="24" dur="500"/>
                                        <p:tgtEl>
                                          <p:spTgt spid="55299">
                                            <p:txEl>
                                              <p:charRg st="85" end="11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5299">
                                            <p:txEl>
                                              <p:charRg st="111" end="121"/>
                                            </p:txEl>
                                          </p:spTgt>
                                        </p:tgtEl>
                                        <p:attrNameLst>
                                          <p:attrName>style.visibility</p:attrName>
                                        </p:attrNameLst>
                                      </p:cBhvr>
                                      <p:to>
                                        <p:strVal val="visible"/>
                                      </p:to>
                                    </p:set>
                                    <p:animEffect transition="in" filter="blinds(horizontal)">
                                      <p:cBhvr>
                                        <p:cTn id="27" dur="500"/>
                                        <p:tgtEl>
                                          <p:spTgt spid="55299">
                                            <p:txEl>
                                              <p:charRg st="111" end="12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5299">
                                            <p:txEl>
                                              <p:charRg st="121" end="129"/>
                                            </p:txEl>
                                          </p:spTgt>
                                        </p:tgtEl>
                                        <p:attrNameLst>
                                          <p:attrName>style.visibility</p:attrName>
                                        </p:attrNameLst>
                                      </p:cBhvr>
                                      <p:to>
                                        <p:strVal val="visible"/>
                                      </p:to>
                                    </p:set>
                                    <p:animEffect transition="in" filter="blinds(horizontal)">
                                      <p:cBhvr>
                                        <p:cTn id="30" dur="500"/>
                                        <p:tgtEl>
                                          <p:spTgt spid="55299">
                                            <p:txEl>
                                              <p:charRg st="121" end="12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5299">
                                            <p:txEl>
                                              <p:charRg st="129" end="140"/>
                                            </p:txEl>
                                          </p:spTgt>
                                        </p:tgtEl>
                                        <p:attrNameLst>
                                          <p:attrName>style.visibility</p:attrName>
                                        </p:attrNameLst>
                                      </p:cBhvr>
                                      <p:to>
                                        <p:strVal val="visible"/>
                                      </p:to>
                                    </p:set>
                                    <p:animEffect transition="in" filter="blinds(horizontal)">
                                      <p:cBhvr>
                                        <p:cTn id="35" dur="500"/>
                                        <p:tgtEl>
                                          <p:spTgt spid="55299">
                                            <p:txEl>
                                              <p:charRg st="129" end="14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55299">
                                            <p:txEl>
                                              <p:charRg st="140" end="178"/>
                                            </p:txEl>
                                          </p:spTgt>
                                        </p:tgtEl>
                                        <p:attrNameLst>
                                          <p:attrName>style.visibility</p:attrName>
                                        </p:attrNameLst>
                                      </p:cBhvr>
                                      <p:to>
                                        <p:strVal val="visible"/>
                                      </p:to>
                                    </p:set>
                                    <p:animEffect transition="in" filter="blinds(horizontal)">
                                      <p:cBhvr>
                                        <p:cTn id="38" dur="500"/>
                                        <p:tgtEl>
                                          <p:spTgt spid="55299">
                                            <p:txEl>
                                              <p:charRg st="140" end="17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55299">
                                            <p:txEl>
                                              <p:charRg st="178" end="206"/>
                                            </p:txEl>
                                          </p:spTgt>
                                        </p:tgtEl>
                                        <p:attrNameLst>
                                          <p:attrName>style.visibility</p:attrName>
                                        </p:attrNameLst>
                                      </p:cBhvr>
                                      <p:to>
                                        <p:strVal val="visible"/>
                                      </p:to>
                                    </p:set>
                                    <p:animEffect transition="in" filter="blinds(horizontal)">
                                      <p:cBhvr>
                                        <p:cTn id="43" dur="500"/>
                                        <p:tgtEl>
                                          <p:spTgt spid="55299">
                                            <p:txEl>
                                              <p:charRg st="178" end="2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468313" y="257175"/>
            <a:ext cx="7532687" cy="723900"/>
          </a:xfrm>
          <a:ln/>
        </p:spPr>
        <p:txBody>
          <a:bodyPr vert="horz" wrap="square" lIns="91440" tIns="45720" rIns="91440" bIns="45720" anchor="ctr" anchorCtr="0"/>
          <a:p>
            <a:r>
              <a:rPr lang="en-US" altLang="zh-CN" sz="3500" dirty="0">
                <a:cs typeface="Times New Roman" panose="02020603050405020304" pitchFamily="18" charset="0"/>
              </a:rPr>
              <a:t>4.5 </a:t>
            </a:r>
            <a:r>
              <a:rPr lang="zh-CN" altLang="en-US" sz="3500" dirty="0"/>
              <a:t>典型指令		</a:t>
            </a:r>
            <a:endParaRPr lang="zh-CN" altLang="en-US" sz="3500" dirty="0"/>
          </a:p>
        </p:txBody>
      </p:sp>
      <p:sp>
        <p:nvSpPr>
          <p:cNvPr id="81923" name="Rectangle 3"/>
          <p:cNvSpPr>
            <a:spLocks noGrp="1"/>
          </p:cNvSpPr>
          <p:nvPr>
            <p:ph idx="1"/>
          </p:nvPr>
        </p:nvSpPr>
        <p:spPr>
          <a:xfrm>
            <a:off x="250825" y="981075"/>
            <a:ext cx="8447088" cy="5472113"/>
          </a:xfrm>
          <a:ln/>
        </p:spPr>
        <p:txBody>
          <a:bodyPr vert="horz" wrap="square" lIns="91440" tIns="45720" rIns="91440" bIns="45720" anchor="t" anchorCtr="0"/>
          <a:p>
            <a:pPr>
              <a:lnSpc>
                <a:spcPct val="90000"/>
              </a:lnSpc>
            </a:pPr>
            <a:r>
              <a:rPr lang="zh-CN" altLang="en-US" sz="2400" dirty="0"/>
              <a:t>基本指令系统</a:t>
            </a:r>
            <a:endParaRPr lang="zh-CN" altLang="en-US" sz="2400" dirty="0"/>
          </a:p>
          <a:p>
            <a:pPr lvl="1">
              <a:lnSpc>
                <a:spcPct val="90000"/>
              </a:lnSpc>
            </a:pPr>
            <a:r>
              <a:rPr lang="en-US" altLang="zh-CN" sz="2400" b="1" dirty="0">
                <a:solidFill>
                  <a:srgbClr val="FF3300"/>
                </a:solidFill>
              </a:rPr>
              <a:t>P137</a:t>
            </a:r>
            <a:r>
              <a:rPr lang="zh-CN" altLang="en-US" sz="2400" b="1" dirty="0">
                <a:solidFill>
                  <a:srgbClr val="FF3300"/>
                </a:solidFill>
              </a:rPr>
              <a:t>表</a:t>
            </a:r>
            <a:r>
              <a:rPr lang="en-US" altLang="zh-CN" sz="2400" b="1" dirty="0">
                <a:solidFill>
                  <a:srgbClr val="FF3300"/>
                </a:solidFill>
              </a:rPr>
              <a:t>4.12</a:t>
            </a:r>
            <a:r>
              <a:rPr lang="zh-CN" altLang="en-US" sz="2400" b="1" dirty="0">
                <a:solidFill>
                  <a:srgbClr val="FF3300"/>
                </a:solidFill>
              </a:rPr>
              <a:t>介绍</a:t>
            </a:r>
            <a:endParaRPr lang="zh-CN" altLang="en-US" sz="2400" b="1" dirty="0">
              <a:solidFill>
                <a:srgbClr val="FF33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468313" y="257175"/>
            <a:ext cx="7532687" cy="723900"/>
          </a:xfrm>
          <a:ln/>
        </p:spPr>
        <p:txBody>
          <a:bodyPr vert="horz" wrap="square" lIns="91440" tIns="45720" rIns="91440" bIns="45720" anchor="ctr" anchorCtr="0"/>
          <a:p>
            <a:r>
              <a:rPr lang="en-US" altLang="zh-CN" sz="3500" dirty="0">
                <a:cs typeface="Times New Roman" panose="02020603050405020304" pitchFamily="18" charset="0"/>
              </a:rPr>
              <a:t>4.5 </a:t>
            </a:r>
            <a:r>
              <a:rPr lang="en-US" altLang="zh-CN" sz="3500" dirty="0"/>
              <a:t>ARM</a:t>
            </a:r>
            <a:r>
              <a:rPr lang="zh-CN" altLang="en-US" sz="3500" dirty="0"/>
              <a:t>汇编语言		</a:t>
            </a:r>
            <a:endParaRPr lang="zh-CN" altLang="en-US" sz="3500" dirty="0"/>
          </a:p>
        </p:txBody>
      </p:sp>
      <p:sp>
        <p:nvSpPr>
          <p:cNvPr id="82947" name="Rectangle 3"/>
          <p:cNvSpPr>
            <a:spLocks noGrp="1"/>
          </p:cNvSpPr>
          <p:nvPr>
            <p:ph idx="1"/>
          </p:nvPr>
        </p:nvSpPr>
        <p:spPr>
          <a:xfrm>
            <a:off x="250825" y="981075"/>
            <a:ext cx="8447088" cy="5472113"/>
          </a:xfrm>
          <a:ln/>
        </p:spPr>
        <p:txBody>
          <a:bodyPr vert="horz" wrap="square" lIns="91440" tIns="45720" rIns="91440" bIns="45720" anchor="t" anchorCtr="0"/>
          <a:p>
            <a:pPr>
              <a:lnSpc>
                <a:spcPct val="90000"/>
              </a:lnSpc>
            </a:pPr>
            <a:r>
              <a:rPr lang="zh-CN" altLang="zh-CN" sz="2400" dirty="0"/>
              <a:t>汇编语言是计算机机器语言（二进制指令代码）进行符号化的一种表示方法，每一个基本汇编语句对应一条机器指令</a:t>
            </a:r>
            <a:r>
              <a:rPr lang="en-US" altLang="zh-CN" sz="2400" dirty="0"/>
              <a:t>.</a:t>
            </a:r>
            <a:endParaRPr lang="en-US" altLang="zh-CN" sz="2400" dirty="0"/>
          </a:p>
          <a:p>
            <a:pPr>
              <a:lnSpc>
                <a:spcPct val="90000"/>
              </a:lnSpc>
            </a:pPr>
            <a:r>
              <a:rPr lang="zh-CN" altLang="zh-CN" sz="2400" dirty="0"/>
              <a:t>表4.1</a:t>
            </a:r>
            <a:r>
              <a:rPr lang="en-US" altLang="zh-CN" sz="2400" dirty="0"/>
              <a:t>3</a:t>
            </a:r>
            <a:r>
              <a:rPr lang="zh-CN" altLang="zh-CN" sz="2400" dirty="0"/>
              <a:t>列出了嵌入式处理机ARM的汇编语言。其中操作数使用16个寄存器（r0 , r1～r12 , sp , Ir , pc）,2</a:t>
            </a:r>
            <a:r>
              <a:rPr lang="zh-CN" altLang="zh-CN" sz="2400" baseline="30000" dirty="0"/>
              <a:t>30</a:t>
            </a:r>
            <a:r>
              <a:rPr lang="zh-CN" altLang="zh-CN" sz="2400" dirty="0"/>
              <a:t>个存储字（字节编址，连续的字的地址间相差4）。</a:t>
            </a:r>
            <a:endParaRPr lang="en-US" altLang="zh-CN" sz="2400" dirty="0"/>
          </a:p>
          <a:p>
            <a:pPr>
              <a:lnSpc>
                <a:spcPct val="90000"/>
              </a:lnSpc>
            </a:pPr>
            <a:endParaRPr lang="zh-CN" altLang="en-US" sz="2400" b="1" dirty="0">
              <a:solidFill>
                <a:srgbClr val="FF3300"/>
              </a:solidFill>
            </a:endParaRPr>
          </a:p>
        </p:txBody>
      </p:sp>
      <p:pic>
        <p:nvPicPr>
          <p:cNvPr id="82948" name="Picture 5" descr="C:\Users\peisw\AppData\Roaming\Tencent\Users\458918637\QQ\WinTemp\RichOle\@XUE315HMB%2TC]GE1J(5%P.jpg"/>
          <p:cNvPicPr>
            <a:picLocks noChangeAspect="1"/>
          </p:cNvPicPr>
          <p:nvPr/>
        </p:nvPicPr>
        <p:blipFill>
          <a:blip r:embed="rId1"/>
          <a:stretch>
            <a:fillRect/>
          </a:stretch>
        </p:blipFill>
        <p:spPr>
          <a:xfrm>
            <a:off x="1619250" y="3357563"/>
            <a:ext cx="6557963" cy="2808287"/>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xfrm>
            <a:off x="468313" y="257175"/>
            <a:ext cx="7532687" cy="723900"/>
          </a:xfrm>
          <a:ln/>
        </p:spPr>
        <p:txBody>
          <a:bodyPr vert="horz" wrap="square" lIns="91440" tIns="45720" rIns="91440" bIns="45720" anchor="ctr" anchorCtr="0"/>
          <a:p>
            <a:r>
              <a:rPr lang="en-US" altLang="zh-CN" sz="3500" dirty="0">
                <a:cs typeface="Times New Roman" panose="02020603050405020304" pitchFamily="18" charset="0"/>
              </a:rPr>
              <a:t>4.5 </a:t>
            </a:r>
            <a:r>
              <a:rPr lang="en-US" altLang="zh-CN" sz="3500" dirty="0"/>
              <a:t>ARM</a:t>
            </a:r>
            <a:r>
              <a:rPr lang="zh-CN" altLang="en-US" sz="3500" dirty="0"/>
              <a:t>汇编语言		</a:t>
            </a:r>
            <a:endParaRPr lang="zh-CN" altLang="en-US" sz="3500" dirty="0"/>
          </a:p>
        </p:txBody>
      </p:sp>
      <p:sp>
        <p:nvSpPr>
          <p:cNvPr id="83971" name="Rectangle 3"/>
          <p:cNvSpPr>
            <a:spLocks noGrp="1"/>
          </p:cNvSpPr>
          <p:nvPr>
            <p:ph idx="1"/>
          </p:nvPr>
        </p:nvSpPr>
        <p:spPr>
          <a:xfrm>
            <a:off x="250825" y="1052513"/>
            <a:ext cx="8447088" cy="5472112"/>
          </a:xfrm>
          <a:ln/>
        </p:spPr>
        <p:txBody>
          <a:bodyPr vert="horz" wrap="square" lIns="91440" tIns="45720" rIns="91440" bIns="45720" anchor="t" anchorCtr="0"/>
          <a:p>
            <a:pPr marL="0" indent="0">
              <a:lnSpc>
                <a:spcPct val="90000"/>
              </a:lnSpc>
              <a:buNone/>
            </a:pPr>
            <a:endParaRPr lang="zh-CN" altLang="en-US" sz="2400" b="1" dirty="0">
              <a:solidFill>
                <a:srgbClr val="FF3300"/>
              </a:solidFill>
            </a:endParaRPr>
          </a:p>
        </p:txBody>
      </p:sp>
      <p:pic>
        <p:nvPicPr>
          <p:cNvPr id="83972" name="Picture 2"/>
          <p:cNvPicPr>
            <a:picLocks noChangeAspect="1"/>
          </p:cNvPicPr>
          <p:nvPr/>
        </p:nvPicPr>
        <p:blipFill>
          <a:blip r:embed="rId1"/>
          <a:stretch>
            <a:fillRect/>
          </a:stretch>
        </p:blipFill>
        <p:spPr>
          <a:xfrm>
            <a:off x="15875" y="908050"/>
            <a:ext cx="9142413" cy="4897438"/>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468313" y="257175"/>
            <a:ext cx="7532687" cy="723900"/>
          </a:xfrm>
          <a:ln/>
        </p:spPr>
        <p:txBody>
          <a:bodyPr vert="horz" wrap="square" lIns="91440" tIns="45720" rIns="91440" bIns="45720" anchor="ctr" anchorCtr="0"/>
          <a:p>
            <a:r>
              <a:rPr lang="en-US" altLang="zh-CN" sz="3500" dirty="0">
                <a:cs typeface="Times New Roman" panose="02020603050405020304" pitchFamily="18" charset="0"/>
              </a:rPr>
              <a:t>4.5 </a:t>
            </a:r>
            <a:r>
              <a:rPr lang="en-US" altLang="zh-CN" sz="3500" dirty="0"/>
              <a:t>ARM</a:t>
            </a:r>
            <a:r>
              <a:rPr lang="zh-CN" altLang="en-US" sz="3500" dirty="0"/>
              <a:t>汇编语言		</a:t>
            </a:r>
            <a:endParaRPr lang="zh-CN" altLang="en-US" sz="3500" dirty="0"/>
          </a:p>
        </p:txBody>
      </p:sp>
      <p:sp>
        <p:nvSpPr>
          <p:cNvPr id="84995" name="Rectangle 3"/>
          <p:cNvSpPr>
            <a:spLocks noGrp="1"/>
          </p:cNvSpPr>
          <p:nvPr>
            <p:ph idx="1"/>
          </p:nvPr>
        </p:nvSpPr>
        <p:spPr>
          <a:xfrm>
            <a:off x="250825" y="1052513"/>
            <a:ext cx="8447088" cy="5472112"/>
          </a:xfrm>
          <a:ln/>
        </p:spPr>
        <p:txBody>
          <a:bodyPr vert="horz" wrap="square" lIns="91440" tIns="45720" rIns="91440" bIns="45720" anchor="t" anchorCtr="0"/>
          <a:p>
            <a:pPr marL="0" indent="0">
              <a:lnSpc>
                <a:spcPct val="90000"/>
              </a:lnSpc>
              <a:buNone/>
            </a:pPr>
            <a:endParaRPr lang="zh-CN" altLang="en-US" sz="2400" b="1" dirty="0">
              <a:solidFill>
                <a:srgbClr val="FF3300"/>
              </a:solidFill>
            </a:endParaRPr>
          </a:p>
        </p:txBody>
      </p:sp>
      <p:pic>
        <p:nvPicPr>
          <p:cNvPr id="84996" name="Picture 3"/>
          <p:cNvPicPr>
            <a:picLocks noChangeAspect="1"/>
          </p:cNvPicPr>
          <p:nvPr/>
        </p:nvPicPr>
        <p:blipFill>
          <a:blip r:embed="rId1"/>
          <a:stretch>
            <a:fillRect/>
          </a:stretch>
        </p:blipFill>
        <p:spPr>
          <a:xfrm>
            <a:off x="684213" y="828675"/>
            <a:ext cx="7945437" cy="6029325"/>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	</a:t>
            </a:r>
            <a:endParaRPr lang="zh-CN" altLang="en-US" sz="3500" dirty="0"/>
          </a:p>
        </p:txBody>
      </p:sp>
      <p:sp>
        <p:nvSpPr>
          <p:cNvPr id="86019" name="Rectangle 3"/>
          <p:cNvSpPr>
            <a:spLocks noGrp="1"/>
          </p:cNvSpPr>
          <p:nvPr>
            <p:ph idx="1"/>
          </p:nvPr>
        </p:nvSpPr>
        <p:spPr>
          <a:xfrm>
            <a:off x="107950" y="549275"/>
            <a:ext cx="8604250" cy="4968875"/>
          </a:xfrm>
          <a:ln/>
        </p:spPr>
        <p:txBody>
          <a:bodyPr vert="horz" wrap="square" lIns="91440" tIns="45720" rIns="91440" bIns="45720" anchor="t" anchorCtr="0"/>
          <a:p>
            <a:r>
              <a:rPr lang="en-US" altLang="zh-CN" sz="2400" dirty="0">
                <a:solidFill>
                  <a:srgbClr val="FF0000"/>
                </a:solidFill>
              </a:rPr>
              <a:t>1) </a:t>
            </a:r>
            <a:r>
              <a:rPr lang="zh-CN" altLang="en-US" sz="2400" dirty="0">
                <a:solidFill>
                  <a:srgbClr val="FF0000"/>
                </a:solidFill>
              </a:rPr>
              <a:t>某机器字长为</a:t>
            </a:r>
            <a:r>
              <a:rPr lang="en-US" altLang="zh-CN" sz="2400" dirty="0">
                <a:solidFill>
                  <a:srgbClr val="FF0000"/>
                </a:solidFill>
              </a:rPr>
              <a:t>16</a:t>
            </a:r>
            <a:r>
              <a:rPr lang="zh-CN" altLang="en-US" sz="2400" dirty="0">
                <a:solidFill>
                  <a:srgbClr val="FF0000"/>
                </a:solidFill>
              </a:rPr>
              <a:t>位</a:t>
            </a:r>
            <a:r>
              <a:rPr lang="en-US" altLang="zh-CN" sz="2400" dirty="0">
                <a:solidFill>
                  <a:srgbClr val="FF0000"/>
                </a:solidFill>
              </a:rPr>
              <a:t>,</a:t>
            </a:r>
            <a:r>
              <a:rPr lang="zh-CN" altLang="en-US" sz="2400" dirty="0">
                <a:solidFill>
                  <a:srgbClr val="FF0000"/>
                </a:solidFill>
              </a:rPr>
              <a:t>主存按字节编址</a:t>
            </a:r>
            <a:r>
              <a:rPr lang="en-US" altLang="zh-CN" sz="2400" dirty="0">
                <a:solidFill>
                  <a:srgbClr val="FF0000"/>
                </a:solidFill>
              </a:rPr>
              <a:t>,</a:t>
            </a:r>
            <a:r>
              <a:rPr lang="zh-CN" altLang="en-US" sz="2400" dirty="0">
                <a:solidFill>
                  <a:srgbClr val="FF0000"/>
                </a:solidFill>
              </a:rPr>
              <a:t>转移指令采用相对寻址</a:t>
            </a:r>
            <a:r>
              <a:rPr lang="en-US" altLang="zh-CN" sz="2400" dirty="0">
                <a:solidFill>
                  <a:srgbClr val="FF0000"/>
                </a:solidFill>
              </a:rPr>
              <a:t>,</a:t>
            </a:r>
            <a:r>
              <a:rPr lang="zh-CN" altLang="en-US" sz="2400" dirty="0">
                <a:solidFill>
                  <a:srgbClr val="FF0000"/>
                </a:solidFill>
              </a:rPr>
              <a:t>由两个字节组成</a:t>
            </a:r>
            <a:r>
              <a:rPr lang="en-US" altLang="zh-CN" sz="2400" dirty="0">
                <a:solidFill>
                  <a:srgbClr val="FF0000"/>
                </a:solidFill>
              </a:rPr>
              <a:t>,</a:t>
            </a:r>
            <a:r>
              <a:rPr lang="zh-CN" altLang="en-US" sz="2400" dirty="0">
                <a:solidFill>
                  <a:srgbClr val="FF0000"/>
                </a:solidFill>
              </a:rPr>
              <a:t>第一字节为操作码字段</a:t>
            </a:r>
            <a:r>
              <a:rPr lang="en-US" altLang="zh-CN" sz="2400" dirty="0">
                <a:solidFill>
                  <a:srgbClr val="FF0000"/>
                </a:solidFill>
              </a:rPr>
              <a:t>,</a:t>
            </a:r>
            <a:r>
              <a:rPr lang="zh-CN" altLang="en-US" sz="2400" dirty="0">
                <a:solidFill>
                  <a:srgbClr val="FF0000"/>
                </a:solidFill>
              </a:rPr>
              <a:t>第二字节为相对位移量字段</a:t>
            </a:r>
            <a:r>
              <a:rPr lang="en-US" altLang="zh-CN" sz="2400" dirty="0">
                <a:solidFill>
                  <a:srgbClr val="FF0000"/>
                </a:solidFill>
              </a:rPr>
              <a:t>. </a:t>
            </a:r>
            <a:r>
              <a:rPr lang="zh-CN" altLang="en-US" sz="2400" dirty="0">
                <a:solidFill>
                  <a:srgbClr val="FF0000"/>
                </a:solidFill>
              </a:rPr>
              <a:t>假定取指令时</a:t>
            </a:r>
            <a:r>
              <a:rPr lang="en-US" altLang="zh-CN" sz="2400" dirty="0">
                <a:solidFill>
                  <a:srgbClr val="FF0000"/>
                </a:solidFill>
              </a:rPr>
              <a:t>,</a:t>
            </a:r>
            <a:r>
              <a:rPr lang="zh-CN" altLang="en-US" sz="2400" dirty="0">
                <a:solidFill>
                  <a:srgbClr val="FF0000"/>
                </a:solidFill>
              </a:rPr>
              <a:t>每取一个字节</a:t>
            </a:r>
            <a:r>
              <a:rPr lang="en-US" altLang="zh-CN" sz="2400" dirty="0">
                <a:solidFill>
                  <a:srgbClr val="FF0000"/>
                </a:solidFill>
              </a:rPr>
              <a:t>PC</a:t>
            </a:r>
            <a:r>
              <a:rPr lang="zh-CN" altLang="en-US" sz="2400" dirty="0">
                <a:solidFill>
                  <a:srgbClr val="FF0000"/>
                </a:solidFill>
              </a:rPr>
              <a:t>自动加</a:t>
            </a:r>
            <a:r>
              <a:rPr lang="en-US" altLang="zh-CN" sz="2400" dirty="0">
                <a:solidFill>
                  <a:srgbClr val="FF0000"/>
                </a:solidFill>
              </a:rPr>
              <a:t>1. </a:t>
            </a:r>
            <a:r>
              <a:rPr lang="zh-CN" altLang="en-US" sz="2400" dirty="0">
                <a:solidFill>
                  <a:srgbClr val="FF0000"/>
                </a:solidFill>
              </a:rPr>
              <a:t>若某转移指令所在主存地址为</a:t>
            </a:r>
            <a:r>
              <a:rPr lang="en-US" altLang="zh-CN" sz="2400" dirty="0">
                <a:solidFill>
                  <a:srgbClr val="FF0000"/>
                </a:solidFill>
              </a:rPr>
              <a:t>2000H,</a:t>
            </a:r>
            <a:r>
              <a:rPr lang="zh-CN" altLang="en-US" sz="2400" dirty="0">
                <a:solidFill>
                  <a:srgbClr val="FF0000"/>
                </a:solidFill>
              </a:rPr>
              <a:t>相对位移量字段的内容为</a:t>
            </a:r>
            <a:r>
              <a:rPr lang="en-US" altLang="zh-CN" sz="2400" dirty="0">
                <a:solidFill>
                  <a:srgbClr val="FF0000"/>
                </a:solidFill>
              </a:rPr>
              <a:t>06H,</a:t>
            </a:r>
            <a:r>
              <a:rPr lang="zh-CN" altLang="en-US" sz="2400" dirty="0">
                <a:solidFill>
                  <a:srgbClr val="FF0000"/>
                </a:solidFill>
              </a:rPr>
              <a:t>则该转移指令成功转移以后的目标地址是</a:t>
            </a:r>
            <a:r>
              <a:rPr lang="en-US" altLang="zh-CN" sz="2400" dirty="0">
                <a:solidFill>
                  <a:srgbClr val="FF0000"/>
                </a:solidFill>
              </a:rPr>
              <a:t>()</a:t>
            </a:r>
            <a:endParaRPr lang="en-US" altLang="zh-CN" sz="2400" dirty="0">
              <a:solidFill>
                <a:srgbClr val="FF0000"/>
              </a:solidFill>
            </a:endParaRPr>
          </a:p>
          <a:p>
            <a:r>
              <a:rPr lang="en-US" altLang="zh-CN" sz="2400" dirty="0">
                <a:solidFill>
                  <a:srgbClr val="FF0000"/>
                </a:solidFill>
              </a:rPr>
              <a:t>A. 2006H</a:t>
            </a:r>
            <a:endParaRPr lang="en-US" altLang="zh-CN" sz="2400" dirty="0">
              <a:solidFill>
                <a:srgbClr val="FF0000"/>
              </a:solidFill>
            </a:endParaRPr>
          </a:p>
          <a:p>
            <a:r>
              <a:rPr lang="en-US" altLang="zh-CN" sz="2400" dirty="0">
                <a:solidFill>
                  <a:srgbClr val="FF0000"/>
                </a:solidFill>
              </a:rPr>
              <a:t>B. 2007H</a:t>
            </a:r>
            <a:endParaRPr lang="en-US" altLang="zh-CN" sz="2400" dirty="0">
              <a:solidFill>
                <a:srgbClr val="FF0000"/>
              </a:solidFill>
            </a:endParaRPr>
          </a:p>
          <a:p>
            <a:r>
              <a:rPr lang="en-US" altLang="zh-CN" sz="2400" dirty="0">
                <a:solidFill>
                  <a:srgbClr val="FF0000"/>
                </a:solidFill>
              </a:rPr>
              <a:t>C.2008H</a:t>
            </a:r>
            <a:endParaRPr lang="en-US" altLang="zh-CN" sz="2400" dirty="0">
              <a:solidFill>
                <a:srgbClr val="FF0000"/>
              </a:solidFill>
            </a:endParaRPr>
          </a:p>
          <a:p>
            <a:r>
              <a:rPr lang="en-US" altLang="zh-CN" sz="2400" dirty="0">
                <a:solidFill>
                  <a:srgbClr val="FF0000"/>
                </a:solidFill>
              </a:rPr>
              <a:t>D.2009H</a:t>
            </a:r>
            <a:endParaRPr lang="en-US" altLang="zh-CN" sz="2400" dirty="0">
              <a:solidFill>
                <a:srgbClr val="FF0000"/>
              </a:solidFill>
            </a:endParaRPr>
          </a:p>
          <a:p>
            <a:endParaRPr lang="en-US" altLang="zh-CN" sz="2400" dirty="0">
              <a:solidFill>
                <a:srgbClr val="FF0000"/>
              </a:solidFill>
            </a:endParaRPr>
          </a:p>
          <a:p>
            <a:endParaRPr lang="zh-CN" altLang="en-US" sz="2400"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	</a:t>
            </a:r>
            <a:endParaRPr lang="zh-CN" altLang="en-US" sz="3500" dirty="0"/>
          </a:p>
        </p:txBody>
      </p:sp>
      <p:sp>
        <p:nvSpPr>
          <p:cNvPr id="74755" name="Rectangle 3"/>
          <p:cNvSpPr>
            <a:spLocks noGrp="1" noChangeArrowheads="1"/>
          </p:cNvSpPr>
          <p:nvPr>
            <p:ph idx="1"/>
          </p:nvPr>
        </p:nvSpPr>
        <p:spPr>
          <a:xfrm>
            <a:off x="107950" y="549275"/>
            <a:ext cx="8604250" cy="49688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1) </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偏移寻址通过将某个寄存器内容与一个形式地址相加而生成有效地址</a:t>
            </a: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下列寻址方式中</a:t>
            </a: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不属于偏移寻址方式的是</a:t>
            </a: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a:t>
            </a: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A. </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间接寻址</a:t>
            </a: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B. </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基址寻址</a:t>
            </a: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C.</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相对寻址</a:t>
            </a: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D.</a:t>
            </a:r>
            <a:r>
              <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rPr>
              <a:t>变址寻址</a:t>
            </a: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en-US" altLang="zh-CN"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1" lang="zh-CN" altLang="en-US" sz="2400" b="0" i="0" u="none" strike="noStrike" kern="0" cap="none" spc="0" normalizeH="0" baseline="0" noProof="0" dirty="0" smtClean="0">
              <a:ln>
                <a:noFill/>
              </a:ln>
              <a:solidFill>
                <a:srgbClr val="FF0000"/>
              </a:solidFill>
              <a:effectLst/>
              <a:uLnTx/>
              <a:uFillTx/>
              <a:latin typeface="+mn-lt"/>
              <a:ea typeface="+mn-ea"/>
              <a:cs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468313" y="401638"/>
            <a:ext cx="7532687" cy="723900"/>
          </a:xfrm>
          <a:ln/>
        </p:spPr>
        <p:txBody>
          <a:bodyPr vert="horz" wrap="square" lIns="91440" tIns="45720" rIns="91440" bIns="45720" anchor="ctr" anchorCtr="0"/>
          <a:p>
            <a:r>
              <a:rPr lang="zh-CN" altLang="en-US" sz="3500" dirty="0"/>
              <a:t>	</a:t>
            </a:r>
            <a:endParaRPr lang="zh-CN" altLang="en-US" sz="3500" dirty="0"/>
          </a:p>
        </p:txBody>
      </p:sp>
      <p:sp>
        <p:nvSpPr>
          <p:cNvPr id="90115" name="Rectangle 3"/>
          <p:cNvSpPr>
            <a:spLocks noGrp="1"/>
          </p:cNvSpPr>
          <p:nvPr>
            <p:ph idx="1"/>
          </p:nvPr>
        </p:nvSpPr>
        <p:spPr>
          <a:xfrm>
            <a:off x="107950" y="549275"/>
            <a:ext cx="8604250" cy="4968875"/>
          </a:xfrm>
          <a:ln/>
        </p:spPr>
        <p:txBody>
          <a:bodyPr vert="horz" wrap="square" lIns="91440" tIns="45720" rIns="91440" bIns="45720" anchor="t" anchorCtr="0"/>
          <a:p>
            <a:pPr>
              <a:buNone/>
            </a:pPr>
            <a:r>
              <a:rPr lang="en-US" altLang="zh-CN" sz="2400" dirty="0">
                <a:solidFill>
                  <a:srgbClr val="FF0000"/>
                </a:solidFill>
              </a:rPr>
              <a:t>1)</a:t>
            </a:r>
            <a:r>
              <a:rPr lang="zh-CN" altLang="en-US" sz="2400" dirty="0">
                <a:solidFill>
                  <a:srgbClr val="FF0000"/>
                </a:solidFill>
              </a:rPr>
              <a:t>下列给出的指令系统特点中，有利于实现指令流水线的是</a:t>
            </a:r>
            <a:r>
              <a:rPr lang="en-US" altLang="zh-CN" sz="2400" dirty="0">
                <a:solidFill>
                  <a:srgbClr val="FF0000"/>
                </a:solidFill>
              </a:rPr>
              <a:t>()</a:t>
            </a:r>
            <a:endParaRPr lang="zh-CN" altLang="en-US" sz="2400" dirty="0">
              <a:solidFill>
                <a:srgbClr val="FF0000"/>
              </a:solidFill>
            </a:endParaRPr>
          </a:p>
          <a:p>
            <a:pPr>
              <a:buNone/>
            </a:pPr>
            <a:r>
              <a:rPr lang="en-US" altLang="zh-CN" sz="2400" dirty="0">
                <a:solidFill>
                  <a:srgbClr val="FF0000"/>
                </a:solidFill>
              </a:rPr>
              <a:t>Ⅰ. </a:t>
            </a:r>
            <a:r>
              <a:rPr lang="zh-CN" altLang="en-US" sz="2400" dirty="0">
                <a:solidFill>
                  <a:srgbClr val="FF0000"/>
                </a:solidFill>
              </a:rPr>
              <a:t>指令格式规整且长度一致      </a:t>
            </a:r>
            <a:endParaRPr lang="zh-CN" altLang="en-US" sz="2400" dirty="0">
              <a:solidFill>
                <a:srgbClr val="FF0000"/>
              </a:solidFill>
            </a:endParaRPr>
          </a:p>
          <a:p>
            <a:pPr>
              <a:buNone/>
            </a:pPr>
            <a:r>
              <a:rPr lang="en-US" altLang="zh-CN" sz="2400" dirty="0">
                <a:solidFill>
                  <a:srgbClr val="FF0000"/>
                </a:solidFill>
              </a:rPr>
              <a:t>Ⅱ</a:t>
            </a:r>
            <a:r>
              <a:rPr lang="zh-CN" altLang="en-US" sz="2400" dirty="0">
                <a:solidFill>
                  <a:srgbClr val="FF0000"/>
                </a:solidFill>
              </a:rPr>
              <a:t>．指令和数据按边界对齐存放</a:t>
            </a:r>
            <a:endParaRPr lang="zh-CN" altLang="en-US" sz="2400" dirty="0">
              <a:solidFill>
                <a:srgbClr val="FF0000"/>
              </a:solidFill>
            </a:endParaRPr>
          </a:p>
          <a:p>
            <a:pPr>
              <a:buNone/>
            </a:pPr>
            <a:r>
              <a:rPr lang="en-US" altLang="zh-CN" sz="2400" dirty="0">
                <a:solidFill>
                  <a:srgbClr val="FF0000"/>
                </a:solidFill>
              </a:rPr>
              <a:t>Ⅲ</a:t>
            </a:r>
            <a:r>
              <a:rPr lang="zh-CN" altLang="en-US" sz="2400" dirty="0">
                <a:solidFill>
                  <a:srgbClr val="FF0000"/>
                </a:solidFill>
              </a:rPr>
              <a:t>．只有</a:t>
            </a:r>
            <a:r>
              <a:rPr lang="en-US" altLang="zh-CN" sz="2400" dirty="0">
                <a:solidFill>
                  <a:srgbClr val="FF0000"/>
                </a:solidFill>
              </a:rPr>
              <a:t>Load/Store</a:t>
            </a:r>
            <a:r>
              <a:rPr lang="zh-CN" altLang="en-US" sz="2400" dirty="0">
                <a:solidFill>
                  <a:srgbClr val="FF0000"/>
                </a:solidFill>
              </a:rPr>
              <a:t>指令才能对操作数进行存储访问</a:t>
            </a:r>
            <a:endParaRPr lang="zh-CN" altLang="en-US" sz="2400" dirty="0">
              <a:solidFill>
                <a:srgbClr val="FF0000"/>
              </a:solidFill>
            </a:endParaRPr>
          </a:p>
          <a:p>
            <a:pPr>
              <a:buNone/>
            </a:pPr>
            <a:r>
              <a:rPr lang="zh-CN" altLang="en-US" sz="2400" dirty="0">
                <a:solidFill>
                  <a:srgbClr val="FF0000"/>
                </a:solidFill>
              </a:rPr>
              <a:t>    </a:t>
            </a:r>
            <a:r>
              <a:rPr lang="en-US" altLang="zh-CN" sz="2400" dirty="0">
                <a:solidFill>
                  <a:srgbClr val="FF0000"/>
                </a:solidFill>
              </a:rPr>
              <a:t>A</a:t>
            </a:r>
            <a:r>
              <a:rPr lang="zh-CN" altLang="en-US" sz="2400" dirty="0">
                <a:solidFill>
                  <a:srgbClr val="FF0000"/>
                </a:solidFill>
              </a:rPr>
              <a:t>．仅</a:t>
            </a:r>
            <a:r>
              <a:rPr lang="en-US" altLang="zh-CN" sz="2400" dirty="0">
                <a:solidFill>
                  <a:srgbClr val="FF0000"/>
                </a:solidFill>
              </a:rPr>
              <a:t>Ⅰ</a:t>
            </a:r>
            <a:r>
              <a:rPr lang="zh-CN" altLang="en-US" sz="2400" dirty="0">
                <a:solidFill>
                  <a:srgbClr val="FF0000"/>
                </a:solidFill>
              </a:rPr>
              <a:t>、</a:t>
            </a:r>
            <a:r>
              <a:rPr lang="en-US" altLang="zh-CN" sz="2400" dirty="0">
                <a:solidFill>
                  <a:srgbClr val="FF0000"/>
                </a:solidFill>
              </a:rPr>
              <a:t>Ⅱ        B</a:t>
            </a:r>
            <a:r>
              <a:rPr lang="zh-CN" altLang="en-US" sz="2400" dirty="0">
                <a:solidFill>
                  <a:srgbClr val="FF0000"/>
                </a:solidFill>
              </a:rPr>
              <a:t>．仅</a:t>
            </a:r>
            <a:r>
              <a:rPr lang="en-US" altLang="zh-CN" sz="2400" dirty="0">
                <a:solidFill>
                  <a:srgbClr val="FF0000"/>
                </a:solidFill>
              </a:rPr>
              <a:t>Ⅱ</a:t>
            </a:r>
            <a:r>
              <a:rPr lang="zh-CN" altLang="en-US" sz="2400" dirty="0">
                <a:solidFill>
                  <a:srgbClr val="FF0000"/>
                </a:solidFill>
              </a:rPr>
              <a:t>、</a:t>
            </a:r>
            <a:r>
              <a:rPr lang="en-US" altLang="zh-CN" sz="2400" dirty="0">
                <a:solidFill>
                  <a:srgbClr val="FF0000"/>
                </a:solidFill>
              </a:rPr>
              <a:t>Ⅲ</a:t>
            </a:r>
            <a:endParaRPr lang="zh-CN" altLang="en-US" sz="2400" dirty="0">
              <a:solidFill>
                <a:srgbClr val="FF0000"/>
              </a:solidFill>
            </a:endParaRPr>
          </a:p>
          <a:p>
            <a:pPr>
              <a:buNone/>
            </a:pPr>
            <a:r>
              <a:rPr lang="zh-CN" altLang="en-US" sz="2400" dirty="0">
                <a:solidFill>
                  <a:srgbClr val="FF0000"/>
                </a:solidFill>
              </a:rPr>
              <a:t>    </a:t>
            </a:r>
            <a:r>
              <a:rPr lang="en-US" altLang="zh-CN" sz="2400" dirty="0">
                <a:solidFill>
                  <a:srgbClr val="FF0000"/>
                </a:solidFill>
              </a:rPr>
              <a:t>C</a:t>
            </a:r>
            <a:r>
              <a:rPr lang="zh-CN" altLang="en-US" sz="2400" dirty="0">
                <a:solidFill>
                  <a:srgbClr val="FF0000"/>
                </a:solidFill>
              </a:rPr>
              <a:t>．仅</a:t>
            </a:r>
            <a:r>
              <a:rPr lang="en-US" altLang="zh-CN" sz="2400" dirty="0">
                <a:solidFill>
                  <a:srgbClr val="FF0000"/>
                </a:solidFill>
              </a:rPr>
              <a:t>Ⅰ</a:t>
            </a:r>
            <a:r>
              <a:rPr lang="zh-CN" altLang="en-US" sz="2400" dirty="0">
                <a:solidFill>
                  <a:srgbClr val="FF0000"/>
                </a:solidFill>
              </a:rPr>
              <a:t>、</a:t>
            </a:r>
            <a:r>
              <a:rPr lang="en-US" altLang="zh-CN" sz="2400" dirty="0">
                <a:solidFill>
                  <a:srgbClr val="FF0000"/>
                </a:solidFill>
              </a:rPr>
              <a:t>Ⅲ       </a:t>
            </a:r>
            <a:r>
              <a:rPr lang="zh-CN" altLang="en-US" sz="2400" dirty="0">
                <a:solidFill>
                  <a:srgbClr val="FF0000"/>
                </a:solidFill>
              </a:rPr>
              <a:t> </a:t>
            </a:r>
            <a:r>
              <a:rPr lang="en-US" altLang="zh-CN" sz="2400" dirty="0">
                <a:solidFill>
                  <a:srgbClr val="FF0000"/>
                </a:solidFill>
              </a:rPr>
              <a:t>D</a:t>
            </a:r>
            <a:r>
              <a:rPr lang="zh-CN" altLang="en-US" sz="2400" dirty="0">
                <a:solidFill>
                  <a:srgbClr val="FF0000"/>
                </a:solidFill>
              </a:rPr>
              <a:t>．</a:t>
            </a:r>
            <a:r>
              <a:rPr lang="en-US" altLang="zh-CN" sz="2400" dirty="0">
                <a:solidFill>
                  <a:srgbClr val="FF0000"/>
                </a:solidFill>
              </a:rPr>
              <a:t>Ⅰ</a:t>
            </a:r>
            <a:r>
              <a:rPr lang="zh-CN" altLang="en-US" sz="2400" dirty="0">
                <a:solidFill>
                  <a:srgbClr val="FF0000"/>
                </a:solidFill>
              </a:rPr>
              <a:t>、</a:t>
            </a:r>
            <a:r>
              <a:rPr lang="en-US" altLang="zh-CN" sz="2400" dirty="0">
                <a:solidFill>
                  <a:srgbClr val="FF0000"/>
                </a:solidFill>
              </a:rPr>
              <a:t>Ⅱ</a:t>
            </a:r>
            <a:r>
              <a:rPr lang="zh-CN" altLang="en-US" sz="2400" dirty="0">
                <a:solidFill>
                  <a:srgbClr val="FF0000"/>
                </a:solidFill>
              </a:rPr>
              <a:t>、</a:t>
            </a:r>
            <a:r>
              <a:rPr lang="en-US" altLang="zh-CN" sz="2400" dirty="0">
                <a:solidFill>
                  <a:srgbClr val="FF0000"/>
                </a:solidFill>
              </a:rPr>
              <a:t>Ⅲ</a:t>
            </a:r>
            <a:endParaRPr lang="en-US" altLang="zh-CN" sz="2400" dirty="0">
              <a:solidFill>
                <a:srgbClr val="FF0000"/>
              </a:solidFill>
            </a:endParaRPr>
          </a:p>
          <a:p>
            <a:pPr>
              <a:buNone/>
            </a:pPr>
            <a:endParaRPr lang="en-US" altLang="zh-CN" sz="2400" dirty="0">
              <a:solidFill>
                <a:srgbClr val="FF0000"/>
              </a:solidFill>
            </a:endParaRPr>
          </a:p>
          <a:p>
            <a:pPr>
              <a:buNone/>
            </a:pPr>
            <a:endParaRPr lang="zh-CN" altLang="en-US" sz="2400" dirty="0"/>
          </a:p>
          <a:p>
            <a:endParaRPr lang="en-US" altLang="zh-CN" sz="2400" dirty="0">
              <a:solidFill>
                <a:srgbClr val="FF0000"/>
              </a:solidFill>
            </a:endParaRPr>
          </a:p>
          <a:p>
            <a:endParaRPr lang="zh-CN" altLang="en-US" sz="2400" dirty="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2" name="Picture 2"/>
          <p:cNvPicPr>
            <a:picLocks noChangeAspect="1"/>
          </p:cNvPicPr>
          <p:nvPr/>
        </p:nvPicPr>
        <p:blipFill>
          <a:blip r:embed="rId1"/>
          <a:stretch>
            <a:fillRect/>
          </a:stretch>
        </p:blipFill>
        <p:spPr>
          <a:xfrm>
            <a:off x="539750" y="952500"/>
            <a:ext cx="7920038" cy="2405063"/>
          </a:xfrm>
          <a:prstGeom prst="rect">
            <a:avLst/>
          </a:prstGeom>
          <a:noFill/>
          <a:ln w="9525">
            <a:noFill/>
          </a:ln>
        </p:spPr>
      </p:pic>
      <p:sp>
        <p:nvSpPr>
          <p:cNvPr id="92163" name="Rectangle 2"/>
          <p:cNvSpPr>
            <a:spLocks noGrp="1"/>
          </p:cNvSpPr>
          <p:nvPr>
            <p:ph type="title"/>
          </p:nvPr>
        </p:nvSpPr>
        <p:spPr>
          <a:xfrm>
            <a:off x="468313" y="184150"/>
            <a:ext cx="7532687" cy="723900"/>
          </a:xfrm>
          <a:ln/>
        </p:spPr>
        <p:txBody>
          <a:bodyPr vert="horz" wrap="square" lIns="91440" tIns="45720" rIns="91440" bIns="45720" anchor="ctr" anchorCtr="0"/>
          <a:p>
            <a:r>
              <a:rPr lang="zh-CN" altLang="en-US" sz="3500" dirty="0"/>
              <a:t>	</a:t>
            </a:r>
            <a:endParaRPr lang="zh-CN" altLang="en-US" sz="3500" dirty="0"/>
          </a:p>
        </p:txBody>
      </p:sp>
      <p:sp>
        <p:nvSpPr>
          <p:cNvPr id="92164" name="Rectangle 3"/>
          <p:cNvSpPr>
            <a:spLocks noGrp="1"/>
          </p:cNvSpPr>
          <p:nvPr>
            <p:ph idx="1"/>
          </p:nvPr>
        </p:nvSpPr>
        <p:spPr>
          <a:xfrm>
            <a:off x="198438" y="77788"/>
            <a:ext cx="8604250" cy="936625"/>
          </a:xfrm>
          <a:ln/>
        </p:spPr>
        <p:txBody>
          <a:bodyPr vert="horz" wrap="square" lIns="91440" tIns="45720" rIns="91440" bIns="45720" anchor="t" anchorCtr="0"/>
          <a:p>
            <a:pPr>
              <a:buNone/>
            </a:pPr>
            <a:r>
              <a:rPr lang="en-US" altLang="zh-CN" sz="2400" dirty="0">
                <a:solidFill>
                  <a:srgbClr val="FF0000"/>
                </a:solidFill>
              </a:rPr>
              <a:t>[1]</a:t>
            </a:r>
            <a:r>
              <a:rPr lang="zh-CN" altLang="en-US" sz="2400" dirty="0">
                <a:solidFill>
                  <a:srgbClr val="FF0000"/>
                </a:solidFill>
              </a:rPr>
              <a:t>   </a:t>
            </a:r>
            <a:r>
              <a:rPr lang="zh-CN" altLang="en-US" sz="1800" dirty="0">
                <a:solidFill>
                  <a:srgbClr val="FF0000"/>
                </a:solidFill>
              </a:rPr>
              <a:t> </a:t>
            </a:r>
            <a:r>
              <a:rPr lang="zh-CN" altLang="en-US" sz="1800" dirty="0"/>
              <a:t>某计算机字长为</a:t>
            </a:r>
            <a:r>
              <a:rPr lang="en-US" altLang="zh-CN" sz="1800" dirty="0"/>
              <a:t>16</a:t>
            </a:r>
            <a:r>
              <a:rPr lang="zh-CN" altLang="en-US" sz="1800" dirty="0"/>
              <a:t>位，主存地址空间大小为</a:t>
            </a:r>
            <a:r>
              <a:rPr lang="en-US" altLang="zh-CN" sz="1800" dirty="0"/>
              <a:t>128KB</a:t>
            </a:r>
            <a:r>
              <a:rPr lang="zh-CN" altLang="en-US" sz="1800" dirty="0"/>
              <a:t>，按字编址，采用字长指令格式，指令名字段定义如下：</a:t>
            </a:r>
            <a:endParaRPr lang="en-US" altLang="zh-CN" sz="1800" dirty="0"/>
          </a:p>
          <a:p>
            <a:pPr>
              <a:buNone/>
            </a:pPr>
            <a:endParaRPr lang="en-US" altLang="zh-CN" sz="1800" dirty="0"/>
          </a:p>
          <a:p>
            <a:pPr>
              <a:buNone/>
            </a:pPr>
            <a:endParaRPr lang="en-US" altLang="zh-CN" sz="1800" dirty="0"/>
          </a:p>
          <a:p>
            <a:pPr>
              <a:buNone/>
            </a:pPr>
            <a:endParaRPr lang="en-US" altLang="zh-CN" sz="1800" dirty="0"/>
          </a:p>
          <a:p>
            <a:pPr>
              <a:buNone/>
            </a:pPr>
            <a:endParaRPr lang="en-US" altLang="zh-CN" sz="1800" dirty="0"/>
          </a:p>
          <a:p>
            <a:pPr>
              <a:buNone/>
            </a:pPr>
            <a:endParaRPr lang="en-US" altLang="zh-CN" sz="1800" dirty="0"/>
          </a:p>
          <a:p>
            <a:pPr>
              <a:buNone/>
            </a:pPr>
            <a:endParaRPr lang="zh-CN" altLang="en-US" sz="1800" dirty="0"/>
          </a:p>
          <a:p>
            <a:pPr>
              <a:buNone/>
            </a:pPr>
            <a:endParaRPr lang="en-US" altLang="zh-CN" sz="1800" dirty="0">
              <a:solidFill>
                <a:srgbClr val="FF0000"/>
              </a:solidFill>
            </a:endParaRPr>
          </a:p>
          <a:p>
            <a:pPr>
              <a:buNone/>
            </a:pPr>
            <a:endParaRPr lang="en-US" altLang="zh-CN" sz="1800" dirty="0">
              <a:solidFill>
                <a:srgbClr val="FF0000"/>
              </a:solidFill>
            </a:endParaRPr>
          </a:p>
          <a:p>
            <a:pPr>
              <a:buNone/>
            </a:pPr>
            <a:endParaRPr lang="en-US" altLang="zh-CN" sz="1800" dirty="0">
              <a:solidFill>
                <a:srgbClr val="FF0000"/>
              </a:solidFill>
            </a:endParaRPr>
          </a:p>
          <a:p>
            <a:pPr>
              <a:buNone/>
            </a:pPr>
            <a:endParaRPr lang="en-US" altLang="zh-CN" sz="1800" dirty="0">
              <a:solidFill>
                <a:srgbClr val="FF0000"/>
              </a:solidFill>
            </a:endParaRPr>
          </a:p>
          <a:p>
            <a:pPr>
              <a:buNone/>
            </a:pPr>
            <a:endParaRPr lang="en-US" altLang="zh-CN" sz="1800" dirty="0">
              <a:solidFill>
                <a:srgbClr val="FF0000"/>
              </a:solidFill>
            </a:endParaRPr>
          </a:p>
          <a:p>
            <a:pPr>
              <a:buNone/>
            </a:pPr>
            <a:r>
              <a:rPr lang="en-US" altLang="zh-CN" sz="1800" dirty="0">
                <a:solidFill>
                  <a:srgbClr val="FF0000"/>
                </a:solidFill>
              </a:rPr>
              <a:t>   (1)</a:t>
            </a:r>
            <a:r>
              <a:rPr lang="zh-CN" altLang="en-US" sz="1800" dirty="0">
                <a:solidFill>
                  <a:srgbClr val="FF0000"/>
                </a:solidFill>
              </a:rPr>
              <a:t>该指令系统最多可有多少条指令</a:t>
            </a:r>
            <a:r>
              <a:rPr lang="en-US" altLang="zh-CN" sz="1800" dirty="0">
                <a:solidFill>
                  <a:srgbClr val="FF0000"/>
                </a:solidFill>
              </a:rPr>
              <a:t>?</a:t>
            </a:r>
            <a:r>
              <a:rPr lang="zh-CN" altLang="en-US" sz="1800" dirty="0">
                <a:solidFill>
                  <a:srgbClr val="FF0000"/>
                </a:solidFill>
              </a:rPr>
              <a:t>该计算机最多有多少个通用寄存器</a:t>
            </a:r>
            <a:r>
              <a:rPr lang="en-US" altLang="zh-CN" sz="1800" dirty="0">
                <a:solidFill>
                  <a:srgbClr val="FF0000"/>
                </a:solidFill>
              </a:rPr>
              <a:t>?</a:t>
            </a:r>
            <a:r>
              <a:rPr lang="zh-CN" altLang="en-US" sz="1800" dirty="0">
                <a:solidFill>
                  <a:srgbClr val="FF0000"/>
                </a:solidFill>
              </a:rPr>
              <a:t>存储器地址寄存器</a:t>
            </a:r>
            <a:r>
              <a:rPr lang="en-US" altLang="zh-CN" sz="1800" dirty="0">
                <a:solidFill>
                  <a:srgbClr val="FF0000"/>
                </a:solidFill>
              </a:rPr>
              <a:t>(MAR)</a:t>
            </a:r>
            <a:r>
              <a:rPr lang="zh-CN" altLang="en-US" sz="1800" dirty="0">
                <a:solidFill>
                  <a:srgbClr val="FF0000"/>
                </a:solidFill>
              </a:rPr>
              <a:t>至少各需多少位</a:t>
            </a:r>
            <a:r>
              <a:rPr lang="en-US" altLang="zh-CN" sz="1800" dirty="0">
                <a:solidFill>
                  <a:srgbClr val="FF0000"/>
                </a:solidFill>
              </a:rPr>
              <a:t>?   (2)</a:t>
            </a:r>
            <a:r>
              <a:rPr lang="zh-CN" altLang="en-US" sz="1800" dirty="0">
                <a:solidFill>
                  <a:srgbClr val="FF0000"/>
                </a:solidFill>
              </a:rPr>
              <a:t>转移指令的目标地址范围是多少</a:t>
            </a:r>
            <a:r>
              <a:rPr lang="en-US" altLang="zh-CN" sz="1800" dirty="0">
                <a:solidFill>
                  <a:srgbClr val="FF0000"/>
                </a:solidFill>
              </a:rPr>
              <a:t>?   </a:t>
            </a:r>
            <a:endParaRPr lang="en-US" altLang="zh-CN" sz="1800" dirty="0">
              <a:solidFill>
                <a:srgbClr val="FF0000"/>
              </a:solidFill>
            </a:endParaRPr>
          </a:p>
          <a:p>
            <a:pPr>
              <a:buNone/>
            </a:pPr>
            <a:r>
              <a:rPr lang="en-US" altLang="zh-CN" sz="1800" dirty="0">
                <a:solidFill>
                  <a:srgbClr val="FF0000"/>
                </a:solidFill>
              </a:rPr>
              <a:t>    (3)</a:t>
            </a:r>
            <a:r>
              <a:rPr lang="zh-CN" altLang="en-US" sz="1800" dirty="0">
                <a:solidFill>
                  <a:srgbClr val="FF0000"/>
                </a:solidFill>
              </a:rPr>
              <a:t>若操作码</a:t>
            </a:r>
            <a:r>
              <a:rPr lang="en-US" altLang="zh-CN" sz="1800" dirty="0">
                <a:solidFill>
                  <a:srgbClr val="FF0000"/>
                </a:solidFill>
              </a:rPr>
              <a:t>0010B</a:t>
            </a:r>
            <a:r>
              <a:rPr lang="zh-CN" altLang="en-US" sz="1800" dirty="0">
                <a:solidFill>
                  <a:srgbClr val="FF0000"/>
                </a:solidFill>
              </a:rPr>
              <a:t>表示加法操作</a:t>
            </a:r>
            <a:r>
              <a:rPr lang="en-US" altLang="zh-CN" sz="1800" dirty="0">
                <a:solidFill>
                  <a:srgbClr val="FF0000"/>
                </a:solidFill>
              </a:rPr>
              <a:t>(</a:t>
            </a:r>
            <a:r>
              <a:rPr lang="zh-CN" altLang="en-US" sz="1800" dirty="0">
                <a:solidFill>
                  <a:srgbClr val="FF0000"/>
                </a:solidFill>
              </a:rPr>
              <a:t>助记符为</a:t>
            </a:r>
            <a:r>
              <a:rPr lang="en-US" altLang="zh-CN" sz="1800" dirty="0">
                <a:solidFill>
                  <a:srgbClr val="FF0000"/>
                </a:solidFill>
              </a:rPr>
              <a:t>a d d)</a:t>
            </a:r>
            <a:r>
              <a:rPr lang="zh-CN" altLang="en-US" sz="1800" dirty="0">
                <a:solidFill>
                  <a:srgbClr val="FF0000"/>
                </a:solidFill>
              </a:rPr>
              <a:t>，寄存器</a:t>
            </a:r>
            <a:r>
              <a:rPr lang="en-US" altLang="zh-CN" sz="1800" dirty="0">
                <a:solidFill>
                  <a:srgbClr val="FF0000"/>
                </a:solidFill>
              </a:rPr>
              <a:t>R4</a:t>
            </a:r>
            <a:r>
              <a:rPr lang="zh-CN" altLang="en-US" sz="1800" dirty="0">
                <a:solidFill>
                  <a:srgbClr val="FF0000"/>
                </a:solidFill>
              </a:rPr>
              <a:t>和</a:t>
            </a:r>
            <a:r>
              <a:rPr lang="en-US" altLang="zh-CN" sz="1800" dirty="0">
                <a:solidFill>
                  <a:srgbClr val="FF0000"/>
                </a:solidFill>
              </a:rPr>
              <a:t>R5</a:t>
            </a:r>
            <a:r>
              <a:rPr lang="zh-CN" altLang="en-US" sz="1800" dirty="0">
                <a:solidFill>
                  <a:srgbClr val="FF0000"/>
                </a:solidFill>
              </a:rPr>
              <a:t>的编号分别为</a:t>
            </a:r>
            <a:r>
              <a:rPr lang="en-US" altLang="zh-CN" sz="1800" dirty="0">
                <a:solidFill>
                  <a:srgbClr val="FF0000"/>
                </a:solidFill>
              </a:rPr>
              <a:t>100B</a:t>
            </a:r>
            <a:r>
              <a:rPr lang="zh-CN" altLang="en-US" sz="1800" dirty="0">
                <a:solidFill>
                  <a:srgbClr val="FF0000"/>
                </a:solidFill>
              </a:rPr>
              <a:t>和</a:t>
            </a:r>
            <a:r>
              <a:rPr lang="en-US" altLang="zh-CN" sz="1800" dirty="0">
                <a:solidFill>
                  <a:srgbClr val="FF0000"/>
                </a:solidFill>
              </a:rPr>
              <a:t>101B</a:t>
            </a:r>
            <a:r>
              <a:rPr lang="zh-CN" altLang="en-US" sz="1800" dirty="0">
                <a:solidFill>
                  <a:srgbClr val="FF0000"/>
                </a:solidFill>
              </a:rPr>
              <a:t>，</a:t>
            </a:r>
            <a:r>
              <a:rPr lang="en-US" altLang="zh-CN" sz="1800" dirty="0">
                <a:solidFill>
                  <a:srgbClr val="FF0000"/>
                </a:solidFill>
              </a:rPr>
              <a:t>R4</a:t>
            </a:r>
            <a:r>
              <a:rPr lang="zh-CN" altLang="en-US" sz="1800" dirty="0">
                <a:solidFill>
                  <a:srgbClr val="FF0000"/>
                </a:solidFill>
              </a:rPr>
              <a:t>的内容为</a:t>
            </a:r>
            <a:r>
              <a:rPr lang="en-US" altLang="zh-CN" sz="1800" dirty="0">
                <a:solidFill>
                  <a:srgbClr val="FF0000"/>
                </a:solidFill>
              </a:rPr>
              <a:t>1 2 3 4 H</a:t>
            </a:r>
            <a:r>
              <a:rPr lang="zh-CN" altLang="en-US" sz="1800" dirty="0">
                <a:solidFill>
                  <a:srgbClr val="FF0000"/>
                </a:solidFill>
              </a:rPr>
              <a:t>，</a:t>
            </a:r>
            <a:r>
              <a:rPr lang="en-US" altLang="zh-CN" sz="1800" dirty="0">
                <a:solidFill>
                  <a:srgbClr val="FF0000"/>
                </a:solidFill>
              </a:rPr>
              <a:t>R5</a:t>
            </a:r>
            <a:r>
              <a:rPr lang="zh-CN" altLang="en-US" sz="1800" dirty="0">
                <a:solidFill>
                  <a:srgbClr val="FF0000"/>
                </a:solidFill>
              </a:rPr>
              <a:t>的内容为</a:t>
            </a:r>
            <a:r>
              <a:rPr lang="en-US" altLang="zh-CN" sz="1800" dirty="0">
                <a:solidFill>
                  <a:srgbClr val="FF0000"/>
                </a:solidFill>
              </a:rPr>
              <a:t>5 6 7 8 H</a:t>
            </a:r>
            <a:r>
              <a:rPr lang="zh-CN" altLang="en-US" sz="1800" dirty="0">
                <a:solidFill>
                  <a:srgbClr val="FF0000"/>
                </a:solidFill>
              </a:rPr>
              <a:t>，地址</a:t>
            </a:r>
            <a:r>
              <a:rPr lang="en-US" altLang="zh-CN" sz="1800" dirty="0">
                <a:solidFill>
                  <a:srgbClr val="FF0000"/>
                </a:solidFill>
              </a:rPr>
              <a:t>1 2 3 4 H</a:t>
            </a:r>
            <a:r>
              <a:rPr lang="zh-CN" altLang="en-US" sz="1800" dirty="0">
                <a:solidFill>
                  <a:srgbClr val="FF0000"/>
                </a:solidFill>
              </a:rPr>
              <a:t>中的内容为</a:t>
            </a:r>
            <a:r>
              <a:rPr lang="en-US" altLang="zh-CN" sz="1800" dirty="0">
                <a:solidFill>
                  <a:srgbClr val="FF0000"/>
                </a:solidFill>
              </a:rPr>
              <a:t>5 6 7 8 H</a:t>
            </a:r>
            <a:r>
              <a:rPr lang="zh-CN" altLang="en-US" sz="1800" dirty="0">
                <a:solidFill>
                  <a:srgbClr val="FF0000"/>
                </a:solidFill>
              </a:rPr>
              <a:t>，地址</a:t>
            </a:r>
            <a:r>
              <a:rPr lang="en-US" altLang="zh-CN" sz="1800" dirty="0">
                <a:solidFill>
                  <a:srgbClr val="FF0000"/>
                </a:solidFill>
              </a:rPr>
              <a:t>5678H</a:t>
            </a:r>
            <a:r>
              <a:rPr lang="zh-CN" altLang="en-US" sz="1800" dirty="0">
                <a:solidFill>
                  <a:srgbClr val="FF0000"/>
                </a:solidFill>
              </a:rPr>
              <a:t>中的内容为</a:t>
            </a:r>
            <a:r>
              <a:rPr lang="en-US" altLang="zh-CN" sz="1800" dirty="0">
                <a:solidFill>
                  <a:srgbClr val="FF0000"/>
                </a:solidFill>
              </a:rPr>
              <a:t>1 2 3 4 H</a:t>
            </a:r>
            <a:r>
              <a:rPr lang="zh-CN" altLang="en-US" sz="1800" dirty="0">
                <a:solidFill>
                  <a:srgbClr val="FF0000"/>
                </a:solidFill>
              </a:rPr>
              <a:t>，则汇编语言为</a:t>
            </a:r>
            <a:r>
              <a:rPr lang="en-US" altLang="zh-CN" sz="1800" dirty="0">
                <a:solidFill>
                  <a:srgbClr val="FF0000"/>
                </a:solidFill>
              </a:rPr>
              <a:t>a d d(R4),(R5)+(</a:t>
            </a:r>
            <a:r>
              <a:rPr lang="zh-CN" altLang="en-US" sz="1800" dirty="0">
                <a:solidFill>
                  <a:srgbClr val="FF0000"/>
                </a:solidFill>
              </a:rPr>
              <a:t>逗号前源操作数，逗号后为目的操作数</a:t>
            </a:r>
            <a:r>
              <a:rPr lang="en-US" altLang="zh-CN" sz="1800" dirty="0">
                <a:solidFill>
                  <a:srgbClr val="FF0000"/>
                </a:solidFill>
              </a:rPr>
              <a:t>)</a:t>
            </a:r>
            <a:r>
              <a:rPr lang="zh-CN" altLang="en-US" sz="1800" dirty="0">
                <a:solidFill>
                  <a:srgbClr val="FF0000"/>
                </a:solidFill>
              </a:rPr>
              <a:t>对应的机器码是什么</a:t>
            </a:r>
            <a:r>
              <a:rPr lang="en-US" altLang="zh-CN" sz="1800" dirty="0">
                <a:solidFill>
                  <a:srgbClr val="FF0000"/>
                </a:solidFill>
              </a:rPr>
              <a:t>(</a:t>
            </a:r>
            <a:r>
              <a:rPr lang="zh-CN" altLang="en-US" sz="1800" dirty="0">
                <a:solidFill>
                  <a:srgbClr val="FF0000"/>
                </a:solidFill>
              </a:rPr>
              <a:t>用十六进制表示</a:t>
            </a:r>
            <a:r>
              <a:rPr lang="en-US" altLang="zh-CN" sz="1800" dirty="0">
                <a:solidFill>
                  <a:srgbClr val="FF0000"/>
                </a:solidFill>
              </a:rPr>
              <a:t>)?</a:t>
            </a:r>
            <a:r>
              <a:rPr lang="zh-CN" altLang="en-US" sz="1800" dirty="0">
                <a:solidFill>
                  <a:srgbClr val="FF0000"/>
                </a:solidFill>
              </a:rPr>
              <a:t>该指令执行后，哪些寄存器和存储单元的内容会改变</a:t>
            </a:r>
            <a:r>
              <a:rPr lang="en-US" altLang="zh-CN" sz="1800" dirty="0">
                <a:solidFill>
                  <a:srgbClr val="FF0000"/>
                </a:solidFill>
              </a:rPr>
              <a:t>?</a:t>
            </a:r>
            <a:r>
              <a:rPr lang="zh-CN" altLang="en-US" sz="1800" dirty="0">
                <a:solidFill>
                  <a:srgbClr val="FF0000"/>
                </a:solidFill>
              </a:rPr>
              <a:t>改变后的内容是什么</a:t>
            </a:r>
            <a:r>
              <a:rPr lang="en-US" altLang="zh-CN" sz="1800" dirty="0">
                <a:solidFill>
                  <a:srgbClr val="FF0000"/>
                </a:solidFill>
              </a:rPr>
              <a:t>?</a:t>
            </a:r>
            <a:endParaRPr lang="en-US" altLang="zh-CN" sz="1800" dirty="0">
              <a:solidFill>
                <a:srgbClr val="FF0000"/>
              </a:solidFill>
            </a:endParaRPr>
          </a:p>
          <a:p>
            <a:pPr>
              <a:buNone/>
            </a:pPr>
            <a:endParaRPr lang="zh-CN" altLang="en-US" sz="2400" dirty="0"/>
          </a:p>
          <a:p>
            <a:endParaRPr lang="en-US" altLang="zh-CN" sz="2400" dirty="0">
              <a:solidFill>
                <a:srgbClr val="FF0000"/>
              </a:solidFill>
            </a:endParaRPr>
          </a:p>
          <a:p>
            <a:endParaRPr lang="zh-CN" altLang="en-US" sz="2400" dirty="0">
              <a:solidFill>
                <a:srgbClr val="FF0000"/>
              </a:solidFill>
            </a:endParaRPr>
          </a:p>
        </p:txBody>
      </p:sp>
      <p:pic>
        <p:nvPicPr>
          <p:cNvPr id="92165" name="Picture 5"/>
          <p:cNvPicPr>
            <a:picLocks noChangeAspect="1"/>
          </p:cNvPicPr>
          <p:nvPr/>
        </p:nvPicPr>
        <p:blipFill>
          <a:blip r:embed="rId2"/>
          <a:stretch>
            <a:fillRect/>
          </a:stretch>
        </p:blipFill>
        <p:spPr>
          <a:xfrm>
            <a:off x="971550" y="3213100"/>
            <a:ext cx="7056438" cy="1230313"/>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468313" y="531813"/>
            <a:ext cx="7532687" cy="520700"/>
          </a:xfrm>
          <a:ln/>
        </p:spPr>
        <p:txBody>
          <a:bodyPr vert="horz" wrap="square" lIns="91440" tIns="45720" rIns="91440" bIns="45720" anchor="ctr" anchorCtr="0"/>
          <a:p>
            <a:r>
              <a:rPr lang="zh-CN" altLang="en-US" dirty="0"/>
              <a:t>本 章 小 结</a:t>
            </a:r>
            <a:endParaRPr lang="zh-CN" altLang="en-US" dirty="0"/>
          </a:p>
        </p:txBody>
      </p:sp>
      <p:sp>
        <p:nvSpPr>
          <p:cNvPr id="94211" name="Rectangle 3"/>
          <p:cNvSpPr/>
          <p:nvPr>
            <p:ph idx="1"/>
          </p:nvPr>
        </p:nvSpPr>
        <p:spPr>
          <a:xfrm>
            <a:off x="179388" y="1223963"/>
            <a:ext cx="8424862" cy="5084762"/>
          </a:xfrm>
          <a:ln/>
        </p:spPr>
        <p:txBody>
          <a:bodyPr vert="horz" wrap="square" lIns="91440" tIns="45720" rIns="91440" bIns="45720" anchor="t" anchorCtr="0"/>
          <a:p>
            <a:pPr>
              <a:buNone/>
            </a:pPr>
            <a:r>
              <a:rPr lang="en-US" altLang="zh-CN" sz="2800" dirty="0"/>
              <a:t>     </a:t>
            </a:r>
            <a:r>
              <a:rPr lang="zh-CN" altLang="en-US" sz="2800" dirty="0">
                <a:solidFill>
                  <a:srgbClr val="3333FF"/>
                </a:solidFill>
              </a:rPr>
              <a:t>一台计算机中所有机器指令的集合，称为这台计算机的指令系统。指令系统是表征一台计算机性能的重要因素，它的格式与功能不仅直接影响到机器的硬件结构，而且也影响到系统软件。指令格式是指令字用二进制代码表示的结构形式，通常由操作码字段和地址码字段组成。</a:t>
            </a:r>
            <a:endParaRPr lang="zh-CN" altLang="en-US" sz="2800" dirty="0">
              <a:solidFill>
                <a:srgbClr val="3333FF"/>
              </a:solidFill>
            </a:endParaRPr>
          </a:p>
          <a:p>
            <a:pPr>
              <a:buNone/>
            </a:pPr>
            <a:r>
              <a:rPr lang="zh-CN" altLang="en-US" sz="2800" dirty="0"/>
              <a:t>    </a:t>
            </a:r>
            <a:r>
              <a:rPr lang="zh-CN" altLang="en-US" sz="2800" dirty="0">
                <a:solidFill>
                  <a:srgbClr val="FF3300"/>
                </a:solidFill>
              </a:rPr>
              <a:t>操作码字段表征指令的操作特性与功能，而地址码字段指示操作数的地址。</a:t>
            </a:r>
            <a:endParaRPr lang="zh-CN" altLang="en-US" sz="2800" dirty="0">
              <a:solidFill>
                <a:srgbClr val="FF3300"/>
              </a:solidFill>
            </a:endParaRPr>
          </a:p>
          <a:p>
            <a:pPr>
              <a:buNone/>
            </a:pPr>
            <a:r>
              <a:rPr lang="zh-CN" altLang="en-US" sz="2800" dirty="0"/>
              <a:t>    目前多采用二地址、单地址、零地址混合方式的指令格式。指令字长度分为：单字长、半字长、双字长三种形式。高档微机采用</a:t>
            </a:r>
            <a:r>
              <a:rPr lang="en-US" altLang="zh-CN" sz="2800" dirty="0"/>
              <a:t>32</a:t>
            </a:r>
            <a:r>
              <a:rPr lang="zh-CN" altLang="en-US" sz="2800" dirty="0"/>
              <a:t>位长度的单字长形式。</a:t>
            </a:r>
            <a:endParaRPr lang="zh-CN" alt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457200" y="333375"/>
            <a:ext cx="8229600" cy="1371600"/>
          </a:xfrm>
          <a:ln/>
        </p:spPr>
        <p:txBody>
          <a:bodyPr vert="horz" wrap="square" lIns="91440" tIns="45720" rIns="91440" bIns="45720" anchor="ctr" anchorCtr="0"/>
          <a:p>
            <a:r>
              <a:rPr lang="zh-CN" altLang="en-US" dirty="0"/>
              <a:t>本 章 小 结</a:t>
            </a:r>
            <a:endParaRPr lang="zh-CN" altLang="en-US" dirty="0"/>
          </a:p>
        </p:txBody>
      </p:sp>
      <p:sp>
        <p:nvSpPr>
          <p:cNvPr id="95235" name="Rectangle 3"/>
          <p:cNvSpPr>
            <a:spLocks noGrp="1"/>
          </p:cNvSpPr>
          <p:nvPr>
            <p:ph idx="1"/>
          </p:nvPr>
        </p:nvSpPr>
        <p:spPr>
          <a:xfrm>
            <a:off x="457200" y="1557338"/>
            <a:ext cx="8229600" cy="3886200"/>
          </a:xfrm>
          <a:ln/>
        </p:spPr>
        <p:txBody>
          <a:bodyPr vert="horz" wrap="square" lIns="91440" tIns="45720" rIns="91440" bIns="45720" anchor="t" anchorCtr="0"/>
          <a:p>
            <a:pPr>
              <a:lnSpc>
                <a:spcPct val="80000"/>
              </a:lnSpc>
              <a:buNone/>
            </a:pPr>
            <a:r>
              <a:rPr lang="en-US" altLang="zh-CN" sz="2900" dirty="0"/>
              <a:t>           </a:t>
            </a:r>
            <a:r>
              <a:rPr lang="zh-CN" altLang="en-US" sz="2900" dirty="0"/>
              <a:t>形成指令地址的方式，称为指令寻址方式。有顺序寻址和跳跃寻址两种，由指令计数器来跟踪。</a:t>
            </a:r>
            <a:endParaRPr lang="zh-CN" altLang="en-US" sz="2900" dirty="0"/>
          </a:p>
          <a:p>
            <a:pPr>
              <a:lnSpc>
                <a:spcPct val="80000"/>
              </a:lnSpc>
              <a:buNone/>
            </a:pPr>
            <a:r>
              <a:rPr lang="zh-CN" altLang="en-US" sz="2900" dirty="0"/>
              <a:t>           形成操作数地址的方式，称为数据寻址方式。操作数可放在专用寄存器、通用寄存器、内存和指令中。</a:t>
            </a:r>
            <a:endParaRPr lang="zh-CN" altLang="en-US" sz="2900" dirty="0"/>
          </a:p>
          <a:p>
            <a:pPr>
              <a:lnSpc>
                <a:spcPct val="80000"/>
              </a:lnSpc>
              <a:buNone/>
            </a:pPr>
            <a:r>
              <a:rPr lang="zh-CN" altLang="en-US" sz="2900" dirty="0"/>
              <a:t>           数据寻址方式有隐含寻址、立即寻址、直接寻址、间接寻址、寄存器寻址、寄存器间接寻址、相对寻址、基值寻址、变址寻址、块寻址、段寻址等多种。</a:t>
            </a:r>
            <a:endParaRPr lang="zh-CN" altLang="en-US" sz="2900" dirty="0"/>
          </a:p>
          <a:p>
            <a:pPr>
              <a:lnSpc>
                <a:spcPct val="80000"/>
              </a:lnSpc>
              <a:buNone/>
            </a:pPr>
            <a:r>
              <a:rPr lang="zh-CN" altLang="en-US" sz="2900" dirty="0"/>
              <a:t>           按操作数的物理位置不同，有</a:t>
            </a:r>
            <a:r>
              <a:rPr lang="en-US" altLang="zh-CN" sz="2900" dirty="0"/>
              <a:t>RR</a:t>
            </a:r>
            <a:r>
              <a:rPr lang="zh-CN" altLang="en-US" sz="2900" dirty="0"/>
              <a:t>型和</a:t>
            </a:r>
            <a:r>
              <a:rPr lang="en-US" altLang="zh-CN" sz="2900" dirty="0"/>
              <a:t>RS</a:t>
            </a:r>
            <a:r>
              <a:rPr lang="zh-CN" altLang="en-US" sz="2900" dirty="0"/>
              <a:t>型。前者比后者执行的速度快。</a:t>
            </a:r>
            <a:endParaRPr lang="zh-CN" altLang="en-US" sz="1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a:ln/>
        </p:spPr>
        <p:txBody>
          <a:bodyPr vert="horz" wrap="square" lIns="91440" tIns="45720" rIns="91440" bIns="45720" anchor="ctr" anchorCtr="0"/>
          <a:p>
            <a:r>
              <a:rPr lang="zh-CN" altLang="en-US" dirty="0"/>
              <a:t>本 章 小 结</a:t>
            </a:r>
            <a:endParaRPr lang="zh-CN" altLang="en-US" dirty="0"/>
          </a:p>
        </p:txBody>
      </p:sp>
      <p:sp>
        <p:nvSpPr>
          <p:cNvPr id="96259" name="Rectangle 3"/>
          <p:cNvSpPr>
            <a:spLocks noGrp="1"/>
          </p:cNvSpPr>
          <p:nvPr>
            <p:ph idx="1"/>
          </p:nvPr>
        </p:nvSpPr>
        <p:spPr>
          <a:xfrm>
            <a:off x="250825" y="1374775"/>
            <a:ext cx="8229600" cy="4862513"/>
          </a:xfrm>
          <a:ln/>
        </p:spPr>
        <p:txBody>
          <a:bodyPr vert="horz" wrap="square" lIns="91440" tIns="45720" rIns="91440" bIns="45720" anchor="t" anchorCtr="0"/>
          <a:p>
            <a:pPr>
              <a:lnSpc>
                <a:spcPct val="80000"/>
              </a:lnSpc>
              <a:buNone/>
            </a:pPr>
            <a:r>
              <a:rPr lang="en-US" altLang="zh-CN" sz="2900" dirty="0"/>
              <a:t>           </a:t>
            </a:r>
            <a:r>
              <a:rPr lang="zh-CN" altLang="en-US" sz="2900" dirty="0"/>
              <a:t>按结构不同，分为寄存器堆栈和存储器堆栈。不同机器有不同的指令系统。</a:t>
            </a:r>
            <a:endParaRPr lang="zh-CN" altLang="en-US" sz="2900" dirty="0"/>
          </a:p>
          <a:p>
            <a:pPr>
              <a:lnSpc>
                <a:spcPct val="80000"/>
              </a:lnSpc>
              <a:buNone/>
            </a:pPr>
            <a:r>
              <a:rPr lang="zh-CN" altLang="en-US" sz="2900" dirty="0"/>
              <a:t>          一个较完善的指令系统应当包含数据传送类指令、算术运算类指令、逻辑运算类指令、程序控制类指令、</a:t>
            </a:r>
            <a:r>
              <a:rPr lang="en-US" altLang="zh-CN" sz="2900" dirty="0"/>
              <a:t>I/O</a:t>
            </a:r>
            <a:r>
              <a:rPr lang="zh-CN" altLang="en-US" sz="2900" dirty="0"/>
              <a:t>类指令、字符串类指令、系统控制类指令。</a:t>
            </a:r>
            <a:endParaRPr lang="zh-CN" altLang="en-US" sz="2900" dirty="0"/>
          </a:p>
          <a:p>
            <a:pPr>
              <a:lnSpc>
                <a:spcPct val="80000"/>
              </a:lnSpc>
              <a:buNone/>
            </a:pPr>
            <a:r>
              <a:rPr lang="zh-CN" altLang="en-US" sz="2900" dirty="0"/>
              <a:t>           </a:t>
            </a:r>
            <a:r>
              <a:rPr lang="en-US" altLang="zh-CN" sz="2900" dirty="0"/>
              <a:t>RISC</a:t>
            </a:r>
            <a:r>
              <a:rPr lang="zh-CN" altLang="en-US" sz="2900" dirty="0"/>
              <a:t>指令系统是目前计算机发展的主流，也是</a:t>
            </a:r>
            <a:r>
              <a:rPr lang="en-US" altLang="zh-CN" sz="2900" dirty="0"/>
              <a:t>CISC</a:t>
            </a:r>
            <a:r>
              <a:rPr lang="zh-CN" altLang="en-US" sz="2900" dirty="0"/>
              <a:t>指令系统的改进，它的最大特点是：①指令条数少；②指令长度固定，指令格式和寻址方式种类少；③只有取数</a:t>
            </a:r>
            <a:r>
              <a:rPr lang="en-US" altLang="zh-CN" sz="2900" dirty="0"/>
              <a:t>/</a:t>
            </a:r>
            <a:r>
              <a:rPr lang="zh-CN" altLang="en-US" sz="2900" dirty="0"/>
              <a:t>存数指令访问存储器，其余指令的操作均在寄存器之间进行。</a:t>
            </a:r>
            <a:endParaRPr lang="zh-CN" altLang="en-US" sz="2900" dirty="0"/>
          </a:p>
          <a:p>
            <a:pPr>
              <a:lnSpc>
                <a:spcPct val="80000"/>
              </a:lnSpc>
            </a:pPr>
            <a:endParaRPr lang="en-US" altLang="zh-CN" sz="1900" dirty="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12153</Words>
  <Application>WPS 演示</Application>
  <PresentationFormat/>
  <Paragraphs>1246</Paragraphs>
  <Slides>77</Slides>
  <Notes>11</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5</vt:i4>
      </vt:variant>
      <vt:variant>
        <vt:lpstr>幻灯片标题</vt:lpstr>
      </vt:variant>
      <vt:variant>
        <vt:i4>77</vt:i4>
      </vt:variant>
    </vt:vector>
  </HeadingPairs>
  <TitlesOfParts>
    <vt:vector size="105" baseType="lpstr">
      <vt:lpstr>Arial</vt:lpstr>
      <vt:lpstr>宋体</vt:lpstr>
      <vt:lpstr>Wingdings</vt:lpstr>
      <vt:lpstr>Calibri</vt:lpstr>
      <vt:lpstr>Times New Roman</vt:lpstr>
      <vt:lpstr>黑体</vt:lpstr>
      <vt:lpstr>Verdana</vt:lpstr>
      <vt:lpstr>楷体_GB2312</vt:lpstr>
      <vt:lpstr>新宋体</vt:lpstr>
      <vt:lpstr>Wingdings 2</vt:lpstr>
      <vt:lpstr>Wingdings</vt:lpstr>
      <vt:lpstr>Arial Black</vt:lpstr>
      <vt:lpstr>Helvetica Neue</vt:lpstr>
      <vt:lpstr>+mn-ea</vt:lpstr>
      <vt:lpstr>Segoe Print</vt:lpstr>
      <vt:lpstr>Monotype Sorts</vt:lpstr>
      <vt:lpstr>微软雅黑</vt:lpstr>
      <vt:lpstr>Arial Unicode MS</vt:lpstr>
      <vt:lpstr>华文新魏</vt:lpstr>
      <vt:lpstr>华文中宋</vt:lpstr>
      <vt:lpstr>隶书</vt:lpstr>
      <vt:lpstr>楷体_GB2312</vt:lpstr>
      <vt:lpstr>Pixel</vt:lpstr>
      <vt:lpstr>Photoshop.Image.7</vt:lpstr>
      <vt:lpstr>Photoshop.Image.7</vt:lpstr>
      <vt:lpstr>Photoshop.Image.7</vt:lpstr>
      <vt:lpstr>Photoshop.Image.7</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初九</cp:lastModifiedBy>
  <cp:revision>628</cp:revision>
  <dcterms:created xsi:type="dcterms:W3CDTF">2008-11-25T08:58:13Z</dcterms:created>
  <dcterms:modified xsi:type="dcterms:W3CDTF">2026-03-31T07:46:47Z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4AD6426E32144E7F82D8BAE94DB39F36_13</vt:lpwstr>
  </property>
  <property fmtid="{D5CDD505-2E9C-101B-9397-08002B2CF9AE}" pid="3" name="KSOProductBuildVer">
    <vt:lpwstr>2052-12.1.0.25225</vt:lpwstr>
  </property>
</Properties>
</file>