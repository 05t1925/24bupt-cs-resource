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630" r:id="rId2"/>
    <p:sldId id="656" r:id="rId3"/>
    <p:sldId id="640" r:id="rId4"/>
    <p:sldId id="651" r:id="rId5"/>
    <p:sldId id="652" r:id="rId6"/>
    <p:sldId id="638" r:id="rId7"/>
    <p:sldId id="654" r:id="rId8"/>
    <p:sldId id="655" r:id="rId9"/>
    <p:sldId id="556" r:id="rId10"/>
  </p:sldIdLst>
  <p:sldSz cx="9144000" cy="6858000" type="screen4x3"/>
  <p:notesSz cx="6788150" cy="99171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72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3300"/>
    <a:srgbClr val="000000"/>
    <a:srgbClr val="9966FF"/>
    <a:srgbClr val="2D35D3"/>
    <a:srgbClr val="99CCFF"/>
    <a:srgbClr val="FF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07"/>
    <p:restoredTop sz="90293" autoAdjust="0"/>
  </p:normalViewPr>
  <p:slideViewPr>
    <p:cSldViewPr showGuides="1">
      <p:cViewPr varScale="1">
        <p:scale>
          <a:sx n="66" d="100"/>
          <a:sy n="66" d="100"/>
        </p:scale>
        <p:origin x="1248" y="60"/>
      </p:cViewPr>
      <p:guideLst>
        <p:guide orient="horz" pos="4272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6513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6513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6513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7762" cy="3717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0113"/>
            <a:ext cx="4978400" cy="4462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6513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647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16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6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6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31" name="Group 7"/>
          <p:cNvGrpSpPr/>
          <p:nvPr/>
        </p:nvGrpSpPr>
        <p:grpSpPr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     </a:t>
              </a:r>
            </a:p>
          </p:txBody>
        </p:sp>
        <p:sp>
          <p:nvSpPr>
            <p:cNvPr id="1036" name="Line 9"/>
            <p:cNvSpPr/>
            <p:nvPr/>
          </p:nvSpPr>
          <p:spPr>
            <a:xfrm>
              <a:off x="4464" y="4032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7" name="Line 10"/>
            <p:cNvSpPr/>
            <p:nvPr/>
          </p:nvSpPr>
          <p:spPr>
            <a:xfrm>
              <a:off x="4176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8" name="Line 11"/>
            <p:cNvSpPr/>
            <p:nvPr/>
          </p:nvSpPr>
          <p:spPr>
            <a:xfrm>
              <a:off x="4704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9" name="Line 12"/>
            <p:cNvSpPr/>
            <p:nvPr/>
          </p:nvSpPr>
          <p:spPr>
            <a:xfrm>
              <a:off x="5376" y="4032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0" name="Line 13"/>
            <p:cNvSpPr/>
            <p:nvPr/>
          </p:nvSpPr>
          <p:spPr>
            <a:xfrm>
              <a:off x="5184" y="4032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1" name="Line 14"/>
            <p:cNvSpPr/>
            <p:nvPr/>
          </p:nvSpPr>
          <p:spPr>
            <a:xfrm>
              <a:off x="5568" y="4032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2" name="Line 15"/>
            <p:cNvSpPr/>
            <p:nvPr/>
          </p:nvSpPr>
          <p:spPr>
            <a:xfrm>
              <a:off x="4992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32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3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Picture 18" descr="bup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找</a:t>
            </a:r>
            <a:r>
              <a:rPr lang="zh-CN" altLang="en-US" b="1" dirty="0" smtClean="0"/>
              <a:t>宝（解法一）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0020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int		</a:t>
            </a:r>
            <a:r>
              <a:rPr lang="en-US" altLang="zh-CN" sz="3200" dirty="0" err="1"/>
              <a:t>calculateScore</a:t>
            </a:r>
            <a:r>
              <a:rPr lang="en-US" altLang="zh-CN" sz="3200" dirty="0"/>
              <a:t>(char s[]){</a:t>
            </a:r>
          </a:p>
          <a:p>
            <a:r>
              <a:rPr lang="en-US" altLang="zh-CN" sz="3200" dirty="0"/>
              <a:t>	int	</a:t>
            </a:r>
            <a:r>
              <a:rPr lang="en-US" altLang="zh-CN" sz="3200" dirty="0" err="1" smtClean="0"/>
              <a:t>i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>, score = 0 ;</a:t>
            </a:r>
          </a:p>
          <a:p>
            <a:r>
              <a:rPr lang="en-US" altLang="zh-CN" sz="3200" dirty="0"/>
              <a:t>	int	</a:t>
            </a:r>
            <a:r>
              <a:rPr lang="en-US" altLang="zh-CN" sz="3200" dirty="0" smtClean="0"/>
              <a:t>scores</a:t>
            </a:r>
            <a:r>
              <a:rPr lang="en-US" altLang="zh-CN" sz="3200" dirty="0"/>
              <a:t>[] = {1 , </a:t>
            </a:r>
            <a:r>
              <a:rPr lang="en-US" altLang="zh-CN" sz="3200" dirty="0" smtClean="0"/>
              <a:t>3 , </a:t>
            </a:r>
            <a:r>
              <a:rPr lang="en-US" altLang="zh-CN" sz="3200" dirty="0"/>
              <a:t>5 , 7 , 9 , 11 , 13};</a:t>
            </a:r>
          </a:p>
          <a:p>
            <a:r>
              <a:rPr lang="en-US" altLang="zh-CN" sz="3200" dirty="0"/>
              <a:t>		</a:t>
            </a:r>
          </a:p>
          <a:p>
            <a:r>
              <a:rPr lang="en-US" altLang="zh-CN" sz="3200" dirty="0"/>
              <a:t>	for(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= 0 ; s[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 ;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++) {</a:t>
            </a:r>
          </a:p>
          <a:p>
            <a:r>
              <a:rPr lang="en-US" altLang="zh-CN" sz="3200" dirty="0"/>
              <a:t>		score += scores[s[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 - 'A'] ;</a:t>
            </a:r>
          </a:p>
          <a:p>
            <a:r>
              <a:rPr lang="en-US" altLang="zh-CN" sz="3200" dirty="0"/>
              <a:t>	}</a:t>
            </a:r>
          </a:p>
          <a:p>
            <a:r>
              <a:rPr lang="en-US" altLang="zh-CN" sz="3200" dirty="0"/>
              <a:t>	return score ;</a:t>
            </a:r>
          </a:p>
          <a:p>
            <a:r>
              <a:rPr lang="en-US" altLang="zh-C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30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2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找</a:t>
            </a:r>
            <a:r>
              <a:rPr lang="zh-CN" altLang="en-US" b="1" dirty="0" smtClean="0"/>
              <a:t>宝（解法二）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0020"/>
            <a:ext cx="813690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int		</a:t>
            </a:r>
            <a:r>
              <a:rPr lang="en-US" altLang="zh-CN" sz="3200" dirty="0" err="1"/>
              <a:t>calculateScore</a:t>
            </a:r>
            <a:r>
              <a:rPr lang="en-US" altLang="zh-CN" sz="3200" dirty="0"/>
              <a:t>(char s</a:t>
            </a:r>
            <a:r>
              <a:rPr lang="en-US" altLang="zh-CN" sz="3200" dirty="0" smtClean="0"/>
              <a:t>[]){</a:t>
            </a:r>
          </a:p>
          <a:p>
            <a:r>
              <a:rPr lang="en-US" altLang="zh-CN" sz="3200" dirty="0" smtClean="0"/>
              <a:t>	</a:t>
            </a:r>
            <a:r>
              <a:rPr lang="en-US" altLang="zh-CN" sz="3200" dirty="0" err="1" smtClean="0"/>
              <a:t>int</a:t>
            </a:r>
            <a:r>
              <a:rPr lang="en-US" altLang="zh-CN" sz="3200" dirty="0"/>
              <a:t>	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, score = 0 ;</a:t>
            </a:r>
          </a:p>
          <a:p>
            <a:r>
              <a:rPr lang="en-US" altLang="zh-CN" sz="3200" dirty="0"/>
              <a:t>	for(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= 0 ; s[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 ;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++) {</a:t>
            </a:r>
          </a:p>
          <a:p>
            <a:r>
              <a:rPr lang="en-US" altLang="zh-CN" sz="3200" dirty="0"/>
              <a:t>		score += (s[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 - 'A') * 2 + 1;</a:t>
            </a:r>
          </a:p>
          <a:p>
            <a:r>
              <a:rPr lang="en-US" altLang="zh-CN" sz="3200" dirty="0"/>
              <a:t>	}</a:t>
            </a:r>
          </a:p>
          <a:p>
            <a:r>
              <a:rPr lang="en-US" altLang="zh-CN" sz="3200" dirty="0"/>
              <a:t>	return score ;</a:t>
            </a:r>
          </a:p>
          <a:p>
            <a:r>
              <a:rPr lang="en-US" altLang="zh-CN" sz="3200" dirty="0" smtClean="0"/>
              <a:t>}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84130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3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线性查找递归</a:t>
            </a:r>
            <a:r>
              <a:rPr lang="zh-CN" altLang="en-US" b="1" dirty="0" smtClean="0"/>
              <a:t>实现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81899" y="1268760"/>
            <a:ext cx="854202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int </a:t>
            </a:r>
            <a:r>
              <a:rPr lang="en-US" altLang="zh-CN" sz="2400" dirty="0" err="1"/>
              <a:t>RecurLinearSearch</a:t>
            </a:r>
            <a:r>
              <a:rPr lang="en-US" altLang="zh-CN" sz="2400" dirty="0"/>
              <a:t>(int array[] , int key , int left , int right){</a:t>
            </a:r>
          </a:p>
          <a:p>
            <a:r>
              <a:rPr lang="en-US" altLang="zh-CN" sz="2400" dirty="0" smtClean="0"/>
              <a:t>    int</a:t>
            </a:r>
            <a:r>
              <a:rPr lang="en-US" altLang="zh-CN" sz="2400" dirty="0"/>
              <a:t>		</a:t>
            </a:r>
            <a:r>
              <a:rPr lang="en-US" altLang="zh-CN" sz="2400" dirty="0" err="1"/>
              <a:t>loc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 smtClean="0"/>
              <a:t>    if </a:t>
            </a:r>
            <a:r>
              <a:rPr lang="en-US" altLang="zh-CN" sz="2400" dirty="0"/>
              <a:t>(right &lt; left)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loc</a:t>
            </a:r>
            <a:r>
              <a:rPr lang="en-US" altLang="zh-CN" sz="2400" dirty="0"/>
              <a:t> = -1;</a:t>
            </a:r>
          </a:p>
          <a:p>
            <a:r>
              <a:rPr lang="en-US" altLang="zh-CN" sz="2400" dirty="0" smtClean="0"/>
              <a:t>    else </a:t>
            </a:r>
            <a:r>
              <a:rPr lang="en-US" altLang="zh-CN" sz="2400" dirty="0"/>
              <a:t>if (array[left] == key)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loc</a:t>
            </a:r>
            <a:r>
              <a:rPr lang="en-US" altLang="zh-CN" sz="2400" dirty="0"/>
              <a:t> = left;</a:t>
            </a:r>
          </a:p>
          <a:p>
            <a:r>
              <a:rPr lang="en-US" altLang="zh-CN" sz="2400" dirty="0" smtClean="0"/>
              <a:t>    else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loc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RecurLinearSearch</a:t>
            </a:r>
            <a:r>
              <a:rPr lang="en-US" altLang="zh-CN" sz="2400" dirty="0"/>
              <a:t>(array , key , left + 1 , right);</a:t>
            </a:r>
          </a:p>
          <a:p>
            <a:endParaRPr lang="en-US" altLang="zh-CN" sz="2400" dirty="0"/>
          </a:p>
          <a:p>
            <a:r>
              <a:rPr lang="en-US" altLang="zh-CN" sz="2400" dirty="0"/>
              <a:t>	return </a:t>
            </a:r>
            <a:r>
              <a:rPr lang="en-US" altLang="zh-CN" sz="2400" dirty="0" err="1"/>
              <a:t>loc</a:t>
            </a:r>
            <a:r>
              <a:rPr lang="en-US" altLang="zh-CN" sz="2400" dirty="0"/>
              <a:t> ;</a:t>
            </a:r>
          </a:p>
          <a:p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13153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歌单</a:t>
            </a:r>
            <a:r>
              <a:rPr lang="zh-CN" altLang="en-US" b="1" dirty="0" smtClean="0"/>
              <a:t>一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93461" y="1278245"/>
            <a:ext cx="832559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int </a:t>
            </a:r>
            <a:r>
              <a:rPr lang="en-US" altLang="zh-CN" sz="2400" dirty="0" err="1"/>
              <a:t>getPos</a:t>
            </a:r>
            <a:r>
              <a:rPr lang="en-US" altLang="zh-CN" sz="2400" dirty="0"/>
              <a:t>(int </a:t>
            </a:r>
            <a:r>
              <a:rPr lang="en-US" altLang="zh-CN" sz="2400" dirty="0" err="1"/>
              <a:t>arrayA</a:t>
            </a:r>
            <a:r>
              <a:rPr lang="en-US" altLang="zh-CN" sz="2400" dirty="0"/>
              <a:t>[], int </a:t>
            </a:r>
            <a:r>
              <a:rPr lang="en-US" altLang="zh-CN" sz="2400" dirty="0" err="1"/>
              <a:t>arrayB</a:t>
            </a:r>
            <a:r>
              <a:rPr lang="en-US" altLang="zh-CN" sz="2400" dirty="0"/>
              <a:t>[], int size) {</a:t>
            </a:r>
          </a:p>
          <a:p>
            <a:r>
              <a:rPr lang="en-US" altLang="zh-CN" sz="2400" dirty="0" smtClean="0"/>
              <a:t>    int</a:t>
            </a:r>
            <a:r>
              <a:rPr lang="en-US" altLang="zh-CN" sz="2400" dirty="0"/>
              <a:t>		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, </a:t>
            </a:r>
            <a:r>
              <a:rPr lang="en-US" altLang="zh-CN" sz="2400" dirty="0" err="1"/>
              <a:t>a_idx</a:t>
            </a:r>
            <a:r>
              <a:rPr lang="en-US" altLang="zh-CN" sz="2400" dirty="0"/>
              <a:t> , 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= -1;</a:t>
            </a:r>
          </a:p>
          <a:p>
            <a:r>
              <a:rPr lang="en-US" altLang="zh-CN" sz="2400" dirty="0"/>
              <a:t>    for 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size &amp;&amp; 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== -1;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</a:t>
            </a:r>
            <a:r>
              <a:rPr lang="en-US" altLang="zh-CN" sz="2400" dirty="0" smtClean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if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arrayA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 == </a:t>
            </a:r>
            <a:r>
              <a:rPr lang="en-US" altLang="zh-CN" sz="2400" dirty="0" err="1"/>
              <a:t>arrayB</a:t>
            </a:r>
            <a:r>
              <a:rPr lang="en-US" altLang="zh-CN" sz="2400" dirty="0"/>
              <a:t>[0]) </a:t>
            </a:r>
            <a:r>
              <a:rPr lang="en-US" altLang="zh-CN" sz="2400" dirty="0" smtClean="0"/>
              <a:t>  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/>
              <a:t>    }</a:t>
            </a:r>
          </a:p>
          <a:p>
            <a:r>
              <a:rPr lang="en-US" altLang="zh-CN" sz="2400" dirty="0"/>
              <a:t>    if (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!= -1) {</a:t>
            </a:r>
          </a:p>
          <a:p>
            <a:r>
              <a:rPr lang="en-US" altLang="zh-CN" sz="2400" dirty="0" smtClean="0"/>
              <a:t>	for 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size &amp;&amp; 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!= -1;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{</a:t>
            </a:r>
          </a:p>
          <a:p>
            <a:r>
              <a:rPr lang="en-US" altLang="zh-CN" sz="2400" dirty="0"/>
              <a:t>	        </a:t>
            </a:r>
            <a:r>
              <a:rPr lang="en-US" altLang="zh-CN" sz="2400" dirty="0" err="1"/>
              <a:t>a_idx</a:t>
            </a:r>
            <a:r>
              <a:rPr lang="en-US" altLang="zh-CN" sz="2400" dirty="0"/>
              <a:t> = (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% size;</a:t>
            </a:r>
          </a:p>
          <a:p>
            <a:r>
              <a:rPr lang="en-US" altLang="zh-CN" sz="2400" dirty="0"/>
              <a:t>	        if (</a:t>
            </a:r>
            <a:r>
              <a:rPr lang="en-US" altLang="zh-CN" sz="2400" dirty="0" err="1"/>
              <a:t>arrayA</a:t>
            </a:r>
            <a:r>
              <a:rPr lang="en-US" altLang="zh-CN" sz="2400" dirty="0"/>
              <a:t>[</a:t>
            </a:r>
            <a:r>
              <a:rPr lang="en-US" altLang="zh-CN" sz="2400" dirty="0" err="1"/>
              <a:t>a_idx</a:t>
            </a:r>
            <a:r>
              <a:rPr lang="en-US" altLang="zh-CN" sz="2400" dirty="0"/>
              <a:t>] != </a:t>
            </a:r>
            <a:r>
              <a:rPr lang="en-US" altLang="zh-CN" sz="2400" dirty="0" err="1"/>
              <a:t>arrayB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])  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 = -1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 smtClean="0"/>
              <a:t>	}</a:t>
            </a:r>
            <a:endParaRPr lang="en-US" altLang="zh-CN" sz="2400" dirty="0"/>
          </a:p>
          <a:p>
            <a:r>
              <a:rPr lang="en-US" altLang="zh-CN" sz="2400" dirty="0"/>
              <a:t>    }</a:t>
            </a:r>
          </a:p>
          <a:p>
            <a:r>
              <a:rPr lang="en-US" altLang="zh-CN" sz="2400" dirty="0"/>
              <a:t>    return </a:t>
            </a:r>
            <a:r>
              <a:rPr lang="en-US" altLang="zh-CN" sz="2400" dirty="0" err="1"/>
              <a:t>pos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 smtClean="0"/>
              <a:t>}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91891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5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歌单</a:t>
            </a:r>
            <a:r>
              <a:rPr lang="zh-CN" altLang="en-US" b="1" dirty="0" smtClean="0"/>
              <a:t>二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323528" y="1340768"/>
            <a:ext cx="851567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int</a:t>
            </a:r>
            <a:r>
              <a:rPr lang="en-US" altLang="zh-CN" sz="2800" dirty="0"/>
              <a:t>	</a:t>
            </a:r>
            <a:r>
              <a:rPr lang="en-US" altLang="zh-CN" sz="2800" dirty="0" err="1" smtClean="0"/>
              <a:t>areSame</a:t>
            </a:r>
            <a:r>
              <a:rPr lang="en-US" altLang="zh-CN" sz="2800" dirty="0" smtClean="0"/>
              <a:t>(int </a:t>
            </a:r>
            <a:r>
              <a:rPr lang="en-US" altLang="zh-CN" sz="2800" dirty="0" err="1"/>
              <a:t>arrayA</a:t>
            </a:r>
            <a:r>
              <a:rPr lang="en-US" altLang="zh-CN" sz="2800" dirty="0"/>
              <a:t>[] , int </a:t>
            </a:r>
            <a:r>
              <a:rPr lang="en-US" altLang="zh-CN" sz="2800" dirty="0" err="1"/>
              <a:t>arrayB</a:t>
            </a:r>
            <a:r>
              <a:rPr lang="en-US" altLang="zh-CN" sz="2800" dirty="0"/>
              <a:t>[] , int size){</a:t>
            </a:r>
          </a:p>
          <a:p>
            <a:r>
              <a:rPr lang="en-US" altLang="zh-CN" sz="2800" dirty="0"/>
              <a:t>	int	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, same = 1;</a:t>
            </a:r>
          </a:p>
          <a:p>
            <a:r>
              <a:rPr lang="en-US" altLang="zh-CN" sz="2800" dirty="0"/>
              <a:t>	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bubbleSort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arrayA</a:t>
            </a:r>
            <a:r>
              <a:rPr lang="en-US" altLang="zh-CN" sz="2800" dirty="0"/>
              <a:t> , size);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bubbleSort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arrayB</a:t>
            </a:r>
            <a:r>
              <a:rPr lang="en-US" altLang="zh-CN" sz="2800" dirty="0"/>
              <a:t> , size);</a:t>
            </a:r>
          </a:p>
          <a:p>
            <a:r>
              <a:rPr lang="en-US" altLang="zh-CN" sz="2800" dirty="0"/>
              <a:t>	for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0 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&lt; size &amp;&amp; same 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++){</a:t>
            </a:r>
          </a:p>
          <a:p>
            <a:r>
              <a:rPr lang="en-US" altLang="zh-CN" sz="2800" dirty="0"/>
              <a:t>		if (</a:t>
            </a:r>
            <a:r>
              <a:rPr lang="en-US" altLang="zh-CN" sz="2800" dirty="0" err="1"/>
              <a:t>arrayA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 != </a:t>
            </a:r>
            <a:r>
              <a:rPr lang="en-US" altLang="zh-CN" sz="2800" dirty="0" err="1"/>
              <a:t>arrayB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 same = 0;</a:t>
            </a:r>
          </a:p>
          <a:p>
            <a:r>
              <a:rPr lang="en-US" altLang="zh-CN" sz="2800" dirty="0"/>
              <a:t>	}</a:t>
            </a:r>
          </a:p>
          <a:p>
            <a:r>
              <a:rPr lang="en-US" altLang="zh-CN" sz="2800" dirty="0"/>
              <a:t>	return same;</a:t>
            </a:r>
          </a:p>
          <a:p>
            <a:r>
              <a:rPr lang="en-US" altLang="zh-CN" sz="2800" dirty="0" smtClean="0"/>
              <a:t>}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85570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6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快递</a:t>
            </a:r>
            <a:r>
              <a:rPr lang="zh-CN" altLang="en-US" b="1" dirty="0" smtClean="0"/>
              <a:t>站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371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#</a:t>
            </a:r>
            <a:r>
              <a:rPr lang="en-US" altLang="zh-CN" sz="2400" dirty="0"/>
              <a:t>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 smtClean="0"/>
              <a:t>int </a:t>
            </a:r>
            <a:r>
              <a:rPr lang="en-US" altLang="zh-CN" sz="2400" dirty="0" err="1"/>
              <a:t>binarySearch</a:t>
            </a:r>
            <a:r>
              <a:rPr lang="en-US" altLang="zh-CN" sz="2400" dirty="0"/>
              <a:t>(int array[] , int n , int key) ; </a:t>
            </a:r>
          </a:p>
          <a:p>
            <a:r>
              <a:rPr lang="en-US" altLang="zh-CN" sz="2400" dirty="0" smtClean="0"/>
              <a:t>int </a:t>
            </a:r>
            <a:r>
              <a:rPr lang="en-US" altLang="zh-CN" sz="2400" dirty="0"/>
              <a:t>main(){</a:t>
            </a:r>
          </a:p>
          <a:p>
            <a:r>
              <a:rPr lang="en-US" altLang="zh-CN" sz="2400" dirty="0"/>
              <a:t>	int		n , m 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, key , number[500000];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 , &amp;n , &amp;m); 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0 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n 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 , &amp;number[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 ;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0 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m 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++){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 , &amp;key) ;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("%d" , </a:t>
            </a:r>
            <a:r>
              <a:rPr lang="en-US" altLang="zh-CN" sz="2400" dirty="0" err="1"/>
              <a:t>binarySearch</a:t>
            </a:r>
            <a:r>
              <a:rPr lang="en-US" altLang="zh-CN" sz="2400" dirty="0"/>
              <a:t>(number , n , key)) ;</a:t>
            </a:r>
          </a:p>
          <a:p>
            <a:r>
              <a:rPr lang="en-US" altLang="zh-CN" sz="2400" dirty="0"/>
              <a:t>		if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!= m - 1 )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 ") ;</a:t>
            </a:r>
          </a:p>
          <a:p>
            <a:r>
              <a:rPr lang="en-US" altLang="zh-CN" sz="2400" dirty="0"/>
              <a:t>		else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("\n") ;</a:t>
            </a:r>
          </a:p>
          <a:p>
            <a:r>
              <a:rPr lang="en-US" altLang="zh-CN" sz="2400" dirty="0"/>
              <a:t>	}</a:t>
            </a:r>
          </a:p>
          <a:p>
            <a:r>
              <a:rPr lang="en-US" altLang="zh-CN" sz="2400" dirty="0"/>
              <a:t>	return 0 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0447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7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快递</a:t>
            </a:r>
            <a:r>
              <a:rPr lang="zh-CN" altLang="en-US" b="1" dirty="0" smtClean="0"/>
              <a:t>站</a:t>
            </a:r>
            <a:r>
              <a:rPr lang="zh-CN" altLang="en-US" b="1" dirty="0"/>
              <a:t>（二分查找</a:t>
            </a:r>
            <a:r>
              <a:rPr lang="zh-CN" altLang="en-US" b="1" dirty="0" smtClean="0"/>
              <a:t>写法一）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371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int </a:t>
            </a:r>
            <a:r>
              <a:rPr lang="en-US" altLang="zh-CN" sz="2400" dirty="0" err="1"/>
              <a:t>binarySearch</a:t>
            </a:r>
            <a:r>
              <a:rPr lang="en-US" altLang="zh-CN" sz="2400" dirty="0"/>
              <a:t>(int array[] , int n , int key){</a:t>
            </a:r>
          </a:p>
          <a:p>
            <a:r>
              <a:rPr lang="en-US" altLang="zh-CN" sz="2400" dirty="0"/>
              <a:t>	int low , high , middle , found = 0</a:t>
            </a:r>
            <a:r>
              <a:rPr lang="en-US" altLang="zh-CN" sz="2400" dirty="0" smtClean="0"/>
              <a:t>;   </a:t>
            </a:r>
            <a:endParaRPr lang="en-US" altLang="zh-CN" sz="2400" dirty="0"/>
          </a:p>
          <a:p>
            <a:r>
              <a:rPr lang="en-US" altLang="zh-CN" sz="2400" dirty="0"/>
              <a:t>	low = 0 ;</a:t>
            </a:r>
          </a:p>
          <a:p>
            <a:r>
              <a:rPr lang="en-US" altLang="zh-CN" sz="2400" dirty="0"/>
              <a:t>	high = n - 1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/>
              <a:t>	while(low &lt;= high &amp;&amp; !found){</a:t>
            </a:r>
          </a:p>
          <a:p>
            <a:r>
              <a:rPr lang="en-US" altLang="zh-CN" sz="2400" dirty="0"/>
              <a:t>		middle = (low + high) / 2;</a:t>
            </a:r>
          </a:p>
          <a:p>
            <a:r>
              <a:rPr lang="en-US" altLang="zh-CN" sz="2400" dirty="0"/>
              <a:t>		if ( key == array[middle])</a:t>
            </a:r>
          </a:p>
          <a:p>
            <a:r>
              <a:rPr lang="en-US" altLang="zh-CN" sz="2400" dirty="0"/>
              <a:t>			found = 1;		</a:t>
            </a:r>
          </a:p>
          <a:p>
            <a:r>
              <a:rPr lang="en-US" altLang="zh-CN" sz="2400" dirty="0"/>
              <a:t>		else if(key &lt; array[middle])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smtClean="0"/>
              <a:t>		high </a:t>
            </a:r>
            <a:r>
              <a:rPr lang="en-US" altLang="zh-CN" sz="2400" dirty="0"/>
              <a:t>= middle - 1;</a:t>
            </a:r>
          </a:p>
          <a:p>
            <a:r>
              <a:rPr lang="en-US" altLang="zh-CN" sz="2400" dirty="0"/>
              <a:t>      	</a:t>
            </a:r>
            <a:r>
              <a:rPr lang="en-US" altLang="zh-CN" sz="2400" dirty="0" smtClean="0"/>
              <a:t>	else</a:t>
            </a:r>
            <a:endParaRPr lang="en-US" altLang="zh-CN" sz="2400" dirty="0"/>
          </a:p>
          <a:p>
            <a:r>
              <a:rPr lang="en-US" altLang="zh-CN" sz="2400" dirty="0"/>
              <a:t>            </a:t>
            </a:r>
            <a:r>
              <a:rPr lang="en-US" altLang="zh-CN" sz="2400" dirty="0" smtClean="0"/>
              <a:t>		low </a:t>
            </a:r>
            <a:r>
              <a:rPr lang="en-US" altLang="zh-CN" sz="2400" dirty="0"/>
              <a:t>= middle + 1;</a:t>
            </a:r>
          </a:p>
          <a:p>
            <a:r>
              <a:rPr lang="en-US" altLang="zh-CN" sz="2400" dirty="0"/>
              <a:t>	}</a:t>
            </a:r>
          </a:p>
          <a:p>
            <a:r>
              <a:rPr lang="en-US" altLang="zh-CN" sz="2400" dirty="0"/>
              <a:t>	return array[middle] &lt; key ? middle + 2 : middle + 1;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636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8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快递</a:t>
            </a:r>
            <a:r>
              <a:rPr lang="zh-CN" altLang="en-US" b="1" dirty="0" smtClean="0"/>
              <a:t>站（二分查找写法二）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371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// </a:t>
            </a:r>
            <a:r>
              <a:rPr lang="zh-CN" altLang="en-US" sz="2400" dirty="0"/>
              <a:t>二分查找第一个</a:t>
            </a:r>
            <a:r>
              <a:rPr lang="en-US" altLang="zh-CN" sz="2400" dirty="0"/>
              <a:t>&gt;=x</a:t>
            </a:r>
            <a:r>
              <a:rPr lang="zh-CN" altLang="en-US" sz="2400" dirty="0"/>
              <a:t>的元素下标</a:t>
            </a: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binarySearch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/>
              <a:t>array[], </a:t>
            </a:r>
            <a:r>
              <a:rPr lang="en-US" altLang="zh-CN" sz="2400" dirty="0"/>
              <a:t>int n, int key) {</a:t>
            </a:r>
          </a:p>
          <a:p>
            <a:r>
              <a:rPr lang="en-US" altLang="zh-CN" sz="2400" dirty="0"/>
              <a:t>    int </a:t>
            </a:r>
            <a:r>
              <a:rPr lang="en-US" altLang="zh-CN" sz="2400" dirty="0" smtClean="0"/>
              <a:t>left, right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,</a:t>
            </a:r>
            <a:r>
              <a:rPr lang="en-US" altLang="zh-CN" sz="2400" dirty="0"/>
              <a:t> mid , </a:t>
            </a:r>
            <a:r>
              <a:rPr lang="en-US" altLang="zh-CN" sz="2400" dirty="0" err="1" smtClean="0"/>
              <a:t>ans</a:t>
            </a:r>
            <a:r>
              <a:rPr lang="en-US" altLang="zh-CN" sz="2400" dirty="0" smtClean="0"/>
              <a:t>;</a:t>
            </a:r>
          </a:p>
          <a:p>
            <a:r>
              <a:rPr lang="en-US" altLang="zh-CN" sz="2400" dirty="0" smtClean="0"/>
              <a:t>    left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0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;	 </a:t>
            </a:r>
            <a:r>
              <a:rPr lang="en-US" altLang="zh-CN" sz="2400" dirty="0"/>
              <a:t>right = n - 1;</a:t>
            </a:r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ans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n - 1; // </a:t>
            </a:r>
            <a:r>
              <a:rPr lang="zh-CN" altLang="en-US" sz="2400" dirty="0"/>
              <a:t>默认最后一个元素</a:t>
            </a:r>
          </a:p>
          <a:p>
            <a:r>
              <a:rPr lang="zh-CN" altLang="en-US" sz="2400" dirty="0"/>
              <a:t>    </a:t>
            </a:r>
            <a:r>
              <a:rPr lang="en-US" altLang="zh-CN" sz="2400" dirty="0"/>
              <a:t>while (left &lt;= right) 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mid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(left </a:t>
            </a:r>
            <a:r>
              <a:rPr lang="en-US" altLang="zh-CN" sz="2400" dirty="0"/>
              <a:t>+ </a:t>
            </a:r>
            <a:r>
              <a:rPr lang="en-US" altLang="zh-CN" sz="2400" dirty="0" smtClean="0"/>
              <a:t>right) </a:t>
            </a:r>
            <a:r>
              <a:rPr lang="en-US" altLang="zh-CN" sz="2400" dirty="0"/>
              <a:t>/ 2; </a:t>
            </a:r>
          </a:p>
          <a:p>
            <a:r>
              <a:rPr lang="en-US" altLang="zh-CN" sz="2400" dirty="0" smtClean="0"/>
              <a:t>	if </a:t>
            </a:r>
            <a:r>
              <a:rPr lang="en-US" altLang="zh-CN" sz="2400" dirty="0"/>
              <a:t>(array[mid</a:t>
            </a:r>
            <a:r>
              <a:rPr lang="en-US" altLang="zh-CN" sz="2400" dirty="0"/>
              <a:t>] &gt;= key) {</a:t>
            </a:r>
          </a:p>
          <a:p>
            <a:pPr lvl="2"/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ans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mid;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smtClean="0"/>
              <a:t>	right </a:t>
            </a:r>
            <a:r>
              <a:rPr lang="en-US" altLang="zh-CN" sz="2400" dirty="0"/>
              <a:t>= mid - 1;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smtClean="0"/>
              <a:t>	}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else left </a:t>
            </a:r>
            <a:r>
              <a:rPr lang="en-US" altLang="zh-CN" sz="2400" dirty="0"/>
              <a:t>= mid + 1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/>
              <a:t>    }</a:t>
            </a:r>
          </a:p>
          <a:p>
            <a:r>
              <a:rPr lang="en-US" altLang="zh-CN" sz="2400" dirty="0"/>
              <a:t>    return </a:t>
            </a:r>
            <a:r>
              <a:rPr lang="en-US" altLang="zh-CN" sz="2400" dirty="0" err="1"/>
              <a:t>ans</a:t>
            </a:r>
            <a:r>
              <a:rPr lang="en-US" altLang="zh-CN" sz="2400" dirty="0"/>
              <a:t> + 1; // </a:t>
            </a:r>
            <a:r>
              <a:rPr lang="zh-CN" altLang="en-US" sz="2400" dirty="0"/>
              <a:t>转换为从</a:t>
            </a:r>
            <a:r>
              <a:rPr lang="en-US" altLang="zh-CN" sz="2400" dirty="0"/>
              <a:t>1</a:t>
            </a:r>
            <a:r>
              <a:rPr lang="zh-CN" altLang="en-US" sz="2400" dirty="0"/>
              <a:t>开始的配送员编号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4747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9</a:t>
            </a:fld>
            <a:endParaRPr lang="zh-CN" altLang="en-US" sz="1400" b="1" dirty="0"/>
          </a:p>
        </p:txBody>
      </p:sp>
      <p:graphicFrame>
        <p:nvGraphicFramePr>
          <p:cNvPr id="92163" name="Object 4"/>
          <p:cNvGraphicFramePr>
            <a:graphicFrameLocks noGrp="1" noChangeAspect="1"/>
          </p:cNvGraphicFramePr>
          <p:nvPr>
            <p:ph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r:id="rId3" imgW="1132205" imgH="1054100" progId="MS_ClipArt_Gallery.2">
                  <p:embed/>
                </p:oleObj>
              </mc:Choice>
              <mc:Fallback>
                <p:oleObj r:id="rId3" imgW="1132205" imgH="105410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815</TotalTime>
  <Words>149</Words>
  <Application>Microsoft Office PowerPoint</Application>
  <PresentationFormat>全屏显示(4:3)</PresentationFormat>
  <Paragraphs>112</Paragraphs>
  <Slides>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宋体</vt:lpstr>
      <vt:lpstr>Times New Roman</vt:lpstr>
      <vt:lpstr>Wingdings</vt:lpstr>
      <vt:lpstr>经分互动规范介绍</vt:lpstr>
      <vt:lpstr>MS_ClipArt_Gallery.2</vt:lpstr>
      <vt:lpstr>找宝（解法一）</vt:lpstr>
      <vt:lpstr>找宝（解法二）</vt:lpstr>
      <vt:lpstr>线性查找递归实现</vt:lpstr>
      <vt:lpstr>歌单一</vt:lpstr>
      <vt:lpstr>歌单二</vt:lpstr>
      <vt:lpstr>快递站</vt:lpstr>
      <vt:lpstr>快递站（二分查找写法一）</vt:lpstr>
      <vt:lpstr>快递站（二分查找写法二）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cyzhou</dc:creator>
  <cp:lastModifiedBy>yuanbaoku</cp:lastModifiedBy>
  <cp:revision>2135</cp:revision>
  <dcterms:created xsi:type="dcterms:W3CDTF">2001-07-15T23:49:29Z</dcterms:created>
  <dcterms:modified xsi:type="dcterms:W3CDTF">2025-12-14T14:08:08Z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