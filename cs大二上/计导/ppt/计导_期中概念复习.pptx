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8"/>
  </p:notesMasterIdLst>
  <p:sldIdLst>
    <p:sldId id="256" r:id="rId2"/>
    <p:sldId id="1623" r:id="rId3"/>
    <p:sldId id="299" r:id="rId4"/>
    <p:sldId id="1306" r:id="rId5"/>
    <p:sldId id="1209" r:id="rId6"/>
    <p:sldId id="1566" r:id="rId7"/>
    <p:sldId id="1621" r:id="rId8"/>
    <p:sldId id="1624" r:id="rId9"/>
    <p:sldId id="486" r:id="rId10"/>
    <p:sldId id="558" r:id="rId11"/>
    <p:sldId id="722" r:id="rId12"/>
    <p:sldId id="723" r:id="rId13"/>
    <p:sldId id="725" r:id="rId14"/>
    <p:sldId id="726" r:id="rId15"/>
    <p:sldId id="729" r:id="rId16"/>
    <p:sldId id="731" r:id="rId17"/>
    <p:sldId id="539" r:id="rId18"/>
    <p:sldId id="540" r:id="rId19"/>
    <p:sldId id="543" r:id="rId20"/>
    <p:sldId id="544" r:id="rId21"/>
    <p:sldId id="546" r:id="rId22"/>
    <p:sldId id="547" r:id="rId23"/>
    <p:sldId id="549" r:id="rId24"/>
    <p:sldId id="550" r:id="rId25"/>
    <p:sldId id="552" r:id="rId26"/>
    <p:sldId id="553" r:id="rId27"/>
    <p:sldId id="1176" r:id="rId28"/>
    <p:sldId id="964" r:id="rId29"/>
    <p:sldId id="984" r:id="rId30"/>
    <p:sldId id="971" r:id="rId31"/>
    <p:sldId id="1177" r:id="rId32"/>
    <p:sldId id="1651" r:id="rId33"/>
    <p:sldId id="993" r:id="rId34"/>
    <p:sldId id="1182" r:id="rId35"/>
    <p:sldId id="1658" r:id="rId36"/>
    <p:sldId id="1695" r:id="rId37"/>
    <p:sldId id="659" r:id="rId38"/>
    <p:sldId id="1088" r:id="rId39"/>
    <p:sldId id="969" r:id="rId40"/>
    <p:sldId id="750" r:id="rId41"/>
    <p:sldId id="1169" r:id="rId42"/>
    <p:sldId id="1693" r:id="rId43"/>
    <p:sldId id="468" r:id="rId44"/>
    <p:sldId id="470" r:id="rId45"/>
    <p:sldId id="1696" r:id="rId46"/>
    <p:sldId id="472" r:id="rId47"/>
    <p:sldId id="684" r:id="rId48"/>
    <p:sldId id="570" r:id="rId49"/>
    <p:sldId id="814" r:id="rId50"/>
    <p:sldId id="295" r:id="rId51"/>
    <p:sldId id="312" r:id="rId52"/>
    <p:sldId id="743" r:id="rId53"/>
    <p:sldId id="992" r:id="rId54"/>
    <p:sldId id="1261" r:id="rId55"/>
    <p:sldId id="1262" r:id="rId56"/>
    <p:sldId id="297" r:id="rId57"/>
    <p:sldId id="1256" r:id="rId58"/>
    <p:sldId id="1260" r:id="rId59"/>
    <p:sldId id="1083" r:id="rId60"/>
    <p:sldId id="289" r:id="rId61"/>
    <p:sldId id="351" r:id="rId62"/>
    <p:sldId id="432" r:id="rId63"/>
    <p:sldId id="352" r:id="rId64"/>
    <p:sldId id="479" r:id="rId65"/>
    <p:sldId id="480" r:id="rId66"/>
    <p:sldId id="481" r:id="rId67"/>
    <p:sldId id="482" r:id="rId68"/>
    <p:sldId id="292" r:id="rId69"/>
    <p:sldId id="434" r:id="rId70"/>
    <p:sldId id="304" r:id="rId71"/>
    <p:sldId id="305" r:id="rId72"/>
    <p:sldId id="447" r:id="rId73"/>
    <p:sldId id="485" r:id="rId74"/>
    <p:sldId id="261" r:id="rId75"/>
    <p:sldId id="488" r:id="rId76"/>
    <p:sldId id="490" r:id="rId77"/>
    <p:sldId id="353" r:id="rId78"/>
    <p:sldId id="300" r:id="rId79"/>
    <p:sldId id="491" r:id="rId80"/>
    <p:sldId id="467" r:id="rId81"/>
    <p:sldId id="303" r:id="rId82"/>
    <p:sldId id="438" r:id="rId83"/>
    <p:sldId id="440" r:id="rId84"/>
    <p:sldId id="1694" r:id="rId85"/>
    <p:sldId id="413" r:id="rId86"/>
    <p:sldId id="281" r:id="rId87"/>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91">
          <p15:clr>
            <a:srgbClr val="A4A3A4"/>
          </p15:clr>
        </p15:guide>
        <p15:guide id="2" pos="288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0FF00"/>
    <a:srgbClr val="660033"/>
    <a:srgbClr val="800000"/>
    <a:srgbClr val="0066FF"/>
    <a:srgbClr val="FF66CC"/>
    <a:srgbClr val="009900"/>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92" autoAdjust="0"/>
    <p:restoredTop sz="93826" autoAdjust="0"/>
  </p:normalViewPr>
  <p:slideViewPr>
    <p:cSldViewPr showGuides="1">
      <p:cViewPr varScale="1">
        <p:scale>
          <a:sx n="67" d="100"/>
          <a:sy n="67" d="100"/>
        </p:scale>
        <p:origin x="1108" y="52"/>
      </p:cViewPr>
      <p:guideLst>
        <p:guide orient="horz" pos="2191"/>
        <p:guide pos="288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8620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2" name="Rectangle 4"/>
          <p:cNvSpPr>
            <a:spLocks noGrp="1" noRot="1" noChangeAspect="1"/>
          </p:cNvSpPr>
          <p:nvPr>
            <p:ph type="sldImg"/>
          </p:nvPr>
        </p:nvSpPr>
        <p:spPr>
          <a:xfrm>
            <a:off x="1143000" y="685800"/>
            <a:ext cx="4572000" cy="3429000"/>
          </a:xfrm>
          <a:prstGeom prst="rect">
            <a:avLst/>
          </a:prstGeom>
          <a:noFill/>
          <a:ln w="9525">
            <a:noFill/>
          </a:ln>
        </p:spPr>
      </p:sp>
      <p:sp>
        <p:nvSpPr>
          <p:cNvPr id="2053" name="Rectangle 5"/>
          <p:cNvSpPr>
            <a:spLocks noGrp="1"/>
          </p:cNvSpPr>
          <p:nvPr>
            <p:ph type="body" sz="quarter"/>
          </p:nvPr>
        </p:nvSpPr>
        <p:spPr>
          <a:xfrm>
            <a:off x="914400" y="4343400"/>
            <a:ext cx="5029200" cy="4114800"/>
          </a:xfrm>
          <a:prstGeom prst="rect">
            <a:avLst/>
          </a:prstGeom>
          <a:noFill/>
          <a:ln w="9525">
            <a:noFill/>
          </a:ln>
        </p:spPr>
        <p:txBody>
          <a:bodyPr wrap="square" lIns="91440" tIns="45720" rIns="91440" bIns="45720" anchor="ctr"/>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2054" name="Rectangle 6"/>
          <p:cNvSpPr>
            <a:spLocks noGrp="1" noChangeArrowheads="1"/>
          </p:cNvSpPr>
          <p:nvPr>
            <p:ph type="ftr" sz="quarter" idx="4"/>
          </p:nvPr>
        </p:nvSpPr>
        <p:spPr bwMode="auto">
          <a:xfrm>
            <a:off x="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B9360B12-E06F-40AE-91F3-C78524DE9C18}" type="slidenum">
              <a:rPr kumimoji="0"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3" Type="http://schemas.openxmlformats.org/officeDocument/2006/relationships/hyperlink" Target="http://baike.baidu.com/view/420846.htm" TargetMode="External"/><Relationship Id="rId18" Type="http://schemas.openxmlformats.org/officeDocument/2006/relationships/hyperlink" Target="http://baike.baidu.com/view/178145.htm" TargetMode="External"/><Relationship Id="rId26" Type="http://schemas.openxmlformats.org/officeDocument/2006/relationships/hyperlink" Target="http://baike.baidu.com/view/178200.htm" TargetMode="External"/><Relationship Id="rId39" Type="http://schemas.openxmlformats.org/officeDocument/2006/relationships/hyperlink" Target="http://baike.baidu.com/view/754510.htm" TargetMode="External"/><Relationship Id="rId21" Type="http://schemas.openxmlformats.org/officeDocument/2006/relationships/hyperlink" Target="http://baike.baidu.com/view/6061764.htm" TargetMode="External"/><Relationship Id="rId34" Type="http://schemas.openxmlformats.org/officeDocument/2006/relationships/hyperlink" Target="http://baike.baidu.com/view/2083958.htm" TargetMode="External"/><Relationship Id="rId42" Type="http://schemas.openxmlformats.org/officeDocument/2006/relationships/hyperlink" Target="http://baike.baidu.com/view/166248.htm" TargetMode="External"/><Relationship Id="rId47" Type="http://schemas.openxmlformats.org/officeDocument/2006/relationships/hyperlink" Target="http://baike.baidu.com/view/368294.htm" TargetMode="External"/><Relationship Id="rId50" Type="http://schemas.openxmlformats.org/officeDocument/2006/relationships/hyperlink" Target="http://baike.baidu.com/view/421016.htm" TargetMode="External"/><Relationship Id="rId7" Type="http://schemas.openxmlformats.org/officeDocument/2006/relationships/hyperlink" Target="http://baike.baidu.com/view/128511.htm" TargetMode="External"/><Relationship Id="rId2" Type="http://schemas.openxmlformats.org/officeDocument/2006/relationships/slide" Target="../slides/slide4.xml"/><Relationship Id="rId16" Type="http://schemas.openxmlformats.org/officeDocument/2006/relationships/hyperlink" Target="http://baike.baidu.com/view/907834.htm" TargetMode="External"/><Relationship Id="rId29" Type="http://schemas.openxmlformats.org/officeDocument/2006/relationships/hyperlink" Target="http://baike.baidu.com/view/662318.htm" TargetMode="External"/><Relationship Id="rId11" Type="http://schemas.openxmlformats.org/officeDocument/2006/relationships/hyperlink" Target="http://baike.baidu.com/view/2120589.htm" TargetMode="External"/><Relationship Id="rId24" Type="http://schemas.openxmlformats.org/officeDocument/2006/relationships/hyperlink" Target="http://baike.baidu.com/view/1769259.htm" TargetMode="External"/><Relationship Id="rId32" Type="http://schemas.openxmlformats.org/officeDocument/2006/relationships/hyperlink" Target="http://baike.baidu.com/view/18536.htm" TargetMode="External"/><Relationship Id="rId37" Type="http://schemas.openxmlformats.org/officeDocument/2006/relationships/hyperlink" Target="http://baike.baidu.com/view/9900.htm" TargetMode="External"/><Relationship Id="rId40" Type="http://schemas.openxmlformats.org/officeDocument/2006/relationships/hyperlink" Target="http://baike.baidu.com/view/494465.htm" TargetMode="External"/><Relationship Id="rId45" Type="http://schemas.openxmlformats.org/officeDocument/2006/relationships/hyperlink" Target="http://baike.baidu.com/view/712987.htm" TargetMode="External"/><Relationship Id="rId5" Type="http://schemas.openxmlformats.org/officeDocument/2006/relationships/hyperlink" Target="http://baike.baidu.com/view/20003.htm" TargetMode="External"/><Relationship Id="rId15" Type="http://schemas.openxmlformats.org/officeDocument/2006/relationships/hyperlink" Target="http://baike.baidu.com/view/149970.htm" TargetMode="External"/><Relationship Id="rId23" Type="http://schemas.openxmlformats.org/officeDocument/2006/relationships/hyperlink" Target="http://baike.baidu.com/view/147768.htm" TargetMode="External"/><Relationship Id="rId28" Type="http://schemas.openxmlformats.org/officeDocument/2006/relationships/hyperlink" Target="http://baike.baidu.com/view/8407048.htm" TargetMode="External"/><Relationship Id="rId36" Type="http://schemas.openxmlformats.org/officeDocument/2006/relationships/hyperlink" Target="http://baike.baidu.com/view/296689.htm" TargetMode="External"/><Relationship Id="rId49" Type="http://schemas.openxmlformats.org/officeDocument/2006/relationships/hyperlink" Target="http://baike.baidu.com/view/1375172.htm" TargetMode="External"/><Relationship Id="rId10" Type="http://schemas.openxmlformats.org/officeDocument/2006/relationships/hyperlink" Target="http://baike.baidu.com/view/1390812.htm" TargetMode="External"/><Relationship Id="rId19" Type="http://schemas.openxmlformats.org/officeDocument/2006/relationships/hyperlink" Target="http://baike.baidu.com/view/1666.htm" TargetMode="External"/><Relationship Id="rId31" Type="http://schemas.openxmlformats.org/officeDocument/2006/relationships/hyperlink" Target="http://baike.baidu.com/view/5593592.htm" TargetMode="External"/><Relationship Id="rId44" Type="http://schemas.openxmlformats.org/officeDocument/2006/relationships/hyperlink" Target="http://baike.baidu.com/view/238412.htm" TargetMode="External"/><Relationship Id="rId4" Type="http://schemas.openxmlformats.org/officeDocument/2006/relationships/hyperlink" Target="http://baike.baidu.com/view/38752.htm" TargetMode="External"/><Relationship Id="rId9" Type="http://schemas.openxmlformats.org/officeDocument/2006/relationships/hyperlink" Target="http://baike.baidu.com/view/1326946.htm" TargetMode="External"/><Relationship Id="rId14" Type="http://schemas.openxmlformats.org/officeDocument/2006/relationships/hyperlink" Target="http://baike.baidu.com/view/494802.htm" TargetMode="External"/><Relationship Id="rId22" Type="http://schemas.openxmlformats.org/officeDocument/2006/relationships/hyperlink" Target="http://baike.baidu.com/view/178195.htm" TargetMode="External"/><Relationship Id="rId27" Type="http://schemas.openxmlformats.org/officeDocument/2006/relationships/hyperlink" Target="http://baike.baidu.com/view/675645.htm" TargetMode="External"/><Relationship Id="rId30" Type="http://schemas.openxmlformats.org/officeDocument/2006/relationships/hyperlink" Target="http://baike.baidu.com/view/1349516.htm" TargetMode="External"/><Relationship Id="rId35" Type="http://schemas.openxmlformats.org/officeDocument/2006/relationships/hyperlink" Target="http://baike.baidu.com/view/111847.htm" TargetMode="External"/><Relationship Id="rId43" Type="http://schemas.openxmlformats.org/officeDocument/2006/relationships/hyperlink" Target="http://baike.baidu.com/view/60267.htm" TargetMode="External"/><Relationship Id="rId48" Type="http://schemas.openxmlformats.org/officeDocument/2006/relationships/hyperlink" Target="http://baike.baidu.com/view/50152.htm" TargetMode="External"/><Relationship Id="rId8" Type="http://schemas.openxmlformats.org/officeDocument/2006/relationships/hyperlink" Target="http://baike.baidu.com/view/104195.htm" TargetMode="External"/><Relationship Id="rId51" Type="http://schemas.openxmlformats.org/officeDocument/2006/relationships/hyperlink" Target="http://baike.baidu.com/view/1389.htm" TargetMode="External"/><Relationship Id="rId3" Type="http://schemas.openxmlformats.org/officeDocument/2006/relationships/hyperlink" Target="http://baike.baidu.com/view/3414614.htm" TargetMode="External"/><Relationship Id="rId12" Type="http://schemas.openxmlformats.org/officeDocument/2006/relationships/hyperlink" Target="http://baike.baidu.com/view/1462753.htm" TargetMode="External"/><Relationship Id="rId17" Type="http://schemas.openxmlformats.org/officeDocument/2006/relationships/hyperlink" Target="http://baike.baidu.com/view/2258452.htm" TargetMode="External"/><Relationship Id="rId25" Type="http://schemas.openxmlformats.org/officeDocument/2006/relationships/hyperlink" Target="http://baike.baidu.com/view/178197.htm" TargetMode="External"/><Relationship Id="rId33" Type="http://schemas.openxmlformats.org/officeDocument/2006/relationships/hyperlink" Target="http://baike.baidu.com/view/1188494.htm" TargetMode="External"/><Relationship Id="rId38" Type="http://schemas.openxmlformats.org/officeDocument/2006/relationships/hyperlink" Target="http://baike.baidu.com/view/107254.htm" TargetMode="External"/><Relationship Id="rId46" Type="http://schemas.openxmlformats.org/officeDocument/2006/relationships/hyperlink" Target="http://baike.baidu.com/view/1700609.htm" TargetMode="External"/><Relationship Id="rId20" Type="http://schemas.openxmlformats.org/officeDocument/2006/relationships/hyperlink" Target="http://baike.baidu.com/view/591160.htm" TargetMode="External"/><Relationship Id="rId41" Type="http://schemas.openxmlformats.org/officeDocument/2006/relationships/hyperlink" Target="http://baike.baidu.com/view/5580827.htm" TargetMode="External"/><Relationship Id="rId1" Type="http://schemas.openxmlformats.org/officeDocument/2006/relationships/notesMaster" Target="../notesMasters/notesMaster1.xml"/><Relationship Id="rId6" Type="http://schemas.openxmlformats.org/officeDocument/2006/relationships/hyperlink" Target="http://baike.baidu.com/view/87697.htm"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p:sp>
      <p:sp>
        <p:nvSpPr>
          <p:cNvPr id="4099" name="备注占位符 2"/>
          <p:cNvSpPr>
            <a:spLocks noGrp="1"/>
          </p:cNvSpPr>
          <p:nvPr>
            <p:ph type="body"/>
          </p:nvPr>
        </p:nvSpPr>
        <p:spPr/>
        <p:txBody>
          <a:bodyPr wrap="square" lIns="91440" tIns="45720" rIns="91440" bIns="45720" anchor="t"/>
          <a:lstStyle/>
          <a:p>
            <a:pPr lvl="0"/>
            <a:r>
              <a:rPr lang="zh-CN" altLang="en-US" dirty="0">
                <a:ea typeface="宋体" panose="02010600030101010101" pitchFamily="2" charset="-122"/>
              </a:rPr>
              <a:t>物联网技术  可计算性理论</a:t>
            </a:r>
          </a:p>
        </p:txBody>
      </p:sp>
      <p:sp>
        <p:nvSpPr>
          <p:cNvPr id="4100" name="灯片编号占位符 3"/>
          <p:cNvSpPr txBox="1">
            <a:spLocks noGrp="1"/>
          </p:cNvSpPr>
          <p:nvPr/>
        </p:nvSpPr>
        <p:spPr>
          <a:xfrm>
            <a:off x="3886200" y="8686800"/>
            <a:ext cx="2971800" cy="457200"/>
          </a:xfrm>
          <a:prstGeom prst="rect">
            <a:avLst/>
          </a:prstGeom>
          <a:noFill/>
          <a:ln w="9525">
            <a:noFill/>
          </a:ln>
        </p:spPr>
        <p:txBody>
          <a:bodyPr anchor="b"/>
          <a:lstStyle/>
          <a:p>
            <a:pPr lvl="0" indent="0" algn="r" eaLnBrk="1" hangingPunct="1"/>
            <a:fld id="{9A0DB2DC-4C9A-4742-B13C-FB6460FD3503}" type="slidenum">
              <a:rPr lang="zh-CN" altLang="en-US" dirty="0"/>
              <a:t>1</a:t>
            </a:fld>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15362" name="Rectangle 7"/>
          <p:cNvSpPr txBox="1">
            <a:spLocks noGrp="1"/>
          </p:cNvSpP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t>3</a:t>
            </a:fld>
            <a:endParaRPr lang="zh-CN" altLang="en-US" dirty="0"/>
          </a:p>
        </p:txBody>
      </p:sp>
      <p:sp>
        <p:nvSpPr>
          <p:cNvPr id="15363" name="Rectangle 2"/>
          <p:cNvSpPr>
            <a:spLocks noGrp="1" noRot="1" noChangeAspect="1" noTextEdit="1"/>
          </p:cNvSpPr>
          <p:nvPr>
            <p:ph type="sldImg"/>
          </p:nvPr>
        </p:nvSpPr>
        <p:spPr>
          <a:xfrm>
            <a:off x="1144588" y="685800"/>
            <a:ext cx="4570412" cy="3427413"/>
          </a:xfrm>
        </p:spPr>
      </p:sp>
      <p:sp>
        <p:nvSpPr>
          <p:cNvPr id="15364" name="Rectangle 3"/>
          <p:cNvSpPr>
            <a:spLocks noGrp="1"/>
          </p:cNvSpPr>
          <p:nvPr>
            <p:ph type="body" idx="1"/>
          </p:nvPr>
        </p:nvSpPr>
        <p:spPr/>
        <p:txBody>
          <a:bodyPr vert="horz" wrap="square" anchor="t"/>
          <a:lstStyle/>
          <a:p>
            <a:pPr lvl="0" eaLnBrk="1" hangingPunct="1"/>
            <a:r>
              <a:rPr lang="zh-CN" altLang="en-US" b="1" dirty="0">
                <a:latin typeface="宋体" panose="02010600030101010101" pitchFamily="2" charset="-122"/>
              </a:rPr>
              <a:t>第一部分是保存数据的齿轮式</a:t>
            </a:r>
            <a:r>
              <a:rPr lang="en-US" altLang="zh-CN" b="1" dirty="0"/>
              <a:t>"</a:t>
            </a:r>
            <a:r>
              <a:rPr lang="zh-CN" altLang="en-US" b="1" dirty="0"/>
              <a:t>存贮仓库</a:t>
            </a:r>
            <a:r>
              <a:rPr lang="en-US" altLang="zh-CN" b="1" dirty="0"/>
              <a:t>"</a:t>
            </a:r>
            <a:r>
              <a:rPr lang="zh-CN" altLang="en-US" b="1" dirty="0"/>
              <a:t>(</a:t>
            </a:r>
            <a:r>
              <a:rPr lang="en-US" altLang="x-none" b="1" dirty="0"/>
              <a:t>Store)</a:t>
            </a:r>
            <a:r>
              <a:rPr lang="zh-CN" altLang="en-US" b="1" dirty="0">
                <a:latin typeface="宋体" panose="02010600030101010101" pitchFamily="2" charset="-122"/>
              </a:rPr>
              <a:t> ；	－－</a:t>
            </a:r>
            <a:r>
              <a:rPr lang="zh-CN" altLang="en-US" b="1" dirty="0">
                <a:solidFill>
                  <a:srgbClr val="6600FF"/>
                </a:solidFill>
                <a:latin typeface="宋体" panose="02010600030101010101" pitchFamily="2" charset="-122"/>
              </a:rPr>
              <a:t>存储单元</a:t>
            </a:r>
            <a:r>
              <a:rPr lang="zh-CN" altLang="en-US" b="1" dirty="0">
                <a:latin typeface="宋体" panose="02010600030101010101" pitchFamily="2" charset="-122"/>
              </a:rPr>
              <a:t>         	</a:t>
            </a:r>
          </a:p>
          <a:p>
            <a:pPr lvl="0" eaLnBrk="1" hangingPunct="1"/>
            <a:r>
              <a:rPr lang="zh-CN" altLang="en-US" b="1" dirty="0">
                <a:latin typeface="宋体" panose="02010600030101010101" pitchFamily="2" charset="-122"/>
              </a:rPr>
              <a:t>		第二部分是对数据进行各种运算的装置（</a:t>
            </a:r>
            <a:r>
              <a:rPr lang="en-US" altLang="zh-CN" b="1" dirty="0"/>
              <a:t>"</a:t>
            </a:r>
            <a:r>
              <a:rPr lang="zh-CN" altLang="en-US" b="1" dirty="0">
                <a:latin typeface="宋体" panose="02010600030101010101" pitchFamily="2" charset="-122"/>
              </a:rPr>
              <a:t>作坊</a:t>
            </a:r>
            <a:r>
              <a:rPr lang="en-US" altLang="zh-CN" b="1" dirty="0"/>
              <a:t>"</a:t>
            </a:r>
            <a:r>
              <a:rPr lang="zh-CN" altLang="en-US" b="1" dirty="0">
                <a:latin typeface="宋体" panose="02010600030101010101" pitchFamily="2" charset="-122"/>
              </a:rPr>
              <a:t>）；－－</a:t>
            </a:r>
            <a:r>
              <a:rPr lang="zh-CN" altLang="en-US" b="1" dirty="0">
                <a:solidFill>
                  <a:srgbClr val="6600FF"/>
                </a:solidFill>
                <a:latin typeface="宋体" panose="02010600030101010101" pitchFamily="2" charset="-122"/>
              </a:rPr>
              <a:t>运算单元</a:t>
            </a:r>
          </a:p>
          <a:p>
            <a:pPr lvl="0" eaLnBrk="1" hangingPunct="1"/>
            <a:r>
              <a:rPr lang="zh-CN" altLang="en-US" b="1" dirty="0">
                <a:latin typeface="宋体" panose="02010600030101010101" pitchFamily="2" charset="-122"/>
              </a:rPr>
              <a:t>		第三部分是对操作顺序进行控制，并对所要处理的数据及输出结果加以选择的装置。－－</a:t>
            </a:r>
            <a:r>
              <a:rPr lang="zh-CN" altLang="en-US" b="1" dirty="0">
                <a:solidFill>
                  <a:srgbClr val="6600FF"/>
                </a:solidFill>
                <a:latin typeface="宋体" panose="02010600030101010101" pitchFamily="2" charset="-122"/>
              </a:rPr>
              <a:t>控制单元</a:t>
            </a:r>
          </a:p>
          <a:p>
            <a:pPr lvl="0" eaLnBrk="1" hangingPunct="1"/>
            <a:r>
              <a:rPr lang="zh-CN" altLang="en-US" b="1" dirty="0">
                <a:latin typeface="宋体" panose="02010600030101010101" pitchFamily="2" charset="-122"/>
              </a:rPr>
              <a:t>		第四部分是</a:t>
            </a:r>
            <a:r>
              <a:rPr lang="zh-CN" altLang="en-US" b="1" dirty="0"/>
              <a:t>在</a:t>
            </a:r>
            <a:r>
              <a:rPr lang="en-US" altLang="zh-CN" b="1" dirty="0"/>
              <a:t>"</a:t>
            </a:r>
            <a:r>
              <a:rPr lang="zh-CN" altLang="en-US" b="1" dirty="0"/>
              <a:t>存贮仓库</a:t>
            </a:r>
            <a:r>
              <a:rPr lang="en-US" altLang="zh-CN" b="1" dirty="0"/>
              <a:t>"</a:t>
            </a:r>
            <a:r>
              <a:rPr lang="zh-CN" altLang="en-US" b="1" dirty="0"/>
              <a:t>和</a:t>
            </a:r>
            <a:r>
              <a:rPr lang="en-US" altLang="zh-CN" b="1" dirty="0"/>
              <a:t>"</a:t>
            </a:r>
            <a:r>
              <a:rPr lang="zh-CN" altLang="en-US" b="1" dirty="0"/>
              <a:t>作坊</a:t>
            </a:r>
            <a:r>
              <a:rPr lang="en-US" altLang="zh-CN" b="1" dirty="0"/>
              <a:t>"</a:t>
            </a:r>
            <a:r>
              <a:rPr lang="zh-CN" altLang="en-US" b="1" dirty="0"/>
              <a:t>之间运输数据的输入输出部件。 </a:t>
            </a:r>
            <a:r>
              <a:rPr lang="zh-CN" altLang="en-US" b="1" dirty="0">
                <a:latin typeface="宋体" panose="02010600030101010101" pitchFamily="2" charset="-122"/>
              </a:rPr>
              <a:t>－－</a:t>
            </a:r>
            <a:r>
              <a:rPr lang="zh-CN" altLang="en-US" b="1" dirty="0">
                <a:solidFill>
                  <a:srgbClr val="6600FF"/>
                </a:solidFill>
                <a:latin typeface="宋体" panose="02010600030101010101" pitchFamily="2" charset="-122"/>
              </a:rPr>
              <a:t>输入输出单元</a:t>
            </a:r>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74754" name="Rectangle 7"/>
          <p:cNvSpPr txBox="1">
            <a:spLocks noGrp="1"/>
          </p:cNvSpP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t>4</a:t>
            </a:fld>
            <a:endParaRPr lang="zh-CN" altLang="en-US" dirty="0"/>
          </a:p>
        </p:txBody>
      </p:sp>
      <p:sp>
        <p:nvSpPr>
          <p:cNvPr id="74755" name="Rectangle 2"/>
          <p:cNvSpPr>
            <a:spLocks noGrp="1" noRot="1" noChangeAspect="1" noTextEdit="1"/>
          </p:cNvSpPr>
          <p:nvPr>
            <p:ph type="sldImg"/>
          </p:nvPr>
        </p:nvSpPr>
        <p:spPr>
          <a:xfrm>
            <a:off x="1144588" y="685800"/>
            <a:ext cx="4570412" cy="3427413"/>
          </a:xfrm>
        </p:spPr>
      </p:sp>
      <p:sp>
        <p:nvSpPr>
          <p:cNvPr id="74756" name="Rectangle 3"/>
          <p:cNvSpPr>
            <a:spLocks noGrp="1"/>
          </p:cNvSpPr>
          <p:nvPr>
            <p:ph type="body" idx="1"/>
          </p:nvPr>
        </p:nvSpPr>
        <p:spPr/>
        <p:txBody>
          <a:bodyPr vert="horz" wrap="square" anchor="t"/>
          <a:lstStyle/>
          <a:p>
            <a:pPr lvl="0"/>
            <a:r>
              <a:rPr lang="zh-CN" altLang="en-US" b="1" dirty="0"/>
              <a:t>非冯诺依曼结构电脑</a:t>
            </a:r>
          </a:p>
          <a:p>
            <a:pPr lvl="0"/>
            <a:r>
              <a:rPr lang="zh-CN" altLang="en-US" dirty="0"/>
              <a:t>目录</a:t>
            </a:r>
          </a:p>
          <a:p>
            <a:pPr lvl="0"/>
            <a:r>
              <a:rPr lang="zh-CN" altLang="en-US" dirty="0">
                <a:hlinkClick r:id="" action="ppaction://hlinkfile"/>
              </a:rPr>
              <a:t>回顾</a:t>
            </a:r>
            <a:r>
              <a:rPr lang="zh-CN" altLang="en-US" dirty="0"/>
              <a:t> </a:t>
            </a:r>
            <a:r>
              <a:rPr lang="zh-CN" altLang="en-US" dirty="0">
                <a:hlinkClick r:id="" action="ppaction://hlinkfile"/>
              </a:rPr>
              <a:t>说法一</a:t>
            </a:r>
            <a:r>
              <a:rPr lang="zh-CN" altLang="en-US" dirty="0"/>
              <a:t> </a:t>
            </a:r>
          </a:p>
          <a:p>
            <a:pPr lvl="0"/>
            <a:r>
              <a:rPr lang="zh-CN" altLang="en-US" dirty="0">
                <a:hlinkClick r:id="" action="ppaction://hlinkfile"/>
              </a:rPr>
              <a:t>说法二</a:t>
            </a:r>
            <a:endParaRPr lang="zh-CN" altLang="en-US" dirty="0"/>
          </a:p>
          <a:p>
            <a:pPr lvl="0"/>
            <a:r>
              <a:rPr lang="zh-CN" altLang="en-US" dirty="0">
                <a:hlinkClick r:id="" action="ppaction://hlinkfile"/>
              </a:rPr>
              <a:t>冯</a:t>
            </a:r>
            <a:r>
              <a:rPr lang="en-US" altLang="x-none" dirty="0">
                <a:hlinkClick r:id="" action="ppaction://hlinkfile"/>
              </a:rPr>
              <a:t>·</a:t>
            </a:r>
            <a:r>
              <a:rPr lang="zh-CN" altLang="en-US" dirty="0">
                <a:hlinkClick r:id="" action="ppaction://hlinkfile"/>
              </a:rPr>
              <a:t>诺依曼体系结构</a:t>
            </a:r>
            <a:r>
              <a:rPr lang="en-US" altLang="x-none" dirty="0">
                <a:hlinkClick r:id="" action="ppaction://hlinkfile"/>
              </a:rPr>
              <a:t>-</a:t>
            </a:r>
            <a:r>
              <a:rPr lang="zh-CN" altLang="en-US" dirty="0">
                <a:hlinkClick r:id="" action="ppaction://hlinkfile"/>
              </a:rPr>
              <a:t>非诺依曼化</a:t>
            </a:r>
            <a:r>
              <a:rPr lang="zh-CN" altLang="en-US" dirty="0"/>
              <a:t> </a:t>
            </a:r>
            <a:r>
              <a:rPr lang="zh-CN" altLang="en-US" dirty="0">
                <a:hlinkClick r:id="" action="ppaction://hlinkfile"/>
              </a:rPr>
              <a:t>哈佛结构</a:t>
            </a:r>
            <a:r>
              <a:rPr lang="zh-CN" altLang="en-US" dirty="0"/>
              <a:t> 展开 </a:t>
            </a:r>
            <a:r>
              <a:rPr lang="zh-CN" altLang="en-US" dirty="0">
                <a:hlinkClick r:id="rId3"/>
              </a:rPr>
              <a:t>回顾</a:t>
            </a:r>
            <a:r>
              <a:rPr lang="zh-CN" altLang="en-US" dirty="0"/>
              <a:t> </a:t>
            </a:r>
            <a:r>
              <a:rPr lang="zh-CN" altLang="en-US" dirty="0">
                <a:hlinkClick r:id="rId3"/>
              </a:rPr>
              <a:t>说法一</a:t>
            </a:r>
            <a:r>
              <a:rPr lang="zh-CN" altLang="en-US" dirty="0"/>
              <a:t> </a:t>
            </a:r>
          </a:p>
          <a:p>
            <a:pPr lvl="0"/>
            <a:endParaRPr lang="zh-CN" altLang="en-US" dirty="0"/>
          </a:p>
          <a:p>
            <a:pPr lvl="0"/>
            <a:r>
              <a:rPr lang="zh-CN" altLang="en-US" dirty="0">
                <a:hlinkClick r:id="rId3"/>
              </a:rPr>
              <a:t>说法二</a:t>
            </a:r>
            <a:endParaRPr lang="zh-CN" altLang="en-US" dirty="0"/>
          </a:p>
          <a:p>
            <a:pPr lvl="0"/>
            <a:r>
              <a:rPr lang="zh-CN" altLang="en-US" dirty="0">
                <a:hlinkClick r:id="rId3"/>
              </a:rPr>
              <a:t>冯</a:t>
            </a:r>
            <a:r>
              <a:rPr lang="en-US" altLang="x-none" dirty="0">
                <a:hlinkClick r:id="rId3"/>
              </a:rPr>
              <a:t>·</a:t>
            </a:r>
            <a:r>
              <a:rPr lang="zh-CN" altLang="en-US" dirty="0">
                <a:hlinkClick r:id="rId3"/>
              </a:rPr>
              <a:t>诺依曼体系结构</a:t>
            </a:r>
            <a:r>
              <a:rPr lang="en-US" altLang="x-none" dirty="0">
                <a:hlinkClick r:id="rId3"/>
              </a:rPr>
              <a:t>-</a:t>
            </a:r>
            <a:r>
              <a:rPr lang="zh-CN" altLang="en-US" dirty="0">
                <a:hlinkClick r:id="rId3"/>
              </a:rPr>
              <a:t>非诺依曼化</a:t>
            </a:r>
            <a:r>
              <a:rPr lang="zh-CN" altLang="en-US" dirty="0"/>
              <a:t> </a:t>
            </a:r>
            <a:r>
              <a:rPr lang="zh-CN" altLang="en-US" dirty="0">
                <a:hlinkClick r:id="rId3"/>
              </a:rPr>
              <a:t>哈佛结构</a:t>
            </a:r>
            <a:r>
              <a:rPr lang="zh-CN" altLang="en-US" dirty="0"/>
              <a:t> 展开</a:t>
            </a:r>
          </a:p>
          <a:p>
            <a:pPr lvl="0"/>
            <a:r>
              <a:rPr lang="zh-CN" altLang="en-US" b="1" dirty="0">
                <a:hlinkClick r:id="rId4" action="ppaction://hlinkfile"/>
              </a:rPr>
              <a:t>编辑本段</a:t>
            </a:r>
            <a:r>
              <a:rPr lang="zh-CN" altLang="en-US" b="1" dirty="0"/>
              <a:t>回顾</a:t>
            </a:r>
          </a:p>
          <a:p>
            <a:pPr lvl="0"/>
            <a:r>
              <a:rPr lang="zh-CN" altLang="en-US" dirty="0"/>
              <a:t>现代计算机自问世以来已历经</a:t>
            </a:r>
            <a:r>
              <a:rPr lang="en-US" altLang="x-none" dirty="0"/>
              <a:t>50</a:t>
            </a:r>
            <a:r>
              <a:rPr lang="zh-CN" altLang="en-US" dirty="0"/>
              <a:t>余年的历史，但计算机所遵循的基本结构形式始终是</a:t>
            </a:r>
            <a:r>
              <a:rPr lang="zh-CN" altLang="en-US" dirty="0">
                <a:hlinkClick r:id="rId5" action="ppaction://hlinkfile"/>
              </a:rPr>
              <a:t>冯</a:t>
            </a:r>
            <a:r>
              <a:rPr lang="en-US" altLang="x-none" dirty="0">
                <a:hlinkClick r:id="rId5" action="ppaction://hlinkfile"/>
              </a:rPr>
              <a:t>·</a:t>
            </a:r>
            <a:r>
              <a:rPr lang="zh-CN" altLang="en-US" dirty="0">
                <a:hlinkClick r:id="rId5" action="ppaction://hlinkfile"/>
              </a:rPr>
              <a:t>诺依曼</a:t>
            </a:r>
            <a:r>
              <a:rPr lang="zh-CN" altLang="en-US" dirty="0"/>
              <a:t>机结构。它的基本结构特征是</a:t>
            </a:r>
            <a:r>
              <a:rPr lang="en-US" altLang="zh-CN" dirty="0"/>
              <a:t>"</a:t>
            </a:r>
            <a:r>
              <a:rPr lang="zh-CN" altLang="en-US" dirty="0"/>
              <a:t>共享</a:t>
            </a:r>
            <a:r>
              <a:rPr lang="zh-CN" altLang="en-US" dirty="0">
                <a:hlinkClick r:id="rId4" action="ppaction://hlinkfile"/>
              </a:rPr>
              <a:t>数据</a:t>
            </a:r>
            <a:r>
              <a:rPr lang="zh-CN" altLang="en-US" dirty="0"/>
              <a:t>和串行执行</a:t>
            </a:r>
            <a:r>
              <a:rPr lang="en-US" altLang="zh-CN" dirty="0"/>
              <a:t>"</a:t>
            </a:r>
            <a:r>
              <a:rPr lang="zh-CN" altLang="en-US" dirty="0"/>
              <a:t>的计算机模型。按照这种结构，程序和</a:t>
            </a:r>
            <a:r>
              <a:rPr lang="zh-CN" altLang="en-US" dirty="0">
                <a:hlinkClick r:id="rId4" action="ppaction://hlinkfile"/>
              </a:rPr>
              <a:t>数据</a:t>
            </a:r>
            <a:r>
              <a:rPr lang="zh-CN" altLang="en-US" dirty="0"/>
              <a:t>放在共享</a:t>
            </a:r>
            <a:r>
              <a:rPr lang="zh-CN" altLang="en-US" dirty="0">
                <a:hlinkClick r:id="rId6" action="ppaction://hlinkfile"/>
              </a:rPr>
              <a:t>存储器</a:t>
            </a:r>
            <a:r>
              <a:rPr lang="zh-CN" altLang="en-US" dirty="0"/>
              <a:t>内，</a:t>
            </a:r>
            <a:r>
              <a:rPr lang="en-US" altLang="x-none" dirty="0"/>
              <a:t>CPU</a:t>
            </a:r>
            <a:r>
              <a:rPr lang="zh-CN" altLang="en-US" dirty="0"/>
              <a:t>取出指令和数据进行相应的计算，因此</a:t>
            </a:r>
            <a:r>
              <a:rPr lang="en-US" altLang="x-none" dirty="0"/>
              <a:t>CPU</a:t>
            </a:r>
            <a:r>
              <a:rPr lang="zh-CN" altLang="en-US" dirty="0"/>
              <a:t>与共享存储器间的信息通路成为影响系统性能的</a:t>
            </a:r>
            <a:r>
              <a:rPr lang="en-US" altLang="zh-CN" dirty="0"/>
              <a:t>"</a:t>
            </a:r>
            <a:r>
              <a:rPr lang="zh-CN" altLang="en-US" dirty="0"/>
              <a:t>瓶颈</a:t>
            </a:r>
            <a:r>
              <a:rPr lang="en-US" altLang="zh-CN" dirty="0"/>
              <a:t>"</a:t>
            </a:r>
            <a:r>
              <a:rPr lang="zh-CN" altLang="en-US" dirty="0"/>
              <a:t>。多年来在并行计算机结构及处理的研究已经取得了很多成果，如阵列机、流水机、向量机等，使计算速度有了很大提高，但就本质上仍无法克服冯</a:t>
            </a:r>
            <a:r>
              <a:rPr lang="en-US" altLang="x-none" dirty="0"/>
              <a:t>·</a:t>
            </a:r>
            <a:r>
              <a:rPr lang="zh-CN" altLang="en-US" dirty="0"/>
              <a:t>诺依曼机结构上的缺陷。</a:t>
            </a:r>
          </a:p>
          <a:p>
            <a:pPr lvl="0"/>
            <a:r>
              <a:rPr lang="zh-CN" altLang="en-US" dirty="0"/>
              <a:t>随着计算机发展，人们除了继续对命令式语言进行改进外，提出了若干非冯</a:t>
            </a:r>
            <a:r>
              <a:rPr lang="en-US" altLang="x-none" dirty="0"/>
              <a:t>·</a:t>
            </a:r>
            <a:r>
              <a:rPr lang="zh-CN" altLang="en-US" dirty="0"/>
              <a:t>诺依曼型的</a:t>
            </a:r>
            <a:r>
              <a:rPr lang="zh-CN" altLang="en-US" dirty="0">
                <a:hlinkClick r:id="rId7" action="ppaction://hlinkfile"/>
              </a:rPr>
              <a:t>程序设计语言</a:t>
            </a:r>
            <a:r>
              <a:rPr lang="zh-CN" altLang="en-US" dirty="0"/>
              <a:t>，并探索了适合于这类语言的新型计算机系统结构，大胆地脱离了冯</a:t>
            </a:r>
            <a:r>
              <a:rPr lang="en-US" altLang="x-none" dirty="0"/>
              <a:t>·</a:t>
            </a:r>
            <a:r>
              <a:rPr lang="zh-CN" altLang="en-US" dirty="0"/>
              <a:t>诺依曼原有的计算机模式，寻求有利于开发高度并行功能的新型计算机模型，例如</a:t>
            </a:r>
            <a:r>
              <a:rPr lang="zh-CN" altLang="en-US" dirty="0">
                <a:hlinkClick r:id="rId8" action="ppaction://hlinkfile"/>
              </a:rPr>
              <a:t>光子计算机</a:t>
            </a:r>
            <a:r>
              <a:rPr lang="zh-CN" altLang="en-US" dirty="0"/>
              <a:t>（</a:t>
            </a:r>
            <a:r>
              <a:rPr lang="zh-CN" altLang="en-US" dirty="0">
                <a:hlinkClick r:id="rId9" action="ppaction://hlinkfile"/>
              </a:rPr>
              <a:t>光处理器</a:t>
            </a:r>
            <a:r>
              <a:rPr lang="zh-CN" altLang="en-US" dirty="0"/>
              <a:t>利用光的高速和无干扰性，使用光学元件构成处理器。尚在研发中），并行计算机、</a:t>
            </a:r>
            <a:r>
              <a:rPr lang="zh-CN" altLang="en-US" dirty="0">
                <a:hlinkClick r:id="rId10" action="ppaction://hlinkfile"/>
              </a:rPr>
              <a:t>数据流计算机</a:t>
            </a:r>
            <a:r>
              <a:rPr lang="zh-CN" altLang="en-US" dirty="0"/>
              <a:t>以及量子计算机等。</a:t>
            </a:r>
          </a:p>
          <a:p>
            <a:pPr lvl="0"/>
            <a:r>
              <a:rPr lang="zh-CN" altLang="en-US" b="1" dirty="0"/>
              <a:t>说法一</a:t>
            </a:r>
          </a:p>
          <a:p>
            <a:pPr lvl="0"/>
            <a:r>
              <a:rPr lang="zh-CN" altLang="en-US" dirty="0"/>
              <a:t>传统的冯</a:t>
            </a:r>
            <a:r>
              <a:rPr lang="en-US" altLang="x-none" dirty="0"/>
              <a:t>·</a:t>
            </a:r>
            <a:r>
              <a:rPr lang="zh-CN" altLang="en-US" dirty="0"/>
              <a:t>诺依曼型结构属于控制驱动方式。它是以命令式语言为对象，指令的执行次序受指令计数器的控制，因而指令是串行执行的。也就是说有指令控制器控制指令执行的次序和时机，当它指向某条指令时才驱动该条指令的执行。这种结构特点是</a:t>
            </a:r>
            <a:r>
              <a:rPr lang="en-US" altLang="zh-CN" dirty="0"/>
              <a:t>"</a:t>
            </a:r>
            <a:r>
              <a:rPr lang="zh-CN" altLang="en-US" dirty="0"/>
              <a:t>程序存储，共享</a:t>
            </a:r>
            <a:r>
              <a:rPr lang="zh-CN" altLang="en-US" dirty="0">
                <a:hlinkClick r:id="rId4" action="ppaction://hlinkfile"/>
              </a:rPr>
              <a:t>数据</a:t>
            </a:r>
            <a:r>
              <a:rPr lang="zh-CN" altLang="en-US" dirty="0"/>
              <a:t>，</a:t>
            </a:r>
            <a:r>
              <a:rPr lang="zh-CN" altLang="en-US" dirty="0">
                <a:hlinkClick r:id="rId11" action="ppaction://hlinkfile"/>
              </a:rPr>
              <a:t>顺序执行</a:t>
            </a:r>
            <a:r>
              <a:rPr lang="en-US" altLang="zh-CN" dirty="0"/>
              <a:t>"</a:t>
            </a:r>
            <a:r>
              <a:rPr lang="zh-CN" altLang="en-US" dirty="0"/>
              <a:t>。计算中有一条单一的</a:t>
            </a:r>
            <a:r>
              <a:rPr lang="zh-CN" altLang="en-US" dirty="0">
                <a:hlinkClick r:id="rId12" action="ppaction://hlinkfile"/>
              </a:rPr>
              <a:t>控制流</a:t>
            </a:r>
            <a:r>
              <a:rPr lang="zh-CN" altLang="en-US" dirty="0"/>
              <a:t>从一条指令传到下一条指令（由指令计数器</a:t>
            </a:r>
            <a:r>
              <a:rPr lang="en-US" altLang="x-none" dirty="0"/>
              <a:t>PC</a:t>
            </a:r>
            <a:r>
              <a:rPr lang="zh-CN" altLang="en-US" dirty="0"/>
              <a:t>提供，执行</a:t>
            </a:r>
            <a:r>
              <a:rPr lang="en-US" altLang="x-none" dirty="0"/>
              <a:t>K</a:t>
            </a:r>
            <a:r>
              <a:rPr lang="zh-CN" altLang="en-US" dirty="0"/>
              <a:t>、</a:t>
            </a:r>
            <a:r>
              <a:rPr lang="en-US" altLang="x-none" dirty="0"/>
              <a:t>K+1</a:t>
            </a:r>
            <a:r>
              <a:rPr lang="zh-CN" altLang="en-US" dirty="0"/>
              <a:t>、</a:t>
            </a:r>
            <a:r>
              <a:rPr lang="en-US" altLang="x-none" dirty="0"/>
              <a:t>……</a:t>
            </a:r>
            <a:r>
              <a:rPr lang="zh-CN" altLang="en-US" dirty="0"/>
              <a:t>指令），执行指令所需要的</a:t>
            </a:r>
            <a:r>
              <a:rPr lang="zh-CN" altLang="en-US" dirty="0">
                <a:hlinkClick r:id="rId13" action="ppaction://hlinkfile"/>
              </a:rPr>
              <a:t>操作数</a:t>
            </a:r>
            <a:r>
              <a:rPr lang="zh-CN" altLang="en-US" dirty="0"/>
              <a:t>通过指令中给定的</a:t>
            </a:r>
            <a:r>
              <a:rPr lang="zh-CN" altLang="en-US" dirty="0">
                <a:hlinkClick r:id="rId14" action="ppaction://hlinkfile"/>
              </a:rPr>
              <a:t>地址</a:t>
            </a:r>
            <a:r>
              <a:rPr lang="zh-CN" altLang="en-US" dirty="0"/>
              <a:t>来访问，指令执行结果也通过地址存入一个共享的</a:t>
            </a:r>
            <a:r>
              <a:rPr lang="zh-CN" altLang="en-US" dirty="0">
                <a:hlinkClick r:id="rId6" action="ppaction://hlinkfile"/>
              </a:rPr>
              <a:t>存储器</a:t>
            </a:r>
            <a:r>
              <a:rPr lang="zh-CN" altLang="en-US" dirty="0"/>
              <a:t>中。并行</a:t>
            </a:r>
            <a:r>
              <a:rPr lang="zh-CN" altLang="en-US" dirty="0">
                <a:hlinkClick r:id="rId12" action="ppaction://hlinkfile"/>
              </a:rPr>
              <a:t>控制流</a:t>
            </a:r>
            <a:r>
              <a:rPr lang="zh-CN" altLang="en-US" dirty="0"/>
              <a:t>模型，采用操作符</a:t>
            </a:r>
            <a:r>
              <a:rPr lang="en-US" altLang="x-none" dirty="0"/>
              <a:t>Fork</a:t>
            </a:r>
            <a:r>
              <a:rPr lang="zh-CN" altLang="en-US" dirty="0"/>
              <a:t>和</a:t>
            </a:r>
            <a:r>
              <a:rPr lang="en-US" altLang="x-none" dirty="0"/>
              <a:t>Join</a:t>
            </a:r>
            <a:r>
              <a:rPr lang="zh-CN" altLang="en-US" dirty="0"/>
              <a:t>来显式地表示</a:t>
            </a:r>
            <a:r>
              <a:rPr lang="zh-CN" altLang="en-US" dirty="0">
                <a:hlinkClick r:id="rId15" action="ppaction://hlinkfile"/>
              </a:rPr>
              <a:t>并行性</a:t>
            </a:r>
            <a:r>
              <a:rPr lang="zh-CN" altLang="en-US" dirty="0"/>
              <a:t>，它允许在同一时刻有几个控制流同时活动。并行</a:t>
            </a:r>
            <a:r>
              <a:rPr lang="zh-CN" altLang="en-US" dirty="0">
                <a:hlinkClick r:id="rId12" action="ppaction://hlinkfile"/>
              </a:rPr>
              <a:t>控制流</a:t>
            </a:r>
            <a:r>
              <a:rPr lang="zh-CN" altLang="en-US" dirty="0"/>
              <a:t>模型中，关键技术之一是要有相应的同步手段（如</a:t>
            </a:r>
            <a:r>
              <a:rPr lang="en-US" altLang="x-none" dirty="0"/>
              <a:t>Join</a:t>
            </a:r>
            <a:r>
              <a:rPr lang="zh-CN" altLang="en-US" dirty="0"/>
              <a:t>操作符）来处理</a:t>
            </a:r>
            <a:r>
              <a:rPr lang="zh-CN" altLang="en-US" dirty="0">
                <a:hlinkClick r:id="rId4" action="ppaction://hlinkfile"/>
              </a:rPr>
              <a:t>数据</a:t>
            </a:r>
            <a:r>
              <a:rPr lang="zh-CN" altLang="en-US" dirty="0"/>
              <a:t>的相关性。</a:t>
            </a:r>
          </a:p>
          <a:p>
            <a:pPr lvl="0"/>
            <a:r>
              <a:rPr lang="zh-CN" altLang="en-US" dirty="0"/>
              <a:t>并行</a:t>
            </a:r>
            <a:r>
              <a:rPr lang="zh-CN" altLang="en-US" dirty="0">
                <a:hlinkClick r:id="rId16" action="ppaction://hlinkfile"/>
              </a:rPr>
              <a:t>控制流计算机</a:t>
            </a:r>
            <a:r>
              <a:rPr lang="zh-CN" altLang="en-US" dirty="0"/>
              <a:t>虽然摆脱了</a:t>
            </a:r>
            <a:r>
              <a:rPr lang="zh-CN" altLang="en-US" dirty="0">
                <a:hlinkClick r:id="rId17" action="ppaction://hlinkfile"/>
              </a:rPr>
              <a:t>传统计算机</a:t>
            </a:r>
            <a:r>
              <a:rPr lang="zh-CN" altLang="en-US" dirty="0"/>
              <a:t>单一控制流束缚，但它仍然存在以下两个缺点：</a:t>
            </a:r>
          </a:p>
          <a:p>
            <a:pPr lvl="0"/>
            <a:r>
              <a:rPr lang="en-US" altLang="x-none" dirty="0"/>
              <a:t>(1)</a:t>
            </a:r>
            <a:r>
              <a:rPr lang="zh-CN" altLang="en-US" dirty="0"/>
              <a:t>通常要用</a:t>
            </a:r>
            <a:r>
              <a:rPr lang="zh-CN" altLang="en-US" dirty="0">
                <a:hlinkClick r:id="rId18" action="ppaction://hlinkfile"/>
              </a:rPr>
              <a:t>程序计数器</a:t>
            </a:r>
            <a:r>
              <a:rPr lang="en-US" altLang="x-none" dirty="0"/>
              <a:t>PC</a:t>
            </a:r>
            <a:r>
              <a:rPr lang="zh-CN" altLang="en-US" dirty="0"/>
              <a:t>来指明指令的执行过程。</a:t>
            </a:r>
          </a:p>
          <a:p>
            <a:pPr lvl="0"/>
            <a:r>
              <a:rPr lang="en-US" altLang="x-none" dirty="0"/>
              <a:t>(2)</a:t>
            </a:r>
            <a:r>
              <a:rPr lang="zh-CN" altLang="en-US" dirty="0"/>
              <a:t>通过访问一个共享的</a:t>
            </a:r>
            <a:r>
              <a:rPr lang="zh-CN" altLang="en-US" dirty="0">
                <a:hlinkClick r:id="rId6" action="ppaction://hlinkfile"/>
              </a:rPr>
              <a:t>存储器</a:t>
            </a:r>
            <a:r>
              <a:rPr lang="zh-CN" altLang="en-US" dirty="0"/>
              <a:t>在指令之间传送</a:t>
            </a:r>
            <a:r>
              <a:rPr lang="zh-CN" altLang="en-US" dirty="0">
                <a:hlinkClick r:id="rId4" action="ppaction://hlinkfile"/>
              </a:rPr>
              <a:t>数据</a:t>
            </a:r>
            <a:r>
              <a:rPr lang="zh-CN" altLang="en-US" dirty="0"/>
              <a:t>。</a:t>
            </a:r>
          </a:p>
          <a:p>
            <a:pPr lvl="0"/>
            <a:r>
              <a:rPr lang="zh-CN" altLang="en-US" dirty="0"/>
              <a:t>针对</a:t>
            </a:r>
            <a:r>
              <a:rPr lang="en-US" altLang="zh-CN" dirty="0"/>
              <a:t>"</a:t>
            </a:r>
            <a:r>
              <a:rPr lang="zh-CN" altLang="en-US" dirty="0"/>
              <a:t>控制驱动</a:t>
            </a:r>
            <a:r>
              <a:rPr lang="en-US" altLang="zh-CN" dirty="0"/>
              <a:t>"</a:t>
            </a:r>
            <a:r>
              <a:rPr lang="zh-CN" altLang="en-US" dirty="0"/>
              <a:t>方式对</a:t>
            </a:r>
            <a:r>
              <a:rPr lang="zh-CN" altLang="en-US" dirty="0">
                <a:hlinkClick r:id="rId19" action="ppaction://hlinkfile"/>
              </a:rPr>
              <a:t>并行计算</a:t>
            </a:r>
            <a:r>
              <a:rPr lang="zh-CN" altLang="en-US" dirty="0"/>
              <a:t>的限制，</a:t>
            </a:r>
            <a:r>
              <a:rPr lang="en-US" altLang="x-none" dirty="0"/>
              <a:t>20</a:t>
            </a:r>
            <a:r>
              <a:rPr lang="zh-CN" altLang="en-US" dirty="0"/>
              <a:t>世纪</a:t>
            </a:r>
            <a:r>
              <a:rPr lang="en-US" altLang="x-none" dirty="0"/>
              <a:t>70</a:t>
            </a:r>
            <a:r>
              <a:rPr lang="zh-CN" altLang="en-US" dirty="0"/>
              <a:t>年代以来，提出了下面多种与冯</a:t>
            </a:r>
            <a:r>
              <a:rPr lang="en-US" altLang="x-none" dirty="0"/>
              <a:t>·</a:t>
            </a:r>
            <a:r>
              <a:rPr lang="zh-CN" altLang="en-US" dirty="0"/>
              <a:t>依曼型计算机截然不同的新概念模型的</a:t>
            </a:r>
            <a:r>
              <a:rPr lang="zh-CN" altLang="en-US" dirty="0">
                <a:hlinkClick r:id="rId20" action="ppaction://hlinkfile"/>
              </a:rPr>
              <a:t>系统结构</a:t>
            </a:r>
            <a:r>
              <a:rPr lang="zh-CN" altLang="en-US" dirty="0"/>
              <a:t>。</a:t>
            </a:r>
          </a:p>
          <a:p>
            <a:pPr lvl="0"/>
            <a:r>
              <a:rPr lang="zh-CN" altLang="en-US" b="1" dirty="0"/>
              <a:t>说法二</a:t>
            </a:r>
          </a:p>
          <a:p>
            <a:pPr lvl="0"/>
            <a:r>
              <a:rPr lang="zh-CN" altLang="en-US" dirty="0"/>
              <a:t>由于传统冯</a:t>
            </a:r>
            <a:r>
              <a:rPr lang="en-US" altLang="x-none" dirty="0"/>
              <a:t>.</a:t>
            </a:r>
            <a:r>
              <a:rPr lang="zh-CN" altLang="en-US" dirty="0"/>
              <a:t>诺依曼计算机体系结构天然所具有的局限性，从根本上限制了计算机的发展。</a:t>
            </a:r>
          </a:p>
          <a:p>
            <a:pPr lvl="0"/>
            <a:r>
              <a:rPr lang="en-US" altLang="x-none" dirty="0"/>
              <a:t>(1)</a:t>
            </a:r>
            <a:r>
              <a:rPr lang="zh-CN" altLang="en-US" dirty="0"/>
              <a:t>采用</a:t>
            </a:r>
            <a:r>
              <a:rPr lang="zh-CN" altLang="en-US" dirty="0">
                <a:hlinkClick r:id="rId21" action="ppaction://hlinkfile"/>
              </a:rPr>
              <a:t>存储程序方式</a:t>
            </a:r>
            <a:r>
              <a:rPr lang="zh-CN" altLang="en-US" dirty="0"/>
              <a:t>，指令和</a:t>
            </a:r>
            <a:r>
              <a:rPr lang="zh-CN" altLang="en-US" dirty="0">
                <a:hlinkClick r:id="rId4" action="ppaction://hlinkfile"/>
              </a:rPr>
              <a:t>数据</a:t>
            </a:r>
            <a:r>
              <a:rPr lang="zh-CN" altLang="en-US" dirty="0"/>
              <a:t>不加区别混合存储在同一个</a:t>
            </a:r>
            <a:r>
              <a:rPr lang="zh-CN" altLang="en-US" dirty="0">
                <a:hlinkClick r:id="rId6" action="ppaction://hlinkfile"/>
              </a:rPr>
              <a:t>存储器</a:t>
            </a:r>
            <a:r>
              <a:rPr lang="zh-CN" altLang="en-US" dirty="0"/>
              <a:t>中，（数据和程序在内存中是没有区别的</a:t>
            </a:r>
            <a:r>
              <a:rPr lang="en-US" altLang="x-none" dirty="0"/>
              <a:t>,</a:t>
            </a:r>
            <a:r>
              <a:rPr lang="zh-CN" altLang="en-US" dirty="0"/>
              <a:t>它们都是内存中的数据</a:t>
            </a:r>
            <a:r>
              <a:rPr lang="en-US" altLang="x-none" dirty="0"/>
              <a:t>,</a:t>
            </a:r>
            <a:r>
              <a:rPr lang="zh-CN" altLang="en-US" dirty="0"/>
              <a:t>当</a:t>
            </a:r>
            <a:r>
              <a:rPr lang="en-US" altLang="x-none" dirty="0"/>
              <a:t>EIP</a:t>
            </a:r>
            <a:r>
              <a:rPr lang="zh-CN" altLang="en-US" dirty="0"/>
              <a:t>指针指向哪 </a:t>
            </a:r>
            <a:r>
              <a:rPr lang="en-US" altLang="x-none" dirty="0"/>
              <a:t>CPU</a:t>
            </a:r>
            <a:r>
              <a:rPr lang="zh-CN" altLang="en-US" dirty="0"/>
              <a:t>就加载那段内存中的数据</a:t>
            </a:r>
            <a:r>
              <a:rPr lang="en-US" altLang="x-none" dirty="0"/>
              <a:t>,</a:t>
            </a:r>
            <a:r>
              <a:rPr lang="zh-CN" altLang="en-US" dirty="0"/>
              <a:t>如果是不正确的</a:t>
            </a:r>
            <a:r>
              <a:rPr lang="zh-CN" altLang="en-US" dirty="0">
                <a:hlinkClick r:id="rId22" action="ppaction://hlinkfile"/>
              </a:rPr>
              <a:t>指令格式</a:t>
            </a:r>
            <a:r>
              <a:rPr lang="en-US" altLang="x-none" dirty="0"/>
              <a:t>,CPU</a:t>
            </a:r>
            <a:r>
              <a:rPr lang="zh-CN" altLang="en-US" dirty="0"/>
              <a:t>就会发生错误中断</a:t>
            </a:r>
            <a:r>
              <a:rPr lang="en-US" altLang="x-none" dirty="0"/>
              <a:t>. </a:t>
            </a:r>
            <a:r>
              <a:rPr lang="zh-CN" altLang="en-US" dirty="0"/>
              <a:t>在现在</a:t>
            </a:r>
            <a:r>
              <a:rPr lang="en-US" altLang="x-none" dirty="0"/>
              <a:t>CPU</a:t>
            </a:r>
            <a:r>
              <a:rPr lang="zh-CN" altLang="en-US" dirty="0"/>
              <a:t>的保护模式中</a:t>
            </a:r>
            <a:r>
              <a:rPr lang="en-US" altLang="x-none" dirty="0"/>
              <a:t>,</a:t>
            </a:r>
            <a:r>
              <a:rPr lang="zh-CN" altLang="en-US" dirty="0"/>
              <a:t>每个内存段都其描述符</a:t>
            </a:r>
            <a:r>
              <a:rPr lang="en-US" altLang="x-none" dirty="0"/>
              <a:t>,</a:t>
            </a:r>
            <a:r>
              <a:rPr lang="zh-CN" altLang="en-US" dirty="0"/>
              <a:t>这个描述符记录着这个内存段的访问权限</a:t>
            </a:r>
            <a:r>
              <a:rPr lang="en-US" altLang="x-none" dirty="0"/>
              <a:t>(</a:t>
            </a:r>
            <a:r>
              <a:rPr lang="zh-CN" altLang="en-US" dirty="0"/>
              <a:t>可读</a:t>
            </a:r>
            <a:r>
              <a:rPr lang="en-US" altLang="x-none" dirty="0"/>
              <a:t>,</a:t>
            </a:r>
            <a:r>
              <a:rPr lang="zh-CN" altLang="en-US" dirty="0"/>
              <a:t>可写</a:t>
            </a:r>
            <a:r>
              <a:rPr lang="en-US" altLang="x-none" dirty="0"/>
              <a:t>,</a:t>
            </a:r>
            <a:r>
              <a:rPr lang="zh-CN" altLang="en-US" dirty="0"/>
              <a:t>可执行</a:t>
            </a:r>
            <a:r>
              <a:rPr lang="en-US" altLang="x-none" dirty="0"/>
              <a:t>).</a:t>
            </a:r>
            <a:r>
              <a:rPr lang="zh-CN" altLang="en-US" dirty="0"/>
              <a:t>这最就变相的指定了哪个些内存中存储的是指令哪些是数据）</a:t>
            </a:r>
          </a:p>
          <a:p>
            <a:pPr lvl="0"/>
            <a:r>
              <a:rPr lang="zh-CN" altLang="en-US" dirty="0"/>
              <a:t>指令和</a:t>
            </a:r>
            <a:r>
              <a:rPr lang="zh-CN" altLang="en-US" dirty="0">
                <a:hlinkClick r:id="rId4" action="ppaction://hlinkfile"/>
              </a:rPr>
              <a:t>数据</a:t>
            </a:r>
            <a:r>
              <a:rPr lang="zh-CN" altLang="en-US" dirty="0"/>
              <a:t>都可以送到</a:t>
            </a:r>
            <a:r>
              <a:rPr lang="zh-CN" altLang="en-US" dirty="0">
                <a:hlinkClick r:id="rId23" action="ppaction://hlinkfile"/>
              </a:rPr>
              <a:t>运算器</a:t>
            </a:r>
            <a:r>
              <a:rPr lang="zh-CN" altLang="en-US" dirty="0"/>
              <a:t>进行运算，即由指令组成的程序是可以修改的。</a:t>
            </a:r>
          </a:p>
          <a:p>
            <a:pPr lvl="0"/>
            <a:r>
              <a:rPr lang="en-US" altLang="x-none" dirty="0"/>
              <a:t>(2)</a:t>
            </a:r>
            <a:r>
              <a:rPr lang="zh-CN" altLang="en-US" dirty="0"/>
              <a:t>存储器是按</a:t>
            </a:r>
            <a:r>
              <a:rPr lang="zh-CN" altLang="en-US" dirty="0">
                <a:hlinkClick r:id="rId14" action="ppaction://hlinkfile"/>
              </a:rPr>
              <a:t>地址</a:t>
            </a:r>
            <a:r>
              <a:rPr lang="zh-CN" altLang="en-US" dirty="0"/>
              <a:t>访问的线性</a:t>
            </a:r>
            <a:r>
              <a:rPr lang="zh-CN" altLang="en-US" dirty="0">
                <a:hlinkClick r:id="rId24" action="ppaction://hlinkfile"/>
              </a:rPr>
              <a:t>编址</a:t>
            </a:r>
            <a:r>
              <a:rPr lang="zh-CN" altLang="en-US" dirty="0"/>
              <a:t>的一维结构，每个单元的位数是固定的。</a:t>
            </a:r>
          </a:p>
          <a:p>
            <a:pPr lvl="0"/>
            <a:r>
              <a:rPr lang="en-US" altLang="x-none" dirty="0"/>
              <a:t>(3)</a:t>
            </a:r>
            <a:r>
              <a:rPr lang="zh-CN" altLang="en-US" dirty="0"/>
              <a:t>指令由</a:t>
            </a:r>
            <a:r>
              <a:rPr lang="zh-CN" altLang="en-US" dirty="0">
                <a:hlinkClick r:id="rId25" action="ppaction://hlinkfile"/>
              </a:rPr>
              <a:t>操作码</a:t>
            </a:r>
            <a:r>
              <a:rPr lang="zh-CN" altLang="en-US" dirty="0"/>
              <a:t>和</a:t>
            </a:r>
            <a:r>
              <a:rPr lang="zh-CN" altLang="en-US" dirty="0">
                <a:hlinkClick r:id="rId14" action="ppaction://hlinkfile"/>
              </a:rPr>
              <a:t>地址</a:t>
            </a:r>
            <a:r>
              <a:rPr lang="zh-CN" altLang="en-US" dirty="0"/>
              <a:t>组成。</a:t>
            </a:r>
            <a:r>
              <a:rPr lang="zh-CN" altLang="en-US" dirty="0">
                <a:hlinkClick r:id="rId25" action="ppaction://hlinkfile"/>
              </a:rPr>
              <a:t>操作码</a:t>
            </a:r>
            <a:r>
              <a:rPr lang="zh-CN" altLang="en-US" dirty="0"/>
              <a:t>指明本指令的操作类型</a:t>
            </a:r>
            <a:r>
              <a:rPr lang="en-US" altLang="x-none" dirty="0"/>
              <a:t>,</a:t>
            </a:r>
            <a:r>
              <a:rPr lang="zh-CN" altLang="en-US" dirty="0">
                <a:hlinkClick r:id="rId26" action="ppaction://hlinkfile"/>
              </a:rPr>
              <a:t>地址码</a:t>
            </a:r>
            <a:r>
              <a:rPr lang="zh-CN" altLang="en-US" dirty="0"/>
              <a:t>指明</a:t>
            </a:r>
            <a:r>
              <a:rPr lang="zh-CN" altLang="en-US" dirty="0">
                <a:hlinkClick r:id="rId13" action="ppaction://hlinkfile"/>
              </a:rPr>
              <a:t>操作数</a:t>
            </a:r>
            <a:r>
              <a:rPr lang="zh-CN" altLang="en-US" dirty="0"/>
              <a:t>和地址。</a:t>
            </a:r>
            <a:r>
              <a:rPr lang="zh-CN" altLang="en-US" dirty="0">
                <a:hlinkClick r:id="rId13" action="ppaction://hlinkfile"/>
              </a:rPr>
              <a:t>操作数</a:t>
            </a:r>
            <a:r>
              <a:rPr lang="zh-CN" altLang="en-US" dirty="0"/>
              <a:t>本身无</a:t>
            </a:r>
            <a:r>
              <a:rPr lang="zh-CN" altLang="en-US" dirty="0">
                <a:hlinkClick r:id="rId27" action="ppaction://hlinkfile"/>
              </a:rPr>
              <a:t>数据类型</a:t>
            </a:r>
            <a:r>
              <a:rPr lang="zh-CN" altLang="en-US" dirty="0"/>
              <a:t>的标志，它的数据类型由</a:t>
            </a:r>
            <a:r>
              <a:rPr lang="zh-CN" altLang="en-US" dirty="0">
                <a:hlinkClick r:id="rId25" action="ppaction://hlinkfile"/>
              </a:rPr>
              <a:t>操作码</a:t>
            </a:r>
            <a:r>
              <a:rPr lang="zh-CN" altLang="en-US" dirty="0"/>
              <a:t>确定。</a:t>
            </a:r>
          </a:p>
          <a:p>
            <a:pPr lvl="0"/>
            <a:r>
              <a:rPr lang="en-US" altLang="x-none" dirty="0"/>
              <a:t>(4)</a:t>
            </a:r>
            <a:r>
              <a:rPr lang="zh-CN" altLang="en-US" dirty="0"/>
              <a:t>通过执行指令直接发出</a:t>
            </a:r>
            <a:r>
              <a:rPr lang="zh-CN" altLang="en-US" dirty="0">
                <a:hlinkClick r:id="rId28" action="ppaction://hlinkfile"/>
              </a:rPr>
              <a:t>控制信号</a:t>
            </a:r>
            <a:r>
              <a:rPr lang="zh-CN" altLang="en-US" dirty="0"/>
              <a:t>控制计算机的操作。指令在</a:t>
            </a:r>
            <a:r>
              <a:rPr lang="zh-CN" altLang="en-US" dirty="0">
                <a:hlinkClick r:id="rId6" action="ppaction://hlinkfile"/>
              </a:rPr>
              <a:t>存储器</a:t>
            </a:r>
            <a:r>
              <a:rPr lang="zh-CN" altLang="en-US" dirty="0"/>
              <a:t>中按其执行</a:t>
            </a:r>
            <a:r>
              <a:rPr lang="zh-CN" altLang="en-US" dirty="0">
                <a:hlinkClick r:id="rId29" action="ppaction://hlinkfile"/>
              </a:rPr>
              <a:t>顺序</a:t>
            </a:r>
            <a:r>
              <a:rPr lang="zh-CN" altLang="en-US" dirty="0"/>
              <a:t>存放，由指令计数器指明要执行的指令所在的</a:t>
            </a:r>
            <a:r>
              <a:rPr lang="zh-CN" altLang="en-US" dirty="0">
                <a:hlinkClick r:id="rId30" action="ppaction://hlinkfile"/>
              </a:rPr>
              <a:t>单元地址</a:t>
            </a:r>
            <a:r>
              <a:rPr lang="zh-CN" altLang="en-US" dirty="0"/>
              <a:t>。指令计数器只有一个，一般按</a:t>
            </a:r>
            <a:r>
              <a:rPr lang="zh-CN" altLang="en-US" dirty="0">
                <a:hlinkClick r:id="rId29" action="ppaction://hlinkfile"/>
              </a:rPr>
              <a:t>顺序</a:t>
            </a:r>
            <a:r>
              <a:rPr lang="zh-CN" altLang="en-US" dirty="0"/>
              <a:t>递增，但执行</a:t>
            </a:r>
            <a:r>
              <a:rPr lang="zh-CN" altLang="en-US" dirty="0">
                <a:hlinkClick r:id="rId29" action="ppaction://hlinkfile"/>
              </a:rPr>
              <a:t>顺序</a:t>
            </a:r>
            <a:r>
              <a:rPr lang="zh-CN" altLang="en-US" dirty="0"/>
              <a:t>可按运算结果或当时的外界条件而改变。</a:t>
            </a:r>
          </a:p>
          <a:p>
            <a:pPr lvl="0"/>
            <a:r>
              <a:rPr lang="en-US" altLang="x-none" dirty="0"/>
              <a:t>(5)</a:t>
            </a:r>
            <a:r>
              <a:rPr lang="zh-CN" altLang="en-US" dirty="0"/>
              <a:t>以</a:t>
            </a:r>
            <a:r>
              <a:rPr lang="zh-CN" altLang="en-US" dirty="0">
                <a:hlinkClick r:id="rId23" action="ppaction://hlinkfile"/>
              </a:rPr>
              <a:t>运算器</a:t>
            </a:r>
            <a:r>
              <a:rPr lang="zh-CN" altLang="en-US" dirty="0"/>
              <a:t>为中心，</a:t>
            </a:r>
            <a:r>
              <a:rPr lang="en-US" altLang="x-none" dirty="0"/>
              <a:t>I/O</a:t>
            </a:r>
            <a:r>
              <a:rPr lang="zh-CN" altLang="en-US" dirty="0"/>
              <a:t>设备与</a:t>
            </a:r>
            <a:r>
              <a:rPr lang="zh-CN" altLang="en-US" dirty="0">
                <a:hlinkClick r:id="rId6" action="ppaction://hlinkfile"/>
              </a:rPr>
              <a:t>存储器</a:t>
            </a:r>
            <a:r>
              <a:rPr lang="zh-CN" altLang="en-US" dirty="0"/>
              <a:t>间的</a:t>
            </a:r>
            <a:r>
              <a:rPr lang="zh-CN" altLang="en-US" dirty="0">
                <a:hlinkClick r:id="rId31" action="ppaction://hlinkfile"/>
              </a:rPr>
              <a:t>数据传送</a:t>
            </a:r>
            <a:r>
              <a:rPr lang="zh-CN" altLang="en-US" dirty="0"/>
              <a:t>都要经过运算器。</a:t>
            </a:r>
          </a:p>
          <a:p>
            <a:pPr lvl="0"/>
            <a:r>
              <a:rPr lang="en-US" altLang="x-none" dirty="0"/>
              <a:t>(6)</a:t>
            </a:r>
            <a:r>
              <a:rPr lang="zh-CN" altLang="en-US" dirty="0"/>
              <a:t>数据以</a:t>
            </a:r>
            <a:r>
              <a:rPr lang="zh-CN" altLang="en-US" dirty="0">
                <a:hlinkClick r:id="rId32" action="ppaction://hlinkfile"/>
              </a:rPr>
              <a:t>二进制</a:t>
            </a:r>
            <a:r>
              <a:rPr lang="zh-CN" altLang="en-US" dirty="0"/>
              <a:t>表示。</a:t>
            </a:r>
          </a:p>
          <a:p>
            <a:pPr lvl="0"/>
            <a:r>
              <a:rPr lang="zh-CN" altLang="en-US" dirty="0"/>
              <a:t>从本质上讲，冯</a:t>
            </a:r>
            <a:r>
              <a:rPr lang="en-US" altLang="x-none" dirty="0"/>
              <a:t>.</a:t>
            </a:r>
            <a:r>
              <a:rPr lang="zh-CN" altLang="en-US" dirty="0"/>
              <a:t>诺依曼</a:t>
            </a:r>
            <a:r>
              <a:rPr lang="zh-CN" altLang="en-US" dirty="0">
                <a:hlinkClick r:id="rId33" action="ppaction://hlinkfile"/>
              </a:rPr>
              <a:t>体系结构</a:t>
            </a:r>
            <a:r>
              <a:rPr lang="zh-CN" altLang="en-US" dirty="0"/>
              <a:t>的本征属性就是二个一维性，即一维的计算模型和一维的存储模型，简单地说</a:t>
            </a:r>
            <a:r>
              <a:rPr lang="en-US" altLang="zh-CN" dirty="0"/>
              <a:t>"</a:t>
            </a:r>
            <a:r>
              <a:rPr lang="zh-CN" altLang="en-US" dirty="0">
                <a:hlinkClick r:id="rId34" action="ppaction://hlinkfile"/>
              </a:rPr>
              <a:t>存储程序</a:t>
            </a:r>
            <a:r>
              <a:rPr lang="en-US" altLang="zh-CN" dirty="0"/>
              <a:t>"</a:t>
            </a:r>
            <a:r>
              <a:rPr lang="zh-CN" altLang="en-US" dirty="0"/>
              <a:t>是不确切的。而正是这二个一维性，成就了现代计算机的辉煌，也限制了计算机的进一步的发展，真可谓</a:t>
            </a:r>
            <a:r>
              <a:rPr lang="en-US" altLang="zh-CN" dirty="0"/>
              <a:t>"</a:t>
            </a:r>
            <a:r>
              <a:rPr lang="zh-CN" altLang="en-US" dirty="0"/>
              <a:t>成也冯，败也冯</a:t>
            </a:r>
            <a:r>
              <a:rPr lang="en-US" altLang="zh-CN" dirty="0"/>
              <a:t>"</a:t>
            </a:r>
            <a:r>
              <a:rPr lang="zh-CN" altLang="en-US" dirty="0"/>
              <a:t>。</a:t>
            </a:r>
          </a:p>
          <a:p>
            <a:pPr lvl="0"/>
            <a:r>
              <a:rPr lang="zh-CN" altLang="en-US" dirty="0"/>
              <a:t>冯</a:t>
            </a:r>
            <a:r>
              <a:rPr lang="en-US" altLang="x-none" dirty="0"/>
              <a:t>·</a:t>
            </a:r>
            <a:r>
              <a:rPr lang="zh-CN" altLang="en-US" dirty="0"/>
              <a:t>诺依曼计算机的软件和硬件完全分离，适用于作数值计算。这种计算机的</a:t>
            </a:r>
            <a:r>
              <a:rPr lang="zh-CN" altLang="en-US" dirty="0">
                <a:hlinkClick r:id="rId35" action="ppaction://hlinkfile"/>
              </a:rPr>
              <a:t>机器语言</a:t>
            </a:r>
            <a:r>
              <a:rPr lang="zh-CN" altLang="en-US" dirty="0"/>
              <a:t>同高级语言在语义上存在很大的间隔，称之为冯</a:t>
            </a:r>
            <a:r>
              <a:rPr lang="en-US" altLang="x-none" dirty="0"/>
              <a:t>.</a:t>
            </a:r>
            <a:r>
              <a:rPr lang="zh-CN" altLang="en-US" dirty="0"/>
              <a:t>依曼语义间隔。造成这个差距的其中一个重要原因就是</a:t>
            </a:r>
            <a:r>
              <a:rPr lang="zh-CN" altLang="en-US" dirty="0">
                <a:hlinkClick r:id="rId6" action="ppaction://hlinkfile"/>
              </a:rPr>
              <a:t>存储器</a:t>
            </a:r>
            <a:r>
              <a:rPr lang="zh-CN" altLang="en-US" dirty="0"/>
              <a:t>组织方式不同，冯</a:t>
            </a:r>
            <a:r>
              <a:rPr lang="en-US" altLang="x-none" dirty="0"/>
              <a:t>·</a:t>
            </a:r>
            <a:r>
              <a:rPr lang="zh-CN" altLang="en-US" dirty="0"/>
              <a:t>诺依曼机存储器是一维的线性排列的单元，按</a:t>
            </a:r>
            <a:r>
              <a:rPr lang="zh-CN" altLang="en-US" dirty="0">
                <a:hlinkClick r:id="rId29" action="ppaction://hlinkfile"/>
              </a:rPr>
              <a:t>顺序</a:t>
            </a:r>
            <a:r>
              <a:rPr lang="zh-CN" altLang="en-US" dirty="0"/>
              <a:t>排列的</a:t>
            </a:r>
            <a:r>
              <a:rPr lang="zh-CN" altLang="en-US" dirty="0">
                <a:hlinkClick r:id="rId14" action="ppaction://hlinkfile"/>
              </a:rPr>
              <a:t>地址</a:t>
            </a:r>
            <a:r>
              <a:rPr lang="zh-CN" altLang="en-US" dirty="0"/>
              <a:t>访问。而高级语言表示的</a:t>
            </a:r>
            <a:r>
              <a:rPr lang="zh-CN" altLang="en-US" dirty="0">
                <a:hlinkClick r:id="rId6" action="ppaction://hlinkfile"/>
              </a:rPr>
              <a:t>存储器</a:t>
            </a:r>
            <a:r>
              <a:rPr lang="zh-CN" altLang="en-US" dirty="0"/>
              <a:t>则是一组有名字的</a:t>
            </a:r>
            <a:r>
              <a:rPr lang="zh-CN" altLang="en-US" dirty="0">
                <a:hlinkClick r:id="rId36" action="ppaction://hlinkfile"/>
              </a:rPr>
              <a:t>变量</a:t>
            </a:r>
            <a:r>
              <a:rPr lang="zh-CN" altLang="en-US" dirty="0"/>
              <a:t>，按名字调用变量，不考虑访问方法，而且</a:t>
            </a:r>
            <a:r>
              <a:rPr lang="zh-CN" altLang="en-US" dirty="0">
                <a:hlinkClick r:id="rId37" action="ppaction://hlinkfile"/>
              </a:rPr>
              <a:t>数据结构</a:t>
            </a:r>
            <a:r>
              <a:rPr lang="zh-CN" altLang="en-US" dirty="0"/>
              <a:t>经常是多维的（如数组，表格）。另外，在大多数高级语言中，</a:t>
            </a:r>
            <a:r>
              <a:rPr lang="zh-CN" altLang="en-US" dirty="0">
                <a:hlinkClick r:id="rId4" action="ppaction://hlinkfile"/>
              </a:rPr>
              <a:t>数据</a:t>
            </a:r>
            <a:r>
              <a:rPr lang="zh-CN" altLang="en-US" dirty="0"/>
              <a:t>和指令截然不同，并无指令可以像数据一样进行运算操作的概念。同时，高级语言中的每种操作对于任何</a:t>
            </a:r>
            <a:r>
              <a:rPr lang="zh-CN" altLang="en-US" dirty="0">
                <a:hlinkClick r:id="rId27" action="ppaction://hlinkfile"/>
              </a:rPr>
              <a:t>数据类型</a:t>
            </a:r>
            <a:r>
              <a:rPr lang="zh-CN" altLang="en-US" dirty="0"/>
              <a:t>都是通用的，数据类型属于数据本身，而冯</a:t>
            </a:r>
            <a:r>
              <a:rPr lang="en-US" altLang="x-none" dirty="0"/>
              <a:t>.</a:t>
            </a:r>
            <a:r>
              <a:rPr lang="zh-CN" altLang="en-US" dirty="0"/>
              <a:t>诺依曼机的数据本身没有属性标志，同一种操作要用不同的</a:t>
            </a:r>
            <a:r>
              <a:rPr lang="zh-CN" altLang="en-US" dirty="0">
                <a:hlinkClick r:id="rId25" action="ppaction://hlinkfile"/>
              </a:rPr>
              <a:t>操作码</a:t>
            </a:r>
            <a:r>
              <a:rPr lang="zh-CN" altLang="en-US" dirty="0"/>
              <a:t>来对数据加以区分。这些因素导致了语义的差距。如何消除如此大的语义间隔，这成了计算机面临的一大难题和发展障碍。</a:t>
            </a:r>
          </a:p>
          <a:p>
            <a:pPr lvl="0"/>
            <a:r>
              <a:rPr lang="zh-CN" altLang="en-US" dirty="0"/>
              <a:t>冯</a:t>
            </a:r>
            <a:r>
              <a:rPr lang="en-US" altLang="x-none" dirty="0"/>
              <a:t>.</a:t>
            </a:r>
            <a:r>
              <a:rPr lang="zh-CN" altLang="en-US" dirty="0"/>
              <a:t>诺依曼体系结构的局限严重束缚了现代计算机的进一步发展，而非数值处理应用领域对计算机性能的要求越来越高，这就亟待需要突破传统计算机体系结构的框架，寻求新的体系结构来解决实际应用问题。目前在体系结构方面已经有了重大的变化和改进，如并行计算机、数据流计算机以及量子计算机、 </a:t>
            </a:r>
            <a:r>
              <a:rPr lang="en-US" altLang="x-none" dirty="0">
                <a:hlinkClick r:id="rId38" action="ppaction://hlinkfile"/>
              </a:rPr>
              <a:t>DNA</a:t>
            </a:r>
            <a:r>
              <a:rPr lang="zh-CN" altLang="en-US" dirty="0">
                <a:hlinkClick r:id="rId38" action="ppaction://hlinkfile"/>
              </a:rPr>
              <a:t>计算机</a:t>
            </a:r>
            <a:r>
              <a:rPr lang="zh-CN" altLang="en-US" dirty="0"/>
              <a:t>等非冯计算机，它们部分或完全不同于传统的冯</a:t>
            </a:r>
            <a:r>
              <a:rPr lang="en-US" altLang="x-none" dirty="0"/>
              <a:t>.</a:t>
            </a:r>
            <a:r>
              <a:rPr lang="zh-CN" altLang="en-US" dirty="0"/>
              <a:t>诺依曼型计算机，很大程度上提高了计算机的计算性能。</a:t>
            </a:r>
          </a:p>
          <a:p>
            <a:pPr lvl="0"/>
            <a:r>
              <a:rPr lang="zh-CN" altLang="en-US" b="1" dirty="0">
                <a:hlinkClick r:id="rId39" action="ppaction://hlinkfile"/>
              </a:rPr>
              <a:t>编辑本段</a:t>
            </a:r>
            <a:r>
              <a:rPr lang="zh-CN" altLang="en-US" b="1" dirty="0"/>
              <a:t>冯</a:t>
            </a:r>
            <a:r>
              <a:rPr lang="en-US" altLang="x-none" b="1" dirty="0"/>
              <a:t>·</a:t>
            </a:r>
            <a:r>
              <a:rPr lang="zh-CN" altLang="en-US" b="1" dirty="0"/>
              <a:t>诺依曼体系结构</a:t>
            </a:r>
            <a:r>
              <a:rPr lang="en-US" altLang="x-none" b="1" dirty="0"/>
              <a:t>-</a:t>
            </a:r>
            <a:r>
              <a:rPr lang="zh-CN" altLang="en-US" b="1" dirty="0"/>
              <a:t>非诺依曼化</a:t>
            </a:r>
          </a:p>
          <a:p>
            <a:pPr lvl="0"/>
            <a:r>
              <a:rPr lang="zh-CN" altLang="en-US" dirty="0"/>
              <a:t>必须看到，传统的冯</a:t>
            </a:r>
            <a:r>
              <a:rPr lang="en-US" altLang="x-none" dirty="0"/>
              <a:t>·</a:t>
            </a:r>
            <a:r>
              <a:rPr lang="zh-CN" altLang="en-US" dirty="0"/>
              <a:t>诺依曼型计算机从本质上讲是采取串行</a:t>
            </a:r>
            <a:r>
              <a:rPr lang="zh-CN" altLang="en-US" dirty="0">
                <a:hlinkClick r:id="rId29" action="ppaction://hlinkfile"/>
              </a:rPr>
              <a:t>顺序</a:t>
            </a:r>
            <a:r>
              <a:rPr lang="zh-CN" altLang="en-US" dirty="0"/>
              <a:t>处理的工作机制，即使有关</a:t>
            </a:r>
            <a:r>
              <a:rPr lang="zh-CN" altLang="en-US" dirty="0">
                <a:hlinkClick r:id="rId4" action="ppaction://hlinkfile"/>
              </a:rPr>
              <a:t>数据</a:t>
            </a:r>
            <a:r>
              <a:rPr lang="zh-CN" altLang="en-US" dirty="0"/>
              <a:t>巳经准备好，也必须逐条执行指令序列。而提高计算机性能的根本方向之一是</a:t>
            </a:r>
            <a:r>
              <a:rPr lang="zh-CN" altLang="en-US" dirty="0">
                <a:hlinkClick r:id="rId40" action="ppaction://hlinkfile"/>
              </a:rPr>
              <a:t>并行处理</a:t>
            </a:r>
            <a:r>
              <a:rPr lang="zh-CN" altLang="en-US" dirty="0"/>
              <a:t>。因此，近年来人们谋求突破传统冯</a:t>
            </a:r>
            <a:r>
              <a:rPr lang="en-US" altLang="x-none" dirty="0"/>
              <a:t>·</a:t>
            </a:r>
            <a:r>
              <a:rPr lang="zh-CN" altLang="en-US" dirty="0"/>
              <a:t>诺依曼体制的束缚，这种努力被称为非诺依曼化。对所谓非诺依曼化的探讨仍在争议中，一般认为它表现在以下三个方面的努力。 </a:t>
            </a:r>
          </a:p>
          <a:p>
            <a:pPr lvl="0"/>
            <a:r>
              <a:rPr lang="zh-CN" altLang="en-US" dirty="0"/>
              <a:t>（</a:t>
            </a:r>
            <a:r>
              <a:rPr lang="en-US" altLang="x-none" dirty="0"/>
              <a:t>1</a:t>
            </a:r>
            <a:r>
              <a:rPr lang="zh-CN" altLang="en-US" dirty="0"/>
              <a:t>）在冯</a:t>
            </a:r>
            <a:r>
              <a:rPr lang="en-US" altLang="x-none" dirty="0"/>
              <a:t>·</a:t>
            </a:r>
            <a:r>
              <a:rPr lang="zh-CN" altLang="en-US" dirty="0"/>
              <a:t>诺依曼体制范畴内，对传统冯</a:t>
            </a:r>
            <a:r>
              <a:rPr lang="en-US" altLang="x-none" dirty="0"/>
              <a:t>·</a:t>
            </a:r>
            <a:r>
              <a:rPr lang="zh-CN" altLang="en-US" dirty="0"/>
              <a:t>诺依曼机进行改造，如采用多个处理部件形成流水处理，</a:t>
            </a:r>
          </a:p>
          <a:p>
            <a:pPr lvl="0"/>
            <a:r>
              <a:rPr lang="zh-CN" altLang="en-US" dirty="0"/>
              <a:t>依靠时间上的重叠提高处理效率；又如组成阵列机结构，形成</a:t>
            </a:r>
            <a:r>
              <a:rPr lang="zh-CN" altLang="en-US" dirty="0">
                <a:hlinkClick r:id="rId41" action="ppaction://hlinkfile"/>
              </a:rPr>
              <a:t>单指令流多数据流</a:t>
            </a:r>
            <a:r>
              <a:rPr lang="zh-CN" altLang="en-US" dirty="0"/>
              <a:t>，提高处理速</a:t>
            </a:r>
          </a:p>
          <a:p>
            <a:pPr lvl="0"/>
            <a:r>
              <a:rPr lang="zh-CN" altLang="en-US" dirty="0"/>
              <a:t>度。这些方向已比较成熟，成为标准结构； </a:t>
            </a:r>
          </a:p>
          <a:p>
            <a:pPr lvl="0"/>
            <a:r>
              <a:rPr lang="zh-CN" altLang="en-US" dirty="0"/>
              <a:t>（</a:t>
            </a:r>
            <a:r>
              <a:rPr lang="en-US" altLang="x-none" dirty="0"/>
              <a:t>2</a:t>
            </a:r>
            <a:r>
              <a:rPr lang="zh-CN" altLang="en-US" dirty="0"/>
              <a:t>）用多个冯</a:t>
            </a:r>
            <a:r>
              <a:rPr lang="en-US" altLang="x-none" dirty="0"/>
              <a:t>·</a:t>
            </a:r>
            <a:r>
              <a:rPr lang="zh-CN" altLang="en-US" dirty="0"/>
              <a:t>诺依曼机组成多机系统，支持</a:t>
            </a:r>
            <a:r>
              <a:rPr lang="zh-CN" altLang="en-US" dirty="0">
                <a:hlinkClick r:id="rId39" action="ppaction://hlinkfile"/>
              </a:rPr>
              <a:t>并行算法</a:t>
            </a:r>
            <a:r>
              <a:rPr lang="zh-CN" altLang="en-US" dirty="0"/>
              <a:t>结构。这方面的研究目前比较活跃； </a:t>
            </a:r>
          </a:p>
          <a:p>
            <a:pPr lvl="0"/>
            <a:r>
              <a:rPr lang="zh-CN" altLang="en-US" dirty="0"/>
              <a:t>（</a:t>
            </a:r>
            <a:r>
              <a:rPr lang="en-US" altLang="x-none" dirty="0"/>
              <a:t>3</a:t>
            </a:r>
            <a:r>
              <a:rPr lang="zh-CN" altLang="en-US" dirty="0"/>
              <a:t>）从根本上改变冯</a:t>
            </a:r>
            <a:r>
              <a:rPr lang="en-US" altLang="x-none" dirty="0"/>
              <a:t>·</a:t>
            </a:r>
            <a:r>
              <a:rPr lang="zh-CN" altLang="en-US" dirty="0"/>
              <a:t>诺依曼机的</a:t>
            </a:r>
            <a:r>
              <a:rPr lang="zh-CN" altLang="en-US" dirty="0">
                <a:hlinkClick r:id="rId12" action="ppaction://hlinkfile"/>
              </a:rPr>
              <a:t>控制流</a:t>
            </a:r>
            <a:r>
              <a:rPr lang="zh-CN" altLang="en-US" dirty="0"/>
              <a:t>驱动方式。例如，采用</a:t>
            </a:r>
            <a:r>
              <a:rPr lang="zh-CN" altLang="en-US" dirty="0">
                <a:hlinkClick r:id="rId42" action="ppaction://hlinkfile"/>
              </a:rPr>
              <a:t>数据流</a:t>
            </a:r>
            <a:r>
              <a:rPr lang="zh-CN" altLang="en-US" dirty="0"/>
              <a:t>驱动工作方式的数据流计算</a:t>
            </a:r>
          </a:p>
          <a:p>
            <a:pPr lvl="0"/>
            <a:r>
              <a:rPr lang="zh-CN" altLang="en-US" dirty="0"/>
              <a:t>机，只要</a:t>
            </a:r>
            <a:r>
              <a:rPr lang="zh-CN" altLang="en-US" dirty="0">
                <a:hlinkClick r:id="rId4" action="ppaction://hlinkfile"/>
              </a:rPr>
              <a:t>数据</a:t>
            </a:r>
            <a:r>
              <a:rPr lang="zh-CN" altLang="en-US" dirty="0"/>
              <a:t>已经准备好，有关的指令就可并行地执行。这是真正非诺依曼化的计算机，它为并</a:t>
            </a:r>
          </a:p>
          <a:p>
            <a:pPr lvl="0"/>
            <a:r>
              <a:rPr lang="zh-CN" altLang="en-US" dirty="0"/>
              <a:t>行处理开辟了新的</a:t>
            </a:r>
            <a:r>
              <a:rPr lang="zh-CN" altLang="en-US" dirty="0">
                <a:hlinkClick r:id="rId43" action="ppaction://hlinkfile"/>
              </a:rPr>
              <a:t>前景</a:t>
            </a:r>
            <a:r>
              <a:rPr lang="zh-CN" altLang="en-US" dirty="0"/>
              <a:t>，但由于控制的复杂性，仍处于实验探索之中。</a:t>
            </a:r>
          </a:p>
          <a:p>
            <a:pPr lvl="0"/>
            <a:r>
              <a:rPr lang="zh-CN" altLang="en-US" b="1" dirty="0">
                <a:hlinkClick r:id="rId4" action="ppaction://hlinkfile"/>
              </a:rPr>
              <a:t>编辑本段</a:t>
            </a:r>
            <a:r>
              <a:rPr lang="zh-CN" altLang="en-US" b="1" dirty="0"/>
              <a:t>哈佛结构</a:t>
            </a:r>
          </a:p>
          <a:p>
            <a:pPr lvl="0"/>
            <a:r>
              <a:rPr lang="zh-CN" altLang="en-US" dirty="0"/>
              <a:t>特点：</a:t>
            </a:r>
          </a:p>
          <a:p>
            <a:pPr lvl="0"/>
            <a:r>
              <a:rPr lang="zh-CN" altLang="en-US" dirty="0"/>
              <a:t>使用两个独立的</a:t>
            </a:r>
            <a:r>
              <a:rPr lang="zh-CN" altLang="en-US" dirty="0">
                <a:hlinkClick r:id="rId6" action="ppaction://hlinkfile"/>
              </a:rPr>
              <a:t>存储器</a:t>
            </a:r>
            <a:r>
              <a:rPr lang="zh-CN" altLang="en-US" dirty="0"/>
              <a:t>模块，分别存储指令和</a:t>
            </a:r>
            <a:r>
              <a:rPr lang="zh-CN" altLang="en-US" dirty="0">
                <a:hlinkClick r:id="rId4" action="ppaction://hlinkfile"/>
              </a:rPr>
              <a:t>数据</a:t>
            </a:r>
            <a:r>
              <a:rPr lang="zh-CN" altLang="en-US" dirty="0"/>
              <a:t>，每个存储模块都不允许指令和数据并存，以便实现</a:t>
            </a:r>
            <a:r>
              <a:rPr lang="zh-CN" altLang="en-US" dirty="0">
                <a:hlinkClick r:id="rId40" action="ppaction://hlinkfile"/>
              </a:rPr>
              <a:t>并行处理</a:t>
            </a:r>
            <a:r>
              <a:rPr lang="zh-CN" altLang="en-US" dirty="0"/>
              <a:t>； </a:t>
            </a:r>
          </a:p>
          <a:p>
            <a:pPr lvl="0"/>
            <a:r>
              <a:rPr lang="zh-CN" altLang="en-US" dirty="0"/>
              <a:t>具有一条独立的</a:t>
            </a:r>
            <a:r>
              <a:rPr lang="zh-CN" altLang="en-US" dirty="0">
                <a:hlinkClick r:id="rId44" action="ppaction://hlinkfile"/>
              </a:rPr>
              <a:t>地址总线</a:t>
            </a:r>
            <a:r>
              <a:rPr lang="zh-CN" altLang="en-US" dirty="0"/>
              <a:t>和一条独立的</a:t>
            </a:r>
            <a:r>
              <a:rPr lang="zh-CN" altLang="en-US" dirty="0">
                <a:hlinkClick r:id="rId45" action="ppaction://hlinkfile"/>
              </a:rPr>
              <a:t>数据总线</a:t>
            </a:r>
            <a:r>
              <a:rPr lang="zh-CN" altLang="en-US" dirty="0"/>
              <a:t>，利用公用地址总线访问两个存储模块（程序存储模块和数据存储模块），公用数据总线则被用来完成程序存储模块或数据存储模块与</a:t>
            </a:r>
            <a:r>
              <a:rPr lang="en-US" altLang="x-none" dirty="0"/>
              <a:t>CPU</a:t>
            </a:r>
            <a:r>
              <a:rPr lang="zh-CN" altLang="en-US" dirty="0"/>
              <a:t>之间的数据传输； </a:t>
            </a:r>
          </a:p>
          <a:p>
            <a:pPr lvl="0"/>
            <a:r>
              <a:rPr lang="zh-CN" altLang="en-US" dirty="0"/>
              <a:t>两条总线由程序存储器和</a:t>
            </a:r>
            <a:r>
              <a:rPr lang="zh-CN" altLang="en-US" dirty="0">
                <a:hlinkClick r:id="rId4" action="ppaction://hlinkfile"/>
              </a:rPr>
              <a:t>数据</a:t>
            </a:r>
            <a:r>
              <a:rPr lang="zh-CN" altLang="en-US" dirty="0"/>
              <a:t>存储器分时共用</a:t>
            </a:r>
          </a:p>
          <a:p>
            <a:pPr lvl="0"/>
            <a:r>
              <a:rPr lang="zh-CN" altLang="en-US" dirty="0"/>
              <a:t>在典型情况下，完成一条指令需要</a:t>
            </a:r>
            <a:r>
              <a:rPr lang="en-US" altLang="x-none" dirty="0"/>
              <a:t>3</a:t>
            </a:r>
            <a:r>
              <a:rPr lang="zh-CN" altLang="en-US" dirty="0"/>
              <a:t>个步骤，即：取指令、指令译码和执行指令。从</a:t>
            </a:r>
            <a:r>
              <a:rPr lang="zh-CN" altLang="en-US" dirty="0">
                <a:hlinkClick r:id="rId46" action="ppaction://hlinkfile"/>
              </a:rPr>
              <a:t>指令流</a:t>
            </a:r>
            <a:r>
              <a:rPr lang="zh-CN" altLang="en-US" dirty="0"/>
              <a:t>的定时关系也可看出冯</a:t>
            </a:r>
            <a:r>
              <a:rPr lang="en-US" altLang="x-none" dirty="0"/>
              <a:t>.</a:t>
            </a:r>
            <a:r>
              <a:rPr lang="zh-CN" altLang="en-US" dirty="0"/>
              <a:t>诺曼结构与</a:t>
            </a:r>
            <a:r>
              <a:rPr lang="zh-CN" altLang="en-US" dirty="0">
                <a:hlinkClick r:id="rId47" action="ppaction://hlinkfile"/>
              </a:rPr>
              <a:t>哈佛结构</a:t>
            </a:r>
            <a:r>
              <a:rPr lang="zh-CN" altLang="en-US" dirty="0"/>
              <a:t>处理方式的差别。举一个最简单的对</a:t>
            </a:r>
            <a:r>
              <a:rPr lang="zh-CN" altLang="en-US" dirty="0">
                <a:hlinkClick r:id="rId6" action="ppaction://hlinkfile"/>
              </a:rPr>
              <a:t>存储器</a:t>
            </a:r>
            <a:r>
              <a:rPr lang="zh-CN" altLang="en-US" dirty="0"/>
              <a:t>进行读写操作的指令，指令</a:t>
            </a:r>
            <a:r>
              <a:rPr lang="en-US" altLang="x-none" dirty="0"/>
              <a:t>1</a:t>
            </a:r>
            <a:r>
              <a:rPr lang="zh-CN" altLang="en-US" dirty="0"/>
              <a:t>至指令</a:t>
            </a:r>
            <a:r>
              <a:rPr lang="en-US" altLang="x-none" dirty="0"/>
              <a:t>3</a:t>
            </a:r>
            <a:r>
              <a:rPr lang="zh-CN" altLang="en-US" dirty="0"/>
              <a:t>均为存、取数指令，对冯</a:t>
            </a:r>
            <a:r>
              <a:rPr lang="en-US" altLang="x-none" dirty="0"/>
              <a:t>.</a:t>
            </a:r>
            <a:r>
              <a:rPr lang="zh-CN" altLang="en-US" dirty="0"/>
              <a:t>诺曼结构</a:t>
            </a:r>
            <a:r>
              <a:rPr lang="zh-CN" altLang="en-US" dirty="0">
                <a:hlinkClick r:id="rId48" action="ppaction://hlinkfile"/>
              </a:rPr>
              <a:t>处理器</a:t>
            </a:r>
            <a:r>
              <a:rPr lang="zh-CN" altLang="en-US" dirty="0"/>
              <a:t>，由于取指令和存取</a:t>
            </a:r>
            <a:r>
              <a:rPr lang="zh-CN" altLang="en-US" dirty="0">
                <a:hlinkClick r:id="rId4" action="ppaction://hlinkfile"/>
              </a:rPr>
              <a:t>数据</a:t>
            </a:r>
            <a:r>
              <a:rPr lang="zh-CN" altLang="en-US" dirty="0"/>
              <a:t>要从同一个</a:t>
            </a:r>
            <a:r>
              <a:rPr lang="zh-CN" altLang="en-US" dirty="0">
                <a:hlinkClick r:id="rId49" action="ppaction://hlinkfile"/>
              </a:rPr>
              <a:t>存储空间</a:t>
            </a:r>
            <a:r>
              <a:rPr lang="zh-CN" altLang="en-US" dirty="0"/>
              <a:t>存取，经由同一总线传输，因而它们无法重叠执行，只有一个完成后再进行下一个。</a:t>
            </a:r>
          </a:p>
          <a:p>
            <a:pPr lvl="0"/>
            <a:r>
              <a:rPr lang="zh-CN" altLang="en-US" dirty="0"/>
              <a:t>如果采用</a:t>
            </a:r>
            <a:r>
              <a:rPr lang="zh-CN" altLang="en-US" dirty="0">
                <a:hlinkClick r:id="rId47" action="ppaction://hlinkfile"/>
              </a:rPr>
              <a:t>哈佛结构</a:t>
            </a:r>
            <a:r>
              <a:rPr lang="zh-CN" altLang="en-US" dirty="0"/>
              <a:t>处理以上同样的</a:t>
            </a:r>
            <a:r>
              <a:rPr lang="en-US" altLang="x-none" dirty="0"/>
              <a:t>3</a:t>
            </a:r>
            <a:r>
              <a:rPr lang="zh-CN" altLang="en-US" dirty="0"/>
              <a:t>条存取数指令，如下图所示，由于取指令和存取</a:t>
            </a:r>
            <a:r>
              <a:rPr lang="zh-CN" altLang="en-US" dirty="0">
                <a:hlinkClick r:id="rId4" action="ppaction://hlinkfile"/>
              </a:rPr>
              <a:t>数据</a:t>
            </a:r>
            <a:r>
              <a:rPr lang="zh-CN" altLang="en-US" dirty="0"/>
              <a:t>分别经由不同的</a:t>
            </a:r>
            <a:r>
              <a:rPr lang="zh-CN" altLang="en-US" dirty="0">
                <a:hlinkClick r:id="rId49" action="ppaction://hlinkfile"/>
              </a:rPr>
              <a:t>存储空间</a:t>
            </a:r>
            <a:r>
              <a:rPr lang="zh-CN" altLang="en-US" dirty="0"/>
              <a:t>和不同的总线，使得各条指令可以重叠执行，这样，也就克服了数据流传输的瓶颈，提高了运算速度。</a:t>
            </a:r>
          </a:p>
          <a:p>
            <a:pPr lvl="0"/>
            <a:r>
              <a:rPr lang="zh-CN" altLang="en-US" dirty="0">
                <a:hlinkClick r:id="rId47" action="ppaction://hlinkfile"/>
              </a:rPr>
              <a:t>哈佛结构</a:t>
            </a:r>
            <a:r>
              <a:rPr lang="zh-CN" altLang="en-US" dirty="0"/>
              <a:t>强调了总的系统速度以及通讯和</a:t>
            </a:r>
            <a:r>
              <a:rPr lang="zh-CN" altLang="en-US" dirty="0">
                <a:hlinkClick r:id="rId48" action="ppaction://hlinkfile"/>
              </a:rPr>
              <a:t>处理器</a:t>
            </a:r>
            <a:r>
              <a:rPr lang="zh-CN" altLang="en-US" dirty="0"/>
              <a:t>配置方面的灵活性。</a:t>
            </a:r>
          </a:p>
          <a:p>
            <a:pPr lvl="0"/>
            <a:r>
              <a:rPr lang="en-US" altLang="x-none" dirty="0"/>
              <a:t>TI </a:t>
            </a:r>
            <a:r>
              <a:rPr lang="zh-CN" altLang="en-US" dirty="0"/>
              <a:t>公司</a:t>
            </a:r>
            <a:r>
              <a:rPr lang="en-US" altLang="x-none" dirty="0"/>
              <a:t>DSP</a:t>
            </a:r>
            <a:r>
              <a:rPr lang="zh-CN" altLang="en-US" dirty="0"/>
              <a:t>采用的改进型</a:t>
            </a:r>
            <a:r>
              <a:rPr lang="zh-CN" altLang="en-US" dirty="0">
                <a:hlinkClick r:id="rId47" action="ppaction://hlinkfile"/>
              </a:rPr>
              <a:t>哈佛结构</a:t>
            </a:r>
            <a:r>
              <a:rPr lang="zh-CN" altLang="en-US" dirty="0"/>
              <a:t>其改进之处在于 在</a:t>
            </a:r>
            <a:r>
              <a:rPr lang="zh-CN" altLang="en-US" dirty="0">
                <a:hlinkClick r:id="rId45" action="ppaction://hlinkfile"/>
              </a:rPr>
              <a:t>数据总线</a:t>
            </a:r>
            <a:r>
              <a:rPr lang="zh-CN" altLang="en-US" dirty="0"/>
              <a:t>和程序总线之间进行局部的交叉连接。这一改进允许</a:t>
            </a:r>
            <a:r>
              <a:rPr lang="zh-CN" altLang="en-US" dirty="0">
                <a:hlinkClick r:id="rId4" action="ppaction://hlinkfile"/>
              </a:rPr>
              <a:t>数据</a:t>
            </a:r>
            <a:r>
              <a:rPr lang="zh-CN" altLang="en-US" dirty="0"/>
              <a:t>存放在</a:t>
            </a:r>
            <a:r>
              <a:rPr lang="zh-CN" altLang="en-US" dirty="0">
                <a:hlinkClick r:id="rId50" action="ppaction://hlinkfile"/>
              </a:rPr>
              <a:t>程序存储器</a:t>
            </a:r>
            <a:r>
              <a:rPr lang="zh-CN" altLang="en-US" dirty="0"/>
              <a:t>中，并被算术运算指令直接使用，增强了芯片的灵活性。只要调度好两个独立的</a:t>
            </a:r>
            <a:r>
              <a:rPr lang="zh-CN" altLang="en-US" dirty="0">
                <a:hlinkClick r:id="rId51" action="ppaction://hlinkfile"/>
              </a:rPr>
              <a:t>总线</a:t>
            </a:r>
            <a:r>
              <a:rPr lang="zh-CN" altLang="en-US" dirty="0"/>
              <a:t>就可使处理能力达到最高，以实现全速运行。改进的</a:t>
            </a:r>
            <a:r>
              <a:rPr lang="zh-CN" altLang="en-US" dirty="0">
                <a:hlinkClick r:id="rId47" action="ppaction://hlinkfile"/>
              </a:rPr>
              <a:t>哈佛结构</a:t>
            </a:r>
            <a:r>
              <a:rPr lang="zh-CN" altLang="en-US" dirty="0"/>
              <a:t>还可使指令存储在高速缓存器中</a:t>
            </a:r>
            <a:r>
              <a:rPr lang="en-US" altLang="x-none" dirty="0"/>
              <a:t>(Cache)</a:t>
            </a:r>
            <a:r>
              <a:rPr lang="zh-CN" altLang="en-US" dirty="0"/>
              <a:t>，省去了从</a:t>
            </a:r>
            <a:r>
              <a:rPr lang="zh-CN" altLang="en-US" dirty="0">
                <a:hlinkClick r:id="rId6" action="ppaction://hlinkfile"/>
              </a:rPr>
              <a:t>存储器</a:t>
            </a:r>
            <a:r>
              <a:rPr lang="zh-CN" altLang="en-US" dirty="0"/>
              <a:t>中读取指令的时间，大大提高了运行速度。</a:t>
            </a:r>
          </a:p>
          <a:p>
            <a:pPr lvl="0" eaLnBrk="1" hangingPunct="1"/>
            <a:endParaRPr lang="zh-CN" altLang="en-US" dirty="0"/>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p:nvPr>
        </p:nvSpPr>
        <p:spPr/>
        <p:txBody>
          <a:bodyPr wrap="square" lIns="91440" tIns="45720" rIns="91440" bIns="45720" anchor="t"/>
          <a:lstStyle/>
          <a:p>
            <a:pPr lvl="0"/>
            <a:endParaRPr lang="zh-CN" altLang="en-US" dirty="0"/>
          </a:p>
        </p:txBody>
      </p:sp>
      <p:sp>
        <p:nvSpPr>
          <p:cNvPr id="512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lstStyle/>
          <a:p>
            <a:pPr lvl="0" indent="0" algn="r"/>
            <a:fld id="{9A0DB2DC-4C9A-4742-B13C-FB6460FD3503}" type="slidenum">
              <a:rPr lang="zh-CN" altLang="en-US" sz="1200" b="0" dirty="0"/>
              <a:t>16</a:t>
            </a:fld>
            <a:endParaRPr lang="zh-CN" altLang="en-US" sz="1200" b="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0962" name="Rectangle 7"/>
          <p:cNvSpPr txBox="1">
            <a:spLocks noGrp="1"/>
          </p:cNvSpP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b="0" dirty="0"/>
              <a:t>32</a:t>
            </a:fld>
            <a:endParaRPr lang="zh-CN" altLang="en-US" sz="1200" b="0" dirty="0"/>
          </a:p>
        </p:txBody>
      </p:sp>
      <p:sp>
        <p:nvSpPr>
          <p:cNvPr id="40963" name="Rectangle 2"/>
          <p:cNvSpPr>
            <a:spLocks noGrp="1" noRot="1" noChangeAspect="1" noTextEdit="1"/>
          </p:cNvSpPr>
          <p:nvPr>
            <p:ph type="sldImg"/>
          </p:nvPr>
        </p:nvSpPr>
        <p:spPr/>
      </p:sp>
      <p:sp>
        <p:nvSpPr>
          <p:cNvPr id="40964" name="Rectangle 3"/>
          <p:cNvSpPr>
            <a:spLocks noGrp="1"/>
          </p:cNvSpPr>
          <p:nvPr>
            <p:ph type="body"/>
          </p:nvPr>
        </p:nvSpPr>
        <p:spPr/>
        <p:txBody>
          <a:bodyPr wrap="square" anchor="t"/>
          <a:lstStyle/>
          <a:p>
            <a:pPr lvl="0" indent="0" eaLnBrk="1" hangingPunct="1"/>
            <a:r>
              <a:rPr lang="zh-CN" altLang="en-US" dirty="0"/>
              <a:t>为何有了</a:t>
            </a:r>
            <a:r>
              <a:rPr lang="en-US" altLang="zh-CN" dirty="0"/>
              <a:t>define</a:t>
            </a:r>
            <a:r>
              <a:rPr lang="zh-CN" altLang="en-US" dirty="0"/>
              <a:t>还使用</a:t>
            </a:r>
            <a:r>
              <a:rPr lang="en-US" altLang="zh-CN" dirty="0"/>
              <a:t>const</a:t>
            </a:r>
            <a:r>
              <a:rPr lang="zh-CN" altLang="en-US" dirty="0"/>
              <a:t>变量：</a:t>
            </a:r>
          </a:p>
          <a:p>
            <a:pPr lvl="0" indent="0" eaLnBrk="1" hangingPunct="1"/>
            <a:r>
              <a:rPr lang="zh-CN" altLang="en-US" dirty="0"/>
              <a:t>如果一个值是不确定的，只能在运行时才确定，且该值在运行过程中不可修改，则使用</a:t>
            </a:r>
            <a:r>
              <a:rPr lang="en-US" altLang="zh-CN" dirty="0"/>
              <a:t>const</a:t>
            </a:r>
            <a:r>
              <a:rPr lang="zh-CN" altLang="en-US" dirty="0"/>
              <a:t>变量</a:t>
            </a:r>
          </a:p>
          <a:p>
            <a:pPr lvl="0" indent="0" eaLnBrk="1" hangingPunct="1"/>
            <a:endParaRPr lang="zh-CN" altLang="en-US" dirty="0"/>
          </a:p>
          <a:p>
            <a:pPr lvl="0" indent="0" eaLnBrk="1" hangingPunct="1"/>
            <a:r>
              <a:rPr lang="en-US" altLang="zh-CN" dirty="0"/>
              <a:t>Define</a:t>
            </a:r>
            <a:r>
              <a:rPr lang="zh-CN" altLang="en-US" dirty="0"/>
              <a:t>常量和</a:t>
            </a:r>
            <a:r>
              <a:rPr lang="en-US" altLang="zh-CN" dirty="0"/>
              <a:t>const</a:t>
            </a:r>
            <a:r>
              <a:rPr lang="zh-CN" altLang="en-US" dirty="0"/>
              <a:t>常量的区别：</a:t>
            </a:r>
          </a:p>
          <a:p>
            <a:pPr lvl="0" indent="0" eaLnBrk="1" hangingPunct="1"/>
            <a:r>
              <a:rPr lang="zh-CN" altLang="en-US" b="1" dirty="0"/>
              <a:t>两者之间的区别：</a:t>
            </a:r>
            <a:br>
              <a:rPr lang="zh-CN" altLang="en-US"/>
            </a:br>
            <a:r>
              <a:rPr lang="zh-CN" altLang="en-US" dirty="0"/>
              <a:t>   </a:t>
            </a:r>
            <a:r>
              <a:rPr lang="zh-CN" altLang="en-US"/>
              <a:t> 内存</a:t>
            </a:r>
            <a:r>
              <a:rPr lang="zh-CN" altLang="en-US" dirty="0"/>
              <a:t>空间的分配上。</a:t>
            </a:r>
            <a:r>
              <a:rPr lang="en-US" altLang="zh-CN" dirty="0"/>
              <a:t>define</a:t>
            </a:r>
            <a:r>
              <a:rPr lang="zh-CN" altLang="en-US" dirty="0"/>
              <a:t>进行宏定义的时候，不会分配内存空间，编译时会在</a:t>
            </a:r>
            <a:r>
              <a:rPr lang="en-US" altLang="zh-CN" dirty="0"/>
              <a:t>main</a:t>
            </a:r>
            <a:r>
              <a:rPr lang="zh-CN" altLang="en-US" dirty="0"/>
              <a:t>函数里进行替换，只是单纯的替换，不会进行任何检查</a:t>
            </a:r>
            <a:r>
              <a:rPr lang="en-US" altLang="zh-CN" dirty="0"/>
              <a:t>,</a:t>
            </a:r>
            <a:r>
              <a:rPr lang="zh-CN" altLang="en-US" dirty="0"/>
              <a:t>比如类型，语句结构等，即宏定义常量只是纯粹的置放关系，如</a:t>
            </a:r>
            <a:r>
              <a:rPr lang="en-US" altLang="zh-CN"/>
              <a:t>#define null 0</a:t>
            </a:r>
            <a:r>
              <a:rPr lang="zh-CN" altLang="en-US" dirty="0"/>
              <a:t>；编译器在遇到</a:t>
            </a:r>
            <a:r>
              <a:rPr lang="en-US" altLang="zh-CN" dirty="0"/>
              <a:t>null</a:t>
            </a:r>
            <a:r>
              <a:rPr lang="zh-CN" altLang="en-US" dirty="0"/>
              <a:t>时总是用</a:t>
            </a:r>
            <a:r>
              <a:rPr lang="en-US" altLang="zh-CN" dirty="0"/>
              <a:t>0</a:t>
            </a:r>
            <a:r>
              <a:rPr lang="zh-CN" altLang="en-US" dirty="0"/>
              <a:t>代替</a:t>
            </a:r>
            <a:r>
              <a:rPr lang="en-US" altLang="zh-CN" dirty="0"/>
              <a:t>null</a:t>
            </a:r>
            <a:r>
              <a:rPr lang="zh-CN" altLang="en-US" dirty="0"/>
              <a:t>它没有数据类型（还有疑问请找</a:t>
            </a:r>
            <a:r>
              <a:rPr lang="en-US" altLang="zh-CN" dirty="0"/>
              <a:t>C</a:t>
            </a:r>
            <a:r>
              <a:rPr lang="zh-CN" altLang="en-US" dirty="0"/>
              <a:t>语言书籍看预处理部分或者看</a:t>
            </a:r>
            <a:r>
              <a:rPr lang="en-US" altLang="zh-CN" dirty="0"/>
              <a:t>MSDN.</a:t>
            </a:r>
            <a:r>
              <a:rPr lang="zh-CN" altLang="en-US" dirty="0"/>
              <a:t>而</a:t>
            </a:r>
            <a:r>
              <a:rPr lang="en-US" altLang="zh-CN" dirty="0"/>
              <a:t>const</a:t>
            </a:r>
            <a:r>
              <a:rPr lang="zh-CN" altLang="en-US" dirty="0"/>
              <a:t>定义的常量具有数据类型，定义数据类型的常量便于编译器进行数据检查，使程序可能出现错误进行排查</a:t>
            </a:r>
            <a:r>
              <a:rPr lang="en-US" altLang="zh-CN" dirty="0"/>
              <a:t>,</a:t>
            </a:r>
            <a:r>
              <a:rPr lang="zh-CN" altLang="en-US" dirty="0"/>
              <a:t>所以</a:t>
            </a:r>
            <a:r>
              <a:rPr lang="en-US" altLang="zh-CN" dirty="0"/>
              <a:t>const</a:t>
            </a:r>
            <a:r>
              <a:rPr lang="zh-CN" altLang="en-US" dirty="0"/>
              <a:t>与</a:t>
            </a:r>
            <a:r>
              <a:rPr lang="en-US" altLang="zh-CN" dirty="0"/>
              <a:t>define</a:t>
            </a:r>
            <a:r>
              <a:rPr lang="zh-CN" altLang="en-US" dirty="0"/>
              <a:t>之间的区别在于</a:t>
            </a:r>
            <a:r>
              <a:rPr lang="en-US" altLang="zh-CN" dirty="0"/>
              <a:t>const</a:t>
            </a:r>
            <a:r>
              <a:rPr lang="zh-CN" altLang="en-US" dirty="0"/>
              <a:t>定义常量排除了程序之间的不</a:t>
            </a:r>
            <a:r>
              <a:rPr lang="zh-CN" altLang="en-US"/>
              <a:t>安全性</a:t>
            </a:r>
            <a:r>
              <a:rPr lang="en-US" altLang="zh-CN"/>
              <a:t>. </a:t>
            </a:r>
            <a:br>
              <a:rPr lang="en-US" altLang="zh-CN" dirty="0"/>
            </a:br>
            <a:br>
              <a:rPr lang="en-US" altLang="zh-CN" dirty="0"/>
            </a:br>
            <a:endParaRPr lang="zh-CN" altLang="en-US" dirty="0"/>
          </a:p>
        </p:txBody>
      </p:sp>
    </p:spTree>
    <p:extLst>
      <p:ext uri="{BB962C8B-B14F-4D97-AF65-F5344CB8AC3E}">
        <p14:creationId xmlns:p14="http://schemas.microsoft.com/office/powerpoint/2010/main" val="3352148103"/>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0962" name="Rectangle 7"/>
          <p:cNvSpPr txBox="1">
            <a:spLocks noGrp="1"/>
          </p:cNvSpPr>
          <p:nvPr/>
        </p:nvSpPr>
        <p:spPr>
          <a:xfrm>
            <a:off x="3886200" y="8686800"/>
            <a:ext cx="2971800" cy="457200"/>
          </a:xfrm>
          <a:prstGeom prst="rect">
            <a:avLst/>
          </a:prstGeom>
          <a:noFill/>
          <a:ln w="9525">
            <a:noFill/>
          </a:ln>
        </p:spPr>
        <p:txBody>
          <a:bodyPr anchor="b"/>
          <a:lstStyle/>
          <a:p>
            <a:pPr lvl="0" indent="0" algn="r"/>
            <a:fld id="{9A0DB2DC-4C9A-4742-B13C-FB6460FD3503}" type="slidenum">
              <a:rPr lang="zh-CN" altLang="en-US" sz="1200" b="0" dirty="0"/>
              <a:t>33</a:t>
            </a:fld>
            <a:endParaRPr lang="zh-CN" altLang="en-US" sz="1200" b="0" dirty="0"/>
          </a:p>
        </p:txBody>
      </p:sp>
      <p:sp>
        <p:nvSpPr>
          <p:cNvPr id="40963" name="Rectangle 2"/>
          <p:cNvSpPr>
            <a:spLocks noGrp="1" noRot="1" noChangeAspect="1" noTextEdit="1"/>
          </p:cNvSpPr>
          <p:nvPr>
            <p:ph type="sldImg"/>
          </p:nvPr>
        </p:nvSpPr>
        <p:spPr/>
      </p:sp>
      <p:sp>
        <p:nvSpPr>
          <p:cNvPr id="40964" name="Rectangle 3"/>
          <p:cNvSpPr>
            <a:spLocks noGrp="1"/>
          </p:cNvSpPr>
          <p:nvPr>
            <p:ph type="body"/>
          </p:nvPr>
        </p:nvSpPr>
        <p:spPr/>
        <p:txBody>
          <a:bodyPr wrap="square" anchor="t"/>
          <a:lstStyle/>
          <a:p>
            <a:pPr lvl="0" indent="0" eaLnBrk="1" hangingPunct="1"/>
            <a:r>
              <a:rPr lang="zh-CN" altLang="en-US" dirty="0"/>
              <a:t>为何有了</a:t>
            </a:r>
            <a:r>
              <a:rPr lang="en-US" altLang="zh-CN" dirty="0"/>
              <a:t>define</a:t>
            </a:r>
            <a:r>
              <a:rPr lang="zh-CN" altLang="en-US" dirty="0"/>
              <a:t>还使用</a:t>
            </a:r>
            <a:r>
              <a:rPr lang="en-US" altLang="zh-CN" dirty="0"/>
              <a:t>const</a:t>
            </a:r>
            <a:r>
              <a:rPr lang="zh-CN" altLang="en-US" dirty="0"/>
              <a:t>变量：</a:t>
            </a:r>
          </a:p>
          <a:p>
            <a:pPr lvl="0" indent="0" eaLnBrk="1" hangingPunct="1"/>
            <a:r>
              <a:rPr lang="zh-CN" altLang="en-US" dirty="0"/>
              <a:t>如果一个值是不确定的，只能在运行时才确定，且该值在运行过程中不可修改，则使用</a:t>
            </a:r>
            <a:r>
              <a:rPr lang="en-US" altLang="zh-CN" dirty="0"/>
              <a:t>const</a:t>
            </a:r>
            <a:r>
              <a:rPr lang="zh-CN" altLang="en-US" dirty="0"/>
              <a:t>变量</a:t>
            </a:r>
          </a:p>
          <a:p>
            <a:pPr lvl="0" indent="0" eaLnBrk="1" hangingPunct="1"/>
            <a:endParaRPr lang="zh-CN" altLang="en-US" dirty="0"/>
          </a:p>
          <a:p>
            <a:pPr lvl="0" indent="0" eaLnBrk="1" hangingPunct="1"/>
            <a:r>
              <a:rPr lang="en-US" altLang="zh-CN" dirty="0"/>
              <a:t>Define</a:t>
            </a:r>
            <a:r>
              <a:rPr lang="zh-CN" altLang="en-US" dirty="0"/>
              <a:t>常量和</a:t>
            </a:r>
            <a:r>
              <a:rPr lang="en-US" altLang="zh-CN" dirty="0"/>
              <a:t>const</a:t>
            </a:r>
            <a:r>
              <a:rPr lang="zh-CN" altLang="en-US" dirty="0"/>
              <a:t>常量的区别：</a:t>
            </a:r>
          </a:p>
          <a:p>
            <a:pPr lvl="0" indent="0" eaLnBrk="1" hangingPunct="1"/>
            <a:r>
              <a:rPr lang="zh-CN" altLang="en-US" b="1" dirty="0"/>
              <a:t>两者之间的区别：</a:t>
            </a:r>
            <a:br>
              <a:rPr lang="zh-CN" altLang="en-US"/>
            </a:br>
            <a:r>
              <a:rPr lang="zh-CN" altLang="en-US" dirty="0"/>
              <a:t>   </a:t>
            </a:r>
            <a:r>
              <a:rPr lang="zh-CN" altLang="en-US"/>
              <a:t> 内存</a:t>
            </a:r>
            <a:r>
              <a:rPr lang="zh-CN" altLang="en-US" dirty="0"/>
              <a:t>空间的分配上。</a:t>
            </a:r>
            <a:r>
              <a:rPr lang="en-US" altLang="zh-CN" dirty="0"/>
              <a:t>define</a:t>
            </a:r>
            <a:r>
              <a:rPr lang="zh-CN" altLang="en-US" dirty="0"/>
              <a:t>进行宏定义的时候，不会分配内存空间，编译时会在</a:t>
            </a:r>
            <a:r>
              <a:rPr lang="en-US" altLang="zh-CN" dirty="0"/>
              <a:t>main</a:t>
            </a:r>
            <a:r>
              <a:rPr lang="zh-CN" altLang="en-US" dirty="0"/>
              <a:t>函数里进行替换，只是单纯的替换，不会进行任何检查</a:t>
            </a:r>
            <a:r>
              <a:rPr lang="en-US" altLang="zh-CN" dirty="0"/>
              <a:t>,</a:t>
            </a:r>
            <a:r>
              <a:rPr lang="zh-CN" altLang="en-US" dirty="0"/>
              <a:t>比如类型，语句结构等，即宏定义常量只是纯粹的置放关系，如</a:t>
            </a:r>
            <a:r>
              <a:rPr lang="en-US" altLang="zh-CN"/>
              <a:t>#define null 0</a:t>
            </a:r>
            <a:r>
              <a:rPr lang="zh-CN" altLang="en-US" dirty="0"/>
              <a:t>；编译器在遇到</a:t>
            </a:r>
            <a:r>
              <a:rPr lang="en-US" altLang="zh-CN" dirty="0"/>
              <a:t>null</a:t>
            </a:r>
            <a:r>
              <a:rPr lang="zh-CN" altLang="en-US" dirty="0"/>
              <a:t>时总是用</a:t>
            </a:r>
            <a:r>
              <a:rPr lang="en-US" altLang="zh-CN" dirty="0"/>
              <a:t>0</a:t>
            </a:r>
            <a:r>
              <a:rPr lang="zh-CN" altLang="en-US" dirty="0"/>
              <a:t>代替</a:t>
            </a:r>
            <a:r>
              <a:rPr lang="en-US" altLang="zh-CN" dirty="0"/>
              <a:t>null</a:t>
            </a:r>
            <a:r>
              <a:rPr lang="zh-CN" altLang="en-US" dirty="0"/>
              <a:t>它没有数据类型（还有疑问请找</a:t>
            </a:r>
            <a:r>
              <a:rPr lang="en-US" altLang="zh-CN" dirty="0"/>
              <a:t>C</a:t>
            </a:r>
            <a:r>
              <a:rPr lang="zh-CN" altLang="en-US" dirty="0"/>
              <a:t>语言书籍看预处理部分或者看</a:t>
            </a:r>
            <a:r>
              <a:rPr lang="en-US" altLang="zh-CN" dirty="0"/>
              <a:t>MSDN.</a:t>
            </a:r>
            <a:r>
              <a:rPr lang="zh-CN" altLang="en-US" dirty="0"/>
              <a:t>而</a:t>
            </a:r>
            <a:r>
              <a:rPr lang="en-US" altLang="zh-CN" dirty="0"/>
              <a:t>const</a:t>
            </a:r>
            <a:r>
              <a:rPr lang="zh-CN" altLang="en-US" dirty="0"/>
              <a:t>定义的常量具有数据类型，定义数据类型的常量便于编译器进行数据检查，使程序可能出现错误进行排查</a:t>
            </a:r>
            <a:r>
              <a:rPr lang="en-US" altLang="zh-CN" dirty="0"/>
              <a:t>,</a:t>
            </a:r>
            <a:r>
              <a:rPr lang="zh-CN" altLang="en-US" dirty="0"/>
              <a:t>所以</a:t>
            </a:r>
            <a:r>
              <a:rPr lang="en-US" altLang="zh-CN" dirty="0"/>
              <a:t>const</a:t>
            </a:r>
            <a:r>
              <a:rPr lang="zh-CN" altLang="en-US" dirty="0"/>
              <a:t>与</a:t>
            </a:r>
            <a:r>
              <a:rPr lang="en-US" altLang="zh-CN" dirty="0"/>
              <a:t>define</a:t>
            </a:r>
            <a:r>
              <a:rPr lang="zh-CN" altLang="en-US" dirty="0"/>
              <a:t>之间的区别在于</a:t>
            </a:r>
            <a:r>
              <a:rPr lang="en-US" altLang="zh-CN" dirty="0"/>
              <a:t>const</a:t>
            </a:r>
            <a:r>
              <a:rPr lang="zh-CN" altLang="en-US" dirty="0"/>
              <a:t>定义常量排除了程序之间的不</a:t>
            </a:r>
            <a:r>
              <a:rPr lang="zh-CN" altLang="en-US"/>
              <a:t>安全性</a:t>
            </a:r>
            <a:r>
              <a:rPr lang="en-US" altLang="zh-CN"/>
              <a:t>. </a:t>
            </a:r>
            <a:br>
              <a:rPr lang="en-US" altLang="zh-CN" dirty="0"/>
            </a:br>
            <a:br>
              <a:rPr lang="en-US" altLang="zh-CN" dirty="0"/>
            </a:br>
            <a:endParaRPr lang="zh-CN" altLang="en-US" dirty="0"/>
          </a:p>
        </p:txBody>
      </p:sp>
    </p:spTree>
    <p:extLst>
      <p:ext uri="{BB962C8B-B14F-4D97-AF65-F5344CB8AC3E}">
        <p14:creationId xmlns:p14="http://schemas.microsoft.com/office/powerpoint/2010/main" val="269673588"/>
      </p:ext>
    </p:extLst>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3588" cy="3429000"/>
          </a:xfrm>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2748229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3588" cy="3429000"/>
          </a:xfrm>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3425220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3588" cy="3429000"/>
          </a:xfrm>
        </p:spPr>
      </p:sp>
      <p:sp>
        <p:nvSpPr>
          <p:cNvPr id="3" name="文本占位符 2"/>
          <p:cNvSpPr>
            <a:spLocks noGrp="1"/>
          </p:cNvSpPr>
          <p:nvPr>
            <p:ph type="body" idx="3"/>
          </p:nvPr>
        </p:nvSpPr>
        <p:spPr/>
        <p:txBody>
          <a:bodyPr/>
          <a:lstStyle/>
          <a:p>
            <a:pPr lvl="1" eaLnBrk="1" hangingPunct="1">
              <a:buNone/>
            </a:pPr>
            <a:r>
              <a:rPr lang="en-US" altLang="x-none" b="1" dirty="0">
                <a:solidFill>
                  <a:srgbClr val="FF0000"/>
                </a:solidFill>
                <a:latin typeface="楷体_GB2312" pitchFamily="1" charset="-122"/>
                <a:ea typeface="楷体_GB2312" pitchFamily="1" charset="-122"/>
                <a:sym typeface="+mn-ea"/>
              </a:rPr>
              <a:t>1.</a:t>
            </a:r>
            <a:r>
              <a:rPr lang="zh-CN" altLang="en-US" b="1" dirty="0">
                <a:solidFill>
                  <a:srgbClr val="FF0000"/>
                </a:solidFill>
                <a:latin typeface="楷体_GB2312" pitchFamily="1" charset="-122"/>
                <a:ea typeface="楷体_GB2312" pitchFamily="1" charset="-122"/>
                <a:sym typeface="+mn-ea"/>
              </a:rPr>
              <a:t>自顶向下</a:t>
            </a:r>
            <a:r>
              <a:rPr lang="en-US" altLang="x-none" b="1" dirty="0">
                <a:solidFill>
                  <a:srgbClr val="FF0000"/>
                </a:solidFill>
                <a:latin typeface="楷体_GB2312" pitchFamily="1" charset="-122"/>
                <a:ea typeface="楷体_GB2312" pitchFamily="1" charset="-122"/>
                <a:sym typeface="+mn-ea"/>
              </a:rPr>
              <a:t>, </a:t>
            </a:r>
            <a:r>
              <a:rPr lang="zh-CN" altLang="en-US" b="1" dirty="0">
                <a:solidFill>
                  <a:srgbClr val="FF0000"/>
                </a:solidFill>
                <a:latin typeface="楷体_GB2312" pitchFamily="1" charset="-122"/>
                <a:ea typeface="楷体_GB2312" pitchFamily="1" charset="-122"/>
                <a:sym typeface="+mn-ea"/>
              </a:rPr>
              <a:t>逐步求精；</a:t>
            </a:r>
            <a:endParaRPr lang="zh-CN" altLang="en-US" b="1" dirty="0">
              <a:solidFill>
                <a:srgbClr val="FF0000"/>
              </a:solidFill>
              <a:latin typeface="楷体_GB2312" pitchFamily="1" charset="-122"/>
              <a:ea typeface="楷体_GB2312" pitchFamily="1" charset="-122"/>
            </a:endParaRPr>
          </a:p>
          <a:p>
            <a:pPr marL="342900" lvl="0" indent="-342900" eaLnBrk="1" hangingPunct="1">
              <a:buNone/>
            </a:pPr>
            <a:r>
              <a:rPr lang="zh-CN" altLang="en-US" b="1" dirty="0">
                <a:latin typeface="楷体_GB2312" pitchFamily="1" charset="-122"/>
                <a:ea typeface="楷体_GB2312" pitchFamily="1" charset="-122"/>
                <a:sym typeface="+mn-ea"/>
              </a:rPr>
              <a:t>   采用分而治之的方法，将一个复杂问题分解为相对简单的一些子问题，然后针对这些子问题进行求解。如果某个子问题仍然是比较复杂的，再进一步分解为子</a:t>
            </a:r>
            <a:r>
              <a:rPr lang="en-US" altLang="x-none" b="1" dirty="0">
                <a:latin typeface="楷体_GB2312" pitchFamily="1" charset="-122"/>
                <a:ea typeface="楷体_GB2312" pitchFamily="1" charset="-122"/>
                <a:sym typeface="+mn-ea"/>
              </a:rPr>
              <a:t>-</a:t>
            </a:r>
            <a:r>
              <a:rPr lang="zh-CN" altLang="en-US" b="1" dirty="0">
                <a:latin typeface="楷体_GB2312" pitchFamily="1" charset="-122"/>
                <a:ea typeface="楷体_GB2312" pitchFamily="1" charset="-122"/>
                <a:sym typeface="+mn-ea"/>
              </a:rPr>
              <a:t>子问题，直到所有问题都能够求解。</a:t>
            </a:r>
            <a:endParaRPr lang="zh-CN" altLang="en-US" b="1" dirty="0">
              <a:latin typeface="楷体_GB2312" pitchFamily="1" charset="-122"/>
              <a:ea typeface="楷体_GB2312" pitchFamily="1" charset="-122"/>
            </a:endParaRPr>
          </a:p>
          <a:p>
            <a:pPr marL="342900" lvl="0" indent="-342900" eaLnBrk="1" hangingPunct="1">
              <a:buNone/>
            </a:pPr>
            <a:endParaRPr lang="en-US" altLang="x-none" b="1" dirty="0">
              <a:latin typeface="楷体_GB2312" pitchFamily="1" charset="-122"/>
              <a:ea typeface="楷体_GB2312" pitchFamily="1" charset="-122"/>
            </a:endParaRPr>
          </a:p>
          <a:p>
            <a:pPr marL="342900" lvl="0" indent="-342900" eaLnBrk="1" hangingPunct="1">
              <a:buNone/>
            </a:pPr>
            <a:r>
              <a:rPr lang="en-US" altLang="x-none" dirty="0">
                <a:latin typeface="Times New Roman" pitchFamily="18" charset="0"/>
                <a:ea typeface="宋体" charset="-122"/>
                <a:sym typeface="+mn-ea"/>
              </a:rPr>
              <a:t>     </a:t>
            </a:r>
            <a:r>
              <a:rPr lang="zh-CN" altLang="en-US" b="1" dirty="0">
                <a:latin typeface="楷体_GB2312" pitchFamily="1" charset="-122"/>
                <a:ea typeface="楷体_GB2312" pitchFamily="1" charset="-122"/>
                <a:sym typeface="+mn-ea"/>
              </a:rPr>
              <a:t>优点：先全局后局部、先整体后细节、先抽象后具体，有助于控制问题的复杂性，利于问题的解决。</a:t>
            </a:r>
            <a:endParaRPr lang="zh-CN" altLang="en-US" b="1" dirty="0">
              <a:latin typeface="楷体_GB2312" pitchFamily="1" charset="-122"/>
              <a:ea typeface="楷体_GB2312" pitchFamily="1" charset="-122"/>
            </a:endParaRPr>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3588" cy="3429000"/>
          </a:xfrm>
        </p:spPr>
      </p:sp>
      <p:sp>
        <p:nvSpPr>
          <p:cNvPr id="3" name="文本占位符 2"/>
          <p:cNvSpPr>
            <a:spLocks noGrp="1"/>
          </p:cNvSpPr>
          <p:nvPr>
            <p:ph type="body" idx="3"/>
          </p:nvPr>
        </p:nvSpPr>
        <p:spPr/>
        <p:txBody>
          <a:bodyPr/>
          <a:lstStyle/>
          <a:p>
            <a:pPr lvl="0" fontAlgn="base"/>
            <a:r>
              <a:rPr lang="en-US" altLang="x-none" dirty="0">
                <a:latin typeface="楷体_GB2312" pitchFamily="1" charset="-122"/>
                <a:ea typeface="楷体_GB2312" pitchFamily="1" charset="-122"/>
                <a:sym typeface="+mn-ea"/>
              </a:rPr>
              <a:t>20</a:t>
            </a:r>
            <a:r>
              <a:rPr lang="zh-CN" altLang="en-US" dirty="0">
                <a:latin typeface="楷体_GB2312" pitchFamily="1" charset="-122"/>
                <a:ea typeface="楷体_GB2312" pitchFamily="1" charset="-122"/>
                <a:sym typeface="+mn-ea"/>
              </a:rPr>
              <a:t>世纪</a:t>
            </a:r>
            <a:r>
              <a:rPr lang="en-US" altLang="x-none" dirty="0">
                <a:latin typeface="楷体_GB2312" pitchFamily="1" charset="-122"/>
                <a:ea typeface="楷体_GB2312" pitchFamily="1" charset="-122"/>
                <a:sym typeface="+mn-ea"/>
              </a:rPr>
              <a:t>60</a:t>
            </a:r>
            <a:r>
              <a:rPr lang="zh-CN" altLang="en-US" dirty="0">
                <a:latin typeface="楷体_GB2312" pitchFamily="1" charset="-122"/>
                <a:ea typeface="楷体_GB2312" pitchFamily="1" charset="-122"/>
                <a:sym typeface="+mn-ea"/>
              </a:rPr>
              <a:t>年代末和</a:t>
            </a:r>
            <a:r>
              <a:rPr lang="en-US" altLang="x-none" dirty="0">
                <a:latin typeface="楷体_GB2312" pitchFamily="1" charset="-122"/>
                <a:ea typeface="楷体_GB2312" pitchFamily="1" charset="-122"/>
                <a:sym typeface="+mn-ea"/>
              </a:rPr>
              <a:t>70</a:t>
            </a:r>
            <a:r>
              <a:rPr lang="zh-CN" altLang="en-US" dirty="0">
                <a:latin typeface="楷体_GB2312" pitchFamily="1" charset="-122"/>
                <a:ea typeface="楷体_GB2312" pitchFamily="1" charset="-122"/>
                <a:sym typeface="+mn-ea"/>
              </a:rPr>
              <a:t>年代，有些人不加限制地使用</a:t>
            </a:r>
            <a:r>
              <a:rPr lang="en-US" altLang="x-none" dirty="0">
                <a:latin typeface="楷体_GB2312" pitchFamily="1" charset="-122"/>
                <a:ea typeface="楷体_GB2312" pitchFamily="1" charset="-122"/>
                <a:sym typeface="+mn-ea"/>
              </a:rPr>
              <a:t>goto</a:t>
            </a:r>
            <a:r>
              <a:rPr lang="zh-CN" altLang="en-US" dirty="0">
                <a:latin typeface="楷体_GB2312" pitchFamily="1" charset="-122"/>
                <a:ea typeface="楷体_GB2312" pitchFamily="1" charset="-122"/>
                <a:sym typeface="+mn-ea"/>
              </a:rPr>
              <a:t>语句，使得程序结构难于理解；</a:t>
            </a:r>
            <a:endParaRPr lang="en-US" altLang="x-none" strike="noStrike" noProof="1">
              <a:latin typeface="楷体_GB2312" pitchFamily="1" charset="-122"/>
              <a:ea typeface="楷体_GB2312" pitchFamily="1" charset="-122"/>
            </a:endParaRPr>
          </a:p>
          <a:p>
            <a:pPr lvl="0" fontAlgn="base"/>
            <a:r>
              <a:rPr lang="zh-CN" altLang="en-US" dirty="0">
                <a:latin typeface="楷体_GB2312" pitchFamily="1" charset="-122"/>
                <a:ea typeface="楷体_GB2312" pitchFamily="1" charset="-122"/>
                <a:sym typeface="+mn-ea"/>
              </a:rPr>
              <a:t>能否消除</a:t>
            </a:r>
            <a:r>
              <a:rPr lang="en-US" altLang="x-none" dirty="0">
                <a:latin typeface="楷体_GB2312" pitchFamily="1" charset="-122"/>
                <a:ea typeface="楷体_GB2312" pitchFamily="1" charset="-122"/>
                <a:sym typeface="+mn-ea"/>
              </a:rPr>
              <a:t>goto</a:t>
            </a:r>
            <a:r>
              <a:rPr lang="zh-CN" altLang="en-US" dirty="0">
                <a:latin typeface="楷体_GB2312" pitchFamily="1" charset="-122"/>
                <a:ea typeface="楷体_GB2312" pitchFamily="1" charset="-122"/>
                <a:sym typeface="+mn-ea"/>
              </a:rPr>
              <a:t>语句？</a:t>
            </a:r>
            <a:r>
              <a:rPr lang="en-US" altLang="x-none" dirty="0">
                <a:latin typeface="楷体_GB2312" pitchFamily="1" charset="-122"/>
                <a:ea typeface="楷体_GB2312" pitchFamily="1" charset="-122"/>
                <a:sym typeface="+mn-ea"/>
              </a:rPr>
              <a:t> 1966</a:t>
            </a:r>
            <a:r>
              <a:rPr lang="zh-CN" altLang="en-US" dirty="0">
                <a:latin typeface="楷体_GB2312" pitchFamily="1" charset="-122"/>
                <a:ea typeface="楷体_GB2312" pitchFamily="1" charset="-122"/>
                <a:sym typeface="+mn-ea"/>
              </a:rPr>
              <a:t>年，</a:t>
            </a:r>
            <a:r>
              <a:rPr lang="en-US" altLang="x-none" dirty="0">
                <a:latin typeface="楷体_GB2312" pitchFamily="1" charset="-122"/>
                <a:ea typeface="楷体_GB2312" pitchFamily="1" charset="-122"/>
                <a:sym typeface="+mn-ea"/>
              </a:rPr>
              <a:t>G.Jacopini</a:t>
            </a:r>
            <a:r>
              <a:rPr lang="zh-CN" altLang="en-US" dirty="0">
                <a:latin typeface="楷体_GB2312" pitchFamily="1" charset="-122"/>
                <a:ea typeface="楷体_GB2312" pitchFamily="1" charset="-122"/>
                <a:sym typeface="+mn-ea"/>
              </a:rPr>
              <a:t>和</a:t>
            </a:r>
            <a:r>
              <a:rPr lang="en-US" altLang="x-none" dirty="0">
                <a:latin typeface="楷体_GB2312" pitchFamily="1" charset="-122"/>
                <a:ea typeface="楷体_GB2312" pitchFamily="1" charset="-122"/>
                <a:sym typeface="+mn-ea"/>
              </a:rPr>
              <a:t>C.Bohm</a:t>
            </a:r>
            <a:r>
              <a:rPr lang="zh-CN" altLang="en-US" dirty="0">
                <a:latin typeface="楷体_GB2312" pitchFamily="1" charset="-122"/>
                <a:ea typeface="楷体_GB2312" pitchFamily="1" charset="-122"/>
                <a:sym typeface="+mn-ea"/>
              </a:rPr>
              <a:t>从理论上证明了：任何程序都可以用顺序结构、条件结构和循环结构表示出来。</a:t>
            </a:r>
            <a:endParaRPr lang="en-US" altLang="x-none" strike="noStrike" noProof="1">
              <a:latin typeface="楷体_GB2312" pitchFamily="1" charset="-122"/>
              <a:ea typeface="楷体_GB2312" pitchFamily="1" charset="-122"/>
            </a:endParaRPr>
          </a:p>
          <a:p>
            <a:pPr marL="342900" lvl="1" indent="-342900" fontAlgn="base">
              <a:buChar char="•"/>
            </a:pPr>
            <a:r>
              <a:rPr lang="zh-CN" altLang="en-US" dirty="0">
                <a:latin typeface="楷体_GB2312" pitchFamily="1" charset="-122"/>
                <a:ea typeface="楷体_GB2312" pitchFamily="1" charset="-122"/>
                <a:sym typeface="+mn-ea"/>
              </a:rPr>
              <a:t>结构化程序设计方法：</a:t>
            </a:r>
            <a:r>
              <a:rPr lang="en-US" altLang="x-none" dirty="0">
                <a:latin typeface="楷体_GB2312" pitchFamily="1" charset="-122"/>
                <a:sym typeface="+mn-ea"/>
              </a:rPr>
              <a:t> E.W.dijkstra</a:t>
            </a:r>
            <a:r>
              <a:rPr lang="zh-CN" altLang="en-US" dirty="0">
                <a:latin typeface="楷体_GB2312" pitchFamily="1" charset="-122"/>
                <a:ea typeface="楷体_GB2312" pitchFamily="1" charset="-122"/>
                <a:sym typeface="+mn-ea"/>
              </a:rPr>
              <a:t>在</a:t>
            </a:r>
            <a:r>
              <a:rPr lang="en-US" altLang="x-none" dirty="0">
                <a:latin typeface="楷体_GB2312" pitchFamily="1" charset="-122"/>
                <a:ea typeface="楷体_GB2312" pitchFamily="1" charset="-122"/>
                <a:sym typeface="+mn-ea"/>
              </a:rPr>
              <a:t>1969</a:t>
            </a:r>
            <a:r>
              <a:rPr lang="zh-CN" altLang="en-US" dirty="0">
                <a:latin typeface="楷体_GB2312" pitchFamily="1" charset="-122"/>
                <a:ea typeface="楷体_GB2312" pitchFamily="1" charset="-122"/>
                <a:sym typeface="+mn-ea"/>
              </a:rPr>
              <a:t>年提出，在当时是一种新的程序设计方法和风格，关注程序结构的好坏，</a:t>
            </a:r>
            <a:r>
              <a:rPr lang="zh-CN" altLang="en-US" b="1" dirty="0">
                <a:latin typeface="楷体_GB2312" pitchFamily="1" charset="-122"/>
                <a:ea typeface="楷体_GB2312" pitchFamily="1" charset="-122"/>
                <a:sym typeface="+mn-ea"/>
              </a:rPr>
              <a:t>强调</a:t>
            </a:r>
            <a:r>
              <a:rPr lang="zh-CN" altLang="en-US" b="1" dirty="0">
                <a:solidFill>
                  <a:schemeClr val="accent2"/>
                </a:solidFill>
                <a:effectLst>
                  <a:outerShdw blurRad="38100" dist="38100" dir="2700000">
                    <a:srgbClr val="C0C0C0"/>
                  </a:outerShdw>
                </a:effectLst>
                <a:latin typeface="楷体_GB2312" pitchFamily="1" charset="-122"/>
                <a:ea typeface="楷体_GB2312" pitchFamily="1" charset="-122"/>
                <a:sym typeface="+mn-ea"/>
              </a:rPr>
              <a:t>程序设计风格</a:t>
            </a:r>
            <a:r>
              <a:rPr lang="zh-CN" altLang="en-US" b="1" dirty="0">
                <a:latin typeface="楷体_GB2312" pitchFamily="1" charset="-122"/>
                <a:ea typeface="楷体_GB2312" pitchFamily="1" charset="-122"/>
                <a:sym typeface="+mn-ea"/>
              </a:rPr>
              <a:t>和</a:t>
            </a:r>
            <a:r>
              <a:rPr lang="zh-CN" altLang="en-US" b="1" dirty="0">
                <a:solidFill>
                  <a:schemeClr val="accent2"/>
                </a:solidFill>
                <a:effectLst>
                  <a:outerShdw blurRad="38100" dist="38100" dir="2700000">
                    <a:srgbClr val="C0C0C0"/>
                  </a:outerShdw>
                </a:effectLst>
                <a:latin typeface="楷体_GB2312" pitchFamily="1" charset="-122"/>
                <a:ea typeface="楷体_GB2312" pitchFamily="1" charset="-122"/>
                <a:sym typeface="+mn-ea"/>
              </a:rPr>
              <a:t>程序结构的规范化</a:t>
            </a:r>
            <a:r>
              <a:rPr lang="zh-CN" altLang="en-US" b="1" dirty="0">
                <a:latin typeface="楷体_GB2312" pitchFamily="1" charset="-122"/>
                <a:ea typeface="楷体_GB2312" pitchFamily="1" charset="-122"/>
                <a:sym typeface="+mn-ea"/>
              </a:rPr>
              <a:t>，提倡清晰的结构</a:t>
            </a:r>
            <a:endParaRPr lang="zh-CN" altLang="en-US"/>
          </a:p>
        </p:txBody>
      </p:sp>
    </p:spTree>
    <p:extLst>
      <p:ext uri="{BB962C8B-B14F-4D97-AF65-F5344CB8AC3E}">
        <p14:creationId xmlns:p14="http://schemas.microsoft.com/office/powerpoint/2010/main" val="11424092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spcBef>
                <a:spcPct val="0"/>
              </a:spcBef>
            </a:pPr>
            <a:fld id="{9A0DB2DC-4C9A-4742-B13C-FB6460FD3503}" type="slidenum">
              <a:rPr lang="zh-CN" altLang="en-US" dirty="0">
                <a:ea typeface="宋体" panose="02010600030101010101" pitchFamily="2" charset="-122"/>
              </a:rPr>
              <a:t>61</a:t>
            </a:fld>
            <a:endParaRPr lang="zh-CN" altLang="en-US" dirty="0">
              <a:ea typeface="宋体" panose="02010600030101010101" pitchFamily="2" charset="-122"/>
            </a:endParaRPr>
          </a:p>
        </p:txBody>
      </p:sp>
      <p:sp>
        <p:nvSpPr>
          <p:cNvPr id="12291" name="Rectangle 2"/>
          <p:cNvSpPr>
            <a:spLocks noGrp="1" noRot="1" noChangeAspect="1" noTextEdit="1"/>
          </p:cNvSpPr>
          <p:nvPr>
            <p:ph type="sldImg"/>
          </p:nvPr>
        </p:nvSpPr>
        <p:spPr/>
      </p:sp>
      <p:sp>
        <p:nvSpPr>
          <p:cNvPr id="12292" name="Rectangle 3"/>
          <p:cNvSpPr>
            <a:spLocks noGrp="1"/>
          </p:cNvSpPr>
          <p:nvPr>
            <p:ph type="body" idx="1"/>
          </p:nvPr>
        </p:nvSpPr>
        <p:spPr/>
        <p:txBody>
          <a:bodyPr wrap="square" lIns="91440" tIns="45720" rIns="91440" bIns="45720" anchor="t"/>
          <a:lstStyle/>
          <a:p>
            <a:pPr lvl="0" eaLnBrk="1" hangingPunct="1"/>
            <a:r>
              <a:rPr lang="zh-CN" altLang="en-US" dirty="0">
                <a:ea typeface="宋体" panose="02010600030101010101" pitchFamily="2" charset="-122"/>
              </a:rPr>
              <a:t>类比：</a:t>
            </a:r>
          </a:p>
          <a:p>
            <a:pPr lvl="0" eaLnBrk="1" hangingPunct="1"/>
            <a:r>
              <a:rPr lang="zh-CN" altLang="en-US" dirty="0">
                <a:ea typeface="宋体" panose="02010600030101010101" pitchFamily="2" charset="-122"/>
              </a:rPr>
              <a:t>现实生活中，食堂领导将做饭的任务细分，首先让小王去菜场买菜，小王买来菜后，让小李洗菜，小李洗完菜后让厨师丁做菜。这样，食堂领导就是</a:t>
            </a:r>
            <a:r>
              <a:rPr lang="en-US" altLang="zh-CN" dirty="0">
                <a:ea typeface="宋体" panose="02010600030101010101" pitchFamily="2" charset="-122"/>
              </a:rPr>
              <a:t>main</a:t>
            </a:r>
            <a:r>
              <a:rPr lang="zh-CN" altLang="en-US" dirty="0">
                <a:ea typeface="宋体" panose="02010600030101010101" pitchFamily="2" charset="-122"/>
              </a:rPr>
              <a:t>函数，小王、小李和厨师就是子函数。</a:t>
            </a:r>
          </a:p>
        </p:txBody>
      </p:sp>
    </p:spTree>
    <p:extLst>
      <p:ext uri="{BB962C8B-B14F-4D97-AF65-F5344CB8AC3E}">
        <p14:creationId xmlns:p14="http://schemas.microsoft.com/office/powerpoint/2010/main" val="18994608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p:sp>
      <p:sp>
        <p:nvSpPr>
          <p:cNvPr id="23555" name="备注占位符 2"/>
          <p:cNvSpPr>
            <a:spLocks noGrp="1"/>
          </p:cNvSpPr>
          <p:nvPr>
            <p:ph type="body" idx="1"/>
          </p:nvPr>
        </p:nvSpPr>
        <p:spPr/>
        <p:txBody>
          <a:bodyPr wrap="square" lIns="91440" tIns="45720" rIns="91440" bIns="45720" anchor="t"/>
          <a:lstStyle/>
          <a:p>
            <a:pPr lvl="0"/>
            <a:endParaRPr lang="zh-CN" altLang="en-US" dirty="0">
              <a:ea typeface="宋体" panose="02010600030101010101" pitchFamily="2" charset="-122"/>
            </a:endParaRPr>
          </a:p>
        </p:txBody>
      </p:sp>
      <p:sp>
        <p:nvSpPr>
          <p:cNvPr id="23556" name="灯片编号占位符 3"/>
          <p:cNvSpPr txBox="1">
            <a:spLocks noGrp="1"/>
          </p:cNvSpPr>
          <p:nvPr>
            <p:ph type="sldNum" sz="quarter"/>
          </p:nvPr>
        </p:nvSpPr>
        <p:spPr>
          <a:xfrm>
            <a:off x="3886200" y="8686800"/>
            <a:ext cx="2971800" cy="457200"/>
          </a:xfrm>
          <a:prstGeom prst="rect">
            <a:avLst/>
          </a:prstGeom>
          <a:noFill/>
          <a:ln w="9525">
            <a:noFill/>
          </a:ln>
        </p:spPr>
        <p:txBody>
          <a:bodyPr anchor="b"/>
          <a:lstStyle/>
          <a:p>
            <a:pPr lvl="0" algn="r" eaLnBrk="1" hangingPunct="1"/>
            <a:fld id="{9A0DB2DC-4C9A-4742-B13C-FB6460FD3503}" type="slidenum">
              <a:rPr lang="zh-CN" altLang="en-US" sz="1200" b="0" dirty="0"/>
              <a:t>64</a:t>
            </a:fld>
            <a:endParaRPr lang="zh-CN" altLang="en-US" sz="1200" b="0"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Google</a:t>
            </a:r>
            <a:r>
              <a:rPr lang="zh-CN" altLang="en-US" dirty="0"/>
              <a:t>编程风格建议</a:t>
            </a:r>
            <a:r>
              <a:rPr lang="en-US" altLang="zh-CN" dirty="0"/>
              <a:t>return</a:t>
            </a:r>
            <a:r>
              <a:rPr lang="zh-CN" altLang="en-US" dirty="0"/>
              <a:t>后面不加括号，除非加括号会使得表达式更清晰。</a:t>
            </a:r>
          </a:p>
        </p:txBody>
      </p:sp>
    </p:spTree>
    <p:extLst>
      <p:ext uri="{BB962C8B-B14F-4D97-AF65-F5344CB8AC3E}">
        <p14:creationId xmlns:p14="http://schemas.microsoft.com/office/powerpoint/2010/main" val="27038612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319213"/>
            <a:ext cx="3810000" cy="4611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263650" y="404813"/>
            <a:ext cx="7772400" cy="720725"/>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6858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319213"/>
            <a:ext cx="3810000" cy="46116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5">
            <a:extLst>
              <a:ext uri="{FF2B5EF4-FFF2-40B4-BE49-F238E27FC236}">
                <a16:creationId xmlns:a16="http://schemas.microsoft.com/office/drawing/2014/main" id="{BF4723FA-43FC-4CE0-80FA-1CA7879A5D83}"/>
              </a:ext>
            </a:extLst>
          </p:cNvPr>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CBD0752-A796-4B92-A99A-62723058AEC3}"/>
              </a:ext>
            </a:extLst>
          </p:cNvPr>
          <p:cNvSpPr>
            <a:spLocks noGrp="1" noChangeArrowheads="1"/>
          </p:cNvSpPr>
          <p:nvPr>
            <p:ph type="sldNum" sz="quarter" idx="11"/>
          </p:nvPr>
        </p:nvSpPr>
        <p:spPr>
          <a:ln/>
        </p:spPr>
        <p:txBody>
          <a:bodyPr/>
          <a:lstStyle>
            <a:lvl1pPr>
              <a:defRPr/>
            </a:lvl1pPr>
          </a:lstStyle>
          <a:p>
            <a:pPr>
              <a:defRPr/>
            </a:pPr>
            <a:fld id="{3E0E5A5D-8083-43C9-81D6-01CA358A14FE}" type="slidenum">
              <a:rPr altLang="en-US"/>
              <a:pPr>
                <a:defRPr/>
              </a:pPr>
              <a:t>‹#›</a:t>
            </a:fld>
            <a:endParaRPr lang="zh-CN" altLang="zh-CN"/>
          </a:p>
        </p:txBody>
      </p:sp>
    </p:spTree>
    <p:extLst>
      <p:ext uri="{BB962C8B-B14F-4D97-AF65-F5344CB8AC3E}">
        <p14:creationId xmlns:p14="http://schemas.microsoft.com/office/powerpoint/2010/main" val="71307666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263650" y="404813"/>
            <a:ext cx="7772400" cy="720725"/>
          </a:xfrm>
          <a:prstGeom prst="rect">
            <a:avLst/>
          </a:prstGeom>
          <a:noFill/>
          <a:ln w="9525">
            <a:noFill/>
          </a:ln>
        </p:spPr>
        <p:txBody>
          <a:bodyPr anchor="ctr"/>
          <a:lstStyle/>
          <a:p>
            <a:pPr lvl="0"/>
            <a:r>
              <a:rPr lang="zh-CN" altLang="en-US" dirty="0"/>
              <a:t>单击以编辑母版标题样式</a:t>
            </a:r>
          </a:p>
        </p:txBody>
      </p:sp>
      <p:sp>
        <p:nvSpPr>
          <p:cNvPr id="1027" name="Rectangle 3"/>
          <p:cNvSpPr>
            <a:spLocks noGrp="1"/>
          </p:cNvSpPr>
          <p:nvPr>
            <p:ph type="body"/>
          </p:nvPr>
        </p:nvSpPr>
        <p:spPr>
          <a:xfrm>
            <a:off x="685800" y="1319213"/>
            <a:ext cx="7772400" cy="4611687"/>
          </a:xfrm>
          <a:prstGeom prst="rect">
            <a:avLst/>
          </a:prstGeom>
          <a:noFill/>
          <a:ln w="9525">
            <a:noFill/>
          </a:ln>
        </p:spPr>
        <p:txBody>
          <a:bodyPr anchor="t"/>
          <a:lstStyle/>
          <a:p>
            <a:pPr lvl="0" indent="-342900"/>
            <a:r>
              <a:rPr lang="zh-CN" altLang="en-US" dirty="0"/>
              <a:t>单击以编辑母版文本样式</a:t>
            </a:r>
          </a:p>
          <a:p>
            <a:pPr lvl="1" indent="-285750"/>
            <a:r>
              <a:rPr lang="zh-CN" altLang="en-US" dirty="0"/>
              <a:t>第二级</a:t>
            </a:r>
          </a:p>
          <a:p>
            <a:pPr lvl="2" indent="-228600"/>
            <a:r>
              <a:rPr lang="zh-CN" altLang="en-US" dirty="0"/>
              <a:t>第三级</a:t>
            </a:r>
          </a:p>
          <a:p>
            <a:pPr lvl="3" indent="-228600"/>
            <a:r>
              <a:rPr lang="zh-CN" altLang="en-US" dirty="0"/>
              <a:t>第四级</a:t>
            </a:r>
          </a:p>
          <a:p>
            <a:pPr lvl="4" indent="-228600"/>
            <a:r>
              <a:rPr lang="zh-CN" altLang="en-US" dirty="0"/>
              <a:t>第五级</a:t>
            </a:r>
          </a:p>
        </p:txBody>
      </p:sp>
      <p:sp>
        <p:nvSpPr>
          <p:cNvPr id="1028" name="Rectangle 4"/>
          <p:cNvSpPr>
            <a:spLocks noGrp="1" noChangeArrowheads="1"/>
          </p:cNvSpPr>
          <p:nvPr>
            <p:ph type="dt" sz="half" idx="2"/>
          </p:nvPr>
        </p:nvSpPr>
        <p:spPr bwMode="auto">
          <a:xfrm>
            <a:off x="685800" y="60833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spcBef>
                <a:spcPct val="50000"/>
              </a:spcBef>
              <a:buFont typeface="Arial" panose="020B0604020202020204" pitchFamily="34" charset="0"/>
              <a:buNone/>
              <a:defRPr sz="1400"/>
            </a:lvl1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0833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spcBef>
                <a:spcPct val="50000"/>
              </a:spcBef>
              <a:buFont typeface="Arial" panose="020B0604020202020204" pitchFamily="34" charset="0"/>
              <a:buNone/>
              <a:defRPr sz="1400"/>
            </a:lvl1pPr>
          </a:lstStyle>
          <a:p>
            <a:pPr marL="0" marR="0" lvl="0" indent="0" algn="ctr"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spcBef>
                <a:spcPct val="50000"/>
              </a:spcBef>
              <a:buFont typeface="Arial" panose="020B0604020202020204" pitchFamily="34" charset="0"/>
              <a:buNone/>
              <a:defRPr sz="1400" b="1"/>
            </a:lvl1pPr>
          </a:lstStyle>
          <a:p>
            <a:pPr marL="0" marR="0" lvl="0" indent="0" algn="r" defTabSz="914400" rtl="0" eaLnBrk="1" fontAlgn="base" latinLnBrk="0" hangingPunct="1">
              <a:lnSpc>
                <a:spcPct val="100000"/>
              </a:lnSpc>
              <a:spcBef>
                <a:spcPct val="50000"/>
              </a:spcBef>
              <a:spcAft>
                <a:spcPct val="0"/>
              </a:spcAft>
              <a:buClrTx/>
              <a:buSzTx/>
              <a:buFont typeface="Arial" panose="020B0604020202020204" pitchFamily="34" charset="0"/>
              <a:buNone/>
              <a:defRPr/>
            </a:pPr>
            <a:fld id="{3DFBA229-C26B-40E9-8526-8CB40E183B76}" type="slidenum">
              <a:rPr kumimoji="0" lang="zh-CN" altLang="en-US"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a:t>
            </a:fld>
            <a:endParaRPr kumimoji="0" lang="en-US" altLang="zh-CN" sz="1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nvGrpSpPr>
          <p:cNvPr id="1031" name="Group 7"/>
          <p:cNvGrpSpPr/>
          <p:nvPr/>
        </p:nvGrpSpPr>
        <p:grpSpPr>
          <a:xfrm>
            <a:off x="0" y="6553200"/>
            <a:ext cx="9144000" cy="301625"/>
            <a:chOff x="0" y="0"/>
            <a:chExt cx="5760" cy="288"/>
          </a:xfrm>
        </p:grpSpPr>
        <p:sp>
          <p:nvSpPr>
            <p:cNvPr id="2" name="Rectangle 8"/>
            <p:cNvSpPr>
              <a:spLocks noChangeArrowheads="1"/>
            </p:cNvSpPr>
            <p:nvPr/>
          </p:nvSpPr>
          <p:spPr bwMode="auto">
            <a:xfrm>
              <a:off x="0" y="0"/>
              <a:ext cx="5760" cy="288"/>
            </a:xfrm>
            <a:prstGeom prst="rect">
              <a:avLst/>
            </a:prstGeom>
            <a:solidFill>
              <a:srgbClr val="33CCCC"/>
            </a:solidFill>
            <a:ln w="9525" cmpd="sng">
              <a:solidFill>
                <a:srgbClr val="33CCCC"/>
              </a:solidFill>
              <a:miter lim="800000"/>
            </a:ln>
          </p:spPr>
          <p:txBody>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sym typeface="+mn-ea"/>
                </a:rPr>
                <a:t>                  </a:t>
              </a:r>
            </a:p>
          </p:txBody>
        </p:sp>
        <p:sp>
          <p:nvSpPr>
            <p:cNvPr id="1033" name="Line 9"/>
            <p:cNvSpPr/>
            <p:nvPr/>
          </p:nvSpPr>
          <p:spPr>
            <a:xfrm>
              <a:off x="4464" y="0"/>
              <a:ext cx="288" cy="288"/>
            </a:xfrm>
            <a:prstGeom prst="line">
              <a:avLst/>
            </a:prstGeom>
            <a:ln w="57150" cap="flat" cmpd="sng">
              <a:solidFill>
                <a:srgbClr val="FFFFFF"/>
              </a:solidFill>
              <a:prstDash val="solid"/>
              <a:round/>
              <a:headEnd type="none" w="med" len="med"/>
              <a:tailEnd type="none" w="med" len="med"/>
            </a:ln>
          </p:spPr>
        </p:sp>
        <p:sp>
          <p:nvSpPr>
            <p:cNvPr id="1034" name="Line 10"/>
            <p:cNvSpPr/>
            <p:nvPr/>
          </p:nvSpPr>
          <p:spPr>
            <a:xfrm>
              <a:off x="4176" y="0"/>
              <a:ext cx="336" cy="288"/>
            </a:xfrm>
            <a:prstGeom prst="line">
              <a:avLst/>
            </a:prstGeom>
            <a:ln w="57150" cap="flat" cmpd="sng">
              <a:solidFill>
                <a:srgbClr val="FFFFFF"/>
              </a:solidFill>
              <a:prstDash val="solid"/>
              <a:round/>
              <a:headEnd type="none" w="med" len="med"/>
              <a:tailEnd type="none" w="med" len="med"/>
            </a:ln>
          </p:spPr>
        </p:sp>
        <p:sp>
          <p:nvSpPr>
            <p:cNvPr id="1035" name="Line 11"/>
            <p:cNvSpPr/>
            <p:nvPr/>
          </p:nvSpPr>
          <p:spPr>
            <a:xfrm>
              <a:off x="4704" y="0"/>
              <a:ext cx="336" cy="288"/>
            </a:xfrm>
            <a:prstGeom prst="line">
              <a:avLst/>
            </a:prstGeom>
            <a:ln w="57150" cap="flat" cmpd="sng">
              <a:solidFill>
                <a:srgbClr val="FFFFFF"/>
              </a:solidFill>
              <a:prstDash val="solid"/>
              <a:round/>
              <a:headEnd type="none" w="med" len="med"/>
              <a:tailEnd type="none" w="med" len="med"/>
            </a:ln>
          </p:spPr>
        </p:sp>
        <p:sp>
          <p:nvSpPr>
            <p:cNvPr id="1036" name="Line 12"/>
            <p:cNvSpPr/>
            <p:nvPr/>
          </p:nvSpPr>
          <p:spPr>
            <a:xfrm>
              <a:off x="5376" y="0"/>
              <a:ext cx="384" cy="288"/>
            </a:xfrm>
            <a:prstGeom prst="line">
              <a:avLst/>
            </a:prstGeom>
            <a:ln w="57150" cap="flat" cmpd="sng">
              <a:solidFill>
                <a:srgbClr val="FFFFFF"/>
              </a:solidFill>
              <a:prstDash val="solid"/>
              <a:round/>
              <a:headEnd type="none" w="med" len="med"/>
              <a:tailEnd type="none" w="med" len="med"/>
            </a:ln>
          </p:spPr>
        </p:sp>
        <p:sp>
          <p:nvSpPr>
            <p:cNvPr id="1037" name="Line 13"/>
            <p:cNvSpPr/>
            <p:nvPr/>
          </p:nvSpPr>
          <p:spPr>
            <a:xfrm>
              <a:off x="5184" y="0"/>
              <a:ext cx="384" cy="288"/>
            </a:xfrm>
            <a:prstGeom prst="line">
              <a:avLst/>
            </a:prstGeom>
            <a:ln w="57150" cap="flat" cmpd="sng">
              <a:solidFill>
                <a:srgbClr val="FFFFFF"/>
              </a:solidFill>
              <a:prstDash val="solid"/>
              <a:round/>
              <a:headEnd type="none" w="med" len="med"/>
              <a:tailEnd type="none" w="med" len="med"/>
            </a:ln>
          </p:spPr>
        </p:sp>
        <p:sp>
          <p:nvSpPr>
            <p:cNvPr id="1038" name="Line 14"/>
            <p:cNvSpPr/>
            <p:nvPr/>
          </p:nvSpPr>
          <p:spPr>
            <a:xfrm>
              <a:off x="5568" y="0"/>
              <a:ext cx="192" cy="144"/>
            </a:xfrm>
            <a:prstGeom prst="line">
              <a:avLst/>
            </a:prstGeom>
            <a:ln w="57150" cap="flat" cmpd="sng">
              <a:solidFill>
                <a:srgbClr val="FFFFFF"/>
              </a:solidFill>
              <a:prstDash val="solid"/>
              <a:round/>
              <a:headEnd type="none" w="med" len="med"/>
              <a:tailEnd type="none" w="med" len="med"/>
            </a:ln>
          </p:spPr>
        </p:sp>
        <p:sp>
          <p:nvSpPr>
            <p:cNvPr id="1039" name="Line 15"/>
            <p:cNvSpPr/>
            <p:nvPr/>
          </p:nvSpPr>
          <p:spPr>
            <a:xfrm>
              <a:off x="4992" y="0"/>
              <a:ext cx="336" cy="288"/>
            </a:xfrm>
            <a:prstGeom prst="line">
              <a:avLst/>
            </a:prstGeom>
            <a:ln w="57150" cap="flat" cmpd="sng">
              <a:solidFill>
                <a:srgbClr val="FFFFFF"/>
              </a:solidFill>
              <a:prstDash val="solid"/>
              <a:round/>
              <a:headEnd type="none" w="med" len="med"/>
              <a:tailEnd type="none" w="med" len="med"/>
            </a:ln>
          </p:spPr>
        </p:sp>
      </p:grpSp>
      <p:sp>
        <p:nvSpPr>
          <p:cNvPr id="1040" name="Line 16"/>
          <p:cNvSpPr/>
          <p:nvPr/>
        </p:nvSpPr>
        <p:spPr>
          <a:xfrm>
            <a:off x="468313" y="1176338"/>
            <a:ext cx="8458200" cy="0"/>
          </a:xfrm>
          <a:prstGeom prst="line">
            <a:avLst/>
          </a:prstGeom>
          <a:ln w="57150" cap="flat" cmpd="sng">
            <a:solidFill>
              <a:srgbClr val="33CCCC"/>
            </a:solidFill>
            <a:prstDash val="solid"/>
            <a:round/>
            <a:headEnd type="none" w="med" len="med"/>
            <a:tailEnd type="none" w="med" len="med"/>
          </a:ln>
        </p:spPr>
      </p:sp>
      <p:sp>
        <p:nvSpPr>
          <p:cNvPr id="3" name="Text Box 17"/>
          <p:cNvSpPr txBox="1">
            <a:spLocks noChangeArrowheads="1"/>
          </p:cNvSpPr>
          <p:nvPr/>
        </p:nvSpPr>
        <p:spPr bwMode="auto">
          <a:xfrm>
            <a:off x="457200" y="2514600"/>
            <a:ext cx="8305800" cy="350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Times New Roman" panose="02020603050405020304" pitchFamily="18" charset="0"/>
                <a:ea typeface="宋体" panose="02010600030101010101" pitchFamily="2" charset="-122"/>
              </a:defRPr>
            </a:lvl1pPr>
            <a:lvl2pPr marL="742950" indent="-285750" eaLnBrk="0" hangingPunct="0">
              <a:defRPr>
                <a:solidFill>
                  <a:schemeClr val="tx1"/>
                </a:solidFill>
                <a:latin typeface="Times New Roman" panose="02020603050405020304" pitchFamily="18" charset="0"/>
                <a:ea typeface="宋体" panose="02010600030101010101" pitchFamily="2" charset="-122"/>
              </a:defRPr>
            </a:lvl2pPr>
            <a:lvl3pPr marL="1143000" indent="-228600" eaLnBrk="0" hangingPunct="0">
              <a:defRPr>
                <a:solidFill>
                  <a:schemeClr val="tx1"/>
                </a:solidFill>
                <a:latin typeface="Times New Roman" panose="02020603050405020304" pitchFamily="18" charset="0"/>
                <a:ea typeface="宋体" panose="02010600030101010101" pitchFamily="2" charset="-122"/>
              </a:defRPr>
            </a:lvl3pPr>
            <a:lvl4pPr marL="1600200" indent="-228600" eaLnBrk="0" hangingPunct="0">
              <a:defRPr>
                <a:solidFill>
                  <a:schemeClr val="tx1"/>
                </a:solidFill>
                <a:latin typeface="Times New Roman" panose="02020603050405020304" pitchFamily="18" charset="0"/>
                <a:ea typeface="宋体" panose="02010600030101010101" pitchFamily="2" charset="-122"/>
              </a:defRPr>
            </a:lvl4pPr>
            <a:lvl5pPr marL="2057400" indent="-228600" eaLnBrk="0" hangingPunct="0">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a:p>
            <a:pPr marL="0" marR="0" lvl="0" indent="0" algn="l" defTabSz="914400" rtl="0" eaLnBrk="1" fontAlgn="base" latinLnBrk="0" hangingPunct="1">
              <a:lnSpc>
                <a:spcPct val="100000"/>
              </a:lnSpc>
              <a:spcBef>
                <a:spcPct val="50000"/>
              </a:spcBef>
              <a:spcAft>
                <a:spcPct val="0"/>
              </a:spcAft>
              <a:buClrTx/>
              <a:buSzTx/>
              <a:buFont typeface="Arial" panose="020B0604020202020204" pitchFamily="34" charset="0"/>
              <a:buNone/>
              <a:defRPr/>
            </a:pPr>
            <a:endParaRPr kumimoji="0" lang="zh-CN" altLang="en-US" sz="3200" b="1" i="0" u="none" strike="noStrike" kern="120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cs typeface="+mn-cs"/>
              <a:sym typeface="+mn-ea"/>
            </a:endParaRPr>
          </a:p>
        </p:txBody>
      </p:sp>
      <p:pic>
        <p:nvPicPr>
          <p:cNvPr id="1042" name="Picture 18" descr="bupt"/>
          <p:cNvPicPr>
            <a:picLocks noChangeAspect="1"/>
          </p:cNvPicPr>
          <p:nvPr/>
        </p:nvPicPr>
        <p:blipFill>
          <a:blip r:embed="rId8"/>
          <a:stretch>
            <a:fillRect/>
          </a:stretch>
        </p:blipFill>
        <p:spPr>
          <a:xfrm>
            <a:off x="211138" y="228600"/>
            <a:ext cx="1970087" cy="661988"/>
          </a:xfrm>
          <a:prstGeom prst="rect">
            <a:avLst/>
          </a:prstGeom>
          <a:solidFill>
            <a:srgbClr val="438ACB"/>
          </a:solid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5" r:id="rId5"/>
    <p:sldLayoutId id="2147483656" r:id="rId6"/>
  </p:sldLayoutIdLst>
  <p:transition/>
  <p:hf sldNum="0" hdr="0" ftr="0" dt="0"/>
  <p:txStyles>
    <p:titleStyle>
      <a:lvl1pPr algn="r" rtl="0" eaLnBrk="0" fontAlgn="base" hangingPunct="0">
        <a:spcBef>
          <a:spcPct val="0"/>
        </a:spcBef>
        <a:spcAft>
          <a:spcPct val="0"/>
        </a:spcAft>
        <a:defRPr sz="3200">
          <a:solidFill>
            <a:srgbClr val="FF3300"/>
          </a:solidFill>
          <a:latin typeface="+mj-lt"/>
          <a:ea typeface="+mj-ea"/>
          <a:cs typeface="+mj-cs"/>
        </a:defRPr>
      </a:lvl1pPr>
      <a:lvl2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2pPr>
      <a:lvl3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3pPr>
      <a:lvl4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4pPr>
      <a:lvl5pPr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5pPr>
      <a:lvl6pPr marL="4572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6pPr>
      <a:lvl7pPr marL="9144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7pPr>
      <a:lvl8pPr marL="13716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8pPr>
      <a:lvl9pPr marL="1828800" algn="r" rtl="0" eaLnBrk="0" fontAlgn="base" hangingPunct="0">
        <a:spcBef>
          <a:spcPct val="0"/>
        </a:spcBef>
        <a:spcAft>
          <a:spcPct val="0"/>
        </a:spcAft>
        <a:defRPr sz="3200">
          <a:solidFill>
            <a:srgbClr val="FF3300"/>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sz="2800">
          <a:solidFill>
            <a:schemeClr val="tx1"/>
          </a:solidFill>
          <a:latin typeface="+mn-lt"/>
          <a:ea typeface="+mn-ea"/>
        </a:defRPr>
      </a:lvl3pPr>
      <a:lvl4pPr marL="16002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4pPr>
      <a:lvl5pPr marL="20574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5pPr>
      <a:lvl6pPr marL="25146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6pPr>
      <a:lvl7pPr marL="29718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7pPr>
      <a:lvl8pPr marL="34290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8pPr>
      <a:lvl9pPr marL="3886200" indent="-228600" algn="l" rtl="0" eaLnBrk="0" fontAlgn="base" hangingPunct="0">
        <a:spcBef>
          <a:spcPct val="20000"/>
        </a:spcBef>
        <a:spcAft>
          <a:spcPct val="0"/>
        </a:spcAft>
        <a:buFont typeface="Wingdings" panose="05000000000000000000" pitchFamily="2" charset="2"/>
        <a:buChar char="»"/>
        <a:defRPr sz="28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5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oleObject" Target="../embeddings/oleObject2.bin"/><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3.bin"/><Relationship Id="rId1" Type="http://schemas.openxmlformats.org/officeDocument/2006/relationships/slideLayout" Target="../slideLayouts/slideLayout2.xml"/><Relationship Id="rId5" Type="http://schemas.openxmlformats.org/officeDocument/2006/relationships/image" Target="../media/image16.emf"/><Relationship Id="rId4" Type="http://schemas.openxmlformats.org/officeDocument/2006/relationships/oleObject" Target="../embeddings/oleObject4.bin"/></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emf"/><Relationship Id="rId5" Type="http://schemas.openxmlformats.org/officeDocument/2006/relationships/oleObject" Target="../embeddings/oleObject6.bin"/><Relationship Id="rId4" Type="http://schemas.openxmlformats.org/officeDocument/2006/relationships/image" Target="../media/image15.e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18.emf"/><Relationship Id="rId5" Type="http://schemas.openxmlformats.org/officeDocument/2006/relationships/oleObject" Target="../embeddings/oleObject8.bin"/><Relationship Id="rId4" Type="http://schemas.openxmlformats.org/officeDocument/2006/relationships/image" Target="../media/image17.emf"/></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oleObject" Target="../embeddings/oleObject9.bin"/><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8.bin"/><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12.bin"/><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oleObject" Target="../embeddings/oleObject14.bin"/><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18" charset="0"/>
              </a:rPr>
              <a:t>1</a:t>
            </a:fld>
            <a:endParaRPr lang="zh-CN" altLang="en-US" sz="1400" b="1" dirty="0">
              <a:latin typeface="Times New Roman" panose="02020603050405020304" pitchFamily="18" charset="0"/>
            </a:endParaRPr>
          </a:p>
        </p:txBody>
      </p:sp>
      <p:pic>
        <p:nvPicPr>
          <p:cNvPr id="3077" name="Picture 11" descr="地球"/>
          <p:cNvPicPr>
            <a:picLocks noChangeAspect="1"/>
          </p:cNvPicPr>
          <p:nvPr/>
        </p:nvPicPr>
        <p:blipFill>
          <a:blip r:embed="rId3"/>
          <a:stretch>
            <a:fillRect/>
          </a:stretch>
        </p:blipFill>
        <p:spPr>
          <a:xfrm>
            <a:off x="381000" y="3733800"/>
            <a:ext cx="1752600" cy="1674813"/>
          </a:xfrm>
          <a:prstGeom prst="rect">
            <a:avLst/>
          </a:prstGeom>
          <a:noFill/>
          <a:ln w="9525">
            <a:noFill/>
          </a:ln>
        </p:spPr>
      </p:pic>
      <p:sp>
        <p:nvSpPr>
          <p:cNvPr id="2" name="标题 1">
            <a:extLst>
              <a:ext uri="{FF2B5EF4-FFF2-40B4-BE49-F238E27FC236}">
                <a16:creationId xmlns:a16="http://schemas.microsoft.com/office/drawing/2014/main" id="{E01CA75C-1F46-4B4D-9748-B77E9B72939D}"/>
              </a:ext>
            </a:extLst>
          </p:cNvPr>
          <p:cNvSpPr>
            <a:spLocks noGrp="1"/>
          </p:cNvSpPr>
          <p:nvPr>
            <p:ph type="ctrTitle"/>
          </p:nvPr>
        </p:nvSpPr>
        <p:spPr/>
        <p:txBody>
          <a:bodyPr/>
          <a:lstStyle/>
          <a:p>
            <a:pPr algn="ctr"/>
            <a:r>
              <a:rPr lang="zh-CN" altLang="en-US" sz="4800" b="1" dirty="0">
                <a:effectLst>
                  <a:outerShdw blurRad="38100" dist="38100" dir="2700000" algn="tl">
                    <a:srgbClr val="000000">
                      <a:alpha val="43137"/>
                    </a:srgbClr>
                  </a:outerShdw>
                </a:effectLst>
                <a:latin typeface="+mj-ea"/>
              </a:rPr>
              <a:t>计算导论与程序设计</a:t>
            </a:r>
            <a:br>
              <a:rPr lang="en-US" altLang="zh-CN" sz="4800" b="1" dirty="0">
                <a:effectLst>
                  <a:outerShdw blurRad="38100" dist="38100" dir="2700000" algn="tl">
                    <a:srgbClr val="000000">
                      <a:alpha val="43137"/>
                    </a:srgbClr>
                  </a:outerShdw>
                </a:effectLst>
                <a:latin typeface="+mj-ea"/>
              </a:rPr>
            </a:br>
            <a:r>
              <a:rPr lang="zh-CN" altLang="en-US" sz="4800" b="1" dirty="0">
                <a:effectLst>
                  <a:outerShdw blurRad="38100" dist="38100" dir="2700000" algn="tl">
                    <a:srgbClr val="000000">
                      <a:alpha val="43137"/>
                    </a:srgbClr>
                  </a:outerShdw>
                </a:effectLst>
                <a:latin typeface="+mj-ea"/>
              </a:rPr>
              <a:t>概念回顾</a:t>
            </a:r>
            <a:br>
              <a:rPr lang="zh-CN" altLang="en-US" sz="4800" b="1" dirty="0">
                <a:effectLst>
                  <a:outerShdw blurRad="38100" dist="38100" dir="2700000" algn="tl">
                    <a:srgbClr val="000000">
                      <a:alpha val="43137"/>
                    </a:srgbClr>
                  </a:outerShdw>
                </a:effectLst>
                <a:latin typeface="+mj-ea"/>
              </a:rPr>
            </a:br>
            <a:endParaRPr lang="zh-CN" altLang="en-US" sz="4800" dirty="0">
              <a:effectLst>
                <a:outerShdw blurRad="38100" dist="38100" dir="2700000" algn="tl">
                  <a:srgbClr val="000000">
                    <a:alpha val="43137"/>
                  </a:srgbClr>
                </a:outerShdw>
              </a:effectLst>
              <a:latin typeface="+mj-ea"/>
            </a:endParaRPr>
          </a:p>
        </p:txBody>
      </p:sp>
      <p:sp>
        <p:nvSpPr>
          <p:cNvPr id="3" name="副标题 2">
            <a:extLst>
              <a:ext uri="{FF2B5EF4-FFF2-40B4-BE49-F238E27FC236}">
                <a16:creationId xmlns:a16="http://schemas.microsoft.com/office/drawing/2014/main" id="{857D02A3-279B-4558-A373-78C555CA717F}"/>
              </a:ext>
            </a:extLst>
          </p:cNvPr>
          <p:cNvSpPr>
            <a:spLocks noGrp="1"/>
          </p:cNvSpPr>
          <p:nvPr>
            <p:ph type="subTitle" idx="1"/>
          </p:nvPr>
        </p:nvSpPr>
        <p:spPr>
          <a:xfrm>
            <a:off x="1356563" y="4005064"/>
            <a:ext cx="6400800" cy="1752600"/>
          </a:xfrm>
        </p:spPr>
        <p:txBody>
          <a:bodyPr/>
          <a:lstStyle/>
          <a:p>
            <a:pPr>
              <a:lnSpc>
                <a:spcPct val="80000"/>
              </a:lnSpc>
            </a:pPr>
            <a:r>
              <a:rPr lang="zh-CN" altLang="en-US" dirty="0">
                <a:latin typeface="楷体_GB2312" pitchFamily="1" charset="-122"/>
                <a:ea typeface="楷体_GB2312" pitchFamily="1" charset="-122"/>
              </a:rPr>
              <a:t>软件与理论中心</a:t>
            </a:r>
          </a:p>
          <a:p>
            <a:pPr>
              <a:lnSpc>
                <a:spcPct val="80000"/>
              </a:lnSpc>
            </a:pPr>
            <a:endParaRPr lang="en-US" altLang="zh-CN" dirty="0">
              <a:latin typeface="楷体_GB2312" pitchFamily="1" charset="-122"/>
              <a:ea typeface="楷体_GB2312" pitchFamily="1" charset="-122"/>
            </a:endParaRPr>
          </a:p>
          <a:p>
            <a:pPr>
              <a:lnSpc>
                <a:spcPct val="80000"/>
              </a:lnSpc>
            </a:pPr>
            <a:r>
              <a:rPr lang="zh-CN" altLang="en-US" dirty="0">
                <a:latin typeface="楷体_GB2312" pitchFamily="1" charset="-122"/>
                <a:ea typeface="楷体_GB2312" pitchFamily="1" charset="-122"/>
              </a:rPr>
              <a:t>张艳梅</a:t>
            </a:r>
            <a:endParaRPr lang="en-US" altLang="zh-CN" dirty="0">
              <a:latin typeface="楷体_GB2312" pitchFamily="1" charset="-122"/>
              <a:ea typeface="楷体_GB2312" pitchFamily="1"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D79C8-2083-461D-AEF7-F7117CD53379}"/>
              </a:ext>
            </a:extLst>
          </p:cNvPr>
          <p:cNvSpPr>
            <a:spLocks noGrp="1"/>
          </p:cNvSpPr>
          <p:nvPr>
            <p:ph type="title"/>
          </p:nvPr>
        </p:nvSpPr>
        <p:spPr/>
        <p:txBody>
          <a:bodyPr/>
          <a:lstStyle/>
          <a:p>
            <a:r>
              <a:rPr lang="zh-CN" altLang="en-US" b="1" dirty="0"/>
              <a:t>什么是计算？</a:t>
            </a:r>
            <a:endParaRPr lang="zh-CN" altLang="en-US" dirty="0"/>
          </a:p>
        </p:txBody>
      </p:sp>
      <p:sp>
        <p:nvSpPr>
          <p:cNvPr id="3" name="内容占位符 2">
            <a:extLst>
              <a:ext uri="{FF2B5EF4-FFF2-40B4-BE49-F238E27FC236}">
                <a16:creationId xmlns:a16="http://schemas.microsoft.com/office/drawing/2014/main" id="{9856358B-3D1B-4A55-AAF5-09C83B632158}"/>
              </a:ext>
            </a:extLst>
          </p:cNvPr>
          <p:cNvSpPr>
            <a:spLocks noGrp="1"/>
          </p:cNvSpPr>
          <p:nvPr>
            <p:ph idx="1"/>
          </p:nvPr>
        </p:nvSpPr>
        <p:spPr/>
        <p:txBody>
          <a:bodyPr/>
          <a:lstStyle/>
          <a:p>
            <a:pPr lvl="0" eaLnBrk="1" hangingPunct="1">
              <a:buNone/>
            </a:pPr>
            <a:r>
              <a:rPr lang="zh-CN" altLang="en-US" sz="3200" b="1" dirty="0"/>
              <a:t>计算的定义</a:t>
            </a:r>
            <a:endParaRPr lang="en-US" altLang="x-none" sz="3200" b="1" dirty="0"/>
          </a:p>
          <a:p>
            <a:pPr lvl="1" eaLnBrk="1" hangingPunct="1"/>
            <a:r>
              <a:rPr lang="zh-CN" altLang="en-US" sz="2800" b="1" dirty="0"/>
              <a:t>以数字为基础、遵循一定的</a:t>
            </a:r>
            <a:r>
              <a:rPr lang="zh-CN" altLang="en-US" sz="2800" b="1" dirty="0">
                <a:solidFill>
                  <a:schemeClr val="accent2"/>
                </a:solidFill>
              </a:rPr>
              <a:t>计算规则</a:t>
            </a:r>
            <a:r>
              <a:rPr lang="zh-CN" altLang="en-US" sz="2800" b="1" dirty="0"/>
              <a:t>进行</a:t>
            </a:r>
            <a:r>
              <a:rPr lang="en-US" altLang="x-none" sz="2800" b="1" dirty="0"/>
              <a:t>; </a:t>
            </a:r>
            <a:r>
              <a:rPr lang="zh-CN" altLang="en-US" sz="2800" b="1" dirty="0"/>
              <a:t>如：数的加减乘除，函数的微分、积分、方程的求解、定理的证明推导</a:t>
            </a:r>
            <a:r>
              <a:rPr lang="en-US" altLang="x-none" sz="2800" b="1" dirty="0"/>
              <a:t>;</a:t>
            </a:r>
          </a:p>
          <a:p>
            <a:pPr lvl="1" eaLnBrk="1" hangingPunct="1"/>
            <a:r>
              <a:rPr lang="zh-CN" altLang="en-US" sz="2800" b="1" dirty="0"/>
              <a:t>广义：计算就是把一个符号串</a:t>
            </a:r>
            <a:r>
              <a:rPr lang="en-US" altLang="x-none" sz="2800" b="1" dirty="0"/>
              <a:t>f</a:t>
            </a:r>
            <a:r>
              <a:rPr lang="zh-CN" altLang="en-US" sz="2800" b="1" dirty="0"/>
              <a:t>变换成另一个符号串</a:t>
            </a:r>
            <a:r>
              <a:rPr lang="en-US" altLang="x-none" sz="2800" b="1" dirty="0"/>
              <a:t>g</a:t>
            </a:r>
            <a:r>
              <a:rPr lang="zh-CN" altLang="en-US" sz="2800" b="1" dirty="0"/>
              <a:t>；</a:t>
            </a:r>
          </a:p>
          <a:p>
            <a:pPr lvl="1" eaLnBrk="1" hangingPunct="1"/>
            <a:r>
              <a:rPr lang="zh-CN" altLang="en-US" sz="2800" b="1" dirty="0"/>
              <a:t>更广义：计算就是对信息的变换 ；</a:t>
            </a:r>
          </a:p>
          <a:p>
            <a:pPr lvl="1" eaLnBrk="1" hangingPunct="1"/>
            <a:r>
              <a:rPr lang="zh-CN" altLang="en-US" sz="2800" b="1" dirty="0"/>
              <a:t>由于计算规则的机械化、公式化，可以借助计算工具来实现计算。</a:t>
            </a:r>
          </a:p>
          <a:p>
            <a:endParaRPr lang="zh-CN" altLang="en-US" dirty="0"/>
          </a:p>
        </p:txBody>
      </p:sp>
    </p:spTree>
    <p:extLst>
      <p:ext uri="{BB962C8B-B14F-4D97-AF65-F5344CB8AC3E}">
        <p14:creationId xmlns:p14="http://schemas.microsoft.com/office/powerpoint/2010/main" val="68855773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6"/>
          <p:cNvSpPr txBox="1">
            <a:spLocks noGrp="1"/>
          </p:cNvSpPr>
          <p:nvPr/>
        </p:nvSpPr>
        <p:spPr>
          <a:xfrm>
            <a:off x="6934200" y="6324600"/>
            <a:ext cx="1905000" cy="457200"/>
          </a:xfrm>
          <a:prstGeom prst="rect">
            <a:avLst/>
          </a:prstGeom>
          <a:noFill/>
          <a:ln w="9525">
            <a:noFill/>
          </a:ln>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2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stStyle>
          <a:p>
            <a:pPr marL="0" lvl="0" indent="0" algn="r" eaLnBrk="1" hangingPunct="1">
              <a:spcBef>
                <a:spcPct val="50000"/>
              </a:spcBef>
              <a:buNone/>
            </a:pPr>
            <a:fld id="{9A0DB2DC-4C9A-4742-B13C-FB6460FD3503}" type="slidenum">
              <a:rPr lang="zh-CN" altLang="en-US" sz="1400" b="1" dirty="0"/>
              <a:t>3</a:t>
            </a:fld>
            <a:endParaRPr lang="zh-CN" altLang="en-US" sz="1400" b="1" dirty="0"/>
          </a:p>
        </p:txBody>
      </p:sp>
      <p:sp>
        <p:nvSpPr>
          <p:cNvPr id="14339" name="Rectangle 2"/>
          <p:cNvSpPr>
            <a:spLocks noGrp="1"/>
          </p:cNvSpPr>
          <p:nvPr>
            <p:ph type="title"/>
          </p:nvPr>
        </p:nvSpPr>
        <p:spPr/>
        <p:txBody>
          <a:bodyPr vert="horz" wrap="square" anchor="ctr"/>
          <a:lstStyle/>
          <a:p>
            <a:pPr lvl="0" eaLnBrk="1" hangingPunct="1"/>
            <a:r>
              <a:rPr lang="zh-CN" altLang="en-US" b="1" dirty="0"/>
              <a:t>巴贝奇分析机</a:t>
            </a:r>
            <a:r>
              <a:rPr lang="en-US" altLang="zh-CN" b="1" dirty="0"/>
              <a:t>-</a:t>
            </a:r>
            <a:r>
              <a:rPr lang="zh-CN" altLang="en-US" b="1" dirty="0"/>
              <a:t>计算机的定义</a:t>
            </a:r>
          </a:p>
        </p:txBody>
      </p:sp>
      <p:sp>
        <p:nvSpPr>
          <p:cNvPr id="14340" name="Rectangle 3"/>
          <p:cNvSpPr>
            <a:spLocks noGrp="1"/>
          </p:cNvSpPr>
          <p:nvPr>
            <p:ph idx="1"/>
          </p:nvPr>
        </p:nvSpPr>
        <p:spPr>
          <a:xfrm>
            <a:off x="468660" y="1340768"/>
            <a:ext cx="8206680" cy="2901875"/>
          </a:xfrm>
        </p:spPr>
        <p:txBody>
          <a:bodyPr vert="horz" wrap="square" anchor="t"/>
          <a:lstStyle>
            <a:lvl1pPr lvl="0">
              <a:defRPr sz="2400" kern="1200"/>
            </a:lvl1pPr>
            <a:lvl2pPr lvl="1">
              <a:defRPr sz="2000" kern="1200"/>
            </a:lvl2pPr>
            <a:lvl3pPr lvl="2">
              <a:defRPr sz="2000" kern="1200"/>
            </a:lvl3pPr>
            <a:lvl4pPr lvl="3">
              <a:defRPr sz="2000" kern="1200"/>
            </a:lvl4pPr>
            <a:lvl5pPr lvl="4">
              <a:defRPr sz="1800" kern="1200"/>
            </a:lvl5pPr>
          </a:lstStyle>
          <a:p>
            <a:pPr eaLnBrk="1" hangingPunct="1">
              <a:buNone/>
            </a:pPr>
            <a:r>
              <a:rPr lang="en-US" altLang="x-none" b="1" dirty="0"/>
              <a:t>1834</a:t>
            </a:r>
            <a:r>
              <a:rPr lang="zh-CN" altLang="en-US" b="1" dirty="0"/>
              <a:t>年巴贝奇提出</a:t>
            </a:r>
            <a:r>
              <a:rPr lang="zh-CN" altLang="en-US" b="1" dirty="0">
                <a:solidFill>
                  <a:srgbClr val="FF3300"/>
                </a:solidFill>
              </a:rPr>
              <a:t>分析机</a:t>
            </a:r>
            <a:r>
              <a:rPr lang="zh-CN" altLang="en-US" b="1" dirty="0"/>
              <a:t>构想</a:t>
            </a:r>
            <a:r>
              <a:rPr lang="en-US" altLang="x-none" b="1" dirty="0"/>
              <a:t>:</a:t>
            </a:r>
            <a:r>
              <a:rPr lang="zh-CN" altLang="en-US" b="1" dirty="0"/>
              <a:t>一台</a:t>
            </a:r>
            <a:r>
              <a:rPr lang="zh-CN" altLang="en-US" b="1" u="sng" dirty="0"/>
              <a:t>通用的数学计算机</a:t>
            </a:r>
            <a:r>
              <a:rPr lang="zh-CN" altLang="en-US" b="1" dirty="0"/>
              <a:t>，不仅可以进行数字运算，而且还能进行逻辑运算（进行逻辑判断的非数值运算 ）。</a:t>
            </a:r>
          </a:p>
          <a:p>
            <a:pPr lvl="0" eaLnBrk="1" hangingPunct="1">
              <a:buNone/>
            </a:pPr>
            <a:r>
              <a:rPr lang="zh-CN" altLang="en-US" b="1" dirty="0">
                <a:latin typeface="宋体" panose="02010600030101010101" pitchFamily="2" charset="-122"/>
              </a:rPr>
              <a:t>  </a:t>
            </a:r>
            <a:endParaRPr lang="en-US" altLang="zh-CN" b="1" dirty="0">
              <a:latin typeface="宋体" panose="02010600030101010101" pitchFamily="2" charset="-122"/>
            </a:endParaRPr>
          </a:p>
          <a:p>
            <a:pPr lvl="0" eaLnBrk="1" hangingPunct="1">
              <a:buNone/>
            </a:pPr>
            <a:r>
              <a:rPr lang="zh-CN" altLang="en-US" b="1" dirty="0">
                <a:latin typeface="宋体" panose="02010600030101010101" pitchFamily="2" charset="-122"/>
              </a:rPr>
              <a:t>巴贝奇的分析机由四部分构成：</a:t>
            </a:r>
          </a:p>
          <a:p>
            <a:pPr lvl="0" eaLnBrk="1" hangingPunct="1">
              <a:buNone/>
            </a:pPr>
            <a:r>
              <a:rPr lang="zh-CN" altLang="en-US" b="1" dirty="0">
                <a:latin typeface="宋体" panose="02010600030101010101" pitchFamily="2" charset="-122"/>
              </a:rPr>
              <a:t>  		第一部分：保存数据的齿轮式</a:t>
            </a:r>
            <a:r>
              <a:rPr lang="en-US" altLang="zh-CN" b="1" dirty="0">
                <a:latin typeface="宋体" panose="02010600030101010101" pitchFamily="2" charset="-122"/>
              </a:rPr>
              <a:t>"</a:t>
            </a:r>
            <a:r>
              <a:rPr lang="zh-CN" altLang="en-US" b="1" dirty="0">
                <a:solidFill>
                  <a:srgbClr val="2D35D3"/>
                </a:solidFill>
              </a:rPr>
              <a:t>存贮仓库</a:t>
            </a:r>
            <a:r>
              <a:rPr lang="en-US" altLang="zh-CN" b="1" dirty="0">
                <a:latin typeface="宋体" panose="02010600030101010101" pitchFamily="2" charset="-122"/>
              </a:rPr>
              <a:t>"</a:t>
            </a:r>
            <a:r>
              <a:rPr lang="zh-CN" altLang="en-US" b="1" dirty="0"/>
              <a:t>(</a:t>
            </a:r>
            <a:r>
              <a:rPr lang="en-US" altLang="x-none" b="1" dirty="0"/>
              <a:t>Sto</a:t>
            </a:r>
            <a:r>
              <a:rPr lang="en-US" altLang="x-none" b="1" dirty="0">
                <a:latin typeface="宋体" panose="02010600030101010101" pitchFamily="2" charset="-122"/>
              </a:rPr>
              <a:t>re)</a:t>
            </a:r>
            <a:r>
              <a:rPr lang="zh-CN" altLang="en-US" b="1" dirty="0">
                <a:latin typeface="宋体" panose="02010600030101010101" pitchFamily="2" charset="-122"/>
              </a:rPr>
              <a:t>；</a:t>
            </a:r>
          </a:p>
          <a:p>
            <a:pPr lvl="0" eaLnBrk="1" hangingPunct="1">
              <a:buNone/>
            </a:pPr>
            <a:r>
              <a:rPr lang="zh-CN" altLang="en-US" b="1" dirty="0">
                <a:latin typeface="宋体" panose="02010600030101010101" pitchFamily="2" charset="-122"/>
              </a:rPr>
              <a:t>		第二部分：对数据进行各种运算的装置</a:t>
            </a:r>
            <a:r>
              <a:rPr lang="en-US" altLang="x-none" b="1" dirty="0">
                <a:latin typeface="宋体" panose="02010600030101010101" pitchFamily="2" charset="-122"/>
              </a:rPr>
              <a:t>("</a:t>
            </a:r>
            <a:r>
              <a:rPr lang="zh-CN" altLang="en-US" b="1" dirty="0">
                <a:solidFill>
                  <a:srgbClr val="2D35D3"/>
                </a:solidFill>
                <a:latin typeface="宋体" panose="02010600030101010101" pitchFamily="2" charset="-122"/>
              </a:rPr>
              <a:t>作坊</a:t>
            </a:r>
            <a:r>
              <a:rPr lang="en-US" altLang="zh-CN" b="1" dirty="0">
                <a:latin typeface="宋体" panose="02010600030101010101" pitchFamily="2" charset="-122"/>
              </a:rPr>
              <a:t>"</a:t>
            </a:r>
            <a:r>
              <a:rPr lang="en-US" altLang="x-none" b="1" dirty="0">
                <a:latin typeface="宋体" panose="02010600030101010101" pitchFamily="2" charset="-122"/>
              </a:rPr>
              <a:t>)</a:t>
            </a:r>
            <a:r>
              <a:rPr lang="zh-CN" altLang="en-US" b="1" dirty="0">
                <a:latin typeface="宋体" panose="02010600030101010101" pitchFamily="2" charset="-122"/>
              </a:rPr>
              <a:t>；</a:t>
            </a:r>
          </a:p>
          <a:p>
            <a:pPr lvl="0" eaLnBrk="1" hangingPunct="1">
              <a:buNone/>
            </a:pPr>
            <a:r>
              <a:rPr lang="zh-CN" altLang="en-US" b="1" dirty="0">
                <a:latin typeface="宋体" panose="02010600030101010101" pitchFamily="2" charset="-122"/>
              </a:rPr>
              <a:t>		第三部分：对操作顺序进行</a:t>
            </a:r>
            <a:r>
              <a:rPr lang="zh-CN" altLang="en-US" b="1" dirty="0">
                <a:solidFill>
                  <a:srgbClr val="2D35D3"/>
                </a:solidFill>
                <a:latin typeface="宋体" panose="02010600030101010101" pitchFamily="2" charset="-122"/>
              </a:rPr>
              <a:t>控制</a:t>
            </a:r>
            <a:r>
              <a:rPr lang="zh-CN" altLang="en-US" b="1" dirty="0">
                <a:latin typeface="宋体" panose="02010600030101010101" pitchFamily="2" charset="-122"/>
              </a:rPr>
              <a:t>、并对所要处理的数据及输出结果加以选择的装置；</a:t>
            </a:r>
            <a:endParaRPr lang="en-US" altLang="x-none" b="1" dirty="0">
              <a:solidFill>
                <a:srgbClr val="6600FF"/>
              </a:solidFill>
              <a:latin typeface="宋体" panose="02010600030101010101" pitchFamily="2" charset="-122"/>
            </a:endParaRPr>
          </a:p>
          <a:p>
            <a:pPr lvl="0" eaLnBrk="1" hangingPunct="1">
              <a:buNone/>
            </a:pPr>
            <a:r>
              <a:rPr lang="zh-CN" altLang="en-US" b="1" dirty="0">
                <a:latin typeface="宋体" panose="02010600030101010101" pitchFamily="2" charset="-122"/>
              </a:rPr>
              <a:t>		第四部分：送入和取出数据、以及</a:t>
            </a:r>
            <a:r>
              <a:rPr lang="zh-CN" altLang="en-US" b="1" dirty="0"/>
              <a:t>在</a:t>
            </a:r>
            <a:r>
              <a:rPr lang="en-US" altLang="zh-CN" b="1" dirty="0">
                <a:latin typeface="宋体" panose="02010600030101010101" pitchFamily="2" charset="-122"/>
              </a:rPr>
              <a:t>"</a:t>
            </a:r>
            <a:r>
              <a:rPr lang="zh-CN" altLang="en-US" b="1" dirty="0"/>
              <a:t>存贮仓库</a:t>
            </a:r>
            <a:r>
              <a:rPr lang="en-US" altLang="zh-CN" b="1" dirty="0">
                <a:latin typeface="宋体" panose="02010600030101010101" pitchFamily="2" charset="-122"/>
              </a:rPr>
              <a:t>"</a:t>
            </a:r>
            <a:r>
              <a:rPr lang="zh-CN" altLang="en-US" b="1" dirty="0"/>
              <a:t>和</a:t>
            </a:r>
            <a:r>
              <a:rPr lang="en-US" altLang="zh-CN" b="1" dirty="0">
                <a:latin typeface="宋体" panose="02010600030101010101" pitchFamily="2" charset="-122"/>
              </a:rPr>
              <a:t>"</a:t>
            </a:r>
            <a:r>
              <a:rPr lang="zh-CN" altLang="en-US" b="1" dirty="0"/>
              <a:t>作坊</a:t>
            </a:r>
            <a:r>
              <a:rPr lang="en-US" altLang="zh-CN" b="1" dirty="0">
                <a:latin typeface="宋体" panose="02010600030101010101" pitchFamily="2" charset="-122"/>
              </a:rPr>
              <a:t>"</a:t>
            </a:r>
            <a:r>
              <a:rPr lang="zh-CN" altLang="en-US" b="1" dirty="0"/>
              <a:t>之间运输数据的</a:t>
            </a:r>
            <a:r>
              <a:rPr lang="zh-CN" altLang="en-US" b="1" dirty="0">
                <a:solidFill>
                  <a:srgbClr val="2D35D3"/>
                </a:solidFill>
              </a:rPr>
              <a:t>输入输出部件</a:t>
            </a:r>
            <a:r>
              <a:rPr lang="zh-CN" altLang="en-US" b="1" dirty="0"/>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340">
                                            <p:txEl>
                                              <p:pRg st="0" end="0"/>
                                            </p:txEl>
                                          </p:spTgt>
                                        </p:tgtEl>
                                        <p:attrNameLst>
                                          <p:attrName>style.visibility</p:attrName>
                                        </p:attrNameLst>
                                      </p:cBhvr>
                                      <p:to>
                                        <p:strVal val="visible"/>
                                      </p:to>
                                    </p:set>
                                    <p:animEffect transition="in" filter="dissolve">
                                      <p:cBhvr>
                                        <p:cTn id="7" dur="500"/>
                                        <p:tgtEl>
                                          <p:spTgt spid="1434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4340">
                                            <p:txEl>
                                              <p:pRg st="1" end="1"/>
                                            </p:txEl>
                                          </p:spTgt>
                                        </p:tgtEl>
                                        <p:attrNameLst>
                                          <p:attrName>style.visibility</p:attrName>
                                        </p:attrNameLst>
                                      </p:cBhvr>
                                      <p:to>
                                        <p:strVal val="visible"/>
                                      </p:to>
                                    </p:set>
                                    <p:animEffect transition="in" filter="dissolve">
                                      <p:cBhvr>
                                        <p:cTn id="12" dur="500"/>
                                        <p:tgtEl>
                                          <p:spTgt spid="1434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4340">
                                            <p:txEl>
                                              <p:pRg st="2" end="2"/>
                                            </p:txEl>
                                          </p:spTgt>
                                        </p:tgtEl>
                                        <p:attrNameLst>
                                          <p:attrName>style.visibility</p:attrName>
                                        </p:attrNameLst>
                                      </p:cBhvr>
                                      <p:to>
                                        <p:strVal val="visible"/>
                                      </p:to>
                                    </p:set>
                                    <p:animEffect transition="in" filter="dissolve">
                                      <p:cBhvr>
                                        <p:cTn id="17" dur="500"/>
                                        <p:tgtEl>
                                          <p:spTgt spid="14340">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4340">
                                            <p:txEl>
                                              <p:pRg st="3" end="3"/>
                                            </p:txEl>
                                          </p:spTgt>
                                        </p:tgtEl>
                                        <p:attrNameLst>
                                          <p:attrName>style.visibility</p:attrName>
                                        </p:attrNameLst>
                                      </p:cBhvr>
                                      <p:to>
                                        <p:strVal val="visible"/>
                                      </p:to>
                                    </p:set>
                                    <p:animEffect transition="in" filter="dissolve">
                                      <p:cBhvr>
                                        <p:cTn id="22" dur="500"/>
                                        <p:tgtEl>
                                          <p:spTgt spid="14340">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4340">
                                            <p:txEl>
                                              <p:pRg st="4" end="4"/>
                                            </p:txEl>
                                          </p:spTgt>
                                        </p:tgtEl>
                                        <p:attrNameLst>
                                          <p:attrName>style.visibility</p:attrName>
                                        </p:attrNameLst>
                                      </p:cBhvr>
                                      <p:to>
                                        <p:strVal val="visible"/>
                                      </p:to>
                                    </p:set>
                                    <p:animEffect transition="in" filter="dissolve">
                                      <p:cBhvr>
                                        <p:cTn id="27" dur="500"/>
                                        <p:tgtEl>
                                          <p:spTgt spid="14340">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4340">
                                            <p:txEl>
                                              <p:pRg st="5" end="5"/>
                                            </p:txEl>
                                          </p:spTgt>
                                        </p:tgtEl>
                                        <p:attrNameLst>
                                          <p:attrName>style.visibility</p:attrName>
                                        </p:attrNameLst>
                                      </p:cBhvr>
                                      <p:to>
                                        <p:strVal val="visible"/>
                                      </p:to>
                                    </p:set>
                                    <p:animEffect transition="in" filter="dissolve">
                                      <p:cBhvr>
                                        <p:cTn id="32" dur="500"/>
                                        <p:tgtEl>
                                          <p:spTgt spid="14340">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4340">
                                            <p:txEl>
                                              <p:pRg st="6" end="6"/>
                                            </p:txEl>
                                          </p:spTgt>
                                        </p:tgtEl>
                                        <p:attrNameLst>
                                          <p:attrName>style.visibility</p:attrName>
                                        </p:attrNameLst>
                                      </p:cBhvr>
                                      <p:to>
                                        <p:strVal val="visible"/>
                                      </p:to>
                                    </p:set>
                                    <p:animEffect transition="in" filter="dissolve">
                                      <p:cBhvr>
                                        <p:cTn id="37" dur="500"/>
                                        <p:tgtEl>
                                          <p:spTgt spid="1434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0"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txBox="1">
            <a:spLocks noGrp="1"/>
          </p:cNvSpPr>
          <p:nvPr/>
        </p:nvSpPr>
        <p:spPr>
          <a:xfrm>
            <a:off x="6934200" y="6324600"/>
            <a:ext cx="1905000" cy="457200"/>
          </a:xfrm>
          <a:prstGeom prst="rect">
            <a:avLst/>
          </a:prstGeom>
          <a:noFill/>
          <a:ln w="9525">
            <a:noFill/>
          </a:ln>
        </p:spPr>
        <p:txBody>
          <a:bodyPr/>
          <a:lstStyle>
            <a:lvl1pPr marL="342900" lvl="0" indent="-342900" algn="l" defTabSz="914400" eaLnBrk="0" fontAlgn="base" latinLnBrk="0" hangingPunct="0">
              <a:lnSpc>
                <a:spcPct val="100000"/>
              </a:lnSpc>
              <a:spcBef>
                <a:spcPct val="20000"/>
              </a:spcBef>
              <a:spcAft>
                <a:spcPct val="0"/>
              </a:spcAft>
              <a:buChar char="•"/>
              <a:defRPr sz="2800" b="0" i="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b="0" i="0" u="none" kern="1200" baseline="0">
                <a:solidFill>
                  <a:schemeClr val="tx1"/>
                </a:solidFill>
                <a:latin typeface="+mn-lt"/>
                <a:ea typeface="+mn-ea"/>
                <a:cs typeface="+mn-cs"/>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b="0" i="0" u="none" kern="1200" baseline="0">
                <a:solidFill>
                  <a:schemeClr val="tx1"/>
                </a:solidFill>
                <a:latin typeface="+mn-lt"/>
                <a:ea typeface="+mn-ea"/>
                <a:cs typeface="+mn-cs"/>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200" b="0" i="0" u="none" kern="1200" baseline="0">
                <a:solidFill>
                  <a:schemeClr val="tx1"/>
                </a:solidFill>
                <a:latin typeface="+mn-lt"/>
                <a:ea typeface="+mn-ea"/>
                <a:cs typeface="+mn-cs"/>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000" b="0" i="0" u="none" kern="1200" baseline="0">
                <a:solidFill>
                  <a:schemeClr val="tx1"/>
                </a:solidFill>
                <a:latin typeface="+mn-lt"/>
                <a:ea typeface="+mn-ea"/>
                <a:cs typeface="+mn-cs"/>
              </a:defRPr>
            </a:lvl5pPr>
          </a:lstStyle>
          <a:p>
            <a:pPr marL="0" lvl="0" indent="0" algn="r" eaLnBrk="1" hangingPunct="1">
              <a:spcBef>
                <a:spcPct val="50000"/>
              </a:spcBef>
              <a:buNone/>
            </a:pPr>
            <a:fld id="{9A0DB2DC-4C9A-4742-B13C-FB6460FD3503}" type="slidenum">
              <a:rPr lang="zh-CN" altLang="en-US" sz="1400" b="1" dirty="0"/>
              <a:t>4</a:t>
            </a:fld>
            <a:endParaRPr lang="zh-CN" altLang="en-US" sz="1400" b="1" dirty="0"/>
          </a:p>
        </p:txBody>
      </p:sp>
      <p:sp>
        <p:nvSpPr>
          <p:cNvPr id="73731" name="Rectangle 2"/>
          <p:cNvSpPr>
            <a:spLocks noGrp="1"/>
          </p:cNvSpPr>
          <p:nvPr>
            <p:ph type="title"/>
          </p:nvPr>
        </p:nvSpPr>
        <p:spPr/>
        <p:txBody>
          <a:bodyPr vert="horz" wrap="square" anchor="ctr"/>
          <a:lstStyle/>
          <a:p>
            <a:pPr lvl="0" eaLnBrk="1" hangingPunct="1"/>
            <a:r>
              <a:rPr lang="zh-CN" altLang="en-US" sz="2800" b="1" dirty="0">
                <a:solidFill>
                  <a:srgbClr val="2D35D3"/>
                </a:solidFill>
              </a:rPr>
              <a:t>冯.诺依曼机体系结构</a:t>
            </a:r>
            <a:endParaRPr lang="en-US" altLang="x-none" sz="2800" b="1" dirty="0">
              <a:solidFill>
                <a:srgbClr val="2D35D3"/>
              </a:solidFill>
            </a:endParaRPr>
          </a:p>
        </p:txBody>
      </p:sp>
      <p:sp>
        <p:nvSpPr>
          <p:cNvPr id="73732" name="Rectangle 3"/>
          <p:cNvSpPr>
            <a:spLocks noGrp="1"/>
          </p:cNvSpPr>
          <p:nvPr>
            <p:ph idx="1"/>
          </p:nvPr>
        </p:nvSpPr>
        <p:spPr/>
        <p:txBody>
          <a:bodyPr vert="horz" wrap="square" anchor="t"/>
          <a:lstStyle/>
          <a:p>
            <a:pPr lvl="0" eaLnBrk="1" hangingPunct="1">
              <a:spcBef>
                <a:spcPct val="50000"/>
              </a:spcBef>
              <a:buNone/>
            </a:pPr>
            <a:r>
              <a:rPr lang="zh-CN" altLang="en-US" b="1" dirty="0"/>
              <a:t>冯.诺依曼机体系结构的特点：</a:t>
            </a:r>
          </a:p>
          <a:p>
            <a:pPr lvl="0" eaLnBrk="1" hangingPunct="1"/>
            <a:r>
              <a:rPr lang="zh-CN" altLang="en-US" sz="2400" b="1" dirty="0"/>
              <a:t>指令和数据采用二进制表示，从而简化机器的逻辑线路；－－</a:t>
            </a:r>
            <a:r>
              <a:rPr lang="zh-CN" altLang="en-US" sz="2400" b="1" dirty="0">
                <a:solidFill>
                  <a:schemeClr val="accent2"/>
                </a:solidFill>
              </a:rPr>
              <a:t>指令和数据的表示</a:t>
            </a:r>
          </a:p>
          <a:p>
            <a:pPr lvl="0" eaLnBrk="1" hangingPunct="1"/>
            <a:r>
              <a:rPr lang="zh-CN" altLang="en-US" sz="2400" b="1" dirty="0"/>
              <a:t>指令和数据一样存储在主存储器中；－－</a:t>
            </a:r>
            <a:r>
              <a:rPr lang="zh-CN" altLang="en-US" sz="2400" b="1" dirty="0">
                <a:solidFill>
                  <a:schemeClr val="accent2"/>
                </a:solidFill>
              </a:rPr>
              <a:t>指令和数据的存储</a:t>
            </a:r>
          </a:p>
          <a:p>
            <a:pPr lvl="0" eaLnBrk="1" hangingPunct="1"/>
            <a:r>
              <a:rPr lang="zh-CN" altLang="en-US" sz="2400" b="1" dirty="0"/>
              <a:t>计算机由运算器、控制器、存储器、输入设备、输出设备五大部分组成。</a:t>
            </a:r>
          </a:p>
          <a:p>
            <a:pPr lvl="0" eaLnBrk="1" hangingPunct="1">
              <a:buNone/>
            </a:pPr>
            <a:endParaRPr lang="zh-CN" altLang="en-US" sz="1200" b="1" dirty="0"/>
          </a:p>
          <a:p>
            <a:pPr lvl="0" eaLnBrk="1" hangingPunct="1">
              <a:buNone/>
            </a:pPr>
            <a:r>
              <a:rPr lang="zh-CN" altLang="en-US" b="1" dirty="0">
                <a:solidFill>
                  <a:schemeClr val="accent2"/>
                </a:solidFill>
              </a:rPr>
              <a:t>第一台基于冯.诺伊曼思想的计算机于1950年在美国宾西法尼亚大学诞生，名为</a:t>
            </a:r>
            <a:r>
              <a:rPr lang="en-US" altLang="x-none" b="1" dirty="0">
                <a:solidFill>
                  <a:schemeClr val="accent2"/>
                </a:solidFill>
              </a:rPr>
              <a:t>EDVAC。</a:t>
            </a:r>
            <a:r>
              <a:rPr lang="zh-CN" altLang="en-US" b="1" dirty="0">
                <a:solidFill>
                  <a:schemeClr val="accent2"/>
                </a:solidFill>
              </a:rPr>
              <a:t> </a:t>
            </a:r>
          </a:p>
          <a:p>
            <a:pPr lvl="0" eaLnBrk="1" hangingPunct="1">
              <a:buNone/>
            </a:pPr>
            <a:endParaRPr lang="zh-CN" altLang="en-US" dirty="0">
              <a:solidFill>
                <a:schemeClr val="accent2"/>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3732">
                                            <p:txEl>
                                              <p:pRg st="1" end="1"/>
                                            </p:txEl>
                                          </p:spTgt>
                                        </p:tgtEl>
                                        <p:attrNameLst>
                                          <p:attrName>style.visibility</p:attrName>
                                        </p:attrNameLst>
                                      </p:cBhvr>
                                      <p:to>
                                        <p:strVal val="visible"/>
                                      </p:to>
                                    </p:set>
                                    <p:animEffect transition="in" filter="blinds(horizontal)">
                                      <p:cBhvr>
                                        <p:cTn id="7" dur="500"/>
                                        <p:tgtEl>
                                          <p:spTgt spid="7373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3732">
                                            <p:txEl>
                                              <p:pRg st="2" end="2"/>
                                            </p:txEl>
                                          </p:spTgt>
                                        </p:tgtEl>
                                        <p:attrNameLst>
                                          <p:attrName>style.visibility</p:attrName>
                                        </p:attrNameLst>
                                      </p:cBhvr>
                                      <p:to>
                                        <p:strVal val="visible"/>
                                      </p:to>
                                    </p:set>
                                    <p:animEffect transition="in" filter="blinds(horizontal)">
                                      <p:cBhvr>
                                        <p:cTn id="12" dur="500"/>
                                        <p:tgtEl>
                                          <p:spTgt spid="737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3732">
                                            <p:txEl>
                                              <p:pRg st="3" end="3"/>
                                            </p:txEl>
                                          </p:spTgt>
                                        </p:tgtEl>
                                        <p:attrNameLst>
                                          <p:attrName>style.visibility</p:attrName>
                                        </p:attrNameLst>
                                      </p:cBhvr>
                                      <p:to>
                                        <p:strVal val="visible"/>
                                      </p:to>
                                    </p:set>
                                    <p:animEffect transition="in" filter="blinds(horizontal)">
                                      <p:cBhvr>
                                        <p:cTn id="17" dur="500"/>
                                        <p:tgtEl>
                                          <p:spTgt spid="7373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3732">
                                            <p:txEl>
                                              <p:pRg st="5" end="5"/>
                                            </p:txEl>
                                          </p:spTgt>
                                        </p:tgtEl>
                                        <p:attrNameLst>
                                          <p:attrName>style.visibility</p:attrName>
                                        </p:attrNameLst>
                                      </p:cBhvr>
                                      <p:to>
                                        <p:strVal val="visible"/>
                                      </p:to>
                                    </p:set>
                                    <p:animEffect transition="in" filter="blinds(horizontal)">
                                      <p:cBhvr>
                                        <p:cTn id="22" dur="500"/>
                                        <p:tgtEl>
                                          <p:spTgt spid="7373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73732">
                                            <p:txEl>
                                              <p:pRg st="5" end="5"/>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uiExpand="1" build="p"/>
      <p:bldP spid="73732" grpI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p:txBody>
          <a:bodyPr vert="horz" wrap="square" lIns="91440" tIns="45720" rIns="91440" bIns="45720" anchor="ctr"/>
          <a:lstStyle/>
          <a:p>
            <a:r>
              <a:rPr lang="en-US" altLang="zh-CN" dirty="0"/>
              <a:t>Von Neumann architecture</a:t>
            </a:r>
          </a:p>
        </p:txBody>
      </p:sp>
      <p:pic>
        <p:nvPicPr>
          <p:cNvPr id="4301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8" y="1268760"/>
            <a:ext cx="5616623" cy="4470053"/>
          </a:xfrm>
          <a:prstGeom prst="rect">
            <a:avLst/>
          </a:prstGeom>
          <a:noFill/>
          <a:ln>
            <a:noFill/>
          </a:ln>
          <a:effectLst/>
        </p:spPr>
      </p:pic>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1026"/>
          <p:cNvSpPr>
            <a:spLocks noGrp="1"/>
          </p:cNvSpPr>
          <p:nvPr>
            <p:ph type="title"/>
          </p:nvPr>
        </p:nvSpPr>
        <p:spPr/>
        <p:txBody>
          <a:bodyPr vert="horz" wrap="square" lIns="91440" tIns="45720" rIns="91440" bIns="45720" anchor="ctr"/>
          <a:lstStyle/>
          <a:p>
            <a:r>
              <a:rPr lang="zh-CN" altLang="zh-CN" dirty="0"/>
              <a:t>数字化技术</a:t>
            </a:r>
            <a:r>
              <a:rPr lang="en-US" altLang="zh-CN" dirty="0"/>
              <a:t>Digital Technology</a:t>
            </a:r>
          </a:p>
        </p:txBody>
      </p:sp>
      <p:sp>
        <p:nvSpPr>
          <p:cNvPr id="82946" name="Rectangle 1027"/>
          <p:cNvSpPr>
            <a:spLocks noGrp="1"/>
          </p:cNvSpPr>
          <p:nvPr>
            <p:ph idx="1"/>
          </p:nvPr>
        </p:nvSpPr>
        <p:spPr/>
        <p:txBody>
          <a:bodyPr vert="horz" wrap="square" lIns="91440" tIns="45720" rIns="91440" bIns="45720" anchor="t"/>
          <a:lstStyle/>
          <a:p>
            <a:r>
              <a:rPr lang="zh-CN" altLang="en-US" dirty="0"/>
              <a:t>信号是离散的</a:t>
            </a:r>
            <a:endParaRPr lang="en-US" altLang="zh-CN" dirty="0"/>
          </a:p>
          <a:p>
            <a:pPr lvl="1"/>
            <a:r>
              <a:rPr lang="zh-CN" altLang="en-US" dirty="0">
                <a:sym typeface="+mn-ea"/>
              </a:rPr>
              <a:t>通过对模拟信息取样来实现</a:t>
            </a:r>
            <a:r>
              <a:rPr lang="en-US" altLang="zh-CN" dirty="0">
                <a:sym typeface="+mn-ea"/>
              </a:rPr>
              <a:t>Sampling is only one way to digitize information</a:t>
            </a:r>
            <a:endParaRPr lang="en-US" altLang="zh-CN" dirty="0"/>
          </a:p>
          <a:p>
            <a:pPr lvl="1"/>
            <a:r>
              <a:rPr lang="zh-CN" altLang="en-US" dirty="0">
                <a:sym typeface="+mn-ea"/>
              </a:rPr>
              <a:t>每件事物都必须变成数字！</a:t>
            </a:r>
          </a:p>
          <a:p>
            <a:pPr lvl="1"/>
            <a:r>
              <a:rPr lang="zh-CN" altLang="en-US" dirty="0">
                <a:sym typeface="+mn-ea"/>
              </a:rPr>
              <a:t>文字可以用</a:t>
            </a:r>
            <a:r>
              <a:rPr lang="en-US" altLang="zh-CN" dirty="0">
                <a:sym typeface="+mn-ea"/>
              </a:rPr>
              <a:t>ASCII</a:t>
            </a:r>
            <a:r>
              <a:rPr lang="zh-CN" altLang="en-US" dirty="0">
                <a:sym typeface="+mn-ea"/>
              </a:rPr>
              <a:t>、</a:t>
            </a:r>
            <a:r>
              <a:rPr lang="en-US" altLang="zh-CN" dirty="0">
                <a:sym typeface="+mn-ea"/>
              </a:rPr>
              <a:t>Unicode</a:t>
            </a:r>
            <a:r>
              <a:rPr lang="zh-CN" altLang="en-US" dirty="0">
                <a:sym typeface="+mn-ea"/>
              </a:rPr>
              <a:t>等进行数字编码。</a:t>
            </a:r>
            <a:r>
              <a:rPr lang="en-US" altLang="zh-CN" dirty="0">
                <a:sym typeface="+mn-ea"/>
              </a:rPr>
              <a:t>Text (letters and special characters) gets converted to numbers (A = 65), using a standard coding convention called </a:t>
            </a:r>
            <a:r>
              <a:rPr lang="en-US" altLang="zh-CN" dirty="0">
                <a:solidFill>
                  <a:srgbClr val="FF3300"/>
                </a:solidFill>
                <a:sym typeface="+mn-ea"/>
              </a:rPr>
              <a:t>ASCII</a:t>
            </a:r>
            <a:endParaRPr lang="en-US" altLang="zh-CN" dirty="0">
              <a:solidFill>
                <a:srgbClr val="FF3300"/>
              </a:solidFill>
            </a:endParaRPr>
          </a:p>
          <a:p>
            <a:pPr lvl="1"/>
            <a:r>
              <a:rPr lang="zh-CN" altLang="en-US" dirty="0">
                <a:sym typeface="+mn-ea"/>
              </a:rPr>
              <a:t>图片要切割为像素和颜色数值。</a:t>
            </a:r>
            <a:r>
              <a:rPr lang="en-US" altLang="zh-CN" dirty="0">
                <a:sym typeface="+mn-ea"/>
              </a:rPr>
              <a:t>Graphics (images), gets broken down into pieces (pixels) and each colour gets a number</a:t>
            </a:r>
            <a:endParaRPr lang="zh-CN" altLang="en-US" dirty="0"/>
          </a:p>
        </p:txBody>
      </p:sp>
    </p:spTree>
    <p:extLst>
      <p:ext uri="{BB962C8B-B14F-4D97-AF65-F5344CB8AC3E}">
        <p14:creationId xmlns:p14="http://schemas.microsoft.com/office/powerpoint/2010/main" val="68554567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78515" y="1402867"/>
            <a:ext cx="8572500" cy="3495675"/>
          </a:xfrm>
          <a:prstGeom prst="rect">
            <a:avLst/>
          </a:prstGeom>
        </p:spPr>
      </p:pic>
      <p:pic>
        <p:nvPicPr>
          <p:cNvPr id="3" name="图片 2"/>
          <p:cNvPicPr>
            <a:picLocks noChangeAspect="1"/>
          </p:cNvPicPr>
          <p:nvPr/>
        </p:nvPicPr>
        <p:blipFill>
          <a:blip r:embed="rId3"/>
          <a:stretch>
            <a:fillRect/>
          </a:stretch>
        </p:blipFill>
        <p:spPr>
          <a:xfrm>
            <a:off x="757444" y="4775131"/>
            <a:ext cx="7258050" cy="885825"/>
          </a:xfrm>
          <a:prstGeom prst="rect">
            <a:avLst/>
          </a:prstGeom>
        </p:spPr>
      </p:pic>
      <p:sp>
        <p:nvSpPr>
          <p:cNvPr id="4" name="文本框 3"/>
          <p:cNvSpPr txBox="1"/>
          <p:nvPr/>
        </p:nvSpPr>
        <p:spPr>
          <a:xfrm>
            <a:off x="2981740" y="477079"/>
            <a:ext cx="5694716" cy="523220"/>
          </a:xfrm>
          <a:prstGeom prst="rect">
            <a:avLst/>
          </a:prstGeom>
          <a:noFill/>
        </p:spPr>
        <p:txBody>
          <a:bodyPr wrap="square" rtlCol="0">
            <a:spAutoFit/>
          </a:bodyPr>
          <a:lstStyle/>
          <a:p>
            <a:pPr algn="r"/>
            <a:r>
              <a:rPr lang="zh-CN" altLang="en-US" sz="2800" b="1" dirty="0">
                <a:solidFill>
                  <a:srgbClr val="FF0000"/>
                </a:solidFill>
              </a:rPr>
              <a:t>音频信号编码举例</a:t>
            </a:r>
          </a:p>
        </p:txBody>
      </p:sp>
    </p:spTree>
    <p:extLst>
      <p:ext uri="{BB962C8B-B14F-4D97-AF65-F5344CB8AC3E}">
        <p14:creationId xmlns:p14="http://schemas.microsoft.com/office/powerpoint/2010/main" val="375811018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191E49-FED0-4220-9E9F-FA290C0926FB}"/>
              </a:ext>
            </a:extLst>
          </p:cNvPr>
          <p:cNvSpPr>
            <a:spLocks noGrp="1"/>
          </p:cNvSpPr>
          <p:nvPr>
            <p:ph type="title"/>
          </p:nvPr>
        </p:nvSpPr>
        <p:spPr/>
        <p:txBody>
          <a:bodyPr/>
          <a:lstStyle/>
          <a:p>
            <a:r>
              <a:rPr lang="zh-CN" altLang="en-US" dirty="0"/>
              <a:t>练习</a:t>
            </a:r>
          </a:p>
        </p:txBody>
      </p:sp>
      <p:sp>
        <p:nvSpPr>
          <p:cNvPr id="3" name="内容占位符 2">
            <a:extLst>
              <a:ext uri="{FF2B5EF4-FFF2-40B4-BE49-F238E27FC236}">
                <a16:creationId xmlns:a16="http://schemas.microsoft.com/office/drawing/2014/main" id="{D2F208FE-BD92-4783-BE6B-14563FAEFB87}"/>
              </a:ext>
            </a:extLst>
          </p:cNvPr>
          <p:cNvSpPr>
            <a:spLocks noGrp="1"/>
          </p:cNvSpPr>
          <p:nvPr>
            <p:ph idx="1"/>
          </p:nvPr>
        </p:nvSpPr>
        <p:spPr/>
        <p:txBody>
          <a:bodyPr/>
          <a:lstStyle/>
          <a:p>
            <a:r>
              <a:rPr lang="zh-CN" altLang="zh-CN" dirty="0"/>
              <a:t>一幅位图图像可以看作是由多个小方格组合而成的矩阵，每个小方格叫做一个</a:t>
            </a:r>
            <a:r>
              <a:rPr lang="en-US" altLang="zh-CN" dirty="0"/>
              <a:t>"</a:t>
            </a:r>
            <a:r>
              <a:rPr lang="zh-CN" altLang="zh-CN" dirty="0"/>
              <a:t>像素</a:t>
            </a:r>
            <a:r>
              <a:rPr lang="en-US" altLang="zh-CN" dirty="0"/>
              <a:t>"</a:t>
            </a:r>
            <a:r>
              <a:rPr lang="zh-CN" altLang="zh-CN" dirty="0"/>
              <a:t>，比如一个分辨率为</a:t>
            </a:r>
            <a:r>
              <a:rPr lang="en-US" altLang="zh-CN" dirty="0"/>
              <a:t>1024</a:t>
            </a:r>
            <a:r>
              <a:rPr lang="zh-CN" altLang="zh-CN" dirty="0"/>
              <a:t>×</a:t>
            </a:r>
            <a:r>
              <a:rPr lang="en-US" altLang="zh-CN" dirty="0"/>
              <a:t>768</a:t>
            </a:r>
            <a:r>
              <a:rPr lang="zh-CN" altLang="zh-CN" dirty="0"/>
              <a:t>的图像可看作由</a:t>
            </a:r>
            <a:r>
              <a:rPr lang="en-US" altLang="zh-CN" dirty="0"/>
              <a:t>1024</a:t>
            </a:r>
            <a:r>
              <a:rPr lang="zh-CN" altLang="zh-CN" dirty="0"/>
              <a:t>×</a:t>
            </a:r>
            <a:r>
              <a:rPr lang="en-US" altLang="zh-CN" dirty="0"/>
              <a:t>768</a:t>
            </a:r>
            <a:r>
              <a:rPr lang="zh-CN" altLang="zh-CN" dirty="0"/>
              <a:t>个方格组成。假设每个像素能表示</a:t>
            </a:r>
            <a:r>
              <a:rPr lang="en-US" altLang="zh-CN" dirty="0"/>
              <a:t>512</a:t>
            </a:r>
            <a:r>
              <a:rPr lang="zh-CN" altLang="zh-CN" dirty="0"/>
              <a:t>种颜色，则存储一幅</a:t>
            </a:r>
            <a:r>
              <a:rPr lang="en-US" altLang="zh-CN" dirty="0"/>
              <a:t>1024</a:t>
            </a:r>
            <a:r>
              <a:rPr lang="zh-CN" altLang="zh-CN" dirty="0"/>
              <a:t>×</a:t>
            </a:r>
            <a:r>
              <a:rPr lang="en-US" altLang="zh-CN" dirty="0"/>
              <a:t>768</a:t>
            </a:r>
            <a:r>
              <a:rPr lang="zh-CN" altLang="zh-CN" dirty="0"/>
              <a:t>的图像至少需要多少字节？请说明原因。</a:t>
            </a:r>
          </a:p>
          <a:p>
            <a:endParaRPr lang="zh-CN" altLang="en-US" dirty="0"/>
          </a:p>
        </p:txBody>
      </p:sp>
    </p:spTree>
    <p:extLst>
      <p:ext uri="{BB962C8B-B14F-4D97-AF65-F5344CB8AC3E}">
        <p14:creationId xmlns:p14="http://schemas.microsoft.com/office/powerpoint/2010/main" val="233161901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p:txBody>
          <a:bodyPr vert="horz" wrap="square" lIns="91440" tIns="45720" rIns="91440" bIns="45720" anchor="ctr"/>
          <a:lstStyle/>
          <a:p>
            <a:pPr eaLnBrk="1" hangingPunct="1"/>
            <a:r>
              <a:rPr lang="zh-CN" altLang="en-US" dirty="0"/>
              <a:t>算法的作用</a:t>
            </a:r>
            <a:endParaRPr lang="en-US" altLang="zh-CN" dirty="0"/>
          </a:p>
        </p:txBody>
      </p:sp>
      <p:sp>
        <p:nvSpPr>
          <p:cNvPr id="9219" name="Rectangle 3"/>
          <p:cNvSpPr>
            <a:spLocks noGrp="1"/>
          </p:cNvSpPr>
          <p:nvPr>
            <p:ph idx="1"/>
          </p:nvPr>
        </p:nvSpPr>
        <p:spPr/>
        <p:txBody>
          <a:bodyPr vert="horz" wrap="square" anchor="t"/>
          <a:lstStyle/>
          <a:p>
            <a:pPr eaLnBrk="1" hangingPunct="1">
              <a:buNone/>
            </a:pPr>
            <a:r>
              <a:rPr lang="zh-CN" altLang="en-US" sz="3200" b="1" dirty="0"/>
              <a:t>算法是计算机科学的核心概念！</a:t>
            </a:r>
          </a:p>
          <a:p>
            <a:pPr eaLnBrk="1" hangingPunct="1">
              <a:buNone/>
            </a:pPr>
            <a:r>
              <a:rPr lang="zh-CN" altLang="en-US" b="1" dirty="0">
                <a:solidFill>
                  <a:srgbClr val="3333CC"/>
                </a:solidFill>
              </a:rPr>
              <a:t>	算法：</a:t>
            </a:r>
            <a:r>
              <a:rPr lang="zh-CN" altLang="en-US" b="1" dirty="0">
                <a:solidFill>
                  <a:schemeClr val="tx1"/>
                </a:solidFill>
              </a:rPr>
              <a:t>完成一个任务或者</a:t>
            </a:r>
            <a:r>
              <a:rPr lang="zh-CN" altLang="en-US" b="1" dirty="0"/>
              <a:t>解决一个问题的步骤序列（操作序列）。 </a:t>
            </a:r>
          </a:p>
          <a:p>
            <a:pPr eaLnBrk="1" hangingPunct="1">
              <a:buNone/>
            </a:pPr>
            <a:endParaRPr lang="zh-CN" altLang="en-US" b="1" dirty="0">
              <a:solidFill>
                <a:schemeClr val="accent2"/>
              </a:solidFill>
            </a:endParaRPr>
          </a:p>
          <a:p>
            <a:pPr eaLnBrk="1" hangingPunct="1">
              <a:buNone/>
            </a:pPr>
            <a:r>
              <a:rPr lang="zh-CN" altLang="en-US" b="1" dirty="0">
                <a:solidFill>
                  <a:schemeClr val="tx1"/>
                </a:solidFill>
              </a:rPr>
              <a:t>计算机要执行一项任务，必须先找到算法，然后再将算法表示为计算机可适应的形式，即</a:t>
            </a:r>
            <a:r>
              <a:rPr lang="zh-CN" altLang="en-US" b="1" dirty="0">
                <a:solidFill>
                  <a:schemeClr val="accent6"/>
                </a:solidFill>
              </a:rPr>
              <a:t>程序</a:t>
            </a:r>
            <a:r>
              <a:rPr lang="zh-CN" altLang="en-US" b="1" dirty="0">
                <a:solidFill>
                  <a:schemeClr val="tx1"/>
                </a:solidFill>
              </a:rPr>
              <a:t>。</a:t>
            </a:r>
          </a:p>
          <a:p>
            <a:pPr eaLnBrk="1" hangingPunct="1">
              <a:buNone/>
            </a:pPr>
            <a:endParaRPr lang="zh-CN" altLang="en-US" b="1" dirty="0">
              <a:solidFill>
                <a:schemeClr val="tx1"/>
              </a:solidFill>
            </a:endParaRPr>
          </a:p>
          <a:p>
            <a:pPr algn="l" eaLnBrk="1" hangingPunct="1">
              <a:buNone/>
            </a:pPr>
            <a:r>
              <a:rPr lang="zh-CN" altLang="en-US" b="1" dirty="0">
                <a:solidFill>
                  <a:schemeClr val="accent6"/>
                </a:solidFill>
              </a:rPr>
              <a:t>编程</a:t>
            </a:r>
            <a:r>
              <a:rPr lang="zh-CN" altLang="en-US" b="1" dirty="0">
                <a:solidFill>
                  <a:schemeClr val="tx1"/>
                </a:solidFill>
              </a:rPr>
              <a:t>指开发一个程序，将其转换为机器指令形式，并输入计算机中，这一系列工作。</a:t>
            </a:r>
          </a:p>
        </p:txBody>
      </p:sp>
    </p:spTree>
    <p:extLst>
      <p:ext uri="{BB962C8B-B14F-4D97-AF65-F5344CB8AC3E}">
        <p14:creationId xmlns:p14="http://schemas.microsoft.com/office/powerpoint/2010/main" val="294677311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10</a:t>
            </a:fld>
            <a:endParaRPr lang="zh-CN" altLang="en-US" sz="1400" dirty="0"/>
          </a:p>
        </p:txBody>
      </p:sp>
      <p:sp>
        <p:nvSpPr>
          <p:cNvPr id="25602" name="Rectangle 2"/>
          <p:cNvSpPr>
            <a:spLocks noGrp="1"/>
          </p:cNvSpPr>
          <p:nvPr>
            <p:ph type="title"/>
          </p:nvPr>
        </p:nvSpPr>
        <p:spPr/>
        <p:txBody>
          <a:bodyPr vert="horz" wrap="square" lIns="91440" tIns="45720" rIns="91440" bIns="45720" anchor="ctr"/>
          <a:lstStyle/>
          <a:p>
            <a:pPr eaLnBrk="1" hangingPunct="1"/>
            <a:r>
              <a:rPr lang="en-US" altLang="zh-CN" b="1" dirty="0"/>
              <a:t>1.1     </a:t>
            </a:r>
            <a:r>
              <a:rPr lang="zh-CN" altLang="en-US" b="1" dirty="0"/>
              <a:t>什么是程序设计语言</a:t>
            </a:r>
          </a:p>
        </p:txBody>
      </p:sp>
      <p:sp>
        <p:nvSpPr>
          <p:cNvPr id="7172" name="Rectangle 3"/>
          <p:cNvSpPr>
            <a:spLocks noGrp="1" noChangeArrowheads="1"/>
          </p:cNvSpPr>
          <p:nvPr>
            <p:ph idx="1"/>
          </p:nvPr>
        </p:nvSpPr>
        <p:spPr>
          <a:xfrm>
            <a:off x="685800" y="1319213"/>
            <a:ext cx="7772400" cy="4611688"/>
          </a:xfrm>
        </p:spPr>
        <p:txBody>
          <a:bodyPr vert="horz" wrap="square" lIns="91440" tIns="45720" rIns="91440" bIns="45720" numCol="1" anchor="t" anchorCtr="0" compatLnSpc="1"/>
          <a:lstStyle/>
          <a:p>
            <a:pPr marL="0" marR="0" lvl="0" indent="0" algn="l" defTabSz="914400" rtl="0" eaLnBrk="1" fontAlgn="base" latinLnBrk="0" hangingPunct="1">
              <a:lnSpc>
                <a:spcPct val="150000"/>
              </a:lnSpc>
              <a:spcBef>
                <a:spcPct val="20000"/>
              </a:spcBef>
              <a:spcAft>
                <a:spcPct val="0"/>
              </a:spcAft>
              <a:buClrTx/>
              <a:buSzTx/>
              <a:buFontTx/>
              <a:buNone/>
              <a:defRPr/>
            </a:pPr>
            <a:r>
              <a:rPr kumimoji="1" lang="zh-CN" altLang="en-US"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一、语言的概念：</a:t>
            </a:r>
            <a:endParaRPr kumimoji="1" lang="en-US" altLang="zh-CN" sz="28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Char char="•"/>
              <a:defRPr/>
            </a:pP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语言就广义而言，是一套共同采用的 沟通</a:t>
            </a:r>
            <a:r>
              <a:rPr kumimoji="1" lang="zh-CN" altLang="en-US" sz="24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符号</a:t>
            </a: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、表达方式与处理</a:t>
            </a:r>
            <a:r>
              <a:rPr kumimoji="1" lang="zh-CN" altLang="en-US" sz="2400" b="0" i="0" u="none" strike="noStrike" kern="0" cap="none" spc="0" normalizeH="0" baseline="0" noProof="0" dirty="0">
                <a:ln>
                  <a:noFill/>
                </a:ln>
                <a:solidFill>
                  <a:srgbClr val="FF0000"/>
                </a:solidFill>
                <a:effectLst/>
                <a:uLnTx/>
                <a:uFillTx/>
                <a:latin typeface="微软雅黑" panose="020B0503020204020204" charset="-122"/>
                <a:ea typeface="微软雅黑" panose="020B0503020204020204" charset="-122"/>
                <a:cs typeface="+mn-cs"/>
              </a:rPr>
              <a:t>规则</a:t>
            </a:r>
            <a:r>
              <a:rPr kumimoji="1" lang="zh-CN" altLang="en-US"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rPr>
              <a:t>。</a:t>
            </a:r>
            <a:endParaRPr kumimoji="1" lang="en-US" altLang="zh-CN" sz="2400" b="0" i="0" u="none" strike="noStrike" kern="0" cap="none" spc="0" normalizeH="0" baseline="0" noProof="0" dirty="0">
              <a:ln>
                <a:noFill/>
              </a:ln>
              <a:solidFill>
                <a:schemeClr val="tx1"/>
              </a:solidFill>
              <a:effectLst/>
              <a:uLnTx/>
              <a:uFillTx/>
              <a:latin typeface="微软雅黑" panose="020B0503020204020204" charset="-122"/>
              <a:ea typeface="微软雅黑" panose="020B0503020204020204" charset="-122"/>
              <a:cs typeface="+mn-cs"/>
            </a:endParaRPr>
          </a:p>
          <a:p>
            <a:pPr marL="342900" marR="0" lvl="0" indent="-342900" algn="l" defTabSz="914400" rtl="0" eaLnBrk="1" fontAlgn="base" latinLnBrk="0" hangingPunct="1">
              <a:lnSpc>
                <a:spcPct val="150000"/>
              </a:lnSpc>
              <a:spcBef>
                <a:spcPct val="20000"/>
              </a:spcBef>
              <a:spcAft>
                <a:spcPct val="0"/>
              </a:spcAft>
              <a:buClrTx/>
              <a:buSzTx/>
              <a:buFontTx/>
              <a:buChar char="•"/>
              <a:defRPr/>
            </a:pPr>
            <a:r>
              <a:rPr lang="zh-CN" altLang="en-US" sz="2400" b="1" noProof="0" dirty="0">
                <a:ln>
                  <a:noFill/>
                </a:ln>
                <a:effectLst/>
                <a:uLnTx/>
                <a:uFillTx/>
                <a:latin typeface="微软雅黑" panose="020B0503020204020204" charset="-122"/>
                <a:ea typeface="微软雅黑" panose="020B0503020204020204" charset="-122"/>
                <a:sym typeface="+mn-ea"/>
              </a:rPr>
              <a:t>计算机语言（</a:t>
            </a:r>
            <a:r>
              <a:rPr lang="en-US" altLang="zh-CN" sz="2400" b="1" noProof="0" dirty="0">
                <a:ln>
                  <a:noFill/>
                </a:ln>
                <a:effectLst/>
                <a:uLnTx/>
                <a:uFillTx/>
                <a:latin typeface="微软雅黑" panose="020B0503020204020204" charset="-122"/>
                <a:ea typeface="微软雅黑" panose="020B0503020204020204" charset="-122"/>
                <a:sym typeface="+mn-ea"/>
              </a:rPr>
              <a:t>Computer Language</a:t>
            </a:r>
            <a:r>
              <a:rPr lang="zh-CN" altLang="en-US" sz="2400" b="1" noProof="0" dirty="0">
                <a:ln>
                  <a:noFill/>
                </a:ln>
                <a:effectLst/>
                <a:uLnTx/>
                <a:uFillTx/>
                <a:latin typeface="微软雅黑" panose="020B0503020204020204" charset="-122"/>
                <a:ea typeface="微软雅黑" panose="020B0503020204020204" charset="-122"/>
                <a:sym typeface="+mn-ea"/>
              </a:rPr>
              <a:t>）</a:t>
            </a:r>
            <a:r>
              <a:rPr lang="zh-CN" altLang="en-US" sz="2400" noProof="0" dirty="0">
                <a:ln>
                  <a:noFill/>
                </a:ln>
                <a:effectLst/>
                <a:uLnTx/>
                <a:uFillTx/>
                <a:latin typeface="微软雅黑" panose="020B0503020204020204" charset="-122"/>
                <a:ea typeface="微软雅黑" panose="020B0503020204020204" charset="-122"/>
                <a:sym typeface="+mn-ea"/>
              </a:rPr>
              <a:t>指用于人与计算机之间通讯的语言。</a:t>
            </a:r>
          </a:p>
          <a:p>
            <a:pPr marL="342900" marR="0" lvl="0" indent="-342900" algn="l" defTabSz="914400" rtl="0" eaLnBrk="1" fontAlgn="base" latinLnBrk="0" hangingPunct="1">
              <a:lnSpc>
                <a:spcPct val="150000"/>
              </a:lnSpc>
              <a:spcBef>
                <a:spcPct val="20000"/>
              </a:spcBef>
              <a:buClrTx/>
              <a:buSzTx/>
              <a:buFontTx/>
              <a:buChar char="•"/>
              <a:defRPr/>
            </a:pPr>
            <a:r>
              <a:rPr lang="zh-CN" altLang="en-US" sz="2400" noProof="0" dirty="0">
                <a:ln>
                  <a:noFill/>
                </a:ln>
                <a:effectLst/>
                <a:uLnTx/>
                <a:uFillTx/>
                <a:latin typeface="微软雅黑" panose="020B0503020204020204" charset="-122"/>
                <a:ea typeface="微软雅黑" panose="020B0503020204020204" charset="-122"/>
                <a:sym typeface="+mn-ea"/>
              </a:rPr>
              <a:t>程序设计语言介于人与人沟通的语言和机器语言之间</a:t>
            </a:r>
            <a:r>
              <a:rPr lang="en-US" altLang="zh-CN" sz="2400" noProof="0" dirty="0">
                <a:ln>
                  <a:noFill/>
                </a:ln>
                <a:effectLst/>
                <a:uLnTx/>
                <a:uFillTx/>
                <a:latin typeface="微软雅黑" panose="020B0503020204020204" charset="-122"/>
                <a:ea typeface="微软雅黑" panose="020B0503020204020204" charset="-122"/>
                <a:sym typeface="+mn-ea"/>
              </a:rPr>
              <a:t>.</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11</a:t>
            </a:fld>
            <a:endParaRPr lang="zh-CN" altLang="en-US" sz="1400" dirty="0"/>
          </a:p>
        </p:txBody>
      </p:sp>
      <p:sp>
        <p:nvSpPr>
          <p:cNvPr id="138247" name="Text Box 7"/>
          <p:cNvSpPr txBox="1"/>
          <p:nvPr/>
        </p:nvSpPr>
        <p:spPr>
          <a:xfrm>
            <a:off x="457200" y="1989138"/>
            <a:ext cx="8382000" cy="3754437"/>
          </a:xfrm>
          <a:prstGeom prst="rect">
            <a:avLst/>
          </a:prstGeom>
          <a:noFill/>
          <a:ln w="9525">
            <a:noFill/>
          </a:ln>
        </p:spPr>
        <p:txBody>
          <a:bodyPr anchor="t">
            <a:spAutoFit/>
          </a:bodyPr>
          <a:lstStyle/>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计算机发展早期使用的语言；面向计算机指令。</a:t>
            </a: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指令由</a:t>
            </a:r>
            <a:r>
              <a:rPr lang="zh-CN" altLang="en-US" sz="2800" dirty="0">
                <a:latin typeface="Times New Roman" panose="02020603050405020304" pitchFamily="18" charset="0"/>
              </a:rPr>
              <a:t>“</a:t>
            </a:r>
            <a:r>
              <a:rPr lang="zh-CN" altLang="en-US" sz="2800" dirty="0">
                <a:latin typeface="宋体" panose="02010600030101010101" pitchFamily="2" charset="-122"/>
              </a:rPr>
              <a:t>0</a:t>
            </a:r>
            <a:r>
              <a:rPr lang="zh-CN" altLang="en-US" sz="2800" dirty="0">
                <a:latin typeface="Times New Roman" panose="02020603050405020304" pitchFamily="18" charset="0"/>
              </a:rPr>
              <a:t>”</a:t>
            </a:r>
            <a:r>
              <a:rPr lang="zh-CN" altLang="en-US" sz="2800" dirty="0">
                <a:latin typeface="宋体" panose="02010600030101010101" pitchFamily="2" charset="-122"/>
              </a:rPr>
              <a:t>和</a:t>
            </a:r>
            <a:r>
              <a:rPr lang="zh-CN" altLang="en-US" sz="2800" dirty="0">
                <a:latin typeface="Times New Roman" panose="02020603050405020304" pitchFamily="18" charset="0"/>
              </a:rPr>
              <a:t>“</a:t>
            </a:r>
            <a:r>
              <a:rPr lang="zh-CN" altLang="en-US" sz="2800" dirty="0">
                <a:latin typeface="宋体" panose="02010600030101010101" pitchFamily="2" charset="-122"/>
              </a:rPr>
              <a:t>1</a:t>
            </a:r>
            <a:r>
              <a:rPr lang="zh-CN" altLang="en-US" sz="2800" dirty="0">
                <a:latin typeface="Times New Roman" panose="02020603050405020304" pitchFamily="18" charset="0"/>
              </a:rPr>
              <a:t>”</a:t>
            </a:r>
            <a:r>
              <a:rPr lang="zh-CN" altLang="en-US" sz="2800" dirty="0">
                <a:latin typeface="宋体" panose="02010600030101010101" pitchFamily="2" charset="-122"/>
              </a:rPr>
              <a:t>的二进制码组成 </a:t>
            </a:r>
            <a:r>
              <a:rPr lang="en-US" altLang="zh-CN" sz="2800" dirty="0">
                <a:latin typeface="宋体" panose="02010600030101010101" pitchFamily="2" charset="-122"/>
              </a:rPr>
              <a:t>,</a:t>
            </a:r>
            <a:r>
              <a:rPr lang="zh-CN" altLang="en-US" sz="2800" dirty="0">
                <a:latin typeface="宋体" panose="02010600030101010101" pitchFamily="2" charset="-122"/>
              </a:rPr>
              <a:t>是指挥计算机工作的命令，是</a:t>
            </a:r>
            <a:r>
              <a:rPr lang="zh-CN" altLang="en-US" sz="2800" dirty="0">
                <a:solidFill>
                  <a:srgbClr val="FF0000"/>
                </a:solidFill>
                <a:latin typeface="宋体" panose="02010600030101010101" pitchFamily="2" charset="-122"/>
              </a:rPr>
              <a:t>计算机唯一可以直接识别的语言</a:t>
            </a:r>
            <a:r>
              <a:rPr lang="zh-CN" altLang="en-US" sz="2800" dirty="0">
                <a:latin typeface="宋体" panose="02010600030101010101" pitchFamily="2" charset="-122"/>
              </a:rPr>
              <a:t>；</a:t>
            </a: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与具体机器有关，不同的机器能识别的机器语言也不同；</a:t>
            </a:r>
            <a:endParaRPr lang="en-US" altLang="zh-CN" sz="2800" dirty="0">
              <a:latin typeface="宋体" panose="02010600030101010101" pitchFamily="2" charset="-122"/>
            </a:endParaRPr>
          </a:p>
        </p:txBody>
      </p:sp>
      <p:grpSp>
        <p:nvGrpSpPr>
          <p:cNvPr id="36867" name="Group 10"/>
          <p:cNvGrpSpPr/>
          <p:nvPr/>
        </p:nvGrpSpPr>
        <p:grpSpPr>
          <a:xfrm>
            <a:off x="457200" y="1196975"/>
            <a:ext cx="2286000" cy="544513"/>
            <a:chOff x="2880" y="864"/>
            <a:chExt cx="1056" cy="336"/>
          </a:xfrm>
        </p:grpSpPr>
        <p:sp>
          <p:nvSpPr>
            <p:cNvPr id="36868" name="Rectangle 8"/>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6869" name="Text Box 9"/>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1、机器语言</a:t>
              </a:r>
            </a:p>
          </p:txBody>
        </p:sp>
      </p:grpSp>
      <p:sp>
        <p:nvSpPr>
          <p:cNvPr id="36870" name="Rectangle 13"/>
          <p:cNvSpPr>
            <a:spLocks noGrp="1"/>
          </p:cNvSpPr>
          <p:nvPr>
            <p:ph type="title"/>
          </p:nvPr>
        </p:nvSpPr>
        <p:spPr/>
        <p:txBody>
          <a:bodyPr vert="horz" wrap="square" lIns="92075" tIns="46038" rIns="92075" bIns="46038" anchor="ctr"/>
          <a:lstStyle/>
          <a:p>
            <a:pPr eaLnBrk="1" hangingPunct="1"/>
            <a:endParaRPr lang="zh-CN" altLang="en-US" b="1" dirty="0">
              <a:solidFill>
                <a:srgbClr val="00808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8247"/>
                                        </p:tgtEl>
                                        <p:attrNameLst>
                                          <p:attrName>style.visibility</p:attrName>
                                        </p:attrNameLst>
                                      </p:cBhvr>
                                      <p:to>
                                        <p:strVal val="visible"/>
                                      </p:to>
                                    </p:set>
                                    <p:animEffect transition="in" filter="dissolve">
                                      <p:cBhvr>
                                        <p:cTn id="7" dur="500"/>
                                        <p:tgtEl>
                                          <p:spTgt spid="138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824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12</a:t>
            </a:fld>
            <a:endParaRPr lang="zh-CN" altLang="en-US" sz="1400" dirty="0"/>
          </a:p>
        </p:txBody>
      </p:sp>
      <p:sp>
        <p:nvSpPr>
          <p:cNvPr id="197637" name="Text Box 5"/>
          <p:cNvSpPr txBox="1"/>
          <p:nvPr/>
        </p:nvSpPr>
        <p:spPr>
          <a:xfrm>
            <a:off x="457200" y="1844675"/>
            <a:ext cx="8382000" cy="4757738"/>
          </a:xfrm>
          <a:prstGeom prst="rect">
            <a:avLst/>
          </a:prstGeom>
          <a:noFill/>
          <a:ln w="9525">
            <a:noFill/>
          </a:ln>
        </p:spPr>
        <p:txBody>
          <a:bodyPr anchor="t">
            <a:spAutoFit/>
          </a:bodyPr>
          <a:lstStyle/>
          <a:p>
            <a:pPr>
              <a:lnSpc>
                <a:spcPct val="150000"/>
              </a:lnSpc>
              <a:spcBef>
                <a:spcPct val="50000"/>
              </a:spcBef>
              <a:buClr>
                <a:srgbClr val="6600FF"/>
              </a:buClr>
              <a:buSzPct val="50000"/>
              <a:buFont typeface="Wingdings" panose="05000000000000000000" pitchFamily="2" charset="2"/>
              <a:buChar char="u"/>
            </a:pPr>
            <a:r>
              <a:rPr lang="en-US" altLang="zh-CN" sz="2800" dirty="0">
                <a:latin typeface="宋体" panose="02010600030101010101" pitchFamily="2" charset="-122"/>
              </a:rPr>
              <a:t> 20</a:t>
            </a:r>
            <a:r>
              <a:rPr lang="zh-CN" altLang="en-US" sz="2800" dirty="0">
                <a:latin typeface="宋体" panose="02010600030101010101" pitchFamily="2" charset="-122"/>
              </a:rPr>
              <a:t>世纪50年代早期，数学家</a:t>
            </a:r>
            <a:r>
              <a:rPr lang="en-US" altLang="zh-CN" sz="2800" dirty="0">
                <a:solidFill>
                  <a:schemeClr val="accent2"/>
                </a:solidFill>
                <a:latin typeface="宋体" panose="02010600030101010101" pitchFamily="2" charset="-122"/>
              </a:rPr>
              <a:t>Grace Hopper</a:t>
            </a:r>
            <a:r>
              <a:rPr lang="zh-CN" altLang="en-US" sz="2800" dirty="0">
                <a:latin typeface="宋体" panose="02010600030101010101" pitchFamily="2" charset="-122"/>
              </a:rPr>
              <a:t>发明了符号语言，即</a:t>
            </a:r>
            <a:r>
              <a:rPr lang="zh-CN" altLang="en-US" sz="2800" dirty="0">
                <a:solidFill>
                  <a:srgbClr val="FF3300"/>
                </a:solidFill>
                <a:latin typeface="宋体" panose="02010600030101010101" pitchFamily="2" charset="-122"/>
              </a:rPr>
              <a:t>用符号或助记符来表示不同的机器语言指令</a:t>
            </a:r>
            <a:r>
              <a:rPr lang="en-US" altLang="zh-CN" sz="2800" dirty="0">
                <a:latin typeface="宋体" panose="02010600030101010101" pitchFamily="2" charset="-122"/>
              </a:rPr>
              <a:t>(</a:t>
            </a:r>
            <a:r>
              <a:rPr lang="zh-CN" altLang="en-US" sz="2800" dirty="0">
                <a:latin typeface="宋体" panose="02010600030101010101" pitchFamily="2" charset="-122"/>
              </a:rPr>
              <a:t>包括操作码和和操作数地址）。</a:t>
            </a:r>
          </a:p>
          <a:p>
            <a:pPr>
              <a:lnSpc>
                <a:spcPct val="150000"/>
              </a:lnSpc>
              <a:spcBef>
                <a:spcPct val="50000"/>
              </a:spcBef>
              <a:buClr>
                <a:srgbClr val="6600FF"/>
              </a:buClr>
              <a:buSzPct val="50000"/>
              <a:buFont typeface="Wingdings" panose="05000000000000000000" pitchFamily="2" charset="2"/>
              <a:buChar char="u"/>
            </a:pPr>
            <a:endParaRPr lang="zh-CN" altLang="en-US" sz="900" dirty="0">
              <a:latin typeface="宋体" panose="02010600030101010101" pitchFamily="2" charset="-122"/>
            </a:endParaRPr>
          </a:p>
          <a:p>
            <a:pPr>
              <a:lnSpc>
                <a:spcPct val="150000"/>
              </a:lnSpc>
              <a:spcBef>
                <a:spcPct val="2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  程序员可用</a:t>
            </a:r>
            <a:r>
              <a:rPr lang="en-US" altLang="zh-CN" sz="2800" dirty="0">
                <a:latin typeface="Times New Roman" panose="02020603050405020304" pitchFamily="18" charset="0"/>
              </a:rPr>
              <a:t>ADD</a:t>
            </a:r>
            <a:r>
              <a:rPr lang="zh-CN" altLang="en-US" sz="2800" dirty="0">
                <a:latin typeface="Times New Roman" panose="02020603050405020304" pitchFamily="18" charset="0"/>
              </a:rPr>
              <a:t>、</a:t>
            </a:r>
            <a:r>
              <a:rPr lang="en-US" altLang="zh-CN" sz="2800" dirty="0">
                <a:latin typeface="Times New Roman" panose="02020603050405020304" pitchFamily="18" charset="0"/>
              </a:rPr>
              <a:t>SUB</a:t>
            </a:r>
            <a:r>
              <a:rPr lang="zh-CN" altLang="en-US" sz="2800" dirty="0">
                <a:latin typeface="Times New Roman" panose="02020603050405020304" pitchFamily="18" charset="0"/>
              </a:rPr>
              <a:t>、</a:t>
            </a:r>
            <a:r>
              <a:rPr lang="en-US" altLang="zh-CN" sz="2800" dirty="0">
                <a:latin typeface="Times New Roman" panose="02020603050405020304" pitchFamily="18" charset="0"/>
              </a:rPr>
              <a:t>MUL</a:t>
            </a:r>
            <a:r>
              <a:rPr lang="zh-CN" altLang="en-US" sz="2800" dirty="0">
                <a:latin typeface="Times New Roman" panose="02020603050405020304" pitchFamily="18" charset="0"/>
              </a:rPr>
              <a:t>、</a:t>
            </a:r>
            <a:r>
              <a:rPr lang="en-US" altLang="zh-CN" sz="2800" dirty="0">
                <a:latin typeface="Times New Roman" panose="02020603050405020304" pitchFamily="18" charset="0"/>
              </a:rPr>
              <a:t>DIV</a:t>
            </a:r>
            <a:r>
              <a:rPr lang="zh-CN" altLang="en-US" sz="2800" dirty="0">
                <a:latin typeface="Times New Roman" panose="02020603050405020304" pitchFamily="18" charset="0"/>
              </a:rPr>
              <a:t>等符号来分别表示加法、减法、乘法、除法的操作码。</a:t>
            </a:r>
          </a:p>
          <a:p>
            <a:pPr>
              <a:lnSpc>
                <a:spcPct val="150000"/>
              </a:lnSpc>
              <a:spcBef>
                <a:spcPct val="20000"/>
              </a:spcBef>
              <a:buClr>
                <a:srgbClr val="6600FF"/>
              </a:buClr>
              <a:buSzPct val="50000"/>
              <a:buFont typeface="Wingdings" panose="05000000000000000000" pitchFamily="2" charset="2"/>
              <a:buChar char="u"/>
            </a:pPr>
            <a:endParaRPr lang="zh-CN" altLang="en-US" sz="800" dirty="0">
              <a:latin typeface="Times New Roman" panose="02020603050405020304" pitchFamily="18" charset="0"/>
            </a:endParaRPr>
          </a:p>
          <a:p>
            <a:pPr>
              <a:lnSpc>
                <a:spcPct val="150000"/>
              </a:lnSpc>
              <a:spcBef>
                <a:spcPct val="50000"/>
              </a:spcBef>
              <a:buClr>
                <a:srgbClr val="6600FF"/>
              </a:buClr>
              <a:buSzPct val="50000"/>
              <a:buFont typeface="Wingdings" panose="05000000000000000000" pitchFamily="2" charset="2"/>
              <a:buChar char="u"/>
            </a:pPr>
            <a:r>
              <a:rPr lang="zh-CN" altLang="en-US" sz="2800" dirty="0">
                <a:latin typeface="Times New Roman" panose="02020603050405020304" pitchFamily="18" charset="0"/>
              </a:rPr>
              <a:t>符号语言又称</a:t>
            </a:r>
            <a:r>
              <a:rPr lang="zh-CN" altLang="en-US" sz="2800" dirty="0">
                <a:solidFill>
                  <a:schemeClr val="accent2"/>
                </a:solidFill>
                <a:latin typeface="Times New Roman" panose="02020603050405020304" pitchFamily="18" charset="0"/>
              </a:rPr>
              <a:t>汇编语言</a:t>
            </a:r>
            <a:r>
              <a:rPr lang="zh-CN" altLang="en-US" sz="2800" dirty="0">
                <a:latin typeface="Times New Roman" panose="02020603050405020304" pitchFamily="18" charset="0"/>
              </a:rPr>
              <a:t>。</a:t>
            </a:r>
            <a:endParaRPr lang="en-US" altLang="zh-CN" sz="2800" dirty="0">
              <a:latin typeface="Times New Roman" panose="02020603050405020304" pitchFamily="18" charset="0"/>
            </a:endParaRPr>
          </a:p>
        </p:txBody>
      </p:sp>
      <p:grpSp>
        <p:nvGrpSpPr>
          <p:cNvPr id="39939" name="Group 6"/>
          <p:cNvGrpSpPr/>
          <p:nvPr/>
        </p:nvGrpSpPr>
        <p:grpSpPr>
          <a:xfrm>
            <a:off x="457200" y="1196975"/>
            <a:ext cx="2286000" cy="544513"/>
            <a:chOff x="2880" y="864"/>
            <a:chExt cx="1056" cy="336"/>
          </a:xfrm>
        </p:grpSpPr>
        <p:sp>
          <p:nvSpPr>
            <p:cNvPr id="39940" name="Rectangle 7"/>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39941" name="Text Box 8"/>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2、符号语言</a:t>
              </a:r>
            </a:p>
          </p:txBody>
        </p:sp>
      </p:grpSp>
      <p:sp>
        <p:nvSpPr>
          <p:cNvPr id="39942" name="Rectangle 9"/>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符号语言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97637"/>
                                        </p:tgtEl>
                                        <p:attrNameLst>
                                          <p:attrName>style.visibility</p:attrName>
                                        </p:attrNameLst>
                                      </p:cBhvr>
                                      <p:to>
                                        <p:strVal val="visible"/>
                                      </p:to>
                                    </p:set>
                                    <p:animEffect transition="in" filter="dissolve">
                                      <p:cBhvr>
                                        <p:cTn id="7" dur="500"/>
                                        <p:tgtEl>
                                          <p:spTgt spid="197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6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13</a:t>
            </a:fld>
            <a:endParaRPr lang="zh-CN" altLang="en-US" sz="1400" dirty="0"/>
          </a:p>
        </p:txBody>
      </p:sp>
      <p:sp>
        <p:nvSpPr>
          <p:cNvPr id="43010" name="Rectangle 3"/>
          <p:cNvSpPr>
            <a:spLocks noGrp="1"/>
          </p:cNvSpPr>
          <p:nvPr>
            <p:ph idx="1"/>
          </p:nvPr>
        </p:nvSpPr>
        <p:spPr/>
        <p:txBody>
          <a:bodyPr vert="horz" wrap="square" lIns="91440" tIns="45720" rIns="91440" bIns="45720" anchor="t"/>
          <a:lstStyle/>
          <a:p>
            <a:pPr eaLnBrk="1" hangingPunct="1">
              <a:buNone/>
            </a:pPr>
            <a:r>
              <a:rPr lang="zh-CN" altLang="en-US" b="1" u="sng" dirty="0">
                <a:solidFill>
                  <a:srgbClr val="6600FF"/>
                </a:solidFill>
              </a:rPr>
              <a:t>汇编语言的局限</a:t>
            </a:r>
          </a:p>
          <a:p>
            <a:pPr eaLnBrk="1" hangingPunct="1">
              <a:buClr>
                <a:srgbClr val="6600FF"/>
              </a:buClr>
              <a:buSzPct val="50000"/>
              <a:buFont typeface="Wingdings" panose="05000000000000000000" pitchFamily="2" charset="2"/>
              <a:buChar char="u"/>
            </a:pPr>
            <a:r>
              <a:rPr lang="zh-CN" altLang="en-US" b="1" dirty="0"/>
              <a:t>汇编语言的语法、语义结构仍然和机器语言基本一样，而与人的传统解题方法相差甚远。</a:t>
            </a:r>
          </a:p>
          <a:p>
            <a:pPr eaLnBrk="1" hangingPunct="1">
              <a:buClr>
                <a:srgbClr val="6600FF"/>
              </a:buClr>
              <a:buSzPct val="50000"/>
              <a:buFont typeface="Wingdings" panose="05000000000000000000" pitchFamily="2" charset="2"/>
              <a:buChar char="u"/>
            </a:pPr>
            <a:r>
              <a:rPr lang="zh-CN" altLang="en-US" b="1" dirty="0"/>
              <a:t>汇编语言的大部分指令是和机器指令一一对应的，因此代码量大。</a:t>
            </a:r>
          </a:p>
          <a:p>
            <a:pPr eaLnBrk="1" hangingPunct="1">
              <a:spcBef>
                <a:spcPct val="50000"/>
              </a:spcBef>
              <a:buClr>
                <a:srgbClr val="6600FF"/>
              </a:buClr>
              <a:buSzPct val="50000"/>
              <a:buFont typeface="Wingdings" panose="05000000000000000000" pitchFamily="2" charset="2"/>
              <a:buChar char="u"/>
            </a:pPr>
            <a:r>
              <a:rPr lang="zh-CN" altLang="en-US" b="1" dirty="0">
                <a:latin typeface="宋体" panose="02010600030101010101" pitchFamily="2" charset="-122"/>
              </a:rPr>
              <a:t>和具体的机器相关，</a:t>
            </a:r>
            <a:r>
              <a:rPr lang="zh-CN" altLang="en-US" b="1" dirty="0"/>
              <a:t>人们终究还是要对</a:t>
            </a:r>
            <a:r>
              <a:rPr lang="zh-CN" altLang="en-US" b="1" dirty="0">
                <a:latin typeface="宋体" panose="02010600030101010101" pitchFamily="2" charset="-122"/>
              </a:rPr>
              <a:t>计算机的硬件和指令系统有很正确深入的理解，</a:t>
            </a:r>
            <a:r>
              <a:rPr lang="zh-CN" altLang="en-US" b="1" dirty="0"/>
              <a:t>而且还是要记住机器语言的符号</a:t>
            </a:r>
            <a:r>
              <a:rPr lang="en-US" altLang="zh-CN" b="1" dirty="0"/>
              <a:t>(</a:t>
            </a:r>
            <a:r>
              <a:rPr lang="zh-CN" altLang="en-US" b="1" dirty="0"/>
              <a:t>助记符</a:t>
            </a:r>
            <a:r>
              <a:rPr lang="en-US" altLang="zh-CN" b="1" dirty="0"/>
              <a:t>)</a:t>
            </a:r>
            <a:r>
              <a:rPr lang="zh-CN" altLang="en-US" b="1" dirty="0"/>
              <a:t>。移植性不好。</a:t>
            </a:r>
          </a:p>
          <a:p>
            <a:pPr eaLnBrk="1" hangingPunct="1">
              <a:spcBef>
                <a:spcPct val="50000"/>
              </a:spcBef>
              <a:buClr>
                <a:srgbClr val="6600FF"/>
              </a:buClr>
              <a:buSzPct val="50000"/>
              <a:buFont typeface="Wingdings" panose="05000000000000000000" pitchFamily="2" charset="2"/>
              <a:buChar char="u"/>
            </a:pPr>
            <a:endParaRPr lang="zh-CN" altLang="en-US" b="1" dirty="0"/>
          </a:p>
          <a:p>
            <a:pPr eaLnBrk="1" hangingPunct="1">
              <a:buClr>
                <a:srgbClr val="6600FF"/>
              </a:buClr>
              <a:buSzPct val="50000"/>
              <a:buFont typeface="Wingdings" panose="05000000000000000000" pitchFamily="2" charset="2"/>
              <a:buChar char="u"/>
            </a:pPr>
            <a:endParaRPr lang="zh-CN" altLang="en-US" b="1" dirty="0"/>
          </a:p>
        </p:txBody>
      </p:sp>
      <p:sp>
        <p:nvSpPr>
          <p:cNvPr id="43011" name="Rectangle 4"/>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符号语言</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14</a:t>
            </a:fld>
            <a:endParaRPr lang="zh-CN" altLang="en-US" sz="1400" dirty="0"/>
          </a:p>
        </p:txBody>
      </p:sp>
      <p:sp>
        <p:nvSpPr>
          <p:cNvPr id="29734" name="Text Box 38"/>
          <p:cNvSpPr txBox="1"/>
          <p:nvPr/>
        </p:nvSpPr>
        <p:spPr>
          <a:xfrm>
            <a:off x="456565" y="1981200"/>
            <a:ext cx="8382635" cy="4399915"/>
          </a:xfrm>
          <a:prstGeom prst="rect">
            <a:avLst/>
          </a:prstGeom>
          <a:noFill/>
          <a:ln w="9525">
            <a:noFill/>
          </a:ln>
        </p:spPr>
        <p:txBody>
          <a:bodyPr wrap="square" anchor="t">
            <a:spAutoFit/>
          </a:bodyPr>
          <a:lstStyle/>
          <a:p>
            <a:pPr>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由于汇编语言的局限性，</a:t>
            </a:r>
            <a:r>
              <a:rPr lang="zh-CN" altLang="en-US" sz="2800" dirty="0">
                <a:latin typeface="Times New Roman" panose="02020603050405020304" pitchFamily="18" charset="0"/>
              </a:rPr>
              <a:t>后来出现了高级语言。</a:t>
            </a:r>
          </a:p>
          <a:p>
            <a:pPr eaLnBrk="0" hangingPunct="0">
              <a:spcBef>
                <a:spcPct val="50000"/>
              </a:spcBef>
            </a:pPr>
            <a:r>
              <a:rPr lang="zh-CN" altLang="en-US" sz="2800" u="sng" dirty="0">
                <a:solidFill>
                  <a:srgbClr val="6600FF"/>
                </a:solidFill>
                <a:latin typeface="宋体" panose="02010600030101010101" pitchFamily="2" charset="-122"/>
              </a:rPr>
              <a:t>高级语言的优势</a:t>
            </a:r>
            <a:endParaRPr lang="zh-CN" altLang="en-US" sz="2800" dirty="0">
              <a:latin typeface="宋体" panose="02010600030101010101" pitchFamily="2" charset="-122"/>
            </a:endParaRPr>
          </a:p>
          <a:p>
            <a:pPr eaLnBrk="0" hangingPunct="0">
              <a:spcBef>
                <a:spcPct val="50000"/>
              </a:spcBef>
              <a:buClr>
                <a:srgbClr val="6600FF"/>
              </a:buClr>
              <a:buSzPct val="50000"/>
              <a:buFont typeface="Wingdings" panose="05000000000000000000" pitchFamily="2" charset="2"/>
              <a:buChar char="u"/>
            </a:pPr>
            <a:r>
              <a:rPr lang="zh-CN" altLang="en-US" sz="2800" dirty="0"/>
              <a:t>  高级语言程序易学、易懂、也易查错。</a:t>
            </a:r>
            <a:endParaRPr lang="zh-CN" altLang="en-US" sz="2800" dirty="0">
              <a:latin typeface="宋体" panose="02010600030101010101" pitchFamily="2" charset="-122"/>
            </a:endParaRPr>
          </a:p>
          <a:p>
            <a:pPr eaLnBrk="0" hangingPunct="0">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使程序员可以完全不用与计算机的硬件打交道、不必了解机器的指令系统。</a:t>
            </a:r>
          </a:p>
          <a:p>
            <a:pPr eaLnBrk="0" hangingPunct="0">
              <a:spcBef>
                <a:spcPct val="50000"/>
              </a:spcBef>
              <a:buClr>
                <a:srgbClr val="6600FF"/>
              </a:buClr>
              <a:buSzPct val="50000"/>
              <a:buFont typeface="Wingdings" panose="05000000000000000000" pitchFamily="2" charset="2"/>
              <a:buChar char="u"/>
            </a:pPr>
            <a:r>
              <a:rPr lang="zh-CN" altLang="en-US" sz="2800" dirty="0">
                <a:latin typeface="宋体" panose="02010600030101010101" pitchFamily="2" charset="-122"/>
              </a:rPr>
              <a:t> 高级语言与具体机器无关，在一种机器上运行的高级语言程序有可能可以不经改动地移植到另一种机器上运行，大大提高了程序的通用性。</a:t>
            </a:r>
          </a:p>
        </p:txBody>
      </p:sp>
      <p:grpSp>
        <p:nvGrpSpPr>
          <p:cNvPr id="44035" name="Group 43"/>
          <p:cNvGrpSpPr/>
          <p:nvPr/>
        </p:nvGrpSpPr>
        <p:grpSpPr>
          <a:xfrm>
            <a:off x="457200" y="1371600"/>
            <a:ext cx="2286000" cy="544513"/>
            <a:chOff x="2880" y="864"/>
            <a:chExt cx="1056" cy="336"/>
          </a:xfrm>
        </p:grpSpPr>
        <p:sp>
          <p:nvSpPr>
            <p:cNvPr id="44036" name="Rectangle 44"/>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4037" name="Text Box 45"/>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3、高级语言</a:t>
              </a:r>
            </a:p>
          </p:txBody>
        </p:sp>
      </p:grpSp>
      <p:sp>
        <p:nvSpPr>
          <p:cNvPr id="44038" name="Rectangle 47"/>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r>
              <a:rPr lang="zh-CN" altLang="en-US" sz="2800" b="1" dirty="0">
                <a:solidFill>
                  <a:schemeClr val="accent2"/>
                </a:solidFill>
              </a:rPr>
              <a:t>高级语言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734"/>
                                        </p:tgtEl>
                                        <p:attrNameLst>
                                          <p:attrName>style.visibility</p:attrName>
                                        </p:attrNameLst>
                                      </p:cBhvr>
                                      <p:to>
                                        <p:strVal val="visible"/>
                                      </p:to>
                                    </p:set>
                                    <p:animEffect transition="in" filter="dissolve">
                                      <p:cBhvr>
                                        <p:cTn id="7" dur="500"/>
                                        <p:tgtEl>
                                          <p:spTgt spid="297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3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15</a:t>
            </a:fld>
            <a:endParaRPr lang="zh-CN" altLang="en-US" sz="1400" dirty="0"/>
          </a:p>
        </p:txBody>
      </p:sp>
      <p:sp>
        <p:nvSpPr>
          <p:cNvPr id="260100" name="Text Box 4"/>
          <p:cNvSpPr txBox="1"/>
          <p:nvPr/>
        </p:nvSpPr>
        <p:spPr>
          <a:xfrm>
            <a:off x="539750" y="2060575"/>
            <a:ext cx="8001000" cy="3053144"/>
          </a:xfrm>
          <a:prstGeom prst="rect">
            <a:avLst/>
          </a:prstGeom>
          <a:noFill/>
          <a:ln w="9525">
            <a:noFill/>
          </a:ln>
        </p:spPr>
        <p:txBody>
          <a:bodyPr anchor="t">
            <a:spAutoFit/>
          </a:bodyPr>
          <a:lstStyle/>
          <a:p>
            <a:pPr>
              <a:spcBef>
                <a:spcPct val="20000"/>
              </a:spcBef>
              <a:buClr>
                <a:schemeClr val="accent2"/>
              </a:buClr>
              <a:buSzPct val="75000"/>
              <a:buFont typeface="Monotype Sorts" pitchFamily="2" charset="2"/>
            </a:pPr>
            <a:r>
              <a:rPr lang="zh-CN" altLang="en-US" sz="2600" dirty="0">
                <a:latin typeface="Times New Roman" panose="02020603050405020304" pitchFamily="18" charset="0"/>
              </a:rPr>
              <a:t>第四代语言</a:t>
            </a:r>
            <a:r>
              <a:rPr lang="en-US" altLang="zh-CN" sz="2600" dirty="0">
                <a:latin typeface="Times New Roman" panose="02020603050405020304" pitchFamily="18" charset="0"/>
              </a:rPr>
              <a:t>(Fourth-Generation Language, </a:t>
            </a:r>
            <a:r>
              <a:rPr lang="zh-CN" altLang="en-US" sz="2600" dirty="0">
                <a:latin typeface="Times New Roman" panose="02020603050405020304" pitchFamily="18" charset="0"/>
              </a:rPr>
              <a:t>以下简称</a:t>
            </a:r>
            <a:r>
              <a:rPr lang="en-US" altLang="zh-CN" sz="2600" dirty="0">
                <a:latin typeface="Times New Roman" panose="02020603050405020304" pitchFamily="18" charset="0"/>
              </a:rPr>
              <a:t>4GL)</a:t>
            </a:r>
            <a:r>
              <a:rPr lang="zh-CN" altLang="en-US" sz="2600" dirty="0">
                <a:latin typeface="Times New Roman" panose="02020603050405020304" pitchFamily="18" charset="0"/>
              </a:rPr>
              <a:t>是比</a:t>
            </a:r>
            <a:r>
              <a:rPr lang="en-US" altLang="zh-CN" sz="2600" dirty="0" err="1"/>
              <a:t>3GL</a:t>
            </a:r>
            <a:r>
              <a:rPr lang="zh-CN" altLang="en-US" sz="2600" dirty="0">
                <a:latin typeface="Times New Roman" panose="02020603050405020304" pitchFamily="18" charset="0"/>
              </a:rPr>
              <a:t>更加</a:t>
            </a:r>
            <a:r>
              <a:rPr lang="zh-CN" altLang="en-US" sz="2600" dirty="0"/>
              <a:t>靠近自然语言的编程</a:t>
            </a:r>
            <a:r>
              <a:rPr lang="zh-CN" altLang="en-US" sz="2600" dirty="0">
                <a:latin typeface="Times New Roman" panose="02020603050405020304" pitchFamily="18" charset="0"/>
              </a:rPr>
              <a:t>语言。</a:t>
            </a:r>
            <a:endParaRPr lang="en-US" altLang="zh-CN" sz="2600" dirty="0">
              <a:latin typeface="Times New Roman" panose="02020603050405020304" pitchFamily="18" charset="0"/>
            </a:endParaRPr>
          </a:p>
          <a:p>
            <a:pPr>
              <a:spcBef>
                <a:spcPct val="20000"/>
              </a:spcBef>
              <a:buClr>
                <a:schemeClr val="accent2"/>
              </a:buClr>
              <a:buSzPct val="75000"/>
              <a:buFont typeface="Monotype Sorts" pitchFamily="2" charset="2"/>
            </a:pPr>
            <a:r>
              <a:rPr lang="zh-CN" altLang="en-US" sz="2600" dirty="0"/>
              <a:t>旨在提供更高水平的内部计算机硬件细节的抽象，使该语言更加对程序员友好、强大和通用。</a:t>
            </a:r>
            <a:endParaRPr lang="en-US" altLang="zh-CN" sz="2600" dirty="0"/>
          </a:p>
          <a:p>
            <a:pPr>
              <a:spcBef>
                <a:spcPct val="20000"/>
              </a:spcBef>
              <a:buClr>
                <a:schemeClr val="accent2"/>
              </a:buClr>
              <a:buSzPct val="75000"/>
              <a:buFont typeface="Monotype Sorts" pitchFamily="2" charset="2"/>
            </a:pPr>
            <a:r>
              <a:rPr lang="zh-CN" altLang="en-US" sz="2600" dirty="0"/>
              <a:t>它可以通过同时更多地操作大量的信息集合，而不是仅仅关注比特和字节。可能支持数据库管理、报告生成、数学优化、</a:t>
            </a:r>
            <a:r>
              <a:rPr lang="en-US" altLang="zh-CN" sz="2600" dirty="0" err="1"/>
              <a:t>gui</a:t>
            </a:r>
            <a:r>
              <a:rPr lang="zh-CN" altLang="en-US" sz="2600" dirty="0"/>
              <a:t>开发或</a:t>
            </a:r>
            <a:r>
              <a:rPr lang="en-US" altLang="zh-CN" sz="2600" dirty="0"/>
              <a:t>web</a:t>
            </a:r>
            <a:r>
              <a:rPr lang="zh-CN" altLang="en-US" sz="2600"/>
              <a:t>开发。</a:t>
            </a:r>
            <a:endParaRPr lang="zh-CN" altLang="en-US" sz="2600" dirty="0">
              <a:latin typeface="Times New Roman" panose="02020603050405020304" pitchFamily="18" charset="0"/>
            </a:endParaRPr>
          </a:p>
        </p:txBody>
      </p:sp>
      <p:grpSp>
        <p:nvGrpSpPr>
          <p:cNvPr id="47107" name="Group 5"/>
          <p:cNvGrpSpPr/>
          <p:nvPr/>
        </p:nvGrpSpPr>
        <p:grpSpPr>
          <a:xfrm>
            <a:off x="457200" y="1371600"/>
            <a:ext cx="2674938" cy="533400"/>
            <a:chOff x="2880" y="864"/>
            <a:chExt cx="1056" cy="336"/>
          </a:xfrm>
        </p:grpSpPr>
        <p:sp>
          <p:nvSpPr>
            <p:cNvPr id="47108" name="Rectangle 6"/>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47109" name="Text Box 7"/>
            <p:cNvSpPr txBox="1"/>
            <p:nvPr/>
          </p:nvSpPr>
          <p:spPr>
            <a:xfrm>
              <a:off x="2880" y="864"/>
              <a:ext cx="1008" cy="327"/>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4、第四代语言</a:t>
              </a:r>
              <a:endParaRPr lang="en-US" altLang="zh-CN" sz="2800" dirty="0">
                <a:solidFill>
                  <a:srgbClr val="FFFFFF"/>
                </a:solidFill>
                <a:latin typeface="楷体_GB2312" pitchFamily="1" charset="-122"/>
                <a:ea typeface="楷体_GB2312" pitchFamily="1" charset="-122"/>
              </a:endParaRPr>
            </a:p>
          </p:txBody>
        </p:sp>
      </p:grpSp>
      <p:sp>
        <p:nvSpPr>
          <p:cNvPr id="47110" name="Rectangle 8"/>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60100"/>
                                        </p:tgtEl>
                                        <p:attrNameLst>
                                          <p:attrName>style.visibility</p:attrName>
                                        </p:attrNameLst>
                                      </p:cBhvr>
                                      <p:to>
                                        <p:strVal val="visible"/>
                                      </p:to>
                                    </p:set>
                                    <p:animEffect transition="in" filter="dissolve">
                                      <p:cBhvr>
                                        <p:cTn id="7" dur="500"/>
                                        <p:tgtEl>
                                          <p:spTgt spid="260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t>16</a:t>
            </a:fld>
            <a:endParaRPr lang="zh-CN" altLang="en-US" sz="1400" dirty="0"/>
          </a:p>
        </p:txBody>
      </p:sp>
      <p:sp>
        <p:nvSpPr>
          <p:cNvPr id="155654" name="Text Box 6"/>
          <p:cNvSpPr txBox="1"/>
          <p:nvPr/>
        </p:nvSpPr>
        <p:spPr>
          <a:xfrm>
            <a:off x="571500" y="2205038"/>
            <a:ext cx="8001000" cy="2398712"/>
          </a:xfrm>
          <a:prstGeom prst="rect">
            <a:avLst/>
          </a:prstGeom>
          <a:noFill/>
          <a:ln w="9525">
            <a:noFill/>
          </a:ln>
        </p:spPr>
        <p:txBody>
          <a:bodyPr anchor="t">
            <a:spAutoFit/>
          </a:bodyPr>
          <a:lstStyle/>
          <a:p>
            <a:pPr>
              <a:spcBef>
                <a:spcPct val="20000"/>
              </a:spcBef>
              <a:buClr>
                <a:schemeClr val="accent2"/>
              </a:buClr>
              <a:buSzPct val="75000"/>
              <a:buFont typeface="Monotype Sorts" pitchFamily="2" charset="2"/>
            </a:pPr>
            <a:r>
              <a:rPr lang="zh-CN" altLang="en-US" sz="2800" dirty="0">
                <a:latin typeface="宋体" panose="02010600030101010101" pitchFamily="2" charset="-122"/>
              </a:rPr>
              <a:t>理想情况下，计算机能够理解自然语言（如英语、汉语等）并立即执行请求。</a:t>
            </a:r>
          </a:p>
          <a:p>
            <a:pPr>
              <a:spcBef>
                <a:spcPct val="20000"/>
              </a:spcBef>
              <a:buClr>
                <a:schemeClr val="accent2"/>
              </a:buClr>
              <a:buSzPct val="75000"/>
              <a:buFont typeface="Monotype Sorts" pitchFamily="2" charset="2"/>
            </a:pPr>
            <a:r>
              <a:rPr lang="zh-CN" altLang="en-US" sz="2800" dirty="0">
                <a:latin typeface="宋体" panose="02010600030101010101" pitchFamily="2" charset="-122"/>
              </a:rPr>
              <a:t>大量关于自然语言的工作正在实验室中进行。</a:t>
            </a:r>
          </a:p>
          <a:p>
            <a:pPr>
              <a:spcBef>
                <a:spcPct val="20000"/>
              </a:spcBef>
              <a:buClr>
                <a:schemeClr val="accent2"/>
              </a:buClr>
              <a:buSzPct val="75000"/>
              <a:buFont typeface="Monotype Sorts" pitchFamily="2" charset="2"/>
            </a:pPr>
            <a:r>
              <a:rPr lang="zh-CN" altLang="en-US" sz="2800" dirty="0">
                <a:latin typeface="宋体" panose="02010600030101010101" pitchFamily="2" charset="-122"/>
              </a:rPr>
              <a:t>但迄今为止，自然语言的使用仍然是相当有限的</a:t>
            </a:r>
            <a:r>
              <a:rPr lang="zh-CN" altLang="en-US" sz="2800" dirty="0">
                <a:latin typeface="Times New Roman" panose="02020603050405020304" pitchFamily="18" charset="0"/>
              </a:rPr>
              <a:t> </a:t>
            </a:r>
            <a:r>
              <a:rPr lang="zh-CN" altLang="en-US" sz="2800" dirty="0">
                <a:solidFill>
                  <a:srgbClr val="000000"/>
                </a:solidFill>
                <a:latin typeface="宋体" panose="02010600030101010101" pitchFamily="2" charset="-122"/>
              </a:rPr>
              <a:t>。</a:t>
            </a:r>
            <a:r>
              <a:rPr lang="zh-CN" altLang="en-US" sz="2800" dirty="0">
                <a:latin typeface="Times New Roman" panose="02020603050405020304" pitchFamily="18" charset="0"/>
              </a:rPr>
              <a:t> </a:t>
            </a:r>
          </a:p>
        </p:txBody>
      </p:sp>
      <p:grpSp>
        <p:nvGrpSpPr>
          <p:cNvPr id="50179" name="Group 7"/>
          <p:cNvGrpSpPr/>
          <p:nvPr/>
        </p:nvGrpSpPr>
        <p:grpSpPr>
          <a:xfrm>
            <a:off x="457200" y="1371600"/>
            <a:ext cx="2286000" cy="533400"/>
            <a:chOff x="2880" y="864"/>
            <a:chExt cx="1056" cy="336"/>
          </a:xfrm>
        </p:grpSpPr>
        <p:sp>
          <p:nvSpPr>
            <p:cNvPr id="50180" name="Rectangle 8"/>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latin typeface="Times New Roman" panose="02020603050405020304" pitchFamily="18" charset="0"/>
              </a:endParaRPr>
            </a:p>
          </p:txBody>
        </p:sp>
        <p:sp>
          <p:nvSpPr>
            <p:cNvPr id="50181" name="Text Box 9"/>
            <p:cNvSpPr txBox="1"/>
            <p:nvPr/>
          </p:nvSpPr>
          <p:spPr>
            <a:xfrm>
              <a:off x="2880" y="864"/>
              <a:ext cx="1008" cy="327"/>
            </a:xfrm>
            <a:prstGeom prst="rect">
              <a:avLst/>
            </a:prstGeom>
            <a:noFill/>
            <a:ln w="9525">
              <a:noFill/>
            </a:ln>
          </p:spPr>
          <p:txBody>
            <a:bodyPr anchor="t">
              <a:spAutoFit/>
            </a:bodyPr>
            <a:lstStyle/>
            <a:p>
              <a:pPr algn="ctr" eaLnBrk="0" hangingPunct="0">
                <a:spcBef>
                  <a:spcPct val="50000"/>
                </a:spcBef>
              </a:pPr>
              <a:r>
                <a:rPr lang="en-US" altLang="zh-CN" sz="2800" dirty="0">
                  <a:solidFill>
                    <a:srgbClr val="FFFFFF"/>
                  </a:solidFill>
                  <a:latin typeface="楷体_GB2312" pitchFamily="1" charset="-122"/>
                  <a:ea typeface="楷体_GB2312" pitchFamily="1" charset="-122"/>
                </a:rPr>
                <a:t>5</a:t>
              </a:r>
              <a:r>
                <a:rPr lang="zh-CN" altLang="en-US" sz="2800" dirty="0">
                  <a:solidFill>
                    <a:srgbClr val="FFFFFF"/>
                  </a:solidFill>
                  <a:latin typeface="楷体_GB2312" pitchFamily="1" charset="-122"/>
                  <a:ea typeface="楷体_GB2312" pitchFamily="1" charset="-122"/>
                </a:rPr>
                <a:t>、自然语言</a:t>
              </a:r>
            </a:p>
          </p:txBody>
        </p:sp>
      </p:grpSp>
      <p:sp>
        <p:nvSpPr>
          <p:cNvPr id="50182" name="Rectangle 21"/>
          <p:cNvSpPr>
            <a:spLocks noGrp="1"/>
          </p:cNvSpPr>
          <p:nvPr>
            <p:ph type="title"/>
          </p:nvPr>
        </p:nvSpPr>
        <p:spPr/>
        <p:txBody>
          <a:bodyPr vert="horz" wrap="square" lIns="92075" tIns="46038" rIns="92075" bIns="46038" anchor="ctr"/>
          <a:lstStyle/>
          <a:p>
            <a:pPr eaLnBrk="1" hangingPunct="1"/>
            <a:r>
              <a:rPr lang="en-US" altLang="zh-CN" b="1" dirty="0"/>
              <a:t>1.2     </a:t>
            </a:r>
            <a:r>
              <a:rPr lang="zh-CN" altLang="en-US" b="1" dirty="0"/>
              <a:t>程序设计语言的演化</a:t>
            </a:r>
            <a:endParaRPr lang="zh-CN" altLang="en-US" b="1" dirty="0">
              <a:solidFill>
                <a:srgbClr val="00808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55654"/>
                                        </p:tgtEl>
                                        <p:attrNameLst>
                                          <p:attrName>style.visibility</p:attrName>
                                        </p:attrNameLst>
                                      </p:cBhvr>
                                      <p:to>
                                        <p:strVal val="visible"/>
                                      </p:to>
                                    </p:set>
                                    <p:animEffect transition="in" filter="dissolve">
                                      <p:cBhvr>
                                        <p:cTn id="7" dur="500"/>
                                        <p:tgtEl>
                                          <p:spTgt spid="155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17</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70658" name="Rectangle 4"/>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endParaRPr lang="zh-CN" altLang="en-US" b="1" dirty="0">
              <a:solidFill>
                <a:srgbClr val="008080"/>
              </a:solidFill>
            </a:endParaRPr>
          </a:p>
        </p:txBody>
      </p:sp>
      <p:grpSp>
        <p:nvGrpSpPr>
          <p:cNvPr id="2" name="Group 16"/>
          <p:cNvGrpSpPr/>
          <p:nvPr/>
        </p:nvGrpSpPr>
        <p:grpSpPr>
          <a:xfrm>
            <a:off x="1979613" y="2420938"/>
            <a:ext cx="2819400" cy="838200"/>
            <a:chOff x="1443" y="1184"/>
            <a:chExt cx="1776" cy="528"/>
          </a:xfrm>
        </p:grpSpPr>
        <p:sp>
          <p:nvSpPr>
            <p:cNvPr id="70660" name="Oval 12"/>
            <p:cNvSpPr/>
            <p:nvPr/>
          </p:nvSpPr>
          <p:spPr>
            <a:xfrm rot="-154421">
              <a:off x="1443" y="1184"/>
              <a:ext cx="1776" cy="528"/>
            </a:xfrm>
            <a:prstGeom prst="ellipse">
              <a:avLst/>
            </a:prstGeom>
            <a:gradFill rotWithShape="0">
              <a:gsLst>
                <a:gs pos="0">
                  <a:srgbClr val="98CFEE"/>
                </a:gs>
                <a:gs pos="50000">
                  <a:srgbClr val="DAE5A5"/>
                </a:gs>
                <a:gs pos="100000">
                  <a:srgbClr val="98CFEE"/>
                </a:gs>
              </a:gsLst>
              <a:lin ang="2700000" scaled="1"/>
              <a:tileRect/>
            </a:gradFill>
            <a:ln w="9525"/>
            <a:scene3d>
              <a:camera prst="legacyObliqueTopRight">
                <a:rot lat="19800000" lon="20700000" rev="0"/>
              </a:camera>
              <a:lightRig rig="legacyFlat3" dir="b"/>
            </a:scene3d>
            <a:sp3d extrusionH="227000" prstMaterial="legacyMatte">
              <a:bevelT w="13500" h="13500" prst="angle"/>
              <a:bevelB w="13500" h="13500" prst="angle"/>
              <a:extrusionClr>
                <a:srgbClr val="DAE5A5"/>
              </a:extrusionClr>
            </a:sp3d>
          </p:spPr>
          <p:txBody>
            <a:bodyPr wrap="none" anchor="ctr">
              <a:flatTx/>
            </a:bodyP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61" name="Text Box 15"/>
            <p:cNvSpPr txBox="1"/>
            <p:nvPr/>
          </p:nvSpPr>
          <p:spPr>
            <a:xfrm>
              <a:off x="1728" y="1296"/>
              <a:ext cx="1152"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过程化语言</a:t>
              </a:r>
            </a:p>
          </p:txBody>
        </p:sp>
      </p:grpSp>
      <p:grpSp>
        <p:nvGrpSpPr>
          <p:cNvPr id="3" name="Group 18"/>
          <p:cNvGrpSpPr/>
          <p:nvPr/>
        </p:nvGrpSpPr>
        <p:grpSpPr>
          <a:xfrm>
            <a:off x="379413" y="3563938"/>
            <a:ext cx="2819400" cy="838200"/>
            <a:chOff x="1440" y="2016"/>
            <a:chExt cx="1776" cy="528"/>
          </a:xfrm>
        </p:grpSpPr>
        <p:sp>
          <p:nvSpPr>
            <p:cNvPr id="70663" name="Oval 13"/>
            <p:cNvSpPr/>
            <p:nvPr/>
          </p:nvSpPr>
          <p:spPr>
            <a:xfrm>
              <a:off x="1440" y="2016"/>
              <a:ext cx="1776" cy="528"/>
            </a:xfrm>
            <a:prstGeom prst="ellipse">
              <a:avLst/>
            </a:prstGeom>
            <a:gradFill rotWithShape="0">
              <a:gsLst>
                <a:gs pos="0">
                  <a:srgbClr val="CBCBCB"/>
                </a:gs>
                <a:gs pos="50000">
                  <a:srgbClr val="EAEAEA"/>
                </a:gs>
                <a:gs pos="100000">
                  <a:srgbClr val="CBCBCB"/>
                </a:gs>
              </a:gsLst>
              <a:lin ang="2700000" scaled="1"/>
              <a:tileRect/>
            </a:gradFill>
            <a:ln w="9525">
              <a:noFill/>
            </a:ln>
            <a:effectLst>
              <a:outerShdw dist="52363" dir="4557825" algn="ctr" rotWithShape="0">
                <a:schemeClr val="bg2"/>
              </a:outerShdw>
            </a:effectLst>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64" name="Text Box 17"/>
            <p:cNvSpPr txBox="1"/>
            <p:nvPr/>
          </p:nvSpPr>
          <p:spPr>
            <a:xfrm>
              <a:off x="1536" y="2112"/>
              <a:ext cx="1488"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面向对象语言</a:t>
              </a:r>
            </a:p>
          </p:txBody>
        </p:sp>
      </p:grpSp>
      <p:grpSp>
        <p:nvGrpSpPr>
          <p:cNvPr id="4" name="Group 20"/>
          <p:cNvGrpSpPr/>
          <p:nvPr/>
        </p:nvGrpSpPr>
        <p:grpSpPr>
          <a:xfrm>
            <a:off x="4716463" y="2924175"/>
            <a:ext cx="2819400" cy="990600"/>
            <a:chOff x="1440" y="2736"/>
            <a:chExt cx="1776" cy="624"/>
          </a:xfrm>
        </p:grpSpPr>
        <p:pic>
          <p:nvPicPr>
            <p:cNvPr id="70666" name="Picture 14" descr="11"/>
            <p:cNvPicPr>
              <a:picLocks noChangeAspect="1"/>
            </p:cNvPicPr>
            <p:nvPr/>
          </p:nvPicPr>
          <p:blipFill>
            <a:blip r:embed="rId2">
              <a:clrChange>
                <a:clrFrom>
                  <a:srgbClr val="FFFFFF"/>
                </a:clrFrom>
                <a:clrTo>
                  <a:srgbClr val="FFFFFF">
                    <a:alpha val="0"/>
                  </a:srgbClr>
                </a:clrTo>
              </a:clrChange>
            </a:blip>
            <a:stretch>
              <a:fillRect/>
            </a:stretch>
          </p:blipFill>
          <p:spPr>
            <a:xfrm>
              <a:off x="1440" y="2736"/>
              <a:ext cx="1776" cy="624"/>
            </a:xfrm>
            <a:prstGeom prst="rect">
              <a:avLst/>
            </a:prstGeom>
            <a:noFill/>
            <a:ln w="9525">
              <a:noFill/>
            </a:ln>
          </p:spPr>
        </p:pic>
        <p:sp>
          <p:nvSpPr>
            <p:cNvPr id="70667" name="Text Box 19"/>
            <p:cNvSpPr txBox="1"/>
            <p:nvPr/>
          </p:nvSpPr>
          <p:spPr>
            <a:xfrm>
              <a:off x="1680" y="2880"/>
              <a:ext cx="1392"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函数型语言</a:t>
              </a:r>
            </a:p>
          </p:txBody>
        </p:sp>
      </p:grpSp>
      <p:grpSp>
        <p:nvGrpSpPr>
          <p:cNvPr id="5" name="Group 22"/>
          <p:cNvGrpSpPr/>
          <p:nvPr/>
        </p:nvGrpSpPr>
        <p:grpSpPr>
          <a:xfrm>
            <a:off x="1547813" y="4508500"/>
            <a:ext cx="2743200" cy="912813"/>
            <a:chOff x="1440" y="3504"/>
            <a:chExt cx="1680" cy="575"/>
          </a:xfrm>
        </p:grpSpPr>
        <p:grpSp>
          <p:nvGrpSpPr>
            <p:cNvPr id="70669" name="Group 9"/>
            <p:cNvGrpSpPr/>
            <p:nvPr/>
          </p:nvGrpSpPr>
          <p:grpSpPr>
            <a:xfrm>
              <a:off x="1440" y="3504"/>
              <a:ext cx="1680" cy="575"/>
              <a:chOff x="2214" y="306"/>
              <a:chExt cx="1488" cy="372"/>
            </a:xfrm>
          </p:grpSpPr>
          <p:sp>
            <p:nvSpPr>
              <p:cNvPr id="70670" name="Oval 10"/>
              <p:cNvSpPr/>
              <p:nvPr/>
            </p:nvSpPr>
            <p:spPr>
              <a:xfrm>
                <a:off x="2214" y="342"/>
                <a:ext cx="1488" cy="336"/>
              </a:xfrm>
              <a:prstGeom prst="ellipse">
                <a:avLst/>
              </a:prstGeom>
              <a:solidFill>
                <a:srgbClr val="CC9900"/>
              </a:solidFill>
              <a:ln w="9525">
                <a:noFill/>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71" name="Oval 11"/>
              <p:cNvSpPr/>
              <p:nvPr/>
            </p:nvSpPr>
            <p:spPr>
              <a:xfrm>
                <a:off x="2214" y="306"/>
                <a:ext cx="1488" cy="336"/>
              </a:xfrm>
              <a:prstGeom prst="ellipse">
                <a:avLst/>
              </a:prstGeom>
              <a:gradFill rotWithShape="0">
                <a:gsLst>
                  <a:gs pos="0">
                    <a:srgbClr val="CC9900"/>
                  </a:gs>
                  <a:gs pos="100000">
                    <a:srgbClr val="5E4700"/>
                  </a:gs>
                </a:gsLst>
                <a:lin ang="2700000" scaled="1"/>
                <a:tileRect/>
              </a:gradFill>
              <a:ln w="9525">
                <a:noFill/>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sp>
          <p:nvSpPr>
            <p:cNvPr id="70672" name="Text Box 21"/>
            <p:cNvSpPr txBox="1"/>
            <p:nvPr/>
          </p:nvSpPr>
          <p:spPr>
            <a:xfrm>
              <a:off x="1584" y="3600"/>
              <a:ext cx="1392"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说明性语言</a:t>
              </a:r>
            </a:p>
          </p:txBody>
        </p:sp>
      </p:grpSp>
      <p:grpSp>
        <p:nvGrpSpPr>
          <p:cNvPr id="7" name="Group 25"/>
          <p:cNvGrpSpPr/>
          <p:nvPr/>
        </p:nvGrpSpPr>
        <p:grpSpPr>
          <a:xfrm>
            <a:off x="4859338" y="4292600"/>
            <a:ext cx="2667000" cy="762000"/>
            <a:chOff x="3168" y="1920"/>
            <a:chExt cx="1680" cy="480"/>
          </a:xfrm>
        </p:grpSpPr>
        <p:sp>
          <p:nvSpPr>
            <p:cNvPr id="70674" name="Oval 23"/>
            <p:cNvSpPr/>
            <p:nvPr/>
          </p:nvSpPr>
          <p:spPr>
            <a:xfrm>
              <a:off x="3168" y="1920"/>
              <a:ext cx="1680" cy="480"/>
            </a:xfrm>
            <a:prstGeom prst="ellipse">
              <a:avLst/>
            </a:prstGeom>
            <a:solidFill>
              <a:srgbClr val="EADBB0"/>
            </a:solidFill>
            <a:ln w="9525">
              <a:noFill/>
            </a:ln>
            <a:effectLst>
              <a:outerShdw dist="38100" dir="5400000" algn="ctr" rotWithShape="0">
                <a:schemeClr val="bg2"/>
              </a:outerShdw>
            </a:effectLst>
          </p:spPr>
          <p:txBody>
            <a:bodyPr anchor="ctr">
              <a:spAutoFit/>
            </a:bodyP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0675" name="Text Box 24"/>
            <p:cNvSpPr txBox="1"/>
            <p:nvPr/>
          </p:nvSpPr>
          <p:spPr>
            <a:xfrm>
              <a:off x="3456" y="1968"/>
              <a:ext cx="1008" cy="288"/>
            </a:xfrm>
            <a:prstGeom prst="rect">
              <a:avLst/>
            </a:prstGeom>
            <a:noFill/>
            <a:ln w="9525">
              <a:noFill/>
            </a:ln>
          </p:spPr>
          <p:txBody>
            <a:bodyPr anchor="t">
              <a:spAutoFit/>
            </a:bodyPr>
            <a:lstStyle/>
            <a:p>
              <a:pPr algn="ctr" eaLnBrk="0" hangingPunct="0">
                <a:spcBef>
                  <a:spcPct val="50000"/>
                </a:spcBef>
              </a:pPr>
              <a:r>
                <a:rPr lang="zh-CN" altLang="en-US" sz="2400" dirty="0">
                  <a:solidFill>
                    <a:srgbClr val="000000"/>
                  </a:solidFill>
                  <a:latin typeface="Times New Roman" panose="02020603050405020304" pitchFamily="18" charset="0"/>
                  <a:ea typeface="宋体" panose="02010600030101010101" pitchFamily="2" charset="-122"/>
                </a:rPr>
                <a:t>专用语言</a:t>
              </a:r>
            </a:p>
          </p:txBody>
        </p:sp>
      </p:grpSp>
      <p:sp>
        <p:nvSpPr>
          <p:cNvPr id="70676" name="Rectangle 26"/>
          <p:cNvSpPr>
            <a:spLocks noGrp="1"/>
          </p:cNvSpPr>
          <p:nvPr>
            <p:ph idx="1"/>
          </p:nvPr>
        </p:nvSpPr>
        <p:spPr>
          <a:xfrm>
            <a:off x="250825" y="1341438"/>
            <a:ext cx="8569325" cy="989012"/>
          </a:xfrm>
        </p:spPr>
        <p:txBody>
          <a:bodyPr vert="horz" wrap="square" lIns="91440" tIns="45720" rIns="91440" bIns="45720" anchor="t"/>
          <a:lstStyle/>
          <a:p>
            <a:pPr eaLnBrk="1" hangingPunct="1"/>
            <a:r>
              <a:rPr lang="zh-CN" altLang="en-US" b="1" dirty="0"/>
              <a:t>根据人们对于求解问题的方法进行分类可以将程序设计语言进行分类。</a:t>
            </a:r>
          </a:p>
          <a:p>
            <a:pPr eaLnBrk="1" hangingPunct="1"/>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blinds(horizontal)">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18</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252932" name="Rectangle 4"/>
          <p:cNvSpPr>
            <a:spLocks noGrp="1"/>
          </p:cNvSpPr>
          <p:nvPr>
            <p:ph idx="1"/>
          </p:nvPr>
        </p:nvSpPr>
        <p:spPr>
          <a:xfrm>
            <a:off x="468313" y="2205038"/>
            <a:ext cx="8331200" cy="4103687"/>
          </a:xfrm>
        </p:spPr>
        <p:txBody>
          <a:bodyPr vert="horz" wrap="square" lIns="92075" tIns="46038" rIns="92075" bIns="46038" anchor="t"/>
          <a:lstStyle/>
          <a:p>
            <a:pPr eaLnBrk="1" hangingPunct="1">
              <a:buNone/>
            </a:pPr>
            <a:r>
              <a:rPr lang="zh-CN" altLang="en-US" b="1" dirty="0"/>
              <a:t>基于冯</a:t>
            </a:r>
            <a:r>
              <a:rPr lang="en-US" altLang="zh-CN" b="1" dirty="0">
                <a:latin typeface="宋体" panose="02010600030101010101" pitchFamily="2" charset="-122"/>
              </a:rPr>
              <a:t>·</a:t>
            </a:r>
            <a:r>
              <a:rPr lang="zh-CN" altLang="en-US" b="1" dirty="0"/>
              <a:t>诺依曼结构描述计算过程的语言。</a:t>
            </a:r>
          </a:p>
          <a:p>
            <a:pPr eaLnBrk="1" hangingPunct="1">
              <a:buNone/>
            </a:pPr>
            <a:r>
              <a:rPr lang="zh-CN" altLang="en-US" b="1" dirty="0"/>
              <a:t>面向过程的程序设计特点：</a:t>
            </a:r>
          </a:p>
          <a:p>
            <a:pPr eaLnBrk="1" hangingPunct="1">
              <a:buClr>
                <a:srgbClr val="6600FF"/>
              </a:buClr>
              <a:buSzPct val="50000"/>
              <a:buFont typeface="Wingdings" panose="05000000000000000000" pitchFamily="2" charset="2"/>
              <a:buChar char="u"/>
            </a:pPr>
            <a:r>
              <a:rPr lang="zh-CN" altLang="en-US" b="1" dirty="0"/>
              <a:t>面向动作（活动）。求解问题（程序）是一个复杂的计算过程，该计算过程可被分解成若干个动作（活动）。即：</a:t>
            </a:r>
            <a:r>
              <a:rPr lang="zh-CN" altLang="en-US" b="1" dirty="0">
                <a:solidFill>
                  <a:srgbClr val="FF3300"/>
                </a:solidFill>
              </a:rPr>
              <a:t>一个计算过程可看做是一系列动作。</a:t>
            </a:r>
          </a:p>
          <a:p>
            <a:pPr eaLnBrk="1" hangingPunct="1">
              <a:buClr>
                <a:srgbClr val="6600FF"/>
              </a:buClr>
              <a:buSzPct val="50000"/>
              <a:buFont typeface="Wingdings" panose="05000000000000000000" pitchFamily="2" charset="2"/>
              <a:buChar char="u"/>
            </a:pPr>
            <a:r>
              <a:rPr lang="zh-CN" altLang="en-US" b="1" dirty="0"/>
              <a:t>一个动作可以是一条语句（基本操作）或是一个可以继续分解的子过程（子程序）。</a:t>
            </a:r>
          </a:p>
        </p:txBody>
      </p:sp>
      <p:grpSp>
        <p:nvGrpSpPr>
          <p:cNvPr id="71683" name="Group 5"/>
          <p:cNvGrpSpPr/>
          <p:nvPr/>
        </p:nvGrpSpPr>
        <p:grpSpPr>
          <a:xfrm>
            <a:off x="457200" y="1371600"/>
            <a:ext cx="2971800" cy="544513"/>
            <a:chOff x="2880" y="864"/>
            <a:chExt cx="1056" cy="336"/>
          </a:xfrm>
        </p:grpSpPr>
        <p:sp>
          <p:nvSpPr>
            <p:cNvPr id="71684" name="Rectangle 6"/>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1685" name="Text Box 7"/>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1、</a:t>
              </a:r>
              <a:r>
                <a:rPr lang="zh-CN" altLang="en-US" sz="2800" dirty="0">
                  <a:solidFill>
                    <a:srgbClr val="FFFFFF"/>
                  </a:solidFill>
                  <a:latin typeface="宋体" panose="02010600030101010101" pitchFamily="2" charset="-122"/>
                  <a:ea typeface="宋体" panose="02010600030101010101" pitchFamily="2" charset="-122"/>
                </a:rPr>
                <a:t>过程化语言</a:t>
              </a:r>
              <a:r>
                <a:rPr lang="zh-CN" altLang="en-US" sz="2800" dirty="0">
                  <a:solidFill>
                    <a:srgbClr val="FFFFFF"/>
                  </a:solidFill>
                  <a:latin typeface="楷体_GB2312" pitchFamily="1" charset="-122"/>
                  <a:ea typeface="楷体_GB2312" pitchFamily="1" charset="-122"/>
                </a:rPr>
                <a:t> </a:t>
              </a:r>
            </a:p>
          </p:txBody>
        </p:sp>
      </p:grpSp>
      <p:sp>
        <p:nvSpPr>
          <p:cNvPr id="71686" name="Rectangle 8"/>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2932">
                                            <p:txEl>
                                              <p:pRg st="0" end="0"/>
                                            </p:txEl>
                                          </p:spTgt>
                                        </p:tgtEl>
                                        <p:attrNameLst>
                                          <p:attrName>style.visibility</p:attrName>
                                        </p:attrNameLst>
                                      </p:cBhvr>
                                      <p:to>
                                        <p:strVal val="visible"/>
                                      </p:to>
                                    </p:set>
                                    <p:animEffect transition="in" filter="blinds(horizontal)">
                                      <p:cBhvr>
                                        <p:cTn id="7" dur="500"/>
                                        <p:tgtEl>
                                          <p:spTgt spid="2529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52932">
                                            <p:txEl>
                                              <p:pRg st="1" end="1"/>
                                            </p:txEl>
                                          </p:spTgt>
                                        </p:tgtEl>
                                        <p:attrNameLst>
                                          <p:attrName>style.visibility</p:attrName>
                                        </p:attrNameLst>
                                      </p:cBhvr>
                                      <p:to>
                                        <p:strVal val="visible"/>
                                      </p:to>
                                    </p:set>
                                    <p:animEffect transition="in" filter="blinds(horizontal)">
                                      <p:cBhvr>
                                        <p:cTn id="12" dur="500"/>
                                        <p:tgtEl>
                                          <p:spTgt spid="2529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52932">
                                            <p:txEl>
                                              <p:pRg st="2" end="2"/>
                                            </p:txEl>
                                          </p:spTgt>
                                        </p:tgtEl>
                                        <p:attrNameLst>
                                          <p:attrName>style.visibility</p:attrName>
                                        </p:attrNameLst>
                                      </p:cBhvr>
                                      <p:to>
                                        <p:strVal val="visible"/>
                                      </p:to>
                                    </p:set>
                                    <p:animEffect transition="in" filter="blinds(horizontal)">
                                      <p:cBhvr>
                                        <p:cTn id="17" dur="500"/>
                                        <p:tgtEl>
                                          <p:spTgt spid="2529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2932">
                                            <p:txEl>
                                              <p:pRg st="3" end="3"/>
                                            </p:txEl>
                                          </p:spTgt>
                                        </p:tgtEl>
                                        <p:attrNameLst>
                                          <p:attrName>style.visibility</p:attrName>
                                        </p:attrNameLst>
                                      </p:cBhvr>
                                      <p:to>
                                        <p:strVal val="visible"/>
                                      </p:to>
                                    </p:set>
                                    <p:animEffect transition="in" filter="blinds(horizontal)">
                                      <p:cBhvr>
                                        <p:cTn id="22" dur="500"/>
                                        <p:tgtEl>
                                          <p:spTgt spid="25293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2"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19</a:t>
            </a:fld>
            <a:endParaRPr lang="zh-CN" altLang="en-US" sz="1400" dirty="0">
              <a:solidFill>
                <a:srgbClr val="000000"/>
              </a:solidFill>
              <a:latin typeface="Times New Roman" panose="02020603050405020304" pitchFamily="18" charset="0"/>
              <a:ea typeface="宋体" panose="02010600030101010101" pitchFamily="2" charset="-122"/>
            </a:endParaRPr>
          </a:p>
        </p:txBody>
      </p:sp>
      <p:grpSp>
        <p:nvGrpSpPr>
          <p:cNvPr id="74754" name="Group 47"/>
          <p:cNvGrpSpPr/>
          <p:nvPr/>
        </p:nvGrpSpPr>
        <p:grpSpPr>
          <a:xfrm>
            <a:off x="533400" y="1219200"/>
            <a:ext cx="8077200" cy="5089525"/>
            <a:chOff x="-3" y="-3"/>
            <a:chExt cx="3346" cy="1926"/>
          </a:xfrm>
        </p:grpSpPr>
        <p:grpSp>
          <p:nvGrpSpPr>
            <p:cNvPr id="74755" name="Group 45"/>
            <p:cNvGrpSpPr/>
            <p:nvPr/>
          </p:nvGrpSpPr>
          <p:grpSpPr>
            <a:xfrm>
              <a:off x="0" y="0"/>
              <a:ext cx="3340" cy="1920"/>
              <a:chOff x="0" y="0"/>
              <a:chExt cx="3340" cy="1920"/>
            </a:xfrm>
          </p:grpSpPr>
          <p:grpSp>
            <p:nvGrpSpPr>
              <p:cNvPr id="74756" name="Group 26"/>
              <p:cNvGrpSpPr/>
              <p:nvPr/>
            </p:nvGrpSpPr>
            <p:grpSpPr>
              <a:xfrm>
                <a:off x="0" y="0"/>
                <a:ext cx="734" cy="384"/>
                <a:chOff x="0" y="0"/>
                <a:chExt cx="734" cy="384"/>
              </a:xfrm>
            </p:grpSpPr>
            <p:sp>
              <p:nvSpPr>
                <p:cNvPr id="74757" name="Rectangle 15"/>
                <p:cNvSpPr/>
                <p:nvPr/>
              </p:nvSpPr>
              <p:spPr>
                <a:xfrm>
                  <a:off x="43" y="0"/>
                  <a:ext cx="648" cy="384"/>
                </a:xfrm>
                <a:prstGeom prst="rect">
                  <a:avLst/>
                </a:prstGeom>
                <a:noFill/>
                <a:ln w="9525">
                  <a:noFill/>
                </a:ln>
              </p:spPr>
              <p:txBody>
                <a:bodyPr anchor="t"/>
                <a:lstStyle/>
                <a:p>
                  <a:pPr defTabSz="914400" eaLnBrk="0" hangingPunct="0">
                    <a:tabLst>
                      <a:tab pos="269875" algn="l"/>
                    </a:tabLst>
                  </a:pPr>
                  <a:r>
                    <a:rPr lang="en-US" altLang="zh-CN" sz="2000" dirty="0">
                      <a:solidFill>
                        <a:srgbClr val="000000"/>
                      </a:solidFill>
                      <a:latin typeface="Times New Roman" panose="02020603050405020304" pitchFamily="18" charset="0"/>
                    </a:rPr>
                    <a:t>   FORTRAN      </a:t>
                  </a:r>
                </a:p>
                <a:p>
                  <a:pPr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74758" name="Rectangle 25"/>
                <p:cNvSpPr/>
                <p:nvPr/>
              </p:nvSpPr>
              <p:spPr>
                <a:xfrm>
                  <a:off x="0" y="0"/>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59" name="Group 28"/>
              <p:cNvGrpSpPr/>
              <p:nvPr/>
            </p:nvGrpSpPr>
            <p:grpSpPr>
              <a:xfrm>
                <a:off x="734" y="0"/>
                <a:ext cx="2606" cy="384"/>
                <a:chOff x="734" y="0"/>
                <a:chExt cx="2606" cy="384"/>
              </a:xfrm>
            </p:grpSpPr>
            <p:sp>
              <p:nvSpPr>
                <p:cNvPr id="74760" name="Rectangle 16"/>
                <p:cNvSpPr/>
                <p:nvPr/>
              </p:nvSpPr>
              <p:spPr>
                <a:xfrm>
                  <a:off x="777" y="0"/>
                  <a:ext cx="2520" cy="384"/>
                </a:xfrm>
                <a:prstGeom prst="rect">
                  <a:avLst/>
                </a:prstGeom>
                <a:noFill/>
                <a:ln w="9525">
                  <a:noFill/>
                </a:ln>
              </p:spPr>
              <p:txBody>
                <a:bodyPr anchor="t"/>
                <a:lstStyle/>
                <a:p>
                  <a:pPr eaLnBrk="0" hangingPunct="0"/>
                  <a:r>
                    <a:rPr lang="zh-CN" altLang="en-US" sz="2000" dirty="0">
                      <a:solidFill>
                        <a:srgbClr val="6600FF"/>
                      </a:solidFill>
                      <a:latin typeface="宋体" panose="02010600030101010101" pitchFamily="2" charset="-122"/>
                      <a:ea typeface="宋体" panose="02010600030101010101" pitchFamily="2" charset="-122"/>
                    </a:rPr>
                    <a:t>第一个高级语言</a:t>
                  </a:r>
                  <a:r>
                    <a:rPr lang="zh-CN" altLang="en-US" sz="2000" dirty="0">
                      <a:solidFill>
                        <a:srgbClr val="000000"/>
                      </a:solidFill>
                      <a:latin typeface="Times New Roman" panose="02020603050405020304" pitchFamily="18" charset="0"/>
                      <a:ea typeface="宋体" panose="02010600030101010101" pitchFamily="2" charset="-122"/>
                    </a:rPr>
                    <a:t> ，由</a:t>
                  </a:r>
                  <a:r>
                    <a:rPr lang="en-US" altLang="zh-CN" sz="2000" dirty="0">
                      <a:solidFill>
                        <a:srgbClr val="000000"/>
                      </a:solidFill>
                      <a:latin typeface="Times New Roman" panose="02020603050405020304" pitchFamily="18" charset="0"/>
                    </a:rPr>
                    <a:t>Jack Backus</a:t>
                  </a:r>
                  <a:r>
                    <a:rPr lang="zh-CN" altLang="en-US" sz="2000" dirty="0">
                      <a:solidFill>
                        <a:srgbClr val="000000"/>
                      </a:solidFill>
                      <a:latin typeface="宋体" panose="02010600030101010101" pitchFamily="2" charset="-122"/>
                      <a:ea typeface="宋体" panose="02010600030101010101" pitchFamily="2" charset="-122"/>
                    </a:rPr>
                    <a:t>领导下的一批</a:t>
                  </a:r>
                  <a:r>
                    <a:rPr lang="en-US" altLang="zh-CN" sz="2000" dirty="0">
                      <a:solidFill>
                        <a:srgbClr val="000000"/>
                      </a:solidFill>
                      <a:latin typeface="Times New Roman" panose="02020603050405020304" pitchFamily="18" charset="0"/>
                    </a:rPr>
                    <a:t>IBM</a:t>
                  </a:r>
                  <a:r>
                    <a:rPr lang="zh-CN" altLang="en-US" sz="2000" dirty="0">
                      <a:solidFill>
                        <a:srgbClr val="000000"/>
                      </a:solidFill>
                      <a:latin typeface="宋体" panose="02010600030101010101" pitchFamily="2" charset="-122"/>
                      <a:ea typeface="宋体" panose="02010600030101010101" pitchFamily="2" charset="-122"/>
                    </a:rPr>
                    <a:t>工程师设计</a:t>
                  </a:r>
                  <a:r>
                    <a:rPr lang="zh-CN" altLang="en-US" sz="2000" dirty="0">
                      <a:solidFill>
                        <a:srgbClr val="000000"/>
                      </a:solidFill>
                      <a:latin typeface="Times New Roman" panose="02020603050405020304" pitchFamily="18" charset="0"/>
                      <a:ea typeface="宋体" panose="02010600030101010101" pitchFamily="2" charset="-122"/>
                    </a:rPr>
                    <a:t> ，1957年</a:t>
                  </a:r>
                  <a:r>
                    <a:rPr lang="zh-CN" altLang="en-US" sz="2000" dirty="0">
                      <a:solidFill>
                        <a:srgbClr val="000000"/>
                      </a:solidFill>
                      <a:latin typeface="宋体" panose="02010600030101010101" pitchFamily="2" charset="-122"/>
                      <a:ea typeface="宋体" panose="02010600030101010101" pitchFamily="2" charset="-122"/>
                    </a:rPr>
                    <a:t>商用</a:t>
                  </a:r>
                  <a:r>
                    <a:rPr lang="zh-CN" altLang="en-US" sz="2000" dirty="0">
                      <a:solidFill>
                        <a:srgbClr val="000000"/>
                      </a:solidFill>
                      <a:latin typeface="Times New Roman" panose="02020603050405020304" pitchFamily="18" charset="0"/>
                      <a:ea typeface="宋体" panose="02010600030101010101" pitchFamily="2" charset="-122"/>
                    </a:rPr>
                    <a:t> 。适用于科学计算。</a:t>
                  </a:r>
                </a:p>
                <a:p>
                  <a:pPr eaLnBrk="0" hangingPunct="0"/>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74761" name="Rectangle 27"/>
                <p:cNvSpPr/>
                <p:nvPr/>
              </p:nvSpPr>
              <p:spPr>
                <a:xfrm>
                  <a:off x="734" y="0"/>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62" name="Group 30"/>
              <p:cNvGrpSpPr/>
              <p:nvPr/>
            </p:nvGrpSpPr>
            <p:grpSpPr>
              <a:xfrm>
                <a:off x="0" y="384"/>
                <a:ext cx="734" cy="384"/>
                <a:chOff x="0" y="384"/>
                <a:chExt cx="734" cy="384"/>
              </a:xfrm>
            </p:grpSpPr>
            <p:sp>
              <p:nvSpPr>
                <p:cNvPr id="74763" name="Rectangle 17"/>
                <p:cNvSpPr/>
                <p:nvPr/>
              </p:nvSpPr>
              <p:spPr>
                <a:xfrm>
                  <a:off x="43" y="384"/>
                  <a:ext cx="648" cy="384"/>
                </a:xfrm>
                <a:prstGeom prst="rect">
                  <a:avLst/>
                </a:prstGeom>
                <a:noFill/>
                <a:ln w="9525">
                  <a:noFill/>
                </a:ln>
              </p:spPr>
              <p:txBody>
                <a:bodyPr anchor="t"/>
                <a:lstStyle/>
                <a:p>
                  <a:pPr defTabSz="914400" eaLnBrk="0" hangingPunct="0">
                    <a:tabLst>
                      <a:tab pos="269875" algn="l"/>
                    </a:tabLst>
                  </a:pPr>
                  <a:r>
                    <a:rPr lang="en-US" altLang="zh-CN" sz="2000" dirty="0">
                      <a:solidFill>
                        <a:srgbClr val="000000"/>
                      </a:solidFill>
                      <a:latin typeface="Times New Roman" panose="02020603050405020304" pitchFamily="18" charset="0"/>
                    </a:rPr>
                    <a:t>    COBOL        </a:t>
                  </a:r>
                </a:p>
                <a:p>
                  <a:pPr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74764" name="Rectangle 29"/>
                <p:cNvSpPr/>
                <p:nvPr/>
              </p:nvSpPr>
              <p:spPr>
                <a:xfrm>
                  <a:off x="0" y="384"/>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65" name="Group 32"/>
              <p:cNvGrpSpPr/>
              <p:nvPr/>
            </p:nvGrpSpPr>
            <p:grpSpPr>
              <a:xfrm>
                <a:off x="734" y="384"/>
                <a:ext cx="2606" cy="384"/>
                <a:chOff x="734" y="384"/>
                <a:chExt cx="2606" cy="384"/>
              </a:xfrm>
            </p:grpSpPr>
            <p:sp>
              <p:nvSpPr>
                <p:cNvPr id="74766" name="Rectangle 18"/>
                <p:cNvSpPr/>
                <p:nvPr/>
              </p:nvSpPr>
              <p:spPr>
                <a:xfrm>
                  <a:off x="777" y="384"/>
                  <a:ext cx="2520" cy="384"/>
                </a:xfrm>
                <a:prstGeom prst="rect">
                  <a:avLst/>
                </a:prstGeom>
                <a:noFill/>
                <a:ln w="9525">
                  <a:noFill/>
                </a:ln>
              </p:spPr>
              <p:txBody>
                <a:bodyPr anchor="t"/>
                <a:lstStyle/>
                <a:p>
                  <a:pPr eaLnBrk="0" hangingPunct="0"/>
                  <a:r>
                    <a:rPr lang="zh-CN" altLang="en-US" sz="2000" dirty="0">
                      <a:solidFill>
                        <a:srgbClr val="000000"/>
                      </a:solidFill>
                      <a:latin typeface="Times New Roman" panose="02020603050405020304" pitchFamily="18" charset="0"/>
                      <a:ea typeface="宋体" panose="02010600030101010101" pitchFamily="2" charset="-122"/>
                    </a:rPr>
                    <a:t>面向商业数据处理的语言。</a:t>
                  </a:r>
                </a:p>
              </p:txBody>
            </p:sp>
            <p:sp>
              <p:nvSpPr>
                <p:cNvPr id="74767" name="Rectangle 31"/>
                <p:cNvSpPr/>
                <p:nvPr/>
              </p:nvSpPr>
              <p:spPr>
                <a:xfrm>
                  <a:off x="734" y="384"/>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68" name="Group 34"/>
              <p:cNvGrpSpPr/>
              <p:nvPr/>
            </p:nvGrpSpPr>
            <p:grpSpPr>
              <a:xfrm>
                <a:off x="0" y="768"/>
                <a:ext cx="734" cy="384"/>
                <a:chOff x="0" y="768"/>
                <a:chExt cx="734" cy="384"/>
              </a:xfrm>
            </p:grpSpPr>
            <p:sp>
              <p:nvSpPr>
                <p:cNvPr id="74769" name="Rectangle 19"/>
                <p:cNvSpPr/>
                <p:nvPr/>
              </p:nvSpPr>
              <p:spPr>
                <a:xfrm>
                  <a:off x="43" y="768"/>
                  <a:ext cx="648" cy="384"/>
                </a:xfrm>
                <a:prstGeom prst="rect">
                  <a:avLst/>
                </a:prstGeom>
                <a:noFill/>
                <a:ln w="9525">
                  <a:noFill/>
                </a:ln>
              </p:spPr>
              <p:txBody>
                <a:bodyPr anchor="t"/>
                <a:lstStyle/>
                <a:p>
                  <a:pPr defTabSz="914400" eaLnBrk="0" hangingPunct="0">
                    <a:tabLst>
                      <a:tab pos="269875" algn="l"/>
                    </a:tabLst>
                  </a:pPr>
                  <a:r>
                    <a:rPr lang="en-US" altLang="zh-CN" sz="2000" dirty="0">
                      <a:solidFill>
                        <a:srgbClr val="000000"/>
                      </a:solidFill>
                      <a:latin typeface="Times New Roman" panose="02020603050405020304" pitchFamily="18" charset="0"/>
                    </a:rPr>
                    <a:t>   PASCAL</a:t>
                  </a:r>
                </a:p>
                <a:p>
                  <a:pPr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74770" name="Rectangle 33"/>
                <p:cNvSpPr/>
                <p:nvPr/>
              </p:nvSpPr>
              <p:spPr>
                <a:xfrm>
                  <a:off x="0" y="768"/>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71" name="Group 36"/>
              <p:cNvGrpSpPr/>
              <p:nvPr/>
            </p:nvGrpSpPr>
            <p:grpSpPr>
              <a:xfrm>
                <a:off x="734" y="768"/>
                <a:ext cx="2606" cy="384"/>
                <a:chOff x="734" y="768"/>
                <a:chExt cx="2606" cy="384"/>
              </a:xfrm>
            </p:grpSpPr>
            <p:sp>
              <p:nvSpPr>
                <p:cNvPr id="74772" name="Rectangle 20"/>
                <p:cNvSpPr/>
                <p:nvPr/>
              </p:nvSpPr>
              <p:spPr>
                <a:xfrm>
                  <a:off x="777" y="768"/>
                  <a:ext cx="2520" cy="384"/>
                </a:xfrm>
                <a:prstGeom prst="rect">
                  <a:avLst/>
                </a:prstGeom>
                <a:noFill/>
                <a:ln w="9525">
                  <a:noFill/>
                </a:ln>
              </p:spPr>
              <p:txBody>
                <a:bodyPr anchor="t"/>
                <a:lstStyle/>
                <a:p>
                  <a:pPr eaLnBrk="0" hangingPunct="0"/>
                  <a:r>
                    <a:rPr lang="zh-CN" altLang="en-US" sz="2000" dirty="0">
                      <a:solidFill>
                        <a:srgbClr val="000000"/>
                      </a:solidFill>
                      <a:latin typeface="Times New Roman" panose="02020603050405020304" pitchFamily="18" charset="0"/>
                      <a:ea typeface="宋体" panose="02010600030101010101" pitchFamily="2" charset="-122"/>
                    </a:rPr>
                    <a:t>1971，</a:t>
                  </a:r>
                  <a:r>
                    <a:rPr lang="en-US" altLang="zh-CN" sz="2000" dirty="0">
                      <a:solidFill>
                        <a:srgbClr val="000000"/>
                      </a:solidFill>
                      <a:latin typeface="Times New Roman" panose="02020603050405020304" pitchFamily="18" charset="0"/>
                    </a:rPr>
                    <a:t>Niklaus Wirth</a:t>
                  </a:r>
                  <a:r>
                    <a:rPr lang="zh-CN" altLang="en-US" sz="2000" dirty="0">
                      <a:solidFill>
                        <a:srgbClr val="000000"/>
                      </a:solidFill>
                      <a:latin typeface="宋体" panose="02010600030101010101" pitchFamily="2" charset="-122"/>
                      <a:ea typeface="宋体" panose="02010600030101010101" pitchFamily="2" charset="-122"/>
                    </a:rPr>
                    <a:t>在瑞士的苏黎士发明。通过强调结构化编程方法来教初学者编程。</a:t>
                  </a:r>
                  <a:r>
                    <a:rPr lang="zh-CN" altLang="en-US" sz="2000" dirty="0">
                      <a:solidFill>
                        <a:srgbClr val="000000"/>
                      </a:solidFill>
                      <a:latin typeface="Times New Roman" panose="02020603050405020304" pitchFamily="18" charset="0"/>
                      <a:ea typeface="宋体" panose="02010600030101010101" pitchFamily="2" charset="-122"/>
                    </a:rPr>
                    <a:t>适用于科研和教学</a:t>
                  </a:r>
                  <a:r>
                    <a:rPr lang="zh-CN" altLang="en-US" sz="2000" dirty="0">
                      <a:solidFill>
                        <a:srgbClr val="000000"/>
                      </a:solidFill>
                      <a:latin typeface="宋体" panose="02010600030101010101" pitchFamily="2" charset="-122"/>
                      <a:ea typeface="宋体" panose="02010600030101010101" pitchFamily="2" charset="-122"/>
                    </a:rPr>
                    <a:t>，但从未在工业界获得广泛的流行。</a:t>
                  </a:r>
                  <a:endParaRPr lang="zh-CN" altLang="en-US" sz="2000" dirty="0">
                    <a:solidFill>
                      <a:srgbClr val="000000"/>
                    </a:solidFill>
                    <a:latin typeface="Times New Roman" panose="02020603050405020304" pitchFamily="18" charset="0"/>
                    <a:ea typeface="宋体" panose="02010600030101010101" pitchFamily="2" charset="-122"/>
                  </a:endParaRPr>
                </a:p>
                <a:p>
                  <a:pPr eaLnBrk="0" hangingPunct="0"/>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74773" name="Rectangle 35"/>
                <p:cNvSpPr/>
                <p:nvPr/>
              </p:nvSpPr>
              <p:spPr>
                <a:xfrm>
                  <a:off x="734" y="768"/>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74" name="Group 38"/>
              <p:cNvGrpSpPr/>
              <p:nvPr/>
            </p:nvGrpSpPr>
            <p:grpSpPr>
              <a:xfrm>
                <a:off x="0" y="1152"/>
                <a:ext cx="734" cy="384"/>
                <a:chOff x="0" y="1152"/>
                <a:chExt cx="734" cy="384"/>
              </a:xfrm>
            </p:grpSpPr>
            <p:sp>
              <p:nvSpPr>
                <p:cNvPr id="74775" name="Rectangle 21"/>
                <p:cNvSpPr/>
                <p:nvPr/>
              </p:nvSpPr>
              <p:spPr>
                <a:xfrm>
                  <a:off x="43" y="1152"/>
                  <a:ext cx="648" cy="384"/>
                </a:xfrm>
                <a:prstGeom prst="rect">
                  <a:avLst/>
                </a:prstGeom>
                <a:noFill/>
                <a:ln w="9525">
                  <a:noFill/>
                </a:ln>
              </p:spPr>
              <p:txBody>
                <a:bodyPr anchor="t"/>
                <a:lstStyle/>
                <a:p>
                  <a:pPr defTabSz="914400" eaLnBrk="0" hangingPunct="0">
                    <a:tabLst>
                      <a:tab pos="269875" algn="l"/>
                    </a:tabLst>
                  </a:pPr>
                  <a:r>
                    <a:rPr lang="en-US" altLang="zh-CN" sz="2000" dirty="0">
                      <a:solidFill>
                        <a:srgbClr val="000000"/>
                      </a:solidFill>
                      <a:latin typeface="Wingdings" panose="05000000000000000000" pitchFamily="2" charset="2"/>
                    </a:rPr>
                    <a:t> </a:t>
                  </a:r>
                  <a:r>
                    <a:rPr lang="en-US" altLang="zh-CN" sz="2000" dirty="0">
                      <a:solidFill>
                        <a:srgbClr val="000000"/>
                      </a:solidFill>
                      <a:latin typeface="Times New Roman" panose="02020603050405020304" pitchFamily="18" charset="0"/>
                    </a:rPr>
                    <a:t> C</a:t>
                  </a:r>
                </a:p>
                <a:p>
                  <a:pPr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74776" name="Rectangle 37"/>
                <p:cNvSpPr/>
                <p:nvPr/>
              </p:nvSpPr>
              <p:spPr>
                <a:xfrm>
                  <a:off x="0" y="1152"/>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77" name="Group 40"/>
              <p:cNvGrpSpPr/>
              <p:nvPr/>
            </p:nvGrpSpPr>
            <p:grpSpPr>
              <a:xfrm>
                <a:off x="734" y="1152"/>
                <a:ext cx="2606" cy="384"/>
                <a:chOff x="734" y="1152"/>
                <a:chExt cx="2606" cy="384"/>
              </a:xfrm>
            </p:grpSpPr>
            <p:sp>
              <p:nvSpPr>
                <p:cNvPr id="74778" name="Rectangle 22"/>
                <p:cNvSpPr/>
                <p:nvPr/>
              </p:nvSpPr>
              <p:spPr>
                <a:xfrm>
                  <a:off x="777" y="1152"/>
                  <a:ext cx="2520" cy="384"/>
                </a:xfrm>
                <a:prstGeom prst="rect">
                  <a:avLst/>
                </a:prstGeom>
                <a:noFill/>
                <a:ln w="9525">
                  <a:noFill/>
                </a:ln>
              </p:spPr>
              <p:txBody>
                <a:bodyPr anchor="t"/>
                <a:lstStyle/>
                <a:p>
                  <a:pPr eaLnBrk="0" hangingPunct="0"/>
                  <a:r>
                    <a:rPr lang="en-US" altLang="zh-CN" sz="2000" dirty="0">
                      <a:solidFill>
                        <a:srgbClr val="000000"/>
                      </a:solidFill>
                      <a:latin typeface="Times New Roman" panose="02020603050405020304" pitchFamily="18" charset="0"/>
                    </a:rPr>
                    <a:t>Dennis Ritchie</a:t>
                  </a:r>
                  <a:r>
                    <a:rPr lang="zh-CN" altLang="en-US" sz="2000" dirty="0">
                      <a:solidFill>
                        <a:srgbClr val="000000"/>
                      </a:solidFill>
                      <a:latin typeface="宋体" panose="02010600030101010101" pitchFamily="2" charset="-122"/>
                      <a:ea typeface="宋体" panose="02010600030101010101" pitchFamily="2" charset="-122"/>
                    </a:rPr>
                    <a:t>在</a:t>
                  </a:r>
                  <a:r>
                    <a:rPr lang="zh-CN" altLang="en-US" sz="2000" dirty="0">
                      <a:solidFill>
                        <a:srgbClr val="000000"/>
                      </a:solidFill>
                      <a:latin typeface="Times New Roman" panose="02020603050405020304" pitchFamily="18" charset="0"/>
                      <a:ea typeface="宋体" panose="02010600030101010101" pitchFamily="2" charset="-122"/>
                    </a:rPr>
                    <a:t>20</a:t>
                  </a:r>
                  <a:r>
                    <a:rPr lang="zh-CN" altLang="en-US" sz="2000" dirty="0">
                      <a:solidFill>
                        <a:srgbClr val="000000"/>
                      </a:solidFill>
                      <a:latin typeface="宋体" panose="02010600030101010101" pitchFamily="2" charset="-122"/>
                      <a:ea typeface="宋体" panose="02010600030101010101" pitchFamily="2" charset="-122"/>
                    </a:rPr>
                    <a:t>世纪</a:t>
                  </a:r>
                  <a:r>
                    <a:rPr lang="zh-CN" altLang="en-US" sz="2000" dirty="0">
                      <a:solidFill>
                        <a:srgbClr val="000000"/>
                      </a:solidFill>
                      <a:latin typeface="Times New Roman" panose="02020603050405020304" pitchFamily="18" charset="0"/>
                      <a:ea typeface="宋体" panose="02010600030101010101" pitchFamily="2" charset="-122"/>
                    </a:rPr>
                    <a:t>70</a:t>
                  </a:r>
                  <a:r>
                    <a:rPr lang="zh-CN" altLang="en-US" sz="2000" dirty="0">
                      <a:solidFill>
                        <a:srgbClr val="000000"/>
                      </a:solidFill>
                      <a:latin typeface="宋体" panose="02010600030101010101" pitchFamily="2" charset="-122"/>
                      <a:ea typeface="宋体" panose="02010600030101010101" pitchFamily="2" charset="-122"/>
                    </a:rPr>
                    <a:t>年代初发明，最初是想用于编写操作系统和系统软件。</a:t>
                  </a:r>
                  <a:r>
                    <a:rPr lang="zh-CN" altLang="en-US" sz="2000" dirty="0">
                      <a:solidFill>
                        <a:srgbClr val="000000"/>
                      </a:solidFill>
                      <a:latin typeface="Times New Roman" panose="02020603050405020304" pitchFamily="18" charset="0"/>
                      <a:ea typeface="宋体" panose="02010600030101010101" pitchFamily="2" charset="-122"/>
                    </a:rPr>
                    <a:t>具有高级数据结构和控制结构，亦可调用底层功能，指令短、高效。</a:t>
                  </a:r>
                </a:p>
                <a:p>
                  <a:pPr eaLnBrk="0" hangingPunct="0"/>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74779" name="Rectangle 39"/>
                <p:cNvSpPr/>
                <p:nvPr/>
              </p:nvSpPr>
              <p:spPr>
                <a:xfrm>
                  <a:off x="734" y="1152"/>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80" name="Group 42"/>
              <p:cNvGrpSpPr/>
              <p:nvPr/>
            </p:nvGrpSpPr>
            <p:grpSpPr>
              <a:xfrm>
                <a:off x="0" y="1536"/>
                <a:ext cx="734" cy="384"/>
                <a:chOff x="0" y="1536"/>
                <a:chExt cx="734" cy="384"/>
              </a:xfrm>
            </p:grpSpPr>
            <p:sp>
              <p:nvSpPr>
                <p:cNvPr id="74781" name="Rectangle 23"/>
                <p:cNvSpPr/>
                <p:nvPr/>
              </p:nvSpPr>
              <p:spPr>
                <a:xfrm>
                  <a:off x="43" y="1536"/>
                  <a:ext cx="648" cy="384"/>
                </a:xfrm>
                <a:prstGeom prst="rect">
                  <a:avLst/>
                </a:prstGeom>
                <a:noFill/>
                <a:ln w="9525">
                  <a:noFill/>
                </a:ln>
              </p:spPr>
              <p:txBody>
                <a:bodyPr anchor="t"/>
                <a:lstStyle/>
                <a:p>
                  <a:pPr defTabSz="914400" eaLnBrk="0" hangingPunct="0">
                    <a:tabLst>
                      <a:tab pos="269875" algn="l"/>
                    </a:tabLst>
                  </a:pPr>
                  <a:r>
                    <a:rPr lang="en-US" altLang="zh-CN" sz="2000" dirty="0">
                      <a:solidFill>
                        <a:srgbClr val="000000"/>
                      </a:solidFill>
                      <a:latin typeface="Times New Roman" panose="02020603050405020304" pitchFamily="18" charset="0"/>
                    </a:rPr>
                    <a:t>    ADA</a:t>
                  </a:r>
                </a:p>
                <a:p>
                  <a:pPr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74782" name="Rectangle 41"/>
                <p:cNvSpPr/>
                <p:nvPr/>
              </p:nvSpPr>
              <p:spPr>
                <a:xfrm>
                  <a:off x="0" y="1536"/>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4783" name="Group 44"/>
              <p:cNvGrpSpPr/>
              <p:nvPr/>
            </p:nvGrpSpPr>
            <p:grpSpPr>
              <a:xfrm>
                <a:off x="734" y="1536"/>
                <a:ext cx="2606" cy="384"/>
                <a:chOff x="734" y="1536"/>
                <a:chExt cx="2606" cy="384"/>
              </a:xfrm>
            </p:grpSpPr>
            <p:sp>
              <p:nvSpPr>
                <p:cNvPr id="74784" name="Rectangle 24"/>
                <p:cNvSpPr/>
                <p:nvPr/>
              </p:nvSpPr>
              <p:spPr>
                <a:xfrm>
                  <a:off x="777" y="1536"/>
                  <a:ext cx="2520" cy="384"/>
                </a:xfrm>
                <a:prstGeom prst="rect">
                  <a:avLst/>
                </a:prstGeom>
                <a:noFill/>
                <a:ln w="9525">
                  <a:noFill/>
                </a:ln>
              </p:spPr>
              <p:txBody>
                <a:bodyPr anchor="t"/>
                <a:lstStyle/>
                <a:p>
                  <a:pPr eaLnBrk="0" hangingPunct="0"/>
                  <a:r>
                    <a:rPr lang="zh-CN" altLang="en-US" sz="2000" dirty="0">
                      <a:solidFill>
                        <a:srgbClr val="000000"/>
                      </a:solidFill>
                      <a:latin typeface="宋体" panose="02010600030101010101" pitchFamily="2" charset="-122"/>
                      <a:ea typeface="宋体" panose="02010600030101010101" pitchFamily="2" charset="-122"/>
                    </a:rPr>
                    <a:t>为美国国防部开发，</a:t>
                  </a:r>
                  <a:r>
                    <a:rPr lang="zh-CN" altLang="en-US" sz="2000" dirty="0">
                      <a:solidFill>
                        <a:srgbClr val="000000"/>
                      </a:solidFill>
                      <a:latin typeface="Times New Roman" panose="02020603050405020304" pitchFamily="18" charset="0"/>
                      <a:ea typeface="宋体" panose="02010600030101010101" pitchFamily="2" charset="-122"/>
                    </a:rPr>
                    <a:t>分布式系统控制语言。</a:t>
                  </a:r>
                </a:p>
              </p:txBody>
            </p:sp>
            <p:sp>
              <p:nvSpPr>
                <p:cNvPr id="74785" name="Rectangle 43"/>
                <p:cNvSpPr/>
                <p:nvPr/>
              </p:nvSpPr>
              <p:spPr>
                <a:xfrm>
                  <a:off x="734" y="1536"/>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sp>
          <p:nvSpPr>
            <p:cNvPr id="74786" name="Rectangle 46"/>
            <p:cNvSpPr/>
            <p:nvPr/>
          </p:nvSpPr>
          <p:spPr>
            <a:xfrm>
              <a:off x="-3" y="-3"/>
              <a:ext cx="3346" cy="1926"/>
            </a:xfrm>
            <a:prstGeom prst="rect">
              <a:avLst/>
            </a:prstGeom>
            <a:noFill/>
            <a:ln w="9525"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sp>
        <p:nvSpPr>
          <p:cNvPr id="74787" name="Rectangle 51"/>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20</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75778" name="Rectangle 4"/>
          <p:cNvSpPr>
            <a:spLocks noGrp="1"/>
          </p:cNvSpPr>
          <p:nvPr>
            <p:ph idx="1"/>
          </p:nvPr>
        </p:nvSpPr>
        <p:spPr>
          <a:xfrm>
            <a:off x="755650" y="2060575"/>
            <a:ext cx="7993063" cy="4537075"/>
          </a:xfrm>
        </p:spPr>
        <p:txBody>
          <a:bodyPr vert="horz" wrap="square" lIns="92075" tIns="46038" rIns="92075" bIns="46038" anchor="t"/>
          <a:lstStyle/>
          <a:p>
            <a:pPr eaLnBrk="1" hangingPunct="1">
              <a:lnSpc>
                <a:spcPct val="90000"/>
              </a:lnSpc>
              <a:buClr>
                <a:srgbClr val="6600FF"/>
              </a:buClr>
              <a:buSzPct val="50000"/>
              <a:buFont typeface="Wingdings" panose="05000000000000000000" pitchFamily="2" charset="2"/>
              <a:buNone/>
            </a:pPr>
            <a:r>
              <a:rPr lang="zh-CN" altLang="en-US" sz="2600" b="1" dirty="0"/>
              <a:t>面向对象基本思想：</a:t>
            </a:r>
          </a:p>
          <a:p>
            <a:pPr eaLnBrk="1" hangingPunct="1">
              <a:lnSpc>
                <a:spcPct val="90000"/>
              </a:lnSpc>
              <a:buClr>
                <a:srgbClr val="6600FF"/>
              </a:buClr>
              <a:buSzPct val="50000"/>
              <a:buFont typeface="Wingdings" panose="05000000000000000000" pitchFamily="2" charset="2"/>
              <a:buChar char="u"/>
            </a:pPr>
            <a:r>
              <a:rPr lang="zh-CN" altLang="en-US" sz="2400" b="1" dirty="0">
                <a:solidFill>
                  <a:schemeClr val="accent2"/>
                </a:solidFill>
              </a:rPr>
              <a:t>从现实世界中客观存在的事物出发</a:t>
            </a:r>
            <a:r>
              <a:rPr lang="zh-CN" altLang="en-US" sz="2400" b="1" dirty="0"/>
              <a:t>来构建软件系统，强调直接以问题域（现实世界）中的事物为中心来思考问题、认识问题，并根据这些事物的本质特征，把它们</a:t>
            </a:r>
            <a:r>
              <a:rPr lang="zh-CN" altLang="en-US" sz="2400" b="1" dirty="0">
                <a:solidFill>
                  <a:srgbClr val="CC3300"/>
                </a:solidFill>
              </a:rPr>
              <a:t>抽象地</a:t>
            </a:r>
            <a:r>
              <a:rPr lang="zh-CN" altLang="en-US" sz="2400" b="1" dirty="0"/>
              <a:t>表示为系统中的对象，作为系统的基本构成单位。</a:t>
            </a:r>
            <a:r>
              <a:rPr lang="en-US" altLang="zh-CN" sz="2400" b="1" dirty="0"/>
              <a:t>(</a:t>
            </a:r>
            <a:r>
              <a:rPr lang="zh-CN" altLang="en-US" sz="2400" b="1" dirty="0">
                <a:solidFill>
                  <a:srgbClr val="FF3300"/>
                </a:solidFill>
              </a:rPr>
              <a:t>对象</a:t>
            </a:r>
            <a:r>
              <a:rPr lang="en-US" altLang="zh-CN" sz="2400" b="1" dirty="0"/>
              <a:t>)</a:t>
            </a:r>
          </a:p>
          <a:p>
            <a:pPr eaLnBrk="1" hangingPunct="1">
              <a:lnSpc>
                <a:spcPct val="90000"/>
              </a:lnSpc>
              <a:buClr>
                <a:srgbClr val="6600FF"/>
              </a:buClr>
              <a:buSzPct val="50000"/>
              <a:buFont typeface="Wingdings" panose="05000000000000000000" pitchFamily="2" charset="2"/>
              <a:buChar char="u"/>
            </a:pPr>
            <a:r>
              <a:rPr lang="zh-CN" altLang="en-US" sz="2400" b="1" dirty="0">
                <a:solidFill>
                  <a:srgbClr val="000000"/>
                </a:solidFill>
                <a:latin typeface="宋体" panose="02010600030101010101" pitchFamily="2" charset="-122"/>
              </a:rPr>
              <a:t>对象包含属性和操作，每一个对象有明确的职责，完成一定的功能。（</a:t>
            </a:r>
            <a:r>
              <a:rPr lang="zh-CN" altLang="en-US" sz="2400" b="1" dirty="0">
                <a:solidFill>
                  <a:srgbClr val="FF3300"/>
                </a:solidFill>
                <a:latin typeface="宋体" panose="02010600030101010101" pitchFamily="2" charset="-122"/>
              </a:rPr>
              <a:t>属性和操作</a:t>
            </a:r>
            <a:r>
              <a:rPr lang="zh-CN" altLang="en-US" sz="2400" b="1" dirty="0">
                <a:solidFill>
                  <a:srgbClr val="000000"/>
                </a:solidFill>
                <a:latin typeface="宋体" panose="02010600030101010101" pitchFamily="2" charset="-122"/>
              </a:rPr>
              <a:t>）</a:t>
            </a:r>
            <a:endParaRPr lang="zh-CN" altLang="en-US" sz="2400" b="1" dirty="0"/>
          </a:p>
          <a:p>
            <a:pPr eaLnBrk="1" hangingPunct="1">
              <a:lnSpc>
                <a:spcPct val="90000"/>
              </a:lnSpc>
              <a:buClr>
                <a:srgbClr val="6600FF"/>
              </a:buClr>
              <a:buSzPct val="50000"/>
              <a:buFont typeface="Wingdings" panose="05000000000000000000" pitchFamily="2" charset="2"/>
              <a:buChar char="u"/>
            </a:pPr>
            <a:r>
              <a:rPr lang="zh-CN" altLang="en-US" sz="2400" b="1" dirty="0">
                <a:solidFill>
                  <a:srgbClr val="000000"/>
                </a:solidFill>
                <a:latin typeface="宋体" panose="02010600030101010101" pitchFamily="2" charset="-122"/>
              </a:rPr>
              <a:t>对象之间不是孤立的，而是具有各种关系。</a:t>
            </a:r>
          </a:p>
          <a:p>
            <a:pPr eaLnBrk="1" hangingPunct="1">
              <a:lnSpc>
                <a:spcPct val="90000"/>
              </a:lnSpc>
              <a:buClr>
                <a:srgbClr val="6600FF"/>
              </a:buClr>
              <a:buSzPct val="50000"/>
              <a:buFont typeface="Wingdings" panose="05000000000000000000" pitchFamily="2" charset="2"/>
              <a:buChar char="u"/>
            </a:pPr>
            <a:r>
              <a:rPr lang="zh-CN" altLang="en-US" sz="2400" b="1" dirty="0">
                <a:solidFill>
                  <a:srgbClr val="000000"/>
                </a:solidFill>
                <a:latin typeface="宋体" panose="02010600030101010101" pitchFamily="2" charset="-122"/>
              </a:rPr>
              <a:t>对象与对象之间通过消息进行通信，相互协作。（</a:t>
            </a:r>
            <a:r>
              <a:rPr lang="zh-CN" altLang="en-US" sz="2400" b="1" dirty="0">
                <a:solidFill>
                  <a:srgbClr val="FF3300"/>
                </a:solidFill>
                <a:latin typeface="宋体" panose="02010600030101010101" pitchFamily="2" charset="-122"/>
              </a:rPr>
              <a:t>消息</a:t>
            </a:r>
            <a:r>
              <a:rPr lang="zh-CN" altLang="en-US" sz="2400" b="1" dirty="0">
                <a:solidFill>
                  <a:srgbClr val="000000"/>
                </a:solidFill>
                <a:latin typeface="宋体" panose="02010600030101010101" pitchFamily="2" charset="-122"/>
              </a:rPr>
              <a:t>）</a:t>
            </a:r>
          </a:p>
          <a:p>
            <a:pPr eaLnBrk="1" hangingPunct="1">
              <a:lnSpc>
                <a:spcPct val="90000"/>
              </a:lnSpc>
              <a:buClr>
                <a:srgbClr val="6600FF"/>
              </a:buClr>
              <a:buSzPct val="50000"/>
              <a:buFont typeface="Wingdings" panose="05000000000000000000" pitchFamily="2" charset="2"/>
              <a:buChar char="u"/>
            </a:pPr>
            <a:r>
              <a:rPr lang="zh-CN" altLang="en-US" sz="2400" b="1" dirty="0">
                <a:solidFill>
                  <a:srgbClr val="000000"/>
                </a:solidFill>
                <a:latin typeface="宋体" panose="02010600030101010101" pitchFamily="2" charset="-122"/>
              </a:rPr>
              <a:t>同类型的对象可以进一步抽象出共性，形成类。（</a:t>
            </a:r>
            <a:r>
              <a:rPr lang="zh-CN" altLang="en-US" sz="2400" b="1" dirty="0">
                <a:solidFill>
                  <a:srgbClr val="FF3300"/>
                </a:solidFill>
                <a:latin typeface="宋体" panose="02010600030101010101" pitchFamily="2" charset="-122"/>
              </a:rPr>
              <a:t>类</a:t>
            </a:r>
            <a:r>
              <a:rPr lang="zh-CN" altLang="en-US" sz="2400" b="1" dirty="0">
                <a:solidFill>
                  <a:srgbClr val="000000"/>
                </a:solidFill>
                <a:latin typeface="宋体" panose="02010600030101010101" pitchFamily="2" charset="-122"/>
              </a:rPr>
              <a:t>）</a:t>
            </a:r>
          </a:p>
        </p:txBody>
      </p:sp>
      <p:grpSp>
        <p:nvGrpSpPr>
          <p:cNvPr id="75779" name="Group 5"/>
          <p:cNvGrpSpPr/>
          <p:nvPr/>
        </p:nvGrpSpPr>
        <p:grpSpPr>
          <a:xfrm>
            <a:off x="468313" y="1341438"/>
            <a:ext cx="3505200" cy="574675"/>
            <a:chOff x="2880" y="864"/>
            <a:chExt cx="1056" cy="336"/>
          </a:xfrm>
        </p:grpSpPr>
        <p:sp>
          <p:nvSpPr>
            <p:cNvPr id="75780" name="Rectangle 6"/>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5781" name="Text Box 7"/>
            <p:cNvSpPr txBox="1"/>
            <p:nvPr/>
          </p:nvSpPr>
          <p:spPr>
            <a:xfrm>
              <a:off x="2880" y="864"/>
              <a:ext cx="1008" cy="304"/>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2、</a:t>
              </a:r>
              <a:r>
                <a:rPr lang="zh-CN" altLang="en-US" sz="2800" dirty="0">
                  <a:solidFill>
                    <a:srgbClr val="FFFFFF"/>
                  </a:solidFill>
                  <a:latin typeface="宋体" panose="02010600030101010101" pitchFamily="2" charset="-122"/>
                  <a:ea typeface="宋体" panose="02010600030101010101" pitchFamily="2" charset="-122"/>
                </a:rPr>
                <a:t>面向对象语言</a:t>
              </a:r>
              <a:r>
                <a:rPr lang="zh-CN" altLang="en-US" sz="2800" dirty="0">
                  <a:solidFill>
                    <a:srgbClr val="FFFFFF"/>
                  </a:solidFill>
                  <a:latin typeface="楷体_GB2312" pitchFamily="1" charset="-122"/>
                  <a:ea typeface="楷体_GB2312" pitchFamily="1" charset="-122"/>
                </a:rPr>
                <a:t> </a:t>
              </a:r>
            </a:p>
          </p:txBody>
        </p:sp>
      </p:grpSp>
      <p:sp>
        <p:nvSpPr>
          <p:cNvPr id="75782" name="Rectangle 8"/>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endParaRPr lang="zh-CN" altLang="en-US" b="1" dirty="0">
              <a:solidFill>
                <a:srgbClr val="008080"/>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21</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77826" name="Rectangle 4"/>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endParaRPr lang="zh-CN" altLang="en-US" b="1" dirty="0">
              <a:solidFill>
                <a:srgbClr val="008080"/>
              </a:solidFill>
            </a:endParaRPr>
          </a:p>
        </p:txBody>
      </p:sp>
      <p:grpSp>
        <p:nvGrpSpPr>
          <p:cNvPr id="77827" name="Group 24"/>
          <p:cNvGrpSpPr/>
          <p:nvPr/>
        </p:nvGrpSpPr>
        <p:grpSpPr>
          <a:xfrm>
            <a:off x="1447800" y="2133600"/>
            <a:ext cx="6705600" cy="2159000"/>
            <a:chOff x="-3" y="-3"/>
            <a:chExt cx="3346" cy="774"/>
          </a:xfrm>
        </p:grpSpPr>
        <p:grpSp>
          <p:nvGrpSpPr>
            <p:cNvPr id="77828" name="Group 22"/>
            <p:cNvGrpSpPr/>
            <p:nvPr/>
          </p:nvGrpSpPr>
          <p:grpSpPr>
            <a:xfrm>
              <a:off x="0" y="0"/>
              <a:ext cx="3340" cy="768"/>
              <a:chOff x="0" y="0"/>
              <a:chExt cx="3340" cy="768"/>
            </a:xfrm>
          </p:grpSpPr>
          <p:grpSp>
            <p:nvGrpSpPr>
              <p:cNvPr id="77829" name="Group 15"/>
              <p:cNvGrpSpPr/>
              <p:nvPr/>
            </p:nvGrpSpPr>
            <p:grpSpPr>
              <a:xfrm>
                <a:off x="0" y="0"/>
                <a:ext cx="734" cy="384"/>
                <a:chOff x="0" y="0"/>
                <a:chExt cx="734" cy="384"/>
              </a:xfrm>
            </p:grpSpPr>
            <p:sp>
              <p:nvSpPr>
                <p:cNvPr id="77830" name="Rectangle 10"/>
                <p:cNvSpPr/>
                <p:nvPr/>
              </p:nvSpPr>
              <p:spPr>
                <a:xfrm>
                  <a:off x="43" y="0"/>
                  <a:ext cx="648" cy="384"/>
                </a:xfrm>
                <a:prstGeom prst="rect">
                  <a:avLst/>
                </a:prstGeom>
                <a:noFill/>
                <a:ln w="9525">
                  <a:noFill/>
                </a:ln>
              </p:spPr>
              <p:txBody>
                <a:bodyPr anchor="t"/>
                <a:lstStyle/>
                <a:p>
                  <a:pPr algn="just" defTabSz="914400" eaLnBrk="0" hangingPunct="0">
                    <a:tabLst>
                      <a:tab pos="269875" algn="l"/>
                    </a:tabLst>
                  </a:pPr>
                  <a:r>
                    <a:rPr lang="en-US" altLang="zh-CN" sz="2000" dirty="0">
                      <a:solidFill>
                        <a:srgbClr val="000000"/>
                      </a:solidFill>
                      <a:latin typeface="Times New Roman" panose="02020603050405020304" pitchFamily="18" charset="0"/>
                    </a:rPr>
                    <a:t>      C++</a:t>
                  </a:r>
                </a:p>
                <a:p>
                  <a:pPr algn="just"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77831" name="Rectangle 14"/>
                <p:cNvSpPr/>
                <p:nvPr/>
              </p:nvSpPr>
              <p:spPr>
                <a:xfrm>
                  <a:off x="0" y="0"/>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7832" name="Group 17"/>
              <p:cNvGrpSpPr/>
              <p:nvPr/>
            </p:nvGrpSpPr>
            <p:grpSpPr>
              <a:xfrm>
                <a:off x="734" y="0"/>
                <a:ext cx="2606" cy="384"/>
                <a:chOff x="734" y="0"/>
                <a:chExt cx="2606" cy="384"/>
              </a:xfrm>
            </p:grpSpPr>
            <p:sp>
              <p:nvSpPr>
                <p:cNvPr id="77833" name="Rectangle 11"/>
                <p:cNvSpPr/>
                <p:nvPr/>
              </p:nvSpPr>
              <p:spPr>
                <a:xfrm>
                  <a:off x="777" y="0"/>
                  <a:ext cx="2520" cy="384"/>
                </a:xfrm>
                <a:prstGeom prst="rect">
                  <a:avLst/>
                </a:prstGeom>
                <a:noFill/>
                <a:ln w="9525">
                  <a:noFill/>
                </a:ln>
              </p:spPr>
              <p:txBody>
                <a:bodyPr anchor="t"/>
                <a:lstStyle/>
                <a:p>
                  <a:pPr algn="just" eaLnBrk="0" hangingPunct="0"/>
                  <a:r>
                    <a:rPr lang="zh-CN" altLang="en-US" sz="2000" dirty="0">
                      <a:solidFill>
                        <a:srgbClr val="000000"/>
                      </a:solidFill>
                      <a:latin typeface="Times New Roman" panose="02020603050405020304" pitchFamily="18" charset="0"/>
                      <a:ea typeface="宋体" panose="02010600030101010101" pitchFamily="2" charset="-122"/>
                    </a:rPr>
                    <a:t>扩展的</a:t>
                  </a:r>
                  <a:r>
                    <a:rPr lang="en-US" altLang="zh-CN" sz="2000" dirty="0">
                      <a:solidFill>
                        <a:srgbClr val="000000"/>
                      </a:solidFill>
                      <a:latin typeface="Times New Roman" panose="02020603050405020304" pitchFamily="18" charset="0"/>
                    </a:rPr>
                    <a:t>C</a:t>
                  </a:r>
                  <a:r>
                    <a:rPr lang="zh-CN" altLang="en-US" sz="2000" dirty="0">
                      <a:solidFill>
                        <a:srgbClr val="000000"/>
                      </a:solidFill>
                      <a:latin typeface="Times New Roman" panose="02020603050405020304" pitchFamily="18" charset="0"/>
                      <a:ea typeface="宋体" panose="02010600030101010101" pitchFamily="2" charset="-122"/>
                    </a:rPr>
                    <a:t>语言，具有了面向对象的特性。</a:t>
                  </a:r>
                </a:p>
                <a:p>
                  <a:pPr algn="just" eaLnBrk="0" hangingPunct="0"/>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77834" name="Rectangle 16"/>
                <p:cNvSpPr/>
                <p:nvPr/>
              </p:nvSpPr>
              <p:spPr>
                <a:xfrm>
                  <a:off x="734" y="0"/>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7835" name="Group 19"/>
              <p:cNvGrpSpPr/>
              <p:nvPr/>
            </p:nvGrpSpPr>
            <p:grpSpPr>
              <a:xfrm>
                <a:off x="0" y="384"/>
                <a:ext cx="734" cy="384"/>
                <a:chOff x="0" y="384"/>
                <a:chExt cx="734" cy="384"/>
              </a:xfrm>
            </p:grpSpPr>
            <p:sp>
              <p:nvSpPr>
                <p:cNvPr id="77836" name="Rectangle 12"/>
                <p:cNvSpPr/>
                <p:nvPr/>
              </p:nvSpPr>
              <p:spPr>
                <a:xfrm>
                  <a:off x="43" y="384"/>
                  <a:ext cx="648" cy="384"/>
                </a:xfrm>
                <a:prstGeom prst="rect">
                  <a:avLst/>
                </a:prstGeom>
                <a:noFill/>
                <a:ln w="9525">
                  <a:noFill/>
                </a:ln>
              </p:spPr>
              <p:txBody>
                <a:bodyPr anchor="t"/>
                <a:lstStyle/>
                <a:p>
                  <a:pPr algn="just" defTabSz="914400" eaLnBrk="0" hangingPunct="0">
                    <a:tabLst>
                      <a:tab pos="269875" algn="l"/>
                    </a:tabLst>
                  </a:pPr>
                  <a:r>
                    <a:rPr lang="en-US" altLang="zh-CN" sz="2000" dirty="0">
                      <a:solidFill>
                        <a:srgbClr val="000000"/>
                      </a:solidFill>
                      <a:latin typeface="Times New Roman" panose="02020603050405020304" pitchFamily="18" charset="0"/>
                    </a:rPr>
                    <a:t>     JAVA</a:t>
                  </a:r>
                </a:p>
                <a:p>
                  <a:pPr algn="just"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77837" name="Rectangle 18"/>
                <p:cNvSpPr/>
                <p:nvPr/>
              </p:nvSpPr>
              <p:spPr>
                <a:xfrm>
                  <a:off x="0" y="384"/>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77838" name="Group 21"/>
              <p:cNvGrpSpPr/>
              <p:nvPr/>
            </p:nvGrpSpPr>
            <p:grpSpPr>
              <a:xfrm>
                <a:off x="734" y="384"/>
                <a:ext cx="2606" cy="384"/>
                <a:chOff x="734" y="384"/>
                <a:chExt cx="2606" cy="384"/>
              </a:xfrm>
            </p:grpSpPr>
            <p:sp>
              <p:nvSpPr>
                <p:cNvPr id="77839" name="Rectangle 13"/>
                <p:cNvSpPr/>
                <p:nvPr/>
              </p:nvSpPr>
              <p:spPr>
                <a:xfrm>
                  <a:off x="777" y="384"/>
                  <a:ext cx="2520" cy="384"/>
                </a:xfrm>
                <a:prstGeom prst="rect">
                  <a:avLst/>
                </a:prstGeom>
                <a:noFill/>
                <a:ln w="9525">
                  <a:noFill/>
                </a:ln>
              </p:spPr>
              <p:txBody>
                <a:bodyPr anchor="t"/>
                <a:lstStyle/>
                <a:p>
                  <a:pPr algn="just" eaLnBrk="0" hangingPunct="0"/>
                  <a:r>
                    <a:rPr lang="zh-CN" altLang="en-US" sz="2000" dirty="0">
                      <a:solidFill>
                        <a:srgbClr val="000000"/>
                      </a:solidFill>
                      <a:latin typeface="Times New Roman" panose="02020603050405020304" pitchFamily="18" charset="0"/>
                      <a:ea typeface="宋体" panose="02010600030101010101" pitchFamily="2" charset="-122"/>
                    </a:rPr>
                    <a:t>纯面向对象语言。</a:t>
                  </a:r>
                  <a:r>
                    <a:rPr lang="en-US" altLang="zh-CN" sz="2000" dirty="0">
                      <a:solidFill>
                        <a:srgbClr val="000000"/>
                      </a:solidFill>
                      <a:latin typeface="Times New Roman" panose="02020603050405020304" pitchFamily="18" charset="0"/>
                    </a:rPr>
                    <a:t>Sun</a:t>
                  </a:r>
                  <a:r>
                    <a:rPr lang="zh-CN" altLang="en-US" sz="2000" dirty="0">
                      <a:solidFill>
                        <a:srgbClr val="000000"/>
                      </a:solidFill>
                      <a:latin typeface="宋体" panose="02010600030101010101" pitchFamily="2" charset="-122"/>
                      <a:ea typeface="宋体" panose="02010600030101010101" pitchFamily="2" charset="-122"/>
                    </a:rPr>
                    <a:t>公司开发，在</a:t>
                  </a:r>
                  <a:r>
                    <a:rPr lang="en-US" altLang="zh-CN" sz="2000" dirty="0">
                      <a:solidFill>
                        <a:srgbClr val="000000"/>
                      </a:solidFill>
                      <a:latin typeface="Times New Roman" panose="02020603050405020304" pitchFamily="18" charset="0"/>
                    </a:rPr>
                    <a:t>C</a:t>
                  </a:r>
                  <a:r>
                    <a:rPr lang="zh-CN" altLang="en-US" sz="2000" dirty="0">
                      <a:solidFill>
                        <a:srgbClr val="000000"/>
                      </a:solidFill>
                      <a:latin typeface="宋体" panose="02010600030101010101" pitchFamily="2" charset="-122"/>
                      <a:ea typeface="宋体" panose="02010600030101010101" pitchFamily="2" charset="-122"/>
                    </a:rPr>
                    <a:t>和</a:t>
                  </a:r>
                  <a:r>
                    <a:rPr lang="en-US" altLang="zh-CN" sz="2000" dirty="0">
                      <a:solidFill>
                        <a:srgbClr val="000000"/>
                      </a:solidFill>
                      <a:latin typeface="Times New Roman" panose="02020603050405020304" pitchFamily="18" charset="0"/>
                    </a:rPr>
                    <a:t>C++</a:t>
                  </a:r>
                  <a:r>
                    <a:rPr lang="zh-CN" altLang="en-US" sz="2000" dirty="0">
                      <a:solidFill>
                        <a:srgbClr val="000000"/>
                      </a:solidFill>
                      <a:latin typeface="宋体" panose="02010600030101010101" pitchFamily="2" charset="-122"/>
                      <a:ea typeface="宋体" panose="02010600030101010101" pitchFamily="2" charset="-122"/>
                    </a:rPr>
                    <a:t>的基础上发展而来</a:t>
                  </a:r>
                  <a:r>
                    <a:rPr lang="zh-CN" altLang="en-US" sz="2000" dirty="0">
                      <a:solidFill>
                        <a:srgbClr val="000000"/>
                      </a:solidFill>
                      <a:latin typeface="Times New Roman" panose="02020603050405020304" pitchFamily="18" charset="0"/>
                      <a:ea typeface="宋体" panose="02010600030101010101" pitchFamily="2" charset="-122"/>
                    </a:rPr>
                    <a:t> ，但去除了</a:t>
                  </a:r>
                  <a:r>
                    <a:rPr lang="en-US" altLang="zh-CN" sz="2000" dirty="0">
                      <a:solidFill>
                        <a:srgbClr val="000000"/>
                      </a:solidFill>
                      <a:latin typeface="Times New Roman" panose="02020603050405020304" pitchFamily="18" charset="0"/>
                    </a:rPr>
                    <a:t>C++</a:t>
                  </a:r>
                  <a:r>
                    <a:rPr lang="zh-CN" altLang="en-US" sz="2000" dirty="0">
                      <a:solidFill>
                        <a:srgbClr val="000000"/>
                      </a:solidFill>
                      <a:latin typeface="Times New Roman" panose="02020603050405020304" pitchFamily="18" charset="0"/>
                      <a:ea typeface="宋体" panose="02010600030101010101" pitchFamily="2" charset="-122"/>
                    </a:rPr>
                    <a:t>中的一些语言特性，从而更加强壮。</a:t>
                  </a:r>
                </a:p>
                <a:p>
                  <a:pPr algn="just" eaLnBrk="0" hangingPunct="0"/>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77840" name="Rectangle 20"/>
                <p:cNvSpPr/>
                <p:nvPr/>
              </p:nvSpPr>
              <p:spPr>
                <a:xfrm>
                  <a:off x="734" y="384"/>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sp>
          <p:nvSpPr>
            <p:cNvPr id="77841" name="Rectangle 23"/>
            <p:cNvSpPr/>
            <p:nvPr/>
          </p:nvSpPr>
          <p:spPr>
            <a:xfrm>
              <a:off x="-3" y="-3"/>
              <a:ext cx="3346" cy="774"/>
            </a:xfrm>
            <a:prstGeom prst="rect">
              <a:avLst/>
            </a:prstGeom>
            <a:noFill/>
            <a:ln w="9525"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sp>
        <p:nvSpPr>
          <p:cNvPr id="77842" name="Text Box 25"/>
          <p:cNvSpPr txBox="1"/>
          <p:nvPr/>
        </p:nvSpPr>
        <p:spPr>
          <a:xfrm>
            <a:off x="755650" y="1412875"/>
            <a:ext cx="4392613" cy="519113"/>
          </a:xfrm>
          <a:prstGeom prst="rect">
            <a:avLst/>
          </a:prstGeom>
          <a:noFill/>
          <a:ln w="9525">
            <a:noFill/>
          </a:ln>
          <a:effectLst>
            <a:prstShdw prst="shdw17" dist="17961" dir="13499999">
              <a:srgbClr val="999999"/>
            </a:prstShdw>
          </a:effectLst>
        </p:spPr>
        <p:txBody>
          <a:bodyPr anchor="t">
            <a:spAutoFit/>
          </a:bodyPr>
          <a:lstStyle/>
          <a:p>
            <a:pPr defTabSz="914400" eaLnBrk="0" hangingPunct="0">
              <a:spcBef>
                <a:spcPct val="50000"/>
              </a:spcBef>
            </a:pPr>
            <a:r>
              <a:rPr lang="zh-CN" altLang="en-US" sz="2800" dirty="0">
                <a:solidFill>
                  <a:srgbClr val="000000"/>
                </a:solidFill>
                <a:latin typeface="Times New Roman" panose="02020603050405020304" pitchFamily="18" charset="0"/>
                <a:ea typeface="宋体" panose="02010600030101010101" pitchFamily="2" charset="-122"/>
              </a:rPr>
              <a:t>主要的两种面向对象语言</a:t>
            </a:r>
          </a:p>
        </p:txBody>
      </p:sp>
      <p:sp>
        <p:nvSpPr>
          <p:cNvPr id="2" name="Text Box 25">
            <a:extLst>
              <a:ext uri="{FF2B5EF4-FFF2-40B4-BE49-F238E27FC236}">
                <a16:creationId xmlns:a16="http://schemas.microsoft.com/office/drawing/2014/main" id="{03D5791A-D118-4D9E-B967-782B7137CECD}"/>
              </a:ext>
            </a:extLst>
          </p:cNvPr>
          <p:cNvSpPr txBox="1"/>
          <p:nvPr/>
        </p:nvSpPr>
        <p:spPr>
          <a:xfrm>
            <a:off x="595268" y="4637305"/>
            <a:ext cx="7953463" cy="1815882"/>
          </a:xfrm>
          <a:prstGeom prst="rect">
            <a:avLst/>
          </a:prstGeom>
          <a:noFill/>
          <a:ln w="9525">
            <a:noFill/>
          </a:ln>
          <a:effectLst>
            <a:prstShdw prst="shdw17" dist="17961" dir="13499999">
              <a:srgbClr val="999999"/>
            </a:prstShdw>
          </a:effectLst>
        </p:spPr>
        <p:txBody>
          <a:bodyPr wrap="square" anchor="t">
            <a:spAutoFit/>
          </a:bodyPr>
          <a:lstStyle/>
          <a:p>
            <a:pPr defTabSz="914400" eaLnBrk="0" hangingPunct="0">
              <a:spcBef>
                <a:spcPct val="50000"/>
              </a:spcBef>
            </a:pPr>
            <a:r>
              <a:rPr lang="zh-CN" altLang="en-US" sz="2800" b="0" i="0" dirty="0">
                <a:solidFill>
                  <a:srgbClr val="333333"/>
                </a:solidFill>
                <a:effectLst/>
                <a:latin typeface="arial" panose="020B0604020202020204" pitchFamily="34" charset="0"/>
              </a:rPr>
              <a:t>注：</a:t>
            </a:r>
            <a:r>
              <a:rPr lang="en-US" altLang="zh-CN" sz="2800" b="0" i="0" dirty="0">
                <a:solidFill>
                  <a:srgbClr val="333333"/>
                </a:solidFill>
                <a:effectLst/>
                <a:latin typeface="arial" panose="020B0604020202020204" pitchFamily="34" charset="0"/>
              </a:rPr>
              <a:t>python</a:t>
            </a:r>
            <a:r>
              <a:rPr lang="zh-CN" altLang="en-US" sz="2800" b="0" i="0" dirty="0">
                <a:solidFill>
                  <a:srgbClr val="333333"/>
                </a:solidFill>
                <a:effectLst/>
                <a:latin typeface="arial" panose="020B0604020202020204" pitchFamily="34" charset="0"/>
              </a:rPr>
              <a:t>是面向对象的</a:t>
            </a:r>
            <a:r>
              <a:rPr lang="zh-CN" altLang="en-US" sz="2800" b="0" i="0" u="none" strike="noStrike" dirty="0">
                <a:solidFill>
                  <a:srgbClr val="136EC2"/>
                </a:solidFill>
                <a:effectLst/>
                <a:latin typeface="arial" panose="020B0604020202020204" pitchFamily="34" charset="0"/>
              </a:rPr>
              <a:t>脚本语言</a:t>
            </a:r>
            <a:r>
              <a:rPr lang="zh-CN" altLang="en-US" sz="2800" b="0" i="0" dirty="0">
                <a:solidFill>
                  <a:srgbClr val="333333"/>
                </a:solidFill>
                <a:effectLst/>
                <a:latin typeface="arial" panose="020B0604020202020204" pitchFamily="34" charset="0"/>
              </a:rPr>
              <a:t>。最初被设计用于编写自动化脚本</a:t>
            </a:r>
            <a:r>
              <a:rPr lang="en-US" altLang="zh-CN" sz="2800" b="0" i="0" dirty="0">
                <a:solidFill>
                  <a:srgbClr val="333333"/>
                </a:solidFill>
                <a:effectLst/>
                <a:latin typeface="arial" panose="020B0604020202020204" pitchFamily="34" charset="0"/>
              </a:rPr>
              <a:t>(shell)</a:t>
            </a:r>
            <a:r>
              <a:rPr lang="zh-CN" altLang="en-US" sz="2800" b="0" i="0" dirty="0">
                <a:solidFill>
                  <a:srgbClr val="333333"/>
                </a:solidFill>
                <a:effectLst/>
                <a:latin typeface="arial" panose="020B0604020202020204" pitchFamily="34" charset="0"/>
              </a:rPr>
              <a:t>，随着版本的不断更新和语言新功能的添加，越多被用于独立的、大型项目的开发。</a:t>
            </a:r>
            <a:endParaRPr lang="zh-CN" altLang="en-US" sz="2800" dirty="0">
              <a:solidFill>
                <a:srgbClr val="000000"/>
              </a:solidFill>
              <a:latin typeface="Times New Roman" panose="02020603050405020304" pitchFamily="18" charset="0"/>
              <a:ea typeface="宋体" panose="0201060003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22</a:t>
            </a:fld>
            <a:endParaRPr lang="zh-CN" altLang="en-US" sz="1400" dirty="0">
              <a:solidFill>
                <a:srgbClr val="000000"/>
              </a:solidFill>
              <a:latin typeface="Times New Roman" panose="02020603050405020304" pitchFamily="18" charset="0"/>
              <a:ea typeface="宋体" panose="02010600030101010101" pitchFamily="2" charset="-122"/>
            </a:endParaRPr>
          </a:p>
        </p:txBody>
      </p:sp>
      <p:grpSp>
        <p:nvGrpSpPr>
          <p:cNvPr id="78850" name="Group 4"/>
          <p:cNvGrpSpPr/>
          <p:nvPr/>
        </p:nvGrpSpPr>
        <p:grpSpPr>
          <a:xfrm>
            <a:off x="457200" y="1371600"/>
            <a:ext cx="3505200" cy="544513"/>
            <a:chOff x="2880" y="864"/>
            <a:chExt cx="1056" cy="336"/>
          </a:xfrm>
        </p:grpSpPr>
        <p:sp>
          <p:nvSpPr>
            <p:cNvPr id="78851" name="Rectangle 5"/>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78852" name="Text Box 6"/>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3、</a:t>
              </a:r>
              <a:r>
                <a:rPr lang="zh-CN" altLang="en-US" sz="2800" dirty="0">
                  <a:solidFill>
                    <a:srgbClr val="FFFFFF"/>
                  </a:solidFill>
                  <a:latin typeface="宋体" panose="02010600030101010101" pitchFamily="2" charset="-122"/>
                  <a:ea typeface="宋体" panose="02010600030101010101" pitchFamily="2" charset="-122"/>
                </a:rPr>
                <a:t>函数型说明语言</a:t>
              </a:r>
              <a:r>
                <a:rPr lang="zh-CN" altLang="en-US" sz="2800" dirty="0">
                  <a:solidFill>
                    <a:srgbClr val="FFFFFF"/>
                  </a:solidFill>
                  <a:latin typeface="楷体_GB2312" pitchFamily="1" charset="-122"/>
                  <a:ea typeface="楷体_GB2312" pitchFamily="1" charset="-122"/>
                </a:rPr>
                <a:t> </a:t>
              </a:r>
            </a:p>
          </p:txBody>
        </p:sp>
      </p:grpSp>
      <p:sp>
        <p:nvSpPr>
          <p:cNvPr id="78853" name="Rectangle 7"/>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r>
              <a:rPr lang="zh-CN" altLang="en-US" sz="2800" b="1" dirty="0"/>
              <a:t>函数型说明语言</a:t>
            </a:r>
            <a:endParaRPr lang="zh-CN" altLang="en-US" sz="2800" b="1" dirty="0">
              <a:solidFill>
                <a:srgbClr val="008080"/>
              </a:solidFill>
            </a:endParaRPr>
          </a:p>
        </p:txBody>
      </p:sp>
      <p:sp>
        <p:nvSpPr>
          <p:cNvPr id="78854" name="Text Box 8"/>
          <p:cNvSpPr txBox="1"/>
          <p:nvPr/>
        </p:nvSpPr>
        <p:spPr>
          <a:xfrm>
            <a:off x="685800" y="2133600"/>
            <a:ext cx="7543800" cy="3195638"/>
          </a:xfrm>
          <a:prstGeom prst="rect">
            <a:avLst/>
          </a:prstGeom>
          <a:noFill/>
          <a:ln w="9525">
            <a:noFill/>
          </a:ln>
        </p:spPr>
        <p:txBody>
          <a:bodyPr anchor="t">
            <a:spAutoFit/>
          </a:bodyPr>
          <a:lstStyle/>
          <a:p>
            <a:r>
              <a:rPr lang="zh-CN" altLang="en-US" sz="2400" dirty="0">
                <a:solidFill>
                  <a:srgbClr val="000000"/>
                </a:solidFill>
                <a:latin typeface="宋体" panose="02010600030101010101" pitchFamily="2" charset="-122"/>
                <a:ea typeface="宋体" panose="02010600030101010101" pitchFamily="2" charset="-122"/>
              </a:rPr>
              <a:t>基于数学建模求解问题的思想。</a:t>
            </a:r>
          </a:p>
          <a:p>
            <a:endParaRPr lang="zh-CN" altLang="en-US" sz="2400" dirty="0">
              <a:solidFill>
                <a:srgbClr val="000000"/>
              </a:solidFill>
              <a:latin typeface="宋体" panose="02010600030101010101" pitchFamily="2" charset="-122"/>
              <a:ea typeface="宋体" panose="02010600030101010101" pitchFamily="2" charset="-122"/>
            </a:endParaRPr>
          </a:p>
          <a:p>
            <a:r>
              <a:rPr lang="zh-CN" altLang="en-US" sz="2400" dirty="0">
                <a:solidFill>
                  <a:srgbClr val="000000"/>
                </a:solidFill>
                <a:latin typeface="宋体" panose="02010600030101010101" pitchFamily="2" charset="-122"/>
                <a:ea typeface="宋体" panose="02010600030101010101" pitchFamily="2" charset="-122"/>
              </a:rPr>
              <a:t>程序的基本单元是函数。函数可以理解成一个黑盒，完成从一系列输入（</a:t>
            </a:r>
            <a:r>
              <a:rPr lang="en-US" altLang="zh-CN" sz="2400" dirty="0">
                <a:solidFill>
                  <a:srgbClr val="000000"/>
                </a:solidFill>
                <a:latin typeface="宋体" panose="02010600030101010101" pitchFamily="2" charset="-122"/>
              </a:rPr>
              <a:t>X</a:t>
            </a:r>
            <a:r>
              <a:rPr lang="zh-CN" altLang="en-US" sz="2400" dirty="0">
                <a:solidFill>
                  <a:srgbClr val="000000"/>
                </a:solidFill>
                <a:latin typeface="宋体" panose="02010600030101010101" pitchFamily="2" charset="-122"/>
                <a:ea typeface="宋体" panose="02010600030101010101" pitchFamily="2" charset="-122"/>
              </a:rPr>
              <a:t>）到输出（</a:t>
            </a:r>
            <a:r>
              <a:rPr lang="en-US" altLang="zh-CN" sz="2400" dirty="0">
                <a:solidFill>
                  <a:srgbClr val="000000"/>
                </a:solidFill>
                <a:latin typeface="宋体" panose="02010600030101010101" pitchFamily="2" charset="-122"/>
              </a:rPr>
              <a:t>Y</a:t>
            </a:r>
            <a:r>
              <a:rPr lang="zh-CN" altLang="en-US" sz="2400" dirty="0">
                <a:solidFill>
                  <a:srgbClr val="000000"/>
                </a:solidFill>
                <a:latin typeface="宋体" panose="02010600030101010101" pitchFamily="2" charset="-122"/>
                <a:ea typeface="宋体" panose="02010600030101010101" pitchFamily="2" charset="-122"/>
              </a:rPr>
              <a:t>）的映射。</a:t>
            </a:r>
          </a:p>
          <a:p>
            <a:pPr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函数型语言主要实现以下功能：</a:t>
            </a:r>
          </a:p>
          <a:p>
            <a:pPr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    定义一系列可供任何程序员调用的基本函数；</a:t>
            </a:r>
          </a:p>
          <a:p>
            <a:pPr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    允许程序员通过组合若干基本函数创建新的函数。</a:t>
            </a:r>
            <a:r>
              <a:rPr lang="zh-CN" altLang="en-US" sz="2400" dirty="0">
                <a:solidFill>
                  <a:srgbClr val="000000"/>
                </a:solidFill>
                <a:latin typeface="Times New Roman" panose="02020603050405020304" pitchFamily="18" charset="0"/>
                <a:ea typeface="宋体" panose="02010600030101010101" pitchFamily="2" charset="-122"/>
              </a:rPr>
              <a:t> </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23</a:t>
            </a:fld>
            <a:endParaRPr lang="zh-CN" altLang="en-US" sz="1400" dirty="0">
              <a:solidFill>
                <a:srgbClr val="000000"/>
              </a:solidFill>
              <a:latin typeface="Times New Roman" panose="02020603050405020304" pitchFamily="18" charset="0"/>
              <a:ea typeface="宋体" panose="02010600030101010101" pitchFamily="2" charset="-122"/>
            </a:endParaRPr>
          </a:p>
        </p:txBody>
      </p:sp>
      <p:grpSp>
        <p:nvGrpSpPr>
          <p:cNvPr id="80898" name="Group 4"/>
          <p:cNvGrpSpPr/>
          <p:nvPr/>
        </p:nvGrpSpPr>
        <p:grpSpPr>
          <a:xfrm>
            <a:off x="395536" y="1340768"/>
            <a:ext cx="8367464" cy="4536157"/>
            <a:chOff x="-3" y="-3"/>
            <a:chExt cx="3346" cy="774"/>
          </a:xfrm>
        </p:grpSpPr>
        <p:grpSp>
          <p:nvGrpSpPr>
            <p:cNvPr id="80899" name="Group 5"/>
            <p:cNvGrpSpPr/>
            <p:nvPr/>
          </p:nvGrpSpPr>
          <p:grpSpPr>
            <a:xfrm>
              <a:off x="0" y="0"/>
              <a:ext cx="3340" cy="768"/>
              <a:chOff x="0" y="0"/>
              <a:chExt cx="3340" cy="768"/>
            </a:xfrm>
          </p:grpSpPr>
          <p:grpSp>
            <p:nvGrpSpPr>
              <p:cNvPr id="80900" name="Group 6"/>
              <p:cNvGrpSpPr/>
              <p:nvPr/>
            </p:nvGrpSpPr>
            <p:grpSpPr>
              <a:xfrm>
                <a:off x="0" y="0"/>
                <a:ext cx="734" cy="384"/>
                <a:chOff x="0" y="0"/>
                <a:chExt cx="734" cy="384"/>
              </a:xfrm>
            </p:grpSpPr>
            <p:sp>
              <p:nvSpPr>
                <p:cNvPr id="80901" name="Rectangle 7"/>
                <p:cNvSpPr/>
                <p:nvPr/>
              </p:nvSpPr>
              <p:spPr>
                <a:xfrm>
                  <a:off x="43" y="0"/>
                  <a:ext cx="648" cy="384"/>
                </a:xfrm>
                <a:prstGeom prst="rect">
                  <a:avLst/>
                </a:prstGeom>
                <a:noFill/>
                <a:ln w="9525">
                  <a:noFill/>
                </a:ln>
              </p:spPr>
              <p:txBody>
                <a:bodyPr anchor="t"/>
                <a:lstStyle/>
                <a:p>
                  <a:pPr algn="just" defTabSz="914400" eaLnBrk="0" hangingPunct="0">
                    <a:tabLst>
                      <a:tab pos="269875" algn="l"/>
                    </a:tabLst>
                  </a:pPr>
                  <a:r>
                    <a:rPr lang="en-US" altLang="zh-CN" sz="2000" dirty="0">
                      <a:solidFill>
                        <a:srgbClr val="000000"/>
                      </a:solidFill>
                      <a:latin typeface="Times New Roman" panose="02020603050405020304" pitchFamily="18" charset="0"/>
                    </a:rPr>
                    <a:t>     LISP </a:t>
                  </a:r>
                </a:p>
                <a:p>
                  <a:pPr algn="just" defTabSz="914400" eaLnBrk="0" hangingPunct="0">
                    <a:tabLst>
                      <a:tab pos="269875" algn="l"/>
                    </a:tabLst>
                  </a:pPr>
                  <a:endParaRPr lang="en-US" altLang="zh-CN" sz="2000" dirty="0">
                    <a:solidFill>
                      <a:srgbClr val="000000"/>
                    </a:solidFill>
                    <a:latin typeface="Times New Roman" panose="02020603050405020304" pitchFamily="18" charset="0"/>
                  </a:endParaRPr>
                </a:p>
              </p:txBody>
            </p:sp>
            <p:sp>
              <p:nvSpPr>
                <p:cNvPr id="80902" name="Rectangle 8"/>
                <p:cNvSpPr/>
                <p:nvPr/>
              </p:nvSpPr>
              <p:spPr>
                <a:xfrm>
                  <a:off x="0" y="0"/>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80903" name="Group 9"/>
              <p:cNvGrpSpPr/>
              <p:nvPr/>
            </p:nvGrpSpPr>
            <p:grpSpPr>
              <a:xfrm>
                <a:off x="734" y="0"/>
                <a:ext cx="2606" cy="384"/>
                <a:chOff x="734" y="0"/>
                <a:chExt cx="2606" cy="384"/>
              </a:xfrm>
            </p:grpSpPr>
            <p:sp>
              <p:nvSpPr>
                <p:cNvPr id="80904" name="Rectangle 10"/>
                <p:cNvSpPr/>
                <p:nvPr/>
              </p:nvSpPr>
              <p:spPr>
                <a:xfrm>
                  <a:off x="777" y="0"/>
                  <a:ext cx="2520" cy="384"/>
                </a:xfrm>
                <a:prstGeom prst="rect">
                  <a:avLst/>
                </a:prstGeom>
                <a:noFill/>
                <a:ln w="9525">
                  <a:noFill/>
                </a:ln>
              </p:spPr>
              <p:txBody>
                <a:bodyPr anchor="t"/>
                <a:lstStyle/>
                <a:p>
                  <a:pPr algn="just" eaLnBrk="0" hangingPunct="0"/>
                  <a:r>
                    <a:rPr lang="zh-CN" altLang="en-US" sz="2000" dirty="0">
                      <a:solidFill>
                        <a:srgbClr val="000000"/>
                      </a:solidFill>
                      <a:latin typeface="Times New Roman" panose="02020603050405020304" pitchFamily="18" charset="0"/>
                      <a:ea typeface="宋体" panose="02010600030101010101" pitchFamily="2" charset="-122"/>
                    </a:rPr>
                    <a:t>20</a:t>
                  </a:r>
                  <a:r>
                    <a:rPr lang="zh-CN" altLang="en-US" sz="2000" dirty="0">
                      <a:solidFill>
                        <a:srgbClr val="000000"/>
                      </a:solidFill>
                      <a:latin typeface="宋体" panose="02010600030101010101" pitchFamily="2" charset="-122"/>
                      <a:ea typeface="宋体" panose="02010600030101010101" pitchFamily="2" charset="-122"/>
                    </a:rPr>
                    <a:t>世纪</a:t>
                  </a:r>
                  <a:r>
                    <a:rPr lang="zh-CN" altLang="en-US" sz="2000" dirty="0">
                      <a:solidFill>
                        <a:srgbClr val="000000"/>
                      </a:solidFill>
                      <a:latin typeface="Times New Roman" panose="02020603050405020304" pitchFamily="18" charset="0"/>
                      <a:ea typeface="宋体" panose="02010600030101010101" pitchFamily="2" charset="-122"/>
                    </a:rPr>
                    <a:t>60</a:t>
                  </a:r>
                  <a:r>
                    <a:rPr lang="zh-CN" altLang="en-US" sz="2000" dirty="0">
                      <a:solidFill>
                        <a:srgbClr val="000000"/>
                      </a:solidFill>
                      <a:latin typeface="宋体" panose="02010600030101010101" pitchFamily="2" charset="-122"/>
                      <a:ea typeface="宋体" panose="02010600030101010101" pitchFamily="2" charset="-122"/>
                    </a:rPr>
                    <a:t>年代早期由麻省理工大学（</a:t>
                  </a:r>
                  <a:r>
                    <a:rPr lang="en-US" altLang="zh-CN" sz="2000" dirty="0">
                      <a:solidFill>
                        <a:srgbClr val="000000"/>
                      </a:solidFill>
                      <a:latin typeface="Times New Roman" panose="02020603050405020304" pitchFamily="18" charset="0"/>
                    </a:rPr>
                    <a:t>MIT</a:t>
                  </a:r>
                  <a:r>
                    <a:rPr lang="en-US" altLang="zh-CN" sz="2000" dirty="0">
                      <a:solidFill>
                        <a:srgbClr val="000000"/>
                      </a:solidFill>
                      <a:latin typeface="宋体" panose="02010600030101010101" pitchFamily="2" charset="-122"/>
                    </a:rPr>
                    <a:t>）</a:t>
                  </a:r>
                  <a:r>
                    <a:rPr lang="zh-CN" altLang="en-US" sz="2000" dirty="0">
                      <a:solidFill>
                        <a:srgbClr val="000000"/>
                      </a:solidFill>
                      <a:latin typeface="宋体" panose="02010600030101010101" pitchFamily="2" charset="-122"/>
                      <a:ea typeface="宋体" panose="02010600030101010101" pitchFamily="2" charset="-122"/>
                    </a:rPr>
                    <a:t>科研小组设计开发。</a:t>
                  </a:r>
                </a:p>
                <a:p>
                  <a:pPr algn="just" eaLnBrk="0" hangingPunct="0"/>
                  <a:r>
                    <a:rPr lang="zh-CN" altLang="en-US" sz="2000" dirty="0">
                      <a:solidFill>
                        <a:srgbClr val="000000"/>
                      </a:solidFill>
                      <a:latin typeface="宋体" panose="02010600030101010101" pitchFamily="2" charset="-122"/>
                      <a:ea typeface="宋体" panose="02010600030101010101" pitchFamily="2" charset="-122"/>
                    </a:rPr>
                    <a:t>把所有的一切都看成是列表，把列表作为处理对象。</a:t>
                  </a:r>
                  <a:r>
                    <a:rPr lang="zh-CN" altLang="en-US" sz="2000" dirty="0">
                      <a:solidFill>
                        <a:srgbClr val="000000"/>
                      </a:solidFill>
                      <a:latin typeface="Times New Roman" panose="02020603050405020304" pitchFamily="18" charset="0"/>
                      <a:ea typeface="宋体" panose="02010600030101010101" pitchFamily="2" charset="-122"/>
                    </a:rPr>
                    <a:t> </a:t>
                  </a:r>
                </a:p>
              </p:txBody>
            </p:sp>
            <p:sp>
              <p:nvSpPr>
                <p:cNvPr id="80905" name="Rectangle 11"/>
                <p:cNvSpPr/>
                <p:nvPr/>
              </p:nvSpPr>
              <p:spPr>
                <a:xfrm>
                  <a:off x="734" y="0"/>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80906" name="Group 12"/>
              <p:cNvGrpSpPr/>
              <p:nvPr/>
            </p:nvGrpSpPr>
            <p:grpSpPr>
              <a:xfrm>
                <a:off x="0" y="384"/>
                <a:ext cx="734" cy="384"/>
                <a:chOff x="0" y="384"/>
                <a:chExt cx="734" cy="384"/>
              </a:xfrm>
            </p:grpSpPr>
            <p:sp>
              <p:nvSpPr>
                <p:cNvPr id="80907" name="Rectangle 13"/>
                <p:cNvSpPr/>
                <p:nvPr/>
              </p:nvSpPr>
              <p:spPr>
                <a:xfrm>
                  <a:off x="43" y="384"/>
                  <a:ext cx="648" cy="384"/>
                </a:xfrm>
                <a:prstGeom prst="rect">
                  <a:avLst/>
                </a:prstGeom>
                <a:noFill/>
                <a:ln w="9525">
                  <a:noFill/>
                </a:ln>
              </p:spPr>
              <p:txBody>
                <a:bodyPr anchor="t"/>
                <a:lstStyle/>
                <a:p>
                  <a:pPr algn="just" defTabSz="914400" eaLnBrk="0" hangingPunct="0">
                    <a:tabLst>
                      <a:tab pos="269875" algn="l"/>
                    </a:tabLst>
                  </a:pPr>
                  <a:r>
                    <a:rPr lang="en-US" altLang="zh-CN" sz="2000" dirty="0">
                      <a:solidFill>
                        <a:srgbClr val="000000"/>
                      </a:solidFill>
                      <a:latin typeface="Times New Roman" panose="02020603050405020304" pitchFamily="18" charset="0"/>
                    </a:rPr>
                    <a:t>    Scheme </a:t>
                  </a:r>
                </a:p>
              </p:txBody>
            </p:sp>
            <p:sp>
              <p:nvSpPr>
                <p:cNvPr id="80908" name="Rectangle 14"/>
                <p:cNvSpPr/>
                <p:nvPr/>
              </p:nvSpPr>
              <p:spPr>
                <a:xfrm>
                  <a:off x="0" y="384"/>
                  <a:ext cx="734"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nvGrpSpPr>
              <p:cNvPr id="80909" name="Group 15"/>
              <p:cNvGrpSpPr/>
              <p:nvPr/>
            </p:nvGrpSpPr>
            <p:grpSpPr>
              <a:xfrm>
                <a:off x="734" y="384"/>
                <a:ext cx="2606" cy="384"/>
                <a:chOff x="734" y="384"/>
                <a:chExt cx="2606" cy="384"/>
              </a:xfrm>
            </p:grpSpPr>
            <p:sp>
              <p:nvSpPr>
                <p:cNvPr id="80910" name="Rectangle 16"/>
                <p:cNvSpPr/>
                <p:nvPr/>
              </p:nvSpPr>
              <p:spPr>
                <a:xfrm>
                  <a:off x="777" y="384"/>
                  <a:ext cx="2520" cy="384"/>
                </a:xfrm>
                <a:prstGeom prst="rect">
                  <a:avLst/>
                </a:prstGeom>
                <a:noFill/>
                <a:ln w="9525">
                  <a:noFill/>
                </a:ln>
              </p:spPr>
              <p:txBody>
                <a:bodyPr anchor="t"/>
                <a:lstStyle/>
                <a:p>
                  <a:pPr algn="just" eaLnBrk="0" hangingPunct="0"/>
                  <a:r>
                    <a:rPr lang="zh-CN" altLang="en-US" sz="2000" dirty="0">
                      <a:solidFill>
                        <a:srgbClr val="000000"/>
                      </a:solidFill>
                      <a:latin typeface="宋体" panose="02010600030101010101" pitchFamily="2" charset="-122"/>
                      <a:ea typeface="宋体" panose="02010600030101010101" pitchFamily="2" charset="-122"/>
                    </a:rPr>
                    <a:t>定义了一系列基本函数。函数名和函数的输入列表写在括号内，结果是一个可用于其他函数输入的列表</a:t>
                  </a:r>
                  <a:r>
                    <a:rPr lang="zh-CN" altLang="en-US" sz="2000" dirty="0">
                      <a:solidFill>
                        <a:srgbClr val="000000"/>
                      </a:solidFill>
                      <a:latin typeface="Times New Roman" panose="02020603050405020304" pitchFamily="18" charset="0"/>
                      <a:ea typeface="宋体" panose="02010600030101010101" pitchFamily="2" charset="-122"/>
                    </a:rPr>
                    <a:t> 。</a:t>
                  </a:r>
                </a:p>
                <a:p>
                  <a:pPr algn="just" eaLnBrk="0" hangingPunct="0"/>
                  <a:r>
                    <a:rPr lang="zh-CN" altLang="en-US" sz="2000" dirty="0">
                      <a:solidFill>
                        <a:srgbClr val="000000"/>
                      </a:solidFill>
                      <a:latin typeface="宋体" panose="02010600030101010101" pitchFamily="2" charset="-122"/>
                      <a:ea typeface="宋体" panose="02010600030101010101" pitchFamily="2" charset="-122"/>
                    </a:rPr>
                    <a:t>(</a:t>
                  </a:r>
                  <a:r>
                    <a:rPr lang="en-US" altLang="zh-CN" sz="2000" dirty="0">
                      <a:solidFill>
                        <a:srgbClr val="000000"/>
                      </a:solidFill>
                      <a:latin typeface="宋体" panose="02010600030101010101" pitchFamily="2" charset="-122"/>
                    </a:rPr>
                    <a:t>car 2 3 7 8 11 17 20) == =&gt; 2</a:t>
                  </a:r>
                </a:p>
                <a:p>
                  <a:pPr algn="just" eaLnBrk="0" hangingPunct="0"/>
                  <a:r>
                    <a:rPr lang="en-US" altLang="zh-CN" sz="2000" dirty="0">
                      <a:solidFill>
                        <a:srgbClr val="000000"/>
                      </a:solidFill>
                      <a:latin typeface="宋体" panose="02010600030101010101" pitchFamily="2" charset="-122"/>
                    </a:rPr>
                    <a:t>(cdr 2 3 7 8 11 17 20) == =&gt; 3 7 8 11 17 20</a:t>
                  </a:r>
                </a:p>
                <a:p>
                  <a:pPr algn="just" eaLnBrk="0" hangingPunct="0"/>
                  <a:r>
                    <a:rPr lang="zh-CN" altLang="en-US" sz="2000" dirty="0">
                      <a:solidFill>
                        <a:srgbClr val="000000"/>
                      </a:solidFill>
                      <a:latin typeface="宋体" panose="02010600030101010101" pitchFamily="2" charset="-122"/>
                      <a:ea typeface="宋体" panose="02010600030101010101" pitchFamily="2" charset="-122"/>
                    </a:rPr>
                    <a:t>现在可以组合这两个函数实现从列表中取出第三个元素7：(</a:t>
                  </a:r>
                  <a:r>
                    <a:rPr lang="en-US" altLang="zh-CN" sz="2000" dirty="0">
                      <a:solidFill>
                        <a:srgbClr val="000000"/>
                      </a:solidFill>
                      <a:latin typeface="宋体" panose="02010600030101010101" pitchFamily="2" charset="-122"/>
                    </a:rPr>
                    <a:t>car (cdr(cdr list)))</a:t>
                  </a:r>
                </a:p>
                <a:p>
                  <a:pPr algn="just" eaLnBrk="0" hangingPunct="0"/>
                  <a:endParaRPr lang="zh-CN" altLang="en-US" sz="2000" dirty="0">
                    <a:solidFill>
                      <a:srgbClr val="000000"/>
                    </a:solidFill>
                    <a:latin typeface="Times New Roman" panose="02020603050405020304" pitchFamily="18" charset="0"/>
                    <a:ea typeface="宋体" panose="02010600030101010101" pitchFamily="2" charset="-122"/>
                  </a:endParaRPr>
                </a:p>
              </p:txBody>
            </p:sp>
            <p:sp>
              <p:nvSpPr>
                <p:cNvPr id="80911" name="Rectangle 17"/>
                <p:cNvSpPr/>
                <p:nvPr/>
              </p:nvSpPr>
              <p:spPr>
                <a:xfrm>
                  <a:off x="734" y="384"/>
                  <a:ext cx="2606" cy="384"/>
                </a:xfrm>
                <a:prstGeom prst="rect">
                  <a:avLst/>
                </a:prstGeom>
                <a:noFill/>
                <a:ln w="7"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grpSp>
        <p:sp>
          <p:nvSpPr>
            <p:cNvPr id="80912" name="Rectangle 18"/>
            <p:cNvSpPr/>
            <p:nvPr/>
          </p:nvSpPr>
          <p:spPr>
            <a:xfrm>
              <a:off x="-3" y="-3"/>
              <a:ext cx="3346" cy="774"/>
            </a:xfrm>
            <a:prstGeom prst="rect">
              <a:avLst/>
            </a:prstGeom>
            <a:noFill/>
            <a:ln w="9525" cap="flat" cmpd="sng">
              <a:solidFill>
                <a:srgbClr val="A0A0A0"/>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grpSp>
      <p:sp>
        <p:nvSpPr>
          <p:cNvPr id="80913" name="Rectangle 21"/>
          <p:cNvSpPr>
            <a:spLocks noGrp="1"/>
          </p:cNvSpPr>
          <p:nvPr>
            <p:ph type="title"/>
          </p:nvPr>
        </p:nvSpPr>
        <p:spPr/>
        <p:txBody>
          <a:bodyPr vert="horz" wrap="square" lIns="91440" tIns="45720" rIns="91440" bIns="45720" anchor="ctr"/>
          <a:lstStyle/>
          <a:p>
            <a:pPr eaLnBrk="1" hangingPunct="1"/>
            <a:r>
              <a:rPr lang="en-US" altLang="zh-CN" b="1" dirty="0"/>
              <a:t>1.4 </a:t>
            </a:r>
            <a:r>
              <a:rPr lang="zh-CN" altLang="en-US" b="1" dirty="0"/>
              <a:t>程序设计语言的分类－函数型说明语言</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24</a:t>
            </a:fld>
            <a:endParaRPr lang="zh-CN" altLang="en-US" sz="1400" dirty="0">
              <a:solidFill>
                <a:srgbClr val="000000"/>
              </a:solidFill>
              <a:latin typeface="Times New Roman" panose="02020603050405020304" pitchFamily="18" charset="0"/>
              <a:ea typeface="宋体" panose="02010600030101010101" pitchFamily="2" charset="-122"/>
            </a:endParaRPr>
          </a:p>
        </p:txBody>
      </p:sp>
      <p:grpSp>
        <p:nvGrpSpPr>
          <p:cNvPr id="81922" name="Group 4"/>
          <p:cNvGrpSpPr/>
          <p:nvPr/>
        </p:nvGrpSpPr>
        <p:grpSpPr>
          <a:xfrm>
            <a:off x="457200" y="1268413"/>
            <a:ext cx="4648200" cy="544512"/>
            <a:chOff x="2880" y="864"/>
            <a:chExt cx="1056" cy="336"/>
          </a:xfrm>
        </p:grpSpPr>
        <p:sp>
          <p:nvSpPr>
            <p:cNvPr id="81923" name="Rectangle 5"/>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81924" name="Text Box 6"/>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4、</a:t>
              </a:r>
              <a:r>
                <a:rPr lang="zh-CN" altLang="en-US" sz="2800" dirty="0">
                  <a:solidFill>
                    <a:srgbClr val="FFFFFF"/>
                  </a:solidFill>
                  <a:latin typeface="宋体" panose="02010600030101010101" pitchFamily="2" charset="-122"/>
                  <a:ea typeface="宋体" panose="02010600030101010101" pitchFamily="2" charset="-122"/>
                </a:rPr>
                <a:t>说明性（逻辑）语言 </a:t>
              </a:r>
            </a:p>
          </p:txBody>
        </p:sp>
      </p:grpSp>
      <p:sp>
        <p:nvSpPr>
          <p:cNvPr id="214024" name="Text Box 8"/>
          <p:cNvSpPr txBox="1"/>
          <p:nvPr/>
        </p:nvSpPr>
        <p:spPr>
          <a:xfrm>
            <a:off x="685800" y="1844675"/>
            <a:ext cx="7543800" cy="822325"/>
          </a:xfrm>
          <a:prstGeom prst="rect">
            <a:avLst/>
          </a:prstGeom>
          <a:noFill/>
          <a:ln w="9525">
            <a:noFill/>
          </a:ln>
        </p:spPr>
        <p:txBody>
          <a:bodyPr anchor="t">
            <a:spAutoFit/>
          </a:bodyPr>
          <a:lstStyle/>
          <a:p>
            <a:pPr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根据已知正确的一些论断（事实），运用逻辑推理的可靠准则推导出新的论断（事实）。</a:t>
            </a:r>
            <a:endParaRPr lang="zh-CN" altLang="en-US" sz="2400" dirty="0">
              <a:solidFill>
                <a:srgbClr val="000000"/>
              </a:solidFill>
              <a:latin typeface="Times New Roman" panose="02020603050405020304" pitchFamily="18" charset="0"/>
              <a:ea typeface="宋体" panose="02010600030101010101" pitchFamily="2" charset="-122"/>
            </a:endParaRPr>
          </a:p>
        </p:txBody>
      </p:sp>
      <p:sp>
        <p:nvSpPr>
          <p:cNvPr id="214026" name="Text Box 10"/>
          <p:cNvSpPr txBox="1"/>
          <p:nvPr/>
        </p:nvSpPr>
        <p:spPr>
          <a:xfrm>
            <a:off x="723900" y="2708275"/>
            <a:ext cx="7696200" cy="3195638"/>
          </a:xfrm>
          <a:prstGeom prst="rect">
            <a:avLst/>
          </a:prstGeom>
          <a:noFill/>
          <a:ln w="9525">
            <a:noFill/>
          </a:ln>
        </p:spPr>
        <p:txBody>
          <a:bodyPr anchor="t">
            <a:spAutoFit/>
          </a:bodyPr>
          <a:lstStyle/>
          <a:p>
            <a:pPr algn="just" eaLnBrk="0" hangingPunct="0">
              <a:spcBef>
                <a:spcPct val="50000"/>
              </a:spcBef>
            </a:pPr>
            <a:r>
              <a:rPr lang="en-US" altLang="zh-CN" sz="2400" dirty="0">
                <a:solidFill>
                  <a:srgbClr val="000000"/>
                </a:solidFill>
                <a:latin typeface="宋体" panose="02010600030101010101" pitchFamily="2" charset="-122"/>
              </a:rPr>
              <a:t>If (A is B) and (B is C), then (A is C)</a:t>
            </a:r>
          </a:p>
          <a:p>
            <a:pPr algn="just"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将此准则应用于下面的事实：</a:t>
            </a:r>
          </a:p>
          <a:p>
            <a:pPr algn="just"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事实1：</a:t>
            </a:r>
            <a:r>
              <a:rPr lang="en-US" altLang="zh-CN" sz="2400" dirty="0">
                <a:solidFill>
                  <a:srgbClr val="000000"/>
                </a:solidFill>
                <a:latin typeface="宋体" panose="02010600030101010101" pitchFamily="2" charset="-122"/>
              </a:rPr>
              <a:t>Socrates is a human →A is B</a:t>
            </a:r>
          </a:p>
          <a:p>
            <a:pPr algn="just"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事实2：</a:t>
            </a:r>
            <a:r>
              <a:rPr lang="en-US" altLang="zh-CN" sz="2400" dirty="0">
                <a:solidFill>
                  <a:srgbClr val="000000"/>
                </a:solidFill>
                <a:latin typeface="宋体" panose="02010600030101010101" pitchFamily="2" charset="-122"/>
              </a:rPr>
              <a:t>A human is mortal →B is C</a:t>
            </a:r>
          </a:p>
          <a:p>
            <a:pPr algn="just"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则可以推导出下面的事实：</a:t>
            </a:r>
          </a:p>
          <a:p>
            <a:pPr algn="ctr" eaLnBrk="0" hangingPunct="0">
              <a:spcBef>
                <a:spcPct val="50000"/>
              </a:spcBef>
            </a:pPr>
            <a:r>
              <a:rPr lang="zh-CN" altLang="en-US" sz="2400" dirty="0">
                <a:solidFill>
                  <a:srgbClr val="000000"/>
                </a:solidFill>
                <a:latin typeface="宋体" panose="02010600030101010101" pitchFamily="2" charset="-122"/>
                <a:ea typeface="宋体" panose="02010600030101010101" pitchFamily="2" charset="-122"/>
              </a:rPr>
              <a:t>事实</a:t>
            </a:r>
            <a:r>
              <a:rPr lang="zh-CN" altLang="en-US" sz="2400" dirty="0">
                <a:solidFill>
                  <a:srgbClr val="000000"/>
                </a:solidFill>
                <a:latin typeface="Times New Roman" panose="02020603050405020304" pitchFamily="18" charset="0"/>
                <a:ea typeface="宋体" panose="02010600030101010101" pitchFamily="2" charset="-122"/>
              </a:rPr>
              <a:t>3</a:t>
            </a:r>
            <a:r>
              <a:rPr lang="zh-CN" altLang="en-US" sz="2400" dirty="0">
                <a:solidFill>
                  <a:srgbClr val="000000"/>
                </a:solidFill>
                <a:latin typeface="宋体" panose="02010600030101010101" pitchFamily="2" charset="-122"/>
                <a:ea typeface="宋体" panose="02010600030101010101" pitchFamily="2" charset="-122"/>
              </a:rPr>
              <a:t>：</a:t>
            </a:r>
            <a:r>
              <a:rPr lang="en-US" altLang="zh-CN" sz="2400" dirty="0">
                <a:solidFill>
                  <a:srgbClr val="000000"/>
                </a:solidFill>
                <a:latin typeface="Times New Roman" panose="02020603050405020304" pitchFamily="18" charset="0"/>
              </a:rPr>
              <a:t>Socrates is mortal </a:t>
            </a:r>
            <a:r>
              <a:rPr lang="en-US" altLang="zh-CN" sz="2400" dirty="0">
                <a:solidFill>
                  <a:srgbClr val="000000"/>
                </a:solidFill>
                <a:latin typeface="宋体" panose="02010600030101010101" pitchFamily="2" charset="-122"/>
              </a:rPr>
              <a:t>→</a:t>
            </a:r>
            <a:r>
              <a:rPr lang="en-US" altLang="zh-CN" sz="2400" dirty="0">
                <a:solidFill>
                  <a:srgbClr val="000000"/>
                </a:solidFill>
                <a:latin typeface="Times New Roman" panose="02020603050405020304" pitchFamily="18" charset="0"/>
              </a:rPr>
              <a:t>A is C </a:t>
            </a:r>
            <a:endParaRPr lang="zh-CN" altLang="en-US" sz="2400" dirty="0">
              <a:solidFill>
                <a:srgbClr val="000000"/>
              </a:solidFill>
              <a:latin typeface="Times New Roman" panose="02020603050405020304" pitchFamily="18" charset="0"/>
              <a:ea typeface="宋体" panose="02010600030101010101" pitchFamily="2" charset="-122"/>
            </a:endParaRPr>
          </a:p>
        </p:txBody>
      </p:sp>
      <p:sp>
        <p:nvSpPr>
          <p:cNvPr id="81927" name="Rectangle 12"/>
          <p:cNvSpPr>
            <a:spLocks noGrp="1"/>
          </p:cNvSpPr>
          <p:nvPr>
            <p:ph type="title"/>
          </p:nvPr>
        </p:nvSpPr>
        <p:spPr>
          <a:xfrm>
            <a:off x="900113" y="404813"/>
            <a:ext cx="8135937" cy="720725"/>
          </a:xfrm>
        </p:spPr>
        <p:txBody>
          <a:bodyPr vert="horz" wrap="square" lIns="91440" tIns="45720" rIns="91440" bIns="45720" anchor="ctr"/>
          <a:lstStyle/>
          <a:p>
            <a:pPr eaLnBrk="1" hangingPunct="1"/>
            <a:r>
              <a:rPr lang="en-US" altLang="zh-CN" b="1" dirty="0"/>
              <a:t>1.4 </a:t>
            </a:r>
            <a:r>
              <a:rPr lang="zh-CN" altLang="en-US" b="1" dirty="0"/>
              <a:t>程序设计语言的分类－</a:t>
            </a:r>
            <a:r>
              <a:rPr lang="zh-CN" altLang="en-US" sz="2800" b="1" dirty="0"/>
              <a:t>说明性（逻辑）语言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4024"/>
                                        </p:tgtEl>
                                        <p:attrNameLst>
                                          <p:attrName>style.visibility</p:attrName>
                                        </p:attrNameLst>
                                      </p:cBhvr>
                                      <p:to>
                                        <p:strVal val="visible"/>
                                      </p:to>
                                    </p:set>
                                    <p:animEffect transition="in" filter="dissolve">
                                      <p:cBhvr>
                                        <p:cTn id="7" dur="500"/>
                                        <p:tgtEl>
                                          <p:spTgt spid="21402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14026"/>
                                        </p:tgtEl>
                                        <p:attrNameLst>
                                          <p:attrName>style.visibility</p:attrName>
                                        </p:attrNameLst>
                                      </p:cBhvr>
                                      <p:to>
                                        <p:strVal val="visible"/>
                                      </p:to>
                                    </p:set>
                                    <p:animEffect transition="in" filter="dissolve">
                                      <p:cBhvr>
                                        <p:cTn id="12" dur="500"/>
                                        <p:tgtEl>
                                          <p:spTgt spid="214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4024" grpId="0"/>
      <p:bldP spid="21402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25</a:t>
            </a:fld>
            <a:endParaRPr lang="zh-CN" altLang="en-US" sz="1400" dirty="0">
              <a:solidFill>
                <a:srgbClr val="000000"/>
              </a:solidFill>
              <a:latin typeface="Times New Roman" panose="02020603050405020304" pitchFamily="18" charset="0"/>
              <a:ea typeface="宋体" panose="02010600030101010101" pitchFamily="2" charset="-122"/>
            </a:endParaRPr>
          </a:p>
        </p:txBody>
      </p:sp>
      <p:sp>
        <p:nvSpPr>
          <p:cNvPr id="216068" name="Text Box 4"/>
          <p:cNvSpPr txBox="1"/>
          <p:nvPr/>
        </p:nvSpPr>
        <p:spPr>
          <a:xfrm>
            <a:off x="684213" y="1412875"/>
            <a:ext cx="8064500" cy="4367213"/>
          </a:xfrm>
          <a:prstGeom prst="rect">
            <a:avLst/>
          </a:prstGeom>
          <a:noFill/>
          <a:ln w="9525">
            <a:noFill/>
          </a:ln>
        </p:spPr>
        <p:txBody>
          <a:bodyPr anchor="t">
            <a:spAutoFit/>
          </a:bodyPr>
          <a:lstStyle/>
          <a:p>
            <a:pPr algn="just" eaLnBrk="0" hangingPunct="0">
              <a:spcBef>
                <a:spcPct val="50000"/>
              </a:spcBef>
              <a:buFont typeface="Wingdings" panose="05000000000000000000" pitchFamily="2" charset="2"/>
            </a:pPr>
            <a:r>
              <a:rPr lang="en-US" altLang="zh-CN" sz="2800" dirty="0">
                <a:solidFill>
                  <a:srgbClr val="000000"/>
                </a:solidFill>
                <a:latin typeface="宋体" panose="02010600030101010101" pitchFamily="2" charset="-122"/>
              </a:rPr>
              <a:t>PROLOG：</a:t>
            </a:r>
            <a:r>
              <a:rPr lang="zh-CN" altLang="en-US" sz="2800" dirty="0">
                <a:solidFill>
                  <a:srgbClr val="000000"/>
                </a:solidFill>
                <a:latin typeface="宋体" panose="02010600030101010101" pitchFamily="2" charset="-122"/>
                <a:ea typeface="宋体" panose="02010600030101010101" pitchFamily="2" charset="-122"/>
              </a:rPr>
              <a:t>适用于人工智能的专家系统的说明性语言    </a:t>
            </a:r>
          </a:p>
          <a:p>
            <a:pPr algn="just" eaLnBrk="0" hangingPunct="0">
              <a:spcBef>
                <a:spcPct val="50000"/>
              </a:spcBef>
              <a:buFont typeface="Wingdings" panose="05000000000000000000" pitchFamily="2" charset="2"/>
            </a:pPr>
            <a:r>
              <a:rPr lang="zh-CN" altLang="en-US" sz="2800" dirty="0">
                <a:solidFill>
                  <a:srgbClr val="000000"/>
                </a:solidFill>
                <a:latin typeface="宋体" panose="02010600030101010101" pitchFamily="2" charset="-122"/>
                <a:ea typeface="宋体" panose="02010600030101010101" pitchFamily="2" charset="-122"/>
              </a:rPr>
              <a:t>已知事实：</a:t>
            </a:r>
          </a:p>
          <a:p>
            <a:pPr algn="just" eaLnBrk="0" hangingPunct="0">
              <a:spcBef>
                <a:spcPct val="50000"/>
              </a:spcBef>
            </a:pPr>
            <a:r>
              <a:rPr lang="en-US" altLang="zh-CN" sz="2800" dirty="0">
                <a:solidFill>
                  <a:srgbClr val="000000"/>
                </a:solidFill>
                <a:latin typeface="宋体" panose="02010600030101010101" pitchFamily="2" charset="-122"/>
              </a:rPr>
              <a:t>	human(John)</a:t>
            </a:r>
          </a:p>
          <a:p>
            <a:pPr algn="just" eaLnBrk="0" hangingPunct="0">
              <a:spcBef>
                <a:spcPct val="50000"/>
              </a:spcBef>
            </a:pPr>
            <a:r>
              <a:rPr lang="en-US" altLang="zh-CN" sz="2800" dirty="0">
                <a:solidFill>
                  <a:srgbClr val="000000"/>
                </a:solidFill>
                <a:latin typeface="宋体" panose="02010600030101010101" pitchFamily="2" charset="-122"/>
              </a:rPr>
              <a:t>	mortal(human)</a:t>
            </a:r>
          </a:p>
          <a:p>
            <a:pPr algn="just" eaLnBrk="0" hangingPunct="0">
              <a:spcBef>
                <a:spcPct val="50000"/>
              </a:spcBef>
            </a:pPr>
            <a:r>
              <a:rPr lang="zh-CN" altLang="en-US" sz="2800" dirty="0">
                <a:solidFill>
                  <a:srgbClr val="000000"/>
                </a:solidFill>
                <a:latin typeface="宋体" panose="02010600030101010101" pitchFamily="2" charset="-122"/>
                <a:ea typeface="宋体" panose="02010600030101010101" pitchFamily="2" charset="-122"/>
              </a:rPr>
              <a:t>用户可以进行查询</a:t>
            </a:r>
          </a:p>
          <a:p>
            <a:pPr algn="just" eaLnBrk="0" hangingPunct="0">
              <a:spcBef>
                <a:spcPct val="50000"/>
              </a:spcBef>
            </a:pPr>
            <a:r>
              <a:rPr lang="zh-CN" altLang="en-US" sz="2800" dirty="0">
                <a:solidFill>
                  <a:srgbClr val="000000"/>
                </a:solidFill>
                <a:latin typeface="宋体" panose="02010600030101010101" pitchFamily="2" charset="-122"/>
                <a:ea typeface="宋体" panose="02010600030101010101" pitchFamily="2" charset="-122"/>
              </a:rPr>
              <a:t>	?-</a:t>
            </a:r>
            <a:r>
              <a:rPr lang="en-US" altLang="zh-CN" sz="2800" dirty="0">
                <a:solidFill>
                  <a:srgbClr val="000000"/>
                </a:solidFill>
                <a:latin typeface="宋体" panose="02010600030101010101" pitchFamily="2" charset="-122"/>
              </a:rPr>
              <a:t>mortal (John)</a:t>
            </a:r>
          </a:p>
          <a:p>
            <a:pPr algn="just" eaLnBrk="0" hangingPunct="0">
              <a:spcBef>
                <a:spcPct val="50000"/>
              </a:spcBef>
            </a:pPr>
            <a:r>
              <a:rPr lang="zh-CN" altLang="en-US" sz="2800" dirty="0">
                <a:solidFill>
                  <a:srgbClr val="000000"/>
                </a:solidFill>
                <a:latin typeface="宋体" panose="02010600030101010101" pitchFamily="2" charset="-122"/>
                <a:ea typeface="宋体" panose="02010600030101010101" pitchFamily="2" charset="-122"/>
              </a:rPr>
              <a:t>程序响应是</a:t>
            </a:r>
            <a:r>
              <a:rPr lang="zh-CN" altLang="en-US" sz="2800" dirty="0">
                <a:solidFill>
                  <a:srgbClr val="000000"/>
                </a:solidFill>
                <a:latin typeface="Times New Roman" panose="02020603050405020304" pitchFamily="18" charset="0"/>
                <a:ea typeface="宋体" panose="02010600030101010101" pitchFamily="2" charset="-122"/>
              </a:rPr>
              <a:t>(</a:t>
            </a:r>
            <a:r>
              <a:rPr lang="en-US" altLang="zh-CN" sz="2800" dirty="0">
                <a:solidFill>
                  <a:srgbClr val="000000"/>
                </a:solidFill>
                <a:latin typeface="Times New Roman" panose="02020603050405020304" pitchFamily="18" charset="0"/>
              </a:rPr>
              <a:t>yes)</a:t>
            </a:r>
            <a:r>
              <a:rPr lang="en-US" altLang="zh-CN" sz="2800" dirty="0">
                <a:solidFill>
                  <a:srgbClr val="000000"/>
                </a:solidFill>
                <a:latin typeface="宋体" panose="02010600030101010101" pitchFamily="2" charset="-122"/>
              </a:rPr>
              <a:t>。</a:t>
            </a:r>
            <a:r>
              <a:rPr lang="en-US" altLang="zh-CN" sz="2800" dirty="0">
                <a:solidFill>
                  <a:srgbClr val="000000"/>
                </a:solidFill>
                <a:latin typeface="Times New Roman" panose="02020603050405020304" pitchFamily="18" charset="0"/>
              </a:rPr>
              <a:t> </a:t>
            </a:r>
            <a:endParaRPr lang="zh-CN" altLang="en-US" sz="2800" dirty="0">
              <a:solidFill>
                <a:srgbClr val="000000"/>
              </a:solidFill>
              <a:latin typeface="Times New Roman" panose="02020603050405020304" pitchFamily="18" charset="0"/>
              <a:ea typeface="宋体" panose="02010600030101010101" pitchFamily="2" charset="-122"/>
            </a:endParaRPr>
          </a:p>
        </p:txBody>
      </p:sp>
      <p:sp>
        <p:nvSpPr>
          <p:cNvPr id="83971" name="Rectangle 7"/>
          <p:cNvSpPr>
            <a:spLocks noGrp="1"/>
          </p:cNvSpPr>
          <p:nvPr>
            <p:ph type="title"/>
          </p:nvPr>
        </p:nvSpPr>
        <p:spPr>
          <a:xfrm>
            <a:off x="755650" y="404813"/>
            <a:ext cx="8280400" cy="720725"/>
          </a:xfrm>
        </p:spPr>
        <p:txBody>
          <a:bodyPr vert="horz" wrap="square" lIns="91440" tIns="45720" rIns="91440" bIns="45720" anchor="ctr"/>
          <a:lstStyle/>
          <a:p>
            <a:pPr eaLnBrk="1" hangingPunct="1"/>
            <a:r>
              <a:rPr lang="en-US" altLang="zh-CN" b="1" dirty="0"/>
              <a:t>1.4 </a:t>
            </a:r>
            <a:r>
              <a:rPr lang="zh-CN" altLang="en-US" b="1" dirty="0"/>
              <a:t>程序设计语言的分类－</a:t>
            </a:r>
            <a:r>
              <a:rPr lang="zh-CN" altLang="en-US" sz="2800" b="1" dirty="0"/>
              <a:t>说明性（逻辑）语言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6068"/>
                                        </p:tgtEl>
                                        <p:attrNameLst>
                                          <p:attrName>style.visibility</p:attrName>
                                        </p:attrNameLst>
                                      </p:cBhvr>
                                      <p:to>
                                        <p:strVal val="visible"/>
                                      </p:to>
                                    </p:set>
                                    <p:animEffect transition="in" filter="blinds(horizontal)">
                                      <p:cBhvr>
                                        <p:cTn id="7" dur="500"/>
                                        <p:tgtEl>
                                          <p:spTgt spid="216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灯片编号占位符 5"/>
          <p:cNvSpPr>
            <a:spLocks noGrp="1"/>
          </p:cNvSpPr>
          <p:nvPr>
            <p:ph type="sldNum" sz="quarter" idx="12"/>
          </p:nvPr>
        </p:nvSpPr>
        <p:spPr/>
        <p:txBody>
          <a:bodyPr wrap="square" lIns="91440" tIns="45720" rIns="91440" bIns="45720" anchor="t"/>
          <a:lstStyle>
            <a:lvl1pPr marL="0" lvl="0" indent="0" algn="l" defTabSz="914400" rtl="0" eaLnBrk="1" fontAlgn="base" latinLnBrk="0" hangingPunct="1">
              <a:lnSpc>
                <a:spcPct val="100000"/>
              </a:lnSpc>
              <a:spcBef>
                <a:spcPct val="0"/>
              </a:spcBef>
              <a:spcAft>
                <a:spcPct val="0"/>
              </a:spcAft>
              <a:buFontTx/>
              <a:buNone/>
              <a:defRPr sz="1800" b="1"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Tx/>
              <a:buNone/>
              <a:defRPr b="1" i="0" u="none" kern="1200" baseline="0">
                <a:solidFill>
                  <a:schemeClr val="tx1"/>
                </a:solidFill>
                <a:latin typeface="Times New Roman" panose="02020603050405020304" pitchFamily="18" charset="0"/>
                <a:ea typeface="宋体" panose="02010600030101010101" pitchFamily="2" charset="-122"/>
                <a:cs typeface="+mn-cs"/>
              </a:defRPr>
            </a:lvl5pPr>
          </a:lstStyle>
          <a:p>
            <a:pPr lvl="0" indent="0" algn="r">
              <a:spcBef>
                <a:spcPct val="50000"/>
              </a:spcBef>
            </a:pPr>
            <a:fld id="{9A0DB2DC-4C9A-4742-B13C-FB6460FD3503}" type="slidenum">
              <a:rPr lang="zh-CN" altLang="en-US" sz="1400" dirty="0">
                <a:solidFill>
                  <a:srgbClr val="000000"/>
                </a:solidFill>
                <a:latin typeface="Times New Roman" panose="02020603050405020304" pitchFamily="18" charset="0"/>
                <a:ea typeface="宋体" panose="02010600030101010101" pitchFamily="2" charset="-122"/>
              </a:rPr>
              <a:t>26</a:t>
            </a:fld>
            <a:endParaRPr lang="zh-CN" altLang="en-US" sz="1400" dirty="0">
              <a:solidFill>
                <a:srgbClr val="000000"/>
              </a:solidFill>
              <a:latin typeface="Times New Roman" panose="02020603050405020304" pitchFamily="18" charset="0"/>
              <a:ea typeface="宋体" panose="02010600030101010101" pitchFamily="2" charset="-122"/>
            </a:endParaRPr>
          </a:p>
        </p:txBody>
      </p:sp>
      <p:grpSp>
        <p:nvGrpSpPr>
          <p:cNvPr id="84994" name="Group 4"/>
          <p:cNvGrpSpPr/>
          <p:nvPr/>
        </p:nvGrpSpPr>
        <p:grpSpPr>
          <a:xfrm>
            <a:off x="457200" y="1196975"/>
            <a:ext cx="2667000" cy="544513"/>
            <a:chOff x="2880" y="864"/>
            <a:chExt cx="1056" cy="336"/>
          </a:xfrm>
        </p:grpSpPr>
        <p:sp>
          <p:nvSpPr>
            <p:cNvPr id="84995" name="Rectangle 5"/>
            <p:cNvSpPr/>
            <p:nvPr/>
          </p:nvSpPr>
          <p:spPr>
            <a:xfrm>
              <a:off x="2880" y="864"/>
              <a:ext cx="1056" cy="336"/>
            </a:xfrm>
            <a:prstGeom prst="rect">
              <a:avLst/>
            </a:prstGeom>
            <a:gradFill rotWithShape="0">
              <a:gsLst>
                <a:gs pos="0">
                  <a:srgbClr val="3E040E"/>
                </a:gs>
                <a:gs pos="50000">
                  <a:srgbClr val="CF0E30"/>
                </a:gs>
                <a:gs pos="100000">
                  <a:srgbClr val="3E040E"/>
                </a:gs>
              </a:gsLst>
              <a:lin ang="2700000" scaled="1"/>
              <a:tileRect/>
            </a:gradFill>
            <a:ln w="28575" cap="flat" cmpd="sng">
              <a:solidFill>
                <a:srgbClr val="F68295"/>
              </a:solidFill>
              <a:prstDash val="solid"/>
              <a:miter/>
              <a:headEnd type="none" w="med" len="med"/>
              <a:tailEnd type="none" w="med" len="med"/>
            </a:ln>
          </p:spPr>
          <p:txBody>
            <a:bodyPr wrap="none" anchor="ctr"/>
            <a:lstStyle/>
            <a:p>
              <a:endParaRPr lang="zh-CN" altLang="en-US" dirty="0">
                <a:solidFill>
                  <a:srgbClr val="000000"/>
                </a:solidFill>
                <a:latin typeface="Times New Roman" panose="02020603050405020304" pitchFamily="18" charset="0"/>
                <a:ea typeface="宋体" panose="02010600030101010101" pitchFamily="2" charset="-122"/>
              </a:endParaRPr>
            </a:p>
          </p:txBody>
        </p:sp>
        <p:sp>
          <p:nvSpPr>
            <p:cNvPr id="84996" name="Text Box 6"/>
            <p:cNvSpPr txBox="1"/>
            <p:nvPr/>
          </p:nvSpPr>
          <p:spPr>
            <a:xfrm>
              <a:off x="2880" y="864"/>
              <a:ext cx="1008" cy="320"/>
            </a:xfrm>
            <a:prstGeom prst="rect">
              <a:avLst/>
            </a:prstGeom>
            <a:noFill/>
            <a:ln w="9525">
              <a:noFill/>
            </a:ln>
          </p:spPr>
          <p:txBody>
            <a:bodyPr anchor="t">
              <a:spAutoFit/>
            </a:bodyPr>
            <a:lstStyle/>
            <a:p>
              <a:pPr algn="ctr" eaLnBrk="0" hangingPunct="0">
                <a:spcBef>
                  <a:spcPct val="50000"/>
                </a:spcBef>
              </a:pPr>
              <a:r>
                <a:rPr lang="zh-CN" altLang="en-US" sz="2800" dirty="0">
                  <a:solidFill>
                    <a:srgbClr val="FFFFFF"/>
                  </a:solidFill>
                  <a:latin typeface="楷体_GB2312" pitchFamily="1" charset="-122"/>
                  <a:ea typeface="楷体_GB2312" pitchFamily="1" charset="-122"/>
                </a:rPr>
                <a:t>5、</a:t>
              </a:r>
              <a:r>
                <a:rPr lang="zh-CN" altLang="en-US" sz="2800" dirty="0">
                  <a:solidFill>
                    <a:srgbClr val="FFFFFF"/>
                  </a:solidFill>
                  <a:latin typeface="宋体" panose="02010600030101010101" pitchFamily="2" charset="-122"/>
                  <a:ea typeface="宋体" panose="02010600030101010101" pitchFamily="2" charset="-122"/>
                </a:rPr>
                <a:t>专用语言 </a:t>
              </a:r>
            </a:p>
          </p:txBody>
        </p:sp>
      </p:grpSp>
      <p:sp>
        <p:nvSpPr>
          <p:cNvPr id="84997" name="Rectangle 7"/>
          <p:cNvSpPr>
            <a:spLocks noGrp="1"/>
          </p:cNvSpPr>
          <p:nvPr>
            <p:ph type="title"/>
          </p:nvPr>
        </p:nvSpPr>
        <p:spPr/>
        <p:txBody>
          <a:bodyPr vert="horz" wrap="square" lIns="92075" tIns="46038" rIns="92075" bIns="46038" anchor="ctr"/>
          <a:lstStyle/>
          <a:p>
            <a:pPr eaLnBrk="1" hangingPunct="1"/>
            <a:r>
              <a:rPr lang="en-US" altLang="zh-CN" b="1" dirty="0"/>
              <a:t>1.4 </a:t>
            </a:r>
            <a:r>
              <a:rPr lang="zh-CN" altLang="en-US" b="1" dirty="0"/>
              <a:t>程序设计语言的分类</a:t>
            </a:r>
            <a:endParaRPr lang="zh-CN" altLang="en-US" b="1" dirty="0">
              <a:solidFill>
                <a:srgbClr val="008080"/>
              </a:solidFill>
            </a:endParaRPr>
          </a:p>
        </p:txBody>
      </p:sp>
      <p:sp>
        <p:nvSpPr>
          <p:cNvPr id="218137" name="Text Box 25"/>
          <p:cNvSpPr txBox="1"/>
          <p:nvPr/>
        </p:nvSpPr>
        <p:spPr>
          <a:xfrm>
            <a:off x="754063" y="1885950"/>
            <a:ext cx="7489825" cy="3743325"/>
          </a:xfrm>
          <a:prstGeom prst="rect">
            <a:avLst/>
          </a:prstGeom>
          <a:noFill/>
          <a:ln w="9525">
            <a:noFill/>
          </a:ln>
        </p:spPr>
        <p:txBody>
          <a:bodyPr anchor="t">
            <a:spAutoFit/>
          </a:bodyPr>
          <a:lstStyle/>
          <a:p>
            <a:pPr eaLnBrk="0" hangingPunct="0">
              <a:spcBef>
                <a:spcPct val="50000"/>
              </a:spcBef>
              <a:buClr>
                <a:srgbClr val="6600FF"/>
              </a:buClr>
              <a:buSzPct val="50000"/>
              <a:buFont typeface="Wingdings" panose="05000000000000000000" pitchFamily="2" charset="2"/>
              <a:buChar char="u"/>
            </a:pPr>
            <a:r>
              <a:rPr lang="en-US" altLang="zh-CN" sz="2400" dirty="0">
                <a:solidFill>
                  <a:srgbClr val="000000"/>
                </a:solidFill>
                <a:latin typeface="Times New Roman" panose="02020603050405020304" pitchFamily="18" charset="0"/>
              </a:rPr>
              <a:t> HTML：</a:t>
            </a:r>
            <a:r>
              <a:rPr lang="zh-CN" altLang="en-US" sz="2400" dirty="0">
                <a:solidFill>
                  <a:srgbClr val="000000"/>
                </a:solidFill>
                <a:latin typeface="宋体" panose="02010600030101010101" pitchFamily="2" charset="-122"/>
                <a:ea typeface="宋体" panose="02010600030101010101" pitchFamily="2" charset="-122"/>
              </a:rPr>
              <a:t>超文本标记语言（</a:t>
            </a:r>
            <a:r>
              <a:rPr lang="en-US" altLang="zh-CN" sz="2400" dirty="0">
                <a:solidFill>
                  <a:srgbClr val="000000"/>
                </a:solidFill>
                <a:latin typeface="宋体" panose="02010600030101010101" pitchFamily="2" charset="-122"/>
              </a:rPr>
              <a:t>Hypertext Markup Language，HTML）</a:t>
            </a:r>
            <a:r>
              <a:rPr lang="zh-CN" altLang="en-US" sz="2400" dirty="0">
                <a:solidFill>
                  <a:srgbClr val="000000"/>
                </a:solidFill>
                <a:latin typeface="宋体" panose="02010600030101010101" pitchFamily="2" charset="-122"/>
                <a:ea typeface="宋体" panose="02010600030101010101" pitchFamily="2" charset="-122"/>
              </a:rPr>
              <a:t>，</a:t>
            </a:r>
            <a:r>
              <a:rPr lang="zh-CN" altLang="en-US" sz="2400" dirty="0">
                <a:solidFill>
                  <a:srgbClr val="000000"/>
                </a:solidFill>
                <a:latin typeface="Times New Roman" panose="02020603050405020304" pitchFamily="18" charset="0"/>
                <a:ea typeface="宋体" panose="02010600030101010101" pitchFamily="2" charset="-122"/>
              </a:rPr>
              <a:t>是</a:t>
            </a:r>
            <a:r>
              <a:rPr lang="en-US" altLang="zh-CN" sz="2400" b="0" dirty="0">
                <a:solidFill>
                  <a:srgbClr val="000000"/>
                </a:solidFill>
                <a:latin typeface="Times New Roman" panose="02020603050405020304" pitchFamily="18" charset="0"/>
              </a:rPr>
              <a:t>World Wide Web Consortium (W3C)</a:t>
            </a:r>
            <a:r>
              <a:rPr lang="zh-CN" altLang="en-US" sz="2400" dirty="0">
                <a:solidFill>
                  <a:srgbClr val="000000"/>
                </a:solidFill>
                <a:latin typeface="Times New Roman" panose="02020603050405020304" pitchFamily="18" charset="0"/>
                <a:ea typeface="宋体" panose="02010600030101010101" pitchFamily="2" charset="-122"/>
              </a:rPr>
              <a:t>组织发布的标准，专门为在互联网上发布信息而设计。 </a:t>
            </a:r>
            <a:endParaRPr lang="en-US" altLang="zh-CN" sz="2400" dirty="0">
              <a:solidFill>
                <a:srgbClr val="000000"/>
              </a:solidFill>
              <a:latin typeface="宋体" panose="02010600030101010101" pitchFamily="2" charset="-122"/>
            </a:endParaRPr>
          </a:p>
          <a:p>
            <a:pPr eaLnBrk="0" hangingPunct="0">
              <a:spcBef>
                <a:spcPct val="50000"/>
              </a:spcBef>
              <a:buClr>
                <a:srgbClr val="6600FF"/>
              </a:buClr>
              <a:buSzPct val="50000"/>
              <a:buFont typeface="Wingdings" panose="05000000000000000000" pitchFamily="2" charset="2"/>
              <a:buChar char="u"/>
            </a:pPr>
            <a:r>
              <a:rPr lang="en-US" altLang="zh-CN" sz="2400" dirty="0">
                <a:solidFill>
                  <a:srgbClr val="000000"/>
                </a:solidFill>
                <a:latin typeface="Times New Roman" panose="02020603050405020304" pitchFamily="18" charset="0"/>
              </a:rPr>
              <a:t>  HTML</a:t>
            </a:r>
            <a:r>
              <a:rPr lang="zh-CN" altLang="en-US" sz="2400" dirty="0">
                <a:solidFill>
                  <a:srgbClr val="000000"/>
                </a:solidFill>
                <a:latin typeface="Times New Roman" panose="02020603050405020304" pitchFamily="18" charset="0"/>
                <a:ea typeface="宋体" panose="02010600030101010101" pitchFamily="2" charset="-122"/>
              </a:rPr>
              <a:t>文件由文本和标签组成（类似</a:t>
            </a:r>
            <a:r>
              <a:rPr lang="en-US" altLang="zh-CN" sz="2400" dirty="0">
                <a:solidFill>
                  <a:srgbClr val="000000"/>
                </a:solidFill>
                <a:latin typeface="Times New Roman" panose="02020603050405020304" pitchFamily="18" charset="0"/>
              </a:rPr>
              <a:t>&lt;head&gt;,&lt;table&gt;</a:t>
            </a:r>
            <a:r>
              <a:rPr lang="zh-CN" altLang="en-US" sz="2400" dirty="0">
                <a:solidFill>
                  <a:srgbClr val="000000"/>
                </a:solidFill>
                <a:latin typeface="Times New Roman" panose="02020603050405020304" pitchFamily="18" charset="0"/>
                <a:ea typeface="宋体" panose="02010600030101010101" pitchFamily="2" charset="-122"/>
              </a:rPr>
              <a:t>等）。标签是预先规范和定义好的，用户不能自己创建。</a:t>
            </a:r>
          </a:p>
          <a:p>
            <a:pPr eaLnBrk="0" hangingPunct="0">
              <a:spcBef>
                <a:spcPct val="50000"/>
              </a:spcBef>
              <a:buClr>
                <a:srgbClr val="6600FF"/>
              </a:buClr>
              <a:buSzPct val="50000"/>
              <a:buFont typeface="Wingdings" panose="05000000000000000000" pitchFamily="2" charset="2"/>
              <a:buChar char="u"/>
            </a:pPr>
            <a:r>
              <a:rPr lang="zh-CN" altLang="en-US" sz="2400" dirty="0">
                <a:solidFill>
                  <a:srgbClr val="000000"/>
                </a:solidFill>
                <a:latin typeface="Times New Roman" panose="02020603050405020304" pitchFamily="18" charset="0"/>
                <a:ea typeface="宋体" panose="02010600030101010101" pitchFamily="2" charset="-122"/>
              </a:rPr>
              <a:t> 存放在服务器端，可以由浏览器下载到本地进行解析、显示。</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8137"/>
                                        </p:tgtEl>
                                        <p:attrNameLst>
                                          <p:attrName>style.visibility</p:attrName>
                                        </p:attrNameLst>
                                      </p:cBhvr>
                                      <p:to>
                                        <p:strVal val="visible"/>
                                      </p:to>
                                    </p:set>
                                    <p:animEffect transition="in" filter="dissolve">
                                      <p:cBhvr>
                                        <p:cTn id="7" dur="500"/>
                                        <p:tgtEl>
                                          <p:spTgt spid="218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27</a:t>
            </a:fld>
            <a:endParaRPr lang="zh-CN" altLang="en-US" sz="1400" dirty="0">
              <a:latin typeface="Times New Roman" panose="02020603050405020304" pitchFamily="2" charset="0"/>
            </a:endParaRPr>
          </a:p>
        </p:txBody>
      </p:sp>
      <p:sp>
        <p:nvSpPr>
          <p:cNvPr id="14340" name="Rectangle 13"/>
          <p:cNvSpPr>
            <a:spLocks noGrp="1"/>
          </p:cNvSpPr>
          <p:nvPr>
            <p:ph type="title"/>
          </p:nvPr>
        </p:nvSpPr>
        <p:spPr/>
        <p:txBody>
          <a:bodyPr wrap="square" anchor="ctr"/>
          <a:lstStyle/>
          <a:p>
            <a:r>
              <a:rPr lang="zh-CN" altLang="en-US" b="1" dirty="0"/>
              <a:t>数据类型</a:t>
            </a:r>
          </a:p>
        </p:txBody>
      </p:sp>
      <p:sp>
        <p:nvSpPr>
          <p:cNvPr id="2" name="内容占位符 1">
            <a:extLst>
              <a:ext uri="{FF2B5EF4-FFF2-40B4-BE49-F238E27FC236}">
                <a16:creationId xmlns:a16="http://schemas.microsoft.com/office/drawing/2014/main" id="{3B932DB4-FE95-5315-3492-68CD318F40E3}"/>
              </a:ext>
            </a:extLst>
          </p:cNvPr>
          <p:cNvSpPr>
            <a:spLocks noGrp="1"/>
          </p:cNvSpPr>
          <p:nvPr>
            <p:ph idx="1"/>
          </p:nvPr>
        </p:nvSpPr>
        <p:spPr/>
        <p:txBody>
          <a:bodyPr/>
          <a:lstStyle/>
          <a:p>
            <a:r>
              <a:rPr lang="zh-CN" altLang="en-US" sz="2800" b="1" dirty="0">
                <a:latin typeface="宋体" panose="02010600030101010101" pitchFamily="2" charset="-122"/>
              </a:rPr>
              <a:t>数据类型 包括</a:t>
            </a:r>
            <a:r>
              <a:rPr lang="zh-CN" altLang="en-US" b="1" dirty="0">
                <a:latin typeface="宋体" panose="02010600030101010101" pitchFamily="2" charset="-122"/>
              </a:rPr>
              <a:t>三要素</a:t>
            </a:r>
            <a:r>
              <a:rPr lang="en-US" altLang="zh-CN" b="1" dirty="0">
                <a:latin typeface="宋体" panose="02010600030101010101" pitchFamily="2" charset="-122"/>
              </a:rPr>
              <a:t>(</a:t>
            </a:r>
            <a:r>
              <a:rPr lang="zh-CN" altLang="en-US" sz="2800" b="1" dirty="0">
                <a:latin typeface="宋体" panose="02010600030101010101" pitchFamily="2" charset="-122"/>
              </a:rPr>
              <a:t>含义</a:t>
            </a:r>
            <a:r>
              <a:rPr lang="en-US" altLang="zh-CN" sz="2800" b="1" dirty="0">
                <a:latin typeface="宋体" panose="02010600030101010101" pitchFamily="2" charset="-122"/>
              </a:rPr>
              <a:t>)</a:t>
            </a:r>
            <a:r>
              <a:rPr lang="zh-CN" altLang="en-US" sz="2800" b="1" dirty="0">
                <a:latin typeface="宋体" panose="02010600030101010101" pitchFamily="2" charset="-122"/>
              </a:rPr>
              <a:t>：</a:t>
            </a:r>
            <a:endParaRPr lang="en-US" altLang="zh-CN" sz="2800" b="1" dirty="0">
              <a:latin typeface="宋体" panose="02010600030101010101" pitchFamily="2" charset="-122"/>
            </a:endParaRPr>
          </a:p>
          <a:p>
            <a:pPr lvl="1"/>
            <a:r>
              <a:rPr lang="zh-CN" altLang="en-US" b="1" dirty="0">
                <a:latin typeface="宋体" panose="02010600030101010101" pitchFamily="2" charset="-122"/>
              </a:rPr>
              <a:t>逻辑结构，定义了数据的抽象</a:t>
            </a:r>
            <a:r>
              <a:rPr lang="en-US" altLang="zh-CN" b="1" dirty="0">
                <a:latin typeface="宋体" panose="02010600030101010101" pitchFamily="2" charset="-122"/>
              </a:rPr>
              <a:t>/</a:t>
            </a:r>
            <a:r>
              <a:rPr lang="zh-CN" altLang="en-US" b="1" dirty="0">
                <a:latin typeface="宋体" panose="02010600030101010101" pitchFamily="2" charset="-122"/>
              </a:rPr>
              <a:t>值的集合</a:t>
            </a:r>
            <a:r>
              <a:rPr lang="en-US" altLang="zh-CN" b="1" dirty="0">
                <a:latin typeface="宋体" panose="02010600030101010101" pitchFamily="2" charset="-122"/>
              </a:rPr>
              <a:t>(</a:t>
            </a:r>
            <a:r>
              <a:rPr lang="zh-CN" altLang="en-US" b="1" dirty="0">
                <a:solidFill>
                  <a:schemeClr val="tx1"/>
                </a:solidFill>
                <a:latin typeface="宋体" panose="02010600030101010101" pitchFamily="2" charset="-122"/>
              </a:rPr>
              <a:t>属于该类型的数据能够</a:t>
            </a:r>
            <a:r>
              <a:rPr lang="zh-CN" altLang="en-US" b="1" dirty="0">
                <a:solidFill>
                  <a:srgbClr val="FF3300"/>
                </a:solidFill>
                <a:latin typeface="宋体" panose="02010600030101010101" pitchFamily="2" charset="-122"/>
              </a:rPr>
              <a:t>取值的范围</a:t>
            </a:r>
            <a:r>
              <a:rPr lang="zh-CN" altLang="en-US" b="1" dirty="0">
                <a:latin typeface="宋体" panose="02010600030101010101" pitchFamily="2" charset="-122"/>
              </a:rPr>
              <a:t>）；</a:t>
            </a:r>
            <a:endParaRPr lang="en-US" altLang="zh-CN" b="1" dirty="0">
              <a:latin typeface="宋体" panose="02010600030101010101" pitchFamily="2" charset="-122"/>
            </a:endParaRPr>
          </a:p>
          <a:p>
            <a:pPr lvl="1"/>
            <a:r>
              <a:rPr lang="zh-CN" altLang="en-US" b="1" dirty="0">
                <a:latin typeface="宋体" panose="02010600030101010101" pitchFamily="2" charset="-122"/>
              </a:rPr>
              <a:t>存储结构，规定了数据的存储方式；</a:t>
            </a:r>
            <a:endParaRPr lang="en-US" altLang="zh-CN" b="1" dirty="0">
              <a:latin typeface="宋体" panose="02010600030101010101" pitchFamily="2" charset="-122"/>
            </a:endParaRPr>
          </a:p>
          <a:p>
            <a:pPr lvl="1"/>
            <a:r>
              <a:rPr lang="zh-CN" altLang="en-US" b="1" dirty="0">
                <a:latin typeface="宋体" panose="02010600030101010101" pitchFamily="2" charset="-122"/>
              </a:rPr>
              <a:t>能应用于这些数值上的操作集合（</a:t>
            </a:r>
            <a:r>
              <a:rPr lang="zh-CN" altLang="en-US" b="1" dirty="0">
                <a:solidFill>
                  <a:srgbClr val="FF3300"/>
                </a:solidFill>
                <a:latin typeface="宋体" panose="02010600030101010101" pitchFamily="2" charset="-122"/>
              </a:rPr>
              <a:t>数据操作</a:t>
            </a:r>
            <a:r>
              <a:rPr lang="zh-CN" altLang="en-US" b="1" dirty="0">
                <a:latin typeface="宋体" panose="02010600030101010101" pitchFamily="2" charset="-122"/>
              </a:rPr>
              <a:t>）。</a:t>
            </a:r>
            <a:endParaRPr lang="en-US" altLang="zh-CN" b="1" dirty="0">
              <a:latin typeface="宋体" panose="02010600030101010101" pitchFamily="2" charset="-122"/>
            </a:endParaRPr>
          </a:p>
          <a:p>
            <a:endParaRPr lang="en-US" altLang="zh-CN" b="1" dirty="0">
              <a:latin typeface="宋体" panose="02010600030101010101" pitchFamily="2" charset="-122"/>
            </a:endParaRPr>
          </a:p>
          <a:p>
            <a:r>
              <a:rPr lang="zh-CN" altLang="en-US" b="1" dirty="0">
                <a:latin typeface="宋体" panose="02010600030101010101" pitchFamily="2" charset="-122"/>
              </a:rPr>
              <a:t>浮点数集合，支持算术运算、数学函数运算。</a:t>
            </a:r>
            <a:endParaRPr lang="en-US" altLang="zh-CN" b="1" dirty="0">
              <a:latin typeface="宋体" panose="02010600030101010101" pitchFamily="2" charset="-122"/>
            </a:endParaRPr>
          </a:p>
          <a:p>
            <a:r>
              <a:rPr lang="zh-CN" altLang="en-US" sz="2800" b="1" dirty="0">
                <a:latin typeface="宋体" panose="02010600030101010101" pitchFamily="2" charset="-122"/>
              </a:rPr>
              <a:t>整数集合，支持编码转换，以及整数的加、减、乘和</a:t>
            </a:r>
            <a:r>
              <a:rPr lang="zh-CN" altLang="en-US" sz="2800" b="1" u="sng" dirty="0">
                <a:latin typeface="宋体" panose="02010600030101010101" pitchFamily="2" charset="-122"/>
              </a:rPr>
              <a:t>整数除法运算</a:t>
            </a:r>
            <a:r>
              <a:rPr lang="zh-CN" altLang="en-US" sz="2800" b="1" dirty="0">
                <a:latin typeface="宋体" panose="02010600030101010101" pitchFamily="2" charset="-122"/>
              </a:rPr>
              <a:t>。 </a:t>
            </a:r>
          </a:p>
          <a:p>
            <a:endParaRPr lang="zh-CN" altLang="en-US" b="1" dirty="0"/>
          </a:p>
        </p:txBody>
      </p:sp>
    </p:spTree>
    <p:extLst>
      <p:ext uri="{BB962C8B-B14F-4D97-AF65-F5344CB8AC3E}">
        <p14:creationId xmlns:p14="http://schemas.microsoft.com/office/powerpoint/2010/main" val="27016899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39" name="文本占位符 372738"/>
          <p:cNvSpPr>
            <a:spLocks noGrp="1"/>
          </p:cNvSpPr>
          <p:nvPr>
            <p:ph idx="1"/>
          </p:nvPr>
        </p:nvSpPr>
        <p:spPr>
          <a:xfrm>
            <a:off x="266700" y="1466850"/>
            <a:ext cx="8609330" cy="4733925"/>
          </a:xfrm>
        </p:spPr>
        <p:txBody>
          <a:bodyPr lIns="91431" tIns="45715" rIns="91431" bIns="45715"/>
          <a:lstStyle/>
          <a:p>
            <a:pPr algn="just" defTabSz="914400" fontAlgn="base">
              <a:lnSpc>
                <a:spcPct val="105000"/>
              </a:lnSpc>
              <a:spcBef>
                <a:spcPct val="0"/>
              </a:spcBef>
              <a:buFont typeface="Wingdings" panose="05000000000000000000" charset="0"/>
              <a:buChar char="l"/>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计算机中存储一个数据的物理空间是固定的，即一个</a:t>
            </a:r>
            <a:r>
              <a:rPr lang="zh-CN" altLang="en-US" strike="noStrike" noProof="1">
                <a:solidFill>
                  <a:srgbClr val="FF0000"/>
                </a:solidFill>
                <a:latin typeface="微软雅黑" panose="020B0503020204020204" charset="-122"/>
                <a:ea typeface="微软雅黑" panose="020B0503020204020204" charset="-122"/>
                <a:cs typeface="微软雅黑" panose="020B0503020204020204" charset="-122"/>
              </a:rPr>
              <a:t>字长</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a:t>
            </a:r>
          </a:p>
          <a:p>
            <a:pPr algn="just" defTabSz="914400" fontAlgn="base">
              <a:lnSpc>
                <a:spcPct val="105000"/>
              </a:lnSpc>
              <a:spcBef>
                <a:spcPct val="0"/>
              </a:spcBef>
              <a:buFont typeface="Wingdings" panose="05000000000000000000" charset="0"/>
              <a:buChar char="l"/>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一台</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32</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位机的计算机上，整数</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108</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这样存储：</a:t>
            </a:r>
          </a:p>
          <a:p>
            <a:pPr marL="0" indent="0" algn="just" defTabSz="914400" fontAlgn="base">
              <a:lnSpc>
                <a:spcPct val="105000"/>
              </a:lnSpc>
              <a:spcBef>
                <a:spcPct val="0"/>
              </a:spcBef>
              <a:buFont typeface="Wingdings" panose="05000000000000000000" charset="0"/>
              <a:buNone/>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       </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00000000 00000000 00000000 01101100</a:t>
            </a:r>
            <a:endPar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endParaRPr>
          </a:p>
          <a:p>
            <a:pPr algn="just" defTabSz="914400" fontAlgn="base">
              <a:lnSpc>
                <a:spcPct val="105000"/>
              </a:lnSpc>
              <a:spcBef>
                <a:spcPct val="0"/>
              </a:spcBef>
              <a:buFont typeface="Wingdings" panose="05000000000000000000" charset="0"/>
              <a:buChar char="l"/>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但是小数的计算机表示形式，采用</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尾数</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这是一个纯小数</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和</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指数</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mn-ea"/>
              </a:rPr>
              <a:t>这是一个整数</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组合表示。</a:t>
            </a:r>
            <a:endPar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endParaRPr>
          </a:p>
          <a:p>
            <a:pPr marL="0" indent="0" algn="just" defTabSz="914400" fontAlgn="base">
              <a:lnSpc>
                <a:spcPct val="105000"/>
              </a:lnSpc>
              <a:spcBef>
                <a:spcPct val="0"/>
              </a:spcBef>
              <a:buNone/>
            </a:pPr>
            <a:r>
              <a:rPr lang="zh-CN" altLang="en-US" strike="noStrike" noProof="1">
                <a:solidFill>
                  <a:schemeClr val="tx2"/>
                </a:solidFill>
                <a:latin typeface="微软雅黑" panose="020B0503020204020204" charset="-122"/>
                <a:ea typeface="微软雅黑" panose="020B0503020204020204" charset="-122"/>
                <a:cs typeface="微软雅黑" panose="020B0503020204020204" charset="-122"/>
              </a:rPr>
              <a:t>例如：</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1001.011 = 2</a:t>
            </a:r>
            <a:r>
              <a:rPr lang="en-US" altLang="zh-CN" strike="noStrike" baseline="30000" noProof="1">
                <a:solidFill>
                  <a:schemeClr val="tx2"/>
                </a:solidFill>
                <a:uFillTx/>
                <a:latin typeface="微软雅黑" panose="020B0503020204020204" charset="-122"/>
                <a:ea typeface="微软雅黑" panose="020B0503020204020204" charset="-122"/>
                <a:cs typeface="微软雅黑" panose="020B0503020204020204" charset="-122"/>
              </a:rPr>
              <a:t>3</a:t>
            </a:r>
            <a:r>
              <a:rPr lang="en-US" altLang="zh-CN" strike="noStrike" baseline="30000" noProof="1">
                <a:solidFill>
                  <a:schemeClr val="tx2"/>
                </a:solidFill>
                <a:latin typeface="微软雅黑" panose="020B0503020204020204" charset="-122"/>
                <a:ea typeface="微软雅黑" panose="020B0503020204020204" charset="-122"/>
                <a:cs typeface="微软雅黑" panose="020B0503020204020204" charset="-122"/>
              </a:rPr>
              <a:t>(011)</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 </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sym typeface="Symbol" panose="05050102010706020507" pitchFamily="2" charset="2"/>
              </a:rPr>
              <a:t></a:t>
            </a:r>
            <a:r>
              <a:rPr lang="en-US" altLang="zh-CN" strike="noStrike" noProof="1">
                <a:solidFill>
                  <a:schemeClr val="tx2"/>
                </a:solidFill>
                <a:latin typeface="微软雅黑" panose="020B0503020204020204" charset="-122"/>
                <a:ea typeface="微软雅黑" panose="020B0503020204020204" charset="-122"/>
                <a:cs typeface="微软雅黑" panose="020B0503020204020204" charset="-122"/>
              </a:rPr>
              <a:t> ( 1.001011 ) </a:t>
            </a:r>
          </a:p>
        </p:txBody>
      </p:sp>
      <p:sp>
        <p:nvSpPr>
          <p:cNvPr id="2" name="灯片编号占位符 1"/>
          <p:cNvSpPr>
            <a:spLocks noGrp="1"/>
          </p:cNvSpPr>
          <p:nvPr>
            <p:ph type="sldNum" sz="quarter" idx="12"/>
          </p:nvPr>
        </p:nvSpPr>
        <p:spPr/>
        <p:txBody>
          <a:bodyPr/>
          <a:lstStyle/>
          <a:p>
            <a:pPr lvl="0" defTabSz="717550" fontAlgn="base"/>
            <a:fld id="{9A0DB2DC-4C9A-4742-B13C-FB6460FD3503}" type="slidenum">
              <a:rPr lang="zh-CN" altLang="en-US" sz="1785" strike="noStrike" noProof="1" dirty="0">
                <a:latin typeface="Arial" panose="020B0604020202020204" pitchFamily="34" charset="0"/>
                <a:ea typeface="宋体" panose="02010600030101010101" pitchFamily="2" charset="-122"/>
                <a:cs typeface="+mn-cs"/>
              </a:rPr>
              <a:t>28</a:t>
            </a:fld>
            <a:endParaRPr lang="zh-CN" altLang="en-US" sz="1785" strike="noStrike" noProof="1">
              <a:latin typeface="Arial" panose="020B0604020202020204" pitchFamily="34" charset="0"/>
            </a:endParaRPr>
          </a:p>
        </p:txBody>
      </p:sp>
      <p:graphicFrame>
        <p:nvGraphicFramePr>
          <p:cNvPr id="3" name="对象 2"/>
          <p:cNvGraphicFramePr/>
          <p:nvPr/>
        </p:nvGraphicFramePr>
        <p:xfrm>
          <a:off x="2107565" y="-1270"/>
          <a:ext cx="6920865" cy="1344295"/>
        </p:xfrm>
        <a:graphic>
          <a:graphicData uri="http://schemas.openxmlformats.org/presentationml/2006/ole">
            <mc:AlternateContent xmlns:mc="http://schemas.openxmlformats.org/markup-compatibility/2006">
              <mc:Choice xmlns:v="urn:schemas-microsoft-com:vml" Requires="v">
                <p:oleObj r:id="rId2" imgW="6915150" imgH="1343025" progId="Paint.Picture">
                  <p:embed/>
                </p:oleObj>
              </mc:Choice>
              <mc:Fallback>
                <p:oleObj r:id="rId2" imgW="6915150" imgH="1343025" progId="Paint.Picture">
                  <p:embed/>
                  <p:pic>
                    <p:nvPicPr>
                      <p:cNvPr id="3" name="对象 2"/>
                      <p:cNvPicPr/>
                      <p:nvPr/>
                    </p:nvPicPr>
                    <p:blipFill>
                      <a:blip r:embed="rId3"/>
                      <a:stretch>
                        <a:fillRect/>
                      </a:stretch>
                    </p:blipFill>
                    <p:spPr>
                      <a:xfrm>
                        <a:off x="2107565" y="-1270"/>
                        <a:ext cx="6920865" cy="1344295"/>
                      </a:xfrm>
                      <a:prstGeom prst="rect">
                        <a:avLst/>
                      </a:prstGeom>
                    </p:spPr>
                  </p:pic>
                </p:oleObj>
              </mc:Fallback>
            </mc:AlternateContent>
          </a:graphicData>
        </a:graphic>
      </p:graphicFrame>
      <p:pic>
        <p:nvPicPr>
          <p:cNvPr id="7" name="图片 6">
            <a:extLst>
              <a:ext uri="{FF2B5EF4-FFF2-40B4-BE49-F238E27FC236}">
                <a16:creationId xmlns:a16="http://schemas.microsoft.com/office/drawing/2014/main" id="{C48F0ACD-4039-44E9-9875-277B8044B33E}"/>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691680" y="4762500"/>
            <a:ext cx="4984750" cy="1257300"/>
          </a:xfrm>
          <a:prstGeom prst="rect">
            <a:avLst/>
          </a:prstGeom>
          <a:noFill/>
          <a:ln>
            <a:noFill/>
          </a:ln>
        </p:spPr>
      </p:pic>
    </p:spTree>
    <p:extLst>
      <p:ext uri="{BB962C8B-B14F-4D97-AF65-F5344CB8AC3E}">
        <p14:creationId xmlns:p14="http://schemas.microsoft.com/office/powerpoint/2010/main" val="385025400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29</a:t>
            </a:fld>
            <a:endParaRPr lang="zh-CN" altLang="en-US" sz="1400" dirty="0">
              <a:latin typeface="Times New Roman" panose="02020603050405020304" pitchFamily="2" charset="0"/>
            </a:endParaRPr>
          </a:p>
        </p:txBody>
      </p:sp>
      <p:grpSp>
        <p:nvGrpSpPr>
          <p:cNvPr id="24578" name="组合 20482"/>
          <p:cNvGrpSpPr/>
          <p:nvPr/>
        </p:nvGrpSpPr>
        <p:grpSpPr>
          <a:xfrm>
            <a:off x="685800" y="1143000"/>
            <a:ext cx="2057400" cy="609600"/>
            <a:chOff x="0" y="0"/>
            <a:chExt cx="912" cy="405"/>
          </a:xfrm>
        </p:grpSpPr>
        <p:pic>
          <p:nvPicPr>
            <p:cNvPr id="24579" name="Picture 5" descr="13"/>
            <p:cNvPicPr>
              <a:picLocks noChangeAspect="1"/>
            </p:cNvPicPr>
            <p:nvPr/>
          </p:nvPicPr>
          <p:blipFill>
            <a:blip r:embed="rId2">
              <a:clrChange>
                <a:clrFrom>
                  <a:srgbClr val="FFFFFF"/>
                </a:clrFrom>
                <a:clrTo>
                  <a:srgbClr val="FFFFFF">
                    <a:alpha val="0"/>
                  </a:srgbClr>
                </a:clrTo>
              </a:clrChange>
            </a:blip>
            <a:stretch>
              <a:fillRect/>
            </a:stretch>
          </p:blipFill>
          <p:spPr>
            <a:xfrm>
              <a:off x="0" y="0"/>
              <a:ext cx="912" cy="405"/>
            </a:xfrm>
            <a:prstGeom prst="rect">
              <a:avLst/>
            </a:prstGeom>
            <a:noFill/>
            <a:ln w="9525">
              <a:noFill/>
            </a:ln>
          </p:spPr>
        </p:pic>
        <p:sp>
          <p:nvSpPr>
            <p:cNvPr id="24580" name="Text Box 6"/>
            <p:cNvSpPr txBox="1"/>
            <p:nvPr/>
          </p:nvSpPr>
          <p:spPr>
            <a:xfrm>
              <a:off x="144" y="21"/>
              <a:ext cx="672" cy="345"/>
            </a:xfrm>
            <a:prstGeom prst="rect">
              <a:avLst/>
            </a:prstGeom>
            <a:noFill/>
            <a:ln w="9525">
              <a:noFill/>
            </a:ln>
          </p:spPr>
          <p:txBody>
            <a:bodyPr anchor="t">
              <a:spAutoFit/>
            </a:bodyPr>
            <a:lstStyle/>
            <a:p>
              <a:pPr algn="ctr" eaLnBrk="0" hangingPunct="0">
                <a:spcBef>
                  <a:spcPct val="50000"/>
                </a:spcBef>
              </a:pPr>
              <a:r>
                <a:rPr lang="zh-CN" altLang="en-US" sz="2800" dirty="0">
                  <a:latin typeface="Times New Roman" panose="02020603050405020304" pitchFamily="2" charset="0"/>
                </a:rPr>
                <a:t>浮点型</a:t>
              </a:r>
            </a:p>
          </p:txBody>
        </p:sp>
      </p:grpSp>
      <p:sp>
        <p:nvSpPr>
          <p:cNvPr id="20486" name="Text Box 7"/>
          <p:cNvSpPr txBox="1"/>
          <p:nvPr/>
        </p:nvSpPr>
        <p:spPr>
          <a:xfrm>
            <a:off x="827088" y="1844675"/>
            <a:ext cx="7848600" cy="3783013"/>
          </a:xfrm>
          <a:prstGeom prst="rect">
            <a:avLst/>
          </a:prstGeom>
          <a:noFill/>
          <a:ln w="9525">
            <a:noFill/>
          </a:ln>
        </p:spPr>
        <p:txBody>
          <a:bodyPr anchor="t">
            <a:spAutoFit/>
          </a:bodyPr>
          <a:lstStyle/>
          <a:p>
            <a:pPr eaLnBrk="0" hangingPunct="0">
              <a:spcBef>
                <a:spcPct val="50000"/>
              </a:spcBef>
              <a:buClr>
                <a:srgbClr val="6600FF"/>
              </a:buClr>
              <a:buSzPct val="60000"/>
              <a:buFont typeface="Wingdings" panose="05000000000000000000" pitchFamily="2" charset="2"/>
              <a:buChar char="u"/>
            </a:pPr>
            <a:r>
              <a:rPr lang="zh-CN" altLang="en-US" sz="2600" dirty="0">
                <a:latin typeface="宋体" panose="02010600030101010101" pitchFamily="2" charset="-122"/>
              </a:rPr>
              <a:t> 浮点型是带小数部分的数字类型</a:t>
            </a:r>
            <a:r>
              <a:rPr lang="zh-CN" altLang="en-US" sz="2600" dirty="0">
                <a:latin typeface="Times New Roman" panose="02020603050405020304" pitchFamily="2" charset="0"/>
              </a:rPr>
              <a:t> ，如3.14，</a:t>
            </a:r>
            <a:r>
              <a:rPr lang="en-US" altLang="zh-CN" sz="2600" dirty="0" err="1">
                <a:solidFill>
                  <a:srgbClr val="2D35D3"/>
                </a:solidFill>
                <a:latin typeface="Times New Roman" panose="02020603050405020304" pitchFamily="2" charset="0"/>
              </a:rPr>
              <a:t>1.575e5</a:t>
            </a:r>
            <a:r>
              <a:rPr lang="zh-CN" altLang="en-US" sz="2600" dirty="0">
                <a:latin typeface="Times New Roman" panose="02020603050405020304" pitchFamily="2" charset="0"/>
              </a:rPr>
              <a:t>（科学计数法，即</a:t>
            </a:r>
            <a:r>
              <a:rPr lang="en-US" altLang="zh-CN" sz="2600" dirty="0">
                <a:latin typeface="Times New Roman" panose="02020603050405020304" pitchFamily="2" charset="0"/>
              </a:rPr>
              <a:t> 1.575*10</a:t>
            </a:r>
            <a:r>
              <a:rPr lang="en-US" altLang="zh-CN" sz="2600" baseline="30000" dirty="0">
                <a:latin typeface="Times New Roman" panose="02020603050405020304" pitchFamily="2" charset="0"/>
              </a:rPr>
              <a:t>5</a:t>
            </a:r>
            <a:r>
              <a:rPr lang="en-US" altLang="zh-CN" sz="2600" dirty="0">
                <a:latin typeface="Times New Roman" panose="02020603050405020304" pitchFamily="2" charset="0"/>
              </a:rPr>
              <a:t> )</a:t>
            </a:r>
            <a:r>
              <a:rPr lang="zh-CN" altLang="en-US" sz="2600" dirty="0">
                <a:latin typeface="Times New Roman" panose="02020603050405020304" pitchFamily="2" charset="0"/>
              </a:rPr>
              <a:t>。</a:t>
            </a:r>
          </a:p>
          <a:p>
            <a:pPr eaLnBrk="0" hangingPunct="0">
              <a:spcBef>
                <a:spcPct val="50000"/>
              </a:spcBef>
              <a:buClr>
                <a:srgbClr val="6600FF"/>
              </a:buClr>
              <a:buSzPct val="60000"/>
              <a:buFont typeface="Wingdings" panose="05000000000000000000" pitchFamily="2" charset="2"/>
              <a:buChar char="u"/>
            </a:pPr>
            <a:r>
              <a:rPr lang="zh-CN" altLang="en-US" sz="2600" dirty="0">
                <a:latin typeface="Times New Roman" panose="02020603050405020304" pitchFamily="2" charset="0"/>
              </a:rPr>
              <a:t>抽象地讲，浮点型数据的值域是全体实数，但是计算机只能表示有限位的小数，即仅表示实数的一个有限子集。</a:t>
            </a:r>
          </a:p>
          <a:p>
            <a:pPr>
              <a:lnSpc>
                <a:spcPct val="90000"/>
              </a:lnSpc>
              <a:buClr>
                <a:srgbClr val="6600FF"/>
              </a:buClr>
              <a:buSzPct val="60000"/>
              <a:buFont typeface="Wingdings" panose="05000000000000000000" pitchFamily="2" charset="2"/>
              <a:buChar char="u"/>
            </a:pPr>
            <a:r>
              <a:rPr lang="en-US" altLang="zh-CN" sz="2600" dirty="0">
                <a:latin typeface="Times New Roman" panose="02020603050405020304" pitchFamily="2" charset="0"/>
              </a:rPr>
              <a:t>  </a:t>
            </a:r>
            <a:r>
              <a:rPr lang="zh-CN" altLang="en-US" sz="2600" dirty="0">
                <a:latin typeface="Times New Roman" panose="02020603050405020304" pitchFamily="2" charset="0"/>
              </a:rPr>
              <a:t>因此</a:t>
            </a:r>
            <a:r>
              <a:rPr lang="zh-CN" altLang="en-US" sz="2600" u="sng" dirty="0">
                <a:solidFill>
                  <a:srgbClr val="3366FF"/>
                </a:solidFill>
                <a:latin typeface="Times New Roman" panose="02020603050405020304" pitchFamily="2" charset="0"/>
              </a:rPr>
              <a:t>实数在计算机内部的表示是近似的（</a:t>
            </a:r>
            <a:r>
              <a:rPr lang="en-US" altLang="zh-CN" sz="2600" u="sng" dirty="0">
                <a:solidFill>
                  <a:srgbClr val="3366FF"/>
                </a:solidFill>
              </a:rPr>
              <a:t>”</a:t>
            </a:r>
            <a:r>
              <a:rPr lang="zh-CN" altLang="en-US" sz="2600" u="sng" dirty="0">
                <a:solidFill>
                  <a:srgbClr val="3366FF"/>
                </a:solidFill>
                <a:latin typeface="Times New Roman" panose="02020603050405020304" pitchFamily="2" charset="0"/>
              </a:rPr>
              <a:t>不准确</a:t>
            </a:r>
            <a:r>
              <a:rPr lang="en-US" altLang="zh-CN" sz="2600" u="sng" dirty="0">
                <a:solidFill>
                  <a:srgbClr val="3366FF"/>
                </a:solidFill>
                <a:latin typeface="Times New Roman" panose="02020603050405020304" pitchFamily="2" charset="0"/>
              </a:rPr>
              <a:t>”</a:t>
            </a:r>
            <a:r>
              <a:rPr lang="zh-CN" altLang="en-US" sz="2600" u="sng" dirty="0">
                <a:solidFill>
                  <a:srgbClr val="3366FF"/>
                </a:solidFill>
                <a:latin typeface="Times New Roman" panose="02020603050405020304" pitchFamily="2" charset="0"/>
              </a:rPr>
              <a:t>）</a:t>
            </a:r>
            <a:r>
              <a:rPr lang="zh-CN" altLang="en-US" sz="2600" dirty="0">
                <a:latin typeface="Times New Roman" panose="02020603050405020304" pitchFamily="2" charset="0"/>
              </a:rPr>
              <a:t>。</a:t>
            </a:r>
            <a:r>
              <a:rPr lang="zh-CN" altLang="en-US" sz="2600" dirty="0">
                <a:latin typeface="宋体" panose="02010600030101010101" pitchFamily="2" charset="-122"/>
              </a:rPr>
              <a:t>要</a:t>
            </a:r>
            <a:r>
              <a:rPr lang="zh-CN" altLang="en-US" sz="2600" u="sng" dirty="0">
                <a:latin typeface="宋体" panose="02010600030101010101" pitchFamily="2" charset="-122"/>
              </a:rPr>
              <a:t>避免做两个实数相等或不相等的比较</a:t>
            </a:r>
            <a:r>
              <a:rPr lang="zh-CN" altLang="en-US" sz="2600" dirty="0">
                <a:latin typeface="宋体" panose="02010600030101010101" pitchFamily="2" charset="-122"/>
              </a:rPr>
              <a:t>。建议在比较两个浮点数</a:t>
            </a:r>
            <a:r>
              <a:rPr lang="en-US" altLang="zh-CN" sz="2600" dirty="0">
                <a:latin typeface="宋体" panose="02010600030101010101" pitchFamily="2" charset="-122"/>
              </a:rPr>
              <a:t>X</a:t>
            </a:r>
            <a:r>
              <a:rPr lang="zh-CN" altLang="en-US" sz="2600" dirty="0">
                <a:latin typeface="宋体" panose="02010600030101010101" pitchFamily="2" charset="-122"/>
              </a:rPr>
              <a:t>和</a:t>
            </a:r>
            <a:r>
              <a:rPr lang="en-US" altLang="zh-CN" sz="2600" dirty="0">
                <a:latin typeface="宋体" panose="02010600030101010101" pitchFamily="2" charset="-122"/>
              </a:rPr>
              <a:t>Y</a:t>
            </a:r>
            <a:r>
              <a:rPr lang="zh-CN" altLang="en-US" sz="2600" dirty="0">
                <a:latin typeface="宋体" panose="02010600030101010101" pitchFamily="2" charset="-122"/>
              </a:rPr>
              <a:t>是否相等时使用</a:t>
            </a:r>
            <a:r>
              <a:rPr lang="en-US" altLang="zh-CN" sz="2600" dirty="0">
                <a:latin typeface="宋体" panose="02010600030101010101" pitchFamily="2" charset="-122"/>
              </a:rPr>
              <a:t>|X-Y|&lt;∑,</a:t>
            </a:r>
            <a:r>
              <a:rPr lang="zh-CN" altLang="en-US" sz="2600" dirty="0">
                <a:latin typeface="宋体" panose="02010600030101010101" pitchFamily="2" charset="-122"/>
              </a:rPr>
              <a:t>其中∑是一个绝对值较小的正浮点数，例</a:t>
            </a:r>
            <a:r>
              <a:rPr lang="en-US" altLang="zh-CN" sz="2600" dirty="0" err="1">
                <a:solidFill>
                  <a:srgbClr val="2D35D3"/>
                </a:solidFill>
                <a:latin typeface="宋体" panose="02010600030101010101" pitchFamily="2" charset="-122"/>
              </a:rPr>
              <a:t>1e</a:t>
            </a:r>
            <a:r>
              <a:rPr lang="en-US" altLang="zh-CN" sz="2600" dirty="0">
                <a:solidFill>
                  <a:srgbClr val="2D35D3"/>
                </a:solidFill>
                <a:latin typeface="宋体" panose="02010600030101010101" pitchFamily="2" charset="-122"/>
              </a:rPr>
              <a:t>-6</a:t>
            </a:r>
            <a:r>
              <a:rPr lang="zh-CN" altLang="en-US" sz="2600" dirty="0">
                <a:latin typeface="宋体" panose="02010600030101010101" pitchFamily="2" charset="-122"/>
              </a:rPr>
              <a:t>。</a:t>
            </a:r>
            <a:endParaRPr lang="en-US" altLang="zh-CN" sz="2600" dirty="0">
              <a:latin typeface="宋体" panose="02010600030101010101" pitchFamily="2" charset="-122"/>
            </a:endParaRPr>
          </a:p>
        </p:txBody>
      </p:sp>
      <p:sp>
        <p:nvSpPr>
          <p:cNvPr id="24582" name="Rectangle 10"/>
          <p:cNvSpPr>
            <a:spLocks noGrp="1"/>
          </p:cNvSpPr>
          <p:nvPr>
            <p:ph type="title"/>
          </p:nvPr>
        </p:nvSpPr>
        <p:spPr/>
        <p:txBody>
          <a:bodyPr wrap="square" anchor="ctr"/>
          <a:lstStyle/>
          <a:p>
            <a:r>
              <a:rPr lang="zh-CN" altLang="en-US" b="1" dirty="0"/>
              <a:t>有限位的小数表示</a:t>
            </a:r>
          </a:p>
        </p:txBody>
      </p:sp>
    </p:spTree>
    <p:extLst>
      <p:ext uri="{BB962C8B-B14F-4D97-AF65-F5344CB8AC3E}">
        <p14:creationId xmlns:p14="http://schemas.microsoft.com/office/powerpoint/2010/main" val="38071655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486">
                                            <p:txEl>
                                              <p:pRg st="2" end="2"/>
                                            </p:txEl>
                                          </p:spTgt>
                                        </p:tgtEl>
                                        <p:attrNameLst>
                                          <p:attrName>style.visibility</p:attrName>
                                        </p:attrNameLst>
                                      </p:cBhvr>
                                      <p:to>
                                        <p:strVal val="visible"/>
                                      </p:to>
                                    </p:set>
                                    <p:animEffect transition="in" filter="dissolve">
                                      <p:cBhvr>
                                        <p:cTn id="7" dur="500"/>
                                        <p:tgtEl>
                                          <p:spTgt spid="204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30</a:t>
            </a:fld>
            <a:endParaRPr lang="zh-CN" altLang="en-US" sz="1400" dirty="0">
              <a:latin typeface="Times New Roman" panose="02020603050405020304" pitchFamily="2" charset="0"/>
            </a:endParaRPr>
          </a:p>
        </p:txBody>
      </p:sp>
      <p:grpSp>
        <p:nvGrpSpPr>
          <p:cNvPr id="22530" name="组合 18434"/>
          <p:cNvGrpSpPr/>
          <p:nvPr/>
        </p:nvGrpSpPr>
        <p:grpSpPr>
          <a:xfrm>
            <a:off x="685800" y="1143000"/>
            <a:ext cx="2133600" cy="685800"/>
            <a:chOff x="0" y="0"/>
            <a:chExt cx="912" cy="405"/>
          </a:xfrm>
        </p:grpSpPr>
        <p:pic>
          <p:nvPicPr>
            <p:cNvPr id="22531" name="Picture 8" descr="13"/>
            <p:cNvPicPr>
              <a:picLocks noChangeAspect="1"/>
            </p:cNvPicPr>
            <p:nvPr/>
          </p:nvPicPr>
          <p:blipFill>
            <a:blip r:embed="rId2">
              <a:clrChange>
                <a:clrFrom>
                  <a:srgbClr val="FFFFFF"/>
                </a:clrFrom>
                <a:clrTo>
                  <a:srgbClr val="FFFFFF">
                    <a:alpha val="0"/>
                  </a:srgbClr>
                </a:clrTo>
              </a:clrChange>
            </a:blip>
            <a:stretch>
              <a:fillRect/>
            </a:stretch>
          </p:blipFill>
          <p:spPr>
            <a:xfrm>
              <a:off x="0" y="0"/>
              <a:ext cx="912" cy="405"/>
            </a:xfrm>
            <a:prstGeom prst="rect">
              <a:avLst/>
            </a:prstGeom>
            <a:noFill/>
            <a:ln w="9525">
              <a:noFill/>
            </a:ln>
          </p:spPr>
        </p:pic>
        <p:sp>
          <p:nvSpPr>
            <p:cNvPr id="22532" name="Text Box 9"/>
            <p:cNvSpPr txBox="1"/>
            <p:nvPr/>
          </p:nvSpPr>
          <p:spPr>
            <a:xfrm>
              <a:off x="144" y="21"/>
              <a:ext cx="672" cy="306"/>
            </a:xfrm>
            <a:prstGeom prst="rect">
              <a:avLst/>
            </a:prstGeom>
            <a:noFill/>
            <a:ln w="9525">
              <a:noFill/>
            </a:ln>
          </p:spPr>
          <p:txBody>
            <a:bodyPr anchor="t">
              <a:spAutoFit/>
            </a:bodyPr>
            <a:lstStyle/>
            <a:p>
              <a:pPr algn="ctr" eaLnBrk="0" hangingPunct="0">
                <a:spcBef>
                  <a:spcPct val="50000"/>
                </a:spcBef>
              </a:pPr>
              <a:r>
                <a:rPr lang="zh-CN" altLang="en-US" sz="2800" dirty="0">
                  <a:latin typeface="Times New Roman" panose="02020603050405020304" pitchFamily="2" charset="0"/>
                </a:rPr>
                <a:t>字符型</a:t>
              </a:r>
            </a:p>
          </p:txBody>
        </p:sp>
      </p:grpSp>
      <p:sp>
        <p:nvSpPr>
          <p:cNvPr id="18438" name="Rectangle 10"/>
          <p:cNvSpPr/>
          <p:nvPr/>
        </p:nvSpPr>
        <p:spPr>
          <a:xfrm>
            <a:off x="1042988" y="1844675"/>
            <a:ext cx="7850187" cy="3090863"/>
          </a:xfrm>
          <a:prstGeom prst="rect">
            <a:avLst/>
          </a:prstGeom>
          <a:noFill/>
          <a:ln w="9525">
            <a:noFill/>
          </a:ln>
        </p:spPr>
        <p:txBody>
          <a:bodyPr lIns="92075" tIns="46038" rIns="92075" bIns="46038" anchor="t"/>
          <a:lstStyle/>
          <a:p>
            <a:pPr marL="457200" indent="-457200">
              <a:buClr>
                <a:schemeClr val="accent2"/>
              </a:buClr>
              <a:buSzPct val="75000"/>
              <a:buFont typeface="Arial" panose="020B0604020202020204" pitchFamily="34" charset="0"/>
              <a:buChar char="•"/>
            </a:pPr>
            <a:r>
              <a:rPr lang="zh-CN" altLang="en-US" sz="2800" dirty="0">
                <a:latin typeface="宋体" panose="02010600030101010101" pitchFamily="2" charset="-122"/>
              </a:rPr>
              <a:t>基础字符数据包括</a:t>
            </a:r>
            <a:r>
              <a:rPr lang="en-US" altLang="zh-CN" sz="2800" dirty="0">
                <a:latin typeface="Times New Roman" panose="02020603050405020304" pitchFamily="2" charset="0"/>
              </a:rPr>
              <a:t>26*2</a:t>
            </a:r>
            <a:r>
              <a:rPr lang="zh-CN" altLang="en-US" sz="2800" dirty="0">
                <a:latin typeface="Times New Roman" panose="02020603050405020304" pitchFamily="2" charset="0"/>
              </a:rPr>
              <a:t>个字母（大小写）</a:t>
            </a:r>
            <a:r>
              <a:rPr lang="en-US" altLang="zh-CN" sz="2800" dirty="0">
                <a:latin typeface="Times New Roman" panose="02020603050405020304" pitchFamily="2" charset="0"/>
              </a:rPr>
              <a:t>+10</a:t>
            </a:r>
            <a:r>
              <a:rPr lang="zh-CN" altLang="en-US" sz="2800" dirty="0">
                <a:latin typeface="Times New Roman" panose="02020603050405020304" pitchFamily="2" charset="0"/>
              </a:rPr>
              <a:t>个数字</a:t>
            </a:r>
            <a:r>
              <a:rPr lang="en-US" altLang="zh-CN" sz="2800" dirty="0">
                <a:latin typeface="Times New Roman" panose="02020603050405020304" pitchFamily="2" charset="0"/>
              </a:rPr>
              <a:t>+</a:t>
            </a:r>
            <a:r>
              <a:rPr lang="zh-CN" altLang="en-US" sz="2800" dirty="0">
                <a:latin typeface="Times New Roman" panose="02020603050405020304" pitchFamily="2" charset="0"/>
              </a:rPr>
              <a:t>其它显示符号，总共</a:t>
            </a:r>
            <a:r>
              <a:rPr lang="en-US" altLang="zh-CN" sz="2800" dirty="0">
                <a:latin typeface="Times New Roman" panose="02020603050405020304" pitchFamily="2" charset="0"/>
              </a:rPr>
              <a:t>95</a:t>
            </a:r>
            <a:r>
              <a:rPr lang="zh-CN" altLang="en-US" sz="2800" dirty="0">
                <a:latin typeface="Times New Roman" panose="02020603050405020304" pitchFamily="2" charset="0"/>
              </a:rPr>
              <a:t>种；还有</a:t>
            </a:r>
            <a:r>
              <a:rPr lang="en-US" altLang="zh-CN" sz="2800" dirty="0">
                <a:latin typeface="Times New Roman" panose="02020603050405020304" pitchFamily="2" charset="0"/>
              </a:rPr>
              <a:t>33</a:t>
            </a:r>
            <a:r>
              <a:rPr lang="zh-CN" altLang="en-US" sz="2800" dirty="0">
                <a:latin typeface="Times New Roman" panose="02020603050405020304" pitchFamily="2" charset="0"/>
              </a:rPr>
              <a:t>种控制符号，总共</a:t>
            </a:r>
            <a:r>
              <a:rPr lang="en-US" altLang="zh-CN" sz="2800" dirty="0">
                <a:latin typeface="Times New Roman" panose="02020603050405020304" pitchFamily="2" charset="0"/>
              </a:rPr>
              <a:t>128</a:t>
            </a:r>
            <a:r>
              <a:rPr lang="zh-CN" altLang="en-US" sz="2800" dirty="0">
                <a:latin typeface="Times New Roman" panose="02020603050405020304" pitchFamily="2" charset="0"/>
              </a:rPr>
              <a:t>种符号； </a:t>
            </a:r>
          </a:p>
          <a:p>
            <a:pPr marL="457200" indent="-457200">
              <a:buClr>
                <a:schemeClr val="accent2"/>
              </a:buClr>
              <a:buSzPct val="75000"/>
              <a:buFont typeface="Arial" panose="020B0604020202020204" pitchFamily="34" charset="0"/>
              <a:buChar char="•"/>
            </a:pPr>
            <a:r>
              <a:rPr lang="zh-CN" altLang="en-US" sz="2800" dirty="0">
                <a:latin typeface="Times New Roman" panose="02020603050405020304" pitchFamily="2" charset="0"/>
              </a:rPr>
              <a:t>字符型数据在内存中的存储：实际存放的是一个整数值。多数计算机系统采用</a:t>
            </a:r>
            <a:r>
              <a:rPr lang="en-US" altLang="zh-CN" sz="2800" dirty="0">
                <a:latin typeface="Times New Roman" panose="02020603050405020304" pitchFamily="2" charset="0"/>
              </a:rPr>
              <a:t>ASCII</a:t>
            </a:r>
            <a:r>
              <a:rPr lang="zh-CN" altLang="en-US" sz="2800" dirty="0">
                <a:latin typeface="Times New Roman" panose="02020603050405020304" pitchFamily="2" charset="0"/>
              </a:rPr>
              <a:t>（</a:t>
            </a:r>
            <a:r>
              <a:rPr lang="en-US" altLang="zh-CN" sz="2800" i="1" dirty="0">
                <a:latin typeface="Times New Roman" panose="02020603050405020304" pitchFamily="2" charset="0"/>
              </a:rPr>
              <a:t>American Standard Code for Information Interchange</a:t>
            </a:r>
            <a:r>
              <a:rPr lang="zh-CN" altLang="en-US" sz="2800" dirty="0">
                <a:latin typeface="Times New Roman" panose="02020603050405020304" pitchFamily="2" charset="0"/>
              </a:rPr>
              <a:t>）标准编码模式来对字符进行编码 。每个字符占用</a:t>
            </a:r>
            <a:r>
              <a:rPr lang="en-US" altLang="zh-CN" sz="2800" dirty="0">
                <a:latin typeface="Times New Roman" panose="02020603050405020304" pitchFamily="2" charset="0"/>
              </a:rPr>
              <a:t>8</a:t>
            </a:r>
            <a:r>
              <a:rPr lang="zh-CN" altLang="en-US" sz="2800" dirty="0">
                <a:latin typeface="Times New Roman" panose="02020603050405020304" pitchFamily="2" charset="0"/>
              </a:rPr>
              <a:t>位内存（</a:t>
            </a:r>
            <a:r>
              <a:rPr lang="en-US" altLang="zh-CN" sz="2800" dirty="0">
                <a:latin typeface="Times New Roman" panose="02020603050405020304" pitchFamily="2" charset="0"/>
              </a:rPr>
              <a:t>1</a:t>
            </a:r>
            <a:r>
              <a:rPr lang="zh-CN" altLang="en-US" sz="2800" dirty="0">
                <a:latin typeface="Times New Roman" panose="02020603050405020304" pitchFamily="2" charset="0"/>
              </a:rPr>
              <a:t>个字节）；</a:t>
            </a:r>
          </a:p>
        </p:txBody>
      </p:sp>
      <p:sp>
        <p:nvSpPr>
          <p:cNvPr id="22534" name="Rectangle 15"/>
          <p:cNvSpPr>
            <a:spLocks noGrp="1"/>
          </p:cNvSpPr>
          <p:nvPr>
            <p:ph type="title"/>
          </p:nvPr>
        </p:nvSpPr>
        <p:spPr/>
        <p:txBody>
          <a:bodyPr wrap="square" anchor="ctr"/>
          <a:lstStyle/>
          <a:p>
            <a:r>
              <a:rPr lang="zh-CN" altLang="en-US" b="1" dirty="0"/>
              <a:t>字符类型</a:t>
            </a:r>
          </a:p>
        </p:txBody>
      </p:sp>
    </p:spTree>
    <p:extLst>
      <p:ext uri="{BB962C8B-B14F-4D97-AF65-F5344CB8AC3E}">
        <p14:creationId xmlns:p14="http://schemas.microsoft.com/office/powerpoint/2010/main" val="371865212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438">
                                            <p:txEl>
                                              <p:pRg st="1" end="1"/>
                                            </p:txEl>
                                          </p:spTgt>
                                        </p:tgtEl>
                                        <p:attrNameLst>
                                          <p:attrName>style.visibility</p:attrName>
                                        </p:attrNameLst>
                                      </p:cBhvr>
                                      <p:to>
                                        <p:strVal val="visible"/>
                                      </p:to>
                                    </p:set>
                                    <p:animEffect transition="in" filter="dissolve">
                                      <p:cBhvr>
                                        <p:cTn id="7" dur="500"/>
                                        <p:tgtEl>
                                          <p:spTgt spid="1843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31</a:t>
            </a:fld>
            <a:endParaRPr lang="zh-CN" altLang="en-US" sz="1400" dirty="0">
              <a:latin typeface="Times New Roman" panose="02020603050405020304" pitchFamily="2" charset="0"/>
            </a:endParaRPr>
          </a:p>
        </p:txBody>
      </p:sp>
      <p:sp>
        <p:nvSpPr>
          <p:cNvPr id="46083" name="Rectangle 7"/>
          <p:cNvSpPr>
            <a:spLocks noGrp="1"/>
          </p:cNvSpPr>
          <p:nvPr>
            <p:ph type="title"/>
          </p:nvPr>
        </p:nvSpPr>
        <p:spPr/>
        <p:txBody>
          <a:bodyPr wrap="square" anchor="ctr"/>
          <a:lstStyle/>
          <a:p>
            <a:pPr eaLnBrk="1" hangingPunct="1"/>
            <a:r>
              <a:rPr lang="zh-CN" altLang="en-US" b="1" dirty="0"/>
              <a:t>常量</a:t>
            </a:r>
            <a:r>
              <a:rPr lang="en-US" altLang="zh-CN" b="1" dirty="0"/>
              <a:t>constant</a:t>
            </a:r>
            <a:endParaRPr lang="zh-CN" altLang="en-US" b="1" dirty="0"/>
          </a:p>
        </p:txBody>
      </p:sp>
      <p:sp>
        <p:nvSpPr>
          <p:cNvPr id="37891" name="Rectangle 5"/>
          <p:cNvSpPr>
            <a:spLocks noGrp="1"/>
          </p:cNvSpPr>
          <p:nvPr>
            <p:ph idx="1"/>
          </p:nvPr>
        </p:nvSpPr>
        <p:spPr>
          <a:xfrm>
            <a:off x="685800" y="1268760"/>
            <a:ext cx="7772400" cy="4611687"/>
          </a:xfrm>
        </p:spPr>
        <p:txBody>
          <a:bodyPr wrap="square" lIns="92075" tIns="46038" rIns="92075" bIns="46038" anchor="t"/>
          <a:lstStyle/>
          <a:p>
            <a:pPr algn="just" eaLnBrk="1" hangingPunct="1"/>
            <a:r>
              <a:rPr lang="zh-CN" altLang="en-US" sz="2400" b="1" dirty="0">
                <a:latin typeface="宋体" panose="02010600030101010101" pitchFamily="2" charset="-122"/>
                <a:ea typeface="宋体" panose="02010600030101010101" pitchFamily="2" charset="-122"/>
                <a:cs typeface="宋体" panose="02010600030101010101" pitchFamily="2" charset="-122"/>
              </a:rPr>
              <a:t>常量是指在程序执行过程中不能改变的数据。常量按表示形式分为：文字常量、命名常量、符号常量。</a:t>
            </a:r>
            <a:endParaRPr lang="en-US" altLang="zh-CN" sz="2400" b="1" dirty="0">
              <a:latin typeface="宋体" panose="02010600030101010101" pitchFamily="2" charset="-122"/>
              <a:ea typeface="宋体" panose="02010600030101010101" pitchFamily="2" charset="-122"/>
              <a:cs typeface="宋体" panose="02010600030101010101" pitchFamily="2" charset="-122"/>
            </a:endParaRPr>
          </a:p>
          <a:p>
            <a:pPr algn="just" eaLnBrk="1" hangingPunct="1"/>
            <a:r>
              <a:rPr lang="zh-CN" altLang="en-US" sz="2400" b="1" dirty="0">
                <a:solidFill>
                  <a:srgbClr val="FF0000"/>
                </a:solidFill>
                <a:latin typeface="宋体" panose="02010600030101010101" pitchFamily="2" charset="-122"/>
                <a:ea typeface="宋体" panose="02010600030101010101" pitchFamily="2" charset="-122"/>
                <a:cs typeface="宋体" panose="02010600030101010101" pitchFamily="2" charset="-122"/>
              </a:rPr>
              <a:t>文字常量</a:t>
            </a:r>
            <a:r>
              <a:rPr lang="zh-CN" altLang="en-US" sz="2400" b="1" dirty="0">
                <a:latin typeface="宋体" panose="02010600030101010101" pitchFamily="2" charset="-122"/>
                <a:ea typeface="宋体" panose="02010600030101010101" pitchFamily="2" charset="-122"/>
                <a:cs typeface="宋体" panose="02010600030101010101" pitchFamily="2" charset="-122"/>
              </a:rPr>
              <a:t>是指在程序中直接出现的数据。例：</a:t>
            </a:r>
          </a:p>
          <a:p>
            <a:pPr marL="0" indent="0" algn="just" eaLnBrk="1" hangingPunct="1">
              <a:buNone/>
            </a:pPr>
            <a:r>
              <a:rPr lang="zh-CN" altLang="en-US" sz="2400" b="1" dirty="0">
                <a:latin typeface="宋体" panose="02010600030101010101" pitchFamily="2" charset="-122"/>
                <a:ea typeface="宋体" panose="02010600030101010101" pitchFamily="2" charset="-122"/>
                <a:cs typeface="宋体" panose="02010600030101010101" pitchFamily="2" charset="-122"/>
              </a:rPr>
              <a:t>	15		</a:t>
            </a:r>
            <a:r>
              <a:rPr lang="zh-CN" altLang="en-US" sz="2400" b="1" u="sng" dirty="0">
                <a:solidFill>
                  <a:srgbClr val="6600FF"/>
                </a:solidFill>
                <a:latin typeface="宋体" panose="02010600030101010101" pitchFamily="2" charset="-122"/>
                <a:ea typeface="宋体" panose="02010600030101010101" pitchFamily="2" charset="-122"/>
                <a:cs typeface="宋体" panose="02010600030101010101" pitchFamily="2" charset="-122"/>
              </a:rPr>
              <a:t>整型常量</a:t>
            </a:r>
          </a:p>
          <a:p>
            <a:pPr marL="0" indent="0" algn="just" eaLnBrk="1" hangingPunct="1">
              <a:buNone/>
            </a:pPr>
            <a:r>
              <a:rPr lang="zh-CN" altLang="en-US" sz="2400" b="1" dirty="0">
                <a:latin typeface="宋体" panose="02010600030101010101" pitchFamily="2" charset="-122"/>
                <a:ea typeface="宋体" panose="02010600030101010101" pitchFamily="2" charset="-122"/>
                <a:cs typeface="宋体" panose="02010600030101010101" pitchFamily="2" charset="-122"/>
              </a:rPr>
              <a:t>	15.4		</a:t>
            </a:r>
            <a:r>
              <a:rPr lang="zh-CN" altLang="en-US" sz="2400" b="1" u="sng" dirty="0">
                <a:solidFill>
                  <a:srgbClr val="6600FF"/>
                </a:solidFill>
                <a:latin typeface="宋体" panose="02010600030101010101" pitchFamily="2" charset="-122"/>
                <a:ea typeface="宋体" panose="02010600030101010101" pitchFamily="2" charset="-122"/>
              </a:rPr>
              <a:t>双精度</a:t>
            </a:r>
            <a:r>
              <a:rPr lang="zh-CN" altLang="en-US" sz="2400" b="1" u="sng" dirty="0">
                <a:solidFill>
                  <a:srgbClr val="6600FF"/>
                </a:solidFill>
                <a:latin typeface="宋体" panose="02010600030101010101" pitchFamily="2" charset="-122"/>
                <a:ea typeface="宋体" panose="02010600030101010101" pitchFamily="2" charset="-122"/>
                <a:cs typeface="宋体" panose="02010600030101010101" pitchFamily="2" charset="-122"/>
              </a:rPr>
              <a:t>浮点型常量</a:t>
            </a:r>
            <a:endParaRPr lang="en-US" altLang="zh-CN" sz="2400" b="1" u="sng" dirty="0">
              <a:solidFill>
                <a:srgbClr val="6600FF"/>
              </a:solidFill>
              <a:latin typeface="宋体" panose="02010600030101010101" pitchFamily="2" charset="-122"/>
              <a:ea typeface="宋体" panose="02010600030101010101" pitchFamily="2" charset="-122"/>
              <a:cs typeface="宋体" panose="02010600030101010101" pitchFamily="2" charset="-122"/>
            </a:endParaRPr>
          </a:p>
          <a:p>
            <a:pPr marL="0" indent="0" algn="just" eaLnBrk="1" hangingPunct="1">
              <a:buNone/>
            </a:pPr>
            <a:r>
              <a:rPr lang="zh-CN" altLang="en-US" sz="2400" b="1" dirty="0">
                <a:latin typeface="宋体" panose="02010600030101010101" pitchFamily="2" charset="-122"/>
                <a:ea typeface="宋体" panose="02010600030101010101" pitchFamily="2" charset="-122"/>
                <a:cs typeface="宋体" panose="02010600030101010101" pitchFamily="2" charset="-122"/>
              </a:rPr>
              <a:t>	15.4</a:t>
            </a:r>
            <a:r>
              <a:rPr lang="en-US" altLang="zh-CN" sz="2400" b="1" dirty="0">
                <a:latin typeface="宋体" panose="02010600030101010101" pitchFamily="2" charset="-122"/>
                <a:ea typeface="宋体" panose="02010600030101010101" pitchFamily="2" charset="-122"/>
                <a:cs typeface="宋体" panose="02010600030101010101" pitchFamily="2" charset="-122"/>
              </a:rPr>
              <a:t>f</a:t>
            </a:r>
            <a:r>
              <a:rPr lang="zh-CN" altLang="en-US" sz="2400" b="1" dirty="0">
                <a:latin typeface="宋体" panose="02010600030101010101" pitchFamily="2" charset="-122"/>
                <a:ea typeface="宋体" panose="02010600030101010101" pitchFamily="2" charset="-122"/>
                <a:cs typeface="宋体" panose="02010600030101010101" pitchFamily="2" charset="-122"/>
              </a:rPr>
              <a:t>		</a:t>
            </a:r>
            <a:r>
              <a:rPr lang="zh-CN" altLang="en-US" sz="2400" b="1" u="sng" dirty="0">
                <a:solidFill>
                  <a:srgbClr val="6600FF"/>
                </a:solidFill>
                <a:latin typeface="宋体" panose="02010600030101010101" pitchFamily="2" charset="-122"/>
                <a:ea typeface="宋体" panose="02010600030101010101" pitchFamily="2" charset="-122"/>
              </a:rPr>
              <a:t>单精度</a:t>
            </a:r>
            <a:r>
              <a:rPr lang="zh-CN" altLang="en-US" sz="2400" b="1" u="sng" dirty="0">
                <a:solidFill>
                  <a:srgbClr val="6600FF"/>
                </a:solidFill>
                <a:latin typeface="宋体" panose="02010600030101010101" pitchFamily="2" charset="-122"/>
                <a:ea typeface="宋体" panose="02010600030101010101" pitchFamily="2" charset="-122"/>
                <a:cs typeface="宋体" panose="02010600030101010101" pitchFamily="2" charset="-122"/>
              </a:rPr>
              <a:t>浮点型常量</a:t>
            </a:r>
          </a:p>
          <a:p>
            <a:pPr marL="0" indent="0" algn="just" eaLnBrk="1" hangingPunct="1">
              <a:buNone/>
            </a:pPr>
            <a:r>
              <a:rPr lang="zh-CN" altLang="en-US" sz="2400" b="1" dirty="0">
                <a:latin typeface="宋体" panose="02010600030101010101" pitchFamily="2" charset="-122"/>
                <a:ea typeface="宋体" panose="02010600030101010101" pitchFamily="2" charset="-122"/>
                <a:cs typeface="宋体" panose="02010600030101010101" pitchFamily="2" charset="-122"/>
              </a:rPr>
              <a:t>	</a:t>
            </a:r>
            <a:r>
              <a:rPr lang="en-US" altLang="zh-CN" sz="2400" b="1" dirty="0">
                <a:ea typeface="宋体" panose="02010600030101010101" pitchFamily="2" charset="-122"/>
                <a:cs typeface="宋体" panose="02010600030101010101" pitchFamily="2" charset="-122"/>
              </a:rPr>
              <a:t>'A'	</a:t>
            </a:r>
            <a:r>
              <a:rPr lang="en-US" altLang="zh-CN" sz="2400" b="1" dirty="0">
                <a:latin typeface="宋体" panose="02010600030101010101" pitchFamily="2" charset="-122"/>
                <a:ea typeface="宋体" panose="02010600030101010101" pitchFamily="2" charset="-122"/>
                <a:cs typeface="宋体" panose="02010600030101010101" pitchFamily="2" charset="-122"/>
              </a:rPr>
              <a:t>	</a:t>
            </a:r>
            <a:r>
              <a:rPr lang="zh-CN" altLang="en-US" sz="2400" b="1" u="sng" dirty="0">
                <a:solidFill>
                  <a:srgbClr val="6600FF"/>
                </a:solidFill>
                <a:latin typeface="宋体" panose="02010600030101010101" pitchFamily="2" charset="-122"/>
                <a:ea typeface="宋体" panose="02010600030101010101" pitchFamily="2" charset="-122"/>
                <a:cs typeface="宋体" panose="02010600030101010101" pitchFamily="2" charset="-122"/>
              </a:rPr>
              <a:t>字符型常量（英文单引号）</a:t>
            </a:r>
          </a:p>
          <a:p>
            <a:pPr marL="0" indent="0" algn="just" eaLnBrk="1" hangingPunct="1">
              <a:buNone/>
            </a:pPr>
            <a:r>
              <a:rPr lang="zh-CN" altLang="en-US" sz="2400" b="1" dirty="0">
                <a:latin typeface="宋体" panose="02010600030101010101" pitchFamily="2" charset="-122"/>
                <a:ea typeface="宋体" panose="02010600030101010101" pitchFamily="2" charset="-122"/>
                <a:cs typeface="宋体" panose="02010600030101010101" pitchFamily="2" charset="-122"/>
              </a:rPr>
              <a:t>	</a:t>
            </a:r>
            <a:r>
              <a:rPr lang="en-US" altLang="zh-CN" sz="2400" b="1" dirty="0">
                <a:ea typeface="宋体" panose="02010600030101010101" pitchFamily="2" charset="-122"/>
                <a:cs typeface="宋体" panose="02010600030101010101" pitchFamily="2" charset="-122"/>
              </a:rPr>
              <a:t>"Hello world!"</a:t>
            </a:r>
            <a:r>
              <a:rPr lang="zh-CN" altLang="en-US" sz="2400" b="1" u="sng" dirty="0">
                <a:solidFill>
                  <a:srgbClr val="6600FF"/>
                </a:solidFill>
                <a:latin typeface="宋体" panose="02010600030101010101" pitchFamily="2" charset="-122"/>
                <a:ea typeface="宋体" panose="02010600030101010101" pitchFamily="2" charset="-122"/>
                <a:cs typeface="宋体" panose="02010600030101010101" pitchFamily="2" charset="-122"/>
              </a:rPr>
              <a:t>字符串型常量（英文双引号）</a:t>
            </a:r>
            <a:endParaRPr lang="en-US" altLang="zh-CN" sz="2400" b="1" u="sng" dirty="0">
              <a:solidFill>
                <a:srgbClr val="6600FF"/>
              </a:solidFill>
              <a:latin typeface="宋体" panose="02010600030101010101" pitchFamily="2" charset="-122"/>
              <a:ea typeface="宋体" panose="02010600030101010101" pitchFamily="2" charset="-122"/>
              <a:cs typeface="宋体" panose="02010600030101010101" pitchFamily="2" charset="-122"/>
            </a:endParaRPr>
          </a:p>
          <a:p>
            <a:pPr eaLnBrk="1" hangingPunct="1">
              <a:lnSpc>
                <a:spcPct val="90000"/>
              </a:lnSpc>
            </a:pPr>
            <a:r>
              <a:rPr lang="zh-CN" altLang="en-US" sz="2400" b="1" dirty="0"/>
              <a:t>若整数常量以</a:t>
            </a:r>
            <a:r>
              <a:rPr lang="en-US" altLang="zh-CN" sz="2400" b="1" dirty="0"/>
              <a:t>0</a:t>
            </a:r>
            <a:r>
              <a:rPr lang="zh-CN" altLang="en-US" sz="2400" b="1" dirty="0"/>
              <a:t>开头，</a:t>
            </a:r>
            <a:r>
              <a:rPr lang="en-US" altLang="zh-CN" sz="2400" b="1" dirty="0"/>
              <a:t>C</a:t>
            </a:r>
            <a:r>
              <a:rPr lang="zh-CN" altLang="en-US" sz="2400" b="1" dirty="0"/>
              <a:t>编译器会认为该常量是八进制数。例</a:t>
            </a:r>
            <a:r>
              <a:rPr lang="en-US" altLang="zh-CN" sz="2400" b="1" dirty="0"/>
              <a:t>040</a:t>
            </a:r>
            <a:r>
              <a:rPr lang="zh-CN" altLang="en-US" sz="2400" b="1" dirty="0"/>
              <a:t>表示十进制的</a:t>
            </a:r>
            <a:r>
              <a:rPr lang="en-US" altLang="zh-CN" sz="2400" b="1" dirty="0"/>
              <a:t>32</a:t>
            </a:r>
            <a:r>
              <a:rPr lang="zh-CN" altLang="en-US" sz="2400" b="1" dirty="0"/>
              <a:t>。</a:t>
            </a:r>
          </a:p>
          <a:p>
            <a:pPr eaLnBrk="1" hangingPunct="1">
              <a:lnSpc>
                <a:spcPct val="90000"/>
              </a:lnSpc>
            </a:pPr>
            <a:r>
              <a:rPr lang="zh-CN" altLang="en-US" sz="2400" b="1" dirty="0"/>
              <a:t>若整数常量以</a:t>
            </a:r>
            <a:r>
              <a:rPr lang="en-US" altLang="zh-CN" sz="2400" b="1" dirty="0" err="1"/>
              <a:t>0x</a:t>
            </a:r>
            <a:r>
              <a:rPr lang="zh-CN" altLang="en-US" sz="2400" b="1" dirty="0"/>
              <a:t>开头，</a:t>
            </a:r>
            <a:r>
              <a:rPr lang="en-US" altLang="zh-CN" sz="2400" b="1" dirty="0"/>
              <a:t>C</a:t>
            </a:r>
            <a:r>
              <a:rPr lang="zh-CN" altLang="en-US" sz="2400" b="1" dirty="0"/>
              <a:t>编译器会认为该常量是十六进制数。例</a:t>
            </a:r>
            <a:r>
              <a:rPr lang="en-US" altLang="zh-CN" sz="2400" b="1" dirty="0" err="1"/>
              <a:t>0xFF</a:t>
            </a:r>
            <a:r>
              <a:rPr lang="zh-CN" altLang="en-US" sz="2400" b="1" dirty="0"/>
              <a:t>即十进制的</a:t>
            </a:r>
            <a:r>
              <a:rPr lang="en-US" altLang="zh-CN" sz="2400" b="1" dirty="0"/>
              <a:t>255</a:t>
            </a:r>
            <a:r>
              <a:rPr lang="zh-CN" altLang="en-US" sz="2400" b="1" dirty="0"/>
              <a:t>。</a:t>
            </a:r>
          </a:p>
          <a:p>
            <a:pPr marL="0" indent="0" algn="just" eaLnBrk="1" hangingPunct="1">
              <a:buNone/>
            </a:pPr>
            <a:endParaRPr lang="zh-CN" altLang="en-US" sz="2400" b="1" dirty="0">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32</a:t>
            </a:fld>
            <a:endParaRPr lang="zh-CN" altLang="en-US" sz="1400" dirty="0">
              <a:latin typeface="Times New Roman" panose="02020603050405020304" pitchFamily="2" charset="0"/>
            </a:endParaRPr>
          </a:p>
        </p:txBody>
      </p:sp>
      <p:sp>
        <p:nvSpPr>
          <p:cNvPr id="39939" name="Rectangle 5"/>
          <p:cNvSpPr>
            <a:spLocks noGrp="1"/>
          </p:cNvSpPr>
          <p:nvPr>
            <p:ph type="title"/>
          </p:nvPr>
        </p:nvSpPr>
        <p:spPr/>
        <p:txBody>
          <a:bodyPr wrap="square" anchor="ctr"/>
          <a:lstStyle/>
          <a:p>
            <a:pPr eaLnBrk="1" hangingPunct="1"/>
            <a:r>
              <a:rPr lang="zh-CN" altLang="en-US" b="1" dirty="0"/>
              <a:t>符号常量</a:t>
            </a:r>
          </a:p>
        </p:txBody>
      </p:sp>
      <p:sp>
        <p:nvSpPr>
          <p:cNvPr id="31747" name="Rectangle 3"/>
          <p:cNvSpPr>
            <a:spLocks noGrp="1"/>
          </p:cNvSpPr>
          <p:nvPr>
            <p:ph idx="1"/>
          </p:nvPr>
        </p:nvSpPr>
        <p:spPr>
          <a:xfrm>
            <a:off x="479293" y="1165582"/>
            <a:ext cx="7772400" cy="4611687"/>
          </a:xfrm>
        </p:spPr>
        <p:txBody>
          <a:bodyPr wrap="square" anchor="t"/>
          <a:lstStyle/>
          <a:p>
            <a:pPr algn="just" eaLnBrk="1" hangingPunct="1"/>
            <a:r>
              <a:rPr lang="zh-CN" altLang="en-US" b="1" dirty="0">
                <a:solidFill>
                  <a:srgbClr val="000099"/>
                </a:solidFill>
                <a:latin typeface="宋体" panose="02010600030101010101" pitchFamily="2" charset="-122"/>
              </a:rPr>
              <a:t>符号常量：程序代码中预先统一设定的文字常量，并以自定义的标识符表示。类似 速记中的速记符号。</a:t>
            </a:r>
            <a:endParaRPr lang="zh-CN" altLang="en-US" b="1" u="sng" dirty="0">
              <a:solidFill>
                <a:srgbClr val="000099"/>
              </a:solidFill>
              <a:latin typeface="宋体" panose="02010600030101010101" pitchFamily="2" charset="-122"/>
            </a:endParaRPr>
          </a:p>
          <a:p>
            <a:pPr algn="just" eaLnBrk="1" hangingPunct="1">
              <a:buNone/>
            </a:pPr>
            <a:r>
              <a:rPr lang="zh-CN" altLang="en-US" b="1" dirty="0">
                <a:latin typeface="宋体" panose="02010600030101010101" pitchFamily="2" charset="-122"/>
              </a:rPr>
              <a:t>	符号常量的使用格式</a:t>
            </a:r>
            <a:r>
              <a:rPr lang="en-US" altLang="zh-CN" b="1" dirty="0">
                <a:latin typeface="宋体" panose="02010600030101010101" pitchFamily="2" charset="-122"/>
              </a:rPr>
              <a:t>:</a:t>
            </a:r>
          </a:p>
          <a:p>
            <a:pPr algn="just" eaLnBrk="1" hangingPunct="1">
              <a:buNone/>
            </a:pPr>
            <a:r>
              <a:rPr lang="en-US" altLang="zh-CN" b="1" dirty="0">
                <a:latin typeface="宋体" panose="02010600030101010101" pitchFamily="2" charset="-122"/>
              </a:rPr>
              <a:t>	</a:t>
            </a:r>
            <a:r>
              <a:rPr lang="en-US" altLang="zh-CN" dirty="0">
                <a:latin typeface="Consolas" panose="020B0609020204030204" pitchFamily="49" charset="0"/>
              </a:rPr>
              <a:t>#define </a:t>
            </a:r>
            <a:r>
              <a:rPr lang="zh-CN" altLang="en-US" dirty="0">
                <a:latin typeface="Consolas" panose="020B0609020204030204" pitchFamily="49" charset="0"/>
              </a:rPr>
              <a:t>常量名</a:t>
            </a:r>
            <a:r>
              <a:rPr lang="en-US" altLang="zh-CN" dirty="0">
                <a:latin typeface="Consolas" panose="020B0609020204030204" pitchFamily="49" charset="0"/>
              </a:rPr>
              <a:t> </a:t>
            </a:r>
            <a:r>
              <a:rPr lang="zh-CN" altLang="en-US" dirty="0">
                <a:latin typeface="Consolas" panose="020B0609020204030204" pitchFamily="49" charset="0"/>
              </a:rPr>
              <a:t>文字常量或表达式</a:t>
            </a:r>
          </a:p>
          <a:p>
            <a:pPr algn="just" eaLnBrk="1" hangingPunct="1">
              <a:buNone/>
            </a:pPr>
            <a:endParaRPr lang="zh-CN" altLang="en-US" sz="900" b="1" dirty="0">
              <a:latin typeface="宋体" panose="02010600030101010101" pitchFamily="2" charset="-122"/>
            </a:endParaRPr>
          </a:p>
          <a:p>
            <a:pPr algn="just" eaLnBrk="1" hangingPunct="1">
              <a:buNone/>
            </a:pPr>
            <a:r>
              <a:rPr lang="en-US" altLang="zh-CN" b="1" dirty="0">
                <a:latin typeface="宋体" panose="02010600030101010101" pitchFamily="2" charset="-122"/>
              </a:rPr>
              <a:t>  </a:t>
            </a:r>
            <a:r>
              <a:rPr lang="zh-CN" altLang="en-US" b="1" dirty="0">
                <a:latin typeface="宋体" panose="02010600030101010101" pitchFamily="2" charset="-122"/>
              </a:rPr>
              <a:t>例：</a:t>
            </a:r>
          </a:p>
          <a:p>
            <a:pPr algn="just" eaLnBrk="1" hangingPunct="1">
              <a:buNone/>
            </a:pPr>
            <a:r>
              <a:rPr lang="zh-CN" altLang="en-US" sz="2400" dirty="0">
                <a:latin typeface="Consolas" panose="020B0609020204030204" pitchFamily="49" charset="0"/>
              </a:rPr>
              <a:t>  </a:t>
            </a:r>
            <a:r>
              <a:rPr lang="en-US" altLang="zh-CN" sz="2400" dirty="0">
                <a:latin typeface="Consolas" panose="020B0609020204030204" pitchFamily="49" charset="0"/>
              </a:rPr>
              <a:t>#define N  100</a:t>
            </a:r>
          </a:p>
          <a:p>
            <a:pPr algn="just" eaLnBrk="1" hangingPunct="1">
              <a:buNone/>
            </a:pPr>
            <a:r>
              <a:rPr lang="en-US" altLang="zh-CN" sz="2400" dirty="0">
                <a:latin typeface="Consolas" panose="020B0609020204030204" pitchFamily="49" charset="0"/>
              </a:rPr>
              <a:t>  int main(void){</a:t>
            </a:r>
          </a:p>
          <a:p>
            <a:pPr algn="just" eaLnBrk="1" hangingPunct="1">
              <a:buNone/>
            </a:pPr>
            <a:r>
              <a:rPr lang="en-US" altLang="zh-CN" sz="2400" dirty="0">
                <a:latin typeface="Consolas" panose="020B0609020204030204" pitchFamily="49" charset="0"/>
              </a:rPr>
              <a:t>		</a:t>
            </a:r>
            <a:r>
              <a:rPr lang="en-US" altLang="zh-CN" sz="2400" dirty="0" err="1">
                <a:latin typeface="Consolas" panose="020B0609020204030204" pitchFamily="49" charset="0"/>
              </a:rPr>
              <a:t>printf</a:t>
            </a:r>
            <a:r>
              <a:rPr lang="en-US" altLang="zh-CN" sz="2400" dirty="0">
                <a:latin typeface="Consolas" panose="020B0609020204030204" pitchFamily="49" charset="0"/>
              </a:rPr>
              <a:t>(</a:t>
            </a:r>
            <a:r>
              <a:rPr lang="pt-BR" altLang="zh-CN" sz="2400" dirty="0">
                <a:latin typeface="Consolas" panose="020B0609020204030204" pitchFamily="49" charset="0"/>
              </a:rPr>
              <a:t>"%d\n"</a:t>
            </a:r>
            <a:r>
              <a:rPr lang="en-US" altLang="zh-CN" sz="2400" dirty="0">
                <a:latin typeface="Consolas" panose="020B0609020204030204" pitchFamily="49" charset="0"/>
              </a:rPr>
              <a:t>,2*N);</a:t>
            </a:r>
          </a:p>
          <a:p>
            <a:pPr algn="just" eaLnBrk="1" hangingPunct="1">
              <a:buNone/>
            </a:pPr>
            <a:r>
              <a:rPr lang="en-US" altLang="zh-CN" sz="2400" dirty="0">
                <a:latin typeface="Consolas" panose="020B0609020204030204" pitchFamily="49" charset="0"/>
              </a:rPr>
              <a:t>	}</a:t>
            </a:r>
          </a:p>
        </p:txBody>
      </p:sp>
    </p:spTree>
    <p:extLst>
      <p:ext uri="{BB962C8B-B14F-4D97-AF65-F5344CB8AC3E}">
        <p14:creationId xmlns:p14="http://schemas.microsoft.com/office/powerpoint/2010/main" val="45051544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1747">
                                            <p:txEl>
                                              <p:charRg st="96" end="96"/>
                                            </p:txEl>
                                          </p:spTgt>
                                        </p:tgtEl>
                                        <p:attrNameLst>
                                          <p:attrName>style.visibility</p:attrName>
                                        </p:attrNameLst>
                                      </p:cBhvr>
                                      <p:to>
                                        <p:strVal val="visible"/>
                                      </p:to>
                                    </p:set>
                                    <p:animEffect transition="in" filter="dissolve">
                                      <p:cBhvr>
                                        <p:cTn id="7" dur="500"/>
                                        <p:tgtEl>
                                          <p:spTgt spid="31747">
                                            <p:txEl>
                                              <p:charRg st="96" end="9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灯片编号占位符 5"/>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dirty="0">
                <a:latin typeface="Times New Roman" panose="02020603050405020304" pitchFamily="2" charset="0"/>
              </a:rPr>
              <a:t>33</a:t>
            </a:fld>
            <a:endParaRPr lang="zh-CN" altLang="en-US" sz="1400" dirty="0">
              <a:latin typeface="Times New Roman" panose="02020603050405020304" pitchFamily="2" charset="0"/>
            </a:endParaRPr>
          </a:p>
        </p:txBody>
      </p:sp>
      <p:sp>
        <p:nvSpPr>
          <p:cNvPr id="39939" name="Rectangle 5"/>
          <p:cNvSpPr>
            <a:spLocks noGrp="1"/>
          </p:cNvSpPr>
          <p:nvPr>
            <p:ph type="title"/>
          </p:nvPr>
        </p:nvSpPr>
        <p:spPr/>
        <p:txBody>
          <a:bodyPr wrap="square" anchor="ctr"/>
          <a:lstStyle/>
          <a:p>
            <a:pPr eaLnBrk="1" hangingPunct="1"/>
            <a:r>
              <a:rPr lang="zh-CN" altLang="en-US" b="1" dirty="0"/>
              <a:t>命名常量：被保护的变量</a:t>
            </a:r>
          </a:p>
        </p:txBody>
      </p:sp>
      <p:sp>
        <p:nvSpPr>
          <p:cNvPr id="31747" name="Rectangle 3"/>
          <p:cNvSpPr>
            <a:spLocks noGrp="1"/>
          </p:cNvSpPr>
          <p:nvPr>
            <p:ph idx="1"/>
          </p:nvPr>
        </p:nvSpPr>
        <p:spPr>
          <a:xfrm>
            <a:off x="479293" y="1165582"/>
            <a:ext cx="7772400" cy="4611687"/>
          </a:xfrm>
        </p:spPr>
        <p:txBody>
          <a:bodyPr wrap="square" anchor="t"/>
          <a:lstStyle/>
          <a:p>
            <a:pPr algn="just" eaLnBrk="1" hangingPunct="1">
              <a:buFont typeface="Wingdings" panose="05000000000000000000" pitchFamily="2" charset="2"/>
              <a:buChar char="u"/>
            </a:pPr>
            <a:r>
              <a:rPr lang="zh-CN" altLang="en-US" b="1" dirty="0">
                <a:solidFill>
                  <a:srgbClr val="000099"/>
                </a:solidFill>
                <a:latin typeface="宋体" panose="02010600030101010101" pitchFamily="2" charset="-122"/>
              </a:rPr>
              <a:t>不能改写的变量</a:t>
            </a:r>
            <a:r>
              <a:rPr lang="en-US" altLang="zh-CN" b="1" dirty="0">
                <a:solidFill>
                  <a:srgbClr val="000099"/>
                </a:solidFill>
                <a:latin typeface="宋体" panose="02010600030101010101" pitchFamily="2" charset="-122"/>
              </a:rPr>
              <a:t>(</a:t>
            </a:r>
            <a:r>
              <a:rPr lang="zh-CN" altLang="en-US" b="1" dirty="0">
                <a:solidFill>
                  <a:srgbClr val="000099"/>
                </a:solidFill>
                <a:latin typeface="宋体" panose="02010600030101010101" pitchFamily="2" charset="-122"/>
              </a:rPr>
              <a:t>命名常量</a:t>
            </a:r>
            <a:r>
              <a:rPr lang="en-US" altLang="zh-CN" b="1" dirty="0">
                <a:solidFill>
                  <a:srgbClr val="000099"/>
                </a:solidFill>
                <a:latin typeface="宋体" panose="02010600030101010101" pitchFamily="2" charset="-122"/>
              </a:rPr>
              <a:t>)</a:t>
            </a:r>
            <a:endParaRPr lang="zh-CN" altLang="en-US" b="1" u="sng" dirty="0">
              <a:solidFill>
                <a:srgbClr val="000099"/>
              </a:solidFill>
              <a:latin typeface="宋体" panose="02010600030101010101" pitchFamily="2" charset="-122"/>
            </a:endParaRPr>
          </a:p>
          <a:p>
            <a:pPr algn="just" eaLnBrk="1" hangingPunct="1">
              <a:buNone/>
            </a:pPr>
            <a:r>
              <a:rPr lang="zh-CN" altLang="en-US" b="1" dirty="0">
                <a:latin typeface="宋体" panose="02010600030101010101" pitchFamily="2" charset="-122"/>
              </a:rPr>
              <a:t>	有些变量一旦声明并初始化</a:t>
            </a:r>
            <a:r>
              <a:rPr lang="en-US" altLang="zh-CN" b="1" dirty="0">
                <a:latin typeface="宋体" panose="02010600030101010101" pitchFamily="2" charset="-122"/>
              </a:rPr>
              <a:t>,</a:t>
            </a:r>
            <a:r>
              <a:rPr lang="zh-CN" altLang="en-US" b="1" dirty="0">
                <a:latin typeface="宋体" panose="02010600030101010101" pitchFamily="2" charset="-122"/>
              </a:rPr>
              <a:t>便</a:t>
            </a:r>
            <a:r>
              <a:rPr lang="zh-CN" altLang="en-US" b="1" u="sng" dirty="0">
                <a:solidFill>
                  <a:srgbClr val="000099"/>
                </a:solidFill>
                <a:latin typeface="宋体" panose="02010600030101010101" pitchFamily="2" charset="-122"/>
              </a:rPr>
              <a:t>不允许程序去改变该存储空间中的数据</a:t>
            </a:r>
            <a:r>
              <a:rPr lang="zh-CN" altLang="en-US" b="1" dirty="0">
                <a:latin typeface="宋体" panose="02010600030101010101" pitchFamily="2" charset="-122"/>
              </a:rPr>
              <a:t>。</a:t>
            </a:r>
          </a:p>
          <a:p>
            <a:pPr algn="just" eaLnBrk="1" hangingPunct="1">
              <a:buNone/>
            </a:pPr>
            <a:endParaRPr lang="zh-CN" altLang="en-US" sz="900" b="1" dirty="0">
              <a:latin typeface="宋体" panose="02010600030101010101" pitchFamily="2" charset="-122"/>
            </a:endParaRPr>
          </a:p>
          <a:p>
            <a:pPr algn="just" eaLnBrk="1" hangingPunct="1">
              <a:buNone/>
            </a:pPr>
            <a:r>
              <a:rPr lang="en-US" altLang="zh-CN" b="1" dirty="0">
                <a:latin typeface="宋体" panose="02010600030101010101" pitchFamily="2" charset="-122"/>
              </a:rPr>
              <a:t>  C</a:t>
            </a:r>
            <a:r>
              <a:rPr lang="zh-CN" altLang="en-US" b="1" dirty="0">
                <a:latin typeface="宋体" panose="02010600030101010101" pitchFamily="2" charset="-122"/>
              </a:rPr>
              <a:t>语言中定义一个不能改写的变量：</a:t>
            </a:r>
          </a:p>
          <a:p>
            <a:pPr algn="just" eaLnBrk="1" hangingPunct="1">
              <a:buNone/>
            </a:pPr>
            <a:r>
              <a:rPr lang="zh-CN" altLang="en-US" b="1" dirty="0">
                <a:latin typeface="宋体" panose="02010600030101010101" pitchFamily="2" charset="-122"/>
              </a:rPr>
              <a:t>  </a:t>
            </a:r>
            <a:r>
              <a:rPr lang="en-US" altLang="zh-CN" b="1" dirty="0">
                <a:solidFill>
                  <a:srgbClr val="FF3300"/>
                </a:solidFill>
                <a:latin typeface="宋体" panose="02010600030101010101" pitchFamily="2" charset="-122"/>
              </a:rPr>
              <a:t>const </a:t>
            </a:r>
            <a:r>
              <a:rPr lang="en-US" altLang="zh-CN" b="1" dirty="0">
                <a:solidFill>
                  <a:schemeClr val="tx1"/>
                </a:solidFill>
                <a:latin typeface="宋体" panose="02010600030101010101" pitchFamily="2" charset="-122"/>
              </a:rPr>
              <a:t>float pi = 3.14;</a:t>
            </a:r>
          </a:p>
          <a:p>
            <a:pPr algn="just" eaLnBrk="1" hangingPunct="1">
              <a:buNone/>
            </a:pPr>
            <a:r>
              <a:rPr lang="zh-CN" altLang="en-US" b="1" dirty="0">
                <a:latin typeface="宋体" panose="02010600030101010101" pitchFamily="2" charset="-122"/>
              </a:rPr>
              <a:t>  </a:t>
            </a:r>
            <a:endParaRPr lang="en-US" altLang="zh-CN" b="1" dirty="0"/>
          </a:p>
        </p:txBody>
      </p:sp>
      <p:grpSp>
        <p:nvGrpSpPr>
          <p:cNvPr id="31749" name="组合 31748"/>
          <p:cNvGrpSpPr/>
          <p:nvPr/>
        </p:nvGrpSpPr>
        <p:grpSpPr>
          <a:xfrm>
            <a:off x="5435600" y="3350691"/>
            <a:ext cx="3600450" cy="3167063"/>
            <a:chOff x="0" y="0"/>
            <a:chExt cx="2191" cy="1905"/>
          </a:xfrm>
        </p:grpSpPr>
        <p:sp>
          <p:nvSpPr>
            <p:cNvPr id="39941" name="Rectangle 10"/>
            <p:cNvSpPr/>
            <p:nvPr/>
          </p:nvSpPr>
          <p:spPr>
            <a:xfrm>
              <a:off x="377" y="363"/>
              <a:ext cx="996" cy="183"/>
            </a:xfrm>
            <a:prstGeom prst="rect">
              <a:avLst/>
            </a:prstGeom>
            <a:solidFill>
              <a:srgbClr val="E6E6E6"/>
            </a:solidFill>
            <a:ln w="9525">
              <a:noFill/>
            </a:ln>
          </p:spPr>
          <p:txBody>
            <a:bodyPr anchor="t"/>
            <a:lstStyle/>
            <a:p>
              <a:endParaRPr lang="zh-CN" altLang="en-US" dirty="0">
                <a:latin typeface="Times New Roman" panose="02020603050405020304" pitchFamily="2" charset="0"/>
              </a:endParaRPr>
            </a:p>
          </p:txBody>
        </p:sp>
        <p:sp>
          <p:nvSpPr>
            <p:cNvPr id="39942" name="Rectangle 11"/>
            <p:cNvSpPr/>
            <p:nvPr/>
          </p:nvSpPr>
          <p:spPr>
            <a:xfrm>
              <a:off x="377" y="363"/>
              <a:ext cx="996" cy="183"/>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2" charset="0"/>
              </a:endParaRPr>
            </a:p>
          </p:txBody>
        </p:sp>
        <p:sp>
          <p:nvSpPr>
            <p:cNvPr id="39943" name="Rectangle 12"/>
            <p:cNvSpPr/>
            <p:nvPr/>
          </p:nvSpPr>
          <p:spPr>
            <a:xfrm>
              <a:off x="1488" y="376"/>
              <a:ext cx="703" cy="147"/>
            </a:xfrm>
            <a:prstGeom prst="rect">
              <a:avLst/>
            </a:prstGeom>
            <a:noFill/>
            <a:ln w="9525">
              <a:noFill/>
            </a:ln>
          </p:spPr>
          <p:txBody>
            <a:bodyPr lIns="0" tIns="0" rIns="0" bIns="0" anchor="t">
              <a:spAutoFit/>
            </a:bodyPr>
            <a:lstStyle/>
            <a:p>
              <a:r>
                <a:rPr lang="en-US" altLang="zh-CN" sz="1600" dirty="0">
                  <a:solidFill>
                    <a:srgbClr val="000000"/>
                  </a:solidFill>
                  <a:latin typeface="Times New Roman" panose="02020603050405020304" pitchFamily="2" charset="0"/>
                </a:rPr>
                <a:t>2000H</a:t>
              </a:r>
              <a:endParaRPr lang="zh-CN" altLang="en-US" sz="1600" dirty="0">
                <a:latin typeface="Times New Roman" panose="02020603050405020304" pitchFamily="2" charset="0"/>
              </a:endParaRPr>
            </a:p>
          </p:txBody>
        </p:sp>
        <p:sp>
          <p:nvSpPr>
            <p:cNvPr id="39944" name="Rectangle 13"/>
            <p:cNvSpPr/>
            <p:nvPr/>
          </p:nvSpPr>
          <p:spPr>
            <a:xfrm>
              <a:off x="377" y="546"/>
              <a:ext cx="996" cy="185"/>
            </a:xfrm>
            <a:prstGeom prst="rect">
              <a:avLst/>
            </a:prstGeom>
            <a:solidFill>
              <a:srgbClr val="E6E6E6"/>
            </a:solidFill>
            <a:ln w="9525">
              <a:noFill/>
            </a:ln>
          </p:spPr>
          <p:txBody>
            <a:bodyPr anchor="t"/>
            <a:lstStyle/>
            <a:p>
              <a:endParaRPr lang="zh-CN" altLang="en-US" dirty="0">
                <a:latin typeface="Times New Roman" panose="02020603050405020304" pitchFamily="2" charset="0"/>
              </a:endParaRPr>
            </a:p>
          </p:txBody>
        </p:sp>
        <p:sp>
          <p:nvSpPr>
            <p:cNvPr id="39945" name="Rectangle 14"/>
            <p:cNvSpPr/>
            <p:nvPr/>
          </p:nvSpPr>
          <p:spPr>
            <a:xfrm>
              <a:off x="377" y="546"/>
              <a:ext cx="996" cy="185"/>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2" charset="0"/>
              </a:endParaRPr>
            </a:p>
          </p:txBody>
        </p:sp>
        <p:sp>
          <p:nvSpPr>
            <p:cNvPr id="39946" name="Rectangle 15"/>
            <p:cNvSpPr/>
            <p:nvPr/>
          </p:nvSpPr>
          <p:spPr>
            <a:xfrm>
              <a:off x="377" y="731"/>
              <a:ext cx="996" cy="398"/>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2" charset="0"/>
              </a:endParaRPr>
            </a:p>
          </p:txBody>
        </p:sp>
        <p:sp>
          <p:nvSpPr>
            <p:cNvPr id="39947" name="Rectangle 16"/>
            <p:cNvSpPr/>
            <p:nvPr/>
          </p:nvSpPr>
          <p:spPr>
            <a:xfrm>
              <a:off x="377" y="731"/>
              <a:ext cx="996" cy="398"/>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2" charset="0"/>
              </a:endParaRPr>
            </a:p>
          </p:txBody>
        </p:sp>
        <p:sp>
          <p:nvSpPr>
            <p:cNvPr id="39948" name="Rectangle 17"/>
            <p:cNvSpPr/>
            <p:nvPr/>
          </p:nvSpPr>
          <p:spPr>
            <a:xfrm>
              <a:off x="1476" y="691"/>
              <a:ext cx="344" cy="147"/>
            </a:xfrm>
            <a:prstGeom prst="rect">
              <a:avLst/>
            </a:prstGeom>
            <a:noFill/>
            <a:ln w="9525">
              <a:noFill/>
            </a:ln>
          </p:spPr>
          <p:txBody>
            <a:bodyPr wrap="none" lIns="0" tIns="0" rIns="0" bIns="0" anchor="t">
              <a:spAutoFit/>
            </a:bodyPr>
            <a:lstStyle/>
            <a:p>
              <a:r>
                <a:rPr lang="en-US" altLang="zh-CN" sz="1600" dirty="0">
                  <a:solidFill>
                    <a:srgbClr val="000000"/>
                  </a:solidFill>
                  <a:latin typeface="Times New Roman" panose="02020603050405020304" pitchFamily="2" charset="0"/>
                </a:rPr>
                <a:t>2002H</a:t>
              </a:r>
              <a:endParaRPr lang="en-US" altLang="zh-CN" sz="1600" dirty="0">
                <a:latin typeface="Times New Roman" panose="02020603050405020304" pitchFamily="2" charset="0"/>
              </a:endParaRPr>
            </a:p>
          </p:txBody>
        </p:sp>
        <p:sp>
          <p:nvSpPr>
            <p:cNvPr id="39949" name="Rectangle 18"/>
            <p:cNvSpPr/>
            <p:nvPr/>
          </p:nvSpPr>
          <p:spPr>
            <a:xfrm>
              <a:off x="377" y="1098"/>
              <a:ext cx="996" cy="245"/>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2" charset="0"/>
              </a:endParaRPr>
            </a:p>
          </p:txBody>
        </p:sp>
        <p:sp>
          <p:nvSpPr>
            <p:cNvPr id="39950" name="Rectangle 19"/>
            <p:cNvSpPr/>
            <p:nvPr/>
          </p:nvSpPr>
          <p:spPr>
            <a:xfrm>
              <a:off x="377" y="1098"/>
              <a:ext cx="996" cy="245"/>
            </a:xfrm>
            <a:prstGeom prst="rect">
              <a:avLst/>
            </a:prstGeom>
            <a:no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2" charset="0"/>
              </a:endParaRPr>
            </a:p>
          </p:txBody>
        </p:sp>
        <p:sp>
          <p:nvSpPr>
            <p:cNvPr id="39951" name="Rectangle 20"/>
            <p:cNvSpPr/>
            <p:nvPr/>
          </p:nvSpPr>
          <p:spPr>
            <a:xfrm>
              <a:off x="377" y="1343"/>
              <a:ext cx="996" cy="185"/>
            </a:xfrm>
            <a:prstGeom prst="rect">
              <a:avLst/>
            </a:prstGeom>
            <a:solidFill>
              <a:srgbClr val="E6E6E6"/>
            </a:solidFill>
            <a:ln w="9525">
              <a:noFill/>
            </a:ln>
          </p:spPr>
          <p:txBody>
            <a:bodyPr anchor="t"/>
            <a:lstStyle/>
            <a:p>
              <a:endParaRPr lang="zh-CN" altLang="en-US" dirty="0">
                <a:latin typeface="Times New Roman" panose="02020603050405020304" pitchFamily="2" charset="0"/>
              </a:endParaRPr>
            </a:p>
          </p:txBody>
        </p:sp>
        <p:sp>
          <p:nvSpPr>
            <p:cNvPr id="39952" name="Rectangle 21"/>
            <p:cNvSpPr/>
            <p:nvPr/>
          </p:nvSpPr>
          <p:spPr>
            <a:xfrm>
              <a:off x="377" y="1719"/>
              <a:ext cx="996" cy="186"/>
            </a:xfrm>
            <a:prstGeom prst="rect">
              <a:avLst/>
            </a:prstGeom>
            <a:solidFill>
              <a:srgbClr val="E6E6E6"/>
            </a:solidFill>
            <a:ln w="9525">
              <a:noFill/>
            </a:ln>
          </p:spPr>
          <p:txBody>
            <a:bodyPr anchor="t"/>
            <a:lstStyle/>
            <a:p>
              <a:endParaRPr lang="zh-CN" altLang="en-US" dirty="0">
                <a:latin typeface="Times New Roman" panose="02020603050405020304" pitchFamily="2" charset="0"/>
              </a:endParaRPr>
            </a:p>
          </p:txBody>
        </p:sp>
        <p:sp>
          <p:nvSpPr>
            <p:cNvPr id="39953" name="Rectangle 22"/>
            <p:cNvSpPr/>
            <p:nvPr/>
          </p:nvSpPr>
          <p:spPr>
            <a:xfrm>
              <a:off x="377" y="1074"/>
              <a:ext cx="996" cy="831"/>
            </a:xfrm>
            <a:prstGeom prst="rect">
              <a:avLst/>
            </a:prstGeom>
            <a:gradFill rotWithShape="1">
              <a:gsLst>
                <a:gs pos="0">
                  <a:srgbClr val="9966FF"/>
                </a:gs>
                <a:gs pos="100000">
                  <a:schemeClr val="bg1"/>
                </a:gs>
              </a:gsLst>
              <a:lin ang="5400000" scaled="1"/>
              <a:tileRect/>
            </a:gradFill>
            <a:ln w="15875" cap="flat" cmpd="sng">
              <a:solidFill>
                <a:srgbClr val="000000"/>
              </a:solidFill>
              <a:prstDash val="solid"/>
              <a:miter/>
              <a:headEnd type="none" w="med" len="med"/>
              <a:tailEnd type="none" w="med" len="med"/>
            </a:ln>
          </p:spPr>
          <p:txBody>
            <a:bodyPr anchor="t"/>
            <a:lstStyle/>
            <a:p>
              <a:endParaRPr lang="zh-CN" altLang="en-US" dirty="0">
                <a:latin typeface="Times New Roman" panose="02020603050405020304" pitchFamily="2" charset="0"/>
              </a:endParaRPr>
            </a:p>
          </p:txBody>
        </p:sp>
        <p:sp>
          <p:nvSpPr>
            <p:cNvPr id="39954" name="Rectangle 23"/>
            <p:cNvSpPr/>
            <p:nvPr/>
          </p:nvSpPr>
          <p:spPr>
            <a:xfrm>
              <a:off x="1476" y="1129"/>
              <a:ext cx="703" cy="147"/>
            </a:xfrm>
            <a:prstGeom prst="rect">
              <a:avLst/>
            </a:prstGeom>
            <a:noFill/>
            <a:ln w="9525">
              <a:noFill/>
            </a:ln>
          </p:spPr>
          <p:txBody>
            <a:bodyPr lIns="0" tIns="0" rIns="0" bIns="0" anchor="t">
              <a:spAutoFit/>
            </a:bodyPr>
            <a:lstStyle/>
            <a:p>
              <a:r>
                <a:rPr lang="en-US" altLang="zh-CN" sz="1600" dirty="0">
                  <a:solidFill>
                    <a:srgbClr val="000000"/>
                  </a:solidFill>
                  <a:latin typeface="Times New Roman" panose="02020603050405020304" pitchFamily="2" charset="0"/>
                </a:rPr>
                <a:t>2004H</a:t>
              </a:r>
              <a:endParaRPr lang="en-US" altLang="zh-CN" sz="1600" dirty="0">
                <a:latin typeface="Times New Roman" panose="02020603050405020304" pitchFamily="2" charset="0"/>
              </a:endParaRPr>
            </a:p>
          </p:txBody>
        </p:sp>
        <p:sp>
          <p:nvSpPr>
            <p:cNvPr id="39955" name="Rectangle 24"/>
            <p:cNvSpPr/>
            <p:nvPr/>
          </p:nvSpPr>
          <p:spPr>
            <a:xfrm>
              <a:off x="1476" y="1293"/>
              <a:ext cx="344" cy="147"/>
            </a:xfrm>
            <a:prstGeom prst="rect">
              <a:avLst/>
            </a:prstGeom>
            <a:noFill/>
            <a:ln w="9525">
              <a:noFill/>
            </a:ln>
          </p:spPr>
          <p:txBody>
            <a:bodyPr wrap="none" lIns="0" tIns="0" rIns="0" bIns="0" anchor="t">
              <a:spAutoFit/>
            </a:bodyPr>
            <a:lstStyle/>
            <a:p>
              <a:r>
                <a:rPr lang="en-US" altLang="zh-CN" sz="1600" dirty="0">
                  <a:solidFill>
                    <a:srgbClr val="000000"/>
                  </a:solidFill>
                  <a:latin typeface="Times New Roman" panose="02020603050405020304" pitchFamily="2" charset="0"/>
                </a:rPr>
                <a:t>2005H</a:t>
              </a:r>
              <a:endParaRPr lang="en-US" altLang="zh-CN" sz="1600" dirty="0">
                <a:latin typeface="Times New Roman" panose="02020603050405020304" pitchFamily="2" charset="0"/>
              </a:endParaRPr>
            </a:p>
          </p:txBody>
        </p:sp>
        <p:sp>
          <p:nvSpPr>
            <p:cNvPr id="39956" name="Rectangle 25"/>
            <p:cNvSpPr/>
            <p:nvPr/>
          </p:nvSpPr>
          <p:spPr>
            <a:xfrm>
              <a:off x="1476" y="1708"/>
              <a:ext cx="344" cy="147"/>
            </a:xfrm>
            <a:prstGeom prst="rect">
              <a:avLst/>
            </a:prstGeom>
            <a:noFill/>
            <a:ln w="9525">
              <a:noFill/>
            </a:ln>
          </p:spPr>
          <p:txBody>
            <a:bodyPr wrap="none" lIns="0" tIns="0" rIns="0" bIns="0" anchor="t">
              <a:spAutoFit/>
            </a:bodyPr>
            <a:lstStyle/>
            <a:p>
              <a:r>
                <a:rPr lang="en-US" altLang="zh-CN" sz="1600" dirty="0">
                  <a:solidFill>
                    <a:srgbClr val="000000"/>
                  </a:solidFill>
                  <a:latin typeface="Times New Roman" panose="02020603050405020304" pitchFamily="2" charset="0"/>
                </a:rPr>
                <a:t>2007H</a:t>
              </a:r>
              <a:endParaRPr lang="en-US" altLang="zh-CN" sz="1600" dirty="0">
                <a:latin typeface="Times New Roman" panose="02020603050405020304" pitchFamily="2" charset="0"/>
              </a:endParaRPr>
            </a:p>
          </p:txBody>
        </p:sp>
        <p:sp>
          <p:nvSpPr>
            <p:cNvPr id="39957" name="Rectangle 26"/>
            <p:cNvSpPr/>
            <p:nvPr/>
          </p:nvSpPr>
          <p:spPr>
            <a:xfrm>
              <a:off x="1476" y="1512"/>
              <a:ext cx="344" cy="147"/>
            </a:xfrm>
            <a:prstGeom prst="rect">
              <a:avLst/>
            </a:prstGeom>
            <a:noFill/>
            <a:ln w="9525">
              <a:noFill/>
            </a:ln>
          </p:spPr>
          <p:txBody>
            <a:bodyPr wrap="none" lIns="0" tIns="0" rIns="0" bIns="0" anchor="t">
              <a:spAutoFit/>
            </a:bodyPr>
            <a:lstStyle/>
            <a:p>
              <a:r>
                <a:rPr lang="en-US" altLang="zh-CN" sz="1600" dirty="0">
                  <a:solidFill>
                    <a:srgbClr val="000000"/>
                  </a:solidFill>
                  <a:latin typeface="Times New Roman" panose="02020603050405020304" pitchFamily="2" charset="0"/>
                </a:rPr>
                <a:t>2006H</a:t>
              </a:r>
              <a:endParaRPr lang="en-US" altLang="zh-CN" sz="1600" dirty="0">
                <a:latin typeface="Times New Roman" panose="02020603050405020304" pitchFamily="2" charset="0"/>
              </a:endParaRPr>
            </a:p>
          </p:txBody>
        </p:sp>
        <p:sp>
          <p:nvSpPr>
            <p:cNvPr id="39958" name="Rectangle 27"/>
            <p:cNvSpPr/>
            <p:nvPr/>
          </p:nvSpPr>
          <p:spPr>
            <a:xfrm>
              <a:off x="1476" y="910"/>
              <a:ext cx="344" cy="147"/>
            </a:xfrm>
            <a:prstGeom prst="rect">
              <a:avLst/>
            </a:prstGeom>
            <a:noFill/>
            <a:ln w="9525">
              <a:noFill/>
            </a:ln>
          </p:spPr>
          <p:txBody>
            <a:bodyPr wrap="none" lIns="0" tIns="0" rIns="0" bIns="0" anchor="t">
              <a:spAutoFit/>
            </a:bodyPr>
            <a:lstStyle/>
            <a:p>
              <a:r>
                <a:rPr lang="en-US" altLang="zh-CN" sz="1600" dirty="0">
                  <a:solidFill>
                    <a:srgbClr val="000000"/>
                  </a:solidFill>
                  <a:latin typeface="Times New Roman" panose="02020603050405020304" pitchFamily="2" charset="0"/>
                </a:rPr>
                <a:t>2003H</a:t>
              </a:r>
              <a:endParaRPr lang="en-US" altLang="zh-CN" sz="1600" dirty="0">
                <a:latin typeface="Times New Roman" panose="02020603050405020304" pitchFamily="2" charset="0"/>
              </a:endParaRPr>
            </a:p>
          </p:txBody>
        </p:sp>
        <p:sp>
          <p:nvSpPr>
            <p:cNvPr id="39959" name="Rectangle 28"/>
            <p:cNvSpPr/>
            <p:nvPr/>
          </p:nvSpPr>
          <p:spPr>
            <a:xfrm>
              <a:off x="1476" y="527"/>
              <a:ext cx="344" cy="147"/>
            </a:xfrm>
            <a:prstGeom prst="rect">
              <a:avLst/>
            </a:prstGeom>
            <a:noFill/>
            <a:ln w="9525">
              <a:noFill/>
            </a:ln>
          </p:spPr>
          <p:txBody>
            <a:bodyPr wrap="none" lIns="0" tIns="0" rIns="0" bIns="0" anchor="t">
              <a:spAutoFit/>
            </a:bodyPr>
            <a:lstStyle/>
            <a:p>
              <a:r>
                <a:rPr lang="en-US" altLang="zh-CN" sz="1600" dirty="0">
                  <a:solidFill>
                    <a:srgbClr val="000000"/>
                  </a:solidFill>
                  <a:latin typeface="Times New Roman" panose="02020603050405020304" pitchFamily="2" charset="0"/>
                </a:rPr>
                <a:t>2001H</a:t>
              </a:r>
              <a:endParaRPr lang="en-US" altLang="zh-CN" sz="1600" dirty="0">
                <a:latin typeface="Times New Roman" panose="02020603050405020304" pitchFamily="2" charset="0"/>
              </a:endParaRPr>
            </a:p>
          </p:txBody>
        </p:sp>
        <p:sp>
          <p:nvSpPr>
            <p:cNvPr id="39960" name="Line 30"/>
            <p:cNvSpPr/>
            <p:nvPr/>
          </p:nvSpPr>
          <p:spPr>
            <a:xfrm flipV="1">
              <a:off x="377" y="907"/>
              <a:ext cx="983" cy="3"/>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39961" name="Line 33"/>
            <p:cNvSpPr/>
            <p:nvPr/>
          </p:nvSpPr>
          <p:spPr>
            <a:xfrm>
              <a:off x="377" y="1293"/>
              <a:ext cx="165"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39962" name="Line 34"/>
            <p:cNvSpPr/>
            <p:nvPr/>
          </p:nvSpPr>
          <p:spPr>
            <a:xfrm>
              <a:off x="1202" y="1293"/>
              <a:ext cx="165"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39963" name="Line 35"/>
            <p:cNvSpPr/>
            <p:nvPr/>
          </p:nvSpPr>
          <p:spPr>
            <a:xfrm>
              <a:off x="377" y="1512"/>
              <a:ext cx="165"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39964" name="Line 36"/>
            <p:cNvSpPr/>
            <p:nvPr/>
          </p:nvSpPr>
          <p:spPr>
            <a:xfrm>
              <a:off x="1202" y="1512"/>
              <a:ext cx="165"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39965" name="Line 37"/>
            <p:cNvSpPr/>
            <p:nvPr/>
          </p:nvSpPr>
          <p:spPr>
            <a:xfrm>
              <a:off x="377" y="1730"/>
              <a:ext cx="165"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39966" name="Line 38"/>
            <p:cNvSpPr/>
            <p:nvPr/>
          </p:nvSpPr>
          <p:spPr>
            <a:xfrm>
              <a:off x="1202" y="1730"/>
              <a:ext cx="165" cy="0"/>
            </a:xfrm>
            <a:prstGeom prst="line">
              <a:avLst/>
            </a:prstGeom>
            <a:ln w="9525" cap="flat" cmpd="sng">
              <a:solidFill>
                <a:schemeClr val="tx1"/>
              </a:solidFill>
              <a:prstDash val="solid"/>
              <a:round/>
              <a:headEnd type="none" w="med" len="med"/>
              <a:tailEnd type="none" w="med" len="med"/>
            </a:ln>
          </p:spPr>
          <p:txBody>
            <a:bodyPr/>
            <a:lstStyle/>
            <a:p>
              <a:endParaRPr lang="zh-CN" altLang="en-US"/>
            </a:p>
          </p:txBody>
        </p:sp>
        <p:sp>
          <p:nvSpPr>
            <p:cNvPr id="39967" name="Rectangle 39"/>
            <p:cNvSpPr/>
            <p:nvPr/>
          </p:nvSpPr>
          <p:spPr>
            <a:xfrm>
              <a:off x="707" y="1381"/>
              <a:ext cx="217" cy="147"/>
            </a:xfrm>
            <a:prstGeom prst="rect">
              <a:avLst/>
            </a:prstGeom>
            <a:noFill/>
            <a:ln w="9525">
              <a:noFill/>
            </a:ln>
          </p:spPr>
          <p:txBody>
            <a:bodyPr wrap="none" lIns="0" tIns="0" rIns="0" bIns="0" anchor="t">
              <a:spAutoFit/>
            </a:bodyPr>
            <a:lstStyle/>
            <a:p>
              <a:r>
                <a:rPr lang="en-US" altLang="zh-CN" sz="1600" dirty="0">
                  <a:solidFill>
                    <a:srgbClr val="FF3300"/>
                  </a:solidFill>
                  <a:latin typeface="Times New Roman" panose="02020603050405020304" pitchFamily="2" charset="0"/>
                </a:rPr>
                <a:t>3.14</a:t>
              </a:r>
            </a:p>
          </p:txBody>
        </p:sp>
        <p:sp>
          <p:nvSpPr>
            <p:cNvPr id="39968" name="Text Box 40"/>
            <p:cNvSpPr txBox="1"/>
            <p:nvPr/>
          </p:nvSpPr>
          <p:spPr>
            <a:xfrm>
              <a:off x="422" y="0"/>
              <a:ext cx="1361" cy="239"/>
            </a:xfrm>
            <a:prstGeom prst="rect">
              <a:avLst/>
            </a:prstGeom>
            <a:noFill/>
            <a:ln w="9525">
              <a:noFill/>
            </a:ln>
          </p:spPr>
          <p:txBody>
            <a:bodyPr anchor="t">
              <a:spAutoFit/>
            </a:bodyPr>
            <a:lstStyle/>
            <a:p>
              <a:pPr>
                <a:spcBef>
                  <a:spcPct val="50000"/>
                </a:spcBef>
              </a:pPr>
              <a:r>
                <a:rPr lang="zh-CN" altLang="en-US" sz="2000" dirty="0">
                  <a:solidFill>
                    <a:srgbClr val="000099"/>
                  </a:solidFill>
                  <a:latin typeface="Times New Roman" panose="02020603050405020304" pitchFamily="2" charset="0"/>
                </a:rPr>
                <a:t>存储空间</a:t>
              </a:r>
            </a:p>
          </p:txBody>
        </p:sp>
        <p:sp>
          <p:nvSpPr>
            <p:cNvPr id="39969" name="Rectangle 44"/>
            <p:cNvSpPr/>
            <p:nvPr/>
          </p:nvSpPr>
          <p:spPr>
            <a:xfrm>
              <a:off x="0" y="1406"/>
              <a:ext cx="128" cy="183"/>
            </a:xfrm>
            <a:prstGeom prst="rect">
              <a:avLst/>
            </a:prstGeom>
            <a:noFill/>
            <a:ln w="9525">
              <a:noFill/>
            </a:ln>
          </p:spPr>
          <p:txBody>
            <a:bodyPr wrap="none" lIns="0" tIns="0" rIns="0" bIns="0" anchor="t">
              <a:spAutoFit/>
            </a:bodyPr>
            <a:lstStyle/>
            <a:p>
              <a:r>
                <a:rPr lang="en-US" altLang="zh-CN" sz="2000" dirty="0">
                  <a:solidFill>
                    <a:srgbClr val="000000"/>
                  </a:solidFill>
                  <a:latin typeface="Times New Roman" panose="02020603050405020304" pitchFamily="2" charset="0"/>
                </a:rPr>
                <a:t>pi</a:t>
              </a:r>
              <a:endParaRPr lang="en-US" altLang="zh-CN" sz="2000" dirty="0">
                <a:latin typeface="Times New Roman" panose="02020603050405020304" pitchFamily="2" charset="0"/>
              </a:endParaRPr>
            </a:p>
          </p:txBody>
        </p:sp>
      </p:grpSp>
    </p:spTree>
    <p:extLst>
      <p:ext uri="{BB962C8B-B14F-4D97-AF65-F5344CB8AC3E}">
        <p14:creationId xmlns:p14="http://schemas.microsoft.com/office/powerpoint/2010/main" val="29251042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747">
                                            <p:txEl>
                                              <p:charRg st="67" end="83"/>
                                            </p:txEl>
                                          </p:spTgt>
                                        </p:tgtEl>
                                        <p:attrNameLst>
                                          <p:attrName>style.visibility</p:attrName>
                                        </p:attrNameLst>
                                      </p:cBhvr>
                                      <p:to>
                                        <p:strVal val="visible"/>
                                      </p:to>
                                    </p:set>
                                    <p:animEffect transition="in" filter="dissolve">
                                      <p:cBhvr>
                                        <p:cTn id="7" dur="500"/>
                                        <p:tgtEl>
                                          <p:spTgt spid="31747">
                                            <p:txEl>
                                              <p:charRg st="67" end="83"/>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1747">
                                            <p:txEl>
                                              <p:charRg st="83" end="92"/>
                                            </p:txEl>
                                          </p:spTgt>
                                        </p:tgtEl>
                                        <p:attrNameLst>
                                          <p:attrName>style.visibility</p:attrName>
                                        </p:attrNameLst>
                                      </p:cBhvr>
                                      <p:to>
                                        <p:strVal val="visible"/>
                                      </p:to>
                                    </p:set>
                                    <p:animEffect transition="in" filter="dissolve">
                                      <p:cBhvr>
                                        <p:cTn id="12" dur="500"/>
                                        <p:tgtEl>
                                          <p:spTgt spid="31747">
                                            <p:txEl>
                                              <p:charRg st="83" end="92"/>
                                            </p:txEl>
                                          </p:spTgt>
                                        </p:tgtEl>
                                      </p:cBhvr>
                                    </p:animEffect>
                                  </p:childTnLst>
                                </p:cTn>
                              </p:par>
                              <p:par>
                                <p:cTn id="13" presetID="9" presetClass="entr" presetSubtype="0" fill="hold" nodeType="withEffect">
                                  <p:stCondLst>
                                    <p:cond delay="0"/>
                                  </p:stCondLst>
                                  <p:childTnLst>
                                    <p:set>
                                      <p:cBhvr>
                                        <p:cTn id="14" dur="1" fill="hold">
                                          <p:stCondLst>
                                            <p:cond delay="0"/>
                                          </p:stCondLst>
                                        </p:cTn>
                                        <p:tgtEl>
                                          <p:spTgt spid="31747">
                                            <p:txEl>
                                              <p:charRg st="96" end="96"/>
                                            </p:txEl>
                                          </p:spTgt>
                                        </p:tgtEl>
                                        <p:attrNameLst>
                                          <p:attrName>style.visibility</p:attrName>
                                        </p:attrNameLst>
                                      </p:cBhvr>
                                      <p:to>
                                        <p:strVal val="visible"/>
                                      </p:to>
                                    </p:set>
                                    <p:animEffect transition="in" filter="dissolve">
                                      <p:cBhvr>
                                        <p:cTn id="15" dur="500"/>
                                        <p:tgtEl>
                                          <p:spTgt spid="31747">
                                            <p:txEl>
                                              <p:charRg st="96" end="96"/>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1749"/>
                                        </p:tgtEl>
                                        <p:attrNameLst>
                                          <p:attrName>style.visibility</p:attrName>
                                        </p:attrNameLst>
                                      </p:cBhvr>
                                      <p:to>
                                        <p:strVal val="visible"/>
                                      </p:to>
                                    </p:set>
                                    <p:animEffect transition="in" filter="dissolve">
                                      <p:cBhvr>
                                        <p:cTn id="20" dur="500"/>
                                        <p:tgtEl>
                                          <p:spTgt spid="317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8A026-D9A6-EE51-967F-F6FDBD77FD76}"/>
              </a:ext>
            </a:extLst>
          </p:cNvPr>
          <p:cNvSpPr>
            <a:spLocks noGrp="1"/>
          </p:cNvSpPr>
          <p:nvPr>
            <p:ph type="title"/>
          </p:nvPr>
        </p:nvSpPr>
        <p:spPr/>
        <p:txBody>
          <a:bodyPr/>
          <a:lstStyle/>
          <a:p>
            <a:r>
              <a:rPr lang="zh-CN" altLang="en-US" dirty="0"/>
              <a:t>数据类型小结</a:t>
            </a:r>
          </a:p>
        </p:txBody>
      </p:sp>
      <p:sp>
        <p:nvSpPr>
          <p:cNvPr id="3" name="内容占位符 2">
            <a:extLst>
              <a:ext uri="{FF2B5EF4-FFF2-40B4-BE49-F238E27FC236}">
                <a16:creationId xmlns:a16="http://schemas.microsoft.com/office/drawing/2014/main" id="{651C7DEF-D4C8-9346-CAD9-D34DE51AB283}"/>
              </a:ext>
            </a:extLst>
          </p:cNvPr>
          <p:cNvSpPr>
            <a:spLocks noGrp="1"/>
          </p:cNvSpPr>
          <p:nvPr>
            <p:ph idx="1"/>
          </p:nvPr>
        </p:nvSpPr>
        <p:spPr>
          <a:xfrm>
            <a:off x="467544" y="1319213"/>
            <a:ext cx="8424936" cy="4611687"/>
          </a:xfrm>
        </p:spPr>
        <p:txBody>
          <a:bodyPr/>
          <a:lstStyle/>
          <a:p>
            <a:r>
              <a:rPr lang="zh-CN" altLang="en-US" dirty="0"/>
              <a:t>计算机中的浮点数和整数在本质上不同，其存储方式和运算过程有很大区别。</a:t>
            </a:r>
            <a:endParaRPr lang="en-US" altLang="zh-CN" dirty="0"/>
          </a:p>
          <a:p>
            <a:r>
              <a:rPr lang="zh-CN" altLang="en-US" dirty="0"/>
              <a:t>即使两个</a:t>
            </a:r>
            <a:r>
              <a:rPr lang="en-US" altLang="zh-CN" dirty="0"/>
              <a:t>32</a:t>
            </a:r>
            <a:r>
              <a:rPr lang="zh-CN" altLang="en-US" dirty="0"/>
              <a:t>位存储单元存储的位组合完全相同，但是一个解释为</a:t>
            </a:r>
            <a:r>
              <a:rPr lang="en-US" altLang="zh-CN" dirty="0"/>
              <a:t>float</a:t>
            </a:r>
            <a:r>
              <a:rPr lang="zh-CN" altLang="en-US" dirty="0"/>
              <a:t>类型，另一个解释为</a:t>
            </a:r>
            <a:r>
              <a:rPr lang="en-US" altLang="zh-CN" dirty="0"/>
              <a:t>int</a:t>
            </a:r>
            <a:r>
              <a:rPr lang="zh-CN" altLang="en-US" dirty="0"/>
              <a:t>类型，这两个相同的位组合表示的值也完全不同。例如，在</a:t>
            </a:r>
            <a:r>
              <a:rPr lang="en-US" altLang="zh-CN" dirty="0"/>
              <a:t>PC</a:t>
            </a:r>
            <a:r>
              <a:rPr lang="zh-CN" altLang="en-US" dirty="0"/>
              <a:t>中，假设一个位组合表示</a:t>
            </a:r>
            <a:r>
              <a:rPr lang="en-US" altLang="zh-CN" dirty="0"/>
              <a:t>float</a:t>
            </a:r>
            <a:r>
              <a:rPr lang="zh-CN" altLang="en-US" dirty="0"/>
              <a:t>类型的数</a:t>
            </a:r>
            <a:r>
              <a:rPr lang="en-US" altLang="zh-CN" dirty="0"/>
              <a:t>256.0</a:t>
            </a:r>
            <a:r>
              <a:rPr lang="zh-CN" altLang="en-US" dirty="0"/>
              <a:t>，如果将其解释为</a:t>
            </a:r>
            <a:r>
              <a:rPr lang="en-US" altLang="zh-CN" dirty="0"/>
              <a:t>int</a:t>
            </a:r>
            <a:r>
              <a:rPr lang="zh-CN" altLang="en-US" dirty="0"/>
              <a:t>类型，得到的值是</a:t>
            </a:r>
            <a:r>
              <a:rPr lang="en-US" altLang="zh-CN" dirty="0"/>
              <a:t>113246208</a:t>
            </a:r>
            <a:r>
              <a:rPr lang="zh-CN" altLang="en-US" dirty="0"/>
              <a:t>。</a:t>
            </a:r>
            <a:endParaRPr lang="en-US" altLang="zh-CN" dirty="0"/>
          </a:p>
          <a:p>
            <a:r>
              <a:rPr lang="en-US" altLang="zh-CN" dirty="0"/>
              <a:t>C</a:t>
            </a:r>
            <a:r>
              <a:rPr lang="zh-CN" altLang="en-US" dirty="0"/>
              <a:t>语言允许编写混合数据类型的表达式，但是会进行自动类型转换，以便在实际运算时统一使用一种类型。</a:t>
            </a:r>
          </a:p>
        </p:txBody>
      </p:sp>
    </p:spTree>
    <p:extLst>
      <p:ext uri="{BB962C8B-B14F-4D97-AF65-F5344CB8AC3E}">
        <p14:creationId xmlns:p14="http://schemas.microsoft.com/office/powerpoint/2010/main" val="3354252427"/>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F63F0B-9135-A1EF-8020-EDC5584B400B}"/>
              </a:ext>
            </a:extLst>
          </p:cNvPr>
          <p:cNvSpPr>
            <a:spLocks noGrp="1"/>
          </p:cNvSpPr>
          <p:nvPr>
            <p:ph type="title"/>
          </p:nvPr>
        </p:nvSpPr>
        <p:spPr/>
        <p:txBody>
          <a:bodyPr/>
          <a:lstStyle/>
          <a:p>
            <a:r>
              <a:rPr lang="zh-CN" altLang="en-US" dirty="0"/>
              <a:t>有限位数的运算闭合性</a:t>
            </a:r>
          </a:p>
        </p:txBody>
      </p:sp>
      <p:sp>
        <p:nvSpPr>
          <p:cNvPr id="3" name="内容占位符 2">
            <a:extLst>
              <a:ext uri="{FF2B5EF4-FFF2-40B4-BE49-F238E27FC236}">
                <a16:creationId xmlns:a16="http://schemas.microsoft.com/office/drawing/2014/main" id="{53F056A7-CAE1-4BBC-011B-906EAF6EC325}"/>
              </a:ext>
            </a:extLst>
          </p:cNvPr>
          <p:cNvSpPr>
            <a:spLocks noGrp="1"/>
          </p:cNvSpPr>
          <p:nvPr>
            <p:ph idx="1"/>
          </p:nvPr>
        </p:nvSpPr>
        <p:spPr/>
        <p:txBody>
          <a:bodyPr/>
          <a:lstStyle/>
          <a:p>
            <a:r>
              <a:rPr lang="zh-CN" altLang="en-US" dirty="0"/>
              <a:t>计算机中表述的数据都是有限位数的，但是这个有限集合上的代数运算必须保证闭合。即 不能出现 </a:t>
            </a:r>
            <a:r>
              <a:rPr lang="en-US" altLang="zh-CN" dirty="0" err="1"/>
              <a:t>maxNum</a:t>
            </a:r>
            <a:r>
              <a:rPr lang="en-US" altLang="zh-CN" dirty="0"/>
              <a:t> + 1 = </a:t>
            </a:r>
            <a:r>
              <a:rPr lang="zh-CN" altLang="en-US" dirty="0"/>
              <a:t>不能计算，因此，根据模运算规则，定义 </a:t>
            </a:r>
            <a:r>
              <a:rPr lang="en-US" altLang="zh-CN" dirty="0" err="1"/>
              <a:t>maxNum</a:t>
            </a:r>
            <a:r>
              <a:rPr lang="en-US" altLang="zh-CN" dirty="0"/>
              <a:t> + 1 = </a:t>
            </a:r>
            <a:r>
              <a:rPr lang="en-US" altLang="zh-CN" dirty="0" err="1"/>
              <a:t>minNum</a:t>
            </a:r>
            <a:r>
              <a:rPr lang="zh-CN" altLang="en-US" dirty="0"/>
              <a:t>。</a:t>
            </a:r>
            <a:endParaRPr lang="en-US" altLang="zh-CN" dirty="0"/>
          </a:p>
          <a:p>
            <a:r>
              <a:rPr lang="zh-CN" altLang="en-US" dirty="0"/>
              <a:t>此外，负数的表示和减法规则的简化，基于计算机的数据都是有限集合的元素，可以用模运算的补数原理来处理，即</a:t>
            </a:r>
            <a:r>
              <a:rPr lang="en-US" altLang="zh-CN" dirty="0"/>
              <a:t>-n </a:t>
            </a:r>
            <a:r>
              <a:rPr lang="en-US" altLang="zh-CN"/>
              <a:t>= (maxNum+1) - |n|.</a:t>
            </a:r>
            <a:endParaRPr lang="zh-CN" altLang="en-US" dirty="0"/>
          </a:p>
        </p:txBody>
      </p:sp>
    </p:spTree>
    <p:extLst>
      <p:ext uri="{BB962C8B-B14F-4D97-AF65-F5344CB8AC3E}">
        <p14:creationId xmlns:p14="http://schemas.microsoft.com/office/powerpoint/2010/main" val="1112528597"/>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36</a:t>
            </a:fld>
            <a:endParaRPr lang="zh-CN" altLang="en-US" sz="1400" b="1" dirty="0"/>
          </a:p>
        </p:txBody>
      </p:sp>
      <p:sp>
        <p:nvSpPr>
          <p:cNvPr id="4099" name="Rectangle 4"/>
          <p:cNvSpPr>
            <a:spLocks noGrp="1"/>
          </p:cNvSpPr>
          <p:nvPr>
            <p:ph idx="1"/>
          </p:nvPr>
        </p:nvSpPr>
        <p:spPr>
          <a:xfrm>
            <a:off x="539750" y="1341438"/>
            <a:ext cx="7992690" cy="4895850"/>
          </a:xfrm>
          <a:ln/>
        </p:spPr>
        <p:txBody>
          <a:bodyPr vert="horz" wrap="square" lIns="92075" tIns="46038" rIns="92075" bIns="46038" anchor="t"/>
          <a:lstStyle/>
          <a:p>
            <a:pPr algn="just" eaLnBrk="1" hangingPunct="1">
              <a:buClr>
                <a:srgbClr val="6600FF"/>
              </a:buClr>
              <a:buSzPct val="50000"/>
              <a:buFont typeface="Wingdings" panose="05000000000000000000" pitchFamily="2" charset="2"/>
              <a:buChar char="u"/>
            </a:pPr>
            <a:r>
              <a:rPr lang="zh-CN" altLang="en-US" sz="2400" b="1" dirty="0">
                <a:latin typeface="宋体" panose="02010600030101010101" pitchFamily="2" charset="-122"/>
              </a:rPr>
              <a:t>表达式（</a:t>
            </a:r>
            <a:r>
              <a:rPr lang="en-US" altLang="zh-CN" sz="2400" b="1" dirty="0">
                <a:latin typeface="宋体" panose="02010600030101010101" pitchFamily="2" charset="-122"/>
              </a:rPr>
              <a:t>expression</a:t>
            </a:r>
            <a:r>
              <a:rPr lang="zh-CN" altLang="en-US" sz="2400" b="1" dirty="0">
                <a:latin typeface="宋体" panose="02010600030101010101" pitchFamily="2" charset="-122"/>
              </a:rPr>
              <a:t>）是由</a:t>
            </a:r>
            <a:r>
              <a:rPr lang="zh-CN" altLang="en-US" sz="2400" b="1" u="sng" dirty="0">
                <a:solidFill>
                  <a:srgbClr val="FF3300"/>
                </a:solidFill>
                <a:latin typeface="宋体" panose="02010600030101010101" pitchFamily="2" charset="-122"/>
              </a:rPr>
              <a:t>运算符、操作数和括号</a:t>
            </a:r>
            <a:r>
              <a:rPr lang="zh-CN" altLang="en-US" sz="2400" b="1" dirty="0">
                <a:latin typeface="宋体" panose="02010600030101010101" pitchFamily="2" charset="-122"/>
              </a:rPr>
              <a:t>组成的、</a:t>
            </a:r>
            <a:r>
              <a:rPr lang="zh-CN" altLang="en-US" sz="2400" b="1" u="sng" dirty="0">
                <a:solidFill>
                  <a:srgbClr val="6600FF"/>
                </a:solidFill>
                <a:latin typeface="宋体" panose="02010600030101010101" pitchFamily="2" charset="-122"/>
              </a:rPr>
              <a:t>计算求值</a:t>
            </a:r>
            <a:r>
              <a:rPr lang="zh-CN" altLang="en-US" sz="2400" b="1" dirty="0">
                <a:latin typeface="宋体" panose="02010600030101010101" pitchFamily="2" charset="-122"/>
              </a:rPr>
              <a:t>的基本单位。</a:t>
            </a:r>
          </a:p>
          <a:p>
            <a:pPr algn="just" eaLnBrk="1" hangingPunct="1">
              <a:buClr>
                <a:srgbClr val="6600FF"/>
              </a:buClr>
              <a:buSzPct val="50000"/>
              <a:buFont typeface="Wingdings" panose="05000000000000000000" pitchFamily="2" charset="2"/>
              <a:buChar char="u"/>
            </a:pPr>
            <a:r>
              <a:rPr lang="zh-CN" altLang="en-US" sz="2400" b="1" dirty="0">
                <a:latin typeface="宋体" panose="02010600030101010101" pitchFamily="2" charset="-122"/>
              </a:rPr>
              <a:t>操作数可以是：</a:t>
            </a:r>
            <a:r>
              <a:rPr lang="zh-CN" altLang="en-US" sz="2400" b="1" dirty="0"/>
              <a:t>常量、变量、函数调用和表达式；</a:t>
            </a:r>
          </a:p>
          <a:p>
            <a:pPr algn="just" eaLnBrk="1" hangingPunct="1">
              <a:buClr>
                <a:srgbClr val="6600FF"/>
              </a:buClr>
              <a:buSzPct val="50000"/>
              <a:buFont typeface="Wingdings" panose="05000000000000000000" pitchFamily="2" charset="2"/>
              <a:buChar char="u"/>
            </a:pPr>
            <a:r>
              <a:rPr lang="zh-CN" altLang="en-US" sz="2400" b="1" dirty="0">
                <a:latin typeface="宋体" panose="02010600030101010101" pitchFamily="2" charset="-122"/>
              </a:rPr>
              <a:t>表达式举例：</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2        </a:t>
            </a:r>
            <a:r>
              <a:rPr lang="zh-CN" altLang="en-US" sz="2400" b="1" dirty="0">
                <a:latin typeface="宋体" panose="02010600030101010101" pitchFamily="2" charset="-122"/>
              </a:rPr>
              <a:t>表达式无运算符，操作数为常量</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i		  </a:t>
            </a:r>
            <a:r>
              <a:rPr lang="zh-CN" altLang="en-US" sz="2400" b="1" dirty="0">
                <a:latin typeface="宋体" panose="02010600030101010101" pitchFamily="2" charset="-122"/>
              </a:rPr>
              <a:t>表达式无运算符，操作数为变量</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sin(x) </a:t>
            </a:r>
            <a:r>
              <a:rPr lang="zh-CN" altLang="en-US" sz="2400" b="1" dirty="0">
                <a:latin typeface="宋体" panose="02010600030101010101" pitchFamily="2" charset="-122"/>
              </a:rPr>
              <a:t>表达式无运算符，操作数为函数调用</a:t>
            </a:r>
            <a:endParaRPr lang="en-US" altLang="zh-CN" sz="2400" b="1" dirty="0">
              <a:latin typeface="宋体" panose="02010600030101010101" pitchFamily="2" charset="-122"/>
            </a:endParaRP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2 + </a:t>
            </a:r>
            <a:r>
              <a:rPr lang="en-US" altLang="zh-CN" sz="2400" b="1" dirty="0" err="1">
                <a:latin typeface="宋体" panose="02010600030101010101" pitchFamily="2" charset="-122"/>
              </a:rPr>
              <a:t>i</a:t>
            </a:r>
            <a:r>
              <a:rPr lang="en-US" altLang="zh-CN" sz="2400" b="1" dirty="0">
                <a:latin typeface="宋体" panose="02010600030101010101" pitchFamily="2" charset="-122"/>
              </a:rPr>
              <a:t>              </a:t>
            </a:r>
            <a:r>
              <a:rPr lang="zh-CN" altLang="en-US" sz="2400" b="1" dirty="0">
                <a:latin typeface="宋体" panose="02010600030101010101" pitchFamily="2" charset="-122"/>
              </a:rPr>
              <a:t>操作数为常量和变量</a:t>
            </a:r>
          </a:p>
          <a:p>
            <a:pPr lvl="1" algn="just" eaLnBrk="1" hangingPunct="1">
              <a:buClr>
                <a:srgbClr val="6600FF"/>
              </a:buClr>
              <a:buSzPct val="50000"/>
              <a:buFont typeface="Wingdings" panose="05000000000000000000" pitchFamily="2" charset="2"/>
              <a:buChar char="u"/>
            </a:pPr>
            <a:r>
              <a:rPr lang="en-US" altLang="zh-CN" sz="2400" b="1" dirty="0" err="1">
                <a:latin typeface="宋体" panose="02010600030101010101" pitchFamily="2" charset="-122"/>
              </a:rPr>
              <a:t>i</a:t>
            </a:r>
            <a:r>
              <a:rPr lang="en-US" altLang="zh-CN" sz="2400" b="1" dirty="0">
                <a:latin typeface="宋体" panose="02010600030101010101" pitchFamily="2" charset="-122"/>
              </a:rPr>
              <a:t> * cos(x)    </a:t>
            </a:r>
            <a:r>
              <a:rPr lang="zh-CN" altLang="en-US" sz="2400" b="1" dirty="0">
                <a:latin typeface="宋体" panose="02010600030101010101" pitchFamily="2" charset="-122"/>
              </a:rPr>
              <a:t>操作数为变量和函数调用</a:t>
            </a:r>
          </a:p>
          <a:p>
            <a:pPr lvl="1" algn="just" eaLnBrk="1" hangingPunct="1">
              <a:buClr>
                <a:srgbClr val="6600FF"/>
              </a:buClr>
              <a:buSzPct val="50000"/>
              <a:buFont typeface="Wingdings" panose="05000000000000000000" pitchFamily="2" charset="2"/>
              <a:buChar char="u"/>
            </a:pPr>
            <a:r>
              <a:rPr lang="en-US" altLang="zh-CN" sz="2400" b="1" dirty="0">
                <a:latin typeface="宋体" panose="02010600030101010101" pitchFamily="2" charset="-122"/>
              </a:rPr>
              <a:t>2+ </a:t>
            </a:r>
            <a:r>
              <a:rPr lang="en-US" altLang="zh-CN" sz="2400" b="1" dirty="0" err="1">
                <a:latin typeface="宋体" panose="02010600030101010101" pitchFamily="2" charset="-122"/>
              </a:rPr>
              <a:t>i</a:t>
            </a:r>
            <a:r>
              <a:rPr lang="en-US" altLang="zh-CN" sz="2400" b="1" dirty="0">
                <a:latin typeface="宋体" panose="02010600030101010101" pitchFamily="2" charset="-122"/>
              </a:rPr>
              <a:t> * sin(x) </a:t>
            </a:r>
            <a:r>
              <a:rPr lang="zh-CN" altLang="en-US" sz="2400" b="1" dirty="0">
                <a:latin typeface="宋体" panose="02010600030101010101" pitchFamily="2" charset="-122"/>
              </a:rPr>
              <a:t>加法运算的第</a:t>
            </a:r>
            <a:r>
              <a:rPr lang="en-US" altLang="zh-CN" sz="2400" b="1" dirty="0">
                <a:latin typeface="宋体" panose="02010600030101010101" pitchFamily="2" charset="-122"/>
              </a:rPr>
              <a:t>2</a:t>
            </a:r>
            <a:r>
              <a:rPr lang="zh-CN" altLang="en-US" sz="2400" b="1" dirty="0">
                <a:latin typeface="宋体" panose="02010600030101010101" pitchFamily="2" charset="-122"/>
              </a:rPr>
              <a:t>个</a:t>
            </a:r>
            <a:r>
              <a:rPr lang="zh-CN" altLang="en-US" sz="2400" b="1" dirty="0"/>
              <a:t>操作数仍为表达式</a:t>
            </a:r>
          </a:p>
        </p:txBody>
      </p:sp>
      <p:sp>
        <p:nvSpPr>
          <p:cNvPr id="4100" name="Rectangle 9"/>
          <p:cNvSpPr>
            <a:spLocks noGrp="1"/>
          </p:cNvSpPr>
          <p:nvPr>
            <p:ph type="title"/>
          </p:nvPr>
        </p:nvSpPr>
        <p:spPr>
          <a:ln/>
        </p:spPr>
        <p:txBody>
          <a:bodyPr vert="horz" wrap="square" lIns="91440" tIns="45720" rIns="91440" bIns="45720" anchor="ctr"/>
          <a:lstStyle/>
          <a:p>
            <a:pPr eaLnBrk="1" hangingPunct="1"/>
            <a:r>
              <a:rPr lang="en-US" altLang="zh-CN" b="1" dirty="0"/>
              <a:t>3.1 </a:t>
            </a:r>
            <a:r>
              <a:rPr lang="zh-CN" altLang="en-US" b="1" dirty="0"/>
              <a:t>表达式</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ln/>
        </p:spPr>
        <p:txBody>
          <a:bodyPr vert="horz" wrap="square" lIns="91440" tIns="45720" rIns="91440" bIns="45720" anchor="ctr"/>
          <a:lstStyle/>
          <a:p>
            <a:r>
              <a:rPr lang="en-US" altLang="zh-CN" b="1" dirty="0"/>
              <a:t>3.1 </a:t>
            </a:r>
            <a:r>
              <a:rPr lang="zh-CN" altLang="en-US" b="1" dirty="0"/>
              <a:t>表达式的递归定义</a:t>
            </a:r>
          </a:p>
        </p:txBody>
      </p:sp>
      <p:sp>
        <p:nvSpPr>
          <p:cNvPr id="5123" name="内容占位符 2"/>
          <p:cNvSpPr>
            <a:spLocks noGrp="1"/>
          </p:cNvSpPr>
          <p:nvPr>
            <p:ph idx="1"/>
          </p:nvPr>
        </p:nvSpPr>
        <p:spPr>
          <a:xfrm>
            <a:off x="250825" y="1319213"/>
            <a:ext cx="8588375" cy="5005387"/>
          </a:xfrm>
          <a:ln/>
        </p:spPr>
        <p:txBody>
          <a:bodyPr vert="horz" wrap="square" lIns="91440" tIns="45720" rIns="91440" bIns="45720" anchor="t"/>
          <a:lstStyle/>
          <a:p>
            <a:pPr marL="0" indent="0">
              <a:lnSpc>
                <a:spcPct val="150000"/>
              </a:lnSpc>
              <a:buNone/>
            </a:pPr>
            <a:r>
              <a:rPr lang="zh-CN" altLang="en-US" sz="2400" dirty="0">
                <a:latin typeface="黑体" panose="02010609060101010101" pitchFamily="49" charset="-122"/>
                <a:ea typeface="黑体" panose="02010609060101010101" pitchFamily="49" charset="-122"/>
              </a:rPr>
              <a:t>表达式的定义是一个递归的形式，由下面四条规则构成</a:t>
            </a:r>
            <a:r>
              <a:rPr lang="en-US" altLang="zh-CN" sz="2400" dirty="0">
                <a:latin typeface="黑体" panose="02010609060101010101" pitchFamily="49" charset="-122"/>
                <a:ea typeface="黑体" panose="02010609060101010101" pitchFamily="49" charset="-122"/>
              </a:rPr>
              <a:t>:</a:t>
            </a:r>
            <a:br>
              <a:rPr lang="en-US" altLang="zh-CN" sz="2400" dirty="0">
                <a:latin typeface="黑体" panose="02010609060101010101" pitchFamily="49" charset="-122"/>
                <a:ea typeface="黑体" panose="02010609060101010101" pitchFamily="49" charset="-122"/>
              </a:rPr>
            </a:br>
            <a:r>
              <a:rPr lang="zh-CN" altLang="en-US" sz="2400" dirty="0"/>
              <a:t>（</a:t>
            </a:r>
            <a:r>
              <a:rPr lang="en-US" altLang="zh-CN" sz="2400" dirty="0"/>
              <a:t>1</a:t>
            </a:r>
            <a:r>
              <a:rPr lang="zh-CN" altLang="en-US" sz="2400" dirty="0"/>
              <a:t>）常量、变量、函数调用是表达式。</a:t>
            </a:r>
            <a:br>
              <a:rPr lang="zh-CN" altLang="en-US" sz="2400" dirty="0"/>
            </a:br>
            <a:r>
              <a:rPr lang="zh-CN" altLang="en-US" sz="2400" dirty="0"/>
              <a:t>（</a:t>
            </a:r>
            <a:r>
              <a:rPr lang="en-US" altLang="zh-CN" sz="2400" dirty="0"/>
              <a:t>2</a:t>
            </a:r>
            <a:r>
              <a:rPr lang="zh-CN" altLang="en-US" sz="2400" dirty="0"/>
              <a:t>）如果</a:t>
            </a:r>
            <a:r>
              <a:rPr lang="en-US" altLang="zh-CN" sz="2400" dirty="0"/>
              <a:t>Ω</a:t>
            </a:r>
            <a:r>
              <a:rPr lang="zh-CN" altLang="en-US" sz="2400" dirty="0"/>
              <a:t>是表达式，则</a:t>
            </a:r>
            <a:r>
              <a:rPr lang="en-US" altLang="zh-CN" sz="2400" dirty="0"/>
              <a:t>(Ω)</a:t>
            </a:r>
            <a:r>
              <a:rPr lang="zh-CN" altLang="en-US" sz="2400" dirty="0"/>
              <a:t>是表达式；如果</a:t>
            </a:r>
            <a:r>
              <a:rPr lang="en-US" altLang="zh-CN" sz="2400" dirty="0"/>
              <a:t>θ</a:t>
            </a:r>
            <a:r>
              <a:rPr lang="zh-CN" altLang="en-US" sz="2400" dirty="0"/>
              <a:t>是单目运算符，</a:t>
            </a:r>
            <a:r>
              <a:rPr lang="en-US" altLang="zh-CN" sz="2400" dirty="0"/>
              <a:t>θ</a:t>
            </a:r>
            <a:r>
              <a:rPr lang="zh-CN" altLang="en-US" sz="2400" dirty="0"/>
              <a:t>允许前缀形式，则</a:t>
            </a:r>
            <a:r>
              <a:rPr lang="en-US" altLang="zh-CN" sz="2400" dirty="0"/>
              <a:t>θΩ</a:t>
            </a:r>
            <a:r>
              <a:rPr lang="zh-CN" altLang="en-US" sz="2400" dirty="0"/>
              <a:t>是表达式；如果</a:t>
            </a:r>
            <a:r>
              <a:rPr lang="en-US" altLang="zh-CN" sz="2400" dirty="0"/>
              <a:t>θ</a:t>
            </a:r>
            <a:r>
              <a:rPr lang="zh-CN" altLang="en-US" sz="2400" dirty="0"/>
              <a:t>允许后缀形式，</a:t>
            </a:r>
            <a:r>
              <a:rPr lang="en-US" altLang="zh-CN" sz="2400" dirty="0"/>
              <a:t>Ωθ</a:t>
            </a:r>
            <a:r>
              <a:rPr lang="zh-CN" altLang="en-US" sz="2400" dirty="0"/>
              <a:t>是表达式。</a:t>
            </a:r>
            <a:br>
              <a:rPr lang="zh-CN" altLang="en-US" sz="2400" dirty="0"/>
            </a:br>
            <a:r>
              <a:rPr lang="zh-CN" altLang="en-US" sz="2400" dirty="0"/>
              <a:t>（</a:t>
            </a:r>
            <a:r>
              <a:rPr lang="en-US" altLang="zh-CN" sz="2400" dirty="0"/>
              <a:t>3</a:t>
            </a:r>
            <a:r>
              <a:rPr lang="zh-CN" altLang="en-US" sz="2400" dirty="0"/>
              <a:t>）如果</a:t>
            </a:r>
            <a:r>
              <a:rPr lang="en-US" altLang="zh-CN" sz="2400" dirty="0"/>
              <a:t>Ωl</a:t>
            </a:r>
            <a:r>
              <a:rPr lang="zh-CN" altLang="en-US" sz="2400" dirty="0"/>
              <a:t>、</a:t>
            </a:r>
            <a:r>
              <a:rPr lang="en-US" altLang="zh-CN" sz="2400" dirty="0"/>
              <a:t>Ω2</a:t>
            </a:r>
            <a:r>
              <a:rPr lang="zh-CN" altLang="en-US" sz="2400" dirty="0"/>
              <a:t>、</a:t>
            </a:r>
            <a:r>
              <a:rPr lang="en-US" altLang="zh-CN" sz="2400" dirty="0"/>
              <a:t>Ω3</a:t>
            </a:r>
            <a:r>
              <a:rPr lang="zh-CN" altLang="en-US" sz="2400" dirty="0"/>
              <a:t>是表达式，</a:t>
            </a:r>
            <a:r>
              <a:rPr lang="en-US" altLang="zh-CN" sz="2400" dirty="0"/>
              <a:t>θ</a:t>
            </a:r>
            <a:r>
              <a:rPr lang="zh-CN" altLang="en-US" sz="2400" dirty="0"/>
              <a:t>是双目运算符，则</a:t>
            </a:r>
            <a:r>
              <a:rPr lang="en-US" altLang="zh-CN" sz="2400" dirty="0"/>
              <a:t>ΩlθΩ2</a:t>
            </a:r>
            <a:r>
              <a:rPr lang="zh-CN" altLang="en-US" sz="2400" dirty="0"/>
              <a:t>是表达式；</a:t>
            </a:r>
            <a:r>
              <a:rPr lang="en-US" altLang="zh-CN" sz="2400" dirty="0"/>
              <a:t>θ1</a:t>
            </a:r>
            <a:r>
              <a:rPr lang="zh-CN" altLang="en-US" sz="2400" dirty="0"/>
              <a:t>和</a:t>
            </a:r>
            <a:r>
              <a:rPr lang="en-US" altLang="zh-CN" sz="2400" dirty="0"/>
              <a:t>θ2</a:t>
            </a:r>
            <a:r>
              <a:rPr lang="zh-CN" altLang="en-US" sz="2400" dirty="0"/>
              <a:t>构成三目运算符，则</a:t>
            </a:r>
            <a:r>
              <a:rPr lang="en-US" altLang="zh-CN" sz="2400" dirty="0"/>
              <a:t>Ωlθ1Ω2θ2Ω3</a:t>
            </a:r>
            <a:r>
              <a:rPr lang="zh-CN" altLang="en-US" sz="2400" dirty="0"/>
              <a:t>是表达式。</a:t>
            </a:r>
            <a:br>
              <a:rPr lang="zh-CN" altLang="en-US" sz="2400" dirty="0"/>
            </a:br>
            <a:r>
              <a:rPr lang="zh-CN" altLang="en-US" sz="2400" dirty="0"/>
              <a:t>（</a:t>
            </a:r>
            <a:r>
              <a:rPr lang="en-US" altLang="zh-CN" sz="2400" dirty="0"/>
              <a:t>4</a:t>
            </a:r>
            <a:r>
              <a:rPr lang="zh-CN" altLang="en-US" sz="2400" dirty="0"/>
              <a:t>）只有有限次的使用上述规则得到的有限长度的字符串式子才是表达式。</a:t>
            </a:r>
          </a:p>
        </p:txBody>
      </p:sp>
      <p:sp>
        <p:nvSpPr>
          <p:cNvPr id="5124" name="灯片编号占位符 3"/>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37</a:t>
            </a:fld>
            <a:endParaRPr lang="zh-CN" altLang="en-US" sz="1400" b="1" dirty="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30225" y="1196752"/>
            <a:ext cx="8083550" cy="5054269"/>
          </a:xfrm>
          <a:prstGeom prst="rect">
            <a:avLst/>
          </a:prstGeom>
          <a:noFill/>
        </p:spPr>
        <p:txBody>
          <a:bodyPr wrap="square" rtlCol="0" anchor="t">
            <a:spAutoFit/>
          </a:bodyPr>
          <a:lstStyle/>
          <a:p>
            <a:pPr>
              <a:lnSpc>
                <a:spcPct val="130000"/>
              </a:lnSpc>
            </a:pPr>
            <a:r>
              <a:rPr lang="zh-CN" altLang="en-US" sz="2800" b="0" dirty="0">
                <a:latin typeface="微软雅黑" panose="020B0503020204020204" pitchFamily="34" charset="-122"/>
                <a:ea typeface="微软雅黑" panose="020B0503020204020204" pitchFamily="34" charset="-122"/>
                <a:cs typeface="微软雅黑" panose="020B0503020204020204" charset="-122"/>
              </a:rPr>
              <a:t>整数除法和浮点数除法不同！浮点数除法的结果是浮点数，而整数除法的结果是整数，没有小数部分。在</a:t>
            </a:r>
            <a:r>
              <a:rPr lang="en-US" altLang="zh-CN" sz="2800" b="0" dirty="0">
                <a:latin typeface="微软雅黑" panose="020B0503020204020204" pitchFamily="34" charset="-122"/>
                <a:ea typeface="微软雅黑" panose="020B0503020204020204" pitchFamily="34" charset="-122"/>
                <a:cs typeface="微软雅黑" panose="020B0503020204020204" charset="-122"/>
              </a:rPr>
              <a:t>C</a:t>
            </a:r>
            <a:r>
              <a:rPr lang="zh-CN" altLang="en-US" sz="2800" b="0" dirty="0">
                <a:latin typeface="微软雅黑" panose="020B0503020204020204" pitchFamily="34" charset="-122"/>
                <a:ea typeface="微软雅黑" panose="020B0503020204020204" pitchFamily="34" charset="-122"/>
                <a:cs typeface="微软雅黑" panose="020B0503020204020204" charset="-122"/>
              </a:rPr>
              <a:t>语言中，整数除法结果的小数部分被丢弃，这一过程被称为截断（</a:t>
            </a:r>
            <a:r>
              <a:rPr lang="en-US" altLang="zh-CN" sz="2800" b="0" dirty="0">
                <a:latin typeface="微软雅黑" panose="020B0503020204020204" pitchFamily="34" charset="-122"/>
                <a:ea typeface="微软雅黑" panose="020B0503020204020204" pitchFamily="34" charset="-122"/>
                <a:cs typeface="微软雅黑" panose="020B0503020204020204" charset="-122"/>
              </a:rPr>
              <a:t>truncation</a:t>
            </a:r>
            <a:r>
              <a:rPr lang="zh-CN" altLang="en-US" sz="2800" b="0" dirty="0">
                <a:latin typeface="微软雅黑" panose="020B0503020204020204" pitchFamily="34" charset="-122"/>
                <a:ea typeface="微软雅黑" panose="020B0503020204020204" pitchFamily="34" charset="-122"/>
                <a:cs typeface="微软雅黑" panose="020B0503020204020204" charset="-122"/>
              </a:rPr>
              <a:t>）。</a:t>
            </a:r>
            <a:endParaRPr lang="en-US" altLang="zh-CN" sz="2800" b="0" dirty="0">
              <a:latin typeface="微软雅黑" panose="020B0503020204020204" pitchFamily="34" charset="-122"/>
              <a:ea typeface="微软雅黑" panose="020B0503020204020204" pitchFamily="34" charset="-122"/>
              <a:cs typeface="微软雅黑" panose="020B0503020204020204" charset="-122"/>
            </a:endParaRPr>
          </a:p>
          <a:p>
            <a:pPr>
              <a:lnSpc>
                <a:spcPct val="130000"/>
              </a:lnSpc>
            </a:pPr>
            <a:endParaRPr lang="en-US" altLang="zh-CN" sz="2800" b="0" dirty="0">
              <a:latin typeface="微软雅黑" panose="020B0503020204020204" pitchFamily="34" charset="-122"/>
              <a:ea typeface="微软雅黑" panose="020B0503020204020204" pitchFamily="34" charset="-122"/>
              <a:cs typeface="微软雅黑" panose="020B0503020204020204" charset="-122"/>
            </a:endParaRPr>
          </a:p>
          <a:p>
            <a:pPr>
              <a:lnSpc>
                <a:spcPct val="130000"/>
              </a:lnSpc>
            </a:pPr>
            <a:r>
              <a:rPr lang="zh-CN" altLang="en-US" sz="2800" b="0" dirty="0">
                <a:latin typeface="+mn-ea"/>
                <a:ea typeface="+mn-ea"/>
                <a:cs typeface="微软雅黑" panose="020B0503020204020204" charset="-122"/>
              </a:rPr>
              <a:t>例：计算机一般用秒为单位来计时。给定秒数，换算为小时数、分钟数和剩余秒数，可以用</a:t>
            </a:r>
            <a:endParaRPr lang="en-US" altLang="zh-CN" sz="2800" b="0" dirty="0">
              <a:latin typeface="+mn-ea"/>
              <a:ea typeface="+mn-ea"/>
              <a:cs typeface="微软雅黑" panose="020B0503020204020204" charset="-122"/>
            </a:endParaRPr>
          </a:p>
          <a:p>
            <a:pPr>
              <a:lnSpc>
                <a:spcPct val="130000"/>
              </a:lnSpc>
            </a:pPr>
            <a:r>
              <a:rPr lang="en-US" altLang="zh-CN" sz="2800" b="0" dirty="0">
                <a:latin typeface="+mn-ea"/>
                <a:ea typeface="+mn-ea"/>
                <a:cs typeface="微软雅黑" panose="020B0503020204020204" charset="-122"/>
              </a:rPr>
              <a:t>  (</a:t>
            </a:r>
            <a:r>
              <a:rPr lang="zh-CN" altLang="en-US" sz="2800" b="0" dirty="0">
                <a:latin typeface="+mn-ea"/>
                <a:ea typeface="+mn-ea"/>
                <a:cs typeface="微软雅黑" panose="020B0503020204020204" charset="-122"/>
              </a:rPr>
              <a:t>秒数</a:t>
            </a:r>
            <a:r>
              <a:rPr lang="en-US" altLang="zh-CN" sz="2800" b="0" dirty="0">
                <a:latin typeface="+mn-ea"/>
                <a:ea typeface="+mn-ea"/>
                <a:cs typeface="微软雅黑" panose="020B0503020204020204" charset="-122"/>
              </a:rPr>
              <a:t>/3600)=</a:t>
            </a:r>
            <a:r>
              <a:rPr lang="zh-CN" altLang="en-US" sz="2800" b="0" dirty="0">
                <a:latin typeface="+mn-ea"/>
                <a:ea typeface="+mn-ea"/>
                <a:cs typeface="微软雅黑" panose="020B0503020204020204" charset="-122"/>
              </a:rPr>
              <a:t>折算小时数，剩余数</a:t>
            </a:r>
            <a:r>
              <a:rPr lang="en-US" altLang="zh-CN" sz="2800" b="0" dirty="0">
                <a:latin typeface="+mn-ea"/>
                <a:ea typeface="+mn-ea"/>
                <a:cs typeface="微软雅黑" panose="020B0503020204020204" charset="-122"/>
              </a:rPr>
              <a:t>=(</a:t>
            </a:r>
            <a:r>
              <a:rPr lang="zh-CN" altLang="en-US" sz="2800" b="0" dirty="0">
                <a:latin typeface="+mn-ea"/>
                <a:ea typeface="+mn-ea"/>
                <a:cs typeface="微软雅黑" panose="020B0503020204020204" charset="-122"/>
              </a:rPr>
              <a:t>秒数</a:t>
            </a:r>
            <a:r>
              <a:rPr lang="en-US" altLang="zh-CN" sz="2800" b="0" dirty="0">
                <a:latin typeface="+mn-ea"/>
                <a:ea typeface="+mn-ea"/>
                <a:cs typeface="微软雅黑" panose="020B0503020204020204" charset="-122"/>
              </a:rPr>
              <a:t>%3600)</a:t>
            </a:r>
            <a:r>
              <a:rPr lang="zh-CN" altLang="en-US" sz="2800" b="0" dirty="0">
                <a:latin typeface="+mn-ea"/>
                <a:ea typeface="+mn-ea"/>
                <a:cs typeface="微软雅黑" panose="020B0503020204020204" charset="-122"/>
              </a:rPr>
              <a:t>再除以</a:t>
            </a:r>
            <a:r>
              <a:rPr lang="en-US" altLang="zh-CN" sz="2800" b="0" dirty="0">
                <a:latin typeface="+mn-ea"/>
                <a:ea typeface="+mn-ea"/>
                <a:cs typeface="微软雅黑" panose="020B0503020204020204" charset="-122"/>
              </a:rPr>
              <a:t>60</a:t>
            </a:r>
            <a:r>
              <a:rPr lang="zh-CN" altLang="en-US" sz="2800" b="0" dirty="0">
                <a:latin typeface="+mn-ea"/>
                <a:ea typeface="+mn-ea"/>
                <a:cs typeface="微软雅黑" panose="020B0503020204020204" charset="-122"/>
              </a:rPr>
              <a:t>折算分钟数。</a:t>
            </a:r>
          </a:p>
        </p:txBody>
      </p:sp>
      <p:sp>
        <p:nvSpPr>
          <p:cNvPr id="12294" name="Rectangle 12"/>
          <p:cNvSpPr>
            <a:spLocks noGrp="1"/>
          </p:cNvSpPr>
          <p:nvPr/>
        </p:nvSpPr>
        <p:spPr>
          <a:xfrm>
            <a:off x="1263650" y="404813"/>
            <a:ext cx="7772400" cy="720725"/>
          </a:xfrm>
          <a:prstGeom prst="rect">
            <a:avLst/>
          </a:prstGeom>
          <a:noFill/>
          <a:ln w="9525">
            <a:noFill/>
          </a:ln>
        </p:spPr>
        <p:txBody>
          <a:bodyPr wrap="square" anchor="ctr"/>
          <a:lstStyle>
            <a:lvl1pPr marL="0" lvl="0" indent="0" algn="r" defTabSz="914400" eaLnBrk="0" fontAlgn="base" latinLnBrk="0" hangingPunct="0">
              <a:lnSpc>
                <a:spcPct val="100000"/>
              </a:lnSpc>
              <a:spcBef>
                <a:spcPct val="0"/>
              </a:spcBef>
              <a:spcAft>
                <a:spcPct val="0"/>
              </a:spcAft>
              <a:buNone/>
              <a:defRPr sz="3200" b="0" i="0" u="none" kern="1200" baseline="0">
                <a:solidFill>
                  <a:srgbClr val="FF3300"/>
                </a:solidFill>
                <a:latin typeface="+mj-lt"/>
                <a:ea typeface="+mj-ea"/>
                <a:cs typeface="+mj-cs"/>
              </a:defRPr>
            </a:lvl1pPr>
          </a:lstStyle>
          <a:p>
            <a:pPr eaLnBrk="1" hangingPunct="1"/>
            <a:r>
              <a:rPr lang="zh-CN" altLang="en-US" b="1" dirty="0"/>
              <a:t>整数除法会舍弃小数</a:t>
            </a:r>
          </a:p>
        </p:txBody>
      </p:sp>
    </p:spTree>
    <p:extLst>
      <p:ext uri="{BB962C8B-B14F-4D97-AF65-F5344CB8AC3E}">
        <p14:creationId xmlns:p14="http://schemas.microsoft.com/office/powerpoint/2010/main" val="87231054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ext Box 3"/>
          <p:cNvSpPr txBox="1"/>
          <p:nvPr/>
        </p:nvSpPr>
        <p:spPr>
          <a:xfrm>
            <a:off x="395536" y="1316355"/>
            <a:ext cx="8496944" cy="3933962"/>
          </a:xfrm>
          <a:prstGeom prst="rect">
            <a:avLst/>
          </a:prstGeom>
          <a:noFill/>
          <a:ln w="9525">
            <a:noFill/>
          </a:ln>
        </p:spPr>
        <p:txBody>
          <a:bodyPr wrap="square" anchor="t">
            <a:spAutoFit/>
          </a:bodyPr>
          <a:lstStyle/>
          <a:p>
            <a:pPr>
              <a:lnSpc>
                <a:spcPct val="130000"/>
              </a:lnSpc>
            </a:pPr>
            <a:r>
              <a:rPr lang="zh-CN" altLang="en-US" sz="2800" b="0" dirty="0">
                <a:latin typeface="微软雅黑" panose="020B0503020204020204" charset="-122"/>
                <a:ea typeface="微软雅黑" panose="020B0503020204020204" charset="-122"/>
                <a:cs typeface="微软雅黑" panose="020B0503020204020204" charset="-122"/>
              </a:rPr>
              <a:t>取余运算的本质是计算两个整数不能整除的余数。</a:t>
            </a:r>
            <a:endParaRPr lang="en-US" altLang="zh-CN" sz="2800" b="0" dirty="0">
              <a:latin typeface="微软雅黑" panose="020B0503020204020204" charset="-122"/>
              <a:ea typeface="微软雅黑" panose="020B0503020204020204" charset="-122"/>
              <a:cs typeface="微软雅黑" panose="020B0503020204020204" charset="-122"/>
            </a:endParaRPr>
          </a:p>
          <a:p>
            <a:pPr>
              <a:lnSpc>
                <a:spcPct val="130000"/>
              </a:lnSpc>
            </a:pPr>
            <a:r>
              <a:rPr lang="zh-CN" altLang="en-US" sz="2800" b="0" dirty="0">
                <a:latin typeface="宋体" panose="02010600030101010101" pitchFamily="2" charset="-122"/>
                <a:cs typeface="微软雅黑" panose="020B0503020204020204" charset="-122"/>
              </a:rPr>
              <a:t>整数</a:t>
            </a:r>
            <a:r>
              <a:rPr lang="en-US" altLang="zh-CN" sz="2800" b="0" dirty="0">
                <a:latin typeface="宋体" panose="02010600030101010101" pitchFamily="2" charset="-122"/>
                <a:cs typeface="微软雅黑" panose="020B0503020204020204" charset="-122"/>
              </a:rPr>
              <a:t>127</a:t>
            </a:r>
            <a:r>
              <a:rPr lang="zh-CN" altLang="en-US" sz="2800" b="0" dirty="0">
                <a:latin typeface="宋体" panose="02010600030101010101" pitchFamily="2" charset="-122"/>
                <a:cs typeface="微软雅黑" panose="020B0503020204020204" charset="-122"/>
              </a:rPr>
              <a:t>的表示方法是三位数码：</a:t>
            </a:r>
            <a:r>
              <a:rPr lang="en-US" altLang="zh-CN" sz="2800" b="0" dirty="0">
                <a:latin typeface="宋体" panose="02010600030101010101" pitchFamily="2" charset="-122"/>
                <a:cs typeface="微软雅黑" panose="020B0503020204020204" charset="-122"/>
              </a:rPr>
              <a:t>100</a:t>
            </a:r>
            <a:r>
              <a:rPr lang="zh-CN" altLang="en-US" sz="2800" b="0" dirty="0">
                <a:latin typeface="宋体" panose="02010600030101010101" pitchFamily="2" charset="-122"/>
                <a:cs typeface="微软雅黑" panose="020B0503020204020204" charset="-122"/>
              </a:rPr>
              <a:t>的倍数</a:t>
            </a:r>
            <a:r>
              <a:rPr lang="en-US" altLang="zh-CN" sz="2800" b="0" dirty="0">
                <a:latin typeface="宋体" panose="02010600030101010101" pitchFamily="2" charset="-122"/>
                <a:cs typeface="微软雅黑" panose="020B0503020204020204" charset="-122"/>
              </a:rPr>
              <a:t>+10</a:t>
            </a:r>
            <a:r>
              <a:rPr lang="zh-CN" altLang="en-US" sz="2800" b="0" dirty="0">
                <a:latin typeface="宋体" panose="02010600030101010101" pitchFamily="2" charset="-122"/>
                <a:cs typeface="微软雅黑" panose="020B0503020204020204" charset="-122"/>
              </a:rPr>
              <a:t>的倍数</a:t>
            </a:r>
            <a:r>
              <a:rPr lang="en-US" altLang="zh-CN" sz="2800" b="0" dirty="0">
                <a:latin typeface="宋体" panose="02010600030101010101" pitchFamily="2" charset="-122"/>
                <a:cs typeface="微软雅黑" panose="020B0503020204020204" charset="-122"/>
              </a:rPr>
              <a:t>+10</a:t>
            </a:r>
            <a:r>
              <a:rPr lang="zh-CN" altLang="en-US" sz="2800" b="0" dirty="0">
                <a:latin typeface="宋体" panose="02010600030101010101" pitchFamily="2" charset="-122"/>
                <a:cs typeface="微软雅黑" panose="020B0503020204020204" charset="-122"/>
              </a:rPr>
              <a:t>的余数，因此整数的数位拆解可以用取余运算。</a:t>
            </a:r>
            <a:endParaRPr lang="en-US" altLang="zh-CN" sz="2800" b="0" dirty="0">
              <a:latin typeface="宋体" panose="02010600030101010101" pitchFamily="2" charset="-122"/>
              <a:cs typeface="微软雅黑" panose="020B0503020204020204" charset="-122"/>
            </a:endParaRPr>
          </a:p>
          <a:p>
            <a:pPr>
              <a:lnSpc>
                <a:spcPct val="130000"/>
              </a:lnSpc>
            </a:pPr>
            <a:endParaRPr lang="en-US" altLang="zh-CN" sz="2800" b="0" dirty="0">
              <a:latin typeface="宋体" panose="02010600030101010101" pitchFamily="2" charset="-122"/>
              <a:cs typeface="微软雅黑" panose="020B0503020204020204" charset="-122"/>
            </a:endParaRPr>
          </a:p>
          <a:p>
            <a:pPr marL="514350" indent="-514350">
              <a:lnSpc>
                <a:spcPct val="130000"/>
              </a:lnSpc>
              <a:buFont typeface="+mj-lt"/>
              <a:buAutoNum type="arabicPeriod"/>
            </a:pPr>
            <a:r>
              <a:rPr lang="zh-CN" altLang="en-US" sz="2800" b="0" dirty="0">
                <a:latin typeface="宋体" panose="02010600030101010101" pitchFamily="2" charset="-122"/>
                <a:cs typeface="微软雅黑" panose="020B0503020204020204" charset="-122"/>
              </a:rPr>
              <a:t>定义程序目标</a:t>
            </a:r>
            <a:endParaRPr lang="en-US" altLang="zh-CN" sz="2800" b="0" dirty="0">
              <a:latin typeface="宋体" panose="02010600030101010101" pitchFamily="2" charset="-122"/>
              <a:cs typeface="微软雅黑" panose="020B0503020204020204" charset="-122"/>
            </a:endParaRPr>
          </a:p>
          <a:p>
            <a:pPr>
              <a:lnSpc>
                <a:spcPct val="130000"/>
              </a:lnSpc>
            </a:pPr>
            <a:r>
              <a:rPr lang="zh-CN" altLang="en-US" sz="2800" b="0" dirty="0">
                <a:latin typeface="宋体" panose="02010600030101010101" pitchFamily="2" charset="-122"/>
                <a:cs typeface="微软雅黑" panose="020B0503020204020204" charset="-122"/>
              </a:rPr>
              <a:t>问题：</a:t>
            </a:r>
            <a:r>
              <a:rPr lang="pt-BR" altLang="en-US" sz="2800" dirty="0">
                <a:latin typeface="宋体" panose="02010600030101010101" pitchFamily="2" charset="-122"/>
                <a:cs typeface="宋体" panose="02010600030101010101" pitchFamily="2" charset="-122"/>
                <a:sym typeface="+mn-ea"/>
              </a:rPr>
              <a:t>输入一个三位数，分离出它的百位、十位和个位，反转</a:t>
            </a:r>
            <a:r>
              <a:rPr lang="zh-CN" altLang="en-US" sz="2800" dirty="0">
                <a:latin typeface="宋体" panose="02010600030101010101" pitchFamily="2" charset="-122"/>
                <a:cs typeface="宋体" panose="02010600030101010101" pitchFamily="2" charset="-122"/>
                <a:sym typeface="+mn-ea"/>
              </a:rPr>
              <a:t>顺序后</a:t>
            </a:r>
            <a:r>
              <a:rPr lang="pt-BR" altLang="en-US" sz="2800" dirty="0">
                <a:latin typeface="宋体" panose="02010600030101010101" pitchFamily="2" charset="-122"/>
                <a:cs typeface="宋体" panose="02010600030101010101" pitchFamily="2" charset="-122"/>
                <a:sym typeface="+mn-ea"/>
              </a:rPr>
              <a:t>输出。 </a:t>
            </a:r>
          </a:p>
        </p:txBody>
      </p:sp>
      <p:sp>
        <p:nvSpPr>
          <p:cNvPr id="20482" name="Rectangle 13"/>
          <p:cNvSpPr/>
          <p:nvPr/>
        </p:nvSpPr>
        <p:spPr>
          <a:xfrm>
            <a:off x="1263650" y="404813"/>
            <a:ext cx="7772400" cy="720725"/>
          </a:xfrm>
          <a:prstGeom prst="rect">
            <a:avLst/>
          </a:prstGeom>
          <a:noFill/>
          <a:ln w="9525">
            <a:noFill/>
          </a:ln>
        </p:spPr>
        <p:txBody>
          <a:bodyPr anchor="ctr"/>
          <a:lstStyle/>
          <a:p>
            <a:pPr algn="r" eaLnBrk="0" hangingPunct="0"/>
            <a:r>
              <a:rPr lang="zh-CN" altLang="en-US" sz="3200" dirty="0">
                <a:solidFill>
                  <a:srgbClr val="FF3300"/>
                </a:solidFill>
                <a:latin typeface="Times New Roman" panose="02020603050405020304" pitchFamily="2" charset="0"/>
              </a:rPr>
              <a:t>取余运算的用途</a:t>
            </a:r>
            <a:r>
              <a:rPr lang="en-US" altLang="zh-CN" sz="3200" dirty="0">
                <a:solidFill>
                  <a:srgbClr val="FF3300"/>
                </a:solidFill>
                <a:latin typeface="Times New Roman" panose="02020603050405020304" pitchFamily="2" charset="0"/>
              </a:rPr>
              <a:t>2</a:t>
            </a:r>
          </a:p>
        </p:txBody>
      </p:sp>
      <p:sp>
        <p:nvSpPr>
          <p:cNvPr id="5" name="文本框 4">
            <a:extLst>
              <a:ext uri="{FF2B5EF4-FFF2-40B4-BE49-F238E27FC236}">
                <a16:creationId xmlns:a16="http://schemas.microsoft.com/office/drawing/2014/main" id="{FC54E073-D3B9-4934-A79D-63DC4E132ACF}"/>
              </a:ext>
            </a:extLst>
          </p:cNvPr>
          <p:cNvSpPr txBox="1"/>
          <p:nvPr/>
        </p:nvSpPr>
        <p:spPr>
          <a:xfrm>
            <a:off x="3635896" y="4673391"/>
            <a:ext cx="4464496" cy="1535485"/>
          </a:xfrm>
          <a:prstGeom prst="rect">
            <a:avLst/>
          </a:prstGeom>
          <a:noFill/>
        </p:spPr>
        <p:txBody>
          <a:bodyPr wrap="square" numCol="2">
            <a:spAutoFit/>
          </a:bodyPr>
          <a:lstStyle/>
          <a:p>
            <a:pPr lvl="1">
              <a:lnSpc>
                <a:spcPct val="120000"/>
              </a:lnSpc>
            </a:pPr>
            <a:r>
              <a:rPr lang="pt-BR" altLang="en-US" sz="2000" dirty="0">
                <a:solidFill>
                  <a:srgbClr val="3366FF"/>
                </a:solidFill>
                <a:latin typeface="宋体" panose="02010600030101010101" pitchFamily="2" charset="-122"/>
                <a:cs typeface="宋体" panose="02010600030101010101" pitchFamily="2" charset="-122"/>
                <a:sym typeface="+mn-ea"/>
              </a:rPr>
              <a:t>样例1输入： 127</a:t>
            </a:r>
          </a:p>
          <a:p>
            <a:pPr lvl="1">
              <a:lnSpc>
                <a:spcPct val="120000"/>
              </a:lnSpc>
            </a:pPr>
            <a:r>
              <a:rPr lang="pt-BR" altLang="en-US" sz="2000" dirty="0">
                <a:solidFill>
                  <a:srgbClr val="3366FF"/>
                </a:solidFill>
                <a:latin typeface="宋体" panose="02010600030101010101" pitchFamily="2" charset="-122"/>
                <a:cs typeface="宋体" panose="02010600030101010101" pitchFamily="2" charset="-122"/>
                <a:sym typeface="+mn-ea"/>
              </a:rPr>
              <a:t>样例1输出： 721</a:t>
            </a:r>
          </a:p>
          <a:p>
            <a:pPr lvl="1">
              <a:lnSpc>
                <a:spcPct val="120000"/>
              </a:lnSpc>
            </a:pPr>
            <a:r>
              <a:rPr lang="pt-BR" altLang="en-US" sz="2000" dirty="0">
                <a:solidFill>
                  <a:srgbClr val="3366FF"/>
                </a:solidFill>
                <a:latin typeface="宋体" panose="02010600030101010101" pitchFamily="2" charset="-122"/>
                <a:cs typeface="宋体" panose="02010600030101010101" pitchFamily="2" charset="-122"/>
                <a:sym typeface="+mn-ea"/>
              </a:rPr>
              <a:t>样例2输入： 320</a:t>
            </a:r>
          </a:p>
          <a:p>
            <a:pPr lvl="1">
              <a:lnSpc>
                <a:spcPct val="120000"/>
              </a:lnSpc>
            </a:pPr>
            <a:r>
              <a:rPr lang="pt-BR" altLang="en-US" sz="2000" dirty="0">
                <a:solidFill>
                  <a:srgbClr val="3366FF"/>
                </a:solidFill>
                <a:latin typeface="宋体" panose="02010600030101010101" pitchFamily="2" charset="-122"/>
                <a:cs typeface="宋体" panose="02010600030101010101" pitchFamily="2" charset="-122"/>
                <a:sym typeface="+mn-ea"/>
              </a:rPr>
              <a:t>样例2输出： 23</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6">
            <a:extLst>
              <a:ext uri="{FF2B5EF4-FFF2-40B4-BE49-F238E27FC236}">
                <a16:creationId xmlns:a16="http://schemas.microsoft.com/office/drawing/2014/main" id="{294564A4-FB40-40FE-A597-08E4C14D765F}"/>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spcBef>
                <a:spcPct val="50000"/>
              </a:spcBef>
            </a:pPr>
            <a:fld id="{F8677BC0-E4DE-4BB5-B139-4E840F3F3A00}" type="slidenum">
              <a:rPr lang="zh-CN" altLang="en-US" sz="1400"/>
              <a:pPr algn="r">
                <a:spcBef>
                  <a:spcPct val="50000"/>
                </a:spcBef>
              </a:pPr>
              <a:t>40</a:t>
            </a:fld>
            <a:endParaRPr lang="zh-CN" altLang="en-US" sz="1400"/>
          </a:p>
        </p:txBody>
      </p:sp>
      <p:sp>
        <p:nvSpPr>
          <p:cNvPr id="34818" name="Rectangle 9">
            <a:extLst>
              <a:ext uri="{FF2B5EF4-FFF2-40B4-BE49-F238E27FC236}">
                <a16:creationId xmlns:a16="http://schemas.microsoft.com/office/drawing/2014/main" id="{C9F05312-6CED-4BEF-A526-B24429C5AA31}"/>
              </a:ext>
            </a:extLst>
          </p:cNvPr>
          <p:cNvSpPr>
            <a:spLocks noGrp="1" noChangeArrowheads="1"/>
          </p:cNvSpPr>
          <p:nvPr>
            <p:ph type="title" idx="4294967295"/>
          </p:nvPr>
        </p:nvSpPr>
        <p:spPr/>
        <p:txBody>
          <a:bodyPr/>
          <a:lstStyle/>
          <a:p>
            <a:pPr eaLnBrk="1" hangingPunct="1"/>
            <a:r>
              <a:rPr lang="zh-CN" altLang="en-US" b="1" dirty="0"/>
              <a:t>关系表达式</a:t>
            </a:r>
          </a:p>
        </p:txBody>
      </p:sp>
      <p:sp>
        <p:nvSpPr>
          <p:cNvPr id="34819" name="Rectangle 4">
            <a:extLst>
              <a:ext uri="{FF2B5EF4-FFF2-40B4-BE49-F238E27FC236}">
                <a16:creationId xmlns:a16="http://schemas.microsoft.com/office/drawing/2014/main" id="{293113F8-686E-4617-864D-6AF3B1935CB9}"/>
              </a:ext>
            </a:extLst>
          </p:cNvPr>
          <p:cNvSpPr>
            <a:spLocks noGrp="1" noChangeArrowheads="1"/>
          </p:cNvSpPr>
          <p:nvPr>
            <p:ph type="body" sz="half" idx="4294967295"/>
          </p:nvPr>
        </p:nvSpPr>
        <p:spPr>
          <a:xfrm>
            <a:off x="685800" y="1319213"/>
            <a:ext cx="8134350" cy="4989512"/>
          </a:xfrm>
        </p:spPr>
        <p:txBody>
          <a:bodyPr lIns="92075" tIns="46038" rIns="92075" bIns="46038"/>
          <a:lstStyle/>
          <a:p>
            <a:pPr eaLnBrk="1" hangingPunct="1">
              <a:buFontTx/>
              <a:buNone/>
            </a:pPr>
            <a:r>
              <a:rPr lang="zh-CN" altLang="en-US" b="1" dirty="0">
                <a:solidFill>
                  <a:srgbClr val="6600FF"/>
                </a:solidFill>
              </a:rPr>
              <a:t>二、关系运算符和关系表达式</a:t>
            </a:r>
          </a:p>
          <a:p>
            <a:pPr algn="just" eaLnBrk="1" hangingPunct="1"/>
            <a:r>
              <a:rPr lang="zh-CN" altLang="en-US" b="1" dirty="0">
                <a:latin typeface="宋体" panose="02010600030101010101" pitchFamily="2" charset="-122"/>
              </a:rPr>
              <a:t>关系运算符：用于比较两个数据的大小关系。</a:t>
            </a:r>
          </a:p>
          <a:p>
            <a:pPr algn="just" eaLnBrk="1" hangingPunct="1"/>
            <a:endParaRPr lang="zh-CN" altLang="en-US" b="1" dirty="0">
              <a:latin typeface="宋体" panose="02010600030101010101" pitchFamily="2" charset="-122"/>
            </a:endParaRPr>
          </a:p>
          <a:p>
            <a:pPr algn="just" eaLnBrk="1" hangingPunct="1"/>
            <a:endParaRPr lang="zh-CN" altLang="en-US" b="1" dirty="0">
              <a:latin typeface="宋体" panose="02010600030101010101" pitchFamily="2" charset="-122"/>
            </a:endParaRPr>
          </a:p>
          <a:p>
            <a:pPr algn="just" eaLnBrk="1" hangingPunct="1"/>
            <a:endParaRPr lang="zh-CN" altLang="en-US" b="1" dirty="0">
              <a:latin typeface="宋体" panose="02010600030101010101" pitchFamily="2" charset="-122"/>
            </a:endParaRPr>
          </a:p>
          <a:p>
            <a:pPr algn="just" eaLnBrk="1" hangingPunct="1"/>
            <a:r>
              <a:rPr lang="zh-CN" altLang="en-US" b="1" dirty="0">
                <a:latin typeface="宋体" panose="02010600030101010101" pitchFamily="2" charset="-122"/>
              </a:rPr>
              <a:t>关系表达式：用关系运算符将两个表达式连接起来构成的表达式，如</a:t>
            </a:r>
            <a:r>
              <a:rPr lang="en-US" altLang="zh-CN" b="1" dirty="0">
                <a:latin typeface="宋体" panose="02010600030101010101" pitchFamily="2" charset="-122"/>
              </a:rPr>
              <a:t>(2＋3)&lt;10 </a:t>
            </a:r>
            <a:r>
              <a:rPr lang="zh-CN" altLang="en-US" b="1" dirty="0">
                <a:latin typeface="宋体" panose="02010600030101010101" pitchFamily="2" charset="-122"/>
              </a:rPr>
              <a:t>；运算结果是</a:t>
            </a:r>
            <a:r>
              <a:rPr lang="zh-CN" altLang="en-US" b="1" dirty="0">
                <a:solidFill>
                  <a:schemeClr val="accent2"/>
                </a:solidFill>
                <a:latin typeface="宋体" panose="02010600030101010101" pitchFamily="2" charset="-122"/>
              </a:rPr>
              <a:t>逻辑"真"</a:t>
            </a:r>
            <a:r>
              <a:rPr lang="en-US" altLang="zh-CN" b="1" dirty="0">
                <a:solidFill>
                  <a:schemeClr val="accent2"/>
                </a:solidFill>
                <a:latin typeface="宋体" panose="02010600030101010101" pitchFamily="2" charset="-122"/>
              </a:rPr>
              <a:t>-</a:t>
            </a:r>
            <a:r>
              <a:rPr lang="zh-CN" altLang="en-US" b="1" dirty="0">
                <a:solidFill>
                  <a:schemeClr val="accent2"/>
                </a:solidFill>
                <a:latin typeface="宋体" panose="02010600030101010101" pitchFamily="2" charset="-122"/>
              </a:rPr>
              <a:t>用</a:t>
            </a:r>
            <a:r>
              <a:rPr lang="en-US" altLang="zh-CN" b="1" dirty="0">
                <a:solidFill>
                  <a:schemeClr val="accent2"/>
                </a:solidFill>
                <a:latin typeface="宋体" panose="02010600030101010101" pitchFamily="2" charset="-122"/>
              </a:rPr>
              <a:t>1</a:t>
            </a:r>
            <a:r>
              <a:rPr lang="zh-CN" altLang="en-US" b="1" dirty="0">
                <a:solidFill>
                  <a:schemeClr val="accent2"/>
                </a:solidFill>
                <a:latin typeface="宋体" panose="02010600030101010101" pitchFamily="2" charset="-122"/>
              </a:rPr>
              <a:t>表示</a:t>
            </a:r>
            <a:r>
              <a:rPr lang="zh-CN" altLang="en-US" b="1" dirty="0">
                <a:latin typeface="宋体" panose="02010600030101010101" pitchFamily="2" charset="-122"/>
              </a:rPr>
              <a:t>或者"</a:t>
            </a:r>
            <a:r>
              <a:rPr lang="zh-CN" altLang="en-US" b="1" dirty="0">
                <a:solidFill>
                  <a:schemeClr val="accent2"/>
                </a:solidFill>
                <a:latin typeface="宋体" panose="02010600030101010101" pitchFamily="2" charset="-122"/>
              </a:rPr>
              <a:t>假"</a:t>
            </a:r>
            <a:r>
              <a:rPr lang="en-US" altLang="zh-CN" b="1" dirty="0">
                <a:solidFill>
                  <a:schemeClr val="accent2"/>
                </a:solidFill>
                <a:latin typeface="宋体" panose="02010600030101010101" pitchFamily="2" charset="-122"/>
              </a:rPr>
              <a:t>-</a:t>
            </a:r>
            <a:r>
              <a:rPr lang="zh-CN" altLang="en-US" b="1" dirty="0">
                <a:solidFill>
                  <a:schemeClr val="accent2"/>
                </a:solidFill>
                <a:latin typeface="宋体" panose="02010600030101010101" pitchFamily="2" charset="-122"/>
              </a:rPr>
              <a:t>用</a:t>
            </a:r>
            <a:r>
              <a:rPr lang="en-US" altLang="zh-CN" b="1" dirty="0">
                <a:solidFill>
                  <a:schemeClr val="accent2"/>
                </a:solidFill>
                <a:latin typeface="宋体" panose="02010600030101010101" pitchFamily="2" charset="-122"/>
              </a:rPr>
              <a:t>0</a:t>
            </a:r>
            <a:r>
              <a:rPr lang="zh-CN" altLang="en-US" b="1" dirty="0">
                <a:solidFill>
                  <a:schemeClr val="accent2"/>
                </a:solidFill>
                <a:latin typeface="宋体" panose="02010600030101010101" pitchFamily="2" charset="-122"/>
              </a:rPr>
              <a:t>表示</a:t>
            </a:r>
            <a:r>
              <a:rPr lang="zh-CN" altLang="en-US" b="1" dirty="0">
                <a:latin typeface="宋体" panose="02010600030101010101" pitchFamily="2" charset="-122"/>
              </a:rPr>
              <a:t>。</a:t>
            </a:r>
            <a:endParaRPr lang="en-US" altLang="zh-CN" b="1" dirty="0">
              <a:latin typeface="宋体" panose="02010600030101010101" pitchFamily="2" charset="-122"/>
              <a:cs typeface="Times New Roman" panose="02020603050405020304" pitchFamily="18" charset="0"/>
            </a:endParaRPr>
          </a:p>
        </p:txBody>
      </p:sp>
      <p:sp>
        <p:nvSpPr>
          <p:cNvPr id="34820" name="Text Box 5">
            <a:extLst>
              <a:ext uri="{FF2B5EF4-FFF2-40B4-BE49-F238E27FC236}">
                <a16:creationId xmlns:a16="http://schemas.microsoft.com/office/drawing/2014/main" id="{FE32FB47-E9E7-4713-8FCF-5C1CE5C86617}"/>
              </a:ext>
            </a:extLst>
          </p:cNvPr>
          <p:cNvSpPr txBox="1">
            <a:spLocks noChangeArrowheads="1"/>
          </p:cNvSpPr>
          <p:nvPr/>
        </p:nvSpPr>
        <p:spPr bwMode="auto">
          <a:xfrm>
            <a:off x="762000" y="3352800"/>
            <a:ext cx="777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Clr>
                <a:schemeClr val="accent2"/>
              </a:buClr>
              <a:buSzPct val="75000"/>
              <a:buFont typeface="Monotype Sorts" pitchFamily="2" charset="2"/>
              <a:buNone/>
            </a:pPr>
            <a:endParaRPr lang="en-US" altLang="zh-CN" sz="2800">
              <a:latin typeface="宋体" panose="02010600030101010101" pitchFamily="2" charset="-122"/>
            </a:endParaRPr>
          </a:p>
        </p:txBody>
      </p:sp>
      <p:graphicFrame>
        <p:nvGraphicFramePr>
          <p:cNvPr id="12294" name="内容占位符 12293">
            <a:extLst>
              <a:ext uri="{FF2B5EF4-FFF2-40B4-BE49-F238E27FC236}">
                <a16:creationId xmlns:a16="http://schemas.microsoft.com/office/drawing/2014/main" id="{3C3CF9DC-8426-4F21-85C1-9F0ECBB6EBA4}"/>
              </a:ext>
            </a:extLst>
          </p:cNvPr>
          <p:cNvGraphicFramePr>
            <a:graphicFrameLocks noGrp="1"/>
          </p:cNvGraphicFramePr>
          <p:nvPr>
            <p:ph sz="half" idx="4294967295"/>
          </p:nvPr>
        </p:nvGraphicFramePr>
        <p:xfrm>
          <a:off x="2484438" y="2349500"/>
          <a:ext cx="5111750" cy="1371600"/>
        </p:xfrm>
        <a:graphic>
          <a:graphicData uri="http://schemas.openxmlformats.org/drawingml/2006/table">
            <a:tbl>
              <a:tblPr/>
              <a:tblGrid>
                <a:gridCol w="2365375">
                  <a:extLst>
                    <a:ext uri="{9D8B030D-6E8A-4147-A177-3AD203B41FA5}">
                      <a16:colId xmlns:a16="http://schemas.microsoft.com/office/drawing/2014/main" val="20000"/>
                    </a:ext>
                  </a:extLst>
                </a:gridCol>
                <a:gridCol w="2746375">
                  <a:extLst>
                    <a:ext uri="{9D8B030D-6E8A-4147-A177-3AD203B41FA5}">
                      <a16:colId xmlns:a16="http://schemas.microsoft.com/office/drawing/2014/main" val="20001"/>
                    </a:ext>
                  </a:extLst>
                </a:gridCol>
              </a:tblGrid>
              <a:tr h="457200">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&lt;(</a:t>
                      </a:r>
                      <a:r>
                        <a:rPr lang="zh-CN" altLang="en-US" sz="2400" b="1" dirty="0"/>
                        <a:t>小于）</a:t>
                      </a:r>
                      <a:endParaRPr lang="zh-CN" altLang="en-US" sz="240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&lt;=</a:t>
                      </a:r>
                      <a:r>
                        <a:rPr lang="zh-CN" altLang="en-US" sz="2400" b="1" dirty="0"/>
                        <a:t>（小于等于）</a:t>
                      </a:r>
                      <a:endParaRPr lang="zh-CN" altLang="en-US" sz="2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extLst>
                  <a:ext uri="{0D108BD9-81ED-4DB2-BD59-A6C34878D82A}">
                    <a16:rowId xmlns:a16="http://schemas.microsoft.com/office/drawing/2014/main" val="10000"/>
                  </a:ext>
                </a:extLst>
              </a:tr>
              <a:tr h="457200">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&gt;</a:t>
                      </a:r>
                      <a:r>
                        <a:rPr lang="zh-CN" altLang="en-US" sz="2400" b="1" dirty="0"/>
                        <a:t>（大于）</a:t>
                      </a:r>
                      <a:endParaRPr lang="en-US" altLang="x-none" sz="240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&gt;=</a:t>
                      </a:r>
                      <a:r>
                        <a:rPr lang="zh-CN" altLang="en-US" sz="2400" b="1" dirty="0"/>
                        <a:t>（大于等于）</a:t>
                      </a:r>
                      <a:endParaRPr lang="zh-CN" altLang="en-US" sz="2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extLst>
                  <a:ext uri="{0D108BD9-81ED-4DB2-BD59-A6C34878D82A}">
                    <a16:rowId xmlns:a16="http://schemas.microsoft.com/office/drawing/2014/main" val="10001"/>
                  </a:ext>
                </a:extLst>
              </a:tr>
              <a:tr h="457200">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zh-CN" altLang="en-US" sz="2400" b="1"/>
                        <a:t>＝＝（等于）</a:t>
                      </a:r>
                      <a:endParaRPr lang="zh-CN" altLang="en-US" sz="24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zh-CN" sz="2400" b="1" dirty="0"/>
                        <a:t>!</a:t>
                      </a:r>
                      <a:r>
                        <a:rPr lang="zh-CN" altLang="en-US" sz="2400" b="1" dirty="0"/>
                        <a:t>＝（不等于）</a:t>
                      </a:r>
                      <a:endParaRPr lang="zh-CN" altLang="en-US" sz="2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extLst>
                  <a:ext uri="{0D108BD9-81ED-4DB2-BD59-A6C34878D82A}">
                    <a16:rowId xmlns:a16="http://schemas.microsoft.com/office/drawing/2014/main" val="10002"/>
                  </a:ext>
                </a:extLst>
              </a:tr>
            </a:tbl>
          </a:graphicData>
        </a:graphic>
      </p:graphicFrame>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灯片编号占位符 5">
            <a:extLst>
              <a:ext uri="{FF2B5EF4-FFF2-40B4-BE49-F238E27FC236}">
                <a16:creationId xmlns:a16="http://schemas.microsoft.com/office/drawing/2014/main" id="{2B4978F3-6192-4051-A590-9533A34748B4}"/>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spcBef>
                <a:spcPct val="50000"/>
              </a:spcBef>
            </a:pPr>
            <a:fld id="{26DD05C4-EE24-4720-B1EC-9F916B63D093}" type="slidenum">
              <a:rPr lang="zh-CN" altLang="en-US" sz="1400"/>
              <a:pPr algn="r">
                <a:spcBef>
                  <a:spcPct val="50000"/>
                </a:spcBef>
              </a:pPr>
              <a:t>41</a:t>
            </a:fld>
            <a:endParaRPr lang="zh-CN" altLang="en-US" sz="1400"/>
          </a:p>
        </p:txBody>
      </p:sp>
      <p:sp>
        <p:nvSpPr>
          <p:cNvPr id="49154" name="Text Box 5">
            <a:extLst>
              <a:ext uri="{FF2B5EF4-FFF2-40B4-BE49-F238E27FC236}">
                <a16:creationId xmlns:a16="http://schemas.microsoft.com/office/drawing/2014/main" id="{9CFF8A82-8BC6-47CC-86A1-A50F08EB8C0C}"/>
              </a:ext>
            </a:extLst>
          </p:cNvPr>
          <p:cNvSpPr txBox="1">
            <a:spLocks noChangeArrowheads="1"/>
          </p:cNvSpPr>
          <p:nvPr/>
        </p:nvSpPr>
        <p:spPr bwMode="auto">
          <a:xfrm>
            <a:off x="501650" y="1354138"/>
            <a:ext cx="7696200" cy="4745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90000"/>
              </a:lnSpc>
              <a:buClr>
                <a:schemeClr val="accent2"/>
              </a:buClr>
              <a:buSzPct val="75000"/>
              <a:buFont typeface="Monotype Sorts" pitchFamily="2" charset="2"/>
              <a:buNone/>
            </a:pPr>
            <a:r>
              <a:rPr lang="zh-CN" altLang="en-US" sz="2800" dirty="0">
                <a:latin typeface="宋体" panose="02010600030101010101" pitchFamily="2" charset="-122"/>
              </a:rPr>
              <a:t>自然语言中，简单表达只用一句话，复杂表述用段落。</a:t>
            </a:r>
            <a:r>
              <a:rPr lang="en-US" altLang="zh-CN" sz="2800" dirty="0">
                <a:latin typeface="宋体" panose="02010600030101010101" pitchFamily="2" charset="-122"/>
              </a:rPr>
              <a:t>C</a:t>
            </a:r>
            <a:r>
              <a:rPr lang="zh-CN" altLang="en-US" sz="2800" dirty="0">
                <a:latin typeface="宋体" panose="02010600030101010101" pitchFamily="2" charset="-122"/>
              </a:rPr>
              <a:t>语言规定，单条语句用</a:t>
            </a:r>
            <a:r>
              <a:rPr lang="en-US" altLang="zh-CN" sz="2800" dirty="0">
                <a:latin typeface="宋体" panose="02010600030101010101" pitchFamily="2" charset="-122"/>
              </a:rPr>
              <a:t>;</a:t>
            </a:r>
            <a:r>
              <a:rPr lang="zh-CN" altLang="en-US" sz="2800" dirty="0">
                <a:latin typeface="宋体" panose="02010600030101010101" pitchFamily="2" charset="-122"/>
              </a:rPr>
              <a:t>结束，复合语句由</a:t>
            </a:r>
            <a:r>
              <a:rPr lang="zh-CN" altLang="en-US" sz="2800" u="sng" dirty="0">
                <a:solidFill>
                  <a:srgbClr val="2D35D3"/>
                </a:solidFill>
                <a:latin typeface="宋体" panose="02010600030101010101" pitchFamily="2" charset="-122"/>
              </a:rPr>
              <a:t>大括号和语句段</a:t>
            </a:r>
            <a:r>
              <a:rPr lang="zh-CN" altLang="en-US" sz="2800" dirty="0">
                <a:latin typeface="宋体" panose="02010600030101010101" pitchFamily="2" charset="-122"/>
              </a:rPr>
              <a:t>组成。</a:t>
            </a:r>
            <a:endParaRPr lang="en-US" altLang="zh-CN" sz="2800" dirty="0">
              <a:latin typeface="宋体" panose="02010600030101010101" pitchFamily="2" charset="-122"/>
            </a:endParaRPr>
          </a:p>
          <a:p>
            <a:pPr algn="just">
              <a:lnSpc>
                <a:spcPct val="90000"/>
              </a:lnSpc>
              <a:buClr>
                <a:schemeClr val="accent2"/>
              </a:buClr>
              <a:buSzPct val="75000"/>
              <a:buFont typeface="Monotype Sorts" pitchFamily="2" charset="2"/>
              <a:buNone/>
            </a:pPr>
            <a:r>
              <a:rPr lang="zh-CN" altLang="en-US" sz="2800" dirty="0">
                <a:latin typeface="宋体" panose="02010600030101010101" pitchFamily="2" charset="-122"/>
              </a:rPr>
              <a:t>例：</a:t>
            </a:r>
            <a:r>
              <a:rPr lang="en-US" altLang="zh-CN" sz="2800" dirty="0">
                <a:latin typeface="宋体" panose="02010600030101010101" pitchFamily="2" charset="-122"/>
              </a:rPr>
              <a:t>	if (n &gt;3)</a:t>
            </a:r>
          </a:p>
          <a:p>
            <a:pPr algn="just">
              <a:lnSpc>
                <a:spcPct val="90000"/>
              </a:lnSpc>
              <a:buClr>
                <a:schemeClr val="accent2"/>
              </a:buClr>
              <a:buSzPct val="75000"/>
              <a:buFont typeface="Monotype Sorts" pitchFamily="2" charset="2"/>
              <a:buNone/>
            </a:pPr>
            <a:r>
              <a:rPr lang="zh-CN" altLang="en-US" sz="2800" dirty="0">
                <a:latin typeface="宋体" panose="02010600030101010101" pitchFamily="2" charset="-122"/>
              </a:rPr>
              <a:t>	{</a:t>
            </a:r>
          </a:p>
          <a:p>
            <a:pPr algn="just">
              <a:lnSpc>
                <a:spcPct val="90000"/>
              </a:lnSpc>
              <a:buClr>
                <a:schemeClr val="accent2"/>
              </a:buClr>
              <a:buSzPct val="75000"/>
              <a:buFont typeface="Monotype Sorts" pitchFamily="2" charset="2"/>
              <a:buNone/>
            </a:pPr>
            <a:r>
              <a:rPr lang="zh-CN" altLang="en-US" sz="2800" dirty="0">
                <a:latin typeface="宋体" panose="02010600030101010101" pitchFamily="2" charset="-122"/>
              </a:rPr>
              <a:t>		</a:t>
            </a:r>
            <a:r>
              <a:rPr lang="en-US" altLang="zh-CN" sz="2800" dirty="0" err="1">
                <a:latin typeface="宋体" panose="02010600030101010101" pitchFamily="2" charset="-122"/>
              </a:rPr>
              <a:t>i</a:t>
            </a:r>
            <a:r>
              <a:rPr lang="en-US" altLang="zh-CN" sz="2800" dirty="0">
                <a:latin typeface="宋体" panose="02010600030101010101" pitchFamily="2" charset="-122"/>
              </a:rPr>
              <a:t> = 1;</a:t>
            </a:r>
          </a:p>
          <a:p>
            <a:pPr algn="just">
              <a:lnSpc>
                <a:spcPct val="90000"/>
              </a:lnSpc>
              <a:buClr>
                <a:schemeClr val="accent2"/>
              </a:buClr>
              <a:buSzPct val="75000"/>
              <a:buFont typeface="Monotype Sorts" pitchFamily="2" charset="2"/>
              <a:buNone/>
            </a:pPr>
            <a:r>
              <a:rPr lang="en-US" altLang="zh-CN" sz="2800" dirty="0">
                <a:latin typeface="宋体" panose="02010600030101010101" pitchFamily="2" charset="-122"/>
              </a:rPr>
              <a:t>		j = 2 * </a:t>
            </a:r>
            <a:r>
              <a:rPr lang="en-US" altLang="zh-CN" sz="2800" dirty="0" err="1">
                <a:latin typeface="宋体" panose="02010600030101010101" pitchFamily="2" charset="-122"/>
              </a:rPr>
              <a:t>i</a:t>
            </a:r>
            <a:r>
              <a:rPr lang="en-US" altLang="zh-CN" sz="2800" dirty="0">
                <a:latin typeface="宋体" panose="02010600030101010101" pitchFamily="2" charset="-122"/>
              </a:rPr>
              <a:t>;</a:t>
            </a:r>
          </a:p>
          <a:p>
            <a:pPr algn="just">
              <a:lnSpc>
                <a:spcPct val="90000"/>
              </a:lnSpc>
              <a:buClr>
                <a:schemeClr val="accent2"/>
              </a:buClr>
              <a:buSzPct val="75000"/>
              <a:buFont typeface="Monotype Sorts" pitchFamily="2" charset="2"/>
              <a:buNone/>
            </a:pPr>
            <a:r>
              <a:rPr lang="en-US" altLang="zh-CN" sz="2800" dirty="0">
                <a:latin typeface="宋体" panose="02010600030101010101" pitchFamily="2" charset="-122"/>
              </a:rPr>
              <a:t>    	}</a:t>
            </a:r>
          </a:p>
          <a:p>
            <a:pPr algn="just">
              <a:lnSpc>
                <a:spcPct val="90000"/>
              </a:lnSpc>
              <a:buClr>
                <a:schemeClr val="accent2"/>
              </a:buClr>
              <a:buSzPct val="75000"/>
              <a:buFont typeface="Monotype Sorts" pitchFamily="2" charset="2"/>
              <a:buNone/>
            </a:pPr>
            <a:r>
              <a:rPr lang="en-US" altLang="zh-CN" sz="2800" dirty="0">
                <a:latin typeface="宋体" panose="02010600030101010101" pitchFamily="2" charset="-122"/>
              </a:rPr>
              <a:t>	else </a:t>
            </a:r>
          </a:p>
          <a:p>
            <a:pPr algn="just">
              <a:lnSpc>
                <a:spcPct val="90000"/>
              </a:lnSpc>
              <a:buClr>
                <a:schemeClr val="accent2"/>
              </a:buClr>
              <a:buSzPct val="75000"/>
              <a:buFont typeface="Monotype Sorts" pitchFamily="2" charset="2"/>
              <a:buNone/>
            </a:pPr>
            <a:r>
              <a:rPr lang="en-US" altLang="zh-CN" sz="2800" dirty="0">
                <a:latin typeface="宋体" panose="02010600030101010101" pitchFamily="2" charset="-122"/>
              </a:rPr>
              <a:t>	{	</a:t>
            </a:r>
          </a:p>
          <a:p>
            <a:pPr algn="just">
              <a:lnSpc>
                <a:spcPct val="90000"/>
              </a:lnSpc>
              <a:buClr>
                <a:schemeClr val="accent2"/>
              </a:buClr>
              <a:buSzPct val="75000"/>
              <a:buFont typeface="Monotype Sorts" pitchFamily="2" charset="2"/>
              <a:buNone/>
            </a:pPr>
            <a:r>
              <a:rPr lang="en-US" altLang="zh-CN" sz="2800" dirty="0">
                <a:latin typeface="宋体" panose="02010600030101010101" pitchFamily="2" charset="-122"/>
              </a:rPr>
              <a:t>		</a:t>
            </a:r>
            <a:r>
              <a:rPr lang="en-US" altLang="zh-CN" sz="2800" dirty="0" err="1">
                <a:latin typeface="宋体" panose="02010600030101010101" pitchFamily="2" charset="-122"/>
              </a:rPr>
              <a:t>i</a:t>
            </a:r>
            <a:r>
              <a:rPr lang="en-US" altLang="zh-CN" sz="2800" dirty="0">
                <a:latin typeface="宋体" panose="02010600030101010101" pitchFamily="2" charset="-122"/>
              </a:rPr>
              <a:t> = 0;	</a:t>
            </a:r>
            <a:r>
              <a:rPr lang="zh-CN" altLang="en-US" sz="2800" dirty="0">
                <a:latin typeface="宋体" panose="02010600030101010101" pitchFamily="2" charset="-122"/>
              </a:rPr>
              <a:t> </a:t>
            </a:r>
            <a:r>
              <a:rPr lang="en-US" altLang="zh-CN" sz="2800" dirty="0">
                <a:latin typeface="宋体" panose="02010600030101010101" pitchFamily="2" charset="-122"/>
              </a:rPr>
              <a:t>j = 2*</a:t>
            </a:r>
            <a:r>
              <a:rPr lang="en-US" altLang="zh-CN" sz="2800" dirty="0" err="1">
                <a:latin typeface="宋体" panose="02010600030101010101" pitchFamily="2" charset="-122"/>
              </a:rPr>
              <a:t>i+1</a:t>
            </a:r>
            <a:r>
              <a:rPr lang="en-US" altLang="zh-CN" sz="2800" dirty="0">
                <a:latin typeface="宋体" panose="02010600030101010101" pitchFamily="2" charset="-122"/>
              </a:rPr>
              <a:t>;</a:t>
            </a:r>
          </a:p>
          <a:p>
            <a:pPr algn="just">
              <a:lnSpc>
                <a:spcPct val="90000"/>
              </a:lnSpc>
              <a:buClr>
                <a:schemeClr val="accent2"/>
              </a:buClr>
              <a:buSzPct val="75000"/>
              <a:buFont typeface="Monotype Sorts" pitchFamily="2" charset="2"/>
              <a:buNone/>
            </a:pPr>
            <a:r>
              <a:rPr lang="en-US" altLang="zh-CN" sz="2800" dirty="0">
                <a:latin typeface="宋体" panose="02010600030101010101" pitchFamily="2" charset="-122"/>
              </a:rPr>
              <a:t>	}</a:t>
            </a:r>
          </a:p>
        </p:txBody>
      </p:sp>
      <p:sp>
        <p:nvSpPr>
          <p:cNvPr id="49155" name="Rectangle 8">
            <a:extLst>
              <a:ext uri="{FF2B5EF4-FFF2-40B4-BE49-F238E27FC236}">
                <a16:creationId xmlns:a16="http://schemas.microsoft.com/office/drawing/2014/main" id="{91566AC2-4119-4DB0-8AEA-EA14CAFF3144}"/>
              </a:ext>
            </a:extLst>
          </p:cNvPr>
          <p:cNvSpPr>
            <a:spLocks noGrp="1" noChangeArrowheads="1"/>
          </p:cNvSpPr>
          <p:nvPr>
            <p:ph type="title" idx="4294967295"/>
          </p:nvPr>
        </p:nvSpPr>
        <p:spPr/>
        <p:txBody>
          <a:bodyPr/>
          <a:lstStyle/>
          <a:p>
            <a:pPr eaLnBrk="1" hangingPunct="1"/>
            <a:r>
              <a:rPr lang="zh-CN" altLang="en-US" b="1" dirty="0"/>
              <a:t>使用大括号构造复合语句</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889" name="灯片编号占位符 6">
            <a:extLst>
              <a:ext uri="{FF2B5EF4-FFF2-40B4-BE49-F238E27FC236}">
                <a16:creationId xmlns:a16="http://schemas.microsoft.com/office/drawing/2014/main" id="{A2811255-271D-4EA8-BA88-007F0C94E8D2}"/>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spcBef>
                <a:spcPct val="50000"/>
              </a:spcBef>
            </a:pPr>
            <a:fld id="{86A57B94-F203-439B-96B1-3E4E21F059E4}" type="slidenum">
              <a:rPr lang="zh-CN" altLang="en-US" sz="1400"/>
              <a:pPr algn="r">
                <a:spcBef>
                  <a:spcPct val="50000"/>
                </a:spcBef>
              </a:pPr>
              <a:t>42</a:t>
            </a:fld>
            <a:endParaRPr lang="zh-CN" altLang="en-US" sz="1400"/>
          </a:p>
        </p:txBody>
      </p:sp>
      <p:sp>
        <p:nvSpPr>
          <p:cNvPr id="37890" name="Rectangle 14">
            <a:extLst>
              <a:ext uri="{FF2B5EF4-FFF2-40B4-BE49-F238E27FC236}">
                <a16:creationId xmlns:a16="http://schemas.microsoft.com/office/drawing/2014/main" id="{35B15894-D86D-41D4-836E-493DE51EDD28}"/>
              </a:ext>
            </a:extLst>
          </p:cNvPr>
          <p:cNvSpPr>
            <a:spLocks noGrp="1" noChangeArrowheads="1"/>
          </p:cNvSpPr>
          <p:nvPr>
            <p:ph type="title" idx="4294967295"/>
          </p:nvPr>
        </p:nvSpPr>
        <p:spPr/>
        <p:txBody>
          <a:bodyPr/>
          <a:lstStyle/>
          <a:p>
            <a:pPr eaLnBrk="1" hangingPunct="1"/>
            <a:r>
              <a:rPr lang="zh-CN" altLang="en-US" b="1" dirty="0"/>
              <a:t>逻辑运算符</a:t>
            </a:r>
          </a:p>
        </p:txBody>
      </p:sp>
      <p:sp>
        <p:nvSpPr>
          <p:cNvPr id="37891" name="Rectangle 9">
            <a:extLst>
              <a:ext uri="{FF2B5EF4-FFF2-40B4-BE49-F238E27FC236}">
                <a16:creationId xmlns:a16="http://schemas.microsoft.com/office/drawing/2014/main" id="{8DA461D6-8CD8-4690-9951-1BF7B6F7697C}"/>
              </a:ext>
            </a:extLst>
          </p:cNvPr>
          <p:cNvSpPr>
            <a:spLocks noGrp="1" noChangeArrowheads="1"/>
          </p:cNvSpPr>
          <p:nvPr>
            <p:ph type="body" sz="half" idx="4294967295"/>
          </p:nvPr>
        </p:nvSpPr>
        <p:spPr>
          <a:xfrm>
            <a:off x="685800" y="1319213"/>
            <a:ext cx="8207375" cy="4611687"/>
          </a:xfrm>
        </p:spPr>
        <p:txBody>
          <a:bodyPr lIns="92075" tIns="46038" rIns="92075" bIns="46038"/>
          <a:lstStyle/>
          <a:p>
            <a:pPr eaLnBrk="1" hangingPunct="1">
              <a:lnSpc>
                <a:spcPct val="80000"/>
              </a:lnSpc>
              <a:buFontTx/>
              <a:buNone/>
            </a:pPr>
            <a:r>
              <a:rPr lang="zh-CN" altLang="en-US" b="1" dirty="0">
                <a:solidFill>
                  <a:srgbClr val="6600FF"/>
                </a:solidFill>
              </a:rPr>
              <a:t>三、逻辑运算符和逻辑表达式</a:t>
            </a:r>
          </a:p>
          <a:p>
            <a:pPr algn="just" eaLnBrk="1" hangingPunct="1">
              <a:lnSpc>
                <a:spcPct val="80000"/>
              </a:lnSpc>
              <a:buFontTx/>
              <a:buNone/>
            </a:pPr>
            <a:r>
              <a:rPr lang="zh-CN" altLang="en-US" b="1" dirty="0">
                <a:latin typeface="宋体" panose="02010600030101010101" pitchFamily="2" charset="-122"/>
              </a:rPr>
              <a:t>逻辑运算符：与、或、非 </a:t>
            </a:r>
          </a:p>
          <a:p>
            <a:pPr algn="just" eaLnBrk="1" hangingPunct="1">
              <a:lnSpc>
                <a:spcPct val="80000"/>
              </a:lnSpc>
              <a:buFontTx/>
              <a:buNone/>
            </a:pPr>
            <a:r>
              <a:rPr lang="en-US" altLang="zh-CN" b="1" dirty="0">
                <a:latin typeface="宋体" panose="02010600030101010101" pitchFamily="2" charset="-122"/>
              </a:rPr>
              <a:t>  </a:t>
            </a: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a:p>
            <a:pPr algn="just" eaLnBrk="1" hangingPunct="1">
              <a:lnSpc>
                <a:spcPct val="80000"/>
              </a:lnSpc>
              <a:buFontTx/>
              <a:buNone/>
            </a:pPr>
            <a:endParaRPr lang="en-US" altLang="zh-CN" b="1" dirty="0">
              <a:latin typeface="宋体" panose="02010600030101010101" pitchFamily="2" charset="-122"/>
            </a:endParaRPr>
          </a:p>
        </p:txBody>
      </p:sp>
      <p:sp>
        <p:nvSpPr>
          <p:cNvPr id="37892" name="Text Box 10">
            <a:extLst>
              <a:ext uri="{FF2B5EF4-FFF2-40B4-BE49-F238E27FC236}">
                <a16:creationId xmlns:a16="http://schemas.microsoft.com/office/drawing/2014/main" id="{DD10F8A8-5FC3-4C49-BD7A-8073A274E66E}"/>
              </a:ext>
            </a:extLst>
          </p:cNvPr>
          <p:cNvSpPr txBox="1">
            <a:spLocks noChangeArrowheads="1"/>
          </p:cNvSpPr>
          <p:nvPr/>
        </p:nvSpPr>
        <p:spPr bwMode="auto">
          <a:xfrm>
            <a:off x="762000" y="3352800"/>
            <a:ext cx="777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Clr>
                <a:schemeClr val="accent2"/>
              </a:buClr>
              <a:buSzPct val="75000"/>
              <a:buFont typeface="Monotype Sorts" pitchFamily="2" charset="2"/>
              <a:buNone/>
            </a:pPr>
            <a:endParaRPr lang="en-US" altLang="zh-CN" sz="2800">
              <a:latin typeface="宋体" panose="02010600030101010101" pitchFamily="2" charset="-122"/>
            </a:endParaRPr>
          </a:p>
        </p:txBody>
      </p:sp>
      <p:graphicFrame>
        <p:nvGraphicFramePr>
          <p:cNvPr id="14342" name="内容占位符 14341">
            <a:extLst>
              <a:ext uri="{FF2B5EF4-FFF2-40B4-BE49-F238E27FC236}">
                <a16:creationId xmlns:a16="http://schemas.microsoft.com/office/drawing/2014/main" id="{4B041643-0C8C-4C41-A20F-C847B3D8DCB2}"/>
              </a:ext>
            </a:extLst>
          </p:cNvPr>
          <p:cNvGraphicFramePr>
            <a:graphicFrameLocks noGrp="1"/>
          </p:cNvGraphicFramePr>
          <p:nvPr>
            <p:ph sz="half" idx="4294967295"/>
          </p:nvPr>
        </p:nvGraphicFramePr>
        <p:xfrm>
          <a:off x="971550" y="2235200"/>
          <a:ext cx="7416800" cy="3287713"/>
        </p:xfrm>
        <a:graphic>
          <a:graphicData uri="http://schemas.openxmlformats.org/drawingml/2006/table">
            <a:tbl>
              <a:tblPr/>
              <a:tblGrid>
                <a:gridCol w="1671638">
                  <a:extLst>
                    <a:ext uri="{9D8B030D-6E8A-4147-A177-3AD203B41FA5}">
                      <a16:colId xmlns:a16="http://schemas.microsoft.com/office/drawing/2014/main" val="20000"/>
                    </a:ext>
                  </a:extLst>
                </a:gridCol>
                <a:gridCol w="5745162">
                  <a:extLst>
                    <a:ext uri="{9D8B030D-6E8A-4147-A177-3AD203B41FA5}">
                      <a16:colId xmlns:a16="http://schemas.microsoft.com/office/drawing/2014/main" val="20001"/>
                    </a:ext>
                  </a:extLst>
                </a:gridCol>
              </a:tblGrid>
              <a:tr h="1189038">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&amp;&amp;</a:t>
                      </a:r>
                      <a:r>
                        <a:rPr lang="zh-CN" altLang="en-US" sz="2400" b="1" dirty="0"/>
                        <a:t>（与）</a:t>
                      </a:r>
                      <a:endParaRPr lang="en-US" altLang="x-none" sz="240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a&amp;&amp;b</a:t>
                      </a:r>
                      <a:r>
                        <a:rPr lang="zh-CN" altLang="en-US" sz="2400" b="1" dirty="0"/>
                        <a:t>：当且仅当操作数</a:t>
                      </a:r>
                      <a:r>
                        <a:rPr lang="en-US" altLang="x-none" sz="2400" b="1" dirty="0"/>
                        <a:t>a</a:t>
                      </a:r>
                      <a:r>
                        <a:rPr lang="zh-CN" altLang="en-US" sz="2400" b="1" dirty="0"/>
                        <a:t>和</a:t>
                      </a:r>
                      <a:r>
                        <a:rPr lang="en-US" altLang="x-none" sz="2400" b="1" dirty="0"/>
                        <a:t>b</a:t>
                      </a:r>
                      <a:r>
                        <a:rPr lang="zh-CN" altLang="en-US" sz="2400" b="1" dirty="0"/>
                        <a:t>的值都为</a:t>
                      </a:r>
                      <a:r>
                        <a:rPr lang="zh-CN" altLang="en-US" sz="2400" b="1" dirty="0">
                          <a:latin typeface="宋体" panose="02010600030101010101" pitchFamily="2" charset="-122"/>
                        </a:rPr>
                        <a:t>"</a:t>
                      </a:r>
                      <a:r>
                        <a:rPr lang="zh-CN" altLang="en-US" sz="2400" b="1" dirty="0"/>
                        <a:t>真</a:t>
                      </a:r>
                      <a:r>
                        <a:rPr lang="zh-CN" altLang="en-US" sz="2400" b="1" dirty="0">
                          <a:latin typeface="宋体" panose="02010600030101010101" pitchFamily="2" charset="-122"/>
                        </a:rPr>
                        <a:t>"</a:t>
                      </a:r>
                      <a:r>
                        <a:rPr lang="zh-CN" altLang="en-US" sz="2400" b="1" dirty="0"/>
                        <a:t>时，运算结果为</a:t>
                      </a:r>
                      <a:r>
                        <a:rPr lang="zh-CN" altLang="en-US" sz="2400" b="1" dirty="0">
                          <a:latin typeface="宋体" panose="02010600030101010101" pitchFamily="2" charset="-122"/>
                        </a:rPr>
                        <a:t>"</a:t>
                      </a:r>
                      <a:r>
                        <a:rPr lang="zh-CN" altLang="en-US" sz="2400" b="1" dirty="0"/>
                        <a:t>真</a:t>
                      </a:r>
                      <a:r>
                        <a:rPr lang="zh-CN" altLang="en-US" sz="2400" b="1" dirty="0">
                          <a:latin typeface="宋体" panose="02010600030101010101" pitchFamily="2" charset="-122"/>
                        </a:rPr>
                        <a:t>"</a:t>
                      </a:r>
                      <a:r>
                        <a:rPr lang="zh-CN" altLang="en-US" sz="2400" b="1" dirty="0"/>
                        <a:t>，否则为</a:t>
                      </a:r>
                      <a:r>
                        <a:rPr lang="zh-CN" altLang="en-US" sz="2400" b="1" dirty="0">
                          <a:latin typeface="宋体" panose="02010600030101010101" pitchFamily="2" charset="-122"/>
                        </a:rPr>
                        <a:t>"</a:t>
                      </a:r>
                      <a:r>
                        <a:rPr lang="zh-CN" altLang="en-US" sz="2400" b="1" dirty="0"/>
                        <a:t>假</a:t>
                      </a:r>
                      <a:r>
                        <a:rPr lang="zh-CN" altLang="en-US" sz="2400" b="1" dirty="0">
                          <a:latin typeface="宋体" panose="02010600030101010101" pitchFamily="2" charset="-122"/>
                        </a:rPr>
                        <a:t>"</a:t>
                      </a:r>
                      <a:endParaRPr lang="zh-CN" altLang="en-US" sz="2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28575"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extLst>
                  <a:ext uri="{0D108BD9-81ED-4DB2-BD59-A6C34878D82A}">
                    <a16:rowId xmlns:a16="http://schemas.microsoft.com/office/drawing/2014/main" val="10000"/>
                  </a:ext>
                </a:extLst>
              </a:tr>
              <a:tr h="909637">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a:t>
                      </a:r>
                      <a:r>
                        <a:rPr lang="zh-CN" altLang="en-US" sz="2400" b="1" dirty="0"/>
                        <a:t>（或）</a:t>
                      </a:r>
                      <a:endParaRPr lang="en-US" altLang="x-none" sz="2400" dirty="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a||b</a:t>
                      </a:r>
                      <a:r>
                        <a:rPr lang="zh-CN" altLang="en-US" sz="2400" b="1" dirty="0"/>
                        <a:t>：当且仅当操作数</a:t>
                      </a:r>
                      <a:r>
                        <a:rPr lang="en-US" altLang="x-none" sz="2400" b="1" dirty="0"/>
                        <a:t>a</a:t>
                      </a:r>
                      <a:r>
                        <a:rPr lang="zh-CN" altLang="en-US" sz="2400" b="1" dirty="0"/>
                        <a:t>和</a:t>
                      </a:r>
                      <a:r>
                        <a:rPr lang="en-US" altLang="x-none" sz="2400" b="1" dirty="0"/>
                        <a:t>b</a:t>
                      </a:r>
                      <a:r>
                        <a:rPr lang="zh-CN" altLang="en-US" sz="2400" b="1" dirty="0"/>
                        <a:t>值都为</a:t>
                      </a:r>
                      <a:r>
                        <a:rPr lang="zh-CN" altLang="en-US" sz="2400" b="1" dirty="0">
                          <a:latin typeface="宋体" panose="02010600030101010101" pitchFamily="2" charset="-122"/>
                        </a:rPr>
                        <a:t>"</a:t>
                      </a:r>
                      <a:r>
                        <a:rPr lang="zh-CN" altLang="en-US" sz="2400" b="1" dirty="0"/>
                        <a:t>假</a:t>
                      </a:r>
                      <a:r>
                        <a:rPr lang="zh-CN" altLang="en-US" sz="2400" b="1" dirty="0">
                          <a:latin typeface="宋体" panose="02010600030101010101" pitchFamily="2" charset="-122"/>
                        </a:rPr>
                        <a:t>"</a:t>
                      </a:r>
                      <a:r>
                        <a:rPr lang="zh-CN" altLang="en-US" sz="2400" b="1" dirty="0"/>
                        <a:t>时，运算结果为</a:t>
                      </a:r>
                      <a:r>
                        <a:rPr lang="zh-CN" altLang="en-US" sz="2400" b="1" dirty="0">
                          <a:latin typeface="宋体" panose="02010600030101010101" pitchFamily="2" charset="-122"/>
                        </a:rPr>
                        <a:t>"</a:t>
                      </a:r>
                      <a:r>
                        <a:rPr lang="zh-CN" altLang="en-US" sz="2400" b="1" dirty="0"/>
                        <a:t>假</a:t>
                      </a:r>
                      <a:r>
                        <a:rPr lang="zh-CN" altLang="en-US" sz="2400" b="1" dirty="0">
                          <a:latin typeface="宋体" panose="02010600030101010101" pitchFamily="2" charset="-122"/>
                        </a:rPr>
                        <a:t>"</a:t>
                      </a:r>
                      <a:r>
                        <a:rPr lang="zh-CN" altLang="en-US" sz="2400" b="1" dirty="0"/>
                        <a:t>，否则为</a:t>
                      </a:r>
                      <a:r>
                        <a:rPr lang="zh-CN" altLang="en-US" sz="2400" b="1" dirty="0">
                          <a:latin typeface="宋体" panose="02010600030101010101" pitchFamily="2" charset="-122"/>
                        </a:rPr>
                        <a:t>"</a:t>
                      </a:r>
                      <a:r>
                        <a:rPr lang="zh-CN" altLang="en-US" sz="2400" b="1" dirty="0"/>
                        <a:t>真</a:t>
                      </a:r>
                      <a:r>
                        <a:rPr lang="zh-CN" altLang="en-US" sz="2400" b="1" dirty="0">
                          <a:latin typeface="宋体" panose="02010600030101010101" pitchFamily="2" charset="-122"/>
                        </a:rPr>
                        <a:t>"</a:t>
                      </a:r>
                      <a:r>
                        <a:rPr lang="zh-CN" altLang="en-US" sz="2400" b="1" dirty="0"/>
                        <a:t>。</a:t>
                      </a:r>
                      <a:endParaRPr lang="zh-CN" altLang="en-US" sz="2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extLst>
                  <a:ext uri="{0D108BD9-81ED-4DB2-BD59-A6C34878D82A}">
                    <a16:rowId xmlns:a16="http://schemas.microsoft.com/office/drawing/2014/main" val="10001"/>
                  </a:ext>
                </a:extLst>
              </a:tr>
              <a:tr h="1189038">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zh-CN" altLang="en-US" sz="2400" b="1"/>
                        <a:t>！（非）</a:t>
                      </a:r>
                      <a:endParaRPr lang="zh-CN" altLang="en-US" sz="2400"/>
                    </a:p>
                  </a:txBody>
                  <a:tcPr>
                    <a:lnL w="28575"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tc>
                  <a:txBody>
                    <a:bodyPr/>
                    <a:lstStyle>
                      <a:lvl1pPr marL="342900" lvl="0" indent="-342900" algn="l" defTabSz="914400" eaLnBrk="0" fontAlgn="base" latinLnBrk="0" hangingPunct="0">
                        <a:lnSpc>
                          <a:spcPct val="100000"/>
                        </a:lnSpc>
                        <a:spcBef>
                          <a:spcPct val="20000"/>
                        </a:spcBef>
                        <a:spcAft>
                          <a:spcPct val="0"/>
                        </a:spcAft>
                        <a:buChar char="•"/>
                        <a:defRPr sz="2400" b="0" u="none" kern="1200" baseline="0">
                          <a:solidFill>
                            <a:schemeClr val="tx1"/>
                          </a:solidFill>
                          <a:latin typeface="Times New Roman" panose="02020603050405020304" pitchFamily="2" charset="0"/>
                          <a:ea typeface="宋体" panose="02010600030101010101" pitchFamily="2" charset="-122"/>
                        </a:defRPr>
                      </a:lvl1pPr>
                      <a:lvl2pPr marL="742950" lvl="1" indent="-285750" algn="l" defTabSz="914400" eaLnBrk="0" fontAlgn="base" latinLnBrk="0" hangingPunct="0">
                        <a:lnSpc>
                          <a:spcPct val="100000"/>
                        </a:lnSpc>
                        <a:spcBef>
                          <a:spcPct val="20000"/>
                        </a:spcBef>
                        <a:spcAft>
                          <a:spcPct val="0"/>
                        </a:spcAft>
                        <a:buChar char="–"/>
                        <a:defRPr sz="2400" u="none" kern="1200" baseline="0">
                          <a:solidFill>
                            <a:schemeClr val="tx1"/>
                          </a:solidFill>
                          <a:latin typeface="Times New Roman" panose="02020603050405020304" pitchFamily="2" charset="0"/>
                          <a:ea typeface="宋体" panose="02010600030101010101" pitchFamily="2" charset="-122"/>
                        </a:defRPr>
                      </a:lvl2pPr>
                      <a:lvl3pPr marL="1143000" lvl="2" indent="-228600" algn="l" defTabSz="914400" eaLnBrk="0" fontAlgn="base" latinLnBrk="0" hangingPunct="0">
                        <a:lnSpc>
                          <a:spcPct val="100000"/>
                        </a:lnSpc>
                        <a:spcBef>
                          <a:spcPct val="20000"/>
                        </a:spcBef>
                        <a:spcAft>
                          <a:spcPct val="0"/>
                        </a:spcAft>
                        <a:buSzPct val="65000"/>
                        <a:buFont typeface="Wingdings" panose="05000000000000000000" pitchFamily="2" charset="2"/>
                        <a:buChar char="n"/>
                        <a:defRPr sz="2400" u="none" kern="1200" baseline="0">
                          <a:solidFill>
                            <a:schemeClr val="tx1"/>
                          </a:solidFill>
                          <a:latin typeface="Times New Roman" panose="02020603050405020304" pitchFamily="2" charset="0"/>
                          <a:ea typeface="宋体" panose="02010600030101010101" pitchFamily="2" charset="-122"/>
                        </a:defRPr>
                      </a:lvl3pPr>
                      <a:lvl4pPr marL="1600200" lvl="3"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4pPr>
                      <a:lvl5pPr marL="2057400" lvl="4" indent="-228600" algn="l" defTabSz="914400" eaLnBrk="0" fontAlgn="base" latinLnBrk="0" hangingPunct="0">
                        <a:lnSpc>
                          <a:spcPct val="100000"/>
                        </a:lnSpc>
                        <a:spcBef>
                          <a:spcPct val="20000"/>
                        </a:spcBef>
                        <a:spcAft>
                          <a:spcPct val="0"/>
                        </a:spcAft>
                        <a:buFont typeface="Wingdings" panose="05000000000000000000" pitchFamily="2" charset="2"/>
                        <a:buChar char="»"/>
                        <a:defRPr sz="2400" u="none" kern="1200" baseline="0">
                          <a:solidFill>
                            <a:schemeClr val="tx1"/>
                          </a:solidFill>
                          <a:latin typeface="Times New Roman" panose="02020603050405020304" pitchFamily="2" charset="0"/>
                          <a:ea typeface="宋体" panose="02010600030101010101" pitchFamily="2" charset="-122"/>
                        </a:defRPr>
                      </a:lvl5pPr>
                    </a:lstStyle>
                    <a:p>
                      <a:pPr marL="0" lvl="0" indent="0" eaLnBrk="1" hangingPunct="1">
                        <a:buNone/>
                      </a:pPr>
                      <a:r>
                        <a:rPr lang="en-US" altLang="x-none" sz="2400" b="1" dirty="0"/>
                        <a:t>!a:</a:t>
                      </a:r>
                      <a:r>
                        <a:rPr lang="zh-CN" altLang="en-US" sz="2400" b="1" dirty="0"/>
                        <a:t>当操作数</a:t>
                      </a:r>
                      <a:r>
                        <a:rPr lang="en-US" altLang="x-none" sz="2400" b="1" dirty="0"/>
                        <a:t>a</a:t>
                      </a:r>
                      <a:r>
                        <a:rPr lang="zh-CN" altLang="en-US" sz="2400" b="1" dirty="0"/>
                        <a:t>的值为</a:t>
                      </a:r>
                      <a:r>
                        <a:rPr lang="zh-CN" altLang="en-US" sz="2400" b="1" dirty="0">
                          <a:latin typeface="宋体" panose="02010600030101010101" pitchFamily="2" charset="-122"/>
                        </a:rPr>
                        <a:t>"</a:t>
                      </a:r>
                      <a:r>
                        <a:rPr lang="zh-CN" altLang="en-US" sz="2400" b="1" dirty="0"/>
                        <a:t>真</a:t>
                      </a:r>
                      <a:r>
                        <a:rPr lang="zh-CN" altLang="en-US" sz="2400" b="1" dirty="0">
                          <a:latin typeface="宋体" panose="02010600030101010101" pitchFamily="2" charset="-122"/>
                        </a:rPr>
                        <a:t>"</a:t>
                      </a:r>
                      <a:r>
                        <a:rPr lang="zh-CN" altLang="en-US" sz="2400" b="1" dirty="0"/>
                        <a:t>时，运算结果为</a:t>
                      </a:r>
                      <a:r>
                        <a:rPr lang="zh-CN" altLang="en-US" sz="2400" b="1" dirty="0">
                          <a:latin typeface="宋体" panose="02010600030101010101" pitchFamily="2" charset="-122"/>
                        </a:rPr>
                        <a:t>"</a:t>
                      </a:r>
                      <a:r>
                        <a:rPr lang="zh-CN" altLang="en-US" sz="2400" b="1" dirty="0"/>
                        <a:t>假</a:t>
                      </a:r>
                      <a:r>
                        <a:rPr lang="zh-CN" altLang="en-US" sz="2400" b="1" dirty="0">
                          <a:latin typeface="宋体" panose="02010600030101010101" pitchFamily="2" charset="-122"/>
                        </a:rPr>
                        <a:t>"</a:t>
                      </a:r>
                      <a:r>
                        <a:rPr lang="zh-CN" altLang="en-US" sz="2400" b="1" dirty="0"/>
                        <a:t>；当操作数</a:t>
                      </a:r>
                      <a:r>
                        <a:rPr lang="en-US" altLang="x-none" sz="2400" b="1" dirty="0"/>
                        <a:t>a</a:t>
                      </a:r>
                      <a:r>
                        <a:rPr lang="zh-CN" altLang="en-US" sz="2400" b="1" dirty="0"/>
                        <a:t>的值为</a:t>
                      </a:r>
                      <a:r>
                        <a:rPr lang="zh-CN" altLang="en-US" sz="2400" b="1" dirty="0">
                          <a:latin typeface="宋体" panose="02010600030101010101" pitchFamily="2" charset="-122"/>
                        </a:rPr>
                        <a:t>"</a:t>
                      </a:r>
                      <a:r>
                        <a:rPr lang="zh-CN" altLang="en-US" sz="2400" b="1" dirty="0"/>
                        <a:t>假</a:t>
                      </a:r>
                      <a:r>
                        <a:rPr lang="zh-CN" altLang="en-US" sz="2400" b="1" dirty="0">
                          <a:latin typeface="宋体" panose="02010600030101010101" pitchFamily="2" charset="-122"/>
                        </a:rPr>
                        <a:t>"</a:t>
                      </a:r>
                      <a:r>
                        <a:rPr lang="zh-CN" altLang="en-US" sz="2400" b="1" dirty="0"/>
                        <a:t>时，运算结果为</a:t>
                      </a:r>
                      <a:r>
                        <a:rPr lang="zh-CN" altLang="en-US" sz="2400" b="1" dirty="0">
                          <a:latin typeface="宋体" panose="02010600030101010101" pitchFamily="2" charset="-122"/>
                        </a:rPr>
                        <a:t>"</a:t>
                      </a:r>
                      <a:r>
                        <a:rPr lang="zh-CN" altLang="en-US" sz="2400" b="1" dirty="0"/>
                        <a:t>真</a:t>
                      </a:r>
                      <a:r>
                        <a:rPr lang="zh-CN" altLang="en-US" sz="2400" b="1" dirty="0">
                          <a:latin typeface="宋体" panose="02010600030101010101" pitchFamily="2" charset="-122"/>
                        </a:rPr>
                        <a:t>"</a:t>
                      </a:r>
                      <a:endParaRPr lang="zh-CN" altLang="en-US" sz="2400" dirty="0"/>
                    </a:p>
                  </a:txBody>
                  <a:tcPr>
                    <a:lnL w="12700" cap="flat" cmpd="sng">
                      <a:solidFill>
                        <a:schemeClr val="tx1"/>
                      </a:solidFill>
                      <a:prstDash val="solid"/>
                      <a:headEnd type="none" w="med" len="med"/>
                      <a:tailEnd type="none" w="med" len="med"/>
                    </a:lnL>
                    <a:lnR w="28575"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28575" cap="flat" cmpd="sng">
                      <a:solidFill>
                        <a:schemeClr val="tx1"/>
                      </a:solidFill>
                      <a:prstDash val="solid"/>
                      <a:headEnd type="none" w="med" len="med"/>
                      <a:tailEnd type="none" w="med" len="med"/>
                    </a:lnB>
                    <a:lnTlToBr>
                      <a:noFill/>
                    </a:lnTlToBr>
                    <a:lnBlToTr>
                      <a:noFill/>
                    </a:lnBlToTr>
                    <a:gradFill rotWithShape="0">
                      <a:gsLst>
                        <a:gs pos="0">
                          <a:srgbClr val="9966FF">
                            <a:alpha val="100000"/>
                          </a:srgbClr>
                        </a:gs>
                        <a:gs pos="100000">
                          <a:schemeClr val="bg1">
                            <a:alpha val="100000"/>
                          </a:schemeClr>
                        </a:gs>
                      </a:gsLst>
                      <a:lin ang="5400000" scaled="1"/>
                      <a:tileRect/>
                    </a:gra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22864001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43</a:t>
            </a:fld>
            <a:endParaRPr lang="zh-CN" altLang="en-US" sz="1400" b="1" dirty="0"/>
          </a:p>
        </p:txBody>
      </p:sp>
      <p:sp>
        <p:nvSpPr>
          <p:cNvPr id="250894" name="Rectangle 14"/>
          <p:cNvSpPr>
            <a:spLocks noGrp="1"/>
          </p:cNvSpPr>
          <p:nvPr>
            <p:ph idx="1"/>
          </p:nvPr>
        </p:nvSpPr>
        <p:spPr>
          <a:xfrm>
            <a:off x="609600" y="1447800"/>
            <a:ext cx="8001000" cy="2989263"/>
          </a:xfrm>
          <a:ln/>
        </p:spPr>
        <p:txBody>
          <a:bodyPr vert="horz" wrap="square" lIns="92075" tIns="46038" rIns="92075" bIns="46038" anchor="t"/>
          <a:lstStyle/>
          <a:p>
            <a:pPr eaLnBrk="1" hangingPunct="1">
              <a:lnSpc>
                <a:spcPct val="150000"/>
              </a:lnSpc>
              <a:buClr>
                <a:srgbClr val="000099"/>
              </a:buClr>
              <a:buSzPct val="50000"/>
              <a:buFont typeface="Wingdings" panose="05000000000000000000" pitchFamily="2" charset="2"/>
              <a:buChar char="u"/>
            </a:pPr>
            <a:r>
              <a:rPr lang="zh-CN" altLang="en-US" b="1" dirty="0"/>
              <a:t> 语句（</a:t>
            </a:r>
            <a:r>
              <a:rPr lang="en-US" altLang="zh-CN" b="1" dirty="0"/>
              <a:t>statement</a:t>
            </a:r>
            <a:r>
              <a:rPr lang="zh-CN" altLang="en-US" b="1" dirty="0"/>
              <a:t>）用于向计算机发出操作指令。</a:t>
            </a:r>
          </a:p>
          <a:p>
            <a:pPr eaLnBrk="1" hangingPunct="1">
              <a:lnSpc>
                <a:spcPct val="150000"/>
              </a:lnSpc>
              <a:buClr>
                <a:srgbClr val="000099"/>
              </a:buClr>
              <a:buSzPct val="50000"/>
              <a:buFont typeface="Wingdings" panose="05000000000000000000" pitchFamily="2" charset="2"/>
              <a:buChar char="u"/>
            </a:pPr>
            <a:r>
              <a:rPr lang="zh-CN" altLang="en-US" b="1" dirty="0"/>
              <a:t> 一条语句经编译后产生一条或多条机器指令。</a:t>
            </a:r>
          </a:p>
          <a:p>
            <a:pPr eaLnBrk="1" hangingPunct="1">
              <a:lnSpc>
                <a:spcPct val="150000"/>
              </a:lnSpc>
              <a:buClr>
                <a:srgbClr val="000099"/>
              </a:buClr>
              <a:buSzPct val="50000"/>
              <a:buFont typeface="Wingdings" panose="05000000000000000000" pitchFamily="2" charset="2"/>
              <a:buChar char="u"/>
            </a:pPr>
            <a:r>
              <a:rPr lang="zh-CN" altLang="en-US" b="1" dirty="0"/>
              <a:t>一个实际的程序可能包括若干条语句。</a:t>
            </a:r>
          </a:p>
          <a:p>
            <a:pPr eaLnBrk="1" hangingPunct="1">
              <a:lnSpc>
                <a:spcPct val="150000"/>
              </a:lnSpc>
              <a:buClr>
                <a:srgbClr val="000099"/>
              </a:buClr>
              <a:buSzPct val="50000"/>
              <a:buFont typeface="Wingdings" panose="05000000000000000000" pitchFamily="2" charset="2"/>
              <a:buChar char="u"/>
            </a:pPr>
            <a:r>
              <a:rPr lang="en-US" altLang="zh-CN" b="1" dirty="0"/>
              <a:t>C</a:t>
            </a:r>
            <a:r>
              <a:rPr lang="zh-CN" altLang="en-US" b="1" dirty="0"/>
              <a:t>语言规定了6类语句：</a:t>
            </a:r>
          </a:p>
          <a:p>
            <a:pPr eaLnBrk="1" hangingPunct="1">
              <a:lnSpc>
                <a:spcPct val="150000"/>
              </a:lnSpc>
              <a:buNone/>
            </a:pPr>
            <a:r>
              <a:rPr lang="zh-CN" altLang="en-US" b="1" dirty="0"/>
              <a:t>		</a:t>
            </a:r>
            <a:r>
              <a:rPr lang="zh-CN" altLang="en-US" b="1" dirty="0">
                <a:solidFill>
                  <a:srgbClr val="6600FF"/>
                </a:solidFill>
              </a:rPr>
              <a:t>表达式语句、复合语句</a:t>
            </a:r>
            <a:r>
              <a:rPr lang="zh-CN" altLang="en-US" b="1" dirty="0"/>
              <a:t>、</a:t>
            </a:r>
            <a:r>
              <a:rPr lang="zh-CN" altLang="en-US" b="1" dirty="0">
                <a:solidFill>
                  <a:srgbClr val="6600FF"/>
                </a:solidFill>
              </a:rPr>
              <a:t>选择语句、</a:t>
            </a:r>
          </a:p>
          <a:p>
            <a:pPr eaLnBrk="1" hangingPunct="1">
              <a:lnSpc>
                <a:spcPct val="150000"/>
              </a:lnSpc>
              <a:buNone/>
            </a:pPr>
            <a:r>
              <a:rPr lang="zh-CN" altLang="en-US" b="1" dirty="0">
                <a:solidFill>
                  <a:srgbClr val="6600FF"/>
                </a:solidFill>
              </a:rPr>
              <a:t>		循环语句</a:t>
            </a:r>
            <a:r>
              <a:rPr lang="zh-CN" altLang="en-US" b="1" dirty="0"/>
              <a:t>、标记语句、跳转语句 </a:t>
            </a:r>
            <a:endParaRPr lang="en-US" altLang="zh-CN" b="1" dirty="0"/>
          </a:p>
          <a:p>
            <a:pPr eaLnBrk="1" hangingPunct="1">
              <a:lnSpc>
                <a:spcPct val="80000"/>
              </a:lnSpc>
              <a:buClr>
                <a:srgbClr val="000099"/>
              </a:buClr>
              <a:buSzPct val="50000"/>
              <a:buFont typeface="Wingdings" panose="05000000000000000000" pitchFamily="2" charset="2"/>
              <a:buChar char="u"/>
            </a:pPr>
            <a:endParaRPr lang="en-US" altLang="zh-CN" b="1" dirty="0"/>
          </a:p>
        </p:txBody>
      </p:sp>
      <p:sp>
        <p:nvSpPr>
          <p:cNvPr id="23556" name="Rectangle 16"/>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0894">
                                            <p:txEl>
                                              <p:pRg st="0" end="0"/>
                                            </p:txEl>
                                          </p:spTgt>
                                        </p:tgtEl>
                                        <p:attrNameLst>
                                          <p:attrName>style.visibility</p:attrName>
                                        </p:attrNameLst>
                                      </p:cBhvr>
                                      <p:to>
                                        <p:strVal val="visible"/>
                                      </p:to>
                                    </p:set>
                                    <p:animEffect transition="in" filter="dissolve">
                                      <p:cBhvr>
                                        <p:cTn id="7" dur="500"/>
                                        <p:tgtEl>
                                          <p:spTgt spid="25089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0894">
                                            <p:txEl>
                                              <p:pRg st="1" end="1"/>
                                            </p:txEl>
                                          </p:spTgt>
                                        </p:tgtEl>
                                        <p:attrNameLst>
                                          <p:attrName>style.visibility</p:attrName>
                                        </p:attrNameLst>
                                      </p:cBhvr>
                                      <p:to>
                                        <p:strVal val="visible"/>
                                      </p:to>
                                    </p:set>
                                    <p:animEffect transition="in" filter="dissolve">
                                      <p:cBhvr>
                                        <p:cTn id="12" dur="500"/>
                                        <p:tgtEl>
                                          <p:spTgt spid="25089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50894">
                                            <p:txEl>
                                              <p:pRg st="2" end="2"/>
                                            </p:txEl>
                                          </p:spTgt>
                                        </p:tgtEl>
                                        <p:attrNameLst>
                                          <p:attrName>style.visibility</p:attrName>
                                        </p:attrNameLst>
                                      </p:cBhvr>
                                      <p:to>
                                        <p:strVal val="visible"/>
                                      </p:to>
                                    </p:set>
                                    <p:animEffect transition="in" filter="dissolve">
                                      <p:cBhvr>
                                        <p:cTn id="17" dur="500"/>
                                        <p:tgtEl>
                                          <p:spTgt spid="25089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50894">
                                            <p:txEl>
                                              <p:pRg st="3" end="3"/>
                                            </p:txEl>
                                          </p:spTgt>
                                        </p:tgtEl>
                                        <p:attrNameLst>
                                          <p:attrName>style.visibility</p:attrName>
                                        </p:attrNameLst>
                                      </p:cBhvr>
                                      <p:to>
                                        <p:strVal val="visible"/>
                                      </p:to>
                                    </p:set>
                                    <p:animEffect transition="in" filter="dissolve">
                                      <p:cBhvr>
                                        <p:cTn id="22" dur="500"/>
                                        <p:tgtEl>
                                          <p:spTgt spid="25089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250894">
                                            <p:txEl>
                                              <p:pRg st="4" end="4"/>
                                            </p:txEl>
                                          </p:spTgt>
                                        </p:tgtEl>
                                        <p:attrNameLst>
                                          <p:attrName>style.visibility</p:attrName>
                                        </p:attrNameLst>
                                      </p:cBhvr>
                                      <p:to>
                                        <p:strVal val="visible"/>
                                      </p:to>
                                    </p:set>
                                    <p:animEffect transition="in" filter="dissolve">
                                      <p:cBhvr>
                                        <p:cTn id="27" dur="500"/>
                                        <p:tgtEl>
                                          <p:spTgt spid="25089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250894">
                                            <p:txEl>
                                              <p:pRg st="5" end="5"/>
                                            </p:txEl>
                                          </p:spTgt>
                                        </p:tgtEl>
                                        <p:attrNameLst>
                                          <p:attrName>style.visibility</p:attrName>
                                        </p:attrNameLst>
                                      </p:cBhvr>
                                      <p:to>
                                        <p:strVal val="visible"/>
                                      </p:to>
                                    </p:set>
                                    <p:animEffect transition="in" filter="dissolve">
                                      <p:cBhvr>
                                        <p:cTn id="32" dur="500"/>
                                        <p:tgtEl>
                                          <p:spTgt spid="25089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894"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44</a:t>
            </a:fld>
            <a:endParaRPr lang="zh-CN" altLang="en-US" sz="1400" b="1" dirty="0"/>
          </a:p>
        </p:txBody>
      </p:sp>
      <p:sp>
        <p:nvSpPr>
          <p:cNvPr id="252932" name="Rectangle 4"/>
          <p:cNvSpPr>
            <a:spLocks noGrp="1"/>
          </p:cNvSpPr>
          <p:nvPr>
            <p:ph idx="1"/>
          </p:nvPr>
        </p:nvSpPr>
        <p:spPr>
          <a:xfrm>
            <a:off x="468313" y="1484313"/>
            <a:ext cx="8447087" cy="2057400"/>
          </a:xfrm>
          <a:ln/>
        </p:spPr>
        <p:txBody>
          <a:bodyPr vert="horz" wrap="square" lIns="92075" tIns="46038" rIns="92075" bIns="46038" anchor="t"/>
          <a:lstStyle/>
          <a:p>
            <a:pPr eaLnBrk="1" hangingPunct="1">
              <a:lnSpc>
                <a:spcPct val="90000"/>
              </a:lnSpc>
              <a:buNone/>
            </a:pPr>
            <a:r>
              <a:rPr lang="zh-CN" altLang="en-US" b="1" dirty="0"/>
              <a:t>一、</a:t>
            </a:r>
            <a:r>
              <a:rPr lang="zh-CN" altLang="en-US" b="1" dirty="0">
                <a:latin typeface="宋体" panose="02010600030101010101" pitchFamily="2" charset="-122"/>
              </a:rPr>
              <a:t>表达式语句</a:t>
            </a:r>
            <a:r>
              <a:rPr lang="zh-CN" altLang="en-US" b="1" dirty="0"/>
              <a:t> </a:t>
            </a:r>
          </a:p>
          <a:p>
            <a:pPr algn="just" eaLnBrk="1" hangingPunct="1">
              <a:lnSpc>
                <a:spcPct val="90000"/>
              </a:lnSpc>
              <a:buNone/>
            </a:pPr>
            <a:r>
              <a:rPr lang="zh-CN" altLang="en-US" b="1" dirty="0">
                <a:latin typeface="宋体" panose="02010600030101010101" pitchFamily="2" charset="-122"/>
              </a:rPr>
              <a:t>  表达式：算术表达式、关系表达式、逻辑表达式、 		赋值表达式。 </a:t>
            </a:r>
          </a:p>
          <a:p>
            <a:pPr algn="just" eaLnBrk="1" hangingPunct="1">
              <a:lnSpc>
                <a:spcPct val="90000"/>
              </a:lnSpc>
              <a:buNone/>
            </a:pPr>
            <a:r>
              <a:rPr lang="zh-CN" altLang="en-US" b="1" dirty="0">
                <a:latin typeface="宋体" panose="02010600030101010101" pitchFamily="2" charset="-122"/>
              </a:rPr>
              <a:t>  </a:t>
            </a:r>
            <a:r>
              <a:rPr lang="zh-CN" altLang="en-US" b="1" dirty="0">
                <a:solidFill>
                  <a:srgbClr val="000099"/>
                </a:solidFill>
                <a:latin typeface="宋体" panose="02010600030101010101" pitchFamily="2" charset="-122"/>
              </a:rPr>
              <a:t>表达式语句：</a:t>
            </a:r>
            <a:r>
              <a:rPr lang="zh-CN" altLang="en-US" b="1" dirty="0">
                <a:solidFill>
                  <a:srgbClr val="000099"/>
                </a:solidFill>
              </a:rPr>
              <a:t>在一个表达式末尾加上分号</a:t>
            </a:r>
            <a:r>
              <a:rPr lang="zh-CN" altLang="en-US" b="1" dirty="0">
                <a:solidFill>
                  <a:srgbClr val="FF0000"/>
                </a:solidFill>
                <a:latin typeface="宋体" panose="02010600030101010101" pitchFamily="2" charset="-122"/>
              </a:rPr>
              <a:t>“</a:t>
            </a:r>
            <a:r>
              <a:rPr lang="zh-CN" altLang="en-US" b="1" dirty="0">
                <a:solidFill>
                  <a:srgbClr val="FF0000"/>
                </a:solidFill>
              </a:rPr>
              <a:t>；</a:t>
            </a:r>
            <a:r>
              <a:rPr lang="zh-CN" altLang="en-US" b="1" dirty="0">
                <a:solidFill>
                  <a:srgbClr val="FF0000"/>
                </a:solidFill>
                <a:latin typeface="宋体" panose="02010600030101010101" pitchFamily="2" charset="-122"/>
              </a:rPr>
              <a:t>”</a:t>
            </a:r>
            <a:r>
              <a:rPr lang="zh-CN" altLang="en-US" b="1" dirty="0">
                <a:solidFill>
                  <a:srgbClr val="000099"/>
                </a:solidFill>
              </a:rPr>
              <a:t>（分号是</a:t>
            </a:r>
            <a:r>
              <a:rPr lang="en-US" altLang="zh-CN" b="1" dirty="0">
                <a:solidFill>
                  <a:srgbClr val="000099"/>
                </a:solidFill>
              </a:rPr>
              <a:t>C</a:t>
            </a:r>
            <a:r>
              <a:rPr lang="zh-CN" altLang="en-US" b="1" dirty="0">
                <a:solidFill>
                  <a:srgbClr val="000099"/>
                </a:solidFill>
              </a:rPr>
              <a:t>语言中语句的结束符）</a:t>
            </a:r>
            <a:r>
              <a:rPr lang="zh-CN" altLang="en-US" b="1" dirty="0"/>
              <a:t>。</a:t>
            </a:r>
            <a:endParaRPr lang="en-US" altLang="zh-CN" b="1" dirty="0"/>
          </a:p>
        </p:txBody>
      </p:sp>
      <p:sp>
        <p:nvSpPr>
          <p:cNvPr id="252934" name="Text Box 6"/>
          <p:cNvSpPr txBox="1"/>
          <p:nvPr/>
        </p:nvSpPr>
        <p:spPr>
          <a:xfrm>
            <a:off x="611188" y="3933825"/>
            <a:ext cx="8532812" cy="22288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a:spcBef>
                <a:spcPct val="50000"/>
              </a:spcBef>
              <a:buNone/>
            </a:pPr>
            <a:r>
              <a:rPr lang="en-US" altLang="zh-CN" b="1" dirty="0">
                <a:latin typeface="宋体" panose="02010600030101010101" pitchFamily="2" charset="-122"/>
                <a:cs typeface="Times New Roman" panose="02020603050405020304" pitchFamily="18" charset="0"/>
              </a:rPr>
              <a:t>i</a:t>
            </a:r>
            <a:r>
              <a:rPr lang="en-US" altLang="zh-CN" b="1" dirty="0"/>
              <a:t>&lt;j;</a:t>
            </a:r>
            <a:r>
              <a:rPr lang="zh-CN" altLang="en-US" b="1" dirty="0"/>
              <a:t>（一个表达式语句，但无意义）</a:t>
            </a:r>
            <a:endParaRPr lang="zh-CN" altLang="en-US" b="1" dirty="0">
              <a:latin typeface="宋体" panose="02010600030101010101" pitchFamily="2" charset="-122"/>
              <a:cs typeface="Times New Roman" panose="02020603050405020304" pitchFamily="18" charset="0"/>
            </a:endParaRPr>
          </a:p>
          <a:p>
            <a:pPr marL="0" lvl="0" indent="0" algn="just">
              <a:spcBef>
                <a:spcPct val="50000"/>
              </a:spcBef>
              <a:buNone/>
            </a:pPr>
            <a:r>
              <a:rPr lang="en-US" altLang="zh-CN" b="1" dirty="0"/>
              <a:t>i = i + 10 * j;</a:t>
            </a:r>
            <a:r>
              <a:rPr lang="zh-CN" altLang="en-US" b="1" dirty="0"/>
              <a:t>（赋值表达式语句） </a:t>
            </a:r>
          </a:p>
          <a:p>
            <a:pPr marL="0" lvl="0" indent="0" algn="just">
              <a:spcBef>
                <a:spcPct val="50000"/>
              </a:spcBef>
              <a:buNone/>
            </a:pPr>
            <a:r>
              <a:rPr lang="en-US" altLang="zh-CN" b="1" dirty="0"/>
              <a:t>printf(“age=%d</a:t>
            </a:r>
            <a:r>
              <a:rPr lang="zh-CN" altLang="en-US" b="1" dirty="0"/>
              <a:t>”</a:t>
            </a:r>
            <a:r>
              <a:rPr lang="en-US" altLang="zh-CN" b="1" dirty="0"/>
              <a:t>,getage());</a:t>
            </a:r>
            <a:r>
              <a:rPr lang="zh-CN" altLang="en-US" b="1" dirty="0"/>
              <a:t>（表达式语句，表达式为函数调用）</a:t>
            </a:r>
          </a:p>
        </p:txBody>
      </p:sp>
      <p:sp>
        <p:nvSpPr>
          <p:cNvPr id="24581" name="Rectangle 8"/>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52932">
                                            <p:txEl>
                                              <p:pRg st="2" end="2"/>
                                            </p:txEl>
                                          </p:spTgt>
                                        </p:tgtEl>
                                        <p:attrNameLst>
                                          <p:attrName>style.visibility</p:attrName>
                                        </p:attrNameLst>
                                      </p:cBhvr>
                                      <p:to>
                                        <p:strVal val="visible"/>
                                      </p:to>
                                    </p:set>
                                    <p:animEffect transition="in" filter="dissolve">
                                      <p:cBhvr>
                                        <p:cTn id="7" dur="500"/>
                                        <p:tgtEl>
                                          <p:spTgt spid="25293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52934"/>
                                        </p:tgtEl>
                                        <p:attrNameLst>
                                          <p:attrName>style.visibility</p:attrName>
                                        </p:attrNameLst>
                                      </p:cBhvr>
                                      <p:to>
                                        <p:strVal val="visible"/>
                                      </p:to>
                                    </p:set>
                                    <p:animEffect transition="in" filter="dissolve">
                                      <p:cBhvr>
                                        <p:cTn id="12" dur="500"/>
                                        <p:tgtEl>
                                          <p:spTgt spid="252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93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45</a:t>
            </a:fld>
            <a:endParaRPr lang="zh-CN" altLang="en-US" sz="1400" b="1" dirty="0"/>
          </a:p>
        </p:txBody>
      </p:sp>
      <p:sp>
        <p:nvSpPr>
          <p:cNvPr id="368644" name="Text Box 4"/>
          <p:cNvSpPr txBox="1"/>
          <p:nvPr/>
        </p:nvSpPr>
        <p:spPr>
          <a:xfrm>
            <a:off x="755650" y="1557338"/>
            <a:ext cx="7696200" cy="201453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a:spcBef>
                <a:spcPct val="50000"/>
              </a:spcBef>
              <a:buNone/>
            </a:pPr>
            <a:r>
              <a:rPr lang="zh-CN" altLang="en-US" b="1" dirty="0">
                <a:latin typeface="宋体" panose="02010600030101010101" pitchFamily="2" charset="-122"/>
              </a:rPr>
              <a:t>如果表达式涉及到赋值（存在赋值运算符或运算符</a:t>
            </a:r>
            <a:r>
              <a:rPr lang="zh-CN" altLang="en-US" b="1" dirty="0"/>
              <a:t>++</a:t>
            </a:r>
            <a:r>
              <a:rPr lang="zh-CN" altLang="en-US" b="1" dirty="0">
                <a:latin typeface="宋体" panose="02010600030101010101" pitchFamily="2" charset="-122"/>
              </a:rPr>
              <a:t>或</a:t>
            </a:r>
            <a:r>
              <a:rPr lang="zh-CN" altLang="en-US" b="1" dirty="0"/>
              <a:t>--，如</a:t>
            </a:r>
            <a:r>
              <a:rPr lang="en-US" altLang="zh-CN" b="1" dirty="0"/>
              <a:t>i = i + 10 * j; </a:t>
            </a:r>
            <a:r>
              <a:rPr lang="zh-CN" altLang="en-US" b="1" dirty="0">
                <a:latin typeface="宋体" panose="02010600030101010101" pitchFamily="2" charset="-122"/>
              </a:rPr>
              <a:t>），则将计算得到的值保存到变量中。</a:t>
            </a:r>
          </a:p>
          <a:p>
            <a:pPr marL="0" lvl="0" indent="0" algn="just">
              <a:spcBef>
                <a:spcPct val="50000"/>
              </a:spcBef>
              <a:buNone/>
            </a:pPr>
            <a:r>
              <a:rPr lang="zh-CN" altLang="en-US" b="1" dirty="0">
                <a:latin typeface="宋体" panose="02010600030101010101" pitchFamily="2" charset="-122"/>
              </a:rPr>
              <a:t>如果不涉及赋值（如语句</a:t>
            </a:r>
            <a:r>
              <a:rPr lang="en-US" altLang="zh-CN" b="1" dirty="0"/>
              <a:t>i&lt;j;</a:t>
            </a:r>
            <a:r>
              <a:rPr lang="zh-CN" altLang="en-US" b="1" dirty="0">
                <a:latin typeface="宋体" panose="02010600030101010101" pitchFamily="2" charset="-122"/>
              </a:rPr>
              <a:t>），则值将被丢弃</a:t>
            </a:r>
            <a:r>
              <a:rPr lang="en-US" altLang="zh-CN" b="1" dirty="0">
                <a:latin typeface="宋体" panose="02010600030101010101" pitchFamily="2" charset="-122"/>
              </a:rPr>
              <a:t>.</a:t>
            </a:r>
          </a:p>
        </p:txBody>
      </p:sp>
      <p:sp>
        <p:nvSpPr>
          <p:cNvPr id="25604" name="Rectangle 5"/>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68644"/>
                                        </p:tgtEl>
                                        <p:attrNameLst>
                                          <p:attrName>style.visibility</p:attrName>
                                        </p:attrNameLst>
                                      </p:cBhvr>
                                      <p:to>
                                        <p:strVal val="visible"/>
                                      </p:to>
                                    </p:set>
                                    <p:animEffect transition="in" filter="dissolve">
                                      <p:cBhvr>
                                        <p:cTn id="7" dur="500"/>
                                        <p:tgtEl>
                                          <p:spTgt spid="368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4"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46</a:t>
            </a:fld>
            <a:endParaRPr lang="zh-CN" altLang="en-US" sz="1400" b="1" dirty="0"/>
          </a:p>
        </p:txBody>
      </p:sp>
      <p:sp>
        <p:nvSpPr>
          <p:cNvPr id="26627" name="Rectangle 4"/>
          <p:cNvSpPr>
            <a:spLocks noGrp="1"/>
          </p:cNvSpPr>
          <p:nvPr>
            <p:ph idx="1"/>
          </p:nvPr>
        </p:nvSpPr>
        <p:spPr>
          <a:xfrm>
            <a:off x="495300" y="1371600"/>
            <a:ext cx="8305800" cy="2057400"/>
          </a:xfrm>
          <a:ln/>
        </p:spPr>
        <p:txBody>
          <a:bodyPr vert="horz" wrap="square" lIns="92075" tIns="46038" rIns="92075" bIns="46038" anchor="t"/>
          <a:lstStyle/>
          <a:p>
            <a:pPr eaLnBrk="1" hangingPunct="1">
              <a:buNone/>
            </a:pPr>
            <a:r>
              <a:rPr lang="zh-CN" altLang="en-US" b="1" dirty="0"/>
              <a:t>二、</a:t>
            </a:r>
            <a:r>
              <a:rPr lang="zh-CN" altLang="en-US" b="1" dirty="0">
                <a:latin typeface="宋体" panose="02010600030101010101" pitchFamily="2" charset="-122"/>
              </a:rPr>
              <a:t>复合语句</a:t>
            </a:r>
            <a:r>
              <a:rPr lang="zh-CN" altLang="en-US" b="1" dirty="0"/>
              <a:t> </a:t>
            </a:r>
          </a:p>
          <a:p>
            <a:pPr algn="just" eaLnBrk="1" hangingPunct="1">
              <a:buNone/>
            </a:pPr>
            <a:r>
              <a:rPr lang="zh-CN" altLang="en-US" b="1" dirty="0">
                <a:latin typeface="宋体" panose="02010600030101010101" pitchFamily="2" charset="-122"/>
              </a:rPr>
              <a:t> 复合语句是包含</a:t>
            </a:r>
            <a:r>
              <a:rPr lang="zh-CN" altLang="en-US" b="1" u="sng" dirty="0">
                <a:solidFill>
                  <a:srgbClr val="000099"/>
                </a:solidFill>
                <a:latin typeface="宋体" panose="02010600030101010101" pitchFamily="2" charset="-122"/>
                <a:cs typeface="Times New Roman" panose="02020603050405020304" pitchFamily="18" charset="0"/>
              </a:rPr>
              <a:t>零</a:t>
            </a:r>
            <a:r>
              <a:rPr lang="zh-CN" altLang="en-US" b="1" u="sng" dirty="0">
                <a:solidFill>
                  <a:srgbClr val="000099"/>
                </a:solidFill>
                <a:latin typeface="宋体" panose="02010600030101010101" pitchFamily="2" charset="-122"/>
              </a:rPr>
              <a:t>个或多个语句</a:t>
            </a:r>
            <a:r>
              <a:rPr lang="zh-CN" altLang="en-US" b="1" dirty="0">
                <a:latin typeface="宋体" panose="02010600030101010101" pitchFamily="2" charset="-122"/>
              </a:rPr>
              <a:t>的代码单元，使得一组语句</a:t>
            </a:r>
            <a:r>
              <a:rPr lang="zh-CN" altLang="en-US" b="1" u="sng" dirty="0">
                <a:solidFill>
                  <a:srgbClr val="000099"/>
                </a:solidFill>
                <a:latin typeface="宋体" panose="02010600030101010101" pitchFamily="2" charset="-122"/>
              </a:rPr>
              <a:t>成为一个整体</a:t>
            </a:r>
            <a:r>
              <a:rPr lang="zh-CN" altLang="en-US" b="1" dirty="0">
                <a:latin typeface="宋体" panose="02010600030101010101" pitchFamily="2" charset="-122"/>
              </a:rPr>
              <a:t>，也被称为</a:t>
            </a:r>
            <a:r>
              <a:rPr lang="zh-CN" altLang="en-US" b="1" u="sng" dirty="0">
                <a:solidFill>
                  <a:srgbClr val="000099"/>
                </a:solidFill>
                <a:latin typeface="宋体" panose="02010600030101010101" pitchFamily="2" charset="-122"/>
              </a:rPr>
              <a:t>块</a:t>
            </a:r>
            <a:r>
              <a:rPr lang="zh-CN" altLang="en-US" b="1" dirty="0">
                <a:latin typeface="宋体" panose="02010600030101010101" pitchFamily="2" charset="-122"/>
              </a:rPr>
              <a:t>。</a:t>
            </a:r>
            <a:endParaRPr lang="en-US" altLang="zh-CN" b="1" dirty="0">
              <a:latin typeface="宋体" panose="02010600030101010101" pitchFamily="2" charset="-122"/>
            </a:endParaRPr>
          </a:p>
        </p:txBody>
      </p:sp>
      <p:sp>
        <p:nvSpPr>
          <p:cNvPr id="254981" name="Text Box 5"/>
          <p:cNvSpPr txBox="1"/>
          <p:nvPr/>
        </p:nvSpPr>
        <p:spPr>
          <a:xfrm>
            <a:off x="755650" y="2924175"/>
            <a:ext cx="7696200" cy="27400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eaLnBrk="1" hangingPunct="1">
              <a:lnSpc>
                <a:spcPct val="90000"/>
              </a:lnSpc>
              <a:buClr>
                <a:schemeClr val="accent2"/>
              </a:buClr>
              <a:buSzPct val="75000"/>
              <a:buFont typeface="Monotype Sorts" pitchFamily="2" charset="2"/>
              <a:buNone/>
            </a:pPr>
            <a:r>
              <a:rPr lang="zh-CN" altLang="en-US" b="1" dirty="0">
                <a:latin typeface="宋体" panose="02010600030101010101" pitchFamily="2" charset="-122"/>
              </a:rPr>
              <a:t>在</a:t>
            </a:r>
            <a:r>
              <a:rPr lang="en-US" altLang="zh-CN" b="1" dirty="0">
                <a:latin typeface="宋体" panose="02010600030101010101" pitchFamily="2" charset="-122"/>
                <a:cs typeface="Times New Roman" panose="02020603050405020304" pitchFamily="18" charset="0"/>
              </a:rPr>
              <a:t>C</a:t>
            </a:r>
            <a:r>
              <a:rPr lang="zh-CN" altLang="en-US" b="1" dirty="0">
                <a:latin typeface="宋体" panose="02010600030101010101" pitchFamily="2" charset="-122"/>
              </a:rPr>
              <a:t>语言中，复合语句由</a:t>
            </a:r>
            <a:r>
              <a:rPr lang="zh-CN" altLang="en-US" b="1" u="sng" dirty="0">
                <a:solidFill>
                  <a:srgbClr val="2D35D3"/>
                </a:solidFill>
                <a:latin typeface="宋体" panose="02010600030101010101" pitchFamily="2" charset="-122"/>
              </a:rPr>
              <a:t>一个左花括号、可选语句段、一个右花括号</a:t>
            </a:r>
            <a:r>
              <a:rPr lang="zh-CN" altLang="en-US" b="1" dirty="0">
                <a:latin typeface="宋体" panose="02010600030101010101" pitchFamily="2" charset="-122"/>
              </a:rPr>
              <a:t>组成。如：</a:t>
            </a:r>
          </a:p>
          <a:p>
            <a:pPr marL="0" lvl="0" indent="0" algn="just" eaLnBrk="1" hangingPunct="1">
              <a:lnSpc>
                <a:spcPct val="90000"/>
              </a:lnSpc>
              <a:buClr>
                <a:schemeClr val="accent2"/>
              </a:buClr>
              <a:buSzPct val="75000"/>
              <a:buFont typeface="Monotype Sorts" pitchFamily="2" charset="2"/>
              <a:buNone/>
            </a:pPr>
            <a:r>
              <a:rPr lang="zh-CN" altLang="en-US" b="1" dirty="0">
                <a:latin typeface="宋体" panose="02010600030101010101" pitchFamily="2" charset="-122"/>
              </a:rPr>
              <a:t>	   </a:t>
            </a:r>
            <a:r>
              <a:rPr lang="zh-CN" altLang="en-US" b="1" dirty="0">
                <a:latin typeface="宋体" panose="02010600030101010101" pitchFamily="2" charset="-122"/>
                <a:cs typeface="Times New Roman" panose="02020603050405020304" pitchFamily="18" charset="0"/>
              </a:rPr>
              <a:t>{</a:t>
            </a:r>
          </a:p>
          <a:p>
            <a:pPr marL="0" lvl="0" indent="0" algn="just" eaLnBrk="1" hangingPunct="1">
              <a:lnSpc>
                <a:spcPct val="90000"/>
              </a:lnSpc>
              <a:buClr>
                <a:schemeClr val="accent2"/>
              </a:buClr>
              <a:buSzPct val="75000"/>
              <a:buFont typeface="Monotype Sorts" pitchFamily="2" charset="2"/>
              <a:buNone/>
            </a:pPr>
            <a:r>
              <a:rPr lang="zh-CN" altLang="en-US" b="1" dirty="0">
                <a:latin typeface="宋体" panose="02010600030101010101" pitchFamily="2" charset="-122"/>
                <a:cs typeface="Times New Roman" panose="02020603050405020304" pitchFamily="18" charset="0"/>
              </a:rPr>
              <a:t>		</a:t>
            </a:r>
            <a:r>
              <a:rPr lang="en-US" altLang="zh-CN" b="1" dirty="0">
                <a:latin typeface="宋体" panose="02010600030101010101" pitchFamily="2" charset="-122"/>
                <a:cs typeface="Times New Roman" panose="02020603050405020304" pitchFamily="18" charset="0"/>
              </a:rPr>
              <a:t>i = 1;</a:t>
            </a:r>
          </a:p>
          <a:p>
            <a:pPr marL="0" lvl="0" indent="0" algn="just" eaLnBrk="1" hangingPunct="1">
              <a:lnSpc>
                <a:spcPct val="90000"/>
              </a:lnSpc>
              <a:buClr>
                <a:schemeClr val="accent2"/>
              </a:buClr>
              <a:buSzPct val="75000"/>
              <a:buFont typeface="Monotype Sorts" pitchFamily="2" charset="2"/>
              <a:buNone/>
            </a:pPr>
            <a:r>
              <a:rPr lang="en-US" altLang="zh-CN" b="1" dirty="0">
                <a:latin typeface="宋体" panose="02010600030101010101" pitchFamily="2" charset="-122"/>
                <a:cs typeface="Times New Roman" panose="02020603050405020304" pitchFamily="18" charset="0"/>
              </a:rPr>
              <a:t>		j = 2 * i;</a:t>
            </a:r>
          </a:p>
          <a:p>
            <a:pPr marL="0" lvl="0" indent="0" algn="just" eaLnBrk="1" hangingPunct="1">
              <a:lnSpc>
                <a:spcPct val="90000"/>
              </a:lnSpc>
              <a:buClr>
                <a:schemeClr val="accent2"/>
              </a:buClr>
              <a:buSzPct val="75000"/>
              <a:buFont typeface="Monotype Sorts" pitchFamily="2" charset="2"/>
              <a:buNone/>
            </a:pPr>
            <a:r>
              <a:rPr lang="en-US" altLang="zh-CN" b="1" dirty="0">
                <a:latin typeface="宋体" panose="02010600030101010101" pitchFamily="2" charset="-122"/>
              </a:rPr>
              <a:t>    	   }</a:t>
            </a:r>
          </a:p>
        </p:txBody>
      </p:sp>
      <p:sp>
        <p:nvSpPr>
          <p:cNvPr id="26629" name="Rectangle 8"/>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54981"/>
                                        </p:tgtEl>
                                        <p:attrNameLst>
                                          <p:attrName>style.visibility</p:attrName>
                                        </p:attrNameLst>
                                      </p:cBhvr>
                                      <p:to>
                                        <p:strVal val="visible"/>
                                      </p:to>
                                    </p:set>
                                    <p:animEffect transition="in" filter="dissolve">
                                      <p:cBhvr>
                                        <p:cTn id="7" dur="500"/>
                                        <p:tgtEl>
                                          <p:spTgt spid="254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498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灯片编号占位符 5">
            <a:extLst>
              <a:ext uri="{FF2B5EF4-FFF2-40B4-BE49-F238E27FC236}">
                <a16:creationId xmlns:a16="http://schemas.microsoft.com/office/drawing/2014/main" id="{4D8C09AA-9897-42E3-A2AA-9701DB03E39B}"/>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spcBef>
                <a:spcPct val="50000"/>
              </a:spcBef>
            </a:pPr>
            <a:fld id="{CCE19488-EB2B-43DC-B722-F1ED13DD5D2E}" type="slidenum">
              <a:rPr lang="zh-CN" altLang="en-US" sz="1400"/>
              <a:pPr algn="r">
                <a:spcBef>
                  <a:spcPct val="50000"/>
                </a:spcBef>
              </a:pPr>
              <a:t>47</a:t>
            </a:fld>
            <a:endParaRPr lang="zh-CN" altLang="en-US" sz="1400"/>
          </a:p>
        </p:txBody>
      </p:sp>
      <p:sp>
        <p:nvSpPr>
          <p:cNvPr id="60418" name="Rectangle 7">
            <a:extLst>
              <a:ext uri="{FF2B5EF4-FFF2-40B4-BE49-F238E27FC236}">
                <a16:creationId xmlns:a16="http://schemas.microsoft.com/office/drawing/2014/main" id="{5FEEA750-1701-4143-8B18-F6964F4605C8}"/>
              </a:ext>
            </a:extLst>
          </p:cNvPr>
          <p:cNvSpPr>
            <a:spLocks noGrp="1" noChangeArrowheads="1"/>
          </p:cNvSpPr>
          <p:nvPr>
            <p:ph type="title" idx="4294967295"/>
          </p:nvPr>
        </p:nvSpPr>
        <p:spPr/>
        <p:txBody>
          <a:bodyPr/>
          <a:lstStyle/>
          <a:p>
            <a:pPr eaLnBrk="1" hangingPunct="1"/>
            <a:r>
              <a:rPr lang="zh-CN" altLang="en-US" b="1" dirty="0"/>
              <a:t>控制语句</a:t>
            </a:r>
          </a:p>
        </p:txBody>
      </p:sp>
      <p:sp>
        <p:nvSpPr>
          <p:cNvPr id="60419" name="Text Box 4">
            <a:extLst>
              <a:ext uri="{FF2B5EF4-FFF2-40B4-BE49-F238E27FC236}">
                <a16:creationId xmlns:a16="http://schemas.microsoft.com/office/drawing/2014/main" id="{3D72D824-BB49-46A7-B4D8-14CE043A63AA}"/>
              </a:ext>
            </a:extLst>
          </p:cNvPr>
          <p:cNvSpPr txBox="1">
            <a:spLocks noChangeArrowheads="1"/>
          </p:cNvSpPr>
          <p:nvPr/>
        </p:nvSpPr>
        <p:spPr bwMode="auto">
          <a:xfrm>
            <a:off x="665163" y="1416050"/>
            <a:ext cx="76327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buClr>
                <a:schemeClr val="accent2"/>
              </a:buClr>
              <a:buSzPct val="75000"/>
              <a:buFont typeface="Monotype Sorts" pitchFamily="2" charset="2"/>
              <a:buChar char="u"/>
            </a:pPr>
            <a:r>
              <a:rPr lang="zh-CN" altLang="en-US" sz="2800" dirty="0">
                <a:latin typeface="宋体" panose="02010600030101010101" pitchFamily="2" charset="-122"/>
                <a:sym typeface="宋体" panose="02010600030101010101" pitchFamily="2" charset="-122"/>
              </a:rPr>
              <a:t>计算机中的指令除了运算，还需要控制语句的执行序列，如：是非选择、多项选择、周而复始的循环、中断、意外终止等。</a:t>
            </a:r>
          </a:p>
        </p:txBody>
      </p:sp>
      <p:sp>
        <p:nvSpPr>
          <p:cNvPr id="5" name="Text Box 2">
            <a:extLst>
              <a:ext uri="{FF2B5EF4-FFF2-40B4-BE49-F238E27FC236}">
                <a16:creationId xmlns:a16="http://schemas.microsoft.com/office/drawing/2014/main" id="{5B2B1C2B-DB0F-478F-99A0-69EC3E020813}"/>
              </a:ext>
            </a:extLst>
          </p:cNvPr>
          <p:cNvSpPr txBox="1">
            <a:spLocks noChangeArrowheads="1"/>
          </p:cNvSpPr>
          <p:nvPr/>
        </p:nvSpPr>
        <p:spPr bwMode="auto">
          <a:xfrm>
            <a:off x="601663" y="3090862"/>
            <a:ext cx="7696200" cy="3233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90000"/>
              </a:lnSpc>
              <a:buClr>
                <a:schemeClr val="accent2"/>
              </a:buClr>
              <a:buSzPct val="75000"/>
              <a:buFont typeface="Monotype Sorts" pitchFamily="2" charset="2"/>
              <a:buChar char="u"/>
            </a:pPr>
            <a:r>
              <a:rPr lang="zh-CN" altLang="en-US" sz="2800" dirty="0">
                <a:latin typeface="宋体" panose="02010600030101010101" pitchFamily="2" charset="-122"/>
              </a:rPr>
              <a:t> 在写程序时，有时往往需要测试某一个条件  是否成立，然后根据测试结果来控制程序后续执行路径。此时要用到选择结构。</a:t>
            </a:r>
          </a:p>
          <a:p>
            <a:pPr algn="just">
              <a:lnSpc>
                <a:spcPct val="90000"/>
              </a:lnSpc>
              <a:buClr>
                <a:schemeClr val="accent2"/>
              </a:buClr>
              <a:buSzPct val="75000"/>
              <a:buFont typeface="Monotype Sorts" pitchFamily="2" charset="2"/>
              <a:buChar char="u"/>
            </a:pPr>
            <a:r>
              <a:rPr lang="en-US" altLang="zh-CN" sz="2800" dirty="0">
                <a:latin typeface="宋体" panose="02010600030101010101" pitchFamily="2" charset="-122"/>
              </a:rPr>
              <a:t> C</a:t>
            </a:r>
            <a:r>
              <a:rPr lang="zh-CN" altLang="en-US" sz="2800" dirty="0">
                <a:latin typeface="宋体" panose="02010600030101010101" pitchFamily="2" charset="-122"/>
              </a:rPr>
              <a:t>语言中选择语句有：</a:t>
            </a:r>
          </a:p>
          <a:p>
            <a:r>
              <a:rPr lang="zh-CN" altLang="en-US" sz="2800" dirty="0">
                <a:latin typeface="宋体" panose="02010600030101010101" pitchFamily="2" charset="-122"/>
              </a:rPr>
              <a:t>  </a:t>
            </a:r>
            <a:r>
              <a:rPr lang="zh-CN" altLang="en-US" sz="2800" dirty="0"/>
              <a:t>1）</a:t>
            </a:r>
            <a:r>
              <a:rPr lang="en-US" altLang="zh-CN" sz="2800" dirty="0"/>
              <a:t>if-else </a:t>
            </a:r>
            <a:r>
              <a:rPr lang="zh-CN" altLang="en-US" sz="2800" dirty="0"/>
              <a:t>语句  </a:t>
            </a:r>
            <a:r>
              <a:rPr lang="en-US" altLang="zh-CN" sz="2800" dirty="0"/>
              <a:t>(</a:t>
            </a:r>
            <a:r>
              <a:rPr lang="zh-CN" altLang="en-US" sz="2800" dirty="0"/>
              <a:t>是非选择，两种分支</a:t>
            </a:r>
            <a:r>
              <a:rPr lang="en-US" altLang="zh-CN" sz="2800" dirty="0"/>
              <a:t>)</a:t>
            </a:r>
          </a:p>
          <a:p>
            <a:r>
              <a:rPr lang="en-US" altLang="zh-CN" sz="2800" dirty="0"/>
              <a:t>    </a:t>
            </a:r>
            <a:r>
              <a:rPr lang="en-US" altLang="zh-CN" sz="2800" dirty="0" err="1"/>
              <a:t>2）switch-case</a:t>
            </a:r>
            <a:r>
              <a:rPr lang="zh-CN" altLang="en-US" sz="2800" dirty="0"/>
              <a:t>语句 </a:t>
            </a:r>
            <a:r>
              <a:rPr lang="en-US" altLang="zh-CN" sz="2800" dirty="0"/>
              <a:t>(</a:t>
            </a:r>
            <a:r>
              <a:rPr lang="zh-CN" altLang="en-US" sz="2800" dirty="0"/>
              <a:t>多路选择</a:t>
            </a:r>
            <a:r>
              <a:rPr lang="en-US" altLang="zh-CN" sz="2800" dirty="0"/>
              <a:t>)</a:t>
            </a:r>
            <a:endParaRPr lang="zh-CN" altLang="en-US" sz="2800" dirty="0"/>
          </a:p>
          <a:p>
            <a:pPr algn="just">
              <a:lnSpc>
                <a:spcPct val="90000"/>
              </a:lnSpc>
              <a:buClr>
                <a:schemeClr val="accent2"/>
              </a:buClr>
              <a:buSzPct val="75000"/>
              <a:buFont typeface="Monotype Sorts" pitchFamily="2" charset="2"/>
              <a:buNone/>
            </a:pPr>
            <a:endParaRPr lang="zh-CN" altLang="en-US" sz="2800" dirty="0">
              <a:latin typeface="宋体" panose="02010600030101010101" pitchFamily="2"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txBox="1">
            <a:spLocks noGrp="1"/>
          </p:cNvSpPr>
          <p:nvPr>
            <p:ph type="sldNum" sz="quarter" idx="12"/>
          </p:nvPr>
        </p:nvSpPr>
        <p:spPr>
          <a:ln/>
        </p:spPr>
        <p:txBody>
          <a:bodyPr/>
          <a:lstStyle/>
          <a:p>
            <a:pPr marL="0" indent="0" algn="r" eaLnBrk="1" hangingPunct="1">
              <a:spcBef>
                <a:spcPct val="50000"/>
              </a:spcBef>
              <a:buNone/>
            </a:pPr>
            <a:fld id="{9A0DB2DC-4C9A-4742-B13C-FB6460FD3503}" type="slidenum">
              <a:rPr lang="zh-CN" altLang="en-US" sz="1400" b="1" dirty="0"/>
              <a:t>48</a:t>
            </a:fld>
            <a:endParaRPr lang="zh-CN" altLang="en-US" sz="1400" b="1" dirty="0"/>
          </a:p>
        </p:txBody>
      </p:sp>
      <p:sp>
        <p:nvSpPr>
          <p:cNvPr id="29699" name="Rectangle 2"/>
          <p:cNvSpPr>
            <a:spLocks noGrp="1"/>
          </p:cNvSpPr>
          <p:nvPr>
            <p:ph type="title"/>
          </p:nvPr>
        </p:nvSpPr>
        <p:spPr>
          <a:ln/>
        </p:spPr>
        <p:txBody>
          <a:bodyPr vert="horz" wrap="square" lIns="91440" tIns="45720" rIns="91440" bIns="45720" anchor="ctr"/>
          <a:lstStyle/>
          <a:p>
            <a:pPr eaLnBrk="1" hangingPunct="1"/>
            <a:r>
              <a:rPr lang="en-US" altLang="zh-CN" b="1" dirty="0"/>
              <a:t>3.2 </a:t>
            </a:r>
            <a:r>
              <a:rPr lang="zh-CN" altLang="en-US" b="1" dirty="0"/>
              <a:t>语句</a:t>
            </a:r>
          </a:p>
        </p:txBody>
      </p:sp>
      <p:sp>
        <p:nvSpPr>
          <p:cNvPr id="412675" name="Rectangle 3"/>
          <p:cNvSpPr>
            <a:spLocks noGrp="1"/>
          </p:cNvSpPr>
          <p:nvPr>
            <p:ph idx="1"/>
          </p:nvPr>
        </p:nvSpPr>
        <p:spPr>
          <a:xfrm>
            <a:off x="467544" y="1277273"/>
            <a:ext cx="8280722" cy="4918075"/>
          </a:xfrm>
          <a:ln/>
        </p:spPr>
        <p:txBody>
          <a:bodyPr vert="horz" wrap="square" lIns="91440" tIns="45720" rIns="91440" bIns="45720" anchor="t"/>
          <a:lstStyle/>
          <a:p>
            <a:pPr marL="533400" indent="-533400" algn="just" eaLnBrk="1" hangingPunct="1">
              <a:lnSpc>
                <a:spcPct val="90000"/>
              </a:lnSpc>
              <a:buAutoNum type="arabicPeriod"/>
            </a:pPr>
            <a:r>
              <a:rPr lang="en-US" altLang="zh-CN" b="1" dirty="0"/>
              <a:t>if-else</a:t>
            </a:r>
            <a:r>
              <a:rPr lang="zh-CN" altLang="en-US" b="1" dirty="0"/>
              <a:t>语句中的</a:t>
            </a:r>
            <a:r>
              <a:rPr lang="zh-CN" altLang="en-US" b="1" dirty="0">
                <a:latin typeface="宋体" panose="02010600030101010101" pitchFamily="2" charset="-122"/>
              </a:rPr>
              <a:t>“</a:t>
            </a:r>
            <a:r>
              <a:rPr lang="zh-CN" altLang="en-US" b="1" dirty="0"/>
              <a:t>表达式</a:t>
            </a:r>
            <a:r>
              <a:rPr lang="zh-CN" altLang="en-US" b="1" dirty="0">
                <a:latin typeface="宋体" panose="02010600030101010101" pitchFamily="2" charset="-122"/>
              </a:rPr>
              <a:t>”</a:t>
            </a:r>
            <a:r>
              <a:rPr lang="zh-CN" altLang="en-US" b="1" dirty="0"/>
              <a:t>必须用</a:t>
            </a:r>
            <a:r>
              <a:rPr lang="zh-CN" altLang="en-US" b="1" dirty="0">
                <a:latin typeface="宋体" panose="02010600030101010101" pitchFamily="2" charset="-122"/>
              </a:rPr>
              <a:t>“</a:t>
            </a:r>
            <a:r>
              <a:rPr lang="zh-CN" altLang="en-US" b="1" dirty="0"/>
              <a:t>(</a:t>
            </a:r>
            <a:r>
              <a:rPr lang="zh-CN" altLang="en-US" b="1" dirty="0">
                <a:latin typeface="宋体" panose="02010600030101010101" pitchFamily="2" charset="-122"/>
              </a:rPr>
              <a:t>”</a:t>
            </a:r>
            <a:r>
              <a:rPr lang="zh-CN" altLang="en-US" b="1" dirty="0"/>
              <a:t>和</a:t>
            </a:r>
            <a:r>
              <a:rPr lang="zh-CN" altLang="en-US" b="1" dirty="0">
                <a:latin typeface="宋体" panose="02010600030101010101" pitchFamily="2" charset="-122"/>
              </a:rPr>
              <a:t>“</a:t>
            </a:r>
            <a:r>
              <a:rPr lang="zh-CN" altLang="en-US" b="1" dirty="0"/>
              <a:t>)</a:t>
            </a:r>
            <a:r>
              <a:rPr lang="zh-CN" altLang="en-US" b="1" dirty="0">
                <a:latin typeface="宋体" panose="02010600030101010101" pitchFamily="2" charset="-122"/>
              </a:rPr>
              <a:t>”</a:t>
            </a:r>
            <a:r>
              <a:rPr lang="zh-CN" altLang="en-US" b="1" dirty="0"/>
              <a:t>括起来；表达式可以是任一种表达式，关系表达式和逻辑表达式较常见；表达式的值为非零时，为“真”，否则为“假”。</a:t>
            </a:r>
          </a:p>
          <a:p>
            <a:pPr marL="533400" indent="-533400" algn="just">
              <a:lnSpc>
                <a:spcPct val="90000"/>
              </a:lnSpc>
              <a:spcBef>
                <a:spcPct val="50000"/>
              </a:spcBef>
              <a:buAutoNum type="arabicPeriod"/>
            </a:pPr>
            <a:r>
              <a:rPr lang="zh-CN" altLang="en-US" b="1" dirty="0"/>
              <a:t>语句可以是任何语句：表达式语句、复合语句、选择语句和循环语句。</a:t>
            </a:r>
          </a:p>
          <a:p>
            <a:pPr marL="533400" indent="-533400" algn="just" eaLnBrk="1" hangingPunct="1">
              <a:lnSpc>
                <a:spcPct val="90000"/>
              </a:lnSpc>
              <a:buAutoNum type="arabicPeriod"/>
            </a:pPr>
            <a:r>
              <a:rPr lang="en-US" altLang="zh-CN" b="1" dirty="0"/>
              <a:t>else</a:t>
            </a:r>
            <a:r>
              <a:rPr lang="zh-CN" altLang="en-US" b="1" dirty="0"/>
              <a:t>子句是</a:t>
            </a:r>
            <a:r>
              <a:rPr lang="en-US" altLang="zh-CN" b="1" dirty="0"/>
              <a:t>if</a:t>
            </a:r>
            <a:r>
              <a:rPr lang="zh-CN" altLang="en-US" b="1" dirty="0"/>
              <a:t>语句的一部分，必须与</a:t>
            </a:r>
            <a:r>
              <a:rPr lang="en-US" altLang="zh-CN" b="1" dirty="0"/>
              <a:t>if</a:t>
            </a:r>
            <a:r>
              <a:rPr lang="zh-CN" altLang="en-US" b="1" dirty="0"/>
              <a:t>配对使用，不能单独使用。</a:t>
            </a:r>
          </a:p>
          <a:p>
            <a:pPr marL="533400" indent="-533400" algn="just" eaLnBrk="1" hangingPunct="1">
              <a:lnSpc>
                <a:spcPct val="90000"/>
              </a:lnSpc>
              <a:buAutoNum type="arabicPeriod"/>
            </a:pPr>
            <a:r>
              <a:rPr lang="zh-CN" altLang="en-US" b="1" dirty="0"/>
              <a:t>可以没有</a:t>
            </a:r>
            <a:r>
              <a:rPr lang="en-US" altLang="zh-CN" b="1" dirty="0"/>
              <a:t>else</a:t>
            </a:r>
            <a:r>
              <a:rPr lang="zh-CN" altLang="en-US" b="1" dirty="0"/>
              <a:t>子句（但必须有</a:t>
            </a:r>
            <a:r>
              <a:rPr lang="en-US" altLang="zh-CN" b="1" dirty="0"/>
              <a:t>if</a:t>
            </a:r>
            <a:r>
              <a:rPr lang="zh-CN" altLang="en-US" b="1" dirty="0"/>
              <a:t>子句），即：</a:t>
            </a:r>
          </a:p>
          <a:p>
            <a:pPr marL="533400" indent="-533400" algn="just" eaLnBrk="1" hangingPunct="1">
              <a:lnSpc>
                <a:spcPct val="90000"/>
              </a:lnSpc>
              <a:buNone/>
            </a:pPr>
            <a:r>
              <a:rPr lang="zh-CN" altLang="en-US" b="1" dirty="0"/>
              <a:t>			</a:t>
            </a:r>
            <a:r>
              <a:rPr lang="en-US" altLang="zh-CN" b="1" dirty="0"/>
              <a:t>if(</a:t>
            </a:r>
            <a:r>
              <a:rPr lang="zh-CN" altLang="en-US" b="1" dirty="0"/>
              <a:t>表达式</a:t>
            </a:r>
            <a:r>
              <a:rPr lang="en-US" altLang="zh-CN" b="1" dirty="0"/>
              <a:t>)</a:t>
            </a:r>
          </a:p>
          <a:p>
            <a:pPr marL="533400" indent="-533400" algn="just" eaLnBrk="1" hangingPunct="1">
              <a:lnSpc>
                <a:spcPct val="90000"/>
              </a:lnSpc>
              <a:buNone/>
            </a:pPr>
            <a:r>
              <a:rPr lang="en-US" altLang="zh-CN" b="1" dirty="0"/>
              <a:t>			       </a:t>
            </a:r>
            <a:r>
              <a:rPr lang="zh-CN" altLang="en-US" b="1" dirty="0"/>
              <a:t>语句</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2675">
                                            <p:txEl>
                                              <p:pRg st="0" end="0"/>
                                            </p:txEl>
                                          </p:spTgt>
                                        </p:tgtEl>
                                        <p:attrNameLst>
                                          <p:attrName>style.visibility</p:attrName>
                                        </p:attrNameLst>
                                      </p:cBhvr>
                                      <p:to>
                                        <p:strVal val="visible"/>
                                      </p:to>
                                    </p:set>
                                    <p:animEffect transition="in" filter="dissolve">
                                      <p:cBhvr>
                                        <p:cTn id="7" dur="500"/>
                                        <p:tgtEl>
                                          <p:spTgt spid="41267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12675">
                                            <p:txEl>
                                              <p:pRg st="1" end="1"/>
                                            </p:txEl>
                                          </p:spTgt>
                                        </p:tgtEl>
                                        <p:attrNameLst>
                                          <p:attrName>style.visibility</p:attrName>
                                        </p:attrNameLst>
                                      </p:cBhvr>
                                      <p:to>
                                        <p:strVal val="visible"/>
                                      </p:to>
                                    </p:set>
                                    <p:animEffect transition="in" filter="dissolve">
                                      <p:cBhvr>
                                        <p:cTn id="12" dur="500"/>
                                        <p:tgtEl>
                                          <p:spTgt spid="41267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12675">
                                            <p:txEl>
                                              <p:pRg st="2" end="2"/>
                                            </p:txEl>
                                          </p:spTgt>
                                        </p:tgtEl>
                                        <p:attrNameLst>
                                          <p:attrName>style.visibility</p:attrName>
                                        </p:attrNameLst>
                                      </p:cBhvr>
                                      <p:to>
                                        <p:strVal val="visible"/>
                                      </p:to>
                                    </p:set>
                                    <p:animEffect transition="in" filter="dissolve">
                                      <p:cBhvr>
                                        <p:cTn id="17" dur="500"/>
                                        <p:tgtEl>
                                          <p:spTgt spid="41267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12675">
                                            <p:txEl>
                                              <p:pRg st="3" end="3"/>
                                            </p:txEl>
                                          </p:spTgt>
                                        </p:tgtEl>
                                        <p:attrNameLst>
                                          <p:attrName>style.visibility</p:attrName>
                                        </p:attrNameLst>
                                      </p:cBhvr>
                                      <p:to>
                                        <p:strVal val="visible"/>
                                      </p:to>
                                    </p:set>
                                    <p:animEffect transition="in" filter="dissolve">
                                      <p:cBhvr>
                                        <p:cTn id="22" dur="500"/>
                                        <p:tgtEl>
                                          <p:spTgt spid="41267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12675">
                                            <p:txEl>
                                              <p:pRg st="4" end="4"/>
                                            </p:txEl>
                                          </p:spTgt>
                                        </p:tgtEl>
                                        <p:attrNameLst>
                                          <p:attrName>style.visibility</p:attrName>
                                        </p:attrNameLst>
                                      </p:cBhvr>
                                      <p:to>
                                        <p:strVal val="visible"/>
                                      </p:to>
                                    </p:set>
                                    <p:animEffect transition="in" filter="dissolve">
                                      <p:cBhvr>
                                        <p:cTn id="27" dur="500"/>
                                        <p:tgtEl>
                                          <p:spTgt spid="41267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12675">
                                            <p:txEl>
                                              <p:pRg st="5" end="5"/>
                                            </p:txEl>
                                          </p:spTgt>
                                        </p:tgtEl>
                                        <p:attrNameLst>
                                          <p:attrName>style.visibility</p:attrName>
                                        </p:attrNameLst>
                                      </p:cBhvr>
                                      <p:to>
                                        <p:strVal val="visible"/>
                                      </p:to>
                                    </p:set>
                                    <p:animEffect transition="in" filter="dissolve">
                                      <p:cBhvr>
                                        <p:cTn id="32" dur="500"/>
                                        <p:tgtEl>
                                          <p:spTgt spid="41267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灯片编号占位符 5">
            <a:extLst>
              <a:ext uri="{FF2B5EF4-FFF2-40B4-BE49-F238E27FC236}">
                <a16:creationId xmlns:a16="http://schemas.microsoft.com/office/drawing/2014/main" id="{6AC084A8-131A-4E92-9526-EF55F5505C18}"/>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spcBef>
                <a:spcPct val="50000"/>
              </a:spcBef>
            </a:pPr>
            <a:fld id="{5D85FE6D-A2FB-400E-9263-1CF8E2183DC4}" type="slidenum">
              <a:rPr lang="zh-CN" altLang="en-US" sz="1400"/>
              <a:pPr algn="r">
                <a:spcBef>
                  <a:spcPct val="50000"/>
                </a:spcBef>
              </a:pPr>
              <a:t>49</a:t>
            </a:fld>
            <a:endParaRPr lang="zh-CN" altLang="en-US" sz="1400"/>
          </a:p>
        </p:txBody>
      </p:sp>
      <p:sp>
        <p:nvSpPr>
          <p:cNvPr id="74754" name="Rectangle 4">
            <a:extLst>
              <a:ext uri="{FF2B5EF4-FFF2-40B4-BE49-F238E27FC236}">
                <a16:creationId xmlns:a16="http://schemas.microsoft.com/office/drawing/2014/main" id="{07061E91-47B9-45B1-B75A-C221A3D187E6}"/>
              </a:ext>
            </a:extLst>
          </p:cNvPr>
          <p:cNvSpPr>
            <a:spLocks noGrp="1" noChangeArrowheads="1"/>
          </p:cNvSpPr>
          <p:nvPr>
            <p:ph type="body" idx="4294967295"/>
          </p:nvPr>
        </p:nvSpPr>
        <p:spPr>
          <a:xfrm>
            <a:off x="495300" y="1371600"/>
            <a:ext cx="8305800" cy="609600"/>
          </a:xfrm>
        </p:spPr>
        <p:txBody>
          <a:bodyPr lIns="92075" tIns="46038" rIns="92075" bIns="46038"/>
          <a:lstStyle/>
          <a:p>
            <a:pPr eaLnBrk="1" hangingPunct="1">
              <a:buFontTx/>
              <a:buNone/>
            </a:pPr>
            <a:r>
              <a:rPr lang="zh-CN" altLang="en-US" b="1"/>
              <a:t>四、循环结构</a:t>
            </a:r>
            <a:r>
              <a:rPr lang="zh-CN" altLang="en-US" b="1">
                <a:latin typeface="宋体" panose="02010600030101010101" pitchFamily="2" charset="-122"/>
              </a:rPr>
              <a:t>语句</a:t>
            </a:r>
            <a:r>
              <a:rPr lang="zh-CN" altLang="en-US" b="1"/>
              <a:t> </a:t>
            </a:r>
          </a:p>
        </p:txBody>
      </p:sp>
      <p:sp>
        <p:nvSpPr>
          <p:cNvPr id="74755" name="Rectangle 7">
            <a:extLst>
              <a:ext uri="{FF2B5EF4-FFF2-40B4-BE49-F238E27FC236}">
                <a16:creationId xmlns:a16="http://schemas.microsoft.com/office/drawing/2014/main" id="{BDABB4C9-25FE-4F44-8E9C-1C1D720EC3A7}"/>
              </a:ext>
            </a:extLst>
          </p:cNvPr>
          <p:cNvSpPr>
            <a:spLocks noGrp="1" noChangeArrowheads="1"/>
          </p:cNvSpPr>
          <p:nvPr>
            <p:ph type="title" idx="4294967295"/>
          </p:nvPr>
        </p:nvSpPr>
        <p:spPr/>
        <p:txBody>
          <a:bodyPr/>
          <a:lstStyle/>
          <a:p>
            <a:pPr eaLnBrk="1" hangingPunct="1"/>
            <a:r>
              <a:rPr lang="zh-CN" altLang="en-US" b="1"/>
              <a:t>如何使完成的程序重复执行呢？</a:t>
            </a:r>
          </a:p>
        </p:txBody>
      </p:sp>
      <p:sp>
        <p:nvSpPr>
          <p:cNvPr id="74756" name="Text Box 1031">
            <a:extLst>
              <a:ext uri="{FF2B5EF4-FFF2-40B4-BE49-F238E27FC236}">
                <a16:creationId xmlns:a16="http://schemas.microsoft.com/office/drawing/2014/main" id="{3DC60357-9874-48C4-8988-5DD3E2B38B8B}"/>
              </a:ext>
            </a:extLst>
          </p:cNvPr>
          <p:cNvSpPr txBox="1">
            <a:spLocks noChangeArrowheads="1"/>
          </p:cNvSpPr>
          <p:nvPr/>
        </p:nvSpPr>
        <p:spPr bwMode="auto">
          <a:xfrm>
            <a:off x="723900" y="1882775"/>
            <a:ext cx="7696200" cy="4576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Times New Roman" panose="02020603050405020304" pitchFamily="18" charset="0"/>
                <a:ea typeface="宋体" panose="02010600030101010101" pitchFamily="2" charset="-122"/>
              </a:defRPr>
            </a:lvl1pPr>
            <a:lvl2pPr>
              <a:defRPr b="1">
                <a:solidFill>
                  <a:schemeClr val="tx1"/>
                </a:solidFill>
                <a:latin typeface="Times New Roman" panose="02020603050405020304" pitchFamily="18" charset="0"/>
                <a:ea typeface="宋体" panose="02010600030101010101" pitchFamily="2" charset="-122"/>
              </a:defRPr>
            </a:lvl2pPr>
            <a:lvl3pPr>
              <a:defRPr b="1">
                <a:solidFill>
                  <a:schemeClr val="tx1"/>
                </a:solidFill>
                <a:latin typeface="Times New Roman" panose="02020603050405020304" pitchFamily="18" charset="0"/>
                <a:ea typeface="宋体" panose="02010600030101010101" pitchFamily="2" charset="-122"/>
              </a:defRPr>
            </a:lvl3pPr>
            <a:lvl4pPr>
              <a:defRPr b="1">
                <a:solidFill>
                  <a:schemeClr val="tx1"/>
                </a:solidFill>
                <a:latin typeface="Times New Roman" panose="02020603050405020304" pitchFamily="18" charset="0"/>
                <a:ea typeface="宋体" panose="02010600030101010101" pitchFamily="2" charset="-122"/>
              </a:defRPr>
            </a:lvl4pPr>
            <a:lvl5pPr>
              <a:defRPr b="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buFont typeface="Arial" panose="020B0604020202020204" pitchFamily="34" charset="0"/>
              <a:defRPr b="1">
                <a:solidFill>
                  <a:schemeClr val="tx1"/>
                </a:solidFill>
                <a:latin typeface="Times New Roman" panose="02020603050405020304" pitchFamily="18" charset="0"/>
                <a:ea typeface="宋体" panose="02010600030101010101" pitchFamily="2" charset="-122"/>
              </a:defRPr>
            </a:lvl9pPr>
          </a:lstStyle>
          <a:p>
            <a:pPr algn="just">
              <a:lnSpc>
                <a:spcPct val="90000"/>
              </a:lnSpc>
              <a:buClr>
                <a:schemeClr val="accent2"/>
              </a:buClr>
              <a:buSzPct val="75000"/>
              <a:buFont typeface="Monotype Sorts" pitchFamily="2" charset="2"/>
              <a:buChar char="u"/>
            </a:pPr>
            <a:r>
              <a:rPr lang="zh-CN" altLang="en-US" sz="2800">
                <a:latin typeface="宋体" panose="02010600030101010101" pitchFamily="2" charset="-122"/>
              </a:rPr>
              <a:t> 有时程序中需要多次运行同一段代码（重复做相同的事情）。这种控制结构称为循环结构。</a:t>
            </a:r>
          </a:p>
          <a:p>
            <a:pPr algn="just">
              <a:lnSpc>
                <a:spcPct val="90000"/>
              </a:lnSpc>
              <a:buClr>
                <a:schemeClr val="accent2"/>
              </a:buClr>
              <a:buSzPct val="75000"/>
              <a:buFont typeface="Monotype Sorts" pitchFamily="2" charset="2"/>
              <a:buChar char="u"/>
            </a:pPr>
            <a:r>
              <a:rPr lang="en-US" altLang="zh-CN" sz="2800">
                <a:latin typeface="宋体" panose="02010600030101010101" pitchFamily="2" charset="-122"/>
              </a:rPr>
              <a:t> </a:t>
            </a:r>
            <a:r>
              <a:rPr lang="zh-CN" altLang="en-US" sz="2800">
                <a:latin typeface="宋体" panose="02010600030101010101" pitchFamily="2" charset="-122"/>
              </a:rPr>
              <a:t>在循环结构中，需要刻画出重复执行的是哪些动作（循环体），以及什么条件下需要重复（循环条件）。</a:t>
            </a:r>
            <a:endParaRPr lang="en-US" altLang="zh-CN" sz="2800">
              <a:latin typeface="宋体" panose="02010600030101010101" pitchFamily="2" charset="-122"/>
            </a:endParaRPr>
          </a:p>
          <a:p>
            <a:pPr algn="just">
              <a:lnSpc>
                <a:spcPct val="90000"/>
              </a:lnSpc>
              <a:buClr>
                <a:schemeClr val="accent2"/>
              </a:buClr>
              <a:buSzPct val="75000"/>
              <a:buFont typeface="Monotype Sorts" pitchFamily="2" charset="2"/>
              <a:buChar char="u"/>
            </a:pPr>
            <a:r>
              <a:rPr lang="en-US" altLang="zh-CN" sz="2800">
                <a:latin typeface="宋体" panose="02010600030101010101" pitchFamily="2" charset="-122"/>
              </a:rPr>
              <a:t> C</a:t>
            </a:r>
            <a:r>
              <a:rPr lang="zh-CN" altLang="en-US" sz="2800">
                <a:latin typeface="宋体" panose="02010600030101010101" pitchFamily="2" charset="-122"/>
              </a:rPr>
              <a:t>语言提供了三类用于实现循环结构的语句：</a:t>
            </a:r>
          </a:p>
          <a:p>
            <a:pPr lvl="1"/>
            <a:r>
              <a:rPr lang="zh-CN" altLang="en-US" sz="2800"/>
              <a:t>1）</a:t>
            </a:r>
            <a:r>
              <a:rPr lang="en-US" altLang="zh-CN" sz="2800"/>
              <a:t>while </a:t>
            </a:r>
          </a:p>
          <a:p>
            <a:pPr lvl="1"/>
            <a:r>
              <a:rPr lang="en-US" altLang="zh-CN" sz="2800"/>
              <a:t>2）do-while</a:t>
            </a:r>
          </a:p>
          <a:p>
            <a:pPr lvl="1"/>
            <a:r>
              <a:rPr lang="en-US" altLang="zh-CN" sz="2800"/>
              <a:t>3）for</a:t>
            </a:r>
            <a:endParaRPr lang="zh-CN" altLang="en-US" sz="2800"/>
          </a:p>
          <a:p>
            <a:pPr algn="just">
              <a:lnSpc>
                <a:spcPct val="90000"/>
              </a:lnSpc>
              <a:buClr>
                <a:schemeClr val="accent2"/>
              </a:buClr>
              <a:buSzPct val="75000"/>
              <a:buFont typeface="Monotype Sorts" pitchFamily="2" charset="2"/>
              <a:buNone/>
            </a:pPr>
            <a:endParaRPr lang="zh-CN" altLang="en-US" sz="2800">
              <a:latin typeface="宋体" panose="0201060003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算法</a:t>
            </a:r>
            <a:endParaRPr lang="en-US" dirty="0"/>
          </a:p>
        </p:txBody>
      </p:sp>
      <p:sp>
        <p:nvSpPr>
          <p:cNvPr id="3" name="Content Placeholder 2"/>
          <p:cNvSpPr>
            <a:spLocks noGrp="1"/>
          </p:cNvSpPr>
          <p:nvPr>
            <p:ph idx="1"/>
          </p:nvPr>
        </p:nvSpPr>
        <p:spPr/>
        <p:txBody>
          <a:bodyPr>
            <a:normAutofit fontScale="92500" lnSpcReduction="10000"/>
          </a:bodyPr>
          <a:lstStyle/>
          <a:p>
            <a:pPr>
              <a:buNone/>
            </a:pPr>
            <a:r>
              <a:rPr lang="en-US" b="1" dirty="0"/>
              <a:t>   </a:t>
            </a:r>
            <a:r>
              <a:rPr lang="zh-CN" altLang="en-US" b="1" dirty="0"/>
              <a:t>定义</a:t>
            </a:r>
            <a:r>
              <a:rPr lang="en-US" dirty="0"/>
              <a:t>: </a:t>
            </a:r>
            <a:r>
              <a:rPr lang="zh-CN" altLang="en-US" dirty="0"/>
              <a:t>算法是一个有限的指令序列</a:t>
            </a:r>
            <a:r>
              <a:rPr lang="en-US" altLang="zh-CN" dirty="0"/>
              <a:t>, </a:t>
            </a:r>
            <a:r>
              <a:rPr lang="zh-CN" altLang="en-US" dirty="0"/>
              <a:t>用来计算或求解一个问题。</a:t>
            </a:r>
            <a:endParaRPr lang="en-US" dirty="0"/>
          </a:p>
          <a:p>
            <a:pPr>
              <a:buNone/>
            </a:pPr>
            <a:r>
              <a:rPr lang="en-US" dirty="0"/>
              <a:t>   </a:t>
            </a:r>
            <a:r>
              <a:rPr lang="zh-CN" altLang="en-US" b="1" dirty="0"/>
              <a:t>例</a:t>
            </a:r>
            <a:r>
              <a:rPr lang="en-US" dirty="0"/>
              <a:t>: </a:t>
            </a:r>
            <a:r>
              <a:rPr lang="zh-CN" altLang="en-US" dirty="0"/>
              <a:t>描述在一个有限整数序列中寻找最大值的算法</a:t>
            </a:r>
            <a:r>
              <a:rPr lang="en-US" dirty="0"/>
              <a:t>.</a:t>
            </a:r>
          </a:p>
          <a:p>
            <a:pPr>
              <a:buNone/>
            </a:pPr>
            <a:r>
              <a:rPr lang="en-US" dirty="0"/>
              <a:t>   </a:t>
            </a:r>
            <a:r>
              <a:rPr lang="zh-CN" altLang="en-US" b="1" dirty="0"/>
              <a:t>解</a:t>
            </a:r>
            <a:r>
              <a:rPr lang="en-US" b="1" dirty="0"/>
              <a:t>: </a:t>
            </a:r>
            <a:r>
              <a:rPr lang="zh-CN" altLang="en-US" dirty="0"/>
              <a:t>要执行的步骤如下</a:t>
            </a:r>
            <a:r>
              <a:rPr lang="en-US" dirty="0"/>
              <a:t>:</a:t>
            </a:r>
          </a:p>
          <a:p>
            <a:pPr marL="1154430" lvl="2" indent="-514350">
              <a:buFont typeface="+mj-lt"/>
              <a:buAutoNum type="arabicPeriod"/>
            </a:pPr>
            <a:r>
              <a:rPr lang="zh-CN" altLang="en-US" dirty="0"/>
              <a:t>设置临时的最大值</a:t>
            </a:r>
            <a:r>
              <a:rPr lang="en-US" altLang="zh-CN" dirty="0"/>
              <a:t>, </a:t>
            </a:r>
            <a:r>
              <a:rPr lang="zh-CN" altLang="en-US" dirty="0"/>
              <a:t>值为序列中第一个整数</a:t>
            </a:r>
            <a:r>
              <a:rPr lang="en-US" altLang="zh-CN" dirty="0"/>
              <a:t>.</a:t>
            </a:r>
            <a:endParaRPr lang="en-US" dirty="0"/>
          </a:p>
          <a:p>
            <a:pPr marL="1154430" lvl="2" indent="-514350">
              <a:buFont typeface="+mj-lt"/>
              <a:buAutoNum type="arabicPeriod"/>
            </a:pPr>
            <a:r>
              <a:rPr lang="zh-CN" altLang="en-US" dirty="0"/>
              <a:t>比较序列中下一个整数和临时最大值</a:t>
            </a:r>
            <a:r>
              <a:rPr lang="en-US" dirty="0"/>
              <a:t>.</a:t>
            </a:r>
          </a:p>
          <a:p>
            <a:pPr marL="1428750" lvl="3" indent="-514350"/>
            <a:r>
              <a:rPr lang="zh-CN" altLang="en-US" dirty="0"/>
              <a:t>如果当前整数比临时最大值大</a:t>
            </a:r>
            <a:r>
              <a:rPr lang="en-US" dirty="0"/>
              <a:t>, </a:t>
            </a:r>
            <a:r>
              <a:rPr lang="zh-CN" altLang="en-US" dirty="0"/>
              <a:t>重置临时最大值为当前整数</a:t>
            </a:r>
            <a:endParaRPr lang="en-US" dirty="0"/>
          </a:p>
          <a:p>
            <a:pPr marL="1154430" lvl="2" indent="-514350">
              <a:buFont typeface="+mj-lt"/>
              <a:buAutoNum type="arabicPeriod"/>
            </a:pPr>
            <a:r>
              <a:rPr lang="zh-CN" altLang="en-US" dirty="0"/>
              <a:t>重复第</a:t>
            </a:r>
            <a:r>
              <a:rPr lang="en-US" altLang="zh-CN" dirty="0"/>
              <a:t>2</a:t>
            </a:r>
            <a:r>
              <a:rPr lang="zh-CN" altLang="en-US" dirty="0"/>
              <a:t>步</a:t>
            </a:r>
            <a:r>
              <a:rPr lang="en-US" altLang="zh-CN" dirty="0"/>
              <a:t>, </a:t>
            </a:r>
            <a:r>
              <a:rPr lang="zh-CN" altLang="en-US" dirty="0"/>
              <a:t>只要序列还有剩余整数</a:t>
            </a:r>
            <a:r>
              <a:rPr lang="en-US" dirty="0"/>
              <a:t>. </a:t>
            </a:r>
            <a:r>
              <a:rPr lang="zh-CN" altLang="en-US" dirty="0"/>
              <a:t>否则就停止</a:t>
            </a:r>
            <a:r>
              <a:rPr lang="en-US" dirty="0"/>
              <a:t>.</a:t>
            </a:r>
          </a:p>
          <a:p>
            <a:pPr marL="1154430" lvl="2" indent="-514350">
              <a:buFont typeface="+mj-lt"/>
              <a:buAutoNum type="arabicPeriod"/>
            </a:pPr>
            <a:r>
              <a:rPr lang="zh-CN" altLang="en-US" dirty="0"/>
              <a:t>当算法终止</a:t>
            </a:r>
            <a:r>
              <a:rPr lang="en-US" altLang="zh-CN" dirty="0"/>
              <a:t>, </a:t>
            </a:r>
            <a:r>
              <a:rPr lang="zh-CN" altLang="en-US" dirty="0"/>
              <a:t>临时最大值就是序列的最大值</a:t>
            </a:r>
            <a:r>
              <a:rPr lang="en-US" altLang="zh-CN" dirty="0"/>
              <a:t>.</a:t>
            </a:r>
            <a:endParaRPr lang="en-US"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zh-CN" altLang="en-US" dirty="0"/>
              <a:t>算法的属性</a:t>
            </a:r>
            <a:endParaRPr lang="en-US" dirty="0"/>
          </a:p>
        </p:txBody>
      </p:sp>
      <p:sp>
        <p:nvSpPr>
          <p:cNvPr id="5" name="Content Placeholder 4"/>
          <p:cNvSpPr>
            <a:spLocks noGrp="1"/>
          </p:cNvSpPr>
          <p:nvPr>
            <p:ph idx="1"/>
          </p:nvPr>
        </p:nvSpPr>
        <p:spPr/>
        <p:txBody>
          <a:bodyPr>
            <a:normAutofit lnSpcReduction="10000"/>
          </a:bodyPr>
          <a:lstStyle/>
          <a:p>
            <a:r>
              <a:rPr lang="zh-CN" altLang="en-US" i="1" dirty="0"/>
              <a:t>输入</a:t>
            </a:r>
            <a:r>
              <a:rPr lang="en-US" dirty="0"/>
              <a:t>: </a:t>
            </a:r>
            <a:r>
              <a:rPr lang="zh-CN" altLang="en-US" dirty="0"/>
              <a:t>算法应当有指定集的输入值</a:t>
            </a:r>
            <a:r>
              <a:rPr lang="en-US" dirty="0"/>
              <a:t>.</a:t>
            </a:r>
          </a:p>
          <a:p>
            <a:r>
              <a:rPr lang="zh-CN" altLang="en-US" i="1" dirty="0"/>
              <a:t>输出</a:t>
            </a:r>
            <a:r>
              <a:rPr lang="en-US" dirty="0"/>
              <a:t>: </a:t>
            </a:r>
            <a:r>
              <a:rPr lang="zh-CN" altLang="en-US" dirty="0"/>
              <a:t>对应输入值</a:t>
            </a:r>
            <a:r>
              <a:rPr lang="en-US" dirty="0"/>
              <a:t>, </a:t>
            </a:r>
            <a:r>
              <a:rPr lang="zh-CN" altLang="en-US" dirty="0"/>
              <a:t>算法应给出指定集的输出值</a:t>
            </a:r>
            <a:r>
              <a:rPr lang="en-US" altLang="zh-CN" dirty="0"/>
              <a:t>, </a:t>
            </a:r>
            <a:r>
              <a:rPr lang="zh-CN" altLang="en-US" dirty="0"/>
              <a:t>即问题的解</a:t>
            </a:r>
            <a:r>
              <a:rPr lang="en-US" dirty="0"/>
              <a:t>.</a:t>
            </a:r>
          </a:p>
          <a:p>
            <a:r>
              <a:rPr lang="zh-CN" altLang="en-US" i="1" dirty="0"/>
              <a:t>正确性</a:t>
            </a:r>
            <a:r>
              <a:rPr lang="en-US" dirty="0"/>
              <a:t>: </a:t>
            </a:r>
            <a:r>
              <a:rPr lang="zh-CN" altLang="en-US" dirty="0"/>
              <a:t>算法应针对每一组输入都能产生正确的输出</a:t>
            </a:r>
            <a:r>
              <a:rPr lang="en-US" dirty="0"/>
              <a:t>.</a:t>
            </a:r>
          </a:p>
          <a:p>
            <a:r>
              <a:rPr lang="zh-CN" altLang="en-US" i="1" dirty="0"/>
              <a:t>有限性</a:t>
            </a:r>
            <a:r>
              <a:rPr lang="en-US" dirty="0"/>
              <a:t>: </a:t>
            </a:r>
            <a:r>
              <a:rPr lang="zh-CN" altLang="en-US" dirty="0"/>
              <a:t>算法应对任何输入值都能在有限步后给出结果</a:t>
            </a:r>
            <a:r>
              <a:rPr lang="en-US" dirty="0"/>
              <a:t>.</a:t>
            </a:r>
          </a:p>
          <a:p>
            <a:r>
              <a:rPr lang="zh-CN" altLang="en-US" i="1" dirty="0"/>
              <a:t>可执行性</a:t>
            </a:r>
            <a:r>
              <a:rPr lang="en-US" dirty="0"/>
              <a:t>: </a:t>
            </a:r>
            <a:r>
              <a:rPr lang="zh-CN" altLang="en-US" dirty="0"/>
              <a:t>算法的每一步都能在有限时间内正确执行</a:t>
            </a:r>
            <a:r>
              <a:rPr lang="en-US" dirty="0"/>
              <a:t>.</a:t>
            </a:r>
          </a:p>
          <a:p>
            <a:r>
              <a:rPr lang="zh-CN" altLang="en-US" i="1" dirty="0"/>
              <a:t>通用性</a:t>
            </a:r>
            <a:r>
              <a:rPr lang="en-US" dirty="0"/>
              <a:t>: </a:t>
            </a:r>
            <a:r>
              <a:rPr lang="zh-CN" altLang="en-US" dirty="0"/>
              <a:t>算法应可以适用既定问题的所有情况</a:t>
            </a:r>
            <a:r>
              <a:rPr lang="en-US" dirty="0"/>
              <a:t>.</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a:extLst>
              <a:ext uri="{FF2B5EF4-FFF2-40B4-BE49-F238E27FC236}">
                <a16:creationId xmlns:a16="http://schemas.microsoft.com/office/drawing/2014/main" id="{4B54D167-901D-4F35-A896-60AB9D765A64}"/>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4391077F-7214-434E-B126-68443BA32776}" type="slidenum">
              <a:rPr altLang="en-US" sz="1400" smtClean="0"/>
              <a:pPr>
                <a:spcBef>
                  <a:spcPct val="50000"/>
                </a:spcBef>
                <a:buFontTx/>
                <a:buNone/>
              </a:pPr>
              <a:t>52</a:t>
            </a:fld>
            <a:endParaRPr lang="zh-CN" altLang="en-US" sz="1400"/>
          </a:p>
        </p:txBody>
      </p:sp>
      <p:sp>
        <p:nvSpPr>
          <p:cNvPr id="70659" name="Rectangle 2">
            <a:extLst>
              <a:ext uri="{FF2B5EF4-FFF2-40B4-BE49-F238E27FC236}">
                <a16:creationId xmlns:a16="http://schemas.microsoft.com/office/drawing/2014/main" id="{DFFA51F4-3BC2-4185-89A3-12F4401BA6C9}"/>
              </a:ext>
            </a:extLst>
          </p:cNvPr>
          <p:cNvSpPr>
            <a:spLocks noGrp="1" noChangeArrowheads="1"/>
          </p:cNvSpPr>
          <p:nvPr>
            <p:ph type="title"/>
          </p:nvPr>
        </p:nvSpPr>
        <p:spPr/>
        <p:txBody>
          <a:bodyPr/>
          <a:lstStyle/>
          <a:p>
            <a:pPr eaLnBrk="1" hangingPunct="1"/>
            <a:r>
              <a:rPr lang="en-US" altLang="zh-CN" b="1" dirty="0"/>
              <a:t>4.6 </a:t>
            </a:r>
            <a:r>
              <a:rPr lang="zh-CN" altLang="en-US" b="1" dirty="0"/>
              <a:t>迭代算法</a:t>
            </a:r>
          </a:p>
        </p:txBody>
      </p:sp>
      <p:sp>
        <p:nvSpPr>
          <p:cNvPr id="98308" name="Rectangle 3">
            <a:extLst>
              <a:ext uri="{FF2B5EF4-FFF2-40B4-BE49-F238E27FC236}">
                <a16:creationId xmlns:a16="http://schemas.microsoft.com/office/drawing/2014/main" id="{2EEFF1A3-63D8-443B-BCBF-EF88DA01263A}"/>
              </a:ext>
            </a:extLst>
          </p:cNvPr>
          <p:cNvSpPr>
            <a:spLocks noGrp="1"/>
          </p:cNvSpPr>
          <p:nvPr>
            <p:ph idx="1"/>
          </p:nvPr>
        </p:nvSpPr>
        <p:spPr>
          <a:xfrm>
            <a:off x="395288" y="1319213"/>
            <a:ext cx="8443912" cy="5205412"/>
          </a:xfrm>
        </p:spPr>
        <p:txBody>
          <a:bodyPr/>
          <a:lstStyle/>
          <a:p>
            <a:pPr eaLnBrk="1" hangingPunct="1">
              <a:defRPr/>
            </a:pPr>
            <a:r>
              <a:rPr lang="zh-CN" altLang="en-US" b="1" noProof="1">
                <a:cs typeface="+mn-ea"/>
              </a:rPr>
              <a:t>很多复杂问题，不能找到直接的求解公式；只能通过把问题归约到更小输入的问题实例来解决，或者说</a:t>
            </a:r>
            <a:r>
              <a:rPr lang="en-US" altLang="zh-CN" b="1" noProof="1">
                <a:cs typeface="+mn-ea"/>
              </a:rPr>
              <a:t>f(n)</a:t>
            </a:r>
            <a:r>
              <a:rPr lang="zh-CN" altLang="en-US" b="1" noProof="1">
                <a:cs typeface="+mn-ea"/>
              </a:rPr>
              <a:t>的计算依赖于</a:t>
            </a:r>
            <a:r>
              <a:rPr lang="en-US" altLang="zh-CN" b="1" noProof="1">
                <a:cs typeface="+mn-ea"/>
              </a:rPr>
              <a:t>f(n-k)</a:t>
            </a:r>
            <a:r>
              <a:rPr lang="zh-CN" altLang="en-US" b="1" noProof="1">
                <a:cs typeface="+mn-ea"/>
              </a:rPr>
              <a:t>或</a:t>
            </a:r>
            <a:r>
              <a:rPr lang="en-US" altLang="zh-CN" b="1" noProof="1">
                <a:cs typeface="+mn-ea"/>
              </a:rPr>
              <a:t>f(n/k)</a:t>
            </a:r>
            <a:r>
              <a:rPr lang="zh-CN" altLang="en-US" b="1" noProof="1">
                <a:cs typeface="+mn-ea"/>
              </a:rPr>
              <a:t>的求解。</a:t>
            </a:r>
            <a:endParaRPr lang="en-US" altLang="zh-CN" b="1" noProof="1">
              <a:cs typeface="+mn-ea"/>
            </a:endParaRPr>
          </a:p>
          <a:p>
            <a:pPr eaLnBrk="1" hangingPunct="1">
              <a:defRPr/>
            </a:pPr>
            <a:r>
              <a:rPr lang="zh-CN" altLang="en-US" b="1" noProof="1">
                <a:cs typeface="+mn-ea"/>
              </a:rPr>
              <a:t>这类问题求解算法，称为递归算法。</a:t>
            </a:r>
            <a:endParaRPr lang="en-US" altLang="zh-CN" b="1" noProof="1">
              <a:cs typeface="+mn-ea"/>
            </a:endParaRPr>
          </a:p>
          <a:p>
            <a:pPr eaLnBrk="1" hangingPunct="1">
              <a:defRPr/>
            </a:pPr>
            <a:r>
              <a:rPr lang="zh-CN" altLang="en-US" b="1" noProof="1">
                <a:cs typeface="+mn-ea"/>
              </a:rPr>
              <a:t>递归算法的数学公式是递归公式。</a:t>
            </a:r>
            <a:endParaRPr lang="en-US" altLang="zh-CN" b="1" noProof="1">
              <a:cs typeface="+mn-ea"/>
            </a:endParaRPr>
          </a:p>
          <a:p>
            <a:pPr eaLnBrk="1" hangingPunct="1">
              <a:defRPr/>
            </a:pPr>
            <a:r>
              <a:rPr lang="zh-CN" altLang="en-US" b="1" u="sng" noProof="1">
                <a:cs typeface="+mn-ea"/>
              </a:rPr>
              <a:t>迭代算法：从初始条件开始，利用递归定义一步步求得较大的函数值，这样的过程称为迭代。</a:t>
            </a:r>
            <a:endParaRPr lang="en-US" altLang="zh-CN" b="1" u="sng" noProof="1">
              <a:cs typeface="+mn-ea"/>
            </a:endParaRPr>
          </a:p>
          <a:p>
            <a:pPr eaLnBrk="1" hangingPunct="1">
              <a:defRPr/>
            </a:pPr>
            <a:r>
              <a:rPr lang="zh-CN" altLang="en-US" b="1" noProof="1">
                <a:cs typeface="+mn-ea"/>
              </a:rPr>
              <a:t>迭代算法要比递归过程计算减少很多计算量，因此效率更高。</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a:extLst>
              <a:ext uri="{FF2B5EF4-FFF2-40B4-BE49-F238E27FC236}">
                <a16:creationId xmlns:a16="http://schemas.microsoft.com/office/drawing/2014/main" id="{253A8A57-6274-4653-967A-B83A07EBE55A}"/>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fld id="{E16D5D59-A65A-4D64-A767-D8C581B8AE28}" type="slidenum">
              <a:rPr altLang="en-US" sz="1400" smtClean="0"/>
              <a:pPr>
                <a:spcBef>
                  <a:spcPct val="50000"/>
                </a:spcBef>
                <a:buFontTx/>
                <a:buNone/>
              </a:pPr>
              <a:t>53</a:t>
            </a:fld>
            <a:endParaRPr lang="zh-CN" altLang="en-US" sz="1400"/>
          </a:p>
        </p:txBody>
      </p:sp>
      <p:sp>
        <p:nvSpPr>
          <p:cNvPr id="31747" name="Rectangle 5">
            <a:extLst>
              <a:ext uri="{FF2B5EF4-FFF2-40B4-BE49-F238E27FC236}">
                <a16:creationId xmlns:a16="http://schemas.microsoft.com/office/drawing/2014/main" id="{75D1D660-3742-416F-B3E9-DFEB73DB1D2D}"/>
              </a:ext>
            </a:extLst>
          </p:cNvPr>
          <p:cNvSpPr>
            <a:spLocks noGrp="1" noChangeArrowheads="1"/>
          </p:cNvSpPr>
          <p:nvPr>
            <p:ph type="title"/>
          </p:nvPr>
        </p:nvSpPr>
        <p:spPr/>
        <p:txBody>
          <a:bodyPr/>
          <a:lstStyle/>
          <a:p>
            <a:pPr eaLnBrk="1" hangingPunct="1"/>
            <a:r>
              <a:rPr lang="zh-CN" altLang="en-US" sz="3600" b="1" dirty="0"/>
              <a:t>穷举算法思路</a:t>
            </a:r>
            <a:r>
              <a:rPr lang="en-US" altLang="zh-CN" sz="3600" b="1" dirty="0"/>
              <a:t>:</a:t>
            </a:r>
            <a:r>
              <a:rPr lang="zh-CN" altLang="en-US" sz="3600" b="1" dirty="0"/>
              <a:t>暴力搜索</a:t>
            </a:r>
          </a:p>
        </p:txBody>
      </p:sp>
      <p:sp>
        <p:nvSpPr>
          <p:cNvPr id="31748" name="Rectangle 3">
            <a:extLst>
              <a:ext uri="{FF2B5EF4-FFF2-40B4-BE49-F238E27FC236}">
                <a16:creationId xmlns:a16="http://schemas.microsoft.com/office/drawing/2014/main" id="{2FC14C13-996A-4E42-BD8C-366DCA5FAC1C}"/>
              </a:ext>
            </a:extLst>
          </p:cNvPr>
          <p:cNvSpPr>
            <a:spLocks noGrp="1" noChangeArrowheads="1"/>
          </p:cNvSpPr>
          <p:nvPr>
            <p:ph type="body" sz="half" idx="1"/>
          </p:nvPr>
        </p:nvSpPr>
        <p:spPr>
          <a:xfrm>
            <a:off x="685800" y="1319213"/>
            <a:ext cx="7918450" cy="4611687"/>
          </a:xfrm>
        </p:spPr>
        <p:txBody>
          <a:bodyPr/>
          <a:lstStyle/>
          <a:p>
            <a:pPr eaLnBrk="1" hangingPunct="1"/>
            <a:r>
              <a:rPr lang="zh-CN" altLang="en-US" b="1" dirty="0"/>
              <a:t>穷举法解题</a:t>
            </a:r>
          </a:p>
          <a:p>
            <a:pPr eaLnBrk="1" hangingPunct="1">
              <a:buFontTx/>
              <a:buNone/>
            </a:pPr>
            <a:r>
              <a:rPr lang="zh-CN" altLang="en-US" b="1" dirty="0"/>
              <a:t>    解题思路：对可能是解的众多</a:t>
            </a:r>
            <a:r>
              <a:rPr lang="zh-CN" altLang="en-US" b="1" i="1" dirty="0"/>
              <a:t>候选解</a:t>
            </a:r>
            <a:r>
              <a:rPr lang="zh-CN" altLang="en-US" b="1" dirty="0"/>
              <a:t>按某种顺序进行</a:t>
            </a:r>
            <a:r>
              <a:rPr lang="zh-CN" altLang="en-US" b="1" u="sng" dirty="0"/>
              <a:t>逐一枚举</a:t>
            </a:r>
            <a:r>
              <a:rPr lang="zh-CN" altLang="en-US" b="1" dirty="0"/>
              <a:t>和检验，从中找出那些符合要求的候选解作为问题的解。</a:t>
            </a:r>
            <a:endParaRPr lang="zh-CN" altLang="en-US" sz="2400" b="1" dirty="0"/>
          </a:p>
          <a:p>
            <a:pPr eaLnBrk="1" hangingPunct="1"/>
            <a:r>
              <a:rPr lang="zh-CN" altLang="en-US" b="1" dirty="0"/>
              <a:t>如：密码箱忘记密码怎么办？</a:t>
            </a:r>
            <a:endParaRPr lang="en-US" altLang="zh-CN" b="1" dirty="0"/>
          </a:p>
          <a:p>
            <a:pPr eaLnBrk="1" hangingPunct="1"/>
            <a:r>
              <a:rPr lang="zh-CN" altLang="en-US" b="1" dirty="0"/>
              <a:t>算法的核心：</a:t>
            </a:r>
            <a:endParaRPr lang="en-US" altLang="zh-CN" b="1" dirty="0"/>
          </a:p>
          <a:p>
            <a:pPr lvl="1" eaLnBrk="1" hangingPunct="1"/>
            <a:r>
              <a:rPr lang="zh-CN" altLang="en-US" b="1" dirty="0"/>
              <a:t>描述所有候选解的集合，即“解空间”；</a:t>
            </a:r>
            <a:endParaRPr lang="en-US" altLang="zh-CN" b="1"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4"/>
          <p:cNvSpPr txBox="1">
            <a:spLocks noGrp="1"/>
          </p:cNvSpPr>
          <p:nvPr>
            <p:ph type="sldNum" sz="quarter" idx="11"/>
          </p:nvPr>
        </p:nvSpPr>
        <p:spPr/>
        <p:txBody>
          <a:bodyPr wrap="square" lIns="68580" tIns="34290" rIns="68580" bIns="34290" anchor="t"/>
          <a:lstStyle/>
          <a:p>
            <a:pPr algn="r" eaLnBrk="1" hangingPunct="1">
              <a:spcBef>
                <a:spcPct val="50000"/>
              </a:spcBef>
            </a:pPr>
            <a:fld id="{9A0DB2DC-4C9A-4742-B13C-FB6460FD3503}" type="slidenum">
              <a:rPr lang="zh-CN" altLang="en-US" sz="1050" dirty="0"/>
              <a:t>54</a:t>
            </a:fld>
            <a:endParaRPr lang="zh-CN" altLang="en-US" sz="1050" dirty="0"/>
          </a:p>
        </p:txBody>
      </p:sp>
      <p:sp>
        <p:nvSpPr>
          <p:cNvPr id="71682" name="Rectangle 2"/>
          <p:cNvSpPr>
            <a:spLocks noGrp="1"/>
          </p:cNvSpPr>
          <p:nvPr>
            <p:ph type="title"/>
          </p:nvPr>
        </p:nvSpPr>
        <p:spPr/>
        <p:txBody>
          <a:bodyPr vert="horz" wrap="square" lIns="68580" tIns="34290" rIns="68580" bIns="34290" numCol="1" anchor="ctr" anchorCtr="0" compatLnSpc="1">
            <a:prstTxWarp prst="textNoShape">
              <a:avLst/>
            </a:prstTxWarp>
          </a:bodyPr>
          <a:lstStyle/>
          <a:p>
            <a:pPr eaLnBrk="1" hangingPunct="1"/>
            <a:r>
              <a:rPr lang="zh-CN" altLang="en-US" b="1" dirty="0"/>
              <a:t>伪代码表示的算法结构</a:t>
            </a:r>
          </a:p>
        </p:txBody>
      </p:sp>
      <p:sp>
        <p:nvSpPr>
          <p:cNvPr id="9229" name="Text Box 25"/>
          <p:cNvSpPr txBox="1"/>
          <p:nvPr/>
        </p:nvSpPr>
        <p:spPr>
          <a:xfrm>
            <a:off x="1793081" y="3121819"/>
            <a:ext cx="4924425" cy="369332"/>
          </a:xfrm>
          <a:prstGeom prst="rect">
            <a:avLst/>
          </a:prstGeom>
          <a:noFill/>
          <a:ln w="9525">
            <a:noFill/>
          </a:ln>
        </p:spPr>
        <p:txBody>
          <a:bodyPr wrap="square">
            <a:spAutoFit/>
          </a:bodyPr>
          <a:lstStyle/>
          <a:p>
            <a:pPr marL="257175" indent="-257175" algn="ctr">
              <a:spcBef>
                <a:spcPct val="50000"/>
              </a:spcBef>
            </a:pPr>
            <a:r>
              <a:rPr lang="zh-CN" altLang="en-US" b="1" dirty="0">
                <a:solidFill>
                  <a:schemeClr val="bg1"/>
                </a:solidFill>
                <a:latin typeface="Times New Roman" pitchFamily="18" charset="0"/>
                <a:ea typeface="宋体" charset="-122"/>
              </a:rPr>
              <a:t>结构化程序设计方法 基本思想</a:t>
            </a:r>
            <a:endParaRPr lang="en-US" altLang="x-none" b="1" dirty="0">
              <a:solidFill>
                <a:schemeClr val="bg1"/>
              </a:solidFill>
              <a:latin typeface="Times New Roman" pitchFamily="18" charset="0"/>
              <a:ea typeface="宋体" charset="-122"/>
            </a:endParaRPr>
          </a:p>
        </p:txBody>
      </p:sp>
      <p:sp>
        <p:nvSpPr>
          <p:cNvPr id="35842" name="Rectangle 3"/>
          <p:cNvSpPr>
            <a:spLocks noGrp="1"/>
          </p:cNvSpPr>
          <p:nvPr>
            <p:ph idx="1"/>
          </p:nvPr>
        </p:nvSpPr>
        <p:spPr>
          <a:xfrm>
            <a:off x="395536" y="1317308"/>
            <a:ext cx="8556308" cy="4992012"/>
          </a:xfrm>
        </p:spPr>
        <p:txBody>
          <a:bodyPr vert="horz" wrap="square" lIns="68580" tIns="34290" rIns="68580" bIns="34290" numCol="1" anchor="t" anchorCtr="0" compatLnSpc="1">
            <a:prstTxWarp prst="textNoShape">
              <a:avLst/>
            </a:prstTxWarp>
          </a:bodyPr>
          <a:lstStyle/>
          <a:p>
            <a:pPr marL="400050" indent="-400050" eaLnBrk="1" hangingPunct="1">
              <a:buNone/>
            </a:pPr>
            <a:r>
              <a:rPr lang="zh-CN" altLang="en-US" sz="2400" b="1" dirty="0"/>
              <a:t>伪代码是介于过程步骤的自然语言算法描述，和用实际编程语言描述过程之间的中间体。伪代码的基本结构类似于编程语言的控制结构，但比编程语言规范更自由，允许自然语言的步骤描述。</a:t>
            </a: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endParaRPr lang="en-US" altLang="zh-CN" sz="2400" b="1" dirty="0"/>
          </a:p>
          <a:p>
            <a:pPr marL="400050" indent="-400050" eaLnBrk="1" hangingPunct="1">
              <a:buNone/>
            </a:pPr>
            <a:r>
              <a:rPr lang="zh-CN" altLang="en-US" sz="2400" b="1" dirty="0"/>
              <a:t>大括号</a:t>
            </a:r>
            <a:r>
              <a:rPr lang="en-US" altLang="zh-CN" sz="2400" b="1" dirty="0"/>
              <a:t>{}</a:t>
            </a:r>
            <a:r>
              <a:rPr lang="zh-CN" altLang="en-US" sz="2400" b="1" dirty="0"/>
              <a:t>在伪代码中表示注释，而用缩进表示嵌套的关系。</a:t>
            </a:r>
            <a:endParaRPr lang="en-US" altLang="zh-CN" sz="2400" b="1" dirty="0"/>
          </a:p>
          <a:p>
            <a:pPr lvl="1" indent="-400050" eaLnBrk="1" hangingPunct="1">
              <a:buClr>
                <a:srgbClr val="FF3300"/>
              </a:buClr>
            </a:pPr>
            <a:endParaRPr lang="en-US" altLang="zh-CN" b="1" dirty="0">
              <a:latin typeface="Arial" pitchFamily="34" charset="0"/>
            </a:endParaRPr>
          </a:p>
        </p:txBody>
      </p:sp>
      <p:sp>
        <p:nvSpPr>
          <p:cNvPr id="13" name="Content Placeholder 2">
            <a:extLst>
              <a:ext uri="{FF2B5EF4-FFF2-40B4-BE49-F238E27FC236}">
                <a16:creationId xmlns:a16="http://schemas.microsoft.com/office/drawing/2014/main" id="{5073AFA6-F5B6-4C4E-B390-F66F04FCE4A4}"/>
              </a:ext>
            </a:extLst>
          </p:cNvPr>
          <p:cNvSpPr txBox="1"/>
          <p:nvPr/>
        </p:nvSpPr>
        <p:spPr>
          <a:xfrm>
            <a:off x="981100" y="2996952"/>
            <a:ext cx="7263308" cy="2448272"/>
          </a:xfrm>
          <a:prstGeom prst="rect">
            <a:avLst/>
          </a:prstGeom>
          <a:ln>
            <a:solidFill>
              <a:schemeClr val="tx2"/>
            </a:solidFill>
          </a:ln>
        </p:spPr>
        <p:txBody>
          <a:bodyPr vert="horz">
            <a:normAutofit fontScale="92500" lnSpcReduction="10000"/>
          </a:bodyPr>
          <a:lstStyle/>
          <a:p>
            <a:pPr marL="274320" marR="0" lvl="0" indent="-274320" algn="l" defTabSz="914400" rtl="0" eaLnBrk="1" fontAlgn="auto" latinLnBrk="0" hangingPunct="1">
              <a:lnSpc>
                <a:spcPct val="100000"/>
              </a:lnSpc>
              <a:spcBef>
                <a:spcPts val="0"/>
              </a:spcBef>
              <a:spcAft>
                <a:spcPts val="0"/>
              </a:spcAft>
              <a:buClr>
                <a:schemeClr val="accent3"/>
              </a:buClr>
              <a:buSzPct val="95000"/>
              <a:buFont typeface="Wingdings 2" panose="05020102010507070707"/>
              <a:buNone/>
              <a:defRPr/>
            </a:pPr>
            <a:r>
              <a:rPr lang="en-US" sz="2600" b="1" dirty="0"/>
              <a:t>procedure</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n</a:t>
            </a:r>
            <a:r>
              <a:rPr kumimoji="0" lang="en-US" sz="2600" b="0" i="0" u="none" strike="noStrike" kern="1200" cap="none" spc="0" normalizeH="0" baseline="0" noProof="0" dirty="0">
                <a:ln>
                  <a:noFill/>
                </a:ln>
                <a:solidFill>
                  <a:schemeClr val="tx1"/>
                </a:solidFill>
                <a:effectLst/>
                <a:uLnTx/>
                <a:uFillTx/>
                <a:latin typeface="+mn-lt"/>
                <a:ea typeface="+mn-ea"/>
                <a:cs typeface="+mn-cs"/>
              </a:rPr>
              <a:t>: integers)</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a:ln>
                  <a:noFill/>
                </a:ln>
                <a:solidFill>
                  <a:schemeClr val="tx1"/>
                </a:solidFill>
                <a:effectLst/>
                <a:uLnTx/>
                <a:uFillTx/>
                <a:latin typeface="+mn-lt"/>
                <a:ea typeface="+mn-ea"/>
                <a:cs typeface="+mn-cs"/>
              </a:rPr>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a:ln>
                  <a:noFill/>
                </a:ln>
                <a:solidFill>
                  <a:schemeClr val="tx1"/>
                </a:solidFill>
                <a:effectLst/>
                <a:uLnTx/>
                <a:uFillTx/>
                <a:latin typeface="+mn-lt"/>
                <a:ea typeface="+mn-ea"/>
                <a:cs typeface="+mn-cs"/>
              </a:rPr>
              <a:t>a</a:t>
            </a:r>
            <a:r>
              <a:rPr kumimoji="0" lang="en-US" sz="2600" b="0" i="0" u="none" strike="noStrike" kern="1200" cap="none" spc="0" normalizeH="0" baseline="-25000" noProof="0" dirty="0">
                <a:ln>
                  <a:noFill/>
                </a:ln>
                <a:solidFill>
                  <a:schemeClr val="tx1"/>
                </a:solidFill>
                <a:effectLst/>
                <a:uLnTx/>
                <a:uFillTx/>
                <a:latin typeface="+mn-lt"/>
                <a:ea typeface="+mn-ea"/>
                <a:cs typeface="+mn-cs"/>
              </a:rPr>
              <a:t>1</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1" i="0" u="none" strike="noStrike" kern="1200" cap="none" spc="0" normalizeH="0" baseline="0" noProof="0" dirty="0">
                <a:ln>
                  <a:noFill/>
                </a:ln>
                <a:solidFill>
                  <a:schemeClr val="tx1"/>
                </a:solidFill>
                <a:effectLst/>
                <a:uLnTx/>
                <a:uFillTx/>
                <a:latin typeface="+mn-lt"/>
                <a:ea typeface="+mn-ea"/>
                <a:cs typeface="+mn-cs"/>
              </a:rPr>
              <a:t>for</a:t>
            </a:r>
            <a:r>
              <a:rPr kumimoji="0" lang="en-US" sz="2600" b="0" i="0" u="none" strike="noStrike" kern="1200" cap="none" spc="0" normalizeH="0" baseline="0" noProof="0" dirty="0">
                <a:ln>
                  <a:noFill/>
                </a:ln>
                <a:solidFill>
                  <a:schemeClr val="tx1"/>
                </a:solidFill>
                <a:effectLst/>
                <a:uLnTx/>
                <a:uFillTx/>
                <a:latin typeface="+mn-lt"/>
                <a:ea typeface="+mn-ea"/>
                <a:cs typeface="+mn-cs"/>
              </a:rPr>
              <a:t> </a:t>
            </a:r>
            <a:r>
              <a:rPr kumimoji="0" lang="en-US" sz="2600" b="0" i="1" u="none" strike="noStrike" kern="1200" cap="none" spc="0" normalizeH="0" baseline="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0" u="none" strike="noStrike" kern="1200" cap="none" spc="0" normalizeH="0" baseline="0" noProof="0" dirty="0">
                <a:ln>
                  <a:noFill/>
                </a:ln>
                <a:solidFill>
                  <a:schemeClr val="tx1"/>
                </a:solidFill>
                <a:effectLst/>
                <a:uLnTx/>
                <a:uFillTx/>
                <a:latin typeface="Cambria Math" panose="02040503050406030204" pitchFamily="18" charset="0"/>
                <a:ea typeface="Cambria Math" panose="02040503050406030204" pitchFamily="18" charset="0"/>
              </a:rPr>
              <a:t>2</a:t>
            </a:r>
            <a:r>
              <a:rPr kumimoji="0" lang="en-US" sz="2600" b="0" i="0" u="none" strike="noStrike" kern="1200" cap="none" spc="0" normalizeH="0" baseline="0" noProof="0" dirty="0">
                <a:ln>
                  <a:noFill/>
                </a:ln>
                <a:solidFill>
                  <a:schemeClr val="tx1"/>
                </a:solidFill>
                <a:effectLst/>
                <a:uLnTx/>
                <a:uFillTx/>
                <a:latin typeface="+mn-lt"/>
                <a:ea typeface="+mn-ea"/>
                <a:cs typeface="+mn-cs"/>
              </a:rPr>
              <a:t> to </a:t>
            </a:r>
            <a:r>
              <a:rPr kumimoji="0" lang="en-US" sz="2600" b="0" i="1" u="none" strike="noStrike" kern="1200" cap="none" spc="0" normalizeH="0" baseline="0" noProof="0" dirty="0">
                <a:ln>
                  <a:noFill/>
                </a:ln>
                <a:solidFill>
                  <a:schemeClr val="tx1"/>
                </a:solidFill>
                <a:effectLst/>
                <a:uLnTx/>
                <a:uFillTx/>
                <a:latin typeface="+mn-lt"/>
                <a:ea typeface="+mn-ea"/>
                <a:cs typeface="+mn-cs"/>
              </a:rPr>
              <a:t>n</a:t>
            </a: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if</a:t>
            </a:r>
            <a:r>
              <a:rPr kumimoji="0" lang="en-US" sz="2600" b="0" i="0" u="none" strike="noStrike" kern="1200" cap="none" spc="0" normalizeH="0" noProof="0" dirty="0">
                <a:ln>
                  <a:noFill/>
                </a:ln>
                <a:solidFill>
                  <a:schemeClr val="tx1"/>
                </a:solidFill>
                <a:effectLst/>
                <a:uLnTx/>
                <a:uFillTx/>
                <a:latin typeface="+mn-lt"/>
                <a:ea typeface="+mn-ea"/>
                <a:cs typeface="+mn-cs"/>
              </a:rPr>
              <a:t>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&lt;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r>
              <a:rPr kumimoji="0" lang="en-US" sz="2600" b="0" i="0" u="none" strike="noStrike" kern="1200" cap="none" spc="0" normalizeH="0" baseline="0" noProof="0" dirty="0">
                <a:ln>
                  <a:noFill/>
                </a:ln>
                <a:solidFill>
                  <a:schemeClr val="tx1"/>
                </a:solidFill>
                <a:effectLst/>
                <a:uLnTx/>
                <a:uFillTx/>
                <a:latin typeface="+mn-lt"/>
                <a:ea typeface="+mn-ea"/>
                <a:cs typeface="+mn-cs"/>
              </a:rPr>
              <a:t> then </a:t>
            </a:r>
            <a:r>
              <a:rPr lang="en-US" sz="2600" i="1" dirty="0"/>
              <a:t>max</a:t>
            </a:r>
            <a:r>
              <a:rPr kumimoji="0" lang="en-US" sz="2600" b="0" i="0" u="none" strike="noStrike" kern="1200" cap="none" spc="0" normalizeH="0" baseline="0" noProof="0" dirty="0">
                <a:ln>
                  <a:noFill/>
                </a:ln>
                <a:solidFill>
                  <a:schemeClr val="tx1"/>
                </a:solidFill>
                <a:effectLst/>
                <a:uLnTx/>
                <a:uFillTx/>
                <a:latin typeface="+mn-lt"/>
                <a:ea typeface="+mn-ea"/>
                <a:cs typeface="+mn-cs"/>
              </a:rPr>
              <a:t> := </a:t>
            </a:r>
            <a:r>
              <a:rPr kumimoji="0" lang="en-US" sz="2600" b="0" i="1" u="none" strike="noStrike" kern="1200" cap="none" spc="0" normalizeH="0" baseline="0" noProof="0" dirty="0" err="1">
                <a:ln>
                  <a:noFill/>
                </a:ln>
                <a:solidFill>
                  <a:schemeClr val="tx1"/>
                </a:solidFill>
                <a:effectLst/>
                <a:uLnTx/>
                <a:uFillTx/>
                <a:latin typeface="+mn-lt"/>
                <a:ea typeface="+mn-ea"/>
                <a:cs typeface="+mn-cs"/>
              </a:rPr>
              <a:t>a</a:t>
            </a:r>
            <a:r>
              <a:rPr kumimoji="0" lang="en-US" sz="2600" b="0" i="1" u="none" strike="noStrike" kern="1200" cap="none" spc="0" normalizeH="0" baseline="-25000" noProof="0" dirty="0" err="1">
                <a:ln>
                  <a:noFill/>
                </a:ln>
                <a:solidFill>
                  <a:schemeClr val="tx1"/>
                </a:solidFill>
                <a:effectLst/>
                <a:uLnTx/>
                <a:uFillTx/>
                <a:latin typeface="+mn-lt"/>
                <a:ea typeface="+mn-ea"/>
                <a:cs typeface="+mn-cs"/>
              </a:rPr>
              <a:t>i</a:t>
            </a:r>
            <a:endParaRPr kumimoji="0" lang="en-US" sz="2600" b="0" i="1" u="none" strike="noStrike" kern="1200" cap="none" spc="0" normalizeH="0" baseline="-25000" noProof="0" dirty="0">
              <a:ln>
                <a:noFill/>
              </a:ln>
              <a:solidFill>
                <a:schemeClr val="tx1"/>
              </a:solidFill>
              <a:effectLst/>
              <a:uLnTx/>
              <a:uFillTx/>
              <a:latin typeface="+mn-lt"/>
              <a:ea typeface="+mn-ea"/>
              <a:cs typeface="+mn-cs"/>
            </a:endParaRPr>
          </a:p>
          <a:p>
            <a:pPr marL="274320" lvl="0" indent="-274320">
              <a:spcBef>
                <a:spcPct val="20000"/>
              </a:spcBef>
              <a:buClr>
                <a:schemeClr val="accent3"/>
              </a:buClr>
              <a:buSzPct val="95000"/>
            </a:pPr>
            <a:r>
              <a:rPr kumimoji="0" lang="en-US" sz="2600" b="0" i="0" u="none" strike="noStrike" kern="1200" cap="none" spc="0" normalizeH="0" baseline="0" noProof="0" dirty="0">
                <a:ln>
                  <a:noFill/>
                </a:ln>
                <a:solidFill>
                  <a:schemeClr val="tx1"/>
                </a:solidFill>
                <a:effectLst/>
                <a:uLnTx/>
                <a:uFillTx/>
                <a:latin typeface="+mn-lt"/>
                <a:ea typeface="+mn-ea"/>
                <a:cs typeface="+mn-cs"/>
              </a:rPr>
              <a:t>    return </a:t>
            </a:r>
            <a:r>
              <a:rPr lang="en-US" sz="2600" i="1" dirty="0"/>
              <a:t>max</a:t>
            </a:r>
            <a:r>
              <a:rPr lang="en-US" sz="2600" dirty="0"/>
              <a:t>{</a:t>
            </a:r>
            <a:r>
              <a:rPr lang="en-US" sz="2600" i="1" dirty="0"/>
              <a:t>max </a:t>
            </a:r>
            <a:r>
              <a:rPr lang="en-US" sz="2600" dirty="0"/>
              <a:t>is the largest element}</a:t>
            </a:r>
            <a:endParaRPr kumimoji="0" lang="en-US" sz="2600" b="0" i="0" u="none" strike="noStrike" kern="1200" cap="none" spc="0" normalizeH="0" baseline="0" noProof="0" dirty="0">
              <a:ln>
                <a:noFill/>
              </a:ln>
              <a:solidFill>
                <a:schemeClr val="tx1"/>
              </a:solidFill>
              <a:effectLst/>
              <a:uLnTx/>
              <a:uFillTx/>
              <a:latin typeface="+mn-lt"/>
              <a:ea typeface="+mn-ea"/>
              <a:cs typeface="+mn-cs"/>
            </a:endParaRP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r>
              <a:rPr kumimoji="0" lang="en-US" sz="2600" b="0" i="0" u="none" strike="noStrike" kern="1200" cap="none" spc="0" normalizeH="0" baseline="0" noProof="0" dirty="0">
                <a:ln>
                  <a:noFill/>
                </a:ln>
                <a:solidFill>
                  <a:schemeClr val="tx1"/>
                </a:solidFill>
                <a:effectLst/>
                <a:uLnTx/>
                <a:uFillTx/>
                <a:latin typeface="+mn-lt"/>
                <a:ea typeface="+mn-ea"/>
                <a:cs typeface="+mn-cs"/>
              </a:rPr>
              <a:t>    </a:t>
            </a:r>
          </a:p>
          <a:p>
            <a:pPr marL="274320" marR="0" lvl="0" indent="-274320" algn="l" defTabSz="914400" rtl="0" eaLnBrk="1" fontAlgn="auto" latinLnBrk="0" hangingPunct="1">
              <a:lnSpc>
                <a:spcPct val="100000"/>
              </a:lnSpc>
              <a:spcBef>
                <a:spcPct val="20000"/>
              </a:spcBef>
              <a:spcAft>
                <a:spcPts val="0"/>
              </a:spcAft>
              <a:buClr>
                <a:schemeClr val="accent3"/>
              </a:buClr>
              <a:buSzPct val="95000"/>
              <a:buFont typeface="Wingdings 2" panose="05020102010507070707"/>
              <a:buNone/>
              <a:defRPr/>
            </a:pPr>
            <a:endParaRPr kumimoji="0" lang="en-US" sz="2600" b="0" i="0" u="none" strike="noStrike" kern="120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66042876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1" presetClass="entr" presetSubtype="0" fill="hold" grpId="0" nodeType="clickEffect">
                                  <p:stCondLst>
                                    <p:cond delay="0"/>
                                  </p:stCondLst>
                                  <p:childTnLst>
                                    <p:set>
                                      <p:cBhvr>
                                        <p:cTn id="6" dur="1" fill="hold">
                                          <p:stCondLst>
                                            <p:cond delay="0"/>
                                          </p:stCondLst>
                                        </p:cTn>
                                        <p:tgtEl>
                                          <p:spTgt spid="35842">
                                            <p:txEl>
                                              <p:pRg st="0" end="0"/>
                                            </p:txEl>
                                          </p:spTgt>
                                        </p:tgtEl>
                                        <p:attrNameLst>
                                          <p:attrName>style.visibility</p:attrName>
                                        </p:attrNameLst>
                                      </p:cBhvr>
                                      <p:to>
                                        <p:strVal val="visible"/>
                                      </p:to>
                                    </p:set>
                                    <p:animEffect transition="in" filter="fade">
                                      <p:cBhvr>
                                        <p:cTn id="7" dur="770" decel="100000"/>
                                        <p:tgtEl>
                                          <p:spTgt spid="35842">
                                            <p:txEl>
                                              <p:pRg st="0" end="0"/>
                                            </p:txEl>
                                          </p:spTgt>
                                        </p:tgtEl>
                                      </p:cBhvr>
                                    </p:animEffect>
                                    <p:animScale>
                                      <p:cBhvr>
                                        <p:cTn id="8" dur="770" decel="100000"/>
                                        <p:tgtEl>
                                          <p:spTgt spid="35842">
                                            <p:txEl>
                                              <p:pRg st="0" end="0"/>
                                            </p:txEl>
                                          </p:spTgt>
                                        </p:tgtEl>
                                      </p:cBhvr>
                                      <p:from x="10000" y="10000"/>
                                      <p:to x="200000" y="450000"/>
                                    </p:animScale>
                                    <p:animScale>
                                      <p:cBhvr>
                                        <p:cTn id="9" dur="1230" accel="100000" fill="hold">
                                          <p:stCondLst>
                                            <p:cond delay="770"/>
                                          </p:stCondLst>
                                        </p:cTn>
                                        <p:tgtEl>
                                          <p:spTgt spid="35842">
                                            <p:txEl>
                                              <p:pRg st="0" end="0"/>
                                            </p:txEl>
                                          </p:spTgt>
                                        </p:tgtEl>
                                      </p:cBhvr>
                                      <p:from x="200000" y="450000"/>
                                      <p:to x="100000" y="100000"/>
                                    </p:animScale>
                                    <p:set>
                                      <p:cBhvr>
                                        <p:cTn id="10" dur="770" fill="hold"/>
                                        <p:tgtEl>
                                          <p:spTgt spid="35842">
                                            <p:txEl>
                                              <p:pRg st="0" end="0"/>
                                            </p:txEl>
                                          </p:spTgt>
                                        </p:tgtEl>
                                        <p:attrNameLst>
                                          <p:attrName>ppt_x</p:attrName>
                                        </p:attrNameLst>
                                      </p:cBhvr>
                                      <p:to>
                                        <p:strVal val="(0.5)"/>
                                      </p:to>
                                    </p:set>
                                    <p:anim from="(0.5)" to="(#ppt_x)" calcmode="lin" valueType="num">
                                      <p:cBhvr>
                                        <p:cTn id="11" dur="1230" accel="100000" fill="hold">
                                          <p:stCondLst>
                                            <p:cond delay="770"/>
                                          </p:stCondLst>
                                        </p:cTn>
                                        <p:tgtEl>
                                          <p:spTgt spid="35842">
                                            <p:txEl>
                                              <p:pRg st="0" end="0"/>
                                            </p:txEl>
                                          </p:spTgt>
                                        </p:tgtEl>
                                        <p:attrNameLst>
                                          <p:attrName>ppt_x</p:attrName>
                                        </p:attrNameLst>
                                      </p:cBhvr>
                                    </p:anim>
                                    <p:set>
                                      <p:cBhvr>
                                        <p:cTn id="12" dur="770" fill="hold"/>
                                        <p:tgtEl>
                                          <p:spTgt spid="35842">
                                            <p:txEl>
                                              <p:pRg st="0" end="0"/>
                                            </p:txEl>
                                          </p:spTgt>
                                        </p:tgtEl>
                                        <p:attrNameLst>
                                          <p:attrName>ppt_y</p:attrName>
                                        </p:attrNameLst>
                                      </p:cBhvr>
                                      <p:to>
                                        <p:strVal val="(#ppt_y+0.4)"/>
                                      </p:to>
                                    </p:set>
                                    <p:anim from="(#ppt_y+0.4)" to="(#ppt_y)" calcmode="lin" valueType="num">
                                      <p:cBhvr>
                                        <p:cTn id="13" dur="1230" accel="100000" fill="hold">
                                          <p:stCondLst>
                                            <p:cond delay="770"/>
                                          </p:stCondLst>
                                        </p:cTn>
                                        <p:tgtEl>
                                          <p:spTgt spid="35842">
                                            <p:txEl>
                                              <p:pRg st="0" end="0"/>
                                            </p:txEl>
                                          </p:spTgt>
                                        </p:tgtEl>
                                        <p:attrNameLst>
                                          <p:attrName>ppt_y</p:attrName>
                                        </p:attrNameLst>
                                      </p:cBhvr>
                                    </p:anim>
                                  </p:childTnLst>
                                </p:cTn>
                              </p:par>
                            </p:childTnLst>
                          </p:cTn>
                        </p:par>
                      </p:childTnLst>
                    </p:cTn>
                  </p:par>
                  <p:par>
                    <p:cTn id="14" fill="hold">
                      <p:stCondLst>
                        <p:cond delay="indefinite"/>
                      </p:stCondLst>
                      <p:childTnLst>
                        <p:par>
                          <p:cTn id="15" fill="hold">
                            <p:stCondLst>
                              <p:cond delay="0"/>
                            </p:stCondLst>
                            <p:childTnLst>
                              <p:par>
                                <p:cTn id="16" presetID="51" presetClass="entr" presetSubtype="0" fill="hold" grpId="0" nodeType="clickEffect">
                                  <p:stCondLst>
                                    <p:cond delay="0"/>
                                  </p:stCondLst>
                                  <p:childTnLst>
                                    <p:set>
                                      <p:cBhvr>
                                        <p:cTn id="17" dur="1" fill="hold">
                                          <p:stCondLst>
                                            <p:cond delay="0"/>
                                          </p:stCondLst>
                                        </p:cTn>
                                        <p:tgtEl>
                                          <p:spTgt spid="35842">
                                            <p:txEl>
                                              <p:pRg st="7" end="7"/>
                                            </p:txEl>
                                          </p:spTgt>
                                        </p:tgtEl>
                                        <p:attrNameLst>
                                          <p:attrName>style.visibility</p:attrName>
                                        </p:attrNameLst>
                                      </p:cBhvr>
                                      <p:to>
                                        <p:strVal val="visible"/>
                                      </p:to>
                                    </p:set>
                                    <p:animEffect transition="in" filter="fade">
                                      <p:cBhvr>
                                        <p:cTn id="18" dur="770" decel="100000"/>
                                        <p:tgtEl>
                                          <p:spTgt spid="35842">
                                            <p:txEl>
                                              <p:pRg st="7" end="7"/>
                                            </p:txEl>
                                          </p:spTgt>
                                        </p:tgtEl>
                                      </p:cBhvr>
                                    </p:animEffect>
                                    <p:animScale>
                                      <p:cBhvr>
                                        <p:cTn id="19" dur="770" decel="100000"/>
                                        <p:tgtEl>
                                          <p:spTgt spid="35842">
                                            <p:txEl>
                                              <p:pRg st="7" end="7"/>
                                            </p:txEl>
                                          </p:spTgt>
                                        </p:tgtEl>
                                      </p:cBhvr>
                                      <p:from x="10000" y="10000"/>
                                      <p:to x="200000" y="450000"/>
                                    </p:animScale>
                                    <p:animScale>
                                      <p:cBhvr>
                                        <p:cTn id="20" dur="1230" accel="100000" fill="hold">
                                          <p:stCondLst>
                                            <p:cond delay="770"/>
                                          </p:stCondLst>
                                        </p:cTn>
                                        <p:tgtEl>
                                          <p:spTgt spid="35842">
                                            <p:txEl>
                                              <p:pRg st="7" end="7"/>
                                            </p:txEl>
                                          </p:spTgt>
                                        </p:tgtEl>
                                      </p:cBhvr>
                                      <p:from x="200000" y="450000"/>
                                      <p:to x="100000" y="100000"/>
                                    </p:animScale>
                                    <p:set>
                                      <p:cBhvr>
                                        <p:cTn id="21" dur="770" fill="hold"/>
                                        <p:tgtEl>
                                          <p:spTgt spid="35842">
                                            <p:txEl>
                                              <p:pRg st="7" end="7"/>
                                            </p:txEl>
                                          </p:spTgt>
                                        </p:tgtEl>
                                        <p:attrNameLst>
                                          <p:attrName>ppt_x</p:attrName>
                                        </p:attrNameLst>
                                      </p:cBhvr>
                                      <p:to>
                                        <p:strVal val="(0.5)"/>
                                      </p:to>
                                    </p:set>
                                    <p:anim from="(0.5)" to="(#ppt_x)" calcmode="lin" valueType="num">
                                      <p:cBhvr>
                                        <p:cTn id="22" dur="1230" accel="100000" fill="hold">
                                          <p:stCondLst>
                                            <p:cond delay="770"/>
                                          </p:stCondLst>
                                        </p:cTn>
                                        <p:tgtEl>
                                          <p:spTgt spid="35842">
                                            <p:txEl>
                                              <p:pRg st="7" end="7"/>
                                            </p:txEl>
                                          </p:spTgt>
                                        </p:tgtEl>
                                        <p:attrNameLst>
                                          <p:attrName>ppt_x</p:attrName>
                                        </p:attrNameLst>
                                      </p:cBhvr>
                                    </p:anim>
                                    <p:set>
                                      <p:cBhvr>
                                        <p:cTn id="23" dur="770" fill="hold"/>
                                        <p:tgtEl>
                                          <p:spTgt spid="35842">
                                            <p:txEl>
                                              <p:pRg st="7" end="7"/>
                                            </p:txEl>
                                          </p:spTgt>
                                        </p:tgtEl>
                                        <p:attrNameLst>
                                          <p:attrName>ppt_y</p:attrName>
                                        </p:attrNameLst>
                                      </p:cBhvr>
                                      <p:to>
                                        <p:strVal val="(#ppt_y+0.4)"/>
                                      </p:to>
                                    </p:set>
                                    <p:anim from="(#ppt_y+0.4)" to="(#ppt_y)" calcmode="lin" valueType="num">
                                      <p:cBhvr>
                                        <p:cTn id="24" dur="1230" accel="100000" fill="hold">
                                          <p:stCondLst>
                                            <p:cond delay="770"/>
                                          </p:stCondLst>
                                        </p:cTn>
                                        <p:tgtEl>
                                          <p:spTgt spid="35842">
                                            <p:txEl>
                                              <p:pRg st="7" end="7"/>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4"/>
          <p:cNvSpPr txBox="1">
            <a:spLocks noGrp="1"/>
          </p:cNvSpPr>
          <p:nvPr>
            <p:ph type="sldNum" sz="quarter" idx="11"/>
          </p:nvPr>
        </p:nvSpPr>
        <p:spPr/>
        <p:txBody>
          <a:bodyPr wrap="square" lIns="68580" tIns="34290" rIns="68580" bIns="34290" anchor="t"/>
          <a:lstStyle/>
          <a:p>
            <a:pPr algn="r" eaLnBrk="1" hangingPunct="1">
              <a:spcBef>
                <a:spcPct val="50000"/>
              </a:spcBef>
            </a:pPr>
            <a:fld id="{9A0DB2DC-4C9A-4742-B13C-FB6460FD3503}" type="slidenum">
              <a:rPr lang="zh-CN" altLang="en-US" sz="1050" dirty="0"/>
              <a:t>55</a:t>
            </a:fld>
            <a:endParaRPr lang="zh-CN" altLang="en-US" sz="1050" dirty="0"/>
          </a:p>
        </p:txBody>
      </p:sp>
      <p:sp>
        <p:nvSpPr>
          <p:cNvPr id="71682" name="Rectangle 2"/>
          <p:cNvSpPr>
            <a:spLocks noGrp="1"/>
          </p:cNvSpPr>
          <p:nvPr>
            <p:ph type="title"/>
          </p:nvPr>
        </p:nvSpPr>
        <p:spPr/>
        <p:txBody>
          <a:bodyPr vert="horz" wrap="square" lIns="68580" tIns="34290" rIns="68580" bIns="34290" numCol="1" anchor="ctr" anchorCtr="0" compatLnSpc="1">
            <a:prstTxWarp prst="textNoShape">
              <a:avLst/>
            </a:prstTxWarp>
          </a:bodyPr>
          <a:lstStyle/>
          <a:p>
            <a:pPr eaLnBrk="1" hangingPunct="1"/>
            <a:r>
              <a:rPr lang="zh-CN" altLang="en-US" b="1" dirty="0"/>
              <a:t>伪代码的语句</a:t>
            </a:r>
          </a:p>
        </p:txBody>
      </p:sp>
      <p:sp>
        <p:nvSpPr>
          <p:cNvPr id="9229" name="Text Box 25"/>
          <p:cNvSpPr txBox="1"/>
          <p:nvPr/>
        </p:nvSpPr>
        <p:spPr>
          <a:xfrm>
            <a:off x="1793081" y="3121819"/>
            <a:ext cx="4924425" cy="369332"/>
          </a:xfrm>
          <a:prstGeom prst="rect">
            <a:avLst/>
          </a:prstGeom>
          <a:noFill/>
          <a:ln w="9525">
            <a:noFill/>
          </a:ln>
        </p:spPr>
        <p:txBody>
          <a:bodyPr wrap="square">
            <a:spAutoFit/>
          </a:bodyPr>
          <a:lstStyle/>
          <a:p>
            <a:pPr marL="257175" indent="-257175" algn="ctr">
              <a:spcBef>
                <a:spcPct val="50000"/>
              </a:spcBef>
            </a:pPr>
            <a:r>
              <a:rPr lang="zh-CN" altLang="en-US" b="1" dirty="0">
                <a:solidFill>
                  <a:schemeClr val="bg1"/>
                </a:solidFill>
                <a:latin typeface="Times New Roman" pitchFamily="18" charset="0"/>
                <a:ea typeface="宋体" charset="-122"/>
              </a:rPr>
              <a:t>结构化程序设计方法 基本思想</a:t>
            </a:r>
            <a:endParaRPr lang="en-US" altLang="x-none" b="1" dirty="0">
              <a:solidFill>
                <a:schemeClr val="bg1"/>
              </a:solidFill>
              <a:latin typeface="Times New Roman" pitchFamily="18" charset="0"/>
              <a:ea typeface="宋体" charset="-122"/>
            </a:endParaRPr>
          </a:p>
        </p:txBody>
      </p:sp>
      <p:sp>
        <p:nvSpPr>
          <p:cNvPr id="2" name="内容占位符 1">
            <a:extLst>
              <a:ext uri="{FF2B5EF4-FFF2-40B4-BE49-F238E27FC236}">
                <a16:creationId xmlns:a16="http://schemas.microsoft.com/office/drawing/2014/main" id="{2639356F-B12D-492E-9CD0-F7903055084E}"/>
              </a:ext>
            </a:extLst>
          </p:cNvPr>
          <p:cNvSpPr>
            <a:spLocks noGrp="1"/>
          </p:cNvSpPr>
          <p:nvPr>
            <p:ph idx="1"/>
          </p:nvPr>
        </p:nvSpPr>
        <p:spPr/>
        <p:txBody>
          <a:bodyPr/>
          <a:lstStyle/>
          <a:p>
            <a:r>
              <a:rPr lang="zh-CN" altLang="en-US" dirty="0"/>
              <a:t>首先定义算法的名称（功能），列出输入数据及对应的数据类型。</a:t>
            </a:r>
            <a:endParaRPr lang="en-US" altLang="zh-CN" dirty="0"/>
          </a:p>
          <a:p>
            <a:r>
              <a:rPr lang="zh-CN" altLang="en-US" dirty="0"/>
              <a:t>赋值运算语句，可以包含任何良定义的运算，即使它复杂到用许多编程语句才能实现。例：</a:t>
            </a:r>
            <a:r>
              <a:rPr lang="en-US" altLang="zh-CN" dirty="0"/>
              <a:t>x := </a:t>
            </a:r>
            <a:r>
              <a:rPr lang="zh-CN" altLang="en-US" dirty="0"/>
              <a:t>列表</a:t>
            </a:r>
            <a:r>
              <a:rPr lang="en-US" altLang="zh-CN" dirty="0"/>
              <a:t>L</a:t>
            </a:r>
            <a:r>
              <a:rPr lang="zh-CN" altLang="en-US" dirty="0"/>
              <a:t>中的最大整数。</a:t>
            </a:r>
            <a:endParaRPr lang="en-US" altLang="zh-CN" dirty="0"/>
          </a:p>
          <a:p>
            <a:r>
              <a:rPr lang="zh-CN" altLang="en-US" dirty="0"/>
              <a:t>控制结构使用：</a:t>
            </a:r>
            <a:endParaRPr lang="en-US" altLang="zh-CN" dirty="0"/>
          </a:p>
          <a:p>
            <a:pPr lvl="1"/>
            <a:endParaRPr lang="en-US" altLang="zh-CN" dirty="0"/>
          </a:p>
          <a:p>
            <a:pPr marL="0" indent="0">
              <a:buNone/>
            </a:pPr>
            <a:endParaRPr lang="en-US" altLang="zh-CN" dirty="0"/>
          </a:p>
          <a:p>
            <a:r>
              <a:rPr lang="zh-CN" altLang="en-US" dirty="0"/>
              <a:t>最后使用</a:t>
            </a:r>
            <a:r>
              <a:rPr lang="en-US" altLang="zh-CN" dirty="0"/>
              <a:t>return</a:t>
            </a:r>
            <a:r>
              <a:rPr lang="zh-CN" altLang="en-US" dirty="0"/>
              <a:t>语句说明何时输出什么内容。</a:t>
            </a:r>
          </a:p>
        </p:txBody>
      </p:sp>
      <p:pic>
        <p:nvPicPr>
          <p:cNvPr id="6" name="图片 5">
            <a:extLst>
              <a:ext uri="{FF2B5EF4-FFF2-40B4-BE49-F238E27FC236}">
                <a16:creationId xmlns:a16="http://schemas.microsoft.com/office/drawing/2014/main" id="{3631B414-E51A-47CB-8C1D-8A920DB7E523}"/>
              </a:ext>
            </a:extLst>
          </p:cNvPr>
          <p:cNvPicPr>
            <a:picLocks noChangeAspect="1"/>
          </p:cNvPicPr>
          <p:nvPr/>
        </p:nvPicPr>
        <p:blipFill>
          <a:blip r:embed="rId3"/>
          <a:stretch>
            <a:fillRect/>
          </a:stretch>
        </p:blipFill>
        <p:spPr>
          <a:xfrm>
            <a:off x="1263649" y="4130000"/>
            <a:ext cx="2348813" cy="955184"/>
          </a:xfrm>
          <a:prstGeom prst="rect">
            <a:avLst/>
          </a:prstGeom>
        </p:spPr>
      </p:pic>
      <p:pic>
        <p:nvPicPr>
          <p:cNvPr id="8" name="图片 7">
            <a:extLst>
              <a:ext uri="{FF2B5EF4-FFF2-40B4-BE49-F238E27FC236}">
                <a16:creationId xmlns:a16="http://schemas.microsoft.com/office/drawing/2014/main" id="{872E0470-F0CE-43EF-8CDD-31824497251A}"/>
              </a:ext>
            </a:extLst>
          </p:cNvPr>
          <p:cNvPicPr>
            <a:picLocks noChangeAspect="1"/>
          </p:cNvPicPr>
          <p:nvPr/>
        </p:nvPicPr>
        <p:blipFill>
          <a:blip r:embed="rId4"/>
          <a:stretch>
            <a:fillRect/>
          </a:stretch>
        </p:blipFill>
        <p:spPr>
          <a:xfrm>
            <a:off x="6238629" y="4094512"/>
            <a:ext cx="2486498" cy="990672"/>
          </a:xfrm>
          <a:prstGeom prst="rect">
            <a:avLst/>
          </a:prstGeom>
        </p:spPr>
      </p:pic>
      <p:pic>
        <p:nvPicPr>
          <p:cNvPr id="10" name="图片 9">
            <a:extLst>
              <a:ext uri="{FF2B5EF4-FFF2-40B4-BE49-F238E27FC236}">
                <a16:creationId xmlns:a16="http://schemas.microsoft.com/office/drawing/2014/main" id="{28E63C2B-CAB2-4A55-8A20-85F0C7A108BD}"/>
              </a:ext>
            </a:extLst>
          </p:cNvPr>
          <p:cNvPicPr>
            <a:picLocks noChangeAspect="1"/>
          </p:cNvPicPr>
          <p:nvPr/>
        </p:nvPicPr>
        <p:blipFill>
          <a:blip r:embed="rId5"/>
          <a:stretch>
            <a:fillRect/>
          </a:stretch>
        </p:blipFill>
        <p:spPr>
          <a:xfrm>
            <a:off x="4071937" y="4066009"/>
            <a:ext cx="1698625" cy="1019175"/>
          </a:xfrm>
          <a:prstGeom prst="rect">
            <a:avLst/>
          </a:prstGeom>
        </p:spPr>
      </p:pic>
    </p:spTree>
    <p:extLst>
      <p:ext uri="{BB962C8B-B14F-4D97-AF65-F5344CB8AC3E}">
        <p14:creationId xmlns:p14="http://schemas.microsoft.com/office/powerpoint/2010/main" val="3510738044"/>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灯片编号占位符 4"/>
          <p:cNvSpPr txBox="1">
            <a:spLocks noGrp="1"/>
          </p:cNvSpPr>
          <p:nvPr>
            <p:ph type="sldNum" sz="quarter" idx="11"/>
          </p:nvPr>
        </p:nvSpPr>
        <p:spPr/>
        <p:txBody>
          <a:bodyPr wrap="square" lIns="68580" tIns="34290" rIns="68580" bIns="34290" anchor="t"/>
          <a:lstStyle/>
          <a:p>
            <a:pPr algn="r" eaLnBrk="1" hangingPunct="1">
              <a:spcBef>
                <a:spcPct val="50000"/>
              </a:spcBef>
            </a:pPr>
            <a:fld id="{9A0DB2DC-4C9A-4742-B13C-FB6460FD3503}" type="slidenum">
              <a:rPr lang="zh-CN" altLang="en-US" sz="1050" dirty="0"/>
              <a:t>56</a:t>
            </a:fld>
            <a:endParaRPr lang="zh-CN" altLang="en-US" sz="1050" dirty="0"/>
          </a:p>
        </p:txBody>
      </p:sp>
      <p:sp>
        <p:nvSpPr>
          <p:cNvPr id="71682" name="Rectangle 2"/>
          <p:cNvSpPr>
            <a:spLocks noGrp="1"/>
          </p:cNvSpPr>
          <p:nvPr>
            <p:ph type="title"/>
          </p:nvPr>
        </p:nvSpPr>
        <p:spPr/>
        <p:txBody>
          <a:bodyPr vert="horz" wrap="square" lIns="68580" tIns="34290" rIns="68580" bIns="34290" numCol="1" anchor="ctr" anchorCtr="0" compatLnSpc="1">
            <a:prstTxWarp prst="textNoShape">
              <a:avLst/>
            </a:prstTxWarp>
          </a:bodyPr>
          <a:lstStyle/>
          <a:p>
            <a:pPr eaLnBrk="1" hangingPunct="1"/>
            <a:r>
              <a:rPr lang="zh-CN" altLang="en-US" b="1" dirty="0"/>
              <a:t>结构化程序设计思想</a:t>
            </a:r>
          </a:p>
        </p:txBody>
      </p:sp>
      <p:pic>
        <p:nvPicPr>
          <p:cNvPr id="6156" name="Picture 11" descr="D:\图标库\编辑的元素\房子2.jpg"/>
          <p:cNvPicPr>
            <a:picLocks noChangeAspect="1"/>
          </p:cNvPicPr>
          <p:nvPr/>
        </p:nvPicPr>
        <p:blipFill>
          <a:blip r:embed="rId3">
            <a:clrChange>
              <a:clrFrom>
                <a:srgbClr val="FFFFFF"/>
              </a:clrFrom>
              <a:clrTo>
                <a:srgbClr val="FFFFFF">
                  <a:alpha val="0"/>
                </a:srgbClr>
              </a:clrTo>
            </a:clrChange>
          </a:blip>
          <a:stretch>
            <a:fillRect/>
          </a:stretch>
        </p:blipFill>
        <p:spPr>
          <a:xfrm>
            <a:off x="379334" y="1871425"/>
            <a:ext cx="1485900" cy="1196578"/>
          </a:xfrm>
          <a:prstGeom prst="rect">
            <a:avLst/>
          </a:prstGeom>
          <a:noFill/>
          <a:ln w="9525">
            <a:noFill/>
          </a:ln>
        </p:spPr>
      </p:pic>
      <p:grpSp>
        <p:nvGrpSpPr>
          <p:cNvPr id="6150" name="组合 6149"/>
          <p:cNvGrpSpPr/>
          <p:nvPr/>
        </p:nvGrpSpPr>
        <p:grpSpPr>
          <a:xfrm>
            <a:off x="2056448" y="1821180"/>
            <a:ext cx="6493669" cy="995363"/>
            <a:chOff x="0" y="0"/>
            <a:chExt cx="5454" cy="1043"/>
          </a:xfrm>
        </p:grpSpPr>
        <p:sp>
          <p:nvSpPr>
            <p:cNvPr id="6151" name="Rectangle 33"/>
            <p:cNvSpPr>
              <a:spLocks noChangeAspect="1"/>
            </p:cNvSpPr>
            <p:nvPr/>
          </p:nvSpPr>
          <p:spPr>
            <a:xfrm>
              <a:off x="184" y="0"/>
              <a:ext cx="5268" cy="1043"/>
            </a:xfrm>
            <a:prstGeom prst="rect">
              <a:avLst/>
            </a:prstGeom>
            <a:gradFill rotWithShape="0">
              <a:gsLst>
                <a:gs pos="0">
                  <a:srgbClr val="EAEAEA"/>
                </a:gs>
                <a:gs pos="50000">
                  <a:srgbClr val="D2D2D2"/>
                </a:gs>
                <a:gs pos="100000">
                  <a:srgbClr val="EAEAEA"/>
                </a:gs>
              </a:gsLst>
              <a:lin ang="18900000" scaled="1"/>
              <a:tileRect/>
            </a:gradFill>
            <a:ln w="25400" cap="flat" cmpd="sng">
              <a:solidFill>
                <a:srgbClr val="B2B2B2"/>
              </a:solidFill>
              <a:prstDash val="solid"/>
              <a:miter/>
              <a:headEnd type="none" w="med" len="med"/>
              <a:tailEnd type="none" w="med" len="med"/>
            </a:ln>
          </p:spPr>
          <p:txBody>
            <a:bodyPr wrap="none" anchor="ctr"/>
            <a:lstStyle/>
            <a:p>
              <a:pPr lvl="0" algn="ctr" eaLnBrk="1" hangingPunct="1">
                <a:spcBef>
                  <a:spcPct val="0"/>
                </a:spcBef>
                <a:buNone/>
              </a:pPr>
              <a:endParaRPr lang="zh-CN" altLang="en-US" dirty="0">
                <a:ea typeface="宋体" charset="-122"/>
              </a:endParaRPr>
            </a:p>
          </p:txBody>
        </p:sp>
        <p:sp>
          <p:nvSpPr>
            <p:cNvPr id="6152" name="Text Box 34"/>
            <p:cNvSpPr txBox="1"/>
            <p:nvPr/>
          </p:nvSpPr>
          <p:spPr>
            <a:xfrm>
              <a:off x="184" y="90"/>
              <a:ext cx="5270" cy="822"/>
            </a:xfrm>
            <a:prstGeom prst="rect">
              <a:avLst/>
            </a:prstGeom>
            <a:noFill/>
            <a:ln w="9525">
              <a:noFill/>
            </a:ln>
          </p:spPr>
          <p:txBody>
            <a:bodyPr wrap="square">
              <a:spAutoFit/>
            </a:bodyPr>
            <a:lstStyle/>
            <a:p>
              <a:pPr marL="257175" indent="-257175">
                <a:spcBef>
                  <a:spcPct val="50000"/>
                </a:spcBef>
              </a:pPr>
              <a:r>
                <a:rPr lang="zh-CN" altLang="en-US" dirty="0">
                  <a:ea typeface="楷体_GB2312" pitchFamily="1" charset="-122"/>
                </a:rPr>
                <a:t>    建筑物需要有良好的结构来抵御外界风险。</a:t>
              </a:r>
              <a:endParaRPr lang="en-US" altLang="x-none" dirty="0">
                <a:ea typeface="楷体_GB2312" pitchFamily="1" charset="-122"/>
              </a:endParaRPr>
            </a:p>
            <a:p>
              <a:pPr marL="257175" indent="-257175">
                <a:spcBef>
                  <a:spcPct val="50000"/>
                </a:spcBef>
              </a:pPr>
              <a:r>
                <a:rPr lang="en-US" altLang="x-none" dirty="0">
                  <a:ea typeface="楷体_GB2312" pitchFamily="1" charset="-122"/>
                </a:rPr>
                <a:t>     </a:t>
              </a:r>
              <a:r>
                <a:rPr lang="zh-CN" altLang="en-US" dirty="0">
                  <a:ea typeface="楷体_GB2312" pitchFamily="1" charset="-122"/>
                </a:rPr>
                <a:t>同样，</a:t>
              </a:r>
              <a:r>
                <a:rPr lang="zh-CN" altLang="en-US" dirty="0">
                  <a:ea typeface="宋体" charset="-122"/>
                </a:rPr>
                <a:t>一个程序也应该具有</a:t>
              </a:r>
              <a:r>
                <a:rPr lang="zh-CN" altLang="en-US" dirty="0">
                  <a:ea typeface="楷体_GB2312" pitchFamily="1" charset="-122"/>
                  <a:sym typeface="+mn-ea"/>
                </a:rPr>
                <a:t>良好的</a:t>
              </a:r>
              <a:r>
                <a:rPr lang="zh-CN" altLang="en-US" dirty="0">
                  <a:ea typeface="宋体" charset="-122"/>
                </a:rPr>
                <a:t>结构，易于理解和维护。</a:t>
              </a:r>
              <a:endParaRPr lang="en-US" altLang="x-none" dirty="0">
                <a:ea typeface="宋体" charset="-122"/>
              </a:endParaRPr>
            </a:p>
          </p:txBody>
        </p:sp>
        <p:grpSp>
          <p:nvGrpSpPr>
            <p:cNvPr id="6153" name="组合 6152"/>
            <p:cNvGrpSpPr/>
            <p:nvPr/>
          </p:nvGrpSpPr>
          <p:grpSpPr>
            <a:xfrm>
              <a:off x="0" y="0"/>
              <a:ext cx="388" cy="1043"/>
              <a:chOff x="0" y="0"/>
              <a:chExt cx="388" cy="1043"/>
            </a:xfrm>
          </p:grpSpPr>
          <p:sp>
            <p:nvSpPr>
              <p:cNvPr id="6154" name="Rectangle 37"/>
              <p:cNvSpPr/>
              <p:nvPr/>
            </p:nvSpPr>
            <p:spPr>
              <a:xfrm>
                <a:off x="3" y="0"/>
                <a:ext cx="363" cy="1043"/>
              </a:xfrm>
              <a:prstGeom prst="rect">
                <a:avLst/>
              </a:prstGeom>
              <a:gradFill rotWithShape="0">
                <a:gsLst>
                  <a:gs pos="0">
                    <a:srgbClr val="006C88"/>
                  </a:gs>
                  <a:gs pos="50000">
                    <a:srgbClr val="002029"/>
                  </a:gs>
                  <a:gs pos="100000">
                    <a:srgbClr val="006C88"/>
                  </a:gs>
                </a:gsLst>
                <a:lin ang="18900000" scaled="1"/>
                <a:tileRect/>
              </a:gradFill>
              <a:ln w="28575" cap="flat" cmpd="sng">
                <a:solidFill>
                  <a:srgbClr val="03C9FF"/>
                </a:solidFill>
                <a:prstDash val="solid"/>
                <a:miter/>
                <a:headEnd type="none" w="med" len="med"/>
                <a:tailEnd type="none" w="med" len="med"/>
              </a:ln>
            </p:spPr>
            <p:txBody>
              <a:bodyPr wrap="none" anchor="ctr"/>
              <a:lstStyle/>
              <a:p>
                <a:pPr lvl="0" algn="ctr" eaLnBrk="1" hangingPunct="1">
                  <a:spcBef>
                    <a:spcPct val="0"/>
                  </a:spcBef>
                  <a:buNone/>
                </a:pPr>
                <a:endParaRPr lang="zh-CN" altLang="en-US" dirty="0">
                  <a:ea typeface="宋体" charset="-122"/>
                </a:endParaRPr>
              </a:p>
            </p:txBody>
          </p:sp>
          <p:sp>
            <p:nvSpPr>
              <p:cNvPr id="6155" name="Text Box 38"/>
              <p:cNvSpPr txBox="1"/>
              <p:nvPr/>
            </p:nvSpPr>
            <p:spPr>
              <a:xfrm>
                <a:off x="0" y="181"/>
                <a:ext cx="388" cy="590"/>
              </a:xfrm>
              <a:prstGeom prst="rect">
                <a:avLst/>
              </a:prstGeom>
              <a:noFill/>
              <a:ln w="9525">
                <a:noFill/>
              </a:ln>
            </p:spPr>
            <p:txBody>
              <a:bodyPr vert="eaVert">
                <a:spAutoFit/>
              </a:bodyPr>
              <a:lstStyle/>
              <a:p>
                <a:pPr marL="257175" indent="-257175">
                  <a:spcBef>
                    <a:spcPct val="50000"/>
                  </a:spcBef>
                </a:pPr>
                <a:r>
                  <a:rPr lang="zh-CN" altLang="en-US" b="1" dirty="0">
                    <a:solidFill>
                      <a:schemeClr val="bg1"/>
                    </a:solidFill>
                    <a:latin typeface="Times New Roman" pitchFamily="18" charset="0"/>
                    <a:ea typeface="宋体" charset="-122"/>
                  </a:rPr>
                  <a:t>引言</a:t>
                </a:r>
              </a:p>
            </p:txBody>
          </p:sp>
        </p:grpSp>
      </p:grpSp>
      <p:sp>
        <p:nvSpPr>
          <p:cNvPr id="9229" name="Text Box 25"/>
          <p:cNvSpPr txBox="1"/>
          <p:nvPr/>
        </p:nvSpPr>
        <p:spPr>
          <a:xfrm>
            <a:off x="1793081" y="3121819"/>
            <a:ext cx="4924425" cy="369332"/>
          </a:xfrm>
          <a:prstGeom prst="rect">
            <a:avLst/>
          </a:prstGeom>
          <a:noFill/>
          <a:ln w="9525">
            <a:noFill/>
          </a:ln>
        </p:spPr>
        <p:txBody>
          <a:bodyPr wrap="square">
            <a:spAutoFit/>
          </a:bodyPr>
          <a:lstStyle/>
          <a:p>
            <a:pPr marL="257175" indent="-257175" algn="ctr">
              <a:spcBef>
                <a:spcPct val="50000"/>
              </a:spcBef>
            </a:pPr>
            <a:r>
              <a:rPr lang="zh-CN" altLang="en-US" b="1" dirty="0">
                <a:solidFill>
                  <a:schemeClr val="bg1"/>
                </a:solidFill>
                <a:latin typeface="Times New Roman" pitchFamily="18" charset="0"/>
                <a:ea typeface="宋体" charset="-122"/>
              </a:rPr>
              <a:t>结构化程序设计方法 基本思想</a:t>
            </a:r>
            <a:endParaRPr lang="en-US" altLang="x-none" b="1" dirty="0">
              <a:solidFill>
                <a:schemeClr val="bg1"/>
              </a:solidFill>
              <a:latin typeface="Times New Roman" pitchFamily="18" charset="0"/>
              <a:ea typeface="宋体" charset="-122"/>
            </a:endParaRPr>
          </a:p>
        </p:txBody>
      </p:sp>
      <p:sp>
        <p:nvSpPr>
          <p:cNvPr id="35842" name="Rectangle 3"/>
          <p:cNvSpPr>
            <a:spLocks noGrp="1"/>
          </p:cNvSpPr>
          <p:nvPr>
            <p:ph idx="1"/>
          </p:nvPr>
        </p:nvSpPr>
        <p:spPr>
          <a:xfrm>
            <a:off x="414337" y="3300413"/>
            <a:ext cx="8556308" cy="1804511"/>
          </a:xfrm>
        </p:spPr>
        <p:txBody>
          <a:bodyPr vert="horz" wrap="square" lIns="68580" tIns="34290" rIns="68580" bIns="34290" numCol="1" anchor="t" anchorCtr="0" compatLnSpc="1">
            <a:prstTxWarp prst="textNoShape">
              <a:avLst/>
            </a:prstTxWarp>
          </a:bodyPr>
          <a:lstStyle/>
          <a:p>
            <a:pPr marL="400050" indent="-400050" eaLnBrk="1" hangingPunct="1">
              <a:buNone/>
            </a:pPr>
            <a:r>
              <a:rPr lang="en-US" altLang="zh-CN" sz="2400" b="1" dirty="0"/>
              <a:t>结构化程序设计方法(Structured programming method)</a:t>
            </a:r>
          </a:p>
          <a:p>
            <a:pPr lvl="1" indent="-400050" eaLnBrk="1" hangingPunct="1">
              <a:buClr>
                <a:srgbClr val="FF3300"/>
              </a:buClr>
            </a:pPr>
            <a:r>
              <a:rPr lang="en-US" altLang="zh-CN" b="1" dirty="0">
                <a:latin typeface="Arial" pitchFamily="34" charset="0"/>
              </a:rPr>
              <a:t>自顶向下 (Top-down)</a:t>
            </a:r>
          </a:p>
          <a:p>
            <a:pPr lvl="1" indent="-400050" eaLnBrk="1" hangingPunct="1">
              <a:buClr>
                <a:srgbClr val="FF3300"/>
              </a:buClr>
            </a:pPr>
            <a:r>
              <a:rPr lang="en-US" altLang="zh-CN" b="1" dirty="0">
                <a:latin typeface="Arial" pitchFamily="34" charset="0"/>
              </a:rPr>
              <a:t>逐步求精 (Progressive refinement)</a:t>
            </a:r>
            <a:r>
              <a:rPr lang="en-US" altLang="zh-CN" dirty="0">
                <a:latin typeface="Arial" pitchFamily="34" charset="0"/>
              </a:rPr>
              <a:t> </a:t>
            </a:r>
            <a:endParaRPr lang="zh-CN" altLang="en-US" b="1" dirty="0">
              <a:latin typeface="Arial" pitchFamily="34" charset="0"/>
            </a:endParaRPr>
          </a:p>
          <a:p>
            <a:pPr lvl="1" indent="-400050" eaLnBrk="1" hangingPunct="1">
              <a:buClr>
                <a:srgbClr val="FF3300"/>
              </a:buClr>
            </a:pPr>
            <a:r>
              <a:rPr lang="en-US" altLang="zh-CN" b="1" dirty="0">
                <a:latin typeface="Arial" pitchFamily="34" charset="0"/>
              </a:rPr>
              <a:t>模块化 (Module)</a:t>
            </a:r>
          </a:p>
          <a:p>
            <a:pPr lvl="1" indent="-400050" eaLnBrk="1" hangingPunct="1">
              <a:buClr>
                <a:srgbClr val="FF3300"/>
              </a:buClr>
            </a:pPr>
            <a:r>
              <a:rPr lang="en-US" altLang="zh-CN" b="1" dirty="0">
                <a:latin typeface="Arial" pitchFamily="34" charset="0"/>
              </a:rPr>
              <a:t>结构化编码 (Structured coding:three basic structure)</a:t>
            </a:r>
            <a:endParaRPr lang="zh-CN" altLang="en-US" b="1" dirty="0">
              <a:latin typeface="Arial"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checkerboard(across)">
                                      <p:cBhvr>
                                        <p:cTn id="7" dur="500"/>
                                        <p:tgtEl>
                                          <p:spTgt spid="6150"/>
                                        </p:tgtEl>
                                      </p:cBhvr>
                                    </p:animEffect>
                                  </p:childTnLst>
                                </p:cTn>
                              </p:par>
                            </p:childTnLst>
                          </p:cTn>
                        </p:par>
                      </p:childTnLst>
                    </p:cTn>
                  </p:par>
                  <p:par>
                    <p:cTn id="8" fill="hold">
                      <p:stCondLst>
                        <p:cond delay="indefinite"/>
                      </p:stCondLst>
                      <p:childTnLst>
                        <p:par>
                          <p:cTn id="9" fill="hold">
                            <p:stCondLst>
                              <p:cond delay="0"/>
                            </p:stCondLst>
                            <p:childTnLst>
                              <p:par>
                                <p:cTn id="10" presetID="51" presetClass="entr" presetSubtype="0" fill="hold" grpId="0" nodeType="clickEffect">
                                  <p:stCondLst>
                                    <p:cond delay="0"/>
                                  </p:stCondLst>
                                  <p:childTnLst>
                                    <p:set>
                                      <p:cBhvr>
                                        <p:cTn id="11" dur="1" fill="hold">
                                          <p:stCondLst>
                                            <p:cond delay="0"/>
                                          </p:stCondLst>
                                        </p:cTn>
                                        <p:tgtEl>
                                          <p:spTgt spid="35842">
                                            <p:txEl>
                                              <p:pRg st="0" end="0"/>
                                            </p:txEl>
                                          </p:spTgt>
                                        </p:tgtEl>
                                        <p:attrNameLst>
                                          <p:attrName>style.visibility</p:attrName>
                                        </p:attrNameLst>
                                      </p:cBhvr>
                                      <p:to>
                                        <p:strVal val="visible"/>
                                      </p:to>
                                    </p:set>
                                    <p:animEffect transition="in" filter="fade">
                                      <p:cBhvr>
                                        <p:cTn id="12" dur="770" decel="100000"/>
                                        <p:tgtEl>
                                          <p:spTgt spid="35842">
                                            <p:txEl>
                                              <p:pRg st="0" end="0"/>
                                            </p:txEl>
                                          </p:spTgt>
                                        </p:tgtEl>
                                      </p:cBhvr>
                                    </p:animEffect>
                                    <p:animScale>
                                      <p:cBhvr>
                                        <p:cTn id="13" dur="770" decel="100000"/>
                                        <p:tgtEl>
                                          <p:spTgt spid="35842">
                                            <p:txEl>
                                              <p:pRg st="0" end="0"/>
                                            </p:txEl>
                                          </p:spTgt>
                                        </p:tgtEl>
                                      </p:cBhvr>
                                      <p:from x="10000" y="10000"/>
                                      <p:to x="200000" y="450000"/>
                                    </p:animScale>
                                    <p:animScale>
                                      <p:cBhvr>
                                        <p:cTn id="14" dur="1230" accel="100000" fill="hold">
                                          <p:stCondLst>
                                            <p:cond delay="770"/>
                                          </p:stCondLst>
                                        </p:cTn>
                                        <p:tgtEl>
                                          <p:spTgt spid="35842">
                                            <p:txEl>
                                              <p:pRg st="0" end="0"/>
                                            </p:txEl>
                                          </p:spTgt>
                                        </p:tgtEl>
                                      </p:cBhvr>
                                      <p:from x="200000" y="450000"/>
                                      <p:to x="100000" y="100000"/>
                                    </p:animScale>
                                    <p:set>
                                      <p:cBhvr>
                                        <p:cTn id="15" dur="770" fill="hold"/>
                                        <p:tgtEl>
                                          <p:spTgt spid="35842">
                                            <p:txEl>
                                              <p:pRg st="0" end="0"/>
                                            </p:txEl>
                                          </p:spTgt>
                                        </p:tgtEl>
                                        <p:attrNameLst>
                                          <p:attrName>ppt_x</p:attrName>
                                        </p:attrNameLst>
                                      </p:cBhvr>
                                      <p:to>
                                        <p:strVal val="(0.5)"/>
                                      </p:to>
                                    </p:set>
                                    <p:anim from="(0.5)" to="(#ppt_x)" calcmode="lin" valueType="num">
                                      <p:cBhvr>
                                        <p:cTn id="16" dur="1230" accel="100000" fill="hold">
                                          <p:stCondLst>
                                            <p:cond delay="770"/>
                                          </p:stCondLst>
                                        </p:cTn>
                                        <p:tgtEl>
                                          <p:spTgt spid="35842">
                                            <p:txEl>
                                              <p:pRg st="0" end="0"/>
                                            </p:txEl>
                                          </p:spTgt>
                                        </p:tgtEl>
                                        <p:attrNameLst>
                                          <p:attrName>ppt_x</p:attrName>
                                        </p:attrNameLst>
                                      </p:cBhvr>
                                    </p:anim>
                                    <p:set>
                                      <p:cBhvr>
                                        <p:cTn id="17" dur="770" fill="hold"/>
                                        <p:tgtEl>
                                          <p:spTgt spid="35842">
                                            <p:txEl>
                                              <p:pRg st="0" end="0"/>
                                            </p:txEl>
                                          </p:spTgt>
                                        </p:tgtEl>
                                        <p:attrNameLst>
                                          <p:attrName>ppt_y</p:attrName>
                                        </p:attrNameLst>
                                      </p:cBhvr>
                                      <p:to>
                                        <p:strVal val="(#ppt_y+0.4)"/>
                                      </p:to>
                                    </p:set>
                                    <p:anim from="(#ppt_y+0.4)" to="(#ppt_y)" calcmode="lin" valueType="num">
                                      <p:cBhvr>
                                        <p:cTn id="18" dur="1230" accel="100000" fill="hold">
                                          <p:stCondLst>
                                            <p:cond delay="770"/>
                                          </p:stCondLst>
                                        </p:cTn>
                                        <p:tgtEl>
                                          <p:spTgt spid="35842">
                                            <p:txEl>
                                              <p:pRg st="0" end="0"/>
                                            </p:txEl>
                                          </p:spTgt>
                                        </p:tgtEl>
                                        <p:attrNameLst>
                                          <p:attrName>ppt_y</p:attrName>
                                        </p:attrNameLst>
                                      </p:cBhvr>
                                    </p:anim>
                                  </p:childTnLst>
                                </p:cTn>
                              </p:par>
                              <p:par>
                                <p:cTn id="19" presetID="51" presetClass="entr" presetSubtype="0" fill="hold" grpId="0" nodeType="withEffect">
                                  <p:stCondLst>
                                    <p:cond delay="0"/>
                                  </p:stCondLst>
                                  <p:childTnLst>
                                    <p:set>
                                      <p:cBhvr>
                                        <p:cTn id="20" dur="1" fill="hold">
                                          <p:stCondLst>
                                            <p:cond delay="0"/>
                                          </p:stCondLst>
                                        </p:cTn>
                                        <p:tgtEl>
                                          <p:spTgt spid="35842">
                                            <p:txEl>
                                              <p:pRg st="1" end="1"/>
                                            </p:txEl>
                                          </p:spTgt>
                                        </p:tgtEl>
                                        <p:attrNameLst>
                                          <p:attrName>style.visibility</p:attrName>
                                        </p:attrNameLst>
                                      </p:cBhvr>
                                      <p:to>
                                        <p:strVal val="visible"/>
                                      </p:to>
                                    </p:set>
                                    <p:animEffect transition="in" filter="fade">
                                      <p:cBhvr>
                                        <p:cTn id="21" dur="770" decel="100000"/>
                                        <p:tgtEl>
                                          <p:spTgt spid="35842">
                                            <p:txEl>
                                              <p:pRg st="1" end="1"/>
                                            </p:txEl>
                                          </p:spTgt>
                                        </p:tgtEl>
                                      </p:cBhvr>
                                    </p:animEffect>
                                    <p:animScale>
                                      <p:cBhvr>
                                        <p:cTn id="22" dur="770" decel="100000"/>
                                        <p:tgtEl>
                                          <p:spTgt spid="35842">
                                            <p:txEl>
                                              <p:pRg st="1" end="1"/>
                                            </p:txEl>
                                          </p:spTgt>
                                        </p:tgtEl>
                                      </p:cBhvr>
                                      <p:from x="10000" y="10000"/>
                                      <p:to x="200000" y="450000"/>
                                    </p:animScale>
                                    <p:animScale>
                                      <p:cBhvr>
                                        <p:cTn id="23" dur="1230" accel="100000" fill="hold">
                                          <p:stCondLst>
                                            <p:cond delay="770"/>
                                          </p:stCondLst>
                                        </p:cTn>
                                        <p:tgtEl>
                                          <p:spTgt spid="35842">
                                            <p:txEl>
                                              <p:pRg st="1" end="1"/>
                                            </p:txEl>
                                          </p:spTgt>
                                        </p:tgtEl>
                                      </p:cBhvr>
                                      <p:from x="200000" y="450000"/>
                                      <p:to x="100000" y="100000"/>
                                    </p:animScale>
                                    <p:set>
                                      <p:cBhvr>
                                        <p:cTn id="24" dur="770" fill="hold"/>
                                        <p:tgtEl>
                                          <p:spTgt spid="35842">
                                            <p:txEl>
                                              <p:pRg st="1" end="1"/>
                                            </p:txEl>
                                          </p:spTgt>
                                        </p:tgtEl>
                                        <p:attrNameLst>
                                          <p:attrName>ppt_x</p:attrName>
                                        </p:attrNameLst>
                                      </p:cBhvr>
                                      <p:to>
                                        <p:strVal val="(0.5)"/>
                                      </p:to>
                                    </p:set>
                                    <p:anim from="(0.5)" to="(#ppt_x)" calcmode="lin" valueType="num">
                                      <p:cBhvr>
                                        <p:cTn id="25" dur="1230" accel="100000" fill="hold">
                                          <p:stCondLst>
                                            <p:cond delay="770"/>
                                          </p:stCondLst>
                                        </p:cTn>
                                        <p:tgtEl>
                                          <p:spTgt spid="35842">
                                            <p:txEl>
                                              <p:pRg st="1" end="1"/>
                                            </p:txEl>
                                          </p:spTgt>
                                        </p:tgtEl>
                                        <p:attrNameLst>
                                          <p:attrName>ppt_x</p:attrName>
                                        </p:attrNameLst>
                                      </p:cBhvr>
                                    </p:anim>
                                    <p:set>
                                      <p:cBhvr>
                                        <p:cTn id="26" dur="770" fill="hold"/>
                                        <p:tgtEl>
                                          <p:spTgt spid="35842">
                                            <p:txEl>
                                              <p:pRg st="1" end="1"/>
                                            </p:txEl>
                                          </p:spTgt>
                                        </p:tgtEl>
                                        <p:attrNameLst>
                                          <p:attrName>ppt_y</p:attrName>
                                        </p:attrNameLst>
                                      </p:cBhvr>
                                      <p:to>
                                        <p:strVal val="(#ppt_y+0.4)"/>
                                      </p:to>
                                    </p:set>
                                    <p:anim from="(#ppt_y+0.4)" to="(#ppt_y)" calcmode="lin" valueType="num">
                                      <p:cBhvr>
                                        <p:cTn id="27" dur="1230" accel="100000" fill="hold">
                                          <p:stCondLst>
                                            <p:cond delay="770"/>
                                          </p:stCondLst>
                                        </p:cTn>
                                        <p:tgtEl>
                                          <p:spTgt spid="35842">
                                            <p:txEl>
                                              <p:pRg st="1" end="1"/>
                                            </p:txEl>
                                          </p:spTgt>
                                        </p:tgtEl>
                                        <p:attrNameLst>
                                          <p:attrName>ppt_y</p:attrName>
                                        </p:attrNameLst>
                                      </p:cBhvr>
                                    </p:anim>
                                  </p:childTnLst>
                                </p:cTn>
                              </p:par>
                              <p:par>
                                <p:cTn id="28" presetID="51" presetClass="entr" presetSubtype="0" fill="hold" grpId="0" nodeType="withEffect">
                                  <p:stCondLst>
                                    <p:cond delay="0"/>
                                  </p:stCondLst>
                                  <p:childTnLst>
                                    <p:set>
                                      <p:cBhvr>
                                        <p:cTn id="29" dur="1" fill="hold">
                                          <p:stCondLst>
                                            <p:cond delay="0"/>
                                          </p:stCondLst>
                                        </p:cTn>
                                        <p:tgtEl>
                                          <p:spTgt spid="35842">
                                            <p:txEl>
                                              <p:pRg st="2" end="2"/>
                                            </p:txEl>
                                          </p:spTgt>
                                        </p:tgtEl>
                                        <p:attrNameLst>
                                          <p:attrName>style.visibility</p:attrName>
                                        </p:attrNameLst>
                                      </p:cBhvr>
                                      <p:to>
                                        <p:strVal val="visible"/>
                                      </p:to>
                                    </p:set>
                                    <p:animEffect transition="in" filter="fade">
                                      <p:cBhvr>
                                        <p:cTn id="30" dur="770" decel="100000"/>
                                        <p:tgtEl>
                                          <p:spTgt spid="35842">
                                            <p:txEl>
                                              <p:pRg st="2" end="2"/>
                                            </p:txEl>
                                          </p:spTgt>
                                        </p:tgtEl>
                                      </p:cBhvr>
                                    </p:animEffect>
                                    <p:animScale>
                                      <p:cBhvr>
                                        <p:cTn id="31" dur="770" decel="100000"/>
                                        <p:tgtEl>
                                          <p:spTgt spid="35842">
                                            <p:txEl>
                                              <p:pRg st="2" end="2"/>
                                            </p:txEl>
                                          </p:spTgt>
                                        </p:tgtEl>
                                      </p:cBhvr>
                                      <p:from x="10000" y="10000"/>
                                      <p:to x="200000" y="450000"/>
                                    </p:animScale>
                                    <p:animScale>
                                      <p:cBhvr>
                                        <p:cTn id="32" dur="1230" accel="100000" fill="hold">
                                          <p:stCondLst>
                                            <p:cond delay="770"/>
                                          </p:stCondLst>
                                        </p:cTn>
                                        <p:tgtEl>
                                          <p:spTgt spid="35842">
                                            <p:txEl>
                                              <p:pRg st="2" end="2"/>
                                            </p:txEl>
                                          </p:spTgt>
                                        </p:tgtEl>
                                      </p:cBhvr>
                                      <p:from x="200000" y="450000"/>
                                      <p:to x="100000" y="100000"/>
                                    </p:animScale>
                                    <p:set>
                                      <p:cBhvr>
                                        <p:cTn id="33" dur="770" fill="hold"/>
                                        <p:tgtEl>
                                          <p:spTgt spid="35842">
                                            <p:txEl>
                                              <p:pRg st="2" end="2"/>
                                            </p:txEl>
                                          </p:spTgt>
                                        </p:tgtEl>
                                        <p:attrNameLst>
                                          <p:attrName>ppt_x</p:attrName>
                                        </p:attrNameLst>
                                      </p:cBhvr>
                                      <p:to>
                                        <p:strVal val="(0.5)"/>
                                      </p:to>
                                    </p:set>
                                    <p:anim from="(0.5)" to="(#ppt_x)" calcmode="lin" valueType="num">
                                      <p:cBhvr>
                                        <p:cTn id="34" dur="1230" accel="100000" fill="hold">
                                          <p:stCondLst>
                                            <p:cond delay="770"/>
                                          </p:stCondLst>
                                        </p:cTn>
                                        <p:tgtEl>
                                          <p:spTgt spid="35842">
                                            <p:txEl>
                                              <p:pRg st="2" end="2"/>
                                            </p:txEl>
                                          </p:spTgt>
                                        </p:tgtEl>
                                        <p:attrNameLst>
                                          <p:attrName>ppt_x</p:attrName>
                                        </p:attrNameLst>
                                      </p:cBhvr>
                                    </p:anim>
                                    <p:set>
                                      <p:cBhvr>
                                        <p:cTn id="35" dur="770" fill="hold"/>
                                        <p:tgtEl>
                                          <p:spTgt spid="35842">
                                            <p:txEl>
                                              <p:pRg st="2" end="2"/>
                                            </p:txEl>
                                          </p:spTgt>
                                        </p:tgtEl>
                                        <p:attrNameLst>
                                          <p:attrName>ppt_y</p:attrName>
                                        </p:attrNameLst>
                                      </p:cBhvr>
                                      <p:to>
                                        <p:strVal val="(#ppt_y+0.4)"/>
                                      </p:to>
                                    </p:set>
                                    <p:anim from="(#ppt_y+0.4)" to="(#ppt_y)" calcmode="lin" valueType="num">
                                      <p:cBhvr>
                                        <p:cTn id="36" dur="1230" accel="100000" fill="hold">
                                          <p:stCondLst>
                                            <p:cond delay="770"/>
                                          </p:stCondLst>
                                        </p:cTn>
                                        <p:tgtEl>
                                          <p:spTgt spid="35842">
                                            <p:txEl>
                                              <p:pRg st="2" end="2"/>
                                            </p:txEl>
                                          </p:spTgt>
                                        </p:tgtEl>
                                        <p:attrNameLst>
                                          <p:attrName>ppt_y</p:attrName>
                                        </p:attrNameLst>
                                      </p:cBhvr>
                                    </p:anim>
                                  </p:childTnLst>
                                </p:cTn>
                              </p:par>
                              <p:par>
                                <p:cTn id="37" presetID="51" presetClass="entr" presetSubtype="0" fill="hold" grpId="0" nodeType="withEffect">
                                  <p:stCondLst>
                                    <p:cond delay="0"/>
                                  </p:stCondLst>
                                  <p:childTnLst>
                                    <p:set>
                                      <p:cBhvr>
                                        <p:cTn id="38" dur="1" fill="hold">
                                          <p:stCondLst>
                                            <p:cond delay="0"/>
                                          </p:stCondLst>
                                        </p:cTn>
                                        <p:tgtEl>
                                          <p:spTgt spid="35842">
                                            <p:txEl>
                                              <p:pRg st="3" end="3"/>
                                            </p:txEl>
                                          </p:spTgt>
                                        </p:tgtEl>
                                        <p:attrNameLst>
                                          <p:attrName>style.visibility</p:attrName>
                                        </p:attrNameLst>
                                      </p:cBhvr>
                                      <p:to>
                                        <p:strVal val="visible"/>
                                      </p:to>
                                    </p:set>
                                    <p:animEffect transition="in" filter="fade">
                                      <p:cBhvr>
                                        <p:cTn id="39" dur="770" decel="100000"/>
                                        <p:tgtEl>
                                          <p:spTgt spid="35842">
                                            <p:txEl>
                                              <p:pRg st="3" end="3"/>
                                            </p:txEl>
                                          </p:spTgt>
                                        </p:tgtEl>
                                      </p:cBhvr>
                                    </p:animEffect>
                                    <p:animScale>
                                      <p:cBhvr>
                                        <p:cTn id="40" dur="770" decel="100000"/>
                                        <p:tgtEl>
                                          <p:spTgt spid="35842">
                                            <p:txEl>
                                              <p:pRg st="3" end="3"/>
                                            </p:txEl>
                                          </p:spTgt>
                                        </p:tgtEl>
                                      </p:cBhvr>
                                      <p:from x="10000" y="10000"/>
                                      <p:to x="200000" y="450000"/>
                                    </p:animScale>
                                    <p:animScale>
                                      <p:cBhvr>
                                        <p:cTn id="41" dur="1230" accel="100000" fill="hold">
                                          <p:stCondLst>
                                            <p:cond delay="770"/>
                                          </p:stCondLst>
                                        </p:cTn>
                                        <p:tgtEl>
                                          <p:spTgt spid="35842">
                                            <p:txEl>
                                              <p:pRg st="3" end="3"/>
                                            </p:txEl>
                                          </p:spTgt>
                                        </p:tgtEl>
                                      </p:cBhvr>
                                      <p:from x="200000" y="450000"/>
                                      <p:to x="100000" y="100000"/>
                                    </p:animScale>
                                    <p:set>
                                      <p:cBhvr>
                                        <p:cTn id="42" dur="770" fill="hold"/>
                                        <p:tgtEl>
                                          <p:spTgt spid="35842">
                                            <p:txEl>
                                              <p:pRg st="3" end="3"/>
                                            </p:txEl>
                                          </p:spTgt>
                                        </p:tgtEl>
                                        <p:attrNameLst>
                                          <p:attrName>ppt_x</p:attrName>
                                        </p:attrNameLst>
                                      </p:cBhvr>
                                      <p:to>
                                        <p:strVal val="(0.5)"/>
                                      </p:to>
                                    </p:set>
                                    <p:anim from="(0.5)" to="(#ppt_x)" calcmode="lin" valueType="num">
                                      <p:cBhvr>
                                        <p:cTn id="43" dur="1230" accel="100000" fill="hold">
                                          <p:stCondLst>
                                            <p:cond delay="770"/>
                                          </p:stCondLst>
                                        </p:cTn>
                                        <p:tgtEl>
                                          <p:spTgt spid="35842">
                                            <p:txEl>
                                              <p:pRg st="3" end="3"/>
                                            </p:txEl>
                                          </p:spTgt>
                                        </p:tgtEl>
                                        <p:attrNameLst>
                                          <p:attrName>ppt_x</p:attrName>
                                        </p:attrNameLst>
                                      </p:cBhvr>
                                    </p:anim>
                                    <p:set>
                                      <p:cBhvr>
                                        <p:cTn id="44" dur="770" fill="hold"/>
                                        <p:tgtEl>
                                          <p:spTgt spid="35842">
                                            <p:txEl>
                                              <p:pRg st="3" end="3"/>
                                            </p:txEl>
                                          </p:spTgt>
                                        </p:tgtEl>
                                        <p:attrNameLst>
                                          <p:attrName>ppt_y</p:attrName>
                                        </p:attrNameLst>
                                      </p:cBhvr>
                                      <p:to>
                                        <p:strVal val="(#ppt_y+0.4)"/>
                                      </p:to>
                                    </p:set>
                                    <p:anim from="(#ppt_y+0.4)" to="(#ppt_y)" calcmode="lin" valueType="num">
                                      <p:cBhvr>
                                        <p:cTn id="45" dur="1230" accel="100000" fill="hold">
                                          <p:stCondLst>
                                            <p:cond delay="770"/>
                                          </p:stCondLst>
                                        </p:cTn>
                                        <p:tgtEl>
                                          <p:spTgt spid="35842">
                                            <p:txEl>
                                              <p:pRg st="3" end="3"/>
                                            </p:txEl>
                                          </p:spTgt>
                                        </p:tgtEl>
                                        <p:attrNameLst>
                                          <p:attrName>ppt_y</p:attrName>
                                        </p:attrNameLst>
                                      </p:cBhvr>
                                    </p:anim>
                                  </p:childTnLst>
                                </p:cTn>
                              </p:par>
                              <p:par>
                                <p:cTn id="46" presetID="51" presetClass="entr" presetSubtype="0" fill="hold" grpId="0" nodeType="withEffect">
                                  <p:stCondLst>
                                    <p:cond delay="0"/>
                                  </p:stCondLst>
                                  <p:childTnLst>
                                    <p:set>
                                      <p:cBhvr>
                                        <p:cTn id="47" dur="1" fill="hold">
                                          <p:stCondLst>
                                            <p:cond delay="0"/>
                                          </p:stCondLst>
                                        </p:cTn>
                                        <p:tgtEl>
                                          <p:spTgt spid="35842">
                                            <p:txEl>
                                              <p:pRg st="4" end="4"/>
                                            </p:txEl>
                                          </p:spTgt>
                                        </p:tgtEl>
                                        <p:attrNameLst>
                                          <p:attrName>style.visibility</p:attrName>
                                        </p:attrNameLst>
                                      </p:cBhvr>
                                      <p:to>
                                        <p:strVal val="visible"/>
                                      </p:to>
                                    </p:set>
                                    <p:animEffect transition="in" filter="fade">
                                      <p:cBhvr>
                                        <p:cTn id="48" dur="770" decel="100000"/>
                                        <p:tgtEl>
                                          <p:spTgt spid="35842">
                                            <p:txEl>
                                              <p:pRg st="4" end="4"/>
                                            </p:txEl>
                                          </p:spTgt>
                                        </p:tgtEl>
                                      </p:cBhvr>
                                    </p:animEffect>
                                    <p:animScale>
                                      <p:cBhvr>
                                        <p:cTn id="49" dur="770" decel="100000"/>
                                        <p:tgtEl>
                                          <p:spTgt spid="35842">
                                            <p:txEl>
                                              <p:pRg st="4" end="4"/>
                                            </p:txEl>
                                          </p:spTgt>
                                        </p:tgtEl>
                                      </p:cBhvr>
                                      <p:from x="10000" y="10000"/>
                                      <p:to x="200000" y="450000"/>
                                    </p:animScale>
                                    <p:animScale>
                                      <p:cBhvr>
                                        <p:cTn id="50" dur="1230" accel="100000" fill="hold">
                                          <p:stCondLst>
                                            <p:cond delay="770"/>
                                          </p:stCondLst>
                                        </p:cTn>
                                        <p:tgtEl>
                                          <p:spTgt spid="35842">
                                            <p:txEl>
                                              <p:pRg st="4" end="4"/>
                                            </p:txEl>
                                          </p:spTgt>
                                        </p:tgtEl>
                                      </p:cBhvr>
                                      <p:from x="200000" y="450000"/>
                                      <p:to x="100000" y="100000"/>
                                    </p:animScale>
                                    <p:set>
                                      <p:cBhvr>
                                        <p:cTn id="51" dur="770" fill="hold"/>
                                        <p:tgtEl>
                                          <p:spTgt spid="35842">
                                            <p:txEl>
                                              <p:pRg st="4" end="4"/>
                                            </p:txEl>
                                          </p:spTgt>
                                        </p:tgtEl>
                                        <p:attrNameLst>
                                          <p:attrName>ppt_x</p:attrName>
                                        </p:attrNameLst>
                                      </p:cBhvr>
                                      <p:to>
                                        <p:strVal val="(0.5)"/>
                                      </p:to>
                                    </p:set>
                                    <p:anim from="(0.5)" to="(#ppt_x)" calcmode="lin" valueType="num">
                                      <p:cBhvr>
                                        <p:cTn id="52" dur="1230" accel="100000" fill="hold">
                                          <p:stCondLst>
                                            <p:cond delay="770"/>
                                          </p:stCondLst>
                                        </p:cTn>
                                        <p:tgtEl>
                                          <p:spTgt spid="35842">
                                            <p:txEl>
                                              <p:pRg st="4" end="4"/>
                                            </p:txEl>
                                          </p:spTgt>
                                        </p:tgtEl>
                                        <p:attrNameLst>
                                          <p:attrName>ppt_x</p:attrName>
                                        </p:attrNameLst>
                                      </p:cBhvr>
                                    </p:anim>
                                    <p:set>
                                      <p:cBhvr>
                                        <p:cTn id="53" dur="770" fill="hold"/>
                                        <p:tgtEl>
                                          <p:spTgt spid="35842">
                                            <p:txEl>
                                              <p:pRg st="4" end="4"/>
                                            </p:txEl>
                                          </p:spTgt>
                                        </p:tgtEl>
                                        <p:attrNameLst>
                                          <p:attrName>ppt_y</p:attrName>
                                        </p:attrNameLst>
                                      </p:cBhvr>
                                      <p:to>
                                        <p:strVal val="(#ppt_y+0.4)"/>
                                      </p:to>
                                    </p:set>
                                    <p:anim from="(#ppt_y+0.4)" to="(#ppt_y)" calcmode="lin" valueType="num">
                                      <p:cBhvr>
                                        <p:cTn id="54" dur="1230" accel="100000" fill="hold">
                                          <p:stCondLst>
                                            <p:cond delay="770"/>
                                          </p:stCondLst>
                                        </p:cTn>
                                        <p:tgtEl>
                                          <p:spTgt spid="35842">
                                            <p:txEl>
                                              <p:pRg st="4" end="4"/>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2"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4">
            <a:extLst>
              <a:ext uri="{FF2B5EF4-FFF2-40B4-BE49-F238E27FC236}">
                <a16:creationId xmlns:a16="http://schemas.microsoft.com/office/drawing/2014/main" id="{8BF93FD0-178A-40B5-9DAB-D014D6C719BD}"/>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CCDE246F-06C7-4F03-806C-D640C44979A9}" type="slidenum">
              <a:rPr lang="zh-CN" altLang="en-US" sz="1400" b="1"/>
              <a:pPr algn="r" eaLnBrk="1" hangingPunct="1">
                <a:spcBef>
                  <a:spcPct val="50000"/>
                </a:spcBef>
                <a:buFontTx/>
                <a:buNone/>
              </a:pPr>
              <a:t>57</a:t>
            </a:fld>
            <a:endParaRPr lang="zh-CN" altLang="en-US" sz="1400" b="1"/>
          </a:p>
        </p:txBody>
      </p:sp>
      <p:sp>
        <p:nvSpPr>
          <p:cNvPr id="17411" name="Rectangle 2">
            <a:extLst>
              <a:ext uri="{FF2B5EF4-FFF2-40B4-BE49-F238E27FC236}">
                <a16:creationId xmlns:a16="http://schemas.microsoft.com/office/drawing/2014/main" id="{2D824C58-0F6F-4F9A-A7A7-BF185E4F08C6}"/>
              </a:ext>
            </a:extLst>
          </p:cNvPr>
          <p:cNvSpPr>
            <a:spLocks noGrp="1" noChangeArrowheads="1"/>
          </p:cNvSpPr>
          <p:nvPr>
            <p:ph type="title" idx="4294967295"/>
          </p:nvPr>
        </p:nvSpPr>
        <p:spPr/>
        <p:txBody>
          <a:bodyPr/>
          <a:lstStyle/>
          <a:p>
            <a:pPr eaLnBrk="1" hangingPunct="1"/>
            <a:r>
              <a:rPr lang="zh-CN" altLang="en-US" b="1" dirty="0"/>
              <a:t>程序的结构描述</a:t>
            </a:r>
            <a:r>
              <a:rPr lang="zh-CN" altLang="en-US" sz="3600" b="1" dirty="0">
                <a:latin typeface="宋体" panose="02010600030101010101" pitchFamily="2" charset="-122"/>
              </a:rPr>
              <a:t>－</a:t>
            </a:r>
            <a:r>
              <a:rPr lang="zh-CN" altLang="en-US" b="1" dirty="0">
                <a:solidFill>
                  <a:srgbClr val="FF9900"/>
                </a:solidFill>
              </a:rPr>
              <a:t>流程图</a:t>
            </a:r>
          </a:p>
        </p:txBody>
      </p:sp>
      <p:sp>
        <p:nvSpPr>
          <p:cNvPr id="17412" name="Rectangle 3">
            <a:extLst>
              <a:ext uri="{FF2B5EF4-FFF2-40B4-BE49-F238E27FC236}">
                <a16:creationId xmlns:a16="http://schemas.microsoft.com/office/drawing/2014/main" id="{1578A0E9-D1ED-419C-A64C-3DA55E187B3D}"/>
              </a:ext>
            </a:extLst>
          </p:cNvPr>
          <p:cNvSpPr>
            <a:spLocks noGrp="1" noChangeArrowheads="1"/>
          </p:cNvSpPr>
          <p:nvPr>
            <p:ph type="body" idx="4294967295"/>
          </p:nvPr>
        </p:nvSpPr>
        <p:spPr>
          <a:xfrm>
            <a:off x="755650" y="1268413"/>
            <a:ext cx="7772400" cy="4611687"/>
          </a:xfrm>
        </p:spPr>
        <p:txBody>
          <a:bodyPr/>
          <a:lstStyle/>
          <a:p>
            <a:pPr eaLnBrk="1" hangingPunct="1"/>
            <a:r>
              <a:rPr lang="zh-CN" altLang="en-US" b="1">
                <a:latin typeface="宋体" panose="02010600030101010101" pitchFamily="2" charset="-122"/>
              </a:rPr>
              <a:t> 流程图的基本元素（</a:t>
            </a:r>
            <a:r>
              <a:rPr lang="en-US" altLang="zh-CN" b="1">
                <a:latin typeface="宋体" panose="02010600030101010101" pitchFamily="2" charset="-122"/>
              </a:rPr>
              <a:t>ANSI</a:t>
            </a:r>
            <a:r>
              <a:rPr lang="zh-CN" altLang="en-US" b="1">
                <a:latin typeface="宋体" panose="02010600030101010101" pitchFamily="2" charset="-122"/>
              </a:rPr>
              <a:t>规定）</a:t>
            </a:r>
            <a:r>
              <a:rPr lang="zh-CN" altLang="en-US"/>
              <a:t> </a:t>
            </a:r>
          </a:p>
        </p:txBody>
      </p:sp>
      <p:sp>
        <p:nvSpPr>
          <p:cNvPr id="17413" name="AutoShape 4">
            <a:extLst>
              <a:ext uri="{FF2B5EF4-FFF2-40B4-BE49-F238E27FC236}">
                <a16:creationId xmlns:a16="http://schemas.microsoft.com/office/drawing/2014/main" id="{56BF67BB-0075-4C33-8100-669862D97AE7}"/>
              </a:ext>
            </a:extLst>
          </p:cNvPr>
          <p:cNvSpPr>
            <a:spLocks noChangeArrowheads="1"/>
          </p:cNvSpPr>
          <p:nvPr/>
        </p:nvSpPr>
        <p:spPr bwMode="auto">
          <a:xfrm>
            <a:off x="1752600" y="2438400"/>
            <a:ext cx="685800" cy="396875"/>
          </a:xfrm>
          <a:prstGeom prst="flowChartAlternateProcess">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4" name="AutoShape 5">
            <a:extLst>
              <a:ext uri="{FF2B5EF4-FFF2-40B4-BE49-F238E27FC236}">
                <a16:creationId xmlns:a16="http://schemas.microsoft.com/office/drawing/2014/main" id="{83A6F32A-9C02-41E0-BD59-B371DC8BF461}"/>
              </a:ext>
            </a:extLst>
          </p:cNvPr>
          <p:cNvSpPr>
            <a:spLocks noChangeArrowheads="1"/>
          </p:cNvSpPr>
          <p:nvPr/>
        </p:nvSpPr>
        <p:spPr bwMode="auto">
          <a:xfrm>
            <a:off x="3352800" y="2438400"/>
            <a:ext cx="800100" cy="396875"/>
          </a:xfrm>
          <a:prstGeom prst="flowChartInputOutput">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5" name="AutoShape 6">
            <a:extLst>
              <a:ext uri="{FF2B5EF4-FFF2-40B4-BE49-F238E27FC236}">
                <a16:creationId xmlns:a16="http://schemas.microsoft.com/office/drawing/2014/main" id="{22C3A32B-8C34-4B2B-B87C-98743B291D2D}"/>
              </a:ext>
            </a:extLst>
          </p:cNvPr>
          <p:cNvSpPr>
            <a:spLocks noChangeArrowheads="1"/>
          </p:cNvSpPr>
          <p:nvPr/>
        </p:nvSpPr>
        <p:spPr bwMode="auto">
          <a:xfrm>
            <a:off x="4800600" y="2438400"/>
            <a:ext cx="914400" cy="396875"/>
          </a:xfrm>
          <a:prstGeom prst="flowChartDecision">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6" name="AutoShape 7">
            <a:extLst>
              <a:ext uri="{FF2B5EF4-FFF2-40B4-BE49-F238E27FC236}">
                <a16:creationId xmlns:a16="http://schemas.microsoft.com/office/drawing/2014/main" id="{EED987B6-EDD0-4DFF-9804-150EE4586C2E}"/>
              </a:ext>
            </a:extLst>
          </p:cNvPr>
          <p:cNvSpPr>
            <a:spLocks noChangeArrowheads="1"/>
          </p:cNvSpPr>
          <p:nvPr/>
        </p:nvSpPr>
        <p:spPr bwMode="auto">
          <a:xfrm>
            <a:off x="6324600" y="2438400"/>
            <a:ext cx="685800" cy="396875"/>
          </a:xfrm>
          <a:prstGeom prst="flowChartProcess">
            <a:avLst/>
          </a:prstGeom>
          <a:solidFill>
            <a:srgbClr val="FFFFFF"/>
          </a:solidFill>
          <a:ln w="9525">
            <a:solidFill>
              <a:srgbClr val="000000"/>
            </a:solidFill>
            <a:miter lim="800000"/>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17" name="Line 8">
            <a:extLst>
              <a:ext uri="{FF2B5EF4-FFF2-40B4-BE49-F238E27FC236}">
                <a16:creationId xmlns:a16="http://schemas.microsoft.com/office/drawing/2014/main" id="{15C88DB7-0283-43A2-8B15-02C415A94E44}"/>
              </a:ext>
            </a:extLst>
          </p:cNvPr>
          <p:cNvSpPr>
            <a:spLocks noChangeShapeType="1"/>
          </p:cNvSpPr>
          <p:nvPr/>
        </p:nvSpPr>
        <p:spPr bwMode="auto">
          <a:xfrm>
            <a:off x="1905000" y="3733800"/>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8" name="Line 9">
            <a:extLst>
              <a:ext uri="{FF2B5EF4-FFF2-40B4-BE49-F238E27FC236}">
                <a16:creationId xmlns:a16="http://schemas.microsoft.com/office/drawing/2014/main" id="{58730D58-7B93-4877-B593-AD226FC8670D}"/>
              </a:ext>
            </a:extLst>
          </p:cNvPr>
          <p:cNvSpPr>
            <a:spLocks noChangeShapeType="1"/>
          </p:cNvSpPr>
          <p:nvPr/>
        </p:nvSpPr>
        <p:spPr bwMode="auto">
          <a:xfrm>
            <a:off x="2209800" y="4038600"/>
            <a:ext cx="3429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419" name="Oval 10">
            <a:extLst>
              <a:ext uri="{FF2B5EF4-FFF2-40B4-BE49-F238E27FC236}">
                <a16:creationId xmlns:a16="http://schemas.microsoft.com/office/drawing/2014/main" id="{FC8B8542-2AE2-45E7-A76F-20BBB35506F7}"/>
              </a:ext>
            </a:extLst>
          </p:cNvPr>
          <p:cNvSpPr>
            <a:spLocks noChangeArrowheads="1"/>
          </p:cNvSpPr>
          <p:nvPr/>
        </p:nvSpPr>
        <p:spPr bwMode="auto">
          <a:xfrm>
            <a:off x="3657600" y="3886200"/>
            <a:ext cx="228600" cy="198438"/>
          </a:xfrm>
          <a:prstGeom prst="ellipse">
            <a:avLst/>
          </a:prstGeom>
          <a:solidFill>
            <a:srgbClr val="FFFFFF"/>
          </a:solidFill>
          <a:ln w="9525">
            <a:solidFill>
              <a:srgbClr val="000000"/>
            </a:solidFill>
            <a:round/>
            <a:headEnd/>
            <a:tailEnd/>
          </a:ln>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a:p>
        </p:txBody>
      </p:sp>
      <p:sp>
        <p:nvSpPr>
          <p:cNvPr id="17420" name="Line 11">
            <a:extLst>
              <a:ext uri="{FF2B5EF4-FFF2-40B4-BE49-F238E27FC236}">
                <a16:creationId xmlns:a16="http://schemas.microsoft.com/office/drawing/2014/main" id="{2293BA14-2717-4AE7-B656-A8947426E0AA}"/>
              </a:ext>
            </a:extLst>
          </p:cNvPr>
          <p:cNvSpPr>
            <a:spLocks noChangeShapeType="1"/>
          </p:cNvSpPr>
          <p:nvPr/>
        </p:nvSpPr>
        <p:spPr bwMode="auto">
          <a:xfrm>
            <a:off x="5257800" y="3810000"/>
            <a:ext cx="0" cy="396875"/>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1" name="Line 12">
            <a:extLst>
              <a:ext uri="{FF2B5EF4-FFF2-40B4-BE49-F238E27FC236}">
                <a16:creationId xmlns:a16="http://schemas.microsoft.com/office/drawing/2014/main" id="{37278AE7-522B-4C44-B063-F0EF146702FC}"/>
              </a:ext>
            </a:extLst>
          </p:cNvPr>
          <p:cNvSpPr>
            <a:spLocks noChangeShapeType="1"/>
          </p:cNvSpPr>
          <p:nvPr/>
        </p:nvSpPr>
        <p:spPr bwMode="auto">
          <a:xfrm>
            <a:off x="5257800" y="38100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2" name="Line 13">
            <a:extLst>
              <a:ext uri="{FF2B5EF4-FFF2-40B4-BE49-F238E27FC236}">
                <a16:creationId xmlns:a16="http://schemas.microsoft.com/office/drawing/2014/main" id="{CF3D44F5-DAB0-423A-B58F-47E47AD56477}"/>
              </a:ext>
            </a:extLst>
          </p:cNvPr>
          <p:cNvSpPr>
            <a:spLocks noChangeShapeType="1"/>
          </p:cNvSpPr>
          <p:nvPr/>
        </p:nvSpPr>
        <p:spPr bwMode="auto">
          <a:xfrm>
            <a:off x="5257800" y="4191000"/>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3" name="Line 14">
            <a:extLst>
              <a:ext uri="{FF2B5EF4-FFF2-40B4-BE49-F238E27FC236}">
                <a16:creationId xmlns:a16="http://schemas.microsoft.com/office/drawing/2014/main" id="{859FF7B5-EC94-4244-94D7-894C1606C150}"/>
              </a:ext>
            </a:extLst>
          </p:cNvPr>
          <p:cNvSpPr>
            <a:spLocks noChangeShapeType="1"/>
          </p:cNvSpPr>
          <p:nvPr/>
        </p:nvSpPr>
        <p:spPr bwMode="auto">
          <a:xfrm>
            <a:off x="4800600" y="3962400"/>
            <a:ext cx="457200"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Text Box 15">
            <a:extLst>
              <a:ext uri="{FF2B5EF4-FFF2-40B4-BE49-F238E27FC236}">
                <a16:creationId xmlns:a16="http://schemas.microsoft.com/office/drawing/2014/main" id="{8E64B10A-E9BC-48A3-9454-7C049E7520F5}"/>
              </a:ext>
            </a:extLst>
          </p:cNvPr>
          <p:cNvSpPr txBox="1">
            <a:spLocks noChangeArrowheads="1"/>
          </p:cNvSpPr>
          <p:nvPr/>
        </p:nvSpPr>
        <p:spPr bwMode="auto">
          <a:xfrm>
            <a:off x="1600200" y="3048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起止框</a:t>
            </a:r>
          </a:p>
        </p:txBody>
      </p:sp>
      <p:sp>
        <p:nvSpPr>
          <p:cNvPr id="17425" name="Text Box 16">
            <a:extLst>
              <a:ext uri="{FF2B5EF4-FFF2-40B4-BE49-F238E27FC236}">
                <a16:creationId xmlns:a16="http://schemas.microsoft.com/office/drawing/2014/main" id="{76F5971E-76AF-4163-AC83-DB7CA53332DA}"/>
              </a:ext>
            </a:extLst>
          </p:cNvPr>
          <p:cNvSpPr txBox="1">
            <a:spLocks noChangeArrowheads="1"/>
          </p:cNvSpPr>
          <p:nvPr/>
        </p:nvSpPr>
        <p:spPr bwMode="auto">
          <a:xfrm>
            <a:off x="3200400" y="31242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endParaRPr lang="zh-CN" altLang="en-US" sz="2400"/>
          </a:p>
        </p:txBody>
      </p:sp>
      <p:sp>
        <p:nvSpPr>
          <p:cNvPr id="17426" name="Text Box 17">
            <a:extLst>
              <a:ext uri="{FF2B5EF4-FFF2-40B4-BE49-F238E27FC236}">
                <a16:creationId xmlns:a16="http://schemas.microsoft.com/office/drawing/2014/main" id="{EE271643-FC64-42EB-B248-0284CC77101F}"/>
              </a:ext>
            </a:extLst>
          </p:cNvPr>
          <p:cNvSpPr txBox="1">
            <a:spLocks noChangeArrowheads="1"/>
          </p:cNvSpPr>
          <p:nvPr/>
        </p:nvSpPr>
        <p:spPr bwMode="auto">
          <a:xfrm>
            <a:off x="3124200" y="3048000"/>
            <a:ext cx="1524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读入/出框</a:t>
            </a:r>
          </a:p>
        </p:txBody>
      </p:sp>
      <p:sp>
        <p:nvSpPr>
          <p:cNvPr id="17427" name="Text Box 18">
            <a:extLst>
              <a:ext uri="{FF2B5EF4-FFF2-40B4-BE49-F238E27FC236}">
                <a16:creationId xmlns:a16="http://schemas.microsoft.com/office/drawing/2014/main" id="{464551DB-AD7A-4ED1-93AA-6AC1E44261F9}"/>
              </a:ext>
            </a:extLst>
          </p:cNvPr>
          <p:cNvSpPr txBox="1">
            <a:spLocks noChangeArrowheads="1"/>
          </p:cNvSpPr>
          <p:nvPr/>
        </p:nvSpPr>
        <p:spPr bwMode="auto">
          <a:xfrm>
            <a:off x="4724400" y="3048000"/>
            <a:ext cx="1066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判断框</a:t>
            </a:r>
          </a:p>
        </p:txBody>
      </p:sp>
      <p:sp>
        <p:nvSpPr>
          <p:cNvPr id="17428" name="Text Box 19">
            <a:extLst>
              <a:ext uri="{FF2B5EF4-FFF2-40B4-BE49-F238E27FC236}">
                <a16:creationId xmlns:a16="http://schemas.microsoft.com/office/drawing/2014/main" id="{7E697A22-3370-4F76-AD0B-C929DB13B883}"/>
              </a:ext>
            </a:extLst>
          </p:cNvPr>
          <p:cNvSpPr txBox="1">
            <a:spLocks noChangeArrowheads="1"/>
          </p:cNvSpPr>
          <p:nvPr/>
        </p:nvSpPr>
        <p:spPr bwMode="auto">
          <a:xfrm>
            <a:off x="6248400" y="3048000"/>
            <a:ext cx="9906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处理框</a:t>
            </a:r>
          </a:p>
        </p:txBody>
      </p:sp>
      <p:sp>
        <p:nvSpPr>
          <p:cNvPr id="17429" name="Text Box 20">
            <a:extLst>
              <a:ext uri="{FF2B5EF4-FFF2-40B4-BE49-F238E27FC236}">
                <a16:creationId xmlns:a16="http://schemas.microsoft.com/office/drawing/2014/main" id="{1EDC8A5C-5CFF-4305-A36D-F1BC0BAE5347}"/>
              </a:ext>
            </a:extLst>
          </p:cNvPr>
          <p:cNvSpPr txBox="1">
            <a:spLocks noChangeArrowheads="1"/>
          </p:cNvSpPr>
          <p:nvPr/>
        </p:nvSpPr>
        <p:spPr bwMode="auto">
          <a:xfrm>
            <a:off x="1752600" y="4572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流程线 </a:t>
            </a:r>
            <a:endParaRPr lang="zh-CN" altLang="en-US" sz="2000">
              <a:solidFill>
                <a:srgbClr val="3333CC"/>
              </a:solidFill>
              <a:latin typeface="宋体" panose="02010600030101010101" pitchFamily="2" charset="-122"/>
              <a:cs typeface="Times New Roman" panose="02020603050405020304" pitchFamily="18" charset="0"/>
            </a:endParaRPr>
          </a:p>
        </p:txBody>
      </p:sp>
      <p:sp>
        <p:nvSpPr>
          <p:cNvPr id="17430" name="Text Box 21">
            <a:extLst>
              <a:ext uri="{FF2B5EF4-FFF2-40B4-BE49-F238E27FC236}">
                <a16:creationId xmlns:a16="http://schemas.microsoft.com/office/drawing/2014/main" id="{41C553E8-11E4-4272-82AC-B870E5EBDE0C}"/>
              </a:ext>
            </a:extLst>
          </p:cNvPr>
          <p:cNvSpPr txBox="1">
            <a:spLocks noChangeArrowheads="1"/>
          </p:cNvSpPr>
          <p:nvPr/>
        </p:nvSpPr>
        <p:spPr bwMode="auto">
          <a:xfrm>
            <a:off x="3276600" y="4572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连接点 </a:t>
            </a:r>
            <a:endParaRPr lang="zh-CN" altLang="en-US" sz="2000">
              <a:solidFill>
                <a:srgbClr val="3333CC"/>
              </a:solidFill>
              <a:latin typeface="宋体" panose="02010600030101010101" pitchFamily="2" charset="-122"/>
              <a:cs typeface="Times New Roman" panose="02020603050405020304" pitchFamily="18" charset="0"/>
            </a:endParaRPr>
          </a:p>
        </p:txBody>
      </p:sp>
      <p:sp>
        <p:nvSpPr>
          <p:cNvPr id="17431" name="Text Box 22">
            <a:extLst>
              <a:ext uri="{FF2B5EF4-FFF2-40B4-BE49-F238E27FC236}">
                <a16:creationId xmlns:a16="http://schemas.microsoft.com/office/drawing/2014/main" id="{D1D6C13F-BD97-4871-91C2-CAE2789742E8}"/>
              </a:ext>
            </a:extLst>
          </p:cNvPr>
          <p:cNvSpPr txBox="1">
            <a:spLocks noChangeArrowheads="1"/>
          </p:cNvSpPr>
          <p:nvPr/>
        </p:nvSpPr>
        <p:spPr bwMode="auto">
          <a:xfrm>
            <a:off x="4800600" y="4572000"/>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000">
                <a:solidFill>
                  <a:srgbClr val="3333CC"/>
                </a:solidFill>
                <a:latin typeface="宋体" panose="02010600030101010101" pitchFamily="2" charset="-122"/>
              </a:rPr>
              <a:t>注释框 </a:t>
            </a:r>
            <a:endParaRPr lang="zh-CN" altLang="en-US" sz="2000">
              <a:solidFill>
                <a:srgbClr val="3333CC"/>
              </a:solidFill>
              <a:latin typeface="宋体" panose="02010600030101010101" pitchFamily="2" charset="-122"/>
              <a:cs typeface="Times New Roman" panose="02020603050405020304" pitchFamily="18" charset="0"/>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4">
            <a:extLst>
              <a:ext uri="{FF2B5EF4-FFF2-40B4-BE49-F238E27FC236}">
                <a16:creationId xmlns:a16="http://schemas.microsoft.com/office/drawing/2014/main" id="{59CD88A9-8687-41DC-AF86-8135A8FC24DC}"/>
              </a:ext>
            </a:extLst>
          </p:cNvPr>
          <p:cNvSpPr txBox="1">
            <a:spLocks noGrp="1" noChangeArrowheads="1"/>
          </p:cNvSpPr>
          <p:nvPr/>
        </p:nvSpPr>
        <p:spPr bwMode="auto">
          <a:xfrm>
            <a:off x="6934200" y="63246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lgn="r" eaLnBrk="1" hangingPunct="1">
              <a:spcBef>
                <a:spcPct val="50000"/>
              </a:spcBef>
              <a:buFontTx/>
              <a:buNone/>
            </a:pPr>
            <a:fld id="{319C6946-B245-42E6-9BEA-3EC02F982EF4}" type="slidenum">
              <a:rPr lang="zh-CN" altLang="en-US" sz="1400" b="1"/>
              <a:pPr algn="r" eaLnBrk="1" hangingPunct="1">
                <a:spcBef>
                  <a:spcPct val="50000"/>
                </a:spcBef>
                <a:buFontTx/>
                <a:buNone/>
              </a:pPr>
              <a:t>58</a:t>
            </a:fld>
            <a:endParaRPr lang="zh-CN" altLang="en-US" sz="1400" b="1"/>
          </a:p>
        </p:txBody>
      </p:sp>
      <p:sp>
        <p:nvSpPr>
          <p:cNvPr id="21507" name="Text Box 21">
            <a:extLst>
              <a:ext uri="{FF2B5EF4-FFF2-40B4-BE49-F238E27FC236}">
                <a16:creationId xmlns:a16="http://schemas.microsoft.com/office/drawing/2014/main" id="{08C0FFBC-E7D0-4E8E-9253-6EAE52C24360}"/>
              </a:ext>
            </a:extLst>
          </p:cNvPr>
          <p:cNvSpPr txBox="1">
            <a:spLocks noChangeArrowheads="1"/>
          </p:cNvSpPr>
          <p:nvPr/>
        </p:nvSpPr>
        <p:spPr bwMode="auto">
          <a:xfrm>
            <a:off x="539750" y="1196975"/>
            <a:ext cx="4876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t>求</a:t>
            </a:r>
            <a:r>
              <a:rPr lang="en-US" altLang="zh-CN" b="1"/>
              <a:t>10</a:t>
            </a:r>
            <a:r>
              <a:rPr lang="zh-CN" altLang="en-US" b="1"/>
              <a:t>！流程图</a:t>
            </a:r>
          </a:p>
        </p:txBody>
      </p:sp>
      <p:graphicFrame>
        <p:nvGraphicFramePr>
          <p:cNvPr id="21508" name="Object 30">
            <a:extLst>
              <a:ext uri="{FF2B5EF4-FFF2-40B4-BE49-F238E27FC236}">
                <a16:creationId xmlns:a16="http://schemas.microsoft.com/office/drawing/2014/main" id="{26CE0EF2-F5B0-44BA-8711-4E12C9F7B92E}"/>
              </a:ext>
            </a:extLst>
          </p:cNvPr>
          <p:cNvGraphicFramePr>
            <a:graphicFrameLocks noChangeAspect="1"/>
          </p:cNvGraphicFramePr>
          <p:nvPr/>
        </p:nvGraphicFramePr>
        <p:xfrm>
          <a:off x="2411413" y="38100"/>
          <a:ext cx="6732587" cy="5983288"/>
        </p:xfrm>
        <a:graphic>
          <a:graphicData uri="http://schemas.openxmlformats.org/presentationml/2006/ole">
            <mc:AlternateContent xmlns:mc="http://schemas.openxmlformats.org/markup-compatibility/2006">
              <mc:Choice xmlns:v="urn:schemas-microsoft-com:vml" Requires="v">
                <p:oleObj r:id="rId2" imgW="6414120" imgH="7701840" progId="">
                  <p:embed/>
                </p:oleObj>
              </mc:Choice>
              <mc:Fallback>
                <p:oleObj r:id="rId2" imgW="6414120" imgH="7701840" progId="">
                  <p:embed/>
                  <p:pic>
                    <p:nvPicPr>
                      <p:cNvPr id="21508" name="Object 30">
                        <a:extLst>
                          <a:ext uri="{FF2B5EF4-FFF2-40B4-BE49-F238E27FC236}">
                            <a16:creationId xmlns:a16="http://schemas.microsoft.com/office/drawing/2014/main" id="{26CE0EF2-F5B0-44BA-8711-4E12C9F7B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38100"/>
                        <a:ext cx="6732587" cy="598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1509" name="Text Box 34">
            <a:extLst>
              <a:ext uri="{FF2B5EF4-FFF2-40B4-BE49-F238E27FC236}">
                <a16:creationId xmlns:a16="http://schemas.microsoft.com/office/drawing/2014/main" id="{AD319A46-2364-4768-9545-CB9A954525C2}"/>
              </a:ext>
            </a:extLst>
          </p:cNvPr>
          <p:cNvSpPr txBox="1">
            <a:spLocks noChangeArrowheads="1"/>
          </p:cNvSpPr>
          <p:nvPr/>
        </p:nvSpPr>
        <p:spPr bwMode="auto">
          <a:xfrm>
            <a:off x="395288" y="2420938"/>
            <a:ext cx="2232025" cy="946150"/>
          </a:xfrm>
          <a:prstGeom prst="rect">
            <a:avLst/>
          </a:prstGeom>
          <a:noFill/>
          <a:ln>
            <a:noFill/>
          </a:ln>
          <a:effectLst>
            <a:prstShdw prst="shdw17" dist="17961" dir="13500000">
              <a:srgbClr val="999999"/>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b="1">
                <a:solidFill>
                  <a:srgbClr val="000066"/>
                </a:solidFill>
              </a:rPr>
              <a:t>使用当型循环结构描述</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4">
            <a:extLst>
              <a:ext uri="{FF2B5EF4-FFF2-40B4-BE49-F238E27FC236}">
                <a16:creationId xmlns:a16="http://schemas.microsoft.com/office/drawing/2014/main" id="{87D9A860-2C50-4E08-9DF6-FE7E2D245EDB}"/>
              </a:ext>
            </a:extLst>
          </p:cNvPr>
          <p:cNvSpPr>
            <a:spLocks noGrp="1" noChangeArrowheads="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a:spcBef>
                <a:spcPct val="50000"/>
              </a:spcBef>
              <a:buFontTx/>
              <a:buChar char="•"/>
            </a:pPr>
            <a:fld id="{06B5B1F9-5671-4BAC-BF0B-7E16901DDC9A}" type="slidenum">
              <a:rPr altLang="en-US" sz="1400"/>
              <a:pPr>
                <a:spcBef>
                  <a:spcPct val="50000"/>
                </a:spcBef>
                <a:buFontTx/>
                <a:buChar char="•"/>
              </a:pPr>
              <a:t>59</a:t>
            </a:fld>
            <a:endParaRPr lang="zh-CN" altLang="en-US" sz="1400"/>
          </a:p>
        </p:txBody>
      </p:sp>
      <p:sp>
        <p:nvSpPr>
          <p:cNvPr id="24579" name="Rectangle 3">
            <a:extLst>
              <a:ext uri="{FF2B5EF4-FFF2-40B4-BE49-F238E27FC236}">
                <a16:creationId xmlns:a16="http://schemas.microsoft.com/office/drawing/2014/main" id="{8EE9D764-4BC0-470A-8CDF-AC53AC18C71C}"/>
              </a:ext>
            </a:extLst>
          </p:cNvPr>
          <p:cNvSpPr>
            <a:spLocks noGrp="1" noChangeArrowheads="1"/>
          </p:cNvSpPr>
          <p:nvPr>
            <p:ph idx="1"/>
          </p:nvPr>
        </p:nvSpPr>
        <p:spPr>
          <a:xfrm>
            <a:off x="685800" y="1371600"/>
            <a:ext cx="7772400" cy="685800"/>
          </a:xfrm>
        </p:spPr>
        <p:txBody>
          <a:bodyPr/>
          <a:lstStyle/>
          <a:p>
            <a:pPr eaLnBrk="1" hangingPunct="1"/>
            <a:r>
              <a:rPr lang="zh-CN" altLang="en-US"/>
              <a:t>   </a:t>
            </a:r>
            <a:r>
              <a:rPr lang="zh-CN" altLang="en-US" b="1"/>
              <a:t>基本结构</a:t>
            </a:r>
            <a:endParaRPr lang="en-US" altLang="zh-CN" b="1"/>
          </a:p>
        </p:txBody>
      </p:sp>
      <p:sp>
        <p:nvSpPr>
          <p:cNvPr id="24580" name="Rectangle 33">
            <a:extLst>
              <a:ext uri="{FF2B5EF4-FFF2-40B4-BE49-F238E27FC236}">
                <a16:creationId xmlns:a16="http://schemas.microsoft.com/office/drawing/2014/main" id="{D0CC7A2B-6CF3-469F-960F-81804D5A94A0}"/>
              </a:ext>
            </a:extLst>
          </p:cNvPr>
          <p:cNvSpPr>
            <a:spLocks noChangeArrowheads="1"/>
          </p:cNvSpPr>
          <p:nvPr/>
        </p:nvSpPr>
        <p:spPr bwMode="auto">
          <a:xfrm>
            <a:off x="2343150" y="24955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581" name="Rectangle 35">
            <a:extLst>
              <a:ext uri="{FF2B5EF4-FFF2-40B4-BE49-F238E27FC236}">
                <a16:creationId xmlns:a16="http://schemas.microsoft.com/office/drawing/2014/main" id="{63A75F2E-080A-464F-8A51-D3F9C190008E}"/>
              </a:ext>
            </a:extLst>
          </p:cNvPr>
          <p:cNvSpPr>
            <a:spLocks noChangeArrowheads="1"/>
          </p:cNvSpPr>
          <p:nvPr/>
        </p:nvSpPr>
        <p:spPr bwMode="auto">
          <a:xfrm>
            <a:off x="2457450" y="26527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582" name="Rectangle 37">
            <a:extLst>
              <a:ext uri="{FF2B5EF4-FFF2-40B4-BE49-F238E27FC236}">
                <a16:creationId xmlns:a16="http://schemas.microsoft.com/office/drawing/2014/main" id="{C14353BA-AA82-4962-9840-8FC88E2CA5E7}"/>
              </a:ext>
            </a:extLst>
          </p:cNvPr>
          <p:cNvSpPr>
            <a:spLocks noGrp="1" noChangeArrowheads="1"/>
          </p:cNvSpPr>
          <p:nvPr>
            <p:ph type="title"/>
          </p:nvPr>
        </p:nvSpPr>
        <p:spPr/>
        <p:txBody>
          <a:bodyPr lIns="92075" tIns="46038" rIns="92075" bIns="46038"/>
          <a:lstStyle/>
          <a:p>
            <a:pPr eaLnBrk="1" hangingPunct="1"/>
            <a:r>
              <a:rPr lang="zh-CN" altLang="en-US" b="1" dirty="0"/>
              <a:t>程序的结构描述</a:t>
            </a:r>
            <a:r>
              <a:rPr lang="zh-CN" altLang="en-US" sz="3600" b="1" dirty="0">
                <a:latin typeface="宋体" panose="02010600030101010101" pitchFamily="2" charset="-122"/>
              </a:rPr>
              <a:t>－</a:t>
            </a:r>
            <a:r>
              <a:rPr lang="en-US" altLang="zh-CN" sz="3600" b="1" dirty="0">
                <a:solidFill>
                  <a:srgbClr val="FF9900"/>
                </a:solidFill>
                <a:latin typeface="宋体" panose="02010600030101010101" pitchFamily="2" charset="-122"/>
              </a:rPr>
              <a:t>N-S</a:t>
            </a:r>
            <a:r>
              <a:rPr lang="zh-CN" altLang="en-US" b="1" dirty="0">
                <a:solidFill>
                  <a:srgbClr val="FF9900"/>
                </a:solidFill>
              </a:rPr>
              <a:t>流程图</a:t>
            </a:r>
          </a:p>
        </p:txBody>
      </p:sp>
      <p:graphicFrame>
        <p:nvGraphicFramePr>
          <p:cNvPr id="24583" name="Object 39">
            <a:extLst>
              <a:ext uri="{FF2B5EF4-FFF2-40B4-BE49-F238E27FC236}">
                <a16:creationId xmlns:a16="http://schemas.microsoft.com/office/drawing/2014/main" id="{DA81C8EE-6176-4275-B253-C360F079CA45}"/>
              </a:ext>
            </a:extLst>
          </p:cNvPr>
          <p:cNvGraphicFramePr>
            <a:graphicFrameLocks noChangeAspect="1"/>
          </p:cNvGraphicFramePr>
          <p:nvPr/>
        </p:nvGraphicFramePr>
        <p:xfrm>
          <a:off x="647700" y="1773238"/>
          <a:ext cx="5508625" cy="2400300"/>
        </p:xfrm>
        <a:graphic>
          <a:graphicData uri="http://schemas.openxmlformats.org/presentationml/2006/ole">
            <mc:AlternateContent xmlns:mc="http://schemas.openxmlformats.org/markup-compatibility/2006">
              <mc:Choice xmlns:v="urn:schemas-microsoft-com:vml" Requires="v">
                <p:oleObj r:id="rId2" imgW="5695920" imgH="2485080" progId="Visio.Drawing.11">
                  <p:embed/>
                </p:oleObj>
              </mc:Choice>
              <mc:Fallback>
                <p:oleObj r:id="rId2" imgW="5695920" imgH="2485080" progId="Visio.Drawing.11">
                  <p:embed/>
                  <p:pic>
                    <p:nvPicPr>
                      <p:cNvPr id="24583" name="Object 39">
                        <a:extLst>
                          <a:ext uri="{FF2B5EF4-FFF2-40B4-BE49-F238E27FC236}">
                            <a16:creationId xmlns:a16="http://schemas.microsoft.com/office/drawing/2014/main" id="{DA81C8EE-6176-4275-B253-C360F079CA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1773238"/>
                        <a:ext cx="55086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24584" name="Object 38">
            <a:extLst>
              <a:ext uri="{FF2B5EF4-FFF2-40B4-BE49-F238E27FC236}">
                <a16:creationId xmlns:a16="http://schemas.microsoft.com/office/drawing/2014/main" id="{5FC0DA2C-9AE1-43A0-A1B1-E0110C617CA4}"/>
              </a:ext>
            </a:extLst>
          </p:cNvPr>
          <p:cNvGraphicFramePr>
            <a:graphicFrameLocks noChangeAspect="1"/>
          </p:cNvGraphicFramePr>
          <p:nvPr/>
        </p:nvGraphicFramePr>
        <p:xfrm>
          <a:off x="593725" y="3886200"/>
          <a:ext cx="5938838" cy="2162175"/>
        </p:xfrm>
        <a:graphic>
          <a:graphicData uri="http://schemas.openxmlformats.org/presentationml/2006/ole">
            <mc:AlternateContent xmlns:mc="http://schemas.openxmlformats.org/markup-compatibility/2006">
              <mc:Choice xmlns:v="urn:schemas-microsoft-com:vml" Requires="v">
                <p:oleObj r:id="rId4" imgW="5568480" imgH="2081880" progId="Visio.Drawing.11">
                  <p:embed/>
                </p:oleObj>
              </mc:Choice>
              <mc:Fallback>
                <p:oleObj r:id="rId4" imgW="5568480" imgH="2081880" progId="Visio.Drawing.11">
                  <p:embed/>
                  <p:pic>
                    <p:nvPicPr>
                      <p:cNvPr id="24584" name="Object 38">
                        <a:extLst>
                          <a:ext uri="{FF2B5EF4-FFF2-40B4-BE49-F238E27FC236}">
                            <a16:creationId xmlns:a16="http://schemas.microsoft.com/office/drawing/2014/main" id="{5FC0DA2C-9AE1-43A0-A1B1-E0110C617CA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3725" y="3886200"/>
                        <a:ext cx="5938838" cy="216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0872" name="Rectangle 40">
            <a:extLst>
              <a:ext uri="{FF2B5EF4-FFF2-40B4-BE49-F238E27FC236}">
                <a16:creationId xmlns:a16="http://schemas.microsoft.com/office/drawing/2014/main" id="{C2451702-C08A-43BA-851A-16F0C091EF64}"/>
              </a:ext>
            </a:extLst>
          </p:cNvPr>
          <p:cNvSpPr>
            <a:spLocks noChangeArrowheads="1"/>
          </p:cNvSpPr>
          <p:nvPr/>
        </p:nvSpPr>
        <p:spPr bwMode="auto">
          <a:xfrm>
            <a:off x="0" y="1576388"/>
            <a:ext cx="9144000" cy="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eaLnBrk="1" hangingPunct="1">
              <a:spcBef>
                <a:spcPct val="20000"/>
              </a:spcBef>
              <a:buFontTx/>
              <a:buChar char="•"/>
              <a:defRPr/>
            </a:pPr>
            <a:endParaRPr kumimoji="1" lang="zh-CN" altLang="en-US"/>
          </a:p>
        </p:txBody>
      </p:sp>
      <p:sp>
        <p:nvSpPr>
          <p:cNvPr id="120873" name="Rectangle 41">
            <a:extLst>
              <a:ext uri="{FF2B5EF4-FFF2-40B4-BE49-F238E27FC236}">
                <a16:creationId xmlns:a16="http://schemas.microsoft.com/office/drawing/2014/main" id="{4F0D9919-8950-4229-BE48-76FE0D88C0E5}"/>
              </a:ext>
            </a:extLst>
          </p:cNvPr>
          <p:cNvSpPr>
            <a:spLocks noChangeArrowheads="1"/>
          </p:cNvSpPr>
          <p:nvPr/>
        </p:nvSpPr>
        <p:spPr bwMode="auto">
          <a:xfrm>
            <a:off x="0" y="3290888"/>
            <a:ext cx="184150" cy="45720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eaLnBrk="1" hangingPunct="1">
              <a:defRPr/>
            </a:pPr>
            <a:endParaRPr lang="zh-CN" altLang="en-US" sz="2400"/>
          </a:p>
        </p:txBody>
      </p:sp>
      <p:sp>
        <p:nvSpPr>
          <p:cNvPr id="120874" name="Rectangle 42">
            <a:extLst>
              <a:ext uri="{FF2B5EF4-FFF2-40B4-BE49-F238E27FC236}">
                <a16:creationId xmlns:a16="http://schemas.microsoft.com/office/drawing/2014/main" id="{34DFB22E-9627-4E5D-ACC6-610F5A156AB7}"/>
              </a:ext>
            </a:extLst>
          </p:cNvPr>
          <p:cNvSpPr>
            <a:spLocks noChangeArrowheads="1"/>
          </p:cNvSpPr>
          <p:nvPr/>
        </p:nvSpPr>
        <p:spPr bwMode="auto">
          <a:xfrm>
            <a:off x="0" y="5053013"/>
            <a:ext cx="184150" cy="45720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eaLnBrk="1" hangingPunct="1">
              <a:defRPr/>
            </a:pPr>
            <a:endParaRPr lang="zh-CN" altLang="en-US" sz="2400"/>
          </a:p>
        </p:txBody>
      </p:sp>
      <p:sp>
        <p:nvSpPr>
          <p:cNvPr id="24588" name="Text Box 45">
            <a:extLst>
              <a:ext uri="{FF2B5EF4-FFF2-40B4-BE49-F238E27FC236}">
                <a16:creationId xmlns:a16="http://schemas.microsoft.com/office/drawing/2014/main" id="{A15266CA-F539-4BEB-B86B-77A089D43678}"/>
              </a:ext>
            </a:extLst>
          </p:cNvPr>
          <p:cNvSpPr txBox="1">
            <a:spLocks noChangeArrowheads="1"/>
          </p:cNvSpPr>
          <p:nvPr/>
        </p:nvSpPr>
        <p:spPr bwMode="auto">
          <a:xfrm>
            <a:off x="6300788" y="1844675"/>
            <a:ext cx="2447925" cy="3935413"/>
          </a:xfrm>
          <a:prstGeom prst="rect">
            <a:avLst/>
          </a:prstGeom>
          <a:solidFill>
            <a:srgbClr val="CCFFCC"/>
          </a:solidFill>
          <a:ln w="9525">
            <a:solidFill>
              <a:schemeClr val="tx1"/>
            </a:solidFill>
            <a:miter lim="800000"/>
            <a:headEnd/>
            <a:tailEnd/>
          </a:ln>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en-US" altLang="zh-CN" sz="2400" b="1"/>
              <a:t>p</a:t>
            </a:r>
            <a:r>
              <a:rPr lang="zh-CN" altLang="en-US" sz="2400" b="1"/>
              <a:t>、</a:t>
            </a:r>
            <a:r>
              <a:rPr lang="en-US" altLang="zh-CN" sz="2400" b="1"/>
              <a:t>p1</a:t>
            </a:r>
            <a:r>
              <a:rPr lang="zh-CN" altLang="en-US" sz="2400" b="1"/>
              <a:t>表示的是判断条件；</a:t>
            </a:r>
            <a:r>
              <a:rPr lang="en-US" altLang="zh-CN" sz="2400" b="1"/>
              <a:t>A</a:t>
            </a:r>
            <a:r>
              <a:rPr lang="zh-CN" altLang="en-US" sz="2400" b="1"/>
              <a:t>、</a:t>
            </a:r>
            <a:r>
              <a:rPr lang="en-US" altLang="zh-CN" sz="2400" b="1"/>
              <a:t>B</a:t>
            </a:r>
            <a:r>
              <a:rPr lang="zh-CN" altLang="en-US" sz="2400" b="1"/>
              <a:t>框是操作；</a:t>
            </a:r>
          </a:p>
          <a:p>
            <a:pPr eaLnBrk="1" hangingPunct="1">
              <a:spcBef>
                <a:spcPct val="50000"/>
              </a:spcBef>
              <a:buFontTx/>
              <a:buNone/>
            </a:pPr>
            <a:r>
              <a:rPr lang="zh-CN" altLang="en-US" sz="2400" b="1"/>
              <a:t>注意：</a:t>
            </a:r>
            <a:r>
              <a:rPr lang="en-US" altLang="zh-CN" sz="2400" b="1"/>
              <a:t>A</a:t>
            </a:r>
            <a:r>
              <a:rPr lang="zh-CN" altLang="en-US" sz="2400" b="1"/>
              <a:t>、</a:t>
            </a:r>
            <a:r>
              <a:rPr lang="en-US" altLang="zh-CN" sz="2400" b="1"/>
              <a:t>B</a:t>
            </a:r>
            <a:r>
              <a:rPr lang="zh-CN" altLang="en-US" sz="2400" b="1"/>
              <a:t>框可以是一个简单的操作（如读入数据或打印打印等），也可以是三种基本结构之一</a:t>
            </a:r>
          </a:p>
        </p:txBody>
      </p:sp>
      <p:sp>
        <p:nvSpPr>
          <p:cNvPr id="24589" name="Text Box 46">
            <a:extLst>
              <a:ext uri="{FF2B5EF4-FFF2-40B4-BE49-F238E27FC236}">
                <a16:creationId xmlns:a16="http://schemas.microsoft.com/office/drawing/2014/main" id="{8F02D54C-4143-481E-9135-1FA4F8244FED}"/>
              </a:ext>
            </a:extLst>
          </p:cNvPr>
          <p:cNvSpPr txBox="1">
            <a:spLocks noChangeArrowheads="1"/>
          </p:cNvSpPr>
          <p:nvPr/>
        </p:nvSpPr>
        <p:spPr bwMode="auto">
          <a:xfrm>
            <a:off x="1187450" y="3429000"/>
            <a:ext cx="18732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顺序结构</a:t>
            </a:r>
          </a:p>
        </p:txBody>
      </p:sp>
      <p:sp>
        <p:nvSpPr>
          <p:cNvPr id="24590" name="Text Box 47">
            <a:extLst>
              <a:ext uri="{FF2B5EF4-FFF2-40B4-BE49-F238E27FC236}">
                <a16:creationId xmlns:a16="http://schemas.microsoft.com/office/drawing/2014/main" id="{D4897B89-0BFC-4559-A72B-B2B17EB86578}"/>
              </a:ext>
            </a:extLst>
          </p:cNvPr>
          <p:cNvSpPr txBox="1">
            <a:spLocks noChangeArrowheads="1"/>
          </p:cNvSpPr>
          <p:nvPr/>
        </p:nvSpPr>
        <p:spPr bwMode="auto">
          <a:xfrm>
            <a:off x="3924300" y="3429000"/>
            <a:ext cx="1873250"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选择结构</a:t>
            </a:r>
          </a:p>
        </p:txBody>
      </p:sp>
      <p:sp>
        <p:nvSpPr>
          <p:cNvPr id="24591" name="Text Box 48">
            <a:extLst>
              <a:ext uri="{FF2B5EF4-FFF2-40B4-BE49-F238E27FC236}">
                <a16:creationId xmlns:a16="http://schemas.microsoft.com/office/drawing/2014/main" id="{77CD3A4C-50CE-4041-99CD-559695740E63}"/>
              </a:ext>
            </a:extLst>
          </p:cNvPr>
          <p:cNvSpPr txBox="1">
            <a:spLocks noChangeArrowheads="1"/>
          </p:cNvSpPr>
          <p:nvPr/>
        </p:nvSpPr>
        <p:spPr bwMode="auto">
          <a:xfrm>
            <a:off x="1258888" y="5300663"/>
            <a:ext cx="2376487"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当型循环结构</a:t>
            </a:r>
          </a:p>
        </p:txBody>
      </p:sp>
      <p:sp>
        <p:nvSpPr>
          <p:cNvPr id="24592" name="Text Box 49">
            <a:extLst>
              <a:ext uri="{FF2B5EF4-FFF2-40B4-BE49-F238E27FC236}">
                <a16:creationId xmlns:a16="http://schemas.microsoft.com/office/drawing/2014/main" id="{44C922A4-7BAE-4A4E-A516-5C54E6DE2BAA}"/>
              </a:ext>
            </a:extLst>
          </p:cNvPr>
          <p:cNvSpPr txBox="1">
            <a:spLocks noChangeArrowheads="1"/>
          </p:cNvSpPr>
          <p:nvPr/>
        </p:nvSpPr>
        <p:spPr bwMode="auto">
          <a:xfrm>
            <a:off x="3924300" y="5300663"/>
            <a:ext cx="2376488" cy="4572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SzPct val="65000"/>
              <a:buFont typeface="Wingdings" panose="05000000000000000000" pitchFamily="2" charset="2"/>
              <a:buChar char="n"/>
              <a:defRPr sz="28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None/>
            </a:pPr>
            <a:r>
              <a:rPr lang="zh-CN" altLang="en-US" sz="2400" b="1">
                <a:solidFill>
                  <a:schemeClr val="accent2"/>
                </a:solidFill>
              </a:rPr>
              <a:t>直到型循环结构</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p:cNvSpPr>
          <p:nvPr>
            <p:ph type="title"/>
          </p:nvPr>
        </p:nvSpPr>
        <p:spPr/>
        <p:txBody>
          <a:bodyPr vert="horz" wrap="square" lIns="68580" tIns="34290" rIns="68580" bIns="34290" numCol="1" anchor="ctr" anchorCtr="0" compatLnSpc="1">
            <a:prstTxWarp prst="textNoShape">
              <a:avLst/>
            </a:prstTxWarp>
          </a:bodyPr>
          <a:lstStyle/>
          <a:p>
            <a:pPr eaLnBrk="1" hangingPunct="1"/>
            <a:r>
              <a:rPr lang="en-US" altLang="zh-CN" b="1" dirty="0">
                <a:sym typeface="+mn-ea"/>
              </a:rPr>
              <a:t>三种基本控制结构</a:t>
            </a:r>
            <a:endParaRPr lang="zh-CN" altLang="en-US" b="1" dirty="0"/>
          </a:p>
        </p:txBody>
      </p:sp>
      <p:graphicFrame>
        <p:nvGraphicFramePr>
          <p:cNvPr id="54278" name="Object 39"/>
          <p:cNvGraphicFramePr>
            <a:graphicFrameLocks noChangeAspect="1"/>
          </p:cNvGraphicFramePr>
          <p:nvPr/>
        </p:nvGraphicFramePr>
        <p:xfrm>
          <a:off x="395764" y="1261993"/>
          <a:ext cx="4131469" cy="1800225"/>
        </p:xfrm>
        <a:graphic>
          <a:graphicData uri="http://schemas.openxmlformats.org/presentationml/2006/ole">
            <mc:AlternateContent xmlns:mc="http://schemas.openxmlformats.org/markup-compatibility/2006">
              <mc:Choice xmlns:v="urn:schemas-microsoft-com:vml" Requires="v">
                <p:oleObj r:id="rId3" imgW="5723255" imgH="2506345" progId="Visio.Drawing.11">
                  <p:embed/>
                </p:oleObj>
              </mc:Choice>
              <mc:Fallback>
                <p:oleObj r:id="rId3" imgW="5723255" imgH="2506345" progId="Visio.Drawing.11">
                  <p:embed/>
                  <p:pic>
                    <p:nvPicPr>
                      <p:cNvPr id="54278" name="Object 39"/>
                      <p:cNvPicPr/>
                      <p:nvPr/>
                    </p:nvPicPr>
                    <p:blipFill>
                      <a:blip r:embed="rId4"/>
                      <a:stretch>
                        <a:fillRect/>
                      </a:stretch>
                    </p:blipFill>
                    <p:spPr>
                      <a:xfrm>
                        <a:off x="395764" y="1261993"/>
                        <a:ext cx="4131469" cy="1800225"/>
                      </a:xfrm>
                      <a:prstGeom prst="rect">
                        <a:avLst/>
                      </a:prstGeom>
                      <a:noFill/>
                      <a:ln w="38100">
                        <a:noFill/>
                        <a:miter/>
                      </a:ln>
                    </p:spPr>
                  </p:pic>
                </p:oleObj>
              </mc:Fallback>
            </mc:AlternateContent>
          </a:graphicData>
        </a:graphic>
      </p:graphicFrame>
      <p:graphicFrame>
        <p:nvGraphicFramePr>
          <p:cNvPr id="54279" name="Object 38"/>
          <p:cNvGraphicFramePr>
            <a:graphicFrameLocks noChangeAspect="1"/>
          </p:cNvGraphicFramePr>
          <p:nvPr/>
        </p:nvGraphicFramePr>
        <p:xfrm>
          <a:off x="4577001" y="1273661"/>
          <a:ext cx="4454128" cy="1664494"/>
        </p:xfrm>
        <a:graphic>
          <a:graphicData uri="http://schemas.openxmlformats.org/presentationml/2006/ole">
            <mc:AlternateContent xmlns:mc="http://schemas.openxmlformats.org/markup-compatibility/2006">
              <mc:Choice xmlns:v="urn:schemas-microsoft-com:vml" Requires="v">
                <p:oleObj r:id="rId5" imgW="5599430" imgH="2099945" progId="Visio.Drawing.11">
                  <p:embed/>
                </p:oleObj>
              </mc:Choice>
              <mc:Fallback>
                <p:oleObj r:id="rId5" imgW="5599430" imgH="2099945" progId="Visio.Drawing.11">
                  <p:embed/>
                  <p:pic>
                    <p:nvPicPr>
                      <p:cNvPr id="54279" name="Object 38"/>
                      <p:cNvPicPr/>
                      <p:nvPr/>
                    </p:nvPicPr>
                    <p:blipFill>
                      <a:blip r:embed="rId6"/>
                      <a:stretch>
                        <a:fillRect/>
                      </a:stretch>
                    </p:blipFill>
                    <p:spPr>
                      <a:xfrm>
                        <a:off x="4577001" y="1273661"/>
                        <a:ext cx="4454128" cy="1664494"/>
                      </a:xfrm>
                      <a:prstGeom prst="rect">
                        <a:avLst/>
                      </a:prstGeom>
                      <a:noFill/>
                      <a:ln w="38100">
                        <a:noFill/>
                        <a:miter/>
                      </a:ln>
                    </p:spPr>
                  </p:pic>
                </p:oleObj>
              </mc:Fallback>
            </mc:AlternateContent>
          </a:graphicData>
        </a:graphic>
      </p:graphicFrame>
      <p:sp>
        <p:nvSpPr>
          <p:cNvPr id="49154" name="Rectangle 4"/>
          <p:cNvSpPr>
            <a:spLocks noGrp="1"/>
          </p:cNvSpPr>
          <p:nvPr>
            <p:ph idx="1"/>
          </p:nvPr>
        </p:nvSpPr>
        <p:spPr>
          <a:xfrm>
            <a:off x="738664" y="2961491"/>
            <a:ext cx="7772400" cy="2051685"/>
          </a:xfrm>
        </p:spPr>
        <p:txBody>
          <a:bodyPr vert="horz" wrap="square" lIns="69056" tIns="34529" rIns="69056" bIns="34529" numCol="1" anchor="t" anchorCtr="0" compatLnSpc="1">
            <a:prstTxWarp prst="textNoShape">
              <a:avLst/>
            </a:prstTxWarp>
          </a:bodyPr>
          <a:lstStyle/>
          <a:p>
            <a:pPr algn="just" eaLnBrk="1" hangingPunct="1">
              <a:buNone/>
            </a:pPr>
            <a:r>
              <a:rPr lang="zh-CN" altLang="en-US" b="1" dirty="0">
                <a:latin typeface="宋体" pitchFamily="2" charset="-122"/>
              </a:rPr>
              <a:t>三种控制结构的共同点</a:t>
            </a:r>
            <a:endParaRPr lang="zh-CN" altLang="en-US" dirty="0">
              <a:latin typeface="宋体" pitchFamily="2" charset="-122"/>
              <a:ea typeface="Times New Roman" pitchFamily="18" charset="0"/>
            </a:endParaRPr>
          </a:p>
          <a:p>
            <a:pPr algn="just" eaLnBrk="1" hangingPunct="1">
              <a:buFont typeface="Wingdings" pitchFamily="2" charset="2"/>
              <a:buChar char="Ø"/>
            </a:pPr>
            <a:r>
              <a:rPr lang="zh-CN" altLang="en-US" b="1" dirty="0">
                <a:latin typeface="宋体" pitchFamily="2" charset="-122"/>
              </a:rPr>
              <a:t> </a:t>
            </a:r>
            <a:r>
              <a:rPr lang="zh-CN" altLang="en-US" b="1" dirty="0">
                <a:solidFill>
                  <a:srgbClr val="000066"/>
                </a:solidFill>
              </a:rPr>
              <a:t>只有一个入口</a:t>
            </a:r>
          </a:p>
          <a:p>
            <a:pPr algn="just" eaLnBrk="1" hangingPunct="1">
              <a:buFont typeface="Wingdings" pitchFamily="2" charset="2"/>
              <a:buChar char="Ø"/>
            </a:pPr>
            <a:r>
              <a:rPr lang="zh-CN" altLang="en-US" b="1" dirty="0">
                <a:solidFill>
                  <a:srgbClr val="000066"/>
                </a:solidFill>
              </a:rPr>
              <a:t> 只有一个出口</a:t>
            </a:r>
          </a:p>
          <a:p>
            <a:pPr algn="just" eaLnBrk="1" hangingPunct="1">
              <a:buFont typeface="Wingdings" pitchFamily="2" charset="2"/>
              <a:buChar char="Ø"/>
            </a:pPr>
            <a:r>
              <a:rPr lang="zh-CN" altLang="en-US" b="1" dirty="0">
                <a:solidFill>
                  <a:srgbClr val="000066"/>
                </a:solidFill>
              </a:rPr>
              <a:t> 结构内的每一个部分都有机会被执行到</a:t>
            </a:r>
          </a:p>
          <a:p>
            <a:pPr algn="just" eaLnBrk="1" hangingPunct="1">
              <a:buFont typeface="Wingdings" pitchFamily="2" charset="2"/>
              <a:buChar char="Ø"/>
            </a:pPr>
            <a:r>
              <a:rPr lang="zh-CN" altLang="en-US" b="1" dirty="0">
                <a:solidFill>
                  <a:srgbClr val="000066"/>
                </a:solidFill>
              </a:rPr>
              <a:t> 结构内不存在“死循环”（无终止的循环）</a:t>
            </a:r>
          </a:p>
          <a:p>
            <a:pPr algn="just" eaLnBrk="1" hangingPunct="1">
              <a:buFont typeface="Wingdings" pitchFamily="2" charset="2"/>
              <a:buNone/>
            </a:pPr>
            <a:endParaRPr lang="zh-CN" altLang="en-US" b="1" dirty="0">
              <a:solidFill>
                <a:srgbClr val="000066"/>
              </a:solidFill>
            </a:endParaRPr>
          </a:p>
        </p:txBody>
      </p:sp>
      <p:sp>
        <p:nvSpPr>
          <p:cNvPr id="145417" name="Text Box 9"/>
          <p:cNvSpPr txBox="1">
            <a:spLocks noChangeArrowheads="1"/>
          </p:cNvSpPr>
          <p:nvPr/>
        </p:nvSpPr>
        <p:spPr bwMode="auto">
          <a:xfrm>
            <a:off x="685800" y="5733256"/>
            <a:ext cx="7772400" cy="415498"/>
          </a:xfrm>
          <a:prstGeom prst="rect">
            <a:avLst/>
          </a:prstGeom>
          <a:gradFill rotWithShape="1">
            <a:gsLst>
              <a:gs pos="0">
                <a:schemeClr val="accent1"/>
              </a:gs>
              <a:gs pos="100000">
                <a:schemeClr val="bg1"/>
              </a:gs>
            </a:gsLst>
            <a:lin ang="0" scaled="1"/>
          </a:gradFill>
          <a:ln>
            <a:noFill/>
          </a:ln>
          <a:effectLst>
            <a:prstShdw prst="shdw18" dist="17961" dir="13500000">
              <a:schemeClr val="accent1">
                <a:gamma/>
                <a:shade val="60000"/>
                <a:invGamma/>
              </a:schemeClr>
            </a:prstShdw>
          </a:effectLst>
        </p:spPr>
        <p:txBody>
          <a:bodyPr wrap="square">
            <a:spAutoFit/>
          </a:bodyPr>
          <a:lstStyle/>
          <a:p>
            <a:pPr defTabSz="685800">
              <a:spcBef>
                <a:spcPct val="50000"/>
              </a:spcBef>
              <a:defRPr/>
            </a:pPr>
            <a:r>
              <a:rPr kumimoji="1" lang="zh-CN" altLang="en-US" sz="2100" dirty="0"/>
              <a:t>由这三种基本结构顺序组成的算法结构，可以解决任何复杂问题！</a:t>
            </a:r>
          </a:p>
        </p:txBody>
      </p:sp>
    </p:spTree>
    <p:extLst>
      <p:ext uri="{BB962C8B-B14F-4D97-AF65-F5344CB8AC3E}">
        <p14:creationId xmlns:p14="http://schemas.microsoft.com/office/powerpoint/2010/main" val="98112363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45417"/>
                                        </p:tgtEl>
                                        <p:attrNameLst>
                                          <p:attrName>style.visibility</p:attrName>
                                        </p:attrNameLst>
                                      </p:cBhvr>
                                      <p:to>
                                        <p:strVal val="visible"/>
                                      </p:to>
                                    </p:set>
                                    <p:animEffect transition="in" filter="dissolve">
                                      <p:cBhvr>
                                        <p:cTn id="7" dur="500"/>
                                        <p:tgtEl>
                                          <p:spTgt spid="145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7"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61</a:t>
            </a:fld>
            <a:endParaRPr lang="zh-CN" altLang="en-US" sz="1400" b="1" dirty="0"/>
          </a:p>
        </p:txBody>
      </p:sp>
      <p:sp>
        <p:nvSpPr>
          <p:cNvPr id="11267" name="Rectangle 4"/>
          <p:cNvSpPr>
            <a:spLocks noGrp="1"/>
          </p:cNvSpPr>
          <p:nvPr>
            <p:ph type="title"/>
          </p:nvPr>
        </p:nvSpPr>
        <p:spPr>
          <a:xfrm>
            <a:off x="1157288" y="434975"/>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11268" name="Rectangle 3"/>
          <p:cNvSpPr>
            <a:spLocks noGrp="1"/>
          </p:cNvSpPr>
          <p:nvPr>
            <p:ph type="body" sz="half" idx="1"/>
          </p:nvPr>
        </p:nvSpPr>
        <p:spPr>
          <a:xfrm>
            <a:off x="685800" y="1319213"/>
            <a:ext cx="4894263" cy="4611687"/>
          </a:xfrm>
        </p:spPr>
        <p:txBody>
          <a:bodyPr vert="horz" wrap="square" lIns="91440" tIns="45720" rIns="91440" bIns="45720" anchor="t"/>
          <a:lstStyle/>
          <a:p>
            <a:pPr eaLnBrk="1" hangingPunct="1">
              <a:buNone/>
            </a:pPr>
            <a:r>
              <a:rPr lang="zh-CN" altLang="en-US" dirty="0"/>
              <a:t>二</a:t>
            </a:r>
            <a:r>
              <a:rPr lang="en-US" altLang="zh-CN" dirty="0"/>
              <a:t>.</a:t>
            </a:r>
            <a:r>
              <a:rPr lang="zh-CN" altLang="en-US" b="1" dirty="0"/>
              <a:t>子程序的控制和调用机制</a:t>
            </a:r>
          </a:p>
          <a:p>
            <a:pPr eaLnBrk="1" hangingPunct="1">
              <a:buNone/>
            </a:pPr>
            <a:endParaRPr lang="zh-CN" altLang="en-US" dirty="0"/>
          </a:p>
        </p:txBody>
      </p:sp>
      <p:sp>
        <p:nvSpPr>
          <p:cNvPr id="195590" name="Rectangle 6"/>
          <p:cNvSpPr>
            <a:spLocks noChangeArrowheads="1"/>
          </p:cNvSpPr>
          <p:nvPr/>
        </p:nvSpPr>
        <p:spPr bwMode="auto">
          <a:xfrm>
            <a:off x="0" y="2028825"/>
            <a:ext cx="9144000" cy="0"/>
          </a:xfrm>
          <a:prstGeom prst="rect">
            <a:avLst/>
          </a:prstGeom>
          <a:noFill/>
          <a:ln w="9525">
            <a:noFill/>
            <a:miter lim="800000"/>
          </a:ln>
          <a:effectLst>
            <a:prstShdw prst="shdw18" dist="17961" dir="13500000">
              <a:schemeClr val="bg1">
                <a:gamma/>
                <a:shade val="60000"/>
                <a:invGamma/>
              </a:schemeClr>
            </a:prstShdw>
          </a:effectLst>
        </p:spPr>
        <p:txBody>
          <a:bodyPr wrap="none" anchor="ctr">
            <a:spAutoFit/>
          </a:bodyPr>
          <a:lstStyle/>
          <a:p>
            <a:pPr marL="0" marR="0" lvl="0" indent="0" algn="l" defTabSz="914400" rtl="0" eaLnBrk="1" fontAlgn="base" latinLnBrk="0" hangingPunct="1">
              <a:lnSpc>
                <a:spcPct val="90000"/>
              </a:lnSpc>
              <a:spcBef>
                <a:spcPct val="20000"/>
              </a:spcBef>
              <a:spcAft>
                <a:spcPct val="0"/>
              </a:spcAft>
              <a:buClrTx/>
              <a:buSzTx/>
              <a:buFontTx/>
              <a:buNone/>
              <a:defRPr/>
            </a:pPr>
            <a:endParaRPr kumimoji="1" lang="zh-CN" altLang="en-US" sz="22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aphicFrame>
        <p:nvGraphicFramePr>
          <p:cNvPr id="11270" name="Object 5"/>
          <p:cNvGraphicFramePr>
            <a:graphicFrameLocks noChangeAspect="1"/>
          </p:cNvGraphicFramePr>
          <p:nvPr/>
        </p:nvGraphicFramePr>
        <p:xfrm>
          <a:off x="4429125" y="1196975"/>
          <a:ext cx="4895850" cy="3460750"/>
        </p:xfrm>
        <a:graphic>
          <a:graphicData uri="http://schemas.openxmlformats.org/presentationml/2006/ole">
            <mc:AlternateContent xmlns:mc="http://schemas.openxmlformats.org/markup-compatibility/2006">
              <mc:Choice xmlns:v="urn:schemas-microsoft-com:vml" Requires="v">
                <p:oleObj r:id="rId3" imgW="5814060" imgH="4109085" progId="Visio.Drawing.11">
                  <p:embed/>
                </p:oleObj>
              </mc:Choice>
              <mc:Fallback>
                <p:oleObj r:id="rId3" imgW="5814060" imgH="4109085" progId="Visio.Drawing.11">
                  <p:embed/>
                  <p:pic>
                    <p:nvPicPr>
                      <p:cNvPr id="11270" name="Object 5"/>
                      <p:cNvPicPr/>
                      <p:nvPr/>
                    </p:nvPicPr>
                    <p:blipFill>
                      <a:blip r:embed="rId4"/>
                      <a:stretch>
                        <a:fillRect/>
                      </a:stretch>
                    </p:blipFill>
                    <p:spPr>
                      <a:xfrm>
                        <a:off x="4429125" y="1196975"/>
                        <a:ext cx="4895850" cy="3460750"/>
                      </a:xfrm>
                      <a:prstGeom prst="rect">
                        <a:avLst/>
                      </a:prstGeom>
                      <a:noFill/>
                      <a:ln w="38100">
                        <a:noFill/>
                        <a:miter/>
                      </a:ln>
                    </p:spPr>
                  </p:pic>
                </p:oleObj>
              </mc:Fallback>
            </mc:AlternateContent>
          </a:graphicData>
        </a:graphic>
      </p:graphicFrame>
      <p:sp>
        <p:nvSpPr>
          <p:cNvPr id="11271" name="Rectangle 7"/>
          <p:cNvSpPr/>
          <p:nvPr/>
        </p:nvSpPr>
        <p:spPr>
          <a:xfrm>
            <a:off x="684213" y="1989138"/>
            <a:ext cx="3887787" cy="4032250"/>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buFont typeface="Wingdings" panose="05000000000000000000" pitchFamily="2" charset="2"/>
              <a:buChar char="u"/>
            </a:pPr>
            <a:r>
              <a:rPr lang="zh-CN" altLang="en-US" b="1" dirty="0"/>
              <a:t>通过子程序名进行调用；</a:t>
            </a:r>
          </a:p>
          <a:p>
            <a:pPr marL="342900" lvl="0" indent="-342900" eaLnBrk="1" hangingPunct="1">
              <a:buFont typeface="Wingdings" panose="05000000000000000000" pitchFamily="2" charset="2"/>
              <a:buChar char="u"/>
            </a:pPr>
            <a:r>
              <a:rPr lang="zh-CN" altLang="en-US" b="1" dirty="0"/>
              <a:t>调用时需要传递一些供子程序计算和处理的数据（</a:t>
            </a:r>
            <a:r>
              <a:rPr lang="zh-CN" altLang="en-US" b="1" dirty="0">
                <a:solidFill>
                  <a:srgbClr val="FF0000"/>
                </a:solidFill>
              </a:rPr>
              <a:t>参数</a:t>
            </a:r>
            <a:r>
              <a:rPr lang="zh-CN" altLang="en-US" b="1" dirty="0"/>
              <a:t>）；</a:t>
            </a:r>
          </a:p>
          <a:p>
            <a:pPr marL="342900" lvl="0" indent="-342900" eaLnBrk="1" hangingPunct="1">
              <a:buFont typeface="Wingdings" panose="05000000000000000000" pitchFamily="2" charset="2"/>
              <a:buChar char="u"/>
            </a:pPr>
            <a:r>
              <a:rPr lang="zh-CN" altLang="en-US" b="1" dirty="0"/>
              <a:t>子程序执行完成后需要返回处理结果；</a:t>
            </a:r>
          </a:p>
          <a:p>
            <a:pPr marL="342900" lvl="0" indent="-342900" eaLnBrk="1" hangingPunct="1">
              <a:buFont typeface="Wingdings" panose="05000000000000000000" pitchFamily="2" charset="2"/>
              <a:buChar char="u"/>
            </a:pPr>
            <a:r>
              <a:rPr lang="zh-CN" altLang="en-US" b="1" dirty="0"/>
              <a:t>子程序可以调用其他的子程序；</a:t>
            </a:r>
          </a:p>
        </p:txBody>
      </p:sp>
      <p:grpSp>
        <p:nvGrpSpPr>
          <p:cNvPr id="2" name="Group 11"/>
          <p:cNvGrpSpPr/>
          <p:nvPr/>
        </p:nvGrpSpPr>
        <p:grpSpPr>
          <a:xfrm>
            <a:off x="4464050" y="3573463"/>
            <a:ext cx="4068763" cy="2457450"/>
            <a:chOff x="1610" y="1428"/>
            <a:chExt cx="2563" cy="1548"/>
          </a:xfrm>
        </p:grpSpPr>
        <p:sp>
          <p:nvSpPr>
            <p:cNvPr id="11282" name="Rectangle 12"/>
            <p:cNvSpPr/>
            <p:nvPr/>
          </p:nvSpPr>
          <p:spPr>
            <a:xfrm>
              <a:off x="1610" y="1480"/>
              <a:ext cx="2540" cy="1496"/>
            </a:xfrm>
            <a:prstGeom prst="rect">
              <a:avLst/>
            </a:prstGeom>
            <a:solidFill>
              <a:srgbClr val="CCFFFF"/>
            </a:solidFill>
            <a:ln w="9525" cap="flat" cmpd="sng">
              <a:solidFill>
                <a:schemeClr val="accent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aphicFrame>
          <p:nvGraphicFramePr>
            <p:cNvPr id="11283" name="Object 13"/>
            <p:cNvGraphicFramePr>
              <a:graphicFrameLocks noChangeAspect="1"/>
            </p:cNvGraphicFramePr>
            <p:nvPr/>
          </p:nvGraphicFramePr>
          <p:xfrm>
            <a:off x="1739" y="1428"/>
            <a:ext cx="2434" cy="1503"/>
          </p:xfrm>
          <a:graphic>
            <a:graphicData uri="http://schemas.openxmlformats.org/presentationml/2006/ole">
              <mc:AlternateContent xmlns:mc="http://schemas.openxmlformats.org/markup-compatibility/2006">
                <mc:Choice xmlns:v="urn:schemas-microsoft-com:vml" Requires="v">
                  <p:oleObj r:id="rId5" imgW="4639945" imgH="2618740" progId="Visio.Drawing.11">
                    <p:embed/>
                  </p:oleObj>
                </mc:Choice>
                <mc:Fallback>
                  <p:oleObj r:id="rId5" imgW="4639945" imgH="2618740" progId="Visio.Drawing.11">
                    <p:embed/>
                    <p:pic>
                      <p:nvPicPr>
                        <p:cNvPr id="11283" name="Object 13"/>
                        <p:cNvPicPr/>
                        <p:nvPr/>
                      </p:nvPicPr>
                      <p:blipFill>
                        <a:blip r:embed="rId6"/>
                        <a:stretch>
                          <a:fillRect/>
                        </a:stretch>
                      </p:blipFill>
                      <p:spPr>
                        <a:xfrm>
                          <a:off x="1739" y="1428"/>
                          <a:ext cx="2434" cy="1503"/>
                        </a:xfrm>
                        <a:prstGeom prst="rect">
                          <a:avLst/>
                        </a:prstGeom>
                        <a:noFill/>
                        <a:ln w="38100">
                          <a:noFill/>
                          <a:miter/>
                        </a:ln>
                      </p:spPr>
                    </p:pic>
                  </p:oleObj>
                </mc:Fallback>
              </mc:AlternateContent>
            </a:graphicData>
          </a:graphic>
        </p:graphicFrame>
      </p:grpSp>
      <p:sp>
        <p:nvSpPr>
          <p:cNvPr id="195601" name="Rectangle 17"/>
          <p:cNvSpPr/>
          <p:nvPr/>
        </p:nvSpPr>
        <p:spPr>
          <a:xfrm>
            <a:off x="4976813" y="407670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①</a:t>
            </a:r>
          </a:p>
        </p:txBody>
      </p:sp>
      <p:sp>
        <p:nvSpPr>
          <p:cNvPr id="195602" name="Rectangle 18"/>
          <p:cNvSpPr/>
          <p:nvPr/>
        </p:nvSpPr>
        <p:spPr>
          <a:xfrm>
            <a:off x="5580063" y="4114800"/>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②</a:t>
            </a:r>
          </a:p>
        </p:txBody>
      </p:sp>
      <p:sp>
        <p:nvSpPr>
          <p:cNvPr id="195603" name="Rectangle 19"/>
          <p:cNvSpPr/>
          <p:nvPr/>
        </p:nvSpPr>
        <p:spPr>
          <a:xfrm>
            <a:off x="6948488" y="42592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④</a:t>
            </a:r>
          </a:p>
        </p:txBody>
      </p:sp>
      <p:sp>
        <p:nvSpPr>
          <p:cNvPr id="195604" name="Rectangle 20"/>
          <p:cNvSpPr/>
          <p:nvPr/>
        </p:nvSpPr>
        <p:spPr>
          <a:xfrm>
            <a:off x="6516688" y="42592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③</a:t>
            </a:r>
          </a:p>
        </p:txBody>
      </p:sp>
      <p:sp>
        <p:nvSpPr>
          <p:cNvPr id="195605" name="Rectangle 21"/>
          <p:cNvSpPr/>
          <p:nvPr/>
        </p:nvSpPr>
        <p:spPr>
          <a:xfrm>
            <a:off x="7019925" y="5051425"/>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⑥</a:t>
            </a:r>
          </a:p>
        </p:txBody>
      </p:sp>
      <p:sp>
        <p:nvSpPr>
          <p:cNvPr id="195606" name="Rectangle 22"/>
          <p:cNvSpPr/>
          <p:nvPr/>
        </p:nvSpPr>
        <p:spPr>
          <a:xfrm>
            <a:off x="6516688" y="5157788"/>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⑦</a:t>
            </a:r>
          </a:p>
        </p:txBody>
      </p:sp>
      <p:sp>
        <p:nvSpPr>
          <p:cNvPr id="195607" name="Rectangle 23"/>
          <p:cNvSpPr/>
          <p:nvPr/>
        </p:nvSpPr>
        <p:spPr>
          <a:xfrm>
            <a:off x="5613400" y="508635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⑧</a:t>
            </a:r>
          </a:p>
        </p:txBody>
      </p:sp>
      <p:sp>
        <p:nvSpPr>
          <p:cNvPr id="195608" name="Rectangle 24"/>
          <p:cNvSpPr/>
          <p:nvPr/>
        </p:nvSpPr>
        <p:spPr>
          <a:xfrm>
            <a:off x="5043488" y="5300663"/>
            <a:ext cx="465137"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⑨</a:t>
            </a:r>
          </a:p>
        </p:txBody>
      </p:sp>
      <p:sp>
        <p:nvSpPr>
          <p:cNvPr id="195609" name="Rectangle 25"/>
          <p:cNvSpPr/>
          <p:nvPr/>
        </p:nvSpPr>
        <p:spPr>
          <a:xfrm>
            <a:off x="7740650" y="4724400"/>
            <a:ext cx="465138" cy="393700"/>
          </a:xfrm>
          <a:prstGeom prst="rect">
            <a:avLst/>
          </a:prstGeom>
          <a:noFill/>
          <a:ln w="9525">
            <a:noFill/>
          </a:ln>
        </p:spPr>
        <p:txBody>
          <a:bodyPr wrap="non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r>
              <a:rPr lang="zh-CN" altLang="en-US" sz="2200" b="1" dirty="0"/>
              <a:t>⑤</a:t>
            </a:r>
          </a:p>
        </p:txBody>
      </p:sp>
    </p:spTree>
    <p:extLst>
      <p:ext uri="{BB962C8B-B14F-4D97-AF65-F5344CB8AC3E}">
        <p14:creationId xmlns:p14="http://schemas.microsoft.com/office/powerpoint/2010/main" val="42234081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95601"/>
                                        </p:tgtEl>
                                        <p:attrNameLst>
                                          <p:attrName>style.visibility</p:attrName>
                                        </p:attrNameLst>
                                      </p:cBhvr>
                                      <p:to>
                                        <p:strVal val="visible"/>
                                      </p:to>
                                    </p:set>
                                    <p:animEffect transition="in" filter="dissolve">
                                      <p:cBhvr>
                                        <p:cTn id="12" dur="500"/>
                                        <p:tgtEl>
                                          <p:spTgt spid="19560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95602"/>
                                        </p:tgtEl>
                                        <p:attrNameLst>
                                          <p:attrName>style.visibility</p:attrName>
                                        </p:attrNameLst>
                                      </p:cBhvr>
                                      <p:to>
                                        <p:strVal val="visible"/>
                                      </p:to>
                                    </p:set>
                                    <p:animEffect transition="in" filter="dissolve">
                                      <p:cBhvr>
                                        <p:cTn id="17" dur="500"/>
                                        <p:tgtEl>
                                          <p:spTgt spid="19560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95604"/>
                                        </p:tgtEl>
                                        <p:attrNameLst>
                                          <p:attrName>style.visibility</p:attrName>
                                        </p:attrNameLst>
                                      </p:cBhvr>
                                      <p:to>
                                        <p:strVal val="visible"/>
                                      </p:to>
                                    </p:set>
                                    <p:animEffect transition="in" filter="dissolve">
                                      <p:cBhvr>
                                        <p:cTn id="22" dur="500"/>
                                        <p:tgtEl>
                                          <p:spTgt spid="19560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95603"/>
                                        </p:tgtEl>
                                        <p:attrNameLst>
                                          <p:attrName>style.visibility</p:attrName>
                                        </p:attrNameLst>
                                      </p:cBhvr>
                                      <p:to>
                                        <p:strVal val="visible"/>
                                      </p:to>
                                    </p:set>
                                    <p:animEffect transition="in" filter="dissolve">
                                      <p:cBhvr>
                                        <p:cTn id="27" dur="500"/>
                                        <p:tgtEl>
                                          <p:spTgt spid="19560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95609"/>
                                        </p:tgtEl>
                                        <p:attrNameLst>
                                          <p:attrName>style.visibility</p:attrName>
                                        </p:attrNameLst>
                                      </p:cBhvr>
                                      <p:to>
                                        <p:strVal val="visible"/>
                                      </p:to>
                                    </p:set>
                                    <p:animEffect transition="in" filter="dissolve">
                                      <p:cBhvr>
                                        <p:cTn id="32" dur="500"/>
                                        <p:tgtEl>
                                          <p:spTgt spid="195609"/>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95605"/>
                                        </p:tgtEl>
                                        <p:attrNameLst>
                                          <p:attrName>style.visibility</p:attrName>
                                        </p:attrNameLst>
                                      </p:cBhvr>
                                      <p:to>
                                        <p:strVal val="visible"/>
                                      </p:to>
                                    </p:set>
                                    <p:animEffect transition="in" filter="dissolve">
                                      <p:cBhvr>
                                        <p:cTn id="37" dur="500"/>
                                        <p:tgtEl>
                                          <p:spTgt spid="195605"/>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95606"/>
                                        </p:tgtEl>
                                        <p:attrNameLst>
                                          <p:attrName>style.visibility</p:attrName>
                                        </p:attrNameLst>
                                      </p:cBhvr>
                                      <p:to>
                                        <p:strVal val="visible"/>
                                      </p:to>
                                    </p:set>
                                    <p:animEffect transition="in" filter="dissolve">
                                      <p:cBhvr>
                                        <p:cTn id="42" dur="500"/>
                                        <p:tgtEl>
                                          <p:spTgt spid="195606"/>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95607"/>
                                        </p:tgtEl>
                                        <p:attrNameLst>
                                          <p:attrName>style.visibility</p:attrName>
                                        </p:attrNameLst>
                                      </p:cBhvr>
                                      <p:to>
                                        <p:strVal val="visible"/>
                                      </p:to>
                                    </p:set>
                                    <p:animEffect transition="in" filter="dissolve">
                                      <p:cBhvr>
                                        <p:cTn id="47" dur="500"/>
                                        <p:tgtEl>
                                          <p:spTgt spid="195607"/>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95608"/>
                                        </p:tgtEl>
                                        <p:attrNameLst>
                                          <p:attrName>style.visibility</p:attrName>
                                        </p:attrNameLst>
                                      </p:cBhvr>
                                      <p:to>
                                        <p:strVal val="visible"/>
                                      </p:to>
                                    </p:set>
                                    <p:animEffect transition="in" filter="dissolve">
                                      <p:cBhvr>
                                        <p:cTn id="52" dur="500"/>
                                        <p:tgtEl>
                                          <p:spTgt spid="19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601" grpId="0"/>
      <p:bldP spid="195603" grpId="0"/>
      <p:bldP spid="195604" grpId="0"/>
      <p:bldP spid="195605" grpId="0"/>
      <p:bldP spid="195606" grpId="0"/>
      <p:bldP spid="195607" grpId="0"/>
      <p:bldP spid="195608" grpId="0"/>
      <p:bldP spid="195609"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62</a:t>
            </a:fld>
            <a:endParaRPr lang="zh-CN" altLang="en-US" sz="1400" b="1" dirty="0"/>
          </a:p>
        </p:txBody>
      </p:sp>
      <p:sp>
        <p:nvSpPr>
          <p:cNvPr id="14339" name="Rectangle 4"/>
          <p:cNvSpPr>
            <a:spLocks noGrp="1"/>
          </p:cNvSpPr>
          <p:nvPr>
            <p:ph type="title"/>
          </p:nvPr>
        </p:nvSpPr>
        <p:spPr>
          <a:xfrm>
            <a:off x="1089025" y="428625"/>
            <a:ext cx="7772400" cy="720725"/>
          </a:xfrm>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342021" name="Rectangle 5"/>
          <p:cNvSpPr>
            <a:spLocks noGrp="1"/>
          </p:cNvSpPr>
          <p:nvPr>
            <p:ph idx="1"/>
          </p:nvPr>
        </p:nvSpPr>
        <p:spPr>
          <a:xfrm>
            <a:off x="685800" y="1319213"/>
            <a:ext cx="8062913" cy="4611687"/>
          </a:xfrm>
        </p:spPr>
        <p:txBody>
          <a:bodyPr vert="horz" wrap="square" lIns="91440" tIns="45720" rIns="91440" bIns="45720" anchor="t"/>
          <a:lstStyle/>
          <a:p>
            <a:pPr eaLnBrk="1" hangingPunct="1">
              <a:buNone/>
            </a:pPr>
            <a:r>
              <a:rPr lang="zh-CN" altLang="en-US" b="1" dirty="0"/>
              <a:t>三</a:t>
            </a:r>
            <a:r>
              <a:rPr lang="en-US" altLang="zh-CN" b="1" dirty="0"/>
              <a:t>. </a:t>
            </a:r>
            <a:r>
              <a:rPr lang="zh-CN" altLang="en-US" b="1" dirty="0"/>
              <a:t>引入子程序的目的 </a:t>
            </a:r>
          </a:p>
          <a:p>
            <a:pPr eaLnBrk="1" hangingPunct="1">
              <a:buNone/>
            </a:pPr>
            <a:r>
              <a:rPr lang="en-US" altLang="zh-CN" b="1" dirty="0"/>
              <a:t>	1. </a:t>
            </a:r>
            <a:r>
              <a:rPr lang="zh-CN" altLang="en-US" b="1" dirty="0"/>
              <a:t>程序</a:t>
            </a:r>
            <a:r>
              <a:rPr lang="en-US" altLang="zh-CN" b="1" dirty="0">
                <a:latin typeface="宋体" panose="02010600030101010101" pitchFamily="2" charset="-122"/>
              </a:rPr>
              <a:t>"</a:t>
            </a:r>
            <a:r>
              <a:rPr lang="zh-CN" altLang="en-US" b="1" dirty="0"/>
              <a:t>复用</a:t>
            </a:r>
            <a:r>
              <a:rPr lang="en-US" altLang="zh-CN" b="1" dirty="0">
                <a:latin typeface="宋体" panose="02010600030101010101" pitchFamily="2" charset="-122"/>
              </a:rPr>
              <a:t>"</a:t>
            </a:r>
            <a:r>
              <a:rPr lang="zh-CN" altLang="en-US" b="1" dirty="0"/>
              <a:t>，避免在程序中使用重复代码；</a:t>
            </a:r>
          </a:p>
          <a:p>
            <a:pPr eaLnBrk="1" hangingPunct="1">
              <a:buNone/>
            </a:pPr>
            <a:r>
              <a:rPr lang="en-US" altLang="zh-CN" b="1" dirty="0"/>
              <a:t>	2. </a:t>
            </a:r>
            <a:r>
              <a:rPr lang="zh-CN" altLang="en-US" b="1" dirty="0"/>
              <a:t>结构化程序设计的需要：</a:t>
            </a:r>
            <a:endParaRPr lang="zh-CN" altLang="en-US" b="1" dirty="0">
              <a:solidFill>
                <a:schemeClr val="accent2"/>
              </a:solidFill>
            </a:endParaRPr>
          </a:p>
          <a:p>
            <a:pPr lvl="1" eaLnBrk="1" hangingPunct="1">
              <a:buNone/>
            </a:pPr>
            <a:r>
              <a:rPr lang="zh-CN" altLang="en-US" b="1" dirty="0">
                <a:solidFill>
                  <a:schemeClr val="accent2"/>
                </a:solidFill>
              </a:rPr>
              <a:t>  </a:t>
            </a:r>
            <a:r>
              <a:rPr lang="zh-CN" altLang="en-US" b="1" dirty="0"/>
              <a:t>自顶向下、逐步细化，将复杂问题分解为相对简单的子问题，这些子问题用子程序实现，从而提高主程序结构的清晰性和易读性。</a:t>
            </a:r>
          </a:p>
          <a:p>
            <a:pPr lvl="1" eaLnBrk="1" hangingPunct="1">
              <a:buNone/>
            </a:pPr>
            <a:r>
              <a:rPr lang="en-US" altLang="zh-CN" b="1" dirty="0"/>
              <a:t>3.</a:t>
            </a:r>
            <a:r>
              <a:rPr lang="zh-CN" altLang="en-US" b="1" dirty="0"/>
              <a:t>使程序的调试和</a:t>
            </a:r>
          </a:p>
          <a:p>
            <a:pPr lvl="1" eaLnBrk="1" hangingPunct="1">
              <a:buNone/>
            </a:pPr>
            <a:r>
              <a:rPr lang="zh-CN" altLang="en-US" b="1" dirty="0"/>
              <a:t>  维护变得更加容易。</a:t>
            </a:r>
          </a:p>
        </p:txBody>
      </p:sp>
      <p:pic>
        <p:nvPicPr>
          <p:cNvPr id="342022" name="Picture 6"/>
          <p:cNvPicPr>
            <a:picLocks noChangeAspect="1"/>
          </p:cNvPicPr>
          <p:nvPr/>
        </p:nvPicPr>
        <p:blipFill>
          <a:blip r:embed="rId2"/>
          <a:stretch>
            <a:fillRect/>
          </a:stretch>
        </p:blipFill>
        <p:spPr>
          <a:xfrm>
            <a:off x="4356100" y="4149725"/>
            <a:ext cx="4103688" cy="1951038"/>
          </a:xfrm>
          <a:prstGeom prst="rect">
            <a:avLst/>
          </a:prstGeom>
          <a:noFill/>
          <a:ln w="9525">
            <a:noFill/>
          </a:ln>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42021">
                                            <p:txEl>
                                              <p:pRg st="1" end="1"/>
                                            </p:txEl>
                                          </p:spTgt>
                                        </p:tgtEl>
                                        <p:attrNameLst>
                                          <p:attrName>style.visibility</p:attrName>
                                        </p:attrNameLst>
                                      </p:cBhvr>
                                      <p:to>
                                        <p:strVal val="visible"/>
                                      </p:to>
                                    </p:set>
                                    <p:animEffect transition="in" filter="dissolve">
                                      <p:cBhvr>
                                        <p:cTn id="7" dur="500"/>
                                        <p:tgtEl>
                                          <p:spTgt spid="342021">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42021">
                                            <p:txEl>
                                              <p:pRg st="2" end="2"/>
                                            </p:txEl>
                                          </p:spTgt>
                                        </p:tgtEl>
                                        <p:attrNameLst>
                                          <p:attrName>style.visibility</p:attrName>
                                        </p:attrNameLst>
                                      </p:cBhvr>
                                      <p:to>
                                        <p:strVal val="visible"/>
                                      </p:to>
                                    </p:set>
                                    <p:animEffect transition="in" filter="dissolve">
                                      <p:cBhvr>
                                        <p:cTn id="12" dur="500"/>
                                        <p:tgtEl>
                                          <p:spTgt spid="342021">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42022"/>
                                        </p:tgtEl>
                                        <p:attrNameLst>
                                          <p:attrName>style.visibility</p:attrName>
                                        </p:attrNameLst>
                                      </p:cBhvr>
                                      <p:to>
                                        <p:strVal val="visible"/>
                                      </p:to>
                                    </p:set>
                                    <p:animEffect transition="in" filter="dissolve">
                                      <p:cBhvr>
                                        <p:cTn id="17" dur="500"/>
                                        <p:tgtEl>
                                          <p:spTgt spid="342022"/>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42021">
                                            <p:txEl>
                                              <p:pRg st="3" end="3"/>
                                            </p:txEl>
                                          </p:spTgt>
                                        </p:tgtEl>
                                        <p:attrNameLst>
                                          <p:attrName>style.visibility</p:attrName>
                                        </p:attrNameLst>
                                      </p:cBhvr>
                                      <p:to>
                                        <p:strVal val="visible"/>
                                      </p:to>
                                    </p:set>
                                    <p:animEffect transition="in" filter="dissolve">
                                      <p:cBhvr>
                                        <p:cTn id="22" dur="500"/>
                                        <p:tgtEl>
                                          <p:spTgt spid="34202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42021">
                                            <p:txEl>
                                              <p:pRg st="4" end="4"/>
                                            </p:txEl>
                                          </p:spTgt>
                                        </p:tgtEl>
                                        <p:attrNameLst>
                                          <p:attrName>style.visibility</p:attrName>
                                        </p:attrNameLst>
                                      </p:cBhvr>
                                      <p:to>
                                        <p:strVal val="visible"/>
                                      </p:to>
                                    </p:set>
                                    <p:animEffect transition="in" filter="dissolve">
                                      <p:cBhvr>
                                        <p:cTn id="27" dur="500"/>
                                        <p:tgtEl>
                                          <p:spTgt spid="34202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42021">
                                            <p:txEl>
                                              <p:pRg st="5" end="5"/>
                                            </p:txEl>
                                          </p:spTgt>
                                        </p:tgtEl>
                                        <p:attrNameLst>
                                          <p:attrName>style.visibility</p:attrName>
                                        </p:attrNameLst>
                                      </p:cBhvr>
                                      <p:to>
                                        <p:strVal val="visible"/>
                                      </p:to>
                                    </p:set>
                                    <p:animEffect transition="in" filter="dissolve">
                                      <p:cBhvr>
                                        <p:cTn id="32" dur="500"/>
                                        <p:tgtEl>
                                          <p:spTgt spid="34202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63</a:t>
            </a:fld>
            <a:endParaRPr lang="zh-CN" altLang="en-US" sz="1400" b="1" dirty="0"/>
          </a:p>
        </p:txBody>
      </p:sp>
      <p:sp>
        <p:nvSpPr>
          <p:cNvPr id="228355" name="Rectangle 3"/>
          <p:cNvSpPr>
            <a:spLocks noGrp="1"/>
          </p:cNvSpPr>
          <p:nvPr>
            <p:ph idx="1"/>
          </p:nvPr>
        </p:nvSpPr>
        <p:spPr/>
        <p:txBody>
          <a:bodyPr vert="horz" wrap="square" lIns="91440" tIns="45720" rIns="91440" bIns="45720" anchor="t"/>
          <a:lstStyle/>
          <a:p>
            <a:pPr eaLnBrk="1" hangingPunct="1">
              <a:buNone/>
            </a:pPr>
            <a:r>
              <a:rPr lang="zh-CN" altLang="en-US" b="1" dirty="0"/>
              <a:t>四</a:t>
            </a:r>
            <a:r>
              <a:rPr lang="en-US" altLang="zh-CN" b="1" dirty="0"/>
              <a:t>. </a:t>
            </a:r>
            <a:r>
              <a:rPr lang="zh-CN" altLang="en-US" b="1" dirty="0"/>
              <a:t>子程序设计原则</a:t>
            </a:r>
          </a:p>
          <a:p>
            <a:pPr eaLnBrk="1" hangingPunct="1">
              <a:buNone/>
            </a:pPr>
            <a:r>
              <a:rPr lang="zh-CN" altLang="en-US" b="1" dirty="0"/>
              <a:t>     </a:t>
            </a:r>
            <a:r>
              <a:rPr lang="zh-CN" altLang="en-US" b="1" u="sng" dirty="0"/>
              <a:t>高内聚</a:t>
            </a:r>
            <a:r>
              <a:rPr lang="zh-CN" altLang="en-US" b="1" dirty="0"/>
              <a:t>：功能相对独立和完整；</a:t>
            </a:r>
          </a:p>
          <a:p>
            <a:pPr eaLnBrk="1" hangingPunct="1">
              <a:buNone/>
            </a:pPr>
            <a:r>
              <a:rPr lang="zh-CN" altLang="en-US" b="1" dirty="0"/>
              <a:t>     </a:t>
            </a:r>
            <a:r>
              <a:rPr lang="zh-CN" altLang="en-US" b="1" u="sng" dirty="0"/>
              <a:t>低耦合</a:t>
            </a:r>
            <a:r>
              <a:rPr lang="zh-CN" altLang="en-US" b="1" dirty="0"/>
              <a:t>：与外界（调用者）的关系尽量松散， 		不要太紧密，使其能方便地被重用；</a:t>
            </a:r>
          </a:p>
          <a:p>
            <a:pPr eaLnBrk="1" hangingPunct="1">
              <a:buNone/>
            </a:pPr>
            <a:endParaRPr lang="zh-CN" altLang="en-US" sz="900" b="1" dirty="0"/>
          </a:p>
          <a:p>
            <a:pPr eaLnBrk="1" hangingPunct="1">
              <a:buNone/>
            </a:pPr>
            <a:r>
              <a:rPr lang="zh-CN" altLang="en-US" b="1" dirty="0"/>
              <a:t>    需要合理地设计子程序参数和子程序执行的局部环境 来达到以上目标。</a:t>
            </a:r>
          </a:p>
          <a:p>
            <a:pPr eaLnBrk="1" hangingPunct="1">
              <a:buNone/>
            </a:pPr>
            <a:endParaRPr lang="zh-CN" altLang="en-US" b="1" dirty="0"/>
          </a:p>
        </p:txBody>
      </p:sp>
      <p:sp>
        <p:nvSpPr>
          <p:cNvPr id="16388" name="Rectangle 4"/>
          <p:cNvSpPr>
            <a:spLocks noGrp="1"/>
          </p:cNvSpPr>
          <p:nvPr>
            <p:ph type="title"/>
          </p:nvPr>
        </p:nvSpPr>
        <p:spPr/>
        <p:txBody>
          <a:bodyPr vert="horz" wrap="square" lIns="91440" tIns="45720" rIns="91440" bIns="45720" anchor="ctr"/>
          <a:lstStyle/>
          <a:p>
            <a:pPr eaLnBrk="1" hangingPunct="1"/>
            <a:r>
              <a:rPr lang="en-US" altLang="zh-CN" b="1" dirty="0"/>
              <a:t>5.3    </a:t>
            </a:r>
            <a:r>
              <a:rPr lang="zh-CN" altLang="en-US" b="1" dirty="0"/>
              <a:t>子程序概念与设计</a:t>
            </a:r>
          </a:p>
        </p:txBody>
      </p:sp>
      <p:sp>
        <p:nvSpPr>
          <p:cNvPr id="228357" name="Rectangle 5"/>
          <p:cNvSpPr/>
          <p:nvPr/>
        </p:nvSpPr>
        <p:spPr>
          <a:xfrm>
            <a:off x="684213" y="4005263"/>
            <a:ext cx="7772400" cy="1871662"/>
          </a:xfrm>
          <a:prstGeom prst="rect">
            <a:avLst/>
          </a:prstGeom>
          <a:noFill/>
          <a:ln w="9525">
            <a:noFill/>
          </a:ln>
        </p:spPr>
        <p:txBody>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1143000" lvl="2" indent="-228600" eaLnBrk="1" hangingPunct="1">
              <a:buNone/>
            </a:pPr>
            <a:endParaRPr lang="en-US" altLang="zh-CN" b="1" dirty="0"/>
          </a:p>
          <a:p>
            <a:pPr marL="342900" lvl="0" indent="-342900" eaLnBrk="1" hangingPunct="1">
              <a:buNone/>
            </a:pPr>
            <a:r>
              <a:rPr lang="zh-CN" altLang="en-US" b="1" dirty="0"/>
              <a:t>五</a:t>
            </a:r>
            <a:r>
              <a:rPr lang="en-US" altLang="zh-CN" b="1" dirty="0"/>
              <a:t>. </a:t>
            </a:r>
            <a:r>
              <a:rPr lang="zh-CN" altLang="en-US" b="1" dirty="0"/>
              <a:t>子程序在</a:t>
            </a:r>
            <a:r>
              <a:rPr lang="en-US" altLang="zh-CN" b="1" dirty="0"/>
              <a:t>C</a:t>
            </a:r>
            <a:r>
              <a:rPr lang="zh-CN" altLang="en-US" b="1" dirty="0"/>
              <a:t>语言中的实现机制</a:t>
            </a:r>
          </a:p>
          <a:p>
            <a:pPr marL="1143000" lvl="2" indent="-228600" eaLnBrk="1" hangingPunct="1">
              <a:buNone/>
            </a:pPr>
            <a:r>
              <a:rPr lang="en-US" altLang="zh-CN" b="1" dirty="0"/>
              <a:t>C</a:t>
            </a:r>
            <a:r>
              <a:rPr lang="zh-CN" altLang="en-US" b="1" dirty="0"/>
              <a:t>语言中的</a:t>
            </a:r>
            <a:r>
              <a:rPr lang="zh-CN" altLang="en-US" b="1" dirty="0">
                <a:solidFill>
                  <a:srgbClr val="FF3300"/>
                </a:solidFill>
              </a:rPr>
              <a:t>函数</a:t>
            </a:r>
            <a:r>
              <a:rPr lang="zh-CN" altLang="en-US" b="1" dirty="0"/>
              <a:t>机制</a:t>
            </a:r>
          </a:p>
          <a:p>
            <a:pPr marL="1143000" lvl="2" indent="-228600" eaLnBrk="1" hangingPunct="1">
              <a:buNone/>
            </a:pPr>
            <a:endParaRPr lang="en-US" altLang="zh-CN"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28355">
                                            <p:txEl>
                                              <p:pRg st="4" end="4"/>
                                            </p:txEl>
                                          </p:spTgt>
                                        </p:tgtEl>
                                        <p:attrNameLst>
                                          <p:attrName>style.visibility</p:attrName>
                                        </p:attrNameLst>
                                      </p:cBhvr>
                                      <p:to>
                                        <p:strVal val="visible"/>
                                      </p:to>
                                    </p:set>
                                    <p:animEffect transition="in" filter="dissolve">
                                      <p:cBhvr>
                                        <p:cTn id="7" dur="500"/>
                                        <p:tgtEl>
                                          <p:spTgt spid="228355">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228357"/>
                                        </p:tgtEl>
                                        <p:attrNameLst>
                                          <p:attrName>style.visibility</p:attrName>
                                        </p:attrNameLst>
                                      </p:cBhvr>
                                      <p:to>
                                        <p:strVal val="visible"/>
                                      </p:to>
                                    </p:set>
                                    <p:animEffect transition="in" filter="dissolve">
                                      <p:cBhvr>
                                        <p:cTn id="12" dur="500"/>
                                        <p:tgtEl>
                                          <p:spTgt spid="228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835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64</a:t>
            </a:fld>
            <a:endParaRPr lang="zh-CN" altLang="en-US" sz="1400" b="1" dirty="0"/>
          </a:p>
        </p:txBody>
      </p:sp>
      <p:sp>
        <p:nvSpPr>
          <p:cNvPr id="22531"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2532" name="Rectangle 3"/>
          <p:cNvSpPr>
            <a:spLocks noGrp="1"/>
          </p:cNvSpPr>
          <p:nvPr>
            <p:ph idx="1"/>
          </p:nvPr>
        </p:nvSpPr>
        <p:spPr/>
        <p:txBody>
          <a:bodyPr vert="horz" wrap="square" lIns="91440" tIns="45720" rIns="91440" bIns="45720" anchor="t"/>
          <a:lstStyle/>
          <a:p>
            <a:pPr eaLnBrk="1" hangingPunct="1">
              <a:buNone/>
            </a:pPr>
            <a:r>
              <a:rPr lang="zh-CN" altLang="en-US" b="1" dirty="0">
                <a:solidFill>
                  <a:srgbClr val="FF3300"/>
                </a:solidFill>
              </a:rPr>
              <a:t>1、函数名</a:t>
            </a:r>
          </a:p>
          <a:p>
            <a:pPr eaLnBrk="1" hangingPunct="1">
              <a:buNone/>
            </a:pPr>
            <a:r>
              <a:rPr lang="zh-CN" altLang="en-US" sz="2400" b="1" dirty="0"/>
              <a:t>简洁、能反映出函数的功能。如：</a:t>
            </a:r>
            <a:r>
              <a:rPr lang="en-US" altLang="zh-CN" sz="2400" b="1" dirty="0"/>
              <a:t>square</a:t>
            </a:r>
            <a:r>
              <a:rPr lang="zh-CN" altLang="en-US" sz="2400" b="1" dirty="0"/>
              <a:t>、</a:t>
            </a:r>
            <a:r>
              <a:rPr lang="en-US" altLang="zh-CN" sz="2400" b="1" dirty="0"/>
              <a:t>printf</a:t>
            </a:r>
            <a:r>
              <a:rPr lang="zh-CN" altLang="en-US" sz="2400" b="1" dirty="0"/>
              <a:t>等。</a:t>
            </a:r>
            <a:endParaRPr lang="en-US" altLang="zh-CN" sz="2400" b="1" dirty="0">
              <a:solidFill>
                <a:srgbClr val="FF3300"/>
              </a:solidFill>
            </a:endParaRPr>
          </a:p>
          <a:p>
            <a:pPr eaLnBrk="1" hangingPunct="1">
              <a:buNone/>
            </a:pPr>
            <a:r>
              <a:rPr lang="en-US" altLang="zh-CN" b="1" dirty="0">
                <a:solidFill>
                  <a:srgbClr val="FF3300"/>
                </a:solidFill>
              </a:rPr>
              <a:t>2</a:t>
            </a:r>
            <a:r>
              <a:rPr lang="zh-CN" altLang="en-US" b="1" dirty="0">
                <a:solidFill>
                  <a:srgbClr val="FF3300"/>
                </a:solidFill>
              </a:rPr>
              <a:t>、参数列表</a:t>
            </a:r>
          </a:p>
          <a:p>
            <a:pPr eaLnBrk="1" hangingPunct="1">
              <a:buNone/>
            </a:pPr>
            <a:r>
              <a:rPr lang="zh-CN" altLang="en-US" sz="2400" b="1" dirty="0"/>
              <a:t>（</a:t>
            </a:r>
            <a:r>
              <a:rPr lang="en-US" altLang="zh-CN" sz="2400" b="1" dirty="0"/>
              <a:t>1</a:t>
            </a:r>
            <a:r>
              <a:rPr lang="zh-CN" altLang="en-US" sz="2400" b="1" dirty="0"/>
              <a:t>）参数列表声明了在调用函数时函数所接收的参数，形式为：</a:t>
            </a:r>
            <a:r>
              <a:rPr lang="zh-CN" altLang="en-US" sz="2400" b="1" dirty="0">
                <a:solidFill>
                  <a:srgbClr val="003399"/>
                </a:solidFill>
              </a:rPr>
              <a:t>数据类型  参数</a:t>
            </a:r>
            <a:r>
              <a:rPr lang="en-US" altLang="zh-CN" sz="2400" b="1" dirty="0">
                <a:solidFill>
                  <a:srgbClr val="003399"/>
                </a:solidFill>
              </a:rPr>
              <a:t>1[</a:t>
            </a:r>
            <a:r>
              <a:rPr lang="zh-CN" altLang="en-US" sz="2400" b="1" dirty="0">
                <a:solidFill>
                  <a:srgbClr val="003399"/>
                </a:solidFill>
              </a:rPr>
              <a:t>，数据类型  参数2</a:t>
            </a:r>
            <a:r>
              <a:rPr lang="zh-CN" altLang="en-US" sz="2400" b="1" dirty="0">
                <a:solidFill>
                  <a:srgbClr val="003399"/>
                </a:solidFill>
                <a:latin typeface="宋体" panose="02010600030101010101" pitchFamily="2" charset="-122"/>
              </a:rPr>
              <a:t>……</a:t>
            </a:r>
            <a:r>
              <a:rPr lang="zh-CN" altLang="en-US" sz="2400" b="1" dirty="0">
                <a:solidFill>
                  <a:srgbClr val="003399"/>
                </a:solidFill>
              </a:rPr>
              <a:t>] </a:t>
            </a:r>
          </a:p>
          <a:p>
            <a:pPr eaLnBrk="1" hangingPunct="1">
              <a:buNone/>
            </a:pPr>
            <a:r>
              <a:rPr lang="zh-CN" altLang="en-US" sz="2400" b="1" dirty="0"/>
              <a:t>（2）如果函数不接收任何参数，则参数列表为空 ；如 </a:t>
            </a:r>
            <a:r>
              <a:rPr lang="en-US" altLang="zh-CN" sz="2400" b="1" dirty="0"/>
              <a:t>int print(); </a:t>
            </a:r>
          </a:p>
          <a:p>
            <a:pPr eaLnBrk="1" hangingPunct="1">
              <a:buNone/>
            </a:pPr>
            <a:r>
              <a:rPr lang="zh-CN" altLang="en-US" sz="2400" b="1" dirty="0"/>
              <a:t>（</a:t>
            </a:r>
            <a:r>
              <a:rPr lang="en-US" altLang="zh-CN" sz="2400" b="1" dirty="0"/>
              <a:t>3</a:t>
            </a:r>
            <a:r>
              <a:rPr lang="zh-CN" altLang="en-US" sz="2400" b="1" dirty="0"/>
              <a:t>）如果不列出参数的类型，编译器就假定其为</a:t>
            </a:r>
            <a:r>
              <a:rPr lang="en-US" altLang="zh-CN" sz="2400" b="1" dirty="0"/>
              <a:t>int</a:t>
            </a:r>
            <a:r>
              <a:rPr lang="zh-CN" altLang="en-US" sz="2400" b="1" dirty="0"/>
              <a:t>类型。但最好明确指定参数的类型，即使是</a:t>
            </a:r>
            <a:r>
              <a:rPr lang="en-US" altLang="zh-CN" sz="2400" b="1" dirty="0"/>
              <a:t>int</a:t>
            </a:r>
            <a:r>
              <a:rPr lang="zh-CN" altLang="en-US" sz="2400" b="1" dirty="0"/>
              <a:t>型，最好也明确定义。</a:t>
            </a:r>
          </a:p>
          <a:p>
            <a:pPr eaLnBrk="1" hangingPunct="1">
              <a:buNone/>
            </a:pPr>
            <a:endParaRPr lang="zh-CN" altLang="en-US" sz="2400" dirty="0"/>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65</a:t>
            </a:fld>
            <a:endParaRPr lang="zh-CN" altLang="en-US" sz="1400" b="1" dirty="0"/>
          </a:p>
        </p:txBody>
      </p:sp>
      <p:sp>
        <p:nvSpPr>
          <p:cNvPr id="24579"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4580"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3</a:t>
            </a:r>
            <a:r>
              <a:rPr lang="zh-CN" altLang="en-US" b="1" dirty="0">
                <a:solidFill>
                  <a:srgbClr val="FF3300"/>
                </a:solidFill>
              </a:rPr>
              <a:t>、返回值类型</a:t>
            </a:r>
          </a:p>
          <a:p>
            <a:pPr eaLnBrk="1" hangingPunct="1">
              <a:buNone/>
            </a:pPr>
            <a:r>
              <a:rPr lang="zh-CN" altLang="en-US" b="1" dirty="0"/>
              <a:t>（1）指返回给函数调用者的结果的类型；</a:t>
            </a:r>
          </a:p>
          <a:p>
            <a:pPr eaLnBrk="1" hangingPunct="1">
              <a:buNone/>
            </a:pPr>
            <a:r>
              <a:rPr lang="zh-CN" altLang="en-US" b="1" dirty="0"/>
              <a:t>（</a:t>
            </a:r>
            <a:r>
              <a:rPr lang="en-US" altLang="zh-CN" b="1" dirty="0"/>
              <a:t>2</a:t>
            </a:r>
            <a:r>
              <a:rPr lang="zh-CN" altLang="en-US" b="1" dirty="0"/>
              <a:t>）如果不指明返回值类型，编译器将假定返回值是</a:t>
            </a:r>
            <a:r>
              <a:rPr lang="en-US" altLang="zh-CN" b="1" dirty="0"/>
              <a:t>int</a:t>
            </a:r>
            <a:r>
              <a:rPr lang="zh-CN" altLang="en-US" b="1" dirty="0"/>
              <a:t>型（最好明确指定）；</a:t>
            </a:r>
          </a:p>
          <a:p>
            <a:pPr eaLnBrk="1" hangingPunct="1">
              <a:buNone/>
            </a:pPr>
            <a:r>
              <a:rPr lang="zh-CN" altLang="en-US" b="1" dirty="0"/>
              <a:t>（</a:t>
            </a:r>
            <a:r>
              <a:rPr lang="en-US" altLang="zh-CN" b="1" dirty="0"/>
              <a:t>3</a:t>
            </a:r>
            <a:r>
              <a:rPr lang="zh-CN" altLang="en-US" b="1" dirty="0"/>
              <a:t>）如果函数不返回任何值（即函数功能实现部分无</a:t>
            </a:r>
            <a:r>
              <a:rPr lang="en-US" altLang="zh-CN" b="1" dirty="0"/>
              <a:t>return</a:t>
            </a:r>
            <a:r>
              <a:rPr lang="zh-CN" altLang="en-US" b="1" dirty="0"/>
              <a:t>语句），则返回值类型定义成</a:t>
            </a:r>
            <a:r>
              <a:rPr lang="en-US" altLang="zh-CN" b="1" dirty="0">
                <a:solidFill>
                  <a:schemeClr val="accent2"/>
                </a:solidFill>
              </a:rPr>
              <a:t>void</a:t>
            </a:r>
            <a:r>
              <a:rPr lang="zh-CN" altLang="en-US" b="1" dirty="0"/>
              <a:t>。例</a:t>
            </a:r>
            <a:r>
              <a:rPr lang="en-US" altLang="zh-CN" b="1" dirty="0"/>
              <a:t>: void </a:t>
            </a:r>
            <a:r>
              <a:rPr lang="en-US" altLang="zh-CN" b="1" dirty="0" err="1"/>
              <a:t>printLine</a:t>
            </a:r>
            <a:r>
              <a:rPr lang="en-US" altLang="zh-CN" b="1" dirty="0"/>
              <a:t>(int </a:t>
            </a:r>
            <a:r>
              <a:rPr lang="en-US" altLang="zh-CN" b="1" dirty="0" err="1"/>
              <a:t>cnt</a:t>
            </a:r>
            <a:r>
              <a:rPr lang="en-US" altLang="zh-CN" b="1" dirty="0"/>
              <a:t>);</a:t>
            </a:r>
          </a:p>
          <a:p>
            <a:pPr eaLnBrk="1" hangingPunct="1">
              <a:buNone/>
            </a:pPr>
            <a:r>
              <a:rPr lang="en-US" altLang="zh-CN" b="1" dirty="0"/>
              <a:t>	</a:t>
            </a:r>
            <a:r>
              <a:rPr lang="zh-CN" altLang="en-US" b="1" dirty="0"/>
              <a:t>若既无</a:t>
            </a:r>
            <a:r>
              <a:rPr lang="en-US" altLang="zh-CN" b="1" dirty="0"/>
              <a:t>return</a:t>
            </a:r>
            <a:r>
              <a:rPr lang="zh-CN" altLang="en-US" b="1" dirty="0"/>
              <a:t>语句，返回值又不是</a:t>
            </a:r>
            <a:r>
              <a:rPr lang="en-US" altLang="zh-CN" b="1" dirty="0"/>
              <a:t>void</a:t>
            </a:r>
            <a:r>
              <a:rPr lang="zh-CN" altLang="en-US" b="1" dirty="0"/>
              <a:t>类型，则函数将返回一个不确定的值；</a:t>
            </a:r>
          </a:p>
          <a:p>
            <a:pPr eaLnBrk="1" hangingPunct="1">
              <a:buNone/>
            </a:pPr>
            <a:endParaRPr lang="zh-CN" altLang="en-US" b="1" dirty="0"/>
          </a:p>
          <a:p>
            <a:pPr eaLnBrk="1" hangingPunct="1">
              <a:buNone/>
            </a:pPr>
            <a:endParaRPr lang="zh-CN" altLang="en-US" dirty="0"/>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66</a:t>
            </a:fld>
            <a:endParaRPr lang="zh-CN" altLang="en-US" sz="1400" b="1" dirty="0"/>
          </a:p>
        </p:txBody>
      </p:sp>
      <p:sp>
        <p:nvSpPr>
          <p:cNvPr id="25603"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5604"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4</a:t>
            </a:r>
            <a:r>
              <a:rPr lang="zh-CN" altLang="en-US" b="1" dirty="0">
                <a:solidFill>
                  <a:srgbClr val="FF3300"/>
                </a:solidFill>
              </a:rPr>
              <a:t>、返回值与</a:t>
            </a:r>
            <a:r>
              <a:rPr lang="en-US" altLang="zh-CN" b="1" dirty="0">
                <a:solidFill>
                  <a:srgbClr val="FF3300"/>
                </a:solidFill>
              </a:rPr>
              <a:t>return</a:t>
            </a:r>
            <a:r>
              <a:rPr lang="zh-CN" altLang="en-US" b="1" dirty="0">
                <a:solidFill>
                  <a:srgbClr val="FF3300"/>
                </a:solidFill>
              </a:rPr>
              <a:t>语句</a:t>
            </a:r>
          </a:p>
          <a:p>
            <a:pPr eaLnBrk="1" hangingPunct="1">
              <a:buNone/>
            </a:pPr>
            <a:r>
              <a:rPr lang="zh-CN" altLang="en-US" b="1" dirty="0"/>
              <a:t>（1）</a:t>
            </a:r>
            <a:r>
              <a:rPr lang="en-US" altLang="zh-CN" b="1" dirty="0"/>
              <a:t>return</a:t>
            </a:r>
            <a:r>
              <a:rPr lang="zh-CN" altLang="en-US" b="1" dirty="0"/>
              <a:t>语句的一般格式：</a:t>
            </a:r>
          </a:p>
          <a:p>
            <a:pPr eaLnBrk="1" hangingPunct="1">
              <a:buNone/>
            </a:pPr>
            <a:r>
              <a:rPr lang="zh-CN" altLang="en-US" b="1" dirty="0"/>
              <a:t>    	</a:t>
            </a:r>
            <a:r>
              <a:rPr lang="en-US" altLang="zh-CN" b="1" dirty="0">
                <a:solidFill>
                  <a:schemeClr val="accent2"/>
                </a:solidFill>
              </a:rPr>
              <a:t>return  </a:t>
            </a:r>
            <a:r>
              <a:rPr lang="zh-CN" altLang="en-US" b="1" dirty="0">
                <a:solidFill>
                  <a:schemeClr val="accent2"/>
                </a:solidFill>
              </a:rPr>
              <a:t>返回变量;	</a:t>
            </a:r>
          </a:p>
          <a:p>
            <a:pPr eaLnBrk="1" hangingPunct="1">
              <a:buNone/>
            </a:pPr>
            <a:r>
              <a:rPr lang="zh-CN" altLang="en-US" b="1" dirty="0">
                <a:solidFill>
                  <a:schemeClr val="accent2"/>
                </a:solidFill>
              </a:rPr>
              <a:t>      或  </a:t>
            </a:r>
            <a:r>
              <a:rPr lang="en-US" altLang="zh-CN" b="1" dirty="0">
                <a:solidFill>
                  <a:schemeClr val="accent2"/>
                </a:solidFill>
              </a:rPr>
              <a:t>return  (</a:t>
            </a:r>
            <a:r>
              <a:rPr lang="zh-CN" altLang="en-US" b="1" dirty="0">
                <a:solidFill>
                  <a:schemeClr val="accent2"/>
                </a:solidFill>
              </a:rPr>
              <a:t>返回表达式</a:t>
            </a:r>
            <a:r>
              <a:rPr lang="en-US" altLang="zh-CN" b="1" dirty="0">
                <a:solidFill>
                  <a:schemeClr val="accent2"/>
                </a:solidFill>
              </a:rPr>
              <a:t>)</a:t>
            </a:r>
            <a:r>
              <a:rPr lang="zh-CN" altLang="en-US" b="1" dirty="0">
                <a:solidFill>
                  <a:schemeClr val="accent2"/>
                </a:solidFill>
              </a:rPr>
              <a:t> ;</a:t>
            </a:r>
          </a:p>
          <a:p>
            <a:pPr eaLnBrk="1" hangingPunct="1">
              <a:buNone/>
            </a:pPr>
            <a:r>
              <a:rPr lang="zh-CN" altLang="en-US" b="1" dirty="0"/>
              <a:t>（2）</a:t>
            </a:r>
            <a:r>
              <a:rPr lang="en-US" altLang="zh-CN" b="1" dirty="0"/>
              <a:t>return</a:t>
            </a:r>
            <a:r>
              <a:rPr lang="zh-CN" altLang="en-US" b="1" dirty="0"/>
              <a:t>语句的功能：返回调用函数，并将</a:t>
            </a:r>
            <a:r>
              <a:rPr lang="en-US" altLang="zh-CN" b="1" dirty="0">
                <a:latin typeface="宋体" panose="02010600030101010101" pitchFamily="2" charset="-122"/>
              </a:rPr>
              <a:t>"</a:t>
            </a:r>
            <a:r>
              <a:rPr lang="zh-CN" altLang="en-US" b="1" dirty="0"/>
              <a:t>返回值表达式</a:t>
            </a:r>
            <a:r>
              <a:rPr lang="en-US" altLang="zh-CN" b="1" dirty="0">
                <a:latin typeface="宋体" panose="02010600030101010101" pitchFamily="2" charset="-122"/>
              </a:rPr>
              <a:t>"</a:t>
            </a:r>
            <a:r>
              <a:rPr lang="zh-CN" altLang="en-US" b="1" dirty="0"/>
              <a:t>的值带给调用函数；</a:t>
            </a:r>
          </a:p>
          <a:p>
            <a:pPr eaLnBrk="1" hangingPunct="1">
              <a:buNone/>
            </a:pPr>
            <a:r>
              <a:rPr lang="zh-CN" altLang="en-US" b="1" dirty="0"/>
              <a:t>（</a:t>
            </a:r>
            <a:r>
              <a:rPr lang="en-US" altLang="zh-CN" b="1" dirty="0"/>
              <a:t>3</a:t>
            </a:r>
            <a:r>
              <a:rPr lang="zh-CN" altLang="en-US" b="1" dirty="0"/>
              <a:t>） </a:t>
            </a:r>
            <a:r>
              <a:rPr lang="en-US" altLang="zh-CN" b="1" dirty="0"/>
              <a:t>return</a:t>
            </a:r>
            <a:r>
              <a:rPr lang="zh-CN" altLang="en-US" b="1" dirty="0"/>
              <a:t>语句中返回值表达式的类型要和返回值的类型说明一致。如果不一致，则以返回值类型为准</a:t>
            </a:r>
            <a:r>
              <a:rPr lang="en-US" altLang="zh-CN" b="1" dirty="0"/>
              <a:t>(</a:t>
            </a:r>
            <a:r>
              <a:rPr lang="zh-CN" altLang="en-US" b="1" dirty="0"/>
              <a:t>进行类型转换</a:t>
            </a:r>
            <a:r>
              <a:rPr lang="en-US" altLang="zh-CN" b="1" dirty="0"/>
              <a:t>)</a:t>
            </a:r>
            <a:r>
              <a:rPr lang="zh-CN" altLang="en-US" b="1" dirty="0"/>
              <a:t>。</a:t>
            </a:r>
          </a:p>
          <a:p>
            <a:pPr eaLnBrk="1" hangingPunct="1">
              <a:buNone/>
            </a:pPr>
            <a:endParaRPr lang="zh-CN" altLang="en-US" b="1" dirty="0"/>
          </a:p>
          <a:p>
            <a:pPr eaLnBrk="1" hangingPunct="1">
              <a:buNone/>
            </a:pPr>
            <a:endParaRPr lang="zh-CN" altLang="en-US" dirty="0"/>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67</a:t>
            </a:fld>
            <a:endParaRPr lang="zh-CN" altLang="en-US" sz="1400" b="1" dirty="0"/>
          </a:p>
        </p:txBody>
      </p:sp>
      <p:sp>
        <p:nvSpPr>
          <p:cNvPr id="26627" name="Rectangle 2"/>
          <p:cNvSpPr>
            <a:spLocks noGrp="1"/>
          </p:cNvSpPr>
          <p:nvPr>
            <p:ph type="title"/>
          </p:nvPr>
        </p:nvSpPr>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26628" name="Rectangle 3"/>
          <p:cNvSpPr>
            <a:spLocks noGrp="1"/>
          </p:cNvSpPr>
          <p:nvPr>
            <p:ph idx="1"/>
          </p:nvPr>
        </p:nvSpPr>
        <p:spPr/>
        <p:txBody>
          <a:bodyPr vert="horz" wrap="square" lIns="91440" tIns="45720" rIns="91440" bIns="45720" anchor="t"/>
          <a:lstStyle/>
          <a:p>
            <a:pPr eaLnBrk="1" hangingPunct="1">
              <a:buNone/>
            </a:pPr>
            <a:r>
              <a:rPr lang="en-US" altLang="zh-CN" b="1" dirty="0">
                <a:solidFill>
                  <a:srgbClr val="FF3300"/>
                </a:solidFill>
              </a:rPr>
              <a:t>5</a:t>
            </a:r>
            <a:r>
              <a:rPr lang="zh-CN" altLang="en-US" b="1" dirty="0">
                <a:solidFill>
                  <a:srgbClr val="FF3300"/>
                </a:solidFill>
              </a:rPr>
              <a:t>、函数如何返回</a:t>
            </a:r>
          </a:p>
          <a:p>
            <a:pPr eaLnBrk="1" hangingPunct="1">
              <a:buNone/>
            </a:pPr>
            <a:r>
              <a:rPr lang="zh-CN" altLang="en-US" b="1" dirty="0">
                <a:solidFill>
                  <a:srgbClr val="FF3300"/>
                </a:solidFill>
              </a:rPr>
              <a:t>       </a:t>
            </a:r>
            <a:r>
              <a:rPr lang="zh-CN" altLang="en-US" b="1" dirty="0"/>
              <a:t>有返回值时：</a:t>
            </a:r>
            <a:r>
              <a:rPr lang="en-US" altLang="zh-CN" b="1" dirty="0">
                <a:solidFill>
                  <a:schemeClr val="accent2"/>
                </a:solidFill>
              </a:rPr>
              <a:t>return </a:t>
            </a:r>
            <a:r>
              <a:rPr lang="zh-CN" altLang="en-US" b="1" dirty="0">
                <a:solidFill>
                  <a:schemeClr val="accent2"/>
                </a:solidFill>
              </a:rPr>
              <a:t>返回值表达式</a:t>
            </a:r>
            <a:r>
              <a:rPr lang="en-US" altLang="zh-CN" b="1" dirty="0"/>
              <a:t>;</a:t>
            </a:r>
          </a:p>
          <a:p>
            <a:pPr eaLnBrk="1" hangingPunct="1">
              <a:buNone/>
            </a:pPr>
            <a:r>
              <a:rPr lang="zh-CN" altLang="en-US" b="1" dirty="0"/>
              <a:t>       无返回值时：</a:t>
            </a:r>
          </a:p>
          <a:p>
            <a:pPr eaLnBrk="1" hangingPunct="1">
              <a:buNone/>
            </a:pPr>
            <a:r>
              <a:rPr lang="en-US" altLang="zh-CN" b="1" dirty="0"/>
              <a:t>          1</a:t>
            </a:r>
            <a:r>
              <a:rPr lang="zh-CN" altLang="en-US" b="1" dirty="0"/>
              <a:t>）</a:t>
            </a:r>
            <a:r>
              <a:rPr lang="en-US" altLang="zh-CN" b="1" dirty="0">
                <a:solidFill>
                  <a:schemeClr val="accent2"/>
                </a:solidFill>
              </a:rPr>
              <a:t>return</a:t>
            </a:r>
            <a:r>
              <a:rPr lang="zh-CN" altLang="en-US" b="1" dirty="0">
                <a:solidFill>
                  <a:schemeClr val="accent2"/>
                </a:solidFill>
              </a:rPr>
              <a:t>；</a:t>
            </a:r>
          </a:p>
          <a:p>
            <a:pPr eaLnBrk="1" hangingPunct="1">
              <a:buNone/>
            </a:pPr>
            <a:r>
              <a:rPr lang="zh-CN" altLang="en-US" b="1" dirty="0"/>
              <a:t>          </a:t>
            </a:r>
            <a:r>
              <a:rPr lang="en-US" altLang="zh-CN" b="1" dirty="0"/>
              <a:t>2</a:t>
            </a:r>
            <a:r>
              <a:rPr lang="zh-CN" altLang="en-US" b="1" dirty="0"/>
              <a:t>）</a:t>
            </a:r>
            <a:r>
              <a:rPr lang="zh-CN" altLang="en-US" b="1" dirty="0">
                <a:solidFill>
                  <a:schemeClr val="accent2"/>
                </a:solidFill>
              </a:rPr>
              <a:t>运行到函数结束的</a:t>
            </a:r>
            <a:r>
              <a:rPr lang="en-US" altLang="zh-CN" b="1" dirty="0">
                <a:solidFill>
                  <a:schemeClr val="accent2"/>
                </a:solidFill>
              </a:rPr>
              <a:t>}</a:t>
            </a:r>
            <a:r>
              <a:rPr lang="zh-CN" altLang="en-US" b="1" dirty="0">
                <a:solidFill>
                  <a:schemeClr val="accent2"/>
                </a:solidFill>
              </a:rPr>
              <a:t>处</a:t>
            </a:r>
          </a:p>
          <a:p>
            <a:pPr eaLnBrk="1" hangingPunct="1">
              <a:buNone/>
            </a:pPr>
            <a:r>
              <a:rPr lang="en-US" altLang="zh-CN" b="1" dirty="0">
                <a:solidFill>
                  <a:srgbClr val="FF3300"/>
                </a:solidFill>
              </a:rPr>
              <a:t>6</a:t>
            </a:r>
            <a:r>
              <a:rPr lang="zh-CN" altLang="en-US" b="1" dirty="0">
                <a:solidFill>
                  <a:srgbClr val="FF3300"/>
                </a:solidFill>
              </a:rPr>
              <a:t>、函数中的语句能访问的变量</a:t>
            </a:r>
          </a:p>
          <a:p>
            <a:pPr eaLnBrk="1" hangingPunct="1">
              <a:buNone/>
            </a:pPr>
            <a:r>
              <a:rPr lang="zh-CN" altLang="en-US" b="1" dirty="0">
                <a:solidFill>
                  <a:srgbClr val="FF3300"/>
                </a:solidFill>
              </a:rPr>
              <a:t>	</a:t>
            </a:r>
            <a:r>
              <a:rPr lang="zh-CN" altLang="en-US" b="1" dirty="0"/>
              <a:t>可以访问本函数中定义的参数、变量，但是不能访问其他函数中定义的参数和变量。</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68</a:t>
            </a:fld>
            <a:endParaRPr lang="zh-CN" altLang="en-US" sz="1400" b="1" dirty="0"/>
          </a:p>
        </p:txBody>
      </p:sp>
      <p:sp>
        <p:nvSpPr>
          <p:cNvPr id="123907" name="Rectangle 3"/>
          <p:cNvSpPr>
            <a:spLocks noGrp="1"/>
          </p:cNvSpPr>
          <p:nvPr>
            <p:ph idx="1"/>
          </p:nvPr>
        </p:nvSpPr>
        <p:spPr>
          <a:xfrm>
            <a:off x="685800" y="1319213"/>
            <a:ext cx="7772400" cy="5133975"/>
          </a:xfrm>
        </p:spPr>
        <p:txBody>
          <a:bodyPr vert="horz" wrap="square" lIns="91440" tIns="45720" rIns="91440" bIns="45720" anchor="t"/>
          <a:lstStyle/>
          <a:p>
            <a:pPr eaLnBrk="1" hangingPunct="1">
              <a:lnSpc>
                <a:spcPct val="90000"/>
              </a:lnSpc>
              <a:buNone/>
            </a:pPr>
            <a:r>
              <a:rPr lang="zh-CN" altLang="en-US" b="1" dirty="0"/>
              <a:t>常见的程序设计错误：</a:t>
            </a:r>
          </a:p>
          <a:p>
            <a:pPr eaLnBrk="1" hangingPunct="1">
              <a:lnSpc>
                <a:spcPct val="90000"/>
              </a:lnSpc>
              <a:buNone/>
            </a:pPr>
            <a:r>
              <a:rPr lang="zh-CN" altLang="en-US" b="1" dirty="0"/>
              <a:t>（1）把同一种类型的参数声明为类似于形式</a:t>
            </a:r>
            <a:r>
              <a:rPr lang="en-US" altLang="zh-CN" b="1" dirty="0"/>
              <a:t>f(float x，y)，</a:t>
            </a:r>
            <a:r>
              <a:rPr lang="zh-CN" altLang="en-US" b="1" dirty="0"/>
              <a:t>而不是</a:t>
            </a:r>
            <a:r>
              <a:rPr lang="en-US" altLang="zh-CN" b="1" dirty="0"/>
              <a:t>f(float x，float y)；f</a:t>
            </a:r>
            <a:r>
              <a:rPr lang="zh-CN" altLang="en-US" b="1" dirty="0"/>
              <a:t>是函数</a:t>
            </a:r>
          </a:p>
          <a:p>
            <a:pPr eaLnBrk="1" hangingPunct="1">
              <a:lnSpc>
                <a:spcPct val="90000"/>
              </a:lnSpc>
              <a:buNone/>
            </a:pPr>
            <a:r>
              <a:rPr lang="en-US" altLang="zh-CN" b="1" dirty="0"/>
              <a:t>（2）</a:t>
            </a:r>
            <a:r>
              <a:rPr lang="zh-CN" altLang="en-US" b="1" dirty="0"/>
              <a:t>在函数内部把函数参数再次定义成局部变量是一种语法错误；如：</a:t>
            </a:r>
            <a:endParaRPr lang="en-US" altLang="zh-CN" b="1" dirty="0"/>
          </a:p>
          <a:p>
            <a:pPr eaLnBrk="1" hangingPunct="1">
              <a:lnSpc>
                <a:spcPct val="90000"/>
              </a:lnSpc>
              <a:buNone/>
            </a:pPr>
            <a:r>
              <a:rPr lang="zh-CN" altLang="en-US" b="1" dirty="0"/>
              <a:t>    </a:t>
            </a:r>
            <a:r>
              <a:rPr lang="en-US" altLang="zh-CN" dirty="0">
                <a:latin typeface="Consolas" panose="020B0609020204030204" pitchFamily="49" charset="0"/>
              </a:rPr>
              <a:t>int sum(int x, int y) </a:t>
            </a:r>
          </a:p>
          <a:p>
            <a:pPr eaLnBrk="1" hangingPunct="1">
              <a:lnSpc>
                <a:spcPct val="90000"/>
              </a:lnSpc>
              <a:buNone/>
            </a:pPr>
            <a:r>
              <a:rPr lang="en-US" altLang="zh-CN" dirty="0">
                <a:latin typeface="Consolas" panose="020B0609020204030204" pitchFamily="49" charset="0"/>
              </a:rPr>
              <a:t>   {</a:t>
            </a:r>
          </a:p>
          <a:p>
            <a:pPr eaLnBrk="1" hangingPunct="1">
              <a:lnSpc>
                <a:spcPct val="90000"/>
              </a:lnSpc>
              <a:buNone/>
            </a:pPr>
            <a:r>
              <a:rPr lang="en-US" altLang="zh-CN" dirty="0">
                <a:latin typeface="Consolas" panose="020B0609020204030204" pitchFamily="49" charset="0"/>
              </a:rPr>
              <a:t>        </a:t>
            </a:r>
            <a:r>
              <a:rPr lang="en-US" altLang="zh-CN" dirty="0">
                <a:solidFill>
                  <a:srgbClr val="FF3300"/>
                </a:solidFill>
                <a:latin typeface="Consolas" panose="020B0609020204030204" pitchFamily="49" charset="0"/>
              </a:rPr>
              <a:t>int x, y;//</a:t>
            </a:r>
            <a:r>
              <a:rPr lang="zh-CN" altLang="en-US" dirty="0">
                <a:solidFill>
                  <a:srgbClr val="FF3300"/>
                </a:solidFill>
                <a:latin typeface="Consolas" panose="020B0609020204030204" pitchFamily="49" charset="0"/>
              </a:rPr>
              <a:t>错误！</a:t>
            </a:r>
          </a:p>
          <a:p>
            <a:pPr eaLnBrk="1" hangingPunct="1">
              <a:lnSpc>
                <a:spcPct val="90000"/>
              </a:lnSpc>
              <a:buNone/>
            </a:pPr>
            <a:r>
              <a:rPr lang="en-US" altLang="zh-CN" dirty="0">
                <a:latin typeface="Consolas" panose="020B0609020204030204" pitchFamily="49" charset="0"/>
              </a:rPr>
              <a:t>        return (x+y);          </a:t>
            </a:r>
            <a:endParaRPr lang="en-US" altLang="zh-CN" dirty="0">
              <a:solidFill>
                <a:srgbClr val="003399"/>
              </a:solidFill>
              <a:latin typeface="Consolas" panose="020B0609020204030204" pitchFamily="49" charset="0"/>
            </a:endParaRPr>
          </a:p>
          <a:p>
            <a:pPr eaLnBrk="1" hangingPunct="1">
              <a:lnSpc>
                <a:spcPct val="90000"/>
              </a:lnSpc>
              <a:buNone/>
            </a:pPr>
            <a:r>
              <a:rPr lang="en-US" altLang="zh-CN" dirty="0">
                <a:latin typeface="Consolas" panose="020B0609020204030204" pitchFamily="49" charset="0"/>
              </a:rPr>
              <a:t>   }</a:t>
            </a:r>
          </a:p>
          <a:p>
            <a:pPr eaLnBrk="1" hangingPunct="1">
              <a:lnSpc>
                <a:spcPct val="90000"/>
              </a:lnSpc>
              <a:spcBef>
                <a:spcPct val="0"/>
              </a:spcBef>
              <a:buNone/>
            </a:pPr>
            <a:endParaRPr lang="en-US" altLang="zh-CN" b="1" dirty="0"/>
          </a:p>
        </p:txBody>
      </p:sp>
      <p:sp>
        <p:nvSpPr>
          <p:cNvPr id="29700" name="Rectangle 8"/>
          <p:cNvSpPr>
            <a:spLocks noGrp="1"/>
          </p:cNvSpPr>
          <p:nvPr>
            <p:ph type="title"/>
          </p:nvPr>
        </p:nvSpPr>
        <p:spPr>
          <a:xfrm>
            <a:off x="1187450" y="404813"/>
            <a:ext cx="7772400" cy="720725"/>
          </a:xfrm>
        </p:spPr>
        <p:txBody>
          <a:bodyPr vert="horz" wrap="square" lIns="91440" tIns="45720" rIns="91440" bIns="45720" anchor="ctr"/>
          <a:lstStyle/>
          <a:p>
            <a:pPr eaLnBrk="1" hangingPunct="1"/>
            <a:r>
              <a:rPr lang="en-US" altLang="zh-CN" b="1" dirty="0"/>
              <a:t>5.4.2    </a:t>
            </a:r>
            <a:r>
              <a:rPr lang="zh-CN" altLang="en-US" b="1" dirty="0"/>
              <a:t>函数的定义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3907">
                                            <p:txEl>
                                              <p:pRg st="2" end="2"/>
                                            </p:txEl>
                                          </p:spTgt>
                                        </p:tgtEl>
                                        <p:attrNameLst>
                                          <p:attrName>style.visibility</p:attrName>
                                        </p:attrNameLst>
                                      </p:cBhvr>
                                      <p:to>
                                        <p:strVal val="visible"/>
                                      </p:to>
                                    </p:set>
                                    <p:animEffect transition="in" filter="dissolve">
                                      <p:cBhvr>
                                        <p:cTn id="7" dur="500"/>
                                        <p:tgtEl>
                                          <p:spTgt spid="12390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3907">
                                            <p:txEl>
                                              <p:pRg st="3" end="3"/>
                                            </p:txEl>
                                          </p:spTgt>
                                        </p:tgtEl>
                                        <p:attrNameLst>
                                          <p:attrName>style.visibility</p:attrName>
                                        </p:attrNameLst>
                                      </p:cBhvr>
                                      <p:to>
                                        <p:strVal val="visible"/>
                                      </p:to>
                                    </p:set>
                                    <p:animEffect transition="in" filter="dissolve">
                                      <p:cBhvr>
                                        <p:cTn id="12" dur="500"/>
                                        <p:tgtEl>
                                          <p:spTgt spid="123907">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23907">
                                            <p:txEl>
                                              <p:pRg st="4" end="4"/>
                                            </p:txEl>
                                          </p:spTgt>
                                        </p:tgtEl>
                                        <p:attrNameLst>
                                          <p:attrName>style.visibility</p:attrName>
                                        </p:attrNameLst>
                                      </p:cBhvr>
                                      <p:to>
                                        <p:strVal val="visible"/>
                                      </p:to>
                                    </p:set>
                                    <p:animEffect transition="in" filter="dissolve">
                                      <p:cBhvr>
                                        <p:cTn id="17" dur="500"/>
                                        <p:tgtEl>
                                          <p:spTgt spid="123907">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23907">
                                            <p:txEl>
                                              <p:pRg st="5" end="5"/>
                                            </p:txEl>
                                          </p:spTgt>
                                        </p:tgtEl>
                                        <p:attrNameLst>
                                          <p:attrName>style.visibility</p:attrName>
                                        </p:attrNameLst>
                                      </p:cBhvr>
                                      <p:to>
                                        <p:strVal val="visible"/>
                                      </p:to>
                                    </p:set>
                                    <p:animEffect transition="in" filter="dissolve">
                                      <p:cBhvr>
                                        <p:cTn id="22" dur="500"/>
                                        <p:tgtEl>
                                          <p:spTgt spid="123907">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23907">
                                            <p:txEl>
                                              <p:pRg st="6" end="6"/>
                                            </p:txEl>
                                          </p:spTgt>
                                        </p:tgtEl>
                                        <p:attrNameLst>
                                          <p:attrName>style.visibility</p:attrName>
                                        </p:attrNameLst>
                                      </p:cBhvr>
                                      <p:to>
                                        <p:strVal val="visible"/>
                                      </p:to>
                                    </p:set>
                                    <p:animEffect transition="in" filter="dissolve">
                                      <p:cBhvr>
                                        <p:cTn id="27" dur="500"/>
                                        <p:tgtEl>
                                          <p:spTgt spid="12390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23907">
                                            <p:txEl>
                                              <p:pRg st="7" end="7"/>
                                            </p:txEl>
                                          </p:spTgt>
                                        </p:tgtEl>
                                        <p:attrNameLst>
                                          <p:attrName>style.visibility</p:attrName>
                                        </p:attrNameLst>
                                      </p:cBhvr>
                                      <p:to>
                                        <p:strVal val="visible"/>
                                      </p:to>
                                    </p:set>
                                    <p:animEffect transition="in" filter="dissolve">
                                      <p:cBhvr>
                                        <p:cTn id="32" dur="500"/>
                                        <p:tgtEl>
                                          <p:spTgt spid="123907">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69</a:t>
            </a:fld>
            <a:endParaRPr lang="zh-CN" altLang="en-US" sz="1400" b="1" dirty="0"/>
          </a:p>
        </p:txBody>
      </p:sp>
      <p:sp>
        <p:nvSpPr>
          <p:cNvPr id="30723" name="Rectangle 2"/>
          <p:cNvSpPr>
            <a:spLocks noGrp="1"/>
          </p:cNvSpPr>
          <p:nvPr>
            <p:ph type="title"/>
          </p:nvPr>
        </p:nvSpPr>
        <p:spPr>
          <a:xfrm>
            <a:off x="1066800" y="401638"/>
            <a:ext cx="7772400" cy="720725"/>
          </a:xfrm>
        </p:spPr>
        <p:txBody>
          <a:bodyPr vert="horz" wrap="square" lIns="91440" tIns="45720" rIns="91440" bIns="45720" anchor="ctr"/>
          <a:lstStyle/>
          <a:p>
            <a:pPr eaLnBrk="1" hangingPunct="1"/>
            <a:r>
              <a:rPr lang="en-US" altLang="zh-CN" b="1" dirty="0"/>
              <a:t>5.4.2    </a:t>
            </a:r>
            <a:r>
              <a:rPr lang="zh-CN" altLang="en-US" b="1" dirty="0"/>
              <a:t>函数的定义</a:t>
            </a:r>
          </a:p>
        </p:txBody>
      </p:sp>
      <p:sp>
        <p:nvSpPr>
          <p:cNvPr id="30724" name="Rectangle 3"/>
          <p:cNvSpPr>
            <a:spLocks noGrp="1"/>
          </p:cNvSpPr>
          <p:nvPr>
            <p:ph type="body" sz="half" idx="1"/>
          </p:nvPr>
        </p:nvSpPr>
        <p:spPr>
          <a:xfrm>
            <a:off x="685800" y="1319213"/>
            <a:ext cx="7989888" cy="4611687"/>
          </a:xfrm>
        </p:spPr>
        <p:txBody>
          <a:bodyPr vert="horz" wrap="square" lIns="91440" tIns="45720" rIns="91440" bIns="45720" anchor="t"/>
          <a:lstStyle/>
          <a:p>
            <a:pPr eaLnBrk="1" hangingPunct="1">
              <a:buNone/>
            </a:pPr>
            <a:r>
              <a:rPr lang="zh-CN" altLang="en-US" b="1" dirty="0"/>
              <a:t>（</a:t>
            </a:r>
            <a:r>
              <a:rPr lang="en-US" altLang="zh-CN" b="1" dirty="0"/>
              <a:t>3</a:t>
            </a:r>
            <a:r>
              <a:rPr lang="zh-CN" altLang="en-US" b="1" dirty="0"/>
              <a:t>）不要在一个</a:t>
            </a:r>
            <a:r>
              <a:rPr lang="en-US" altLang="zh-CN" b="1" dirty="0"/>
              <a:t>C</a:t>
            </a:r>
            <a:r>
              <a:rPr lang="zh-CN" altLang="en-US" b="1" dirty="0"/>
              <a:t>函数的内部定义另一个函数；</a:t>
            </a:r>
          </a:p>
          <a:p>
            <a:pPr eaLnBrk="1" hangingPunct="1">
              <a:buNone/>
            </a:pPr>
            <a:r>
              <a:rPr lang="zh-CN" altLang="en-US" sz="2400" dirty="0">
                <a:latin typeface="Consolas" panose="020B0609020204030204" pitchFamily="49" charset="0"/>
              </a:rPr>
              <a:t>   </a:t>
            </a:r>
            <a:r>
              <a:rPr lang="en-US" altLang="zh-CN" sz="2400" dirty="0">
                <a:latin typeface="Consolas" panose="020B0609020204030204" pitchFamily="49" charset="0"/>
              </a:rPr>
              <a:t>int main()</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r>
              <a:rPr lang="zh-CN" altLang="en-US" sz="2400" dirty="0">
                <a:latin typeface="Consolas" panose="020B0609020204030204" pitchFamily="49" charset="0"/>
              </a:rPr>
              <a:t> </a:t>
            </a:r>
            <a:r>
              <a:rPr lang="en-US" altLang="zh-CN" sz="2400" dirty="0">
                <a:solidFill>
                  <a:srgbClr val="FF3300"/>
                </a:solidFill>
                <a:latin typeface="Consolas" panose="020B0609020204030204" pitchFamily="49" charset="0"/>
              </a:rPr>
              <a:t>int sum(int x,int y)  </a:t>
            </a:r>
          </a:p>
          <a:p>
            <a:pPr eaLnBrk="1" hangingPunct="1">
              <a:buNone/>
            </a:pPr>
            <a:r>
              <a:rPr lang="en-US" altLang="zh-CN" sz="2400" dirty="0">
                <a:solidFill>
                  <a:srgbClr val="FF3300"/>
                </a:solidFill>
                <a:latin typeface="Consolas" panose="020B0609020204030204" pitchFamily="49" charset="0"/>
              </a:rPr>
              <a:t>      {</a:t>
            </a:r>
          </a:p>
          <a:p>
            <a:pPr eaLnBrk="1" hangingPunct="1">
              <a:buNone/>
            </a:pPr>
            <a:r>
              <a:rPr lang="en-US" altLang="zh-CN" sz="2400" dirty="0">
                <a:solidFill>
                  <a:srgbClr val="FF3300"/>
                </a:solidFill>
                <a:latin typeface="Consolas" panose="020B0609020204030204" pitchFamily="49" charset="0"/>
              </a:rPr>
              <a:t>            return(x+y);          </a:t>
            </a:r>
          </a:p>
          <a:p>
            <a:pPr eaLnBrk="1" hangingPunct="1">
              <a:buNone/>
            </a:pPr>
            <a:r>
              <a:rPr lang="en-US" altLang="zh-CN" sz="2400" dirty="0">
                <a:solidFill>
                  <a:srgbClr val="FF3300"/>
                </a:solidFill>
                <a:latin typeface="Consolas" panose="020B0609020204030204" pitchFamily="49" charset="0"/>
              </a:rPr>
              <a:t>       }</a:t>
            </a:r>
          </a:p>
          <a:p>
            <a:pPr eaLnBrk="1" hangingPunct="1">
              <a:buNone/>
            </a:pPr>
            <a:r>
              <a:rPr lang="en-US" altLang="zh-CN" sz="2400" dirty="0">
                <a:latin typeface="Consolas" panose="020B0609020204030204" pitchFamily="49" charset="0"/>
              </a:rPr>
              <a:t>      …</a:t>
            </a:r>
          </a:p>
          <a:p>
            <a:pPr eaLnBrk="1" hangingPunct="1">
              <a:buNone/>
            </a:pPr>
            <a:r>
              <a:rPr lang="en-US" altLang="zh-CN" sz="2400" dirty="0">
                <a:latin typeface="Consolas" panose="020B0609020204030204" pitchFamily="49" charset="0"/>
              </a:rPr>
              <a:t>  }</a:t>
            </a:r>
          </a:p>
        </p:txBody>
      </p:sp>
      <p:graphicFrame>
        <p:nvGraphicFramePr>
          <p:cNvPr id="344070" name="Object 6"/>
          <p:cNvGraphicFramePr>
            <a:graphicFrameLocks noGrp="1" noChangeAspect="1"/>
          </p:cNvGraphicFramePr>
          <p:nvPr>
            <p:ph sz="half" idx="2"/>
          </p:nvPr>
        </p:nvGraphicFramePr>
        <p:xfrm>
          <a:off x="5292080" y="3063042"/>
          <a:ext cx="920750" cy="1385887"/>
        </p:xfrm>
        <a:graphic>
          <a:graphicData uri="http://schemas.openxmlformats.org/presentationml/2006/ole">
            <mc:AlternateContent xmlns:mc="http://schemas.openxmlformats.org/markup-compatibility/2006">
              <mc:Choice xmlns:v="urn:schemas-microsoft-com:vml" Requires="v">
                <p:oleObj r:id="rId2" imgW="1581150" imgH="2381250" progId="Paint.Picture">
                  <p:embed/>
                </p:oleObj>
              </mc:Choice>
              <mc:Fallback>
                <p:oleObj r:id="rId2" imgW="1581150" imgH="2381250" progId="Paint.Picture">
                  <p:embed/>
                  <p:pic>
                    <p:nvPicPr>
                      <p:cNvPr id="344070" name="Object 6"/>
                      <p:cNvPicPr/>
                      <p:nvPr/>
                    </p:nvPicPr>
                    <p:blipFill>
                      <a:blip r:embed="rId3">
                        <a:clrChange>
                          <a:clrFrom>
                            <a:srgbClr val="FFFFFF"/>
                          </a:clrFrom>
                          <a:clrTo>
                            <a:srgbClr val="FFFFFF">
                              <a:alpha val="0"/>
                            </a:srgbClr>
                          </a:clrTo>
                        </a:clrChange>
                      </a:blip>
                      <a:srcRect/>
                      <a:stretch>
                        <a:fillRect/>
                      </a:stretch>
                    </p:blipFill>
                    <p:spPr>
                      <a:xfrm>
                        <a:off x="5292080" y="3063042"/>
                        <a:ext cx="920750" cy="1385887"/>
                      </a:xfrm>
                      <a:prstGeom prst="rect">
                        <a:avLst/>
                      </a:prstGeom>
                      <a:noFill/>
                      <a:ln w="38100">
                        <a:miter/>
                      </a:ln>
                    </p:spPr>
                  </p:pic>
                </p:oleObj>
              </mc:Fallback>
            </mc:AlternateContent>
          </a:graphicData>
        </a:graphic>
      </p:graphicFrame>
      <p:sp>
        <p:nvSpPr>
          <p:cNvPr id="344072" name="Text Box 8"/>
          <p:cNvSpPr txBox="1"/>
          <p:nvPr/>
        </p:nvSpPr>
        <p:spPr>
          <a:xfrm>
            <a:off x="6084887" y="3867229"/>
            <a:ext cx="1871663" cy="4762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b="1" dirty="0">
                <a:solidFill>
                  <a:srgbClr val="CC3300"/>
                </a:solidFill>
              </a:rPr>
              <a:t>不允许！</a:t>
            </a:r>
          </a:p>
        </p:txBody>
      </p:sp>
      <p:sp>
        <p:nvSpPr>
          <p:cNvPr id="344073" name="Rectangle 9"/>
          <p:cNvSpPr/>
          <p:nvPr/>
        </p:nvSpPr>
        <p:spPr>
          <a:xfrm>
            <a:off x="1763688" y="3205241"/>
            <a:ext cx="3528392" cy="1800225"/>
          </a:xfrm>
          <a:prstGeom prst="rect">
            <a:avLst/>
          </a:prstGeom>
          <a:noFill/>
          <a:ln w="28575"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solidFill>
                <a:srgbClr val="990099"/>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44073"/>
                                        </p:tgtEl>
                                        <p:attrNameLst>
                                          <p:attrName>style.visibility</p:attrName>
                                        </p:attrNameLst>
                                      </p:cBhvr>
                                      <p:to>
                                        <p:strVal val="visible"/>
                                      </p:to>
                                    </p:set>
                                    <p:animEffect transition="in" filter="checkerboard(across)">
                                      <p:cBhvr>
                                        <p:cTn id="7" dur="500"/>
                                        <p:tgtEl>
                                          <p:spTgt spid="344073"/>
                                        </p:tgtEl>
                                      </p:cBhvr>
                                    </p:animEffect>
                                  </p:childTnLst>
                                </p:cTn>
                              </p:par>
                              <p:par>
                                <p:cTn id="8" presetID="5" presetClass="entr" presetSubtype="10" fill="hold" nodeType="withEffect">
                                  <p:stCondLst>
                                    <p:cond delay="0"/>
                                  </p:stCondLst>
                                  <p:childTnLst>
                                    <p:set>
                                      <p:cBhvr>
                                        <p:cTn id="9" dur="1" fill="hold">
                                          <p:stCondLst>
                                            <p:cond delay="0"/>
                                          </p:stCondLst>
                                        </p:cTn>
                                        <p:tgtEl>
                                          <p:spTgt spid="344070"/>
                                        </p:tgtEl>
                                        <p:attrNameLst>
                                          <p:attrName>style.visibility</p:attrName>
                                        </p:attrNameLst>
                                      </p:cBhvr>
                                      <p:to>
                                        <p:strVal val="visible"/>
                                      </p:to>
                                    </p:set>
                                    <p:animEffect transition="in" filter="checkerboard(across)">
                                      <p:cBhvr>
                                        <p:cTn id="10" dur="500"/>
                                        <p:tgtEl>
                                          <p:spTgt spid="344070"/>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344072"/>
                                        </p:tgtEl>
                                        <p:attrNameLst>
                                          <p:attrName>style.visibility</p:attrName>
                                        </p:attrNameLst>
                                      </p:cBhvr>
                                      <p:to>
                                        <p:strVal val="visible"/>
                                      </p:to>
                                    </p:set>
                                    <p:animEffect transition="in" filter="checkerboard(across)">
                                      <p:cBhvr>
                                        <p:cTn id="13" dur="500"/>
                                        <p:tgtEl>
                                          <p:spTgt spid="3440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4072" grpId="0"/>
      <p:bldP spid="34407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70</a:t>
            </a:fld>
            <a:endParaRPr lang="zh-CN" altLang="en-US" sz="1400" b="1" dirty="0"/>
          </a:p>
        </p:txBody>
      </p:sp>
      <p:sp>
        <p:nvSpPr>
          <p:cNvPr id="64515" name="Text Box 4"/>
          <p:cNvSpPr>
            <a:spLocks noGrp="1"/>
          </p:cNvSpPr>
          <p:nvPr>
            <p:ph idx="1"/>
          </p:nvPr>
        </p:nvSpPr>
        <p:spPr>
          <a:xfrm>
            <a:off x="395288" y="1319213"/>
            <a:ext cx="8497887" cy="4611687"/>
          </a:xfrm>
        </p:spPr>
        <p:txBody>
          <a:bodyPr vert="horz" wrap="square" lIns="92075" tIns="46038" rIns="92075" bIns="46038" anchor="t"/>
          <a:lstStyle/>
          <a:p>
            <a:pPr algn="just">
              <a:spcBef>
                <a:spcPct val="50000"/>
              </a:spcBef>
              <a:buNone/>
            </a:pPr>
            <a:r>
              <a:rPr lang="zh-CN" altLang="en-US" b="1" dirty="0">
                <a:latin typeface="宋体" panose="02010600030101010101" pitchFamily="2" charset="-122"/>
              </a:rPr>
              <a:t>子程序参数传递两种方式：</a:t>
            </a:r>
            <a:r>
              <a:rPr lang="zh-CN" altLang="en-US" b="1" dirty="0">
                <a:solidFill>
                  <a:srgbClr val="003399"/>
                </a:solidFill>
                <a:latin typeface="宋体" panose="02010600030101010101" pitchFamily="2" charset="-122"/>
              </a:rPr>
              <a:t>按值传递</a:t>
            </a:r>
            <a:r>
              <a:rPr lang="zh-CN" altLang="en-US" b="1" dirty="0">
                <a:latin typeface="宋体" panose="02010600030101010101" pitchFamily="2" charset="-122"/>
              </a:rPr>
              <a:t>和</a:t>
            </a:r>
            <a:r>
              <a:rPr lang="zh-CN" altLang="en-US" b="1" dirty="0">
                <a:solidFill>
                  <a:srgbClr val="003399"/>
                </a:solidFill>
                <a:latin typeface="宋体" panose="02010600030101010101" pitchFamily="2" charset="-122"/>
              </a:rPr>
              <a:t>按引用传递</a:t>
            </a:r>
            <a:r>
              <a:rPr lang="zh-CN" altLang="en-US" b="1" dirty="0">
                <a:latin typeface="宋体" panose="02010600030101010101" pitchFamily="2" charset="-122"/>
              </a:rPr>
              <a:t>。</a:t>
            </a:r>
            <a:endParaRPr lang="zh-CN" altLang="en-US" b="1" dirty="0">
              <a:latin typeface="宋体" panose="02010600030101010101" pitchFamily="2" charset="-122"/>
              <a:cs typeface="Times New Roman" panose="02020603050405020304" pitchFamily="18" charset="0"/>
            </a:endParaRPr>
          </a:p>
          <a:p>
            <a:pPr algn="just">
              <a:spcBef>
                <a:spcPct val="50000"/>
              </a:spcBef>
              <a:buNone/>
            </a:pPr>
            <a:r>
              <a:rPr lang="zh-CN" altLang="en-US" b="1" i="1" dirty="0">
                <a:solidFill>
                  <a:srgbClr val="CC3300"/>
                </a:solidFill>
                <a:latin typeface="宋体" panose="02010600030101010101" pitchFamily="2" charset="-122"/>
              </a:rPr>
              <a:t>按值传递</a:t>
            </a:r>
            <a:r>
              <a:rPr lang="zh-CN" altLang="en-US" b="1" dirty="0">
                <a:solidFill>
                  <a:srgbClr val="CC3300"/>
                </a:solidFill>
                <a:latin typeface="宋体" panose="02010600030101010101" pitchFamily="2" charset="-122"/>
              </a:rPr>
              <a:t>：</a:t>
            </a:r>
            <a:r>
              <a:rPr lang="zh-CN" altLang="en-US" b="1" dirty="0">
                <a:latin typeface="宋体" panose="02010600030101010101" pitchFamily="2" charset="-122"/>
              </a:rPr>
              <a:t>实参的值被复制并置入被调用子程序的形参中。此方式下不管在被调用子程序中怎样操作并改变形参的值，在主调程序中的实参的值都是安全的未发生变化的。</a:t>
            </a:r>
          </a:p>
        </p:txBody>
      </p:sp>
      <p:sp>
        <p:nvSpPr>
          <p:cNvPr id="64516" name="Rectangle 1033"/>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64517" name="Rectangle 1035"/>
          <p:cNvSpPr/>
          <p:nvPr/>
        </p:nvSpPr>
        <p:spPr>
          <a:xfrm>
            <a:off x="0" y="275272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graphicFrame>
        <p:nvGraphicFramePr>
          <p:cNvPr id="64518" name="Object 1034"/>
          <p:cNvGraphicFramePr>
            <a:graphicFrameLocks noChangeAspect="1"/>
          </p:cNvGraphicFramePr>
          <p:nvPr/>
        </p:nvGraphicFramePr>
        <p:xfrm>
          <a:off x="1258888" y="3860800"/>
          <a:ext cx="5905500" cy="2184400"/>
        </p:xfrm>
        <a:graphic>
          <a:graphicData uri="http://schemas.openxmlformats.org/presentationml/2006/ole">
            <mc:AlternateContent xmlns:mc="http://schemas.openxmlformats.org/markup-compatibility/2006">
              <mc:Choice xmlns:v="urn:schemas-microsoft-com:vml" Requires="v">
                <p:oleObj r:id="rId2" imgW="7044055" imgH="2618740" progId="Visio.Drawing.11">
                  <p:embed/>
                </p:oleObj>
              </mc:Choice>
              <mc:Fallback>
                <p:oleObj r:id="rId2" imgW="7044055" imgH="2618740" progId="Visio.Drawing.11">
                  <p:embed/>
                  <p:pic>
                    <p:nvPicPr>
                      <p:cNvPr id="64518" name="Object 1034"/>
                      <p:cNvPicPr/>
                      <p:nvPr/>
                    </p:nvPicPr>
                    <p:blipFill>
                      <a:blip r:embed="rId3"/>
                      <a:stretch>
                        <a:fillRect/>
                      </a:stretch>
                    </p:blipFill>
                    <p:spPr>
                      <a:xfrm>
                        <a:off x="1258888" y="3860800"/>
                        <a:ext cx="5905500" cy="2184400"/>
                      </a:xfrm>
                      <a:prstGeom prst="rect">
                        <a:avLst/>
                      </a:prstGeom>
                      <a:noFill/>
                      <a:ln w="38100">
                        <a:noFill/>
                        <a:miter/>
                      </a:ln>
                    </p:spPr>
                  </p:pic>
                </p:oleObj>
              </mc:Fallback>
            </mc:AlternateContent>
          </a:graphicData>
        </a:graphic>
      </p:graphicFrame>
      <p:sp>
        <p:nvSpPr>
          <p:cNvPr id="64519" name="Text Box 1036"/>
          <p:cNvSpPr txBox="1"/>
          <p:nvPr/>
        </p:nvSpPr>
        <p:spPr>
          <a:xfrm>
            <a:off x="3565525" y="6021388"/>
            <a:ext cx="4175125" cy="39370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a:t>
            </a:r>
          </a:p>
        </p:txBody>
      </p:sp>
      <p:sp>
        <p:nvSpPr>
          <p:cNvPr id="64520" name="Text Box 1037"/>
          <p:cNvSpPr txBox="1"/>
          <p:nvPr/>
        </p:nvSpPr>
        <p:spPr>
          <a:xfrm>
            <a:off x="5795963" y="4508500"/>
            <a:ext cx="2808287" cy="6953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按值传递（将实参的值传递给形参）</a:t>
            </a:r>
          </a:p>
        </p:txBody>
      </p:sp>
      <p:sp>
        <p:nvSpPr>
          <p:cNvPr id="64521" name="Text Box 1038"/>
          <p:cNvSpPr txBox="1"/>
          <p:nvPr/>
        </p:nvSpPr>
        <p:spPr>
          <a:xfrm>
            <a:off x="2843213"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2" name="Text Box 1039"/>
          <p:cNvSpPr txBox="1"/>
          <p:nvPr/>
        </p:nvSpPr>
        <p:spPr>
          <a:xfrm>
            <a:off x="5292725" y="40052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实参</a:t>
            </a:r>
          </a:p>
        </p:txBody>
      </p:sp>
      <p:sp>
        <p:nvSpPr>
          <p:cNvPr id="64523" name="Text Box 1040"/>
          <p:cNvSpPr txBox="1"/>
          <p:nvPr/>
        </p:nvSpPr>
        <p:spPr>
          <a:xfrm>
            <a:off x="2771775" y="5589588"/>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
        <p:nvSpPr>
          <p:cNvPr id="64524" name="Text Box 1041"/>
          <p:cNvSpPr txBox="1"/>
          <p:nvPr/>
        </p:nvSpPr>
        <p:spPr>
          <a:xfrm>
            <a:off x="5219700" y="5516563"/>
            <a:ext cx="936625" cy="393700"/>
          </a:xfrm>
          <a:prstGeom prst="rect">
            <a:avLst/>
          </a:prstGeom>
          <a:solidFill>
            <a:schemeClr val="hlink"/>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形参</a:t>
            </a:r>
          </a:p>
        </p:txBody>
      </p:sp>
    </p:spTree>
    <p:extLst>
      <p:ext uri="{BB962C8B-B14F-4D97-AF65-F5344CB8AC3E}">
        <p14:creationId xmlns:p14="http://schemas.microsoft.com/office/powerpoint/2010/main" val="3162023662"/>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71</a:t>
            </a:fld>
            <a:endParaRPr lang="zh-CN" altLang="en-US" sz="1400" b="1" dirty="0"/>
          </a:p>
        </p:txBody>
      </p:sp>
      <p:sp>
        <p:nvSpPr>
          <p:cNvPr id="65539"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graphicFrame>
        <p:nvGraphicFramePr>
          <p:cNvPr id="65540" name="Object 4"/>
          <p:cNvGraphicFramePr>
            <a:graphicFrameLocks noChangeAspect="1"/>
          </p:cNvGraphicFramePr>
          <p:nvPr/>
        </p:nvGraphicFramePr>
        <p:xfrm>
          <a:off x="2266950" y="3676650"/>
          <a:ext cx="6913563" cy="2560638"/>
        </p:xfrm>
        <a:graphic>
          <a:graphicData uri="http://schemas.openxmlformats.org/presentationml/2006/ole">
            <mc:AlternateContent xmlns:mc="http://schemas.openxmlformats.org/markup-compatibility/2006">
              <mc:Choice xmlns:v="urn:schemas-microsoft-com:vml" Requires="v">
                <p:oleObj r:id="rId2" imgW="7044055" imgH="2618740" progId="Visio.Drawing.11">
                  <p:embed/>
                </p:oleObj>
              </mc:Choice>
              <mc:Fallback>
                <p:oleObj r:id="rId2" imgW="7044055" imgH="2618740" progId="Visio.Drawing.11">
                  <p:embed/>
                  <p:pic>
                    <p:nvPicPr>
                      <p:cNvPr id="65540" name="Object 4"/>
                      <p:cNvPicPr/>
                      <p:nvPr/>
                    </p:nvPicPr>
                    <p:blipFill>
                      <a:blip r:embed="rId3"/>
                      <a:stretch>
                        <a:fillRect/>
                      </a:stretch>
                    </p:blipFill>
                    <p:spPr>
                      <a:xfrm>
                        <a:off x="2266950" y="3676650"/>
                        <a:ext cx="6913563" cy="2560638"/>
                      </a:xfrm>
                      <a:prstGeom prst="rect">
                        <a:avLst/>
                      </a:prstGeom>
                      <a:noFill/>
                      <a:ln w="38100">
                        <a:noFill/>
                        <a:miter/>
                      </a:ln>
                    </p:spPr>
                  </p:pic>
                </p:oleObj>
              </mc:Fallback>
            </mc:AlternateContent>
          </a:graphicData>
        </a:graphic>
      </p:graphicFrame>
      <p:sp>
        <p:nvSpPr>
          <p:cNvPr id="19461" name="Text Box 7"/>
          <p:cNvSpPr txBox="1"/>
          <p:nvPr/>
        </p:nvSpPr>
        <p:spPr>
          <a:xfrm>
            <a:off x="3779838" y="3789363"/>
            <a:ext cx="2232025" cy="2514600"/>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200" b="1" dirty="0"/>
              <a:t>按引用传递（函数调用时实参虽然写的是变量</a:t>
            </a:r>
            <a:r>
              <a:rPr lang="en-US" altLang="zh-CN" sz="2200" b="1" dirty="0"/>
              <a:t>max</a:t>
            </a:r>
            <a:r>
              <a:rPr lang="zh-CN" altLang="en-US" sz="2200" b="1" dirty="0"/>
              <a:t>，但实际传递的不是</a:t>
            </a:r>
            <a:r>
              <a:rPr lang="en-US" altLang="zh-CN" sz="2200" b="1" dirty="0"/>
              <a:t>max</a:t>
            </a:r>
            <a:r>
              <a:rPr lang="zh-CN" altLang="en-US" sz="2200" b="1" dirty="0"/>
              <a:t>的值，而是</a:t>
            </a:r>
            <a:r>
              <a:rPr lang="en-US" altLang="zh-CN" sz="2200" b="1" dirty="0"/>
              <a:t>max</a:t>
            </a:r>
            <a:r>
              <a:rPr lang="zh-CN" altLang="en-US" sz="2200" b="1" dirty="0"/>
              <a:t>的地址）</a:t>
            </a:r>
          </a:p>
        </p:txBody>
      </p:sp>
      <p:sp>
        <p:nvSpPr>
          <p:cNvPr id="65542" name="Text Box 8"/>
          <p:cNvSpPr txBox="1"/>
          <p:nvPr/>
        </p:nvSpPr>
        <p:spPr>
          <a:xfrm>
            <a:off x="2268538" y="4221163"/>
            <a:ext cx="1366837" cy="7937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主调程序</a:t>
            </a:r>
          </a:p>
          <a:p>
            <a:pPr marL="342900" lvl="0" indent="-342900" eaLnBrk="1" hangingPunct="1">
              <a:lnSpc>
                <a:spcPct val="90000"/>
              </a:lnSpc>
              <a:spcBef>
                <a:spcPct val="50000"/>
              </a:spcBef>
              <a:buNone/>
            </a:pPr>
            <a:r>
              <a:rPr lang="zh-CN" altLang="en-US" sz="2000" b="1" dirty="0"/>
              <a:t>（实参）</a:t>
            </a:r>
          </a:p>
        </p:txBody>
      </p:sp>
      <p:sp>
        <p:nvSpPr>
          <p:cNvPr id="65543" name="Text Box 9"/>
          <p:cNvSpPr txBox="1"/>
          <p:nvPr/>
        </p:nvSpPr>
        <p:spPr>
          <a:xfrm>
            <a:off x="2268538" y="5300663"/>
            <a:ext cx="1366837" cy="79375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子程序</a:t>
            </a:r>
          </a:p>
          <a:p>
            <a:pPr marL="342900" lvl="0" indent="-342900" eaLnBrk="1" hangingPunct="1">
              <a:lnSpc>
                <a:spcPct val="90000"/>
              </a:lnSpc>
              <a:spcBef>
                <a:spcPct val="50000"/>
              </a:spcBef>
              <a:buNone/>
            </a:pPr>
            <a:r>
              <a:rPr lang="en-US" altLang="zh-CN" sz="2000" b="1" dirty="0"/>
              <a:t> (</a:t>
            </a:r>
            <a:r>
              <a:rPr lang="zh-CN" altLang="en-US" sz="2000" b="1" dirty="0"/>
              <a:t>形参</a:t>
            </a:r>
            <a:r>
              <a:rPr lang="en-US" altLang="zh-CN" sz="2000" b="1" dirty="0"/>
              <a:t>)</a:t>
            </a:r>
          </a:p>
        </p:txBody>
      </p:sp>
      <p:sp>
        <p:nvSpPr>
          <p:cNvPr id="65544" name="Text Box 10"/>
          <p:cNvSpPr txBox="1"/>
          <p:nvPr/>
        </p:nvSpPr>
        <p:spPr>
          <a:xfrm>
            <a:off x="2339975" y="3789363"/>
            <a:ext cx="1008063" cy="3937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endParaRPr lang="zh-CN" altLang="en-US" sz="2200" b="1" dirty="0"/>
          </a:p>
        </p:txBody>
      </p:sp>
      <p:sp>
        <p:nvSpPr>
          <p:cNvPr id="65545" name="Rectangle 12"/>
          <p:cNvSpPr>
            <a:spLocks noGrp="1"/>
          </p:cNvSpPr>
          <p:nvPr>
            <p:ph idx="1"/>
          </p:nvPr>
        </p:nvSpPr>
        <p:spPr>
          <a:xfrm>
            <a:off x="323850" y="1196975"/>
            <a:ext cx="7772400" cy="4611688"/>
          </a:xfrm>
        </p:spPr>
        <p:txBody>
          <a:bodyPr vert="horz" wrap="square" lIns="91440" tIns="45720" rIns="91440" bIns="45720" anchor="t"/>
          <a:lstStyle/>
          <a:p>
            <a:pPr eaLnBrk="1" hangingPunct="1"/>
            <a:r>
              <a:rPr lang="zh-CN" altLang="en-US" b="1" i="1" dirty="0">
                <a:solidFill>
                  <a:srgbClr val="FF3300"/>
                </a:solidFill>
              </a:rPr>
              <a:t>如何解决函数的多返回值问题？</a:t>
            </a:r>
          </a:p>
          <a:p>
            <a:pPr eaLnBrk="1" hangingPunct="1"/>
            <a:r>
              <a:rPr lang="zh-CN" altLang="en-US" b="1" i="1" dirty="0"/>
              <a:t>按引用传递</a:t>
            </a:r>
            <a:r>
              <a:rPr lang="zh-CN" altLang="en-US" b="1" dirty="0"/>
              <a:t>：此时实参必须是变量，子程序调用时将</a:t>
            </a:r>
            <a:r>
              <a:rPr lang="zh-CN" altLang="en-US" b="1" dirty="0">
                <a:solidFill>
                  <a:srgbClr val="FF3300"/>
                </a:solidFill>
              </a:rPr>
              <a:t>实参的</a:t>
            </a:r>
            <a:r>
              <a:rPr lang="zh-CN" altLang="en-US" b="1" i="1" dirty="0">
                <a:solidFill>
                  <a:srgbClr val="FF3300"/>
                </a:solidFill>
              </a:rPr>
              <a:t>地址</a:t>
            </a:r>
            <a:r>
              <a:rPr lang="zh-CN" altLang="en-US" b="1" dirty="0"/>
              <a:t>而不是实参的值置入被调子程序的形参中。被调子程序对形参的操作实际上是对主调程序中实参的操作，从而向主调程序传回函数处理结果。</a:t>
            </a:r>
          </a:p>
        </p:txBody>
      </p:sp>
    </p:spTree>
    <p:extLst>
      <p:ext uri="{BB962C8B-B14F-4D97-AF65-F5344CB8AC3E}">
        <p14:creationId xmlns:p14="http://schemas.microsoft.com/office/powerpoint/2010/main" val="13927777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fade">
                                      <p:cBhvr>
                                        <p:cTn id="7"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72</a:t>
            </a:fld>
            <a:endParaRPr lang="zh-CN" altLang="en-US" sz="1400" b="1" dirty="0"/>
          </a:p>
        </p:txBody>
      </p:sp>
      <p:sp>
        <p:nvSpPr>
          <p:cNvPr id="66563"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66564" name="AutoShape 5"/>
          <p:cNvSpPr/>
          <p:nvPr/>
        </p:nvSpPr>
        <p:spPr>
          <a:xfrm>
            <a:off x="684213" y="1557338"/>
            <a:ext cx="7775575" cy="3599854"/>
          </a:xfrm>
          <a:prstGeom prst="roundRect">
            <a:avLst>
              <a:gd name="adj" fmla="val 12963"/>
            </a:avLst>
          </a:prstGeom>
          <a:gradFill rotWithShape="0">
            <a:gsLst>
              <a:gs pos="0">
                <a:srgbClr val="ECFFEC"/>
              </a:gs>
              <a:gs pos="50000">
                <a:srgbClr val="D5FFD5"/>
              </a:gs>
              <a:gs pos="100000">
                <a:srgbClr val="ECFFEC"/>
              </a:gs>
            </a:gsLst>
            <a:lin ang="18900000" scaled="1"/>
            <a:tileRect/>
          </a:gradFill>
          <a:ln w="9525" cap="flat" cmpd="sng">
            <a:solidFill>
              <a:srgbClr val="990000"/>
            </a:solidFill>
            <a:prstDash val="solid"/>
            <a:headEnd type="none" w="med" len="med"/>
            <a:tailEnd type="none" w="med" len="med"/>
          </a:ln>
          <a:effectLst>
            <a:outerShdw dist="107763" dir="2699999" algn="ctr" rotWithShape="0">
              <a:schemeClr val="bg2"/>
            </a:outerShdw>
          </a:effectLst>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66565" name="Text Box 6"/>
          <p:cNvSpPr txBox="1"/>
          <p:nvPr/>
        </p:nvSpPr>
        <p:spPr>
          <a:xfrm>
            <a:off x="1082675" y="1760538"/>
            <a:ext cx="7131050" cy="3022366"/>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algn="just">
              <a:lnSpc>
                <a:spcPct val="90000"/>
              </a:lnSpc>
              <a:spcBef>
                <a:spcPct val="50000"/>
              </a:spcBef>
              <a:buNone/>
            </a:pPr>
            <a:r>
              <a:rPr lang="zh-CN" altLang="en-US" b="1" dirty="0">
                <a:latin typeface="宋体" panose="02010600030101010101" pitchFamily="2" charset="-122"/>
              </a:rPr>
              <a:t>注意：</a:t>
            </a:r>
            <a:r>
              <a:rPr lang="en-US" altLang="zh-CN" b="1" dirty="0">
                <a:latin typeface="宋体" panose="02010600030101010101" pitchFamily="2" charset="-122"/>
              </a:rPr>
              <a:t>C</a:t>
            </a:r>
            <a:r>
              <a:rPr lang="zh-CN" altLang="en-US" b="1" dirty="0">
                <a:latin typeface="宋体" panose="02010600030101010101" pitchFamily="2" charset="-122"/>
              </a:rPr>
              <a:t>语言中所有的调用都是</a:t>
            </a:r>
            <a:r>
              <a:rPr lang="zh-CN" altLang="en-US" b="1" dirty="0">
                <a:solidFill>
                  <a:schemeClr val="accent2"/>
                </a:solidFill>
                <a:latin typeface="宋体" panose="02010600030101010101" pitchFamily="2" charset="-122"/>
              </a:rPr>
              <a:t>传值调用</a:t>
            </a:r>
            <a:r>
              <a:rPr lang="zh-CN" altLang="en-US" dirty="0">
                <a:latin typeface="宋体" panose="02010600030101010101" pitchFamily="2" charset="-122"/>
              </a:rPr>
              <a:t>，</a:t>
            </a:r>
            <a:r>
              <a:rPr lang="zh-CN" altLang="en-US" b="1" dirty="0">
                <a:latin typeface="宋体" panose="02010600030101010101" pitchFamily="2" charset="-122"/>
              </a:rPr>
              <a:t>但是可以通过其他方式来实现函数的多返回值</a:t>
            </a:r>
            <a:r>
              <a:rPr lang="en-US" altLang="zh-CN" b="1" dirty="0">
                <a:latin typeface="宋体" panose="02010600030101010101" pitchFamily="2" charset="-122"/>
              </a:rPr>
              <a:t>(</a:t>
            </a:r>
            <a:r>
              <a:rPr lang="zh-CN" altLang="en-US" b="1" dirty="0">
                <a:latin typeface="宋体" panose="02010600030101010101" pitchFamily="2" charset="-122"/>
              </a:rPr>
              <a:t>即实参本身存放的就是某个变量的内存地址，将该地址传递给被调用函数后，被调用函数通过该地址来访问变量，将函数处理结果写入变量</a:t>
            </a:r>
            <a:r>
              <a:rPr lang="en-US" altLang="zh-CN" b="1" dirty="0">
                <a:latin typeface="宋体" panose="02010600030101010101" pitchFamily="2" charset="-122"/>
              </a:rPr>
              <a:t>)</a:t>
            </a:r>
            <a:r>
              <a:rPr lang="zh-CN" altLang="en-US" dirty="0">
                <a:latin typeface="宋体" panose="02010600030101010101" pitchFamily="2" charset="-122"/>
              </a:rPr>
              <a:t>。</a:t>
            </a:r>
            <a:r>
              <a:rPr lang="zh-CN" altLang="en-US" b="1" dirty="0">
                <a:latin typeface="宋体" panose="02010600030101010101" pitchFamily="2" charset="-122"/>
              </a:rPr>
              <a:t>留待学习指针时讲解。</a:t>
            </a:r>
            <a:endParaRPr lang="en-US" altLang="zh-CN" b="1" dirty="0">
              <a:latin typeface="宋体" panose="02010600030101010101" pitchFamily="2" charset="-122"/>
            </a:endParaRPr>
          </a:p>
          <a:p>
            <a:pPr marL="0" lvl="0" indent="0" algn="just">
              <a:lnSpc>
                <a:spcPct val="90000"/>
              </a:lnSpc>
              <a:spcBef>
                <a:spcPct val="50000"/>
              </a:spcBef>
              <a:buNone/>
            </a:pPr>
            <a:r>
              <a:rPr lang="zh-CN" altLang="en-US" b="1" dirty="0"/>
              <a:t>例：</a:t>
            </a:r>
            <a:r>
              <a:rPr lang="en-US" altLang="zh-CN" b="1" dirty="0" err="1"/>
              <a:t>scanf</a:t>
            </a:r>
            <a:r>
              <a:rPr lang="en-US" altLang="zh-CN" b="1" dirty="0"/>
              <a:t>("%</a:t>
            </a:r>
            <a:r>
              <a:rPr lang="en-US" altLang="zh-CN" b="1" dirty="0" err="1"/>
              <a:t>d%f</a:t>
            </a:r>
            <a:r>
              <a:rPr lang="en-US" altLang="zh-CN" b="1" dirty="0"/>
              <a:t>",&amp;</a:t>
            </a:r>
            <a:r>
              <a:rPr lang="en-US" altLang="zh-CN" b="1" dirty="0" err="1"/>
              <a:t>no,&amp;height</a:t>
            </a:r>
            <a:r>
              <a:rPr lang="en-US" altLang="zh-CN" b="1" dirty="0"/>
              <a:t>);</a:t>
            </a:r>
            <a:endParaRPr lang="zh-CN" altLang="en-US" b="1" dirty="0"/>
          </a:p>
        </p:txBody>
      </p:sp>
    </p:spTree>
    <p:extLst>
      <p:ext uri="{BB962C8B-B14F-4D97-AF65-F5344CB8AC3E}">
        <p14:creationId xmlns:p14="http://schemas.microsoft.com/office/powerpoint/2010/main" val="429560922"/>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73</a:t>
            </a:fld>
            <a:endParaRPr lang="zh-CN" altLang="en-US" sz="1400" b="1" dirty="0"/>
          </a:p>
        </p:txBody>
      </p:sp>
      <p:sp>
        <p:nvSpPr>
          <p:cNvPr id="38915"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38916" name="Text Box 4"/>
          <p:cNvSpPr txBox="1"/>
          <p:nvPr/>
        </p:nvSpPr>
        <p:spPr>
          <a:xfrm>
            <a:off x="180975" y="1268413"/>
            <a:ext cx="6264275" cy="4899803"/>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square(int); /*</a:t>
            </a:r>
            <a:r>
              <a:rPr lang="zh-CN" altLang="en-US" sz="2000" dirty="0">
                <a:latin typeface="Consolas" panose="020B0609020204030204" pitchFamily="49" charset="0"/>
              </a:rPr>
              <a:t>函数原型*</a:t>
            </a: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int x;</a:t>
            </a:r>
          </a:p>
          <a:p>
            <a:pPr marL="0" lvl="0" indent="0" eaLnBrk="1" hangingPunct="1">
              <a:buClr>
                <a:schemeClr val="accent2"/>
              </a:buClr>
              <a:buSzPct val="75000"/>
              <a:buFont typeface="Monotype Sorts" charset="2"/>
              <a:buNone/>
            </a:pPr>
            <a:endParaRPr lang="en-US" altLang="zh-CN" sz="2000" dirty="0">
              <a:latin typeface="Consolas" panose="020B0609020204030204" pitchFamily="49" charset="0"/>
            </a:endParaRP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for (x = 1; x &lt;= 10; x++)</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    </a:t>
            </a:r>
            <a:r>
              <a:rPr lang="en-US" altLang="zh-CN" sz="2000" dirty="0" err="1">
                <a:latin typeface="Consolas" panose="020B0609020204030204" pitchFamily="49" charset="0"/>
              </a:rPr>
              <a:t>printf</a:t>
            </a:r>
            <a:r>
              <a:rPr lang="en-US" altLang="zh-CN" sz="2000" dirty="0">
                <a:latin typeface="Consolas" panose="020B0609020204030204" pitchFamily="49" charset="0"/>
              </a:rPr>
              <a:t>("%4d",</a:t>
            </a:r>
            <a:r>
              <a:rPr lang="en-US" altLang="zh-CN" sz="2000" dirty="0">
                <a:solidFill>
                  <a:srgbClr val="003399"/>
                </a:solidFill>
                <a:latin typeface="Consolas" panose="020B0609020204030204" pitchFamily="49" charset="0"/>
              </a:rPr>
              <a:t>square(2*x));</a:t>
            </a:r>
            <a:r>
              <a:rPr lang="en-US" altLang="zh-CN" sz="20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000" dirty="0">
                <a:latin typeface="Consolas" panose="020B0609020204030204" pitchFamily="49" charset="0"/>
              </a:rPr>
              <a:t>}</a:t>
            </a:r>
          </a:p>
          <a:p>
            <a:pPr marL="0" lvl="0" indent="0" eaLnBrk="1" hangingPunct="1">
              <a:spcBef>
                <a:spcPct val="0"/>
              </a:spcBef>
              <a:buNone/>
            </a:pPr>
            <a:endParaRPr lang="zh-CN" altLang="en-US"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int square(int y) /*</a:t>
            </a:r>
            <a:r>
              <a:rPr lang="zh-CN" altLang="en-US" sz="2000" dirty="0">
                <a:latin typeface="Consolas" panose="020B0609020204030204" pitchFamily="49" charset="0"/>
              </a:rPr>
              <a:t>函数定义*/ </a:t>
            </a:r>
            <a:endParaRPr lang="en-US" altLang="zh-CN" sz="2000" dirty="0">
              <a:latin typeface="Consolas" panose="020B0609020204030204" pitchFamily="49" charset="0"/>
            </a:endParaRP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spcBef>
                <a:spcPct val="0"/>
              </a:spcBef>
              <a:buNone/>
            </a:pPr>
            <a:r>
              <a:rPr lang="en-US" altLang="zh-CN" sz="2000" dirty="0">
                <a:latin typeface="Consolas" panose="020B0609020204030204" pitchFamily="49" charset="0"/>
              </a:rPr>
              <a:t>      return (y * y);</a:t>
            </a:r>
          </a:p>
          <a:p>
            <a:pPr marL="0" lvl="0" indent="0" eaLnBrk="1" hangingPunct="1">
              <a:spcBef>
                <a:spcPct val="0"/>
              </a:spcBef>
              <a:buNone/>
            </a:pPr>
            <a:r>
              <a:rPr lang="en-US" altLang="zh-CN" sz="2000" dirty="0">
                <a:latin typeface="Consolas" panose="020B0609020204030204" pitchFamily="49" charset="0"/>
              </a:rPr>
              <a:t>}</a:t>
            </a:r>
          </a:p>
          <a:p>
            <a:pPr marL="0" lvl="0" indent="0" eaLnBrk="1" hangingPunct="1">
              <a:buClr>
                <a:schemeClr val="accent2"/>
              </a:buClr>
              <a:buSzPct val="75000"/>
              <a:buFont typeface="Monotype Sorts" charset="2"/>
              <a:buNone/>
            </a:pPr>
            <a:endParaRPr lang="en-US" altLang="zh-CN" sz="2200" b="1" dirty="0"/>
          </a:p>
        </p:txBody>
      </p:sp>
      <p:sp>
        <p:nvSpPr>
          <p:cNvPr id="38917" name="Rectangle 10"/>
          <p:cNvSpPr/>
          <p:nvPr/>
        </p:nvSpPr>
        <p:spPr>
          <a:xfrm>
            <a:off x="179388" y="4365625"/>
            <a:ext cx="4319017" cy="1368425"/>
          </a:xfrm>
          <a:prstGeom prst="rect">
            <a:avLst/>
          </a:prstGeom>
          <a:no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18" name="Rectangle 11"/>
          <p:cNvSpPr/>
          <p:nvPr/>
        </p:nvSpPr>
        <p:spPr>
          <a:xfrm>
            <a:off x="180975" y="1700213"/>
            <a:ext cx="4319017" cy="2592387"/>
          </a:xfrm>
          <a:prstGeom prst="rect">
            <a:avLst/>
          </a:prstGeom>
          <a:noFill/>
          <a:ln w="12700" cap="flat" cmpd="sng">
            <a:solidFill>
              <a:schemeClr val="accent2"/>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19" name="Rectangle 12"/>
          <p:cNvSpPr/>
          <p:nvPr/>
        </p:nvSpPr>
        <p:spPr>
          <a:xfrm>
            <a:off x="180975" y="1266047"/>
            <a:ext cx="4391025" cy="364317"/>
          </a:xfrm>
          <a:prstGeom prst="rect">
            <a:avLst/>
          </a:prstGeom>
          <a:noFill/>
          <a:ln w="12700" cap="flat" cmpd="sng">
            <a:solidFill>
              <a:srgbClr val="990099"/>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ctr" eaLnBrk="1" hangingPunct="1">
              <a:lnSpc>
                <a:spcPct val="90000"/>
              </a:lnSpc>
              <a:buNone/>
            </a:pPr>
            <a:endParaRPr lang="zh-CN" altLang="en-US" sz="2200" b="1" dirty="0"/>
          </a:p>
        </p:txBody>
      </p:sp>
      <p:sp>
        <p:nvSpPr>
          <p:cNvPr id="38920" name="Text Box 13"/>
          <p:cNvSpPr txBox="1"/>
          <p:nvPr/>
        </p:nvSpPr>
        <p:spPr>
          <a:xfrm>
            <a:off x="4716463" y="1196975"/>
            <a:ext cx="3384550" cy="388937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spcBef>
                <a:spcPct val="50000"/>
              </a:spcBef>
              <a:buNone/>
            </a:pPr>
            <a:r>
              <a:rPr lang="zh-CN" altLang="en-US" sz="2400" b="1" dirty="0"/>
              <a:t>函数原型的作用：是对被调用函数的</a:t>
            </a:r>
            <a:r>
              <a:rPr lang="zh-CN" altLang="en-US" sz="2400" b="1" dirty="0">
                <a:solidFill>
                  <a:srgbClr val="FF3300"/>
                </a:solidFill>
              </a:rPr>
              <a:t>接口声明，</a:t>
            </a:r>
            <a:r>
              <a:rPr lang="zh-CN" altLang="en-US" sz="2400" b="1" dirty="0"/>
              <a:t>它告诉编译器函数返回的数据类型、函数所要接收的参数个数、参数类型和参数顺序，编译器用函数原型校验函数调用是否正确。</a:t>
            </a:r>
          </a:p>
          <a:p>
            <a:pPr marL="342900" lvl="0" indent="-342900" eaLnBrk="1" hangingPunct="1">
              <a:lnSpc>
                <a:spcPct val="90000"/>
              </a:lnSpc>
              <a:spcBef>
                <a:spcPct val="50000"/>
              </a:spcBef>
              <a:buNone/>
            </a:pPr>
            <a:endParaRPr lang="zh-CN" altLang="en-US" sz="2400" b="1" dirty="0"/>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74</a:t>
            </a:fld>
            <a:endParaRPr lang="zh-CN" altLang="en-US" sz="1400" b="1" dirty="0"/>
          </a:p>
        </p:txBody>
      </p:sp>
      <p:sp>
        <p:nvSpPr>
          <p:cNvPr id="68611" name="Text Box 5"/>
          <p:cNvSpPr txBox="1"/>
          <p:nvPr/>
        </p:nvSpPr>
        <p:spPr>
          <a:xfrm>
            <a:off x="395288" y="1341438"/>
            <a:ext cx="8077200" cy="4792662"/>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spcBef>
                <a:spcPct val="50000"/>
              </a:spcBef>
              <a:buNone/>
            </a:pPr>
            <a:r>
              <a:rPr lang="zh-CN" altLang="en-US" b="1" dirty="0"/>
              <a:t>（1） </a:t>
            </a:r>
            <a:r>
              <a:rPr lang="en-US" altLang="zh-CN" b="1" dirty="0"/>
              <a:t>C</a:t>
            </a:r>
            <a:r>
              <a:rPr lang="zh-CN" altLang="en-US" b="1" dirty="0"/>
              <a:t>语言的原则（先声明、后使用）；</a:t>
            </a:r>
          </a:p>
          <a:p>
            <a:pPr marL="0" lvl="0" indent="0" eaLnBrk="1" hangingPunct="1">
              <a:spcBef>
                <a:spcPct val="50000"/>
              </a:spcBef>
              <a:buNone/>
            </a:pPr>
            <a:r>
              <a:rPr lang="zh-CN" altLang="en-US" b="1" dirty="0"/>
              <a:t>（</a:t>
            </a:r>
            <a:r>
              <a:rPr lang="en-US" altLang="zh-CN" b="1" dirty="0"/>
              <a:t>2</a:t>
            </a:r>
            <a:r>
              <a:rPr lang="zh-CN" altLang="en-US" b="1" dirty="0"/>
              <a:t>）函数原型的作用：函数原型是对被调用函数的</a:t>
            </a:r>
            <a:r>
              <a:rPr lang="zh-CN" altLang="en-US" b="1" dirty="0">
                <a:solidFill>
                  <a:srgbClr val="FF3300"/>
                </a:solidFill>
              </a:rPr>
              <a:t>接口声明，</a:t>
            </a:r>
            <a:r>
              <a:rPr lang="zh-CN" altLang="en-US" b="1" dirty="0"/>
              <a:t>它告诉编译器函数返回的数据类型、函数所要接收的参数个数、参数类型和参数顺序，编译器用函数原型校验函数调用是否正确。</a:t>
            </a:r>
          </a:p>
          <a:p>
            <a:pPr marL="0" lvl="0" indent="0" eaLnBrk="1" hangingPunct="1">
              <a:spcBef>
                <a:spcPct val="50000"/>
              </a:spcBef>
              <a:buNone/>
            </a:pPr>
            <a:r>
              <a:rPr lang="zh-CN" altLang="en-US" b="1" dirty="0"/>
              <a:t>（</a:t>
            </a:r>
            <a:r>
              <a:rPr lang="en-US" altLang="zh-CN" b="1" dirty="0"/>
              <a:t>3</a:t>
            </a:r>
            <a:r>
              <a:rPr lang="zh-CN" altLang="en-US" b="1" dirty="0"/>
              <a:t>）函数原型一般格式：</a:t>
            </a:r>
          </a:p>
          <a:p>
            <a:pPr marL="0" lvl="0" indent="0" algn="ctr" eaLnBrk="1" hangingPunct="1">
              <a:lnSpc>
                <a:spcPct val="120000"/>
              </a:lnSpc>
              <a:buClr>
                <a:schemeClr val="accent2"/>
              </a:buClr>
              <a:buSzPct val="75000"/>
              <a:buFont typeface="Monotype Sorts" charset="2"/>
              <a:buNone/>
            </a:pPr>
            <a:r>
              <a:rPr lang="zh-CN" altLang="en-US" b="1" dirty="0"/>
              <a:t>     </a:t>
            </a:r>
            <a:r>
              <a:rPr lang="zh-CN" altLang="en-US" b="1" dirty="0">
                <a:solidFill>
                  <a:srgbClr val="003399"/>
                </a:solidFill>
              </a:rPr>
              <a:t>返回值类型  函数名(数据类型[  参数名</a:t>
            </a:r>
            <a:r>
              <a:rPr lang="en-US" altLang="zh-CN" b="1" dirty="0">
                <a:solidFill>
                  <a:srgbClr val="003399"/>
                </a:solidFill>
              </a:rPr>
              <a:t>1][, </a:t>
            </a:r>
            <a:r>
              <a:rPr lang="zh-CN" altLang="en-US" b="1" dirty="0">
                <a:solidFill>
                  <a:srgbClr val="003399"/>
                </a:solidFill>
              </a:rPr>
              <a:t>数据类型[  参数名2]…])；</a:t>
            </a:r>
            <a:r>
              <a:rPr lang="zh-CN" altLang="en-US" b="1" i="1" dirty="0"/>
              <a:t>注意</a:t>
            </a:r>
            <a:r>
              <a:rPr lang="zh-CN" altLang="en-US" b="1" dirty="0"/>
              <a:t>：参数名可写可不写。</a:t>
            </a:r>
          </a:p>
          <a:p>
            <a:pPr marL="0" lvl="0" indent="0" eaLnBrk="1" hangingPunct="1">
              <a:lnSpc>
                <a:spcPct val="120000"/>
              </a:lnSpc>
              <a:buClr>
                <a:schemeClr val="accent2"/>
              </a:buClr>
              <a:buSzPct val="75000"/>
              <a:buFont typeface="Monotype Sorts" charset="2"/>
              <a:buNone/>
            </a:pPr>
            <a:r>
              <a:rPr lang="zh-CN" altLang="en-US" b="1" dirty="0"/>
              <a:t>           </a:t>
            </a:r>
          </a:p>
        </p:txBody>
      </p:sp>
      <p:sp>
        <p:nvSpPr>
          <p:cNvPr id="68612" name="Rectangle 1029"/>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68613" name="Text Box 1030"/>
          <p:cNvSpPr txBox="1"/>
          <p:nvPr/>
        </p:nvSpPr>
        <p:spPr>
          <a:xfrm>
            <a:off x="250825" y="303213"/>
            <a:ext cx="5545138" cy="614362"/>
          </a:xfrm>
          <a:prstGeom prst="rect">
            <a:avLst/>
          </a:prstGeom>
          <a:solidFill>
            <a:srgbClr val="CCFFFF"/>
          </a:solidFill>
          <a:ln w="9525" cap="flat" cmpd="sng">
            <a:solidFill>
              <a:srgbClr val="008000"/>
            </a:solidFill>
            <a:prstDash val="solid"/>
            <a:miter/>
            <a:headEnd type="none" w="med" len="med"/>
            <a:tailEnd type="none" w="med" len="med"/>
          </a:ln>
          <a:effectLst>
            <a:prstShdw prst="shdw17" dist="17961" dir="13499999">
              <a:srgbClr val="004D00"/>
            </a:prstShdw>
          </a:effectLst>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120000"/>
              </a:lnSpc>
              <a:buClr>
                <a:schemeClr val="accent2"/>
              </a:buClr>
              <a:buSzPct val="75000"/>
              <a:buFont typeface="Monotype Sorts" charset="2"/>
              <a:buNone/>
            </a:pPr>
            <a:r>
              <a:rPr lang="en-US" altLang="zh-CN" b="1" dirty="0"/>
              <a:t>float  square(float ); /*</a:t>
            </a:r>
            <a:r>
              <a:rPr lang="zh-CN" altLang="en-US" b="1" dirty="0"/>
              <a:t>函数原型*</a:t>
            </a:r>
            <a:r>
              <a:rPr lang="en-US" altLang="zh-CN" b="1" dirty="0"/>
              <a:t>/</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75</a:t>
            </a:fld>
            <a:endParaRPr lang="zh-CN" altLang="en-US" sz="1400" b="1" dirty="0"/>
          </a:p>
        </p:txBody>
      </p:sp>
      <p:sp>
        <p:nvSpPr>
          <p:cNvPr id="69635" name="Rectangle 4"/>
          <p:cNvSpPr>
            <a:spLocks noGrp="1"/>
          </p:cNvSpPr>
          <p:nvPr>
            <p:ph idx="1"/>
          </p:nvPr>
        </p:nvSpPr>
        <p:spPr>
          <a:xfrm>
            <a:off x="250825" y="1319213"/>
            <a:ext cx="8207375" cy="4611687"/>
          </a:xfrm>
        </p:spPr>
        <p:txBody>
          <a:bodyPr vert="horz" wrap="square" lIns="91440" tIns="45720" rIns="91440" bIns="45720" anchor="t"/>
          <a:lstStyle/>
          <a:p>
            <a:pPr eaLnBrk="1" hangingPunct="1">
              <a:buNone/>
            </a:pPr>
            <a:r>
              <a:rPr lang="en-US" altLang="zh-CN" b="1" dirty="0"/>
              <a:t>（4）</a:t>
            </a:r>
            <a:r>
              <a:rPr lang="zh-CN" altLang="en-US" b="1" dirty="0"/>
              <a:t>函数原型的</a:t>
            </a:r>
            <a:r>
              <a:rPr lang="zh-CN" altLang="en-US" b="1" dirty="0">
                <a:solidFill>
                  <a:srgbClr val="FF0000"/>
                </a:solidFill>
              </a:rPr>
              <a:t>位置</a:t>
            </a:r>
            <a:r>
              <a:rPr lang="zh-CN" altLang="en-US" b="1" dirty="0"/>
              <a:t>：</a:t>
            </a:r>
            <a:endParaRPr lang="en-US" altLang="zh-CN" b="1" dirty="0"/>
          </a:p>
          <a:p>
            <a:pPr eaLnBrk="1" hangingPunct="1">
              <a:buNone/>
            </a:pPr>
            <a:r>
              <a:rPr lang="en-US" altLang="zh-CN" b="1" dirty="0"/>
              <a:t>	1</a:t>
            </a:r>
            <a:r>
              <a:rPr lang="zh-CN" altLang="en-US" b="1" dirty="0"/>
              <a:t>、可以放置在任何函数之外，出现在该函数原型之后的所有函数都可以调用对应的函数；</a:t>
            </a:r>
            <a:endParaRPr lang="en-US" altLang="zh-CN" b="1" dirty="0"/>
          </a:p>
          <a:p>
            <a:pPr eaLnBrk="1" hangingPunct="1">
              <a:buNone/>
            </a:pPr>
            <a:r>
              <a:rPr lang="en-US" altLang="zh-CN" b="1" dirty="0"/>
              <a:t>	2</a:t>
            </a:r>
            <a:r>
              <a:rPr lang="zh-CN" altLang="en-US" b="1" dirty="0"/>
              <a:t>、也可以放在某个函数中，此时只有该函数能够调用它；</a:t>
            </a:r>
            <a:endParaRPr lang="en-US" altLang="zh-CN" b="1" dirty="0"/>
          </a:p>
          <a:p>
            <a:pPr eaLnBrk="1" hangingPunct="1">
              <a:buNone/>
            </a:pPr>
            <a:r>
              <a:rPr lang="en-US" altLang="zh-CN" b="1" dirty="0"/>
              <a:t>	3</a:t>
            </a:r>
            <a:r>
              <a:rPr lang="zh-CN" altLang="en-US" b="1" dirty="0"/>
              <a:t>、从程序设计风格考虑，最好是将函数原型集中在一起，放在主函数之前。</a:t>
            </a:r>
          </a:p>
        </p:txBody>
      </p:sp>
      <p:sp>
        <p:nvSpPr>
          <p:cNvPr id="69636" name="Rectangle 5"/>
          <p:cNvSpPr>
            <a:spLocks noGrp="1"/>
          </p:cNvSpPr>
          <p:nvPr>
            <p:ph type="title"/>
          </p:nvPr>
        </p:nvSpPr>
        <p:spPr>
          <a:xfrm>
            <a:off x="1371600" y="404813"/>
            <a:ext cx="74676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76</a:t>
            </a:fld>
            <a:endParaRPr lang="zh-CN" altLang="en-US" sz="1400" b="1" dirty="0"/>
          </a:p>
        </p:txBody>
      </p:sp>
      <p:sp>
        <p:nvSpPr>
          <p:cNvPr id="70659" name="Text Box 4"/>
          <p:cNvSpPr txBox="1"/>
          <p:nvPr/>
        </p:nvSpPr>
        <p:spPr>
          <a:xfrm>
            <a:off x="304800" y="1222095"/>
            <a:ext cx="4411464" cy="5591175"/>
          </a:xfrm>
          <a:prstGeom prst="rect">
            <a:avLst/>
          </a:prstGeom>
          <a:no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/*square</a:t>
            </a:r>
            <a:r>
              <a:rPr lang="zh-CN" altLang="en-US" sz="2400" dirty="0">
                <a:solidFill>
                  <a:srgbClr val="003399"/>
                </a:solidFill>
                <a:latin typeface="Consolas" panose="020B0609020204030204" pitchFamily="49" charset="0"/>
              </a:rPr>
              <a:t>函数在</a:t>
            </a:r>
            <a:r>
              <a:rPr lang="en-US" altLang="zh-CN" sz="2400" dirty="0">
                <a:solidFill>
                  <a:srgbClr val="003399"/>
                </a:solidFill>
                <a:latin typeface="Consolas" panose="020B0609020204030204" pitchFamily="49" charset="0"/>
              </a:rPr>
              <a:t>main</a:t>
            </a:r>
            <a:r>
              <a:rPr lang="zh-CN" altLang="en-US" sz="2400" dirty="0">
                <a:solidFill>
                  <a:srgbClr val="003399"/>
                </a:solidFill>
                <a:latin typeface="Consolas" panose="020B0609020204030204" pitchFamily="49" charset="0"/>
              </a:rPr>
              <a:t>和</a:t>
            </a:r>
            <a:r>
              <a:rPr lang="en-US" altLang="zh-CN" sz="2400" dirty="0">
                <a:solidFill>
                  <a:srgbClr val="003399"/>
                </a:solidFill>
                <a:latin typeface="Consolas" panose="020B0609020204030204" pitchFamily="49" charset="0"/>
              </a:rPr>
              <a:t>fun</a:t>
            </a:r>
            <a:r>
              <a:rPr lang="zh-CN" altLang="en-US" sz="2400" dirty="0">
                <a:solidFill>
                  <a:srgbClr val="003399"/>
                </a:solidFill>
                <a:latin typeface="Consolas" panose="020B0609020204030204" pitchFamily="49" charset="0"/>
              </a:rPr>
              <a:t>中均可被调用*</a:t>
            </a:r>
            <a:r>
              <a:rPr lang="en-US" altLang="zh-CN" sz="2400" dirty="0">
                <a:solidFill>
                  <a:srgbClr val="003399"/>
                </a:solidFill>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float  square(</a:t>
            </a:r>
            <a:r>
              <a:rPr lang="en-US" altLang="zh-CN" sz="2200" dirty="0">
                <a:solidFill>
                  <a:srgbClr val="003399"/>
                </a:solidFill>
                <a:latin typeface="Consolas" panose="020B0609020204030204" pitchFamily="49" charset="0"/>
              </a:rPr>
              <a:t>float</a:t>
            </a:r>
            <a:r>
              <a:rPr lang="en-US" altLang="zh-CN" sz="2400" dirty="0">
                <a:solidFill>
                  <a:srgbClr val="003399"/>
                </a:solidFill>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endParaRPr lang="zh-CN" altLang="en-US" sz="2400" dirty="0">
              <a:latin typeface="Consolas" panose="020B0609020204030204" pitchFamily="49" charset="0"/>
            </a:endParaRPr>
          </a:p>
          <a:p>
            <a:pPr marL="0" lvl="0" indent="0" eaLnBrk="1" hangingPunct="1">
              <a:spcBef>
                <a:spcPct val="0"/>
              </a:spcBef>
              <a:buNone/>
            </a:pPr>
            <a:r>
              <a:rPr lang="en-US" altLang="zh-CN" sz="2400" dirty="0">
                <a:latin typeface="Consolas" panose="020B0609020204030204" pitchFamily="49" charset="0"/>
              </a:rPr>
              <a:t>int fun()</a:t>
            </a:r>
          </a:p>
          <a:p>
            <a:pPr marL="0" lvl="0" indent="0" eaLnBrk="1" hangingPunct="1">
              <a:spcBef>
                <a:spcPct val="0"/>
              </a:spcBef>
              <a:buNone/>
            </a:pPr>
            <a:r>
              <a:rPr lang="en-US" altLang="zh-CN" sz="2400" dirty="0">
                <a:latin typeface="Consolas" panose="020B0609020204030204" pitchFamily="49" charset="0"/>
              </a:rPr>
              <a:t>{…</a:t>
            </a:r>
          </a:p>
          <a:p>
            <a:pPr marL="0" lvl="0" indent="0" eaLnBrk="1" hangingPunct="1">
              <a:spcBef>
                <a:spcPct val="0"/>
              </a:spcBef>
              <a:buNone/>
            </a:pPr>
            <a:r>
              <a:rPr lang="en-US" altLang="zh-CN" sz="2400" dirty="0">
                <a:latin typeface="Consolas" panose="020B0609020204030204" pitchFamily="49" charset="0"/>
              </a:rPr>
              <a:t>} </a:t>
            </a:r>
          </a:p>
          <a:p>
            <a:pPr marL="0" lvl="0" indent="0" eaLnBrk="1" hangingPunct="1">
              <a:lnSpc>
                <a:spcPct val="90000"/>
              </a:lnSpc>
              <a:buNone/>
            </a:pPr>
            <a:r>
              <a:rPr lang="en-US" altLang="zh-CN" sz="2200" dirty="0">
                <a:solidFill>
                  <a:schemeClr val="accent2"/>
                </a:solidFill>
                <a:latin typeface="Consolas" panose="020B0609020204030204" pitchFamily="49" charset="0"/>
              </a:rPr>
              <a:t>float square(float y)</a:t>
            </a:r>
          </a:p>
          <a:p>
            <a:pPr marL="0" lvl="0" indent="0" eaLnBrk="1" hangingPunct="1">
              <a:lnSpc>
                <a:spcPct val="90000"/>
              </a:lnSpc>
              <a:buNone/>
            </a:pPr>
            <a:r>
              <a:rPr lang="en-US" altLang="zh-CN" sz="2200" dirty="0">
                <a:solidFill>
                  <a:schemeClr val="accent2"/>
                </a:solidFill>
                <a:latin typeface="Consolas" panose="020B0609020204030204" pitchFamily="49" charset="0"/>
              </a:rPr>
              <a:t>{</a:t>
            </a:r>
          </a:p>
          <a:p>
            <a:pPr marL="0" lvl="0" indent="0" eaLnBrk="1" hangingPunct="1">
              <a:lnSpc>
                <a:spcPct val="90000"/>
              </a:lnSpc>
              <a:buNone/>
            </a:pPr>
            <a:r>
              <a:rPr lang="en-US" altLang="zh-CN" sz="2200" dirty="0">
                <a:solidFill>
                  <a:schemeClr val="accent2"/>
                </a:solidFill>
                <a:latin typeface="Consolas" panose="020B0609020204030204" pitchFamily="49" charset="0"/>
              </a:rPr>
              <a:t>      return(y*y);</a:t>
            </a:r>
          </a:p>
          <a:p>
            <a:pPr marL="0" lvl="0" indent="0" eaLnBrk="1" hangingPunct="1">
              <a:lnSpc>
                <a:spcPct val="90000"/>
              </a:lnSpc>
              <a:buNone/>
            </a:pPr>
            <a:r>
              <a:rPr lang="en-US" altLang="zh-CN" sz="2200" dirty="0">
                <a:solidFill>
                  <a:schemeClr val="accent2"/>
                </a:solidFill>
                <a:latin typeface="Consolas" panose="020B0609020204030204" pitchFamily="49" charset="0"/>
              </a:rPr>
              <a:t>}</a:t>
            </a:r>
            <a:endParaRPr lang="en-US" altLang="zh-CN" sz="2400" dirty="0">
              <a:solidFill>
                <a:schemeClr val="accent2"/>
              </a:solidFill>
              <a:latin typeface="Consolas" panose="020B0609020204030204" pitchFamily="49" charset="0"/>
            </a:endParaRPr>
          </a:p>
        </p:txBody>
      </p:sp>
      <p:sp>
        <p:nvSpPr>
          <p:cNvPr id="70660" name="Text Box 5"/>
          <p:cNvSpPr txBox="1"/>
          <p:nvPr/>
        </p:nvSpPr>
        <p:spPr>
          <a:xfrm>
            <a:off x="4821188" y="1207966"/>
            <a:ext cx="4226024" cy="5573834"/>
          </a:xfrm>
          <a:prstGeom prst="rect">
            <a:avLst/>
          </a:prstGeom>
          <a:noFill/>
          <a:ln w="9525" cap="flat" cmpd="sng">
            <a:solidFill>
              <a:srgbClr val="008000"/>
            </a:solidFill>
            <a:prstDash val="solid"/>
            <a:miter/>
            <a:headEnd type="none" w="med" len="med"/>
            <a:tailEnd type="none" w="med" len="med"/>
          </a:ln>
        </p:spPr>
        <p:txBody>
          <a:bodyPr wrap="square">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200" dirty="0">
                <a:solidFill>
                  <a:srgbClr val="003399"/>
                </a:solidFill>
                <a:latin typeface="Consolas" panose="020B0609020204030204" pitchFamily="49" charset="0"/>
              </a:rPr>
              <a:t>/*square</a:t>
            </a:r>
            <a:r>
              <a:rPr lang="zh-CN" altLang="en-US" sz="2200" dirty="0">
                <a:solidFill>
                  <a:srgbClr val="003399"/>
                </a:solidFill>
                <a:latin typeface="Consolas" panose="020B0609020204030204" pitchFamily="49" charset="0"/>
              </a:rPr>
              <a:t>函数只能在</a:t>
            </a:r>
            <a:r>
              <a:rPr lang="en-US" altLang="zh-CN" sz="2200" dirty="0">
                <a:solidFill>
                  <a:srgbClr val="003399"/>
                </a:solidFill>
                <a:latin typeface="Consolas" panose="020B0609020204030204" pitchFamily="49" charset="0"/>
              </a:rPr>
              <a:t>main</a:t>
            </a:r>
            <a:r>
              <a:rPr lang="zh-CN" altLang="en-US" sz="2200" dirty="0">
                <a:solidFill>
                  <a:srgbClr val="003399"/>
                </a:solidFill>
                <a:latin typeface="Consolas" panose="020B0609020204030204" pitchFamily="49" charset="0"/>
              </a:rPr>
              <a:t>中被调用*</a:t>
            </a:r>
            <a:r>
              <a:rPr lang="en-US" altLang="zh-CN" sz="2200" dirty="0">
                <a:solidFill>
                  <a:srgbClr val="003399"/>
                </a:solidFill>
                <a:latin typeface="Consolas" panose="020B0609020204030204" pitchFamily="49" charset="0"/>
              </a:rPr>
              <a:t>/</a:t>
            </a:r>
            <a:endParaRPr lang="en-US" altLang="zh-CN" sz="2400" dirty="0">
              <a:solidFill>
                <a:srgbClr val="003399"/>
              </a:solidFill>
              <a:latin typeface="Consolas" panose="020B0609020204030204" pitchFamily="49" charset="0"/>
            </a:endParaRPr>
          </a:p>
          <a:p>
            <a:pPr marL="0" lvl="0" indent="0" eaLnBrk="1" hangingPunct="1">
              <a:buClr>
                <a:schemeClr val="accent2"/>
              </a:buClr>
              <a:buSzPct val="75000"/>
              <a:buFont typeface="Monotype Sorts" charset="2"/>
              <a:buNone/>
            </a:pPr>
            <a:r>
              <a:rPr lang="en-US" altLang="zh-CN" sz="2400" dirty="0">
                <a:solidFill>
                  <a:srgbClr val="003399"/>
                </a:solidFill>
                <a:latin typeface="Consolas" panose="020B0609020204030204" pitchFamily="49" charset="0"/>
              </a:rPr>
              <a:t>   </a:t>
            </a:r>
            <a:r>
              <a:rPr lang="en-US" altLang="zh-CN" sz="2200" dirty="0">
                <a:solidFill>
                  <a:srgbClr val="003399"/>
                </a:solidFill>
                <a:latin typeface="Consolas" panose="020B0609020204030204" pitchFamily="49" charset="0"/>
              </a:rPr>
              <a:t>float </a:t>
            </a:r>
            <a:r>
              <a:rPr lang="en-US" altLang="zh-CN" sz="2400" dirty="0">
                <a:solidFill>
                  <a:srgbClr val="003399"/>
                </a:solidFill>
                <a:latin typeface="Consolas" panose="020B0609020204030204" pitchFamily="49" charset="0"/>
              </a:rPr>
              <a:t>square(</a:t>
            </a:r>
            <a:r>
              <a:rPr lang="en-US" altLang="zh-CN" sz="2200" dirty="0">
                <a:solidFill>
                  <a:srgbClr val="003399"/>
                </a:solidFill>
                <a:latin typeface="Consolas" panose="020B0609020204030204" pitchFamily="49" charset="0"/>
              </a:rPr>
              <a:t>float</a:t>
            </a:r>
            <a:r>
              <a:rPr lang="en-US" altLang="zh-CN" sz="2400" dirty="0">
                <a:solidFill>
                  <a:srgbClr val="003399"/>
                </a:solidFill>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int fun()</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a:t>
            </a:r>
            <a:endParaRPr lang="en-US" altLang="zh-CN" sz="2400" dirty="0">
              <a:latin typeface="Consolas" panose="020B0609020204030204" pitchFamily="49" charset="0"/>
            </a:endParaRPr>
          </a:p>
          <a:p>
            <a:pPr marL="0" lvl="0" indent="0" eaLnBrk="1" hangingPunct="1">
              <a:spcBef>
                <a:spcPct val="0"/>
              </a:spcBef>
              <a:buNone/>
            </a:pPr>
            <a:r>
              <a:rPr lang="en-US" altLang="zh-CN" sz="2200" dirty="0">
                <a:solidFill>
                  <a:schemeClr val="accent2"/>
                </a:solidFill>
                <a:latin typeface="Consolas" panose="020B0609020204030204" pitchFamily="49" charset="0"/>
              </a:rPr>
              <a:t>float</a:t>
            </a:r>
            <a:r>
              <a:rPr lang="en-US" altLang="zh-CN" sz="2400" dirty="0">
                <a:solidFill>
                  <a:schemeClr val="accent2"/>
                </a:solidFill>
                <a:latin typeface="Consolas" panose="020B0609020204030204" pitchFamily="49" charset="0"/>
              </a:rPr>
              <a:t> square(</a:t>
            </a:r>
            <a:r>
              <a:rPr lang="en-US" altLang="zh-CN" sz="2200" dirty="0">
                <a:solidFill>
                  <a:schemeClr val="accent2"/>
                </a:solidFill>
                <a:latin typeface="Consolas" panose="020B0609020204030204" pitchFamily="49" charset="0"/>
              </a:rPr>
              <a:t>float</a:t>
            </a:r>
            <a:r>
              <a:rPr lang="en-US" altLang="zh-CN" sz="2400" dirty="0">
                <a:solidFill>
                  <a:schemeClr val="accent2"/>
                </a:solidFill>
                <a:latin typeface="Consolas" panose="020B0609020204030204" pitchFamily="49" charset="0"/>
              </a:rPr>
              <a:t> y)</a:t>
            </a:r>
          </a:p>
          <a:p>
            <a:pPr marL="0" lvl="0" indent="0" eaLnBrk="1" hangingPunct="1">
              <a:spcBef>
                <a:spcPct val="0"/>
              </a:spcBef>
              <a:buNone/>
            </a:pPr>
            <a:r>
              <a:rPr lang="en-US" altLang="zh-CN" sz="2400" dirty="0">
                <a:solidFill>
                  <a:schemeClr val="accent2"/>
                </a:solidFill>
                <a:latin typeface="Consolas" panose="020B0609020204030204" pitchFamily="49" charset="0"/>
              </a:rPr>
              <a:t>{</a:t>
            </a:r>
          </a:p>
          <a:p>
            <a:pPr marL="0" lvl="0" indent="0" eaLnBrk="1" hangingPunct="1">
              <a:spcBef>
                <a:spcPct val="0"/>
              </a:spcBef>
              <a:buNone/>
            </a:pPr>
            <a:r>
              <a:rPr lang="en-US" altLang="zh-CN" sz="2400" dirty="0">
                <a:solidFill>
                  <a:schemeClr val="accent2"/>
                </a:solidFill>
                <a:latin typeface="Consolas" panose="020B0609020204030204" pitchFamily="49" charset="0"/>
              </a:rPr>
              <a:t>      return(y*y);</a:t>
            </a:r>
          </a:p>
          <a:p>
            <a:pPr marL="0" lvl="0" indent="0" eaLnBrk="1" hangingPunct="1">
              <a:spcBef>
                <a:spcPct val="0"/>
              </a:spcBef>
              <a:buNone/>
            </a:pPr>
            <a:r>
              <a:rPr lang="en-US" altLang="zh-CN" sz="2400" dirty="0">
                <a:solidFill>
                  <a:schemeClr val="accent2"/>
                </a:solidFill>
                <a:latin typeface="Consolas" panose="020B0609020204030204" pitchFamily="49" charset="0"/>
              </a:rPr>
              <a:t>}</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77</a:t>
            </a:fld>
            <a:endParaRPr lang="zh-CN" altLang="en-US" sz="1400" b="1" dirty="0"/>
          </a:p>
        </p:txBody>
      </p:sp>
      <p:sp>
        <p:nvSpPr>
          <p:cNvPr id="71683" name="Rectangle 3"/>
          <p:cNvSpPr>
            <a:spLocks noGrp="1"/>
          </p:cNvSpPr>
          <p:nvPr>
            <p:ph idx="1"/>
          </p:nvPr>
        </p:nvSpPr>
        <p:spPr>
          <a:xfrm>
            <a:off x="250825" y="1319213"/>
            <a:ext cx="4968875" cy="4611687"/>
          </a:xfrm>
        </p:spPr>
        <p:txBody>
          <a:bodyPr vert="horz" wrap="square" lIns="91440" tIns="45720" rIns="91440" bIns="45720" anchor="t"/>
          <a:lstStyle/>
          <a:p>
            <a:pPr eaLnBrk="1" hangingPunct="1">
              <a:lnSpc>
                <a:spcPct val="120000"/>
              </a:lnSpc>
              <a:buClr>
                <a:schemeClr val="accent2"/>
              </a:buClr>
              <a:buSzPct val="75000"/>
              <a:buFont typeface="Monotype Sorts" charset="2"/>
              <a:buNone/>
            </a:pPr>
            <a:r>
              <a:rPr lang="zh-CN" altLang="en-US" b="1" dirty="0"/>
              <a:t>（</a:t>
            </a:r>
            <a:r>
              <a:rPr lang="en-US" altLang="zh-CN" b="1" dirty="0"/>
              <a:t>5</a:t>
            </a:r>
            <a:r>
              <a:rPr lang="zh-CN" altLang="en-US" b="1" dirty="0"/>
              <a:t>）当被调用函数的函数定义出现在该函数调用之前时，可以省略函数原型。因为在调用之前，编译系统已经知道了被调用函数的函数类型、参数个数、类型和顺序。</a:t>
            </a:r>
          </a:p>
        </p:txBody>
      </p:sp>
      <p:sp>
        <p:nvSpPr>
          <p:cNvPr id="71684" name="Rectangle 4"/>
          <p:cNvSpPr>
            <a:spLocks noGrp="1"/>
          </p:cNvSpPr>
          <p:nvPr>
            <p:ph type="title"/>
          </p:nvPr>
        </p:nvSpPr>
        <p:spPr>
          <a:xfrm>
            <a:off x="1079500" y="4127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71685" name="Text Box 7"/>
          <p:cNvSpPr txBox="1"/>
          <p:nvPr/>
        </p:nvSpPr>
        <p:spPr>
          <a:xfrm>
            <a:off x="5580063" y="1628775"/>
            <a:ext cx="3095625" cy="4154984"/>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400" dirty="0">
                <a:latin typeface="Consolas" panose="020B0609020204030204" pitchFamily="49" charset="0"/>
              </a:rPr>
              <a:t>/*</a:t>
            </a:r>
            <a:r>
              <a:rPr lang="zh-CN" altLang="en-US" sz="2400" dirty="0">
                <a:latin typeface="Consolas" panose="020B0609020204030204" pitchFamily="49" charset="0"/>
              </a:rPr>
              <a:t>函数定义*/ </a:t>
            </a:r>
          </a:p>
          <a:p>
            <a:pPr marL="0" lvl="0" indent="0" eaLnBrk="1" hangingPunct="1">
              <a:lnSpc>
                <a:spcPct val="90000"/>
              </a:lnSpc>
              <a:buNone/>
            </a:pPr>
            <a:r>
              <a:rPr lang="en-US" altLang="zh-CN" sz="2200" dirty="0">
                <a:latin typeface="Consolas" panose="020B0609020204030204" pitchFamily="49" charset="0"/>
              </a:rPr>
              <a:t>float </a:t>
            </a:r>
            <a:r>
              <a:rPr lang="en-US" altLang="zh-CN" sz="2400" dirty="0">
                <a:latin typeface="Consolas" panose="020B0609020204030204" pitchFamily="49" charset="0"/>
              </a:rPr>
              <a:t>square(</a:t>
            </a:r>
            <a:r>
              <a:rPr lang="en-US" altLang="zh-CN" sz="2200" dirty="0">
                <a:latin typeface="Consolas" panose="020B0609020204030204" pitchFamily="49" charset="0"/>
              </a:rPr>
              <a:t>float</a:t>
            </a:r>
            <a:r>
              <a:rPr lang="en-US" altLang="zh-CN" sz="2400" dirty="0">
                <a:latin typeface="Consolas" panose="020B0609020204030204" pitchFamily="49" charset="0"/>
              </a:rPr>
              <a:t> y)</a:t>
            </a:r>
          </a:p>
          <a:p>
            <a:pPr marL="0" lvl="0" indent="0" eaLnBrk="1" hangingPunct="1">
              <a:lnSpc>
                <a:spcPct val="90000"/>
              </a:lnSpc>
              <a:buNone/>
            </a:pPr>
            <a:r>
              <a:rPr lang="en-US" altLang="zh-CN" sz="2400" dirty="0">
                <a:latin typeface="Consolas" panose="020B0609020204030204" pitchFamily="49" charset="0"/>
              </a:rPr>
              <a:t>{</a:t>
            </a:r>
          </a:p>
          <a:p>
            <a:pPr marL="0" lvl="0" indent="0" eaLnBrk="1" hangingPunct="1">
              <a:lnSpc>
                <a:spcPct val="90000"/>
              </a:lnSpc>
              <a:buNone/>
            </a:pPr>
            <a:r>
              <a:rPr lang="en-US" altLang="zh-CN" sz="2400" dirty="0">
                <a:latin typeface="Consolas" panose="020B0609020204030204" pitchFamily="49" charset="0"/>
              </a:rPr>
              <a:t>      return(y*y);</a:t>
            </a:r>
          </a:p>
          <a:p>
            <a:pPr marL="0" lvl="0" indent="0" eaLnBrk="1" hangingPunct="1">
              <a:lnSpc>
                <a:spcPct val="90000"/>
              </a:lnSpc>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int main()</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   …</a:t>
            </a:r>
          </a:p>
          <a:p>
            <a:pPr marL="0" lvl="0" indent="0" eaLnBrk="1" hangingPunct="1">
              <a:buClr>
                <a:schemeClr val="accent2"/>
              </a:buClr>
              <a:buSzPct val="75000"/>
              <a:buFont typeface="Monotype Sorts" charset="2"/>
              <a:buNone/>
            </a:pPr>
            <a:r>
              <a:rPr lang="en-US" altLang="zh-CN" sz="2400" dirty="0">
                <a:latin typeface="Consolas" panose="020B0609020204030204" pitchFamily="49" charset="0"/>
              </a:rPr>
              <a:t>}</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78</a:t>
            </a:fld>
            <a:endParaRPr lang="zh-CN" altLang="en-US" sz="1400" b="1" dirty="0"/>
          </a:p>
        </p:txBody>
      </p:sp>
      <p:sp>
        <p:nvSpPr>
          <p:cNvPr id="72707" name="Rectangle 1027"/>
          <p:cNvSpPr>
            <a:spLocks noGrp="1"/>
          </p:cNvSpPr>
          <p:nvPr>
            <p:ph idx="1"/>
          </p:nvPr>
        </p:nvSpPr>
        <p:spPr>
          <a:xfrm>
            <a:off x="395288" y="1268413"/>
            <a:ext cx="3313112" cy="4800600"/>
          </a:xfrm>
        </p:spPr>
        <p:txBody>
          <a:bodyPr vert="horz" wrap="square" lIns="91440" tIns="45720" rIns="91440" bIns="45720" anchor="t"/>
          <a:lstStyle/>
          <a:p>
            <a:pPr algn="just" eaLnBrk="1" hangingPunct="1">
              <a:lnSpc>
                <a:spcPct val="120000"/>
              </a:lnSpc>
              <a:buNone/>
            </a:pPr>
            <a:r>
              <a:rPr lang="zh-CN" altLang="en-US" b="1" dirty="0"/>
              <a:t>（</a:t>
            </a:r>
            <a:r>
              <a:rPr lang="en-US" altLang="zh-CN" b="1" dirty="0"/>
              <a:t>6</a:t>
            </a:r>
            <a:r>
              <a:rPr lang="zh-CN" altLang="en-US" b="1" dirty="0"/>
              <a:t>）函数原型、函数定义、函数调用要保持一致。和函数原型不匹配的函数调用会导致语法错误；函数原型和函数定义不一致，也会产生错误。</a:t>
            </a:r>
          </a:p>
        </p:txBody>
      </p:sp>
      <p:sp>
        <p:nvSpPr>
          <p:cNvPr id="72708" name="Rectangle 1030"/>
          <p:cNvSpPr>
            <a:spLocks noGrp="1"/>
          </p:cNvSpPr>
          <p:nvPr>
            <p:ph type="title"/>
          </p:nvPr>
        </p:nvSpPr>
        <p:spPr>
          <a:xfrm>
            <a:off x="1258888" y="438150"/>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
        <p:nvSpPr>
          <p:cNvPr id="72709" name="Text Box 1031"/>
          <p:cNvSpPr txBox="1"/>
          <p:nvPr/>
        </p:nvSpPr>
        <p:spPr>
          <a:xfrm>
            <a:off x="3811588" y="1226460"/>
            <a:ext cx="5219700" cy="5306068"/>
          </a:xfrm>
          <a:prstGeom prst="rect">
            <a:avLst/>
          </a:prstGeom>
          <a:no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r>
              <a:rPr lang="en-US" altLang="zh-CN" sz="2200" dirty="0">
                <a:latin typeface="Consolas" panose="020B0609020204030204" pitchFamily="49" charset="0"/>
              </a:rPr>
              <a:t>#include&lt;stdio.h&gt;</a:t>
            </a:r>
          </a:p>
          <a:p>
            <a:pPr marL="0" lvl="0" indent="0" eaLnBrk="1" hangingPunct="1">
              <a:lnSpc>
                <a:spcPct val="90000"/>
              </a:lnSpc>
              <a:buNone/>
            </a:pPr>
            <a:r>
              <a:rPr lang="en-US" altLang="zh-CN" sz="2200" dirty="0">
                <a:solidFill>
                  <a:schemeClr val="accent2"/>
                </a:solidFill>
                <a:latin typeface="Consolas" panose="020B0609020204030204" pitchFamily="49" charset="0"/>
              </a:rPr>
              <a:t>float square(float y);//</a:t>
            </a:r>
            <a:r>
              <a:rPr lang="zh-CN" altLang="en-US" sz="2200" dirty="0">
                <a:solidFill>
                  <a:schemeClr val="accent2"/>
                </a:solidFill>
                <a:latin typeface="Consolas" panose="020B0609020204030204" pitchFamily="49" charset="0"/>
              </a:rPr>
              <a:t>函数原型</a:t>
            </a:r>
          </a:p>
          <a:p>
            <a:pPr marL="0" lvl="0" indent="0" eaLnBrk="1" hangingPunct="1">
              <a:lnSpc>
                <a:spcPct val="90000"/>
              </a:lnSpc>
              <a:buNone/>
            </a:pPr>
            <a:r>
              <a:rPr lang="en-US" altLang="zh-CN" sz="2200" dirty="0">
                <a:latin typeface="Consolas" panose="020B0609020204030204" pitchFamily="49" charset="0"/>
              </a:rPr>
              <a:t>int main()</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      float x=2.5;</a:t>
            </a:r>
          </a:p>
          <a:p>
            <a:pPr marL="0" lvl="0" indent="0" eaLnBrk="1" hangingPunct="1">
              <a:lnSpc>
                <a:spcPct val="90000"/>
              </a:lnSpc>
              <a:buNone/>
            </a:pPr>
            <a:endParaRPr lang="en-US" altLang="zh-CN" sz="800" dirty="0">
              <a:latin typeface="Consolas" panose="020B0609020204030204" pitchFamily="49" charset="0"/>
            </a:endParaRPr>
          </a:p>
          <a:p>
            <a:pPr marL="0" lvl="0" indent="0" eaLnBrk="1" hangingPunct="1">
              <a:lnSpc>
                <a:spcPct val="90000"/>
              </a:lnSpc>
              <a:buNone/>
            </a:pPr>
            <a:r>
              <a:rPr lang="en-US" altLang="zh-CN" sz="2200" dirty="0">
                <a:latin typeface="Consolas" panose="020B0609020204030204" pitchFamily="49" charset="0"/>
              </a:rPr>
              <a:t>     </a:t>
            </a:r>
            <a:r>
              <a:rPr lang="en-US" altLang="zh-CN" sz="2200" dirty="0" err="1">
                <a:latin typeface="Consolas" panose="020B0609020204030204" pitchFamily="49" charset="0"/>
              </a:rPr>
              <a:t>printf</a:t>
            </a:r>
            <a:r>
              <a:rPr lang="en-US" altLang="zh-CN" sz="2200" dirty="0">
                <a:latin typeface="Consolas" panose="020B0609020204030204" pitchFamily="49" charset="0"/>
              </a:rPr>
              <a:t>("%.2f",</a:t>
            </a:r>
            <a:r>
              <a:rPr lang="en-US" altLang="zh-CN" sz="2200" dirty="0">
                <a:solidFill>
                  <a:srgbClr val="003399"/>
                </a:solidFill>
                <a:latin typeface="Consolas" panose="020B0609020204030204" pitchFamily="49" charset="0"/>
              </a:rPr>
              <a:t>square(x)</a:t>
            </a:r>
            <a:r>
              <a:rPr lang="en-US" altLang="zh-CN" sz="2200" dirty="0">
                <a:latin typeface="Consolas" panose="020B0609020204030204" pitchFamily="49" charset="0"/>
              </a:rPr>
              <a:t>); //</a:t>
            </a:r>
            <a:r>
              <a:rPr lang="zh-CN" altLang="en-US" sz="2200" dirty="0">
                <a:latin typeface="Consolas" panose="020B0609020204030204" pitchFamily="49" charset="0"/>
              </a:rPr>
              <a:t>函数调用</a:t>
            </a:r>
          </a:p>
          <a:p>
            <a:pPr marL="0" lvl="0" indent="0" eaLnBrk="1" hangingPunct="1">
              <a:lnSpc>
                <a:spcPct val="90000"/>
              </a:lnSpc>
              <a:buNone/>
            </a:pPr>
            <a:r>
              <a:rPr lang="en-US" altLang="zh-CN" sz="2200" dirty="0">
                <a:latin typeface="Consolas" panose="020B0609020204030204" pitchFamily="49" charset="0"/>
              </a:rPr>
              <a:t>     system("pause");</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a:t>
            </a:r>
            <a:r>
              <a:rPr lang="zh-CN" altLang="en-US" sz="2200" dirty="0">
                <a:latin typeface="Consolas" panose="020B0609020204030204" pitchFamily="49" charset="0"/>
              </a:rPr>
              <a:t>函数定义*</a:t>
            </a:r>
            <a:r>
              <a:rPr lang="en-US" altLang="zh-CN" sz="2200" dirty="0">
                <a:latin typeface="Consolas" panose="020B0609020204030204" pitchFamily="49" charset="0"/>
              </a:rPr>
              <a:t>/ </a:t>
            </a:r>
          </a:p>
          <a:p>
            <a:pPr marL="0" lvl="0" indent="0" eaLnBrk="1" hangingPunct="1">
              <a:lnSpc>
                <a:spcPct val="90000"/>
              </a:lnSpc>
              <a:buNone/>
            </a:pPr>
            <a:r>
              <a:rPr lang="en-US" altLang="zh-CN" sz="2200" dirty="0">
                <a:latin typeface="Consolas" panose="020B0609020204030204" pitchFamily="49" charset="0"/>
              </a:rPr>
              <a:t>float square(float y)</a:t>
            </a:r>
          </a:p>
          <a:p>
            <a:pPr marL="0" lvl="0" indent="0" eaLnBrk="1" hangingPunct="1">
              <a:lnSpc>
                <a:spcPct val="90000"/>
              </a:lnSpc>
              <a:buNone/>
            </a:pPr>
            <a:r>
              <a:rPr lang="en-US" altLang="zh-CN" sz="2200" dirty="0">
                <a:latin typeface="Consolas" panose="020B0609020204030204" pitchFamily="49" charset="0"/>
              </a:rPr>
              <a:t>{</a:t>
            </a:r>
          </a:p>
          <a:p>
            <a:pPr marL="0" lvl="0" indent="0" eaLnBrk="1" hangingPunct="1">
              <a:lnSpc>
                <a:spcPct val="90000"/>
              </a:lnSpc>
              <a:buNone/>
            </a:pPr>
            <a:r>
              <a:rPr lang="en-US" altLang="zh-CN" sz="2200" dirty="0">
                <a:latin typeface="Consolas" panose="020B0609020204030204" pitchFamily="49" charset="0"/>
              </a:rPr>
              <a:t>      return(y*y);</a:t>
            </a:r>
          </a:p>
          <a:p>
            <a:pPr marL="0" lvl="0" indent="0" eaLnBrk="1" hangingPunct="1">
              <a:lnSpc>
                <a:spcPct val="90000"/>
              </a:lnSpc>
              <a:buNone/>
            </a:pPr>
            <a:r>
              <a:rPr lang="en-US" altLang="zh-CN" sz="2200" dirty="0">
                <a:latin typeface="Consolas" panose="020B0609020204030204" pitchFamily="49" charset="0"/>
              </a:rPr>
              <a:t>}</a:t>
            </a:r>
            <a:endParaRPr lang="en-US" altLang="zh-CN" sz="2400" dirty="0">
              <a:latin typeface="Consolas" panose="020B0609020204030204" pitchFamily="49" charset="0"/>
            </a:endParaRP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79</a:t>
            </a:fld>
            <a:endParaRPr lang="zh-CN" altLang="en-US" sz="1400" b="1" dirty="0"/>
          </a:p>
        </p:txBody>
      </p:sp>
      <p:sp>
        <p:nvSpPr>
          <p:cNvPr id="73731" name="Rectangle 4"/>
          <p:cNvSpPr>
            <a:spLocks noGrp="1"/>
          </p:cNvSpPr>
          <p:nvPr>
            <p:ph idx="1"/>
          </p:nvPr>
        </p:nvSpPr>
        <p:spPr>
          <a:xfrm>
            <a:off x="395288" y="1268413"/>
            <a:ext cx="8424862" cy="4800600"/>
          </a:xfrm>
        </p:spPr>
        <p:txBody>
          <a:bodyPr vert="horz" wrap="square" lIns="91440" tIns="45720" rIns="91440" bIns="45720" anchor="t"/>
          <a:lstStyle/>
          <a:p>
            <a:pPr eaLnBrk="1" hangingPunct="1">
              <a:buNone/>
            </a:pPr>
            <a:r>
              <a:rPr lang="zh-CN" altLang="en-US" sz="2400" b="1" dirty="0"/>
              <a:t>（</a:t>
            </a:r>
            <a:r>
              <a:rPr lang="en-US" altLang="zh-CN" sz="2400" b="1" dirty="0"/>
              <a:t>7</a:t>
            </a:r>
            <a:r>
              <a:rPr lang="zh-CN" altLang="en-US" sz="2400" b="1" dirty="0"/>
              <a:t>）如果程序中没有包含函数原型，则编译器就会用第一次出现的该函数（函数定义或函数调用）来构造函数原型。默认情况下，编译器假定函数的返回类型为</a:t>
            </a:r>
            <a:r>
              <a:rPr lang="en-US" altLang="zh-CN" sz="2400" b="1" dirty="0"/>
              <a:t>int</a:t>
            </a:r>
            <a:r>
              <a:rPr lang="zh-CN" altLang="en-US" sz="2400" b="1" dirty="0"/>
              <a:t>类型，而对参数不作任何假定。</a:t>
            </a:r>
            <a:endParaRPr lang="en-US" altLang="zh-CN" sz="2400" b="1" dirty="0"/>
          </a:p>
          <a:p>
            <a:pPr algn="just" eaLnBrk="1" hangingPunct="1">
              <a:lnSpc>
                <a:spcPct val="120000"/>
              </a:lnSpc>
              <a:buNone/>
            </a:pPr>
            <a:r>
              <a:rPr lang="zh-CN" altLang="en-US" sz="2400" b="1" dirty="0"/>
              <a:t>（</a:t>
            </a:r>
            <a:r>
              <a:rPr lang="en-US" altLang="zh-CN" sz="2400" b="1" dirty="0"/>
              <a:t>8</a:t>
            </a:r>
            <a:r>
              <a:rPr lang="zh-CN" altLang="en-US" sz="2400" b="1" dirty="0"/>
              <a:t>）函数原型可以用来强制转换参数类型。</a:t>
            </a:r>
          </a:p>
          <a:p>
            <a:pPr eaLnBrk="1" hangingPunct="1">
              <a:buNone/>
            </a:pPr>
            <a:r>
              <a:rPr lang="zh-CN" altLang="en-US" sz="2400" b="1" dirty="0"/>
              <a:t>	在函数调用之前，和函数原型中的参数类型不完全一致的实参值会被转换为合适的类型。</a:t>
            </a:r>
          </a:p>
          <a:p>
            <a:pPr eaLnBrk="1" hangingPunct="1">
              <a:buNone/>
            </a:pPr>
            <a:r>
              <a:rPr lang="zh-CN" altLang="en-US" sz="2400" b="1" dirty="0"/>
              <a:t>	如： </a:t>
            </a:r>
            <a:r>
              <a:rPr lang="en-US" altLang="zh-CN" sz="2400" b="1" dirty="0"/>
              <a:t>sqrt</a:t>
            </a:r>
            <a:r>
              <a:rPr lang="zh-CN" altLang="en-US" sz="2400" b="1" dirty="0"/>
              <a:t> 的参数类型是</a:t>
            </a:r>
            <a:r>
              <a:rPr lang="en-US" altLang="zh-CN" sz="2400" b="1" dirty="0"/>
              <a:t>double，</a:t>
            </a:r>
            <a:r>
              <a:rPr lang="zh-CN" altLang="en-US" sz="2400" b="1" dirty="0"/>
              <a:t>进行如下调用</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%.3f\</a:t>
            </a:r>
            <a:r>
              <a:rPr lang="en-US" altLang="zh-CN" sz="2400" b="1" dirty="0" err="1"/>
              <a:t>n</a:t>
            </a:r>
            <a:r>
              <a:rPr lang="en-US" altLang="zh-CN" sz="2400" b="1" dirty="0" err="1">
                <a:latin typeface="宋体" panose="02010600030101010101" pitchFamily="2" charset="-122"/>
              </a:rPr>
              <a:t>"</a:t>
            </a:r>
            <a:r>
              <a:rPr lang="en-US" altLang="zh-CN" sz="2400" b="1" dirty="0" err="1"/>
              <a:t>,sqrt</a:t>
            </a:r>
            <a:r>
              <a:rPr lang="en-US" altLang="zh-CN" sz="2400" b="1" dirty="0"/>
              <a:t>(4))</a:t>
            </a:r>
            <a:r>
              <a:rPr lang="zh-CN" altLang="en-US" sz="2400" b="1" dirty="0"/>
              <a:t>时，在将4传递给</a:t>
            </a:r>
            <a:r>
              <a:rPr lang="en-US" altLang="zh-CN" sz="2400" b="1" dirty="0"/>
              <a:t>sqrt</a:t>
            </a:r>
            <a:r>
              <a:rPr lang="zh-CN" altLang="en-US" sz="2400" b="1" dirty="0"/>
              <a:t>之前先转换为</a:t>
            </a:r>
            <a:r>
              <a:rPr lang="en-US" altLang="zh-CN" sz="2400" b="1" dirty="0"/>
              <a:t>double</a:t>
            </a:r>
            <a:r>
              <a:rPr lang="zh-CN" altLang="en-US" sz="2400" b="1" dirty="0"/>
              <a:t>类型的值4.0</a:t>
            </a:r>
            <a:r>
              <a:rPr lang="en-US" altLang="zh-CN" sz="2400" b="1" dirty="0"/>
              <a:t>;</a:t>
            </a:r>
          </a:p>
          <a:p>
            <a:pPr eaLnBrk="1" hangingPunct="1">
              <a:buNone/>
            </a:pPr>
            <a:r>
              <a:rPr lang="zh-CN" altLang="en-US" sz="2400" b="1" dirty="0"/>
              <a:t>	参数类型的转换有可能是低类型向高类型转换，也可能是高类型向低类型转换。高类型向低类型转换可能会导致不正确的结果（如</a:t>
            </a:r>
            <a:r>
              <a:rPr lang="en-US" altLang="zh-CN" sz="2400" b="1" dirty="0"/>
              <a:t>long</a:t>
            </a:r>
            <a:r>
              <a:rPr lang="zh-CN" altLang="en-US" sz="2400" b="1" dirty="0"/>
              <a:t>类型向</a:t>
            </a:r>
            <a:r>
              <a:rPr lang="en-US" altLang="zh-CN" sz="2400" b="1" dirty="0"/>
              <a:t>short</a:t>
            </a:r>
            <a:r>
              <a:rPr lang="zh-CN" altLang="en-US" sz="2400" b="1" dirty="0"/>
              <a:t>类型的转换）。</a:t>
            </a:r>
          </a:p>
          <a:p>
            <a:pPr eaLnBrk="1" hangingPunct="1">
              <a:buNone/>
            </a:pPr>
            <a:endParaRPr lang="zh-CN" altLang="en-US" sz="2400" b="1" dirty="0"/>
          </a:p>
        </p:txBody>
      </p:sp>
      <p:sp>
        <p:nvSpPr>
          <p:cNvPr id="73732" name="Rectangle 5"/>
          <p:cNvSpPr>
            <a:spLocks noGrp="1"/>
          </p:cNvSpPr>
          <p:nvPr>
            <p:ph type="title"/>
          </p:nvPr>
        </p:nvSpPr>
        <p:spPr>
          <a:xfrm>
            <a:off x="1187450" y="420688"/>
            <a:ext cx="7772400" cy="720725"/>
          </a:xfrm>
        </p:spPr>
        <p:txBody>
          <a:bodyPr vert="horz" wrap="square" lIns="91440" tIns="45720" rIns="91440" bIns="45720" anchor="ctr"/>
          <a:lstStyle/>
          <a:p>
            <a:pPr eaLnBrk="1" hangingPunct="1"/>
            <a:r>
              <a:rPr lang="en-US" altLang="zh-CN" b="1" dirty="0"/>
              <a:t>5.4.4    </a:t>
            </a:r>
            <a:r>
              <a:rPr lang="zh-CN" altLang="en-US" b="1" dirty="0"/>
              <a:t>函数的原型</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80</a:t>
            </a:fld>
            <a:endParaRPr lang="zh-CN" altLang="en-US" sz="1400" b="1" dirty="0"/>
          </a:p>
        </p:txBody>
      </p:sp>
      <p:sp>
        <p:nvSpPr>
          <p:cNvPr id="77827" name="Rectangle 2"/>
          <p:cNvSpPr>
            <a:spLocks noGrp="1"/>
          </p:cNvSpPr>
          <p:nvPr>
            <p:ph type="title"/>
          </p:nvPr>
        </p:nvSpPr>
        <p:spPr/>
        <p:txBody>
          <a:bodyPr vert="horz" wrap="square" lIns="91440" tIns="45720" rIns="91440" bIns="45720" anchor="ctr"/>
          <a:lstStyle/>
          <a:p>
            <a:pPr eaLnBrk="1" hangingPunct="1"/>
            <a:r>
              <a:rPr lang="en-US" altLang="zh-CN" b="1" dirty="0"/>
              <a:t>5.5    </a:t>
            </a:r>
            <a:r>
              <a:rPr lang="zh-CN" altLang="en-US" b="1" dirty="0"/>
              <a:t>头文件</a:t>
            </a:r>
          </a:p>
        </p:txBody>
      </p:sp>
      <p:sp>
        <p:nvSpPr>
          <p:cNvPr id="77828" name="Rectangle 3"/>
          <p:cNvSpPr>
            <a:spLocks noGrp="1"/>
          </p:cNvSpPr>
          <p:nvPr>
            <p:ph idx="1"/>
          </p:nvPr>
        </p:nvSpPr>
        <p:spPr>
          <a:xfrm>
            <a:off x="685800" y="1319213"/>
            <a:ext cx="7772400" cy="4918075"/>
          </a:xfrm>
        </p:spPr>
        <p:txBody>
          <a:bodyPr vert="horz" wrap="square" lIns="91440" tIns="45720" rIns="91440" bIns="45720" anchor="t"/>
          <a:lstStyle/>
          <a:p>
            <a:pPr eaLnBrk="1" hangingPunct="1">
              <a:lnSpc>
                <a:spcPct val="90000"/>
              </a:lnSpc>
            </a:pPr>
            <a:r>
              <a:rPr lang="zh-CN" altLang="en-US" b="1" dirty="0"/>
              <a:t>对于一些通用的函数（如输入输出函数、数学函数等），可能在不同的程序中都会用到。</a:t>
            </a:r>
          </a:p>
          <a:p>
            <a:pPr eaLnBrk="1" hangingPunct="1">
              <a:lnSpc>
                <a:spcPct val="90000"/>
              </a:lnSpc>
            </a:pPr>
            <a:r>
              <a:rPr lang="zh-CN" altLang="en-US" b="1" dirty="0"/>
              <a:t>为了使用这些函数，需要在程序中说明其函数原型。</a:t>
            </a:r>
          </a:p>
          <a:p>
            <a:pPr lvl="2" eaLnBrk="1" hangingPunct="1">
              <a:lnSpc>
                <a:spcPct val="90000"/>
              </a:lnSpc>
            </a:pPr>
            <a:r>
              <a:rPr lang="zh-CN" altLang="en-US" b="1" dirty="0"/>
              <a:t>一种方式是在程序中逐个写出函数原型；</a:t>
            </a:r>
          </a:p>
          <a:p>
            <a:pPr lvl="3" eaLnBrk="1" hangingPunct="1">
              <a:lnSpc>
                <a:spcPct val="90000"/>
              </a:lnSpc>
            </a:pPr>
            <a:r>
              <a:rPr lang="en-US" altLang="zh-CN" b="1" dirty="0"/>
              <a:t>double sqrt(double x) ;</a:t>
            </a:r>
          </a:p>
          <a:p>
            <a:pPr lvl="3" eaLnBrk="1" hangingPunct="1">
              <a:lnSpc>
                <a:spcPct val="90000"/>
              </a:lnSpc>
            </a:pPr>
            <a:r>
              <a:rPr lang="en-US" altLang="zh-CN" b="1" dirty="0"/>
              <a:t>double fabs(double x) ;</a:t>
            </a:r>
          </a:p>
          <a:p>
            <a:pPr lvl="2" eaLnBrk="1" hangingPunct="1">
              <a:lnSpc>
                <a:spcPct val="90000"/>
              </a:lnSpc>
            </a:pPr>
            <a:r>
              <a:rPr lang="zh-CN" altLang="en-US" b="1" dirty="0"/>
              <a:t>另一种方式是将这些函数原型集中在一起，形成</a:t>
            </a:r>
            <a:r>
              <a:rPr lang="en-US" altLang="zh-CN" b="1" dirty="0"/>
              <a:t>.h</a:t>
            </a:r>
            <a:r>
              <a:rPr lang="zh-CN" altLang="en-US" b="1" dirty="0"/>
              <a:t>头文件</a:t>
            </a:r>
            <a:r>
              <a:rPr lang="en-US" altLang="zh-CN" b="1" dirty="0"/>
              <a:t>,</a:t>
            </a:r>
            <a:r>
              <a:rPr lang="zh-CN" altLang="en-US" b="1" dirty="0"/>
              <a:t>然后在程序中直接包含这些头文件。</a:t>
            </a:r>
          </a:p>
          <a:p>
            <a:pPr lvl="3" eaLnBrk="1" hangingPunct="1">
              <a:lnSpc>
                <a:spcPct val="90000"/>
              </a:lnSpc>
            </a:pPr>
            <a:r>
              <a:rPr lang="en-US" altLang="zh-CN" b="1" dirty="0"/>
              <a:t>#include&lt;math.h&gt;</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81</a:t>
            </a:fld>
            <a:endParaRPr lang="zh-CN" altLang="en-US" sz="1400" b="1" dirty="0"/>
          </a:p>
        </p:txBody>
      </p:sp>
      <p:sp>
        <p:nvSpPr>
          <p:cNvPr id="136196" name="Text Box 4"/>
          <p:cNvSpPr>
            <a:spLocks noGrp="1"/>
          </p:cNvSpPr>
          <p:nvPr>
            <p:ph idx="1"/>
          </p:nvPr>
        </p:nvSpPr>
        <p:spPr>
          <a:xfrm>
            <a:off x="395288" y="1319213"/>
            <a:ext cx="8062912" cy="4918075"/>
          </a:xfrm>
        </p:spPr>
        <p:txBody>
          <a:bodyPr vert="horz" wrap="square" lIns="92075" tIns="46038" rIns="92075" bIns="46038" anchor="t"/>
          <a:lstStyle/>
          <a:p>
            <a:pPr algn="just" eaLnBrk="1" hangingPunct="1">
              <a:lnSpc>
                <a:spcPct val="80000"/>
              </a:lnSpc>
              <a:buNone/>
            </a:pPr>
            <a:r>
              <a:rPr lang="zh-CN" altLang="en-US" sz="2400" b="1" dirty="0"/>
              <a:t>在Ｃ语言中，可以用以下几种方式调用函数：</a:t>
            </a:r>
          </a:p>
          <a:p>
            <a:pPr algn="just" eaLnBrk="1" hangingPunct="1">
              <a:lnSpc>
                <a:spcPct val="80000"/>
              </a:lnSpc>
              <a:buNone/>
            </a:pPr>
            <a:r>
              <a:rPr lang="zh-CN" altLang="en-US" sz="2400" b="1" dirty="0">
                <a:solidFill>
                  <a:srgbClr val="CC3300"/>
                </a:solidFill>
              </a:rPr>
              <a:t>对于有返回值的函数：</a:t>
            </a:r>
          </a:p>
          <a:p>
            <a:pPr algn="just" eaLnBrk="1" hangingPunct="1">
              <a:lnSpc>
                <a:spcPct val="80000"/>
              </a:lnSpc>
              <a:spcBef>
                <a:spcPct val="50000"/>
              </a:spcBef>
              <a:buNone/>
            </a:pPr>
            <a:r>
              <a:rPr lang="zh-CN" altLang="en-US" sz="2400" b="1" dirty="0"/>
              <a:t>（1）</a:t>
            </a:r>
            <a:r>
              <a:rPr lang="zh-CN" altLang="en-US" sz="2400" b="1" i="1" dirty="0">
                <a:solidFill>
                  <a:srgbClr val="003399"/>
                </a:solidFill>
              </a:rPr>
              <a:t>函数表达式</a:t>
            </a:r>
            <a:r>
              <a:rPr lang="zh-CN" altLang="en-US" sz="2400" b="1" dirty="0"/>
              <a:t>。函数作为表达式的一个操作数，出现在表达式中，此时先进行函数调用，然后函数返回值替代函数调用参与表达式运算。</a:t>
            </a:r>
          </a:p>
          <a:p>
            <a:pPr algn="just" eaLnBrk="1" hangingPunct="1">
              <a:lnSpc>
                <a:spcPct val="80000"/>
              </a:lnSpc>
              <a:spcBef>
                <a:spcPct val="50000"/>
              </a:spcBef>
              <a:buNone/>
            </a:pPr>
            <a:r>
              <a:rPr lang="zh-CN" altLang="en-US" sz="2400" b="1" dirty="0"/>
              <a:t>     如：</a:t>
            </a:r>
            <a:r>
              <a:rPr lang="en-US" altLang="zh-CN" sz="2400" b="1" dirty="0"/>
              <a:t>i = 2*</a:t>
            </a:r>
            <a:r>
              <a:rPr lang="en-US" altLang="zh-CN" sz="2400" b="1" dirty="0">
                <a:solidFill>
                  <a:srgbClr val="990099"/>
                </a:solidFill>
              </a:rPr>
              <a:t>max(x, y)</a:t>
            </a:r>
            <a:r>
              <a:rPr lang="en-US" altLang="zh-CN" sz="2400" b="1" dirty="0"/>
              <a:t>;   if (</a:t>
            </a:r>
            <a:r>
              <a:rPr lang="en-US" altLang="zh-CN" sz="2400" b="1" dirty="0">
                <a:solidFill>
                  <a:srgbClr val="990099"/>
                </a:solidFill>
              </a:rPr>
              <a:t>isPrim(n)</a:t>
            </a:r>
            <a:r>
              <a:rPr lang="en-US" altLang="zh-CN" sz="2400" b="1" dirty="0"/>
              <a:t>)</a:t>
            </a:r>
            <a:r>
              <a:rPr lang="en-US" altLang="zh-CN" sz="2400" b="1" dirty="0">
                <a:latin typeface="宋体" panose="02010600030101010101" pitchFamily="2" charset="-122"/>
              </a:rPr>
              <a:t>…</a:t>
            </a:r>
            <a:endParaRPr lang="zh-CN" altLang="en-US" sz="2400" b="1" dirty="0"/>
          </a:p>
          <a:p>
            <a:pPr algn="just" eaLnBrk="1" hangingPunct="1">
              <a:lnSpc>
                <a:spcPct val="80000"/>
              </a:lnSpc>
              <a:spcBef>
                <a:spcPct val="50000"/>
              </a:spcBef>
              <a:buNone/>
            </a:pPr>
            <a:r>
              <a:rPr lang="zh-CN" altLang="en-US" sz="2400" b="1" dirty="0"/>
              <a:t>（2）</a:t>
            </a:r>
            <a:r>
              <a:rPr lang="zh-CN" altLang="en-US" sz="2400" b="1" i="1" dirty="0">
                <a:solidFill>
                  <a:srgbClr val="003399"/>
                </a:solidFill>
              </a:rPr>
              <a:t>函数实参</a:t>
            </a:r>
            <a:r>
              <a:rPr lang="zh-CN" altLang="en-US" sz="2400" b="1" dirty="0"/>
              <a:t>。函数作为另一个函数调用的实际参数。这种情况是把该函数的返回值作为实参进行传送。如： </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the large number is %d</a:t>
            </a:r>
            <a:r>
              <a:rPr lang="en-US" altLang="zh-CN" sz="2400" b="1" dirty="0">
                <a:latin typeface="宋体" panose="02010600030101010101" pitchFamily="2" charset="-122"/>
              </a:rPr>
              <a:t>"</a:t>
            </a:r>
            <a:r>
              <a:rPr lang="zh-CN" altLang="en-US" sz="2400" b="1" dirty="0"/>
              <a:t>, </a:t>
            </a:r>
            <a:r>
              <a:rPr lang="en-US" altLang="zh-CN" sz="2400" b="1" dirty="0">
                <a:solidFill>
                  <a:srgbClr val="990099"/>
                </a:solidFill>
              </a:rPr>
              <a:t>max(x, y)</a:t>
            </a:r>
            <a:r>
              <a:rPr lang="en-US" altLang="zh-CN" sz="2400" b="1" dirty="0"/>
              <a:t>);</a:t>
            </a:r>
          </a:p>
          <a:p>
            <a:pPr algn="just" eaLnBrk="1" hangingPunct="1">
              <a:lnSpc>
                <a:spcPct val="80000"/>
              </a:lnSpc>
              <a:spcBef>
                <a:spcPct val="50000"/>
              </a:spcBef>
              <a:buNone/>
            </a:pPr>
            <a:r>
              <a:rPr lang="zh-CN" altLang="en-US" sz="2400" b="1" dirty="0">
                <a:solidFill>
                  <a:srgbClr val="CC3300"/>
                </a:solidFill>
              </a:rPr>
              <a:t>对于无返回值或者不需要使用返回值的函数：</a:t>
            </a:r>
          </a:p>
          <a:p>
            <a:pPr algn="just" eaLnBrk="1" hangingPunct="1">
              <a:lnSpc>
                <a:spcPct val="80000"/>
              </a:lnSpc>
              <a:spcBef>
                <a:spcPct val="50000"/>
              </a:spcBef>
              <a:buNone/>
            </a:pPr>
            <a:r>
              <a:rPr lang="zh-CN" altLang="en-US" sz="2400" b="1" dirty="0"/>
              <a:t>（3</a:t>
            </a:r>
            <a:r>
              <a:rPr lang="zh-CN" altLang="en-US" sz="2400" b="1" i="1" dirty="0"/>
              <a:t>）</a:t>
            </a:r>
            <a:r>
              <a:rPr lang="zh-CN" altLang="en-US" sz="2400" b="1" i="1" dirty="0">
                <a:solidFill>
                  <a:srgbClr val="003399"/>
                </a:solidFill>
              </a:rPr>
              <a:t>函数语句</a:t>
            </a:r>
            <a:r>
              <a:rPr lang="zh-CN" altLang="en-US" sz="2400" b="1" dirty="0"/>
              <a:t>。</a:t>
            </a:r>
            <a:r>
              <a:rPr lang="en-US" altLang="zh-CN" sz="2400" b="1" dirty="0"/>
              <a:t>C</a:t>
            </a:r>
            <a:r>
              <a:rPr lang="zh-CN" altLang="en-US" sz="2400" b="1" dirty="0"/>
              <a:t>语言中的函数可以只进行某些操作而不返回函数值，这时的函数调用可作为一条独立的语句。如：</a:t>
            </a:r>
            <a:r>
              <a:rPr lang="en-US" altLang="zh-CN" sz="2400" b="1" dirty="0" err="1"/>
              <a:t>printf</a:t>
            </a:r>
            <a:r>
              <a:rPr lang="en-US" altLang="zh-CN" sz="2400" b="1" dirty="0"/>
              <a:t>（</a:t>
            </a:r>
            <a:r>
              <a:rPr lang="en-US" altLang="zh-CN" sz="2400" b="1" dirty="0">
                <a:latin typeface="宋体" panose="02010600030101010101" pitchFamily="2" charset="-122"/>
              </a:rPr>
              <a:t>"</a:t>
            </a:r>
            <a:r>
              <a:rPr lang="en-US" altLang="zh-CN" sz="2400" b="1" dirty="0"/>
              <a:t>hello\n</a:t>
            </a:r>
            <a:r>
              <a:rPr lang="en-US" altLang="zh-CN" sz="2400" b="1" dirty="0">
                <a:latin typeface="宋体" panose="02010600030101010101" pitchFamily="2" charset="-122"/>
              </a:rPr>
              <a:t>"</a:t>
            </a:r>
            <a:r>
              <a:rPr lang="en-US" altLang="zh-CN" sz="2400" b="1" dirty="0"/>
              <a:t>）;</a:t>
            </a:r>
          </a:p>
          <a:p>
            <a:pPr eaLnBrk="1" hangingPunct="1">
              <a:lnSpc>
                <a:spcPct val="80000"/>
              </a:lnSpc>
              <a:spcBef>
                <a:spcPct val="50000"/>
              </a:spcBef>
              <a:buNone/>
            </a:pPr>
            <a:endParaRPr lang="zh-CN" altLang="en-US" sz="2400" b="1" dirty="0"/>
          </a:p>
        </p:txBody>
      </p:sp>
      <p:sp>
        <p:nvSpPr>
          <p:cNvPr id="40964" name="Rectangle 2"/>
          <p:cNvSpPr>
            <a:spLocks noGrp="1"/>
          </p:cNvSpPr>
          <p:nvPr>
            <p:ph type="title"/>
          </p:nvPr>
        </p:nvSpPr>
        <p:spPr>
          <a:xfrm>
            <a:off x="1371600" y="404813"/>
            <a:ext cx="7772400" cy="720725"/>
          </a:xfrm>
        </p:spPr>
        <p:txBody>
          <a:bodyPr vert="horz" wrap="square" lIns="91440" tIns="45720" rIns="91440" bIns="45720" anchor="ctr"/>
          <a:lstStyle/>
          <a:p>
            <a:pPr eaLnBrk="1" hangingPunct="1"/>
            <a:r>
              <a:rPr lang="en-US" altLang="zh-CN" b="1" dirty="0"/>
              <a:t>5.4.3    </a:t>
            </a:r>
            <a:r>
              <a:rPr lang="zh-CN" altLang="en-US" b="1" dirty="0"/>
              <a:t>函数的调用</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36196">
                                            <p:txEl>
                                              <p:pRg st="1" end="1"/>
                                            </p:txEl>
                                          </p:spTgt>
                                        </p:tgtEl>
                                        <p:attrNameLst>
                                          <p:attrName>style.visibility</p:attrName>
                                        </p:attrNameLst>
                                      </p:cBhvr>
                                      <p:to>
                                        <p:strVal val="visible"/>
                                      </p:to>
                                    </p:set>
                                    <p:animEffect transition="in" filter="dissolve">
                                      <p:cBhvr>
                                        <p:cTn id="7" dur="500"/>
                                        <p:tgtEl>
                                          <p:spTgt spid="13619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6196">
                                            <p:txEl>
                                              <p:pRg st="5" end="5"/>
                                            </p:txEl>
                                          </p:spTgt>
                                        </p:tgtEl>
                                        <p:attrNameLst>
                                          <p:attrName>style.visibility</p:attrName>
                                        </p:attrNameLst>
                                      </p:cBhvr>
                                      <p:to>
                                        <p:strVal val="visible"/>
                                      </p:to>
                                    </p:set>
                                    <p:animEffect transition="in" filter="dissolve">
                                      <p:cBhvr>
                                        <p:cTn id="12" dur="500"/>
                                        <p:tgtEl>
                                          <p:spTgt spid="136196">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6196">
                                            <p:txEl>
                                              <p:pRg st="2" end="2"/>
                                            </p:txEl>
                                          </p:spTgt>
                                        </p:tgtEl>
                                        <p:attrNameLst>
                                          <p:attrName>style.visibility</p:attrName>
                                        </p:attrNameLst>
                                      </p:cBhvr>
                                      <p:to>
                                        <p:strVal val="visible"/>
                                      </p:to>
                                    </p:set>
                                    <p:animEffect transition="in" filter="dissolve">
                                      <p:cBhvr>
                                        <p:cTn id="17" dur="500"/>
                                        <p:tgtEl>
                                          <p:spTgt spid="13619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6196">
                                            <p:txEl>
                                              <p:pRg st="3" end="3"/>
                                            </p:txEl>
                                          </p:spTgt>
                                        </p:tgtEl>
                                        <p:attrNameLst>
                                          <p:attrName>style.visibility</p:attrName>
                                        </p:attrNameLst>
                                      </p:cBhvr>
                                      <p:to>
                                        <p:strVal val="visible"/>
                                      </p:to>
                                    </p:set>
                                    <p:animEffect transition="in" filter="dissolve">
                                      <p:cBhvr>
                                        <p:cTn id="22" dur="500"/>
                                        <p:tgtEl>
                                          <p:spTgt spid="13619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36196">
                                            <p:txEl>
                                              <p:pRg st="4" end="4"/>
                                            </p:txEl>
                                          </p:spTgt>
                                        </p:tgtEl>
                                        <p:attrNameLst>
                                          <p:attrName>style.visibility</p:attrName>
                                        </p:attrNameLst>
                                      </p:cBhvr>
                                      <p:to>
                                        <p:strVal val="visible"/>
                                      </p:to>
                                    </p:set>
                                    <p:animEffect transition="in" filter="dissolve">
                                      <p:cBhvr>
                                        <p:cTn id="27" dur="500"/>
                                        <p:tgtEl>
                                          <p:spTgt spid="136196">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136196">
                                            <p:txEl>
                                              <p:pRg st="6" end="6"/>
                                            </p:txEl>
                                          </p:spTgt>
                                        </p:tgtEl>
                                        <p:attrNameLst>
                                          <p:attrName>style.visibility</p:attrName>
                                        </p:attrNameLst>
                                      </p:cBhvr>
                                      <p:to>
                                        <p:strVal val="visible"/>
                                      </p:to>
                                    </p:set>
                                    <p:animEffect transition="in" filter="dissolve">
                                      <p:cBhvr>
                                        <p:cTn id="32" dur="500"/>
                                        <p:tgtEl>
                                          <p:spTgt spid="13619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82</a:t>
            </a:fld>
            <a:endParaRPr lang="zh-CN" altLang="en-US" sz="1400" b="1" dirty="0"/>
          </a:p>
        </p:txBody>
      </p:sp>
      <p:sp>
        <p:nvSpPr>
          <p:cNvPr id="52227" name="Rectangle 2"/>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a:t>
            </a:r>
          </a:p>
        </p:txBody>
      </p:sp>
      <p:sp>
        <p:nvSpPr>
          <p:cNvPr id="52228" name="Text Box 4"/>
          <p:cNvSpPr>
            <a:spLocks noGrp="1"/>
          </p:cNvSpPr>
          <p:nvPr>
            <p:ph type="body" sz="half" idx="1"/>
          </p:nvPr>
        </p:nvSpPr>
        <p:spPr>
          <a:xfrm>
            <a:off x="685800" y="1319213"/>
            <a:ext cx="7847013" cy="4611687"/>
          </a:xfrm>
        </p:spPr>
        <p:txBody>
          <a:bodyPr vert="horz" wrap="square" lIns="91440" tIns="45720" rIns="91440" bIns="45720" anchor="t"/>
          <a:lstStyle/>
          <a:p>
            <a:pPr eaLnBrk="1" hangingPunct="1">
              <a:lnSpc>
                <a:spcPct val="90000"/>
              </a:lnSpc>
            </a:pPr>
            <a:r>
              <a:rPr lang="zh-CN" altLang="en-US" b="1" dirty="0"/>
              <a:t>如何确保能够逐层返回到上一级调用？</a:t>
            </a:r>
          </a:p>
          <a:p>
            <a:pPr lvl="1" eaLnBrk="1" hangingPunct="1">
              <a:lnSpc>
                <a:spcPct val="90000"/>
              </a:lnSpc>
            </a:pPr>
            <a:r>
              <a:rPr lang="zh-CN" altLang="en-US" b="1" dirty="0"/>
              <a:t>要想正确地返回，必须知道返回地址。如何获取返回地址？   </a:t>
            </a:r>
          </a:p>
          <a:p>
            <a:pPr eaLnBrk="1" hangingPunct="1">
              <a:lnSpc>
                <a:spcPct val="90000"/>
              </a:lnSpc>
            </a:pPr>
            <a:r>
              <a:rPr lang="zh-CN" altLang="en-US" b="1" dirty="0"/>
              <a:t>为何不同的函数可以使用同名的参数和变量？                    </a:t>
            </a:r>
          </a:p>
          <a:p>
            <a:pPr eaLnBrk="1" hangingPunct="1"/>
            <a:r>
              <a:rPr lang="zh-CN" altLang="en-US" b="1" dirty="0"/>
              <a:t>进一步剖析函数的调用过程。</a:t>
            </a:r>
          </a:p>
          <a:p>
            <a:pPr algn="just" eaLnBrk="1" hangingPunct="1">
              <a:lnSpc>
                <a:spcPct val="90000"/>
              </a:lnSpc>
              <a:spcBef>
                <a:spcPct val="50000"/>
              </a:spcBef>
              <a:buFont typeface="Wingdings" panose="05000000000000000000" pitchFamily="2" charset="2"/>
              <a:buNone/>
            </a:pPr>
            <a:endParaRPr lang="zh-CN" altLang="en-US" b="1" dirty="0"/>
          </a:p>
        </p:txBody>
      </p:sp>
      <p:graphicFrame>
        <p:nvGraphicFramePr>
          <p:cNvPr id="52229" name="Object 5"/>
          <p:cNvGraphicFramePr>
            <a:graphicFrameLocks noGrp="1" noChangeAspect="1"/>
          </p:cNvGraphicFramePr>
          <p:nvPr>
            <p:ph sz="half" idx="2"/>
          </p:nvPr>
        </p:nvGraphicFramePr>
        <p:xfrm>
          <a:off x="2987675" y="3429000"/>
          <a:ext cx="5040313" cy="2836863"/>
        </p:xfrm>
        <a:graphic>
          <a:graphicData uri="http://schemas.openxmlformats.org/presentationml/2006/ole">
            <mc:AlternateContent xmlns:mc="http://schemas.openxmlformats.org/markup-compatibility/2006">
              <mc:Choice xmlns:v="urn:schemas-microsoft-com:vml" Requires="v">
                <p:oleObj r:id="rId2" imgW="4639945" imgH="2618740" progId="Visio.Drawing.11">
                  <p:embed/>
                </p:oleObj>
              </mc:Choice>
              <mc:Fallback>
                <p:oleObj r:id="rId2" imgW="4639945" imgH="2618740" progId="Visio.Drawing.11">
                  <p:embed/>
                  <p:pic>
                    <p:nvPicPr>
                      <p:cNvPr id="52229" name="Object 5"/>
                      <p:cNvPicPr/>
                      <p:nvPr/>
                    </p:nvPicPr>
                    <p:blipFill>
                      <a:blip r:embed="rId3"/>
                      <a:srcRect/>
                      <a:stretch>
                        <a:fillRect/>
                      </a:stretch>
                    </p:blipFill>
                    <p:spPr>
                      <a:xfrm>
                        <a:off x="2987675" y="3429000"/>
                        <a:ext cx="5040313" cy="2836863"/>
                      </a:xfrm>
                      <a:prstGeom prst="rect">
                        <a:avLst/>
                      </a:prstGeom>
                      <a:noFill/>
                      <a:ln w="38100">
                        <a:miter/>
                      </a:ln>
                    </p:spPr>
                  </p:pic>
                </p:oleObj>
              </mc:Fallback>
            </mc:AlternateContent>
          </a:graphicData>
        </a:graphic>
      </p:graphicFrame>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83</a:t>
            </a:fld>
            <a:endParaRPr lang="zh-CN" altLang="en-US" sz="1400" b="1" dirty="0"/>
          </a:p>
        </p:txBody>
      </p:sp>
      <p:sp>
        <p:nvSpPr>
          <p:cNvPr id="55299" name="Rectangle 3"/>
          <p:cNvSpPr>
            <a:spLocks noGrp="1"/>
          </p:cNvSpPr>
          <p:nvPr>
            <p:ph type="body" sz="half" idx="1"/>
          </p:nvPr>
        </p:nvSpPr>
        <p:spPr>
          <a:xfrm>
            <a:off x="685800" y="1319213"/>
            <a:ext cx="7631113" cy="4611687"/>
          </a:xfrm>
        </p:spPr>
        <p:txBody>
          <a:bodyPr vert="horz" wrap="square" lIns="91440" tIns="45720" rIns="91440" bIns="45720" anchor="t"/>
          <a:lstStyle/>
          <a:p>
            <a:pPr eaLnBrk="1" hangingPunct="1"/>
            <a:r>
              <a:rPr lang="zh-CN" altLang="en-US" b="1" dirty="0">
                <a:solidFill>
                  <a:srgbClr val="CC3300"/>
                </a:solidFill>
              </a:rPr>
              <a:t>栈区</a:t>
            </a:r>
          </a:p>
          <a:p>
            <a:pPr eaLnBrk="1" hangingPunct="1"/>
            <a:r>
              <a:rPr lang="zh-CN" altLang="en-US" b="1" dirty="0"/>
              <a:t>一片存放用户数据的内存空间；一端</a:t>
            </a:r>
            <a:r>
              <a:rPr lang="en-US" altLang="zh-CN" b="1" dirty="0">
                <a:latin typeface="宋体" panose="02010600030101010101" pitchFamily="2" charset="-122"/>
              </a:rPr>
              <a:t>"</a:t>
            </a:r>
            <a:r>
              <a:rPr lang="zh-CN" altLang="en-US" b="1" dirty="0"/>
              <a:t>封</a:t>
            </a:r>
            <a:r>
              <a:rPr lang="en-US" altLang="zh-CN" b="1" dirty="0">
                <a:latin typeface="宋体" panose="02010600030101010101" pitchFamily="2" charset="-122"/>
              </a:rPr>
              <a:t>"</a:t>
            </a:r>
            <a:r>
              <a:rPr lang="zh-CN" altLang="en-US" b="1" dirty="0"/>
              <a:t>了口（栈底），一端</a:t>
            </a:r>
            <a:r>
              <a:rPr lang="en-US" altLang="zh-CN" b="1" dirty="0">
                <a:latin typeface="宋体" panose="02010600030101010101" pitchFamily="2" charset="-122"/>
              </a:rPr>
              <a:t>"</a:t>
            </a:r>
            <a:r>
              <a:rPr lang="zh-CN" altLang="en-US" b="1" dirty="0"/>
              <a:t>开</a:t>
            </a:r>
            <a:r>
              <a:rPr lang="en-US" altLang="zh-CN" b="1" dirty="0">
                <a:latin typeface="宋体" panose="02010600030101010101" pitchFamily="2" charset="-122"/>
              </a:rPr>
              <a:t>"</a:t>
            </a:r>
            <a:r>
              <a:rPr lang="zh-CN" altLang="en-US" b="1" dirty="0"/>
              <a:t>着口</a:t>
            </a:r>
            <a:r>
              <a:rPr lang="en-US" altLang="zh-CN" b="1" dirty="0"/>
              <a:t>(</a:t>
            </a:r>
            <a:r>
              <a:rPr lang="zh-CN" altLang="en-US" b="1" dirty="0"/>
              <a:t>栈顶</a:t>
            </a:r>
            <a:r>
              <a:rPr lang="en-US" altLang="zh-CN" b="1" dirty="0"/>
              <a:t>)</a:t>
            </a:r>
            <a:r>
              <a:rPr lang="zh-CN" altLang="en-US" b="1" dirty="0"/>
              <a:t>；</a:t>
            </a:r>
          </a:p>
          <a:p>
            <a:pPr eaLnBrk="1" hangingPunct="1"/>
            <a:r>
              <a:rPr lang="zh-CN" altLang="en-US" b="1" dirty="0">
                <a:solidFill>
                  <a:schemeClr val="accent2"/>
                </a:solidFill>
              </a:rPr>
              <a:t>保存数据</a:t>
            </a:r>
            <a:r>
              <a:rPr lang="zh-CN" altLang="en-US" b="1" dirty="0"/>
              <a:t>：数据只能从顶部（</a:t>
            </a:r>
            <a:r>
              <a:rPr lang="zh-CN" altLang="en-US" b="1" dirty="0">
                <a:solidFill>
                  <a:srgbClr val="FF6600"/>
                </a:solidFill>
              </a:rPr>
              <a:t>栈顶</a:t>
            </a:r>
            <a:r>
              <a:rPr lang="zh-CN" altLang="en-US" b="1" dirty="0"/>
              <a:t>）进入；</a:t>
            </a:r>
          </a:p>
          <a:p>
            <a:pPr eaLnBrk="1" hangingPunct="1"/>
            <a:r>
              <a:rPr lang="zh-CN" altLang="en-US" b="1" dirty="0">
                <a:solidFill>
                  <a:schemeClr val="accent2"/>
                </a:solidFill>
              </a:rPr>
              <a:t>取数据</a:t>
            </a:r>
            <a:r>
              <a:rPr lang="zh-CN" altLang="en-US" b="1" dirty="0"/>
              <a:t>：栈顶的数据先被取出，</a:t>
            </a:r>
            <a:r>
              <a:rPr lang="zh-CN" altLang="en-US" b="1" dirty="0">
                <a:solidFill>
                  <a:srgbClr val="FF6600"/>
                </a:solidFill>
              </a:rPr>
              <a:t>栈底</a:t>
            </a:r>
            <a:r>
              <a:rPr lang="zh-CN" altLang="en-US" b="1" dirty="0"/>
              <a:t>的数据最后被取出。即数据是</a:t>
            </a:r>
            <a:r>
              <a:rPr lang="en-US" altLang="zh-CN" b="1" dirty="0">
                <a:latin typeface="宋体" panose="02010600030101010101" pitchFamily="2" charset="-122"/>
              </a:rPr>
              <a:t>"</a:t>
            </a:r>
            <a:r>
              <a:rPr lang="zh-CN" altLang="en-US" b="1" dirty="0">
                <a:solidFill>
                  <a:srgbClr val="FF6600"/>
                </a:solidFill>
              </a:rPr>
              <a:t>先进后出</a:t>
            </a:r>
            <a:r>
              <a:rPr lang="en-US" altLang="zh-CN" b="1" dirty="0">
                <a:latin typeface="宋体" panose="02010600030101010101" pitchFamily="2" charset="-122"/>
              </a:rPr>
              <a:t>"</a:t>
            </a:r>
            <a:r>
              <a:rPr lang="zh-CN" altLang="en-US" b="1" dirty="0"/>
              <a:t>。数据的进入和退出均在栈顶进行。</a:t>
            </a:r>
          </a:p>
          <a:p>
            <a:pPr eaLnBrk="1" hangingPunct="1"/>
            <a:r>
              <a:rPr lang="zh-CN" altLang="en-US" b="1" dirty="0">
                <a:solidFill>
                  <a:schemeClr val="accent2"/>
                </a:solidFill>
              </a:rPr>
              <a:t>读数据</a:t>
            </a:r>
            <a:r>
              <a:rPr lang="zh-CN" altLang="en-US" b="1" dirty="0"/>
              <a:t>：只能读取</a:t>
            </a:r>
          </a:p>
          <a:p>
            <a:pPr eaLnBrk="1" hangingPunct="1">
              <a:buNone/>
            </a:pPr>
            <a:r>
              <a:rPr lang="zh-CN" altLang="en-US" b="1" dirty="0"/>
              <a:t>                  栈顶的数据</a:t>
            </a:r>
          </a:p>
          <a:p>
            <a:pPr eaLnBrk="1" hangingPunct="1"/>
            <a:endParaRPr lang="zh-CN" altLang="en-US" b="1" dirty="0"/>
          </a:p>
        </p:txBody>
      </p:sp>
      <p:graphicFrame>
        <p:nvGraphicFramePr>
          <p:cNvPr id="55300" name="Object 4"/>
          <p:cNvGraphicFramePr>
            <a:graphicFrameLocks noGrp="1" noChangeAspect="1"/>
          </p:cNvGraphicFramePr>
          <p:nvPr>
            <p:ph sz="half" idx="2"/>
          </p:nvPr>
        </p:nvGraphicFramePr>
        <p:xfrm>
          <a:off x="5292725" y="3971925"/>
          <a:ext cx="2663825" cy="2552700"/>
        </p:xfrm>
        <a:graphic>
          <a:graphicData uri="http://schemas.openxmlformats.org/presentationml/2006/ole">
            <mc:AlternateContent xmlns:mc="http://schemas.openxmlformats.org/markup-compatibility/2006">
              <mc:Choice xmlns:v="urn:schemas-microsoft-com:vml" Requires="v">
                <p:oleObj r:id="rId2" imgW="2766060" imgH="2653030" progId="Visio.Drawing.11">
                  <p:embed/>
                </p:oleObj>
              </mc:Choice>
              <mc:Fallback>
                <p:oleObj r:id="rId2" imgW="2766060" imgH="2653030" progId="Visio.Drawing.11">
                  <p:embed/>
                  <p:pic>
                    <p:nvPicPr>
                      <p:cNvPr id="55300" name="Object 4"/>
                      <p:cNvPicPr/>
                      <p:nvPr/>
                    </p:nvPicPr>
                    <p:blipFill>
                      <a:blip r:embed="rId3"/>
                      <a:srcRect/>
                      <a:stretch>
                        <a:fillRect/>
                      </a:stretch>
                    </p:blipFill>
                    <p:spPr>
                      <a:xfrm>
                        <a:off x="5292725" y="3971925"/>
                        <a:ext cx="2663825" cy="2552700"/>
                      </a:xfrm>
                      <a:prstGeom prst="rect">
                        <a:avLst/>
                      </a:prstGeom>
                      <a:noFill/>
                      <a:ln w="38100">
                        <a:miter/>
                      </a:ln>
                    </p:spPr>
                  </p:pic>
                </p:oleObj>
              </mc:Fallback>
            </mc:AlternateContent>
          </a:graphicData>
        </a:graphic>
      </p:graphicFrame>
      <p:sp>
        <p:nvSpPr>
          <p:cNvPr id="55301" name="Rectangle 7"/>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函数的调用－栈区简介</a:t>
            </a:r>
          </a:p>
        </p:txBody>
      </p:sp>
      <p:sp>
        <p:nvSpPr>
          <p:cNvPr id="55302" name="Rectangle 9"/>
          <p:cNvSpPr/>
          <p:nvPr/>
        </p:nvSpPr>
        <p:spPr>
          <a:xfrm>
            <a:off x="7092950" y="4581525"/>
            <a:ext cx="1079500" cy="719138"/>
          </a:xfrm>
          <a:prstGeom prst="rect">
            <a:avLst/>
          </a:prstGeom>
          <a:solidFill>
            <a:schemeClr val="bg1"/>
          </a:solidFill>
          <a:ln w="9525">
            <a:noFill/>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5303" name="Line 10"/>
          <p:cNvSpPr/>
          <p:nvPr/>
        </p:nvSpPr>
        <p:spPr>
          <a:xfrm>
            <a:off x="6011863" y="4330700"/>
            <a:ext cx="288925" cy="288925"/>
          </a:xfrm>
          <a:prstGeom prst="line">
            <a:avLst/>
          </a:prstGeom>
          <a:ln w="28575" cap="flat" cmpd="sng">
            <a:solidFill>
              <a:schemeClr val="tx1"/>
            </a:solidFill>
            <a:prstDash val="solid"/>
            <a:headEnd type="none" w="med" len="med"/>
            <a:tailEnd type="triangle" w="med" len="med"/>
          </a:ln>
        </p:spPr>
      </p:sp>
      <p:sp>
        <p:nvSpPr>
          <p:cNvPr id="55304" name="Line 11"/>
          <p:cNvSpPr/>
          <p:nvPr/>
        </p:nvSpPr>
        <p:spPr>
          <a:xfrm flipV="1">
            <a:off x="6804025" y="4546600"/>
            <a:ext cx="73025" cy="433388"/>
          </a:xfrm>
          <a:prstGeom prst="line">
            <a:avLst/>
          </a:prstGeom>
          <a:ln w="28575" cap="flat" cmpd="sng">
            <a:solidFill>
              <a:schemeClr val="tx1"/>
            </a:solidFill>
            <a:prstDash val="solid"/>
            <a:headEnd type="none" w="med" len="med"/>
            <a:tailEnd type="triangle" w="med" len="med"/>
          </a:ln>
        </p:spPr>
      </p:sp>
      <p:sp>
        <p:nvSpPr>
          <p:cNvPr id="55305" name="Text Box 12"/>
          <p:cNvSpPr txBox="1"/>
          <p:nvPr/>
        </p:nvSpPr>
        <p:spPr>
          <a:xfrm>
            <a:off x="4716463" y="6092825"/>
            <a:ext cx="1008062" cy="366713"/>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栈底</a:t>
            </a:r>
          </a:p>
        </p:txBody>
      </p:sp>
      <p:sp>
        <p:nvSpPr>
          <p:cNvPr id="55306" name="Text Box 13"/>
          <p:cNvSpPr txBox="1"/>
          <p:nvPr/>
        </p:nvSpPr>
        <p:spPr>
          <a:xfrm>
            <a:off x="4716463" y="4868863"/>
            <a:ext cx="1008062" cy="366712"/>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algn="r" eaLnBrk="1" hangingPunct="1">
              <a:lnSpc>
                <a:spcPct val="90000"/>
              </a:lnSpc>
              <a:spcBef>
                <a:spcPct val="50000"/>
              </a:spcBef>
              <a:buNone/>
            </a:pPr>
            <a:r>
              <a:rPr lang="zh-CN" altLang="en-US" sz="2000" b="1" dirty="0"/>
              <a:t>栈顶</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4"/>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84</a:t>
            </a:fld>
            <a:endParaRPr lang="zh-CN" altLang="en-US" sz="1400" b="1" dirty="0"/>
          </a:p>
        </p:txBody>
      </p:sp>
      <p:sp>
        <p:nvSpPr>
          <p:cNvPr id="57347" name="Rectangle 4"/>
          <p:cNvSpPr>
            <a:spLocks noGrp="1"/>
          </p:cNvSpPr>
          <p:nvPr>
            <p:ph type="title"/>
          </p:nvPr>
        </p:nvSpPr>
        <p:spPr/>
        <p:txBody>
          <a:bodyPr vert="horz" wrap="square" lIns="91440" tIns="45720" rIns="91440" bIns="45720" anchor="ctr"/>
          <a:lstStyle/>
          <a:p>
            <a:pPr eaLnBrk="1" hangingPunct="1"/>
            <a:r>
              <a:rPr lang="zh-CN" altLang="en-US" b="1" dirty="0"/>
              <a:t>函数调用过程</a:t>
            </a:r>
            <a:r>
              <a:rPr lang="en-US" altLang="zh-CN" b="1" dirty="0"/>
              <a:t>-</a:t>
            </a:r>
            <a:r>
              <a:rPr lang="zh-CN" altLang="en-US" b="1" dirty="0"/>
              <a:t>开辟新的运行环境</a:t>
            </a:r>
          </a:p>
        </p:txBody>
      </p:sp>
      <p:graphicFrame>
        <p:nvGraphicFramePr>
          <p:cNvPr id="57348" name="Object 6"/>
          <p:cNvGraphicFramePr>
            <a:graphicFrameLocks noChangeAspect="1"/>
          </p:cNvGraphicFramePr>
          <p:nvPr/>
        </p:nvGraphicFramePr>
        <p:xfrm>
          <a:off x="5292725" y="981075"/>
          <a:ext cx="2619375" cy="5400675"/>
        </p:xfrm>
        <a:graphic>
          <a:graphicData uri="http://schemas.openxmlformats.org/presentationml/2006/ole">
            <mc:AlternateContent xmlns:mc="http://schemas.openxmlformats.org/markup-compatibility/2006">
              <mc:Choice xmlns:v="urn:schemas-microsoft-com:vml" Requires="v">
                <p:oleObj r:id="rId2" imgW="2099945" imgH="4323715" progId="Visio.Drawing.11">
                  <p:embed/>
                </p:oleObj>
              </mc:Choice>
              <mc:Fallback>
                <p:oleObj r:id="rId2" imgW="2099945" imgH="4323715" progId="Visio.Drawing.11">
                  <p:embed/>
                  <p:pic>
                    <p:nvPicPr>
                      <p:cNvPr id="57348" name="Object 6"/>
                      <p:cNvPicPr/>
                      <p:nvPr/>
                    </p:nvPicPr>
                    <p:blipFill>
                      <a:blip r:embed="rId3"/>
                      <a:stretch>
                        <a:fillRect/>
                      </a:stretch>
                    </p:blipFill>
                    <p:spPr>
                      <a:xfrm>
                        <a:off x="5292725" y="981075"/>
                        <a:ext cx="2619375" cy="5400675"/>
                      </a:xfrm>
                      <a:prstGeom prst="rect">
                        <a:avLst/>
                      </a:prstGeom>
                      <a:noFill/>
                      <a:ln w="38100">
                        <a:noFill/>
                        <a:miter/>
                      </a:ln>
                    </p:spPr>
                  </p:pic>
                </p:oleObj>
              </mc:Fallback>
            </mc:AlternateContent>
          </a:graphicData>
        </a:graphic>
      </p:graphicFrame>
      <p:sp>
        <p:nvSpPr>
          <p:cNvPr id="57349" name="Text Box 7"/>
          <p:cNvSpPr txBox="1"/>
          <p:nvPr/>
        </p:nvSpPr>
        <p:spPr>
          <a:xfrm>
            <a:off x="395288" y="1557338"/>
            <a:ext cx="4608512" cy="704850"/>
          </a:xfrm>
          <a:prstGeom prst="rect">
            <a:avLst/>
          </a:prstGeom>
          <a:solidFill>
            <a:srgbClr val="CCFFFF"/>
          </a:solidFill>
          <a:ln w="9525" cap="flat" cmpd="sng">
            <a:solidFill>
              <a:schemeClr val="accent1"/>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运行环境即指函数执行时需要的数据空间。需要哪些数据空间？</a:t>
            </a:r>
          </a:p>
        </p:txBody>
      </p:sp>
      <p:sp>
        <p:nvSpPr>
          <p:cNvPr id="857096" name="Text Box 8"/>
          <p:cNvSpPr txBox="1"/>
          <p:nvPr/>
        </p:nvSpPr>
        <p:spPr>
          <a:xfrm>
            <a:off x="395288" y="2492375"/>
            <a:ext cx="4681537" cy="3552825"/>
          </a:xfrm>
          <a:prstGeom prst="rect">
            <a:avLst/>
          </a:prstGeom>
          <a:solidFill>
            <a:srgbClr val="CCFFFF"/>
          </a:solidFill>
          <a:ln w="9525" cap="flat" cmpd="sng">
            <a:solidFill>
              <a:srgbClr val="008000"/>
            </a:solidFill>
            <a:prstDash val="solid"/>
            <a:miter/>
            <a:headEnd type="none" w="med" len="med"/>
            <a:tailEnd type="none" w="med" len="med"/>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buNone/>
            </a:pPr>
            <a:r>
              <a:rPr lang="zh-CN" altLang="en-US" sz="2200" b="1" dirty="0"/>
              <a:t>函数执行时需要的数据空间</a:t>
            </a:r>
          </a:p>
          <a:p>
            <a:pPr marL="342900" lvl="0" indent="-342900" eaLnBrk="1" hangingPunct="1">
              <a:lnSpc>
                <a:spcPct val="90000"/>
              </a:lnSpc>
              <a:buNone/>
            </a:pPr>
            <a:r>
              <a:rPr lang="en-US" altLang="zh-CN" sz="2200" b="1" dirty="0"/>
              <a:t>     1. </a:t>
            </a:r>
            <a:r>
              <a:rPr lang="zh-CN" altLang="en-US" sz="2200" b="1" dirty="0"/>
              <a:t>生存期在本次函数执行过程中的</a:t>
            </a:r>
            <a:r>
              <a:rPr lang="zh-CN" altLang="en-US" sz="2200" b="1" dirty="0">
                <a:solidFill>
                  <a:schemeClr val="accent2"/>
                </a:solidFill>
              </a:rPr>
              <a:t>数据对象</a:t>
            </a:r>
            <a:r>
              <a:rPr lang="zh-CN" altLang="en-US" sz="2200" b="1" dirty="0"/>
              <a:t>，如</a:t>
            </a:r>
            <a:r>
              <a:rPr lang="zh-CN" altLang="en-US" sz="2200" b="1" dirty="0">
                <a:solidFill>
                  <a:schemeClr val="accent2"/>
                </a:solidFill>
              </a:rPr>
              <a:t>形参、局部变量</a:t>
            </a:r>
            <a:r>
              <a:rPr lang="zh-CN" altLang="en-US" sz="2200" b="1" dirty="0"/>
              <a:t>等；</a:t>
            </a:r>
          </a:p>
          <a:p>
            <a:pPr marL="342900" lvl="0" indent="-342900" eaLnBrk="1" hangingPunct="1">
              <a:lnSpc>
                <a:spcPct val="90000"/>
              </a:lnSpc>
              <a:buNone/>
            </a:pPr>
            <a:r>
              <a:rPr lang="en-US" altLang="zh-CN" sz="2200" b="1" dirty="0"/>
              <a:t>     2.</a:t>
            </a:r>
            <a:r>
              <a:rPr lang="zh-CN" altLang="en-US" sz="2200" b="1" dirty="0"/>
              <a:t>用以</a:t>
            </a:r>
            <a:r>
              <a:rPr lang="zh-CN" altLang="en-US" sz="2200" b="1" dirty="0">
                <a:solidFill>
                  <a:schemeClr val="accent2"/>
                </a:solidFill>
              </a:rPr>
              <a:t>管理函数调用过程</a:t>
            </a:r>
            <a:r>
              <a:rPr lang="zh-CN" altLang="en-US" sz="2200" b="1" dirty="0"/>
              <a:t>的信息。当函数</a:t>
            </a:r>
            <a:r>
              <a:rPr lang="en-US" altLang="zh-CN" sz="2200" b="1" dirty="0"/>
              <a:t>A</a:t>
            </a:r>
            <a:r>
              <a:rPr lang="zh-CN" altLang="en-US" sz="2200" b="1" dirty="0"/>
              <a:t>调用函数函数</a:t>
            </a:r>
            <a:r>
              <a:rPr lang="en-US" altLang="zh-CN" sz="2200" b="1" dirty="0"/>
              <a:t>B</a:t>
            </a:r>
            <a:r>
              <a:rPr lang="zh-CN" altLang="en-US" sz="2200" b="1" dirty="0"/>
              <a:t>时，函数</a:t>
            </a:r>
            <a:r>
              <a:rPr lang="en-US" altLang="zh-CN" sz="2200" b="1" dirty="0"/>
              <a:t>A</a:t>
            </a:r>
            <a:r>
              <a:rPr lang="zh-CN" altLang="en-US" sz="2200" b="1" dirty="0"/>
              <a:t>的运行被中断，</a:t>
            </a:r>
            <a:r>
              <a:rPr lang="zh-CN" altLang="en-US" sz="2200" b="1" dirty="0">
                <a:solidFill>
                  <a:schemeClr val="accent2"/>
                </a:solidFill>
              </a:rPr>
              <a:t>当前机器的状态信息</a:t>
            </a:r>
            <a:r>
              <a:rPr lang="zh-CN" altLang="en-US" sz="2200" b="1" dirty="0"/>
              <a:t>，如</a:t>
            </a:r>
            <a:r>
              <a:rPr lang="zh-CN" altLang="en-US" sz="2200" b="1" dirty="0">
                <a:solidFill>
                  <a:srgbClr val="FF3300"/>
                </a:solidFill>
              </a:rPr>
              <a:t>程序计数器</a:t>
            </a:r>
            <a:r>
              <a:rPr lang="zh-CN" altLang="en-US" sz="2200" b="1" dirty="0"/>
              <a:t>（返回地址）、</a:t>
            </a:r>
            <a:r>
              <a:rPr lang="zh-CN" altLang="en-US" sz="2200" b="1" dirty="0">
                <a:solidFill>
                  <a:srgbClr val="FF3300"/>
                </a:solidFill>
              </a:rPr>
              <a:t>寄存器</a:t>
            </a:r>
            <a:r>
              <a:rPr lang="zh-CN" altLang="en-US" sz="2200" b="1" dirty="0"/>
              <a:t>的值等都必须保存，以便调用结束后，能准确返回到函数</a:t>
            </a:r>
            <a:r>
              <a:rPr lang="en-US" altLang="zh-CN" sz="2200" b="1" dirty="0"/>
              <a:t>A</a:t>
            </a:r>
            <a:r>
              <a:rPr lang="zh-CN" altLang="en-US" sz="2200" b="1" dirty="0"/>
              <a:t>并继续正确执行。</a:t>
            </a:r>
          </a:p>
        </p:txBody>
      </p:sp>
      <p:sp>
        <p:nvSpPr>
          <p:cNvPr id="57351" name="AutoShape 9"/>
          <p:cNvSpPr/>
          <p:nvPr/>
        </p:nvSpPr>
        <p:spPr>
          <a:xfrm>
            <a:off x="7883525" y="1700213"/>
            <a:ext cx="433388" cy="3816350"/>
          </a:xfrm>
          <a:prstGeom prst="rightBracket">
            <a:avLst>
              <a:gd name="adj" fmla="val 73382"/>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7352" name="AutoShape 10"/>
          <p:cNvSpPr/>
          <p:nvPr/>
        </p:nvSpPr>
        <p:spPr>
          <a:xfrm>
            <a:off x="7667625" y="2420938"/>
            <a:ext cx="217488" cy="2376487"/>
          </a:xfrm>
          <a:prstGeom prst="rightBracket">
            <a:avLst>
              <a:gd name="adj" fmla="val 91058"/>
            </a:avLst>
          </a:prstGeom>
          <a:noFill/>
          <a:ln w="28575" cap="flat" cmpd="sng">
            <a:solidFill>
              <a:schemeClr val="accent2"/>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7353" name="Rectangle 11"/>
          <p:cNvSpPr/>
          <p:nvPr/>
        </p:nvSpPr>
        <p:spPr>
          <a:xfrm>
            <a:off x="5508625" y="1527175"/>
            <a:ext cx="2159000" cy="358775"/>
          </a:xfrm>
          <a:prstGeom prst="rect">
            <a:avLst/>
          </a:prstGeom>
          <a:noFill/>
          <a:ln w="28575"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857096"/>
                                        </p:tgtEl>
                                        <p:attrNameLst>
                                          <p:attrName>style.visibility</p:attrName>
                                        </p:attrNameLst>
                                      </p:cBhvr>
                                      <p:to>
                                        <p:strVal val="visible"/>
                                      </p:to>
                                    </p:set>
                                    <p:animEffect transition="in" filter="diamond(in)">
                                      <p:cBhvr>
                                        <p:cTn id="7" dur="500"/>
                                        <p:tgtEl>
                                          <p:spTgt spid="8570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709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txBox="1">
            <a:spLocks noGrp="1"/>
          </p:cNvSpPr>
          <p:nvPr>
            <p:ph type="sldNum" sz="quarter" idx="11"/>
          </p:nvPr>
        </p:nvSpPr>
        <p:spPr/>
        <p:txBody>
          <a:bodyPr/>
          <a:lstStyle/>
          <a:p>
            <a:pPr marL="0" indent="0" algn="r" eaLnBrk="1" hangingPunct="1">
              <a:spcBef>
                <a:spcPct val="50000"/>
              </a:spcBef>
              <a:buNone/>
            </a:pPr>
            <a:fld id="{9A0DB2DC-4C9A-4742-B13C-FB6460FD3503}" type="slidenum">
              <a:rPr lang="zh-CN" altLang="en-US" sz="1400" b="1" dirty="0"/>
              <a:t>85</a:t>
            </a:fld>
            <a:endParaRPr lang="zh-CN" altLang="en-US" sz="1400" b="1" dirty="0"/>
          </a:p>
        </p:txBody>
      </p:sp>
      <p:sp>
        <p:nvSpPr>
          <p:cNvPr id="58371" name="Rectangle 5"/>
          <p:cNvSpPr>
            <a:spLocks noGrp="1"/>
          </p:cNvSpPr>
          <p:nvPr>
            <p:ph type="title"/>
          </p:nvPr>
        </p:nvSpPr>
        <p:spPr/>
        <p:txBody>
          <a:bodyPr vert="horz" wrap="square" lIns="91440" tIns="45720" rIns="91440" bIns="45720" anchor="ctr"/>
          <a:lstStyle/>
          <a:p>
            <a:pPr eaLnBrk="1" hangingPunct="1"/>
            <a:r>
              <a:rPr lang="en-US" altLang="zh-CN" b="1" dirty="0"/>
              <a:t>5.4.3    </a:t>
            </a:r>
            <a:r>
              <a:rPr lang="zh-CN" altLang="en-US" b="1" dirty="0"/>
              <a:t>函数调用过程</a:t>
            </a:r>
            <a:r>
              <a:rPr lang="en-US" altLang="zh-CN" b="1" dirty="0"/>
              <a:t>-</a:t>
            </a:r>
            <a:r>
              <a:rPr lang="zh-CN" altLang="en-US" b="1" dirty="0"/>
              <a:t>开辟新的运行环境</a:t>
            </a:r>
            <a:endParaRPr lang="en-US" altLang="zh-CN" b="1" dirty="0"/>
          </a:p>
        </p:txBody>
      </p:sp>
      <p:sp>
        <p:nvSpPr>
          <p:cNvPr id="58372" name="Rectangle 3"/>
          <p:cNvSpPr>
            <a:spLocks noGrp="1"/>
          </p:cNvSpPr>
          <p:nvPr>
            <p:ph type="body" sz="half" idx="1"/>
          </p:nvPr>
        </p:nvSpPr>
        <p:spPr>
          <a:xfrm>
            <a:off x="685800" y="1319213"/>
            <a:ext cx="8207375" cy="1462087"/>
          </a:xfrm>
        </p:spPr>
        <p:txBody>
          <a:bodyPr vert="horz" wrap="square" lIns="91440" tIns="45720" rIns="91440" bIns="45720" anchor="t"/>
          <a:lstStyle/>
          <a:p>
            <a:pPr eaLnBrk="1" hangingPunct="1">
              <a:lnSpc>
                <a:spcPct val="90000"/>
              </a:lnSpc>
            </a:pPr>
            <a:r>
              <a:rPr lang="zh-CN" altLang="en-US" sz="2400" b="1" dirty="0"/>
              <a:t>为方便，引入一个术语：</a:t>
            </a:r>
            <a:r>
              <a:rPr lang="en-US" altLang="zh-CN" sz="2400" b="1" dirty="0">
                <a:latin typeface="宋体" panose="02010600030101010101" pitchFamily="2" charset="-122"/>
              </a:rPr>
              <a:t>"</a:t>
            </a:r>
            <a:r>
              <a:rPr lang="zh-CN" altLang="en-US" sz="2400" b="1" dirty="0">
                <a:solidFill>
                  <a:srgbClr val="FF6600"/>
                </a:solidFill>
              </a:rPr>
              <a:t>函数的活动记录</a:t>
            </a:r>
            <a:r>
              <a:rPr lang="en-US" altLang="zh-CN" sz="2400" b="1" dirty="0">
                <a:latin typeface="宋体" panose="02010600030101010101" pitchFamily="2" charset="-122"/>
              </a:rPr>
              <a:t>"</a:t>
            </a:r>
            <a:r>
              <a:rPr lang="zh-CN" altLang="en-US" sz="2400" b="1" dirty="0"/>
              <a:t>。函数的活动记录是一段在</a:t>
            </a:r>
            <a:r>
              <a:rPr lang="zh-CN" altLang="en-US" sz="2400" b="1" dirty="0">
                <a:solidFill>
                  <a:schemeClr val="accent2"/>
                </a:solidFill>
              </a:rPr>
              <a:t>栈区</a:t>
            </a:r>
            <a:r>
              <a:rPr lang="zh-CN" altLang="en-US" sz="2400" b="1" dirty="0"/>
              <a:t>分配的连续的内存存储区，用以存放函数一次执行所需的数据。</a:t>
            </a:r>
          </a:p>
          <a:p>
            <a:pPr eaLnBrk="1" hangingPunct="1">
              <a:lnSpc>
                <a:spcPct val="90000"/>
              </a:lnSpc>
            </a:pPr>
            <a:r>
              <a:rPr lang="zh-CN" altLang="en-US" sz="2400" b="1" dirty="0"/>
              <a:t>开辟新的运行环境即指在</a:t>
            </a:r>
            <a:r>
              <a:rPr lang="zh-CN" altLang="en-US" sz="2400" b="1" dirty="0">
                <a:solidFill>
                  <a:schemeClr val="accent2"/>
                </a:solidFill>
              </a:rPr>
              <a:t>栈区的栈顶</a:t>
            </a:r>
            <a:r>
              <a:rPr lang="zh-CN" altLang="en-US" sz="2400" b="1" dirty="0"/>
              <a:t>创建一个函数活动记录。释放本函数的运行环境即指从栈顶将活动记录释放。</a:t>
            </a:r>
          </a:p>
        </p:txBody>
      </p:sp>
      <p:graphicFrame>
        <p:nvGraphicFramePr>
          <p:cNvPr id="58373" name="Object 4"/>
          <p:cNvGraphicFramePr>
            <a:graphicFrameLocks noGrp="1" noChangeAspect="1"/>
          </p:cNvGraphicFramePr>
          <p:nvPr>
            <p:ph sz="half" idx="2"/>
          </p:nvPr>
        </p:nvGraphicFramePr>
        <p:xfrm>
          <a:off x="4500563" y="2852738"/>
          <a:ext cx="3240087" cy="3041650"/>
        </p:xfrm>
        <a:graphic>
          <a:graphicData uri="http://schemas.openxmlformats.org/presentationml/2006/ole">
            <mc:AlternateContent xmlns:mc="http://schemas.openxmlformats.org/markup-compatibility/2006">
              <mc:Choice xmlns:v="urn:schemas-microsoft-com:vml" Requires="v">
                <p:oleObj r:id="rId2" imgW="2483485" imgH="2731770" progId="Visio.Drawing.11">
                  <p:embed/>
                </p:oleObj>
              </mc:Choice>
              <mc:Fallback>
                <p:oleObj r:id="rId2" imgW="2483485" imgH="2731770" progId="Visio.Drawing.11">
                  <p:embed/>
                  <p:pic>
                    <p:nvPicPr>
                      <p:cNvPr id="58373" name="Object 4"/>
                      <p:cNvPicPr/>
                      <p:nvPr/>
                    </p:nvPicPr>
                    <p:blipFill>
                      <a:blip r:embed="rId3"/>
                      <a:srcRect/>
                      <a:stretch>
                        <a:fillRect/>
                      </a:stretch>
                    </p:blipFill>
                    <p:spPr>
                      <a:xfrm>
                        <a:off x="4500563" y="2852738"/>
                        <a:ext cx="3240087" cy="3041650"/>
                      </a:xfrm>
                      <a:prstGeom prst="rect">
                        <a:avLst/>
                      </a:prstGeom>
                      <a:noFill/>
                      <a:ln w="38100">
                        <a:miter/>
                      </a:ln>
                    </p:spPr>
                  </p:pic>
                </p:oleObj>
              </mc:Fallback>
            </mc:AlternateContent>
          </a:graphicData>
        </a:graphic>
      </p:graphicFrame>
      <p:sp>
        <p:nvSpPr>
          <p:cNvPr id="58374" name="AutoShape 8"/>
          <p:cNvSpPr/>
          <p:nvPr/>
        </p:nvSpPr>
        <p:spPr>
          <a:xfrm>
            <a:off x="4573588" y="3373438"/>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5" name="Text Box 9"/>
          <p:cNvSpPr txBox="1"/>
          <p:nvPr/>
        </p:nvSpPr>
        <p:spPr>
          <a:xfrm>
            <a:off x="2557463" y="3524250"/>
            <a:ext cx="2087562" cy="641350"/>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被调用函数中的数据</a:t>
            </a:r>
          </a:p>
        </p:txBody>
      </p:sp>
      <p:sp>
        <p:nvSpPr>
          <p:cNvPr id="58376" name="AutoShape 10"/>
          <p:cNvSpPr/>
          <p:nvPr/>
        </p:nvSpPr>
        <p:spPr>
          <a:xfrm>
            <a:off x="4573588" y="4410075"/>
            <a:ext cx="142875" cy="936625"/>
          </a:xfrm>
          <a:prstGeom prst="leftBrace">
            <a:avLst>
              <a:gd name="adj1" fmla="val 54629"/>
              <a:gd name="adj2" fmla="val 50000"/>
            </a:avLst>
          </a:prstGeom>
          <a:noFill/>
          <a:ln w="28575" cap="flat" cmpd="sng">
            <a:solidFill>
              <a:srgbClr val="FF3300"/>
            </a:solidFill>
            <a:prstDash val="solid"/>
            <a:headEnd type="none" w="med" len="med"/>
            <a:tailEnd type="none" w="med" len="med"/>
          </a:ln>
        </p:spPr>
        <p:txBody>
          <a:bodyPr wrap="none" anchor="ct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0" lvl="0" indent="0" eaLnBrk="1" hangingPunct="1">
              <a:lnSpc>
                <a:spcPct val="90000"/>
              </a:lnSpc>
              <a:buNone/>
            </a:pPr>
            <a:endParaRPr lang="zh-CN" altLang="en-US" sz="2200" b="1" dirty="0"/>
          </a:p>
        </p:txBody>
      </p:sp>
      <p:sp>
        <p:nvSpPr>
          <p:cNvPr id="58377" name="Text Box 11"/>
          <p:cNvSpPr txBox="1"/>
          <p:nvPr/>
        </p:nvSpPr>
        <p:spPr>
          <a:xfrm>
            <a:off x="2555875" y="4430713"/>
            <a:ext cx="2087563" cy="915987"/>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kumimoji="1" sz="2800" b="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SzPct val="65000"/>
              <a:buFont typeface="Wingdings" panose="05000000000000000000" pitchFamily="2" charset="2"/>
              <a:buChar char="n"/>
              <a:defRPr kumimoji="1" sz="2800">
                <a:solidFill>
                  <a:schemeClr val="tx1"/>
                </a:solidFill>
                <a:latin typeface="+mn-lt"/>
                <a:ea typeface="+mn-ea"/>
              </a:defRPr>
            </a:lvl3pPr>
            <a:lvl4pPr marL="1600200" indent="-228600" algn="l" rtl="0" eaLnBrk="0" fontAlgn="base" hangingPunct="0">
              <a:spcBef>
                <a:spcPct val="20000"/>
              </a:spcBef>
              <a:spcAft>
                <a:spcPct val="0"/>
              </a:spcAft>
              <a:buChar char="–"/>
              <a:defRPr kumimoji="1" sz="2800">
                <a:solidFill>
                  <a:schemeClr val="tx1"/>
                </a:solidFill>
                <a:latin typeface="+mn-lt"/>
                <a:ea typeface="+mn-ea"/>
              </a:defRPr>
            </a:lvl4pPr>
            <a:lvl5pPr marL="2057400" indent="-228600" algn="l" rtl="0" eaLnBrk="0" fontAlgn="base" hangingPunct="0">
              <a:spcBef>
                <a:spcPct val="20000"/>
              </a:spcBef>
              <a:spcAft>
                <a:spcPct val="0"/>
              </a:spcAft>
              <a:buChar char="»"/>
              <a:defRPr kumimoji="1" sz="2800">
                <a:solidFill>
                  <a:schemeClr val="tx1"/>
                </a:solidFill>
                <a:latin typeface="+mn-lt"/>
                <a:ea typeface="+mn-ea"/>
              </a:defRPr>
            </a:lvl5pPr>
          </a:lstStyle>
          <a:p>
            <a:pPr marL="342900" lvl="0" indent="-342900" eaLnBrk="1" hangingPunct="1">
              <a:lnSpc>
                <a:spcPct val="90000"/>
              </a:lnSpc>
              <a:spcBef>
                <a:spcPct val="50000"/>
              </a:spcBef>
              <a:buNone/>
            </a:pPr>
            <a:r>
              <a:rPr lang="zh-CN" altLang="en-US" sz="2000" b="1" dirty="0"/>
              <a:t>    现场信息，用于调用结束能正确返回</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灯片编号占位符 4"/>
          <p:cNvSpPr txBox="1">
            <a:spLocks noGrp="1"/>
          </p:cNvSpPr>
          <p:nvPr/>
        </p:nvSpPr>
        <p:spPr>
          <a:xfrm>
            <a:off x="6934200" y="6324600"/>
            <a:ext cx="1905000" cy="457200"/>
          </a:xfrm>
          <a:prstGeom prst="rect">
            <a:avLst/>
          </a:prstGeom>
          <a:noFill/>
          <a:ln w="9525">
            <a:noFill/>
          </a:ln>
        </p:spPr>
        <p:txBody>
          <a:bodyPr anchor="t"/>
          <a:lstStyle/>
          <a:p>
            <a:pPr algn="r">
              <a:spcBef>
                <a:spcPct val="50000"/>
              </a:spcBef>
            </a:pPr>
            <a:fld id="{9A0DB2DC-4C9A-4742-B13C-FB6460FD3503}" type="slidenum">
              <a:rPr lang="zh-CN" altLang="en-US" sz="1400" b="1" dirty="0">
                <a:latin typeface="Times New Roman" panose="02020603050405020304" pitchFamily="18" charset="0"/>
              </a:rPr>
              <a:t>86</a:t>
            </a:fld>
            <a:endParaRPr lang="zh-CN" altLang="en-US" sz="1400" b="1" dirty="0">
              <a:latin typeface="Times New Roman" panose="02020603050405020304" pitchFamily="18" charset="0"/>
            </a:endParaRPr>
          </a:p>
        </p:txBody>
      </p:sp>
      <p:sp>
        <p:nvSpPr>
          <p:cNvPr id="2" name="标题 1">
            <a:extLst>
              <a:ext uri="{FF2B5EF4-FFF2-40B4-BE49-F238E27FC236}">
                <a16:creationId xmlns:a16="http://schemas.microsoft.com/office/drawing/2014/main" id="{D52D5958-43BA-487E-9D6C-B5A062361A4D}"/>
              </a:ext>
            </a:extLst>
          </p:cNvPr>
          <p:cNvSpPr>
            <a:spLocks noGrp="1"/>
          </p:cNvSpPr>
          <p:nvPr>
            <p:ph type="title"/>
          </p:nvPr>
        </p:nvSpPr>
        <p:spPr/>
        <p:txBody>
          <a:bodyPr/>
          <a:lstStyle/>
          <a:p>
            <a:endParaRPr lang="zh-CN" altLang="en-US"/>
          </a:p>
        </p:txBody>
      </p:sp>
      <p:graphicFrame>
        <p:nvGraphicFramePr>
          <p:cNvPr id="87042" name="Object 4"/>
          <p:cNvGraphicFramePr>
            <a:graphicFrameLocks noGrp="1" noChangeAspect="1"/>
          </p:cNvGraphicFramePr>
          <p:nvPr>
            <p:ph idx="1"/>
            <p:extLst>
              <p:ext uri="{D42A27DB-BD31-4B8C-83A1-F6EECF244321}">
                <p14:modId xmlns:p14="http://schemas.microsoft.com/office/powerpoint/2010/main" val="3284665671"/>
              </p:ext>
            </p:extLst>
          </p:nvPr>
        </p:nvGraphicFramePr>
        <p:xfrm>
          <a:off x="3897603" y="2996952"/>
          <a:ext cx="1239547" cy="1154361"/>
        </p:xfrm>
        <a:graphic>
          <a:graphicData uri="http://schemas.openxmlformats.org/presentationml/2006/ole">
            <mc:AlternateContent xmlns:mc="http://schemas.openxmlformats.org/markup-compatibility/2006">
              <mc:Choice xmlns:v="urn:schemas-microsoft-com:vml" Requires="v">
                <p:oleObj r:id="rId2" imgW="1132205" imgH="1054100" progId="">
                  <p:embed/>
                </p:oleObj>
              </mc:Choice>
              <mc:Fallback>
                <p:oleObj r:id="rId2" imgW="1132205" imgH="1054100" progId="">
                  <p:embed/>
                  <p:pic>
                    <p:nvPicPr>
                      <p:cNvPr id="0" name="图片 3076"/>
                      <p:cNvPicPr/>
                      <p:nvPr/>
                    </p:nvPicPr>
                    <p:blipFill>
                      <a:blip r:embed="rId3"/>
                      <a:stretch>
                        <a:fillRect/>
                      </a:stretch>
                    </p:blipFill>
                    <p:spPr>
                      <a:xfrm>
                        <a:off x="3897603" y="2996952"/>
                        <a:ext cx="1239547" cy="1154361"/>
                      </a:xfrm>
                      <a:prstGeom prst="rect">
                        <a:avLst/>
                      </a:prstGeom>
                      <a:noFill/>
                      <a:ln w="38100">
                        <a:miter/>
                      </a:ln>
                    </p:spPr>
                  </p:pic>
                </p:oleObj>
              </mc:Fallback>
            </mc:AlternateContent>
          </a:graphicData>
        </a:graphic>
      </p:graphicFrame>
    </p:spTree>
  </p:cSld>
  <p:clrMapOvr>
    <a:masterClrMapping/>
  </p:clrMapOvr>
  <p:transition/>
</p:sld>
</file>

<file path=ppt/theme/theme1.xml><?xml version="1.0" encoding="utf-8"?>
<a:theme xmlns:a="http://schemas.openxmlformats.org/drawingml/2006/main" name="计算导论与程序设计">
  <a:themeElements>
    <a:clrScheme name="计算导论与程序设计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计算导论与程序设计">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outerShdw dist="17961" dir="13500000" algn="ctr" rotWithShape="0">
            <a:schemeClr val="tx1">
              <a:gamma/>
              <a:shade val="60000"/>
              <a:invGamma/>
            </a:schemeClr>
          </a:outer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outerShdw dist="17961" dir="13500000" algn="ctr" rotWithShape="0">
            <a:schemeClr val="tx1">
              <a:gamma/>
              <a:shade val="60000"/>
              <a:invGamma/>
            </a:schemeClr>
          </a:outerShdw>
        </a:effectLst>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altLang="zh-CN" sz="1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计算导论与程序设计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计算导论与程序设计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计算导论与程序设计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计算导论与程序设计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计算导论与程序设计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计算导论与程序设计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计算导论与程序设计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259</TotalTime>
  <Words>10227</Words>
  <Application>Microsoft Office PowerPoint</Application>
  <PresentationFormat>全屏显示(4:3)</PresentationFormat>
  <Paragraphs>808</Paragraphs>
  <Slides>86</Slides>
  <Notes>13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2</vt:i4>
      </vt:variant>
      <vt:variant>
        <vt:lpstr>幻灯片标题</vt:lpstr>
      </vt:variant>
      <vt:variant>
        <vt:i4>86</vt:i4>
      </vt:variant>
    </vt:vector>
  </HeadingPairs>
  <TitlesOfParts>
    <vt:vector size="101" baseType="lpstr">
      <vt:lpstr>Monotype Sorts</vt:lpstr>
      <vt:lpstr>黑体</vt:lpstr>
      <vt:lpstr>楷体_GB2312</vt:lpstr>
      <vt:lpstr>宋体</vt:lpstr>
      <vt:lpstr>微软雅黑</vt:lpstr>
      <vt:lpstr>Arial</vt:lpstr>
      <vt:lpstr>Arial</vt:lpstr>
      <vt:lpstr>Cambria Math</vt:lpstr>
      <vt:lpstr>Consolas</vt:lpstr>
      <vt:lpstr>Times New Roman</vt:lpstr>
      <vt:lpstr>Wingdings</vt:lpstr>
      <vt:lpstr>Wingdings 2</vt:lpstr>
      <vt:lpstr>计算导论与程序设计</vt:lpstr>
      <vt:lpstr>Bitmap Image</vt:lpstr>
      <vt:lpstr>Visio.Drawing.11</vt:lpstr>
      <vt:lpstr>计算导论与程序设计 概念回顾 </vt:lpstr>
      <vt:lpstr>什么是计算？</vt:lpstr>
      <vt:lpstr>巴贝奇分析机-计算机的定义</vt:lpstr>
      <vt:lpstr>冯.诺依曼机体系结构</vt:lpstr>
      <vt:lpstr>Von Neumann architecture</vt:lpstr>
      <vt:lpstr>数字化技术Digital Technology</vt:lpstr>
      <vt:lpstr>PowerPoint 演示文稿</vt:lpstr>
      <vt:lpstr>练习</vt:lpstr>
      <vt:lpstr>算法的作用</vt:lpstr>
      <vt:lpstr>1.1     什么是程序设计语言</vt:lpstr>
      <vt:lpstr>PowerPoint 演示文稿</vt:lpstr>
      <vt:lpstr>1.2     程序设计语言的演化－符号语言</vt:lpstr>
      <vt:lpstr>1.2     程序设计语言的演化－符号语言</vt:lpstr>
      <vt:lpstr>1.2     程序设计语言的演化－高级语言</vt:lpstr>
      <vt:lpstr>1.2     程序设计语言的演化</vt:lpstr>
      <vt:lpstr>1.2     程序设计语言的演化</vt:lpstr>
      <vt:lpstr>1.4 程序设计语言的分类</vt:lpstr>
      <vt:lpstr>1.4 程序设计语言的分类</vt:lpstr>
      <vt:lpstr>1.4 程序设计语言的分类</vt:lpstr>
      <vt:lpstr>1.4 程序设计语言的分类</vt:lpstr>
      <vt:lpstr>1.4 程序设计语言的分类</vt:lpstr>
      <vt:lpstr>1.4 程序设计语言的分类－函数型说明语言</vt:lpstr>
      <vt:lpstr>1.4 程序设计语言的分类－函数型说明语言</vt:lpstr>
      <vt:lpstr>1.4 程序设计语言的分类－说明性（逻辑）语言</vt:lpstr>
      <vt:lpstr>1.4 程序设计语言的分类－说明性（逻辑）语言</vt:lpstr>
      <vt:lpstr>1.4 程序设计语言的分类</vt:lpstr>
      <vt:lpstr>数据类型</vt:lpstr>
      <vt:lpstr>PowerPoint 演示文稿</vt:lpstr>
      <vt:lpstr>有限位的小数表示</vt:lpstr>
      <vt:lpstr>字符类型</vt:lpstr>
      <vt:lpstr>常量constant</vt:lpstr>
      <vt:lpstr>符号常量</vt:lpstr>
      <vt:lpstr>命名常量：被保护的变量</vt:lpstr>
      <vt:lpstr>数据类型小结</vt:lpstr>
      <vt:lpstr>有限位数的运算闭合性</vt:lpstr>
      <vt:lpstr>3.1 表达式</vt:lpstr>
      <vt:lpstr>3.1 表达式的递归定义</vt:lpstr>
      <vt:lpstr>PowerPoint 演示文稿</vt:lpstr>
      <vt:lpstr>PowerPoint 演示文稿</vt:lpstr>
      <vt:lpstr>关系表达式</vt:lpstr>
      <vt:lpstr>使用大括号构造复合语句</vt:lpstr>
      <vt:lpstr>逻辑运算符</vt:lpstr>
      <vt:lpstr>3.2 语句</vt:lpstr>
      <vt:lpstr>3.2 语句</vt:lpstr>
      <vt:lpstr>3.2 语句</vt:lpstr>
      <vt:lpstr>3.2 语句</vt:lpstr>
      <vt:lpstr>控制语句</vt:lpstr>
      <vt:lpstr>3.2 语句</vt:lpstr>
      <vt:lpstr>如何使完成的程序重复执行呢？</vt:lpstr>
      <vt:lpstr>算法</vt:lpstr>
      <vt:lpstr>算法的属性</vt:lpstr>
      <vt:lpstr>4.6 迭代算法</vt:lpstr>
      <vt:lpstr>穷举算法思路:暴力搜索</vt:lpstr>
      <vt:lpstr>伪代码表示的算法结构</vt:lpstr>
      <vt:lpstr>伪代码的语句</vt:lpstr>
      <vt:lpstr>结构化程序设计思想</vt:lpstr>
      <vt:lpstr>程序的结构描述－流程图</vt:lpstr>
      <vt:lpstr>PowerPoint 演示文稿</vt:lpstr>
      <vt:lpstr>程序的结构描述－N-S流程图</vt:lpstr>
      <vt:lpstr>三种基本控制结构</vt:lpstr>
      <vt:lpstr>5.3    子程序概念与设计</vt:lpstr>
      <vt:lpstr>5.3    子程序概念与设计</vt:lpstr>
      <vt:lpstr>5.3    子程序概念与设计</vt:lpstr>
      <vt:lpstr>5.4.2    函数的定义</vt:lpstr>
      <vt:lpstr>5.4.2    函数的定义</vt:lpstr>
      <vt:lpstr>5.4.2    函数的定义</vt:lpstr>
      <vt:lpstr>5.4.2    函数的定义</vt:lpstr>
      <vt:lpstr>5.4.2    函数的定义</vt:lpstr>
      <vt:lpstr>5.4.2    函数的定义</vt:lpstr>
      <vt:lpstr>5.4.3    函数的调用</vt:lpstr>
      <vt:lpstr>5.4.3    函数的调用</vt:lpstr>
      <vt:lpstr>5.4.3    函数的调用</vt:lpstr>
      <vt:lpstr>5.4.3    函数的调用</vt:lpstr>
      <vt:lpstr>5.4.4    函数的原型</vt:lpstr>
      <vt:lpstr>5.4.4    函数的原型</vt:lpstr>
      <vt:lpstr>PowerPoint 演示文稿</vt:lpstr>
      <vt:lpstr>5.4.4    函数的原型</vt:lpstr>
      <vt:lpstr>5.4.4    函数的原型</vt:lpstr>
      <vt:lpstr>5.4.4    函数的原型</vt:lpstr>
      <vt:lpstr>5.5    头文件</vt:lpstr>
      <vt:lpstr>5.4.3    函数的调用</vt:lpstr>
      <vt:lpstr>5.4.3    函数的调用</vt:lpstr>
      <vt:lpstr>5.4.3    函数的调用－栈区简介</vt:lpstr>
      <vt:lpstr>函数调用过程-开辟新的运行环境</vt:lpstr>
      <vt:lpstr>5.4.3    函数调用过程-开辟新的运行环境</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snail smile</cp:lastModifiedBy>
  <cp:revision>98</cp:revision>
  <dcterms:created xsi:type="dcterms:W3CDTF">2017-09-22T04:39:00Z</dcterms:created>
  <dcterms:modified xsi:type="dcterms:W3CDTF">2025-11-20T02:57:54Z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