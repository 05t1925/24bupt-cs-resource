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6"/>
  </p:notesMasterIdLst>
  <p:sldIdLst>
    <p:sldId id="256" r:id="rId2"/>
    <p:sldId id="1623" r:id="rId3"/>
    <p:sldId id="1024" r:id="rId4"/>
    <p:sldId id="299" r:id="rId5"/>
    <p:sldId id="1306" r:id="rId6"/>
    <p:sldId id="1296" r:id="rId7"/>
    <p:sldId id="1563" r:id="rId8"/>
    <p:sldId id="1566" r:id="rId9"/>
    <p:sldId id="1697" r:id="rId10"/>
    <p:sldId id="1400" r:id="rId11"/>
    <p:sldId id="1404" r:id="rId12"/>
    <p:sldId id="1405" r:id="rId13"/>
    <p:sldId id="1406" r:id="rId14"/>
    <p:sldId id="1401" r:id="rId15"/>
    <p:sldId id="399" r:id="rId16"/>
    <p:sldId id="407" r:id="rId17"/>
    <p:sldId id="410" r:id="rId18"/>
    <p:sldId id="520" r:id="rId19"/>
    <p:sldId id="508" r:id="rId20"/>
    <p:sldId id="965" r:id="rId21"/>
    <p:sldId id="967" r:id="rId22"/>
    <p:sldId id="1698" r:id="rId23"/>
    <p:sldId id="1699" r:id="rId24"/>
    <p:sldId id="1700" r:id="rId25"/>
    <p:sldId id="348" r:id="rId26"/>
    <p:sldId id="1701" r:id="rId27"/>
    <p:sldId id="277" r:id="rId28"/>
    <p:sldId id="1702" r:id="rId29"/>
    <p:sldId id="1991" r:id="rId30"/>
    <p:sldId id="558" r:id="rId31"/>
    <p:sldId id="722" r:id="rId32"/>
    <p:sldId id="723" r:id="rId33"/>
    <p:sldId id="726" r:id="rId34"/>
    <p:sldId id="729" r:id="rId35"/>
    <p:sldId id="731" r:id="rId36"/>
    <p:sldId id="539" r:id="rId37"/>
    <p:sldId id="1176" r:id="rId38"/>
    <p:sldId id="964" r:id="rId39"/>
    <p:sldId id="443" r:id="rId40"/>
    <p:sldId id="989" r:id="rId41"/>
    <p:sldId id="1001" r:id="rId42"/>
    <p:sldId id="1074" r:id="rId43"/>
    <p:sldId id="1177" r:id="rId44"/>
    <p:sldId id="454" r:id="rId45"/>
    <p:sldId id="1695" r:id="rId46"/>
    <p:sldId id="659" r:id="rId47"/>
    <p:sldId id="630" r:id="rId48"/>
    <p:sldId id="1992" r:id="rId49"/>
    <p:sldId id="483" r:id="rId50"/>
    <p:sldId id="631" r:id="rId51"/>
    <p:sldId id="575" r:id="rId52"/>
    <p:sldId id="513" r:id="rId53"/>
    <p:sldId id="518" r:id="rId54"/>
    <p:sldId id="468" r:id="rId55"/>
    <p:sldId id="523" r:id="rId56"/>
    <p:sldId id="470" r:id="rId57"/>
    <p:sldId id="472" r:id="rId58"/>
    <p:sldId id="684" r:id="rId59"/>
    <p:sldId id="504" r:id="rId60"/>
    <p:sldId id="297" r:id="rId61"/>
    <p:sldId id="1261" r:id="rId62"/>
    <p:sldId id="1256" r:id="rId63"/>
    <p:sldId id="1083" r:id="rId64"/>
    <p:sldId id="289" r:id="rId65"/>
    <p:sldId id="432" r:id="rId66"/>
    <p:sldId id="352" r:id="rId67"/>
    <p:sldId id="292" r:id="rId68"/>
    <p:sldId id="747" r:id="rId69"/>
    <p:sldId id="758" r:id="rId70"/>
    <p:sldId id="304" r:id="rId71"/>
    <p:sldId id="261" r:id="rId72"/>
    <p:sldId id="488" r:id="rId73"/>
    <p:sldId id="440" r:id="rId74"/>
    <p:sldId id="413" r:id="rId75"/>
    <p:sldId id="296" r:id="rId76"/>
    <p:sldId id="417" r:id="rId77"/>
    <p:sldId id="268" r:id="rId78"/>
    <p:sldId id="336" r:id="rId79"/>
    <p:sldId id="346" r:id="rId80"/>
    <p:sldId id="894" r:id="rId81"/>
    <p:sldId id="1028" r:id="rId82"/>
    <p:sldId id="968" r:id="rId83"/>
    <p:sldId id="337" r:id="rId84"/>
    <p:sldId id="281" r:id="rId85"/>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521415D9-36F7-43E2-AB2F-B90AF26B5E84}">
      <p14:sectionLst xmlns:p14="http://schemas.microsoft.com/office/powerpoint/2010/main">
        <p14:section name="默认节" id="{D7AA1EB6-6947-42F3-A64D-C67115BDDB08}">
          <p14:sldIdLst>
            <p14:sldId id="256"/>
          </p14:sldIdLst>
        </p14:section>
        <p14:section name="计算机组成原理" id="{F9E6C465-A81D-4834-810D-E3D3F8B09307}">
          <p14:sldIdLst>
            <p14:sldId id="1623"/>
            <p14:sldId id="1024"/>
            <p14:sldId id="299"/>
            <p14:sldId id="1306"/>
            <p14:sldId id="1296"/>
            <p14:sldId id="1563"/>
            <p14:sldId id="1566"/>
            <p14:sldId id="1697"/>
            <p14:sldId id="1400"/>
            <p14:sldId id="1404"/>
            <p14:sldId id="1405"/>
            <p14:sldId id="1406"/>
            <p14:sldId id="1401"/>
          </p14:sldIdLst>
        </p14:section>
        <p14:section name="软件系统" id="{770DECAB-0D5C-49E0-A96D-13FDAE3BE308}">
          <p14:sldIdLst>
            <p14:sldId id="399"/>
            <p14:sldId id="407"/>
            <p14:sldId id="410"/>
            <p14:sldId id="520"/>
            <p14:sldId id="508"/>
            <p14:sldId id="965"/>
            <p14:sldId id="967"/>
          </p14:sldIdLst>
        </p14:section>
        <p14:section name="算法" id="{365E2605-2FCD-419E-AAF1-DF425C2387D5}">
          <p14:sldIdLst>
            <p14:sldId id="1698"/>
            <p14:sldId id="1699"/>
            <p14:sldId id="1700"/>
            <p14:sldId id="348"/>
            <p14:sldId id="1701"/>
            <p14:sldId id="277"/>
            <p14:sldId id="1702"/>
            <p14:sldId id="1991"/>
          </p14:sldIdLst>
        </p14:section>
        <p14:section name="编程语言" id="{9CE3A880-B67C-460A-ACFA-A129B9A2091C}">
          <p14:sldIdLst>
            <p14:sldId id="558"/>
            <p14:sldId id="722"/>
            <p14:sldId id="723"/>
            <p14:sldId id="726"/>
            <p14:sldId id="729"/>
            <p14:sldId id="731"/>
            <p14:sldId id="539"/>
          </p14:sldIdLst>
        </p14:section>
        <p14:section name="编程语言的要素" id="{D92326CE-BFA7-41BA-BBA6-1F2D7AF0078E}">
          <p14:sldIdLst>
            <p14:sldId id="1176"/>
            <p14:sldId id="964"/>
            <p14:sldId id="443"/>
            <p14:sldId id="989"/>
            <p14:sldId id="1001"/>
            <p14:sldId id="1074"/>
            <p14:sldId id="1177"/>
            <p14:sldId id="454"/>
            <p14:sldId id="1695"/>
            <p14:sldId id="659"/>
            <p14:sldId id="630"/>
            <p14:sldId id="1992"/>
            <p14:sldId id="483"/>
            <p14:sldId id="631"/>
            <p14:sldId id="575"/>
            <p14:sldId id="513"/>
            <p14:sldId id="518"/>
            <p14:sldId id="468"/>
            <p14:sldId id="523"/>
            <p14:sldId id="470"/>
            <p14:sldId id="472"/>
            <p14:sldId id="684"/>
            <p14:sldId id="504"/>
          </p14:sldIdLst>
        </p14:section>
        <p14:section name="结构化程序设计" id="{673B79D6-68DD-4366-B117-6367E7C4392E}">
          <p14:sldIdLst>
            <p14:sldId id="297"/>
            <p14:sldId id="1261"/>
            <p14:sldId id="1256"/>
            <p14:sldId id="1083"/>
            <p14:sldId id="289"/>
            <p14:sldId id="432"/>
            <p14:sldId id="352"/>
            <p14:sldId id="292"/>
            <p14:sldId id="747"/>
            <p14:sldId id="758"/>
            <p14:sldId id="304"/>
            <p14:sldId id="261"/>
            <p14:sldId id="488"/>
            <p14:sldId id="440"/>
            <p14:sldId id="413"/>
          </p14:sldIdLst>
        </p14:section>
        <p14:section name="数组" id="{8044CBFB-C792-4A20-A3FB-56F123D2CD08}">
          <p14:sldIdLst>
            <p14:sldId id="296"/>
            <p14:sldId id="417"/>
            <p14:sldId id="268"/>
            <p14:sldId id="336"/>
            <p14:sldId id="346"/>
            <p14:sldId id="894"/>
            <p14:sldId id="1028"/>
            <p14:sldId id="968"/>
            <p14:sldId id="337"/>
            <p14:sldId id="281"/>
          </p14:sldIdLst>
        </p14:section>
      </p14:sectionLst>
    </p:ext>
    <p:ext uri="{EFAFB233-063F-42B5-8137-9DF3F51BA10A}">
      <p15:sldGuideLst xmlns:p15="http://schemas.microsoft.com/office/powerpoint/2012/main">
        <p15:guide id="1" orient="horz" pos="2191">
          <p15:clr>
            <a:srgbClr val="A4A3A4"/>
          </p15:clr>
        </p15:guide>
        <p15:guide id="2" pos="288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FF00"/>
    <a:srgbClr val="660033"/>
    <a:srgbClr val="800000"/>
    <a:srgbClr val="0066FF"/>
    <a:srgbClr val="FF66CC"/>
    <a:srgbClr val="009900"/>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175" autoAdjust="0"/>
    <p:restoredTop sz="93826" autoAdjust="0"/>
  </p:normalViewPr>
  <p:slideViewPr>
    <p:cSldViewPr showGuides="1">
      <p:cViewPr varScale="1">
        <p:scale>
          <a:sx n="67" d="100"/>
          <a:sy n="67" d="100"/>
        </p:scale>
        <p:origin x="1124" y="52"/>
      </p:cViewPr>
      <p:guideLst>
        <p:guide orient="horz" pos="2191"/>
        <p:guide pos="28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5-12-11T00:51:45.512"/>
    </inkml:context>
    <inkml:brush xml:id="br0">
      <inkml:brushProperty name="width" value="0.05292" units="cm"/>
      <inkml:brushProperty name="height" value="0.05292" units="cm"/>
      <inkml:brushProperty name="color" value="#FF0000"/>
    </inkml:brush>
  </inkml:definitions>
  <inkml:trace contextRef="#ctx0" brushRef="#br0">4904 3634 0,'0'-18'16,"-18"0"31,-70-17-31,18 17-16,-1 1 15,-70-19 16,106 36 1,-36 18-17,-70 17 1,35 54 0,36-54-16,34-17 15,-52 34 1,35-34-16,0 17 15,-53 36 1,36-36-16,35 0 16,-142 89-1,124-89 1,18 1 0,-18 16-1,-17 19 16,-36 0-15,35-1 0,71-52-16,-17-1 15,17 1-15,0 17 16,0 1 0,0-19-16,0 18 15,35 71 1,-18-70-1,36 175 1,0-175 0,71 140-1,-18-70 1,-18 0 0,123-1-1,-105-69 16,-35-19-15,-36-17 0,0 0-16,36 0 31,17 0-15,0 0-16,-17 0 15,17-17-15,53 17 16,71-18-1,-106 0 1,-18 18 0,-18-17-1,1-1 1,17 1 0,0-1-1,18-35 1,-18 18-1,-35 17 1,18-17-16,-36 17 16,0 0-16,36 1 31,-71-1-31,35 18 16,-17-17-1,0-1-15,17 18 16,-18-53-1,1 0 1,53-70 0,-36-1-1,0-17 1,18-159 0,-35 53-1,-18 124 1,0-1-1,0 89 1,0 0-16,0 17 16,-18-17-16,-17-36 15,35 36-15,-18 17 16,-35-52 0,-17 17-16,-18-35 15,-18 35 1,-88-35-1,53 52 17,-89-17-17,89 36 1,88 17-16,-35-18 16,53 18-16,-36 0 15,1 0 1,52 0-16,-17 0 15,17 0 1,0 0 0,1 0-16,-1 0 15,-17 18 1,0 17 0,17 18-1,-17-18 1,-53 89 15,52-19-15,-17 19-1,53-89 1,-17-17 0,17 17-16,0-17 15,-18 17 1,18-17-16,-18-18 15,1 88 1,17-70-16,0-1 16,0 18-1,-18-17-15,18 0 16,0-1 93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1"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2" name="Rectangle 4"/>
          <p:cNvSpPr>
            <a:spLocks noGrp="1" noRot="1" noChangeAspect="1"/>
          </p:cNvSpPr>
          <p:nvPr>
            <p:ph type="sldImg"/>
          </p:nvPr>
        </p:nvSpPr>
        <p:spPr>
          <a:xfrm>
            <a:off x="1143000" y="685800"/>
            <a:ext cx="4572000" cy="3429000"/>
          </a:xfrm>
          <a:prstGeom prst="rect">
            <a:avLst/>
          </a:prstGeom>
          <a:noFill/>
          <a:ln w="9525">
            <a:noFill/>
          </a:ln>
        </p:spPr>
      </p:sp>
      <p:sp>
        <p:nvSpPr>
          <p:cNvPr id="2053" name="Rectangle 5"/>
          <p:cNvSpPr>
            <a:spLocks noGrp="1"/>
          </p:cNvSpPr>
          <p:nvPr>
            <p:ph type="body" sz="quarter"/>
          </p:nvPr>
        </p:nvSpPr>
        <p:spPr>
          <a:xfrm>
            <a:off x="914400" y="4343400"/>
            <a:ext cx="5029200" cy="4114800"/>
          </a:xfrm>
          <a:prstGeom prst="rect">
            <a:avLst/>
          </a:prstGeom>
          <a:noFill/>
          <a:ln w="9525">
            <a:noFill/>
          </a:ln>
        </p:spPr>
        <p:txBody>
          <a:bodyPr wrap="square" lIns="91440" tIns="45720" rIns="91440" bIns="45720" anchor="ctr"/>
          <a:lstStyle/>
          <a:p>
            <a:pPr lvl="0"/>
            <a:r>
              <a:rPr lang="zh-CN" altLang="en-US" dirty="0"/>
              <a:t>单击此处编辑母版文本样式</a:t>
            </a:r>
          </a:p>
          <a:p>
            <a:pPr lvl="1" indent="0"/>
            <a:r>
              <a:rPr lang="zh-CN" altLang="en-US" dirty="0"/>
              <a:t>第二级</a:t>
            </a:r>
          </a:p>
          <a:p>
            <a:pPr lvl="2" indent="0"/>
            <a:r>
              <a:rPr lang="zh-CN" altLang="en-US" dirty="0"/>
              <a:t>第三级</a:t>
            </a:r>
          </a:p>
          <a:p>
            <a:pPr lvl="3" indent="0"/>
            <a:r>
              <a:rPr lang="zh-CN" altLang="en-US" dirty="0"/>
              <a:t>第四级</a:t>
            </a:r>
          </a:p>
          <a:p>
            <a:pPr lvl="4" indent="0"/>
            <a:r>
              <a:rPr lang="zh-CN" altLang="en-US" dirty="0"/>
              <a:t>第五级</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9360B12-E06F-40AE-91F3-C78524DE9C18}" type="slidenum">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3" Type="http://schemas.openxmlformats.org/officeDocument/2006/relationships/hyperlink" Target="http://baike.baidu.com/view/420846.htm" TargetMode="External"/><Relationship Id="rId18" Type="http://schemas.openxmlformats.org/officeDocument/2006/relationships/hyperlink" Target="http://baike.baidu.com/view/178145.htm" TargetMode="External"/><Relationship Id="rId26" Type="http://schemas.openxmlformats.org/officeDocument/2006/relationships/hyperlink" Target="http://baike.baidu.com/view/178200.htm" TargetMode="External"/><Relationship Id="rId39" Type="http://schemas.openxmlformats.org/officeDocument/2006/relationships/hyperlink" Target="http://baike.baidu.com/view/754510.htm" TargetMode="External"/><Relationship Id="rId21" Type="http://schemas.openxmlformats.org/officeDocument/2006/relationships/hyperlink" Target="http://baike.baidu.com/view/6061764.htm" TargetMode="External"/><Relationship Id="rId34" Type="http://schemas.openxmlformats.org/officeDocument/2006/relationships/hyperlink" Target="http://baike.baidu.com/view/2083958.htm" TargetMode="External"/><Relationship Id="rId42" Type="http://schemas.openxmlformats.org/officeDocument/2006/relationships/hyperlink" Target="http://baike.baidu.com/view/166248.htm" TargetMode="External"/><Relationship Id="rId47" Type="http://schemas.openxmlformats.org/officeDocument/2006/relationships/hyperlink" Target="http://baike.baidu.com/view/368294.htm" TargetMode="External"/><Relationship Id="rId50" Type="http://schemas.openxmlformats.org/officeDocument/2006/relationships/hyperlink" Target="http://baike.baidu.com/view/421016.htm" TargetMode="External"/><Relationship Id="rId7" Type="http://schemas.openxmlformats.org/officeDocument/2006/relationships/hyperlink" Target="http://baike.baidu.com/view/128511.htm" TargetMode="External"/><Relationship Id="rId2" Type="http://schemas.openxmlformats.org/officeDocument/2006/relationships/slide" Target="../slides/slide5.xml"/><Relationship Id="rId16" Type="http://schemas.openxmlformats.org/officeDocument/2006/relationships/hyperlink" Target="http://baike.baidu.com/view/907834.htm" TargetMode="External"/><Relationship Id="rId29" Type="http://schemas.openxmlformats.org/officeDocument/2006/relationships/hyperlink" Target="http://baike.baidu.com/view/662318.htm" TargetMode="External"/><Relationship Id="rId11" Type="http://schemas.openxmlformats.org/officeDocument/2006/relationships/hyperlink" Target="http://baike.baidu.com/view/2120589.htm" TargetMode="External"/><Relationship Id="rId24" Type="http://schemas.openxmlformats.org/officeDocument/2006/relationships/hyperlink" Target="http://baike.baidu.com/view/1769259.htm" TargetMode="External"/><Relationship Id="rId32" Type="http://schemas.openxmlformats.org/officeDocument/2006/relationships/hyperlink" Target="http://baike.baidu.com/view/18536.htm" TargetMode="External"/><Relationship Id="rId37" Type="http://schemas.openxmlformats.org/officeDocument/2006/relationships/hyperlink" Target="http://baike.baidu.com/view/9900.htm" TargetMode="External"/><Relationship Id="rId40" Type="http://schemas.openxmlformats.org/officeDocument/2006/relationships/hyperlink" Target="http://baike.baidu.com/view/494465.htm" TargetMode="External"/><Relationship Id="rId45" Type="http://schemas.openxmlformats.org/officeDocument/2006/relationships/hyperlink" Target="http://baike.baidu.com/view/712987.htm" TargetMode="External"/><Relationship Id="rId5" Type="http://schemas.openxmlformats.org/officeDocument/2006/relationships/hyperlink" Target="http://baike.baidu.com/view/20003.htm" TargetMode="External"/><Relationship Id="rId15" Type="http://schemas.openxmlformats.org/officeDocument/2006/relationships/hyperlink" Target="http://baike.baidu.com/view/149970.htm" TargetMode="External"/><Relationship Id="rId23" Type="http://schemas.openxmlformats.org/officeDocument/2006/relationships/hyperlink" Target="http://baike.baidu.com/view/147768.htm" TargetMode="External"/><Relationship Id="rId28" Type="http://schemas.openxmlformats.org/officeDocument/2006/relationships/hyperlink" Target="http://baike.baidu.com/view/8407048.htm" TargetMode="External"/><Relationship Id="rId36" Type="http://schemas.openxmlformats.org/officeDocument/2006/relationships/hyperlink" Target="http://baike.baidu.com/view/296689.htm" TargetMode="External"/><Relationship Id="rId49" Type="http://schemas.openxmlformats.org/officeDocument/2006/relationships/hyperlink" Target="http://baike.baidu.com/view/1375172.htm" TargetMode="External"/><Relationship Id="rId10" Type="http://schemas.openxmlformats.org/officeDocument/2006/relationships/hyperlink" Target="http://baike.baidu.com/view/1390812.htm" TargetMode="External"/><Relationship Id="rId19" Type="http://schemas.openxmlformats.org/officeDocument/2006/relationships/hyperlink" Target="http://baike.baidu.com/view/1666.htm" TargetMode="External"/><Relationship Id="rId31" Type="http://schemas.openxmlformats.org/officeDocument/2006/relationships/hyperlink" Target="http://baike.baidu.com/view/5593592.htm" TargetMode="External"/><Relationship Id="rId44" Type="http://schemas.openxmlformats.org/officeDocument/2006/relationships/hyperlink" Target="http://baike.baidu.com/view/238412.htm" TargetMode="External"/><Relationship Id="rId4" Type="http://schemas.openxmlformats.org/officeDocument/2006/relationships/hyperlink" Target="http://baike.baidu.com/view/38752.htm" TargetMode="External"/><Relationship Id="rId9" Type="http://schemas.openxmlformats.org/officeDocument/2006/relationships/hyperlink" Target="http://baike.baidu.com/view/1326946.htm" TargetMode="External"/><Relationship Id="rId14" Type="http://schemas.openxmlformats.org/officeDocument/2006/relationships/hyperlink" Target="http://baike.baidu.com/view/494802.htm" TargetMode="External"/><Relationship Id="rId22" Type="http://schemas.openxmlformats.org/officeDocument/2006/relationships/hyperlink" Target="http://baike.baidu.com/view/178195.htm" TargetMode="External"/><Relationship Id="rId27" Type="http://schemas.openxmlformats.org/officeDocument/2006/relationships/hyperlink" Target="http://baike.baidu.com/view/675645.htm" TargetMode="External"/><Relationship Id="rId30" Type="http://schemas.openxmlformats.org/officeDocument/2006/relationships/hyperlink" Target="http://baike.baidu.com/view/1349516.htm" TargetMode="External"/><Relationship Id="rId35" Type="http://schemas.openxmlformats.org/officeDocument/2006/relationships/hyperlink" Target="http://baike.baidu.com/view/111847.htm" TargetMode="External"/><Relationship Id="rId43" Type="http://schemas.openxmlformats.org/officeDocument/2006/relationships/hyperlink" Target="http://baike.baidu.com/view/60267.htm" TargetMode="External"/><Relationship Id="rId48" Type="http://schemas.openxmlformats.org/officeDocument/2006/relationships/hyperlink" Target="http://baike.baidu.com/view/50152.htm" TargetMode="External"/><Relationship Id="rId8" Type="http://schemas.openxmlformats.org/officeDocument/2006/relationships/hyperlink" Target="http://baike.baidu.com/view/104195.htm" TargetMode="External"/><Relationship Id="rId51" Type="http://schemas.openxmlformats.org/officeDocument/2006/relationships/hyperlink" Target="http://baike.baidu.com/view/1389.htm" TargetMode="External"/><Relationship Id="rId3" Type="http://schemas.openxmlformats.org/officeDocument/2006/relationships/hyperlink" Target="http://baike.baidu.com/view/3414614.htm" TargetMode="External"/><Relationship Id="rId12" Type="http://schemas.openxmlformats.org/officeDocument/2006/relationships/hyperlink" Target="http://baike.baidu.com/view/1462753.htm" TargetMode="External"/><Relationship Id="rId17" Type="http://schemas.openxmlformats.org/officeDocument/2006/relationships/hyperlink" Target="http://baike.baidu.com/view/2258452.htm" TargetMode="External"/><Relationship Id="rId25" Type="http://schemas.openxmlformats.org/officeDocument/2006/relationships/hyperlink" Target="http://baike.baidu.com/view/178197.htm" TargetMode="External"/><Relationship Id="rId33" Type="http://schemas.openxmlformats.org/officeDocument/2006/relationships/hyperlink" Target="http://baike.baidu.com/view/1188494.htm" TargetMode="External"/><Relationship Id="rId38" Type="http://schemas.openxmlformats.org/officeDocument/2006/relationships/hyperlink" Target="http://baike.baidu.com/view/107254.htm" TargetMode="External"/><Relationship Id="rId46" Type="http://schemas.openxmlformats.org/officeDocument/2006/relationships/hyperlink" Target="http://baike.baidu.com/view/1700609.htm" TargetMode="External"/><Relationship Id="rId20" Type="http://schemas.openxmlformats.org/officeDocument/2006/relationships/hyperlink" Target="http://baike.baidu.com/view/591160.htm" TargetMode="External"/><Relationship Id="rId41" Type="http://schemas.openxmlformats.org/officeDocument/2006/relationships/hyperlink" Target="http://baike.baidu.com/view/5580827.htm" TargetMode="External"/><Relationship Id="rId1" Type="http://schemas.openxmlformats.org/officeDocument/2006/relationships/notesMaster" Target="../notesMasters/notesMaster1.xml"/><Relationship Id="rId6" Type="http://schemas.openxmlformats.org/officeDocument/2006/relationships/hyperlink" Target="http://baike.baidu.com/view/87697.htm"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p:sp>
      <p:sp>
        <p:nvSpPr>
          <p:cNvPr id="4099" name="备注占位符 2"/>
          <p:cNvSpPr>
            <a:spLocks noGrp="1"/>
          </p:cNvSpPr>
          <p:nvPr>
            <p:ph type="body"/>
          </p:nvPr>
        </p:nvSpPr>
        <p:spPr/>
        <p:txBody>
          <a:bodyPr wrap="square" lIns="91440" tIns="45720" rIns="91440" bIns="45720" anchor="t"/>
          <a:lstStyle/>
          <a:p>
            <a:pPr lvl="0"/>
            <a:r>
              <a:rPr lang="zh-CN" altLang="en-US" dirty="0">
                <a:ea typeface="宋体" panose="02010600030101010101" pitchFamily="2" charset="-122"/>
              </a:rPr>
              <a:t>物联网技术  可计算性理论</a:t>
            </a:r>
          </a:p>
        </p:txBody>
      </p:sp>
      <p:sp>
        <p:nvSpPr>
          <p:cNvPr id="4100" name="灯片编号占位符 3"/>
          <p:cNvSpPr txBox="1">
            <a:spLocks noGrp="1"/>
          </p:cNvSpPr>
          <p:nvPr/>
        </p:nvSpPr>
        <p:spPr>
          <a:xfrm>
            <a:off x="3886200" y="8686800"/>
            <a:ext cx="2971800" cy="457200"/>
          </a:xfrm>
          <a:prstGeom prst="rect">
            <a:avLst/>
          </a:prstGeom>
          <a:noFill/>
          <a:ln w="9525">
            <a:noFill/>
          </a:ln>
        </p:spPr>
        <p:txBody>
          <a:bodyPr anchor="b"/>
          <a:lstStyle/>
          <a:p>
            <a:pPr lvl="0" indent="0" algn="r" eaLnBrk="1" hangingPunct="1"/>
            <a:fld id="{9A0DB2DC-4C9A-4742-B13C-FB6460FD3503}" type="slidenum">
              <a:rPr lang="zh-CN" altLang="en-US" dirty="0"/>
              <a:t>1</a:t>
            </a:fld>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5362" name="Rectangle 7"/>
          <p:cNvSpPr txBox="1">
            <a:spLocks noGrp="1"/>
          </p:cNvSpPr>
          <p:nvPr/>
        </p:nvSpPr>
        <p:spPr>
          <a:xfrm>
            <a:off x="3886200" y="8686800"/>
            <a:ext cx="2971800" cy="457200"/>
          </a:xfrm>
          <a:prstGeom prst="rect">
            <a:avLst/>
          </a:prstGeom>
          <a:noFill/>
          <a:ln w="9525">
            <a:noFill/>
          </a:ln>
        </p:spPr>
        <p:txBody>
          <a:bodyPr anchor="b"/>
          <a:lstStyle/>
          <a:p>
            <a:pPr lvl="0" algn="r" eaLnBrk="1" hangingPunct="1">
              <a:spcBef>
                <a:spcPct val="0"/>
              </a:spcBef>
            </a:pPr>
            <a:fld id="{9A0DB2DC-4C9A-4742-B13C-FB6460FD3503}" type="slidenum">
              <a:rPr lang="zh-CN" altLang="en-US" dirty="0"/>
              <a:t>4</a:t>
            </a:fld>
            <a:endParaRPr lang="zh-CN" altLang="en-US" dirty="0"/>
          </a:p>
        </p:txBody>
      </p:sp>
      <p:sp>
        <p:nvSpPr>
          <p:cNvPr id="15363" name="Rectangle 2"/>
          <p:cNvSpPr>
            <a:spLocks noGrp="1" noRot="1" noChangeAspect="1" noTextEdit="1"/>
          </p:cNvSpPr>
          <p:nvPr>
            <p:ph type="sldImg"/>
          </p:nvPr>
        </p:nvSpPr>
        <p:spPr>
          <a:xfrm>
            <a:off x="1144588" y="685800"/>
            <a:ext cx="4570412" cy="3427413"/>
          </a:xfrm>
        </p:spPr>
      </p:sp>
      <p:sp>
        <p:nvSpPr>
          <p:cNvPr id="15364" name="Rectangle 3"/>
          <p:cNvSpPr>
            <a:spLocks noGrp="1"/>
          </p:cNvSpPr>
          <p:nvPr>
            <p:ph type="body" idx="1"/>
          </p:nvPr>
        </p:nvSpPr>
        <p:spPr/>
        <p:txBody>
          <a:bodyPr vert="horz" wrap="square" anchor="t"/>
          <a:lstStyle/>
          <a:p>
            <a:pPr lvl="0" eaLnBrk="1" hangingPunct="1"/>
            <a:r>
              <a:rPr lang="zh-CN" altLang="en-US" b="1" dirty="0">
                <a:latin typeface="宋体" panose="02010600030101010101" pitchFamily="2" charset="-122"/>
              </a:rPr>
              <a:t>第一部分是保存数据的齿轮式</a:t>
            </a:r>
            <a:r>
              <a:rPr lang="en-US" altLang="zh-CN" b="1" dirty="0"/>
              <a:t>"</a:t>
            </a:r>
            <a:r>
              <a:rPr lang="zh-CN" altLang="en-US" b="1" dirty="0"/>
              <a:t>存贮仓库</a:t>
            </a:r>
            <a:r>
              <a:rPr lang="en-US" altLang="zh-CN" b="1" dirty="0"/>
              <a:t>"</a:t>
            </a:r>
            <a:r>
              <a:rPr lang="zh-CN" altLang="en-US" b="1" dirty="0"/>
              <a:t>(</a:t>
            </a:r>
            <a:r>
              <a:rPr lang="en-US" altLang="x-none" b="1" dirty="0"/>
              <a:t>Store)</a:t>
            </a:r>
            <a:r>
              <a:rPr lang="zh-CN" altLang="en-US" b="1" dirty="0">
                <a:latin typeface="宋体" panose="02010600030101010101" pitchFamily="2" charset="-122"/>
              </a:rPr>
              <a:t> ；	－－</a:t>
            </a:r>
            <a:r>
              <a:rPr lang="zh-CN" altLang="en-US" b="1" dirty="0">
                <a:solidFill>
                  <a:srgbClr val="6600FF"/>
                </a:solidFill>
                <a:latin typeface="宋体" panose="02010600030101010101" pitchFamily="2" charset="-122"/>
              </a:rPr>
              <a:t>存储单元</a:t>
            </a:r>
            <a:r>
              <a:rPr lang="zh-CN" altLang="en-US" b="1" dirty="0">
                <a:latin typeface="宋体" panose="02010600030101010101" pitchFamily="2" charset="-122"/>
              </a:rPr>
              <a:t>         	</a:t>
            </a:r>
          </a:p>
          <a:p>
            <a:pPr lvl="0" eaLnBrk="1" hangingPunct="1"/>
            <a:r>
              <a:rPr lang="zh-CN" altLang="en-US" b="1" dirty="0">
                <a:latin typeface="宋体" panose="02010600030101010101" pitchFamily="2" charset="-122"/>
              </a:rPr>
              <a:t>		第二部分是对数据进行各种运算的装置（</a:t>
            </a:r>
            <a:r>
              <a:rPr lang="en-US" altLang="zh-CN" b="1" dirty="0"/>
              <a:t>"</a:t>
            </a:r>
            <a:r>
              <a:rPr lang="zh-CN" altLang="en-US" b="1" dirty="0">
                <a:latin typeface="宋体" panose="02010600030101010101" pitchFamily="2" charset="-122"/>
              </a:rPr>
              <a:t>作坊</a:t>
            </a:r>
            <a:r>
              <a:rPr lang="en-US" altLang="zh-CN" b="1" dirty="0"/>
              <a:t>"</a:t>
            </a:r>
            <a:r>
              <a:rPr lang="zh-CN" altLang="en-US" b="1" dirty="0">
                <a:latin typeface="宋体" panose="02010600030101010101" pitchFamily="2" charset="-122"/>
              </a:rPr>
              <a:t>）；－－</a:t>
            </a:r>
            <a:r>
              <a:rPr lang="zh-CN" altLang="en-US" b="1" dirty="0">
                <a:solidFill>
                  <a:srgbClr val="6600FF"/>
                </a:solidFill>
                <a:latin typeface="宋体" panose="02010600030101010101" pitchFamily="2" charset="-122"/>
              </a:rPr>
              <a:t>运算单元</a:t>
            </a:r>
          </a:p>
          <a:p>
            <a:pPr lvl="0" eaLnBrk="1" hangingPunct="1"/>
            <a:r>
              <a:rPr lang="zh-CN" altLang="en-US" b="1" dirty="0">
                <a:latin typeface="宋体" panose="02010600030101010101" pitchFamily="2" charset="-122"/>
              </a:rPr>
              <a:t>		第三部分是对操作顺序进行控制，并对所要处理的数据及输出结果加以选择的装置。－－</a:t>
            </a:r>
            <a:r>
              <a:rPr lang="zh-CN" altLang="en-US" b="1" dirty="0">
                <a:solidFill>
                  <a:srgbClr val="6600FF"/>
                </a:solidFill>
                <a:latin typeface="宋体" panose="02010600030101010101" pitchFamily="2" charset="-122"/>
              </a:rPr>
              <a:t>控制单元</a:t>
            </a:r>
          </a:p>
          <a:p>
            <a:pPr lvl="0" eaLnBrk="1" hangingPunct="1"/>
            <a:r>
              <a:rPr lang="zh-CN" altLang="en-US" b="1" dirty="0">
                <a:latin typeface="宋体" panose="02010600030101010101" pitchFamily="2" charset="-122"/>
              </a:rPr>
              <a:t>		第四部分是</a:t>
            </a:r>
            <a:r>
              <a:rPr lang="zh-CN" altLang="en-US" b="1" dirty="0"/>
              <a:t>在</a:t>
            </a:r>
            <a:r>
              <a:rPr lang="en-US" altLang="zh-CN" b="1" dirty="0"/>
              <a:t>"</a:t>
            </a:r>
            <a:r>
              <a:rPr lang="zh-CN" altLang="en-US" b="1" dirty="0"/>
              <a:t>存贮仓库</a:t>
            </a:r>
            <a:r>
              <a:rPr lang="en-US" altLang="zh-CN" b="1" dirty="0"/>
              <a:t>"</a:t>
            </a:r>
            <a:r>
              <a:rPr lang="zh-CN" altLang="en-US" b="1" dirty="0"/>
              <a:t>和</a:t>
            </a:r>
            <a:r>
              <a:rPr lang="en-US" altLang="zh-CN" b="1" dirty="0"/>
              <a:t>"</a:t>
            </a:r>
            <a:r>
              <a:rPr lang="zh-CN" altLang="en-US" b="1" dirty="0"/>
              <a:t>作坊</a:t>
            </a:r>
            <a:r>
              <a:rPr lang="en-US" altLang="zh-CN" b="1" dirty="0"/>
              <a:t>"</a:t>
            </a:r>
            <a:r>
              <a:rPr lang="zh-CN" altLang="en-US" b="1" dirty="0"/>
              <a:t>之间运输数据的输入输出部件。 </a:t>
            </a:r>
            <a:r>
              <a:rPr lang="zh-CN" altLang="en-US" b="1" dirty="0">
                <a:latin typeface="宋体" panose="02010600030101010101" pitchFamily="2" charset="-122"/>
              </a:rPr>
              <a:t>－－</a:t>
            </a:r>
            <a:r>
              <a:rPr lang="zh-CN" altLang="en-US" b="1" dirty="0">
                <a:solidFill>
                  <a:srgbClr val="6600FF"/>
                </a:solidFill>
                <a:latin typeface="宋体" panose="02010600030101010101" pitchFamily="2" charset="-122"/>
              </a:rPr>
              <a:t>输入输出单元</a:t>
            </a:r>
          </a:p>
          <a:p>
            <a:pPr lvl="0" eaLnBrk="1" hangingPunct="1"/>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74754" name="Rectangle 7"/>
          <p:cNvSpPr txBox="1">
            <a:spLocks noGrp="1"/>
          </p:cNvSpPr>
          <p:nvPr/>
        </p:nvSpPr>
        <p:spPr>
          <a:xfrm>
            <a:off x="3886200" y="8686800"/>
            <a:ext cx="2971800" cy="457200"/>
          </a:xfrm>
          <a:prstGeom prst="rect">
            <a:avLst/>
          </a:prstGeom>
          <a:noFill/>
          <a:ln w="9525">
            <a:noFill/>
          </a:ln>
        </p:spPr>
        <p:txBody>
          <a:bodyPr anchor="b"/>
          <a:lstStyle/>
          <a:p>
            <a:pPr lvl="0" algn="r" eaLnBrk="1" hangingPunct="1">
              <a:spcBef>
                <a:spcPct val="0"/>
              </a:spcBef>
            </a:pPr>
            <a:fld id="{9A0DB2DC-4C9A-4742-B13C-FB6460FD3503}" type="slidenum">
              <a:rPr lang="zh-CN" altLang="en-US" dirty="0"/>
              <a:t>5</a:t>
            </a:fld>
            <a:endParaRPr lang="zh-CN" altLang="en-US" dirty="0"/>
          </a:p>
        </p:txBody>
      </p:sp>
      <p:sp>
        <p:nvSpPr>
          <p:cNvPr id="74755" name="Rectangle 2"/>
          <p:cNvSpPr>
            <a:spLocks noGrp="1" noRot="1" noChangeAspect="1" noTextEdit="1"/>
          </p:cNvSpPr>
          <p:nvPr>
            <p:ph type="sldImg"/>
          </p:nvPr>
        </p:nvSpPr>
        <p:spPr>
          <a:xfrm>
            <a:off x="1144588" y="685800"/>
            <a:ext cx="4570412" cy="3427413"/>
          </a:xfrm>
        </p:spPr>
      </p:sp>
      <p:sp>
        <p:nvSpPr>
          <p:cNvPr id="74756" name="Rectangle 3"/>
          <p:cNvSpPr>
            <a:spLocks noGrp="1"/>
          </p:cNvSpPr>
          <p:nvPr>
            <p:ph type="body" idx="1"/>
          </p:nvPr>
        </p:nvSpPr>
        <p:spPr/>
        <p:txBody>
          <a:bodyPr vert="horz" wrap="square" anchor="t"/>
          <a:lstStyle/>
          <a:p>
            <a:pPr lvl="0"/>
            <a:r>
              <a:rPr lang="zh-CN" altLang="en-US" b="1" dirty="0"/>
              <a:t>非冯诺依曼结构电脑</a:t>
            </a:r>
          </a:p>
          <a:p>
            <a:pPr lvl="0"/>
            <a:r>
              <a:rPr lang="zh-CN" altLang="en-US" dirty="0"/>
              <a:t>目录</a:t>
            </a:r>
          </a:p>
          <a:p>
            <a:pPr lvl="0"/>
            <a:r>
              <a:rPr lang="zh-CN" altLang="en-US" dirty="0">
                <a:hlinkClick r:id="" action="ppaction://hlinkfile"/>
              </a:rPr>
              <a:t>回顾</a:t>
            </a:r>
            <a:r>
              <a:rPr lang="zh-CN" altLang="en-US" dirty="0"/>
              <a:t> </a:t>
            </a:r>
            <a:r>
              <a:rPr lang="zh-CN" altLang="en-US" dirty="0">
                <a:hlinkClick r:id="" action="ppaction://hlinkfile"/>
              </a:rPr>
              <a:t>说法一</a:t>
            </a:r>
            <a:r>
              <a:rPr lang="zh-CN" altLang="en-US" dirty="0"/>
              <a:t> </a:t>
            </a:r>
          </a:p>
          <a:p>
            <a:pPr lvl="0"/>
            <a:r>
              <a:rPr lang="zh-CN" altLang="en-US" dirty="0">
                <a:hlinkClick r:id="" action="ppaction://hlinkfile"/>
              </a:rPr>
              <a:t>说法二</a:t>
            </a:r>
            <a:endParaRPr lang="zh-CN" altLang="en-US" dirty="0"/>
          </a:p>
          <a:p>
            <a:pPr lvl="0"/>
            <a:r>
              <a:rPr lang="zh-CN" altLang="en-US" dirty="0">
                <a:hlinkClick r:id="" action="ppaction://hlinkfile"/>
              </a:rPr>
              <a:t>冯</a:t>
            </a:r>
            <a:r>
              <a:rPr lang="en-US" altLang="x-none" dirty="0">
                <a:hlinkClick r:id="" action="ppaction://hlinkfile"/>
              </a:rPr>
              <a:t>·</a:t>
            </a:r>
            <a:r>
              <a:rPr lang="zh-CN" altLang="en-US" dirty="0">
                <a:hlinkClick r:id="" action="ppaction://hlinkfile"/>
              </a:rPr>
              <a:t>诺依曼体系结构</a:t>
            </a:r>
            <a:r>
              <a:rPr lang="en-US" altLang="x-none" dirty="0">
                <a:hlinkClick r:id="" action="ppaction://hlinkfile"/>
              </a:rPr>
              <a:t>-</a:t>
            </a:r>
            <a:r>
              <a:rPr lang="zh-CN" altLang="en-US" dirty="0">
                <a:hlinkClick r:id="" action="ppaction://hlinkfile"/>
              </a:rPr>
              <a:t>非诺依曼化</a:t>
            </a:r>
            <a:r>
              <a:rPr lang="zh-CN" altLang="en-US" dirty="0"/>
              <a:t> </a:t>
            </a:r>
            <a:r>
              <a:rPr lang="zh-CN" altLang="en-US" dirty="0">
                <a:hlinkClick r:id="" action="ppaction://hlinkfile"/>
              </a:rPr>
              <a:t>哈佛结构</a:t>
            </a:r>
            <a:r>
              <a:rPr lang="zh-CN" altLang="en-US" dirty="0"/>
              <a:t> 展开 </a:t>
            </a:r>
            <a:r>
              <a:rPr lang="zh-CN" altLang="en-US" dirty="0">
                <a:hlinkClick r:id="rId3"/>
              </a:rPr>
              <a:t>回顾</a:t>
            </a:r>
            <a:r>
              <a:rPr lang="zh-CN" altLang="en-US" dirty="0"/>
              <a:t> </a:t>
            </a:r>
            <a:r>
              <a:rPr lang="zh-CN" altLang="en-US" dirty="0">
                <a:hlinkClick r:id="rId3"/>
              </a:rPr>
              <a:t>说法一</a:t>
            </a:r>
            <a:r>
              <a:rPr lang="zh-CN" altLang="en-US" dirty="0"/>
              <a:t> </a:t>
            </a:r>
          </a:p>
          <a:p>
            <a:pPr lvl="0"/>
            <a:endParaRPr lang="zh-CN" altLang="en-US" dirty="0"/>
          </a:p>
          <a:p>
            <a:pPr lvl="0"/>
            <a:r>
              <a:rPr lang="zh-CN" altLang="en-US" dirty="0">
                <a:hlinkClick r:id="rId3"/>
              </a:rPr>
              <a:t>说法二</a:t>
            </a:r>
            <a:endParaRPr lang="zh-CN" altLang="en-US" dirty="0"/>
          </a:p>
          <a:p>
            <a:pPr lvl="0"/>
            <a:r>
              <a:rPr lang="zh-CN" altLang="en-US" dirty="0">
                <a:hlinkClick r:id="rId3"/>
              </a:rPr>
              <a:t>冯</a:t>
            </a:r>
            <a:r>
              <a:rPr lang="en-US" altLang="x-none" dirty="0">
                <a:hlinkClick r:id="rId3"/>
              </a:rPr>
              <a:t>·</a:t>
            </a:r>
            <a:r>
              <a:rPr lang="zh-CN" altLang="en-US" dirty="0">
                <a:hlinkClick r:id="rId3"/>
              </a:rPr>
              <a:t>诺依曼体系结构</a:t>
            </a:r>
            <a:r>
              <a:rPr lang="en-US" altLang="x-none" dirty="0">
                <a:hlinkClick r:id="rId3"/>
              </a:rPr>
              <a:t>-</a:t>
            </a:r>
            <a:r>
              <a:rPr lang="zh-CN" altLang="en-US" dirty="0">
                <a:hlinkClick r:id="rId3"/>
              </a:rPr>
              <a:t>非诺依曼化</a:t>
            </a:r>
            <a:r>
              <a:rPr lang="zh-CN" altLang="en-US" dirty="0"/>
              <a:t> </a:t>
            </a:r>
            <a:r>
              <a:rPr lang="zh-CN" altLang="en-US" dirty="0">
                <a:hlinkClick r:id="rId3"/>
              </a:rPr>
              <a:t>哈佛结构</a:t>
            </a:r>
            <a:r>
              <a:rPr lang="zh-CN" altLang="en-US" dirty="0"/>
              <a:t> 展开</a:t>
            </a:r>
          </a:p>
          <a:p>
            <a:pPr lvl="0"/>
            <a:r>
              <a:rPr lang="zh-CN" altLang="en-US" b="1" dirty="0">
                <a:hlinkClick r:id="rId4" action="ppaction://hlinkfile"/>
              </a:rPr>
              <a:t>编辑本段</a:t>
            </a:r>
            <a:r>
              <a:rPr lang="zh-CN" altLang="en-US" b="1" dirty="0"/>
              <a:t>回顾</a:t>
            </a:r>
          </a:p>
          <a:p>
            <a:pPr lvl="0"/>
            <a:r>
              <a:rPr lang="zh-CN" altLang="en-US" dirty="0"/>
              <a:t>现代计算机自问世以来已历经</a:t>
            </a:r>
            <a:r>
              <a:rPr lang="en-US" altLang="x-none" dirty="0"/>
              <a:t>50</a:t>
            </a:r>
            <a:r>
              <a:rPr lang="zh-CN" altLang="en-US" dirty="0"/>
              <a:t>余年的历史，但计算机所遵循的基本结构形式始终是</a:t>
            </a:r>
            <a:r>
              <a:rPr lang="zh-CN" altLang="en-US" dirty="0">
                <a:hlinkClick r:id="rId5" action="ppaction://hlinkfile"/>
              </a:rPr>
              <a:t>冯</a:t>
            </a:r>
            <a:r>
              <a:rPr lang="en-US" altLang="x-none" dirty="0">
                <a:hlinkClick r:id="rId5" action="ppaction://hlinkfile"/>
              </a:rPr>
              <a:t>·</a:t>
            </a:r>
            <a:r>
              <a:rPr lang="zh-CN" altLang="en-US" dirty="0">
                <a:hlinkClick r:id="rId5" action="ppaction://hlinkfile"/>
              </a:rPr>
              <a:t>诺依曼</a:t>
            </a:r>
            <a:r>
              <a:rPr lang="zh-CN" altLang="en-US" dirty="0"/>
              <a:t>机结构。它的基本结构特征是</a:t>
            </a:r>
            <a:r>
              <a:rPr lang="en-US" altLang="zh-CN" dirty="0"/>
              <a:t>"</a:t>
            </a:r>
            <a:r>
              <a:rPr lang="zh-CN" altLang="en-US" dirty="0"/>
              <a:t>共享</a:t>
            </a:r>
            <a:r>
              <a:rPr lang="zh-CN" altLang="en-US" dirty="0">
                <a:hlinkClick r:id="rId4" action="ppaction://hlinkfile"/>
              </a:rPr>
              <a:t>数据</a:t>
            </a:r>
            <a:r>
              <a:rPr lang="zh-CN" altLang="en-US" dirty="0"/>
              <a:t>和串行执行</a:t>
            </a:r>
            <a:r>
              <a:rPr lang="en-US" altLang="zh-CN" dirty="0"/>
              <a:t>"</a:t>
            </a:r>
            <a:r>
              <a:rPr lang="zh-CN" altLang="en-US" dirty="0"/>
              <a:t>的计算机模型。按照这种结构，程序和</a:t>
            </a:r>
            <a:r>
              <a:rPr lang="zh-CN" altLang="en-US" dirty="0">
                <a:hlinkClick r:id="rId4" action="ppaction://hlinkfile"/>
              </a:rPr>
              <a:t>数据</a:t>
            </a:r>
            <a:r>
              <a:rPr lang="zh-CN" altLang="en-US" dirty="0"/>
              <a:t>放在共享</a:t>
            </a:r>
            <a:r>
              <a:rPr lang="zh-CN" altLang="en-US" dirty="0">
                <a:hlinkClick r:id="rId6" action="ppaction://hlinkfile"/>
              </a:rPr>
              <a:t>存储器</a:t>
            </a:r>
            <a:r>
              <a:rPr lang="zh-CN" altLang="en-US" dirty="0"/>
              <a:t>内，</a:t>
            </a:r>
            <a:r>
              <a:rPr lang="en-US" altLang="x-none" dirty="0"/>
              <a:t>CPU</a:t>
            </a:r>
            <a:r>
              <a:rPr lang="zh-CN" altLang="en-US" dirty="0"/>
              <a:t>取出指令和数据进行相应的计算，因此</a:t>
            </a:r>
            <a:r>
              <a:rPr lang="en-US" altLang="x-none" dirty="0"/>
              <a:t>CPU</a:t>
            </a:r>
            <a:r>
              <a:rPr lang="zh-CN" altLang="en-US" dirty="0"/>
              <a:t>与共享存储器间的信息通路成为影响系统性能的</a:t>
            </a:r>
            <a:r>
              <a:rPr lang="en-US" altLang="zh-CN" dirty="0"/>
              <a:t>"</a:t>
            </a:r>
            <a:r>
              <a:rPr lang="zh-CN" altLang="en-US" dirty="0"/>
              <a:t>瓶颈</a:t>
            </a:r>
            <a:r>
              <a:rPr lang="en-US" altLang="zh-CN" dirty="0"/>
              <a:t>"</a:t>
            </a:r>
            <a:r>
              <a:rPr lang="zh-CN" altLang="en-US" dirty="0"/>
              <a:t>。多年来在并行计算机结构及处理的研究已经取得了很多成果，如阵列机、流水机、向量机等，使计算速度有了很大提高，但就本质上仍无法克服冯</a:t>
            </a:r>
            <a:r>
              <a:rPr lang="en-US" altLang="x-none" dirty="0"/>
              <a:t>·</a:t>
            </a:r>
            <a:r>
              <a:rPr lang="zh-CN" altLang="en-US" dirty="0"/>
              <a:t>诺依曼机结构上的缺陷。</a:t>
            </a:r>
          </a:p>
          <a:p>
            <a:pPr lvl="0"/>
            <a:r>
              <a:rPr lang="zh-CN" altLang="en-US" dirty="0"/>
              <a:t>随着计算机发展，人们除了继续对命令式语言进行改进外，提出了若干非冯</a:t>
            </a:r>
            <a:r>
              <a:rPr lang="en-US" altLang="x-none" dirty="0"/>
              <a:t>·</a:t>
            </a:r>
            <a:r>
              <a:rPr lang="zh-CN" altLang="en-US" dirty="0"/>
              <a:t>诺依曼型的</a:t>
            </a:r>
            <a:r>
              <a:rPr lang="zh-CN" altLang="en-US" dirty="0">
                <a:hlinkClick r:id="rId7" action="ppaction://hlinkfile"/>
              </a:rPr>
              <a:t>程序设计语言</a:t>
            </a:r>
            <a:r>
              <a:rPr lang="zh-CN" altLang="en-US" dirty="0"/>
              <a:t>，并探索了适合于这类语言的新型计算机系统结构，大胆地脱离了冯</a:t>
            </a:r>
            <a:r>
              <a:rPr lang="en-US" altLang="x-none" dirty="0"/>
              <a:t>·</a:t>
            </a:r>
            <a:r>
              <a:rPr lang="zh-CN" altLang="en-US" dirty="0"/>
              <a:t>诺依曼原有的计算机模式，寻求有利于开发高度并行功能的新型计算机模型，例如</a:t>
            </a:r>
            <a:r>
              <a:rPr lang="zh-CN" altLang="en-US" dirty="0">
                <a:hlinkClick r:id="rId8" action="ppaction://hlinkfile"/>
              </a:rPr>
              <a:t>光子计算机</a:t>
            </a:r>
            <a:r>
              <a:rPr lang="zh-CN" altLang="en-US" dirty="0"/>
              <a:t>（</a:t>
            </a:r>
            <a:r>
              <a:rPr lang="zh-CN" altLang="en-US" dirty="0">
                <a:hlinkClick r:id="rId9" action="ppaction://hlinkfile"/>
              </a:rPr>
              <a:t>光处理器</a:t>
            </a:r>
            <a:r>
              <a:rPr lang="zh-CN" altLang="en-US" dirty="0"/>
              <a:t>利用光的高速和无干扰性，使用光学元件构成处理器。尚在研发中），并行计算机、</a:t>
            </a:r>
            <a:r>
              <a:rPr lang="zh-CN" altLang="en-US" dirty="0">
                <a:hlinkClick r:id="rId10" action="ppaction://hlinkfile"/>
              </a:rPr>
              <a:t>数据流计算机</a:t>
            </a:r>
            <a:r>
              <a:rPr lang="zh-CN" altLang="en-US" dirty="0"/>
              <a:t>以及量子计算机等。</a:t>
            </a:r>
          </a:p>
          <a:p>
            <a:pPr lvl="0"/>
            <a:r>
              <a:rPr lang="zh-CN" altLang="en-US" b="1" dirty="0"/>
              <a:t>说法一</a:t>
            </a:r>
          </a:p>
          <a:p>
            <a:pPr lvl="0"/>
            <a:r>
              <a:rPr lang="zh-CN" altLang="en-US" dirty="0"/>
              <a:t>传统的冯</a:t>
            </a:r>
            <a:r>
              <a:rPr lang="en-US" altLang="x-none" dirty="0"/>
              <a:t>·</a:t>
            </a:r>
            <a:r>
              <a:rPr lang="zh-CN" altLang="en-US" dirty="0"/>
              <a:t>诺依曼型结构属于控制驱动方式。它是以命令式语言为对象，指令的执行次序受指令计数器的控制，因而指令是串行执行的。也就是说有指令控制器控制指令执行的次序和时机，当它指向某条指令时才驱动该条指令的执行。这种结构特点是</a:t>
            </a:r>
            <a:r>
              <a:rPr lang="en-US" altLang="zh-CN" dirty="0"/>
              <a:t>"</a:t>
            </a:r>
            <a:r>
              <a:rPr lang="zh-CN" altLang="en-US" dirty="0"/>
              <a:t>程序存储，共享</a:t>
            </a:r>
            <a:r>
              <a:rPr lang="zh-CN" altLang="en-US" dirty="0">
                <a:hlinkClick r:id="rId4" action="ppaction://hlinkfile"/>
              </a:rPr>
              <a:t>数据</a:t>
            </a:r>
            <a:r>
              <a:rPr lang="zh-CN" altLang="en-US" dirty="0"/>
              <a:t>，</a:t>
            </a:r>
            <a:r>
              <a:rPr lang="zh-CN" altLang="en-US" dirty="0">
                <a:hlinkClick r:id="rId11" action="ppaction://hlinkfile"/>
              </a:rPr>
              <a:t>顺序执行</a:t>
            </a:r>
            <a:r>
              <a:rPr lang="en-US" altLang="zh-CN" dirty="0"/>
              <a:t>"</a:t>
            </a:r>
            <a:r>
              <a:rPr lang="zh-CN" altLang="en-US" dirty="0"/>
              <a:t>。计算中有一条单一的</a:t>
            </a:r>
            <a:r>
              <a:rPr lang="zh-CN" altLang="en-US" dirty="0">
                <a:hlinkClick r:id="rId12" action="ppaction://hlinkfile"/>
              </a:rPr>
              <a:t>控制流</a:t>
            </a:r>
            <a:r>
              <a:rPr lang="zh-CN" altLang="en-US" dirty="0"/>
              <a:t>从一条指令传到下一条指令（由指令计数器</a:t>
            </a:r>
            <a:r>
              <a:rPr lang="en-US" altLang="x-none" dirty="0"/>
              <a:t>PC</a:t>
            </a:r>
            <a:r>
              <a:rPr lang="zh-CN" altLang="en-US" dirty="0"/>
              <a:t>提供，执行</a:t>
            </a:r>
            <a:r>
              <a:rPr lang="en-US" altLang="x-none" dirty="0"/>
              <a:t>K</a:t>
            </a:r>
            <a:r>
              <a:rPr lang="zh-CN" altLang="en-US" dirty="0"/>
              <a:t>、</a:t>
            </a:r>
            <a:r>
              <a:rPr lang="en-US" altLang="x-none" dirty="0"/>
              <a:t>K+1</a:t>
            </a:r>
            <a:r>
              <a:rPr lang="zh-CN" altLang="en-US" dirty="0"/>
              <a:t>、</a:t>
            </a:r>
            <a:r>
              <a:rPr lang="en-US" altLang="x-none" dirty="0"/>
              <a:t>……</a:t>
            </a:r>
            <a:r>
              <a:rPr lang="zh-CN" altLang="en-US" dirty="0"/>
              <a:t>指令），执行指令所需要的</a:t>
            </a:r>
            <a:r>
              <a:rPr lang="zh-CN" altLang="en-US" dirty="0">
                <a:hlinkClick r:id="rId13" action="ppaction://hlinkfile"/>
              </a:rPr>
              <a:t>操作数</a:t>
            </a:r>
            <a:r>
              <a:rPr lang="zh-CN" altLang="en-US" dirty="0"/>
              <a:t>通过指令中给定的</a:t>
            </a:r>
            <a:r>
              <a:rPr lang="zh-CN" altLang="en-US" dirty="0">
                <a:hlinkClick r:id="rId14" action="ppaction://hlinkfile"/>
              </a:rPr>
              <a:t>地址</a:t>
            </a:r>
            <a:r>
              <a:rPr lang="zh-CN" altLang="en-US" dirty="0"/>
              <a:t>来访问，指令执行结果也通过地址存入一个共享的</a:t>
            </a:r>
            <a:r>
              <a:rPr lang="zh-CN" altLang="en-US" dirty="0">
                <a:hlinkClick r:id="rId6" action="ppaction://hlinkfile"/>
              </a:rPr>
              <a:t>存储器</a:t>
            </a:r>
            <a:r>
              <a:rPr lang="zh-CN" altLang="en-US" dirty="0"/>
              <a:t>中。并行</a:t>
            </a:r>
            <a:r>
              <a:rPr lang="zh-CN" altLang="en-US" dirty="0">
                <a:hlinkClick r:id="rId12" action="ppaction://hlinkfile"/>
              </a:rPr>
              <a:t>控制流</a:t>
            </a:r>
            <a:r>
              <a:rPr lang="zh-CN" altLang="en-US" dirty="0"/>
              <a:t>模型，采用操作符</a:t>
            </a:r>
            <a:r>
              <a:rPr lang="en-US" altLang="x-none" dirty="0"/>
              <a:t>Fork</a:t>
            </a:r>
            <a:r>
              <a:rPr lang="zh-CN" altLang="en-US" dirty="0"/>
              <a:t>和</a:t>
            </a:r>
            <a:r>
              <a:rPr lang="en-US" altLang="x-none" dirty="0"/>
              <a:t>Join</a:t>
            </a:r>
            <a:r>
              <a:rPr lang="zh-CN" altLang="en-US" dirty="0"/>
              <a:t>来显式地表示</a:t>
            </a:r>
            <a:r>
              <a:rPr lang="zh-CN" altLang="en-US" dirty="0">
                <a:hlinkClick r:id="rId15" action="ppaction://hlinkfile"/>
              </a:rPr>
              <a:t>并行性</a:t>
            </a:r>
            <a:r>
              <a:rPr lang="zh-CN" altLang="en-US" dirty="0"/>
              <a:t>，它允许在同一时刻有几个控制流同时活动。并行</a:t>
            </a:r>
            <a:r>
              <a:rPr lang="zh-CN" altLang="en-US" dirty="0">
                <a:hlinkClick r:id="rId12" action="ppaction://hlinkfile"/>
              </a:rPr>
              <a:t>控制流</a:t>
            </a:r>
            <a:r>
              <a:rPr lang="zh-CN" altLang="en-US" dirty="0"/>
              <a:t>模型中，关键技术之一是要有相应的同步手段（如</a:t>
            </a:r>
            <a:r>
              <a:rPr lang="en-US" altLang="x-none" dirty="0"/>
              <a:t>Join</a:t>
            </a:r>
            <a:r>
              <a:rPr lang="zh-CN" altLang="en-US" dirty="0"/>
              <a:t>操作符）来处理</a:t>
            </a:r>
            <a:r>
              <a:rPr lang="zh-CN" altLang="en-US" dirty="0">
                <a:hlinkClick r:id="rId4" action="ppaction://hlinkfile"/>
              </a:rPr>
              <a:t>数据</a:t>
            </a:r>
            <a:r>
              <a:rPr lang="zh-CN" altLang="en-US" dirty="0"/>
              <a:t>的相关性。</a:t>
            </a:r>
          </a:p>
          <a:p>
            <a:pPr lvl="0"/>
            <a:r>
              <a:rPr lang="zh-CN" altLang="en-US" dirty="0"/>
              <a:t>并行</a:t>
            </a:r>
            <a:r>
              <a:rPr lang="zh-CN" altLang="en-US" dirty="0">
                <a:hlinkClick r:id="rId16" action="ppaction://hlinkfile"/>
              </a:rPr>
              <a:t>控制流计算机</a:t>
            </a:r>
            <a:r>
              <a:rPr lang="zh-CN" altLang="en-US" dirty="0"/>
              <a:t>虽然摆脱了</a:t>
            </a:r>
            <a:r>
              <a:rPr lang="zh-CN" altLang="en-US" dirty="0">
                <a:hlinkClick r:id="rId17" action="ppaction://hlinkfile"/>
              </a:rPr>
              <a:t>传统计算机</a:t>
            </a:r>
            <a:r>
              <a:rPr lang="zh-CN" altLang="en-US" dirty="0"/>
              <a:t>单一控制流束缚，但它仍然存在以下两个缺点：</a:t>
            </a:r>
          </a:p>
          <a:p>
            <a:pPr lvl="0"/>
            <a:r>
              <a:rPr lang="en-US" altLang="x-none" dirty="0"/>
              <a:t>(1)</a:t>
            </a:r>
            <a:r>
              <a:rPr lang="zh-CN" altLang="en-US" dirty="0"/>
              <a:t>通常要用</a:t>
            </a:r>
            <a:r>
              <a:rPr lang="zh-CN" altLang="en-US" dirty="0">
                <a:hlinkClick r:id="rId18" action="ppaction://hlinkfile"/>
              </a:rPr>
              <a:t>程序计数器</a:t>
            </a:r>
            <a:r>
              <a:rPr lang="en-US" altLang="x-none" dirty="0"/>
              <a:t>PC</a:t>
            </a:r>
            <a:r>
              <a:rPr lang="zh-CN" altLang="en-US" dirty="0"/>
              <a:t>来指明指令的执行过程。</a:t>
            </a:r>
          </a:p>
          <a:p>
            <a:pPr lvl="0"/>
            <a:r>
              <a:rPr lang="en-US" altLang="x-none" dirty="0"/>
              <a:t>(2)</a:t>
            </a:r>
            <a:r>
              <a:rPr lang="zh-CN" altLang="en-US" dirty="0"/>
              <a:t>通过访问一个共享的</a:t>
            </a:r>
            <a:r>
              <a:rPr lang="zh-CN" altLang="en-US" dirty="0">
                <a:hlinkClick r:id="rId6" action="ppaction://hlinkfile"/>
              </a:rPr>
              <a:t>存储器</a:t>
            </a:r>
            <a:r>
              <a:rPr lang="zh-CN" altLang="en-US" dirty="0"/>
              <a:t>在指令之间传送</a:t>
            </a:r>
            <a:r>
              <a:rPr lang="zh-CN" altLang="en-US" dirty="0">
                <a:hlinkClick r:id="rId4" action="ppaction://hlinkfile"/>
              </a:rPr>
              <a:t>数据</a:t>
            </a:r>
            <a:r>
              <a:rPr lang="zh-CN" altLang="en-US" dirty="0"/>
              <a:t>。</a:t>
            </a:r>
          </a:p>
          <a:p>
            <a:pPr lvl="0"/>
            <a:r>
              <a:rPr lang="zh-CN" altLang="en-US" dirty="0"/>
              <a:t>针对</a:t>
            </a:r>
            <a:r>
              <a:rPr lang="en-US" altLang="zh-CN" dirty="0"/>
              <a:t>"</a:t>
            </a:r>
            <a:r>
              <a:rPr lang="zh-CN" altLang="en-US" dirty="0"/>
              <a:t>控制驱动</a:t>
            </a:r>
            <a:r>
              <a:rPr lang="en-US" altLang="zh-CN" dirty="0"/>
              <a:t>"</a:t>
            </a:r>
            <a:r>
              <a:rPr lang="zh-CN" altLang="en-US" dirty="0"/>
              <a:t>方式对</a:t>
            </a:r>
            <a:r>
              <a:rPr lang="zh-CN" altLang="en-US" dirty="0">
                <a:hlinkClick r:id="rId19" action="ppaction://hlinkfile"/>
              </a:rPr>
              <a:t>并行计算</a:t>
            </a:r>
            <a:r>
              <a:rPr lang="zh-CN" altLang="en-US" dirty="0"/>
              <a:t>的限制，</a:t>
            </a:r>
            <a:r>
              <a:rPr lang="en-US" altLang="x-none" dirty="0"/>
              <a:t>20</a:t>
            </a:r>
            <a:r>
              <a:rPr lang="zh-CN" altLang="en-US" dirty="0"/>
              <a:t>世纪</a:t>
            </a:r>
            <a:r>
              <a:rPr lang="en-US" altLang="x-none" dirty="0"/>
              <a:t>70</a:t>
            </a:r>
            <a:r>
              <a:rPr lang="zh-CN" altLang="en-US" dirty="0"/>
              <a:t>年代以来，提出了下面多种与冯</a:t>
            </a:r>
            <a:r>
              <a:rPr lang="en-US" altLang="x-none" dirty="0"/>
              <a:t>·</a:t>
            </a:r>
            <a:r>
              <a:rPr lang="zh-CN" altLang="en-US" dirty="0"/>
              <a:t>依曼型计算机截然不同的新概念模型的</a:t>
            </a:r>
            <a:r>
              <a:rPr lang="zh-CN" altLang="en-US" dirty="0">
                <a:hlinkClick r:id="rId20" action="ppaction://hlinkfile"/>
              </a:rPr>
              <a:t>系统结构</a:t>
            </a:r>
            <a:r>
              <a:rPr lang="zh-CN" altLang="en-US" dirty="0"/>
              <a:t>。</a:t>
            </a:r>
          </a:p>
          <a:p>
            <a:pPr lvl="0"/>
            <a:r>
              <a:rPr lang="zh-CN" altLang="en-US" b="1" dirty="0"/>
              <a:t>说法二</a:t>
            </a:r>
          </a:p>
          <a:p>
            <a:pPr lvl="0"/>
            <a:r>
              <a:rPr lang="zh-CN" altLang="en-US" dirty="0"/>
              <a:t>由于传统冯</a:t>
            </a:r>
            <a:r>
              <a:rPr lang="en-US" altLang="x-none" dirty="0"/>
              <a:t>.</a:t>
            </a:r>
            <a:r>
              <a:rPr lang="zh-CN" altLang="en-US" dirty="0"/>
              <a:t>诺依曼计算机体系结构天然所具有的局限性，从根本上限制了计算机的发展。</a:t>
            </a:r>
          </a:p>
          <a:p>
            <a:pPr lvl="0"/>
            <a:r>
              <a:rPr lang="en-US" altLang="x-none" dirty="0"/>
              <a:t>(1)</a:t>
            </a:r>
            <a:r>
              <a:rPr lang="zh-CN" altLang="en-US" dirty="0"/>
              <a:t>采用</a:t>
            </a:r>
            <a:r>
              <a:rPr lang="zh-CN" altLang="en-US" dirty="0">
                <a:hlinkClick r:id="rId21" action="ppaction://hlinkfile"/>
              </a:rPr>
              <a:t>存储程序方式</a:t>
            </a:r>
            <a:r>
              <a:rPr lang="zh-CN" altLang="en-US" dirty="0"/>
              <a:t>，指令和</a:t>
            </a:r>
            <a:r>
              <a:rPr lang="zh-CN" altLang="en-US" dirty="0">
                <a:hlinkClick r:id="rId4" action="ppaction://hlinkfile"/>
              </a:rPr>
              <a:t>数据</a:t>
            </a:r>
            <a:r>
              <a:rPr lang="zh-CN" altLang="en-US" dirty="0"/>
              <a:t>不加区别混合存储在同一个</a:t>
            </a:r>
            <a:r>
              <a:rPr lang="zh-CN" altLang="en-US" dirty="0">
                <a:hlinkClick r:id="rId6" action="ppaction://hlinkfile"/>
              </a:rPr>
              <a:t>存储器</a:t>
            </a:r>
            <a:r>
              <a:rPr lang="zh-CN" altLang="en-US" dirty="0"/>
              <a:t>中，（数据和程序在内存中是没有区别的</a:t>
            </a:r>
            <a:r>
              <a:rPr lang="en-US" altLang="x-none" dirty="0"/>
              <a:t>,</a:t>
            </a:r>
            <a:r>
              <a:rPr lang="zh-CN" altLang="en-US" dirty="0"/>
              <a:t>它们都是内存中的数据</a:t>
            </a:r>
            <a:r>
              <a:rPr lang="en-US" altLang="x-none" dirty="0"/>
              <a:t>,</a:t>
            </a:r>
            <a:r>
              <a:rPr lang="zh-CN" altLang="en-US" dirty="0"/>
              <a:t>当</a:t>
            </a:r>
            <a:r>
              <a:rPr lang="en-US" altLang="x-none" dirty="0"/>
              <a:t>EIP</a:t>
            </a:r>
            <a:r>
              <a:rPr lang="zh-CN" altLang="en-US" dirty="0"/>
              <a:t>指针指向哪 </a:t>
            </a:r>
            <a:r>
              <a:rPr lang="en-US" altLang="x-none" dirty="0"/>
              <a:t>CPU</a:t>
            </a:r>
            <a:r>
              <a:rPr lang="zh-CN" altLang="en-US" dirty="0"/>
              <a:t>就加载那段内存中的数据</a:t>
            </a:r>
            <a:r>
              <a:rPr lang="en-US" altLang="x-none" dirty="0"/>
              <a:t>,</a:t>
            </a:r>
            <a:r>
              <a:rPr lang="zh-CN" altLang="en-US" dirty="0"/>
              <a:t>如果是不正确的</a:t>
            </a:r>
            <a:r>
              <a:rPr lang="zh-CN" altLang="en-US" dirty="0">
                <a:hlinkClick r:id="rId22" action="ppaction://hlinkfile"/>
              </a:rPr>
              <a:t>指令格式</a:t>
            </a:r>
            <a:r>
              <a:rPr lang="en-US" altLang="x-none" dirty="0"/>
              <a:t>,CPU</a:t>
            </a:r>
            <a:r>
              <a:rPr lang="zh-CN" altLang="en-US" dirty="0"/>
              <a:t>就会发生错误中断</a:t>
            </a:r>
            <a:r>
              <a:rPr lang="en-US" altLang="x-none" dirty="0"/>
              <a:t>. </a:t>
            </a:r>
            <a:r>
              <a:rPr lang="zh-CN" altLang="en-US" dirty="0"/>
              <a:t>在现在</a:t>
            </a:r>
            <a:r>
              <a:rPr lang="en-US" altLang="x-none" dirty="0"/>
              <a:t>CPU</a:t>
            </a:r>
            <a:r>
              <a:rPr lang="zh-CN" altLang="en-US" dirty="0"/>
              <a:t>的保护模式中</a:t>
            </a:r>
            <a:r>
              <a:rPr lang="en-US" altLang="x-none" dirty="0"/>
              <a:t>,</a:t>
            </a:r>
            <a:r>
              <a:rPr lang="zh-CN" altLang="en-US" dirty="0"/>
              <a:t>每个内存段都其描述符</a:t>
            </a:r>
            <a:r>
              <a:rPr lang="en-US" altLang="x-none" dirty="0"/>
              <a:t>,</a:t>
            </a:r>
            <a:r>
              <a:rPr lang="zh-CN" altLang="en-US" dirty="0"/>
              <a:t>这个描述符记录着这个内存段的访问权限</a:t>
            </a:r>
            <a:r>
              <a:rPr lang="en-US" altLang="x-none" dirty="0"/>
              <a:t>(</a:t>
            </a:r>
            <a:r>
              <a:rPr lang="zh-CN" altLang="en-US" dirty="0"/>
              <a:t>可读</a:t>
            </a:r>
            <a:r>
              <a:rPr lang="en-US" altLang="x-none" dirty="0"/>
              <a:t>,</a:t>
            </a:r>
            <a:r>
              <a:rPr lang="zh-CN" altLang="en-US" dirty="0"/>
              <a:t>可写</a:t>
            </a:r>
            <a:r>
              <a:rPr lang="en-US" altLang="x-none" dirty="0"/>
              <a:t>,</a:t>
            </a:r>
            <a:r>
              <a:rPr lang="zh-CN" altLang="en-US" dirty="0"/>
              <a:t>可执行</a:t>
            </a:r>
            <a:r>
              <a:rPr lang="en-US" altLang="x-none" dirty="0"/>
              <a:t>).</a:t>
            </a:r>
            <a:r>
              <a:rPr lang="zh-CN" altLang="en-US" dirty="0"/>
              <a:t>这最就变相的指定了哪个些内存中存储的是指令哪些是数据）</a:t>
            </a:r>
          </a:p>
          <a:p>
            <a:pPr lvl="0"/>
            <a:r>
              <a:rPr lang="zh-CN" altLang="en-US" dirty="0"/>
              <a:t>指令和</a:t>
            </a:r>
            <a:r>
              <a:rPr lang="zh-CN" altLang="en-US" dirty="0">
                <a:hlinkClick r:id="rId4" action="ppaction://hlinkfile"/>
              </a:rPr>
              <a:t>数据</a:t>
            </a:r>
            <a:r>
              <a:rPr lang="zh-CN" altLang="en-US" dirty="0"/>
              <a:t>都可以送到</a:t>
            </a:r>
            <a:r>
              <a:rPr lang="zh-CN" altLang="en-US" dirty="0">
                <a:hlinkClick r:id="rId23" action="ppaction://hlinkfile"/>
              </a:rPr>
              <a:t>运算器</a:t>
            </a:r>
            <a:r>
              <a:rPr lang="zh-CN" altLang="en-US" dirty="0"/>
              <a:t>进行运算，即由指令组成的程序是可以修改的。</a:t>
            </a:r>
          </a:p>
          <a:p>
            <a:pPr lvl="0"/>
            <a:r>
              <a:rPr lang="en-US" altLang="x-none" dirty="0"/>
              <a:t>(2)</a:t>
            </a:r>
            <a:r>
              <a:rPr lang="zh-CN" altLang="en-US" dirty="0"/>
              <a:t>存储器是按</a:t>
            </a:r>
            <a:r>
              <a:rPr lang="zh-CN" altLang="en-US" dirty="0">
                <a:hlinkClick r:id="rId14" action="ppaction://hlinkfile"/>
              </a:rPr>
              <a:t>地址</a:t>
            </a:r>
            <a:r>
              <a:rPr lang="zh-CN" altLang="en-US" dirty="0"/>
              <a:t>访问的线性</a:t>
            </a:r>
            <a:r>
              <a:rPr lang="zh-CN" altLang="en-US" dirty="0">
                <a:hlinkClick r:id="rId24" action="ppaction://hlinkfile"/>
              </a:rPr>
              <a:t>编址</a:t>
            </a:r>
            <a:r>
              <a:rPr lang="zh-CN" altLang="en-US" dirty="0"/>
              <a:t>的一维结构，每个单元的位数是固定的。</a:t>
            </a:r>
          </a:p>
          <a:p>
            <a:pPr lvl="0"/>
            <a:r>
              <a:rPr lang="en-US" altLang="x-none" dirty="0"/>
              <a:t>(3)</a:t>
            </a:r>
            <a:r>
              <a:rPr lang="zh-CN" altLang="en-US" dirty="0"/>
              <a:t>指令由</a:t>
            </a:r>
            <a:r>
              <a:rPr lang="zh-CN" altLang="en-US" dirty="0">
                <a:hlinkClick r:id="rId25" action="ppaction://hlinkfile"/>
              </a:rPr>
              <a:t>操作码</a:t>
            </a:r>
            <a:r>
              <a:rPr lang="zh-CN" altLang="en-US" dirty="0"/>
              <a:t>和</a:t>
            </a:r>
            <a:r>
              <a:rPr lang="zh-CN" altLang="en-US" dirty="0">
                <a:hlinkClick r:id="rId14" action="ppaction://hlinkfile"/>
              </a:rPr>
              <a:t>地址</a:t>
            </a:r>
            <a:r>
              <a:rPr lang="zh-CN" altLang="en-US" dirty="0"/>
              <a:t>组成。</a:t>
            </a:r>
            <a:r>
              <a:rPr lang="zh-CN" altLang="en-US" dirty="0">
                <a:hlinkClick r:id="rId25" action="ppaction://hlinkfile"/>
              </a:rPr>
              <a:t>操作码</a:t>
            </a:r>
            <a:r>
              <a:rPr lang="zh-CN" altLang="en-US" dirty="0"/>
              <a:t>指明本指令的操作类型</a:t>
            </a:r>
            <a:r>
              <a:rPr lang="en-US" altLang="x-none" dirty="0"/>
              <a:t>,</a:t>
            </a:r>
            <a:r>
              <a:rPr lang="zh-CN" altLang="en-US" dirty="0">
                <a:hlinkClick r:id="rId26" action="ppaction://hlinkfile"/>
              </a:rPr>
              <a:t>地址码</a:t>
            </a:r>
            <a:r>
              <a:rPr lang="zh-CN" altLang="en-US" dirty="0"/>
              <a:t>指明</a:t>
            </a:r>
            <a:r>
              <a:rPr lang="zh-CN" altLang="en-US" dirty="0">
                <a:hlinkClick r:id="rId13" action="ppaction://hlinkfile"/>
              </a:rPr>
              <a:t>操作数</a:t>
            </a:r>
            <a:r>
              <a:rPr lang="zh-CN" altLang="en-US" dirty="0"/>
              <a:t>和地址。</a:t>
            </a:r>
            <a:r>
              <a:rPr lang="zh-CN" altLang="en-US" dirty="0">
                <a:hlinkClick r:id="rId13" action="ppaction://hlinkfile"/>
              </a:rPr>
              <a:t>操作数</a:t>
            </a:r>
            <a:r>
              <a:rPr lang="zh-CN" altLang="en-US" dirty="0"/>
              <a:t>本身无</a:t>
            </a:r>
            <a:r>
              <a:rPr lang="zh-CN" altLang="en-US" dirty="0">
                <a:hlinkClick r:id="rId27" action="ppaction://hlinkfile"/>
              </a:rPr>
              <a:t>数据类型</a:t>
            </a:r>
            <a:r>
              <a:rPr lang="zh-CN" altLang="en-US" dirty="0"/>
              <a:t>的标志，它的数据类型由</a:t>
            </a:r>
            <a:r>
              <a:rPr lang="zh-CN" altLang="en-US" dirty="0">
                <a:hlinkClick r:id="rId25" action="ppaction://hlinkfile"/>
              </a:rPr>
              <a:t>操作码</a:t>
            </a:r>
            <a:r>
              <a:rPr lang="zh-CN" altLang="en-US" dirty="0"/>
              <a:t>确定。</a:t>
            </a:r>
          </a:p>
          <a:p>
            <a:pPr lvl="0"/>
            <a:r>
              <a:rPr lang="en-US" altLang="x-none" dirty="0"/>
              <a:t>(4)</a:t>
            </a:r>
            <a:r>
              <a:rPr lang="zh-CN" altLang="en-US" dirty="0"/>
              <a:t>通过执行指令直接发出</a:t>
            </a:r>
            <a:r>
              <a:rPr lang="zh-CN" altLang="en-US" dirty="0">
                <a:hlinkClick r:id="rId28" action="ppaction://hlinkfile"/>
              </a:rPr>
              <a:t>控制信号</a:t>
            </a:r>
            <a:r>
              <a:rPr lang="zh-CN" altLang="en-US" dirty="0"/>
              <a:t>控制计算机的操作。指令在</a:t>
            </a:r>
            <a:r>
              <a:rPr lang="zh-CN" altLang="en-US" dirty="0">
                <a:hlinkClick r:id="rId6" action="ppaction://hlinkfile"/>
              </a:rPr>
              <a:t>存储器</a:t>
            </a:r>
            <a:r>
              <a:rPr lang="zh-CN" altLang="en-US" dirty="0"/>
              <a:t>中按其执行</a:t>
            </a:r>
            <a:r>
              <a:rPr lang="zh-CN" altLang="en-US" dirty="0">
                <a:hlinkClick r:id="rId29" action="ppaction://hlinkfile"/>
              </a:rPr>
              <a:t>顺序</a:t>
            </a:r>
            <a:r>
              <a:rPr lang="zh-CN" altLang="en-US" dirty="0"/>
              <a:t>存放，由指令计数器指明要执行的指令所在的</a:t>
            </a:r>
            <a:r>
              <a:rPr lang="zh-CN" altLang="en-US" dirty="0">
                <a:hlinkClick r:id="rId30" action="ppaction://hlinkfile"/>
              </a:rPr>
              <a:t>单元地址</a:t>
            </a:r>
            <a:r>
              <a:rPr lang="zh-CN" altLang="en-US" dirty="0"/>
              <a:t>。指令计数器只有一个，一般按</a:t>
            </a:r>
            <a:r>
              <a:rPr lang="zh-CN" altLang="en-US" dirty="0">
                <a:hlinkClick r:id="rId29" action="ppaction://hlinkfile"/>
              </a:rPr>
              <a:t>顺序</a:t>
            </a:r>
            <a:r>
              <a:rPr lang="zh-CN" altLang="en-US" dirty="0"/>
              <a:t>递增，但执行</a:t>
            </a:r>
            <a:r>
              <a:rPr lang="zh-CN" altLang="en-US" dirty="0">
                <a:hlinkClick r:id="rId29" action="ppaction://hlinkfile"/>
              </a:rPr>
              <a:t>顺序</a:t>
            </a:r>
            <a:r>
              <a:rPr lang="zh-CN" altLang="en-US" dirty="0"/>
              <a:t>可按运算结果或当时的外界条件而改变。</a:t>
            </a:r>
          </a:p>
          <a:p>
            <a:pPr lvl="0"/>
            <a:r>
              <a:rPr lang="en-US" altLang="x-none" dirty="0"/>
              <a:t>(5)</a:t>
            </a:r>
            <a:r>
              <a:rPr lang="zh-CN" altLang="en-US" dirty="0"/>
              <a:t>以</a:t>
            </a:r>
            <a:r>
              <a:rPr lang="zh-CN" altLang="en-US" dirty="0">
                <a:hlinkClick r:id="rId23" action="ppaction://hlinkfile"/>
              </a:rPr>
              <a:t>运算器</a:t>
            </a:r>
            <a:r>
              <a:rPr lang="zh-CN" altLang="en-US" dirty="0"/>
              <a:t>为中心，</a:t>
            </a:r>
            <a:r>
              <a:rPr lang="en-US" altLang="x-none" dirty="0"/>
              <a:t>I/O</a:t>
            </a:r>
            <a:r>
              <a:rPr lang="zh-CN" altLang="en-US" dirty="0"/>
              <a:t>设备与</a:t>
            </a:r>
            <a:r>
              <a:rPr lang="zh-CN" altLang="en-US" dirty="0">
                <a:hlinkClick r:id="rId6" action="ppaction://hlinkfile"/>
              </a:rPr>
              <a:t>存储器</a:t>
            </a:r>
            <a:r>
              <a:rPr lang="zh-CN" altLang="en-US" dirty="0"/>
              <a:t>间的</a:t>
            </a:r>
            <a:r>
              <a:rPr lang="zh-CN" altLang="en-US" dirty="0">
                <a:hlinkClick r:id="rId31" action="ppaction://hlinkfile"/>
              </a:rPr>
              <a:t>数据传送</a:t>
            </a:r>
            <a:r>
              <a:rPr lang="zh-CN" altLang="en-US" dirty="0"/>
              <a:t>都要经过运算器。</a:t>
            </a:r>
          </a:p>
          <a:p>
            <a:pPr lvl="0"/>
            <a:r>
              <a:rPr lang="en-US" altLang="x-none" dirty="0"/>
              <a:t>(6)</a:t>
            </a:r>
            <a:r>
              <a:rPr lang="zh-CN" altLang="en-US" dirty="0"/>
              <a:t>数据以</a:t>
            </a:r>
            <a:r>
              <a:rPr lang="zh-CN" altLang="en-US" dirty="0">
                <a:hlinkClick r:id="rId32" action="ppaction://hlinkfile"/>
              </a:rPr>
              <a:t>二进制</a:t>
            </a:r>
            <a:r>
              <a:rPr lang="zh-CN" altLang="en-US" dirty="0"/>
              <a:t>表示。</a:t>
            </a:r>
          </a:p>
          <a:p>
            <a:pPr lvl="0"/>
            <a:r>
              <a:rPr lang="zh-CN" altLang="en-US" dirty="0"/>
              <a:t>从本质上讲，冯</a:t>
            </a:r>
            <a:r>
              <a:rPr lang="en-US" altLang="x-none" dirty="0"/>
              <a:t>.</a:t>
            </a:r>
            <a:r>
              <a:rPr lang="zh-CN" altLang="en-US" dirty="0"/>
              <a:t>诺依曼</a:t>
            </a:r>
            <a:r>
              <a:rPr lang="zh-CN" altLang="en-US" dirty="0">
                <a:hlinkClick r:id="rId33" action="ppaction://hlinkfile"/>
              </a:rPr>
              <a:t>体系结构</a:t>
            </a:r>
            <a:r>
              <a:rPr lang="zh-CN" altLang="en-US" dirty="0"/>
              <a:t>的本征属性就是二个一维性，即一维的计算模型和一维的存储模型，简单地说</a:t>
            </a:r>
            <a:r>
              <a:rPr lang="en-US" altLang="zh-CN" dirty="0"/>
              <a:t>"</a:t>
            </a:r>
            <a:r>
              <a:rPr lang="zh-CN" altLang="en-US" dirty="0">
                <a:hlinkClick r:id="rId34" action="ppaction://hlinkfile"/>
              </a:rPr>
              <a:t>存储程序</a:t>
            </a:r>
            <a:r>
              <a:rPr lang="en-US" altLang="zh-CN" dirty="0"/>
              <a:t>"</a:t>
            </a:r>
            <a:r>
              <a:rPr lang="zh-CN" altLang="en-US" dirty="0"/>
              <a:t>是不确切的。而正是这二个一维性，成就了现代计算机的辉煌，也限制了计算机的进一步的发展，真可谓</a:t>
            </a:r>
            <a:r>
              <a:rPr lang="en-US" altLang="zh-CN" dirty="0"/>
              <a:t>"</a:t>
            </a:r>
            <a:r>
              <a:rPr lang="zh-CN" altLang="en-US" dirty="0"/>
              <a:t>成也冯，败也冯</a:t>
            </a:r>
            <a:r>
              <a:rPr lang="en-US" altLang="zh-CN" dirty="0"/>
              <a:t>"</a:t>
            </a:r>
            <a:r>
              <a:rPr lang="zh-CN" altLang="en-US" dirty="0"/>
              <a:t>。</a:t>
            </a:r>
          </a:p>
          <a:p>
            <a:pPr lvl="0"/>
            <a:r>
              <a:rPr lang="zh-CN" altLang="en-US" dirty="0"/>
              <a:t>冯</a:t>
            </a:r>
            <a:r>
              <a:rPr lang="en-US" altLang="x-none" dirty="0"/>
              <a:t>·</a:t>
            </a:r>
            <a:r>
              <a:rPr lang="zh-CN" altLang="en-US" dirty="0"/>
              <a:t>诺依曼计算机的软件和硬件完全分离，适用于作数值计算。这种计算机的</a:t>
            </a:r>
            <a:r>
              <a:rPr lang="zh-CN" altLang="en-US" dirty="0">
                <a:hlinkClick r:id="rId35" action="ppaction://hlinkfile"/>
              </a:rPr>
              <a:t>机器语言</a:t>
            </a:r>
            <a:r>
              <a:rPr lang="zh-CN" altLang="en-US" dirty="0"/>
              <a:t>同高级语言在语义上存在很大的间隔，称之为冯</a:t>
            </a:r>
            <a:r>
              <a:rPr lang="en-US" altLang="x-none" dirty="0"/>
              <a:t>.</a:t>
            </a:r>
            <a:r>
              <a:rPr lang="zh-CN" altLang="en-US" dirty="0"/>
              <a:t>依曼语义间隔。造成这个差距的其中一个重要原因就是</a:t>
            </a:r>
            <a:r>
              <a:rPr lang="zh-CN" altLang="en-US" dirty="0">
                <a:hlinkClick r:id="rId6" action="ppaction://hlinkfile"/>
              </a:rPr>
              <a:t>存储器</a:t>
            </a:r>
            <a:r>
              <a:rPr lang="zh-CN" altLang="en-US" dirty="0"/>
              <a:t>组织方式不同，冯</a:t>
            </a:r>
            <a:r>
              <a:rPr lang="en-US" altLang="x-none" dirty="0"/>
              <a:t>·</a:t>
            </a:r>
            <a:r>
              <a:rPr lang="zh-CN" altLang="en-US" dirty="0"/>
              <a:t>诺依曼机存储器是一维的线性排列的单元，按</a:t>
            </a:r>
            <a:r>
              <a:rPr lang="zh-CN" altLang="en-US" dirty="0">
                <a:hlinkClick r:id="rId29" action="ppaction://hlinkfile"/>
              </a:rPr>
              <a:t>顺序</a:t>
            </a:r>
            <a:r>
              <a:rPr lang="zh-CN" altLang="en-US" dirty="0"/>
              <a:t>排列的</a:t>
            </a:r>
            <a:r>
              <a:rPr lang="zh-CN" altLang="en-US" dirty="0">
                <a:hlinkClick r:id="rId14" action="ppaction://hlinkfile"/>
              </a:rPr>
              <a:t>地址</a:t>
            </a:r>
            <a:r>
              <a:rPr lang="zh-CN" altLang="en-US" dirty="0"/>
              <a:t>访问。而高级语言表示的</a:t>
            </a:r>
            <a:r>
              <a:rPr lang="zh-CN" altLang="en-US" dirty="0">
                <a:hlinkClick r:id="rId6" action="ppaction://hlinkfile"/>
              </a:rPr>
              <a:t>存储器</a:t>
            </a:r>
            <a:r>
              <a:rPr lang="zh-CN" altLang="en-US" dirty="0"/>
              <a:t>则是一组有名字的</a:t>
            </a:r>
            <a:r>
              <a:rPr lang="zh-CN" altLang="en-US" dirty="0">
                <a:hlinkClick r:id="rId36" action="ppaction://hlinkfile"/>
              </a:rPr>
              <a:t>变量</a:t>
            </a:r>
            <a:r>
              <a:rPr lang="zh-CN" altLang="en-US" dirty="0"/>
              <a:t>，按名字调用变量，不考虑访问方法，而且</a:t>
            </a:r>
            <a:r>
              <a:rPr lang="zh-CN" altLang="en-US" dirty="0">
                <a:hlinkClick r:id="rId37" action="ppaction://hlinkfile"/>
              </a:rPr>
              <a:t>数据结构</a:t>
            </a:r>
            <a:r>
              <a:rPr lang="zh-CN" altLang="en-US" dirty="0"/>
              <a:t>经常是多维的（如数组，表格）。另外，在大多数高级语言中，</a:t>
            </a:r>
            <a:r>
              <a:rPr lang="zh-CN" altLang="en-US" dirty="0">
                <a:hlinkClick r:id="rId4" action="ppaction://hlinkfile"/>
              </a:rPr>
              <a:t>数据</a:t>
            </a:r>
            <a:r>
              <a:rPr lang="zh-CN" altLang="en-US" dirty="0"/>
              <a:t>和指令截然不同，并无指令可以像数据一样进行运算操作的概念。同时，高级语言中的每种操作对于任何</a:t>
            </a:r>
            <a:r>
              <a:rPr lang="zh-CN" altLang="en-US" dirty="0">
                <a:hlinkClick r:id="rId27" action="ppaction://hlinkfile"/>
              </a:rPr>
              <a:t>数据类型</a:t>
            </a:r>
            <a:r>
              <a:rPr lang="zh-CN" altLang="en-US" dirty="0"/>
              <a:t>都是通用的，数据类型属于数据本身，而冯</a:t>
            </a:r>
            <a:r>
              <a:rPr lang="en-US" altLang="x-none" dirty="0"/>
              <a:t>.</a:t>
            </a:r>
            <a:r>
              <a:rPr lang="zh-CN" altLang="en-US" dirty="0"/>
              <a:t>诺依曼机的数据本身没有属性标志，同一种操作要用不同的</a:t>
            </a:r>
            <a:r>
              <a:rPr lang="zh-CN" altLang="en-US" dirty="0">
                <a:hlinkClick r:id="rId25" action="ppaction://hlinkfile"/>
              </a:rPr>
              <a:t>操作码</a:t>
            </a:r>
            <a:r>
              <a:rPr lang="zh-CN" altLang="en-US" dirty="0"/>
              <a:t>来对数据加以区分。这些因素导致了语义的差距。如何消除如此大的语义间隔，这成了计算机面临的一大难题和发展障碍。</a:t>
            </a:r>
          </a:p>
          <a:p>
            <a:pPr lvl="0"/>
            <a:r>
              <a:rPr lang="zh-CN" altLang="en-US" dirty="0"/>
              <a:t>冯</a:t>
            </a:r>
            <a:r>
              <a:rPr lang="en-US" altLang="x-none" dirty="0"/>
              <a:t>.</a:t>
            </a:r>
            <a:r>
              <a:rPr lang="zh-CN" altLang="en-US" dirty="0"/>
              <a:t>诺依曼体系结构的局限严重束缚了现代计算机的进一步发展，而非数值处理应用领域对计算机性能的要求越来越高，这就亟待需要突破传统计算机体系结构的框架，寻求新的体系结构来解决实际应用问题。目前在体系结构方面已经有了重大的变化和改进，如并行计算机、数据流计算机以及量子计算机、 </a:t>
            </a:r>
            <a:r>
              <a:rPr lang="en-US" altLang="x-none" dirty="0">
                <a:hlinkClick r:id="rId38" action="ppaction://hlinkfile"/>
              </a:rPr>
              <a:t>DNA</a:t>
            </a:r>
            <a:r>
              <a:rPr lang="zh-CN" altLang="en-US" dirty="0">
                <a:hlinkClick r:id="rId38" action="ppaction://hlinkfile"/>
              </a:rPr>
              <a:t>计算机</a:t>
            </a:r>
            <a:r>
              <a:rPr lang="zh-CN" altLang="en-US" dirty="0"/>
              <a:t>等非冯计算机，它们部分或完全不同于传统的冯</a:t>
            </a:r>
            <a:r>
              <a:rPr lang="en-US" altLang="x-none" dirty="0"/>
              <a:t>.</a:t>
            </a:r>
            <a:r>
              <a:rPr lang="zh-CN" altLang="en-US" dirty="0"/>
              <a:t>诺依曼型计算机，很大程度上提高了计算机的计算性能。</a:t>
            </a:r>
          </a:p>
          <a:p>
            <a:pPr lvl="0"/>
            <a:r>
              <a:rPr lang="zh-CN" altLang="en-US" b="1" dirty="0">
                <a:hlinkClick r:id="rId39" action="ppaction://hlinkfile"/>
              </a:rPr>
              <a:t>编辑本段</a:t>
            </a:r>
            <a:r>
              <a:rPr lang="zh-CN" altLang="en-US" b="1" dirty="0"/>
              <a:t>冯</a:t>
            </a:r>
            <a:r>
              <a:rPr lang="en-US" altLang="x-none" b="1" dirty="0"/>
              <a:t>·</a:t>
            </a:r>
            <a:r>
              <a:rPr lang="zh-CN" altLang="en-US" b="1" dirty="0"/>
              <a:t>诺依曼体系结构</a:t>
            </a:r>
            <a:r>
              <a:rPr lang="en-US" altLang="x-none" b="1" dirty="0"/>
              <a:t>-</a:t>
            </a:r>
            <a:r>
              <a:rPr lang="zh-CN" altLang="en-US" b="1" dirty="0"/>
              <a:t>非诺依曼化</a:t>
            </a:r>
          </a:p>
          <a:p>
            <a:pPr lvl="0"/>
            <a:r>
              <a:rPr lang="zh-CN" altLang="en-US" dirty="0"/>
              <a:t>必须看到，传统的冯</a:t>
            </a:r>
            <a:r>
              <a:rPr lang="en-US" altLang="x-none" dirty="0"/>
              <a:t>·</a:t>
            </a:r>
            <a:r>
              <a:rPr lang="zh-CN" altLang="en-US" dirty="0"/>
              <a:t>诺依曼型计算机从本质上讲是采取串行</a:t>
            </a:r>
            <a:r>
              <a:rPr lang="zh-CN" altLang="en-US" dirty="0">
                <a:hlinkClick r:id="rId29" action="ppaction://hlinkfile"/>
              </a:rPr>
              <a:t>顺序</a:t>
            </a:r>
            <a:r>
              <a:rPr lang="zh-CN" altLang="en-US" dirty="0"/>
              <a:t>处理的工作机制，即使有关</a:t>
            </a:r>
            <a:r>
              <a:rPr lang="zh-CN" altLang="en-US" dirty="0">
                <a:hlinkClick r:id="rId4" action="ppaction://hlinkfile"/>
              </a:rPr>
              <a:t>数据</a:t>
            </a:r>
            <a:r>
              <a:rPr lang="zh-CN" altLang="en-US" dirty="0"/>
              <a:t>巳经准备好，也必须逐条执行指令序列。而提高计算机性能的根本方向之一是</a:t>
            </a:r>
            <a:r>
              <a:rPr lang="zh-CN" altLang="en-US" dirty="0">
                <a:hlinkClick r:id="rId40" action="ppaction://hlinkfile"/>
              </a:rPr>
              <a:t>并行处理</a:t>
            </a:r>
            <a:r>
              <a:rPr lang="zh-CN" altLang="en-US" dirty="0"/>
              <a:t>。因此，近年来人们谋求突破传统冯</a:t>
            </a:r>
            <a:r>
              <a:rPr lang="en-US" altLang="x-none" dirty="0"/>
              <a:t>·</a:t>
            </a:r>
            <a:r>
              <a:rPr lang="zh-CN" altLang="en-US" dirty="0"/>
              <a:t>诺依曼体制的束缚，这种努力被称为非诺依曼化。对所谓非诺依曼化的探讨仍在争议中，一般认为它表现在以下三个方面的努力。 </a:t>
            </a:r>
          </a:p>
          <a:p>
            <a:pPr lvl="0"/>
            <a:r>
              <a:rPr lang="zh-CN" altLang="en-US" dirty="0"/>
              <a:t>（</a:t>
            </a:r>
            <a:r>
              <a:rPr lang="en-US" altLang="x-none" dirty="0"/>
              <a:t>1</a:t>
            </a:r>
            <a:r>
              <a:rPr lang="zh-CN" altLang="en-US" dirty="0"/>
              <a:t>）在冯</a:t>
            </a:r>
            <a:r>
              <a:rPr lang="en-US" altLang="x-none" dirty="0"/>
              <a:t>·</a:t>
            </a:r>
            <a:r>
              <a:rPr lang="zh-CN" altLang="en-US" dirty="0"/>
              <a:t>诺依曼体制范畴内，对传统冯</a:t>
            </a:r>
            <a:r>
              <a:rPr lang="en-US" altLang="x-none" dirty="0"/>
              <a:t>·</a:t>
            </a:r>
            <a:r>
              <a:rPr lang="zh-CN" altLang="en-US" dirty="0"/>
              <a:t>诺依曼机进行改造，如采用多个处理部件形成流水处理，</a:t>
            </a:r>
          </a:p>
          <a:p>
            <a:pPr lvl="0"/>
            <a:r>
              <a:rPr lang="zh-CN" altLang="en-US" dirty="0"/>
              <a:t>依靠时间上的重叠提高处理效率；又如组成阵列机结构，形成</a:t>
            </a:r>
            <a:r>
              <a:rPr lang="zh-CN" altLang="en-US" dirty="0">
                <a:hlinkClick r:id="rId41" action="ppaction://hlinkfile"/>
              </a:rPr>
              <a:t>单指令流多数据流</a:t>
            </a:r>
            <a:r>
              <a:rPr lang="zh-CN" altLang="en-US" dirty="0"/>
              <a:t>，提高处理速</a:t>
            </a:r>
          </a:p>
          <a:p>
            <a:pPr lvl="0"/>
            <a:r>
              <a:rPr lang="zh-CN" altLang="en-US" dirty="0"/>
              <a:t>度。这些方向已比较成熟，成为标准结构； </a:t>
            </a:r>
          </a:p>
          <a:p>
            <a:pPr lvl="0"/>
            <a:r>
              <a:rPr lang="zh-CN" altLang="en-US" dirty="0"/>
              <a:t>（</a:t>
            </a:r>
            <a:r>
              <a:rPr lang="en-US" altLang="x-none" dirty="0"/>
              <a:t>2</a:t>
            </a:r>
            <a:r>
              <a:rPr lang="zh-CN" altLang="en-US" dirty="0"/>
              <a:t>）用多个冯</a:t>
            </a:r>
            <a:r>
              <a:rPr lang="en-US" altLang="x-none" dirty="0"/>
              <a:t>·</a:t>
            </a:r>
            <a:r>
              <a:rPr lang="zh-CN" altLang="en-US" dirty="0"/>
              <a:t>诺依曼机组成多机系统，支持</a:t>
            </a:r>
            <a:r>
              <a:rPr lang="zh-CN" altLang="en-US" dirty="0">
                <a:hlinkClick r:id="rId39" action="ppaction://hlinkfile"/>
              </a:rPr>
              <a:t>并行算法</a:t>
            </a:r>
            <a:r>
              <a:rPr lang="zh-CN" altLang="en-US" dirty="0"/>
              <a:t>结构。这方面的研究目前比较活跃； </a:t>
            </a:r>
          </a:p>
          <a:p>
            <a:pPr lvl="0"/>
            <a:r>
              <a:rPr lang="zh-CN" altLang="en-US" dirty="0"/>
              <a:t>（</a:t>
            </a:r>
            <a:r>
              <a:rPr lang="en-US" altLang="x-none" dirty="0"/>
              <a:t>3</a:t>
            </a:r>
            <a:r>
              <a:rPr lang="zh-CN" altLang="en-US" dirty="0"/>
              <a:t>）从根本上改变冯</a:t>
            </a:r>
            <a:r>
              <a:rPr lang="en-US" altLang="x-none" dirty="0"/>
              <a:t>·</a:t>
            </a:r>
            <a:r>
              <a:rPr lang="zh-CN" altLang="en-US" dirty="0"/>
              <a:t>诺依曼机的</a:t>
            </a:r>
            <a:r>
              <a:rPr lang="zh-CN" altLang="en-US" dirty="0">
                <a:hlinkClick r:id="rId12" action="ppaction://hlinkfile"/>
              </a:rPr>
              <a:t>控制流</a:t>
            </a:r>
            <a:r>
              <a:rPr lang="zh-CN" altLang="en-US" dirty="0"/>
              <a:t>驱动方式。例如，采用</a:t>
            </a:r>
            <a:r>
              <a:rPr lang="zh-CN" altLang="en-US" dirty="0">
                <a:hlinkClick r:id="rId42" action="ppaction://hlinkfile"/>
              </a:rPr>
              <a:t>数据流</a:t>
            </a:r>
            <a:r>
              <a:rPr lang="zh-CN" altLang="en-US" dirty="0"/>
              <a:t>驱动工作方式的数据流计算</a:t>
            </a:r>
          </a:p>
          <a:p>
            <a:pPr lvl="0"/>
            <a:r>
              <a:rPr lang="zh-CN" altLang="en-US" dirty="0"/>
              <a:t>机，只要</a:t>
            </a:r>
            <a:r>
              <a:rPr lang="zh-CN" altLang="en-US" dirty="0">
                <a:hlinkClick r:id="rId4" action="ppaction://hlinkfile"/>
              </a:rPr>
              <a:t>数据</a:t>
            </a:r>
            <a:r>
              <a:rPr lang="zh-CN" altLang="en-US" dirty="0"/>
              <a:t>已经准备好，有关的指令就可并行地执行。这是真正非诺依曼化的计算机，它为并</a:t>
            </a:r>
          </a:p>
          <a:p>
            <a:pPr lvl="0"/>
            <a:r>
              <a:rPr lang="zh-CN" altLang="en-US" dirty="0"/>
              <a:t>行处理开辟了新的</a:t>
            </a:r>
            <a:r>
              <a:rPr lang="zh-CN" altLang="en-US" dirty="0">
                <a:hlinkClick r:id="rId43" action="ppaction://hlinkfile"/>
              </a:rPr>
              <a:t>前景</a:t>
            </a:r>
            <a:r>
              <a:rPr lang="zh-CN" altLang="en-US" dirty="0"/>
              <a:t>，但由于控制的复杂性，仍处于实验探索之中。</a:t>
            </a:r>
          </a:p>
          <a:p>
            <a:pPr lvl="0"/>
            <a:r>
              <a:rPr lang="zh-CN" altLang="en-US" b="1" dirty="0">
                <a:hlinkClick r:id="rId4" action="ppaction://hlinkfile"/>
              </a:rPr>
              <a:t>编辑本段</a:t>
            </a:r>
            <a:r>
              <a:rPr lang="zh-CN" altLang="en-US" b="1" dirty="0"/>
              <a:t>哈佛结构</a:t>
            </a:r>
          </a:p>
          <a:p>
            <a:pPr lvl="0"/>
            <a:r>
              <a:rPr lang="zh-CN" altLang="en-US" dirty="0"/>
              <a:t>特点：</a:t>
            </a:r>
          </a:p>
          <a:p>
            <a:pPr lvl="0"/>
            <a:r>
              <a:rPr lang="zh-CN" altLang="en-US" dirty="0"/>
              <a:t>使用两个独立的</a:t>
            </a:r>
            <a:r>
              <a:rPr lang="zh-CN" altLang="en-US" dirty="0">
                <a:hlinkClick r:id="rId6" action="ppaction://hlinkfile"/>
              </a:rPr>
              <a:t>存储器</a:t>
            </a:r>
            <a:r>
              <a:rPr lang="zh-CN" altLang="en-US" dirty="0"/>
              <a:t>模块，分别存储指令和</a:t>
            </a:r>
            <a:r>
              <a:rPr lang="zh-CN" altLang="en-US" dirty="0">
                <a:hlinkClick r:id="rId4" action="ppaction://hlinkfile"/>
              </a:rPr>
              <a:t>数据</a:t>
            </a:r>
            <a:r>
              <a:rPr lang="zh-CN" altLang="en-US" dirty="0"/>
              <a:t>，每个存储模块都不允许指令和数据并存，以便实现</a:t>
            </a:r>
            <a:r>
              <a:rPr lang="zh-CN" altLang="en-US" dirty="0">
                <a:hlinkClick r:id="rId40" action="ppaction://hlinkfile"/>
              </a:rPr>
              <a:t>并行处理</a:t>
            </a:r>
            <a:r>
              <a:rPr lang="zh-CN" altLang="en-US" dirty="0"/>
              <a:t>； </a:t>
            </a:r>
          </a:p>
          <a:p>
            <a:pPr lvl="0"/>
            <a:r>
              <a:rPr lang="zh-CN" altLang="en-US" dirty="0"/>
              <a:t>具有一条独立的</a:t>
            </a:r>
            <a:r>
              <a:rPr lang="zh-CN" altLang="en-US" dirty="0">
                <a:hlinkClick r:id="rId44" action="ppaction://hlinkfile"/>
              </a:rPr>
              <a:t>地址总线</a:t>
            </a:r>
            <a:r>
              <a:rPr lang="zh-CN" altLang="en-US" dirty="0"/>
              <a:t>和一条独立的</a:t>
            </a:r>
            <a:r>
              <a:rPr lang="zh-CN" altLang="en-US" dirty="0">
                <a:hlinkClick r:id="rId45" action="ppaction://hlinkfile"/>
              </a:rPr>
              <a:t>数据总线</a:t>
            </a:r>
            <a:r>
              <a:rPr lang="zh-CN" altLang="en-US" dirty="0"/>
              <a:t>，利用公用地址总线访问两个存储模块（程序存储模块和数据存储模块），公用数据总线则被用来完成程序存储模块或数据存储模块与</a:t>
            </a:r>
            <a:r>
              <a:rPr lang="en-US" altLang="x-none" dirty="0"/>
              <a:t>CPU</a:t>
            </a:r>
            <a:r>
              <a:rPr lang="zh-CN" altLang="en-US" dirty="0"/>
              <a:t>之间的数据传输； </a:t>
            </a:r>
          </a:p>
          <a:p>
            <a:pPr lvl="0"/>
            <a:r>
              <a:rPr lang="zh-CN" altLang="en-US" dirty="0"/>
              <a:t>两条总线由程序存储器和</a:t>
            </a:r>
            <a:r>
              <a:rPr lang="zh-CN" altLang="en-US" dirty="0">
                <a:hlinkClick r:id="rId4" action="ppaction://hlinkfile"/>
              </a:rPr>
              <a:t>数据</a:t>
            </a:r>
            <a:r>
              <a:rPr lang="zh-CN" altLang="en-US" dirty="0"/>
              <a:t>存储器分时共用</a:t>
            </a:r>
          </a:p>
          <a:p>
            <a:pPr lvl="0"/>
            <a:r>
              <a:rPr lang="zh-CN" altLang="en-US" dirty="0"/>
              <a:t>在典型情况下，完成一条指令需要</a:t>
            </a:r>
            <a:r>
              <a:rPr lang="en-US" altLang="x-none" dirty="0"/>
              <a:t>3</a:t>
            </a:r>
            <a:r>
              <a:rPr lang="zh-CN" altLang="en-US" dirty="0"/>
              <a:t>个步骤，即：取指令、指令译码和执行指令。从</a:t>
            </a:r>
            <a:r>
              <a:rPr lang="zh-CN" altLang="en-US" dirty="0">
                <a:hlinkClick r:id="rId46" action="ppaction://hlinkfile"/>
              </a:rPr>
              <a:t>指令流</a:t>
            </a:r>
            <a:r>
              <a:rPr lang="zh-CN" altLang="en-US" dirty="0"/>
              <a:t>的定时关系也可看出冯</a:t>
            </a:r>
            <a:r>
              <a:rPr lang="en-US" altLang="x-none" dirty="0"/>
              <a:t>.</a:t>
            </a:r>
            <a:r>
              <a:rPr lang="zh-CN" altLang="en-US" dirty="0"/>
              <a:t>诺曼结构与</a:t>
            </a:r>
            <a:r>
              <a:rPr lang="zh-CN" altLang="en-US" dirty="0">
                <a:hlinkClick r:id="rId47" action="ppaction://hlinkfile"/>
              </a:rPr>
              <a:t>哈佛结构</a:t>
            </a:r>
            <a:r>
              <a:rPr lang="zh-CN" altLang="en-US" dirty="0"/>
              <a:t>处理方式的差别。举一个最简单的对</a:t>
            </a:r>
            <a:r>
              <a:rPr lang="zh-CN" altLang="en-US" dirty="0">
                <a:hlinkClick r:id="rId6" action="ppaction://hlinkfile"/>
              </a:rPr>
              <a:t>存储器</a:t>
            </a:r>
            <a:r>
              <a:rPr lang="zh-CN" altLang="en-US" dirty="0"/>
              <a:t>进行读写操作的指令，指令</a:t>
            </a:r>
            <a:r>
              <a:rPr lang="en-US" altLang="x-none" dirty="0"/>
              <a:t>1</a:t>
            </a:r>
            <a:r>
              <a:rPr lang="zh-CN" altLang="en-US" dirty="0"/>
              <a:t>至指令</a:t>
            </a:r>
            <a:r>
              <a:rPr lang="en-US" altLang="x-none" dirty="0"/>
              <a:t>3</a:t>
            </a:r>
            <a:r>
              <a:rPr lang="zh-CN" altLang="en-US" dirty="0"/>
              <a:t>均为存、取数指令，对冯</a:t>
            </a:r>
            <a:r>
              <a:rPr lang="en-US" altLang="x-none" dirty="0"/>
              <a:t>.</a:t>
            </a:r>
            <a:r>
              <a:rPr lang="zh-CN" altLang="en-US" dirty="0"/>
              <a:t>诺曼结构</a:t>
            </a:r>
            <a:r>
              <a:rPr lang="zh-CN" altLang="en-US" dirty="0">
                <a:hlinkClick r:id="rId48" action="ppaction://hlinkfile"/>
              </a:rPr>
              <a:t>处理器</a:t>
            </a:r>
            <a:r>
              <a:rPr lang="zh-CN" altLang="en-US" dirty="0"/>
              <a:t>，由于取指令和存取</a:t>
            </a:r>
            <a:r>
              <a:rPr lang="zh-CN" altLang="en-US" dirty="0">
                <a:hlinkClick r:id="rId4" action="ppaction://hlinkfile"/>
              </a:rPr>
              <a:t>数据</a:t>
            </a:r>
            <a:r>
              <a:rPr lang="zh-CN" altLang="en-US" dirty="0"/>
              <a:t>要从同一个</a:t>
            </a:r>
            <a:r>
              <a:rPr lang="zh-CN" altLang="en-US" dirty="0">
                <a:hlinkClick r:id="rId49" action="ppaction://hlinkfile"/>
              </a:rPr>
              <a:t>存储空间</a:t>
            </a:r>
            <a:r>
              <a:rPr lang="zh-CN" altLang="en-US" dirty="0"/>
              <a:t>存取，经由同一总线传输，因而它们无法重叠执行，只有一个完成后再进行下一个。</a:t>
            </a:r>
          </a:p>
          <a:p>
            <a:pPr lvl="0"/>
            <a:r>
              <a:rPr lang="zh-CN" altLang="en-US" dirty="0"/>
              <a:t>如果采用</a:t>
            </a:r>
            <a:r>
              <a:rPr lang="zh-CN" altLang="en-US" dirty="0">
                <a:hlinkClick r:id="rId47" action="ppaction://hlinkfile"/>
              </a:rPr>
              <a:t>哈佛结构</a:t>
            </a:r>
            <a:r>
              <a:rPr lang="zh-CN" altLang="en-US" dirty="0"/>
              <a:t>处理以上同样的</a:t>
            </a:r>
            <a:r>
              <a:rPr lang="en-US" altLang="x-none" dirty="0"/>
              <a:t>3</a:t>
            </a:r>
            <a:r>
              <a:rPr lang="zh-CN" altLang="en-US" dirty="0"/>
              <a:t>条存取数指令，如下图所示，由于取指令和存取</a:t>
            </a:r>
            <a:r>
              <a:rPr lang="zh-CN" altLang="en-US" dirty="0">
                <a:hlinkClick r:id="rId4" action="ppaction://hlinkfile"/>
              </a:rPr>
              <a:t>数据</a:t>
            </a:r>
            <a:r>
              <a:rPr lang="zh-CN" altLang="en-US" dirty="0"/>
              <a:t>分别经由不同的</a:t>
            </a:r>
            <a:r>
              <a:rPr lang="zh-CN" altLang="en-US" dirty="0">
                <a:hlinkClick r:id="rId49" action="ppaction://hlinkfile"/>
              </a:rPr>
              <a:t>存储空间</a:t>
            </a:r>
            <a:r>
              <a:rPr lang="zh-CN" altLang="en-US" dirty="0"/>
              <a:t>和不同的总线，使得各条指令可以重叠执行，这样，也就克服了数据流传输的瓶颈，提高了运算速度。</a:t>
            </a:r>
          </a:p>
          <a:p>
            <a:pPr lvl="0"/>
            <a:r>
              <a:rPr lang="zh-CN" altLang="en-US" dirty="0">
                <a:hlinkClick r:id="rId47" action="ppaction://hlinkfile"/>
              </a:rPr>
              <a:t>哈佛结构</a:t>
            </a:r>
            <a:r>
              <a:rPr lang="zh-CN" altLang="en-US" dirty="0"/>
              <a:t>强调了总的系统速度以及通讯和</a:t>
            </a:r>
            <a:r>
              <a:rPr lang="zh-CN" altLang="en-US" dirty="0">
                <a:hlinkClick r:id="rId48" action="ppaction://hlinkfile"/>
              </a:rPr>
              <a:t>处理器</a:t>
            </a:r>
            <a:r>
              <a:rPr lang="zh-CN" altLang="en-US" dirty="0"/>
              <a:t>配置方面的灵活性。</a:t>
            </a:r>
          </a:p>
          <a:p>
            <a:pPr lvl="0"/>
            <a:r>
              <a:rPr lang="en-US" altLang="x-none" dirty="0"/>
              <a:t>TI </a:t>
            </a:r>
            <a:r>
              <a:rPr lang="zh-CN" altLang="en-US" dirty="0"/>
              <a:t>公司</a:t>
            </a:r>
            <a:r>
              <a:rPr lang="en-US" altLang="x-none" dirty="0"/>
              <a:t>DSP</a:t>
            </a:r>
            <a:r>
              <a:rPr lang="zh-CN" altLang="en-US" dirty="0"/>
              <a:t>采用的改进型</a:t>
            </a:r>
            <a:r>
              <a:rPr lang="zh-CN" altLang="en-US" dirty="0">
                <a:hlinkClick r:id="rId47" action="ppaction://hlinkfile"/>
              </a:rPr>
              <a:t>哈佛结构</a:t>
            </a:r>
            <a:r>
              <a:rPr lang="zh-CN" altLang="en-US" dirty="0"/>
              <a:t>其改进之处在于 在</a:t>
            </a:r>
            <a:r>
              <a:rPr lang="zh-CN" altLang="en-US" dirty="0">
                <a:hlinkClick r:id="rId45" action="ppaction://hlinkfile"/>
              </a:rPr>
              <a:t>数据总线</a:t>
            </a:r>
            <a:r>
              <a:rPr lang="zh-CN" altLang="en-US" dirty="0"/>
              <a:t>和程序总线之间进行局部的交叉连接。这一改进允许</a:t>
            </a:r>
            <a:r>
              <a:rPr lang="zh-CN" altLang="en-US" dirty="0">
                <a:hlinkClick r:id="rId4" action="ppaction://hlinkfile"/>
              </a:rPr>
              <a:t>数据</a:t>
            </a:r>
            <a:r>
              <a:rPr lang="zh-CN" altLang="en-US" dirty="0"/>
              <a:t>存放在</a:t>
            </a:r>
            <a:r>
              <a:rPr lang="zh-CN" altLang="en-US" dirty="0">
                <a:hlinkClick r:id="rId50" action="ppaction://hlinkfile"/>
              </a:rPr>
              <a:t>程序存储器</a:t>
            </a:r>
            <a:r>
              <a:rPr lang="zh-CN" altLang="en-US" dirty="0"/>
              <a:t>中，并被算术运算指令直接使用，增强了芯片的灵活性。只要调度好两个独立的</a:t>
            </a:r>
            <a:r>
              <a:rPr lang="zh-CN" altLang="en-US" dirty="0">
                <a:hlinkClick r:id="rId51" action="ppaction://hlinkfile"/>
              </a:rPr>
              <a:t>总线</a:t>
            </a:r>
            <a:r>
              <a:rPr lang="zh-CN" altLang="en-US" dirty="0"/>
              <a:t>就可使处理能力达到最高，以实现全速运行。改进的</a:t>
            </a:r>
            <a:r>
              <a:rPr lang="zh-CN" altLang="en-US" dirty="0">
                <a:hlinkClick r:id="rId47" action="ppaction://hlinkfile"/>
              </a:rPr>
              <a:t>哈佛结构</a:t>
            </a:r>
            <a:r>
              <a:rPr lang="zh-CN" altLang="en-US" dirty="0"/>
              <a:t>还可使指令存储在高速缓存器中</a:t>
            </a:r>
            <a:r>
              <a:rPr lang="en-US" altLang="x-none" dirty="0"/>
              <a:t>(Cache)</a:t>
            </a:r>
            <a:r>
              <a:rPr lang="zh-CN" altLang="en-US" dirty="0"/>
              <a:t>，省去了从</a:t>
            </a:r>
            <a:r>
              <a:rPr lang="zh-CN" altLang="en-US" dirty="0">
                <a:hlinkClick r:id="rId6" action="ppaction://hlinkfile"/>
              </a:rPr>
              <a:t>存储器</a:t>
            </a:r>
            <a:r>
              <a:rPr lang="zh-CN" altLang="en-US" dirty="0"/>
              <a:t>中读取指令的时间，大大提高了运行速度。</a:t>
            </a:r>
          </a:p>
          <a:p>
            <a:pPr lvl="0" eaLnBrk="1" hangingPunct="1"/>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B7006465-EDED-5DE8-E929-5BAE8E84B455}"/>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b="1">
                <a:solidFill>
                  <a:schemeClr val="tx1"/>
                </a:solidFill>
                <a:latin typeface="Times New Roman" panose="02020603050405020304" pitchFamily="18" charset="0"/>
                <a:ea typeface="宋体" panose="02010600030101010101" pitchFamily="2" charset="-122"/>
              </a:defRPr>
            </a:lvl1pPr>
            <a:lvl2pPr marL="742950" indent="-285750">
              <a:defRPr b="1">
                <a:solidFill>
                  <a:schemeClr val="tx1"/>
                </a:solidFill>
                <a:latin typeface="Times New Roman" panose="02020603050405020304" pitchFamily="18" charset="0"/>
                <a:ea typeface="宋体" panose="02010600030101010101" pitchFamily="2" charset="-122"/>
              </a:defRPr>
            </a:lvl2pPr>
            <a:lvl3pPr marL="1143000" indent="-228600">
              <a:defRPr b="1">
                <a:solidFill>
                  <a:schemeClr val="tx1"/>
                </a:solidFill>
                <a:latin typeface="Times New Roman" panose="02020603050405020304" pitchFamily="18" charset="0"/>
                <a:ea typeface="宋体" panose="02010600030101010101" pitchFamily="2" charset="-122"/>
              </a:defRPr>
            </a:lvl3pPr>
            <a:lvl4pPr marL="1600200" indent="-228600">
              <a:defRPr b="1">
                <a:solidFill>
                  <a:schemeClr val="tx1"/>
                </a:solidFill>
                <a:latin typeface="Times New Roman" panose="02020603050405020304" pitchFamily="18" charset="0"/>
                <a:ea typeface="宋体" panose="02010600030101010101" pitchFamily="2" charset="-122"/>
              </a:defRPr>
            </a:lvl4pPr>
            <a:lvl5pPr marL="2057400" indent="-22860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algn="r" eaLnBrk="1" hangingPunct="1"/>
            <a:fld id="{14A66A4E-6C53-428F-AF30-BAE94D7C6335}" type="slidenum">
              <a:rPr lang="zh-CN" altLang="en-US"/>
              <a:pPr algn="r" eaLnBrk="1" hangingPunct="1"/>
              <a:t>6</a:t>
            </a:fld>
            <a:endParaRPr lang="zh-CN" altLang="en-US"/>
          </a:p>
        </p:txBody>
      </p:sp>
      <p:sp>
        <p:nvSpPr>
          <p:cNvPr id="13315" name="Rectangle 2">
            <a:extLst>
              <a:ext uri="{FF2B5EF4-FFF2-40B4-BE49-F238E27FC236}">
                <a16:creationId xmlns:a16="http://schemas.microsoft.com/office/drawing/2014/main" id="{2B5F78D8-1FD7-2027-0046-F4BF7E0AB927}"/>
              </a:ext>
            </a:extLst>
          </p:cNvPr>
          <p:cNvSpPr>
            <a:spLocks noGrp="1" noRot="1" noChangeAspect="1" noChangeArrowheads="1" noTextEdit="1"/>
          </p:cNvSpPr>
          <p:nvPr>
            <p:ph type="sldImg"/>
          </p:nvPr>
        </p:nvSpPr>
        <p:spPr>
          <a:xfrm>
            <a:off x="1144588" y="685800"/>
            <a:ext cx="4570412" cy="3427413"/>
          </a:xfrm>
        </p:spPr>
      </p:sp>
      <p:sp>
        <p:nvSpPr>
          <p:cNvPr id="13316" name="Rectangle 3">
            <a:extLst>
              <a:ext uri="{FF2B5EF4-FFF2-40B4-BE49-F238E27FC236}">
                <a16:creationId xmlns:a16="http://schemas.microsoft.com/office/drawing/2014/main" id="{208A45C4-85DB-221F-C7D8-CD388113C81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prstTxWarp prst="textNoShape">
              <a:avLst/>
            </a:prstTxWarp>
          </a:bodyPr>
          <a:lstStyle/>
          <a:p>
            <a:pPr eaLnBrk="1" hangingPunct="1"/>
            <a:r>
              <a:rPr lang="zh-CN" altLang="en-US">
                <a:solidFill>
                  <a:srgbClr val="000000"/>
                </a:solidFill>
                <a:latin typeface="宋体" panose="02010600030101010101" pitchFamily="2" charset="-122"/>
              </a:rPr>
              <a:t>布尔代数又称逻辑代数，是以它的创立者</a:t>
            </a:r>
            <a:r>
              <a:rPr lang="en-US" altLang="zh-CN">
                <a:solidFill>
                  <a:srgbClr val="000000"/>
                </a:solidFill>
              </a:rPr>
              <a:t>——</a:t>
            </a:r>
            <a:r>
              <a:rPr lang="zh-CN" altLang="en-US">
                <a:solidFill>
                  <a:srgbClr val="000000"/>
                </a:solidFill>
                <a:latin typeface="宋体" panose="02010600030101010101" pitchFamily="2" charset="-122"/>
              </a:rPr>
              <a:t>英国数学家</a:t>
            </a:r>
            <a:r>
              <a:rPr lang="zh-CN" altLang="en-US" b="1">
                <a:solidFill>
                  <a:srgbClr val="000080"/>
                </a:solidFill>
                <a:latin typeface="宋体" panose="02010600030101010101" pitchFamily="2" charset="-122"/>
              </a:rPr>
              <a:t>布尔</a:t>
            </a:r>
            <a:r>
              <a:rPr lang="zh-CN" altLang="en-US">
                <a:solidFill>
                  <a:srgbClr val="000000"/>
                </a:solidFill>
                <a:latin typeface="宋体" panose="02010600030101010101" pitchFamily="2" charset="-122"/>
              </a:rPr>
              <a:t>（</a:t>
            </a:r>
            <a:r>
              <a:rPr lang="en-US" altLang="zh-CN">
                <a:solidFill>
                  <a:srgbClr val="000000"/>
                </a:solidFill>
                <a:latin typeface="宋体" panose="02010600030101010101" pitchFamily="2" charset="-122"/>
              </a:rPr>
              <a:t>G.Boole</a:t>
            </a:r>
            <a:r>
              <a:rPr lang="zh-CN" altLang="en-US">
                <a:solidFill>
                  <a:srgbClr val="000000"/>
                </a:solidFill>
                <a:latin typeface="宋体" panose="02010600030101010101" pitchFamily="2" charset="-122"/>
              </a:rPr>
              <a:t>）命名的。</a:t>
            </a:r>
            <a:r>
              <a:rPr lang="en-US" altLang="zh-CN">
                <a:solidFill>
                  <a:srgbClr val="000000"/>
                </a:solidFill>
                <a:latin typeface="宋体" panose="02010600030101010101" pitchFamily="2" charset="-122"/>
              </a:rPr>
              <a:t>1847</a:t>
            </a:r>
            <a:r>
              <a:rPr lang="zh-CN" altLang="en-US">
                <a:solidFill>
                  <a:srgbClr val="000000"/>
                </a:solidFill>
                <a:latin typeface="宋体" panose="02010600030101010101" pitchFamily="2" charset="-122"/>
              </a:rPr>
              <a:t>年布尔出版了他的第一部著作</a:t>
            </a:r>
            <a:r>
              <a:rPr lang="en-US" altLang="zh-CN">
                <a:solidFill>
                  <a:srgbClr val="000000"/>
                </a:solidFill>
                <a:latin typeface="宋体" panose="02010600030101010101" pitchFamily="2" charset="-122"/>
              </a:rPr>
              <a:t>《</a:t>
            </a:r>
            <a:r>
              <a:rPr lang="zh-CN" altLang="en-US">
                <a:solidFill>
                  <a:srgbClr val="000000"/>
                </a:solidFill>
                <a:latin typeface="宋体" panose="02010600030101010101" pitchFamily="2" charset="-122"/>
              </a:rPr>
              <a:t>逻辑的数学分析</a:t>
            </a:r>
            <a:r>
              <a:rPr lang="en-US" altLang="zh-CN">
                <a:solidFill>
                  <a:srgbClr val="000000"/>
                </a:solidFill>
                <a:latin typeface="宋体" panose="02010600030101010101" pitchFamily="2" charset="-122"/>
              </a:rPr>
              <a:t>》</a:t>
            </a:r>
            <a:r>
              <a:rPr lang="zh-CN" altLang="en-US">
                <a:solidFill>
                  <a:srgbClr val="000000"/>
                </a:solidFill>
                <a:latin typeface="宋体" panose="02010600030101010101" pitchFamily="2" charset="-122"/>
              </a:rPr>
              <a:t>，</a:t>
            </a:r>
            <a:r>
              <a:rPr lang="en-US" altLang="zh-CN">
                <a:solidFill>
                  <a:srgbClr val="000000"/>
                </a:solidFill>
                <a:latin typeface="宋体" panose="02010600030101010101" pitchFamily="2" charset="-122"/>
              </a:rPr>
              <a:t>1854</a:t>
            </a:r>
            <a:r>
              <a:rPr lang="zh-CN" altLang="en-US">
                <a:solidFill>
                  <a:srgbClr val="000000"/>
                </a:solidFill>
                <a:latin typeface="宋体" panose="02010600030101010101" pitchFamily="2" charset="-122"/>
              </a:rPr>
              <a:t>年，已经担任柯克大学教授的布尔再次出版</a:t>
            </a:r>
            <a:r>
              <a:rPr lang="en-US" altLang="zh-CN">
                <a:solidFill>
                  <a:srgbClr val="000000"/>
                </a:solidFill>
                <a:latin typeface="宋体" panose="02010600030101010101" pitchFamily="2" charset="-122"/>
              </a:rPr>
              <a:t>《</a:t>
            </a:r>
            <a:r>
              <a:rPr lang="zh-CN" altLang="en-US">
                <a:solidFill>
                  <a:srgbClr val="000000"/>
                </a:solidFill>
                <a:latin typeface="宋体" panose="02010600030101010101" pitchFamily="2" charset="-122"/>
              </a:rPr>
              <a:t>思维规律的研究</a:t>
            </a:r>
            <a:r>
              <a:rPr lang="en-US" altLang="zh-CN">
                <a:solidFill>
                  <a:srgbClr val="000000"/>
                </a:solidFill>
              </a:rPr>
              <a:t>——</a:t>
            </a:r>
            <a:r>
              <a:rPr lang="zh-CN" altLang="en-US">
                <a:solidFill>
                  <a:srgbClr val="000000"/>
                </a:solidFill>
                <a:latin typeface="宋体" panose="02010600030101010101" pitchFamily="2" charset="-122"/>
              </a:rPr>
              <a:t>逻辑与概率的数学理论基础</a:t>
            </a:r>
            <a:r>
              <a:rPr lang="en-US" altLang="zh-CN">
                <a:solidFill>
                  <a:srgbClr val="000000"/>
                </a:solidFill>
                <a:latin typeface="宋体" panose="02010600030101010101" pitchFamily="2" charset="-122"/>
              </a:rPr>
              <a:t>》</a:t>
            </a:r>
            <a:r>
              <a:rPr lang="zh-CN" altLang="en-US">
                <a:solidFill>
                  <a:srgbClr val="000000"/>
                </a:solidFill>
                <a:latin typeface="宋体" panose="02010600030101010101" pitchFamily="2" charset="-122"/>
              </a:rPr>
              <a:t>。以这两部著作，布尔建立了一门新的数学学科。在布尔代数里，布尔构思出一个关于</a:t>
            </a:r>
            <a:r>
              <a:rPr lang="en-US" altLang="zh-CN">
                <a:solidFill>
                  <a:srgbClr val="000000"/>
                </a:solidFill>
                <a:latin typeface="宋体" panose="02010600030101010101" pitchFamily="2" charset="-122"/>
              </a:rPr>
              <a:t>0</a:t>
            </a:r>
            <a:r>
              <a:rPr lang="zh-CN" altLang="en-US">
                <a:solidFill>
                  <a:srgbClr val="000000"/>
                </a:solidFill>
                <a:latin typeface="宋体" panose="02010600030101010101" pitchFamily="2" charset="-122"/>
              </a:rPr>
              <a:t>和</a:t>
            </a:r>
            <a:r>
              <a:rPr lang="en-US" altLang="zh-CN">
                <a:solidFill>
                  <a:srgbClr val="000000"/>
                </a:solidFill>
                <a:latin typeface="宋体" panose="02010600030101010101" pitchFamily="2" charset="-122"/>
              </a:rPr>
              <a:t>1</a:t>
            </a:r>
            <a:r>
              <a:rPr lang="zh-CN" altLang="en-US">
                <a:solidFill>
                  <a:srgbClr val="000000"/>
                </a:solidFill>
                <a:latin typeface="宋体" panose="02010600030101010101" pitchFamily="2" charset="-122"/>
              </a:rPr>
              <a:t>的代数系统，用基础的逻辑符号系统描述物体和概念。这种代数不仅广泛用于概率和统计等领域，更重要的是，它为今后数字计算机开关电路设计提供了最重要数学方法。</a:t>
            </a:r>
          </a:p>
          <a:p>
            <a:pPr eaLnBrk="1" hangingPunct="1"/>
            <a:endParaRPr lang="zh-CN" altLang="en-US"/>
          </a:p>
          <a:p>
            <a:pPr eaLnBrk="1" hangingPunct="1"/>
            <a:endParaRPr lang="zh-CN" altLang="en-US"/>
          </a:p>
          <a:p>
            <a:pPr eaLnBrk="1" hangingPunct="1"/>
            <a:r>
              <a:rPr lang="en-US" altLang="zh-CN"/>
              <a:t>1835</a:t>
            </a:r>
            <a:r>
              <a:rPr lang="zh-CN" altLang="en-US"/>
              <a:t>年，</a:t>
            </a:r>
            <a:r>
              <a:rPr lang="en-US" altLang="zh-CN"/>
              <a:t>20</a:t>
            </a:r>
            <a:r>
              <a:rPr lang="zh-CN" altLang="en-US"/>
              <a:t>岁的乔治</a:t>
            </a:r>
            <a:r>
              <a:rPr lang="en-US" altLang="zh-CN"/>
              <a:t>·</a:t>
            </a:r>
            <a:r>
              <a:rPr lang="zh-CN" altLang="en-US"/>
              <a:t>布尔开办了一所私人授课学校。为了给学生们开设必要的数学课程，他兴趣浓厚地读起了当时一些介绍数学知识的教科书。不久，他就感到惊讶，这些东西就是数学吗？实在令人难以置信。于是，这位只受过初步数学训练的青年自学了艰深的</a:t>
            </a:r>
            <a:r>
              <a:rPr lang="en-US" altLang="zh-CN"/>
              <a:t>《</a:t>
            </a:r>
            <a:r>
              <a:rPr lang="zh-CN" altLang="en-US"/>
              <a:t>天体力学</a:t>
            </a:r>
            <a:r>
              <a:rPr lang="en-US" altLang="zh-CN"/>
              <a:t>》</a:t>
            </a:r>
            <a:r>
              <a:rPr lang="zh-CN" altLang="en-US"/>
              <a:t>和很抽象的</a:t>
            </a:r>
            <a:r>
              <a:rPr lang="en-US" altLang="zh-CN"/>
              <a:t>《</a:t>
            </a:r>
            <a:r>
              <a:rPr lang="zh-CN" altLang="en-US"/>
              <a:t>分析力学</a:t>
            </a:r>
            <a:r>
              <a:rPr lang="en-US" altLang="zh-CN"/>
              <a:t>》</a:t>
            </a:r>
            <a:r>
              <a:rPr lang="zh-CN" altLang="en-US"/>
              <a:t>。由于他对代数关系的对称和美有很强的感觉，在孤独的研究中，他首先发现了不变量，并把这一成果写成论文发表。这篇高质量的论文发表后，布尔仍然留在小学教书</a:t>
            </a:r>
            <a:r>
              <a:rPr lang="en-US" altLang="zh-CN"/>
              <a:t>,</a:t>
            </a:r>
            <a:r>
              <a:rPr lang="zh-CN" altLang="en-US"/>
              <a:t>但是他开始和许多第一流的英国数学家交往或通信，其中有数学家、逻辑学家德</a:t>
            </a:r>
            <a:r>
              <a:rPr lang="en-US" altLang="zh-CN"/>
              <a:t>·</a:t>
            </a:r>
            <a:r>
              <a:rPr lang="zh-CN" altLang="en-US"/>
              <a:t>摩根。摩根在</a:t>
            </a:r>
            <a:r>
              <a:rPr lang="en-US" altLang="zh-CN"/>
              <a:t>19</a:t>
            </a:r>
            <a:r>
              <a:rPr lang="zh-CN" altLang="en-US"/>
              <a:t>世纪前半叶卷入了一场著名的争论，布尔知道摩根是对的，于是在</a:t>
            </a:r>
            <a:r>
              <a:rPr lang="en-US" altLang="zh-CN"/>
              <a:t>1848</a:t>
            </a:r>
            <a:r>
              <a:rPr lang="zh-CN" altLang="en-US"/>
              <a:t>年出版了一本薄薄的小册子来为朋友辩护。这本书是他</a:t>
            </a:r>
            <a:r>
              <a:rPr lang="en-US" altLang="zh-CN"/>
              <a:t>6</a:t>
            </a:r>
            <a:r>
              <a:rPr lang="zh-CN" altLang="en-US"/>
              <a:t>年后更伟大的东西的预告，它一问世，立即激起了摩根的赞扬，肯定他开辟了新的、棘手的研究科目。布尔此时已经在研究逻辑代数，即布尔代数。他把逻辑简化成极为容易和简单的一种代数。在这种代数中，适当的材料上的</a:t>
            </a:r>
            <a:r>
              <a:rPr lang="en-US" altLang="zh-CN"/>
              <a:t>"</a:t>
            </a:r>
            <a:r>
              <a:rPr lang="zh-CN" altLang="en-US"/>
              <a:t>推理 </a:t>
            </a:r>
            <a:r>
              <a:rPr lang="en-US" altLang="zh-CN"/>
              <a:t>"</a:t>
            </a:r>
            <a:r>
              <a:rPr lang="zh-CN" altLang="en-US"/>
              <a:t>，成了公式的初等运算的事情，这些公式比过去在中学代数第二年级课程中所运用的大多数公式要简单得多。这样，就使逻辑本身受数学的支配。为了使自己的研究工作趋于完善，布尔在此后</a:t>
            </a:r>
            <a:r>
              <a:rPr lang="en-US" altLang="zh-CN"/>
              <a:t>6</a:t>
            </a:r>
            <a:r>
              <a:rPr lang="zh-CN" altLang="en-US"/>
              <a:t>年的漫长时间里，又付出了不同寻常的努力。</a:t>
            </a:r>
            <a:r>
              <a:rPr lang="en-US" altLang="zh-CN"/>
              <a:t>1854</a:t>
            </a:r>
            <a:r>
              <a:rPr lang="zh-CN" altLang="en-US"/>
              <a:t>年，他发表了</a:t>
            </a:r>
            <a:r>
              <a:rPr lang="en-US" altLang="zh-CN"/>
              <a:t>《</a:t>
            </a:r>
            <a:r>
              <a:rPr lang="zh-CN" altLang="en-US"/>
              <a:t>思维规律</a:t>
            </a:r>
            <a:r>
              <a:rPr lang="en-US" altLang="zh-CN"/>
              <a:t>》</a:t>
            </a:r>
            <a:r>
              <a:rPr lang="zh-CN" altLang="en-US"/>
              <a:t>这部杰作，当时他已</a:t>
            </a:r>
            <a:r>
              <a:rPr lang="en-US" altLang="zh-CN"/>
              <a:t>39</a:t>
            </a:r>
            <a:r>
              <a:rPr lang="zh-CN" altLang="en-US"/>
              <a:t>岁，布尔代数问世了，数学史上树起了一座新的里程碑。几乎像所有的新生一样，布尔代数发明后没有受到人们的重视。欧洲大陆著名的数学家蔑视地称它为没有数学意义的，哲学上稀奇古怪的东西，他们怀疑英伦岛国的数学家能在数学上做出独特贡献。布尔在他的杰作出版后不久就去世了。</a:t>
            </a:r>
            <a:r>
              <a:rPr lang="en-US" altLang="zh-CN"/>
              <a:t>20</a:t>
            </a:r>
            <a:r>
              <a:rPr lang="zh-CN" altLang="en-US"/>
              <a:t>世纪初，罗素在</a:t>
            </a:r>
            <a:r>
              <a:rPr lang="en-US" altLang="zh-CN"/>
              <a:t>《</a:t>
            </a:r>
            <a:r>
              <a:rPr lang="zh-CN" altLang="en-US"/>
              <a:t>数学原理</a:t>
            </a:r>
            <a:r>
              <a:rPr lang="en-US" altLang="zh-CN"/>
              <a:t>》</a:t>
            </a:r>
            <a:r>
              <a:rPr lang="zh-CN" altLang="en-US"/>
              <a:t>中认为，</a:t>
            </a:r>
            <a:r>
              <a:rPr lang="en-US" altLang="zh-CN"/>
              <a:t>"</a:t>
            </a:r>
            <a:r>
              <a:rPr lang="zh-CN" altLang="en-US"/>
              <a:t>纯数学是布尔在一部他称之为</a:t>
            </a:r>
            <a:r>
              <a:rPr lang="en-US" altLang="zh-CN"/>
              <a:t>《</a:t>
            </a:r>
            <a:r>
              <a:rPr lang="zh-CN" altLang="en-US"/>
              <a:t>思维规律</a:t>
            </a:r>
            <a:r>
              <a:rPr lang="en-US" altLang="zh-CN"/>
              <a:t>》</a:t>
            </a:r>
            <a:r>
              <a:rPr lang="zh-CN" altLang="en-US"/>
              <a:t>的著作中发现的。</a:t>
            </a:r>
            <a:r>
              <a:rPr lang="en-US" altLang="zh-CN"/>
              <a:t>"</a:t>
            </a:r>
            <a:r>
              <a:rPr lang="zh-CN" altLang="en-US"/>
              <a:t>此说一出，立刻引起世人对布尔代数的注意。今天，布尔发明的逻辑代数已经发展成为纯数学的一个主要分支。</a:t>
            </a:r>
          </a:p>
          <a:p>
            <a:pPr eaLnBrk="1" hangingPunct="1"/>
            <a:endParaRPr lang="zh-CN" altLang="en-US"/>
          </a:p>
          <a:p>
            <a:pPr eaLnBrk="1" hangingPunct="1"/>
            <a:r>
              <a:rPr lang="zh-CN" altLang="en-US"/>
              <a:t>读者也许会问这么简单的理论能解决什么实际问题。布尔同时代的数学家们也有同样的问题。事实上在布尔代数提出后</a:t>
            </a:r>
            <a:r>
              <a:rPr lang="en-US" altLang="zh-CN"/>
              <a:t>80 </a:t>
            </a:r>
            <a:r>
              <a:rPr lang="zh-CN" altLang="en-US"/>
              <a:t>多年里，它确实没有什么像样的应用，直到 </a:t>
            </a:r>
            <a:r>
              <a:rPr lang="en-US" altLang="zh-CN"/>
              <a:t>1938 </a:t>
            </a:r>
            <a:r>
              <a:rPr lang="zh-CN" altLang="en-US"/>
              <a:t>年香农在他的硕士论文中指出用布尔代数来实现开关电路，才使得布尔代数成为数字电路的基础。所有的数学和逻辑运算，加、减、乘、除、乘方、开方等等，全部能转换成二值的布尔运算</a:t>
            </a:r>
          </a:p>
        </p:txBody>
      </p:sp>
    </p:spTree>
    <p:extLst>
      <p:ext uri="{BB962C8B-B14F-4D97-AF65-F5344CB8AC3E}">
        <p14:creationId xmlns:p14="http://schemas.microsoft.com/office/powerpoint/2010/main" val="188393966"/>
      </p:ext>
    </p:extLst>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C5180953-3C0E-CA1C-BA46-09431C10F17E}"/>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b="1">
                <a:solidFill>
                  <a:schemeClr val="tx1"/>
                </a:solidFill>
                <a:latin typeface="Times New Roman" panose="02020603050405020304" pitchFamily="18" charset="0"/>
                <a:ea typeface="宋体" panose="02010600030101010101" pitchFamily="2" charset="-122"/>
              </a:defRPr>
            </a:lvl1pPr>
            <a:lvl2pPr marL="742950" indent="-285750">
              <a:defRPr b="1">
                <a:solidFill>
                  <a:schemeClr val="tx1"/>
                </a:solidFill>
                <a:latin typeface="Times New Roman" panose="02020603050405020304" pitchFamily="18" charset="0"/>
                <a:ea typeface="宋体" panose="02010600030101010101" pitchFamily="2" charset="-122"/>
              </a:defRPr>
            </a:lvl2pPr>
            <a:lvl3pPr marL="1143000" indent="-228600">
              <a:defRPr b="1">
                <a:solidFill>
                  <a:schemeClr val="tx1"/>
                </a:solidFill>
                <a:latin typeface="Times New Roman" panose="02020603050405020304" pitchFamily="18" charset="0"/>
                <a:ea typeface="宋体" panose="02010600030101010101" pitchFamily="2" charset="-122"/>
              </a:defRPr>
            </a:lvl3pPr>
            <a:lvl4pPr marL="1600200" indent="-228600">
              <a:defRPr b="1">
                <a:solidFill>
                  <a:schemeClr val="tx1"/>
                </a:solidFill>
                <a:latin typeface="Times New Roman" panose="02020603050405020304" pitchFamily="18" charset="0"/>
                <a:ea typeface="宋体" panose="02010600030101010101" pitchFamily="2" charset="-122"/>
              </a:defRPr>
            </a:lvl4pPr>
            <a:lvl5pPr marL="2057400" indent="-22860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algn="r" eaLnBrk="1" hangingPunct="1"/>
            <a:fld id="{27902CAA-C02C-478E-B5E6-367017A46130}" type="slidenum">
              <a:rPr lang="zh-CN" altLang="en-US"/>
              <a:pPr algn="r" eaLnBrk="1" hangingPunct="1"/>
              <a:t>7</a:t>
            </a:fld>
            <a:endParaRPr lang="zh-CN" altLang="en-US"/>
          </a:p>
        </p:txBody>
      </p:sp>
      <p:sp>
        <p:nvSpPr>
          <p:cNvPr id="17411" name="Rectangle 2">
            <a:extLst>
              <a:ext uri="{FF2B5EF4-FFF2-40B4-BE49-F238E27FC236}">
                <a16:creationId xmlns:a16="http://schemas.microsoft.com/office/drawing/2014/main" id="{08C90434-61E0-E6A3-714F-62BA7E1E1306}"/>
              </a:ext>
            </a:extLst>
          </p:cNvPr>
          <p:cNvSpPr>
            <a:spLocks noGrp="1" noRot="1" noChangeAspect="1" noChangeArrowheads="1" noTextEdit="1"/>
          </p:cNvSpPr>
          <p:nvPr>
            <p:ph type="sldImg"/>
          </p:nvPr>
        </p:nvSpPr>
        <p:spPr>
          <a:xfrm>
            <a:off x="1144588" y="685800"/>
            <a:ext cx="4570412" cy="3427413"/>
          </a:xfrm>
        </p:spPr>
      </p:sp>
      <p:sp>
        <p:nvSpPr>
          <p:cNvPr id="17412" name="Rectangle 3">
            <a:extLst>
              <a:ext uri="{FF2B5EF4-FFF2-40B4-BE49-F238E27FC236}">
                <a16:creationId xmlns:a16="http://schemas.microsoft.com/office/drawing/2014/main" id="{37ABF394-07BC-CD06-EC86-6EF6FC2D777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prstTxWarp prst="textNoShape">
              <a:avLst/>
            </a:prstTxWarp>
          </a:bodyPr>
          <a:lstStyle/>
          <a:p>
            <a:pPr algn="just" eaLnBrk="1" hangingPunct="1">
              <a:lnSpc>
                <a:spcPct val="80000"/>
              </a:lnSpc>
            </a:pPr>
            <a:r>
              <a:rPr lang="zh-CN" altLang="en-US"/>
              <a:t>工作在开关两种状态下的电路，就叫开关电路</a:t>
            </a:r>
            <a:endParaRPr lang="zh-CN" altLang="en-US" b="1"/>
          </a:p>
          <a:p>
            <a:pPr algn="just" eaLnBrk="1" hangingPunct="1">
              <a:lnSpc>
                <a:spcPct val="80000"/>
              </a:lnSpc>
            </a:pPr>
            <a:r>
              <a:rPr lang="zh-CN" altLang="en-US" b="1"/>
              <a:t>开关电路的原理：由开关管和</a:t>
            </a:r>
            <a:r>
              <a:rPr lang="en-US" altLang="zh-CN" b="1"/>
              <a:t>PWM</a:t>
            </a:r>
            <a:r>
              <a:rPr lang="zh-CN" altLang="en-US" b="1"/>
              <a:t>（</a:t>
            </a:r>
            <a:r>
              <a:rPr lang="en-US" altLang="zh-CN" b="1"/>
              <a:t>Pulse Width Modulation</a:t>
            </a:r>
            <a:r>
              <a:rPr lang="zh-CN" altLang="en-US" b="1"/>
              <a:t>）控制芯片构成振荡电路，产生高频脉冲。将高压整流滤波电路产生的高压直流电变成高频脉冲直流电，送到主变压器降压，变成低频脉冲直流电。 </a:t>
            </a:r>
            <a:br>
              <a:rPr lang="zh-CN" altLang="en-US" b="1"/>
            </a:br>
            <a:endParaRPr lang="zh-CN" altLang="en-US" sz="1000" b="1">
              <a:latin typeface="宋体" panose="02010600030101010101" pitchFamily="2" charset="-122"/>
            </a:endParaRPr>
          </a:p>
          <a:p>
            <a:pPr algn="just" eaLnBrk="1" hangingPunct="1">
              <a:lnSpc>
                <a:spcPct val="80000"/>
              </a:lnSpc>
            </a:pPr>
            <a:endParaRPr lang="zh-CN" altLang="en-US" sz="1000" b="1">
              <a:latin typeface="宋体" panose="02010600030101010101" pitchFamily="2" charset="-122"/>
            </a:endParaRPr>
          </a:p>
          <a:p>
            <a:pPr algn="just" eaLnBrk="1" hangingPunct="1">
              <a:lnSpc>
                <a:spcPct val="80000"/>
              </a:lnSpc>
            </a:pPr>
            <a:r>
              <a:rPr lang="zh-CN" altLang="en-US" sz="1000" b="1">
                <a:latin typeface="宋体" panose="02010600030101010101" pitchFamily="2" charset="-122"/>
              </a:rPr>
              <a:t>仙农的开关电路理论</a:t>
            </a:r>
            <a:endParaRPr lang="zh-CN" altLang="en-US" sz="1000" b="1">
              <a:cs typeface="Times New Roman" panose="02020603050405020304" pitchFamily="18" charset="0"/>
            </a:endParaRPr>
          </a:p>
          <a:p>
            <a:pPr eaLnBrk="1" hangingPunct="1">
              <a:lnSpc>
                <a:spcPct val="80000"/>
              </a:lnSpc>
            </a:pPr>
            <a:r>
              <a:rPr lang="en-US" altLang="zh-CN" sz="1000">
                <a:solidFill>
                  <a:srgbClr val="000000"/>
                </a:solidFill>
                <a:latin typeface="宋体" panose="02010600030101010101" pitchFamily="2" charset="-122"/>
              </a:rPr>
              <a:t>1938</a:t>
            </a:r>
            <a:r>
              <a:rPr lang="zh-CN" altLang="en-US" sz="1000">
                <a:solidFill>
                  <a:srgbClr val="000000"/>
                </a:solidFill>
                <a:latin typeface="宋体" panose="02010600030101010101" pitchFamily="2" charset="-122"/>
              </a:rPr>
              <a:t>年，美国数学家仙农（</a:t>
            </a:r>
            <a:r>
              <a:rPr lang="en-US" altLang="zh-CN" sz="1000">
                <a:solidFill>
                  <a:srgbClr val="000000"/>
                </a:solidFill>
                <a:latin typeface="宋体" panose="02010600030101010101" pitchFamily="2" charset="-122"/>
              </a:rPr>
              <a:t>C. Shannon</a:t>
            </a:r>
            <a:r>
              <a:rPr lang="zh-CN" altLang="en-US" sz="1000">
                <a:solidFill>
                  <a:srgbClr val="000000"/>
                </a:solidFill>
                <a:latin typeface="宋体" panose="02010600030101010101" pitchFamily="2" charset="-122"/>
              </a:rPr>
              <a:t>）发表了著名的论文</a:t>
            </a:r>
            <a:r>
              <a:rPr lang="en-US" altLang="zh-CN" sz="1000">
                <a:solidFill>
                  <a:srgbClr val="000000"/>
                </a:solidFill>
                <a:latin typeface="宋体" panose="02010600030101010101" pitchFamily="2" charset="-122"/>
              </a:rPr>
              <a:t>《</a:t>
            </a:r>
            <a:r>
              <a:rPr lang="zh-CN" altLang="en-US" sz="1000">
                <a:solidFill>
                  <a:srgbClr val="000000"/>
                </a:solidFill>
                <a:latin typeface="宋体" panose="02010600030101010101" pitchFamily="2" charset="-122"/>
              </a:rPr>
              <a:t>继电器和开关电路的符号分析</a:t>
            </a:r>
            <a:r>
              <a:rPr lang="en-US" altLang="zh-CN" sz="1000">
                <a:solidFill>
                  <a:srgbClr val="000000"/>
                </a:solidFill>
                <a:latin typeface="宋体" panose="02010600030101010101" pitchFamily="2" charset="-122"/>
              </a:rPr>
              <a:t>》</a:t>
            </a:r>
            <a:r>
              <a:rPr lang="zh-CN" altLang="en-US" sz="1000">
                <a:solidFill>
                  <a:srgbClr val="000000"/>
                </a:solidFill>
                <a:latin typeface="宋体" panose="02010600030101010101" pitchFamily="2" charset="-122"/>
              </a:rPr>
              <a:t>，</a:t>
            </a:r>
          </a:p>
          <a:p>
            <a:pPr eaLnBrk="1" hangingPunct="1">
              <a:lnSpc>
                <a:spcPct val="80000"/>
              </a:lnSpc>
            </a:pPr>
            <a:r>
              <a:rPr lang="zh-CN" altLang="en-US" sz="1000">
                <a:solidFill>
                  <a:srgbClr val="000000"/>
                </a:solidFill>
                <a:latin typeface="宋体" panose="02010600030101010101" pitchFamily="2" charset="-122"/>
              </a:rPr>
              <a:t>首次用布尔代数进行开关电路分析。由于布尔代数只有</a:t>
            </a:r>
            <a:r>
              <a:rPr lang="en-US" altLang="zh-CN" sz="1000">
                <a:solidFill>
                  <a:srgbClr val="000000"/>
                </a:solidFill>
                <a:latin typeface="宋体" panose="02010600030101010101" pitchFamily="2" charset="-122"/>
              </a:rPr>
              <a:t>0</a:t>
            </a:r>
            <a:r>
              <a:rPr lang="zh-CN" altLang="en-US" sz="1000">
                <a:solidFill>
                  <a:srgbClr val="000000"/>
                </a:solidFill>
                <a:latin typeface="宋体" panose="02010600030101010101" pitchFamily="2" charset="-122"/>
              </a:rPr>
              <a:t>和</a:t>
            </a:r>
            <a:r>
              <a:rPr lang="en-US" altLang="zh-CN" sz="1000">
                <a:solidFill>
                  <a:srgbClr val="000000"/>
                </a:solidFill>
                <a:latin typeface="宋体" panose="02010600030101010101" pitchFamily="2" charset="-122"/>
              </a:rPr>
              <a:t>1</a:t>
            </a:r>
            <a:r>
              <a:rPr lang="zh-CN" altLang="en-US" sz="1000">
                <a:solidFill>
                  <a:srgbClr val="000000"/>
                </a:solidFill>
                <a:latin typeface="宋体" panose="02010600030101010101" pitchFamily="2" charset="-122"/>
              </a:rPr>
              <a:t>两个值，恰好与二进制数对应，仙农把它运用于以脉冲方式处理信息的继电器开关，从理论到技术彻底改变了数字电路的设计方向，</a:t>
            </a:r>
          </a:p>
          <a:p>
            <a:pPr eaLnBrk="1" hangingPunct="1">
              <a:lnSpc>
                <a:spcPct val="80000"/>
              </a:lnSpc>
            </a:pPr>
            <a:r>
              <a:rPr lang="zh-CN" altLang="en-US" sz="1000">
                <a:solidFill>
                  <a:srgbClr val="000000"/>
                </a:solidFill>
                <a:latin typeface="宋体" panose="02010600030101010101" pitchFamily="2" charset="-122"/>
              </a:rPr>
              <a:t>并证明布尔代数的逻辑运算，可以通过继电器电路来实现，</a:t>
            </a:r>
          </a:p>
          <a:p>
            <a:pPr eaLnBrk="1" hangingPunct="1">
              <a:lnSpc>
                <a:spcPct val="80000"/>
              </a:lnSpc>
            </a:pPr>
            <a:r>
              <a:rPr lang="zh-CN" altLang="en-US" sz="1000">
                <a:solidFill>
                  <a:srgbClr val="000000"/>
                </a:solidFill>
                <a:latin typeface="Verdana" panose="020B0604030504040204" pitchFamily="34" charset="0"/>
                <a:cs typeface="Arial" panose="020B0604020202020204" pitchFamily="34" charset="0"/>
              </a:rPr>
              <a:t>明确地给出了实现加、减、 乘、除等运算的电子电路的设计方法。</a:t>
            </a:r>
          </a:p>
          <a:p>
            <a:pPr eaLnBrk="1" hangingPunct="1">
              <a:lnSpc>
                <a:spcPct val="80000"/>
              </a:lnSpc>
            </a:pPr>
            <a:r>
              <a:rPr lang="zh-CN" altLang="en-US" sz="1000">
                <a:solidFill>
                  <a:srgbClr val="000000"/>
                </a:solidFill>
                <a:latin typeface="Verdana" panose="020B0604030504040204" pitchFamily="34" charset="0"/>
                <a:cs typeface="Arial" panose="020B0604020202020204" pitchFamily="34" charset="0"/>
              </a:rPr>
              <a:t>这篇论文成为开关电路理论的开端，</a:t>
            </a:r>
            <a:r>
              <a:rPr lang="zh-CN" altLang="en-US" sz="1000">
                <a:solidFill>
                  <a:srgbClr val="000000"/>
                </a:solidFill>
                <a:latin typeface="宋体" panose="02010600030101010101" pitchFamily="2" charset="-122"/>
              </a:rPr>
              <a:t>为大型数字计算机奠定了基础。</a:t>
            </a:r>
          </a:p>
          <a:p>
            <a:pPr eaLnBrk="1" hangingPunct="1">
              <a:lnSpc>
                <a:spcPct val="80000"/>
              </a:lnSpc>
            </a:pPr>
            <a:r>
              <a:rPr lang="zh-CN" altLang="en-US" sz="1000">
                <a:solidFill>
                  <a:srgbClr val="000000"/>
                </a:solidFill>
                <a:latin typeface="Verdana" panose="020B0604030504040204" pitchFamily="34" charset="0"/>
                <a:cs typeface="Arial" panose="020B0604020202020204" pitchFamily="34" charset="0"/>
              </a:rPr>
              <a:t>克劳德</a:t>
            </a:r>
            <a:r>
              <a:rPr lang="en-US" altLang="zh-CN" sz="1000">
                <a:solidFill>
                  <a:srgbClr val="000000"/>
                </a:solidFill>
                <a:latin typeface="Verdana" panose="020B0604030504040204" pitchFamily="34" charset="0"/>
                <a:cs typeface="Arial" panose="020B0604020202020204" pitchFamily="34" charset="0"/>
              </a:rPr>
              <a:t>·</a:t>
            </a:r>
            <a:r>
              <a:rPr lang="zh-CN" altLang="en-US" sz="1000">
                <a:solidFill>
                  <a:srgbClr val="000000"/>
                </a:solidFill>
                <a:latin typeface="Verdana" panose="020B0604030504040204" pitchFamily="34" charset="0"/>
                <a:cs typeface="Arial" panose="020B0604020202020204" pitchFamily="34" charset="0"/>
              </a:rPr>
              <a:t>仙农（</a:t>
            </a:r>
            <a:r>
              <a:rPr lang="en-US" altLang="zh-CN" sz="1000">
                <a:solidFill>
                  <a:srgbClr val="000000"/>
                </a:solidFill>
                <a:latin typeface="Verdana" panose="020B0604030504040204" pitchFamily="34" charset="0"/>
                <a:cs typeface="Arial" panose="020B0604020202020204" pitchFamily="34" charset="0"/>
              </a:rPr>
              <a:t>claude shannon</a:t>
            </a:r>
            <a:r>
              <a:rPr lang="zh-CN" altLang="en-US" sz="1000">
                <a:solidFill>
                  <a:srgbClr val="000000"/>
                </a:solidFill>
                <a:latin typeface="Verdana" panose="020B0604030504040204" pitchFamily="34" charset="0"/>
                <a:cs typeface="Arial" panose="020B0604020202020204" pitchFamily="34" charset="0"/>
              </a:rPr>
              <a:t>），</a:t>
            </a:r>
            <a:r>
              <a:rPr lang="en-US" altLang="zh-CN" sz="1000">
                <a:solidFill>
                  <a:srgbClr val="000000"/>
                </a:solidFill>
                <a:latin typeface="Verdana" panose="020B0604030504040204" pitchFamily="34" charset="0"/>
                <a:cs typeface="Arial" panose="020B0604020202020204" pitchFamily="34" charset="0"/>
              </a:rPr>
              <a:t>1916</a:t>
            </a:r>
            <a:r>
              <a:rPr lang="zh-CN" altLang="en-US" sz="1000">
                <a:solidFill>
                  <a:srgbClr val="000000"/>
                </a:solidFill>
                <a:latin typeface="Verdana" panose="020B0604030504040204" pitchFamily="34" charset="0"/>
                <a:cs typeface="Arial" panose="020B0604020202020204" pitchFamily="34" charset="0"/>
              </a:rPr>
              <a:t>年</a:t>
            </a:r>
            <a:r>
              <a:rPr lang="en-US" altLang="zh-CN" sz="1000">
                <a:solidFill>
                  <a:srgbClr val="000000"/>
                </a:solidFill>
                <a:latin typeface="Verdana" panose="020B0604030504040204" pitchFamily="34" charset="0"/>
                <a:cs typeface="Arial" panose="020B0604020202020204" pitchFamily="34" charset="0"/>
              </a:rPr>
              <a:t>4</a:t>
            </a:r>
            <a:r>
              <a:rPr lang="zh-CN" altLang="en-US" sz="1000">
                <a:solidFill>
                  <a:srgbClr val="000000"/>
                </a:solidFill>
                <a:latin typeface="Verdana" panose="020B0604030504040204" pitchFamily="34" charset="0"/>
                <a:cs typeface="Arial" panose="020B0604020202020204" pitchFamily="34" charset="0"/>
              </a:rPr>
              <a:t>月</a:t>
            </a:r>
            <a:r>
              <a:rPr lang="en-US" altLang="zh-CN" sz="1000">
                <a:solidFill>
                  <a:srgbClr val="000000"/>
                </a:solidFill>
                <a:latin typeface="Verdana" panose="020B0604030504040204" pitchFamily="34" charset="0"/>
                <a:cs typeface="Arial" panose="020B0604020202020204" pitchFamily="34" charset="0"/>
              </a:rPr>
              <a:t>30</a:t>
            </a:r>
            <a:r>
              <a:rPr lang="zh-CN" altLang="en-US" sz="1000">
                <a:solidFill>
                  <a:srgbClr val="000000"/>
                </a:solidFill>
                <a:latin typeface="Verdana" panose="020B0604030504040204" pitchFamily="34" charset="0"/>
                <a:cs typeface="Arial" panose="020B0604020202020204" pitchFamily="34" charset="0"/>
              </a:rPr>
              <a:t>日生于美国密执安州的盖洛德，</a:t>
            </a:r>
          </a:p>
          <a:p>
            <a:pPr eaLnBrk="1" hangingPunct="1">
              <a:lnSpc>
                <a:spcPct val="80000"/>
              </a:lnSpc>
            </a:pPr>
            <a:r>
              <a:rPr lang="en-US" altLang="zh-CN" sz="1000">
                <a:solidFill>
                  <a:srgbClr val="000000"/>
                </a:solidFill>
                <a:latin typeface="Verdana" panose="020B0604030504040204" pitchFamily="34" charset="0"/>
                <a:cs typeface="Arial" panose="020B0604020202020204" pitchFamily="34" charset="0"/>
              </a:rPr>
              <a:t>1932</a:t>
            </a:r>
            <a:r>
              <a:rPr lang="zh-CN" altLang="en-US" sz="1000">
                <a:solidFill>
                  <a:srgbClr val="000000"/>
                </a:solidFill>
                <a:latin typeface="Verdana" panose="020B0604030504040204" pitchFamily="34" charset="0"/>
                <a:cs typeface="Arial" panose="020B0604020202020204" pitchFamily="34" charset="0"/>
              </a:rPr>
              <a:t>年就读于密执安大学</a:t>
            </a:r>
            <a:r>
              <a:rPr lang="zh-CN" altLang="en-US" sz="1000">
                <a:solidFill>
                  <a:srgbClr val="000000"/>
                </a:solidFill>
                <a:latin typeface="宋体" panose="02010600030101010101" pitchFamily="2" charset="-122"/>
                <a:cs typeface="Times New Roman" panose="02020603050405020304" pitchFamily="18" charset="0"/>
              </a:rPr>
              <a:t>电机工程专业。</a:t>
            </a:r>
          </a:p>
          <a:p>
            <a:pPr eaLnBrk="1" hangingPunct="1">
              <a:lnSpc>
                <a:spcPct val="80000"/>
              </a:lnSpc>
            </a:pPr>
            <a:r>
              <a:rPr lang="zh-CN" altLang="en-US" sz="1000">
                <a:solidFill>
                  <a:srgbClr val="000000"/>
                </a:solidFill>
                <a:latin typeface="宋体" panose="02010600030101010101" pitchFamily="2" charset="-122"/>
                <a:cs typeface="Times New Roman" panose="02020603050405020304" pitchFamily="18" charset="0"/>
              </a:rPr>
              <a:t>１９３６年毕业后，仙农在学校的布告栏上看见了麻省理工学院（ＭＩＴ）提供半工半读机会的广告，于是便直接进入了ＭＩＴ，一面攻读电机工程学硕士学位，一面给ＭＩＴ副校长、工程系系主任范尼佛</a:t>
            </a:r>
            <a:r>
              <a:rPr lang="en-US" altLang="zh-CN" sz="1000">
                <a:solidFill>
                  <a:srgbClr val="000000"/>
                </a:solidFill>
                <a:cs typeface="Times New Roman" panose="02020603050405020304" pitchFamily="18" charset="0"/>
              </a:rPr>
              <a:t>·</a:t>
            </a:r>
            <a:r>
              <a:rPr lang="zh-CN" altLang="en-US" sz="1000">
                <a:solidFill>
                  <a:srgbClr val="000000"/>
                </a:solidFill>
                <a:latin typeface="宋体" panose="02010600030101010101" pitchFamily="2" charset="-122"/>
                <a:cs typeface="Times New Roman" panose="02020603050405020304" pitchFamily="18" charset="0"/>
              </a:rPr>
              <a:t>布什做实验助理，给布什照看微分分析器，</a:t>
            </a:r>
            <a:endParaRPr lang="zh-CN" altLang="en-US" sz="1000"/>
          </a:p>
          <a:p>
            <a:pPr eaLnBrk="1" hangingPunct="1">
              <a:lnSpc>
                <a:spcPct val="80000"/>
              </a:lnSpc>
            </a:pPr>
            <a:r>
              <a:rPr lang="zh-CN" altLang="en-US" sz="1000">
                <a:solidFill>
                  <a:srgbClr val="000000"/>
                </a:solidFill>
                <a:latin typeface="宋体" panose="02010600030101010101" pitchFamily="2" charset="-122"/>
                <a:cs typeface="Times New Roman" panose="02020603050405020304" pitchFamily="18" charset="0"/>
              </a:rPr>
              <a:t>并在布什的指导下使用微分分析仪，</a:t>
            </a:r>
            <a:r>
              <a:rPr lang="zh-CN" altLang="en-US" sz="1000" b="1">
                <a:solidFill>
                  <a:srgbClr val="000000"/>
                </a:solidFill>
                <a:latin typeface="宋体" panose="02010600030101010101" pitchFamily="2" charset="-122"/>
                <a:cs typeface="Times New Roman" panose="02020603050405020304" pitchFamily="18" charset="0"/>
              </a:rPr>
              <a:t>这使他对继电器电路的分析产生兴趣。</a:t>
            </a:r>
            <a:endParaRPr lang="zh-CN" altLang="en-US" sz="1000" b="1"/>
          </a:p>
          <a:p>
            <a:pPr eaLnBrk="1" hangingPunct="1">
              <a:lnSpc>
                <a:spcPct val="80000"/>
              </a:lnSpc>
            </a:pPr>
            <a:r>
              <a:rPr lang="zh-CN" altLang="en-US" sz="1000">
                <a:solidFill>
                  <a:srgbClr val="000000"/>
                </a:solidFill>
                <a:latin typeface="宋体" panose="02010600030101010101" pitchFamily="2" charset="-122"/>
                <a:cs typeface="Times New Roman" panose="02020603050405020304" pitchFamily="18" charset="0"/>
              </a:rPr>
              <a:t>他认为这些电路的设计可用符号逻辑来实现，</a:t>
            </a:r>
            <a:r>
              <a:rPr lang="zh-CN" altLang="en-US" sz="1000" b="1">
                <a:solidFill>
                  <a:srgbClr val="000000"/>
                </a:solidFill>
                <a:latin typeface="宋体" panose="02010600030101010101" pitchFamily="2" charset="-122"/>
                <a:cs typeface="Times New Roman" panose="02020603050405020304" pitchFamily="18" charset="0"/>
              </a:rPr>
              <a:t>并意识到分析继电器的有效数学工具正是布尔代数</a:t>
            </a:r>
            <a:r>
              <a:rPr lang="zh-CN" altLang="en-US" sz="1000">
                <a:solidFill>
                  <a:srgbClr val="000000"/>
                </a:solidFill>
                <a:latin typeface="宋体" panose="02010600030101010101" pitchFamily="2" charset="-122"/>
                <a:cs typeface="Times New Roman" panose="02020603050405020304" pitchFamily="18" charset="0"/>
              </a:rPr>
              <a:t>。</a:t>
            </a:r>
          </a:p>
          <a:p>
            <a:pPr eaLnBrk="1" hangingPunct="1">
              <a:lnSpc>
                <a:spcPct val="80000"/>
              </a:lnSpc>
            </a:pPr>
            <a:r>
              <a:rPr lang="zh-CN" altLang="en-US" sz="1000">
                <a:solidFill>
                  <a:srgbClr val="000000"/>
                </a:solidFill>
                <a:latin typeface="宋体" panose="02010600030101010101" pitchFamily="2" charset="-122"/>
              </a:rPr>
              <a:t>后来仙农在贝尔实验室工作中还进一步证明，可以采用能实现布尔代数运算的继电器或电子元件来制造计算机，仙农的理论还为计算机具有逻辑功能奠定了基础，从而使电子计算机既能用于数值计算，又具有各种非数值应用功能，使得以后的计算机在几乎任何领域中都得到了广泛的应用。</a:t>
            </a:r>
          </a:p>
          <a:p>
            <a:pPr eaLnBrk="1" hangingPunct="1">
              <a:lnSpc>
                <a:spcPct val="80000"/>
              </a:lnSpc>
            </a:pPr>
            <a:r>
              <a:rPr lang="en-US" altLang="zh-CN" sz="1000">
                <a:solidFill>
                  <a:srgbClr val="000000"/>
                </a:solidFill>
                <a:latin typeface="宋体" panose="02010600030101010101" pitchFamily="2" charset="-122"/>
              </a:rPr>
              <a:t>1938</a:t>
            </a:r>
            <a:r>
              <a:rPr lang="zh-CN" altLang="en-US" sz="1000">
                <a:solidFill>
                  <a:srgbClr val="000000"/>
                </a:solidFill>
                <a:latin typeface="宋体" panose="02010600030101010101" pitchFamily="2" charset="-122"/>
              </a:rPr>
              <a:t>年，在范尼佛</a:t>
            </a:r>
            <a:r>
              <a:rPr lang="en-US" altLang="zh-CN" sz="1000">
                <a:solidFill>
                  <a:srgbClr val="000000"/>
                </a:solidFill>
              </a:rPr>
              <a:t>·</a:t>
            </a:r>
            <a:r>
              <a:rPr lang="zh-CN" altLang="en-US" sz="1000">
                <a:solidFill>
                  <a:srgbClr val="000000"/>
                </a:solidFill>
                <a:latin typeface="宋体" panose="02010600030101010101" pitchFamily="2" charset="-122"/>
              </a:rPr>
              <a:t>布什的鼓励下，完成了硕士学业的仙农决定继续攻读数学博士学位。仅仅在一年半之后，仙农就顺利拿到了博士学位。</a:t>
            </a:r>
          </a:p>
          <a:p>
            <a:pPr eaLnBrk="1" hangingPunct="1">
              <a:lnSpc>
                <a:spcPct val="80000"/>
              </a:lnSpc>
            </a:pPr>
            <a:r>
              <a:rPr lang="zh-CN" altLang="en-US" sz="1000">
                <a:solidFill>
                  <a:srgbClr val="000000"/>
                </a:solidFill>
                <a:latin typeface="宋体" panose="02010600030101010101" pitchFamily="2" charset="-122"/>
              </a:rPr>
              <a:t>１９４０年春天，毕了业的仙农加入了贝尔实验室。不久，美国政府为了备战，仙农被调到军队里去进行防空火力系统和密码的编写与破译的研究工作。尽管如此，仙农依然有时间继续自己的工作。在贝尔实验室的工程师拉尔夫</a:t>
            </a:r>
            <a:r>
              <a:rPr lang="en-US" altLang="zh-CN" sz="1000">
                <a:solidFill>
                  <a:srgbClr val="000000"/>
                </a:solidFill>
              </a:rPr>
              <a:t>·</a:t>
            </a:r>
            <a:r>
              <a:rPr lang="zh-CN" altLang="en-US" sz="1000">
                <a:solidFill>
                  <a:srgbClr val="000000"/>
                </a:solidFill>
                <a:latin typeface="宋体" panose="02010600030101010101" pitchFamily="2" charset="-122"/>
              </a:rPr>
              <a:t>哈特利的协助下，仙农开始考虑如何使用同一种方式来传输不同讯息，以及通讯信道在受瓶颈限制和噪音干扰客观存在的情况下，如何才能保证讯息传输的准确性。</a:t>
            </a:r>
          </a:p>
          <a:p>
            <a:pPr eaLnBrk="1" hangingPunct="1">
              <a:lnSpc>
                <a:spcPct val="80000"/>
              </a:lnSpc>
            </a:pPr>
            <a:endParaRPr lang="zh-CN" altLang="en-US" sz="1000"/>
          </a:p>
        </p:txBody>
      </p:sp>
    </p:spTree>
    <p:extLst>
      <p:ext uri="{BB962C8B-B14F-4D97-AF65-F5344CB8AC3E}">
        <p14:creationId xmlns:p14="http://schemas.microsoft.com/office/powerpoint/2010/main" val="711946489"/>
      </p:ext>
    </p:extLst>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幻灯片图像占位符 1"/>
          <p:cNvSpPr>
            <a:spLocks noGrp="1" noRot="1" noChangeAspect="1" noTextEdit="1"/>
          </p:cNvSpPr>
          <p:nvPr>
            <p:ph type="sldImg"/>
          </p:nvPr>
        </p:nvSpPr>
        <p:spPr/>
      </p:sp>
      <p:sp>
        <p:nvSpPr>
          <p:cNvPr id="51202" name="备注占位符 2"/>
          <p:cNvSpPr>
            <a:spLocks noGrp="1"/>
          </p:cNvSpPr>
          <p:nvPr>
            <p:ph type="body"/>
          </p:nvPr>
        </p:nvSpPr>
        <p:spPr/>
        <p:txBody>
          <a:bodyPr wrap="square" lIns="91440" tIns="45720" rIns="91440" bIns="45720" anchor="t"/>
          <a:lstStyle/>
          <a:p>
            <a:pPr lvl="0"/>
            <a:endParaRPr lang="zh-CN" altLang="en-US" dirty="0"/>
          </a:p>
        </p:txBody>
      </p:sp>
      <p:sp>
        <p:nvSpPr>
          <p:cNvPr id="51203"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zh-CN" altLang="en-US" sz="1200" b="0" dirty="0"/>
              <a:t>35</a:t>
            </a:fld>
            <a:endParaRPr lang="zh-CN" altLang="en-US" sz="1200" b="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1143000" y="685800"/>
            <a:ext cx="4573588" cy="3429000"/>
          </a:xfrm>
        </p:spPr>
      </p:sp>
      <p:sp>
        <p:nvSpPr>
          <p:cNvPr id="3" name="文本占位符 2"/>
          <p:cNvSpPr>
            <a:spLocks noGrp="1"/>
          </p:cNvSpPr>
          <p:nvPr>
            <p:ph type="body" idx="3"/>
          </p:nvPr>
        </p:nvSpPr>
        <p:spPr/>
        <p:txBody>
          <a:bodyPr/>
          <a:lstStyle/>
          <a:p>
            <a:pPr lvl="1" eaLnBrk="1" hangingPunct="1">
              <a:buNone/>
            </a:pPr>
            <a:r>
              <a:rPr lang="en-US" altLang="x-none" b="1" dirty="0">
                <a:solidFill>
                  <a:srgbClr val="FF0000"/>
                </a:solidFill>
                <a:latin typeface="楷体_GB2312" pitchFamily="1" charset="-122"/>
                <a:ea typeface="楷体_GB2312" pitchFamily="1" charset="-122"/>
                <a:sym typeface="+mn-ea"/>
              </a:rPr>
              <a:t>1.</a:t>
            </a:r>
            <a:r>
              <a:rPr lang="zh-CN" altLang="en-US" b="1" dirty="0">
                <a:solidFill>
                  <a:srgbClr val="FF0000"/>
                </a:solidFill>
                <a:latin typeface="楷体_GB2312" pitchFamily="1" charset="-122"/>
                <a:ea typeface="楷体_GB2312" pitchFamily="1" charset="-122"/>
                <a:sym typeface="+mn-ea"/>
              </a:rPr>
              <a:t>自顶向下</a:t>
            </a:r>
            <a:r>
              <a:rPr lang="en-US" altLang="x-none" b="1" dirty="0">
                <a:solidFill>
                  <a:srgbClr val="FF0000"/>
                </a:solidFill>
                <a:latin typeface="楷体_GB2312" pitchFamily="1" charset="-122"/>
                <a:ea typeface="楷体_GB2312" pitchFamily="1" charset="-122"/>
                <a:sym typeface="+mn-ea"/>
              </a:rPr>
              <a:t>, </a:t>
            </a:r>
            <a:r>
              <a:rPr lang="zh-CN" altLang="en-US" b="1" dirty="0">
                <a:solidFill>
                  <a:srgbClr val="FF0000"/>
                </a:solidFill>
                <a:latin typeface="楷体_GB2312" pitchFamily="1" charset="-122"/>
                <a:ea typeface="楷体_GB2312" pitchFamily="1" charset="-122"/>
                <a:sym typeface="+mn-ea"/>
              </a:rPr>
              <a:t>逐步求精；</a:t>
            </a:r>
            <a:endParaRPr lang="zh-CN" altLang="en-US" b="1" dirty="0">
              <a:solidFill>
                <a:srgbClr val="FF0000"/>
              </a:solidFill>
              <a:latin typeface="楷体_GB2312" pitchFamily="1" charset="-122"/>
              <a:ea typeface="楷体_GB2312" pitchFamily="1" charset="-122"/>
            </a:endParaRPr>
          </a:p>
          <a:p>
            <a:pPr marL="342900" lvl="0" indent="-342900" eaLnBrk="1" hangingPunct="1">
              <a:buNone/>
            </a:pPr>
            <a:r>
              <a:rPr lang="zh-CN" altLang="en-US" b="1" dirty="0">
                <a:latin typeface="楷体_GB2312" pitchFamily="1" charset="-122"/>
                <a:ea typeface="楷体_GB2312" pitchFamily="1" charset="-122"/>
                <a:sym typeface="+mn-ea"/>
              </a:rPr>
              <a:t>   采用分而治之的方法，将一个复杂问题分解为相对简单的一些子问题，然后针对这些子问题进行求解。如果某个子问题仍然是比较复杂的，再进一步分解为子</a:t>
            </a:r>
            <a:r>
              <a:rPr lang="en-US" altLang="x-none" b="1" dirty="0">
                <a:latin typeface="楷体_GB2312" pitchFamily="1" charset="-122"/>
                <a:ea typeface="楷体_GB2312" pitchFamily="1" charset="-122"/>
                <a:sym typeface="+mn-ea"/>
              </a:rPr>
              <a:t>-</a:t>
            </a:r>
            <a:r>
              <a:rPr lang="zh-CN" altLang="en-US" b="1" dirty="0">
                <a:latin typeface="楷体_GB2312" pitchFamily="1" charset="-122"/>
                <a:ea typeface="楷体_GB2312" pitchFamily="1" charset="-122"/>
                <a:sym typeface="+mn-ea"/>
              </a:rPr>
              <a:t>子问题，直到所有问题都能够求解。</a:t>
            </a:r>
            <a:endParaRPr lang="zh-CN" altLang="en-US" b="1" dirty="0">
              <a:latin typeface="楷体_GB2312" pitchFamily="1" charset="-122"/>
              <a:ea typeface="楷体_GB2312" pitchFamily="1" charset="-122"/>
            </a:endParaRPr>
          </a:p>
          <a:p>
            <a:pPr marL="342900" lvl="0" indent="-342900" eaLnBrk="1" hangingPunct="1">
              <a:buNone/>
            </a:pPr>
            <a:endParaRPr lang="en-US" altLang="x-none" b="1" dirty="0">
              <a:latin typeface="楷体_GB2312" pitchFamily="1" charset="-122"/>
              <a:ea typeface="楷体_GB2312" pitchFamily="1" charset="-122"/>
            </a:endParaRPr>
          </a:p>
          <a:p>
            <a:pPr marL="342900" lvl="0" indent="-342900" eaLnBrk="1" hangingPunct="1">
              <a:buNone/>
            </a:pPr>
            <a:r>
              <a:rPr lang="en-US" altLang="x-none" dirty="0">
                <a:latin typeface="Times New Roman" pitchFamily="18" charset="0"/>
                <a:ea typeface="宋体" charset="-122"/>
                <a:sym typeface="+mn-ea"/>
              </a:rPr>
              <a:t>     </a:t>
            </a:r>
            <a:r>
              <a:rPr lang="zh-CN" altLang="en-US" b="1" dirty="0">
                <a:latin typeface="楷体_GB2312" pitchFamily="1" charset="-122"/>
                <a:ea typeface="楷体_GB2312" pitchFamily="1" charset="-122"/>
                <a:sym typeface="+mn-ea"/>
              </a:rPr>
              <a:t>优点：先全局后局部、先整体后细节、先抽象后具体，有助于控制问题的复杂性，利于问题的解决。</a:t>
            </a:r>
            <a:endParaRPr lang="zh-CN" altLang="en-US" b="1" dirty="0">
              <a:latin typeface="楷体_GB2312" pitchFamily="1" charset="-122"/>
              <a:ea typeface="楷体_GB2312" pitchFamily="1" charset="-122"/>
            </a:endParaRPr>
          </a:p>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1143000" y="685800"/>
            <a:ext cx="4573588" cy="3429000"/>
          </a:xfrm>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27482297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1143000" y="685800"/>
            <a:ext cx="4573588" cy="3429000"/>
          </a:xfrm>
        </p:spPr>
      </p:sp>
      <p:sp>
        <p:nvSpPr>
          <p:cNvPr id="3" name="文本占位符 2"/>
          <p:cNvSpPr>
            <a:spLocks noGrp="1"/>
          </p:cNvSpPr>
          <p:nvPr>
            <p:ph type="body" idx="3"/>
          </p:nvPr>
        </p:nvSpPr>
        <p:spPr/>
        <p:txBody>
          <a:bodyPr/>
          <a:lstStyle/>
          <a:p>
            <a:pPr lvl="0" fontAlgn="base"/>
            <a:r>
              <a:rPr lang="en-US" altLang="x-none" dirty="0">
                <a:latin typeface="楷体_GB2312" pitchFamily="1" charset="-122"/>
                <a:ea typeface="楷体_GB2312" pitchFamily="1" charset="-122"/>
                <a:sym typeface="+mn-ea"/>
              </a:rPr>
              <a:t>20</a:t>
            </a:r>
            <a:r>
              <a:rPr lang="zh-CN" altLang="en-US" dirty="0">
                <a:latin typeface="楷体_GB2312" pitchFamily="1" charset="-122"/>
                <a:ea typeface="楷体_GB2312" pitchFamily="1" charset="-122"/>
                <a:sym typeface="+mn-ea"/>
              </a:rPr>
              <a:t>世纪</a:t>
            </a:r>
            <a:r>
              <a:rPr lang="en-US" altLang="x-none" dirty="0">
                <a:latin typeface="楷体_GB2312" pitchFamily="1" charset="-122"/>
                <a:ea typeface="楷体_GB2312" pitchFamily="1" charset="-122"/>
                <a:sym typeface="+mn-ea"/>
              </a:rPr>
              <a:t>60</a:t>
            </a:r>
            <a:r>
              <a:rPr lang="zh-CN" altLang="en-US" dirty="0">
                <a:latin typeface="楷体_GB2312" pitchFamily="1" charset="-122"/>
                <a:ea typeface="楷体_GB2312" pitchFamily="1" charset="-122"/>
                <a:sym typeface="+mn-ea"/>
              </a:rPr>
              <a:t>年代末和</a:t>
            </a:r>
            <a:r>
              <a:rPr lang="en-US" altLang="x-none" dirty="0">
                <a:latin typeface="楷体_GB2312" pitchFamily="1" charset="-122"/>
                <a:ea typeface="楷体_GB2312" pitchFamily="1" charset="-122"/>
                <a:sym typeface="+mn-ea"/>
              </a:rPr>
              <a:t>70</a:t>
            </a:r>
            <a:r>
              <a:rPr lang="zh-CN" altLang="en-US" dirty="0">
                <a:latin typeface="楷体_GB2312" pitchFamily="1" charset="-122"/>
                <a:ea typeface="楷体_GB2312" pitchFamily="1" charset="-122"/>
                <a:sym typeface="+mn-ea"/>
              </a:rPr>
              <a:t>年代，有些人不加限制地使用</a:t>
            </a:r>
            <a:r>
              <a:rPr lang="en-US" altLang="x-none" dirty="0">
                <a:latin typeface="楷体_GB2312" pitchFamily="1" charset="-122"/>
                <a:ea typeface="楷体_GB2312" pitchFamily="1" charset="-122"/>
                <a:sym typeface="+mn-ea"/>
              </a:rPr>
              <a:t>goto</a:t>
            </a:r>
            <a:r>
              <a:rPr lang="zh-CN" altLang="en-US" dirty="0">
                <a:latin typeface="楷体_GB2312" pitchFamily="1" charset="-122"/>
                <a:ea typeface="楷体_GB2312" pitchFamily="1" charset="-122"/>
                <a:sym typeface="+mn-ea"/>
              </a:rPr>
              <a:t>语句，使得程序结构难于理解；</a:t>
            </a:r>
            <a:endParaRPr lang="en-US" altLang="x-none" strike="noStrike" noProof="1">
              <a:latin typeface="楷体_GB2312" pitchFamily="1" charset="-122"/>
              <a:ea typeface="楷体_GB2312" pitchFamily="1" charset="-122"/>
            </a:endParaRPr>
          </a:p>
          <a:p>
            <a:pPr lvl="0" fontAlgn="base"/>
            <a:r>
              <a:rPr lang="zh-CN" altLang="en-US" dirty="0">
                <a:latin typeface="楷体_GB2312" pitchFamily="1" charset="-122"/>
                <a:ea typeface="楷体_GB2312" pitchFamily="1" charset="-122"/>
                <a:sym typeface="+mn-ea"/>
              </a:rPr>
              <a:t>能否消除</a:t>
            </a:r>
            <a:r>
              <a:rPr lang="en-US" altLang="x-none" dirty="0">
                <a:latin typeface="楷体_GB2312" pitchFamily="1" charset="-122"/>
                <a:ea typeface="楷体_GB2312" pitchFamily="1" charset="-122"/>
                <a:sym typeface="+mn-ea"/>
              </a:rPr>
              <a:t>goto</a:t>
            </a:r>
            <a:r>
              <a:rPr lang="zh-CN" altLang="en-US" dirty="0">
                <a:latin typeface="楷体_GB2312" pitchFamily="1" charset="-122"/>
                <a:ea typeface="楷体_GB2312" pitchFamily="1" charset="-122"/>
                <a:sym typeface="+mn-ea"/>
              </a:rPr>
              <a:t>语句？</a:t>
            </a:r>
            <a:r>
              <a:rPr lang="en-US" altLang="x-none" dirty="0">
                <a:latin typeface="楷体_GB2312" pitchFamily="1" charset="-122"/>
                <a:ea typeface="楷体_GB2312" pitchFamily="1" charset="-122"/>
                <a:sym typeface="+mn-ea"/>
              </a:rPr>
              <a:t> 1966</a:t>
            </a:r>
            <a:r>
              <a:rPr lang="zh-CN" altLang="en-US" dirty="0">
                <a:latin typeface="楷体_GB2312" pitchFamily="1" charset="-122"/>
                <a:ea typeface="楷体_GB2312" pitchFamily="1" charset="-122"/>
                <a:sym typeface="+mn-ea"/>
              </a:rPr>
              <a:t>年，</a:t>
            </a:r>
            <a:r>
              <a:rPr lang="en-US" altLang="x-none" dirty="0">
                <a:latin typeface="楷体_GB2312" pitchFamily="1" charset="-122"/>
                <a:ea typeface="楷体_GB2312" pitchFamily="1" charset="-122"/>
                <a:sym typeface="+mn-ea"/>
              </a:rPr>
              <a:t>G.Jacopini</a:t>
            </a:r>
            <a:r>
              <a:rPr lang="zh-CN" altLang="en-US" dirty="0">
                <a:latin typeface="楷体_GB2312" pitchFamily="1" charset="-122"/>
                <a:ea typeface="楷体_GB2312" pitchFamily="1" charset="-122"/>
                <a:sym typeface="+mn-ea"/>
              </a:rPr>
              <a:t>和</a:t>
            </a:r>
            <a:r>
              <a:rPr lang="en-US" altLang="x-none" dirty="0">
                <a:latin typeface="楷体_GB2312" pitchFamily="1" charset="-122"/>
                <a:ea typeface="楷体_GB2312" pitchFamily="1" charset="-122"/>
                <a:sym typeface="+mn-ea"/>
              </a:rPr>
              <a:t>C.Bohm</a:t>
            </a:r>
            <a:r>
              <a:rPr lang="zh-CN" altLang="en-US" dirty="0">
                <a:latin typeface="楷体_GB2312" pitchFamily="1" charset="-122"/>
                <a:ea typeface="楷体_GB2312" pitchFamily="1" charset="-122"/>
                <a:sym typeface="+mn-ea"/>
              </a:rPr>
              <a:t>从理论上证明了：任何程序都可以用顺序结构、条件结构和循环结构表示出来。</a:t>
            </a:r>
            <a:endParaRPr lang="en-US" altLang="x-none" strike="noStrike" noProof="1">
              <a:latin typeface="楷体_GB2312" pitchFamily="1" charset="-122"/>
              <a:ea typeface="楷体_GB2312" pitchFamily="1" charset="-122"/>
            </a:endParaRPr>
          </a:p>
          <a:p>
            <a:pPr marL="342900" lvl="1" indent="-342900" fontAlgn="base">
              <a:buChar char="•"/>
            </a:pPr>
            <a:r>
              <a:rPr lang="zh-CN" altLang="en-US" dirty="0">
                <a:latin typeface="楷体_GB2312" pitchFamily="1" charset="-122"/>
                <a:ea typeface="楷体_GB2312" pitchFamily="1" charset="-122"/>
                <a:sym typeface="+mn-ea"/>
              </a:rPr>
              <a:t>结构化程序设计方法：</a:t>
            </a:r>
            <a:r>
              <a:rPr lang="en-US" altLang="x-none" dirty="0">
                <a:latin typeface="楷体_GB2312" pitchFamily="1" charset="-122"/>
                <a:sym typeface="+mn-ea"/>
              </a:rPr>
              <a:t> E.W.dijkstra</a:t>
            </a:r>
            <a:r>
              <a:rPr lang="zh-CN" altLang="en-US" dirty="0">
                <a:latin typeface="楷体_GB2312" pitchFamily="1" charset="-122"/>
                <a:ea typeface="楷体_GB2312" pitchFamily="1" charset="-122"/>
                <a:sym typeface="+mn-ea"/>
              </a:rPr>
              <a:t>在</a:t>
            </a:r>
            <a:r>
              <a:rPr lang="en-US" altLang="x-none" dirty="0">
                <a:latin typeface="楷体_GB2312" pitchFamily="1" charset="-122"/>
                <a:ea typeface="楷体_GB2312" pitchFamily="1" charset="-122"/>
                <a:sym typeface="+mn-ea"/>
              </a:rPr>
              <a:t>1969</a:t>
            </a:r>
            <a:r>
              <a:rPr lang="zh-CN" altLang="en-US" dirty="0">
                <a:latin typeface="楷体_GB2312" pitchFamily="1" charset="-122"/>
                <a:ea typeface="楷体_GB2312" pitchFamily="1" charset="-122"/>
                <a:sym typeface="+mn-ea"/>
              </a:rPr>
              <a:t>年提出，在当时是一种新的程序设计方法和风格，关注程序结构的好坏，</a:t>
            </a:r>
            <a:r>
              <a:rPr lang="zh-CN" altLang="en-US" b="1" dirty="0">
                <a:latin typeface="楷体_GB2312" pitchFamily="1" charset="-122"/>
                <a:ea typeface="楷体_GB2312" pitchFamily="1" charset="-122"/>
                <a:sym typeface="+mn-ea"/>
              </a:rPr>
              <a:t>强调</a:t>
            </a:r>
            <a:r>
              <a:rPr lang="zh-CN" altLang="en-US" b="1" dirty="0">
                <a:solidFill>
                  <a:schemeClr val="accent2"/>
                </a:solidFill>
                <a:effectLst>
                  <a:outerShdw blurRad="38100" dist="38100" dir="2700000">
                    <a:srgbClr val="C0C0C0"/>
                  </a:outerShdw>
                </a:effectLst>
                <a:latin typeface="楷体_GB2312" pitchFamily="1" charset="-122"/>
                <a:ea typeface="楷体_GB2312" pitchFamily="1" charset="-122"/>
                <a:sym typeface="+mn-ea"/>
              </a:rPr>
              <a:t>程序设计风格</a:t>
            </a:r>
            <a:r>
              <a:rPr lang="zh-CN" altLang="en-US" b="1" dirty="0">
                <a:latin typeface="楷体_GB2312" pitchFamily="1" charset="-122"/>
                <a:ea typeface="楷体_GB2312" pitchFamily="1" charset="-122"/>
                <a:sym typeface="+mn-ea"/>
              </a:rPr>
              <a:t>和</a:t>
            </a:r>
            <a:r>
              <a:rPr lang="zh-CN" altLang="en-US" b="1" dirty="0">
                <a:solidFill>
                  <a:schemeClr val="accent2"/>
                </a:solidFill>
                <a:effectLst>
                  <a:outerShdw blurRad="38100" dist="38100" dir="2700000">
                    <a:srgbClr val="C0C0C0"/>
                  </a:outerShdw>
                </a:effectLst>
                <a:latin typeface="楷体_GB2312" pitchFamily="1" charset="-122"/>
                <a:ea typeface="楷体_GB2312" pitchFamily="1" charset="-122"/>
                <a:sym typeface="+mn-ea"/>
              </a:rPr>
              <a:t>程序结构的规范化</a:t>
            </a:r>
            <a:r>
              <a:rPr lang="zh-CN" altLang="en-US" b="1" dirty="0">
                <a:latin typeface="楷体_GB2312" pitchFamily="1" charset="-122"/>
                <a:ea typeface="楷体_GB2312" pitchFamily="1" charset="-122"/>
                <a:sym typeface="+mn-ea"/>
              </a:rPr>
              <a:t>，提倡清晰的结构</a:t>
            </a:r>
            <a:endParaRPr lang="zh-CN" altLang="en-US"/>
          </a:p>
        </p:txBody>
      </p:sp>
    </p:spTree>
    <p:extLst>
      <p:ext uri="{BB962C8B-B14F-4D97-AF65-F5344CB8AC3E}">
        <p14:creationId xmlns:p14="http://schemas.microsoft.com/office/powerpoint/2010/main" val="11424092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fld id="{3DFBA229-C26B-40E9-8526-8CB40E183B76}" type="slidenum">
              <a:rPr kumimoji="0"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fld id="{3DFBA229-C26B-40E9-8526-8CB40E183B76}" type="slidenum">
              <a:rPr kumimoji="0"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858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fld id="{3DFBA229-C26B-40E9-8526-8CB40E183B76}" type="slidenum">
              <a:rPr kumimoji="0"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fld id="{3DFBA229-C26B-40E9-8526-8CB40E183B76}" type="slidenum">
              <a:rPr kumimoji="0"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fld id="{3DFBA229-C26B-40E9-8526-8CB40E183B76}" type="slidenum">
              <a:rPr kumimoji="0"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685800" y="1319213"/>
            <a:ext cx="3810000" cy="46116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319213"/>
            <a:ext cx="3810000" cy="46116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5">
            <a:extLst>
              <a:ext uri="{FF2B5EF4-FFF2-40B4-BE49-F238E27FC236}">
                <a16:creationId xmlns:a16="http://schemas.microsoft.com/office/drawing/2014/main" id="{BF4723FA-43FC-4CE0-80FA-1CA7879A5D83}"/>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CBD0752-A796-4B92-A99A-62723058AEC3}"/>
              </a:ext>
            </a:extLst>
          </p:cNvPr>
          <p:cNvSpPr>
            <a:spLocks noGrp="1" noChangeArrowheads="1"/>
          </p:cNvSpPr>
          <p:nvPr>
            <p:ph type="sldNum" sz="quarter" idx="11"/>
          </p:nvPr>
        </p:nvSpPr>
        <p:spPr>
          <a:ln/>
        </p:spPr>
        <p:txBody>
          <a:bodyPr/>
          <a:lstStyle>
            <a:lvl1pPr>
              <a:defRPr/>
            </a:lvl1pPr>
          </a:lstStyle>
          <a:p>
            <a:pPr>
              <a:defRPr/>
            </a:pPr>
            <a:fld id="{3E0E5A5D-8083-43C9-81D6-01CA358A14FE}" type="slidenum">
              <a:rPr altLang="en-US"/>
              <a:pPr>
                <a:defRPr/>
              </a:pPr>
              <a:t>‹#›</a:t>
            </a:fld>
            <a:endParaRPr lang="zh-CN" altLang="zh-CN"/>
          </a:p>
        </p:txBody>
      </p:sp>
    </p:spTree>
    <p:extLst>
      <p:ext uri="{BB962C8B-B14F-4D97-AF65-F5344CB8AC3E}">
        <p14:creationId xmlns:p14="http://schemas.microsoft.com/office/powerpoint/2010/main" val="71307666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OverTx">
  <p:cSld name="标题和内容在文本之上">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28650" y="1825625"/>
            <a:ext cx="7886700" cy="209867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8650" y="4076700"/>
            <a:ext cx="7886700" cy="21002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3554168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SmartArt 占位符 2"/>
          <p:cNvSpPr>
            <a:spLocks noGrp="1"/>
          </p:cNvSpPr>
          <p:nvPr>
            <p:ph type="pic" idx="1"/>
          </p:nvPr>
        </p:nvSpPr>
        <p:spPr/>
        <p:txBody>
          <a:bodyPr/>
          <a:lstStyle/>
          <a:p>
            <a:endParaRPr lang="zh-CN" altLang="en-US" noProof="1"/>
          </a:p>
        </p:txBody>
      </p:sp>
    </p:spTree>
    <p:extLst>
      <p:ext uri="{BB962C8B-B14F-4D97-AF65-F5344CB8AC3E}">
        <p14:creationId xmlns:p14="http://schemas.microsoft.com/office/powerpoint/2010/main" val="4285644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1263650" y="404813"/>
            <a:ext cx="7772400" cy="720725"/>
          </a:xfrm>
          <a:prstGeom prst="rect">
            <a:avLst/>
          </a:prstGeom>
          <a:noFill/>
          <a:ln w="9525">
            <a:noFill/>
          </a:ln>
        </p:spPr>
        <p:txBody>
          <a:bodyPr anchor="ctr"/>
          <a:lstStyle/>
          <a:p>
            <a:pPr lvl="0"/>
            <a:r>
              <a:rPr lang="zh-CN" altLang="en-US" dirty="0"/>
              <a:t>单击以编辑母版标题样式</a:t>
            </a:r>
          </a:p>
        </p:txBody>
      </p:sp>
      <p:sp>
        <p:nvSpPr>
          <p:cNvPr id="1027" name="Rectangle 3"/>
          <p:cNvSpPr>
            <a:spLocks noGrp="1"/>
          </p:cNvSpPr>
          <p:nvPr>
            <p:ph type="body"/>
          </p:nvPr>
        </p:nvSpPr>
        <p:spPr>
          <a:xfrm>
            <a:off x="685800" y="1319213"/>
            <a:ext cx="7772400" cy="4611687"/>
          </a:xfrm>
          <a:prstGeom prst="rect">
            <a:avLst/>
          </a:prstGeom>
          <a:noFill/>
          <a:ln w="9525">
            <a:noFill/>
          </a:ln>
        </p:spPr>
        <p:txBody>
          <a:bodyPr anchor="t"/>
          <a:lstStyle/>
          <a:p>
            <a:pPr lvl="0" indent="-342900"/>
            <a:r>
              <a:rPr lang="zh-CN" altLang="en-US" dirty="0"/>
              <a:t>单击以编辑母版文本样式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1028" name="Rectangle 4"/>
          <p:cNvSpPr>
            <a:spLocks noGrp="1" noChangeArrowheads="1"/>
          </p:cNvSpPr>
          <p:nvPr>
            <p:ph type="dt" sz="half" idx="2"/>
          </p:nvPr>
        </p:nvSpPr>
        <p:spPr bwMode="auto">
          <a:xfrm>
            <a:off x="685800" y="60833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spcBef>
                <a:spcPct val="50000"/>
              </a:spcBef>
              <a:buFont typeface="Arial" panose="020B0604020202020204" pitchFamily="34" charset="0"/>
              <a:buNone/>
              <a:defRPr sz="1400"/>
            </a:lvl1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0833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spcBef>
                <a:spcPct val="50000"/>
              </a:spcBef>
              <a:buFont typeface="Arial" panose="020B0604020202020204" pitchFamily="34" charset="0"/>
              <a:buNone/>
              <a:defRPr sz="1400"/>
            </a:lvl1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spcBef>
                <a:spcPct val="50000"/>
              </a:spcBef>
              <a:buFont typeface="Arial" panose="020B0604020202020204" pitchFamily="34" charset="0"/>
              <a:buNone/>
              <a:defRPr sz="1400" b="1"/>
            </a:lvl1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fld id="{3DFBA229-C26B-40E9-8526-8CB40E183B76}" type="slidenum">
              <a:rPr kumimoji="0"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1031" name="Group 7"/>
          <p:cNvGrpSpPr/>
          <p:nvPr/>
        </p:nvGrpSpPr>
        <p:grpSpPr>
          <a:xfrm>
            <a:off x="0" y="6553200"/>
            <a:ext cx="9144000" cy="301625"/>
            <a:chOff x="0" y="0"/>
            <a:chExt cx="5760" cy="288"/>
          </a:xfrm>
        </p:grpSpPr>
        <p:sp>
          <p:nvSpPr>
            <p:cNvPr id="2" name="Rectangle 8"/>
            <p:cNvSpPr>
              <a:spLocks noChangeArrowheads="1"/>
            </p:cNvSpPr>
            <p:nvPr/>
          </p:nvSpPr>
          <p:spPr bwMode="auto">
            <a:xfrm>
              <a:off x="0" y="0"/>
              <a:ext cx="5760" cy="288"/>
            </a:xfrm>
            <a:prstGeom prst="rect">
              <a:avLst/>
            </a:prstGeom>
            <a:solidFill>
              <a:srgbClr val="33CCCC"/>
            </a:solidFill>
            <a:ln w="9525" cmpd="sng">
              <a:solidFill>
                <a:srgbClr val="33CCCC"/>
              </a:solidFill>
              <a:miter lim="800000"/>
            </a:ln>
          </p:spPr>
          <p:txBody>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rPr>
                <a:t>                  </a:t>
              </a:r>
            </a:p>
          </p:txBody>
        </p:sp>
        <p:sp>
          <p:nvSpPr>
            <p:cNvPr id="1033" name="Line 9"/>
            <p:cNvSpPr/>
            <p:nvPr/>
          </p:nvSpPr>
          <p:spPr>
            <a:xfrm>
              <a:off x="4464" y="0"/>
              <a:ext cx="288" cy="288"/>
            </a:xfrm>
            <a:prstGeom prst="line">
              <a:avLst/>
            </a:prstGeom>
            <a:ln w="57150" cap="flat" cmpd="sng">
              <a:solidFill>
                <a:srgbClr val="FFFFFF"/>
              </a:solidFill>
              <a:prstDash val="solid"/>
              <a:round/>
              <a:headEnd type="none" w="med" len="med"/>
              <a:tailEnd type="none" w="med" len="med"/>
            </a:ln>
          </p:spPr>
        </p:sp>
        <p:sp>
          <p:nvSpPr>
            <p:cNvPr id="1034" name="Line 10"/>
            <p:cNvSpPr/>
            <p:nvPr/>
          </p:nvSpPr>
          <p:spPr>
            <a:xfrm>
              <a:off x="4176" y="0"/>
              <a:ext cx="336" cy="288"/>
            </a:xfrm>
            <a:prstGeom prst="line">
              <a:avLst/>
            </a:prstGeom>
            <a:ln w="57150" cap="flat" cmpd="sng">
              <a:solidFill>
                <a:srgbClr val="FFFFFF"/>
              </a:solidFill>
              <a:prstDash val="solid"/>
              <a:round/>
              <a:headEnd type="none" w="med" len="med"/>
              <a:tailEnd type="none" w="med" len="med"/>
            </a:ln>
          </p:spPr>
        </p:sp>
        <p:sp>
          <p:nvSpPr>
            <p:cNvPr id="1035" name="Line 11"/>
            <p:cNvSpPr/>
            <p:nvPr/>
          </p:nvSpPr>
          <p:spPr>
            <a:xfrm>
              <a:off x="4704" y="0"/>
              <a:ext cx="336" cy="288"/>
            </a:xfrm>
            <a:prstGeom prst="line">
              <a:avLst/>
            </a:prstGeom>
            <a:ln w="57150" cap="flat" cmpd="sng">
              <a:solidFill>
                <a:srgbClr val="FFFFFF"/>
              </a:solidFill>
              <a:prstDash val="solid"/>
              <a:round/>
              <a:headEnd type="none" w="med" len="med"/>
              <a:tailEnd type="none" w="med" len="med"/>
            </a:ln>
          </p:spPr>
        </p:sp>
        <p:sp>
          <p:nvSpPr>
            <p:cNvPr id="1036" name="Line 12"/>
            <p:cNvSpPr/>
            <p:nvPr/>
          </p:nvSpPr>
          <p:spPr>
            <a:xfrm>
              <a:off x="5376" y="0"/>
              <a:ext cx="384" cy="288"/>
            </a:xfrm>
            <a:prstGeom prst="line">
              <a:avLst/>
            </a:prstGeom>
            <a:ln w="57150" cap="flat" cmpd="sng">
              <a:solidFill>
                <a:srgbClr val="FFFFFF"/>
              </a:solidFill>
              <a:prstDash val="solid"/>
              <a:round/>
              <a:headEnd type="none" w="med" len="med"/>
              <a:tailEnd type="none" w="med" len="med"/>
            </a:ln>
          </p:spPr>
        </p:sp>
        <p:sp>
          <p:nvSpPr>
            <p:cNvPr id="1037" name="Line 13"/>
            <p:cNvSpPr/>
            <p:nvPr/>
          </p:nvSpPr>
          <p:spPr>
            <a:xfrm>
              <a:off x="5184" y="0"/>
              <a:ext cx="384" cy="288"/>
            </a:xfrm>
            <a:prstGeom prst="line">
              <a:avLst/>
            </a:prstGeom>
            <a:ln w="57150" cap="flat" cmpd="sng">
              <a:solidFill>
                <a:srgbClr val="FFFFFF"/>
              </a:solidFill>
              <a:prstDash val="solid"/>
              <a:round/>
              <a:headEnd type="none" w="med" len="med"/>
              <a:tailEnd type="none" w="med" len="med"/>
            </a:ln>
          </p:spPr>
        </p:sp>
        <p:sp>
          <p:nvSpPr>
            <p:cNvPr id="1038" name="Line 14"/>
            <p:cNvSpPr/>
            <p:nvPr/>
          </p:nvSpPr>
          <p:spPr>
            <a:xfrm>
              <a:off x="5568" y="0"/>
              <a:ext cx="192" cy="144"/>
            </a:xfrm>
            <a:prstGeom prst="line">
              <a:avLst/>
            </a:prstGeom>
            <a:ln w="57150" cap="flat" cmpd="sng">
              <a:solidFill>
                <a:srgbClr val="FFFFFF"/>
              </a:solidFill>
              <a:prstDash val="solid"/>
              <a:round/>
              <a:headEnd type="none" w="med" len="med"/>
              <a:tailEnd type="none" w="med" len="med"/>
            </a:ln>
          </p:spPr>
        </p:sp>
        <p:sp>
          <p:nvSpPr>
            <p:cNvPr id="1039" name="Line 15"/>
            <p:cNvSpPr/>
            <p:nvPr/>
          </p:nvSpPr>
          <p:spPr>
            <a:xfrm>
              <a:off x="4992" y="0"/>
              <a:ext cx="336" cy="288"/>
            </a:xfrm>
            <a:prstGeom prst="line">
              <a:avLst/>
            </a:prstGeom>
            <a:ln w="57150" cap="flat" cmpd="sng">
              <a:solidFill>
                <a:srgbClr val="FFFFFF"/>
              </a:solidFill>
              <a:prstDash val="solid"/>
              <a:round/>
              <a:headEnd type="none" w="med" len="med"/>
              <a:tailEnd type="none" w="med" len="med"/>
            </a:ln>
          </p:spPr>
        </p:sp>
      </p:grpSp>
      <p:sp>
        <p:nvSpPr>
          <p:cNvPr id="1040" name="Line 16"/>
          <p:cNvSpPr/>
          <p:nvPr/>
        </p:nvSpPr>
        <p:spPr>
          <a:xfrm>
            <a:off x="468313" y="1176338"/>
            <a:ext cx="8458200" cy="0"/>
          </a:xfrm>
          <a:prstGeom prst="line">
            <a:avLst/>
          </a:prstGeom>
          <a:ln w="57150" cap="flat" cmpd="sng">
            <a:solidFill>
              <a:srgbClr val="33CCCC"/>
            </a:solidFill>
            <a:prstDash val="solid"/>
            <a:round/>
            <a:headEnd type="none" w="med" len="med"/>
            <a:tailEnd type="none" w="med" len="med"/>
          </a:ln>
        </p:spPr>
      </p:sp>
      <p:sp>
        <p:nvSpPr>
          <p:cNvPr id="3" name="Text Box 17"/>
          <p:cNvSpPr txBox="1">
            <a:spLocks noChangeArrowheads="1"/>
          </p:cNvSpPr>
          <p:nvPr/>
        </p:nvSpPr>
        <p:spPr bwMode="auto">
          <a:xfrm>
            <a:off x="457200" y="2514600"/>
            <a:ext cx="8305800" cy="350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sym typeface="+mn-ea"/>
            </a:endParaRPr>
          </a:p>
        </p:txBody>
      </p:sp>
      <p:pic>
        <p:nvPicPr>
          <p:cNvPr id="1042" name="Picture 18" descr="bupt"/>
          <p:cNvPicPr>
            <a:picLocks noChangeAspect="1"/>
          </p:cNvPicPr>
          <p:nvPr/>
        </p:nvPicPr>
        <p:blipFill>
          <a:blip r:embed="rId10"/>
          <a:stretch>
            <a:fillRect/>
          </a:stretch>
        </p:blipFill>
        <p:spPr>
          <a:xfrm>
            <a:off x="211138" y="228600"/>
            <a:ext cx="1970087" cy="661988"/>
          </a:xfrm>
          <a:prstGeom prst="rect">
            <a:avLst/>
          </a:prstGeom>
          <a:solidFill>
            <a:srgbClr val="438ACB"/>
          </a:solid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5" r:id="rId5"/>
    <p:sldLayoutId id="2147483656" r:id="rId6"/>
    <p:sldLayoutId id="2147483657" r:id="rId7"/>
    <p:sldLayoutId id="2147483658" r:id="rId8"/>
  </p:sldLayoutIdLst>
  <p:transition/>
  <p:hf sldNum="0" hdr="0" ftr="0" dt="0"/>
  <p:txStyles>
    <p:titleStyle>
      <a:lvl1pPr algn="r" rtl="0" eaLnBrk="0" fontAlgn="base" hangingPunct="0">
        <a:spcBef>
          <a:spcPct val="0"/>
        </a:spcBef>
        <a:spcAft>
          <a:spcPct val="0"/>
        </a:spcAft>
        <a:defRPr sz="3200">
          <a:solidFill>
            <a:srgbClr val="FF3300"/>
          </a:solidFill>
          <a:latin typeface="+mj-lt"/>
          <a:ea typeface="+mj-ea"/>
          <a:cs typeface="+mj-cs"/>
        </a:defRPr>
      </a:lvl1pPr>
      <a:lvl2pPr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2pPr>
      <a:lvl3pPr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3pPr>
      <a:lvl4pPr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4pPr>
      <a:lvl5pPr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5pPr>
      <a:lvl6pPr marL="457200"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6pPr>
      <a:lvl7pPr marL="914400"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7pPr>
      <a:lvl8pPr marL="1371600"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8pPr>
      <a:lvl9pPr marL="1828800"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sz="2800">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defRPr>
      </a:lvl5pPr>
      <a:lvl6pPr marL="2514600" indent="-2286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defRPr>
      </a:lvl6pPr>
      <a:lvl7pPr marL="2971800" indent="-2286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defRPr>
      </a:lvl7pPr>
      <a:lvl8pPr marL="3429000" indent="-2286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defRPr>
      </a:lvl8pPr>
      <a:lvl9pPr marL="3886200" indent="-2286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audio" Target="../media/audio1.wav"/></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5.xml"/><Relationship Id="rId5" Type="http://schemas.openxmlformats.org/officeDocument/2006/relationships/image" Target="../media/image10.jpeg"/><Relationship Id="rId4" Type="http://schemas.openxmlformats.org/officeDocument/2006/relationships/image" Target="../media/image9.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8.wmf"/><Relationship Id="rId18" Type="http://schemas.openxmlformats.org/officeDocument/2006/relationships/image" Target="../media/image20.wmf"/><Relationship Id="rId3" Type="http://schemas.openxmlformats.org/officeDocument/2006/relationships/image" Target="../media/image13.wmf"/><Relationship Id="rId7" Type="http://schemas.openxmlformats.org/officeDocument/2006/relationships/image" Target="../media/image15.wmf"/><Relationship Id="rId12" Type="http://schemas.openxmlformats.org/officeDocument/2006/relationships/oleObject" Target="../embeddings/oleObject6.bin"/><Relationship Id="rId17" Type="http://schemas.openxmlformats.org/officeDocument/2006/relationships/oleObject" Target="../embeddings/oleObject9.bin"/><Relationship Id="rId2" Type="http://schemas.openxmlformats.org/officeDocument/2006/relationships/oleObject" Target="../embeddings/oleObject1.bin"/><Relationship Id="rId16" Type="http://schemas.openxmlformats.org/officeDocument/2006/relationships/image" Target="../media/image19.wmf"/><Relationship Id="rId20" Type="http://schemas.openxmlformats.org/officeDocument/2006/relationships/image" Target="../media/image21.wmf"/><Relationship Id="rId1" Type="http://schemas.openxmlformats.org/officeDocument/2006/relationships/slideLayout" Target="../slideLayouts/slideLayout5.xml"/><Relationship Id="rId6" Type="http://schemas.openxmlformats.org/officeDocument/2006/relationships/oleObject" Target="../embeddings/oleObject3.bin"/><Relationship Id="rId11" Type="http://schemas.openxmlformats.org/officeDocument/2006/relationships/image" Target="../media/image17.wmf"/><Relationship Id="rId5" Type="http://schemas.openxmlformats.org/officeDocument/2006/relationships/image" Target="../media/image14.wmf"/><Relationship Id="rId15" Type="http://schemas.openxmlformats.org/officeDocument/2006/relationships/oleObject" Target="../embeddings/oleObject8.bin"/><Relationship Id="rId10" Type="http://schemas.openxmlformats.org/officeDocument/2006/relationships/oleObject" Target="../embeddings/oleObject5.bin"/><Relationship Id="rId19" Type="http://schemas.openxmlformats.org/officeDocument/2006/relationships/oleObject" Target="../embeddings/oleObject10.bin"/><Relationship Id="rId4" Type="http://schemas.openxmlformats.org/officeDocument/2006/relationships/oleObject" Target="../embeddings/oleObject2.bin"/><Relationship Id="rId9" Type="http://schemas.openxmlformats.org/officeDocument/2006/relationships/image" Target="../media/image16.wmf"/><Relationship Id="rId14" Type="http://schemas.openxmlformats.org/officeDocument/2006/relationships/oleObject" Target="../embeddings/oleObject7.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embeddings/oleObject11.bin"/><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oleObject" Target="../embeddings/oleObject12.bin"/><Relationship Id="rId1" Type="http://schemas.openxmlformats.org/officeDocument/2006/relationships/slideLayout" Target="../slideLayouts/slideLayout2.xml"/><Relationship Id="rId5" Type="http://schemas.openxmlformats.org/officeDocument/2006/relationships/image" Target="../media/image29.emf"/><Relationship Id="rId4" Type="http://schemas.openxmlformats.org/officeDocument/2006/relationships/oleObject" Target="../embeddings/oleObject13.bin"/></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9.emf"/><Relationship Id="rId5" Type="http://schemas.openxmlformats.org/officeDocument/2006/relationships/oleObject" Target="../embeddings/oleObject15.bin"/><Relationship Id="rId4" Type="http://schemas.openxmlformats.org/officeDocument/2006/relationships/image" Target="../media/image28.emf"/></Relationships>
</file>

<file path=ppt/slides/_rels/slide6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oleObject" Target="../embeddings/oleObject16.bin"/><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oleObject" Target="../embeddings/oleObject17.bin"/><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oleObject" Target="../embeddings/oleObject18.bin"/><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19.bin"/><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灯片编号占位符 5"/>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b="1" dirty="0">
                <a:latin typeface="Times New Roman" panose="02020603050405020304" pitchFamily="18" charset="0"/>
              </a:rPr>
              <a:t>1</a:t>
            </a:fld>
            <a:endParaRPr lang="zh-CN" altLang="en-US" sz="1400" b="1" dirty="0">
              <a:latin typeface="Times New Roman" panose="02020603050405020304" pitchFamily="18" charset="0"/>
            </a:endParaRPr>
          </a:p>
        </p:txBody>
      </p:sp>
      <p:pic>
        <p:nvPicPr>
          <p:cNvPr id="3077" name="Picture 11" descr="地球"/>
          <p:cNvPicPr>
            <a:picLocks noChangeAspect="1"/>
          </p:cNvPicPr>
          <p:nvPr/>
        </p:nvPicPr>
        <p:blipFill>
          <a:blip r:embed="rId3"/>
          <a:stretch>
            <a:fillRect/>
          </a:stretch>
        </p:blipFill>
        <p:spPr>
          <a:xfrm>
            <a:off x="381000" y="3733800"/>
            <a:ext cx="1752600" cy="1674813"/>
          </a:xfrm>
          <a:prstGeom prst="rect">
            <a:avLst/>
          </a:prstGeom>
          <a:noFill/>
          <a:ln w="9525">
            <a:noFill/>
          </a:ln>
        </p:spPr>
      </p:pic>
      <p:sp>
        <p:nvSpPr>
          <p:cNvPr id="2" name="标题 1">
            <a:extLst>
              <a:ext uri="{FF2B5EF4-FFF2-40B4-BE49-F238E27FC236}">
                <a16:creationId xmlns:a16="http://schemas.microsoft.com/office/drawing/2014/main" id="{E01CA75C-1F46-4B4D-9748-B77E9B72939D}"/>
              </a:ext>
            </a:extLst>
          </p:cNvPr>
          <p:cNvSpPr>
            <a:spLocks noGrp="1"/>
          </p:cNvSpPr>
          <p:nvPr>
            <p:ph type="ctrTitle"/>
          </p:nvPr>
        </p:nvSpPr>
        <p:spPr/>
        <p:txBody>
          <a:bodyPr/>
          <a:lstStyle/>
          <a:p>
            <a:pPr algn="ctr"/>
            <a:r>
              <a:rPr lang="zh-CN" altLang="en-US" sz="4800" b="1" dirty="0">
                <a:effectLst>
                  <a:outerShdw blurRad="38100" dist="38100" dir="2700000" algn="tl">
                    <a:srgbClr val="000000">
                      <a:alpha val="43137"/>
                    </a:srgbClr>
                  </a:outerShdw>
                </a:effectLst>
                <a:latin typeface="+mj-ea"/>
              </a:rPr>
              <a:t>计算导论与程序设计</a:t>
            </a:r>
            <a:br>
              <a:rPr lang="en-US" altLang="zh-CN" sz="4800" b="1" dirty="0">
                <a:effectLst>
                  <a:outerShdw blurRad="38100" dist="38100" dir="2700000" algn="tl">
                    <a:srgbClr val="000000">
                      <a:alpha val="43137"/>
                    </a:srgbClr>
                  </a:outerShdw>
                </a:effectLst>
                <a:latin typeface="+mj-ea"/>
              </a:rPr>
            </a:br>
            <a:r>
              <a:rPr lang="zh-CN" altLang="en-US" sz="4800" b="1" dirty="0">
                <a:effectLst>
                  <a:outerShdw blurRad="38100" dist="38100" dir="2700000" algn="tl">
                    <a:srgbClr val="000000">
                      <a:alpha val="43137"/>
                    </a:srgbClr>
                  </a:outerShdw>
                </a:effectLst>
                <a:latin typeface="+mj-ea"/>
              </a:rPr>
              <a:t>概念</a:t>
            </a:r>
            <a:r>
              <a:rPr lang="en-US" altLang="zh-CN" sz="4800" b="1" dirty="0">
                <a:effectLst>
                  <a:outerShdw blurRad="38100" dist="38100" dir="2700000" algn="tl">
                    <a:srgbClr val="000000">
                      <a:alpha val="43137"/>
                    </a:srgbClr>
                  </a:outerShdw>
                </a:effectLst>
                <a:latin typeface="+mj-ea"/>
              </a:rPr>
              <a:t>-</a:t>
            </a:r>
            <a:r>
              <a:rPr lang="zh-CN" altLang="en-US" sz="4800" b="1" dirty="0">
                <a:effectLst>
                  <a:outerShdw blurRad="38100" dist="38100" dir="2700000" algn="tl">
                    <a:srgbClr val="000000">
                      <a:alpha val="43137"/>
                    </a:srgbClr>
                  </a:outerShdw>
                </a:effectLst>
                <a:latin typeface="+mj-ea"/>
              </a:rPr>
              <a:t>期末回顾</a:t>
            </a:r>
            <a:br>
              <a:rPr lang="zh-CN" altLang="en-US" sz="4800" b="1" dirty="0">
                <a:effectLst>
                  <a:outerShdw blurRad="38100" dist="38100" dir="2700000" algn="tl">
                    <a:srgbClr val="000000">
                      <a:alpha val="43137"/>
                    </a:srgbClr>
                  </a:outerShdw>
                </a:effectLst>
                <a:latin typeface="+mj-ea"/>
              </a:rPr>
            </a:br>
            <a:endParaRPr lang="zh-CN" altLang="en-US" sz="4800" dirty="0">
              <a:effectLst>
                <a:outerShdw blurRad="38100" dist="38100" dir="2700000" algn="tl">
                  <a:srgbClr val="000000">
                    <a:alpha val="43137"/>
                  </a:srgbClr>
                </a:outerShdw>
              </a:effectLst>
              <a:latin typeface="+mj-ea"/>
            </a:endParaRPr>
          </a:p>
        </p:txBody>
      </p:sp>
      <p:sp>
        <p:nvSpPr>
          <p:cNvPr id="3" name="副标题 2">
            <a:extLst>
              <a:ext uri="{FF2B5EF4-FFF2-40B4-BE49-F238E27FC236}">
                <a16:creationId xmlns:a16="http://schemas.microsoft.com/office/drawing/2014/main" id="{857D02A3-279B-4558-A373-78C555CA717F}"/>
              </a:ext>
            </a:extLst>
          </p:cNvPr>
          <p:cNvSpPr>
            <a:spLocks noGrp="1"/>
          </p:cNvSpPr>
          <p:nvPr>
            <p:ph type="subTitle" idx="1"/>
          </p:nvPr>
        </p:nvSpPr>
        <p:spPr>
          <a:xfrm>
            <a:off x="1356563" y="4005064"/>
            <a:ext cx="6400800" cy="1752600"/>
          </a:xfrm>
        </p:spPr>
        <p:txBody>
          <a:bodyPr/>
          <a:lstStyle/>
          <a:p>
            <a:pPr>
              <a:lnSpc>
                <a:spcPct val="80000"/>
              </a:lnSpc>
            </a:pPr>
            <a:r>
              <a:rPr lang="zh-CN" altLang="en-US" dirty="0">
                <a:latin typeface="楷体_GB2312" pitchFamily="1" charset="-122"/>
                <a:ea typeface="楷体_GB2312" pitchFamily="1" charset="-122"/>
              </a:rPr>
              <a:t>软件与理论中心</a:t>
            </a:r>
          </a:p>
          <a:p>
            <a:pPr>
              <a:lnSpc>
                <a:spcPct val="80000"/>
              </a:lnSpc>
            </a:pPr>
            <a:endParaRPr lang="en-US" altLang="zh-CN" dirty="0">
              <a:latin typeface="楷体_GB2312" pitchFamily="1" charset="-122"/>
              <a:ea typeface="楷体_GB2312" pitchFamily="1" charset="-122"/>
            </a:endParaRPr>
          </a:p>
          <a:p>
            <a:pPr>
              <a:lnSpc>
                <a:spcPct val="80000"/>
              </a:lnSpc>
            </a:pPr>
            <a:r>
              <a:rPr lang="zh-CN" altLang="en-US" dirty="0">
                <a:latin typeface="楷体_GB2312" pitchFamily="1" charset="-122"/>
                <a:ea typeface="楷体_GB2312" pitchFamily="1" charset="-122"/>
              </a:rPr>
              <a:t>张艳梅</a:t>
            </a:r>
            <a:endParaRPr lang="en-US" altLang="zh-CN" dirty="0">
              <a:latin typeface="楷体_GB2312" pitchFamily="1" charset="-122"/>
              <a:ea typeface="楷体_GB2312" pitchFamily="1"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FD79C8-2083-461D-AEF7-F7117CD53379}"/>
              </a:ext>
            </a:extLst>
          </p:cNvPr>
          <p:cNvSpPr>
            <a:spLocks noGrp="1"/>
          </p:cNvSpPr>
          <p:nvPr>
            <p:ph type="title"/>
          </p:nvPr>
        </p:nvSpPr>
        <p:spPr/>
        <p:txBody>
          <a:bodyPr/>
          <a:lstStyle/>
          <a:p>
            <a:r>
              <a:rPr lang="zh-CN" altLang="en-US" b="1" dirty="0"/>
              <a:t>什么是计算？</a:t>
            </a:r>
            <a:endParaRPr lang="zh-CN" altLang="en-US" dirty="0"/>
          </a:p>
        </p:txBody>
      </p:sp>
      <p:sp>
        <p:nvSpPr>
          <p:cNvPr id="3" name="内容占位符 2">
            <a:extLst>
              <a:ext uri="{FF2B5EF4-FFF2-40B4-BE49-F238E27FC236}">
                <a16:creationId xmlns:a16="http://schemas.microsoft.com/office/drawing/2014/main" id="{9856358B-3D1B-4A55-AAF5-09C83B632158}"/>
              </a:ext>
            </a:extLst>
          </p:cNvPr>
          <p:cNvSpPr>
            <a:spLocks noGrp="1"/>
          </p:cNvSpPr>
          <p:nvPr>
            <p:ph idx="1"/>
          </p:nvPr>
        </p:nvSpPr>
        <p:spPr/>
        <p:txBody>
          <a:bodyPr/>
          <a:lstStyle/>
          <a:p>
            <a:pPr lvl="0" eaLnBrk="1" hangingPunct="1">
              <a:buNone/>
            </a:pPr>
            <a:r>
              <a:rPr lang="zh-CN" altLang="en-US" sz="3200" b="1" dirty="0"/>
              <a:t>计算的定义</a:t>
            </a:r>
            <a:endParaRPr lang="en-US" altLang="x-none" sz="3200" b="1" dirty="0"/>
          </a:p>
          <a:p>
            <a:pPr lvl="1" eaLnBrk="1" hangingPunct="1"/>
            <a:r>
              <a:rPr lang="zh-CN" altLang="en-US" sz="2800" b="1" dirty="0"/>
              <a:t>以数字为基础、遵循一定的</a:t>
            </a:r>
            <a:r>
              <a:rPr lang="zh-CN" altLang="en-US" sz="2800" b="1" dirty="0">
                <a:solidFill>
                  <a:schemeClr val="accent2"/>
                </a:solidFill>
              </a:rPr>
              <a:t>计算规则</a:t>
            </a:r>
            <a:r>
              <a:rPr lang="zh-CN" altLang="en-US" sz="2800" b="1" dirty="0"/>
              <a:t>进行</a:t>
            </a:r>
            <a:r>
              <a:rPr lang="en-US" altLang="x-none" sz="2800" b="1" dirty="0"/>
              <a:t>; </a:t>
            </a:r>
            <a:r>
              <a:rPr lang="zh-CN" altLang="en-US" sz="2800" b="1" dirty="0"/>
              <a:t>如：数的加减乘除，函数的微分、积分、方程的求解、定理的证明推导</a:t>
            </a:r>
            <a:r>
              <a:rPr lang="en-US" altLang="x-none" sz="2800" b="1" dirty="0"/>
              <a:t>;</a:t>
            </a:r>
          </a:p>
          <a:p>
            <a:pPr lvl="1" eaLnBrk="1" hangingPunct="1"/>
            <a:r>
              <a:rPr lang="zh-CN" altLang="en-US" sz="2800" b="1" dirty="0"/>
              <a:t>广义：计算就是把一个符号串</a:t>
            </a:r>
            <a:r>
              <a:rPr lang="en-US" altLang="x-none" sz="2800" b="1" dirty="0"/>
              <a:t>f</a:t>
            </a:r>
            <a:r>
              <a:rPr lang="zh-CN" altLang="en-US" sz="2800" b="1" dirty="0"/>
              <a:t>变换成另一个符号串</a:t>
            </a:r>
            <a:r>
              <a:rPr lang="en-US" altLang="x-none" sz="2800" b="1" dirty="0"/>
              <a:t>g</a:t>
            </a:r>
            <a:r>
              <a:rPr lang="zh-CN" altLang="en-US" sz="2800" b="1" dirty="0"/>
              <a:t>；</a:t>
            </a:r>
          </a:p>
          <a:p>
            <a:pPr lvl="1" eaLnBrk="1" hangingPunct="1"/>
            <a:r>
              <a:rPr lang="zh-CN" altLang="en-US" sz="2800" b="1" dirty="0"/>
              <a:t>更广义：计算就是对信息的变换 ；</a:t>
            </a:r>
          </a:p>
          <a:p>
            <a:pPr lvl="1" eaLnBrk="1" hangingPunct="1"/>
            <a:r>
              <a:rPr lang="zh-CN" altLang="en-US" sz="2800" b="1" dirty="0"/>
              <a:t>由于计算规则的机械化、公式化，可以借助计算工具来实现计算。</a:t>
            </a:r>
          </a:p>
          <a:p>
            <a:endParaRPr lang="zh-CN" altLang="en-US" dirty="0"/>
          </a:p>
        </p:txBody>
      </p:sp>
    </p:spTree>
    <p:extLst>
      <p:ext uri="{BB962C8B-B14F-4D97-AF65-F5344CB8AC3E}">
        <p14:creationId xmlns:p14="http://schemas.microsoft.com/office/powerpoint/2010/main" val="68855773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4">
            <a:extLst>
              <a:ext uri="{FF2B5EF4-FFF2-40B4-BE49-F238E27FC236}">
                <a16:creationId xmlns:a16="http://schemas.microsoft.com/office/drawing/2014/main" id="{82728F5A-9B60-528B-1F05-81AA0A9D331D}"/>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Tx/>
              <a:buNone/>
            </a:pPr>
            <a:fld id="{5C181474-2A16-4107-92BC-202A30EACD81}" type="slidenum">
              <a:rPr lang="zh-CN" altLang="en-US" sz="1400"/>
              <a:pPr algn="r" eaLnBrk="1" hangingPunct="1">
                <a:spcBef>
                  <a:spcPct val="50000"/>
                </a:spcBef>
                <a:buFontTx/>
                <a:buNone/>
              </a:pPr>
              <a:t>3</a:t>
            </a:fld>
            <a:endParaRPr lang="zh-CN" altLang="en-US" sz="1400"/>
          </a:p>
        </p:txBody>
      </p:sp>
      <p:sp>
        <p:nvSpPr>
          <p:cNvPr id="8195" name="Rectangle 2">
            <a:extLst>
              <a:ext uri="{FF2B5EF4-FFF2-40B4-BE49-F238E27FC236}">
                <a16:creationId xmlns:a16="http://schemas.microsoft.com/office/drawing/2014/main" id="{69470290-378D-5A5B-AA5A-91D865B69803}"/>
              </a:ext>
            </a:extLst>
          </p:cNvPr>
          <p:cNvSpPr>
            <a:spLocks noGrp="1" noChangeArrowheads="1"/>
          </p:cNvSpPr>
          <p:nvPr>
            <p:ph type="title" idx="4294967295"/>
          </p:nvPr>
        </p:nvSpPr>
        <p:spPr>
          <a:xfrm>
            <a:off x="1371600" y="404813"/>
            <a:ext cx="7772400" cy="720725"/>
          </a:xfrm>
        </p:spPr>
        <p:txBody>
          <a:bodyPr/>
          <a:lstStyle/>
          <a:p>
            <a:pPr eaLnBrk="1" hangingPunct="1"/>
            <a:r>
              <a:rPr lang="zh-CN" altLang="en-US" b="1" dirty="0"/>
              <a:t>图灵机是计算机的理论模型</a:t>
            </a:r>
          </a:p>
        </p:txBody>
      </p:sp>
      <p:sp>
        <p:nvSpPr>
          <p:cNvPr id="8196" name="Rectangle 3">
            <a:extLst>
              <a:ext uri="{FF2B5EF4-FFF2-40B4-BE49-F238E27FC236}">
                <a16:creationId xmlns:a16="http://schemas.microsoft.com/office/drawing/2014/main" id="{5BEECE54-F50E-3DD8-3416-D19B5C0F99E9}"/>
              </a:ext>
            </a:extLst>
          </p:cNvPr>
          <p:cNvSpPr>
            <a:spLocks noGrp="1" noChangeArrowheads="1"/>
          </p:cNvSpPr>
          <p:nvPr>
            <p:ph type="body" idx="4294967295"/>
          </p:nvPr>
        </p:nvSpPr>
        <p:spPr>
          <a:xfrm>
            <a:off x="685800" y="1319213"/>
            <a:ext cx="7772400" cy="4918075"/>
          </a:xfrm>
        </p:spPr>
        <p:txBody>
          <a:bodyPr/>
          <a:lstStyle/>
          <a:p>
            <a:pPr eaLnBrk="1" hangingPunct="1">
              <a:buFont typeface="Wingdings" panose="05000000000000000000" pitchFamily="2" charset="2"/>
              <a:buChar char="l"/>
            </a:pPr>
            <a:r>
              <a:rPr lang="zh-CN" altLang="en-US" b="1"/>
              <a:t>图灵机的定义</a:t>
            </a:r>
            <a:r>
              <a:rPr lang="en-US" altLang="zh-CN" b="1"/>
              <a:t>: T=( </a:t>
            </a:r>
            <a:r>
              <a:rPr lang="en-US" altLang="zh-CN" b="1" i="1"/>
              <a:t>S, I, f , s</a:t>
            </a:r>
            <a:r>
              <a:rPr lang="en-US" altLang="zh-CN" b="1" i="1" baseline="-25000"/>
              <a:t>0</a:t>
            </a:r>
            <a:r>
              <a:rPr lang="en-US" altLang="zh-CN" b="1"/>
              <a:t>)</a:t>
            </a:r>
            <a:endParaRPr lang="zh-CN" altLang="en-US" b="1"/>
          </a:p>
          <a:p>
            <a:pPr eaLnBrk="1" hangingPunct="1">
              <a:buFontTx/>
              <a:buNone/>
            </a:pPr>
            <a:r>
              <a:rPr lang="zh-CN" altLang="en-US" b="1">
                <a:solidFill>
                  <a:srgbClr val="003399"/>
                </a:solidFill>
                <a:latin typeface="宋体" panose="02010600030101010101" pitchFamily="2" charset="-122"/>
              </a:rPr>
              <a:t>  </a:t>
            </a:r>
            <a:r>
              <a:rPr lang="zh-CN" altLang="en-US" b="1">
                <a:solidFill>
                  <a:srgbClr val="00B050"/>
                </a:solidFill>
                <a:latin typeface="宋体" panose="02010600030101010101" pitchFamily="2" charset="-122"/>
              </a:rPr>
              <a:t>由四部分组成</a:t>
            </a:r>
            <a:r>
              <a:rPr lang="en-US" altLang="zh-CN" b="1">
                <a:solidFill>
                  <a:srgbClr val="00B050"/>
                </a:solidFill>
                <a:latin typeface="宋体" panose="02010600030101010101" pitchFamily="2" charset="-122"/>
              </a:rPr>
              <a:t>,</a:t>
            </a:r>
            <a:r>
              <a:rPr lang="zh-CN" altLang="en-US" b="1">
                <a:solidFill>
                  <a:srgbClr val="00B050"/>
                </a:solidFill>
                <a:latin typeface="宋体" panose="02010600030101010101" pitchFamily="2" charset="-122"/>
              </a:rPr>
              <a:t>有限状态集</a:t>
            </a:r>
            <a:r>
              <a:rPr lang="en-US" altLang="zh-CN" b="1" i="1">
                <a:solidFill>
                  <a:srgbClr val="00B050"/>
                </a:solidFill>
                <a:latin typeface="宋体" panose="02010600030101010101" pitchFamily="2" charset="-122"/>
              </a:rPr>
              <a:t>S, </a:t>
            </a:r>
            <a:r>
              <a:rPr lang="zh-CN" altLang="en-US" b="1">
                <a:solidFill>
                  <a:srgbClr val="00B050"/>
                </a:solidFill>
                <a:latin typeface="宋体" panose="02010600030101010101" pitchFamily="2" charset="-122"/>
              </a:rPr>
              <a:t>包含空白符</a:t>
            </a:r>
            <a:r>
              <a:rPr lang="en-US" altLang="zh-CN" b="1">
                <a:solidFill>
                  <a:srgbClr val="00B050"/>
                </a:solidFill>
                <a:latin typeface="宋体" panose="02010600030101010101" pitchFamily="2" charset="-122"/>
              </a:rPr>
              <a:t>B</a:t>
            </a:r>
            <a:r>
              <a:rPr lang="zh-CN" altLang="en-US" b="1">
                <a:solidFill>
                  <a:srgbClr val="00B050"/>
                </a:solidFill>
                <a:latin typeface="宋体" panose="02010600030101010101" pitchFamily="2" charset="-122"/>
              </a:rPr>
              <a:t>的字母表</a:t>
            </a:r>
            <a:r>
              <a:rPr lang="en-US" altLang="zh-CN" b="1">
                <a:solidFill>
                  <a:srgbClr val="00B050"/>
                </a:solidFill>
                <a:latin typeface="宋体" panose="02010600030101010101" pitchFamily="2" charset="-122"/>
              </a:rPr>
              <a:t>I</a:t>
            </a:r>
            <a:r>
              <a:rPr lang="zh-CN" altLang="en-US" b="1" i="1">
                <a:solidFill>
                  <a:srgbClr val="00B050"/>
                </a:solidFill>
                <a:latin typeface="宋体" panose="02010600030101010101" pitchFamily="2" charset="-122"/>
              </a:rPr>
              <a:t>，</a:t>
            </a:r>
            <a:r>
              <a:rPr lang="zh-CN" altLang="en-US" b="1">
                <a:solidFill>
                  <a:srgbClr val="00B050"/>
                </a:solidFill>
                <a:latin typeface="宋体" panose="02010600030101010101" pitchFamily="2" charset="-122"/>
              </a:rPr>
              <a:t>从</a:t>
            </a:r>
            <a:r>
              <a:rPr lang="en-US" altLang="zh-CN" b="1" i="1">
                <a:solidFill>
                  <a:srgbClr val="00B050"/>
                </a:solidFill>
              </a:rPr>
              <a:t>S</a:t>
            </a:r>
            <a:r>
              <a:rPr lang="en-US" altLang="zh-CN" b="1" i="1">
                <a:solidFill>
                  <a:srgbClr val="00B050"/>
                </a:solidFill>
                <a:sym typeface="Symbol" panose="05050102010706020507" pitchFamily="18" charset="2"/>
              </a:rPr>
              <a:t></a:t>
            </a:r>
            <a:r>
              <a:rPr lang="en-US" altLang="zh-CN" b="1" i="1">
                <a:solidFill>
                  <a:srgbClr val="00B050"/>
                </a:solidFill>
              </a:rPr>
              <a:t> I</a:t>
            </a:r>
            <a:r>
              <a:rPr lang="zh-CN" altLang="en-US" b="1">
                <a:solidFill>
                  <a:srgbClr val="00B050"/>
                </a:solidFill>
              </a:rPr>
              <a:t>到</a:t>
            </a:r>
            <a:r>
              <a:rPr lang="en-US" altLang="zh-CN" b="1" i="1">
                <a:solidFill>
                  <a:srgbClr val="00B050"/>
                </a:solidFill>
              </a:rPr>
              <a:t>S</a:t>
            </a:r>
            <a:r>
              <a:rPr lang="en-US" altLang="zh-CN" b="1" i="1">
                <a:solidFill>
                  <a:srgbClr val="00B050"/>
                </a:solidFill>
                <a:sym typeface="Symbol" panose="05050102010706020507" pitchFamily="18" charset="2"/>
              </a:rPr>
              <a:t></a:t>
            </a:r>
            <a:r>
              <a:rPr lang="en-US" altLang="zh-CN" b="1" i="1">
                <a:solidFill>
                  <a:srgbClr val="00B050"/>
                </a:solidFill>
              </a:rPr>
              <a:t> I</a:t>
            </a:r>
            <a:r>
              <a:rPr lang="en-US" altLang="zh-CN" b="1" i="1">
                <a:solidFill>
                  <a:srgbClr val="00B050"/>
                </a:solidFill>
                <a:sym typeface="Symbol" panose="05050102010706020507" pitchFamily="18" charset="2"/>
              </a:rPr>
              <a:t>{R,</a:t>
            </a:r>
            <a:r>
              <a:rPr lang="zh-CN" altLang="en-US" b="1" i="1">
                <a:solidFill>
                  <a:srgbClr val="00B050"/>
                </a:solidFill>
                <a:sym typeface="Symbol" panose="05050102010706020507" pitchFamily="18" charset="2"/>
              </a:rPr>
              <a:t> </a:t>
            </a:r>
            <a:r>
              <a:rPr lang="en-US" altLang="zh-CN" b="1" i="1">
                <a:solidFill>
                  <a:srgbClr val="00B050"/>
                </a:solidFill>
                <a:sym typeface="Symbol" panose="05050102010706020507" pitchFamily="18" charset="2"/>
              </a:rPr>
              <a:t>L}</a:t>
            </a:r>
            <a:r>
              <a:rPr lang="zh-CN" altLang="en-US" b="1">
                <a:solidFill>
                  <a:srgbClr val="00B050"/>
                </a:solidFill>
              </a:rPr>
              <a:t>的部分函数</a:t>
            </a:r>
            <a:r>
              <a:rPr lang="zh-CN" altLang="en-US" b="1" i="1">
                <a:solidFill>
                  <a:srgbClr val="00B050"/>
                </a:solidFill>
              </a:rPr>
              <a:t> </a:t>
            </a:r>
            <a:r>
              <a:rPr lang="en-US" altLang="zh-CN" b="1" i="1">
                <a:solidFill>
                  <a:srgbClr val="00B050"/>
                </a:solidFill>
              </a:rPr>
              <a:t>f , </a:t>
            </a:r>
            <a:r>
              <a:rPr lang="zh-CN" altLang="en-US" b="1">
                <a:solidFill>
                  <a:srgbClr val="00B050"/>
                </a:solidFill>
              </a:rPr>
              <a:t>以及初始状态</a:t>
            </a:r>
            <a:r>
              <a:rPr lang="en-US" altLang="zh-CN" b="1" i="1">
                <a:solidFill>
                  <a:srgbClr val="00B050"/>
                </a:solidFill>
              </a:rPr>
              <a:t>s</a:t>
            </a:r>
            <a:r>
              <a:rPr lang="en-US" altLang="zh-CN" b="1" i="1" baseline="-25000">
                <a:solidFill>
                  <a:srgbClr val="00B050"/>
                </a:solidFill>
              </a:rPr>
              <a:t>0 </a:t>
            </a:r>
            <a:r>
              <a:rPr lang="zh-CN" altLang="en-US" b="1">
                <a:solidFill>
                  <a:srgbClr val="00B050"/>
                </a:solidFill>
                <a:latin typeface="宋体" panose="02010600030101010101" pitchFamily="2" charset="-122"/>
              </a:rPr>
              <a:t>。</a:t>
            </a:r>
            <a:endParaRPr lang="en-US" altLang="zh-CN" b="1">
              <a:solidFill>
                <a:srgbClr val="00B050"/>
              </a:solidFill>
              <a:latin typeface="宋体" panose="02010600030101010101" pitchFamily="2" charset="-122"/>
            </a:endParaRPr>
          </a:p>
          <a:p>
            <a:pPr eaLnBrk="1" hangingPunct="1">
              <a:buFontTx/>
              <a:buNone/>
            </a:pPr>
            <a:r>
              <a:rPr lang="en-US" altLang="zh-CN" b="1">
                <a:solidFill>
                  <a:srgbClr val="00B050"/>
                </a:solidFill>
                <a:latin typeface="宋体" panose="02010600030101010101" pitchFamily="2" charset="-122"/>
              </a:rPr>
              <a:t>		</a:t>
            </a:r>
            <a:r>
              <a:rPr lang="en-US" altLang="zh-CN" b="1" i="1">
                <a:solidFill>
                  <a:srgbClr val="00B050"/>
                </a:solidFill>
              </a:rPr>
              <a:t>f </a:t>
            </a:r>
            <a:r>
              <a:rPr lang="en-US" altLang="zh-CN" b="1" i="1">
                <a:solidFill>
                  <a:srgbClr val="00B050"/>
                </a:solidFill>
                <a:latin typeface="宋体" panose="02010600030101010101" pitchFamily="2" charset="-122"/>
              </a:rPr>
              <a:t>:</a:t>
            </a:r>
            <a:r>
              <a:rPr lang="zh-CN" altLang="en-US" b="1" i="1">
                <a:solidFill>
                  <a:srgbClr val="00B050"/>
                </a:solidFill>
                <a:latin typeface="宋体" panose="02010600030101010101" pitchFamily="2" charset="-122"/>
              </a:rPr>
              <a:t> </a:t>
            </a:r>
            <a:r>
              <a:rPr lang="en-US" altLang="zh-CN" b="1" i="1">
                <a:solidFill>
                  <a:srgbClr val="00B050"/>
                </a:solidFill>
                <a:latin typeface="宋体" panose="02010600030101010101" pitchFamily="2" charset="-122"/>
              </a:rPr>
              <a:t>(s,x)</a:t>
            </a:r>
            <a:r>
              <a:rPr lang="en-US" altLang="zh-CN" b="1" i="1">
                <a:solidFill>
                  <a:srgbClr val="00B050"/>
                </a:solidFill>
                <a:latin typeface="宋体" panose="02010600030101010101" pitchFamily="2" charset="-122"/>
                <a:sym typeface="Symbol" panose="05050102010706020507" pitchFamily="18" charset="2"/>
              </a:rPr>
              <a:t>(s’,x’,d) </a:t>
            </a:r>
            <a:r>
              <a:rPr lang="zh-CN" altLang="en-US" b="1" i="1">
                <a:solidFill>
                  <a:srgbClr val="00B050"/>
                </a:solidFill>
                <a:latin typeface="宋体" panose="02010600030101010101" pitchFamily="2" charset="-122"/>
                <a:sym typeface="Symbol" panose="05050102010706020507" pitchFamily="18" charset="2"/>
              </a:rPr>
              <a:t>转移规则</a:t>
            </a:r>
            <a:endParaRPr lang="en-US" altLang="zh-CN" b="1" i="1">
              <a:solidFill>
                <a:srgbClr val="00B050"/>
              </a:solidFill>
              <a:latin typeface="宋体" panose="02010600030101010101" pitchFamily="2" charset="-122"/>
            </a:endParaRPr>
          </a:p>
          <a:p>
            <a:pPr eaLnBrk="1" hangingPunct="1">
              <a:buFontTx/>
              <a:buNone/>
            </a:pPr>
            <a:endParaRPr lang="zh-CN" altLang="en-US" b="1">
              <a:solidFill>
                <a:srgbClr val="003399"/>
              </a:solidFill>
              <a:latin typeface="宋体" panose="02010600030101010101" pitchFamily="2" charset="-122"/>
            </a:endParaRPr>
          </a:p>
        </p:txBody>
      </p:sp>
      <p:pic>
        <p:nvPicPr>
          <p:cNvPr id="8197" name="图片 2">
            <a:extLst>
              <a:ext uri="{FF2B5EF4-FFF2-40B4-BE49-F238E27FC236}">
                <a16:creationId xmlns:a16="http://schemas.microsoft.com/office/drawing/2014/main" id="{B071977C-B6FF-43E5-D338-C1EDCB2093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750" y="3803650"/>
            <a:ext cx="6286500" cy="204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6"/>
          <p:cNvSpPr txBox="1">
            <a:spLocks noGrp="1"/>
          </p:cNvSpPr>
          <p:nvPr/>
        </p:nvSpPr>
        <p:spPr>
          <a:xfrm>
            <a:off x="6934200" y="6324600"/>
            <a:ext cx="1905000" cy="457200"/>
          </a:xfrm>
          <a:prstGeom prst="rect">
            <a:avLst/>
          </a:prstGeom>
          <a:noFill/>
          <a:ln w="9525">
            <a:noFill/>
          </a:ln>
        </p:spPr>
        <p:txBody>
          <a:bodyPr/>
          <a:lstStyle>
            <a:lvl1pPr marL="342900" lvl="0" indent="-342900" algn="l" defTabSz="91440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lgn="l" defTabSz="914400" eaLnBrk="0" fontAlgn="base" latinLnBrk="0" hangingPunct="0">
              <a:lnSpc>
                <a:spcPct val="100000"/>
              </a:lnSpc>
              <a:spcBef>
                <a:spcPct val="20000"/>
              </a:spcBef>
              <a:spcAft>
                <a:spcPct val="0"/>
              </a:spcAft>
              <a:buChar char="–"/>
              <a:defRPr sz="2400" b="0"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SzPct val="65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2200" b="0"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mn-lt"/>
                <a:ea typeface="+mn-ea"/>
                <a:cs typeface="+mn-cs"/>
              </a:defRPr>
            </a:lvl5pPr>
          </a:lstStyle>
          <a:p>
            <a:pPr marL="0" lvl="0" indent="0" algn="r" eaLnBrk="1" hangingPunct="1">
              <a:spcBef>
                <a:spcPct val="50000"/>
              </a:spcBef>
              <a:buNone/>
            </a:pPr>
            <a:fld id="{9A0DB2DC-4C9A-4742-B13C-FB6460FD3503}" type="slidenum">
              <a:rPr lang="zh-CN" altLang="en-US" sz="1400" b="1" dirty="0"/>
              <a:t>4</a:t>
            </a:fld>
            <a:endParaRPr lang="zh-CN" altLang="en-US" sz="1400" b="1" dirty="0"/>
          </a:p>
        </p:txBody>
      </p:sp>
      <p:sp>
        <p:nvSpPr>
          <p:cNvPr id="14339" name="Rectangle 2"/>
          <p:cNvSpPr>
            <a:spLocks noGrp="1"/>
          </p:cNvSpPr>
          <p:nvPr>
            <p:ph type="title"/>
          </p:nvPr>
        </p:nvSpPr>
        <p:spPr/>
        <p:txBody>
          <a:bodyPr vert="horz" wrap="square" anchor="ctr"/>
          <a:lstStyle/>
          <a:p>
            <a:pPr lvl="0" eaLnBrk="1" hangingPunct="1"/>
            <a:r>
              <a:rPr lang="zh-CN" altLang="en-US" b="1" dirty="0"/>
              <a:t>巴贝奇分析机</a:t>
            </a:r>
            <a:r>
              <a:rPr lang="en-US" altLang="zh-CN" b="1" dirty="0"/>
              <a:t>-</a:t>
            </a:r>
            <a:r>
              <a:rPr lang="zh-CN" altLang="en-US" b="1" dirty="0"/>
              <a:t>计算机的定义</a:t>
            </a:r>
          </a:p>
        </p:txBody>
      </p:sp>
      <p:sp>
        <p:nvSpPr>
          <p:cNvPr id="14340" name="Rectangle 3"/>
          <p:cNvSpPr>
            <a:spLocks noGrp="1"/>
          </p:cNvSpPr>
          <p:nvPr>
            <p:ph idx="1"/>
          </p:nvPr>
        </p:nvSpPr>
        <p:spPr>
          <a:xfrm>
            <a:off x="468660" y="1340768"/>
            <a:ext cx="8206680" cy="2901875"/>
          </a:xfrm>
        </p:spPr>
        <p:txBody>
          <a:bodyPr vert="horz" wrap="square" anchor="t"/>
          <a:lstStyle>
            <a:lvl1pPr lvl="0">
              <a:defRPr sz="2400" kern="1200"/>
            </a:lvl1pPr>
            <a:lvl2pPr lvl="1">
              <a:defRPr sz="2000" kern="1200"/>
            </a:lvl2pPr>
            <a:lvl3pPr lvl="2">
              <a:defRPr sz="2000" kern="1200"/>
            </a:lvl3pPr>
            <a:lvl4pPr lvl="3">
              <a:defRPr sz="2000" kern="1200"/>
            </a:lvl4pPr>
            <a:lvl5pPr lvl="4">
              <a:defRPr sz="1800" kern="1200"/>
            </a:lvl5pPr>
          </a:lstStyle>
          <a:p>
            <a:pPr eaLnBrk="1" hangingPunct="1">
              <a:buNone/>
            </a:pPr>
            <a:r>
              <a:rPr lang="en-US" altLang="x-none" b="1" dirty="0"/>
              <a:t>1834</a:t>
            </a:r>
            <a:r>
              <a:rPr lang="zh-CN" altLang="en-US" b="1" dirty="0"/>
              <a:t>年巴贝奇提出</a:t>
            </a:r>
            <a:r>
              <a:rPr lang="zh-CN" altLang="en-US" b="1" dirty="0">
                <a:solidFill>
                  <a:srgbClr val="FF3300"/>
                </a:solidFill>
              </a:rPr>
              <a:t>分析机</a:t>
            </a:r>
            <a:r>
              <a:rPr lang="zh-CN" altLang="en-US" b="1" dirty="0"/>
              <a:t>构想</a:t>
            </a:r>
            <a:r>
              <a:rPr lang="en-US" altLang="x-none" b="1" dirty="0"/>
              <a:t>:</a:t>
            </a:r>
            <a:r>
              <a:rPr lang="zh-CN" altLang="en-US" b="1" dirty="0"/>
              <a:t>一台</a:t>
            </a:r>
            <a:r>
              <a:rPr lang="zh-CN" altLang="en-US" b="1" u="sng" dirty="0"/>
              <a:t>通用的数学计算机</a:t>
            </a:r>
            <a:r>
              <a:rPr lang="zh-CN" altLang="en-US" b="1" dirty="0"/>
              <a:t>，不仅可以进行数字运算，而且还能进行逻辑运算（进行逻辑判断的非数值运算 ）。</a:t>
            </a:r>
          </a:p>
          <a:p>
            <a:pPr lvl="0" eaLnBrk="1" hangingPunct="1">
              <a:buNone/>
            </a:pPr>
            <a:r>
              <a:rPr lang="zh-CN" altLang="en-US" b="1" dirty="0">
                <a:latin typeface="宋体" panose="02010600030101010101" pitchFamily="2" charset="-122"/>
              </a:rPr>
              <a:t>  </a:t>
            </a:r>
            <a:endParaRPr lang="en-US" altLang="zh-CN" b="1" dirty="0">
              <a:latin typeface="宋体" panose="02010600030101010101" pitchFamily="2" charset="-122"/>
            </a:endParaRPr>
          </a:p>
          <a:p>
            <a:pPr lvl="0" eaLnBrk="1" hangingPunct="1">
              <a:buNone/>
            </a:pPr>
            <a:r>
              <a:rPr lang="zh-CN" altLang="en-US" b="1" dirty="0">
                <a:latin typeface="宋体" panose="02010600030101010101" pitchFamily="2" charset="-122"/>
              </a:rPr>
              <a:t>巴贝奇的分析机由四部分构成：</a:t>
            </a:r>
          </a:p>
          <a:p>
            <a:pPr lvl="0" eaLnBrk="1" hangingPunct="1">
              <a:buNone/>
            </a:pPr>
            <a:r>
              <a:rPr lang="zh-CN" altLang="en-US" b="1" dirty="0">
                <a:latin typeface="宋体" panose="02010600030101010101" pitchFamily="2" charset="-122"/>
              </a:rPr>
              <a:t>  		第一部分：保存数据的齿轮式</a:t>
            </a:r>
            <a:r>
              <a:rPr lang="en-US" altLang="zh-CN" b="1" dirty="0">
                <a:latin typeface="宋体" panose="02010600030101010101" pitchFamily="2" charset="-122"/>
              </a:rPr>
              <a:t>"</a:t>
            </a:r>
            <a:r>
              <a:rPr lang="zh-CN" altLang="en-US" b="1" dirty="0">
                <a:solidFill>
                  <a:srgbClr val="2D35D3"/>
                </a:solidFill>
              </a:rPr>
              <a:t>存贮仓库</a:t>
            </a:r>
            <a:r>
              <a:rPr lang="en-US" altLang="zh-CN" b="1" dirty="0">
                <a:latin typeface="宋体" panose="02010600030101010101" pitchFamily="2" charset="-122"/>
              </a:rPr>
              <a:t>"</a:t>
            </a:r>
            <a:r>
              <a:rPr lang="zh-CN" altLang="en-US" b="1" dirty="0"/>
              <a:t>(</a:t>
            </a:r>
            <a:r>
              <a:rPr lang="en-US" altLang="x-none" b="1" dirty="0"/>
              <a:t>Sto</a:t>
            </a:r>
            <a:r>
              <a:rPr lang="en-US" altLang="x-none" b="1" dirty="0">
                <a:latin typeface="宋体" panose="02010600030101010101" pitchFamily="2" charset="-122"/>
              </a:rPr>
              <a:t>re)</a:t>
            </a:r>
            <a:r>
              <a:rPr lang="zh-CN" altLang="en-US" b="1" dirty="0">
                <a:latin typeface="宋体" panose="02010600030101010101" pitchFamily="2" charset="-122"/>
              </a:rPr>
              <a:t>；</a:t>
            </a:r>
          </a:p>
          <a:p>
            <a:pPr lvl="0" eaLnBrk="1" hangingPunct="1">
              <a:buNone/>
            </a:pPr>
            <a:r>
              <a:rPr lang="zh-CN" altLang="en-US" b="1" dirty="0">
                <a:latin typeface="宋体" panose="02010600030101010101" pitchFamily="2" charset="-122"/>
              </a:rPr>
              <a:t>		第二部分：对数据进行各种运算的装置</a:t>
            </a:r>
            <a:r>
              <a:rPr lang="en-US" altLang="x-none" b="1" dirty="0">
                <a:latin typeface="宋体" panose="02010600030101010101" pitchFamily="2" charset="-122"/>
              </a:rPr>
              <a:t>("</a:t>
            </a:r>
            <a:r>
              <a:rPr lang="zh-CN" altLang="en-US" b="1" dirty="0">
                <a:solidFill>
                  <a:srgbClr val="2D35D3"/>
                </a:solidFill>
                <a:latin typeface="宋体" panose="02010600030101010101" pitchFamily="2" charset="-122"/>
              </a:rPr>
              <a:t>作坊</a:t>
            </a:r>
            <a:r>
              <a:rPr lang="en-US" altLang="zh-CN" b="1" dirty="0">
                <a:latin typeface="宋体" panose="02010600030101010101" pitchFamily="2" charset="-122"/>
              </a:rPr>
              <a:t>"</a:t>
            </a:r>
            <a:r>
              <a:rPr lang="en-US" altLang="x-none" b="1" dirty="0">
                <a:latin typeface="宋体" panose="02010600030101010101" pitchFamily="2" charset="-122"/>
              </a:rPr>
              <a:t>)</a:t>
            </a:r>
            <a:r>
              <a:rPr lang="zh-CN" altLang="en-US" b="1" dirty="0">
                <a:latin typeface="宋体" panose="02010600030101010101" pitchFamily="2" charset="-122"/>
              </a:rPr>
              <a:t>；</a:t>
            </a:r>
          </a:p>
          <a:p>
            <a:pPr lvl="0" eaLnBrk="1" hangingPunct="1">
              <a:buNone/>
            </a:pPr>
            <a:r>
              <a:rPr lang="zh-CN" altLang="en-US" b="1" dirty="0">
                <a:latin typeface="宋体" panose="02010600030101010101" pitchFamily="2" charset="-122"/>
              </a:rPr>
              <a:t>		第三部分：对操作顺序进行</a:t>
            </a:r>
            <a:r>
              <a:rPr lang="zh-CN" altLang="en-US" b="1" dirty="0">
                <a:solidFill>
                  <a:srgbClr val="2D35D3"/>
                </a:solidFill>
                <a:latin typeface="宋体" panose="02010600030101010101" pitchFamily="2" charset="-122"/>
              </a:rPr>
              <a:t>控制</a:t>
            </a:r>
            <a:r>
              <a:rPr lang="zh-CN" altLang="en-US" b="1" dirty="0">
                <a:latin typeface="宋体" panose="02010600030101010101" pitchFamily="2" charset="-122"/>
              </a:rPr>
              <a:t>、并对所要处理的数据及输出结果加以选择的装置；</a:t>
            </a:r>
            <a:endParaRPr lang="en-US" altLang="x-none" b="1" dirty="0">
              <a:solidFill>
                <a:srgbClr val="6600FF"/>
              </a:solidFill>
              <a:latin typeface="宋体" panose="02010600030101010101" pitchFamily="2" charset="-122"/>
            </a:endParaRPr>
          </a:p>
          <a:p>
            <a:pPr lvl="0" eaLnBrk="1" hangingPunct="1">
              <a:buNone/>
            </a:pPr>
            <a:r>
              <a:rPr lang="zh-CN" altLang="en-US" b="1" dirty="0">
                <a:latin typeface="宋体" panose="02010600030101010101" pitchFamily="2" charset="-122"/>
              </a:rPr>
              <a:t>		第四部分：送入和取出数据、以及</a:t>
            </a:r>
            <a:r>
              <a:rPr lang="zh-CN" altLang="en-US" b="1" dirty="0"/>
              <a:t>在</a:t>
            </a:r>
            <a:r>
              <a:rPr lang="en-US" altLang="zh-CN" b="1" dirty="0">
                <a:latin typeface="宋体" panose="02010600030101010101" pitchFamily="2" charset="-122"/>
              </a:rPr>
              <a:t>"</a:t>
            </a:r>
            <a:r>
              <a:rPr lang="zh-CN" altLang="en-US" b="1" dirty="0"/>
              <a:t>存贮仓库</a:t>
            </a:r>
            <a:r>
              <a:rPr lang="en-US" altLang="zh-CN" b="1" dirty="0">
                <a:latin typeface="宋体" panose="02010600030101010101" pitchFamily="2" charset="-122"/>
              </a:rPr>
              <a:t>"</a:t>
            </a:r>
            <a:r>
              <a:rPr lang="zh-CN" altLang="en-US" b="1" dirty="0"/>
              <a:t>和</a:t>
            </a:r>
            <a:r>
              <a:rPr lang="en-US" altLang="zh-CN" b="1" dirty="0">
                <a:latin typeface="宋体" panose="02010600030101010101" pitchFamily="2" charset="-122"/>
              </a:rPr>
              <a:t>"</a:t>
            </a:r>
            <a:r>
              <a:rPr lang="zh-CN" altLang="en-US" b="1" dirty="0"/>
              <a:t>作坊</a:t>
            </a:r>
            <a:r>
              <a:rPr lang="en-US" altLang="zh-CN" b="1" dirty="0">
                <a:latin typeface="宋体" panose="02010600030101010101" pitchFamily="2" charset="-122"/>
              </a:rPr>
              <a:t>"</a:t>
            </a:r>
            <a:r>
              <a:rPr lang="zh-CN" altLang="en-US" b="1" dirty="0"/>
              <a:t>之间运输数据的</a:t>
            </a:r>
            <a:r>
              <a:rPr lang="zh-CN" altLang="en-US" b="1" dirty="0">
                <a:solidFill>
                  <a:srgbClr val="2D35D3"/>
                </a:solidFill>
              </a:rPr>
              <a:t>输入输出部件</a:t>
            </a:r>
            <a:r>
              <a:rPr lang="zh-CN" altLang="en-US" b="1" dirty="0"/>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340">
                                            <p:txEl>
                                              <p:pRg st="0" end="0"/>
                                            </p:txEl>
                                          </p:spTgt>
                                        </p:tgtEl>
                                        <p:attrNameLst>
                                          <p:attrName>style.visibility</p:attrName>
                                        </p:attrNameLst>
                                      </p:cBhvr>
                                      <p:to>
                                        <p:strVal val="visible"/>
                                      </p:to>
                                    </p:set>
                                    <p:animEffect transition="in" filter="dissolve">
                                      <p:cBhvr>
                                        <p:cTn id="7" dur="500"/>
                                        <p:tgtEl>
                                          <p:spTgt spid="143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340">
                                            <p:txEl>
                                              <p:pRg st="1" end="1"/>
                                            </p:txEl>
                                          </p:spTgt>
                                        </p:tgtEl>
                                        <p:attrNameLst>
                                          <p:attrName>style.visibility</p:attrName>
                                        </p:attrNameLst>
                                      </p:cBhvr>
                                      <p:to>
                                        <p:strVal val="visible"/>
                                      </p:to>
                                    </p:set>
                                    <p:animEffect transition="in" filter="dissolve">
                                      <p:cBhvr>
                                        <p:cTn id="12" dur="500"/>
                                        <p:tgtEl>
                                          <p:spTgt spid="1434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340">
                                            <p:txEl>
                                              <p:pRg st="2" end="2"/>
                                            </p:txEl>
                                          </p:spTgt>
                                        </p:tgtEl>
                                        <p:attrNameLst>
                                          <p:attrName>style.visibility</p:attrName>
                                        </p:attrNameLst>
                                      </p:cBhvr>
                                      <p:to>
                                        <p:strVal val="visible"/>
                                      </p:to>
                                    </p:set>
                                    <p:animEffect transition="in" filter="dissolve">
                                      <p:cBhvr>
                                        <p:cTn id="17" dur="500"/>
                                        <p:tgtEl>
                                          <p:spTgt spid="1434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4340">
                                            <p:txEl>
                                              <p:pRg st="3" end="3"/>
                                            </p:txEl>
                                          </p:spTgt>
                                        </p:tgtEl>
                                        <p:attrNameLst>
                                          <p:attrName>style.visibility</p:attrName>
                                        </p:attrNameLst>
                                      </p:cBhvr>
                                      <p:to>
                                        <p:strVal val="visible"/>
                                      </p:to>
                                    </p:set>
                                    <p:animEffect transition="in" filter="dissolve">
                                      <p:cBhvr>
                                        <p:cTn id="22" dur="500"/>
                                        <p:tgtEl>
                                          <p:spTgt spid="1434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4340">
                                            <p:txEl>
                                              <p:pRg st="4" end="4"/>
                                            </p:txEl>
                                          </p:spTgt>
                                        </p:tgtEl>
                                        <p:attrNameLst>
                                          <p:attrName>style.visibility</p:attrName>
                                        </p:attrNameLst>
                                      </p:cBhvr>
                                      <p:to>
                                        <p:strVal val="visible"/>
                                      </p:to>
                                    </p:set>
                                    <p:animEffect transition="in" filter="dissolve">
                                      <p:cBhvr>
                                        <p:cTn id="27" dur="500"/>
                                        <p:tgtEl>
                                          <p:spTgt spid="1434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4340">
                                            <p:txEl>
                                              <p:pRg st="5" end="5"/>
                                            </p:txEl>
                                          </p:spTgt>
                                        </p:tgtEl>
                                        <p:attrNameLst>
                                          <p:attrName>style.visibility</p:attrName>
                                        </p:attrNameLst>
                                      </p:cBhvr>
                                      <p:to>
                                        <p:strVal val="visible"/>
                                      </p:to>
                                    </p:set>
                                    <p:animEffect transition="in" filter="dissolve">
                                      <p:cBhvr>
                                        <p:cTn id="32" dur="500"/>
                                        <p:tgtEl>
                                          <p:spTgt spid="1434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4340">
                                            <p:txEl>
                                              <p:pRg st="6" end="6"/>
                                            </p:txEl>
                                          </p:spTgt>
                                        </p:tgtEl>
                                        <p:attrNameLst>
                                          <p:attrName>style.visibility</p:attrName>
                                        </p:attrNameLst>
                                      </p:cBhvr>
                                      <p:to>
                                        <p:strVal val="visible"/>
                                      </p:to>
                                    </p:set>
                                    <p:animEffect transition="in" filter="dissolve">
                                      <p:cBhvr>
                                        <p:cTn id="37" dur="500"/>
                                        <p:tgtEl>
                                          <p:spTgt spid="1434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5"/>
          <p:cNvSpPr txBox="1">
            <a:spLocks noGrp="1"/>
          </p:cNvSpPr>
          <p:nvPr/>
        </p:nvSpPr>
        <p:spPr>
          <a:xfrm>
            <a:off x="6934200" y="6324600"/>
            <a:ext cx="1905000" cy="457200"/>
          </a:xfrm>
          <a:prstGeom prst="rect">
            <a:avLst/>
          </a:prstGeom>
          <a:noFill/>
          <a:ln w="9525">
            <a:noFill/>
          </a:ln>
        </p:spPr>
        <p:txBody>
          <a:bodyPr/>
          <a:lstStyle>
            <a:lvl1pPr marL="342900" lvl="0" indent="-342900" algn="l" defTabSz="91440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lgn="l" defTabSz="914400" eaLnBrk="0" fontAlgn="base" latinLnBrk="0" hangingPunct="0">
              <a:lnSpc>
                <a:spcPct val="100000"/>
              </a:lnSpc>
              <a:spcBef>
                <a:spcPct val="20000"/>
              </a:spcBef>
              <a:spcAft>
                <a:spcPct val="0"/>
              </a:spcAft>
              <a:buChar char="–"/>
              <a:defRPr sz="2400" b="0"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SzPct val="65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2200" b="0"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mn-lt"/>
                <a:ea typeface="+mn-ea"/>
                <a:cs typeface="+mn-cs"/>
              </a:defRPr>
            </a:lvl5pPr>
          </a:lstStyle>
          <a:p>
            <a:pPr marL="0" lvl="0" indent="0" algn="r" eaLnBrk="1" hangingPunct="1">
              <a:spcBef>
                <a:spcPct val="50000"/>
              </a:spcBef>
              <a:buNone/>
            </a:pPr>
            <a:fld id="{9A0DB2DC-4C9A-4742-B13C-FB6460FD3503}" type="slidenum">
              <a:rPr lang="zh-CN" altLang="en-US" sz="1400" b="1" dirty="0"/>
              <a:t>5</a:t>
            </a:fld>
            <a:endParaRPr lang="zh-CN" altLang="en-US" sz="1400" b="1" dirty="0"/>
          </a:p>
        </p:txBody>
      </p:sp>
      <p:sp>
        <p:nvSpPr>
          <p:cNvPr id="73731" name="Rectangle 2"/>
          <p:cNvSpPr>
            <a:spLocks noGrp="1"/>
          </p:cNvSpPr>
          <p:nvPr>
            <p:ph type="title"/>
          </p:nvPr>
        </p:nvSpPr>
        <p:spPr/>
        <p:txBody>
          <a:bodyPr vert="horz" wrap="square" anchor="ctr"/>
          <a:lstStyle/>
          <a:p>
            <a:pPr lvl="0" eaLnBrk="1" hangingPunct="1"/>
            <a:r>
              <a:rPr lang="zh-CN" altLang="en-US" sz="2800" b="1" dirty="0">
                <a:solidFill>
                  <a:srgbClr val="2D35D3"/>
                </a:solidFill>
              </a:rPr>
              <a:t>冯.诺依曼机体系结构</a:t>
            </a:r>
            <a:endParaRPr lang="en-US" altLang="x-none" sz="2800" b="1" dirty="0">
              <a:solidFill>
                <a:srgbClr val="2D35D3"/>
              </a:solidFill>
            </a:endParaRPr>
          </a:p>
        </p:txBody>
      </p:sp>
      <p:sp>
        <p:nvSpPr>
          <p:cNvPr id="73732" name="Rectangle 3"/>
          <p:cNvSpPr>
            <a:spLocks noGrp="1"/>
          </p:cNvSpPr>
          <p:nvPr>
            <p:ph idx="1"/>
          </p:nvPr>
        </p:nvSpPr>
        <p:spPr/>
        <p:txBody>
          <a:bodyPr vert="horz" wrap="square" anchor="t"/>
          <a:lstStyle/>
          <a:p>
            <a:pPr lvl="0" eaLnBrk="1" hangingPunct="1">
              <a:spcBef>
                <a:spcPct val="50000"/>
              </a:spcBef>
              <a:buNone/>
            </a:pPr>
            <a:r>
              <a:rPr lang="zh-CN" altLang="en-US" b="1" dirty="0"/>
              <a:t>冯.诺依曼机体系结构的特点：</a:t>
            </a:r>
          </a:p>
          <a:p>
            <a:pPr lvl="0" eaLnBrk="1" hangingPunct="1"/>
            <a:r>
              <a:rPr lang="zh-CN" altLang="en-US" sz="2400" b="1" dirty="0"/>
              <a:t>指令和数据采用二进制表示，从而简化机器的逻辑线路；－－</a:t>
            </a:r>
            <a:r>
              <a:rPr lang="zh-CN" altLang="en-US" sz="2400" b="1" dirty="0">
                <a:solidFill>
                  <a:schemeClr val="accent2"/>
                </a:solidFill>
              </a:rPr>
              <a:t>指令和数据的表示</a:t>
            </a:r>
          </a:p>
          <a:p>
            <a:pPr lvl="0" eaLnBrk="1" hangingPunct="1"/>
            <a:r>
              <a:rPr lang="zh-CN" altLang="en-US" sz="2400" b="1" dirty="0"/>
              <a:t>指令和数据一样存储在主存储器中；－－</a:t>
            </a:r>
            <a:r>
              <a:rPr lang="zh-CN" altLang="en-US" sz="2400" b="1" dirty="0">
                <a:solidFill>
                  <a:schemeClr val="accent2"/>
                </a:solidFill>
              </a:rPr>
              <a:t>指令和数据的存储</a:t>
            </a:r>
          </a:p>
          <a:p>
            <a:pPr lvl="0" eaLnBrk="1" hangingPunct="1"/>
            <a:r>
              <a:rPr lang="zh-CN" altLang="en-US" sz="2400" b="1" dirty="0"/>
              <a:t>计算机由运算器、控制器、存储器、输入设备、输出设备五大部分组成。</a:t>
            </a:r>
          </a:p>
          <a:p>
            <a:pPr lvl="0" eaLnBrk="1" hangingPunct="1">
              <a:buNone/>
            </a:pPr>
            <a:endParaRPr lang="zh-CN" altLang="en-US" sz="1200" b="1" dirty="0"/>
          </a:p>
          <a:p>
            <a:pPr lvl="0" eaLnBrk="1" hangingPunct="1">
              <a:buNone/>
            </a:pPr>
            <a:r>
              <a:rPr lang="zh-CN" altLang="en-US" b="1" dirty="0">
                <a:solidFill>
                  <a:schemeClr val="accent2"/>
                </a:solidFill>
              </a:rPr>
              <a:t>第一台基于冯.诺伊曼思想的计算机于1950年在美国宾西法尼亚大学诞生，名为</a:t>
            </a:r>
            <a:r>
              <a:rPr lang="en-US" altLang="x-none" b="1" dirty="0">
                <a:solidFill>
                  <a:schemeClr val="accent2"/>
                </a:solidFill>
              </a:rPr>
              <a:t>EDVAC。</a:t>
            </a:r>
            <a:r>
              <a:rPr lang="zh-CN" altLang="en-US" b="1" dirty="0">
                <a:solidFill>
                  <a:schemeClr val="accent2"/>
                </a:solidFill>
              </a:rPr>
              <a:t> </a:t>
            </a:r>
          </a:p>
          <a:p>
            <a:pPr lvl="0" eaLnBrk="1" hangingPunct="1">
              <a:buNone/>
            </a:pPr>
            <a:endParaRPr lang="zh-CN" altLang="en-US" dirty="0">
              <a:solidFill>
                <a:schemeClr val="accent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2">
                                            <p:txEl>
                                              <p:pRg st="1" end="1"/>
                                            </p:txEl>
                                          </p:spTgt>
                                        </p:tgtEl>
                                        <p:attrNameLst>
                                          <p:attrName>style.visibility</p:attrName>
                                        </p:attrNameLst>
                                      </p:cBhvr>
                                      <p:to>
                                        <p:strVal val="visible"/>
                                      </p:to>
                                    </p:set>
                                    <p:animEffect transition="in" filter="blinds(horizontal)">
                                      <p:cBhvr>
                                        <p:cTn id="7" dur="500"/>
                                        <p:tgtEl>
                                          <p:spTgt spid="7373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732">
                                            <p:txEl>
                                              <p:pRg st="2" end="2"/>
                                            </p:txEl>
                                          </p:spTgt>
                                        </p:tgtEl>
                                        <p:attrNameLst>
                                          <p:attrName>style.visibility</p:attrName>
                                        </p:attrNameLst>
                                      </p:cBhvr>
                                      <p:to>
                                        <p:strVal val="visible"/>
                                      </p:to>
                                    </p:set>
                                    <p:animEffect transition="in" filter="blinds(horizontal)">
                                      <p:cBhvr>
                                        <p:cTn id="12" dur="500"/>
                                        <p:tgtEl>
                                          <p:spTgt spid="7373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3732">
                                            <p:txEl>
                                              <p:pRg st="3" end="3"/>
                                            </p:txEl>
                                          </p:spTgt>
                                        </p:tgtEl>
                                        <p:attrNameLst>
                                          <p:attrName>style.visibility</p:attrName>
                                        </p:attrNameLst>
                                      </p:cBhvr>
                                      <p:to>
                                        <p:strVal val="visible"/>
                                      </p:to>
                                    </p:set>
                                    <p:animEffect transition="in" filter="blinds(horizontal)">
                                      <p:cBhvr>
                                        <p:cTn id="17" dur="500"/>
                                        <p:tgtEl>
                                          <p:spTgt spid="7373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3732">
                                            <p:txEl>
                                              <p:pRg st="5" end="5"/>
                                            </p:txEl>
                                          </p:spTgt>
                                        </p:tgtEl>
                                        <p:attrNameLst>
                                          <p:attrName>style.visibility</p:attrName>
                                        </p:attrNameLst>
                                      </p:cBhvr>
                                      <p:to>
                                        <p:strVal val="visible"/>
                                      </p:to>
                                    </p:set>
                                    <p:animEffect transition="in" filter="blinds(horizontal)">
                                      <p:cBhvr>
                                        <p:cTn id="22" dur="500"/>
                                        <p:tgtEl>
                                          <p:spTgt spid="73732">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73732">
                                            <p:txEl>
                                              <p:pRg st="5" end="5"/>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2" grpId="0" uiExpand="1" build="p"/>
      <p:bldP spid="73732" grpI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a:extLst>
              <a:ext uri="{FF2B5EF4-FFF2-40B4-BE49-F238E27FC236}">
                <a16:creationId xmlns:a16="http://schemas.microsoft.com/office/drawing/2014/main" id="{6B1FDD46-F382-3A62-C863-0C0408489E46}"/>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Tx/>
              <a:buNone/>
            </a:pPr>
            <a:fld id="{D167CE36-872E-4997-AE88-80409796E319}" type="slidenum">
              <a:rPr lang="zh-CN" altLang="en-US" sz="1400"/>
              <a:pPr algn="r" eaLnBrk="1" hangingPunct="1">
                <a:spcBef>
                  <a:spcPct val="50000"/>
                </a:spcBef>
                <a:buFontTx/>
                <a:buNone/>
              </a:pPr>
              <a:t>6</a:t>
            </a:fld>
            <a:endParaRPr lang="zh-CN" altLang="en-US" sz="1400"/>
          </a:p>
        </p:txBody>
      </p:sp>
      <p:sp>
        <p:nvSpPr>
          <p:cNvPr id="12291" name="Rectangle 4">
            <a:extLst>
              <a:ext uri="{FF2B5EF4-FFF2-40B4-BE49-F238E27FC236}">
                <a16:creationId xmlns:a16="http://schemas.microsoft.com/office/drawing/2014/main" id="{24D3860E-C47D-23DB-0DC0-1DF55B9750AE}"/>
              </a:ext>
            </a:extLst>
          </p:cNvPr>
          <p:cNvSpPr>
            <a:spLocks noGrp="1" noChangeArrowheads="1"/>
          </p:cNvSpPr>
          <p:nvPr>
            <p:ph type="title"/>
          </p:nvPr>
        </p:nvSpPr>
        <p:spPr/>
        <p:txBody>
          <a:bodyPr/>
          <a:lstStyle/>
          <a:p>
            <a:pPr eaLnBrk="1" hangingPunct="1"/>
            <a:r>
              <a:rPr lang="zh-CN" altLang="en-US" b="1"/>
              <a:t>布尔代数</a:t>
            </a:r>
            <a:endParaRPr lang="zh-CN" altLang="en-US" sz="2800" b="1">
              <a:solidFill>
                <a:srgbClr val="2D35D3"/>
              </a:solidFill>
            </a:endParaRPr>
          </a:p>
        </p:txBody>
      </p:sp>
      <p:sp>
        <p:nvSpPr>
          <p:cNvPr id="2" name="内容占位符 1">
            <a:extLst>
              <a:ext uri="{FF2B5EF4-FFF2-40B4-BE49-F238E27FC236}">
                <a16:creationId xmlns:a16="http://schemas.microsoft.com/office/drawing/2014/main" id="{2ABCA01C-C585-85E6-03A3-DE1ADA5053F1}"/>
              </a:ext>
            </a:extLst>
          </p:cNvPr>
          <p:cNvSpPr>
            <a:spLocks noGrp="1"/>
          </p:cNvSpPr>
          <p:nvPr>
            <p:ph idx="1"/>
          </p:nvPr>
        </p:nvSpPr>
        <p:spPr>
          <a:xfrm>
            <a:off x="2389188" y="1341438"/>
            <a:ext cx="6502400" cy="4611687"/>
          </a:xfrm>
        </p:spPr>
        <p:txBody>
          <a:bodyPr/>
          <a:lstStyle/>
          <a:p>
            <a:pPr eaLnBrk="1" hangingPunct="1">
              <a:defRPr/>
            </a:pPr>
            <a:r>
              <a:rPr lang="zh-CN" altLang="en-US" b="1" dirty="0">
                <a:solidFill>
                  <a:srgbClr val="000000"/>
                </a:solidFill>
                <a:latin typeface="+mn-ea"/>
              </a:rPr>
              <a:t>布尔构思出一个关于</a:t>
            </a:r>
            <a:r>
              <a:rPr lang="en-US" altLang="x-none" b="1" dirty="0">
                <a:solidFill>
                  <a:srgbClr val="000000"/>
                </a:solidFill>
                <a:latin typeface="+mn-ea"/>
              </a:rPr>
              <a:t>0</a:t>
            </a:r>
            <a:r>
              <a:rPr lang="zh-CN" altLang="en-US" b="1" dirty="0">
                <a:solidFill>
                  <a:srgbClr val="000000"/>
                </a:solidFill>
                <a:latin typeface="+mn-ea"/>
              </a:rPr>
              <a:t>和</a:t>
            </a:r>
            <a:r>
              <a:rPr lang="en-US" altLang="x-none" b="1" dirty="0">
                <a:solidFill>
                  <a:srgbClr val="000000"/>
                </a:solidFill>
                <a:latin typeface="+mn-ea"/>
              </a:rPr>
              <a:t>1</a:t>
            </a:r>
            <a:r>
              <a:rPr lang="zh-CN" altLang="en-US" b="1" dirty="0">
                <a:solidFill>
                  <a:srgbClr val="000000"/>
                </a:solidFill>
                <a:latin typeface="+mn-ea"/>
              </a:rPr>
              <a:t>的代数系</a:t>
            </a:r>
            <a:r>
              <a:rPr lang="zh-CN" altLang="en-US" b="1" dirty="0">
                <a:solidFill>
                  <a:srgbClr val="000000"/>
                </a:solidFill>
                <a:latin typeface="+mn-ea"/>
                <a:sym typeface="Arial" panose="020B0604020202020204" pitchFamily="34" charset="0"/>
              </a:rPr>
              <a:t>统，用基础的逻辑符号系统描述物体和概念,将逻辑推理过程简化为极为容易和简单的代数运算。</a:t>
            </a:r>
          </a:p>
          <a:p>
            <a:pPr eaLnBrk="1" hangingPunct="1">
              <a:defRPr/>
            </a:pPr>
            <a:r>
              <a:rPr lang="zh-CN" altLang="en-US" b="1" dirty="0">
                <a:solidFill>
                  <a:srgbClr val="000000"/>
                </a:solidFill>
                <a:latin typeface="+mn-ea"/>
              </a:rPr>
              <a:t>在布尔代数中，</a:t>
            </a:r>
            <a:r>
              <a:rPr lang="en-US" altLang="x-none" b="1" dirty="0">
                <a:solidFill>
                  <a:srgbClr val="000000"/>
                </a:solidFill>
                <a:latin typeface="+mn-ea"/>
              </a:rPr>
              <a:t>0</a:t>
            </a:r>
            <a:r>
              <a:rPr lang="zh-CN" altLang="en-US" b="1" dirty="0">
                <a:solidFill>
                  <a:srgbClr val="000000"/>
                </a:solidFill>
                <a:latin typeface="+mn-ea"/>
              </a:rPr>
              <a:t>和</a:t>
            </a:r>
            <a:r>
              <a:rPr lang="en-US" altLang="x-none" b="1" dirty="0">
                <a:solidFill>
                  <a:srgbClr val="000000"/>
                </a:solidFill>
                <a:latin typeface="+mn-ea"/>
              </a:rPr>
              <a:t>1</a:t>
            </a:r>
            <a:r>
              <a:rPr lang="zh-CN" altLang="en-US" b="1" dirty="0">
                <a:solidFill>
                  <a:srgbClr val="000000"/>
                </a:solidFill>
                <a:latin typeface="+mn-ea"/>
              </a:rPr>
              <a:t>是自变量的定义域，也是函数的值域。基本运算只有与、或、非 三种。</a:t>
            </a:r>
          </a:p>
          <a:p>
            <a:pPr>
              <a:defRPr/>
            </a:pPr>
            <a:endParaRPr lang="zh-CN" altLang="en-US" dirty="0">
              <a:latin typeface="+mn-ea"/>
            </a:endParaRPr>
          </a:p>
        </p:txBody>
      </p:sp>
      <p:pic>
        <p:nvPicPr>
          <p:cNvPr id="54276" name="Picture 7" descr="布尔">
            <a:extLst>
              <a:ext uri="{FF2B5EF4-FFF2-40B4-BE49-F238E27FC236}">
                <a16:creationId xmlns:a16="http://schemas.microsoft.com/office/drawing/2014/main" id="{FA275F24-28F3-427C-9321-899FA6960E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1125538"/>
            <a:ext cx="1724025"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7" name="Text Box 8">
            <a:extLst>
              <a:ext uri="{FF2B5EF4-FFF2-40B4-BE49-F238E27FC236}">
                <a16:creationId xmlns:a16="http://schemas.microsoft.com/office/drawing/2014/main" id="{5D73256E-9B59-C924-F0CC-10F0B2803B26}"/>
              </a:ext>
            </a:extLst>
          </p:cNvPr>
          <p:cNvSpPr txBox="1">
            <a:spLocks noChangeArrowheads="1"/>
          </p:cNvSpPr>
          <p:nvPr/>
        </p:nvSpPr>
        <p:spPr bwMode="auto">
          <a:xfrm>
            <a:off x="166688" y="3000375"/>
            <a:ext cx="228600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zh-CN" altLang="en-US" sz="2200">
                <a:solidFill>
                  <a:srgbClr val="0000FF"/>
                </a:solidFill>
                <a:latin typeface="宋体" panose="02010600030101010101" pitchFamily="2" charset="-122"/>
              </a:rPr>
              <a:t>英国数学家布尔</a:t>
            </a:r>
          </a:p>
          <a:p>
            <a:pPr algn="ctr" eaLnBrk="1" hangingPunct="1">
              <a:spcBef>
                <a:spcPct val="5000"/>
              </a:spcBef>
              <a:buFontTx/>
              <a:buNone/>
            </a:pPr>
            <a:r>
              <a:rPr lang="en-US" altLang="zh-CN" sz="2200">
                <a:solidFill>
                  <a:srgbClr val="0000FF"/>
                </a:solidFill>
                <a:latin typeface="宋体" panose="02010600030101010101" pitchFamily="2" charset="-122"/>
              </a:rPr>
              <a:t>G.Boole</a:t>
            </a:r>
          </a:p>
        </p:txBody>
      </p:sp>
      <p:sp>
        <p:nvSpPr>
          <p:cNvPr id="54280" name="Text Box 13">
            <a:extLst>
              <a:ext uri="{FF2B5EF4-FFF2-40B4-BE49-F238E27FC236}">
                <a16:creationId xmlns:a16="http://schemas.microsoft.com/office/drawing/2014/main" id="{2FA4DBF0-1906-A6E1-77C2-151056AC8290}"/>
              </a:ext>
            </a:extLst>
          </p:cNvPr>
          <p:cNvSpPr txBox="1">
            <a:spLocks noChangeArrowheads="1"/>
          </p:cNvSpPr>
          <p:nvPr/>
        </p:nvSpPr>
        <p:spPr bwMode="auto">
          <a:xfrm>
            <a:off x="60325" y="3779838"/>
            <a:ext cx="2411413"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Bef>
                <a:spcPct val="50000"/>
              </a:spcBef>
              <a:buFontTx/>
              <a:buNone/>
            </a:pPr>
            <a:r>
              <a:rPr lang="en-US" altLang="zh-CN" sz="2000">
                <a:solidFill>
                  <a:srgbClr val="000000"/>
                </a:solidFill>
                <a:latin typeface="宋体" panose="02010600030101010101" pitchFamily="2" charset="-122"/>
              </a:rPr>
              <a:t>1847</a:t>
            </a:r>
            <a:r>
              <a:rPr lang="zh-CN" altLang="en-US" sz="2000">
                <a:solidFill>
                  <a:srgbClr val="000000"/>
                </a:solidFill>
                <a:latin typeface="宋体" panose="02010600030101010101" pitchFamily="2" charset="-122"/>
              </a:rPr>
              <a:t>年布尔出版了</a:t>
            </a:r>
          </a:p>
          <a:p>
            <a:pPr eaLnBrk="1" hangingPunct="1">
              <a:lnSpc>
                <a:spcPct val="85000"/>
              </a:lnSpc>
              <a:spcBef>
                <a:spcPct val="50000"/>
              </a:spcBef>
              <a:buFontTx/>
              <a:buNone/>
            </a:pPr>
            <a:r>
              <a:rPr lang="en-US" altLang="zh-CN" sz="2000">
                <a:solidFill>
                  <a:srgbClr val="000000"/>
                </a:solidFill>
                <a:latin typeface="宋体" panose="02010600030101010101" pitchFamily="2" charset="-122"/>
              </a:rPr>
              <a:t>《</a:t>
            </a:r>
            <a:r>
              <a:rPr lang="zh-CN" altLang="en-US" sz="2000">
                <a:solidFill>
                  <a:srgbClr val="000000"/>
                </a:solidFill>
                <a:latin typeface="宋体" panose="02010600030101010101" pitchFamily="2" charset="-122"/>
              </a:rPr>
              <a:t>逻辑的数学分析</a:t>
            </a:r>
            <a:r>
              <a:rPr lang="en-US" altLang="zh-CN" sz="2000">
                <a:solidFill>
                  <a:srgbClr val="000000"/>
                </a:solidFill>
                <a:latin typeface="宋体" panose="02010600030101010101" pitchFamily="2" charset="-122"/>
              </a:rPr>
              <a:t>》</a:t>
            </a:r>
          </a:p>
        </p:txBody>
      </p:sp>
      <p:sp>
        <p:nvSpPr>
          <p:cNvPr id="54281" name="Text Box 14">
            <a:extLst>
              <a:ext uri="{FF2B5EF4-FFF2-40B4-BE49-F238E27FC236}">
                <a16:creationId xmlns:a16="http://schemas.microsoft.com/office/drawing/2014/main" id="{28B38E38-6252-1DB3-7A57-10A63775490D}"/>
              </a:ext>
            </a:extLst>
          </p:cNvPr>
          <p:cNvSpPr txBox="1">
            <a:spLocks noChangeArrowheads="1"/>
          </p:cNvSpPr>
          <p:nvPr/>
        </p:nvSpPr>
        <p:spPr bwMode="auto">
          <a:xfrm>
            <a:off x="-38100" y="4548188"/>
            <a:ext cx="2747963" cy="124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spcBef>
                <a:spcPct val="50000"/>
              </a:spcBef>
              <a:buFontTx/>
              <a:buNone/>
            </a:pPr>
            <a:r>
              <a:rPr lang="en-US" altLang="zh-CN" sz="2000">
                <a:solidFill>
                  <a:srgbClr val="000000"/>
                </a:solidFill>
                <a:latin typeface="宋体" panose="02010600030101010101" pitchFamily="2" charset="-122"/>
              </a:rPr>
              <a:t>1854</a:t>
            </a:r>
            <a:r>
              <a:rPr lang="zh-CN" altLang="en-US" sz="2000">
                <a:solidFill>
                  <a:srgbClr val="000000"/>
                </a:solidFill>
                <a:latin typeface="宋体" panose="02010600030101010101" pitchFamily="2" charset="-122"/>
              </a:rPr>
              <a:t>年出版</a:t>
            </a:r>
            <a:r>
              <a:rPr lang="en-US" altLang="zh-CN" sz="2000">
                <a:solidFill>
                  <a:srgbClr val="000000"/>
                </a:solidFill>
                <a:latin typeface="宋体" panose="02010600030101010101" pitchFamily="2" charset="-122"/>
              </a:rPr>
              <a:t>《</a:t>
            </a:r>
            <a:r>
              <a:rPr lang="zh-CN" altLang="en-US" sz="2000">
                <a:solidFill>
                  <a:srgbClr val="000000"/>
                </a:solidFill>
                <a:latin typeface="宋体" panose="02010600030101010101" pitchFamily="2" charset="-122"/>
              </a:rPr>
              <a:t>思维规律的研究</a:t>
            </a:r>
            <a:r>
              <a:rPr lang="en-US" altLang="zh-CN" sz="2000">
                <a:solidFill>
                  <a:srgbClr val="000000"/>
                </a:solidFill>
              </a:rPr>
              <a:t>——</a:t>
            </a:r>
            <a:r>
              <a:rPr lang="zh-CN" altLang="en-US" sz="2000">
                <a:solidFill>
                  <a:srgbClr val="000000"/>
                </a:solidFill>
                <a:latin typeface="宋体" panose="02010600030101010101" pitchFamily="2" charset="-122"/>
              </a:rPr>
              <a:t>逻辑与概率的数学理论基础</a:t>
            </a:r>
            <a:r>
              <a:rPr lang="en-US" altLang="zh-CN" sz="2000">
                <a:solidFill>
                  <a:srgbClr val="000000"/>
                </a:solidFill>
                <a:latin typeface="宋体" panose="02010600030101010101" pitchFamily="2" charset="-122"/>
              </a:rPr>
              <a:t>》</a:t>
            </a:r>
          </a:p>
        </p:txBody>
      </p:sp>
    </p:spTree>
    <p:extLst>
      <p:ext uri="{BB962C8B-B14F-4D97-AF65-F5344CB8AC3E}">
        <p14:creationId xmlns:p14="http://schemas.microsoft.com/office/powerpoint/2010/main" val="377103167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32" fill="hold" nodeType="afterEffect">
                                  <p:stCondLst>
                                    <p:cond delay="0"/>
                                  </p:stCondLst>
                                  <p:childTnLst>
                                    <p:set>
                                      <p:cBhvr>
                                        <p:cTn id="6" dur="1" fill="hold">
                                          <p:stCondLst>
                                            <p:cond delay="0"/>
                                          </p:stCondLst>
                                        </p:cTn>
                                        <p:tgtEl>
                                          <p:spTgt spid="54276"/>
                                        </p:tgtEl>
                                        <p:attrNameLst>
                                          <p:attrName>style.visibility</p:attrName>
                                        </p:attrNameLst>
                                      </p:cBhvr>
                                      <p:to>
                                        <p:strVal val="visible"/>
                                      </p:to>
                                    </p:set>
                                    <p:animEffect transition="in" filter="box(out)">
                                      <p:cBhvr>
                                        <p:cTn id="7" dur="500"/>
                                        <p:tgtEl>
                                          <p:spTgt spid="54276"/>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54277"/>
                                        </p:tgtEl>
                                        <p:attrNameLst>
                                          <p:attrName>style.visibility</p:attrName>
                                        </p:attrNameLst>
                                      </p:cBhvr>
                                      <p:to>
                                        <p:strVal val="visible"/>
                                      </p:to>
                                    </p:set>
                                    <p:animEffect transition="in" filter="dissolve">
                                      <p:cBhvr>
                                        <p:cTn id="11" dur="500"/>
                                        <p:tgtEl>
                                          <p:spTgt spid="54277"/>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4280"/>
                                        </p:tgtEl>
                                        <p:attrNameLst>
                                          <p:attrName>style.visibility</p:attrName>
                                        </p:attrNameLst>
                                      </p:cBhvr>
                                      <p:to>
                                        <p:strVal val="visible"/>
                                      </p:to>
                                    </p:set>
                                    <p:animEffect transition="in" filter="wipe(left)">
                                      <p:cBhvr>
                                        <p:cTn id="15" dur="500"/>
                                        <p:tgtEl>
                                          <p:spTgt spid="54280"/>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54281"/>
                                        </p:tgtEl>
                                        <p:attrNameLst>
                                          <p:attrName>style.visibility</p:attrName>
                                        </p:attrNameLst>
                                      </p:cBhvr>
                                      <p:to>
                                        <p:strVal val="visible"/>
                                      </p:to>
                                    </p:set>
                                    <p:animEffect transition="in" filter="wipe(left)">
                                      <p:cBhvr>
                                        <p:cTn id="19" dur="500"/>
                                        <p:tgtEl>
                                          <p:spTgt spid="542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7" grpId="0"/>
      <p:bldP spid="54280" grpId="0"/>
      <p:bldP spid="5428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a:extLst>
              <a:ext uri="{FF2B5EF4-FFF2-40B4-BE49-F238E27FC236}">
                <a16:creationId xmlns:a16="http://schemas.microsoft.com/office/drawing/2014/main" id="{0699C4F9-2E7C-CDAE-A813-22B523586515}"/>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Tx/>
              <a:buNone/>
            </a:pPr>
            <a:fld id="{045AEA49-F313-44B9-A214-2789D9E67C10}" type="slidenum">
              <a:rPr lang="zh-CN" altLang="en-US" sz="1400"/>
              <a:pPr algn="r" eaLnBrk="1" hangingPunct="1">
                <a:spcBef>
                  <a:spcPct val="50000"/>
                </a:spcBef>
                <a:buFontTx/>
                <a:buNone/>
              </a:pPr>
              <a:t>7</a:t>
            </a:fld>
            <a:endParaRPr lang="zh-CN" altLang="en-US" sz="1400"/>
          </a:p>
        </p:txBody>
      </p:sp>
      <p:sp>
        <p:nvSpPr>
          <p:cNvPr id="59395" name="Rectangle 4">
            <a:extLst>
              <a:ext uri="{FF2B5EF4-FFF2-40B4-BE49-F238E27FC236}">
                <a16:creationId xmlns:a16="http://schemas.microsoft.com/office/drawing/2014/main" id="{8B0288C9-EF6E-F93C-3F09-9F3DECF46211}"/>
              </a:ext>
            </a:extLst>
          </p:cNvPr>
          <p:cNvSpPr/>
          <p:nvPr/>
        </p:nvSpPr>
        <p:spPr>
          <a:xfrm>
            <a:off x="539750" y="1154113"/>
            <a:ext cx="4824413" cy="588962"/>
          </a:xfrm>
          <a:prstGeom prst="rect">
            <a:avLst/>
          </a:prstGeom>
          <a:gradFill rotWithShape="1">
            <a:gsLst>
              <a:gs pos="0">
                <a:schemeClr val="accent2">
                  <a:alpha val="50000"/>
                </a:schemeClr>
              </a:gs>
              <a:gs pos="100000">
                <a:srgbClr val="FFFFFF"/>
              </a:gs>
            </a:gsLst>
            <a:lin ang="5400000" scaled="1"/>
            <a:tileRect/>
          </a:gradFill>
          <a:ln w="9525" cap="flat" cmpd="sng">
            <a:solidFill>
              <a:schemeClr val="accent2">
                <a:alpha val="50000"/>
              </a:schemeClr>
            </a:solidFill>
            <a:prstDash val="solid"/>
            <a:miter/>
            <a:headEnd type="none" w="med" len="med"/>
            <a:tailEnd type="none" w="med" len="med"/>
          </a:ln>
        </p:spPr>
        <p:txBody>
          <a:bodyPr anchor="ctr">
            <a:spAutoFit/>
          </a:bodyPr>
          <a:lstStyle/>
          <a:p>
            <a:pPr algn="just" eaLnBrk="1" hangingPunct="1">
              <a:spcBef>
                <a:spcPct val="30000"/>
              </a:spcBef>
              <a:defRPr/>
            </a:pPr>
            <a:r>
              <a:rPr lang="zh-CN" altLang="en-US" sz="3200" dirty="0">
                <a:effectLst>
                  <a:outerShdw blurRad="38100" dist="38100" dir="2700000">
                    <a:srgbClr val="C0C0C0"/>
                  </a:outerShdw>
                </a:effectLst>
                <a:latin typeface="宋体" panose="02010600030101010101" pitchFamily="2" charset="-122"/>
              </a:rPr>
              <a:t>仙农和开关电路理论</a:t>
            </a:r>
          </a:p>
        </p:txBody>
      </p:sp>
      <p:sp>
        <p:nvSpPr>
          <p:cNvPr id="59396" name="Text Box 5">
            <a:extLst>
              <a:ext uri="{FF2B5EF4-FFF2-40B4-BE49-F238E27FC236}">
                <a16:creationId xmlns:a16="http://schemas.microsoft.com/office/drawing/2014/main" id="{E7064DCD-118B-AE20-B6D2-9970EF5C197E}"/>
              </a:ext>
            </a:extLst>
          </p:cNvPr>
          <p:cNvSpPr txBox="1"/>
          <p:nvPr/>
        </p:nvSpPr>
        <p:spPr>
          <a:xfrm>
            <a:off x="685800" y="1828800"/>
            <a:ext cx="7989888" cy="519113"/>
          </a:xfrm>
          <a:prstGeom prst="rect">
            <a:avLst/>
          </a:prstGeom>
          <a:noFill/>
          <a:ln w="9525">
            <a:noFill/>
          </a:ln>
        </p:spPr>
        <p:txBody>
          <a:bodyPr>
            <a:spAutoFit/>
          </a:bodyPr>
          <a:lstStyle/>
          <a:p>
            <a:pPr algn="ctr" eaLnBrk="1" hangingPunct="1">
              <a:spcBef>
                <a:spcPct val="50000"/>
              </a:spcBef>
              <a:defRPr/>
            </a:pPr>
            <a:r>
              <a:rPr lang="en-US" altLang="x-none" sz="2800" dirty="0">
                <a:solidFill>
                  <a:srgbClr val="000000"/>
                </a:solidFill>
                <a:latin typeface="宋体" panose="02010600030101010101" pitchFamily="2" charset="-122"/>
              </a:rPr>
              <a:t>1938</a:t>
            </a:r>
            <a:r>
              <a:rPr lang="zh-CN" altLang="en-US" sz="2800" dirty="0">
                <a:solidFill>
                  <a:srgbClr val="000000"/>
                </a:solidFill>
                <a:latin typeface="宋体" panose="02010600030101010101" pitchFamily="2" charset="-122"/>
              </a:rPr>
              <a:t>年发表了</a:t>
            </a:r>
            <a:r>
              <a:rPr lang="en-US" altLang="x-none" sz="2800" dirty="0">
                <a:solidFill>
                  <a:srgbClr val="FF3300"/>
                </a:solidFill>
                <a:effectLst>
                  <a:outerShdw blurRad="38100" dist="38100" dir="2700000">
                    <a:srgbClr val="C0C0C0"/>
                  </a:outerShdw>
                </a:effectLst>
                <a:latin typeface="宋体" panose="02010600030101010101" pitchFamily="2" charset="-122"/>
              </a:rPr>
              <a:t>《</a:t>
            </a:r>
            <a:r>
              <a:rPr lang="zh-CN" altLang="en-US" sz="2800" dirty="0">
                <a:solidFill>
                  <a:srgbClr val="FF3300"/>
                </a:solidFill>
                <a:effectLst>
                  <a:outerShdw blurRad="38100" dist="38100" dir="2700000">
                    <a:srgbClr val="C0C0C0"/>
                  </a:outerShdw>
                </a:effectLst>
                <a:latin typeface="宋体" panose="02010600030101010101" pitchFamily="2" charset="-122"/>
              </a:rPr>
              <a:t>继电器和开关电路的符号分析</a:t>
            </a:r>
            <a:r>
              <a:rPr lang="en-US" altLang="x-none" sz="2800" dirty="0">
                <a:solidFill>
                  <a:srgbClr val="FF3300"/>
                </a:solidFill>
                <a:effectLst>
                  <a:outerShdw blurRad="38100" dist="38100" dir="2700000">
                    <a:srgbClr val="C0C0C0"/>
                  </a:outerShdw>
                </a:effectLst>
                <a:latin typeface="宋体" panose="02010600030101010101" pitchFamily="2" charset="-122"/>
              </a:rPr>
              <a:t>》</a:t>
            </a:r>
          </a:p>
        </p:txBody>
      </p:sp>
      <p:sp>
        <p:nvSpPr>
          <p:cNvPr id="59397" name="Text Box 6">
            <a:extLst>
              <a:ext uri="{FF2B5EF4-FFF2-40B4-BE49-F238E27FC236}">
                <a16:creationId xmlns:a16="http://schemas.microsoft.com/office/drawing/2014/main" id="{1E20D2F6-456F-82A2-62A6-B04E7480F229}"/>
              </a:ext>
            </a:extLst>
          </p:cNvPr>
          <p:cNvSpPr txBox="1">
            <a:spLocks noChangeArrowheads="1"/>
          </p:cNvSpPr>
          <p:nvPr/>
        </p:nvSpPr>
        <p:spPr bwMode="auto">
          <a:xfrm>
            <a:off x="1828800" y="2349500"/>
            <a:ext cx="7064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000000"/>
                </a:solidFill>
                <a:latin typeface="宋体" panose="02010600030101010101" pitchFamily="2" charset="-122"/>
              </a:rPr>
              <a:t>首次以布尔代数为工具进行开关电路分析、设计。</a:t>
            </a:r>
          </a:p>
        </p:txBody>
      </p:sp>
      <p:sp>
        <p:nvSpPr>
          <p:cNvPr id="59398" name="Text Box 7">
            <a:extLst>
              <a:ext uri="{FF2B5EF4-FFF2-40B4-BE49-F238E27FC236}">
                <a16:creationId xmlns:a16="http://schemas.microsoft.com/office/drawing/2014/main" id="{74A64F1E-183B-E83D-144B-14A4C4EE2F20}"/>
              </a:ext>
            </a:extLst>
          </p:cNvPr>
          <p:cNvSpPr txBox="1">
            <a:spLocks noChangeArrowheads="1"/>
          </p:cNvSpPr>
          <p:nvPr/>
        </p:nvSpPr>
        <p:spPr bwMode="auto">
          <a:xfrm>
            <a:off x="1828800" y="2759075"/>
            <a:ext cx="699135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lang="zh-CN" altLang="en-US" sz="2400">
                <a:solidFill>
                  <a:srgbClr val="000000"/>
                </a:solidFill>
                <a:latin typeface="宋体" panose="02010600030101010101" pitchFamily="2" charset="-122"/>
              </a:rPr>
              <a:t>证明可以通过继电器电路来实现布尔代数的逻辑运算。</a:t>
            </a:r>
          </a:p>
        </p:txBody>
      </p:sp>
      <p:sp>
        <p:nvSpPr>
          <p:cNvPr id="59399" name="Text Box 8">
            <a:extLst>
              <a:ext uri="{FF2B5EF4-FFF2-40B4-BE49-F238E27FC236}">
                <a16:creationId xmlns:a16="http://schemas.microsoft.com/office/drawing/2014/main" id="{D2893D1D-A9D7-5DF3-82BE-B45679DC7696}"/>
              </a:ext>
            </a:extLst>
          </p:cNvPr>
          <p:cNvSpPr txBox="1">
            <a:spLocks noChangeArrowheads="1"/>
          </p:cNvSpPr>
          <p:nvPr/>
        </p:nvSpPr>
        <p:spPr bwMode="auto">
          <a:xfrm>
            <a:off x="1752600" y="3695700"/>
            <a:ext cx="6996113"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lang="zh-CN" altLang="en-US" sz="2400">
                <a:solidFill>
                  <a:srgbClr val="000000"/>
                </a:solidFill>
                <a:latin typeface="宋体" panose="02010600030101010101" pitchFamily="2" charset="-122"/>
              </a:rPr>
              <a:t>明确地给出了实现加、减、 乘、除等运算的电子电路的设计方法。</a:t>
            </a:r>
          </a:p>
        </p:txBody>
      </p:sp>
      <p:pic>
        <p:nvPicPr>
          <p:cNvPr id="59400" name="Picture 9" descr="BD14866_">
            <a:extLst>
              <a:ext uri="{FF2B5EF4-FFF2-40B4-BE49-F238E27FC236}">
                <a16:creationId xmlns:a16="http://schemas.microsoft.com/office/drawing/2014/main" id="{9F6F4441-B044-D8C8-4B2C-685B6219AD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2501900"/>
            <a:ext cx="171450"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401" name="Picture 10" descr="BD14866_">
            <a:extLst>
              <a:ext uri="{FF2B5EF4-FFF2-40B4-BE49-F238E27FC236}">
                <a16:creationId xmlns:a16="http://schemas.microsoft.com/office/drawing/2014/main" id="{C851FE0F-9306-258A-892B-A105BEF06C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3063875"/>
            <a:ext cx="171450"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402" name="Picture 11" descr="BD14866_">
            <a:extLst>
              <a:ext uri="{FF2B5EF4-FFF2-40B4-BE49-F238E27FC236}">
                <a16:creationId xmlns:a16="http://schemas.microsoft.com/office/drawing/2014/main" id="{00B08B78-A329-C9A5-ED2A-0EA35860DA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3924300"/>
            <a:ext cx="171450"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5" name="Picture 13" descr="申龙">
            <a:extLst>
              <a:ext uri="{FF2B5EF4-FFF2-40B4-BE49-F238E27FC236}">
                <a16:creationId xmlns:a16="http://schemas.microsoft.com/office/drawing/2014/main" id="{3DABF632-A0D6-CDAE-2C5D-A1EE3A1989EF}"/>
              </a:ext>
            </a:extLst>
          </p:cNvPr>
          <p:cNvPicPr>
            <a:picLocks noChangeAspect="1" noChangeArrowheads="1"/>
          </p:cNvPicPr>
          <p:nvPr/>
        </p:nvPicPr>
        <p:blipFill>
          <a:blip r:embed="rId6">
            <a:lum bright="12000" contrast="18000"/>
            <a:extLst>
              <a:ext uri="{28A0092B-C50C-407E-A947-70E740481C1C}">
                <a14:useLocalDpi xmlns:a14="http://schemas.microsoft.com/office/drawing/2010/main" val="0"/>
              </a:ext>
            </a:extLst>
          </a:blip>
          <a:srcRect/>
          <a:stretch>
            <a:fillRect/>
          </a:stretch>
        </p:blipFill>
        <p:spPr bwMode="auto">
          <a:xfrm>
            <a:off x="7667625" y="0"/>
            <a:ext cx="1303338"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6" name="Text Box 14">
            <a:extLst>
              <a:ext uri="{FF2B5EF4-FFF2-40B4-BE49-F238E27FC236}">
                <a16:creationId xmlns:a16="http://schemas.microsoft.com/office/drawing/2014/main" id="{2B5427AA-B88D-0A84-79C4-1E4ECEFA3264}"/>
              </a:ext>
            </a:extLst>
          </p:cNvPr>
          <p:cNvSpPr txBox="1">
            <a:spLocks noChangeArrowheads="1"/>
          </p:cNvSpPr>
          <p:nvPr/>
        </p:nvSpPr>
        <p:spPr bwMode="auto">
          <a:xfrm>
            <a:off x="5148263" y="0"/>
            <a:ext cx="2663825"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zh-CN" altLang="en-US" sz="1800" b="0">
                <a:solidFill>
                  <a:srgbClr val="6600FF"/>
                </a:solidFill>
              </a:rPr>
              <a:t>美国数学家</a:t>
            </a:r>
            <a:endParaRPr lang="zh-CN" altLang="en-US" sz="2000">
              <a:solidFill>
                <a:srgbClr val="6600FF"/>
              </a:solidFill>
              <a:latin typeface="Verdana" panose="020B0604030504040204" pitchFamily="34" charset="0"/>
              <a:cs typeface="Arial" panose="020B0604020202020204" pitchFamily="34" charset="0"/>
            </a:endParaRPr>
          </a:p>
          <a:p>
            <a:pPr algn="ctr" eaLnBrk="1" hangingPunct="1">
              <a:spcBef>
                <a:spcPct val="50000"/>
              </a:spcBef>
              <a:buFontTx/>
              <a:buNone/>
            </a:pPr>
            <a:r>
              <a:rPr lang="zh-CN" altLang="en-US" sz="2000" b="0">
                <a:solidFill>
                  <a:srgbClr val="6600FF"/>
                </a:solidFill>
                <a:latin typeface="Verdana" panose="020B0604030504040204" pitchFamily="34" charset="0"/>
                <a:cs typeface="Arial" panose="020B0604020202020204" pitchFamily="34" charset="0"/>
              </a:rPr>
              <a:t>克劳德 </a:t>
            </a:r>
            <a:r>
              <a:rPr lang="en-US" altLang="zh-CN" sz="2000" b="0">
                <a:solidFill>
                  <a:srgbClr val="6600FF"/>
                </a:solidFill>
                <a:latin typeface="Verdana" panose="020B0604030504040204" pitchFamily="34" charset="0"/>
                <a:cs typeface="Arial" panose="020B0604020202020204" pitchFamily="34" charset="0"/>
              </a:rPr>
              <a:t>· </a:t>
            </a:r>
            <a:r>
              <a:rPr lang="zh-CN" altLang="en-US" sz="2000" b="0">
                <a:solidFill>
                  <a:srgbClr val="6600FF"/>
                </a:solidFill>
                <a:latin typeface="Verdana" panose="020B0604030504040204" pitchFamily="34" charset="0"/>
                <a:cs typeface="Arial" panose="020B0604020202020204" pitchFamily="34" charset="0"/>
              </a:rPr>
              <a:t>仙农</a:t>
            </a:r>
          </a:p>
          <a:p>
            <a:pPr algn="ctr" eaLnBrk="1" hangingPunct="1">
              <a:spcBef>
                <a:spcPct val="10000"/>
              </a:spcBef>
              <a:buFontTx/>
              <a:buNone/>
            </a:pPr>
            <a:r>
              <a:rPr lang="en-US" altLang="zh-CN" sz="2000" b="0">
                <a:solidFill>
                  <a:srgbClr val="6600FF"/>
                </a:solidFill>
                <a:latin typeface="Verdana" panose="020B0604030504040204" pitchFamily="34" charset="0"/>
                <a:cs typeface="Arial" panose="020B0604020202020204" pitchFamily="34" charset="0"/>
              </a:rPr>
              <a:t>claude shannon 1916 - 2001</a:t>
            </a:r>
          </a:p>
        </p:txBody>
      </p:sp>
      <p:sp>
        <p:nvSpPr>
          <p:cNvPr id="59406" name="Rectangle 15">
            <a:extLst>
              <a:ext uri="{FF2B5EF4-FFF2-40B4-BE49-F238E27FC236}">
                <a16:creationId xmlns:a16="http://schemas.microsoft.com/office/drawing/2014/main" id="{97DFF0BC-BFBE-9928-ADF9-3E62AFD9CF51}"/>
              </a:ext>
            </a:extLst>
          </p:cNvPr>
          <p:cNvSpPr>
            <a:spLocks noChangeArrowheads="1"/>
          </p:cNvSpPr>
          <p:nvPr/>
        </p:nvSpPr>
        <p:spPr bwMode="auto">
          <a:xfrm>
            <a:off x="1042988" y="4699000"/>
            <a:ext cx="7632700" cy="1373188"/>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b="1">
                <a:solidFill>
                  <a:schemeClr val="tx1"/>
                </a:solidFill>
                <a:latin typeface="Times New Roman" panose="02020603050405020304" pitchFamily="18" charset="0"/>
                <a:ea typeface="宋体" panose="02010600030101010101" pitchFamily="2" charset="-122"/>
              </a:defRPr>
            </a:lvl1pPr>
            <a:lvl2pPr marL="742950" indent="-285750">
              <a:defRPr b="1">
                <a:solidFill>
                  <a:schemeClr val="tx1"/>
                </a:solidFill>
                <a:latin typeface="Times New Roman" panose="02020603050405020304" pitchFamily="18" charset="0"/>
                <a:ea typeface="宋体" panose="02010600030101010101" pitchFamily="2" charset="-122"/>
              </a:defRPr>
            </a:lvl2pPr>
            <a:lvl3pPr marL="1143000" indent="-228600">
              <a:defRPr b="1">
                <a:solidFill>
                  <a:schemeClr val="tx1"/>
                </a:solidFill>
                <a:latin typeface="Times New Roman" panose="02020603050405020304" pitchFamily="18" charset="0"/>
                <a:ea typeface="宋体" panose="02010600030101010101" pitchFamily="2" charset="-122"/>
              </a:defRPr>
            </a:lvl3pPr>
            <a:lvl4pPr marL="1600200" indent="-228600">
              <a:defRPr b="1">
                <a:solidFill>
                  <a:schemeClr val="tx1"/>
                </a:solidFill>
                <a:latin typeface="Times New Roman" panose="02020603050405020304" pitchFamily="18" charset="0"/>
                <a:ea typeface="宋体" panose="02010600030101010101" pitchFamily="2" charset="-122"/>
              </a:defRPr>
            </a:lvl4pPr>
            <a:lvl5pPr marL="2057400" indent="-22860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r>
              <a:rPr lang="zh-CN" altLang="en-US" sz="2800"/>
              <a:t>后来，进一步证明了可以采用能实现</a:t>
            </a:r>
            <a:r>
              <a:rPr lang="zh-CN" altLang="en-US" sz="2800">
                <a:solidFill>
                  <a:schemeClr val="accent2"/>
                </a:solidFill>
              </a:rPr>
              <a:t>布尔代数运算</a:t>
            </a:r>
            <a:r>
              <a:rPr lang="zh-CN" altLang="en-US" sz="2800"/>
              <a:t>的继电器或电子元件来制造计算机 ，使计算机具有算术运算和逻辑运算功能。</a:t>
            </a:r>
          </a:p>
        </p:txBody>
      </p:sp>
    </p:spTree>
    <p:extLst>
      <p:ext uri="{BB962C8B-B14F-4D97-AF65-F5344CB8AC3E}">
        <p14:creationId xmlns:p14="http://schemas.microsoft.com/office/powerpoint/2010/main" val="94818231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9395"/>
                                        </p:tgtEl>
                                        <p:attrNameLst>
                                          <p:attrName>style.visibility</p:attrName>
                                        </p:attrNameLst>
                                      </p:cBhvr>
                                      <p:to>
                                        <p:strVal val="visible"/>
                                      </p:to>
                                    </p:set>
                                    <p:anim calcmode="lin" valueType="num">
                                      <p:cBhvr additive="base">
                                        <p:cTn id="7" dur="500" fill="hold"/>
                                        <p:tgtEl>
                                          <p:spTgt spid="59395"/>
                                        </p:tgtEl>
                                        <p:attrNameLst>
                                          <p:attrName>ppt_x</p:attrName>
                                        </p:attrNameLst>
                                      </p:cBhvr>
                                      <p:tavLst>
                                        <p:tav tm="0">
                                          <p:val>
                                            <p:strVal val="0-#ppt_w/2"/>
                                          </p:val>
                                        </p:tav>
                                        <p:tav tm="100000">
                                          <p:val>
                                            <p:strVal val="#ppt_x"/>
                                          </p:val>
                                        </p:tav>
                                      </p:tavLst>
                                    </p:anim>
                                    <p:anim calcmode="lin" valueType="num">
                                      <p:cBhvr additive="base">
                                        <p:cTn id="8" dur="500" fill="hold"/>
                                        <p:tgtEl>
                                          <p:spTgt spid="5939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par>
                          <p:cTn id="9" fill="hold" nodeType="afterGroup">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59396"/>
                                        </p:tgtEl>
                                        <p:attrNameLst>
                                          <p:attrName>style.visibility</p:attrName>
                                        </p:attrNameLst>
                                      </p:cBhvr>
                                      <p:to>
                                        <p:strVal val="visible"/>
                                      </p:to>
                                    </p:set>
                                    <p:animEffect transition="in" filter="wipe(left)">
                                      <p:cBhvr>
                                        <p:cTn id="12" dur="500"/>
                                        <p:tgtEl>
                                          <p:spTgt spid="593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59400"/>
                                        </p:tgtEl>
                                        <p:attrNameLst>
                                          <p:attrName>style.visibility</p:attrName>
                                        </p:attrNameLst>
                                      </p:cBhvr>
                                      <p:to>
                                        <p:strVal val="visible"/>
                                      </p:to>
                                    </p:set>
                                    <p:animEffect transition="in" filter="box(out)">
                                      <p:cBhvr>
                                        <p:cTn id="17" dur="500"/>
                                        <p:tgtEl>
                                          <p:spTgt spid="59400"/>
                                        </p:tgtEl>
                                      </p:cBhvr>
                                    </p:animEffect>
                                  </p:childTnLst>
                                  <p:subTnLst>
                                    <p:audio>
                                      <p:cMediaNode>
                                        <p:cTn display="0" masterRel="sameClick">
                                          <p:stCondLst>
                                            <p:cond evt="begin" delay="0">
                                              <p:tn val="15"/>
                                            </p:cond>
                                          </p:stCondLst>
                                          <p:endCondLst>
                                            <p:cond evt="onStopAudio" delay="0">
                                              <p:tgtEl>
                                                <p:sldTgt/>
                                              </p:tgtEl>
                                            </p:cond>
                                          </p:endCondLst>
                                        </p:cTn>
                                        <p:tgtEl>
                                          <p:sndTgt r:embed="rId4"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9397"/>
                                        </p:tgtEl>
                                        <p:attrNameLst>
                                          <p:attrName>style.visibility</p:attrName>
                                        </p:attrNameLst>
                                      </p:cBhvr>
                                      <p:to>
                                        <p:strVal val="visible"/>
                                      </p:to>
                                    </p:set>
                                    <p:animEffect transition="in" filter="dissolve">
                                      <p:cBhvr>
                                        <p:cTn id="22" dur="500"/>
                                        <p:tgtEl>
                                          <p:spTgt spid="5939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59401"/>
                                        </p:tgtEl>
                                        <p:attrNameLst>
                                          <p:attrName>style.visibility</p:attrName>
                                        </p:attrNameLst>
                                      </p:cBhvr>
                                      <p:to>
                                        <p:strVal val="visible"/>
                                      </p:to>
                                    </p:set>
                                    <p:animEffect transition="in" filter="box(out)">
                                      <p:cBhvr>
                                        <p:cTn id="27" dur="500"/>
                                        <p:tgtEl>
                                          <p:spTgt spid="59401"/>
                                        </p:tgtEl>
                                      </p:cBhvr>
                                    </p:animEffect>
                                  </p:childTnLst>
                                  <p:subTnLst>
                                    <p:audio>
                                      <p:cMediaNode>
                                        <p:cTn display="0" masterRel="sameClick">
                                          <p:stCondLst>
                                            <p:cond evt="begin" delay="0">
                                              <p:tn val="25"/>
                                            </p:cond>
                                          </p:stCondLst>
                                          <p:endCondLst>
                                            <p:cond evt="onStopAudio" delay="0">
                                              <p:tgtEl>
                                                <p:sldTgt/>
                                              </p:tgtEl>
                                            </p:cond>
                                          </p:endCondLst>
                                        </p:cTn>
                                        <p:tgtEl>
                                          <p:sndTgt r:embed="rId4" name="camera.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9398"/>
                                        </p:tgtEl>
                                        <p:attrNameLst>
                                          <p:attrName>style.visibility</p:attrName>
                                        </p:attrNameLst>
                                      </p:cBhvr>
                                      <p:to>
                                        <p:strVal val="visible"/>
                                      </p:to>
                                    </p:set>
                                    <p:animEffect transition="in" filter="dissolve">
                                      <p:cBhvr>
                                        <p:cTn id="32" dur="500"/>
                                        <p:tgtEl>
                                          <p:spTgt spid="5939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nodeType="clickEffect">
                                  <p:stCondLst>
                                    <p:cond delay="0"/>
                                  </p:stCondLst>
                                  <p:childTnLst>
                                    <p:set>
                                      <p:cBhvr>
                                        <p:cTn id="36" dur="1" fill="hold">
                                          <p:stCondLst>
                                            <p:cond delay="0"/>
                                          </p:stCondLst>
                                        </p:cTn>
                                        <p:tgtEl>
                                          <p:spTgt spid="59402"/>
                                        </p:tgtEl>
                                        <p:attrNameLst>
                                          <p:attrName>style.visibility</p:attrName>
                                        </p:attrNameLst>
                                      </p:cBhvr>
                                      <p:to>
                                        <p:strVal val="visible"/>
                                      </p:to>
                                    </p:set>
                                    <p:animEffect transition="in" filter="box(out)">
                                      <p:cBhvr>
                                        <p:cTn id="37" dur="500"/>
                                        <p:tgtEl>
                                          <p:spTgt spid="59402"/>
                                        </p:tgtEl>
                                      </p:cBhvr>
                                    </p:animEffect>
                                  </p:childTnLst>
                                  <p:subTnLst>
                                    <p:audio>
                                      <p:cMediaNode>
                                        <p:cTn display="0" masterRel="sameClick">
                                          <p:stCondLst>
                                            <p:cond evt="begin" delay="0">
                                              <p:tn val="35"/>
                                            </p:cond>
                                          </p:stCondLst>
                                          <p:endCondLst>
                                            <p:cond evt="onStopAudio" delay="0">
                                              <p:tgtEl>
                                                <p:sldTgt/>
                                              </p:tgtEl>
                                            </p:cond>
                                          </p:endCondLst>
                                        </p:cTn>
                                        <p:tgtEl>
                                          <p:sndTgt r:embed="rId4" name="camera.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59399"/>
                                        </p:tgtEl>
                                        <p:attrNameLst>
                                          <p:attrName>style.visibility</p:attrName>
                                        </p:attrNameLst>
                                      </p:cBhvr>
                                      <p:to>
                                        <p:strVal val="visible"/>
                                      </p:to>
                                    </p:set>
                                    <p:animEffect transition="in" filter="dissolve">
                                      <p:cBhvr>
                                        <p:cTn id="42" dur="500"/>
                                        <p:tgtEl>
                                          <p:spTgt spid="5939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59406"/>
                                        </p:tgtEl>
                                        <p:attrNameLst>
                                          <p:attrName>style.visibility</p:attrName>
                                        </p:attrNameLst>
                                      </p:cBhvr>
                                      <p:to>
                                        <p:strVal val="visible"/>
                                      </p:to>
                                    </p:set>
                                    <p:animEffect transition="in" filter="dissolve">
                                      <p:cBhvr>
                                        <p:cTn id="47" dur="500"/>
                                        <p:tgtEl>
                                          <p:spTgt spid="594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ldLvl="0" animBg="1"/>
      <p:bldP spid="59396" grpId="0"/>
      <p:bldP spid="59397" grpId="0"/>
      <p:bldP spid="59398" grpId="0"/>
      <p:bldP spid="59399" grpId="0"/>
      <p:bldP spid="59406"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1026"/>
          <p:cNvSpPr>
            <a:spLocks noGrp="1"/>
          </p:cNvSpPr>
          <p:nvPr>
            <p:ph type="title"/>
          </p:nvPr>
        </p:nvSpPr>
        <p:spPr/>
        <p:txBody>
          <a:bodyPr vert="horz" wrap="square" lIns="91440" tIns="45720" rIns="91440" bIns="45720" anchor="ctr"/>
          <a:lstStyle/>
          <a:p>
            <a:r>
              <a:rPr lang="zh-CN" altLang="zh-CN" dirty="0"/>
              <a:t>数字化技术</a:t>
            </a:r>
            <a:r>
              <a:rPr lang="en-US" altLang="zh-CN" dirty="0"/>
              <a:t>Digital Technology</a:t>
            </a:r>
          </a:p>
        </p:txBody>
      </p:sp>
      <p:sp>
        <p:nvSpPr>
          <p:cNvPr id="82946" name="Rectangle 1027"/>
          <p:cNvSpPr>
            <a:spLocks noGrp="1"/>
          </p:cNvSpPr>
          <p:nvPr>
            <p:ph idx="1"/>
          </p:nvPr>
        </p:nvSpPr>
        <p:spPr/>
        <p:txBody>
          <a:bodyPr vert="horz" wrap="square" lIns="91440" tIns="45720" rIns="91440" bIns="45720" anchor="t"/>
          <a:lstStyle/>
          <a:p>
            <a:r>
              <a:rPr lang="zh-CN" altLang="en-US" dirty="0"/>
              <a:t>信号是离散的</a:t>
            </a:r>
            <a:endParaRPr lang="en-US" altLang="zh-CN" dirty="0"/>
          </a:p>
          <a:p>
            <a:pPr lvl="1"/>
            <a:r>
              <a:rPr lang="zh-CN" altLang="en-US" dirty="0">
                <a:sym typeface="+mn-ea"/>
              </a:rPr>
              <a:t>通过对模拟信息取样来实现</a:t>
            </a:r>
            <a:r>
              <a:rPr lang="en-US" altLang="zh-CN" dirty="0">
                <a:sym typeface="+mn-ea"/>
              </a:rPr>
              <a:t>Sampling is only one way to digitize information</a:t>
            </a:r>
            <a:endParaRPr lang="en-US" altLang="zh-CN" dirty="0"/>
          </a:p>
          <a:p>
            <a:pPr lvl="1"/>
            <a:r>
              <a:rPr lang="zh-CN" altLang="en-US" dirty="0">
                <a:sym typeface="+mn-ea"/>
              </a:rPr>
              <a:t>每件事物都必须变成数字！</a:t>
            </a:r>
          </a:p>
          <a:p>
            <a:pPr lvl="1"/>
            <a:r>
              <a:rPr lang="zh-CN" altLang="en-US" dirty="0">
                <a:sym typeface="+mn-ea"/>
              </a:rPr>
              <a:t>文字可以用</a:t>
            </a:r>
            <a:r>
              <a:rPr lang="en-US" altLang="zh-CN" dirty="0">
                <a:sym typeface="+mn-ea"/>
              </a:rPr>
              <a:t>ASCII</a:t>
            </a:r>
            <a:r>
              <a:rPr lang="zh-CN" altLang="en-US" dirty="0">
                <a:sym typeface="+mn-ea"/>
              </a:rPr>
              <a:t>、</a:t>
            </a:r>
            <a:r>
              <a:rPr lang="en-US" altLang="zh-CN" dirty="0">
                <a:sym typeface="+mn-ea"/>
              </a:rPr>
              <a:t>Unicode</a:t>
            </a:r>
            <a:r>
              <a:rPr lang="zh-CN" altLang="en-US" dirty="0">
                <a:sym typeface="+mn-ea"/>
              </a:rPr>
              <a:t>等进行数字编码。</a:t>
            </a:r>
            <a:r>
              <a:rPr lang="en-US" altLang="zh-CN" dirty="0">
                <a:sym typeface="+mn-ea"/>
              </a:rPr>
              <a:t>Text (letters and special characters) gets converted to numbers (A = 65), using a standard coding convention called </a:t>
            </a:r>
            <a:r>
              <a:rPr lang="en-US" altLang="zh-CN" dirty="0">
                <a:solidFill>
                  <a:srgbClr val="FF3300"/>
                </a:solidFill>
                <a:sym typeface="+mn-ea"/>
              </a:rPr>
              <a:t>ASCII</a:t>
            </a:r>
            <a:endParaRPr lang="en-US" altLang="zh-CN" dirty="0">
              <a:solidFill>
                <a:srgbClr val="FF3300"/>
              </a:solidFill>
            </a:endParaRPr>
          </a:p>
          <a:p>
            <a:pPr lvl="1"/>
            <a:r>
              <a:rPr lang="zh-CN" altLang="en-US" dirty="0">
                <a:sym typeface="+mn-ea"/>
              </a:rPr>
              <a:t>图片要切割为像素和颜色数值。</a:t>
            </a:r>
            <a:r>
              <a:rPr lang="en-US" altLang="zh-CN" dirty="0">
                <a:sym typeface="+mn-ea"/>
              </a:rPr>
              <a:t>Graphics (images), gets broken down into pieces (pixels) and each colour gets a number</a:t>
            </a:r>
            <a:endParaRPr lang="zh-CN" altLang="en-US" dirty="0"/>
          </a:p>
        </p:txBody>
      </p:sp>
    </p:spTree>
    <p:extLst>
      <p:ext uri="{BB962C8B-B14F-4D97-AF65-F5344CB8AC3E}">
        <p14:creationId xmlns:p14="http://schemas.microsoft.com/office/powerpoint/2010/main" val="68554567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BAA7575B-A077-B927-BBEF-D28371B79F0C}"/>
              </a:ext>
            </a:extLst>
          </p:cNvPr>
          <p:cNvSpPr>
            <a:spLocks noGrp="1" noChangeArrowheads="1"/>
          </p:cNvSpPr>
          <p:nvPr>
            <p:ph type="title"/>
          </p:nvPr>
        </p:nvSpPr>
        <p:spPr/>
        <p:txBody>
          <a:bodyPr/>
          <a:lstStyle/>
          <a:p>
            <a:r>
              <a:rPr lang="zh-CN" altLang="en-US"/>
              <a:t>练习</a:t>
            </a:r>
          </a:p>
        </p:txBody>
      </p:sp>
      <p:sp>
        <p:nvSpPr>
          <p:cNvPr id="3" name="内容占位符 2">
            <a:extLst>
              <a:ext uri="{FF2B5EF4-FFF2-40B4-BE49-F238E27FC236}">
                <a16:creationId xmlns:a16="http://schemas.microsoft.com/office/drawing/2014/main" id="{75AF6F42-7F72-DB6B-615A-65B86798B227}"/>
              </a:ext>
            </a:extLst>
          </p:cNvPr>
          <p:cNvSpPr>
            <a:spLocks noGrp="1"/>
          </p:cNvSpPr>
          <p:nvPr>
            <p:ph idx="1"/>
          </p:nvPr>
        </p:nvSpPr>
        <p:spPr>
          <a:xfrm>
            <a:off x="323850" y="1268413"/>
            <a:ext cx="8496300" cy="4611687"/>
          </a:xfrm>
        </p:spPr>
        <p:txBody>
          <a:bodyPr/>
          <a:lstStyle/>
          <a:p>
            <a:pPr>
              <a:defRPr/>
            </a:pPr>
            <a:r>
              <a:rPr lang="zh-CN" altLang="zh-CN" dirty="0"/>
              <a:t>一幅位图图像可以看作是由多个小方格组合而成的矩阵，每个小方格叫做一个</a:t>
            </a:r>
            <a:r>
              <a:rPr lang="en-US" altLang="zh-CN" dirty="0"/>
              <a:t>"</a:t>
            </a:r>
            <a:r>
              <a:rPr lang="zh-CN" altLang="zh-CN" dirty="0"/>
              <a:t>像素</a:t>
            </a:r>
            <a:r>
              <a:rPr lang="en-US" altLang="zh-CN" dirty="0"/>
              <a:t>"</a:t>
            </a:r>
            <a:r>
              <a:rPr lang="zh-CN" altLang="zh-CN" dirty="0"/>
              <a:t>，比如一个分辨率为</a:t>
            </a:r>
            <a:r>
              <a:rPr lang="en-US" altLang="zh-CN" dirty="0"/>
              <a:t>1024</a:t>
            </a:r>
            <a:r>
              <a:rPr lang="zh-CN" altLang="zh-CN" dirty="0"/>
              <a:t>×</a:t>
            </a:r>
            <a:r>
              <a:rPr lang="en-US" altLang="zh-CN" dirty="0"/>
              <a:t>768</a:t>
            </a:r>
            <a:r>
              <a:rPr lang="zh-CN" altLang="zh-CN" dirty="0"/>
              <a:t>的图像可看作由</a:t>
            </a:r>
            <a:r>
              <a:rPr lang="en-US" altLang="zh-CN" dirty="0"/>
              <a:t>1024</a:t>
            </a:r>
            <a:r>
              <a:rPr lang="zh-CN" altLang="zh-CN" dirty="0"/>
              <a:t>×</a:t>
            </a:r>
            <a:r>
              <a:rPr lang="en-US" altLang="zh-CN" dirty="0"/>
              <a:t>768</a:t>
            </a:r>
            <a:r>
              <a:rPr lang="zh-CN" altLang="zh-CN" dirty="0"/>
              <a:t>个方格组成。假设每个像素能表示</a:t>
            </a:r>
            <a:r>
              <a:rPr lang="en-US" altLang="zh-CN" dirty="0"/>
              <a:t>512</a:t>
            </a:r>
            <a:r>
              <a:rPr lang="zh-CN" altLang="zh-CN" dirty="0"/>
              <a:t>种颜色，则存储一幅</a:t>
            </a:r>
            <a:r>
              <a:rPr lang="en-US" altLang="zh-CN" dirty="0"/>
              <a:t>1024</a:t>
            </a:r>
            <a:r>
              <a:rPr lang="zh-CN" altLang="zh-CN" dirty="0"/>
              <a:t>×</a:t>
            </a:r>
            <a:r>
              <a:rPr lang="en-US" altLang="zh-CN" dirty="0"/>
              <a:t>768</a:t>
            </a:r>
            <a:r>
              <a:rPr lang="zh-CN" altLang="zh-CN" dirty="0"/>
              <a:t>的图像至少需要多少字节？请说明原因。</a:t>
            </a:r>
            <a:endParaRPr lang="en-US" altLang="zh-CN" dirty="0"/>
          </a:p>
          <a:p>
            <a:pPr>
              <a:defRPr/>
            </a:pPr>
            <a:endParaRPr lang="en-US" altLang="zh-CN" dirty="0"/>
          </a:p>
          <a:p>
            <a:pPr marL="495300" indent="266700" algn="just">
              <a:defRPr/>
            </a:pPr>
            <a:r>
              <a:rPr lang="zh-CN" altLang="en-US" sz="2400" kern="100" dirty="0"/>
              <a:t>每像素需要 </a:t>
            </a:r>
            <a:r>
              <a:rPr lang="en-US" altLang="zh-CN" sz="2400" kern="100" dirty="0"/>
              <a:t>log</a:t>
            </a:r>
            <a:r>
              <a:rPr lang="en-US" altLang="zh-CN" sz="2400" kern="100" baseline="-25000" dirty="0"/>
              <a:t>2</a:t>
            </a:r>
            <a:r>
              <a:rPr lang="en-US" altLang="zh-CN" sz="2400" kern="100" dirty="0"/>
              <a:t>512 = 9bit , 9/8</a:t>
            </a:r>
            <a:r>
              <a:rPr lang="zh-CN" altLang="en-US" sz="2400" kern="100" dirty="0"/>
              <a:t> 向上取整</a:t>
            </a:r>
            <a:r>
              <a:rPr lang="en-US" altLang="zh-CN" sz="2400" kern="100" dirty="0"/>
              <a:t>=2</a:t>
            </a:r>
            <a:r>
              <a:rPr lang="zh-CN" altLang="en-US" sz="2400" kern="100" dirty="0"/>
              <a:t>字节</a:t>
            </a:r>
            <a:r>
              <a:rPr lang="zh-CN" altLang="zh-CN" sz="2400" kern="100" dirty="0"/>
              <a:t>。</a:t>
            </a:r>
          </a:p>
          <a:p>
            <a:pPr marL="495300" indent="266700" algn="just">
              <a:defRPr/>
            </a:pPr>
            <a:r>
              <a:rPr lang="zh-CN" altLang="zh-CN" sz="2400" kern="100" dirty="0"/>
              <a:t>存</a:t>
            </a:r>
            <a:r>
              <a:rPr lang="en-US" altLang="zh-CN" sz="2400" kern="100" dirty="0"/>
              <a:t>1024</a:t>
            </a:r>
            <a:r>
              <a:rPr lang="zh-CN" altLang="zh-CN" sz="2400" kern="100" dirty="0"/>
              <a:t>×</a:t>
            </a:r>
            <a:r>
              <a:rPr lang="en-US" altLang="zh-CN" sz="2400" kern="100" dirty="0"/>
              <a:t>768</a:t>
            </a:r>
            <a:r>
              <a:rPr lang="zh-CN" altLang="zh-CN" sz="2400" kern="100" dirty="0"/>
              <a:t>分辨率图像至少需要</a:t>
            </a:r>
            <a:endParaRPr lang="en-US" altLang="zh-CN" sz="2400" kern="100"/>
          </a:p>
          <a:p>
            <a:pPr marL="495300" indent="0" algn="just">
              <a:buFontTx/>
              <a:buNone/>
              <a:defRPr/>
            </a:pPr>
            <a:r>
              <a:rPr lang="en-US" altLang="zh-CN" sz="2400" kern="100"/>
              <a:t> </a:t>
            </a:r>
            <a:r>
              <a:rPr lang="en-US" altLang="zh-CN" sz="2400" kern="100" dirty="0"/>
              <a:t>2</a:t>
            </a:r>
            <a:r>
              <a:rPr lang="zh-CN" altLang="zh-CN" sz="2400" kern="100" dirty="0"/>
              <a:t>×</a:t>
            </a:r>
            <a:r>
              <a:rPr lang="en-US" altLang="zh-CN" sz="2400" kern="100" dirty="0"/>
              <a:t>1024</a:t>
            </a:r>
            <a:r>
              <a:rPr lang="zh-CN" altLang="zh-CN" sz="2400" kern="100" dirty="0"/>
              <a:t>×</a:t>
            </a:r>
            <a:r>
              <a:rPr lang="en-US" altLang="zh-CN" sz="2400" kern="100" dirty="0"/>
              <a:t>768 = 1536*1024 </a:t>
            </a:r>
            <a:r>
              <a:rPr lang="zh-CN" altLang="en-US" sz="2400" kern="100" dirty="0"/>
              <a:t>字节 </a:t>
            </a:r>
            <a:r>
              <a:rPr lang="en-US" altLang="zh-CN" sz="2400" kern="100" dirty="0"/>
              <a:t>= 1536 KB</a:t>
            </a:r>
            <a:endParaRPr lang="zh-CN" altLang="zh-CN" sz="2400" kern="100"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a:extLst>
              <a:ext uri="{FF2B5EF4-FFF2-40B4-BE49-F238E27FC236}">
                <a16:creationId xmlns:a16="http://schemas.microsoft.com/office/drawing/2014/main" id="{FB74804D-2B26-F184-2C30-B5B2D594202F}"/>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Tx/>
              <a:buNone/>
            </a:pPr>
            <a:fld id="{F831F34E-A90D-4E35-A47F-109408F45110}" type="slidenum">
              <a:rPr lang="zh-CN" altLang="en-US" sz="1400"/>
              <a:pPr algn="r" eaLnBrk="1" hangingPunct="1">
                <a:spcBef>
                  <a:spcPct val="50000"/>
                </a:spcBef>
                <a:buFontTx/>
                <a:buNone/>
              </a:pPr>
              <a:t>10</a:t>
            </a:fld>
            <a:endParaRPr lang="zh-CN" altLang="en-US" sz="1400"/>
          </a:p>
        </p:txBody>
      </p:sp>
      <p:sp>
        <p:nvSpPr>
          <p:cNvPr id="31747" name="Rectangle 37">
            <a:extLst>
              <a:ext uri="{FF2B5EF4-FFF2-40B4-BE49-F238E27FC236}">
                <a16:creationId xmlns:a16="http://schemas.microsoft.com/office/drawing/2014/main" id="{50011792-97D1-0A1E-7A2F-5BFE9CE1FEFA}"/>
              </a:ext>
            </a:extLst>
          </p:cNvPr>
          <p:cNvSpPr>
            <a:spLocks noChangeArrowheads="1"/>
          </p:cNvSpPr>
          <p:nvPr/>
        </p:nvSpPr>
        <p:spPr bwMode="auto">
          <a:xfrm>
            <a:off x="377825" y="3822700"/>
            <a:ext cx="8640763" cy="155257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imes New Roman" panose="02020603050405020304" pitchFamily="18" charset="0"/>
                <a:ea typeface="宋体" panose="02010600030101010101" pitchFamily="2" charset="-122"/>
              </a:defRPr>
            </a:lvl1pPr>
            <a:lvl2pPr marL="742950" indent="-285750">
              <a:defRPr b="1">
                <a:solidFill>
                  <a:schemeClr val="tx1"/>
                </a:solidFill>
                <a:latin typeface="Times New Roman" panose="02020603050405020304" pitchFamily="18" charset="0"/>
                <a:ea typeface="宋体" panose="02010600030101010101" pitchFamily="2" charset="-122"/>
              </a:defRPr>
            </a:lvl2pPr>
            <a:lvl3pPr marL="1143000" indent="-228600">
              <a:defRPr b="1">
                <a:solidFill>
                  <a:schemeClr val="tx1"/>
                </a:solidFill>
                <a:latin typeface="Times New Roman" panose="02020603050405020304" pitchFamily="18" charset="0"/>
                <a:ea typeface="宋体" panose="02010600030101010101" pitchFamily="2" charset="-122"/>
              </a:defRPr>
            </a:lvl3pPr>
            <a:lvl4pPr marL="1600200" indent="-228600">
              <a:defRPr b="1">
                <a:solidFill>
                  <a:schemeClr val="tx1"/>
                </a:solidFill>
                <a:latin typeface="Times New Roman" panose="02020603050405020304" pitchFamily="18" charset="0"/>
                <a:ea typeface="宋体" panose="02010600030101010101" pitchFamily="2" charset="-122"/>
              </a:defRPr>
            </a:lvl4pPr>
            <a:lvl5pPr marL="2057400" indent="-22860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400">
                <a:solidFill>
                  <a:srgbClr val="FF3300"/>
                </a:solidFill>
              </a:rPr>
              <a:t>程序的运行就是不断地 </a:t>
            </a:r>
            <a:r>
              <a:rPr lang="zh-CN" altLang="en-US" sz="2400" u="sng">
                <a:solidFill>
                  <a:srgbClr val="2D35D3"/>
                </a:solidFill>
              </a:rPr>
              <a:t>取指令</a:t>
            </a:r>
            <a:r>
              <a:rPr lang="zh-CN" altLang="en-US" sz="2400">
                <a:solidFill>
                  <a:srgbClr val="2D35D3"/>
                </a:solidFill>
              </a:rPr>
              <a:t>、</a:t>
            </a:r>
            <a:r>
              <a:rPr lang="zh-CN" altLang="en-US" sz="2400" u="sng">
                <a:solidFill>
                  <a:srgbClr val="2D35D3"/>
                </a:solidFill>
              </a:rPr>
              <a:t>分析指令</a:t>
            </a:r>
            <a:r>
              <a:rPr lang="zh-CN" altLang="en-US" sz="2400">
                <a:solidFill>
                  <a:srgbClr val="2D35D3"/>
                </a:solidFill>
              </a:rPr>
              <a:t>、</a:t>
            </a:r>
            <a:r>
              <a:rPr lang="zh-CN" altLang="en-US" sz="2400" u="sng">
                <a:solidFill>
                  <a:srgbClr val="2D35D3"/>
                </a:solidFill>
              </a:rPr>
              <a:t>执行指令</a:t>
            </a:r>
            <a:r>
              <a:rPr lang="zh-CN" altLang="en-US" sz="2400">
                <a:solidFill>
                  <a:srgbClr val="FF3300"/>
                </a:solidFill>
              </a:rPr>
              <a:t>的过程，这</a:t>
            </a:r>
            <a:r>
              <a:rPr lang="en-US" altLang="zh-CN" sz="2400">
                <a:solidFill>
                  <a:srgbClr val="FF3300"/>
                </a:solidFill>
              </a:rPr>
              <a:t>3</a:t>
            </a:r>
            <a:r>
              <a:rPr lang="zh-CN" altLang="en-US" sz="2400">
                <a:solidFill>
                  <a:srgbClr val="FF3300"/>
                </a:solidFill>
              </a:rPr>
              <a:t>个步骤均由控制器来控制。</a:t>
            </a:r>
            <a:r>
              <a:rPr lang="zh-CN" altLang="en-US" sz="2400"/>
              <a:t>控制器</a:t>
            </a:r>
            <a:r>
              <a:rPr lang="zh-CN" altLang="en-US" sz="2400">
                <a:solidFill>
                  <a:schemeClr val="accent2"/>
                </a:solidFill>
              </a:rPr>
              <a:t>取指令、分析指令</a:t>
            </a:r>
            <a:r>
              <a:rPr lang="zh-CN" altLang="en-US" sz="2400"/>
              <a:t>，产生操作控制信号发给输入输出设备、运算部件或者主存，完成</a:t>
            </a:r>
            <a:r>
              <a:rPr lang="zh-CN" altLang="en-US" sz="2400">
                <a:solidFill>
                  <a:schemeClr val="accent2"/>
                </a:solidFill>
              </a:rPr>
              <a:t>指令的执行</a:t>
            </a:r>
            <a:r>
              <a:rPr lang="zh-CN" altLang="en-US" sz="2400"/>
              <a:t>。</a:t>
            </a:r>
          </a:p>
        </p:txBody>
      </p:sp>
      <p:grpSp>
        <p:nvGrpSpPr>
          <p:cNvPr id="31748" name="组合 1">
            <a:extLst>
              <a:ext uri="{FF2B5EF4-FFF2-40B4-BE49-F238E27FC236}">
                <a16:creationId xmlns:a16="http://schemas.microsoft.com/office/drawing/2014/main" id="{4A7CD100-29DE-60A4-AF2E-BAA9DFC3A8E1}"/>
              </a:ext>
            </a:extLst>
          </p:cNvPr>
          <p:cNvGrpSpPr>
            <a:grpSpLocks/>
          </p:cNvGrpSpPr>
          <p:nvPr/>
        </p:nvGrpSpPr>
        <p:grpSpPr bwMode="auto">
          <a:xfrm>
            <a:off x="2476500" y="1611313"/>
            <a:ext cx="4191000" cy="1766887"/>
            <a:chOff x="4373" y="5308"/>
            <a:chExt cx="6600" cy="2782"/>
          </a:xfrm>
        </p:grpSpPr>
        <p:sp>
          <p:nvSpPr>
            <p:cNvPr id="31751" name="AutoShape 4">
              <a:extLst>
                <a:ext uri="{FF2B5EF4-FFF2-40B4-BE49-F238E27FC236}">
                  <a16:creationId xmlns:a16="http://schemas.microsoft.com/office/drawing/2014/main" id="{1E503CA3-9F68-A7AE-6B8C-8F11967EA03E}"/>
                </a:ext>
              </a:extLst>
            </p:cNvPr>
            <p:cNvSpPr>
              <a:spLocks/>
            </p:cNvSpPr>
            <p:nvPr/>
          </p:nvSpPr>
          <p:spPr bwMode="auto">
            <a:xfrm rot="-33684">
              <a:off x="5213" y="5570"/>
              <a:ext cx="1080" cy="1200"/>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17694720 60000 65536"/>
                <a:gd name="T9" fmla="*/ 5898240 60000 65536"/>
                <a:gd name="T10" fmla="*/ 5898240 60000 65536"/>
                <a:gd name="T11" fmla="*/ 0 60000 65536"/>
                <a:gd name="T12" fmla="*/ 12420 w 21600"/>
                <a:gd name="T13" fmla="*/ 2916 h 21600"/>
                <a:gd name="T14" fmla="*/ 18220 w 21600"/>
                <a:gd name="T15" fmla="*/ 925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378DBD"/>
            </a:solidFill>
            <a:ln w="12700" cap="flat" cmpd="sng">
              <a:solidFill>
                <a:schemeClr val="bg2"/>
              </a:solidFill>
              <a:prstDash val="solid"/>
              <a:miter lim="800000"/>
              <a:headEnd type="none" w="sm" len="sm"/>
              <a:tailEnd type="none" w="sm" len="sm"/>
            </a:ln>
          </p:spPr>
          <p:txBody>
            <a:bodyPr/>
            <a:lstStyle/>
            <a:p>
              <a:endParaRPr lang="zh-CN" altLang="en-US"/>
            </a:p>
          </p:txBody>
        </p:sp>
        <p:sp>
          <p:nvSpPr>
            <p:cNvPr id="31752" name="AutoShape 5">
              <a:extLst>
                <a:ext uri="{FF2B5EF4-FFF2-40B4-BE49-F238E27FC236}">
                  <a16:creationId xmlns:a16="http://schemas.microsoft.com/office/drawing/2014/main" id="{7AA31BF6-583D-49EF-C11A-2D53510A3160}"/>
                </a:ext>
              </a:extLst>
            </p:cNvPr>
            <p:cNvSpPr>
              <a:spLocks noChangeArrowheads="1"/>
            </p:cNvSpPr>
            <p:nvPr/>
          </p:nvSpPr>
          <p:spPr bwMode="auto">
            <a:xfrm>
              <a:off x="6393" y="5308"/>
              <a:ext cx="2400" cy="1080"/>
            </a:xfrm>
            <a:prstGeom prst="roundRect">
              <a:avLst>
                <a:gd name="adj" fmla="val 16667"/>
              </a:avLst>
            </a:prstGeom>
            <a:solidFill>
              <a:schemeClr val="accent1"/>
            </a:solidFill>
            <a:ln w="12700">
              <a:solidFill>
                <a:schemeClr val="tx1"/>
              </a:solidFill>
              <a:round/>
              <a:headEnd type="none" w="sm" len="sm"/>
              <a:tailEnd type="none" w="sm" len="sm"/>
            </a:ln>
          </p:spPr>
          <p:txBody>
            <a:bodyPr wrap="none" anchor="ctr"/>
            <a:lstStyle>
              <a:lvl1pPr>
                <a:defRPr b="1">
                  <a:solidFill>
                    <a:schemeClr val="tx1"/>
                  </a:solidFill>
                  <a:latin typeface="Times New Roman" panose="02020603050405020304" pitchFamily="18" charset="0"/>
                  <a:ea typeface="宋体" panose="02010600030101010101" pitchFamily="2" charset="-122"/>
                </a:defRPr>
              </a:lvl1pPr>
              <a:lvl2pPr marL="742950" indent="-285750">
                <a:defRPr b="1">
                  <a:solidFill>
                    <a:schemeClr val="tx1"/>
                  </a:solidFill>
                  <a:latin typeface="Times New Roman" panose="02020603050405020304" pitchFamily="18" charset="0"/>
                  <a:ea typeface="宋体" panose="02010600030101010101" pitchFamily="2" charset="-122"/>
                </a:defRPr>
              </a:lvl2pPr>
              <a:lvl3pPr marL="1143000" indent="-228600">
                <a:defRPr b="1">
                  <a:solidFill>
                    <a:schemeClr val="tx1"/>
                  </a:solidFill>
                  <a:latin typeface="Times New Roman" panose="02020603050405020304" pitchFamily="18" charset="0"/>
                  <a:ea typeface="宋体" panose="02010600030101010101" pitchFamily="2" charset="-122"/>
                </a:defRPr>
              </a:lvl3pPr>
              <a:lvl4pPr marL="1600200" indent="-228600">
                <a:defRPr b="1">
                  <a:solidFill>
                    <a:schemeClr val="tx1"/>
                  </a:solidFill>
                  <a:latin typeface="Times New Roman" panose="02020603050405020304" pitchFamily="18" charset="0"/>
                  <a:ea typeface="宋体" panose="02010600030101010101" pitchFamily="2" charset="-122"/>
                </a:defRPr>
              </a:lvl4pPr>
              <a:lvl5pPr marL="2057400" indent="-22860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algn="ctr" eaLnBrk="1" hangingPunct="1"/>
              <a:r>
                <a:rPr kumimoji="1" lang="en-US" altLang="zh-CN" b="0">
                  <a:latin typeface="Arial Unicode MS"/>
                  <a:ea typeface="Arial Unicode MS"/>
                  <a:cs typeface="Arial Unicode MS"/>
                </a:rPr>
                <a:t>fetch</a:t>
              </a:r>
            </a:p>
          </p:txBody>
        </p:sp>
        <p:sp>
          <p:nvSpPr>
            <p:cNvPr id="31753" name="AutoShape 7">
              <a:extLst>
                <a:ext uri="{FF2B5EF4-FFF2-40B4-BE49-F238E27FC236}">
                  <a16:creationId xmlns:a16="http://schemas.microsoft.com/office/drawing/2014/main" id="{0112EBC4-0DD8-0BF5-A900-85BC6549D259}"/>
                </a:ext>
              </a:extLst>
            </p:cNvPr>
            <p:cNvSpPr>
              <a:spLocks noChangeArrowheads="1"/>
            </p:cNvSpPr>
            <p:nvPr/>
          </p:nvSpPr>
          <p:spPr bwMode="auto">
            <a:xfrm>
              <a:off x="8573" y="7010"/>
              <a:ext cx="2400" cy="1080"/>
            </a:xfrm>
            <a:prstGeom prst="roundRect">
              <a:avLst>
                <a:gd name="adj" fmla="val 16667"/>
              </a:avLst>
            </a:prstGeom>
            <a:solidFill>
              <a:schemeClr val="accent1"/>
            </a:solidFill>
            <a:ln w="12700">
              <a:solidFill>
                <a:schemeClr val="tx1"/>
              </a:solidFill>
              <a:round/>
              <a:headEnd type="none" w="sm" len="sm"/>
              <a:tailEnd type="none" w="sm" len="sm"/>
            </a:ln>
          </p:spPr>
          <p:txBody>
            <a:bodyPr wrap="none" anchor="ctr"/>
            <a:lstStyle>
              <a:lvl1pPr>
                <a:defRPr b="1">
                  <a:solidFill>
                    <a:schemeClr val="tx1"/>
                  </a:solidFill>
                  <a:latin typeface="Times New Roman" panose="02020603050405020304" pitchFamily="18" charset="0"/>
                  <a:ea typeface="宋体" panose="02010600030101010101" pitchFamily="2" charset="-122"/>
                </a:defRPr>
              </a:lvl1pPr>
              <a:lvl2pPr marL="742950" indent="-285750">
                <a:defRPr b="1">
                  <a:solidFill>
                    <a:schemeClr val="tx1"/>
                  </a:solidFill>
                  <a:latin typeface="Times New Roman" panose="02020603050405020304" pitchFamily="18" charset="0"/>
                  <a:ea typeface="宋体" panose="02010600030101010101" pitchFamily="2" charset="-122"/>
                </a:defRPr>
              </a:lvl2pPr>
              <a:lvl3pPr marL="1143000" indent="-228600">
                <a:defRPr b="1">
                  <a:solidFill>
                    <a:schemeClr val="tx1"/>
                  </a:solidFill>
                  <a:latin typeface="Times New Roman" panose="02020603050405020304" pitchFamily="18" charset="0"/>
                  <a:ea typeface="宋体" panose="02010600030101010101" pitchFamily="2" charset="-122"/>
                </a:defRPr>
              </a:lvl3pPr>
              <a:lvl4pPr marL="1600200" indent="-228600">
                <a:defRPr b="1">
                  <a:solidFill>
                    <a:schemeClr val="tx1"/>
                  </a:solidFill>
                  <a:latin typeface="Times New Roman" panose="02020603050405020304" pitchFamily="18" charset="0"/>
                  <a:ea typeface="宋体" panose="02010600030101010101" pitchFamily="2" charset="-122"/>
                </a:defRPr>
              </a:lvl4pPr>
              <a:lvl5pPr marL="2057400" indent="-22860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algn="ctr" eaLnBrk="1" hangingPunct="1"/>
              <a:r>
                <a:rPr kumimoji="1" lang="en-US" altLang="zh-CN" b="0">
                  <a:latin typeface="Arial Unicode MS"/>
                  <a:ea typeface="Arial Unicode MS"/>
                  <a:cs typeface="Arial Unicode MS"/>
                </a:rPr>
                <a:t>decode</a:t>
              </a:r>
            </a:p>
          </p:txBody>
        </p:sp>
        <p:sp>
          <p:nvSpPr>
            <p:cNvPr id="31754" name="AutoShape 8">
              <a:extLst>
                <a:ext uri="{FF2B5EF4-FFF2-40B4-BE49-F238E27FC236}">
                  <a16:creationId xmlns:a16="http://schemas.microsoft.com/office/drawing/2014/main" id="{43AB6A46-CA3C-4D4D-0543-D6B86EEAC84F}"/>
                </a:ext>
              </a:extLst>
            </p:cNvPr>
            <p:cNvSpPr>
              <a:spLocks/>
            </p:cNvSpPr>
            <p:nvPr/>
          </p:nvSpPr>
          <p:spPr bwMode="auto">
            <a:xfrm rot="5435213">
              <a:off x="8993" y="5628"/>
              <a:ext cx="1080" cy="1200"/>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17694720 60000 65536"/>
                <a:gd name="T9" fmla="*/ 5898240 60000 65536"/>
                <a:gd name="T10" fmla="*/ 5898240 60000 65536"/>
                <a:gd name="T11" fmla="*/ 0 60000 65536"/>
                <a:gd name="T12" fmla="*/ 12420 w 21600"/>
                <a:gd name="T13" fmla="*/ 2916 h 21600"/>
                <a:gd name="T14" fmla="*/ 18220 w 21600"/>
                <a:gd name="T15" fmla="*/ 925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378DBD"/>
            </a:solidFill>
            <a:ln w="12700" cap="flat" cmpd="sng">
              <a:solidFill>
                <a:schemeClr val="bg2"/>
              </a:solidFill>
              <a:prstDash val="solid"/>
              <a:miter lim="800000"/>
              <a:headEnd type="none" w="sm" len="sm"/>
              <a:tailEnd type="none" w="sm" len="sm"/>
            </a:ln>
          </p:spPr>
          <p:txBody>
            <a:bodyPr/>
            <a:lstStyle/>
            <a:p>
              <a:endParaRPr lang="zh-CN" altLang="en-US"/>
            </a:p>
          </p:txBody>
        </p:sp>
        <p:sp>
          <p:nvSpPr>
            <p:cNvPr id="31755" name="AutoShape 10">
              <a:extLst>
                <a:ext uri="{FF2B5EF4-FFF2-40B4-BE49-F238E27FC236}">
                  <a16:creationId xmlns:a16="http://schemas.microsoft.com/office/drawing/2014/main" id="{66E40227-5AC7-1125-C976-3B38B2898217}"/>
                </a:ext>
              </a:extLst>
            </p:cNvPr>
            <p:cNvSpPr>
              <a:spLocks noChangeArrowheads="1"/>
            </p:cNvSpPr>
            <p:nvPr/>
          </p:nvSpPr>
          <p:spPr bwMode="auto">
            <a:xfrm>
              <a:off x="4373" y="7010"/>
              <a:ext cx="2400" cy="1080"/>
            </a:xfrm>
            <a:prstGeom prst="roundRect">
              <a:avLst>
                <a:gd name="adj" fmla="val 16667"/>
              </a:avLst>
            </a:prstGeom>
            <a:solidFill>
              <a:schemeClr val="accent1"/>
            </a:solidFill>
            <a:ln w="12700">
              <a:solidFill>
                <a:schemeClr val="tx1"/>
              </a:solidFill>
              <a:round/>
              <a:headEnd type="none" w="sm" len="sm"/>
              <a:tailEnd type="none" w="sm" len="sm"/>
            </a:ln>
          </p:spPr>
          <p:txBody>
            <a:bodyPr wrap="none" anchor="ctr"/>
            <a:lstStyle>
              <a:lvl1pPr>
                <a:defRPr b="1">
                  <a:solidFill>
                    <a:schemeClr val="tx1"/>
                  </a:solidFill>
                  <a:latin typeface="Times New Roman" panose="02020603050405020304" pitchFamily="18" charset="0"/>
                  <a:ea typeface="宋体" panose="02010600030101010101" pitchFamily="2" charset="-122"/>
                </a:defRPr>
              </a:lvl1pPr>
              <a:lvl2pPr marL="742950" indent="-285750">
                <a:defRPr b="1">
                  <a:solidFill>
                    <a:schemeClr val="tx1"/>
                  </a:solidFill>
                  <a:latin typeface="Times New Roman" panose="02020603050405020304" pitchFamily="18" charset="0"/>
                  <a:ea typeface="宋体" panose="02010600030101010101" pitchFamily="2" charset="-122"/>
                </a:defRPr>
              </a:lvl2pPr>
              <a:lvl3pPr marL="1143000" indent="-228600">
                <a:defRPr b="1">
                  <a:solidFill>
                    <a:schemeClr val="tx1"/>
                  </a:solidFill>
                  <a:latin typeface="Times New Roman" panose="02020603050405020304" pitchFamily="18" charset="0"/>
                  <a:ea typeface="宋体" panose="02010600030101010101" pitchFamily="2" charset="-122"/>
                </a:defRPr>
              </a:lvl3pPr>
              <a:lvl4pPr marL="1600200" indent="-228600">
                <a:defRPr b="1">
                  <a:solidFill>
                    <a:schemeClr val="tx1"/>
                  </a:solidFill>
                  <a:latin typeface="Times New Roman" panose="02020603050405020304" pitchFamily="18" charset="0"/>
                  <a:ea typeface="宋体" panose="02010600030101010101" pitchFamily="2" charset="-122"/>
                </a:defRPr>
              </a:lvl4pPr>
              <a:lvl5pPr marL="2057400" indent="-22860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algn="ctr" eaLnBrk="1" hangingPunct="1"/>
              <a:r>
                <a:rPr kumimoji="1" lang="en-US" altLang="zh-CN" b="0">
                  <a:latin typeface="Arial Unicode MS"/>
                  <a:ea typeface="Arial Unicode MS"/>
                  <a:cs typeface="Arial Unicode MS"/>
                </a:rPr>
                <a:t>execute</a:t>
              </a:r>
            </a:p>
          </p:txBody>
        </p:sp>
        <p:sp>
          <p:nvSpPr>
            <p:cNvPr id="31756" name="AutoShape 11">
              <a:extLst>
                <a:ext uri="{FF2B5EF4-FFF2-40B4-BE49-F238E27FC236}">
                  <a16:creationId xmlns:a16="http://schemas.microsoft.com/office/drawing/2014/main" id="{195D09C8-8870-0699-B487-1F3CD6C7C540}"/>
                </a:ext>
              </a:extLst>
            </p:cNvPr>
            <p:cNvSpPr>
              <a:spLocks noChangeArrowheads="1"/>
            </p:cNvSpPr>
            <p:nvPr/>
          </p:nvSpPr>
          <p:spPr bwMode="auto">
            <a:xfrm>
              <a:off x="6893" y="7230"/>
              <a:ext cx="1440" cy="720"/>
            </a:xfrm>
            <a:prstGeom prst="leftArrow">
              <a:avLst>
                <a:gd name="adj1" fmla="val 50000"/>
                <a:gd name="adj2" fmla="val 50000"/>
              </a:avLst>
            </a:prstGeom>
            <a:solidFill>
              <a:srgbClr val="378DBD"/>
            </a:solidFill>
            <a:ln w="12700">
              <a:solidFill>
                <a:schemeClr val="bg2"/>
              </a:solidFill>
              <a:miter lim="800000"/>
              <a:headEnd type="none" w="sm" len="sm"/>
              <a:tailEnd type="none" w="sm" len="sm"/>
            </a:ln>
          </p:spPr>
          <p:txBody>
            <a:bodyPr wrap="none" anchor="ctr"/>
            <a:lstStyle>
              <a:lvl1pPr>
                <a:defRPr b="1">
                  <a:solidFill>
                    <a:schemeClr val="tx1"/>
                  </a:solidFill>
                  <a:latin typeface="Times New Roman" panose="02020603050405020304" pitchFamily="18" charset="0"/>
                  <a:ea typeface="宋体" panose="02010600030101010101" pitchFamily="2" charset="-122"/>
                </a:defRPr>
              </a:lvl1pPr>
              <a:lvl2pPr marL="742950" indent="-285750">
                <a:defRPr b="1">
                  <a:solidFill>
                    <a:schemeClr val="tx1"/>
                  </a:solidFill>
                  <a:latin typeface="Times New Roman" panose="02020603050405020304" pitchFamily="18" charset="0"/>
                  <a:ea typeface="宋体" panose="02010600030101010101" pitchFamily="2" charset="-122"/>
                </a:defRPr>
              </a:lvl2pPr>
              <a:lvl3pPr marL="1143000" indent="-228600">
                <a:defRPr b="1">
                  <a:solidFill>
                    <a:schemeClr val="tx1"/>
                  </a:solidFill>
                  <a:latin typeface="Times New Roman" panose="02020603050405020304" pitchFamily="18" charset="0"/>
                  <a:ea typeface="宋体" panose="02010600030101010101" pitchFamily="2" charset="-122"/>
                </a:defRPr>
              </a:lvl3pPr>
              <a:lvl4pPr marL="1600200" indent="-228600">
                <a:defRPr b="1">
                  <a:solidFill>
                    <a:schemeClr val="tx1"/>
                  </a:solidFill>
                  <a:latin typeface="Times New Roman" panose="02020603050405020304" pitchFamily="18" charset="0"/>
                  <a:ea typeface="宋体" panose="02010600030101010101" pitchFamily="2" charset="-122"/>
                </a:defRPr>
              </a:lvl4pPr>
              <a:lvl5pPr marL="2057400" indent="-22860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endParaRPr kumimoji="1" lang="zh-CN" altLang="en-US" b="0"/>
            </a:p>
          </p:txBody>
        </p:sp>
      </p:grpSp>
      <p:sp>
        <p:nvSpPr>
          <p:cNvPr id="31749" name="标题 2">
            <a:extLst>
              <a:ext uri="{FF2B5EF4-FFF2-40B4-BE49-F238E27FC236}">
                <a16:creationId xmlns:a16="http://schemas.microsoft.com/office/drawing/2014/main" id="{CDBEA04B-0D55-2126-B5CF-D96E89821816}"/>
              </a:ext>
            </a:extLst>
          </p:cNvPr>
          <p:cNvSpPr>
            <a:spLocks noGrp="1" noChangeArrowheads="1"/>
          </p:cNvSpPr>
          <p:nvPr>
            <p:ph type="title"/>
          </p:nvPr>
        </p:nvSpPr>
        <p:spPr/>
        <p:txBody>
          <a:bodyPr/>
          <a:lstStyle/>
          <a:p>
            <a:r>
              <a:rPr lang="zh-CN" altLang="en-US" dirty="0"/>
              <a:t>程序的执行过程</a:t>
            </a:r>
          </a:p>
        </p:txBody>
      </p:sp>
      <p:sp>
        <p:nvSpPr>
          <p:cNvPr id="31750" name="内容占位符 3">
            <a:extLst>
              <a:ext uri="{FF2B5EF4-FFF2-40B4-BE49-F238E27FC236}">
                <a16:creationId xmlns:a16="http://schemas.microsoft.com/office/drawing/2014/main" id="{F7DC8938-A157-02F7-F5ED-5976A3826849}"/>
              </a:ext>
            </a:extLst>
          </p:cNvPr>
          <p:cNvSpPr>
            <a:spLocks noGrp="1" noChangeArrowheads="1"/>
          </p:cNvSpPr>
          <p:nvPr>
            <p:ph idx="1"/>
          </p:nvPr>
        </p:nvSpPr>
        <p:spPr/>
        <p:txBody>
          <a:bodyPr/>
          <a:lstStyle/>
          <a:p>
            <a:endParaRPr lang="zh-CN" altLang="en-US"/>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a:extLst>
              <a:ext uri="{FF2B5EF4-FFF2-40B4-BE49-F238E27FC236}">
                <a16:creationId xmlns:a16="http://schemas.microsoft.com/office/drawing/2014/main" id="{A4C0A531-3814-7910-DACD-D0A954929605}"/>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Tx/>
              <a:buNone/>
            </a:pPr>
            <a:fld id="{6C087FF4-F4C1-4325-B620-B89E9D8A8BAC}" type="slidenum">
              <a:rPr lang="zh-CN" altLang="en-US" sz="1400"/>
              <a:pPr algn="r" eaLnBrk="1" hangingPunct="1">
                <a:spcBef>
                  <a:spcPct val="50000"/>
                </a:spcBef>
                <a:buFontTx/>
                <a:buNone/>
              </a:pPr>
              <a:t>11</a:t>
            </a:fld>
            <a:endParaRPr lang="zh-CN" altLang="en-US" sz="1400"/>
          </a:p>
        </p:txBody>
      </p:sp>
      <p:sp>
        <p:nvSpPr>
          <p:cNvPr id="33795" name="Rectangle 5">
            <a:extLst>
              <a:ext uri="{FF2B5EF4-FFF2-40B4-BE49-F238E27FC236}">
                <a16:creationId xmlns:a16="http://schemas.microsoft.com/office/drawing/2014/main" id="{DC15B009-164D-CF20-487C-15598C560E4A}"/>
              </a:ext>
            </a:extLst>
          </p:cNvPr>
          <p:cNvSpPr>
            <a:spLocks noGrp="1" noChangeArrowheads="1"/>
          </p:cNvSpPr>
          <p:nvPr>
            <p:ph type="title"/>
          </p:nvPr>
        </p:nvSpPr>
        <p:spPr/>
        <p:txBody>
          <a:bodyPr/>
          <a:lstStyle/>
          <a:p>
            <a:pPr eaLnBrk="1" hangingPunct="1"/>
            <a:r>
              <a:rPr lang="zh-CN" altLang="en-US" b="1"/>
              <a:t>计算机指令</a:t>
            </a:r>
          </a:p>
        </p:txBody>
      </p:sp>
      <p:sp>
        <p:nvSpPr>
          <p:cNvPr id="2" name="内容占位符 1">
            <a:extLst>
              <a:ext uri="{FF2B5EF4-FFF2-40B4-BE49-F238E27FC236}">
                <a16:creationId xmlns:a16="http://schemas.microsoft.com/office/drawing/2014/main" id="{A36DC761-0FE5-C33D-962E-E6F073F397ED}"/>
              </a:ext>
            </a:extLst>
          </p:cNvPr>
          <p:cNvSpPr>
            <a:spLocks noGrp="1"/>
          </p:cNvSpPr>
          <p:nvPr>
            <p:ph idx="1"/>
          </p:nvPr>
        </p:nvSpPr>
        <p:spPr>
          <a:xfrm>
            <a:off x="468313" y="1268413"/>
            <a:ext cx="8370887" cy="4611687"/>
          </a:xfrm>
        </p:spPr>
        <p:txBody>
          <a:bodyPr/>
          <a:lstStyle/>
          <a:p>
            <a:pPr marL="0" indent="0" eaLnBrk="1" hangingPunct="1">
              <a:buFontTx/>
              <a:buNone/>
              <a:defRPr/>
            </a:pPr>
            <a:r>
              <a:rPr lang="zh-CN" altLang="en-US" sz="2400" dirty="0">
                <a:latin typeface="+mn-ea"/>
              </a:rPr>
              <a:t>一般计算机包括如下几类</a:t>
            </a:r>
            <a:r>
              <a:rPr lang="zh-CN" altLang="en-US" sz="2400" dirty="0">
                <a:solidFill>
                  <a:srgbClr val="CC3300"/>
                </a:solidFill>
                <a:latin typeface="+mn-ea"/>
              </a:rPr>
              <a:t>指令</a:t>
            </a:r>
            <a:r>
              <a:rPr lang="zh-CN" altLang="en-US" sz="2400" dirty="0">
                <a:latin typeface="+mn-ea"/>
              </a:rPr>
              <a:t>：</a:t>
            </a:r>
          </a:p>
          <a:p>
            <a:pPr marL="0" indent="0" eaLnBrk="1" hangingPunct="1">
              <a:buFontTx/>
              <a:buNone/>
              <a:defRPr/>
            </a:pPr>
            <a:r>
              <a:rPr lang="en-US" altLang="x-none" sz="2400" dirty="0">
                <a:latin typeface="+mn-ea"/>
              </a:rPr>
              <a:t>1</a:t>
            </a:r>
            <a:r>
              <a:rPr lang="zh-CN" altLang="en-US" sz="2400" dirty="0">
                <a:latin typeface="+mn-ea"/>
              </a:rPr>
              <a:t>）</a:t>
            </a:r>
            <a:r>
              <a:rPr lang="zh-CN" altLang="en-US" sz="2400" dirty="0">
                <a:solidFill>
                  <a:srgbClr val="6600FF"/>
                </a:solidFill>
                <a:latin typeface="+mn-ea"/>
              </a:rPr>
              <a:t>算术运算类</a:t>
            </a:r>
            <a:r>
              <a:rPr lang="zh-CN" altLang="en-US" sz="2400" dirty="0">
                <a:latin typeface="+mn-ea"/>
              </a:rPr>
              <a:t>。执行加、减、乘、除等算术运算的指令类；</a:t>
            </a:r>
          </a:p>
          <a:p>
            <a:pPr marL="0" indent="0" eaLnBrk="1" hangingPunct="1">
              <a:buFontTx/>
              <a:buNone/>
              <a:defRPr/>
            </a:pPr>
            <a:r>
              <a:rPr lang="en-US" altLang="x-none" sz="2400" dirty="0">
                <a:latin typeface="+mn-ea"/>
              </a:rPr>
              <a:t>2</a:t>
            </a:r>
            <a:r>
              <a:rPr lang="zh-CN" altLang="en-US" sz="2400" dirty="0">
                <a:latin typeface="+mn-ea"/>
              </a:rPr>
              <a:t>）</a:t>
            </a:r>
            <a:r>
              <a:rPr lang="zh-CN" altLang="en-US" sz="2400" dirty="0">
                <a:solidFill>
                  <a:srgbClr val="6600FF"/>
                </a:solidFill>
                <a:latin typeface="+mn-ea"/>
              </a:rPr>
              <a:t>逻辑运算类</a:t>
            </a:r>
            <a:r>
              <a:rPr lang="zh-CN" altLang="en-US" sz="2400" dirty="0">
                <a:latin typeface="+mn-ea"/>
              </a:rPr>
              <a:t>。执行与、或、非、移位、比较等逻辑运算的指令类；</a:t>
            </a:r>
          </a:p>
          <a:p>
            <a:pPr marL="0" indent="0" eaLnBrk="1" hangingPunct="1">
              <a:buFontTx/>
              <a:buNone/>
              <a:defRPr/>
            </a:pPr>
            <a:r>
              <a:rPr lang="en-US" altLang="x-none" sz="2400" dirty="0">
                <a:latin typeface="+mn-ea"/>
              </a:rPr>
              <a:t>3</a:t>
            </a:r>
            <a:r>
              <a:rPr lang="zh-CN" altLang="en-US" sz="2400" dirty="0">
                <a:latin typeface="+mn-ea"/>
              </a:rPr>
              <a:t>）</a:t>
            </a:r>
            <a:r>
              <a:rPr lang="zh-CN" altLang="en-US" sz="2400" dirty="0">
                <a:solidFill>
                  <a:srgbClr val="6600FF"/>
                </a:solidFill>
                <a:latin typeface="+mn-ea"/>
              </a:rPr>
              <a:t>传送类</a:t>
            </a:r>
            <a:r>
              <a:rPr lang="zh-CN" altLang="en-US" sz="2400" dirty="0">
                <a:latin typeface="+mn-ea"/>
              </a:rPr>
              <a:t>。执行取数、存数、传送等操作的指令类；</a:t>
            </a:r>
          </a:p>
          <a:p>
            <a:pPr marL="0" indent="0" eaLnBrk="1" hangingPunct="1">
              <a:buFontTx/>
              <a:buNone/>
              <a:defRPr/>
            </a:pPr>
            <a:r>
              <a:rPr lang="en-US" altLang="x-none" sz="2400" dirty="0">
                <a:latin typeface="+mn-ea"/>
              </a:rPr>
              <a:t>4</a:t>
            </a:r>
            <a:r>
              <a:rPr lang="zh-CN" altLang="en-US" sz="2400" dirty="0">
                <a:latin typeface="+mn-ea"/>
              </a:rPr>
              <a:t>）</a:t>
            </a:r>
            <a:r>
              <a:rPr lang="zh-CN" altLang="en-US" sz="2400" dirty="0">
                <a:solidFill>
                  <a:srgbClr val="6600FF"/>
                </a:solidFill>
                <a:latin typeface="+mn-ea"/>
              </a:rPr>
              <a:t>程序控制类</a:t>
            </a:r>
            <a:r>
              <a:rPr lang="zh-CN" altLang="en-US" sz="2400" dirty="0">
                <a:latin typeface="+mn-ea"/>
              </a:rPr>
              <a:t>。执行无条件转移、条件转移、调用程序、返回等操作的指令类；</a:t>
            </a:r>
          </a:p>
          <a:p>
            <a:pPr marL="0" indent="0" eaLnBrk="1" hangingPunct="1">
              <a:buFontTx/>
              <a:buNone/>
              <a:defRPr/>
            </a:pPr>
            <a:r>
              <a:rPr lang="en-US" altLang="x-none" sz="2400" dirty="0">
                <a:latin typeface="+mn-ea"/>
              </a:rPr>
              <a:t>5</a:t>
            </a:r>
            <a:r>
              <a:rPr lang="zh-CN" altLang="en-US" sz="2400" dirty="0">
                <a:latin typeface="+mn-ea"/>
              </a:rPr>
              <a:t>）</a:t>
            </a:r>
            <a:r>
              <a:rPr lang="zh-CN" altLang="en-US" sz="2400" dirty="0">
                <a:solidFill>
                  <a:srgbClr val="6600FF"/>
                </a:solidFill>
                <a:latin typeface="+mn-ea"/>
              </a:rPr>
              <a:t>输入</a:t>
            </a:r>
            <a:r>
              <a:rPr lang="en-US" altLang="x-none" sz="2400" dirty="0">
                <a:solidFill>
                  <a:srgbClr val="6600FF"/>
                </a:solidFill>
                <a:latin typeface="+mn-ea"/>
              </a:rPr>
              <a:t>/</a:t>
            </a:r>
            <a:r>
              <a:rPr lang="zh-CN" altLang="en-US" sz="2400" dirty="0">
                <a:solidFill>
                  <a:srgbClr val="6600FF"/>
                </a:solidFill>
                <a:latin typeface="+mn-ea"/>
              </a:rPr>
              <a:t>输出类</a:t>
            </a:r>
            <a:r>
              <a:rPr lang="zh-CN" altLang="en-US" sz="2400" dirty="0">
                <a:latin typeface="+mn-ea"/>
              </a:rPr>
              <a:t>。执行输入、输出、输入</a:t>
            </a:r>
            <a:r>
              <a:rPr lang="en-US" altLang="x-none" sz="2400" dirty="0">
                <a:latin typeface="+mn-ea"/>
              </a:rPr>
              <a:t>/</a:t>
            </a:r>
            <a:r>
              <a:rPr lang="zh-CN" altLang="en-US" sz="2400" dirty="0">
                <a:latin typeface="+mn-ea"/>
              </a:rPr>
              <a:t>输出等实现</a:t>
            </a:r>
            <a:r>
              <a:rPr lang="zh-CN" altLang="en-US" sz="2400" u="sng" dirty="0">
                <a:latin typeface="+mn-ea"/>
              </a:rPr>
              <a:t>内存和外部设备之间传输信息</a:t>
            </a:r>
            <a:r>
              <a:rPr lang="zh-CN" altLang="en-US" sz="2400" dirty="0">
                <a:latin typeface="+mn-ea"/>
              </a:rPr>
              <a:t>操作的指令类； </a:t>
            </a:r>
          </a:p>
          <a:p>
            <a:pPr marL="0" indent="0" eaLnBrk="1" hangingPunct="1">
              <a:buFontTx/>
              <a:buNone/>
              <a:defRPr/>
            </a:pPr>
            <a:r>
              <a:rPr lang="en-US" altLang="x-none" sz="2400" dirty="0">
                <a:latin typeface="+mn-ea"/>
              </a:rPr>
              <a:t>6</a:t>
            </a:r>
            <a:r>
              <a:rPr lang="zh-CN" altLang="en-US" sz="2400" dirty="0">
                <a:latin typeface="+mn-ea"/>
              </a:rPr>
              <a:t>）</a:t>
            </a:r>
            <a:r>
              <a:rPr lang="zh-CN" altLang="en-US" sz="2400" dirty="0">
                <a:solidFill>
                  <a:srgbClr val="6600FF"/>
                </a:solidFill>
                <a:latin typeface="+mn-ea"/>
              </a:rPr>
              <a:t>其他类指令</a:t>
            </a:r>
            <a:r>
              <a:rPr lang="zh-CN" altLang="en-US" sz="2400" dirty="0">
                <a:latin typeface="+mn-ea"/>
              </a:rPr>
              <a:t>。执行停机、空操作、等待等操作的指令类。</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a:extLst>
              <a:ext uri="{FF2B5EF4-FFF2-40B4-BE49-F238E27FC236}">
                <a16:creationId xmlns:a16="http://schemas.microsoft.com/office/drawing/2014/main" id="{2BB94577-4916-C6CF-D4DE-4A2DE7A3F6C2}"/>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Tx/>
              <a:buNone/>
            </a:pPr>
            <a:fld id="{ECE8C354-5773-4D43-B621-5889AFB201C5}" type="slidenum">
              <a:rPr lang="zh-CN" altLang="en-US" sz="1400"/>
              <a:pPr algn="r" eaLnBrk="1" hangingPunct="1">
                <a:spcBef>
                  <a:spcPct val="50000"/>
                </a:spcBef>
                <a:buFontTx/>
                <a:buNone/>
              </a:pPr>
              <a:t>12</a:t>
            </a:fld>
            <a:endParaRPr lang="zh-CN" altLang="en-US" sz="1400"/>
          </a:p>
        </p:txBody>
      </p:sp>
      <p:sp>
        <p:nvSpPr>
          <p:cNvPr id="34819" name="标题 1">
            <a:extLst>
              <a:ext uri="{FF2B5EF4-FFF2-40B4-BE49-F238E27FC236}">
                <a16:creationId xmlns:a16="http://schemas.microsoft.com/office/drawing/2014/main" id="{CA12068F-8818-3681-90B4-B5588BA3CFD1}"/>
              </a:ext>
            </a:extLst>
          </p:cNvPr>
          <p:cNvSpPr>
            <a:spLocks noGrp="1" noChangeArrowheads="1"/>
          </p:cNvSpPr>
          <p:nvPr>
            <p:ph type="title"/>
          </p:nvPr>
        </p:nvSpPr>
        <p:spPr/>
        <p:txBody>
          <a:bodyPr/>
          <a:lstStyle/>
          <a:p>
            <a:r>
              <a:rPr lang="zh-CN" altLang="en-US"/>
              <a:t>指令的组成</a:t>
            </a:r>
          </a:p>
        </p:txBody>
      </p:sp>
      <p:sp>
        <p:nvSpPr>
          <p:cNvPr id="34820" name="内容占位符 2">
            <a:extLst>
              <a:ext uri="{FF2B5EF4-FFF2-40B4-BE49-F238E27FC236}">
                <a16:creationId xmlns:a16="http://schemas.microsoft.com/office/drawing/2014/main" id="{AB4DADE3-8211-6B21-C23B-FDC19C7F72BA}"/>
              </a:ext>
            </a:extLst>
          </p:cNvPr>
          <p:cNvSpPr>
            <a:spLocks noGrp="1" noChangeArrowheads="1"/>
          </p:cNvSpPr>
          <p:nvPr>
            <p:ph idx="1"/>
          </p:nvPr>
        </p:nvSpPr>
        <p:spPr/>
        <p:txBody>
          <a:bodyPr/>
          <a:lstStyle/>
          <a:p>
            <a:endParaRPr lang="zh-CN" altLang="en-US"/>
          </a:p>
        </p:txBody>
      </p:sp>
      <p:sp>
        <p:nvSpPr>
          <p:cNvPr id="119812" name="Text Box 4">
            <a:extLst>
              <a:ext uri="{FF2B5EF4-FFF2-40B4-BE49-F238E27FC236}">
                <a16:creationId xmlns:a16="http://schemas.microsoft.com/office/drawing/2014/main" id="{BA1BF59A-A781-21E1-0BD8-0F2EA186E0B1}"/>
              </a:ext>
            </a:extLst>
          </p:cNvPr>
          <p:cNvSpPr txBox="1">
            <a:spLocks noChangeArrowheads="1"/>
          </p:cNvSpPr>
          <p:nvPr/>
        </p:nvSpPr>
        <p:spPr bwMode="auto">
          <a:xfrm>
            <a:off x="539750" y="1844675"/>
            <a:ext cx="8208963" cy="3786188"/>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imes New Roman" panose="02020603050405020304" pitchFamily="18" charset="0"/>
                <a:ea typeface="宋体" panose="02010600030101010101" pitchFamily="2" charset="-122"/>
              </a:defRPr>
            </a:lvl1pPr>
            <a:lvl2pPr marL="742950" indent="-285750">
              <a:defRPr b="1">
                <a:solidFill>
                  <a:schemeClr val="tx1"/>
                </a:solidFill>
                <a:latin typeface="Times New Roman" panose="02020603050405020304" pitchFamily="18" charset="0"/>
                <a:ea typeface="宋体" panose="02010600030101010101" pitchFamily="2" charset="-122"/>
              </a:defRPr>
            </a:lvl2pPr>
            <a:lvl3pPr marL="1143000" indent="-228600">
              <a:defRPr b="1">
                <a:solidFill>
                  <a:schemeClr val="tx1"/>
                </a:solidFill>
                <a:latin typeface="Times New Roman" panose="02020603050405020304" pitchFamily="18" charset="0"/>
                <a:ea typeface="宋体" panose="02010600030101010101" pitchFamily="2" charset="-122"/>
              </a:defRPr>
            </a:lvl3pPr>
            <a:lvl4pPr marL="1600200" indent="-228600">
              <a:defRPr b="1">
                <a:solidFill>
                  <a:schemeClr val="tx1"/>
                </a:solidFill>
                <a:latin typeface="Times New Roman" panose="02020603050405020304" pitchFamily="18" charset="0"/>
                <a:ea typeface="宋体" panose="02010600030101010101" pitchFamily="2" charset="-122"/>
              </a:defRPr>
            </a:lvl4pPr>
            <a:lvl5pPr marL="2057400" indent="-22860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solidFill>
                  <a:srgbClr val="FF3300"/>
                </a:solidFill>
              </a:rPr>
              <a:t>操作码：</a:t>
            </a:r>
            <a:r>
              <a:rPr lang="zh-CN" altLang="en-US" sz="2400"/>
              <a:t>用来表明本条指令要求计算机完成的操作；</a:t>
            </a:r>
          </a:p>
          <a:p>
            <a:pPr eaLnBrk="1" hangingPunct="1"/>
            <a:r>
              <a:rPr lang="zh-CN" altLang="en-US" sz="2400">
                <a:solidFill>
                  <a:srgbClr val="FF3300"/>
                </a:solidFill>
              </a:rPr>
              <a:t>操作数地址</a:t>
            </a:r>
            <a:r>
              <a:rPr lang="zh-CN" altLang="en-US" sz="2400"/>
              <a:t>：</a:t>
            </a:r>
            <a:r>
              <a:rPr lang="en-US" altLang="zh-CN" sz="2400"/>
              <a:t>CPU</a:t>
            </a:r>
            <a:r>
              <a:rPr lang="zh-CN" altLang="en-US" sz="2400"/>
              <a:t>根据该地址取得所需的操作数；可能直接给出操作数，可能是内存地址，也可能是寄存器地址（即寄存器名）；</a:t>
            </a:r>
          </a:p>
          <a:p>
            <a:pPr eaLnBrk="1" hangingPunct="1"/>
            <a:r>
              <a:rPr lang="zh-CN" altLang="en-US" sz="2400">
                <a:solidFill>
                  <a:srgbClr val="FF3300"/>
                </a:solidFill>
              </a:rPr>
              <a:t>操作结果的存储地址</a:t>
            </a:r>
            <a:r>
              <a:rPr lang="zh-CN" altLang="en-US" sz="2400"/>
              <a:t>：将对操作数的操作结果保存在该地址中，以便再次使用；可能是内存地址，也可能是寄存器地址；</a:t>
            </a:r>
          </a:p>
          <a:p>
            <a:pPr eaLnBrk="1" hangingPunct="1"/>
            <a:r>
              <a:rPr lang="zh-CN" altLang="en-US" sz="2400">
                <a:solidFill>
                  <a:srgbClr val="FF3300"/>
                </a:solidFill>
              </a:rPr>
              <a:t>下一条指令的地址</a:t>
            </a:r>
            <a:r>
              <a:rPr lang="zh-CN" altLang="en-US" sz="2400"/>
              <a:t>：一般的，如果程序是顺序执行，则下一条指令的地址由</a:t>
            </a:r>
            <a:r>
              <a:rPr lang="zh-CN" altLang="en-US" sz="2400" u="sng">
                <a:solidFill>
                  <a:srgbClr val="FF0000"/>
                </a:solidFill>
              </a:rPr>
              <a:t>程序计数器</a:t>
            </a:r>
            <a:r>
              <a:rPr lang="en-US" altLang="zh-CN" sz="2400" u="sng">
                <a:solidFill>
                  <a:srgbClr val="FF0000"/>
                </a:solidFill>
              </a:rPr>
              <a:t>PC</a:t>
            </a:r>
            <a:r>
              <a:rPr lang="zh-CN" altLang="en-US" sz="2400"/>
              <a:t>（存放下一条指令地址的寄存器）指出；仅当改变程序的运行顺序（转移、调用子程序）时，下条指令的地址才由转移类指令给出。</a:t>
            </a:r>
          </a:p>
        </p:txBody>
      </p:sp>
      <p:sp>
        <p:nvSpPr>
          <p:cNvPr id="34822" name="Text Box 5">
            <a:extLst>
              <a:ext uri="{FF2B5EF4-FFF2-40B4-BE49-F238E27FC236}">
                <a16:creationId xmlns:a16="http://schemas.microsoft.com/office/drawing/2014/main" id="{9416FA08-2D44-D136-A78C-D3399EEE3887}"/>
              </a:ext>
            </a:extLst>
          </p:cNvPr>
          <p:cNvSpPr txBox="1">
            <a:spLocks noChangeArrowheads="1"/>
          </p:cNvSpPr>
          <p:nvPr/>
        </p:nvSpPr>
        <p:spPr bwMode="auto">
          <a:xfrm>
            <a:off x="395288" y="1341438"/>
            <a:ext cx="2305050" cy="457200"/>
          </a:xfrm>
          <a:prstGeom prst="rect">
            <a:avLst/>
          </a:prstGeom>
          <a:gradFill rotWithShape="1">
            <a:gsLst>
              <a:gs pos="0">
                <a:srgbClr val="6600FF"/>
              </a:gs>
              <a:gs pos="100000">
                <a:schemeClr val="bg1"/>
              </a:gs>
            </a:gsLst>
            <a:lin ang="5400000" scaled="1"/>
          </a:gradFill>
          <a:ln>
            <a:noFill/>
          </a:ln>
          <a:effectLst>
            <a:prstShdw prst="shdw17" dist="17961" dir="13500000">
              <a:srgbClr val="3D0099"/>
            </a:prst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t>指令的组成：</a:t>
            </a:r>
          </a:p>
        </p:txBody>
      </p:sp>
      <p:sp>
        <p:nvSpPr>
          <p:cNvPr id="34823" name="Text Box 7">
            <a:extLst>
              <a:ext uri="{FF2B5EF4-FFF2-40B4-BE49-F238E27FC236}">
                <a16:creationId xmlns:a16="http://schemas.microsoft.com/office/drawing/2014/main" id="{9F54B26A-EF0B-5CD4-B85C-838312E95EF0}"/>
              </a:ext>
            </a:extLst>
          </p:cNvPr>
          <p:cNvSpPr txBox="1">
            <a:spLocks noChangeArrowheads="1"/>
          </p:cNvSpPr>
          <p:nvPr/>
        </p:nvSpPr>
        <p:spPr bwMode="auto">
          <a:xfrm>
            <a:off x="3132138" y="1377950"/>
            <a:ext cx="2519362" cy="466725"/>
          </a:xfrm>
          <a:prstGeom prst="rect">
            <a:avLst/>
          </a:prstGeom>
          <a:solidFill>
            <a:srgbClr val="66FFFF"/>
          </a:solidFill>
          <a:ln w="9525">
            <a:solidFill>
              <a:schemeClr val="tx1"/>
            </a:solidFill>
            <a:miter lim="800000"/>
            <a:headEnd/>
            <a:tailEnd/>
          </a:ln>
          <a:effectLst>
            <a:prstShdw prst="shdw17" dist="17961" dir="13500000">
              <a:srgbClr val="000000"/>
            </a:prstShdw>
          </a:effectLst>
        </p:spPr>
        <p:txBody>
          <a:bodyPr>
            <a:spAutoFit/>
          </a:bodyPr>
          <a:lstStyle>
            <a:lvl1pPr>
              <a:defRPr b="1">
                <a:solidFill>
                  <a:schemeClr val="tx1"/>
                </a:solidFill>
                <a:latin typeface="Times New Roman" panose="02020603050405020304" pitchFamily="18" charset="0"/>
                <a:ea typeface="宋体" panose="02010600030101010101" pitchFamily="2" charset="-122"/>
              </a:defRPr>
            </a:lvl1pPr>
            <a:lvl2pPr marL="742950" indent="-285750">
              <a:defRPr b="1">
                <a:solidFill>
                  <a:schemeClr val="tx1"/>
                </a:solidFill>
                <a:latin typeface="Times New Roman" panose="02020603050405020304" pitchFamily="18" charset="0"/>
                <a:ea typeface="宋体" panose="02010600030101010101" pitchFamily="2" charset="-122"/>
              </a:defRPr>
            </a:lvl2pPr>
            <a:lvl3pPr marL="1143000" indent="-228600">
              <a:defRPr b="1">
                <a:solidFill>
                  <a:schemeClr val="tx1"/>
                </a:solidFill>
                <a:latin typeface="Times New Roman" panose="02020603050405020304" pitchFamily="18" charset="0"/>
                <a:ea typeface="宋体" panose="02010600030101010101" pitchFamily="2" charset="-122"/>
              </a:defRPr>
            </a:lvl3pPr>
            <a:lvl4pPr marL="1600200" indent="-228600">
              <a:defRPr b="1">
                <a:solidFill>
                  <a:schemeClr val="tx1"/>
                </a:solidFill>
                <a:latin typeface="Times New Roman" panose="02020603050405020304" pitchFamily="18" charset="0"/>
                <a:ea typeface="宋体" panose="02010600030101010101" pitchFamily="2" charset="-122"/>
              </a:defRPr>
            </a:lvl4pPr>
            <a:lvl5pPr marL="2057400" indent="-22860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a:t>操作码     地址码</a:t>
            </a:r>
          </a:p>
        </p:txBody>
      </p:sp>
      <p:sp>
        <p:nvSpPr>
          <p:cNvPr id="34824" name="Line 11">
            <a:extLst>
              <a:ext uri="{FF2B5EF4-FFF2-40B4-BE49-F238E27FC236}">
                <a16:creationId xmlns:a16="http://schemas.microsoft.com/office/drawing/2014/main" id="{99099887-06D1-13B3-1B13-EC6CFF3C94B1}"/>
              </a:ext>
            </a:extLst>
          </p:cNvPr>
          <p:cNvSpPr>
            <a:spLocks noChangeShapeType="1"/>
          </p:cNvSpPr>
          <p:nvPr/>
        </p:nvSpPr>
        <p:spPr bwMode="auto">
          <a:xfrm>
            <a:off x="4356100" y="1412875"/>
            <a:ext cx="0" cy="431800"/>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119816" name="AutoShape 12">
            <a:extLst>
              <a:ext uri="{FF2B5EF4-FFF2-40B4-BE49-F238E27FC236}">
                <a16:creationId xmlns:a16="http://schemas.microsoft.com/office/drawing/2014/main" id="{CC87CFC8-A970-6508-1DA5-2BBEE9F82E2B}"/>
              </a:ext>
            </a:extLst>
          </p:cNvPr>
          <p:cNvSpPr>
            <a:spLocks/>
          </p:cNvSpPr>
          <p:nvPr/>
        </p:nvSpPr>
        <p:spPr bwMode="auto">
          <a:xfrm>
            <a:off x="395288" y="2420938"/>
            <a:ext cx="215900" cy="2232025"/>
          </a:xfrm>
          <a:prstGeom prst="leftBrace">
            <a:avLst>
              <a:gd name="adj1" fmla="val 86152"/>
              <a:gd name="adj2" fmla="val 50000"/>
            </a:avLst>
          </a:prstGeom>
          <a:noFill/>
          <a:ln w="9525">
            <a:solidFill>
              <a:schemeClr val="tx2"/>
            </a:solidFill>
            <a:round/>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Times New Roman" panose="02020603050405020304" pitchFamily="18" charset="0"/>
                <a:ea typeface="宋体" panose="02010600030101010101" pitchFamily="2" charset="-122"/>
              </a:defRPr>
            </a:lvl1pPr>
            <a:lvl2pPr marL="742950" indent="-285750">
              <a:defRPr b="1">
                <a:solidFill>
                  <a:schemeClr val="tx1"/>
                </a:solidFill>
                <a:latin typeface="Times New Roman" panose="02020603050405020304" pitchFamily="18" charset="0"/>
                <a:ea typeface="宋体" panose="02010600030101010101" pitchFamily="2" charset="-122"/>
              </a:defRPr>
            </a:lvl2pPr>
            <a:lvl3pPr marL="1143000" indent="-228600">
              <a:defRPr b="1">
                <a:solidFill>
                  <a:schemeClr val="tx1"/>
                </a:solidFill>
                <a:latin typeface="Times New Roman" panose="02020603050405020304" pitchFamily="18" charset="0"/>
                <a:ea typeface="宋体" panose="02010600030101010101" pitchFamily="2" charset="-122"/>
              </a:defRPr>
            </a:lvl3pPr>
            <a:lvl4pPr marL="1600200" indent="-228600">
              <a:defRPr b="1">
                <a:solidFill>
                  <a:schemeClr val="tx1"/>
                </a:solidFill>
                <a:latin typeface="Times New Roman" panose="02020603050405020304" pitchFamily="18" charset="0"/>
                <a:ea typeface="宋体" panose="02010600030101010101" pitchFamily="2" charset="-122"/>
              </a:defRPr>
            </a:lvl4pPr>
            <a:lvl5pPr marL="2057400" indent="-22860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19817" name="Text Box 13">
            <a:extLst>
              <a:ext uri="{FF2B5EF4-FFF2-40B4-BE49-F238E27FC236}">
                <a16:creationId xmlns:a16="http://schemas.microsoft.com/office/drawing/2014/main" id="{9F65FD08-BD15-8BC8-4CA3-40BE4F6C465C}"/>
              </a:ext>
            </a:extLst>
          </p:cNvPr>
          <p:cNvSpPr txBox="1">
            <a:spLocks noChangeArrowheads="1"/>
          </p:cNvSpPr>
          <p:nvPr/>
        </p:nvSpPr>
        <p:spPr bwMode="auto">
          <a:xfrm>
            <a:off x="0" y="2924175"/>
            <a:ext cx="549275" cy="194310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b="1">
                <a:solidFill>
                  <a:schemeClr val="tx1"/>
                </a:solidFill>
                <a:latin typeface="Times New Roman" panose="02020603050405020304" pitchFamily="18" charset="0"/>
                <a:ea typeface="宋体" panose="02010600030101010101" pitchFamily="2" charset="-122"/>
              </a:defRPr>
            </a:lvl1pPr>
            <a:lvl2pPr marL="742950" indent="-285750">
              <a:defRPr b="1">
                <a:solidFill>
                  <a:schemeClr val="tx1"/>
                </a:solidFill>
                <a:latin typeface="Times New Roman" panose="02020603050405020304" pitchFamily="18" charset="0"/>
                <a:ea typeface="宋体" panose="02010600030101010101" pitchFamily="2" charset="-122"/>
              </a:defRPr>
            </a:lvl2pPr>
            <a:lvl3pPr marL="1143000" indent="-228600">
              <a:defRPr b="1">
                <a:solidFill>
                  <a:schemeClr val="tx1"/>
                </a:solidFill>
                <a:latin typeface="Times New Roman" panose="02020603050405020304" pitchFamily="18" charset="0"/>
                <a:ea typeface="宋体" panose="02010600030101010101" pitchFamily="2" charset="-122"/>
              </a:defRPr>
            </a:lvl3pPr>
            <a:lvl4pPr marL="1600200" indent="-228600">
              <a:defRPr b="1">
                <a:solidFill>
                  <a:schemeClr val="tx1"/>
                </a:solidFill>
                <a:latin typeface="Times New Roman" panose="02020603050405020304" pitchFamily="18" charset="0"/>
                <a:ea typeface="宋体" panose="02010600030101010101" pitchFamily="2" charset="-122"/>
              </a:defRPr>
            </a:lvl4pPr>
            <a:lvl5pPr marL="2057400" indent="-22860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a:t>地址码</a:t>
            </a:r>
          </a:p>
        </p:txBody>
      </p:sp>
      <p:sp>
        <p:nvSpPr>
          <p:cNvPr id="34827" name="TextBox 1">
            <a:extLst>
              <a:ext uri="{FF2B5EF4-FFF2-40B4-BE49-F238E27FC236}">
                <a16:creationId xmlns:a16="http://schemas.microsoft.com/office/drawing/2014/main" id="{4F2B817F-5718-D0E7-BF34-6D0B1380E092}"/>
              </a:ext>
            </a:extLst>
          </p:cNvPr>
          <p:cNvSpPr txBox="1">
            <a:spLocks noChangeArrowheads="1"/>
          </p:cNvSpPr>
          <p:nvPr/>
        </p:nvSpPr>
        <p:spPr bwMode="auto">
          <a:xfrm>
            <a:off x="1522413" y="5786438"/>
            <a:ext cx="52562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imes New Roman" panose="02020603050405020304" pitchFamily="18" charset="0"/>
                <a:ea typeface="宋体" panose="02010600030101010101" pitchFamily="2" charset="-122"/>
              </a:defRPr>
            </a:lvl1pPr>
            <a:lvl2pPr marL="742950" indent="-285750">
              <a:defRPr b="1">
                <a:solidFill>
                  <a:schemeClr val="tx1"/>
                </a:solidFill>
                <a:latin typeface="Times New Roman" panose="02020603050405020304" pitchFamily="18" charset="0"/>
                <a:ea typeface="宋体" panose="02010600030101010101" pitchFamily="2" charset="-122"/>
              </a:defRPr>
            </a:lvl2pPr>
            <a:lvl3pPr marL="1143000" indent="-228600">
              <a:defRPr b="1">
                <a:solidFill>
                  <a:schemeClr val="tx1"/>
                </a:solidFill>
                <a:latin typeface="Times New Roman" panose="02020603050405020304" pitchFamily="18" charset="0"/>
                <a:ea typeface="宋体" panose="02010600030101010101" pitchFamily="2" charset="-122"/>
              </a:defRPr>
            </a:lvl3pPr>
            <a:lvl4pPr marL="1600200" indent="-228600">
              <a:defRPr b="1">
                <a:solidFill>
                  <a:schemeClr val="tx1"/>
                </a:solidFill>
                <a:latin typeface="Times New Roman" panose="02020603050405020304" pitchFamily="18" charset="0"/>
                <a:ea typeface="宋体" panose="02010600030101010101" pitchFamily="2" charset="-122"/>
              </a:defRPr>
            </a:lvl4pPr>
            <a:lvl5pPr marL="2057400" indent="-22860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t>操作码和地址码均是二进制数据</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19812">
                                            <p:txEl>
                                              <p:pRg st="0" end="0"/>
                                            </p:txEl>
                                          </p:spTgt>
                                        </p:tgtEl>
                                        <p:attrNameLst>
                                          <p:attrName>style.visibility</p:attrName>
                                        </p:attrNameLst>
                                      </p:cBhvr>
                                      <p:to>
                                        <p:strVal val="visible"/>
                                      </p:to>
                                    </p:set>
                                    <p:animEffect transition="in" filter="dissolve">
                                      <p:cBhvr>
                                        <p:cTn id="7" dur="500"/>
                                        <p:tgtEl>
                                          <p:spTgt spid="11981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9817"/>
                                        </p:tgtEl>
                                        <p:attrNameLst>
                                          <p:attrName>style.visibility</p:attrName>
                                        </p:attrNameLst>
                                      </p:cBhvr>
                                      <p:to>
                                        <p:strVal val="visible"/>
                                      </p:to>
                                    </p:set>
                                    <p:animEffect transition="in" filter="dissolve">
                                      <p:cBhvr>
                                        <p:cTn id="12" dur="500"/>
                                        <p:tgtEl>
                                          <p:spTgt spid="119817"/>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19816"/>
                                        </p:tgtEl>
                                        <p:attrNameLst>
                                          <p:attrName>style.visibility</p:attrName>
                                        </p:attrNameLst>
                                      </p:cBhvr>
                                      <p:to>
                                        <p:strVal val="visible"/>
                                      </p:to>
                                    </p:set>
                                    <p:animEffect transition="in" filter="dissolve">
                                      <p:cBhvr>
                                        <p:cTn id="15" dur="500"/>
                                        <p:tgtEl>
                                          <p:spTgt spid="11981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nodeType="clickEffect">
                                  <p:stCondLst>
                                    <p:cond delay="0"/>
                                  </p:stCondLst>
                                  <p:childTnLst>
                                    <p:set>
                                      <p:cBhvr>
                                        <p:cTn id="19" dur="1" fill="hold">
                                          <p:stCondLst>
                                            <p:cond delay="0"/>
                                          </p:stCondLst>
                                        </p:cTn>
                                        <p:tgtEl>
                                          <p:spTgt spid="119812">
                                            <p:txEl>
                                              <p:pRg st="1" end="1"/>
                                            </p:txEl>
                                          </p:spTgt>
                                        </p:tgtEl>
                                        <p:attrNameLst>
                                          <p:attrName>style.visibility</p:attrName>
                                        </p:attrNameLst>
                                      </p:cBhvr>
                                      <p:to>
                                        <p:strVal val="visible"/>
                                      </p:to>
                                    </p:set>
                                    <p:animEffect transition="in" filter="dissolve">
                                      <p:cBhvr>
                                        <p:cTn id="20" dur="500"/>
                                        <p:tgtEl>
                                          <p:spTgt spid="119812">
                                            <p:txEl>
                                              <p:pRg st="1" end="1"/>
                                            </p:txEl>
                                          </p:spTgt>
                                        </p:tgtEl>
                                      </p:cBhvr>
                                    </p:animEffect>
                                  </p:childTnLst>
                                </p:cTn>
                              </p:par>
                              <p:par>
                                <p:cTn id="21" presetID="9" presetClass="entr" presetSubtype="0" fill="hold" nodeType="withEffect">
                                  <p:stCondLst>
                                    <p:cond delay="0"/>
                                  </p:stCondLst>
                                  <p:childTnLst>
                                    <p:set>
                                      <p:cBhvr>
                                        <p:cTn id="22" dur="1" fill="hold">
                                          <p:stCondLst>
                                            <p:cond delay="0"/>
                                          </p:stCondLst>
                                        </p:cTn>
                                        <p:tgtEl>
                                          <p:spTgt spid="119812">
                                            <p:txEl>
                                              <p:pRg st="2" end="2"/>
                                            </p:txEl>
                                          </p:spTgt>
                                        </p:tgtEl>
                                        <p:attrNameLst>
                                          <p:attrName>style.visibility</p:attrName>
                                        </p:attrNameLst>
                                      </p:cBhvr>
                                      <p:to>
                                        <p:strVal val="visible"/>
                                      </p:to>
                                    </p:set>
                                    <p:animEffect transition="in" filter="dissolve">
                                      <p:cBhvr>
                                        <p:cTn id="23" dur="500"/>
                                        <p:tgtEl>
                                          <p:spTgt spid="119812">
                                            <p:txEl>
                                              <p:pRg st="2" end="2"/>
                                            </p:txEl>
                                          </p:spTgt>
                                        </p:tgtEl>
                                      </p:cBhvr>
                                    </p:animEffect>
                                  </p:childTnLst>
                                </p:cTn>
                              </p:par>
                              <p:par>
                                <p:cTn id="24" presetID="9" presetClass="entr" presetSubtype="0" fill="hold" nodeType="withEffect">
                                  <p:stCondLst>
                                    <p:cond delay="0"/>
                                  </p:stCondLst>
                                  <p:childTnLst>
                                    <p:set>
                                      <p:cBhvr>
                                        <p:cTn id="25" dur="1" fill="hold">
                                          <p:stCondLst>
                                            <p:cond delay="0"/>
                                          </p:stCondLst>
                                        </p:cTn>
                                        <p:tgtEl>
                                          <p:spTgt spid="119812">
                                            <p:txEl>
                                              <p:pRg st="3" end="3"/>
                                            </p:txEl>
                                          </p:spTgt>
                                        </p:tgtEl>
                                        <p:attrNameLst>
                                          <p:attrName>style.visibility</p:attrName>
                                        </p:attrNameLst>
                                      </p:cBhvr>
                                      <p:to>
                                        <p:strVal val="visible"/>
                                      </p:to>
                                    </p:set>
                                    <p:animEffect transition="in" filter="dissolve">
                                      <p:cBhvr>
                                        <p:cTn id="26" dur="500"/>
                                        <p:tgtEl>
                                          <p:spTgt spid="11981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6" grpId="0" bldLvl="0" animBg="1"/>
      <p:bldP spid="119817"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a:extLst>
              <a:ext uri="{FF2B5EF4-FFF2-40B4-BE49-F238E27FC236}">
                <a16:creationId xmlns:a16="http://schemas.microsoft.com/office/drawing/2014/main" id="{9362FDDC-E65C-0C7E-9CB6-66508FDAF30F}"/>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Tx/>
              <a:buNone/>
            </a:pPr>
            <a:fld id="{6003C0E5-AB7A-4FD3-9AF2-0E5216CEE71A}" type="slidenum">
              <a:rPr lang="zh-CN" altLang="en-US" sz="1400"/>
              <a:pPr algn="r" eaLnBrk="1" hangingPunct="1">
                <a:spcBef>
                  <a:spcPct val="50000"/>
                </a:spcBef>
                <a:buFontTx/>
                <a:buNone/>
              </a:pPr>
              <a:t>13</a:t>
            </a:fld>
            <a:endParaRPr lang="zh-CN" altLang="en-US" sz="1400"/>
          </a:p>
        </p:txBody>
      </p:sp>
      <p:sp>
        <p:nvSpPr>
          <p:cNvPr id="35843" name="Text Box 4">
            <a:extLst>
              <a:ext uri="{FF2B5EF4-FFF2-40B4-BE49-F238E27FC236}">
                <a16:creationId xmlns:a16="http://schemas.microsoft.com/office/drawing/2014/main" id="{E691AD78-3E1A-519D-1C7B-53ACC50CA10A}"/>
              </a:ext>
            </a:extLst>
          </p:cNvPr>
          <p:cNvSpPr txBox="1">
            <a:spLocks noChangeArrowheads="1"/>
          </p:cNvSpPr>
          <p:nvPr/>
        </p:nvSpPr>
        <p:spPr bwMode="auto">
          <a:xfrm>
            <a:off x="346075" y="1838325"/>
            <a:ext cx="7319963" cy="954088"/>
          </a:xfrm>
          <a:prstGeom prst="rect">
            <a:avLst/>
          </a:prstGeom>
          <a:noFill/>
          <a:ln w="952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b="0">
                <a:latin typeface="微软雅黑" panose="020B0503020204020204" pitchFamily="34" charset="-122"/>
                <a:ea typeface="微软雅黑" panose="020B0503020204020204" pitchFamily="34" charset="-122"/>
              </a:rPr>
              <a:t>计算机能直接识别和执行的全部指令的集合，称为</a:t>
            </a:r>
            <a:r>
              <a:rPr lang="zh-CN" altLang="en-US" b="0" u="sng">
                <a:latin typeface="微软雅黑" panose="020B0503020204020204" pitchFamily="34" charset="-122"/>
                <a:ea typeface="微软雅黑" panose="020B0503020204020204" pitchFamily="34" charset="-122"/>
              </a:rPr>
              <a:t>该种计算机</a:t>
            </a:r>
            <a:r>
              <a:rPr lang="zh-CN" altLang="en-US" b="0">
                <a:latin typeface="微软雅黑" panose="020B0503020204020204" pitchFamily="34" charset="-122"/>
                <a:ea typeface="微软雅黑" panose="020B0503020204020204" pitchFamily="34" charset="-122"/>
              </a:rPr>
              <a:t>的指令系统。</a:t>
            </a:r>
          </a:p>
        </p:txBody>
      </p:sp>
      <p:grpSp>
        <p:nvGrpSpPr>
          <p:cNvPr id="35844" name="Group 10">
            <a:extLst>
              <a:ext uri="{FF2B5EF4-FFF2-40B4-BE49-F238E27FC236}">
                <a16:creationId xmlns:a16="http://schemas.microsoft.com/office/drawing/2014/main" id="{1FC7637F-1007-5940-69AC-E7E6AE69EC81}"/>
              </a:ext>
            </a:extLst>
          </p:cNvPr>
          <p:cNvGrpSpPr>
            <a:grpSpLocks/>
          </p:cNvGrpSpPr>
          <p:nvPr/>
        </p:nvGrpSpPr>
        <p:grpSpPr bwMode="auto">
          <a:xfrm>
            <a:off x="225425" y="1304925"/>
            <a:ext cx="2133600" cy="533400"/>
            <a:chOff x="0" y="0"/>
            <a:chExt cx="2448" cy="384"/>
          </a:xfrm>
        </p:grpSpPr>
        <p:sp>
          <p:nvSpPr>
            <p:cNvPr id="35850" name="AutoShape 11">
              <a:extLst>
                <a:ext uri="{FF2B5EF4-FFF2-40B4-BE49-F238E27FC236}">
                  <a16:creationId xmlns:a16="http://schemas.microsoft.com/office/drawing/2014/main" id="{BE789E0A-FEF3-AE12-BDC9-1B9FAB1DAF2D}"/>
                </a:ext>
              </a:extLst>
            </p:cNvPr>
            <p:cNvSpPr>
              <a:spLocks noChangeArrowheads="1"/>
            </p:cNvSpPr>
            <p:nvPr/>
          </p:nvSpPr>
          <p:spPr bwMode="auto">
            <a:xfrm rot="-5400000">
              <a:off x="1032" y="-1032"/>
              <a:ext cx="384" cy="2448"/>
            </a:xfrm>
            <a:prstGeom prst="can">
              <a:avLst>
                <a:gd name="adj" fmla="val 54837"/>
              </a:avLst>
            </a:prstGeom>
            <a:gradFill rotWithShape="0">
              <a:gsLst>
                <a:gs pos="0">
                  <a:srgbClr val="F9E5B3"/>
                </a:gs>
                <a:gs pos="50000">
                  <a:srgbClr val="AE8000"/>
                </a:gs>
                <a:gs pos="100000">
                  <a:srgbClr val="F9E5B3"/>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1800"/>
            </a:p>
          </p:txBody>
        </p:sp>
        <p:sp>
          <p:nvSpPr>
            <p:cNvPr id="35851" name="Rectangle 12">
              <a:extLst>
                <a:ext uri="{FF2B5EF4-FFF2-40B4-BE49-F238E27FC236}">
                  <a16:creationId xmlns:a16="http://schemas.microsoft.com/office/drawing/2014/main" id="{260DEA59-8D73-A476-68FA-7948AC1CE34D}"/>
                </a:ext>
              </a:extLst>
            </p:cNvPr>
            <p:cNvSpPr>
              <a:spLocks noChangeArrowheads="1"/>
            </p:cNvSpPr>
            <p:nvPr/>
          </p:nvSpPr>
          <p:spPr bwMode="auto">
            <a:xfrm>
              <a:off x="144" y="0"/>
              <a:ext cx="2208"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a:t>指令系统</a:t>
              </a:r>
            </a:p>
          </p:txBody>
        </p:sp>
      </p:grpSp>
      <p:sp>
        <p:nvSpPr>
          <p:cNvPr id="35845" name="标题 1">
            <a:extLst>
              <a:ext uri="{FF2B5EF4-FFF2-40B4-BE49-F238E27FC236}">
                <a16:creationId xmlns:a16="http://schemas.microsoft.com/office/drawing/2014/main" id="{7DEAEEB4-2444-6708-B915-86EE5AB9F57B}"/>
              </a:ext>
            </a:extLst>
          </p:cNvPr>
          <p:cNvSpPr>
            <a:spLocks noGrp="1" noChangeArrowheads="1"/>
          </p:cNvSpPr>
          <p:nvPr>
            <p:ph type="title"/>
          </p:nvPr>
        </p:nvSpPr>
        <p:spPr/>
        <p:txBody>
          <a:bodyPr/>
          <a:lstStyle/>
          <a:p>
            <a:r>
              <a:rPr lang="zh-CN" altLang="en-US"/>
              <a:t>指令与程序</a:t>
            </a:r>
          </a:p>
        </p:txBody>
      </p:sp>
      <p:sp>
        <p:nvSpPr>
          <p:cNvPr id="35846" name="Text Box 4">
            <a:extLst>
              <a:ext uri="{FF2B5EF4-FFF2-40B4-BE49-F238E27FC236}">
                <a16:creationId xmlns:a16="http://schemas.microsoft.com/office/drawing/2014/main" id="{1FC55A4A-8CB7-9574-D7EF-103B3EAAB202}"/>
              </a:ext>
            </a:extLst>
          </p:cNvPr>
          <p:cNvSpPr txBox="1">
            <a:spLocks noChangeArrowheads="1"/>
          </p:cNvSpPr>
          <p:nvPr/>
        </p:nvSpPr>
        <p:spPr bwMode="auto">
          <a:xfrm>
            <a:off x="350838" y="3629025"/>
            <a:ext cx="7315200" cy="2014538"/>
          </a:xfrm>
          <a:prstGeom prst="rect">
            <a:avLst/>
          </a:prstGeom>
          <a:noFill/>
          <a:ln w="952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a:latin typeface="宋体" panose="02010600030101010101" pitchFamily="2" charset="-122"/>
              </a:rPr>
              <a:t>程序是按事先设计的功能和性能要求编制的</a:t>
            </a:r>
            <a:r>
              <a:rPr lang="zh-CN" altLang="en-US">
                <a:solidFill>
                  <a:srgbClr val="2D35D3"/>
                </a:solidFill>
                <a:latin typeface="宋体" panose="02010600030101010101" pitchFamily="2" charset="-122"/>
              </a:rPr>
              <a:t>指令序列</a:t>
            </a:r>
            <a:r>
              <a:rPr lang="zh-CN" altLang="en-US">
                <a:latin typeface="宋体" panose="02010600030101010101" pitchFamily="2" charset="-122"/>
              </a:rPr>
              <a:t>。</a:t>
            </a:r>
          </a:p>
          <a:p>
            <a:pPr eaLnBrk="1" hangingPunct="1">
              <a:spcBef>
                <a:spcPct val="50000"/>
              </a:spcBef>
              <a:buFontTx/>
              <a:buNone/>
            </a:pPr>
            <a:r>
              <a:rPr lang="zh-CN" altLang="en-US">
                <a:latin typeface="宋体" panose="02010600030101010101" pitchFamily="2" charset="-122"/>
              </a:rPr>
              <a:t>注意：这种提法并不都是指程序必须是二进制代码</a:t>
            </a:r>
            <a:r>
              <a:rPr lang="en-US" altLang="zh-CN">
                <a:latin typeface="宋体" panose="02010600030101010101" pitchFamily="2" charset="-122"/>
              </a:rPr>
              <a:t>,</a:t>
            </a:r>
            <a:r>
              <a:rPr lang="zh-CN" altLang="en-US">
                <a:latin typeface="宋体" panose="02010600030101010101" pitchFamily="2" charset="-122"/>
              </a:rPr>
              <a:t>而是指程序最终会转换为指令序列！</a:t>
            </a:r>
          </a:p>
        </p:txBody>
      </p:sp>
      <p:grpSp>
        <p:nvGrpSpPr>
          <p:cNvPr id="35847" name="Group 10">
            <a:extLst>
              <a:ext uri="{FF2B5EF4-FFF2-40B4-BE49-F238E27FC236}">
                <a16:creationId xmlns:a16="http://schemas.microsoft.com/office/drawing/2014/main" id="{512280CD-E80C-78C8-FD40-BE494E57500B}"/>
              </a:ext>
            </a:extLst>
          </p:cNvPr>
          <p:cNvGrpSpPr>
            <a:grpSpLocks/>
          </p:cNvGrpSpPr>
          <p:nvPr/>
        </p:nvGrpSpPr>
        <p:grpSpPr bwMode="auto">
          <a:xfrm>
            <a:off x="247650" y="3162300"/>
            <a:ext cx="2133600" cy="533400"/>
            <a:chOff x="0" y="0"/>
            <a:chExt cx="2448" cy="384"/>
          </a:xfrm>
        </p:grpSpPr>
        <p:sp>
          <p:nvSpPr>
            <p:cNvPr id="35848" name="AutoShape 11">
              <a:extLst>
                <a:ext uri="{FF2B5EF4-FFF2-40B4-BE49-F238E27FC236}">
                  <a16:creationId xmlns:a16="http://schemas.microsoft.com/office/drawing/2014/main" id="{9DE9141A-C079-B4CA-4041-AE0039FFC5D8}"/>
                </a:ext>
              </a:extLst>
            </p:cNvPr>
            <p:cNvSpPr>
              <a:spLocks noChangeArrowheads="1"/>
            </p:cNvSpPr>
            <p:nvPr/>
          </p:nvSpPr>
          <p:spPr bwMode="auto">
            <a:xfrm rot="-5400000">
              <a:off x="1032" y="-1032"/>
              <a:ext cx="384" cy="2448"/>
            </a:xfrm>
            <a:prstGeom prst="can">
              <a:avLst>
                <a:gd name="adj" fmla="val 54837"/>
              </a:avLst>
            </a:prstGeom>
            <a:gradFill rotWithShape="0">
              <a:gsLst>
                <a:gs pos="0">
                  <a:srgbClr val="F9E5B3"/>
                </a:gs>
                <a:gs pos="50000">
                  <a:srgbClr val="AE8000"/>
                </a:gs>
                <a:gs pos="100000">
                  <a:srgbClr val="F9E5B3"/>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1800"/>
            </a:p>
          </p:txBody>
        </p:sp>
        <p:sp>
          <p:nvSpPr>
            <p:cNvPr id="35849" name="Rectangle 12">
              <a:extLst>
                <a:ext uri="{FF2B5EF4-FFF2-40B4-BE49-F238E27FC236}">
                  <a16:creationId xmlns:a16="http://schemas.microsoft.com/office/drawing/2014/main" id="{4A75E7A0-EF4A-4A81-3801-7644E265D475}"/>
                </a:ext>
              </a:extLst>
            </p:cNvPr>
            <p:cNvSpPr>
              <a:spLocks noChangeArrowheads="1"/>
            </p:cNvSpPr>
            <p:nvPr/>
          </p:nvSpPr>
          <p:spPr bwMode="auto">
            <a:xfrm>
              <a:off x="144" y="0"/>
              <a:ext cx="2208"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a:t>程序</a:t>
              </a:r>
            </a:p>
          </p:txBody>
        </p:sp>
      </p:gr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a:extLst>
              <a:ext uri="{FF2B5EF4-FFF2-40B4-BE49-F238E27FC236}">
                <a16:creationId xmlns:a16="http://schemas.microsoft.com/office/drawing/2014/main" id="{5DBB5E39-3D5B-A31E-6053-8B1C01B85F2B}"/>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Tx/>
              <a:buNone/>
            </a:pPr>
            <a:fld id="{1406077E-3447-47C2-92D0-0F3046D7BC9A}" type="slidenum">
              <a:rPr lang="zh-CN" altLang="en-US" sz="1400"/>
              <a:pPr algn="r" eaLnBrk="1" hangingPunct="1">
                <a:spcBef>
                  <a:spcPct val="50000"/>
                </a:spcBef>
                <a:buFontTx/>
                <a:buNone/>
              </a:pPr>
              <a:t>14</a:t>
            </a:fld>
            <a:endParaRPr lang="zh-CN" altLang="en-US" sz="1400"/>
          </a:p>
        </p:txBody>
      </p:sp>
      <p:sp>
        <p:nvSpPr>
          <p:cNvPr id="36867" name="标题 1">
            <a:extLst>
              <a:ext uri="{FF2B5EF4-FFF2-40B4-BE49-F238E27FC236}">
                <a16:creationId xmlns:a16="http://schemas.microsoft.com/office/drawing/2014/main" id="{9AED325E-AA0A-F7FF-C629-76837836A331}"/>
              </a:ext>
            </a:extLst>
          </p:cNvPr>
          <p:cNvSpPr>
            <a:spLocks noGrp="1" noChangeArrowheads="1"/>
          </p:cNvSpPr>
          <p:nvPr>
            <p:ph type="title"/>
          </p:nvPr>
        </p:nvSpPr>
        <p:spPr/>
        <p:txBody>
          <a:bodyPr/>
          <a:lstStyle/>
          <a:p>
            <a:endParaRPr lang="zh-CN" altLang="en-US"/>
          </a:p>
        </p:txBody>
      </p:sp>
      <p:sp>
        <p:nvSpPr>
          <p:cNvPr id="36868" name="内容占位符 2">
            <a:extLst>
              <a:ext uri="{FF2B5EF4-FFF2-40B4-BE49-F238E27FC236}">
                <a16:creationId xmlns:a16="http://schemas.microsoft.com/office/drawing/2014/main" id="{E3E0E80D-54FE-CAF5-407A-E118367FC44D}"/>
              </a:ext>
            </a:extLst>
          </p:cNvPr>
          <p:cNvSpPr>
            <a:spLocks noGrp="1" noChangeArrowheads="1"/>
          </p:cNvSpPr>
          <p:nvPr>
            <p:ph idx="1"/>
          </p:nvPr>
        </p:nvSpPr>
        <p:spPr/>
        <p:txBody>
          <a:bodyPr/>
          <a:lstStyle/>
          <a:p>
            <a:endParaRPr lang="zh-CN" altLang="en-US"/>
          </a:p>
        </p:txBody>
      </p:sp>
      <p:sp>
        <p:nvSpPr>
          <p:cNvPr id="139268" name="Line 5">
            <a:extLst>
              <a:ext uri="{FF2B5EF4-FFF2-40B4-BE49-F238E27FC236}">
                <a16:creationId xmlns:a16="http://schemas.microsoft.com/office/drawing/2014/main" id="{8CD05DB4-751A-7DCF-870F-F191FFA30890}"/>
              </a:ext>
            </a:extLst>
          </p:cNvPr>
          <p:cNvSpPr>
            <a:spLocks noChangeShapeType="1"/>
          </p:cNvSpPr>
          <p:nvPr/>
        </p:nvSpPr>
        <p:spPr bwMode="auto">
          <a:xfrm>
            <a:off x="493713" y="5108575"/>
            <a:ext cx="685800" cy="0"/>
          </a:xfrm>
          <a:prstGeom prst="line">
            <a:avLst/>
          </a:prstGeom>
          <a:noFill/>
          <a:ln w="57150">
            <a:solidFill>
              <a:srgbClr val="66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269" name="Line 6">
            <a:extLst>
              <a:ext uri="{FF2B5EF4-FFF2-40B4-BE49-F238E27FC236}">
                <a16:creationId xmlns:a16="http://schemas.microsoft.com/office/drawing/2014/main" id="{32C79F60-AFC9-B531-1C1D-0C1C13B4203E}"/>
              </a:ext>
            </a:extLst>
          </p:cNvPr>
          <p:cNvSpPr>
            <a:spLocks noChangeShapeType="1"/>
          </p:cNvSpPr>
          <p:nvPr/>
        </p:nvSpPr>
        <p:spPr bwMode="auto">
          <a:xfrm flipV="1">
            <a:off x="493713" y="5489575"/>
            <a:ext cx="685800" cy="0"/>
          </a:xfrm>
          <a:prstGeom prst="line">
            <a:avLst/>
          </a:prstGeom>
          <a:noFill/>
          <a:ln w="38100">
            <a:solidFill>
              <a:srgbClr val="402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270" name="Text Box 7">
            <a:extLst>
              <a:ext uri="{FF2B5EF4-FFF2-40B4-BE49-F238E27FC236}">
                <a16:creationId xmlns:a16="http://schemas.microsoft.com/office/drawing/2014/main" id="{A25E6F64-2EEC-91D9-489D-122AC1CCB69D}"/>
              </a:ext>
            </a:extLst>
          </p:cNvPr>
          <p:cNvSpPr txBox="1">
            <a:spLocks noChangeArrowheads="1"/>
          </p:cNvSpPr>
          <p:nvPr/>
        </p:nvSpPr>
        <p:spPr bwMode="auto">
          <a:xfrm>
            <a:off x="1331913" y="4940300"/>
            <a:ext cx="2743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latin typeface="宋体" panose="02010600030101010101" pitchFamily="2" charset="-122"/>
              </a:rPr>
              <a:t>数据总线</a:t>
            </a:r>
            <a:r>
              <a:rPr lang="zh-CN" altLang="en-US" sz="2000"/>
              <a:t> </a:t>
            </a:r>
          </a:p>
        </p:txBody>
      </p:sp>
      <p:sp>
        <p:nvSpPr>
          <p:cNvPr id="139271" name="Text Box 8">
            <a:extLst>
              <a:ext uri="{FF2B5EF4-FFF2-40B4-BE49-F238E27FC236}">
                <a16:creationId xmlns:a16="http://schemas.microsoft.com/office/drawing/2014/main" id="{B86D9F1D-CD2C-C6BB-AFFA-529AAE15F69F}"/>
              </a:ext>
            </a:extLst>
          </p:cNvPr>
          <p:cNvSpPr txBox="1">
            <a:spLocks noChangeArrowheads="1"/>
          </p:cNvSpPr>
          <p:nvPr/>
        </p:nvSpPr>
        <p:spPr bwMode="auto">
          <a:xfrm>
            <a:off x="1331913" y="5321300"/>
            <a:ext cx="2743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latin typeface="宋体" panose="02010600030101010101" pitchFamily="2" charset="-122"/>
              </a:rPr>
              <a:t>控制路线</a:t>
            </a:r>
            <a:r>
              <a:rPr lang="zh-CN" altLang="en-US" sz="2000"/>
              <a:t> </a:t>
            </a:r>
          </a:p>
        </p:txBody>
      </p:sp>
      <p:sp>
        <p:nvSpPr>
          <p:cNvPr id="139272" name="Line 9">
            <a:extLst>
              <a:ext uri="{FF2B5EF4-FFF2-40B4-BE49-F238E27FC236}">
                <a16:creationId xmlns:a16="http://schemas.microsoft.com/office/drawing/2014/main" id="{9C5B44A0-72DA-029C-FEF1-E76B45FD32C4}"/>
              </a:ext>
            </a:extLst>
          </p:cNvPr>
          <p:cNvSpPr>
            <a:spLocks noChangeShapeType="1"/>
          </p:cNvSpPr>
          <p:nvPr/>
        </p:nvSpPr>
        <p:spPr bwMode="auto">
          <a:xfrm>
            <a:off x="6561138" y="5489575"/>
            <a:ext cx="685800" cy="0"/>
          </a:xfrm>
          <a:prstGeom prst="line">
            <a:avLst/>
          </a:prstGeom>
          <a:noFill/>
          <a:ln w="5715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273" name="Text Box 10">
            <a:extLst>
              <a:ext uri="{FF2B5EF4-FFF2-40B4-BE49-F238E27FC236}">
                <a16:creationId xmlns:a16="http://schemas.microsoft.com/office/drawing/2014/main" id="{58CEDA7E-9344-45EC-D6CD-0227DCCC7817}"/>
              </a:ext>
            </a:extLst>
          </p:cNvPr>
          <p:cNvSpPr txBox="1">
            <a:spLocks noChangeArrowheads="1"/>
          </p:cNvSpPr>
          <p:nvPr/>
        </p:nvSpPr>
        <p:spPr bwMode="auto">
          <a:xfrm>
            <a:off x="7092950" y="5373688"/>
            <a:ext cx="2743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latin typeface="宋体" panose="02010600030101010101" pitchFamily="2" charset="-122"/>
              </a:rPr>
              <a:t> 地址总线</a:t>
            </a:r>
            <a:r>
              <a:rPr lang="zh-CN" altLang="en-US" sz="2000"/>
              <a:t> </a:t>
            </a:r>
          </a:p>
        </p:txBody>
      </p:sp>
      <p:sp>
        <p:nvSpPr>
          <p:cNvPr id="139274" name="Rectangle 11">
            <a:extLst>
              <a:ext uri="{FF2B5EF4-FFF2-40B4-BE49-F238E27FC236}">
                <a16:creationId xmlns:a16="http://schemas.microsoft.com/office/drawing/2014/main" id="{EA5C9B14-2253-ABD5-067F-DB66EAA669D2}"/>
              </a:ext>
            </a:extLst>
          </p:cNvPr>
          <p:cNvSpPr>
            <a:spLocks noChangeArrowheads="1"/>
          </p:cNvSpPr>
          <p:nvPr/>
        </p:nvSpPr>
        <p:spPr bwMode="auto">
          <a:xfrm>
            <a:off x="2779713" y="3152775"/>
            <a:ext cx="3352800" cy="2362200"/>
          </a:xfrm>
          <a:prstGeom prst="rect">
            <a:avLst/>
          </a:prstGeom>
          <a:gradFill rotWithShape="0">
            <a:gsLst>
              <a:gs pos="0">
                <a:srgbClr val="C27C00"/>
              </a:gs>
              <a:gs pos="50000">
                <a:srgbClr val="412900"/>
              </a:gs>
              <a:gs pos="100000">
                <a:srgbClr val="C27C00"/>
              </a:gs>
            </a:gsLst>
            <a:lin ang="18900000" scaled="1"/>
          </a:gradFill>
          <a:ln w="28575">
            <a:solidFill>
              <a:srgbClr val="FFB735"/>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1800"/>
          </a:p>
        </p:txBody>
      </p:sp>
      <p:grpSp>
        <p:nvGrpSpPr>
          <p:cNvPr id="139275" name="Group 12">
            <a:extLst>
              <a:ext uri="{FF2B5EF4-FFF2-40B4-BE49-F238E27FC236}">
                <a16:creationId xmlns:a16="http://schemas.microsoft.com/office/drawing/2014/main" id="{1B5BD014-9D5E-B887-EDEB-7E43F033C83A}"/>
              </a:ext>
            </a:extLst>
          </p:cNvPr>
          <p:cNvGrpSpPr>
            <a:grpSpLocks/>
          </p:cNvGrpSpPr>
          <p:nvPr/>
        </p:nvGrpSpPr>
        <p:grpSpPr bwMode="auto">
          <a:xfrm>
            <a:off x="2779713" y="3152775"/>
            <a:ext cx="3048000" cy="461963"/>
            <a:chOff x="0" y="0"/>
            <a:chExt cx="912" cy="340"/>
          </a:xfrm>
        </p:grpSpPr>
        <p:sp>
          <p:nvSpPr>
            <p:cNvPr id="36912" name="Rectangle 13">
              <a:extLst>
                <a:ext uri="{FF2B5EF4-FFF2-40B4-BE49-F238E27FC236}">
                  <a16:creationId xmlns:a16="http://schemas.microsoft.com/office/drawing/2014/main" id="{50EFF3DB-264E-2E9F-673F-4C9B521A9379}"/>
                </a:ext>
              </a:extLst>
            </p:cNvPr>
            <p:cNvSpPr>
              <a:spLocks noChangeArrowheads="1"/>
            </p:cNvSpPr>
            <p:nvPr/>
          </p:nvSpPr>
          <p:spPr bwMode="auto">
            <a:xfrm>
              <a:off x="0" y="0"/>
              <a:ext cx="912"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1800"/>
            </a:p>
          </p:txBody>
        </p:sp>
        <p:sp>
          <p:nvSpPr>
            <p:cNvPr id="36913" name="Text Box 14">
              <a:extLst>
                <a:ext uri="{FF2B5EF4-FFF2-40B4-BE49-F238E27FC236}">
                  <a16:creationId xmlns:a16="http://schemas.microsoft.com/office/drawing/2014/main" id="{DA9FD834-C8AC-61B7-EE83-CE01F32EE5AA}"/>
                </a:ext>
              </a:extLst>
            </p:cNvPr>
            <p:cNvSpPr txBox="1">
              <a:spLocks noChangeArrowheads="1"/>
            </p:cNvSpPr>
            <p:nvPr/>
          </p:nvSpPr>
          <p:spPr bwMode="auto">
            <a:xfrm>
              <a:off x="48" y="48"/>
              <a:ext cx="76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FontTx/>
                <a:buNone/>
              </a:pPr>
              <a:r>
                <a:rPr lang="zh-CN" altLang="en-US" sz="2000">
                  <a:solidFill>
                    <a:srgbClr val="FF3300"/>
                  </a:solidFill>
                </a:rPr>
                <a:t>中央处理器（</a:t>
              </a:r>
              <a:r>
                <a:rPr lang="en-US" altLang="zh-CN" sz="2000">
                  <a:solidFill>
                    <a:srgbClr val="FF3300"/>
                  </a:solidFill>
                </a:rPr>
                <a:t>CPU</a:t>
              </a:r>
              <a:r>
                <a:rPr lang="zh-CN" altLang="en-US" sz="2000">
                  <a:solidFill>
                    <a:srgbClr val="FF3300"/>
                  </a:solidFill>
                </a:rPr>
                <a:t>）</a:t>
              </a:r>
            </a:p>
          </p:txBody>
        </p:sp>
      </p:grpSp>
      <p:grpSp>
        <p:nvGrpSpPr>
          <p:cNvPr id="139278" name="Group 15">
            <a:extLst>
              <a:ext uri="{FF2B5EF4-FFF2-40B4-BE49-F238E27FC236}">
                <a16:creationId xmlns:a16="http://schemas.microsoft.com/office/drawing/2014/main" id="{8044B356-177D-7534-AFD7-764D7B15D9F3}"/>
              </a:ext>
            </a:extLst>
          </p:cNvPr>
          <p:cNvGrpSpPr>
            <a:grpSpLocks/>
          </p:cNvGrpSpPr>
          <p:nvPr/>
        </p:nvGrpSpPr>
        <p:grpSpPr bwMode="auto">
          <a:xfrm>
            <a:off x="3998913" y="4676775"/>
            <a:ext cx="1676400" cy="609600"/>
            <a:chOff x="0" y="0"/>
            <a:chExt cx="912" cy="336"/>
          </a:xfrm>
        </p:grpSpPr>
        <p:sp>
          <p:nvSpPr>
            <p:cNvPr id="36910" name="Rectangle 16">
              <a:extLst>
                <a:ext uri="{FF2B5EF4-FFF2-40B4-BE49-F238E27FC236}">
                  <a16:creationId xmlns:a16="http://schemas.microsoft.com/office/drawing/2014/main" id="{E1C4A51C-7624-7A63-34D4-01D8677E4AB8}"/>
                </a:ext>
              </a:extLst>
            </p:cNvPr>
            <p:cNvSpPr>
              <a:spLocks noChangeArrowheads="1"/>
            </p:cNvSpPr>
            <p:nvPr/>
          </p:nvSpPr>
          <p:spPr bwMode="auto">
            <a:xfrm>
              <a:off x="0" y="0"/>
              <a:ext cx="912" cy="336"/>
            </a:xfrm>
            <a:prstGeom prst="rect">
              <a:avLst/>
            </a:prstGeom>
            <a:gradFill rotWithShape="0">
              <a:gsLst>
                <a:gs pos="0">
                  <a:srgbClr val="C27C00"/>
                </a:gs>
                <a:gs pos="50000">
                  <a:srgbClr val="412900"/>
                </a:gs>
                <a:gs pos="100000">
                  <a:srgbClr val="C27C00"/>
                </a:gs>
              </a:gsLst>
              <a:lin ang="18900000" scaled="1"/>
            </a:gradFill>
            <a:ln w="28575">
              <a:solidFill>
                <a:srgbClr val="FFB735"/>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1800"/>
            </a:p>
          </p:txBody>
        </p:sp>
        <p:sp>
          <p:nvSpPr>
            <p:cNvPr id="36911" name="Text Box 17">
              <a:extLst>
                <a:ext uri="{FF2B5EF4-FFF2-40B4-BE49-F238E27FC236}">
                  <a16:creationId xmlns:a16="http://schemas.microsoft.com/office/drawing/2014/main" id="{890D7364-B1F9-CFE0-D2B8-EA8F7136DDF2}"/>
                </a:ext>
              </a:extLst>
            </p:cNvPr>
            <p:cNvSpPr txBox="1">
              <a:spLocks noChangeArrowheads="1"/>
            </p:cNvSpPr>
            <p:nvPr/>
          </p:nvSpPr>
          <p:spPr bwMode="auto">
            <a:xfrm>
              <a:off x="48" y="48"/>
              <a:ext cx="768"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FontTx/>
                <a:buNone/>
              </a:pPr>
              <a:r>
                <a:rPr lang="zh-CN" altLang="en-US" sz="2200">
                  <a:solidFill>
                    <a:schemeClr val="bg1"/>
                  </a:solidFill>
                </a:rPr>
                <a:t>控制部件</a:t>
              </a:r>
            </a:p>
          </p:txBody>
        </p:sp>
      </p:grpSp>
      <p:grpSp>
        <p:nvGrpSpPr>
          <p:cNvPr id="139281" name="Group 62">
            <a:extLst>
              <a:ext uri="{FF2B5EF4-FFF2-40B4-BE49-F238E27FC236}">
                <a16:creationId xmlns:a16="http://schemas.microsoft.com/office/drawing/2014/main" id="{74236282-B575-19F7-A9F8-051F7C0A3FE6}"/>
              </a:ext>
            </a:extLst>
          </p:cNvPr>
          <p:cNvGrpSpPr>
            <a:grpSpLocks/>
          </p:cNvGrpSpPr>
          <p:nvPr/>
        </p:nvGrpSpPr>
        <p:grpSpPr bwMode="auto">
          <a:xfrm>
            <a:off x="2484438" y="2535238"/>
            <a:ext cx="1512887" cy="669925"/>
            <a:chOff x="0" y="0"/>
            <a:chExt cx="953" cy="422"/>
          </a:xfrm>
        </p:grpSpPr>
        <p:sp>
          <p:nvSpPr>
            <p:cNvPr id="36908" name="Line 19">
              <a:extLst>
                <a:ext uri="{FF2B5EF4-FFF2-40B4-BE49-F238E27FC236}">
                  <a16:creationId xmlns:a16="http://schemas.microsoft.com/office/drawing/2014/main" id="{11C4D84D-B838-8D47-1FE8-12F13E9737CC}"/>
                </a:ext>
              </a:extLst>
            </p:cNvPr>
            <p:cNvSpPr>
              <a:spLocks noChangeShapeType="1"/>
            </p:cNvSpPr>
            <p:nvPr/>
          </p:nvSpPr>
          <p:spPr bwMode="auto">
            <a:xfrm flipV="1">
              <a:off x="897" y="0"/>
              <a:ext cx="0" cy="387"/>
            </a:xfrm>
            <a:prstGeom prst="line">
              <a:avLst/>
            </a:prstGeom>
            <a:noFill/>
            <a:ln w="57150">
              <a:solidFill>
                <a:srgbClr val="66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909" name="Text Box 21">
              <a:extLst>
                <a:ext uri="{FF2B5EF4-FFF2-40B4-BE49-F238E27FC236}">
                  <a16:creationId xmlns:a16="http://schemas.microsoft.com/office/drawing/2014/main" id="{F60627A3-2E9F-D759-6300-98A31820EC95}"/>
                </a:ext>
              </a:extLst>
            </p:cNvPr>
            <p:cNvSpPr txBox="1">
              <a:spLocks noChangeArrowheads="1"/>
            </p:cNvSpPr>
            <p:nvPr/>
          </p:nvSpPr>
          <p:spPr bwMode="auto">
            <a:xfrm>
              <a:off x="0" y="18"/>
              <a:ext cx="953" cy="404"/>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imes New Roman" panose="02020603050405020304" pitchFamily="18" charset="0"/>
                  <a:ea typeface="宋体" panose="02010600030101010101" pitchFamily="2" charset="-122"/>
                </a:defRPr>
              </a:lvl1pPr>
              <a:lvl2pPr marL="742950" indent="-285750">
                <a:defRPr b="1">
                  <a:solidFill>
                    <a:schemeClr val="tx1"/>
                  </a:solidFill>
                  <a:latin typeface="Times New Roman" panose="02020603050405020304" pitchFamily="18" charset="0"/>
                  <a:ea typeface="宋体" panose="02010600030101010101" pitchFamily="2" charset="-122"/>
                </a:defRPr>
              </a:lvl2pPr>
              <a:lvl3pPr marL="1143000" indent="-228600">
                <a:defRPr b="1">
                  <a:solidFill>
                    <a:schemeClr val="tx1"/>
                  </a:solidFill>
                  <a:latin typeface="Times New Roman" panose="02020603050405020304" pitchFamily="18" charset="0"/>
                  <a:ea typeface="宋体" panose="02010600030101010101" pitchFamily="2" charset="-122"/>
                </a:defRPr>
              </a:lvl3pPr>
              <a:lvl4pPr marL="1600200" indent="-228600">
                <a:defRPr b="1">
                  <a:solidFill>
                    <a:schemeClr val="tx1"/>
                  </a:solidFill>
                  <a:latin typeface="Times New Roman" panose="02020603050405020304" pitchFamily="18" charset="0"/>
                  <a:ea typeface="宋体" panose="02010600030101010101" pitchFamily="2" charset="-122"/>
                </a:defRPr>
              </a:lvl4pPr>
              <a:lvl5pPr marL="2057400" indent="-22860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rgbClr val="6600FF"/>
                  </a:solidFill>
                </a:rPr>
                <a:t>操作数</a:t>
              </a:r>
              <a:r>
                <a:rPr lang="en-US" altLang="zh-CN">
                  <a:solidFill>
                    <a:srgbClr val="6600FF"/>
                  </a:solidFill>
                </a:rPr>
                <a:t>/</a:t>
              </a:r>
              <a:r>
                <a:rPr lang="zh-CN" altLang="en-US">
                  <a:solidFill>
                    <a:srgbClr val="6600FF"/>
                  </a:solidFill>
                </a:rPr>
                <a:t>运算结果</a:t>
              </a:r>
              <a:r>
                <a:rPr lang="en-US" altLang="zh-CN">
                  <a:solidFill>
                    <a:srgbClr val="6600FF"/>
                  </a:solidFill>
                </a:rPr>
                <a:t>/</a:t>
              </a:r>
              <a:r>
                <a:rPr lang="zh-CN" altLang="en-US">
                  <a:solidFill>
                    <a:srgbClr val="6600FF"/>
                  </a:solidFill>
                </a:rPr>
                <a:t>指令</a:t>
              </a:r>
            </a:p>
          </p:txBody>
        </p:sp>
      </p:grpSp>
      <p:grpSp>
        <p:nvGrpSpPr>
          <p:cNvPr id="139284" name="Group 64">
            <a:extLst>
              <a:ext uri="{FF2B5EF4-FFF2-40B4-BE49-F238E27FC236}">
                <a16:creationId xmlns:a16="http://schemas.microsoft.com/office/drawing/2014/main" id="{8582455E-DF7D-0955-E408-A25F7EA9C76D}"/>
              </a:ext>
            </a:extLst>
          </p:cNvPr>
          <p:cNvGrpSpPr>
            <a:grpSpLocks/>
          </p:cNvGrpSpPr>
          <p:nvPr/>
        </p:nvGrpSpPr>
        <p:grpSpPr bwMode="auto">
          <a:xfrm>
            <a:off x="5108575" y="2535238"/>
            <a:ext cx="1479550" cy="614362"/>
            <a:chOff x="0" y="0"/>
            <a:chExt cx="932" cy="387"/>
          </a:xfrm>
        </p:grpSpPr>
        <p:sp>
          <p:nvSpPr>
            <p:cNvPr id="36906" name="Line 20">
              <a:extLst>
                <a:ext uri="{FF2B5EF4-FFF2-40B4-BE49-F238E27FC236}">
                  <a16:creationId xmlns:a16="http://schemas.microsoft.com/office/drawing/2014/main" id="{3AE88FF3-3D98-A556-0DAD-8CC1609E6CE8}"/>
                </a:ext>
              </a:extLst>
            </p:cNvPr>
            <p:cNvSpPr>
              <a:spLocks noChangeShapeType="1"/>
            </p:cNvSpPr>
            <p:nvPr/>
          </p:nvSpPr>
          <p:spPr bwMode="auto">
            <a:xfrm flipV="1">
              <a:off x="45" y="0"/>
              <a:ext cx="0" cy="387"/>
            </a:xfrm>
            <a:prstGeom prst="line">
              <a:avLst/>
            </a:prstGeom>
            <a:noFill/>
            <a:ln w="381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907" name="Text Box 22">
              <a:extLst>
                <a:ext uri="{FF2B5EF4-FFF2-40B4-BE49-F238E27FC236}">
                  <a16:creationId xmlns:a16="http://schemas.microsoft.com/office/drawing/2014/main" id="{C34EB3A9-D6EE-F3F2-8D99-736F7E79EA31}"/>
                </a:ext>
              </a:extLst>
            </p:cNvPr>
            <p:cNvSpPr txBox="1">
              <a:spLocks noChangeArrowheads="1"/>
            </p:cNvSpPr>
            <p:nvPr/>
          </p:nvSpPr>
          <p:spPr bwMode="auto">
            <a:xfrm>
              <a:off x="0" y="119"/>
              <a:ext cx="932" cy="25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imes New Roman" panose="02020603050405020304" pitchFamily="18" charset="0"/>
                  <a:ea typeface="宋体" panose="02010600030101010101" pitchFamily="2" charset="-122"/>
                </a:defRPr>
              </a:lvl1pPr>
              <a:lvl2pPr marL="742950" indent="-285750">
                <a:defRPr b="1">
                  <a:solidFill>
                    <a:schemeClr val="tx1"/>
                  </a:solidFill>
                  <a:latin typeface="Times New Roman" panose="02020603050405020304" pitchFamily="18" charset="0"/>
                  <a:ea typeface="宋体" panose="02010600030101010101" pitchFamily="2" charset="-122"/>
                </a:defRPr>
              </a:lvl2pPr>
              <a:lvl3pPr marL="1143000" indent="-228600">
                <a:defRPr b="1">
                  <a:solidFill>
                    <a:schemeClr val="tx1"/>
                  </a:solidFill>
                  <a:latin typeface="Times New Roman" panose="02020603050405020304" pitchFamily="18" charset="0"/>
                  <a:ea typeface="宋体" panose="02010600030101010101" pitchFamily="2" charset="-122"/>
                </a:defRPr>
              </a:lvl3pPr>
              <a:lvl4pPr marL="1600200" indent="-228600">
                <a:defRPr b="1">
                  <a:solidFill>
                    <a:schemeClr val="tx1"/>
                  </a:solidFill>
                  <a:latin typeface="Times New Roman" panose="02020603050405020304" pitchFamily="18" charset="0"/>
                  <a:ea typeface="宋体" panose="02010600030101010101" pitchFamily="2" charset="-122"/>
                </a:defRPr>
              </a:lvl4pPr>
              <a:lvl5pPr marL="2057400" indent="-22860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a:t>读</a:t>
              </a:r>
              <a:r>
                <a:rPr lang="en-US" altLang="zh-CN" sz="2000"/>
                <a:t>/</a:t>
              </a:r>
              <a:r>
                <a:rPr lang="zh-CN" altLang="en-US" sz="2000"/>
                <a:t>写信号</a:t>
              </a:r>
            </a:p>
          </p:txBody>
        </p:sp>
      </p:grpSp>
      <p:grpSp>
        <p:nvGrpSpPr>
          <p:cNvPr id="139287" name="Group 63">
            <a:extLst>
              <a:ext uri="{FF2B5EF4-FFF2-40B4-BE49-F238E27FC236}">
                <a16:creationId xmlns:a16="http://schemas.microsoft.com/office/drawing/2014/main" id="{BECAB428-29A6-8784-F85B-BACC6D4757D5}"/>
              </a:ext>
            </a:extLst>
          </p:cNvPr>
          <p:cNvGrpSpPr>
            <a:grpSpLocks/>
          </p:cNvGrpSpPr>
          <p:nvPr/>
        </p:nvGrpSpPr>
        <p:grpSpPr bwMode="auto">
          <a:xfrm>
            <a:off x="4067175" y="2508250"/>
            <a:ext cx="792163" cy="614363"/>
            <a:chOff x="0" y="0"/>
            <a:chExt cx="499" cy="387"/>
          </a:xfrm>
        </p:grpSpPr>
        <p:sp>
          <p:nvSpPr>
            <p:cNvPr id="36904" name="Line 23">
              <a:extLst>
                <a:ext uri="{FF2B5EF4-FFF2-40B4-BE49-F238E27FC236}">
                  <a16:creationId xmlns:a16="http://schemas.microsoft.com/office/drawing/2014/main" id="{C1F23CD0-46FB-EBED-7B16-797C2C6E51DD}"/>
                </a:ext>
              </a:extLst>
            </p:cNvPr>
            <p:cNvSpPr>
              <a:spLocks noChangeShapeType="1"/>
            </p:cNvSpPr>
            <p:nvPr/>
          </p:nvSpPr>
          <p:spPr bwMode="auto">
            <a:xfrm flipV="1">
              <a:off x="384" y="0"/>
              <a:ext cx="0" cy="387"/>
            </a:xfrm>
            <a:prstGeom prst="line">
              <a:avLst/>
            </a:prstGeom>
            <a:noFill/>
            <a:ln w="5715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905" name="Text Box 24">
              <a:extLst>
                <a:ext uri="{FF2B5EF4-FFF2-40B4-BE49-F238E27FC236}">
                  <a16:creationId xmlns:a16="http://schemas.microsoft.com/office/drawing/2014/main" id="{3199D1BB-A006-C038-6E13-B68745F2F68B}"/>
                </a:ext>
              </a:extLst>
            </p:cNvPr>
            <p:cNvSpPr txBox="1">
              <a:spLocks noChangeArrowheads="1"/>
            </p:cNvSpPr>
            <p:nvPr/>
          </p:nvSpPr>
          <p:spPr bwMode="auto">
            <a:xfrm>
              <a:off x="0" y="126"/>
              <a:ext cx="499" cy="231"/>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imes New Roman" panose="02020603050405020304" pitchFamily="18" charset="0"/>
                  <a:ea typeface="宋体" panose="02010600030101010101" pitchFamily="2" charset="-122"/>
                </a:defRPr>
              </a:lvl1pPr>
              <a:lvl2pPr marL="742950" indent="-285750">
                <a:defRPr b="1">
                  <a:solidFill>
                    <a:schemeClr val="tx1"/>
                  </a:solidFill>
                  <a:latin typeface="Times New Roman" panose="02020603050405020304" pitchFamily="18" charset="0"/>
                  <a:ea typeface="宋体" panose="02010600030101010101" pitchFamily="2" charset="-122"/>
                </a:defRPr>
              </a:lvl2pPr>
              <a:lvl3pPr marL="1143000" indent="-228600">
                <a:defRPr b="1">
                  <a:solidFill>
                    <a:schemeClr val="tx1"/>
                  </a:solidFill>
                  <a:latin typeface="Times New Roman" panose="02020603050405020304" pitchFamily="18" charset="0"/>
                  <a:ea typeface="宋体" panose="02010600030101010101" pitchFamily="2" charset="-122"/>
                </a:defRPr>
              </a:lvl3pPr>
              <a:lvl4pPr marL="1600200" indent="-228600">
                <a:defRPr b="1">
                  <a:solidFill>
                    <a:schemeClr val="tx1"/>
                  </a:solidFill>
                  <a:latin typeface="Times New Roman" panose="02020603050405020304" pitchFamily="18" charset="0"/>
                  <a:ea typeface="宋体" panose="02010600030101010101" pitchFamily="2" charset="-122"/>
                </a:defRPr>
              </a:lvl4pPr>
              <a:lvl5pPr marL="2057400" indent="-22860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rgbClr val="FF3300"/>
                  </a:solidFill>
                </a:rPr>
                <a:t>地址</a:t>
              </a:r>
            </a:p>
          </p:txBody>
        </p:sp>
      </p:grpSp>
      <p:grpSp>
        <p:nvGrpSpPr>
          <p:cNvPr id="139290" name="Group 26">
            <a:extLst>
              <a:ext uri="{FF2B5EF4-FFF2-40B4-BE49-F238E27FC236}">
                <a16:creationId xmlns:a16="http://schemas.microsoft.com/office/drawing/2014/main" id="{C84DE681-B6B4-65C5-DC9F-721A8705CDD5}"/>
              </a:ext>
            </a:extLst>
          </p:cNvPr>
          <p:cNvGrpSpPr>
            <a:grpSpLocks/>
          </p:cNvGrpSpPr>
          <p:nvPr/>
        </p:nvGrpSpPr>
        <p:grpSpPr bwMode="auto">
          <a:xfrm>
            <a:off x="971550" y="1844675"/>
            <a:ext cx="1676400" cy="609600"/>
            <a:chOff x="0" y="0"/>
            <a:chExt cx="912" cy="336"/>
          </a:xfrm>
        </p:grpSpPr>
        <p:sp>
          <p:nvSpPr>
            <p:cNvPr id="36902" name="Rectangle 27">
              <a:extLst>
                <a:ext uri="{FF2B5EF4-FFF2-40B4-BE49-F238E27FC236}">
                  <a16:creationId xmlns:a16="http://schemas.microsoft.com/office/drawing/2014/main" id="{99530C01-4303-2104-17E1-FD0DD46FEA7A}"/>
                </a:ext>
              </a:extLst>
            </p:cNvPr>
            <p:cNvSpPr>
              <a:spLocks noChangeArrowheads="1"/>
            </p:cNvSpPr>
            <p:nvPr/>
          </p:nvSpPr>
          <p:spPr bwMode="auto">
            <a:xfrm>
              <a:off x="0" y="0"/>
              <a:ext cx="912" cy="336"/>
            </a:xfrm>
            <a:prstGeom prst="rect">
              <a:avLst/>
            </a:prstGeom>
            <a:gradFill rotWithShape="0">
              <a:gsLst>
                <a:gs pos="0">
                  <a:srgbClr val="C27C00"/>
                </a:gs>
                <a:gs pos="50000">
                  <a:srgbClr val="412900"/>
                </a:gs>
                <a:gs pos="100000">
                  <a:srgbClr val="C27C00"/>
                </a:gs>
              </a:gsLst>
              <a:lin ang="18900000" scaled="1"/>
            </a:gradFill>
            <a:ln w="28575">
              <a:solidFill>
                <a:srgbClr val="FFB735"/>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1800"/>
            </a:p>
          </p:txBody>
        </p:sp>
        <p:sp>
          <p:nvSpPr>
            <p:cNvPr id="36903" name="Text Box 28">
              <a:extLst>
                <a:ext uri="{FF2B5EF4-FFF2-40B4-BE49-F238E27FC236}">
                  <a16:creationId xmlns:a16="http://schemas.microsoft.com/office/drawing/2014/main" id="{C9BE557B-4A66-AD6F-3FD4-6731B3778710}"/>
                </a:ext>
              </a:extLst>
            </p:cNvPr>
            <p:cNvSpPr txBox="1">
              <a:spLocks noChangeArrowheads="1"/>
            </p:cNvSpPr>
            <p:nvPr/>
          </p:nvSpPr>
          <p:spPr bwMode="auto">
            <a:xfrm>
              <a:off x="48" y="48"/>
              <a:ext cx="768"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FontTx/>
                <a:buNone/>
              </a:pPr>
              <a:r>
                <a:rPr lang="zh-CN" altLang="en-US" sz="2200">
                  <a:solidFill>
                    <a:schemeClr val="bg1"/>
                  </a:solidFill>
                </a:rPr>
                <a:t>输入设备</a:t>
              </a:r>
            </a:p>
          </p:txBody>
        </p:sp>
      </p:grpSp>
      <p:grpSp>
        <p:nvGrpSpPr>
          <p:cNvPr id="139293" name="Group 29">
            <a:extLst>
              <a:ext uri="{FF2B5EF4-FFF2-40B4-BE49-F238E27FC236}">
                <a16:creationId xmlns:a16="http://schemas.microsoft.com/office/drawing/2014/main" id="{51953BD1-348C-455C-3851-9762E627CF88}"/>
              </a:ext>
            </a:extLst>
          </p:cNvPr>
          <p:cNvGrpSpPr>
            <a:grpSpLocks/>
          </p:cNvGrpSpPr>
          <p:nvPr/>
        </p:nvGrpSpPr>
        <p:grpSpPr bwMode="auto">
          <a:xfrm>
            <a:off x="3617913" y="1844675"/>
            <a:ext cx="1676400" cy="609600"/>
            <a:chOff x="0" y="0"/>
            <a:chExt cx="912" cy="336"/>
          </a:xfrm>
        </p:grpSpPr>
        <p:sp>
          <p:nvSpPr>
            <p:cNvPr id="36900" name="Rectangle 30">
              <a:extLst>
                <a:ext uri="{FF2B5EF4-FFF2-40B4-BE49-F238E27FC236}">
                  <a16:creationId xmlns:a16="http://schemas.microsoft.com/office/drawing/2014/main" id="{766B24C9-45EC-3975-C710-575C87D77EA5}"/>
                </a:ext>
              </a:extLst>
            </p:cNvPr>
            <p:cNvSpPr>
              <a:spLocks noChangeArrowheads="1"/>
            </p:cNvSpPr>
            <p:nvPr/>
          </p:nvSpPr>
          <p:spPr bwMode="auto">
            <a:xfrm>
              <a:off x="0" y="0"/>
              <a:ext cx="912" cy="336"/>
            </a:xfrm>
            <a:prstGeom prst="rect">
              <a:avLst/>
            </a:prstGeom>
            <a:gradFill rotWithShape="0">
              <a:gsLst>
                <a:gs pos="0">
                  <a:srgbClr val="C27C00"/>
                </a:gs>
                <a:gs pos="50000">
                  <a:srgbClr val="412900"/>
                </a:gs>
                <a:gs pos="100000">
                  <a:srgbClr val="C27C00"/>
                </a:gs>
              </a:gsLst>
              <a:lin ang="18900000" scaled="1"/>
            </a:gradFill>
            <a:ln w="28575">
              <a:solidFill>
                <a:srgbClr val="FFB735"/>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1800"/>
            </a:p>
          </p:txBody>
        </p:sp>
        <p:sp>
          <p:nvSpPr>
            <p:cNvPr id="36901" name="Text Box 31">
              <a:extLst>
                <a:ext uri="{FF2B5EF4-FFF2-40B4-BE49-F238E27FC236}">
                  <a16:creationId xmlns:a16="http://schemas.microsoft.com/office/drawing/2014/main" id="{F37B5AE2-79C5-BAE4-C953-84D17EF37EE4}"/>
                </a:ext>
              </a:extLst>
            </p:cNvPr>
            <p:cNvSpPr txBox="1">
              <a:spLocks noChangeArrowheads="1"/>
            </p:cNvSpPr>
            <p:nvPr/>
          </p:nvSpPr>
          <p:spPr bwMode="auto">
            <a:xfrm>
              <a:off x="48" y="48"/>
              <a:ext cx="768"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FontTx/>
                <a:buNone/>
              </a:pPr>
              <a:r>
                <a:rPr lang="zh-CN" altLang="en-US" sz="2200">
                  <a:solidFill>
                    <a:schemeClr val="bg1"/>
                  </a:solidFill>
                </a:rPr>
                <a:t>存储器</a:t>
              </a:r>
            </a:p>
          </p:txBody>
        </p:sp>
      </p:grpSp>
      <p:sp>
        <p:nvSpPr>
          <p:cNvPr id="139296" name="Text Box 36">
            <a:extLst>
              <a:ext uri="{FF2B5EF4-FFF2-40B4-BE49-F238E27FC236}">
                <a16:creationId xmlns:a16="http://schemas.microsoft.com/office/drawing/2014/main" id="{A54C58A1-8B34-F49F-AC56-374E100E9A3F}"/>
              </a:ext>
            </a:extLst>
          </p:cNvPr>
          <p:cNvSpPr txBox="1">
            <a:spLocks noChangeArrowheads="1"/>
          </p:cNvSpPr>
          <p:nvPr/>
        </p:nvSpPr>
        <p:spPr bwMode="auto">
          <a:xfrm>
            <a:off x="2524125" y="1628775"/>
            <a:ext cx="1471613" cy="39687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imes New Roman" panose="02020603050405020304" pitchFamily="18" charset="0"/>
                <a:ea typeface="宋体" panose="02010600030101010101" pitchFamily="2" charset="-122"/>
              </a:defRPr>
            </a:lvl1pPr>
            <a:lvl2pPr marL="742950" indent="-285750">
              <a:defRPr b="1">
                <a:solidFill>
                  <a:schemeClr val="tx1"/>
                </a:solidFill>
                <a:latin typeface="Times New Roman" panose="02020603050405020304" pitchFamily="18" charset="0"/>
                <a:ea typeface="宋体" panose="02010600030101010101" pitchFamily="2" charset="-122"/>
              </a:defRPr>
            </a:lvl2pPr>
            <a:lvl3pPr marL="1143000" indent="-228600">
              <a:defRPr b="1">
                <a:solidFill>
                  <a:schemeClr val="tx1"/>
                </a:solidFill>
                <a:latin typeface="Times New Roman" panose="02020603050405020304" pitchFamily="18" charset="0"/>
                <a:ea typeface="宋体" panose="02010600030101010101" pitchFamily="2" charset="-122"/>
              </a:defRPr>
            </a:lvl3pPr>
            <a:lvl4pPr marL="1600200" indent="-228600">
              <a:defRPr b="1">
                <a:solidFill>
                  <a:schemeClr val="tx1"/>
                </a:solidFill>
                <a:latin typeface="Times New Roman" panose="02020603050405020304" pitchFamily="18" charset="0"/>
                <a:ea typeface="宋体" panose="02010600030101010101" pitchFamily="2" charset="-122"/>
              </a:defRPr>
            </a:lvl4pPr>
            <a:lvl5pPr marL="2057400" indent="-22860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a:solidFill>
                  <a:srgbClr val="6600FF"/>
                </a:solidFill>
              </a:rPr>
              <a:t>输入数据</a:t>
            </a:r>
          </a:p>
        </p:txBody>
      </p:sp>
      <p:sp>
        <p:nvSpPr>
          <p:cNvPr id="139297" name="Line 32">
            <a:extLst>
              <a:ext uri="{FF2B5EF4-FFF2-40B4-BE49-F238E27FC236}">
                <a16:creationId xmlns:a16="http://schemas.microsoft.com/office/drawing/2014/main" id="{F1D59BC7-27E2-6BBE-886E-4ACDA2B3968C}"/>
              </a:ext>
            </a:extLst>
          </p:cNvPr>
          <p:cNvSpPr>
            <a:spLocks noChangeShapeType="1"/>
          </p:cNvSpPr>
          <p:nvPr/>
        </p:nvSpPr>
        <p:spPr bwMode="auto">
          <a:xfrm flipH="1">
            <a:off x="1801813" y="4375150"/>
            <a:ext cx="1017587" cy="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298" name="Line 33">
            <a:extLst>
              <a:ext uri="{FF2B5EF4-FFF2-40B4-BE49-F238E27FC236}">
                <a16:creationId xmlns:a16="http://schemas.microsoft.com/office/drawing/2014/main" id="{1EF5291A-2D6C-0903-610A-22D364F58AFD}"/>
              </a:ext>
            </a:extLst>
          </p:cNvPr>
          <p:cNvSpPr>
            <a:spLocks noChangeShapeType="1"/>
          </p:cNvSpPr>
          <p:nvPr/>
        </p:nvSpPr>
        <p:spPr bwMode="auto">
          <a:xfrm flipV="1">
            <a:off x="1801813" y="2446338"/>
            <a:ext cx="0" cy="1928812"/>
          </a:xfrm>
          <a:prstGeom prst="line">
            <a:avLst/>
          </a:prstGeom>
          <a:noFill/>
          <a:ln w="381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299" name="Text Box 37">
            <a:extLst>
              <a:ext uri="{FF2B5EF4-FFF2-40B4-BE49-F238E27FC236}">
                <a16:creationId xmlns:a16="http://schemas.microsoft.com/office/drawing/2014/main" id="{BD14B7B1-1B52-FDF0-058A-2FEC204962F5}"/>
              </a:ext>
            </a:extLst>
          </p:cNvPr>
          <p:cNvSpPr txBox="1">
            <a:spLocks noChangeArrowheads="1"/>
          </p:cNvSpPr>
          <p:nvPr/>
        </p:nvSpPr>
        <p:spPr bwMode="auto">
          <a:xfrm>
            <a:off x="1371600" y="4435475"/>
            <a:ext cx="1400175" cy="39687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imes New Roman" panose="02020603050405020304" pitchFamily="18" charset="0"/>
                <a:ea typeface="宋体" panose="02010600030101010101" pitchFamily="2" charset="-122"/>
              </a:defRPr>
            </a:lvl1pPr>
            <a:lvl2pPr marL="742950" indent="-285750">
              <a:defRPr b="1">
                <a:solidFill>
                  <a:schemeClr val="tx1"/>
                </a:solidFill>
                <a:latin typeface="Times New Roman" panose="02020603050405020304" pitchFamily="18" charset="0"/>
                <a:ea typeface="宋体" panose="02010600030101010101" pitchFamily="2" charset="-122"/>
              </a:defRPr>
            </a:lvl2pPr>
            <a:lvl3pPr marL="1143000" indent="-228600">
              <a:defRPr b="1">
                <a:solidFill>
                  <a:schemeClr val="tx1"/>
                </a:solidFill>
                <a:latin typeface="Times New Roman" panose="02020603050405020304" pitchFamily="18" charset="0"/>
                <a:ea typeface="宋体" panose="02010600030101010101" pitchFamily="2" charset="-122"/>
              </a:defRPr>
            </a:lvl3pPr>
            <a:lvl4pPr marL="1600200" indent="-228600">
              <a:defRPr b="1">
                <a:solidFill>
                  <a:schemeClr val="tx1"/>
                </a:solidFill>
                <a:latin typeface="Times New Roman" panose="02020603050405020304" pitchFamily="18" charset="0"/>
                <a:ea typeface="宋体" panose="02010600030101010101" pitchFamily="2" charset="-122"/>
              </a:defRPr>
            </a:lvl4pPr>
            <a:lvl5pPr marL="2057400" indent="-22860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a:t>要求输入</a:t>
            </a:r>
          </a:p>
        </p:txBody>
      </p:sp>
      <p:sp>
        <p:nvSpPr>
          <p:cNvPr id="139300" name="Text Box 39">
            <a:extLst>
              <a:ext uri="{FF2B5EF4-FFF2-40B4-BE49-F238E27FC236}">
                <a16:creationId xmlns:a16="http://schemas.microsoft.com/office/drawing/2014/main" id="{A8F1FDE3-6D41-D666-A0EA-DD5CD5C75E01}"/>
              </a:ext>
            </a:extLst>
          </p:cNvPr>
          <p:cNvSpPr txBox="1">
            <a:spLocks noChangeArrowheads="1"/>
          </p:cNvSpPr>
          <p:nvPr/>
        </p:nvSpPr>
        <p:spPr bwMode="auto">
          <a:xfrm>
            <a:off x="5251450" y="1700213"/>
            <a:ext cx="1336675" cy="39687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imes New Roman" panose="02020603050405020304" pitchFamily="18" charset="0"/>
                <a:ea typeface="宋体" panose="02010600030101010101" pitchFamily="2" charset="-122"/>
              </a:defRPr>
            </a:lvl1pPr>
            <a:lvl2pPr marL="742950" indent="-285750">
              <a:defRPr b="1">
                <a:solidFill>
                  <a:schemeClr val="tx1"/>
                </a:solidFill>
                <a:latin typeface="Times New Roman" panose="02020603050405020304" pitchFamily="18" charset="0"/>
                <a:ea typeface="宋体" panose="02010600030101010101" pitchFamily="2" charset="-122"/>
              </a:defRPr>
            </a:lvl2pPr>
            <a:lvl3pPr marL="1143000" indent="-228600">
              <a:defRPr b="1">
                <a:solidFill>
                  <a:schemeClr val="tx1"/>
                </a:solidFill>
                <a:latin typeface="Times New Roman" panose="02020603050405020304" pitchFamily="18" charset="0"/>
                <a:ea typeface="宋体" panose="02010600030101010101" pitchFamily="2" charset="-122"/>
              </a:defRPr>
            </a:lvl3pPr>
            <a:lvl4pPr marL="1600200" indent="-228600">
              <a:defRPr b="1">
                <a:solidFill>
                  <a:schemeClr val="tx1"/>
                </a:solidFill>
                <a:latin typeface="Times New Roman" panose="02020603050405020304" pitchFamily="18" charset="0"/>
                <a:ea typeface="宋体" panose="02010600030101010101" pitchFamily="2" charset="-122"/>
              </a:defRPr>
            </a:lvl4pPr>
            <a:lvl5pPr marL="2057400" indent="-22860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a:solidFill>
                  <a:srgbClr val="6600FF"/>
                </a:solidFill>
              </a:rPr>
              <a:t>输出数据</a:t>
            </a:r>
          </a:p>
        </p:txBody>
      </p:sp>
      <p:sp>
        <p:nvSpPr>
          <p:cNvPr id="139301" name="Line 41">
            <a:extLst>
              <a:ext uri="{FF2B5EF4-FFF2-40B4-BE49-F238E27FC236}">
                <a16:creationId xmlns:a16="http://schemas.microsoft.com/office/drawing/2014/main" id="{142CB0C7-5633-FFB3-FE70-86541FF1C438}"/>
              </a:ext>
            </a:extLst>
          </p:cNvPr>
          <p:cNvSpPr>
            <a:spLocks noChangeShapeType="1"/>
          </p:cNvSpPr>
          <p:nvPr/>
        </p:nvSpPr>
        <p:spPr bwMode="auto">
          <a:xfrm>
            <a:off x="6156325" y="4364038"/>
            <a:ext cx="1250950" cy="11112"/>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9302" name="Line 42">
            <a:extLst>
              <a:ext uri="{FF2B5EF4-FFF2-40B4-BE49-F238E27FC236}">
                <a16:creationId xmlns:a16="http://schemas.microsoft.com/office/drawing/2014/main" id="{216BD1B4-179C-E0A5-0791-3532E0B8309F}"/>
              </a:ext>
            </a:extLst>
          </p:cNvPr>
          <p:cNvSpPr>
            <a:spLocks noChangeShapeType="1"/>
          </p:cNvSpPr>
          <p:nvPr/>
        </p:nvSpPr>
        <p:spPr bwMode="auto">
          <a:xfrm flipV="1">
            <a:off x="7407275" y="2446338"/>
            <a:ext cx="0" cy="1928812"/>
          </a:xfrm>
          <a:prstGeom prst="line">
            <a:avLst/>
          </a:prstGeom>
          <a:noFill/>
          <a:ln w="381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39303" name="Group 43">
            <a:extLst>
              <a:ext uri="{FF2B5EF4-FFF2-40B4-BE49-F238E27FC236}">
                <a16:creationId xmlns:a16="http://schemas.microsoft.com/office/drawing/2014/main" id="{8F86A2A5-FD9D-B45C-2653-862C63B7AE7F}"/>
              </a:ext>
            </a:extLst>
          </p:cNvPr>
          <p:cNvGrpSpPr>
            <a:grpSpLocks/>
          </p:cNvGrpSpPr>
          <p:nvPr/>
        </p:nvGrpSpPr>
        <p:grpSpPr bwMode="auto">
          <a:xfrm>
            <a:off x="6424613" y="1844675"/>
            <a:ext cx="1676400" cy="609600"/>
            <a:chOff x="0" y="0"/>
            <a:chExt cx="912" cy="336"/>
          </a:xfrm>
        </p:grpSpPr>
        <p:sp>
          <p:nvSpPr>
            <p:cNvPr id="36898" name="Rectangle 44">
              <a:extLst>
                <a:ext uri="{FF2B5EF4-FFF2-40B4-BE49-F238E27FC236}">
                  <a16:creationId xmlns:a16="http://schemas.microsoft.com/office/drawing/2014/main" id="{8EFE92DC-B0C7-39C7-F516-620052501ED2}"/>
                </a:ext>
              </a:extLst>
            </p:cNvPr>
            <p:cNvSpPr>
              <a:spLocks noChangeArrowheads="1"/>
            </p:cNvSpPr>
            <p:nvPr/>
          </p:nvSpPr>
          <p:spPr bwMode="auto">
            <a:xfrm>
              <a:off x="0" y="0"/>
              <a:ext cx="912" cy="336"/>
            </a:xfrm>
            <a:prstGeom prst="rect">
              <a:avLst/>
            </a:prstGeom>
            <a:gradFill rotWithShape="0">
              <a:gsLst>
                <a:gs pos="0">
                  <a:srgbClr val="C27C00"/>
                </a:gs>
                <a:gs pos="50000">
                  <a:srgbClr val="412900"/>
                </a:gs>
                <a:gs pos="100000">
                  <a:srgbClr val="C27C00"/>
                </a:gs>
              </a:gsLst>
              <a:lin ang="18900000" scaled="1"/>
            </a:gradFill>
            <a:ln w="28575">
              <a:solidFill>
                <a:srgbClr val="FFB735"/>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1800"/>
            </a:p>
          </p:txBody>
        </p:sp>
        <p:sp>
          <p:nvSpPr>
            <p:cNvPr id="36899" name="Text Box 45">
              <a:extLst>
                <a:ext uri="{FF2B5EF4-FFF2-40B4-BE49-F238E27FC236}">
                  <a16:creationId xmlns:a16="http://schemas.microsoft.com/office/drawing/2014/main" id="{FE023F80-C2CA-2842-1D4C-98F19F8163E5}"/>
                </a:ext>
              </a:extLst>
            </p:cNvPr>
            <p:cNvSpPr txBox="1">
              <a:spLocks noChangeArrowheads="1"/>
            </p:cNvSpPr>
            <p:nvPr/>
          </p:nvSpPr>
          <p:spPr bwMode="auto">
            <a:xfrm>
              <a:off x="48" y="48"/>
              <a:ext cx="768"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FontTx/>
                <a:buNone/>
              </a:pPr>
              <a:r>
                <a:rPr lang="zh-CN" altLang="en-US" sz="2200">
                  <a:solidFill>
                    <a:schemeClr val="bg1"/>
                  </a:solidFill>
                </a:rPr>
                <a:t>输出设备</a:t>
              </a:r>
            </a:p>
          </p:txBody>
        </p:sp>
      </p:grpSp>
      <p:sp>
        <p:nvSpPr>
          <p:cNvPr id="139306" name="Text Box 46">
            <a:extLst>
              <a:ext uri="{FF2B5EF4-FFF2-40B4-BE49-F238E27FC236}">
                <a16:creationId xmlns:a16="http://schemas.microsoft.com/office/drawing/2014/main" id="{B8DCA134-F43E-F99F-F929-8BEE4A5919E4}"/>
              </a:ext>
            </a:extLst>
          </p:cNvPr>
          <p:cNvSpPr txBox="1">
            <a:spLocks noChangeArrowheads="1"/>
          </p:cNvSpPr>
          <p:nvPr/>
        </p:nvSpPr>
        <p:spPr bwMode="auto">
          <a:xfrm>
            <a:off x="6561138" y="4508500"/>
            <a:ext cx="1682750" cy="39687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imes New Roman" panose="02020603050405020304" pitchFamily="18" charset="0"/>
                <a:ea typeface="宋体" panose="02010600030101010101" pitchFamily="2" charset="-122"/>
              </a:defRPr>
            </a:lvl1pPr>
            <a:lvl2pPr marL="742950" indent="-285750">
              <a:defRPr b="1">
                <a:solidFill>
                  <a:schemeClr val="tx1"/>
                </a:solidFill>
                <a:latin typeface="Times New Roman" panose="02020603050405020304" pitchFamily="18" charset="0"/>
                <a:ea typeface="宋体" panose="02010600030101010101" pitchFamily="2" charset="-122"/>
              </a:defRPr>
            </a:lvl2pPr>
            <a:lvl3pPr marL="1143000" indent="-228600">
              <a:defRPr b="1">
                <a:solidFill>
                  <a:schemeClr val="tx1"/>
                </a:solidFill>
                <a:latin typeface="Times New Roman" panose="02020603050405020304" pitchFamily="18" charset="0"/>
                <a:ea typeface="宋体" panose="02010600030101010101" pitchFamily="2" charset="-122"/>
              </a:defRPr>
            </a:lvl3pPr>
            <a:lvl4pPr marL="1600200" indent="-228600">
              <a:defRPr b="1">
                <a:solidFill>
                  <a:schemeClr val="tx1"/>
                </a:solidFill>
                <a:latin typeface="Times New Roman" panose="02020603050405020304" pitchFamily="18" charset="0"/>
                <a:ea typeface="宋体" panose="02010600030101010101" pitchFamily="2" charset="-122"/>
              </a:defRPr>
            </a:lvl4pPr>
            <a:lvl5pPr marL="2057400" indent="-228600">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a:t>要求输出</a:t>
            </a:r>
          </a:p>
        </p:txBody>
      </p:sp>
      <p:grpSp>
        <p:nvGrpSpPr>
          <p:cNvPr id="139307" name="Group 47">
            <a:extLst>
              <a:ext uri="{FF2B5EF4-FFF2-40B4-BE49-F238E27FC236}">
                <a16:creationId xmlns:a16="http://schemas.microsoft.com/office/drawing/2014/main" id="{ED571ABB-F8C9-6F86-8C62-B661BB2B9853}"/>
              </a:ext>
            </a:extLst>
          </p:cNvPr>
          <p:cNvGrpSpPr>
            <a:grpSpLocks/>
          </p:cNvGrpSpPr>
          <p:nvPr/>
        </p:nvGrpSpPr>
        <p:grpSpPr bwMode="auto">
          <a:xfrm>
            <a:off x="4067175" y="3698875"/>
            <a:ext cx="1676400" cy="609600"/>
            <a:chOff x="0" y="0"/>
            <a:chExt cx="912" cy="336"/>
          </a:xfrm>
        </p:grpSpPr>
        <p:sp>
          <p:nvSpPr>
            <p:cNvPr id="36896" name="Rectangle 48">
              <a:extLst>
                <a:ext uri="{FF2B5EF4-FFF2-40B4-BE49-F238E27FC236}">
                  <a16:creationId xmlns:a16="http://schemas.microsoft.com/office/drawing/2014/main" id="{01D743C9-4D2C-1511-3AFE-9ABA69DCC1D8}"/>
                </a:ext>
              </a:extLst>
            </p:cNvPr>
            <p:cNvSpPr>
              <a:spLocks noChangeArrowheads="1"/>
            </p:cNvSpPr>
            <p:nvPr/>
          </p:nvSpPr>
          <p:spPr bwMode="auto">
            <a:xfrm>
              <a:off x="0" y="0"/>
              <a:ext cx="912" cy="336"/>
            </a:xfrm>
            <a:prstGeom prst="rect">
              <a:avLst/>
            </a:prstGeom>
            <a:gradFill rotWithShape="0">
              <a:gsLst>
                <a:gs pos="0">
                  <a:srgbClr val="C27C00"/>
                </a:gs>
                <a:gs pos="50000">
                  <a:srgbClr val="412900"/>
                </a:gs>
                <a:gs pos="100000">
                  <a:srgbClr val="C27C00"/>
                </a:gs>
              </a:gsLst>
              <a:lin ang="18900000" scaled="1"/>
            </a:gradFill>
            <a:ln w="28575">
              <a:solidFill>
                <a:srgbClr val="FFB735"/>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1800"/>
            </a:p>
          </p:txBody>
        </p:sp>
        <p:sp>
          <p:nvSpPr>
            <p:cNvPr id="36897" name="Text Box 49">
              <a:extLst>
                <a:ext uri="{FF2B5EF4-FFF2-40B4-BE49-F238E27FC236}">
                  <a16:creationId xmlns:a16="http://schemas.microsoft.com/office/drawing/2014/main" id="{5C3DDB35-D1B9-B18F-0E75-15E35FA15852}"/>
                </a:ext>
              </a:extLst>
            </p:cNvPr>
            <p:cNvSpPr txBox="1">
              <a:spLocks noChangeArrowheads="1"/>
            </p:cNvSpPr>
            <p:nvPr/>
          </p:nvSpPr>
          <p:spPr bwMode="auto">
            <a:xfrm>
              <a:off x="48" y="48"/>
              <a:ext cx="768"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FontTx/>
                <a:buNone/>
              </a:pPr>
              <a:r>
                <a:rPr lang="zh-CN" altLang="en-US" sz="2200">
                  <a:solidFill>
                    <a:schemeClr val="bg1"/>
                  </a:solidFill>
                </a:rPr>
                <a:t>运算部件</a:t>
              </a:r>
            </a:p>
          </p:txBody>
        </p:sp>
      </p:grpSp>
      <p:sp>
        <p:nvSpPr>
          <p:cNvPr id="139310" name="Line 56">
            <a:extLst>
              <a:ext uri="{FF2B5EF4-FFF2-40B4-BE49-F238E27FC236}">
                <a16:creationId xmlns:a16="http://schemas.microsoft.com/office/drawing/2014/main" id="{643DF856-02BF-D4BC-05EB-8A218CA2D233}"/>
              </a:ext>
            </a:extLst>
          </p:cNvPr>
          <p:cNvSpPr>
            <a:spLocks noChangeShapeType="1"/>
          </p:cNvSpPr>
          <p:nvPr/>
        </p:nvSpPr>
        <p:spPr bwMode="auto">
          <a:xfrm>
            <a:off x="2627313" y="2203450"/>
            <a:ext cx="974725" cy="0"/>
          </a:xfrm>
          <a:prstGeom prst="line">
            <a:avLst/>
          </a:prstGeom>
          <a:noFill/>
          <a:ln w="57150">
            <a:solidFill>
              <a:srgbClr val="66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311" name="Line 57">
            <a:extLst>
              <a:ext uri="{FF2B5EF4-FFF2-40B4-BE49-F238E27FC236}">
                <a16:creationId xmlns:a16="http://schemas.microsoft.com/office/drawing/2014/main" id="{84533D2B-CD4D-5E71-DBA3-40A527F16D76}"/>
              </a:ext>
            </a:extLst>
          </p:cNvPr>
          <p:cNvSpPr>
            <a:spLocks noChangeShapeType="1"/>
          </p:cNvSpPr>
          <p:nvPr/>
        </p:nvSpPr>
        <p:spPr bwMode="auto">
          <a:xfrm>
            <a:off x="5326063" y="2203450"/>
            <a:ext cx="1150937" cy="0"/>
          </a:xfrm>
          <a:prstGeom prst="line">
            <a:avLst/>
          </a:prstGeom>
          <a:noFill/>
          <a:ln w="57150">
            <a:solidFill>
              <a:srgbClr val="66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9312" name="Line 65">
            <a:extLst>
              <a:ext uri="{FF2B5EF4-FFF2-40B4-BE49-F238E27FC236}">
                <a16:creationId xmlns:a16="http://schemas.microsoft.com/office/drawing/2014/main" id="{68536395-4E70-641C-5379-9A111EBE05FB}"/>
              </a:ext>
            </a:extLst>
          </p:cNvPr>
          <p:cNvSpPr>
            <a:spLocks noChangeShapeType="1"/>
          </p:cNvSpPr>
          <p:nvPr/>
        </p:nvSpPr>
        <p:spPr bwMode="auto">
          <a:xfrm flipV="1">
            <a:off x="4859338" y="4292600"/>
            <a:ext cx="0" cy="360363"/>
          </a:xfrm>
          <a:prstGeom prst="line">
            <a:avLst/>
          </a:prstGeom>
          <a:noFill/>
          <a:ln w="15875">
            <a:solidFill>
              <a:schemeClr val="tx1"/>
            </a:solidFill>
            <a:prstDash val="dash"/>
            <a:round/>
            <a:headEnd/>
            <a:tailEnd type="triangle" w="med" len="me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0" presetClass="entr" presetSubtype="0" fill="hold" nodeType="withEffect">
                                  <p:stCondLst>
                                    <p:cond delay="0"/>
                                  </p:stCondLst>
                                  <p:childTnLst>
                                    <p:set>
                                      <p:cBhvr>
                                        <p:cTn id="6" dur="1" fill="hold">
                                          <p:stCondLst>
                                            <p:cond delay="0"/>
                                          </p:stCondLst>
                                        </p:cTn>
                                        <p:tgtEl>
                                          <p:spTgt spid="139268"/>
                                        </p:tgtEl>
                                        <p:attrNameLst>
                                          <p:attrName>style.visibility</p:attrName>
                                        </p:attrNameLst>
                                      </p:cBhvr>
                                      <p:to>
                                        <p:strVal val="visible"/>
                                      </p:to>
                                    </p:set>
                                    <p:animEffect transition="in" filter="wedge">
                                      <p:cBhvr>
                                        <p:cTn id="7" dur="500"/>
                                        <p:tgtEl>
                                          <p:spTgt spid="139268"/>
                                        </p:tgtEl>
                                      </p:cBhvr>
                                    </p:animEffect>
                                  </p:childTnLst>
                                </p:cTn>
                              </p:par>
                              <p:par>
                                <p:cTn id="8" presetID="20" presetClass="entr" presetSubtype="0" fill="hold" nodeType="withEffect">
                                  <p:stCondLst>
                                    <p:cond delay="0"/>
                                  </p:stCondLst>
                                  <p:childTnLst>
                                    <p:set>
                                      <p:cBhvr>
                                        <p:cTn id="9" dur="1" fill="hold">
                                          <p:stCondLst>
                                            <p:cond delay="0"/>
                                          </p:stCondLst>
                                        </p:cTn>
                                        <p:tgtEl>
                                          <p:spTgt spid="139269"/>
                                        </p:tgtEl>
                                        <p:attrNameLst>
                                          <p:attrName>style.visibility</p:attrName>
                                        </p:attrNameLst>
                                      </p:cBhvr>
                                      <p:to>
                                        <p:strVal val="visible"/>
                                      </p:to>
                                    </p:set>
                                    <p:animEffect transition="in" filter="wedge">
                                      <p:cBhvr>
                                        <p:cTn id="10" dur="500"/>
                                        <p:tgtEl>
                                          <p:spTgt spid="139269"/>
                                        </p:tgtEl>
                                      </p:cBhvr>
                                    </p:animEffect>
                                  </p:childTnLst>
                                </p:cTn>
                              </p:par>
                              <p:par>
                                <p:cTn id="11" presetID="20" presetClass="entr" presetSubtype="0" fill="hold" grpId="0" nodeType="withEffect">
                                  <p:stCondLst>
                                    <p:cond delay="0"/>
                                  </p:stCondLst>
                                  <p:childTnLst>
                                    <p:set>
                                      <p:cBhvr>
                                        <p:cTn id="12" dur="1" fill="hold">
                                          <p:stCondLst>
                                            <p:cond delay="0"/>
                                          </p:stCondLst>
                                        </p:cTn>
                                        <p:tgtEl>
                                          <p:spTgt spid="139270"/>
                                        </p:tgtEl>
                                        <p:attrNameLst>
                                          <p:attrName>style.visibility</p:attrName>
                                        </p:attrNameLst>
                                      </p:cBhvr>
                                      <p:to>
                                        <p:strVal val="visible"/>
                                      </p:to>
                                    </p:set>
                                    <p:animEffect transition="in" filter="wedge">
                                      <p:cBhvr>
                                        <p:cTn id="13" dur="500"/>
                                        <p:tgtEl>
                                          <p:spTgt spid="139270"/>
                                        </p:tgtEl>
                                      </p:cBhvr>
                                    </p:animEffect>
                                  </p:childTnLst>
                                </p:cTn>
                              </p:par>
                              <p:par>
                                <p:cTn id="14" presetID="20" presetClass="entr" presetSubtype="0" fill="hold" grpId="0" nodeType="withEffect">
                                  <p:stCondLst>
                                    <p:cond delay="0"/>
                                  </p:stCondLst>
                                  <p:childTnLst>
                                    <p:set>
                                      <p:cBhvr>
                                        <p:cTn id="15" dur="1" fill="hold">
                                          <p:stCondLst>
                                            <p:cond delay="0"/>
                                          </p:stCondLst>
                                        </p:cTn>
                                        <p:tgtEl>
                                          <p:spTgt spid="139271"/>
                                        </p:tgtEl>
                                        <p:attrNameLst>
                                          <p:attrName>style.visibility</p:attrName>
                                        </p:attrNameLst>
                                      </p:cBhvr>
                                      <p:to>
                                        <p:strVal val="visible"/>
                                      </p:to>
                                    </p:set>
                                    <p:animEffect transition="in" filter="wedge">
                                      <p:cBhvr>
                                        <p:cTn id="16" dur="500"/>
                                        <p:tgtEl>
                                          <p:spTgt spid="139271"/>
                                        </p:tgtEl>
                                      </p:cBhvr>
                                    </p:animEffect>
                                  </p:childTnLst>
                                </p:cTn>
                              </p:par>
                              <p:par>
                                <p:cTn id="17" presetID="20" presetClass="entr" presetSubtype="0" fill="hold" nodeType="withEffect">
                                  <p:stCondLst>
                                    <p:cond delay="0"/>
                                  </p:stCondLst>
                                  <p:childTnLst>
                                    <p:set>
                                      <p:cBhvr>
                                        <p:cTn id="18" dur="1" fill="hold">
                                          <p:stCondLst>
                                            <p:cond delay="0"/>
                                          </p:stCondLst>
                                        </p:cTn>
                                        <p:tgtEl>
                                          <p:spTgt spid="139272"/>
                                        </p:tgtEl>
                                        <p:attrNameLst>
                                          <p:attrName>style.visibility</p:attrName>
                                        </p:attrNameLst>
                                      </p:cBhvr>
                                      <p:to>
                                        <p:strVal val="visible"/>
                                      </p:to>
                                    </p:set>
                                    <p:animEffect transition="in" filter="wedge">
                                      <p:cBhvr>
                                        <p:cTn id="19" dur="500"/>
                                        <p:tgtEl>
                                          <p:spTgt spid="139272"/>
                                        </p:tgtEl>
                                      </p:cBhvr>
                                    </p:animEffect>
                                  </p:childTnLst>
                                </p:cTn>
                              </p:par>
                              <p:par>
                                <p:cTn id="20" presetID="20" presetClass="entr" presetSubtype="0" fill="hold" grpId="0" nodeType="withEffect">
                                  <p:stCondLst>
                                    <p:cond delay="0"/>
                                  </p:stCondLst>
                                  <p:childTnLst>
                                    <p:set>
                                      <p:cBhvr>
                                        <p:cTn id="21" dur="1" fill="hold">
                                          <p:stCondLst>
                                            <p:cond delay="0"/>
                                          </p:stCondLst>
                                        </p:cTn>
                                        <p:tgtEl>
                                          <p:spTgt spid="139273"/>
                                        </p:tgtEl>
                                        <p:attrNameLst>
                                          <p:attrName>style.visibility</p:attrName>
                                        </p:attrNameLst>
                                      </p:cBhvr>
                                      <p:to>
                                        <p:strVal val="visible"/>
                                      </p:to>
                                    </p:set>
                                    <p:animEffect transition="in" filter="wedge">
                                      <p:cBhvr>
                                        <p:cTn id="22" dur="500"/>
                                        <p:tgtEl>
                                          <p:spTgt spid="139273"/>
                                        </p:tgtEl>
                                      </p:cBhvr>
                                    </p:animEffect>
                                  </p:childTnLst>
                                </p:cTn>
                              </p:par>
                              <p:par>
                                <p:cTn id="23" presetID="20" presetClass="entr" presetSubtype="0" fill="hold" grpId="0" nodeType="withEffect">
                                  <p:stCondLst>
                                    <p:cond delay="0"/>
                                  </p:stCondLst>
                                  <p:childTnLst>
                                    <p:set>
                                      <p:cBhvr>
                                        <p:cTn id="24" dur="1" fill="hold">
                                          <p:stCondLst>
                                            <p:cond delay="0"/>
                                          </p:stCondLst>
                                        </p:cTn>
                                        <p:tgtEl>
                                          <p:spTgt spid="139274"/>
                                        </p:tgtEl>
                                        <p:attrNameLst>
                                          <p:attrName>style.visibility</p:attrName>
                                        </p:attrNameLst>
                                      </p:cBhvr>
                                      <p:to>
                                        <p:strVal val="visible"/>
                                      </p:to>
                                    </p:set>
                                    <p:animEffect transition="in" filter="wedge">
                                      <p:cBhvr>
                                        <p:cTn id="25" dur="500"/>
                                        <p:tgtEl>
                                          <p:spTgt spid="139274"/>
                                        </p:tgtEl>
                                      </p:cBhvr>
                                    </p:animEffect>
                                  </p:childTnLst>
                                </p:cTn>
                              </p:par>
                              <p:par>
                                <p:cTn id="26" presetID="20" presetClass="entr" presetSubtype="0" fill="hold" nodeType="withEffect">
                                  <p:stCondLst>
                                    <p:cond delay="0"/>
                                  </p:stCondLst>
                                  <p:childTnLst>
                                    <p:set>
                                      <p:cBhvr>
                                        <p:cTn id="27" dur="1" fill="hold">
                                          <p:stCondLst>
                                            <p:cond delay="0"/>
                                          </p:stCondLst>
                                        </p:cTn>
                                        <p:tgtEl>
                                          <p:spTgt spid="139275"/>
                                        </p:tgtEl>
                                        <p:attrNameLst>
                                          <p:attrName>style.visibility</p:attrName>
                                        </p:attrNameLst>
                                      </p:cBhvr>
                                      <p:to>
                                        <p:strVal val="visible"/>
                                      </p:to>
                                    </p:set>
                                    <p:animEffect transition="in" filter="wedge">
                                      <p:cBhvr>
                                        <p:cTn id="28" dur="500"/>
                                        <p:tgtEl>
                                          <p:spTgt spid="139275"/>
                                        </p:tgtEl>
                                      </p:cBhvr>
                                    </p:animEffect>
                                  </p:childTnLst>
                                </p:cTn>
                              </p:par>
                              <p:par>
                                <p:cTn id="29" presetID="20" presetClass="entr" presetSubtype="0" fill="hold" nodeType="withEffect">
                                  <p:stCondLst>
                                    <p:cond delay="0"/>
                                  </p:stCondLst>
                                  <p:childTnLst>
                                    <p:set>
                                      <p:cBhvr>
                                        <p:cTn id="30" dur="1" fill="hold">
                                          <p:stCondLst>
                                            <p:cond delay="0"/>
                                          </p:stCondLst>
                                        </p:cTn>
                                        <p:tgtEl>
                                          <p:spTgt spid="139278"/>
                                        </p:tgtEl>
                                        <p:attrNameLst>
                                          <p:attrName>style.visibility</p:attrName>
                                        </p:attrNameLst>
                                      </p:cBhvr>
                                      <p:to>
                                        <p:strVal val="visible"/>
                                      </p:to>
                                    </p:set>
                                    <p:animEffect transition="in" filter="wedge">
                                      <p:cBhvr>
                                        <p:cTn id="31" dur="500"/>
                                        <p:tgtEl>
                                          <p:spTgt spid="139278"/>
                                        </p:tgtEl>
                                      </p:cBhvr>
                                    </p:animEffect>
                                  </p:childTnLst>
                                </p:cTn>
                              </p:par>
                              <p:par>
                                <p:cTn id="32" presetID="20" presetClass="entr" presetSubtype="0" fill="hold" nodeType="withEffect">
                                  <p:stCondLst>
                                    <p:cond delay="0"/>
                                  </p:stCondLst>
                                  <p:childTnLst>
                                    <p:set>
                                      <p:cBhvr>
                                        <p:cTn id="33" dur="1" fill="hold">
                                          <p:stCondLst>
                                            <p:cond delay="0"/>
                                          </p:stCondLst>
                                        </p:cTn>
                                        <p:tgtEl>
                                          <p:spTgt spid="139281"/>
                                        </p:tgtEl>
                                        <p:attrNameLst>
                                          <p:attrName>style.visibility</p:attrName>
                                        </p:attrNameLst>
                                      </p:cBhvr>
                                      <p:to>
                                        <p:strVal val="visible"/>
                                      </p:to>
                                    </p:set>
                                    <p:animEffect transition="in" filter="wedge">
                                      <p:cBhvr>
                                        <p:cTn id="34" dur="500"/>
                                        <p:tgtEl>
                                          <p:spTgt spid="139281"/>
                                        </p:tgtEl>
                                      </p:cBhvr>
                                    </p:animEffect>
                                  </p:childTnLst>
                                </p:cTn>
                              </p:par>
                              <p:par>
                                <p:cTn id="35" presetID="20" presetClass="entr" presetSubtype="0" fill="hold" nodeType="withEffect">
                                  <p:stCondLst>
                                    <p:cond delay="0"/>
                                  </p:stCondLst>
                                  <p:childTnLst>
                                    <p:set>
                                      <p:cBhvr>
                                        <p:cTn id="36" dur="1" fill="hold">
                                          <p:stCondLst>
                                            <p:cond delay="0"/>
                                          </p:stCondLst>
                                        </p:cTn>
                                        <p:tgtEl>
                                          <p:spTgt spid="139284"/>
                                        </p:tgtEl>
                                        <p:attrNameLst>
                                          <p:attrName>style.visibility</p:attrName>
                                        </p:attrNameLst>
                                      </p:cBhvr>
                                      <p:to>
                                        <p:strVal val="visible"/>
                                      </p:to>
                                    </p:set>
                                    <p:animEffect transition="in" filter="wedge">
                                      <p:cBhvr>
                                        <p:cTn id="37" dur="500"/>
                                        <p:tgtEl>
                                          <p:spTgt spid="139284"/>
                                        </p:tgtEl>
                                      </p:cBhvr>
                                    </p:animEffect>
                                  </p:childTnLst>
                                </p:cTn>
                              </p:par>
                              <p:par>
                                <p:cTn id="38" presetID="20" presetClass="entr" presetSubtype="0" fill="hold" nodeType="withEffect">
                                  <p:stCondLst>
                                    <p:cond delay="0"/>
                                  </p:stCondLst>
                                  <p:childTnLst>
                                    <p:set>
                                      <p:cBhvr>
                                        <p:cTn id="39" dur="1" fill="hold">
                                          <p:stCondLst>
                                            <p:cond delay="0"/>
                                          </p:stCondLst>
                                        </p:cTn>
                                        <p:tgtEl>
                                          <p:spTgt spid="139287"/>
                                        </p:tgtEl>
                                        <p:attrNameLst>
                                          <p:attrName>style.visibility</p:attrName>
                                        </p:attrNameLst>
                                      </p:cBhvr>
                                      <p:to>
                                        <p:strVal val="visible"/>
                                      </p:to>
                                    </p:set>
                                    <p:animEffect transition="in" filter="wedge">
                                      <p:cBhvr>
                                        <p:cTn id="40" dur="500"/>
                                        <p:tgtEl>
                                          <p:spTgt spid="139287"/>
                                        </p:tgtEl>
                                      </p:cBhvr>
                                    </p:animEffect>
                                  </p:childTnLst>
                                </p:cTn>
                              </p:par>
                              <p:par>
                                <p:cTn id="41" presetID="20" presetClass="entr" presetSubtype="0" fill="hold" nodeType="withEffect">
                                  <p:stCondLst>
                                    <p:cond delay="0"/>
                                  </p:stCondLst>
                                  <p:childTnLst>
                                    <p:set>
                                      <p:cBhvr>
                                        <p:cTn id="42" dur="1" fill="hold">
                                          <p:stCondLst>
                                            <p:cond delay="0"/>
                                          </p:stCondLst>
                                        </p:cTn>
                                        <p:tgtEl>
                                          <p:spTgt spid="139290"/>
                                        </p:tgtEl>
                                        <p:attrNameLst>
                                          <p:attrName>style.visibility</p:attrName>
                                        </p:attrNameLst>
                                      </p:cBhvr>
                                      <p:to>
                                        <p:strVal val="visible"/>
                                      </p:to>
                                    </p:set>
                                    <p:animEffect transition="in" filter="wedge">
                                      <p:cBhvr>
                                        <p:cTn id="43" dur="500"/>
                                        <p:tgtEl>
                                          <p:spTgt spid="139290"/>
                                        </p:tgtEl>
                                      </p:cBhvr>
                                    </p:animEffect>
                                  </p:childTnLst>
                                </p:cTn>
                              </p:par>
                              <p:par>
                                <p:cTn id="44" presetID="20" presetClass="entr" presetSubtype="0" fill="hold" nodeType="withEffect">
                                  <p:stCondLst>
                                    <p:cond delay="0"/>
                                  </p:stCondLst>
                                  <p:childTnLst>
                                    <p:set>
                                      <p:cBhvr>
                                        <p:cTn id="45" dur="1" fill="hold">
                                          <p:stCondLst>
                                            <p:cond delay="0"/>
                                          </p:stCondLst>
                                        </p:cTn>
                                        <p:tgtEl>
                                          <p:spTgt spid="139293"/>
                                        </p:tgtEl>
                                        <p:attrNameLst>
                                          <p:attrName>style.visibility</p:attrName>
                                        </p:attrNameLst>
                                      </p:cBhvr>
                                      <p:to>
                                        <p:strVal val="visible"/>
                                      </p:to>
                                    </p:set>
                                    <p:animEffect transition="in" filter="wedge">
                                      <p:cBhvr>
                                        <p:cTn id="46" dur="500"/>
                                        <p:tgtEl>
                                          <p:spTgt spid="139293"/>
                                        </p:tgtEl>
                                      </p:cBhvr>
                                    </p:animEffect>
                                  </p:childTnLst>
                                </p:cTn>
                              </p:par>
                              <p:par>
                                <p:cTn id="47" presetID="20" presetClass="entr" presetSubtype="0" fill="hold" grpId="0" nodeType="withEffect">
                                  <p:stCondLst>
                                    <p:cond delay="0"/>
                                  </p:stCondLst>
                                  <p:childTnLst>
                                    <p:set>
                                      <p:cBhvr>
                                        <p:cTn id="48" dur="1" fill="hold">
                                          <p:stCondLst>
                                            <p:cond delay="0"/>
                                          </p:stCondLst>
                                        </p:cTn>
                                        <p:tgtEl>
                                          <p:spTgt spid="139296"/>
                                        </p:tgtEl>
                                        <p:attrNameLst>
                                          <p:attrName>style.visibility</p:attrName>
                                        </p:attrNameLst>
                                      </p:cBhvr>
                                      <p:to>
                                        <p:strVal val="visible"/>
                                      </p:to>
                                    </p:set>
                                    <p:animEffect transition="in" filter="wedge">
                                      <p:cBhvr>
                                        <p:cTn id="49" dur="500"/>
                                        <p:tgtEl>
                                          <p:spTgt spid="139296"/>
                                        </p:tgtEl>
                                      </p:cBhvr>
                                    </p:animEffect>
                                  </p:childTnLst>
                                </p:cTn>
                              </p:par>
                              <p:par>
                                <p:cTn id="50" presetID="20" presetClass="entr" presetSubtype="0" fill="hold" nodeType="withEffect">
                                  <p:stCondLst>
                                    <p:cond delay="0"/>
                                  </p:stCondLst>
                                  <p:childTnLst>
                                    <p:set>
                                      <p:cBhvr>
                                        <p:cTn id="51" dur="1" fill="hold">
                                          <p:stCondLst>
                                            <p:cond delay="0"/>
                                          </p:stCondLst>
                                        </p:cTn>
                                        <p:tgtEl>
                                          <p:spTgt spid="139297"/>
                                        </p:tgtEl>
                                        <p:attrNameLst>
                                          <p:attrName>style.visibility</p:attrName>
                                        </p:attrNameLst>
                                      </p:cBhvr>
                                      <p:to>
                                        <p:strVal val="visible"/>
                                      </p:to>
                                    </p:set>
                                    <p:animEffect transition="in" filter="wedge">
                                      <p:cBhvr>
                                        <p:cTn id="52" dur="500"/>
                                        <p:tgtEl>
                                          <p:spTgt spid="139297"/>
                                        </p:tgtEl>
                                      </p:cBhvr>
                                    </p:animEffect>
                                  </p:childTnLst>
                                </p:cTn>
                              </p:par>
                              <p:par>
                                <p:cTn id="53" presetID="20" presetClass="entr" presetSubtype="0" fill="hold" nodeType="withEffect">
                                  <p:stCondLst>
                                    <p:cond delay="0"/>
                                  </p:stCondLst>
                                  <p:childTnLst>
                                    <p:set>
                                      <p:cBhvr>
                                        <p:cTn id="54" dur="1" fill="hold">
                                          <p:stCondLst>
                                            <p:cond delay="0"/>
                                          </p:stCondLst>
                                        </p:cTn>
                                        <p:tgtEl>
                                          <p:spTgt spid="139298"/>
                                        </p:tgtEl>
                                        <p:attrNameLst>
                                          <p:attrName>style.visibility</p:attrName>
                                        </p:attrNameLst>
                                      </p:cBhvr>
                                      <p:to>
                                        <p:strVal val="visible"/>
                                      </p:to>
                                    </p:set>
                                    <p:animEffect transition="in" filter="wedge">
                                      <p:cBhvr>
                                        <p:cTn id="55" dur="500"/>
                                        <p:tgtEl>
                                          <p:spTgt spid="139298"/>
                                        </p:tgtEl>
                                      </p:cBhvr>
                                    </p:animEffect>
                                  </p:childTnLst>
                                </p:cTn>
                              </p:par>
                              <p:par>
                                <p:cTn id="56" presetID="20" presetClass="entr" presetSubtype="0" fill="hold" grpId="0" nodeType="withEffect">
                                  <p:stCondLst>
                                    <p:cond delay="0"/>
                                  </p:stCondLst>
                                  <p:childTnLst>
                                    <p:set>
                                      <p:cBhvr>
                                        <p:cTn id="57" dur="1" fill="hold">
                                          <p:stCondLst>
                                            <p:cond delay="0"/>
                                          </p:stCondLst>
                                        </p:cTn>
                                        <p:tgtEl>
                                          <p:spTgt spid="139299"/>
                                        </p:tgtEl>
                                        <p:attrNameLst>
                                          <p:attrName>style.visibility</p:attrName>
                                        </p:attrNameLst>
                                      </p:cBhvr>
                                      <p:to>
                                        <p:strVal val="visible"/>
                                      </p:to>
                                    </p:set>
                                    <p:animEffect transition="in" filter="wedge">
                                      <p:cBhvr>
                                        <p:cTn id="58" dur="500"/>
                                        <p:tgtEl>
                                          <p:spTgt spid="139299"/>
                                        </p:tgtEl>
                                      </p:cBhvr>
                                    </p:animEffect>
                                  </p:childTnLst>
                                </p:cTn>
                              </p:par>
                              <p:par>
                                <p:cTn id="59" presetID="20" presetClass="entr" presetSubtype="0" fill="hold" grpId="0" nodeType="withEffect">
                                  <p:stCondLst>
                                    <p:cond delay="0"/>
                                  </p:stCondLst>
                                  <p:childTnLst>
                                    <p:set>
                                      <p:cBhvr>
                                        <p:cTn id="60" dur="1" fill="hold">
                                          <p:stCondLst>
                                            <p:cond delay="0"/>
                                          </p:stCondLst>
                                        </p:cTn>
                                        <p:tgtEl>
                                          <p:spTgt spid="139300"/>
                                        </p:tgtEl>
                                        <p:attrNameLst>
                                          <p:attrName>style.visibility</p:attrName>
                                        </p:attrNameLst>
                                      </p:cBhvr>
                                      <p:to>
                                        <p:strVal val="visible"/>
                                      </p:to>
                                    </p:set>
                                    <p:animEffect transition="in" filter="wedge">
                                      <p:cBhvr>
                                        <p:cTn id="61" dur="500"/>
                                        <p:tgtEl>
                                          <p:spTgt spid="139300"/>
                                        </p:tgtEl>
                                      </p:cBhvr>
                                    </p:animEffect>
                                  </p:childTnLst>
                                </p:cTn>
                              </p:par>
                              <p:par>
                                <p:cTn id="62" presetID="20" presetClass="entr" presetSubtype="0" fill="hold" nodeType="withEffect">
                                  <p:stCondLst>
                                    <p:cond delay="0"/>
                                  </p:stCondLst>
                                  <p:childTnLst>
                                    <p:set>
                                      <p:cBhvr>
                                        <p:cTn id="63" dur="1" fill="hold">
                                          <p:stCondLst>
                                            <p:cond delay="0"/>
                                          </p:stCondLst>
                                        </p:cTn>
                                        <p:tgtEl>
                                          <p:spTgt spid="139301"/>
                                        </p:tgtEl>
                                        <p:attrNameLst>
                                          <p:attrName>style.visibility</p:attrName>
                                        </p:attrNameLst>
                                      </p:cBhvr>
                                      <p:to>
                                        <p:strVal val="visible"/>
                                      </p:to>
                                    </p:set>
                                    <p:animEffect transition="in" filter="wedge">
                                      <p:cBhvr>
                                        <p:cTn id="64" dur="500"/>
                                        <p:tgtEl>
                                          <p:spTgt spid="139301"/>
                                        </p:tgtEl>
                                      </p:cBhvr>
                                    </p:animEffect>
                                  </p:childTnLst>
                                </p:cTn>
                              </p:par>
                              <p:par>
                                <p:cTn id="65" presetID="20" presetClass="entr" presetSubtype="0" fill="hold" nodeType="withEffect">
                                  <p:stCondLst>
                                    <p:cond delay="0"/>
                                  </p:stCondLst>
                                  <p:childTnLst>
                                    <p:set>
                                      <p:cBhvr>
                                        <p:cTn id="66" dur="1" fill="hold">
                                          <p:stCondLst>
                                            <p:cond delay="0"/>
                                          </p:stCondLst>
                                        </p:cTn>
                                        <p:tgtEl>
                                          <p:spTgt spid="139302"/>
                                        </p:tgtEl>
                                        <p:attrNameLst>
                                          <p:attrName>style.visibility</p:attrName>
                                        </p:attrNameLst>
                                      </p:cBhvr>
                                      <p:to>
                                        <p:strVal val="visible"/>
                                      </p:to>
                                    </p:set>
                                    <p:animEffect transition="in" filter="wedge">
                                      <p:cBhvr>
                                        <p:cTn id="67" dur="500"/>
                                        <p:tgtEl>
                                          <p:spTgt spid="139302"/>
                                        </p:tgtEl>
                                      </p:cBhvr>
                                    </p:animEffect>
                                  </p:childTnLst>
                                </p:cTn>
                              </p:par>
                              <p:par>
                                <p:cTn id="68" presetID="20" presetClass="entr" presetSubtype="0" fill="hold" nodeType="withEffect">
                                  <p:stCondLst>
                                    <p:cond delay="0"/>
                                  </p:stCondLst>
                                  <p:childTnLst>
                                    <p:set>
                                      <p:cBhvr>
                                        <p:cTn id="69" dur="1" fill="hold">
                                          <p:stCondLst>
                                            <p:cond delay="0"/>
                                          </p:stCondLst>
                                        </p:cTn>
                                        <p:tgtEl>
                                          <p:spTgt spid="139303"/>
                                        </p:tgtEl>
                                        <p:attrNameLst>
                                          <p:attrName>style.visibility</p:attrName>
                                        </p:attrNameLst>
                                      </p:cBhvr>
                                      <p:to>
                                        <p:strVal val="visible"/>
                                      </p:to>
                                    </p:set>
                                    <p:animEffect transition="in" filter="wedge">
                                      <p:cBhvr>
                                        <p:cTn id="70" dur="500"/>
                                        <p:tgtEl>
                                          <p:spTgt spid="139303"/>
                                        </p:tgtEl>
                                      </p:cBhvr>
                                    </p:animEffect>
                                  </p:childTnLst>
                                </p:cTn>
                              </p:par>
                              <p:par>
                                <p:cTn id="71" presetID="20" presetClass="entr" presetSubtype="0" fill="hold" grpId="0" nodeType="withEffect">
                                  <p:stCondLst>
                                    <p:cond delay="0"/>
                                  </p:stCondLst>
                                  <p:childTnLst>
                                    <p:set>
                                      <p:cBhvr>
                                        <p:cTn id="72" dur="1" fill="hold">
                                          <p:stCondLst>
                                            <p:cond delay="0"/>
                                          </p:stCondLst>
                                        </p:cTn>
                                        <p:tgtEl>
                                          <p:spTgt spid="139306"/>
                                        </p:tgtEl>
                                        <p:attrNameLst>
                                          <p:attrName>style.visibility</p:attrName>
                                        </p:attrNameLst>
                                      </p:cBhvr>
                                      <p:to>
                                        <p:strVal val="visible"/>
                                      </p:to>
                                    </p:set>
                                    <p:animEffect transition="in" filter="wedge">
                                      <p:cBhvr>
                                        <p:cTn id="73" dur="500"/>
                                        <p:tgtEl>
                                          <p:spTgt spid="139306"/>
                                        </p:tgtEl>
                                      </p:cBhvr>
                                    </p:animEffect>
                                  </p:childTnLst>
                                </p:cTn>
                              </p:par>
                              <p:par>
                                <p:cTn id="74" presetID="20" presetClass="entr" presetSubtype="0" fill="hold" nodeType="withEffect">
                                  <p:stCondLst>
                                    <p:cond delay="0"/>
                                  </p:stCondLst>
                                  <p:childTnLst>
                                    <p:set>
                                      <p:cBhvr>
                                        <p:cTn id="75" dur="1" fill="hold">
                                          <p:stCondLst>
                                            <p:cond delay="0"/>
                                          </p:stCondLst>
                                        </p:cTn>
                                        <p:tgtEl>
                                          <p:spTgt spid="139307"/>
                                        </p:tgtEl>
                                        <p:attrNameLst>
                                          <p:attrName>style.visibility</p:attrName>
                                        </p:attrNameLst>
                                      </p:cBhvr>
                                      <p:to>
                                        <p:strVal val="visible"/>
                                      </p:to>
                                    </p:set>
                                    <p:animEffect transition="in" filter="wedge">
                                      <p:cBhvr>
                                        <p:cTn id="76" dur="500"/>
                                        <p:tgtEl>
                                          <p:spTgt spid="139307"/>
                                        </p:tgtEl>
                                      </p:cBhvr>
                                    </p:animEffect>
                                  </p:childTnLst>
                                </p:cTn>
                              </p:par>
                              <p:par>
                                <p:cTn id="77" presetID="20" presetClass="entr" presetSubtype="0" fill="hold" nodeType="withEffect">
                                  <p:stCondLst>
                                    <p:cond delay="0"/>
                                  </p:stCondLst>
                                  <p:childTnLst>
                                    <p:set>
                                      <p:cBhvr>
                                        <p:cTn id="78" dur="1" fill="hold">
                                          <p:stCondLst>
                                            <p:cond delay="0"/>
                                          </p:stCondLst>
                                        </p:cTn>
                                        <p:tgtEl>
                                          <p:spTgt spid="139310"/>
                                        </p:tgtEl>
                                        <p:attrNameLst>
                                          <p:attrName>style.visibility</p:attrName>
                                        </p:attrNameLst>
                                      </p:cBhvr>
                                      <p:to>
                                        <p:strVal val="visible"/>
                                      </p:to>
                                    </p:set>
                                    <p:animEffect transition="in" filter="wedge">
                                      <p:cBhvr>
                                        <p:cTn id="79" dur="500"/>
                                        <p:tgtEl>
                                          <p:spTgt spid="139310"/>
                                        </p:tgtEl>
                                      </p:cBhvr>
                                    </p:animEffect>
                                  </p:childTnLst>
                                </p:cTn>
                              </p:par>
                              <p:par>
                                <p:cTn id="80" presetID="20" presetClass="entr" presetSubtype="0" fill="hold" nodeType="withEffect">
                                  <p:stCondLst>
                                    <p:cond delay="0"/>
                                  </p:stCondLst>
                                  <p:childTnLst>
                                    <p:set>
                                      <p:cBhvr>
                                        <p:cTn id="81" dur="1" fill="hold">
                                          <p:stCondLst>
                                            <p:cond delay="0"/>
                                          </p:stCondLst>
                                        </p:cTn>
                                        <p:tgtEl>
                                          <p:spTgt spid="139311"/>
                                        </p:tgtEl>
                                        <p:attrNameLst>
                                          <p:attrName>style.visibility</p:attrName>
                                        </p:attrNameLst>
                                      </p:cBhvr>
                                      <p:to>
                                        <p:strVal val="visible"/>
                                      </p:to>
                                    </p:set>
                                    <p:animEffect transition="in" filter="wedge">
                                      <p:cBhvr>
                                        <p:cTn id="82" dur="500"/>
                                        <p:tgtEl>
                                          <p:spTgt spid="139311"/>
                                        </p:tgtEl>
                                      </p:cBhvr>
                                    </p:animEffect>
                                  </p:childTnLst>
                                </p:cTn>
                              </p:par>
                              <p:par>
                                <p:cTn id="83" presetID="20" presetClass="entr" presetSubtype="0" fill="hold" nodeType="withEffect">
                                  <p:stCondLst>
                                    <p:cond delay="0"/>
                                  </p:stCondLst>
                                  <p:childTnLst>
                                    <p:set>
                                      <p:cBhvr>
                                        <p:cTn id="84" dur="1" fill="hold">
                                          <p:stCondLst>
                                            <p:cond delay="0"/>
                                          </p:stCondLst>
                                        </p:cTn>
                                        <p:tgtEl>
                                          <p:spTgt spid="139312"/>
                                        </p:tgtEl>
                                        <p:attrNameLst>
                                          <p:attrName>style.visibility</p:attrName>
                                        </p:attrNameLst>
                                      </p:cBhvr>
                                      <p:to>
                                        <p:strVal val="visible"/>
                                      </p:to>
                                    </p:set>
                                    <p:animEffect transition="in" filter="wedge">
                                      <p:cBhvr>
                                        <p:cTn id="85" dur="500"/>
                                        <p:tgtEl>
                                          <p:spTgt spid="1393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70" grpId="0"/>
      <p:bldP spid="139271" grpId="0"/>
      <p:bldP spid="139273" grpId="0"/>
      <p:bldP spid="139274" grpId="0" bldLvl="0" animBg="1"/>
      <p:bldP spid="139296" grpId="0" bldLvl="0" animBg="1"/>
      <p:bldP spid="139299" grpId="0" bldLvl="0" animBg="1"/>
      <p:bldP spid="139300" grpId="0" bldLvl="0" animBg="1"/>
      <p:bldP spid="139306"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灯片编号占位符 5">
            <a:extLst>
              <a:ext uri="{FF2B5EF4-FFF2-40B4-BE49-F238E27FC236}">
                <a16:creationId xmlns:a16="http://schemas.microsoft.com/office/drawing/2014/main" id="{BFA3F564-9FBC-D62E-AA52-EF8D919E4679}"/>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Tx/>
              <a:buNone/>
            </a:pPr>
            <a:fld id="{2940EC6D-B182-44AF-9D1C-417735006570}" type="slidenum">
              <a:rPr lang="zh-CN" altLang="en-US" sz="1400"/>
              <a:pPr algn="r" eaLnBrk="1" hangingPunct="1">
                <a:spcBef>
                  <a:spcPct val="50000"/>
                </a:spcBef>
                <a:buFontTx/>
                <a:buNone/>
              </a:pPr>
              <a:t>15</a:t>
            </a:fld>
            <a:endParaRPr lang="zh-CN" altLang="en-US" sz="1400"/>
          </a:p>
        </p:txBody>
      </p:sp>
      <p:sp>
        <p:nvSpPr>
          <p:cNvPr id="37891" name="Rectangle 5">
            <a:extLst>
              <a:ext uri="{FF2B5EF4-FFF2-40B4-BE49-F238E27FC236}">
                <a16:creationId xmlns:a16="http://schemas.microsoft.com/office/drawing/2014/main" id="{8D29A274-7173-CCDA-46F3-B8275B1380C2}"/>
              </a:ext>
            </a:extLst>
          </p:cNvPr>
          <p:cNvSpPr>
            <a:spLocks noGrp="1" noChangeArrowheads="1"/>
          </p:cNvSpPr>
          <p:nvPr>
            <p:ph type="body" idx="4294967295"/>
          </p:nvPr>
        </p:nvSpPr>
        <p:spPr>
          <a:xfrm>
            <a:off x="914400" y="1371600"/>
            <a:ext cx="7696200" cy="838200"/>
          </a:xfrm>
        </p:spPr>
        <p:txBody>
          <a:bodyPr lIns="92075" tIns="46038" rIns="92075" bIns="46038"/>
          <a:lstStyle/>
          <a:p>
            <a:pPr eaLnBrk="1" hangingPunct="1">
              <a:buFontTx/>
              <a:buNone/>
            </a:pPr>
            <a:r>
              <a:rPr lang="zh-CN" altLang="en-US" b="1">
                <a:latin typeface="宋体" panose="02010600030101010101" pitchFamily="2" charset="-122"/>
              </a:rPr>
              <a:t>计算机系统的组成</a:t>
            </a:r>
            <a:r>
              <a:rPr lang="zh-CN" altLang="en-US" b="1"/>
              <a:t> </a:t>
            </a:r>
            <a:r>
              <a:rPr lang="zh-CN" altLang="en-US" sz="3200" b="1"/>
              <a:t>	</a:t>
            </a:r>
          </a:p>
        </p:txBody>
      </p:sp>
      <p:grpSp>
        <p:nvGrpSpPr>
          <p:cNvPr id="37892" name="Group 22">
            <a:extLst>
              <a:ext uri="{FF2B5EF4-FFF2-40B4-BE49-F238E27FC236}">
                <a16:creationId xmlns:a16="http://schemas.microsoft.com/office/drawing/2014/main" id="{A028E5BF-BD17-C5D9-8BE9-D68E51C15B70}"/>
              </a:ext>
            </a:extLst>
          </p:cNvPr>
          <p:cNvGrpSpPr>
            <a:grpSpLocks/>
          </p:cNvGrpSpPr>
          <p:nvPr/>
        </p:nvGrpSpPr>
        <p:grpSpPr bwMode="auto">
          <a:xfrm>
            <a:off x="609600" y="2133600"/>
            <a:ext cx="5029200" cy="1828800"/>
            <a:chOff x="0" y="0"/>
            <a:chExt cx="3168" cy="1152"/>
          </a:xfrm>
        </p:grpSpPr>
        <p:grpSp>
          <p:nvGrpSpPr>
            <p:cNvPr id="37907" name="Group 6">
              <a:extLst>
                <a:ext uri="{FF2B5EF4-FFF2-40B4-BE49-F238E27FC236}">
                  <a16:creationId xmlns:a16="http://schemas.microsoft.com/office/drawing/2014/main" id="{441E706E-4A64-5FD0-A7DD-2BC2326D5698}"/>
                </a:ext>
              </a:extLst>
            </p:cNvPr>
            <p:cNvGrpSpPr>
              <a:grpSpLocks/>
            </p:cNvGrpSpPr>
            <p:nvPr/>
          </p:nvGrpSpPr>
          <p:grpSpPr bwMode="auto">
            <a:xfrm>
              <a:off x="0" y="816"/>
              <a:ext cx="1296" cy="336"/>
              <a:chOff x="0" y="0"/>
              <a:chExt cx="1056" cy="336"/>
            </a:xfrm>
          </p:grpSpPr>
          <p:sp>
            <p:nvSpPr>
              <p:cNvPr id="37918" name="Rectangle 7">
                <a:extLst>
                  <a:ext uri="{FF2B5EF4-FFF2-40B4-BE49-F238E27FC236}">
                    <a16:creationId xmlns:a16="http://schemas.microsoft.com/office/drawing/2014/main" id="{2814B959-8734-ADAA-1F2B-E60156B10D90}"/>
                  </a:ext>
                </a:extLst>
              </p:cNvPr>
              <p:cNvSpPr>
                <a:spLocks noChangeArrowheads="1"/>
              </p:cNvSpPr>
              <p:nvPr/>
            </p:nvSpPr>
            <p:spPr bwMode="auto">
              <a:xfrm>
                <a:off x="0" y="0"/>
                <a:ext cx="1056" cy="336"/>
              </a:xfrm>
              <a:prstGeom prst="rect">
                <a:avLst/>
              </a:prstGeom>
              <a:gradFill rotWithShape="0">
                <a:gsLst>
                  <a:gs pos="0">
                    <a:srgbClr val="CF0E30"/>
                  </a:gs>
                  <a:gs pos="50000">
                    <a:srgbClr val="3E040E"/>
                  </a:gs>
                  <a:gs pos="100000">
                    <a:srgbClr val="CF0E30"/>
                  </a:gs>
                </a:gsLst>
                <a:lin ang="18900000" scaled="1"/>
              </a:gradFill>
              <a:ln w="28575">
                <a:solidFill>
                  <a:srgbClr val="F68295"/>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1800"/>
              </a:p>
            </p:txBody>
          </p:sp>
          <p:sp>
            <p:nvSpPr>
              <p:cNvPr id="37919" name="Text Box 8">
                <a:extLst>
                  <a:ext uri="{FF2B5EF4-FFF2-40B4-BE49-F238E27FC236}">
                    <a16:creationId xmlns:a16="http://schemas.microsoft.com/office/drawing/2014/main" id="{058EA88C-C868-04DF-147E-8EEAD6B4CBAE}"/>
                  </a:ext>
                </a:extLst>
              </p:cNvPr>
              <p:cNvSpPr txBox="1">
                <a:spLocks noChangeArrowheads="1"/>
              </p:cNvSpPr>
              <p:nvPr/>
            </p:nvSpPr>
            <p:spPr bwMode="auto">
              <a:xfrm>
                <a:off x="0" y="0"/>
                <a:ext cx="10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FontTx/>
                  <a:buNone/>
                </a:pPr>
                <a:r>
                  <a:rPr lang="zh-CN" altLang="en-US">
                    <a:solidFill>
                      <a:srgbClr val="FFFF00"/>
                    </a:solidFill>
                    <a:latin typeface="楷体_GB2312" pitchFamily="49" charset="-122"/>
                    <a:ea typeface="楷体_GB2312" pitchFamily="49" charset="-122"/>
                  </a:rPr>
                  <a:t>硬件系统</a:t>
                </a:r>
              </a:p>
            </p:txBody>
          </p:sp>
        </p:grpSp>
        <p:grpSp>
          <p:nvGrpSpPr>
            <p:cNvPr id="37908" name="Group 12">
              <a:extLst>
                <a:ext uri="{FF2B5EF4-FFF2-40B4-BE49-F238E27FC236}">
                  <a16:creationId xmlns:a16="http://schemas.microsoft.com/office/drawing/2014/main" id="{D929ECB5-2250-05D2-428D-A8BCBEC67E54}"/>
                </a:ext>
              </a:extLst>
            </p:cNvPr>
            <p:cNvGrpSpPr>
              <a:grpSpLocks/>
            </p:cNvGrpSpPr>
            <p:nvPr/>
          </p:nvGrpSpPr>
          <p:grpSpPr bwMode="auto">
            <a:xfrm>
              <a:off x="2016" y="816"/>
              <a:ext cx="1152" cy="336"/>
              <a:chOff x="0" y="0"/>
              <a:chExt cx="1056" cy="336"/>
            </a:xfrm>
          </p:grpSpPr>
          <p:sp>
            <p:nvSpPr>
              <p:cNvPr id="37916" name="Rectangle 13">
                <a:extLst>
                  <a:ext uri="{FF2B5EF4-FFF2-40B4-BE49-F238E27FC236}">
                    <a16:creationId xmlns:a16="http://schemas.microsoft.com/office/drawing/2014/main" id="{CFE93BEA-2D4F-FA64-10D9-8E1CADBB5174}"/>
                  </a:ext>
                </a:extLst>
              </p:cNvPr>
              <p:cNvSpPr>
                <a:spLocks noChangeArrowheads="1"/>
              </p:cNvSpPr>
              <p:nvPr/>
            </p:nvSpPr>
            <p:spPr bwMode="auto">
              <a:xfrm>
                <a:off x="0" y="0"/>
                <a:ext cx="1056" cy="336"/>
              </a:xfrm>
              <a:prstGeom prst="rect">
                <a:avLst/>
              </a:prstGeom>
              <a:gradFill rotWithShape="0">
                <a:gsLst>
                  <a:gs pos="0">
                    <a:srgbClr val="CF0E30"/>
                  </a:gs>
                  <a:gs pos="50000">
                    <a:srgbClr val="3E040E"/>
                  </a:gs>
                  <a:gs pos="100000">
                    <a:srgbClr val="CF0E30"/>
                  </a:gs>
                </a:gsLst>
                <a:lin ang="18900000" scaled="1"/>
              </a:gradFill>
              <a:ln w="28575">
                <a:solidFill>
                  <a:srgbClr val="F68295"/>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1800"/>
              </a:p>
            </p:txBody>
          </p:sp>
          <p:sp>
            <p:nvSpPr>
              <p:cNvPr id="37917" name="Text Box 14">
                <a:extLst>
                  <a:ext uri="{FF2B5EF4-FFF2-40B4-BE49-F238E27FC236}">
                    <a16:creationId xmlns:a16="http://schemas.microsoft.com/office/drawing/2014/main" id="{09347B42-A5C7-F54A-0B18-6FBF38A4C113}"/>
                  </a:ext>
                </a:extLst>
              </p:cNvPr>
              <p:cNvSpPr txBox="1">
                <a:spLocks noChangeArrowheads="1"/>
              </p:cNvSpPr>
              <p:nvPr/>
            </p:nvSpPr>
            <p:spPr bwMode="auto">
              <a:xfrm>
                <a:off x="0" y="0"/>
                <a:ext cx="10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FontTx/>
                  <a:buNone/>
                </a:pPr>
                <a:r>
                  <a:rPr lang="zh-CN" altLang="en-US">
                    <a:solidFill>
                      <a:srgbClr val="FFFF00"/>
                    </a:solidFill>
                    <a:latin typeface="楷体_GB2312" pitchFamily="49" charset="-122"/>
                    <a:ea typeface="楷体_GB2312" pitchFamily="49" charset="-122"/>
                  </a:rPr>
                  <a:t>软件系统</a:t>
                </a:r>
              </a:p>
            </p:txBody>
          </p:sp>
        </p:grpSp>
        <p:grpSp>
          <p:nvGrpSpPr>
            <p:cNvPr id="37909" name="Group 15">
              <a:extLst>
                <a:ext uri="{FF2B5EF4-FFF2-40B4-BE49-F238E27FC236}">
                  <a16:creationId xmlns:a16="http://schemas.microsoft.com/office/drawing/2014/main" id="{7174298B-D6EB-6CB7-1490-B87D407630CC}"/>
                </a:ext>
              </a:extLst>
            </p:cNvPr>
            <p:cNvGrpSpPr>
              <a:grpSpLocks/>
            </p:cNvGrpSpPr>
            <p:nvPr/>
          </p:nvGrpSpPr>
          <p:grpSpPr bwMode="auto">
            <a:xfrm>
              <a:off x="1056" y="0"/>
              <a:ext cx="1344" cy="336"/>
              <a:chOff x="0" y="0"/>
              <a:chExt cx="1056" cy="336"/>
            </a:xfrm>
          </p:grpSpPr>
          <p:sp>
            <p:nvSpPr>
              <p:cNvPr id="37914" name="Rectangle 16">
                <a:extLst>
                  <a:ext uri="{FF2B5EF4-FFF2-40B4-BE49-F238E27FC236}">
                    <a16:creationId xmlns:a16="http://schemas.microsoft.com/office/drawing/2014/main" id="{9F8AE4CD-1360-6C07-B5DD-557F1B128A46}"/>
                  </a:ext>
                </a:extLst>
              </p:cNvPr>
              <p:cNvSpPr>
                <a:spLocks noChangeArrowheads="1"/>
              </p:cNvSpPr>
              <p:nvPr/>
            </p:nvSpPr>
            <p:spPr bwMode="auto">
              <a:xfrm>
                <a:off x="0" y="0"/>
                <a:ext cx="1056" cy="336"/>
              </a:xfrm>
              <a:prstGeom prst="rect">
                <a:avLst/>
              </a:prstGeom>
              <a:gradFill rotWithShape="0">
                <a:gsLst>
                  <a:gs pos="0">
                    <a:srgbClr val="CF0E30"/>
                  </a:gs>
                  <a:gs pos="50000">
                    <a:srgbClr val="3E040E"/>
                  </a:gs>
                  <a:gs pos="100000">
                    <a:srgbClr val="CF0E30"/>
                  </a:gs>
                </a:gsLst>
                <a:lin ang="18900000" scaled="1"/>
              </a:gradFill>
              <a:ln w="28575">
                <a:solidFill>
                  <a:srgbClr val="F68295"/>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1800"/>
              </a:p>
            </p:txBody>
          </p:sp>
          <p:sp>
            <p:nvSpPr>
              <p:cNvPr id="37915" name="Text Box 17">
                <a:extLst>
                  <a:ext uri="{FF2B5EF4-FFF2-40B4-BE49-F238E27FC236}">
                    <a16:creationId xmlns:a16="http://schemas.microsoft.com/office/drawing/2014/main" id="{5958AF1D-C76B-708E-D4E2-8EB21728E9C9}"/>
                  </a:ext>
                </a:extLst>
              </p:cNvPr>
              <p:cNvSpPr txBox="1">
                <a:spLocks noChangeArrowheads="1"/>
              </p:cNvSpPr>
              <p:nvPr/>
            </p:nvSpPr>
            <p:spPr bwMode="auto">
              <a:xfrm>
                <a:off x="0" y="0"/>
                <a:ext cx="10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FontTx/>
                  <a:buNone/>
                </a:pPr>
                <a:r>
                  <a:rPr lang="zh-CN" altLang="en-US">
                    <a:solidFill>
                      <a:srgbClr val="FFFFFF"/>
                    </a:solidFill>
                    <a:latin typeface="楷体_GB2312" pitchFamily="49" charset="-122"/>
                    <a:ea typeface="楷体_GB2312" pitchFamily="49" charset="-122"/>
                  </a:rPr>
                  <a:t>计算机系统</a:t>
                </a:r>
              </a:p>
            </p:txBody>
          </p:sp>
        </p:grpSp>
        <p:pic>
          <p:nvPicPr>
            <p:cNvPr id="37910" name="Picture 18" descr="h line">
              <a:extLst>
                <a:ext uri="{FF2B5EF4-FFF2-40B4-BE49-F238E27FC236}">
                  <a16:creationId xmlns:a16="http://schemas.microsoft.com/office/drawing/2014/main" id="{46B637A1-2CA0-C187-D6C9-748AAAE75F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 y="528"/>
              <a:ext cx="201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11" name="Line 19">
              <a:extLst>
                <a:ext uri="{FF2B5EF4-FFF2-40B4-BE49-F238E27FC236}">
                  <a16:creationId xmlns:a16="http://schemas.microsoft.com/office/drawing/2014/main" id="{1F798C56-5020-A9D8-920B-F09A794429C2}"/>
                </a:ext>
              </a:extLst>
            </p:cNvPr>
            <p:cNvSpPr>
              <a:spLocks noChangeShapeType="1"/>
            </p:cNvSpPr>
            <p:nvPr/>
          </p:nvSpPr>
          <p:spPr bwMode="auto">
            <a:xfrm>
              <a:off x="1728" y="336"/>
              <a:ext cx="0" cy="240"/>
            </a:xfrm>
            <a:prstGeom prst="line">
              <a:avLst/>
            </a:prstGeom>
            <a:noFill/>
            <a:ln w="50800">
              <a:solidFill>
                <a:srgbClr val="FFCC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12" name="Line 20">
              <a:extLst>
                <a:ext uri="{FF2B5EF4-FFF2-40B4-BE49-F238E27FC236}">
                  <a16:creationId xmlns:a16="http://schemas.microsoft.com/office/drawing/2014/main" id="{7BE9D900-C46C-96C6-5B71-E69F9C06DEAA}"/>
                </a:ext>
              </a:extLst>
            </p:cNvPr>
            <p:cNvSpPr>
              <a:spLocks noChangeShapeType="1"/>
            </p:cNvSpPr>
            <p:nvPr/>
          </p:nvSpPr>
          <p:spPr bwMode="auto">
            <a:xfrm>
              <a:off x="2640" y="576"/>
              <a:ext cx="0" cy="240"/>
            </a:xfrm>
            <a:prstGeom prst="line">
              <a:avLst/>
            </a:prstGeom>
            <a:noFill/>
            <a:ln w="50800">
              <a:solidFill>
                <a:srgbClr val="FFCC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13" name="Line 21">
              <a:extLst>
                <a:ext uri="{FF2B5EF4-FFF2-40B4-BE49-F238E27FC236}">
                  <a16:creationId xmlns:a16="http://schemas.microsoft.com/office/drawing/2014/main" id="{D6F3AF18-1D18-DFF2-7247-4AAAA6DE17BE}"/>
                </a:ext>
              </a:extLst>
            </p:cNvPr>
            <p:cNvSpPr>
              <a:spLocks noChangeShapeType="1"/>
            </p:cNvSpPr>
            <p:nvPr/>
          </p:nvSpPr>
          <p:spPr bwMode="auto">
            <a:xfrm>
              <a:off x="720" y="576"/>
              <a:ext cx="0" cy="240"/>
            </a:xfrm>
            <a:prstGeom prst="line">
              <a:avLst/>
            </a:prstGeom>
            <a:noFill/>
            <a:ln w="50800">
              <a:solidFill>
                <a:srgbClr val="FFCC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7893" name="Text Box 24">
            <a:extLst>
              <a:ext uri="{FF2B5EF4-FFF2-40B4-BE49-F238E27FC236}">
                <a16:creationId xmlns:a16="http://schemas.microsoft.com/office/drawing/2014/main" id="{2C2B9C8E-CD04-C698-343C-A7D2D89DE27D}"/>
              </a:ext>
            </a:extLst>
          </p:cNvPr>
          <p:cNvSpPr txBox="1">
            <a:spLocks noChangeArrowheads="1"/>
          </p:cNvSpPr>
          <p:nvPr/>
        </p:nvSpPr>
        <p:spPr bwMode="auto">
          <a:xfrm>
            <a:off x="1066800" y="4572000"/>
            <a:ext cx="7537450" cy="158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zh-CN" altLang="en-US">
                <a:latin typeface="宋体" panose="02010600030101010101" pitchFamily="2" charset="-122"/>
              </a:rPr>
              <a:t>计算机系统由硬件和软件两大部分组成。</a:t>
            </a:r>
          </a:p>
          <a:p>
            <a:pPr>
              <a:spcBef>
                <a:spcPct val="50000"/>
              </a:spcBef>
              <a:buFontTx/>
              <a:buNone/>
            </a:pPr>
            <a:r>
              <a:rPr lang="zh-CN" altLang="en-US">
                <a:latin typeface="宋体" panose="02010600030101010101" pitchFamily="2" charset="-122"/>
              </a:rPr>
              <a:t>硬件是计算机的物质基础；软件可以发挥和扩大计算机硬件功能，两者相辅相成，缺一不可</a:t>
            </a:r>
            <a:r>
              <a:rPr lang="zh-CN" altLang="en-US"/>
              <a:t> </a:t>
            </a:r>
          </a:p>
        </p:txBody>
      </p:sp>
      <p:grpSp>
        <p:nvGrpSpPr>
          <p:cNvPr id="37894" name="Group 25">
            <a:extLst>
              <a:ext uri="{FF2B5EF4-FFF2-40B4-BE49-F238E27FC236}">
                <a16:creationId xmlns:a16="http://schemas.microsoft.com/office/drawing/2014/main" id="{06D0B040-3337-0C2A-F088-9CD62F9AE642}"/>
              </a:ext>
            </a:extLst>
          </p:cNvPr>
          <p:cNvGrpSpPr>
            <a:grpSpLocks/>
          </p:cNvGrpSpPr>
          <p:nvPr/>
        </p:nvGrpSpPr>
        <p:grpSpPr bwMode="auto">
          <a:xfrm>
            <a:off x="5334000" y="1828800"/>
            <a:ext cx="3810000" cy="2514600"/>
            <a:chOff x="0" y="0"/>
            <a:chExt cx="2400" cy="1584"/>
          </a:xfrm>
        </p:grpSpPr>
        <p:grpSp>
          <p:nvGrpSpPr>
            <p:cNvPr id="37899" name="Group 26">
              <a:extLst>
                <a:ext uri="{FF2B5EF4-FFF2-40B4-BE49-F238E27FC236}">
                  <a16:creationId xmlns:a16="http://schemas.microsoft.com/office/drawing/2014/main" id="{AC9E05C7-BF1E-1F29-B84D-2639E39D2C7A}"/>
                </a:ext>
              </a:extLst>
            </p:cNvPr>
            <p:cNvGrpSpPr>
              <a:grpSpLocks/>
            </p:cNvGrpSpPr>
            <p:nvPr/>
          </p:nvGrpSpPr>
          <p:grpSpPr bwMode="auto">
            <a:xfrm>
              <a:off x="0" y="0"/>
              <a:ext cx="2400" cy="1317"/>
              <a:chOff x="0" y="0"/>
              <a:chExt cx="2400" cy="1317"/>
            </a:xfrm>
          </p:grpSpPr>
          <p:grpSp>
            <p:nvGrpSpPr>
              <p:cNvPr id="37901" name="Group 27">
                <a:extLst>
                  <a:ext uri="{FF2B5EF4-FFF2-40B4-BE49-F238E27FC236}">
                    <a16:creationId xmlns:a16="http://schemas.microsoft.com/office/drawing/2014/main" id="{1715BB8D-63B4-6A3B-7955-B00779CCCA58}"/>
                  </a:ext>
                </a:extLst>
              </p:cNvPr>
              <p:cNvGrpSpPr>
                <a:grpSpLocks/>
              </p:cNvGrpSpPr>
              <p:nvPr/>
            </p:nvGrpSpPr>
            <p:grpSpPr bwMode="auto">
              <a:xfrm>
                <a:off x="0" y="0"/>
                <a:ext cx="2400" cy="1317"/>
                <a:chOff x="0" y="0"/>
                <a:chExt cx="2400" cy="1317"/>
              </a:xfrm>
            </p:grpSpPr>
            <p:pic>
              <p:nvPicPr>
                <p:cNvPr id="37905" name="Picture 28" descr="002">
                  <a:extLst>
                    <a:ext uri="{FF2B5EF4-FFF2-40B4-BE49-F238E27FC236}">
                      <a16:creationId xmlns:a16="http://schemas.microsoft.com/office/drawing/2014/main" id="{AD0DD08F-4CD9-544A-BFC4-28A28B0D905B}"/>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2400" cy="1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06" name="Text Box 29">
                  <a:extLst>
                    <a:ext uri="{FF2B5EF4-FFF2-40B4-BE49-F238E27FC236}">
                      <a16:creationId xmlns:a16="http://schemas.microsoft.com/office/drawing/2014/main" id="{83421208-1861-9130-6448-8E377E813D0E}"/>
                    </a:ext>
                  </a:extLst>
                </p:cNvPr>
                <p:cNvSpPr txBox="1">
                  <a:spLocks noChangeArrowheads="1"/>
                </p:cNvSpPr>
                <p:nvPr/>
              </p:nvSpPr>
              <p:spPr bwMode="auto">
                <a:xfrm>
                  <a:off x="816" y="864"/>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FontTx/>
                    <a:buNone/>
                  </a:pPr>
                  <a:r>
                    <a:rPr lang="zh-CN" altLang="en-US" sz="2400"/>
                    <a:t>软件</a:t>
                  </a:r>
                </a:p>
              </p:txBody>
            </p:sp>
          </p:grpSp>
          <p:grpSp>
            <p:nvGrpSpPr>
              <p:cNvPr id="37902" name="Group 30">
                <a:extLst>
                  <a:ext uri="{FF2B5EF4-FFF2-40B4-BE49-F238E27FC236}">
                    <a16:creationId xmlns:a16="http://schemas.microsoft.com/office/drawing/2014/main" id="{C1EA22FB-2A2B-F859-12DA-BBDA447E5156}"/>
                  </a:ext>
                </a:extLst>
              </p:cNvPr>
              <p:cNvGrpSpPr>
                <a:grpSpLocks/>
              </p:cNvGrpSpPr>
              <p:nvPr/>
            </p:nvGrpSpPr>
            <p:grpSpPr bwMode="auto">
              <a:xfrm>
                <a:off x="528" y="240"/>
                <a:ext cx="1248" cy="683"/>
                <a:chOff x="0" y="0"/>
                <a:chExt cx="1248" cy="683"/>
              </a:xfrm>
            </p:grpSpPr>
            <p:pic>
              <p:nvPicPr>
                <p:cNvPr id="37903" name="Picture 31" descr="001">
                  <a:extLst>
                    <a:ext uri="{FF2B5EF4-FFF2-40B4-BE49-F238E27FC236}">
                      <a16:creationId xmlns:a16="http://schemas.microsoft.com/office/drawing/2014/main" id="{E5435BC6-0D2C-FE0F-F4B0-E81AC54AEAF9}"/>
                    </a:ext>
                  </a:extLst>
                </p:cNvPr>
                <p:cNvPicPr>
                  <a:picLocks noChangeAspect="1" noChangeArrowheads="1"/>
                </p:cNvPicPr>
                <p:nvPr/>
              </p:nvPicPr>
              <p:blipFill>
                <a:blip r:embed="rId4">
                  <a:clrChange>
                    <a:clrFrom>
                      <a:srgbClr val="FCFDFF"/>
                    </a:clrFrom>
                    <a:clrTo>
                      <a:srgbClr val="FCFDFF">
                        <a:alpha val="0"/>
                      </a:srgbClr>
                    </a:clrTo>
                  </a:clrChange>
                  <a:extLst>
                    <a:ext uri="{28A0092B-C50C-407E-A947-70E740481C1C}">
                      <a14:useLocalDpi xmlns:a14="http://schemas.microsoft.com/office/drawing/2010/main" val="0"/>
                    </a:ext>
                  </a:extLst>
                </a:blip>
                <a:srcRect/>
                <a:stretch>
                  <a:fillRect/>
                </a:stretch>
              </p:blipFill>
              <p:spPr bwMode="auto">
                <a:xfrm>
                  <a:off x="0" y="0"/>
                  <a:ext cx="1248" cy="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04" name="Text Box 32">
                  <a:extLst>
                    <a:ext uri="{FF2B5EF4-FFF2-40B4-BE49-F238E27FC236}">
                      <a16:creationId xmlns:a16="http://schemas.microsoft.com/office/drawing/2014/main" id="{47B261F4-4DA0-166B-7D48-AEFC13D0494C}"/>
                    </a:ext>
                  </a:extLst>
                </p:cNvPr>
                <p:cNvSpPr txBox="1">
                  <a:spLocks noChangeArrowheads="1"/>
                </p:cNvSpPr>
                <p:nvPr/>
              </p:nvSpPr>
              <p:spPr bwMode="auto">
                <a:xfrm>
                  <a:off x="288" y="146"/>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FontTx/>
                    <a:buNone/>
                  </a:pPr>
                  <a:r>
                    <a:rPr lang="zh-CN" altLang="en-US" sz="2400"/>
                    <a:t>硬件</a:t>
                  </a:r>
                </a:p>
              </p:txBody>
            </p:sp>
          </p:grpSp>
        </p:grpSp>
        <p:sp>
          <p:nvSpPr>
            <p:cNvPr id="37900" name="Text Box 33">
              <a:extLst>
                <a:ext uri="{FF2B5EF4-FFF2-40B4-BE49-F238E27FC236}">
                  <a16:creationId xmlns:a16="http://schemas.microsoft.com/office/drawing/2014/main" id="{4BEFA25A-405B-487D-31E5-349501EB30FD}"/>
                </a:ext>
              </a:extLst>
            </p:cNvPr>
            <p:cNvSpPr txBox="1">
              <a:spLocks noChangeArrowheads="1"/>
            </p:cNvSpPr>
            <p:nvPr/>
          </p:nvSpPr>
          <p:spPr bwMode="auto">
            <a:xfrm>
              <a:off x="144" y="1296"/>
              <a:ext cx="21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FontTx/>
                <a:buNone/>
              </a:pPr>
              <a:endParaRPr lang="zh-CN" altLang="zh-CN" sz="2400"/>
            </a:p>
          </p:txBody>
        </p:sp>
      </p:grpSp>
      <p:sp>
        <p:nvSpPr>
          <p:cNvPr id="37895" name="Rectangle 35">
            <a:extLst>
              <a:ext uri="{FF2B5EF4-FFF2-40B4-BE49-F238E27FC236}">
                <a16:creationId xmlns:a16="http://schemas.microsoft.com/office/drawing/2014/main" id="{17B8EB0D-6BF0-9BB0-F8F0-998D89DD3DD4}"/>
              </a:ext>
            </a:extLst>
          </p:cNvPr>
          <p:cNvSpPr>
            <a:spLocks noGrp="1" noChangeArrowheads="1"/>
          </p:cNvSpPr>
          <p:nvPr>
            <p:ph type="title" idx="4294967295"/>
          </p:nvPr>
        </p:nvSpPr>
        <p:spPr/>
        <p:txBody>
          <a:bodyPr/>
          <a:lstStyle/>
          <a:p>
            <a:pPr eaLnBrk="1" hangingPunct="1"/>
            <a:r>
              <a:rPr lang="en-US" altLang="zh-CN" b="1"/>
              <a:t>   </a:t>
            </a:r>
            <a:r>
              <a:rPr lang="zh-CN" altLang="en-US" b="1"/>
              <a:t>计算机系统</a:t>
            </a:r>
          </a:p>
        </p:txBody>
      </p:sp>
      <p:grpSp>
        <p:nvGrpSpPr>
          <p:cNvPr id="37896" name="Group 36">
            <a:extLst>
              <a:ext uri="{FF2B5EF4-FFF2-40B4-BE49-F238E27FC236}">
                <a16:creationId xmlns:a16="http://schemas.microsoft.com/office/drawing/2014/main" id="{FC5CB164-6789-1BBB-47BF-E43A2D96ED7D}"/>
              </a:ext>
            </a:extLst>
          </p:cNvPr>
          <p:cNvGrpSpPr>
            <a:grpSpLocks/>
          </p:cNvGrpSpPr>
          <p:nvPr/>
        </p:nvGrpSpPr>
        <p:grpSpPr bwMode="auto">
          <a:xfrm>
            <a:off x="5715000" y="3644900"/>
            <a:ext cx="3429000" cy="938213"/>
            <a:chOff x="0" y="0"/>
            <a:chExt cx="2160" cy="591"/>
          </a:xfrm>
        </p:grpSpPr>
        <p:sp>
          <p:nvSpPr>
            <p:cNvPr id="37897" name="Text Box 37">
              <a:extLst>
                <a:ext uri="{FF2B5EF4-FFF2-40B4-BE49-F238E27FC236}">
                  <a16:creationId xmlns:a16="http://schemas.microsoft.com/office/drawing/2014/main" id="{B1DB6E3F-91E2-DB41-EB34-737185EF62BF}"/>
                </a:ext>
              </a:extLst>
            </p:cNvPr>
            <p:cNvSpPr txBox="1">
              <a:spLocks noChangeArrowheads="1"/>
            </p:cNvSpPr>
            <p:nvPr/>
          </p:nvSpPr>
          <p:spPr bwMode="auto">
            <a:xfrm>
              <a:off x="0" y="0"/>
              <a:ext cx="21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FontTx/>
                <a:buNone/>
              </a:pPr>
              <a:r>
                <a:rPr lang="zh-CN" altLang="en-US" sz="2400"/>
                <a:t>用户</a:t>
              </a:r>
            </a:p>
          </p:txBody>
        </p:sp>
        <p:pic>
          <p:nvPicPr>
            <p:cNvPr id="37898" name="Picture 38" descr="人-电脑">
              <a:extLst>
                <a:ext uri="{FF2B5EF4-FFF2-40B4-BE49-F238E27FC236}">
                  <a16:creationId xmlns:a16="http://schemas.microsoft.com/office/drawing/2014/main" id="{6BAE308F-6004-E6CC-7546-CEE889BD48DA}"/>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 y="75"/>
              <a:ext cx="720"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5">
            <a:extLst>
              <a:ext uri="{FF2B5EF4-FFF2-40B4-BE49-F238E27FC236}">
                <a16:creationId xmlns:a16="http://schemas.microsoft.com/office/drawing/2014/main" id="{3F15A617-2879-6A7E-E264-1599FD85AAF5}"/>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Tx/>
              <a:buNone/>
            </a:pPr>
            <a:fld id="{BCE17412-1CCC-4414-BBD2-6FE53298A7BD}" type="slidenum">
              <a:rPr lang="zh-CN" altLang="en-US" sz="1400"/>
              <a:pPr algn="r" eaLnBrk="1" hangingPunct="1">
                <a:spcBef>
                  <a:spcPct val="50000"/>
                </a:spcBef>
                <a:buFontTx/>
                <a:buNone/>
              </a:pPr>
              <a:t>16</a:t>
            </a:fld>
            <a:endParaRPr lang="zh-CN" altLang="en-US" sz="1400"/>
          </a:p>
        </p:txBody>
      </p:sp>
      <p:sp>
        <p:nvSpPr>
          <p:cNvPr id="38915" name="Rectangle 5">
            <a:extLst>
              <a:ext uri="{FF2B5EF4-FFF2-40B4-BE49-F238E27FC236}">
                <a16:creationId xmlns:a16="http://schemas.microsoft.com/office/drawing/2014/main" id="{0D491544-0397-3A7B-EF72-2B58CAA6A84D}"/>
              </a:ext>
            </a:extLst>
          </p:cNvPr>
          <p:cNvSpPr>
            <a:spLocks noGrp="1" noChangeArrowheads="1"/>
          </p:cNvSpPr>
          <p:nvPr>
            <p:ph type="body" idx="4294967295"/>
          </p:nvPr>
        </p:nvSpPr>
        <p:spPr>
          <a:xfrm>
            <a:off x="914400" y="1371600"/>
            <a:ext cx="7696200" cy="838200"/>
          </a:xfrm>
        </p:spPr>
        <p:txBody>
          <a:bodyPr lIns="92075" tIns="46038" rIns="92075" bIns="46038"/>
          <a:lstStyle/>
          <a:p>
            <a:pPr eaLnBrk="1" hangingPunct="1">
              <a:buFontTx/>
              <a:buNone/>
            </a:pPr>
            <a:r>
              <a:rPr lang="zh-CN" altLang="en-US" sz="3200" b="1"/>
              <a:t>二、</a:t>
            </a:r>
            <a:r>
              <a:rPr lang="zh-CN" altLang="en-US" b="1">
                <a:latin typeface="宋体" panose="02010600030101010101" pitchFamily="2" charset="-122"/>
              </a:rPr>
              <a:t>计算机软件及其分类</a:t>
            </a:r>
            <a:r>
              <a:rPr lang="zh-CN" altLang="en-US" b="1"/>
              <a:t> </a:t>
            </a:r>
            <a:r>
              <a:rPr lang="zh-CN" altLang="en-US" sz="3200" b="1"/>
              <a:t>	</a:t>
            </a:r>
          </a:p>
        </p:txBody>
      </p:sp>
      <p:sp>
        <p:nvSpPr>
          <p:cNvPr id="141316" name="Text Box 37">
            <a:extLst>
              <a:ext uri="{FF2B5EF4-FFF2-40B4-BE49-F238E27FC236}">
                <a16:creationId xmlns:a16="http://schemas.microsoft.com/office/drawing/2014/main" id="{C0A256C4-A138-27E0-BF33-1F9F5B80FCE6}"/>
              </a:ext>
            </a:extLst>
          </p:cNvPr>
          <p:cNvSpPr txBox="1">
            <a:spLocks noChangeArrowheads="1"/>
          </p:cNvSpPr>
          <p:nvPr/>
        </p:nvSpPr>
        <p:spPr bwMode="auto">
          <a:xfrm>
            <a:off x="685800" y="2060575"/>
            <a:ext cx="7543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zh-CN" altLang="en-US">
                <a:latin typeface="宋体" panose="02010600030101010101" pitchFamily="2" charset="-122"/>
              </a:rPr>
              <a:t>软件的定义：是程序、数据、相关文档的完整 	       集合。</a:t>
            </a:r>
            <a:endParaRPr lang="zh-CN" altLang="en-US"/>
          </a:p>
        </p:txBody>
      </p:sp>
      <p:grpSp>
        <p:nvGrpSpPr>
          <p:cNvPr id="141317" name="Group 43">
            <a:extLst>
              <a:ext uri="{FF2B5EF4-FFF2-40B4-BE49-F238E27FC236}">
                <a16:creationId xmlns:a16="http://schemas.microsoft.com/office/drawing/2014/main" id="{2543757F-3592-9C00-D338-E7DB5DB83B34}"/>
              </a:ext>
            </a:extLst>
          </p:cNvPr>
          <p:cNvGrpSpPr>
            <a:grpSpLocks/>
          </p:cNvGrpSpPr>
          <p:nvPr/>
        </p:nvGrpSpPr>
        <p:grpSpPr bwMode="auto">
          <a:xfrm>
            <a:off x="609600" y="3068638"/>
            <a:ext cx="7924800" cy="501650"/>
            <a:chOff x="0" y="0"/>
            <a:chExt cx="4992" cy="316"/>
          </a:xfrm>
        </p:grpSpPr>
        <p:sp>
          <p:nvSpPr>
            <p:cNvPr id="38933" name="Text Box 39">
              <a:extLst>
                <a:ext uri="{FF2B5EF4-FFF2-40B4-BE49-F238E27FC236}">
                  <a16:creationId xmlns:a16="http://schemas.microsoft.com/office/drawing/2014/main" id="{BE250CF6-DE60-05AB-FD88-A651F06456FA}"/>
                </a:ext>
              </a:extLst>
            </p:cNvPr>
            <p:cNvSpPr txBox="1">
              <a:spLocks noChangeArrowheads="1"/>
            </p:cNvSpPr>
            <p:nvPr/>
          </p:nvSpPr>
          <p:spPr bwMode="auto">
            <a:xfrm>
              <a:off x="0" y="28"/>
              <a:ext cx="49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latin typeface="宋体" panose="02010600030101010101" pitchFamily="2" charset="-122"/>
                </a:rPr>
                <a:t>         </a:t>
              </a:r>
              <a:r>
                <a:rPr lang="zh-CN" altLang="en-US" sz="2400">
                  <a:latin typeface="宋体" panose="02010600030101010101" pitchFamily="2" charset="-122"/>
                </a:rPr>
                <a:t>按事先设计的功能和性能要求编制的指令序列</a:t>
              </a:r>
            </a:p>
          </p:txBody>
        </p:sp>
        <p:grpSp>
          <p:nvGrpSpPr>
            <p:cNvPr id="38934" name="Group 40">
              <a:extLst>
                <a:ext uri="{FF2B5EF4-FFF2-40B4-BE49-F238E27FC236}">
                  <a16:creationId xmlns:a16="http://schemas.microsoft.com/office/drawing/2014/main" id="{41FBC451-3220-6F39-3695-04C09A426BD5}"/>
                </a:ext>
              </a:extLst>
            </p:cNvPr>
            <p:cNvGrpSpPr>
              <a:grpSpLocks/>
            </p:cNvGrpSpPr>
            <p:nvPr/>
          </p:nvGrpSpPr>
          <p:grpSpPr bwMode="auto">
            <a:xfrm>
              <a:off x="48" y="0"/>
              <a:ext cx="765" cy="308"/>
              <a:chOff x="0" y="0"/>
              <a:chExt cx="2448" cy="384"/>
            </a:xfrm>
          </p:grpSpPr>
          <p:sp>
            <p:nvSpPr>
              <p:cNvPr id="38935" name="AutoShape 41">
                <a:extLst>
                  <a:ext uri="{FF2B5EF4-FFF2-40B4-BE49-F238E27FC236}">
                    <a16:creationId xmlns:a16="http://schemas.microsoft.com/office/drawing/2014/main" id="{519EEFA2-9F20-CC1A-9476-8BAE0D9D3C8B}"/>
                  </a:ext>
                </a:extLst>
              </p:cNvPr>
              <p:cNvSpPr>
                <a:spLocks noChangeArrowheads="1"/>
              </p:cNvSpPr>
              <p:nvPr/>
            </p:nvSpPr>
            <p:spPr bwMode="auto">
              <a:xfrm rot="-5400000">
                <a:off x="1032" y="-1032"/>
                <a:ext cx="384" cy="2448"/>
              </a:xfrm>
              <a:prstGeom prst="can">
                <a:avLst>
                  <a:gd name="adj" fmla="val 54837"/>
                </a:avLst>
              </a:prstGeom>
              <a:gradFill rotWithShape="0">
                <a:gsLst>
                  <a:gs pos="0">
                    <a:srgbClr val="F9E5B3"/>
                  </a:gs>
                  <a:gs pos="50000">
                    <a:srgbClr val="AE8000"/>
                  </a:gs>
                  <a:gs pos="100000">
                    <a:srgbClr val="F9E5B3"/>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1800"/>
              </a:p>
            </p:txBody>
          </p:sp>
          <p:sp>
            <p:nvSpPr>
              <p:cNvPr id="38936" name="Rectangle 42">
                <a:extLst>
                  <a:ext uri="{FF2B5EF4-FFF2-40B4-BE49-F238E27FC236}">
                    <a16:creationId xmlns:a16="http://schemas.microsoft.com/office/drawing/2014/main" id="{2A9655D3-6101-6694-4FB6-23036E3B2974}"/>
                  </a:ext>
                </a:extLst>
              </p:cNvPr>
              <p:cNvSpPr>
                <a:spLocks noChangeArrowheads="1"/>
              </p:cNvSpPr>
              <p:nvPr/>
            </p:nvSpPr>
            <p:spPr bwMode="auto">
              <a:xfrm>
                <a:off x="144" y="0"/>
                <a:ext cx="2208"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a:t>  </a:t>
                </a:r>
                <a:r>
                  <a:rPr lang="zh-CN" altLang="en-US" sz="2400"/>
                  <a:t>程序</a:t>
                </a:r>
              </a:p>
            </p:txBody>
          </p:sp>
        </p:grpSp>
      </p:grpSp>
      <p:grpSp>
        <p:nvGrpSpPr>
          <p:cNvPr id="141322" name="Group 44">
            <a:extLst>
              <a:ext uri="{FF2B5EF4-FFF2-40B4-BE49-F238E27FC236}">
                <a16:creationId xmlns:a16="http://schemas.microsoft.com/office/drawing/2014/main" id="{64223D62-A0A1-C6ED-A17C-7122D2F18715}"/>
              </a:ext>
            </a:extLst>
          </p:cNvPr>
          <p:cNvGrpSpPr>
            <a:grpSpLocks/>
          </p:cNvGrpSpPr>
          <p:nvPr/>
        </p:nvGrpSpPr>
        <p:grpSpPr bwMode="auto">
          <a:xfrm>
            <a:off x="609600" y="3709988"/>
            <a:ext cx="7924800" cy="501650"/>
            <a:chOff x="0" y="0"/>
            <a:chExt cx="4992" cy="316"/>
          </a:xfrm>
        </p:grpSpPr>
        <p:sp>
          <p:nvSpPr>
            <p:cNvPr id="38929" name="Text Box 45">
              <a:extLst>
                <a:ext uri="{FF2B5EF4-FFF2-40B4-BE49-F238E27FC236}">
                  <a16:creationId xmlns:a16="http://schemas.microsoft.com/office/drawing/2014/main" id="{8DF21DEB-E47D-1DA1-F4A0-16EAD12DEA1C}"/>
                </a:ext>
              </a:extLst>
            </p:cNvPr>
            <p:cNvSpPr txBox="1">
              <a:spLocks noChangeArrowheads="1"/>
            </p:cNvSpPr>
            <p:nvPr/>
          </p:nvSpPr>
          <p:spPr bwMode="auto">
            <a:xfrm>
              <a:off x="0" y="28"/>
              <a:ext cx="49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a:latin typeface="宋体" panose="02010600030101010101" pitchFamily="2" charset="-122"/>
                </a:rPr>
                <a:t>         </a:t>
              </a:r>
              <a:r>
                <a:rPr lang="zh-CN" altLang="en-US" sz="2400">
                  <a:latin typeface="宋体" panose="02010600030101010101" pitchFamily="2" charset="-122"/>
                </a:rPr>
                <a:t>程序能正常操纵的信息的数据结构</a:t>
              </a:r>
            </a:p>
          </p:txBody>
        </p:sp>
        <p:grpSp>
          <p:nvGrpSpPr>
            <p:cNvPr id="38930" name="Group 46">
              <a:extLst>
                <a:ext uri="{FF2B5EF4-FFF2-40B4-BE49-F238E27FC236}">
                  <a16:creationId xmlns:a16="http://schemas.microsoft.com/office/drawing/2014/main" id="{535CF319-5D71-72B0-F0B1-3C91E01138E1}"/>
                </a:ext>
              </a:extLst>
            </p:cNvPr>
            <p:cNvGrpSpPr>
              <a:grpSpLocks/>
            </p:cNvGrpSpPr>
            <p:nvPr/>
          </p:nvGrpSpPr>
          <p:grpSpPr bwMode="auto">
            <a:xfrm>
              <a:off x="48" y="0"/>
              <a:ext cx="765" cy="308"/>
              <a:chOff x="0" y="0"/>
              <a:chExt cx="2448" cy="384"/>
            </a:xfrm>
          </p:grpSpPr>
          <p:sp>
            <p:nvSpPr>
              <p:cNvPr id="38931" name="AutoShape 47">
                <a:extLst>
                  <a:ext uri="{FF2B5EF4-FFF2-40B4-BE49-F238E27FC236}">
                    <a16:creationId xmlns:a16="http://schemas.microsoft.com/office/drawing/2014/main" id="{4B0E6ACF-806C-DC4C-3224-A0D546FF6B08}"/>
                  </a:ext>
                </a:extLst>
              </p:cNvPr>
              <p:cNvSpPr>
                <a:spLocks noChangeArrowheads="1"/>
              </p:cNvSpPr>
              <p:nvPr/>
            </p:nvSpPr>
            <p:spPr bwMode="auto">
              <a:xfrm rot="-5400000">
                <a:off x="1032" y="-1032"/>
                <a:ext cx="384" cy="2448"/>
              </a:xfrm>
              <a:prstGeom prst="can">
                <a:avLst>
                  <a:gd name="adj" fmla="val 54837"/>
                </a:avLst>
              </a:prstGeom>
              <a:gradFill rotWithShape="0">
                <a:gsLst>
                  <a:gs pos="0">
                    <a:srgbClr val="F9E5B3"/>
                  </a:gs>
                  <a:gs pos="50000">
                    <a:srgbClr val="AE8000"/>
                  </a:gs>
                  <a:gs pos="100000">
                    <a:srgbClr val="F9E5B3"/>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1800"/>
              </a:p>
            </p:txBody>
          </p:sp>
          <p:sp>
            <p:nvSpPr>
              <p:cNvPr id="38932" name="Rectangle 48">
                <a:extLst>
                  <a:ext uri="{FF2B5EF4-FFF2-40B4-BE49-F238E27FC236}">
                    <a16:creationId xmlns:a16="http://schemas.microsoft.com/office/drawing/2014/main" id="{B6D24206-086E-0934-806D-7B69BA073C4F}"/>
                  </a:ext>
                </a:extLst>
              </p:cNvPr>
              <p:cNvSpPr>
                <a:spLocks noChangeArrowheads="1"/>
              </p:cNvSpPr>
              <p:nvPr/>
            </p:nvSpPr>
            <p:spPr bwMode="auto">
              <a:xfrm>
                <a:off x="144" y="0"/>
                <a:ext cx="2208"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400"/>
                  <a:t>  数据</a:t>
                </a:r>
                <a:endParaRPr lang="en-US" altLang="zh-CN" sz="2400"/>
              </a:p>
            </p:txBody>
          </p:sp>
        </p:grpSp>
      </p:grpSp>
      <p:grpSp>
        <p:nvGrpSpPr>
          <p:cNvPr id="141327" name="Group 49">
            <a:extLst>
              <a:ext uri="{FF2B5EF4-FFF2-40B4-BE49-F238E27FC236}">
                <a16:creationId xmlns:a16="http://schemas.microsoft.com/office/drawing/2014/main" id="{30963E61-E820-E857-1E7D-A184F2591E6B}"/>
              </a:ext>
            </a:extLst>
          </p:cNvPr>
          <p:cNvGrpSpPr>
            <a:grpSpLocks/>
          </p:cNvGrpSpPr>
          <p:nvPr/>
        </p:nvGrpSpPr>
        <p:grpSpPr bwMode="auto">
          <a:xfrm>
            <a:off x="609600" y="4284663"/>
            <a:ext cx="7924800" cy="501650"/>
            <a:chOff x="0" y="0"/>
            <a:chExt cx="4992" cy="316"/>
          </a:xfrm>
        </p:grpSpPr>
        <p:sp>
          <p:nvSpPr>
            <p:cNvPr id="38925" name="Text Box 50">
              <a:extLst>
                <a:ext uri="{FF2B5EF4-FFF2-40B4-BE49-F238E27FC236}">
                  <a16:creationId xmlns:a16="http://schemas.microsoft.com/office/drawing/2014/main" id="{2AC085A4-E1E7-5D80-8A3C-042B9189E1D0}"/>
                </a:ext>
              </a:extLst>
            </p:cNvPr>
            <p:cNvSpPr txBox="1">
              <a:spLocks noChangeArrowheads="1"/>
            </p:cNvSpPr>
            <p:nvPr/>
          </p:nvSpPr>
          <p:spPr bwMode="auto">
            <a:xfrm>
              <a:off x="0" y="28"/>
              <a:ext cx="49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FontTx/>
                <a:buNone/>
              </a:pPr>
              <a:r>
                <a:rPr lang="en-US" altLang="zh-CN" sz="2400">
                  <a:latin typeface="宋体" panose="02010600030101010101" pitchFamily="2" charset="-122"/>
                </a:rPr>
                <a:t>   </a:t>
              </a:r>
              <a:r>
                <a:rPr lang="zh-CN" altLang="en-US" sz="2400">
                  <a:latin typeface="宋体" panose="02010600030101010101" pitchFamily="2" charset="-122"/>
                </a:rPr>
                <a:t>与程序开发、维护和使用有关的图文材料</a:t>
              </a:r>
            </a:p>
          </p:txBody>
        </p:sp>
        <p:grpSp>
          <p:nvGrpSpPr>
            <p:cNvPr id="38926" name="Group 51">
              <a:extLst>
                <a:ext uri="{FF2B5EF4-FFF2-40B4-BE49-F238E27FC236}">
                  <a16:creationId xmlns:a16="http://schemas.microsoft.com/office/drawing/2014/main" id="{F7DEB3FF-BE5E-2F6B-4562-9CCA8999D7CD}"/>
                </a:ext>
              </a:extLst>
            </p:cNvPr>
            <p:cNvGrpSpPr>
              <a:grpSpLocks/>
            </p:cNvGrpSpPr>
            <p:nvPr/>
          </p:nvGrpSpPr>
          <p:grpSpPr bwMode="auto">
            <a:xfrm>
              <a:off x="48" y="0"/>
              <a:ext cx="765" cy="308"/>
              <a:chOff x="0" y="0"/>
              <a:chExt cx="2448" cy="384"/>
            </a:xfrm>
          </p:grpSpPr>
          <p:sp>
            <p:nvSpPr>
              <p:cNvPr id="38927" name="AutoShape 52">
                <a:extLst>
                  <a:ext uri="{FF2B5EF4-FFF2-40B4-BE49-F238E27FC236}">
                    <a16:creationId xmlns:a16="http://schemas.microsoft.com/office/drawing/2014/main" id="{170CFED5-978A-390E-9E5F-0F89D5E00422}"/>
                  </a:ext>
                </a:extLst>
              </p:cNvPr>
              <p:cNvSpPr>
                <a:spLocks noChangeArrowheads="1"/>
              </p:cNvSpPr>
              <p:nvPr/>
            </p:nvSpPr>
            <p:spPr bwMode="auto">
              <a:xfrm rot="-5400000">
                <a:off x="1032" y="-1032"/>
                <a:ext cx="384" cy="2448"/>
              </a:xfrm>
              <a:prstGeom prst="can">
                <a:avLst>
                  <a:gd name="adj" fmla="val 54837"/>
                </a:avLst>
              </a:prstGeom>
              <a:gradFill rotWithShape="0">
                <a:gsLst>
                  <a:gs pos="0">
                    <a:srgbClr val="F9E5B3"/>
                  </a:gs>
                  <a:gs pos="50000">
                    <a:srgbClr val="AE8000"/>
                  </a:gs>
                  <a:gs pos="100000">
                    <a:srgbClr val="F9E5B3"/>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1800"/>
              </a:p>
            </p:txBody>
          </p:sp>
          <p:sp>
            <p:nvSpPr>
              <p:cNvPr id="38928" name="Rectangle 53">
                <a:extLst>
                  <a:ext uri="{FF2B5EF4-FFF2-40B4-BE49-F238E27FC236}">
                    <a16:creationId xmlns:a16="http://schemas.microsoft.com/office/drawing/2014/main" id="{2DB16B2E-0450-D5B3-F7DD-96BE1A212B98}"/>
                  </a:ext>
                </a:extLst>
              </p:cNvPr>
              <p:cNvSpPr>
                <a:spLocks noChangeArrowheads="1"/>
              </p:cNvSpPr>
              <p:nvPr/>
            </p:nvSpPr>
            <p:spPr bwMode="auto">
              <a:xfrm>
                <a:off x="144" y="0"/>
                <a:ext cx="2208"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400"/>
                  <a:t>  文档</a:t>
                </a:r>
                <a:endParaRPr lang="en-US" altLang="zh-CN" sz="2400"/>
              </a:p>
            </p:txBody>
          </p:sp>
        </p:grpSp>
      </p:grpSp>
      <p:grpSp>
        <p:nvGrpSpPr>
          <p:cNvPr id="141332" name="Group 54">
            <a:extLst>
              <a:ext uri="{FF2B5EF4-FFF2-40B4-BE49-F238E27FC236}">
                <a16:creationId xmlns:a16="http://schemas.microsoft.com/office/drawing/2014/main" id="{FA7853DB-1113-83EE-A18A-3358F9F6CCC0}"/>
              </a:ext>
            </a:extLst>
          </p:cNvPr>
          <p:cNvGrpSpPr>
            <a:grpSpLocks/>
          </p:cNvGrpSpPr>
          <p:nvPr/>
        </p:nvGrpSpPr>
        <p:grpSpPr bwMode="auto">
          <a:xfrm>
            <a:off x="2667000" y="5003800"/>
            <a:ext cx="2590800" cy="609600"/>
            <a:chOff x="0" y="0"/>
            <a:chExt cx="1056" cy="336"/>
          </a:xfrm>
        </p:grpSpPr>
        <p:sp>
          <p:nvSpPr>
            <p:cNvPr id="38923" name="Rectangle 55">
              <a:extLst>
                <a:ext uri="{FF2B5EF4-FFF2-40B4-BE49-F238E27FC236}">
                  <a16:creationId xmlns:a16="http://schemas.microsoft.com/office/drawing/2014/main" id="{47D01A02-6222-6C18-6FC3-E0EF580547EF}"/>
                </a:ext>
              </a:extLst>
            </p:cNvPr>
            <p:cNvSpPr>
              <a:spLocks noChangeArrowheads="1"/>
            </p:cNvSpPr>
            <p:nvPr/>
          </p:nvSpPr>
          <p:spPr bwMode="auto">
            <a:xfrm>
              <a:off x="0" y="0"/>
              <a:ext cx="1056" cy="336"/>
            </a:xfrm>
            <a:prstGeom prst="rect">
              <a:avLst/>
            </a:prstGeom>
            <a:gradFill rotWithShape="0">
              <a:gsLst>
                <a:gs pos="0">
                  <a:srgbClr val="CF0E30"/>
                </a:gs>
                <a:gs pos="50000">
                  <a:srgbClr val="3E040E"/>
                </a:gs>
                <a:gs pos="100000">
                  <a:srgbClr val="CF0E30"/>
                </a:gs>
              </a:gsLst>
              <a:lin ang="18900000" scaled="1"/>
            </a:gradFill>
            <a:ln w="28575">
              <a:solidFill>
                <a:srgbClr val="F68295"/>
              </a:solidFill>
              <a:miter lim="800000"/>
              <a:headEnd/>
              <a:tailEnd/>
            </a:ln>
          </p:spPr>
          <p:txBody>
            <a:bodyPr wrap="none" anchor="ct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1800"/>
            </a:p>
          </p:txBody>
        </p:sp>
        <p:sp>
          <p:nvSpPr>
            <p:cNvPr id="38924" name="Text Box 56">
              <a:extLst>
                <a:ext uri="{FF2B5EF4-FFF2-40B4-BE49-F238E27FC236}">
                  <a16:creationId xmlns:a16="http://schemas.microsoft.com/office/drawing/2014/main" id="{A2ED2793-C246-E733-8C30-F387D83CB9E5}"/>
                </a:ext>
              </a:extLst>
            </p:cNvPr>
            <p:cNvSpPr txBox="1">
              <a:spLocks noChangeArrowheads="1"/>
            </p:cNvSpPr>
            <p:nvPr/>
          </p:nvSpPr>
          <p:spPr bwMode="auto">
            <a:xfrm>
              <a:off x="0" y="0"/>
              <a:ext cx="1008"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buFontTx/>
                <a:buNone/>
              </a:pPr>
              <a:r>
                <a:rPr lang="zh-CN" altLang="en-US">
                  <a:solidFill>
                    <a:srgbClr val="FFFFFF"/>
                  </a:solidFill>
                  <a:latin typeface="楷体_GB2312" pitchFamily="49" charset="-122"/>
                  <a:ea typeface="楷体_GB2312" pitchFamily="49" charset="-122"/>
                </a:rPr>
                <a:t>软件</a:t>
              </a:r>
              <a:r>
                <a:rPr lang="en-US" altLang="zh-CN">
                  <a:solidFill>
                    <a:srgbClr val="FFFFFF"/>
                  </a:solidFill>
                  <a:latin typeface="楷体_GB2312" pitchFamily="49" charset="-122"/>
                  <a:ea typeface="楷体_GB2312" pitchFamily="49" charset="-122"/>
                </a:rPr>
                <a:t>=</a:t>
              </a:r>
              <a:r>
                <a:rPr lang="zh-CN" altLang="en-US">
                  <a:solidFill>
                    <a:srgbClr val="FFFFFF"/>
                  </a:solidFill>
                  <a:latin typeface="楷体_GB2312" pitchFamily="49" charset="-122"/>
                  <a:ea typeface="楷体_GB2312" pitchFamily="49" charset="-122"/>
                </a:rPr>
                <a:t>程序</a:t>
              </a:r>
            </a:p>
          </p:txBody>
        </p:sp>
      </p:grpSp>
      <p:sp>
        <p:nvSpPr>
          <p:cNvPr id="38921" name="Rectangle 58">
            <a:extLst>
              <a:ext uri="{FF2B5EF4-FFF2-40B4-BE49-F238E27FC236}">
                <a16:creationId xmlns:a16="http://schemas.microsoft.com/office/drawing/2014/main" id="{5D8395A5-4D9E-8060-40F7-9B1F0374DA56}"/>
              </a:ext>
            </a:extLst>
          </p:cNvPr>
          <p:cNvSpPr>
            <a:spLocks noGrp="1" noChangeArrowheads="1"/>
          </p:cNvSpPr>
          <p:nvPr>
            <p:ph type="title" idx="4294967295"/>
          </p:nvPr>
        </p:nvSpPr>
        <p:spPr/>
        <p:txBody>
          <a:bodyPr/>
          <a:lstStyle/>
          <a:p>
            <a:pPr eaLnBrk="1" hangingPunct="1"/>
            <a:r>
              <a:rPr lang="zh-CN" altLang="en-US" b="1" dirty="0"/>
              <a:t>软件的定义</a:t>
            </a:r>
          </a:p>
        </p:txBody>
      </p:sp>
      <p:sp>
        <p:nvSpPr>
          <p:cNvPr id="38922" name="Line 59">
            <a:extLst>
              <a:ext uri="{FF2B5EF4-FFF2-40B4-BE49-F238E27FC236}">
                <a16:creationId xmlns:a16="http://schemas.microsoft.com/office/drawing/2014/main" id="{2C3B795B-7FF6-977C-46F7-535D8C329132}"/>
              </a:ext>
            </a:extLst>
          </p:cNvPr>
          <p:cNvSpPr>
            <a:spLocks noChangeShapeType="1"/>
          </p:cNvSpPr>
          <p:nvPr/>
        </p:nvSpPr>
        <p:spPr bwMode="auto">
          <a:xfrm flipH="1">
            <a:off x="3851275" y="5148263"/>
            <a:ext cx="73025" cy="215900"/>
          </a:xfrm>
          <a:prstGeom prst="line">
            <a:avLst/>
          </a:prstGeom>
          <a:noFill/>
          <a:ln w="15875">
            <a:solidFill>
              <a:schemeClr val="bg1"/>
            </a:solidFill>
            <a:round/>
            <a:headEnd/>
            <a:tailEnd/>
          </a:ln>
          <a:effectLst>
            <a:prstShdw prst="shdw17" dist="17961" dir="13500000">
              <a:srgbClr val="999999"/>
            </a:prstShdw>
          </a:effectLst>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1316"/>
                                        </p:tgtEl>
                                        <p:attrNameLst>
                                          <p:attrName>style.visibility</p:attrName>
                                        </p:attrNameLst>
                                      </p:cBhvr>
                                      <p:to>
                                        <p:strVal val="visible"/>
                                      </p:to>
                                    </p:set>
                                    <p:animEffect transition="in" filter="dissolve">
                                      <p:cBhvr>
                                        <p:cTn id="7" dur="500"/>
                                        <p:tgtEl>
                                          <p:spTgt spid="1413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41317"/>
                                        </p:tgtEl>
                                        <p:attrNameLst>
                                          <p:attrName>style.visibility</p:attrName>
                                        </p:attrNameLst>
                                      </p:cBhvr>
                                      <p:to>
                                        <p:strVal val="visible"/>
                                      </p:to>
                                    </p:set>
                                    <p:animEffect transition="in" filter="dissolve">
                                      <p:cBhvr>
                                        <p:cTn id="12" dur="500"/>
                                        <p:tgtEl>
                                          <p:spTgt spid="1413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41322"/>
                                        </p:tgtEl>
                                        <p:attrNameLst>
                                          <p:attrName>style.visibility</p:attrName>
                                        </p:attrNameLst>
                                      </p:cBhvr>
                                      <p:to>
                                        <p:strVal val="visible"/>
                                      </p:to>
                                    </p:set>
                                    <p:animEffect transition="in" filter="dissolve">
                                      <p:cBhvr>
                                        <p:cTn id="17" dur="500"/>
                                        <p:tgtEl>
                                          <p:spTgt spid="14132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41327"/>
                                        </p:tgtEl>
                                        <p:attrNameLst>
                                          <p:attrName>style.visibility</p:attrName>
                                        </p:attrNameLst>
                                      </p:cBhvr>
                                      <p:to>
                                        <p:strVal val="visible"/>
                                      </p:to>
                                    </p:set>
                                    <p:animEffect transition="in" filter="dissolve">
                                      <p:cBhvr>
                                        <p:cTn id="22" dur="500"/>
                                        <p:tgtEl>
                                          <p:spTgt spid="14132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141332"/>
                                        </p:tgtEl>
                                        <p:attrNameLst>
                                          <p:attrName>style.visibility</p:attrName>
                                        </p:attrNameLst>
                                      </p:cBhvr>
                                      <p:to>
                                        <p:strVal val="visible"/>
                                      </p:to>
                                    </p:set>
                                    <p:animEffect transition="in" filter="dissolve">
                                      <p:cBhvr>
                                        <p:cTn id="27" dur="500"/>
                                        <p:tgtEl>
                                          <p:spTgt spid="1413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6" grpId="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灯片编号占位符 5">
            <a:extLst>
              <a:ext uri="{FF2B5EF4-FFF2-40B4-BE49-F238E27FC236}">
                <a16:creationId xmlns:a16="http://schemas.microsoft.com/office/drawing/2014/main" id="{6E8DB0C4-858A-8DB9-860D-98E10FA82824}"/>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Tx/>
              <a:buNone/>
            </a:pPr>
            <a:fld id="{FD040ABD-072E-4186-B54A-873140344F8E}" type="slidenum">
              <a:rPr lang="zh-CN" altLang="en-US" sz="1400"/>
              <a:pPr algn="r" eaLnBrk="1" hangingPunct="1">
                <a:spcBef>
                  <a:spcPct val="50000"/>
                </a:spcBef>
                <a:buFontTx/>
                <a:buNone/>
              </a:pPr>
              <a:t>17</a:t>
            </a:fld>
            <a:endParaRPr lang="zh-CN" altLang="en-US" sz="1400"/>
          </a:p>
        </p:txBody>
      </p:sp>
      <p:sp>
        <p:nvSpPr>
          <p:cNvPr id="143363" name="Rectangle 3">
            <a:extLst>
              <a:ext uri="{FF2B5EF4-FFF2-40B4-BE49-F238E27FC236}">
                <a16:creationId xmlns:a16="http://schemas.microsoft.com/office/drawing/2014/main" id="{4567E378-753A-CEBF-C07B-344185AB3507}"/>
              </a:ext>
            </a:extLst>
          </p:cNvPr>
          <p:cNvSpPr>
            <a:spLocks noGrp="1" noChangeArrowheads="1"/>
          </p:cNvSpPr>
          <p:nvPr>
            <p:ph type="body" idx="4294967295"/>
          </p:nvPr>
        </p:nvSpPr>
        <p:spPr>
          <a:xfrm>
            <a:off x="685800" y="1616075"/>
            <a:ext cx="7918450" cy="4114800"/>
          </a:xfrm>
        </p:spPr>
        <p:txBody>
          <a:bodyPr/>
          <a:lstStyle/>
          <a:p>
            <a:pPr>
              <a:lnSpc>
                <a:spcPct val="90000"/>
              </a:lnSpc>
              <a:spcBef>
                <a:spcPct val="50000"/>
              </a:spcBef>
              <a:buFontTx/>
              <a:buNone/>
            </a:pPr>
            <a:r>
              <a:rPr lang="zh-CN" altLang="en-US" sz="2400" b="1">
                <a:latin typeface="宋体" panose="02010600030101010101" pitchFamily="2" charset="-122"/>
              </a:rPr>
              <a:t>			 面对普遍的应用要求、为了</a:t>
            </a:r>
            <a:r>
              <a:rPr lang="zh-CN" altLang="en-US" sz="2400" b="1">
                <a:solidFill>
                  <a:srgbClr val="6600FF"/>
                </a:solidFill>
                <a:latin typeface="宋体" panose="02010600030101010101" pitchFamily="2" charset="-122"/>
              </a:rPr>
              <a:t>充分发挥硬件的特性、维护计算机的硬件和软件系统、平滑用户与硬件设备间的沟坎</a:t>
            </a:r>
            <a:r>
              <a:rPr lang="zh-CN" altLang="en-US" sz="2400" b="1">
                <a:latin typeface="宋体" panose="02010600030101010101" pitchFamily="2" charset="-122"/>
              </a:rPr>
              <a:t>而设计的软件，不针对具体的应用。</a:t>
            </a:r>
          </a:p>
          <a:p>
            <a:pPr>
              <a:lnSpc>
                <a:spcPct val="90000"/>
              </a:lnSpc>
              <a:spcBef>
                <a:spcPct val="50000"/>
              </a:spcBef>
              <a:buFontTx/>
              <a:buNone/>
            </a:pPr>
            <a:r>
              <a:rPr lang="zh-CN" altLang="en-US" sz="2400" b="1">
                <a:latin typeface="宋体" panose="02010600030101010101" pitchFamily="2" charset="-122"/>
              </a:rPr>
              <a:t>	</a:t>
            </a:r>
            <a:r>
              <a:rPr lang="zh-CN" altLang="en-US" sz="2400" b="1"/>
              <a:t>如：操作系统、数据库管理系统、设备驱动程序、语言集成开发环境（如</a:t>
            </a:r>
            <a:r>
              <a:rPr lang="en-US" altLang="zh-CN" sz="2400" b="1"/>
              <a:t>Dev-C++</a:t>
            </a:r>
            <a:r>
              <a:rPr lang="zh-CN" altLang="en-US" sz="2400" b="1"/>
              <a:t>）等。</a:t>
            </a:r>
            <a:endParaRPr lang="en-US" altLang="zh-CN" sz="2400" b="1"/>
          </a:p>
          <a:p>
            <a:pPr>
              <a:lnSpc>
                <a:spcPct val="90000"/>
              </a:lnSpc>
              <a:spcBef>
                <a:spcPct val="50000"/>
              </a:spcBef>
              <a:buFontTx/>
              <a:buNone/>
            </a:pPr>
            <a:endParaRPr lang="zh-CN" altLang="en-US" sz="2400" b="1">
              <a:latin typeface="宋体" panose="02010600030101010101" pitchFamily="2" charset="-122"/>
            </a:endParaRPr>
          </a:p>
          <a:p>
            <a:pPr eaLnBrk="1" hangingPunct="1">
              <a:lnSpc>
                <a:spcPct val="90000"/>
              </a:lnSpc>
              <a:buFontTx/>
              <a:buNone/>
            </a:pPr>
            <a:r>
              <a:rPr lang="zh-CN" altLang="en-US" sz="2400" b="1">
                <a:latin typeface="宋体" panose="02010600030101010101" pitchFamily="2" charset="-122"/>
              </a:rPr>
              <a:t>           是在系统软件的基础上开发出来的、用于</a:t>
            </a:r>
            <a:r>
              <a:rPr lang="zh-CN" altLang="en-US" sz="2400" b="1">
                <a:solidFill>
                  <a:schemeClr val="accent2"/>
                </a:solidFill>
                <a:latin typeface="宋体" panose="02010600030101010101" pitchFamily="2" charset="-122"/>
              </a:rPr>
              <a:t>解决具体问题</a:t>
            </a:r>
            <a:r>
              <a:rPr lang="zh-CN" altLang="en-US" sz="2400" b="1">
                <a:latin typeface="宋体" panose="02010600030101010101" pitchFamily="2" charset="-122"/>
              </a:rPr>
              <a:t>所编制的各种具体应用程序，如：飞机定票系统，图书管理系统等</a:t>
            </a:r>
            <a:r>
              <a:rPr lang="zh-CN" altLang="en-US" sz="2400" b="1"/>
              <a:t> 。</a:t>
            </a:r>
          </a:p>
        </p:txBody>
      </p:sp>
      <p:grpSp>
        <p:nvGrpSpPr>
          <p:cNvPr id="143364" name="Group 4">
            <a:extLst>
              <a:ext uri="{FF2B5EF4-FFF2-40B4-BE49-F238E27FC236}">
                <a16:creationId xmlns:a16="http://schemas.microsoft.com/office/drawing/2014/main" id="{FE3C89EA-CB3B-64D5-8AD2-DFB936A19331}"/>
              </a:ext>
            </a:extLst>
          </p:cNvPr>
          <p:cNvGrpSpPr>
            <a:grpSpLocks/>
          </p:cNvGrpSpPr>
          <p:nvPr/>
        </p:nvGrpSpPr>
        <p:grpSpPr bwMode="auto">
          <a:xfrm>
            <a:off x="1066800" y="1463675"/>
            <a:ext cx="1600200" cy="533400"/>
            <a:chOff x="0" y="0"/>
            <a:chExt cx="2448" cy="384"/>
          </a:xfrm>
        </p:grpSpPr>
        <p:sp>
          <p:nvSpPr>
            <p:cNvPr id="40970" name="AutoShape 5">
              <a:extLst>
                <a:ext uri="{FF2B5EF4-FFF2-40B4-BE49-F238E27FC236}">
                  <a16:creationId xmlns:a16="http://schemas.microsoft.com/office/drawing/2014/main" id="{75D74A5F-A2A5-DE9A-A33C-A71ED95E7CC7}"/>
                </a:ext>
              </a:extLst>
            </p:cNvPr>
            <p:cNvSpPr>
              <a:spLocks noChangeArrowheads="1"/>
            </p:cNvSpPr>
            <p:nvPr/>
          </p:nvSpPr>
          <p:spPr bwMode="auto">
            <a:xfrm rot="-5400000">
              <a:off x="1032" y="-1032"/>
              <a:ext cx="384" cy="2448"/>
            </a:xfrm>
            <a:prstGeom prst="can">
              <a:avLst>
                <a:gd name="adj" fmla="val 54837"/>
              </a:avLst>
            </a:prstGeom>
            <a:gradFill rotWithShape="0">
              <a:gsLst>
                <a:gs pos="0">
                  <a:srgbClr val="F9E5B3"/>
                </a:gs>
                <a:gs pos="50000">
                  <a:srgbClr val="AE8000"/>
                </a:gs>
                <a:gs pos="100000">
                  <a:srgbClr val="F9E5B3"/>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1800"/>
            </a:p>
          </p:txBody>
        </p:sp>
        <p:sp>
          <p:nvSpPr>
            <p:cNvPr id="40971" name="Rectangle 6">
              <a:extLst>
                <a:ext uri="{FF2B5EF4-FFF2-40B4-BE49-F238E27FC236}">
                  <a16:creationId xmlns:a16="http://schemas.microsoft.com/office/drawing/2014/main" id="{CB343D6B-9753-AF6F-6C70-22EC7A9B4F4C}"/>
                </a:ext>
              </a:extLst>
            </p:cNvPr>
            <p:cNvSpPr>
              <a:spLocks noChangeArrowheads="1"/>
            </p:cNvSpPr>
            <p:nvPr/>
          </p:nvSpPr>
          <p:spPr bwMode="auto">
            <a:xfrm>
              <a:off x="144" y="0"/>
              <a:ext cx="2208"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t>系统软件</a:t>
              </a:r>
            </a:p>
          </p:txBody>
        </p:sp>
      </p:grpSp>
      <p:grpSp>
        <p:nvGrpSpPr>
          <p:cNvPr id="143367" name="Group 7">
            <a:extLst>
              <a:ext uri="{FF2B5EF4-FFF2-40B4-BE49-F238E27FC236}">
                <a16:creationId xmlns:a16="http://schemas.microsoft.com/office/drawing/2014/main" id="{272E5A5E-4C70-9FEA-8220-6E3AA1693228}"/>
              </a:ext>
            </a:extLst>
          </p:cNvPr>
          <p:cNvGrpSpPr>
            <a:grpSpLocks/>
          </p:cNvGrpSpPr>
          <p:nvPr/>
        </p:nvGrpSpPr>
        <p:grpSpPr bwMode="auto">
          <a:xfrm>
            <a:off x="900113" y="3644900"/>
            <a:ext cx="1600200" cy="533400"/>
            <a:chOff x="0" y="0"/>
            <a:chExt cx="2448" cy="384"/>
          </a:xfrm>
        </p:grpSpPr>
        <p:sp>
          <p:nvSpPr>
            <p:cNvPr id="40968" name="AutoShape 8">
              <a:extLst>
                <a:ext uri="{FF2B5EF4-FFF2-40B4-BE49-F238E27FC236}">
                  <a16:creationId xmlns:a16="http://schemas.microsoft.com/office/drawing/2014/main" id="{E5FA3DC3-75B5-C2C6-DC21-425473FC57F4}"/>
                </a:ext>
              </a:extLst>
            </p:cNvPr>
            <p:cNvSpPr>
              <a:spLocks noChangeArrowheads="1"/>
            </p:cNvSpPr>
            <p:nvPr/>
          </p:nvSpPr>
          <p:spPr bwMode="auto">
            <a:xfrm rot="-5400000">
              <a:off x="1032" y="-1032"/>
              <a:ext cx="384" cy="2448"/>
            </a:xfrm>
            <a:prstGeom prst="can">
              <a:avLst>
                <a:gd name="adj" fmla="val 54837"/>
              </a:avLst>
            </a:prstGeom>
            <a:gradFill rotWithShape="0">
              <a:gsLst>
                <a:gs pos="0">
                  <a:srgbClr val="F9E5B3"/>
                </a:gs>
                <a:gs pos="50000">
                  <a:srgbClr val="AE8000"/>
                </a:gs>
                <a:gs pos="100000">
                  <a:srgbClr val="F9E5B3"/>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zh-CN" sz="1800"/>
            </a:p>
          </p:txBody>
        </p:sp>
        <p:sp>
          <p:nvSpPr>
            <p:cNvPr id="40969" name="Rectangle 9">
              <a:extLst>
                <a:ext uri="{FF2B5EF4-FFF2-40B4-BE49-F238E27FC236}">
                  <a16:creationId xmlns:a16="http://schemas.microsoft.com/office/drawing/2014/main" id="{5B02172D-6D48-1E4B-8C66-1599E808F953}"/>
                </a:ext>
              </a:extLst>
            </p:cNvPr>
            <p:cNvSpPr>
              <a:spLocks noChangeArrowheads="1"/>
            </p:cNvSpPr>
            <p:nvPr/>
          </p:nvSpPr>
          <p:spPr bwMode="auto">
            <a:xfrm>
              <a:off x="144" y="0"/>
              <a:ext cx="2208"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t>应用软件</a:t>
              </a:r>
            </a:p>
          </p:txBody>
        </p:sp>
      </p:grpSp>
      <p:sp>
        <p:nvSpPr>
          <p:cNvPr id="40966" name="Rectangle 12">
            <a:extLst>
              <a:ext uri="{FF2B5EF4-FFF2-40B4-BE49-F238E27FC236}">
                <a16:creationId xmlns:a16="http://schemas.microsoft.com/office/drawing/2014/main" id="{2857EF4E-57A5-EE47-37EF-6E6F720BF064}"/>
              </a:ext>
            </a:extLst>
          </p:cNvPr>
          <p:cNvSpPr>
            <a:spLocks noGrp="1" noChangeArrowheads="1"/>
          </p:cNvSpPr>
          <p:nvPr>
            <p:ph type="title" idx="4294967295"/>
          </p:nvPr>
        </p:nvSpPr>
        <p:spPr>
          <a:xfrm>
            <a:off x="1263650" y="331788"/>
            <a:ext cx="7772400" cy="720725"/>
          </a:xfrm>
        </p:spPr>
        <p:txBody>
          <a:bodyPr/>
          <a:lstStyle/>
          <a:p>
            <a:pPr eaLnBrk="1" hangingPunct="1"/>
            <a:r>
              <a:rPr lang="zh-CN" altLang="en-US" b="1" dirty="0"/>
              <a:t>软件的分类</a:t>
            </a:r>
          </a:p>
        </p:txBody>
      </p:sp>
      <p:sp>
        <p:nvSpPr>
          <p:cNvPr id="143371" name="Text Box 13">
            <a:extLst>
              <a:ext uri="{FF2B5EF4-FFF2-40B4-BE49-F238E27FC236}">
                <a16:creationId xmlns:a16="http://schemas.microsoft.com/office/drawing/2014/main" id="{81F01E49-375B-26AA-217A-A013C640DE98}"/>
              </a:ext>
            </a:extLst>
          </p:cNvPr>
          <p:cNvSpPr txBox="1">
            <a:spLocks noChangeArrowheads="1"/>
          </p:cNvSpPr>
          <p:nvPr/>
        </p:nvSpPr>
        <p:spPr bwMode="auto">
          <a:xfrm>
            <a:off x="684213" y="5060950"/>
            <a:ext cx="8172450" cy="45720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系统软件和应用软件的区分有时并不严格，没有必要死抠！</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43364"/>
                                        </p:tgtEl>
                                        <p:attrNameLst>
                                          <p:attrName>style.visibility</p:attrName>
                                        </p:attrNameLst>
                                      </p:cBhvr>
                                      <p:to>
                                        <p:strVal val="visible"/>
                                      </p:to>
                                    </p:set>
                                    <p:animEffect transition="in" filter="dissolve">
                                      <p:cBhvr>
                                        <p:cTn id="7" dur="500"/>
                                        <p:tgtEl>
                                          <p:spTgt spid="1433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3363">
                                            <p:txEl>
                                              <p:pRg st="0" end="0"/>
                                            </p:txEl>
                                          </p:spTgt>
                                        </p:tgtEl>
                                        <p:attrNameLst>
                                          <p:attrName>style.visibility</p:attrName>
                                        </p:attrNameLst>
                                      </p:cBhvr>
                                      <p:to>
                                        <p:strVal val="visible"/>
                                      </p:to>
                                    </p:set>
                                    <p:animEffect transition="in" filter="dissolve">
                                      <p:cBhvr>
                                        <p:cTn id="12" dur="500"/>
                                        <p:tgtEl>
                                          <p:spTgt spid="14336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3363">
                                            <p:txEl>
                                              <p:pRg st="1" end="1"/>
                                            </p:txEl>
                                          </p:spTgt>
                                        </p:tgtEl>
                                        <p:attrNameLst>
                                          <p:attrName>style.visibility</p:attrName>
                                        </p:attrNameLst>
                                      </p:cBhvr>
                                      <p:to>
                                        <p:strVal val="visible"/>
                                      </p:to>
                                    </p:set>
                                    <p:animEffect transition="in" filter="dissolve">
                                      <p:cBhvr>
                                        <p:cTn id="17" dur="500"/>
                                        <p:tgtEl>
                                          <p:spTgt spid="14336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43367"/>
                                        </p:tgtEl>
                                        <p:attrNameLst>
                                          <p:attrName>style.visibility</p:attrName>
                                        </p:attrNameLst>
                                      </p:cBhvr>
                                      <p:to>
                                        <p:strVal val="visible"/>
                                      </p:to>
                                    </p:set>
                                    <p:animEffect transition="in" filter="dissolve">
                                      <p:cBhvr>
                                        <p:cTn id="22" dur="500"/>
                                        <p:tgtEl>
                                          <p:spTgt spid="14336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43363">
                                            <p:txEl>
                                              <p:pRg st="3" end="3"/>
                                            </p:txEl>
                                          </p:spTgt>
                                        </p:tgtEl>
                                        <p:attrNameLst>
                                          <p:attrName>style.visibility</p:attrName>
                                        </p:attrNameLst>
                                      </p:cBhvr>
                                      <p:to>
                                        <p:strVal val="visible"/>
                                      </p:to>
                                    </p:set>
                                    <p:animEffect transition="in" filter="dissolve">
                                      <p:cBhvr>
                                        <p:cTn id="27" dur="500"/>
                                        <p:tgtEl>
                                          <p:spTgt spid="143363">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43371"/>
                                        </p:tgtEl>
                                        <p:attrNameLst>
                                          <p:attrName>style.visibility</p:attrName>
                                        </p:attrNameLst>
                                      </p:cBhvr>
                                      <p:to>
                                        <p:strVal val="visible"/>
                                      </p:to>
                                    </p:set>
                                    <p:animEffect transition="in" filter="dissolve">
                                      <p:cBhvr>
                                        <p:cTn id="32" dur="500"/>
                                        <p:tgtEl>
                                          <p:spTgt spid="1433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p:bldP spid="14337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5">
            <a:extLst>
              <a:ext uri="{FF2B5EF4-FFF2-40B4-BE49-F238E27FC236}">
                <a16:creationId xmlns:a16="http://schemas.microsoft.com/office/drawing/2014/main" id="{24EE296A-80FB-A3FE-6A94-DCF6342D222F}"/>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Tx/>
              <a:buNone/>
            </a:pPr>
            <a:fld id="{6C9E0D7C-DAA2-4902-B565-556290339F81}" type="slidenum">
              <a:rPr lang="zh-CN" altLang="en-US" sz="1400"/>
              <a:pPr algn="r" eaLnBrk="1" hangingPunct="1">
                <a:spcBef>
                  <a:spcPct val="50000"/>
                </a:spcBef>
                <a:buFontTx/>
                <a:buNone/>
              </a:pPr>
              <a:t>18</a:t>
            </a:fld>
            <a:endParaRPr lang="zh-CN" altLang="en-US" sz="1400"/>
          </a:p>
        </p:txBody>
      </p:sp>
      <p:sp>
        <p:nvSpPr>
          <p:cNvPr id="45059" name="Rectangle 2">
            <a:extLst>
              <a:ext uri="{FF2B5EF4-FFF2-40B4-BE49-F238E27FC236}">
                <a16:creationId xmlns:a16="http://schemas.microsoft.com/office/drawing/2014/main" id="{7DCB7269-2B5C-A186-2519-8A474DA514D7}"/>
              </a:ext>
            </a:extLst>
          </p:cNvPr>
          <p:cNvSpPr>
            <a:spLocks noGrp="1" noChangeArrowheads="1"/>
          </p:cNvSpPr>
          <p:nvPr>
            <p:ph type="title" idx="4294967295"/>
          </p:nvPr>
        </p:nvSpPr>
        <p:spPr/>
        <p:txBody>
          <a:bodyPr/>
          <a:lstStyle/>
          <a:p>
            <a:pPr eaLnBrk="1" hangingPunct="1"/>
            <a:r>
              <a:rPr lang="zh-CN" altLang="en-US" b="1"/>
              <a:t>计算机系统</a:t>
            </a:r>
            <a:r>
              <a:rPr lang="en-US" altLang="zh-CN" b="1"/>
              <a:t>-</a:t>
            </a:r>
            <a:r>
              <a:rPr lang="zh-CN" altLang="en-US" sz="2800" b="1">
                <a:solidFill>
                  <a:srgbClr val="FF0000"/>
                </a:solidFill>
              </a:rPr>
              <a:t>操作系统</a:t>
            </a:r>
          </a:p>
        </p:txBody>
      </p:sp>
      <p:sp>
        <p:nvSpPr>
          <p:cNvPr id="45060" name="Rectangle 4">
            <a:extLst>
              <a:ext uri="{FF2B5EF4-FFF2-40B4-BE49-F238E27FC236}">
                <a16:creationId xmlns:a16="http://schemas.microsoft.com/office/drawing/2014/main" id="{16042784-C53B-D9E9-8A57-D9B7A0564E21}"/>
              </a:ext>
            </a:extLst>
          </p:cNvPr>
          <p:cNvSpPr>
            <a:spLocks noGrp="1" noChangeArrowheads="1"/>
          </p:cNvSpPr>
          <p:nvPr>
            <p:ph type="body" idx="4294967295"/>
          </p:nvPr>
        </p:nvSpPr>
        <p:spPr/>
        <p:txBody>
          <a:bodyPr/>
          <a:lstStyle/>
          <a:p>
            <a:pPr eaLnBrk="1" hangingPunct="1">
              <a:buFontTx/>
              <a:buNone/>
            </a:pPr>
            <a:r>
              <a:rPr lang="zh-CN" altLang="en-US" b="1"/>
              <a:t>操作系统的定义：</a:t>
            </a:r>
            <a:endParaRPr lang="en-US" altLang="zh-CN" b="1"/>
          </a:p>
          <a:p>
            <a:pPr eaLnBrk="1" hangingPunct="1">
              <a:buFontTx/>
              <a:buNone/>
            </a:pPr>
            <a:r>
              <a:rPr lang="zh-CN" altLang="en-US" b="1"/>
              <a:t>    操作系统是这样一些</a:t>
            </a:r>
            <a:r>
              <a:rPr lang="zh-CN" altLang="en-US" b="1">
                <a:solidFill>
                  <a:srgbClr val="FF0000"/>
                </a:solidFill>
              </a:rPr>
              <a:t>程序</a:t>
            </a:r>
            <a:r>
              <a:rPr lang="zh-CN" altLang="en-US" b="1"/>
              <a:t>模块的集合－－它们</a:t>
            </a:r>
            <a:r>
              <a:rPr lang="zh-CN" altLang="en-US" b="1">
                <a:solidFill>
                  <a:srgbClr val="FF0000"/>
                </a:solidFill>
              </a:rPr>
              <a:t>管理和控制</a:t>
            </a:r>
            <a:r>
              <a:rPr lang="zh-CN" altLang="en-US" b="1"/>
              <a:t>计算机系统中的硬件和软件</a:t>
            </a:r>
            <a:r>
              <a:rPr lang="zh-CN" altLang="en-US" b="1">
                <a:solidFill>
                  <a:srgbClr val="FF0000"/>
                </a:solidFill>
              </a:rPr>
              <a:t>资源</a:t>
            </a:r>
            <a:r>
              <a:rPr lang="zh-CN" altLang="en-US" b="1"/>
              <a:t>，合理</a:t>
            </a:r>
            <a:r>
              <a:rPr lang="zh-CN" altLang="en-US" b="1">
                <a:solidFill>
                  <a:srgbClr val="FF0000"/>
                </a:solidFill>
              </a:rPr>
              <a:t>组织计算机工作</a:t>
            </a:r>
            <a:r>
              <a:rPr lang="zh-CN" altLang="en-US" b="1"/>
              <a:t>流程（调度运行用户应用程序），以便有效地利用这些资源为用户提供一个功能强大、使用方便和可扩展的工作环境，从而在计算机与其用户之间起到</a:t>
            </a:r>
            <a:r>
              <a:rPr lang="zh-CN" altLang="en-US" b="1">
                <a:solidFill>
                  <a:srgbClr val="FF0000"/>
                </a:solidFill>
              </a:rPr>
              <a:t>接口</a:t>
            </a:r>
            <a:r>
              <a:rPr lang="zh-CN" altLang="en-US" b="1"/>
              <a:t>作用。</a:t>
            </a:r>
          </a:p>
          <a:p>
            <a:pPr eaLnBrk="1" hangingPunct="1">
              <a:buFontTx/>
              <a:buNone/>
            </a:pPr>
            <a:r>
              <a:rPr lang="zh-CN" altLang="en-US" b="1"/>
              <a:t>	</a:t>
            </a:r>
          </a:p>
        </p:txBody>
      </p:sp>
      <p:sp>
        <p:nvSpPr>
          <p:cNvPr id="147461" name="Rectangle 5">
            <a:extLst>
              <a:ext uri="{FF2B5EF4-FFF2-40B4-BE49-F238E27FC236}">
                <a16:creationId xmlns:a16="http://schemas.microsoft.com/office/drawing/2014/main" id="{B81EFC12-D99D-7593-AFE8-4CB412192FFE}"/>
              </a:ext>
            </a:extLst>
          </p:cNvPr>
          <p:cNvSpPr>
            <a:spLocks noChangeArrowheads="1"/>
          </p:cNvSpPr>
          <p:nvPr/>
        </p:nvSpPr>
        <p:spPr bwMode="auto">
          <a:xfrm>
            <a:off x="684213" y="4724400"/>
            <a:ext cx="8135937" cy="94615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buClr>
                <a:schemeClr val="accent2"/>
              </a:buClr>
              <a:buFont typeface="Monotype Sorts" pitchFamily="2" charset="2"/>
              <a:buNone/>
            </a:pPr>
            <a:r>
              <a:rPr lang="zh-CN" altLang="en-US"/>
              <a:t>常见的操作系统有：</a:t>
            </a:r>
            <a:r>
              <a:rPr lang="en-US" altLang="zh-CN"/>
              <a:t>MS-DOS（</a:t>
            </a:r>
            <a:r>
              <a:rPr lang="zh-CN" altLang="en-US"/>
              <a:t>又称</a:t>
            </a:r>
            <a:r>
              <a:rPr lang="en-US" altLang="zh-CN"/>
              <a:t>PC-DOS）、UCDOS</a:t>
            </a:r>
            <a:r>
              <a:rPr lang="zh-CN" altLang="en-US"/>
              <a:t>、</a:t>
            </a:r>
            <a:r>
              <a:rPr lang="en-US" altLang="zh-CN"/>
              <a:t>Windows、 UNIX、LINUX</a:t>
            </a:r>
            <a:r>
              <a:rPr lang="zh-CN" altLang="en-US"/>
              <a:t>等；</a:t>
            </a:r>
          </a:p>
        </p:txBody>
      </p:sp>
      <p:sp>
        <p:nvSpPr>
          <p:cNvPr id="45062" name="TextBox 1">
            <a:extLst>
              <a:ext uri="{FF2B5EF4-FFF2-40B4-BE49-F238E27FC236}">
                <a16:creationId xmlns:a16="http://schemas.microsoft.com/office/drawing/2014/main" id="{6A00D909-77A4-FE43-35D9-406B01C456A1}"/>
              </a:ext>
            </a:extLst>
          </p:cNvPr>
          <p:cNvSpPr txBox="1">
            <a:spLocks noChangeArrowheads="1"/>
          </p:cNvSpPr>
          <p:nvPr/>
        </p:nvSpPr>
        <p:spPr bwMode="auto">
          <a:xfrm>
            <a:off x="1116013" y="5805488"/>
            <a:ext cx="7343775" cy="461962"/>
          </a:xfrm>
          <a:prstGeom prst="rect">
            <a:avLst/>
          </a:prstGeom>
          <a:solidFill>
            <a:srgbClr val="2D35D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chemeClr val="bg1"/>
                </a:solidFill>
              </a:rPr>
              <a:t>系统软件：操控、管理资源，提供接口隔离硬件</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7461"/>
                                        </p:tgtEl>
                                        <p:attrNameLst>
                                          <p:attrName>style.visibility</p:attrName>
                                        </p:attrNameLst>
                                      </p:cBhvr>
                                      <p:to>
                                        <p:strVal val="visible"/>
                                      </p:to>
                                    </p:set>
                                    <p:animEffect transition="in" filter="dissolve">
                                      <p:cBhvr>
                                        <p:cTn id="7" dur="500"/>
                                        <p:tgtEl>
                                          <p:spTgt spid="147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6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5">
            <a:extLst>
              <a:ext uri="{FF2B5EF4-FFF2-40B4-BE49-F238E27FC236}">
                <a16:creationId xmlns:a16="http://schemas.microsoft.com/office/drawing/2014/main" id="{388A5087-F281-4FE8-9E86-3E316AAA211B}"/>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Tx/>
              <a:buNone/>
            </a:pPr>
            <a:fld id="{F71A036C-9066-46DC-882B-6A7863D06E49}" type="slidenum">
              <a:rPr lang="zh-CN" altLang="en-US" sz="1400"/>
              <a:pPr algn="r" eaLnBrk="1" hangingPunct="1">
                <a:spcBef>
                  <a:spcPct val="50000"/>
                </a:spcBef>
                <a:buFontTx/>
                <a:buNone/>
              </a:pPr>
              <a:t>19</a:t>
            </a:fld>
            <a:endParaRPr lang="zh-CN" altLang="en-US" sz="1400"/>
          </a:p>
        </p:txBody>
      </p:sp>
      <p:sp>
        <p:nvSpPr>
          <p:cNvPr id="46083" name="Rectangle 2">
            <a:extLst>
              <a:ext uri="{FF2B5EF4-FFF2-40B4-BE49-F238E27FC236}">
                <a16:creationId xmlns:a16="http://schemas.microsoft.com/office/drawing/2014/main" id="{3C210AAA-ED52-1F48-CF1B-906999E5C5D8}"/>
              </a:ext>
            </a:extLst>
          </p:cNvPr>
          <p:cNvSpPr>
            <a:spLocks noGrp="1" noChangeArrowheads="1"/>
          </p:cNvSpPr>
          <p:nvPr>
            <p:ph type="title" idx="4294967295"/>
          </p:nvPr>
        </p:nvSpPr>
        <p:spPr>
          <a:xfrm>
            <a:off x="1263650" y="404813"/>
            <a:ext cx="7485063" cy="720725"/>
          </a:xfrm>
        </p:spPr>
        <p:txBody>
          <a:bodyPr/>
          <a:lstStyle/>
          <a:p>
            <a:pPr eaLnBrk="1" hangingPunct="1"/>
            <a:r>
              <a:rPr lang="zh-CN" altLang="en-US" b="1" dirty="0"/>
              <a:t>操作系统的五大功能</a:t>
            </a:r>
          </a:p>
        </p:txBody>
      </p:sp>
      <p:grpSp>
        <p:nvGrpSpPr>
          <p:cNvPr id="46084" name="Group 4">
            <a:extLst>
              <a:ext uri="{FF2B5EF4-FFF2-40B4-BE49-F238E27FC236}">
                <a16:creationId xmlns:a16="http://schemas.microsoft.com/office/drawing/2014/main" id="{F0B5C83C-456D-3E8B-73E6-D03FE1B25470}"/>
              </a:ext>
            </a:extLst>
          </p:cNvPr>
          <p:cNvGrpSpPr>
            <a:grpSpLocks/>
          </p:cNvGrpSpPr>
          <p:nvPr/>
        </p:nvGrpSpPr>
        <p:grpSpPr bwMode="auto">
          <a:xfrm>
            <a:off x="539750" y="1484313"/>
            <a:ext cx="8299450" cy="1587500"/>
            <a:chOff x="0" y="0"/>
            <a:chExt cx="5228" cy="1000"/>
          </a:xfrm>
        </p:grpSpPr>
        <p:sp>
          <p:nvSpPr>
            <p:cNvPr id="46086" name="Text Box 5">
              <a:extLst>
                <a:ext uri="{FF2B5EF4-FFF2-40B4-BE49-F238E27FC236}">
                  <a16:creationId xmlns:a16="http://schemas.microsoft.com/office/drawing/2014/main" id="{71AE18F4-5B12-E11A-A7FC-D48DDE0305C7}"/>
                </a:ext>
              </a:extLst>
            </p:cNvPr>
            <p:cNvSpPr txBox="1">
              <a:spLocks noChangeArrowheads="1"/>
            </p:cNvSpPr>
            <p:nvPr/>
          </p:nvSpPr>
          <p:spPr bwMode="auto">
            <a:xfrm>
              <a:off x="226" y="0"/>
              <a:ext cx="5002" cy="100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a:t>操作系统的五大功能</a:t>
              </a:r>
            </a:p>
            <a:p>
              <a:pPr eaLnBrk="1" hangingPunct="1">
                <a:spcBef>
                  <a:spcPct val="50000"/>
                </a:spcBef>
                <a:buFontTx/>
                <a:buNone/>
              </a:pPr>
              <a:r>
                <a:rPr lang="zh-CN" altLang="en-US"/>
                <a:t>作业管理、</a:t>
              </a:r>
              <a:r>
                <a:rPr lang="en-US" altLang="zh-CN"/>
                <a:t>CPU(</a:t>
              </a:r>
              <a:r>
                <a:rPr lang="zh-CN" altLang="en-US"/>
                <a:t>进程</a:t>
              </a:r>
              <a:r>
                <a:rPr lang="en-US" altLang="zh-CN"/>
                <a:t>)</a:t>
              </a:r>
              <a:r>
                <a:rPr lang="zh-CN" altLang="en-US"/>
                <a:t>管理、内存管理、设备管理、文件管理</a:t>
              </a:r>
            </a:p>
          </p:txBody>
        </p:sp>
        <p:pic>
          <p:nvPicPr>
            <p:cNvPr id="46087" name="Picture 6" descr="dian2">
              <a:extLst>
                <a:ext uri="{FF2B5EF4-FFF2-40B4-BE49-F238E27FC236}">
                  <a16:creationId xmlns:a16="http://schemas.microsoft.com/office/drawing/2014/main" id="{7C2A2C3E-8C95-C1D6-B973-C013BAC0AC98}"/>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91"/>
              <a:ext cx="217"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55655" name="Rectangle 7">
            <a:extLst>
              <a:ext uri="{FF2B5EF4-FFF2-40B4-BE49-F238E27FC236}">
                <a16:creationId xmlns:a16="http://schemas.microsoft.com/office/drawing/2014/main" id="{9B360648-9140-D97D-18C1-83917553F6DA}"/>
              </a:ext>
            </a:extLst>
          </p:cNvPr>
          <p:cNvSpPr>
            <a:spLocks noGrp="1" noChangeArrowheads="1"/>
          </p:cNvSpPr>
          <p:nvPr>
            <p:ph type="body" idx="4294967295"/>
          </p:nvPr>
        </p:nvSpPr>
        <p:spPr>
          <a:xfrm>
            <a:off x="685800" y="3213100"/>
            <a:ext cx="7773988" cy="3024188"/>
          </a:xfrm>
          <a:solidFill>
            <a:srgbClr val="C2FFF0"/>
          </a:solidFill>
        </p:spPr>
        <p:txBody>
          <a:bodyPr/>
          <a:lstStyle/>
          <a:p>
            <a:pPr eaLnBrk="1" hangingPunct="1"/>
            <a:r>
              <a:rPr lang="zh-CN" altLang="en-US" b="1"/>
              <a:t>作业：用户请求计算机计算的一个计算任务，由程序、数据和作业说明书组成，用于完成用户的一个计算目标。</a:t>
            </a:r>
            <a:endParaRPr lang="en-US" altLang="zh-CN" b="1"/>
          </a:p>
          <a:p>
            <a:pPr eaLnBrk="1" hangingPunct="1"/>
            <a:r>
              <a:rPr lang="zh-CN" altLang="en-US" b="1"/>
              <a:t>进程：是一个具有独立功能的</a:t>
            </a:r>
            <a:r>
              <a:rPr lang="zh-CN" altLang="en-US" b="1" u="sng"/>
              <a:t>程序</a:t>
            </a:r>
            <a:r>
              <a:rPr lang="zh-CN" altLang="en-US" b="1"/>
              <a:t>对某个</a:t>
            </a:r>
            <a:r>
              <a:rPr lang="zh-CN" altLang="en-US" b="1" u="sng"/>
              <a:t>数据集</a:t>
            </a:r>
            <a:r>
              <a:rPr lang="zh-CN" altLang="en-US" b="1"/>
              <a:t>在处理机上的</a:t>
            </a:r>
            <a:r>
              <a:rPr lang="zh-CN" altLang="en-US" b="1" u="sng"/>
              <a:t>执行过程</a:t>
            </a:r>
            <a:r>
              <a:rPr lang="zh-CN" altLang="en-US" b="1"/>
              <a:t>，是资源分配的基本单位。一个程序（作业）的执行总是会产生一个或多个进程。</a:t>
            </a:r>
          </a:p>
          <a:p>
            <a:pPr eaLnBrk="1" hangingPunct="1"/>
            <a:endParaRPr lang="zh-CN" altLang="en-US" b="1"/>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5655">
                                            <p:bg/>
                                          </p:spTgt>
                                        </p:tgtEl>
                                        <p:attrNameLst>
                                          <p:attrName>style.visibility</p:attrName>
                                        </p:attrNameLst>
                                      </p:cBhvr>
                                      <p:to>
                                        <p:strVal val="visible"/>
                                      </p:to>
                                    </p:set>
                                    <p:animEffect transition="in" filter="dissolve">
                                      <p:cBhvr>
                                        <p:cTn id="7" dur="500"/>
                                        <p:tgtEl>
                                          <p:spTgt spid="155655">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5655">
                                            <p:txEl>
                                              <p:pRg st="0" end="0"/>
                                            </p:txEl>
                                          </p:spTgt>
                                        </p:tgtEl>
                                        <p:attrNameLst>
                                          <p:attrName>style.visibility</p:attrName>
                                        </p:attrNameLst>
                                      </p:cBhvr>
                                      <p:to>
                                        <p:strVal val="visible"/>
                                      </p:to>
                                    </p:set>
                                    <p:animEffect transition="in" filter="dissolve">
                                      <p:cBhvr>
                                        <p:cTn id="12" dur="500"/>
                                        <p:tgtEl>
                                          <p:spTgt spid="15565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55655">
                                            <p:txEl>
                                              <p:pRg st="1" end="1"/>
                                            </p:txEl>
                                          </p:spTgt>
                                        </p:tgtEl>
                                        <p:attrNameLst>
                                          <p:attrName>style.visibility</p:attrName>
                                        </p:attrNameLst>
                                      </p:cBhvr>
                                      <p:to>
                                        <p:strVal val="visible"/>
                                      </p:to>
                                    </p:set>
                                    <p:animEffect transition="in" filter="dissolve">
                                      <p:cBhvr>
                                        <p:cTn id="17" dur="500"/>
                                        <p:tgtEl>
                                          <p:spTgt spid="15565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5" grpId="0" build="p"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5">
            <a:extLst>
              <a:ext uri="{FF2B5EF4-FFF2-40B4-BE49-F238E27FC236}">
                <a16:creationId xmlns:a16="http://schemas.microsoft.com/office/drawing/2014/main" id="{9951E7CC-836D-659E-EF5F-A5D9045875F5}"/>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Tx/>
              <a:buNone/>
            </a:pPr>
            <a:fld id="{B8C09664-3BD1-493A-B528-658807B721AF}" type="slidenum">
              <a:rPr lang="zh-CN" altLang="en-US" sz="1400"/>
              <a:pPr algn="r" eaLnBrk="1" hangingPunct="1">
                <a:spcBef>
                  <a:spcPct val="50000"/>
                </a:spcBef>
                <a:buFontTx/>
                <a:buNone/>
              </a:pPr>
              <a:t>20</a:t>
            </a:fld>
            <a:endParaRPr lang="zh-CN" altLang="en-US" sz="1400"/>
          </a:p>
        </p:txBody>
      </p:sp>
      <p:sp>
        <p:nvSpPr>
          <p:cNvPr id="51203" name="Rectangle 2">
            <a:extLst>
              <a:ext uri="{FF2B5EF4-FFF2-40B4-BE49-F238E27FC236}">
                <a16:creationId xmlns:a16="http://schemas.microsoft.com/office/drawing/2014/main" id="{745153FD-DCE9-DAD4-E61C-7EBCD16313B6}"/>
              </a:ext>
            </a:extLst>
          </p:cNvPr>
          <p:cNvSpPr>
            <a:spLocks noGrp="1" noChangeArrowheads="1"/>
          </p:cNvSpPr>
          <p:nvPr>
            <p:ph type="title" idx="4294967295"/>
          </p:nvPr>
        </p:nvSpPr>
        <p:spPr>
          <a:xfrm>
            <a:off x="1263650" y="404813"/>
            <a:ext cx="7340600" cy="720725"/>
          </a:xfrm>
        </p:spPr>
        <p:txBody>
          <a:bodyPr/>
          <a:lstStyle/>
          <a:p>
            <a:pPr eaLnBrk="1" hangingPunct="1"/>
            <a:r>
              <a:rPr lang="zh-CN" altLang="en-US" b="1" dirty="0"/>
              <a:t>程序与进程的区别</a:t>
            </a:r>
          </a:p>
        </p:txBody>
      </p:sp>
      <p:sp>
        <p:nvSpPr>
          <p:cNvPr id="51204" name="Rectangle 3">
            <a:extLst>
              <a:ext uri="{FF2B5EF4-FFF2-40B4-BE49-F238E27FC236}">
                <a16:creationId xmlns:a16="http://schemas.microsoft.com/office/drawing/2014/main" id="{5B972CF5-583F-169B-A2B8-6B95DDE666E7}"/>
              </a:ext>
            </a:extLst>
          </p:cNvPr>
          <p:cNvSpPr>
            <a:spLocks noGrp="1" noChangeArrowheads="1"/>
          </p:cNvSpPr>
          <p:nvPr>
            <p:ph type="body" idx="4294967295"/>
          </p:nvPr>
        </p:nvSpPr>
        <p:spPr/>
        <p:txBody>
          <a:bodyPr/>
          <a:lstStyle/>
          <a:p>
            <a:pPr eaLnBrk="1" hangingPunct="1"/>
            <a:r>
              <a:rPr lang="zh-CN" altLang="en-US" b="1"/>
              <a:t>程序与进程的关系</a:t>
            </a:r>
          </a:p>
          <a:p>
            <a:pPr lvl="1" eaLnBrk="1" hangingPunct="1"/>
            <a:r>
              <a:rPr lang="zh-CN" altLang="en-US" sz="2500" b="1"/>
              <a:t>进程是动态的，强调执行过程，而程序是静态的；</a:t>
            </a:r>
          </a:p>
          <a:p>
            <a:pPr lvl="1" eaLnBrk="1" hangingPunct="1"/>
            <a:r>
              <a:rPr lang="zh-CN" altLang="en-US" sz="2500" b="1"/>
              <a:t>进程具有并发性</a:t>
            </a:r>
            <a:r>
              <a:rPr lang="en-US" altLang="zh-CN" sz="2500" b="1"/>
              <a:t>(</a:t>
            </a:r>
            <a:r>
              <a:rPr lang="zh-CN" altLang="en-US" sz="2500" b="1"/>
              <a:t>宏观上同时运行</a:t>
            </a:r>
            <a:r>
              <a:rPr lang="en-US" altLang="zh-CN" sz="2500" b="1"/>
              <a:t>)</a:t>
            </a:r>
            <a:r>
              <a:rPr lang="zh-CN" altLang="en-US" sz="2500" b="1"/>
              <a:t>，程序没有；</a:t>
            </a:r>
          </a:p>
          <a:p>
            <a:pPr lvl="1" eaLnBrk="1" hangingPunct="1"/>
            <a:r>
              <a:rPr lang="zh-CN" altLang="en-US" sz="2500" b="1"/>
              <a:t>不同的进程可以对应同一程序，只是该程序对应的数据集不同。</a:t>
            </a:r>
          </a:p>
          <a:p>
            <a:pPr lvl="1" eaLnBrk="1" hangingPunct="1"/>
            <a:endParaRPr lang="en-US" altLang="zh-CN" b="1"/>
          </a:p>
        </p:txBody>
      </p:sp>
      <p:sp>
        <p:nvSpPr>
          <p:cNvPr id="51205" name="Text Box 10">
            <a:extLst>
              <a:ext uri="{FF2B5EF4-FFF2-40B4-BE49-F238E27FC236}">
                <a16:creationId xmlns:a16="http://schemas.microsoft.com/office/drawing/2014/main" id="{B4C19EFD-771C-D71F-6B4E-5AE7878EE5BF}"/>
              </a:ext>
            </a:extLst>
          </p:cNvPr>
          <p:cNvSpPr txBox="1">
            <a:spLocks noChangeArrowheads="1"/>
          </p:cNvSpPr>
          <p:nvPr/>
        </p:nvSpPr>
        <p:spPr bwMode="auto">
          <a:xfrm>
            <a:off x="4714875" y="4725988"/>
            <a:ext cx="936625" cy="466725"/>
          </a:xfrm>
          <a:prstGeom prst="rect">
            <a:avLst/>
          </a:prstGeom>
          <a:solidFill>
            <a:srgbClr val="CCFFCC"/>
          </a:solidFill>
          <a:ln w="9525">
            <a:solidFill>
              <a:schemeClr val="tx1"/>
            </a:solidFill>
            <a:miter lim="800000"/>
            <a:headEnd/>
            <a:tailEnd/>
          </a:ln>
          <a:effectLst>
            <a:prstShdw prst="shdw17" dist="17961" dir="13500000">
              <a:srgbClr val="000000"/>
            </a:prstShdw>
          </a:effec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作业</a:t>
            </a:r>
          </a:p>
        </p:txBody>
      </p:sp>
      <p:sp>
        <p:nvSpPr>
          <p:cNvPr id="51206" name="Text Box 11">
            <a:extLst>
              <a:ext uri="{FF2B5EF4-FFF2-40B4-BE49-F238E27FC236}">
                <a16:creationId xmlns:a16="http://schemas.microsoft.com/office/drawing/2014/main" id="{18CD89B0-BC01-FE83-506E-E74D3385C294}"/>
              </a:ext>
            </a:extLst>
          </p:cNvPr>
          <p:cNvSpPr txBox="1">
            <a:spLocks noChangeArrowheads="1"/>
          </p:cNvSpPr>
          <p:nvPr/>
        </p:nvSpPr>
        <p:spPr bwMode="auto">
          <a:xfrm>
            <a:off x="6875463" y="4149725"/>
            <a:ext cx="936625" cy="466725"/>
          </a:xfrm>
          <a:prstGeom prst="rect">
            <a:avLst/>
          </a:prstGeom>
          <a:solidFill>
            <a:srgbClr val="CCFFCC"/>
          </a:solidFill>
          <a:ln w="9525">
            <a:solidFill>
              <a:schemeClr val="tx1"/>
            </a:solidFill>
            <a:miter lim="800000"/>
            <a:headEnd/>
            <a:tailEnd/>
          </a:ln>
          <a:effectLst>
            <a:prstShdw prst="shdw17" dist="17961" dir="13500000">
              <a:srgbClr val="000000"/>
            </a:prstShdw>
          </a:effec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程序</a:t>
            </a:r>
          </a:p>
        </p:txBody>
      </p:sp>
      <p:sp>
        <p:nvSpPr>
          <p:cNvPr id="51207" name="Text Box 12">
            <a:extLst>
              <a:ext uri="{FF2B5EF4-FFF2-40B4-BE49-F238E27FC236}">
                <a16:creationId xmlns:a16="http://schemas.microsoft.com/office/drawing/2014/main" id="{C442755E-CC38-D3CE-E308-81CD4EAD5E20}"/>
              </a:ext>
            </a:extLst>
          </p:cNvPr>
          <p:cNvSpPr txBox="1">
            <a:spLocks noChangeArrowheads="1"/>
          </p:cNvSpPr>
          <p:nvPr/>
        </p:nvSpPr>
        <p:spPr bwMode="auto">
          <a:xfrm>
            <a:off x="6948488" y="5446713"/>
            <a:ext cx="936625" cy="466725"/>
          </a:xfrm>
          <a:prstGeom prst="rect">
            <a:avLst/>
          </a:prstGeom>
          <a:solidFill>
            <a:srgbClr val="CCFFCC"/>
          </a:solidFill>
          <a:ln w="9525">
            <a:solidFill>
              <a:schemeClr val="tx1"/>
            </a:solidFill>
            <a:miter lim="800000"/>
            <a:headEnd/>
            <a:tailEnd/>
          </a:ln>
          <a:effectLst>
            <a:prstShdw prst="shdw17" dist="17961" dir="13500000">
              <a:srgbClr val="000000"/>
            </a:prstShdw>
          </a:effec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t>进程</a:t>
            </a:r>
          </a:p>
        </p:txBody>
      </p:sp>
      <p:sp>
        <p:nvSpPr>
          <p:cNvPr id="51208" name="Line 13">
            <a:extLst>
              <a:ext uri="{FF2B5EF4-FFF2-40B4-BE49-F238E27FC236}">
                <a16:creationId xmlns:a16="http://schemas.microsoft.com/office/drawing/2014/main" id="{E38405C0-A383-C48E-506D-72F611C49C3D}"/>
              </a:ext>
            </a:extLst>
          </p:cNvPr>
          <p:cNvSpPr>
            <a:spLocks noChangeShapeType="1"/>
          </p:cNvSpPr>
          <p:nvPr/>
        </p:nvSpPr>
        <p:spPr bwMode="auto">
          <a:xfrm>
            <a:off x="7380288" y="4581525"/>
            <a:ext cx="0" cy="865188"/>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51209" name="Line 14">
            <a:extLst>
              <a:ext uri="{FF2B5EF4-FFF2-40B4-BE49-F238E27FC236}">
                <a16:creationId xmlns:a16="http://schemas.microsoft.com/office/drawing/2014/main" id="{81739A34-3393-051C-2AB0-79E9B63F8670}"/>
              </a:ext>
            </a:extLst>
          </p:cNvPr>
          <p:cNvSpPr>
            <a:spLocks noChangeShapeType="1"/>
          </p:cNvSpPr>
          <p:nvPr/>
        </p:nvSpPr>
        <p:spPr bwMode="auto">
          <a:xfrm flipH="1">
            <a:off x="5651500" y="4365625"/>
            <a:ext cx="1223963" cy="360363"/>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51210" name="Line 15">
            <a:extLst>
              <a:ext uri="{FF2B5EF4-FFF2-40B4-BE49-F238E27FC236}">
                <a16:creationId xmlns:a16="http://schemas.microsoft.com/office/drawing/2014/main" id="{54669416-F4DC-71E1-255B-9A22E8CE2000}"/>
              </a:ext>
            </a:extLst>
          </p:cNvPr>
          <p:cNvSpPr>
            <a:spLocks noChangeShapeType="1"/>
          </p:cNvSpPr>
          <p:nvPr/>
        </p:nvSpPr>
        <p:spPr bwMode="auto">
          <a:xfrm>
            <a:off x="5651500" y="5013325"/>
            <a:ext cx="1223963" cy="647700"/>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图片 1" descr="进程状态">
            <a:extLst>
              <a:ext uri="{FF2B5EF4-FFF2-40B4-BE49-F238E27FC236}">
                <a16:creationId xmlns:a16="http://schemas.microsoft.com/office/drawing/2014/main" id="{66ECA560-31CF-57CA-66CF-94BC5E09D8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7613" y="577850"/>
            <a:ext cx="6875462" cy="268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7" name="文本框 2">
            <a:extLst>
              <a:ext uri="{FF2B5EF4-FFF2-40B4-BE49-F238E27FC236}">
                <a16:creationId xmlns:a16="http://schemas.microsoft.com/office/drawing/2014/main" id="{13A6AA63-B692-D8B2-B4A9-05E8EBAEE82A}"/>
              </a:ext>
            </a:extLst>
          </p:cNvPr>
          <p:cNvSpPr txBox="1">
            <a:spLocks noChangeArrowheads="1"/>
          </p:cNvSpPr>
          <p:nvPr/>
        </p:nvSpPr>
        <p:spPr bwMode="auto">
          <a:xfrm>
            <a:off x="131763" y="3262313"/>
            <a:ext cx="8412162" cy="313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Wingdings" panose="05000000000000000000" pitchFamily="2" charset="2"/>
              <a:buChar char="–"/>
              <a:defRPr sz="22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800"/>
              <a:t>（1）运行：当一个进程在处理机上运行时，则称该进程处于运行状态。处于此状态的进程的数目小于等于处理器的数目，对于单处理机系统，处于运行状态的进程只有一个。在没有其他进程可以执行时（如所有进程都在阻塞状态），通常会自动执行系统的空闲进程。  </a:t>
            </a:r>
          </a:p>
          <a:p>
            <a:pPr>
              <a:spcBef>
                <a:spcPct val="0"/>
              </a:spcBef>
              <a:buFontTx/>
              <a:buNone/>
            </a:pPr>
            <a:r>
              <a:rPr lang="zh-CN" altLang="en-US" sz="1800"/>
              <a:t>  （2）就绪：当一个进程获得了除处理机以外的一切所需资源，一旦得到处理机即可运行，则称此进程处于就绪状态。就绪进程可以按多个优先级来划分队列。例如，当一个进程由于时间片用完而进入就绪状态时，排入低优先级队列；当进程由I／O操作完成而进入就绪状态时，排入高优先级队列。  </a:t>
            </a:r>
          </a:p>
          <a:p>
            <a:pPr>
              <a:spcBef>
                <a:spcPct val="0"/>
              </a:spcBef>
              <a:buFontTx/>
              <a:buNone/>
            </a:pPr>
            <a:r>
              <a:rPr lang="zh-CN" altLang="en-US" sz="1800"/>
              <a:t>  （3）阻塞：也称为等待或睡眠状态，一个进程正在等待某一事件发生（例如请求I/O而等待I/O完成等）而暂时停止运行，这时即使把处理机分配给进程也无法运行，故称该进程处于阻塞状态。</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算法</a:t>
            </a:r>
            <a:endParaRPr lang="en-US" dirty="0"/>
          </a:p>
        </p:txBody>
      </p:sp>
      <p:sp>
        <p:nvSpPr>
          <p:cNvPr id="3" name="Content Placeholder 2"/>
          <p:cNvSpPr>
            <a:spLocks noGrp="1"/>
          </p:cNvSpPr>
          <p:nvPr>
            <p:ph idx="1"/>
          </p:nvPr>
        </p:nvSpPr>
        <p:spPr>
          <a:xfrm>
            <a:off x="685800" y="1319213"/>
            <a:ext cx="7990656" cy="4611687"/>
          </a:xfrm>
        </p:spPr>
        <p:txBody>
          <a:bodyPr>
            <a:normAutofit lnSpcReduction="10000"/>
          </a:bodyPr>
          <a:lstStyle/>
          <a:p>
            <a:pPr>
              <a:buNone/>
            </a:pPr>
            <a:r>
              <a:rPr lang="en-US" b="1" dirty="0"/>
              <a:t>   </a:t>
            </a:r>
            <a:r>
              <a:rPr lang="zh-CN" altLang="en-US" b="1" dirty="0"/>
              <a:t>定义</a:t>
            </a:r>
            <a:r>
              <a:rPr lang="en-US" dirty="0"/>
              <a:t>: </a:t>
            </a:r>
            <a:r>
              <a:rPr lang="zh-CN" altLang="en-US" dirty="0"/>
              <a:t>算法是一个有限步骤的求解序列</a:t>
            </a:r>
            <a:r>
              <a:rPr lang="en-US" altLang="zh-CN" dirty="0"/>
              <a:t>, </a:t>
            </a:r>
            <a:r>
              <a:rPr lang="zh-CN" altLang="en-US" dirty="0"/>
              <a:t>用来解决一类特定的问题。</a:t>
            </a:r>
            <a:endParaRPr lang="en-US" dirty="0"/>
          </a:p>
          <a:p>
            <a:pPr>
              <a:buNone/>
            </a:pPr>
            <a:r>
              <a:rPr lang="en-US" dirty="0"/>
              <a:t>   </a:t>
            </a:r>
            <a:r>
              <a:rPr lang="zh-CN" altLang="en-US" b="1" dirty="0"/>
              <a:t>例</a:t>
            </a:r>
            <a:r>
              <a:rPr lang="en-US" dirty="0"/>
              <a:t>: </a:t>
            </a:r>
            <a:r>
              <a:rPr lang="zh-CN" altLang="en-US" dirty="0"/>
              <a:t>描述在一个有限整数序列</a:t>
            </a:r>
            <a:r>
              <a:rPr lang="en-US" altLang="zh-CN" dirty="0"/>
              <a:t>{</a:t>
            </a:r>
            <a:r>
              <a:rPr lang="en-US" altLang="zh-CN" i="1" dirty="0"/>
              <a:t>a</a:t>
            </a:r>
            <a:r>
              <a:rPr lang="en-US" altLang="zh-CN" i="1" baseline="-25000" dirty="0"/>
              <a:t>n</a:t>
            </a:r>
            <a:r>
              <a:rPr lang="en-US" altLang="zh-CN" dirty="0"/>
              <a:t>}</a:t>
            </a:r>
            <a:r>
              <a:rPr lang="zh-CN" altLang="en-US" dirty="0"/>
              <a:t>中寻找最大值的算法</a:t>
            </a:r>
            <a:r>
              <a:rPr lang="en-US" dirty="0"/>
              <a:t>.</a:t>
            </a:r>
          </a:p>
          <a:p>
            <a:pPr>
              <a:buNone/>
            </a:pPr>
            <a:r>
              <a:rPr lang="en-US" dirty="0"/>
              <a:t>   </a:t>
            </a:r>
            <a:r>
              <a:rPr lang="zh-CN" altLang="en-US" b="1" dirty="0"/>
              <a:t>解</a:t>
            </a:r>
            <a:r>
              <a:rPr lang="en-US" b="1" dirty="0"/>
              <a:t>: </a:t>
            </a:r>
            <a:r>
              <a:rPr lang="zh-CN" altLang="en-US" dirty="0"/>
              <a:t>算法步骤如下</a:t>
            </a:r>
            <a:r>
              <a:rPr lang="en-US" dirty="0"/>
              <a:t>:</a:t>
            </a:r>
          </a:p>
          <a:p>
            <a:pPr marL="1154430" lvl="2" indent="-514350">
              <a:buFont typeface="+mj-lt"/>
              <a:buAutoNum type="arabicPeriod"/>
            </a:pPr>
            <a:r>
              <a:rPr lang="zh-CN" altLang="en-US" dirty="0"/>
              <a:t>设置最大值</a:t>
            </a:r>
            <a:r>
              <a:rPr lang="en-US" altLang="zh-CN" dirty="0"/>
              <a:t>max</a:t>
            </a:r>
            <a:r>
              <a:rPr lang="zh-CN" altLang="en-US" dirty="0"/>
              <a:t>初始值</a:t>
            </a:r>
            <a:r>
              <a:rPr lang="en-US" altLang="zh-CN" dirty="0"/>
              <a:t>, </a:t>
            </a:r>
            <a:r>
              <a:rPr lang="zh-CN" altLang="en-US" dirty="0"/>
              <a:t>为序列中第一个整数</a:t>
            </a:r>
            <a:r>
              <a:rPr lang="en-US" altLang="zh-CN" i="1" dirty="0"/>
              <a:t>a</a:t>
            </a:r>
            <a:r>
              <a:rPr lang="en-US" altLang="zh-CN" i="1" baseline="-25000" dirty="0"/>
              <a:t>1</a:t>
            </a:r>
            <a:r>
              <a:rPr lang="en-US" altLang="zh-CN" dirty="0"/>
              <a:t>.</a:t>
            </a:r>
            <a:endParaRPr lang="en-US" dirty="0"/>
          </a:p>
          <a:p>
            <a:pPr marL="1154430" lvl="2" indent="-514350">
              <a:buFont typeface="+mj-lt"/>
              <a:buAutoNum type="arabicPeriod"/>
            </a:pPr>
            <a:r>
              <a:rPr lang="en-US" altLang="zh-CN" b="1" i="1" dirty="0"/>
              <a:t>for </a:t>
            </a:r>
            <a:r>
              <a:rPr lang="en-US" altLang="zh-CN" b="1" i="1" dirty="0" err="1"/>
              <a:t>i</a:t>
            </a:r>
            <a:r>
              <a:rPr lang="en-US" altLang="zh-CN" b="1" i="1" dirty="0"/>
              <a:t>=</a:t>
            </a:r>
            <a:r>
              <a:rPr lang="en-US" altLang="zh-CN" b="1" i="1" dirty="0" err="1"/>
              <a:t>2..n</a:t>
            </a:r>
            <a:endParaRPr lang="en-US" b="1" i="1" dirty="0"/>
          </a:p>
          <a:p>
            <a:pPr marL="1371600" lvl="4" indent="0">
              <a:buNone/>
            </a:pPr>
            <a:r>
              <a:rPr lang="en-US" altLang="zh-CN" i="1" dirty="0"/>
              <a:t>if  (max &lt; a</a:t>
            </a:r>
            <a:r>
              <a:rPr lang="en-US" altLang="zh-CN" i="1" baseline="-25000" dirty="0"/>
              <a:t>i </a:t>
            </a:r>
            <a:r>
              <a:rPr lang="en-US" altLang="zh-CN" i="1" dirty="0"/>
              <a:t>) then max= a</a:t>
            </a:r>
            <a:r>
              <a:rPr lang="en-US" altLang="zh-CN" i="1" baseline="-25000" dirty="0"/>
              <a:t>i</a:t>
            </a:r>
            <a:endParaRPr lang="en-US" dirty="0"/>
          </a:p>
          <a:p>
            <a:pPr marL="1154430" lvl="2" indent="-514350">
              <a:buFont typeface="+mj-lt"/>
              <a:buAutoNum type="arabicPeriod"/>
            </a:pPr>
            <a:r>
              <a:rPr lang="en-US" altLang="zh-CN" i="1" dirty="0"/>
              <a:t>return max {max=</a:t>
            </a:r>
            <a:r>
              <a:rPr lang="en-US" altLang="zh-CN" dirty="0"/>
              <a:t> </a:t>
            </a:r>
            <a:r>
              <a:rPr lang="en-US" altLang="zh-CN" i="1" dirty="0"/>
              <a:t>max</a:t>
            </a:r>
            <a:r>
              <a:rPr lang="en-US" altLang="zh-CN" dirty="0"/>
              <a:t>(</a:t>
            </a:r>
            <a:r>
              <a:rPr lang="en-US" altLang="zh-CN" i="1" dirty="0"/>
              <a:t>a</a:t>
            </a:r>
            <a:r>
              <a:rPr lang="en-US" altLang="zh-CN" i="1" baseline="-25000" dirty="0"/>
              <a:t>n</a:t>
            </a:r>
            <a:r>
              <a:rPr lang="en-US" altLang="zh-CN" dirty="0"/>
              <a:t>) </a:t>
            </a:r>
            <a:r>
              <a:rPr lang="en-US" altLang="zh-CN" i="1" dirty="0"/>
              <a:t>}</a:t>
            </a:r>
            <a:endParaRPr lang="en-US" i="1" dirty="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t>算法的属性</a:t>
            </a:r>
            <a:endParaRPr lang="en-US" dirty="0"/>
          </a:p>
        </p:txBody>
      </p:sp>
      <p:sp>
        <p:nvSpPr>
          <p:cNvPr id="5" name="Content Placeholder 4"/>
          <p:cNvSpPr>
            <a:spLocks noGrp="1"/>
          </p:cNvSpPr>
          <p:nvPr>
            <p:ph idx="1"/>
          </p:nvPr>
        </p:nvSpPr>
        <p:spPr/>
        <p:txBody>
          <a:bodyPr>
            <a:normAutofit lnSpcReduction="10000"/>
          </a:bodyPr>
          <a:lstStyle/>
          <a:p>
            <a:r>
              <a:rPr lang="zh-CN" altLang="en-US" i="1" dirty="0"/>
              <a:t>输入</a:t>
            </a:r>
            <a:r>
              <a:rPr lang="en-US" dirty="0"/>
              <a:t>: </a:t>
            </a:r>
            <a:r>
              <a:rPr lang="zh-CN" altLang="en-US" dirty="0"/>
              <a:t>算法应当有指定集的输入值</a:t>
            </a:r>
            <a:r>
              <a:rPr lang="en-US" dirty="0"/>
              <a:t>.</a:t>
            </a:r>
          </a:p>
          <a:p>
            <a:r>
              <a:rPr lang="zh-CN" altLang="en-US" i="1" dirty="0"/>
              <a:t>输出</a:t>
            </a:r>
            <a:r>
              <a:rPr lang="en-US" dirty="0"/>
              <a:t>: </a:t>
            </a:r>
            <a:r>
              <a:rPr lang="zh-CN" altLang="en-US" dirty="0"/>
              <a:t>对应输入值</a:t>
            </a:r>
            <a:r>
              <a:rPr lang="en-US" dirty="0"/>
              <a:t>, </a:t>
            </a:r>
            <a:r>
              <a:rPr lang="zh-CN" altLang="en-US" dirty="0"/>
              <a:t>算法应给出指定集的输出值</a:t>
            </a:r>
            <a:r>
              <a:rPr lang="en-US" altLang="zh-CN" dirty="0"/>
              <a:t>, </a:t>
            </a:r>
            <a:r>
              <a:rPr lang="zh-CN" altLang="en-US" dirty="0"/>
              <a:t>即问题的解</a:t>
            </a:r>
            <a:r>
              <a:rPr lang="en-US" dirty="0"/>
              <a:t>.</a:t>
            </a:r>
          </a:p>
          <a:p>
            <a:r>
              <a:rPr lang="zh-CN" altLang="en-US" i="1" dirty="0"/>
              <a:t>正确性</a:t>
            </a:r>
            <a:r>
              <a:rPr lang="en-US" dirty="0"/>
              <a:t>: </a:t>
            </a:r>
            <a:r>
              <a:rPr lang="zh-CN" altLang="en-US" dirty="0"/>
              <a:t>算法应针对每一组输入都能产生正确的输出</a:t>
            </a:r>
            <a:r>
              <a:rPr lang="en-US" dirty="0"/>
              <a:t>.</a:t>
            </a:r>
          </a:p>
          <a:p>
            <a:r>
              <a:rPr lang="zh-CN" altLang="en-US" i="1" dirty="0"/>
              <a:t>有限性</a:t>
            </a:r>
            <a:r>
              <a:rPr lang="en-US" dirty="0"/>
              <a:t>: </a:t>
            </a:r>
            <a:r>
              <a:rPr lang="zh-CN" altLang="en-US" dirty="0"/>
              <a:t>算法应对任何输入值都能在有限步后给出结果</a:t>
            </a:r>
            <a:r>
              <a:rPr lang="en-US" dirty="0"/>
              <a:t>.</a:t>
            </a:r>
          </a:p>
          <a:p>
            <a:r>
              <a:rPr lang="zh-CN" altLang="en-US" i="1" dirty="0"/>
              <a:t>可执行性</a:t>
            </a:r>
            <a:r>
              <a:rPr lang="en-US" dirty="0"/>
              <a:t>: </a:t>
            </a:r>
            <a:r>
              <a:rPr lang="zh-CN" altLang="en-US" dirty="0"/>
              <a:t>算法的每一步都能在有限时间内正确执行</a:t>
            </a:r>
            <a:r>
              <a:rPr lang="en-US" dirty="0"/>
              <a:t>.</a:t>
            </a:r>
          </a:p>
          <a:p>
            <a:r>
              <a:rPr lang="zh-CN" altLang="en-US" b="1" i="1" dirty="0"/>
              <a:t>通用性</a:t>
            </a:r>
            <a:r>
              <a:rPr lang="en-US" b="1" dirty="0"/>
              <a:t>: </a:t>
            </a:r>
            <a:r>
              <a:rPr lang="zh-CN" altLang="en-US" b="1" dirty="0"/>
              <a:t>算法应可以适用既定问题的所有情况</a:t>
            </a:r>
            <a:r>
              <a:rPr lang="en-US" b="1" dirty="0"/>
              <a:t>.</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4">
            <a:extLst>
              <a:ext uri="{FF2B5EF4-FFF2-40B4-BE49-F238E27FC236}">
                <a16:creationId xmlns:a16="http://schemas.microsoft.com/office/drawing/2014/main" id="{4B54D167-901D-4F35-A896-60AB9D765A64}"/>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fld id="{4391077F-7214-434E-B126-68443BA32776}" type="slidenum">
              <a:rPr altLang="en-US" sz="1400" smtClean="0"/>
              <a:pPr>
                <a:spcBef>
                  <a:spcPct val="50000"/>
                </a:spcBef>
                <a:buFontTx/>
                <a:buNone/>
              </a:pPr>
              <a:t>24</a:t>
            </a:fld>
            <a:endParaRPr lang="zh-CN" altLang="en-US" sz="1400"/>
          </a:p>
        </p:txBody>
      </p:sp>
      <p:sp>
        <p:nvSpPr>
          <p:cNvPr id="70659" name="Rectangle 2">
            <a:extLst>
              <a:ext uri="{FF2B5EF4-FFF2-40B4-BE49-F238E27FC236}">
                <a16:creationId xmlns:a16="http://schemas.microsoft.com/office/drawing/2014/main" id="{DFFA51F4-3BC2-4185-89A3-12F4401BA6C9}"/>
              </a:ext>
            </a:extLst>
          </p:cNvPr>
          <p:cNvSpPr>
            <a:spLocks noGrp="1" noChangeArrowheads="1"/>
          </p:cNvSpPr>
          <p:nvPr>
            <p:ph type="title"/>
          </p:nvPr>
        </p:nvSpPr>
        <p:spPr/>
        <p:txBody>
          <a:bodyPr/>
          <a:lstStyle/>
          <a:p>
            <a:pPr eaLnBrk="1" hangingPunct="1"/>
            <a:r>
              <a:rPr lang="zh-CN" altLang="en-US" b="1" dirty="0"/>
              <a:t>迭代算法</a:t>
            </a:r>
          </a:p>
        </p:txBody>
      </p:sp>
      <p:sp>
        <p:nvSpPr>
          <p:cNvPr id="98308" name="Rectangle 3">
            <a:extLst>
              <a:ext uri="{FF2B5EF4-FFF2-40B4-BE49-F238E27FC236}">
                <a16:creationId xmlns:a16="http://schemas.microsoft.com/office/drawing/2014/main" id="{2EEFF1A3-63D8-443B-BCBF-EF88DA01263A}"/>
              </a:ext>
            </a:extLst>
          </p:cNvPr>
          <p:cNvSpPr>
            <a:spLocks noGrp="1"/>
          </p:cNvSpPr>
          <p:nvPr>
            <p:ph idx="1"/>
          </p:nvPr>
        </p:nvSpPr>
        <p:spPr>
          <a:xfrm>
            <a:off x="395288" y="1319213"/>
            <a:ext cx="8443912" cy="5205412"/>
          </a:xfrm>
        </p:spPr>
        <p:txBody>
          <a:bodyPr/>
          <a:lstStyle/>
          <a:p>
            <a:pPr eaLnBrk="1" hangingPunct="1">
              <a:defRPr/>
            </a:pPr>
            <a:r>
              <a:rPr lang="zh-CN" altLang="en-US" b="1" noProof="1">
                <a:cs typeface="+mn-ea"/>
              </a:rPr>
              <a:t>很多复杂问题，不能找到直接的求解公式；只能通过把问题归约到更小输入的问题实例来解决，或者说</a:t>
            </a:r>
            <a:r>
              <a:rPr lang="en-US" altLang="zh-CN" b="1" noProof="1">
                <a:cs typeface="+mn-ea"/>
              </a:rPr>
              <a:t>f(n)</a:t>
            </a:r>
            <a:r>
              <a:rPr lang="zh-CN" altLang="en-US" b="1" noProof="1">
                <a:cs typeface="+mn-ea"/>
              </a:rPr>
              <a:t>的计算依赖于</a:t>
            </a:r>
            <a:r>
              <a:rPr lang="en-US" altLang="zh-CN" b="1" noProof="1">
                <a:cs typeface="+mn-ea"/>
              </a:rPr>
              <a:t>f(n-k)</a:t>
            </a:r>
            <a:r>
              <a:rPr lang="zh-CN" altLang="en-US" b="1" noProof="1">
                <a:cs typeface="+mn-ea"/>
              </a:rPr>
              <a:t>或</a:t>
            </a:r>
            <a:r>
              <a:rPr lang="en-US" altLang="zh-CN" b="1" noProof="1">
                <a:cs typeface="+mn-ea"/>
              </a:rPr>
              <a:t>f(n/k)</a:t>
            </a:r>
            <a:r>
              <a:rPr lang="zh-CN" altLang="en-US" b="1" noProof="1">
                <a:cs typeface="+mn-ea"/>
              </a:rPr>
              <a:t>的求解。</a:t>
            </a:r>
            <a:endParaRPr lang="en-US" altLang="zh-CN" b="1" noProof="1">
              <a:cs typeface="+mn-ea"/>
            </a:endParaRPr>
          </a:p>
          <a:p>
            <a:pPr eaLnBrk="1" hangingPunct="1">
              <a:defRPr/>
            </a:pPr>
            <a:r>
              <a:rPr lang="zh-CN" altLang="en-US" b="1" noProof="1">
                <a:cs typeface="+mn-ea"/>
              </a:rPr>
              <a:t>算法</a:t>
            </a:r>
            <a:r>
              <a:rPr lang="en-US" altLang="zh-CN" b="1" noProof="1">
                <a:cs typeface="+mn-ea"/>
              </a:rPr>
              <a:t>f(n)</a:t>
            </a:r>
            <a:r>
              <a:rPr lang="zh-CN" altLang="en-US" b="1" noProof="1">
                <a:cs typeface="+mn-ea"/>
              </a:rPr>
              <a:t>的计算公式，依赖于较小规模的问题实例</a:t>
            </a:r>
            <a:r>
              <a:rPr lang="en-US" altLang="zh-CN" b="1" noProof="1">
                <a:cs typeface="+mn-ea"/>
              </a:rPr>
              <a:t>f(n-k)</a:t>
            </a:r>
            <a:r>
              <a:rPr lang="zh-CN" altLang="en-US" b="1" noProof="1">
                <a:cs typeface="+mn-ea"/>
              </a:rPr>
              <a:t>或</a:t>
            </a:r>
            <a:r>
              <a:rPr lang="en-US" altLang="zh-CN" b="1" noProof="1">
                <a:cs typeface="+mn-ea"/>
              </a:rPr>
              <a:t>f(n/k)</a:t>
            </a:r>
            <a:r>
              <a:rPr lang="zh-CN" altLang="en-US" b="1" noProof="1">
                <a:cs typeface="+mn-ea"/>
              </a:rPr>
              <a:t>的求解，这种计算公式叫做递归定义。</a:t>
            </a:r>
            <a:endParaRPr lang="en-US" altLang="zh-CN" b="1" noProof="1">
              <a:cs typeface="+mn-ea"/>
            </a:endParaRPr>
          </a:p>
          <a:p>
            <a:pPr eaLnBrk="1" hangingPunct="1"/>
            <a:r>
              <a:rPr lang="en-US" altLang="en-US" b="1" dirty="0" err="1"/>
              <a:t>使用迭代</a:t>
            </a:r>
            <a:r>
              <a:rPr lang="zh-CN" altLang="en-US" b="1" dirty="0"/>
              <a:t>算法编写程序</a:t>
            </a:r>
            <a:r>
              <a:rPr lang="en-US" altLang="en-US" b="1" dirty="0" err="1"/>
              <a:t>的基本方法</a:t>
            </a:r>
            <a:r>
              <a:rPr lang="en-US" altLang="en-US" b="1" dirty="0"/>
              <a:t>：</a:t>
            </a:r>
          </a:p>
          <a:p>
            <a:pPr lvl="1" eaLnBrk="1" hangingPunct="1"/>
            <a:r>
              <a:rPr lang="zh-CN" altLang="en-US" b="1" dirty="0"/>
              <a:t>寻找问题求解的递归公式；</a:t>
            </a:r>
            <a:endParaRPr lang="en-US" altLang="en-US" b="1" dirty="0"/>
          </a:p>
          <a:p>
            <a:pPr lvl="1" eaLnBrk="1" hangingPunct="1"/>
            <a:r>
              <a:rPr lang="zh-CN" altLang="en-US" b="1" dirty="0"/>
              <a:t>设置迭代求解的</a:t>
            </a:r>
            <a:r>
              <a:rPr lang="en-US" altLang="en-US" b="1" dirty="0" err="1"/>
              <a:t>初始值</a:t>
            </a:r>
            <a:r>
              <a:rPr lang="en-US" altLang="en-US" b="1" dirty="0"/>
              <a:t>；</a:t>
            </a:r>
          </a:p>
          <a:p>
            <a:pPr lvl="1" eaLnBrk="1" hangingPunct="1"/>
            <a:r>
              <a:rPr lang="zh-CN" altLang="en-US" b="1" dirty="0"/>
              <a:t>设计</a:t>
            </a:r>
            <a:r>
              <a:rPr lang="en-US" altLang="en-US" b="1" dirty="0" err="1"/>
              <a:t>循环</a:t>
            </a:r>
            <a:r>
              <a:rPr lang="zh-CN" altLang="en-US" b="1" dirty="0"/>
              <a:t>结构，</a:t>
            </a:r>
            <a:r>
              <a:rPr lang="en-US" altLang="en-US" b="1" dirty="0" err="1"/>
              <a:t>实现</a:t>
            </a:r>
            <a:r>
              <a:rPr lang="zh-CN" altLang="en-US" b="1" dirty="0"/>
              <a:t>一步步的从小到大的迭代计算</a:t>
            </a:r>
            <a:r>
              <a:rPr lang="en-US" altLang="en-US" b="1" dirty="0"/>
              <a:t>。</a:t>
            </a:r>
            <a:endParaRPr lang="en-US" altLang="zh-CN" b="1" dirty="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灯片编号占位符 4">
            <a:extLst>
              <a:ext uri="{FF2B5EF4-FFF2-40B4-BE49-F238E27FC236}">
                <a16:creationId xmlns:a16="http://schemas.microsoft.com/office/drawing/2014/main" id="{2FAC9032-FE6A-4393-AFD4-0749D6075C7D}"/>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8ECB6D08-7DFF-4F49-87D1-4DAA3317EA1B}" type="slidenum">
              <a:rPr lang="zh-CN" altLang="en-US" smtClean="0"/>
              <a:pPr/>
              <a:t>25</a:t>
            </a:fld>
            <a:endParaRPr lang="zh-CN" altLang="en-US"/>
          </a:p>
        </p:txBody>
      </p:sp>
      <p:sp>
        <p:nvSpPr>
          <p:cNvPr id="7170" name="Rectangle 2">
            <a:extLst>
              <a:ext uri="{FF2B5EF4-FFF2-40B4-BE49-F238E27FC236}">
                <a16:creationId xmlns:a16="http://schemas.microsoft.com/office/drawing/2014/main" id="{1ECCAA25-3D89-43BF-9129-04013760DD3E}"/>
              </a:ext>
            </a:extLst>
          </p:cNvPr>
          <p:cNvSpPr>
            <a:spLocks noGrp="1" noChangeArrowheads="1"/>
          </p:cNvSpPr>
          <p:nvPr>
            <p:ph type="title"/>
          </p:nvPr>
        </p:nvSpPr>
        <p:spPr/>
        <p:txBody>
          <a:bodyPr/>
          <a:lstStyle/>
          <a:p>
            <a:pPr eaLnBrk="1" hangingPunct="1"/>
            <a:r>
              <a:rPr lang="zh-CN" altLang="en-US" b="1" dirty="0"/>
              <a:t>递归算法</a:t>
            </a:r>
          </a:p>
        </p:txBody>
      </p:sp>
      <p:sp>
        <p:nvSpPr>
          <p:cNvPr id="7171" name="Rectangle 3">
            <a:extLst>
              <a:ext uri="{FF2B5EF4-FFF2-40B4-BE49-F238E27FC236}">
                <a16:creationId xmlns:a16="http://schemas.microsoft.com/office/drawing/2014/main" id="{C458B3B0-F566-4937-8F2A-B5B62E69620A}"/>
              </a:ext>
            </a:extLst>
          </p:cNvPr>
          <p:cNvSpPr>
            <a:spLocks noGrp="1" noChangeArrowheads="1"/>
          </p:cNvSpPr>
          <p:nvPr>
            <p:ph idx="1"/>
          </p:nvPr>
        </p:nvSpPr>
        <p:spPr>
          <a:xfrm>
            <a:off x="467544" y="1268760"/>
            <a:ext cx="7772400" cy="4611687"/>
          </a:xfrm>
        </p:spPr>
        <p:txBody>
          <a:bodyPr/>
          <a:lstStyle/>
          <a:p>
            <a:pPr eaLnBrk="1" hangingPunct="1">
              <a:defRPr/>
            </a:pPr>
            <a:r>
              <a:rPr lang="zh-CN" altLang="en-US" b="1" noProof="1">
                <a:cs typeface="+mn-ea"/>
              </a:rPr>
              <a:t>递归函数算法：直接用递归定义</a:t>
            </a:r>
            <a:r>
              <a:rPr lang="zh-CN" altLang="en-US" b="1" u="sng" noProof="1">
                <a:cs typeface="+mn-ea"/>
              </a:rPr>
              <a:t>设计一个递归函数</a:t>
            </a:r>
            <a:r>
              <a:rPr lang="zh-CN" altLang="en-US" b="1" noProof="1">
                <a:cs typeface="+mn-ea"/>
              </a:rPr>
              <a:t>，然后调用这个递归函数从</a:t>
            </a:r>
            <a:r>
              <a:rPr lang="en-US" altLang="zh-CN" b="1" noProof="1">
                <a:cs typeface="+mn-ea"/>
              </a:rPr>
              <a:t>f(n)</a:t>
            </a:r>
            <a:r>
              <a:rPr lang="zh-CN" altLang="en-US" b="1" noProof="1">
                <a:cs typeface="+mn-ea"/>
              </a:rPr>
              <a:t>一步步递推至初始条件，再自动逐级函数回归完成计算，这样的过程称为递归</a:t>
            </a:r>
            <a:r>
              <a:rPr lang="en-US" altLang="zh-CN" b="1" noProof="1">
                <a:cs typeface="+mn-ea"/>
              </a:rPr>
              <a:t>(recurrsion)</a:t>
            </a:r>
            <a:r>
              <a:rPr lang="zh-CN" altLang="en-US" b="1" noProof="1">
                <a:cs typeface="+mn-ea"/>
              </a:rPr>
              <a:t>。</a:t>
            </a:r>
            <a:endParaRPr lang="en-US" altLang="zh-CN" b="1" noProof="1">
              <a:cs typeface="+mn-ea"/>
            </a:endParaRPr>
          </a:p>
          <a:p>
            <a:pPr eaLnBrk="1" hangingPunct="1"/>
            <a:r>
              <a:rPr lang="zh-CN" altLang="en-US" b="1" noProof="1"/>
              <a:t>递归算法必须要有初始条件，不能无限递归下去。</a:t>
            </a:r>
          </a:p>
          <a:p>
            <a:pPr eaLnBrk="1" hangingPunct="1"/>
            <a:r>
              <a:rPr lang="zh-CN" altLang="en-US" b="1" noProof="1"/>
              <a:t>递归函数的特点：</a:t>
            </a:r>
            <a:endParaRPr lang="en-US" altLang="zh-CN" b="1" noProof="1"/>
          </a:p>
          <a:p>
            <a:pPr marL="457200" lvl="1" indent="0" eaLnBrk="1" hangingPunct="1">
              <a:buFontTx/>
              <a:buNone/>
            </a:pPr>
            <a:r>
              <a:rPr lang="en-US" altLang="zh-CN" b="1" noProof="1">
                <a:sym typeface="+mn-ea"/>
              </a:rPr>
              <a:t>-</a:t>
            </a:r>
            <a:r>
              <a:rPr lang="zh-CN" altLang="en-US" b="1" noProof="1">
                <a:sym typeface="+mn-ea"/>
              </a:rPr>
              <a:t>必须有正确的递归定义；</a:t>
            </a:r>
            <a:endParaRPr lang="zh-CN" altLang="en-US" b="1" noProof="1"/>
          </a:p>
          <a:p>
            <a:pPr marL="0" lvl="1" indent="0" eaLnBrk="1" hangingPunct="1">
              <a:buFontTx/>
              <a:buNone/>
            </a:pPr>
            <a:r>
              <a:rPr lang="en-US" altLang="zh-CN" b="1" noProof="1">
                <a:solidFill>
                  <a:srgbClr val="FF0000"/>
                </a:solidFill>
                <a:sym typeface="+mn-ea"/>
              </a:rPr>
              <a:t>     -</a:t>
            </a:r>
            <a:r>
              <a:rPr lang="zh-CN" altLang="en-US" b="1" noProof="1">
                <a:solidFill>
                  <a:srgbClr val="FF0000"/>
                </a:solidFill>
                <a:sym typeface="+mn-ea"/>
              </a:rPr>
              <a:t>回归阶段的反序性，适合执行反向计算；</a:t>
            </a:r>
            <a:endParaRPr lang="zh-CN" altLang="en-US" b="1" noProof="1">
              <a:solidFill>
                <a:srgbClr val="FF0000"/>
              </a:solidFill>
            </a:endParaRPr>
          </a:p>
          <a:p>
            <a:pPr marL="457200" lvl="1" indent="0" eaLnBrk="1" hangingPunct="1">
              <a:buFontTx/>
              <a:buNone/>
            </a:pPr>
            <a:r>
              <a:rPr lang="en-US" altLang="zh-CN" b="1" noProof="1">
                <a:solidFill>
                  <a:srgbClr val="FF0000"/>
                </a:solidFill>
                <a:sym typeface="+mn-ea"/>
              </a:rPr>
              <a:t>-</a:t>
            </a:r>
            <a:r>
              <a:rPr lang="zh-CN" altLang="en-US" b="1" noProof="1">
                <a:solidFill>
                  <a:srgbClr val="FF0000"/>
                </a:solidFill>
                <a:sym typeface="+mn-ea"/>
              </a:rPr>
              <a:t>克服正向推理难以控制的复杂度。</a:t>
            </a:r>
            <a:endParaRPr lang="zh-CN" altLang="en-US" b="1" noProof="1">
              <a:solidFill>
                <a:srgbClr val="FF0000"/>
              </a:solidFill>
            </a:endParaRPr>
          </a:p>
          <a:p>
            <a:pPr eaLnBrk="1" hangingPunct="1">
              <a:defRPr/>
            </a:pPr>
            <a:endParaRPr lang="en-US" altLang="zh-CN" b="1" dirty="0">
              <a:solidFill>
                <a:schemeClr val="tx2"/>
              </a:solidFill>
            </a:endParaRPr>
          </a:p>
          <a:p>
            <a:pPr marL="0" indent="0" eaLnBrk="1" hangingPunct="1">
              <a:buNone/>
            </a:pPr>
            <a:endParaRPr lang="en-US" altLang="zh-CN" b="1" dirty="0"/>
          </a:p>
          <a:p>
            <a:pPr eaLnBrk="1" hangingPunct="1"/>
            <a:endParaRPr lang="zh-CN" altLang="en-US" dirty="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a:extLst>
              <a:ext uri="{FF2B5EF4-FFF2-40B4-BE49-F238E27FC236}">
                <a16:creationId xmlns:a16="http://schemas.microsoft.com/office/drawing/2014/main" id="{253A8A57-6274-4653-967A-B83A07EBE55A}"/>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fld id="{E16D5D59-A65A-4D64-A767-D8C581B8AE28}" type="slidenum">
              <a:rPr altLang="en-US" sz="1400" smtClean="0"/>
              <a:pPr>
                <a:spcBef>
                  <a:spcPct val="50000"/>
                </a:spcBef>
                <a:buFontTx/>
                <a:buNone/>
              </a:pPr>
              <a:t>26</a:t>
            </a:fld>
            <a:endParaRPr lang="zh-CN" altLang="en-US" sz="1400"/>
          </a:p>
        </p:txBody>
      </p:sp>
      <p:sp>
        <p:nvSpPr>
          <p:cNvPr id="31747" name="Rectangle 5">
            <a:extLst>
              <a:ext uri="{FF2B5EF4-FFF2-40B4-BE49-F238E27FC236}">
                <a16:creationId xmlns:a16="http://schemas.microsoft.com/office/drawing/2014/main" id="{75D1D660-3742-416F-B3E9-DFEB73DB1D2D}"/>
              </a:ext>
            </a:extLst>
          </p:cNvPr>
          <p:cNvSpPr>
            <a:spLocks noGrp="1" noChangeArrowheads="1"/>
          </p:cNvSpPr>
          <p:nvPr>
            <p:ph type="title"/>
          </p:nvPr>
        </p:nvSpPr>
        <p:spPr/>
        <p:txBody>
          <a:bodyPr/>
          <a:lstStyle/>
          <a:p>
            <a:pPr eaLnBrk="1" hangingPunct="1"/>
            <a:r>
              <a:rPr lang="zh-CN" altLang="en-US" sz="3600" b="1" dirty="0"/>
              <a:t>穷举算法</a:t>
            </a:r>
          </a:p>
        </p:txBody>
      </p:sp>
      <p:sp>
        <p:nvSpPr>
          <p:cNvPr id="31748" name="Rectangle 3">
            <a:extLst>
              <a:ext uri="{FF2B5EF4-FFF2-40B4-BE49-F238E27FC236}">
                <a16:creationId xmlns:a16="http://schemas.microsoft.com/office/drawing/2014/main" id="{2FC14C13-996A-4E42-BD8C-366DCA5FAC1C}"/>
              </a:ext>
            </a:extLst>
          </p:cNvPr>
          <p:cNvSpPr>
            <a:spLocks noGrp="1" noChangeArrowheads="1"/>
          </p:cNvSpPr>
          <p:nvPr>
            <p:ph type="body" sz="half" idx="1"/>
          </p:nvPr>
        </p:nvSpPr>
        <p:spPr>
          <a:xfrm>
            <a:off x="546423" y="1268760"/>
            <a:ext cx="8278688" cy="4611687"/>
          </a:xfrm>
        </p:spPr>
        <p:txBody>
          <a:bodyPr/>
          <a:lstStyle/>
          <a:p>
            <a:r>
              <a:rPr lang="zh-CN" altLang="en-US" dirty="0"/>
              <a:t>蛮力算法用最直接的方式求解问题</a:t>
            </a:r>
            <a:r>
              <a:rPr lang="en-US" altLang="zh-CN" dirty="0"/>
              <a:t>, </a:t>
            </a:r>
            <a:r>
              <a:rPr lang="zh-CN" altLang="en-US" dirty="0"/>
              <a:t>一点不考虑如何使算法更有效</a:t>
            </a:r>
            <a:r>
              <a:rPr lang="en-US" altLang="zh-CN" dirty="0"/>
              <a:t>.</a:t>
            </a:r>
          </a:p>
          <a:p>
            <a:r>
              <a:rPr lang="zh-CN" altLang="en-US" dirty="0"/>
              <a:t>蛮力算法的例子有穷举算法、线性搜索</a:t>
            </a:r>
            <a:r>
              <a:rPr lang="en-US" altLang="zh-CN" dirty="0"/>
              <a:t>, </a:t>
            </a:r>
            <a:r>
              <a:rPr lang="zh-CN" altLang="en-US" dirty="0"/>
              <a:t>冒泡排序和插入排序等。</a:t>
            </a:r>
            <a:endParaRPr lang="en-US" altLang="zh-CN" dirty="0"/>
          </a:p>
          <a:p>
            <a:pPr eaLnBrk="1" hangingPunct="1"/>
            <a:r>
              <a:rPr lang="zh-CN" altLang="en-US" b="1" dirty="0"/>
              <a:t>穷举法解题思路：对所有可能是解的众多</a:t>
            </a:r>
            <a:r>
              <a:rPr lang="zh-CN" altLang="en-US" b="1" i="1" u="sng" dirty="0"/>
              <a:t>候选解 </a:t>
            </a:r>
            <a:r>
              <a:rPr lang="zh-CN" altLang="en-US" b="1" dirty="0"/>
              <a:t>按某种顺序进行</a:t>
            </a:r>
            <a:r>
              <a:rPr lang="zh-CN" altLang="en-US" b="1" u="sng" dirty="0"/>
              <a:t>逐一列举</a:t>
            </a:r>
            <a:r>
              <a:rPr lang="zh-CN" altLang="en-US" b="1" dirty="0"/>
              <a:t>和逻辑检验，从中找出那些符合要求的候选解作为问题的解。</a:t>
            </a:r>
            <a:endParaRPr lang="zh-CN" altLang="en-US" sz="2400" b="1" dirty="0"/>
          </a:p>
          <a:p>
            <a:pPr eaLnBrk="1" hangingPunct="1"/>
            <a:r>
              <a:rPr lang="zh-CN" altLang="en-US" b="1" dirty="0"/>
              <a:t>穷举算法的设计核心：</a:t>
            </a:r>
            <a:endParaRPr lang="en-US" altLang="zh-CN" b="1" dirty="0"/>
          </a:p>
          <a:p>
            <a:pPr lvl="1" eaLnBrk="1" hangingPunct="1"/>
            <a:r>
              <a:rPr lang="zh-CN" altLang="en-US" b="1" u="sng" dirty="0"/>
              <a:t>定义所有候选解的集合，即“解空间”</a:t>
            </a:r>
            <a:r>
              <a:rPr lang="zh-CN" altLang="en-US" b="1" dirty="0"/>
              <a:t>；</a:t>
            </a:r>
            <a:endParaRPr lang="en-US" altLang="zh-CN" b="1"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4">
            <a:extLst>
              <a:ext uri="{FF2B5EF4-FFF2-40B4-BE49-F238E27FC236}">
                <a16:creationId xmlns:a16="http://schemas.microsoft.com/office/drawing/2014/main" id="{237CD640-08FD-D1F6-61B7-3B99DA8D91C3}"/>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9497143A-FCDD-4F37-AD1B-F32AE0AAB973}" type="slidenum">
              <a:rPr lang="zh-CN" altLang="en-US" sz="1400">
                <a:latin typeface="Times New Roman" panose="02020603050405020304" pitchFamily="18" charset="0"/>
              </a:rPr>
              <a:pPr algn="r" eaLnBrk="1" hangingPunct="1">
                <a:spcBef>
                  <a:spcPct val="50000"/>
                </a:spcBef>
                <a:buFontTx/>
                <a:buNone/>
              </a:pPr>
              <a:t>27</a:t>
            </a:fld>
            <a:endParaRPr lang="zh-CN" altLang="en-US" sz="1400">
              <a:latin typeface="Times New Roman" panose="02020603050405020304" pitchFamily="18" charset="0"/>
            </a:endParaRPr>
          </a:p>
        </p:txBody>
      </p:sp>
      <p:sp>
        <p:nvSpPr>
          <p:cNvPr id="13315" name="Rectangle 3">
            <a:extLst>
              <a:ext uri="{FF2B5EF4-FFF2-40B4-BE49-F238E27FC236}">
                <a16:creationId xmlns:a16="http://schemas.microsoft.com/office/drawing/2014/main" id="{E19C30A3-59B8-0F76-CD95-99099973B9F7}"/>
              </a:ext>
            </a:extLst>
          </p:cNvPr>
          <p:cNvSpPr>
            <a:spLocks noGrp="1" noChangeArrowheads="1"/>
          </p:cNvSpPr>
          <p:nvPr>
            <p:ph type="body" idx="4294967295"/>
          </p:nvPr>
        </p:nvSpPr>
        <p:spPr>
          <a:xfrm>
            <a:off x="838200" y="1447800"/>
            <a:ext cx="8001000" cy="4114800"/>
          </a:xfrm>
        </p:spPr>
        <p:txBody>
          <a:bodyPr/>
          <a:lstStyle/>
          <a:p>
            <a:pPr eaLnBrk="1" hangingPunct="1">
              <a:lnSpc>
                <a:spcPct val="90000"/>
              </a:lnSpc>
            </a:pPr>
            <a:r>
              <a:rPr lang="zh-CN" altLang="en-US"/>
              <a:t> </a:t>
            </a:r>
            <a:r>
              <a:rPr lang="zh-CN" altLang="en-US" b="1">
                <a:solidFill>
                  <a:schemeClr val="accent2"/>
                </a:solidFill>
              </a:rPr>
              <a:t>确定的有限自动机的形式化定义</a:t>
            </a:r>
          </a:p>
          <a:p>
            <a:pPr eaLnBrk="1" hangingPunct="1">
              <a:lnSpc>
                <a:spcPct val="90000"/>
              </a:lnSpc>
              <a:buFontTx/>
              <a:buNone/>
            </a:pPr>
            <a:endParaRPr lang="zh-CN" altLang="en-US" sz="1200" b="1">
              <a:solidFill>
                <a:schemeClr val="accent2"/>
              </a:solidFill>
            </a:endParaRPr>
          </a:p>
          <a:p>
            <a:pPr algn="just" eaLnBrk="1" hangingPunct="1">
              <a:lnSpc>
                <a:spcPct val="90000"/>
              </a:lnSpc>
              <a:buFontTx/>
              <a:buNone/>
            </a:pPr>
            <a:r>
              <a:rPr lang="zh-CN" altLang="en-US" b="1"/>
              <a:t>确定的有限自动机是一个五元组</a:t>
            </a:r>
          </a:p>
          <a:p>
            <a:pPr algn="just" eaLnBrk="1" hangingPunct="1">
              <a:lnSpc>
                <a:spcPct val="90000"/>
              </a:lnSpc>
              <a:buFontTx/>
              <a:buNone/>
            </a:pPr>
            <a:r>
              <a:rPr lang="zh-CN" altLang="en-US" b="1"/>
              <a:t>其中：</a:t>
            </a:r>
          </a:p>
          <a:p>
            <a:pPr algn="just" eaLnBrk="1" hangingPunct="1">
              <a:lnSpc>
                <a:spcPct val="90000"/>
              </a:lnSpc>
              <a:buFontTx/>
              <a:buNone/>
            </a:pPr>
            <a:r>
              <a:rPr lang="zh-CN" altLang="en-US" b="1"/>
              <a:t>           ：有限的状态集合；</a:t>
            </a:r>
          </a:p>
          <a:p>
            <a:pPr algn="just" eaLnBrk="1" hangingPunct="1">
              <a:lnSpc>
                <a:spcPct val="90000"/>
              </a:lnSpc>
              <a:buFontTx/>
              <a:buNone/>
            </a:pPr>
            <a:r>
              <a:rPr lang="zh-CN" altLang="en-US" b="1"/>
              <a:t>           ：有限的输入字母表；</a:t>
            </a:r>
          </a:p>
          <a:p>
            <a:pPr algn="just" eaLnBrk="1" hangingPunct="1">
              <a:lnSpc>
                <a:spcPct val="90000"/>
              </a:lnSpc>
              <a:buFontTx/>
              <a:buNone/>
            </a:pPr>
            <a:r>
              <a:rPr lang="zh-CN" altLang="en-US" b="1"/>
              <a:t>           ： 转换函数，是       到     的映射；</a:t>
            </a:r>
          </a:p>
          <a:p>
            <a:pPr algn="just" eaLnBrk="1" hangingPunct="1">
              <a:lnSpc>
                <a:spcPct val="90000"/>
              </a:lnSpc>
              <a:buFontTx/>
              <a:buNone/>
            </a:pPr>
            <a:r>
              <a:rPr lang="zh-CN" altLang="en-US" b="1"/>
              <a:t>           ： 初始状态，          ；</a:t>
            </a:r>
          </a:p>
          <a:p>
            <a:pPr eaLnBrk="1" hangingPunct="1">
              <a:lnSpc>
                <a:spcPct val="90000"/>
              </a:lnSpc>
              <a:buFontTx/>
              <a:buNone/>
            </a:pPr>
            <a:r>
              <a:rPr lang="zh-CN" altLang="en-US" b="1"/>
              <a:t>           </a:t>
            </a:r>
            <a:r>
              <a:rPr lang="zh-CN" altLang="en-US" b="1">
                <a:latin typeface="宋体" panose="02010600030101010101" pitchFamily="2" charset="-122"/>
              </a:rPr>
              <a:t>：</a:t>
            </a:r>
            <a:r>
              <a:rPr lang="zh-CN" altLang="en-US" b="1"/>
              <a:t> </a:t>
            </a:r>
            <a:r>
              <a:rPr lang="zh-CN" altLang="en-US" b="1">
                <a:latin typeface="宋体" panose="02010600030101010101" pitchFamily="2" charset="-122"/>
              </a:rPr>
              <a:t>终止状态集，</a:t>
            </a:r>
            <a:r>
              <a:rPr lang="zh-CN" altLang="en-US" b="1">
                <a:solidFill>
                  <a:schemeClr val="accent2"/>
                </a:solidFill>
              </a:rPr>
              <a:t>          </a:t>
            </a:r>
            <a:r>
              <a:rPr lang="zh-CN" altLang="en-US" b="1"/>
              <a:t>；</a:t>
            </a:r>
            <a:endParaRPr lang="en-US" altLang="zh-CN" b="1"/>
          </a:p>
        </p:txBody>
      </p:sp>
      <p:sp>
        <p:nvSpPr>
          <p:cNvPr id="13316" name="Rectangle 5">
            <a:extLst>
              <a:ext uri="{FF2B5EF4-FFF2-40B4-BE49-F238E27FC236}">
                <a16:creationId xmlns:a16="http://schemas.microsoft.com/office/drawing/2014/main" id="{6AA6E41E-A392-1772-F620-99FF3A99C744}"/>
              </a:ext>
            </a:extLst>
          </p:cNvPr>
          <p:cNvSpPr>
            <a:spLocks noChangeArrowheads="1"/>
          </p:cNvSpPr>
          <p:nvPr/>
        </p:nvSpPr>
        <p:spPr bwMode="auto">
          <a:xfrm>
            <a:off x="449580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latin typeface="Times New Roman" panose="02020603050405020304" pitchFamily="18" charset="0"/>
            </a:endParaRPr>
          </a:p>
        </p:txBody>
      </p:sp>
      <p:sp>
        <p:nvSpPr>
          <p:cNvPr id="13317" name="Rectangle 7">
            <a:extLst>
              <a:ext uri="{FF2B5EF4-FFF2-40B4-BE49-F238E27FC236}">
                <a16:creationId xmlns:a16="http://schemas.microsoft.com/office/drawing/2014/main" id="{4EF2CD5B-4333-7585-36F9-E75B7961A898}"/>
              </a:ext>
            </a:extLst>
          </p:cNvPr>
          <p:cNvSpPr>
            <a:spLocks noChangeArrowheads="1"/>
          </p:cNvSpPr>
          <p:nvPr/>
        </p:nvSpPr>
        <p:spPr bwMode="auto">
          <a:xfrm>
            <a:off x="449580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latin typeface="Times New Roman" panose="02020603050405020304" pitchFamily="18" charset="0"/>
            </a:endParaRPr>
          </a:p>
        </p:txBody>
      </p:sp>
      <p:sp>
        <p:nvSpPr>
          <p:cNvPr id="13318" name="Rectangle 9">
            <a:extLst>
              <a:ext uri="{FF2B5EF4-FFF2-40B4-BE49-F238E27FC236}">
                <a16:creationId xmlns:a16="http://schemas.microsoft.com/office/drawing/2014/main" id="{C09EEF8B-E5CE-DE6F-0E2B-269E916B8708}"/>
              </a:ext>
            </a:extLst>
          </p:cNvPr>
          <p:cNvSpPr>
            <a:spLocks noChangeArrowheads="1"/>
          </p:cNvSpPr>
          <p:nvPr/>
        </p:nvSpPr>
        <p:spPr bwMode="auto">
          <a:xfrm>
            <a:off x="449580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latin typeface="Times New Roman" panose="02020603050405020304" pitchFamily="18" charset="0"/>
            </a:endParaRPr>
          </a:p>
        </p:txBody>
      </p:sp>
      <p:graphicFrame>
        <p:nvGraphicFramePr>
          <p:cNvPr id="13319" name="对象 13318">
            <a:extLst>
              <a:ext uri="{FF2B5EF4-FFF2-40B4-BE49-F238E27FC236}">
                <a16:creationId xmlns:a16="http://schemas.microsoft.com/office/drawing/2014/main" id="{1B276DA3-9F00-F177-5B25-83C8A993602B}"/>
              </a:ext>
            </a:extLst>
          </p:cNvPr>
          <p:cNvGraphicFramePr>
            <a:graphicFrameLocks noChangeAspect="1"/>
          </p:cNvGraphicFramePr>
          <p:nvPr/>
        </p:nvGraphicFramePr>
        <p:xfrm>
          <a:off x="1414463" y="3119438"/>
          <a:ext cx="285750" cy="381000"/>
        </p:xfrm>
        <a:graphic>
          <a:graphicData uri="http://schemas.openxmlformats.org/presentationml/2006/ole">
            <mc:AlternateContent xmlns:mc="http://schemas.openxmlformats.org/markup-compatibility/2006">
              <mc:Choice xmlns:v="urn:schemas-microsoft-com:vml" Requires="v">
                <p:oleObj r:id="rId2" imgW="152798" imgH="203731" progId="Equation.3">
                  <p:embed/>
                </p:oleObj>
              </mc:Choice>
              <mc:Fallback>
                <p:oleObj r:id="rId2" imgW="152798" imgH="203731" progId="Equation.3">
                  <p:embed/>
                  <p:pic>
                    <p:nvPicPr>
                      <p:cNvPr id="13319" name="对象 13318">
                        <a:extLst>
                          <a:ext uri="{FF2B5EF4-FFF2-40B4-BE49-F238E27FC236}">
                            <a16:creationId xmlns:a16="http://schemas.microsoft.com/office/drawing/2014/main" id="{1B276DA3-9F00-F177-5B25-83C8A99360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4463" y="3119438"/>
                        <a:ext cx="2857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320" name="对象 13319">
            <a:extLst>
              <a:ext uri="{FF2B5EF4-FFF2-40B4-BE49-F238E27FC236}">
                <a16:creationId xmlns:a16="http://schemas.microsoft.com/office/drawing/2014/main" id="{F7FF5E18-F2F5-F3FC-04CF-75D6E1D7A131}"/>
              </a:ext>
            </a:extLst>
          </p:cNvPr>
          <p:cNvGraphicFramePr>
            <a:graphicFrameLocks noChangeAspect="1"/>
          </p:cNvGraphicFramePr>
          <p:nvPr/>
        </p:nvGraphicFramePr>
        <p:xfrm>
          <a:off x="1425575" y="3622675"/>
          <a:ext cx="261938" cy="309563"/>
        </p:xfrm>
        <a:graphic>
          <a:graphicData uri="http://schemas.openxmlformats.org/presentationml/2006/ole">
            <mc:AlternateContent xmlns:mc="http://schemas.openxmlformats.org/markup-compatibility/2006">
              <mc:Choice xmlns:v="urn:schemas-microsoft-com:vml" Requires="v">
                <p:oleObj r:id="rId4" imgW="140065" imgH="165531" progId="Equation.3">
                  <p:embed/>
                </p:oleObj>
              </mc:Choice>
              <mc:Fallback>
                <p:oleObj r:id="rId4" imgW="140065" imgH="165531" progId="Equation.3">
                  <p:embed/>
                  <p:pic>
                    <p:nvPicPr>
                      <p:cNvPr id="13320" name="对象 13319">
                        <a:extLst>
                          <a:ext uri="{FF2B5EF4-FFF2-40B4-BE49-F238E27FC236}">
                            <a16:creationId xmlns:a16="http://schemas.microsoft.com/office/drawing/2014/main" id="{F7FF5E18-F2F5-F3FC-04CF-75D6E1D7A1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5575" y="3622675"/>
                        <a:ext cx="261938"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321" name="对象 13320">
            <a:extLst>
              <a:ext uri="{FF2B5EF4-FFF2-40B4-BE49-F238E27FC236}">
                <a16:creationId xmlns:a16="http://schemas.microsoft.com/office/drawing/2014/main" id="{856D2100-B10C-B2A8-5826-37DBECFFC16C}"/>
              </a:ext>
            </a:extLst>
          </p:cNvPr>
          <p:cNvGraphicFramePr>
            <a:graphicFrameLocks noChangeAspect="1"/>
          </p:cNvGraphicFramePr>
          <p:nvPr/>
        </p:nvGraphicFramePr>
        <p:xfrm>
          <a:off x="1403350" y="4076700"/>
          <a:ext cx="261938" cy="333375"/>
        </p:xfrm>
        <a:graphic>
          <a:graphicData uri="http://schemas.openxmlformats.org/presentationml/2006/ole">
            <mc:AlternateContent xmlns:mc="http://schemas.openxmlformats.org/markup-compatibility/2006">
              <mc:Choice xmlns:v="urn:schemas-microsoft-com:vml" Requires="v">
                <p:oleObj r:id="rId6" imgW="140065" imgH="178264" progId="Equation.3">
                  <p:embed/>
                </p:oleObj>
              </mc:Choice>
              <mc:Fallback>
                <p:oleObj r:id="rId6" imgW="140065" imgH="178264" progId="Equation.3">
                  <p:embed/>
                  <p:pic>
                    <p:nvPicPr>
                      <p:cNvPr id="13321" name="对象 13320">
                        <a:extLst>
                          <a:ext uri="{FF2B5EF4-FFF2-40B4-BE49-F238E27FC236}">
                            <a16:creationId xmlns:a16="http://schemas.microsoft.com/office/drawing/2014/main" id="{856D2100-B10C-B2A8-5826-37DBECFFC16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03350" y="4076700"/>
                        <a:ext cx="26193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322" name="对象 13321">
            <a:extLst>
              <a:ext uri="{FF2B5EF4-FFF2-40B4-BE49-F238E27FC236}">
                <a16:creationId xmlns:a16="http://schemas.microsoft.com/office/drawing/2014/main" id="{D866D1DE-32B5-374E-0C13-44C3330E2659}"/>
              </a:ext>
            </a:extLst>
          </p:cNvPr>
          <p:cNvGraphicFramePr>
            <a:graphicFrameLocks noChangeAspect="1"/>
          </p:cNvGraphicFramePr>
          <p:nvPr/>
        </p:nvGraphicFramePr>
        <p:xfrm>
          <a:off x="1403350" y="4437063"/>
          <a:ext cx="309563" cy="428625"/>
        </p:xfrm>
        <a:graphic>
          <a:graphicData uri="http://schemas.openxmlformats.org/presentationml/2006/ole">
            <mc:AlternateContent xmlns:mc="http://schemas.openxmlformats.org/markup-compatibility/2006">
              <mc:Choice xmlns:v="urn:schemas-microsoft-com:vml" Requires="v">
                <p:oleObj r:id="rId8" imgW="165459" imgH="229097" progId="Equation.3">
                  <p:embed/>
                </p:oleObj>
              </mc:Choice>
              <mc:Fallback>
                <p:oleObj r:id="rId8" imgW="165459" imgH="229097" progId="Equation.3">
                  <p:embed/>
                  <p:pic>
                    <p:nvPicPr>
                      <p:cNvPr id="13322" name="对象 13321">
                        <a:extLst>
                          <a:ext uri="{FF2B5EF4-FFF2-40B4-BE49-F238E27FC236}">
                            <a16:creationId xmlns:a16="http://schemas.microsoft.com/office/drawing/2014/main" id="{D866D1DE-32B5-374E-0C13-44C3330E2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03350" y="4437063"/>
                        <a:ext cx="3095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323" name="对象 13322">
            <a:extLst>
              <a:ext uri="{FF2B5EF4-FFF2-40B4-BE49-F238E27FC236}">
                <a16:creationId xmlns:a16="http://schemas.microsoft.com/office/drawing/2014/main" id="{E652BF38-0C5B-FC89-DBFC-55324A505D13}"/>
              </a:ext>
            </a:extLst>
          </p:cNvPr>
          <p:cNvGraphicFramePr>
            <a:graphicFrameLocks noChangeAspect="1"/>
          </p:cNvGraphicFramePr>
          <p:nvPr/>
        </p:nvGraphicFramePr>
        <p:xfrm>
          <a:off x="1403350" y="5013325"/>
          <a:ext cx="309563" cy="309563"/>
        </p:xfrm>
        <a:graphic>
          <a:graphicData uri="http://schemas.openxmlformats.org/presentationml/2006/ole">
            <mc:AlternateContent xmlns:mc="http://schemas.openxmlformats.org/markup-compatibility/2006">
              <mc:Choice xmlns:v="urn:schemas-microsoft-com:vml" Requires="v">
                <p:oleObj r:id="rId10" imgW="165459" imgH="165459" progId="Equation.3">
                  <p:embed/>
                </p:oleObj>
              </mc:Choice>
              <mc:Fallback>
                <p:oleObj r:id="rId10" imgW="165459" imgH="165459" progId="Equation.3">
                  <p:embed/>
                  <p:pic>
                    <p:nvPicPr>
                      <p:cNvPr id="13323" name="对象 13322">
                        <a:extLst>
                          <a:ext uri="{FF2B5EF4-FFF2-40B4-BE49-F238E27FC236}">
                            <a16:creationId xmlns:a16="http://schemas.microsoft.com/office/drawing/2014/main" id="{E652BF38-0C5B-FC89-DBFC-55324A505D1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03350" y="5013325"/>
                        <a:ext cx="309563"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324" name="对象 13323">
            <a:extLst>
              <a:ext uri="{FF2B5EF4-FFF2-40B4-BE49-F238E27FC236}">
                <a16:creationId xmlns:a16="http://schemas.microsoft.com/office/drawing/2014/main" id="{2E2E6AB7-8FA9-0F7C-BE5F-070AC8F571C7}"/>
              </a:ext>
            </a:extLst>
          </p:cNvPr>
          <p:cNvGraphicFramePr>
            <a:graphicFrameLocks noChangeAspect="1"/>
          </p:cNvGraphicFramePr>
          <p:nvPr/>
        </p:nvGraphicFramePr>
        <p:xfrm>
          <a:off x="4500563" y="4056063"/>
          <a:ext cx="690562" cy="381000"/>
        </p:xfrm>
        <a:graphic>
          <a:graphicData uri="http://schemas.openxmlformats.org/presentationml/2006/ole">
            <mc:AlternateContent xmlns:mc="http://schemas.openxmlformats.org/markup-compatibility/2006">
              <mc:Choice xmlns:v="urn:schemas-microsoft-com:vml" Requires="v">
                <p:oleObj r:id="rId12" imgW="368780" imgH="203465" progId="Equation.3">
                  <p:embed/>
                </p:oleObj>
              </mc:Choice>
              <mc:Fallback>
                <p:oleObj r:id="rId12" imgW="368780" imgH="203465" progId="Equation.3">
                  <p:embed/>
                  <p:pic>
                    <p:nvPicPr>
                      <p:cNvPr id="13324" name="对象 13323">
                        <a:extLst>
                          <a:ext uri="{FF2B5EF4-FFF2-40B4-BE49-F238E27FC236}">
                            <a16:creationId xmlns:a16="http://schemas.microsoft.com/office/drawing/2014/main" id="{2E2E6AB7-8FA9-0F7C-BE5F-070AC8F571C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00563" y="4056063"/>
                        <a:ext cx="69056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325" name="对象 13324">
            <a:extLst>
              <a:ext uri="{FF2B5EF4-FFF2-40B4-BE49-F238E27FC236}">
                <a16:creationId xmlns:a16="http://schemas.microsoft.com/office/drawing/2014/main" id="{EA6C56A2-8C91-9F8A-C989-A7A71CABFCB9}"/>
              </a:ext>
            </a:extLst>
          </p:cNvPr>
          <p:cNvGraphicFramePr>
            <a:graphicFrameLocks noChangeAspect="1"/>
          </p:cNvGraphicFramePr>
          <p:nvPr/>
        </p:nvGraphicFramePr>
        <p:xfrm>
          <a:off x="5581650" y="4056063"/>
          <a:ext cx="285750" cy="381000"/>
        </p:xfrm>
        <a:graphic>
          <a:graphicData uri="http://schemas.openxmlformats.org/presentationml/2006/ole">
            <mc:AlternateContent xmlns:mc="http://schemas.openxmlformats.org/markup-compatibility/2006">
              <mc:Choice xmlns:v="urn:schemas-microsoft-com:vml" Requires="v">
                <p:oleObj r:id="rId14" imgW="152798" imgH="203731" progId="Equation.3">
                  <p:embed/>
                </p:oleObj>
              </mc:Choice>
              <mc:Fallback>
                <p:oleObj r:id="rId14" imgW="152798" imgH="203731" progId="Equation.3">
                  <p:embed/>
                  <p:pic>
                    <p:nvPicPr>
                      <p:cNvPr id="13325" name="对象 13324">
                        <a:extLst>
                          <a:ext uri="{FF2B5EF4-FFF2-40B4-BE49-F238E27FC236}">
                            <a16:creationId xmlns:a16="http://schemas.microsoft.com/office/drawing/2014/main" id="{EA6C56A2-8C91-9F8A-C989-A7A71CABFC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1650" y="4056063"/>
                        <a:ext cx="2857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326" name="对象 13325">
            <a:extLst>
              <a:ext uri="{FF2B5EF4-FFF2-40B4-BE49-F238E27FC236}">
                <a16:creationId xmlns:a16="http://schemas.microsoft.com/office/drawing/2014/main" id="{D9E41F4C-8322-F3EA-BC3A-4A288614E4EE}"/>
              </a:ext>
            </a:extLst>
          </p:cNvPr>
          <p:cNvGraphicFramePr>
            <a:graphicFrameLocks noChangeAspect="1"/>
          </p:cNvGraphicFramePr>
          <p:nvPr/>
        </p:nvGraphicFramePr>
        <p:xfrm>
          <a:off x="4386263" y="4992688"/>
          <a:ext cx="833437" cy="381000"/>
        </p:xfrm>
        <a:graphic>
          <a:graphicData uri="http://schemas.openxmlformats.org/presentationml/2006/ole">
            <mc:AlternateContent xmlns:mc="http://schemas.openxmlformats.org/markup-compatibility/2006">
              <mc:Choice xmlns:v="urn:schemas-microsoft-com:vml" Requires="v">
                <p:oleObj r:id="rId15" imgW="445080" imgH="203465" progId="Equation.3">
                  <p:embed/>
                </p:oleObj>
              </mc:Choice>
              <mc:Fallback>
                <p:oleObj r:id="rId15" imgW="445080" imgH="203465" progId="Equation.3">
                  <p:embed/>
                  <p:pic>
                    <p:nvPicPr>
                      <p:cNvPr id="13326" name="对象 13325">
                        <a:extLst>
                          <a:ext uri="{FF2B5EF4-FFF2-40B4-BE49-F238E27FC236}">
                            <a16:creationId xmlns:a16="http://schemas.microsoft.com/office/drawing/2014/main" id="{D9E41F4C-8322-F3EA-BC3A-4A288614E4EE}"/>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86263" y="4992688"/>
                        <a:ext cx="8334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327" name="Rectangle 22">
            <a:extLst>
              <a:ext uri="{FF2B5EF4-FFF2-40B4-BE49-F238E27FC236}">
                <a16:creationId xmlns:a16="http://schemas.microsoft.com/office/drawing/2014/main" id="{12CD7402-12FD-C152-CDC8-A978076167A1}"/>
              </a:ext>
            </a:extLst>
          </p:cNvPr>
          <p:cNvSpPr>
            <a:spLocks noGrp="1" noChangeArrowheads="1"/>
          </p:cNvSpPr>
          <p:nvPr>
            <p:ph type="title" idx="4294967295"/>
          </p:nvPr>
        </p:nvSpPr>
        <p:spPr/>
        <p:txBody>
          <a:bodyPr/>
          <a:lstStyle/>
          <a:p>
            <a:pPr eaLnBrk="1" hangingPunct="1"/>
            <a:r>
              <a:rPr lang="zh-CN" altLang="en-US" b="1" dirty="0"/>
              <a:t>有限状态机</a:t>
            </a:r>
            <a:r>
              <a:rPr lang="en-US" altLang="zh-CN" b="1" dirty="0"/>
              <a:t>:</a:t>
            </a:r>
            <a:r>
              <a:rPr lang="zh-CN" altLang="en-US" b="1" dirty="0"/>
              <a:t>数学模型</a:t>
            </a:r>
          </a:p>
        </p:txBody>
      </p:sp>
      <p:sp>
        <p:nvSpPr>
          <p:cNvPr id="13328" name="Rectangle 24">
            <a:extLst>
              <a:ext uri="{FF2B5EF4-FFF2-40B4-BE49-F238E27FC236}">
                <a16:creationId xmlns:a16="http://schemas.microsoft.com/office/drawing/2014/main" id="{75C9AA18-FF89-B4FF-AE36-43DFCDB68A5D}"/>
              </a:ext>
            </a:extLst>
          </p:cNvPr>
          <p:cNvSpPr>
            <a:spLocks noChangeArrowheads="1"/>
          </p:cNvSpPr>
          <p:nvPr/>
        </p:nvSpPr>
        <p:spPr bwMode="auto">
          <a:xfrm>
            <a:off x="0" y="3314700"/>
            <a:ext cx="9144000" cy="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latin typeface="Times New Roman" panose="02020603050405020304" pitchFamily="18" charset="0"/>
            </a:endParaRPr>
          </a:p>
        </p:txBody>
      </p:sp>
      <p:graphicFrame>
        <p:nvGraphicFramePr>
          <p:cNvPr id="13329" name="对象 13328">
            <a:extLst>
              <a:ext uri="{FF2B5EF4-FFF2-40B4-BE49-F238E27FC236}">
                <a16:creationId xmlns:a16="http://schemas.microsoft.com/office/drawing/2014/main" id="{479FF172-6626-3DC3-E4FD-87BE5AE94050}"/>
              </a:ext>
            </a:extLst>
          </p:cNvPr>
          <p:cNvGraphicFramePr>
            <a:graphicFrameLocks noChangeAspect="1"/>
          </p:cNvGraphicFramePr>
          <p:nvPr/>
        </p:nvGraphicFramePr>
        <p:xfrm>
          <a:off x="4067175" y="4435475"/>
          <a:ext cx="1009650" cy="506413"/>
        </p:xfrm>
        <a:graphic>
          <a:graphicData uri="http://schemas.openxmlformats.org/presentationml/2006/ole">
            <mc:AlternateContent xmlns:mc="http://schemas.openxmlformats.org/markup-compatibility/2006">
              <mc:Choice xmlns:v="urn:schemas-microsoft-com:vml" Requires="v">
                <p:oleObj r:id="rId17" imgW="460397" imgH="230199" progId="Equation.3">
                  <p:embed/>
                </p:oleObj>
              </mc:Choice>
              <mc:Fallback>
                <p:oleObj r:id="rId17" imgW="460397" imgH="230199" progId="Equation.3">
                  <p:embed/>
                  <p:pic>
                    <p:nvPicPr>
                      <p:cNvPr id="13329" name="对象 13328">
                        <a:extLst>
                          <a:ext uri="{FF2B5EF4-FFF2-40B4-BE49-F238E27FC236}">
                            <a16:creationId xmlns:a16="http://schemas.microsoft.com/office/drawing/2014/main" id="{479FF172-6626-3DC3-E4FD-87BE5AE94050}"/>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067175" y="4435475"/>
                        <a:ext cx="1009650"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330" name="Rectangle 26">
            <a:extLst>
              <a:ext uri="{FF2B5EF4-FFF2-40B4-BE49-F238E27FC236}">
                <a16:creationId xmlns:a16="http://schemas.microsoft.com/office/drawing/2014/main" id="{7CBC0677-8154-34D7-4640-B1830724FA1A}"/>
              </a:ext>
            </a:extLst>
          </p:cNvPr>
          <p:cNvSpPr>
            <a:spLocks noChangeArrowheads="1"/>
          </p:cNvSpPr>
          <p:nvPr/>
        </p:nvSpPr>
        <p:spPr bwMode="auto">
          <a:xfrm>
            <a:off x="0" y="3314700"/>
            <a:ext cx="9144000" cy="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latin typeface="Times New Roman" panose="02020603050405020304" pitchFamily="18" charset="0"/>
            </a:endParaRPr>
          </a:p>
        </p:txBody>
      </p:sp>
      <p:graphicFrame>
        <p:nvGraphicFramePr>
          <p:cNvPr id="13331" name="对象 13330">
            <a:extLst>
              <a:ext uri="{FF2B5EF4-FFF2-40B4-BE49-F238E27FC236}">
                <a16:creationId xmlns:a16="http://schemas.microsoft.com/office/drawing/2014/main" id="{F426A779-D807-BFF7-5E92-17F03C961DC9}"/>
              </a:ext>
            </a:extLst>
          </p:cNvPr>
          <p:cNvGraphicFramePr>
            <a:graphicFrameLocks noChangeAspect="1"/>
          </p:cNvGraphicFramePr>
          <p:nvPr/>
        </p:nvGraphicFramePr>
        <p:xfrm>
          <a:off x="5940425" y="2133600"/>
          <a:ext cx="2916238" cy="534988"/>
        </p:xfrm>
        <a:graphic>
          <a:graphicData uri="http://schemas.openxmlformats.org/presentationml/2006/ole">
            <mc:AlternateContent xmlns:mc="http://schemas.openxmlformats.org/markup-compatibility/2006">
              <mc:Choice xmlns:v="urn:schemas-microsoft-com:vml" Requires="v">
                <p:oleObj r:id="rId19" imgW="1248937" imgH="229397" progId="Equation.3">
                  <p:embed/>
                </p:oleObj>
              </mc:Choice>
              <mc:Fallback>
                <p:oleObj r:id="rId19" imgW="1248937" imgH="229397" progId="Equation.3">
                  <p:embed/>
                  <p:pic>
                    <p:nvPicPr>
                      <p:cNvPr id="13331" name="对象 13330">
                        <a:extLst>
                          <a:ext uri="{FF2B5EF4-FFF2-40B4-BE49-F238E27FC236}">
                            <a16:creationId xmlns:a16="http://schemas.microsoft.com/office/drawing/2014/main" id="{F426A779-D807-BFF7-5E92-17F03C961DC9}"/>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940425" y="2133600"/>
                        <a:ext cx="2916238"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332" name="Text Box 28">
            <a:extLst>
              <a:ext uri="{FF2B5EF4-FFF2-40B4-BE49-F238E27FC236}">
                <a16:creationId xmlns:a16="http://schemas.microsoft.com/office/drawing/2014/main" id="{49D0F1EC-0ED9-C5D8-780C-BF3B9847C192}"/>
              </a:ext>
            </a:extLst>
          </p:cNvPr>
          <p:cNvSpPr txBox="1">
            <a:spLocks noChangeArrowheads="1"/>
          </p:cNvSpPr>
          <p:nvPr/>
        </p:nvSpPr>
        <p:spPr bwMode="auto">
          <a:xfrm>
            <a:off x="5076825" y="4437063"/>
            <a:ext cx="3887788" cy="45720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latin typeface="Times New Roman" panose="02020603050405020304" pitchFamily="18" charset="0"/>
              </a:rPr>
              <a:t>（初始状态只有一个）</a:t>
            </a:r>
          </a:p>
        </p:txBody>
      </p:sp>
    </p:spTree>
    <p:extLst>
      <p:ext uri="{BB962C8B-B14F-4D97-AF65-F5344CB8AC3E}">
        <p14:creationId xmlns:p14="http://schemas.microsoft.com/office/powerpoint/2010/main" val="2995205210"/>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灯片编号占位符 4">
            <a:extLst>
              <a:ext uri="{FF2B5EF4-FFF2-40B4-BE49-F238E27FC236}">
                <a16:creationId xmlns:a16="http://schemas.microsoft.com/office/drawing/2014/main" id="{E8EACE07-DBBA-4B74-A5B0-01D9A13B90F1}"/>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Tx/>
              <a:buNone/>
            </a:pPr>
            <a:fld id="{0EF7AEB4-023A-49C1-95F8-8D740905CCDC}" type="slidenum">
              <a:rPr lang="zh-CN" altLang="en-US" sz="1400" b="1"/>
              <a:pPr algn="r" eaLnBrk="1" hangingPunct="1">
                <a:spcBef>
                  <a:spcPct val="50000"/>
                </a:spcBef>
                <a:buFontTx/>
                <a:buNone/>
              </a:pPr>
              <a:t>28</a:t>
            </a:fld>
            <a:endParaRPr lang="zh-CN" altLang="en-US" sz="1400" b="1"/>
          </a:p>
        </p:txBody>
      </p:sp>
      <p:sp>
        <p:nvSpPr>
          <p:cNvPr id="153603" name="Rectangle 2">
            <a:extLst>
              <a:ext uri="{FF2B5EF4-FFF2-40B4-BE49-F238E27FC236}">
                <a16:creationId xmlns:a16="http://schemas.microsoft.com/office/drawing/2014/main" id="{C3EBFCA1-4EEA-464A-A252-B9C340281D13}"/>
              </a:ext>
            </a:extLst>
          </p:cNvPr>
          <p:cNvSpPr>
            <a:spLocks noGrp="1" noChangeArrowheads="1"/>
          </p:cNvSpPr>
          <p:nvPr>
            <p:ph type="title" idx="4294967295"/>
          </p:nvPr>
        </p:nvSpPr>
        <p:spPr>
          <a:xfrm>
            <a:off x="1371600" y="404813"/>
            <a:ext cx="7772400" cy="720725"/>
          </a:xfrm>
        </p:spPr>
        <p:txBody>
          <a:bodyPr/>
          <a:lstStyle/>
          <a:p>
            <a:pPr eaLnBrk="1" hangingPunct="1"/>
            <a:r>
              <a:rPr lang="zh-CN" altLang="en-US" b="1" dirty="0"/>
              <a:t>有限状态机：设计状态转换图</a:t>
            </a:r>
          </a:p>
        </p:txBody>
      </p:sp>
      <p:sp>
        <p:nvSpPr>
          <p:cNvPr id="153604" name="Rectangle 3">
            <a:extLst>
              <a:ext uri="{FF2B5EF4-FFF2-40B4-BE49-F238E27FC236}">
                <a16:creationId xmlns:a16="http://schemas.microsoft.com/office/drawing/2014/main" id="{4AF31BE6-9C28-4F27-A8F6-C0F83AC403D4}"/>
              </a:ext>
            </a:extLst>
          </p:cNvPr>
          <p:cNvSpPr>
            <a:spLocks noGrp="1" noChangeArrowheads="1"/>
          </p:cNvSpPr>
          <p:nvPr>
            <p:ph type="body" idx="4294967295"/>
          </p:nvPr>
        </p:nvSpPr>
        <p:spPr>
          <a:xfrm>
            <a:off x="685800" y="1319213"/>
            <a:ext cx="8153400" cy="4918075"/>
          </a:xfrm>
        </p:spPr>
        <p:txBody>
          <a:bodyPr/>
          <a:lstStyle/>
          <a:p>
            <a:pPr eaLnBrk="1" hangingPunct="1">
              <a:buFont typeface="Wingdings" panose="05000000000000000000" pitchFamily="2" charset="2"/>
              <a:buChar char="l"/>
            </a:pPr>
            <a:r>
              <a:rPr lang="zh-CN" altLang="en-US" sz="3200" b="1" dirty="0"/>
              <a:t>如何设计有限状态自动机？</a:t>
            </a:r>
          </a:p>
          <a:p>
            <a:pPr eaLnBrk="1" hangingPunct="1">
              <a:lnSpc>
                <a:spcPct val="130000"/>
              </a:lnSpc>
            </a:pPr>
            <a:r>
              <a:rPr lang="zh-CN" altLang="en-US" sz="3200" b="1" dirty="0">
                <a:solidFill>
                  <a:srgbClr val="333399"/>
                </a:solidFill>
              </a:rPr>
              <a:t>可能出现的有限个状态、运行的规则都是事先确定的。一旦开始运行，就按照事先确定的规则工作，因此叫“自动机”。</a:t>
            </a:r>
            <a:endParaRPr lang="en-US" altLang="zh-CN" sz="3200" b="1" dirty="0">
              <a:solidFill>
                <a:srgbClr val="333399"/>
              </a:solidFill>
            </a:endParaRPr>
          </a:p>
          <a:p>
            <a:pPr eaLnBrk="1" hangingPunct="1">
              <a:lnSpc>
                <a:spcPct val="130000"/>
              </a:lnSpc>
            </a:pPr>
            <a:r>
              <a:rPr lang="zh-CN" altLang="en-US" sz="3200" b="1" dirty="0">
                <a:solidFill>
                  <a:srgbClr val="333399"/>
                </a:solidFill>
              </a:rPr>
              <a:t>使用状态转换图形直观描述整个工作过程。</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4">
            <a:extLst>
              <a:ext uri="{FF2B5EF4-FFF2-40B4-BE49-F238E27FC236}">
                <a16:creationId xmlns:a16="http://schemas.microsoft.com/office/drawing/2014/main" id="{27089EB8-14B6-3FD6-0D12-1B9D8377079A}"/>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E9FEDBDE-59ED-4E8B-A03F-F2B70007DFA7}" type="slidenum">
              <a:rPr lang="zh-CN" altLang="en-US" sz="1400">
                <a:latin typeface="Times New Roman" panose="02020603050405020304" pitchFamily="18" charset="0"/>
              </a:rPr>
              <a:pPr algn="r" eaLnBrk="1" hangingPunct="1">
                <a:spcBef>
                  <a:spcPct val="50000"/>
                </a:spcBef>
                <a:buFontTx/>
                <a:buNone/>
              </a:pPr>
              <a:t>29</a:t>
            </a:fld>
            <a:endParaRPr lang="zh-CN" altLang="en-US" sz="1400">
              <a:latin typeface="Times New Roman" panose="02020603050405020304" pitchFamily="18" charset="0"/>
            </a:endParaRPr>
          </a:p>
        </p:txBody>
      </p:sp>
      <p:sp>
        <p:nvSpPr>
          <p:cNvPr id="31747" name="Rectangle 2">
            <a:extLst>
              <a:ext uri="{FF2B5EF4-FFF2-40B4-BE49-F238E27FC236}">
                <a16:creationId xmlns:a16="http://schemas.microsoft.com/office/drawing/2014/main" id="{6776038C-4119-227E-C60A-72ECA9196861}"/>
              </a:ext>
            </a:extLst>
          </p:cNvPr>
          <p:cNvSpPr>
            <a:spLocks noGrp="1" noChangeArrowheads="1"/>
          </p:cNvSpPr>
          <p:nvPr>
            <p:ph type="title" idx="4294967295"/>
          </p:nvPr>
        </p:nvSpPr>
        <p:spPr>
          <a:xfrm>
            <a:off x="2916238" y="404813"/>
            <a:ext cx="6119812" cy="720725"/>
          </a:xfrm>
        </p:spPr>
        <p:txBody>
          <a:bodyPr/>
          <a:lstStyle/>
          <a:p>
            <a:pPr eaLnBrk="1" hangingPunct="1"/>
            <a:r>
              <a:rPr lang="zh-CN" altLang="en-US" b="1" dirty="0"/>
              <a:t>有限状态机的通用编码模式</a:t>
            </a:r>
          </a:p>
        </p:txBody>
      </p:sp>
      <p:sp>
        <p:nvSpPr>
          <p:cNvPr id="31748" name="Text Box 3">
            <a:extLst>
              <a:ext uri="{FF2B5EF4-FFF2-40B4-BE49-F238E27FC236}">
                <a16:creationId xmlns:a16="http://schemas.microsoft.com/office/drawing/2014/main" id="{CA1FBFBB-76E0-F909-EDF9-7851D5D4B7EB}"/>
              </a:ext>
            </a:extLst>
          </p:cNvPr>
          <p:cNvSpPr txBox="1">
            <a:spLocks noChangeArrowheads="1"/>
          </p:cNvSpPr>
          <p:nvPr/>
        </p:nvSpPr>
        <p:spPr bwMode="auto">
          <a:xfrm>
            <a:off x="684213" y="5876925"/>
            <a:ext cx="6191250" cy="519113"/>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dirty="0">
                <a:latin typeface="Times New Roman" panose="02020603050405020304" pitchFamily="18" charset="0"/>
              </a:rPr>
              <a:t>有限状态机解题通用处理模式</a:t>
            </a:r>
          </a:p>
        </p:txBody>
      </p:sp>
      <p:graphicFrame>
        <p:nvGraphicFramePr>
          <p:cNvPr id="31749" name="Object 4">
            <a:extLst>
              <a:ext uri="{FF2B5EF4-FFF2-40B4-BE49-F238E27FC236}">
                <a16:creationId xmlns:a16="http://schemas.microsoft.com/office/drawing/2014/main" id="{E9FEA0AD-ECB3-B5F9-91D3-CB100DF3D357}"/>
              </a:ext>
            </a:extLst>
          </p:cNvPr>
          <p:cNvGraphicFramePr>
            <a:graphicFrameLocks noGrp="1" noChangeAspect="1"/>
          </p:cNvGraphicFramePr>
          <p:nvPr>
            <p:ph idx="4294967295"/>
          </p:nvPr>
        </p:nvGraphicFramePr>
        <p:xfrm>
          <a:off x="231775" y="1268413"/>
          <a:ext cx="5132388" cy="4611687"/>
        </p:xfrm>
        <a:graphic>
          <a:graphicData uri="http://schemas.openxmlformats.org/presentationml/2006/ole">
            <mc:AlternateContent xmlns:mc="http://schemas.openxmlformats.org/markup-compatibility/2006">
              <mc:Choice xmlns:v="urn:schemas-microsoft-com:vml" Requires="v">
                <p:oleObj r:id="rId2" imgW="3402000" imgH="3056400" progId="">
                  <p:embed/>
                </p:oleObj>
              </mc:Choice>
              <mc:Fallback>
                <p:oleObj r:id="rId2" imgW="3402000" imgH="3056400" progId="">
                  <p:embed/>
                  <p:pic>
                    <p:nvPicPr>
                      <p:cNvPr id="31749" name="Object 4">
                        <a:extLst>
                          <a:ext uri="{FF2B5EF4-FFF2-40B4-BE49-F238E27FC236}">
                            <a16:creationId xmlns:a16="http://schemas.microsoft.com/office/drawing/2014/main" id="{E9FEA0AD-ECB3-B5F9-91D3-CB100DF3D357}"/>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775" y="1268413"/>
                        <a:ext cx="5132388" cy="461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1750" name="Rectangle 5">
            <a:extLst>
              <a:ext uri="{FF2B5EF4-FFF2-40B4-BE49-F238E27FC236}">
                <a16:creationId xmlns:a16="http://schemas.microsoft.com/office/drawing/2014/main" id="{44D6DB29-7603-B2F5-FA84-4600061F984A}"/>
              </a:ext>
            </a:extLst>
          </p:cNvPr>
          <p:cNvSpPr>
            <a:spLocks noChangeArrowheads="1"/>
          </p:cNvSpPr>
          <p:nvPr/>
        </p:nvSpPr>
        <p:spPr bwMode="auto">
          <a:xfrm>
            <a:off x="5584825" y="1268413"/>
            <a:ext cx="3451225" cy="461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400">
                <a:latin typeface="Times New Roman" panose="02020603050405020304" pitchFamily="18" charset="0"/>
              </a:rPr>
              <a:t>#define START 1</a:t>
            </a:r>
          </a:p>
          <a:p>
            <a:pPr eaLnBrk="1" hangingPunct="1">
              <a:buFontTx/>
              <a:buNone/>
            </a:pPr>
            <a:r>
              <a:rPr lang="en-US" altLang="zh-CN" sz="2400">
                <a:latin typeface="Times New Roman" panose="02020603050405020304" pitchFamily="18" charset="0"/>
              </a:rPr>
              <a:t>...</a:t>
            </a:r>
          </a:p>
          <a:p>
            <a:pPr eaLnBrk="1" hangingPunct="1">
              <a:buFontTx/>
              <a:buNone/>
            </a:pPr>
            <a:r>
              <a:rPr lang="en-US" altLang="zh-CN" sz="2400">
                <a:latin typeface="Times New Roman" panose="02020603050405020304" pitchFamily="18" charset="0"/>
              </a:rPr>
              <a:t>int state=START;</a:t>
            </a:r>
          </a:p>
          <a:p>
            <a:pPr eaLnBrk="1" hangingPunct="1">
              <a:buFontTx/>
              <a:buNone/>
            </a:pPr>
            <a:r>
              <a:rPr lang="en-US" altLang="zh-CN" sz="2400">
                <a:latin typeface="Times New Roman" panose="02020603050405020304" pitchFamily="18" charset="0"/>
              </a:rPr>
              <a:t>...</a:t>
            </a:r>
          </a:p>
          <a:p>
            <a:pPr eaLnBrk="1" hangingPunct="1">
              <a:buFontTx/>
              <a:buNone/>
            </a:pPr>
            <a:r>
              <a:rPr lang="en-US" altLang="zh-CN" sz="2400">
                <a:latin typeface="Times New Roman" panose="02020603050405020304" pitchFamily="18" charset="0"/>
              </a:rPr>
              <a:t>while (state!=END) {</a:t>
            </a:r>
          </a:p>
          <a:p>
            <a:pPr eaLnBrk="1" hangingPunct="1">
              <a:buFontTx/>
              <a:buNone/>
            </a:pPr>
            <a:r>
              <a:rPr lang="en-US" altLang="zh-CN" sz="2400">
                <a:latin typeface="Times New Roman" panose="02020603050405020304" pitchFamily="18" charset="0"/>
              </a:rPr>
              <a:t>	ch=getchar();</a:t>
            </a:r>
          </a:p>
          <a:p>
            <a:pPr eaLnBrk="1" hangingPunct="1">
              <a:buFontTx/>
              <a:buNone/>
            </a:pPr>
            <a:r>
              <a:rPr lang="en-US" altLang="zh-CN" sz="2400">
                <a:latin typeface="Times New Roman" panose="02020603050405020304" pitchFamily="18" charset="0"/>
              </a:rPr>
              <a:t>    switch(state) {</a:t>
            </a:r>
          </a:p>
          <a:p>
            <a:pPr eaLnBrk="1" hangingPunct="1">
              <a:buFontTx/>
              <a:buNone/>
            </a:pPr>
            <a:r>
              <a:rPr lang="en-US" altLang="zh-CN" sz="2400">
                <a:latin typeface="Times New Roman" panose="02020603050405020304" pitchFamily="18" charset="0"/>
              </a:rPr>
              <a:t>	  case START: </a:t>
            </a:r>
          </a:p>
          <a:p>
            <a:pPr eaLnBrk="1" hangingPunct="1">
              <a:buFontTx/>
              <a:buNone/>
            </a:pPr>
            <a:r>
              <a:rPr lang="en-US" altLang="zh-CN" sz="2400">
                <a:latin typeface="Times New Roman" panose="02020603050405020304" pitchFamily="18" charset="0"/>
              </a:rPr>
              <a:t>		if (ch==?) state=Q1; break;</a:t>
            </a:r>
          </a:p>
          <a:p>
            <a:pPr eaLnBrk="1" hangingPunct="1">
              <a:buFontTx/>
              <a:buNone/>
            </a:pPr>
            <a:r>
              <a:rPr lang="en-US" altLang="zh-CN" sz="2400">
                <a:latin typeface="Times New Roman" panose="02020603050405020304" pitchFamily="18" charset="0"/>
              </a:rPr>
              <a:t>...}</a:t>
            </a:r>
          </a:p>
        </p:txBody>
      </p:sp>
    </p:spTree>
    <p:extLst>
      <p:ext uri="{BB962C8B-B14F-4D97-AF65-F5344CB8AC3E}">
        <p14:creationId xmlns:p14="http://schemas.microsoft.com/office/powerpoint/2010/main" val="620672772"/>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t>30</a:t>
            </a:fld>
            <a:endParaRPr lang="zh-CN" altLang="en-US" sz="1400" dirty="0"/>
          </a:p>
        </p:txBody>
      </p:sp>
      <p:sp>
        <p:nvSpPr>
          <p:cNvPr id="25602" name="Rectangle 2"/>
          <p:cNvSpPr>
            <a:spLocks noGrp="1"/>
          </p:cNvSpPr>
          <p:nvPr>
            <p:ph type="title"/>
          </p:nvPr>
        </p:nvSpPr>
        <p:spPr/>
        <p:txBody>
          <a:bodyPr vert="horz" wrap="square" lIns="91440" tIns="45720" rIns="91440" bIns="45720" anchor="ctr"/>
          <a:lstStyle/>
          <a:p>
            <a:pPr eaLnBrk="1" hangingPunct="1"/>
            <a:r>
              <a:rPr lang="en-US" altLang="zh-CN" b="1" dirty="0"/>
              <a:t>1.1     </a:t>
            </a:r>
            <a:r>
              <a:rPr lang="zh-CN" altLang="en-US" b="1" dirty="0"/>
              <a:t>什么是程序设计语言</a:t>
            </a:r>
          </a:p>
        </p:txBody>
      </p:sp>
      <p:sp>
        <p:nvSpPr>
          <p:cNvPr id="7172" name="Rectangle 3"/>
          <p:cNvSpPr>
            <a:spLocks noGrp="1" noChangeArrowheads="1"/>
          </p:cNvSpPr>
          <p:nvPr>
            <p:ph idx="1"/>
          </p:nvPr>
        </p:nvSpPr>
        <p:spPr>
          <a:xfrm>
            <a:off x="685800" y="1319213"/>
            <a:ext cx="7772400" cy="4611688"/>
          </a:xfrm>
        </p:spPr>
        <p:txBody>
          <a:bodyPr vert="horz" wrap="square" lIns="91440" tIns="45720" rIns="91440" bIns="45720" numCol="1" anchor="t" anchorCtr="0" compatLnSpc="1"/>
          <a:lstStyle/>
          <a:p>
            <a:pPr marL="0" marR="0" lvl="0" indent="0" algn="l" defTabSz="914400" rtl="0" eaLnBrk="1" fontAlgn="base" latinLnBrk="0" hangingPunct="1">
              <a:lnSpc>
                <a:spcPct val="150000"/>
              </a:lnSpc>
              <a:spcBef>
                <a:spcPct val="20000"/>
              </a:spcBef>
              <a:spcAft>
                <a:spcPct val="0"/>
              </a:spcAft>
              <a:buClrTx/>
              <a:buSzTx/>
              <a:buFontTx/>
              <a:buNone/>
              <a:defRPr/>
            </a:pPr>
            <a:r>
              <a:rPr kumimoji="1" lang="zh-CN" altLang="en-US"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一、语言的概念：</a:t>
            </a:r>
            <a:endParaRPr kumimoji="1" lang="en-US" altLang="zh-CN"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marR="0" lvl="0" indent="-342900" algn="l" defTabSz="914400" rtl="0" eaLnBrk="1" fontAlgn="base" latinLnBrk="0" hangingPunct="1">
              <a:lnSpc>
                <a:spcPct val="150000"/>
              </a:lnSpc>
              <a:spcBef>
                <a:spcPct val="20000"/>
              </a:spcBef>
              <a:spcAft>
                <a:spcPct val="0"/>
              </a:spcAft>
              <a:buClrTx/>
              <a:buSzTx/>
              <a:buFontTx/>
              <a:buChar char="•"/>
              <a:defRPr/>
            </a:pPr>
            <a:r>
              <a:rPr kumimoji="1" lang="zh-CN" altLang="en-US" sz="24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语言就广义而言，是一套共同采用的 沟通</a:t>
            </a:r>
            <a:r>
              <a:rPr kumimoji="1" lang="zh-CN" altLang="en-US" sz="24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符号</a:t>
            </a:r>
            <a:r>
              <a:rPr kumimoji="1" lang="zh-CN" altLang="en-US" sz="24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、表达方式与处理</a:t>
            </a:r>
            <a:r>
              <a:rPr kumimoji="1" lang="zh-CN" altLang="en-US" sz="24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规则</a:t>
            </a:r>
            <a:r>
              <a:rPr kumimoji="1" lang="zh-CN" altLang="en-US" sz="24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a:t>
            </a:r>
            <a:endParaRPr kumimoji="1" lang="en-US" altLang="zh-CN" sz="24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marR="0" lvl="0" indent="-342900" algn="l" defTabSz="914400" rtl="0" eaLnBrk="1" fontAlgn="base" latinLnBrk="0" hangingPunct="1">
              <a:lnSpc>
                <a:spcPct val="150000"/>
              </a:lnSpc>
              <a:spcBef>
                <a:spcPct val="20000"/>
              </a:spcBef>
              <a:spcAft>
                <a:spcPct val="0"/>
              </a:spcAft>
              <a:buClrTx/>
              <a:buSzTx/>
              <a:buFontTx/>
              <a:buChar char="•"/>
              <a:defRPr/>
            </a:pPr>
            <a:r>
              <a:rPr lang="zh-CN" altLang="en-US" sz="2400" b="1" noProof="0" dirty="0">
                <a:ln>
                  <a:noFill/>
                </a:ln>
                <a:effectLst/>
                <a:uLnTx/>
                <a:uFillTx/>
                <a:latin typeface="微软雅黑" panose="020B0503020204020204" charset="-122"/>
                <a:ea typeface="微软雅黑" panose="020B0503020204020204" charset="-122"/>
                <a:sym typeface="+mn-ea"/>
              </a:rPr>
              <a:t>计算机语言（</a:t>
            </a:r>
            <a:r>
              <a:rPr lang="en-US" altLang="zh-CN" sz="2400" b="1" noProof="0" dirty="0">
                <a:ln>
                  <a:noFill/>
                </a:ln>
                <a:effectLst/>
                <a:uLnTx/>
                <a:uFillTx/>
                <a:latin typeface="微软雅黑" panose="020B0503020204020204" charset="-122"/>
                <a:ea typeface="微软雅黑" panose="020B0503020204020204" charset="-122"/>
                <a:sym typeface="+mn-ea"/>
              </a:rPr>
              <a:t>Computer Language</a:t>
            </a:r>
            <a:r>
              <a:rPr lang="zh-CN" altLang="en-US" sz="2400" b="1" noProof="0" dirty="0">
                <a:ln>
                  <a:noFill/>
                </a:ln>
                <a:effectLst/>
                <a:uLnTx/>
                <a:uFillTx/>
                <a:latin typeface="微软雅黑" panose="020B0503020204020204" charset="-122"/>
                <a:ea typeface="微软雅黑" panose="020B0503020204020204" charset="-122"/>
                <a:sym typeface="+mn-ea"/>
              </a:rPr>
              <a:t>）</a:t>
            </a:r>
            <a:r>
              <a:rPr lang="zh-CN" altLang="en-US" sz="2400" noProof="0" dirty="0">
                <a:ln>
                  <a:noFill/>
                </a:ln>
                <a:effectLst/>
                <a:uLnTx/>
                <a:uFillTx/>
                <a:latin typeface="微软雅黑" panose="020B0503020204020204" charset="-122"/>
                <a:ea typeface="微软雅黑" panose="020B0503020204020204" charset="-122"/>
                <a:sym typeface="+mn-ea"/>
              </a:rPr>
              <a:t>指用于人与计算机之间通讯的语言。</a:t>
            </a:r>
          </a:p>
          <a:p>
            <a:pPr marL="342900" marR="0" lvl="0" indent="-342900" algn="l" defTabSz="914400" rtl="0" eaLnBrk="1" fontAlgn="base" latinLnBrk="0" hangingPunct="1">
              <a:lnSpc>
                <a:spcPct val="150000"/>
              </a:lnSpc>
              <a:spcBef>
                <a:spcPct val="20000"/>
              </a:spcBef>
              <a:buClrTx/>
              <a:buSzTx/>
              <a:buFontTx/>
              <a:buChar char="•"/>
              <a:defRPr/>
            </a:pPr>
            <a:r>
              <a:rPr lang="zh-CN" altLang="en-US" sz="2400" noProof="0" dirty="0">
                <a:ln>
                  <a:noFill/>
                </a:ln>
                <a:effectLst/>
                <a:uLnTx/>
                <a:uFillTx/>
                <a:latin typeface="微软雅黑" panose="020B0503020204020204" charset="-122"/>
                <a:ea typeface="微软雅黑" panose="020B0503020204020204" charset="-122"/>
                <a:sym typeface="+mn-ea"/>
              </a:rPr>
              <a:t>程序设计语言介于人与人沟通的语言和机器语言之间</a:t>
            </a:r>
            <a:r>
              <a:rPr lang="en-US" altLang="zh-CN" sz="2400" noProof="0" dirty="0">
                <a:ln>
                  <a:noFill/>
                </a:ln>
                <a:effectLst/>
                <a:uLnTx/>
                <a:uFillTx/>
                <a:latin typeface="微软雅黑" panose="020B0503020204020204" charset="-122"/>
                <a:ea typeface="微软雅黑" panose="020B0503020204020204" charset="-122"/>
                <a:sym typeface="+mn-ea"/>
              </a:rPr>
              <a:t>.</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t>31</a:t>
            </a:fld>
            <a:endParaRPr lang="zh-CN" altLang="en-US" sz="1400" dirty="0"/>
          </a:p>
        </p:txBody>
      </p:sp>
      <p:sp>
        <p:nvSpPr>
          <p:cNvPr id="138247" name="Text Box 7"/>
          <p:cNvSpPr txBox="1"/>
          <p:nvPr/>
        </p:nvSpPr>
        <p:spPr>
          <a:xfrm>
            <a:off x="457200" y="1989138"/>
            <a:ext cx="8382000" cy="3754437"/>
          </a:xfrm>
          <a:prstGeom prst="rect">
            <a:avLst/>
          </a:prstGeom>
          <a:noFill/>
          <a:ln w="9525">
            <a:noFill/>
          </a:ln>
        </p:spPr>
        <p:txBody>
          <a:bodyPr anchor="t">
            <a:spAutoFit/>
          </a:bodyPr>
          <a:lstStyle/>
          <a:p>
            <a:pPr>
              <a:lnSpc>
                <a:spcPct val="150000"/>
              </a:lnSpc>
              <a:spcBef>
                <a:spcPct val="50000"/>
              </a:spcBef>
              <a:buClr>
                <a:srgbClr val="6600FF"/>
              </a:buClr>
              <a:buSzPct val="50000"/>
              <a:buFont typeface="Wingdings" panose="05000000000000000000" pitchFamily="2" charset="2"/>
              <a:buChar char="u"/>
            </a:pPr>
            <a:r>
              <a:rPr lang="zh-CN" altLang="en-US" sz="2800" dirty="0">
                <a:latin typeface="宋体" panose="02010600030101010101" pitchFamily="2" charset="-122"/>
              </a:rPr>
              <a:t>计算机发展早期使用的语言；面向计算机指令。</a:t>
            </a:r>
          </a:p>
          <a:p>
            <a:pPr>
              <a:lnSpc>
                <a:spcPct val="150000"/>
              </a:lnSpc>
              <a:spcBef>
                <a:spcPct val="50000"/>
              </a:spcBef>
              <a:buClr>
                <a:srgbClr val="6600FF"/>
              </a:buClr>
              <a:buSzPct val="50000"/>
              <a:buFont typeface="Wingdings" panose="05000000000000000000" pitchFamily="2" charset="2"/>
              <a:buChar char="u"/>
            </a:pPr>
            <a:r>
              <a:rPr lang="zh-CN" altLang="en-US" sz="2800" dirty="0">
                <a:latin typeface="宋体" panose="02010600030101010101" pitchFamily="2" charset="-122"/>
              </a:rPr>
              <a:t>指令由</a:t>
            </a:r>
            <a:r>
              <a:rPr lang="zh-CN" altLang="en-US" sz="2800" dirty="0">
                <a:latin typeface="Times New Roman" panose="02020603050405020304" pitchFamily="18" charset="0"/>
              </a:rPr>
              <a:t>“</a:t>
            </a:r>
            <a:r>
              <a:rPr lang="zh-CN" altLang="en-US" sz="2800" dirty="0">
                <a:latin typeface="宋体" panose="02010600030101010101" pitchFamily="2" charset="-122"/>
              </a:rPr>
              <a:t>0</a:t>
            </a:r>
            <a:r>
              <a:rPr lang="zh-CN" altLang="en-US" sz="2800" dirty="0">
                <a:latin typeface="Times New Roman" panose="02020603050405020304" pitchFamily="18" charset="0"/>
              </a:rPr>
              <a:t>”</a:t>
            </a:r>
            <a:r>
              <a:rPr lang="zh-CN" altLang="en-US" sz="2800" dirty="0">
                <a:latin typeface="宋体" panose="02010600030101010101" pitchFamily="2" charset="-122"/>
              </a:rPr>
              <a:t>和</a:t>
            </a:r>
            <a:r>
              <a:rPr lang="zh-CN" altLang="en-US" sz="2800" dirty="0">
                <a:latin typeface="Times New Roman" panose="02020603050405020304" pitchFamily="18" charset="0"/>
              </a:rPr>
              <a:t>“</a:t>
            </a:r>
            <a:r>
              <a:rPr lang="zh-CN" altLang="en-US" sz="2800" dirty="0">
                <a:latin typeface="宋体" panose="02010600030101010101" pitchFamily="2" charset="-122"/>
              </a:rPr>
              <a:t>1</a:t>
            </a:r>
            <a:r>
              <a:rPr lang="zh-CN" altLang="en-US" sz="2800" dirty="0">
                <a:latin typeface="Times New Roman" panose="02020603050405020304" pitchFamily="18" charset="0"/>
              </a:rPr>
              <a:t>”</a:t>
            </a:r>
            <a:r>
              <a:rPr lang="zh-CN" altLang="en-US" sz="2800" dirty="0">
                <a:latin typeface="宋体" panose="02010600030101010101" pitchFamily="2" charset="-122"/>
              </a:rPr>
              <a:t>的二进制码组成 </a:t>
            </a:r>
            <a:r>
              <a:rPr lang="en-US" altLang="zh-CN" sz="2800" dirty="0">
                <a:latin typeface="宋体" panose="02010600030101010101" pitchFamily="2" charset="-122"/>
              </a:rPr>
              <a:t>,</a:t>
            </a:r>
            <a:r>
              <a:rPr lang="zh-CN" altLang="en-US" sz="2800" dirty="0">
                <a:latin typeface="宋体" panose="02010600030101010101" pitchFamily="2" charset="-122"/>
              </a:rPr>
              <a:t>是指挥计算机工作的命令，是</a:t>
            </a:r>
            <a:r>
              <a:rPr lang="zh-CN" altLang="en-US" sz="2800" dirty="0">
                <a:solidFill>
                  <a:srgbClr val="FF0000"/>
                </a:solidFill>
                <a:latin typeface="宋体" panose="02010600030101010101" pitchFamily="2" charset="-122"/>
              </a:rPr>
              <a:t>计算机唯一可以直接识别的语言</a:t>
            </a:r>
            <a:r>
              <a:rPr lang="zh-CN" altLang="en-US" sz="2800" dirty="0">
                <a:latin typeface="宋体" panose="02010600030101010101" pitchFamily="2" charset="-122"/>
              </a:rPr>
              <a:t>；</a:t>
            </a:r>
          </a:p>
          <a:p>
            <a:pPr>
              <a:lnSpc>
                <a:spcPct val="150000"/>
              </a:lnSpc>
              <a:spcBef>
                <a:spcPct val="50000"/>
              </a:spcBef>
              <a:buClr>
                <a:srgbClr val="6600FF"/>
              </a:buClr>
              <a:buSzPct val="50000"/>
              <a:buFont typeface="Wingdings" panose="05000000000000000000" pitchFamily="2" charset="2"/>
              <a:buChar char="u"/>
            </a:pPr>
            <a:r>
              <a:rPr lang="zh-CN" altLang="en-US" sz="2800" dirty="0">
                <a:latin typeface="宋体" panose="02010600030101010101" pitchFamily="2" charset="-122"/>
              </a:rPr>
              <a:t>与具体机器有关，不同的机器能识别的机器语言也不同；</a:t>
            </a:r>
            <a:endParaRPr lang="en-US" altLang="zh-CN" sz="2800" dirty="0">
              <a:latin typeface="宋体" panose="02010600030101010101" pitchFamily="2" charset="-122"/>
            </a:endParaRPr>
          </a:p>
        </p:txBody>
      </p:sp>
      <p:grpSp>
        <p:nvGrpSpPr>
          <p:cNvPr id="36867" name="Group 10"/>
          <p:cNvGrpSpPr/>
          <p:nvPr/>
        </p:nvGrpSpPr>
        <p:grpSpPr>
          <a:xfrm>
            <a:off x="457200" y="1196975"/>
            <a:ext cx="2286000" cy="544513"/>
            <a:chOff x="2880" y="864"/>
            <a:chExt cx="1056" cy="336"/>
          </a:xfrm>
        </p:grpSpPr>
        <p:sp>
          <p:nvSpPr>
            <p:cNvPr id="36868" name="Rectangle 8"/>
            <p:cNvSpPr/>
            <p:nvPr/>
          </p:nvSpPr>
          <p:spPr>
            <a:xfrm>
              <a:off x="2880" y="864"/>
              <a:ext cx="1056" cy="336"/>
            </a:xfrm>
            <a:prstGeom prst="rect">
              <a:avLst/>
            </a:prstGeom>
            <a:gradFill rotWithShape="0">
              <a:gsLst>
                <a:gs pos="0">
                  <a:srgbClr val="3E040E"/>
                </a:gs>
                <a:gs pos="50000">
                  <a:srgbClr val="CF0E30"/>
                </a:gs>
                <a:gs pos="100000">
                  <a:srgbClr val="3E040E"/>
                </a:gs>
              </a:gsLst>
              <a:lin ang="2700000" scaled="1"/>
              <a:tileRect/>
            </a:gradFill>
            <a:ln w="28575" cap="flat" cmpd="sng">
              <a:solidFill>
                <a:srgbClr val="F68295"/>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6869" name="Text Box 9"/>
            <p:cNvSpPr txBox="1"/>
            <p:nvPr/>
          </p:nvSpPr>
          <p:spPr>
            <a:xfrm>
              <a:off x="2880" y="864"/>
              <a:ext cx="1008" cy="320"/>
            </a:xfrm>
            <a:prstGeom prst="rect">
              <a:avLst/>
            </a:prstGeom>
            <a:noFill/>
            <a:ln w="9525">
              <a:noFill/>
            </a:ln>
          </p:spPr>
          <p:txBody>
            <a:bodyPr anchor="t">
              <a:spAutoFit/>
            </a:bodyPr>
            <a:lstStyle/>
            <a:p>
              <a:pPr algn="ctr" eaLnBrk="0" hangingPunct="0">
                <a:spcBef>
                  <a:spcPct val="50000"/>
                </a:spcBef>
              </a:pPr>
              <a:r>
                <a:rPr lang="zh-CN" altLang="en-US" sz="2800" dirty="0">
                  <a:solidFill>
                    <a:srgbClr val="FFFFFF"/>
                  </a:solidFill>
                  <a:latin typeface="楷体_GB2312" pitchFamily="1" charset="-122"/>
                  <a:ea typeface="楷体_GB2312" pitchFamily="1" charset="-122"/>
                </a:rPr>
                <a:t>1、机器语言</a:t>
              </a:r>
            </a:p>
          </p:txBody>
        </p:sp>
      </p:grpSp>
      <p:sp>
        <p:nvSpPr>
          <p:cNvPr id="36870" name="Rectangle 13"/>
          <p:cNvSpPr>
            <a:spLocks noGrp="1"/>
          </p:cNvSpPr>
          <p:nvPr>
            <p:ph type="title"/>
          </p:nvPr>
        </p:nvSpPr>
        <p:spPr/>
        <p:txBody>
          <a:bodyPr vert="horz" wrap="square" lIns="92075" tIns="46038" rIns="92075" bIns="46038" anchor="ctr"/>
          <a:lstStyle/>
          <a:p>
            <a:pPr eaLnBrk="1" hangingPunct="1"/>
            <a:endParaRPr lang="zh-CN" altLang="en-US" b="1" dirty="0">
              <a:solidFill>
                <a:srgbClr val="00808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8247"/>
                                        </p:tgtEl>
                                        <p:attrNameLst>
                                          <p:attrName>style.visibility</p:attrName>
                                        </p:attrNameLst>
                                      </p:cBhvr>
                                      <p:to>
                                        <p:strVal val="visible"/>
                                      </p:to>
                                    </p:set>
                                    <p:animEffect transition="in" filter="dissolve">
                                      <p:cBhvr>
                                        <p:cTn id="7" dur="500"/>
                                        <p:tgtEl>
                                          <p:spTgt spid="138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t>32</a:t>
            </a:fld>
            <a:endParaRPr lang="zh-CN" altLang="en-US" sz="1400" dirty="0"/>
          </a:p>
        </p:txBody>
      </p:sp>
      <p:sp>
        <p:nvSpPr>
          <p:cNvPr id="197637" name="Text Box 5"/>
          <p:cNvSpPr txBox="1"/>
          <p:nvPr/>
        </p:nvSpPr>
        <p:spPr>
          <a:xfrm>
            <a:off x="457200" y="1844675"/>
            <a:ext cx="8382000" cy="4757738"/>
          </a:xfrm>
          <a:prstGeom prst="rect">
            <a:avLst/>
          </a:prstGeom>
          <a:noFill/>
          <a:ln w="9525">
            <a:noFill/>
          </a:ln>
        </p:spPr>
        <p:txBody>
          <a:bodyPr anchor="t">
            <a:spAutoFit/>
          </a:bodyPr>
          <a:lstStyle/>
          <a:p>
            <a:pPr>
              <a:lnSpc>
                <a:spcPct val="150000"/>
              </a:lnSpc>
              <a:spcBef>
                <a:spcPct val="50000"/>
              </a:spcBef>
              <a:buClr>
                <a:srgbClr val="6600FF"/>
              </a:buClr>
              <a:buSzPct val="50000"/>
              <a:buFont typeface="Wingdings" panose="05000000000000000000" pitchFamily="2" charset="2"/>
              <a:buChar char="u"/>
            </a:pPr>
            <a:r>
              <a:rPr lang="en-US" altLang="zh-CN" sz="2800" dirty="0">
                <a:latin typeface="宋体" panose="02010600030101010101" pitchFamily="2" charset="-122"/>
              </a:rPr>
              <a:t> 20</a:t>
            </a:r>
            <a:r>
              <a:rPr lang="zh-CN" altLang="en-US" sz="2800" dirty="0">
                <a:latin typeface="宋体" panose="02010600030101010101" pitchFamily="2" charset="-122"/>
              </a:rPr>
              <a:t>世纪50年代早期，数学家</a:t>
            </a:r>
            <a:r>
              <a:rPr lang="en-US" altLang="zh-CN" sz="2800" dirty="0">
                <a:solidFill>
                  <a:schemeClr val="accent2"/>
                </a:solidFill>
                <a:latin typeface="宋体" panose="02010600030101010101" pitchFamily="2" charset="-122"/>
              </a:rPr>
              <a:t>Grace Hopper</a:t>
            </a:r>
            <a:r>
              <a:rPr lang="zh-CN" altLang="en-US" sz="2800" dirty="0">
                <a:latin typeface="宋体" panose="02010600030101010101" pitchFamily="2" charset="-122"/>
              </a:rPr>
              <a:t>发明了符号语言，即</a:t>
            </a:r>
            <a:r>
              <a:rPr lang="zh-CN" altLang="en-US" sz="2800" dirty="0">
                <a:solidFill>
                  <a:srgbClr val="FF3300"/>
                </a:solidFill>
                <a:latin typeface="宋体" panose="02010600030101010101" pitchFamily="2" charset="-122"/>
              </a:rPr>
              <a:t>用符号或助记符来表示不同的机器语言指令</a:t>
            </a:r>
            <a:r>
              <a:rPr lang="en-US" altLang="zh-CN" sz="2800" dirty="0">
                <a:latin typeface="宋体" panose="02010600030101010101" pitchFamily="2" charset="-122"/>
              </a:rPr>
              <a:t>(</a:t>
            </a:r>
            <a:r>
              <a:rPr lang="zh-CN" altLang="en-US" sz="2800" dirty="0">
                <a:latin typeface="宋体" panose="02010600030101010101" pitchFamily="2" charset="-122"/>
              </a:rPr>
              <a:t>包括操作码和和操作数地址）。</a:t>
            </a:r>
          </a:p>
          <a:p>
            <a:pPr>
              <a:lnSpc>
                <a:spcPct val="150000"/>
              </a:lnSpc>
              <a:spcBef>
                <a:spcPct val="50000"/>
              </a:spcBef>
              <a:buClr>
                <a:srgbClr val="6600FF"/>
              </a:buClr>
              <a:buSzPct val="50000"/>
              <a:buFont typeface="Wingdings" panose="05000000000000000000" pitchFamily="2" charset="2"/>
              <a:buChar char="u"/>
            </a:pPr>
            <a:endParaRPr lang="zh-CN" altLang="en-US" sz="900" dirty="0">
              <a:latin typeface="宋体" panose="02010600030101010101" pitchFamily="2" charset="-122"/>
            </a:endParaRPr>
          </a:p>
          <a:p>
            <a:pPr>
              <a:lnSpc>
                <a:spcPct val="150000"/>
              </a:lnSpc>
              <a:spcBef>
                <a:spcPct val="20000"/>
              </a:spcBef>
              <a:buClr>
                <a:srgbClr val="6600FF"/>
              </a:buClr>
              <a:buSzPct val="50000"/>
              <a:buFont typeface="Wingdings" panose="05000000000000000000" pitchFamily="2" charset="2"/>
              <a:buChar char="u"/>
            </a:pPr>
            <a:r>
              <a:rPr lang="zh-CN" altLang="en-US" sz="2800" dirty="0">
                <a:latin typeface="Times New Roman" panose="02020603050405020304" pitchFamily="18" charset="0"/>
              </a:rPr>
              <a:t>  程序员可用</a:t>
            </a:r>
            <a:r>
              <a:rPr lang="en-US" altLang="zh-CN" sz="2800" dirty="0">
                <a:latin typeface="Times New Roman" panose="02020603050405020304" pitchFamily="18" charset="0"/>
              </a:rPr>
              <a:t>ADD</a:t>
            </a:r>
            <a:r>
              <a:rPr lang="zh-CN" altLang="en-US" sz="2800" dirty="0">
                <a:latin typeface="Times New Roman" panose="02020603050405020304" pitchFamily="18" charset="0"/>
              </a:rPr>
              <a:t>、</a:t>
            </a:r>
            <a:r>
              <a:rPr lang="en-US" altLang="zh-CN" sz="2800" dirty="0">
                <a:latin typeface="Times New Roman" panose="02020603050405020304" pitchFamily="18" charset="0"/>
              </a:rPr>
              <a:t>SUB</a:t>
            </a:r>
            <a:r>
              <a:rPr lang="zh-CN" altLang="en-US" sz="2800" dirty="0">
                <a:latin typeface="Times New Roman" panose="02020603050405020304" pitchFamily="18" charset="0"/>
              </a:rPr>
              <a:t>、</a:t>
            </a:r>
            <a:r>
              <a:rPr lang="en-US" altLang="zh-CN" sz="2800" dirty="0">
                <a:latin typeface="Times New Roman" panose="02020603050405020304" pitchFamily="18" charset="0"/>
              </a:rPr>
              <a:t>MUL</a:t>
            </a:r>
            <a:r>
              <a:rPr lang="zh-CN" altLang="en-US" sz="2800" dirty="0">
                <a:latin typeface="Times New Roman" panose="02020603050405020304" pitchFamily="18" charset="0"/>
              </a:rPr>
              <a:t>、</a:t>
            </a:r>
            <a:r>
              <a:rPr lang="en-US" altLang="zh-CN" sz="2800" dirty="0">
                <a:latin typeface="Times New Roman" panose="02020603050405020304" pitchFamily="18" charset="0"/>
              </a:rPr>
              <a:t>DIV</a:t>
            </a:r>
            <a:r>
              <a:rPr lang="zh-CN" altLang="en-US" sz="2800" dirty="0">
                <a:latin typeface="Times New Roman" panose="02020603050405020304" pitchFamily="18" charset="0"/>
              </a:rPr>
              <a:t>等符号来分别表示加法、减法、乘法、除法的操作码。</a:t>
            </a:r>
          </a:p>
          <a:p>
            <a:pPr>
              <a:lnSpc>
                <a:spcPct val="150000"/>
              </a:lnSpc>
              <a:spcBef>
                <a:spcPct val="20000"/>
              </a:spcBef>
              <a:buClr>
                <a:srgbClr val="6600FF"/>
              </a:buClr>
              <a:buSzPct val="50000"/>
              <a:buFont typeface="Wingdings" panose="05000000000000000000" pitchFamily="2" charset="2"/>
              <a:buChar char="u"/>
            </a:pPr>
            <a:endParaRPr lang="zh-CN" altLang="en-US" sz="800" dirty="0">
              <a:latin typeface="Times New Roman" panose="02020603050405020304" pitchFamily="18" charset="0"/>
            </a:endParaRPr>
          </a:p>
          <a:p>
            <a:pPr>
              <a:lnSpc>
                <a:spcPct val="150000"/>
              </a:lnSpc>
              <a:spcBef>
                <a:spcPct val="50000"/>
              </a:spcBef>
              <a:buClr>
                <a:srgbClr val="6600FF"/>
              </a:buClr>
              <a:buSzPct val="50000"/>
              <a:buFont typeface="Wingdings" panose="05000000000000000000" pitchFamily="2" charset="2"/>
              <a:buChar char="u"/>
            </a:pPr>
            <a:r>
              <a:rPr lang="zh-CN" altLang="en-US" sz="2800" dirty="0">
                <a:latin typeface="Times New Roman" panose="02020603050405020304" pitchFamily="18" charset="0"/>
              </a:rPr>
              <a:t>符号语言又称</a:t>
            </a:r>
            <a:r>
              <a:rPr lang="zh-CN" altLang="en-US" sz="2800" dirty="0">
                <a:solidFill>
                  <a:schemeClr val="accent2"/>
                </a:solidFill>
                <a:latin typeface="Times New Roman" panose="02020603050405020304" pitchFamily="18" charset="0"/>
              </a:rPr>
              <a:t>汇编语言</a:t>
            </a:r>
            <a:r>
              <a:rPr lang="zh-CN" altLang="en-US" sz="2800" dirty="0">
                <a:latin typeface="Times New Roman" panose="02020603050405020304" pitchFamily="18" charset="0"/>
              </a:rPr>
              <a:t>。</a:t>
            </a:r>
            <a:endParaRPr lang="en-US" altLang="zh-CN" sz="2800" dirty="0">
              <a:latin typeface="Times New Roman" panose="02020603050405020304" pitchFamily="18" charset="0"/>
            </a:endParaRPr>
          </a:p>
        </p:txBody>
      </p:sp>
      <p:grpSp>
        <p:nvGrpSpPr>
          <p:cNvPr id="39939" name="Group 6"/>
          <p:cNvGrpSpPr/>
          <p:nvPr/>
        </p:nvGrpSpPr>
        <p:grpSpPr>
          <a:xfrm>
            <a:off x="457200" y="1196975"/>
            <a:ext cx="2286000" cy="544513"/>
            <a:chOff x="2880" y="864"/>
            <a:chExt cx="1056" cy="336"/>
          </a:xfrm>
        </p:grpSpPr>
        <p:sp>
          <p:nvSpPr>
            <p:cNvPr id="39940" name="Rectangle 7"/>
            <p:cNvSpPr/>
            <p:nvPr/>
          </p:nvSpPr>
          <p:spPr>
            <a:xfrm>
              <a:off x="2880" y="864"/>
              <a:ext cx="1056" cy="336"/>
            </a:xfrm>
            <a:prstGeom prst="rect">
              <a:avLst/>
            </a:prstGeom>
            <a:gradFill rotWithShape="0">
              <a:gsLst>
                <a:gs pos="0">
                  <a:srgbClr val="3E040E"/>
                </a:gs>
                <a:gs pos="50000">
                  <a:srgbClr val="CF0E30"/>
                </a:gs>
                <a:gs pos="100000">
                  <a:srgbClr val="3E040E"/>
                </a:gs>
              </a:gsLst>
              <a:lin ang="2700000" scaled="1"/>
              <a:tileRect/>
            </a:gradFill>
            <a:ln w="28575" cap="flat" cmpd="sng">
              <a:solidFill>
                <a:srgbClr val="F68295"/>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9941" name="Text Box 8"/>
            <p:cNvSpPr txBox="1"/>
            <p:nvPr/>
          </p:nvSpPr>
          <p:spPr>
            <a:xfrm>
              <a:off x="2880" y="864"/>
              <a:ext cx="1008" cy="320"/>
            </a:xfrm>
            <a:prstGeom prst="rect">
              <a:avLst/>
            </a:prstGeom>
            <a:noFill/>
            <a:ln w="9525">
              <a:noFill/>
            </a:ln>
          </p:spPr>
          <p:txBody>
            <a:bodyPr anchor="t">
              <a:spAutoFit/>
            </a:bodyPr>
            <a:lstStyle/>
            <a:p>
              <a:pPr algn="ctr" eaLnBrk="0" hangingPunct="0">
                <a:spcBef>
                  <a:spcPct val="50000"/>
                </a:spcBef>
              </a:pPr>
              <a:r>
                <a:rPr lang="zh-CN" altLang="en-US" sz="2800" dirty="0">
                  <a:solidFill>
                    <a:srgbClr val="FFFFFF"/>
                  </a:solidFill>
                  <a:latin typeface="楷体_GB2312" pitchFamily="1" charset="-122"/>
                  <a:ea typeface="楷体_GB2312" pitchFamily="1" charset="-122"/>
                </a:rPr>
                <a:t>2、符号语言</a:t>
              </a:r>
            </a:p>
          </p:txBody>
        </p:sp>
      </p:grpSp>
      <p:sp>
        <p:nvSpPr>
          <p:cNvPr id="39942" name="Rectangle 9"/>
          <p:cNvSpPr>
            <a:spLocks noGrp="1"/>
          </p:cNvSpPr>
          <p:nvPr>
            <p:ph type="title"/>
          </p:nvPr>
        </p:nvSpPr>
        <p:spPr/>
        <p:txBody>
          <a:bodyPr vert="horz" wrap="square" lIns="92075" tIns="46038" rIns="92075" bIns="46038" anchor="ctr"/>
          <a:lstStyle/>
          <a:p>
            <a:pPr eaLnBrk="1" hangingPunct="1"/>
            <a:r>
              <a:rPr lang="en-US" altLang="zh-CN" b="1" dirty="0"/>
              <a:t>1.2     </a:t>
            </a:r>
            <a:r>
              <a:rPr lang="zh-CN" altLang="en-US" b="1" dirty="0"/>
              <a:t>程序设计语言的演化－</a:t>
            </a:r>
            <a:r>
              <a:rPr lang="zh-CN" altLang="en-US" sz="2800" b="1" dirty="0">
                <a:solidFill>
                  <a:schemeClr val="accent2"/>
                </a:solidFill>
              </a:rPr>
              <a:t>符号语言</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7637"/>
                                        </p:tgtEl>
                                        <p:attrNameLst>
                                          <p:attrName>style.visibility</p:attrName>
                                        </p:attrNameLst>
                                      </p:cBhvr>
                                      <p:to>
                                        <p:strVal val="visible"/>
                                      </p:to>
                                    </p:set>
                                    <p:animEffect transition="in" filter="dissolve">
                                      <p:cBhvr>
                                        <p:cTn id="7" dur="500"/>
                                        <p:tgtEl>
                                          <p:spTgt spid="1976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t>33</a:t>
            </a:fld>
            <a:endParaRPr lang="zh-CN" altLang="en-US" sz="1400" dirty="0"/>
          </a:p>
        </p:txBody>
      </p:sp>
      <p:sp>
        <p:nvSpPr>
          <p:cNvPr id="29734" name="Text Box 38"/>
          <p:cNvSpPr txBox="1"/>
          <p:nvPr/>
        </p:nvSpPr>
        <p:spPr>
          <a:xfrm>
            <a:off x="456565" y="1981200"/>
            <a:ext cx="8382635" cy="4399915"/>
          </a:xfrm>
          <a:prstGeom prst="rect">
            <a:avLst/>
          </a:prstGeom>
          <a:noFill/>
          <a:ln w="9525">
            <a:noFill/>
          </a:ln>
        </p:spPr>
        <p:txBody>
          <a:bodyPr wrap="square" anchor="t">
            <a:spAutoFit/>
          </a:bodyPr>
          <a:lstStyle/>
          <a:p>
            <a:pPr>
              <a:spcBef>
                <a:spcPct val="50000"/>
              </a:spcBef>
              <a:buClr>
                <a:srgbClr val="6600FF"/>
              </a:buClr>
              <a:buSzPct val="50000"/>
              <a:buFont typeface="Wingdings" panose="05000000000000000000" pitchFamily="2" charset="2"/>
              <a:buChar char="u"/>
            </a:pPr>
            <a:r>
              <a:rPr lang="zh-CN" altLang="en-US" sz="2800" dirty="0">
                <a:latin typeface="宋体" panose="02010600030101010101" pitchFamily="2" charset="-122"/>
              </a:rPr>
              <a:t> 由于汇编语言的局限性，</a:t>
            </a:r>
            <a:r>
              <a:rPr lang="zh-CN" altLang="en-US" sz="2800" dirty="0">
                <a:latin typeface="Times New Roman" panose="02020603050405020304" pitchFamily="18" charset="0"/>
              </a:rPr>
              <a:t>后来出现了高级语言。</a:t>
            </a:r>
          </a:p>
          <a:p>
            <a:pPr eaLnBrk="0" hangingPunct="0">
              <a:spcBef>
                <a:spcPct val="50000"/>
              </a:spcBef>
            </a:pPr>
            <a:r>
              <a:rPr lang="zh-CN" altLang="en-US" sz="2800" u="sng" dirty="0">
                <a:solidFill>
                  <a:srgbClr val="6600FF"/>
                </a:solidFill>
                <a:latin typeface="宋体" panose="02010600030101010101" pitchFamily="2" charset="-122"/>
              </a:rPr>
              <a:t>高级语言的优势</a:t>
            </a:r>
            <a:endParaRPr lang="zh-CN" altLang="en-US" sz="2800" dirty="0">
              <a:latin typeface="宋体" panose="02010600030101010101" pitchFamily="2" charset="-122"/>
            </a:endParaRPr>
          </a:p>
          <a:p>
            <a:pPr eaLnBrk="0" hangingPunct="0">
              <a:spcBef>
                <a:spcPct val="50000"/>
              </a:spcBef>
              <a:buClr>
                <a:srgbClr val="6600FF"/>
              </a:buClr>
              <a:buSzPct val="50000"/>
              <a:buFont typeface="Wingdings" panose="05000000000000000000" pitchFamily="2" charset="2"/>
              <a:buChar char="u"/>
            </a:pPr>
            <a:r>
              <a:rPr lang="zh-CN" altLang="en-US" sz="2800" dirty="0"/>
              <a:t>  高级语言程序易学、易懂、也易查错。</a:t>
            </a:r>
            <a:endParaRPr lang="zh-CN" altLang="en-US" sz="2800" dirty="0">
              <a:latin typeface="宋体" panose="02010600030101010101" pitchFamily="2" charset="-122"/>
            </a:endParaRPr>
          </a:p>
          <a:p>
            <a:pPr eaLnBrk="0" hangingPunct="0">
              <a:spcBef>
                <a:spcPct val="50000"/>
              </a:spcBef>
              <a:buClr>
                <a:srgbClr val="6600FF"/>
              </a:buClr>
              <a:buSzPct val="50000"/>
              <a:buFont typeface="Wingdings" panose="05000000000000000000" pitchFamily="2" charset="2"/>
              <a:buChar char="u"/>
            </a:pPr>
            <a:r>
              <a:rPr lang="zh-CN" altLang="en-US" sz="2800" dirty="0">
                <a:latin typeface="宋体" panose="02010600030101010101" pitchFamily="2" charset="-122"/>
              </a:rPr>
              <a:t> 使程序员可以完全不用与计算机的硬件打交道、不必了解机器的指令系统。</a:t>
            </a:r>
          </a:p>
          <a:p>
            <a:pPr eaLnBrk="0" hangingPunct="0">
              <a:spcBef>
                <a:spcPct val="50000"/>
              </a:spcBef>
              <a:buClr>
                <a:srgbClr val="6600FF"/>
              </a:buClr>
              <a:buSzPct val="50000"/>
              <a:buFont typeface="Wingdings" panose="05000000000000000000" pitchFamily="2" charset="2"/>
              <a:buChar char="u"/>
            </a:pPr>
            <a:r>
              <a:rPr lang="zh-CN" altLang="en-US" sz="2800" dirty="0">
                <a:latin typeface="宋体" panose="02010600030101010101" pitchFamily="2" charset="-122"/>
              </a:rPr>
              <a:t> 高级语言与具体机器无关，在一种机器上运行的高级语言程序有可能可以不经改动地移植到另一种机器上运行，大大提高了程序的通用性。</a:t>
            </a:r>
          </a:p>
        </p:txBody>
      </p:sp>
      <p:grpSp>
        <p:nvGrpSpPr>
          <p:cNvPr id="44035" name="Group 43"/>
          <p:cNvGrpSpPr/>
          <p:nvPr/>
        </p:nvGrpSpPr>
        <p:grpSpPr>
          <a:xfrm>
            <a:off x="457200" y="1371600"/>
            <a:ext cx="2286000" cy="544513"/>
            <a:chOff x="2880" y="864"/>
            <a:chExt cx="1056" cy="336"/>
          </a:xfrm>
        </p:grpSpPr>
        <p:sp>
          <p:nvSpPr>
            <p:cNvPr id="44036" name="Rectangle 44"/>
            <p:cNvSpPr/>
            <p:nvPr/>
          </p:nvSpPr>
          <p:spPr>
            <a:xfrm>
              <a:off x="2880" y="864"/>
              <a:ext cx="1056" cy="336"/>
            </a:xfrm>
            <a:prstGeom prst="rect">
              <a:avLst/>
            </a:prstGeom>
            <a:gradFill rotWithShape="0">
              <a:gsLst>
                <a:gs pos="0">
                  <a:srgbClr val="3E040E"/>
                </a:gs>
                <a:gs pos="50000">
                  <a:srgbClr val="CF0E30"/>
                </a:gs>
                <a:gs pos="100000">
                  <a:srgbClr val="3E040E"/>
                </a:gs>
              </a:gsLst>
              <a:lin ang="2700000" scaled="1"/>
              <a:tileRect/>
            </a:gradFill>
            <a:ln w="28575" cap="flat" cmpd="sng">
              <a:solidFill>
                <a:srgbClr val="F68295"/>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4037" name="Text Box 45"/>
            <p:cNvSpPr txBox="1"/>
            <p:nvPr/>
          </p:nvSpPr>
          <p:spPr>
            <a:xfrm>
              <a:off x="2880" y="864"/>
              <a:ext cx="1008" cy="320"/>
            </a:xfrm>
            <a:prstGeom prst="rect">
              <a:avLst/>
            </a:prstGeom>
            <a:noFill/>
            <a:ln w="9525">
              <a:noFill/>
            </a:ln>
          </p:spPr>
          <p:txBody>
            <a:bodyPr anchor="t">
              <a:spAutoFit/>
            </a:bodyPr>
            <a:lstStyle/>
            <a:p>
              <a:pPr algn="ctr" eaLnBrk="0" hangingPunct="0">
                <a:spcBef>
                  <a:spcPct val="50000"/>
                </a:spcBef>
              </a:pPr>
              <a:r>
                <a:rPr lang="zh-CN" altLang="en-US" sz="2800" dirty="0">
                  <a:solidFill>
                    <a:srgbClr val="FFFFFF"/>
                  </a:solidFill>
                  <a:latin typeface="楷体_GB2312" pitchFamily="1" charset="-122"/>
                  <a:ea typeface="楷体_GB2312" pitchFamily="1" charset="-122"/>
                </a:rPr>
                <a:t>3、高级语言</a:t>
              </a:r>
            </a:p>
          </p:txBody>
        </p:sp>
      </p:grpSp>
      <p:sp>
        <p:nvSpPr>
          <p:cNvPr id="44038" name="Rectangle 47"/>
          <p:cNvSpPr>
            <a:spLocks noGrp="1"/>
          </p:cNvSpPr>
          <p:nvPr>
            <p:ph type="title"/>
          </p:nvPr>
        </p:nvSpPr>
        <p:spPr/>
        <p:txBody>
          <a:bodyPr vert="horz" wrap="square" lIns="92075" tIns="46038" rIns="92075" bIns="46038" anchor="ctr"/>
          <a:lstStyle/>
          <a:p>
            <a:pPr eaLnBrk="1" hangingPunct="1"/>
            <a:r>
              <a:rPr lang="en-US" altLang="zh-CN" b="1" dirty="0"/>
              <a:t>1.2     </a:t>
            </a:r>
            <a:r>
              <a:rPr lang="zh-CN" altLang="en-US" b="1" dirty="0"/>
              <a:t>程序设计语言的演化－</a:t>
            </a:r>
            <a:r>
              <a:rPr lang="zh-CN" altLang="en-US" sz="2800" b="1" dirty="0">
                <a:solidFill>
                  <a:schemeClr val="accent2"/>
                </a:solidFill>
              </a:rPr>
              <a:t>高级语言</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9734"/>
                                        </p:tgtEl>
                                        <p:attrNameLst>
                                          <p:attrName>style.visibility</p:attrName>
                                        </p:attrNameLst>
                                      </p:cBhvr>
                                      <p:to>
                                        <p:strVal val="visible"/>
                                      </p:to>
                                    </p:set>
                                    <p:animEffect transition="in" filter="dissolve">
                                      <p:cBhvr>
                                        <p:cTn id="7" dur="500"/>
                                        <p:tgtEl>
                                          <p:spTgt spid="297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3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t>34</a:t>
            </a:fld>
            <a:endParaRPr lang="zh-CN" altLang="en-US" sz="1400" dirty="0"/>
          </a:p>
        </p:txBody>
      </p:sp>
      <p:sp>
        <p:nvSpPr>
          <p:cNvPr id="260100" name="Text Box 4"/>
          <p:cNvSpPr txBox="1"/>
          <p:nvPr/>
        </p:nvSpPr>
        <p:spPr>
          <a:xfrm>
            <a:off x="539750" y="2060575"/>
            <a:ext cx="8001000" cy="3053144"/>
          </a:xfrm>
          <a:prstGeom prst="rect">
            <a:avLst/>
          </a:prstGeom>
          <a:noFill/>
          <a:ln w="9525">
            <a:noFill/>
          </a:ln>
        </p:spPr>
        <p:txBody>
          <a:bodyPr anchor="t">
            <a:spAutoFit/>
          </a:bodyPr>
          <a:lstStyle/>
          <a:p>
            <a:pPr>
              <a:spcBef>
                <a:spcPct val="20000"/>
              </a:spcBef>
              <a:buClr>
                <a:schemeClr val="accent2"/>
              </a:buClr>
              <a:buSzPct val="75000"/>
              <a:buFont typeface="Monotype Sorts" pitchFamily="2" charset="2"/>
            </a:pPr>
            <a:r>
              <a:rPr lang="zh-CN" altLang="en-US" sz="2600" dirty="0">
                <a:latin typeface="Times New Roman" panose="02020603050405020304" pitchFamily="18" charset="0"/>
              </a:rPr>
              <a:t>第四代语言</a:t>
            </a:r>
            <a:r>
              <a:rPr lang="en-US" altLang="zh-CN" sz="2600" dirty="0">
                <a:latin typeface="Times New Roman" panose="02020603050405020304" pitchFamily="18" charset="0"/>
              </a:rPr>
              <a:t>(Fourth-Generation Language, </a:t>
            </a:r>
            <a:r>
              <a:rPr lang="zh-CN" altLang="en-US" sz="2600" dirty="0">
                <a:latin typeface="Times New Roman" panose="02020603050405020304" pitchFamily="18" charset="0"/>
              </a:rPr>
              <a:t>以下简称</a:t>
            </a:r>
            <a:r>
              <a:rPr lang="en-US" altLang="zh-CN" sz="2600" dirty="0">
                <a:latin typeface="Times New Roman" panose="02020603050405020304" pitchFamily="18" charset="0"/>
              </a:rPr>
              <a:t>4GL)</a:t>
            </a:r>
            <a:r>
              <a:rPr lang="zh-CN" altLang="en-US" sz="2600" dirty="0">
                <a:latin typeface="Times New Roman" panose="02020603050405020304" pitchFamily="18" charset="0"/>
              </a:rPr>
              <a:t>是比</a:t>
            </a:r>
            <a:r>
              <a:rPr lang="en-US" altLang="zh-CN" sz="2600" dirty="0" err="1"/>
              <a:t>3GL</a:t>
            </a:r>
            <a:r>
              <a:rPr lang="zh-CN" altLang="en-US" sz="2600" dirty="0">
                <a:latin typeface="Times New Roman" panose="02020603050405020304" pitchFamily="18" charset="0"/>
              </a:rPr>
              <a:t>更加</a:t>
            </a:r>
            <a:r>
              <a:rPr lang="zh-CN" altLang="en-US" sz="2600" dirty="0"/>
              <a:t>靠近自然语言的编程</a:t>
            </a:r>
            <a:r>
              <a:rPr lang="zh-CN" altLang="en-US" sz="2600" dirty="0">
                <a:latin typeface="Times New Roman" panose="02020603050405020304" pitchFamily="18" charset="0"/>
              </a:rPr>
              <a:t>语言。</a:t>
            </a:r>
            <a:endParaRPr lang="en-US" altLang="zh-CN" sz="2600" dirty="0">
              <a:latin typeface="Times New Roman" panose="02020603050405020304" pitchFamily="18" charset="0"/>
            </a:endParaRPr>
          </a:p>
          <a:p>
            <a:pPr>
              <a:spcBef>
                <a:spcPct val="20000"/>
              </a:spcBef>
              <a:buClr>
                <a:schemeClr val="accent2"/>
              </a:buClr>
              <a:buSzPct val="75000"/>
              <a:buFont typeface="Monotype Sorts" pitchFamily="2" charset="2"/>
            </a:pPr>
            <a:r>
              <a:rPr lang="zh-CN" altLang="en-US" sz="2600" dirty="0"/>
              <a:t>旨在提供更高水平的内部计算机硬件细节的抽象，使该语言更加对程序员友好、强大和通用。</a:t>
            </a:r>
            <a:endParaRPr lang="en-US" altLang="zh-CN" sz="2600" dirty="0"/>
          </a:p>
          <a:p>
            <a:pPr>
              <a:spcBef>
                <a:spcPct val="20000"/>
              </a:spcBef>
              <a:buClr>
                <a:schemeClr val="accent2"/>
              </a:buClr>
              <a:buSzPct val="75000"/>
              <a:buFont typeface="Monotype Sorts" pitchFamily="2" charset="2"/>
            </a:pPr>
            <a:r>
              <a:rPr lang="zh-CN" altLang="en-US" sz="2600" dirty="0"/>
              <a:t>它可以通过同时更多地操作大量的信息集合，而不是仅仅关注比特和字节。可能支持数据库管理、报告生成、数学优化、</a:t>
            </a:r>
            <a:r>
              <a:rPr lang="en-US" altLang="zh-CN" sz="2600" dirty="0" err="1"/>
              <a:t>gui</a:t>
            </a:r>
            <a:r>
              <a:rPr lang="zh-CN" altLang="en-US" sz="2600" dirty="0"/>
              <a:t>开发或</a:t>
            </a:r>
            <a:r>
              <a:rPr lang="en-US" altLang="zh-CN" sz="2600" dirty="0"/>
              <a:t>web</a:t>
            </a:r>
            <a:r>
              <a:rPr lang="zh-CN" altLang="en-US" sz="2600"/>
              <a:t>开发。</a:t>
            </a:r>
            <a:endParaRPr lang="zh-CN" altLang="en-US" sz="2600" dirty="0">
              <a:latin typeface="Times New Roman" panose="02020603050405020304" pitchFamily="18" charset="0"/>
            </a:endParaRPr>
          </a:p>
        </p:txBody>
      </p:sp>
      <p:grpSp>
        <p:nvGrpSpPr>
          <p:cNvPr id="47107" name="Group 5"/>
          <p:cNvGrpSpPr/>
          <p:nvPr/>
        </p:nvGrpSpPr>
        <p:grpSpPr>
          <a:xfrm>
            <a:off x="457200" y="1371600"/>
            <a:ext cx="2674938" cy="533400"/>
            <a:chOff x="2880" y="864"/>
            <a:chExt cx="1056" cy="336"/>
          </a:xfrm>
        </p:grpSpPr>
        <p:sp>
          <p:nvSpPr>
            <p:cNvPr id="47108" name="Rectangle 6"/>
            <p:cNvSpPr/>
            <p:nvPr/>
          </p:nvSpPr>
          <p:spPr>
            <a:xfrm>
              <a:off x="2880" y="864"/>
              <a:ext cx="1056" cy="336"/>
            </a:xfrm>
            <a:prstGeom prst="rect">
              <a:avLst/>
            </a:prstGeom>
            <a:gradFill rotWithShape="0">
              <a:gsLst>
                <a:gs pos="0">
                  <a:srgbClr val="3E040E"/>
                </a:gs>
                <a:gs pos="50000">
                  <a:srgbClr val="CF0E30"/>
                </a:gs>
                <a:gs pos="100000">
                  <a:srgbClr val="3E040E"/>
                </a:gs>
              </a:gsLst>
              <a:lin ang="2700000" scaled="1"/>
              <a:tileRect/>
            </a:gradFill>
            <a:ln w="28575" cap="flat" cmpd="sng">
              <a:solidFill>
                <a:srgbClr val="F68295"/>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7109" name="Text Box 7"/>
            <p:cNvSpPr txBox="1"/>
            <p:nvPr/>
          </p:nvSpPr>
          <p:spPr>
            <a:xfrm>
              <a:off x="2880" y="864"/>
              <a:ext cx="1008" cy="327"/>
            </a:xfrm>
            <a:prstGeom prst="rect">
              <a:avLst/>
            </a:prstGeom>
            <a:noFill/>
            <a:ln w="9525">
              <a:noFill/>
            </a:ln>
          </p:spPr>
          <p:txBody>
            <a:bodyPr anchor="t">
              <a:spAutoFit/>
            </a:bodyPr>
            <a:lstStyle/>
            <a:p>
              <a:pPr algn="ctr" eaLnBrk="0" hangingPunct="0">
                <a:spcBef>
                  <a:spcPct val="50000"/>
                </a:spcBef>
              </a:pPr>
              <a:r>
                <a:rPr lang="zh-CN" altLang="en-US" sz="2800" dirty="0">
                  <a:solidFill>
                    <a:srgbClr val="FFFFFF"/>
                  </a:solidFill>
                  <a:latin typeface="楷体_GB2312" pitchFamily="1" charset="-122"/>
                  <a:ea typeface="楷体_GB2312" pitchFamily="1" charset="-122"/>
                </a:rPr>
                <a:t>4、第四代语言</a:t>
              </a:r>
              <a:endParaRPr lang="en-US" altLang="zh-CN" sz="2800" dirty="0">
                <a:solidFill>
                  <a:srgbClr val="FFFFFF"/>
                </a:solidFill>
                <a:latin typeface="楷体_GB2312" pitchFamily="1" charset="-122"/>
                <a:ea typeface="楷体_GB2312" pitchFamily="1" charset="-122"/>
              </a:endParaRPr>
            </a:p>
          </p:txBody>
        </p:sp>
      </p:grpSp>
      <p:sp>
        <p:nvSpPr>
          <p:cNvPr id="47110" name="Rectangle 8"/>
          <p:cNvSpPr>
            <a:spLocks noGrp="1"/>
          </p:cNvSpPr>
          <p:nvPr>
            <p:ph type="title"/>
          </p:nvPr>
        </p:nvSpPr>
        <p:spPr/>
        <p:txBody>
          <a:bodyPr vert="horz" wrap="square" lIns="92075" tIns="46038" rIns="92075" bIns="46038" anchor="ctr"/>
          <a:lstStyle/>
          <a:p>
            <a:pPr eaLnBrk="1" hangingPunct="1"/>
            <a:r>
              <a:rPr lang="en-US" altLang="zh-CN" b="1" dirty="0"/>
              <a:t>1.2     </a:t>
            </a:r>
            <a:r>
              <a:rPr lang="zh-CN" altLang="en-US" b="1" dirty="0"/>
              <a:t>程序设计语言的演化</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0100"/>
                                        </p:tgtEl>
                                        <p:attrNameLst>
                                          <p:attrName>style.visibility</p:attrName>
                                        </p:attrNameLst>
                                      </p:cBhvr>
                                      <p:to>
                                        <p:strVal val="visible"/>
                                      </p:to>
                                    </p:set>
                                    <p:animEffect transition="in" filter="dissolve">
                                      <p:cBhvr>
                                        <p:cTn id="7" dur="500"/>
                                        <p:tgtEl>
                                          <p:spTgt spid="260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10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t>35</a:t>
            </a:fld>
            <a:endParaRPr lang="zh-CN" altLang="en-US" sz="1400" dirty="0"/>
          </a:p>
        </p:txBody>
      </p:sp>
      <p:sp>
        <p:nvSpPr>
          <p:cNvPr id="155654" name="Text Box 6"/>
          <p:cNvSpPr txBox="1"/>
          <p:nvPr/>
        </p:nvSpPr>
        <p:spPr>
          <a:xfrm>
            <a:off x="571500" y="2205038"/>
            <a:ext cx="8001000" cy="2398712"/>
          </a:xfrm>
          <a:prstGeom prst="rect">
            <a:avLst/>
          </a:prstGeom>
          <a:noFill/>
          <a:ln w="9525">
            <a:noFill/>
          </a:ln>
        </p:spPr>
        <p:txBody>
          <a:bodyPr anchor="t">
            <a:spAutoFit/>
          </a:bodyPr>
          <a:lstStyle/>
          <a:p>
            <a:pPr>
              <a:spcBef>
                <a:spcPct val="20000"/>
              </a:spcBef>
              <a:buClr>
                <a:schemeClr val="accent2"/>
              </a:buClr>
              <a:buSzPct val="75000"/>
              <a:buFont typeface="Monotype Sorts" pitchFamily="2" charset="2"/>
            </a:pPr>
            <a:r>
              <a:rPr lang="zh-CN" altLang="en-US" sz="2800" dirty="0">
                <a:latin typeface="宋体" panose="02010600030101010101" pitchFamily="2" charset="-122"/>
              </a:rPr>
              <a:t>理想情况下，计算机能够理解自然语言（如英语、汉语等）并立即执行请求。</a:t>
            </a:r>
          </a:p>
          <a:p>
            <a:pPr>
              <a:spcBef>
                <a:spcPct val="20000"/>
              </a:spcBef>
              <a:buClr>
                <a:schemeClr val="accent2"/>
              </a:buClr>
              <a:buSzPct val="75000"/>
              <a:buFont typeface="Monotype Sorts" pitchFamily="2" charset="2"/>
            </a:pPr>
            <a:r>
              <a:rPr lang="zh-CN" altLang="en-US" sz="2800" dirty="0">
                <a:latin typeface="宋体" panose="02010600030101010101" pitchFamily="2" charset="-122"/>
              </a:rPr>
              <a:t>大量关于自然语言的工作正在实验室中进行。</a:t>
            </a:r>
          </a:p>
          <a:p>
            <a:pPr>
              <a:spcBef>
                <a:spcPct val="20000"/>
              </a:spcBef>
              <a:buClr>
                <a:schemeClr val="accent2"/>
              </a:buClr>
              <a:buSzPct val="75000"/>
              <a:buFont typeface="Monotype Sorts" pitchFamily="2" charset="2"/>
            </a:pPr>
            <a:r>
              <a:rPr lang="zh-CN" altLang="en-US" sz="2800" dirty="0">
                <a:latin typeface="宋体" panose="02010600030101010101" pitchFamily="2" charset="-122"/>
              </a:rPr>
              <a:t>但迄今为止，自然语言的使用仍然是相当有限的</a:t>
            </a:r>
            <a:r>
              <a:rPr lang="zh-CN" altLang="en-US" sz="2800" dirty="0">
                <a:latin typeface="Times New Roman" panose="02020603050405020304" pitchFamily="18" charset="0"/>
              </a:rPr>
              <a:t> </a:t>
            </a:r>
            <a:r>
              <a:rPr lang="zh-CN" altLang="en-US" sz="2800" dirty="0">
                <a:solidFill>
                  <a:srgbClr val="000000"/>
                </a:solidFill>
                <a:latin typeface="宋体" panose="02010600030101010101" pitchFamily="2" charset="-122"/>
              </a:rPr>
              <a:t>。</a:t>
            </a:r>
            <a:r>
              <a:rPr lang="zh-CN" altLang="en-US" sz="2800" dirty="0">
                <a:latin typeface="Times New Roman" panose="02020603050405020304" pitchFamily="18" charset="0"/>
              </a:rPr>
              <a:t> </a:t>
            </a:r>
          </a:p>
        </p:txBody>
      </p:sp>
      <p:grpSp>
        <p:nvGrpSpPr>
          <p:cNvPr id="50179" name="Group 7"/>
          <p:cNvGrpSpPr/>
          <p:nvPr/>
        </p:nvGrpSpPr>
        <p:grpSpPr>
          <a:xfrm>
            <a:off x="457200" y="1371600"/>
            <a:ext cx="2286000" cy="533400"/>
            <a:chOff x="2880" y="864"/>
            <a:chExt cx="1056" cy="336"/>
          </a:xfrm>
        </p:grpSpPr>
        <p:sp>
          <p:nvSpPr>
            <p:cNvPr id="50180" name="Rectangle 8"/>
            <p:cNvSpPr/>
            <p:nvPr/>
          </p:nvSpPr>
          <p:spPr>
            <a:xfrm>
              <a:off x="2880" y="864"/>
              <a:ext cx="1056" cy="336"/>
            </a:xfrm>
            <a:prstGeom prst="rect">
              <a:avLst/>
            </a:prstGeom>
            <a:gradFill rotWithShape="0">
              <a:gsLst>
                <a:gs pos="0">
                  <a:srgbClr val="3E040E"/>
                </a:gs>
                <a:gs pos="50000">
                  <a:srgbClr val="CF0E30"/>
                </a:gs>
                <a:gs pos="100000">
                  <a:srgbClr val="3E040E"/>
                </a:gs>
              </a:gsLst>
              <a:lin ang="2700000" scaled="1"/>
              <a:tileRect/>
            </a:gradFill>
            <a:ln w="28575" cap="flat" cmpd="sng">
              <a:solidFill>
                <a:srgbClr val="F68295"/>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50181" name="Text Box 9"/>
            <p:cNvSpPr txBox="1"/>
            <p:nvPr/>
          </p:nvSpPr>
          <p:spPr>
            <a:xfrm>
              <a:off x="2880" y="864"/>
              <a:ext cx="1008" cy="327"/>
            </a:xfrm>
            <a:prstGeom prst="rect">
              <a:avLst/>
            </a:prstGeom>
            <a:noFill/>
            <a:ln w="9525">
              <a:noFill/>
            </a:ln>
          </p:spPr>
          <p:txBody>
            <a:bodyPr anchor="t">
              <a:spAutoFit/>
            </a:bodyPr>
            <a:lstStyle/>
            <a:p>
              <a:pPr algn="ctr" eaLnBrk="0" hangingPunct="0">
                <a:spcBef>
                  <a:spcPct val="50000"/>
                </a:spcBef>
              </a:pPr>
              <a:r>
                <a:rPr lang="en-US" altLang="zh-CN" sz="2800" dirty="0">
                  <a:solidFill>
                    <a:srgbClr val="FFFFFF"/>
                  </a:solidFill>
                  <a:latin typeface="楷体_GB2312" pitchFamily="1" charset="-122"/>
                  <a:ea typeface="楷体_GB2312" pitchFamily="1" charset="-122"/>
                </a:rPr>
                <a:t>5</a:t>
              </a:r>
              <a:r>
                <a:rPr lang="zh-CN" altLang="en-US" sz="2800" dirty="0">
                  <a:solidFill>
                    <a:srgbClr val="FFFFFF"/>
                  </a:solidFill>
                  <a:latin typeface="楷体_GB2312" pitchFamily="1" charset="-122"/>
                  <a:ea typeface="楷体_GB2312" pitchFamily="1" charset="-122"/>
                </a:rPr>
                <a:t>、自然语言</a:t>
              </a:r>
            </a:p>
          </p:txBody>
        </p:sp>
      </p:grpSp>
      <p:sp>
        <p:nvSpPr>
          <p:cNvPr id="50182" name="Rectangle 21"/>
          <p:cNvSpPr>
            <a:spLocks noGrp="1"/>
          </p:cNvSpPr>
          <p:nvPr>
            <p:ph type="title"/>
          </p:nvPr>
        </p:nvSpPr>
        <p:spPr/>
        <p:txBody>
          <a:bodyPr vert="horz" wrap="square" lIns="92075" tIns="46038" rIns="92075" bIns="46038" anchor="ctr"/>
          <a:lstStyle/>
          <a:p>
            <a:pPr eaLnBrk="1" hangingPunct="1"/>
            <a:r>
              <a:rPr lang="en-US" altLang="zh-CN" b="1" dirty="0"/>
              <a:t>1.2     </a:t>
            </a:r>
            <a:r>
              <a:rPr lang="zh-CN" altLang="en-US" b="1" dirty="0"/>
              <a:t>程序设计语言的演化</a:t>
            </a:r>
            <a:endParaRPr lang="zh-CN" altLang="en-US" b="1" dirty="0">
              <a:solidFill>
                <a:srgbClr val="00808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5654"/>
                                        </p:tgtEl>
                                        <p:attrNameLst>
                                          <p:attrName>style.visibility</p:attrName>
                                        </p:attrNameLst>
                                      </p:cBhvr>
                                      <p:to>
                                        <p:strVal val="visible"/>
                                      </p:to>
                                    </p:set>
                                    <p:animEffect transition="in" filter="dissolve">
                                      <p:cBhvr>
                                        <p:cTn id="7" dur="500"/>
                                        <p:tgtEl>
                                          <p:spTgt spid="1556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solidFill>
                  <a:srgbClr val="000000"/>
                </a:solidFill>
                <a:latin typeface="Times New Roman" panose="02020603050405020304" pitchFamily="18" charset="0"/>
                <a:ea typeface="宋体" panose="02010600030101010101" pitchFamily="2" charset="-122"/>
              </a:rPr>
              <a:t>36</a:t>
            </a:fld>
            <a:endParaRPr lang="zh-CN" altLang="en-US" sz="1400" dirty="0">
              <a:solidFill>
                <a:srgbClr val="000000"/>
              </a:solidFill>
              <a:latin typeface="Times New Roman" panose="02020603050405020304" pitchFamily="18" charset="0"/>
              <a:ea typeface="宋体" panose="02010600030101010101" pitchFamily="2" charset="-122"/>
            </a:endParaRPr>
          </a:p>
        </p:txBody>
      </p:sp>
      <p:sp>
        <p:nvSpPr>
          <p:cNvPr id="70658" name="Rectangle 4"/>
          <p:cNvSpPr>
            <a:spLocks noGrp="1"/>
          </p:cNvSpPr>
          <p:nvPr>
            <p:ph type="title"/>
          </p:nvPr>
        </p:nvSpPr>
        <p:spPr/>
        <p:txBody>
          <a:bodyPr vert="horz" wrap="square" lIns="92075" tIns="46038" rIns="92075" bIns="46038" anchor="ctr"/>
          <a:lstStyle/>
          <a:p>
            <a:pPr eaLnBrk="1" hangingPunct="1"/>
            <a:r>
              <a:rPr lang="en-US" altLang="zh-CN" b="1" dirty="0"/>
              <a:t>1.4 </a:t>
            </a:r>
            <a:r>
              <a:rPr lang="zh-CN" altLang="en-US" b="1" dirty="0"/>
              <a:t>程序设计语言的分类</a:t>
            </a:r>
            <a:endParaRPr lang="zh-CN" altLang="en-US" b="1" dirty="0">
              <a:solidFill>
                <a:srgbClr val="008080"/>
              </a:solidFill>
            </a:endParaRPr>
          </a:p>
        </p:txBody>
      </p:sp>
      <p:grpSp>
        <p:nvGrpSpPr>
          <p:cNvPr id="2" name="Group 16"/>
          <p:cNvGrpSpPr/>
          <p:nvPr/>
        </p:nvGrpSpPr>
        <p:grpSpPr>
          <a:xfrm>
            <a:off x="1979613" y="2420938"/>
            <a:ext cx="2819400" cy="838200"/>
            <a:chOff x="1443" y="1184"/>
            <a:chExt cx="1776" cy="528"/>
          </a:xfrm>
        </p:grpSpPr>
        <p:sp>
          <p:nvSpPr>
            <p:cNvPr id="70660" name="Oval 12"/>
            <p:cNvSpPr/>
            <p:nvPr/>
          </p:nvSpPr>
          <p:spPr>
            <a:xfrm rot="-154421">
              <a:off x="1443" y="1184"/>
              <a:ext cx="1776" cy="528"/>
            </a:xfrm>
            <a:prstGeom prst="ellipse">
              <a:avLst/>
            </a:prstGeom>
            <a:gradFill rotWithShape="0">
              <a:gsLst>
                <a:gs pos="0">
                  <a:srgbClr val="98CFEE"/>
                </a:gs>
                <a:gs pos="50000">
                  <a:srgbClr val="DAE5A5"/>
                </a:gs>
                <a:gs pos="100000">
                  <a:srgbClr val="98CFEE"/>
                </a:gs>
              </a:gsLst>
              <a:lin ang="2700000" scaled="1"/>
              <a:tileRect/>
            </a:gradFill>
            <a:ln w="9525"/>
            <a:scene3d>
              <a:camera prst="legacyObliqueTopRight">
                <a:rot lat="19800000" lon="20700000" rev="0"/>
              </a:camera>
              <a:lightRig rig="legacyFlat3" dir="b"/>
            </a:scene3d>
            <a:sp3d extrusionH="227000" prstMaterial="legacyMatte">
              <a:bevelT w="13500" h="13500" prst="angle"/>
              <a:bevelB w="13500" h="13500" prst="angle"/>
              <a:extrusionClr>
                <a:srgbClr val="DAE5A5"/>
              </a:extrusionClr>
            </a:sp3d>
          </p:spPr>
          <p:txBody>
            <a:bodyPr wrap="none" anchor="ctr">
              <a:flatTx/>
            </a:bodyPr>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70661" name="Text Box 15"/>
            <p:cNvSpPr txBox="1"/>
            <p:nvPr/>
          </p:nvSpPr>
          <p:spPr>
            <a:xfrm>
              <a:off x="1728" y="1296"/>
              <a:ext cx="1152" cy="288"/>
            </a:xfrm>
            <a:prstGeom prst="rect">
              <a:avLst/>
            </a:prstGeom>
            <a:noFill/>
            <a:ln w="9525">
              <a:noFill/>
            </a:ln>
          </p:spPr>
          <p:txBody>
            <a:bodyPr anchor="t">
              <a:spAutoFit/>
            </a:bodyPr>
            <a:lstStyle/>
            <a:p>
              <a:pPr algn="ctr" eaLnBrk="0" hangingPunct="0">
                <a:spcBef>
                  <a:spcPct val="50000"/>
                </a:spcBef>
              </a:pPr>
              <a:r>
                <a:rPr lang="zh-CN" altLang="en-US" sz="2400" dirty="0">
                  <a:solidFill>
                    <a:srgbClr val="000000"/>
                  </a:solidFill>
                  <a:latin typeface="Times New Roman" panose="02020603050405020304" pitchFamily="18" charset="0"/>
                  <a:ea typeface="宋体" panose="02010600030101010101" pitchFamily="2" charset="-122"/>
                </a:rPr>
                <a:t>过程化语言</a:t>
              </a:r>
            </a:p>
          </p:txBody>
        </p:sp>
      </p:grpSp>
      <p:grpSp>
        <p:nvGrpSpPr>
          <p:cNvPr id="3" name="Group 18"/>
          <p:cNvGrpSpPr/>
          <p:nvPr/>
        </p:nvGrpSpPr>
        <p:grpSpPr>
          <a:xfrm>
            <a:off x="379413" y="3563938"/>
            <a:ext cx="2819400" cy="838200"/>
            <a:chOff x="1440" y="2016"/>
            <a:chExt cx="1776" cy="528"/>
          </a:xfrm>
        </p:grpSpPr>
        <p:sp>
          <p:nvSpPr>
            <p:cNvPr id="70663" name="Oval 13"/>
            <p:cNvSpPr/>
            <p:nvPr/>
          </p:nvSpPr>
          <p:spPr>
            <a:xfrm>
              <a:off x="1440" y="2016"/>
              <a:ext cx="1776" cy="528"/>
            </a:xfrm>
            <a:prstGeom prst="ellipse">
              <a:avLst/>
            </a:prstGeom>
            <a:gradFill rotWithShape="0">
              <a:gsLst>
                <a:gs pos="0">
                  <a:srgbClr val="CBCBCB"/>
                </a:gs>
                <a:gs pos="50000">
                  <a:srgbClr val="EAEAEA"/>
                </a:gs>
                <a:gs pos="100000">
                  <a:srgbClr val="CBCBCB"/>
                </a:gs>
              </a:gsLst>
              <a:lin ang="2700000" scaled="1"/>
              <a:tileRect/>
            </a:gradFill>
            <a:ln w="9525">
              <a:noFill/>
            </a:ln>
            <a:effectLst>
              <a:outerShdw dist="52363" dir="4557825" algn="ctr" rotWithShape="0">
                <a:schemeClr val="bg2"/>
              </a:outerShdw>
            </a:effectLst>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70664" name="Text Box 17"/>
            <p:cNvSpPr txBox="1"/>
            <p:nvPr/>
          </p:nvSpPr>
          <p:spPr>
            <a:xfrm>
              <a:off x="1536" y="2112"/>
              <a:ext cx="1488" cy="288"/>
            </a:xfrm>
            <a:prstGeom prst="rect">
              <a:avLst/>
            </a:prstGeom>
            <a:noFill/>
            <a:ln w="9525">
              <a:noFill/>
            </a:ln>
          </p:spPr>
          <p:txBody>
            <a:bodyPr anchor="t">
              <a:spAutoFit/>
            </a:bodyPr>
            <a:lstStyle/>
            <a:p>
              <a:pPr algn="ctr" eaLnBrk="0" hangingPunct="0">
                <a:spcBef>
                  <a:spcPct val="50000"/>
                </a:spcBef>
              </a:pPr>
              <a:r>
                <a:rPr lang="zh-CN" altLang="en-US" sz="2400" dirty="0">
                  <a:solidFill>
                    <a:srgbClr val="000000"/>
                  </a:solidFill>
                  <a:latin typeface="Times New Roman" panose="02020603050405020304" pitchFamily="18" charset="0"/>
                  <a:ea typeface="宋体" panose="02010600030101010101" pitchFamily="2" charset="-122"/>
                </a:rPr>
                <a:t>面向对象语言</a:t>
              </a:r>
            </a:p>
          </p:txBody>
        </p:sp>
      </p:grpSp>
      <p:grpSp>
        <p:nvGrpSpPr>
          <p:cNvPr id="4" name="Group 20"/>
          <p:cNvGrpSpPr/>
          <p:nvPr/>
        </p:nvGrpSpPr>
        <p:grpSpPr>
          <a:xfrm>
            <a:off x="4716463" y="2924175"/>
            <a:ext cx="2819400" cy="990600"/>
            <a:chOff x="1440" y="2736"/>
            <a:chExt cx="1776" cy="624"/>
          </a:xfrm>
        </p:grpSpPr>
        <p:pic>
          <p:nvPicPr>
            <p:cNvPr id="70666" name="Picture 14" descr="11"/>
            <p:cNvPicPr>
              <a:picLocks noChangeAspect="1"/>
            </p:cNvPicPr>
            <p:nvPr/>
          </p:nvPicPr>
          <p:blipFill>
            <a:blip r:embed="rId2">
              <a:clrChange>
                <a:clrFrom>
                  <a:srgbClr val="FFFFFF"/>
                </a:clrFrom>
                <a:clrTo>
                  <a:srgbClr val="FFFFFF">
                    <a:alpha val="0"/>
                  </a:srgbClr>
                </a:clrTo>
              </a:clrChange>
            </a:blip>
            <a:stretch>
              <a:fillRect/>
            </a:stretch>
          </p:blipFill>
          <p:spPr>
            <a:xfrm>
              <a:off x="1440" y="2736"/>
              <a:ext cx="1776" cy="624"/>
            </a:xfrm>
            <a:prstGeom prst="rect">
              <a:avLst/>
            </a:prstGeom>
            <a:noFill/>
            <a:ln w="9525">
              <a:noFill/>
            </a:ln>
          </p:spPr>
        </p:pic>
        <p:sp>
          <p:nvSpPr>
            <p:cNvPr id="70667" name="Text Box 19"/>
            <p:cNvSpPr txBox="1"/>
            <p:nvPr/>
          </p:nvSpPr>
          <p:spPr>
            <a:xfrm>
              <a:off x="1680" y="2880"/>
              <a:ext cx="1392" cy="288"/>
            </a:xfrm>
            <a:prstGeom prst="rect">
              <a:avLst/>
            </a:prstGeom>
            <a:noFill/>
            <a:ln w="9525">
              <a:noFill/>
            </a:ln>
          </p:spPr>
          <p:txBody>
            <a:bodyPr anchor="t">
              <a:spAutoFit/>
            </a:bodyPr>
            <a:lstStyle/>
            <a:p>
              <a:pPr algn="ctr" eaLnBrk="0" hangingPunct="0">
                <a:spcBef>
                  <a:spcPct val="50000"/>
                </a:spcBef>
              </a:pPr>
              <a:r>
                <a:rPr lang="zh-CN" altLang="en-US" sz="2400" dirty="0">
                  <a:solidFill>
                    <a:srgbClr val="000000"/>
                  </a:solidFill>
                  <a:latin typeface="Times New Roman" panose="02020603050405020304" pitchFamily="18" charset="0"/>
                  <a:ea typeface="宋体" panose="02010600030101010101" pitchFamily="2" charset="-122"/>
                </a:rPr>
                <a:t>函数型语言</a:t>
              </a:r>
            </a:p>
          </p:txBody>
        </p:sp>
      </p:grpSp>
      <p:grpSp>
        <p:nvGrpSpPr>
          <p:cNvPr id="5" name="Group 22"/>
          <p:cNvGrpSpPr/>
          <p:nvPr/>
        </p:nvGrpSpPr>
        <p:grpSpPr>
          <a:xfrm>
            <a:off x="1547813" y="4508500"/>
            <a:ext cx="2743200" cy="912813"/>
            <a:chOff x="1440" y="3504"/>
            <a:chExt cx="1680" cy="575"/>
          </a:xfrm>
        </p:grpSpPr>
        <p:grpSp>
          <p:nvGrpSpPr>
            <p:cNvPr id="70669" name="Group 9"/>
            <p:cNvGrpSpPr/>
            <p:nvPr/>
          </p:nvGrpSpPr>
          <p:grpSpPr>
            <a:xfrm>
              <a:off x="1440" y="3504"/>
              <a:ext cx="1680" cy="575"/>
              <a:chOff x="2214" y="306"/>
              <a:chExt cx="1488" cy="372"/>
            </a:xfrm>
          </p:grpSpPr>
          <p:sp>
            <p:nvSpPr>
              <p:cNvPr id="70670" name="Oval 10"/>
              <p:cNvSpPr/>
              <p:nvPr/>
            </p:nvSpPr>
            <p:spPr>
              <a:xfrm>
                <a:off x="2214" y="342"/>
                <a:ext cx="1488" cy="336"/>
              </a:xfrm>
              <a:prstGeom prst="ellipse">
                <a:avLst/>
              </a:prstGeom>
              <a:solidFill>
                <a:srgbClr val="CC9900"/>
              </a:solidFill>
              <a:ln w="9525">
                <a:noFill/>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70671" name="Oval 11"/>
              <p:cNvSpPr/>
              <p:nvPr/>
            </p:nvSpPr>
            <p:spPr>
              <a:xfrm>
                <a:off x="2214" y="306"/>
                <a:ext cx="1488" cy="336"/>
              </a:xfrm>
              <a:prstGeom prst="ellipse">
                <a:avLst/>
              </a:prstGeom>
              <a:gradFill rotWithShape="0">
                <a:gsLst>
                  <a:gs pos="0">
                    <a:srgbClr val="CC9900"/>
                  </a:gs>
                  <a:gs pos="100000">
                    <a:srgbClr val="5E4700"/>
                  </a:gs>
                </a:gsLst>
                <a:lin ang="2700000" scaled="1"/>
                <a:tileRect/>
              </a:gradFill>
              <a:ln w="9525">
                <a:noFill/>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grpSp>
        <p:sp>
          <p:nvSpPr>
            <p:cNvPr id="70672" name="Text Box 21"/>
            <p:cNvSpPr txBox="1"/>
            <p:nvPr/>
          </p:nvSpPr>
          <p:spPr>
            <a:xfrm>
              <a:off x="1584" y="3600"/>
              <a:ext cx="1392" cy="288"/>
            </a:xfrm>
            <a:prstGeom prst="rect">
              <a:avLst/>
            </a:prstGeom>
            <a:noFill/>
            <a:ln w="9525">
              <a:noFill/>
            </a:ln>
          </p:spPr>
          <p:txBody>
            <a:bodyPr anchor="t">
              <a:spAutoFit/>
            </a:bodyPr>
            <a:lstStyle/>
            <a:p>
              <a:pPr algn="ctr" eaLnBrk="0" hangingPunct="0">
                <a:spcBef>
                  <a:spcPct val="50000"/>
                </a:spcBef>
              </a:pPr>
              <a:r>
                <a:rPr lang="zh-CN" altLang="en-US" sz="2400" dirty="0">
                  <a:solidFill>
                    <a:srgbClr val="000000"/>
                  </a:solidFill>
                  <a:latin typeface="Times New Roman" panose="02020603050405020304" pitchFamily="18" charset="0"/>
                  <a:ea typeface="宋体" panose="02010600030101010101" pitchFamily="2" charset="-122"/>
                </a:rPr>
                <a:t>说明性语言</a:t>
              </a:r>
            </a:p>
          </p:txBody>
        </p:sp>
      </p:grpSp>
      <p:grpSp>
        <p:nvGrpSpPr>
          <p:cNvPr id="7" name="Group 25"/>
          <p:cNvGrpSpPr/>
          <p:nvPr/>
        </p:nvGrpSpPr>
        <p:grpSpPr>
          <a:xfrm>
            <a:off x="4859338" y="4292600"/>
            <a:ext cx="2667000" cy="762000"/>
            <a:chOff x="3168" y="1920"/>
            <a:chExt cx="1680" cy="480"/>
          </a:xfrm>
        </p:grpSpPr>
        <p:sp>
          <p:nvSpPr>
            <p:cNvPr id="70674" name="Oval 23"/>
            <p:cNvSpPr/>
            <p:nvPr/>
          </p:nvSpPr>
          <p:spPr>
            <a:xfrm>
              <a:off x="3168" y="1920"/>
              <a:ext cx="1680" cy="480"/>
            </a:xfrm>
            <a:prstGeom prst="ellipse">
              <a:avLst/>
            </a:prstGeom>
            <a:solidFill>
              <a:srgbClr val="EADBB0"/>
            </a:solidFill>
            <a:ln w="9525">
              <a:noFill/>
            </a:ln>
            <a:effectLst>
              <a:outerShdw dist="38100" dir="5400000" algn="ctr" rotWithShape="0">
                <a:schemeClr val="bg2"/>
              </a:outerShdw>
            </a:effectLst>
          </p:spPr>
          <p:txBody>
            <a:bodyPr anchor="ctr">
              <a:spAutoFit/>
            </a:bodyPr>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70675" name="Text Box 24"/>
            <p:cNvSpPr txBox="1"/>
            <p:nvPr/>
          </p:nvSpPr>
          <p:spPr>
            <a:xfrm>
              <a:off x="3456" y="1968"/>
              <a:ext cx="1008" cy="288"/>
            </a:xfrm>
            <a:prstGeom prst="rect">
              <a:avLst/>
            </a:prstGeom>
            <a:noFill/>
            <a:ln w="9525">
              <a:noFill/>
            </a:ln>
          </p:spPr>
          <p:txBody>
            <a:bodyPr anchor="t">
              <a:spAutoFit/>
            </a:bodyPr>
            <a:lstStyle/>
            <a:p>
              <a:pPr algn="ctr" eaLnBrk="0" hangingPunct="0">
                <a:spcBef>
                  <a:spcPct val="50000"/>
                </a:spcBef>
              </a:pPr>
              <a:r>
                <a:rPr lang="zh-CN" altLang="en-US" sz="2400" dirty="0">
                  <a:solidFill>
                    <a:srgbClr val="000000"/>
                  </a:solidFill>
                  <a:latin typeface="Times New Roman" panose="02020603050405020304" pitchFamily="18" charset="0"/>
                  <a:ea typeface="宋体" panose="02010600030101010101" pitchFamily="2" charset="-122"/>
                </a:rPr>
                <a:t>专用语言</a:t>
              </a:r>
            </a:p>
          </p:txBody>
        </p:sp>
      </p:grpSp>
      <p:sp>
        <p:nvSpPr>
          <p:cNvPr id="70676" name="Rectangle 26"/>
          <p:cNvSpPr>
            <a:spLocks noGrp="1"/>
          </p:cNvSpPr>
          <p:nvPr>
            <p:ph idx="1"/>
          </p:nvPr>
        </p:nvSpPr>
        <p:spPr>
          <a:xfrm>
            <a:off x="250825" y="1341438"/>
            <a:ext cx="8569325" cy="989012"/>
          </a:xfrm>
        </p:spPr>
        <p:txBody>
          <a:bodyPr vert="horz" wrap="square" lIns="91440" tIns="45720" rIns="91440" bIns="45720" anchor="t"/>
          <a:lstStyle/>
          <a:p>
            <a:pPr eaLnBrk="1" hangingPunct="1"/>
            <a:r>
              <a:rPr lang="zh-CN" altLang="en-US" b="1" dirty="0"/>
              <a:t>根据人们对于求解问题的方法进行分类可以将程序设计语言进行分类。</a:t>
            </a:r>
          </a:p>
          <a:p>
            <a:pPr eaLnBrk="1" hangingPunct="1"/>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linds(horizontal)">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灯片编号占位符 5"/>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dirty="0">
                <a:latin typeface="Times New Roman" panose="02020603050405020304" pitchFamily="2" charset="0"/>
              </a:rPr>
              <a:t>37</a:t>
            </a:fld>
            <a:endParaRPr lang="zh-CN" altLang="en-US" sz="1400" dirty="0">
              <a:latin typeface="Times New Roman" panose="02020603050405020304" pitchFamily="2" charset="0"/>
            </a:endParaRPr>
          </a:p>
        </p:txBody>
      </p:sp>
      <p:sp>
        <p:nvSpPr>
          <p:cNvPr id="14340" name="Rectangle 13"/>
          <p:cNvSpPr>
            <a:spLocks noGrp="1"/>
          </p:cNvSpPr>
          <p:nvPr>
            <p:ph type="title"/>
          </p:nvPr>
        </p:nvSpPr>
        <p:spPr/>
        <p:txBody>
          <a:bodyPr wrap="square" anchor="ctr"/>
          <a:lstStyle/>
          <a:p>
            <a:r>
              <a:rPr lang="zh-CN" altLang="en-US" b="1" dirty="0"/>
              <a:t>数据类型</a:t>
            </a:r>
          </a:p>
        </p:txBody>
      </p:sp>
      <p:sp>
        <p:nvSpPr>
          <p:cNvPr id="2" name="内容占位符 1">
            <a:extLst>
              <a:ext uri="{FF2B5EF4-FFF2-40B4-BE49-F238E27FC236}">
                <a16:creationId xmlns:a16="http://schemas.microsoft.com/office/drawing/2014/main" id="{3B932DB4-FE95-5315-3492-68CD318F40E3}"/>
              </a:ext>
            </a:extLst>
          </p:cNvPr>
          <p:cNvSpPr>
            <a:spLocks noGrp="1"/>
          </p:cNvSpPr>
          <p:nvPr>
            <p:ph idx="1"/>
          </p:nvPr>
        </p:nvSpPr>
        <p:spPr/>
        <p:txBody>
          <a:bodyPr/>
          <a:lstStyle/>
          <a:p>
            <a:r>
              <a:rPr lang="zh-CN" altLang="en-US" sz="2800" b="1" dirty="0">
                <a:latin typeface="宋体" panose="02010600030101010101" pitchFamily="2" charset="-122"/>
              </a:rPr>
              <a:t>数据类型 包括</a:t>
            </a:r>
            <a:r>
              <a:rPr lang="zh-CN" altLang="en-US" b="1" dirty="0">
                <a:latin typeface="宋体" panose="02010600030101010101" pitchFamily="2" charset="-122"/>
              </a:rPr>
              <a:t>三要素</a:t>
            </a:r>
            <a:r>
              <a:rPr lang="en-US" altLang="zh-CN" b="1" dirty="0">
                <a:latin typeface="宋体" panose="02010600030101010101" pitchFamily="2" charset="-122"/>
              </a:rPr>
              <a:t>(</a:t>
            </a:r>
            <a:r>
              <a:rPr lang="zh-CN" altLang="en-US" sz="2800" b="1" dirty="0">
                <a:latin typeface="宋体" panose="02010600030101010101" pitchFamily="2" charset="-122"/>
              </a:rPr>
              <a:t>含义</a:t>
            </a:r>
            <a:r>
              <a:rPr lang="en-US" altLang="zh-CN" sz="2800" b="1" dirty="0">
                <a:latin typeface="宋体" panose="02010600030101010101" pitchFamily="2" charset="-122"/>
              </a:rPr>
              <a:t>)</a:t>
            </a:r>
            <a:r>
              <a:rPr lang="zh-CN" altLang="en-US" sz="2800" b="1" dirty="0">
                <a:latin typeface="宋体" panose="02010600030101010101" pitchFamily="2" charset="-122"/>
              </a:rPr>
              <a:t>：</a:t>
            </a:r>
            <a:endParaRPr lang="en-US" altLang="zh-CN" sz="2800" b="1" dirty="0">
              <a:latin typeface="宋体" panose="02010600030101010101" pitchFamily="2" charset="-122"/>
            </a:endParaRPr>
          </a:p>
          <a:p>
            <a:pPr lvl="1"/>
            <a:r>
              <a:rPr lang="zh-CN" altLang="en-US" b="1" dirty="0">
                <a:latin typeface="宋体" panose="02010600030101010101" pitchFamily="2" charset="-122"/>
              </a:rPr>
              <a:t>逻辑结构，定义了数据的抽象</a:t>
            </a:r>
            <a:r>
              <a:rPr lang="en-US" altLang="zh-CN" b="1" dirty="0">
                <a:latin typeface="宋体" panose="02010600030101010101" pitchFamily="2" charset="-122"/>
              </a:rPr>
              <a:t>/</a:t>
            </a:r>
            <a:r>
              <a:rPr lang="zh-CN" altLang="en-US" b="1" dirty="0">
                <a:latin typeface="宋体" panose="02010600030101010101" pitchFamily="2" charset="-122"/>
              </a:rPr>
              <a:t>值的集合</a:t>
            </a:r>
            <a:r>
              <a:rPr lang="en-US" altLang="zh-CN" b="1" dirty="0">
                <a:latin typeface="宋体" panose="02010600030101010101" pitchFamily="2" charset="-122"/>
              </a:rPr>
              <a:t>(</a:t>
            </a:r>
            <a:r>
              <a:rPr lang="zh-CN" altLang="en-US" b="1" dirty="0">
                <a:solidFill>
                  <a:schemeClr val="tx1"/>
                </a:solidFill>
                <a:latin typeface="宋体" panose="02010600030101010101" pitchFamily="2" charset="-122"/>
              </a:rPr>
              <a:t>属于该类型的数据能够</a:t>
            </a:r>
            <a:r>
              <a:rPr lang="zh-CN" altLang="en-US" b="1" dirty="0">
                <a:solidFill>
                  <a:srgbClr val="FF3300"/>
                </a:solidFill>
                <a:latin typeface="宋体" panose="02010600030101010101" pitchFamily="2" charset="-122"/>
              </a:rPr>
              <a:t>取值的范围</a:t>
            </a:r>
            <a:r>
              <a:rPr lang="zh-CN" altLang="en-US" b="1" dirty="0">
                <a:latin typeface="宋体" panose="02010600030101010101" pitchFamily="2" charset="-122"/>
              </a:rPr>
              <a:t>）；</a:t>
            </a:r>
            <a:endParaRPr lang="en-US" altLang="zh-CN" b="1" dirty="0">
              <a:latin typeface="宋体" panose="02010600030101010101" pitchFamily="2" charset="-122"/>
            </a:endParaRPr>
          </a:p>
          <a:p>
            <a:pPr lvl="1"/>
            <a:r>
              <a:rPr lang="zh-CN" altLang="en-US" b="1" dirty="0">
                <a:latin typeface="宋体" panose="02010600030101010101" pitchFamily="2" charset="-122"/>
              </a:rPr>
              <a:t>存储结构，规定了数据的存储方式；</a:t>
            </a:r>
            <a:endParaRPr lang="en-US" altLang="zh-CN" b="1" dirty="0">
              <a:latin typeface="宋体" panose="02010600030101010101" pitchFamily="2" charset="-122"/>
            </a:endParaRPr>
          </a:p>
          <a:p>
            <a:pPr lvl="1"/>
            <a:r>
              <a:rPr lang="zh-CN" altLang="en-US" b="1" dirty="0">
                <a:latin typeface="宋体" panose="02010600030101010101" pitchFamily="2" charset="-122"/>
              </a:rPr>
              <a:t>能应用于这些数值上的操作集合（</a:t>
            </a:r>
            <a:r>
              <a:rPr lang="zh-CN" altLang="en-US" b="1" dirty="0">
                <a:solidFill>
                  <a:srgbClr val="FF3300"/>
                </a:solidFill>
                <a:latin typeface="宋体" panose="02010600030101010101" pitchFamily="2" charset="-122"/>
              </a:rPr>
              <a:t>数据操作</a:t>
            </a:r>
            <a:r>
              <a:rPr lang="zh-CN" altLang="en-US" b="1" dirty="0">
                <a:latin typeface="宋体" panose="02010600030101010101" pitchFamily="2" charset="-122"/>
              </a:rPr>
              <a:t>）。</a:t>
            </a:r>
            <a:endParaRPr lang="en-US" altLang="zh-CN" b="1" dirty="0">
              <a:latin typeface="宋体" panose="02010600030101010101" pitchFamily="2" charset="-122"/>
            </a:endParaRPr>
          </a:p>
          <a:p>
            <a:endParaRPr lang="en-US" altLang="zh-CN" b="1" dirty="0">
              <a:latin typeface="宋体" panose="02010600030101010101" pitchFamily="2" charset="-122"/>
            </a:endParaRPr>
          </a:p>
          <a:p>
            <a:r>
              <a:rPr lang="zh-CN" altLang="en-US" b="1" dirty="0">
                <a:latin typeface="宋体" panose="02010600030101010101" pitchFamily="2" charset="-122"/>
              </a:rPr>
              <a:t>浮点数集合，支持算术运算、数学函数运算。</a:t>
            </a:r>
            <a:endParaRPr lang="en-US" altLang="zh-CN" b="1" dirty="0">
              <a:latin typeface="宋体" panose="02010600030101010101" pitchFamily="2" charset="-122"/>
            </a:endParaRPr>
          </a:p>
          <a:p>
            <a:r>
              <a:rPr lang="zh-CN" altLang="en-US" sz="2800" b="1" dirty="0">
                <a:latin typeface="宋体" panose="02010600030101010101" pitchFamily="2" charset="-122"/>
              </a:rPr>
              <a:t>整数集合，支持字符编码转换，以及整数的加、减、乘和</a:t>
            </a:r>
            <a:r>
              <a:rPr lang="zh-CN" altLang="en-US" sz="2800" b="1" u="sng" dirty="0">
                <a:latin typeface="宋体" panose="02010600030101010101" pitchFamily="2" charset="-122"/>
              </a:rPr>
              <a:t>整数除法运算</a:t>
            </a:r>
            <a:r>
              <a:rPr lang="zh-CN" altLang="en-US" sz="2800" b="1" dirty="0">
                <a:latin typeface="宋体" panose="02010600030101010101" pitchFamily="2" charset="-122"/>
              </a:rPr>
              <a:t>。 </a:t>
            </a:r>
          </a:p>
          <a:p>
            <a:endParaRPr lang="zh-CN" altLang="en-US" b="1" dirty="0"/>
          </a:p>
        </p:txBody>
      </p:sp>
    </p:spTree>
    <p:extLst>
      <p:ext uri="{BB962C8B-B14F-4D97-AF65-F5344CB8AC3E}">
        <p14:creationId xmlns:p14="http://schemas.microsoft.com/office/powerpoint/2010/main" val="270168994"/>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9" name="文本占位符 372738"/>
          <p:cNvSpPr>
            <a:spLocks noGrp="1"/>
          </p:cNvSpPr>
          <p:nvPr>
            <p:ph idx="1"/>
          </p:nvPr>
        </p:nvSpPr>
        <p:spPr>
          <a:xfrm>
            <a:off x="266700" y="1466850"/>
            <a:ext cx="8609330" cy="4733925"/>
          </a:xfrm>
        </p:spPr>
        <p:txBody>
          <a:bodyPr lIns="91431" tIns="45715" rIns="91431" bIns="45715"/>
          <a:lstStyle/>
          <a:p>
            <a:pPr algn="just" defTabSz="914400" fontAlgn="base">
              <a:lnSpc>
                <a:spcPct val="105000"/>
              </a:lnSpc>
              <a:spcBef>
                <a:spcPct val="0"/>
              </a:spcBef>
              <a:buFont typeface="Wingdings" panose="05000000000000000000" charset="0"/>
              <a:buChar char="l"/>
            </a:pPr>
            <a:r>
              <a:rPr lang="zh-CN" altLang="en-US" strike="noStrike" noProof="1">
                <a:solidFill>
                  <a:schemeClr val="tx2"/>
                </a:solidFill>
                <a:latin typeface="微软雅黑" panose="020B0503020204020204" charset="-122"/>
                <a:ea typeface="微软雅黑" panose="020B0503020204020204" charset="-122"/>
                <a:cs typeface="微软雅黑" panose="020B0503020204020204" charset="-122"/>
              </a:rPr>
              <a:t>计算机中存储一个数据的物理空间是固定的，即一个</a:t>
            </a:r>
            <a:r>
              <a:rPr lang="zh-CN" altLang="en-US" strike="noStrike" noProof="1">
                <a:solidFill>
                  <a:srgbClr val="FF0000"/>
                </a:solidFill>
                <a:latin typeface="微软雅黑" panose="020B0503020204020204" charset="-122"/>
                <a:ea typeface="微软雅黑" panose="020B0503020204020204" charset="-122"/>
                <a:cs typeface="微软雅黑" panose="020B0503020204020204" charset="-122"/>
              </a:rPr>
              <a:t>字长</a:t>
            </a:r>
            <a:r>
              <a:rPr lang="zh-CN" altLang="en-US" strike="noStrike" noProof="1">
                <a:solidFill>
                  <a:schemeClr val="tx2"/>
                </a:solidFill>
                <a:latin typeface="微软雅黑" panose="020B0503020204020204" charset="-122"/>
                <a:ea typeface="微软雅黑" panose="020B0503020204020204" charset="-122"/>
                <a:cs typeface="微软雅黑" panose="020B0503020204020204" charset="-122"/>
              </a:rPr>
              <a:t>。</a:t>
            </a:r>
          </a:p>
          <a:p>
            <a:pPr algn="just" defTabSz="914400" fontAlgn="base">
              <a:lnSpc>
                <a:spcPct val="105000"/>
              </a:lnSpc>
              <a:spcBef>
                <a:spcPct val="0"/>
              </a:spcBef>
              <a:buFont typeface="Wingdings" panose="05000000000000000000" charset="0"/>
              <a:buChar char="l"/>
            </a:pPr>
            <a:r>
              <a:rPr lang="zh-CN" altLang="en-US" strike="noStrike" noProof="1">
                <a:solidFill>
                  <a:schemeClr val="tx2"/>
                </a:solidFill>
                <a:latin typeface="微软雅黑" panose="020B0503020204020204" charset="-122"/>
                <a:ea typeface="微软雅黑" panose="020B0503020204020204" charset="-122"/>
                <a:cs typeface="微软雅黑" panose="020B0503020204020204" charset="-122"/>
              </a:rPr>
              <a:t>一台</a:t>
            </a:r>
            <a:r>
              <a:rPr lang="en-US" altLang="zh-CN" strike="noStrike" noProof="1">
                <a:solidFill>
                  <a:schemeClr val="tx2"/>
                </a:solidFill>
                <a:latin typeface="微软雅黑" panose="020B0503020204020204" charset="-122"/>
                <a:ea typeface="微软雅黑" panose="020B0503020204020204" charset="-122"/>
                <a:cs typeface="微软雅黑" panose="020B0503020204020204" charset="-122"/>
              </a:rPr>
              <a:t>32</a:t>
            </a:r>
            <a:r>
              <a:rPr lang="zh-CN" altLang="en-US" strike="noStrike" noProof="1">
                <a:solidFill>
                  <a:schemeClr val="tx2"/>
                </a:solidFill>
                <a:latin typeface="微软雅黑" panose="020B0503020204020204" charset="-122"/>
                <a:ea typeface="微软雅黑" panose="020B0503020204020204" charset="-122"/>
                <a:cs typeface="微软雅黑" panose="020B0503020204020204" charset="-122"/>
              </a:rPr>
              <a:t>位机的计算机上，整数</a:t>
            </a:r>
            <a:r>
              <a:rPr lang="en-US" altLang="zh-CN" strike="noStrike" noProof="1">
                <a:solidFill>
                  <a:schemeClr val="tx2"/>
                </a:solidFill>
                <a:latin typeface="微软雅黑" panose="020B0503020204020204" charset="-122"/>
                <a:ea typeface="微软雅黑" panose="020B0503020204020204" charset="-122"/>
                <a:cs typeface="微软雅黑" panose="020B0503020204020204" charset="-122"/>
              </a:rPr>
              <a:t>108</a:t>
            </a:r>
            <a:r>
              <a:rPr lang="zh-CN" altLang="en-US" strike="noStrike" noProof="1">
                <a:solidFill>
                  <a:schemeClr val="tx2"/>
                </a:solidFill>
                <a:latin typeface="微软雅黑" panose="020B0503020204020204" charset="-122"/>
                <a:ea typeface="微软雅黑" panose="020B0503020204020204" charset="-122"/>
                <a:cs typeface="微软雅黑" panose="020B0503020204020204" charset="-122"/>
              </a:rPr>
              <a:t>这样存储：</a:t>
            </a:r>
          </a:p>
          <a:p>
            <a:pPr marL="0" indent="0" algn="just" defTabSz="914400" fontAlgn="base">
              <a:lnSpc>
                <a:spcPct val="105000"/>
              </a:lnSpc>
              <a:spcBef>
                <a:spcPct val="0"/>
              </a:spcBef>
              <a:buFont typeface="Wingdings" panose="05000000000000000000" charset="0"/>
              <a:buNone/>
            </a:pPr>
            <a:r>
              <a:rPr lang="zh-CN" altLang="en-US" strike="noStrike" noProof="1">
                <a:solidFill>
                  <a:schemeClr val="tx2"/>
                </a:solidFill>
                <a:latin typeface="微软雅黑" panose="020B0503020204020204" charset="-122"/>
                <a:ea typeface="微软雅黑" panose="020B0503020204020204" charset="-122"/>
                <a:cs typeface="微软雅黑" panose="020B0503020204020204" charset="-122"/>
              </a:rPr>
              <a:t>       </a:t>
            </a:r>
            <a:r>
              <a:rPr lang="en-US" altLang="zh-CN" strike="noStrike" noProof="1">
                <a:solidFill>
                  <a:schemeClr val="tx2"/>
                </a:solidFill>
                <a:latin typeface="微软雅黑" panose="020B0503020204020204" charset="-122"/>
                <a:ea typeface="微软雅黑" panose="020B0503020204020204" charset="-122"/>
                <a:cs typeface="微软雅黑" panose="020B0503020204020204" charset="-122"/>
              </a:rPr>
              <a:t>00000000 00000000 00000000 01101100</a:t>
            </a:r>
            <a:endParaRPr lang="zh-CN" altLang="en-US" strike="noStrike" noProof="1">
              <a:solidFill>
                <a:schemeClr val="tx2"/>
              </a:solidFill>
              <a:latin typeface="微软雅黑" panose="020B0503020204020204" charset="-122"/>
              <a:ea typeface="微软雅黑" panose="020B0503020204020204" charset="-122"/>
              <a:cs typeface="微软雅黑" panose="020B0503020204020204" charset="-122"/>
            </a:endParaRPr>
          </a:p>
          <a:p>
            <a:pPr algn="just" defTabSz="914400" fontAlgn="base">
              <a:lnSpc>
                <a:spcPct val="105000"/>
              </a:lnSpc>
              <a:spcBef>
                <a:spcPct val="0"/>
              </a:spcBef>
              <a:buFont typeface="Wingdings" panose="05000000000000000000" charset="0"/>
              <a:buChar char="l"/>
            </a:pPr>
            <a:r>
              <a:rPr lang="zh-CN" altLang="en-US" strike="noStrike" noProof="1">
                <a:solidFill>
                  <a:schemeClr val="tx2"/>
                </a:solidFill>
                <a:latin typeface="微软雅黑" panose="020B0503020204020204" charset="-122"/>
                <a:ea typeface="微软雅黑" panose="020B0503020204020204" charset="-122"/>
                <a:cs typeface="微软雅黑" panose="020B0503020204020204" charset="-122"/>
              </a:rPr>
              <a:t>但是小数的计算机表示形式，采用</a:t>
            </a:r>
            <a:r>
              <a:rPr lang="en-US" altLang="zh-CN" dirty="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尾数</a:t>
            </a:r>
            <a:r>
              <a:rPr lang="en-US" altLang="zh-CN" dirty="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这是一个纯小数</a:t>
            </a:r>
            <a:r>
              <a:rPr lang="en-US" altLang="zh-CN" dirty="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和</a:t>
            </a:r>
            <a:r>
              <a:rPr lang="en-US" altLang="zh-CN" dirty="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en-US" strike="noStrike" noProof="1">
                <a:solidFill>
                  <a:schemeClr val="tx2"/>
                </a:solidFill>
                <a:latin typeface="微软雅黑" panose="020B0503020204020204" charset="-122"/>
                <a:ea typeface="微软雅黑" panose="020B0503020204020204" charset="-122"/>
                <a:cs typeface="微软雅黑" panose="020B0503020204020204" charset="-122"/>
              </a:rPr>
              <a:t>指数</a:t>
            </a:r>
            <a:r>
              <a:rPr lang="en-US" altLang="zh-CN" strike="noStrike" noProof="1">
                <a:solidFill>
                  <a:schemeClr val="tx2"/>
                </a:solidFill>
                <a:latin typeface="微软雅黑" panose="020B0503020204020204" charset="-122"/>
                <a:ea typeface="微软雅黑" panose="020B0503020204020204" charset="-122"/>
                <a:cs typeface="微软雅黑" panose="020B0503020204020204" charset="-122"/>
              </a:rPr>
              <a:t>"</a:t>
            </a:r>
            <a:r>
              <a:rPr lang="en-US" altLang="zh-CN" dirty="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这是一个整数</a:t>
            </a:r>
            <a:r>
              <a:rPr lang="en-US" altLang="zh-CN" dirty="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en-US" strike="noStrike" noProof="1">
                <a:solidFill>
                  <a:schemeClr val="tx2"/>
                </a:solidFill>
                <a:latin typeface="微软雅黑" panose="020B0503020204020204" charset="-122"/>
                <a:ea typeface="微软雅黑" panose="020B0503020204020204" charset="-122"/>
                <a:cs typeface="微软雅黑" panose="020B0503020204020204" charset="-122"/>
              </a:rPr>
              <a:t>组合表示。</a:t>
            </a:r>
            <a:endParaRPr lang="en-US" altLang="zh-CN" strike="noStrike" noProof="1">
              <a:solidFill>
                <a:schemeClr val="tx2"/>
              </a:solidFill>
              <a:latin typeface="微软雅黑" panose="020B0503020204020204" charset="-122"/>
              <a:ea typeface="微软雅黑" panose="020B0503020204020204" charset="-122"/>
              <a:cs typeface="微软雅黑" panose="020B0503020204020204" charset="-122"/>
            </a:endParaRPr>
          </a:p>
          <a:p>
            <a:pPr marL="0" indent="0" algn="just" defTabSz="914400" fontAlgn="base">
              <a:lnSpc>
                <a:spcPct val="105000"/>
              </a:lnSpc>
              <a:spcBef>
                <a:spcPct val="0"/>
              </a:spcBef>
              <a:buNone/>
            </a:pPr>
            <a:r>
              <a:rPr lang="zh-CN" altLang="en-US" strike="noStrike" noProof="1">
                <a:solidFill>
                  <a:schemeClr val="tx2"/>
                </a:solidFill>
                <a:latin typeface="微软雅黑" panose="020B0503020204020204" charset="-122"/>
                <a:ea typeface="微软雅黑" panose="020B0503020204020204" charset="-122"/>
                <a:cs typeface="微软雅黑" panose="020B0503020204020204" charset="-122"/>
              </a:rPr>
              <a:t>例如：</a:t>
            </a:r>
            <a:r>
              <a:rPr lang="en-US" altLang="zh-CN" strike="noStrike" noProof="1">
                <a:solidFill>
                  <a:schemeClr val="tx2"/>
                </a:solidFill>
                <a:latin typeface="微软雅黑" panose="020B0503020204020204" charset="-122"/>
                <a:ea typeface="微软雅黑" panose="020B0503020204020204" charset="-122"/>
                <a:cs typeface="微软雅黑" panose="020B0503020204020204" charset="-122"/>
              </a:rPr>
              <a:t>1001.011 = 2</a:t>
            </a:r>
            <a:r>
              <a:rPr lang="en-US" altLang="zh-CN" strike="noStrike" baseline="30000" noProof="1">
                <a:solidFill>
                  <a:schemeClr val="tx2"/>
                </a:solidFill>
                <a:uFillTx/>
                <a:latin typeface="微软雅黑" panose="020B0503020204020204" charset="-122"/>
                <a:ea typeface="微软雅黑" panose="020B0503020204020204" charset="-122"/>
                <a:cs typeface="微软雅黑" panose="020B0503020204020204" charset="-122"/>
              </a:rPr>
              <a:t>3</a:t>
            </a:r>
            <a:r>
              <a:rPr lang="en-US" altLang="zh-CN" strike="noStrike" baseline="30000" noProof="1">
                <a:solidFill>
                  <a:schemeClr val="tx2"/>
                </a:solidFill>
                <a:latin typeface="微软雅黑" panose="020B0503020204020204" charset="-122"/>
                <a:ea typeface="微软雅黑" panose="020B0503020204020204" charset="-122"/>
                <a:cs typeface="微软雅黑" panose="020B0503020204020204" charset="-122"/>
              </a:rPr>
              <a:t>(011)</a:t>
            </a:r>
            <a:r>
              <a:rPr lang="en-US" altLang="zh-CN" strike="noStrike" noProof="1">
                <a:solidFill>
                  <a:schemeClr val="tx2"/>
                </a:solidFill>
                <a:latin typeface="微软雅黑" panose="020B0503020204020204" charset="-122"/>
                <a:ea typeface="微软雅黑" panose="020B0503020204020204" charset="-122"/>
                <a:cs typeface="微软雅黑" panose="020B0503020204020204" charset="-122"/>
              </a:rPr>
              <a:t> </a:t>
            </a:r>
            <a:r>
              <a:rPr lang="en-US" altLang="zh-CN" strike="noStrike" noProof="1">
                <a:solidFill>
                  <a:schemeClr val="tx2"/>
                </a:solidFill>
                <a:latin typeface="微软雅黑" panose="020B0503020204020204" charset="-122"/>
                <a:ea typeface="微软雅黑" panose="020B0503020204020204" charset="-122"/>
                <a:cs typeface="微软雅黑" panose="020B0503020204020204" charset="-122"/>
                <a:sym typeface="Symbol" panose="05050102010706020507" pitchFamily="2" charset="2"/>
              </a:rPr>
              <a:t></a:t>
            </a:r>
            <a:r>
              <a:rPr lang="en-US" altLang="zh-CN" strike="noStrike" noProof="1">
                <a:solidFill>
                  <a:schemeClr val="tx2"/>
                </a:solidFill>
                <a:latin typeface="微软雅黑" panose="020B0503020204020204" charset="-122"/>
                <a:ea typeface="微软雅黑" panose="020B0503020204020204" charset="-122"/>
                <a:cs typeface="微软雅黑" panose="020B0503020204020204" charset="-122"/>
              </a:rPr>
              <a:t> ( 1.001011 ) </a:t>
            </a:r>
          </a:p>
        </p:txBody>
      </p:sp>
      <p:sp>
        <p:nvSpPr>
          <p:cNvPr id="2" name="灯片编号占位符 1"/>
          <p:cNvSpPr>
            <a:spLocks noGrp="1"/>
          </p:cNvSpPr>
          <p:nvPr>
            <p:ph type="sldNum" sz="quarter" idx="12"/>
          </p:nvPr>
        </p:nvSpPr>
        <p:spPr/>
        <p:txBody>
          <a:bodyPr/>
          <a:lstStyle/>
          <a:p>
            <a:pPr lvl="0" defTabSz="717550" fontAlgn="base"/>
            <a:fld id="{9A0DB2DC-4C9A-4742-B13C-FB6460FD3503}" type="slidenum">
              <a:rPr lang="zh-CN" altLang="en-US" sz="1785" strike="noStrike" noProof="1" dirty="0">
                <a:latin typeface="Arial" panose="020B0604020202020204" pitchFamily="34" charset="0"/>
                <a:ea typeface="宋体" panose="02010600030101010101" pitchFamily="2" charset="-122"/>
                <a:cs typeface="+mn-cs"/>
              </a:rPr>
              <a:t>38</a:t>
            </a:fld>
            <a:endParaRPr lang="zh-CN" altLang="en-US" sz="1785" strike="noStrike" noProof="1">
              <a:latin typeface="Arial" panose="020B0604020202020204" pitchFamily="34" charset="0"/>
            </a:endParaRPr>
          </a:p>
        </p:txBody>
      </p:sp>
      <p:pic>
        <p:nvPicPr>
          <p:cNvPr id="7" name="图片 6">
            <a:extLst>
              <a:ext uri="{FF2B5EF4-FFF2-40B4-BE49-F238E27FC236}">
                <a16:creationId xmlns:a16="http://schemas.microsoft.com/office/drawing/2014/main" id="{C48F0ACD-4039-44E9-9875-277B8044B33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691680" y="4762500"/>
            <a:ext cx="4984750" cy="1257300"/>
          </a:xfrm>
          <a:prstGeom prst="rect">
            <a:avLst/>
          </a:prstGeom>
          <a:noFill/>
          <a:ln>
            <a:noFill/>
          </a:ln>
        </p:spPr>
      </p:pic>
      <p:sp>
        <p:nvSpPr>
          <p:cNvPr id="4" name="Rectangle 13">
            <a:extLst>
              <a:ext uri="{FF2B5EF4-FFF2-40B4-BE49-F238E27FC236}">
                <a16:creationId xmlns:a16="http://schemas.microsoft.com/office/drawing/2014/main" id="{ECB7A0DA-B547-9DCB-A0C8-D26321F7A02B}"/>
              </a:ext>
            </a:extLst>
          </p:cNvPr>
          <p:cNvSpPr>
            <a:spLocks noGrp="1"/>
          </p:cNvSpPr>
          <p:nvPr>
            <p:ph type="title"/>
          </p:nvPr>
        </p:nvSpPr>
        <p:spPr>
          <a:xfrm>
            <a:off x="1263650" y="404813"/>
            <a:ext cx="7772400" cy="720725"/>
          </a:xfrm>
        </p:spPr>
        <p:txBody>
          <a:bodyPr wrap="square" anchor="ctr"/>
          <a:lstStyle/>
          <a:p>
            <a:r>
              <a:rPr lang="zh-CN" altLang="en-US" b="1" dirty="0"/>
              <a:t>整数类型和浮点类型</a:t>
            </a:r>
          </a:p>
        </p:txBody>
      </p:sp>
    </p:spTree>
    <p:extLst>
      <p:ext uri="{BB962C8B-B14F-4D97-AF65-F5344CB8AC3E}">
        <p14:creationId xmlns:p14="http://schemas.microsoft.com/office/powerpoint/2010/main" val="3850254000"/>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717825">
            <a:extLst>
              <a:ext uri="{FF2B5EF4-FFF2-40B4-BE49-F238E27FC236}">
                <a16:creationId xmlns:a16="http://schemas.microsoft.com/office/drawing/2014/main" id="{13F865D2-F038-4DCB-AEDF-7CFCEC352EB4}"/>
              </a:ext>
            </a:extLst>
          </p:cNvPr>
          <p:cNvSpPr>
            <a:spLocks noGrp="1" noChangeArrowheads="1"/>
          </p:cNvSpPr>
          <p:nvPr>
            <p:ph type="title"/>
          </p:nvPr>
        </p:nvSpPr>
        <p:spPr bwMode="auto">
          <a:xfrm>
            <a:off x="3491880" y="333375"/>
            <a:ext cx="5652120" cy="739775"/>
          </a:xfrm>
          <a:prstGeom prst="rect">
            <a:avLst/>
          </a:prstGeom>
          <a:noFill/>
          <a:ln w="9525">
            <a:noFill/>
          </a:ln>
        </p:spPr>
        <p:txBody>
          <a:bodyPr vert="horz" wrap="square" lIns="91440" tIns="45720" rIns="91440" bIns="45720" anchor="ctr"/>
          <a:lstStyle/>
          <a:p>
            <a:pPr eaLnBrk="1" hangingPunct="1"/>
            <a:r>
              <a:rPr lang="en-US" altLang="zh-CN" dirty="0"/>
              <a:t> C</a:t>
            </a:r>
            <a:r>
              <a:rPr lang="zh-CN" altLang="en-US" dirty="0"/>
              <a:t>的数据类型</a:t>
            </a:r>
          </a:p>
        </p:txBody>
      </p:sp>
      <p:sp>
        <p:nvSpPr>
          <p:cNvPr id="717827" name="矩形 717826">
            <a:extLst>
              <a:ext uri="{FF2B5EF4-FFF2-40B4-BE49-F238E27FC236}">
                <a16:creationId xmlns:a16="http://schemas.microsoft.com/office/drawing/2014/main" id="{F7F10C52-E6BC-48BB-BF79-3DDFE1438955}"/>
              </a:ext>
            </a:extLst>
          </p:cNvPr>
          <p:cNvSpPr>
            <a:spLocks noChangeArrowheads="1"/>
          </p:cNvSpPr>
          <p:nvPr/>
        </p:nvSpPr>
        <p:spPr bwMode="auto">
          <a:xfrm>
            <a:off x="539750" y="908050"/>
            <a:ext cx="806450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4000">
                <a:solidFill>
                  <a:schemeClr val="tx1"/>
                </a:solidFill>
                <a:latin typeface="Times New Roman" panose="02020603050405020304" pitchFamily="18" charset="0"/>
                <a:ea typeface="宋体" panose="02010600030101010101" pitchFamily="2" charset="-122"/>
              </a:defRPr>
            </a:lvl1pPr>
            <a:lvl2pPr>
              <a:defRPr sz="4000">
                <a:solidFill>
                  <a:schemeClr val="tx1"/>
                </a:solidFill>
                <a:latin typeface="Times New Roman" panose="02020603050405020304" pitchFamily="18" charset="0"/>
                <a:ea typeface="宋体" panose="02010600030101010101" pitchFamily="2" charset="-122"/>
              </a:defRPr>
            </a:lvl2pPr>
            <a:lvl3pPr>
              <a:defRPr sz="4000">
                <a:solidFill>
                  <a:schemeClr val="tx1"/>
                </a:solidFill>
                <a:latin typeface="Times New Roman" panose="02020603050405020304" pitchFamily="18" charset="0"/>
                <a:ea typeface="宋体" panose="02010600030101010101" pitchFamily="2" charset="-122"/>
              </a:defRPr>
            </a:lvl3pPr>
            <a:lvl4pPr>
              <a:defRPr sz="4000">
                <a:solidFill>
                  <a:schemeClr val="tx1"/>
                </a:solidFill>
                <a:latin typeface="Times New Roman" panose="02020603050405020304" pitchFamily="18" charset="0"/>
                <a:ea typeface="宋体" panose="02010600030101010101" pitchFamily="2" charset="-122"/>
              </a:defRPr>
            </a:lvl4pPr>
            <a:lvl5pPr>
              <a:defRPr sz="40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9pPr>
          </a:lstStyle>
          <a:p>
            <a:pPr eaLnBrk="0" hangingPunct="0">
              <a:spcBef>
                <a:spcPct val="20000"/>
              </a:spcBef>
            </a:pPr>
            <a:r>
              <a:rPr lang="en-US" altLang="zh-CN" sz="3200" dirty="0">
                <a:solidFill>
                  <a:srgbClr val="000099"/>
                </a:solidFill>
                <a:latin typeface="楷体_GB2312" pitchFamily="49" charset="-122"/>
                <a:ea typeface="楷体_GB2312" pitchFamily="49" charset="-122"/>
              </a:rPr>
              <a:t>C</a:t>
            </a:r>
            <a:r>
              <a:rPr lang="zh-CN" altLang="en-US" sz="3200" dirty="0">
                <a:solidFill>
                  <a:srgbClr val="000099"/>
                </a:solidFill>
                <a:latin typeface="楷体_GB2312" pitchFamily="49" charset="-122"/>
                <a:ea typeface="楷体_GB2312" pitchFamily="49" charset="-122"/>
              </a:rPr>
              <a:t>语言提供了以下数据类型：</a:t>
            </a:r>
            <a:r>
              <a:rPr lang="zh-CN" altLang="en-US" sz="4400" dirty="0">
                <a:solidFill>
                  <a:srgbClr val="4D4D4D"/>
                </a:solidFill>
              </a:rPr>
              <a:t> </a:t>
            </a:r>
            <a:r>
              <a:rPr lang="zh-CN" altLang="en-US" sz="3200" dirty="0">
                <a:solidFill>
                  <a:srgbClr val="663300"/>
                </a:solidFill>
                <a:latin typeface="楷体_GB2312" pitchFamily="49" charset="-122"/>
                <a:ea typeface="楷体_GB2312" pitchFamily="49" charset="-122"/>
              </a:rPr>
              <a:t>            </a:t>
            </a:r>
            <a:endParaRPr lang="zh-CN" altLang="en-US" sz="2400" dirty="0">
              <a:solidFill>
                <a:srgbClr val="663300"/>
              </a:solidFill>
              <a:latin typeface="楷体_GB2312" pitchFamily="49" charset="-122"/>
              <a:ea typeface="楷体_GB2312" pitchFamily="49" charset="-122"/>
            </a:endParaRPr>
          </a:p>
        </p:txBody>
      </p:sp>
      <p:sp>
        <p:nvSpPr>
          <p:cNvPr id="717828" name="文本框 717827">
            <a:extLst>
              <a:ext uri="{FF2B5EF4-FFF2-40B4-BE49-F238E27FC236}">
                <a16:creationId xmlns:a16="http://schemas.microsoft.com/office/drawing/2014/main" id="{B0B85F3A-532B-4BA8-A172-F255D91A7384}"/>
              </a:ext>
            </a:extLst>
          </p:cNvPr>
          <p:cNvSpPr txBox="1"/>
          <p:nvPr/>
        </p:nvSpPr>
        <p:spPr>
          <a:xfrm>
            <a:off x="293688" y="3833813"/>
            <a:ext cx="1814512" cy="579437"/>
          </a:xfrm>
          <a:prstGeom prst="rect">
            <a:avLst/>
          </a:prstGeom>
          <a:noFill/>
          <a:ln w="9525">
            <a:noFill/>
            <a:miter/>
          </a:ln>
        </p:spPr>
        <p:txBody>
          <a:bodyPr wrap="none">
            <a:spAutoFit/>
          </a:bodyPr>
          <a:lstStyle/>
          <a:p>
            <a:pPr algn="ctr">
              <a:spcBef>
                <a:spcPct val="20000"/>
              </a:spcBef>
              <a:buClr>
                <a:srgbClr val="CC99FF"/>
              </a:buClr>
              <a:buFont typeface="Monotype Sorts" pitchFamily="2" charset="2"/>
              <a:buNone/>
            </a:pPr>
            <a:r>
              <a:rPr lang="zh-CN" altLang="en-US" sz="3200" b="1" noProof="1">
                <a:effectLst>
                  <a:outerShdw blurRad="38100" dist="38100" dir="2700000">
                    <a:srgbClr val="FFFFFF"/>
                  </a:outerShdw>
                </a:effectLst>
                <a:latin typeface="Times New Roman" pitchFamily="18" charset="0"/>
                <a:cs typeface="+mn-ea"/>
              </a:rPr>
              <a:t>数据类型</a:t>
            </a:r>
            <a:endParaRPr lang="zh-CN" altLang="en-US" sz="3200" b="1" noProof="1">
              <a:effectLst>
                <a:outerShdw blurRad="38100" dist="38100" dir="2700000">
                  <a:srgbClr val="FFFFFF"/>
                </a:outerShdw>
              </a:effectLst>
              <a:latin typeface="Times New Roman" pitchFamily="18" charset="0"/>
            </a:endParaRPr>
          </a:p>
        </p:txBody>
      </p:sp>
      <p:sp>
        <p:nvSpPr>
          <p:cNvPr id="717829" name="文本框 717828">
            <a:extLst>
              <a:ext uri="{FF2B5EF4-FFF2-40B4-BE49-F238E27FC236}">
                <a16:creationId xmlns:a16="http://schemas.microsoft.com/office/drawing/2014/main" id="{EEC3D698-8956-44DB-B3F5-320473FC8808}"/>
              </a:ext>
            </a:extLst>
          </p:cNvPr>
          <p:cNvSpPr txBox="1"/>
          <p:nvPr/>
        </p:nvSpPr>
        <p:spPr>
          <a:xfrm>
            <a:off x="2279650" y="3910013"/>
            <a:ext cx="1816100" cy="579437"/>
          </a:xfrm>
          <a:prstGeom prst="rect">
            <a:avLst/>
          </a:prstGeom>
          <a:noFill/>
          <a:ln w="9525">
            <a:noFill/>
            <a:miter/>
          </a:ln>
        </p:spPr>
        <p:txBody>
          <a:bodyPr wrap="none">
            <a:spAutoFit/>
          </a:bodyPr>
          <a:lstStyle/>
          <a:p>
            <a:pPr>
              <a:spcBef>
                <a:spcPct val="20000"/>
              </a:spcBef>
              <a:buClr>
                <a:srgbClr val="CC99FF"/>
              </a:buClr>
              <a:buFont typeface="Monotype Sorts" pitchFamily="2" charset="2"/>
              <a:buNone/>
            </a:pPr>
            <a:r>
              <a:rPr lang="zh-CN" altLang="en-US" sz="3200" b="1" noProof="1">
                <a:effectLst>
                  <a:outerShdw blurRad="38100" dist="38100" dir="2700000">
                    <a:srgbClr val="FFFFFF"/>
                  </a:outerShdw>
                </a:effectLst>
                <a:latin typeface="Times New Roman" pitchFamily="18" charset="0"/>
                <a:cs typeface="+mn-ea"/>
              </a:rPr>
              <a:t>构造类型</a:t>
            </a:r>
            <a:endParaRPr lang="zh-CN" altLang="en-US" sz="3200" b="1" noProof="1">
              <a:effectLst>
                <a:outerShdw blurRad="38100" dist="38100" dir="2700000">
                  <a:srgbClr val="FFFFFF"/>
                </a:outerShdw>
              </a:effectLst>
              <a:latin typeface="Times New Roman" pitchFamily="18" charset="0"/>
            </a:endParaRPr>
          </a:p>
        </p:txBody>
      </p:sp>
      <p:sp>
        <p:nvSpPr>
          <p:cNvPr id="717830" name="文本框 717829">
            <a:extLst>
              <a:ext uri="{FF2B5EF4-FFF2-40B4-BE49-F238E27FC236}">
                <a16:creationId xmlns:a16="http://schemas.microsoft.com/office/drawing/2014/main" id="{61868649-EAC0-491F-A38C-079C70C0EB18}"/>
              </a:ext>
            </a:extLst>
          </p:cNvPr>
          <p:cNvSpPr txBox="1"/>
          <p:nvPr/>
        </p:nvSpPr>
        <p:spPr>
          <a:xfrm>
            <a:off x="2279650" y="4870450"/>
            <a:ext cx="1816100" cy="579438"/>
          </a:xfrm>
          <a:prstGeom prst="rect">
            <a:avLst/>
          </a:prstGeom>
          <a:noFill/>
          <a:ln w="9525">
            <a:noFill/>
            <a:miter/>
          </a:ln>
        </p:spPr>
        <p:txBody>
          <a:bodyPr wrap="none">
            <a:spAutoFit/>
          </a:bodyPr>
          <a:lstStyle/>
          <a:p>
            <a:pPr>
              <a:spcBef>
                <a:spcPct val="20000"/>
              </a:spcBef>
              <a:buClr>
                <a:srgbClr val="CC99FF"/>
              </a:buClr>
              <a:buFont typeface="Monotype Sorts" pitchFamily="2" charset="2"/>
              <a:buNone/>
            </a:pPr>
            <a:r>
              <a:rPr lang="zh-CN" altLang="en-US" sz="3200" b="1" noProof="1">
                <a:effectLst>
                  <a:outerShdw blurRad="38100" dist="38100" dir="2700000">
                    <a:srgbClr val="FFFFFF"/>
                  </a:outerShdw>
                </a:effectLst>
                <a:latin typeface="Times New Roman" pitchFamily="18" charset="0"/>
                <a:cs typeface="+mn-ea"/>
              </a:rPr>
              <a:t>指针类型</a:t>
            </a:r>
            <a:endParaRPr lang="zh-CN" altLang="en-US" sz="3200" b="1" noProof="1">
              <a:effectLst>
                <a:outerShdw blurRad="38100" dist="38100" dir="2700000">
                  <a:srgbClr val="FFFFFF"/>
                </a:outerShdw>
              </a:effectLst>
              <a:latin typeface="Times New Roman" pitchFamily="18" charset="0"/>
            </a:endParaRPr>
          </a:p>
        </p:txBody>
      </p:sp>
      <p:sp>
        <p:nvSpPr>
          <p:cNvPr id="717831" name="文本框 717830">
            <a:extLst>
              <a:ext uri="{FF2B5EF4-FFF2-40B4-BE49-F238E27FC236}">
                <a16:creationId xmlns:a16="http://schemas.microsoft.com/office/drawing/2014/main" id="{E91D53BB-4A9F-4D24-BD4A-132D4D673575}"/>
              </a:ext>
            </a:extLst>
          </p:cNvPr>
          <p:cNvSpPr txBox="1"/>
          <p:nvPr/>
        </p:nvSpPr>
        <p:spPr>
          <a:xfrm>
            <a:off x="2362200" y="5586413"/>
            <a:ext cx="4652236" cy="584775"/>
          </a:xfrm>
          <a:prstGeom prst="rect">
            <a:avLst/>
          </a:prstGeom>
          <a:noFill/>
          <a:ln w="9525">
            <a:noFill/>
            <a:miter/>
          </a:ln>
        </p:spPr>
        <p:txBody>
          <a:bodyPr wrap="none">
            <a:spAutoFit/>
          </a:bodyPr>
          <a:lstStyle/>
          <a:p>
            <a:pPr>
              <a:spcBef>
                <a:spcPct val="20000"/>
              </a:spcBef>
              <a:buClr>
                <a:srgbClr val="CC99FF"/>
              </a:buClr>
              <a:buFont typeface="Monotype Sorts" pitchFamily="2" charset="2"/>
              <a:buNone/>
            </a:pPr>
            <a:r>
              <a:rPr lang="zh-CN" altLang="en-US" sz="3200" b="1" noProof="1">
                <a:effectLst>
                  <a:outerShdw blurRad="38100" dist="38100" dir="2700000">
                    <a:srgbClr val="FFFFFF"/>
                  </a:outerShdw>
                </a:effectLst>
                <a:latin typeface="Times New Roman" pitchFamily="18" charset="0"/>
                <a:cs typeface="+mn-ea"/>
              </a:rPr>
              <a:t>空类型</a:t>
            </a:r>
            <a:r>
              <a:rPr lang="en-US" altLang="zh-CN" sz="3200" b="1" noProof="1">
                <a:effectLst>
                  <a:outerShdw blurRad="38100" dist="38100" dir="2700000">
                    <a:srgbClr val="FFFFFF"/>
                  </a:outerShdw>
                </a:effectLst>
                <a:latin typeface="Times New Roman" pitchFamily="18" charset="0"/>
                <a:cs typeface="+mn-ea"/>
              </a:rPr>
              <a:t>(</a:t>
            </a:r>
            <a:r>
              <a:rPr lang="zh-CN" altLang="en-US" sz="3200" b="1" noProof="1">
                <a:effectLst>
                  <a:outerShdw blurRad="38100" dist="38100" dir="2700000">
                    <a:srgbClr val="FFFFFF"/>
                  </a:outerShdw>
                </a:effectLst>
                <a:latin typeface="宋体" pitchFamily="2" charset="-122"/>
                <a:cs typeface="+mn-ea"/>
              </a:rPr>
              <a:t>无值类型</a:t>
            </a:r>
            <a:r>
              <a:rPr lang="en-US" altLang="zh-CN" sz="3200" b="1" noProof="1">
                <a:effectLst>
                  <a:outerShdw blurRad="38100" dist="38100" dir="2700000">
                    <a:srgbClr val="FFFFFF"/>
                  </a:outerShdw>
                </a:effectLst>
                <a:latin typeface="宋体" pitchFamily="2" charset="-122"/>
                <a:cs typeface="+mn-ea"/>
              </a:rPr>
              <a:t>)</a:t>
            </a:r>
            <a:r>
              <a:rPr lang="zh-CN" altLang="en-US" sz="3200" b="1" noProof="1">
                <a:effectLst>
                  <a:outerShdw blurRad="38100" dist="38100" dir="2700000">
                    <a:srgbClr val="FFFFFF"/>
                  </a:outerShdw>
                </a:effectLst>
                <a:latin typeface="宋体" pitchFamily="2" charset="-122"/>
                <a:cs typeface="+mn-ea"/>
              </a:rPr>
              <a:t>  </a:t>
            </a:r>
            <a:r>
              <a:rPr lang="en-US" altLang="zh-CN" sz="3200" b="1" noProof="1">
                <a:effectLst>
                  <a:outerShdw blurRad="38100" dist="38100" dir="2700000">
                    <a:srgbClr val="FFFFFF"/>
                  </a:outerShdw>
                </a:effectLst>
                <a:latin typeface="宋体" pitchFamily="2" charset="-122"/>
                <a:cs typeface="+mn-ea"/>
              </a:rPr>
              <a:t>void</a:t>
            </a:r>
            <a:endParaRPr lang="en-US" altLang="zh-CN" sz="3200" b="1" noProof="1">
              <a:effectLst>
                <a:outerShdw blurRad="38100" dist="38100" dir="2700000">
                  <a:srgbClr val="FFFFFF"/>
                </a:outerShdw>
              </a:effectLst>
              <a:latin typeface="宋体" pitchFamily="2" charset="-122"/>
            </a:endParaRPr>
          </a:p>
        </p:txBody>
      </p:sp>
      <p:sp>
        <p:nvSpPr>
          <p:cNvPr id="717832" name="左大括号 717831">
            <a:extLst>
              <a:ext uri="{FF2B5EF4-FFF2-40B4-BE49-F238E27FC236}">
                <a16:creationId xmlns:a16="http://schemas.microsoft.com/office/drawing/2014/main" id="{CED9141D-9701-4E1D-A903-89BACCBA830D}"/>
              </a:ext>
            </a:extLst>
          </p:cNvPr>
          <p:cNvSpPr>
            <a:spLocks/>
          </p:cNvSpPr>
          <p:nvPr/>
        </p:nvSpPr>
        <p:spPr bwMode="auto">
          <a:xfrm>
            <a:off x="2057400" y="2414588"/>
            <a:ext cx="381000" cy="3505200"/>
          </a:xfrm>
          <a:prstGeom prst="leftBrace">
            <a:avLst>
              <a:gd name="adj1" fmla="val 76496"/>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a:endParaRPr lang="zh-CN" altLang="en-US">
              <a:latin typeface="Times New Roman" panose="02020603050405020304" pitchFamily="18" charset="0"/>
            </a:endParaRPr>
          </a:p>
        </p:txBody>
      </p:sp>
      <p:grpSp>
        <p:nvGrpSpPr>
          <p:cNvPr id="717833" name="组合 717832">
            <a:extLst>
              <a:ext uri="{FF2B5EF4-FFF2-40B4-BE49-F238E27FC236}">
                <a16:creationId xmlns:a16="http://schemas.microsoft.com/office/drawing/2014/main" id="{7E4C14A9-1D71-464D-95CE-EB2EA9F08D47}"/>
              </a:ext>
            </a:extLst>
          </p:cNvPr>
          <p:cNvGrpSpPr>
            <a:grpSpLocks/>
          </p:cNvGrpSpPr>
          <p:nvPr/>
        </p:nvGrpSpPr>
        <p:grpSpPr bwMode="auto">
          <a:xfrm>
            <a:off x="4038600" y="3252788"/>
            <a:ext cx="2863850" cy="2057400"/>
            <a:chOff x="2544" y="1861"/>
            <a:chExt cx="1804" cy="1296"/>
          </a:xfrm>
        </p:grpSpPr>
        <p:sp>
          <p:nvSpPr>
            <p:cNvPr id="717834" name="文本框 717833">
              <a:extLst>
                <a:ext uri="{FF2B5EF4-FFF2-40B4-BE49-F238E27FC236}">
                  <a16:creationId xmlns:a16="http://schemas.microsoft.com/office/drawing/2014/main" id="{C20E060F-91AA-48B6-BF1E-5CFEC2EF5AFB}"/>
                </a:ext>
              </a:extLst>
            </p:cNvPr>
            <p:cNvSpPr txBox="1"/>
            <p:nvPr/>
          </p:nvSpPr>
          <p:spPr>
            <a:xfrm>
              <a:off x="2684" y="2869"/>
              <a:ext cx="1470" cy="288"/>
            </a:xfrm>
            <a:prstGeom prst="rect">
              <a:avLst/>
            </a:prstGeom>
            <a:noFill/>
            <a:ln w="9525">
              <a:noFill/>
              <a:miter/>
            </a:ln>
          </p:spPr>
          <p:txBody>
            <a:bodyPr wrap="none">
              <a:spAutoFit/>
            </a:bodyPr>
            <a:lstStyle/>
            <a:p>
              <a:pPr>
                <a:spcBef>
                  <a:spcPct val="20000"/>
                </a:spcBef>
                <a:buClr>
                  <a:srgbClr val="CC99FF"/>
                </a:buClr>
                <a:buFont typeface="Monotype Sorts" pitchFamily="2" charset="2"/>
                <a:buNone/>
              </a:pPr>
              <a:r>
                <a:rPr lang="zh-CN" altLang="en-US" sz="2400" b="1" noProof="1">
                  <a:effectLst>
                    <a:outerShdw blurRad="38100" dist="38100" dir="2700000">
                      <a:srgbClr val="FFFFFF"/>
                    </a:outerShdw>
                  </a:effectLst>
                  <a:latin typeface="宋体" pitchFamily="2" charset="-122"/>
                  <a:cs typeface="+mn-ea"/>
                </a:rPr>
                <a:t>枚举类型  </a:t>
              </a:r>
              <a:r>
                <a:rPr lang="en-US" altLang="zh-CN" sz="2400" b="1" noProof="1">
                  <a:effectLst>
                    <a:outerShdw blurRad="38100" dist="38100" dir="2700000">
                      <a:srgbClr val="FFFFFF"/>
                    </a:outerShdw>
                  </a:effectLst>
                  <a:latin typeface="宋体" pitchFamily="2" charset="-122"/>
                  <a:cs typeface="+mn-ea"/>
                </a:rPr>
                <a:t>enum</a:t>
              </a:r>
              <a:endParaRPr lang="en-US" altLang="zh-CN" sz="2400" b="1" noProof="1">
                <a:effectLst>
                  <a:outerShdw blurRad="38100" dist="38100" dir="2700000">
                    <a:srgbClr val="FFFFFF"/>
                  </a:outerShdw>
                </a:effectLst>
                <a:latin typeface="宋体" pitchFamily="2" charset="-122"/>
              </a:endParaRPr>
            </a:p>
          </p:txBody>
        </p:sp>
        <p:sp>
          <p:nvSpPr>
            <p:cNvPr id="717835" name="文本框 717834">
              <a:extLst>
                <a:ext uri="{FF2B5EF4-FFF2-40B4-BE49-F238E27FC236}">
                  <a16:creationId xmlns:a16="http://schemas.microsoft.com/office/drawing/2014/main" id="{EA086A88-6EAD-4090-8129-EAB5B66BD1B4}"/>
                </a:ext>
              </a:extLst>
            </p:cNvPr>
            <p:cNvSpPr txBox="1"/>
            <p:nvPr/>
          </p:nvSpPr>
          <p:spPr>
            <a:xfrm>
              <a:off x="2684" y="1861"/>
              <a:ext cx="888" cy="288"/>
            </a:xfrm>
            <a:prstGeom prst="rect">
              <a:avLst/>
            </a:prstGeom>
            <a:noFill/>
            <a:ln w="9525">
              <a:noFill/>
              <a:miter/>
            </a:ln>
          </p:spPr>
          <p:txBody>
            <a:bodyPr wrap="none">
              <a:spAutoFit/>
            </a:bodyPr>
            <a:lstStyle/>
            <a:p>
              <a:pPr>
                <a:spcBef>
                  <a:spcPct val="20000"/>
                </a:spcBef>
                <a:buClr>
                  <a:srgbClr val="CC99FF"/>
                </a:buClr>
                <a:buFont typeface="Monotype Sorts" pitchFamily="2" charset="2"/>
                <a:buNone/>
              </a:pPr>
              <a:r>
                <a:rPr lang="zh-CN" altLang="en-US" sz="2400" b="1" noProof="1">
                  <a:effectLst>
                    <a:outerShdw blurRad="38100" dist="38100" dir="2700000">
                      <a:srgbClr val="FFFFFF"/>
                    </a:outerShdw>
                  </a:effectLst>
                  <a:latin typeface="Times New Roman" pitchFamily="18" charset="0"/>
                  <a:cs typeface="+mn-ea"/>
                </a:rPr>
                <a:t>数组类型</a:t>
              </a:r>
              <a:endParaRPr lang="zh-CN" altLang="en-US" sz="2400" b="1" noProof="1">
                <a:effectLst>
                  <a:outerShdw blurRad="38100" dist="38100" dir="2700000">
                    <a:srgbClr val="FFFFFF"/>
                  </a:outerShdw>
                </a:effectLst>
                <a:latin typeface="Times New Roman" pitchFamily="18" charset="0"/>
              </a:endParaRPr>
            </a:p>
          </p:txBody>
        </p:sp>
        <p:sp>
          <p:nvSpPr>
            <p:cNvPr id="717836" name="文本框 717835">
              <a:extLst>
                <a:ext uri="{FF2B5EF4-FFF2-40B4-BE49-F238E27FC236}">
                  <a16:creationId xmlns:a16="http://schemas.microsoft.com/office/drawing/2014/main" id="{4FDA020F-8CBC-48BB-B35D-2588993F4F8A}"/>
                </a:ext>
              </a:extLst>
            </p:cNvPr>
            <p:cNvSpPr txBox="1"/>
            <p:nvPr/>
          </p:nvSpPr>
          <p:spPr>
            <a:xfrm>
              <a:off x="2684" y="2197"/>
              <a:ext cx="1664" cy="288"/>
            </a:xfrm>
            <a:prstGeom prst="rect">
              <a:avLst/>
            </a:prstGeom>
            <a:noFill/>
            <a:ln w="9525">
              <a:noFill/>
              <a:miter/>
            </a:ln>
          </p:spPr>
          <p:txBody>
            <a:bodyPr wrap="none">
              <a:spAutoFit/>
            </a:bodyPr>
            <a:lstStyle/>
            <a:p>
              <a:pPr>
                <a:spcBef>
                  <a:spcPct val="20000"/>
                </a:spcBef>
                <a:buClr>
                  <a:srgbClr val="CC99FF"/>
                </a:buClr>
                <a:buFont typeface="Monotype Sorts" pitchFamily="2" charset="2"/>
                <a:buNone/>
              </a:pPr>
              <a:r>
                <a:rPr lang="zh-CN" altLang="en-US" sz="2400" b="1" noProof="1">
                  <a:effectLst>
                    <a:outerShdw blurRad="38100" dist="38100" dir="2700000">
                      <a:srgbClr val="FFFFFF"/>
                    </a:outerShdw>
                  </a:effectLst>
                  <a:latin typeface="宋体" pitchFamily="2" charset="-122"/>
                  <a:cs typeface="+mn-ea"/>
                </a:rPr>
                <a:t>结构类型  </a:t>
              </a:r>
              <a:r>
                <a:rPr lang="en-US" altLang="zh-CN" sz="2400" b="1" noProof="1">
                  <a:effectLst>
                    <a:outerShdw blurRad="38100" dist="38100" dir="2700000">
                      <a:srgbClr val="FFFFFF"/>
                    </a:outerShdw>
                  </a:effectLst>
                  <a:latin typeface="宋体" pitchFamily="2" charset="-122"/>
                  <a:cs typeface="+mn-ea"/>
                </a:rPr>
                <a:t>struct</a:t>
              </a:r>
              <a:endParaRPr lang="en-US" altLang="zh-CN" sz="2400" b="1" noProof="1">
                <a:effectLst>
                  <a:outerShdw blurRad="38100" dist="38100" dir="2700000">
                    <a:srgbClr val="FFFFFF"/>
                  </a:outerShdw>
                </a:effectLst>
                <a:latin typeface="宋体" pitchFamily="2" charset="-122"/>
              </a:endParaRPr>
            </a:p>
          </p:txBody>
        </p:sp>
        <p:sp>
          <p:nvSpPr>
            <p:cNvPr id="717837" name="文本框 717836">
              <a:extLst>
                <a:ext uri="{FF2B5EF4-FFF2-40B4-BE49-F238E27FC236}">
                  <a16:creationId xmlns:a16="http://schemas.microsoft.com/office/drawing/2014/main" id="{3A011A31-F7E0-4731-A799-E8D962C07D1C}"/>
                </a:ext>
              </a:extLst>
            </p:cNvPr>
            <p:cNvSpPr txBox="1"/>
            <p:nvPr/>
          </p:nvSpPr>
          <p:spPr>
            <a:xfrm>
              <a:off x="2686" y="2533"/>
              <a:ext cx="1567" cy="288"/>
            </a:xfrm>
            <a:prstGeom prst="rect">
              <a:avLst/>
            </a:prstGeom>
            <a:noFill/>
            <a:ln w="9525">
              <a:noFill/>
              <a:miter/>
            </a:ln>
          </p:spPr>
          <p:txBody>
            <a:bodyPr wrap="none">
              <a:spAutoFit/>
            </a:bodyPr>
            <a:lstStyle/>
            <a:p>
              <a:pPr>
                <a:spcBef>
                  <a:spcPct val="20000"/>
                </a:spcBef>
                <a:buClr>
                  <a:srgbClr val="CC99FF"/>
                </a:buClr>
                <a:buFont typeface="Monotype Sorts" pitchFamily="2" charset="2"/>
                <a:buNone/>
              </a:pPr>
              <a:r>
                <a:rPr lang="zh-CN" altLang="en-US" sz="2400" b="1" noProof="1">
                  <a:effectLst>
                    <a:outerShdw blurRad="38100" dist="38100" dir="2700000">
                      <a:srgbClr val="FFFFFF"/>
                    </a:outerShdw>
                  </a:effectLst>
                  <a:latin typeface="Times New Roman" pitchFamily="18" charset="0"/>
                  <a:cs typeface="+mn-ea"/>
                </a:rPr>
                <a:t>联合类型</a:t>
              </a:r>
              <a:r>
                <a:rPr lang="zh-CN" altLang="en-US" sz="2400" b="1" noProof="1">
                  <a:effectLst>
                    <a:outerShdw blurRad="38100" dist="38100" dir="2700000">
                      <a:srgbClr val="FFFFFF"/>
                    </a:outerShdw>
                  </a:effectLst>
                  <a:latin typeface="宋体" pitchFamily="2" charset="-122"/>
                  <a:cs typeface="+mn-ea"/>
                </a:rPr>
                <a:t>  </a:t>
              </a:r>
              <a:r>
                <a:rPr lang="en-US" altLang="zh-CN" sz="2400" b="1" noProof="1">
                  <a:effectLst>
                    <a:outerShdw blurRad="38100" dist="38100" dir="2700000">
                      <a:srgbClr val="FFFFFF"/>
                    </a:outerShdw>
                  </a:effectLst>
                  <a:latin typeface="宋体" pitchFamily="2" charset="-122"/>
                  <a:cs typeface="+mn-ea"/>
                </a:rPr>
                <a:t>union</a:t>
              </a:r>
              <a:endParaRPr lang="en-US" altLang="zh-CN" sz="2400" b="1" noProof="1">
                <a:effectLst>
                  <a:outerShdw blurRad="38100" dist="38100" dir="2700000">
                    <a:srgbClr val="FFFFFF"/>
                  </a:outerShdw>
                </a:effectLst>
                <a:latin typeface="宋体" pitchFamily="2" charset="-122"/>
              </a:endParaRPr>
            </a:p>
          </p:txBody>
        </p:sp>
        <p:sp>
          <p:nvSpPr>
            <p:cNvPr id="20493" name="左大括号 717837">
              <a:extLst>
                <a:ext uri="{FF2B5EF4-FFF2-40B4-BE49-F238E27FC236}">
                  <a16:creationId xmlns:a16="http://schemas.microsoft.com/office/drawing/2014/main" id="{5FF49088-6104-440C-B12F-05322434318C}"/>
                </a:ext>
              </a:extLst>
            </p:cNvPr>
            <p:cNvSpPr>
              <a:spLocks/>
            </p:cNvSpPr>
            <p:nvPr/>
          </p:nvSpPr>
          <p:spPr bwMode="auto">
            <a:xfrm>
              <a:off x="2544" y="2016"/>
              <a:ext cx="192" cy="960"/>
            </a:xfrm>
            <a:prstGeom prst="leftBrace">
              <a:avLst>
                <a:gd name="adj1" fmla="val 41574"/>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a:endParaRPr lang="zh-CN" altLang="en-US">
                <a:latin typeface="Times New Roman" panose="02020603050405020304" pitchFamily="18" charset="0"/>
              </a:endParaRPr>
            </a:p>
          </p:txBody>
        </p:sp>
      </p:grpSp>
      <p:grpSp>
        <p:nvGrpSpPr>
          <p:cNvPr id="717839" name="组合 717838">
            <a:extLst>
              <a:ext uri="{FF2B5EF4-FFF2-40B4-BE49-F238E27FC236}">
                <a16:creationId xmlns:a16="http://schemas.microsoft.com/office/drawing/2014/main" id="{C188833D-1374-4502-B7D9-1E066AC06EBF}"/>
              </a:ext>
            </a:extLst>
          </p:cNvPr>
          <p:cNvGrpSpPr>
            <a:grpSpLocks/>
          </p:cNvGrpSpPr>
          <p:nvPr/>
        </p:nvGrpSpPr>
        <p:grpSpPr bwMode="auto">
          <a:xfrm>
            <a:off x="2308225" y="1652588"/>
            <a:ext cx="3984625" cy="1528763"/>
            <a:chOff x="1454" y="853"/>
            <a:chExt cx="2510" cy="963"/>
          </a:xfrm>
        </p:grpSpPr>
        <p:sp>
          <p:nvSpPr>
            <p:cNvPr id="717840" name="文本框 717839">
              <a:extLst>
                <a:ext uri="{FF2B5EF4-FFF2-40B4-BE49-F238E27FC236}">
                  <a16:creationId xmlns:a16="http://schemas.microsoft.com/office/drawing/2014/main" id="{144DDDA4-8183-4519-846E-E17FFC2B6563}"/>
                </a:ext>
              </a:extLst>
            </p:cNvPr>
            <p:cNvSpPr txBox="1"/>
            <p:nvPr/>
          </p:nvSpPr>
          <p:spPr>
            <a:xfrm>
              <a:off x="1454" y="1123"/>
              <a:ext cx="1144" cy="365"/>
            </a:xfrm>
            <a:prstGeom prst="rect">
              <a:avLst/>
            </a:prstGeom>
            <a:noFill/>
            <a:ln w="9525">
              <a:noFill/>
              <a:miter/>
            </a:ln>
          </p:spPr>
          <p:txBody>
            <a:bodyPr wrap="none">
              <a:spAutoFit/>
            </a:bodyPr>
            <a:lstStyle/>
            <a:p>
              <a:pPr>
                <a:spcBef>
                  <a:spcPct val="20000"/>
                </a:spcBef>
                <a:buClr>
                  <a:srgbClr val="CC99FF"/>
                </a:buClr>
                <a:buFont typeface="Monotype Sorts" pitchFamily="2" charset="2"/>
                <a:buNone/>
              </a:pPr>
              <a:r>
                <a:rPr lang="zh-CN" altLang="en-US" sz="3200" b="1" noProof="1">
                  <a:effectLst>
                    <a:outerShdw blurRad="38100" dist="38100" dir="2700000">
                      <a:srgbClr val="FFFFFF"/>
                    </a:outerShdw>
                  </a:effectLst>
                  <a:latin typeface="Times New Roman" pitchFamily="18" charset="0"/>
                  <a:cs typeface="+mn-ea"/>
                </a:rPr>
                <a:t>基本类型</a:t>
              </a:r>
              <a:endParaRPr lang="zh-CN" altLang="en-US" sz="3200" b="1" noProof="1">
                <a:effectLst>
                  <a:outerShdw blurRad="38100" dist="38100" dir="2700000">
                    <a:srgbClr val="FFFFFF"/>
                  </a:outerShdw>
                </a:effectLst>
                <a:latin typeface="Times New Roman" pitchFamily="18" charset="0"/>
              </a:endParaRPr>
            </a:p>
          </p:txBody>
        </p:sp>
        <p:sp>
          <p:nvSpPr>
            <p:cNvPr id="717841" name="文本框 717840">
              <a:extLst>
                <a:ext uri="{FF2B5EF4-FFF2-40B4-BE49-F238E27FC236}">
                  <a16:creationId xmlns:a16="http://schemas.microsoft.com/office/drawing/2014/main" id="{A4466974-B3FA-4DD7-AD4C-ED8AE5A820E5}"/>
                </a:ext>
              </a:extLst>
            </p:cNvPr>
            <p:cNvSpPr txBox="1"/>
            <p:nvPr/>
          </p:nvSpPr>
          <p:spPr>
            <a:xfrm>
              <a:off x="2686" y="853"/>
              <a:ext cx="1181" cy="288"/>
            </a:xfrm>
            <a:prstGeom prst="rect">
              <a:avLst/>
            </a:prstGeom>
            <a:noFill/>
            <a:ln w="9525">
              <a:noFill/>
              <a:miter/>
            </a:ln>
          </p:spPr>
          <p:txBody>
            <a:bodyPr wrap="none">
              <a:spAutoFit/>
            </a:bodyPr>
            <a:lstStyle/>
            <a:p>
              <a:pPr>
                <a:spcBef>
                  <a:spcPct val="20000"/>
                </a:spcBef>
                <a:buClr>
                  <a:srgbClr val="CC99FF"/>
                </a:buClr>
                <a:buFont typeface="Monotype Sorts" pitchFamily="2" charset="2"/>
                <a:buNone/>
              </a:pPr>
              <a:r>
                <a:rPr lang="zh-CN" altLang="en-US" sz="2400" b="1" noProof="1">
                  <a:effectLst>
                    <a:outerShdw blurRad="38100" dist="38100" dir="2700000">
                      <a:srgbClr val="FFFFFF"/>
                    </a:outerShdw>
                  </a:effectLst>
                  <a:latin typeface="宋体" pitchFamily="2" charset="-122"/>
                  <a:cs typeface="+mn-ea"/>
                </a:rPr>
                <a:t>整型    </a:t>
              </a:r>
              <a:r>
                <a:rPr lang="en-US" altLang="zh-CN" sz="2400" b="1" noProof="1">
                  <a:effectLst>
                    <a:outerShdw blurRad="38100" dist="38100" dir="2700000">
                      <a:srgbClr val="FFFFFF"/>
                    </a:outerShdw>
                  </a:effectLst>
                  <a:latin typeface="宋体" pitchFamily="2" charset="-122"/>
                  <a:cs typeface="+mn-ea"/>
                </a:rPr>
                <a:t>int</a:t>
              </a:r>
              <a:endParaRPr lang="en-US" altLang="zh-CN" sz="2400" b="1" noProof="1">
                <a:effectLst>
                  <a:outerShdw blurRad="38100" dist="38100" dir="2700000">
                    <a:srgbClr val="FFFFFF"/>
                  </a:outerShdw>
                </a:effectLst>
                <a:latin typeface="宋体" pitchFamily="2" charset="-122"/>
              </a:endParaRPr>
            </a:p>
          </p:txBody>
        </p:sp>
        <p:sp>
          <p:nvSpPr>
            <p:cNvPr id="717842" name="文本框 717841">
              <a:extLst>
                <a:ext uri="{FF2B5EF4-FFF2-40B4-BE49-F238E27FC236}">
                  <a16:creationId xmlns:a16="http://schemas.microsoft.com/office/drawing/2014/main" id="{F49E3144-5AB3-4CEB-A1DD-DA603A45876D}"/>
                </a:ext>
              </a:extLst>
            </p:cNvPr>
            <p:cNvSpPr txBox="1"/>
            <p:nvPr/>
          </p:nvSpPr>
          <p:spPr>
            <a:xfrm>
              <a:off x="2687" y="1189"/>
              <a:ext cx="1277" cy="288"/>
            </a:xfrm>
            <a:prstGeom prst="rect">
              <a:avLst/>
            </a:prstGeom>
            <a:noFill/>
            <a:ln w="9525">
              <a:noFill/>
              <a:miter/>
            </a:ln>
          </p:spPr>
          <p:txBody>
            <a:bodyPr wrap="none">
              <a:spAutoFit/>
            </a:bodyPr>
            <a:lstStyle/>
            <a:p>
              <a:pPr>
                <a:spcBef>
                  <a:spcPct val="20000"/>
                </a:spcBef>
                <a:buClr>
                  <a:srgbClr val="CC99FF"/>
                </a:buClr>
                <a:buFont typeface="Monotype Sorts" pitchFamily="2" charset="2"/>
                <a:buNone/>
              </a:pPr>
              <a:r>
                <a:rPr lang="zh-CN" altLang="en-US" sz="2400" b="1" noProof="1">
                  <a:effectLst>
                    <a:outerShdw blurRad="38100" dist="38100" dir="2700000">
                      <a:srgbClr val="FFFFFF"/>
                    </a:outerShdw>
                  </a:effectLst>
                  <a:latin typeface="宋体" pitchFamily="2" charset="-122"/>
                  <a:cs typeface="+mn-ea"/>
                </a:rPr>
                <a:t>字符型  </a:t>
              </a:r>
              <a:r>
                <a:rPr lang="en-US" altLang="zh-CN" sz="2400" b="1" noProof="1">
                  <a:effectLst>
                    <a:outerShdw blurRad="38100" dist="38100" dir="2700000">
                      <a:srgbClr val="FFFFFF"/>
                    </a:outerShdw>
                  </a:effectLst>
                  <a:latin typeface="宋体" pitchFamily="2" charset="-122"/>
                  <a:cs typeface="+mn-ea"/>
                </a:rPr>
                <a:t>char</a:t>
              </a:r>
              <a:endParaRPr lang="en-US" altLang="zh-CN" sz="2400" b="1" noProof="1">
                <a:effectLst>
                  <a:outerShdw blurRad="38100" dist="38100" dir="2700000">
                    <a:srgbClr val="FFFFFF"/>
                  </a:outerShdw>
                </a:effectLst>
                <a:latin typeface="宋体" pitchFamily="2" charset="-122"/>
              </a:endParaRPr>
            </a:p>
          </p:txBody>
        </p:sp>
        <p:sp>
          <p:nvSpPr>
            <p:cNvPr id="717843" name="文本框 717842">
              <a:extLst>
                <a:ext uri="{FF2B5EF4-FFF2-40B4-BE49-F238E27FC236}">
                  <a16:creationId xmlns:a16="http://schemas.microsoft.com/office/drawing/2014/main" id="{B18B2638-1030-4695-84E3-4F2A162E4FDE}"/>
                </a:ext>
              </a:extLst>
            </p:cNvPr>
            <p:cNvSpPr txBox="1"/>
            <p:nvPr/>
          </p:nvSpPr>
          <p:spPr>
            <a:xfrm>
              <a:off x="2681" y="1525"/>
              <a:ext cx="1220" cy="291"/>
            </a:xfrm>
            <a:prstGeom prst="rect">
              <a:avLst/>
            </a:prstGeom>
            <a:noFill/>
            <a:ln w="9525">
              <a:noFill/>
              <a:miter/>
            </a:ln>
          </p:spPr>
          <p:txBody>
            <a:bodyPr wrap="none">
              <a:spAutoFit/>
            </a:bodyPr>
            <a:lstStyle/>
            <a:p>
              <a:pPr>
                <a:spcBef>
                  <a:spcPct val="20000"/>
                </a:spcBef>
                <a:buClr>
                  <a:srgbClr val="CC99FF"/>
                </a:buClr>
                <a:buFont typeface="Monotype Sorts" pitchFamily="2" charset="2"/>
                <a:buNone/>
              </a:pPr>
              <a:r>
                <a:rPr lang="zh-CN" altLang="en-US" sz="2400" b="1" noProof="1">
                  <a:effectLst>
                    <a:outerShdw blurRad="38100" dist="38100" dir="2700000">
                      <a:srgbClr val="FFFFFF"/>
                    </a:outerShdw>
                  </a:effectLst>
                  <a:latin typeface="Times New Roman" pitchFamily="18" charset="0"/>
                  <a:cs typeface="+mn-ea"/>
                </a:rPr>
                <a:t>实型</a:t>
              </a:r>
              <a:r>
                <a:rPr lang="en-US" altLang="zh-CN" sz="2400" b="1" noProof="1">
                  <a:effectLst>
                    <a:outerShdw blurRad="38100" dist="38100" dir="2700000">
                      <a:srgbClr val="FFFFFF"/>
                    </a:outerShdw>
                  </a:effectLst>
                  <a:latin typeface="Times New Roman" pitchFamily="18" charset="0"/>
                  <a:cs typeface="+mn-ea"/>
                </a:rPr>
                <a:t>(</a:t>
              </a:r>
              <a:r>
                <a:rPr lang="zh-CN" altLang="en-US" sz="2400" b="1" noProof="1">
                  <a:effectLst>
                    <a:outerShdw blurRad="38100" dist="38100" dir="2700000">
                      <a:srgbClr val="FFFFFF"/>
                    </a:outerShdw>
                  </a:effectLst>
                  <a:latin typeface="Times New Roman" pitchFamily="18" charset="0"/>
                  <a:cs typeface="+mn-ea"/>
                </a:rPr>
                <a:t>浮点型</a:t>
              </a:r>
              <a:r>
                <a:rPr lang="en-US" altLang="zh-CN" sz="2400" b="1" noProof="1">
                  <a:effectLst>
                    <a:outerShdw blurRad="38100" dist="38100" dir="2700000">
                      <a:srgbClr val="FFFFFF"/>
                    </a:outerShdw>
                  </a:effectLst>
                  <a:latin typeface="Times New Roman" pitchFamily="18" charset="0"/>
                  <a:cs typeface="+mn-ea"/>
                </a:rPr>
                <a:t>)</a:t>
              </a:r>
              <a:endParaRPr lang="zh-CN" altLang="en-US" sz="2400" b="1" noProof="1">
                <a:effectLst>
                  <a:outerShdw blurRad="38100" dist="38100" dir="2700000">
                    <a:srgbClr val="FFFFFF"/>
                  </a:outerShdw>
                </a:effectLst>
                <a:latin typeface="Times New Roman" pitchFamily="18" charset="0"/>
              </a:endParaRPr>
            </a:p>
          </p:txBody>
        </p:sp>
        <p:sp>
          <p:nvSpPr>
            <p:cNvPr id="20499" name="左大括号 717843">
              <a:extLst>
                <a:ext uri="{FF2B5EF4-FFF2-40B4-BE49-F238E27FC236}">
                  <a16:creationId xmlns:a16="http://schemas.microsoft.com/office/drawing/2014/main" id="{8C6BE989-AF89-4908-AA55-71B2563E55B3}"/>
                </a:ext>
              </a:extLst>
            </p:cNvPr>
            <p:cNvSpPr>
              <a:spLocks/>
            </p:cNvSpPr>
            <p:nvPr/>
          </p:nvSpPr>
          <p:spPr bwMode="auto">
            <a:xfrm>
              <a:off x="2544" y="960"/>
              <a:ext cx="192" cy="720"/>
            </a:xfrm>
            <a:prstGeom prst="leftBrace">
              <a:avLst>
                <a:gd name="adj1" fmla="val 31250"/>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a:endParaRPr lang="zh-CN" altLang="en-US">
                <a:latin typeface="Times New Roman" panose="02020603050405020304" pitchFamily="18" charset="0"/>
              </a:endParaRPr>
            </a:p>
          </p:txBody>
        </p:sp>
      </p:grpSp>
      <p:grpSp>
        <p:nvGrpSpPr>
          <p:cNvPr id="717845" name="组合 717844">
            <a:extLst>
              <a:ext uri="{FF2B5EF4-FFF2-40B4-BE49-F238E27FC236}">
                <a16:creationId xmlns:a16="http://schemas.microsoft.com/office/drawing/2014/main" id="{7DD616EE-8A8A-4275-919E-96EF14F7F0F8}"/>
              </a:ext>
            </a:extLst>
          </p:cNvPr>
          <p:cNvGrpSpPr>
            <a:grpSpLocks/>
          </p:cNvGrpSpPr>
          <p:nvPr/>
        </p:nvGrpSpPr>
        <p:grpSpPr bwMode="auto">
          <a:xfrm>
            <a:off x="6477000" y="2235200"/>
            <a:ext cx="2036763" cy="1703388"/>
            <a:chOff x="4080" y="1220"/>
            <a:chExt cx="1283" cy="1073"/>
          </a:xfrm>
        </p:grpSpPr>
        <p:sp>
          <p:nvSpPr>
            <p:cNvPr id="717846" name="文本框 717845">
              <a:extLst>
                <a:ext uri="{FF2B5EF4-FFF2-40B4-BE49-F238E27FC236}">
                  <a16:creationId xmlns:a16="http://schemas.microsoft.com/office/drawing/2014/main" id="{B4949CFE-8EA3-410C-A1B0-F4B18A3A6C9B}"/>
                </a:ext>
              </a:extLst>
            </p:cNvPr>
            <p:cNvSpPr txBox="1"/>
            <p:nvPr/>
          </p:nvSpPr>
          <p:spPr>
            <a:xfrm>
              <a:off x="4267" y="1220"/>
              <a:ext cx="1096" cy="454"/>
            </a:xfrm>
            <a:prstGeom prst="rect">
              <a:avLst/>
            </a:prstGeom>
            <a:noFill/>
            <a:ln w="9525">
              <a:noFill/>
              <a:miter/>
            </a:ln>
          </p:spPr>
          <p:txBody>
            <a:bodyPr wrap="none">
              <a:spAutoFit/>
            </a:bodyPr>
            <a:lstStyle/>
            <a:p>
              <a:pPr>
                <a:lnSpc>
                  <a:spcPct val="90000"/>
                </a:lnSpc>
                <a:buClr>
                  <a:srgbClr val="CC99FF"/>
                </a:buClr>
                <a:buFont typeface="Monotype Sorts" pitchFamily="2" charset="2"/>
                <a:buNone/>
              </a:pPr>
              <a:r>
                <a:rPr lang="zh-CN" altLang="en-US" sz="2400" b="1" noProof="1">
                  <a:effectLst>
                    <a:outerShdw blurRad="38100" dist="38100" dir="2700000">
                      <a:srgbClr val="FFFFFF"/>
                    </a:outerShdw>
                  </a:effectLst>
                  <a:latin typeface="宋体" pitchFamily="2" charset="-122"/>
                  <a:cs typeface="+mn-ea"/>
                </a:rPr>
                <a:t>单精度实型</a:t>
              </a:r>
              <a:endParaRPr lang="zh-CN" altLang="en-US" sz="2400" b="1" noProof="1">
                <a:effectLst>
                  <a:outerShdw blurRad="38100" dist="38100" dir="2700000">
                    <a:srgbClr val="FFFFFF"/>
                  </a:outerShdw>
                </a:effectLst>
                <a:latin typeface="宋体" pitchFamily="2" charset="-122"/>
              </a:endParaRPr>
            </a:p>
            <a:p>
              <a:pPr>
                <a:lnSpc>
                  <a:spcPct val="80000"/>
                </a:lnSpc>
                <a:buClr>
                  <a:srgbClr val="CC99FF"/>
                </a:buClr>
                <a:buFont typeface="Monotype Sorts" pitchFamily="2" charset="2"/>
                <a:buNone/>
              </a:pPr>
              <a:r>
                <a:rPr lang="zh-CN" altLang="en-US" sz="2400" b="1" noProof="1">
                  <a:effectLst>
                    <a:outerShdw blurRad="38100" dist="38100" dir="2700000">
                      <a:srgbClr val="FFFFFF"/>
                    </a:outerShdw>
                  </a:effectLst>
                  <a:latin typeface="宋体" pitchFamily="2" charset="-122"/>
                  <a:cs typeface="+mn-ea"/>
                </a:rPr>
                <a:t>     </a:t>
              </a:r>
              <a:r>
                <a:rPr lang="en-US" altLang="zh-CN" sz="2400" b="1" noProof="1">
                  <a:effectLst>
                    <a:outerShdw blurRad="38100" dist="38100" dir="2700000">
                      <a:srgbClr val="FFFFFF"/>
                    </a:outerShdw>
                  </a:effectLst>
                  <a:latin typeface="宋体" pitchFamily="2" charset="-122"/>
                  <a:cs typeface="+mn-ea"/>
                </a:rPr>
                <a:t>float</a:t>
              </a:r>
              <a:endParaRPr lang="en-US" altLang="zh-CN" sz="2400" b="1" noProof="1">
                <a:effectLst>
                  <a:outerShdw blurRad="38100" dist="38100" dir="2700000">
                    <a:srgbClr val="FFFFFF"/>
                  </a:outerShdw>
                </a:effectLst>
                <a:latin typeface="宋体" pitchFamily="2" charset="-122"/>
              </a:endParaRPr>
            </a:p>
          </p:txBody>
        </p:sp>
        <p:sp>
          <p:nvSpPr>
            <p:cNvPr id="717847" name="文本框 717846">
              <a:extLst>
                <a:ext uri="{FF2B5EF4-FFF2-40B4-BE49-F238E27FC236}">
                  <a16:creationId xmlns:a16="http://schemas.microsoft.com/office/drawing/2014/main" id="{E84D9E9C-E82F-4085-BE07-425EB0382A7D}"/>
                </a:ext>
              </a:extLst>
            </p:cNvPr>
            <p:cNvSpPr txBox="1"/>
            <p:nvPr/>
          </p:nvSpPr>
          <p:spPr>
            <a:xfrm>
              <a:off x="4267" y="1844"/>
              <a:ext cx="1081" cy="449"/>
            </a:xfrm>
            <a:prstGeom prst="rect">
              <a:avLst/>
            </a:prstGeom>
            <a:noFill/>
            <a:ln w="9525">
              <a:noFill/>
              <a:miter/>
            </a:ln>
          </p:spPr>
          <p:txBody>
            <a:bodyPr wrap="none">
              <a:spAutoFit/>
            </a:bodyPr>
            <a:lstStyle/>
            <a:p>
              <a:pPr>
                <a:lnSpc>
                  <a:spcPct val="90000"/>
                </a:lnSpc>
                <a:buClr>
                  <a:srgbClr val="CC99FF"/>
                </a:buClr>
                <a:buFont typeface="Monotype Sorts" pitchFamily="2" charset="2"/>
                <a:buNone/>
              </a:pPr>
              <a:r>
                <a:rPr lang="zh-CN" altLang="en-US" sz="2400" b="1" noProof="1">
                  <a:effectLst>
                    <a:outerShdw blurRad="38100" dist="38100" dir="2700000">
                      <a:srgbClr val="FFFFFF"/>
                    </a:outerShdw>
                  </a:effectLst>
                  <a:latin typeface="Times New Roman" pitchFamily="18" charset="0"/>
                  <a:cs typeface="+mn-ea"/>
                </a:rPr>
                <a:t>双精度实型</a:t>
              </a:r>
              <a:endParaRPr lang="zh-CN" altLang="en-US" sz="2400" b="1" noProof="1">
                <a:effectLst>
                  <a:outerShdw blurRad="38100" dist="38100" dir="2700000">
                    <a:srgbClr val="FFFFFF"/>
                  </a:outerShdw>
                </a:effectLst>
                <a:latin typeface="Times New Roman" pitchFamily="18" charset="0"/>
              </a:endParaRPr>
            </a:p>
            <a:p>
              <a:pPr>
                <a:lnSpc>
                  <a:spcPct val="80000"/>
                </a:lnSpc>
                <a:buClr>
                  <a:srgbClr val="CC99FF"/>
                </a:buClr>
                <a:buFont typeface="Monotype Sorts" pitchFamily="2" charset="2"/>
                <a:buNone/>
              </a:pPr>
              <a:r>
                <a:rPr lang="zh-CN" altLang="zh-CN" sz="2400" b="1" noProof="1">
                  <a:effectLst>
                    <a:outerShdw blurRad="38100" dist="38100" dir="2700000">
                      <a:srgbClr val="FFFFFF"/>
                    </a:outerShdw>
                  </a:effectLst>
                  <a:latin typeface="Times New Roman" pitchFamily="18" charset="0"/>
                  <a:cs typeface="+mn-ea"/>
                </a:rPr>
                <a:t>        </a:t>
              </a:r>
              <a:r>
                <a:rPr lang="en-US" altLang="zh-CN" sz="2400" b="1" noProof="1">
                  <a:effectLst>
                    <a:outerShdw blurRad="38100" dist="38100" dir="2700000">
                      <a:srgbClr val="FFFFFF"/>
                    </a:outerShdw>
                  </a:effectLst>
                  <a:latin typeface="Times New Roman" pitchFamily="18" charset="0"/>
                  <a:cs typeface="+mn-ea"/>
                </a:rPr>
                <a:t>double</a:t>
              </a:r>
              <a:endParaRPr lang="en-US" altLang="zh-CN" sz="2400" b="1" noProof="1">
                <a:effectLst>
                  <a:outerShdw blurRad="38100" dist="38100" dir="2700000">
                    <a:srgbClr val="FFFFFF"/>
                  </a:outerShdw>
                </a:effectLst>
                <a:latin typeface="Times New Roman" pitchFamily="18" charset="0"/>
              </a:endParaRPr>
            </a:p>
          </p:txBody>
        </p:sp>
        <p:sp>
          <p:nvSpPr>
            <p:cNvPr id="20503" name="左大括号 717847">
              <a:extLst>
                <a:ext uri="{FF2B5EF4-FFF2-40B4-BE49-F238E27FC236}">
                  <a16:creationId xmlns:a16="http://schemas.microsoft.com/office/drawing/2014/main" id="{F446F554-955F-42C4-8DA0-736B2805221A}"/>
                </a:ext>
              </a:extLst>
            </p:cNvPr>
            <p:cNvSpPr>
              <a:spLocks/>
            </p:cNvSpPr>
            <p:nvPr/>
          </p:nvSpPr>
          <p:spPr bwMode="auto">
            <a:xfrm>
              <a:off x="4080" y="1333"/>
              <a:ext cx="192" cy="672"/>
            </a:xfrm>
            <a:prstGeom prst="leftBrace">
              <a:avLst>
                <a:gd name="adj1" fmla="val 21146"/>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algn="ctr"/>
              <a:endParaRPr lang="zh-CN" altLang="en-US">
                <a:latin typeface="Times New Roman" panose="02020603050405020304" pitchFamily="18" charset="0"/>
              </a:endParaRPr>
            </a:p>
          </p:txBody>
        </p:sp>
      </p:grpSp>
    </p:spTree>
  </p:cSld>
  <p:clrMapOvr>
    <a:masterClrMapping/>
  </p:clrMapOvr>
  <p:transition advClick="0">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7827"/>
                                        </p:tgtEl>
                                        <p:attrNameLst>
                                          <p:attrName>style.visibility</p:attrName>
                                        </p:attrNameLst>
                                      </p:cBhvr>
                                      <p:to>
                                        <p:strVal val="visible"/>
                                      </p:to>
                                    </p:set>
                                    <p:animEffect transition="in" filter="wipe(left)">
                                      <p:cBhvr>
                                        <p:cTn id="7" dur="1000"/>
                                        <p:tgtEl>
                                          <p:spTgt spid="7178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717828">
                                            <p:txEl>
                                              <p:pRg st="0" end="0"/>
                                            </p:txEl>
                                          </p:spTgt>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42" fill="hold" nodeType="clickEffect">
                                  <p:stCondLst>
                                    <p:cond delay="0"/>
                                  </p:stCondLst>
                                  <p:childTnLst>
                                    <p:set>
                                      <p:cBhvr>
                                        <p:cTn id="15" dur="1" fill="hold">
                                          <p:stCondLst>
                                            <p:cond delay="0"/>
                                          </p:stCondLst>
                                        </p:cTn>
                                        <p:tgtEl>
                                          <p:spTgt spid="717832"/>
                                        </p:tgtEl>
                                        <p:attrNameLst>
                                          <p:attrName>style.visibility</p:attrName>
                                        </p:attrNameLst>
                                      </p:cBhvr>
                                      <p:to>
                                        <p:strVal val="visible"/>
                                      </p:to>
                                    </p:set>
                                    <p:animEffect transition="in" filter="barn(outHorizontal)">
                                      <p:cBhvr>
                                        <p:cTn id="16" dur="500"/>
                                        <p:tgtEl>
                                          <p:spTgt spid="71783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717839"/>
                                        </p:tgtEl>
                                        <p:attrNameLst>
                                          <p:attrName>style.visibility</p:attrName>
                                        </p:attrNameLst>
                                      </p:cBhvr>
                                      <p:to>
                                        <p:strVal val="visible"/>
                                      </p:to>
                                    </p:set>
                                    <p:animEffect transition="in" filter="wipe(left)">
                                      <p:cBhvr>
                                        <p:cTn id="21" dur="500"/>
                                        <p:tgtEl>
                                          <p:spTgt spid="71783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7" presetClass="entr" presetSubtype="8" fill="hold" nodeType="clickEffect">
                                  <p:stCondLst>
                                    <p:cond delay="0"/>
                                  </p:stCondLst>
                                  <p:childTnLst>
                                    <p:set>
                                      <p:cBhvr>
                                        <p:cTn id="25" dur="1" fill="hold">
                                          <p:stCondLst>
                                            <p:cond delay="0"/>
                                          </p:stCondLst>
                                        </p:cTn>
                                        <p:tgtEl>
                                          <p:spTgt spid="717845"/>
                                        </p:tgtEl>
                                        <p:attrNameLst>
                                          <p:attrName>style.visibility</p:attrName>
                                        </p:attrNameLst>
                                      </p:cBhvr>
                                      <p:to>
                                        <p:strVal val="visible"/>
                                      </p:to>
                                    </p:set>
                                    <p:anim calcmode="lin" valueType="num">
                                      <p:cBhvr>
                                        <p:cTn id="26" dur="500" fill="hold"/>
                                        <p:tgtEl>
                                          <p:spTgt spid="717845"/>
                                        </p:tgtEl>
                                        <p:attrNameLst>
                                          <p:attrName>ppt_x</p:attrName>
                                        </p:attrNameLst>
                                      </p:cBhvr>
                                      <p:tavLst>
                                        <p:tav tm="0">
                                          <p:val>
                                            <p:strVal val="#ppt_x-#ppt_w/2"/>
                                          </p:val>
                                        </p:tav>
                                        <p:tav tm="100000">
                                          <p:val>
                                            <p:strVal val="#ppt_x"/>
                                          </p:val>
                                        </p:tav>
                                      </p:tavLst>
                                    </p:anim>
                                    <p:anim calcmode="lin" valueType="num">
                                      <p:cBhvr>
                                        <p:cTn id="27" dur="500" fill="hold"/>
                                        <p:tgtEl>
                                          <p:spTgt spid="717845"/>
                                        </p:tgtEl>
                                        <p:attrNameLst>
                                          <p:attrName>ppt_y</p:attrName>
                                        </p:attrNameLst>
                                      </p:cBhvr>
                                      <p:tavLst>
                                        <p:tav tm="0">
                                          <p:val>
                                            <p:strVal val="#ppt_y"/>
                                          </p:val>
                                        </p:tav>
                                        <p:tav tm="100000">
                                          <p:val>
                                            <p:strVal val="#ppt_y"/>
                                          </p:val>
                                        </p:tav>
                                      </p:tavLst>
                                    </p:anim>
                                    <p:anim calcmode="lin" valueType="num">
                                      <p:cBhvr>
                                        <p:cTn id="28" dur="500" fill="hold"/>
                                        <p:tgtEl>
                                          <p:spTgt spid="717845"/>
                                        </p:tgtEl>
                                        <p:attrNameLst>
                                          <p:attrName>ppt_w</p:attrName>
                                        </p:attrNameLst>
                                      </p:cBhvr>
                                      <p:tavLst>
                                        <p:tav tm="0">
                                          <p:val>
                                            <p:fltVal val="0"/>
                                          </p:val>
                                        </p:tav>
                                        <p:tav tm="100000">
                                          <p:val>
                                            <p:strVal val="#ppt_w"/>
                                          </p:val>
                                        </p:tav>
                                      </p:tavLst>
                                    </p:anim>
                                    <p:anim calcmode="lin" valueType="num">
                                      <p:cBhvr>
                                        <p:cTn id="29" dur="500" fill="hold"/>
                                        <p:tgtEl>
                                          <p:spTgt spid="717845"/>
                                        </p:tgtEl>
                                        <p:attrNameLst>
                                          <p:attrName>ppt_h</p:attrName>
                                        </p:attrNameLst>
                                      </p:cBhvr>
                                      <p:tavLst>
                                        <p:tav tm="0">
                                          <p:val>
                                            <p:strVal val="#ppt_h"/>
                                          </p:val>
                                        </p:tav>
                                        <p:tav tm="100000">
                                          <p:val>
                                            <p:strVal val="#ppt_h"/>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717829">
                                            <p:txEl>
                                              <p:pRg st="0" end="0"/>
                                            </p:txEl>
                                          </p:spTgt>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717833"/>
                                        </p:tgtEl>
                                        <p:attrNameLst>
                                          <p:attrName>style.visibility</p:attrName>
                                        </p:attrNameLst>
                                      </p:cBhvr>
                                      <p:to>
                                        <p:strVal val="visible"/>
                                      </p:to>
                                    </p:set>
                                    <p:animEffect transition="in" filter="wipe(left)">
                                      <p:cBhvr>
                                        <p:cTn id="38" dur="500"/>
                                        <p:tgtEl>
                                          <p:spTgt spid="71783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8" presetClass="entr" presetSubtype="3" fill="hold" grpId="0" nodeType="clickEffect">
                                  <p:stCondLst>
                                    <p:cond delay="0"/>
                                  </p:stCondLst>
                                  <p:childTnLst>
                                    <p:set>
                                      <p:cBhvr>
                                        <p:cTn id="42" dur="1" fill="hold">
                                          <p:stCondLst>
                                            <p:cond delay="0"/>
                                          </p:stCondLst>
                                        </p:cTn>
                                        <p:tgtEl>
                                          <p:spTgt spid="717830"/>
                                        </p:tgtEl>
                                        <p:attrNameLst>
                                          <p:attrName>style.visibility</p:attrName>
                                        </p:attrNameLst>
                                      </p:cBhvr>
                                      <p:to>
                                        <p:strVal val="visible"/>
                                      </p:to>
                                    </p:set>
                                    <p:animEffect transition="in" filter="strips(upRight)">
                                      <p:cBhvr>
                                        <p:cTn id="43" dur="500"/>
                                        <p:tgtEl>
                                          <p:spTgt spid="717830"/>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grpId="0" nodeType="clickEffect">
                                  <p:stCondLst>
                                    <p:cond delay="0"/>
                                  </p:stCondLst>
                                  <p:childTnLst>
                                    <p:set>
                                      <p:cBhvr>
                                        <p:cTn id="47" dur="1" fill="hold">
                                          <p:stCondLst>
                                            <p:cond delay="499"/>
                                          </p:stCondLst>
                                        </p:cTn>
                                        <p:tgtEl>
                                          <p:spTgt spid="71783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827" grpId="0"/>
      <p:bldP spid="717828" grpId="0" build="p"/>
      <p:bldP spid="717829" grpId="0" build="p"/>
      <p:bldP spid="717830" grpId="0"/>
      <p:bldP spid="717831"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42" name="矩形 1290241">
            <a:extLst>
              <a:ext uri="{FF2B5EF4-FFF2-40B4-BE49-F238E27FC236}">
                <a16:creationId xmlns:a16="http://schemas.microsoft.com/office/drawing/2014/main" id="{6C212581-4BD3-466A-BC34-3C492618AC88}"/>
              </a:ext>
            </a:extLst>
          </p:cNvPr>
          <p:cNvSpPr>
            <a:spLocks noChangeArrowheads="1"/>
          </p:cNvSpPr>
          <p:nvPr/>
        </p:nvSpPr>
        <p:spPr bwMode="auto">
          <a:xfrm>
            <a:off x="2728913" y="1847850"/>
            <a:ext cx="5410200" cy="323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eaLnBrk="0" hangingPunct="0">
              <a:lnSpc>
                <a:spcPct val="120000"/>
              </a:lnSpc>
            </a:pPr>
            <a:endParaRPr lang="zh-CN" altLang="zh-CN" sz="3600" b="1">
              <a:latin typeface="Times New Roman" panose="02020603050405020304" pitchFamily="18" charset="0"/>
            </a:endParaRPr>
          </a:p>
        </p:txBody>
      </p:sp>
      <p:sp>
        <p:nvSpPr>
          <p:cNvPr id="119810" name="矩形 1290242">
            <a:extLst>
              <a:ext uri="{FF2B5EF4-FFF2-40B4-BE49-F238E27FC236}">
                <a16:creationId xmlns:a16="http://schemas.microsoft.com/office/drawing/2014/main" id="{DD9FD44D-3150-482B-9A4D-B2731F34FD38}"/>
              </a:ext>
            </a:extLst>
          </p:cNvPr>
          <p:cNvSpPr>
            <a:spLocks noChangeArrowheads="1"/>
          </p:cNvSpPr>
          <p:nvPr/>
        </p:nvSpPr>
        <p:spPr bwMode="auto">
          <a:xfrm>
            <a:off x="4572000" y="404813"/>
            <a:ext cx="4572000"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p>
            <a:pPr algn="ctr" eaLnBrk="0" hangingPunct="0"/>
            <a:r>
              <a:rPr lang="zh-CN" altLang="en-US" sz="3600" b="1" dirty="0">
                <a:solidFill>
                  <a:srgbClr val="FF0000"/>
                </a:solidFill>
                <a:latin typeface="黑体" panose="02010609060101010101" pitchFamily="49" charset="-122"/>
              </a:rPr>
              <a:t>结构类型</a:t>
            </a:r>
            <a:endParaRPr lang="zh-CN" altLang="en-US" sz="3600" b="1" dirty="0">
              <a:solidFill>
                <a:srgbClr val="FF0000"/>
              </a:solidFill>
              <a:ea typeface="黑体" panose="02010609060101010101" pitchFamily="49" charset="-122"/>
            </a:endParaRPr>
          </a:p>
        </p:txBody>
      </p:sp>
      <p:sp>
        <p:nvSpPr>
          <p:cNvPr id="1290244" name="矩形 1290243">
            <a:extLst>
              <a:ext uri="{FF2B5EF4-FFF2-40B4-BE49-F238E27FC236}">
                <a16:creationId xmlns:a16="http://schemas.microsoft.com/office/drawing/2014/main" id="{9BA59B53-947D-44B2-B690-2DCFD82E5753}"/>
              </a:ext>
            </a:extLst>
          </p:cNvPr>
          <p:cNvSpPr>
            <a:spLocks noChangeArrowheads="1"/>
          </p:cNvSpPr>
          <p:nvPr/>
        </p:nvSpPr>
        <p:spPr bwMode="auto">
          <a:xfrm>
            <a:off x="431577" y="1268760"/>
            <a:ext cx="8280846" cy="331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38200" indent="-838200">
              <a:defRPr sz="4000">
                <a:solidFill>
                  <a:schemeClr val="tx1"/>
                </a:solidFill>
                <a:latin typeface="Times New Roman" panose="02020603050405020304" pitchFamily="18" charset="0"/>
                <a:ea typeface="宋体" panose="02010600030101010101" pitchFamily="2" charset="-122"/>
              </a:defRPr>
            </a:lvl1pPr>
            <a:lvl2pPr>
              <a:defRPr sz="4000">
                <a:solidFill>
                  <a:schemeClr val="tx1"/>
                </a:solidFill>
                <a:latin typeface="Times New Roman" panose="02020603050405020304" pitchFamily="18" charset="0"/>
                <a:ea typeface="宋体" panose="02010600030101010101" pitchFamily="2" charset="-122"/>
              </a:defRPr>
            </a:lvl2pPr>
            <a:lvl3pPr>
              <a:defRPr sz="4000">
                <a:solidFill>
                  <a:schemeClr val="tx1"/>
                </a:solidFill>
                <a:latin typeface="Times New Roman" panose="02020603050405020304" pitchFamily="18" charset="0"/>
                <a:ea typeface="宋体" panose="02010600030101010101" pitchFamily="2" charset="-122"/>
              </a:defRPr>
            </a:lvl3pPr>
            <a:lvl4pPr>
              <a:defRPr sz="4000">
                <a:solidFill>
                  <a:schemeClr val="tx1"/>
                </a:solidFill>
                <a:latin typeface="Times New Roman" panose="02020603050405020304" pitchFamily="18" charset="0"/>
                <a:ea typeface="宋体" panose="02010600030101010101" pitchFamily="2" charset="-122"/>
              </a:defRPr>
            </a:lvl4pPr>
            <a:lvl5pPr>
              <a:defRPr sz="40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9pPr>
          </a:lstStyle>
          <a:p>
            <a:pPr eaLnBrk="0" hangingPunct="0">
              <a:spcBef>
                <a:spcPct val="20000"/>
              </a:spcBef>
              <a:buClr>
                <a:srgbClr val="000099"/>
              </a:buClr>
              <a:buFont typeface="Wingdings" panose="05000000000000000000" pitchFamily="2" charset="2"/>
              <a:buChar char="n"/>
            </a:pPr>
            <a:r>
              <a:rPr lang="zh-CN" altLang="en-US" sz="2800" b="1" dirty="0"/>
              <a:t>结构是用其他类型的对象构造出来的派生数据类型。</a:t>
            </a:r>
            <a:endParaRPr lang="en-US" altLang="zh-CN" sz="2800" b="1" dirty="0">
              <a:solidFill>
                <a:srgbClr val="000099"/>
              </a:solidFill>
              <a:latin typeface="黑体" panose="02010609060101010101" pitchFamily="49" charset="-122"/>
              <a:ea typeface="黑体" panose="02010609060101010101" pitchFamily="49" charset="-122"/>
            </a:endParaRPr>
          </a:p>
          <a:p>
            <a:pPr eaLnBrk="0" hangingPunct="0">
              <a:spcBef>
                <a:spcPct val="20000"/>
              </a:spcBef>
              <a:buClr>
                <a:srgbClr val="000099"/>
              </a:buClr>
              <a:buFont typeface="Wingdings" panose="05000000000000000000" pitchFamily="2" charset="2"/>
              <a:buChar char="n"/>
            </a:pPr>
            <a:r>
              <a:rPr lang="zh-CN" altLang="en-US" sz="2800" b="1" dirty="0">
                <a:solidFill>
                  <a:srgbClr val="000099"/>
                </a:solidFill>
                <a:latin typeface="黑体" panose="02010609060101010101" pitchFamily="49" charset="-122"/>
                <a:ea typeface="黑体" panose="02010609060101010101" pitchFamily="49" charset="-122"/>
              </a:rPr>
              <a:t>声明一个结构体类型的一般形式为：</a:t>
            </a:r>
          </a:p>
          <a:p>
            <a:pPr eaLnBrk="0" hangingPunct="0">
              <a:spcBef>
                <a:spcPct val="20000"/>
              </a:spcBef>
            </a:pPr>
            <a:r>
              <a:rPr lang="zh-CN" altLang="en-US" sz="2800" dirty="0">
                <a:solidFill>
                  <a:srgbClr val="663300"/>
                </a:solidFill>
                <a:ea typeface="楷体_GB2312" pitchFamily="49" charset="-122"/>
              </a:rPr>
              <a:t>             </a:t>
            </a:r>
            <a:r>
              <a:rPr lang="en-US" altLang="zh-CN" sz="2800" b="1" dirty="0">
                <a:solidFill>
                  <a:srgbClr val="008000"/>
                </a:solidFill>
                <a:ea typeface="楷体_GB2312" pitchFamily="49" charset="-122"/>
              </a:rPr>
              <a:t>struct</a:t>
            </a:r>
            <a:r>
              <a:rPr lang="en-US" altLang="zh-CN" sz="2800" dirty="0">
                <a:solidFill>
                  <a:srgbClr val="008000"/>
                </a:solidFill>
                <a:ea typeface="楷体_GB2312" pitchFamily="49" charset="-122"/>
              </a:rPr>
              <a:t> </a:t>
            </a:r>
            <a:r>
              <a:rPr lang="en-US" altLang="zh-CN" sz="2800" dirty="0">
                <a:solidFill>
                  <a:srgbClr val="663300"/>
                </a:solidFill>
                <a:ea typeface="楷体_GB2312" pitchFamily="49" charset="-122"/>
              </a:rPr>
              <a:t>   </a:t>
            </a:r>
            <a:r>
              <a:rPr lang="zh-CN" altLang="en-US" sz="2800" dirty="0">
                <a:solidFill>
                  <a:srgbClr val="663300"/>
                </a:solidFill>
                <a:latin typeface="楷体_GB2312" pitchFamily="49" charset="-122"/>
                <a:ea typeface="楷体_GB2312" pitchFamily="49" charset="-122"/>
              </a:rPr>
              <a:t>结构体名</a:t>
            </a:r>
            <a:r>
              <a:rPr lang="en-US" altLang="zh-CN" sz="2800" dirty="0">
                <a:solidFill>
                  <a:srgbClr val="663300"/>
                </a:solidFill>
                <a:latin typeface="楷体_GB2312" pitchFamily="49" charset="-122"/>
                <a:ea typeface="楷体_GB2312" pitchFamily="49" charset="-122"/>
              </a:rPr>
              <a:t>{</a:t>
            </a:r>
          </a:p>
          <a:p>
            <a:pPr eaLnBrk="0" hangingPunct="0">
              <a:spcBef>
                <a:spcPct val="20000"/>
              </a:spcBef>
            </a:pPr>
            <a:r>
              <a:rPr lang="en-US" altLang="zh-CN" sz="2800" dirty="0">
                <a:solidFill>
                  <a:srgbClr val="663300"/>
                </a:solidFill>
                <a:latin typeface="楷体_GB2312" pitchFamily="49" charset="-122"/>
                <a:ea typeface="楷体_GB2312" pitchFamily="49" charset="-122"/>
              </a:rPr>
              <a:t>			</a:t>
            </a:r>
            <a:r>
              <a:rPr lang="zh-CN" altLang="en-US" sz="2800" dirty="0">
                <a:solidFill>
                  <a:srgbClr val="663300"/>
                </a:solidFill>
                <a:latin typeface="楷体_GB2312" pitchFamily="49" charset="-122"/>
                <a:ea typeface="楷体_GB2312" pitchFamily="49" charset="-122"/>
              </a:rPr>
              <a:t>成员列表</a:t>
            </a:r>
            <a:endParaRPr lang="en-US" altLang="zh-CN" sz="2800" dirty="0">
              <a:solidFill>
                <a:srgbClr val="663300"/>
              </a:solidFill>
              <a:latin typeface="楷体_GB2312" pitchFamily="49" charset="-122"/>
              <a:ea typeface="楷体_GB2312" pitchFamily="49" charset="-122"/>
            </a:endParaRPr>
          </a:p>
          <a:p>
            <a:pPr eaLnBrk="0" hangingPunct="0">
              <a:spcBef>
                <a:spcPct val="20000"/>
              </a:spcBef>
            </a:pPr>
            <a:r>
              <a:rPr lang="en-US" altLang="zh-CN" sz="2800" dirty="0">
                <a:solidFill>
                  <a:srgbClr val="663300"/>
                </a:solidFill>
                <a:latin typeface="楷体_GB2312" pitchFamily="49" charset="-122"/>
                <a:ea typeface="楷体_GB2312" pitchFamily="49" charset="-122"/>
              </a:rPr>
              <a:t>		  };</a:t>
            </a:r>
            <a:endParaRPr lang="zh-CN" altLang="en-US" sz="2800" dirty="0">
              <a:solidFill>
                <a:srgbClr val="663300"/>
              </a:solidFill>
              <a:latin typeface="楷体_GB2312" pitchFamily="49" charset="-122"/>
              <a:ea typeface="楷体_GB2312" pitchFamily="49" charset="-122"/>
            </a:endParaRPr>
          </a:p>
          <a:p>
            <a:pPr marL="400050" lvl="1" algn="just"/>
            <a:r>
              <a:rPr lang="en-US" altLang="zh-CN" sz="2800" b="1" dirty="0"/>
              <a:t>typedef </a:t>
            </a:r>
            <a:r>
              <a:rPr lang="zh-CN" altLang="en-US" sz="2800" b="1" dirty="0"/>
              <a:t>用于为经常出现的类型创建一个别名。</a:t>
            </a:r>
            <a:endParaRPr lang="en-US" altLang="zh-CN" sz="2800" b="1" dirty="0"/>
          </a:p>
          <a:p>
            <a:pPr marL="400050" lvl="1" algn="just"/>
            <a:r>
              <a:rPr lang="en-US" altLang="zh-CN" sz="2800" dirty="0">
                <a:latin typeface="Consolas" panose="020B0609020204030204" pitchFamily="49" charset="0"/>
              </a:rPr>
              <a:t>typedef </a:t>
            </a:r>
            <a:r>
              <a:rPr lang="en-US" altLang="zh-CN" sz="2800" dirty="0">
                <a:solidFill>
                  <a:schemeClr val="accent2"/>
                </a:solidFill>
                <a:latin typeface="Consolas" panose="020B0609020204030204" pitchFamily="49" charset="0"/>
              </a:rPr>
              <a:t>struct  Book </a:t>
            </a:r>
            <a:r>
              <a:rPr lang="en-US" altLang="zh-CN" sz="2800" dirty="0" err="1">
                <a:solidFill>
                  <a:srgbClr val="FF0000"/>
                </a:solidFill>
                <a:latin typeface="Consolas" panose="020B0609020204030204" pitchFamily="49" charset="0"/>
              </a:rPr>
              <a:t>Mybook</a:t>
            </a:r>
            <a:r>
              <a:rPr lang="zh-CN" altLang="en-US" sz="2800" dirty="0">
                <a:latin typeface="Consolas" panose="020B0609020204030204" pitchFamily="49" charset="0"/>
              </a:rPr>
              <a:t>；</a:t>
            </a:r>
          </a:p>
          <a:p>
            <a:pPr marL="400050" lvl="1" algn="just"/>
            <a:r>
              <a:rPr lang="en-US" altLang="zh-CN" sz="2800" dirty="0">
                <a:latin typeface="Consolas" panose="020B0609020204030204" pitchFamily="49" charset="0"/>
              </a:rPr>
              <a:t>typedef struct {</a:t>
            </a:r>
          </a:p>
          <a:p>
            <a:pPr marL="400050" lvl="1" algn="just"/>
            <a:r>
              <a:rPr lang="en-US" altLang="zh-CN" sz="2800" dirty="0">
                <a:latin typeface="Consolas" panose="020B0609020204030204" pitchFamily="49" charset="0"/>
              </a:rPr>
              <a:t>	double x; double y;</a:t>
            </a:r>
          </a:p>
          <a:p>
            <a:pPr marL="400050" lvl="1" algn="just"/>
            <a:r>
              <a:rPr lang="en-US" altLang="zh-CN" sz="2800" dirty="0">
                <a:latin typeface="Consolas" panose="020B0609020204030204" pitchFamily="49" charset="0"/>
              </a:rPr>
              <a:t>} </a:t>
            </a:r>
            <a:r>
              <a:rPr lang="en-US" altLang="zh-CN" sz="2800" dirty="0" err="1">
                <a:latin typeface="Consolas" panose="020B0609020204030204" pitchFamily="49" charset="0"/>
              </a:rPr>
              <a:t>Rect</a:t>
            </a:r>
            <a:r>
              <a:rPr lang="en-US" altLang="zh-CN" sz="2800" dirty="0">
                <a:latin typeface="Consolas" panose="020B0609020204030204" pitchFamily="49" charset="0"/>
              </a:rPr>
              <a:t>;</a:t>
            </a:r>
          </a:p>
          <a:p>
            <a:pPr marL="400050" lvl="1" algn="just"/>
            <a:r>
              <a:rPr lang="en-US" altLang="zh-CN" sz="2800" dirty="0">
                <a:solidFill>
                  <a:srgbClr val="4D4D4D"/>
                </a:solidFill>
                <a:latin typeface="楷体_GB2312" pitchFamily="49" charset="-122"/>
                <a:ea typeface="楷体_GB2312" pitchFamily="49" charset="-122"/>
              </a:rPr>
              <a:t> </a:t>
            </a:r>
            <a:endParaRPr lang="en-US" altLang="zh-CN" sz="2800" dirty="0">
              <a:latin typeface="楷体_GB2312" pitchFamily="49" charset="-122"/>
              <a:ea typeface="楷体_GB2312" pitchFamily="49" charset="-122"/>
            </a:endParaRPr>
          </a:p>
          <a:p>
            <a:pPr algn="ctr" eaLnBrk="0" hangingPunct="0">
              <a:spcBef>
                <a:spcPct val="20000"/>
              </a:spcBef>
            </a:pPr>
            <a:r>
              <a:rPr lang="en-US" altLang="zh-CN" sz="2800" dirty="0">
                <a:ea typeface="楷体_GB2312" pitchFamily="49" charset="-122"/>
              </a:rPr>
              <a:t> </a:t>
            </a:r>
          </a:p>
        </p:txBody>
      </p:sp>
    </p:spTree>
    <p:extLst>
      <p:ext uri="{BB962C8B-B14F-4D97-AF65-F5344CB8AC3E}">
        <p14:creationId xmlns:p14="http://schemas.microsoft.com/office/powerpoint/2010/main" val="336222804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grpId="0" nodeType="afterEffect" nodePh="1">
                                  <p:stCondLst>
                                    <p:cond delay="0"/>
                                  </p:stCondLst>
                                  <p:endCondLst>
                                    <p:cond evt="begin" delay="0"/>
                                  </p:endCondLst>
                                  <p:childTnLst>
                                    <p:set>
                                      <p:cBhvr>
                                        <p:cTn id="6" dur="1" fill="hold">
                                          <p:stCondLst>
                                            <p:cond delay="0"/>
                                          </p:stCondLst>
                                        </p:cTn>
                                        <p:tgtEl>
                                          <p:spTgt spid="1290242"/>
                                        </p:tgtEl>
                                        <p:attrNameLst>
                                          <p:attrName>style.visibility</p:attrName>
                                        </p:attrNameLst>
                                      </p:cBhvr>
                                      <p:to>
                                        <p:strVal val="visible"/>
                                      </p:to>
                                    </p:set>
                                    <p:animEffect transition="in" filter="blinds(vertical)">
                                      <p:cBhvr>
                                        <p:cTn id="7" dur="500"/>
                                        <p:tgtEl>
                                          <p:spTgt spid="12902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90244"/>
                                        </p:tgtEl>
                                        <p:attrNameLst>
                                          <p:attrName>style.visibility</p:attrName>
                                        </p:attrNameLst>
                                      </p:cBhvr>
                                      <p:to>
                                        <p:strVal val="visible"/>
                                      </p:to>
                                    </p:set>
                                    <p:animEffect transition="in" filter="wipe(left)">
                                      <p:cBhvr>
                                        <p:cTn id="12" dur="1000"/>
                                        <p:tgtEl>
                                          <p:spTgt spid="1290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42" grpId="0"/>
      <p:bldP spid="129024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2530" name="矩形 1302529">
            <a:extLst>
              <a:ext uri="{FF2B5EF4-FFF2-40B4-BE49-F238E27FC236}">
                <a16:creationId xmlns:a16="http://schemas.microsoft.com/office/drawing/2014/main" id="{8409D726-8BCD-4727-9F1E-D6223A4CC8C8}"/>
              </a:ext>
            </a:extLst>
          </p:cNvPr>
          <p:cNvSpPr>
            <a:spLocks noChangeArrowheads="1"/>
          </p:cNvSpPr>
          <p:nvPr/>
        </p:nvSpPr>
        <p:spPr bwMode="auto">
          <a:xfrm>
            <a:off x="2728913" y="1847850"/>
            <a:ext cx="5410200" cy="323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eaLnBrk="0" hangingPunct="0">
              <a:lnSpc>
                <a:spcPct val="120000"/>
              </a:lnSpc>
            </a:pPr>
            <a:endParaRPr lang="zh-CN" altLang="zh-CN" sz="3600" b="1">
              <a:latin typeface="Times New Roman" panose="02020603050405020304" pitchFamily="18" charset="0"/>
            </a:endParaRPr>
          </a:p>
        </p:txBody>
      </p:sp>
      <p:sp>
        <p:nvSpPr>
          <p:cNvPr id="120834" name="矩形 1302530">
            <a:extLst>
              <a:ext uri="{FF2B5EF4-FFF2-40B4-BE49-F238E27FC236}">
                <a16:creationId xmlns:a16="http://schemas.microsoft.com/office/drawing/2014/main" id="{19D07243-2A87-4A22-A042-80335C09DACC}"/>
              </a:ext>
            </a:extLst>
          </p:cNvPr>
          <p:cNvSpPr>
            <a:spLocks noChangeArrowheads="1"/>
          </p:cNvSpPr>
          <p:nvPr/>
        </p:nvSpPr>
        <p:spPr bwMode="auto">
          <a:xfrm>
            <a:off x="3059832" y="404813"/>
            <a:ext cx="5832648"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p>
            <a:pPr algn="r" eaLnBrk="0" hangingPunct="0"/>
            <a:r>
              <a:rPr lang="zh-CN" altLang="en-US" sz="3600" b="1" dirty="0">
                <a:solidFill>
                  <a:srgbClr val="FF0000"/>
                </a:solidFill>
                <a:latin typeface="Times New Roman" panose="02020603050405020304" pitchFamily="18" charset="0"/>
                <a:ea typeface="黑体" panose="02010609060101010101" pitchFamily="49" charset="-122"/>
              </a:rPr>
              <a:t>结构变量的引用</a:t>
            </a:r>
          </a:p>
        </p:txBody>
      </p:sp>
      <p:sp>
        <p:nvSpPr>
          <p:cNvPr id="1302532" name="矩形 1302531">
            <a:extLst>
              <a:ext uri="{FF2B5EF4-FFF2-40B4-BE49-F238E27FC236}">
                <a16:creationId xmlns:a16="http://schemas.microsoft.com/office/drawing/2014/main" id="{74172335-6F5F-446C-B517-839B3B6B09D8}"/>
              </a:ext>
            </a:extLst>
          </p:cNvPr>
          <p:cNvSpPr>
            <a:spLocks noChangeArrowheads="1"/>
          </p:cNvSpPr>
          <p:nvPr/>
        </p:nvSpPr>
        <p:spPr bwMode="auto">
          <a:xfrm>
            <a:off x="827088" y="1341438"/>
            <a:ext cx="7561262"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38200" indent="-838200">
              <a:defRPr sz="4000">
                <a:solidFill>
                  <a:schemeClr val="tx1"/>
                </a:solidFill>
                <a:latin typeface="Times New Roman" panose="02020603050405020304" pitchFamily="18" charset="0"/>
                <a:ea typeface="宋体" panose="02010600030101010101" pitchFamily="2" charset="-122"/>
              </a:defRPr>
            </a:lvl1pPr>
            <a:lvl2pPr>
              <a:defRPr sz="4000">
                <a:solidFill>
                  <a:schemeClr val="tx1"/>
                </a:solidFill>
                <a:latin typeface="Times New Roman" panose="02020603050405020304" pitchFamily="18" charset="0"/>
                <a:ea typeface="宋体" panose="02010600030101010101" pitchFamily="2" charset="-122"/>
              </a:defRPr>
            </a:lvl2pPr>
            <a:lvl3pPr>
              <a:defRPr sz="4000">
                <a:solidFill>
                  <a:schemeClr val="tx1"/>
                </a:solidFill>
                <a:latin typeface="Times New Roman" panose="02020603050405020304" pitchFamily="18" charset="0"/>
                <a:ea typeface="宋体" panose="02010600030101010101" pitchFamily="2" charset="-122"/>
              </a:defRPr>
            </a:lvl3pPr>
            <a:lvl4pPr>
              <a:defRPr sz="4000">
                <a:solidFill>
                  <a:schemeClr val="tx1"/>
                </a:solidFill>
                <a:latin typeface="Times New Roman" panose="02020603050405020304" pitchFamily="18" charset="0"/>
                <a:ea typeface="宋体" panose="02010600030101010101" pitchFamily="2" charset="-122"/>
              </a:defRPr>
            </a:lvl4pPr>
            <a:lvl5pPr>
              <a:defRPr sz="40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9pPr>
          </a:lstStyle>
          <a:p>
            <a:pPr eaLnBrk="0" hangingPunct="0">
              <a:spcBef>
                <a:spcPct val="20000"/>
              </a:spcBef>
              <a:buFont typeface="Arial" panose="020B0604020202020204" pitchFamily="34" charset="0"/>
              <a:buChar char="•"/>
            </a:pPr>
            <a:r>
              <a:rPr lang="zh-CN" altLang="en-US" sz="2800" dirty="0">
                <a:solidFill>
                  <a:srgbClr val="000099"/>
                </a:solidFill>
                <a:latin typeface="楷体_GB2312" pitchFamily="49" charset="-122"/>
                <a:ea typeface="楷体_GB2312" pitchFamily="49" charset="-122"/>
              </a:rPr>
              <a:t>不能整体访问结构变量，只能按成员访问</a:t>
            </a:r>
            <a:r>
              <a:rPr lang="en-US" altLang="zh-CN" sz="2800" dirty="0">
                <a:solidFill>
                  <a:srgbClr val="000099"/>
                </a:solidFill>
                <a:latin typeface="楷体_GB2312" pitchFamily="49" charset="-122"/>
                <a:ea typeface="楷体_GB2312" pitchFamily="49" charset="-122"/>
              </a:rPr>
              <a:t>.</a:t>
            </a:r>
            <a:endParaRPr lang="zh-CN" altLang="en-US" sz="2800" dirty="0">
              <a:solidFill>
                <a:srgbClr val="000099"/>
              </a:solidFill>
              <a:latin typeface="楷体_GB2312" pitchFamily="49" charset="-122"/>
              <a:ea typeface="楷体_GB2312" pitchFamily="49" charset="-122"/>
            </a:endParaRPr>
          </a:p>
          <a:p>
            <a:pPr marL="0" indent="0">
              <a:lnSpc>
                <a:spcPct val="80000"/>
              </a:lnSpc>
            </a:pPr>
            <a:r>
              <a:rPr lang="zh-CN" altLang="en-US" sz="2800" b="1" dirty="0"/>
              <a:t>结构成员运算符</a:t>
            </a:r>
            <a:r>
              <a:rPr lang="en-US" altLang="zh-CN" sz="2800" b="1" dirty="0">
                <a:latin typeface="宋体" panose="02010600030101010101" pitchFamily="2" charset="-122"/>
              </a:rPr>
              <a:t>“</a:t>
            </a:r>
            <a:r>
              <a:rPr lang="en-US" altLang="zh-CN" sz="2800" b="1" dirty="0"/>
              <a:t>.</a:t>
            </a:r>
            <a:r>
              <a:rPr lang="en-US" altLang="zh-CN" sz="2800" b="1" dirty="0">
                <a:latin typeface="宋体" panose="02010600030101010101" pitchFamily="2" charset="-122"/>
              </a:rPr>
              <a:t>”</a:t>
            </a:r>
            <a:r>
              <a:rPr lang="zh-CN" altLang="en-US" sz="2800" b="1" dirty="0">
                <a:latin typeface="宋体" panose="02010600030101010101" pitchFamily="2" charset="-122"/>
              </a:rPr>
              <a:t>，</a:t>
            </a:r>
            <a:r>
              <a:rPr lang="zh-CN" altLang="en-US" sz="2800" b="1" dirty="0"/>
              <a:t>通过结构变量名访问结构成员：</a:t>
            </a:r>
            <a:r>
              <a:rPr lang="zh-CN" altLang="en-US" sz="2800" b="1" dirty="0">
                <a:solidFill>
                  <a:schemeClr val="accent2"/>
                </a:solidFill>
              </a:rPr>
              <a:t>结构变量名</a:t>
            </a:r>
            <a:r>
              <a:rPr lang="en-US" altLang="zh-CN" sz="2800" b="1" dirty="0">
                <a:solidFill>
                  <a:schemeClr val="accent2"/>
                </a:solidFill>
              </a:rPr>
              <a:t>.</a:t>
            </a:r>
            <a:r>
              <a:rPr lang="zh-CN" altLang="en-US" sz="2800" b="1" dirty="0">
                <a:solidFill>
                  <a:schemeClr val="accent2"/>
                </a:solidFill>
              </a:rPr>
              <a:t>结构成员名</a:t>
            </a:r>
          </a:p>
          <a:p>
            <a:pPr marL="0" indent="0"/>
            <a:r>
              <a:rPr lang="zh-CN" altLang="en-US" sz="2800" dirty="0">
                <a:latin typeface="Consolas" panose="020B0609020204030204" pitchFamily="49" charset="0"/>
              </a:rPr>
              <a:t>例：scanf(</a:t>
            </a:r>
            <a:r>
              <a:rPr lang="en-US" altLang="zh-CN" sz="2800" dirty="0">
                <a:latin typeface="Consolas" panose="020B0609020204030204" pitchFamily="49" charset="0"/>
              </a:rPr>
              <a:t>"</a:t>
            </a:r>
            <a:r>
              <a:rPr lang="zh-CN" altLang="en-US" sz="2800" dirty="0">
                <a:latin typeface="Consolas" panose="020B0609020204030204" pitchFamily="49" charset="0"/>
              </a:rPr>
              <a:t>%f</a:t>
            </a:r>
            <a:r>
              <a:rPr lang="en-US" altLang="zh-CN" sz="2800" dirty="0">
                <a:latin typeface="Consolas" panose="020B0609020204030204" pitchFamily="49" charset="0"/>
              </a:rPr>
              <a:t>"</a:t>
            </a:r>
            <a:r>
              <a:rPr lang="zh-CN" altLang="en-US" sz="2800" dirty="0">
                <a:latin typeface="Consolas" panose="020B0609020204030204" pitchFamily="49" charset="0"/>
              </a:rPr>
              <a:t>, </a:t>
            </a:r>
            <a:r>
              <a:rPr lang="zh-CN" altLang="en-US" sz="2800" dirty="0">
                <a:solidFill>
                  <a:srgbClr val="FF0000"/>
                </a:solidFill>
                <a:latin typeface="Consolas" panose="020B0609020204030204" pitchFamily="49" charset="0"/>
              </a:rPr>
              <a:t>&amp;library.value</a:t>
            </a:r>
            <a:r>
              <a:rPr lang="zh-CN" altLang="en-US" sz="2800" dirty="0">
                <a:latin typeface="Consolas" panose="020B0609020204030204" pitchFamily="49" charset="0"/>
              </a:rPr>
              <a:t>);</a:t>
            </a:r>
            <a:endParaRPr lang="en-US" altLang="zh-CN" sz="2800" dirty="0">
              <a:latin typeface="Consolas" panose="020B0609020204030204" pitchFamily="49" charset="0"/>
            </a:endParaRPr>
          </a:p>
          <a:p>
            <a:pPr marL="0" indent="0"/>
            <a:r>
              <a:rPr lang="en-US" altLang="zh-CN" sz="2800" dirty="0">
                <a:latin typeface="Consolas" panose="020B0609020204030204" pitchFamily="49" charset="0"/>
              </a:rPr>
              <a:t>//.</a:t>
            </a:r>
            <a:r>
              <a:rPr lang="zh-CN" altLang="en-US" sz="2800" dirty="0">
                <a:latin typeface="Consolas" panose="020B0609020204030204" pitchFamily="49" charset="0"/>
              </a:rPr>
              <a:t>运算符优先级比</a:t>
            </a:r>
            <a:r>
              <a:rPr lang="en-US" altLang="zh-CN" sz="2800" dirty="0">
                <a:latin typeface="Consolas" panose="020B0609020204030204" pitchFamily="49" charset="0"/>
              </a:rPr>
              <a:t>&amp;</a:t>
            </a:r>
            <a:r>
              <a:rPr lang="zh-CN" altLang="en-US" sz="2800" dirty="0">
                <a:latin typeface="Consolas" panose="020B0609020204030204" pitchFamily="49" charset="0"/>
              </a:rPr>
              <a:t>高</a:t>
            </a:r>
            <a:endParaRPr lang="en-US" altLang="zh-CN" sz="2800" dirty="0">
              <a:latin typeface="Consolas" panose="020B0609020204030204" pitchFamily="49" charset="0"/>
            </a:endParaRPr>
          </a:p>
          <a:p>
            <a:r>
              <a:rPr lang="zh-CN" altLang="en-US" sz="2800" b="1" dirty="0"/>
              <a:t>指针运算符</a:t>
            </a:r>
            <a:r>
              <a:rPr lang="en-US" altLang="zh-CN" sz="2800" b="1" dirty="0">
                <a:latin typeface="宋体" panose="02010600030101010101" pitchFamily="2" charset="-122"/>
              </a:rPr>
              <a:t>“</a:t>
            </a:r>
            <a:r>
              <a:rPr lang="en-US" altLang="zh-CN" sz="2800" b="1" dirty="0">
                <a:solidFill>
                  <a:srgbClr val="0070C0"/>
                </a:solidFill>
              </a:rPr>
              <a:t>-&gt;</a:t>
            </a:r>
            <a:r>
              <a:rPr lang="en-US" altLang="zh-CN" sz="2800" b="1" dirty="0">
                <a:latin typeface="宋体" panose="02010600030101010101" pitchFamily="2" charset="-122"/>
              </a:rPr>
              <a:t>”</a:t>
            </a:r>
            <a:r>
              <a:rPr lang="zh-CN" altLang="en-US" sz="2800" b="1" dirty="0">
                <a:latin typeface="宋体" panose="02010600030101010101" pitchFamily="2" charset="-122"/>
              </a:rPr>
              <a:t>，</a:t>
            </a:r>
            <a:r>
              <a:rPr lang="zh-CN" altLang="en-US" sz="2800" b="1" dirty="0"/>
              <a:t>通过指向结构变量的指针访问结构成员：</a:t>
            </a:r>
            <a:r>
              <a:rPr lang="zh-CN" altLang="en-US" sz="2800" b="1" dirty="0">
                <a:solidFill>
                  <a:schemeClr val="accent2"/>
                </a:solidFill>
              </a:rPr>
              <a:t>指针名</a:t>
            </a:r>
            <a:r>
              <a:rPr lang="en-US" altLang="zh-CN" sz="2800" b="1" dirty="0">
                <a:solidFill>
                  <a:schemeClr val="accent2"/>
                </a:solidFill>
              </a:rPr>
              <a:t>-&gt;</a:t>
            </a:r>
            <a:r>
              <a:rPr lang="zh-CN" altLang="en-US" sz="2800" b="1" dirty="0">
                <a:solidFill>
                  <a:schemeClr val="accent2"/>
                </a:solidFill>
              </a:rPr>
              <a:t>结构成员名</a:t>
            </a:r>
          </a:p>
          <a:p>
            <a:r>
              <a:rPr lang="zh-CN" altLang="en-US" sz="2800" b="1" dirty="0"/>
              <a:t>或</a:t>
            </a:r>
            <a:r>
              <a:rPr lang="zh-CN" altLang="en-US" sz="2800" b="1" dirty="0">
                <a:solidFill>
                  <a:schemeClr val="accent2"/>
                </a:solidFill>
              </a:rPr>
              <a:t>   </a:t>
            </a:r>
            <a:r>
              <a:rPr lang="en-US" altLang="zh-CN" sz="2800" b="1" dirty="0">
                <a:solidFill>
                  <a:schemeClr val="accent2"/>
                </a:solidFill>
              </a:rPr>
              <a:t>(*</a:t>
            </a:r>
            <a:r>
              <a:rPr lang="zh-CN" altLang="en-US" sz="2800" b="1" dirty="0">
                <a:solidFill>
                  <a:schemeClr val="accent2"/>
                </a:solidFill>
              </a:rPr>
              <a:t>指针名</a:t>
            </a:r>
            <a:r>
              <a:rPr lang="en-US" altLang="zh-CN" sz="2800" b="1" dirty="0">
                <a:solidFill>
                  <a:schemeClr val="accent2"/>
                </a:solidFill>
              </a:rPr>
              <a:t>).</a:t>
            </a:r>
            <a:r>
              <a:rPr lang="zh-CN" altLang="en-US" sz="2800" b="1" dirty="0">
                <a:solidFill>
                  <a:schemeClr val="accent2"/>
                </a:solidFill>
              </a:rPr>
              <a:t>结构成员名</a:t>
            </a:r>
          </a:p>
          <a:p>
            <a:pPr eaLnBrk="0" hangingPunct="0">
              <a:spcBef>
                <a:spcPct val="20000"/>
              </a:spcBef>
              <a:buFont typeface="Arial" panose="020B0604020202020204" pitchFamily="34" charset="0"/>
              <a:buChar char="•"/>
            </a:pPr>
            <a:r>
              <a:rPr lang="zh-CN" altLang="en-US" sz="2800" dirty="0">
                <a:latin typeface="Consolas" panose="020B0609020204030204" pitchFamily="49" charset="0"/>
              </a:rPr>
              <a:t>结构变量可以进行赋值运算。</a:t>
            </a:r>
            <a:endParaRPr lang="en-US" altLang="zh-CN" sz="2800" dirty="0">
              <a:latin typeface="Consolas" panose="020B0609020204030204" pitchFamily="49" charset="0"/>
            </a:endParaRPr>
          </a:p>
          <a:p>
            <a:pPr eaLnBrk="0" hangingPunct="0">
              <a:spcBef>
                <a:spcPct val="20000"/>
              </a:spcBef>
            </a:pPr>
            <a:r>
              <a:rPr lang="zh-CN" altLang="en-US" sz="2800" dirty="0">
                <a:latin typeface="楷体_GB2312" pitchFamily="49" charset="-122"/>
                <a:ea typeface="楷体_GB2312" pitchFamily="49" charset="-122"/>
              </a:rPr>
              <a:t> </a:t>
            </a:r>
            <a:endParaRPr lang="zh-CN" altLang="en-US" sz="2800" dirty="0">
              <a:solidFill>
                <a:srgbClr val="000099"/>
              </a:solidFill>
              <a:latin typeface="楷体_GB2312" pitchFamily="49" charset="-122"/>
              <a:ea typeface="楷体_GB2312" pitchFamily="49" charset="-122"/>
            </a:endParaRPr>
          </a:p>
        </p:txBody>
      </p:sp>
    </p:spTree>
    <p:extLst>
      <p:ext uri="{BB962C8B-B14F-4D97-AF65-F5344CB8AC3E}">
        <p14:creationId xmlns:p14="http://schemas.microsoft.com/office/powerpoint/2010/main" val="239625775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grpId="0" nodeType="afterEffect" nodePh="1">
                                  <p:stCondLst>
                                    <p:cond delay="0"/>
                                  </p:stCondLst>
                                  <p:endCondLst>
                                    <p:cond evt="begin" delay="0"/>
                                  </p:endCondLst>
                                  <p:childTnLst>
                                    <p:set>
                                      <p:cBhvr>
                                        <p:cTn id="6" dur="1" fill="hold">
                                          <p:stCondLst>
                                            <p:cond delay="0"/>
                                          </p:stCondLst>
                                        </p:cTn>
                                        <p:tgtEl>
                                          <p:spTgt spid="1302530"/>
                                        </p:tgtEl>
                                        <p:attrNameLst>
                                          <p:attrName>style.visibility</p:attrName>
                                        </p:attrNameLst>
                                      </p:cBhvr>
                                      <p:to>
                                        <p:strVal val="visible"/>
                                      </p:to>
                                    </p:set>
                                    <p:animEffect transition="in" filter="blinds(vertical)">
                                      <p:cBhvr>
                                        <p:cTn id="7" dur="500"/>
                                        <p:tgtEl>
                                          <p:spTgt spid="13025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02532"/>
                                        </p:tgtEl>
                                        <p:attrNameLst>
                                          <p:attrName>style.visibility</p:attrName>
                                        </p:attrNameLst>
                                      </p:cBhvr>
                                      <p:to>
                                        <p:strVal val="visible"/>
                                      </p:to>
                                    </p:set>
                                    <p:animEffect transition="in" filter="wipe(left)">
                                      <p:cBhvr>
                                        <p:cTn id="12" dur="1000"/>
                                        <p:tgtEl>
                                          <p:spTgt spid="1302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2530" grpId="0"/>
      <p:bldP spid="130253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矩形 1377281">
            <a:extLst>
              <a:ext uri="{FF2B5EF4-FFF2-40B4-BE49-F238E27FC236}">
                <a16:creationId xmlns:a16="http://schemas.microsoft.com/office/drawing/2014/main" id="{1FF03464-B12D-4A90-9847-2FB8F4430B6C}"/>
              </a:ext>
            </a:extLst>
          </p:cNvPr>
          <p:cNvSpPr>
            <a:spLocks noChangeArrowheads="1"/>
          </p:cNvSpPr>
          <p:nvPr/>
        </p:nvSpPr>
        <p:spPr bwMode="auto">
          <a:xfrm>
            <a:off x="3347864" y="404813"/>
            <a:ext cx="5796136"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p>
            <a:pPr algn="ctr" eaLnBrk="0" hangingPunct="0"/>
            <a:r>
              <a:rPr lang="zh-CN" altLang="en-US" sz="3600" b="1" dirty="0">
                <a:solidFill>
                  <a:srgbClr val="FF0000"/>
                </a:solidFill>
                <a:latin typeface="Times New Roman" panose="02020603050405020304" pitchFamily="18" charset="0"/>
                <a:ea typeface="黑体" panose="02010609060101010101" pitchFamily="49" charset="-122"/>
              </a:rPr>
              <a:t>枚举类型</a:t>
            </a:r>
          </a:p>
        </p:txBody>
      </p:sp>
      <p:sp>
        <p:nvSpPr>
          <p:cNvPr id="1377283" name="矩形 1377282">
            <a:extLst>
              <a:ext uri="{FF2B5EF4-FFF2-40B4-BE49-F238E27FC236}">
                <a16:creationId xmlns:a16="http://schemas.microsoft.com/office/drawing/2014/main" id="{76C96210-F82F-4D78-AEF7-90A888EA6679}"/>
              </a:ext>
            </a:extLst>
          </p:cNvPr>
          <p:cNvSpPr>
            <a:spLocks noChangeArrowheads="1"/>
          </p:cNvSpPr>
          <p:nvPr/>
        </p:nvSpPr>
        <p:spPr bwMode="auto">
          <a:xfrm>
            <a:off x="179388" y="1484313"/>
            <a:ext cx="8690292" cy="453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marL="457200" indent="-457200">
              <a:defRPr sz="4000">
                <a:solidFill>
                  <a:schemeClr val="tx1"/>
                </a:solidFill>
                <a:latin typeface="Times New Roman" panose="02020603050405020304" pitchFamily="18" charset="0"/>
                <a:ea typeface="宋体" panose="02010600030101010101" pitchFamily="2" charset="-122"/>
              </a:defRPr>
            </a:lvl1pPr>
            <a:lvl2pPr>
              <a:defRPr sz="4000">
                <a:solidFill>
                  <a:schemeClr val="tx1"/>
                </a:solidFill>
                <a:latin typeface="Times New Roman" panose="02020603050405020304" pitchFamily="18" charset="0"/>
                <a:ea typeface="宋体" panose="02010600030101010101" pitchFamily="2" charset="-122"/>
              </a:defRPr>
            </a:lvl2pPr>
            <a:lvl3pPr>
              <a:defRPr sz="4000">
                <a:solidFill>
                  <a:schemeClr val="tx1"/>
                </a:solidFill>
                <a:latin typeface="Times New Roman" panose="02020603050405020304" pitchFamily="18" charset="0"/>
                <a:ea typeface="宋体" panose="02010600030101010101" pitchFamily="2" charset="-122"/>
              </a:defRPr>
            </a:lvl3pPr>
            <a:lvl4pPr>
              <a:defRPr sz="4000">
                <a:solidFill>
                  <a:schemeClr val="tx1"/>
                </a:solidFill>
                <a:latin typeface="Times New Roman" panose="02020603050405020304" pitchFamily="18" charset="0"/>
                <a:ea typeface="宋体" panose="02010600030101010101" pitchFamily="2" charset="-122"/>
              </a:defRPr>
            </a:lvl4pPr>
            <a:lvl5pPr>
              <a:defRPr sz="40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9pPr>
          </a:lstStyle>
          <a:p>
            <a:r>
              <a:rPr lang="zh-CN" altLang="en-US" sz="2800" dirty="0">
                <a:solidFill>
                  <a:srgbClr val="CC0000"/>
                </a:solidFill>
                <a:latin typeface="楷体_GB2312" pitchFamily="49" charset="-122"/>
                <a:ea typeface="楷体_GB2312" pitchFamily="49" charset="-122"/>
              </a:rPr>
              <a:t>枚举：</a:t>
            </a:r>
            <a:r>
              <a:rPr lang="zh-CN" altLang="en-US" sz="2800" dirty="0">
                <a:latin typeface="楷体_GB2312" pitchFamily="49" charset="-122"/>
                <a:ea typeface="楷体_GB2312" pitchFamily="49" charset="-122"/>
              </a:rPr>
              <a:t>将变量的值一一列举出来，变量的值只限于列举</a:t>
            </a:r>
          </a:p>
          <a:p>
            <a:r>
              <a:rPr lang="zh-CN" altLang="en-US" sz="2800" dirty="0">
                <a:latin typeface="楷体_GB2312" pitchFamily="49" charset="-122"/>
                <a:ea typeface="楷体_GB2312" pitchFamily="49" charset="-122"/>
              </a:rPr>
              <a:t>出来的值的范围内。</a:t>
            </a:r>
          </a:p>
          <a:p>
            <a:endParaRPr lang="zh-CN" altLang="en-US" sz="2800" dirty="0">
              <a:latin typeface="楷体_GB2312" pitchFamily="49" charset="-122"/>
              <a:ea typeface="楷体_GB2312" pitchFamily="49" charset="-122"/>
            </a:endParaRPr>
          </a:p>
          <a:p>
            <a:r>
              <a:rPr lang="zh-CN" altLang="en-US" sz="2800" dirty="0">
                <a:solidFill>
                  <a:srgbClr val="CC0000"/>
                </a:solidFill>
                <a:latin typeface="楷体_GB2312" pitchFamily="49" charset="-122"/>
                <a:ea typeface="楷体_GB2312" pitchFamily="49" charset="-122"/>
              </a:rPr>
              <a:t>申明枚举类型用</a:t>
            </a:r>
            <a:r>
              <a:rPr lang="en-US" altLang="zh-CN" sz="2800" dirty="0" err="1">
                <a:solidFill>
                  <a:srgbClr val="CC0000"/>
                </a:solidFill>
                <a:latin typeface="楷体_GB2312" pitchFamily="49" charset="-122"/>
                <a:ea typeface="楷体_GB2312" pitchFamily="49" charset="-122"/>
              </a:rPr>
              <a:t>enum</a:t>
            </a:r>
            <a:endParaRPr lang="en-US" altLang="zh-CN" sz="2800" dirty="0">
              <a:solidFill>
                <a:srgbClr val="CC0000"/>
              </a:solidFill>
              <a:latin typeface="楷体_GB2312" pitchFamily="49" charset="-122"/>
              <a:ea typeface="楷体_GB2312" pitchFamily="49" charset="-122"/>
            </a:endParaRPr>
          </a:p>
          <a:p>
            <a:r>
              <a:rPr lang="en-US" altLang="zh-CN" sz="2800" dirty="0" err="1">
                <a:latin typeface="楷体_GB2312" pitchFamily="49" charset="-122"/>
                <a:ea typeface="楷体_GB2312" pitchFamily="49" charset="-122"/>
              </a:rPr>
              <a:t>enum</a:t>
            </a:r>
            <a:r>
              <a:rPr lang="en-US" altLang="zh-CN" sz="2800" dirty="0">
                <a:latin typeface="楷体_GB2312" pitchFamily="49" charset="-122"/>
                <a:ea typeface="楷体_GB2312" pitchFamily="49" charset="-122"/>
              </a:rPr>
              <a:t> weekday{sun</a:t>
            </a: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mon</a:t>
            </a:r>
            <a:r>
              <a:rPr lang="zh-CN" altLang="en-US" sz="2800" dirty="0">
                <a:latin typeface="楷体_GB2312" pitchFamily="49" charset="-122"/>
                <a:ea typeface="楷体_GB2312" pitchFamily="49" charset="-122"/>
              </a:rPr>
              <a:t>，</a:t>
            </a:r>
            <a:r>
              <a:rPr lang="en-US" altLang="zh-CN" sz="2800" dirty="0" err="1">
                <a:latin typeface="楷体_GB2312" pitchFamily="49" charset="-122"/>
                <a:ea typeface="楷体_GB2312" pitchFamily="49" charset="-122"/>
              </a:rPr>
              <a:t>tue</a:t>
            </a: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wed</a:t>
            </a:r>
            <a:r>
              <a:rPr lang="zh-CN" altLang="en-US" sz="2800" dirty="0">
                <a:latin typeface="楷体_GB2312" pitchFamily="49" charset="-122"/>
                <a:ea typeface="楷体_GB2312" pitchFamily="49" charset="-122"/>
              </a:rPr>
              <a:t>，</a:t>
            </a:r>
            <a:r>
              <a:rPr lang="en-US" altLang="zh-CN" sz="2800" dirty="0" err="1">
                <a:latin typeface="楷体_GB2312" pitchFamily="49" charset="-122"/>
                <a:ea typeface="楷体_GB2312" pitchFamily="49" charset="-122"/>
              </a:rPr>
              <a:t>thu</a:t>
            </a:r>
            <a:r>
              <a:rPr lang="zh-CN" altLang="en-US" sz="2800" dirty="0">
                <a:latin typeface="楷体_GB2312" pitchFamily="49" charset="-122"/>
                <a:ea typeface="楷体_GB2312" pitchFamily="49" charset="-122"/>
              </a:rPr>
              <a:t>，</a:t>
            </a:r>
            <a:r>
              <a:rPr lang="en-US" altLang="zh-CN" sz="2800" dirty="0" err="1">
                <a:latin typeface="楷体_GB2312" pitchFamily="49" charset="-122"/>
                <a:ea typeface="楷体_GB2312" pitchFamily="49" charset="-122"/>
              </a:rPr>
              <a:t>fri</a:t>
            </a: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sat};</a:t>
            </a:r>
            <a:r>
              <a:rPr lang="zh-CN" altLang="en-US" sz="2800" dirty="0">
                <a:latin typeface="楷体_GB2312" pitchFamily="49" charset="-122"/>
                <a:ea typeface="楷体_GB2312" pitchFamily="49" charset="-122"/>
              </a:rPr>
              <a:t>　 </a:t>
            </a:r>
          </a:p>
          <a:p>
            <a:endParaRPr lang="zh-CN" altLang="en-US" sz="2800" dirty="0">
              <a:solidFill>
                <a:srgbClr val="CC0000"/>
              </a:solidFill>
              <a:latin typeface="楷体_GB2312" pitchFamily="49" charset="-122"/>
              <a:ea typeface="楷体_GB2312" pitchFamily="49" charset="-122"/>
            </a:endParaRPr>
          </a:p>
          <a:p>
            <a:r>
              <a:rPr lang="zh-CN" altLang="en-US" sz="2800" dirty="0">
                <a:solidFill>
                  <a:srgbClr val="CC0000"/>
                </a:solidFill>
                <a:latin typeface="楷体_GB2312" pitchFamily="49" charset="-122"/>
                <a:ea typeface="楷体_GB2312" pitchFamily="49" charset="-122"/>
              </a:rPr>
              <a:t>定义变量：</a:t>
            </a:r>
          </a:p>
          <a:p>
            <a:r>
              <a:rPr lang="en-US" altLang="zh-CN" sz="2800" dirty="0" err="1">
                <a:latin typeface="楷体_GB2312" pitchFamily="49" charset="-122"/>
                <a:ea typeface="楷体_GB2312" pitchFamily="49" charset="-122"/>
              </a:rPr>
              <a:t>enum</a:t>
            </a:r>
            <a:r>
              <a:rPr lang="en-US" altLang="zh-CN" sz="2800" dirty="0">
                <a:latin typeface="楷体_GB2312" pitchFamily="49" charset="-122"/>
                <a:ea typeface="楷体_GB2312" pitchFamily="49" charset="-122"/>
              </a:rPr>
              <a:t> weekday workday</a:t>
            </a: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week-day;</a:t>
            </a:r>
          </a:p>
          <a:p>
            <a:r>
              <a:rPr lang="en-US" altLang="zh-CN" sz="2800" dirty="0" err="1">
                <a:latin typeface="楷体_GB2312" pitchFamily="49" charset="-122"/>
                <a:ea typeface="楷体_GB2312" pitchFamily="49" charset="-122"/>
              </a:rPr>
              <a:t>enum</a:t>
            </a:r>
            <a:r>
              <a:rPr lang="en-US" altLang="zh-CN" sz="2800" dirty="0">
                <a:latin typeface="楷体_GB2312" pitchFamily="49" charset="-122"/>
                <a:ea typeface="楷体_GB2312" pitchFamily="49" charset="-122"/>
              </a:rPr>
              <a:t>{sun</a:t>
            </a: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mon</a:t>
            </a:r>
            <a:r>
              <a:rPr lang="zh-CN" altLang="en-US" sz="2800" dirty="0">
                <a:latin typeface="楷体_GB2312" pitchFamily="49" charset="-122"/>
                <a:ea typeface="楷体_GB2312" pitchFamily="49" charset="-122"/>
              </a:rPr>
              <a:t>，</a:t>
            </a:r>
            <a:r>
              <a:rPr lang="en-US" altLang="zh-CN" sz="2800" dirty="0" err="1">
                <a:latin typeface="楷体_GB2312" pitchFamily="49" charset="-122"/>
                <a:ea typeface="楷体_GB2312" pitchFamily="49" charset="-122"/>
              </a:rPr>
              <a:t>tue</a:t>
            </a: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wed</a:t>
            </a:r>
            <a:r>
              <a:rPr lang="zh-CN" altLang="en-US" sz="2800" dirty="0">
                <a:latin typeface="楷体_GB2312" pitchFamily="49" charset="-122"/>
                <a:ea typeface="楷体_GB2312" pitchFamily="49" charset="-122"/>
              </a:rPr>
              <a:t>，</a:t>
            </a:r>
            <a:r>
              <a:rPr lang="en-US" altLang="zh-CN" sz="2800" dirty="0" err="1">
                <a:latin typeface="楷体_GB2312" pitchFamily="49" charset="-122"/>
                <a:ea typeface="楷体_GB2312" pitchFamily="49" charset="-122"/>
              </a:rPr>
              <a:t>thu</a:t>
            </a:r>
            <a:r>
              <a:rPr lang="zh-CN" altLang="en-US" sz="2800" dirty="0">
                <a:latin typeface="楷体_GB2312" pitchFamily="49" charset="-122"/>
                <a:ea typeface="楷体_GB2312" pitchFamily="49" charset="-122"/>
              </a:rPr>
              <a:t>，</a:t>
            </a:r>
            <a:r>
              <a:rPr lang="en-US" altLang="zh-CN" sz="2800" dirty="0" err="1">
                <a:latin typeface="楷体_GB2312" pitchFamily="49" charset="-122"/>
                <a:ea typeface="楷体_GB2312" pitchFamily="49" charset="-122"/>
              </a:rPr>
              <a:t>fri</a:t>
            </a: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sat</a:t>
            </a: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workday</a:t>
            </a:r>
            <a:r>
              <a:rPr lang="zh-CN" altLang="en-US" sz="2400" dirty="0"/>
              <a:t>；</a:t>
            </a:r>
            <a:endParaRPr lang="zh-CN" altLang="en-US" sz="2800" dirty="0">
              <a:latin typeface="楷体_GB2312" pitchFamily="49" charset="-122"/>
              <a:ea typeface="楷体_GB2312" pitchFamily="49" charset="-122"/>
            </a:endParaRPr>
          </a:p>
          <a:p>
            <a:r>
              <a:rPr lang="zh-CN" altLang="en-US" sz="2800" dirty="0">
                <a:latin typeface="楷体_GB2312" pitchFamily="49" charset="-122"/>
                <a:ea typeface="楷体_GB2312" pitchFamily="49" charset="-122"/>
              </a:rPr>
              <a:t>变量值只能是</a:t>
            </a:r>
            <a:r>
              <a:rPr lang="en-US" altLang="zh-CN" sz="2800" dirty="0">
                <a:latin typeface="楷体_GB2312" pitchFamily="49" charset="-122"/>
                <a:ea typeface="楷体_GB2312" pitchFamily="49" charset="-122"/>
              </a:rPr>
              <a:t>sun</a:t>
            </a:r>
            <a:r>
              <a:rPr lang="zh-CN" altLang="en-US" sz="2800" dirty="0">
                <a:latin typeface="楷体_GB2312" pitchFamily="49" charset="-122"/>
                <a:ea typeface="楷体_GB2312" pitchFamily="49" charset="-122"/>
              </a:rPr>
              <a:t>到</a:t>
            </a:r>
            <a:r>
              <a:rPr lang="en-US" altLang="zh-CN" sz="2800" dirty="0">
                <a:latin typeface="楷体_GB2312" pitchFamily="49" charset="-122"/>
                <a:ea typeface="楷体_GB2312" pitchFamily="49" charset="-122"/>
              </a:rPr>
              <a:t>sat</a:t>
            </a:r>
            <a:r>
              <a:rPr lang="zh-CN" altLang="en-US" sz="2800" dirty="0">
                <a:latin typeface="楷体_GB2312" pitchFamily="49" charset="-122"/>
                <a:ea typeface="楷体_GB2312" pitchFamily="49" charset="-122"/>
              </a:rPr>
              <a:t>之一 。</a:t>
            </a:r>
          </a:p>
          <a:p>
            <a:endParaRPr lang="zh-CN" altLang="en-US" sz="2800" dirty="0">
              <a:latin typeface="楷体_GB2312" pitchFamily="49" charset="-122"/>
              <a:ea typeface="楷体_GB2312" pitchFamily="49" charset="-122"/>
            </a:endParaRPr>
          </a:p>
        </p:txBody>
      </p:sp>
    </p:spTree>
    <p:extLst>
      <p:ext uri="{BB962C8B-B14F-4D97-AF65-F5344CB8AC3E}">
        <p14:creationId xmlns:p14="http://schemas.microsoft.com/office/powerpoint/2010/main" val="295380222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0" presetClass="entr" presetSubtype="0" decel="100000" fill="hold" grpId="0" nodeType="clickEffect">
                                  <p:stCondLst>
                                    <p:cond delay="0"/>
                                  </p:stCondLst>
                                  <p:childTnLst>
                                    <p:set>
                                      <p:cBhvr>
                                        <p:cTn id="6" dur="1" fill="hold">
                                          <p:stCondLst>
                                            <p:cond delay="0"/>
                                          </p:stCondLst>
                                        </p:cTn>
                                        <p:tgtEl>
                                          <p:spTgt spid="1377283"/>
                                        </p:tgtEl>
                                        <p:attrNameLst>
                                          <p:attrName>style.visibility</p:attrName>
                                        </p:attrNameLst>
                                      </p:cBhvr>
                                      <p:to>
                                        <p:strVal val="visible"/>
                                      </p:to>
                                    </p:set>
                                    <p:anim calcmode="lin" valueType="num">
                                      <p:cBhvr>
                                        <p:cTn id="7" dur="1000" fill="hold"/>
                                        <p:tgtEl>
                                          <p:spTgt spid="1377283"/>
                                        </p:tgtEl>
                                        <p:attrNameLst>
                                          <p:attrName>ppt_w</p:attrName>
                                        </p:attrNameLst>
                                      </p:cBhvr>
                                      <p:tavLst>
                                        <p:tav tm="0">
                                          <p:val>
                                            <p:strVal val="#ppt_w+.3"/>
                                          </p:val>
                                        </p:tav>
                                        <p:tav tm="100000">
                                          <p:val>
                                            <p:strVal val="#ppt_w"/>
                                          </p:val>
                                        </p:tav>
                                      </p:tavLst>
                                    </p:anim>
                                    <p:anim calcmode="lin" valueType="num">
                                      <p:cBhvr>
                                        <p:cTn id="8" dur="1000" fill="hold"/>
                                        <p:tgtEl>
                                          <p:spTgt spid="1377283"/>
                                        </p:tgtEl>
                                        <p:attrNameLst>
                                          <p:attrName>ppt_h</p:attrName>
                                        </p:attrNameLst>
                                      </p:cBhvr>
                                      <p:tavLst>
                                        <p:tav tm="0">
                                          <p:val>
                                            <p:strVal val="#ppt_h"/>
                                          </p:val>
                                        </p:tav>
                                        <p:tav tm="100000">
                                          <p:val>
                                            <p:strVal val="#ppt_h"/>
                                          </p:val>
                                        </p:tav>
                                      </p:tavLst>
                                    </p:anim>
                                    <p:animEffect transition="in" filter="fade">
                                      <p:cBhvr>
                                        <p:cTn id="9" dur="1000"/>
                                        <p:tgtEl>
                                          <p:spTgt spid="1377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728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灯片编号占位符 5"/>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dirty="0">
                <a:latin typeface="Times New Roman" panose="02020603050405020304" pitchFamily="2" charset="0"/>
              </a:rPr>
              <a:t>43</a:t>
            </a:fld>
            <a:endParaRPr lang="zh-CN" altLang="en-US" sz="1400" dirty="0">
              <a:latin typeface="Times New Roman" panose="02020603050405020304" pitchFamily="2" charset="0"/>
            </a:endParaRPr>
          </a:p>
        </p:txBody>
      </p:sp>
      <p:sp>
        <p:nvSpPr>
          <p:cNvPr id="46083" name="Rectangle 7"/>
          <p:cNvSpPr>
            <a:spLocks noGrp="1"/>
          </p:cNvSpPr>
          <p:nvPr>
            <p:ph type="title"/>
          </p:nvPr>
        </p:nvSpPr>
        <p:spPr/>
        <p:txBody>
          <a:bodyPr wrap="square" anchor="ctr"/>
          <a:lstStyle/>
          <a:p>
            <a:pPr eaLnBrk="1" hangingPunct="1"/>
            <a:r>
              <a:rPr lang="zh-CN" altLang="en-US" b="1" dirty="0"/>
              <a:t>常量</a:t>
            </a:r>
            <a:r>
              <a:rPr lang="en-US" altLang="zh-CN" b="1" dirty="0"/>
              <a:t>constant</a:t>
            </a:r>
            <a:endParaRPr lang="zh-CN" altLang="en-US" b="1" dirty="0"/>
          </a:p>
        </p:txBody>
      </p:sp>
      <p:sp>
        <p:nvSpPr>
          <p:cNvPr id="37891" name="Rectangle 5"/>
          <p:cNvSpPr>
            <a:spLocks noGrp="1"/>
          </p:cNvSpPr>
          <p:nvPr>
            <p:ph idx="1"/>
          </p:nvPr>
        </p:nvSpPr>
        <p:spPr>
          <a:xfrm>
            <a:off x="685800" y="1268760"/>
            <a:ext cx="7772400" cy="4611687"/>
          </a:xfrm>
        </p:spPr>
        <p:txBody>
          <a:bodyPr wrap="square" lIns="92075" tIns="46038" rIns="92075" bIns="46038" anchor="t"/>
          <a:lstStyle/>
          <a:p>
            <a:pPr algn="just" eaLnBrk="1" hangingPunct="1"/>
            <a:r>
              <a:rPr lang="zh-CN" altLang="en-US" sz="2400" b="1" dirty="0">
                <a:latin typeface="宋体" panose="02010600030101010101" pitchFamily="2" charset="-122"/>
                <a:ea typeface="宋体" panose="02010600030101010101" pitchFamily="2" charset="-122"/>
                <a:cs typeface="宋体" panose="02010600030101010101" pitchFamily="2" charset="-122"/>
              </a:rPr>
              <a:t>常量是指在程序执行过程中不能改变的数据。常量按表示形式分为：文字常量、命名常量、符号常量。</a:t>
            </a:r>
            <a:endParaRPr lang="en-US" altLang="zh-CN" sz="2400" b="1" dirty="0">
              <a:latin typeface="宋体" panose="02010600030101010101" pitchFamily="2" charset="-122"/>
              <a:ea typeface="宋体" panose="02010600030101010101" pitchFamily="2" charset="-122"/>
              <a:cs typeface="宋体" panose="02010600030101010101" pitchFamily="2" charset="-122"/>
            </a:endParaRPr>
          </a:p>
          <a:p>
            <a:pPr algn="just" eaLnBrk="1" hangingPunct="1"/>
            <a:r>
              <a:rPr lang="zh-CN" altLang="en-US" sz="2400" b="1" dirty="0">
                <a:solidFill>
                  <a:srgbClr val="FF0000"/>
                </a:solidFill>
                <a:latin typeface="宋体" panose="02010600030101010101" pitchFamily="2" charset="-122"/>
                <a:ea typeface="宋体" panose="02010600030101010101" pitchFamily="2" charset="-122"/>
                <a:cs typeface="宋体" panose="02010600030101010101" pitchFamily="2" charset="-122"/>
              </a:rPr>
              <a:t>文字常量</a:t>
            </a:r>
            <a:r>
              <a:rPr lang="zh-CN" altLang="en-US" sz="2400" b="1" dirty="0">
                <a:latin typeface="宋体" panose="02010600030101010101" pitchFamily="2" charset="-122"/>
                <a:ea typeface="宋体" panose="02010600030101010101" pitchFamily="2" charset="-122"/>
                <a:cs typeface="宋体" panose="02010600030101010101" pitchFamily="2" charset="-122"/>
              </a:rPr>
              <a:t>是指在程序中直接出现的数据。</a:t>
            </a:r>
            <a:endParaRPr lang="en-US" altLang="zh-CN" sz="2400" b="1" dirty="0">
              <a:latin typeface="宋体" panose="02010600030101010101" pitchFamily="2" charset="-122"/>
              <a:ea typeface="宋体" panose="02010600030101010101" pitchFamily="2" charset="-122"/>
              <a:cs typeface="宋体" panose="02010600030101010101" pitchFamily="2" charset="-122"/>
            </a:endParaRPr>
          </a:p>
          <a:p>
            <a:pPr algn="just" eaLnBrk="1" hangingPunct="1"/>
            <a:r>
              <a:rPr lang="zh-CN" altLang="en-US" sz="2400" b="1" dirty="0">
                <a:solidFill>
                  <a:srgbClr val="000099"/>
                </a:solidFill>
                <a:latin typeface="宋体" panose="02010600030101010101" pitchFamily="2" charset="-122"/>
              </a:rPr>
              <a:t>符号常量：程序代码中预先统一设定的文字常量，并以自定义的标识符表示。</a:t>
            </a:r>
            <a:r>
              <a:rPr lang="zh-CN" altLang="en-US" sz="2400" b="1" dirty="0">
                <a:latin typeface="宋体" panose="02010600030101010101" pitchFamily="2" charset="-122"/>
              </a:rPr>
              <a:t>例：</a:t>
            </a:r>
            <a:r>
              <a:rPr lang="en-US" altLang="zh-CN" sz="2400" dirty="0">
                <a:latin typeface="Consolas" panose="020B0609020204030204" pitchFamily="49" charset="0"/>
              </a:rPr>
              <a:t>#define N  100</a:t>
            </a:r>
          </a:p>
          <a:p>
            <a:pPr algn="just" eaLnBrk="1" hangingPunct="1"/>
            <a:r>
              <a:rPr lang="zh-CN" altLang="en-US" sz="2400" b="1" dirty="0">
                <a:solidFill>
                  <a:srgbClr val="000099"/>
                </a:solidFill>
                <a:latin typeface="宋体" panose="02010600030101010101" pitchFamily="2" charset="-122"/>
              </a:rPr>
              <a:t>不能改写的变量</a:t>
            </a:r>
            <a:r>
              <a:rPr lang="en-US" altLang="zh-CN" sz="2400" b="1" dirty="0">
                <a:solidFill>
                  <a:srgbClr val="000099"/>
                </a:solidFill>
                <a:latin typeface="宋体" panose="02010600030101010101" pitchFamily="2" charset="-122"/>
              </a:rPr>
              <a:t>(</a:t>
            </a:r>
            <a:r>
              <a:rPr lang="zh-CN" altLang="en-US" sz="2400" b="1" dirty="0">
                <a:solidFill>
                  <a:srgbClr val="000099"/>
                </a:solidFill>
                <a:latin typeface="宋体" panose="02010600030101010101" pitchFamily="2" charset="-122"/>
              </a:rPr>
              <a:t>命名常量</a:t>
            </a:r>
            <a:r>
              <a:rPr lang="en-US" altLang="zh-CN" sz="2400" b="1" dirty="0">
                <a:solidFill>
                  <a:srgbClr val="000099"/>
                </a:solidFill>
                <a:latin typeface="宋体" panose="02010600030101010101" pitchFamily="2" charset="-122"/>
              </a:rPr>
              <a:t>)</a:t>
            </a:r>
            <a:endParaRPr lang="zh-CN" altLang="en-US" sz="2400" b="1" u="sng" dirty="0">
              <a:solidFill>
                <a:srgbClr val="000099"/>
              </a:solidFill>
              <a:latin typeface="宋体" panose="02010600030101010101" pitchFamily="2" charset="-122"/>
            </a:endParaRPr>
          </a:p>
          <a:p>
            <a:pPr marL="0" indent="0" algn="just" eaLnBrk="1" hangingPunct="1">
              <a:buNone/>
            </a:pPr>
            <a:r>
              <a:rPr lang="zh-CN" altLang="en-US" sz="2400" b="1" dirty="0">
                <a:latin typeface="宋体" panose="02010600030101010101" pitchFamily="2" charset="-122"/>
              </a:rPr>
              <a:t>	添加</a:t>
            </a:r>
            <a:r>
              <a:rPr lang="en-US" altLang="zh-CN" sz="2400" b="1" dirty="0">
                <a:solidFill>
                  <a:srgbClr val="FF3300"/>
                </a:solidFill>
                <a:latin typeface="宋体" panose="02010600030101010101" pitchFamily="2" charset="-122"/>
              </a:rPr>
              <a:t>const</a:t>
            </a:r>
            <a:r>
              <a:rPr lang="zh-CN" altLang="en-US" sz="2400" b="1" dirty="0">
                <a:solidFill>
                  <a:srgbClr val="FF3300"/>
                </a:solidFill>
                <a:latin typeface="宋体" panose="02010600030101010101" pitchFamily="2" charset="-122"/>
              </a:rPr>
              <a:t>修饰符的</a:t>
            </a:r>
            <a:r>
              <a:rPr lang="zh-CN" altLang="en-US" sz="2400" b="1" dirty="0">
                <a:latin typeface="宋体" panose="02010600030101010101" pitchFamily="2" charset="-122"/>
              </a:rPr>
              <a:t>变量一旦声明并初始化</a:t>
            </a:r>
            <a:r>
              <a:rPr lang="en-US" altLang="zh-CN" sz="2400" b="1" dirty="0">
                <a:latin typeface="宋体" panose="02010600030101010101" pitchFamily="2" charset="-122"/>
              </a:rPr>
              <a:t>,</a:t>
            </a:r>
            <a:r>
              <a:rPr lang="zh-CN" altLang="en-US" sz="2400" b="1" dirty="0">
                <a:latin typeface="宋体" panose="02010600030101010101" pitchFamily="2" charset="-122"/>
              </a:rPr>
              <a:t>便</a:t>
            </a:r>
            <a:r>
              <a:rPr lang="zh-CN" altLang="en-US" sz="2400" b="1" u="sng" dirty="0">
                <a:solidFill>
                  <a:srgbClr val="000099"/>
                </a:solidFill>
                <a:latin typeface="宋体" panose="02010600030101010101" pitchFamily="2" charset="-122"/>
              </a:rPr>
              <a:t>不允许程序去改变该存储空间中的数据</a:t>
            </a:r>
            <a:r>
              <a:rPr lang="zh-CN" altLang="en-US" sz="2400" b="1" dirty="0">
                <a:latin typeface="宋体" panose="02010600030101010101" pitchFamily="2" charset="-122"/>
              </a:rPr>
              <a:t>。</a:t>
            </a:r>
            <a:endParaRPr lang="en-US" altLang="zh-CN" sz="2400" b="1" dirty="0">
              <a:latin typeface="宋体" panose="02010600030101010101" pitchFamily="2" charset="-122"/>
            </a:endParaRPr>
          </a:p>
          <a:p>
            <a:pPr marL="933450" lvl="1" indent="-533400" eaLnBrk="1" hangingPunct="1">
              <a:buNone/>
            </a:pPr>
            <a:r>
              <a:rPr lang="en-US" altLang="zh-CN" sz="2400" b="1" dirty="0">
                <a:solidFill>
                  <a:srgbClr val="0000FF"/>
                </a:solidFill>
              </a:rPr>
              <a:t>int * </a:t>
            </a:r>
            <a:r>
              <a:rPr lang="en-US" altLang="zh-CN" sz="2400" b="1" dirty="0">
                <a:solidFill>
                  <a:srgbClr val="FF0000"/>
                </a:solidFill>
              </a:rPr>
              <a:t>const</a:t>
            </a:r>
            <a:r>
              <a:rPr lang="en-US" altLang="zh-CN" sz="2400" b="1" dirty="0">
                <a:solidFill>
                  <a:srgbClr val="0000FF"/>
                </a:solidFill>
              </a:rPr>
              <a:t>  </a:t>
            </a:r>
            <a:r>
              <a:rPr lang="en-US" altLang="zh-CN" sz="2400" b="1" dirty="0" err="1">
                <a:solidFill>
                  <a:srgbClr val="0000FF"/>
                </a:solidFill>
              </a:rPr>
              <a:t>iPtr</a:t>
            </a:r>
            <a:r>
              <a:rPr lang="en-US" altLang="zh-CN" sz="2400" b="1" dirty="0">
                <a:solidFill>
                  <a:srgbClr val="0000FF"/>
                </a:solidFill>
              </a:rPr>
              <a:t>； </a:t>
            </a:r>
            <a:r>
              <a:rPr lang="en-US" altLang="zh-CN" sz="2400" b="1" i="1" dirty="0"/>
              <a:t>/*</a:t>
            </a:r>
            <a:r>
              <a:rPr lang="en-US" altLang="zh-CN" sz="2400" b="1" i="1" dirty="0" err="1"/>
              <a:t>iPtr</a:t>
            </a:r>
            <a:r>
              <a:rPr lang="zh-CN" altLang="en-US" sz="2400" b="1" i="1" dirty="0"/>
              <a:t>不能被修改，只能指向</a:t>
            </a:r>
            <a:r>
              <a:rPr lang="en-US" altLang="zh-CN" sz="2400" b="1" i="1" dirty="0" err="1"/>
              <a:t>i</a:t>
            </a:r>
            <a:r>
              <a:rPr lang="zh-CN" altLang="en-US" sz="2400" b="1" i="1" dirty="0"/>
              <a:t>*</a:t>
            </a:r>
            <a:r>
              <a:rPr lang="en-US" altLang="zh-CN" sz="2400" b="1" i="1" dirty="0"/>
              <a:t>/</a:t>
            </a:r>
            <a:endParaRPr lang="en-US" altLang="zh-CN" sz="2400" b="1" dirty="0"/>
          </a:p>
          <a:p>
            <a:pPr marL="933450" lvl="1" indent="-533400" eaLnBrk="1" hangingPunct="1">
              <a:buNone/>
            </a:pPr>
            <a:r>
              <a:rPr lang="en-US" altLang="zh-CN" sz="2400" b="1" dirty="0">
                <a:solidFill>
                  <a:srgbClr val="FF0000"/>
                </a:solidFill>
              </a:rPr>
              <a:t>const </a:t>
            </a:r>
            <a:r>
              <a:rPr lang="en-US" altLang="zh-CN" sz="2400" b="1" dirty="0">
                <a:solidFill>
                  <a:srgbClr val="0000FF"/>
                </a:solidFill>
              </a:rPr>
              <a:t>int * </a:t>
            </a:r>
            <a:r>
              <a:rPr lang="en-US" altLang="zh-CN" sz="2400" b="1" dirty="0" err="1">
                <a:solidFill>
                  <a:srgbClr val="0000FF"/>
                </a:solidFill>
              </a:rPr>
              <a:t>iPtr</a:t>
            </a:r>
            <a:r>
              <a:rPr lang="en-US" altLang="zh-CN" sz="2400" b="1" dirty="0">
                <a:solidFill>
                  <a:srgbClr val="0000FF"/>
                </a:solidFill>
              </a:rPr>
              <a:t> </a:t>
            </a:r>
            <a:r>
              <a:rPr lang="en-US" altLang="zh-CN" sz="2400" b="1" dirty="0"/>
              <a:t>；</a:t>
            </a:r>
            <a:r>
              <a:rPr lang="en-US" altLang="zh-CN" sz="2400" b="1" i="1" dirty="0"/>
              <a:t>/*</a:t>
            </a:r>
            <a:r>
              <a:rPr lang="en-US" altLang="zh-CN" sz="2400" b="1" i="1" dirty="0" err="1"/>
              <a:t>iPtr</a:t>
            </a:r>
            <a:r>
              <a:rPr lang="zh-CN" altLang="en-US" sz="2400" b="1" i="1" dirty="0"/>
              <a:t>指向的整数变量不能被修改*</a:t>
            </a:r>
            <a:r>
              <a:rPr lang="en-US" altLang="zh-CN" sz="2400" b="1" i="1" dirty="0"/>
              <a:t>/</a:t>
            </a:r>
            <a:endParaRPr lang="en-US" altLang="zh-CN" sz="2400" dirty="0">
              <a:latin typeface="Consolas" panose="020B0609020204030204" pitchFamily="49" charset="0"/>
            </a:endParaRPr>
          </a:p>
          <a:p>
            <a:pPr algn="just" eaLnBrk="1" hangingPunct="1"/>
            <a:endParaRPr lang="zh-CN" altLang="en-US" sz="2400" b="1"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灯片编号占位符 5">
            <a:extLst>
              <a:ext uri="{FF2B5EF4-FFF2-40B4-BE49-F238E27FC236}">
                <a16:creationId xmlns:a16="http://schemas.microsoft.com/office/drawing/2014/main" id="{4E0FC75F-E75B-4D5D-8452-71034714AF1B}"/>
              </a:ext>
            </a:extLst>
          </p:cNvPr>
          <p:cNvSpPr>
            <a:spLocks noGrp="1" noChangeArrowheads="1"/>
          </p:cNvSpPr>
          <p:nvPr>
            <p:ph type="sldNum" sz="quarter" idx="12"/>
          </p:nvPr>
        </p:nvSpPr>
        <p:spPr bwMode="auto">
          <a:xfrm>
            <a:off x="6934200" y="6324600"/>
            <a:ext cx="1905000" cy="457200"/>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50000"/>
              </a:spcBef>
              <a:spcAft>
                <a:spcPct val="0"/>
              </a:spcAft>
              <a:buFont typeface="Arial" panose="020B0604020202020204" pitchFamily="34" charset="0"/>
              <a:defRPr sz="1400" b="1" kern="1200" noProof="1">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a:lstStyle>
          <a:p>
            <a:fld id="{184253C2-A1F9-42F1-81C8-0D63D8B02D10}" type="slidenum">
              <a:rPr lang="zh-CN" altLang="en-US" smtClean="0"/>
              <a:pPr/>
              <a:t>44</a:t>
            </a:fld>
            <a:endParaRPr lang="zh-CN" altLang="en-US"/>
          </a:p>
        </p:txBody>
      </p:sp>
      <p:sp>
        <p:nvSpPr>
          <p:cNvPr id="24578" name="Rectangle 4">
            <a:extLst>
              <a:ext uri="{FF2B5EF4-FFF2-40B4-BE49-F238E27FC236}">
                <a16:creationId xmlns:a16="http://schemas.microsoft.com/office/drawing/2014/main" id="{0F89FB19-A951-45BF-9BC0-EAC7D14E29D2}"/>
              </a:ext>
            </a:extLst>
          </p:cNvPr>
          <p:cNvSpPr>
            <a:spLocks noGrp="1" noChangeArrowheads="1"/>
          </p:cNvSpPr>
          <p:nvPr>
            <p:ph type="title"/>
          </p:nvPr>
        </p:nvSpPr>
        <p:spPr>
          <a:xfrm>
            <a:off x="4011612" y="344191"/>
            <a:ext cx="4873625" cy="720725"/>
          </a:xfrm>
        </p:spPr>
        <p:txBody>
          <a:bodyPr/>
          <a:lstStyle/>
          <a:p>
            <a:pPr eaLnBrk="1" hangingPunct="1"/>
            <a:r>
              <a:rPr lang="zh-CN" altLang="en-US" b="1" dirty="0"/>
              <a:t>字符串常量</a:t>
            </a:r>
            <a:endParaRPr lang="en-US" altLang="zh-CN" b="1" dirty="0"/>
          </a:p>
        </p:txBody>
      </p:sp>
      <p:sp>
        <p:nvSpPr>
          <p:cNvPr id="24579" name="Rectangle 5">
            <a:extLst>
              <a:ext uri="{FF2B5EF4-FFF2-40B4-BE49-F238E27FC236}">
                <a16:creationId xmlns:a16="http://schemas.microsoft.com/office/drawing/2014/main" id="{CEFC013C-C9FC-4701-B768-1F65DDE998F8}"/>
              </a:ext>
            </a:extLst>
          </p:cNvPr>
          <p:cNvSpPr>
            <a:spLocks noGrp="1" noChangeArrowheads="1"/>
          </p:cNvSpPr>
          <p:nvPr>
            <p:ph idx="1"/>
          </p:nvPr>
        </p:nvSpPr>
        <p:spPr>
          <a:xfrm>
            <a:off x="3802063" y="1311275"/>
            <a:ext cx="5292725" cy="2646363"/>
          </a:xfrm>
          <a:solidFill>
            <a:srgbClr val="FFFF99"/>
          </a:solidFill>
          <a:ln>
            <a:solidFill>
              <a:schemeClr val="accent1"/>
            </a:solidFill>
            <a:miter lim="800000"/>
            <a:headEnd/>
            <a:tailEnd/>
          </a:ln>
        </p:spPr>
        <p:txBody>
          <a:bodyPr/>
          <a:lstStyle/>
          <a:p>
            <a:pPr eaLnBrk="1" hangingPunct="1">
              <a:lnSpc>
                <a:spcPct val="90000"/>
              </a:lnSpc>
              <a:buFontTx/>
              <a:buNone/>
            </a:pPr>
            <a:r>
              <a:rPr lang="en-US" altLang="zh-CN" sz="2400" dirty="0">
                <a:latin typeface="Consolas" panose="020B0609020204030204" pitchFamily="49" charset="0"/>
              </a:rPr>
              <a:t>int</a:t>
            </a:r>
            <a:r>
              <a:rPr lang="zh-CN" altLang="en-US" sz="2400" dirty="0">
                <a:latin typeface="Consolas" panose="020B0609020204030204" pitchFamily="49" charset="0"/>
              </a:rPr>
              <a:t> </a:t>
            </a:r>
            <a:r>
              <a:rPr lang="en-US" altLang="zh-CN" sz="2400" dirty="0">
                <a:latin typeface="Consolas" panose="020B0609020204030204" pitchFamily="49" charset="0"/>
              </a:rPr>
              <a:t>main()</a:t>
            </a:r>
          </a:p>
          <a:p>
            <a:pPr eaLnBrk="1" hangingPunct="1">
              <a:lnSpc>
                <a:spcPct val="90000"/>
              </a:lnSpc>
              <a:buFontTx/>
              <a:buNone/>
            </a:pPr>
            <a:r>
              <a:rPr lang="en-US" altLang="zh-CN" sz="2400" dirty="0">
                <a:latin typeface="Consolas" panose="020B0609020204030204" pitchFamily="49" charset="0"/>
              </a:rPr>
              <a:t>{</a:t>
            </a:r>
          </a:p>
          <a:p>
            <a:pPr eaLnBrk="1" hangingPunct="1">
              <a:lnSpc>
                <a:spcPct val="90000"/>
              </a:lnSpc>
              <a:buFontTx/>
              <a:buNone/>
            </a:pPr>
            <a:r>
              <a:rPr lang="en-US" altLang="zh-CN" sz="2400" dirty="0">
                <a:latin typeface="Consolas" panose="020B0609020204030204" pitchFamily="49" charset="0"/>
              </a:rPr>
              <a:t>  char </a:t>
            </a:r>
            <a:r>
              <a:rPr lang="en-US" altLang="zh-CN" sz="2400" dirty="0" err="1">
                <a:latin typeface="Consolas" panose="020B0609020204030204" pitchFamily="49" charset="0"/>
              </a:rPr>
              <a:t>string1</a:t>
            </a:r>
            <a:r>
              <a:rPr lang="en-US" altLang="zh-CN" sz="2400" dirty="0">
                <a:latin typeface="Consolas" panose="020B0609020204030204" pitchFamily="49" charset="0"/>
              </a:rPr>
              <a:t>[10], </a:t>
            </a:r>
            <a:r>
              <a:rPr lang="en-US" altLang="zh-CN" sz="2400" dirty="0" err="1">
                <a:latin typeface="Consolas" panose="020B0609020204030204" pitchFamily="49" charset="0"/>
              </a:rPr>
              <a:t>string3</a:t>
            </a:r>
            <a:r>
              <a:rPr lang="en-US" altLang="zh-CN" sz="2400" dirty="0">
                <a:latin typeface="Consolas" panose="020B0609020204030204" pitchFamily="49" charset="0"/>
              </a:rPr>
              <a:t>[10];</a:t>
            </a:r>
          </a:p>
          <a:p>
            <a:pPr eaLnBrk="1" hangingPunct="1">
              <a:lnSpc>
                <a:spcPct val="90000"/>
              </a:lnSpc>
              <a:buFontTx/>
              <a:buNone/>
            </a:pPr>
            <a:r>
              <a:rPr lang="en-US" altLang="zh-CN" sz="2400" dirty="0">
                <a:latin typeface="Consolas" panose="020B0609020204030204" pitchFamily="49" charset="0"/>
              </a:rPr>
              <a:t> const char * </a:t>
            </a:r>
            <a:r>
              <a:rPr lang="en-US" altLang="zh-CN" sz="2400" dirty="0" err="1">
                <a:latin typeface="Consolas" panose="020B0609020204030204" pitchFamily="49" charset="0"/>
              </a:rPr>
              <a:t>string2</a:t>
            </a:r>
            <a:r>
              <a:rPr lang="en-US" altLang="zh-CN" sz="2400" dirty="0">
                <a:latin typeface="Consolas" panose="020B0609020204030204" pitchFamily="49" charset="0"/>
              </a:rPr>
              <a:t> ="Hello";</a:t>
            </a:r>
          </a:p>
          <a:p>
            <a:pPr eaLnBrk="1" hangingPunct="1">
              <a:lnSpc>
                <a:spcPct val="90000"/>
              </a:lnSpc>
              <a:buFontTx/>
              <a:buNone/>
            </a:pPr>
            <a:r>
              <a:rPr lang="en-US" altLang="zh-CN" sz="2400" dirty="0">
                <a:latin typeface="Consolas" panose="020B0609020204030204" pitchFamily="49" charset="0"/>
              </a:rPr>
              <a:t>  char </a:t>
            </a:r>
            <a:r>
              <a:rPr lang="en-US" altLang="zh-CN" sz="2400" dirty="0" err="1">
                <a:latin typeface="Consolas" panose="020B0609020204030204" pitchFamily="49" charset="0"/>
              </a:rPr>
              <a:t>string4</a:t>
            </a:r>
            <a:r>
              <a:rPr lang="en-US" altLang="zh-CN" sz="2400" dirty="0">
                <a:latin typeface="Consolas" panose="020B0609020204030204" pitchFamily="49" charset="0"/>
              </a:rPr>
              <a:t>[]="Good Bye";</a:t>
            </a:r>
          </a:p>
          <a:p>
            <a:pPr eaLnBrk="1" hangingPunct="1">
              <a:lnSpc>
                <a:spcPct val="90000"/>
              </a:lnSpc>
              <a:buFontTx/>
              <a:buNone/>
            </a:pPr>
            <a:r>
              <a:rPr lang="en-US" altLang="zh-CN" sz="2400" dirty="0">
                <a:latin typeface="Consolas" panose="020B0609020204030204" pitchFamily="49" charset="0"/>
              </a:rPr>
              <a:t>     ……</a:t>
            </a:r>
          </a:p>
          <a:p>
            <a:pPr eaLnBrk="1" hangingPunct="1">
              <a:lnSpc>
                <a:spcPct val="90000"/>
              </a:lnSpc>
              <a:buFontTx/>
              <a:buNone/>
            </a:pPr>
            <a:r>
              <a:rPr lang="en-US" altLang="zh-CN" sz="2400" dirty="0">
                <a:latin typeface="Consolas" panose="020B0609020204030204" pitchFamily="49" charset="0"/>
              </a:rPr>
              <a:t>}</a:t>
            </a:r>
          </a:p>
        </p:txBody>
      </p:sp>
      <p:sp>
        <p:nvSpPr>
          <p:cNvPr id="24580" name="Text Box 18">
            <a:extLst>
              <a:ext uri="{FF2B5EF4-FFF2-40B4-BE49-F238E27FC236}">
                <a16:creationId xmlns:a16="http://schemas.microsoft.com/office/drawing/2014/main" id="{6A2CDC7D-344E-4EB9-8122-23EC103FEA00}"/>
              </a:ext>
            </a:extLst>
          </p:cNvPr>
          <p:cNvSpPr txBox="1">
            <a:spLocks noChangeArrowheads="1"/>
          </p:cNvSpPr>
          <p:nvPr/>
        </p:nvSpPr>
        <p:spPr bwMode="auto">
          <a:xfrm>
            <a:off x="0" y="1484313"/>
            <a:ext cx="4176713" cy="430212"/>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200" b="1" dirty="0"/>
              <a:t>在内存的常量区里保存"</a:t>
            </a:r>
            <a:r>
              <a:rPr lang="en-US" altLang="zh-CN" sz="2200" b="1" dirty="0"/>
              <a:t>Hello"</a:t>
            </a:r>
          </a:p>
        </p:txBody>
      </p:sp>
      <p:sp>
        <p:nvSpPr>
          <p:cNvPr id="24581" name="Text Box 19">
            <a:extLst>
              <a:ext uri="{FF2B5EF4-FFF2-40B4-BE49-F238E27FC236}">
                <a16:creationId xmlns:a16="http://schemas.microsoft.com/office/drawing/2014/main" id="{795BC4DE-13F9-4DA9-864E-D5A57066B17C}"/>
              </a:ext>
            </a:extLst>
          </p:cNvPr>
          <p:cNvSpPr txBox="1">
            <a:spLocks noChangeArrowheads="1"/>
          </p:cNvSpPr>
          <p:nvPr/>
        </p:nvSpPr>
        <p:spPr bwMode="auto">
          <a:xfrm>
            <a:off x="684213" y="5443538"/>
            <a:ext cx="2592387" cy="398462"/>
          </a:xfrm>
          <a:prstGeom prst="rect">
            <a:avLst/>
          </a:prstGeom>
          <a:solidFill>
            <a:srgbClr val="66FFCC"/>
          </a:solidFill>
          <a:ln w="9525">
            <a:solidFill>
              <a:schemeClr val="tx1"/>
            </a:solidFill>
            <a:miter lim="800000"/>
            <a:headEnd/>
            <a:tailEnd/>
          </a:ln>
          <a:effectLst>
            <a:prstShdw prst="shdw17" dist="17961" dir="13500000">
              <a:srgbClr val="000000"/>
            </a:prstShdw>
          </a:effec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000" b="1"/>
              <a:t>数组</a:t>
            </a:r>
            <a:r>
              <a:rPr lang="en-US" altLang="zh-CN" sz="2000" b="1"/>
              <a:t>string1</a:t>
            </a:r>
          </a:p>
        </p:txBody>
      </p:sp>
      <p:sp>
        <p:nvSpPr>
          <p:cNvPr id="24582" name="Text Box 20">
            <a:extLst>
              <a:ext uri="{FF2B5EF4-FFF2-40B4-BE49-F238E27FC236}">
                <a16:creationId xmlns:a16="http://schemas.microsoft.com/office/drawing/2014/main" id="{AEC78347-15F7-4B57-90B1-5B5DF285352A}"/>
              </a:ext>
            </a:extLst>
          </p:cNvPr>
          <p:cNvSpPr txBox="1">
            <a:spLocks noChangeArrowheads="1"/>
          </p:cNvSpPr>
          <p:nvPr/>
        </p:nvSpPr>
        <p:spPr bwMode="auto">
          <a:xfrm>
            <a:off x="684213" y="5026025"/>
            <a:ext cx="2592387" cy="398463"/>
          </a:xfrm>
          <a:prstGeom prst="rect">
            <a:avLst/>
          </a:prstGeom>
          <a:solidFill>
            <a:srgbClr val="FFFF66"/>
          </a:solidFill>
          <a:ln w="9525">
            <a:solidFill>
              <a:schemeClr val="tx1"/>
            </a:solidFill>
            <a:miter lim="800000"/>
            <a:headEnd/>
            <a:tailEnd/>
          </a:ln>
          <a:effectLst>
            <a:prstShdw prst="shdw17" dist="17961" dir="13500000">
              <a:srgbClr val="000000"/>
            </a:prstShdw>
          </a:effec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000" b="1" dirty="0"/>
              <a:t>指针</a:t>
            </a:r>
            <a:r>
              <a:rPr lang="en-US" altLang="zh-CN" sz="2000" b="1" dirty="0" err="1"/>
              <a:t>string2</a:t>
            </a:r>
            <a:endParaRPr lang="en-US" altLang="zh-CN" sz="2000" b="1" dirty="0"/>
          </a:p>
        </p:txBody>
      </p:sp>
      <p:sp>
        <p:nvSpPr>
          <p:cNvPr id="24583" name="Text Box 21">
            <a:extLst>
              <a:ext uri="{FF2B5EF4-FFF2-40B4-BE49-F238E27FC236}">
                <a16:creationId xmlns:a16="http://schemas.microsoft.com/office/drawing/2014/main" id="{D145CA42-103F-44E7-8AE5-1B3509F38786}"/>
              </a:ext>
            </a:extLst>
          </p:cNvPr>
          <p:cNvSpPr txBox="1">
            <a:spLocks noChangeArrowheads="1"/>
          </p:cNvSpPr>
          <p:nvPr/>
        </p:nvSpPr>
        <p:spPr bwMode="auto">
          <a:xfrm>
            <a:off x="3276600" y="5445125"/>
            <a:ext cx="2160588" cy="39687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b="1"/>
              <a:t>10</a:t>
            </a:r>
            <a:r>
              <a:rPr lang="zh-CN" altLang="en-US" sz="2000" b="1"/>
              <a:t>字节</a:t>
            </a:r>
          </a:p>
        </p:txBody>
      </p:sp>
      <p:sp>
        <p:nvSpPr>
          <p:cNvPr id="24584" name="Text Box 22">
            <a:extLst>
              <a:ext uri="{FF2B5EF4-FFF2-40B4-BE49-F238E27FC236}">
                <a16:creationId xmlns:a16="http://schemas.microsoft.com/office/drawing/2014/main" id="{3C836E42-CF7E-44DE-8279-A4FD48F1C76E}"/>
              </a:ext>
            </a:extLst>
          </p:cNvPr>
          <p:cNvSpPr txBox="1">
            <a:spLocks noChangeArrowheads="1"/>
          </p:cNvSpPr>
          <p:nvPr/>
        </p:nvSpPr>
        <p:spPr bwMode="auto">
          <a:xfrm>
            <a:off x="4789488" y="4981873"/>
            <a:ext cx="3743670" cy="92333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b="1" dirty="0"/>
              <a:t>8</a:t>
            </a:r>
            <a:r>
              <a:rPr lang="zh-CN" altLang="en-US" sz="2000" b="1" dirty="0"/>
              <a:t>字节（</a:t>
            </a:r>
            <a:r>
              <a:rPr lang="en-US" altLang="zh-CN" sz="2000" b="1" dirty="0" err="1"/>
              <a:t>sizeof</a:t>
            </a:r>
            <a:r>
              <a:rPr lang="en-US" altLang="zh-CN" sz="2000" b="1" dirty="0"/>
              <a:t>(char *)</a:t>
            </a:r>
            <a:r>
              <a:rPr lang="zh-CN" altLang="en-US" sz="2000" b="1" dirty="0"/>
              <a:t>值为</a:t>
            </a:r>
            <a:r>
              <a:rPr lang="en-US" altLang="zh-CN" sz="2000" b="1" dirty="0"/>
              <a:t>8</a:t>
            </a:r>
            <a:r>
              <a:rPr lang="zh-CN" altLang="en-US" sz="2000" b="1" dirty="0"/>
              <a:t>）指针的字节数和计算机字长一致</a:t>
            </a:r>
            <a:r>
              <a:rPr lang="en-US" altLang="zh-CN" sz="2000" b="1" dirty="0"/>
              <a:t>.</a:t>
            </a:r>
            <a:endParaRPr lang="zh-CN" altLang="en-US" sz="2000" b="1" dirty="0"/>
          </a:p>
        </p:txBody>
      </p:sp>
      <p:sp>
        <p:nvSpPr>
          <p:cNvPr id="24585" name="Text Box 23">
            <a:extLst>
              <a:ext uri="{FF2B5EF4-FFF2-40B4-BE49-F238E27FC236}">
                <a16:creationId xmlns:a16="http://schemas.microsoft.com/office/drawing/2014/main" id="{2D30B8C8-FE8A-41D7-A86B-FF992B9030F3}"/>
              </a:ext>
            </a:extLst>
          </p:cNvPr>
          <p:cNvSpPr txBox="1">
            <a:spLocks noChangeArrowheads="1"/>
          </p:cNvSpPr>
          <p:nvPr/>
        </p:nvSpPr>
        <p:spPr bwMode="auto">
          <a:xfrm>
            <a:off x="684213" y="4622800"/>
            <a:ext cx="2592387" cy="398463"/>
          </a:xfrm>
          <a:prstGeom prst="rect">
            <a:avLst/>
          </a:prstGeom>
          <a:solidFill>
            <a:srgbClr val="66FFCC"/>
          </a:solidFill>
          <a:ln w="9525">
            <a:solidFill>
              <a:schemeClr val="tx1"/>
            </a:solidFill>
            <a:miter lim="800000"/>
            <a:headEnd/>
            <a:tailEnd/>
          </a:ln>
          <a:effectLst>
            <a:prstShdw prst="shdw17" dist="17961" dir="13500000">
              <a:srgbClr val="000000"/>
            </a:prstShdw>
          </a:effec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000" b="1"/>
              <a:t>数组</a:t>
            </a:r>
            <a:r>
              <a:rPr lang="en-US" altLang="zh-CN" sz="2000" b="1"/>
              <a:t>string3</a:t>
            </a:r>
          </a:p>
        </p:txBody>
      </p:sp>
      <p:sp>
        <p:nvSpPr>
          <p:cNvPr id="24586" name="Text Box 24">
            <a:extLst>
              <a:ext uri="{FF2B5EF4-FFF2-40B4-BE49-F238E27FC236}">
                <a16:creationId xmlns:a16="http://schemas.microsoft.com/office/drawing/2014/main" id="{4E192BCC-2191-4843-9A42-B3FBFBBCEC52}"/>
              </a:ext>
            </a:extLst>
          </p:cNvPr>
          <p:cNvSpPr txBox="1">
            <a:spLocks noChangeArrowheads="1"/>
          </p:cNvSpPr>
          <p:nvPr/>
        </p:nvSpPr>
        <p:spPr bwMode="auto">
          <a:xfrm>
            <a:off x="684213" y="4219575"/>
            <a:ext cx="2592387" cy="398463"/>
          </a:xfrm>
          <a:prstGeom prst="rect">
            <a:avLst/>
          </a:prstGeom>
          <a:solidFill>
            <a:srgbClr val="66FFCC"/>
          </a:solidFill>
          <a:ln w="9525">
            <a:solidFill>
              <a:schemeClr val="tx1"/>
            </a:solidFill>
            <a:miter lim="800000"/>
            <a:headEnd/>
            <a:tailEnd/>
          </a:ln>
          <a:effectLst>
            <a:prstShdw prst="shdw17" dist="17961" dir="13500000">
              <a:srgbClr val="000000"/>
            </a:prstShdw>
          </a:effec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000" b="1"/>
              <a:t>数组</a:t>
            </a:r>
            <a:r>
              <a:rPr lang="en-US" altLang="zh-CN" sz="2000" b="1"/>
              <a:t>string4</a:t>
            </a:r>
          </a:p>
        </p:txBody>
      </p:sp>
      <p:sp>
        <p:nvSpPr>
          <p:cNvPr id="24587" name="Text Box 25">
            <a:extLst>
              <a:ext uri="{FF2B5EF4-FFF2-40B4-BE49-F238E27FC236}">
                <a16:creationId xmlns:a16="http://schemas.microsoft.com/office/drawing/2014/main" id="{F6A9DAF1-62B1-4982-89F8-A2C19DB88A46}"/>
              </a:ext>
            </a:extLst>
          </p:cNvPr>
          <p:cNvSpPr txBox="1">
            <a:spLocks noChangeArrowheads="1"/>
          </p:cNvSpPr>
          <p:nvPr/>
        </p:nvSpPr>
        <p:spPr bwMode="auto">
          <a:xfrm>
            <a:off x="3276600" y="4148138"/>
            <a:ext cx="2160588" cy="39687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b="1"/>
              <a:t>9</a:t>
            </a:r>
            <a:r>
              <a:rPr lang="zh-CN" altLang="en-US" sz="2000" b="1"/>
              <a:t>字节</a:t>
            </a:r>
          </a:p>
        </p:txBody>
      </p:sp>
      <p:sp>
        <p:nvSpPr>
          <p:cNvPr id="24588" name="Text Box 26">
            <a:extLst>
              <a:ext uri="{FF2B5EF4-FFF2-40B4-BE49-F238E27FC236}">
                <a16:creationId xmlns:a16="http://schemas.microsoft.com/office/drawing/2014/main" id="{1A9810E7-A8C9-4411-AE60-69F86CB76A3A}"/>
              </a:ext>
            </a:extLst>
          </p:cNvPr>
          <p:cNvSpPr txBox="1">
            <a:spLocks noChangeArrowheads="1"/>
          </p:cNvSpPr>
          <p:nvPr/>
        </p:nvSpPr>
        <p:spPr bwMode="auto">
          <a:xfrm>
            <a:off x="3276600" y="4581525"/>
            <a:ext cx="2160588" cy="39687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b="1"/>
              <a:t>10</a:t>
            </a:r>
            <a:r>
              <a:rPr lang="zh-CN" altLang="en-US" sz="2000" b="1"/>
              <a:t>字节</a:t>
            </a:r>
          </a:p>
        </p:txBody>
      </p:sp>
      <p:sp>
        <p:nvSpPr>
          <p:cNvPr id="355355" name="Line 27">
            <a:extLst>
              <a:ext uri="{FF2B5EF4-FFF2-40B4-BE49-F238E27FC236}">
                <a16:creationId xmlns:a16="http://schemas.microsoft.com/office/drawing/2014/main" id="{748450CF-68B4-4E64-B366-D360F19E3FB4}"/>
              </a:ext>
            </a:extLst>
          </p:cNvPr>
          <p:cNvSpPr>
            <a:spLocks noChangeShapeType="1"/>
          </p:cNvSpPr>
          <p:nvPr/>
        </p:nvSpPr>
        <p:spPr bwMode="auto">
          <a:xfrm>
            <a:off x="684213" y="2132013"/>
            <a:ext cx="0" cy="2160587"/>
          </a:xfrm>
          <a:prstGeom prst="line">
            <a:avLst/>
          </a:prstGeom>
          <a:noFill/>
          <a:ln w="9525">
            <a:solidFill>
              <a:schemeClr val="tx1"/>
            </a:solidFill>
            <a:round/>
          </a:ln>
          <a:effectLst>
            <a:prstShdw prst="shdw18" dist="17961" dir="13500000">
              <a:schemeClr val="tx1">
                <a:gamma/>
                <a:shade val="60000"/>
                <a:invGamma/>
              </a:schemeClr>
            </a:prstShdw>
          </a:effectLst>
        </p:spPr>
        <p:txBody>
          <a:bodyPr wrap="none" anchor="ctr"/>
          <a:lstStyle/>
          <a:p>
            <a:pPr>
              <a:buFontTx/>
              <a:buNone/>
              <a:defRPr/>
            </a:pPr>
            <a:endParaRPr kumimoji="1" lang="zh-CN" altLang="en-US"/>
          </a:p>
        </p:txBody>
      </p:sp>
      <p:sp>
        <p:nvSpPr>
          <p:cNvPr id="355356" name="Line 28">
            <a:extLst>
              <a:ext uri="{FF2B5EF4-FFF2-40B4-BE49-F238E27FC236}">
                <a16:creationId xmlns:a16="http://schemas.microsoft.com/office/drawing/2014/main" id="{A630277D-3DC7-4954-AADE-C02E7D59D25D}"/>
              </a:ext>
            </a:extLst>
          </p:cNvPr>
          <p:cNvSpPr>
            <a:spLocks noChangeShapeType="1"/>
          </p:cNvSpPr>
          <p:nvPr/>
        </p:nvSpPr>
        <p:spPr bwMode="auto">
          <a:xfrm>
            <a:off x="3276600" y="2058988"/>
            <a:ext cx="0" cy="2160587"/>
          </a:xfrm>
          <a:prstGeom prst="line">
            <a:avLst/>
          </a:prstGeom>
          <a:noFill/>
          <a:ln w="9525">
            <a:solidFill>
              <a:schemeClr val="tx1"/>
            </a:solidFill>
            <a:round/>
          </a:ln>
          <a:effectLst>
            <a:prstShdw prst="shdw18" dist="17961" dir="13500000">
              <a:schemeClr val="tx1">
                <a:gamma/>
                <a:shade val="60000"/>
                <a:invGamma/>
              </a:schemeClr>
            </a:prstShdw>
          </a:effectLst>
        </p:spPr>
        <p:txBody>
          <a:bodyPr wrap="none" anchor="ctr"/>
          <a:lstStyle/>
          <a:p>
            <a:pPr>
              <a:buFontTx/>
              <a:buNone/>
              <a:defRPr/>
            </a:pPr>
            <a:endParaRPr kumimoji="1" lang="zh-CN" altLang="en-US"/>
          </a:p>
        </p:txBody>
      </p:sp>
      <p:sp>
        <p:nvSpPr>
          <p:cNvPr id="24591" name="Text Box 29">
            <a:extLst>
              <a:ext uri="{FF2B5EF4-FFF2-40B4-BE49-F238E27FC236}">
                <a16:creationId xmlns:a16="http://schemas.microsoft.com/office/drawing/2014/main" id="{AFBFDF17-6BE8-47CB-A718-7C955EE48355}"/>
              </a:ext>
            </a:extLst>
          </p:cNvPr>
          <p:cNvSpPr txBox="1">
            <a:spLocks noChangeArrowheads="1"/>
          </p:cNvSpPr>
          <p:nvPr/>
        </p:nvSpPr>
        <p:spPr bwMode="auto">
          <a:xfrm>
            <a:off x="684213" y="2492375"/>
            <a:ext cx="2592387" cy="398463"/>
          </a:xfrm>
          <a:prstGeom prst="rect">
            <a:avLst/>
          </a:prstGeom>
          <a:solidFill>
            <a:srgbClr val="66FFCC"/>
          </a:solidFill>
          <a:ln w="9525">
            <a:solidFill>
              <a:schemeClr val="tx1"/>
            </a:solidFill>
            <a:miter lim="800000"/>
            <a:headEnd/>
            <a:tailEnd/>
          </a:ln>
          <a:effectLst>
            <a:prstShdw prst="shdw17" dist="17961" dir="13500000">
              <a:srgbClr val="000000"/>
            </a:prstShdw>
          </a:effec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000" b="1"/>
              <a:t>"</a:t>
            </a:r>
            <a:r>
              <a:rPr lang="en-US" altLang="zh-CN" sz="2000" b="1"/>
              <a:t>Hello"</a:t>
            </a:r>
          </a:p>
        </p:txBody>
      </p:sp>
      <p:sp>
        <p:nvSpPr>
          <p:cNvPr id="355361" name="Line 33">
            <a:extLst>
              <a:ext uri="{FF2B5EF4-FFF2-40B4-BE49-F238E27FC236}">
                <a16:creationId xmlns:a16="http://schemas.microsoft.com/office/drawing/2014/main" id="{5544AE3E-1312-4BA2-BD74-E026B1827AC8}"/>
              </a:ext>
            </a:extLst>
          </p:cNvPr>
          <p:cNvSpPr>
            <a:spLocks noChangeShapeType="1"/>
          </p:cNvSpPr>
          <p:nvPr/>
        </p:nvSpPr>
        <p:spPr bwMode="auto">
          <a:xfrm flipH="1">
            <a:off x="395288" y="5227638"/>
            <a:ext cx="288925" cy="0"/>
          </a:xfrm>
          <a:prstGeom prst="line">
            <a:avLst/>
          </a:prstGeom>
          <a:noFill/>
          <a:ln w="9525">
            <a:solidFill>
              <a:schemeClr val="tx1"/>
            </a:solidFill>
            <a:round/>
          </a:ln>
          <a:effectLst>
            <a:prstShdw prst="shdw18" dist="17961" dir="13500000">
              <a:schemeClr val="tx1">
                <a:gamma/>
                <a:shade val="60000"/>
                <a:invGamma/>
              </a:schemeClr>
            </a:prstShdw>
          </a:effectLst>
        </p:spPr>
        <p:txBody>
          <a:bodyPr wrap="none" anchor="ctr"/>
          <a:lstStyle/>
          <a:p>
            <a:pPr>
              <a:buFontTx/>
              <a:buNone/>
              <a:defRPr/>
            </a:pPr>
            <a:endParaRPr kumimoji="1" lang="zh-CN" altLang="en-US"/>
          </a:p>
        </p:txBody>
      </p:sp>
      <p:sp>
        <p:nvSpPr>
          <p:cNvPr id="355362" name="Line 34">
            <a:extLst>
              <a:ext uri="{FF2B5EF4-FFF2-40B4-BE49-F238E27FC236}">
                <a16:creationId xmlns:a16="http://schemas.microsoft.com/office/drawing/2014/main" id="{1EF33CF5-D907-4BF0-BA57-33062D035551}"/>
              </a:ext>
            </a:extLst>
          </p:cNvPr>
          <p:cNvSpPr>
            <a:spLocks noChangeShapeType="1"/>
          </p:cNvSpPr>
          <p:nvPr/>
        </p:nvSpPr>
        <p:spPr bwMode="auto">
          <a:xfrm>
            <a:off x="395288" y="2635250"/>
            <a:ext cx="0" cy="2592388"/>
          </a:xfrm>
          <a:prstGeom prst="line">
            <a:avLst/>
          </a:prstGeom>
          <a:noFill/>
          <a:ln w="9525">
            <a:solidFill>
              <a:schemeClr val="tx1"/>
            </a:solidFill>
            <a:round/>
          </a:ln>
          <a:effectLst>
            <a:prstShdw prst="shdw18" dist="17961" dir="13500000">
              <a:schemeClr val="tx1">
                <a:gamma/>
                <a:shade val="60000"/>
                <a:invGamma/>
              </a:schemeClr>
            </a:prstShdw>
          </a:effectLst>
        </p:spPr>
        <p:txBody>
          <a:bodyPr wrap="none" anchor="ctr"/>
          <a:lstStyle/>
          <a:p>
            <a:pPr>
              <a:buFontTx/>
              <a:buNone/>
              <a:defRPr/>
            </a:pPr>
            <a:endParaRPr kumimoji="1" lang="zh-CN" altLang="en-US"/>
          </a:p>
        </p:txBody>
      </p:sp>
      <p:sp>
        <p:nvSpPr>
          <p:cNvPr id="355363" name="Line 35">
            <a:extLst>
              <a:ext uri="{FF2B5EF4-FFF2-40B4-BE49-F238E27FC236}">
                <a16:creationId xmlns:a16="http://schemas.microsoft.com/office/drawing/2014/main" id="{DD0C7137-ABB9-4BD6-AB7B-6E7F5757F9BC}"/>
              </a:ext>
            </a:extLst>
          </p:cNvPr>
          <p:cNvSpPr>
            <a:spLocks noChangeShapeType="1"/>
          </p:cNvSpPr>
          <p:nvPr/>
        </p:nvSpPr>
        <p:spPr bwMode="auto">
          <a:xfrm>
            <a:off x="395288" y="2635250"/>
            <a:ext cx="288925" cy="0"/>
          </a:xfrm>
          <a:prstGeom prst="line">
            <a:avLst/>
          </a:prstGeom>
          <a:noFill/>
          <a:ln w="9525">
            <a:solidFill>
              <a:schemeClr val="tx1"/>
            </a:solidFill>
            <a:round/>
            <a:tailEnd type="triangle" w="med" len="med"/>
          </a:ln>
          <a:effectLst>
            <a:prstShdw prst="shdw18" dist="17961" dir="13500000">
              <a:schemeClr val="tx1">
                <a:gamma/>
                <a:shade val="60000"/>
                <a:invGamma/>
              </a:schemeClr>
            </a:prstShdw>
          </a:effectLst>
        </p:spPr>
        <p:txBody>
          <a:bodyPr wrap="none" anchor="ctr"/>
          <a:lstStyle/>
          <a:p>
            <a:pPr>
              <a:buFontTx/>
              <a:buNone/>
              <a:defRPr/>
            </a:pPr>
            <a:endParaRPr kumimoji="1" lang="zh-CN" altLang="en-US"/>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5549AB03-9276-322E-A0B9-B09A70D930E4}"/>
                  </a:ext>
                </a:extLst>
              </p14:cNvPr>
              <p14:cNvContentPartPr/>
              <p14:nvPr/>
            </p14:nvContentPartPr>
            <p14:xfrm>
              <a:off x="1105200" y="1123920"/>
              <a:ext cx="1086120" cy="857520"/>
            </p14:xfrm>
          </p:contentPart>
        </mc:Choice>
        <mc:Fallback xmlns="">
          <p:pic>
            <p:nvPicPr>
              <p:cNvPr id="2" name="墨迹 1">
                <a:extLst>
                  <a:ext uri="{FF2B5EF4-FFF2-40B4-BE49-F238E27FC236}">
                    <a16:creationId xmlns:a16="http://schemas.microsoft.com/office/drawing/2014/main" id="{5549AB03-9276-322E-A0B9-B09A70D930E4}"/>
                  </a:ext>
                </a:extLst>
              </p:cNvPr>
              <p:cNvPicPr/>
              <p:nvPr/>
            </p:nvPicPr>
            <p:blipFill>
              <a:blip r:embed="rId3"/>
              <a:stretch>
                <a:fillRect/>
              </a:stretch>
            </p:blipFill>
            <p:spPr>
              <a:xfrm>
                <a:off x="1095840" y="1114560"/>
                <a:ext cx="1104840" cy="876240"/>
              </a:xfrm>
              <a:prstGeom prst="rect">
                <a:avLst/>
              </a:prstGeom>
            </p:spPr>
          </p:pic>
        </mc:Fallback>
      </mc:AlternateContent>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p:cNvSpPr txBox="1">
            <a:spLocks noGrp="1"/>
          </p:cNvSpPr>
          <p:nvPr>
            <p:ph type="sldNum" sz="quarter" idx="12"/>
          </p:nvPr>
        </p:nvSpPr>
        <p:spPr>
          <a:ln/>
        </p:spPr>
        <p:txBody>
          <a:bodyPr/>
          <a:lstStyle/>
          <a:p>
            <a:pPr marL="0" indent="0" algn="r" eaLnBrk="1" hangingPunct="1">
              <a:spcBef>
                <a:spcPct val="50000"/>
              </a:spcBef>
              <a:buNone/>
            </a:pPr>
            <a:fld id="{9A0DB2DC-4C9A-4742-B13C-FB6460FD3503}" type="slidenum">
              <a:rPr lang="zh-CN" altLang="en-US" sz="1400" b="1" dirty="0"/>
              <a:t>45</a:t>
            </a:fld>
            <a:endParaRPr lang="zh-CN" altLang="en-US" sz="1400" b="1" dirty="0"/>
          </a:p>
        </p:txBody>
      </p:sp>
      <p:sp>
        <p:nvSpPr>
          <p:cNvPr id="4099" name="Rectangle 4"/>
          <p:cNvSpPr>
            <a:spLocks noGrp="1"/>
          </p:cNvSpPr>
          <p:nvPr>
            <p:ph idx="1"/>
          </p:nvPr>
        </p:nvSpPr>
        <p:spPr>
          <a:xfrm>
            <a:off x="539750" y="1341438"/>
            <a:ext cx="7992690" cy="4895850"/>
          </a:xfrm>
          <a:ln/>
        </p:spPr>
        <p:txBody>
          <a:bodyPr vert="horz" wrap="square" lIns="92075" tIns="46038" rIns="92075" bIns="46038" anchor="t"/>
          <a:lstStyle/>
          <a:p>
            <a:pPr algn="just" eaLnBrk="1" hangingPunct="1">
              <a:buClr>
                <a:srgbClr val="6600FF"/>
              </a:buClr>
              <a:buSzPct val="50000"/>
              <a:buFont typeface="Wingdings" panose="05000000000000000000" pitchFamily="2" charset="2"/>
              <a:buChar char="u"/>
            </a:pPr>
            <a:r>
              <a:rPr lang="zh-CN" altLang="en-US" sz="2400" b="1" dirty="0">
                <a:latin typeface="宋体" panose="02010600030101010101" pitchFamily="2" charset="-122"/>
              </a:rPr>
              <a:t>表达式（</a:t>
            </a:r>
            <a:r>
              <a:rPr lang="en-US" altLang="zh-CN" sz="2400" b="1" dirty="0">
                <a:latin typeface="宋体" panose="02010600030101010101" pitchFamily="2" charset="-122"/>
              </a:rPr>
              <a:t>expression</a:t>
            </a:r>
            <a:r>
              <a:rPr lang="zh-CN" altLang="en-US" sz="2400" b="1" dirty="0">
                <a:latin typeface="宋体" panose="02010600030101010101" pitchFamily="2" charset="-122"/>
              </a:rPr>
              <a:t>）是由</a:t>
            </a:r>
            <a:r>
              <a:rPr lang="zh-CN" altLang="en-US" sz="2400" b="1" u="sng" dirty="0">
                <a:solidFill>
                  <a:srgbClr val="FF3300"/>
                </a:solidFill>
                <a:latin typeface="宋体" panose="02010600030101010101" pitchFamily="2" charset="-122"/>
              </a:rPr>
              <a:t>运算符、操作数和括号</a:t>
            </a:r>
            <a:r>
              <a:rPr lang="zh-CN" altLang="en-US" sz="2400" b="1" dirty="0">
                <a:latin typeface="宋体" panose="02010600030101010101" pitchFamily="2" charset="-122"/>
              </a:rPr>
              <a:t>组成的、</a:t>
            </a:r>
            <a:r>
              <a:rPr lang="zh-CN" altLang="en-US" sz="2400" b="1" u="sng" dirty="0">
                <a:solidFill>
                  <a:srgbClr val="6600FF"/>
                </a:solidFill>
                <a:latin typeface="宋体" panose="02010600030101010101" pitchFamily="2" charset="-122"/>
              </a:rPr>
              <a:t>计算求值</a:t>
            </a:r>
            <a:r>
              <a:rPr lang="zh-CN" altLang="en-US" sz="2400" b="1" dirty="0">
                <a:latin typeface="宋体" panose="02010600030101010101" pitchFamily="2" charset="-122"/>
              </a:rPr>
              <a:t>的基本单位。</a:t>
            </a:r>
          </a:p>
          <a:p>
            <a:pPr algn="just" eaLnBrk="1" hangingPunct="1">
              <a:buClr>
                <a:srgbClr val="6600FF"/>
              </a:buClr>
              <a:buSzPct val="50000"/>
              <a:buFont typeface="Wingdings" panose="05000000000000000000" pitchFamily="2" charset="2"/>
              <a:buChar char="u"/>
            </a:pPr>
            <a:r>
              <a:rPr lang="zh-CN" altLang="en-US" sz="2400" b="1" dirty="0">
                <a:latin typeface="宋体" panose="02010600030101010101" pitchFamily="2" charset="-122"/>
              </a:rPr>
              <a:t>操作数可以是：</a:t>
            </a:r>
            <a:r>
              <a:rPr lang="zh-CN" altLang="en-US" sz="2400" b="1" dirty="0"/>
              <a:t>常量、变量、函数调用和表达式；</a:t>
            </a:r>
          </a:p>
          <a:p>
            <a:pPr algn="just" eaLnBrk="1" hangingPunct="1">
              <a:buClr>
                <a:srgbClr val="6600FF"/>
              </a:buClr>
              <a:buSzPct val="50000"/>
              <a:buFont typeface="Wingdings" panose="05000000000000000000" pitchFamily="2" charset="2"/>
              <a:buChar char="u"/>
            </a:pPr>
            <a:r>
              <a:rPr lang="zh-CN" altLang="en-US" sz="2400" b="1" dirty="0">
                <a:latin typeface="宋体" panose="02010600030101010101" pitchFamily="2" charset="-122"/>
              </a:rPr>
              <a:t>表达式举例：</a:t>
            </a:r>
          </a:p>
          <a:p>
            <a:pPr lvl="1" algn="just" eaLnBrk="1" hangingPunct="1">
              <a:buClr>
                <a:srgbClr val="6600FF"/>
              </a:buClr>
              <a:buSzPct val="50000"/>
              <a:buFont typeface="Wingdings" panose="05000000000000000000" pitchFamily="2" charset="2"/>
              <a:buChar char="u"/>
            </a:pPr>
            <a:r>
              <a:rPr lang="en-US" altLang="zh-CN" sz="2400" b="1" dirty="0">
                <a:latin typeface="宋体" panose="02010600030101010101" pitchFamily="2" charset="-122"/>
              </a:rPr>
              <a:t>2        </a:t>
            </a:r>
            <a:r>
              <a:rPr lang="zh-CN" altLang="en-US" sz="2400" b="1" dirty="0">
                <a:latin typeface="宋体" panose="02010600030101010101" pitchFamily="2" charset="-122"/>
              </a:rPr>
              <a:t>表达式无运算符，操作数为常量</a:t>
            </a:r>
          </a:p>
          <a:p>
            <a:pPr lvl="1" algn="just" eaLnBrk="1" hangingPunct="1">
              <a:buClr>
                <a:srgbClr val="6600FF"/>
              </a:buClr>
              <a:buSzPct val="50000"/>
              <a:buFont typeface="Wingdings" panose="05000000000000000000" pitchFamily="2" charset="2"/>
              <a:buChar char="u"/>
            </a:pPr>
            <a:r>
              <a:rPr lang="en-US" altLang="zh-CN" sz="2400" b="1" dirty="0">
                <a:latin typeface="宋体" panose="02010600030101010101" pitchFamily="2" charset="-122"/>
              </a:rPr>
              <a:t>i		  </a:t>
            </a:r>
            <a:r>
              <a:rPr lang="zh-CN" altLang="en-US" sz="2400" b="1" dirty="0">
                <a:latin typeface="宋体" panose="02010600030101010101" pitchFamily="2" charset="-122"/>
              </a:rPr>
              <a:t>表达式无运算符，操作数为变量</a:t>
            </a:r>
          </a:p>
          <a:p>
            <a:pPr lvl="1" algn="just" eaLnBrk="1" hangingPunct="1">
              <a:buClr>
                <a:srgbClr val="6600FF"/>
              </a:buClr>
              <a:buSzPct val="50000"/>
              <a:buFont typeface="Wingdings" panose="05000000000000000000" pitchFamily="2" charset="2"/>
              <a:buChar char="u"/>
            </a:pPr>
            <a:r>
              <a:rPr lang="en-US" altLang="zh-CN" sz="2400" b="1" dirty="0">
                <a:latin typeface="宋体" panose="02010600030101010101" pitchFamily="2" charset="-122"/>
              </a:rPr>
              <a:t>sin(x) </a:t>
            </a:r>
            <a:r>
              <a:rPr lang="zh-CN" altLang="en-US" sz="2400" b="1" dirty="0">
                <a:latin typeface="宋体" panose="02010600030101010101" pitchFamily="2" charset="-122"/>
              </a:rPr>
              <a:t>表达式无运算符，操作数为函数调用</a:t>
            </a:r>
            <a:endParaRPr lang="en-US" altLang="zh-CN" sz="2400" b="1" dirty="0">
              <a:latin typeface="宋体" panose="02010600030101010101" pitchFamily="2" charset="-122"/>
            </a:endParaRPr>
          </a:p>
          <a:p>
            <a:pPr lvl="1" algn="just" eaLnBrk="1" hangingPunct="1">
              <a:buClr>
                <a:srgbClr val="6600FF"/>
              </a:buClr>
              <a:buSzPct val="50000"/>
              <a:buFont typeface="Wingdings" panose="05000000000000000000" pitchFamily="2" charset="2"/>
              <a:buChar char="u"/>
            </a:pPr>
            <a:r>
              <a:rPr lang="en-US" altLang="zh-CN" sz="2400" b="1" dirty="0">
                <a:latin typeface="宋体" panose="02010600030101010101" pitchFamily="2" charset="-122"/>
              </a:rPr>
              <a:t>2 + </a:t>
            </a:r>
            <a:r>
              <a:rPr lang="en-US" altLang="zh-CN" sz="2400" b="1" dirty="0" err="1">
                <a:latin typeface="宋体" panose="02010600030101010101" pitchFamily="2" charset="-122"/>
              </a:rPr>
              <a:t>i</a:t>
            </a:r>
            <a:r>
              <a:rPr lang="en-US" altLang="zh-CN" sz="2400" b="1" dirty="0">
                <a:latin typeface="宋体" panose="02010600030101010101" pitchFamily="2" charset="-122"/>
              </a:rPr>
              <a:t>              </a:t>
            </a:r>
            <a:r>
              <a:rPr lang="zh-CN" altLang="en-US" sz="2400" b="1" dirty="0">
                <a:latin typeface="宋体" panose="02010600030101010101" pitchFamily="2" charset="-122"/>
              </a:rPr>
              <a:t>操作数为常量和变量</a:t>
            </a:r>
          </a:p>
          <a:p>
            <a:pPr lvl="1" algn="just" eaLnBrk="1" hangingPunct="1">
              <a:buClr>
                <a:srgbClr val="6600FF"/>
              </a:buClr>
              <a:buSzPct val="50000"/>
              <a:buFont typeface="Wingdings" panose="05000000000000000000" pitchFamily="2" charset="2"/>
              <a:buChar char="u"/>
            </a:pPr>
            <a:r>
              <a:rPr lang="en-US" altLang="zh-CN" sz="2400" b="1" dirty="0" err="1">
                <a:latin typeface="宋体" panose="02010600030101010101" pitchFamily="2" charset="-122"/>
              </a:rPr>
              <a:t>i</a:t>
            </a:r>
            <a:r>
              <a:rPr lang="en-US" altLang="zh-CN" sz="2400" b="1" dirty="0">
                <a:latin typeface="宋体" panose="02010600030101010101" pitchFamily="2" charset="-122"/>
              </a:rPr>
              <a:t> * cos(x)    </a:t>
            </a:r>
            <a:r>
              <a:rPr lang="zh-CN" altLang="en-US" sz="2400" b="1" dirty="0">
                <a:latin typeface="宋体" panose="02010600030101010101" pitchFamily="2" charset="-122"/>
              </a:rPr>
              <a:t>操作数为变量和函数调用</a:t>
            </a:r>
          </a:p>
          <a:p>
            <a:pPr lvl="1" algn="just" eaLnBrk="1" hangingPunct="1">
              <a:buClr>
                <a:srgbClr val="6600FF"/>
              </a:buClr>
              <a:buSzPct val="50000"/>
              <a:buFont typeface="Wingdings" panose="05000000000000000000" pitchFamily="2" charset="2"/>
              <a:buChar char="u"/>
            </a:pPr>
            <a:r>
              <a:rPr lang="en-US" altLang="zh-CN" sz="2400" b="1" dirty="0">
                <a:latin typeface="宋体" panose="02010600030101010101" pitchFamily="2" charset="-122"/>
              </a:rPr>
              <a:t>2+ </a:t>
            </a:r>
            <a:r>
              <a:rPr lang="en-US" altLang="zh-CN" sz="2400" b="1" dirty="0" err="1">
                <a:latin typeface="宋体" panose="02010600030101010101" pitchFamily="2" charset="-122"/>
              </a:rPr>
              <a:t>i</a:t>
            </a:r>
            <a:r>
              <a:rPr lang="en-US" altLang="zh-CN" sz="2400" b="1" dirty="0">
                <a:latin typeface="宋体" panose="02010600030101010101" pitchFamily="2" charset="-122"/>
              </a:rPr>
              <a:t> * sin(x) </a:t>
            </a:r>
            <a:r>
              <a:rPr lang="zh-CN" altLang="en-US" sz="2400" b="1" dirty="0">
                <a:latin typeface="宋体" panose="02010600030101010101" pitchFamily="2" charset="-122"/>
              </a:rPr>
              <a:t>加法运算的第</a:t>
            </a:r>
            <a:r>
              <a:rPr lang="en-US" altLang="zh-CN" sz="2400" b="1" dirty="0">
                <a:latin typeface="宋体" panose="02010600030101010101" pitchFamily="2" charset="-122"/>
              </a:rPr>
              <a:t>2</a:t>
            </a:r>
            <a:r>
              <a:rPr lang="zh-CN" altLang="en-US" sz="2400" b="1" dirty="0">
                <a:latin typeface="宋体" panose="02010600030101010101" pitchFamily="2" charset="-122"/>
              </a:rPr>
              <a:t>个</a:t>
            </a:r>
            <a:r>
              <a:rPr lang="zh-CN" altLang="en-US" sz="2400" b="1" dirty="0"/>
              <a:t>操作数仍为表达式</a:t>
            </a:r>
          </a:p>
        </p:txBody>
      </p:sp>
      <p:sp>
        <p:nvSpPr>
          <p:cNvPr id="4100" name="Rectangle 9"/>
          <p:cNvSpPr>
            <a:spLocks noGrp="1"/>
          </p:cNvSpPr>
          <p:nvPr>
            <p:ph type="title"/>
          </p:nvPr>
        </p:nvSpPr>
        <p:spPr>
          <a:ln/>
        </p:spPr>
        <p:txBody>
          <a:bodyPr vert="horz" wrap="square" lIns="91440" tIns="45720" rIns="91440" bIns="45720" anchor="ctr"/>
          <a:lstStyle/>
          <a:p>
            <a:pPr eaLnBrk="1" hangingPunct="1"/>
            <a:r>
              <a:rPr lang="zh-CN" altLang="en-US" b="1" dirty="0"/>
              <a:t>表达式</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a:ln/>
        </p:spPr>
        <p:txBody>
          <a:bodyPr vert="horz" wrap="square" lIns="91440" tIns="45720" rIns="91440" bIns="45720" anchor="ctr"/>
          <a:lstStyle/>
          <a:p>
            <a:r>
              <a:rPr lang="en-US" altLang="zh-CN" b="1" dirty="0"/>
              <a:t>3.1 </a:t>
            </a:r>
            <a:r>
              <a:rPr lang="zh-CN" altLang="en-US" b="1" dirty="0"/>
              <a:t>表达式的递归定义</a:t>
            </a:r>
          </a:p>
        </p:txBody>
      </p:sp>
      <p:sp>
        <p:nvSpPr>
          <p:cNvPr id="5123" name="内容占位符 2"/>
          <p:cNvSpPr>
            <a:spLocks noGrp="1"/>
          </p:cNvSpPr>
          <p:nvPr>
            <p:ph idx="1"/>
          </p:nvPr>
        </p:nvSpPr>
        <p:spPr>
          <a:xfrm>
            <a:off x="250825" y="1319213"/>
            <a:ext cx="8588375" cy="5005387"/>
          </a:xfrm>
          <a:ln/>
        </p:spPr>
        <p:txBody>
          <a:bodyPr vert="horz" wrap="square" lIns="91440" tIns="45720" rIns="91440" bIns="45720" anchor="t"/>
          <a:lstStyle/>
          <a:p>
            <a:pPr marL="0" indent="0">
              <a:lnSpc>
                <a:spcPct val="150000"/>
              </a:lnSpc>
              <a:buNone/>
            </a:pPr>
            <a:r>
              <a:rPr lang="zh-CN" altLang="en-US" sz="2400" dirty="0">
                <a:latin typeface="黑体" panose="02010609060101010101" pitchFamily="49" charset="-122"/>
                <a:ea typeface="黑体" panose="02010609060101010101" pitchFamily="49" charset="-122"/>
              </a:rPr>
              <a:t>表达式的定义是一个递归的形式，由下面四条规则构成</a:t>
            </a:r>
            <a:r>
              <a:rPr lang="en-US" altLang="zh-CN" sz="2400" dirty="0">
                <a:latin typeface="黑体" panose="02010609060101010101" pitchFamily="49" charset="-122"/>
                <a:ea typeface="黑体" panose="02010609060101010101" pitchFamily="49" charset="-122"/>
              </a:rPr>
              <a:t>:</a:t>
            </a:r>
            <a:br>
              <a:rPr lang="en-US" altLang="zh-CN" sz="2400" dirty="0">
                <a:latin typeface="黑体" panose="02010609060101010101" pitchFamily="49" charset="-122"/>
                <a:ea typeface="黑体" panose="02010609060101010101" pitchFamily="49" charset="-122"/>
              </a:rPr>
            </a:br>
            <a:r>
              <a:rPr lang="zh-CN" altLang="en-US" sz="2400" dirty="0"/>
              <a:t>（</a:t>
            </a:r>
            <a:r>
              <a:rPr lang="en-US" altLang="zh-CN" sz="2400" dirty="0"/>
              <a:t>1</a:t>
            </a:r>
            <a:r>
              <a:rPr lang="zh-CN" altLang="en-US" sz="2400" dirty="0"/>
              <a:t>）常量、变量、函数调用是表达式。</a:t>
            </a:r>
            <a:br>
              <a:rPr lang="zh-CN" altLang="en-US" sz="2400" dirty="0"/>
            </a:br>
            <a:r>
              <a:rPr lang="zh-CN" altLang="en-US" sz="2400" dirty="0"/>
              <a:t>（</a:t>
            </a:r>
            <a:r>
              <a:rPr lang="en-US" altLang="zh-CN" sz="2400" dirty="0"/>
              <a:t>2</a:t>
            </a:r>
            <a:r>
              <a:rPr lang="zh-CN" altLang="en-US" sz="2400" dirty="0"/>
              <a:t>）如果</a:t>
            </a:r>
            <a:r>
              <a:rPr lang="en-US" altLang="zh-CN" sz="2400" dirty="0"/>
              <a:t>Ω</a:t>
            </a:r>
            <a:r>
              <a:rPr lang="zh-CN" altLang="en-US" sz="2400" dirty="0"/>
              <a:t>是表达式，则</a:t>
            </a:r>
            <a:r>
              <a:rPr lang="en-US" altLang="zh-CN" sz="2400" dirty="0"/>
              <a:t>(Ω)</a:t>
            </a:r>
            <a:r>
              <a:rPr lang="zh-CN" altLang="en-US" sz="2400" dirty="0"/>
              <a:t>是表达式；如果</a:t>
            </a:r>
            <a:r>
              <a:rPr lang="en-US" altLang="zh-CN" sz="2400" dirty="0"/>
              <a:t>θ</a:t>
            </a:r>
            <a:r>
              <a:rPr lang="zh-CN" altLang="en-US" sz="2400" dirty="0"/>
              <a:t>是单目运算符，</a:t>
            </a:r>
            <a:r>
              <a:rPr lang="en-US" altLang="zh-CN" sz="2400" dirty="0"/>
              <a:t>θ</a:t>
            </a:r>
            <a:r>
              <a:rPr lang="zh-CN" altLang="en-US" sz="2400" dirty="0"/>
              <a:t>允许前缀形式，则</a:t>
            </a:r>
            <a:r>
              <a:rPr lang="en-US" altLang="zh-CN" sz="2400" dirty="0"/>
              <a:t>θΩ</a:t>
            </a:r>
            <a:r>
              <a:rPr lang="zh-CN" altLang="en-US" sz="2400" dirty="0"/>
              <a:t>是表达式；如果</a:t>
            </a:r>
            <a:r>
              <a:rPr lang="en-US" altLang="zh-CN" sz="2400" dirty="0"/>
              <a:t>θ</a:t>
            </a:r>
            <a:r>
              <a:rPr lang="zh-CN" altLang="en-US" sz="2400" dirty="0"/>
              <a:t>允许后缀形式，</a:t>
            </a:r>
            <a:r>
              <a:rPr lang="en-US" altLang="zh-CN" sz="2400" dirty="0"/>
              <a:t>Ωθ</a:t>
            </a:r>
            <a:r>
              <a:rPr lang="zh-CN" altLang="en-US" sz="2400" dirty="0"/>
              <a:t>是表达式。</a:t>
            </a:r>
            <a:br>
              <a:rPr lang="zh-CN" altLang="en-US" sz="2400" dirty="0"/>
            </a:br>
            <a:r>
              <a:rPr lang="zh-CN" altLang="en-US" sz="2400" dirty="0"/>
              <a:t>（</a:t>
            </a:r>
            <a:r>
              <a:rPr lang="en-US" altLang="zh-CN" sz="2400" dirty="0"/>
              <a:t>3</a:t>
            </a:r>
            <a:r>
              <a:rPr lang="zh-CN" altLang="en-US" sz="2400" dirty="0"/>
              <a:t>）如果</a:t>
            </a:r>
            <a:r>
              <a:rPr lang="en-US" altLang="zh-CN" sz="2400" dirty="0"/>
              <a:t>Ωl</a:t>
            </a:r>
            <a:r>
              <a:rPr lang="zh-CN" altLang="en-US" sz="2400" dirty="0"/>
              <a:t>、</a:t>
            </a:r>
            <a:r>
              <a:rPr lang="en-US" altLang="zh-CN" sz="2400" dirty="0"/>
              <a:t>Ω2</a:t>
            </a:r>
            <a:r>
              <a:rPr lang="zh-CN" altLang="en-US" sz="2400" dirty="0"/>
              <a:t>、</a:t>
            </a:r>
            <a:r>
              <a:rPr lang="en-US" altLang="zh-CN" sz="2400" dirty="0"/>
              <a:t>Ω3</a:t>
            </a:r>
            <a:r>
              <a:rPr lang="zh-CN" altLang="en-US" sz="2400" dirty="0"/>
              <a:t>是表达式，</a:t>
            </a:r>
            <a:r>
              <a:rPr lang="en-US" altLang="zh-CN" sz="2400" dirty="0"/>
              <a:t>θ</a:t>
            </a:r>
            <a:r>
              <a:rPr lang="zh-CN" altLang="en-US" sz="2400" dirty="0"/>
              <a:t>是双目运算符，则</a:t>
            </a:r>
            <a:r>
              <a:rPr lang="en-US" altLang="zh-CN" sz="2400" dirty="0"/>
              <a:t>ΩlθΩ2</a:t>
            </a:r>
            <a:r>
              <a:rPr lang="zh-CN" altLang="en-US" sz="2400" dirty="0"/>
              <a:t>是表达式；</a:t>
            </a:r>
            <a:r>
              <a:rPr lang="en-US" altLang="zh-CN" sz="2400" dirty="0"/>
              <a:t>θ1</a:t>
            </a:r>
            <a:r>
              <a:rPr lang="zh-CN" altLang="en-US" sz="2400" dirty="0"/>
              <a:t>和</a:t>
            </a:r>
            <a:r>
              <a:rPr lang="en-US" altLang="zh-CN" sz="2400" dirty="0"/>
              <a:t>θ2</a:t>
            </a:r>
            <a:r>
              <a:rPr lang="zh-CN" altLang="en-US" sz="2400" dirty="0"/>
              <a:t>构成三目运算符，则</a:t>
            </a:r>
            <a:r>
              <a:rPr lang="en-US" altLang="zh-CN" sz="2400" dirty="0"/>
              <a:t>Ωlθ1Ω2θ2Ω3</a:t>
            </a:r>
            <a:r>
              <a:rPr lang="zh-CN" altLang="en-US" sz="2400" dirty="0"/>
              <a:t>是表达式。</a:t>
            </a:r>
            <a:br>
              <a:rPr lang="zh-CN" altLang="en-US" sz="2400" dirty="0"/>
            </a:br>
            <a:r>
              <a:rPr lang="zh-CN" altLang="en-US" sz="2400" dirty="0"/>
              <a:t>（</a:t>
            </a:r>
            <a:r>
              <a:rPr lang="en-US" altLang="zh-CN" sz="2400" dirty="0"/>
              <a:t>4</a:t>
            </a:r>
            <a:r>
              <a:rPr lang="zh-CN" altLang="en-US" sz="2400" dirty="0"/>
              <a:t>）只有有限次的使用上述规则得到的有限长度的字符串式子才是表达式。</a:t>
            </a:r>
          </a:p>
        </p:txBody>
      </p:sp>
      <p:sp>
        <p:nvSpPr>
          <p:cNvPr id="5124" name="灯片编号占位符 3"/>
          <p:cNvSpPr txBox="1">
            <a:spLocks noGrp="1"/>
          </p:cNvSpPr>
          <p:nvPr>
            <p:ph type="sldNum" sz="quarter" idx="12"/>
          </p:nvPr>
        </p:nvSpPr>
        <p:spPr>
          <a:ln/>
        </p:spPr>
        <p:txBody>
          <a:bodyPr/>
          <a:lstStyle/>
          <a:p>
            <a:pPr marL="0" indent="0" algn="r" eaLnBrk="1" hangingPunct="1">
              <a:spcBef>
                <a:spcPct val="50000"/>
              </a:spcBef>
              <a:buNone/>
            </a:pPr>
            <a:fld id="{9A0DB2DC-4C9A-4742-B13C-FB6460FD3503}" type="slidenum">
              <a:rPr lang="zh-CN" altLang="en-US" sz="1400" b="1" dirty="0"/>
              <a:t>46</a:t>
            </a:fld>
            <a:endParaRPr lang="zh-CN" altLang="en-US" sz="1400" b="1" dirty="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756737">
            <a:extLst>
              <a:ext uri="{FF2B5EF4-FFF2-40B4-BE49-F238E27FC236}">
                <a16:creationId xmlns:a16="http://schemas.microsoft.com/office/drawing/2014/main" id="{5EA16D84-290F-4D1D-B1EF-D091234DF662}"/>
              </a:ext>
            </a:extLst>
          </p:cNvPr>
          <p:cNvSpPr>
            <a:spLocks noGrp="1" noChangeArrowheads="1"/>
          </p:cNvSpPr>
          <p:nvPr>
            <p:ph type="title"/>
          </p:nvPr>
        </p:nvSpPr>
        <p:spPr bwMode="auto">
          <a:xfrm>
            <a:off x="0" y="404813"/>
            <a:ext cx="9144000" cy="739775"/>
          </a:xfrm>
          <a:prstGeom prst="rect">
            <a:avLst/>
          </a:prstGeom>
          <a:noFill/>
          <a:ln w="9525">
            <a:noFill/>
          </a:ln>
        </p:spPr>
        <p:txBody>
          <a:bodyPr vert="horz" wrap="square" lIns="91440" tIns="45720" rIns="91440" bIns="45720" anchor="ctr"/>
          <a:lstStyle/>
          <a:p>
            <a:pPr eaLnBrk="1" hangingPunct="1"/>
            <a:r>
              <a:rPr lang="zh-CN" altLang="en-US" dirty="0"/>
              <a:t>各类数值型数据间的混合运算 </a:t>
            </a:r>
          </a:p>
        </p:txBody>
      </p:sp>
      <p:sp>
        <p:nvSpPr>
          <p:cNvPr id="756739" name="矩形 756738">
            <a:extLst>
              <a:ext uri="{FF2B5EF4-FFF2-40B4-BE49-F238E27FC236}">
                <a16:creationId xmlns:a16="http://schemas.microsoft.com/office/drawing/2014/main" id="{AF70C03C-3F7F-466F-A243-15A8C83F06FA}"/>
              </a:ext>
            </a:extLst>
          </p:cNvPr>
          <p:cNvSpPr>
            <a:spLocks noChangeArrowheads="1"/>
          </p:cNvSpPr>
          <p:nvPr/>
        </p:nvSpPr>
        <p:spPr bwMode="auto">
          <a:xfrm>
            <a:off x="323850" y="1196975"/>
            <a:ext cx="8569325"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4000">
                <a:solidFill>
                  <a:schemeClr val="tx1"/>
                </a:solidFill>
                <a:latin typeface="Times New Roman" panose="02020603050405020304" pitchFamily="18" charset="0"/>
                <a:ea typeface="宋体" panose="02010600030101010101" pitchFamily="2" charset="-122"/>
              </a:defRPr>
            </a:lvl1pPr>
            <a:lvl2pPr>
              <a:defRPr sz="4000">
                <a:solidFill>
                  <a:schemeClr val="tx1"/>
                </a:solidFill>
                <a:latin typeface="Times New Roman" panose="02020603050405020304" pitchFamily="18" charset="0"/>
                <a:ea typeface="宋体" panose="02010600030101010101" pitchFamily="2" charset="-122"/>
              </a:defRPr>
            </a:lvl2pPr>
            <a:lvl3pPr>
              <a:defRPr sz="4000">
                <a:solidFill>
                  <a:schemeClr val="tx1"/>
                </a:solidFill>
                <a:latin typeface="Times New Roman" panose="02020603050405020304" pitchFamily="18" charset="0"/>
                <a:ea typeface="宋体" panose="02010600030101010101" pitchFamily="2" charset="-122"/>
              </a:defRPr>
            </a:lvl3pPr>
            <a:lvl4pPr>
              <a:defRPr sz="4000">
                <a:solidFill>
                  <a:schemeClr val="tx1"/>
                </a:solidFill>
                <a:latin typeface="Times New Roman" panose="02020603050405020304" pitchFamily="18" charset="0"/>
                <a:ea typeface="宋体" panose="02010600030101010101" pitchFamily="2" charset="-122"/>
              </a:defRPr>
            </a:lvl4pPr>
            <a:lvl5pPr>
              <a:defRPr sz="40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9pPr>
          </a:lstStyle>
          <a:p>
            <a:pPr eaLnBrk="0" hangingPunct="0">
              <a:spcBef>
                <a:spcPct val="20000"/>
              </a:spcBef>
            </a:pPr>
            <a:r>
              <a:rPr lang="zh-CN" altLang="en-US" sz="3200" u="sng" dirty="0">
                <a:solidFill>
                  <a:srgbClr val="FF0000"/>
                </a:solidFill>
                <a:latin typeface="楷体_GB2312" pitchFamily="49" charset="-122"/>
                <a:ea typeface="楷体_GB2312" pitchFamily="49" charset="-122"/>
              </a:rPr>
              <a:t>混合运算：</a:t>
            </a:r>
            <a:r>
              <a:rPr lang="zh-CN" altLang="en-US" sz="3200" dirty="0">
                <a:solidFill>
                  <a:srgbClr val="000099"/>
                </a:solidFill>
                <a:latin typeface="楷体_GB2312" pitchFamily="49" charset="-122"/>
                <a:ea typeface="楷体_GB2312" pitchFamily="49" charset="-122"/>
              </a:rPr>
              <a:t>整型</a:t>
            </a:r>
            <a:r>
              <a:rPr lang="en-US" altLang="zh-CN" sz="3200" dirty="0">
                <a:solidFill>
                  <a:srgbClr val="000099"/>
                </a:solidFill>
                <a:latin typeface="楷体_GB2312" pitchFamily="49" charset="-122"/>
                <a:ea typeface="楷体_GB2312" pitchFamily="49" charset="-122"/>
              </a:rPr>
              <a:t>(</a:t>
            </a:r>
            <a:r>
              <a:rPr lang="zh-CN" altLang="en-US" sz="3200" dirty="0">
                <a:solidFill>
                  <a:srgbClr val="000099"/>
                </a:solidFill>
                <a:latin typeface="楷体_GB2312" pitchFamily="49" charset="-122"/>
                <a:ea typeface="楷体_GB2312" pitchFamily="49" charset="-122"/>
              </a:rPr>
              <a:t>包括</a:t>
            </a:r>
            <a:r>
              <a:rPr lang="en-US" altLang="zh-CN" sz="3200" dirty="0" err="1">
                <a:solidFill>
                  <a:srgbClr val="000099"/>
                </a:solidFill>
                <a:latin typeface="楷体_GB2312" pitchFamily="49" charset="-122"/>
                <a:ea typeface="楷体_GB2312" pitchFamily="49" charset="-122"/>
              </a:rPr>
              <a:t>int,short,long</a:t>
            </a:r>
            <a:r>
              <a:rPr lang="en-US" altLang="zh-CN" sz="3200" dirty="0">
                <a:solidFill>
                  <a:srgbClr val="000099"/>
                </a:solidFill>
                <a:latin typeface="楷体_GB2312" pitchFamily="49" charset="-122"/>
                <a:ea typeface="楷体_GB2312" pitchFamily="49" charset="-122"/>
              </a:rPr>
              <a:t>)</a:t>
            </a:r>
            <a:r>
              <a:rPr lang="zh-CN" altLang="en-US" sz="3200" dirty="0">
                <a:solidFill>
                  <a:srgbClr val="000099"/>
                </a:solidFill>
                <a:latin typeface="楷体_GB2312" pitchFamily="49" charset="-122"/>
                <a:ea typeface="楷体_GB2312" pitchFamily="49" charset="-122"/>
              </a:rPr>
              <a:t>、浮点型</a:t>
            </a:r>
            <a:r>
              <a:rPr lang="en-US" altLang="zh-CN" sz="3200" dirty="0">
                <a:solidFill>
                  <a:srgbClr val="000099"/>
                </a:solidFill>
                <a:latin typeface="楷体_GB2312" pitchFamily="49" charset="-122"/>
                <a:ea typeface="楷体_GB2312" pitchFamily="49" charset="-122"/>
              </a:rPr>
              <a:t>(</a:t>
            </a:r>
            <a:r>
              <a:rPr lang="zh-CN" altLang="en-US" sz="3200" dirty="0">
                <a:solidFill>
                  <a:srgbClr val="000099"/>
                </a:solidFill>
                <a:latin typeface="楷体_GB2312" pitchFamily="49" charset="-122"/>
                <a:ea typeface="楷体_GB2312" pitchFamily="49" charset="-122"/>
              </a:rPr>
              <a:t>包括</a:t>
            </a:r>
            <a:r>
              <a:rPr lang="en-US" altLang="zh-CN" sz="3200" dirty="0" err="1">
                <a:solidFill>
                  <a:srgbClr val="000099"/>
                </a:solidFill>
                <a:latin typeface="楷体_GB2312" pitchFamily="49" charset="-122"/>
                <a:ea typeface="楷体_GB2312" pitchFamily="49" charset="-122"/>
              </a:rPr>
              <a:t>float,double</a:t>
            </a:r>
            <a:r>
              <a:rPr lang="en-US" altLang="zh-CN" sz="3200" dirty="0">
                <a:solidFill>
                  <a:srgbClr val="000099"/>
                </a:solidFill>
                <a:latin typeface="楷体_GB2312" pitchFamily="49" charset="-122"/>
                <a:ea typeface="楷体_GB2312" pitchFamily="49" charset="-122"/>
              </a:rPr>
              <a:t>)</a:t>
            </a:r>
            <a:r>
              <a:rPr lang="zh-CN" altLang="en-US" sz="3200" dirty="0">
                <a:solidFill>
                  <a:srgbClr val="000099"/>
                </a:solidFill>
                <a:latin typeface="楷体_GB2312" pitchFamily="49" charset="-122"/>
                <a:ea typeface="楷体_GB2312" pitchFamily="49" charset="-122"/>
              </a:rPr>
              <a:t>可以混合运算。在进行运算时</a:t>
            </a:r>
            <a:r>
              <a:rPr lang="en-US" altLang="zh-CN" sz="3200" dirty="0">
                <a:solidFill>
                  <a:srgbClr val="000099"/>
                </a:solidFill>
                <a:latin typeface="楷体_GB2312" pitchFamily="49" charset="-122"/>
                <a:ea typeface="楷体_GB2312" pitchFamily="49" charset="-122"/>
              </a:rPr>
              <a:t>,</a:t>
            </a:r>
            <a:r>
              <a:rPr lang="zh-CN" altLang="en-US" sz="3200" dirty="0">
                <a:solidFill>
                  <a:srgbClr val="000099"/>
                </a:solidFill>
                <a:latin typeface="楷体_GB2312" pitchFamily="49" charset="-122"/>
                <a:ea typeface="楷体_GB2312" pitchFamily="49" charset="-122"/>
              </a:rPr>
              <a:t>不同类型的数据要先转换成同一类型</a:t>
            </a:r>
            <a:r>
              <a:rPr lang="en-US" altLang="zh-CN" sz="3200" dirty="0">
                <a:solidFill>
                  <a:srgbClr val="000099"/>
                </a:solidFill>
                <a:latin typeface="楷体_GB2312" pitchFamily="49" charset="-122"/>
                <a:ea typeface="楷体_GB2312" pitchFamily="49" charset="-122"/>
              </a:rPr>
              <a:t>,</a:t>
            </a:r>
            <a:r>
              <a:rPr lang="zh-CN" altLang="en-US" sz="3200" dirty="0">
                <a:solidFill>
                  <a:srgbClr val="000099"/>
                </a:solidFill>
                <a:latin typeface="楷体_GB2312" pitchFamily="49" charset="-122"/>
                <a:ea typeface="楷体_GB2312" pitchFamily="49" charset="-122"/>
              </a:rPr>
              <a:t>然后进行运算</a:t>
            </a:r>
            <a:r>
              <a:rPr lang="en-US" altLang="zh-CN" sz="3200" dirty="0">
                <a:solidFill>
                  <a:srgbClr val="000099"/>
                </a:solidFill>
                <a:latin typeface="楷体_GB2312" pitchFamily="49" charset="-122"/>
                <a:ea typeface="楷体_GB2312" pitchFamily="49" charset="-122"/>
              </a:rPr>
              <a:t>.</a:t>
            </a:r>
          </a:p>
        </p:txBody>
      </p:sp>
      <p:sp>
        <p:nvSpPr>
          <p:cNvPr id="756740" name="矩形 756739">
            <a:extLst>
              <a:ext uri="{FF2B5EF4-FFF2-40B4-BE49-F238E27FC236}">
                <a16:creationId xmlns:a16="http://schemas.microsoft.com/office/drawing/2014/main" id="{DD70B4EF-0217-4F4C-B713-9161CB8BF9F0}"/>
              </a:ext>
            </a:extLst>
          </p:cNvPr>
          <p:cNvSpPr>
            <a:spLocks noChangeArrowheads="1"/>
          </p:cNvSpPr>
          <p:nvPr/>
        </p:nvSpPr>
        <p:spPr bwMode="auto">
          <a:xfrm>
            <a:off x="395288" y="3716338"/>
            <a:ext cx="3959225" cy="1584325"/>
          </a:xfrm>
          <a:prstGeom prst="rect">
            <a:avLst/>
          </a:prstGeom>
          <a:solidFill>
            <a:schemeClr val="bg1"/>
          </a:solidFill>
          <a:ln>
            <a:noFill/>
          </a:ln>
          <a:effectLst>
            <a:outerShdw dist="107763" dir="18900000" algn="ctr" rotWithShape="0">
              <a:srgbClr val="80808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4000">
                <a:solidFill>
                  <a:schemeClr val="tx1"/>
                </a:solidFill>
                <a:latin typeface="Times New Roman" panose="02020603050405020304" pitchFamily="18" charset="0"/>
                <a:ea typeface="宋体" panose="02010600030101010101" pitchFamily="2" charset="-122"/>
              </a:defRPr>
            </a:lvl1pPr>
            <a:lvl2pPr>
              <a:defRPr sz="4000">
                <a:solidFill>
                  <a:schemeClr val="tx1"/>
                </a:solidFill>
                <a:latin typeface="Times New Roman" panose="02020603050405020304" pitchFamily="18" charset="0"/>
                <a:ea typeface="宋体" panose="02010600030101010101" pitchFamily="2" charset="-122"/>
              </a:defRPr>
            </a:lvl2pPr>
            <a:lvl3pPr>
              <a:defRPr sz="4000">
                <a:solidFill>
                  <a:schemeClr val="tx1"/>
                </a:solidFill>
                <a:latin typeface="Times New Roman" panose="02020603050405020304" pitchFamily="18" charset="0"/>
                <a:ea typeface="宋体" panose="02010600030101010101" pitchFamily="2" charset="-122"/>
              </a:defRPr>
            </a:lvl3pPr>
            <a:lvl4pPr>
              <a:defRPr sz="4000">
                <a:solidFill>
                  <a:schemeClr val="tx1"/>
                </a:solidFill>
                <a:latin typeface="Times New Roman" panose="02020603050405020304" pitchFamily="18" charset="0"/>
                <a:ea typeface="宋体" panose="02010600030101010101" pitchFamily="2" charset="-122"/>
              </a:defRPr>
            </a:lvl4pPr>
            <a:lvl5pPr>
              <a:defRPr sz="40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9pPr>
          </a:lstStyle>
          <a:p>
            <a:pPr eaLnBrk="0" hangingPunct="0">
              <a:spcBef>
                <a:spcPct val="20000"/>
              </a:spcBef>
            </a:pPr>
            <a:r>
              <a:rPr lang="zh-CN" altLang="en-US" sz="3200" u="sng">
                <a:solidFill>
                  <a:srgbClr val="FF0000"/>
                </a:solidFill>
                <a:latin typeface="楷体_GB2312" pitchFamily="49" charset="-122"/>
                <a:ea typeface="楷体_GB2312" pitchFamily="49" charset="-122"/>
              </a:rPr>
              <a:t>说明：</a:t>
            </a:r>
          </a:p>
          <a:p>
            <a:pPr eaLnBrk="0" hangingPunct="0">
              <a:spcBef>
                <a:spcPct val="20000"/>
              </a:spcBef>
            </a:pPr>
            <a:r>
              <a:rPr lang="zh-CN" altLang="en-US" sz="3200">
                <a:latin typeface="楷体_GB2312" pitchFamily="49" charset="-122"/>
                <a:ea typeface="楷体_GB2312" pitchFamily="49" charset="-122"/>
              </a:rPr>
              <a:t>  这种类型转换是由系统自动进行的。</a:t>
            </a:r>
          </a:p>
        </p:txBody>
      </p:sp>
      <p:pic>
        <p:nvPicPr>
          <p:cNvPr id="35844" name="图片 756740" descr="c10">
            <a:extLst>
              <a:ext uri="{FF2B5EF4-FFF2-40B4-BE49-F238E27FC236}">
                <a16:creationId xmlns:a16="http://schemas.microsoft.com/office/drawing/2014/main" id="{0C488D87-04B2-4078-BE69-8AC661DF619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32363" y="3006725"/>
            <a:ext cx="3598862" cy="323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Click="0">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6739"/>
                                        </p:tgtEl>
                                        <p:attrNameLst>
                                          <p:attrName>style.visibility</p:attrName>
                                        </p:attrNameLst>
                                      </p:cBhvr>
                                      <p:to>
                                        <p:strVal val="visible"/>
                                      </p:to>
                                    </p:set>
                                    <p:animEffect transition="in" filter="wipe(left)">
                                      <p:cBhvr>
                                        <p:cTn id="7" dur="1000"/>
                                        <p:tgtEl>
                                          <p:spTgt spid="7567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56740"/>
                                        </p:tgtEl>
                                        <p:attrNameLst>
                                          <p:attrName>style.visibility</p:attrName>
                                        </p:attrNameLst>
                                      </p:cBhvr>
                                      <p:to>
                                        <p:strVal val="visible"/>
                                      </p:to>
                                    </p:set>
                                    <p:animEffect transition="in" filter="wipe(left)">
                                      <p:cBhvr>
                                        <p:cTn id="12" dur="1000"/>
                                        <p:tgtEl>
                                          <p:spTgt spid="7567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6739" grpId="0"/>
      <p:bldP spid="75674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标题 757761">
            <a:extLst>
              <a:ext uri="{FF2B5EF4-FFF2-40B4-BE49-F238E27FC236}">
                <a16:creationId xmlns:a16="http://schemas.microsoft.com/office/drawing/2014/main" id="{77EBD2D2-5AD1-4EFE-8A39-3968C88B64A2}"/>
              </a:ext>
            </a:extLst>
          </p:cNvPr>
          <p:cNvSpPr>
            <a:spLocks noGrp="1" noChangeArrowheads="1"/>
          </p:cNvSpPr>
          <p:nvPr>
            <p:ph type="title"/>
          </p:nvPr>
        </p:nvSpPr>
        <p:spPr bwMode="auto">
          <a:xfrm>
            <a:off x="0" y="404813"/>
            <a:ext cx="9144000" cy="739775"/>
          </a:xfrm>
          <a:prstGeom prst="rect">
            <a:avLst/>
          </a:prstGeom>
          <a:noFill/>
          <a:ln w="9525">
            <a:noFill/>
          </a:ln>
        </p:spPr>
        <p:txBody>
          <a:bodyPr vert="horz" wrap="square" lIns="91440" tIns="45720" rIns="91440" bIns="45720" anchor="ctr"/>
          <a:lstStyle/>
          <a:p>
            <a:pPr eaLnBrk="1" hangingPunct="1"/>
            <a:r>
              <a:rPr lang="en-US" altLang="zh-CN" dirty="0"/>
              <a:t>  C</a:t>
            </a:r>
            <a:r>
              <a:rPr lang="zh-CN" altLang="en-US" dirty="0"/>
              <a:t>运算符</a:t>
            </a:r>
            <a:r>
              <a:rPr lang="en-US" altLang="zh-CN" dirty="0"/>
              <a:t>(1)</a:t>
            </a:r>
            <a:endParaRPr lang="zh-CN" altLang="en-US" dirty="0"/>
          </a:p>
        </p:txBody>
      </p:sp>
      <p:sp>
        <p:nvSpPr>
          <p:cNvPr id="757763" name="矩形 757762">
            <a:extLst>
              <a:ext uri="{FF2B5EF4-FFF2-40B4-BE49-F238E27FC236}">
                <a16:creationId xmlns:a16="http://schemas.microsoft.com/office/drawing/2014/main" id="{7A9677B2-F97A-4216-8744-441D4C11B443}"/>
              </a:ext>
            </a:extLst>
          </p:cNvPr>
          <p:cNvSpPr>
            <a:spLocks noChangeArrowheads="1"/>
          </p:cNvSpPr>
          <p:nvPr/>
        </p:nvSpPr>
        <p:spPr bwMode="auto">
          <a:xfrm>
            <a:off x="395288" y="1196975"/>
            <a:ext cx="8353425" cy="367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4000">
                <a:solidFill>
                  <a:schemeClr val="tx1"/>
                </a:solidFill>
                <a:latin typeface="Times New Roman" panose="02020603050405020304" pitchFamily="18" charset="0"/>
                <a:ea typeface="宋体" panose="02010600030101010101" pitchFamily="2" charset="-122"/>
              </a:defRPr>
            </a:lvl1pPr>
            <a:lvl2pPr>
              <a:defRPr sz="4000">
                <a:solidFill>
                  <a:schemeClr val="tx1"/>
                </a:solidFill>
                <a:latin typeface="Times New Roman" panose="02020603050405020304" pitchFamily="18" charset="0"/>
                <a:ea typeface="宋体" panose="02010600030101010101" pitchFamily="2" charset="-122"/>
              </a:defRPr>
            </a:lvl2pPr>
            <a:lvl3pPr>
              <a:defRPr sz="4000">
                <a:solidFill>
                  <a:schemeClr val="tx1"/>
                </a:solidFill>
                <a:latin typeface="Times New Roman" panose="02020603050405020304" pitchFamily="18" charset="0"/>
                <a:ea typeface="宋体" panose="02010600030101010101" pitchFamily="2" charset="-122"/>
              </a:defRPr>
            </a:lvl3pPr>
            <a:lvl4pPr>
              <a:defRPr sz="4000">
                <a:solidFill>
                  <a:schemeClr val="tx1"/>
                </a:solidFill>
                <a:latin typeface="Times New Roman" panose="02020603050405020304" pitchFamily="18" charset="0"/>
                <a:ea typeface="宋体" panose="02010600030101010101" pitchFamily="2" charset="-122"/>
              </a:defRPr>
            </a:lvl4pPr>
            <a:lvl5pPr>
              <a:defRPr sz="40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9pPr>
          </a:lstStyle>
          <a:p>
            <a:pPr eaLnBrk="0" hangingPunct="0">
              <a:spcBef>
                <a:spcPct val="20000"/>
              </a:spcBef>
            </a:pPr>
            <a:r>
              <a:rPr lang="en-US" altLang="zh-CN" sz="3200" b="1" dirty="0">
                <a:solidFill>
                  <a:srgbClr val="4D4D4D"/>
                </a:solidFill>
              </a:rPr>
              <a:t>3.8.1 </a:t>
            </a:r>
            <a:r>
              <a:rPr lang="zh-CN" altLang="en-US" sz="3200" b="1" dirty="0">
                <a:solidFill>
                  <a:srgbClr val="4D4D4D"/>
                </a:solidFill>
              </a:rPr>
              <a:t>Ｃ运算符简介</a:t>
            </a:r>
            <a:endParaRPr lang="zh-CN" altLang="en-US" sz="3200" b="1" dirty="0">
              <a:latin typeface="宋体" panose="02010600030101010101" pitchFamily="2" charset="-122"/>
            </a:endParaRPr>
          </a:p>
          <a:p>
            <a:pPr eaLnBrk="0" hangingPunct="0">
              <a:spcBef>
                <a:spcPct val="20000"/>
              </a:spcBef>
            </a:pPr>
            <a:r>
              <a:rPr lang="zh-CN" altLang="en-US" sz="3200" b="1" dirty="0">
                <a:latin typeface="宋体" panose="02010600030101010101" pitchFamily="2" charset="-122"/>
              </a:rPr>
              <a:t> </a:t>
            </a:r>
            <a:r>
              <a:rPr lang="zh-CN" altLang="zh-CN" sz="2800" b="1" dirty="0">
                <a:latin typeface="宋体" panose="02010600030101010101" pitchFamily="2" charset="-122"/>
              </a:rPr>
              <a:t>Ｃ的运算符有以下几类：</a:t>
            </a:r>
            <a:endParaRPr lang="zh-CN" altLang="en-US" sz="2800" b="1" dirty="0">
              <a:latin typeface="宋体" panose="02010600030101010101" pitchFamily="2" charset="-122"/>
            </a:endParaRPr>
          </a:p>
          <a:p>
            <a:pPr eaLnBrk="0" hangingPunct="0">
              <a:spcBef>
                <a:spcPct val="20000"/>
              </a:spcBef>
            </a:pPr>
            <a:r>
              <a:rPr lang="en-US" altLang="zh-CN" sz="2800" dirty="0">
                <a:solidFill>
                  <a:srgbClr val="663300"/>
                </a:solidFill>
                <a:latin typeface="楷体_GB2312" pitchFamily="49" charset="-122"/>
                <a:ea typeface="楷体_GB2312" pitchFamily="49" charset="-122"/>
              </a:rPr>
              <a:t>(1)</a:t>
            </a:r>
            <a:r>
              <a:rPr lang="zh-CN" altLang="en-US" sz="2800" dirty="0">
                <a:solidFill>
                  <a:srgbClr val="663300"/>
                </a:solidFill>
                <a:latin typeface="楷体_GB2312" pitchFamily="49" charset="-122"/>
                <a:ea typeface="楷体_GB2312" pitchFamily="49" charset="-122"/>
              </a:rPr>
              <a:t>算术运算符 </a:t>
            </a:r>
            <a:r>
              <a:rPr lang="en-US" altLang="zh-CN" sz="2800" dirty="0">
                <a:solidFill>
                  <a:srgbClr val="663300"/>
                </a:solidFill>
                <a:latin typeface="楷体_GB2312" pitchFamily="49" charset="-122"/>
                <a:ea typeface="楷体_GB2312" pitchFamily="49" charset="-122"/>
              </a:rPr>
              <a:t>(+, -, *, /, %)</a:t>
            </a:r>
            <a:endParaRPr lang="zh-CN" altLang="en-US" sz="2800" dirty="0">
              <a:solidFill>
                <a:srgbClr val="663300"/>
              </a:solidFill>
              <a:latin typeface="楷体_GB2312" pitchFamily="49" charset="-122"/>
              <a:ea typeface="楷体_GB2312" pitchFamily="49" charset="-122"/>
            </a:endParaRPr>
          </a:p>
          <a:p>
            <a:pPr eaLnBrk="0" hangingPunct="0">
              <a:spcBef>
                <a:spcPct val="20000"/>
              </a:spcBef>
            </a:pPr>
            <a:r>
              <a:rPr lang="en-US" altLang="zh-CN" sz="2800" dirty="0">
                <a:solidFill>
                  <a:srgbClr val="000099"/>
                </a:solidFill>
                <a:latin typeface="楷体_GB2312" pitchFamily="49" charset="-122"/>
                <a:ea typeface="楷体_GB2312" pitchFamily="49" charset="-122"/>
              </a:rPr>
              <a:t>(2)</a:t>
            </a:r>
            <a:r>
              <a:rPr lang="zh-CN" altLang="en-US" sz="2800" dirty="0">
                <a:solidFill>
                  <a:srgbClr val="000099"/>
                </a:solidFill>
                <a:latin typeface="楷体_GB2312" pitchFamily="49" charset="-122"/>
                <a:ea typeface="楷体_GB2312" pitchFamily="49" charset="-122"/>
              </a:rPr>
              <a:t>关系运算符 </a:t>
            </a:r>
            <a:r>
              <a:rPr lang="en-US" altLang="zh-CN" sz="2800" dirty="0">
                <a:solidFill>
                  <a:srgbClr val="000099"/>
                </a:solidFill>
                <a:latin typeface="楷体_GB2312" pitchFamily="49" charset="-122"/>
                <a:ea typeface="楷体_GB2312" pitchFamily="49" charset="-122"/>
              </a:rPr>
              <a:t>(</a:t>
            </a:r>
            <a:r>
              <a:rPr lang="zh-CN" altLang="en-US" sz="2800" dirty="0">
                <a:solidFill>
                  <a:srgbClr val="000099"/>
                </a:solidFill>
                <a:latin typeface="楷体_GB2312" pitchFamily="49" charset="-122"/>
                <a:ea typeface="楷体_GB2312" pitchFamily="49" charset="-122"/>
              </a:rPr>
              <a:t>＞</a:t>
            </a:r>
            <a:r>
              <a:rPr lang="en-US" altLang="zh-CN" sz="2800" dirty="0">
                <a:solidFill>
                  <a:srgbClr val="000099"/>
                </a:solidFill>
                <a:latin typeface="楷体_GB2312" pitchFamily="49" charset="-122"/>
                <a:ea typeface="楷体_GB2312" pitchFamily="49" charset="-122"/>
              </a:rPr>
              <a:t>,</a:t>
            </a:r>
            <a:r>
              <a:rPr lang="zh-CN" altLang="en-US" sz="2800" dirty="0">
                <a:solidFill>
                  <a:srgbClr val="000099"/>
                </a:solidFill>
                <a:latin typeface="楷体_GB2312" pitchFamily="49" charset="-122"/>
                <a:ea typeface="楷体_GB2312" pitchFamily="49" charset="-122"/>
              </a:rPr>
              <a:t>＜</a:t>
            </a:r>
            <a:r>
              <a:rPr lang="en-US" altLang="zh-CN" sz="2800" dirty="0">
                <a:solidFill>
                  <a:srgbClr val="000099"/>
                </a:solidFill>
                <a:latin typeface="楷体_GB2312" pitchFamily="49" charset="-122"/>
                <a:ea typeface="楷体_GB2312" pitchFamily="49" charset="-122"/>
              </a:rPr>
              <a:t>,</a:t>
            </a:r>
            <a:r>
              <a:rPr lang="zh-CN" altLang="en-US" sz="2800" dirty="0">
                <a:solidFill>
                  <a:srgbClr val="000099"/>
                </a:solidFill>
                <a:latin typeface="楷体_GB2312" pitchFamily="49" charset="-122"/>
                <a:ea typeface="楷体_GB2312" pitchFamily="49" charset="-122"/>
              </a:rPr>
              <a:t> </a:t>
            </a:r>
            <a:r>
              <a:rPr lang="en-US" altLang="zh-CN" sz="2800" dirty="0">
                <a:solidFill>
                  <a:srgbClr val="000099"/>
                </a:solidFill>
                <a:latin typeface="楷体_GB2312" pitchFamily="49" charset="-122"/>
                <a:ea typeface="楷体_GB2312" pitchFamily="49" charset="-122"/>
              </a:rPr>
              <a:t>==, &gt;=, &lt;=, !=)</a:t>
            </a:r>
            <a:endParaRPr lang="zh-CN" altLang="en-US" sz="2800" dirty="0">
              <a:solidFill>
                <a:srgbClr val="000099"/>
              </a:solidFill>
              <a:latin typeface="楷体_GB2312" pitchFamily="49" charset="-122"/>
              <a:ea typeface="楷体_GB2312" pitchFamily="49" charset="-122"/>
            </a:endParaRPr>
          </a:p>
          <a:p>
            <a:pPr eaLnBrk="0" hangingPunct="0">
              <a:spcBef>
                <a:spcPct val="20000"/>
              </a:spcBef>
            </a:pPr>
            <a:r>
              <a:rPr lang="en-US" altLang="zh-CN" sz="2800" dirty="0">
                <a:solidFill>
                  <a:srgbClr val="663300"/>
                </a:solidFill>
                <a:latin typeface="楷体_GB2312" pitchFamily="49" charset="-122"/>
                <a:ea typeface="楷体_GB2312" pitchFamily="49" charset="-122"/>
              </a:rPr>
              <a:t>(3)</a:t>
            </a:r>
            <a:r>
              <a:rPr lang="zh-CN" altLang="en-US" sz="2800" dirty="0">
                <a:solidFill>
                  <a:srgbClr val="663300"/>
                </a:solidFill>
                <a:latin typeface="楷体_GB2312" pitchFamily="49" charset="-122"/>
                <a:ea typeface="楷体_GB2312" pitchFamily="49" charset="-122"/>
              </a:rPr>
              <a:t>逻辑运算符 </a:t>
            </a:r>
            <a:r>
              <a:rPr lang="en-US" altLang="zh-CN" sz="2800" dirty="0">
                <a:solidFill>
                  <a:srgbClr val="663300"/>
                </a:solidFill>
                <a:latin typeface="楷体_GB2312" pitchFamily="49" charset="-122"/>
                <a:ea typeface="楷体_GB2312" pitchFamily="49" charset="-122"/>
              </a:rPr>
              <a:t>(!, &amp;&amp;, || )</a:t>
            </a:r>
            <a:endParaRPr lang="zh-CN" altLang="en-US" sz="2800" dirty="0">
              <a:solidFill>
                <a:srgbClr val="663300"/>
              </a:solidFill>
              <a:latin typeface="楷体_GB2312" pitchFamily="49" charset="-122"/>
              <a:ea typeface="楷体_GB2312" pitchFamily="49" charset="-122"/>
            </a:endParaRPr>
          </a:p>
          <a:p>
            <a:pPr eaLnBrk="0" hangingPunct="0">
              <a:spcBef>
                <a:spcPct val="20000"/>
              </a:spcBef>
            </a:pPr>
            <a:r>
              <a:rPr lang="en-US" altLang="zh-CN" sz="2800" dirty="0">
                <a:solidFill>
                  <a:srgbClr val="000099"/>
                </a:solidFill>
                <a:latin typeface="楷体_GB2312" pitchFamily="49" charset="-122"/>
                <a:ea typeface="楷体_GB2312" pitchFamily="49" charset="-122"/>
              </a:rPr>
              <a:t>(4)</a:t>
            </a:r>
            <a:r>
              <a:rPr lang="zh-CN" altLang="en-US" sz="2800" dirty="0">
                <a:solidFill>
                  <a:srgbClr val="000099"/>
                </a:solidFill>
                <a:latin typeface="楷体_GB2312" pitchFamily="49" charset="-122"/>
                <a:ea typeface="楷体_GB2312" pitchFamily="49" charset="-122"/>
              </a:rPr>
              <a:t>位运算符   </a:t>
            </a:r>
            <a:r>
              <a:rPr lang="en-US" altLang="zh-CN" sz="2800" dirty="0">
                <a:solidFill>
                  <a:srgbClr val="000099"/>
                </a:solidFill>
                <a:latin typeface="楷体_GB2312" pitchFamily="49" charset="-122"/>
                <a:ea typeface="楷体_GB2312" pitchFamily="49" charset="-122"/>
              </a:rPr>
              <a:t>(&lt;&lt;, &gt;&gt;, ~, |, ∧, </a:t>
            </a:r>
            <a:r>
              <a:rPr lang="zh-CN" altLang="en-US" sz="2800" dirty="0">
                <a:solidFill>
                  <a:srgbClr val="000099"/>
                </a:solidFill>
                <a:latin typeface="楷体_GB2312" pitchFamily="49" charset="-122"/>
                <a:ea typeface="楷体_GB2312" pitchFamily="49" charset="-122"/>
              </a:rPr>
              <a:t>＆</a:t>
            </a:r>
            <a:r>
              <a:rPr lang="en-US" altLang="zh-CN" sz="2800" dirty="0">
                <a:solidFill>
                  <a:srgbClr val="000099"/>
                </a:solidFill>
                <a:latin typeface="楷体_GB2312" pitchFamily="49" charset="-122"/>
                <a:ea typeface="楷体_GB2312" pitchFamily="49" charset="-122"/>
              </a:rPr>
              <a:t>)</a:t>
            </a:r>
            <a:endParaRPr lang="zh-CN" altLang="en-US" sz="2800" dirty="0">
              <a:solidFill>
                <a:srgbClr val="000099"/>
              </a:solidFill>
              <a:latin typeface="楷体_GB2312" pitchFamily="49" charset="-122"/>
              <a:ea typeface="楷体_GB2312" pitchFamily="49" charset="-122"/>
            </a:endParaRPr>
          </a:p>
          <a:p>
            <a:pPr eaLnBrk="0" hangingPunct="0">
              <a:spcBef>
                <a:spcPct val="20000"/>
              </a:spcBef>
            </a:pPr>
            <a:r>
              <a:rPr lang="en-US" altLang="zh-CN" sz="2800" dirty="0">
                <a:solidFill>
                  <a:srgbClr val="663300"/>
                </a:solidFill>
                <a:latin typeface="楷体_GB2312" pitchFamily="49" charset="-122"/>
                <a:ea typeface="楷体_GB2312" pitchFamily="49" charset="-122"/>
              </a:rPr>
              <a:t>(5)</a:t>
            </a:r>
            <a:r>
              <a:rPr lang="zh-CN" altLang="en-US" sz="2800" dirty="0">
                <a:solidFill>
                  <a:srgbClr val="663300"/>
                </a:solidFill>
                <a:latin typeface="楷体_GB2312" pitchFamily="49" charset="-122"/>
                <a:ea typeface="楷体_GB2312" pitchFamily="49" charset="-122"/>
              </a:rPr>
              <a:t>赋值运算符 </a:t>
            </a:r>
            <a:r>
              <a:rPr lang="en-US" altLang="zh-CN" sz="2800" dirty="0">
                <a:solidFill>
                  <a:srgbClr val="663300"/>
                </a:solidFill>
                <a:latin typeface="楷体_GB2312" pitchFamily="49" charset="-122"/>
                <a:ea typeface="楷体_GB2312" pitchFamily="49" charset="-122"/>
              </a:rPr>
              <a:t>(</a:t>
            </a:r>
            <a:r>
              <a:rPr lang="zh-CN" altLang="en-US" sz="2800" dirty="0">
                <a:solidFill>
                  <a:srgbClr val="663300"/>
                </a:solidFill>
                <a:latin typeface="楷体_GB2312" pitchFamily="49" charset="-122"/>
                <a:ea typeface="楷体_GB2312" pitchFamily="49" charset="-122"/>
              </a:rPr>
              <a:t>＝</a:t>
            </a:r>
            <a:r>
              <a:rPr lang="en-US" altLang="zh-CN" sz="2800" dirty="0">
                <a:solidFill>
                  <a:srgbClr val="663300"/>
                </a:solidFill>
                <a:latin typeface="楷体_GB2312" pitchFamily="49" charset="-122"/>
                <a:ea typeface="楷体_GB2312" pitchFamily="49" charset="-122"/>
              </a:rPr>
              <a:t>, +=, -=, *=, /=, %=)</a:t>
            </a:r>
            <a:endParaRPr lang="zh-CN" altLang="en-US" sz="2800" dirty="0">
              <a:solidFill>
                <a:srgbClr val="663300"/>
              </a:solidFill>
              <a:latin typeface="楷体_GB2312" pitchFamily="49" charset="-122"/>
              <a:ea typeface="楷体_GB2312" pitchFamily="49" charset="-122"/>
            </a:endParaRPr>
          </a:p>
          <a:p>
            <a:pPr eaLnBrk="0" hangingPunct="0">
              <a:spcBef>
                <a:spcPct val="20000"/>
              </a:spcBef>
            </a:pPr>
            <a:r>
              <a:rPr lang="en-US" altLang="zh-CN" sz="2800" dirty="0">
                <a:solidFill>
                  <a:srgbClr val="000099"/>
                </a:solidFill>
                <a:latin typeface="楷体_GB2312" pitchFamily="49" charset="-122"/>
                <a:ea typeface="楷体_GB2312" pitchFamily="49" charset="-122"/>
              </a:rPr>
              <a:t>(6)</a:t>
            </a:r>
            <a:r>
              <a:rPr lang="zh-CN" altLang="en-US" sz="2800" dirty="0">
                <a:solidFill>
                  <a:srgbClr val="000099"/>
                </a:solidFill>
                <a:latin typeface="楷体_GB2312" pitchFamily="49" charset="-122"/>
                <a:ea typeface="楷体_GB2312" pitchFamily="49" charset="-122"/>
              </a:rPr>
              <a:t>条件运算符 </a:t>
            </a:r>
            <a:r>
              <a:rPr lang="en-US" altLang="zh-CN" sz="2800" dirty="0">
                <a:solidFill>
                  <a:srgbClr val="000099"/>
                </a:solidFill>
                <a:latin typeface="楷体_GB2312" pitchFamily="49" charset="-122"/>
                <a:ea typeface="楷体_GB2312" pitchFamily="49" charset="-122"/>
              </a:rPr>
              <a:t>(</a:t>
            </a:r>
            <a:r>
              <a:rPr lang="zh-CN" altLang="en-US" sz="2800" dirty="0">
                <a:solidFill>
                  <a:srgbClr val="000099"/>
                </a:solidFill>
                <a:latin typeface="楷体_GB2312" pitchFamily="49" charset="-122"/>
                <a:ea typeface="楷体_GB2312" pitchFamily="49" charset="-122"/>
              </a:rPr>
              <a:t>？：</a:t>
            </a:r>
            <a:r>
              <a:rPr lang="en-US" altLang="zh-CN" sz="2800" dirty="0">
                <a:solidFill>
                  <a:srgbClr val="000099"/>
                </a:solidFill>
                <a:latin typeface="楷体_GB2312" pitchFamily="49" charset="-122"/>
                <a:ea typeface="楷体_GB2312" pitchFamily="49" charset="-122"/>
              </a:rPr>
              <a:t>)</a:t>
            </a:r>
            <a:endParaRPr lang="zh-CN" altLang="en-US" sz="2800" dirty="0">
              <a:solidFill>
                <a:srgbClr val="000099"/>
              </a:solidFill>
              <a:latin typeface="楷体_GB2312" pitchFamily="49" charset="-122"/>
              <a:ea typeface="楷体_GB2312" pitchFamily="49" charset="-122"/>
            </a:endParaRPr>
          </a:p>
          <a:p>
            <a:pPr eaLnBrk="0" hangingPunct="0">
              <a:spcBef>
                <a:spcPct val="20000"/>
              </a:spcBef>
            </a:pPr>
            <a:r>
              <a:rPr lang="en-US" altLang="zh-CN" sz="2800" dirty="0">
                <a:solidFill>
                  <a:srgbClr val="663300"/>
                </a:solidFill>
                <a:latin typeface="楷体_GB2312" pitchFamily="49" charset="-122"/>
                <a:ea typeface="楷体_GB2312" pitchFamily="49" charset="-122"/>
              </a:rPr>
              <a:t>(7)</a:t>
            </a:r>
            <a:r>
              <a:rPr lang="zh-CN" altLang="en-US" sz="2800" dirty="0">
                <a:solidFill>
                  <a:srgbClr val="663300"/>
                </a:solidFill>
                <a:latin typeface="楷体_GB2312" pitchFamily="49" charset="-122"/>
                <a:ea typeface="楷体_GB2312" pitchFamily="49" charset="-122"/>
              </a:rPr>
              <a:t>逗号运算符  </a:t>
            </a:r>
            <a:r>
              <a:rPr lang="en-US" altLang="zh-CN" sz="2800" dirty="0">
                <a:solidFill>
                  <a:srgbClr val="663300"/>
                </a:solidFill>
                <a:latin typeface="楷体_GB2312" pitchFamily="49" charset="-122"/>
                <a:ea typeface="楷体_GB2312" pitchFamily="49" charset="-122"/>
              </a:rPr>
              <a:t>(,)</a:t>
            </a:r>
            <a:endParaRPr lang="zh-CN" altLang="en-US" sz="2800" dirty="0">
              <a:solidFill>
                <a:srgbClr val="663300"/>
              </a:solidFill>
              <a:latin typeface="楷体_GB2312" pitchFamily="49" charset="-122"/>
              <a:ea typeface="楷体_GB2312" pitchFamily="49" charset="-122"/>
            </a:endParaRPr>
          </a:p>
        </p:txBody>
      </p:sp>
    </p:spTree>
  </p:cSld>
  <p:clrMapOvr>
    <a:masterClrMapping/>
  </p:clrMapOvr>
  <p:transition advClick="0">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7763"/>
                                        </p:tgtEl>
                                        <p:attrNameLst>
                                          <p:attrName>style.visibility</p:attrName>
                                        </p:attrNameLst>
                                      </p:cBhvr>
                                      <p:to>
                                        <p:strVal val="visible"/>
                                      </p:to>
                                    </p:set>
                                    <p:animEffect transition="in" filter="wipe(left)">
                                      <p:cBhvr>
                                        <p:cTn id="7" dur="1000"/>
                                        <p:tgtEl>
                                          <p:spTgt spid="7577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6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标题 758785">
            <a:extLst>
              <a:ext uri="{FF2B5EF4-FFF2-40B4-BE49-F238E27FC236}">
                <a16:creationId xmlns:a16="http://schemas.microsoft.com/office/drawing/2014/main" id="{3962E4FB-5232-442C-A7B7-F872D024CCE5}"/>
              </a:ext>
            </a:extLst>
          </p:cNvPr>
          <p:cNvSpPr>
            <a:spLocks noGrp="1" noChangeArrowheads="1"/>
          </p:cNvSpPr>
          <p:nvPr>
            <p:ph type="title"/>
          </p:nvPr>
        </p:nvSpPr>
        <p:spPr bwMode="auto">
          <a:xfrm>
            <a:off x="0" y="404813"/>
            <a:ext cx="9144000" cy="739775"/>
          </a:xfrm>
          <a:prstGeom prst="rect">
            <a:avLst/>
          </a:prstGeom>
          <a:noFill/>
          <a:ln w="9525">
            <a:noFill/>
          </a:ln>
        </p:spPr>
        <p:txBody>
          <a:bodyPr vert="horz" wrap="square" lIns="91440" tIns="45720" rIns="91440" bIns="45720" anchor="ctr"/>
          <a:lstStyle/>
          <a:p>
            <a:pPr eaLnBrk="1" hangingPunct="1"/>
            <a:r>
              <a:rPr lang="en-US" altLang="zh-CN" dirty="0"/>
              <a:t> C</a:t>
            </a:r>
            <a:r>
              <a:rPr lang="zh-CN" altLang="en-US" dirty="0"/>
              <a:t>运算符</a:t>
            </a:r>
            <a:r>
              <a:rPr lang="en-US" altLang="zh-CN" dirty="0"/>
              <a:t>(2)</a:t>
            </a:r>
            <a:endParaRPr lang="zh-CN" altLang="en-US" dirty="0"/>
          </a:p>
        </p:txBody>
      </p:sp>
      <p:sp>
        <p:nvSpPr>
          <p:cNvPr id="758787" name="矩形 758786">
            <a:extLst>
              <a:ext uri="{FF2B5EF4-FFF2-40B4-BE49-F238E27FC236}">
                <a16:creationId xmlns:a16="http://schemas.microsoft.com/office/drawing/2014/main" id="{04C54133-CBBE-419A-B120-14AFCFAE592A}"/>
              </a:ext>
            </a:extLst>
          </p:cNvPr>
          <p:cNvSpPr>
            <a:spLocks noChangeArrowheads="1"/>
          </p:cNvSpPr>
          <p:nvPr/>
        </p:nvSpPr>
        <p:spPr bwMode="auto">
          <a:xfrm>
            <a:off x="323850" y="1196975"/>
            <a:ext cx="8497888" cy="367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4000">
                <a:solidFill>
                  <a:schemeClr val="tx1"/>
                </a:solidFill>
                <a:latin typeface="Times New Roman" panose="02020603050405020304" pitchFamily="18" charset="0"/>
                <a:ea typeface="宋体" panose="02010600030101010101" pitchFamily="2" charset="-122"/>
              </a:defRPr>
            </a:lvl1pPr>
            <a:lvl2pPr>
              <a:defRPr sz="4000">
                <a:solidFill>
                  <a:schemeClr val="tx1"/>
                </a:solidFill>
                <a:latin typeface="Times New Roman" panose="02020603050405020304" pitchFamily="18" charset="0"/>
                <a:ea typeface="宋体" panose="02010600030101010101" pitchFamily="2" charset="-122"/>
              </a:defRPr>
            </a:lvl2pPr>
            <a:lvl3pPr>
              <a:defRPr sz="4000">
                <a:solidFill>
                  <a:schemeClr val="tx1"/>
                </a:solidFill>
                <a:latin typeface="Times New Roman" panose="02020603050405020304" pitchFamily="18" charset="0"/>
                <a:ea typeface="宋体" panose="02010600030101010101" pitchFamily="2" charset="-122"/>
              </a:defRPr>
            </a:lvl3pPr>
            <a:lvl4pPr>
              <a:defRPr sz="4000">
                <a:solidFill>
                  <a:schemeClr val="tx1"/>
                </a:solidFill>
                <a:latin typeface="Times New Roman" panose="02020603050405020304" pitchFamily="18" charset="0"/>
                <a:ea typeface="宋体" panose="02010600030101010101" pitchFamily="2" charset="-122"/>
              </a:defRPr>
            </a:lvl4pPr>
            <a:lvl5pPr>
              <a:defRPr sz="40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9pPr>
          </a:lstStyle>
          <a:p>
            <a:pPr eaLnBrk="0" hangingPunct="0">
              <a:spcBef>
                <a:spcPct val="20000"/>
              </a:spcBef>
            </a:pPr>
            <a:r>
              <a:rPr lang="en-US" altLang="zh-CN" sz="3200" dirty="0">
                <a:solidFill>
                  <a:srgbClr val="000099"/>
                </a:solidFill>
                <a:latin typeface="楷体_GB2312" pitchFamily="49" charset="-122"/>
                <a:ea typeface="楷体_GB2312" pitchFamily="49" charset="-122"/>
              </a:rPr>
              <a:t>(8)</a:t>
            </a:r>
            <a:r>
              <a:rPr lang="zh-CN" altLang="en-US" sz="3200" dirty="0">
                <a:solidFill>
                  <a:srgbClr val="000099"/>
                </a:solidFill>
                <a:latin typeface="楷体_GB2312" pitchFamily="49" charset="-122"/>
                <a:ea typeface="楷体_GB2312" pitchFamily="49" charset="-122"/>
              </a:rPr>
              <a:t>指针运算符 </a:t>
            </a:r>
            <a:r>
              <a:rPr lang="en-US" altLang="zh-CN" sz="3200" dirty="0">
                <a:solidFill>
                  <a:srgbClr val="000099"/>
                </a:solidFill>
                <a:latin typeface="楷体_GB2312" pitchFamily="49" charset="-122"/>
                <a:ea typeface="楷体_GB2312" pitchFamily="49" charset="-122"/>
              </a:rPr>
              <a:t>(*</a:t>
            </a:r>
            <a:r>
              <a:rPr lang="zh-CN" altLang="en-US" sz="3200" dirty="0">
                <a:solidFill>
                  <a:srgbClr val="000099"/>
                </a:solidFill>
                <a:latin typeface="楷体_GB2312" pitchFamily="49" charset="-122"/>
                <a:ea typeface="楷体_GB2312" pitchFamily="49" charset="-122"/>
              </a:rPr>
              <a:t>和＆</a:t>
            </a:r>
            <a:r>
              <a:rPr lang="en-US" altLang="zh-CN" sz="3200" dirty="0">
                <a:solidFill>
                  <a:srgbClr val="000099"/>
                </a:solidFill>
                <a:latin typeface="楷体_GB2312" pitchFamily="49" charset="-122"/>
                <a:ea typeface="楷体_GB2312" pitchFamily="49" charset="-122"/>
              </a:rPr>
              <a:t>)</a:t>
            </a:r>
            <a:endParaRPr lang="zh-CN" altLang="en-US" sz="3200" dirty="0">
              <a:solidFill>
                <a:srgbClr val="000099"/>
              </a:solidFill>
              <a:latin typeface="楷体_GB2312" pitchFamily="49" charset="-122"/>
              <a:ea typeface="楷体_GB2312" pitchFamily="49" charset="-122"/>
            </a:endParaRPr>
          </a:p>
          <a:p>
            <a:pPr eaLnBrk="0" hangingPunct="0">
              <a:spcBef>
                <a:spcPct val="20000"/>
              </a:spcBef>
            </a:pPr>
            <a:r>
              <a:rPr lang="en-US" altLang="zh-CN" sz="3200" dirty="0">
                <a:solidFill>
                  <a:srgbClr val="663300"/>
                </a:solidFill>
                <a:latin typeface="楷体_GB2312" pitchFamily="49" charset="-122"/>
                <a:ea typeface="楷体_GB2312" pitchFamily="49" charset="-122"/>
              </a:rPr>
              <a:t>(9)</a:t>
            </a:r>
            <a:r>
              <a:rPr lang="zh-CN" altLang="en-US" sz="3200" dirty="0">
                <a:solidFill>
                  <a:srgbClr val="663300"/>
                </a:solidFill>
                <a:latin typeface="楷体_GB2312" pitchFamily="49" charset="-122"/>
                <a:ea typeface="楷体_GB2312" pitchFamily="49" charset="-122"/>
              </a:rPr>
              <a:t>求字节数运算符</a:t>
            </a:r>
            <a:r>
              <a:rPr lang="en-US" altLang="zh-CN" sz="3200" dirty="0">
                <a:solidFill>
                  <a:srgbClr val="663300"/>
                </a:solidFill>
                <a:latin typeface="楷体_GB2312" pitchFamily="49" charset="-122"/>
                <a:ea typeface="楷体_GB2312" pitchFamily="49" charset="-122"/>
              </a:rPr>
              <a:t>(</a:t>
            </a:r>
            <a:r>
              <a:rPr lang="zh-CN" altLang="en-US" sz="3200" dirty="0">
                <a:solidFill>
                  <a:srgbClr val="663300"/>
                </a:solidFill>
                <a:latin typeface="楷体_GB2312" pitchFamily="49" charset="-122"/>
                <a:ea typeface="楷体_GB2312" pitchFamily="49" charset="-122"/>
              </a:rPr>
              <a:t> </a:t>
            </a:r>
            <a:r>
              <a:rPr lang="en-US" altLang="zh-CN" sz="3200" dirty="0" err="1">
                <a:solidFill>
                  <a:srgbClr val="663300"/>
                </a:solidFill>
                <a:latin typeface="楷体_GB2312" pitchFamily="49" charset="-122"/>
                <a:ea typeface="楷体_GB2312" pitchFamily="49" charset="-122"/>
              </a:rPr>
              <a:t>sizeof</a:t>
            </a:r>
            <a:r>
              <a:rPr lang="en-US" altLang="zh-CN" sz="3200" dirty="0">
                <a:solidFill>
                  <a:srgbClr val="663300"/>
                </a:solidFill>
                <a:latin typeface="楷体_GB2312" pitchFamily="49" charset="-122"/>
                <a:ea typeface="楷体_GB2312" pitchFamily="49" charset="-122"/>
              </a:rPr>
              <a:t>() )</a:t>
            </a:r>
            <a:endParaRPr lang="zh-CN" altLang="en-US" sz="3200" dirty="0">
              <a:solidFill>
                <a:srgbClr val="663300"/>
              </a:solidFill>
              <a:latin typeface="楷体_GB2312" pitchFamily="49" charset="-122"/>
              <a:ea typeface="楷体_GB2312" pitchFamily="49" charset="-122"/>
            </a:endParaRPr>
          </a:p>
          <a:p>
            <a:pPr eaLnBrk="0" hangingPunct="0">
              <a:spcBef>
                <a:spcPct val="20000"/>
              </a:spcBef>
            </a:pPr>
            <a:r>
              <a:rPr lang="en-US" altLang="zh-CN" sz="3200" dirty="0">
                <a:solidFill>
                  <a:srgbClr val="000099"/>
                </a:solidFill>
                <a:latin typeface="楷体_GB2312" pitchFamily="49" charset="-122"/>
                <a:ea typeface="楷体_GB2312" pitchFamily="49" charset="-122"/>
              </a:rPr>
              <a:t>(10)</a:t>
            </a:r>
            <a:r>
              <a:rPr lang="zh-CN" altLang="en-US" sz="3200" dirty="0">
                <a:solidFill>
                  <a:srgbClr val="000099"/>
                </a:solidFill>
                <a:latin typeface="楷体_GB2312" pitchFamily="49" charset="-122"/>
                <a:ea typeface="楷体_GB2312" pitchFamily="49" charset="-122"/>
              </a:rPr>
              <a:t>强制类型转换运算符</a:t>
            </a:r>
            <a:r>
              <a:rPr lang="en-US" altLang="zh-CN" sz="3200" dirty="0">
                <a:solidFill>
                  <a:srgbClr val="000099"/>
                </a:solidFill>
                <a:latin typeface="楷体_GB2312" pitchFamily="49" charset="-122"/>
                <a:ea typeface="楷体_GB2312" pitchFamily="49" charset="-122"/>
              </a:rPr>
              <a:t>(</a:t>
            </a:r>
            <a:r>
              <a:rPr lang="zh-CN" altLang="en-US" sz="3200" dirty="0">
                <a:solidFill>
                  <a:srgbClr val="000099"/>
                </a:solidFill>
                <a:latin typeface="楷体_GB2312" pitchFamily="49" charset="-122"/>
                <a:ea typeface="楷体_GB2312" pitchFamily="49" charset="-122"/>
              </a:rPr>
              <a:t> </a:t>
            </a:r>
            <a:r>
              <a:rPr lang="en-US" altLang="zh-CN" sz="3200" dirty="0">
                <a:solidFill>
                  <a:srgbClr val="000099"/>
                </a:solidFill>
                <a:latin typeface="楷体_GB2312" pitchFamily="49" charset="-122"/>
                <a:ea typeface="楷体_GB2312" pitchFamily="49" charset="-122"/>
              </a:rPr>
              <a:t>(</a:t>
            </a:r>
            <a:r>
              <a:rPr lang="zh-CN" altLang="en-US" sz="3200" dirty="0">
                <a:solidFill>
                  <a:srgbClr val="000099"/>
                </a:solidFill>
                <a:latin typeface="楷体_GB2312" pitchFamily="49" charset="-122"/>
                <a:ea typeface="楷体_GB2312" pitchFamily="49" charset="-122"/>
              </a:rPr>
              <a:t>类型名</a:t>
            </a:r>
            <a:r>
              <a:rPr lang="en-US" altLang="zh-CN" sz="3200" dirty="0">
                <a:solidFill>
                  <a:srgbClr val="000099"/>
                </a:solidFill>
                <a:latin typeface="楷体_GB2312" pitchFamily="49" charset="-122"/>
                <a:ea typeface="楷体_GB2312" pitchFamily="49" charset="-122"/>
              </a:rPr>
              <a:t>)</a:t>
            </a:r>
            <a:r>
              <a:rPr lang="zh-CN" altLang="en-US" sz="3200" dirty="0">
                <a:solidFill>
                  <a:srgbClr val="000099"/>
                </a:solidFill>
                <a:latin typeface="楷体_GB2312" pitchFamily="49" charset="-122"/>
                <a:ea typeface="楷体_GB2312" pitchFamily="49" charset="-122"/>
              </a:rPr>
              <a:t> </a:t>
            </a:r>
            <a:r>
              <a:rPr lang="en-US" altLang="zh-CN" sz="3200" dirty="0">
                <a:solidFill>
                  <a:srgbClr val="000099"/>
                </a:solidFill>
                <a:latin typeface="楷体_GB2312" pitchFamily="49" charset="-122"/>
                <a:ea typeface="楷体_GB2312" pitchFamily="49" charset="-122"/>
              </a:rPr>
              <a:t>)</a:t>
            </a:r>
          </a:p>
          <a:p>
            <a:pPr eaLnBrk="0" hangingPunct="0">
              <a:spcBef>
                <a:spcPct val="20000"/>
              </a:spcBef>
            </a:pPr>
            <a:r>
              <a:rPr lang="en-US" altLang="zh-CN" sz="3200" dirty="0">
                <a:solidFill>
                  <a:srgbClr val="663300"/>
                </a:solidFill>
                <a:latin typeface="楷体_GB2312" pitchFamily="49" charset="-122"/>
                <a:ea typeface="楷体_GB2312" pitchFamily="49" charset="-122"/>
              </a:rPr>
              <a:t>(11)</a:t>
            </a:r>
            <a:r>
              <a:rPr lang="zh-CN" altLang="en-US" sz="3200" dirty="0">
                <a:solidFill>
                  <a:srgbClr val="663300"/>
                </a:solidFill>
                <a:latin typeface="楷体_GB2312" pitchFamily="49" charset="-122"/>
                <a:ea typeface="楷体_GB2312" pitchFamily="49" charset="-122"/>
              </a:rPr>
              <a:t>分量运算符</a:t>
            </a:r>
            <a:r>
              <a:rPr lang="en-US" altLang="zh-CN" sz="3200" dirty="0">
                <a:solidFill>
                  <a:srgbClr val="663300"/>
                </a:solidFill>
                <a:latin typeface="楷体_GB2312" pitchFamily="49" charset="-122"/>
                <a:ea typeface="楷体_GB2312" pitchFamily="49" charset="-122"/>
              </a:rPr>
              <a:t>(</a:t>
            </a:r>
            <a:r>
              <a:rPr lang="zh-CN" altLang="en-US" sz="3200" dirty="0">
                <a:solidFill>
                  <a:srgbClr val="663300"/>
                </a:solidFill>
                <a:latin typeface="楷体_GB2312" pitchFamily="49" charset="-122"/>
                <a:ea typeface="楷体_GB2312" pitchFamily="49" charset="-122"/>
              </a:rPr>
              <a:t> ．</a:t>
            </a:r>
            <a:r>
              <a:rPr lang="en-US" altLang="zh-CN" sz="3200" dirty="0">
                <a:solidFill>
                  <a:srgbClr val="663300"/>
                </a:solidFill>
                <a:latin typeface="楷体_GB2312" pitchFamily="49" charset="-122"/>
                <a:ea typeface="楷体_GB2312" pitchFamily="49" charset="-122"/>
              </a:rPr>
              <a:t>, -&gt;)</a:t>
            </a:r>
            <a:endParaRPr lang="zh-CN" altLang="en-US" sz="3200" dirty="0">
              <a:solidFill>
                <a:srgbClr val="663300"/>
              </a:solidFill>
              <a:latin typeface="楷体_GB2312" pitchFamily="49" charset="-122"/>
              <a:ea typeface="楷体_GB2312" pitchFamily="49" charset="-122"/>
            </a:endParaRPr>
          </a:p>
          <a:p>
            <a:pPr eaLnBrk="0" hangingPunct="0">
              <a:spcBef>
                <a:spcPct val="20000"/>
              </a:spcBef>
            </a:pPr>
            <a:r>
              <a:rPr lang="en-US" altLang="zh-CN" sz="3200" dirty="0">
                <a:solidFill>
                  <a:srgbClr val="000099"/>
                </a:solidFill>
                <a:latin typeface="楷体_GB2312" pitchFamily="49" charset="-122"/>
                <a:ea typeface="楷体_GB2312" pitchFamily="49" charset="-122"/>
              </a:rPr>
              <a:t>(12)</a:t>
            </a:r>
            <a:r>
              <a:rPr lang="zh-CN" altLang="en-US" sz="3200" dirty="0">
                <a:solidFill>
                  <a:srgbClr val="000099"/>
                </a:solidFill>
                <a:latin typeface="楷体_GB2312" pitchFamily="49" charset="-122"/>
                <a:ea typeface="楷体_GB2312" pitchFamily="49" charset="-122"/>
              </a:rPr>
              <a:t>下标运算符</a:t>
            </a:r>
            <a:r>
              <a:rPr lang="en-US" altLang="zh-CN" sz="3200" dirty="0">
                <a:solidFill>
                  <a:srgbClr val="000099"/>
                </a:solidFill>
                <a:latin typeface="楷体_GB2312" pitchFamily="49" charset="-122"/>
                <a:ea typeface="楷体_GB2312" pitchFamily="49" charset="-122"/>
              </a:rPr>
              <a:t>(</a:t>
            </a:r>
            <a:r>
              <a:rPr lang="zh-CN" altLang="en-US" sz="3200" dirty="0">
                <a:solidFill>
                  <a:srgbClr val="000099"/>
                </a:solidFill>
                <a:latin typeface="楷体_GB2312" pitchFamily="49" charset="-122"/>
                <a:ea typeface="楷体_GB2312" pitchFamily="49" charset="-122"/>
              </a:rPr>
              <a:t>［ ］</a:t>
            </a:r>
            <a:r>
              <a:rPr lang="en-US" altLang="zh-CN" sz="3200" dirty="0">
                <a:solidFill>
                  <a:srgbClr val="000099"/>
                </a:solidFill>
                <a:latin typeface="楷体_GB2312" pitchFamily="49" charset="-122"/>
                <a:ea typeface="楷体_GB2312" pitchFamily="49" charset="-122"/>
              </a:rPr>
              <a:t>)</a:t>
            </a:r>
            <a:endParaRPr lang="zh-CN" altLang="en-US" sz="3200" dirty="0">
              <a:solidFill>
                <a:srgbClr val="000099"/>
              </a:solidFill>
              <a:latin typeface="楷体_GB2312" pitchFamily="49" charset="-122"/>
              <a:ea typeface="楷体_GB2312" pitchFamily="49" charset="-122"/>
            </a:endParaRPr>
          </a:p>
          <a:p>
            <a:pPr eaLnBrk="0" hangingPunct="0">
              <a:spcBef>
                <a:spcPct val="20000"/>
              </a:spcBef>
            </a:pPr>
            <a:r>
              <a:rPr lang="en-US" altLang="zh-CN" sz="3200" dirty="0">
                <a:solidFill>
                  <a:srgbClr val="663300"/>
                </a:solidFill>
                <a:latin typeface="楷体_GB2312" pitchFamily="49" charset="-122"/>
                <a:ea typeface="楷体_GB2312" pitchFamily="49" charset="-122"/>
              </a:rPr>
              <a:t>(13)</a:t>
            </a:r>
            <a:r>
              <a:rPr lang="zh-CN" altLang="en-US" sz="3200" dirty="0">
                <a:solidFill>
                  <a:srgbClr val="663300"/>
                </a:solidFill>
                <a:latin typeface="楷体_GB2312" pitchFamily="49" charset="-122"/>
                <a:ea typeface="楷体_GB2312" pitchFamily="49" charset="-122"/>
              </a:rPr>
              <a:t>其他 </a:t>
            </a:r>
            <a:r>
              <a:rPr lang="en-US" altLang="zh-CN" sz="3200" dirty="0">
                <a:solidFill>
                  <a:srgbClr val="663300"/>
                </a:solidFill>
                <a:latin typeface="楷体_GB2312" pitchFamily="49" charset="-122"/>
                <a:ea typeface="楷体_GB2312" pitchFamily="49" charset="-122"/>
              </a:rPr>
              <a:t>(</a:t>
            </a:r>
            <a:r>
              <a:rPr lang="zh-CN" altLang="en-US" sz="3200" dirty="0">
                <a:solidFill>
                  <a:srgbClr val="663300"/>
                </a:solidFill>
                <a:latin typeface="楷体_GB2312" pitchFamily="49" charset="-122"/>
                <a:ea typeface="楷体_GB2312" pitchFamily="49" charset="-122"/>
              </a:rPr>
              <a:t>如函数调用</a:t>
            </a:r>
            <a:r>
              <a:rPr lang="en-US" altLang="zh-CN" sz="3200" dirty="0">
                <a:solidFill>
                  <a:srgbClr val="663300"/>
                </a:solidFill>
                <a:latin typeface="楷体_GB2312" pitchFamily="49" charset="-122"/>
                <a:ea typeface="楷体_GB2312" pitchFamily="49" charset="-122"/>
              </a:rPr>
              <a:t>)</a:t>
            </a:r>
            <a:endParaRPr lang="zh-CN" altLang="en-US" sz="3200" dirty="0">
              <a:solidFill>
                <a:srgbClr val="663300"/>
              </a:solidFill>
              <a:latin typeface="楷体_GB2312" pitchFamily="49" charset="-122"/>
              <a:ea typeface="楷体_GB2312" pitchFamily="49" charset="-122"/>
            </a:endParaRPr>
          </a:p>
          <a:p>
            <a:pPr eaLnBrk="0" hangingPunct="0">
              <a:spcBef>
                <a:spcPct val="20000"/>
              </a:spcBef>
              <a:buFont typeface="Wingdings" panose="05000000000000000000" pitchFamily="2" charset="2"/>
              <a:buNone/>
            </a:pPr>
            <a:endParaRPr lang="zh-CN" altLang="en-US" sz="3200" dirty="0">
              <a:solidFill>
                <a:srgbClr val="663300"/>
              </a:solidFill>
              <a:latin typeface="楷体_GB2312" pitchFamily="49" charset="-122"/>
              <a:ea typeface="楷体_GB2312" pitchFamily="49" charset="-122"/>
            </a:endParaRPr>
          </a:p>
        </p:txBody>
      </p:sp>
    </p:spTree>
  </p:cSld>
  <p:clrMapOvr>
    <a:masterClrMapping/>
  </p:clrMapOvr>
  <p:transition advClick="0">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8787"/>
                                        </p:tgtEl>
                                        <p:attrNameLst>
                                          <p:attrName>style.visibility</p:attrName>
                                        </p:attrNameLst>
                                      </p:cBhvr>
                                      <p:to>
                                        <p:strVal val="visible"/>
                                      </p:to>
                                    </p:set>
                                    <p:animEffect transition="in" filter="wipe(left)">
                                      <p:cBhvr>
                                        <p:cTn id="7" dur="1000"/>
                                        <p:tgtEl>
                                          <p:spTgt spid="7587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878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1858" name="矩形 761857">
            <a:extLst>
              <a:ext uri="{FF2B5EF4-FFF2-40B4-BE49-F238E27FC236}">
                <a16:creationId xmlns:a16="http://schemas.microsoft.com/office/drawing/2014/main" id="{6E61933C-FAC2-4D08-A566-4A92193EA043}"/>
              </a:ext>
            </a:extLst>
          </p:cNvPr>
          <p:cNvSpPr>
            <a:spLocks noChangeArrowheads="1"/>
          </p:cNvSpPr>
          <p:nvPr/>
        </p:nvSpPr>
        <p:spPr bwMode="auto">
          <a:xfrm>
            <a:off x="538163" y="836612"/>
            <a:ext cx="8066087" cy="5328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4000">
                <a:solidFill>
                  <a:schemeClr val="tx1"/>
                </a:solidFill>
                <a:latin typeface="Times New Roman" panose="02020603050405020304" pitchFamily="18" charset="0"/>
                <a:ea typeface="宋体" panose="02010600030101010101" pitchFamily="2" charset="-122"/>
              </a:defRPr>
            </a:lvl1pPr>
            <a:lvl2pPr>
              <a:defRPr sz="4000">
                <a:solidFill>
                  <a:schemeClr val="tx1"/>
                </a:solidFill>
                <a:latin typeface="Times New Roman" panose="02020603050405020304" pitchFamily="18" charset="0"/>
                <a:ea typeface="宋体" panose="02010600030101010101" pitchFamily="2" charset="-122"/>
              </a:defRPr>
            </a:lvl2pPr>
            <a:lvl3pPr>
              <a:defRPr sz="4000">
                <a:solidFill>
                  <a:schemeClr val="tx1"/>
                </a:solidFill>
                <a:latin typeface="Times New Roman" panose="02020603050405020304" pitchFamily="18" charset="0"/>
                <a:ea typeface="宋体" panose="02010600030101010101" pitchFamily="2" charset="-122"/>
              </a:defRPr>
            </a:lvl3pPr>
            <a:lvl4pPr>
              <a:defRPr sz="4000">
                <a:solidFill>
                  <a:schemeClr val="tx1"/>
                </a:solidFill>
                <a:latin typeface="Times New Roman" panose="02020603050405020304" pitchFamily="18" charset="0"/>
                <a:ea typeface="宋体" panose="02010600030101010101" pitchFamily="2" charset="-122"/>
              </a:defRPr>
            </a:lvl4pPr>
            <a:lvl5pPr>
              <a:defRPr sz="40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9pPr>
          </a:lstStyle>
          <a:p>
            <a:pPr eaLnBrk="0" hangingPunct="0">
              <a:spcBef>
                <a:spcPct val="20000"/>
              </a:spcBef>
            </a:pPr>
            <a:endParaRPr lang="en-US" altLang="zh-CN" sz="3200" dirty="0">
              <a:solidFill>
                <a:srgbClr val="000099"/>
              </a:solidFill>
              <a:latin typeface="楷体_GB2312" pitchFamily="49" charset="-122"/>
              <a:ea typeface="楷体_GB2312" pitchFamily="49" charset="-122"/>
            </a:endParaRPr>
          </a:p>
          <a:p>
            <a:pPr eaLnBrk="0" hangingPunct="0">
              <a:spcBef>
                <a:spcPct val="20000"/>
              </a:spcBef>
              <a:buFont typeface="Arial" panose="020B0604020202020204" pitchFamily="34" charset="0"/>
              <a:buChar char="•"/>
            </a:pPr>
            <a:r>
              <a:rPr lang="zh-CN" altLang="en-US" sz="3200" dirty="0">
                <a:solidFill>
                  <a:srgbClr val="000099"/>
                </a:solidFill>
                <a:latin typeface="楷体_GB2312" pitchFamily="49" charset="-122"/>
                <a:ea typeface="楷体_GB2312" pitchFamily="49" charset="-122"/>
              </a:rPr>
              <a:t>Ｃ语言规定了运算符的优先级和结合性。</a:t>
            </a:r>
          </a:p>
          <a:p>
            <a:pPr eaLnBrk="0" hangingPunct="0">
              <a:spcBef>
                <a:spcPct val="20000"/>
              </a:spcBef>
            </a:pPr>
            <a:r>
              <a:rPr lang="zh-CN" altLang="en-US" sz="2800" dirty="0">
                <a:solidFill>
                  <a:srgbClr val="4D4D4D"/>
                </a:solidFill>
              </a:rPr>
              <a:t>        在表达式求值时</a:t>
            </a:r>
            <a:r>
              <a:rPr lang="en-US" altLang="zh-CN" sz="2800" dirty="0">
                <a:solidFill>
                  <a:srgbClr val="4D4D4D"/>
                </a:solidFill>
              </a:rPr>
              <a:t>,</a:t>
            </a:r>
            <a:r>
              <a:rPr lang="zh-CN" altLang="en-US" sz="2800" dirty="0">
                <a:solidFill>
                  <a:srgbClr val="4D4D4D"/>
                </a:solidFill>
              </a:rPr>
              <a:t>先按运算符的优先级别高低次序执行</a:t>
            </a:r>
            <a:r>
              <a:rPr lang="en-US" altLang="zh-CN" sz="2800" dirty="0">
                <a:solidFill>
                  <a:srgbClr val="4D4D4D"/>
                </a:solidFill>
              </a:rPr>
              <a:t>,</a:t>
            </a:r>
            <a:r>
              <a:rPr lang="zh-CN" altLang="en-US" sz="2800" dirty="0">
                <a:solidFill>
                  <a:srgbClr val="4D4D4D"/>
                </a:solidFill>
              </a:rPr>
              <a:t>例如先乘除后加减。</a:t>
            </a:r>
            <a:r>
              <a:rPr lang="zh-CN" altLang="en-US" sz="4400" dirty="0">
                <a:solidFill>
                  <a:srgbClr val="4D4D4D"/>
                </a:solidFill>
              </a:rPr>
              <a:t>  </a:t>
            </a:r>
            <a:endParaRPr lang="zh-CN" altLang="en-US" sz="3200" dirty="0">
              <a:solidFill>
                <a:srgbClr val="000099"/>
              </a:solidFill>
              <a:latin typeface="楷体_GB2312" pitchFamily="49" charset="-122"/>
              <a:ea typeface="楷体_GB2312" pitchFamily="49" charset="-122"/>
            </a:endParaRPr>
          </a:p>
          <a:p>
            <a:pPr eaLnBrk="0" hangingPunct="0">
              <a:spcBef>
                <a:spcPct val="20000"/>
              </a:spcBef>
              <a:buFont typeface="Arial" panose="020B0604020202020204" pitchFamily="34" charset="0"/>
              <a:buChar char="•"/>
            </a:pPr>
            <a:r>
              <a:rPr lang="zh-CN" altLang="en-US" sz="3200" dirty="0">
                <a:solidFill>
                  <a:srgbClr val="663300"/>
                </a:solidFill>
                <a:latin typeface="楷体_GB2312" pitchFamily="49" charset="-122"/>
                <a:ea typeface="楷体_GB2312" pitchFamily="49" charset="-122"/>
              </a:rPr>
              <a:t>Ｃ规定了各种运算符的结合方向</a:t>
            </a:r>
            <a:r>
              <a:rPr lang="en-US" altLang="zh-CN" sz="3200" dirty="0">
                <a:solidFill>
                  <a:srgbClr val="663300"/>
                </a:solidFill>
                <a:latin typeface="楷体_GB2312" pitchFamily="49" charset="-122"/>
                <a:ea typeface="楷体_GB2312" pitchFamily="49" charset="-122"/>
              </a:rPr>
              <a:t>(</a:t>
            </a:r>
            <a:r>
              <a:rPr lang="zh-CN" altLang="en-US" sz="3200" dirty="0">
                <a:solidFill>
                  <a:srgbClr val="663300"/>
                </a:solidFill>
                <a:latin typeface="楷体_GB2312" pitchFamily="49" charset="-122"/>
                <a:ea typeface="楷体_GB2312" pitchFamily="49" charset="-122"/>
              </a:rPr>
              <a:t>结合性</a:t>
            </a:r>
            <a:r>
              <a:rPr lang="en-US" altLang="zh-CN" sz="3200" dirty="0">
                <a:solidFill>
                  <a:srgbClr val="663300"/>
                </a:solidFill>
                <a:latin typeface="楷体_GB2312" pitchFamily="49" charset="-122"/>
                <a:ea typeface="楷体_GB2312" pitchFamily="49" charset="-122"/>
              </a:rPr>
              <a:t>) </a:t>
            </a:r>
          </a:p>
          <a:p>
            <a:pPr eaLnBrk="0" hangingPunct="0">
              <a:spcBef>
                <a:spcPct val="20000"/>
              </a:spcBef>
            </a:pPr>
            <a:r>
              <a:rPr lang="en-US" altLang="zh-CN" sz="2800" dirty="0">
                <a:solidFill>
                  <a:srgbClr val="4D4D4D"/>
                </a:solidFill>
              </a:rPr>
              <a:t>        </a:t>
            </a:r>
            <a:r>
              <a:rPr lang="zh-CN" altLang="en-US" sz="2800" dirty="0">
                <a:solidFill>
                  <a:srgbClr val="4D4D4D"/>
                </a:solidFill>
              </a:rPr>
              <a:t>算术运算符的结合方向为“自左至右”</a:t>
            </a:r>
            <a:r>
              <a:rPr lang="en-US" altLang="zh-CN" sz="2800" dirty="0">
                <a:solidFill>
                  <a:srgbClr val="4D4D4D"/>
                </a:solidFill>
              </a:rPr>
              <a:t>,</a:t>
            </a:r>
            <a:r>
              <a:rPr lang="zh-CN" altLang="en-US" sz="2800" dirty="0">
                <a:solidFill>
                  <a:srgbClr val="4D4D4D"/>
                </a:solidFill>
              </a:rPr>
              <a:t>即先左后右 。</a:t>
            </a:r>
            <a:endParaRPr lang="en-US" altLang="zh-CN" sz="2800" dirty="0">
              <a:solidFill>
                <a:srgbClr val="4D4D4D"/>
              </a:solidFill>
            </a:endParaRPr>
          </a:p>
          <a:p>
            <a:pPr lvl="2" eaLnBrk="0" hangingPunct="0">
              <a:spcBef>
                <a:spcPct val="20000"/>
              </a:spcBef>
              <a:buFont typeface="Arial" panose="020B0604020202020204" pitchFamily="34" charset="0"/>
              <a:buChar char="•"/>
            </a:pPr>
            <a:r>
              <a:rPr lang="zh-CN" altLang="en-US" sz="2000" dirty="0">
                <a:latin typeface="楷体_GB2312" pitchFamily="49" charset="-122"/>
                <a:ea typeface="楷体_GB2312" pitchFamily="49" charset="-122"/>
              </a:rPr>
              <a:t>＋＋ｉ</a:t>
            </a:r>
            <a:r>
              <a:rPr lang="en-US" altLang="zh-CN" sz="2000" dirty="0">
                <a:latin typeface="楷体_GB2312" pitchFamily="49" charset="-122"/>
                <a:ea typeface="楷体_GB2312" pitchFamily="49" charset="-122"/>
              </a:rPr>
              <a:t>,</a:t>
            </a:r>
            <a:r>
              <a:rPr lang="zh-CN" altLang="en-US" sz="2000" dirty="0">
                <a:latin typeface="楷体_GB2312" pitchFamily="49" charset="-122"/>
                <a:ea typeface="楷体_GB2312" pitchFamily="49" charset="-122"/>
              </a:rPr>
              <a:t>－－ｉ</a:t>
            </a:r>
            <a:r>
              <a:rPr lang="en-US" altLang="zh-CN" sz="2000" dirty="0">
                <a:latin typeface="楷体_GB2312" pitchFamily="49" charset="-122"/>
                <a:ea typeface="楷体_GB2312" pitchFamily="49" charset="-122"/>
              </a:rPr>
              <a:t>(</a:t>
            </a:r>
            <a:r>
              <a:rPr lang="zh-CN" altLang="en-US" sz="2000" dirty="0">
                <a:latin typeface="楷体_GB2312" pitchFamily="49" charset="-122"/>
                <a:ea typeface="楷体_GB2312" pitchFamily="49" charset="-122"/>
              </a:rPr>
              <a:t>在使用ｉ之前</a:t>
            </a:r>
            <a:r>
              <a:rPr lang="en-US" altLang="zh-CN" sz="2000" dirty="0">
                <a:latin typeface="楷体_GB2312" pitchFamily="49" charset="-122"/>
                <a:ea typeface="楷体_GB2312" pitchFamily="49" charset="-122"/>
              </a:rPr>
              <a:t>,</a:t>
            </a:r>
            <a:r>
              <a:rPr lang="zh-CN" altLang="en-US" sz="2000" dirty="0">
                <a:latin typeface="楷体_GB2312" pitchFamily="49" charset="-122"/>
                <a:ea typeface="楷体_GB2312" pitchFamily="49" charset="-122"/>
              </a:rPr>
              <a:t>先使ｉ的值加</a:t>
            </a:r>
            <a:r>
              <a:rPr lang="en-US" altLang="zh-CN" sz="2000" dirty="0">
                <a:latin typeface="楷体_GB2312" pitchFamily="49" charset="-122"/>
                <a:ea typeface="楷体_GB2312" pitchFamily="49" charset="-122"/>
              </a:rPr>
              <a:t>(</a:t>
            </a:r>
            <a:r>
              <a:rPr lang="zh-CN" altLang="en-US" sz="2000" dirty="0">
                <a:latin typeface="楷体_GB2312" pitchFamily="49" charset="-122"/>
                <a:ea typeface="楷体_GB2312" pitchFamily="49" charset="-122"/>
              </a:rPr>
              <a:t>减</a:t>
            </a:r>
            <a:r>
              <a:rPr lang="en-US" altLang="zh-CN" sz="2000" dirty="0">
                <a:latin typeface="楷体_GB2312" pitchFamily="49" charset="-122"/>
                <a:ea typeface="楷体_GB2312" pitchFamily="49" charset="-122"/>
              </a:rPr>
              <a:t>)</a:t>
            </a:r>
            <a:r>
              <a:rPr lang="zh-CN" altLang="en-US" sz="2000" dirty="0">
                <a:latin typeface="楷体_GB2312" pitchFamily="49" charset="-122"/>
                <a:ea typeface="楷体_GB2312" pitchFamily="49" charset="-122"/>
              </a:rPr>
              <a:t>１</a:t>
            </a:r>
            <a:r>
              <a:rPr lang="en-US" altLang="zh-CN" sz="2000" dirty="0">
                <a:latin typeface="楷体_GB2312" pitchFamily="49" charset="-122"/>
                <a:ea typeface="楷体_GB2312" pitchFamily="49" charset="-122"/>
              </a:rPr>
              <a:t>)</a:t>
            </a:r>
            <a:endParaRPr lang="zh-CN" altLang="en-US" sz="2000" dirty="0">
              <a:latin typeface="楷体_GB2312" pitchFamily="49" charset="-122"/>
              <a:ea typeface="楷体_GB2312" pitchFamily="49" charset="-122"/>
            </a:endParaRPr>
          </a:p>
          <a:p>
            <a:pPr lvl="2" eaLnBrk="0" hangingPunct="0">
              <a:spcBef>
                <a:spcPct val="20000"/>
              </a:spcBef>
              <a:buFont typeface="Arial" panose="020B0604020202020204" pitchFamily="34" charset="0"/>
              <a:buChar char="•"/>
            </a:pPr>
            <a:r>
              <a:rPr lang="zh-CN" altLang="en-US" sz="2000" dirty="0">
                <a:latin typeface="楷体_GB2312" pitchFamily="49" charset="-122"/>
                <a:ea typeface="楷体_GB2312" pitchFamily="49" charset="-122"/>
              </a:rPr>
              <a:t>ｉ＋＋</a:t>
            </a:r>
            <a:r>
              <a:rPr lang="en-US" altLang="zh-CN" sz="2000" dirty="0">
                <a:latin typeface="楷体_GB2312" pitchFamily="49" charset="-122"/>
                <a:ea typeface="楷体_GB2312" pitchFamily="49" charset="-122"/>
              </a:rPr>
              <a:t>,</a:t>
            </a:r>
            <a:r>
              <a:rPr lang="zh-CN" altLang="en-US" sz="2000" dirty="0">
                <a:latin typeface="楷体_GB2312" pitchFamily="49" charset="-122"/>
                <a:ea typeface="楷体_GB2312" pitchFamily="49" charset="-122"/>
              </a:rPr>
              <a:t>ｉ－－</a:t>
            </a:r>
            <a:r>
              <a:rPr lang="en-US" altLang="zh-CN" sz="2000" dirty="0">
                <a:latin typeface="楷体_GB2312" pitchFamily="49" charset="-122"/>
                <a:ea typeface="楷体_GB2312" pitchFamily="49" charset="-122"/>
              </a:rPr>
              <a:t>(</a:t>
            </a:r>
            <a:r>
              <a:rPr lang="zh-CN" altLang="en-US" sz="2000" dirty="0">
                <a:latin typeface="楷体_GB2312" pitchFamily="49" charset="-122"/>
                <a:ea typeface="楷体_GB2312" pitchFamily="49" charset="-122"/>
              </a:rPr>
              <a:t>在使用ｉ之后</a:t>
            </a:r>
            <a:r>
              <a:rPr lang="en-US" altLang="zh-CN" sz="2000" dirty="0">
                <a:latin typeface="楷体_GB2312" pitchFamily="49" charset="-122"/>
                <a:ea typeface="楷体_GB2312" pitchFamily="49" charset="-122"/>
              </a:rPr>
              <a:t>,</a:t>
            </a:r>
            <a:r>
              <a:rPr lang="zh-CN" altLang="en-US" sz="2000" dirty="0">
                <a:latin typeface="楷体_GB2312" pitchFamily="49" charset="-122"/>
                <a:ea typeface="楷体_GB2312" pitchFamily="49" charset="-122"/>
              </a:rPr>
              <a:t>使ｉ的值加</a:t>
            </a:r>
            <a:r>
              <a:rPr lang="en-US" altLang="zh-CN" sz="2000" dirty="0">
                <a:latin typeface="楷体_GB2312" pitchFamily="49" charset="-122"/>
                <a:ea typeface="楷体_GB2312" pitchFamily="49" charset="-122"/>
              </a:rPr>
              <a:t>(</a:t>
            </a:r>
            <a:r>
              <a:rPr lang="zh-CN" altLang="en-US" sz="2000" dirty="0">
                <a:latin typeface="楷体_GB2312" pitchFamily="49" charset="-122"/>
                <a:ea typeface="楷体_GB2312" pitchFamily="49" charset="-122"/>
              </a:rPr>
              <a:t>减</a:t>
            </a:r>
            <a:r>
              <a:rPr lang="en-US" altLang="zh-CN" sz="2000" dirty="0">
                <a:latin typeface="楷体_GB2312" pitchFamily="49" charset="-122"/>
                <a:ea typeface="楷体_GB2312" pitchFamily="49" charset="-122"/>
              </a:rPr>
              <a:t>)</a:t>
            </a:r>
            <a:r>
              <a:rPr lang="zh-CN" altLang="en-US" sz="2000" dirty="0">
                <a:latin typeface="楷体_GB2312" pitchFamily="49" charset="-122"/>
                <a:ea typeface="楷体_GB2312" pitchFamily="49" charset="-122"/>
              </a:rPr>
              <a:t>１</a:t>
            </a:r>
            <a:r>
              <a:rPr lang="en-US" altLang="zh-CN" sz="2000" dirty="0">
                <a:latin typeface="楷体_GB2312" pitchFamily="49" charset="-122"/>
                <a:ea typeface="楷体_GB2312" pitchFamily="49" charset="-122"/>
              </a:rPr>
              <a:t>)</a:t>
            </a:r>
          </a:p>
          <a:p>
            <a:pPr lvl="1" eaLnBrk="0" hangingPunct="0">
              <a:spcBef>
                <a:spcPct val="20000"/>
              </a:spcBef>
              <a:buFont typeface="Arial" panose="020B0604020202020204" pitchFamily="34" charset="0"/>
              <a:buChar char="•"/>
            </a:pPr>
            <a:r>
              <a:rPr lang="en-US" altLang="zh-CN" sz="2400" dirty="0">
                <a:solidFill>
                  <a:srgbClr val="FF0000"/>
                </a:solidFill>
                <a:latin typeface="宋体" panose="02010600030101010101" pitchFamily="2" charset="-122"/>
              </a:rPr>
              <a:t>ANSI C</a:t>
            </a:r>
            <a:r>
              <a:rPr lang="zh-CN" altLang="en-US" sz="2400" dirty="0">
                <a:solidFill>
                  <a:srgbClr val="FF0000"/>
                </a:solidFill>
                <a:latin typeface="宋体" panose="02010600030101010101" pitchFamily="2" charset="-122"/>
              </a:rPr>
              <a:t>并没有具体规定表达式中的子表达式的求值顺序</a:t>
            </a:r>
            <a:r>
              <a:rPr lang="en-US" altLang="zh-CN" sz="2400" dirty="0">
                <a:solidFill>
                  <a:srgbClr val="FF0000"/>
                </a:solidFill>
                <a:latin typeface="宋体" panose="02010600030101010101" pitchFamily="2" charset="-122"/>
              </a:rPr>
              <a:t>,</a:t>
            </a:r>
            <a:r>
              <a:rPr lang="zh-CN" altLang="en-US" sz="2400" dirty="0">
                <a:solidFill>
                  <a:srgbClr val="FF0000"/>
                </a:solidFill>
                <a:latin typeface="宋体" panose="02010600030101010101" pitchFamily="2" charset="-122"/>
              </a:rPr>
              <a:t>允许各编译系统自己安排。</a:t>
            </a:r>
          </a:p>
          <a:p>
            <a:pPr lvl="2" eaLnBrk="0" hangingPunct="0">
              <a:spcBef>
                <a:spcPct val="20000"/>
              </a:spcBef>
              <a:buFont typeface="Arial" panose="020B0604020202020204" pitchFamily="34" charset="0"/>
              <a:buChar char="•"/>
            </a:pPr>
            <a:endParaRPr lang="zh-CN" altLang="en-US" sz="2000" dirty="0">
              <a:latin typeface="楷体_GB2312" pitchFamily="49" charset="-122"/>
              <a:ea typeface="楷体_GB2312" pitchFamily="49" charset="-122"/>
            </a:endParaRPr>
          </a:p>
        </p:txBody>
      </p:sp>
      <p:sp>
        <p:nvSpPr>
          <p:cNvPr id="38914" name="标题 761858">
            <a:extLst>
              <a:ext uri="{FF2B5EF4-FFF2-40B4-BE49-F238E27FC236}">
                <a16:creationId xmlns:a16="http://schemas.microsoft.com/office/drawing/2014/main" id="{9492B755-277B-409B-9E1A-B6F3E2D2DAFB}"/>
              </a:ext>
            </a:extLst>
          </p:cNvPr>
          <p:cNvSpPr>
            <a:spLocks noGrp="1" noChangeArrowheads="1"/>
          </p:cNvSpPr>
          <p:nvPr>
            <p:ph type="title"/>
          </p:nvPr>
        </p:nvSpPr>
        <p:spPr bwMode="auto">
          <a:xfrm>
            <a:off x="0" y="404813"/>
            <a:ext cx="9144000" cy="739775"/>
          </a:xfrm>
          <a:prstGeom prst="rect">
            <a:avLst/>
          </a:prstGeom>
          <a:noFill/>
          <a:ln w="9525">
            <a:noFill/>
          </a:ln>
        </p:spPr>
        <p:txBody>
          <a:bodyPr vert="horz" wrap="square" lIns="91440" tIns="45720" rIns="91440" bIns="45720" anchor="ctr"/>
          <a:lstStyle/>
          <a:p>
            <a:pPr eaLnBrk="1" hangingPunct="1"/>
            <a:r>
              <a:rPr lang="zh-CN" altLang="en-US" dirty="0"/>
              <a:t>运算符的优先级和结合性</a:t>
            </a:r>
          </a:p>
        </p:txBody>
      </p:sp>
    </p:spTree>
  </p:cSld>
  <p:clrMapOvr>
    <a:masterClrMapping/>
  </p:clrMapOvr>
  <p:transition advClick="0">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61858"/>
                                        </p:tgtEl>
                                        <p:attrNameLst>
                                          <p:attrName>style.visibility</p:attrName>
                                        </p:attrNameLst>
                                      </p:cBhvr>
                                      <p:to>
                                        <p:strVal val="visible"/>
                                      </p:to>
                                    </p:set>
                                    <p:animEffect transition="in" filter="wipe(left)">
                                      <p:cBhvr>
                                        <p:cTn id="7" dur="1000"/>
                                        <p:tgtEl>
                                          <p:spTgt spid="7618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185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标题 856065">
            <a:extLst>
              <a:ext uri="{FF2B5EF4-FFF2-40B4-BE49-F238E27FC236}">
                <a16:creationId xmlns:a16="http://schemas.microsoft.com/office/drawing/2014/main" id="{4C24BA2A-2A26-400D-980D-839E2914955F}"/>
              </a:ext>
            </a:extLst>
          </p:cNvPr>
          <p:cNvSpPr>
            <a:spLocks noGrp="1" noChangeArrowheads="1"/>
          </p:cNvSpPr>
          <p:nvPr>
            <p:ph type="title"/>
          </p:nvPr>
        </p:nvSpPr>
        <p:spPr bwMode="auto">
          <a:xfrm>
            <a:off x="0" y="332656"/>
            <a:ext cx="9144000" cy="859556"/>
          </a:xfrm>
          <a:noFill/>
          <a:ln w="9525">
            <a:noFill/>
          </a:ln>
        </p:spPr>
        <p:txBody>
          <a:bodyPr vert="horz" wrap="square" lIns="91440" tIns="45720" rIns="91440" bIns="45720" anchor="ctr"/>
          <a:lstStyle/>
          <a:p>
            <a:pPr eaLnBrk="1" hangingPunct="1"/>
            <a:r>
              <a:rPr lang="en-US" altLang="zh-CN" kern="1200" dirty="0"/>
              <a:t>  </a:t>
            </a:r>
            <a:r>
              <a:rPr lang="zh-CN" altLang="en-US" kern="1200" dirty="0"/>
              <a:t>逻辑运算符和逻辑表达式 </a:t>
            </a:r>
          </a:p>
        </p:txBody>
      </p:sp>
      <p:sp>
        <p:nvSpPr>
          <p:cNvPr id="856068" name="矩形 856067">
            <a:extLst>
              <a:ext uri="{FF2B5EF4-FFF2-40B4-BE49-F238E27FC236}">
                <a16:creationId xmlns:a16="http://schemas.microsoft.com/office/drawing/2014/main" id="{0968454A-AC96-4A91-871E-176522EDE555}"/>
              </a:ext>
            </a:extLst>
          </p:cNvPr>
          <p:cNvSpPr>
            <a:spLocks noChangeArrowheads="1"/>
          </p:cNvSpPr>
          <p:nvPr/>
        </p:nvSpPr>
        <p:spPr bwMode="auto">
          <a:xfrm>
            <a:off x="251520" y="1190396"/>
            <a:ext cx="8640960" cy="4973092"/>
          </a:xfrm>
          <a:prstGeom prst="rect">
            <a:avLst/>
          </a:prstGeom>
          <a:solidFill>
            <a:schemeClr val="bg1"/>
          </a:solidFill>
          <a:ln w="12700">
            <a:noFill/>
            <a:miter lim="800000"/>
            <a:headEnd/>
            <a:tailEnd/>
          </a:ln>
        </p:spPr>
        <p:txBody>
          <a:bodyPr wrap="none" anchor="ctr"/>
          <a:lstStyle/>
          <a:p>
            <a:r>
              <a:rPr lang="zh-CN" altLang="en-US" sz="2800" b="1" dirty="0"/>
              <a:t>写出下面各逻辑表达式的值。设</a:t>
            </a:r>
            <a:r>
              <a:rPr lang="en-US" altLang="zh-CN" sz="2800" b="1" dirty="0"/>
              <a:t>a=</a:t>
            </a:r>
            <a:r>
              <a:rPr lang="en-US" altLang="zh-CN" sz="2800" b="1" dirty="0" err="1"/>
              <a:t>3,b</a:t>
            </a:r>
            <a:r>
              <a:rPr lang="en-US" altLang="zh-CN" sz="2800" b="1" dirty="0"/>
              <a:t>=</a:t>
            </a:r>
            <a:r>
              <a:rPr lang="en-US" altLang="zh-CN" sz="2800" b="1" dirty="0" err="1"/>
              <a:t>4,c</a:t>
            </a:r>
            <a:r>
              <a:rPr lang="en-US" altLang="zh-CN" sz="2800" b="1" dirty="0"/>
              <a:t>=5</a:t>
            </a:r>
            <a:r>
              <a:rPr lang="zh-CN" altLang="en-US" sz="2800" b="1" dirty="0"/>
              <a:t>。</a:t>
            </a:r>
          </a:p>
          <a:p>
            <a:r>
              <a:rPr lang="en-US" altLang="zh-CN" sz="2800" dirty="0"/>
              <a:t>(1)a + b &gt; c &amp;&amp; b == c</a:t>
            </a:r>
          </a:p>
          <a:p>
            <a:r>
              <a:rPr lang="en-US" altLang="zh-CN" sz="2800" dirty="0"/>
              <a:t>(2)a || b + c &amp;&amp; b - c</a:t>
            </a:r>
          </a:p>
          <a:p>
            <a:r>
              <a:rPr lang="en-US" altLang="zh-CN" sz="2800" dirty="0"/>
              <a:t>(3)!(a &gt; b) &amp;&amp; !c || 1</a:t>
            </a:r>
          </a:p>
          <a:p>
            <a:r>
              <a:rPr lang="en-US" altLang="zh-CN" sz="2800" dirty="0"/>
              <a:t>(4)!(x = a) &amp;&amp; (y = b) &amp;&amp; 0</a:t>
            </a:r>
          </a:p>
          <a:p>
            <a:r>
              <a:rPr lang="en-US" altLang="zh-CN" sz="2800" dirty="0"/>
              <a:t>(5)!(a + b) + c - 1 &amp;&amp; b + c / 2</a:t>
            </a:r>
          </a:p>
          <a:p>
            <a:r>
              <a:rPr lang="zh-CN" altLang="en-US" sz="2800" b="1" dirty="0"/>
              <a:t>解题思路：</a:t>
            </a:r>
            <a:endParaRPr lang="zh-CN" altLang="en-US" sz="2800" dirty="0"/>
          </a:p>
          <a:p>
            <a:r>
              <a:rPr lang="zh-CN" altLang="en-US" sz="2800" dirty="0"/>
              <a:t>关系运算符的优先级高于赋值运算符</a:t>
            </a:r>
            <a:r>
              <a:rPr lang="en-US" altLang="zh-CN" sz="2800" dirty="0"/>
              <a:t>,</a:t>
            </a:r>
            <a:r>
              <a:rPr lang="zh-CN" altLang="en-US" sz="2800" dirty="0"/>
              <a:t>但低于算术运算符</a:t>
            </a:r>
            <a:r>
              <a:rPr lang="en-US" altLang="zh-CN" sz="2800" dirty="0"/>
              <a:t>;</a:t>
            </a:r>
            <a:endParaRPr lang="zh-CN" altLang="en-US" sz="2800" dirty="0"/>
          </a:p>
          <a:p>
            <a:r>
              <a:rPr lang="zh-CN" altLang="en-US" sz="2800" dirty="0"/>
              <a:t>逻辑运算符优先级： </a:t>
            </a:r>
            <a:r>
              <a:rPr lang="en-US" altLang="zh-CN" sz="2800" dirty="0"/>
              <a:t>! </a:t>
            </a:r>
            <a:r>
              <a:rPr lang="zh-CN" altLang="en-US" sz="2800" dirty="0"/>
              <a:t>高于</a:t>
            </a:r>
            <a:r>
              <a:rPr lang="en-US" altLang="zh-CN" sz="2800" dirty="0"/>
              <a:t> &amp;&amp;, &amp;&amp;</a:t>
            </a:r>
            <a:r>
              <a:rPr lang="zh-CN" altLang="en-US" sz="2800" dirty="0"/>
              <a:t>高于</a:t>
            </a:r>
            <a:r>
              <a:rPr lang="en-US" altLang="zh-CN" sz="2800" dirty="0"/>
              <a:t> ||</a:t>
            </a:r>
          </a:p>
          <a:p>
            <a:r>
              <a:rPr lang="zh-CN" altLang="en-US" sz="2800" dirty="0"/>
              <a:t>有括号优先括号。</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56068"/>
                                        </p:tgtEl>
                                        <p:attrNameLst>
                                          <p:attrName>style.visibility</p:attrName>
                                        </p:attrNameLst>
                                      </p:cBhvr>
                                      <p:to>
                                        <p:strVal val="visible"/>
                                      </p:to>
                                    </p:set>
                                    <p:anim calcmode="lin" valueType="num">
                                      <p:cBhvr additive="base">
                                        <p:cTn id="7" dur="500" fill="hold"/>
                                        <p:tgtEl>
                                          <p:spTgt spid="856068"/>
                                        </p:tgtEl>
                                        <p:attrNameLst>
                                          <p:attrName>ppt_x</p:attrName>
                                        </p:attrNameLst>
                                      </p:cBhvr>
                                      <p:tavLst>
                                        <p:tav tm="0">
                                          <p:val>
                                            <p:strVal val="#ppt_x"/>
                                          </p:val>
                                        </p:tav>
                                        <p:tav tm="100000">
                                          <p:val>
                                            <p:strVal val="#ppt_x"/>
                                          </p:val>
                                        </p:tav>
                                      </p:tavLst>
                                    </p:anim>
                                    <p:anim calcmode="lin" valueType="num">
                                      <p:cBhvr additive="base">
                                        <p:cTn id="8" dur="500" fill="hold"/>
                                        <p:tgtEl>
                                          <p:spTgt spid="8560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6068"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标题 789505">
            <a:extLst>
              <a:ext uri="{FF2B5EF4-FFF2-40B4-BE49-F238E27FC236}">
                <a16:creationId xmlns:a16="http://schemas.microsoft.com/office/drawing/2014/main" id="{63B72F74-197E-45CC-B475-1CEA28755837}"/>
              </a:ext>
            </a:extLst>
          </p:cNvPr>
          <p:cNvSpPr>
            <a:spLocks noGrp="1" noChangeArrowheads="1"/>
          </p:cNvSpPr>
          <p:nvPr>
            <p:ph type="title"/>
          </p:nvPr>
        </p:nvSpPr>
        <p:spPr bwMode="auto">
          <a:xfrm>
            <a:off x="0" y="404813"/>
            <a:ext cx="9144000" cy="739775"/>
          </a:xfrm>
          <a:prstGeom prst="rect">
            <a:avLst/>
          </a:prstGeom>
          <a:noFill/>
          <a:ln w="9525">
            <a:noFill/>
          </a:ln>
        </p:spPr>
        <p:txBody>
          <a:bodyPr vert="horz" wrap="square" lIns="91440" tIns="45720" rIns="91440" bIns="45720" anchor="ctr"/>
          <a:lstStyle/>
          <a:p>
            <a:pPr eaLnBrk="1" hangingPunct="1"/>
            <a:r>
              <a:rPr lang="zh-CN" altLang="en-US" dirty="0"/>
              <a:t>赋值表达式的嵌套特性 </a:t>
            </a:r>
          </a:p>
        </p:txBody>
      </p:sp>
      <p:sp>
        <p:nvSpPr>
          <p:cNvPr id="789507" name="矩形 789506">
            <a:extLst>
              <a:ext uri="{FF2B5EF4-FFF2-40B4-BE49-F238E27FC236}">
                <a16:creationId xmlns:a16="http://schemas.microsoft.com/office/drawing/2014/main" id="{27CB88BC-7EA8-453D-BBE2-AD616E1C2835}"/>
              </a:ext>
            </a:extLst>
          </p:cNvPr>
          <p:cNvSpPr>
            <a:spLocks noChangeArrowheads="1"/>
          </p:cNvSpPr>
          <p:nvPr/>
        </p:nvSpPr>
        <p:spPr bwMode="auto">
          <a:xfrm>
            <a:off x="215339" y="1212995"/>
            <a:ext cx="8497888" cy="1224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38200" indent="-838200">
              <a:defRPr sz="4000">
                <a:solidFill>
                  <a:schemeClr val="tx1"/>
                </a:solidFill>
                <a:latin typeface="Times New Roman" panose="02020603050405020304" pitchFamily="18" charset="0"/>
                <a:ea typeface="宋体" panose="02010600030101010101" pitchFamily="2" charset="-122"/>
              </a:defRPr>
            </a:lvl1pPr>
            <a:lvl2pPr>
              <a:defRPr sz="4000">
                <a:solidFill>
                  <a:schemeClr val="tx1"/>
                </a:solidFill>
                <a:latin typeface="Times New Roman" panose="02020603050405020304" pitchFamily="18" charset="0"/>
                <a:ea typeface="宋体" panose="02010600030101010101" pitchFamily="2" charset="-122"/>
              </a:defRPr>
            </a:lvl2pPr>
            <a:lvl3pPr>
              <a:defRPr sz="4000">
                <a:solidFill>
                  <a:schemeClr val="tx1"/>
                </a:solidFill>
                <a:latin typeface="Times New Roman" panose="02020603050405020304" pitchFamily="18" charset="0"/>
                <a:ea typeface="宋体" panose="02010600030101010101" pitchFamily="2" charset="-122"/>
              </a:defRPr>
            </a:lvl3pPr>
            <a:lvl4pPr>
              <a:defRPr sz="4000">
                <a:solidFill>
                  <a:schemeClr val="tx1"/>
                </a:solidFill>
                <a:latin typeface="Times New Roman" panose="02020603050405020304" pitchFamily="18" charset="0"/>
                <a:ea typeface="宋体" panose="02010600030101010101" pitchFamily="2" charset="-122"/>
              </a:defRPr>
            </a:lvl4pPr>
            <a:lvl5pPr>
              <a:defRPr sz="40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9pPr>
          </a:lstStyle>
          <a:p>
            <a:pPr eaLnBrk="0" hangingPunct="0">
              <a:spcBef>
                <a:spcPct val="20000"/>
              </a:spcBef>
              <a:buFont typeface="Wingdings" panose="05000000000000000000" pitchFamily="2" charset="2"/>
              <a:buChar char="ü"/>
            </a:pPr>
            <a:r>
              <a:rPr lang="zh-CN" altLang="en-US" sz="2800" dirty="0">
                <a:solidFill>
                  <a:srgbClr val="4D4D4D"/>
                </a:solidFill>
                <a:latin typeface="宋体" panose="02010600030101010101" pitchFamily="2" charset="-122"/>
              </a:rPr>
              <a:t>赋值表达式</a:t>
            </a:r>
            <a:r>
              <a:rPr lang="en-US" altLang="zh-CN" sz="2800" dirty="0">
                <a:solidFill>
                  <a:srgbClr val="4D4D4D"/>
                </a:solidFill>
                <a:latin typeface="宋体" panose="02010600030101010101" pitchFamily="2" charset="-122"/>
              </a:rPr>
              <a:t>,</a:t>
            </a:r>
            <a:r>
              <a:rPr lang="zh-CN" altLang="en-US" sz="2800" dirty="0">
                <a:solidFill>
                  <a:srgbClr val="4D4D4D"/>
                </a:solidFill>
                <a:latin typeface="宋体" panose="02010600030101010101" pitchFamily="2" charset="-122"/>
              </a:rPr>
              <a:t>可以作为子表达式嵌入其他表达式中。例如</a:t>
            </a:r>
            <a:r>
              <a:rPr lang="en-US" altLang="zh-CN" sz="2800" dirty="0">
                <a:solidFill>
                  <a:srgbClr val="4D4D4D"/>
                </a:solidFill>
                <a:latin typeface="宋体" panose="02010600030101010101" pitchFamily="2" charset="-122"/>
              </a:rPr>
              <a:t>: while (</a:t>
            </a:r>
            <a:r>
              <a:rPr lang="en-US" altLang="zh-CN" sz="2800" dirty="0" err="1">
                <a:solidFill>
                  <a:srgbClr val="4D4D4D"/>
                </a:solidFill>
                <a:latin typeface="宋体" panose="02010600030101010101" pitchFamily="2" charset="-122"/>
              </a:rPr>
              <a:t>ch</a:t>
            </a:r>
            <a:r>
              <a:rPr lang="en-US" altLang="zh-CN" sz="2800" dirty="0">
                <a:solidFill>
                  <a:srgbClr val="4D4D4D"/>
                </a:solidFill>
                <a:latin typeface="宋体" panose="02010600030101010101" pitchFamily="2" charset="-122"/>
              </a:rPr>
              <a:t>=</a:t>
            </a:r>
            <a:r>
              <a:rPr lang="en-US" altLang="zh-CN" sz="2800" dirty="0" err="1">
                <a:solidFill>
                  <a:srgbClr val="4D4D4D"/>
                </a:solidFill>
                <a:latin typeface="宋体" panose="02010600030101010101" pitchFamily="2" charset="-122"/>
              </a:rPr>
              <a:t>getchar</a:t>
            </a:r>
            <a:r>
              <a:rPr lang="en-US" altLang="zh-CN" sz="2800" dirty="0">
                <a:solidFill>
                  <a:srgbClr val="4D4D4D"/>
                </a:solidFill>
                <a:latin typeface="宋体" panose="02010600030101010101" pitchFamily="2" charset="-122"/>
              </a:rPr>
              <a:t>)!=</a:t>
            </a:r>
            <a:r>
              <a:rPr lang="zh-CN" altLang="en-US" sz="2800" dirty="0">
                <a:solidFill>
                  <a:srgbClr val="4D4D4D"/>
                </a:solidFill>
                <a:latin typeface="宋体" panose="02010600030101010101" pitchFamily="2" charset="-122"/>
              </a:rPr>
              <a:t>‘</a:t>
            </a:r>
            <a:r>
              <a:rPr lang="en-US" altLang="zh-CN" sz="2800" dirty="0">
                <a:solidFill>
                  <a:srgbClr val="4D4D4D"/>
                </a:solidFill>
                <a:latin typeface="宋体" panose="02010600030101010101" pitchFamily="2" charset="-122"/>
              </a:rPr>
              <a:t>\n</a:t>
            </a:r>
            <a:r>
              <a:rPr lang="zh-CN" altLang="en-US" sz="2800" dirty="0">
                <a:solidFill>
                  <a:srgbClr val="4D4D4D"/>
                </a:solidFill>
                <a:latin typeface="宋体" panose="02010600030101010101" pitchFamily="2" charset="-122"/>
              </a:rPr>
              <a:t>’</a:t>
            </a:r>
            <a:r>
              <a:rPr lang="en-US" altLang="zh-CN" sz="2800" dirty="0">
                <a:solidFill>
                  <a:srgbClr val="4D4D4D"/>
                </a:solidFill>
                <a:latin typeface="宋体" panose="02010600030101010101" pitchFamily="2" charset="-122"/>
              </a:rPr>
              <a:t>) … </a:t>
            </a:r>
          </a:p>
        </p:txBody>
      </p:sp>
      <p:sp>
        <p:nvSpPr>
          <p:cNvPr id="789508" name="矩形 789507">
            <a:extLst>
              <a:ext uri="{FF2B5EF4-FFF2-40B4-BE49-F238E27FC236}">
                <a16:creationId xmlns:a16="http://schemas.microsoft.com/office/drawing/2014/main" id="{A9D86889-D60C-4B94-AE31-277EE6FB892C}"/>
              </a:ext>
            </a:extLst>
          </p:cNvPr>
          <p:cNvSpPr>
            <a:spLocks noChangeArrowheads="1"/>
          </p:cNvSpPr>
          <p:nvPr/>
        </p:nvSpPr>
        <p:spPr bwMode="auto">
          <a:xfrm>
            <a:off x="323850" y="2420938"/>
            <a:ext cx="8615363" cy="309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38200" indent="-838200">
              <a:defRPr sz="4000">
                <a:solidFill>
                  <a:schemeClr val="tx1"/>
                </a:solidFill>
                <a:latin typeface="Times New Roman" panose="02020603050405020304" pitchFamily="18" charset="0"/>
                <a:ea typeface="宋体" panose="02010600030101010101" pitchFamily="2" charset="-122"/>
              </a:defRPr>
            </a:lvl1pPr>
            <a:lvl2pPr>
              <a:defRPr sz="4000">
                <a:solidFill>
                  <a:schemeClr val="tx1"/>
                </a:solidFill>
                <a:latin typeface="Times New Roman" panose="02020603050405020304" pitchFamily="18" charset="0"/>
                <a:ea typeface="宋体" panose="02010600030101010101" pitchFamily="2" charset="-122"/>
              </a:defRPr>
            </a:lvl2pPr>
            <a:lvl3pPr>
              <a:defRPr sz="4000">
                <a:solidFill>
                  <a:schemeClr val="tx1"/>
                </a:solidFill>
                <a:latin typeface="Times New Roman" panose="02020603050405020304" pitchFamily="18" charset="0"/>
                <a:ea typeface="宋体" panose="02010600030101010101" pitchFamily="2" charset="-122"/>
              </a:defRPr>
            </a:lvl3pPr>
            <a:lvl4pPr>
              <a:defRPr sz="4000">
                <a:solidFill>
                  <a:schemeClr val="tx1"/>
                </a:solidFill>
                <a:latin typeface="Times New Roman" panose="02020603050405020304" pitchFamily="18" charset="0"/>
                <a:ea typeface="宋体" panose="02010600030101010101" pitchFamily="2" charset="-122"/>
              </a:defRPr>
            </a:lvl4pPr>
            <a:lvl5pPr>
              <a:defRPr sz="40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9pPr>
          </a:lstStyle>
          <a:p>
            <a:pPr eaLnBrk="0" hangingPunct="0">
              <a:spcBef>
                <a:spcPct val="20000"/>
              </a:spcBef>
            </a:pPr>
            <a:r>
              <a:rPr lang="zh-CN" altLang="en-US" sz="2800" dirty="0">
                <a:solidFill>
                  <a:srgbClr val="000099"/>
                </a:solidFill>
                <a:latin typeface="楷体_GB2312" pitchFamily="49" charset="-122"/>
                <a:ea typeface="楷体_GB2312" pitchFamily="49" charset="-122"/>
              </a:rPr>
              <a:t>表达式“</a:t>
            </a:r>
            <a:r>
              <a:rPr lang="en-US" altLang="zh-CN" sz="2800" dirty="0">
                <a:solidFill>
                  <a:srgbClr val="000099"/>
                </a:solidFill>
                <a:latin typeface="楷体_GB2312" pitchFamily="49" charset="-122"/>
                <a:ea typeface="楷体_GB2312" pitchFamily="49" charset="-122"/>
              </a:rPr>
              <a:t>a=(b=5)”</a:t>
            </a:r>
            <a:r>
              <a:rPr lang="zh-CN" altLang="en-US" sz="2800" dirty="0">
                <a:solidFill>
                  <a:srgbClr val="000099"/>
                </a:solidFill>
                <a:latin typeface="楷体_GB2312" pitchFamily="49" charset="-122"/>
                <a:ea typeface="楷体_GB2312" pitchFamily="49" charset="-122"/>
              </a:rPr>
              <a:t>分析：括弧内的“</a:t>
            </a:r>
            <a:r>
              <a:rPr lang="en-US" altLang="zh-CN" sz="2800" dirty="0">
                <a:solidFill>
                  <a:srgbClr val="000099"/>
                </a:solidFill>
                <a:latin typeface="楷体_GB2312" pitchFamily="49" charset="-122"/>
                <a:ea typeface="楷体_GB2312" pitchFamily="49" charset="-122"/>
              </a:rPr>
              <a:t>b=5”</a:t>
            </a:r>
            <a:r>
              <a:rPr lang="zh-CN" altLang="en-US" sz="2800" dirty="0">
                <a:solidFill>
                  <a:srgbClr val="000099"/>
                </a:solidFill>
                <a:latin typeface="楷体_GB2312" pitchFamily="49" charset="-122"/>
                <a:ea typeface="楷体_GB2312" pitchFamily="49" charset="-122"/>
              </a:rPr>
              <a:t>是一个赋值表达式，相当于执行</a:t>
            </a:r>
          </a:p>
          <a:p>
            <a:pPr eaLnBrk="0" hangingPunct="0">
              <a:spcBef>
                <a:spcPct val="20000"/>
              </a:spcBef>
            </a:pPr>
            <a:r>
              <a:rPr lang="zh-CN" altLang="en-US" sz="2800" dirty="0">
                <a:solidFill>
                  <a:srgbClr val="000099"/>
                </a:solidFill>
                <a:latin typeface="楷体_GB2312" pitchFamily="49" charset="-122"/>
                <a:ea typeface="楷体_GB2312" pitchFamily="49" charset="-122"/>
              </a:rPr>
              <a:t>“</a:t>
            </a:r>
            <a:r>
              <a:rPr lang="en-US" altLang="zh-CN" sz="2800" dirty="0">
                <a:solidFill>
                  <a:srgbClr val="000099"/>
                </a:solidFill>
                <a:latin typeface="楷体_GB2312" pitchFamily="49" charset="-122"/>
                <a:ea typeface="楷体_GB2312" pitchFamily="49" charset="-122"/>
              </a:rPr>
              <a:t>b=5”</a:t>
            </a:r>
            <a:r>
              <a:rPr lang="zh-CN" altLang="en-US" sz="2800" dirty="0">
                <a:solidFill>
                  <a:srgbClr val="000099"/>
                </a:solidFill>
                <a:latin typeface="楷体_GB2312" pitchFamily="49" charset="-122"/>
                <a:ea typeface="楷体_GB2312" pitchFamily="49" charset="-122"/>
              </a:rPr>
              <a:t>和“</a:t>
            </a:r>
            <a:r>
              <a:rPr lang="en-US" altLang="zh-CN" sz="2800" dirty="0">
                <a:solidFill>
                  <a:srgbClr val="000099"/>
                </a:solidFill>
                <a:latin typeface="楷体_GB2312" pitchFamily="49" charset="-122"/>
                <a:ea typeface="楷体_GB2312" pitchFamily="49" charset="-122"/>
              </a:rPr>
              <a:t>a</a:t>
            </a:r>
            <a:r>
              <a:rPr lang="zh-CN" altLang="en-US" sz="2800" dirty="0">
                <a:solidFill>
                  <a:srgbClr val="000099"/>
                </a:solidFill>
                <a:latin typeface="楷体_GB2312" pitchFamily="49" charset="-122"/>
                <a:ea typeface="楷体_GB2312" pitchFamily="49" charset="-122"/>
              </a:rPr>
              <a:t>＝</a:t>
            </a:r>
            <a:r>
              <a:rPr lang="en-US" altLang="zh-CN" sz="2800" dirty="0">
                <a:solidFill>
                  <a:srgbClr val="000099"/>
                </a:solidFill>
                <a:latin typeface="楷体_GB2312" pitchFamily="49" charset="-122"/>
                <a:ea typeface="楷体_GB2312" pitchFamily="49" charset="-122"/>
              </a:rPr>
              <a:t>b”</a:t>
            </a:r>
            <a:r>
              <a:rPr lang="zh-CN" altLang="en-US" sz="2800" dirty="0">
                <a:solidFill>
                  <a:srgbClr val="000099"/>
                </a:solidFill>
                <a:latin typeface="楷体_GB2312" pitchFamily="49" charset="-122"/>
                <a:ea typeface="楷体_GB2312" pitchFamily="49" charset="-122"/>
              </a:rPr>
              <a:t>两个赋值表达式。</a:t>
            </a:r>
            <a:endParaRPr lang="en-US" altLang="zh-CN" sz="2800" dirty="0">
              <a:solidFill>
                <a:srgbClr val="000099"/>
              </a:solidFill>
              <a:latin typeface="楷体_GB2312" pitchFamily="49" charset="-122"/>
              <a:ea typeface="楷体_GB2312" pitchFamily="49" charset="-122"/>
            </a:endParaRPr>
          </a:p>
          <a:p>
            <a:pPr eaLnBrk="0" hangingPunct="0">
              <a:spcBef>
                <a:spcPct val="20000"/>
              </a:spcBef>
            </a:pPr>
            <a:r>
              <a:rPr lang="zh-CN" altLang="en-US" sz="2800" u="sng" dirty="0">
                <a:solidFill>
                  <a:srgbClr val="000099"/>
                </a:solidFill>
                <a:latin typeface="楷体_GB2312" pitchFamily="49" charset="-122"/>
                <a:ea typeface="楷体_GB2312" pitchFamily="49" charset="-122"/>
              </a:rPr>
              <a:t>赋值运算符按照“自右而左”的结合顺序</a:t>
            </a:r>
            <a:r>
              <a:rPr lang="en-US" altLang="zh-CN" sz="2800" dirty="0">
                <a:solidFill>
                  <a:srgbClr val="000099"/>
                </a:solidFill>
                <a:latin typeface="楷体_GB2312" pitchFamily="49" charset="-122"/>
                <a:ea typeface="楷体_GB2312" pitchFamily="49" charset="-122"/>
              </a:rPr>
              <a:t>,</a:t>
            </a:r>
          </a:p>
          <a:p>
            <a:pPr eaLnBrk="0" hangingPunct="0">
              <a:spcBef>
                <a:spcPct val="20000"/>
              </a:spcBef>
            </a:pPr>
            <a:r>
              <a:rPr lang="zh-CN" altLang="en-US" sz="2800" dirty="0">
                <a:solidFill>
                  <a:srgbClr val="000099"/>
                </a:solidFill>
                <a:latin typeface="楷体_GB2312" pitchFamily="49" charset="-122"/>
                <a:ea typeface="楷体_GB2312" pitchFamily="49" charset="-122"/>
              </a:rPr>
              <a:t>因此</a:t>
            </a:r>
            <a:r>
              <a:rPr lang="en-US" altLang="zh-CN" sz="2800" dirty="0">
                <a:solidFill>
                  <a:srgbClr val="000099"/>
                </a:solidFill>
                <a:latin typeface="楷体_GB2312" pitchFamily="49" charset="-122"/>
                <a:ea typeface="楷体_GB2312" pitchFamily="49" charset="-122"/>
              </a:rPr>
              <a:t>,</a:t>
            </a:r>
            <a:r>
              <a:rPr lang="zh-CN" altLang="en-US" sz="2800" dirty="0">
                <a:solidFill>
                  <a:srgbClr val="000099"/>
                </a:solidFill>
                <a:latin typeface="楷体_GB2312" pitchFamily="49" charset="-122"/>
                <a:ea typeface="楷体_GB2312" pitchFamily="49" charset="-122"/>
              </a:rPr>
              <a:t>“</a:t>
            </a:r>
            <a:r>
              <a:rPr lang="en-US" altLang="zh-CN" sz="2800" dirty="0">
                <a:solidFill>
                  <a:srgbClr val="000099"/>
                </a:solidFill>
                <a:latin typeface="楷体_GB2312" pitchFamily="49" charset="-122"/>
                <a:ea typeface="楷体_GB2312" pitchFamily="49" charset="-122"/>
              </a:rPr>
              <a:t>(b</a:t>
            </a:r>
            <a:r>
              <a:rPr lang="zh-CN" altLang="en-US" sz="2800" dirty="0">
                <a:solidFill>
                  <a:srgbClr val="000099"/>
                </a:solidFill>
                <a:latin typeface="楷体_GB2312" pitchFamily="49" charset="-122"/>
                <a:ea typeface="楷体_GB2312" pitchFamily="49" charset="-122"/>
              </a:rPr>
              <a:t>＝</a:t>
            </a:r>
            <a:r>
              <a:rPr lang="en-US" altLang="zh-CN" sz="2800" dirty="0">
                <a:solidFill>
                  <a:srgbClr val="000099"/>
                </a:solidFill>
                <a:latin typeface="楷体_GB2312" pitchFamily="49" charset="-122"/>
                <a:ea typeface="楷体_GB2312" pitchFamily="49" charset="-122"/>
              </a:rPr>
              <a:t>5)”</a:t>
            </a:r>
            <a:r>
              <a:rPr lang="zh-CN" altLang="en-US" sz="2800" dirty="0">
                <a:solidFill>
                  <a:srgbClr val="000099"/>
                </a:solidFill>
                <a:latin typeface="楷体_GB2312" pitchFamily="49" charset="-122"/>
                <a:ea typeface="楷体_GB2312" pitchFamily="49" charset="-122"/>
              </a:rPr>
              <a:t>外面的括弧可以不要</a:t>
            </a:r>
            <a:r>
              <a:rPr lang="en-US" altLang="zh-CN" sz="2800" dirty="0">
                <a:solidFill>
                  <a:srgbClr val="000099"/>
                </a:solidFill>
                <a:latin typeface="楷体_GB2312" pitchFamily="49" charset="-122"/>
                <a:ea typeface="楷体_GB2312" pitchFamily="49" charset="-122"/>
              </a:rPr>
              <a:t>,</a:t>
            </a:r>
            <a:r>
              <a:rPr lang="zh-CN" altLang="en-US" sz="2800" dirty="0">
                <a:solidFill>
                  <a:srgbClr val="000099"/>
                </a:solidFill>
                <a:latin typeface="楷体_GB2312" pitchFamily="49" charset="-122"/>
                <a:ea typeface="楷体_GB2312" pitchFamily="49" charset="-122"/>
              </a:rPr>
              <a:t>即“</a:t>
            </a:r>
            <a:r>
              <a:rPr lang="en-US" altLang="zh-CN" sz="2800" dirty="0">
                <a:solidFill>
                  <a:srgbClr val="000099"/>
                </a:solidFill>
                <a:latin typeface="楷体_GB2312" pitchFamily="49" charset="-122"/>
                <a:ea typeface="楷体_GB2312" pitchFamily="49" charset="-122"/>
              </a:rPr>
              <a:t>a=(b=5)”</a:t>
            </a:r>
            <a:r>
              <a:rPr lang="zh-CN" altLang="en-US" sz="2800" dirty="0">
                <a:solidFill>
                  <a:srgbClr val="000099"/>
                </a:solidFill>
                <a:latin typeface="楷体_GB2312" pitchFamily="49" charset="-122"/>
                <a:ea typeface="楷体_GB2312" pitchFamily="49" charset="-122"/>
              </a:rPr>
              <a:t>和“</a:t>
            </a:r>
            <a:r>
              <a:rPr lang="en-US" altLang="zh-CN" sz="2800" dirty="0">
                <a:solidFill>
                  <a:srgbClr val="000099"/>
                </a:solidFill>
                <a:latin typeface="楷体_GB2312" pitchFamily="49" charset="-122"/>
                <a:ea typeface="楷体_GB2312" pitchFamily="49" charset="-122"/>
              </a:rPr>
              <a:t>a=b=5”</a:t>
            </a:r>
            <a:r>
              <a:rPr lang="zh-CN" altLang="en-US" sz="2800" dirty="0">
                <a:solidFill>
                  <a:srgbClr val="000099"/>
                </a:solidFill>
                <a:latin typeface="楷体_GB2312" pitchFamily="49" charset="-122"/>
                <a:ea typeface="楷体_GB2312" pitchFamily="49" charset="-122"/>
              </a:rPr>
              <a:t>等价。</a:t>
            </a:r>
          </a:p>
        </p:txBody>
      </p:sp>
    </p:spTree>
  </p:cSld>
  <p:clrMapOvr>
    <a:masterClrMapping/>
  </p:clrMapOvr>
  <p:transition advClick="0">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89507"/>
                                        </p:tgtEl>
                                        <p:attrNameLst>
                                          <p:attrName>style.visibility</p:attrName>
                                        </p:attrNameLst>
                                      </p:cBhvr>
                                      <p:to>
                                        <p:strVal val="visible"/>
                                      </p:to>
                                    </p:set>
                                    <p:animEffect transition="in" filter="wipe(left)">
                                      <p:cBhvr>
                                        <p:cTn id="7" dur="1000"/>
                                        <p:tgtEl>
                                          <p:spTgt spid="7895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89508"/>
                                        </p:tgtEl>
                                        <p:attrNameLst>
                                          <p:attrName>style.visibility</p:attrName>
                                        </p:attrNameLst>
                                      </p:cBhvr>
                                      <p:to>
                                        <p:strVal val="visible"/>
                                      </p:to>
                                    </p:set>
                                    <p:animEffect transition="in" filter="wipe(left)">
                                      <p:cBhvr>
                                        <p:cTn id="12" dur="1000"/>
                                        <p:tgtEl>
                                          <p:spTgt spid="7895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9507" grpId="0"/>
      <p:bldP spid="789508"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标题 794625">
            <a:extLst>
              <a:ext uri="{FF2B5EF4-FFF2-40B4-BE49-F238E27FC236}">
                <a16:creationId xmlns:a16="http://schemas.microsoft.com/office/drawing/2014/main" id="{04CC4A44-F203-4090-AD01-7C3160FC3B0B}"/>
              </a:ext>
            </a:extLst>
          </p:cNvPr>
          <p:cNvSpPr>
            <a:spLocks noGrp="1" noChangeArrowheads="1"/>
          </p:cNvSpPr>
          <p:nvPr>
            <p:ph type="title"/>
          </p:nvPr>
        </p:nvSpPr>
        <p:spPr bwMode="auto">
          <a:xfrm>
            <a:off x="0" y="404813"/>
            <a:ext cx="9144000" cy="739775"/>
          </a:xfrm>
          <a:prstGeom prst="rect">
            <a:avLst/>
          </a:prstGeom>
          <a:noFill/>
          <a:ln w="9525">
            <a:noFill/>
          </a:ln>
        </p:spPr>
        <p:txBody>
          <a:bodyPr vert="horz" wrap="square" lIns="91440" tIns="45720" rIns="91440" bIns="45720" anchor="ctr"/>
          <a:lstStyle/>
          <a:p>
            <a:pPr eaLnBrk="1" hangingPunct="1"/>
            <a:r>
              <a:rPr lang="en-US" altLang="zh-CN" dirty="0"/>
              <a:t>  </a:t>
            </a:r>
            <a:r>
              <a:rPr lang="zh-CN" altLang="en-US" dirty="0"/>
              <a:t>逗号运算符</a:t>
            </a:r>
          </a:p>
        </p:txBody>
      </p:sp>
      <p:sp>
        <p:nvSpPr>
          <p:cNvPr id="794627" name="矩形 794626">
            <a:extLst>
              <a:ext uri="{FF2B5EF4-FFF2-40B4-BE49-F238E27FC236}">
                <a16:creationId xmlns:a16="http://schemas.microsoft.com/office/drawing/2014/main" id="{2CD14134-616F-4195-9313-F15CD70DEEF6}"/>
              </a:ext>
            </a:extLst>
          </p:cNvPr>
          <p:cNvSpPr>
            <a:spLocks noChangeArrowheads="1"/>
          </p:cNvSpPr>
          <p:nvPr/>
        </p:nvSpPr>
        <p:spPr bwMode="auto">
          <a:xfrm>
            <a:off x="373787" y="1144588"/>
            <a:ext cx="8351838" cy="372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38200" indent="-838200">
              <a:defRPr sz="4000">
                <a:solidFill>
                  <a:schemeClr val="tx1"/>
                </a:solidFill>
                <a:latin typeface="Times New Roman" panose="02020603050405020304" pitchFamily="18" charset="0"/>
                <a:ea typeface="宋体" panose="02010600030101010101" pitchFamily="2" charset="-122"/>
              </a:defRPr>
            </a:lvl1pPr>
            <a:lvl2pPr>
              <a:defRPr sz="4000">
                <a:solidFill>
                  <a:schemeClr val="tx1"/>
                </a:solidFill>
                <a:latin typeface="Times New Roman" panose="02020603050405020304" pitchFamily="18" charset="0"/>
                <a:ea typeface="宋体" panose="02010600030101010101" pitchFamily="2" charset="-122"/>
              </a:defRPr>
            </a:lvl2pPr>
            <a:lvl3pPr>
              <a:defRPr sz="4000">
                <a:solidFill>
                  <a:schemeClr val="tx1"/>
                </a:solidFill>
                <a:latin typeface="Times New Roman" panose="02020603050405020304" pitchFamily="18" charset="0"/>
                <a:ea typeface="宋体" panose="02010600030101010101" pitchFamily="2" charset="-122"/>
              </a:defRPr>
            </a:lvl3pPr>
            <a:lvl4pPr>
              <a:defRPr sz="4000">
                <a:solidFill>
                  <a:schemeClr val="tx1"/>
                </a:solidFill>
                <a:latin typeface="Times New Roman" panose="02020603050405020304" pitchFamily="18" charset="0"/>
                <a:ea typeface="宋体" panose="02010600030101010101" pitchFamily="2" charset="-122"/>
              </a:defRPr>
            </a:lvl4pPr>
            <a:lvl5pPr>
              <a:defRPr sz="40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9pPr>
          </a:lstStyle>
          <a:p>
            <a:pPr eaLnBrk="0" hangingPunct="0">
              <a:spcBef>
                <a:spcPct val="20000"/>
              </a:spcBef>
            </a:pPr>
            <a:r>
              <a:rPr lang="zh-CN" altLang="en-US" sz="3200" dirty="0">
                <a:solidFill>
                  <a:srgbClr val="000099"/>
                </a:solidFill>
                <a:latin typeface="楷体_GB2312" pitchFamily="49" charset="-122"/>
                <a:ea typeface="楷体_GB2312" pitchFamily="49" charset="-122"/>
              </a:rPr>
              <a:t>逗号表达式，常用于</a:t>
            </a:r>
            <a:r>
              <a:rPr lang="en-US" altLang="zh-CN" sz="3200" dirty="0">
                <a:solidFill>
                  <a:srgbClr val="000099"/>
                </a:solidFill>
                <a:latin typeface="楷体_GB2312" pitchFamily="49" charset="-122"/>
                <a:ea typeface="楷体_GB2312" pitchFamily="49" charset="-122"/>
              </a:rPr>
              <a:t>for()</a:t>
            </a:r>
            <a:r>
              <a:rPr lang="zh-CN" altLang="en-US" sz="3200" dirty="0">
                <a:solidFill>
                  <a:srgbClr val="000099"/>
                </a:solidFill>
                <a:latin typeface="楷体_GB2312" pitchFamily="49" charset="-122"/>
                <a:ea typeface="楷体_GB2312" pitchFamily="49" charset="-122"/>
              </a:rPr>
              <a:t>结构，也可用于表达式语句。</a:t>
            </a:r>
            <a:endParaRPr lang="en-US" altLang="zh-CN" sz="3200" dirty="0">
              <a:solidFill>
                <a:srgbClr val="000099"/>
              </a:solidFill>
              <a:latin typeface="楷体_GB2312" pitchFamily="49" charset="-122"/>
              <a:ea typeface="楷体_GB2312" pitchFamily="49" charset="-122"/>
            </a:endParaRPr>
          </a:p>
          <a:p>
            <a:pPr eaLnBrk="0" hangingPunct="0">
              <a:spcBef>
                <a:spcPct val="20000"/>
              </a:spcBef>
            </a:pPr>
            <a:r>
              <a:rPr lang="zh-CN" altLang="en-US" sz="3200" dirty="0">
                <a:solidFill>
                  <a:srgbClr val="008000"/>
                </a:solidFill>
                <a:latin typeface="楷体_GB2312" pitchFamily="49" charset="-122"/>
                <a:ea typeface="楷体_GB2312" pitchFamily="49" charset="-122"/>
              </a:rPr>
              <a:t>例：</a:t>
            </a:r>
            <a:r>
              <a:rPr lang="en-US" altLang="zh-CN" sz="3200" dirty="0">
                <a:solidFill>
                  <a:srgbClr val="008000"/>
                </a:solidFill>
                <a:latin typeface="楷体_GB2312" pitchFamily="49" charset="-122"/>
                <a:ea typeface="楷体_GB2312" pitchFamily="49" charset="-122"/>
              </a:rPr>
              <a:t>a</a:t>
            </a:r>
            <a:r>
              <a:rPr lang="zh-CN" altLang="en-US" sz="3200" dirty="0">
                <a:solidFill>
                  <a:srgbClr val="008000"/>
                </a:solidFill>
                <a:latin typeface="楷体_GB2312" pitchFamily="49" charset="-122"/>
                <a:ea typeface="楷体_GB2312" pitchFamily="49" charset="-122"/>
              </a:rPr>
              <a:t>＝３</a:t>
            </a:r>
            <a:r>
              <a:rPr lang="en-US" altLang="zh-CN" sz="3200" dirty="0">
                <a:solidFill>
                  <a:srgbClr val="008000"/>
                </a:solidFill>
                <a:latin typeface="楷体_GB2312" pitchFamily="49" charset="-122"/>
                <a:ea typeface="楷体_GB2312" pitchFamily="49" charset="-122"/>
              </a:rPr>
              <a:t>*</a:t>
            </a:r>
            <a:r>
              <a:rPr lang="en-US" altLang="zh-CN" sz="3200" dirty="0" err="1">
                <a:solidFill>
                  <a:srgbClr val="008000"/>
                </a:solidFill>
                <a:latin typeface="楷体_GB2312" pitchFamily="49" charset="-122"/>
                <a:ea typeface="楷体_GB2312" pitchFamily="49" charset="-122"/>
              </a:rPr>
              <a:t>5,a</a:t>
            </a:r>
            <a:r>
              <a:rPr lang="en-US" altLang="zh-CN" sz="3200" dirty="0">
                <a:solidFill>
                  <a:srgbClr val="008000"/>
                </a:solidFill>
                <a:latin typeface="楷体_GB2312" pitchFamily="49" charset="-122"/>
                <a:ea typeface="楷体_GB2312" pitchFamily="49" charset="-122"/>
              </a:rPr>
              <a:t>*</a:t>
            </a:r>
            <a:r>
              <a:rPr lang="zh-CN" altLang="en-US" sz="3200" dirty="0">
                <a:solidFill>
                  <a:srgbClr val="008000"/>
                </a:solidFill>
                <a:latin typeface="楷体_GB2312" pitchFamily="49" charset="-122"/>
                <a:ea typeface="楷体_GB2312" pitchFamily="49" charset="-122"/>
              </a:rPr>
              <a:t>４</a:t>
            </a:r>
            <a:r>
              <a:rPr lang="en-US" altLang="zh-CN" sz="3200" dirty="0">
                <a:solidFill>
                  <a:srgbClr val="008000"/>
                </a:solidFill>
                <a:latin typeface="楷体_GB2312" pitchFamily="49" charset="-122"/>
                <a:ea typeface="楷体_GB2312" pitchFamily="49" charset="-122"/>
              </a:rPr>
              <a:t>;</a:t>
            </a:r>
          </a:p>
          <a:p>
            <a:r>
              <a:rPr lang="zh-CN" altLang="en-US" sz="3600" b="1" u="sng" dirty="0">
                <a:solidFill>
                  <a:srgbClr val="CC0000"/>
                </a:solidFill>
                <a:latin typeface="宋体" panose="02010600030101010101" pitchFamily="2" charset="-122"/>
              </a:rPr>
              <a:t>分析</a:t>
            </a:r>
            <a:r>
              <a:rPr lang="en-US" altLang="zh-CN" sz="3600" b="1" u="sng" dirty="0">
                <a:solidFill>
                  <a:srgbClr val="CC0000"/>
                </a:solidFill>
                <a:latin typeface="宋体" panose="02010600030101010101" pitchFamily="2" charset="-122"/>
              </a:rPr>
              <a:t>:</a:t>
            </a:r>
            <a:r>
              <a:rPr lang="zh-CN" altLang="en-US" sz="3200" dirty="0">
                <a:solidFill>
                  <a:srgbClr val="663300"/>
                </a:solidFill>
                <a:latin typeface="楷体_GB2312" pitchFamily="49" charset="-122"/>
                <a:ea typeface="楷体_GB2312" pitchFamily="49" charset="-122"/>
              </a:rPr>
              <a:t>赋值</a:t>
            </a:r>
            <a:r>
              <a:rPr lang="zh-CN" altLang="en-US" sz="2400" dirty="0">
                <a:solidFill>
                  <a:srgbClr val="663300"/>
                </a:solidFill>
                <a:latin typeface="楷体_GB2312" pitchFamily="49" charset="-122"/>
                <a:ea typeface="楷体_GB2312" pitchFamily="49" charset="-122"/>
              </a:rPr>
              <a:t>运算符</a:t>
            </a:r>
            <a:r>
              <a:rPr lang="zh-CN" altLang="en-US" sz="3200" dirty="0">
                <a:solidFill>
                  <a:srgbClr val="663300"/>
                </a:solidFill>
                <a:latin typeface="楷体_GB2312" pitchFamily="49" charset="-122"/>
                <a:ea typeface="楷体_GB2312" pitchFamily="49" charset="-122"/>
              </a:rPr>
              <a:t>的优先级别高于逗号运算符</a:t>
            </a:r>
            <a:r>
              <a:rPr lang="en-US" altLang="zh-CN" sz="3200" dirty="0">
                <a:solidFill>
                  <a:srgbClr val="663300"/>
                </a:solidFill>
                <a:latin typeface="楷体_GB2312" pitchFamily="49" charset="-122"/>
                <a:ea typeface="楷体_GB2312" pitchFamily="49" charset="-122"/>
              </a:rPr>
              <a:t>,</a:t>
            </a:r>
            <a:r>
              <a:rPr lang="zh-CN" altLang="en-US" sz="3200" dirty="0">
                <a:solidFill>
                  <a:srgbClr val="663300"/>
                </a:solidFill>
                <a:latin typeface="楷体_GB2312" pitchFamily="49" charset="-122"/>
                <a:ea typeface="楷体_GB2312" pitchFamily="49" charset="-122"/>
              </a:rPr>
              <a:t> 因此应先求解</a:t>
            </a:r>
            <a:r>
              <a:rPr lang="en-US" altLang="zh-CN" sz="3200" dirty="0">
                <a:solidFill>
                  <a:srgbClr val="663300"/>
                </a:solidFill>
                <a:latin typeface="楷体_GB2312" pitchFamily="49" charset="-122"/>
                <a:ea typeface="楷体_GB2312" pitchFamily="49" charset="-122"/>
              </a:rPr>
              <a:t>a</a:t>
            </a:r>
            <a:r>
              <a:rPr lang="zh-CN" altLang="en-US" sz="3200" dirty="0">
                <a:solidFill>
                  <a:srgbClr val="663300"/>
                </a:solidFill>
                <a:latin typeface="楷体_GB2312" pitchFamily="49" charset="-122"/>
                <a:ea typeface="楷体_GB2312" pitchFamily="49" charset="-122"/>
              </a:rPr>
              <a:t>＝３</a:t>
            </a:r>
            <a:r>
              <a:rPr lang="en-US" altLang="zh-CN" sz="3200" dirty="0">
                <a:solidFill>
                  <a:srgbClr val="663300"/>
                </a:solidFill>
                <a:latin typeface="楷体_GB2312" pitchFamily="49" charset="-122"/>
                <a:ea typeface="楷体_GB2312" pitchFamily="49" charset="-122"/>
              </a:rPr>
              <a:t>*5, </a:t>
            </a:r>
            <a:r>
              <a:rPr lang="zh-CN" altLang="en-US" sz="3200" dirty="0">
                <a:solidFill>
                  <a:srgbClr val="663300"/>
                </a:solidFill>
              </a:rPr>
              <a:t>然后求解</a:t>
            </a:r>
            <a:r>
              <a:rPr lang="en-US" altLang="zh-CN" sz="3200" dirty="0">
                <a:solidFill>
                  <a:srgbClr val="663300"/>
                </a:solidFill>
              </a:rPr>
              <a:t>a*</a:t>
            </a:r>
            <a:r>
              <a:rPr lang="zh-CN" altLang="en-US" sz="3200" dirty="0">
                <a:solidFill>
                  <a:srgbClr val="663300"/>
                </a:solidFill>
              </a:rPr>
              <a:t>４得６０。</a:t>
            </a:r>
            <a:endParaRPr lang="zh-CN" altLang="en-US" sz="3200" dirty="0">
              <a:solidFill>
                <a:srgbClr val="663300"/>
              </a:solidFill>
              <a:latin typeface="楷体_GB2312" pitchFamily="49" charset="-122"/>
              <a:ea typeface="楷体_GB2312" pitchFamily="49" charset="-122"/>
            </a:endParaRPr>
          </a:p>
          <a:p>
            <a:pPr eaLnBrk="0" hangingPunct="0">
              <a:spcBef>
                <a:spcPct val="20000"/>
              </a:spcBef>
            </a:pPr>
            <a:r>
              <a:rPr lang="zh-CN" altLang="en-US" sz="3200" b="1" dirty="0">
                <a:solidFill>
                  <a:srgbClr val="CC0000"/>
                </a:solidFill>
                <a:latin typeface="楷体_GB2312" pitchFamily="49" charset="-122"/>
                <a:ea typeface="楷体_GB2312" pitchFamily="49" charset="-122"/>
              </a:rPr>
              <a:t> </a:t>
            </a:r>
          </a:p>
          <a:p>
            <a:pPr eaLnBrk="0" hangingPunct="0">
              <a:spcBef>
                <a:spcPct val="20000"/>
              </a:spcBef>
            </a:pPr>
            <a:endParaRPr lang="zh-CN" altLang="en-US" sz="3200" b="1" dirty="0">
              <a:solidFill>
                <a:srgbClr val="CC0000"/>
              </a:solidFill>
              <a:latin typeface="楷体_GB2312" pitchFamily="49" charset="-122"/>
              <a:ea typeface="楷体_GB2312" pitchFamily="49" charset="-122"/>
            </a:endParaRPr>
          </a:p>
        </p:txBody>
      </p:sp>
    </p:spTree>
  </p:cSld>
  <p:clrMapOvr>
    <a:masterClrMapping/>
  </p:clrMapOvr>
  <p:transition advClick="0">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94627"/>
                                        </p:tgtEl>
                                        <p:attrNameLst>
                                          <p:attrName>style.visibility</p:attrName>
                                        </p:attrNameLst>
                                      </p:cBhvr>
                                      <p:to>
                                        <p:strVal val="visible"/>
                                      </p:to>
                                    </p:set>
                                    <p:animEffect transition="in" filter="wipe(left)">
                                      <p:cBhvr>
                                        <p:cTn id="7" dur="1000"/>
                                        <p:tgtEl>
                                          <p:spTgt spid="794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462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txBox="1">
            <a:spLocks noGrp="1"/>
          </p:cNvSpPr>
          <p:nvPr>
            <p:ph type="sldNum" sz="quarter" idx="12"/>
          </p:nvPr>
        </p:nvSpPr>
        <p:spPr>
          <a:ln/>
        </p:spPr>
        <p:txBody>
          <a:bodyPr/>
          <a:lstStyle/>
          <a:p>
            <a:pPr marL="0" indent="0" algn="r" eaLnBrk="1" hangingPunct="1">
              <a:spcBef>
                <a:spcPct val="50000"/>
              </a:spcBef>
              <a:buNone/>
            </a:pPr>
            <a:fld id="{9A0DB2DC-4C9A-4742-B13C-FB6460FD3503}" type="slidenum">
              <a:rPr lang="zh-CN" altLang="en-US" sz="1400" b="1" dirty="0"/>
              <a:t>54</a:t>
            </a:fld>
            <a:endParaRPr lang="zh-CN" altLang="en-US" sz="1400" b="1" dirty="0"/>
          </a:p>
        </p:txBody>
      </p:sp>
      <p:sp>
        <p:nvSpPr>
          <p:cNvPr id="250894" name="Rectangle 14"/>
          <p:cNvSpPr>
            <a:spLocks noGrp="1"/>
          </p:cNvSpPr>
          <p:nvPr>
            <p:ph idx="1"/>
          </p:nvPr>
        </p:nvSpPr>
        <p:spPr>
          <a:xfrm>
            <a:off x="609600" y="1447800"/>
            <a:ext cx="8001000" cy="2989263"/>
          </a:xfrm>
          <a:ln/>
        </p:spPr>
        <p:txBody>
          <a:bodyPr vert="horz" wrap="square" lIns="92075" tIns="46038" rIns="92075" bIns="46038" anchor="t"/>
          <a:lstStyle/>
          <a:p>
            <a:pPr eaLnBrk="1" hangingPunct="1">
              <a:lnSpc>
                <a:spcPct val="150000"/>
              </a:lnSpc>
              <a:buClr>
                <a:srgbClr val="000099"/>
              </a:buClr>
              <a:buSzPct val="50000"/>
              <a:buFont typeface="Wingdings" panose="05000000000000000000" pitchFamily="2" charset="2"/>
              <a:buChar char="u"/>
            </a:pPr>
            <a:r>
              <a:rPr lang="zh-CN" altLang="en-US" b="1" dirty="0"/>
              <a:t> 语句（</a:t>
            </a:r>
            <a:r>
              <a:rPr lang="en-US" altLang="zh-CN" b="1" dirty="0"/>
              <a:t>statement</a:t>
            </a:r>
            <a:r>
              <a:rPr lang="zh-CN" altLang="en-US" b="1" dirty="0"/>
              <a:t>）用于向计算机发出操作指令。</a:t>
            </a:r>
          </a:p>
          <a:p>
            <a:pPr eaLnBrk="1" hangingPunct="1">
              <a:lnSpc>
                <a:spcPct val="150000"/>
              </a:lnSpc>
              <a:buClr>
                <a:srgbClr val="000099"/>
              </a:buClr>
              <a:buSzPct val="50000"/>
              <a:buFont typeface="Wingdings" panose="05000000000000000000" pitchFamily="2" charset="2"/>
              <a:buChar char="u"/>
            </a:pPr>
            <a:r>
              <a:rPr lang="zh-CN" altLang="en-US" b="1" dirty="0"/>
              <a:t> 一条语句经编译后产生一条或多条机器指令。</a:t>
            </a:r>
          </a:p>
          <a:p>
            <a:pPr eaLnBrk="1" hangingPunct="1">
              <a:lnSpc>
                <a:spcPct val="150000"/>
              </a:lnSpc>
              <a:buClr>
                <a:srgbClr val="000099"/>
              </a:buClr>
              <a:buSzPct val="50000"/>
              <a:buFont typeface="Wingdings" panose="05000000000000000000" pitchFamily="2" charset="2"/>
              <a:buChar char="u"/>
            </a:pPr>
            <a:r>
              <a:rPr lang="zh-CN" altLang="en-US" b="1" dirty="0"/>
              <a:t>一个实际的程序可能包括若干条语句。</a:t>
            </a:r>
          </a:p>
          <a:p>
            <a:pPr eaLnBrk="1" hangingPunct="1">
              <a:lnSpc>
                <a:spcPct val="150000"/>
              </a:lnSpc>
              <a:buClr>
                <a:srgbClr val="000099"/>
              </a:buClr>
              <a:buSzPct val="50000"/>
              <a:buFont typeface="Wingdings" panose="05000000000000000000" pitchFamily="2" charset="2"/>
              <a:buChar char="u"/>
            </a:pPr>
            <a:r>
              <a:rPr lang="en-US" altLang="zh-CN" b="1" dirty="0"/>
              <a:t>C</a:t>
            </a:r>
            <a:r>
              <a:rPr lang="zh-CN" altLang="en-US" b="1" dirty="0"/>
              <a:t>语言规定了6类语句：</a:t>
            </a:r>
          </a:p>
          <a:p>
            <a:pPr eaLnBrk="1" hangingPunct="1">
              <a:lnSpc>
                <a:spcPct val="150000"/>
              </a:lnSpc>
              <a:buNone/>
            </a:pPr>
            <a:r>
              <a:rPr lang="zh-CN" altLang="en-US" b="1" dirty="0"/>
              <a:t>		</a:t>
            </a:r>
            <a:r>
              <a:rPr lang="zh-CN" altLang="en-US" b="1" dirty="0">
                <a:solidFill>
                  <a:srgbClr val="6600FF"/>
                </a:solidFill>
              </a:rPr>
              <a:t>表达式语句、复合语句</a:t>
            </a:r>
            <a:r>
              <a:rPr lang="zh-CN" altLang="en-US" b="1" dirty="0"/>
              <a:t>、</a:t>
            </a:r>
            <a:r>
              <a:rPr lang="zh-CN" altLang="en-US" b="1" dirty="0">
                <a:solidFill>
                  <a:srgbClr val="6600FF"/>
                </a:solidFill>
              </a:rPr>
              <a:t>选择语句、</a:t>
            </a:r>
          </a:p>
          <a:p>
            <a:pPr eaLnBrk="1" hangingPunct="1">
              <a:lnSpc>
                <a:spcPct val="150000"/>
              </a:lnSpc>
              <a:buNone/>
            </a:pPr>
            <a:r>
              <a:rPr lang="zh-CN" altLang="en-US" b="1" dirty="0">
                <a:solidFill>
                  <a:srgbClr val="6600FF"/>
                </a:solidFill>
              </a:rPr>
              <a:t>		循环语句</a:t>
            </a:r>
            <a:r>
              <a:rPr lang="zh-CN" altLang="en-US" b="1" dirty="0"/>
              <a:t>、标记语句、跳转语句 </a:t>
            </a:r>
            <a:endParaRPr lang="en-US" altLang="zh-CN" b="1" dirty="0"/>
          </a:p>
          <a:p>
            <a:pPr eaLnBrk="1" hangingPunct="1">
              <a:lnSpc>
                <a:spcPct val="80000"/>
              </a:lnSpc>
              <a:buClr>
                <a:srgbClr val="000099"/>
              </a:buClr>
              <a:buSzPct val="50000"/>
              <a:buFont typeface="Wingdings" panose="05000000000000000000" pitchFamily="2" charset="2"/>
              <a:buChar char="u"/>
            </a:pPr>
            <a:endParaRPr lang="en-US" altLang="zh-CN" b="1" dirty="0"/>
          </a:p>
        </p:txBody>
      </p:sp>
      <p:sp>
        <p:nvSpPr>
          <p:cNvPr id="23556" name="Rectangle 16"/>
          <p:cNvSpPr>
            <a:spLocks noGrp="1"/>
          </p:cNvSpPr>
          <p:nvPr>
            <p:ph type="title"/>
          </p:nvPr>
        </p:nvSpPr>
        <p:spPr>
          <a:ln/>
        </p:spPr>
        <p:txBody>
          <a:bodyPr vert="horz" wrap="square" lIns="91440" tIns="45720" rIns="91440" bIns="45720" anchor="ctr"/>
          <a:lstStyle/>
          <a:p>
            <a:pPr eaLnBrk="1" hangingPunct="1"/>
            <a:r>
              <a:rPr lang="en-US" altLang="zh-CN" b="1" dirty="0"/>
              <a:t>3.2 </a:t>
            </a:r>
            <a:r>
              <a:rPr lang="zh-CN" altLang="en-US" b="1" dirty="0"/>
              <a:t>语句</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0894">
                                            <p:txEl>
                                              <p:pRg st="0" end="0"/>
                                            </p:txEl>
                                          </p:spTgt>
                                        </p:tgtEl>
                                        <p:attrNameLst>
                                          <p:attrName>style.visibility</p:attrName>
                                        </p:attrNameLst>
                                      </p:cBhvr>
                                      <p:to>
                                        <p:strVal val="visible"/>
                                      </p:to>
                                    </p:set>
                                    <p:animEffect transition="in" filter="dissolve">
                                      <p:cBhvr>
                                        <p:cTn id="7" dur="500"/>
                                        <p:tgtEl>
                                          <p:spTgt spid="25089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50894">
                                            <p:txEl>
                                              <p:pRg st="1" end="1"/>
                                            </p:txEl>
                                          </p:spTgt>
                                        </p:tgtEl>
                                        <p:attrNameLst>
                                          <p:attrName>style.visibility</p:attrName>
                                        </p:attrNameLst>
                                      </p:cBhvr>
                                      <p:to>
                                        <p:strVal val="visible"/>
                                      </p:to>
                                    </p:set>
                                    <p:animEffect transition="in" filter="dissolve">
                                      <p:cBhvr>
                                        <p:cTn id="12" dur="500"/>
                                        <p:tgtEl>
                                          <p:spTgt spid="25089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50894">
                                            <p:txEl>
                                              <p:pRg st="2" end="2"/>
                                            </p:txEl>
                                          </p:spTgt>
                                        </p:tgtEl>
                                        <p:attrNameLst>
                                          <p:attrName>style.visibility</p:attrName>
                                        </p:attrNameLst>
                                      </p:cBhvr>
                                      <p:to>
                                        <p:strVal val="visible"/>
                                      </p:to>
                                    </p:set>
                                    <p:animEffect transition="in" filter="dissolve">
                                      <p:cBhvr>
                                        <p:cTn id="17" dur="500"/>
                                        <p:tgtEl>
                                          <p:spTgt spid="25089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50894">
                                            <p:txEl>
                                              <p:pRg st="3" end="3"/>
                                            </p:txEl>
                                          </p:spTgt>
                                        </p:tgtEl>
                                        <p:attrNameLst>
                                          <p:attrName>style.visibility</p:attrName>
                                        </p:attrNameLst>
                                      </p:cBhvr>
                                      <p:to>
                                        <p:strVal val="visible"/>
                                      </p:to>
                                    </p:set>
                                    <p:animEffect transition="in" filter="dissolve">
                                      <p:cBhvr>
                                        <p:cTn id="22" dur="500"/>
                                        <p:tgtEl>
                                          <p:spTgt spid="25089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50894">
                                            <p:txEl>
                                              <p:pRg st="4" end="4"/>
                                            </p:txEl>
                                          </p:spTgt>
                                        </p:tgtEl>
                                        <p:attrNameLst>
                                          <p:attrName>style.visibility</p:attrName>
                                        </p:attrNameLst>
                                      </p:cBhvr>
                                      <p:to>
                                        <p:strVal val="visible"/>
                                      </p:to>
                                    </p:set>
                                    <p:animEffect transition="in" filter="dissolve">
                                      <p:cBhvr>
                                        <p:cTn id="27" dur="500"/>
                                        <p:tgtEl>
                                          <p:spTgt spid="25089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50894">
                                            <p:txEl>
                                              <p:pRg st="5" end="5"/>
                                            </p:txEl>
                                          </p:spTgt>
                                        </p:tgtEl>
                                        <p:attrNameLst>
                                          <p:attrName>style.visibility</p:attrName>
                                        </p:attrNameLst>
                                      </p:cBhvr>
                                      <p:to>
                                        <p:strVal val="visible"/>
                                      </p:to>
                                    </p:set>
                                    <p:animEffect transition="in" filter="dissolve">
                                      <p:cBhvr>
                                        <p:cTn id="32" dur="500"/>
                                        <p:tgtEl>
                                          <p:spTgt spid="25089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94"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标题 800769">
            <a:extLst>
              <a:ext uri="{FF2B5EF4-FFF2-40B4-BE49-F238E27FC236}">
                <a16:creationId xmlns:a16="http://schemas.microsoft.com/office/drawing/2014/main" id="{9BD98231-49EE-4E16-B6B5-7BEAE81D9BF2}"/>
              </a:ext>
            </a:extLst>
          </p:cNvPr>
          <p:cNvSpPr>
            <a:spLocks noGrp="1" noChangeArrowheads="1"/>
          </p:cNvSpPr>
          <p:nvPr>
            <p:ph type="title"/>
          </p:nvPr>
        </p:nvSpPr>
        <p:spPr bwMode="auto">
          <a:xfrm>
            <a:off x="3131840" y="274638"/>
            <a:ext cx="5554960" cy="825500"/>
          </a:xfrm>
          <a:prstGeom prst="rect">
            <a:avLst/>
          </a:prstGeom>
          <a:noFill/>
          <a:ln w="9525">
            <a:noFill/>
          </a:ln>
        </p:spPr>
        <p:txBody>
          <a:bodyPr vert="horz" wrap="square" lIns="91440" tIns="45720" rIns="91440" bIns="45720" anchor="ctr"/>
          <a:lstStyle/>
          <a:p>
            <a:pPr eaLnBrk="1" hangingPunct="1"/>
            <a:r>
              <a:rPr lang="en-US" altLang="zh-CN" dirty="0"/>
              <a:t>C</a:t>
            </a:r>
            <a:r>
              <a:rPr lang="zh-CN" altLang="en-US" dirty="0"/>
              <a:t>语句概述</a:t>
            </a:r>
          </a:p>
        </p:txBody>
      </p:sp>
      <p:sp>
        <p:nvSpPr>
          <p:cNvPr id="800771" name="矩形 800770">
            <a:extLst>
              <a:ext uri="{FF2B5EF4-FFF2-40B4-BE49-F238E27FC236}">
                <a16:creationId xmlns:a16="http://schemas.microsoft.com/office/drawing/2014/main" id="{DA907157-75FE-4EB1-AA96-E46C7D8037C5}"/>
              </a:ext>
            </a:extLst>
          </p:cNvPr>
          <p:cNvSpPr>
            <a:spLocks noChangeArrowheads="1"/>
          </p:cNvSpPr>
          <p:nvPr/>
        </p:nvSpPr>
        <p:spPr bwMode="auto">
          <a:xfrm>
            <a:off x="622300" y="1388268"/>
            <a:ext cx="8064500" cy="4462462"/>
          </a:xfrm>
          <a:prstGeom prst="rect">
            <a:avLst/>
          </a:prstGeom>
          <a:noFill/>
          <a:ln>
            <a:noFill/>
          </a:ln>
        </p:spPr>
        <p:txBody>
          <a:bodyPr/>
          <a:lstStyle>
            <a:lvl1pPr marL="342900" indent="-342900">
              <a:defRPr sz="4000">
                <a:solidFill>
                  <a:schemeClr val="tx1"/>
                </a:solidFill>
                <a:latin typeface="Times New Roman" panose="02020603050405020304" pitchFamily="18" charset="0"/>
                <a:ea typeface="宋体" panose="02010600030101010101" pitchFamily="2" charset="-122"/>
              </a:defRPr>
            </a:lvl1pPr>
            <a:lvl2pPr>
              <a:defRPr sz="4000">
                <a:solidFill>
                  <a:schemeClr val="tx1"/>
                </a:solidFill>
                <a:latin typeface="Times New Roman" panose="02020603050405020304" pitchFamily="18" charset="0"/>
                <a:ea typeface="宋体" panose="02010600030101010101" pitchFamily="2" charset="-122"/>
              </a:defRPr>
            </a:lvl2pPr>
            <a:lvl3pPr>
              <a:defRPr sz="4000">
                <a:solidFill>
                  <a:schemeClr val="tx1"/>
                </a:solidFill>
                <a:latin typeface="Times New Roman" panose="02020603050405020304" pitchFamily="18" charset="0"/>
                <a:ea typeface="宋体" panose="02010600030101010101" pitchFamily="2" charset="-122"/>
              </a:defRPr>
            </a:lvl3pPr>
            <a:lvl4pPr>
              <a:defRPr sz="4000">
                <a:solidFill>
                  <a:schemeClr val="tx1"/>
                </a:solidFill>
                <a:latin typeface="Times New Roman" panose="02020603050405020304" pitchFamily="18" charset="0"/>
                <a:ea typeface="宋体" panose="02010600030101010101" pitchFamily="2" charset="-122"/>
              </a:defRPr>
            </a:lvl4pPr>
            <a:lvl5pPr>
              <a:defRPr sz="40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9pPr>
          </a:lstStyle>
          <a:p>
            <a:pPr eaLnBrk="0" hangingPunct="0">
              <a:spcBef>
                <a:spcPct val="20000"/>
              </a:spcBef>
            </a:pPr>
            <a:endParaRPr lang="zh-CN" altLang="zh-CN" sz="3200" b="1" dirty="0">
              <a:solidFill>
                <a:srgbClr val="663300"/>
              </a:solidFill>
              <a:latin typeface="楷体_GB2312" pitchFamily="49" charset="-122"/>
              <a:ea typeface="楷体_GB2312" pitchFamily="49" charset="-122"/>
            </a:endParaRPr>
          </a:p>
        </p:txBody>
      </p:sp>
      <p:grpSp>
        <p:nvGrpSpPr>
          <p:cNvPr id="48131" name="组合 800771">
            <a:extLst>
              <a:ext uri="{FF2B5EF4-FFF2-40B4-BE49-F238E27FC236}">
                <a16:creationId xmlns:a16="http://schemas.microsoft.com/office/drawing/2014/main" id="{361262E0-29C5-4698-968D-94D5D3597E24}"/>
              </a:ext>
            </a:extLst>
          </p:cNvPr>
          <p:cNvGrpSpPr>
            <a:grpSpLocks noChangeAspect="1"/>
          </p:cNvGrpSpPr>
          <p:nvPr/>
        </p:nvGrpSpPr>
        <p:grpSpPr bwMode="auto">
          <a:xfrm>
            <a:off x="914400" y="1676400"/>
            <a:ext cx="6629400" cy="3886200"/>
            <a:chOff x="1134" y="1272"/>
            <a:chExt cx="3884" cy="2016"/>
          </a:xfrm>
          <a:noFill/>
        </p:grpSpPr>
        <p:sp>
          <p:nvSpPr>
            <p:cNvPr id="48132" name="矩形 800772">
              <a:extLst>
                <a:ext uri="{FF2B5EF4-FFF2-40B4-BE49-F238E27FC236}">
                  <a16:creationId xmlns:a16="http://schemas.microsoft.com/office/drawing/2014/main" id="{BF76C7AD-F84F-4A71-B1A5-B2C6F5EC5890}"/>
                </a:ext>
              </a:extLst>
            </p:cNvPr>
            <p:cNvSpPr>
              <a:spLocks noChangeAspect="1" noChangeArrowheads="1" noTextEdit="1"/>
            </p:cNvSpPr>
            <p:nvPr/>
          </p:nvSpPr>
          <p:spPr bwMode="auto">
            <a:xfrm>
              <a:off x="1134" y="1272"/>
              <a:ext cx="3884" cy="201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en-US">
                <a:latin typeface="Times New Roman" panose="02020603050405020304" pitchFamily="18" charset="0"/>
              </a:endParaRPr>
            </a:p>
          </p:txBody>
        </p:sp>
        <p:cxnSp>
          <p:nvCxnSpPr>
            <p:cNvPr id="48133" name="_s800774">
              <a:extLst>
                <a:ext uri="{FF2B5EF4-FFF2-40B4-BE49-F238E27FC236}">
                  <a16:creationId xmlns:a16="http://schemas.microsoft.com/office/drawing/2014/main" id="{BFA3C7BB-C945-4B55-B37A-B96F5E7ECC30}"/>
                </a:ext>
              </a:extLst>
            </p:cNvPr>
            <p:cNvCxnSpPr>
              <a:cxnSpLocks noChangeShapeType="1"/>
              <a:stCxn id="48155" idx="0"/>
              <a:endCxn id="48153" idx="2"/>
            </p:cNvCxnSpPr>
            <p:nvPr/>
          </p:nvCxnSpPr>
          <p:spPr bwMode="auto">
            <a:xfrm rot="5400000" flipH="1">
              <a:off x="4262" y="2676"/>
              <a:ext cx="144" cy="504"/>
            </a:xfrm>
            <a:prstGeom prst="bentConnector3">
              <a:avLst>
                <a:gd name="adj1" fmla="val 41144"/>
              </a:avLst>
            </a:prstGeom>
            <a:grpFill/>
            <a:ln w="28575">
              <a:solidFill>
                <a:schemeClr val="tx1"/>
              </a:solidFill>
              <a:miter lim="800000"/>
              <a:headEnd/>
              <a:tailEnd/>
            </a:ln>
          </p:spPr>
        </p:cxnSp>
        <p:cxnSp>
          <p:nvCxnSpPr>
            <p:cNvPr id="48134" name="_s800775">
              <a:extLst>
                <a:ext uri="{FF2B5EF4-FFF2-40B4-BE49-F238E27FC236}">
                  <a16:creationId xmlns:a16="http://schemas.microsoft.com/office/drawing/2014/main" id="{73EF1955-82AA-4805-8EC4-C80C7F810F59}"/>
                </a:ext>
              </a:extLst>
            </p:cNvPr>
            <p:cNvCxnSpPr>
              <a:cxnSpLocks noChangeShapeType="1"/>
              <a:stCxn id="48154" idx="0"/>
              <a:endCxn id="48153" idx="2"/>
            </p:cNvCxnSpPr>
            <p:nvPr/>
          </p:nvCxnSpPr>
          <p:spPr bwMode="auto">
            <a:xfrm rot="-5400000">
              <a:off x="3758" y="2676"/>
              <a:ext cx="144" cy="504"/>
            </a:xfrm>
            <a:prstGeom prst="bentConnector3">
              <a:avLst>
                <a:gd name="adj1" fmla="val 41144"/>
              </a:avLst>
            </a:prstGeom>
            <a:grpFill/>
            <a:ln w="28575">
              <a:solidFill>
                <a:schemeClr val="tx1"/>
              </a:solidFill>
              <a:miter lim="800000"/>
              <a:headEnd/>
              <a:tailEnd/>
            </a:ln>
          </p:spPr>
        </p:cxnSp>
        <p:cxnSp>
          <p:nvCxnSpPr>
            <p:cNvPr id="48135" name="_s800776">
              <a:extLst>
                <a:ext uri="{FF2B5EF4-FFF2-40B4-BE49-F238E27FC236}">
                  <a16:creationId xmlns:a16="http://schemas.microsoft.com/office/drawing/2014/main" id="{BD33335E-DB33-45CA-915D-26056511E269}"/>
                </a:ext>
              </a:extLst>
            </p:cNvPr>
            <p:cNvCxnSpPr>
              <a:cxnSpLocks noChangeShapeType="1"/>
              <a:stCxn id="48153" idx="0"/>
              <a:endCxn id="48150" idx="2"/>
            </p:cNvCxnSpPr>
            <p:nvPr/>
          </p:nvCxnSpPr>
          <p:spPr bwMode="auto">
            <a:xfrm rot="5400000" flipH="1">
              <a:off x="3755" y="2240"/>
              <a:ext cx="144" cy="503"/>
            </a:xfrm>
            <a:prstGeom prst="bentConnector3">
              <a:avLst>
                <a:gd name="adj1" fmla="val 41144"/>
              </a:avLst>
            </a:prstGeom>
            <a:grpFill/>
            <a:ln w="28575">
              <a:solidFill>
                <a:schemeClr val="tx1"/>
              </a:solidFill>
              <a:miter lim="800000"/>
              <a:headEnd/>
              <a:tailEnd/>
            </a:ln>
          </p:spPr>
        </p:cxnSp>
        <p:cxnSp>
          <p:nvCxnSpPr>
            <p:cNvPr id="48136" name="_s800777">
              <a:extLst>
                <a:ext uri="{FF2B5EF4-FFF2-40B4-BE49-F238E27FC236}">
                  <a16:creationId xmlns:a16="http://schemas.microsoft.com/office/drawing/2014/main" id="{AC22EF41-9003-4ABB-AB01-D43E4D79C035}"/>
                </a:ext>
              </a:extLst>
            </p:cNvPr>
            <p:cNvCxnSpPr>
              <a:cxnSpLocks noChangeShapeType="1"/>
              <a:stCxn id="48152" idx="0"/>
              <a:endCxn id="48150" idx="2"/>
            </p:cNvCxnSpPr>
            <p:nvPr/>
          </p:nvCxnSpPr>
          <p:spPr bwMode="auto">
            <a:xfrm rot="-5400000">
              <a:off x="3252" y="2240"/>
              <a:ext cx="144" cy="503"/>
            </a:xfrm>
            <a:prstGeom prst="bentConnector3">
              <a:avLst>
                <a:gd name="adj1" fmla="val 41144"/>
              </a:avLst>
            </a:prstGeom>
            <a:grpFill/>
            <a:ln w="28575">
              <a:solidFill>
                <a:schemeClr val="tx1"/>
              </a:solidFill>
              <a:miter lim="800000"/>
              <a:headEnd/>
              <a:tailEnd/>
            </a:ln>
          </p:spPr>
        </p:cxnSp>
        <p:cxnSp>
          <p:nvCxnSpPr>
            <p:cNvPr id="48137" name="_s800778">
              <a:extLst>
                <a:ext uri="{FF2B5EF4-FFF2-40B4-BE49-F238E27FC236}">
                  <a16:creationId xmlns:a16="http://schemas.microsoft.com/office/drawing/2014/main" id="{BCDCAFEA-870A-49F5-ADB8-D9DBCFA2ED29}"/>
                </a:ext>
              </a:extLst>
            </p:cNvPr>
            <p:cNvCxnSpPr>
              <a:cxnSpLocks noChangeShapeType="1"/>
              <a:stCxn id="48151" idx="0"/>
              <a:endCxn id="48146" idx="2"/>
            </p:cNvCxnSpPr>
            <p:nvPr/>
          </p:nvCxnSpPr>
          <p:spPr bwMode="auto">
            <a:xfrm rot="-5400000">
              <a:off x="2749" y="1808"/>
              <a:ext cx="144" cy="503"/>
            </a:xfrm>
            <a:prstGeom prst="bentConnector3">
              <a:avLst>
                <a:gd name="adj1" fmla="val 41144"/>
              </a:avLst>
            </a:prstGeom>
            <a:grpFill/>
            <a:ln w="28575">
              <a:solidFill>
                <a:schemeClr val="tx1"/>
              </a:solidFill>
              <a:miter lim="800000"/>
              <a:headEnd/>
              <a:tailEnd/>
            </a:ln>
          </p:spPr>
        </p:cxnSp>
        <p:cxnSp>
          <p:nvCxnSpPr>
            <p:cNvPr id="48138" name="_s800779">
              <a:extLst>
                <a:ext uri="{FF2B5EF4-FFF2-40B4-BE49-F238E27FC236}">
                  <a16:creationId xmlns:a16="http://schemas.microsoft.com/office/drawing/2014/main" id="{6B7A41FF-131F-4702-BAEC-244318569975}"/>
                </a:ext>
              </a:extLst>
            </p:cNvPr>
            <p:cNvCxnSpPr>
              <a:cxnSpLocks noChangeShapeType="1"/>
              <a:stCxn id="48150" idx="0"/>
              <a:endCxn id="48146" idx="2"/>
            </p:cNvCxnSpPr>
            <p:nvPr/>
          </p:nvCxnSpPr>
          <p:spPr bwMode="auto">
            <a:xfrm rot="5400000" flipH="1">
              <a:off x="3252" y="1808"/>
              <a:ext cx="144" cy="503"/>
            </a:xfrm>
            <a:prstGeom prst="bentConnector3">
              <a:avLst>
                <a:gd name="adj1" fmla="val 41144"/>
              </a:avLst>
            </a:prstGeom>
            <a:grpFill/>
            <a:ln w="28575">
              <a:solidFill>
                <a:schemeClr val="tx1"/>
              </a:solidFill>
              <a:miter lim="800000"/>
              <a:headEnd/>
              <a:tailEnd/>
            </a:ln>
          </p:spPr>
        </p:cxnSp>
        <p:cxnSp>
          <p:nvCxnSpPr>
            <p:cNvPr id="48139" name="_s800780">
              <a:extLst>
                <a:ext uri="{FF2B5EF4-FFF2-40B4-BE49-F238E27FC236}">
                  <a16:creationId xmlns:a16="http://schemas.microsoft.com/office/drawing/2014/main" id="{98FB1B76-6CDF-42EF-A15A-CDA7BECA0203}"/>
                </a:ext>
              </a:extLst>
            </p:cNvPr>
            <p:cNvCxnSpPr>
              <a:cxnSpLocks noChangeShapeType="1"/>
              <a:stCxn id="48149" idx="0"/>
              <a:endCxn id="48146" idx="2"/>
            </p:cNvCxnSpPr>
            <p:nvPr/>
          </p:nvCxnSpPr>
          <p:spPr bwMode="auto">
            <a:xfrm rot="5400000" flipH="1">
              <a:off x="3759" y="1309"/>
              <a:ext cx="144" cy="1510"/>
            </a:xfrm>
            <a:prstGeom prst="bentConnector3">
              <a:avLst>
                <a:gd name="adj1" fmla="val 41144"/>
              </a:avLst>
            </a:prstGeom>
            <a:grpFill/>
            <a:ln w="28575">
              <a:solidFill>
                <a:schemeClr val="tx1"/>
              </a:solidFill>
              <a:miter lim="800000"/>
              <a:headEnd/>
              <a:tailEnd/>
            </a:ln>
          </p:spPr>
        </p:cxnSp>
        <p:cxnSp>
          <p:nvCxnSpPr>
            <p:cNvPr id="48140" name="_s800781">
              <a:extLst>
                <a:ext uri="{FF2B5EF4-FFF2-40B4-BE49-F238E27FC236}">
                  <a16:creationId xmlns:a16="http://schemas.microsoft.com/office/drawing/2014/main" id="{6CD6CEFE-90DE-48C2-8541-F1BC375E2CD2}"/>
                </a:ext>
              </a:extLst>
            </p:cNvPr>
            <p:cNvCxnSpPr>
              <a:cxnSpLocks noChangeShapeType="1"/>
              <a:stCxn id="48148" idx="0"/>
              <a:endCxn id="48146" idx="2"/>
            </p:cNvCxnSpPr>
            <p:nvPr/>
          </p:nvCxnSpPr>
          <p:spPr bwMode="auto">
            <a:xfrm rot="-5400000">
              <a:off x="2249" y="1309"/>
              <a:ext cx="144" cy="1510"/>
            </a:xfrm>
            <a:prstGeom prst="bentConnector3">
              <a:avLst>
                <a:gd name="adj1" fmla="val 41144"/>
              </a:avLst>
            </a:prstGeom>
            <a:grpFill/>
            <a:ln w="28575">
              <a:solidFill>
                <a:schemeClr val="tx1"/>
              </a:solidFill>
              <a:miter lim="800000"/>
              <a:headEnd/>
              <a:tailEnd/>
            </a:ln>
          </p:spPr>
        </p:cxnSp>
        <p:cxnSp>
          <p:nvCxnSpPr>
            <p:cNvPr id="48141" name="_s800782">
              <a:extLst>
                <a:ext uri="{FF2B5EF4-FFF2-40B4-BE49-F238E27FC236}">
                  <a16:creationId xmlns:a16="http://schemas.microsoft.com/office/drawing/2014/main" id="{2B2E1CEE-1CB8-4809-A76B-FC42034388B5}"/>
                </a:ext>
              </a:extLst>
            </p:cNvPr>
            <p:cNvCxnSpPr>
              <a:cxnSpLocks noChangeShapeType="1"/>
              <a:stCxn id="48147" idx="0"/>
              <a:endCxn id="48144" idx="2"/>
            </p:cNvCxnSpPr>
            <p:nvPr/>
          </p:nvCxnSpPr>
          <p:spPr bwMode="auto">
            <a:xfrm rot="5400000" flipH="1">
              <a:off x="3383" y="1003"/>
              <a:ext cx="144" cy="1258"/>
            </a:xfrm>
            <a:prstGeom prst="bentConnector3">
              <a:avLst>
                <a:gd name="adj1" fmla="val 41144"/>
              </a:avLst>
            </a:prstGeom>
            <a:grpFill/>
            <a:ln w="28575">
              <a:solidFill>
                <a:schemeClr val="tx1"/>
              </a:solidFill>
              <a:miter lim="800000"/>
              <a:headEnd/>
              <a:tailEnd/>
            </a:ln>
          </p:spPr>
        </p:cxnSp>
        <p:cxnSp>
          <p:nvCxnSpPr>
            <p:cNvPr id="48142" name="_s800783">
              <a:extLst>
                <a:ext uri="{FF2B5EF4-FFF2-40B4-BE49-F238E27FC236}">
                  <a16:creationId xmlns:a16="http://schemas.microsoft.com/office/drawing/2014/main" id="{5AB1B774-761E-4BD4-A9AE-2BE8D5ECA36E}"/>
                </a:ext>
              </a:extLst>
            </p:cNvPr>
            <p:cNvCxnSpPr>
              <a:cxnSpLocks noChangeShapeType="1"/>
              <a:stCxn id="48146" idx="0"/>
              <a:endCxn id="48144" idx="2"/>
            </p:cNvCxnSpPr>
            <p:nvPr/>
          </p:nvCxnSpPr>
          <p:spPr bwMode="auto">
            <a:xfrm rot="5400000" flipH="1">
              <a:off x="2879" y="1507"/>
              <a:ext cx="144" cy="250"/>
            </a:xfrm>
            <a:prstGeom prst="bentConnector3">
              <a:avLst>
                <a:gd name="adj1" fmla="val 41144"/>
              </a:avLst>
            </a:prstGeom>
            <a:grpFill/>
            <a:ln w="28575">
              <a:solidFill>
                <a:schemeClr val="tx1"/>
              </a:solidFill>
              <a:miter lim="800000"/>
              <a:headEnd/>
              <a:tailEnd/>
            </a:ln>
          </p:spPr>
        </p:cxnSp>
        <p:cxnSp>
          <p:nvCxnSpPr>
            <p:cNvPr id="48143" name="_s800784">
              <a:extLst>
                <a:ext uri="{FF2B5EF4-FFF2-40B4-BE49-F238E27FC236}">
                  <a16:creationId xmlns:a16="http://schemas.microsoft.com/office/drawing/2014/main" id="{7A0E5BC9-42A8-4AD6-840E-8CDF79D22566}"/>
                </a:ext>
              </a:extLst>
            </p:cNvPr>
            <p:cNvCxnSpPr>
              <a:cxnSpLocks noChangeShapeType="1"/>
              <a:stCxn id="48145" idx="0"/>
              <a:endCxn id="48144" idx="2"/>
            </p:cNvCxnSpPr>
            <p:nvPr/>
          </p:nvCxnSpPr>
          <p:spPr bwMode="auto">
            <a:xfrm rot="-5400000">
              <a:off x="2124" y="1002"/>
              <a:ext cx="144" cy="1260"/>
            </a:xfrm>
            <a:prstGeom prst="bentConnector3">
              <a:avLst>
                <a:gd name="adj1" fmla="val 41144"/>
              </a:avLst>
            </a:prstGeom>
            <a:grpFill/>
            <a:ln w="28575">
              <a:solidFill>
                <a:schemeClr val="tx1"/>
              </a:solidFill>
              <a:miter lim="800000"/>
              <a:headEnd/>
              <a:tailEnd/>
            </a:ln>
          </p:spPr>
        </p:cxnSp>
        <p:sp>
          <p:nvSpPr>
            <p:cNvPr id="48144" name="_s800785">
              <a:extLst>
                <a:ext uri="{FF2B5EF4-FFF2-40B4-BE49-F238E27FC236}">
                  <a16:creationId xmlns:a16="http://schemas.microsoft.com/office/drawing/2014/main" id="{A854268D-E28C-4D15-A7B3-D504CC76561B}"/>
                </a:ext>
              </a:extLst>
            </p:cNvPr>
            <p:cNvSpPr>
              <a:spLocks noChangeArrowheads="1"/>
            </p:cNvSpPr>
            <p:nvPr/>
          </p:nvSpPr>
          <p:spPr bwMode="auto">
            <a:xfrm>
              <a:off x="2393" y="1272"/>
              <a:ext cx="864" cy="288"/>
            </a:xfrm>
            <a:prstGeom prst="roundRect">
              <a:avLst>
                <a:gd name="adj" fmla="val 16667"/>
              </a:avLst>
            </a:prstGeom>
            <a:grpFill/>
            <a:ln w="9525">
              <a:solidFill>
                <a:schemeClr val="tx1"/>
              </a:solidFill>
              <a:round/>
              <a:headEnd/>
              <a:tailEnd/>
            </a:ln>
          </p:spPr>
          <p:txBody>
            <a:bodyPr wrap="none" lIns="0" tIns="0" rIns="0" bIns="0" anchor="ctr"/>
            <a:lstStyle/>
            <a:p>
              <a:pPr algn="ctr"/>
              <a:r>
                <a:rPr lang="en-US" altLang="zh-CN" sz="1600">
                  <a:latin typeface="Times New Roman" panose="02020603050405020304" pitchFamily="18" charset="0"/>
                </a:rPr>
                <a:t>C</a:t>
              </a:r>
              <a:r>
                <a:rPr lang="zh-CN" altLang="en-US" sz="1600">
                  <a:latin typeface="Times New Roman" panose="02020603050405020304" pitchFamily="18" charset="0"/>
                </a:rPr>
                <a:t>程序</a:t>
              </a:r>
            </a:p>
          </p:txBody>
        </p:sp>
        <p:sp>
          <p:nvSpPr>
            <p:cNvPr id="48145" name="_s800786">
              <a:extLst>
                <a:ext uri="{FF2B5EF4-FFF2-40B4-BE49-F238E27FC236}">
                  <a16:creationId xmlns:a16="http://schemas.microsoft.com/office/drawing/2014/main" id="{2E28BA1F-76A7-4838-87E9-66DE082BB57C}"/>
                </a:ext>
              </a:extLst>
            </p:cNvPr>
            <p:cNvSpPr>
              <a:spLocks noChangeArrowheads="1"/>
            </p:cNvSpPr>
            <p:nvPr/>
          </p:nvSpPr>
          <p:spPr bwMode="auto">
            <a:xfrm>
              <a:off x="1134" y="1704"/>
              <a:ext cx="864" cy="288"/>
            </a:xfrm>
            <a:prstGeom prst="roundRect">
              <a:avLst>
                <a:gd name="adj" fmla="val 16667"/>
              </a:avLst>
            </a:prstGeom>
            <a:grpFill/>
            <a:ln w="9525">
              <a:solidFill>
                <a:schemeClr val="tx1"/>
              </a:solidFill>
              <a:round/>
              <a:headEnd/>
              <a:tailEnd/>
            </a:ln>
          </p:spPr>
          <p:txBody>
            <a:bodyPr wrap="none" lIns="0" tIns="0" rIns="0" bIns="0" anchor="ctr"/>
            <a:lstStyle/>
            <a:p>
              <a:pPr algn="ctr"/>
              <a:r>
                <a:rPr lang="zh-CN" altLang="en-US" sz="1600">
                  <a:latin typeface="Times New Roman" panose="02020603050405020304" pitchFamily="18" charset="0"/>
                </a:rPr>
                <a:t>源程序文件</a:t>
              </a:r>
              <a:r>
                <a:rPr lang="en-US" altLang="zh-CN" sz="1600">
                  <a:latin typeface="Times New Roman" panose="02020603050405020304" pitchFamily="18" charset="0"/>
                </a:rPr>
                <a:t>1</a:t>
              </a:r>
            </a:p>
          </p:txBody>
        </p:sp>
        <p:sp>
          <p:nvSpPr>
            <p:cNvPr id="48146" name="_s800787">
              <a:extLst>
                <a:ext uri="{FF2B5EF4-FFF2-40B4-BE49-F238E27FC236}">
                  <a16:creationId xmlns:a16="http://schemas.microsoft.com/office/drawing/2014/main" id="{3563E75A-00EE-4E99-8D0E-13AB5E9ED4F0}"/>
                </a:ext>
              </a:extLst>
            </p:cNvPr>
            <p:cNvSpPr>
              <a:spLocks noChangeArrowheads="1"/>
            </p:cNvSpPr>
            <p:nvPr/>
          </p:nvSpPr>
          <p:spPr bwMode="auto">
            <a:xfrm>
              <a:off x="2644" y="1704"/>
              <a:ext cx="864" cy="288"/>
            </a:xfrm>
            <a:prstGeom prst="roundRect">
              <a:avLst>
                <a:gd name="adj" fmla="val 16667"/>
              </a:avLst>
            </a:prstGeom>
            <a:grpFill/>
            <a:ln w="9525">
              <a:solidFill>
                <a:schemeClr val="tx1"/>
              </a:solidFill>
              <a:round/>
              <a:headEnd/>
              <a:tailEnd/>
            </a:ln>
          </p:spPr>
          <p:txBody>
            <a:bodyPr wrap="none" lIns="0" tIns="0" rIns="0" bIns="0" anchor="ctr"/>
            <a:lstStyle/>
            <a:p>
              <a:pPr algn="ctr"/>
              <a:r>
                <a:rPr lang="zh-CN" altLang="en-US" sz="1600" dirty="0">
                  <a:latin typeface="Times New Roman" panose="02020603050405020304" pitchFamily="18" charset="0"/>
                </a:rPr>
                <a:t>源程序文件</a:t>
              </a:r>
              <a:r>
                <a:rPr lang="en-US" altLang="zh-CN" sz="1600" dirty="0">
                  <a:latin typeface="Times New Roman" panose="02020603050405020304" pitchFamily="18" charset="0"/>
                </a:rPr>
                <a:t>2</a:t>
              </a:r>
            </a:p>
          </p:txBody>
        </p:sp>
        <p:sp>
          <p:nvSpPr>
            <p:cNvPr id="48147" name="_s800788">
              <a:extLst>
                <a:ext uri="{FF2B5EF4-FFF2-40B4-BE49-F238E27FC236}">
                  <a16:creationId xmlns:a16="http://schemas.microsoft.com/office/drawing/2014/main" id="{AAEFEC79-61B0-4FFF-9AB0-7FC8CB85601F}"/>
                </a:ext>
              </a:extLst>
            </p:cNvPr>
            <p:cNvSpPr>
              <a:spLocks noChangeArrowheads="1"/>
            </p:cNvSpPr>
            <p:nvPr/>
          </p:nvSpPr>
          <p:spPr bwMode="auto">
            <a:xfrm>
              <a:off x="3652" y="1704"/>
              <a:ext cx="864" cy="288"/>
            </a:xfrm>
            <a:prstGeom prst="roundRect">
              <a:avLst>
                <a:gd name="adj" fmla="val 16667"/>
              </a:avLst>
            </a:prstGeom>
            <a:grpFill/>
            <a:ln w="9525">
              <a:solidFill>
                <a:schemeClr val="tx1"/>
              </a:solidFill>
              <a:round/>
              <a:headEnd/>
              <a:tailEnd/>
            </a:ln>
          </p:spPr>
          <p:txBody>
            <a:bodyPr wrap="none" lIns="0" tIns="0" rIns="0" bIns="0" anchor="ctr"/>
            <a:lstStyle/>
            <a:p>
              <a:pPr algn="ctr"/>
              <a:r>
                <a:rPr lang="zh-CN" altLang="en-US" sz="1600">
                  <a:latin typeface="Times New Roman" panose="02020603050405020304" pitchFamily="18" charset="0"/>
                </a:rPr>
                <a:t>源程序文件</a:t>
              </a:r>
              <a:r>
                <a:rPr lang="en-US" altLang="zh-CN" sz="1600">
                  <a:latin typeface="Times New Roman" panose="02020603050405020304" pitchFamily="18" charset="0"/>
                </a:rPr>
                <a:t>n</a:t>
              </a:r>
            </a:p>
          </p:txBody>
        </p:sp>
        <p:sp>
          <p:nvSpPr>
            <p:cNvPr id="48148" name="_s800789">
              <a:extLst>
                <a:ext uri="{FF2B5EF4-FFF2-40B4-BE49-F238E27FC236}">
                  <a16:creationId xmlns:a16="http://schemas.microsoft.com/office/drawing/2014/main" id="{CF385E78-B63F-4EBD-BC2F-B1BE1099130E}"/>
                </a:ext>
              </a:extLst>
            </p:cNvPr>
            <p:cNvSpPr>
              <a:spLocks noChangeArrowheads="1"/>
            </p:cNvSpPr>
            <p:nvPr/>
          </p:nvSpPr>
          <p:spPr bwMode="auto">
            <a:xfrm>
              <a:off x="1134" y="2136"/>
              <a:ext cx="863" cy="288"/>
            </a:xfrm>
            <a:prstGeom prst="roundRect">
              <a:avLst>
                <a:gd name="adj" fmla="val 16667"/>
              </a:avLst>
            </a:prstGeom>
            <a:grpFill/>
            <a:ln w="9525">
              <a:solidFill>
                <a:schemeClr val="tx1"/>
              </a:solidFill>
              <a:round/>
              <a:headEnd/>
              <a:tailEnd/>
            </a:ln>
          </p:spPr>
          <p:txBody>
            <a:bodyPr wrap="none" lIns="0" tIns="0" rIns="0" bIns="0" anchor="ctr"/>
            <a:lstStyle/>
            <a:p>
              <a:pPr algn="ctr"/>
              <a:r>
                <a:rPr lang="zh-CN" altLang="en-US" sz="1600">
                  <a:latin typeface="Times New Roman" panose="02020603050405020304" pitchFamily="18" charset="0"/>
                </a:rPr>
                <a:t>预处理命令</a:t>
              </a:r>
            </a:p>
          </p:txBody>
        </p:sp>
        <p:sp>
          <p:nvSpPr>
            <p:cNvPr id="48149" name="_s800790">
              <a:extLst>
                <a:ext uri="{FF2B5EF4-FFF2-40B4-BE49-F238E27FC236}">
                  <a16:creationId xmlns:a16="http://schemas.microsoft.com/office/drawing/2014/main" id="{F3328630-1708-4BBE-896F-E34AA5D7A7B9}"/>
                </a:ext>
              </a:extLst>
            </p:cNvPr>
            <p:cNvSpPr>
              <a:spLocks noChangeArrowheads="1"/>
            </p:cNvSpPr>
            <p:nvPr/>
          </p:nvSpPr>
          <p:spPr bwMode="auto">
            <a:xfrm>
              <a:off x="4155" y="2136"/>
              <a:ext cx="863" cy="288"/>
            </a:xfrm>
            <a:prstGeom prst="roundRect">
              <a:avLst>
                <a:gd name="adj" fmla="val 16667"/>
              </a:avLst>
            </a:prstGeom>
            <a:grpFill/>
            <a:ln w="9525">
              <a:solidFill>
                <a:schemeClr val="tx1"/>
              </a:solidFill>
              <a:round/>
              <a:headEnd/>
              <a:tailEnd/>
            </a:ln>
          </p:spPr>
          <p:txBody>
            <a:bodyPr wrap="none" lIns="0" tIns="0" rIns="0" bIns="0" anchor="ctr"/>
            <a:lstStyle/>
            <a:p>
              <a:pPr algn="ctr"/>
              <a:r>
                <a:rPr lang="zh-CN" altLang="en-US" sz="1600">
                  <a:latin typeface="Times New Roman" panose="02020603050405020304" pitchFamily="18" charset="0"/>
                </a:rPr>
                <a:t>函数</a:t>
              </a:r>
              <a:r>
                <a:rPr lang="en-US" altLang="zh-CN" sz="1600">
                  <a:latin typeface="Times New Roman" panose="02020603050405020304" pitchFamily="18" charset="0"/>
                </a:rPr>
                <a:t>n</a:t>
              </a:r>
            </a:p>
          </p:txBody>
        </p:sp>
        <p:sp>
          <p:nvSpPr>
            <p:cNvPr id="48150" name="_s800791">
              <a:extLst>
                <a:ext uri="{FF2B5EF4-FFF2-40B4-BE49-F238E27FC236}">
                  <a16:creationId xmlns:a16="http://schemas.microsoft.com/office/drawing/2014/main" id="{5B188EA0-12FA-4D04-9294-FF44F21A59D9}"/>
                </a:ext>
              </a:extLst>
            </p:cNvPr>
            <p:cNvSpPr>
              <a:spLocks noChangeArrowheads="1"/>
            </p:cNvSpPr>
            <p:nvPr/>
          </p:nvSpPr>
          <p:spPr bwMode="auto">
            <a:xfrm>
              <a:off x="3148" y="2136"/>
              <a:ext cx="863" cy="288"/>
            </a:xfrm>
            <a:prstGeom prst="roundRect">
              <a:avLst>
                <a:gd name="adj" fmla="val 16667"/>
              </a:avLst>
            </a:prstGeom>
            <a:grpFill/>
            <a:ln w="9525">
              <a:solidFill>
                <a:schemeClr val="tx1"/>
              </a:solidFill>
              <a:round/>
              <a:headEnd/>
              <a:tailEnd/>
            </a:ln>
          </p:spPr>
          <p:txBody>
            <a:bodyPr wrap="none" lIns="0" tIns="0" rIns="0" bIns="0" anchor="ctr"/>
            <a:lstStyle/>
            <a:p>
              <a:pPr algn="ctr"/>
              <a:r>
                <a:rPr lang="zh-CN" altLang="en-US" sz="1600">
                  <a:latin typeface="Times New Roman" panose="02020603050405020304" pitchFamily="18" charset="0"/>
                </a:rPr>
                <a:t>函数</a:t>
              </a:r>
              <a:r>
                <a:rPr lang="en-US" altLang="zh-CN" sz="1600">
                  <a:latin typeface="Times New Roman" panose="02020603050405020304" pitchFamily="18" charset="0"/>
                </a:rPr>
                <a:t>1</a:t>
              </a:r>
            </a:p>
          </p:txBody>
        </p:sp>
        <p:sp>
          <p:nvSpPr>
            <p:cNvPr id="48151" name="_s800792">
              <a:extLst>
                <a:ext uri="{FF2B5EF4-FFF2-40B4-BE49-F238E27FC236}">
                  <a16:creationId xmlns:a16="http://schemas.microsoft.com/office/drawing/2014/main" id="{37D25FCC-664B-45E0-B5F2-BFFDAA2F177C}"/>
                </a:ext>
              </a:extLst>
            </p:cNvPr>
            <p:cNvSpPr>
              <a:spLocks noChangeArrowheads="1"/>
            </p:cNvSpPr>
            <p:nvPr/>
          </p:nvSpPr>
          <p:spPr bwMode="auto">
            <a:xfrm>
              <a:off x="2141" y="2136"/>
              <a:ext cx="863" cy="288"/>
            </a:xfrm>
            <a:prstGeom prst="roundRect">
              <a:avLst>
                <a:gd name="adj" fmla="val 16667"/>
              </a:avLst>
            </a:prstGeom>
            <a:grpFill/>
            <a:ln w="9525">
              <a:solidFill>
                <a:schemeClr val="tx1"/>
              </a:solidFill>
              <a:round/>
              <a:headEnd/>
              <a:tailEnd/>
            </a:ln>
          </p:spPr>
          <p:txBody>
            <a:bodyPr wrap="none" lIns="0" tIns="0" rIns="0" bIns="0" anchor="ctr"/>
            <a:lstStyle/>
            <a:p>
              <a:pPr algn="ctr"/>
              <a:r>
                <a:rPr lang="zh-CN" altLang="en-US" sz="1600">
                  <a:latin typeface="Times New Roman" panose="02020603050405020304" pitchFamily="18" charset="0"/>
                </a:rPr>
                <a:t>数据声明</a:t>
              </a:r>
            </a:p>
          </p:txBody>
        </p:sp>
        <p:sp>
          <p:nvSpPr>
            <p:cNvPr id="48152" name="_s800793">
              <a:extLst>
                <a:ext uri="{FF2B5EF4-FFF2-40B4-BE49-F238E27FC236}">
                  <a16:creationId xmlns:a16="http://schemas.microsoft.com/office/drawing/2014/main" id="{847E5EA1-F260-4CB8-8A81-39E20F2BB6B7}"/>
                </a:ext>
              </a:extLst>
            </p:cNvPr>
            <p:cNvSpPr>
              <a:spLocks noChangeArrowheads="1"/>
            </p:cNvSpPr>
            <p:nvPr/>
          </p:nvSpPr>
          <p:spPr bwMode="auto">
            <a:xfrm>
              <a:off x="2644" y="2568"/>
              <a:ext cx="863" cy="288"/>
            </a:xfrm>
            <a:prstGeom prst="roundRect">
              <a:avLst>
                <a:gd name="adj" fmla="val 16667"/>
              </a:avLst>
            </a:prstGeom>
            <a:grpFill/>
            <a:ln w="9525">
              <a:solidFill>
                <a:schemeClr val="tx1"/>
              </a:solidFill>
              <a:round/>
              <a:headEnd/>
              <a:tailEnd/>
            </a:ln>
          </p:spPr>
          <p:txBody>
            <a:bodyPr wrap="none" lIns="0" tIns="0" rIns="0" bIns="0" anchor="ctr"/>
            <a:lstStyle/>
            <a:p>
              <a:pPr algn="ctr"/>
              <a:r>
                <a:rPr lang="zh-CN" altLang="en-US" sz="1600">
                  <a:latin typeface="Times New Roman" panose="02020603050405020304" pitchFamily="18" charset="0"/>
                </a:rPr>
                <a:t>函数首部</a:t>
              </a:r>
            </a:p>
          </p:txBody>
        </p:sp>
        <p:sp>
          <p:nvSpPr>
            <p:cNvPr id="48153" name="_s800794">
              <a:extLst>
                <a:ext uri="{FF2B5EF4-FFF2-40B4-BE49-F238E27FC236}">
                  <a16:creationId xmlns:a16="http://schemas.microsoft.com/office/drawing/2014/main" id="{440A1E42-553B-456D-ADAF-2DB4F26F1DEE}"/>
                </a:ext>
              </a:extLst>
            </p:cNvPr>
            <p:cNvSpPr>
              <a:spLocks noChangeArrowheads="1"/>
            </p:cNvSpPr>
            <p:nvPr/>
          </p:nvSpPr>
          <p:spPr bwMode="auto">
            <a:xfrm>
              <a:off x="3651" y="2568"/>
              <a:ext cx="863" cy="288"/>
            </a:xfrm>
            <a:prstGeom prst="roundRect">
              <a:avLst>
                <a:gd name="adj" fmla="val 16667"/>
              </a:avLst>
            </a:prstGeom>
            <a:grpFill/>
            <a:ln w="9525">
              <a:solidFill>
                <a:schemeClr val="tx1"/>
              </a:solidFill>
              <a:round/>
              <a:headEnd/>
              <a:tailEnd/>
            </a:ln>
          </p:spPr>
          <p:txBody>
            <a:bodyPr wrap="none" lIns="0" tIns="0" rIns="0" bIns="0" anchor="ctr"/>
            <a:lstStyle/>
            <a:p>
              <a:pPr algn="ctr"/>
              <a:r>
                <a:rPr lang="zh-CN" altLang="en-US" sz="1600">
                  <a:latin typeface="Times New Roman" panose="02020603050405020304" pitchFamily="18" charset="0"/>
                </a:rPr>
                <a:t>函数体</a:t>
              </a:r>
            </a:p>
          </p:txBody>
        </p:sp>
        <p:sp>
          <p:nvSpPr>
            <p:cNvPr id="48154" name="_s800795">
              <a:extLst>
                <a:ext uri="{FF2B5EF4-FFF2-40B4-BE49-F238E27FC236}">
                  <a16:creationId xmlns:a16="http://schemas.microsoft.com/office/drawing/2014/main" id="{47ED5323-C79E-4906-95A9-CED3EB77063C}"/>
                </a:ext>
              </a:extLst>
            </p:cNvPr>
            <p:cNvSpPr>
              <a:spLocks noChangeArrowheads="1"/>
            </p:cNvSpPr>
            <p:nvPr/>
          </p:nvSpPr>
          <p:spPr bwMode="auto">
            <a:xfrm>
              <a:off x="3147" y="3000"/>
              <a:ext cx="863" cy="288"/>
            </a:xfrm>
            <a:prstGeom prst="roundRect">
              <a:avLst>
                <a:gd name="adj" fmla="val 16667"/>
              </a:avLst>
            </a:prstGeom>
            <a:grpFill/>
            <a:ln w="9525">
              <a:solidFill>
                <a:schemeClr val="tx1"/>
              </a:solidFill>
              <a:round/>
              <a:headEnd/>
              <a:tailEnd/>
            </a:ln>
          </p:spPr>
          <p:txBody>
            <a:bodyPr wrap="none" lIns="0" tIns="0" rIns="0" bIns="0" anchor="ctr"/>
            <a:lstStyle/>
            <a:p>
              <a:pPr algn="ctr"/>
              <a:r>
                <a:rPr lang="zh-CN" altLang="en-US" sz="1600">
                  <a:latin typeface="Times New Roman" panose="02020603050405020304" pitchFamily="18" charset="0"/>
                </a:rPr>
                <a:t>数据声明</a:t>
              </a:r>
            </a:p>
          </p:txBody>
        </p:sp>
        <p:sp>
          <p:nvSpPr>
            <p:cNvPr id="48155" name="_s800796">
              <a:extLst>
                <a:ext uri="{FF2B5EF4-FFF2-40B4-BE49-F238E27FC236}">
                  <a16:creationId xmlns:a16="http://schemas.microsoft.com/office/drawing/2014/main" id="{00AB7C07-8020-4443-ABA8-A79C7D210256}"/>
                </a:ext>
              </a:extLst>
            </p:cNvPr>
            <p:cNvSpPr>
              <a:spLocks noChangeArrowheads="1"/>
            </p:cNvSpPr>
            <p:nvPr/>
          </p:nvSpPr>
          <p:spPr bwMode="auto">
            <a:xfrm>
              <a:off x="4154" y="3000"/>
              <a:ext cx="863" cy="287"/>
            </a:xfrm>
            <a:prstGeom prst="roundRect">
              <a:avLst>
                <a:gd name="adj" fmla="val 16667"/>
              </a:avLst>
            </a:prstGeom>
            <a:grpFill/>
            <a:ln w="9525">
              <a:solidFill>
                <a:schemeClr val="tx1"/>
              </a:solidFill>
              <a:round/>
              <a:headEnd/>
              <a:tailEnd/>
            </a:ln>
          </p:spPr>
          <p:txBody>
            <a:bodyPr wrap="none" lIns="0" tIns="0" rIns="0" bIns="0" anchor="ctr"/>
            <a:lstStyle/>
            <a:p>
              <a:pPr algn="ctr"/>
              <a:r>
                <a:rPr lang="zh-CN" altLang="en-US" sz="1600">
                  <a:latin typeface="Times New Roman" panose="02020603050405020304" pitchFamily="18" charset="0"/>
                </a:rPr>
                <a:t>执行语句</a:t>
              </a:r>
            </a:p>
          </p:txBody>
        </p:sp>
      </p:grpSp>
    </p:spTree>
  </p:cSld>
  <p:clrMapOvr>
    <a:masterClrMapping/>
  </p:clrMapOvr>
  <p:transition advClick="0">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nodePh="1">
                                  <p:stCondLst>
                                    <p:cond delay="0"/>
                                  </p:stCondLst>
                                  <p:endCondLst>
                                    <p:cond evt="begin" delay="0"/>
                                  </p:endCondLst>
                                  <p:childTnLst>
                                    <p:set>
                                      <p:cBhvr>
                                        <p:cTn id="6" dur="1" fill="hold">
                                          <p:stCondLst>
                                            <p:cond delay="0"/>
                                          </p:stCondLst>
                                        </p:cTn>
                                        <p:tgtEl>
                                          <p:spTgt spid="800771"/>
                                        </p:tgtEl>
                                        <p:attrNameLst>
                                          <p:attrName>style.visibility</p:attrName>
                                        </p:attrNameLst>
                                      </p:cBhvr>
                                      <p:to>
                                        <p:strVal val="visible"/>
                                      </p:to>
                                    </p:set>
                                    <p:animEffect transition="in" filter="wipe(left)">
                                      <p:cBhvr>
                                        <p:cTn id="7" dur="1000"/>
                                        <p:tgtEl>
                                          <p:spTgt spid="8007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771"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p:cNvSpPr txBox="1">
            <a:spLocks noGrp="1"/>
          </p:cNvSpPr>
          <p:nvPr>
            <p:ph type="sldNum" sz="quarter" idx="12"/>
          </p:nvPr>
        </p:nvSpPr>
        <p:spPr>
          <a:ln/>
        </p:spPr>
        <p:txBody>
          <a:bodyPr/>
          <a:lstStyle/>
          <a:p>
            <a:pPr marL="0" indent="0" algn="r" eaLnBrk="1" hangingPunct="1">
              <a:spcBef>
                <a:spcPct val="50000"/>
              </a:spcBef>
              <a:buNone/>
            </a:pPr>
            <a:fld id="{9A0DB2DC-4C9A-4742-B13C-FB6460FD3503}" type="slidenum">
              <a:rPr lang="zh-CN" altLang="en-US" sz="1400" b="1" dirty="0"/>
              <a:t>56</a:t>
            </a:fld>
            <a:endParaRPr lang="zh-CN" altLang="en-US" sz="1400" b="1" dirty="0"/>
          </a:p>
        </p:txBody>
      </p:sp>
      <p:sp>
        <p:nvSpPr>
          <p:cNvPr id="252932" name="Rectangle 4"/>
          <p:cNvSpPr>
            <a:spLocks noGrp="1"/>
          </p:cNvSpPr>
          <p:nvPr>
            <p:ph idx="1"/>
          </p:nvPr>
        </p:nvSpPr>
        <p:spPr>
          <a:xfrm>
            <a:off x="468313" y="1484313"/>
            <a:ext cx="8447087" cy="2057400"/>
          </a:xfrm>
          <a:ln/>
        </p:spPr>
        <p:txBody>
          <a:bodyPr vert="horz" wrap="square" lIns="92075" tIns="46038" rIns="92075" bIns="46038" anchor="t"/>
          <a:lstStyle/>
          <a:p>
            <a:pPr eaLnBrk="1" hangingPunct="1">
              <a:lnSpc>
                <a:spcPct val="90000"/>
              </a:lnSpc>
              <a:buNone/>
            </a:pPr>
            <a:r>
              <a:rPr lang="zh-CN" altLang="en-US" b="1" dirty="0"/>
              <a:t>一、</a:t>
            </a:r>
            <a:r>
              <a:rPr lang="zh-CN" altLang="en-US" b="1" dirty="0">
                <a:latin typeface="宋体" panose="02010600030101010101" pitchFamily="2" charset="-122"/>
              </a:rPr>
              <a:t>表达式语句</a:t>
            </a:r>
            <a:r>
              <a:rPr lang="zh-CN" altLang="en-US" b="1" dirty="0"/>
              <a:t> </a:t>
            </a:r>
          </a:p>
          <a:p>
            <a:pPr algn="just" eaLnBrk="1" hangingPunct="1">
              <a:lnSpc>
                <a:spcPct val="90000"/>
              </a:lnSpc>
              <a:buNone/>
            </a:pPr>
            <a:r>
              <a:rPr lang="zh-CN" altLang="en-US" b="1" dirty="0">
                <a:latin typeface="宋体" panose="02010600030101010101" pitchFamily="2" charset="-122"/>
              </a:rPr>
              <a:t>  表达式：算术表达式、关系表达式、逻辑表达式、 		赋值表达式。 </a:t>
            </a:r>
          </a:p>
          <a:p>
            <a:pPr algn="just" eaLnBrk="1" hangingPunct="1">
              <a:lnSpc>
                <a:spcPct val="90000"/>
              </a:lnSpc>
              <a:buNone/>
            </a:pPr>
            <a:r>
              <a:rPr lang="zh-CN" altLang="en-US" b="1" dirty="0">
                <a:latin typeface="宋体" panose="02010600030101010101" pitchFamily="2" charset="-122"/>
              </a:rPr>
              <a:t>  </a:t>
            </a:r>
            <a:r>
              <a:rPr lang="zh-CN" altLang="en-US" b="1" dirty="0">
                <a:solidFill>
                  <a:srgbClr val="000099"/>
                </a:solidFill>
                <a:latin typeface="宋体" panose="02010600030101010101" pitchFamily="2" charset="-122"/>
              </a:rPr>
              <a:t>表达式语句：</a:t>
            </a:r>
            <a:r>
              <a:rPr lang="zh-CN" altLang="en-US" b="1" dirty="0">
                <a:solidFill>
                  <a:srgbClr val="000099"/>
                </a:solidFill>
              </a:rPr>
              <a:t>在一个表达式末尾加上分号</a:t>
            </a:r>
            <a:r>
              <a:rPr lang="zh-CN" altLang="en-US" b="1" dirty="0">
                <a:solidFill>
                  <a:srgbClr val="FF0000"/>
                </a:solidFill>
                <a:latin typeface="宋体" panose="02010600030101010101" pitchFamily="2" charset="-122"/>
              </a:rPr>
              <a:t>“</a:t>
            </a:r>
            <a:r>
              <a:rPr lang="zh-CN" altLang="en-US" b="1" dirty="0">
                <a:solidFill>
                  <a:srgbClr val="FF0000"/>
                </a:solidFill>
              </a:rPr>
              <a:t>；</a:t>
            </a:r>
            <a:r>
              <a:rPr lang="zh-CN" altLang="en-US" b="1" dirty="0">
                <a:solidFill>
                  <a:srgbClr val="FF0000"/>
                </a:solidFill>
                <a:latin typeface="宋体" panose="02010600030101010101" pitchFamily="2" charset="-122"/>
              </a:rPr>
              <a:t>”</a:t>
            </a:r>
            <a:r>
              <a:rPr lang="zh-CN" altLang="en-US" b="1" dirty="0">
                <a:solidFill>
                  <a:srgbClr val="000099"/>
                </a:solidFill>
              </a:rPr>
              <a:t>（分号是</a:t>
            </a:r>
            <a:r>
              <a:rPr lang="en-US" altLang="zh-CN" b="1" dirty="0">
                <a:solidFill>
                  <a:srgbClr val="000099"/>
                </a:solidFill>
              </a:rPr>
              <a:t>C</a:t>
            </a:r>
            <a:r>
              <a:rPr lang="zh-CN" altLang="en-US" b="1" dirty="0">
                <a:solidFill>
                  <a:srgbClr val="000099"/>
                </a:solidFill>
              </a:rPr>
              <a:t>语言中语句的结束符）</a:t>
            </a:r>
            <a:r>
              <a:rPr lang="zh-CN" altLang="en-US" b="1" dirty="0"/>
              <a:t>。</a:t>
            </a:r>
            <a:endParaRPr lang="en-US" altLang="zh-CN" b="1" dirty="0"/>
          </a:p>
        </p:txBody>
      </p:sp>
      <p:sp>
        <p:nvSpPr>
          <p:cNvPr id="252934" name="Text Box 6"/>
          <p:cNvSpPr txBox="1"/>
          <p:nvPr/>
        </p:nvSpPr>
        <p:spPr>
          <a:xfrm>
            <a:off x="611188" y="3659331"/>
            <a:ext cx="8228012" cy="2462213"/>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algn="just">
              <a:spcBef>
                <a:spcPct val="50000"/>
              </a:spcBef>
              <a:buNone/>
            </a:pPr>
            <a:r>
              <a:rPr lang="en-US" altLang="zh-CN" b="1" dirty="0">
                <a:latin typeface="宋体" panose="02010600030101010101" pitchFamily="2" charset="-122"/>
                <a:cs typeface="Times New Roman" panose="02020603050405020304" pitchFamily="18" charset="0"/>
              </a:rPr>
              <a:t>;	(</a:t>
            </a:r>
            <a:r>
              <a:rPr lang="zh-CN" altLang="en-US" b="1" dirty="0">
                <a:latin typeface="宋体" panose="02010600030101010101" pitchFamily="2" charset="-122"/>
                <a:cs typeface="Times New Roman" panose="02020603050405020304" pitchFamily="18" charset="0"/>
              </a:rPr>
              <a:t>空语句，常用于</a:t>
            </a:r>
            <a:r>
              <a:rPr lang="en-US" altLang="zh-CN" b="1" dirty="0">
                <a:latin typeface="宋体" panose="02010600030101010101" pitchFamily="2" charset="-122"/>
                <a:cs typeface="Times New Roman" panose="02020603050405020304" pitchFamily="18" charset="0"/>
              </a:rPr>
              <a:t>if-else</a:t>
            </a:r>
            <a:r>
              <a:rPr lang="zh-CN" altLang="en-US" b="1" dirty="0">
                <a:latin typeface="宋体" panose="02010600030101010101" pitchFamily="2" charset="-122"/>
                <a:cs typeface="Times New Roman" panose="02020603050405020304" pitchFamily="18" charset="0"/>
              </a:rPr>
              <a:t>结构</a:t>
            </a:r>
            <a:r>
              <a:rPr lang="en-US" altLang="zh-CN" b="1" dirty="0">
                <a:latin typeface="宋体" panose="02010600030101010101" pitchFamily="2" charset="-122"/>
                <a:cs typeface="Times New Roman" panose="02020603050405020304" pitchFamily="18" charset="0"/>
              </a:rPr>
              <a:t>)</a:t>
            </a:r>
          </a:p>
          <a:p>
            <a:pPr marL="0" lvl="0" indent="0" algn="just">
              <a:spcBef>
                <a:spcPct val="50000"/>
              </a:spcBef>
              <a:buNone/>
            </a:pPr>
            <a:r>
              <a:rPr lang="en-US" altLang="zh-CN" b="1" dirty="0" err="1">
                <a:latin typeface="宋体" panose="02010600030101010101" pitchFamily="2" charset="-122"/>
                <a:cs typeface="Times New Roman" panose="02020603050405020304" pitchFamily="18" charset="0"/>
              </a:rPr>
              <a:t>i</a:t>
            </a:r>
            <a:r>
              <a:rPr lang="en-US" altLang="zh-CN" b="1" dirty="0"/>
              <a:t>&lt;j;</a:t>
            </a:r>
            <a:r>
              <a:rPr lang="zh-CN" altLang="en-US" b="1" dirty="0"/>
              <a:t>（一个表达式语句，但值被丢弃）</a:t>
            </a:r>
            <a:endParaRPr lang="zh-CN" altLang="en-US" b="1" dirty="0">
              <a:latin typeface="宋体" panose="02010600030101010101" pitchFamily="2" charset="-122"/>
              <a:cs typeface="Times New Roman" panose="02020603050405020304" pitchFamily="18" charset="0"/>
            </a:endParaRPr>
          </a:p>
          <a:p>
            <a:pPr marL="0" lvl="0" indent="0" algn="just">
              <a:spcBef>
                <a:spcPct val="50000"/>
              </a:spcBef>
              <a:buNone/>
            </a:pPr>
            <a:r>
              <a:rPr lang="en-US" altLang="zh-CN" b="1" dirty="0"/>
              <a:t>i = i + 10 * j;</a:t>
            </a:r>
            <a:r>
              <a:rPr lang="zh-CN" altLang="en-US" b="1" dirty="0"/>
              <a:t>（赋值表达式语句） </a:t>
            </a:r>
          </a:p>
          <a:p>
            <a:pPr marL="0" lvl="0" indent="0" algn="just">
              <a:spcBef>
                <a:spcPct val="50000"/>
              </a:spcBef>
              <a:buNone/>
            </a:pPr>
            <a:r>
              <a:rPr lang="en-US" altLang="zh-CN" b="1" dirty="0"/>
              <a:t>printf(“age=%d</a:t>
            </a:r>
            <a:r>
              <a:rPr lang="zh-CN" altLang="en-US" b="1" dirty="0"/>
              <a:t>”</a:t>
            </a:r>
            <a:r>
              <a:rPr lang="en-US" altLang="zh-CN" b="1" dirty="0"/>
              <a:t>,getage());</a:t>
            </a:r>
            <a:r>
              <a:rPr lang="zh-CN" altLang="en-US" b="1" dirty="0"/>
              <a:t>（函数调用表达式）</a:t>
            </a:r>
          </a:p>
        </p:txBody>
      </p:sp>
      <p:sp>
        <p:nvSpPr>
          <p:cNvPr id="24581" name="Rectangle 8"/>
          <p:cNvSpPr>
            <a:spLocks noGrp="1"/>
          </p:cNvSpPr>
          <p:nvPr>
            <p:ph type="title"/>
          </p:nvPr>
        </p:nvSpPr>
        <p:spPr>
          <a:ln/>
        </p:spPr>
        <p:txBody>
          <a:bodyPr vert="horz" wrap="square" lIns="91440" tIns="45720" rIns="91440" bIns="45720" anchor="ctr"/>
          <a:lstStyle/>
          <a:p>
            <a:pPr eaLnBrk="1" hangingPunct="1"/>
            <a:r>
              <a:rPr lang="en-US" altLang="zh-CN" b="1" dirty="0"/>
              <a:t>3.2 </a:t>
            </a:r>
            <a:r>
              <a:rPr lang="zh-CN" altLang="en-US" b="1" dirty="0"/>
              <a:t>语句</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52932">
                                            <p:txEl>
                                              <p:pRg st="2" end="2"/>
                                            </p:txEl>
                                          </p:spTgt>
                                        </p:tgtEl>
                                        <p:attrNameLst>
                                          <p:attrName>style.visibility</p:attrName>
                                        </p:attrNameLst>
                                      </p:cBhvr>
                                      <p:to>
                                        <p:strVal val="visible"/>
                                      </p:to>
                                    </p:set>
                                    <p:animEffect transition="in" filter="dissolve">
                                      <p:cBhvr>
                                        <p:cTn id="7" dur="500"/>
                                        <p:tgtEl>
                                          <p:spTgt spid="25293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52934"/>
                                        </p:tgtEl>
                                        <p:attrNameLst>
                                          <p:attrName>style.visibility</p:attrName>
                                        </p:attrNameLst>
                                      </p:cBhvr>
                                      <p:to>
                                        <p:strVal val="visible"/>
                                      </p:to>
                                    </p:set>
                                    <p:animEffect transition="in" filter="dissolve">
                                      <p:cBhvr>
                                        <p:cTn id="12" dur="500"/>
                                        <p:tgtEl>
                                          <p:spTgt spid="2529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4"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txBox="1">
            <a:spLocks noGrp="1"/>
          </p:cNvSpPr>
          <p:nvPr>
            <p:ph type="sldNum" sz="quarter" idx="12"/>
          </p:nvPr>
        </p:nvSpPr>
        <p:spPr>
          <a:ln/>
        </p:spPr>
        <p:txBody>
          <a:bodyPr/>
          <a:lstStyle/>
          <a:p>
            <a:pPr marL="0" indent="0" algn="r" eaLnBrk="1" hangingPunct="1">
              <a:spcBef>
                <a:spcPct val="50000"/>
              </a:spcBef>
              <a:buNone/>
            </a:pPr>
            <a:fld id="{9A0DB2DC-4C9A-4742-B13C-FB6460FD3503}" type="slidenum">
              <a:rPr lang="zh-CN" altLang="en-US" sz="1400" b="1" dirty="0"/>
              <a:t>57</a:t>
            </a:fld>
            <a:endParaRPr lang="zh-CN" altLang="en-US" sz="1400" b="1" dirty="0"/>
          </a:p>
        </p:txBody>
      </p:sp>
      <p:sp>
        <p:nvSpPr>
          <p:cNvPr id="26627" name="Rectangle 4"/>
          <p:cNvSpPr>
            <a:spLocks noGrp="1"/>
          </p:cNvSpPr>
          <p:nvPr>
            <p:ph idx="1"/>
          </p:nvPr>
        </p:nvSpPr>
        <p:spPr>
          <a:xfrm>
            <a:off x="495300" y="1371600"/>
            <a:ext cx="8305800" cy="2057400"/>
          </a:xfrm>
          <a:ln/>
        </p:spPr>
        <p:txBody>
          <a:bodyPr vert="horz" wrap="square" lIns="92075" tIns="46038" rIns="92075" bIns="46038" anchor="t"/>
          <a:lstStyle/>
          <a:p>
            <a:pPr eaLnBrk="1" hangingPunct="1">
              <a:buNone/>
            </a:pPr>
            <a:r>
              <a:rPr lang="zh-CN" altLang="en-US" b="1" dirty="0"/>
              <a:t>二、</a:t>
            </a:r>
            <a:r>
              <a:rPr lang="zh-CN" altLang="en-US" b="1" dirty="0">
                <a:latin typeface="宋体" panose="02010600030101010101" pitchFamily="2" charset="-122"/>
              </a:rPr>
              <a:t>复合语句</a:t>
            </a:r>
            <a:r>
              <a:rPr lang="zh-CN" altLang="en-US" b="1" dirty="0"/>
              <a:t> </a:t>
            </a:r>
          </a:p>
          <a:p>
            <a:pPr algn="just" eaLnBrk="1" hangingPunct="1">
              <a:buNone/>
            </a:pPr>
            <a:r>
              <a:rPr lang="zh-CN" altLang="en-US" b="1" dirty="0">
                <a:latin typeface="宋体" panose="02010600030101010101" pitchFamily="2" charset="-122"/>
              </a:rPr>
              <a:t> 复合语句是包含</a:t>
            </a:r>
            <a:r>
              <a:rPr lang="zh-CN" altLang="en-US" b="1" u="sng" dirty="0">
                <a:solidFill>
                  <a:srgbClr val="000099"/>
                </a:solidFill>
                <a:latin typeface="宋体" panose="02010600030101010101" pitchFamily="2" charset="-122"/>
                <a:cs typeface="Times New Roman" panose="02020603050405020304" pitchFamily="18" charset="0"/>
              </a:rPr>
              <a:t>零</a:t>
            </a:r>
            <a:r>
              <a:rPr lang="zh-CN" altLang="en-US" b="1" u="sng" dirty="0">
                <a:solidFill>
                  <a:srgbClr val="000099"/>
                </a:solidFill>
                <a:latin typeface="宋体" panose="02010600030101010101" pitchFamily="2" charset="-122"/>
              </a:rPr>
              <a:t>个或多个语句</a:t>
            </a:r>
            <a:r>
              <a:rPr lang="zh-CN" altLang="en-US" b="1" dirty="0">
                <a:latin typeface="宋体" panose="02010600030101010101" pitchFamily="2" charset="-122"/>
              </a:rPr>
              <a:t>的代码单元，使得一组语句</a:t>
            </a:r>
            <a:r>
              <a:rPr lang="zh-CN" altLang="en-US" b="1" u="sng" dirty="0">
                <a:solidFill>
                  <a:srgbClr val="000099"/>
                </a:solidFill>
                <a:latin typeface="宋体" panose="02010600030101010101" pitchFamily="2" charset="-122"/>
              </a:rPr>
              <a:t>成为一个整体</a:t>
            </a:r>
            <a:r>
              <a:rPr lang="zh-CN" altLang="en-US" b="1" dirty="0">
                <a:latin typeface="宋体" panose="02010600030101010101" pitchFamily="2" charset="-122"/>
              </a:rPr>
              <a:t>，也被称为</a:t>
            </a:r>
            <a:r>
              <a:rPr lang="zh-CN" altLang="en-US" b="1" u="sng" dirty="0">
                <a:solidFill>
                  <a:srgbClr val="000099"/>
                </a:solidFill>
                <a:latin typeface="宋体" panose="02010600030101010101" pitchFamily="2" charset="-122"/>
              </a:rPr>
              <a:t>块</a:t>
            </a:r>
            <a:r>
              <a:rPr lang="zh-CN" altLang="en-US" b="1" dirty="0">
                <a:latin typeface="宋体" panose="02010600030101010101" pitchFamily="2" charset="-122"/>
              </a:rPr>
              <a:t>。</a:t>
            </a:r>
            <a:endParaRPr lang="en-US" altLang="zh-CN" b="1" dirty="0">
              <a:latin typeface="宋体" panose="02010600030101010101" pitchFamily="2" charset="-122"/>
            </a:endParaRPr>
          </a:p>
        </p:txBody>
      </p:sp>
      <p:sp>
        <p:nvSpPr>
          <p:cNvPr id="254981" name="Text Box 5"/>
          <p:cNvSpPr txBox="1"/>
          <p:nvPr/>
        </p:nvSpPr>
        <p:spPr>
          <a:xfrm>
            <a:off x="755650" y="2924175"/>
            <a:ext cx="7696200" cy="27400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algn="just" eaLnBrk="1" hangingPunct="1">
              <a:lnSpc>
                <a:spcPct val="90000"/>
              </a:lnSpc>
              <a:buClr>
                <a:schemeClr val="accent2"/>
              </a:buClr>
              <a:buSzPct val="75000"/>
              <a:buFont typeface="Monotype Sorts" pitchFamily="2" charset="2"/>
              <a:buNone/>
            </a:pPr>
            <a:r>
              <a:rPr lang="zh-CN" altLang="en-US" b="1" dirty="0">
                <a:latin typeface="宋体" panose="02010600030101010101" pitchFamily="2" charset="-122"/>
              </a:rPr>
              <a:t>在</a:t>
            </a:r>
            <a:r>
              <a:rPr lang="en-US" altLang="zh-CN" b="1" dirty="0">
                <a:latin typeface="宋体" panose="02010600030101010101" pitchFamily="2" charset="-122"/>
                <a:cs typeface="Times New Roman" panose="02020603050405020304" pitchFamily="18" charset="0"/>
              </a:rPr>
              <a:t>C</a:t>
            </a:r>
            <a:r>
              <a:rPr lang="zh-CN" altLang="en-US" b="1" dirty="0">
                <a:latin typeface="宋体" panose="02010600030101010101" pitchFamily="2" charset="-122"/>
              </a:rPr>
              <a:t>语言中，复合语句由</a:t>
            </a:r>
            <a:r>
              <a:rPr lang="zh-CN" altLang="en-US" b="1" u="sng" dirty="0">
                <a:solidFill>
                  <a:srgbClr val="2D35D3"/>
                </a:solidFill>
                <a:latin typeface="宋体" panose="02010600030101010101" pitchFamily="2" charset="-122"/>
              </a:rPr>
              <a:t>一个左花括号、可选语句段、一个右花括号</a:t>
            </a:r>
            <a:r>
              <a:rPr lang="zh-CN" altLang="en-US" b="1" dirty="0">
                <a:latin typeface="宋体" panose="02010600030101010101" pitchFamily="2" charset="-122"/>
              </a:rPr>
              <a:t>组成。如：</a:t>
            </a:r>
          </a:p>
          <a:p>
            <a:pPr marL="0" lvl="0" indent="0" algn="just" eaLnBrk="1" hangingPunct="1">
              <a:lnSpc>
                <a:spcPct val="90000"/>
              </a:lnSpc>
              <a:buClr>
                <a:schemeClr val="accent2"/>
              </a:buClr>
              <a:buSzPct val="75000"/>
              <a:buFont typeface="Monotype Sorts" pitchFamily="2" charset="2"/>
              <a:buNone/>
            </a:pPr>
            <a:r>
              <a:rPr lang="zh-CN" altLang="en-US" b="1" dirty="0">
                <a:latin typeface="宋体" panose="02010600030101010101" pitchFamily="2" charset="-122"/>
              </a:rPr>
              <a:t>	   </a:t>
            </a:r>
            <a:r>
              <a:rPr lang="zh-CN" altLang="en-US" b="1" dirty="0">
                <a:latin typeface="宋体" panose="02010600030101010101" pitchFamily="2" charset="-122"/>
                <a:cs typeface="Times New Roman" panose="02020603050405020304" pitchFamily="18" charset="0"/>
              </a:rPr>
              <a:t>{</a:t>
            </a:r>
          </a:p>
          <a:p>
            <a:pPr marL="0" lvl="0" indent="0" algn="just" eaLnBrk="1" hangingPunct="1">
              <a:lnSpc>
                <a:spcPct val="90000"/>
              </a:lnSpc>
              <a:buClr>
                <a:schemeClr val="accent2"/>
              </a:buClr>
              <a:buSzPct val="75000"/>
              <a:buFont typeface="Monotype Sorts" pitchFamily="2" charset="2"/>
              <a:buNone/>
            </a:pPr>
            <a:r>
              <a:rPr lang="zh-CN" altLang="en-US" b="1" dirty="0">
                <a:latin typeface="宋体" panose="02010600030101010101" pitchFamily="2" charset="-122"/>
                <a:cs typeface="Times New Roman" panose="02020603050405020304" pitchFamily="18" charset="0"/>
              </a:rPr>
              <a:t>		</a:t>
            </a:r>
            <a:r>
              <a:rPr lang="en-US" altLang="zh-CN" b="1" dirty="0">
                <a:latin typeface="宋体" panose="02010600030101010101" pitchFamily="2" charset="-122"/>
                <a:cs typeface="Times New Roman" panose="02020603050405020304" pitchFamily="18" charset="0"/>
              </a:rPr>
              <a:t>i = 1;</a:t>
            </a:r>
          </a:p>
          <a:p>
            <a:pPr marL="0" lvl="0" indent="0" algn="just" eaLnBrk="1" hangingPunct="1">
              <a:lnSpc>
                <a:spcPct val="90000"/>
              </a:lnSpc>
              <a:buClr>
                <a:schemeClr val="accent2"/>
              </a:buClr>
              <a:buSzPct val="75000"/>
              <a:buFont typeface="Monotype Sorts" pitchFamily="2" charset="2"/>
              <a:buNone/>
            </a:pPr>
            <a:r>
              <a:rPr lang="en-US" altLang="zh-CN" b="1" dirty="0">
                <a:latin typeface="宋体" panose="02010600030101010101" pitchFamily="2" charset="-122"/>
                <a:cs typeface="Times New Roman" panose="02020603050405020304" pitchFamily="18" charset="0"/>
              </a:rPr>
              <a:t>		j = 2 * i;</a:t>
            </a:r>
          </a:p>
          <a:p>
            <a:pPr marL="0" lvl="0" indent="0" algn="just" eaLnBrk="1" hangingPunct="1">
              <a:lnSpc>
                <a:spcPct val="90000"/>
              </a:lnSpc>
              <a:buClr>
                <a:schemeClr val="accent2"/>
              </a:buClr>
              <a:buSzPct val="75000"/>
              <a:buFont typeface="Monotype Sorts" pitchFamily="2" charset="2"/>
              <a:buNone/>
            </a:pPr>
            <a:r>
              <a:rPr lang="en-US" altLang="zh-CN" b="1" dirty="0">
                <a:latin typeface="宋体" panose="02010600030101010101" pitchFamily="2" charset="-122"/>
              </a:rPr>
              <a:t>    	   }</a:t>
            </a:r>
          </a:p>
        </p:txBody>
      </p:sp>
      <p:sp>
        <p:nvSpPr>
          <p:cNvPr id="26629" name="Rectangle 8"/>
          <p:cNvSpPr>
            <a:spLocks noGrp="1"/>
          </p:cNvSpPr>
          <p:nvPr>
            <p:ph type="title"/>
          </p:nvPr>
        </p:nvSpPr>
        <p:spPr>
          <a:ln/>
        </p:spPr>
        <p:txBody>
          <a:bodyPr vert="horz" wrap="square" lIns="91440" tIns="45720" rIns="91440" bIns="45720" anchor="ctr"/>
          <a:lstStyle/>
          <a:p>
            <a:pPr eaLnBrk="1" hangingPunct="1"/>
            <a:r>
              <a:rPr lang="en-US" altLang="zh-CN" b="1" dirty="0"/>
              <a:t>3.2 </a:t>
            </a:r>
            <a:r>
              <a:rPr lang="zh-CN" altLang="en-US" b="1" dirty="0"/>
              <a:t>语句</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4981"/>
                                        </p:tgtEl>
                                        <p:attrNameLst>
                                          <p:attrName>style.visibility</p:attrName>
                                        </p:attrNameLst>
                                      </p:cBhvr>
                                      <p:to>
                                        <p:strVal val="visible"/>
                                      </p:to>
                                    </p:set>
                                    <p:animEffect transition="in" filter="dissolve">
                                      <p:cBhvr>
                                        <p:cTn id="7" dur="500"/>
                                        <p:tgtEl>
                                          <p:spTgt spid="2549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81"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灯片编号占位符 5">
            <a:extLst>
              <a:ext uri="{FF2B5EF4-FFF2-40B4-BE49-F238E27FC236}">
                <a16:creationId xmlns:a16="http://schemas.microsoft.com/office/drawing/2014/main" id="{4D8C09AA-9897-42E3-A2AA-9701DB03E39B}"/>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a:spcBef>
                <a:spcPct val="50000"/>
              </a:spcBef>
            </a:pPr>
            <a:fld id="{CCE19488-EB2B-43DC-B722-F1ED13DD5D2E}" type="slidenum">
              <a:rPr lang="zh-CN" altLang="en-US" sz="1400"/>
              <a:pPr algn="r">
                <a:spcBef>
                  <a:spcPct val="50000"/>
                </a:spcBef>
              </a:pPr>
              <a:t>58</a:t>
            </a:fld>
            <a:endParaRPr lang="zh-CN" altLang="en-US" sz="1400"/>
          </a:p>
        </p:txBody>
      </p:sp>
      <p:sp>
        <p:nvSpPr>
          <p:cNvPr id="60418" name="Rectangle 7">
            <a:extLst>
              <a:ext uri="{FF2B5EF4-FFF2-40B4-BE49-F238E27FC236}">
                <a16:creationId xmlns:a16="http://schemas.microsoft.com/office/drawing/2014/main" id="{5FEEA750-1701-4143-8B18-F6964F4605C8}"/>
              </a:ext>
            </a:extLst>
          </p:cNvPr>
          <p:cNvSpPr>
            <a:spLocks noGrp="1" noChangeArrowheads="1"/>
          </p:cNvSpPr>
          <p:nvPr>
            <p:ph type="title" idx="4294967295"/>
          </p:nvPr>
        </p:nvSpPr>
        <p:spPr/>
        <p:txBody>
          <a:bodyPr/>
          <a:lstStyle/>
          <a:p>
            <a:pPr eaLnBrk="1" hangingPunct="1"/>
            <a:r>
              <a:rPr lang="zh-CN" altLang="en-US" b="1" dirty="0"/>
              <a:t>控制语句</a:t>
            </a:r>
          </a:p>
        </p:txBody>
      </p:sp>
      <p:sp>
        <p:nvSpPr>
          <p:cNvPr id="60419" name="Text Box 4">
            <a:extLst>
              <a:ext uri="{FF2B5EF4-FFF2-40B4-BE49-F238E27FC236}">
                <a16:creationId xmlns:a16="http://schemas.microsoft.com/office/drawing/2014/main" id="{3D72D824-BB49-46A7-B4D8-14CE043A63AA}"/>
              </a:ext>
            </a:extLst>
          </p:cNvPr>
          <p:cNvSpPr txBox="1">
            <a:spLocks noChangeArrowheads="1"/>
          </p:cNvSpPr>
          <p:nvPr/>
        </p:nvSpPr>
        <p:spPr bwMode="auto">
          <a:xfrm>
            <a:off x="665163" y="1416050"/>
            <a:ext cx="76327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buClr>
                <a:schemeClr val="accent2"/>
              </a:buClr>
              <a:buSzPct val="75000"/>
              <a:buFont typeface="Monotype Sorts" pitchFamily="2" charset="2"/>
              <a:buChar char="u"/>
            </a:pPr>
            <a:r>
              <a:rPr lang="zh-CN" altLang="en-US" sz="2800" dirty="0">
                <a:latin typeface="宋体" panose="02010600030101010101" pitchFamily="2" charset="-122"/>
                <a:sym typeface="宋体" panose="02010600030101010101" pitchFamily="2" charset="-122"/>
              </a:rPr>
              <a:t>计算机中的指令除了运算，还需要控制语句的执行序列，如：是非选择、多项选择、周而复始的循环、中断、意外终止等。</a:t>
            </a:r>
          </a:p>
        </p:txBody>
      </p:sp>
      <p:sp>
        <p:nvSpPr>
          <p:cNvPr id="5" name="Text Box 2">
            <a:extLst>
              <a:ext uri="{FF2B5EF4-FFF2-40B4-BE49-F238E27FC236}">
                <a16:creationId xmlns:a16="http://schemas.microsoft.com/office/drawing/2014/main" id="{5B2B1C2B-DB0F-478F-99A0-69EC3E020813}"/>
              </a:ext>
            </a:extLst>
          </p:cNvPr>
          <p:cNvSpPr txBox="1">
            <a:spLocks noChangeArrowheads="1"/>
          </p:cNvSpPr>
          <p:nvPr/>
        </p:nvSpPr>
        <p:spPr bwMode="auto">
          <a:xfrm>
            <a:off x="395536" y="2996952"/>
            <a:ext cx="7696200" cy="2566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20000"/>
              </a:spcBef>
            </a:pPr>
            <a:r>
              <a:rPr lang="zh-CN" altLang="en-US" sz="2400" dirty="0">
                <a:latin typeface="宋体" panose="02010600030101010101" pitchFamily="2" charset="-122"/>
              </a:rPr>
              <a:t> </a:t>
            </a:r>
            <a:r>
              <a:rPr lang="zh-CN" altLang="en-US" sz="2400" b="1" dirty="0"/>
              <a:t>	</a:t>
            </a:r>
            <a:r>
              <a:rPr lang="en-US" altLang="en-US" sz="2400" b="1" dirty="0"/>
              <a:t>1  if() ~else </a:t>
            </a:r>
            <a:r>
              <a:rPr lang="zh-CN" altLang="zh-CN" sz="2400" b="1" dirty="0"/>
              <a:t>条件</a:t>
            </a:r>
            <a:r>
              <a:rPr lang="zh-CN" altLang="en-US" sz="2400" b="1" dirty="0"/>
              <a:t>语句          </a:t>
            </a:r>
            <a:r>
              <a:rPr lang="en-US" altLang="zh-CN" sz="2400" b="1" dirty="0"/>
              <a:t>6 break   </a:t>
            </a:r>
            <a:r>
              <a:rPr lang="zh-CN" altLang="en-US" sz="2400" b="1" dirty="0"/>
              <a:t>间断语句  </a:t>
            </a:r>
          </a:p>
          <a:p>
            <a:pPr eaLnBrk="0" hangingPunct="0">
              <a:spcBef>
                <a:spcPct val="20000"/>
              </a:spcBef>
            </a:pPr>
            <a:r>
              <a:rPr lang="zh-CN" altLang="en-US" sz="2400" b="1" dirty="0"/>
              <a:t>	</a:t>
            </a:r>
            <a:r>
              <a:rPr lang="en-US" altLang="en-US" sz="2400" b="1" dirty="0"/>
              <a:t>2  for()~ </a:t>
            </a:r>
            <a:r>
              <a:rPr lang="zh-CN" altLang="zh-CN" sz="2400" b="1" dirty="0"/>
              <a:t>循环</a:t>
            </a:r>
            <a:r>
              <a:rPr lang="zh-CN" altLang="en-US" sz="2400" b="1" dirty="0"/>
              <a:t>语句              </a:t>
            </a:r>
            <a:r>
              <a:rPr lang="zh-CN" altLang="zh-CN" sz="2400" b="1" dirty="0"/>
              <a:t>7 </a:t>
            </a:r>
            <a:r>
              <a:rPr lang="en-US" altLang="zh-CN" sz="2400" b="1" dirty="0"/>
              <a:t>switch() </a:t>
            </a:r>
            <a:r>
              <a:rPr lang="zh-CN" altLang="en-US" sz="2400" b="1" dirty="0"/>
              <a:t>开关语句</a:t>
            </a:r>
          </a:p>
          <a:p>
            <a:pPr eaLnBrk="0" hangingPunct="0">
              <a:spcBef>
                <a:spcPct val="20000"/>
              </a:spcBef>
            </a:pPr>
            <a:r>
              <a:rPr lang="zh-CN" altLang="en-US" sz="2400" b="1" dirty="0"/>
              <a:t>	</a:t>
            </a:r>
            <a:r>
              <a:rPr lang="en-US" altLang="en-US" sz="2400" b="1" dirty="0"/>
              <a:t>3  while()~</a:t>
            </a:r>
            <a:r>
              <a:rPr lang="zh-CN" altLang="zh-CN" sz="2400" b="1" dirty="0"/>
              <a:t>循环</a:t>
            </a:r>
            <a:r>
              <a:rPr lang="zh-CN" altLang="en-US" sz="2400" b="1" dirty="0"/>
              <a:t>语句</a:t>
            </a:r>
            <a:r>
              <a:rPr lang="en-US" altLang="zh-CN" sz="2400" b="1" dirty="0"/>
              <a:t>	         8</a:t>
            </a:r>
            <a:r>
              <a:rPr lang="zh-CN" altLang="zh-CN" sz="2400" b="1" dirty="0"/>
              <a:t>  </a:t>
            </a:r>
            <a:r>
              <a:rPr lang="en-US" altLang="zh-CN" sz="2400" b="1" dirty="0"/>
              <a:t>return  </a:t>
            </a:r>
            <a:r>
              <a:rPr lang="zh-CN" altLang="en-US" sz="2400" b="1" dirty="0"/>
              <a:t>返回语句</a:t>
            </a:r>
          </a:p>
          <a:p>
            <a:pPr eaLnBrk="0" hangingPunct="0">
              <a:spcBef>
                <a:spcPct val="20000"/>
              </a:spcBef>
            </a:pPr>
            <a:r>
              <a:rPr lang="zh-CN" altLang="en-US" sz="2400" b="1" dirty="0"/>
              <a:t>	</a:t>
            </a:r>
            <a:r>
              <a:rPr lang="en-US" altLang="en-US" sz="2400" b="1" dirty="0"/>
              <a:t>4  do ~while();</a:t>
            </a:r>
            <a:r>
              <a:rPr lang="zh-CN" altLang="zh-CN" sz="2400" b="1" dirty="0"/>
              <a:t>循环</a:t>
            </a:r>
            <a:r>
              <a:rPr lang="zh-CN" altLang="en-US" sz="2400" b="1" dirty="0"/>
              <a:t>语句</a:t>
            </a:r>
          </a:p>
          <a:p>
            <a:pPr eaLnBrk="0" hangingPunct="0">
              <a:spcBef>
                <a:spcPct val="20000"/>
              </a:spcBef>
            </a:pPr>
            <a:r>
              <a:rPr lang="zh-CN" altLang="en-US" sz="2400" b="1" dirty="0"/>
              <a:t>	</a:t>
            </a:r>
            <a:r>
              <a:rPr lang="en-US" altLang="en-US" sz="2400" b="1" dirty="0"/>
              <a:t>5 continue </a:t>
            </a:r>
            <a:r>
              <a:rPr lang="zh-CN" altLang="zh-CN" sz="2400" b="1" dirty="0"/>
              <a:t>继续</a:t>
            </a:r>
            <a:r>
              <a:rPr lang="zh-CN" altLang="en-US" sz="2400" b="1" dirty="0"/>
              <a:t>语句</a:t>
            </a:r>
          </a:p>
          <a:p>
            <a:pPr>
              <a:lnSpc>
                <a:spcPct val="90000"/>
              </a:lnSpc>
              <a:buClr>
                <a:schemeClr val="accent2"/>
              </a:buClr>
              <a:buSzPct val="75000"/>
              <a:buFont typeface="Monotype Sorts" pitchFamily="2" charset="2"/>
              <a:buNone/>
            </a:pPr>
            <a:endParaRPr lang="zh-CN" altLang="en-US" sz="2400" dirty="0">
              <a:latin typeface="宋体" panose="02010600030101010101" pitchFamily="2" charset="-122"/>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p:txBody>
          <a:bodyPr vert="horz" wrap="square" lIns="91440" tIns="45720" rIns="91440" bIns="45720" anchor="ctr"/>
          <a:lstStyle/>
          <a:p>
            <a:pPr eaLnBrk="1" hangingPunct="1"/>
            <a:r>
              <a:rPr lang="zh-CN" altLang="en-US" dirty="0"/>
              <a:t>输入输出语句参数</a:t>
            </a:r>
            <a:endParaRPr lang="en-US" altLang="zh-CN" dirty="0"/>
          </a:p>
        </p:txBody>
      </p:sp>
      <p:sp>
        <p:nvSpPr>
          <p:cNvPr id="3" name="内容占位符 2">
            <a:extLst>
              <a:ext uri="{FF2B5EF4-FFF2-40B4-BE49-F238E27FC236}">
                <a16:creationId xmlns:a16="http://schemas.microsoft.com/office/drawing/2014/main" id="{BB1014BB-4ADD-44E1-B8C8-C15B60DE2681}"/>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478D64DF-BE89-454B-B967-A492BE418176}"/>
              </a:ext>
            </a:extLst>
          </p:cNvPr>
          <p:cNvPicPr>
            <a:picLocks noChangeAspect="1"/>
          </p:cNvPicPr>
          <p:nvPr/>
        </p:nvPicPr>
        <p:blipFill>
          <a:blip r:embed="rId2"/>
          <a:stretch>
            <a:fillRect/>
          </a:stretch>
        </p:blipFill>
        <p:spPr>
          <a:xfrm>
            <a:off x="438150" y="47625"/>
            <a:ext cx="8267700" cy="6810375"/>
          </a:xfrm>
          <a:prstGeom prst="rect">
            <a:avLst/>
          </a:prstGeom>
        </p:spPr>
      </p:pic>
    </p:spTree>
    <p:extLst>
      <p:ext uri="{BB962C8B-B14F-4D97-AF65-F5344CB8AC3E}">
        <p14:creationId xmlns:p14="http://schemas.microsoft.com/office/powerpoint/2010/main" val="3386434167"/>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灯片编号占位符 4"/>
          <p:cNvSpPr txBox="1">
            <a:spLocks noGrp="1"/>
          </p:cNvSpPr>
          <p:nvPr>
            <p:ph type="sldNum" sz="quarter" idx="11"/>
          </p:nvPr>
        </p:nvSpPr>
        <p:spPr/>
        <p:txBody>
          <a:bodyPr wrap="square" lIns="68580" tIns="34290" rIns="68580" bIns="34290" anchor="t"/>
          <a:lstStyle/>
          <a:p>
            <a:pPr algn="r" eaLnBrk="1" hangingPunct="1">
              <a:spcBef>
                <a:spcPct val="50000"/>
              </a:spcBef>
            </a:pPr>
            <a:fld id="{9A0DB2DC-4C9A-4742-B13C-FB6460FD3503}" type="slidenum">
              <a:rPr lang="zh-CN" altLang="en-US" sz="1050" dirty="0"/>
              <a:t>60</a:t>
            </a:fld>
            <a:endParaRPr lang="zh-CN" altLang="en-US" sz="1050" dirty="0"/>
          </a:p>
        </p:txBody>
      </p:sp>
      <p:sp>
        <p:nvSpPr>
          <p:cNvPr id="71682" name="Rectangle 2"/>
          <p:cNvSpPr>
            <a:spLocks noGrp="1"/>
          </p:cNvSpPr>
          <p:nvPr>
            <p:ph type="title"/>
          </p:nvPr>
        </p:nvSpPr>
        <p:spPr/>
        <p:txBody>
          <a:bodyPr vert="horz" wrap="square" lIns="68580" tIns="34290" rIns="68580" bIns="34290" numCol="1" anchor="ctr" anchorCtr="0" compatLnSpc="1">
            <a:prstTxWarp prst="textNoShape">
              <a:avLst/>
            </a:prstTxWarp>
          </a:bodyPr>
          <a:lstStyle/>
          <a:p>
            <a:pPr eaLnBrk="1" hangingPunct="1"/>
            <a:r>
              <a:rPr lang="zh-CN" altLang="en-US" b="1" dirty="0"/>
              <a:t>结构化程序设计思想</a:t>
            </a:r>
          </a:p>
        </p:txBody>
      </p:sp>
      <p:pic>
        <p:nvPicPr>
          <p:cNvPr id="6156" name="Picture 11" descr="D:\图标库\编辑的元素\房子2.jpg"/>
          <p:cNvPicPr>
            <a:picLocks noChangeAspect="1"/>
          </p:cNvPicPr>
          <p:nvPr/>
        </p:nvPicPr>
        <p:blipFill>
          <a:blip r:embed="rId3">
            <a:clrChange>
              <a:clrFrom>
                <a:srgbClr val="FFFFFF"/>
              </a:clrFrom>
              <a:clrTo>
                <a:srgbClr val="FFFFFF">
                  <a:alpha val="0"/>
                </a:srgbClr>
              </a:clrTo>
            </a:clrChange>
          </a:blip>
          <a:stretch>
            <a:fillRect/>
          </a:stretch>
        </p:blipFill>
        <p:spPr>
          <a:xfrm>
            <a:off x="379334" y="1871425"/>
            <a:ext cx="1485900" cy="1196578"/>
          </a:xfrm>
          <a:prstGeom prst="rect">
            <a:avLst/>
          </a:prstGeom>
          <a:noFill/>
          <a:ln w="9525">
            <a:noFill/>
          </a:ln>
        </p:spPr>
      </p:pic>
      <p:grpSp>
        <p:nvGrpSpPr>
          <p:cNvPr id="6150" name="组合 6149"/>
          <p:cNvGrpSpPr/>
          <p:nvPr/>
        </p:nvGrpSpPr>
        <p:grpSpPr>
          <a:xfrm>
            <a:off x="2056448" y="1821180"/>
            <a:ext cx="6493669" cy="995363"/>
            <a:chOff x="0" y="0"/>
            <a:chExt cx="5454" cy="1043"/>
          </a:xfrm>
        </p:grpSpPr>
        <p:sp>
          <p:nvSpPr>
            <p:cNvPr id="6151" name="Rectangle 33"/>
            <p:cNvSpPr>
              <a:spLocks noChangeAspect="1"/>
            </p:cNvSpPr>
            <p:nvPr/>
          </p:nvSpPr>
          <p:spPr>
            <a:xfrm>
              <a:off x="184" y="0"/>
              <a:ext cx="5268" cy="1043"/>
            </a:xfrm>
            <a:prstGeom prst="rect">
              <a:avLst/>
            </a:prstGeom>
            <a:gradFill rotWithShape="0">
              <a:gsLst>
                <a:gs pos="0">
                  <a:srgbClr val="EAEAEA"/>
                </a:gs>
                <a:gs pos="50000">
                  <a:srgbClr val="D2D2D2"/>
                </a:gs>
                <a:gs pos="100000">
                  <a:srgbClr val="EAEAEA"/>
                </a:gs>
              </a:gsLst>
              <a:lin ang="18900000" scaled="1"/>
              <a:tileRect/>
            </a:gradFill>
            <a:ln w="25400" cap="flat" cmpd="sng">
              <a:solidFill>
                <a:srgbClr val="B2B2B2"/>
              </a:solidFill>
              <a:prstDash val="solid"/>
              <a:miter/>
              <a:headEnd type="none" w="med" len="med"/>
              <a:tailEnd type="none" w="med" len="med"/>
            </a:ln>
          </p:spPr>
          <p:txBody>
            <a:bodyPr wrap="none" anchor="ctr"/>
            <a:lstStyle/>
            <a:p>
              <a:pPr lvl="0" algn="ctr" eaLnBrk="1" hangingPunct="1">
                <a:spcBef>
                  <a:spcPct val="0"/>
                </a:spcBef>
                <a:buNone/>
              </a:pPr>
              <a:endParaRPr lang="zh-CN" altLang="en-US" dirty="0">
                <a:ea typeface="宋体" charset="-122"/>
              </a:endParaRPr>
            </a:p>
          </p:txBody>
        </p:sp>
        <p:sp>
          <p:nvSpPr>
            <p:cNvPr id="6152" name="Text Box 34"/>
            <p:cNvSpPr txBox="1"/>
            <p:nvPr/>
          </p:nvSpPr>
          <p:spPr>
            <a:xfrm>
              <a:off x="184" y="90"/>
              <a:ext cx="5270" cy="822"/>
            </a:xfrm>
            <a:prstGeom prst="rect">
              <a:avLst/>
            </a:prstGeom>
            <a:noFill/>
            <a:ln w="9525">
              <a:noFill/>
            </a:ln>
          </p:spPr>
          <p:txBody>
            <a:bodyPr wrap="square">
              <a:spAutoFit/>
            </a:bodyPr>
            <a:lstStyle/>
            <a:p>
              <a:pPr marL="257175" indent="-257175">
                <a:spcBef>
                  <a:spcPct val="50000"/>
                </a:spcBef>
              </a:pPr>
              <a:r>
                <a:rPr lang="zh-CN" altLang="en-US" dirty="0">
                  <a:ea typeface="楷体_GB2312" pitchFamily="1" charset="-122"/>
                </a:rPr>
                <a:t>    建筑物需要有良好的结构来抵御外界风险。</a:t>
              </a:r>
              <a:endParaRPr lang="en-US" altLang="x-none" dirty="0">
                <a:ea typeface="楷体_GB2312" pitchFamily="1" charset="-122"/>
              </a:endParaRPr>
            </a:p>
            <a:p>
              <a:pPr marL="257175" indent="-257175">
                <a:spcBef>
                  <a:spcPct val="50000"/>
                </a:spcBef>
              </a:pPr>
              <a:r>
                <a:rPr lang="en-US" altLang="x-none" dirty="0">
                  <a:ea typeface="楷体_GB2312" pitchFamily="1" charset="-122"/>
                </a:rPr>
                <a:t>     </a:t>
              </a:r>
              <a:r>
                <a:rPr lang="zh-CN" altLang="en-US" dirty="0">
                  <a:ea typeface="楷体_GB2312" pitchFamily="1" charset="-122"/>
                </a:rPr>
                <a:t>同样，</a:t>
              </a:r>
              <a:r>
                <a:rPr lang="zh-CN" altLang="en-US" dirty="0">
                  <a:ea typeface="宋体" charset="-122"/>
                </a:rPr>
                <a:t>一个程序也应该具有</a:t>
              </a:r>
              <a:r>
                <a:rPr lang="zh-CN" altLang="en-US" dirty="0">
                  <a:ea typeface="楷体_GB2312" pitchFamily="1" charset="-122"/>
                  <a:sym typeface="+mn-ea"/>
                </a:rPr>
                <a:t>良好的</a:t>
              </a:r>
              <a:r>
                <a:rPr lang="zh-CN" altLang="en-US" dirty="0">
                  <a:ea typeface="宋体" charset="-122"/>
                </a:rPr>
                <a:t>结构，易于理解和维护。</a:t>
              </a:r>
              <a:endParaRPr lang="en-US" altLang="x-none" dirty="0">
                <a:ea typeface="宋体" charset="-122"/>
              </a:endParaRPr>
            </a:p>
          </p:txBody>
        </p:sp>
        <p:grpSp>
          <p:nvGrpSpPr>
            <p:cNvPr id="6153" name="组合 6152"/>
            <p:cNvGrpSpPr/>
            <p:nvPr/>
          </p:nvGrpSpPr>
          <p:grpSpPr>
            <a:xfrm>
              <a:off x="0" y="0"/>
              <a:ext cx="388" cy="1043"/>
              <a:chOff x="0" y="0"/>
              <a:chExt cx="388" cy="1043"/>
            </a:xfrm>
          </p:grpSpPr>
          <p:sp>
            <p:nvSpPr>
              <p:cNvPr id="6154" name="Rectangle 37"/>
              <p:cNvSpPr/>
              <p:nvPr/>
            </p:nvSpPr>
            <p:spPr>
              <a:xfrm>
                <a:off x="3" y="0"/>
                <a:ext cx="363" cy="1043"/>
              </a:xfrm>
              <a:prstGeom prst="rect">
                <a:avLst/>
              </a:prstGeom>
              <a:gradFill rotWithShape="0">
                <a:gsLst>
                  <a:gs pos="0">
                    <a:srgbClr val="006C88"/>
                  </a:gs>
                  <a:gs pos="50000">
                    <a:srgbClr val="002029"/>
                  </a:gs>
                  <a:gs pos="100000">
                    <a:srgbClr val="006C88"/>
                  </a:gs>
                </a:gsLst>
                <a:lin ang="18900000" scaled="1"/>
                <a:tileRect/>
              </a:gradFill>
              <a:ln w="28575" cap="flat" cmpd="sng">
                <a:solidFill>
                  <a:srgbClr val="03C9FF"/>
                </a:solidFill>
                <a:prstDash val="solid"/>
                <a:miter/>
                <a:headEnd type="none" w="med" len="med"/>
                <a:tailEnd type="none" w="med" len="med"/>
              </a:ln>
            </p:spPr>
            <p:txBody>
              <a:bodyPr wrap="none" anchor="ctr"/>
              <a:lstStyle/>
              <a:p>
                <a:pPr lvl="0" algn="ctr" eaLnBrk="1" hangingPunct="1">
                  <a:spcBef>
                    <a:spcPct val="0"/>
                  </a:spcBef>
                  <a:buNone/>
                </a:pPr>
                <a:endParaRPr lang="zh-CN" altLang="en-US" dirty="0">
                  <a:ea typeface="宋体" charset="-122"/>
                </a:endParaRPr>
              </a:p>
            </p:txBody>
          </p:sp>
          <p:sp>
            <p:nvSpPr>
              <p:cNvPr id="6155" name="Text Box 38"/>
              <p:cNvSpPr txBox="1"/>
              <p:nvPr/>
            </p:nvSpPr>
            <p:spPr>
              <a:xfrm>
                <a:off x="0" y="181"/>
                <a:ext cx="388" cy="590"/>
              </a:xfrm>
              <a:prstGeom prst="rect">
                <a:avLst/>
              </a:prstGeom>
              <a:noFill/>
              <a:ln w="9525">
                <a:noFill/>
              </a:ln>
            </p:spPr>
            <p:txBody>
              <a:bodyPr vert="eaVert">
                <a:spAutoFit/>
              </a:bodyPr>
              <a:lstStyle/>
              <a:p>
                <a:pPr marL="257175" indent="-257175">
                  <a:spcBef>
                    <a:spcPct val="50000"/>
                  </a:spcBef>
                </a:pPr>
                <a:r>
                  <a:rPr lang="zh-CN" altLang="en-US" b="1" dirty="0">
                    <a:solidFill>
                      <a:schemeClr val="bg1"/>
                    </a:solidFill>
                    <a:latin typeface="Times New Roman" pitchFamily="18" charset="0"/>
                    <a:ea typeface="宋体" charset="-122"/>
                  </a:rPr>
                  <a:t>引言</a:t>
                </a:r>
              </a:p>
            </p:txBody>
          </p:sp>
        </p:grpSp>
      </p:grpSp>
      <p:sp>
        <p:nvSpPr>
          <p:cNvPr id="9229" name="Text Box 25"/>
          <p:cNvSpPr txBox="1"/>
          <p:nvPr/>
        </p:nvSpPr>
        <p:spPr>
          <a:xfrm>
            <a:off x="1793081" y="3121819"/>
            <a:ext cx="4924425" cy="369332"/>
          </a:xfrm>
          <a:prstGeom prst="rect">
            <a:avLst/>
          </a:prstGeom>
          <a:noFill/>
          <a:ln w="9525">
            <a:noFill/>
          </a:ln>
        </p:spPr>
        <p:txBody>
          <a:bodyPr wrap="square">
            <a:spAutoFit/>
          </a:bodyPr>
          <a:lstStyle/>
          <a:p>
            <a:pPr marL="257175" indent="-257175" algn="ctr">
              <a:spcBef>
                <a:spcPct val="50000"/>
              </a:spcBef>
            </a:pPr>
            <a:r>
              <a:rPr lang="zh-CN" altLang="en-US" b="1" dirty="0">
                <a:solidFill>
                  <a:schemeClr val="bg1"/>
                </a:solidFill>
                <a:latin typeface="Times New Roman" pitchFamily="18" charset="0"/>
                <a:ea typeface="宋体" charset="-122"/>
              </a:rPr>
              <a:t>结构化程序设计方法 基本思想</a:t>
            </a:r>
            <a:endParaRPr lang="en-US" altLang="x-none" b="1" dirty="0">
              <a:solidFill>
                <a:schemeClr val="bg1"/>
              </a:solidFill>
              <a:latin typeface="Times New Roman" pitchFamily="18" charset="0"/>
              <a:ea typeface="宋体" charset="-122"/>
            </a:endParaRPr>
          </a:p>
        </p:txBody>
      </p:sp>
      <p:sp>
        <p:nvSpPr>
          <p:cNvPr id="35842" name="Rectangle 3"/>
          <p:cNvSpPr>
            <a:spLocks noGrp="1"/>
          </p:cNvSpPr>
          <p:nvPr>
            <p:ph idx="1"/>
          </p:nvPr>
        </p:nvSpPr>
        <p:spPr>
          <a:xfrm>
            <a:off x="414337" y="3300413"/>
            <a:ext cx="8556308" cy="1804511"/>
          </a:xfrm>
        </p:spPr>
        <p:txBody>
          <a:bodyPr vert="horz" wrap="square" lIns="68580" tIns="34290" rIns="68580" bIns="34290" numCol="1" anchor="t" anchorCtr="0" compatLnSpc="1">
            <a:prstTxWarp prst="textNoShape">
              <a:avLst/>
            </a:prstTxWarp>
          </a:bodyPr>
          <a:lstStyle/>
          <a:p>
            <a:pPr marL="400050" indent="-400050" eaLnBrk="1" hangingPunct="1">
              <a:buNone/>
            </a:pPr>
            <a:r>
              <a:rPr lang="en-US" altLang="zh-CN" sz="2400" b="1" dirty="0"/>
              <a:t>结构化程序设计方法(Structured programming method)</a:t>
            </a:r>
          </a:p>
          <a:p>
            <a:pPr lvl="1" indent="-400050" eaLnBrk="1" hangingPunct="1">
              <a:buClr>
                <a:srgbClr val="FF3300"/>
              </a:buClr>
            </a:pPr>
            <a:r>
              <a:rPr lang="en-US" altLang="zh-CN" b="1" dirty="0">
                <a:latin typeface="Arial" pitchFamily="34" charset="0"/>
              </a:rPr>
              <a:t>自顶向下 (Top-down)</a:t>
            </a:r>
          </a:p>
          <a:p>
            <a:pPr lvl="1" indent="-400050" eaLnBrk="1" hangingPunct="1">
              <a:buClr>
                <a:srgbClr val="FF3300"/>
              </a:buClr>
            </a:pPr>
            <a:r>
              <a:rPr lang="en-US" altLang="zh-CN" b="1" dirty="0">
                <a:latin typeface="Arial" pitchFamily="34" charset="0"/>
              </a:rPr>
              <a:t>逐步求精 (Progressive refinement)</a:t>
            </a:r>
            <a:r>
              <a:rPr lang="en-US" altLang="zh-CN" dirty="0">
                <a:latin typeface="Arial" pitchFamily="34" charset="0"/>
              </a:rPr>
              <a:t> </a:t>
            </a:r>
            <a:endParaRPr lang="zh-CN" altLang="en-US" b="1" dirty="0">
              <a:latin typeface="Arial" pitchFamily="34" charset="0"/>
            </a:endParaRPr>
          </a:p>
          <a:p>
            <a:pPr lvl="1" indent="-400050" eaLnBrk="1" hangingPunct="1">
              <a:buClr>
                <a:srgbClr val="FF3300"/>
              </a:buClr>
            </a:pPr>
            <a:r>
              <a:rPr lang="en-US" altLang="zh-CN" b="1" dirty="0">
                <a:latin typeface="Arial" pitchFamily="34" charset="0"/>
              </a:rPr>
              <a:t>模块化 (Module)</a:t>
            </a:r>
          </a:p>
          <a:p>
            <a:pPr lvl="1" indent="-400050" eaLnBrk="1" hangingPunct="1">
              <a:buClr>
                <a:srgbClr val="FF3300"/>
              </a:buClr>
            </a:pPr>
            <a:r>
              <a:rPr lang="en-US" altLang="zh-CN" b="1" dirty="0">
                <a:latin typeface="Arial" pitchFamily="34" charset="0"/>
              </a:rPr>
              <a:t>结构化编码 (Structured coding:three basic structure)</a:t>
            </a:r>
            <a:endParaRPr lang="zh-CN" altLang="en-US" b="1" dirty="0">
              <a:latin typeface="Arial"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150"/>
                                        </p:tgtEl>
                                        <p:attrNameLst>
                                          <p:attrName>style.visibility</p:attrName>
                                        </p:attrNameLst>
                                      </p:cBhvr>
                                      <p:to>
                                        <p:strVal val="visible"/>
                                      </p:to>
                                    </p:set>
                                    <p:animEffect transition="in" filter="checkerboard(across)">
                                      <p:cBhvr>
                                        <p:cTn id="7" dur="500"/>
                                        <p:tgtEl>
                                          <p:spTgt spid="6150"/>
                                        </p:tgtEl>
                                      </p:cBhvr>
                                    </p:animEffect>
                                  </p:childTnLst>
                                </p:cTn>
                              </p:par>
                            </p:childTnLst>
                          </p:cTn>
                        </p:par>
                      </p:childTnLst>
                    </p:cTn>
                  </p:par>
                  <p:par>
                    <p:cTn id="8" fill="hold">
                      <p:stCondLst>
                        <p:cond delay="indefinite"/>
                      </p:stCondLst>
                      <p:childTnLst>
                        <p:par>
                          <p:cTn id="9" fill="hold">
                            <p:stCondLst>
                              <p:cond delay="0"/>
                            </p:stCondLst>
                            <p:childTnLst>
                              <p:par>
                                <p:cTn id="10" presetID="51" presetClass="entr" presetSubtype="0" fill="hold" grpId="0" nodeType="clickEffect">
                                  <p:stCondLst>
                                    <p:cond delay="0"/>
                                  </p:stCondLst>
                                  <p:childTnLst>
                                    <p:set>
                                      <p:cBhvr>
                                        <p:cTn id="11" dur="1" fill="hold">
                                          <p:stCondLst>
                                            <p:cond delay="0"/>
                                          </p:stCondLst>
                                        </p:cTn>
                                        <p:tgtEl>
                                          <p:spTgt spid="35842">
                                            <p:txEl>
                                              <p:pRg st="0" end="0"/>
                                            </p:txEl>
                                          </p:spTgt>
                                        </p:tgtEl>
                                        <p:attrNameLst>
                                          <p:attrName>style.visibility</p:attrName>
                                        </p:attrNameLst>
                                      </p:cBhvr>
                                      <p:to>
                                        <p:strVal val="visible"/>
                                      </p:to>
                                    </p:set>
                                    <p:animEffect transition="in" filter="fade">
                                      <p:cBhvr>
                                        <p:cTn id="12" dur="770" decel="100000"/>
                                        <p:tgtEl>
                                          <p:spTgt spid="35842">
                                            <p:txEl>
                                              <p:pRg st="0" end="0"/>
                                            </p:txEl>
                                          </p:spTgt>
                                        </p:tgtEl>
                                      </p:cBhvr>
                                    </p:animEffect>
                                    <p:animScale>
                                      <p:cBhvr>
                                        <p:cTn id="13" dur="770" decel="100000"/>
                                        <p:tgtEl>
                                          <p:spTgt spid="35842">
                                            <p:txEl>
                                              <p:pRg st="0" end="0"/>
                                            </p:txEl>
                                          </p:spTgt>
                                        </p:tgtEl>
                                      </p:cBhvr>
                                      <p:from x="10000" y="10000"/>
                                      <p:to x="200000" y="450000"/>
                                    </p:animScale>
                                    <p:animScale>
                                      <p:cBhvr>
                                        <p:cTn id="14" dur="1230" accel="100000" fill="hold">
                                          <p:stCondLst>
                                            <p:cond delay="770"/>
                                          </p:stCondLst>
                                        </p:cTn>
                                        <p:tgtEl>
                                          <p:spTgt spid="35842">
                                            <p:txEl>
                                              <p:pRg st="0" end="0"/>
                                            </p:txEl>
                                          </p:spTgt>
                                        </p:tgtEl>
                                      </p:cBhvr>
                                      <p:from x="200000" y="450000"/>
                                      <p:to x="100000" y="100000"/>
                                    </p:animScale>
                                    <p:set>
                                      <p:cBhvr>
                                        <p:cTn id="15" dur="770" fill="hold"/>
                                        <p:tgtEl>
                                          <p:spTgt spid="35842">
                                            <p:txEl>
                                              <p:pRg st="0" end="0"/>
                                            </p:txEl>
                                          </p:spTgt>
                                        </p:tgtEl>
                                        <p:attrNameLst>
                                          <p:attrName>ppt_x</p:attrName>
                                        </p:attrNameLst>
                                      </p:cBhvr>
                                      <p:to>
                                        <p:strVal val="(0.5)"/>
                                      </p:to>
                                    </p:set>
                                    <p:anim from="(0.5)" to="(#ppt_x)" calcmode="lin" valueType="num">
                                      <p:cBhvr>
                                        <p:cTn id="16" dur="1230" accel="100000" fill="hold">
                                          <p:stCondLst>
                                            <p:cond delay="770"/>
                                          </p:stCondLst>
                                        </p:cTn>
                                        <p:tgtEl>
                                          <p:spTgt spid="35842">
                                            <p:txEl>
                                              <p:pRg st="0" end="0"/>
                                            </p:txEl>
                                          </p:spTgt>
                                        </p:tgtEl>
                                        <p:attrNameLst>
                                          <p:attrName>ppt_x</p:attrName>
                                        </p:attrNameLst>
                                      </p:cBhvr>
                                    </p:anim>
                                    <p:set>
                                      <p:cBhvr>
                                        <p:cTn id="17" dur="770" fill="hold"/>
                                        <p:tgtEl>
                                          <p:spTgt spid="35842">
                                            <p:txEl>
                                              <p:pRg st="0" end="0"/>
                                            </p:txEl>
                                          </p:spTgt>
                                        </p:tgtEl>
                                        <p:attrNameLst>
                                          <p:attrName>ppt_y</p:attrName>
                                        </p:attrNameLst>
                                      </p:cBhvr>
                                      <p:to>
                                        <p:strVal val="(#ppt_y+0.4)"/>
                                      </p:to>
                                    </p:set>
                                    <p:anim from="(#ppt_y+0.4)" to="(#ppt_y)" calcmode="lin" valueType="num">
                                      <p:cBhvr>
                                        <p:cTn id="18" dur="1230" accel="100000" fill="hold">
                                          <p:stCondLst>
                                            <p:cond delay="770"/>
                                          </p:stCondLst>
                                        </p:cTn>
                                        <p:tgtEl>
                                          <p:spTgt spid="35842">
                                            <p:txEl>
                                              <p:pRg st="0" end="0"/>
                                            </p:txEl>
                                          </p:spTgt>
                                        </p:tgtEl>
                                        <p:attrNameLst>
                                          <p:attrName>ppt_y</p:attrName>
                                        </p:attrNameLst>
                                      </p:cBhvr>
                                    </p:anim>
                                  </p:childTnLst>
                                </p:cTn>
                              </p:par>
                              <p:par>
                                <p:cTn id="19" presetID="51" presetClass="entr" presetSubtype="0" fill="hold" grpId="0" nodeType="withEffect">
                                  <p:stCondLst>
                                    <p:cond delay="0"/>
                                  </p:stCondLst>
                                  <p:childTnLst>
                                    <p:set>
                                      <p:cBhvr>
                                        <p:cTn id="20" dur="1" fill="hold">
                                          <p:stCondLst>
                                            <p:cond delay="0"/>
                                          </p:stCondLst>
                                        </p:cTn>
                                        <p:tgtEl>
                                          <p:spTgt spid="35842">
                                            <p:txEl>
                                              <p:pRg st="1" end="1"/>
                                            </p:txEl>
                                          </p:spTgt>
                                        </p:tgtEl>
                                        <p:attrNameLst>
                                          <p:attrName>style.visibility</p:attrName>
                                        </p:attrNameLst>
                                      </p:cBhvr>
                                      <p:to>
                                        <p:strVal val="visible"/>
                                      </p:to>
                                    </p:set>
                                    <p:animEffect transition="in" filter="fade">
                                      <p:cBhvr>
                                        <p:cTn id="21" dur="770" decel="100000"/>
                                        <p:tgtEl>
                                          <p:spTgt spid="35842">
                                            <p:txEl>
                                              <p:pRg st="1" end="1"/>
                                            </p:txEl>
                                          </p:spTgt>
                                        </p:tgtEl>
                                      </p:cBhvr>
                                    </p:animEffect>
                                    <p:animScale>
                                      <p:cBhvr>
                                        <p:cTn id="22" dur="770" decel="100000"/>
                                        <p:tgtEl>
                                          <p:spTgt spid="35842">
                                            <p:txEl>
                                              <p:pRg st="1" end="1"/>
                                            </p:txEl>
                                          </p:spTgt>
                                        </p:tgtEl>
                                      </p:cBhvr>
                                      <p:from x="10000" y="10000"/>
                                      <p:to x="200000" y="450000"/>
                                    </p:animScale>
                                    <p:animScale>
                                      <p:cBhvr>
                                        <p:cTn id="23" dur="1230" accel="100000" fill="hold">
                                          <p:stCondLst>
                                            <p:cond delay="770"/>
                                          </p:stCondLst>
                                        </p:cTn>
                                        <p:tgtEl>
                                          <p:spTgt spid="35842">
                                            <p:txEl>
                                              <p:pRg st="1" end="1"/>
                                            </p:txEl>
                                          </p:spTgt>
                                        </p:tgtEl>
                                      </p:cBhvr>
                                      <p:from x="200000" y="450000"/>
                                      <p:to x="100000" y="100000"/>
                                    </p:animScale>
                                    <p:set>
                                      <p:cBhvr>
                                        <p:cTn id="24" dur="770" fill="hold"/>
                                        <p:tgtEl>
                                          <p:spTgt spid="35842">
                                            <p:txEl>
                                              <p:pRg st="1" end="1"/>
                                            </p:txEl>
                                          </p:spTgt>
                                        </p:tgtEl>
                                        <p:attrNameLst>
                                          <p:attrName>ppt_x</p:attrName>
                                        </p:attrNameLst>
                                      </p:cBhvr>
                                      <p:to>
                                        <p:strVal val="(0.5)"/>
                                      </p:to>
                                    </p:set>
                                    <p:anim from="(0.5)" to="(#ppt_x)" calcmode="lin" valueType="num">
                                      <p:cBhvr>
                                        <p:cTn id="25" dur="1230" accel="100000" fill="hold">
                                          <p:stCondLst>
                                            <p:cond delay="770"/>
                                          </p:stCondLst>
                                        </p:cTn>
                                        <p:tgtEl>
                                          <p:spTgt spid="35842">
                                            <p:txEl>
                                              <p:pRg st="1" end="1"/>
                                            </p:txEl>
                                          </p:spTgt>
                                        </p:tgtEl>
                                        <p:attrNameLst>
                                          <p:attrName>ppt_x</p:attrName>
                                        </p:attrNameLst>
                                      </p:cBhvr>
                                    </p:anim>
                                    <p:set>
                                      <p:cBhvr>
                                        <p:cTn id="26" dur="770" fill="hold"/>
                                        <p:tgtEl>
                                          <p:spTgt spid="35842">
                                            <p:txEl>
                                              <p:pRg st="1" end="1"/>
                                            </p:txEl>
                                          </p:spTgt>
                                        </p:tgtEl>
                                        <p:attrNameLst>
                                          <p:attrName>ppt_y</p:attrName>
                                        </p:attrNameLst>
                                      </p:cBhvr>
                                      <p:to>
                                        <p:strVal val="(#ppt_y+0.4)"/>
                                      </p:to>
                                    </p:set>
                                    <p:anim from="(#ppt_y+0.4)" to="(#ppt_y)" calcmode="lin" valueType="num">
                                      <p:cBhvr>
                                        <p:cTn id="27" dur="1230" accel="100000" fill="hold">
                                          <p:stCondLst>
                                            <p:cond delay="770"/>
                                          </p:stCondLst>
                                        </p:cTn>
                                        <p:tgtEl>
                                          <p:spTgt spid="35842">
                                            <p:txEl>
                                              <p:pRg st="1" end="1"/>
                                            </p:txEl>
                                          </p:spTgt>
                                        </p:tgtEl>
                                        <p:attrNameLst>
                                          <p:attrName>ppt_y</p:attrName>
                                        </p:attrNameLst>
                                      </p:cBhvr>
                                    </p:anim>
                                  </p:childTnLst>
                                </p:cTn>
                              </p:par>
                              <p:par>
                                <p:cTn id="28" presetID="51" presetClass="entr" presetSubtype="0" fill="hold" grpId="0" nodeType="withEffect">
                                  <p:stCondLst>
                                    <p:cond delay="0"/>
                                  </p:stCondLst>
                                  <p:childTnLst>
                                    <p:set>
                                      <p:cBhvr>
                                        <p:cTn id="29" dur="1" fill="hold">
                                          <p:stCondLst>
                                            <p:cond delay="0"/>
                                          </p:stCondLst>
                                        </p:cTn>
                                        <p:tgtEl>
                                          <p:spTgt spid="35842">
                                            <p:txEl>
                                              <p:pRg st="2" end="2"/>
                                            </p:txEl>
                                          </p:spTgt>
                                        </p:tgtEl>
                                        <p:attrNameLst>
                                          <p:attrName>style.visibility</p:attrName>
                                        </p:attrNameLst>
                                      </p:cBhvr>
                                      <p:to>
                                        <p:strVal val="visible"/>
                                      </p:to>
                                    </p:set>
                                    <p:animEffect transition="in" filter="fade">
                                      <p:cBhvr>
                                        <p:cTn id="30" dur="770" decel="100000"/>
                                        <p:tgtEl>
                                          <p:spTgt spid="35842">
                                            <p:txEl>
                                              <p:pRg st="2" end="2"/>
                                            </p:txEl>
                                          </p:spTgt>
                                        </p:tgtEl>
                                      </p:cBhvr>
                                    </p:animEffect>
                                    <p:animScale>
                                      <p:cBhvr>
                                        <p:cTn id="31" dur="770" decel="100000"/>
                                        <p:tgtEl>
                                          <p:spTgt spid="35842">
                                            <p:txEl>
                                              <p:pRg st="2" end="2"/>
                                            </p:txEl>
                                          </p:spTgt>
                                        </p:tgtEl>
                                      </p:cBhvr>
                                      <p:from x="10000" y="10000"/>
                                      <p:to x="200000" y="450000"/>
                                    </p:animScale>
                                    <p:animScale>
                                      <p:cBhvr>
                                        <p:cTn id="32" dur="1230" accel="100000" fill="hold">
                                          <p:stCondLst>
                                            <p:cond delay="770"/>
                                          </p:stCondLst>
                                        </p:cTn>
                                        <p:tgtEl>
                                          <p:spTgt spid="35842">
                                            <p:txEl>
                                              <p:pRg st="2" end="2"/>
                                            </p:txEl>
                                          </p:spTgt>
                                        </p:tgtEl>
                                      </p:cBhvr>
                                      <p:from x="200000" y="450000"/>
                                      <p:to x="100000" y="100000"/>
                                    </p:animScale>
                                    <p:set>
                                      <p:cBhvr>
                                        <p:cTn id="33" dur="770" fill="hold"/>
                                        <p:tgtEl>
                                          <p:spTgt spid="35842">
                                            <p:txEl>
                                              <p:pRg st="2" end="2"/>
                                            </p:txEl>
                                          </p:spTgt>
                                        </p:tgtEl>
                                        <p:attrNameLst>
                                          <p:attrName>ppt_x</p:attrName>
                                        </p:attrNameLst>
                                      </p:cBhvr>
                                      <p:to>
                                        <p:strVal val="(0.5)"/>
                                      </p:to>
                                    </p:set>
                                    <p:anim from="(0.5)" to="(#ppt_x)" calcmode="lin" valueType="num">
                                      <p:cBhvr>
                                        <p:cTn id="34" dur="1230" accel="100000" fill="hold">
                                          <p:stCondLst>
                                            <p:cond delay="770"/>
                                          </p:stCondLst>
                                        </p:cTn>
                                        <p:tgtEl>
                                          <p:spTgt spid="35842">
                                            <p:txEl>
                                              <p:pRg st="2" end="2"/>
                                            </p:txEl>
                                          </p:spTgt>
                                        </p:tgtEl>
                                        <p:attrNameLst>
                                          <p:attrName>ppt_x</p:attrName>
                                        </p:attrNameLst>
                                      </p:cBhvr>
                                    </p:anim>
                                    <p:set>
                                      <p:cBhvr>
                                        <p:cTn id="35" dur="770" fill="hold"/>
                                        <p:tgtEl>
                                          <p:spTgt spid="35842">
                                            <p:txEl>
                                              <p:pRg st="2" end="2"/>
                                            </p:txEl>
                                          </p:spTgt>
                                        </p:tgtEl>
                                        <p:attrNameLst>
                                          <p:attrName>ppt_y</p:attrName>
                                        </p:attrNameLst>
                                      </p:cBhvr>
                                      <p:to>
                                        <p:strVal val="(#ppt_y+0.4)"/>
                                      </p:to>
                                    </p:set>
                                    <p:anim from="(#ppt_y+0.4)" to="(#ppt_y)" calcmode="lin" valueType="num">
                                      <p:cBhvr>
                                        <p:cTn id="36" dur="1230" accel="100000" fill="hold">
                                          <p:stCondLst>
                                            <p:cond delay="770"/>
                                          </p:stCondLst>
                                        </p:cTn>
                                        <p:tgtEl>
                                          <p:spTgt spid="35842">
                                            <p:txEl>
                                              <p:pRg st="2" end="2"/>
                                            </p:txEl>
                                          </p:spTgt>
                                        </p:tgtEl>
                                        <p:attrNameLst>
                                          <p:attrName>ppt_y</p:attrName>
                                        </p:attrNameLst>
                                      </p:cBhvr>
                                    </p:anim>
                                  </p:childTnLst>
                                </p:cTn>
                              </p:par>
                              <p:par>
                                <p:cTn id="37" presetID="51" presetClass="entr" presetSubtype="0" fill="hold" grpId="0" nodeType="withEffect">
                                  <p:stCondLst>
                                    <p:cond delay="0"/>
                                  </p:stCondLst>
                                  <p:childTnLst>
                                    <p:set>
                                      <p:cBhvr>
                                        <p:cTn id="38" dur="1" fill="hold">
                                          <p:stCondLst>
                                            <p:cond delay="0"/>
                                          </p:stCondLst>
                                        </p:cTn>
                                        <p:tgtEl>
                                          <p:spTgt spid="35842">
                                            <p:txEl>
                                              <p:pRg st="3" end="3"/>
                                            </p:txEl>
                                          </p:spTgt>
                                        </p:tgtEl>
                                        <p:attrNameLst>
                                          <p:attrName>style.visibility</p:attrName>
                                        </p:attrNameLst>
                                      </p:cBhvr>
                                      <p:to>
                                        <p:strVal val="visible"/>
                                      </p:to>
                                    </p:set>
                                    <p:animEffect transition="in" filter="fade">
                                      <p:cBhvr>
                                        <p:cTn id="39" dur="770" decel="100000"/>
                                        <p:tgtEl>
                                          <p:spTgt spid="35842">
                                            <p:txEl>
                                              <p:pRg st="3" end="3"/>
                                            </p:txEl>
                                          </p:spTgt>
                                        </p:tgtEl>
                                      </p:cBhvr>
                                    </p:animEffect>
                                    <p:animScale>
                                      <p:cBhvr>
                                        <p:cTn id="40" dur="770" decel="100000"/>
                                        <p:tgtEl>
                                          <p:spTgt spid="35842">
                                            <p:txEl>
                                              <p:pRg st="3" end="3"/>
                                            </p:txEl>
                                          </p:spTgt>
                                        </p:tgtEl>
                                      </p:cBhvr>
                                      <p:from x="10000" y="10000"/>
                                      <p:to x="200000" y="450000"/>
                                    </p:animScale>
                                    <p:animScale>
                                      <p:cBhvr>
                                        <p:cTn id="41" dur="1230" accel="100000" fill="hold">
                                          <p:stCondLst>
                                            <p:cond delay="770"/>
                                          </p:stCondLst>
                                        </p:cTn>
                                        <p:tgtEl>
                                          <p:spTgt spid="35842">
                                            <p:txEl>
                                              <p:pRg st="3" end="3"/>
                                            </p:txEl>
                                          </p:spTgt>
                                        </p:tgtEl>
                                      </p:cBhvr>
                                      <p:from x="200000" y="450000"/>
                                      <p:to x="100000" y="100000"/>
                                    </p:animScale>
                                    <p:set>
                                      <p:cBhvr>
                                        <p:cTn id="42" dur="770" fill="hold"/>
                                        <p:tgtEl>
                                          <p:spTgt spid="35842">
                                            <p:txEl>
                                              <p:pRg st="3" end="3"/>
                                            </p:txEl>
                                          </p:spTgt>
                                        </p:tgtEl>
                                        <p:attrNameLst>
                                          <p:attrName>ppt_x</p:attrName>
                                        </p:attrNameLst>
                                      </p:cBhvr>
                                      <p:to>
                                        <p:strVal val="(0.5)"/>
                                      </p:to>
                                    </p:set>
                                    <p:anim from="(0.5)" to="(#ppt_x)" calcmode="lin" valueType="num">
                                      <p:cBhvr>
                                        <p:cTn id="43" dur="1230" accel="100000" fill="hold">
                                          <p:stCondLst>
                                            <p:cond delay="770"/>
                                          </p:stCondLst>
                                        </p:cTn>
                                        <p:tgtEl>
                                          <p:spTgt spid="35842">
                                            <p:txEl>
                                              <p:pRg st="3" end="3"/>
                                            </p:txEl>
                                          </p:spTgt>
                                        </p:tgtEl>
                                        <p:attrNameLst>
                                          <p:attrName>ppt_x</p:attrName>
                                        </p:attrNameLst>
                                      </p:cBhvr>
                                    </p:anim>
                                    <p:set>
                                      <p:cBhvr>
                                        <p:cTn id="44" dur="770" fill="hold"/>
                                        <p:tgtEl>
                                          <p:spTgt spid="35842">
                                            <p:txEl>
                                              <p:pRg st="3" end="3"/>
                                            </p:txEl>
                                          </p:spTgt>
                                        </p:tgtEl>
                                        <p:attrNameLst>
                                          <p:attrName>ppt_y</p:attrName>
                                        </p:attrNameLst>
                                      </p:cBhvr>
                                      <p:to>
                                        <p:strVal val="(#ppt_y+0.4)"/>
                                      </p:to>
                                    </p:set>
                                    <p:anim from="(#ppt_y+0.4)" to="(#ppt_y)" calcmode="lin" valueType="num">
                                      <p:cBhvr>
                                        <p:cTn id="45" dur="1230" accel="100000" fill="hold">
                                          <p:stCondLst>
                                            <p:cond delay="770"/>
                                          </p:stCondLst>
                                        </p:cTn>
                                        <p:tgtEl>
                                          <p:spTgt spid="35842">
                                            <p:txEl>
                                              <p:pRg st="3" end="3"/>
                                            </p:txEl>
                                          </p:spTgt>
                                        </p:tgtEl>
                                        <p:attrNameLst>
                                          <p:attrName>ppt_y</p:attrName>
                                        </p:attrNameLst>
                                      </p:cBhvr>
                                    </p:anim>
                                  </p:childTnLst>
                                </p:cTn>
                              </p:par>
                              <p:par>
                                <p:cTn id="46" presetID="51" presetClass="entr" presetSubtype="0" fill="hold" grpId="0" nodeType="withEffect">
                                  <p:stCondLst>
                                    <p:cond delay="0"/>
                                  </p:stCondLst>
                                  <p:childTnLst>
                                    <p:set>
                                      <p:cBhvr>
                                        <p:cTn id="47" dur="1" fill="hold">
                                          <p:stCondLst>
                                            <p:cond delay="0"/>
                                          </p:stCondLst>
                                        </p:cTn>
                                        <p:tgtEl>
                                          <p:spTgt spid="35842">
                                            <p:txEl>
                                              <p:pRg st="4" end="4"/>
                                            </p:txEl>
                                          </p:spTgt>
                                        </p:tgtEl>
                                        <p:attrNameLst>
                                          <p:attrName>style.visibility</p:attrName>
                                        </p:attrNameLst>
                                      </p:cBhvr>
                                      <p:to>
                                        <p:strVal val="visible"/>
                                      </p:to>
                                    </p:set>
                                    <p:animEffect transition="in" filter="fade">
                                      <p:cBhvr>
                                        <p:cTn id="48" dur="770" decel="100000"/>
                                        <p:tgtEl>
                                          <p:spTgt spid="35842">
                                            <p:txEl>
                                              <p:pRg st="4" end="4"/>
                                            </p:txEl>
                                          </p:spTgt>
                                        </p:tgtEl>
                                      </p:cBhvr>
                                    </p:animEffect>
                                    <p:animScale>
                                      <p:cBhvr>
                                        <p:cTn id="49" dur="770" decel="100000"/>
                                        <p:tgtEl>
                                          <p:spTgt spid="35842">
                                            <p:txEl>
                                              <p:pRg st="4" end="4"/>
                                            </p:txEl>
                                          </p:spTgt>
                                        </p:tgtEl>
                                      </p:cBhvr>
                                      <p:from x="10000" y="10000"/>
                                      <p:to x="200000" y="450000"/>
                                    </p:animScale>
                                    <p:animScale>
                                      <p:cBhvr>
                                        <p:cTn id="50" dur="1230" accel="100000" fill="hold">
                                          <p:stCondLst>
                                            <p:cond delay="770"/>
                                          </p:stCondLst>
                                        </p:cTn>
                                        <p:tgtEl>
                                          <p:spTgt spid="35842">
                                            <p:txEl>
                                              <p:pRg st="4" end="4"/>
                                            </p:txEl>
                                          </p:spTgt>
                                        </p:tgtEl>
                                      </p:cBhvr>
                                      <p:from x="200000" y="450000"/>
                                      <p:to x="100000" y="100000"/>
                                    </p:animScale>
                                    <p:set>
                                      <p:cBhvr>
                                        <p:cTn id="51" dur="770" fill="hold"/>
                                        <p:tgtEl>
                                          <p:spTgt spid="35842">
                                            <p:txEl>
                                              <p:pRg st="4" end="4"/>
                                            </p:txEl>
                                          </p:spTgt>
                                        </p:tgtEl>
                                        <p:attrNameLst>
                                          <p:attrName>ppt_x</p:attrName>
                                        </p:attrNameLst>
                                      </p:cBhvr>
                                      <p:to>
                                        <p:strVal val="(0.5)"/>
                                      </p:to>
                                    </p:set>
                                    <p:anim from="(0.5)" to="(#ppt_x)" calcmode="lin" valueType="num">
                                      <p:cBhvr>
                                        <p:cTn id="52" dur="1230" accel="100000" fill="hold">
                                          <p:stCondLst>
                                            <p:cond delay="770"/>
                                          </p:stCondLst>
                                        </p:cTn>
                                        <p:tgtEl>
                                          <p:spTgt spid="35842">
                                            <p:txEl>
                                              <p:pRg st="4" end="4"/>
                                            </p:txEl>
                                          </p:spTgt>
                                        </p:tgtEl>
                                        <p:attrNameLst>
                                          <p:attrName>ppt_x</p:attrName>
                                        </p:attrNameLst>
                                      </p:cBhvr>
                                    </p:anim>
                                    <p:set>
                                      <p:cBhvr>
                                        <p:cTn id="53" dur="770" fill="hold"/>
                                        <p:tgtEl>
                                          <p:spTgt spid="35842">
                                            <p:txEl>
                                              <p:pRg st="4" end="4"/>
                                            </p:txEl>
                                          </p:spTgt>
                                        </p:tgtEl>
                                        <p:attrNameLst>
                                          <p:attrName>ppt_y</p:attrName>
                                        </p:attrNameLst>
                                      </p:cBhvr>
                                      <p:to>
                                        <p:strVal val="(#ppt_y+0.4)"/>
                                      </p:to>
                                    </p:set>
                                    <p:anim from="(#ppt_y+0.4)" to="(#ppt_y)" calcmode="lin" valueType="num">
                                      <p:cBhvr>
                                        <p:cTn id="54" dur="1230" accel="100000" fill="hold">
                                          <p:stCondLst>
                                            <p:cond delay="770"/>
                                          </p:stCondLst>
                                        </p:cTn>
                                        <p:tgtEl>
                                          <p:spTgt spid="35842">
                                            <p:txEl>
                                              <p:pRg st="4" end="4"/>
                                            </p:txEl>
                                          </p:spTgt>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灯片编号占位符 4"/>
          <p:cNvSpPr txBox="1">
            <a:spLocks noGrp="1"/>
          </p:cNvSpPr>
          <p:nvPr>
            <p:ph type="sldNum" sz="quarter" idx="11"/>
          </p:nvPr>
        </p:nvSpPr>
        <p:spPr/>
        <p:txBody>
          <a:bodyPr wrap="square" lIns="68580" tIns="34290" rIns="68580" bIns="34290" anchor="t"/>
          <a:lstStyle/>
          <a:p>
            <a:pPr algn="r" eaLnBrk="1" hangingPunct="1">
              <a:spcBef>
                <a:spcPct val="50000"/>
              </a:spcBef>
            </a:pPr>
            <a:fld id="{9A0DB2DC-4C9A-4742-B13C-FB6460FD3503}" type="slidenum">
              <a:rPr lang="zh-CN" altLang="en-US" sz="1050" dirty="0"/>
              <a:t>61</a:t>
            </a:fld>
            <a:endParaRPr lang="zh-CN" altLang="en-US" sz="1050" dirty="0"/>
          </a:p>
        </p:txBody>
      </p:sp>
      <p:sp>
        <p:nvSpPr>
          <p:cNvPr id="71682" name="Rectangle 2"/>
          <p:cNvSpPr>
            <a:spLocks noGrp="1"/>
          </p:cNvSpPr>
          <p:nvPr>
            <p:ph type="title"/>
          </p:nvPr>
        </p:nvSpPr>
        <p:spPr/>
        <p:txBody>
          <a:bodyPr vert="horz" wrap="square" lIns="68580" tIns="34290" rIns="68580" bIns="34290" numCol="1" anchor="ctr" anchorCtr="0" compatLnSpc="1">
            <a:prstTxWarp prst="textNoShape">
              <a:avLst/>
            </a:prstTxWarp>
          </a:bodyPr>
          <a:lstStyle/>
          <a:p>
            <a:pPr eaLnBrk="1" hangingPunct="1"/>
            <a:r>
              <a:rPr lang="zh-CN" altLang="en-US" b="1" dirty="0"/>
              <a:t>伪代码表示的算法结构</a:t>
            </a:r>
          </a:p>
        </p:txBody>
      </p:sp>
      <p:sp>
        <p:nvSpPr>
          <p:cNvPr id="9229" name="Text Box 25"/>
          <p:cNvSpPr txBox="1"/>
          <p:nvPr/>
        </p:nvSpPr>
        <p:spPr>
          <a:xfrm>
            <a:off x="1793081" y="3121819"/>
            <a:ext cx="4924425" cy="369332"/>
          </a:xfrm>
          <a:prstGeom prst="rect">
            <a:avLst/>
          </a:prstGeom>
          <a:noFill/>
          <a:ln w="9525">
            <a:noFill/>
          </a:ln>
        </p:spPr>
        <p:txBody>
          <a:bodyPr wrap="square">
            <a:spAutoFit/>
          </a:bodyPr>
          <a:lstStyle/>
          <a:p>
            <a:pPr marL="257175" indent="-257175" algn="ctr">
              <a:spcBef>
                <a:spcPct val="50000"/>
              </a:spcBef>
            </a:pPr>
            <a:r>
              <a:rPr lang="zh-CN" altLang="en-US" b="1" dirty="0">
                <a:solidFill>
                  <a:schemeClr val="bg1"/>
                </a:solidFill>
                <a:latin typeface="Times New Roman" pitchFamily="18" charset="0"/>
                <a:ea typeface="宋体" charset="-122"/>
              </a:rPr>
              <a:t>结构化程序设计方法 基本思想</a:t>
            </a:r>
            <a:endParaRPr lang="en-US" altLang="x-none" b="1" dirty="0">
              <a:solidFill>
                <a:schemeClr val="bg1"/>
              </a:solidFill>
              <a:latin typeface="Times New Roman" pitchFamily="18" charset="0"/>
              <a:ea typeface="宋体" charset="-122"/>
            </a:endParaRPr>
          </a:p>
        </p:txBody>
      </p:sp>
      <p:sp>
        <p:nvSpPr>
          <p:cNvPr id="35842" name="Rectangle 3"/>
          <p:cNvSpPr>
            <a:spLocks noGrp="1"/>
          </p:cNvSpPr>
          <p:nvPr>
            <p:ph idx="1"/>
          </p:nvPr>
        </p:nvSpPr>
        <p:spPr>
          <a:xfrm>
            <a:off x="395536" y="1317308"/>
            <a:ext cx="8556308" cy="4992012"/>
          </a:xfrm>
        </p:spPr>
        <p:txBody>
          <a:bodyPr vert="horz" wrap="square" lIns="68580" tIns="34290" rIns="68580" bIns="34290" numCol="1" anchor="t" anchorCtr="0" compatLnSpc="1">
            <a:prstTxWarp prst="textNoShape">
              <a:avLst/>
            </a:prstTxWarp>
          </a:bodyPr>
          <a:lstStyle/>
          <a:p>
            <a:pPr marL="400050" indent="-400050" eaLnBrk="1" hangingPunct="1">
              <a:buNone/>
            </a:pPr>
            <a:r>
              <a:rPr lang="zh-CN" altLang="en-US" sz="2400" b="1" dirty="0"/>
              <a:t>伪代码是介于过程步骤的自然语言算法描述，和用实际编程语言描述过程之间的中间体。伪代码的基本结构类似于编程语言的控制结构，但比编程语言规范更自由，允许自然语言的步骤描述。</a:t>
            </a:r>
            <a:endParaRPr lang="en-US" altLang="zh-CN" sz="2400" b="1" dirty="0"/>
          </a:p>
          <a:p>
            <a:pPr marL="400050" indent="-400050" eaLnBrk="1" hangingPunct="1">
              <a:buNone/>
            </a:pPr>
            <a:endParaRPr lang="en-US" altLang="zh-CN" sz="2400" b="1" dirty="0"/>
          </a:p>
          <a:p>
            <a:pPr marL="400050" indent="-400050" eaLnBrk="1" hangingPunct="1">
              <a:buNone/>
            </a:pPr>
            <a:endParaRPr lang="en-US" altLang="zh-CN" sz="2400" b="1" dirty="0"/>
          </a:p>
          <a:p>
            <a:pPr marL="400050" indent="-400050" eaLnBrk="1" hangingPunct="1">
              <a:buNone/>
            </a:pPr>
            <a:endParaRPr lang="en-US" altLang="zh-CN" sz="2400" b="1" dirty="0"/>
          </a:p>
          <a:p>
            <a:pPr marL="400050" indent="-400050" eaLnBrk="1" hangingPunct="1">
              <a:buNone/>
            </a:pPr>
            <a:endParaRPr lang="en-US" altLang="zh-CN" sz="2400" b="1" dirty="0"/>
          </a:p>
          <a:p>
            <a:pPr marL="400050" indent="-400050" eaLnBrk="1" hangingPunct="1">
              <a:buNone/>
            </a:pPr>
            <a:endParaRPr lang="en-US" altLang="zh-CN" sz="2400" b="1" dirty="0"/>
          </a:p>
          <a:p>
            <a:pPr marL="400050" indent="-400050" eaLnBrk="1" hangingPunct="1">
              <a:buNone/>
            </a:pPr>
            <a:endParaRPr lang="en-US" altLang="zh-CN" sz="2400" b="1" dirty="0"/>
          </a:p>
          <a:p>
            <a:pPr marL="400050" indent="-400050" eaLnBrk="1" hangingPunct="1">
              <a:buNone/>
            </a:pPr>
            <a:r>
              <a:rPr lang="zh-CN" altLang="en-US" sz="2400" b="1" dirty="0"/>
              <a:t>大括号</a:t>
            </a:r>
            <a:r>
              <a:rPr lang="en-US" altLang="zh-CN" sz="2400" b="1" dirty="0"/>
              <a:t>{}</a:t>
            </a:r>
            <a:r>
              <a:rPr lang="zh-CN" altLang="en-US" sz="2400" b="1" dirty="0"/>
              <a:t>在伪代码中表示注释，而用缩进表示嵌套的关系。</a:t>
            </a:r>
            <a:endParaRPr lang="en-US" altLang="zh-CN" sz="2400" b="1" dirty="0"/>
          </a:p>
          <a:p>
            <a:pPr lvl="1" indent="-400050" eaLnBrk="1" hangingPunct="1">
              <a:buClr>
                <a:srgbClr val="FF3300"/>
              </a:buClr>
            </a:pPr>
            <a:endParaRPr lang="en-US" altLang="zh-CN" b="1" dirty="0">
              <a:latin typeface="Arial" pitchFamily="34" charset="0"/>
            </a:endParaRPr>
          </a:p>
        </p:txBody>
      </p:sp>
      <p:sp>
        <p:nvSpPr>
          <p:cNvPr id="13" name="Content Placeholder 2">
            <a:extLst>
              <a:ext uri="{FF2B5EF4-FFF2-40B4-BE49-F238E27FC236}">
                <a16:creationId xmlns:a16="http://schemas.microsoft.com/office/drawing/2014/main" id="{5073AFA6-F5B6-4C4E-B390-F66F04FCE4A4}"/>
              </a:ext>
            </a:extLst>
          </p:cNvPr>
          <p:cNvSpPr txBox="1"/>
          <p:nvPr/>
        </p:nvSpPr>
        <p:spPr>
          <a:xfrm>
            <a:off x="981100" y="2996952"/>
            <a:ext cx="7263308" cy="2448272"/>
          </a:xfrm>
          <a:prstGeom prst="rect">
            <a:avLst/>
          </a:prstGeom>
          <a:ln>
            <a:solidFill>
              <a:schemeClr val="tx2"/>
            </a:solidFill>
          </a:ln>
        </p:spPr>
        <p:txBody>
          <a:bodyPr vert="horz">
            <a:normAutofit fontScale="92500" lnSpcReduction="10000"/>
          </a:bodyPr>
          <a:lstStyle/>
          <a:p>
            <a:pPr marL="274320" marR="0" lvl="0" indent="-274320" algn="l" defTabSz="914400" rtl="0" eaLnBrk="1" fontAlgn="auto" latinLnBrk="0" hangingPunct="1">
              <a:lnSpc>
                <a:spcPct val="100000"/>
              </a:lnSpc>
              <a:spcBef>
                <a:spcPts val="0"/>
              </a:spcBef>
              <a:spcAft>
                <a:spcPts val="0"/>
              </a:spcAft>
              <a:buClr>
                <a:schemeClr val="accent3"/>
              </a:buClr>
              <a:buSzPct val="95000"/>
              <a:buFont typeface="Wingdings 2" panose="05020102010507070707"/>
              <a:buNone/>
              <a:defRPr/>
            </a:pPr>
            <a:r>
              <a:rPr lang="en-US" sz="2600" b="1" dirty="0"/>
              <a:t>procedure</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max</a:t>
            </a:r>
            <a:r>
              <a:rPr kumimoji="0" lang="en-US" sz="2600" b="0" i="0" u="none" strike="noStrike" kern="1200" cap="none" spc="0" normalizeH="0" baseline="0" noProof="0" dirty="0">
                <a:ln>
                  <a:noFill/>
                </a:ln>
                <a:solidFill>
                  <a:schemeClr val="tx1"/>
                </a:solidFill>
                <a:effectLst/>
                <a:uLnTx/>
                <a:uFillTx/>
                <a:latin typeface="+mn-lt"/>
                <a:ea typeface="+mn-ea"/>
                <a:cs typeface="+mn-cs"/>
              </a:rPr>
              <a:t>(</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0" u="none" strike="noStrike" kern="1200" cap="none" spc="0" normalizeH="0" baseline="-25000" noProof="0" dirty="0">
                <a:ln>
                  <a:noFill/>
                </a:ln>
                <a:solidFill>
                  <a:schemeClr val="tx1"/>
                </a:solidFill>
                <a:effectLst/>
                <a:uLnTx/>
                <a:uFillTx/>
                <a:latin typeface="+mn-lt"/>
                <a:ea typeface="+mn-ea"/>
                <a:cs typeface="+mn-cs"/>
              </a:rPr>
              <a:t>1</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0" u="none" strike="noStrike" kern="1200" cap="none" spc="0" normalizeH="0" baseline="-25000" noProof="0" dirty="0">
                <a:ln>
                  <a:noFill/>
                </a:ln>
                <a:solidFill>
                  <a:schemeClr val="tx1"/>
                </a:solidFill>
                <a:effectLst/>
                <a:uLnTx/>
                <a:uFillTx/>
                <a:latin typeface="+mn-lt"/>
                <a:ea typeface="+mn-ea"/>
                <a:cs typeface="+mn-cs"/>
              </a:rPr>
              <a:t>2</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0" u="none" strike="noStrike" kern="1200" cap="none" spc="0" normalizeH="0" baseline="-25000" noProof="0" dirty="0">
                <a:ln>
                  <a:noFill/>
                </a:ln>
                <a:solidFill>
                  <a:schemeClr val="tx1"/>
                </a:solidFill>
                <a:effectLst/>
                <a:uLnTx/>
                <a:uFillTx/>
                <a:latin typeface="+mn-lt"/>
                <a:ea typeface="+mn-ea"/>
                <a:cs typeface="+mn-cs"/>
              </a:rPr>
              <a:t>n</a:t>
            </a:r>
            <a:r>
              <a:rPr kumimoji="0" lang="en-US" sz="2600" b="0" i="0" u="none" strike="noStrike" kern="1200" cap="none" spc="0" normalizeH="0" baseline="0" noProof="0" dirty="0">
                <a:ln>
                  <a:noFill/>
                </a:ln>
                <a:solidFill>
                  <a:schemeClr val="tx1"/>
                </a:solidFill>
                <a:effectLst/>
                <a:uLnTx/>
                <a:uFillTx/>
                <a:latin typeface="+mn-lt"/>
                <a:ea typeface="+mn-ea"/>
                <a:cs typeface="+mn-cs"/>
              </a:rPr>
              <a:t>: integers)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None/>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max</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0" u="none" strike="noStrike" kern="1200" cap="none" spc="0" normalizeH="0" baseline="-25000" noProof="0" dirty="0">
                <a:ln>
                  <a:noFill/>
                </a:ln>
                <a:solidFill>
                  <a:schemeClr val="tx1"/>
                </a:solidFill>
                <a:effectLst/>
                <a:uLnTx/>
                <a:uFillTx/>
                <a:latin typeface="+mn-lt"/>
                <a:ea typeface="+mn-ea"/>
                <a:cs typeface="+mn-cs"/>
              </a:rPr>
              <a:t>1</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None/>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for</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0" u="none" strike="noStrike" kern="1200" cap="none" spc="0" normalizeH="0" baseline="0" noProof="0" dirty="0">
                <a:ln>
                  <a:noFill/>
                </a:ln>
                <a:solidFill>
                  <a:schemeClr val="tx1"/>
                </a:solidFill>
                <a:effectLst/>
                <a:uLnTx/>
                <a:uFillTx/>
                <a:latin typeface="Cambria Math" panose="02040503050406030204" pitchFamily="18" charset="0"/>
                <a:ea typeface="Cambria Math" panose="02040503050406030204" pitchFamily="18" charset="0"/>
              </a:rPr>
              <a:t>2</a:t>
            </a:r>
            <a:r>
              <a:rPr kumimoji="0" lang="en-US" sz="2600" b="0" i="0" u="none" strike="noStrike" kern="1200" cap="none" spc="0" normalizeH="0" baseline="0" noProof="0" dirty="0">
                <a:ln>
                  <a:noFill/>
                </a:ln>
                <a:solidFill>
                  <a:schemeClr val="tx1"/>
                </a:solidFill>
                <a:effectLst/>
                <a:uLnTx/>
                <a:uFillTx/>
                <a:latin typeface="+mn-lt"/>
                <a:ea typeface="+mn-ea"/>
                <a:cs typeface="+mn-cs"/>
              </a:rPr>
              <a:t> to </a:t>
            </a:r>
            <a:r>
              <a:rPr kumimoji="0" lang="en-US" sz="2600" b="0" i="1" u="none" strike="noStrike" kern="1200" cap="none" spc="0" normalizeH="0" baseline="0" noProof="0" dirty="0">
                <a:ln>
                  <a:noFill/>
                </a:ln>
                <a:solidFill>
                  <a:schemeClr val="tx1"/>
                </a:solidFill>
                <a:effectLst/>
                <a:uLnTx/>
                <a:uFillTx/>
                <a:latin typeface="+mn-lt"/>
                <a:ea typeface="+mn-ea"/>
                <a:cs typeface="+mn-cs"/>
              </a:rPr>
              <a:t>n</a:t>
            </a:r>
          </a:p>
          <a:p>
            <a:pPr marL="274320" lvl="0" indent="-274320">
              <a:spcBef>
                <a:spcPct val="20000"/>
              </a:spcBef>
              <a:buClr>
                <a:schemeClr val="accent3"/>
              </a:buClr>
              <a:buSzPct val="95000"/>
            </a:pPr>
            <a:r>
              <a:rPr kumimoji="0" lang="en-US" sz="2600" b="0" i="0" u="none" strike="noStrike" kern="1200" cap="none" spc="0" normalizeH="0" baseline="0" noProof="0" dirty="0">
                <a:ln>
                  <a:noFill/>
                </a:ln>
                <a:solidFill>
                  <a:schemeClr val="tx1"/>
                </a:solidFill>
                <a:effectLst/>
                <a:uLnTx/>
                <a:uFillTx/>
                <a:latin typeface="+mn-lt"/>
                <a:ea typeface="+mn-ea"/>
                <a:cs typeface="+mn-cs"/>
              </a:rPr>
              <a:t>         if</a:t>
            </a:r>
            <a:r>
              <a:rPr kumimoji="0" lang="en-US" sz="2600" b="0" i="0" u="none" strike="noStrike" kern="1200" cap="none" spc="0" normalizeH="0" noProof="0" dirty="0">
                <a:ln>
                  <a:noFill/>
                </a:ln>
                <a:solidFill>
                  <a:schemeClr val="tx1"/>
                </a:solidFill>
                <a:effectLst/>
                <a:uLnTx/>
                <a:uFillTx/>
                <a:latin typeface="+mn-lt"/>
                <a:ea typeface="+mn-ea"/>
                <a:cs typeface="+mn-cs"/>
              </a:rPr>
              <a:t> </a:t>
            </a:r>
            <a:r>
              <a:rPr lang="en-US" sz="2600" i="1" dirty="0"/>
              <a:t>max</a:t>
            </a:r>
            <a:r>
              <a:rPr kumimoji="0" lang="en-US" sz="2600" b="0" i="0" u="none" strike="noStrike" kern="1200" cap="none" spc="0" normalizeH="0" baseline="0" noProof="0" dirty="0">
                <a:ln>
                  <a:noFill/>
                </a:ln>
                <a:solidFill>
                  <a:schemeClr val="tx1"/>
                </a:solidFill>
                <a:effectLst/>
                <a:uLnTx/>
                <a:uFillTx/>
                <a:latin typeface="+mn-lt"/>
                <a:ea typeface="+mn-ea"/>
                <a:cs typeface="+mn-cs"/>
              </a:rPr>
              <a:t> &lt; </a:t>
            </a:r>
            <a:r>
              <a:rPr kumimoji="0" lang="en-US" sz="2600" b="0" i="1" u="none" strike="noStrike" kern="1200" cap="none" spc="0" normalizeH="0" baseline="0" noProof="0" dirty="0" err="1">
                <a:ln>
                  <a:noFill/>
                </a:ln>
                <a:solidFill>
                  <a:schemeClr val="tx1"/>
                </a:solidFill>
                <a:effectLst/>
                <a:uLnTx/>
                <a:uFillTx/>
                <a:latin typeface="+mn-lt"/>
                <a:ea typeface="+mn-ea"/>
                <a:cs typeface="+mn-cs"/>
              </a:rPr>
              <a:t>a</a:t>
            </a:r>
            <a:r>
              <a:rPr kumimoji="0" lang="en-US" sz="2600" b="0" i="1" u="none" strike="noStrike" kern="1200" cap="none" spc="0" normalizeH="0" baseline="-2500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then </a:t>
            </a:r>
            <a:r>
              <a:rPr lang="en-US" sz="2600" i="1" dirty="0"/>
              <a:t>max</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1" u="none" strike="noStrike" kern="1200" cap="none" spc="0" normalizeH="0" baseline="0" noProof="0" dirty="0" err="1">
                <a:ln>
                  <a:noFill/>
                </a:ln>
                <a:solidFill>
                  <a:schemeClr val="tx1"/>
                </a:solidFill>
                <a:effectLst/>
                <a:uLnTx/>
                <a:uFillTx/>
                <a:latin typeface="+mn-lt"/>
                <a:ea typeface="+mn-ea"/>
                <a:cs typeface="+mn-cs"/>
              </a:rPr>
              <a:t>a</a:t>
            </a:r>
            <a:r>
              <a:rPr kumimoji="0" lang="en-US" sz="2600" b="0" i="1" u="none" strike="noStrike" kern="1200" cap="none" spc="0" normalizeH="0" baseline="-25000" noProof="0" dirty="0" err="1">
                <a:ln>
                  <a:noFill/>
                </a:ln>
                <a:solidFill>
                  <a:schemeClr val="tx1"/>
                </a:solidFill>
                <a:effectLst/>
                <a:uLnTx/>
                <a:uFillTx/>
                <a:latin typeface="+mn-lt"/>
                <a:ea typeface="+mn-ea"/>
                <a:cs typeface="+mn-cs"/>
              </a:rPr>
              <a:t>i</a:t>
            </a:r>
            <a:endParaRPr kumimoji="0" lang="en-US" sz="2600" b="0" i="1" u="none" strike="noStrike" kern="1200" cap="none" spc="0" normalizeH="0" baseline="-25000" noProof="0" dirty="0">
              <a:ln>
                <a:noFill/>
              </a:ln>
              <a:solidFill>
                <a:schemeClr val="tx1"/>
              </a:solidFill>
              <a:effectLst/>
              <a:uLnTx/>
              <a:uFillTx/>
              <a:latin typeface="+mn-lt"/>
              <a:ea typeface="+mn-ea"/>
              <a:cs typeface="+mn-cs"/>
            </a:endParaRPr>
          </a:p>
          <a:p>
            <a:pPr marL="274320" lvl="0" indent="-274320">
              <a:spcBef>
                <a:spcPct val="20000"/>
              </a:spcBef>
              <a:buClr>
                <a:schemeClr val="accent3"/>
              </a:buClr>
              <a:buSzPct val="95000"/>
            </a:pPr>
            <a:r>
              <a:rPr kumimoji="0" lang="en-US" sz="2600" b="0" i="0" u="none" strike="noStrike" kern="1200" cap="none" spc="0" normalizeH="0" baseline="0" noProof="0" dirty="0">
                <a:ln>
                  <a:noFill/>
                </a:ln>
                <a:solidFill>
                  <a:schemeClr val="tx1"/>
                </a:solidFill>
                <a:effectLst/>
                <a:uLnTx/>
                <a:uFillTx/>
                <a:latin typeface="+mn-lt"/>
                <a:ea typeface="+mn-ea"/>
                <a:cs typeface="+mn-cs"/>
              </a:rPr>
              <a:t>    return </a:t>
            </a:r>
            <a:r>
              <a:rPr lang="en-US" sz="2600" i="1" dirty="0"/>
              <a:t>max</a:t>
            </a:r>
            <a:r>
              <a:rPr lang="en-US" sz="2600" dirty="0"/>
              <a:t>{</a:t>
            </a:r>
            <a:r>
              <a:rPr lang="en-US" sz="2600" i="1" dirty="0"/>
              <a:t>max </a:t>
            </a:r>
            <a:r>
              <a:rPr lang="en-US" sz="2600" dirty="0"/>
              <a:t>is the largest element}</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None/>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None/>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6604287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grpId="0" nodeType="clickEffect">
                                  <p:stCondLst>
                                    <p:cond delay="0"/>
                                  </p:stCondLst>
                                  <p:childTnLst>
                                    <p:set>
                                      <p:cBhvr>
                                        <p:cTn id="6" dur="1" fill="hold">
                                          <p:stCondLst>
                                            <p:cond delay="0"/>
                                          </p:stCondLst>
                                        </p:cTn>
                                        <p:tgtEl>
                                          <p:spTgt spid="35842">
                                            <p:txEl>
                                              <p:pRg st="0" end="0"/>
                                            </p:txEl>
                                          </p:spTgt>
                                        </p:tgtEl>
                                        <p:attrNameLst>
                                          <p:attrName>style.visibility</p:attrName>
                                        </p:attrNameLst>
                                      </p:cBhvr>
                                      <p:to>
                                        <p:strVal val="visible"/>
                                      </p:to>
                                    </p:set>
                                    <p:animEffect transition="in" filter="fade">
                                      <p:cBhvr>
                                        <p:cTn id="7" dur="770" decel="100000"/>
                                        <p:tgtEl>
                                          <p:spTgt spid="35842">
                                            <p:txEl>
                                              <p:pRg st="0" end="0"/>
                                            </p:txEl>
                                          </p:spTgt>
                                        </p:tgtEl>
                                      </p:cBhvr>
                                    </p:animEffect>
                                    <p:animScale>
                                      <p:cBhvr>
                                        <p:cTn id="8" dur="770" decel="100000"/>
                                        <p:tgtEl>
                                          <p:spTgt spid="35842">
                                            <p:txEl>
                                              <p:pRg st="0" end="0"/>
                                            </p:txEl>
                                          </p:spTgt>
                                        </p:tgtEl>
                                      </p:cBhvr>
                                      <p:from x="10000" y="10000"/>
                                      <p:to x="200000" y="450000"/>
                                    </p:animScale>
                                    <p:animScale>
                                      <p:cBhvr>
                                        <p:cTn id="9" dur="1230" accel="100000" fill="hold">
                                          <p:stCondLst>
                                            <p:cond delay="770"/>
                                          </p:stCondLst>
                                        </p:cTn>
                                        <p:tgtEl>
                                          <p:spTgt spid="35842">
                                            <p:txEl>
                                              <p:pRg st="0" end="0"/>
                                            </p:txEl>
                                          </p:spTgt>
                                        </p:tgtEl>
                                      </p:cBhvr>
                                      <p:from x="200000" y="450000"/>
                                      <p:to x="100000" y="100000"/>
                                    </p:animScale>
                                    <p:set>
                                      <p:cBhvr>
                                        <p:cTn id="10" dur="770" fill="hold"/>
                                        <p:tgtEl>
                                          <p:spTgt spid="35842">
                                            <p:txEl>
                                              <p:pRg st="0" end="0"/>
                                            </p:txEl>
                                          </p:spTgt>
                                        </p:tgtEl>
                                        <p:attrNameLst>
                                          <p:attrName>ppt_x</p:attrName>
                                        </p:attrNameLst>
                                      </p:cBhvr>
                                      <p:to>
                                        <p:strVal val="(0.5)"/>
                                      </p:to>
                                    </p:set>
                                    <p:anim from="(0.5)" to="(#ppt_x)" calcmode="lin" valueType="num">
                                      <p:cBhvr>
                                        <p:cTn id="11" dur="1230" accel="100000" fill="hold">
                                          <p:stCondLst>
                                            <p:cond delay="770"/>
                                          </p:stCondLst>
                                        </p:cTn>
                                        <p:tgtEl>
                                          <p:spTgt spid="35842">
                                            <p:txEl>
                                              <p:pRg st="0" end="0"/>
                                            </p:txEl>
                                          </p:spTgt>
                                        </p:tgtEl>
                                        <p:attrNameLst>
                                          <p:attrName>ppt_x</p:attrName>
                                        </p:attrNameLst>
                                      </p:cBhvr>
                                    </p:anim>
                                    <p:set>
                                      <p:cBhvr>
                                        <p:cTn id="12" dur="770" fill="hold"/>
                                        <p:tgtEl>
                                          <p:spTgt spid="35842">
                                            <p:txEl>
                                              <p:pRg st="0" end="0"/>
                                            </p:txEl>
                                          </p:spTgt>
                                        </p:tgtEl>
                                        <p:attrNameLst>
                                          <p:attrName>ppt_y</p:attrName>
                                        </p:attrNameLst>
                                      </p:cBhvr>
                                      <p:to>
                                        <p:strVal val="(#ppt_y+0.4)"/>
                                      </p:to>
                                    </p:set>
                                    <p:anim from="(#ppt_y+0.4)" to="(#ppt_y)" calcmode="lin" valueType="num">
                                      <p:cBhvr>
                                        <p:cTn id="13" dur="1230" accel="100000" fill="hold">
                                          <p:stCondLst>
                                            <p:cond delay="770"/>
                                          </p:stCondLst>
                                        </p:cTn>
                                        <p:tgtEl>
                                          <p:spTgt spid="35842">
                                            <p:txEl>
                                              <p:pRg st="0" end="0"/>
                                            </p:txEl>
                                          </p:spTgt>
                                        </p:tgtEl>
                                        <p:attrNameLst>
                                          <p:attrName>ppt_y</p:attrName>
                                        </p:attrNameLst>
                                      </p:cBhvr>
                                    </p:anim>
                                  </p:childTnLst>
                                </p:cTn>
                              </p:par>
                            </p:childTnLst>
                          </p:cTn>
                        </p:par>
                      </p:childTnLst>
                    </p:cTn>
                  </p:par>
                  <p:par>
                    <p:cTn id="14" fill="hold">
                      <p:stCondLst>
                        <p:cond delay="indefinite"/>
                      </p:stCondLst>
                      <p:childTnLst>
                        <p:par>
                          <p:cTn id="15" fill="hold">
                            <p:stCondLst>
                              <p:cond delay="0"/>
                            </p:stCondLst>
                            <p:childTnLst>
                              <p:par>
                                <p:cTn id="16" presetID="51" presetClass="entr" presetSubtype="0" fill="hold" grpId="0" nodeType="clickEffect">
                                  <p:stCondLst>
                                    <p:cond delay="0"/>
                                  </p:stCondLst>
                                  <p:childTnLst>
                                    <p:set>
                                      <p:cBhvr>
                                        <p:cTn id="17" dur="1" fill="hold">
                                          <p:stCondLst>
                                            <p:cond delay="0"/>
                                          </p:stCondLst>
                                        </p:cTn>
                                        <p:tgtEl>
                                          <p:spTgt spid="35842">
                                            <p:txEl>
                                              <p:pRg st="7" end="7"/>
                                            </p:txEl>
                                          </p:spTgt>
                                        </p:tgtEl>
                                        <p:attrNameLst>
                                          <p:attrName>style.visibility</p:attrName>
                                        </p:attrNameLst>
                                      </p:cBhvr>
                                      <p:to>
                                        <p:strVal val="visible"/>
                                      </p:to>
                                    </p:set>
                                    <p:animEffect transition="in" filter="fade">
                                      <p:cBhvr>
                                        <p:cTn id="18" dur="770" decel="100000"/>
                                        <p:tgtEl>
                                          <p:spTgt spid="35842">
                                            <p:txEl>
                                              <p:pRg st="7" end="7"/>
                                            </p:txEl>
                                          </p:spTgt>
                                        </p:tgtEl>
                                      </p:cBhvr>
                                    </p:animEffect>
                                    <p:animScale>
                                      <p:cBhvr>
                                        <p:cTn id="19" dur="770" decel="100000"/>
                                        <p:tgtEl>
                                          <p:spTgt spid="35842">
                                            <p:txEl>
                                              <p:pRg st="7" end="7"/>
                                            </p:txEl>
                                          </p:spTgt>
                                        </p:tgtEl>
                                      </p:cBhvr>
                                      <p:from x="10000" y="10000"/>
                                      <p:to x="200000" y="450000"/>
                                    </p:animScale>
                                    <p:animScale>
                                      <p:cBhvr>
                                        <p:cTn id="20" dur="1230" accel="100000" fill="hold">
                                          <p:stCondLst>
                                            <p:cond delay="770"/>
                                          </p:stCondLst>
                                        </p:cTn>
                                        <p:tgtEl>
                                          <p:spTgt spid="35842">
                                            <p:txEl>
                                              <p:pRg st="7" end="7"/>
                                            </p:txEl>
                                          </p:spTgt>
                                        </p:tgtEl>
                                      </p:cBhvr>
                                      <p:from x="200000" y="450000"/>
                                      <p:to x="100000" y="100000"/>
                                    </p:animScale>
                                    <p:set>
                                      <p:cBhvr>
                                        <p:cTn id="21" dur="770" fill="hold"/>
                                        <p:tgtEl>
                                          <p:spTgt spid="35842">
                                            <p:txEl>
                                              <p:pRg st="7" end="7"/>
                                            </p:txEl>
                                          </p:spTgt>
                                        </p:tgtEl>
                                        <p:attrNameLst>
                                          <p:attrName>ppt_x</p:attrName>
                                        </p:attrNameLst>
                                      </p:cBhvr>
                                      <p:to>
                                        <p:strVal val="(0.5)"/>
                                      </p:to>
                                    </p:set>
                                    <p:anim from="(0.5)" to="(#ppt_x)" calcmode="lin" valueType="num">
                                      <p:cBhvr>
                                        <p:cTn id="22" dur="1230" accel="100000" fill="hold">
                                          <p:stCondLst>
                                            <p:cond delay="770"/>
                                          </p:stCondLst>
                                        </p:cTn>
                                        <p:tgtEl>
                                          <p:spTgt spid="35842">
                                            <p:txEl>
                                              <p:pRg st="7" end="7"/>
                                            </p:txEl>
                                          </p:spTgt>
                                        </p:tgtEl>
                                        <p:attrNameLst>
                                          <p:attrName>ppt_x</p:attrName>
                                        </p:attrNameLst>
                                      </p:cBhvr>
                                    </p:anim>
                                    <p:set>
                                      <p:cBhvr>
                                        <p:cTn id="23" dur="770" fill="hold"/>
                                        <p:tgtEl>
                                          <p:spTgt spid="35842">
                                            <p:txEl>
                                              <p:pRg st="7" end="7"/>
                                            </p:txEl>
                                          </p:spTgt>
                                        </p:tgtEl>
                                        <p:attrNameLst>
                                          <p:attrName>ppt_y</p:attrName>
                                        </p:attrNameLst>
                                      </p:cBhvr>
                                      <p:to>
                                        <p:strVal val="(#ppt_y+0.4)"/>
                                      </p:to>
                                    </p:set>
                                    <p:anim from="(#ppt_y+0.4)" to="(#ppt_y)" calcmode="lin" valueType="num">
                                      <p:cBhvr>
                                        <p:cTn id="24" dur="1230" accel="100000" fill="hold">
                                          <p:stCondLst>
                                            <p:cond delay="770"/>
                                          </p:stCondLst>
                                        </p:cTn>
                                        <p:tgtEl>
                                          <p:spTgt spid="35842">
                                            <p:txEl>
                                              <p:pRg st="7" end="7"/>
                                            </p:txEl>
                                          </p:spTgt>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4">
            <a:extLst>
              <a:ext uri="{FF2B5EF4-FFF2-40B4-BE49-F238E27FC236}">
                <a16:creationId xmlns:a16="http://schemas.microsoft.com/office/drawing/2014/main" id="{8BF93FD0-178A-40B5-9DAB-D014D6C719BD}"/>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Tx/>
              <a:buNone/>
            </a:pPr>
            <a:fld id="{CCDE246F-06C7-4F03-806C-D640C44979A9}" type="slidenum">
              <a:rPr lang="zh-CN" altLang="en-US" sz="1400" b="1"/>
              <a:pPr algn="r" eaLnBrk="1" hangingPunct="1">
                <a:spcBef>
                  <a:spcPct val="50000"/>
                </a:spcBef>
                <a:buFontTx/>
                <a:buNone/>
              </a:pPr>
              <a:t>62</a:t>
            </a:fld>
            <a:endParaRPr lang="zh-CN" altLang="en-US" sz="1400" b="1"/>
          </a:p>
        </p:txBody>
      </p:sp>
      <p:sp>
        <p:nvSpPr>
          <p:cNvPr id="17411" name="Rectangle 2">
            <a:extLst>
              <a:ext uri="{FF2B5EF4-FFF2-40B4-BE49-F238E27FC236}">
                <a16:creationId xmlns:a16="http://schemas.microsoft.com/office/drawing/2014/main" id="{2D824C58-0F6F-4F9A-A7A7-BF185E4F08C6}"/>
              </a:ext>
            </a:extLst>
          </p:cNvPr>
          <p:cNvSpPr>
            <a:spLocks noGrp="1" noChangeArrowheads="1"/>
          </p:cNvSpPr>
          <p:nvPr>
            <p:ph type="title" idx="4294967295"/>
          </p:nvPr>
        </p:nvSpPr>
        <p:spPr/>
        <p:txBody>
          <a:bodyPr/>
          <a:lstStyle/>
          <a:p>
            <a:pPr eaLnBrk="1" hangingPunct="1"/>
            <a:r>
              <a:rPr lang="zh-CN" altLang="en-US" b="1" dirty="0"/>
              <a:t>程序的结构描述</a:t>
            </a:r>
            <a:r>
              <a:rPr lang="zh-CN" altLang="en-US" sz="3600" b="1" dirty="0">
                <a:latin typeface="宋体" panose="02010600030101010101" pitchFamily="2" charset="-122"/>
              </a:rPr>
              <a:t>－</a:t>
            </a:r>
            <a:r>
              <a:rPr lang="zh-CN" altLang="en-US" b="1" dirty="0">
                <a:solidFill>
                  <a:srgbClr val="FF9900"/>
                </a:solidFill>
              </a:rPr>
              <a:t>流程图</a:t>
            </a:r>
          </a:p>
        </p:txBody>
      </p:sp>
      <p:sp>
        <p:nvSpPr>
          <p:cNvPr id="17412" name="Rectangle 3">
            <a:extLst>
              <a:ext uri="{FF2B5EF4-FFF2-40B4-BE49-F238E27FC236}">
                <a16:creationId xmlns:a16="http://schemas.microsoft.com/office/drawing/2014/main" id="{1578A0E9-D1ED-419C-A64C-3DA55E187B3D}"/>
              </a:ext>
            </a:extLst>
          </p:cNvPr>
          <p:cNvSpPr>
            <a:spLocks noGrp="1" noChangeArrowheads="1"/>
          </p:cNvSpPr>
          <p:nvPr>
            <p:ph type="body" idx="4294967295"/>
          </p:nvPr>
        </p:nvSpPr>
        <p:spPr>
          <a:xfrm>
            <a:off x="755650" y="1268413"/>
            <a:ext cx="7772400" cy="4611687"/>
          </a:xfrm>
        </p:spPr>
        <p:txBody>
          <a:bodyPr/>
          <a:lstStyle/>
          <a:p>
            <a:pPr eaLnBrk="1" hangingPunct="1"/>
            <a:r>
              <a:rPr lang="zh-CN" altLang="en-US" b="1">
                <a:latin typeface="宋体" panose="02010600030101010101" pitchFamily="2" charset="-122"/>
              </a:rPr>
              <a:t> 流程图的基本元素（</a:t>
            </a:r>
            <a:r>
              <a:rPr lang="en-US" altLang="zh-CN" b="1">
                <a:latin typeface="宋体" panose="02010600030101010101" pitchFamily="2" charset="-122"/>
              </a:rPr>
              <a:t>ANSI</a:t>
            </a:r>
            <a:r>
              <a:rPr lang="zh-CN" altLang="en-US" b="1">
                <a:latin typeface="宋体" panose="02010600030101010101" pitchFamily="2" charset="-122"/>
              </a:rPr>
              <a:t>规定）</a:t>
            </a:r>
            <a:r>
              <a:rPr lang="zh-CN" altLang="en-US"/>
              <a:t> </a:t>
            </a:r>
          </a:p>
        </p:txBody>
      </p:sp>
      <p:sp>
        <p:nvSpPr>
          <p:cNvPr id="17413" name="AutoShape 4">
            <a:extLst>
              <a:ext uri="{FF2B5EF4-FFF2-40B4-BE49-F238E27FC236}">
                <a16:creationId xmlns:a16="http://schemas.microsoft.com/office/drawing/2014/main" id="{56BF67BB-0075-4C33-8100-669862D97AE7}"/>
              </a:ext>
            </a:extLst>
          </p:cNvPr>
          <p:cNvSpPr>
            <a:spLocks noChangeArrowheads="1"/>
          </p:cNvSpPr>
          <p:nvPr/>
        </p:nvSpPr>
        <p:spPr bwMode="auto">
          <a:xfrm>
            <a:off x="1752600" y="2438400"/>
            <a:ext cx="685800" cy="396875"/>
          </a:xfrm>
          <a:prstGeom prst="flowChartAlternateProcess">
            <a:avLst/>
          </a:prstGeom>
          <a:solidFill>
            <a:srgbClr val="FFFFFF"/>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a:p>
        </p:txBody>
      </p:sp>
      <p:sp>
        <p:nvSpPr>
          <p:cNvPr id="17414" name="AutoShape 5">
            <a:extLst>
              <a:ext uri="{FF2B5EF4-FFF2-40B4-BE49-F238E27FC236}">
                <a16:creationId xmlns:a16="http://schemas.microsoft.com/office/drawing/2014/main" id="{83A6F32A-9C02-41E0-BD59-B371DC8BF461}"/>
              </a:ext>
            </a:extLst>
          </p:cNvPr>
          <p:cNvSpPr>
            <a:spLocks noChangeArrowheads="1"/>
          </p:cNvSpPr>
          <p:nvPr/>
        </p:nvSpPr>
        <p:spPr bwMode="auto">
          <a:xfrm>
            <a:off x="3352800" y="2438400"/>
            <a:ext cx="800100" cy="396875"/>
          </a:xfrm>
          <a:prstGeom prst="flowChartInputOutput">
            <a:avLst/>
          </a:prstGeom>
          <a:solidFill>
            <a:srgbClr val="FFFFFF"/>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a:p>
        </p:txBody>
      </p:sp>
      <p:sp>
        <p:nvSpPr>
          <p:cNvPr id="17415" name="AutoShape 6">
            <a:extLst>
              <a:ext uri="{FF2B5EF4-FFF2-40B4-BE49-F238E27FC236}">
                <a16:creationId xmlns:a16="http://schemas.microsoft.com/office/drawing/2014/main" id="{22C3A32B-8C34-4B2B-B87C-98743B291D2D}"/>
              </a:ext>
            </a:extLst>
          </p:cNvPr>
          <p:cNvSpPr>
            <a:spLocks noChangeArrowheads="1"/>
          </p:cNvSpPr>
          <p:nvPr/>
        </p:nvSpPr>
        <p:spPr bwMode="auto">
          <a:xfrm>
            <a:off x="4800600" y="2438400"/>
            <a:ext cx="914400" cy="396875"/>
          </a:xfrm>
          <a:prstGeom prst="flowChartDecision">
            <a:avLst/>
          </a:prstGeom>
          <a:solidFill>
            <a:srgbClr val="FFFFFF"/>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a:p>
        </p:txBody>
      </p:sp>
      <p:sp>
        <p:nvSpPr>
          <p:cNvPr id="17416" name="AutoShape 7">
            <a:extLst>
              <a:ext uri="{FF2B5EF4-FFF2-40B4-BE49-F238E27FC236}">
                <a16:creationId xmlns:a16="http://schemas.microsoft.com/office/drawing/2014/main" id="{EED987B6-EDD0-4DFF-9804-150EE4586C2E}"/>
              </a:ext>
            </a:extLst>
          </p:cNvPr>
          <p:cNvSpPr>
            <a:spLocks noChangeArrowheads="1"/>
          </p:cNvSpPr>
          <p:nvPr/>
        </p:nvSpPr>
        <p:spPr bwMode="auto">
          <a:xfrm>
            <a:off x="6324600" y="2438400"/>
            <a:ext cx="685800" cy="396875"/>
          </a:xfrm>
          <a:prstGeom prst="flowChartProcess">
            <a:avLst/>
          </a:prstGeom>
          <a:solidFill>
            <a:srgbClr val="FFFFFF"/>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a:p>
        </p:txBody>
      </p:sp>
      <p:sp>
        <p:nvSpPr>
          <p:cNvPr id="17417" name="Line 8">
            <a:extLst>
              <a:ext uri="{FF2B5EF4-FFF2-40B4-BE49-F238E27FC236}">
                <a16:creationId xmlns:a16="http://schemas.microsoft.com/office/drawing/2014/main" id="{15C88DB7-0283-43A2-8B15-02C415A94E44}"/>
              </a:ext>
            </a:extLst>
          </p:cNvPr>
          <p:cNvSpPr>
            <a:spLocks noChangeShapeType="1"/>
          </p:cNvSpPr>
          <p:nvPr/>
        </p:nvSpPr>
        <p:spPr bwMode="auto">
          <a:xfrm>
            <a:off x="1905000" y="3733800"/>
            <a:ext cx="0" cy="39687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18" name="Line 9">
            <a:extLst>
              <a:ext uri="{FF2B5EF4-FFF2-40B4-BE49-F238E27FC236}">
                <a16:creationId xmlns:a16="http://schemas.microsoft.com/office/drawing/2014/main" id="{58730D58-7B93-4877-B593-AD226FC8670D}"/>
              </a:ext>
            </a:extLst>
          </p:cNvPr>
          <p:cNvSpPr>
            <a:spLocks noChangeShapeType="1"/>
          </p:cNvSpPr>
          <p:nvPr/>
        </p:nvSpPr>
        <p:spPr bwMode="auto">
          <a:xfrm>
            <a:off x="2209800" y="4038600"/>
            <a:ext cx="3429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19" name="Oval 10">
            <a:extLst>
              <a:ext uri="{FF2B5EF4-FFF2-40B4-BE49-F238E27FC236}">
                <a16:creationId xmlns:a16="http://schemas.microsoft.com/office/drawing/2014/main" id="{FC8B8542-2AE2-45E7-A76F-20BBB35506F7}"/>
              </a:ext>
            </a:extLst>
          </p:cNvPr>
          <p:cNvSpPr>
            <a:spLocks noChangeArrowheads="1"/>
          </p:cNvSpPr>
          <p:nvPr/>
        </p:nvSpPr>
        <p:spPr bwMode="auto">
          <a:xfrm>
            <a:off x="3657600" y="3886200"/>
            <a:ext cx="228600" cy="198438"/>
          </a:xfrm>
          <a:prstGeom prst="ellipse">
            <a:avLst/>
          </a:prstGeom>
          <a:solidFill>
            <a:srgbClr val="FFFFFF"/>
          </a:solidFill>
          <a:ln w="9525">
            <a:solidFill>
              <a:srgbClr val="000000"/>
            </a:solidFill>
            <a:round/>
            <a:headEnd/>
            <a:tailEnd/>
          </a:ln>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a:p>
        </p:txBody>
      </p:sp>
      <p:sp>
        <p:nvSpPr>
          <p:cNvPr id="17420" name="Line 11">
            <a:extLst>
              <a:ext uri="{FF2B5EF4-FFF2-40B4-BE49-F238E27FC236}">
                <a16:creationId xmlns:a16="http://schemas.microsoft.com/office/drawing/2014/main" id="{2293BA14-2717-4AE7-B656-A8947426E0AA}"/>
              </a:ext>
            </a:extLst>
          </p:cNvPr>
          <p:cNvSpPr>
            <a:spLocks noChangeShapeType="1"/>
          </p:cNvSpPr>
          <p:nvPr/>
        </p:nvSpPr>
        <p:spPr bwMode="auto">
          <a:xfrm>
            <a:off x="5257800" y="3810000"/>
            <a:ext cx="0" cy="3968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1" name="Line 12">
            <a:extLst>
              <a:ext uri="{FF2B5EF4-FFF2-40B4-BE49-F238E27FC236}">
                <a16:creationId xmlns:a16="http://schemas.microsoft.com/office/drawing/2014/main" id="{37278AE7-522B-4C44-B063-F0EF146702FC}"/>
              </a:ext>
            </a:extLst>
          </p:cNvPr>
          <p:cNvSpPr>
            <a:spLocks noChangeShapeType="1"/>
          </p:cNvSpPr>
          <p:nvPr/>
        </p:nvSpPr>
        <p:spPr bwMode="auto">
          <a:xfrm>
            <a:off x="5257800" y="3810000"/>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2" name="Line 13">
            <a:extLst>
              <a:ext uri="{FF2B5EF4-FFF2-40B4-BE49-F238E27FC236}">
                <a16:creationId xmlns:a16="http://schemas.microsoft.com/office/drawing/2014/main" id="{CF3D44F5-DAB0-423A-B58F-47E47AD56477}"/>
              </a:ext>
            </a:extLst>
          </p:cNvPr>
          <p:cNvSpPr>
            <a:spLocks noChangeShapeType="1"/>
          </p:cNvSpPr>
          <p:nvPr/>
        </p:nvSpPr>
        <p:spPr bwMode="auto">
          <a:xfrm>
            <a:off x="5257800" y="4191000"/>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3" name="Line 14">
            <a:extLst>
              <a:ext uri="{FF2B5EF4-FFF2-40B4-BE49-F238E27FC236}">
                <a16:creationId xmlns:a16="http://schemas.microsoft.com/office/drawing/2014/main" id="{859FF7B5-EC94-4244-94D7-894C1606C150}"/>
              </a:ext>
            </a:extLst>
          </p:cNvPr>
          <p:cNvSpPr>
            <a:spLocks noChangeShapeType="1"/>
          </p:cNvSpPr>
          <p:nvPr/>
        </p:nvSpPr>
        <p:spPr bwMode="auto">
          <a:xfrm>
            <a:off x="4800600" y="3962400"/>
            <a:ext cx="457200"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4" name="Text Box 15">
            <a:extLst>
              <a:ext uri="{FF2B5EF4-FFF2-40B4-BE49-F238E27FC236}">
                <a16:creationId xmlns:a16="http://schemas.microsoft.com/office/drawing/2014/main" id="{8E64B10A-E9BC-48A3-9454-7C049E7520F5}"/>
              </a:ext>
            </a:extLst>
          </p:cNvPr>
          <p:cNvSpPr txBox="1">
            <a:spLocks noChangeArrowheads="1"/>
          </p:cNvSpPr>
          <p:nvPr/>
        </p:nvSpPr>
        <p:spPr bwMode="auto">
          <a:xfrm>
            <a:off x="1600200" y="3048000"/>
            <a:ext cx="114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3333CC"/>
                </a:solidFill>
                <a:latin typeface="宋体" panose="02010600030101010101" pitchFamily="2" charset="-122"/>
              </a:rPr>
              <a:t>起止框</a:t>
            </a:r>
          </a:p>
        </p:txBody>
      </p:sp>
      <p:sp>
        <p:nvSpPr>
          <p:cNvPr id="17425" name="Text Box 16">
            <a:extLst>
              <a:ext uri="{FF2B5EF4-FFF2-40B4-BE49-F238E27FC236}">
                <a16:creationId xmlns:a16="http://schemas.microsoft.com/office/drawing/2014/main" id="{76F5971E-76AF-4163-AC83-DB7CA53332DA}"/>
              </a:ext>
            </a:extLst>
          </p:cNvPr>
          <p:cNvSpPr txBox="1">
            <a:spLocks noChangeArrowheads="1"/>
          </p:cNvSpPr>
          <p:nvPr/>
        </p:nvSpPr>
        <p:spPr bwMode="auto">
          <a:xfrm>
            <a:off x="3200400" y="3124200"/>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endParaRPr lang="zh-CN" altLang="en-US" sz="2400"/>
          </a:p>
        </p:txBody>
      </p:sp>
      <p:sp>
        <p:nvSpPr>
          <p:cNvPr id="17426" name="Text Box 17">
            <a:extLst>
              <a:ext uri="{FF2B5EF4-FFF2-40B4-BE49-F238E27FC236}">
                <a16:creationId xmlns:a16="http://schemas.microsoft.com/office/drawing/2014/main" id="{EE271643-FC64-42EB-B248-0284CC77101F}"/>
              </a:ext>
            </a:extLst>
          </p:cNvPr>
          <p:cNvSpPr txBox="1">
            <a:spLocks noChangeArrowheads="1"/>
          </p:cNvSpPr>
          <p:nvPr/>
        </p:nvSpPr>
        <p:spPr bwMode="auto">
          <a:xfrm>
            <a:off x="3124200" y="3048000"/>
            <a:ext cx="1524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3333CC"/>
                </a:solidFill>
                <a:latin typeface="宋体" panose="02010600030101010101" pitchFamily="2" charset="-122"/>
              </a:rPr>
              <a:t>读入/出框</a:t>
            </a:r>
          </a:p>
        </p:txBody>
      </p:sp>
      <p:sp>
        <p:nvSpPr>
          <p:cNvPr id="17427" name="Text Box 18">
            <a:extLst>
              <a:ext uri="{FF2B5EF4-FFF2-40B4-BE49-F238E27FC236}">
                <a16:creationId xmlns:a16="http://schemas.microsoft.com/office/drawing/2014/main" id="{464551DB-AD7A-4ED1-93AA-6AC1E44261F9}"/>
              </a:ext>
            </a:extLst>
          </p:cNvPr>
          <p:cNvSpPr txBox="1">
            <a:spLocks noChangeArrowheads="1"/>
          </p:cNvSpPr>
          <p:nvPr/>
        </p:nvSpPr>
        <p:spPr bwMode="auto">
          <a:xfrm>
            <a:off x="4724400" y="3048000"/>
            <a:ext cx="106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3333CC"/>
                </a:solidFill>
                <a:latin typeface="宋体" panose="02010600030101010101" pitchFamily="2" charset="-122"/>
              </a:rPr>
              <a:t>判断框</a:t>
            </a:r>
          </a:p>
        </p:txBody>
      </p:sp>
      <p:sp>
        <p:nvSpPr>
          <p:cNvPr id="17428" name="Text Box 19">
            <a:extLst>
              <a:ext uri="{FF2B5EF4-FFF2-40B4-BE49-F238E27FC236}">
                <a16:creationId xmlns:a16="http://schemas.microsoft.com/office/drawing/2014/main" id="{7E697A22-3370-4F76-AD0B-C929DB13B883}"/>
              </a:ext>
            </a:extLst>
          </p:cNvPr>
          <p:cNvSpPr txBox="1">
            <a:spLocks noChangeArrowheads="1"/>
          </p:cNvSpPr>
          <p:nvPr/>
        </p:nvSpPr>
        <p:spPr bwMode="auto">
          <a:xfrm>
            <a:off x="6248400" y="3048000"/>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3333CC"/>
                </a:solidFill>
                <a:latin typeface="宋体" panose="02010600030101010101" pitchFamily="2" charset="-122"/>
              </a:rPr>
              <a:t>处理框</a:t>
            </a:r>
          </a:p>
        </p:txBody>
      </p:sp>
      <p:sp>
        <p:nvSpPr>
          <p:cNvPr id="17429" name="Text Box 20">
            <a:extLst>
              <a:ext uri="{FF2B5EF4-FFF2-40B4-BE49-F238E27FC236}">
                <a16:creationId xmlns:a16="http://schemas.microsoft.com/office/drawing/2014/main" id="{1EDC8A5C-5CFF-4305-A36D-F1BC0BAE5347}"/>
              </a:ext>
            </a:extLst>
          </p:cNvPr>
          <p:cNvSpPr txBox="1">
            <a:spLocks noChangeArrowheads="1"/>
          </p:cNvSpPr>
          <p:nvPr/>
        </p:nvSpPr>
        <p:spPr bwMode="auto">
          <a:xfrm>
            <a:off x="1752600" y="4572000"/>
            <a:ext cx="114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3333CC"/>
                </a:solidFill>
                <a:latin typeface="宋体" panose="02010600030101010101" pitchFamily="2" charset="-122"/>
              </a:rPr>
              <a:t>流程线 </a:t>
            </a:r>
            <a:endParaRPr lang="zh-CN" altLang="en-US" sz="2000">
              <a:solidFill>
                <a:srgbClr val="3333CC"/>
              </a:solidFill>
              <a:latin typeface="宋体" panose="02010600030101010101" pitchFamily="2" charset="-122"/>
              <a:cs typeface="Times New Roman" panose="02020603050405020304" pitchFamily="18" charset="0"/>
            </a:endParaRPr>
          </a:p>
        </p:txBody>
      </p:sp>
      <p:sp>
        <p:nvSpPr>
          <p:cNvPr id="17430" name="Text Box 21">
            <a:extLst>
              <a:ext uri="{FF2B5EF4-FFF2-40B4-BE49-F238E27FC236}">
                <a16:creationId xmlns:a16="http://schemas.microsoft.com/office/drawing/2014/main" id="{41C553E8-11E4-4272-82AC-B870E5EBDE0C}"/>
              </a:ext>
            </a:extLst>
          </p:cNvPr>
          <p:cNvSpPr txBox="1">
            <a:spLocks noChangeArrowheads="1"/>
          </p:cNvSpPr>
          <p:nvPr/>
        </p:nvSpPr>
        <p:spPr bwMode="auto">
          <a:xfrm>
            <a:off x="3276600" y="4572000"/>
            <a:ext cx="114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3333CC"/>
                </a:solidFill>
                <a:latin typeface="宋体" panose="02010600030101010101" pitchFamily="2" charset="-122"/>
              </a:rPr>
              <a:t>连接点 </a:t>
            </a:r>
            <a:endParaRPr lang="zh-CN" altLang="en-US" sz="2000">
              <a:solidFill>
                <a:srgbClr val="3333CC"/>
              </a:solidFill>
              <a:latin typeface="宋体" panose="02010600030101010101" pitchFamily="2" charset="-122"/>
              <a:cs typeface="Times New Roman" panose="02020603050405020304" pitchFamily="18" charset="0"/>
            </a:endParaRPr>
          </a:p>
        </p:txBody>
      </p:sp>
      <p:sp>
        <p:nvSpPr>
          <p:cNvPr id="17431" name="Text Box 22">
            <a:extLst>
              <a:ext uri="{FF2B5EF4-FFF2-40B4-BE49-F238E27FC236}">
                <a16:creationId xmlns:a16="http://schemas.microsoft.com/office/drawing/2014/main" id="{D1D6C13F-BD97-4871-91C2-CAE2789742E8}"/>
              </a:ext>
            </a:extLst>
          </p:cNvPr>
          <p:cNvSpPr txBox="1">
            <a:spLocks noChangeArrowheads="1"/>
          </p:cNvSpPr>
          <p:nvPr/>
        </p:nvSpPr>
        <p:spPr bwMode="auto">
          <a:xfrm>
            <a:off x="4800600" y="4572000"/>
            <a:ext cx="114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3333CC"/>
                </a:solidFill>
                <a:latin typeface="宋体" panose="02010600030101010101" pitchFamily="2" charset="-122"/>
              </a:rPr>
              <a:t>注释框 </a:t>
            </a:r>
            <a:endParaRPr lang="zh-CN" altLang="en-US" sz="2000">
              <a:solidFill>
                <a:srgbClr val="3333CC"/>
              </a:solidFill>
              <a:latin typeface="宋体" panose="02010600030101010101" pitchFamily="2" charset="-122"/>
              <a:cs typeface="Times New Roman" panose="02020603050405020304" pitchFamily="18" charset="0"/>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4">
            <a:extLst>
              <a:ext uri="{FF2B5EF4-FFF2-40B4-BE49-F238E27FC236}">
                <a16:creationId xmlns:a16="http://schemas.microsoft.com/office/drawing/2014/main" id="{87D9A860-2C50-4E08-9DF6-FE7E2D245EDB}"/>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spcBef>
                <a:spcPct val="50000"/>
              </a:spcBef>
              <a:buFontTx/>
              <a:buChar char="•"/>
            </a:pPr>
            <a:fld id="{06B5B1F9-5671-4BAC-BF0B-7E16901DDC9A}" type="slidenum">
              <a:rPr altLang="en-US" sz="1400"/>
              <a:pPr>
                <a:spcBef>
                  <a:spcPct val="50000"/>
                </a:spcBef>
                <a:buFontTx/>
                <a:buChar char="•"/>
              </a:pPr>
              <a:t>63</a:t>
            </a:fld>
            <a:endParaRPr lang="zh-CN" altLang="en-US" sz="1400"/>
          </a:p>
        </p:txBody>
      </p:sp>
      <p:sp>
        <p:nvSpPr>
          <p:cNvPr id="24579" name="Rectangle 3">
            <a:extLst>
              <a:ext uri="{FF2B5EF4-FFF2-40B4-BE49-F238E27FC236}">
                <a16:creationId xmlns:a16="http://schemas.microsoft.com/office/drawing/2014/main" id="{8EE9D764-4BC0-470A-8CDF-AC53AC18C71C}"/>
              </a:ext>
            </a:extLst>
          </p:cNvPr>
          <p:cNvSpPr>
            <a:spLocks noGrp="1" noChangeArrowheads="1"/>
          </p:cNvSpPr>
          <p:nvPr>
            <p:ph idx="1"/>
          </p:nvPr>
        </p:nvSpPr>
        <p:spPr>
          <a:xfrm>
            <a:off x="685800" y="1371600"/>
            <a:ext cx="7772400" cy="685800"/>
          </a:xfrm>
        </p:spPr>
        <p:txBody>
          <a:bodyPr/>
          <a:lstStyle/>
          <a:p>
            <a:pPr eaLnBrk="1" hangingPunct="1"/>
            <a:r>
              <a:rPr lang="zh-CN" altLang="en-US"/>
              <a:t>   </a:t>
            </a:r>
            <a:r>
              <a:rPr lang="zh-CN" altLang="en-US" b="1"/>
              <a:t>基本结构</a:t>
            </a:r>
            <a:endParaRPr lang="en-US" altLang="zh-CN" b="1"/>
          </a:p>
        </p:txBody>
      </p:sp>
      <p:sp>
        <p:nvSpPr>
          <p:cNvPr id="24580" name="Rectangle 33">
            <a:extLst>
              <a:ext uri="{FF2B5EF4-FFF2-40B4-BE49-F238E27FC236}">
                <a16:creationId xmlns:a16="http://schemas.microsoft.com/office/drawing/2014/main" id="{D0CC7A2B-6CF3-469F-960F-81804D5A94A0}"/>
              </a:ext>
            </a:extLst>
          </p:cNvPr>
          <p:cNvSpPr>
            <a:spLocks noChangeArrowheads="1"/>
          </p:cNvSpPr>
          <p:nvPr/>
        </p:nvSpPr>
        <p:spPr bwMode="auto">
          <a:xfrm>
            <a:off x="2343150" y="2495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581" name="Rectangle 35">
            <a:extLst>
              <a:ext uri="{FF2B5EF4-FFF2-40B4-BE49-F238E27FC236}">
                <a16:creationId xmlns:a16="http://schemas.microsoft.com/office/drawing/2014/main" id="{63A75F2E-080A-464F-8A51-D3F9C190008E}"/>
              </a:ext>
            </a:extLst>
          </p:cNvPr>
          <p:cNvSpPr>
            <a:spLocks noChangeArrowheads="1"/>
          </p:cNvSpPr>
          <p:nvPr/>
        </p:nvSpPr>
        <p:spPr bwMode="auto">
          <a:xfrm>
            <a:off x="2457450" y="26527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582" name="Rectangle 37">
            <a:extLst>
              <a:ext uri="{FF2B5EF4-FFF2-40B4-BE49-F238E27FC236}">
                <a16:creationId xmlns:a16="http://schemas.microsoft.com/office/drawing/2014/main" id="{C14353BA-AA82-4962-9840-8FC88E2CA5E7}"/>
              </a:ext>
            </a:extLst>
          </p:cNvPr>
          <p:cNvSpPr>
            <a:spLocks noGrp="1" noChangeArrowheads="1"/>
          </p:cNvSpPr>
          <p:nvPr>
            <p:ph type="title"/>
          </p:nvPr>
        </p:nvSpPr>
        <p:spPr/>
        <p:txBody>
          <a:bodyPr lIns="92075" tIns="46038" rIns="92075" bIns="46038"/>
          <a:lstStyle/>
          <a:p>
            <a:pPr eaLnBrk="1" hangingPunct="1"/>
            <a:r>
              <a:rPr lang="zh-CN" altLang="en-US" b="1" dirty="0"/>
              <a:t>程序的结构描述</a:t>
            </a:r>
            <a:r>
              <a:rPr lang="zh-CN" altLang="en-US" sz="3600" b="1" dirty="0">
                <a:latin typeface="宋体" panose="02010600030101010101" pitchFamily="2" charset="-122"/>
              </a:rPr>
              <a:t>－</a:t>
            </a:r>
            <a:r>
              <a:rPr lang="en-US" altLang="zh-CN" sz="3600" b="1" dirty="0">
                <a:solidFill>
                  <a:srgbClr val="FF9900"/>
                </a:solidFill>
                <a:latin typeface="宋体" panose="02010600030101010101" pitchFamily="2" charset="-122"/>
              </a:rPr>
              <a:t>N-S</a:t>
            </a:r>
            <a:r>
              <a:rPr lang="zh-CN" altLang="en-US" b="1" dirty="0">
                <a:solidFill>
                  <a:srgbClr val="FF9900"/>
                </a:solidFill>
              </a:rPr>
              <a:t>流程图</a:t>
            </a:r>
          </a:p>
        </p:txBody>
      </p:sp>
      <p:graphicFrame>
        <p:nvGraphicFramePr>
          <p:cNvPr id="24583" name="Object 39">
            <a:extLst>
              <a:ext uri="{FF2B5EF4-FFF2-40B4-BE49-F238E27FC236}">
                <a16:creationId xmlns:a16="http://schemas.microsoft.com/office/drawing/2014/main" id="{DA81C8EE-6176-4275-B253-C360F079CA45}"/>
              </a:ext>
            </a:extLst>
          </p:cNvPr>
          <p:cNvGraphicFramePr>
            <a:graphicFrameLocks noChangeAspect="1"/>
          </p:cNvGraphicFramePr>
          <p:nvPr/>
        </p:nvGraphicFramePr>
        <p:xfrm>
          <a:off x="647700" y="1773238"/>
          <a:ext cx="5508625" cy="2400300"/>
        </p:xfrm>
        <a:graphic>
          <a:graphicData uri="http://schemas.openxmlformats.org/presentationml/2006/ole">
            <mc:AlternateContent xmlns:mc="http://schemas.openxmlformats.org/markup-compatibility/2006">
              <mc:Choice xmlns:v="urn:schemas-microsoft-com:vml" Requires="v">
                <p:oleObj r:id="rId2" imgW="5695920" imgH="2485080" progId="Visio.Drawing.11">
                  <p:embed/>
                </p:oleObj>
              </mc:Choice>
              <mc:Fallback>
                <p:oleObj r:id="rId2" imgW="5695920" imgH="2485080" progId="Visio.Drawing.11">
                  <p:embed/>
                  <p:pic>
                    <p:nvPicPr>
                      <p:cNvPr id="24583" name="Object 39">
                        <a:extLst>
                          <a:ext uri="{FF2B5EF4-FFF2-40B4-BE49-F238E27FC236}">
                            <a16:creationId xmlns:a16="http://schemas.microsoft.com/office/drawing/2014/main" id="{DA81C8EE-6176-4275-B253-C360F079CA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 y="1773238"/>
                        <a:ext cx="5508625"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4584" name="Object 38">
            <a:extLst>
              <a:ext uri="{FF2B5EF4-FFF2-40B4-BE49-F238E27FC236}">
                <a16:creationId xmlns:a16="http://schemas.microsoft.com/office/drawing/2014/main" id="{5FC0DA2C-9AE1-43A0-A1B1-E0110C617CA4}"/>
              </a:ext>
            </a:extLst>
          </p:cNvPr>
          <p:cNvGraphicFramePr>
            <a:graphicFrameLocks noChangeAspect="1"/>
          </p:cNvGraphicFramePr>
          <p:nvPr/>
        </p:nvGraphicFramePr>
        <p:xfrm>
          <a:off x="593725" y="3886200"/>
          <a:ext cx="5938838" cy="2162175"/>
        </p:xfrm>
        <a:graphic>
          <a:graphicData uri="http://schemas.openxmlformats.org/presentationml/2006/ole">
            <mc:AlternateContent xmlns:mc="http://schemas.openxmlformats.org/markup-compatibility/2006">
              <mc:Choice xmlns:v="urn:schemas-microsoft-com:vml" Requires="v">
                <p:oleObj r:id="rId4" imgW="5568480" imgH="2081880" progId="Visio.Drawing.11">
                  <p:embed/>
                </p:oleObj>
              </mc:Choice>
              <mc:Fallback>
                <p:oleObj r:id="rId4" imgW="5568480" imgH="2081880" progId="Visio.Drawing.11">
                  <p:embed/>
                  <p:pic>
                    <p:nvPicPr>
                      <p:cNvPr id="24584" name="Object 38">
                        <a:extLst>
                          <a:ext uri="{FF2B5EF4-FFF2-40B4-BE49-F238E27FC236}">
                            <a16:creationId xmlns:a16="http://schemas.microsoft.com/office/drawing/2014/main" id="{5FC0DA2C-9AE1-43A0-A1B1-E0110C617CA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3725" y="3886200"/>
                        <a:ext cx="5938838" cy="216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0872" name="Rectangle 40">
            <a:extLst>
              <a:ext uri="{FF2B5EF4-FFF2-40B4-BE49-F238E27FC236}">
                <a16:creationId xmlns:a16="http://schemas.microsoft.com/office/drawing/2014/main" id="{C2451702-C08A-43BA-851A-16F0C091EF64}"/>
              </a:ext>
            </a:extLst>
          </p:cNvPr>
          <p:cNvSpPr>
            <a:spLocks noChangeArrowheads="1"/>
          </p:cNvSpPr>
          <p:nvPr/>
        </p:nvSpPr>
        <p:spPr bwMode="auto">
          <a:xfrm>
            <a:off x="0" y="1576388"/>
            <a:ext cx="9144000" cy="0"/>
          </a:xfrm>
          <a:prstGeom prst="rect">
            <a:avLst/>
          </a:prstGeom>
          <a:noFill/>
          <a:ln w="9525">
            <a:noFill/>
            <a:miter lim="800000"/>
          </a:ln>
          <a:effectLst>
            <a:prstShdw prst="shdw18" dist="17961" dir="13500000">
              <a:schemeClr val="bg1">
                <a:gamma/>
                <a:shade val="60000"/>
                <a:invGamma/>
              </a:schemeClr>
            </a:prstShdw>
          </a:effectLst>
        </p:spPr>
        <p:txBody>
          <a:bodyPr wrap="none" anchor="ctr">
            <a:spAutoFit/>
          </a:bodyPr>
          <a:lstStyle/>
          <a:p>
            <a:pPr eaLnBrk="1" hangingPunct="1">
              <a:spcBef>
                <a:spcPct val="20000"/>
              </a:spcBef>
              <a:buFontTx/>
              <a:buChar char="•"/>
              <a:defRPr/>
            </a:pPr>
            <a:endParaRPr kumimoji="1" lang="zh-CN" altLang="en-US"/>
          </a:p>
        </p:txBody>
      </p:sp>
      <p:sp>
        <p:nvSpPr>
          <p:cNvPr id="120873" name="Rectangle 41">
            <a:extLst>
              <a:ext uri="{FF2B5EF4-FFF2-40B4-BE49-F238E27FC236}">
                <a16:creationId xmlns:a16="http://schemas.microsoft.com/office/drawing/2014/main" id="{4F0D9919-8950-4229-BE48-76FE0D88C0E5}"/>
              </a:ext>
            </a:extLst>
          </p:cNvPr>
          <p:cNvSpPr>
            <a:spLocks noChangeArrowheads="1"/>
          </p:cNvSpPr>
          <p:nvPr/>
        </p:nvSpPr>
        <p:spPr bwMode="auto">
          <a:xfrm>
            <a:off x="0" y="3290888"/>
            <a:ext cx="184150" cy="457200"/>
          </a:xfrm>
          <a:prstGeom prst="rect">
            <a:avLst/>
          </a:prstGeom>
          <a:noFill/>
          <a:ln w="9525">
            <a:noFill/>
            <a:miter lim="800000"/>
          </a:ln>
          <a:effectLst>
            <a:prstShdw prst="shdw18" dist="17961" dir="13500000">
              <a:schemeClr val="bg1">
                <a:gamma/>
                <a:shade val="60000"/>
                <a:invGamma/>
              </a:schemeClr>
            </a:prstShdw>
          </a:effectLst>
        </p:spPr>
        <p:txBody>
          <a:bodyPr wrap="none" anchor="ctr">
            <a:spAutoFit/>
          </a:bodyPr>
          <a:lstStyle/>
          <a:p>
            <a:pPr eaLnBrk="1" hangingPunct="1">
              <a:defRPr/>
            </a:pPr>
            <a:endParaRPr lang="zh-CN" altLang="en-US" sz="2400"/>
          </a:p>
        </p:txBody>
      </p:sp>
      <p:sp>
        <p:nvSpPr>
          <p:cNvPr id="120874" name="Rectangle 42">
            <a:extLst>
              <a:ext uri="{FF2B5EF4-FFF2-40B4-BE49-F238E27FC236}">
                <a16:creationId xmlns:a16="http://schemas.microsoft.com/office/drawing/2014/main" id="{34DFB22E-9627-4E5D-ACC6-610F5A156AB7}"/>
              </a:ext>
            </a:extLst>
          </p:cNvPr>
          <p:cNvSpPr>
            <a:spLocks noChangeArrowheads="1"/>
          </p:cNvSpPr>
          <p:nvPr/>
        </p:nvSpPr>
        <p:spPr bwMode="auto">
          <a:xfrm>
            <a:off x="0" y="5053013"/>
            <a:ext cx="184150" cy="457200"/>
          </a:xfrm>
          <a:prstGeom prst="rect">
            <a:avLst/>
          </a:prstGeom>
          <a:noFill/>
          <a:ln w="9525">
            <a:noFill/>
            <a:miter lim="800000"/>
          </a:ln>
          <a:effectLst>
            <a:prstShdw prst="shdw18" dist="17961" dir="13500000">
              <a:schemeClr val="bg1">
                <a:gamma/>
                <a:shade val="60000"/>
                <a:invGamma/>
              </a:schemeClr>
            </a:prstShdw>
          </a:effectLst>
        </p:spPr>
        <p:txBody>
          <a:bodyPr wrap="none" anchor="ctr">
            <a:spAutoFit/>
          </a:bodyPr>
          <a:lstStyle/>
          <a:p>
            <a:pPr eaLnBrk="1" hangingPunct="1">
              <a:defRPr/>
            </a:pPr>
            <a:endParaRPr lang="zh-CN" altLang="en-US" sz="2400"/>
          </a:p>
        </p:txBody>
      </p:sp>
      <p:sp>
        <p:nvSpPr>
          <p:cNvPr id="24588" name="Text Box 45">
            <a:extLst>
              <a:ext uri="{FF2B5EF4-FFF2-40B4-BE49-F238E27FC236}">
                <a16:creationId xmlns:a16="http://schemas.microsoft.com/office/drawing/2014/main" id="{A15266CA-F539-4BEB-B86B-77A089D43678}"/>
              </a:ext>
            </a:extLst>
          </p:cNvPr>
          <p:cNvSpPr txBox="1">
            <a:spLocks noChangeArrowheads="1"/>
          </p:cNvSpPr>
          <p:nvPr/>
        </p:nvSpPr>
        <p:spPr bwMode="auto">
          <a:xfrm>
            <a:off x="6300788" y="1844675"/>
            <a:ext cx="2447925" cy="3935413"/>
          </a:xfrm>
          <a:prstGeom prst="rect">
            <a:avLst/>
          </a:prstGeom>
          <a:solidFill>
            <a:srgbClr val="CCFFCC"/>
          </a:solidFill>
          <a:ln w="9525">
            <a:solidFill>
              <a:schemeClr val="tx1"/>
            </a:solidFill>
            <a:miter lim="800000"/>
            <a:headEnd/>
            <a:tailEnd/>
          </a:ln>
        </p:spPr>
        <p:txBody>
          <a:bodyPr>
            <a:spAutoFit/>
          </a:bodyPr>
          <a:lstStyle>
            <a:lvl1pPr marL="342900" indent="-342900">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p</a:t>
            </a:r>
            <a:r>
              <a:rPr lang="zh-CN" altLang="en-US" sz="2400" b="1"/>
              <a:t>、</a:t>
            </a:r>
            <a:r>
              <a:rPr lang="en-US" altLang="zh-CN" sz="2400" b="1"/>
              <a:t>p1</a:t>
            </a:r>
            <a:r>
              <a:rPr lang="zh-CN" altLang="en-US" sz="2400" b="1"/>
              <a:t>表示的是判断条件；</a:t>
            </a:r>
            <a:r>
              <a:rPr lang="en-US" altLang="zh-CN" sz="2400" b="1"/>
              <a:t>A</a:t>
            </a:r>
            <a:r>
              <a:rPr lang="zh-CN" altLang="en-US" sz="2400" b="1"/>
              <a:t>、</a:t>
            </a:r>
            <a:r>
              <a:rPr lang="en-US" altLang="zh-CN" sz="2400" b="1"/>
              <a:t>B</a:t>
            </a:r>
            <a:r>
              <a:rPr lang="zh-CN" altLang="en-US" sz="2400" b="1"/>
              <a:t>框是操作；</a:t>
            </a:r>
          </a:p>
          <a:p>
            <a:pPr eaLnBrk="1" hangingPunct="1">
              <a:spcBef>
                <a:spcPct val="50000"/>
              </a:spcBef>
              <a:buFontTx/>
              <a:buNone/>
            </a:pPr>
            <a:r>
              <a:rPr lang="zh-CN" altLang="en-US" sz="2400" b="1"/>
              <a:t>注意：</a:t>
            </a:r>
            <a:r>
              <a:rPr lang="en-US" altLang="zh-CN" sz="2400" b="1"/>
              <a:t>A</a:t>
            </a:r>
            <a:r>
              <a:rPr lang="zh-CN" altLang="en-US" sz="2400" b="1"/>
              <a:t>、</a:t>
            </a:r>
            <a:r>
              <a:rPr lang="en-US" altLang="zh-CN" sz="2400" b="1"/>
              <a:t>B</a:t>
            </a:r>
            <a:r>
              <a:rPr lang="zh-CN" altLang="en-US" sz="2400" b="1"/>
              <a:t>框可以是一个简单的操作（如读入数据或打印打印等），也可以是三种基本结构之一</a:t>
            </a:r>
          </a:p>
        </p:txBody>
      </p:sp>
      <p:sp>
        <p:nvSpPr>
          <p:cNvPr id="24589" name="Text Box 46">
            <a:extLst>
              <a:ext uri="{FF2B5EF4-FFF2-40B4-BE49-F238E27FC236}">
                <a16:creationId xmlns:a16="http://schemas.microsoft.com/office/drawing/2014/main" id="{8F02D54C-4143-481E-9135-1FA4F8244FED}"/>
              </a:ext>
            </a:extLst>
          </p:cNvPr>
          <p:cNvSpPr txBox="1">
            <a:spLocks noChangeArrowheads="1"/>
          </p:cNvSpPr>
          <p:nvPr/>
        </p:nvSpPr>
        <p:spPr bwMode="auto">
          <a:xfrm>
            <a:off x="1187450" y="3429000"/>
            <a:ext cx="187325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solidFill>
                  <a:schemeClr val="accent2"/>
                </a:solidFill>
              </a:rPr>
              <a:t>顺序结构</a:t>
            </a:r>
          </a:p>
        </p:txBody>
      </p:sp>
      <p:sp>
        <p:nvSpPr>
          <p:cNvPr id="24590" name="Text Box 47">
            <a:extLst>
              <a:ext uri="{FF2B5EF4-FFF2-40B4-BE49-F238E27FC236}">
                <a16:creationId xmlns:a16="http://schemas.microsoft.com/office/drawing/2014/main" id="{D4897B89-0BFC-4559-A72B-B2B17EB86578}"/>
              </a:ext>
            </a:extLst>
          </p:cNvPr>
          <p:cNvSpPr txBox="1">
            <a:spLocks noChangeArrowheads="1"/>
          </p:cNvSpPr>
          <p:nvPr/>
        </p:nvSpPr>
        <p:spPr bwMode="auto">
          <a:xfrm>
            <a:off x="3924300" y="3429000"/>
            <a:ext cx="187325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solidFill>
                  <a:schemeClr val="accent2"/>
                </a:solidFill>
              </a:rPr>
              <a:t>选择结构</a:t>
            </a:r>
          </a:p>
        </p:txBody>
      </p:sp>
      <p:sp>
        <p:nvSpPr>
          <p:cNvPr id="24591" name="Text Box 48">
            <a:extLst>
              <a:ext uri="{FF2B5EF4-FFF2-40B4-BE49-F238E27FC236}">
                <a16:creationId xmlns:a16="http://schemas.microsoft.com/office/drawing/2014/main" id="{77CD3A4C-50CE-4041-99CD-559695740E63}"/>
              </a:ext>
            </a:extLst>
          </p:cNvPr>
          <p:cNvSpPr txBox="1">
            <a:spLocks noChangeArrowheads="1"/>
          </p:cNvSpPr>
          <p:nvPr/>
        </p:nvSpPr>
        <p:spPr bwMode="auto">
          <a:xfrm>
            <a:off x="1258888" y="5300663"/>
            <a:ext cx="2376487"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solidFill>
                  <a:schemeClr val="accent2"/>
                </a:solidFill>
              </a:rPr>
              <a:t>当型循环结构</a:t>
            </a:r>
          </a:p>
        </p:txBody>
      </p:sp>
      <p:sp>
        <p:nvSpPr>
          <p:cNvPr id="24592" name="Text Box 49">
            <a:extLst>
              <a:ext uri="{FF2B5EF4-FFF2-40B4-BE49-F238E27FC236}">
                <a16:creationId xmlns:a16="http://schemas.microsoft.com/office/drawing/2014/main" id="{44C922A4-7BAE-4A4E-A516-5C54E6DE2BAA}"/>
              </a:ext>
            </a:extLst>
          </p:cNvPr>
          <p:cNvSpPr txBox="1">
            <a:spLocks noChangeArrowheads="1"/>
          </p:cNvSpPr>
          <p:nvPr/>
        </p:nvSpPr>
        <p:spPr bwMode="auto">
          <a:xfrm>
            <a:off x="3924300" y="5300663"/>
            <a:ext cx="2376488"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solidFill>
                  <a:schemeClr val="accent2"/>
                </a:solidFill>
              </a:rPr>
              <a:t>直到型循环结构</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p:cNvSpPr>
          <p:nvPr>
            <p:ph type="title"/>
          </p:nvPr>
        </p:nvSpPr>
        <p:spPr/>
        <p:txBody>
          <a:bodyPr vert="horz" wrap="square" lIns="68580" tIns="34290" rIns="68580" bIns="34290" numCol="1" anchor="ctr" anchorCtr="0" compatLnSpc="1">
            <a:prstTxWarp prst="textNoShape">
              <a:avLst/>
            </a:prstTxWarp>
          </a:bodyPr>
          <a:lstStyle/>
          <a:p>
            <a:pPr eaLnBrk="1" hangingPunct="1"/>
            <a:r>
              <a:rPr lang="en-US" altLang="zh-CN" b="1" dirty="0">
                <a:sym typeface="+mn-ea"/>
              </a:rPr>
              <a:t>三种基本控制结构</a:t>
            </a:r>
            <a:endParaRPr lang="zh-CN" altLang="en-US" b="1" dirty="0"/>
          </a:p>
        </p:txBody>
      </p:sp>
      <p:graphicFrame>
        <p:nvGraphicFramePr>
          <p:cNvPr id="54278" name="Object 39"/>
          <p:cNvGraphicFramePr>
            <a:graphicFrameLocks noChangeAspect="1"/>
          </p:cNvGraphicFramePr>
          <p:nvPr/>
        </p:nvGraphicFramePr>
        <p:xfrm>
          <a:off x="395764" y="1261993"/>
          <a:ext cx="4131469" cy="1800225"/>
        </p:xfrm>
        <a:graphic>
          <a:graphicData uri="http://schemas.openxmlformats.org/presentationml/2006/ole">
            <mc:AlternateContent xmlns:mc="http://schemas.openxmlformats.org/markup-compatibility/2006">
              <mc:Choice xmlns:v="urn:schemas-microsoft-com:vml" Requires="v">
                <p:oleObj r:id="rId3" imgW="5723255" imgH="2506345" progId="Visio.Drawing.11">
                  <p:embed/>
                </p:oleObj>
              </mc:Choice>
              <mc:Fallback>
                <p:oleObj r:id="rId3" imgW="5723255" imgH="2506345" progId="Visio.Drawing.11">
                  <p:embed/>
                  <p:pic>
                    <p:nvPicPr>
                      <p:cNvPr id="54278" name="Object 39"/>
                      <p:cNvPicPr/>
                      <p:nvPr/>
                    </p:nvPicPr>
                    <p:blipFill>
                      <a:blip r:embed="rId4"/>
                      <a:stretch>
                        <a:fillRect/>
                      </a:stretch>
                    </p:blipFill>
                    <p:spPr>
                      <a:xfrm>
                        <a:off x="395764" y="1261993"/>
                        <a:ext cx="4131469" cy="1800225"/>
                      </a:xfrm>
                      <a:prstGeom prst="rect">
                        <a:avLst/>
                      </a:prstGeom>
                      <a:noFill/>
                      <a:ln w="38100">
                        <a:noFill/>
                        <a:miter/>
                      </a:ln>
                    </p:spPr>
                  </p:pic>
                </p:oleObj>
              </mc:Fallback>
            </mc:AlternateContent>
          </a:graphicData>
        </a:graphic>
      </p:graphicFrame>
      <p:graphicFrame>
        <p:nvGraphicFramePr>
          <p:cNvPr id="54279" name="Object 38"/>
          <p:cNvGraphicFramePr>
            <a:graphicFrameLocks noChangeAspect="1"/>
          </p:cNvGraphicFramePr>
          <p:nvPr/>
        </p:nvGraphicFramePr>
        <p:xfrm>
          <a:off x="4577001" y="1273661"/>
          <a:ext cx="4454128" cy="1664494"/>
        </p:xfrm>
        <a:graphic>
          <a:graphicData uri="http://schemas.openxmlformats.org/presentationml/2006/ole">
            <mc:AlternateContent xmlns:mc="http://schemas.openxmlformats.org/markup-compatibility/2006">
              <mc:Choice xmlns:v="urn:schemas-microsoft-com:vml" Requires="v">
                <p:oleObj r:id="rId5" imgW="5599430" imgH="2099945" progId="Visio.Drawing.11">
                  <p:embed/>
                </p:oleObj>
              </mc:Choice>
              <mc:Fallback>
                <p:oleObj r:id="rId5" imgW="5599430" imgH="2099945" progId="Visio.Drawing.11">
                  <p:embed/>
                  <p:pic>
                    <p:nvPicPr>
                      <p:cNvPr id="54279" name="Object 38"/>
                      <p:cNvPicPr/>
                      <p:nvPr/>
                    </p:nvPicPr>
                    <p:blipFill>
                      <a:blip r:embed="rId6"/>
                      <a:stretch>
                        <a:fillRect/>
                      </a:stretch>
                    </p:blipFill>
                    <p:spPr>
                      <a:xfrm>
                        <a:off x="4577001" y="1273661"/>
                        <a:ext cx="4454128" cy="1664494"/>
                      </a:xfrm>
                      <a:prstGeom prst="rect">
                        <a:avLst/>
                      </a:prstGeom>
                      <a:noFill/>
                      <a:ln w="38100">
                        <a:noFill/>
                        <a:miter/>
                      </a:ln>
                    </p:spPr>
                  </p:pic>
                </p:oleObj>
              </mc:Fallback>
            </mc:AlternateContent>
          </a:graphicData>
        </a:graphic>
      </p:graphicFrame>
      <p:sp>
        <p:nvSpPr>
          <p:cNvPr id="49154" name="Rectangle 4"/>
          <p:cNvSpPr>
            <a:spLocks noGrp="1"/>
          </p:cNvSpPr>
          <p:nvPr>
            <p:ph idx="1"/>
          </p:nvPr>
        </p:nvSpPr>
        <p:spPr>
          <a:xfrm>
            <a:off x="738664" y="2961491"/>
            <a:ext cx="7772400" cy="2051685"/>
          </a:xfrm>
        </p:spPr>
        <p:txBody>
          <a:bodyPr vert="horz" wrap="square" lIns="69056" tIns="34529" rIns="69056" bIns="34529" numCol="1" anchor="t" anchorCtr="0" compatLnSpc="1">
            <a:prstTxWarp prst="textNoShape">
              <a:avLst/>
            </a:prstTxWarp>
          </a:bodyPr>
          <a:lstStyle/>
          <a:p>
            <a:pPr algn="just" eaLnBrk="1" hangingPunct="1">
              <a:buNone/>
            </a:pPr>
            <a:r>
              <a:rPr lang="zh-CN" altLang="en-US" b="1" dirty="0">
                <a:latin typeface="宋体" pitchFamily="2" charset="-122"/>
              </a:rPr>
              <a:t>三种控制结构的共同点</a:t>
            </a:r>
            <a:endParaRPr lang="zh-CN" altLang="en-US" dirty="0">
              <a:latin typeface="宋体" pitchFamily="2" charset="-122"/>
              <a:ea typeface="Times New Roman" pitchFamily="18" charset="0"/>
            </a:endParaRPr>
          </a:p>
          <a:p>
            <a:pPr algn="just" eaLnBrk="1" hangingPunct="1">
              <a:buFont typeface="Wingdings" pitchFamily="2" charset="2"/>
              <a:buChar char="Ø"/>
            </a:pPr>
            <a:r>
              <a:rPr lang="zh-CN" altLang="en-US" b="1" dirty="0">
                <a:latin typeface="宋体" pitchFamily="2" charset="-122"/>
              </a:rPr>
              <a:t> </a:t>
            </a:r>
            <a:r>
              <a:rPr lang="zh-CN" altLang="en-US" b="1" dirty="0">
                <a:solidFill>
                  <a:srgbClr val="000066"/>
                </a:solidFill>
              </a:rPr>
              <a:t>只有一个入口</a:t>
            </a:r>
          </a:p>
          <a:p>
            <a:pPr algn="just" eaLnBrk="1" hangingPunct="1">
              <a:buFont typeface="Wingdings" pitchFamily="2" charset="2"/>
              <a:buChar char="Ø"/>
            </a:pPr>
            <a:r>
              <a:rPr lang="zh-CN" altLang="en-US" b="1" dirty="0">
                <a:solidFill>
                  <a:srgbClr val="000066"/>
                </a:solidFill>
              </a:rPr>
              <a:t> 只有一个出口</a:t>
            </a:r>
          </a:p>
          <a:p>
            <a:pPr algn="just" eaLnBrk="1" hangingPunct="1">
              <a:buFont typeface="Wingdings" pitchFamily="2" charset="2"/>
              <a:buChar char="Ø"/>
            </a:pPr>
            <a:r>
              <a:rPr lang="zh-CN" altLang="en-US" b="1" dirty="0">
                <a:solidFill>
                  <a:srgbClr val="000066"/>
                </a:solidFill>
              </a:rPr>
              <a:t> 结构内的每一个部分都有机会被执行到</a:t>
            </a:r>
          </a:p>
          <a:p>
            <a:pPr algn="just" eaLnBrk="1" hangingPunct="1">
              <a:buFont typeface="Wingdings" pitchFamily="2" charset="2"/>
              <a:buChar char="Ø"/>
            </a:pPr>
            <a:r>
              <a:rPr lang="zh-CN" altLang="en-US" b="1" dirty="0">
                <a:solidFill>
                  <a:srgbClr val="000066"/>
                </a:solidFill>
              </a:rPr>
              <a:t> 结构内不存在“死循环”（无终止的循环）</a:t>
            </a:r>
          </a:p>
          <a:p>
            <a:pPr algn="just" eaLnBrk="1" hangingPunct="1">
              <a:buFont typeface="Wingdings" pitchFamily="2" charset="2"/>
              <a:buNone/>
            </a:pPr>
            <a:endParaRPr lang="zh-CN" altLang="en-US" b="1" dirty="0">
              <a:solidFill>
                <a:srgbClr val="000066"/>
              </a:solidFill>
            </a:endParaRPr>
          </a:p>
        </p:txBody>
      </p:sp>
      <p:sp>
        <p:nvSpPr>
          <p:cNvPr id="145417" name="Text Box 9"/>
          <p:cNvSpPr txBox="1">
            <a:spLocks noChangeArrowheads="1"/>
          </p:cNvSpPr>
          <p:nvPr/>
        </p:nvSpPr>
        <p:spPr bwMode="auto">
          <a:xfrm>
            <a:off x="685800" y="5733256"/>
            <a:ext cx="7772400" cy="415498"/>
          </a:xfrm>
          <a:prstGeom prst="rect">
            <a:avLst/>
          </a:prstGeom>
          <a:gradFill rotWithShape="1">
            <a:gsLst>
              <a:gs pos="0">
                <a:schemeClr val="accent1"/>
              </a:gs>
              <a:gs pos="100000">
                <a:schemeClr val="bg1"/>
              </a:gs>
            </a:gsLst>
            <a:lin ang="0" scaled="1"/>
          </a:gradFill>
          <a:ln>
            <a:noFill/>
          </a:ln>
          <a:effectLst>
            <a:prstShdw prst="shdw18" dist="17961" dir="13500000">
              <a:schemeClr val="accent1">
                <a:gamma/>
                <a:shade val="60000"/>
                <a:invGamma/>
              </a:schemeClr>
            </a:prstShdw>
          </a:effectLst>
        </p:spPr>
        <p:txBody>
          <a:bodyPr wrap="square">
            <a:spAutoFit/>
          </a:bodyPr>
          <a:lstStyle/>
          <a:p>
            <a:pPr defTabSz="685800">
              <a:spcBef>
                <a:spcPct val="50000"/>
              </a:spcBef>
              <a:defRPr/>
            </a:pPr>
            <a:r>
              <a:rPr kumimoji="1" lang="zh-CN" altLang="en-US" sz="2100" dirty="0"/>
              <a:t>由这三种基本结构顺序组成的算法结构，可以解决任何复杂问题！</a:t>
            </a:r>
          </a:p>
        </p:txBody>
      </p:sp>
    </p:spTree>
    <p:extLst>
      <p:ext uri="{BB962C8B-B14F-4D97-AF65-F5344CB8AC3E}">
        <p14:creationId xmlns:p14="http://schemas.microsoft.com/office/powerpoint/2010/main" val="98112363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5417"/>
                                        </p:tgtEl>
                                        <p:attrNameLst>
                                          <p:attrName>style.visibility</p:attrName>
                                        </p:attrNameLst>
                                      </p:cBhvr>
                                      <p:to>
                                        <p:strVal val="visible"/>
                                      </p:to>
                                    </p:set>
                                    <p:animEffect transition="in" filter="dissolve">
                                      <p:cBhvr>
                                        <p:cTn id="7" dur="500"/>
                                        <p:tgtEl>
                                          <p:spTgt spid="1454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7" grpId="0" bldLvl="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65</a:t>
            </a:fld>
            <a:endParaRPr lang="zh-CN" altLang="en-US" sz="1400" b="1" dirty="0"/>
          </a:p>
        </p:txBody>
      </p:sp>
      <p:sp>
        <p:nvSpPr>
          <p:cNvPr id="14339" name="Rectangle 4"/>
          <p:cNvSpPr>
            <a:spLocks noGrp="1"/>
          </p:cNvSpPr>
          <p:nvPr>
            <p:ph type="title"/>
          </p:nvPr>
        </p:nvSpPr>
        <p:spPr>
          <a:xfrm>
            <a:off x="1089025" y="428625"/>
            <a:ext cx="7772400" cy="720725"/>
          </a:xfrm>
        </p:spPr>
        <p:txBody>
          <a:bodyPr vert="horz" wrap="square" lIns="91440" tIns="45720" rIns="91440" bIns="45720" anchor="ctr"/>
          <a:lstStyle/>
          <a:p>
            <a:pPr eaLnBrk="1" hangingPunct="1"/>
            <a:r>
              <a:rPr lang="zh-CN" altLang="en-US" b="1" dirty="0"/>
              <a:t>程序概念与设计</a:t>
            </a:r>
          </a:p>
        </p:txBody>
      </p:sp>
      <p:sp>
        <p:nvSpPr>
          <p:cNvPr id="342021" name="Rectangle 5"/>
          <p:cNvSpPr>
            <a:spLocks noGrp="1"/>
          </p:cNvSpPr>
          <p:nvPr>
            <p:ph idx="1"/>
          </p:nvPr>
        </p:nvSpPr>
        <p:spPr>
          <a:xfrm>
            <a:off x="685800" y="1319213"/>
            <a:ext cx="8062913" cy="4611687"/>
          </a:xfrm>
        </p:spPr>
        <p:txBody>
          <a:bodyPr vert="horz" wrap="square" lIns="91440" tIns="45720" rIns="91440" bIns="45720" anchor="t"/>
          <a:lstStyle/>
          <a:p>
            <a:pPr eaLnBrk="1" hangingPunct="1">
              <a:buNone/>
            </a:pPr>
            <a:r>
              <a:rPr lang="zh-CN" altLang="en-US" b="1" dirty="0"/>
              <a:t>引入子程序的目的 </a:t>
            </a:r>
          </a:p>
          <a:p>
            <a:pPr eaLnBrk="1" hangingPunct="1">
              <a:buNone/>
            </a:pPr>
            <a:r>
              <a:rPr lang="en-US" altLang="zh-CN" b="1" dirty="0"/>
              <a:t>	1. </a:t>
            </a:r>
            <a:r>
              <a:rPr lang="zh-CN" altLang="en-US" b="1" dirty="0"/>
              <a:t>程序</a:t>
            </a:r>
            <a:r>
              <a:rPr lang="en-US" altLang="zh-CN" b="1" dirty="0">
                <a:latin typeface="宋体" panose="02010600030101010101" pitchFamily="2" charset="-122"/>
              </a:rPr>
              <a:t>"</a:t>
            </a:r>
            <a:r>
              <a:rPr lang="zh-CN" altLang="en-US" b="1" dirty="0"/>
              <a:t>复用</a:t>
            </a:r>
            <a:r>
              <a:rPr lang="en-US" altLang="zh-CN" b="1" dirty="0">
                <a:latin typeface="宋体" panose="02010600030101010101" pitchFamily="2" charset="-122"/>
              </a:rPr>
              <a:t>"</a:t>
            </a:r>
            <a:r>
              <a:rPr lang="zh-CN" altLang="en-US" b="1" dirty="0"/>
              <a:t>，避免在程序中使用重复代码；</a:t>
            </a:r>
          </a:p>
          <a:p>
            <a:pPr eaLnBrk="1" hangingPunct="1">
              <a:buNone/>
            </a:pPr>
            <a:r>
              <a:rPr lang="en-US" altLang="zh-CN" b="1" dirty="0"/>
              <a:t>	2. </a:t>
            </a:r>
            <a:r>
              <a:rPr lang="zh-CN" altLang="en-US" b="1" dirty="0"/>
              <a:t>结构化程序设计的需要：</a:t>
            </a:r>
            <a:endParaRPr lang="zh-CN" altLang="en-US" b="1" dirty="0">
              <a:solidFill>
                <a:schemeClr val="accent2"/>
              </a:solidFill>
            </a:endParaRPr>
          </a:p>
          <a:p>
            <a:pPr lvl="1" eaLnBrk="1" hangingPunct="1">
              <a:buNone/>
            </a:pPr>
            <a:r>
              <a:rPr lang="zh-CN" altLang="en-US" b="1" dirty="0">
                <a:solidFill>
                  <a:schemeClr val="accent2"/>
                </a:solidFill>
              </a:rPr>
              <a:t>  </a:t>
            </a:r>
            <a:r>
              <a:rPr lang="zh-CN" altLang="en-US" b="1" dirty="0"/>
              <a:t>自顶向下、逐步细化，将复杂问题分解为相对简单的子问题，这些子问题用子程序实现，从而提高主程序结构的清晰性和易读性。</a:t>
            </a:r>
          </a:p>
          <a:p>
            <a:pPr lvl="1" eaLnBrk="1" hangingPunct="1">
              <a:buNone/>
            </a:pPr>
            <a:r>
              <a:rPr lang="en-US" altLang="zh-CN" b="1" dirty="0"/>
              <a:t>3.</a:t>
            </a:r>
            <a:r>
              <a:rPr lang="zh-CN" altLang="en-US" b="1" dirty="0"/>
              <a:t>使程序的调试和</a:t>
            </a:r>
          </a:p>
          <a:p>
            <a:pPr lvl="1" eaLnBrk="1" hangingPunct="1">
              <a:buNone/>
            </a:pPr>
            <a:r>
              <a:rPr lang="zh-CN" altLang="en-US" b="1" dirty="0"/>
              <a:t>  维护变得更加容易。</a:t>
            </a:r>
          </a:p>
        </p:txBody>
      </p:sp>
      <p:pic>
        <p:nvPicPr>
          <p:cNvPr id="342022" name="Picture 6"/>
          <p:cNvPicPr>
            <a:picLocks noChangeAspect="1"/>
          </p:cNvPicPr>
          <p:nvPr/>
        </p:nvPicPr>
        <p:blipFill>
          <a:blip r:embed="rId2"/>
          <a:stretch>
            <a:fillRect/>
          </a:stretch>
        </p:blipFill>
        <p:spPr>
          <a:xfrm>
            <a:off x="4356100" y="4149725"/>
            <a:ext cx="4103688" cy="1951038"/>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42021">
                                            <p:txEl>
                                              <p:pRg st="1" end="1"/>
                                            </p:txEl>
                                          </p:spTgt>
                                        </p:tgtEl>
                                        <p:attrNameLst>
                                          <p:attrName>style.visibility</p:attrName>
                                        </p:attrNameLst>
                                      </p:cBhvr>
                                      <p:to>
                                        <p:strVal val="visible"/>
                                      </p:to>
                                    </p:set>
                                    <p:animEffect transition="in" filter="dissolve">
                                      <p:cBhvr>
                                        <p:cTn id="7" dur="500"/>
                                        <p:tgtEl>
                                          <p:spTgt spid="34202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42021">
                                            <p:txEl>
                                              <p:pRg st="2" end="2"/>
                                            </p:txEl>
                                          </p:spTgt>
                                        </p:tgtEl>
                                        <p:attrNameLst>
                                          <p:attrName>style.visibility</p:attrName>
                                        </p:attrNameLst>
                                      </p:cBhvr>
                                      <p:to>
                                        <p:strVal val="visible"/>
                                      </p:to>
                                    </p:set>
                                    <p:animEffect transition="in" filter="dissolve">
                                      <p:cBhvr>
                                        <p:cTn id="12" dur="500"/>
                                        <p:tgtEl>
                                          <p:spTgt spid="34202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42022"/>
                                        </p:tgtEl>
                                        <p:attrNameLst>
                                          <p:attrName>style.visibility</p:attrName>
                                        </p:attrNameLst>
                                      </p:cBhvr>
                                      <p:to>
                                        <p:strVal val="visible"/>
                                      </p:to>
                                    </p:set>
                                    <p:animEffect transition="in" filter="dissolve">
                                      <p:cBhvr>
                                        <p:cTn id="17" dur="500"/>
                                        <p:tgtEl>
                                          <p:spTgt spid="34202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42021">
                                            <p:txEl>
                                              <p:pRg st="3" end="3"/>
                                            </p:txEl>
                                          </p:spTgt>
                                        </p:tgtEl>
                                        <p:attrNameLst>
                                          <p:attrName>style.visibility</p:attrName>
                                        </p:attrNameLst>
                                      </p:cBhvr>
                                      <p:to>
                                        <p:strVal val="visible"/>
                                      </p:to>
                                    </p:set>
                                    <p:animEffect transition="in" filter="dissolve">
                                      <p:cBhvr>
                                        <p:cTn id="22" dur="500"/>
                                        <p:tgtEl>
                                          <p:spTgt spid="3420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42021">
                                            <p:txEl>
                                              <p:pRg st="4" end="4"/>
                                            </p:txEl>
                                          </p:spTgt>
                                        </p:tgtEl>
                                        <p:attrNameLst>
                                          <p:attrName>style.visibility</p:attrName>
                                        </p:attrNameLst>
                                      </p:cBhvr>
                                      <p:to>
                                        <p:strVal val="visible"/>
                                      </p:to>
                                    </p:set>
                                    <p:animEffect transition="in" filter="dissolve">
                                      <p:cBhvr>
                                        <p:cTn id="27" dur="500"/>
                                        <p:tgtEl>
                                          <p:spTgt spid="34202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42021">
                                            <p:txEl>
                                              <p:pRg st="5" end="5"/>
                                            </p:txEl>
                                          </p:spTgt>
                                        </p:tgtEl>
                                        <p:attrNameLst>
                                          <p:attrName>style.visibility</p:attrName>
                                        </p:attrNameLst>
                                      </p:cBhvr>
                                      <p:to>
                                        <p:strVal val="visible"/>
                                      </p:to>
                                    </p:set>
                                    <p:animEffect transition="in" filter="dissolve">
                                      <p:cBhvr>
                                        <p:cTn id="32" dur="500"/>
                                        <p:tgtEl>
                                          <p:spTgt spid="34202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66</a:t>
            </a:fld>
            <a:endParaRPr lang="zh-CN" altLang="en-US" sz="1400" b="1" dirty="0"/>
          </a:p>
        </p:txBody>
      </p:sp>
      <p:sp>
        <p:nvSpPr>
          <p:cNvPr id="228355" name="Rectangle 3"/>
          <p:cNvSpPr>
            <a:spLocks noGrp="1"/>
          </p:cNvSpPr>
          <p:nvPr>
            <p:ph idx="1"/>
          </p:nvPr>
        </p:nvSpPr>
        <p:spPr/>
        <p:txBody>
          <a:bodyPr vert="horz" wrap="square" lIns="91440" tIns="45720" rIns="91440" bIns="45720" anchor="t"/>
          <a:lstStyle/>
          <a:p>
            <a:pPr eaLnBrk="1" hangingPunct="1">
              <a:buNone/>
            </a:pPr>
            <a:r>
              <a:rPr lang="zh-CN" altLang="en-US" b="1" dirty="0"/>
              <a:t>四</a:t>
            </a:r>
            <a:r>
              <a:rPr lang="en-US" altLang="zh-CN" b="1" dirty="0"/>
              <a:t>. </a:t>
            </a:r>
            <a:r>
              <a:rPr lang="zh-CN" altLang="en-US" b="1" dirty="0"/>
              <a:t>子程序设计原则</a:t>
            </a:r>
          </a:p>
          <a:p>
            <a:pPr eaLnBrk="1" hangingPunct="1">
              <a:buNone/>
            </a:pPr>
            <a:r>
              <a:rPr lang="zh-CN" altLang="en-US" b="1" dirty="0"/>
              <a:t>     </a:t>
            </a:r>
            <a:r>
              <a:rPr lang="zh-CN" altLang="en-US" b="1" u="sng" dirty="0"/>
              <a:t>高内聚</a:t>
            </a:r>
            <a:r>
              <a:rPr lang="zh-CN" altLang="en-US" b="1" dirty="0"/>
              <a:t>：功能相对独立和完整；</a:t>
            </a:r>
          </a:p>
          <a:p>
            <a:pPr eaLnBrk="1" hangingPunct="1">
              <a:buNone/>
            </a:pPr>
            <a:r>
              <a:rPr lang="zh-CN" altLang="en-US" b="1" dirty="0"/>
              <a:t>     </a:t>
            </a:r>
            <a:r>
              <a:rPr lang="zh-CN" altLang="en-US" b="1" u="sng" dirty="0"/>
              <a:t>低耦合</a:t>
            </a:r>
            <a:r>
              <a:rPr lang="zh-CN" altLang="en-US" b="1" dirty="0"/>
              <a:t>：与外界（调用者）的关系尽量松散， 		不要太紧密，使其能方便地被重用；</a:t>
            </a:r>
          </a:p>
          <a:p>
            <a:pPr eaLnBrk="1" hangingPunct="1">
              <a:buNone/>
            </a:pPr>
            <a:endParaRPr lang="zh-CN" altLang="en-US" sz="900" b="1" dirty="0"/>
          </a:p>
          <a:p>
            <a:pPr eaLnBrk="1" hangingPunct="1">
              <a:buNone/>
            </a:pPr>
            <a:r>
              <a:rPr lang="zh-CN" altLang="en-US" b="1" dirty="0"/>
              <a:t>    需要合理地设计子程序参数和子程序执行的局部环境 来达到以上目标。</a:t>
            </a:r>
          </a:p>
          <a:p>
            <a:pPr eaLnBrk="1" hangingPunct="1">
              <a:buNone/>
            </a:pPr>
            <a:endParaRPr lang="zh-CN" altLang="en-US" b="1" dirty="0"/>
          </a:p>
        </p:txBody>
      </p:sp>
      <p:sp>
        <p:nvSpPr>
          <p:cNvPr id="16388" name="Rectangle 4"/>
          <p:cNvSpPr>
            <a:spLocks noGrp="1"/>
          </p:cNvSpPr>
          <p:nvPr>
            <p:ph type="title"/>
          </p:nvPr>
        </p:nvSpPr>
        <p:spPr/>
        <p:txBody>
          <a:bodyPr vert="horz" wrap="square" lIns="91440" tIns="45720" rIns="91440" bIns="45720" anchor="ctr"/>
          <a:lstStyle/>
          <a:p>
            <a:pPr eaLnBrk="1" hangingPunct="1"/>
            <a:r>
              <a:rPr lang="en-US" altLang="zh-CN" b="1" dirty="0"/>
              <a:t>5.3    </a:t>
            </a:r>
            <a:r>
              <a:rPr lang="zh-CN" altLang="en-US" b="1" dirty="0"/>
              <a:t>子程序概念与设计</a:t>
            </a:r>
          </a:p>
        </p:txBody>
      </p:sp>
      <p:sp>
        <p:nvSpPr>
          <p:cNvPr id="228357" name="Rectangle 5"/>
          <p:cNvSpPr/>
          <p:nvPr/>
        </p:nvSpPr>
        <p:spPr>
          <a:xfrm>
            <a:off x="684213" y="4005263"/>
            <a:ext cx="7772400" cy="1871662"/>
          </a:xfrm>
          <a:prstGeom prst="rect">
            <a:avLst/>
          </a:prstGeom>
          <a:no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1143000" lvl="2" indent="-228600" eaLnBrk="1" hangingPunct="1">
              <a:buNone/>
            </a:pPr>
            <a:endParaRPr lang="en-US" altLang="zh-CN" b="1" dirty="0"/>
          </a:p>
          <a:p>
            <a:pPr marL="342900" lvl="0" indent="-342900" eaLnBrk="1" hangingPunct="1">
              <a:buNone/>
            </a:pPr>
            <a:r>
              <a:rPr lang="zh-CN" altLang="en-US" b="1" dirty="0"/>
              <a:t>五</a:t>
            </a:r>
            <a:r>
              <a:rPr lang="en-US" altLang="zh-CN" b="1" dirty="0"/>
              <a:t>. </a:t>
            </a:r>
            <a:r>
              <a:rPr lang="zh-CN" altLang="en-US" b="1" dirty="0"/>
              <a:t>子程序在</a:t>
            </a:r>
            <a:r>
              <a:rPr lang="en-US" altLang="zh-CN" b="1" dirty="0"/>
              <a:t>C</a:t>
            </a:r>
            <a:r>
              <a:rPr lang="zh-CN" altLang="en-US" b="1" dirty="0"/>
              <a:t>语言中的实现机制</a:t>
            </a:r>
          </a:p>
          <a:p>
            <a:pPr marL="1143000" lvl="2" indent="-228600" eaLnBrk="1" hangingPunct="1">
              <a:buNone/>
            </a:pPr>
            <a:r>
              <a:rPr lang="en-US" altLang="zh-CN" b="1" dirty="0"/>
              <a:t>C</a:t>
            </a:r>
            <a:r>
              <a:rPr lang="zh-CN" altLang="en-US" b="1" dirty="0"/>
              <a:t>语言中的</a:t>
            </a:r>
            <a:r>
              <a:rPr lang="zh-CN" altLang="en-US" b="1" dirty="0">
                <a:solidFill>
                  <a:srgbClr val="FF3300"/>
                </a:solidFill>
              </a:rPr>
              <a:t>函数</a:t>
            </a:r>
            <a:r>
              <a:rPr lang="zh-CN" altLang="en-US" b="1" dirty="0"/>
              <a:t>机制</a:t>
            </a:r>
          </a:p>
          <a:p>
            <a:pPr marL="1143000" lvl="2" indent="-228600" eaLnBrk="1" hangingPunct="1">
              <a:buNone/>
            </a:pPr>
            <a:endParaRPr lang="en-US" altLang="zh-CN"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28355">
                                            <p:txEl>
                                              <p:pRg st="4" end="4"/>
                                            </p:txEl>
                                          </p:spTgt>
                                        </p:tgtEl>
                                        <p:attrNameLst>
                                          <p:attrName>style.visibility</p:attrName>
                                        </p:attrNameLst>
                                      </p:cBhvr>
                                      <p:to>
                                        <p:strVal val="visible"/>
                                      </p:to>
                                    </p:set>
                                    <p:animEffect transition="in" filter="dissolve">
                                      <p:cBhvr>
                                        <p:cTn id="7" dur="500"/>
                                        <p:tgtEl>
                                          <p:spTgt spid="228355">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28357"/>
                                        </p:tgtEl>
                                        <p:attrNameLst>
                                          <p:attrName>style.visibility</p:attrName>
                                        </p:attrNameLst>
                                      </p:cBhvr>
                                      <p:to>
                                        <p:strVal val="visible"/>
                                      </p:to>
                                    </p:set>
                                    <p:animEffect transition="in" filter="dissolve">
                                      <p:cBhvr>
                                        <p:cTn id="12" dur="500"/>
                                        <p:tgtEl>
                                          <p:spTgt spid="2283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7"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67</a:t>
            </a:fld>
            <a:endParaRPr lang="zh-CN" altLang="en-US" sz="1400" b="1" dirty="0"/>
          </a:p>
        </p:txBody>
      </p:sp>
      <p:sp>
        <p:nvSpPr>
          <p:cNvPr id="123907" name="Rectangle 3"/>
          <p:cNvSpPr>
            <a:spLocks noGrp="1"/>
          </p:cNvSpPr>
          <p:nvPr>
            <p:ph idx="1"/>
          </p:nvPr>
        </p:nvSpPr>
        <p:spPr>
          <a:xfrm>
            <a:off x="685800" y="1319213"/>
            <a:ext cx="7772400" cy="5133975"/>
          </a:xfrm>
        </p:spPr>
        <p:txBody>
          <a:bodyPr vert="horz" wrap="square" lIns="91440" tIns="45720" rIns="91440" bIns="45720" anchor="t"/>
          <a:lstStyle/>
          <a:p>
            <a:pPr eaLnBrk="1" hangingPunct="1">
              <a:lnSpc>
                <a:spcPct val="90000"/>
              </a:lnSpc>
            </a:pPr>
            <a:r>
              <a:rPr lang="zh-CN" altLang="en-US" sz="2400" b="1" dirty="0"/>
              <a:t>常见的函数定义错误：</a:t>
            </a:r>
          </a:p>
          <a:p>
            <a:pPr eaLnBrk="1" hangingPunct="1">
              <a:lnSpc>
                <a:spcPct val="90000"/>
              </a:lnSpc>
              <a:buNone/>
            </a:pPr>
            <a:r>
              <a:rPr lang="zh-CN" altLang="en-US" sz="2400" b="1" dirty="0"/>
              <a:t>（1）把同一种类型的参数声明为类似于形式</a:t>
            </a:r>
            <a:r>
              <a:rPr lang="en-US" altLang="zh-CN" sz="2400" b="1" dirty="0"/>
              <a:t>f(float x，y)，</a:t>
            </a:r>
            <a:r>
              <a:rPr lang="zh-CN" altLang="en-US" sz="2400" b="1" dirty="0"/>
              <a:t>而不是</a:t>
            </a:r>
            <a:r>
              <a:rPr lang="en-US" altLang="zh-CN" sz="2400" b="1" dirty="0"/>
              <a:t>f(float x，float y)；//f</a:t>
            </a:r>
            <a:r>
              <a:rPr lang="zh-CN" altLang="en-US" sz="2400" b="1" dirty="0"/>
              <a:t>是函数</a:t>
            </a:r>
          </a:p>
          <a:p>
            <a:pPr eaLnBrk="1" hangingPunct="1">
              <a:lnSpc>
                <a:spcPct val="90000"/>
              </a:lnSpc>
              <a:buNone/>
            </a:pPr>
            <a:r>
              <a:rPr lang="en-US" altLang="zh-CN" sz="2400" b="1" dirty="0"/>
              <a:t>（2）</a:t>
            </a:r>
            <a:r>
              <a:rPr lang="zh-CN" altLang="en-US" sz="2400" b="1" dirty="0"/>
              <a:t>在函数内部把函数参数再次定义成局部变量是一种语法错误；如：</a:t>
            </a:r>
            <a:endParaRPr lang="en-US" altLang="zh-CN" sz="2400" b="1" dirty="0"/>
          </a:p>
          <a:p>
            <a:pPr eaLnBrk="1" hangingPunct="1">
              <a:lnSpc>
                <a:spcPct val="90000"/>
              </a:lnSpc>
              <a:buNone/>
            </a:pPr>
            <a:r>
              <a:rPr lang="zh-CN" altLang="en-US" sz="2400" b="1" dirty="0"/>
              <a:t>    </a:t>
            </a:r>
            <a:r>
              <a:rPr lang="en-US" altLang="zh-CN" sz="2400" dirty="0">
                <a:latin typeface="Consolas" panose="020B0609020204030204" pitchFamily="49" charset="0"/>
              </a:rPr>
              <a:t>int sum(int x, int y) </a:t>
            </a:r>
          </a:p>
          <a:p>
            <a:pPr eaLnBrk="1" hangingPunct="1">
              <a:lnSpc>
                <a:spcPct val="90000"/>
              </a:lnSpc>
              <a:buNone/>
            </a:pPr>
            <a:r>
              <a:rPr lang="en-US" altLang="zh-CN" sz="2400" dirty="0">
                <a:latin typeface="Consolas" panose="020B0609020204030204" pitchFamily="49" charset="0"/>
              </a:rPr>
              <a:t>   {</a:t>
            </a:r>
          </a:p>
          <a:p>
            <a:pPr eaLnBrk="1" hangingPunct="1">
              <a:lnSpc>
                <a:spcPct val="90000"/>
              </a:lnSpc>
              <a:buNone/>
            </a:pPr>
            <a:r>
              <a:rPr lang="en-US" altLang="zh-CN" sz="2400" dirty="0">
                <a:latin typeface="Consolas" panose="020B0609020204030204" pitchFamily="49" charset="0"/>
              </a:rPr>
              <a:t>        </a:t>
            </a:r>
            <a:r>
              <a:rPr lang="en-US" altLang="zh-CN" sz="2400" dirty="0">
                <a:solidFill>
                  <a:srgbClr val="FF3300"/>
                </a:solidFill>
                <a:latin typeface="Consolas" panose="020B0609020204030204" pitchFamily="49" charset="0"/>
              </a:rPr>
              <a:t>int x, y;//</a:t>
            </a:r>
            <a:r>
              <a:rPr lang="zh-CN" altLang="en-US" sz="2400" dirty="0">
                <a:solidFill>
                  <a:srgbClr val="FF3300"/>
                </a:solidFill>
                <a:latin typeface="Consolas" panose="020B0609020204030204" pitchFamily="49" charset="0"/>
              </a:rPr>
              <a:t>与形参同名，错误！</a:t>
            </a:r>
          </a:p>
          <a:p>
            <a:pPr eaLnBrk="1" hangingPunct="1">
              <a:lnSpc>
                <a:spcPct val="90000"/>
              </a:lnSpc>
              <a:buNone/>
            </a:pPr>
            <a:r>
              <a:rPr lang="en-US" altLang="zh-CN" sz="2400" dirty="0">
                <a:latin typeface="Consolas" panose="020B0609020204030204" pitchFamily="49" charset="0"/>
              </a:rPr>
              <a:t>        return (x+y);          </a:t>
            </a:r>
            <a:endParaRPr lang="en-US" altLang="zh-CN" sz="2400" dirty="0">
              <a:solidFill>
                <a:srgbClr val="003399"/>
              </a:solidFill>
              <a:latin typeface="Consolas" panose="020B0609020204030204" pitchFamily="49" charset="0"/>
            </a:endParaRPr>
          </a:p>
          <a:p>
            <a:pPr eaLnBrk="1" hangingPunct="1">
              <a:lnSpc>
                <a:spcPct val="90000"/>
              </a:lnSpc>
              <a:buNone/>
            </a:pPr>
            <a:r>
              <a:rPr lang="en-US" altLang="zh-CN" sz="2400" dirty="0">
                <a:latin typeface="Consolas" panose="020B0609020204030204" pitchFamily="49" charset="0"/>
              </a:rPr>
              <a:t>   }</a:t>
            </a:r>
          </a:p>
          <a:p>
            <a:pPr eaLnBrk="1" hangingPunct="1">
              <a:lnSpc>
                <a:spcPct val="90000"/>
              </a:lnSpc>
            </a:pPr>
            <a:r>
              <a:rPr lang="zh-CN" altLang="en-US" sz="2400" b="1" dirty="0"/>
              <a:t>常见的函数调用错误：</a:t>
            </a:r>
            <a:r>
              <a:rPr lang="en-US" altLang="zh-CN" sz="2400" b="1" dirty="0"/>
              <a:t>1)</a:t>
            </a:r>
            <a:r>
              <a:rPr lang="zh-CN" altLang="en-US" sz="2400" b="1" dirty="0"/>
              <a:t>实参个数和形参个数不一致；</a:t>
            </a:r>
            <a:r>
              <a:rPr lang="en-US" altLang="zh-CN" sz="2400" b="1" dirty="0"/>
              <a:t>2)</a:t>
            </a:r>
            <a:r>
              <a:rPr lang="zh-CN" altLang="en-US" sz="2400" b="1" dirty="0"/>
              <a:t>实参类型和形参类型不兼容；</a:t>
            </a:r>
            <a:r>
              <a:rPr lang="en-US" altLang="zh-CN" sz="2400" b="1" dirty="0"/>
              <a:t>3)</a:t>
            </a:r>
            <a:r>
              <a:rPr lang="zh-CN" altLang="en-US" sz="2400" b="1" dirty="0"/>
              <a:t>函数返回值类型和调用语句的赋值变量类型不兼容</a:t>
            </a:r>
            <a:r>
              <a:rPr lang="en-US" altLang="zh-CN" sz="2400" b="1" dirty="0"/>
              <a:t>;</a:t>
            </a:r>
            <a:endParaRPr lang="en-US" altLang="zh-CN" sz="2400" dirty="0">
              <a:latin typeface="Consolas" panose="020B0609020204030204" pitchFamily="49" charset="0"/>
            </a:endParaRPr>
          </a:p>
          <a:p>
            <a:pPr eaLnBrk="1" hangingPunct="1">
              <a:lnSpc>
                <a:spcPct val="90000"/>
              </a:lnSpc>
              <a:spcBef>
                <a:spcPct val="0"/>
              </a:spcBef>
              <a:buNone/>
            </a:pPr>
            <a:endParaRPr lang="en-US" altLang="zh-CN" sz="2400" b="1" dirty="0"/>
          </a:p>
        </p:txBody>
      </p:sp>
      <p:sp>
        <p:nvSpPr>
          <p:cNvPr id="29700" name="Rectangle 8"/>
          <p:cNvSpPr>
            <a:spLocks noGrp="1"/>
          </p:cNvSpPr>
          <p:nvPr>
            <p:ph type="title"/>
          </p:nvPr>
        </p:nvSpPr>
        <p:spPr>
          <a:xfrm>
            <a:off x="1187450" y="404813"/>
            <a:ext cx="7772400" cy="720725"/>
          </a:xfrm>
        </p:spPr>
        <p:txBody>
          <a:bodyPr vert="horz" wrap="square" lIns="91440" tIns="45720" rIns="91440" bIns="45720" anchor="ctr"/>
          <a:lstStyle/>
          <a:p>
            <a:pPr eaLnBrk="1" hangingPunct="1"/>
            <a:r>
              <a:rPr lang="zh-CN" altLang="en-US" b="1" dirty="0"/>
              <a:t>函数定义的常见错误</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3907">
                                            <p:txEl>
                                              <p:pRg st="2" end="2"/>
                                            </p:txEl>
                                          </p:spTgt>
                                        </p:tgtEl>
                                        <p:attrNameLst>
                                          <p:attrName>style.visibility</p:attrName>
                                        </p:attrNameLst>
                                      </p:cBhvr>
                                      <p:to>
                                        <p:strVal val="visible"/>
                                      </p:to>
                                    </p:set>
                                    <p:animEffect transition="in" filter="dissolve">
                                      <p:cBhvr>
                                        <p:cTn id="7" dur="500"/>
                                        <p:tgtEl>
                                          <p:spTgt spid="12390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3907">
                                            <p:txEl>
                                              <p:pRg st="3" end="3"/>
                                            </p:txEl>
                                          </p:spTgt>
                                        </p:tgtEl>
                                        <p:attrNameLst>
                                          <p:attrName>style.visibility</p:attrName>
                                        </p:attrNameLst>
                                      </p:cBhvr>
                                      <p:to>
                                        <p:strVal val="visible"/>
                                      </p:to>
                                    </p:set>
                                    <p:animEffect transition="in" filter="dissolve">
                                      <p:cBhvr>
                                        <p:cTn id="12" dur="500"/>
                                        <p:tgtEl>
                                          <p:spTgt spid="123907">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23907">
                                            <p:txEl>
                                              <p:pRg st="4" end="4"/>
                                            </p:txEl>
                                          </p:spTgt>
                                        </p:tgtEl>
                                        <p:attrNameLst>
                                          <p:attrName>style.visibility</p:attrName>
                                        </p:attrNameLst>
                                      </p:cBhvr>
                                      <p:to>
                                        <p:strVal val="visible"/>
                                      </p:to>
                                    </p:set>
                                    <p:animEffect transition="in" filter="dissolve">
                                      <p:cBhvr>
                                        <p:cTn id="17" dur="500"/>
                                        <p:tgtEl>
                                          <p:spTgt spid="12390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23907">
                                            <p:txEl>
                                              <p:pRg st="5" end="5"/>
                                            </p:txEl>
                                          </p:spTgt>
                                        </p:tgtEl>
                                        <p:attrNameLst>
                                          <p:attrName>style.visibility</p:attrName>
                                        </p:attrNameLst>
                                      </p:cBhvr>
                                      <p:to>
                                        <p:strVal val="visible"/>
                                      </p:to>
                                    </p:set>
                                    <p:animEffect transition="in" filter="dissolve">
                                      <p:cBhvr>
                                        <p:cTn id="22" dur="500"/>
                                        <p:tgtEl>
                                          <p:spTgt spid="123907">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23907">
                                            <p:txEl>
                                              <p:pRg st="6" end="6"/>
                                            </p:txEl>
                                          </p:spTgt>
                                        </p:tgtEl>
                                        <p:attrNameLst>
                                          <p:attrName>style.visibility</p:attrName>
                                        </p:attrNameLst>
                                      </p:cBhvr>
                                      <p:to>
                                        <p:strVal val="visible"/>
                                      </p:to>
                                    </p:set>
                                    <p:animEffect transition="in" filter="dissolve">
                                      <p:cBhvr>
                                        <p:cTn id="27" dur="500"/>
                                        <p:tgtEl>
                                          <p:spTgt spid="123907">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23907">
                                            <p:txEl>
                                              <p:pRg st="7" end="7"/>
                                            </p:txEl>
                                          </p:spTgt>
                                        </p:tgtEl>
                                        <p:attrNameLst>
                                          <p:attrName>style.visibility</p:attrName>
                                        </p:attrNameLst>
                                      </p:cBhvr>
                                      <p:to>
                                        <p:strVal val="visible"/>
                                      </p:to>
                                    </p:set>
                                    <p:animEffect transition="in" filter="dissolve">
                                      <p:cBhvr>
                                        <p:cTn id="32" dur="500"/>
                                        <p:tgtEl>
                                          <p:spTgt spid="123907">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23907">
                                            <p:txEl>
                                              <p:pRg st="8" end="8"/>
                                            </p:txEl>
                                          </p:spTgt>
                                        </p:tgtEl>
                                        <p:attrNameLst>
                                          <p:attrName>style.visibility</p:attrName>
                                        </p:attrNameLst>
                                      </p:cBhvr>
                                      <p:to>
                                        <p:strVal val="visible"/>
                                      </p:to>
                                    </p:set>
                                    <p:animEffect transition="in" filter="dissolve">
                                      <p:cBhvr>
                                        <p:cTn id="37" dur="500"/>
                                        <p:tgtEl>
                                          <p:spTgt spid="12390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7314" name="矩形 1037313">
            <a:extLst>
              <a:ext uri="{FF2B5EF4-FFF2-40B4-BE49-F238E27FC236}">
                <a16:creationId xmlns:a16="http://schemas.microsoft.com/office/drawing/2014/main" id="{1E6FB1F4-6B48-4077-9265-7E54012FEFCA}"/>
              </a:ext>
            </a:extLst>
          </p:cNvPr>
          <p:cNvSpPr/>
          <p:nvPr/>
        </p:nvSpPr>
        <p:spPr>
          <a:xfrm>
            <a:off x="2699792" y="384979"/>
            <a:ext cx="6324600" cy="533400"/>
          </a:xfrm>
          <a:prstGeom prst="rect">
            <a:avLst/>
          </a:prstGeom>
          <a:noFill/>
          <a:ln w="9525">
            <a:noFill/>
            <a:miter/>
          </a:ln>
        </p:spPr>
        <p:txBody>
          <a:bodyPr lIns="92075" tIns="46038" rIns="92075" bIns="46038" anchor="ctr"/>
          <a:lstStyle/>
          <a:p>
            <a:pPr algn="r" defTabSz="762000" eaLnBrk="0" hangingPunct="0"/>
            <a:r>
              <a:rPr lang="zh-CN" altLang="en-US" sz="3600" noProof="1">
                <a:solidFill>
                  <a:srgbClr val="FF0000"/>
                </a:solidFill>
                <a:latin typeface="黑体" pitchFamily="2" charset="-122"/>
                <a:ea typeface="黑体" pitchFamily="2" charset="-122"/>
                <a:cs typeface="+mn-ea"/>
              </a:rPr>
              <a:t>函数参数和函数的值</a:t>
            </a:r>
            <a:r>
              <a:rPr lang="zh-CN" altLang="en-US" sz="3600" noProof="1">
                <a:solidFill>
                  <a:srgbClr val="FF0000"/>
                </a:solidFill>
                <a:effectLst>
                  <a:outerShdw blurRad="38100" dist="38100" dir="2700000">
                    <a:srgbClr val="FFFFFF"/>
                  </a:outerShdw>
                </a:effectLst>
                <a:latin typeface="黑体" pitchFamily="2" charset="-122"/>
                <a:ea typeface="黑体" pitchFamily="2" charset="-122"/>
                <a:cs typeface="+mn-ea"/>
              </a:rPr>
              <a:t> </a:t>
            </a:r>
            <a:endParaRPr lang="zh-CN" altLang="en-US" sz="3600" noProof="1">
              <a:solidFill>
                <a:srgbClr val="FF0000"/>
              </a:solidFill>
              <a:effectLst>
                <a:outerShdw blurRad="38100" dist="38100" dir="2700000">
                  <a:srgbClr val="FFFFFF"/>
                </a:outerShdw>
              </a:effectLst>
              <a:latin typeface="黑体" pitchFamily="2" charset="-122"/>
              <a:ea typeface="黑体" pitchFamily="2" charset="-122"/>
            </a:endParaRPr>
          </a:p>
        </p:txBody>
      </p:sp>
      <p:sp>
        <p:nvSpPr>
          <p:cNvPr id="1037315" name="矩形 1037314">
            <a:extLst>
              <a:ext uri="{FF2B5EF4-FFF2-40B4-BE49-F238E27FC236}">
                <a16:creationId xmlns:a16="http://schemas.microsoft.com/office/drawing/2014/main" id="{84CB4D07-C765-4369-BEBB-5EE15FF2322F}"/>
              </a:ext>
            </a:extLst>
          </p:cNvPr>
          <p:cNvSpPr/>
          <p:nvPr/>
        </p:nvSpPr>
        <p:spPr>
          <a:xfrm>
            <a:off x="468313" y="1196975"/>
            <a:ext cx="6207125" cy="381000"/>
          </a:xfrm>
          <a:prstGeom prst="rect">
            <a:avLst/>
          </a:prstGeom>
          <a:noFill/>
          <a:ln w="9525">
            <a:noFill/>
            <a:miter/>
          </a:ln>
        </p:spPr>
        <p:txBody>
          <a:bodyPr lIns="92075" tIns="46038" rIns="92075" bIns="46038" anchor="ctr"/>
          <a:lstStyle/>
          <a:p>
            <a:pPr defTabSz="762000" eaLnBrk="0" hangingPunct="0"/>
            <a:r>
              <a:rPr lang="zh-CN" altLang="en-US" sz="3200" b="1" noProof="1">
                <a:latin typeface="黑体" pitchFamily="2" charset="-122"/>
                <a:ea typeface="黑体" pitchFamily="2" charset="-122"/>
                <a:cs typeface="+mn-ea"/>
              </a:rPr>
              <a:t>形式参数和实际参数</a:t>
            </a:r>
            <a:r>
              <a:rPr lang="zh-CN" altLang="en-US" sz="2800" b="1" noProof="1">
                <a:effectLst>
                  <a:outerShdw blurRad="38100" dist="38100" dir="2700000">
                    <a:srgbClr val="FFFFFF"/>
                  </a:outerShdw>
                </a:effectLst>
                <a:latin typeface="黑体" pitchFamily="2" charset="-122"/>
                <a:ea typeface="黑体" pitchFamily="2" charset="-122"/>
                <a:cs typeface="+mn-ea"/>
              </a:rPr>
              <a:t> </a:t>
            </a:r>
            <a:endParaRPr lang="zh-CN" altLang="en-US" sz="2800" b="1" noProof="1">
              <a:effectLst>
                <a:outerShdw blurRad="38100" dist="38100" dir="2700000">
                  <a:srgbClr val="FFFFFF"/>
                </a:outerShdw>
              </a:effectLst>
              <a:latin typeface="黑体" pitchFamily="2" charset="-122"/>
              <a:ea typeface="黑体" pitchFamily="2" charset="-122"/>
            </a:endParaRPr>
          </a:p>
        </p:txBody>
      </p:sp>
      <p:sp>
        <p:nvSpPr>
          <p:cNvPr id="1037316" name="文本框 1037315">
            <a:extLst>
              <a:ext uri="{FF2B5EF4-FFF2-40B4-BE49-F238E27FC236}">
                <a16:creationId xmlns:a16="http://schemas.microsoft.com/office/drawing/2014/main" id="{4D6EB8C9-9215-4D74-87AA-B3B68EE315F6}"/>
              </a:ext>
            </a:extLst>
          </p:cNvPr>
          <p:cNvSpPr txBox="1">
            <a:spLocks noChangeArrowheads="1"/>
          </p:cNvSpPr>
          <p:nvPr/>
        </p:nvSpPr>
        <p:spPr bwMode="auto">
          <a:xfrm>
            <a:off x="539750" y="1844675"/>
            <a:ext cx="8229600" cy="384810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a:spAutoFit/>
          </a:bodyPr>
          <a:lstStyle/>
          <a:p>
            <a:pPr eaLnBrk="0" hangingPunct="0">
              <a:lnSpc>
                <a:spcPct val="110000"/>
              </a:lnSpc>
            </a:pPr>
            <a:r>
              <a:rPr lang="zh-CN" altLang="en-US" sz="3200" u="sng" dirty="0">
                <a:solidFill>
                  <a:srgbClr val="A50021"/>
                </a:solidFill>
                <a:latin typeface="楷体_GB2312" pitchFamily="49" charset="-122"/>
                <a:ea typeface="楷体_GB2312" pitchFamily="49" charset="-122"/>
              </a:rPr>
              <a:t>形式参数：</a:t>
            </a:r>
            <a:r>
              <a:rPr lang="zh-CN" altLang="en-US" sz="3200" dirty="0">
                <a:latin typeface="楷体_GB2312" pitchFamily="49" charset="-122"/>
                <a:ea typeface="楷体_GB2312" pitchFamily="49" charset="-122"/>
              </a:rPr>
              <a:t>函数原型中函数名后面括号中的变量名称为“形式参数”</a:t>
            </a:r>
            <a:r>
              <a:rPr lang="en-US" altLang="zh-CN" sz="3200" dirty="0">
                <a:latin typeface="楷体_GB2312" pitchFamily="49" charset="-122"/>
                <a:ea typeface="楷体_GB2312" pitchFamily="49" charset="-122"/>
              </a:rPr>
              <a:t>(</a:t>
            </a:r>
            <a:r>
              <a:rPr lang="zh-CN" altLang="en-US" sz="3200" dirty="0">
                <a:latin typeface="楷体_GB2312" pitchFamily="49" charset="-122"/>
                <a:ea typeface="楷体_GB2312" pitchFamily="49" charset="-122"/>
              </a:rPr>
              <a:t>简称“</a:t>
            </a:r>
            <a:r>
              <a:rPr lang="zh-CN" altLang="en-US" sz="3200" b="1" dirty="0">
                <a:solidFill>
                  <a:srgbClr val="CC0000"/>
                </a:solidFill>
                <a:latin typeface="楷体_GB2312" pitchFamily="49" charset="-122"/>
                <a:ea typeface="楷体_GB2312" pitchFamily="49" charset="-122"/>
              </a:rPr>
              <a:t>形参</a:t>
            </a:r>
            <a:r>
              <a:rPr lang="zh-CN" altLang="en-US" sz="3200" dirty="0">
                <a:latin typeface="楷体_GB2312" pitchFamily="49" charset="-122"/>
                <a:ea typeface="楷体_GB2312" pitchFamily="49" charset="-122"/>
              </a:rPr>
              <a:t>”</a:t>
            </a:r>
            <a:r>
              <a:rPr lang="en-US" altLang="zh-CN" sz="3200" dirty="0">
                <a:latin typeface="楷体_GB2312" pitchFamily="49" charset="-122"/>
                <a:ea typeface="楷体_GB2312" pitchFamily="49" charset="-122"/>
              </a:rPr>
              <a:t>)</a:t>
            </a:r>
            <a:r>
              <a:rPr lang="zh-CN" altLang="en-US" sz="3200" dirty="0">
                <a:latin typeface="楷体_GB2312" pitchFamily="49" charset="-122"/>
                <a:ea typeface="楷体_GB2312" pitchFamily="49" charset="-122"/>
              </a:rPr>
              <a:t>。</a:t>
            </a:r>
          </a:p>
          <a:p>
            <a:pPr eaLnBrk="0" hangingPunct="0">
              <a:lnSpc>
                <a:spcPct val="110000"/>
              </a:lnSpc>
            </a:pPr>
            <a:r>
              <a:rPr lang="zh-CN" altLang="en-US" sz="3200" u="sng" dirty="0">
                <a:solidFill>
                  <a:srgbClr val="A50021"/>
                </a:solidFill>
                <a:latin typeface="楷体_GB2312" pitchFamily="49" charset="-122"/>
                <a:ea typeface="楷体_GB2312" pitchFamily="49" charset="-122"/>
              </a:rPr>
              <a:t>实际参数：</a:t>
            </a:r>
            <a:r>
              <a:rPr lang="zh-CN" altLang="en-US" sz="3200" dirty="0">
                <a:latin typeface="楷体_GB2312" pitchFamily="49" charset="-122"/>
                <a:ea typeface="楷体_GB2312" pitchFamily="49" charset="-122"/>
              </a:rPr>
              <a:t>函数调用语句中</a:t>
            </a:r>
            <a:r>
              <a:rPr lang="en-US" altLang="zh-CN" sz="3200" dirty="0">
                <a:latin typeface="楷体_GB2312" pitchFamily="49" charset="-122"/>
                <a:ea typeface="楷体_GB2312" pitchFamily="49" charset="-122"/>
              </a:rPr>
              <a:t>,</a:t>
            </a:r>
            <a:r>
              <a:rPr lang="zh-CN" altLang="en-US" sz="3200" dirty="0">
                <a:latin typeface="楷体_GB2312" pitchFamily="49" charset="-122"/>
                <a:ea typeface="楷体_GB2312" pitchFamily="49" charset="-122"/>
              </a:rPr>
              <a:t>函数名后面括号中的参数</a:t>
            </a:r>
            <a:r>
              <a:rPr lang="en-US" altLang="zh-CN" sz="3200" dirty="0">
                <a:latin typeface="楷体_GB2312" pitchFamily="49" charset="-122"/>
                <a:ea typeface="楷体_GB2312" pitchFamily="49" charset="-122"/>
              </a:rPr>
              <a:t>(</a:t>
            </a:r>
            <a:r>
              <a:rPr lang="zh-CN" altLang="en-US" sz="3200" dirty="0">
                <a:latin typeface="楷体_GB2312" pitchFamily="49" charset="-122"/>
                <a:ea typeface="楷体_GB2312" pitchFamily="49" charset="-122"/>
              </a:rPr>
              <a:t>可以是一个表达式</a:t>
            </a:r>
            <a:r>
              <a:rPr lang="en-US" altLang="zh-CN" sz="3200" dirty="0">
                <a:latin typeface="楷体_GB2312" pitchFamily="49" charset="-122"/>
                <a:ea typeface="楷体_GB2312" pitchFamily="49" charset="-122"/>
              </a:rPr>
              <a:t>)</a:t>
            </a:r>
            <a:r>
              <a:rPr lang="zh-CN" altLang="en-US" sz="3200" dirty="0">
                <a:latin typeface="楷体_GB2312" pitchFamily="49" charset="-122"/>
                <a:ea typeface="楷体_GB2312" pitchFamily="49" charset="-122"/>
              </a:rPr>
              <a:t>称为“实际参数”</a:t>
            </a:r>
            <a:r>
              <a:rPr lang="en-US" altLang="zh-CN" sz="3200" dirty="0">
                <a:latin typeface="楷体_GB2312" pitchFamily="49" charset="-122"/>
                <a:ea typeface="楷体_GB2312" pitchFamily="49" charset="-122"/>
              </a:rPr>
              <a:t>(</a:t>
            </a:r>
            <a:r>
              <a:rPr lang="zh-CN" altLang="en-US" sz="3200" dirty="0">
                <a:latin typeface="楷体_GB2312" pitchFamily="49" charset="-122"/>
                <a:ea typeface="楷体_GB2312" pitchFamily="49" charset="-122"/>
              </a:rPr>
              <a:t>简称“</a:t>
            </a:r>
            <a:r>
              <a:rPr lang="zh-CN" altLang="en-US" sz="3200" b="1" dirty="0">
                <a:solidFill>
                  <a:srgbClr val="CC0000"/>
                </a:solidFill>
                <a:latin typeface="楷体_GB2312" pitchFamily="49" charset="-122"/>
                <a:ea typeface="楷体_GB2312" pitchFamily="49" charset="-122"/>
              </a:rPr>
              <a:t>实参</a:t>
            </a:r>
            <a:r>
              <a:rPr lang="zh-CN" altLang="en-US" sz="3200" dirty="0">
                <a:latin typeface="楷体_GB2312" pitchFamily="49" charset="-122"/>
                <a:ea typeface="楷体_GB2312" pitchFamily="49" charset="-122"/>
              </a:rPr>
              <a:t>”</a:t>
            </a:r>
            <a:r>
              <a:rPr lang="en-US" altLang="zh-CN" sz="3200" dirty="0">
                <a:latin typeface="楷体_GB2312" pitchFamily="49" charset="-122"/>
                <a:ea typeface="楷体_GB2312" pitchFamily="49" charset="-122"/>
              </a:rPr>
              <a:t>)</a:t>
            </a:r>
            <a:r>
              <a:rPr lang="zh-CN" altLang="en-US" sz="3200" dirty="0">
                <a:latin typeface="楷体_GB2312" pitchFamily="49" charset="-122"/>
                <a:ea typeface="楷体_GB2312" pitchFamily="49" charset="-122"/>
              </a:rPr>
              <a:t>。</a:t>
            </a:r>
          </a:p>
          <a:p>
            <a:pPr eaLnBrk="0" hangingPunct="0">
              <a:lnSpc>
                <a:spcPct val="110000"/>
              </a:lnSpc>
            </a:pPr>
            <a:r>
              <a:rPr lang="zh-CN" altLang="en-US" sz="3200" u="sng" dirty="0">
                <a:solidFill>
                  <a:srgbClr val="A50021"/>
                </a:solidFill>
                <a:latin typeface="楷体_GB2312" pitchFamily="49" charset="-122"/>
                <a:ea typeface="楷体_GB2312" pitchFamily="49" charset="-122"/>
              </a:rPr>
              <a:t>函数返回值：</a:t>
            </a:r>
            <a:r>
              <a:rPr lang="en-US" altLang="zh-CN" sz="3200" dirty="0">
                <a:latin typeface="楷体_GB2312" pitchFamily="49" charset="-122"/>
                <a:ea typeface="楷体_GB2312" pitchFamily="49" charset="-122"/>
              </a:rPr>
              <a:t>return</a:t>
            </a:r>
            <a:r>
              <a:rPr lang="zh-CN" altLang="en-US" sz="3200" dirty="0">
                <a:latin typeface="楷体_GB2312" pitchFamily="49" charset="-122"/>
                <a:ea typeface="楷体_GB2312" pitchFamily="49" charset="-122"/>
              </a:rPr>
              <a:t>语句中的表达式是函数带回的值</a:t>
            </a:r>
            <a:r>
              <a:rPr lang="en-US" altLang="zh-CN" sz="3200" dirty="0">
                <a:latin typeface="楷体_GB2312" pitchFamily="49" charset="-122"/>
                <a:ea typeface="楷体_GB2312" pitchFamily="49" charset="-122"/>
              </a:rPr>
              <a:t>(</a:t>
            </a:r>
            <a:r>
              <a:rPr lang="zh-CN" altLang="en-US" sz="3200" dirty="0">
                <a:latin typeface="楷体_GB2312" pitchFamily="49" charset="-122"/>
                <a:ea typeface="楷体_GB2312" pitchFamily="49" charset="-122"/>
              </a:rPr>
              <a:t>称</a:t>
            </a:r>
            <a:r>
              <a:rPr lang="zh-CN" altLang="en-US" sz="3200" b="1" dirty="0">
                <a:solidFill>
                  <a:srgbClr val="CC0000"/>
                </a:solidFill>
                <a:latin typeface="楷体_GB2312" pitchFamily="49" charset="-122"/>
                <a:ea typeface="楷体_GB2312" pitchFamily="49" charset="-122"/>
              </a:rPr>
              <a:t>函数返回值</a:t>
            </a:r>
            <a:r>
              <a:rPr lang="en-US" altLang="zh-CN" sz="3200" dirty="0">
                <a:latin typeface="楷体_GB2312" pitchFamily="49" charset="-122"/>
                <a:ea typeface="楷体_GB2312" pitchFamily="49" charset="-122"/>
              </a:rPr>
              <a:t>)</a:t>
            </a:r>
            <a:r>
              <a:rPr lang="zh-CN" altLang="en-US" sz="3200" dirty="0">
                <a:latin typeface="楷体_GB2312" pitchFamily="49" charset="-122"/>
                <a:ea typeface="楷体_GB2312" pitchFamily="49" charset="-122"/>
              </a:rPr>
              <a:t>。 </a:t>
            </a: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037316"/>
                                        </p:tgtEl>
                                        <p:attrNameLst>
                                          <p:attrName>style.visibility</p:attrName>
                                        </p:attrNameLst>
                                      </p:cBhvr>
                                      <p:to>
                                        <p:strVal val="visible"/>
                                      </p:to>
                                    </p:set>
                                    <p:animEffect transition="in" filter="strips(downRight)">
                                      <p:cBhvr>
                                        <p:cTn id="7" dur="500"/>
                                        <p:tgtEl>
                                          <p:spTgt spid="1037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7316"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78" name="文本框 1048577">
            <a:extLst>
              <a:ext uri="{FF2B5EF4-FFF2-40B4-BE49-F238E27FC236}">
                <a16:creationId xmlns:a16="http://schemas.microsoft.com/office/drawing/2014/main" id="{C56BB2CB-1E86-4E8B-B062-F66442CF1DED}"/>
              </a:ext>
            </a:extLst>
          </p:cNvPr>
          <p:cNvSpPr txBox="1">
            <a:spLocks noChangeArrowheads="1"/>
          </p:cNvSpPr>
          <p:nvPr/>
        </p:nvSpPr>
        <p:spPr bwMode="auto">
          <a:xfrm>
            <a:off x="342900" y="1052736"/>
            <a:ext cx="8458200" cy="5632311"/>
          </a:xfrm>
          <a:prstGeom prst="rect">
            <a:avLst/>
          </a:prstGeom>
          <a:noFill/>
          <a:ln>
            <a:noFill/>
          </a:ln>
        </p:spPr>
        <p:txBody>
          <a:bodyPr>
            <a:spAutoFit/>
          </a:bodyPr>
          <a:lstStyle/>
          <a:p>
            <a:r>
              <a:rPr lang="zh-CN" altLang="en-US" sz="2400" b="1" u="sng" dirty="0">
                <a:solidFill>
                  <a:srgbClr val="FF0000"/>
                </a:solidFill>
                <a:latin typeface="宋体" panose="02010600030101010101" pitchFamily="2" charset="-122"/>
              </a:rPr>
              <a:t>返回值类型与函数类型不同的错误示例</a:t>
            </a:r>
            <a:endParaRPr lang="zh-CN" altLang="en-US" sz="2400" u="sng" dirty="0">
              <a:solidFill>
                <a:srgbClr val="FF0000"/>
              </a:solidFill>
              <a:latin typeface="宋体" panose="02010600030101010101" pitchFamily="2" charset="-122"/>
            </a:endParaRPr>
          </a:p>
          <a:p>
            <a:r>
              <a:rPr lang="en-US" altLang="zh-CN" sz="2400" dirty="0"/>
              <a:t># include &lt;</a:t>
            </a:r>
            <a:r>
              <a:rPr lang="en-US" altLang="zh-CN" sz="2400" dirty="0" err="1"/>
              <a:t>stdio.h</a:t>
            </a:r>
            <a:r>
              <a:rPr lang="en-US" altLang="zh-CN" sz="2400" dirty="0"/>
              <a:t>&gt;</a:t>
            </a:r>
          </a:p>
          <a:p>
            <a:r>
              <a:rPr lang="en-US" altLang="zh-CN" sz="2400" dirty="0"/>
              <a:t>int max(float x, float y);</a:t>
            </a:r>
          </a:p>
          <a:p>
            <a:r>
              <a:rPr lang="en-US" altLang="zh-CN" sz="2400" dirty="0"/>
              <a:t>int main(){</a:t>
            </a:r>
          </a:p>
          <a:p>
            <a:r>
              <a:rPr lang="zh-CN" altLang="en-US" sz="2400" dirty="0"/>
              <a:t>　    </a:t>
            </a:r>
            <a:r>
              <a:rPr lang="en-US" altLang="zh-CN" sz="2400" dirty="0"/>
              <a:t>float </a:t>
            </a:r>
            <a:r>
              <a:rPr lang="en-US" altLang="zh-CN" sz="2400" dirty="0" err="1"/>
              <a:t>a,b</a:t>
            </a:r>
            <a:r>
              <a:rPr lang="en-US" altLang="zh-CN" sz="2400" dirty="0"/>
              <a:t>;</a:t>
            </a:r>
            <a:endParaRPr lang="zh-CN" altLang="en-US" sz="2400" dirty="0"/>
          </a:p>
          <a:p>
            <a:r>
              <a:rPr lang="zh-CN" altLang="en-US" sz="2400" dirty="0"/>
              <a:t>　    </a:t>
            </a:r>
            <a:r>
              <a:rPr lang="en-US" altLang="zh-CN" sz="2400" dirty="0"/>
              <a:t>int c;</a:t>
            </a:r>
            <a:endParaRPr lang="zh-CN" altLang="en-US" sz="2400" dirty="0"/>
          </a:p>
          <a:p>
            <a:r>
              <a:rPr lang="zh-CN" altLang="en-US" sz="2400" dirty="0"/>
              <a:t>　    </a:t>
            </a:r>
            <a:r>
              <a:rPr lang="en-US" altLang="zh-CN" sz="2400" dirty="0" err="1"/>
              <a:t>scanf</a:t>
            </a:r>
            <a:r>
              <a:rPr lang="en-US" altLang="zh-CN" sz="2400" dirty="0"/>
              <a:t>(“%</a:t>
            </a:r>
            <a:r>
              <a:rPr lang="en-US" altLang="zh-CN" sz="2400" dirty="0" err="1"/>
              <a:t>f%f</a:t>
            </a:r>
            <a:r>
              <a:rPr lang="en-US" altLang="zh-CN" sz="2400" dirty="0"/>
              <a:t>”, &amp;a, &amp;b);</a:t>
            </a:r>
            <a:endParaRPr lang="zh-CN" altLang="en-US" sz="2400" dirty="0"/>
          </a:p>
          <a:p>
            <a:r>
              <a:rPr lang="zh-CN" altLang="en-US" sz="2400" dirty="0"/>
              <a:t>　    </a:t>
            </a:r>
            <a:r>
              <a:rPr lang="en-US" altLang="zh-CN" sz="2400" dirty="0"/>
              <a:t>c = max(</a:t>
            </a:r>
            <a:r>
              <a:rPr lang="en-US" altLang="zh-CN" sz="2400" dirty="0" err="1"/>
              <a:t>a,b</a:t>
            </a:r>
            <a:r>
              <a:rPr lang="en-US" altLang="zh-CN" sz="2400" dirty="0"/>
              <a:t>);</a:t>
            </a:r>
            <a:endParaRPr lang="zh-CN" altLang="en-US" sz="2400" dirty="0"/>
          </a:p>
          <a:p>
            <a:r>
              <a:rPr lang="zh-CN" altLang="en-US" sz="2400" dirty="0"/>
              <a:t>　    </a:t>
            </a:r>
            <a:r>
              <a:rPr lang="en-US" altLang="zh-CN" sz="2400" dirty="0" err="1"/>
              <a:t>printf</a:t>
            </a:r>
            <a:r>
              <a:rPr lang="en-US" altLang="zh-CN" sz="2400" dirty="0"/>
              <a:t>(“Max is %d\</a:t>
            </a:r>
            <a:r>
              <a:rPr lang="en-US" altLang="zh-CN" sz="2400" dirty="0" err="1"/>
              <a:t>n”,c</a:t>
            </a:r>
            <a:r>
              <a:rPr lang="en-US" altLang="zh-CN" sz="2400" dirty="0"/>
              <a:t>);</a:t>
            </a:r>
            <a:endParaRPr lang="zh-CN" altLang="en-US" sz="2400" dirty="0"/>
          </a:p>
          <a:p>
            <a:r>
              <a:rPr lang="en-US" altLang="zh-CN" sz="2400" dirty="0"/>
              <a:t>}</a:t>
            </a:r>
            <a:r>
              <a:rPr lang="zh-CN" altLang="en-US" sz="2400" dirty="0"/>
              <a:t>       </a:t>
            </a:r>
          </a:p>
          <a:p>
            <a:r>
              <a:rPr lang="en-US" altLang="zh-CN" sz="2400" dirty="0"/>
              <a:t>int max(float x, float y){</a:t>
            </a:r>
            <a:endParaRPr lang="zh-CN" altLang="en-US" sz="2400" dirty="0"/>
          </a:p>
          <a:p>
            <a:r>
              <a:rPr lang="zh-CN" altLang="en-US" sz="2400" dirty="0"/>
              <a:t>        </a:t>
            </a:r>
            <a:r>
              <a:rPr lang="en-US" altLang="zh-CN" sz="2400" dirty="0"/>
              <a:t>float z;</a:t>
            </a:r>
            <a:r>
              <a:rPr lang="zh-CN" altLang="en-US" sz="2400" dirty="0"/>
              <a:t>                          </a:t>
            </a:r>
            <a:r>
              <a:rPr lang="en-US" altLang="zh-CN" sz="2400" dirty="0"/>
              <a:t>/* z</a:t>
            </a:r>
            <a:r>
              <a:rPr lang="zh-CN" altLang="en-US" sz="2400" dirty="0"/>
              <a:t>为实型变量 </a:t>
            </a:r>
            <a:r>
              <a:rPr lang="en-US" altLang="zh-CN" sz="2400" dirty="0"/>
              <a:t>*/</a:t>
            </a:r>
          </a:p>
          <a:p>
            <a:r>
              <a:rPr lang="en-US" altLang="zh-CN" sz="2400" dirty="0"/>
              <a:t>        z = x&gt;y ? x : y ;</a:t>
            </a:r>
          </a:p>
          <a:p>
            <a:r>
              <a:rPr lang="zh-CN" altLang="en-US" sz="2400" dirty="0"/>
              <a:t>        </a:t>
            </a:r>
            <a:r>
              <a:rPr lang="en-US" altLang="zh-CN" sz="2400" dirty="0"/>
              <a:t>return (z);</a:t>
            </a:r>
            <a:endParaRPr lang="zh-CN" altLang="en-US" sz="2400" dirty="0"/>
          </a:p>
          <a:p>
            <a:r>
              <a:rPr lang="zh-CN" altLang="en-US" sz="2400" dirty="0"/>
              <a:t>  ｝</a:t>
            </a: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048578"/>
                                        </p:tgtEl>
                                        <p:attrNameLst>
                                          <p:attrName>style.visibility</p:attrName>
                                        </p:attrNameLst>
                                      </p:cBhvr>
                                      <p:to>
                                        <p:strVal val="visible"/>
                                      </p:to>
                                    </p:set>
                                    <p:animEffect transition="in" filter="strips(downRight)">
                                      <p:cBhvr>
                                        <p:cTn id="7" dur="500"/>
                                        <p:tgtEl>
                                          <p:spTgt spid="10485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578"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70</a:t>
            </a:fld>
            <a:endParaRPr lang="zh-CN" altLang="en-US" sz="1400" b="1" dirty="0"/>
          </a:p>
        </p:txBody>
      </p:sp>
      <p:sp>
        <p:nvSpPr>
          <p:cNvPr id="64515" name="Text Box 4"/>
          <p:cNvSpPr>
            <a:spLocks noGrp="1"/>
          </p:cNvSpPr>
          <p:nvPr>
            <p:ph idx="1"/>
          </p:nvPr>
        </p:nvSpPr>
        <p:spPr>
          <a:xfrm>
            <a:off x="395288" y="1319213"/>
            <a:ext cx="8497887" cy="4611687"/>
          </a:xfrm>
        </p:spPr>
        <p:txBody>
          <a:bodyPr vert="horz" wrap="square" lIns="92075" tIns="46038" rIns="92075" bIns="46038" anchor="t"/>
          <a:lstStyle/>
          <a:p>
            <a:pPr algn="just">
              <a:spcBef>
                <a:spcPct val="50000"/>
              </a:spcBef>
              <a:buNone/>
            </a:pPr>
            <a:r>
              <a:rPr lang="zh-CN" altLang="en-US" sz="2400" b="1" dirty="0">
                <a:latin typeface="宋体" panose="02010600030101010101" pitchFamily="2" charset="-122"/>
              </a:rPr>
              <a:t>子程序参数传递两种方式：</a:t>
            </a:r>
            <a:r>
              <a:rPr lang="zh-CN" altLang="en-US" sz="2400" b="1" dirty="0">
                <a:solidFill>
                  <a:srgbClr val="003399"/>
                </a:solidFill>
                <a:latin typeface="宋体" panose="02010600030101010101" pitchFamily="2" charset="-122"/>
              </a:rPr>
              <a:t>按值传递</a:t>
            </a:r>
            <a:r>
              <a:rPr lang="zh-CN" altLang="en-US" sz="2400" b="1" dirty="0">
                <a:latin typeface="宋体" panose="02010600030101010101" pitchFamily="2" charset="-122"/>
              </a:rPr>
              <a:t>和</a:t>
            </a:r>
            <a:r>
              <a:rPr lang="zh-CN" altLang="en-US" sz="2400" b="1" dirty="0">
                <a:solidFill>
                  <a:srgbClr val="003399"/>
                </a:solidFill>
                <a:latin typeface="宋体" panose="02010600030101010101" pitchFamily="2" charset="-122"/>
              </a:rPr>
              <a:t>按引用传递</a:t>
            </a:r>
            <a:r>
              <a:rPr lang="zh-CN" altLang="en-US" sz="2400" b="1" dirty="0">
                <a:latin typeface="宋体" panose="02010600030101010101" pitchFamily="2" charset="-122"/>
              </a:rPr>
              <a:t>。</a:t>
            </a:r>
            <a:endParaRPr lang="zh-CN" altLang="en-US" sz="2400" b="1" dirty="0">
              <a:latin typeface="宋体" panose="02010600030101010101" pitchFamily="2" charset="-122"/>
              <a:cs typeface="Times New Roman" panose="02020603050405020304" pitchFamily="18" charset="0"/>
            </a:endParaRPr>
          </a:p>
          <a:p>
            <a:pPr algn="just">
              <a:spcBef>
                <a:spcPct val="50000"/>
              </a:spcBef>
              <a:buNone/>
            </a:pPr>
            <a:r>
              <a:rPr lang="zh-CN" altLang="en-US" sz="2400" b="1" i="1" dirty="0">
                <a:solidFill>
                  <a:srgbClr val="CC3300"/>
                </a:solidFill>
                <a:latin typeface="宋体" panose="02010600030101010101" pitchFamily="2" charset="-122"/>
              </a:rPr>
              <a:t>按值传递</a:t>
            </a:r>
            <a:r>
              <a:rPr lang="zh-CN" altLang="en-US" sz="2400" b="1" dirty="0">
                <a:solidFill>
                  <a:srgbClr val="CC3300"/>
                </a:solidFill>
                <a:latin typeface="宋体" panose="02010600030101010101" pitchFamily="2" charset="-122"/>
              </a:rPr>
              <a:t>：</a:t>
            </a:r>
            <a:r>
              <a:rPr lang="zh-CN" altLang="en-US" sz="2400" b="1" dirty="0">
                <a:latin typeface="宋体" panose="02010600030101010101" pitchFamily="2" charset="-122"/>
              </a:rPr>
              <a:t>实参的值被复制并置入被调用子程序的形参中。此方式下不管在被调用子程序中怎样操作并改变形参的值，在主调程序中的实参的值都是安全的未发生变化的。</a:t>
            </a:r>
            <a:endParaRPr lang="en-US" altLang="zh-CN" sz="2400" b="1" dirty="0">
              <a:latin typeface="宋体" panose="02010600030101010101" pitchFamily="2" charset="-122"/>
            </a:endParaRPr>
          </a:p>
          <a:p>
            <a:pPr algn="just">
              <a:spcBef>
                <a:spcPct val="50000"/>
              </a:spcBef>
              <a:buNone/>
            </a:pPr>
            <a:r>
              <a:rPr lang="en-US" altLang="zh-CN" sz="2400" b="1" dirty="0">
                <a:latin typeface="宋体" panose="02010600030101010101" pitchFamily="2" charset="-122"/>
              </a:rPr>
              <a:t>	C</a:t>
            </a:r>
            <a:r>
              <a:rPr lang="zh-CN" altLang="en-US" sz="2400" b="1" dirty="0">
                <a:latin typeface="宋体" panose="02010600030101010101" pitchFamily="2" charset="-122"/>
              </a:rPr>
              <a:t>语言中所有的调用都是</a:t>
            </a:r>
            <a:r>
              <a:rPr lang="zh-CN" altLang="en-US" sz="2400" b="1" dirty="0">
                <a:solidFill>
                  <a:schemeClr val="accent2"/>
                </a:solidFill>
                <a:latin typeface="宋体" panose="02010600030101010101" pitchFamily="2" charset="-122"/>
              </a:rPr>
              <a:t>传值调用</a:t>
            </a:r>
            <a:r>
              <a:rPr lang="en-US" altLang="zh-CN" sz="2400" b="1" dirty="0">
                <a:solidFill>
                  <a:schemeClr val="accent2"/>
                </a:solidFill>
                <a:latin typeface="宋体" panose="02010600030101010101" pitchFamily="2" charset="-122"/>
              </a:rPr>
              <a:t>. </a:t>
            </a:r>
            <a:r>
              <a:rPr lang="zh-CN" altLang="en-US" sz="2400" b="1" dirty="0">
                <a:latin typeface="宋体" panose="02010600030101010101" pitchFamily="2" charset="-122"/>
              </a:rPr>
              <a:t>但是指针类型的使用模拟实现了数据引用传递的效果。</a:t>
            </a:r>
          </a:p>
        </p:txBody>
      </p:sp>
      <p:sp>
        <p:nvSpPr>
          <p:cNvPr id="64516" name="Rectangle 1033"/>
          <p:cNvSpPr>
            <a:spLocks noGrp="1"/>
          </p:cNvSpPr>
          <p:nvPr>
            <p:ph type="title"/>
          </p:nvPr>
        </p:nvSpPr>
        <p:spPr>
          <a:xfrm>
            <a:off x="1371600" y="404813"/>
            <a:ext cx="7772400" cy="720725"/>
          </a:xfrm>
        </p:spPr>
        <p:txBody>
          <a:bodyPr vert="horz" wrap="square" lIns="91440" tIns="45720" rIns="91440" bIns="45720" anchor="ctr"/>
          <a:lstStyle/>
          <a:p>
            <a:pPr eaLnBrk="1" hangingPunct="1"/>
            <a:r>
              <a:rPr lang="zh-CN" altLang="en-US" b="1" dirty="0"/>
              <a:t>函数调用的参数传递</a:t>
            </a:r>
          </a:p>
        </p:txBody>
      </p:sp>
      <p:sp>
        <p:nvSpPr>
          <p:cNvPr id="64517" name="Rectangle 1035"/>
          <p:cNvSpPr/>
          <p:nvPr/>
        </p:nvSpPr>
        <p:spPr>
          <a:xfrm>
            <a:off x="0" y="2752725"/>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graphicFrame>
        <p:nvGraphicFramePr>
          <p:cNvPr id="64518" name="Object 1034"/>
          <p:cNvGraphicFramePr>
            <a:graphicFrameLocks noChangeAspect="1"/>
          </p:cNvGraphicFramePr>
          <p:nvPr>
            <p:extLst>
              <p:ext uri="{D42A27DB-BD31-4B8C-83A1-F6EECF244321}">
                <p14:modId xmlns:p14="http://schemas.microsoft.com/office/powerpoint/2010/main" val="2560364804"/>
              </p:ext>
            </p:extLst>
          </p:nvPr>
        </p:nvGraphicFramePr>
        <p:xfrm>
          <a:off x="1258888" y="3860800"/>
          <a:ext cx="5905500" cy="2184400"/>
        </p:xfrm>
        <a:graphic>
          <a:graphicData uri="http://schemas.openxmlformats.org/presentationml/2006/ole">
            <mc:AlternateContent xmlns:mc="http://schemas.openxmlformats.org/markup-compatibility/2006">
              <mc:Choice xmlns:v="urn:schemas-microsoft-com:vml" Requires="v">
                <p:oleObj r:id="rId2" imgW="7044055" imgH="2618740" progId="Visio.Drawing.11">
                  <p:embed/>
                </p:oleObj>
              </mc:Choice>
              <mc:Fallback>
                <p:oleObj r:id="rId2" imgW="7044055" imgH="2618740" progId="Visio.Drawing.11">
                  <p:embed/>
                  <p:pic>
                    <p:nvPicPr>
                      <p:cNvPr id="64518" name="Object 1034"/>
                      <p:cNvPicPr/>
                      <p:nvPr/>
                    </p:nvPicPr>
                    <p:blipFill>
                      <a:blip r:embed="rId3"/>
                      <a:stretch>
                        <a:fillRect/>
                      </a:stretch>
                    </p:blipFill>
                    <p:spPr>
                      <a:xfrm>
                        <a:off x="1258888" y="3860800"/>
                        <a:ext cx="5905500" cy="2184400"/>
                      </a:xfrm>
                      <a:prstGeom prst="rect">
                        <a:avLst/>
                      </a:prstGeom>
                      <a:noFill/>
                      <a:ln w="38100">
                        <a:noFill/>
                        <a:miter/>
                      </a:ln>
                    </p:spPr>
                  </p:pic>
                </p:oleObj>
              </mc:Fallback>
            </mc:AlternateContent>
          </a:graphicData>
        </a:graphic>
      </p:graphicFrame>
      <p:sp>
        <p:nvSpPr>
          <p:cNvPr id="64519" name="Text Box 1036"/>
          <p:cNvSpPr txBox="1"/>
          <p:nvPr/>
        </p:nvSpPr>
        <p:spPr>
          <a:xfrm>
            <a:off x="3565525" y="6021388"/>
            <a:ext cx="4175125" cy="3937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按值传递</a:t>
            </a:r>
          </a:p>
        </p:txBody>
      </p:sp>
      <p:sp>
        <p:nvSpPr>
          <p:cNvPr id="64520" name="Text Box 1037"/>
          <p:cNvSpPr txBox="1"/>
          <p:nvPr/>
        </p:nvSpPr>
        <p:spPr>
          <a:xfrm>
            <a:off x="5795963" y="4508500"/>
            <a:ext cx="2808287" cy="6953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按值传递（将实参的值传递给形参）</a:t>
            </a:r>
          </a:p>
        </p:txBody>
      </p:sp>
      <p:sp>
        <p:nvSpPr>
          <p:cNvPr id="64521" name="Text Box 1038"/>
          <p:cNvSpPr txBox="1"/>
          <p:nvPr/>
        </p:nvSpPr>
        <p:spPr>
          <a:xfrm>
            <a:off x="2843213" y="4005263"/>
            <a:ext cx="936625" cy="393700"/>
          </a:xfrm>
          <a:prstGeom prst="rect">
            <a:avLst/>
          </a:prstGeom>
          <a:solidFill>
            <a:schemeClr val="hlink"/>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实参</a:t>
            </a:r>
          </a:p>
        </p:txBody>
      </p:sp>
      <p:sp>
        <p:nvSpPr>
          <p:cNvPr id="64522" name="Text Box 1039"/>
          <p:cNvSpPr txBox="1"/>
          <p:nvPr/>
        </p:nvSpPr>
        <p:spPr>
          <a:xfrm>
            <a:off x="5292725" y="4005263"/>
            <a:ext cx="936625" cy="393700"/>
          </a:xfrm>
          <a:prstGeom prst="rect">
            <a:avLst/>
          </a:prstGeom>
          <a:solidFill>
            <a:schemeClr val="hlink"/>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实参</a:t>
            </a:r>
          </a:p>
        </p:txBody>
      </p:sp>
      <p:sp>
        <p:nvSpPr>
          <p:cNvPr id="64523" name="Text Box 1040"/>
          <p:cNvSpPr txBox="1"/>
          <p:nvPr/>
        </p:nvSpPr>
        <p:spPr>
          <a:xfrm>
            <a:off x="2771775" y="5589588"/>
            <a:ext cx="936625" cy="393700"/>
          </a:xfrm>
          <a:prstGeom prst="rect">
            <a:avLst/>
          </a:prstGeom>
          <a:solidFill>
            <a:schemeClr val="hlink"/>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形参</a:t>
            </a:r>
          </a:p>
        </p:txBody>
      </p:sp>
      <p:sp>
        <p:nvSpPr>
          <p:cNvPr id="64524" name="Text Box 1041"/>
          <p:cNvSpPr txBox="1"/>
          <p:nvPr/>
        </p:nvSpPr>
        <p:spPr>
          <a:xfrm>
            <a:off x="5219700" y="5516563"/>
            <a:ext cx="936625" cy="393700"/>
          </a:xfrm>
          <a:prstGeom prst="rect">
            <a:avLst/>
          </a:prstGeom>
          <a:solidFill>
            <a:schemeClr val="hlink"/>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形参</a:t>
            </a:r>
          </a:p>
        </p:txBody>
      </p:sp>
    </p:spTree>
    <p:extLst>
      <p:ext uri="{BB962C8B-B14F-4D97-AF65-F5344CB8AC3E}">
        <p14:creationId xmlns:p14="http://schemas.microsoft.com/office/powerpoint/2010/main" val="3162023662"/>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71</a:t>
            </a:fld>
            <a:endParaRPr lang="zh-CN" altLang="en-US" sz="1400" b="1" dirty="0"/>
          </a:p>
        </p:txBody>
      </p:sp>
      <p:sp>
        <p:nvSpPr>
          <p:cNvPr id="68611" name="Text Box 5"/>
          <p:cNvSpPr txBox="1"/>
          <p:nvPr/>
        </p:nvSpPr>
        <p:spPr>
          <a:xfrm>
            <a:off x="395288" y="1341438"/>
            <a:ext cx="8077200" cy="482568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50000"/>
              </a:spcBef>
              <a:buNone/>
            </a:pPr>
            <a:r>
              <a:rPr lang="zh-CN" altLang="en-US" b="1" dirty="0"/>
              <a:t>（1） </a:t>
            </a:r>
            <a:r>
              <a:rPr lang="en-US" altLang="zh-CN" b="1" dirty="0"/>
              <a:t>C</a:t>
            </a:r>
            <a:r>
              <a:rPr lang="zh-CN" altLang="en-US" b="1" dirty="0"/>
              <a:t>语言的原则（先声明、后使用）；</a:t>
            </a:r>
          </a:p>
          <a:p>
            <a:pPr marL="0" lvl="0" indent="0" eaLnBrk="1" hangingPunct="1">
              <a:spcBef>
                <a:spcPct val="50000"/>
              </a:spcBef>
              <a:buNone/>
            </a:pPr>
            <a:r>
              <a:rPr lang="zh-CN" altLang="en-US" b="1" dirty="0"/>
              <a:t>（</a:t>
            </a:r>
            <a:r>
              <a:rPr lang="en-US" altLang="zh-CN" b="1" dirty="0"/>
              <a:t>2</a:t>
            </a:r>
            <a:r>
              <a:rPr lang="zh-CN" altLang="en-US" b="1" dirty="0"/>
              <a:t>）函数原型的作用：函数原型是对被调用函数的</a:t>
            </a:r>
            <a:r>
              <a:rPr lang="zh-CN" altLang="en-US" b="1" dirty="0">
                <a:solidFill>
                  <a:srgbClr val="FF3300"/>
                </a:solidFill>
              </a:rPr>
              <a:t>接口声明，</a:t>
            </a:r>
            <a:r>
              <a:rPr lang="zh-CN" altLang="en-US" b="1" dirty="0"/>
              <a:t>它告诉编译器函数返回的数据类型、函数所要接收的参数个数、参数类型和参数顺序，编译器用函数原型校验函数调用是否正确。</a:t>
            </a:r>
            <a:endParaRPr lang="en-US" altLang="zh-CN" b="1" dirty="0"/>
          </a:p>
          <a:p>
            <a:pPr marL="0" indent="0" eaLnBrk="1" hangingPunct="1">
              <a:spcBef>
                <a:spcPct val="50000"/>
              </a:spcBef>
              <a:buNone/>
            </a:pPr>
            <a:r>
              <a:rPr lang="en-US" altLang="zh-CN" b="1" dirty="0"/>
              <a:t>	</a:t>
            </a:r>
            <a:r>
              <a:rPr lang="zh-CN" altLang="en-US" b="1" dirty="0"/>
              <a:t>例：</a:t>
            </a:r>
            <a:r>
              <a:rPr lang="en-US" altLang="zh-CN" b="1" dirty="0"/>
              <a:t>float  square(float ); /*</a:t>
            </a:r>
            <a:r>
              <a:rPr lang="zh-CN" altLang="en-US" b="1" dirty="0"/>
              <a:t>函数原型*</a:t>
            </a:r>
            <a:r>
              <a:rPr lang="en-US" altLang="zh-CN" b="1" dirty="0"/>
              <a:t>/</a:t>
            </a:r>
            <a:endParaRPr lang="zh-CN" altLang="en-US" b="1" dirty="0"/>
          </a:p>
          <a:p>
            <a:pPr marL="0" lvl="0" indent="0" eaLnBrk="1" hangingPunct="1">
              <a:spcBef>
                <a:spcPct val="50000"/>
              </a:spcBef>
              <a:buNone/>
            </a:pPr>
            <a:r>
              <a:rPr lang="zh-CN" altLang="en-US" b="1" dirty="0"/>
              <a:t>（</a:t>
            </a:r>
            <a:r>
              <a:rPr lang="en-US" altLang="zh-CN" b="1" dirty="0"/>
              <a:t>3</a:t>
            </a:r>
            <a:r>
              <a:rPr lang="zh-CN" altLang="en-US" b="1" dirty="0"/>
              <a:t>）函数原型一般格式：</a:t>
            </a:r>
          </a:p>
          <a:p>
            <a:pPr marL="0" lvl="0" indent="0" algn="ctr" eaLnBrk="1" hangingPunct="1">
              <a:lnSpc>
                <a:spcPct val="120000"/>
              </a:lnSpc>
              <a:buClr>
                <a:schemeClr val="accent2"/>
              </a:buClr>
              <a:buSzPct val="75000"/>
              <a:buFont typeface="Monotype Sorts" charset="2"/>
              <a:buNone/>
            </a:pPr>
            <a:r>
              <a:rPr lang="zh-CN" altLang="en-US" b="1" dirty="0"/>
              <a:t>     </a:t>
            </a:r>
            <a:r>
              <a:rPr lang="zh-CN" altLang="en-US" b="1" dirty="0">
                <a:solidFill>
                  <a:srgbClr val="003399"/>
                </a:solidFill>
              </a:rPr>
              <a:t>返回值类型  函数名(数据类型[  参数名</a:t>
            </a:r>
            <a:r>
              <a:rPr lang="en-US" altLang="zh-CN" b="1" dirty="0">
                <a:solidFill>
                  <a:srgbClr val="003399"/>
                </a:solidFill>
              </a:rPr>
              <a:t>1][, </a:t>
            </a:r>
            <a:r>
              <a:rPr lang="zh-CN" altLang="en-US" b="1" dirty="0">
                <a:solidFill>
                  <a:srgbClr val="003399"/>
                </a:solidFill>
              </a:rPr>
              <a:t>数据类型[  参数名2]…])；</a:t>
            </a:r>
            <a:r>
              <a:rPr lang="zh-CN" altLang="en-US" b="1" i="1" dirty="0"/>
              <a:t>注意</a:t>
            </a:r>
            <a:r>
              <a:rPr lang="zh-CN" altLang="en-US" b="1" dirty="0"/>
              <a:t>：参数名可写可不写。</a:t>
            </a:r>
          </a:p>
        </p:txBody>
      </p:sp>
      <p:sp>
        <p:nvSpPr>
          <p:cNvPr id="68612" name="Rectangle 1029"/>
          <p:cNvSpPr>
            <a:spLocks noGrp="1"/>
          </p:cNvSpPr>
          <p:nvPr>
            <p:ph type="title"/>
          </p:nvPr>
        </p:nvSpPr>
        <p:spPr>
          <a:xfrm>
            <a:off x="1371600" y="404813"/>
            <a:ext cx="7772400" cy="720725"/>
          </a:xfrm>
        </p:spPr>
        <p:txBody>
          <a:bodyPr vert="horz" wrap="square" lIns="91440" tIns="45720" rIns="91440" bIns="45720" anchor="ctr"/>
          <a:lstStyle/>
          <a:p>
            <a:pPr eaLnBrk="1" hangingPunct="1"/>
            <a:r>
              <a:rPr lang="zh-CN" altLang="en-US" b="1" dirty="0"/>
              <a:t>函数原型的设计</a:t>
            </a:r>
          </a:p>
        </p:txBody>
      </p:sp>
      <p:sp>
        <p:nvSpPr>
          <p:cNvPr id="68613" name="Text Box 1030"/>
          <p:cNvSpPr txBox="1"/>
          <p:nvPr/>
        </p:nvSpPr>
        <p:spPr>
          <a:xfrm>
            <a:off x="250825" y="303213"/>
            <a:ext cx="5545138" cy="614362"/>
          </a:xfrm>
          <a:prstGeom prst="rect">
            <a:avLst/>
          </a:prstGeom>
          <a:solidFill>
            <a:srgbClr val="CCFFFF"/>
          </a:solidFill>
          <a:ln w="9525" cap="flat" cmpd="sng">
            <a:solidFill>
              <a:srgbClr val="008000"/>
            </a:solidFill>
            <a:prstDash val="solid"/>
            <a:miter/>
            <a:headEnd type="none" w="med" len="med"/>
            <a:tailEnd type="none" w="med" len="med"/>
          </a:ln>
          <a:effectLst>
            <a:prstShdw prst="shdw17" dist="17961" dir="13499999">
              <a:srgbClr val="004D00"/>
            </a:prstShdw>
          </a:effectLst>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120000"/>
              </a:lnSpc>
              <a:buClr>
                <a:schemeClr val="accent2"/>
              </a:buClr>
              <a:buSzPct val="75000"/>
              <a:buFont typeface="Monotype Sorts" charset="2"/>
              <a:buNone/>
            </a:pPr>
            <a:r>
              <a:rPr lang="en-US" altLang="zh-CN" b="1" dirty="0"/>
              <a:t>float  square(float ); /*</a:t>
            </a:r>
            <a:r>
              <a:rPr lang="zh-CN" altLang="en-US" b="1" dirty="0"/>
              <a:t>函数原型*</a:t>
            </a:r>
            <a:r>
              <a:rPr lang="en-US" altLang="zh-CN" b="1" dirty="0"/>
              <a:t>/</a:t>
            </a: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72</a:t>
            </a:fld>
            <a:endParaRPr lang="zh-CN" altLang="en-US" sz="1400" b="1" dirty="0"/>
          </a:p>
        </p:txBody>
      </p:sp>
      <p:sp>
        <p:nvSpPr>
          <p:cNvPr id="69635" name="Rectangle 4"/>
          <p:cNvSpPr>
            <a:spLocks noGrp="1"/>
          </p:cNvSpPr>
          <p:nvPr>
            <p:ph idx="1"/>
          </p:nvPr>
        </p:nvSpPr>
        <p:spPr>
          <a:xfrm>
            <a:off x="250825" y="1319213"/>
            <a:ext cx="8207375" cy="4611687"/>
          </a:xfrm>
        </p:spPr>
        <p:txBody>
          <a:bodyPr vert="horz" wrap="square" lIns="91440" tIns="45720" rIns="91440" bIns="45720" anchor="t"/>
          <a:lstStyle/>
          <a:p>
            <a:pPr eaLnBrk="1" hangingPunct="1">
              <a:buNone/>
            </a:pPr>
            <a:r>
              <a:rPr lang="en-US" altLang="zh-CN" b="1" dirty="0"/>
              <a:t>（4）</a:t>
            </a:r>
            <a:r>
              <a:rPr lang="zh-CN" altLang="en-US" b="1" dirty="0"/>
              <a:t>函数原型的</a:t>
            </a:r>
            <a:r>
              <a:rPr lang="zh-CN" altLang="en-US" b="1" dirty="0">
                <a:solidFill>
                  <a:srgbClr val="FF0000"/>
                </a:solidFill>
              </a:rPr>
              <a:t>位置</a:t>
            </a:r>
            <a:r>
              <a:rPr lang="zh-CN" altLang="en-US" b="1" dirty="0"/>
              <a:t>：</a:t>
            </a:r>
            <a:endParaRPr lang="en-US" altLang="zh-CN" b="1" dirty="0"/>
          </a:p>
          <a:p>
            <a:pPr eaLnBrk="1" hangingPunct="1">
              <a:buNone/>
            </a:pPr>
            <a:r>
              <a:rPr lang="en-US" altLang="zh-CN" b="1" dirty="0"/>
              <a:t>	1</a:t>
            </a:r>
            <a:r>
              <a:rPr lang="zh-CN" altLang="en-US" b="1" dirty="0"/>
              <a:t>、可以放置在任何函数之外，出现在该函数原型之后的所有函数都可以调用对应的函数；</a:t>
            </a:r>
            <a:endParaRPr lang="en-US" altLang="zh-CN" b="1" dirty="0"/>
          </a:p>
          <a:p>
            <a:pPr eaLnBrk="1" hangingPunct="1">
              <a:buNone/>
            </a:pPr>
            <a:r>
              <a:rPr lang="en-US" altLang="zh-CN" b="1" dirty="0"/>
              <a:t>	2</a:t>
            </a:r>
            <a:r>
              <a:rPr lang="zh-CN" altLang="en-US" b="1" dirty="0"/>
              <a:t>、也可以放在某个函数中，此时只有该函数能够调用它；</a:t>
            </a:r>
            <a:endParaRPr lang="en-US" altLang="zh-CN" b="1" dirty="0"/>
          </a:p>
          <a:p>
            <a:pPr eaLnBrk="1" hangingPunct="1">
              <a:buNone/>
            </a:pPr>
            <a:r>
              <a:rPr lang="en-US" altLang="zh-CN" b="1" dirty="0"/>
              <a:t>	3</a:t>
            </a:r>
            <a:r>
              <a:rPr lang="zh-CN" altLang="en-US" b="1" dirty="0"/>
              <a:t>、从程序设计风格考虑，最好是将函数原型集中在一起，放在主函数之前。</a:t>
            </a:r>
          </a:p>
        </p:txBody>
      </p:sp>
      <p:sp>
        <p:nvSpPr>
          <p:cNvPr id="69636" name="Rectangle 5"/>
          <p:cNvSpPr>
            <a:spLocks noGrp="1"/>
          </p:cNvSpPr>
          <p:nvPr>
            <p:ph type="title"/>
          </p:nvPr>
        </p:nvSpPr>
        <p:spPr>
          <a:xfrm>
            <a:off x="1371600" y="404813"/>
            <a:ext cx="7467600" cy="720725"/>
          </a:xfrm>
        </p:spPr>
        <p:txBody>
          <a:bodyPr vert="horz" wrap="square" lIns="91440" tIns="45720" rIns="91440" bIns="45720" anchor="ctr"/>
          <a:lstStyle/>
          <a:p>
            <a:pPr eaLnBrk="1" hangingPunct="1"/>
            <a:r>
              <a:rPr lang="zh-CN" altLang="en-US" b="1" dirty="0"/>
              <a:t>函数原型的位置</a:t>
            </a: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5"/>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73</a:t>
            </a:fld>
            <a:endParaRPr lang="zh-CN" altLang="en-US" sz="1400" b="1" dirty="0"/>
          </a:p>
        </p:txBody>
      </p:sp>
      <p:sp>
        <p:nvSpPr>
          <p:cNvPr id="55299" name="Rectangle 3"/>
          <p:cNvSpPr>
            <a:spLocks noGrp="1"/>
          </p:cNvSpPr>
          <p:nvPr>
            <p:ph type="body" sz="half" idx="1"/>
          </p:nvPr>
        </p:nvSpPr>
        <p:spPr>
          <a:xfrm>
            <a:off x="323528" y="1319213"/>
            <a:ext cx="8568952" cy="4611687"/>
          </a:xfrm>
        </p:spPr>
        <p:txBody>
          <a:bodyPr vert="horz" wrap="square" lIns="91440" tIns="45720" rIns="91440" bIns="45720" anchor="t"/>
          <a:lstStyle/>
          <a:p>
            <a:pPr eaLnBrk="1" hangingPunct="1"/>
            <a:r>
              <a:rPr lang="zh-CN" altLang="en-US" b="1" dirty="0">
                <a:solidFill>
                  <a:srgbClr val="CC3300"/>
                </a:solidFill>
              </a:rPr>
              <a:t>栈区：</a:t>
            </a:r>
            <a:r>
              <a:rPr lang="zh-CN" altLang="en-US" b="1" dirty="0"/>
              <a:t>先进后出，后进先出。体现了递归函数的反序特性。</a:t>
            </a:r>
          </a:p>
          <a:p>
            <a:pPr eaLnBrk="1" hangingPunct="1"/>
            <a:r>
              <a:rPr lang="zh-CN" altLang="en-US" b="1" dirty="0"/>
              <a:t>一片存放用户数据的内存空间；一端</a:t>
            </a:r>
            <a:r>
              <a:rPr lang="en-US" altLang="zh-CN" b="1" dirty="0">
                <a:latin typeface="宋体" panose="02010600030101010101" pitchFamily="2" charset="-122"/>
              </a:rPr>
              <a:t>"</a:t>
            </a:r>
            <a:r>
              <a:rPr lang="zh-CN" altLang="en-US" b="1" dirty="0"/>
              <a:t>封</a:t>
            </a:r>
            <a:r>
              <a:rPr lang="en-US" altLang="zh-CN" b="1" dirty="0">
                <a:latin typeface="宋体" panose="02010600030101010101" pitchFamily="2" charset="-122"/>
              </a:rPr>
              <a:t>"</a:t>
            </a:r>
            <a:r>
              <a:rPr lang="zh-CN" altLang="en-US" b="1" dirty="0"/>
              <a:t>了口（栈底），一端</a:t>
            </a:r>
            <a:r>
              <a:rPr lang="en-US" altLang="zh-CN" b="1" dirty="0">
                <a:latin typeface="宋体" panose="02010600030101010101" pitchFamily="2" charset="-122"/>
              </a:rPr>
              <a:t>"</a:t>
            </a:r>
            <a:r>
              <a:rPr lang="zh-CN" altLang="en-US" b="1" dirty="0"/>
              <a:t>开</a:t>
            </a:r>
            <a:r>
              <a:rPr lang="en-US" altLang="zh-CN" b="1" dirty="0">
                <a:latin typeface="宋体" panose="02010600030101010101" pitchFamily="2" charset="-122"/>
              </a:rPr>
              <a:t>"</a:t>
            </a:r>
            <a:r>
              <a:rPr lang="zh-CN" altLang="en-US" b="1" dirty="0"/>
              <a:t>着口</a:t>
            </a:r>
            <a:r>
              <a:rPr lang="en-US" altLang="zh-CN" b="1" dirty="0"/>
              <a:t>(</a:t>
            </a:r>
            <a:r>
              <a:rPr lang="zh-CN" altLang="en-US" b="1" dirty="0"/>
              <a:t>栈顶</a:t>
            </a:r>
            <a:r>
              <a:rPr lang="en-US" altLang="zh-CN" b="1" dirty="0"/>
              <a:t>)</a:t>
            </a:r>
            <a:r>
              <a:rPr lang="zh-CN" altLang="en-US" b="1" dirty="0"/>
              <a:t>；</a:t>
            </a:r>
          </a:p>
          <a:p>
            <a:pPr eaLnBrk="1" hangingPunct="1"/>
            <a:r>
              <a:rPr lang="zh-CN" altLang="en-US" b="1" dirty="0">
                <a:solidFill>
                  <a:schemeClr val="accent2"/>
                </a:solidFill>
              </a:rPr>
              <a:t>保存数据</a:t>
            </a:r>
            <a:r>
              <a:rPr lang="zh-CN" altLang="en-US" b="1" dirty="0"/>
              <a:t>：数据只能从顶部（</a:t>
            </a:r>
            <a:r>
              <a:rPr lang="zh-CN" altLang="en-US" b="1" dirty="0">
                <a:solidFill>
                  <a:srgbClr val="FF6600"/>
                </a:solidFill>
              </a:rPr>
              <a:t>栈顶</a:t>
            </a:r>
            <a:r>
              <a:rPr lang="zh-CN" altLang="en-US" b="1" dirty="0"/>
              <a:t>）进入；</a:t>
            </a:r>
          </a:p>
          <a:p>
            <a:pPr eaLnBrk="1" hangingPunct="1"/>
            <a:r>
              <a:rPr lang="zh-CN" altLang="en-US" b="1" dirty="0">
                <a:solidFill>
                  <a:schemeClr val="accent2"/>
                </a:solidFill>
              </a:rPr>
              <a:t>取数据</a:t>
            </a:r>
            <a:r>
              <a:rPr lang="zh-CN" altLang="en-US" b="1" dirty="0"/>
              <a:t>：栈顶的数据先被取出，</a:t>
            </a:r>
            <a:r>
              <a:rPr lang="zh-CN" altLang="en-US" b="1" dirty="0">
                <a:solidFill>
                  <a:srgbClr val="FF6600"/>
                </a:solidFill>
              </a:rPr>
              <a:t>栈底</a:t>
            </a:r>
            <a:r>
              <a:rPr lang="zh-CN" altLang="en-US" b="1" dirty="0"/>
              <a:t>的数据最后被取出。即数据是</a:t>
            </a:r>
            <a:r>
              <a:rPr lang="en-US" altLang="zh-CN" b="1" dirty="0">
                <a:latin typeface="宋体" panose="02010600030101010101" pitchFamily="2" charset="-122"/>
              </a:rPr>
              <a:t>"</a:t>
            </a:r>
            <a:r>
              <a:rPr lang="zh-CN" altLang="en-US" b="1" dirty="0">
                <a:solidFill>
                  <a:srgbClr val="FF6600"/>
                </a:solidFill>
              </a:rPr>
              <a:t>先进后出</a:t>
            </a:r>
            <a:r>
              <a:rPr lang="en-US" altLang="zh-CN" b="1" dirty="0">
                <a:latin typeface="宋体" panose="02010600030101010101" pitchFamily="2" charset="-122"/>
              </a:rPr>
              <a:t>"</a:t>
            </a:r>
            <a:r>
              <a:rPr lang="zh-CN" altLang="en-US" b="1" dirty="0"/>
              <a:t>。数据的进入和退出均在栈顶进行。</a:t>
            </a:r>
          </a:p>
          <a:p>
            <a:pPr eaLnBrk="1" hangingPunct="1"/>
            <a:r>
              <a:rPr lang="zh-CN" altLang="en-US" b="1" dirty="0">
                <a:solidFill>
                  <a:schemeClr val="accent2"/>
                </a:solidFill>
              </a:rPr>
              <a:t>读数据</a:t>
            </a:r>
            <a:r>
              <a:rPr lang="zh-CN" altLang="en-US" b="1" dirty="0"/>
              <a:t>：只能读取</a:t>
            </a:r>
          </a:p>
          <a:p>
            <a:pPr eaLnBrk="1" hangingPunct="1">
              <a:buNone/>
            </a:pPr>
            <a:r>
              <a:rPr lang="zh-CN" altLang="en-US" b="1" dirty="0"/>
              <a:t>                  栈顶的数据</a:t>
            </a:r>
          </a:p>
          <a:p>
            <a:pPr eaLnBrk="1" hangingPunct="1"/>
            <a:endParaRPr lang="zh-CN" altLang="en-US" b="1" dirty="0"/>
          </a:p>
        </p:txBody>
      </p:sp>
      <p:graphicFrame>
        <p:nvGraphicFramePr>
          <p:cNvPr id="55300" name="Object 4"/>
          <p:cNvGraphicFramePr>
            <a:graphicFrameLocks noGrp="1" noChangeAspect="1"/>
          </p:cNvGraphicFramePr>
          <p:nvPr>
            <p:ph sz="half" idx="2"/>
          </p:nvPr>
        </p:nvGraphicFramePr>
        <p:xfrm>
          <a:off x="5292725" y="3971925"/>
          <a:ext cx="2663825" cy="2552700"/>
        </p:xfrm>
        <a:graphic>
          <a:graphicData uri="http://schemas.openxmlformats.org/presentationml/2006/ole">
            <mc:AlternateContent xmlns:mc="http://schemas.openxmlformats.org/markup-compatibility/2006">
              <mc:Choice xmlns:v="urn:schemas-microsoft-com:vml" Requires="v">
                <p:oleObj r:id="rId2" imgW="2766060" imgH="2653030" progId="Visio.Drawing.11">
                  <p:embed/>
                </p:oleObj>
              </mc:Choice>
              <mc:Fallback>
                <p:oleObj r:id="rId2" imgW="2766060" imgH="2653030" progId="Visio.Drawing.11">
                  <p:embed/>
                  <p:pic>
                    <p:nvPicPr>
                      <p:cNvPr id="55300" name="Object 4"/>
                      <p:cNvPicPr/>
                      <p:nvPr/>
                    </p:nvPicPr>
                    <p:blipFill>
                      <a:blip r:embed="rId3"/>
                      <a:srcRect/>
                      <a:stretch>
                        <a:fillRect/>
                      </a:stretch>
                    </p:blipFill>
                    <p:spPr>
                      <a:xfrm>
                        <a:off x="5292725" y="3971925"/>
                        <a:ext cx="2663825" cy="2552700"/>
                      </a:xfrm>
                      <a:prstGeom prst="rect">
                        <a:avLst/>
                      </a:prstGeom>
                      <a:noFill/>
                      <a:ln w="38100">
                        <a:miter/>
                      </a:ln>
                    </p:spPr>
                  </p:pic>
                </p:oleObj>
              </mc:Fallback>
            </mc:AlternateContent>
          </a:graphicData>
        </a:graphic>
      </p:graphicFrame>
      <p:sp>
        <p:nvSpPr>
          <p:cNvPr id="55301" name="Rectangle 7"/>
          <p:cNvSpPr>
            <a:spLocks noGrp="1"/>
          </p:cNvSpPr>
          <p:nvPr>
            <p:ph type="title"/>
          </p:nvPr>
        </p:nvSpPr>
        <p:spPr/>
        <p:txBody>
          <a:bodyPr vert="horz" wrap="square" lIns="91440" tIns="45720" rIns="91440" bIns="45720" anchor="ctr"/>
          <a:lstStyle/>
          <a:p>
            <a:pPr eaLnBrk="1" hangingPunct="1"/>
            <a:r>
              <a:rPr lang="zh-CN" altLang="en-US" b="1" dirty="0"/>
              <a:t>函数的调用原理－栈区</a:t>
            </a:r>
          </a:p>
        </p:txBody>
      </p:sp>
      <p:sp>
        <p:nvSpPr>
          <p:cNvPr id="55302" name="Rectangle 9"/>
          <p:cNvSpPr/>
          <p:nvPr/>
        </p:nvSpPr>
        <p:spPr>
          <a:xfrm>
            <a:off x="7092950" y="4581525"/>
            <a:ext cx="1079500" cy="719138"/>
          </a:xfrm>
          <a:prstGeom prst="rect">
            <a:avLst/>
          </a:prstGeom>
          <a:solidFill>
            <a:schemeClr val="bg1"/>
          </a:solidFill>
          <a:ln w="9525">
            <a:noFill/>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55303" name="Line 10"/>
          <p:cNvSpPr/>
          <p:nvPr/>
        </p:nvSpPr>
        <p:spPr>
          <a:xfrm>
            <a:off x="6011863" y="4330700"/>
            <a:ext cx="288925" cy="288925"/>
          </a:xfrm>
          <a:prstGeom prst="line">
            <a:avLst/>
          </a:prstGeom>
          <a:ln w="28575" cap="flat" cmpd="sng">
            <a:solidFill>
              <a:schemeClr val="tx1"/>
            </a:solidFill>
            <a:prstDash val="solid"/>
            <a:headEnd type="none" w="med" len="med"/>
            <a:tailEnd type="triangle" w="med" len="med"/>
          </a:ln>
        </p:spPr>
      </p:sp>
      <p:sp>
        <p:nvSpPr>
          <p:cNvPr id="55304" name="Line 11"/>
          <p:cNvSpPr/>
          <p:nvPr/>
        </p:nvSpPr>
        <p:spPr>
          <a:xfrm flipV="1">
            <a:off x="6804025" y="4546600"/>
            <a:ext cx="73025" cy="433388"/>
          </a:xfrm>
          <a:prstGeom prst="line">
            <a:avLst/>
          </a:prstGeom>
          <a:ln w="28575" cap="flat" cmpd="sng">
            <a:solidFill>
              <a:schemeClr val="tx1"/>
            </a:solidFill>
            <a:prstDash val="solid"/>
            <a:headEnd type="none" w="med" len="med"/>
            <a:tailEnd type="triangle" w="med" len="med"/>
          </a:ln>
        </p:spPr>
      </p:sp>
      <p:sp>
        <p:nvSpPr>
          <p:cNvPr id="55305" name="Text Box 12"/>
          <p:cNvSpPr txBox="1"/>
          <p:nvPr/>
        </p:nvSpPr>
        <p:spPr>
          <a:xfrm>
            <a:off x="4716463" y="6092825"/>
            <a:ext cx="1008062" cy="366713"/>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r" eaLnBrk="1" hangingPunct="1">
              <a:lnSpc>
                <a:spcPct val="90000"/>
              </a:lnSpc>
              <a:spcBef>
                <a:spcPct val="50000"/>
              </a:spcBef>
              <a:buNone/>
            </a:pPr>
            <a:r>
              <a:rPr lang="zh-CN" altLang="en-US" sz="2000" b="1" dirty="0"/>
              <a:t>栈底</a:t>
            </a:r>
          </a:p>
        </p:txBody>
      </p:sp>
      <p:sp>
        <p:nvSpPr>
          <p:cNvPr id="55306" name="Text Box 13"/>
          <p:cNvSpPr txBox="1"/>
          <p:nvPr/>
        </p:nvSpPr>
        <p:spPr>
          <a:xfrm>
            <a:off x="4716463" y="4868863"/>
            <a:ext cx="1008062" cy="366712"/>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r" eaLnBrk="1" hangingPunct="1">
              <a:lnSpc>
                <a:spcPct val="90000"/>
              </a:lnSpc>
              <a:spcBef>
                <a:spcPct val="50000"/>
              </a:spcBef>
              <a:buNone/>
            </a:pPr>
            <a:r>
              <a:rPr lang="zh-CN" altLang="en-US" sz="2000" b="1" dirty="0"/>
              <a:t>栈顶</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5"/>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74</a:t>
            </a:fld>
            <a:endParaRPr lang="zh-CN" altLang="en-US" sz="1400" b="1" dirty="0"/>
          </a:p>
        </p:txBody>
      </p:sp>
      <p:sp>
        <p:nvSpPr>
          <p:cNvPr id="58371" name="Rectangle 5"/>
          <p:cNvSpPr>
            <a:spLocks noGrp="1"/>
          </p:cNvSpPr>
          <p:nvPr>
            <p:ph type="title"/>
          </p:nvPr>
        </p:nvSpPr>
        <p:spPr/>
        <p:txBody>
          <a:bodyPr vert="horz" wrap="square" lIns="91440" tIns="45720" rIns="91440" bIns="45720" anchor="ctr"/>
          <a:lstStyle/>
          <a:p>
            <a:pPr eaLnBrk="1" hangingPunct="1"/>
            <a:r>
              <a:rPr lang="zh-CN" altLang="en-US" b="1" dirty="0"/>
              <a:t>函数调用原理：函数栈的函数活动记录</a:t>
            </a:r>
            <a:endParaRPr lang="en-US" altLang="zh-CN" b="1" dirty="0"/>
          </a:p>
        </p:txBody>
      </p:sp>
      <p:sp>
        <p:nvSpPr>
          <p:cNvPr id="58372" name="Rectangle 3"/>
          <p:cNvSpPr>
            <a:spLocks noGrp="1"/>
          </p:cNvSpPr>
          <p:nvPr>
            <p:ph type="body" sz="half" idx="1"/>
          </p:nvPr>
        </p:nvSpPr>
        <p:spPr>
          <a:xfrm>
            <a:off x="685800" y="1319213"/>
            <a:ext cx="8207375" cy="1462087"/>
          </a:xfrm>
        </p:spPr>
        <p:txBody>
          <a:bodyPr vert="horz" wrap="square" lIns="91440" tIns="45720" rIns="91440" bIns="45720" anchor="t"/>
          <a:lstStyle/>
          <a:p>
            <a:pPr eaLnBrk="1" hangingPunct="1">
              <a:lnSpc>
                <a:spcPct val="90000"/>
              </a:lnSpc>
            </a:pPr>
            <a:r>
              <a:rPr lang="zh-CN" altLang="en-US" sz="2400" b="1" dirty="0"/>
              <a:t>为方便描述函数调用后产生的实例，引入一个术语：</a:t>
            </a:r>
            <a:r>
              <a:rPr lang="en-US" altLang="zh-CN" sz="2400" b="1" dirty="0">
                <a:latin typeface="宋体" panose="02010600030101010101" pitchFamily="2" charset="-122"/>
              </a:rPr>
              <a:t>"</a:t>
            </a:r>
            <a:r>
              <a:rPr lang="zh-CN" altLang="en-US" sz="2400" b="1" dirty="0">
                <a:solidFill>
                  <a:srgbClr val="FF6600"/>
                </a:solidFill>
              </a:rPr>
              <a:t>函数的活动记录</a:t>
            </a:r>
            <a:r>
              <a:rPr lang="en-US" altLang="zh-CN" sz="2400" b="1" dirty="0">
                <a:latin typeface="宋体" panose="02010600030101010101" pitchFamily="2" charset="-122"/>
              </a:rPr>
              <a:t>"</a:t>
            </a:r>
            <a:r>
              <a:rPr lang="zh-CN" altLang="en-US" sz="2400" b="1" dirty="0"/>
              <a:t>。函数的活动记录是一段在</a:t>
            </a:r>
            <a:r>
              <a:rPr lang="zh-CN" altLang="en-US" sz="2400" b="1" dirty="0">
                <a:solidFill>
                  <a:schemeClr val="accent2"/>
                </a:solidFill>
              </a:rPr>
              <a:t>栈区</a:t>
            </a:r>
            <a:r>
              <a:rPr lang="zh-CN" altLang="en-US" sz="2400" b="1" dirty="0"/>
              <a:t>分配的连续的内存存储区，用以存放函数一次执行所需的数据。</a:t>
            </a:r>
          </a:p>
          <a:p>
            <a:pPr eaLnBrk="1" hangingPunct="1">
              <a:lnSpc>
                <a:spcPct val="90000"/>
              </a:lnSpc>
            </a:pPr>
            <a:r>
              <a:rPr lang="zh-CN" altLang="en-US" sz="2400" b="1" dirty="0"/>
              <a:t>函数调用的启动，要在</a:t>
            </a:r>
            <a:r>
              <a:rPr lang="zh-CN" altLang="en-US" sz="2400" b="1" dirty="0">
                <a:solidFill>
                  <a:srgbClr val="0070C0"/>
                </a:solidFill>
              </a:rPr>
              <a:t>函数</a:t>
            </a:r>
            <a:r>
              <a:rPr lang="zh-CN" altLang="en-US" sz="2400" b="1" dirty="0">
                <a:solidFill>
                  <a:schemeClr val="accent2"/>
                </a:solidFill>
              </a:rPr>
              <a:t>栈区的栈顶</a:t>
            </a:r>
            <a:r>
              <a:rPr lang="zh-CN" altLang="en-US" sz="2400" b="1" dirty="0"/>
              <a:t>创建一个函数活动记录。函数返回，要从函数栈顶将函数的活动记录释放。</a:t>
            </a:r>
          </a:p>
        </p:txBody>
      </p:sp>
      <p:graphicFrame>
        <p:nvGraphicFramePr>
          <p:cNvPr id="58373" name="Object 4"/>
          <p:cNvGraphicFramePr>
            <a:graphicFrameLocks noGrp="1" noChangeAspect="1"/>
          </p:cNvGraphicFramePr>
          <p:nvPr>
            <p:ph sz="half" idx="2"/>
          </p:nvPr>
        </p:nvGraphicFramePr>
        <p:xfrm>
          <a:off x="4500563" y="2852738"/>
          <a:ext cx="3240087" cy="3041650"/>
        </p:xfrm>
        <a:graphic>
          <a:graphicData uri="http://schemas.openxmlformats.org/presentationml/2006/ole">
            <mc:AlternateContent xmlns:mc="http://schemas.openxmlformats.org/markup-compatibility/2006">
              <mc:Choice xmlns:v="urn:schemas-microsoft-com:vml" Requires="v">
                <p:oleObj r:id="rId2" imgW="2483485" imgH="2731770" progId="Visio.Drawing.11">
                  <p:embed/>
                </p:oleObj>
              </mc:Choice>
              <mc:Fallback>
                <p:oleObj r:id="rId2" imgW="2483485" imgH="2731770" progId="Visio.Drawing.11">
                  <p:embed/>
                  <p:pic>
                    <p:nvPicPr>
                      <p:cNvPr id="58373" name="Object 4"/>
                      <p:cNvPicPr/>
                      <p:nvPr/>
                    </p:nvPicPr>
                    <p:blipFill>
                      <a:blip r:embed="rId3"/>
                      <a:srcRect/>
                      <a:stretch>
                        <a:fillRect/>
                      </a:stretch>
                    </p:blipFill>
                    <p:spPr>
                      <a:xfrm>
                        <a:off x="4500563" y="2852738"/>
                        <a:ext cx="3240087" cy="3041650"/>
                      </a:xfrm>
                      <a:prstGeom prst="rect">
                        <a:avLst/>
                      </a:prstGeom>
                      <a:noFill/>
                      <a:ln w="38100">
                        <a:miter/>
                      </a:ln>
                    </p:spPr>
                  </p:pic>
                </p:oleObj>
              </mc:Fallback>
            </mc:AlternateContent>
          </a:graphicData>
        </a:graphic>
      </p:graphicFrame>
      <p:sp>
        <p:nvSpPr>
          <p:cNvPr id="58374" name="AutoShape 8"/>
          <p:cNvSpPr/>
          <p:nvPr/>
        </p:nvSpPr>
        <p:spPr>
          <a:xfrm>
            <a:off x="4573588" y="3373438"/>
            <a:ext cx="142875" cy="936625"/>
          </a:xfrm>
          <a:prstGeom prst="leftBrace">
            <a:avLst>
              <a:gd name="adj1" fmla="val 54629"/>
              <a:gd name="adj2" fmla="val 50000"/>
            </a:avLst>
          </a:prstGeom>
          <a:noFill/>
          <a:ln w="28575" cap="flat" cmpd="sng">
            <a:solidFill>
              <a:srgbClr val="FF33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58375" name="Text Box 9"/>
          <p:cNvSpPr txBox="1"/>
          <p:nvPr/>
        </p:nvSpPr>
        <p:spPr>
          <a:xfrm>
            <a:off x="2557463" y="3524250"/>
            <a:ext cx="2087562" cy="6413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000" b="1" dirty="0"/>
              <a:t>     被调用函数中的数据</a:t>
            </a:r>
          </a:p>
        </p:txBody>
      </p:sp>
      <p:sp>
        <p:nvSpPr>
          <p:cNvPr id="58376" name="AutoShape 10"/>
          <p:cNvSpPr/>
          <p:nvPr/>
        </p:nvSpPr>
        <p:spPr>
          <a:xfrm>
            <a:off x="4573588" y="4410075"/>
            <a:ext cx="142875" cy="936625"/>
          </a:xfrm>
          <a:prstGeom prst="leftBrace">
            <a:avLst>
              <a:gd name="adj1" fmla="val 54629"/>
              <a:gd name="adj2" fmla="val 50000"/>
            </a:avLst>
          </a:prstGeom>
          <a:noFill/>
          <a:ln w="28575" cap="flat" cmpd="sng">
            <a:solidFill>
              <a:srgbClr val="FF33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58377" name="Text Box 11"/>
          <p:cNvSpPr txBox="1"/>
          <p:nvPr/>
        </p:nvSpPr>
        <p:spPr>
          <a:xfrm>
            <a:off x="2555875" y="4430713"/>
            <a:ext cx="2087563" cy="91598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000" b="1" dirty="0"/>
              <a:t>    现场信息，用于调用结束能正确返回</a:t>
            </a: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1027"/>
          <p:cNvSpPr>
            <a:spLocks noGrp="1" noChangeArrowheads="1"/>
          </p:cNvSpPr>
          <p:nvPr>
            <p:ph type="body" idx="1"/>
          </p:nvPr>
        </p:nvSpPr>
        <p:spPr>
          <a:xfrm>
            <a:off x="685800" y="1319213"/>
            <a:ext cx="7989888" cy="4611687"/>
          </a:xfrm>
        </p:spPr>
        <p:txBody>
          <a:bodyPr/>
          <a:lstStyle/>
          <a:p>
            <a:pPr eaLnBrk="1" hangingPunct="1"/>
            <a:r>
              <a:rPr lang="zh-CN" altLang="en-US" b="1" dirty="0"/>
              <a:t>数据结构的三要素：</a:t>
            </a:r>
          </a:p>
          <a:p>
            <a:pPr marL="1066800" lvl="1" indent="-609600" eaLnBrk="1" hangingPunct="1"/>
            <a:r>
              <a:rPr lang="zh-CN" altLang="en-US" b="1" dirty="0"/>
              <a:t>数据模型：数据类型、数据个数、数据之间的关系。</a:t>
            </a:r>
            <a:endParaRPr lang="en-US" altLang="zh-CN" b="1" dirty="0"/>
          </a:p>
          <a:p>
            <a:pPr marL="1524000" lvl="2" indent="-609600" eaLnBrk="1" hangingPunct="1"/>
            <a:r>
              <a:rPr lang="zh-CN" altLang="en-US" b="1" dirty="0"/>
              <a:t>整数、小数、字符编码</a:t>
            </a:r>
            <a:r>
              <a:rPr lang="en-US" altLang="zh-CN" b="1" dirty="0"/>
              <a:t>; </a:t>
            </a:r>
          </a:p>
          <a:p>
            <a:pPr marL="1524000" lvl="2" indent="-609600" eaLnBrk="1" hangingPunct="1"/>
            <a:r>
              <a:rPr lang="zh-CN" altLang="en-US" b="1" dirty="0"/>
              <a:t>线性表、树、图。</a:t>
            </a:r>
          </a:p>
          <a:p>
            <a:pPr marL="1066800" lvl="1" indent="-609600" eaLnBrk="1" hangingPunct="1"/>
            <a:r>
              <a:rPr lang="zh-CN" altLang="en-US" b="1" dirty="0"/>
              <a:t>数据的存储方式</a:t>
            </a:r>
          </a:p>
          <a:p>
            <a:pPr marL="1524000" lvl="2" indent="-609600" eaLnBrk="1" hangingPunct="1"/>
            <a:r>
              <a:rPr lang="zh-CN" altLang="en-US" b="1" dirty="0"/>
              <a:t>连续存储，随机存储；</a:t>
            </a:r>
          </a:p>
          <a:p>
            <a:pPr marL="1066800" lvl="1" indent="-609600" eaLnBrk="1" hangingPunct="1"/>
            <a:r>
              <a:rPr lang="zh-CN" altLang="en-US" b="1" dirty="0"/>
              <a:t>数据的操作算法</a:t>
            </a:r>
          </a:p>
          <a:p>
            <a:pPr marL="1524000" lvl="2" indent="-609600" eaLnBrk="1" hangingPunct="1"/>
            <a:r>
              <a:rPr lang="zh-CN" altLang="en-US" b="1" dirty="0"/>
              <a:t>查找、增加、修改、删除</a:t>
            </a:r>
            <a:r>
              <a:rPr lang="en-US" altLang="zh-CN" b="1" dirty="0"/>
              <a:t>...</a:t>
            </a:r>
          </a:p>
        </p:txBody>
      </p:sp>
      <p:sp>
        <p:nvSpPr>
          <p:cNvPr id="5124" name="Rectangle 11"/>
          <p:cNvSpPr>
            <a:spLocks noGrp="1" noChangeArrowheads="1"/>
          </p:cNvSpPr>
          <p:nvPr>
            <p:ph type="title"/>
          </p:nvPr>
        </p:nvSpPr>
        <p:spPr>
          <a:noFill/>
        </p:spPr>
        <p:txBody>
          <a:bodyPr/>
          <a:lstStyle/>
          <a:p>
            <a:pPr eaLnBrk="1" hangingPunct="1"/>
            <a:r>
              <a:rPr lang="zh-CN" altLang="en-US" b="1" dirty="0"/>
              <a:t>数据结构的三要素</a:t>
            </a: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4"/>
          <p:cNvSpPr>
            <a:spLocks noGrp="1" noChangeArrowheads="1"/>
          </p:cNvSpPr>
          <p:nvPr>
            <p:ph type="title"/>
          </p:nvPr>
        </p:nvSpPr>
        <p:spPr>
          <a:noFill/>
        </p:spPr>
        <p:txBody>
          <a:bodyPr/>
          <a:lstStyle/>
          <a:p>
            <a:pPr eaLnBrk="1" hangingPunct="1"/>
            <a:r>
              <a:rPr lang="zh-CN" altLang="en-US" b="1" dirty="0"/>
              <a:t>线性表</a:t>
            </a:r>
          </a:p>
        </p:txBody>
      </p:sp>
      <p:sp>
        <p:nvSpPr>
          <p:cNvPr id="289797" name="Rectangle 5"/>
          <p:cNvSpPr>
            <a:spLocks noGrp="1" noChangeArrowheads="1"/>
          </p:cNvSpPr>
          <p:nvPr>
            <p:ph type="body" idx="1"/>
          </p:nvPr>
        </p:nvSpPr>
        <p:spPr>
          <a:xfrm>
            <a:off x="611560" y="1247775"/>
            <a:ext cx="7772400" cy="5205412"/>
          </a:xfrm>
          <a:noFill/>
        </p:spPr>
        <p:txBody>
          <a:bodyPr/>
          <a:lstStyle/>
          <a:p>
            <a:pPr eaLnBrk="1" hangingPunct="1">
              <a:lnSpc>
                <a:spcPct val="90000"/>
              </a:lnSpc>
              <a:buFont typeface="Wingdings" panose="05000000000000000000" pitchFamily="2" charset="2"/>
              <a:buChar char="Ø"/>
            </a:pPr>
            <a:r>
              <a:rPr lang="zh-CN" altLang="en-US" sz="2400" b="1" dirty="0">
                <a:solidFill>
                  <a:srgbClr val="FF0000"/>
                </a:solidFill>
                <a:latin typeface="微软雅黑" panose="020B0503020204020204" pitchFamily="34" charset="-122"/>
                <a:ea typeface="微软雅黑" panose="020B0503020204020204" pitchFamily="34" charset="-122"/>
              </a:rPr>
              <a:t>线性表</a:t>
            </a:r>
            <a:r>
              <a:rPr lang="zh-CN" altLang="en-US" sz="2400" b="1" dirty="0"/>
              <a:t>是具有</a:t>
            </a:r>
            <a:r>
              <a:rPr lang="zh-CN" altLang="en-US" sz="2400" b="1" u="sng" dirty="0"/>
              <a:t>相同数据类型</a:t>
            </a:r>
            <a:r>
              <a:rPr lang="zh-CN" altLang="en-US" sz="2400" b="1" dirty="0"/>
              <a:t>的</a:t>
            </a:r>
            <a:r>
              <a:rPr lang="en-US" altLang="zh-CN" sz="2400" b="1" dirty="0"/>
              <a:t>n(n&gt;=0)</a:t>
            </a:r>
            <a:r>
              <a:rPr lang="zh-CN" altLang="en-US" sz="2400" b="1" dirty="0"/>
              <a:t>个数据元素的</a:t>
            </a:r>
            <a:r>
              <a:rPr lang="zh-CN" altLang="en-US" sz="2400" b="1" u="sng" dirty="0"/>
              <a:t>有限序列</a:t>
            </a:r>
            <a:r>
              <a:rPr lang="zh-CN" altLang="en-US" sz="2400" b="1" dirty="0"/>
              <a:t>，通常记为：（</a:t>
            </a:r>
            <a:r>
              <a:rPr lang="en-US" altLang="zh-CN" sz="2400" b="1" dirty="0"/>
              <a:t>a</a:t>
            </a:r>
            <a:r>
              <a:rPr lang="en-US" altLang="zh-CN" sz="2400" b="1" baseline="-25000" dirty="0"/>
              <a:t>1</a:t>
            </a:r>
            <a:r>
              <a:rPr lang="zh-CN" altLang="en-US" sz="2400" b="1" dirty="0"/>
              <a:t>，</a:t>
            </a:r>
            <a:r>
              <a:rPr lang="en-US" altLang="zh-CN" sz="2400" b="1" dirty="0"/>
              <a:t>a</a:t>
            </a:r>
            <a:r>
              <a:rPr lang="en-US" altLang="zh-CN" sz="2400" b="1" baseline="-25000" dirty="0"/>
              <a:t>2</a:t>
            </a:r>
            <a:r>
              <a:rPr lang="zh-CN" altLang="en-US" sz="2400" b="1" dirty="0"/>
              <a:t>，</a:t>
            </a:r>
            <a:r>
              <a:rPr lang="en-US" altLang="zh-CN" sz="2400" b="1" dirty="0">
                <a:latin typeface="宋体" panose="02010600030101010101" pitchFamily="2" charset="-122"/>
              </a:rPr>
              <a:t>…</a:t>
            </a:r>
            <a:r>
              <a:rPr lang="en-US" altLang="zh-CN" sz="2400" b="1" dirty="0"/>
              <a:t> a</a:t>
            </a:r>
            <a:r>
              <a:rPr lang="en-US" altLang="zh-CN" sz="2400" b="1" baseline="-25000" dirty="0"/>
              <a:t>i-1</a:t>
            </a:r>
            <a:r>
              <a:rPr lang="zh-CN" altLang="en-US" sz="2400" b="1" dirty="0"/>
              <a:t>，</a:t>
            </a:r>
            <a:r>
              <a:rPr lang="en-US" altLang="zh-CN" sz="2400" b="1" dirty="0" err="1"/>
              <a:t>a</a:t>
            </a:r>
            <a:r>
              <a:rPr lang="en-US" altLang="zh-CN" sz="2400" b="1" baseline="-25000" dirty="0" err="1"/>
              <a:t>i</a:t>
            </a:r>
            <a:r>
              <a:rPr lang="zh-CN" altLang="en-US" sz="2400" b="1" dirty="0"/>
              <a:t>，</a:t>
            </a:r>
            <a:r>
              <a:rPr lang="en-US" altLang="zh-CN" sz="2400" b="1" dirty="0"/>
              <a:t>a</a:t>
            </a:r>
            <a:r>
              <a:rPr lang="en-US" altLang="zh-CN" sz="2400" b="1" baseline="-25000" dirty="0"/>
              <a:t>i+1</a:t>
            </a:r>
            <a:r>
              <a:rPr lang="zh-CN" altLang="en-US" sz="2400" b="1" dirty="0"/>
              <a:t>，</a:t>
            </a:r>
            <a:r>
              <a:rPr lang="en-US" altLang="zh-CN" sz="2400" b="1" dirty="0">
                <a:latin typeface="宋体" panose="02010600030101010101" pitchFamily="2" charset="-122"/>
              </a:rPr>
              <a:t>…</a:t>
            </a:r>
            <a:r>
              <a:rPr lang="en-US" altLang="zh-CN" sz="2400" b="1" dirty="0"/>
              <a:t> a</a:t>
            </a:r>
            <a:r>
              <a:rPr lang="en-US" altLang="zh-CN" sz="2400" b="1" baseline="-25000" dirty="0"/>
              <a:t>n</a:t>
            </a:r>
            <a:r>
              <a:rPr lang="zh-CN" altLang="en-US" sz="2400" b="1" dirty="0"/>
              <a:t>）</a:t>
            </a:r>
          </a:p>
          <a:p>
            <a:pPr eaLnBrk="1" hangingPunct="1">
              <a:lnSpc>
                <a:spcPct val="90000"/>
              </a:lnSpc>
              <a:buFontTx/>
              <a:buNone/>
            </a:pPr>
            <a:r>
              <a:rPr lang="zh-CN" altLang="en-US" sz="2400" b="1" dirty="0"/>
              <a:t>    其中</a:t>
            </a:r>
            <a:r>
              <a:rPr lang="en-US" altLang="zh-CN" sz="2400" b="1" dirty="0"/>
              <a:t>n</a:t>
            </a:r>
            <a:r>
              <a:rPr lang="zh-CN" altLang="en-US" sz="2400" b="1" dirty="0"/>
              <a:t>为表长，</a:t>
            </a:r>
            <a:r>
              <a:rPr lang="en-US" altLang="zh-CN" sz="2400" b="1" dirty="0"/>
              <a:t>n</a:t>
            </a:r>
            <a:r>
              <a:rPr lang="zh-CN" altLang="en-US" sz="2400" b="1" dirty="0"/>
              <a:t>＝</a:t>
            </a:r>
            <a:r>
              <a:rPr lang="en-US" altLang="zh-CN" sz="2400" b="1" dirty="0"/>
              <a:t>0</a:t>
            </a:r>
            <a:r>
              <a:rPr lang="zh-CN" altLang="en-US" sz="2400" b="1" dirty="0"/>
              <a:t>时称为空表。</a:t>
            </a:r>
            <a:r>
              <a:rPr lang="zh-CN" altLang="en-US" sz="2400" dirty="0"/>
              <a:t> </a:t>
            </a:r>
          </a:p>
          <a:p>
            <a:pPr eaLnBrk="1" hangingPunct="1">
              <a:lnSpc>
                <a:spcPct val="90000"/>
              </a:lnSpc>
              <a:buFontTx/>
              <a:buNone/>
            </a:pPr>
            <a:r>
              <a:rPr lang="zh-CN" altLang="en-US" sz="2400" b="1" dirty="0"/>
              <a:t>    线性表数据元素之间为</a:t>
            </a:r>
            <a:r>
              <a:rPr lang="zh-CN" altLang="en-US" sz="2400" b="1" u="sng" dirty="0"/>
              <a:t>线性关系，即任意两个元素之间都可比较大小</a:t>
            </a:r>
            <a:r>
              <a:rPr lang="zh-CN" altLang="en-US" sz="2400" b="1" dirty="0"/>
              <a:t>。</a:t>
            </a:r>
          </a:p>
          <a:p>
            <a:pPr eaLnBrk="1" hangingPunct="1">
              <a:lnSpc>
                <a:spcPct val="90000"/>
              </a:lnSpc>
              <a:buFont typeface="Wingdings" panose="05000000000000000000" pitchFamily="2" charset="2"/>
              <a:buChar char="Ø"/>
            </a:pPr>
            <a:r>
              <a:rPr lang="zh-CN" altLang="en-US" sz="2400" b="1" dirty="0">
                <a:solidFill>
                  <a:srgbClr val="FF0000"/>
                </a:solidFill>
                <a:latin typeface="微软雅黑" panose="020B0503020204020204" pitchFamily="34" charset="-122"/>
                <a:ea typeface="微软雅黑" panose="020B0503020204020204" pitchFamily="34" charset="-122"/>
              </a:rPr>
              <a:t>线性表有两种存储结构：连续（顺序表）、随机（链表）。</a:t>
            </a:r>
            <a:endParaRPr lang="en-US" altLang="zh-CN" sz="2400" b="1" dirty="0">
              <a:solidFill>
                <a:srgbClr val="FF0000"/>
              </a:solidFill>
              <a:latin typeface="微软雅黑" panose="020B0503020204020204" pitchFamily="34" charset="-122"/>
              <a:ea typeface="微软雅黑" panose="020B0503020204020204" pitchFamily="34" charset="-122"/>
            </a:endParaRPr>
          </a:p>
          <a:p>
            <a:pPr eaLnBrk="1" hangingPunct="1">
              <a:buFont typeface="Wingdings" panose="05000000000000000000" pitchFamily="2" charset="2"/>
              <a:buChar char="Ø"/>
            </a:pPr>
            <a:r>
              <a:rPr lang="zh-CN" altLang="en-US" b="1" dirty="0"/>
              <a:t>线性表的算法可归纳一些基本操作，如：</a:t>
            </a:r>
          </a:p>
          <a:p>
            <a:pPr lvl="1" eaLnBrk="1" hangingPunct="1">
              <a:buFont typeface="Wingdings" panose="05000000000000000000" pitchFamily="2" charset="2"/>
              <a:buChar char="Ø"/>
            </a:pPr>
            <a:r>
              <a:rPr lang="zh-CN" altLang="en-US" b="1" dirty="0"/>
              <a:t>创建与更新：增加、删除表中的元素；</a:t>
            </a:r>
            <a:endParaRPr lang="en-US" altLang="zh-CN" b="1" dirty="0"/>
          </a:p>
          <a:p>
            <a:pPr lvl="1" eaLnBrk="1" hangingPunct="1">
              <a:buFont typeface="Wingdings" panose="05000000000000000000" pitchFamily="2" charset="2"/>
              <a:buChar char="Ø"/>
            </a:pPr>
            <a:r>
              <a:rPr lang="zh-CN" altLang="en-US" b="1" dirty="0"/>
              <a:t>检索：查找表中的某个元素；</a:t>
            </a:r>
          </a:p>
          <a:p>
            <a:pPr lvl="1" eaLnBrk="1" hangingPunct="1">
              <a:buFont typeface="Wingdings" panose="05000000000000000000" pitchFamily="2" charset="2"/>
              <a:buChar char="Ø"/>
            </a:pPr>
            <a:r>
              <a:rPr lang="zh-CN" altLang="en-US" b="1" dirty="0"/>
              <a:t>排序：按照元素值的某种排序规则对线性表中的元素进行重新排列。</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89797">
                                            <p:txEl>
                                              <p:pRg st="0" end="0"/>
                                            </p:txEl>
                                          </p:spTgt>
                                        </p:tgtEl>
                                        <p:attrNameLst>
                                          <p:attrName>style.visibility</p:attrName>
                                        </p:attrNameLst>
                                      </p:cBhvr>
                                      <p:to>
                                        <p:strVal val="visible"/>
                                      </p:to>
                                    </p:set>
                                    <p:animEffect transition="in" filter="dissolve">
                                      <p:cBhvr>
                                        <p:cTn id="7" dur="500"/>
                                        <p:tgtEl>
                                          <p:spTgt spid="289797">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289797">
                                            <p:txEl>
                                              <p:pRg st="1" end="1"/>
                                            </p:txEl>
                                          </p:spTgt>
                                        </p:tgtEl>
                                        <p:attrNameLst>
                                          <p:attrName>style.visibility</p:attrName>
                                        </p:attrNameLst>
                                      </p:cBhvr>
                                      <p:to>
                                        <p:strVal val="visible"/>
                                      </p:to>
                                    </p:set>
                                    <p:animEffect transition="in" filter="dissolve">
                                      <p:cBhvr>
                                        <p:cTn id="10" dur="500"/>
                                        <p:tgtEl>
                                          <p:spTgt spid="289797">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289797">
                                            <p:txEl>
                                              <p:pRg st="2" end="2"/>
                                            </p:txEl>
                                          </p:spTgt>
                                        </p:tgtEl>
                                        <p:attrNameLst>
                                          <p:attrName>style.visibility</p:attrName>
                                        </p:attrNameLst>
                                      </p:cBhvr>
                                      <p:to>
                                        <p:strVal val="visible"/>
                                      </p:to>
                                    </p:set>
                                    <p:animEffect transition="in" filter="dissolve">
                                      <p:cBhvr>
                                        <p:cTn id="13" dur="500"/>
                                        <p:tgtEl>
                                          <p:spTgt spid="289797">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289797">
                                            <p:txEl>
                                              <p:pRg st="3" end="3"/>
                                            </p:txEl>
                                          </p:spTgt>
                                        </p:tgtEl>
                                        <p:attrNameLst>
                                          <p:attrName>style.visibility</p:attrName>
                                        </p:attrNameLst>
                                      </p:cBhvr>
                                      <p:to>
                                        <p:strVal val="visible"/>
                                      </p:to>
                                    </p:set>
                                    <p:animEffect transition="in" filter="dissolve">
                                      <p:cBhvr>
                                        <p:cTn id="18" dur="500"/>
                                        <p:tgtEl>
                                          <p:spTgt spid="289797">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289797">
                                            <p:txEl>
                                              <p:pRg st="4" end="4"/>
                                            </p:txEl>
                                          </p:spTgt>
                                        </p:tgtEl>
                                        <p:attrNameLst>
                                          <p:attrName>style.visibility</p:attrName>
                                        </p:attrNameLst>
                                      </p:cBhvr>
                                      <p:to>
                                        <p:strVal val="visible"/>
                                      </p:to>
                                    </p:set>
                                    <p:animEffect transition="in" filter="dissolve">
                                      <p:cBhvr>
                                        <p:cTn id="23" dur="500"/>
                                        <p:tgtEl>
                                          <p:spTgt spid="289797">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289797">
                                            <p:txEl>
                                              <p:pRg st="5" end="5"/>
                                            </p:txEl>
                                          </p:spTgt>
                                        </p:tgtEl>
                                        <p:attrNameLst>
                                          <p:attrName>style.visibility</p:attrName>
                                        </p:attrNameLst>
                                      </p:cBhvr>
                                      <p:to>
                                        <p:strVal val="visible"/>
                                      </p:to>
                                    </p:set>
                                    <p:animEffect transition="in" filter="dissolve">
                                      <p:cBhvr>
                                        <p:cTn id="28" dur="500"/>
                                        <p:tgtEl>
                                          <p:spTgt spid="289797">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289797">
                                            <p:txEl>
                                              <p:pRg st="6" end="6"/>
                                            </p:txEl>
                                          </p:spTgt>
                                        </p:tgtEl>
                                        <p:attrNameLst>
                                          <p:attrName>style.visibility</p:attrName>
                                        </p:attrNameLst>
                                      </p:cBhvr>
                                      <p:to>
                                        <p:strVal val="visible"/>
                                      </p:to>
                                    </p:set>
                                    <p:animEffect transition="in" filter="dissolve">
                                      <p:cBhvr>
                                        <p:cTn id="33" dur="500"/>
                                        <p:tgtEl>
                                          <p:spTgt spid="289797">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289797">
                                            <p:txEl>
                                              <p:pRg st="7" end="7"/>
                                            </p:txEl>
                                          </p:spTgt>
                                        </p:tgtEl>
                                        <p:attrNameLst>
                                          <p:attrName>style.visibility</p:attrName>
                                        </p:attrNameLst>
                                      </p:cBhvr>
                                      <p:to>
                                        <p:strVal val="visible"/>
                                      </p:to>
                                    </p:set>
                                    <p:animEffect transition="in" filter="dissolve">
                                      <p:cBhvr>
                                        <p:cTn id="38" dur="500"/>
                                        <p:tgtEl>
                                          <p:spTgt spid="28979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3" name="Rectangle 5"/>
          <p:cNvSpPr>
            <a:spLocks noGrp="1" noChangeArrowheads="1"/>
          </p:cNvSpPr>
          <p:nvPr>
            <p:ph type="body" idx="1"/>
          </p:nvPr>
        </p:nvSpPr>
        <p:spPr>
          <a:xfrm>
            <a:off x="323527" y="1203325"/>
            <a:ext cx="8287072" cy="4953000"/>
          </a:xfrm>
          <a:noFill/>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eaLnBrk="1" hangingPunct="1"/>
            <a:r>
              <a:rPr lang="zh-CN" altLang="en-US" b="1" dirty="0"/>
              <a:t>数组必须一次性整体定义，预先确定数据类型和</a:t>
            </a:r>
            <a:r>
              <a:rPr lang="zh-CN" altLang="en-US" b="1" dirty="0">
                <a:solidFill>
                  <a:srgbClr val="FF0000"/>
                </a:solidFill>
              </a:rPr>
              <a:t>元素最大个数</a:t>
            </a:r>
            <a:r>
              <a:rPr lang="zh-CN" altLang="en-US" b="1" dirty="0"/>
              <a:t>，因为要占用一组</a:t>
            </a:r>
            <a:r>
              <a:rPr lang="zh-CN" altLang="en-US" b="1" dirty="0">
                <a:solidFill>
                  <a:srgbClr val="FF0000"/>
                </a:solidFill>
                <a:latin typeface="微软雅黑" panose="020B0503020204020204" pitchFamily="34" charset="-122"/>
                <a:ea typeface="微软雅黑" panose="020B0503020204020204" pitchFamily="34" charset="-122"/>
              </a:rPr>
              <a:t>连续</a:t>
            </a:r>
            <a:r>
              <a:rPr lang="zh-CN" altLang="en-US" b="1" dirty="0"/>
              <a:t>的存储单元。</a:t>
            </a:r>
          </a:p>
          <a:p>
            <a:pPr marL="609600" indent="-609600" eaLnBrk="1" hangingPunct="1">
              <a:buFontTx/>
              <a:buNone/>
            </a:pPr>
            <a:r>
              <a:rPr lang="en-US" altLang="zh-CN" b="1" dirty="0"/>
              <a:t>	</a:t>
            </a:r>
            <a:r>
              <a:rPr lang="zh-CN" altLang="en-US" b="1" dirty="0"/>
              <a:t>定义</a:t>
            </a:r>
            <a:r>
              <a:rPr lang="en-US" altLang="zh-CN" b="1" dirty="0"/>
              <a:t> </a:t>
            </a:r>
            <a:r>
              <a:rPr lang="zh-CN" altLang="en-US" b="1" i="1" dirty="0">
                <a:sym typeface="+mn-ea"/>
              </a:rPr>
              <a:t>元素类型名  数组名[</a:t>
            </a:r>
            <a:r>
              <a:rPr lang="zh-CN" altLang="en-US" b="1" i="1" dirty="0">
                <a:solidFill>
                  <a:srgbClr val="FF0000"/>
                </a:solidFill>
                <a:sym typeface="+mn-ea"/>
              </a:rPr>
              <a:t>整型常量</a:t>
            </a:r>
            <a:r>
              <a:rPr lang="zh-CN" altLang="en-US" b="1" i="1" dirty="0">
                <a:sym typeface="+mn-ea"/>
              </a:rPr>
              <a:t>表达式]</a:t>
            </a:r>
            <a:r>
              <a:rPr lang="en-US" altLang="zh-CN" b="1" i="1" dirty="0">
                <a:sym typeface="+mn-ea"/>
              </a:rPr>
              <a:t>;</a:t>
            </a:r>
          </a:p>
          <a:p>
            <a:pPr marL="609600" indent="-609600" eaLnBrk="1" hangingPunct="1">
              <a:buFontTx/>
              <a:buNone/>
            </a:pPr>
            <a:r>
              <a:rPr lang="en-US" altLang="zh-CN" dirty="0">
                <a:sym typeface="+mn-ea"/>
              </a:rPr>
              <a:t>	</a:t>
            </a:r>
            <a:r>
              <a:rPr lang="zh-CN" altLang="en-US" dirty="0">
                <a:sym typeface="+mn-ea"/>
              </a:rPr>
              <a:t>例： </a:t>
            </a:r>
            <a:r>
              <a:rPr lang="en-US" altLang="zh-CN" dirty="0">
                <a:sym typeface="+mn-ea"/>
              </a:rPr>
              <a:t>int c[100];</a:t>
            </a:r>
            <a:endParaRPr lang="zh-CN" altLang="en-US" dirty="0"/>
          </a:p>
        </p:txBody>
      </p:sp>
      <p:sp>
        <p:nvSpPr>
          <p:cNvPr id="10244" name="Rectangle 10"/>
          <p:cNvSpPr>
            <a:spLocks noGrp="1" noChangeArrowheads="1"/>
          </p:cNvSpPr>
          <p:nvPr>
            <p:ph type="title"/>
          </p:nvPr>
        </p:nvSpPr>
        <p:spPr>
          <a:noFill/>
        </p:spPr>
        <p:txBody>
          <a:bodyPr/>
          <a:lstStyle/>
          <a:p>
            <a:pPr eaLnBrk="1" hangingPunct="1"/>
            <a:r>
              <a:rPr lang="zh-CN" altLang="en-US" b="1" dirty="0"/>
              <a:t>数组是连续存储的线性表</a:t>
            </a:r>
          </a:p>
        </p:txBody>
      </p:sp>
      <p:pic>
        <p:nvPicPr>
          <p:cNvPr id="10247"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2160" y="3495675"/>
            <a:ext cx="2447925" cy="237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文本框 955407">
            <a:extLst>
              <a:ext uri="{FF2B5EF4-FFF2-40B4-BE49-F238E27FC236}">
                <a16:creationId xmlns:a16="http://schemas.microsoft.com/office/drawing/2014/main" id="{20646AA3-679A-E1CF-C440-738A450AB1AA}"/>
              </a:ext>
            </a:extLst>
          </p:cNvPr>
          <p:cNvSpPr txBox="1">
            <a:spLocks noChangeArrowheads="1"/>
          </p:cNvSpPr>
          <p:nvPr/>
        </p:nvSpPr>
        <p:spPr bwMode="auto">
          <a:xfrm>
            <a:off x="5289813" y="3254458"/>
            <a:ext cx="958917" cy="3354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a:spcBef>
                <a:spcPct val="20000"/>
              </a:spcBef>
              <a:buClr>
                <a:srgbClr val="CC99FF"/>
              </a:buClr>
              <a:buFont typeface="Monotype Sorts" pitchFamily="2" charset="2"/>
              <a:buNone/>
            </a:pPr>
            <a:r>
              <a:rPr lang="zh-CN" altLang="en-US" sz="2000" b="1" dirty="0">
                <a:solidFill>
                  <a:srgbClr val="336600"/>
                </a:solidFill>
                <a:sym typeface="Monotype Sorts" pitchFamily="2" charset="2"/>
              </a:rPr>
              <a:t>低地址</a:t>
            </a:r>
          </a:p>
          <a:p>
            <a:pPr algn="ctr">
              <a:spcBef>
                <a:spcPct val="20000"/>
              </a:spcBef>
              <a:buClr>
                <a:srgbClr val="CC99FF"/>
              </a:buClr>
              <a:buFont typeface="Monotype Sorts" pitchFamily="2" charset="2"/>
              <a:buNone/>
            </a:pPr>
            <a:endParaRPr lang="zh-CN" altLang="en-US" sz="2000" b="1" dirty="0">
              <a:solidFill>
                <a:srgbClr val="66FFFF"/>
              </a:solidFill>
              <a:sym typeface="Monotype Sorts" pitchFamily="2" charset="2"/>
            </a:endParaRPr>
          </a:p>
          <a:p>
            <a:pPr algn="ctr">
              <a:spcBef>
                <a:spcPct val="20000"/>
              </a:spcBef>
              <a:buClr>
                <a:srgbClr val="CC99FF"/>
              </a:buClr>
              <a:buFont typeface="Monotype Sorts" pitchFamily="2" charset="2"/>
              <a:buNone/>
            </a:pPr>
            <a:endParaRPr lang="zh-CN" altLang="en-US" sz="2000" b="1" dirty="0">
              <a:solidFill>
                <a:srgbClr val="66FFFF"/>
              </a:solidFill>
              <a:sym typeface="Monotype Sorts" pitchFamily="2" charset="2"/>
            </a:endParaRPr>
          </a:p>
          <a:p>
            <a:pPr algn="ctr">
              <a:spcBef>
                <a:spcPct val="20000"/>
              </a:spcBef>
              <a:buClr>
                <a:srgbClr val="CC99FF"/>
              </a:buClr>
              <a:buFont typeface="Monotype Sorts" pitchFamily="2" charset="2"/>
              <a:buNone/>
            </a:pPr>
            <a:endParaRPr lang="zh-CN" altLang="en-US" sz="2000" b="1" dirty="0">
              <a:solidFill>
                <a:srgbClr val="66FFFF"/>
              </a:solidFill>
              <a:sym typeface="Monotype Sorts" pitchFamily="2" charset="2"/>
            </a:endParaRPr>
          </a:p>
          <a:p>
            <a:pPr algn="ctr">
              <a:spcBef>
                <a:spcPct val="20000"/>
              </a:spcBef>
              <a:buClr>
                <a:srgbClr val="CC99FF"/>
              </a:buClr>
              <a:buFont typeface="Monotype Sorts" pitchFamily="2" charset="2"/>
              <a:buNone/>
            </a:pPr>
            <a:r>
              <a:rPr lang="zh-CN" altLang="en-US" sz="2000" b="1" dirty="0">
                <a:solidFill>
                  <a:srgbClr val="66FFFF"/>
                </a:solidFill>
                <a:latin typeface="Arial Black" panose="020B0A04020102020204" pitchFamily="34" charset="0"/>
                <a:sym typeface="Monotype Sorts" pitchFamily="2" charset="2"/>
              </a:rPr>
              <a:t> </a:t>
            </a:r>
          </a:p>
          <a:p>
            <a:pPr algn="ctr">
              <a:spcBef>
                <a:spcPct val="20000"/>
              </a:spcBef>
              <a:buClr>
                <a:srgbClr val="CC99FF"/>
              </a:buClr>
              <a:buFont typeface="Monotype Sorts" pitchFamily="2" charset="2"/>
              <a:buNone/>
            </a:pPr>
            <a:endParaRPr lang="zh-CN" altLang="en-US" sz="2000" b="1" dirty="0">
              <a:solidFill>
                <a:srgbClr val="66FFFF"/>
              </a:solidFill>
              <a:latin typeface="Arial Black" panose="020B0A04020102020204" pitchFamily="34" charset="0"/>
              <a:sym typeface="Monotype Sorts" pitchFamily="2" charset="2"/>
            </a:endParaRPr>
          </a:p>
          <a:p>
            <a:pPr algn="ctr">
              <a:spcBef>
                <a:spcPct val="20000"/>
              </a:spcBef>
              <a:buClr>
                <a:srgbClr val="CC99FF"/>
              </a:buClr>
              <a:buFont typeface="Monotype Sorts" pitchFamily="2" charset="2"/>
              <a:buNone/>
            </a:pPr>
            <a:endParaRPr lang="zh-CN" altLang="en-US" sz="2000" b="1" dirty="0">
              <a:solidFill>
                <a:srgbClr val="66FFFF"/>
              </a:solidFill>
              <a:sym typeface="Monotype Sorts" pitchFamily="2" charset="2"/>
            </a:endParaRPr>
          </a:p>
          <a:p>
            <a:pPr algn="ctr">
              <a:spcBef>
                <a:spcPct val="20000"/>
              </a:spcBef>
              <a:buClr>
                <a:srgbClr val="CC99FF"/>
              </a:buClr>
              <a:buFont typeface="Monotype Sorts" pitchFamily="2" charset="2"/>
              <a:buNone/>
            </a:pPr>
            <a:endParaRPr lang="zh-CN" altLang="en-US" sz="2000" b="1" dirty="0">
              <a:solidFill>
                <a:srgbClr val="66FFFF"/>
              </a:solidFill>
              <a:sym typeface="Monotype Sorts" pitchFamily="2" charset="2"/>
            </a:endParaRPr>
          </a:p>
          <a:p>
            <a:pPr algn="ctr">
              <a:spcBef>
                <a:spcPct val="20000"/>
              </a:spcBef>
              <a:buClr>
                <a:srgbClr val="CC99FF"/>
              </a:buClr>
              <a:buFont typeface="Monotype Sorts" pitchFamily="2" charset="2"/>
              <a:buNone/>
            </a:pPr>
            <a:r>
              <a:rPr lang="zh-CN" altLang="zh-CN" sz="2000" b="1" dirty="0">
                <a:solidFill>
                  <a:srgbClr val="336600"/>
                </a:solidFill>
                <a:sym typeface="Monotype Sorts" pitchFamily="2" charset="2"/>
              </a:rPr>
              <a:t>高地址</a:t>
            </a:r>
            <a:endParaRPr lang="zh-CN" altLang="en-US" sz="2000" b="1" dirty="0">
              <a:solidFill>
                <a:srgbClr val="336600"/>
              </a:solidFill>
              <a:sym typeface="Monotype Sorts" pitchFamily="2" charset="2"/>
            </a:endParaRPr>
          </a:p>
        </p:txBody>
      </p:sp>
      <p:sp>
        <p:nvSpPr>
          <p:cNvPr id="16" name="下箭头 955408">
            <a:extLst>
              <a:ext uri="{FF2B5EF4-FFF2-40B4-BE49-F238E27FC236}">
                <a16:creationId xmlns:a16="http://schemas.microsoft.com/office/drawing/2014/main" id="{BB26AC80-E70E-04E9-EF50-DDBF34D84491}"/>
              </a:ext>
            </a:extLst>
          </p:cNvPr>
          <p:cNvSpPr>
            <a:spLocks noChangeArrowheads="1"/>
          </p:cNvSpPr>
          <p:nvPr/>
        </p:nvSpPr>
        <p:spPr bwMode="auto">
          <a:xfrm>
            <a:off x="5526385" y="3636441"/>
            <a:ext cx="485775" cy="2590800"/>
          </a:xfrm>
          <a:prstGeom prst="downArrow">
            <a:avLst>
              <a:gd name="adj1" fmla="val 50000"/>
              <a:gd name="adj2" fmla="val 133235"/>
            </a:avLst>
          </a:prstGeom>
          <a:gradFill rotWithShape="0">
            <a:gsLst>
              <a:gs pos="0">
                <a:srgbClr val="99FFCC"/>
              </a:gs>
              <a:gs pos="100000">
                <a:srgbClr val="FFFF00"/>
              </a:gs>
            </a:gsLst>
            <a:lin ang="5400000" scaled="1"/>
          </a:gradFill>
          <a:ln w="9525">
            <a:solidFill>
              <a:schemeClr val="accent1"/>
            </a:solidFill>
            <a:miter lim="800000"/>
            <a:headEnd/>
            <a:tailEnd/>
          </a:ln>
        </p:spPr>
        <p:txBody>
          <a:bodyPr/>
          <a:lstStyle/>
          <a:p>
            <a:pPr algn="ctr"/>
            <a:endParaRPr lang="zh-CN" altLang="en-US">
              <a:latin typeface="Times New Roman" panose="02020603050405020304" pitchFamily="18" charset="0"/>
            </a:endParaRPr>
          </a:p>
        </p:txBody>
      </p:sp>
      <p:sp>
        <p:nvSpPr>
          <p:cNvPr id="17" name="云形标注 955394">
            <a:extLst>
              <a:ext uri="{FF2B5EF4-FFF2-40B4-BE49-F238E27FC236}">
                <a16:creationId xmlns:a16="http://schemas.microsoft.com/office/drawing/2014/main" id="{4B648848-5104-25D8-54C9-5DEEA0E74476}"/>
              </a:ext>
            </a:extLst>
          </p:cNvPr>
          <p:cNvSpPr>
            <a:spLocks noChangeArrowheads="1"/>
          </p:cNvSpPr>
          <p:nvPr/>
        </p:nvSpPr>
        <p:spPr bwMode="auto">
          <a:xfrm>
            <a:off x="1263650" y="3688972"/>
            <a:ext cx="3894583" cy="2764215"/>
          </a:xfrm>
          <a:prstGeom prst="cloudCallout">
            <a:avLst>
              <a:gd name="adj1" fmla="val 59681"/>
              <a:gd name="adj2" fmla="val -43889"/>
            </a:avLst>
          </a:pr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algn="ctr">
              <a:spcBef>
                <a:spcPct val="20000"/>
              </a:spcBef>
              <a:buClr>
                <a:srgbClr val="CC99FF"/>
              </a:buClr>
              <a:buFont typeface="Monotype Sorts" pitchFamily="2" charset="2"/>
              <a:buNone/>
            </a:pPr>
            <a:r>
              <a:rPr lang="zh-CN" altLang="en-US" sz="2800" b="1" dirty="0">
                <a:solidFill>
                  <a:schemeClr val="accent2"/>
                </a:solidFill>
                <a:latin typeface="Times New Roman" panose="02020603050405020304" pitchFamily="18" charset="0"/>
                <a:sym typeface="Monotype Sorts" pitchFamily="2" charset="2"/>
              </a:rPr>
              <a:t>每个数据元素占用的字节数</a:t>
            </a:r>
            <a:r>
              <a:rPr lang="en-US" altLang="zh-CN" sz="2800" b="1" dirty="0">
                <a:solidFill>
                  <a:schemeClr val="accent2"/>
                </a:solidFill>
                <a:latin typeface="Times New Roman" panose="02020603050405020304" pitchFamily="18" charset="0"/>
                <a:sym typeface="Monotype Sorts" pitchFamily="2" charset="2"/>
              </a:rPr>
              <a:t>,</a:t>
            </a:r>
            <a:r>
              <a:rPr lang="zh-CN" altLang="en-US" sz="2800" b="1" dirty="0">
                <a:solidFill>
                  <a:schemeClr val="accent2"/>
                </a:solidFill>
                <a:latin typeface="Times New Roman" panose="02020603050405020304" pitchFamily="18" charset="0"/>
                <a:sym typeface="Monotype Sorts" pitchFamily="2" charset="2"/>
              </a:rPr>
              <a:t>就是</a:t>
            </a:r>
            <a:r>
              <a:rPr lang="zh-CN" altLang="en-US" sz="2800" b="1" dirty="0">
                <a:solidFill>
                  <a:srgbClr val="CC0000"/>
                </a:solidFill>
                <a:latin typeface="Times New Roman" panose="02020603050405020304" pitchFamily="18" charset="0"/>
                <a:sym typeface="Monotype Sorts" pitchFamily="2" charset="2"/>
              </a:rPr>
              <a:t>基类型</a:t>
            </a:r>
            <a:r>
              <a:rPr lang="zh-CN" altLang="en-US" sz="2800" b="1" dirty="0">
                <a:solidFill>
                  <a:schemeClr val="accent2"/>
                </a:solidFill>
                <a:latin typeface="Times New Roman" panose="02020603050405020304" pitchFamily="18" charset="0"/>
                <a:sym typeface="Monotype Sorts" pitchFamily="2" charset="2"/>
              </a:rPr>
              <a:t>的字节数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up)">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strips(upRight)">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type="body" idx="1"/>
          </p:nvPr>
        </p:nvSpPr>
        <p:spPr>
          <a:xfrm>
            <a:off x="468313" y="1319213"/>
            <a:ext cx="8675687" cy="2139950"/>
          </a:xfrm>
        </p:spPr>
        <p:txBody>
          <a:bodyPr/>
          <a:lstStyle/>
          <a:p>
            <a:pPr eaLnBrk="1" hangingPunct="1"/>
            <a:r>
              <a:rPr lang="zh-CN" altLang="en-US" b="1" u="sng" dirty="0"/>
              <a:t>数组必须逐个元素访问</a:t>
            </a:r>
            <a:r>
              <a:rPr lang="zh-CN" altLang="en-US" b="1" dirty="0"/>
              <a:t>（操作）</a:t>
            </a:r>
          </a:p>
          <a:p>
            <a:pPr lvl="1" eaLnBrk="1" hangingPunct="1"/>
            <a:r>
              <a:rPr lang="zh-CN" altLang="en-US" b="1" dirty="0"/>
              <a:t>注意：第一个元素的序号为0。</a:t>
            </a:r>
          </a:p>
          <a:p>
            <a:pPr eaLnBrk="1" hangingPunct="1"/>
            <a:r>
              <a:rPr lang="zh-CN" altLang="en-US" b="1" dirty="0"/>
              <a:t>数组元素操作，按</a:t>
            </a:r>
            <a:r>
              <a:rPr lang="zh-CN" altLang="en-US" b="1" dirty="0">
                <a:solidFill>
                  <a:srgbClr val="FF0000"/>
                </a:solidFill>
              </a:rPr>
              <a:t>数组名</a:t>
            </a:r>
            <a:r>
              <a:rPr lang="en-US" altLang="zh-CN" b="1" dirty="0">
                <a:solidFill>
                  <a:srgbClr val="FF0000"/>
                </a:solidFill>
              </a:rPr>
              <a:t>[</a:t>
            </a:r>
            <a:r>
              <a:rPr lang="zh-CN" altLang="en-US" b="1" dirty="0">
                <a:solidFill>
                  <a:srgbClr val="FF0000"/>
                </a:solidFill>
              </a:rPr>
              <a:t>下标</a:t>
            </a:r>
            <a:r>
              <a:rPr lang="en-US" altLang="zh-CN" b="1" dirty="0">
                <a:solidFill>
                  <a:srgbClr val="FF0000"/>
                </a:solidFill>
              </a:rPr>
              <a:t>]</a:t>
            </a:r>
            <a:r>
              <a:rPr lang="zh-CN" altLang="en-US" b="1" dirty="0"/>
              <a:t>读取或赋值。</a:t>
            </a:r>
            <a:endParaRPr lang="en-US" altLang="zh-CN" b="1" dirty="0"/>
          </a:p>
          <a:p>
            <a:pPr eaLnBrk="1" hangingPunct="1"/>
            <a:r>
              <a:rPr lang="en-US" altLang="zh-CN" b="1" dirty="0"/>
              <a:t>C</a:t>
            </a:r>
            <a:r>
              <a:rPr lang="zh-CN" altLang="en-US" b="1" dirty="0"/>
              <a:t>语言中可利用声明语句对数组元素的值进行初始化</a:t>
            </a:r>
            <a:r>
              <a:rPr lang="zh-CN" altLang="en-US" dirty="0"/>
              <a:t>:</a:t>
            </a:r>
          </a:p>
          <a:p>
            <a:pPr eaLnBrk="1" hangingPunct="1">
              <a:buFontTx/>
              <a:buNone/>
            </a:pPr>
            <a:r>
              <a:rPr lang="zh-CN" altLang="en-US" b="1" dirty="0">
                <a:latin typeface="System" charset="-122"/>
                <a:ea typeface="System" charset="-122"/>
              </a:rPr>
              <a:t>	  </a:t>
            </a:r>
            <a:r>
              <a:rPr lang="zh-CN" altLang="en-US" sz="2600" b="1" dirty="0">
                <a:solidFill>
                  <a:schemeClr val="accent2"/>
                </a:solidFill>
                <a:latin typeface="System" charset="-122"/>
                <a:ea typeface="System" charset="-122"/>
              </a:rPr>
              <a:t>元素类型名 数组名[整型表达式]={值，值</a:t>
            </a:r>
            <a:r>
              <a:rPr lang="zh-CN" altLang="en-US" sz="2600" b="1" dirty="0">
                <a:solidFill>
                  <a:schemeClr val="accent2"/>
                </a:solidFill>
                <a:latin typeface="宋体" panose="02010600030101010101" pitchFamily="2" charset="-122"/>
                <a:ea typeface="System" charset="-122"/>
              </a:rPr>
              <a:t>……</a:t>
            </a:r>
            <a:r>
              <a:rPr lang="zh-CN" altLang="en-US" sz="2600" b="1" dirty="0">
                <a:solidFill>
                  <a:schemeClr val="accent2"/>
                </a:solidFill>
                <a:latin typeface="System" charset="-122"/>
                <a:ea typeface="System" charset="-122"/>
              </a:rPr>
              <a:t>值}；</a:t>
            </a:r>
            <a:endParaRPr lang="en-US" altLang="zh-CN" sz="2600" b="1" dirty="0">
              <a:solidFill>
                <a:schemeClr val="accent2"/>
              </a:solidFill>
              <a:latin typeface="System" charset="-122"/>
              <a:ea typeface="System" charset="-122"/>
            </a:endParaRPr>
          </a:p>
          <a:p>
            <a:pPr eaLnBrk="1" hangingPunct="1"/>
            <a:r>
              <a:rPr lang="zh-CN" altLang="en-US" b="1" dirty="0"/>
              <a:t>数组名作为函数的参数时，传递的是数组的首地址（第一个元素的地址）。</a:t>
            </a:r>
            <a:r>
              <a:rPr lang="zh-CN" altLang="en-US" b="1" i="1" dirty="0">
                <a:solidFill>
                  <a:schemeClr val="accent2"/>
                </a:solidFill>
              </a:rPr>
              <a:t>使得被调用函数能够访问、操作原数组！</a:t>
            </a:r>
            <a:endParaRPr lang="zh-CN" altLang="en-US" b="1" dirty="0">
              <a:solidFill>
                <a:schemeClr val="accent2"/>
              </a:solidFill>
            </a:endParaRPr>
          </a:p>
          <a:p>
            <a:pPr eaLnBrk="1" hangingPunct="1">
              <a:buFontTx/>
              <a:buNone/>
            </a:pPr>
            <a:endParaRPr lang="en-US" altLang="zh-CN" sz="2600" b="1" dirty="0">
              <a:solidFill>
                <a:schemeClr val="accent2"/>
              </a:solidFill>
              <a:latin typeface="System" charset="-122"/>
              <a:ea typeface="System" charset="-122"/>
            </a:endParaRPr>
          </a:p>
          <a:p>
            <a:pPr eaLnBrk="1" hangingPunct="1">
              <a:buFontTx/>
              <a:buNone/>
            </a:pPr>
            <a:endParaRPr lang="zh-CN" altLang="en-US" sz="2600" dirty="0">
              <a:solidFill>
                <a:schemeClr val="accent2"/>
              </a:solidFill>
            </a:endParaRPr>
          </a:p>
          <a:p>
            <a:pPr eaLnBrk="1" hangingPunct="1"/>
            <a:endParaRPr lang="zh-CN" altLang="en-US" b="1" dirty="0"/>
          </a:p>
          <a:p>
            <a:pPr eaLnBrk="1" hangingPunct="1">
              <a:buFontTx/>
              <a:buNone/>
            </a:pPr>
            <a:endParaRPr lang="zh-CN" altLang="en-US" b="1" dirty="0"/>
          </a:p>
        </p:txBody>
      </p:sp>
      <p:sp>
        <p:nvSpPr>
          <p:cNvPr id="11268" name="Rectangle 11"/>
          <p:cNvSpPr>
            <a:spLocks noGrp="1" noChangeArrowheads="1"/>
          </p:cNvSpPr>
          <p:nvPr>
            <p:ph type="title"/>
          </p:nvPr>
        </p:nvSpPr>
        <p:spPr>
          <a:noFill/>
        </p:spPr>
        <p:txBody>
          <a:bodyPr/>
          <a:lstStyle/>
          <a:p>
            <a:pPr eaLnBrk="1" hangingPunct="1"/>
            <a:r>
              <a:rPr lang="zh-CN" altLang="en-US" b="1" dirty="0"/>
              <a:t>数组的访问与操作</a:t>
            </a: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灯片编号占位符 5">
            <a:extLst>
              <a:ext uri="{FF2B5EF4-FFF2-40B4-BE49-F238E27FC236}">
                <a16:creationId xmlns:a16="http://schemas.microsoft.com/office/drawing/2014/main" id="{51A5C203-28DC-43D0-B87F-0CE7F113A48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C3A7EE07-BE93-4BF5-A1F7-0840E19752CC}" type="slidenum">
              <a:rPr lang="zh-CN" altLang="en-US" smtClean="0"/>
              <a:pPr/>
              <a:t>79</a:t>
            </a:fld>
            <a:endParaRPr lang="zh-CN" altLang="en-US"/>
          </a:p>
        </p:txBody>
      </p:sp>
      <p:sp>
        <p:nvSpPr>
          <p:cNvPr id="189443" name="Rectangle 1027">
            <a:extLst>
              <a:ext uri="{FF2B5EF4-FFF2-40B4-BE49-F238E27FC236}">
                <a16:creationId xmlns:a16="http://schemas.microsoft.com/office/drawing/2014/main" id="{999328CD-ED8C-4D5B-932D-DA1235DA6B31}"/>
              </a:ext>
            </a:extLst>
          </p:cNvPr>
          <p:cNvSpPr>
            <a:spLocks noGrp="1" noChangeArrowheads="1"/>
          </p:cNvSpPr>
          <p:nvPr>
            <p:ph idx="1"/>
          </p:nvPr>
        </p:nvSpPr>
        <p:spPr>
          <a:xfrm>
            <a:off x="685800" y="1319213"/>
            <a:ext cx="8206680" cy="4611687"/>
          </a:xfrm>
        </p:spPr>
        <p:txBody>
          <a:bodyPr/>
          <a:lstStyle/>
          <a:p>
            <a:pPr algn="just" eaLnBrk="1" hangingPunct="1">
              <a:defRPr/>
            </a:pPr>
            <a:r>
              <a:rPr kumimoji="1" lang="zh-CN" altLang="en-US" b="1" dirty="0"/>
              <a:t>变量的访问：</a:t>
            </a:r>
            <a:r>
              <a:rPr kumimoji="1" lang="zh-CN" altLang="en-US" b="1" i="1" u="sng" dirty="0">
                <a:solidFill>
                  <a:srgbClr val="003399"/>
                </a:solidFill>
                <a:effectLst>
                  <a:outerShdw blurRad="38100" dist="38100" dir="2700000" algn="tl">
                    <a:srgbClr val="C0C0C0"/>
                  </a:outerShdw>
                </a:effectLst>
              </a:rPr>
              <a:t>间接访问</a:t>
            </a:r>
            <a:r>
              <a:rPr kumimoji="1" lang="zh-CN" altLang="en-US" b="1" dirty="0"/>
              <a:t>─</a:t>
            </a:r>
            <a:r>
              <a:rPr lang="zh-CN" altLang="en-US" b="1" dirty="0">
                <a:sym typeface="+mn-ea"/>
              </a:rPr>
              <a:t>在变量作用域之外</a:t>
            </a:r>
            <a:r>
              <a:rPr lang="en-US" altLang="zh-CN" b="1" dirty="0">
                <a:sym typeface="+mn-ea"/>
              </a:rPr>
              <a:t>,</a:t>
            </a:r>
            <a:r>
              <a:rPr lang="zh-CN" altLang="en-US" b="1" dirty="0">
                <a:sym typeface="+mn-ea"/>
              </a:rPr>
              <a:t>可以</a:t>
            </a:r>
            <a:r>
              <a:rPr kumimoji="1" lang="zh-CN" altLang="en-US" b="1" dirty="0"/>
              <a:t>通过指针</a:t>
            </a:r>
            <a:r>
              <a:rPr kumimoji="1" lang="en-US" altLang="zh-CN" b="1" dirty="0"/>
              <a:t>(pointer)</a:t>
            </a:r>
            <a:r>
              <a:rPr kumimoji="1" lang="zh-CN" altLang="en-US" b="1" dirty="0"/>
              <a:t>来访问</a:t>
            </a:r>
            <a:r>
              <a:rPr kumimoji="1" lang="en-US" altLang="zh-CN" b="1" dirty="0"/>
              <a:t>.</a:t>
            </a:r>
            <a:endParaRPr kumimoji="1" lang="zh-CN" altLang="en-US" b="1" dirty="0"/>
          </a:p>
          <a:p>
            <a:pPr algn="just" eaLnBrk="1" hangingPunct="1">
              <a:defRPr/>
            </a:pPr>
            <a:r>
              <a:rPr kumimoji="1" lang="zh-CN" altLang="en-US" b="1" dirty="0"/>
              <a:t>Ｃ程序的</a:t>
            </a:r>
            <a:r>
              <a:rPr kumimoji="1" lang="zh-CN" altLang="en-US" b="1" dirty="0">
                <a:solidFill>
                  <a:srgbClr val="FF0000"/>
                </a:solidFill>
              </a:rPr>
              <a:t>指针变量</a:t>
            </a:r>
            <a:r>
              <a:rPr kumimoji="1" lang="zh-CN" altLang="en-US" b="1" dirty="0"/>
              <a:t>，用来存放</a:t>
            </a:r>
            <a:r>
              <a:rPr kumimoji="1" lang="zh-CN" altLang="en-US" b="1" u="sng" dirty="0"/>
              <a:t>所指变量</a:t>
            </a:r>
            <a:r>
              <a:rPr kumimoji="1" lang="zh-CN" altLang="en-US" b="1" dirty="0"/>
              <a:t>的内存起始地址。</a:t>
            </a:r>
            <a:endParaRPr kumimoji="1" lang="en-US" altLang="zh-CN" b="1" dirty="0"/>
          </a:p>
          <a:p>
            <a:pPr algn="just" eaLnBrk="1" hangingPunct="1">
              <a:defRPr/>
            </a:pPr>
            <a:r>
              <a:rPr kumimoji="1" lang="zh-CN" altLang="en-US" b="1" dirty="0"/>
              <a:t>指针的类型前缀是</a:t>
            </a:r>
            <a:r>
              <a:rPr kumimoji="1" lang="en-US" altLang="zh-CN" b="1" dirty="0"/>
              <a:t>*, </a:t>
            </a:r>
            <a:r>
              <a:rPr kumimoji="1" lang="zh-CN" altLang="en-US" b="1" dirty="0"/>
              <a:t>语法：</a:t>
            </a:r>
            <a:r>
              <a:rPr lang="zh-CN" altLang="en-US" b="1" dirty="0">
                <a:solidFill>
                  <a:srgbClr val="0000FF"/>
                </a:solidFill>
                <a:latin typeface="宋体" panose="02010600030101010101" pitchFamily="2" charset="-122"/>
              </a:rPr>
              <a:t>数据类型</a:t>
            </a:r>
            <a:r>
              <a:rPr lang="zh-CN" altLang="en-US" b="1" dirty="0">
                <a:solidFill>
                  <a:schemeClr val="tx2"/>
                </a:solidFill>
              </a:rPr>
              <a:t>  </a:t>
            </a:r>
            <a:r>
              <a:rPr lang="zh-CN" altLang="en-US" dirty="0">
                <a:solidFill>
                  <a:srgbClr val="FF0000"/>
                </a:solidFill>
              </a:rPr>
              <a:t>*</a:t>
            </a:r>
            <a:r>
              <a:rPr lang="zh-CN" altLang="en-US" b="1" dirty="0">
                <a:solidFill>
                  <a:srgbClr val="FF0000"/>
                </a:solidFill>
              </a:rPr>
              <a:t> </a:t>
            </a:r>
            <a:r>
              <a:rPr lang="zh-CN" altLang="en-US" b="1" dirty="0">
                <a:latin typeface="宋体" panose="02010600030101010101" pitchFamily="2" charset="-122"/>
              </a:rPr>
              <a:t>指针变量名</a:t>
            </a:r>
            <a:r>
              <a:rPr lang="zh-CN" altLang="en-US" b="1" dirty="0">
                <a:solidFill>
                  <a:schemeClr val="tx2"/>
                </a:solidFill>
                <a:latin typeface="宋体" panose="02010600030101010101" pitchFamily="2" charset="-122"/>
              </a:rPr>
              <a:t>；</a:t>
            </a:r>
          </a:p>
          <a:p>
            <a:pPr algn="just" eaLnBrk="1" hangingPunct="1">
              <a:defRPr/>
            </a:pPr>
            <a:r>
              <a:rPr kumimoji="1" lang="zh-CN" altLang="en-US" b="1" dirty="0"/>
              <a:t>指针的间接访问运算符是</a:t>
            </a:r>
            <a:r>
              <a:rPr kumimoji="1" lang="en-US" altLang="zh-CN" b="1" dirty="0"/>
              <a:t>*</a:t>
            </a:r>
            <a:r>
              <a:rPr kumimoji="1" lang="zh-CN" altLang="en-US" b="1" dirty="0"/>
              <a:t>，表达式 </a:t>
            </a:r>
            <a:r>
              <a:rPr kumimoji="1" lang="en-US" altLang="zh-CN" b="1" dirty="0"/>
              <a:t>(</a:t>
            </a:r>
            <a:r>
              <a:rPr kumimoji="1" lang="en-US" altLang="zh-CN" b="1" dirty="0">
                <a:latin typeface="仿宋" panose="02010609060101010101" pitchFamily="49" charset="-122"/>
                <a:ea typeface="仿宋" panose="02010609060101010101" pitchFamily="49" charset="-122"/>
              </a:rPr>
              <a:t>*</a:t>
            </a:r>
            <a:r>
              <a:rPr kumimoji="1" lang="zh-CN" altLang="en-US" b="1" dirty="0">
                <a:latin typeface="仿宋" panose="02010609060101010101" pitchFamily="49" charset="-122"/>
                <a:ea typeface="仿宋" panose="02010609060101010101" pitchFamily="49" charset="-122"/>
              </a:rPr>
              <a:t>指针变量名</a:t>
            </a:r>
            <a:r>
              <a:rPr kumimoji="1" lang="en-US" altLang="zh-CN" b="1" dirty="0">
                <a:latin typeface="仿宋" panose="02010609060101010101" pitchFamily="49" charset="-122"/>
                <a:ea typeface="仿宋" panose="02010609060101010101" pitchFamily="49" charset="-122"/>
              </a:rPr>
              <a:t>)</a:t>
            </a:r>
            <a:r>
              <a:rPr kumimoji="1" lang="zh-CN" altLang="en-US" b="1" dirty="0">
                <a:latin typeface="+mn-ea"/>
              </a:rPr>
              <a:t>代表指针指向的数据变量。</a:t>
            </a:r>
            <a:endParaRPr kumimoji="1" lang="en-US" altLang="zh-CN" b="1" dirty="0">
              <a:latin typeface="+mn-ea"/>
            </a:endParaRPr>
          </a:p>
          <a:p>
            <a:pPr algn="just" eaLnBrk="1" hangingPunct="1">
              <a:buFontTx/>
              <a:buNone/>
              <a:defRPr/>
            </a:pPr>
            <a:endParaRPr kumimoji="1" lang="en-US" altLang="zh-CN" b="1" dirty="0"/>
          </a:p>
          <a:p>
            <a:pPr algn="just" eaLnBrk="1" hangingPunct="1">
              <a:buFontTx/>
              <a:buNone/>
              <a:defRPr/>
            </a:pPr>
            <a:endParaRPr kumimoji="1" lang="zh-CN" altLang="en-US" b="1" dirty="0"/>
          </a:p>
          <a:p>
            <a:pPr algn="just" eaLnBrk="1" hangingPunct="1">
              <a:buFontTx/>
              <a:buNone/>
              <a:defRPr/>
            </a:pPr>
            <a:r>
              <a:rPr kumimoji="1" lang="zh-CN" altLang="en-US" b="1" dirty="0"/>
              <a:t>     </a:t>
            </a:r>
          </a:p>
        </p:txBody>
      </p:sp>
      <p:sp>
        <p:nvSpPr>
          <p:cNvPr id="10243" name="Rectangle 1029">
            <a:extLst>
              <a:ext uri="{FF2B5EF4-FFF2-40B4-BE49-F238E27FC236}">
                <a16:creationId xmlns:a16="http://schemas.microsoft.com/office/drawing/2014/main" id="{CF87BF5E-B532-4243-96A0-F8D346F818A9}"/>
              </a:ext>
            </a:extLst>
          </p:cNvPr>
          <p:cNvSpPr>
            <a:spLocks noGrp="1" noChangeArrowheads="1"/>
          </p:cNvSpPr>
          <p:nvPr>
            <p:ph type="title"/>
          </p:nvPr>
        </p:nvSpPr>
        <p:spPr/>
        <p:txBody>
          <a:bodyPr/>
          <a:lstStyle/>
          <a:p>
            <a:pPr eaLnBrk="1" hangingPunct="1"/>
            <a:r>
              <a:rPr lang="zh-CN" altLang="en-US" b="1" dirty="0"/>
              <a:t>指针</a:t>
            </a:r>
            <a:r>
              <a:rPr lang="en-US" altLang="zh-CN" b="1" dirty="0"/>
              <a:t>~</a:t>
            </a:r>
            <a:r>
              <a:rPr lang="zh-CN" altLang="en-US" b="1" dirty="0"/>
              <a:t>概念与含义</a:t>
            </a: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文本框 1190913">
            <a:extLst>
              <a:ext uri="{FF2B5EF4-FFF2-40B4-BE49-F238E27FC236}">
                <a16:creationId xmlns:a16="http://schemas.microsoft.com/office/drawing/2014/main" id="{6E1245FE-1431-4087-9AA2-C51F99D22FA0}"/>
              </a:ext>
            </a:extLst>
          </p:cNvPr>
          <p:cNvSpPr txBox="1">
            <a:spLocks noChangeArrowheads="1"/>
          </p:cNvSpPr>
          <p:nvPr/>
        </p:nvSpPr>
        <p:spPr bwMode="auto">
          <a:xfrm>
            <a:off x="539552" y="1340768"/>
            <a:ext cx="6840760" cy="4183709"/>
          </a:xfrm>
          <a:prstGeom prst="rect">
            <a:avLst/>
          </a:prstGeom>
          <a:noFill/>
          <a:ln>
            <a:noFill/>
          </a:ln>
        </p:spPr>
        <p:txBody>
          <a:bodyPr wrap="square">
            <a:spAutoFit/>
          </a:bodyPr>
          <a:lstStyle/>
          <a:p>
            <a:pPr>
              <a:lnSpc>
                <a:spcPct val="120000"/>
              </a:lnSpc>
            </a:pPr>
            <a:r>
              <a:rPr lang="en-US" altLang="zh-CN" sz="2800" dirty="0">
                <a:latin typeface="Times New Roman" panose="02020603050405020304" pitchFamily="18" charset="0"/>
              </a:rPr>
              <a:t>/*</a:t>
            </a:r>
            <a:r>
              <a:rPr lang="zh-CN" altLang="en-US" sz="2800" dirty="0">
                <a:latin typeface="Times New Roman" panose="02020603050405020304" pitchFamily="18" charset="0"/>
              </a:rPr>
              <a:t>在子函数中交换主调函数的两个变量</a:t>
            </a:r>
            <a:r>
              <a:rPr lang="en-US" altLang="zh-CN" sz="2800" dirty="0">
                <a:latin typeface="Times New Roman" panose="02020603050405020304" pitchFamily="18" charset="0"/>
              </a:rPr>
              <a:t>*/</a:t>
            </a:r>
          </a:p>
          <a:p>
            <a:pPr>
              <a:lnSpc>
                <a:spcPct val="120000"/>
              </a:lnSpc>
            </a:pPr>
            <a:r>
              <a:rPr lang="en-US" altLang="zh-CN" sz="2800" dirty="0">
                <a:latin typeface="Times New Roman" panose="02020603050405020304" pitchFamily="18" charset="0"/>
              </a:rPr>
              <a:t>void </a:t>
            </a:r>
            <a:r>
              <a:rPr lang="en-US" altLang="zh-CN" sz="2800" b="1" dirty="0">
                <a:latin typeface="Times New Roman" panose="02020603050405020304" pitchFamily="18" charset="0"/>
              </a:rPr>
              <a:t>swap(int * </a:t>
            </a:r>
            <a:r>
              <a:rPr lang="en-US" altLang="zh-CN" sz="2800" b="1" dirty="0" err="1">
                <a:latin typeface="Times New Roman" panose="02020603050405020304" pitchFamily="18" charset="0"/>
              </a:rPr>
              <a:t>p1</a:t>
            </a:r>
            <a:r>
              <a:rPr lang="en-US" altLang="zh-CN" sz="2800" b="1" dirty="0">
                <a:latin typeface="Times New Roman" panose="02020603050405020304" pitchFamily="18" charset="0"/>
              </a:rPr>
              <a:t>, int * </a:t>
            </a:r>
            <a:r>
              <a:rPr lang="en-US" altLang="zh-CN" sz="2800" b="1" dirty="0" err="1">
                <a:latin typeface="Times New Roman" panose="02020603050405020304" pitchFamily="18" charset="0"/>
              </a:rPr>
              <a:t>p2</a:t>
            </a:r>
            <a:r>
              <a:rPr lang="en-US" altLang="zh-CN" sz="2800" b="1" dirty="0">
                <a:latin typeface="Times New Roman" panose="02020603050405020304" pitchFamily="18" charset="0"/>
              </a:rPr>
              <a:t>){</a:t>
            </a:r>
            <a:endParaRPr lang="zh-CN" altLang="en-US" sz="2800" dirty="0">
              <a:latin typeface="Times New Roman" panose="02020603050405020304" pitchFamily="18" charset="0"/>
            </a:endParaRPr>
          </a:p>
          <a:p>
            <a:pPr>
              <a:lnSpc>
                <a:spcPct val="120000"/>
              </a:lnSpc>
            </a:pPr>
            <a:r>
              <a:rPr lang="zh-CN" altLang="en-US" sz="2800" dirty="0">
                <a:latin typeface="Times New Roman" panose="02020603050405020304" pitchFamily="18" charset="0"/>
              </a:rPr>
              <a:t>      </a:t>
            </a:r>
            <a:r>
              <a:rPr lang="en-US" altLang="zh-CN" sz="2800" dirty="0">
                <a:latin typeface="Times New Roman" panose="02020603050405020304" pitchFamily="18" charset="0"/>
              </a:rPr>
              <a:t>int  temp</a:t>
            </a:r>
            <a:r>
              <a:rPr lang="zh-CN" altLang="en-US" sz="2800" dirty="0">
                <a:latin typeface="Times New Roman" panose="02020603050405020304" pitchFamily="18" charset="0"/>
              </a:rPr>
              <a:t>；</a:t>
            </a:r>
          </a:p>
          <a:p>
            <a:pPr>
              <a:lnSpc>
                <a:spcPct val="120000"/>
              </a:lnSpc>
            </a:pPr>
            <a:r>
              <a:rPr lang="zh-CN" altLang="en-US" sz="2800" dirty="0">
                <a:latin typeface="Times New Roman" panose="02020603050405020304" pitchFamily="18" charset="0"/>
              </a:rPr>
              <a:t>      </a:t>
            </a:r>
            <a:r>
              <a:rPr lang="en-US" altLang="zh-CN" sz="2800" dirty="0">
                <a:latin typeface="Times New Roman" panose="02020603050405020304" pitchFamily="18" charset="0"/>
              </a:rPr>
              <a:t>temp=*</a:t>
            </a:r>
            <a:r>
              <a:rPr lang="en-US" altLang="zh-CN" sz="2800" dirty="0" err="1">
                <a:latin typeface="Times New Roman" panose="02020603050405020304" pitchFamily="18" charset="0"/>
              </a:rPr>
              <a:t>p1</a:t>
            </a:r>
            <a:r>
              <a:rPr lang="en-US" altLang="zh-CN" sz="2800" dirty="0">
                <a:latin typeface="Times New Roman" panose="02020603050405020304" pitchFamily="18" charset="0"/>
              </a:rPr>
              <a:t>;</a:t>
            </a:r>
            <a:endParaRPr lang="zh-CN" altLang="en-US" sz="2800" dirty="0">
              <a:latin typeface="Times New Roman" panose="02020603050405020304" pitchFamily="18" charset="0"/>
            </a:endParaRPr>
          </a:p>
          <a:p>
            <a:pPr>
              <a:lnSpc>
                <a:spcPct val="120000"/>
              </a:lnSpc>
            </a:pPr>
            <a:r>
              <a:rPr lang="zh-CN" altLang="en-US" sz="2800" dirty="0">
                <a:latin typeface="Times New Roman" panose="02020603050405020304" pitchFamily="18" charset="0"/>
              </a:rPr>
              <a:t>      </a:t>
            </a:r>
            <a:r>
              <a:rPr lang="en-US" altLang="zh-CN" sz="2800" dirty="0">
                <a:latin typeface="Times New Roman" panose="02020603050405020304" pitchFamily="18" charset="0"/>
              </a:rPr>
              <a:t>*</a:t>
            </a:r>
            <a:r>
              <a:rPr lang="en-US" altLang="zh-CN" sz="2800" dirty="0" err="1">
                <a:latin typeface="Times New Roman" panose="02020603050405020304" pitchFamily="18" charset="0"/>
              </a:rPr>
              <a:t>p1</a:t>
            </a:r>
            <a:r>
              <a:rPr lang="en-US" altLang="zh-CN" sz="2800" dirty="0">
                <a:latin typeface="Times New Roman" panose="02020603050405020304" pitchFamily="18" charset="0"/>
              </a:rPr>
              <a:t>=*</a:t>
            </a:r>
            <a:r>
              <a:rPr lang="en-US" altLang="zh-CN" sz="2800" dirty="0" err="1">
                <a:latin typeface="Times New Roman" panose="02020603050405020304" pitchFamily="18" charset="0"/>
              </a:rPr>
              <a:t>p2</a:t>
            </a:r>
            <a:r>
              <a:rPr lang="en-US" altLang="zh-CN" sz="2800" dirty="0">
                <a:latin typeface="Times New Roman" panose="02020603050405020304" pitchFamily="18" charset="0"/>
              </a:rPr>
              <a:t>;</a:t>
            </a:r>
            <a:endParaRPr lang="zh-CN" altLang="en-US" sz="2800" dirty="0">
              <a:latin typeface="Times New Roman" panose="02020603050405020304" pitchFamily="18" charset="0"/>
            </a:endParaRPr>
          </a:p>
          <a:p>
            <a:pPr>
              <a:lnSpc>
                <a:spcPct val="120000"/>
              </a:lnSpc>
            </a:pPr>
            <a:r>
              <a:rPr lang="zh-CN" altLang="en-US" sz="2800" dirty="0">
                <a:latin typeface="Times New Roman" panose="02020603050405020304" pitchFamily="18" charset="0"/>
              </a:rPr>
              <a:t>      </a:t>
            </a:r>
            <a:r>
              <a:rPr lang="en-US" altLang="zh-CN" sz="2800" dirty="0">
                <a:latin typeface="Times New Roman" panose="02020603050405020304" pitchFamily="18" charset="0"/>
              </a:rPr>
              <a:t>*</a:t>
            </a:r>
            <a:r>
              <a:rPr lang="en-US" altLang="zh-CN" sz="2800" dirty="0" err="1">
                <a:latin typeface="Times New Roman" panose="02020603050405020304" pitchFamily="18" charset="0"/>
              </a:rPr>
              <a:t>p2</a:t>
            </a:r>
            <a:r>
              <a:rPr lang="en-US" altLang="zh-CN" sz="2800" dirty="0">
                <a:latin typeface="Times New Roman" panose="02020603050405020304" pitchFamily="18" charset="0"/>
              </a:rPr>
              <a:t>=temp</a:t>
            </a:r>
            <a:r>
              <a:rPr lang="en-US" altLang="zh-CN" sz="2800" dirty="0"/>
              <a:t>;</a:t>
            </a:r>
            <a:endParaRPr lang="zh-CN" altLang="en-US" sz="2800" dirty="0">
              <a:latin typeface="Times New Roman" panose="02020603050405020304" pitchFamily="18" charset="0"/>
            </a:endParaRPr>
          </a:p>
          <a:p>
            <a:pPr>
              <a:lnSpc>
                <a:spcPct val="120000"/>
              </a:lnSpc>
            </a:pPr>
            <a:r>
              <a:rPr lang="en-US" altLang="zh-CN" sz="2800" dirty="0">
                <a:latin typeface="Times New Roman" panose="02020603050405020304" pitchFamily="18" charset="0"/>
              </a:rPr>
              <a:t>}</a:t>
            </a:r>
          </a:p>
          <a:p>
            <a:pPr>
              <a:lnSpc>
                <a:spcPct val="120000"/>
              </a:lnSpc>
            </a:pPr>
            <a:endParaRPr lang="zh-CN" altLang="en-US" sz="2800" dirty="0">
              <a:latin typeface="Times New Roman" panose="02020603050405020304" pitchFamily="18" charset="0"/>
            </a:endParaRPr>
          </a:p>
        </p:txBody>
      </p:sp>
    </p:spTree>
  </p:cSld>
  <p:clrMapOvr>
    <a:masterClrMapping/>
  </p:clrMapOvr>
  <p:transition>
    <p:strips dir="ru"/>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0179" name="矩形 1330178">
            <a:extLst>
              <a:ext uri="{FF2B5EF4-FFF2-40B4-BE49-F238E27FC236}">
                <a16:creationId xmlns:a16="http://schemas.microsoft.com/office/drawing/2014/main" id="{4AC8B75E-2A59-4DC9-A8E1-07788C5C0D7D}"/>
              </a:ext>
            </a:extLst>
          </p:cNvPr>
          <p:cNvSpPr/>
          <p:nvPr/>
        </p:nvSpPr>
        <p:spPr>
          <a:xfrm>
            <a:off x="225425" y="548680"/>
            <a:ext cx="8693150" cy="5026025"/>
          </a:xfrm>
          <a:prstGeom prst="rect">
            <a:avLst/>
          </a:prstGeom>
          <a:noFill/>
          <a:ln w="9525">
            <a:noFill/>
            <a:miter/>
          </a:ln>
        </p:spPr>
        <p:txBody>
          <a:bodyPr/>
          <a:lstStyle>
            <a:lvl1pPr marL="838200" indent="-838200">
              <a:defRPr sz="4000">
                <a:solidFill>
                  <a:schemeClr val="tx1"/>
                </a:solidFill>
                <a:latin typeface="Times New Roman" panose="02020603050405020304" pitchFamily="18" charset="0"/>
                <a:ea typeface="宋体" panose="02010600030101010101" pitchFamily="2" charset="-122"/>
              </a:defRPr>
            </a:lvl1pPr>
            <a:lvl2pPr>
              <a:defRPr sz="4000">
                <a:solidFill>
                  <a:schemeClr val="tx1"/>
                </a:solidFill>
                <a:latin typeface="Times New Roman" panose="02020603050405020304" pitchFamily="18" charset="0"/>
                <a:ea typeface="宋体" panose="02010600030101010101" pitchFamily="2" charset="-122"/>
              </a:defRPr>
            </a:lvl2pPr>
            <a:lvl3pPr>
              <a:defRPr sz="4000">
                <a:solidFill>
                  <a:schemeClr val="tx1"/>
                </a:solidFill>
                <a:latin typeface="Times New Roman" panose="02020603050405020304" pitchFamily="18" charset="0"/>
                <a:ea typeface="宋体" panose="02010600030101010101" pitchFamily="2" charset="-122"/>
              </a:defRPr>
            </a:lvl3pPr>
            <a:lvl4pPr>
              <a:defRPr sz="4000">
                <a:solidFill>
                  <a:schemeClr val="tx1"/>
                </a:solidFill>
                <a:latin typeface="Times New Roman" panose="02020603050405020304" pitchFamily="18" charset="0"/>
                <a:ea typeface="宋体" panose="02010600030101010101" pitchFamily="2" charset="-122"/>
              </a:defRPr>
            </a:lvl4pPr>
            <a:lvl5pPr>
              <a:defRPr sz="40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4000">
                <a:solidFill>
                  <a:schemeClr val="tx1"/>
                </a:solidFill>
                <a:latin typeface="Times New Roman" panose="02020603050405020304" pitchFamily="18" charset="0"/>
                <a:ea typeface="宋体" panose="02010600030101010101" pitchFamily="2" charset="-122"/>
              </a:defRPr>
            </a:lvl9pPr>
          </a:lstStyle>
          <a:p>
            <a:pPr eaLnBrk="0" hangingPunct="0">
              <a:spcBef>
                <a:spcPct val="20000"/>
              </a:spcBef>
            </a:pPr>
            <a:r>
              <a:rPr lang="zh-CN" altLang="en-US" sz="2800" dirty="0">
                <a:solidFill>
                  <a:srgbClr val="000099"/>
                </a:solidFill>
                <a:latin typeface="黑体" panose="02010609060101010101" pitchFamily="49" charset="-122"/>
                <a:ea typeface="黑体" panose="02010609060101010101" pitchFamily="49" charset="-122"/>
              </a:rPr>
              <a:t>    库函数提供动态地开辟和释放存储单元的</a:t>
            </a:r>
          </a:p>
          <a:p>
            <a:pPr eaLnBrk="0" hangingPunct="0">
              <a:spcBef>
                <a:spcPct val="20000"/>
              </a:spcBef>
            </a:pPr>
            <a:r>
              <a:rPr lang="zh-CN" altLang="en-US" sz="2800" dirty="0">
                <a:solidFill>
                  <a:srgbClr val="000099"/>
                </a:solidFill>
                <a:latin typeface="黑体" panose="02010609060101010101" pitchFamily="49" charset="-122"/>
                <a:ea typeface="黑体" panose="02010609060101010101" pitchFamily="49" charset="-122"/>
              </a:rPr>
              <a:t>有关函数：</a:t>
            </a:r>
          </a:p>
          <a:p>
            <a:pPr eaLnBrk="0" hangingPunct="0">
              <a:spcBef>
                <a:spcPct val="20000"/>
              </a:spcBef>
              <a:buFont typeface="Arial" panose="020B0604020202020204" pitchFamily="34" charset="0"/>
              <a:buAutoNum type="arabicParenBoth"/>
            </a:pPr>
            <a:r>
              <a:rPr lang="en-US" altLang="zh-CN" sz="2800" dirty="0">
                <a:solidFill>
                  <a:srgbClr val="4D4D4D"/>
                </a:solidFill>
                <a:ea typeface="楷体_GB2312" pitchFamily="49" charset="-122"/>
              </a:rPr>
              <a:t>malloc</a:t>
            </a:r>
            <a:r>
              <a:rPr lang="zh-CN" altLang="en-US" sz="2800" dirty="0">
                <a:solidFill>
                  <a:srgbClr val="4D4D4D"/>
                </a:solidFill>
                <a:ea typeface="楷体_GB2312" pitchFamily="49" charset="-122"/>
              </a:rPr>
              <a:t>函数</a:t>
            </a:r>
          </a:p>
          <a:p>
            <a:pPr eaLnBrk="0" hangingPunct="0">
              <a:spcBef>
                <a:spcPct val="20000"/>
              </a:spcBef>
            </a:pPr>
            <a:r>
              <a:rPr lang="zh-CN" altLang="en-US" sz="2800" dirty="0">
                <a:solidFill>
                  <a:srgbClr val="800000"/>
                </a:solidFill>
                <a:ea typeface="楷体_GB2312" pitchFamily="49" charset="-122"/>
              </a:rPr>
              <a:t>其函数原型为</a:t>
            </a:r>
            <a:r>
              <a:rPr lang="en-US" altLang="zh-CN" sz="2800" dirty="0">
                <a:solidFill>
                  <a:srgbClr val="800000"/>
                </a:solidFill>
                <a:ea typeface="楷体_GB2312" pitchFamily="49" charset="-122"/>
              </a:rPr>
              <a:t>void *malloc(unsigned int size);</a:t>
            </a:r>
            <a:r>
              <a:rPr lang="zh-CN" altLang="en-US" sz="2800" dirty="0">
                <a:solidFill>
                  <a:srgbClr val="800000"/>
                </a:solidFill>
                <a:ea typeface="楷体_GB2312" pitchFamily="49" charset="-122"/>
              </a:rPr>
              <a:t>其</a:t>
            </a:r>
          </a:p>
          <a:p>
            <a:pPr eaLnBrk="0" hangingPunct="0">
              <a:spcBef>
                <a:spcPct val="20000"/>
              </a:spcBef>
            </a:pPr>
            <a:r>
              <a:rPr lang="zh-CN" altLang="en-US" sz="2800" dirty="0">
                <a:solidFill>
                  <a:srgbClr val="800000"/>
                </a:solidFill>
                <a:ea typeface="楷体_GB2312" pitchFamily="49" charset="-122"/>
              </a:rPr>
              <a:t>作用是在内存的动态存储区中分配一个长度为</a:t>
            </a:r>
            <a:r>
              <a:rPr lang="en-US" altLang="zh-CN" sz="2800" dirty="0">
                <a:solidFill>
                  <a:srgbClr val="800000"/>
                </a:solidFill>
                <a:ea typeface="楷体_GB2312" pitchFamily="49" charset="-122"/>
              </a:rPr>
              <a:t>size</a:t>
            </a:r>
            <a:r>
              <a:rPr lang="zh-CN" altLang="en-US" sz="2800" dirty="0">
                <a:solidFill>
                  <a:srgbClr val="800000"/>
                </a:solidFill>
                <a:ea typeface="楷体_GB2312" pitchFamily="49" charset="-122"/>
              </a:rPr>
              <a:t>的连续空间。此函数的值（即</a:t>
            </a:r>
            <a:r>
              <a:rPr lang="zh-CN" altLang="en-US" sz="2800" dirty="0">
                <a:solidFill>
                  <a:srgbClr val="800000"/>
                </a:solidFill>
                <a:latin typeface="Arial" panose="020B0604020202020204" pitchFamily="34" charset="0"/>
                <a:ea typeface="楷体_GB2312" pitchFamily="49" charset="-122"/>
              </a:rPr>
              <a:t>“</a:t>
            </a:r>
            <a:r>
              <a:rPr lang="zh-CN" altLang="en-US" sz="2800" dirty="0">
                <a:solidFill>
                  <a:srgbClr val="800000"/>
                </a:solidFill>
                <a:ea typeface="楷体_GB2312" pitchFamily="49" charset="-122"/>
              </a:rPr>
              <a:t>返回值</a:t>
            </a:r>
            <a:r>
              <a:rPr lang="zh-CN" altLang="en-US" sz="2800" dirty="0">
                <a:solidFill>
                  <a:srgbClr val="800000"/>
                </a:solidFill>
                <a:latin typeface="Arial" panose="020B0604020202020204" pitchFamily="34" charset="0"/>
                <a:ea typeface="楷体_GB2312" pitchFamily="49" charset="-122"/>
              </a:rPr>
              <a:t>”</a:t>
            </a:r>
            <a:r>
              <a:rPr lang="zh-CN" altLang="en-US" sz="2800" dirty="0">
                <a:solidFill>
                  <a:srgbClr val="800000"/>
                </a:solidFill>
                <a:ea typeface="楷体_GB2312" pitchFamily="49" charset="-122"/>
              </a:rPr>
              <a:t>）是一个指向分配域起始地址的指针（类型为</a:t>
            </a:r>
            <a:r>
              <a:rPr lang="en-US" altLang="zh-CN" sz="2800" dirty="0">
                <a:solidFill>
                  <a:srgbClr val="800000"/>
                </a:solidFill>
                <a:ea typeface="楷体_GB2312" pitchFamily="49" charset="-122"/>
              </a:rPr>
              <a:t>void</a:t>
            </a:r>
            <a:r>
              <a:rPr lang="zh-CN" altLang="en-US" sz="2800" dirty="0">
                <a:solidFill>
                  <a:srgbClr val="800000"/>
                </a:solidFill>
                <a:ea typeface="楷体_GB2312" pitchFamily="49" charset="-122"/>
              </a:rPr>
              <a:t>）。如果此函数未能成功地执行（例如内存空间不足），则返回空指针</a:t>
            </a:r>
            <a:r>
              <a:rPr lang="en-US" altLang="zh-CN" sz="2800" dirty="0">
                <a:solidFill>
                  <a:srgbClr val="800000"/>
                </a:solidFill>
                <a:ea typeface="楷体_GB2312" pitchFamily="49" charset="-122"/>
              </a:rPr>
              <a:t>(NULL)</a:t>
            </a:r>
            <a:r>
              <a:rPr lang="zh-CN" altLang="en-US" sz="2800" dirty="0">
                <a:solidFill>
                  <a:srgbClr val="800000"/>
                </a:solidFill>
                <a:ea typeface="楷体_GB2312" pitchFamily="49" charset="-122"/>
              </a:rPr>
              <a:t>。</a:t>
            </a:r>
            <a:endParaRPr lang="en-US" altLang="zh-CN" sz="2800" dirty="0">
              <a:solidFill>
                <a:srgbClr val="800000"/>
              </a:solidFill>
              <a:ea typeface="楷体_GB2312" pitchFamily="49" charset="-122"/>
            </a:endParaRPr>
          </a:p>
          <a:p>
            <a:pPr eaLnBrk="0" hangingPunct="0">
              <a:spcBef>
                <a:spcPct val="20000"/>
              </a:spcBef>
            </a:pPr>
            <a:r>
              <a:rPr lang="en-US" altLang="zh-CN" sz="2800" dirty="0">
                <a:solidFill>
                  <a:srgbClr val="4D4D4D"/>
                </a:solidFill>
                <a:ea typeface="楷体_GB2312" pitchFamily="49" charset="-122"/>
              </a:rPr>
              <a:t>(2) free</a:t>
            </a:r>
            <a:r>
              <a:rPr lang="zh-CN" altLang="en-US" sz="2800" dirty="0">
                <a:solidFill>
                  <a:srgbClr val="4D4D4D"/>
                </a:solidFill>
                <a:ea typeface="楷体_GB2312" pitchFamily="49" charset="-122"/>
              </a:rPr>
              <a:t>函数</a:t>
            </a:r>
          </a:p>
          <a:p>
            <a:pPr eaLnBrk="0" hangingPunct="0">
              <a:spcBef>
                <a:spcPct val="20000"/>
              </a:spcBef>
            </a:pPr>
            <a:r>
              <a:rPr lang="zh-CN" altLang="en-US" sz="2800" dirty="0">
                <a:solidFill>
                  <a:srgbClr val="800000"/>
                </a:solidFill>
                <a:ea typeface="楷体_GB2312" pitchFamily="49" charset="-122"/>
              </a:rPr>
              <a:t>其函数原型为</a:t>
            </a:r>
            <a:r>
              <a:rPr lang="en-US" altLang="zh-CN" sz="2800" dirty="0">
                <a:solidFill>
                  <a:srgbClr val="800000"/>
                </a:solidFill>
                <a:ea typeface="楷体_GB2312" pitchFamily="49" charset="-122"/>
              </a:rPr>
              <a:t>void free</a:t>
            </a:r>
            <a:r>
              <a:rPr lang="zh-CN" altLang="en-US" sz="2800" dirty="0">
                <a:solidFill>
                  <a:srgbClr val="800000"/>
                </a:solidFill>
                <a:ea typeface="楷体_GB2312" pitchFamily="49" charset="-122"/>
              </a:rPr>
              <a:t>（</a:t>
            </a:r>
            <a:r>
              <a:rPr lang="en-US" altLang="zh-CN" sz="2800" dirty="0">
                <a:solidFill>
                  <a:srgbClr val="800000"/>
                </a:solidFill>
                <a:ea typeface="楷体_GB2312" pitchFamily="49" charset="-122"/>
              </a:rPr>
              <a:t>void *p</a:t>
            </a:r>
            <a:r>
              <a:rPr lang="zh-CN" altLang="en-US" sz="2800" dirty="0">
                <a:solidFill>
                  <a:srgbClr val="800000"/>
                </a:solidFill>
                <a:ea typeface="楷体_GB2312" pitchFamily="49" charset="-122"/>
              </a:rPr>
              <a:t>）</a:t>
            </a:r>
            <a:r>
              <a:rPr lang="en-US" altLang="zh-CN" sz="2800" dirty="0">
                <a:solidFill>
                  <a:srgbClr val="800000"/>
                </a:solidFill>
                <a:ea typeface="楷体_GB2312" pitchFamily="49" charset="-122"/>
              </a:rPr>
              <a:t>;</a:t>
            </a:r>
            <a:r>
              <a:rPr lang="zh-CN" altLang="en-US" sz="2800" dirty="0">
                <a:solidFill>
                  <a:srgbClr val="800000"/>
                </a:solidFill>
                <a:ea typeface="楷体_GB2312" pitchFamily="49" charset="-122"/>
              </a:rPr>
              <a:t>其作用是释放由ｐ指向的内存区，使这部分内存区能被其他变量使用。</a:t>
            </a:r>
            <a:r>
              <a:rPr lang="zh-CN" altLang="en-US" sz="2800" dirty="0">
                <a:solidFill>
                  <a:srgbClr val="4D4D4D"/>
                </a:solidFill>
                <a:ea typeface="楷体_GB2312" pitchFamily="49" charset="-122"/>
              </a:rPr>
              <a:t> </a:t>
            </a:r>
          </a:p>
          <a:p>
            <a:pPr eaLnBrk="0" hangingPunct="0">
              <a:spcBef>
                <a:spcPct val="20000"/>
              </a:spcBef>
              <a:buFont typeface="Arial" panose="020B0604020202020204" pitchFamily="34" charset="0"/>
              <a:buAutoNum type="arabicParenBoth"/>
            </a:pPr>
            <a:endParaRPr lang="zh-CN" altLang="en-US" sz="2800" dirty="0">
              <a:solidFill>
                <a:srgbClr val="4D4D4D"/>
              </a:solidFill>
              <a:ea typeface="楷体_GB2312" pitchFamily="49" charset="-122"/>
            </a:endParaRPr>
          </a:p>
        </p:txBody>
      </p:sp>
    </p:spTree>
    <p:extLst>
      <p:ext uri="{BB962C8B-B14F-4D97-AF65-F5344CB8AC3E}">
        <p14:creationId xmlns:p14="http://schemas.microsoft.com/office/powerpoint/2010/main" val="333363963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0179"/>
                                        </p:tgtEl>
                                        <p:attrNameLst>
                                          <p:attrName>style.visibility</p:attrName>
                                        </p:attrNameLst>
                                      </p:cBhvr>
                                      <p:to>
                                        <p:strVal val="visible"/>
                                      </p:to>
                                    </p:set>
                                    <p:animEffect transition="in" filter="wipe(left)">
                                      <p:cBhvr>
                                        <p:cTn id="7" dur="1000"/>
                                        <p:tgtEl>
                                          <p:spTgt spid="1330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0179"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3" name="图片 1266689" descr="j40">
            <a:extLst>
              <a:ext uri="{FF2B5EF4-FFF2-40B4-BE49-F238E27FC236}">
                <a16:creationId xmlns:a16="http://schemas.microsoft.com/office/drawing/2014/main" id="{E4533CB3-673E-4E37-9499-74CA5BCA788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0375" y="334962"/>
            <a:ext cx="8223250" cy="618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Tree>
  </p:cSld>
  <p:clrMapOvr>
    <a:masterClrMapping/>
  </p:clrMapOvr>
  <p:transition>
    <p:strips dir="ru"/>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灯片编号占位符 5">
            <a:extLst>
              <a:ext uri="{FF2B5EF4-FFF2-40B4-BE49-F238E27FC236}">
                <a16:creationId xmlns:a16="http://schemas.microsoft.com/office/drawing/2014/main" id="{5A3F2E26-6D4C-4F67-80C6-F9B7BE3329EE}"/>
              </a:ext>
            </a:extLst>
          </p:cNvPr>
          <p:cNvSpPr>
            <a:spLocks noGrp="1" noChangeArrowheads="1"/>
          </p:cNvSpPr>
          <p:nvPr>
            <p:ph type="sldNum" sz="quarter" idx="12"/>
          </p:nvPr>
        </p:nvSpPr>
        <p:spPr bwMode="auto">
          <a:xfrm>
            <a:off x="6934200" y="6324600"/>
            <a:ext cx="1905000" cy="457200"/>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50000"/>
              </a:spcBef>
              <a:spcAft>
                <a:spcPct val="0"/>
              </a:spcAft>
              <a:buFont typeface="Arial" panose="020B0604020202020204" pitchFamily="34" charset="0"/>
              <a:defRPr sz="1400" b="1" kern="1200" noProof="1">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ern="1200">
                <a:solidFill>
                  <a:schemeClr val="tx1"/>
                </a:solidFill>
                <a:latin typeface="Times New Roman" panose="02020603050405020304" pitchFamily="18" charset="0"/>
                <a:ea typeface="宋体" panose="02010600030101010101" pitchFamily="2" charset="-122"/>
                <a:cs typeface="+mn-cs"/>
              </a:defRPr>
            </a:lvl9pPr>
          </a:lstStyle>
          <a:p>
            <a:fld id="{184253C2-A1F9-42F1-81C8-0D63D8B02D10}" type="slidenum">
              <a:rPr lang="zh-CN" altLang="en-US" smtClean="0"/>
              <a:pPr/>
              <a:t>83</a:t>
            </a:fld>
            <a:endParaRPr lang="zh-CN" altLang="en-US"/>
          </a:p>
        </p:txBody>
      </p:sp>
      <p:sp>
        <p:nvSpPr>
          <p:cNvPr id="57346" name="Rectangle 4">
            <a:extLst>
              <a:ext uri="{FF2B5EF4-FFF2-40B4-BE49-F238E27FC236}">
                <a16:creationId xmlns:a16="http://schemas.microsoft.com/office/drawing/2014/main" id="{083770B2-DE54-4154-8D07-FE38B11C724E}"/>
              </a:ext>
            </a:extLst>
          </p:cNvPr>
          <p:cNvSpPr>
            <a:spLocks noGrp="1" noChangeArrowheads="1"/>
          </p:cNvSpPr>
          <p:nvPr>
            <p:ph idx="1"/>
          </p:nvPr>
        </p:nvSpPr>
        <p:spPr>
          <a:xfrm>
            <a:off x="388615" y="1209092"/>
            <a:ext cx="8458200" cy="5388260"/>
          </a:xfrm>
        </p:spPr>
        <p:txBody>
          <a:bodyPr/>
          <a:lstStyle/>
          <a:p>
            <a:pPr marL="0" indent="0" algn="just" eaLnBrk="1" hangingPunct="1">
              <a:lnSpc>
                <a:spcPct val="80000"/>
              </a:lnSpc>
              <a:buFontTx/>
              <a:buNone/>
            </a:pPr>
            <a:r>
              <a:rPr lang="en-US" altLang="zh-CN" sz="2000" dirty="0">
                <a:latin typeface="Consolas" panose="020B0609020204030204" pitchFamily="49" charset="0"/>
              </a:rPr>
              <a:t>void  </a:t>
            </a:r>
            <a:r>
              <a:rPr lang="en-US" altLang="zh-CN" sz="2000" dirty="0" err="1">
                <a:latin typeface="Consolas" panose="020B0609020204030204" pitchFamily="49" charset="0"/>
              </a:rPr>
              <a:t>strSort</a:t>
            </a:r>
            <a:r>
              <a:rPr lang="en-US" altLang="zh-CN" sz="2000" dirty="0">
                <a:latin typeface="Consolas" panose="020B0609020204030204" pitchFamily="49" charset="0"/>
              </a:rPr>
              <a:t>(char * name[], int n){</a:t>
            </a:r>
          </a:p>
          <a:p>
            <a:pPr marL="0" indent="0" algn="just" eaLnBrk="1" hangingPunct="1">
              <a:lnSpc>
                <a:spcPct val="80000"/>
              </a:lnSpc>
              <a:buFontTx/>
              <a:buNone/>
            </a:pPr>
            <a:r>
              <a:rPr lang="en-US" altLang="zh-CN" sz="2000" dirty="0">
                <a:latin typeface="Consolas" panose="020B0609020204030204" pitchFamily="49" charset="0"/>
              </a:rPr>
              <a:t>   	char * </a:t>
            </a:r>
            <a:r>
              <a:rPr lang="en-US" altLang="zh-CN" sz="2000" dirty="0" err="1">
                <a:latin typeface="Consolas" panose="020B0609020204030204" pitchFamily="49" charset="0"/>
              </a:rPr>
              <a:t>pt</a:t>
            </a:r>
            <a:r>
              <a:rPr lang="en-US" altLang="zh-CN" sz="2000" dirty="0">
                <a:latin typeface="Consolas" panose="020B0609020204030204" pitchFamily="49" charset="0"/>
              </a:rPr>
              <a:t>;</a:t>
            </a:r>
          </a:p>
          <a:p>
            <a:pPr marL="0" indent="0" algn="just" eaLnBrk="1" hangingPunct="1">
              <a:lnSpc>
                <a:spcPct val="80000"/>
              </a:lnSpc>
              <a:buFontTx/>
              <a:buNone/>
            </a:pPr>
            <a:r>
              <a:rPr lang="en-US" altLang="zh-CN" sz="2000" dirty="0">
                <a:latin typeface="Consolas" panose="020B0609020204030204" pitchFamily="49" charset="0"/>
              </a:rPr>
              <a:t>    int </a:t>
            </a:r>
            <a:r>
              <a:rPr lang="en-US" altLang="zh-CN" sz="2000" dirty="0" err="1">
                <a:latin typeface="Consolas" panose="020B0609020204030204" pitchFamily="49" charset="0"/>
              </a:rPr>
              <a:t>i</a:t>
            </a:r>
            <a:r>
              <a:rPr lang="en-US" altLang="zh-CN" sz="2000" dirty="0">
                <a:latin typeface="Consolas" panose="020B0609020204030204" pitchFamily="49" charset="0"/>
              </a:rPr>
              <a:t>, j, min;</a:t>
            </a:r>
          </a:p>
          <a:p>
            <a:pPr marL="0" indent="0" algn="just" eaLnBrk="1" hangingPunct="1">
              <a:lnSpc>
                <a:spcPct val="80000"/>
              </a:lnSpc>
              <a:buFontTx/>
              <a:buNone/>
            </a:pPr>
            <a:r>
              <a:rPr lang="en-US" altLang="zh-CN" sz="2000" dirty="0">
                <a:latin typeface="Consolas" panose="020B0609020204030204" pitchFamily="49" charset="0"/>
              </a:rPr>
              <a:t>      /*</a:t>
            </a:r>
            <a:r>
              <a:rPr lang="zh-CN" altLang="en-US" sz="2000" dirty="0">
                <a:latin typeface="Consolas" panose="020B0609020204030204" pitchFamily="49" charset="0"/>
              </a:rPr>
              <a:t>使用选择排序</a:t>
            </a:r>
            <a:r>
              <a:rPr lang="en-US" altLang="zh-CN" sz="2000" dirty="0">
                <a:latin typeface="Consolas" panose="020B0609020204030204" pitchFamily="49" charset="0"/>
              </a:rPr>
              <a:t>, </a:t>
            </a:r>
            <a:r>
              <a:rPr lang="zh-CN" altLang="en-US" sz="2000" dirty="0">
                <a:latin typeface="Consolas" panose="020B0609020204030204" pitchFamily="49" charset="0"/>
              </a:rPr>
              <a:t>外循环每循环一次</a:t>
            </a:r>
            <a:r>
              <a:rPr lang="en-US" altLang="zh-CN" sz="2000" dirty="0">
                <a:latin typeface="Consolas" panose="020B0609020204030204" pitchFamily="49" charset="0"/>
              </a:rPr>
              <a:t>,</a:t>
            </a:r>
            <a:r>
              <a:rPr lang="zh-CN" altLang="en-US" sz="2000" dirty="0">
                <a:latin typeface="Consolas" panose="020B0609020204030204" pitchFamily="49" charset="0"/>
              </a:rPr>
              <a:t>确定</a:t>
            </a:r>
            <a:r>
              <a:rPr lang="en-US" altLang="zh-CN" sz="2000" dirty="0">
                <a:latin typeface="Consolas" panose="020B0609020204030204" pitchFamily="49" charset="0"/>
              </a:rPr>
              <a:t>a[</a:t>
            </a:r>
            <a:r>
              <a:rPr lang="en-US" altLang="zh-CN" sz="2000" dirty="0" err="1">
                <a:latin typeface="Consolas" panose="020B0609020204030204" pitchFamily="49" charset="0"/>
              </a:rPr>
              <a:t>i</a:t>
            </a:r>
            <a:r>
              <a:rPr lang="en-US" altLang="zh-CN" sz="2000" dirty="0">
                <a:latin typeface="Consolas" panose="020B0609020204030204" pitchFamily="49" charset="0"/>
              </a:rPr>
              <a:t>]</a:t>
            </a:r>
            <a:r>
              <a:rPr lang="zh-CN" altLang="en-US" sz="2000" dirty="0">
                <a:latin typeface="Consolas" panose="020B0609020204030204" pitchFamily="49" charset="0"/>
              </a:rPr>
              <a:t>的值*</a:t>
            </a:r>
            <a:r>
              <a:rPr lang="en-US" altLang="zh-CN" sz="2000" dirty="0">
                <a:latin typeface="Consolas" panose="020B0609020204030204" pitchFamily="49" charset="0"/>
              </a:rPr>
              <a:t>/</a:t>
            </a:r>
          </a:p>
          <a:p>
            <a:pPr marL="0" indent="0" algn="just" eaLnBrk="1" hangingPunct="1">
              <a:lnSpc>
                <a:spcPct val="80000"/>
              </a:lnSpc>
              <a:buFontTx/>
              <a:buNone/>
            </a:pPr>
            <a:r>
              <a:rPr lang="en-US" altLang="zh-CN" sz="2000" dirty="0">
                <a:latin typeface="Consolas" panose="020B0609020204030204" pitchFamily="49" charset="0"/>
              </a:rPr>
              <a:t>    for(</a:t>
            </a:r>
            <a:r>
              <a:rPr lang="en-US" altLang="zh-CN" sz="2000" dirty="0" err="1">
                <a:latin typeface="Consolas" panose="020B0609020204030204" pitchFamily="49" charset="0"/>
              </a:rPr>
              <a:t>i</a:t>
            </a:r>
            <a:r>
              <a:rPr lang="en-US" altLang="zh-CN" sz="2000" dirty="0">
                <a:latin typeface="Consolas" panose="020B0609020204030204" pitchFamily="49" charset="0"/>
              </a:rPr>
              <a:t>=0; </a:t>
            </a:r>
            <a:r>
              <a:rPr lang="en-US" altLang="zh-CN" sz="2000" dirty="0" err="1">
                <a:latin typeface="Consolas" panose="020B0609020204030204" pitchFamily="49" charset="0"/>
              </a:rPr>
              <a:t>i</a:t>
            </a:r>
            <a:r>
              <a:rPr lang="en-US" altLang="zh-CN" sz="2000" dirty="0">
                <a:latin typeface="Consolas" panose="020B0609020204030204" pitchFamily="49" charset="0"/>
              </a:rPr>
              <a:t>&lt;n-1; </a:t>
            </a:r>
            <a:r>
              <a:rPr lang="en-US" altLang="zh-CN" sz="2000" dirty="0" err="1">
                <a:latin typeface="Consolas" panose="020B0609020204030204" pitchFamily="49" charset="0"/>
              </a:rPr>
              <a:t>i</a:t>
            </a:r>
            <a:r>
              <a:rPr lang="en-US" altLang="zh-CN" sz="2000" dirty="0">
                <a:latin typeface="Consolas" panose="020B0609020204030204" pitchFamily="49" charset="0"/>
              </a:rPr>
              <a:t>++){</a:t>
            </a:r>
          </a:p>
          <a:p>
            <a:pPr marL="0" indent="0" algn="just" eaLnBrk="1" hangingPunct="1">
              <a:lnSpc>
                <a:spcPct val="80000"/>
              </a:lnSpc>
              <a:buFontTx/>
              <a:buNone/>
            </a:pPr>
            <a:r>
              <a:rPr lang="en-US" altLang="zh-CN" sz="2000" dirty="0">
                <a:latin typeface="Consolas" panose="020B0609020204030204" pitchFamily="49" charset="0"/>
              </a:rPr>
              <a:t>        min=</a:t>
            </a:r>
            <a:r>
              <a:rPr lang="en-US" altLang="zh-CN" sz="2000" dirty="0" err="1">
                <a:latin typeface="Consolas" panose="020B0609020204030204" pitchFamily="49" charset="0"/>
              </a:rPr>
              <a:t>i</a:t>
            </a:r>
            <a:r>
              <a:rPr lang="en-US" altLang="zh-CN" sz="2000" dirty="0">
                <a:latin typeface="Consolas" panose="020B0609020204030204" pitchFamily="49" charset="0"/>
              </a:rPr>
              <a:t>; 			</a:t>
            </a:r>
          </a:p>
          <a:p>
            <a:pPr marL="0" indent="0" algn="just" eaLnBrk="1" hangingPunct="1">
              <a:lnSpc>
                <a:spcPct val="80000"/>
              </a:lnSpc>
              <a:buFontTx/>
              <a:buNone/>
            </a:pPr>
            <a:r>
              <a:rPr lang="en-US" altLang="zh-CN" sz="2000" dirty="0">
                <a:latin typeface="Consolas" panose="020B0609020204030204" pitchFamily="49" charset="0"/>
              </a:rPr>
              <a:t>        for(j=</a:t>
            </a:r>
            <a:r>
              <a:rPr lang="en-US" altLang="zh-CN" sz="2000" dirty="0" err="1">
                <a:latin typeface="Consolas" panose="020B0609020204030204" pitchFamily="49" charset="0"/>
              </a:rPr>
              <a:t>i+1</a:t>
            </a:r>
            <a:r>
              <a:rPr lang="en-US" altLang="zh-CN" sz="2000" dirty="0">
                <a:latin typeface="Consolas" panose="020B0609020204030204" pitchFamily="49" charset="0"/>
              </a:rPr>
              <a:t>; j&lt;n; </a:t>
            </a:r>
            <a:r>
              <a:rPr lang="en-US" altLang="zh-CN" sz="2000" dirty="0" err="1">
                <a:latin typeface="Consolas" panose="020B0609020204030204" pitchFamily="49" charset="0"/>
              </a:rPr>
              <a:t>j++</a:t>
            </a:r>
            <a:r>
              <a:rPr lang="en-US" altLang="zh-CN" sz="2000" dirty="0">
                <a:latin typeface="Consolas" panose="020B0609020204030204" pitchFamily="49" charset="0"/>
              </a:rPr>
              <a:t>) 	</a:t>
            </a:r>
          </a:p>
          <a:p>
            <a:pPr marL="0" indent="0" algn="just" eaLnBrk="1" hangingPunct="1">
              <a:lnSpc>
                <a:spcPct val="80000"/>
              </a:lnSpc>
              <a:buFontTx/>
              <a:buNone/>
            </a:pPr>
            <a:r>
              <a:rPr lang="en-US" altLang="zh-CN" sz="2000" dirty="0">
                <a:latin typeface="Consolas" panose="020B0609020204030204" pitchFamily="49" charset="0"/>
              </a:rPr>
              <a:t>            if(</a:t>
            </a:r>
            <a:r>
              <a:rPr lang="en-US" altLang="zh-CN" sz="2000" dirty="0" err="1">
                <a:latin typeface="Consolas" panose="020B0609020204030204" pitchFamily="49" charset="0"/>
              </a:rPr>
              <a:t>strcmp</a:t>
            </a:r>
            <a:r>
              <a:rPr lang="en-US" altLang="zh-CN" sz="2000" dirty="0">
                <a:latin typeface="Consolas" panose="020B0609020204030204" pitchFamily="49" charset="0"/>
              </a:rPr>
              <a:t>(name[min], name[j])&gt;0)</a:t>
            </a:r>
          </a:p>
          <a:p>
            <a:pPr marL="0" indent="0" algn="just" eaLnBrk="1" hangingPunct="1">
              <a:lnSpc>
                <a:spcPct val="80000"/>
              </a:lnSpc>
              <a:buFontTx/>
              <a:buNone/>
            </a:pPr>
            <a:r>
              <a:rPr lang="en-US" altLang="zh-CN" sz="2000" dirty="0">
                <a:latin typeface="Consolas" panose="020B0609020204030204" pitchFamily="49" charset="0"/>
              </a:rPr>
              <a:t>                min=j; 	</a:t>
            </a:r>
          </a:p>
          <a:p>
            <a:pPr marL="0" indent="0" algn="just" eaLnBrk="1" hangingPunct="1">
              <a:lnSpc>
                <a:spcPct val="80000"/>
              </a:lnSpc>
              <a:buFontTx/>
              <a:buNone/>
            </a:pPr>
            <a:r>
              <a:rPr lang="en-US" altLang="zh-CN" sz="2000" dirty="0">
                <a:latin typeface="Consolas" panose="020B0609020204030204" pitchFamily="49" charset="0"/>
              </a:rPr>
              <a:t>	  	if(min!=</a:t>
            </a:r>
            <a:r>
              <a:rPr lang="en-US" altLang="zh-CN" sz="2000" dirty="0" err="1">
                <a:latin typeface="Consolas" panose="020B0609020204030204" pitchFamily="49" charset="0"/>
              </a:rPr>
              <a:t>i</a:t>
            </a:r>
            <a:r>
              <a:rPr lang="en-US" altLang="zh-CN" sz="2000" dirty="0">
                <a:latin typeface="Consolas" panose="020B0609020204030204" pitchFamily="49" charset="0"/>
              </a:rPr>
              <a:t>){ 		</a:t>
            </a:r>
          </a:p>
          <a:p>
            <a:pPr marL="0" indent="0" algn="just" eaLnBrk="1" hangingPunct="1">
              <a:lnSpc>
                <a:spcPct val="80000"/>
              </a:lnSpc>
              <a:buFontTx/>
              <a:buNone/>
            </a:pPr>
            <a:r>
              <a:rPr lang="en-US" altLang="zh-CN" sz="2000" dirty="0">
                <a:latin typeface="Consolas" panose="020B0609020204030204" pitchFamily="49" charset="0"/>
              </a:rPr>
              <a:t>			pt= name[min];</a:t>
            </a:r>
          </a:p>
          <a:p>
            <a:pPr marL="0" indent="0" algn="just" eaLnBrk="1" hangingPunct="1">
              <a:lnSpc>
                <a:spcPct val="80000"/>
              </a:lnSpc>
              <a:buFontTx/>
              <a:buNone/>
            </a:pPr>
            <a:r>
              <a:rPr lang="en-US" altLang="zh-CN" sz="2000" dirty="0">
                <a:latin typeface="Consolas" panose="020B0609020204030204" pitchFamily="49" charset="0"/>
              </a:rPr>
              <a:t>			 name[min]= name[</a:t>
            </a:r>
            <a:r>
              <a:rPr lang="en-US" altLang="zh-CN" sz="2000" dirty="0" err="1">
                <a:latin typeface="Consolas" panose="020B0609020204030204" pitchFamily="49" charset="0"/>
              </a:rPr>
              <a:t>i</a:t>
            </a:r>
            <a:r>
              <a:rPr lang="en-US" altLang="zh-CN" sz="2000" dirty="0">
                <a:latin typeface="Consolas" panose="020B0609020204030204" pitchFamily="49" charset="0"/>
              </a:rPr>
              <a:t>];</a:t>
            </a:r>
          </a:p>
          <a:p>
            <a:pPr marL="0" indent="0" algn="just" eaLnBrk="1" hangingPunct="1">
              <a:lnSpc>
                <a:spcPct val="80000"/>
              </a:lnSpc>
              <a:buFontTx/>
              <a:buNone/>
            </a:pPr>
            <a:r>
              <a:rPr lang="en-US" altLang="zh-CN" sz="2000" dirty="0">
                <a:latin typeface="Consolas" panose="020B0609020204030204" pitchFamily="49" charset="0"/>
              </a:rPr>
              <a:t>			 name[</a:t>
            </a:r>
            <a:r>
              <a:rPr lang="en-US" altLang="zh-CN" sz="2000" dirty="0" err="1">
                <a:latin typeface="Consolas" panose="020B0609020204030204" pitchFamily="49" charset="0"/>
              </a:rPr>
              <a:t>i</a:t>
            </a:r>
            <a:r>
              <a:rPr lang="en-US" altLang="zh-CN" sz="2000" dirty="0">
                <a:latin typeface="Consolas" panose="020B0609020204030204" pitchFamily="49" charset="0"/>
              </a:rPr>
              <a:t>]=pt;</a:t>
            </a:r>
          </a:p>
          <a:p>
            <a:pPr marL="0" indent="0" algn="just" eaLnBrk="1" hangingPunct="1">
              <a:lnSpc>
                <a:spcPct val="80000"/>
              </a:lnSpc>
              <a:buFontTx/>
              <a:buNone/>
            </a:pPr>
            <a:r>
              <a:rPr lang="en-US" altLang="zh-CN" sz="2000" dirty="0">
                <a:latin typeface="Consolas" panose="020B0609020204030204" pitchFamily="49" charset="0"/>
              </a:rPr>
              <a:t>		}</a:t>
            </a:r>
          </a:p>
          <a:p>
            <a:pPr marL="0" indent="0" algn="just" eaLnBrk="1" hangingPunct="1">
              <a:lnSpc>
                <a:spcPct val="80000"/>
              </a:lnSpc>
              <a:buFontTx/>
              <a:buNone/>
            </a:pPr>
            <a:r>
              <a:rPr lang="en-US" altLang="zh-CN" sz="2000" dirty="0">
                <a:latin typeface="Consolas" panose="020B0609020204030204" pitchFamily="49" charset="0"/>
              </a:rPr>
              <a:t>    }</a:t>
            </a:r>
          </a:p>
          <a:p>
            <a:pPr marL="0" indent="0" algn="just" eaLnBrk="1" hangingPunct="1">
              <a:lnSpc>
                <a:spcPct val="80000"/>
              </a:lnSpc>
              <a:buFontTx/>
              <a:buNone/>
            </a:pPr>
            <a:r>
              <a:rPr lang="en-US" altLang="zh-CN" sz="2000" dirty="0">
                <a:latin typeface="Consolas" panose="020B0609020204030204" pitchFamily="49" charset="0"/>
              </a:rPr>
              <a:t>}</a:t>
            </a:r>
          </a:p>
        </p:txBody>
      </p:sp>
      <p:sp>
        <p:nvSpPr>
          <p:cNvPr id="2" name="Rectangle 2">
            <a:extLst>
              <a:ext uri="{FF2B5EF4-FFF2-40B4-BE49-F238E27FC236}">
                <a16:creationId xmlns:a16="http://schemas.microsoft.com/office/drawing/2014/main" id="{00B104A2-8DA6-9FB1-35F3-EC9975F095C3}"/>
              </a:ext>
            </a:extLst>
          </p:cNvPr>
          <p:cNvSpPr>
            <a:spLocks noGrp="1" noChangeArrowheads="1"/>
          </p:cNvSpPr>
          <p:nvPr>
            <p:ph type="title"/>
          </p:nvPr>
        </p:nvSpPr>
        <p:spPr>
          <a:xfrm>
            <a:off x="2627784" y="404813"/>
            <a:ext cx="6408266" cy="720725"/>
          </a:xfrm>
        </p:spPr>
        <p:txBody>
          <a:bodyPr/>
          <a:lstStyle/>
          <a:p>
            <a:pPr eaLnBrk="1" hangingPunct="1"/>
            <a:r>
              <a:rPr lang="zh-CN" altLang="en-US" dirty="0">
                <a:latin typeface="微软雅黑" panose="020B0503020204020204" pitchFamily="34" charset="-122"/>
                <a:ea typeface="微软雅黑" panose="020B0503020204020204" pitchFamily="34" charset="-122"/>
              </a:rPr>
              <a:t>字符串排序</a:t>
            </a:r>
            <a:endParaRPr lang="zh-CN" altLang="en-US" dirty="0"/>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灯片编号占位符 4"/>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b="1" dirty="0">
                <a:latin typeface="Times New Roman" panose="02020603050405020304" pitchFamily="18" charset="0"/>
              </a:rPr>
              <a:t>84</a:t>
            </a:fld>
            <a:endParaRPr lang="zh-CN" altLang="en-US" sz="1400" b="1" dirty="0">
              <a:latin typeface="Times New Roman" panose="02020603050405020304" pitchFamily="18" charset="0"/>
            </a:endParaRPr>
          </a:p>
        </p:txBody>
      </p:sp>
      <p:sp>
        <p:nvSpPr>
          <p:cNvPr id="2" name="标题 1">
            <a:extLst>
              <a:ext uri="{FF2B5EF4-FFF2-40B4-BE49-F238E27FC236}">
                <a16:creationId xmlns:a16="http://schemas.microsoft.com/office/drawing/2014/main" id="{D52D5958-43BA-487E-9D6C-B5A062361A4D}"/>
              </a:ext>
            </a:extLst>
          </p:cNvPr>
          <p:cNvSpPr>
            <a:spLocks noGrp="1"/>
          </p:cNvSpPr>
          <p:nvPr>
            <p:ph type="title"/>
          </p:nvPr>
        </p:nvSpPr>
        <p:spPr/>
        <p:txBody>
          <a:bodyPr/>
          <a:lstStyle/>
          <a:p>
            <a:endParaRPr lang="zh-CN" altLang="en-US"/>
          </a:p>
        </p:txBody>
      </p:sp>
      <p:graphicFrame>
        <p:nvGraphicFramePr>
          <p:cNvPr id="87042" name="Object 4"/>
          <p:cNvGraphicFramePr>
            <a:graphicFrameLocks noGrp="1" noChangeAspect="1"/>
          </p:cNvGraphicFramePr>
          <p:nvPr>
            <p:ph idx="1"/>
            <p:extLst>
              <p:ext uri="{D42A27DB-BD31-4B8C-83A1-F6EECF244321}">
                <p14:modId xmlns:p14="http://schemas.microsoft.com/office/powerpoint/2010/main" val="3284665671"/>
              </p:ext>
            </p:extLst>
          </p:nvPr>
        </p:nvGraphicFramePr>
        <p:xfrm>
          <a:off x="3897603" y="2996952"/>
          <a:ext cx="1239547" cy="1154361"/>
        </p:xfrm>
        <a:graphic>
          <a:graphicData uri="http://schemas.openxmlformats.org/presentationml/2006/ole">
            <mc:AlternateContent xmlns:mc="http://schemas.openxmlformats.org/markup-compatibility/2006">
              <mc:Choice xmlns:v="urn:schemas-microsoft-com:vml" Requires="v">
                <p:oleObj r:id="rId2" imgW="1132205" imgH="1054100" progId="">
                  <p:embed/>
                </p:oleObj>
              </mc:Choice>
              <mc:Fallback>
                <p:oleObj r:id="rId2" imgW="1132205" imgH="1054100" progId="">
                  <p:embed/>
                  <p:pic>
                    <p:nvPicPr>
                      <p:cNvPr id="0" name="图片 3076"/>
                      <p:cNvPicPr/>
                      <p:nvPr/>
                    </p:nvPicPr>
                    <p:blipFill>
                      <a:blip r:embed="rId3"/>
                      <a:stretch>
                        <a:fillRect/>
                      </a:stretch>
                    </p:blipFill>
                    <p:spPr>
                      <a:xfrm>
                        <a:off x="3897603" y="2996952"/>
                        <a:ext cx="1239547" cy="1154361"/>
                      </a:xfrm>
                      <a:prstGeom prst="rect">
                        <a:avLst/>
                      </a:prstGeom>
                      <a:noFill/>
                      <a:ln w="38100">
                        <a:miter/>
                      </a:ln>
                    </p:spPr>
                  </p:pic>
                </p:oleObj>
              </mc:Fallback>
            </mc:AlternateContent>
          </a:graphicData>
        </a:graphic>
      </p:graphicFrame>
    </p:spTree>
  </p:cSld>
  <p:clrMapOvr>
    <a:masterClrMapping/>
  </p:clrMapOvr>
  <p:transition/>
</p:sld>
</file>

<file path=ppt/theme/theme1.xml><?xml version="1.0" encoding="utf-8"?>
<a:theme xmlns:a="http://schemas.openxmlformats.org/drawingml/2006/main" name="计算导论与程序设计">
  <a:themeElements>
    <a:clrScheme name="计算导论与程序设计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计算导论与程序设计">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outerShdw dist="17961" dir="13500000" algn="ctr" rotWithShape="0">
            <a:schemeClr val="tx1">
              <a:gamma/>
              <a:shade val="60000"/>
              <a:invGamma/>
            </a:schemeClr>
          </a:outerShdw>
        </a:effectLst>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outerShdw dist="17961" dir="13500000" algn="ctr" rotWithShape="0">
            <a:schemeClr val="tx1">
              <a:gamma/>
              <a:shade val="60000"/>
              <a:invGamma/>
            </a:schemeClr>
          </a:outerShdw>
        </a:effectLst>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计算导论与程序设计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计算导论与程序设计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计算导论与程序设计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计算导论与程序设计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计算导论与程序设计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计算导论与程序设计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计算导论与程序设计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473</TotalTime>
  <Words>10696</Words>
  <Application>Microsoft Office PowerPoint</Application>
  <PresentationFormat>全屏显示(4:3)</PresentationFormat>
  <Paragraphs>809</Paragraphs>
  <Slides>84</Slides>
  <Notes>9</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2</vt:i4>
      </vt:variant>
      <vt:variant>
        <vt:lpstr>幻灯片标题</vt:lpstr>
      </vt:variant>
      <vt:variant>
        <vt:i4>84</vt:i4>
      </vt:variant>
    </vt:vector>
  </HeadingPairs>
  <TitlesOfParts>
    <vt:vector size="104" baseType="lpstr">
      <vt:lpstr>Arial Unicode MS</vt:lpstr>
      <vt:lpstr>Monotype Sorts</vt:lpstr>
      <vt:lpstr>System</vt:lpstr>
      <vt:lpstr>仿宋</vt:lpstr>
      <vt:lpstr>黑体</vt:lpstr>
      <vt:lpstr>楷体_GB2312</vt:lpstr>
      <vt:lpstr>宋体</vt:lpstr>
      <vt:lpstr>微软雅黑</vt:lpstr>
      <vt:lpstr>Arial</vt:lpstr>
      <vt:lpstr>Arial Black</vt:lpstr>
      <vt:lpstr>Cambria Math</vt:lpstr>
      <vt:lpstr>Consolas</vt:lpstr>
      <vt:lpstr>Symbol</vt:lpstr>
      <vt:lpstr>Times New Roman</vt:lpstr>
      <vt:lpstr>Verdana</vt:lpstr>
      <vt:lpstr>Wingdings</vt:lpstr>
      <vt:lpstr>Wingdings 2</vt:lpstr>
      <vt:lpstr>计算导论与程序设计</vt:lpstr>
      <vt:lpstr>Equation.3</vt:lpstr>
      <vt:lpstr>Visio.Drawing.11</vt:lpstr>
      <vt:lpstr>计算导论与程序设计 概念-期末回顾 </vt:lpstr>
      <vt:lpstr>什么是计算？</vt:lpstr>
      <vt:lpstr>图灵机是计算机的理论模型</vt:lpstr>
      <vt:lpstr>巴贝奇分析机-计算机的定义</vt:lpstr>
      <vt:lpstr>冯.诺依曼机体系结构</vt:lpstr>
      <vt:lpstr>布尔代数</vt:lpstr>
      <vt:lpstr>PowerPoint 演示文稿</vt:lpstr>
      <vt:lpstr>数字化技术Digital Technology</vt:lpstr>
      <vt:lpstr>练习</vt:lpstr>
      <vt:lpstr>程序的执行过程</vt:lpstr>
      <vt:lpstr>计算机指令</vt:lpstr>
      <vt:lpstr>指令的组成</vt:lpstr>
      <vt:lpstr>指令与程序</vt:lpstr>
      <vt:lpstr>PowerPoint 演示文稿</vt:lpstr>
      <vt:lpstr>   计算机系统</vt:lpstr>
      <vt:lpstr>软件的定义</vt:lpstr>
      <vt:lpstr>软件的分类</vt:lpstr>
      <vt:lpstr>计算机系统-操作系统</vt:lpstr>
      <vt:lpstr>操作系统的五大功能</vt:lpstr>
      <vt:lpstr>程序与进程的区别</vt:lpstr>
      <vt:lpstr>PowerPoint 演示文稿</vt:lpstr>
      <vt:lpstr>算法</vt:lpstr>
      <vt:lpstr>算法的属性</vt:lpstr>
      <vt:lpstr>迭代算法</vt:lpstr>
      <vt:lpstr>递归算法</vt:lpstr>
      <vt:lpstr>穷举算法</vt:lpstr>
      <vt:lpstr>有限状态机:数学模型</vt:lpstr>
      <vt:lpstr>有限状态机：设计状态转换图</vt:lpstr>
      <vt:lpstr>有限状态机的通用编码模式</vt:lpstr>
      <vt:lpstr>1.1     什么是程序设计语言</vt:lpstr>
      <vt:lpstr>PowerPoint 演示文稿</vt:lpstr>
      <vt:lpstr>1.2     程序设计语言的演化－符号语言</vt:lpstr>
      <vt:lpstr>1.2     程序设计语言的演化－高级语言</vt:lpstr>
      <vt:lpstr>1.2     程序设计语言的演化</vt:lpstr>
      <vt:lpstr>1.2     程序设计语言的演化</vt:lpstr>
      <vt:lpstr>1.4 程序设计语言的分类</vt:lpstr>
      <vt:lpstr>数据类型</vt:lpstr>
      <vt:lpstr>整数类型和浮点类型</vt:lpstr>
      <vt:lpstr> C的数据类型</vt:lpstr>
      <vt:lpstr>PowerPoint 演示文稿</vt:lpstr>
      <vt:lpstr>PowerPoint 演示文稿</vt:lpstr>
      <vt:lpstr>PowerPoint 演示文稿</vt:lpstr>
      <vt:lpstr>常量constant</vt:lpstr>
      <vt:lpstr>字符串常量</vt:lpstr>
      <vt:lpstr>表达式</vt:lpstr>
      <vt:lpstr>3.1 表达式的递归定义</vt:lpstr>
      <vt:lpstr>各类数值型数据间的混合运算 </vt:lpstr>
      <vt:lpstr>  C运算符(1)</vt:lpstr>
      <vt:lpstr> C运算符(2)</vt:lpstr>
      <vt:lpstr>运算符的优先级和结合性</vt:lpstr>
      <vt:lpstr>  逻辑运算符和逻辑表达式 </vt:lpstr>
      <vt:lpstr>赋值表达式的嵌套特性 </vt:lpstr>
      <vt:lpstr>  逗号运算符</vt:lpstr>
      <vt:lpstr>3.2 语句</vt:lpstr>
      <vt:lpstr>C语句概述</vt:lpstr>
      <vt:lpstr>3.2 语句</vt:lpstr>
      <vt:lpstr>3.2 语句</vt:lpstr>
      <vt:lpstr>控制语句</vt:lpstr>
      <vt:lpstr>输入输出语句参数</vt:lpstr>
      <vt:lpstr>结构化程序设计思想</vt:lpstr>
      <vt:lpstr>伪代码表示的算法结构</vt:lpstr>
      <vt:lpstr>程序的结构描述－流程图</vt:lpstr>
      <vt:lpstr>程序的结构描述－N-S流程图</vt:lpstr>
      <vt:lpstr>三种基本控制结构</vt:lpstr>
      <vt:lpstr>程序概念与设计</vt:lpstr>
      <vt:lpstr>5.3    子程序概念与设计</vt:lpstr>
      <vt:lpstr>函数定义的常见错误</vt:lpstr>
      <vt:lpstr>PowerPoint 演示文稿</vt:lpstr>
      <vt:lpstr>PowerPoint 演示文稿</vt:lpstr>
      <vt:lpstr>函数调用的参数传递</vt:lpstr>
      <vt:lpstr>函数原型的设计</vt:lpstr>
      <vt:lpstr>函数原型的位置</vt:lpstr>
      <vt:lpstr>函数的调用原理－栈区</vt:lpstr>
      <vt:lpstr>函数调用原理：函数栈的函数活动记录</vt:lpstr>
      <vt:lpstr>数据结构的三要素</vt:lpstr>
      <vt:lpstr>线性表</vt:lpstr>
      <vt:lpstr>数组是连续存储的线性表</vt:lpstr>
      <vt:lpstr>数组的访问与操作</vt:lpstr>
      <vt:lpstr>指针~概念与含义</vt:lpstr>
      <vt:lpstr>PowerPoint 演示文稿</vt:lpstr>
      <vt:lpstr>PowerPoint 演示文稿</vt:lpstr>
      <vt:lpstr>PowerPoint 演示文稿</vt:lpstr>
      <vt:lpstr>字符串排序</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snail smile</cp:lastModifiedBy>
  <cp:revision>122</cp:revision>
  <dcterms:created xsi:type="dcterms:W3CDTF">2017-09-22T04:39:00Z</dcterms:created>
  <dcterms:modified xsi:type="dcterms:W3CDTF">2025-12-29T07:48:20Z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ies>
</file>