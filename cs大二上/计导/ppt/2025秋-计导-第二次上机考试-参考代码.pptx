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30" r:id="rId2"/>
    <p:sldId id="640" r:id="rId3"/>
    <p:sldId id="651" r:id="rId4"/>
    <p:sldId id="652" r:id="rId5"/>
    <p:sldId id="638" r:id="rId6"/>
    <p:sldId id="641" r:id="rId7"/>
    <p:sldId id="642" r:id="rId8"/>
    <p:sldId id="653" r:id="rId9"/>
    <p:sldId id="654" r:id="rId10"/>
    <p:sldId id="655" r:id="rId11"/>
    <p:sldId id="656" r:id="rId12"/>
    <p:sldId id="657" r:id="rId13"/>
    <p:sldId id="658" r:id="rId14"/>
    <p:sldId id="556" r:id="rId15"/>
  </p:sldIdLst>
  <p:sldSz cx="9144000" cy="6858000" type="screen4x3"/>
  <p:notesSz cx="6788150" cy="99171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72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3300"/>
    <a:srgbClr val="000000"/>
    <a:srgbClr val="9966FF"/>
    <a:srgbClr val="2D35D3"/>
    <a:srgbClr val="99CCFF"/>
    <a:srgbClr val="FF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07"/>
    <p:restoredTop sz="90293" autoAdjust="0"/>
  </p:normalViewPr>
  <p:slideViewPr>
    <p:cSldViewPr showGuides="1">
      <p:cViewPr varScale="1">
        <p:scale>
          <a:sx n="60" d="100"/>
          <a:sy n="60" d="100"/>
        </p:scale>
        <p:origin x="1224" y="56"/>
      </p:cViewPr>
      <p:guideLst>
        <p:guide orient="horz" pos="4272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7762" cy="3717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0113"/>
            <a:ext cx="4978400" cy="4462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47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2025/11/24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31" name="Group 7"/>
          <p:cNvGrpSpPr/>
          <p:nvPr/>
        </p:nvGrpSpPr>
        <p:grpSpPr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    </a:t>
              </a:r>
            </a:p>
          </p:txBody>
        </p:sp>
        <p:sp>
          <p:nvSpPr>
            <p:cNvPr id="1036" name="Line 9"/>
            <p:cNvSpPr/>
            <p:nvPr/>
          </p:nvSpPr>
          <p:spPr>
            <a:xfrm>
              <a:off x="4464" y="4032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7" name="Line 10"/>
            <p:cNvSpPr/>
            <p:nvPr/>
          </p:nvSpPr>
          <p:spPr>
            <a:xfrm>
              <a:off x="4176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8" name="Line 11"/>
            <p:cNvSpPr/>
            <p:nvPr/>
          </p:nvSpPr>
          <p:spPr>
            <a:xfrm>
              <a:off x="4704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9" name="Line 12"/>
            <p:cNvSpPr/>
            <p:nvPr/>
          </p:nvSpPr>
          <p:spPr>
            <a:xfrm>
              <a:off x="5376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0" name="Line 13"/>
            <p:cNvSpPr/>
            <p:nvPr/>
          </p:nvSpPr>
          <p:spPr>
            <a:xfrm>
              <a:off x="5184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1" name="Line 14"/>
            <p:cNvSpPr/>
            <p:nvPr/>
          </p:nvSpPr>
          <p:spPr>
            <a:xfrm>
              <a:off x="5568" y="4032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2" name="Line 15"/>
            <p:cNvSpPr/>
            <p:nvPr/>
          </p:nvSpPr>
          <p:spPr>
            <a:xfrm>
              <a:off x="4992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2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Picture 18" descr="bup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奇偶位之和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268760"/>
            <a:ext cx="82996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isOddEvenEqualed</a:t>
            </a:r>
            <a:r>
              <a:rPr lang="en-US" altLang="zh-CN" sz="2400" dirty="0"/>
              <a:t>(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 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		</a:t>
            </a:r>
            <a:r>
              <a:rPr lang="en-US" altLang="zh-CN" sz="2400" dirty="0" err="1"/>
              <a:t>sumOdd</a:t>
            </a:r>
            <a:r>
              <a:rPr lang="en-US" altLang="zh-CN" sz="2400" dirty="0"/>
              <a:t> , </a:t>
            </a:r>
            <a:r>
              <a:rPr lang="en-US" altLang="zh-CN" sz="2400" dirty="0" err="1"/>
              <a:t>sumEven</a:t>
            </a:r>
            <a:r>
              <a:rPr lang="en-US" altLang="zh-CN" sz="2400" dirty="0"/>
              <a:t> , </a:t>
            </a:r>
            <a:r>
              <a:rPr lang="en-US" altLang="zh-CN" sz="2400" dirty="0" err="1"/>
              <a:t>isOdd</a:t>
            </a:r>
            <a:r>
              <a:rPr lang="en-US" altLang="zh-CN" sz="2400" dirty="0"/>
              <a:t> = 1;</a:t>
            </a:r>
          </a:p>
          <a:p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sumOdd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sumEven</a:t>
            </a:r>
            <a:r>
              <a:rPr lang="en-US" altLang="zh-CN" sz="2400" dirty="0"/>
              <a:t> = 0;</a:t>
            </a:r>
          </a:p>
          <a:p>
            <a:r>
              <a:rPr lang="en-US" altLang="zh-CN" sz="2400" dirty="0"/>
              <a:t>	while (n != 0){</a:t>
            </a:r>
          </a:p>
          <a:p>
            <a:r>
              <a:rPr lang="en-US" altLang="zh-CN" sz="2400" dirty="0"/>
              <a:t>		if (</a:t>
            </a:r>
            <a:r>
              <a:rPr lang="en-US" altLang="zh-CN" sz="2400" dirty="0" err="1"/>
              <a:t>isOdd</a:t>
            </a:r>
            <a:r>
              <a:rPr lang="en-US" altLang="zh-CN" sz="2400" dirty="0"/>
              <a:t>)	</a:t>
            </a:r>
            <a:r>
              <a:rPr lang="en-US" altLang="zh-CN" sz="2400" dirty="0" err="1"/>
              <a:t>sumOdd</a:t>
            </a:r>
            <a:r>
              <a:rPr lang="en-US" altLang="zh-CN" sz="2400" dirty="0"/>
              <a:t>	+= n % 10;</a:t>
            </a:r>
          </a:p>
          <a:p>
            <a:r>
              <a:rPr lang="en-US" altLang="zh-CN" sz="2400" dirty="0"/>
              <a:t>		else		</a:t>
            </a:r>
            <a:r>
              <a:rPr lang="en-US" altLang="zh-CN" sz="2400" dirty="0" err="1"/>
              <a:t>sumEven</a:t>
            </a:r>
            <a:r>
              <a:rPr lang="en-US" altLang="zh-CN" sz="2400" dirty="0"/>
              <a:t>	+= n % 10;</a:t>
            </a:r>
          </a:p>
          <a:p>
            <a:r>
              <a:rPr lang="en-US" altLang="zh-CN" sz="2400" dirty="0"/>
              <a:t>		n /= 10 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isOdd</a:t>
            </a:r>
            <a:r>
              <a:rPr lang="en-US" altLang="zh-CN" sz="2400" dirty="0"/>
              <a:t> = (</a:t>
            </a:r>
            <a:r>
              <a:rPr lang="en-US" altLang="zh-CN" sz="2400" dirty="0" err="1"/>
              <a:t>isOdd</a:t>
            </a:r>
            <a:r>
              <a:rPr lang="en-US" altLang="zh-CN" sz="2400" dirty="0"/>
              <a:t> + 1) % 2;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	</a:t>
            </a:r>
          </a:p>
          <a:p>
            <a:r>
              <a:rPr lang="en-US" altLang="zh-CN" sz="2400" dirty="0"/>
              <a:t>	return </a:t>
            </a:r>
            <a:r>
              <a:rPr lang="en-US" altLang="zh-CN" sz="2400" dirty="0" err="1"/>
              <a:t>sumOdd</a:t>
            </a:r>
            <a:r>
              <a:rPr lang="en-US" altLang="zh-CN" sz="2400" dirty="0"/>
              <a:t> == </a:t>
            </a:r>
            <a:r>
              <a:rPr lang="en-US" altLang="zh-CN" sz="2400" dirty="0" err="1"/>
              <a:t>sumEven</a:t>
            </a:r>
            <a:r>
              <a:rPr lang="en-US" altLang="zh-CN" sz="2400" dirty="0"/>
              <a:t> 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3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2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质因数数位之和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94025" y="1340768"/>
            <a:ext cx="83255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// </a:t>
            </a:r>
            <a:r>
              <a:rPr lang="zh-CN" altLang="en-US" sz="2800" dirty="0"/>
              <a:t>计算数字之和 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digitSum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) </a:t>
            </a:r>
          </a:p>
          <a:p>
            <a:r>
              <a:rPr lang="en-US" altLang="zh-CN" sz="2800" dirty="0"/>
              <a:t>{ 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sum = 0; </a:t>
            </a:r>
          </a:p>
          <a:p>
            <a:r>
              <a:rPr lang="en-US" altLang="zh-CN" sz="2800" dirty="0"/>
              <a:t>	while (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 &gt; 0){ </a:t>
            </a:r>
          </a:p>
          <a:p>
            <a:r>
              <a:rPr lang="en-US" altLang="zh-CN" sz="2800" dirty="0"/>
              <a:t>		sum += 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 % 10; </a:t>
            </a:r>
          </a:p>
          <a:p>
            <a:r>
              <a:rPr lang="en-US" altLang="zh-CN" sz="2800" dirty="0"/>
              <a:t>		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 /= 10; </a:t>
            </a:r>
          </a:p>
          <a:p>
            <a:r>
              <a:rPr lang="en-US" altLang="zh-CN" sz="2800" dirty="0"/>
              <a:t>	}</a:t>
            </a:r>
          </a:p>
          <a:p>
            <a:r>
              <a:rPr lang="en-US" altLang="zh-CN" sz="2800" dirty="0"/>
              <a:t>	return sum; </a:t>
            </a:r>
          </a:p>
          <a:p>
            <a:r>
              <a:rPr lang="en-US" altLang="zh-C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153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/>
              <a:t>质因数数位之和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513610" y="1151721"/>
            <a:ext cx="832559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// </a:t>
            </a:r>
            <a:r>
              <a:rPr lang="zh-CN" altLang="en-US" sz="2800" dirty="0"/>
              <a:t>质因数分解并计算质因数的数字之和 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primeFactorDigitSum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n) { 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		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, sum = 0; 	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2 ;</a:t>
            </a:r>
          </a:p>
          <a:p>
            <a:r>
              <a:rPr lang="en-US" altLang="zh-CN" sz="2800" dirty="0"/>
              <a:t>	while(n != 1) {</a:t>
            </a:r>
          </a:p>
          <a:p>
            <a:r>
              <a:rPr lang="en-US" altLang="zh-CN" sz="2800" dirty="0"/>
              <a:t>		if (n %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== 0) {</a:t>
            </a:r>
          </a:p>
          <a:p>
            <a:r>
              <a:rPr lang="en-US" altLang="zh-CN" sz="2800" dirty="0"/>
              <a:t>			sum += </a:t>
            </a:r>
            <a:r>
              <a:rPr lang="en-US" altLang="zh-CN" sz="2800" dirty="0" err="1"/>
              <a:t>digitSum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/>
              <a:t>			n /=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;</a:t>
            </a:r>
          </a:p>
          <a:p>
            <a:r>
              <a:rPr lang="en-US" altLang="zh-CN" sz="2800" dirty="0"/>
              <a:t>		}</a:t>
            </a:r>
          </a:p>
          <a:p>
            <a:r>
              <a:rPr lang="en-US" altLang="zh-CN" sz="2800" dirty="0"/>
              <a:t>		else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+= 1 ;</a:t>
            </a:r>
          </a:p>
          <a:p>
            <a:r>
              <a:rPr lang="en-US" altLang="zh-CN" sz="2800" dirty="0"/>
              <a:t>	}</a:t>
            </a:r>
          </a:p>
          <a:p>
            <a:r>
              <a:rPr lang="en-US" altLang="zh-CN" sz="2800" dirty="0"/>
              <a:t>	return sum; </a:t>
            </a:r>
          </a:p>
          <a:p>
            <a:r>
              <a:rPr lang="en-US" altLang="zh-C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891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/>
              <a:t>质因数数位之和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323528" y="1340768"/>
            <a:ext cx="88204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int</a:t>
            </a:r>
            <a:r>
              <a:rPr lang="en-US" altLang="zh-CN" sz="2800" dirty="0"/>
              <a:t>	</a:t>
            </a:r>
            <a:r>
              <a:rPr lang="en-US" altLang="zh-CN" sz="2800" dirty="0" err="1"/>
              <a:t>isSumOfDigitsEqualed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n){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	</a:t>
            </a:r>
            <a:r>
              <a:rPr lang="en-US" altLang="zh-CN" sz="2800" dirty="0" err="1"/>
              <a:t>sumDigits</a:t>
            </a:r>
            <a:r>
              <a:rPr lang="en-US" altLang="zh-CN" sz="2800" dirty="0"/>
              <a:t> , </a:t>
            </a:r>
            <a:r>
              <a:rPr lang="en-US" altLang="zh-CN" sz="2800" dirty="0" err="1"/>
              <a:t>sumPrimeDigits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	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sumDigits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digitSum</a:t>
            </a:r>
            <a:r>
              <a:rPr lang="en-US" altLang="zh-CN" sz="2800" dirty="0"/>
              <a:t>(n); 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sumPrimeDigits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primeFactorDigitSum</a:t>
            </a:r>
            <a:r>
              <a:rPr lang="en-US" altLang="zh-CN" sz="2800" dirty="0"/>
              <a:t>(n);</a:t>
            </a:r>
          </a:p>
          <a:p>
            <a:r>
              <a:rPr lang="en-US" altLang="zh-CN" sz="2800" dirty="0"/>
              <a:t>	</a:t>
            </a:r>
          </a:p>
          <a:p>
            <a:r>
              <a:rPr lang="en-US" altLang="zh-CN" sz="2800" dirty="0"/>
              <a:t>	return </a:t>
            </a:r>
            <a:r>
              <a:rPr lang="en-US" altLang="zh-CN" sz="2800" dirty="0" err="1"/>
              <a:t>sumDigits</a:t>
            </a:r>
            <a:r>
              <a:rPr lang="en-US" altLang="zh-CN" sz="2800" dirty="0"/>
              <a:t> == </a:t>
            </a:r>
            <a:r>
              <a:rPr lang="en-US" altLang="zh-CN" sz="2800" dirty="0" err="1"/>
              <a:t>sumPrimeDigits</a:t>
            </a:r>
            <a:r>
              <a:rPr lang="en-US" altLang="zh-CN" sz="2800" dirty="0"/>
              <a:t> ? 1 : 0 ;</a:t>
            </a:r>
          </a:p>
          <a:p>
            <a:r>
              <a:rPr lang="en-US" altLang="zh-CN" sz="2800" dirty="0"/>
              <a:t>}</a:t>
            </a:r>
          </a:p>
          <a:p>
            <a:r>
              <a:rPr lang="en-US" altLang="zh-CN" sz="2800" dirty="0"/>
              <a:t>//</a:t>
            </a:r>
            <a:r>
              <a:rPr lang="zh-CN" altLang="en-US" sz="2800" dirty="0"/>
              <a:t>或者</a:t>
            </a:r>
            <a:endParaRPr lang="en-US" altLang="zh-CN" sz="2800" dirty="0"/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	</a:t>
            </a:r>
            <a:r>
              <a:rPr lang="en-US" altLang="zh-CN" sz="2800" dirty="0" err="1"/>
              <a:t>isSumOfDigitsEqualed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n){</a:t>
            </a:r>
          </a:p>
          <a:p>
            <a:r>
              <a:rPr lang="en-US" altLang="zh-CN" sz="2800" dirty="0"/>
              <a:t>	return </a:t>
            </a:r>
            <a:r>
              <a:rPr lang="en-US" altLang="zh-CN" sz="2800" dirty="0" err="1"/>
              <a:t>digitSum</a:t>
            </a:r>
            <a:r>
              <a:rPr lang="en-US" altLang="zh-CN" sz="2800" dirty="0"/>
              <a:t>(n) == </a:t>
            </a:r>
            <a:r>
              <a:rPr lang="en-US" altLang="zh-CN" sz="2800" dirty="0" err="1"/>
              <a:t>primeFactorDigitSum</a:t>
            </a:r>
            <a:r>
              <a:rPr lang="en-US" altLang="zh-CN" sz="2800" dirty="0"/>
              <a:t>(n) ;</a:t>
            </a:r>
          </a:p>
          <a:p>
            <a:r>
              <a:rPr lang="en-US" altLang="zh-C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570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5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孙子定理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6764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	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, n , solution = 0;</a:t>
            </a:r>
          </a:p>
          <a:p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 , &amp;n);</a:t>
            </a:r>
          </a:p>
          <a:p>
            <a:r>
              <a:rPr lang="en-US" altLang="zh-CN" sz="2400" dirty="0"/>
              <a:t>	for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n + 1 ; solution == 0 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++){</a:t>
            </a:r>
          </a:p>
          <a:p>
            <a:r>
              <a:rPr lang="en-US" altLang="zh-CN" sz="2400" dirty="0"/>
              <a:t>		if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% 83 == 2 &amp;&amp;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% 89 == 3 &amp;&amp;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% 97 == 2 )</a:t>
            </a:r>
          </a:p>
          <a:p>
            <a:r>
              <a:rPr lang="en-US" altLang="zh-CN" sz="2400" dirty="0"/>
              <a:t>			solution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}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("%d\n" , solution);</a:t>
            </a:r>
          </a:p>
          <a:p>
            <a:endParaRPr lang="en-US" altLang="zh-CN" sz="2400" dirty="0"/>
          </a:p>
          <a:p>
            <a:r>
              <a:rPr lang="en-US" altLang="zh-CN" sz="2400" dirty="0"/>
              <a:t>	return 0 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447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6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最大公约数比较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44150" y="729570"/>
            <a:ext cx="837165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		n , number1 , number2 , count;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 , &amp;n) ;  </a:t>
            </a:r>
          </a:p>
          <a:p>
            <a:r>
              <a:rPr lang="en-US" altLang="zh-CN" sz="2400" dirty="0"/>
              <a:t>	while (n--){</a:t>
            </a:r>
          </a:p>
          <a:p>
            <a:r>
              <a:rPr lang="en-US" altLang="zh-CN" sz="2400" dirty="0"/>
              <a:t>		count = 0 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 , &amp;number1 , &amp;number2);</a:t>
            </a:r>
          </a:p>
          <a:p>
            <a:r>
              <a:rPr lang="en-US" altLang="zh-CN" sz="2400" dirty="0"/>
              <a:t>		while (number1 != 0 &amp;&amp; number2 != 0){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		//</a:t>
            </a:r>
            <a:r>
              <a:rPr lang="en-US" altLang="zh-CN" sz="2400" dirty="0" err="1">
                <a:solidFill>
                  <a:srgbClr val="FF0000"/>
                </a:solidFill>
              </a:rPr>
              <a:t>gcd</a:t>
            </a:r>
            <a:r>
              <a:rPr lang="zh-CN" altLang="en-US" sz="2400" dirty="0">
                <a:solidFill>
                  <a:srgbClr val="FF0000"/>
                </a:solidFill>
              </a:rPr>
              <a:t>是求最大公约数函数，需要自己实现</a:t>
            </a:r>
            <a:endParaRPr lang="en-US" altLang="zh-CN" sz="2400" dirty="0"/>
          </a:p>
          <a:p>
            <a:r>
              <a:rPr lang="en-US" altLang="zh-CN" sz="2400" dirty="0"/>
              <a:t>			if (</a:t>
            </a:r>
            <a:r>
              <a:rPr lang="en-US" altLang="zh-CN" sz="2400" dirty="0" err="1">
                <a:solidFill>
                  <a:srgbClr val="FF0000"/>
                </a:solidFill>
              </a:rPr>
              <a:t>gcd</a:t>
            </a:r>
            <a:r>
              <a:rPr lang="en-US" altLang="zh-CN" sz="2400" dirty="0">
                <a:solidFill>
                  <a:srgbClr val="FF0000"/>
                </a:solidFill>
              </a:rPr>
              <a:t>(number1,number2) </a:t>
            </a:r>
            <a:r>
              <a:rPr lang="en-US" altLang="zh-CN" sz="2400" dirty="0"/>
              <a:t>&gt; 100)</a:t>
            </a:r>
          </a:p>
          <a:p>
            <a:r>
              <a:rPr lang="en-US" altLang="zh-CN" sz="2400" dirty="0"/>
              <a:t>				count++ ;	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 , &amp;number1 , &amp;number2);</a:t>
            </a:r>
          </a:p>
          <a:p>
            <a:r>
              <a:rPr lang="en-US" altLang="zh-CN" sz="2400" dirty="0"/>
              <a:t>		}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("%d\n" , count);</a:t>
            </a:r>
          </a:p>
          <a:p>
            <a:r>
              <a:rPr lang="en-US" altLang="zh-CN" sz="2400" dirty="0"/>
              <a:t>	}    </a:t>
            </a:r>
          </a:p>
          <a:p>
            <a:r>
              <a:rPr lang="en-US" altLang="zh-CN" sz="2400" dirty="0"/>
              <a:t>    return 0 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380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7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最值问题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56850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 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		T , count , N , max1, max2 ,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 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&amp;T);</a:t>
            </a:r>
          </a:p>
          <a:p>
            <a:r>
              <a:rPr lang="en-US" altLang="zh-CN" sz="2400" dirty="0"/>
              <a:t>	while (T--) 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&amp;N);</a:t>
            </a:r>
          </a:p>
          <a:p>
            <a:r>
              <a:rPr lang="en-US" altLang="zh-CN" sz="2400" dirty="0"/>
              <a:t>        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&amp;max1);</a:t>
            </a:r>
          </a:p>
          <a:p>
            <a:r>
              <a:rPr lang="en-US" altLang="zh-CN" sz="2400" dirty="0"/>
              <a:t>		count = 1 ;</a:t>
            </a:r>
          </a:p>
          <a:p>
            <a:r>
              <a:rPr lang="en-US" altLang="zh-CN" sz="2400" dirty="0"/>
              <a:t>        		do {</a:t>
            </a:r>
          </a:p>
          <a:p>
            <a:r>
              <a:rPr lang="en-US" altLang="zh-CN" sz="2400" dirty="0"/>
              <a:t>            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);</a:t>
            </a:r>
          </a:p>
          <a:p>
            <a:r>
              <a:rPr lang="en-US" altLang="zh-CN" sz="2400" dirty="0"/>
              <a:t>            		count ++ ;</a:t>
            </a:r>
          </a:p>
          <a:p>
            <a:r>
              <a:rPr lang="en-US" altLang="zh-CN" sz="2400" dirty="0"/>
              <a:t>		} while (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== max1);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找到一个不同的值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		if (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&gt; max1) {max2 = max1;      max1 =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;} </a:t>
            </a:r>
          </a:p>
          <a:p>
            <a:r>
              <a:rPr lang="en-US" altLang="zh-CN" sz="2400" dirty="0"/>
              <a:t>		else	max2 =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给出当前的最大值和次大值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66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8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最值问题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340768"/>
            <a:ext cx="83716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	for ( ; count &lt; N; count ++) 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("%d", &amp;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);</a:t>
            </a:r>
          </a:p>
          <a:p>
            <a:r>
              <a:rPr lang="en-US" altLang="zh-CN" sz="2400" dirty="0"/>
              <a:t>		if (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&gt; max1) {</a:t>
            </a:r>
          </a:p>
          <a:p>
            <a:r>
              <a:rPr lang="en-US" altLang="zh-CN" sz="2400" dirty="0"/>
              <a:t>                		max2 = max1; </a:t>
            </a:r>
          </a:p>
          <a:p>
            <a:r>
              <a:rPr lang="en-US" altLang="zh-CN" sz="2400" dirty="0"/>
              <a:t>			max1 =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 </a:t>
            </a:r>
          </a:p>
          <a:p>
            <a:r>
              <a:rPr lang="en-US" altLang="zh-CN" sz="2400" dirty="0"/>
              <a:t>		} </a:t>
            </a:r>
          </a:p>
          <a:p>
            <a:r>
              <a:rPr lang="en-US" altLang="zh-CN" sz="2400" dirty="0"/>
              <a:t>		else if (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&gt; max2 &amp;&amp;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!= max1) </a:t>
            </a:r>
          </a:p>
          <a:p>
            <a:r>
              <a:rPr lang="en-US" altLang="zh-CN" sz="2400" dirty="0"/>
              <a:t>			max2 =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 %d\n", max1, max2);</a:t>
            </a:r>
          </a:p>
          <a:p>
            <a:r>
              <a:rPr lang="en-US" altLang="zh-CN" sz="2400" dirty="0"/>
              <a:t>    }</a:t>
            </a:r>
          </a:p>
          <a:p>
            <a:r>
              <a:rPr lang="en-US" altLang="zh-CN" sz="2400" dirty="0"/>
              <a:t>    return 0;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949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920D1-1EC3-F07C-774C-AA3B7DFB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04264-0F98-3433-6B55-6A3A873D6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#include&lt;stdio.h&gt;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ST 0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H1 1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H2 2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M1 3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M2 4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ERR 7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OK 8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#define END 9 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int t,state,i,hour1;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char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019547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8FCF-8847-A7B5-B867-2C247748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29434-CA45-CCF2-F0CF-E364FA59E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0766C2-E57F-A813-6DD4-39DE4B6B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d",&amp;t</a:t>
            </a:r>
            <a:r>
              <a:rPr lang="en-US" altLang="zh-CN" sz="2400" dirty="0">
                <a:latin typeface="Consolas" panose="020B0609020204030204" pitchFamily="49" charset="0"/>
              </a:rPr>
              <a:t>); </a:t>
            </a:r>
            <a:r>
              <a:rPr lang="en-US" altLang="zh-CN" sz="2400" dirty="0" err="1">
                <a:latin typeface="Consolas" panose="020B0609020204030204" pitchFamily="49" charset="0"/>
              </a:rPr>
              <a:t>getchar</a:t>
            </a:r>
            <a:r>
              <a:rPr lang="en-US" altLang="zh-CN" sz="2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=1;i&lt;=</a:t>
            </a:r>
            <a:r>
              <a:rPr lang="en-US" altLang="zh-CN" sz="2400" dirty="0" err="1">
                <a:latin typeface="Consolas" panose="020B0609020204030204" pitchFamily="49" charset="0"/>
              </a:rPr>
              <a:t>t;i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state=ST;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while (state!=END){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getchar</a:t>
            </a:r>
            <a:r>
              <a:rPr lang="en-US" altLang="zh-CN" sz="2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=='\n'){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if (state==OK)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("yes\n");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else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("no\n");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state=END; 						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38665962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14A6-2211-6D65-226A-C8C28526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EE005-7111-06BB-670A-2FE9A9CE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5DEEF3-A509-4E6D-6A2A-B823EFCFA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58501"/>
            <a:ext cx="889248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switch(state){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ST: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&gt;='0'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&lt;='2'){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state=H1;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hour1=ch-'0';					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else state=ERR;	break;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H1: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((hour1==2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&gt;='0'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&lt;='3')||(hour1&lt;2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isdigit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state=H2;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else state=ERR;	break;</a:t>
            </a:r>
          </a:p>
        </p:txBody>
      </p:sp>
    </p:spTree>
    <p:extLst>
      <p:ext uri="{BB962C8B-B14F-4D97-AF65-F5344CB8AC3E}">
        <p14:creationId xmlns:p14="http://schemas.microsoft.com/office/powerpoint/2010/main" val="34827740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EE31-1189-2A2A-2C34-C0E58705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D56B3-AA4F-ED38-45A2-1F21C3C8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CD5059-C4BF-65C4-708B-F8A9FA9AD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8520" y="1319213"/>
            <a:ext cx="90010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H2: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==':')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state=M1; 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else state=ERR;	break;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M1: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&gt;='0'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&lt;='5')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state=M2;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else state=ERR;	break;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M2: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&gt;='0'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&lt;='9')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state=OK;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else state=ERR;	break;</a:t>
            </a:r>
          </a:p>
        </p:txBody>
      </p:sp>
    </p:spTree>
    <p:extLst>
      <p:ext uri="{BB962C8B-B14F-4D97-AF65-F5344CB8AC3E}">
        <p14:creationId xmlns:p14="http://schemas.microsoft.com/office/powerpoint/2010/main" val="62855825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49D1-C012-69F7-2A60-97688510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5394A-AA52-1F69-B234-8E822201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420C7C-6686-74F1-64A4-E2A177A14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19213"/>
            <a:ext cx="8784976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case OK: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if (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!='\n')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			state=ERR;	break;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return 0;	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88886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14</a:t>
            </a:fld>
            <a:endParaRPr lang="zh-CN" altLang="en-US" sz="1400" b="1" dirty="0"/>
          </a:p>
        </p:txBody>
      </p:sp>
      <p:graphicFrame>
        <p:nvGraphicFramePr>
          <p:cNvPr id="92163" name="Object 4"/>
          <p:cNvGraphicFramePr>
            <a:graphicFrameLocks noGrp="1" noChangeAspect="1"/>
          </p:cNvGraphicFramePr>
          <p:nvPr>
            <p:ph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MS_ClipArt_Gallery.2">
                  <p:embed/>
                </p:oleObj>
              </mc:Choice>
              <mc:Fallback>
                <p:oleObj r:id="rId2" imgW="1132205" imgH="105410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786</TotalTime>
  <Words>1245</Words>
  <Application>Microsoft Office PowerPoint</Application>
  <PresentationFormat>全屏显示(4:3)</PresentationFormat>
  <Paragraphs>181</Paragraphs>
  <Slides>14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Consolas</vt:lpstr>
      <vt:lpstr>Times New Roman</vt:lpstr>
      <vt:lpstr>Wingdings</vt:lpstr>
      <vt:lpstr>经分互动规范介绍</vt:lpstr>
      <vt:lpstr>MS_ClipArt_Gallery.2</vt:lpstr>
      <vt:lpstr>奇偶位之和</vt:lpstr>
      <vt:lpstr>质因数数位之和</vt:lpstr>
      <vt:lpstr>质因数数位之和</vt:lpstr>
      <vt:lpstr>质因数数位之和</vt:lpstr>
      <vt:lpstr>孙子定理</vt:lpstr>
      <vt:lpstr>最大公约数比较</vt:lpstr>
      <vt:lpstr>最值问题</vt:lpstr>
      <vt:lpstr>最值问题</vt:lpstr>
      <vt:lpstr>时间格式</vt:lpstr>
      <vt:lpstr>时间格式</vt:lpstr>
      <vt:lpstr>时间格式</vt:lpstr>
      <vt:lpstr>时间格式</vt:lpstr>
      <vt:lpstr>时间格式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cyzhou</dc:creator>
  <cp:lastModifiedBy>snail smile</cp:lastModifiedBy>
  <cp:revision>2131</cp:revision>
  <dcterms:created xsi:type="dcterms:W3CDTF">2001-07-15T23:49:29Z</dcterms:created>
  <dcterms:modified xsi:type="dcterms:W3CDTF">2025-11-24T07:58:19Z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