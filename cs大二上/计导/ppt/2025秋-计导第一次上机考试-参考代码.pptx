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630" r:id="rId2"/>
    <p:sldId id="640" r:id="rId3"/>
    <p:sldId id="638" r:id="rId4"/>
    <p:sldId id="641" r:id="rId5"/>
    <p:sldId id="642" r:id="rId6"/>
    <p:sldId id="643" r:id="rId7"/>
    <p:sldId id="639" r:id="rId8"/>
    <p:sldId id="646" r:id="rId9"/>
    <p:sldId id="633" r:id="rId10"/>
    <p:sldId id="647" r:id="rId11"/>
    <p:sldId id="631" r:id="rId12"/>
    <p:sldId id="648" r:id="rId13"/>
    <p:sldId id="649" r:id="rId14"/>
    <p:sldId id="650" r:id="rId15"/>
    <p:sldId id="556" r:id="rId16"/>
  </p:sldIdLst>
  <p:sldSz cx="9144000" cy="6858000" type="screen4x3"/>
  <p:notesSz cx="6788150" cy="9917113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72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F3300"/>
    <a:srgbClr val="000000"/>
    <a:srgbClr val="9966FF"/>
    <a:srgbClr val="2D35D3"/>
    <a:srgbClr val="99CCFF"/>
    <a:srgbClr val="FF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07"/>
    <p:restoredTop sz="90293" autoAdjust="0"/>
  </p:normalViewPr>
  <p:slideViewPr>
    <p:cSldViewPr showGuides="1">
      <p:cViewPr varScale="1">
        <p:scale>
          <a:sx n="66" d="100"/>
          <a:sy n="66" d="100"/>
        </p:scale>
        <p:origin x="1248" y="60"/>
      </p:cViewPr>
      <p:guideLst>
        <p:guide orient="horz" pos="4272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6513" y="0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188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57762" cy="37179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10113"/>
            <a:ext cx="4978400" cy="4462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6513" y="9421813"/>
            <a:ext cx="2941638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2" cy="5526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10288" cy="5526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319213"/>
            <a:ext cx="7772400" cy="46116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BEC639-4607-44E5-B81A-20E7801E74D1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2025/10/26</a:t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64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spcBef>
                <a:spcPct val="50000"/>
              </a:spcBef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1031" name="Group 7"/>
          <p:cNvGrpSpPr/>
          <p:nvPr/>
        </p:nvGrpSpPr>
        <p:grpSpPr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     </a:t>
              </a:r>
            </a:p>
          </p:txBody>
        </p:sp>
        <p:sp>
          <p:nvSpPr>
            <p:cNvPr id="1036" name="Line 9"/>
            <p:cNvSpPr/>
            <p:nvPr/>
          </p:nvSpPr>
          <p:spPr>
            <a:xfrm>
              <a:off x="4464" y="4032"/>
              <a:ext cx="288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7" name="Line 10"/>
            <p:cNvSpPr/>
            <p:nvPr/>
          </p:nvSpPr>
          <p:spPr>
            <a:xfrm>
              <a:off x="4176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8" name="Line 11"/>
            <p:cNvSpPr/>
            <p:nvPr/>
          </p:nvSpPr>
          <p:spPr>
            <a:xfrm>
              <a:off x="4704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9" name="Line 12"/>
            <p:cNvSpPr/>
            <p:nvPr/>
          </p:nvSpPr>
          <p:spPr>
            <a:xfrm>
              <a:off x="5376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0" name="Line 13"/>
            <p:cNvSpPr/>
            <p:nvPr/>
          </p:nvSpPr>
          <p:spPr>
            <a:xfrm>
              <a:off x="5184" y="4032"/>
              <a:ext cx="384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1" name="Line 14"/>
            <p:cNvSpPr/>
            <p:nvPr/>
          </p:nvSpPr>
          <p:spPr>
            <a:xfrm>
              <a:off x="5568" y="4032"/>
              <a:ext cx="192" cy="144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2" name="Line 15"/>
            <p:cNvSpPr/>
            <p:nvPr/>
          </p:nvSpPr>
          <p:spPr>
            <a:xfrm>
              <a:off x="4992" y="4032"/>
              <a:ext cx="336" cy="288"/>
            </a:xfrm>
            <a:prstGeom prst="line">
              <a:avLst/>
            </a:prstGeom>
            <a:ln w="571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2" name="Line 16"/>
          <p:cNvSpPr/>
          <p:nvPr/>
        </p:nvSpPr>
        <p:spPr>
          <a:xfrm>
            <a:off x="468313" y="1176338"/>
            <a:ext cx="8458200" cy="0"/>
          </a:xfrm>
          <a:prstGeom prst="line">
            <a:avLst/>
          </a:prstGeom>
          <a:ln w="57150" cap="flat" cmpd="sng">
            <a:solidFill>
              <a:srgbClr val="33CC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3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Picture 18" descr="bup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发工资（分支版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268760"/>
            <a:ext cx="82996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endParaRPr lang="en-US" altLang="zh-CN" sz="2400" dirty="0"/>
          </a:p>
          <a:p>
            <a:r>
              <a:rPr lang="en-US" altLang="zh-CN" sz="2400" dirty="0"/>
              <a:t>#define		FIFTY		50</a:t>
            </a:r>
          </a:p>
          <a:p>
            <a:r>
              <a:rPr lang="en-US" altLang="zh-CN" sz="2400" dirty="0"/>
              <a:t>#define		TWENTY		20</a:t>
            </a:r>
          </a:p>
          <a:p>
            <a:r>
              <a:rPr lang="en-US" altLang="zh-CN" sz="2400" dirty="0"/>
              <a:t>#define		TEN			10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	salary;</a:t>
            </a:r>
          </a:p>
          <a:p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("%d" , &amp;salary);</a:t>
            </a:r>
          </a:p>
          <a:p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330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2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发工资（分支版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513610" y="1151721"/>
            <a:ext cx="832559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	if (salary / FIFTY &gt; 0){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("%d:%d\n" , FIFTY , salary / FIFTY);</a:t>
            </a:r>
          </a:p>
          <a:p>
            <a:r>
              <a:rPr lang="en-US" altLang="zh-CN" sz="2400" dirty="0"/>
              <a:t>		salary = salary % FIFTY 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if (salary / TWENTY &gt; 0){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("%d:%d\n" , TWENTY , 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					salary </a:t>
            </a:r>
            <a:r>
              <a:rPr lang="en-US" altLang="zh-CN" sz="2400" dirty="0"/>
              <a:t>/ TWENTY);</a:t>
            </a:r>
          </a:p>
          <a:p>
            <a:r>
              <a:rPr lang="en-US" altLang="zh-CN" sz="2400" dirty="0"/>
              <a:t>		salary = salary % TWENTY 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if (salary / TEN &gt; 0){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("%d:%d\n" , TEN , salary / TEN);</a:t>
            </a:r>
          </a:p>
          <a:p>
            <a:r>
              <a:rPr lang="en-US" altLang="zh-CN" sz="2400" dirty="0"/>
              <a:t>	}</a:t>
            </a:r>
          </a:p>
          <a:p>
            <a:r>
              <a:rPr lang="en-US" altLang="zh-CN" sz="2400" dirty="0"/>
              <a:t>	return 0 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1531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3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两个</a:t>
            </a:r>
            <a:r>
              <a:rPr lang="zh-CN" altLang="en-US" b="1" dirty="0" smtClean="0"/>
              <a:t>矩形解法一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2996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 smtClean="0"/>
              <a:t>&gt;</a:t>
            </a:r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 {</a:t>
            </a:r>
          </a:p>
          <a:p>
            <a:r>
              <a:rPr lang="en-US" altLang="zh-CN" sz="2400" dirty="0"/>
              <a:t>    double x1, y1, w1, </a:t>
            </a:r>
            <a:r>
              <a:rPr lang="en-US" altLang="zh-CN" sz="2400" dirty="0" smtClean="0"/>
              <a:t>h1,x2</a:t>
            </a:r>
            <a:r>
              <a:rPr lang="en-US" altLang="zh-CN" sz="2400" dirty="0"/>
              <a:t>, y2, w2, h2;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no_overlap</a:t>
            </a:r>
            <a:r>
              <a:rPr lang="en-US" altLang="zh-CN" sz="2400" dirty="0"/>
              <a:t> = 0</a:t>
            </a:r>
            <a:r>
              <a:rPr lang="en-US" altLang="zh-CN" sz="2400" dirty="0" smtClean="0"/>
              <a:t>;    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lf%lf%lf%lf</a:t>
            </a:r>
            <a:r>
              <a:rPr lang="en-US" altLang="zh-CN" sz="2400" dirty="0"/>
              <a:t>", &amp;x1, &amp;y1, &amp;w1, &amp;h1);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lf%lf%lf%lf</a:t>
            </a:r>
            <a:r>
              <a:rPr lang="en-US" altLang="zh-CN" sz="2400" dirty="0"/>
              <a:t>", &amp;x2, &amp;y2, &amp;w2, &amp;h2</a:t>
            </a:r>
            <a:r>
              <a:rPr lang="en-US" altLang="zh-CN" sz="2400" dirty="0" smtClean="0"/>
              <a:t>);    </a:t>
            </a:r>
            <a:endParaRPr lang="en-US" altLang="zh-CN" sz="2400" dirty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double </a:t>
            </a:r>
            <a:r>
              <a:rPr lang="en-US" altLang="zh-CN" sz="2400" dirty="0"/>
              <a:t>left1 = x1 - w1 / 2</a:t>
            </a:r>
            <a:r>
              <a:rPr lang="en-US" altLang="zh-CN" sz="2400" dirty="0" smtClean="0"/>
              <a:t>;		 </a:t>
            </a:r>
            <a:r>
              <a:rPr lang="en-US" altLang="zh-CN" sz="2400" dirty="0"/>
              <a:t>// </a:t>
            </a:r>
            <a:r>
              <a:rPr lang="zh-CN" altLang="en-US" sz="2400" dirty="0"/>
              <a:t>计算矩形</a:t>
            </a:r>
            <a:r>
              <a:rPr lang="en-US" altLang="zh-CN" sz="2400" dirty="0"/>
              <a:t>1</a:t>
            </a:r>
            <a:r>
              <a:rPr lang="zh-CN" altLang="en-US" sz="2400" dirty="0" smtClean="0"/>
              <a:t>边界</a:t>
            </a:r>
            <a:endParaRPr lang="en-US" altLang="zh-CN" sz="2400" dirty="0"/>
          </a:p>
          <a:p>
            <a:r>
              <a:rPr lang="en-US" altLang="zh-CN" sz="2400" dirty="0"/>
              <a:t>    double right1 = x1 + w1 / 2;</a:t>
            </a:r>
          </a:p>
          <a:p>
            <a:r>
              <a:rPr lang="en-US" altLang="zh-CN" sz="2400" dirty="0"/>
              <a:t>    double bottom1 = y1 - h1 / 2;</a:t>
            </a:r>
          </a:p>
          <a:p>
            <a:r>
              <a:rPr lang="en-US" altLang="zh-CN" sz="2400" dirty="0"/>
              <a:t>    double top1 = y1 + h1 / 2</a:t>
            </a:r>
            <a:r>
              <a:rPr lang="en-US" altLang="zh-CN" sz="2400" dirty="0" smtClean="0"/>
              <a:t>;    </a:t>
            </a:r>
            <a:endParaRPr lang="en-US" altLang="zh-CN" sz="2400" dirty="0"/>
          </a:p>
          <a:p>
            <a:r>
              <a:rPr lang="en-US" altLang="zh-CN" sz="2400" dirty="0" smtClean="0"/>
              <a:t>    double </a:t>
            </a:r>
            <a:r>
              <a:rPr lang="en-US" altLang="zh-CN" sz="2400" dirty="0"/>
              <a:t>left2 = x2 - w2 / 2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	// </a:t>
            </a:r>
            <a:r>
              <a:rPr lang="zh-CN" altLang="en-US" sz="2400" dirty="0"/>
              <a:t>计算矩形</a:t>
            </a:r>
            <a:r>
              <a:rPr lang="en-US" altLang="zh-CN" sz="2400" dirty="0"/>
              <a:t>2</a:t>
            </a:r>
            <a:r>
              <a:rPr lang="zh-CN" altLang="en-US" sz="2400" dirty="0" smtClean="0"/>
              <a:t>边界</a:t>
            </a:r>
            <a:endParaRPr lang="en-US" altLang="zh-CN" sz="2400" dirty="0"/>
          </a:p>
          <a:p>
            <a:r>
              <a:rPr lang="en-US" altLang="zh-CN" sz="2400" dirty="0"/>
              <a:t>    double right2 = x2 + w2 / 2;</a:t>
            </a:r>
          </a:p>
          <a:p>
            <a:r>
              <a:rPr lang="en-US" altLang="zh-CN" sz="2400" dirty="0"/>
              <a:t>    double bottom2 = y2 - h2 / 2;</a:t>
            </a:r>
          </a:p>
          <a:p>
            <a:r>
              <a:rPr lang="en-US" altLang="zh-CN" sz="2400" dirty="0"/>
              <a:t>    double top2 = y2 + h2 / 2</a:t>
            </a:r>
            <a:r>
              <a:rPr lang="en-US" altLang="zh-CN" sz="2400" dirty="0" smtClean="0"/>
              <a:t>;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044798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两个</a:t>
            </a:r>
            <a:r>
              <a:rPr lang="zh-CN" altLang="en-US" b="1" dirty="0" smtClean="0"/>
              <a:t>矩形解法一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92899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    </a:t>
            </a:r>
            <a:r>
              <a:rPr lang="en-US" altLang="zh-CN" sz="2400" dirty="0"/>
              <a:t>// </a:t>
            </a:r>
            <a:r>
              <a:rPr lang="zh-CN" altLang="en-US" sz="2400" dirty="0"/>
              <a:t>判断无重叠（矩形</a:t>
            </a:r>
            <a:r>
              <a:rPr lang="en-US" altLang="zh-CN" sz="2400" dirty="0"/>
              <a:t>2</a:t>
            </a:r>
            <a:r>
              <a:rPr lang="zh-CN" altLang="en-US" sz="2400" dirty="0"/>
              <a:t>完全在矩形</a:t>
            </a:r>
            <a:r>
              <a:rPr lang="en-US" altLang="zh-CN" sz="2400" dirty="0"/>
              <a:t>1</a:t>
            </a:r>
            <a:r>
              <a:rPr lang="zh-CN" altLang="en-US" sz="2400" dirty="0"/>
              <a:t>外）    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/>
              <a:t>if (right2 &lt; left1 || left2 &gt; right1) </a:t>
            </a:r>
            <a:r>
              <a:rPr lang="en-US" altLang="zh-CN" sz="2400" dirty="0" err="1"/>
              <a:t>no_overlap</a:t>
            </a:r>
            <a:r>
              <a:rPr lang="en-US" altLang="zh-CN" sz="2400" dirty="0"/>
              <a:t> = 1; // </a:t>
            </a:r>
            <a:r>
              <a:rPr lang="zh-CN" altLang="en-US" sz="2400" dirty="0"/>
              <a:t>左右分离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/>
              <a:t>if (top2 &lt; bottom1 || bottom2 &gt; top1) </a:t>
            </a:r>
            <a:r>
              <a:rPr lang="en-US" altLang="zh-CN" sz="2400" dirty="0" err="1"/>
              <a:t>no_overlap</a:t>
            </a:r>
            <a:r>
              <a:rPr lang="en-US" altLang="zh-CN" sz="2400" dirty="0"/>
              <a:t> = 1; // </a:t>
            </a:r>
            <a:r>
              <a:rPr lang="zh-CN" altLang="en-US" sz="2400" dirty="0"/>
              <a:t>上下分离    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/>
              <a:t>if (</a:t>
            </a:r>
            <a:r>
              <a:rPr lang="en-US" altLang="zh-CN" sz="2400" dirty="0" err="1"/>
              <a:t>no_overlap</a:t>
            </a:r>
            <a:r>
              <a:rPr lang="en-US" altLang="zh-CN" sz="2400" dirty="0"/>
              <a:t>) {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("does not overlap\n");</a:t>
            </a:r>
          </a:p>
          <a:p>
            <a:r>
              <a:rPr lang="en-US" altLang="zh-CN" sz="2400" dirty="0"/>
              <a:t>        return 0;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}    </a:t>
            </a:r>
            <a:endParaRPr lang="en-US" altLang="zh-CN" sz="2400" dirty="0"/>
          </a:p>
          <a:p>
            <a:r>
              <a:rPr lang="en-US" altLang="zh-CN" sz="2400" dirty="0"/>
              <a:t>    // </a:t>
            </a:r>
            <a:r>
              <a:rPr lang="zh-CN" altLang="en-US" sz="2400" dirty="0"/>
              <a:t>判断矩形</a:t>
            </a:r>
            <a:r>
              <a:rPr lang="en-US" altLang="zh-CN" sz="2400" dirty="0"/>
              <a:t>2</a:t>
            </a:r>
            <a:r>
              <a:rPr lang="zh-CN" altLang="en-US" sz="2400" dirty="0"/>
              <a:t>是否在矩形</a:t>
            </a:r>
            <a:r>
              <a:rPr lang="en-US" altLang="zh-CN" sz="2400" dirty="0"/>
              <a:t>1</a:t>
            </a:r>
            <a:r>
              <a:rPr lang="zh-CN" altLang="en-US" sz="2400" dirty="0"/>
              <a:t>内部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/>
              <a:t>if (left2 &gt;= left1 &amp;&amp; right2 &lt;= right1 &amp;&amp; </a:t>
            </a:r>
            <a:endParaRPr lang="en-US" altLang="zh-CN" sz="2400" dirty="0" smtClean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	bottom2 </a:t>
            </a:r>
            <a:r>
              <a:rPr lang="en-US" altLang="zh-CN" sz="2400" dirty="0"/>
              <a:t>&gt;= bottom1 &amp;&amp; top2 &lt;= top1) {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("inside\n");</a:t>
            </a:r>
          </a:p>
          <a:p>
            <a:r>
              <a:rPr lang="en-US" altLang="zh-CN" sz="2400" dirty="0"/>
              <a:t>    } else {</a:t>
            </a:r>
          </a:p>
          <a:p>
            <a:r>
              <a:rPr lang="en-US" altLang="zh-CN" sz="2400" dirty="0"/>
              <a:t> 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("overlaps\n");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}    </a:t>
            </a:r>
            <a:endParaRPr lang="en-US" altLang="zh-CN" sz="2400" dirty="0"/>
          </a:p>
          <a:p>
            <a:r>
              <a:rPr lang="en-US" altLang="zh-CN" sz="2400" dirty="0"/>
              <a:t>    return 0;</a:t>
            </a:r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380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5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两个</a:t>
            </a:r>
            <a:r>
              <a:rPr lang="zh-CN" altLang="en-US" b="1" dirty="0" smtClean="0"/>
              <a:t>矩形解法二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67544" y="1167260"/>
            <a:ext cx="8371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 &lt;</a:t>
            </a:r>
            <a:r>
              <a:rPr lang="en-US" altLang="zh-CN" sz="2400" dirty="0" err="1"/>
              <a:t>stdio.h</a:t>
            </a:r>
            <a:r>
              <a:rPr lang="en-US" altLang="zh-CN" sz="2400" dirty="0" smtClean="0"/>
              <a:t>&gt;</a:t>
            </a:r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double	x1 , y1 , w1 , h1 , </a:t>
            </a:r>
            <a:r>
              <a:rPr lang="en-US" altLang="zh-CN" sz="2400" dirty="0" err="1"/>
              <a:t>xDistance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double	x2 , y2 , w2 , h2 , </a:t>
            </a:r>
            <a:r>
              <a:rPr lang="en-US" altLang="zh-CN" sz="2400" dirty="0" err="1"/>
              <a:t>yDistance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lf%lf%lf%lf</a:t>
            </a:r>
            <a:r>
              <a:rPr lang="en-US" altLang="zh-CN" sz="2400" dirty="0"/>
              <a:t>" , &amp;x1 , &amp;y1 , &amp;w1 ,&amp;h1);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lf%lf%lf%lf</a:t>
            </a:r>
            <a:r>
              <a:rPr lang="en-US" altLang="zh-CN" sz="2400" dirty="0"/>
              <a:t>" , &amp;x2 , &amp;y2 , &amp;w2 ,&amp;h2</a:t>
            </a:r>
            <a:r>
              <a:rPr lang="en-US" altLang="zh-CN" sz="2400" dirty="0" smtClean="0"/>
              <a:t>);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if ( x1 &gt;= x2 </a:t>
            </a:r>
            <a:r>
              <a:rPr lang="en-US" altLang="zh-CN" sz="2400" dirty="0" smtClean="0"/>
              <a:t>)</a:t>
            </a:r>
            <a:r>
              <a:rPr lang="en-US" altLang="zh-CN" sz="2400" dirty="0"/>
              <a:t>	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xDistance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x1 - x2;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else</a:t>
            </a:r>
            <a:r>
              <a:rPr lang="en-US" altLang="zh-CN" sz="2400" dirty="0"/>
              <a:t>		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xDistance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x2 - x1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if ( y1 &gt;= y2 </a:t>
            </a:r>
            <a:r>
              <a:rPr lang="en-US" altLang="zh-CN" sz="2400" dirty="0" smtClean="0"/>
              <a:t>)   </a:t>
            </a:r>
            <a:r>
              <a:rPr lang="en-US" altLang="zh-CN" sz="2400" dirty="0"/>
              <a:t>	</a:t>
            </a:r>
            <a:r>
              <a:rPr lang="en-US" altLang="zh-CN" sz="2400" dirty="0" err="1"/>
              <a:t>yDistance</a:t>
            </a:r>
            <a:r>
              <a:rPr lang="en-US" altLang="zh-CN" sz="2400" dirty="0"/>
              <a:t> = y1 - y2;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else</a:t>
            </a:r>
            <a:r>
              <a:rPr lang="en-US" altLang="zh-CN" sz="2400" dirty="0"/>
              <a:t>		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yDistance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= y2 - y1;</a:t>
            </a:r>
          </a:p>
          <a:p>
            <a:r>
              <a:rPr lang="en-US" altLang="zh-CN" sz="2400" dirty="0"/>
              <a:t>	// </a:t>
            </a:r>
            <a:r>
              <a:rPr lang="en-US" altLang="zh-CN" sz="2400" dirty="0" err="1"/>
              <a:t>xDistance</a:t>
            </a:r>
            <a:r>
              <a:rPr lang="en-US" altLang="zh-CN" sz="2400" dirty="0"/>
              <a:t> = x1 &gt;= x2 ? x1 - x2 : x2 - x1;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	// </a:t>
            </a:r>
            <a:r>
              <a:rPr lang="en-US" altLang="zh-CN" sz="2400" dirty="0" err="1"/>
              <a:t>yDistance</a:t>
            </a:r>
            <a:r>
              <a:rPr lang="en-US" altLang="zh-CN" sz="2400" dirty="0"/>
              <a:t> = y1 &gt;= y2 ? y1 - y2 : y2 - y1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9466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6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两个</a:t>
            </a:r>
            <a:r>
              <a:rPr lang="zh-CN" altLang="en-US" b="1" dirty="0" smtClean="0"/>
              <a:t>矩形解法二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541338" y="1556792"/>
            <a:ext cx="860266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 </a:t>
            </a:r>
            <a:r>
              <a:rPr lang="en-US" altLang="zh-CN" sz="2400" dirty="0" smtClean="0"/>
              <a:t>   if </a:t>
            </a:r>
            <a:r>
              <a:rPr lang="en-US" altLang="zh-CN" sz="2400" dirty="0"/>
              <a:t>(</a:t>
            </a:r>
            <a:r>
              <a:rPr lang="en-US" altLang="zh-CN" sz="2400" dirty="0" err="1"/>
              <a:t>xDistance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&lt; </a:t>
            </a:r>
            <a:r>
              <a:rPr lang="en-US" altLang="zh-CN" sz="2400" dirty="0"/>
              <a:t>(w1 - w2) / 2 &amp;&amp; </a:t>
            </a:r>
            <a:r>
              <a:rPr lang="en-US" altLang="zh-CN" sz="2400" dirty="0" err="1"/>
              <a:t>yDistance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&lt;(</a:t>
            </a:r>
            <a:r>
              <a:rPr lang="en-US" altLang="zh-CN" sz="2400" dirty="0"/>
              <a:t>h1 - h2) / 2)</a:t>
            </a:r>
          </a:p>
          <a:p>
            <a:r>
              <a:rPr lang="en-US" altLang="zh-CN" sz="2400" dirty="0"/>
              <a:t>      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("inside\n");	//r2 is inside r1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else </a:t>
            </a:r>
            <a:r>
              <a:rPr lang="en-US" altLang="zh-CN" sz="2400" dirty="0"/>
              <a:t>if (</a:t>
            </a:r>
            <a:r>
              <a:rPr lang="en-US" altLang="zh-CN" sz="2400" dirty="0" err="1"/>
              <a:t>xDistance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&lt; </a:t>
            </a:r>
            <a:r>
              <a:rPr lang="en-US" altLang="zh-CN" sz="2400" dirty="0"/>
              <a:t>(w1 + w2) / 2 &amp;&amp; </a:t>
            </a:r>
            <a:r>
              <a:rPr lang="en-US" altLang="zh-CN" sz="2400" dirty="0" err="1"/>
              <a:t>yDistance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&lt; </a:t>
            </a:r>
            <a:r>
              <a:rPr lang="en-US" altLang="zh-CN" sz="2400" dirty="0"/>
              <a:t>(h1 + h2) / 2)</a:t>
            </a:r>
          </a:p>
          <a:p>
            <a:r>
              <a:rPr lang="en-US" altLang="zh-CN" sz="2400" dirty="0"/>
              <a:t>      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("overlaps\n");	</a:t>
            </a:r>
            <a:r>
              <a:rPr lang="en-US" altLang="zh-CN" sz="2400" dirty="0" smtClean="0"/>
              <a:t>//r2 </a:t>
            </a:r>
            <a:r>
              <a:rPr lang="en-US" altLang="zh-CN" sz="2400" dirty="0"/>
              <a:t>overlaps r1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else</a:t>
            </a:r>
            <a:endParaRPr lang="en-US" altLang="zh-CN" sz="2400" dirty="0"/>
          </a:p>
          <a:p>
            <a:r>
              <a:rPr lang="en-US" altLang="zh-CN" sz="2400" dirty="0"/>
              <a:t>      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("does not overlap\n</a:t>
            </a:r>
            <a:r>
              <a:rPr lang="en-US" altLang="zh-CN" sz="2400" dirty="0" smtClean="0"/>
              <a:t>");//r2 </a:t>
            </a:r>
            <a:r>
              <a:rPr lang="en-US" altLang="zh-CN" sz="2400" dirty="0"/>
              <a:t>does not overlap r1</a:t>
            </a:r>
          </a:p>
          <a:p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return </a:t>
            </a:r>
            <a:r>
              <a:rPr lang="en-US" altLang="zh-CN" sz="2400" dirty="0"/>
              <a:t>0 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3318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7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斯诺</a:t>
            </a:r>
            <a:r>
              <a:rPr lang="zh-CN" altLang="en-US" b="1" dirty="0" smtClean="0"/>
              <a:t>克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22176" y="1144943"/>
            <a:ext cx="841702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</a:p>
          <a:p>
            <a:endParaRPr lang="en-US" altLang="zh-CN" sz="2400" dirty="0"/>
          </a:p>
          <a:p>
            <a:r>
              <a:rPr lang="en-US" altLang="zh-CN" sz="2400" dirty="0"/>
              <a:t>#define		RED		1</a:t>
            </a:r>
          </a:p>
          <a:p>
            <a:r>
              <a:rPr lang="en-US" altLang="zh-CN" sz="2400" dirty="0"/>
              <a:t>#define		YELLOW	2</a:t>
            </a:r>
          </a:p>
          <a:p>
            <a:r>
              <a:rPr lang="en-US" altLang="zh-CN" sz="2400" dirty="0"/>
              <a:t>#define		GREEN	3</a:t>
            </a:r>
          </a:p>
          <a:p>
            <a:r>
              <a:rPr lang="en-US" altLang="zh-CN" sz="2400" dirty="0"/>
              <a:t>#define		BROWN	4</a:t>
            </a:r>
          </a:p>
          <a:p>
            <a:r>
              <a:rPr lang="en-US" altLang="zh-CN" sz="2400" dirty="0"/>
              <a:t>#define		BLUE	</a:t>
            </a:r>
            <a:r>
              <a:rPr lang="en-US" altLang="zh-CN" sz="2400" dirty="0" smtClean="0"/>
              <a:t>	5</a:t>
            </a:r>
            <a:endParaRPr lang="en-US" altLang="zh-CN" sz="2400" dirty="0"/>
          </a:p>
          <a:p>
            <a:r>
              <a:rPr lang="en-US" altLang="zh-CN" sz="2400" dirty="0"/>
              <a:t>#define		PINK	</a:t>
            </a:r>
            <a:r>
              <a:rPr lang="en-US" altLang="zh-CN" sz="2400" dirty="0" smtClean="0"/>
              <a:t>	6</a:t>
            </a:r>
            <a:endParaRPr lang="en-US" altLang="zh-CN" sz="2400" dirty="0"/>
          </a:p>
          <a:p>
            <a:r>
              <a:rPr lang="en-US" altLang="zh-CN" sz="2400" dirty="0"/>
              <a:t>#define		BLACK	7</a:t>
            </a:r>
          </a:p>
          <a:p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main()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char 	ball;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	</a:t>
            </a:r>
            <a:r>
              <a:rPr lang="en-US" altLang="zh-CN" sz="2400" dirty="0" smtClean="0"/>
              <a:t>scores </a:t>
            </a:r>
            <a:r>
              <a:rPr lang="en-US" altLang="zh-CN" sz="2400" dirty="0"/>
              <a:t>= 0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1951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8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斯诺</a:t>
            </a:r>
            <a:r>
              <a:rPr lang="zh-CN" altLang="en-US" b="1" dirty="0" smtClean="0"/>
              <a:t>克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012EF8-1951-4FA6-9E29-5E4536B89EE1}"/>
              </a:ext>
            </a:extLst>
          </p:cNvPr>
          <p:cNvSpPr/>
          <p:nvPr/>
        </p:nvSpPr>
        <p:spPr>
          <a:xfrm>
            <a:off x="423438" y="1125538"/>
            <a:ext cx="872182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("%c" , &amp;ball);</a:t>
            </a:r>
          </a:p>
          <a:p>
            <a:r>
              <a:rPr lang="en-US" altLang="zh-CN" sz="2400" dirty="0"/>
              <a:t>	while(ball != '\n'){</a:t>
            </a:r>
          </a:p>
          <a:p>
            <a:r>
              <a:rPr lang="en-US" altLang="zh-CN" sz="2400" dirty="0"/>
              <a:t>		switch ( ball ) {</a:t>
            </a:r>
          </a:p>
          <a:p>
            <a:r>
              <a:rPr lang="en-US" altLang="zh-CN" sz="2400" dirty="0"/>
              <a:t>			case 'R' : scores += RED ;		break ;</a:t>
            </a:r>
          </a:p>
          <a:p>
            <a:r>
              <a:rPr lang="en-US" altLang="zh-CN" sz="2400" dirty="0"/>
              <a:t>			case 'Y' : scores += YELLOW ;	break ;</a:t>
            </a:r>
          </a:p>
          <a:p>
            <a:r>
              <a:rPr lang="en-US" altLang="zh-CN" sz="2400" dirty="0"/>
              <a:t>			case 'G' : scores += GREEN ;	break ;</a:t>
            </a:r>
          </a:p>
          <a:p>
            <a:r>
              <a:rPr lang="en-US" altLang="zh-CN" sz="2400" dirty="0"/>
              <a:t>			case 'W' : scores += BROWN ;	break ;</a:t>
            </a:r>
          </a:p>
          <a:p>
            <a:r>
              <a:rPr lang="en-US" altLang="zh-CN" sz="2400" dirty="0"/>
              <a:t>			case 'U' : scores += BLUE ;		break ;</a:t>
            </a:r>
          </a:p>
          <a:p>
            <a:r>
              <a:rPr lang="en-US" altLang="zh-CN" sz="2400" dirty="0"/>
              <a:t>			case 'P' : scores += PINK ;		break ;</a:t>
            </a:r>
          </a:p>
          <a:p>
            <a:r>
              <a:rPr lang="en-US" altLang="zh-CN" sz="2400" dirty="0"/>
              <a:t>			case 'B' : scores += BLACK ;	break </a:t>
            </a:r>
            <a:r>
              <a:rPr lang="en-US" altLang="zh-CN" sz="2400" dirty="0" smtClean="0"/>
              <a:t>;</a:t>
            </a:r>
            <a:endParaRPr lang="en-US" altLang="zh-CN" sz="2400" dirty="0"/>
          </a:p>
          <a:p>
            <a:r>
              <a:rPr lang="en-US" altLang="zh-CN" sz="2400" dirty="0"/>
              <a:t>		}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("%c" , &amp;ball);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>	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("%d\n" , scores</a:t>
            </a:r>
            <a:r>
              <a:rPr lang="en-US" altLang="zh-CN" sz="2400" dirty="0" smtClean="0"/>
              <a:t>);</a:t>
            </a:r>
            <a:endParaRPr lang="en-US" altLang="zh-CN" sz="2400" dirty="0"/>
          </a:p>
          <a:p>
            <a:r>
              <a:rPr lang="en-US" altLang="zh-CN" sz="2400" dirty="0"/>
              <a:t>	return 0 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6675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9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身高</a:t>
            </a:r>
            <a:r>
              <a:rPr lang="zh-CN" altLang="en-US" b="1" dirty="0" smtClean="0"/>
              <a:t>变换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3B88A5-B78C-4068-A421-2027C291F3B9}"/>
              </a:ext>
            </a:extLst>
          </p:cNvPr>
          <p:cNvSpPr/>
          <p:nvPr/>
        </p:nvSpPr>
        <p:spPr>
          <a:xfrm>
            <a:off x="395536" y="1268760"/>
            <a:ext cx="82996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dirty="0"/>
              <a:t>#include&lt;stdio.h</a:t>
            </a:r>
            <a:r>
              <a:rPr lang="pt-BR" altLang="zh-CN" sz="2400" dirty="0" smtClean="0"/>
              <a:t>&gt;</a:t>
            </a:r>
            <a:endParaRPr lang="pt-BR" altLang="zh-CN" sz="2400" dirty="0"/>
          </a:p>
          <a:p>
            <a:endParaRPr lang="pt-BR" altLang="zh-CN" sz="2400" dirty="0"/>
          </a:p>
          <a:p>
            <a:r>
              <a:rPr lang="pt-BR" altLang="zh-CN" sz="2400" dirty="0"/>
              <a:t>int main()</a:t>
            </a:r>
          </a:p>
          <a:p>
            <a:r>
              <a:rPr lang="pt-BR" altLang="zh-CN" sz="2400" dirty="0"/>
              <a:t>{</a:t>
            </a:r>
          </a:p>
          <a:p>
            <a:r>
              <a:rPr lang="pt-BR" altLang="zh-CN" sz="2400" dirty="0" smtClean="0"/>
              <a:t>    const</a:t>
            </a:r>
            <a:r>
              <a:rPr lang="pt-BR" altLang="zh-CN" sz="2400" dirty="0"/>
              <a:t>	double FEET_TO_METERS = 0.3048;</a:t>
            </a:r>
          </a:p>
          <a:p>
            <a:r>
              <a:rPr lang="pt-BR" altLang="zh-CN" sz="2400" dirty="0"/>
              <a:t>    const	double INCHES_TO_METERS = 0.0254;</a:t>
            </a:r>
          </a:p>
          <a:p>
            <a:r>
              <a:rPr lang="pt-BR" altLang="zh-CN" sz="2400" dirty="0"/>
              <a:t>    const	int INCHES_TO_DECIMILLIMETERS = 254;</a:t>
            </a:r>
          </a:p>
          <a:p>
            <a:r>
              <a:rPr lang="pt-BR" altLang="zh-CN" sz="2400" dirty="0"/>
              <a:t>    const	int	FEET_TO_INCHES = 12</a:t>
            </a:r>
            <a:r>
              <a:rPr lang="pt-BR" altLang="zh-CN" sz="2400" dirty="0" smtClean="0"/>
              <a:t>;    </a:t>
            </a:r>
            <a:endParaRPr lang="pt-BR" altLang="zh-CN" sz="2400" dirty="0"/>
          </a:p>
          <a:p>
            <a:r>
              <a:rPr lang="pt-BR" altLang="zh-CN" sz="2400" dirty="0"/>
              <a:t>    </a:t>
            </a:r>
          </a:p>
          <a:p>
            <a:r>
              <a:rPr lang="pt-BR" altLang="zh-CN" sz="2400" dirty="0" smtClean="0"/>
              <a:t>    int </a:t>
            </a:r>
            <a:r>
              <a:rPr lang="pt-BR" altLang="zh-CN" sz="2400" dirty="0"/>
              <a:t>	num , flag , feet ,inches , decimillimeter;</a:t>
            </a:r>
          </a:p>
          <a:p>
            <a:r>
              <a:rPr lang="pt-BR" altLang="zh-CN" sz="2400" dirty="0"/>
              <a:t>	</a:t>
            </a:r>
          </a:p>
          <a:p>
            <a:r>
              <a:rPr lang="pt-BR" altLang="zh-CN" sz="2400" dirty="0" smtClean="0"/>
              <a:t>    scanf</a:t>
            </a:r>
            <a:r>
              <a:rPr lang="pt-BR" altLang="zh-CN" sz="2400" dirty="0"/>
              <a:t>("%d" , &amp;num</a:t>
            </a:r>
            <a:r>
              <a:rPr lang="pt-BR" altLang="zh-CN" sz="2400" dirty="0" smtClean="0"/>
              <a:t>);</a:t>
            </a:r>
            <a:endParaRPr lang="pt-BR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7261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10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身高</a:t>
            </a:r>
            <a:r>
              <a:rPr lang="zh-CN" altLang="en-US" b="1" dirty="0" smtClean="0"/>
              <a:t>变换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3B88A5-B78C-4068-A421-2027C291F3B9}"/>
              </a:ext>
            </a:extLst>
          </p:cNvPr>
          <p:cNvSpPr/>
          <p:nvPr/>
        </p:nvSpPr>
        <p:spPr>
          <a:xfrm>
            <a:off x="397322" y="1046390"/>
            <a:ext cx="950505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dirty="0" smtClean="0"/>
              <a:t>while</a:t>
            </a:r>
            <a:r>
              <a:rPr lang="pt-BR" altLang="zh-CN" sz="2400" dirty="0"/>
              <a:t>( num-- ){</a:t>
            </a:r>
          </a:p>
          <a:p>
            <a:r>
              <a:rPr lang="pt-BR" altLang="zh-CN" sz="2400" dirty="0" smtClean="0"/>
              <a:t>    scanf</a:t>
            </a:r>
            <a:r>
              <a:rPr lang="pt-BR" altLang="zh-CN" sz="2400" dirty="0"/>
              <a:t>("%d" , &amp;flag);</a:t>
            </a:r>
          </a:p>
          <a:p>
            <a:r>
              <a:rPr lang="pt-BR" altLang="zh-CN" sz="2400" dirty="0" smtClean="0"/>
              <a:t>    if </a:t>
            </a:r>
            <a:r>
              <a:rPr lang="pt-BR" altLang="zh-CN" sz="2400" dirty="0"/>
              <a:t>( flag == 1 ){</a:t>
            </a:r>
          </a:p>
          <a:p>
            <a:r>
              <a:rPr lang="pt-BR" altLang="zh-CN" sz="2400" dirty="0" smtClean="0"/>
              <a:t>	scanf</a:t>
            </a:r>
            <a:r>
              <a:rPr lang="pt-BR" altLang="zh-CN" sz="2400" dirty="0"/>
              <a:t>("%d%d" , &amp;feet ,&amp;inches);</a:t>
            </a:r>
          </a:p>
          <a:p>
            <a:r>
              <a:rPr lang="pt-BR" altLang="zh-CN" sz="2400" dirty="0"/>
              <a:t>	</a:t>
            </a:r>
            <a:r>
              <a:rPr lang="pt-BR" altLang="zh-CN" sz="2400" dirty="0" smtClean="0"/>
              <a:t>printf</a:t>
            </a:r>
            <a:r>
              <a:rPr lang="pt-BR" altLang="zh-CN" sz="2400" dirty="0"/>
              <a:t>("%.2f\n" , feet * FEET_TO_METERS </a:t>
            </a:r>
            <a:endParaRPr lang="pt-BR" altLang="zh-CN" sz="2400" dirty="0" smtClean="0"/>
          </a:p>
          <a:p>
            <a:r>
              <a:rPr lang="pt-BR" altLang="zh-CN" sz="2400" dirty="0"/>
              <a:t> </a:t>
            </a:r>
            <a:r>
              <a:rPr lang="pt-BR" altLang="zh-CN" sz="2400" dirty="0" smtClean="0"/>
              <a:t>                                         + </a:t>
            </a:r>
            <a:r>
              <a:rPr lang="pt-BR" altLang="zh-CN" sz="2400" dirty="0"/>
              <a:t>inches * INCHES_TO_METERS);</a:t>
            </a:r>
          </a:p>
          <a:p>
            <a:r>
              <a:rPr lang="pt-BR" altLang="zh-CN" sz="2400" dirty="0" smtClean="0"/>
              <a:t>    }</a:t>
            </a:r>
            <a:endParaRPr lang="pt-BR" altLang="zh-CN" sz="2400" dirty="0"/>
          </a:p>
          <a:p>
            <a:r>
              <a:rPr lang="pt-BR" altLang="zh-CN" sz="2400" dirty="0"/>
              <a:t> </a:t>
            </a:r>
            <a:r>
              <a:rPr lang="pt-BR" altLang="zh-CN" sz="2400" dirty="0" smtClean="0"/>
              <a:t>   else </a:t>
            </a:r>
            <a:r>
              <a:rPr lang="pt-BR" altLang="zh-CN" sz="2400" dirty="0"/>
              <a:t>{</a:t>
            </a:r>
          </a:p>
          <a:p>
            <a:r>
              <a:rPr lang="pt-BR" altLang="zh-CN" sz="2400" dirty="0"/>
              <a:t>	</a:t>
            </a:r>
            <a:r>
              <a:rPr lang="pt-BR" altLang="zh-CN" sz="2400" dirty="0" smtClean="0"/>
              <a:t>scanf</a:t>
            </a:r>
            <a:r>
              <a:rPr lang="pt-BR" altLang="zh-CN" sz="2400" dirty="0"/>
              <a:t>("%d" , &amp;decimillimeter);</a:t>
            </a:r>
          </a:p>
          <a:p>
            <a:r>
              <a:rPr lang="pt-BR" altLang="zh-CN" sz="2400" dirty="0"/>
              <a:t>	</a:t>
            </a:r>
            <a:r>
              <a:rPr lang="pt-BR" altLang="zh-CN" sz="2400" dirty="0" smtClean="0"/>
              <a:t>inches </a:t>
            </a:r>
            <a:r>
              <a:rPr lang="pt-BR" altLang="zh-CN" sz="2400" dirty="0"/>
              <a:t>= decimillimeter / INCHES_TO_DECIMILLIMETERS ;</a:t>
            </a:r>
          </a:p>
          <a:p>
            <a:r>
              <a:rPr lang="pt-BR" altLang="zh-CN" sz="2400" dirty="0"/>
              <a:t>	</a:t>
            </a:r>
            <a:r>
              <a:rPr lang="pt-BR" altLang="zh-CN" sz="2400" dirty="0" smtClean="0"/>
              <a:t>printf</a:t>
            </a:r>
            <a:r>
              <a:rPr lang="pt-BR" altLang="zh-CN" sz="2400" dirty="0"/>
              <a:t>("%d %d %d\n" , inches / FEET_TO_INCHES , </a:t>
            </a:r>
            <a:endParaRPr lang="pt-BR" altLang="zh-CN" sz="2400" dirty="0" smtClean="0"/>
          </a:p>
          <a:p>
            <a:r>
              <a:rPr lang="pt-BR" altLang="zh-CN" sz="2400" dirty="0"/>
              <a:t> </a:t>
            </a:r>
            <a:r>
              <a:rPr lang="pt-BR" altLang="zh-CN" sz="2400" dirty="0" smtClean="0"/>
              <a:t>                                           inches </a:t>
            </a:r>
            <a:r>
              <a:rPr lang="pt-BR" altLang="zh-CN" sz="2400" dirty="0"/>
              <a:t>% FEET_TO_INCHES ,</a:t>
            </a:r>
          </a:p>
          <a:p>
            <a:r>
              <a:rPr lang="pt-BR" altLang="zh-CN" sz="2400" dirty="0"/>
              <a:t>	</a:t>
            </a:r>
            <a:r>
              <a:rPr lang="pt-BR" altLang="zh-CN" sz="2400" dirty="0" smtClean="0"/>
              <a:t>decimillimeter </a:t>
            </a:r>
            <a:r>
              <a:rPr lang="pt-BR" altLang="zh-CN" sz="2400" dirty="0"/>
              <a:t>% INCHES_TO_DECIMILLIMETERS) </a:t>
            </a:r>
            <a:r>
              <a:rPr lang="pt-BR" altLang="zh-CN" sz="2400" dirty="0" smtClean="0"/>
              <a:t>;</a:t>
            </a:r>
          </a:p>
          <a:p>
            <a:r>
              <a:rPr lang="pt-BR" altLang="zh-CN" sz="2400" dirty="0"/>
              <a:t> </a:t>
            </a:r>
            <a:r>
              <a:rPr lang="pt-BR" altLang="zh-CN" sz="2400" dirty="0" smtClean="0"/>
              <a:t>   }</a:t>
            </a:r>
            <a:endParaRPr lang="pt-BR" altLang="zh-CN" sz="2400" dirty="0"/>
          </a:p>
          <a:p>
            <a:r>
              <a:rPr lang="pt-BR" altLang="zh-CN" sz="2400" dirty="0" smtClean="0"/>
              <a:t>}</a:t>
            </a:r>
            <a:r>
              <a:rPr lang="pt-BR" altLang="zh-CN" sz="2400" dirty="0"/>
              <a:t>	</a:t>
            </a:r>
            <a:endParaRPr lang="pt-BR" altLang="zh-CN" sz="2400" dirty="0" smtClean="0"/>
          </a:p>
          <a:p>
            <a:r>
              <a:rPr lang="pt-BR" altLang="zh-CN" sz="2400" dirty="0" smtClean="0"/>
              <a:t>return </a:t>
            </a:r>
            <a:r>
              <a:rPr lang="pt-BR" altLang="zh-CN" sz="2400" dirty="0"/>
              <a:t>0 </a:t>
            </a:r>
            <a:r>
              <a:rPr lang="pt-BR" altLang="zh-CN" sz="2400" dirty="0" smtClean="0"/>
              <a:t>;   }</a:t>
            </a:r>
            <a:endParaRPr lang="pt-BR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912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11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打印</a:t>
            </a:r>
            <a:r>
              <a:rPr lang="zh-CN" altLang="en-US" b="1" dirty="0" smtClean="0"/>
              <a:t>方格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BF8F8-BC95-4979-86D4-89ACFD089B77}"/>
              </a:ext>
            </a:extLst>
          </p:cNvPr>
          <p:cNvSpPr/>
          <p:nvPr/>
        </p:nvSpPr>
        <p:spPr>
          <a:xfrm>
            <a:off x="467544" y="1185912"/>
            <a:ext cx="84969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/>
              <a:t>#include&lt;</a:t>
            </a:r>
            <a:r>
              <a:rPr lang="en-US" altLang="zh-CN" sz="2200" dirty="0" err="1"/>
              <a:t>stdio.h</a:t>
            </a:r>
            <a:r>
              <a:rPr lang="en-US" altLang="zh-CN" sz="2200" dirty="0" smtClean="0"/>
              <a:t>&gt;</a:t>
            </a:r>
            <a:endParaRPr lang="en-US" altLang="zh-CN" sz="2200" dirty="0"/>
          </a:p>
          <a:p>
            <a:r>
              <a:rPr lang="en-US" altLang="zh-CN" sz="2200" dirty="0"/>
              <a:t>/*************************************************</a:t>
            </a:r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函数名</a:t>
            </a:r>
            <a:r>
              <a:rPr lang="en-US" altLang="zh-CN" sz="2200" dirty="0"/>
              <a:t>:	// PrintLine1</a:t>
            </a:r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描述</a:t>
            </a:r>
            <a:r>
              <a:rPr lang="en-US" altLang="zh-CN" sz="2200" dirty="0"/>
              <a:t>:   	// </a:t>
            </a:r>
            <a:r>
              <a:rPr lang="zh-CN" altLang="en-US" sz="2200" dirty="0"/>
              <a:t>打印</a:t>
            </a:r>
            <a:r>
              <a:rPr lang="en-US" altLang="zh-CN" sz="2200" dirty="0"/>
              <a:t>+--------------+ </a:t>
            </a:r>
          </a:p>
          <a:p>
            <a:r>
              <a:rPr lang="en-US" altLang="zh-CN" sz="2200" dirty="0"/>
              <a:t>*************************************************/</a:t>
            </a:r>
          </a:p>
          <a:p>
            <a:r>
              <a:rPr lang="en-US" altLang="zh-CN" sz="2200" dirty="0"/>
              <a:t>void PrintLine1 (</a:t>
            </a:r>
            <a:r>
              <a:rPr lang="en-US" altLang="zh-CN" sz="2200" dirty="0" err="1"/>
              <a:t>int</a:t>
            </a:r>
            <a:r>
              <a:rPr lang="en-US" altLang="zh-CN" sz="2200" dirty="0" smtClean="0"/>
              <a:t>);</a:t>
            </a:r>
            <a:endParaRPr lang="en-US" altLang="zh-CN" sz="2200" dirty="0"/>
          </a:p>
          <a:p>
            <a:r>
              <a:rPr lang="en-US" altLang="zh-CN" sz="2200" dirty="0"/>
              <a:t>/*************************************************</a:t>
            </a:r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函数名</a:t>
            </a:r>
            <a:r>
              <a:rPr lang="en-US" altLang="zh-CN" sz="2200" dirty="0"/>
              <a:t>:	// PrintLine2</a:t>
            </a:r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描述</a:t>
            </a:r>
            <a:r>
              <a:rPr lang="en-US" altLang="zh-CN" sz="2200" dirty="0"/>
              <a:t>:   	// </a:t>
            </a:r>
            <a:r>
              <a:rPr lang="zh-CN" altLang="en-US" sz="2200" dirty="0"/>
              <a:t>打印</a:t>
            </a:r>
            <a:r>
              <a:rPr lang="en-US" altLang="zh-CN" sz="2200" dirty="0"/>
              <a:t>|--------------| </a:t>
            </a:r>
          </a:p>
          <a:p>
            <a:r>
              <a:rPr lang="en-US" altLang="zh-CN" sz="2200" dirty="0"/>
              <a:t>*************************************************/</a:t>
            </a:r>
          </a:p>
          <a:p>
            <a:r>
              <a:rPr lang="en-US" altLang="zh-CN" sz="2200" dirty="0"/>
              <a:t>void PrintLine2 (</a:t>
            </a:r>
            <a:r>
              <a:rPr lang="en-US" altLang="zh-CN" sz="2200" dirty="0" err="1"/>
              <a:t>int</a:t>
            </a:r>
            <a:r>
              <a:rPr lang="en-US" altLang="zh-CN" sz="2200" dirty="0" smtClean="0"/>
              <a:t>);</a:t>
            </a:r>
            <a:endParaRPr lang="en-US" altLang="zh-CN" sz="2200" dirty="0"/>
          </a:p>
          <a:p>
            <a:r>
              <a:rPr lang="en-US" altLang="zh-CN" sz="2200" dirty="0"/>
              <a:t>/*************************************************</a:t>
            </a:r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函数名</a:t>
            </a:r>
            <a:r>
              <a:rPr lang="en-US" altLang="zh-CN" sz="2200" dirty="0"/>
              <a:t>:	// </a:t>
            </a:r>
            <a:r>
              <a:rPr lang="en-US" altLang="zh-CN" sz="2200" dirty="0" err="1"/>
              <a:t>PrintSquare</a:t>
            </a:r>
            <a:endParaRPr lang="en-US" altLang="zh-CN" sz="2200" dirty="0"/>
          </a:p>
          <a:p>
            <a:r>
              <a:rPr lang="en-US" altLang="zh-CN" sz="2200" dirty="0"/>
              <a:t>  </a:t>
            </a:r>
            <a:r>
              <a:rPr lang="zh-CN" altLang="en-US" sz="2200" dirty="0"/>
              <a:t>描述</a:t>
            </a:r>
            <a:r>
              <a:rPr lang="en-US" altLang="zh-CN" sz="2200" dirty="0"/>
              <a:t>:   	// </a:t>
            </a:r>
            <a:r>
              <a:rPr lang="zh-CN" altLang="en-US" sz="2200" dirty="0"/>
              <a:t>打印图案的中间部分 </a:t>
            </a:r>
          </a:p>
          <a:p>
            <a:r>
              <a:rPr lang="zh-CN" altLang="en-US" sz="2200" dirty="0"/>
              <a:t>*************************************************</a:t>
            </a:r>
            <a:r>
              <a:rPr lang="en-US" altLang="zh-CN" sz="2200" dirty="0"/>
              <a:t>/</a:t>
            </a:r>
          </a:p>
          <a:p>
            <a:r>
              <a:rPr lang="en-US" altLang="zh-CN" sz="2200" dirty="0"/>
              <a:t>void </a:t>
            </a:r>
            <a:r>
              <a:rPr lang="en-US" altLang="zh-CN" sz="2200" dirty="0" err="1"/>
              <a:t>PrintSquare</a:t>
            </a:r>
            <a:r>
              <a:rPr lang="en-US" altLang="zh-CN" sz="2200" dirty="0"/>
              <a:t>(</a:t>
            </a:r>
            <a:r>
              <a:rPr lang="en-US" altLang="zh-CN" sz="2200" dirty="0" err="1"/>
              <a:t>int</a:t>
            </a:r>
            <a:r>
              <a:rPr lang="en-US" altLang="zh-CN" sz="2200" dirty="0" smtClean="0"/>
              <a:t>);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1453918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12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打印</a:t>
            </a:r>
            <a:r>
              <a:rPr lang="zh-CN" altLang="en-US" b="1" dirty="0" smtClean="0"/>
              <a:t>方格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BF8F8-BC95-4979-86D4-89ACFD089B77}"/>
              </a:ext>
            </a:extLst>
          </p:cNvPr>
          <p:cNvSpPr/>
          <p:nvPr/>
        </p:nvSpPr>
        <p:spPr>
          <a:xfrm>
            <a:off x="363960" y="1257723"/>
            <a:ext cx="849694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main</a:t>
            </a:r>
            <a:r>
              <a:rPr lang="en-US" altLang="zh-CN" sz="2400" dirty="0" smtClean="0"/>
              <a:t>() {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t,l,c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;    </a:t>
            </a:r>
            <a:endParaRPr lang="en-US" altLang="zh-CN" sz="2400" dirty="0"/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d",&amp;t</a:t>
            </a:r>
            <a:r>
              <a:rPr lang="en-US" altLang="zh-CN" sz="2400" dirty="0"/>
              <a:t>);//</a:t>
            </a:r>
            <a:r>
              <a:rPr lang="zh-CN" altLang="en-US" sz="2400" dirty="0"/>
              <a:t>读入</a:t>
            </a:r>
            <a:r>
              <a:rPr lang="en-US" altLang="zh-CN" sz="2400" dirty="0"/>
              <a:t>t </a:t>
            </a:r>
          </a:p>
          <a:p>
            <a:r>
              <a:rPr lang="en-US" altLang="zh-CN" sz="2400" dirty="0"/>
              <a:t>    while(t-</a:t>
            </a:r>
            <a:r>
              <a:rPr lang="en-US" altLang="zh-CN" sz="2400" dirty="0" smtClean="0"/>
              <a:t>-) {//</a:t>
            </a:r>
            <a:r>
              <a:rPr lang="en-US" altLang="zh-CN" sz="2400" dirty="0"/>
              <a:t>t</a:t>
            </a:r>
            <a:r>
              <a:rPr lang="zh-CN" altLang="en-US" sz="2400" dirty="0"/>
              <a:t>次循环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("%</a:t>
            </a:r>
            <a:r>
              <a:rPr lang="en-US" altLang="zh-CN" sz="2400" dirty="0" err="1"/>
              <a:t>d%d</a:t>
            </a:r>
            <a:r>
              <a:rPr lang="en-US" altLang="zh-CN" sz="2400" dirty="0"/>
              <a:t>",&amp;</a:t>
            </a:r>
            <a:r>
              <a:rPr lang="en-US" altLang="zh-CN" sz="2400" dirty="0" err="1"/>
              <a:t>l,&amp;c</a:t>
            </a:r>
            <a:r>
              <a:rPr lang="en-US" altLang="zh-CN" sz="2400" dirty="0"/>
              <a:t>);//</a:t>
            </a:r>
            <a:r>
              <a:rPr lang="zh-CN" altLang="en-US" sz="2400" dirty="0"/>
              <a:t>读入行数和列数 </a:t>
            </a:r>
          </a:p>
          <a:p>
            <a:r>
              <a:rPr lang="zh-CN" altLang="en-US" sz="2400" dirty="0"/>
              <a:t>    	</a:t>
            </a:r>
            <a:r>
              <a:rPr lang="en-US" altLang="zh-CN" sz="2400" dirty="0"/>
              <a:t>PrintLine1(c);// </a:t>
            </a:r>
            <a:r>
              <a:rPr lang="zh-CN" altLang="en-US" sz="2400" dirty="0"/>
              <a:t>打印</a:t>
            </a:r>
            <a:r>
              <a:rPr lang="en-US" altLang="zh-CN" sz="2400" dirty="0"/>
              <a:t>+--------------+  </a:t>
            </a:r>
          </a:p>
          <a:p>
            <a:r>
              <a:rPr lang="en-US" altLang="zh-CN" sz="2400" dirty="0"/>
              <a:t>    	</a:t>
            </a:r>
            <a:r>
              <a:rPr lang="en-US" altLang="zh-CN" sz="2400" dirty="0" err="1"/>
              <a:t>PrintSquare</a:t>
            </a:r>
            <a:r>
              <a:rPr lang="en-US" altLang="zh-CN" sz="2400" dirty="0"/>
              <a:t>(c);  //</a:t>
            </a:r>
            <a:r>
              <a:rPr lang="zh-CN" altLang="en-US" sz="2400" dirty="0"/>
              <a:t>打印图案的中间部分</a:t>
            </a:r>
          </a:p>
          <a:p>
            <a:r>
              <a:rPr lang="zh-CN" altLang="en-US" sz="2400" dirty="0"/>
              <a:t>    	</a:t>
            </a:r>
            <a:r>
              <a:rPr lang="en-US" altLang="zh-CN" sz="2400" dirty="0"/>
              <a:t>l-- ;</a:t>
            </a:r>
          </a:p>
          <a:p>
            <a:r>
              <a:rPr lang="en-US" altLang="zh-CN" sz="2400" dirty="0"/>
              <a:t>    	while(l-</a:t>
            </a:r>
            <a:r>
              <a:rPr lang="en-US" altLang="zh-CN" sz="2400" dirty="0" smtClean="0"/>
              <a:t>-)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{ </a:t>
            </a:r>
            <a:r>
              <a:rPr lang="en-US" altLang="zh-CN" sz="2400" dirty="0"/>
              <a:t>//</a:t>
            </a:r>
            <a:r>
              <a:rPr lang="zh-CN" altLang="en-US" sz="2400" dirty="0"/>
              <a:t>循环</a:t>
            </a:r>
            <a:r>
              <a:rPr lang="en-US" altLang="zh-CN" sz="2400" dirty="0"/>
              <a:t>l-1</a:t>
            </a:r>
            <a:r>
              <a:rPr lang="zh-CN" altLang="en-US" sz="2400" dirty="0"/>
              <a:t>次</a:t>
            </a:r>
            <a:r>
              <a:rPr lang="en-US" altLang="zh-CN" sz="2400" dirty="0"/>
              <a:t>(</a:t>
            </a:r>
            <a:r>
              <a:rPr lang="zh-CN" altLang="en-US" sz="2400" dirty="0"/>
              <a:t>行数</a:t>
            </a:r>
            <a:r>
              <a:rPr lang="en-US" altLang="zh-CN" sz="2400" dirty="0"/>
              <a:t>) 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smtClean="0"/>
              <a:t>PrintLine2(c</a:t>
            </a:r>
            <a:r>
              <a:rPr lang="en-US" altLang="zh-CN" sz="2400" dirty="0"/>
              <a:t>);//</a:t>
            </a:r>
            <a:r>
              <a:rPr lang="zh-CN" altLang="en-US" sz="2400" dirty="0"/>
              <a:t>打印</a:t>
            </a:r>
            <a:r>
              <a:rPr lang="en-US" altLang="zh-CN" sz="2400" dirty="0"/>
              <a:t>|--------------|  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 smtClean="0"/>
              <a:t>PrintSquare</a:t>
            </a:r>
            <a:r>
              <a:rPr lang="en-US" altLang="zh-CN" sz="2400" dirty="0" smtClean="0"/>
              <a:t>(c</a:t>
            </a:r>
            <a:r>
              <a:rPr lang="en-US" altLang="zh-CN" sz="2400" dirty="0"/>
              <a:t>);  //</a:t>
            </a:r>
            <a:r>
              <a:rPr lang="zh-CN" altLang="en-US" sz="2400" dirty="0"/>
              <a:t>打印图案的中间部分 </a:t>
            </a:r>
          </a:p>
          <a:p>
            <a:r>
              <a:rPr lang="zh-CN" altLang="en-US" sz="2400" dirty="0"/>
              <a:t>	</a:t>
            </a:r>
            <a:r>
              <a:rPr lang="en-US" altLang="zh-CN" sz="2400" dirty="0" smtClean="0"/>
              <a:t>}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PrintLine1(c</a:t>
            </a:r>
            <a:r>
              <a:rPr lang="en-US" altLang="zh-CN" sz="2400" dirty="0"/>
              <a:t>);// </a:t>
            </a:r>
            <a:r>
              <a:rPr lang="zh-CN" altLang="en-US" sz="2400" dirty="0"/>
              <a:t>打印</a:t>
            </a:r>
            <a:r>
              <a:rPr lang="en-US" altLang="zh-CN" sz="2400" dirty="0"/>
              <a:t>+--------------+ </a:t>
            </a:r>
          </a:p>
          <a:p>
            <a:r>
              <a:rPr lang="en-US" altLang="zh-CN" sz="2400" dirty="0"/>
              <a:t>    }</a:t>
            </a:r>
          </a:p>
          <a:p>
            <a:r>
              <a:rPr lang="en-US" altLang="zh-CN" sz="2400" dirty="0"/>
              <a:t>    return 0 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39893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13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打印</a:t>
            </a:r>
            <a:r>
              <a:rPr lang="zh-CN" altLang="en-US" b="1" dirty="0" smtClean="0"/>
              <a:t>方格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BF8F8-BC95-4979-86D4-89ACFD089B77}"/>
              </a:ext>
            </a:extLst>
          </p:cNvPr>
          <p:cNvSpPr/>
          <p:nvPr/>
        </p:nvSpPr>
        <p:spPr>
          <a:xfrm>
            <a:off x="343383" y="1254616"/>
            <a:ext cx="82610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void </a:t>
            </a:r>
            <a:r>
              <a:rPr lang="en-US" altLang="zh-CN" sz="2400" dirty="0"/>
              <a:t>PrintLine1(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("+");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=0;i&lt;3*c-1;i++) 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("-");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("+\n");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  <a:p>
            <a:r>
              <a:rPr lang="en-US" altLang="zh-CN" sz="2400" dirty="0" smtClean="0"/>
              <a:t>void </a:t>
            </a:r>
            <a:r>
              <a:rPr lang="en-US" altLang="zh-CN" sz="2400" dirty="0"/>
              <a:t>PrintLine2(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;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("|");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=0;i&lt;3*c-1;i++) 	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("-");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	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("|\n");</a:t>
            </a:r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3861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14</a:t>
            </a:fld>
            <a:endParaRPr lang="zh-CN" altLang="en-US" sz="1400" b="1" dirty="0"/>
          </a:p>
        </p:txBody>
      </p:sp>
      <p:sp>
        <p:nvSpPr>
          <p:cNvPr id="23556" name="Rectangle 1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/>
              <a:t>打印</a:t>
            </a:r>
            <a:r>
              <a:rPr lang="zh-CN" altLang="en-US" b="1" dirty="0" smtClean="0"/>
              <a:t>方格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BF8F8-BC95-4979-86D4-89ACFD089B77}"/>
              </a:ext>
            </a:extLst>
          </p:cNvPr>
          <p:cNvSpPr/>
          <p:nvPr/>
        </p:nvSpPr>
        <p:spPr>
          <a:xfrm>
            <a:off x="467544" y="1268760"/>
            <a:ext cx="837165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void </a:t>
            </a:r>
            <a:r>
              <a:rPr lang="en-US" altLang="zh-CN" sz="2400" dirty="0" err="1"/>
              <a:t>PrintSquare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c)</a:t>
            </a:r>
          </a:p>
          <a:p>
            <a:r>
              <a:rPr lang="en-US" altLang="zh-CN" sz="2400" dirty="0"/>
              <a:t>{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i,j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	for(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=0;i&lt;2;i++)  //</a:t>
            </a:r>
            <a:r>
              <a:rPr lang="zh-CN" altLang="en-US" sz="2400" dirty="0"/>
              <a:t>中间内容为两行</a:t>
            </a:r>
            <a:r>
              <a:rPr lang="en-US" altLang="zh-CN" sz="2400" dirty="0"/>
              <a:t>,</a:t>
            </a:r>
            <a:r>
              <a:rPr lang="zh-CN" altLang="en-US" sz="2400" dirty="0"/>
              <a:t>所以循环</a:t>
            </a:r>
            <a:r>
              <a:rPr lang="en-US" altLang="zh-CN" sz="2400" dirty="0"/>
              <a:t>2</a:t>
            </a:r>
            <a:r>
              <a:rPr lang="zh-CN" altLang="en-US" sz="2400" dirty="0"/>
              <a:t>次 </a:t>
            </a:r>
          </a:p>
          <a:p>
            <a:r>
              <a:rPr lang="zh-CN" altLang="en-US" sz="2400" dirty="0"/>
              <a:t>    </a:t>
            </a:r>
            <a:r>
              <a:rPr lang="en-US" altLang="zh-CN" sz="2400" dirty="0" smtClean="0"/>
              <a:t>	{</a:t>
            </a:r>
            <a:endParaRPr lang="en-US" altLang="zh-CN" sz="2400" dirty="0"/>
          </a:p>
          <a:p>
            <a:r>
              <a:rPr lang="en-US" altLang="zh-CN" sz="2400" dirty="0"/>
              <a:t>       </a:t>
            </a:r>
            <a:r>
              <a:rPr lang="en-US" altLang="zh-CN" sz="2400" dirty="0" smtClean="0"/>
              <a:t>		 </a:t>
            </a:r>
            <a:r>
              <a:rPr lang="en-US" altLang="zh-CN" sz="2400" dirty="0"/>
              <a:t>for(j=0;j&lt;</a:t>
            </a:r>
            <a:r>
              <a:rPr lang="en-US" altLang="zh-CN" sz="2400" dirty="0" err="1"/>
              <a:t>c;j</a:t>
            </a:r>
            <a:r>
              <a:rPr lang="en-US" altLang="zh-CN" sz="2400" dirty="0"/>
              <a:t>++)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("|  ");</a:t>
            </a:r>
          </a:p>
          <a:p>
            <a:r>
              <a:rPr lang="en-US" altLang="zh-CN" sz="2400" dirty="0"/>
              <a:t>       </a:t>
            </a:r>
            <a:r>
              <a:rPr lang="en-US" altLang="zh-CN" sz="2400" dirty="0" smtClean="0"/>
              <a:t>		 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("|\n");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smtClean="0"/>
              <a:t>	}</a:t>
            </a:r>
            <a:endParaRPr lang="en-US" altLang="zh-CN" sz="2400" dirty="0"/>
          </a:p>
          <a:p>
            <a:r>
              <a:rPr lang="en-US" altLang="zh-C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666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15</a:t>
            </a:fld>
            <a:endParaRPr lang="zh-CN" altLang="en-US" sz="1400" b="1" dirty="0"/>
          </a:p>
        </p:txBody>
      </p:sp>
      <p:graphicFrame>
        <p:nvGraphicFramePr>
          <p:cNvPr id="92163" name="Object 4"/>
          <p:cNvGraphicFramePr>
            <a:graphicFrameLocks noGrp="1" noChangeAspect="1"/>
          </p:cNvGraphicFramePr>
          <p:nvPr>
            <p:ph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r:id="rId3" imgW="1132205" imgH="1054100" progId="MS_ClipArt_Gallery.2">
                  <p:embed/>
                </p:oleObj>
              </mc:Choice>
              <mc:Fallback>
                <p:oleObj r:id="rId3" imgW="1132205" imgH="1054100" progId="MS_ClipArt_Gallery.2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747</TotalTime>
  <Words>342</Words>
  <Application>Microsoft Office PowerPoint</Application>
  <PresentationFormat>全屏显示(4:3)</PresentationFormat>
  <Paragraphs>221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宋体</vt:lpstr>
      <vt:lpstr>Times New Roman</vt:lpstr>
      <vt:lpstr>Wingdings</vt:lpstr>
      <vt:lpstr>经分互动规范介绍</vt:lpstr>
      <vt:lpstr>MS_ClipArt_Gallery.2</vt:lpstr>
      <vt:lpstr>发工资（分支版）</vt:lpstr>
      <vt:lpstr>发工资（分支版）</vt:lpstr>
      <vt:lpstr>两个矩形解法一</vt:lpstr>
      <vt:lpstr>两个矩形解法一</vt:lpstr>
      <vt:lpstr>两个矩形解法二</vt:lpstr>
      <vt:lpstr>两个矩形解法二</vt:lpstr>
      <vt:lpstr>斯诺克</vt:lpstr>
      <vt:lpstr>斯诺克</vt:lpstr>
      <vt:lpstr>身高变换</vt:lpstr>
      <vt:lpstr>身高变换</vt:lpstr>
      <vt:lpstr>打印方格</vt:lpstr>
      <vt:lpstr>打印方格</vt:lpstr>
      <vt:lpstr>打印方格</vt:lpstr>
      <vt:lpstr>打印方格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creator>cyzhou</dc:creator>
  <cp:lastModifiedBy>yuanbaoku</cp:lastModifiedBy>
  <cp:revision>2126</cp:revision>
  <dcterms:created xsi:type="dcterms:W3CDTF">2001-07-15T23:49:29Z</dcterms:created>
  <dcterms:modified xsi:type="dcterms:W3CDTF">2025-10-26T13:52:30Z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