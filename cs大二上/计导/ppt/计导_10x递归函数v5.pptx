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4"/>
  </p:notesMasterIdLst>
  <p:sldIdLst>
    <p:sldId id="256" r:id="rId2"/>
    <p:sldId id="261" r:id="rId3"/>
    <p:sldId id="348" r:id="rId4"/>
    <p:sldId id="298" r:id="rId5"/>
    <p:sldId id="349" r:id="rId6"/>
    <p:sldId id="375" r:id="rId7"/>
    <p:sldId id="303" r:id="rId8"/>
    <p:sldId id="361" r:id="rId9"/>
    <p:sldId id="305" r:id="rId10"/>
    <p:sldId id="311" r:id="rId11"/>
    <p:sldId id="342" r:id="rId12"/>
    <p:sldId id="343" r:id="rId13"/>
    <p:sldId id="364" r:id="rId14"/>
    <p:sldId id="299" r:id="rId15"/>
    <p:sldId id="366" r:id="rId16"/>
    <p:sldId id="300" r:id="rId17"/>
    <p:sldId id="735" r:id="rId18"/>
    <p:sldId id="433" r:id="rId19"/>
    <p:sldId id="439" r:id="rId20"/>
    <p:sldId id="440" r:id="rId21"/>
    <p:sldId id="441" r:id="rId22"/>
    <p:sldId id="442" r:id="rId23"/>
    <p:sldId id="443" r:id="rId24"/>
    <p:sldId id="445" r:id="rId25"/>
    <p:sldId id="605" r:id="rId26"/>
    <p:sldId id="446" r:id="rId27"/>
    <p:sldId id="727" r:id="rId28"/>
    <p:sldId id="494" r:id="rId29"/>
    <p:sldId id="447" r:id="rId30"/>
    <p:sldId id="638" r:id="rId31"/>
    <p:sldId id="684" r:id="rId32"/>
    <p:sldId id="362" r:id="rId33"/>
    <p:sldId id="284" r:id="rId34"/>
    <p:sldId id="592" r:id="rId35"/>
    <p:sldId id="591" r:id="rId36"/>
    <p:sldId id="728" r:id="rId37"/>
    <p:sldId id="729" r:id="rId38"/>
    <p:sldId id="730" r:id="rId39"/>
    <p:sldId id="733" r:id="rId40"/>
    <p:sldId id="734" r:id="rId41"/>
    <p:sldId id="736" r:id="rId42"/>
    <p:sldId id="355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92F11EE-764C-4C8C-869D-6A1320FBF3FF}">
          <p14:sldIdLst>
            <p14:sldId id="256"/>
          </p14:sldIdLst>
        </p14:section>
        <p14:section name="递归概念" id="{B41E55EF-1F47-4F8C-A722-1718D87387D5}">
          <p14:sldIdLst>
            <p14:sldId id="261"/>
            <p14:sldId id="348"/>
            <p14:sldId id="298"/>
            <p14:sldId id="349"/>
            <p14:sldId id="375"/>
            <p14:sldId id="303"/>
          </p14:sldIdLst>
        </p14:section>
        <p14:section name="递归过程" id="{3BEE0B0B-F2E6-466C-BBFF-BDC7F2FD39B0}">
          <p14:sldIdLst>
            <p14:sldId id="361"/>
            <p14:sldId id="305"/>
            <p14:sldId id="311"/>
            <p14:sldId id="342"/>
            <p14:sldId id="343"/>
            <p14:sldId id="364"/>
            <p14:sldId id="299"/>
            <p14:sldId id="366"/>
            <p14:sldId id="300"/>
          </p14:sldIdLst>
        </p14:section>
        <p14:section name="hanoi" id="{90FB2C3C-751D-4893-A041-F2CD3CDC266A}">
          <p14:sldIdLst>
            <p14:sldId id="735"/>
            <p14:sldId id="433"/>
            <p14:sldId id="439"/>
            <p14:sldId id="440"/>
            <p14:sldId id="441"/>
            <p14:sldId id="442"/>
            <p14:sldId id="443"/>
            <p14:sldId id="445"/>
            <p14:sldId id="605"/>
            <p14:sldId id="446"/>
          </p14:sldIdLst>
        </p14:section>
        <p14:section name="递归与反向计算" id="{0D6F6A57-E172-44DD-9123-1596DB8B8E5C}">
          <p14:sldIdLst>
            <p14:sldId id="727"/>
            <p14:sldId id="494"/>
            <p14:sldId id="447"/>
            <p14:sldId id="638"/>
            <p14:sldId id="684"/>
          </p14:sldIdLst>
        </p14:section>
        <p14:section name="递归算法实例" id="{EE1D1327-09E9-4E30-BAEF-85EA02B623CB}">
          <p14:sldIdLst>
            <p14:sldId id="362"/>
            <p14:sldId id="284"/>
            <p14:sldId id="592"/>
            <p14:sldId id="591"/>
            <p14:sldId id="728"/>
            <p14:sldId id="729"/>
            <p14:sldId id="730"/>
            <p14:sldId id="733"/>
            <p14:sldId id="734"/>
            <p14:sldId id="736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99"/>
    <a:srgbClr val="CCFFFF"/>
    <a:srgbClr val="003366"/>
    <a:srgbClr val="FF3300"/>
    <a:srgbClr val="FF66C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03" autoAdjust="0"/>
  </p:normalViewPr>
  <p:slideViewPr>
    <p:cSldViewPr>
      <p:cViewPr varScale="1">
        <p:scale>
          <a:sx n="63" d="100"/>
          <a:sy n="63" d="100"/>
        </p:scale>
        <p:origin x="1352" y="48"/>
      </p:cViewPr>
      <p:guideLst>
        <p:guide orient="horz" pos="2160"/>
        <p:guide pos="27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5-11-10T09:19:39.3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9896 1552 0,'17'0'93,"54"-35"-77,70 35 0,53-18-1,-106 18 1,0 0 0,-52 0 15,17 0-16,-36 0 17</inkml:trace>
  <inkml:trace contextRef="#ctx0" brushRef="#br0" timeOffset="781.2">10637 1235 0,'-18'0'31,"0"0"-31,-17 0 31,0 0-15,17 0 31,18 17-32,0 36 1,0 53-1,-18-18 1,1 1 15,17-37-31,0-34 16,0 17 0,0-17-1,0 17 1,0-17-16,0 17 15,0 106 1,35-17 0,-17-54-1,-1-34 1,-17-19 31,0 1-32,-17-18 1,-54 17 15,-17-17-15,35 0-16,18 0 16,-18 0-1</inkml:trace>
  <inkml:trace contextRef="#ctx0" brushRef="#br0" timeOffset="1542.62">10989 1164 0,'-17'0'78,"-71"124"-63,35-1 1,0 1 0,35-71 15,18 35-16,0-53-15,0 0 16,0 36 0,18-18-16,-1-36 15,36 36 1,-35-17 0,0-36-1,-1 0 16</inkml:trace>
  <inkml:trace contextRef="#ctx0" brushRef="#br0" timeOffset="2547.42">11324 1147 0,'-17'35'94,"-18"35"-78,-1 19-1,1 34 1,17-52 0,18-18-1,0-36-15,0 1 16,0 35-16,0-36 15,0 36 1,18-17 0,-18-19-1,35 1 1,-17-1 0,17-17 15,0 0 0,-17 0-15,0-17-1,-18-1 1,0 1-16,17-1 16,-17-35 15,0 18-16,-17 17-15,17 0 16,-18 1 0,0 17-1,1 0 1,-1 0 0,1 0-1,-1 0 1,0 0-1,1 0 1,-1 0 15,0 0-15</inkml:trace>
  <inkml:trace contextRef="#ctx0" brushRef="#br0" timeOffset="3208.32">11483 1111 0,'36'0'63,"-1"0"-48,18 53 1,0 18-1,-53-36-15,17 0 16,1 1-16,-18-19 16,0 54-1,0-36 1,0 71-16,0-18 31,0-53-15,-18 71-1,1-35 1,-36-18 0,17 0-1,-16-1 1,16-34 0,19 0-1,-1-18-15,-17 0 16,17 0-16,0 0 15,-52 0 1</inkml:trace>
  <inkml:trace contextRef="#ctx0" brushRef="#br0" timeOffset="4842.8">12065 1782 0,'0'0'0,"18"-18"0,17 0 31,18 1 0,-35 17-15,52-18 0,-34-17-16,105-18 31,123-71-16,-140 71 1,211-52 0,71-1-1,-159 53 1,88-88 0,-229 105-1,-71 36 1</inkml:trace>
  <inkml:trace contextRef="#ctx0" brushRef="#br0" timeOffset="5686.45">12348 1993 0,'17'18'47,"89"123"-32,0-35 1,-36 0 0,36 17-1,-18-52 1,-17-18-16,-36-18 16,1 0-16,52 18 15,-53 18-15,53 17 16,53 71-1,-88-107-15,35 19 16,71 88 0,-88-124-1,-54-17-15,19 17 32,-1-17-17,-17-1 16</inkml:trace>
  <inkml:trace contextRef="#ctx0" brushRef="#br0" timeOffset="6389.51">14517 1076 0,'0'0'15,"0"-18"1,35 18-16,1-17 16,105-1-1,-53 0 1,0 1 0,-35 17-1,18 0 1,-18 0-1,17 0 1,-52 0 0,17 0-16,-17 0 15,-1 0-15,1 0 32</inkml:trace>
  <inkml:trace contextRef="#ctx0" brushRef="#br0" timeOffset="7168.92">15240 617 0,'-35'0'15,"17"0"1,-17 0 15,17 0-15,18 18 0,-52 17-1,-1 1 1,17-1-1,19-18 1,17 1 15,0 0-15,-18 35 0,18-36-16,0 19 15,18 105 1,17-53-1,-17 0 1,-1-70-16,1-1 16,-18 19-1,0-1 17,0 0-17,-18 0 1,-35 1-1,-35-1 1,-53 18 15,106-53-31,0 0 16,-71 0 0,88 0-16,0 0 15,-34 0 1,52-18-1,0 1-15</inkml:trace>
  <inkml:trace contextRef="#ctx0" brushRef="#br0" timeOffset="7840.57">15928 494 0,'-53'18'93,"18"34"-77,-35 19 0,17 17-1,17-35-15,19-18 16,-1 18-16,18-17 15,-18 52 1,18-18 0,0 19-1,0-54-15,0 35 16,0-52 0,18 0-1,-18 17-15,18 0 47,-1-17-16,1-18-15</inkml:trace>
  <inkml:trace contextRef="#ctx0" brushRef="#br0" timeOffset="8606.28">15946 794 0,'0'17'62,"0"72"-46,-18-1 0,18-53-1,0 0-15,-17-17 16,17 0 0,0-1-1,0 19-15,35 69 31,18-69-15,-18-1 0,-17-17-16,-1-18 47,1 17-32,-18 1 16,0-1 32,-18 1-47,-35 0-1,-88-18 1,106 0-1,0 0 17,17 0-1</inkml:trace>
  <inkml:trace contextRef="#ctx0" brushRef="#br0" timeOffset="8996.54">15928 1076 0,'18'0'15,"17"0"32,36 0-31,-18-35-16,17 35 15,-17 0 1,-18 0 0,-17 0 15,0 0-15</inkml:trace>
  <inkml:trace contextRef="#ctx0" brushRef="#br0" timeOffset="9371.69">16369 670 0,'53'18'47,"0"70"-31,-18 0 0,-17-52-16,0 122 15,-18-17 1,0-88-16,-36 194 31,-17-158-15,18-54-1,17-18 1,1 1 0,-18 17-1</inkml:trace>
  <inkml:trace contextRef="#ctx0" brushRef="#br0" timeOffset="10141.64">14305 3404 0,'36'0'47,"34"0"-31,19 0 0,69 0-1,-122 0-15,16 0 16,1 0-1,-17 0 1,-1 0 0,18 0 15,-36 0-15,1 0-1</inkml:trace>
  <inkml:trace contextRef="#ctx0" brushRef="#br0" timeOffset="10844.6">14888 2963 0,'-18'0'15,"0"0"16,1 0-15,-1 18 15,0 17-15,-35 18 0,36-18-1,-1-17 1,18 70-1,0-17 1,0-18 15,18 35-15,35-18 0,-36 19-1,1-19 1,0 1-16,-18-36 31,0 18-15,-18-35-1,0-1 1,-17 1 0,0 0-1,-53-18 1,-18 17-1,88-17 1</inkml:trace>
  <inkml:trace contextRef="#ctx0" brushRef="#br0" timeOffset="11453.77">15523 2893 0,'-53'88'78,"-53"88"-62,35-87-1,36 87 1,35-141-1,0 71 1,53 53 15,17-36-15,-34-70-16,34 18 16,1-18-1,-54-53-15,1 0 31,0 0-15</inkml:trace>
  <inkml:trace contextRef="#ctx0" brushRef="#br0" timeOffset="12249.82">15770 3298 0,'0'18'109,"-36"17"-93,1 36-1,0-1 1,17-17 0,18-35-1,0 0 1,0 17 15,53-17-15,0-18-1,-18 17 1,-17-17-16,-1 0 16,36 0-1,-17 0 1,17-17 15,-18 17-15,0-36-1,18 1 1,0 0 0,-53 17-16,35 0 15,0-17 1,-17 18-1</inkml:trace>
  <inkml:trace contextRef="#ctx0" brushRef="#br0" timeOffset="12890.19">16069 3228 0,'0'35'94,"0"18"-78,-17 35-16,-1 36 15,18-54 1,0-17-16,-18 71 31,18-71-15,0 35 0,0 0-1,-17-70 16,17-1 63</inkml:trace>
  <inkml:trace contextRef="#ctx0" brushRef="#br0" timeOffset="13499.41">16105 2928 0,'35'0'31,"35"35"-15,-52-17-1,-18 0-15,35 17 16,-17-17 0,17 17-16,1 71 31,16-18-31,-34 0 15,17 53 1,-35-88 0,18 88-1,-18-106 1,0 18 0,-18 0-1,-17 18 1,-18-1-1,0-17 1,36-17 0,-1-36-16,0 17 15,18 1-15,-17-18 16,-1 0 0</inkml:trace>
  <inkml:trace contextRef="#ctx0" brushRef="#br0" timeOffset="24068.33">16810 3369 0,'35'0'109,"71"-18"-93,-17-17-1,334-124 1,-88 54 0,71 34-1,-54 18 1,-87 53-1,-142 0 1,-34 0 15,-72 0-31,1 0 16</inkml:trace>
  <inkml:trace contextRef="#ctx0" brushRef="#br0" timeOffset="24894.14">16934 3616 0,'88'35'93,"88"106"-77,477 336 15,-371-301-15,-70 0 0,-106-70-1,-53-53 1,17 0-1,-52-35-15,-1-1 32,19 1-17,-36 0-15,17-1 16,1 1 0</inkml:trace>
  <inkml:trace contextRef="#ctx0" brushRef="#br0" timeOffset="25690.78">19174 3404 0,'0'-17'16,"17"17"-1,19 0 1,-1 0 0,0-18-1,-17 18-15,17 0 16,124-53-1,-88 53-15,-1 0 16,265 0 0,-176 0-1,53 0 1,-195 0 0</inkml:trace>
  <inkml:trace contextRef="#ctx0" brushRef="#br0" timeOffset="26410.21">20373 2805 0,'-17'0'16,"-19"0"0,1 35-1,17-35-15,18 18 16,-17 34-1,-36 1-15,53-35 16,-18 53 0,18-36-1,0 18 1,-17 0 0,17 17 15,0 71-16,17-53 1,18-17 0,1-36-1,-19 1-15,-17-19 16,18-17-16,-18 18 16,0 17-1,0 0-15,0 36 16,-53-18 15,-53 17-15,89-70-1,-36 0 1,17 0 0,1-52 15,18 52-31</inkml:trace>
  <inkml:trace contextRef="#ctx0" brushRef="#br0" timeOffset="27021.78">21132 2787 0,'-36'18'62,"-69"52"-46,52-17-16,-35 18 15,52-18 1,36-36-16,-17-17 16,17 18-1,0 17-15,0 36 16,0 52 0,17-70-1,54 35 16,-36-35-15,-17-35 0,17 35-1,0-18 1,1-17 0,-19-18 15</inkml:trace>
  <inkml:trace contextRef="#ctx0" brushRef="#br0" timeOffset="27959.25">21149 3157 0,'18'0'47,"17"0"-31,53 0-1,1 18 1,-72 0 0,19-1-1,-36 19 1,0-19 0,0 1-1,0-1-15,0 1 16,0 17 15,-36-35-15,19 0-1,-1 0 1,0 0-16,-35 0 31,36 0-15,52-17 46,18 17-46,18 0 0,-19 0 15,-34 17-31,0-17 15,-1 18 1,1-18 0,0 18-1,-1-1 1,-17 19 0,0-1-1,0-18 1,0 1-1,-17 17 1,-1-17 0,18 0-1,-18-18 1,1 17 0,-1-17-1,0 18 1,-17-18-1,-88-18 17,52-17-17</inkml:trace>
  <inkml:trace contextRef="#ctx0" brushRef="#br0" timeOffset="28458.89">21502 2946 0,'0'0'15,"35"0"1,-17 0-16,0 0 16,70 106-1,-70-54 1,-1-16-1,-17-19-15,0 19 16,0 52 0,0 18-1,0-36 1,-17-35 0,-1 18 15,-17-17-16,-18 34 1,17-34-16,-69 34 16,69-35-16,-34-17 0</inkml:trace>
  <inkml:trace contextRef="#ctx0" brushRef="#br0" timeOffset="29223.09">19068 4762 0,'35'0'47,"-17"0"-32,0 0-15,34 0 32,178 18-1,-195 0-31,0-18 16,54 17-1,-19-17 1,-35 0-1,1 0 17,-19 0-17</inkml:trace>
  <inkml:trace contextRef="#ctx0" brushRef="#br0" timeOffset="29879.39">19721 4304 0,'-18'0'47,"0"0"-32,-35 53 1,36 0 0,-1-36-1,-35 89 1,53-88-16,-17 17 15,-1 53-15,18-52 16,-18 16 0,18 1-1,0-17 1,0 17 0,0 0-1,0-18 1,0 53-1,18-17 1,0 17 0,17 18-1,-17-89 1,-18 19 15,0-1-15,0-18-1,-18 1-15,0-18 16,1 18 0,-1-18-16,-35 0 31,0 0-15,18 0-1</inkml:trace>
  <inkml:trace contextRef="#ctx0" brushRef="#br0" timeOffset="30550.89">20038 4410 0,'0'35'78,"0"0"-62,0 1-16,-35 52 31,0 0-15,17-53-16,0 53 15,18-70-15,0 17 16,0 71-1,0-88-15,0 17 16,18 36 0,0-18-1,34-1 1,-16-52 0,-1 18-1,-17-18 16,-1-18-15</inkml:trace>
  <inkml:trace contextRef="#ctx0" brushRef="#br0" timeOffset="31347.38">20091 4674 0,'35'0'15,"-70"0"-15,106 0 16,-54 0-16,1 0 15,35 0 17,-18 36-17,-17-1 1,17-18 0,-17 54-1,-1-36 1,-17 18-1,0-35 1,-35 35 0,17-36-16,18 1 15,-35 0 1,17-18 0,-52 17-1,123-17 126,53 0-126,-18 0-15,35 0 16,-70 0 0,-35 0-16,-1 0 15,1 0 1,0 0-16,17 0 16,-17 0-1,-1 0 16</inkml:trace>
  <inkml:trace contextRef="#ctx0" brushRef="#br0" timeOffset="31883.58">20603 4480 0,'17'0'31,"1"0"-15,17 18-16,53 52 16,-17-17 15,-18 0-16,-18 0 1,-17-18-16,-18-17 16,17 17-16,-17 18 15,0 141 1,0-105 0,-17-19-1,-1-17 1,0-35-1,-17-1 1,0 36 0,0-53-1,17 18 1,-17-18 0,17 0-16</inkml:trace>
  <inkml:trace contextRef="#ctx0" brushRef="#br0" timeOffset="34019.28">21290 5239 0,'18'0'141,"88"0"-126,88 0 1,388 0 0,-264 53-1,-54-36 16,-70 1-15,-141 0 0,-35-18-1</inkml:trace>
  <inkml:trace contextRef="#ctx0" brushRef="#br0" timeOffset="35033.33">23954 4939 0,'0'70'109,"0"54"-93,0-18-1,0-18 1,0 18 0,0 70-1,0-88-15,-18-35 16,-35 229 0,53-176-16,-17-17 15,17-19 1</inkml:trace>
  <inkml:trace contextRef="#ctx0" brushRef="#br0" timeOffset="36939.11">21961 3387 0,'17'0'78,"1"0"-62,0 0-16,-1 0 16,36-36-1,0 19 1,-18-19-1,1 36-15,17-35 16,-36 35-16,107-53 31,-89 53-31,106-70 16,-17 34 0,-54 19-1,54-36 1,-71 18-1,-1 35 1,-16-18 0,-1 18-1,-35-18-15,35 1 32,1-1-17</inkml:trace>
  <inkml:trace contextRef="#ctx0" brushRef="#br0" timeOffset="37755.14">21714 3422 0,'0'0'16,"35"0"0,-17 0-16,17 0 15,-17 0 17,-1 18-17,19 17 1,34 53-1,54 36 1,-89-107-16,53 36 16,36 53-1,-89-88-15,71 52 16,17 1 0,-70-54-1,-35-17 1,-1 36-1,19-19 1,-1 1 0</inkml:trace>
  <inkml:trace contextRef="#ctx0" brushRef="#br0" timeOffset="38411.28">23425 3193 0,'35'0'15,"53"-18"17,-35 18-17,18 0 1,-36-18-1,53 18 1,-35 0 0,53 0-1,-71-17 1,0 17 0,-17 0-1</inkml:trace>
  <inkml:trace contextRef="#ctx0" brushRef="#br0" timeOffset="39067.39">24024 2681 0,'0'0'16,"-52"0"-1,52 18 1,-53 17-1,17-35 1,1 53 0,0 0 15,0 35-15,-1-35-16,36-35 15,-17 35-15,17-36 16,-18 71-1,18-70-15,0 17 16,-18 106 0,18-35-1,0-35 1,0-54 0,0 19-1,36 17 1,-36-18-1,17 18 1,-17-36 0,0 19 15,-17 17-15,-1-53-16,0 17 15,-17-17 32,-18-17-31</inkml:trace>
  <inkml:trace contextRef="#ctx0" brushRef="#br0" timeOffset="39690.46">24254 2858 0,'-18'70'94,"-35"36"-79,36-36-15,-19 1 16,36-36-1,0 18 1,0 53 0,18-35-1,53 34 1,-36-87-16,0 0 16,0-1-1,-17-17-15</inkml:trace>
  <inkml:trace contextRef="#ctx0" brushRef="#br0" timeOffset="40549.9">24395 3069 0,'0'0'16,"35"0"15,-17 0-31,-1 0 16,36 0-1,-35 0-15,17 18 32,1-1-17,-1 1-15,-35 0 16,18 17-1,-18 36 1,-18-19 0,0-16-1,-17-19 1,17-17 0,1 18-1,-1-18 1,0 0 15,1 0-15,-1 0-1,0 0 17,54 0 46,52 0-63,-70 0 17,-1 0-17,1 0 16,17 0-15,18 0 15,18 0-15,-54 0 0</inkml:trace>
  <inkml:trace contextRef="#ctx0" brushRef="#br0" timeOffset="40987.07">24854 2769 0,'17'0'46,"36"89"-30,-35-54-16,-1 88 16,1-35-1,0 54 1,-18-90 0,0 1 15,-18 0-31,0-17 15,18 16 1,-17-16-16,-36 17 16,0 0-1,18-18 1,17-35-16</inkml:trace>
  <inkml:trace contextRef="#ctx0" brushRef="#br0" timeOffset="41690.25">23548 4357 0,'0'0'16,"18"0"-1,0 0-15,17-18 16,106 1-1,18-1 1,-89 18 0,-17-18-1,0 18 1,-35 0 0,-1 0 15,1 0-31</inkml:trace>
  <inkml:trace contextRef="#ctx0" brushRef="#br0" timeOffset="42446.31">24024 4004 0,'-17'0'16,"-1"0"15,1 0 1,-1 0-17,0 18-15,1-1 16,-19 36-1,-34 18 1,52-18 0,18-36-1,-17 1 1,-1 35 0,18 17 15,0-17-16,0 106 1,0-124 0,35 18-1,-17 0 17,-18-35-17,0 35 1,0-36 15,-71 1 0,-17-18-15,0 0 0,53 0-1,17 0 1,18-18 15,0 1-15</inkml:trace>
  <inkml:trace contextRef="#ctx0" brushRef="#br0" timeOffset="43071.21">24448 4039 0,'-53'0'47,"-123"106"-31,17 0 0,53-35-1,53-1 1,53-35-1,0 18 1,0 35 15,35-17-15,1-36 0,-1 18-16,-18-35 31,1-1-16,0-17-15,-1 0 16</inkml:trace>
  <inkml:trace contextRef="#ctx0" brushRef="#br0" timeOffset="43649.15">24324 4286 0,'18'88'31,"-18"-70"-15,0 70 15,0-70-31,0 0 16,0-1-16,0 1 16,0 17-1,0-17-15,0 17 16,0 53-1,18 0 1,-18-141 62</inkml:trace>
  <inkml:trace contextRef="#ctx0" brushRef="#br0" timeOffset="44133.43">24554 4057 0,'17'0'47,"124"141"-16,-88 0 0,-35-53-15,-18-35 0,0 18-1,-18 35 1,1-53-1,-1-36-15,18 1 16,-18-1-16,1-17 16,-1 18-16,1 0 15,-1-18 1,0 0-16,1 17 16,-72-17-1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D1DE9791-BDB6-491E-AF4D-EDDD719BF55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88E474-2C8C-4B92-A243-AAD9A3537B7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EDDEDAE-E845-46FF-A131-4344EBB67F5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DA85C9A-7DF4-496F-9B3F-815CE72CA87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34CF5E7B-A3B3-496D-B561-A8D534BD54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ECE98732-FECE-45BF-8624-72F19FB1E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noProof="1" dirty="0">
                <a:cs typeface="+mn-ea"/>
              </a:defRPr>
            </a:lvl1pPr>
          </a:lstStyle>
          <a:p>
            <a:fld id="{2B406BBF-31B3-4B23-838E-B89519D094D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>
            <a:extLst>
              <a:ext uri="{FF2B5EF4-FFF2-40B4-BE49-F238E27FC236}">
                <a16:creationId xmlns:a16="http://schemas.microsoft.com/office/drawing/2014/main" id="{0FDED8FB-DF6E-4A07-9ED7-A492993D2E6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0418" name="文本占位符 2">
            <a:extLst>
              <a:ext uri="{FF2B5EF4-FFF2-40B4-BE49-F238E27FC236}">
                <a16:creationId xmlns:a16="http://schemas.microsoft.com/office/drawing/2014/main" id="{F858F37F-98EA-442F-ABB0-9BACFC63AA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118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43FEC3F-FBB9-443E-A0B4-7F96BDC75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64EDA86-C928-4911-829A-3D2C125EDC3D}" type="slidenum">
              <a:rPr lang="zh-CN" altLang="en-US" sz="1800" smtClean="0"/>
              <a:pPr/>
              <a:t>18</a:t>
            </a:fld>
            <a:endParaRPr lang="zh-CN" altLang="en-US" sz="18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3CB47E9-35D6-4587-98E1-4E5111BAFBA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C074A12D-1B81-45C4-86B6-E43B79324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剖析问题；</a:t>
            </a:r>
          </a:p>
          <a:p>
            <a:pPr eaLnBrk="1" hangingPunct="1"/>
            <a:r>
              <a:rPr lang="zh-CN" altLang="en-US"/>
              <a:t>设计程序；</a:t>
            </a:r>
          </a:p>
          <a:p>
            <a:pPr eaLnBrk="1" hangingPunct="1"/>
            <a:r>
              <a:rPr lang="zh-CN" altLang="en-US"/>
              <a:t>走盘子为3个时的</a:t>
            </a:r>
            <a:r>
              <a:rPr lang="en-US" altLang="zh-CN"/>
              <a:t>move</a:t>
            </a:r>
            <a:r>
              <a:rPr lang="zh-CN" altLang="en-US"/>
              <a:t>调用流程图；</a:t>
            </a:r>
          </a:p>
          <a:p>
            <a:pPr eaLnBrk="1" hangingPunct="1"/>
            <a:r>
              <a:rPr lang="zh-CN" altLang="en-US"/>
              <a:t>给出</a:t>
            </a:r>
            <a:r>
              <a:rPr lang="en-US" altLang="zh-CN"/>
              <a:t>move</a:t>
            </a:r>
            <a:r>
              <a:rPr lang="zh-CN" altLang="en-US"/>
              <a:t>调用的堆栈空间变化图；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406BBF-31B3-4B23-838E-B89519D094DA}" type="slidenum">
              <a:rPr lang="zh-CN" altLang="en-US" smtClean="0"/>
              <a:pPr/>
              <a:t>28</a:t>
            </a:fld>
            <a:endParaRPr lang="zh-CN" alt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59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F6B7BF9-1ED8-4BF6-A186-D720B568C8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033CED-A82B-40AB-BA14-4EF1BAA3AE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813111-21A6-4116-BE84-3CD2EFD88B5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177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AD897D-7D7D-435B-ADF1-AD4890466A6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C4ABAA-E797-4ED3-A90A-BB996CD53B1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51388E-F41B-40A6-9540-63A3502C42B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07733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2418C79-FEF0-478F-A929-A3426F0BEC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54F09B4-6D41-4998-A898-D187ED801C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81FA0-63FA-42FA-9824-1F7EB410B9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6452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B1CD3E-3097-42D7-A71B-C61B69A317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351C88-E44E-4F3D-901B-4DC4119983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C57BC-B584-4599-9746-C82EA3CA1D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8139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30FD85-BCF7-47F9-9C0D-83D4ED47D4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0FF72B-1FEC-49B5-A2C4-9A5FC50E856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452399-C822-447F-A5F1-F186996A5F2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738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1284374-FACE-4873-9B6A-706610A59FF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15DDD8A-89D3-4C5D-AD47-B4F8290197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745265-B629-47E3-9D4F-8ABAC82EED1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19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3650" y="404813"/>
            <a:ext cx="7772400" cy="7207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3810000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00463"/>
            <a:ext cx="3810000" cy="22304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8E8D5D-4508-462D-9D37-2C630E71F8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DD3BB5-7C33-47CF-AB24-1FC76EA807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8152F3-4D43-465B-A06B-D223F5E2DBF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589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404813"/>
            <a:ext cx="8350250" cy="55260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1E8075-3E95-461A-9269-6EB667B877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9389297-0C95-4E21-85EC-E30AC74C6CF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A25320-930C-4943-9235-0A13518629E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2807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4775C0-05FF-42F9-8804-A71190DAAF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/>
              <a:t>单击以编辑</a:t>
            </a:r>
            <a:r>
              <a:rPr lang="zh-CN" altLang="en-US" dirty="0"/>
              <a:t>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A6D343-A643-4CB7-B3AE-B1350AC1922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id="{B0F4B03B-E123-453E-ACA6-8131CE20D9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>
              <a:spcBef>
                <a:spcPct val="50000"/>
              </a:spcBef>
              <a:buFontTx/>
              <a:buNone/>
              <a:defRPr kumimoji="1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8" name="Rectangle 6">
            <a:extLst>
              <a:ext uri="{FF2B5EF4-FFF2-40B4-BE49-F238E27FC236}">
                <a16:creationId xmlns:a16="http://schemas.microsoft.com/office/drawing/2014/main" id="{BF0C4CD7-B73F-42F6-8C1E-061D6A834B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 b="1" noProof="1" dirty="0">
                <a:cs typeface="+mn-ea"/>
              </a:defRPr>
            </a:lvl1pPr>
          </a:lstStyle>
          <a:p>
            <a:fld id="{60F516C9-7524-471D-B457-DE411435041A}" type="slidenum">
              <a:rPr lang="zh-CN" altLang="en-US"/>
              <a:pPr/>
              <a:t>‹#›</a:t>
            </a:fld>
            <a:endParaRPr lang="zh-CN" altLang="en-US">
              <a:cs typeface="+mn-cs"/>
            </a:endParaRPr>
          </a:p>
        </p:txBody>
      </p:sp>
      <p:grpSp>
        <p:nvGrpSpPr>
          <p:cNvPr id="1030" name="Group 7">
            <a:extLst>
              <a:ext uri="{FF2B5EF4-FFF2-40B4-BE49-F238E27FC236}">
                <a16:creationId xmlns:a16="http://schemas.microsoft.com/office/drawing/2014/main" id="{8EEBCEA1-B970-4970-8137-890AC6F33623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4032"/>
            <a:chExt cx="5760" cy="288"/>
          </a:xfrm>
        </p:grpSpPr>
        <p:sp>
          <p:nvSpPr>
            <p:cNvPr id="1034" name="Rectangle 8">
              <a:extLst>
                <a:ext uri="{FF2B5EF4-FFF2-40B4-BE49-F238E27FC236}">
                  <a16:creationId xmlns:a16="http://schemas.microsoft.com/office/drawing/2014/main" id="{DEB62FAC-CF4C-4C98-A11A-EFD4308C0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032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2" name="Line 9">
              <a:extLst>
                <a:ext uri="{FF2B5EF4-FFF2-40B4-BE49-F238E27FC236}">
                  <a16:creationId xmlns:a16="http://schemas.microsoft.com/office/drawing/2014/main" id="{296F0CF4-32AB-4C5C-8055-E4E2C6F03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4032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Line 10">
              <a:extLst>
                <a:ext uri="{FF2B5EF4-FFF2-40B4-BE49-F238E27FC236}">
                  <a16:creationId xmlns:a16="http://schemas.microsoft.com/office/drawing/2014/main" id="{5692294E-F265-4FB9-A5AD-84FB0A477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Line 11">
              <a:extLst>
                <a:ext uri="{FF2B5EF4-FFF2-40B4-BE49-F238E27FC236}">
                  <a16:creationId xmlns:a16="http://schemas.microsoft.com/office/drawing/2014/main" id="{268C7260-2F15-45D3-9787-771BF99D2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12">
              <a:extLst>
                <a:ext uri="{FF2B5EF4-FFF2-40B4-BE49-F238E27FC236}">
                  <a16:creationId xmlns:a16="http://schemas.microsoft.com/office/drawing/2014/main" id="{07F8156C-4BEA-40B1-B79B-FE71C0EE5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13">
              <a:extLst>
                <a:ext uri="{FF2B5EF4-FFF2-40B4-BE49-F238E27FC236}">
                  <a16:creationId xmlns:a16="http://schemas.microsoft.com/office/drawing/2014/main" id="{8E4E5F2E-C896-4F73-BC0C-7221F5DAD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4032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4">
              <a:extLst>
                <a:ext uri="{FF2B5EF4-FFF2-40B4-BE49-F238E27FC236}">
                  <a16:creationId xmlns:a16="http://schemas.microsoft.com/office/drawing/2014/main" id="{69A19E86-5EF3-4D33-AC03-F1F3B6D7B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4032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5">
              <a:extLst>
                <a:ext uri="{FF2B5EF4-FFF2-40B4-BE49-F238E27FC236}">
                  <a16:creationId xmlns:a16="http://schemas.microsoft.com/office/drawing/2014/main" id="{91898727-3154-436B-AAD3-9BE2A153E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4032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9" name="Line 16">
            <a:extLst>
              <a:ext uri="{FF2B5EF4-FFF2-40B4-BE49-F238E27FC236}">
                <a16:creationId xmlns:a16="http://schemas.microsoft.com/office/drawing/2014/main" id="{AFCB3179-F6C0-4CA5-9BCB-F593E1A1F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17">
            <a:extLst>
              <a:ext uri="{FF2B5EF4-FFF2-40B4-BE49-F238E27FC236}">
                <a16:creationId xmlns:a16="http://schemas.microsoft.com/office/drawing/2014/main" id="{7B41DB1D-E2BF-45EF-9C6A-9D8CD610E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  <a:p>
            <a:pPr eaLnBrk="1" hangingPunct="1">
              <a:spcBef>
                <a:spcPct val="50000"/>
              </a:spcBef>
              <a:buFontTx/>
              <a:buNone/>
              <a:defRPr/>
            </a:pPr>
            <a:endParaRPr lang="zh-CN" altLang="en-US" sz="3200" b="1">
              <a:solidFill>
                <a:srgbClr val="FFFFFF"/>
              </a:solidFill>
            </a:endParaRPr>
          </a:p>
        </p:txBody>
      </p:sp>
      <p:pic>
        <p:nvPicPr>
          <p:cNvPr id="1041" name="Picture 18" descr="bupt">
            <a:extLst>
              <a:ext uri="{FF2B5EF4-FFF2-40B4-BE49-F238E27FC236}">
                <a16:creationId xmlns:a16="http://schemas.microsoft.com/office/drawing/2014/main" id="{8AF0AFB4-4B40-4224-AB42-2B489A915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2" r:id="rId2"/>
    <p:sldLayoutId id="2147483709" r:id="rId3"/>
    <p:sldLayoutId id="2147483708" r:id="rId4"/>
    <p:sldLayoutId id="2147483702" r:id="rId5"/>
    <p:sldLayoutId id="2147483701" r:id="rId6"/>
    <p:sldLayoutId id="2147483700" r:id="rId7"/>
    <p:sldLayoutId id="2147483699" r:id="rId8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kumimoji="1"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6.emf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4">
            <a:extLst>
              <a:ext uri="{FF2B5EF4-FFF2-40B4-BE49-F238E27FC236}">
                <a16:creationId xmlns:a16="http://schemas.microsoft.com/office/drawing/2014/main" id="{B9D57852-05B1-4799-B403-649A785CED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4CFF08-E783-4E1E-AC56-DDBCCBDEDB30}" type="slidenum">
              <a:rPr lang="zh-CN" altLang="en-US" smtClean="0"/>
              <a:pPr/>
              <a:t>1</a:t>
            </a:fld>
            <a:endParaRPr lang="zh-CN" altLang="en-US"/>
          </a:p>
        </p:txBody>
      </p:sp>
      <p:grpSp>
        <p:nvGrpSpPr>
          <p:cNvPr id="5122" name="Group 6">
            <a:extLst>
              <a:ext uri="{FF2B5EF4-FFF2-40B4-BE49-F238E27FC236}">
                <a16:creationId xmlns:a16="http://schemas.microsoft.com/office/drawing/2014/main" id="{BDD8166F-9880-49E4-B34C-FC535232EE15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17700"/>
            <a:ext cx="5903913" cy="863600"/>
            <a:chOff x="1488" y="1152"/>
            <a:chExt cx="2736" cy="624"/>
          </a:xfrm>
        </p:grpSpPr>
        <p:sp>
          <p:nvSpPr>
            <p:cNvPr id="5123" name="Rectangle 7">
              <a:extLst>
                <a:ext uri="{FF2B5EF4-FFF2-40B4-BE49-F238E27FC236}">
                  <a16:creationId xmlns:a16="http://schemas.microsoft.com/office/drawing/2014/main" id="{9C6E305D-042D-40D1-9421-1EF916BBB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152"/>
              <a:ext cx="2736" cy="624"/>
            </a:xfrm>
            <a:prstGeom prst="rect">
              <a:avLst/>
            </a:prstGeom>
            <a:gradFill rotWithShape="0">
              <a:gsLst>
                <a:gs pos="0">
                  <a:srgbClr val="3E040E"/>
                </a:gs>
                <a:gs pos="50000">
                  <a:srgbClr val="CF0E30"/>
                </a:gs>
                <a:gs pos="100000">
                  <a:srgbClr val="3E040E"/>
                </a:gs>
              </a:gsLst>
              <a:lin ang="27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24" name="Text Box 8">
              <a:extLst>
                <a:ext uri="{FF2B5EF4-FFF2-40B4-BE49-F238E27FC236}">
                  <a16:creationId xmlns:a16="http://schemas.microsoft.com/office/drawing/2014/main" id="{E4E2B0D3-6A83-406F-B946-B32839FBC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200"/>
              <a:ext cx="2612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</a:rPr>
                <a:t>第五章  函数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-</a:t>
              </a:r>
              <a:r>
                <a:rPr lang="zh-CN" altLang="en-US" sz="3600" b="1" dirty="0">
                  <a:solidFill>
                    <a:schemeClr val="bg1"/>
                  </a:solidFill>
                </a:rPr>
                <a:t>递归</a:t>
              </a:r>
              <a:r>
                <a:rPr lang="en-US" altLang="zh-CN" sz="3600" b="1" dirty="0">
                  <a:solidFill>
                    <a:schemeClr val="bg1"/>
                  </a:solidFill>
                </a:rPr>
                <a:t>recursion</a:t>
              </a:r>
            </a:p>
          </p:txBody>
        </p:sp>
      </p:grpSp>
      <p:pic>
        <p:nvPicPr>
          <p:cNvPr id="5125" name="Picture 9" descr="地球">
            <a:extLst>
              <a:ext uri="{FF2B5EF4-FFF2-40B4-BE49-F238E27FC236}">
                <a16:creationId xmlns:a16="http://schemas.microsoft.com/office/drawing/2014/main" id="{0F0B3F10-14F8-47FF-82C8-B256B8A7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4941888"/>
            <a:ext cx="15843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10">
            <a:extLst>
              <a:ext uri="{FF2B5EF4-FFF2-40B4-BE49-F238E27FC236}">
                <a16:creationId xmlns:a16="http://schemas.microsoft.com/office/drawing/2014/main" id="{E076B6D0-05F4-446D-8F00-2DA0361B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00438"/>
            <a:ext cx="7705725" cy="15541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选自：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</a:t>
            </a:r>
            <a:r>
              <a:rPr lang="zh-CN" altLang="en-US" sz="2400" b="1"/>
              <a:t>计算机导论与程序设计基础</a:t>
            </a:r>
            <a:r>
              <a:rPr lang="en-US" altLang="zh-CN" sz="2400" b="1"/>
              <a:t>》 </a:t>
            </a:r>
            <a:r>
              <a:rPr lang="zh-CN" altLang="en-US" sz="2400" b="1"/>
              <a:t>第</a:t>
            </a:r>
            <a:r>
              <a:rPr lang="en-US" altLang="zh-CN" sz="2400" b="1"/>
              <a:t>6</a:t>
            </a:r>
            <a:r>
              <a:rPr lang="zh-CN" altLang="en-US" sz="2400" b="1"/>
              <a:t>章以及第</a:t>
            </a:r>
            <a:r>
              <a:rPr lang="en-US" altLang="zh-CN" sz="2400" b="1"/>
              <a:t>16</a:t>
            </a:r>
            <a:r>
              <a:rPr lang="zh-CN" altLang="en-US" sz="2400" b="1"/>
              <a:t>章的</a:t>
            </a:r>
            <a:r>
              <a:rPr lang="en-US" altLang="zh-CN" sz="2400" b="1"/>
              <a:t>16.1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《C primer plus》 9.3</a:t>
            </a:r>
            <a:endParaRPr lang="zh-CN" altLang="en-US" sz="2400" b="1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4">
            <a:extLst>
              <a:ext uri="{FF2B5EF4-FFF2-40B4-BE49-F238E27FC236}">
                <a16:creationId xmlns:a16="http://schemas.microsoft.com/office/drawing/2014/main" id="{E57415F3-3098-4F43-AD92-02424410D1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AD000F-01E8-4E04-8323-EB5E3AB86ABC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6146" name="Rectangle 3">
            <a:extLst>
              <a:ext uri="{FF2B5EF4-FFF2-40B4-BE49-F238E27FC236}">
                <a16:creationId xmlns:a16="http://schemas.microsoft.com/office/drawing/2014/main" id="{2934581B-6FAA-4FF3-BE15-60D2D5949E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递归算法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6ABE6B70-3634-46A2-A856-3F85383A4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6148" name="Picture 5" descr="页面">
            <a:extLst>
              <a:ext uri="{FF2B5EF4-FFF2-40B4-BE49-F238E27FC236}">
                <a16:creationId xmlns:a16="http://schemas.microsoft.com/office/drawing/2014/main" id="{155B159E-DD49-4408-9E05-CA9650AC0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灯片编号占位符 4">
            <a:extLst>
              <a:ext uri="{FF2B5EF4-FFF2-40B4-BE49-F238E27FC236}">
                <a16:creationId xmlns:a16="http://schemas.microsoft.com/office/drawing/2014/main" id="{2FAC9032-FE6A-4393-AFD4-0749D6075C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ECB6D08-7DFF-4F49-87D1-4DAA3317EA1B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1ECCAA25-3D89-43BF-9129-04013760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递归算法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58B3B0-F566-4937-8F2A-B5B62E696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</a:rPr>
              <a:t>若一个算法通过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把问题归约到带更小输入的相同问题的实例来解决原来的问题，</a:t>
            </a:r>
            <a:endParaRPr lang="en-US" altLang="zh-CN" b="1" dirty="0">
              <a:solidFill>
                <a:schemeClr val="tx2"/>
              </a:solidFill>
            </a:endParaRPr>
          </a:p>
          <a:p>
            <a:pPr lvl="1" eaLnBrk="1" hangingPunct="1"/>
            <a:r>
              <a:rPr lang="zh-CN" altLang="en-US" b="1" dirty="0">
                <a:solidFill>
                  <a:schemeClr val="tx2"/>
                </a:solidFill>
              </a:rPr>
              <a:t>则这个算法称为递归的。</a:t>
            </a:r>
            <a:endParaRPr lang="en-US" altLang="zh-CN" b="1" dirty="0">
              <a:solidFill>
                <a:schemeClr val="tx2"/>
              </a:solidFill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迭代算法：从初始条件开始，利用递归定义一步步求得较大的函数值，这样的过程称为迭代。</a:t>
            </a:r>
            <a:endParaRPr lang="en-US" altLang="zh-CN" b="1" noProof="1">
              <a:cs typeface="+mn-ea"/>
            </a:endParaRPr>
          </a:p>
          <a:p>
            <a:pPr eaLnBrk="1" hangingPunct="1">
              <a:defRPr/>
            </a:pPr>
            <a:r>
              <a:rPr lang="zh-CN" altLang="en-US" b="1" noProof="1">
                <a:cs typeface="+mn-ea"/>
              </a:rPr>
              <a:t>递归算法：</a:t>
            </a:r>
            <a:r>
              <a:rPr lang="zh-CN" altLang="en-US" b="1" u="sng" noProof="1">
                <a:cs typeface="+mn-ea"/>
              </a:rPr>
              <a:t>直接用递归定义设计一个递归函数，然后调用这个递归函数从</a:t>
            </a:r>
            <a:r>
              <a:rPr lang="en-US" altLang="zh-CN" b="1" u="sng" noProof="1">
                <a:cs typeface="+mn-ea"/>
              </a:rPr>
              <a:t>f(n)</a:t>
            </a:r>
            <a:r>
              <a:rPr lang="zh-CN" altLang="en-US" b="1" u="sng" noProof="1">
                <a:cs typeface="+mn-ea"/>
              </a:rPr>
              <a:t>一步步递推至初始条件，再自动逐级函数回归完成计算，这样的过程称为递归</a:t>
            </a:r>
            <a:r>
              <a:rPr lang="en-US" altLang="zh-CN" b="1" u="sng" noProof="1">
                <a:cs typeface="+mn-ea"/>
              </a:rPr>
              <a:t>(recurrsion)</a:t>
            </a:r>
            <a:r>
              <a:rPr lang="zh-CN" altLang="en-US" b="1" u="sng" noProof="1">
                <a:cs typeface="+mn-ea"/>
              </a:rPr>
              <a:t>。</a:t>
            </a:r>
            <a:endParaRPr lang="en-US" altLang="zh-CN" b="1" dirty="0">
              <a:solidFill>
                <a:schemeClr val="tx2"/>
              </a:solidFill>
            </a:endParaRPr>
          </a:p>
          <a:p>
            <a:pPr marL="0" indent="0" eaLnBrk="1" hangingPunct="1">
              <a:buNone/>
            </a:pPr>
            <a:endParaRPr lang="en-US" altLang="zh-CN" b="1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4">
            <a:extLst>
              <a:ext uri="{FF2B5EF4-FFF2-40B4-BE49-F238E27FC236}">
                <a16:creationId xmlns:a16="http://schemas.microsoft.com/office/drawing/2014/main" id="{A35F35E0-F5F0-43A2-8AC2-1A10E621F7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A1C39A2-BF32-4474-A759-2ADA3C83C401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0E4B726-322B-4672-B606-535CBD5574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1925" y="1002190"/>
            <a:ext cx="8820150" cy="10795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kumimoji="1" lang="zh-CN" altLang="en-US" b="1" dirty="0"/>
              <a:t>  练习：用函数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求斐波那契数列的第</a:t>
            </a:r>
            <a:r>
              <a:rPr kumimoji="1" lang="en-US" altLang="zh-CN" b="1" dirty="0"/>
              <a:t>n</a:t>
            </a:r>
            <a:r>
              <a:rPr kumimoji="1" lang="zh-CN" altLang="en-US" b="1" dirty="0"/>
              <a:t>项。斐波那契数列为：</a:t>
            </a:r>
            <a:r>
              <a:rPr kumimoji="1" lang="en-US" altLang="zh-CN" b="1" dirty="0"/>
              <a:t>0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1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2</a:t>
            </a:r>
            <a:r>
              <a:rPr kumimoji="1" lang="zh-CN" altLang="en-US" b="1" dirty="0"/>
              <a:t>、</a:t>
            </a:r>
            <a:r>
              <a:rPr kumimoji="1" lang="en-US" altLang="zh-CN" b="1" dirty="0"/>
              <a:t>3</a:t>
            </a:r>
            <a:r>
              <a:rPr kumimoji="1" lang="zh-CN" altLang="en-US" b="1" dirty="0"/>
              <a:t>、</a:t>
            </a:r>
            <a:r>
              <a:rPr kumimoji="1" lang="en-US" altLang="zh-CN" b="1" dirty="0">
                <a:latin typeface="宋体" panose="02010600030101010101" pitchFamily="2" charset="-122"/>
              </a:rPr>
              <a:t>……</a:t>
            </a:r>
            <a:r>
              <a:rPr kumimoji="1" lang="en-US" altLang="zh-CN" b="1" dirty="0"/>
              <a:t> </a:t>
            </a:r>
            <a:r>
              <a:rPr kumimoji="1" lang="zh-CN" altLang="en-US" b="1" dirty="0"/>
              <a:t>。函数</a:t>
            </a:r>
            <a:r>
              <a:rPr kumimoji="1" lang="en-US" altLang="zh-CN" b="1" dirty="0"/>
              <a:t>fib</a:t>
            </a:r>
            <a:r>
              <a:rPr kumimoji="1" lang="zh-CN" altLang="en-US" b="1" dirty="0"/>
              <a:t>定义如下：</a:t>
            </a:r>
          </a:p>
        </p:txBody>
      </p:sp>
      <p:sp>
        <p:nvSpPr>
          <p:cNvPr id="58371" name="Text Box 4">
            <a:extLst>
              <a:ext uri="{FF2B5EF4-FFF2-40B4-BE49-F238E27FC236}">
                <a16:creationId xmlns:a16="http://schemas.microsoft.com/office/drawing/2014/main" id="{48271547-5087-416F-9EF7-A0544A091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2230438"/>
            <a:ext cx="5903913" cy="119856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6B6B6B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/>
              <a:t>	           0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0</a:t>
            </a:r>
          </a:p>
          <a:p>
            <a:r>
              <a:rPr lang="zh-CN" altLang="en-US" sz="2400" b="1" dirty="0"/>
              <a:t>   </a:t>
            </a:r>
            <a:r>
              <a:rPr lang="en-US" altLang="zh-CN" sz="2400" b="1" dirty="0"/>
              <a:t>fib(n)</a:t>
            </a:r>
            <a:r>
              <a:rPr lang="zh-CN" altLang="en-US" sz="2400" b="1" dirty="0"/>
              <a:t> ＝     </a:t>
            </a:r>
            <a:r>
              <a:rPr lang="en-US" altLang="zh-CN" sz="2400" b="1" dirty="0"/>
              <a:t>1        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</a:t>
            </a:r>
          </a:p>
          <a:p>
            <a:r>
              <a:rPr lang="en-US" altLang="zh-CN" sz="2400" b="1" dirty="0"/>
              <a:t>	           fib(n-2)+fib(n-1)       </a:t>
            </a:r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＞</a:t>
            </a:r>
            <a:r>
              <a:rPr lang="en-US" altLang="zh-CN" sz="2400" b="1" dirty="0"/>
              <a:t>1</a:t>
            </a:r>
          </a:p>
        </p:txBody>
      </p:sp>
      <p:sp>
        <p:nvSpPr>
          <p:cNvPr id="136197" name="AutoShape 5">
            <a:extLst>
              <a:ext uri="{FF2B5EF4-FFF2-40B4-BE49-F238E27FC236}">
                <a16:creationId xmlns:a16="http://schemas.microsoft.com/office/drawing/2014/main" id="{38A54DA8-6143-4C1F-BA7B-93B514DA6597}"/>
              </a:ext>
            </a:extLst>
          </p:cNvPr>
          <p:cNvSpPr/>
          <p:nvPr/>
        </p:nvSpPr>
        <p:spPr bwMode="auto">
          <a:xfrm>
            <a:off x="2915816" y="2397919"/>
            <a:ext cx="287337" cy="863600"/>
          </a:xfrm>
          <a:prstGeom prst="leftBrace">
            <a:avLst>
              <a:gd name="adj1" fmla="val 25046"/>
              <a:gd name="adj2" fmla="val 46690"/>
            </a:avLst>
          </a:prstGeom>
          <a:noFill/>
          <a:ln w="19050">
            <a:solidFill>
              <a:schemeClr val="tx1"/>
            </a:solidFill>
            <a:rou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A91005-2ED5-4D55-B3F7-F3E301D5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3789040"/>
            <a:ext cx="6147740" cy="22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813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4">
            <a:extLst>
              <a:ext uri="{FF2B5EF4-FFF2-40B4-BE49-F238E27FC236}">
                <a16:creationId xmlns:a16="http://schemas.microsoft.com/office/drawing/2014/main" id="{545DA15D-B56B-4D59-87D1-473FA7AD42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B7113D-C0AB-48D0-B3ED-176A9DC57332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B7A7D832-5FDC-4D96-B780-852C362E1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斐波那契数列的递归函数设计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5296D38-0ABE-466E-831A-DBF091700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267043"/>
            <a:ext cx="4896544" cy="540231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int num;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scanf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000" dirty="0">
                <a:latin typeface="Consolas" panose="020B0609020204030204" pitchFamily="49" charset="0"/>
              </a:rPr>
              <a:t>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</a:t>
            </a:r>
            <a:r>
              <a:rPr lang="en-US" altLang="zh-CN" sz="2000" dirty="0" err="1">
                <a:latin typeface="Consolas" panose="020B0609020204030204" pitchFamily="49" charset="0"/>
              </a:rPr>
              <a:t>lld</a:t>
            </a:r>
            <a:r>
              <a:rPr lang="en-US" altLang="zh-CN" sz="2000" dirty="0">
                <a:latin typeface="Consolas" panose="020B0609020204030204" pitchFamily="49" charset="0"/>
              </a:rPr>
              <a:t>",fib(num));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return 0;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long long fib(int n)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if(n==1 || n==2)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else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      return fib(n-2)+fib(n-1);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97029C3A-B415-4199-AB5A-DD23AEC92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980" y="1319213"/>
            <a:ext cx="3960440" cy="1200329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prstShdw prst="shdw17" dist="17961" dir="13500000">
              <a:srgbClr val="7A997A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3366"/>
                </a:solidFill>
              </a:rPr>
              <a:t>根据递归定义，</a:t>
            </a:r>
            <a:r>
              <a:rPr lang="zh-CN" altLang="en-US" sz="2400" b="1" dirty="0">
                <a:solidFill>
                  <a:srgbClr val="FF3300"/>
                </a:solidFill>
              </a:rPr>
              <a:t>函数要能调用自身！会陷入老和尚讲故事的死锁吗？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1EC0A9-94D6-6609-119F-F54DEBB4DF5B}"/>
              </a:ext>
            </a:extLst>
          </p:cNvPr>
          <p:cNvSpPr txBox="1"/>
          <p:nvPr/>
        </p:nvSpPr>
        <p:spPr>
          <a:xfrm>
            <a:off x="5796136" y="2768798"/>
            <a:ext cx="3239914" cy="34163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//</a:t>
            </a:r>
            <a:r>
              <a:rPr lang="zh-CN" altLang="en-US" dirty="0">
                <a:latin typeface="Consolas" panose="020B0609020204030204" pitchFamily="49" charset="0"/>
              </a:rPr>
              <a:t>方便</a:t>
            </a:r>
            <a:r>
              <a:rPr lang="en-US" altLang="zh-CN" dirty="0">
                <a:latin typeface="Consolas" panose="020B0609020204030204" pitchFamily="49" charset="0"/>
              </a:rPr>
              <a:t>debug</a:t>
            </a:r>
            <a:r>
              <a:rPr lang="zh-CN" altLang="en-US" dirty="0">
                <a:latin typeface="Consolas" panose="020B0609020204030204" pitchFamily="49" charset="0"/>
              </a:rPr>
              <a:t>的</a:t>
            </a:r>
            <a:r>
              <a:rPr lang="en-US" altLang="zh-CN" dirty="0">
                <a:latin typeface="Consolas" panose="020B0609020204030204" pitchFamily="49" charset="0"/>
              </a:rPr>
              <a:t>fib</a:t>
            </a:r>
            <a:r>
              <a:rPr lang="zh-CN" altLang="en-US" dirty="0">
                <a:latin typeface="Consolas" panose="020B0609020204030204" pitchFamily="49" charset="0"/>
              </a:rPr>
              <a:t>函数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long long fib(int n)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long long </a:t>
            </a:r>
            <a:r>
              <a:rPr lang="en-US" altLang="zh-CN" dirty="0" err="1">
                <a:latin typeface="Consolas" panose="020B0609020204030204" pitchFamily="49" charset="0"/>
              </a:rPr>
              <a:t>x,y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if(n==1 || n==2)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1;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else{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x=fib(n-2);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y=fib(n-1);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return </a:t>
            </a:r>
            <a:r>
              <a:rPr lang="en-US" altLang="zh-CN" dirty="0" err="1">
                <a:latin typeface="Consolas" panose="020B0609020204030204" pitchFamily="49" charset="0"/>
              </a:rPr>
              <a:t>x+y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8741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灯片编号占位符 4">
            <a:extLst>
              <a:ext uri="{FF2B5EF4-FFF2-40B4-BE49-F238E27FC236}">
                <a16:creationId xmlns:a16="http://schemas.microsoft.com/office/drawing/2014/main" id="{655D529C-9742-4723-8042-D5DFD7539B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4562036-ACB7-4ED3-8F1A-A9D36B523EF9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5666361-7B54-4E77-8928-19862D6CD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递归公式的初始条件保证了递归调用可终止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215ABA-EA1C-404F-ADA0-B6B395579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内部又调用函数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，为了防止调用无休无止，必须明确递归公式的初始条件，当该条件成立的时候，递归函数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将不会再调用自身。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800" b="1" dirty="0"/>
              <a:t>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/>
              <a:t>例如，求</a:t>
            </a:r>
            <a:r>
              <a:rPr lang="en-US" altLang="zh-CN" sz="2400" b="1" dirty="0"/>
              <a:t>n!</a:t>
            </a:r>
            <a:r>
              <a:rPr lang="zh-CN" altLang="en-US" sz="2400" b="1" dirty="0"/>
              <a:t>时，递归终止条件是初始条件</a:t>
            </a:r>
            <a:r>
              <a:rPr lang="en-US" altLang="zh-CN" sz="2400" b="1" dirty="0"/>
              <a:t> 0!=1</a:t>
            </a:r>
            <a:r>
              <a:rPr lang="zh-CN" altLang="en-US" sz="2400" b="1" dirty="0"/>
              <a:t>。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int </a:t>
            </a:r>
            <a:r>
              <a:rPr lang="en-US" altLang="zh-CN" sz="2400" dirty="0" err="1">
                <a:latin typeface="Consolas" panose="020B0609020204030204" pitchFamily="49" charset="0"/>
              </a:rPr>
              <a:t>rec_fac</a:t>
            </a:r>
            <a:r>
              <a:rPr lang="en-US" altLang="zh-CN" sz="2400" dirty="0">
                <a:latin typeface="Consolas" panose="020B0609020204030204" pitchFamily="49" charset="0"/>
              </a:rPr>
              <a:t>(int 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if(n == 0)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rec_</a:t>
            </a:r>
            <a:r>
              <a:rPr lang="en-US" altLang="zh-CN" sz="2400" dirty="0" err="1">
                <a:solidFill>
                  <a:srgbClr val="FF33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sz="2400" dirty="0">
                <a:solidFill>
                  <a:srgbClr val="FF3300"/>
                </a:solidFill>
                <a:latin typeface="Consolas" panose="020B0609020204030204" pitchFamily="49" charset="0"/>
              </a:rPr>
              <a:t>(n-1)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zh-CN" altLang="en-US" sz="2400" b="1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灯片编号占位符 4">
            <a:extLst>
              <a:ext uri="{FF2B5EF4-FFF2-40B4-BE49-F238E27FC236}">
                <a16:creationId xmlns:a16="http://schemas.microsoft.com/office/drawing/2014/main" id="{1100821E-2792-4123-A9E7-B0A2E78D24A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A210E6-5C9B-4067-ACA5-6C38D31E5B9A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1EE39258-5107-4E99-827B-38FC87BCA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递归可以分为直接递归和间接递归两种。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直接递归</a:t>
            </a:r>
            <a:r>
              <a:rPr lang="zh-CN" altLang="en-US" b="1">
                <a:latin typeface="宋体" panose="02010600030101010101" pitchFamily="2" charset="-122"/>
              </a:rPr>
              <a:t>：函数体里面发生对自己的调用；</a:t>
            </a:r>
          </a:p>
          <a:p>
            <a:pPr eaLnBrk="1" hangingPunct="1">
              <a:buFontTx/>
              <a:buNone/>
            </a:pPr>
            <a:r>
              <a:rPr lang="zh-CN" altLang="en-US" b="1">
                <a:solidFill>
                  <a:srgbClr val="000099"/>
                </a:solidFill>
                <a:latin typeface="宋体" panose="02010600030101010101" pitchFamily="2" charset="-122"/>
              </a:rPr>
              <a:t>间接递归</a:t>
            </a:r>
            <a:r>
              <a:rPr lang="zh-CN" altLang="en-US" b="1">
                <a:latin typeface="宋体" panose="02010600030101010101" pitchFamily="2" charset="-122"/>
              </a:rPr>
              <a:t>：函数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调用函数</a:t>
            </a:r>
            <a:r>
              <a:rPr lang="en-US" altLang="zh-CN" b="1">
                <a:latin typeface="宋体" panose="02010600030101010101" pitchFamily="2" charset="-122"/>
              </a:rPr>
              <a:t>B，</a:t>
            </a:r>
            <a:r>
              <a:rPr lang="zh-CN" altLang="en-US" b="1">
                <a:latin typeface="宋体" panose="02010600030101010101" pitchFamily="2" charset="-122"/>
              </a:rPr>
              <a:t>而函数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又直接或间接地调用函数</a:t>
            </a:r>
            <a:r>
              <a:rPr lang="en-US" altLang="zh-CN" b="1">
                <a:latin typeface="宋体" panose="02010600030101010101" pitchFamily="2" charset="-122"/>
              </a:rPr>
              <a:t>A。</a:t>
            </a:r>
            <a:endParaRPr lang="zh-CN" altLang="en-US" b="1"/>
          </a:p>
          <a:p>
            <a:pPr eaLnBrk="1" hangingPunct="1">
              <a:buFontTx/>
              <a:buNone/>
            </a:pPr>
            <a:endParaRPr lang="zh-CN" altLang="en-US" b="1"/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46ABD3FD-7DF2-4030-8D95-BE7DFB7DD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递归的分类</a:t>
            </a:r>
          </a:p>
        </p:txBody>
      </p:sp>
      <p:sp>
        <p:nvSpPr>
          <p:cNvPr id="142341" name="Text Box 5">
            <a:extLst>
              <a:ext uri="{FF2B5EF4-FFF2-40B4-BE49-F238E27FC236}">
                <a16:creationId xmlns:a16="http://schemas.microsoft.com/office/drawing/2014/main" id="{3B1E1823-19F4-4E0E-9954-CEAB593F7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B(…);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42342" name="Text Box 6">
            <a:extLst>
              <a:ext uri="{FF2B5EF4-FFF2-40B4-BE49-F238E27FC236}">
                <a16:creationId xmlns:a16="http://schemas.microsoft.com/office/drawing/2014/main" id="{7935433E-2CEA-4850-9674-A59F4658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141663"/>
            <a:ext cx="2016125" cy="3205162"/>
          </a:xfrm>
          <a:prstGeom prst="rect">
            <a:avLst/>
          </a:prstGeom>
          <a:solidFill>
            <a:srgbClr val="CCFFFF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B(…)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0" name="Text Box 7">
            <a:extLst>
              <a:ext uri="{FF2B5EF4-FFF2-40B4-BE49-F238E27FC236}">
                <a16:creationId xmlns:a16="http://schemas.microsoft.com/office/drawing/2014/main" id="{C7983EB4-572C-419D-A74E-0B4A68E7D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84538"/>
            <a:ext cx="2016125" cy="3205162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/>
              <a:t>A(…)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sz="2400" b="1"/>
              <a:t> 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 A(…);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    …</a:t>
            </a:r>
            <a:endParaRPr lang="zh-CN" altLang="en-US" sz="2400" b="1"/>
          </a:p>
          <a:p>
            <a:pPr>
              <a:spcBef>
                <a:spcPct val="50000"/>
              </a:spcBef>
            </a:pPr>
            <a:r>
              <a:rPr lang="en-US" altLang="zh-CN" sz="2400" b="1"/>
              <a:t>}</a:t>
            </a:r>
          </a:p>
        </p:txBody>
      </p:sp>
      <p:sp>
        <p:nvSpPr>
          <p:cNvPr id="11271" name="Text Box 9">
            <a:extLst>
              <a:ext uri="{FF2B5EF4-FFF2-40B4-BE49-F238E27FC236}">
                <a16:creationId xmlns:a16="http://schemas.microsoft.com/office/drawing/2014/main" id="{BC044BBF-55E8-491D-A414-B54BE75ED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直接递归</a:t>
            </a:r>
          </a:p>
        </p:txBody>
      </p:sp>
      <p:sp>
        <p:nvSpPr>
          <p:cNvPr id="11272" name="Text Box 10">
            <a:extLst>
              <a:ext uri="{FF2B5EF4-FFF2-40B4-BE49-F238E27FC236}">
                <a16:creationId xmlns:a16="http://schemas.microsoft.com/office/drawing/2014/main" id="{7D790D16-1AA6-437E-8EA0-1DD16FB82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221163"/>
            <a:ext cx="488950" cy="15113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/>
              <a:t>间接递归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1" grpId="0" animBg="1"/>
      <p:bldP spid="1423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灯片编号占位符 4">
            <a:extLst>
              <a:ext uri="{FF2B5EF4-FFF2-40B4-BE49-F238E27FC236}">
                <a16:creationId xmlns:a16="http://schemas.microsoft.com/office/drawing/2014/main" id="{C5C675BB-CD10-4855-AA2D-7E924E2596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2BF29FE-7F98-4995-B9A4-DAD714DD2C47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13314" name="Rectangle 4">
            <a:extLst>
              <a:ext uri="{FF2B5EF4-FFF2-40B4-BE49-F238E27FC236}">
                <a16:creationId xmlns:a16="http://schemas.microsoft.com/office/drawing/2014/main" id="{742F9335-EE16-4B23-9B70-631D5CCDA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递归算法设计</a:t>
            </a:r>
            <a:endParaRPr lang="en-US" altLang="zh-CN" b="1" dirty="0"/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9B756F22-A4D5-49A1-A397-AD6849CE9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13316" name="Picture 6" descr="页面">
            <a:extLst>
              <a:ext uri="{FF2B5EF4-FFF2-40B4-BE49-F238E27FC236}">
                <a16:creationId xmlns:a16="http://schemas.microsoft.com/office/drawing/2014/main" id="{8E2194F2-7E6E-4FD0-9E58-E1725A2BC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灯片编号占位符 4">
            <a:extLst>
              <a:ext uri="{FF2B5EF4-FFF2-40B4-BE49-F238E27FC236}">
                <a16:creationId xmlns:a16="http://schemas.microsoft.com/office/drawing/2014/main" id="{42B57827-FE20-4344-9A55-AB27E8CBEFE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2479E56-02BF-4C7D-AA67-6313F87EC23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450E5939-D7E8-4846-82C2-EDB7C170A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6C7D2F5-889A-43CB-B326-F2DEA19AF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以阶乘递归函数为例，查看</a:t>
            </a:r>
            <a:r>
              <a:rPr lang="en-US" altLang="zh-CN" b="1" dirty="0" err="1"/>
              <a:t>recFac</a:t>
            </a:r>
            <a:r>
              <a:rPr lang="en-US" altLang="zh-CN" b="1" dirty="0"/>
              <a:t>(2)</a:t>
            </a:r>
            <a:r>
              <a:rPr lang="zh-CN" altLang="en-US" b="1" dirty="0"/>
              <a:t>的递归调用过程。</a:t>
            </a:r>
            <a:endParaRPr lang="en-US" altLang="zh-CN" b="1" dirty="0"/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AA6D5DAB-81DB-4858-B67F-D4C7B648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1807706"/>
            <a:ext cx="5400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main()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int 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</a:t>
            </a:r>
            <a:r>
              <a:rPr lang="en-US" altLang="zh-CN" sz="2000" dirty="0" err="1"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</a:rPr>
              <a:t>("%d",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latin typeface="Consolas" panose="020B0609020204030204" pitchFamily="49" charset="0"/>
              </a:rPr>
              <a:t>));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return 0;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(int n)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if(n == 0) 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1;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else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         return n * </a:t>
            </a:r>
            <a:r>
              <a:rPr lang="en-US" altLang="zh-CN" sz="2000" dirty="0" err="1">
                <a:latin typeface="Consolas" panose="020B0609020204030204" pitchFamily="49" charset="0"/>
              </a:rPr>
              <a:t>recFac</a:t>
            </a:r>
            <a:r>
              <a:rPr lang="en-US" altLang="zh-CN" sz="2000" dirty="0">
                <a:latin typeface="Consolas" panose="020B0609020204030204" pitchFamily="49" charset="0"/>
              </a:rPr>
              <a:t>(n - 1);</a:t>
            </a:r>
          </a:p>
          <a:p>
            <a:r>
              <a:rPr lang="en-US" altLang="zh-CN" sz="2000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4">
            <a:extLst>
              <a:ext uri="{FF2B5EF4-FFF2-40B4-BE49-F238E27FC236}">
                <a16:creationId xmlns:a16="http://schemas.microsoft.com/office/drawing/2014/main" id="{8C7C9292-DF86-4B6B-B0C0-797139CE073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32D7DFD-DA56-477F-B547-7CE15D111A2F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15362" name="Rectangle 5">
            <a:extLst>
              <a:ext uri="{FF2B5EF4-FFF2-40B4-BE49-F238E27FC236}">
                <a16:creationId xmlns:a16="http://schemas.microsoft.com/office/drawing/2014/main" id="{ABB4A874-D42D-4C3A-ABDC-DB755F53A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ECC5E710-F395-4EB9-9FDE-652DD988CA41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518159"/>
              </p:ext>
            </p:extLst>
          </p:nvPr>
        </p:nvGraphicFramePr>
        <p:xfrm>
          <a:off x="0" y="1341438"/>
          <a:ext cx="8891588" cy="499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6204204" imgH="3497580" progId="Word.Picture.8">
                  <p:embed/>
                </p:oleObj>
              </mc:Choice>
              <mc:Fallback>
                <p:oleObj name="Picture" r:id="rId2" imgW="6204204" imgH="3497580" progId="Word.Picture.8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41438"/>
                        <a:ext cx="8891588" cy="4999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7">
            <a:extLst>
              <a:ext uri="{FF2B5EF4-FFF2-40B4-BE49-F238E27FC236}">
                <a16:creationId xmlns:a16="http://schemas.microsoft.com/office/drawing/2014/main" id="{ABC2E0A8-9CF5-4F61-BC4A-3EAD95FDF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0"/>
            <a:ext cx="3059113" cy="1785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prstShdw prst="shdw17" dist="17961" dir="13500000">
              <a:srgbClr val="007A5C"/>
            </a:prstShdw>
          </a:effec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/>
              <a:t>int </a:t>
            </a:r>
            <a:r>
              <a:rPr lang="en-US" altLang="zh-CN" b="1" dirty="0" err="1"/>
              <a:t>recFac</a:t>
            </a:r>
            <a:r>
              <a:rPr lang="en-US" altLang="zh-CN" b="1" dirty="0"/>
              <a:t>(int n)</a:t>
            </a:r>
          </a:p>
          <a:p>
            <a:r>
              <a:rPr lang="en-US" altLang="zh-CN" sz="1000" b="1" dirty="0"/>
              <a:t>{</a:t>
            </a:r>
          </a:p>
          <a:p>
            <a:r>
              <a:rPr lang="en-US" altLang="zh-CN" b="1" dirty="0"/>
              <a:t>     if(n == 0) </a:t>
            </a:r>
          </a:p>
          <a:p>
            <a:r>
              <a:rPr lang="en-US" altLang="zh-CN" b="1" dirty="0"/>
              <a:t>         return 1;</a:t>
            </a:r>
          </a:p>
          <a:p>
            <a:r>
              <a:rPr lang="en-US" altLang="zh-CN" b="1" dirty="0"/>
              <a:t>    else</a:t>
            </a:r>
          </a:p>
          <a:p>
            <a:r>
              <a:rPr lang="en-US" altLang="zh-CN" b="1" dirty="0"/>
              <a:t>         return n * </a:t>
            </a:r>
            <a:r>
              <a:rPr lang="en-US" altLang="zh-CN" b="1" dirty="0" err="1"/>
              <a:t>recFac</a:t>
            </a:r>
            <a:r>
              <a:rPr lang="en-US" altLang="zh-CN" b="1" dirty="0"/>
              <a:t>(n - 1);</a:t>
            </a:r>
          </a:p>
          <a:p>
            <a:r>
              <a:rPr lang="en-US" altLang="zh-CN" sz="1000" b="1" dirty="0"/>
              <a:t>}</a:t>
            </a:r>
          </a:p>
        </p:txBody>
      </p:sp>
      <p:sp>
        <p:nvSpPr>
          <p:cNvPr id="15365" name="Text Box 8">
            <a:extLst>
              <a:ext uri="{FF2B5EF4-FFF2-40B4-BE49-F238E27FC236}">
                <a16:creationId xmlns:a16="http://schemas.microsoft.com/office/drawing/2014/main" id="{7D8EA9B1-DA98-443A-95DC-6EF9450FB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366" name="Text Box 9">
            <a:extLst>
              <a:ext uri="{FF2B5EF4-FFF2-40B4-BE49-F238E27FC236}">
                <a16:creationId xmlns:a16="http://schemas.microsoft.com/office/drawing/2014/main" id="{1D7A5213-108F-4529-9DBA-AC34A04AD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068638"/>
            <a:ext cx="647700" cy="3667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调用</a:t>
            </a:r>
          </a:p>
        </p:txBody>
      </p:sp>
      <p:sp>
        <p:nvSpPr>
          <p:cNvPr id="152586" name="Rectangle 10">
            <a:extLst>
              <a:ext uri="{FF2B5EF4-FFF2-40B4-BE49-F238E27FC236}">
                <a16:creationId xmlns:a16="http://schemas.microsoft.com/office/drawing/2014/main" id="{5E0DF203-0752-4719-B615-B3C9D159B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6363" y="2559050"/>
            <a:ext cx="4889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①</a:t>
            </a:r>
          </a:p>
        </p:txBody>
      </p:sp>
      <p:sp>
        <p:nvSpPr>
          <p:cNvPr id="152587" name="Rectangle 11">
            <a:extLst>
              <a:ext uri="{FF2B5EF4-FFF2-40B4-BE49-F238E27FC236}">
                <a16:creationId xmlns:a16="http://schemas.microsoft.com/office/drawing/2014/main" id="{52CCABE2-8FBD-4981-9AB6-E640A3840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65400"/>
            <a:ext cx="490538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②</a:t>
            </a:r>
          </a:p>
        </p:txBody>
      </p:sp>
      <p:sp>
        <p:nvSpPr>
          <p:cNvPr id="152588" name="Rectangle 12">
            <a:extLst>
              <a:ext uri="{FF2B5EF4-FFF2-40B4-BE49-F238E27FC236}">
                <a16:creationId xmlns:a16="http://schemas.microsoft.com/office/drawing/2014/main" id="{1A5ED180-5F69-4DF7-B0D1-F940C37A5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④</a:t>
            </a:r>
          </a:p>
        </p:txBody>
      </p:sp>
      <p:sp>
        <p:nvSpPr>
          <p:cNvPr id="152589" name="Rectangle 13">
            <a:extLst>
              <a:ext uri="{FF2B5EF4-FFF2-40B4-BE49-F238E27FC236}">
                <a16:creationId xmlns:a16="http://schemas.microsoft.com/office/drawing/2014/main" id="{8F0FA21C-3121-4B98-A7B6-3CA1B29A0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013" y="5438775"/>
            <a:ext cx="490537" cy="457200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en-US" sz="2400" b="1">
                <a:solidFill>
                  <a:srgbClr val="FF3300"/>
                </a:solidFill>
              </a:rPr>
              <a:t>③</a:t>
            </a:r>
          </a:p>
        </p:txBody>
      </p:sp>
      <p:sp>
        <p:nvSpPr>
          <p:cNvPr id="152590" name="Text Box 14">
            <a:extLst>
              <a:ext uri="{FF2B5EF4-FFF2-40B4-BE49-F238E27FC236}">
                <a16:creationId xmlns:a16="http://schemas.microsoft.com/office/drawing/2014/main" id="{DD667FEF-873D-4964-9946-365BECF6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8769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1" name="Text Box 15">
            <a:extLst>
              <a:ext uri="{FF2B5EF4-FFF2-40B4-BE49-F238E27FC236}">
                <a16:creationId xmlns:a16="http://schemas.microsoft.com/office/drawing/2014/main" id="{D6896C1E-B099-4BD0-AF54-E1BB78905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163" y="5876925"/>
            <a:ext cx="503237" cy="366713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zh-CN" b="1"/>
              <a:t>1</a:t>
            </a:r>
          </a:p>
        </p:txBody>
      </p:sp>
      <p:sp>
        <p:nvSpPr>
          <p:cNvPr id="152592" name="Freeform 16">
            <a:extLst>
              <a:ext uri="{FF2B5EF4-FFF2-40B4-BE49-F238E27FC236}">
                <a16:creationId xmlns:a16="http://schemas.microsoft.com/office/drawing/2014/main" id="{1DA1F333-22B7-4588-8D3C-28C3594F773B}"/>
              </a:ext>
            </a:extLst>
          </p:cNvPr>
          <p:cNvSpPr/>
          <p:nvPr/>
        </p:nvSpPr>
        <p:spPr bwMode="auto">
          <a:xfrm>
            <a:off x="179388" y="5373688"/>
            <a:ext cx="1152525" cy="431800"/>
          </a:xfrm>
          <a:custGeom>
            <a:avLst/>
            <a:gdLst/>
            <a:ahLst/>
            <a:cxnLst>
              <a:cxn ang="0">
                <a:pos x="726" y="0"/>
              </a:cxn>
              <a:cxn ang="0">
                <a:pos x="544" y="227"/>
              </a:cxn>
              <a:cxn ang="0">
                <a:pos x="0" y="272"/>
              </a:cxn>
            </a:cxnLst>
            <a:rect l="0" t="0" r="r" b="b"/>
            <a:pathLst>
              <a:path w="726" h="272">
                <a:moveTo>
                  <a:pt x="726" y="0"/>
                </a:moveTo>
                <a:cubicBezTo>
                  <a:pt x="695" y="91"/>
                  <a:pt x="665" y="182"/>
                  <a:pt x="544" y="227"/>
                </a:cubicBezTo>
                <a:cubicBezTo>
                  <a:pt x="423" y="272"/>
                  <a:pt x="211" y="272"/>
                  <a:pt x="0" y="27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5374" name="Text Box 17">
            <a:extLst>
              <a:ext uri="{FF2B5EF4-FFF2-40B4-BE49-F238E27FC236}">
                <a16:creationId xmlns:a16="http://schemas.microsoft.com/office/drawing/2014/main" id="{28E3BB40-9569-4E52-9F5D-537331841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5870575"/>
            <a:ext cx="1439862" cy="3667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/>
              <a:t>返回</a:t>
            </a:r>
            <a:r>
              <a:rPr lang="en-US" altLang="zh-CN" b="1"/>
              <a:t>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629F584-8459-B9F5-FF66-43F618E8AEA9}"/>
                  </a:ext>
                </a:extLst>
              </p14:cNvPr>
              <p14:cNvContentPartPr/>
              <p14:nvPr/>
            </p14:nvContentPartPr>
            <p14:xfrm>
              <a:off x="3562560" y="177840"/>
              <a:ext cx="5436000" cy="2089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629F584-8459-B9F5-FF66-43F618E8AE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3200" y="168480"/>
                <a:ext cx="5454720" cy="210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灯片编号占位符 5">
            <a:extLst>
              <a:ext uri="{FF2B5EF4-FFF2-40B4-BE49-F238E27FC236}">
                <a16:creationId xmlns:a16="http://schemas.microsoft.com/office/drawing/2014/main" id="{E45595CB-8E24-4927-8434-5F3E0FD051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022E003-53AC-40A8-90CC-301B292009C7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C23F377-20BE-4D29-9507-A306C49A2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47A4CE64-4C42-4BEE-9481-9E6BC038A77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268413"/>
            <a:ext cx="8675687" cy="5133975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请思考：</a:t>
            </a:r>
          </a:p>
          <a:p>
            <a:pPr lvl="1" eaLnBrk="1" hangingPunct="1"/>
            <a:r>
              <a:rPr lang="zh-CN" altLang="en-US" sz="2400" b="1" dirty="0"/>
              <a:t>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调用时，将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。然后发出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。接着发出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(0)</a:t>
            </a:r>
            <a:r>
              <a:rPr lang="zh-CN" altLang="en-US" sz="2400" b="1" dirty="0"/>
              <a:t>调用，将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赋值给形参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。后来赋给形参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的值会不会覆盖原来赋给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的值（如值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覆盖原来的值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）？为什么？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</a:t>
            </a:r>
            <a:r>
              <a:rPr lang="zh-CN" altLang="en-US" sz="2400" b="1" dirty="0">
                <a:solidFill>
                  <a:schemeClr val="accent2"/>
                </a:solidFill>
              </a:rPr>
              <a:t>－不会，每一次函数调用会在栈顶分配新的活动记录。</a:t>
            </a:r>
          </a:p>
          <a:p>
            <a:pPr lvl="1" eaLnBrk="1" hangingPunct="1"/>
            <a:r>
              <a:rPr lang="zh-CN" altLang="en-US" sz="2400" b="1" dirty="0"/>
              <a:t>对递归函数的每一次调用结束返回时，为何能回到调用前的程序运行状态？如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(1)</a:t>
            </a:r>
            <a:r>
              <a:rPr lang="zh-CN" altLang="en-US" sz="2400" b="1" dirty="0"/>
              <a:t>调用结束返回</a:t>
            </a:r>
            <a:r>
              <a:rPr lang="en-US" altLang="zh-CN" sz="2400" b="1" dirty="0" err="1"/>
              <a:t>recFac</a:t>
            </a:r>
            <a:r>
              <a:rPr lang="en-US" altLang="zh-CN" sz="2400" b="1" dirty="0"/>
              <a:t>(2)</a:t>
            </a:r>
            <a:r>
              <a:rPr lang="zh-CN" altLang="en-US" sz="2400" b="1" dirty="0"/>
              <a:t>时，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的值为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。</a:t>
            </a:r>
          </a:p>
          <a:p>
            <a:pPr lvl="1" eaLnBrk="1" hangingPunct="1">
              <a:buFontTx/>
              <a:buNone/>
            </a:pPr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chemeClr val="accent2"/>
                </a:solidFill>
              </a:rPr>
              <a:t>－函数访问的永远是栈顶的活动记录。当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调用结束时，位于栈顶的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(1)</a:t>
            </a:r>
            <a:r>
              <a:rPr lang="zh-CN" altLang="en-US" sz="2400" b="1" dirty="0">
                <a:solidFill>
                  <a:schemeClr val="accent2"/>
                </a:solidFill>
              </a:rPr>
              <a:t>的活动记录将出栈，此时位于栈顶的将是</a:t>
            </a:r>
            <a:r>
              <a:rPr lang="en-US" altLang="zh-CN" sz="2400" b="1" dirty="0" err="1">
                <a:solidFill>
                  <a:schemeClr val="accent2"/>
                </a:solidFill>
              </a:rPr>
              <a:t>recFac</a:t>
            </a:r>
            <a:r>
              <a:rPr lang="en-US" altLang="zh-CN" sz="2400" b="1" dirty="0">
                <a:solidFill>
                  <a:schemeClr val="accent2"/>
                </a:solidFill>
              </a:rPr>
              <a:t>(2)</a:t>
            </a:r>
            <a:r>
              <a:rPr lang="zh-CN" altLang="en-US" sz="2400" b="1" dirty="0">
                <a:solidFill>
                  <a:schemeClr val="accent2"/>
                </a:solidFill>
              </a:rPr>
              <a:t>的函数活动记录。</a:t>
            </a:r>
            <a:endParaRPr lang="en-US" altLang="zh-CN" sz="2400" b="1" dirty="0">
              <a:solidFill>
                <a:schemeClr val="accent2"/>
              </a:solidFill>
            </a:endParaRPr>
          </a:p>
        </p:txBody>
      </p:sp>
      <p:graphicFrame>
        <p:nvGraphicFramePr>
          <p:cNvPr id="16388" name="Object 8">
            <a:extLst>
              <a:ext uri="{FF2B5EF4-FFF2-40B4-BE49-F238E27FC236}">
                <a16:creationId xmlns:a16="http://schemas.microsoft.com/office/drawing/2014/main" id="{0A8B9DB3-74D2-4D98-AB8E-607C7192F1B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92275" y="260350"/>
          <a:ext cx="165735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30440" imgH="2385720" progId="CorelDRAW.Graphic.9">
                  <p:embed/>
                </p:oleObj>
              </mc:Choice>
              <mc:Fallback>
                <p:oleObj r:id="rId2" imgW="2530440" imgH="2385720" progId="CorelDRAW.Graphic.9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60350"/>
                        <a:ext cx="1657350" cy="156210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8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8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4">
            <a:extLst>
              <a:ext uri="{FF2B5EF4-FFF2-40B4-BE49-F238E27FC236}">
                <a16:creationId xmlns:a16="http://schemas.microsoft.com/office/drawing/2014/main" id="{44E703AE-D70F-440A-9E51-B6DDBC4A7E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F552EA5-C236-4F33-8A32-13AC397DD783}" type="slidenum">
              <a:rPr lang="zh-CN" altLang="en-US" smtClean="0"/>
              <a:pPr/>
              <a:t>12</a:t>
            </a:fld>
            <a:endParaRPr lang="zh-CN" altLang="en-US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7E8CD58A-EB9C-4833-877E-0994CFBC067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76375" y="765175"/>
          <a:ext cx="2501900" cy="515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1880" imgH="4292640" progId="Visio.Drawing.11">
                  <p:embed/>
                </p:oleObj>
              </mc:Choice>
              <mc:Fallback>
                <p:oleObj r:id="rId2" imgW="2081880" imgH="429264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765175"/>
                        <a:ext cx="2501900" cy="5157788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 Box 12">
            <a:extLst>
              <a:ext uri="{FF2B5EF4-FFF2-40B4-BE49-F238E27FC236}">
                <a16:creationId xmlns:a16="http://schemas.microsoft.com/office/drawing/2014/main" id="{B65CB0A9-8F21-4630-87C2-70677D69E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916113"/>
            <a:ext cx="720725" cy="1311275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回</a:t>
            </a:r>
          </a:p>
          <a:p>
            <a:pPr>
              <a:spcBef>
                <a:spcPct val="50000"/>
              </a:spcBef>
            </a:pPr>
            <a:r>
              <a:rPr lang="zh-CN" altLang="en-US" sz="3200">
                <a:solidFill>
                  <a:srgbClr val="FF3300"/>
                </a:solidFill>
                <a:ea typeface="隶书" pitchFamily="49" charset="-122"/>
              </a:rPr>
              <a:t>顾</a:t>
            </a:r>
          </a:p>
        </p:txBody>
      </p:sp>
      <p:sp>
        <p:nvSpPr>
          <p:cNvPr id="17412" name="Text Box 13">
            <a:extLst>
              <a:ext uri="{FF2B5EF4-FFF2-40B4-BE49-F238E27FC236}">
                <a16:creationId xmlns:a16="http://schemas.microsoft.com/office/drawing/2014/main" id="{3293AD22-6F76-40BB-8D8B-3495ED196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6021388"/>
            <a:ext cx="3457575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2400" b="1"/>
              <a:t>函数调用过程</a:t>
            </a:r>
          </a:p>
        </p:txBody>
      </p:sp>
      <p:sp>
        <p:nvSpPr>
          <p:cNvPr id="17413" name="Rectangle 14">
            <a:extLst>
              <a:ext uri="{FF2B5EF4-FFF2-40B4-BE49-F238E27FC236}">
                <a16:creationId xmlns:a16="http://schemas.microsoft.com/office/drawing/2014/main" id="{6795753F-E750-4DC1-9740-34713D5BC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graphicFrame>
        <p:nvGraphicFramePr>
          <p:cNvPr id="17414" name="Object 17">
            <a:extLst>
              <a:ext uri="{FF2B5EF4-FFF2-40B4-BE49-F238E27FC236}">
                <a16:creationId xmlns:a16="http://schemas.microsoft.com/office/drawing/2014/main" id="{B23571ED-08F9-4925-831A-0E0115061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2060575"/>
          <a:ext cx="3240088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67080" imgH="2715480" progId="Visio.Drawing.11">
                  <p:embed/>
                </p:oleObj>
              </mc:Choice>
              <mc:Fallback>
                <p:oleObj r:id="rId4" imgW="2467080" imgH="271548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060575"/>
                        <a:ext cx="3240088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8">
            <a:extLst>
              <a:ext uri="{FF2B5EF4-FFF2-40B4-BE49-F238E27FC236}">
                <a16:creationId xmlns:a16="http://schemas.microsoft.com/office/drawing/2014/main" id="{39D5CD96-A201-4DDF-B02C-0A653AE9E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7325" y="2732088"/>
            <a:ext cx="20875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 被调用函数中的数据</a:t>
            </a:r>
          </a:p>
        </p:txBody>
      </p:sp>
      <p:sp>
        <p:nvSpPr>
          <p:cNvPr id="17416" name="Text Box 19">
            <a:extLst>
              <a:ext uri="{FF2B5EF4-FFF2-40B4-BE49-F238E27FC236}">
                <a16:creationId xmlns:a16="http://schemas.microsoft.com/office/drawing/2014/main" id="{4E964A4A-01EE-4E5B-9BEC-2D677684C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638550"/>
            <a:ext cx="2087562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000" b="1"/>
              <a:t>    现场信息，用于调用结束能正确返回并执行</a:t>
            </a:r>
          </a:p>
        </p:txBody>
      </p:sp>
      <p:sp>
        <p:nvSpPr>
          <p:cNvPr id="17417" name="AutoShape 20">
            <a:extLst>
              <a:ext uri="{FF2B5EF4-FFF2-40B4-BE49-F238E27FC236}">
                <a16:creationId xmlns:a16="http://schemas.microsoft.com/office/drawing/2014/main" id="{BC0134A8-ECA5-41DF-9953-FE13E304EE0E}"/>
              </a:ext>
            </a:extLst>
          </p:cNvPr>
          <p:cNvSpPr>
            <a:spLocks/>
          </p:cNvSpPr>
          <p:nvPr/>
        </p:nvSpPr>
        <p:spPr bwMode="auto">
          <a:xfrm>
            <a:off x="6013450" y="3571875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8" name="AutoShape 21">
            <a:extLst>
              <a:ext uri="{FF2B5EF4-FFF2-40B4-BE49-F238E27FC236}">
                <a16:creationId xmlns:a16="http://schemas.microsoft.com/office/drawing/2014/main" id="{31AB06B0-BD60-4300-AEE8-1E7FD1AC954E}"/>
              </a:ext>
            </a:extLst>
          </p:cNvPr>
          <p:cNvSpPr>
            <a:spLocks/>
          </p:cNvSpPr>
          <p:nvPr/>
        </p:nvSpPr>
        <p:spPr bwMode="auto">
          <a:xfrm>
            <a:off x="6013450" y="2563813"/>
            <a:ext cx="142875" cy="936625"/>
          </a:xfrm>
          <a:prstGeom prst="leftBrace">
            <a:avLst>
              <a:gd name="adj1" fmla="val 5399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9" name="AutoShape 22">
            <a:extLst>
              <a:ext uri="{FF2B5EF4-FFF2-40B4-BE49-F238E27FC236}">
                <a16:creationId xmlns:a16="http://schemas.microsoft.com/office/drawing/2014/main" id="{6FD2C5C5-840D-4251-9A12-C4ABEC905B1B}"/>
              </a:ext>
            </a:extLst>
          </p:cNvPr>
          <p:cNvSpPr>
            <a:spLocks/>
          </p:cNvSpPr>
          <p:nvPr/>
        </p:nvSpPr>
        <p:spPr bwMode="auto">
          <a:xfrm>
            <a:off x="973138" y="1484313"/>
            <a:ext cx="503237" cy="3529012"/>
          </a:xfrm>
          <a:prstGeom prst="leftBracket">
            <a:avLst>
              <a:gd name="adj" fmla="val 58439"/>
            </a:avLst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0727" name="AutoShape 23">
            <a:extLst>
              <a:ext uri="{FF2B5EF4-FFF2-40B4-BE49-F238E27FC236}">
                <a16:creationId xmlns:a16="http://schemas.microsoft.com/office/drawing/2014/main" id="{5B397112-8D66-4064-B5A5-194E122108FD}"/>
              </a:ext>
            </a:extLst>
          </p:cNvPr>
          <p:cNvSpPr/>
          <p:nvPr/>
        </p:nvSpPr>
        <p:spPr bwMode="auto">
          <a:xfrm>
            <a:off x="1331913" y="2133600"/>
            <a:ext cx="360362" cy="2303463"/>
          </a:xfrm>
          <a:prstGeom prst="leftBracket">
            <a:avLst>
              <a:gd name="adj" fmla="val 53267"/>
            </a:avLst>
          </a:prstGeom>
          <a:noFill/>
          <a:ln w="9525">
            <a:solidFill>
              <a:schemeClr val="accent2"/>
            </a:solidFill>
            <a:round/>
          </a:ln>
          <a:effectLst>
            <a:prstShdw prst="shdw18" dist="17961" dir="135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灯片编号占位符 7">
            <a:extLst>
              <a:ext uri="{FF2B5EF4-FFF2-40B4-BE49-F238E27FC236}">
                <a16:creationId xmlns:a16="http://schemas.microsoft.com/office/drawing/2014/main" id="{4B4A08E2-C2D8-4ECC-8E9B-91B5DD2493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5C3B98-C49A-46AD-B50A-06687193DBB8}" type="slidenum">
              <a:rPr lang="zh-CN" altLang="en-US" smtClean="0"/>
              <a:pPr/>
              <a:t>13</a:t>
            </a:fld>
            <a:endParaRPr lang="zh-CN" altLang="en-US"/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8499F4EA-6A5E-4DB4-81FE-23C862C6EE9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50825" y="1700213"/>
          <a:ext cx="2016125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38080" imgH="982800" progId="Visio.Drawing.11">
                  <p:embed/>
                </p:oleObj>
              </mc:Choice>
              <mc:Fallback>
                <p:oleObj r:id="rId2" imgW="1738080" imgH="982800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00213"/>
                        <a:ext cx="2016125" cy="113982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>
            <a:extLst>
              <a:ext uri="{FF2B5EF4-FFF2-40B4-BE49-F238E27FC236}">
                <a16:creationId xmlns:a16="http://schemas.microsoft.com/office/drawing/2014/main" id="{69AB495A-EFA9-4773-9523-311C65BFECD5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771775" y="1700213"/>
          <a:ext cx="2016125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38080" imgH="989640" progId="Visio.Drawing.11">
                  <p:embed/>
                </p:oleObj>
              </mc:Choice>
              <mc:Fallback>
                <p:oleObj r:id="rId4" imgW="1738080" imgH="989640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700213"/>
                        <a:ext cx="2016125" cy="1147762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3" name="Object 9">
            <a:extLst>
              <a:ext uri="{FF2B5EF4-FFF2-40B4-BE49-F238E27FC236}">
                <a16:creationId xmlns:a16="http://schemas.microsoft.com/office/drawing/2014/main" id="{8B2249D4-BE3A-4120-8AE7-8A278EC66516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859338" y="1123950"/>
          <a:ext cx="187166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8080" imgH="1592280" progId="Visio.Drawing.11">
                  <p:embed/>
                </p:oleObj>
              </mc:Choice>
              <mc:Fallback>
                <p:oleObj r:id="rId6" imgW="1738080" imgH="1592280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123950"/>
                        <a:ext cx="1871662" cy="1712913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6" name="Object 12">
            <a:extLst>
              <a:ext uri="{FF2B5EF4-FFF2-40B4-BE49-F238E27FC236}">
                <a16:creationId xmlns:a16="http://schemas.microsoft.com/office/drawing/2014/main" id="{517DA3A9-7CA0-4F4C-938A-FC30BA672E3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981825" y="517525"/>
          <a:ext cx="1873250" cy="217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76320" imgH="2178000" progId="Visio.Drawing.11">
                  <p:embed/>
                </p:oleObj>
              </mc:Choice>
              <mc:Fallback>
                <p:oleObj r:id="rId8" imgW="1876320" imgH="2178000" progId="Visio.Drawing.11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1825" y="517525"/>
                        <a:ext cx="1873250" cy="2174875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19" name="Object 15">
            <a:extLst>
              <a:ext uri="{FF2B5EF4-FFF2-40B4-BE49-F238E27FC236}">
                <a16:creationId xmlns:a16="http://schemas.microsoft.com/office/drawing/2014/main" id="{B30D4ABC-4C15-493E-882C-944CFBFED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84538"/>
          <a:ext cx="2028825" cy="324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738080" imgH="2775600" progId="Visio.Drawing.11">
                  <p:embed/>
                </p:oleObj>
              </mc:Choice>
              <mc:Fallback>
                <p:oleObj r:id="rId10" imgW="1738080" imgH="2775600" progId="Visio.Drawing.11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84538"/>
                        <a:ext cx="2028825" cy="324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0" name="Object 16">
            <a:extLst>
              <a:ext uri="{FF2B5EF4-FFF2-40B4-BE49-F238E27FC236}">
                <a16:creationId xmlns:a16="http://schemas.microsoft.com/office/drawing/2014/main" id="{FC8FFF7F-D86B-4910-A37A-27C130902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949700"/>
          <a:ext cx="1849437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64200" imgH="2176920" progId="Visio.Drawing.11">
                  <p:embed/>
                </p:oleObj>
              </mc:Choice>
              <mc:Fallback>
                <p:oleObj r:id="rId12" imgW="1564200" imgH="2176920" progId="Visio.Drawing.11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949700"/>
                        <a:ext cx="1849437" cy="257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1" name="Object 17">
            <a:extLst>
              <a:ext uri="{FF2B5EF4-FFF2-40B4-BE49-F238E27FC236}">
                <a16:creationId xmlns:a16="http://schemas.microsoft.com/office/drawing/2014/main" id="{8123B811-A03B-47B0-9544-149EFF3A52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635500"/>
          <a:ext cx="2017712" cy="188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738080" imgH="1627560" progId="Visio.Drawing.11">
                  <p:embed/>
                </p:oleObj>
              </mc:Choice>
              <mc:Fallback>
                <p:oleObj r:id="rId14" imgW="1738080" imgH="1627560" progId="Visio.Drawing.11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635500"/>
                        <a:ext cx="2017712" cy="188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6322" name="Object 18">
            <a:extLst>
              <a:ext uri="{FF2B5EF4-FFF2-40B4-BE49-F238E27FC236}">
                <a16:creationId xmlns:a16="http://schemas.microsoft.com/office/drawing/2014/main" id="{4A894F53-9CCE-47AA-83AA-A445E851E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272088"/>
          <a:ext cx="2124075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38080" imgH="1025280" progId="Visio.Drawing.11">
                  <p:embed/>
                </p:oleObj>
              </mc:Choice>
              <mc:Fallback>
                <p:oleObj r:id="rId16" imgW="1738080" imgH="1025280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272088"/>
                        <a:ext cx="2124075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662540B1-7079-4335-91C5-F846C8EB711E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3286125"/>
            <a:ext cx="936625" cy="719138"/>
            <a:chOff x="1383" y="1979"/>
            <a:chExt cx="590" cy="453"/>
          </a:xfrm>
        </p:grpSpPr>
        <p:sp>
          <p:nvSpPr>
            <p:cNvPr id="226324" name="Line 20">
              <a:extLst>
                <a:ext uri="{FF2B5EF4-FFF2-40B4-BE49-F238E27FC236}">
                  <a16:creationId xmlns:a16="http://schemas.microsoft.com/office/drawing/2014/main" id="{771F9942-0214-4B64-8AA5-65CB89CEE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432"/>
              <a:ext cx="49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4" name="Text Box 21">
              <a:extLst>
                <a:ext uri="{FF2B5EF4-FFF2-40B4-BE49-F238E27FC236}">
                  <a16:creationId xmlns:a16="http://schemas.microsoft.com/office/drawing/2014/main" id="{E9744230-5B53-4D56-8AAA-0F86CF8F9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979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</a:rPr>
                <a:t>f(0)</a:t>
              </a:r>
              <a:r>
                <a:rPr lang="zh-CN" altLang="en-US" b="1" dirty="0">
                  <a:solidFill>
                    <a:schemeClr val="accent2"/>
                  </a:solidFill>
                </a:rPr>
                <a:t>返回值</a:t>
              </a:r>
              <a:r>
                <a:rPr lang="en-US" altLang="zh-CN" b="1" dirty="0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06E5B571-AA35-4E2E-874A-672AEC6B579C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3860800"/>
            <a:ext cx="936625" cy="792163"/>
            <a:chOff x="2562" y="2341"/>
            <a:chExt cx="590" cy="499"/>
          </a:xfrm>
        </p:grpSpPr>
        <p:sp>
          <p:nvSpPr>
            <p:cNvPr id="226327" name="Line 23">
              <a:extLst>
                <a:ext uri="{FF2B5EF4-FFF2-40B4-BE49-F238E27FC236}">
                  <a16:creationId xmlns:a16="http://schemas.microsoft.com/office/drawing/2014/main" id="{B1A29C8E-EEB3-49DF-B403-0D96B6C3A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3" y="2840"/>
              <a:ext cx="45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18447" name="Text Box 24">
              <a:extLst>
                <a:ext uri="{FF2B5EF4-FFF2-40B4-BE49-F238E27FC236}">
                  <a16:creationId xmlns:a16="http://schemas.microsoft.com/office/drawing/2014/main" id="{94332746-4F1E-4DAB-93B9-2D595982E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2341"/>
              <a:ext cx="590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f(1)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4" name="Group 25">
            <a:extLst>
              <a:ext uri="{FF2B5EF4-FFF2-40B4-BE49-F238E27FC236}">
                <a16:creationId xmlns:a16="http://schemas.microsoft.com/office/drawing/2014/main" id="{089FA906-CB28-480D-81BD-B2F5CC01FED8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508500"/>
            <a:ext cx="863600" cy="792163"/>
            <a:chOff x="4014" y="2704"/>
            <a:chExt cx="544" cy="499"/>
          </a:xfrm>
        </p:grpSpPr>
        <p:sp>
          <p:nvSpPr>
            <p:cNvPr id="18449" name="Text Box 26">
              <a:extLst>
                <a:ext uri="{FF2B5EF4-FFF2-40B4-BE49-F238E27FC236}">
                  <a16:creationId xmlns:a16="http://schemas.microsoft.com/office/drawing/2014/main" id="{0FA2DB3E-1066-4D6E-9FCA-71A8353F3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704"/>
              <a:ext cx="544" cy="404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f(2)</a:t>
              </a:r>
              <a:r>
                <a:rPr lang="zh-CN" altLang="en-US" b="1">
                  <a:solidFill>
                    <a:schemeClr val="accent2"/>
                  </a:solidFill>
                </a:rPr>
                <a:t>返回值</a:t>
              </a:r>
              <a:r>
                <a:rPr lang="en-US" altLang="zh-CN" b="1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226331" name="Line 27">
              <a:extLst>
                <a:ext uri="{FF2B5EF4-FFF2-40B4-BE49-F238E27FC236}">
                  <a16:creationId xmlns:a16="http://schemas.microsoft.com/office/drawing/2014/main" id="{189DBB62-BC61-4255-ACA9-B0CEB7EEF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203"/>
              <a:ext cx="5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tailEnd type="triangle" w="med" len="med"/>
            </a:ln>
            <a:effectLst>
              <a:prstShdw prst="shdw18" dist="17961" dir="13500000">
                <a:schemeClr val="accent2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buFontTx/>
                <a:buNone/>
                <a:defRPr/>
              </a:pPr>
              <a:endParaRPr kumimoji="1"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06871588-E602-4233-BDD2-9FAB3E3469E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765175"/>
            <a:ext cx="1008063" cy="431800"/>
            <a:chOff x="2608" y="618"/>
            <a:chExt cx="635" cy="272"/>
          </a:xfrm>
        </p:grpSpPr>
        <p:sp>
          <p:nvSpPr>
            <p:cNvPr id="18452" name="Line 29">
              <a:extLst>
                <a:ext uri="{FF2B5EF4-FFF2-40B4-BE49-F238E27FC236}">
                  <a16:creationId xmlns:a16="http://schemas.microsoft.com/office/drawing/2014/main" id="{13124A28-68A6-4DCD-9D19-A25315DE7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9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Text Box 30">
              <a:extLst>
                <a:ext uri="{FF2B5EF4-FFF2-40B4-BE49-F238E27FC236}">
                  <a16:creationId xmlns:a16="http://schemas.microsoft.com/office/drawing/2014/main" id="{DDF2711C-5829-46C8-93B3-F5700B70D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61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f(2)</a:t>
              </a:r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1670DED2-9621-4C28-9D0E-70AD159CDD8F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17475"/>
            <a:ext cx="1008063" cy="431800"/>
            <a:chOff x="3787" y="346"/>
            <a:chExt cx="635" cy="272"/>
          </a:xfrm>
        </p:grpSpPr>
        <p:sp>
          <p:nvSpPr>
            <p:cNvPr id="18455" name="Line 32">
              <a:extLst>
                <a:ext uri="{FF2B5EF4-FFF2-40B4-BE49-F238E27FC236}">
                  <a16:creationId xmlns:a16="http://schemas.microsoft.com/office/drawing/2014/main" id="{E9E32509-3ED6-4E07-8CB1-E63DC8C93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2" y="618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Text Box 33">
              <a:extLst>
                <a:ext uri="{FF2B5EF4-FFF2-40B4-BE49-F238E27FC236}">
                  <a16:creationId xmlns:a16="http://schemas.microsoft.com/office/drawing/2014/main" id="{20D0F4D1-5D6D-4763-A5F2-7A76369F2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46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f(1)</a:t>
              </a:r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29FBCF88-1EDF-4555-9444-3190134B0902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997200"/>
            <a:ext cx="1008062" cy="431800"/>
            <a:chOff x="22" y="1888"/>
            <a:chExt cx="635" cy="272"/>
          </a:xfrm>
        </p:grpSpPr>
        <p:sp>
          <p:nvSpPr>
            <p:cNvPr id="18458" name="Line 35">
              <a:extLst>
                <a:ext uri="{FF2B5EF4-FFF2-40B4-BE49-F238E27FC236}">
                  <a16:creationId xmlns:a16="http://schemas.microsoft.com/office/drawing/2014/main" id="{1E1F09AD-5FA1-4F80-BB90-7D8E1B2E4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" y="2160"/>
              <a:ext cx="40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ffectLst>
              <a:prstShdw prst="shdw17" dist="17961" dir="13500000">
                <a:srgbClr val="991F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Text Box 36">
              <a:extLst>
                <a:ext uri="{FF2B5EF4-FFF2-40B4-BE49-F238E27FC236}">
                  <a16:creationId xmlns:a16="http://schemas.microsoft.com/office/drawing/2014/main" id="{EB6AC44A-5DA1-4462-8FC4-FD450715A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888"/>
              <a:ext cx="635" cy="231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调用</a:t>
              </a:r>
              <a:r>
                <a:rPr lang="en-US" altLang="zh-CN" b="1">
                  <a:solidFill>
                    <a:srgbClr val="FF3300"/>
                  </a:solidFill>
                </a:rPr>
                <a:t>f(0)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6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2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4">
            <a:extLst>
              <a:ext uri="{FF2B5EF4-FFF2-40B4-BE49-F238E27FC236}">
                <a16:creationId xmlns:a16="http://schemas.microsoft.com/office/drawing/2014/main" id="{84C7BF1E-42F6-4C6C-A750-BF63687228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5EFE2DEA-EFA5-4C5B-A362-B1573723FC8E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19458" name="Rectangle 4">
            <a:extLst>
              <a:ext uri="{FF2B5EF4-FFF2-40B4-BE49-F238E27FC236}">
                <a16:creationId xmlns:a16="http://schemas.microsoft.com/office/drawing/2014/main" id="{52F6514D-D71D-4C95-8191-43EE07912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求</a:t>
            </a:r>
            <a:r>
              <a:rPr lang="en-US" altLang="zh-CN" b="1"/>
              <a:t>f(6)</a:t>
            </a:r>
            <a:r>
              <a:rPr lang="zh-CN" altLang="en-US" b="1"/>
              <a:t>的递归调用过程</a:t>
            </a:r>
          </a:p>
        </p:txBody>
      </p:sp>
      <p:sp>
        <p:nvSpPr>
          <p:cNvPr id="137223" name="Rectangle 7">
            <a:extLst>
              <a:ext uri="{FF2B5EF4-FFF2-40B4-BE49-F238E27FC236}">
                <a16:creationId xmlns:a16="http://schemas.microsoft.com/office/drawing/2014/main" id="{C205A5FC-EECC-458C-B84B-CB16355F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87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graphicFrame>
        <p:nvGraphicFramePr>
          <p:cNvPr id="19460" name="Object 6">
            <a:extLst>
              <a:ext uri="{FF2B5EF4-FFF2-40B4-BE49-F238E27FC236}">
                <a16:creationId xmlns:a16="http://schemas.microsoft.com/office/drawing/2014/main" id="{45C42F4D-D864-4FF8-82CF-1A7F790C86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600075"/>
          <a:ext cx="9721850" cy="638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4873" imgH="3611804" progId="Word.Picture.8">
                  <p:embed/>
                </p:oleObj>
              </mc:Choice>
              <mc:Fallback>
                <p:oleObj r:id="rId2" imgW="5484873" imgH="3611804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600075"/>
                        <a:ext cx="9721850" cy="638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Text Box 9">
            <a:extLst>
              <a:ext uri="{FF2B5EF4-FFF2-40B4-BE49-F238E27FC236}">
                <a16:creationId xmlns:a16="http://schemas.microsoft.com/office/drawing/2014/main" id="{2D25F169-228B-43DA-AD4C-49F519C8D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2276475"/>
            <a:ext cx="611187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  <a:ea typeface="楷体_GB2312" pitchFamily="49" charset="-122"/>
              </a:rPr>
              <a:t>递推阶段</a:t>
            </a:r>
          </a:p>
        </p:txBody>
      </p:sp>
      <p:sp>
        <p:nvSpPr>
          <p:cNvPr id="19462" name="Line 10">
            <a:extLst>
              <a:ext uri="{FF2B5EF4-FFF2-40B4-BE49-F238E27FC236}">
                <a16:creationId xmlns:a16="http://schemas.microsoft.com/office/drawing/2014/main" id="{0DCA261A-67D0-4D43-BFDF-FA9E9E73F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2565400"/>
            <a:ext cx="0" cy="6477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ffectLst>
            <a:prstShdw prst="shdw17" dist="17961" dir="13500000">
              <a:srgbClr val="991F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Text Box 11">
            <a:extLst>
              <a:ext uri="{FF2B5EF4-FFF2-40B4-BE49-F238E27FC236}">
                <a16:creationId xmlns:a16="http://schemas.microsoft.com/office/drawing/2014/main" id="{E54BB933-FD5B-488E-B17F-122CC4443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325" y="2492375"/>
            <a:ext cx="611188" cy="230346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回归阶段</a:t>
            </a:r>
          </a:p>
        </p:txBody>
      </p:sp>
      <p:sp>
        <p:nvSpPr>
          <p:cNvPr id="19464" name="Line 12">
            <a:extLst>
              <a:ext uri="{FF2B5EF4-FFF2-40B4-BE49-F238E27FC236}">
                <a16:creationId xmlns:a16="http://schemas.microsoft.com/office/drawing/2014/main" id="{8CD817D8-F988-4813-A136-9768BF2B3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2781300"/>
            <a:ext cx="0" cy="647700"/>
          </a:xfrm>
          <a:prstGeom prst="line">
            <a:avLst/>
          </a:prstGeom>
          <a:noFill/>
          <a:ln w="9525">
            <a:solidFill>
              <a:srgbClr val="000099"/>
            </a:solidFill>
            <a:round/>
            <a:headEnd type="triangle" w="med" len="med"/>
            <a:tailEnd/>
          </a:ln>
          <a:effectLst>
            <a:prstShdw prst="shdw17" dist="17961" dir="13500000">
              <a:srgbClr val="00005C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Text Box 13">
            <a:extLst>
              <a:ext uri="{FF2B5EF4-FFF2-40B4-BE49-F238E27FC236}">
                <a16:creationId xmlns:a16="http://schemas.microsoft.com/office/drawing/2014/main" id="{8FD5425D-185B-4C48-8CC3-CCFD440C0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7550" y="5589588"/>
            <a:ext cx="15827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  <a:ea typeface="楷体_GB2312" pitchFamily="49" charset="-122"/>
              </a:rPr>
              <a:t>返回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4">
            <a:extLst>
              <a:ext uri="{FF2B5EF4-FFF2-40B4-BE49-F238E27FC236}">
                <a16:creationId xmlns:a16="http://schemas.microsoft.com/office/drawing/2014/main" id="{704D0824-C749-4D0C-97D6-94299A0AD6F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CFE0426-7CEF-4DBF-9868-CD6595FB86D9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DCB1D44D-078C-4683-8C6C-E2F03E766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5947E57-9373-48E1-B3E1-AABF1D9BF2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600" b="1">
                <a:latin typeface="宋体" panose="02010600030101010101" pitchFamily="2" charset="-122"/>
              </a:rPr>
              <a:t>可见，</a:t>
            </a:r>
            <a:r>
              <a:rPr lang="zh-CN" altLang="en-US" sz="2600" b="1"/>
              <a:t>递归算法的执行过程分</a:t>
            </a:r>
            <a:r>
              <a:rPr lang="zh-CN" altLang="en-US" sz="2600" b="1">
                <a:solidFill>
                  <a:srgbClr val="000099"/>
                </a:solidFill>
              </a:rPr>
              <a:t>递推</a:t>
            </a:r>
            <a:r>
              <a:rPr lang="zh-CN" altLang="en-US" sz="2600" b="1"/>
              <a:t>和</a:t>
            </a:r>
            <a:r>
              <a:rPr lang="zh-CN" altLang="en-US" sz="2600" b="1">
                <a:solidFill>
                  <a:srgbClr val="000099"/>
                </a:solidFill>
              </a:rPr>
              <a:t>回归</a:t>
            </a:r>
            <a:r>
              <a:rPr lang="zh-CN" altLang="en-US" sz="2600" b="1"/>
              <a:t>两个阶段</a:t>
            </a:r>
            <a:r>
              <a:rPr lang="zh-CN" altLang="en-US" sz="2600"/>
              <a:t>。</a:t>
            </a:r>
            <a:r>
              <a:rPr lang="zh-CN" altLang="en-US" sz="2600" b="1">
                <a:latin typeface="宋体" panose="02010600030101010101" pitchFamily="2" charset="-122"/>
              </a:rPr>
              <a:t>当递推时，并没有求值的计算操作，实际的计算操作是在回归过程实现的。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sz="2600" b="1"/>
              <a:t>递推阶段：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>
                <a:solidFill>
                  <a:schemeClr val="accent2"/>
                </a:solidFill>
              </a:rPr>
              <a:t>递推</a:t>
            </a:r>
            <a:r>
              <a:rPr lang="zh-CN" altLang="en-US" sz="2600" b="1"/>
              <a:t>阶段是个不断简化问题的阶段：把对较复杂问题（规模为</a:t>
            </a:r>
            <a:r>
              <a:rPr lang="en-US" altLang="zh-CN" sz="2600" b="1"/>
              <a:t>n</a:t>
            </a:r>
            <a:r>
              <a:rPr lang="zh-CN" altLang="en-US" sz="2600" b="1"/>
              <a:t>）的求解转化为比原问题</a:t>
            </a:r>
            <a:r>
              <a:rPr lang="zh-CN" altLang="en-US" sz="2600" b="1">
                <a:solidFill>
                  <a:srgbClr val="000099"/>
                </a:solidFill>
              </a:rPr>
              <a:t>简单</a:t>
            </a:r>
            <a:r>
              <a:rPr lang="zh-CN" altLang="en-US" sz="2600" b="1"/>
              <a:t>一些的问题（规模小于</a:t>
            </a:r>
            <a:r>
              <a:rPr lang="en-US" altLang="zh-CN" sz="2600" b="1"/>
              <a:t>n</a:t>
            </a:r>
            <a:r>
              <a:rPr lang="zh-CN" altLang="en-US" sz="2600" b="1"/>
              <a:t>）的求解 。例如对</a:t>
            </a:r>
            <a:r>
              <a:rPr lang="en-US" altLang="zh-CN" sz="2600" b="1"/>
              <a:t>f (6)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f(5)</a:t>
            </a:r>
            <a:r>
              <a:rPr lang="zh-CN" altLang="en-US" sz="2600" b="1"/>
              <a:t>的求解， 对</a:t>
            </a:r>
            <a:r>
              <a:rPr lang="en-US" altLang="zh-CN" sz="2600" b="1"/>
              <a:t>f(5)</a:t>
            </a:r>
            <a:r>
              <a:rPr lang="zh-CN" altLang="en-US" sz="2600" b="1"/>
              <a:t>的求解转化为</a:t>
            </a:r>
            <a:r>
              <a:rPr lang="en-US" altLang="zh-CN" sz="2600" b="1"/>
              <a:t>f(4)</a:t>
            </a:r>
            <a:r>
              <a:rPr lang="zh-CN" altLang="en-US" sz="2600" b="1"/>
              <a:t>的求解</a:t>
            </a:r>
            <a:r>
              <a:rPr lang="en-US" altLang="zh-CN" sz="2600" b="1">
                <a:latin typeface="宋体" panose="02010600030101010101" pitchFamily="2" charset="-122"/>
              </a:rPr>
              <a:t>…</a:t>
            </a:r>
            <a:r>
              <a:rPr lang="zh-CN" altLang="en-US" sz="2600" b="1"/>
              <a:t>直到转化为对</a:t>
            </a:r>
            <a:r>
              <a:rPr lang="en-US" altLang="zh-CN" sz="2600" b="1"/>
              <a:t>f(0)</a:t>
            </a:r>
            <a:r>
              <a:rPr lang="zh-CN" altLang="en-US" sz="2600" b="1"/>
              <a:t>的求解。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600" b="1"/>
              <a:t>当递推到</a:t>
            </a:r>
            <a:r>
              <a:rPr lang="zh-CN" altLang="en-US" sz="2600" b="1">
                <a:solidFill>
                  <a:schemeClr val="accent2"/>
                </a:solidFill>
              </a:rPr>
              <a:t>最简单的不用再简化的问题时</a:t>
            </a:r>
            <a:r>
              <a:rPr lang="zh-CN" altLang="en-US" sz="2600" b="1"/>
              <a:t>，递推终止。如</a:t>
            </a:r>
            <a:r>
              <a:rPr lang="en-US" altLang="zh-CN" sz="2600" b="1"/>
              <a:t>f</a:t>
            </a:r>
            <a:r>
              <a:rPr lang="zh-CN" altLang="en-US" sz="2600" b="1"/>
              <a:t>函数中，</a:t>
            </a:r>
            <a:r>
              <a:rPr lang="en-US" altLang="zh-CN" sz="2600" b="1"/>
              <a:t>n==0</a:t>
            </a:r>
            <a:r>
              <a:rPr lang="zh-CN" altLang="en-US" sz="2600" b="1"/>
              <a:t>的情况。</a:t>
            </a:r>
            <a:endParaRPr lang="en-US" altLang="zh-CN" sz="2600" b="1">
              <a:latin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/>
              <a:t>就象剥一颗圆白菜，从外向里，一层层剥下来，到了菜心，就不再继续剥了。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4">
            <a:extLst>
              <a:ext uri="{FF2B5EF4-FFF2-40B4-BE49-F238E27FC236}">
                <a16:creationId xmlns:a16="http://schemas.microsoft.com/office/drawing/2014/main" id="{5B9D00F8-5AC9-469F-A99A-4222881DAF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716BAB-AAEC-4167-9ABF-2E94CB04704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3AF840B-C58D-47C3-986B-0A5E8F1F32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2.</a:t>
            </a:r>
            <a:r>
              <a:rPr lang="zh-CN" altLang="en-US" b="1"/>
              <a:t>递归过程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9C5F748-34F4-4C3C-893D-B28946274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847013" cy="4611687"/>
          </a:xfrm>
        </p:spPr>
        <p:txBody>
          <a:bodyPr/>
          <a:lstStyle/>
          <a:p>
            <a:pPr eaLnBrk="1" hangingPunct="1"/>
            <a:r>
              <a:rPr lang="zh-CN" altLang="en-US" b="1"/>
              <a:t>回归阶段：</a:t>
            </a:r>
          </a:p>
          <a:p>
            <a:pPr lvl="1" eaLnBrk="1" hangingPunct="1"/>
            <a:r>
              <a:rPr lang="zh-CN" altLang="en-US" b="1"/>
              <a:t>在</a:t>
            </a:r>
            <a:r>
              <a:rPr lang="zh-CN" altLang="en-US" b="1">
                <a:solidFill>
                  <a:schemeClr val="accent2"/>
                </a:solidFill>
              </a:rPr>
              <a:t>回归阶段</a:t>
            </a:r>
            <a:r>
              <a:rPr lang="zh-CN" altLang="en-US" b="1"/>
              <a:t>，当获得最简单情况的解后，逐级返回，依次得到稍复杂问题的解 。如在得到</a:t>
            </a:r>
            <a:r>
              <a:rPr lang="en-US" altLang="zh-CN" b="1"/>
              <a:t>f(1)</a:t>
            </a:r>
            <a:r>
              <a:rPr lang="zh-CN" altLang="en-US" b="1"/>
              <a:t>的解后，又依次得到</a:t>
            </a:r>
            <a:r>
              <a:rPr lang="en-US" altLang="zh-CN" b="1"/>
              <a:t>f(2)</a:t>
            </a:r>
            <a:r>
              <a:rPr lang="zh-CN" altLang="en-US" b="1"/>
              <a:t>、</a:t>
            </a:r>
            <a:r>
              <a:rPr lang="en-US" altLang="zh-CN" b="1"/>
              <a:t>f(3)</a:t>
            </a:r>
            <a:r>
              <a:rPr lang="en-US" altLang="zh-CN" b="1">
                <a:latin typeface="宋体" panose="02010600030101010101" pitchFamily="2" charset="-122"/>
              </a:rPr>
              <a:t>…</a:t>
            </a:r>
            <a:r>
              <a:rPr lang="zh-CN" altLang="en-US" b="1"/>
              <a:t>直到</a:t>
            </a:r>
            <a:r>
              <a:rPr lang="en-US" altLang="zh-CN" b="1"/>
              <a:t>f(6)</a:t>
            </a:r>
            <a:r>
              <a:rPr lang="zh-CN" altLang="en-US" b="1"/>
              <a:t>的值。</a:t>
            </a:r>
          </a:p>
          <a:p>
            <a:pPr lvl="1" eaLnBrk="1" hangingPunct="1"/>
            <a:r>
              <a:rPr lang="zh-CN" altLang="en-US" b="1"/>
              <a:t>就像将剥下来的白菜叶又从里往外一叶一叶合起来，直到最外层菜叶。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21864-6CEE-CB79-F28C-0A52C761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智力谜题</a:t>
            </a:r>
            <a:r>
              <a:rPr lang="en-US" altLang="zh-CN" dirty="0"/>
              <a:t>:</a:t>
            </a:r>
            <a:r>
              <a:rPr lang="zh-CN" altLang="en-US" dirty="0"/>
              <a:t>递归方法找出规律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C6CDB-501A-BFA7-0C53-8F9AB74A4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找出下列整数序列的公式或规则：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F12F0D-7D61-A9B8-2690-0F33D616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6624736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8049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4">
            <a:extLst>
              <a:ext uri="{FF2B5EF4-FFF2-40B4-BE49-F238E27FC236}">
                <a16:creationId xmlns:a16="http://schemas.microsoft.com/office/drawing/2014/main" id="{E9A918D7-09B6-4F78-9079-8CC9006B7D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389D7D00-EE0D-4C1C-9CA6-3E597C8B14BF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257154D4-24C2-452A-AF81-92359968D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三、递归问题举例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7C35C63-DF29-4E50-9397-E517CC1FCC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/>
              <a:t>例</a:t>
            </a:r>
            <a:r>
              <a:rPr lang="en-US" altLang="zh-CN" b="1"/>
              <a:t>4</a:t>
            </a:r>
            <a:r>
              <a:rPr lang="zh-CN" altLang="en-US" b="1"/>
              <a:t>、汉诺塔问题</a:t>
            </a:r>
          </a:p>
          <a:p>
            <a:pPr eaLnBrk="1" hangingPunct="1">
              <a:buFontTx/>
              <a:buNone/>
            </a:pPr>
            <a:r>
              <a:rPr lang="zh-CN" altLang="en-US" b="1"/>
              <a:t>	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2A639F4F-D325-46D7-A55C-03131D78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224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传说印度布拉马圣殿（</a:t>
            </a:r>
            <a:r>
              <a:rPr lang="en-US" altLang="zh-CN" sz="2800" b="1">
                <a:solidFill>
                  <a:srgbClr val="000099"/>
                </a:solidFill>
              </a:rPr>
              <a:t>Temple of Brahma</a:t>
            </a:r>
            <a:r>
              <a:rPr lang="en-US" altLang="zh-CN" sz="2800" b="1">
                <a:solidFill>
                  <a:srgbClr val="000099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的教士们有一黄铜烧铸的平台，上立三根金刚石柱子。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柱上堆放了</a:t>
            </a:r>
            <a:r>
              <a:rPr lang="zh-CN" altLang="en-US" sz="2800" b="1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个金盘子，每个盘子都比其下面的盘子略小一些。当教士们将盘子全部从</a:t>
            </a:r>
            <a:r>
              <a:rPr lang="en-US" altLang="zh-CN" sz="2800" b="1">
                <a:solidFill>
                  <a:srgbClr val="000099"/>
                </a:solidFill>
              </a:rPr>
              <a:t>A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柱移到</a:t>
            </a:r>
            <a:r>
              <a:rPr lang="en-US" altLang="zh-CN" sz="2800" b="1">
                <a:solidFill>
                  <a:srgbClr val="000099"/>
                </a:solidFill>
              </a:rPr>
              <a:t>C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柱以后，世界就到了末日。当然，这个问题还有一些特定的条件，那就是在柱子之间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只能移动一个盘子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并且</a:t>
            </a:r>
            <a:r>
              <a:rPr lang="zh-CN" altLang="en-US" sz="2800" b="1">
                <a:solidFill>
                  <a:srgbClr val="FF3300"/>
                </a:solidFill>
                <a:latin typeface="宋体" panose="02010600030101010101" pitchFamily="2" charset="-122"/>
              </a:rPr>
              <a:t>任何时候大盘子都不能放到小盘子上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。教士们当然还在忙碌着，因为这需要</a:t>
            </a:r>
            <a:r>
              <a:rPr lang="zh-CN" altLang="en-US" sz="2800" b="1">
                <a:solidFill>
                  <a:srgbClr val="000099"/>
                </a:solidFill>
              </a:rPr>
              <a:t>2</a:t>
            </a:r>
            <a:r>
              <a:rPr lang="zh-CN" altLang="en-US" sz="2800" b="1" baseline="30000">
                <a:solidFill>
                  <a:srgbClr val="000099"/>
                </a:solidFill>
              </a:rPr>
              <a:t>64</a:t>
            </a:r>
            <a:r>
              <a:rPr lang="zh-CN" altLang="en-US" sz="2800" b="1">
                <a:solidFill>
                  <a:srgbClr val="000099"/>
                </a:solidFill>
              </a:rPr>
              <a:t>-1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次移动。如果一次移动需要一秒钟，那么全部操作需要</a:t>
            </a:r>
            <a:r>
              <a:rPr lang="zh-CN" altLang="en-US" sz="2800" b="1">
                <a:solidFill>
                  <a:srgbClr val="000099"/>
                </a:solidFill>
              </a:rPr>
              <a:t>5000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亿年以上时间。</a:t>
            </a:r>
            <a:r>
              <a:rPr lang="zh-CN" altLang="en-US" sz="2800" b="1">
                <a:solidFill>
                  <a:srgbClr val="000099"/>
                </a:solidFill>
              </a:rPr>
              <a:t> </a:t>
            </a:r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28038AE5-2C43-4F32-9A2D-FC02FAEE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333375"/>
            <a:ext cx="4876800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4">
            <a:extLst>
              <a:ext uri="{FF2B5EF4-FFF2-40B4-BE49-F238E27FC236}">
                <a16:creationId xmlns:a16="http://schemas.microsoft.com/office/drawing/2014/main" id="{7BC07D2F-9B9D-4DE0-BF55-5A21AB7751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E98CD20-FE5C-4086-B012-677C250BD0BC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A0545A1-C213-4E55-9FF1-B909A6273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n</a:t>
            </a:r>
            <a:r>
              <a:rPr lang="zh-CN" altLang="en-US" b="1">
                <a:latin typeface="宋体" panose="02010600030101010101" pitchFamily="2" charset="-122"/>
              </a:rPr>
              <a:t>个圆盘从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</a:t>
            </a:r>
            <a:r>
              <a:rPr lang="en-US" altLang="zh-CN" b="1">
                <a:solidFill>
                  <a:schemeClr val="tx2"/>
                </a:solidFill>
              </a:rPr>
              <a:t>move(n, A, B, C)</a:t>
            </a:r>
            <a:r>
              <a:rPr lang="en-US" altLang="zh-CN" b="1"/>
              <a:t> </a:t>
            </a:r>
            <a:r>
              <a:rPr lang="zh-CN" altLang="en-US" b="1"/>
              <a:t>可分解为</a:t>
            </a:r>
            <a:r>
              <a:rPr lang="en-US" altLang="zh-CN" b="1"/>
              <a:t>3</a:t>
            </a:r>
            <a:r>
              <a:rPr lang="zh-CN" altLang="en-US" b="1"/>
              <a:t>步</a:t>
            </a:r>
            <a:r>
              <a:rPr lang="zh-CN" altLang="en-US" b="1">
                <a:latin typeface="宋体" panose="02010600030101010101" pitchFamily="2" charset="-122"/>
              </a:rPr>
              <a:t>：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第1步.将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柱上面的从上往下数的（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柱上，中间通过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柱为辅助。这是一个（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个圆盘的问题：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move(n-1,A,C,B)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 </a:t>
            </a:r>
            <a:r>
              <a:rPr lang="zh-CN" altLang="en-US" b="1">
                <a:latin typeface="宋体" panose="02010600030101010101" pitchFamily="2" charset="-122"/>
              </a:rPr>
              <a:t>将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柱上的最后一个圆盘，直接移到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</a:rPr>
              <a:t>步</a:t>
            </a:r>
            <a:r>
              <a:rPr lang="zh-CN" altLang="en-US" b="1"/>
              <a:t>.</a:t>
            </a:r>
            <a:r>
              <a:rPr lang="zh-CN" altLang="en-US" b="1">
                <a:latin typeface="宋体" panose="02010600030101010101" pitchFamily="2" charset="-122"/>
              </a:rPr>
              <a:t>再将</a:t>
            </a:r>
            <a:r>
              <a:rPr lang="en-US" altLang="zh-CN" b="1">
                <a:latin typeface="宋体" panose="02010600030101010101" pitchFamily="2" charset="-122"/>
              </a:rPr>
              <a:t>B</a:t>
            </a:r>
            <a:r>
              <a:rPr lang="zh-CN" altLang="en-US" b="1">
                <a:latin typeface="宋体" panose="02010600030101010101" pitchFamily="2" charset="-122"/>
              </a:rPr>
              <a:t>柱上的（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个圆盘移到</a:t>
            </a:r>
            <a:r>
              <a:rPr lang="en-US" altLang="zh-CN" b="1">
                <a:latin typeface="宋体" panose="02010600030101010101" pitchFamily="2" charset="-122"/>
              </a:rPr>
              <a:t>C</a:t>
            </a:r>
            <a:r>
              <a:rPr lang="zh-CN" altLang="en-US" b="1">
                <a:latin typeface="宋体" panose="02010600030101010101" pitchFamily="2" charset="-122"/>
              </a:rPr>
              <a:t>柱上，中间以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柱为辅助。这又是一个（</a:t>
            </a:r>
            <a:r>
              <a:rPr lang="en-US" altLang="zh-CN" b="1">
                <a:latin typeface="宋体" panose="02010600030101010101" pitchFamily="2" charset="-122"/>
              </a:rPr>
              <a:t>n－1）</a:t>
            </a:r>
            <a:r>
              <a:rPr lang="zh-CN" altLang="en-US" b="1">
                <a:latin typeface="宋体" panose="02010600030101010101" pitchFamily="2" charset="-122"/>
              </a:rPr>
              <a:t>个圆盘的问题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accent2"/>
                </a:solidFill>
                <a:latin typeface="宋体" panose="02010600030101010101" pitchFamily="2" charset="-122"/>
              </a:rPr>
              <a:t>move(n-1,B,A,C)</a:t>
            </a:r>
            <a:r>
              <a:rPr lang="zh-CN" altLang="en-US" b="1">
                <a:latin typeface="宋体" panose="02010600030101010101" pitchFamily="2" charset="-122"/>
              </a:rPr>
              <a:t>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/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0765DFC0-0E41-4420-BE78-1CB28DBCA61B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63500"/>
            <a:ext cx="3960812" cy="1177925"/>
            <a:chOff x="113" y="-33"/>
            <a:chExt cx="3072" cy="911"/>
          </a:xfrm>
        </p:grpSpPr>
        <p:pic>
          <p:nvPicPr>
            <p:cNvPr id="30724" name="Picture 5">
              <a:extLst>
                <a:ext uri="{FF2B5EF4-FFF2-40B4-BE49-F238E27FC236}">
                  <a16:creationId xmlns:a16="http://schemas.microsoft.com/office/drawing/2014/main" id="{CFCA94D8-0DE5-4313-9EF4-8B3E548BC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" y="0"/>
              <a:ext cx="3072" cy="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0" name="Text Box 6">
              <a:extLst>
                <a:ext uri="{FF2B5EF4-FFF2-40B4-BE49-F238E27FC236}">
                  <a16:creationId xmlns:a16="http://schemas.microsoft.com/office/drawing/2014/main" id="{7D6B2BFE-E9FA-4CB9-94BC-6F979DCB7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1" name="Text Box 7">
              <a:extLst>
                <a:ext uri="{FF2B5EF4-FFF2-40B4-BE49-F238E27FC236}">
                  <a16:creationId xmlns:a16="http://schemas.microsoft.com/office/drawing/2014/main" id="{3DDD1948-8FCF-4560-8E8E-2926FA288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2" name="Text Box 8">
              <a:extLst>
                <a:ext uri="{FF2B5EF4-FFF2-40B4-BE49-F238E27FC236}">
                  <a16:creationId xmlns:a16="http://schemas.microsoft.com/office/drawing/2014/main" id="{6B97AF2F-1EF9-48AB-9BBE-BA773517E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6" y="-33"/>
              <a:ext cx="272" cy="354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30728" name="Group 9">
            <a:extLst>
              <a:ext uri="{FF2B5EF4-FFF2-40B4-BE49-F238E27FC236}">
                <a16:creationId xmlns:a16="http://schemas.microsoft.com/office/drawing/2014/main" id="{0329C3D1-564E-4AD2-A476-FDEED7588F10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4450"/>
            <a:ext cx="4319587" cy="1222375"/>
            <a:chOff x="839" y="2825"/>
            <a:chExt cx="3402" cy="1058"/>
          </a:xfrm>
        </p:grpSpPr>
        <p:pic>
          <p:nvPicPr>
            <p:cNvPr id="30729" name="Picture 10">
              <a:extLst>
                <a:ext uri="{FF2B5EF4-FFF2-40B4-BE49-F238E27FC236}">
                  <a16:creationId xmlns:a16="http://schemas.microsoft.com/office/drawing/2014/main" id="{131DACD8-4E12-45E2-B4FF-B28927D24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2931"/>
              <a:ext cx="3402" cy="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995" name="Text Box 11">
              <a:extLst>
                <a:ext uri="{FF2B5EF4-FFF2-40B4-BE49-F238E27FC236}">
                  <a16:creationId xmlns:a16="http://schemas.microsoft.com/office/drawing/2014/main" id="{0CA519E5-D7DB-4ADE-BDD9-586C27346A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2825"/>
              <a:ext cx="273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69996" name="Text Box 12">
              <a:extLst>
                <a:ext uri="{FF2B5EF4-FFF2-40B4-BE49-F238E27FC236}">
                  <a16:creationId xmlns:a16="http://schemas.microsoft.com/office/drawing/2014/main" id="{741689EB-0A0C-442C-BF90-D7E297426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69997" name="Text Box 13">
              <a:extLst>
                <a:ext uri="{FF2B5EF4-FFF2-40B4-BE49-F238E27FC236}">
                  <a16:creationId xmlns:a16="http://schemas.microsoft.com/office/drawing/2014/main" id="{6FD44C6A-40CC-4FDC-BA72-E08DDF306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825"/>
              <a:ext cx="274" cy="396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sp>
        <p:nvSpPr>
          <p:cNvPr id="169998" name="AutoShape 14">
            <a:extLst>
              <a:ext uri="{FF2B5EF4-FFF2-40B4-BE49-F238E27FC236}">
                <a16:creationId xmlns:a16="http://schemas.microsoft.com/office/drawing/2014/main" id="{FE8AD108-F966-449B-8CCD-4A951416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4926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2"/>
          </a:solidFill>
          <a:ln w="9525">
            <a:solidFill>
              <a:schemeClr val="hlink"/>
            </a:solidFill>
            <a:miter lim="800000"/>
          </a:ln>
          <a:effectLst>
            <a:prstShdw prst="shdw18" dist="17961" dir="13500000">
              <a:schemeClr val="hlink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4">
            <a:extLst>
              <a:ext uri="{FF2B5EF4-FFF2-40B4-BE49-F238E27FC236}">
                <a16:creationId xmlns:a16="http://schemas.microsoft.com/office/drawing/2014/main" id="{3DB99279-422A-4419-B594-8C2EE608B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6643F7F-9BAB-461D-94BC-84AA48CF4347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E714045B-35A5-4B4C-8DC8-172FE90AE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这个求解步骤显然是一种递归定义，将问题分解成若干同样类型的小问题。</a:t>
            </a:r>
            <a:endParaRPr lang="en-US" altLang="zh-CN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当解</a:t>
            </a:r>
            <a:r>
              <a:rPr lang="en-US" altLang="zh-CN" b="1" dirty="0"/>
              <a:t>move(n-1, A, C, B)</a:t>
            </a:r>
            <a:r>
              <a:rPr lang="zh-CN" altLang="en-US" b="1" dirty="0"/>
              <a:t>时又可想到，将其分解为</a:t>
            </a:r>
            <a:r>
              <a:rPr lang="en-US" altLang="zh-CN" b="1" dirty="0"/>
              <a:t>3</a:t>
            </a:r>
            <a:r>
              <a:rPr lang="zh-CN" altLang="en-US" b="1" dirty="0"/>
              <a:t>步：</a:t>
            </a:r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A</a:t>
            </a:r>
            <a:r>
              <a:rPr lang="zh-CN" altLang="en-US" b="1" dirty="0"/>
              <a:t>经</a:t>
            </a:r>
            <a:r>
              <a:rPr lang="en-US" altLang="zh-CN" b="1" dirty="0"/>
              <a:t>B</a:t>
            </a:r>
            <a:r>
              <a:rPr lang="zh-CN" altLang="en-US" b="1" dirty="0"/>
              <a:t>到</a:t>
            </a:r>
            <a:r>
              <a:rPr lang="en-US" altLang="zh-CN" b="1" dirty="0"/>
              <a:t>C</a:t>
            </a:r>
            <a:r>
              <a:rPr lang="zh-CN" altLang="en-US" b="1" dirty="0"/>
              <a:t>，</a:t>
            </a:r>
            <a:r>
              <a:rPr lang="en-US" altLang="zh-CN" b="1" dirty="0"/>
              <a:t>move(n-2, A, B, C)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步：第</a:t>
            </a:r>
            <a:r>
              <a:rPr lang="en-US" altLang="zh-CN" b="1" dirty="0"/>
              <a:t>n-1</a:t>
            </a:r>
            <a:r>
              <a:rPr lang="zh-CN" altLang="en-US" b="1" dirty="0"/>
              <a:t>号盘子从</a:t>
            </a:r>
            <a:r>
              <a:rPr lang="en-US" altLang="zh-CN" b="1" dirty="0"/>
              <a:t>A</a:t>
            </a:r>
            <a:r>
              <a:rPr lang="zh-CN" altLang="en-US" b="1" dirty="0"/>
              <a:t>直接移至</a:t>
            </a:r>
            <a:r>
              <a:rPr lang="en-US" altLang="zh-CN" b="1" dirty="0"/>
              <a:t>B</a:t>
            </a:r>
            <a:r>
              <a:rPr lang="zh-CN" altLang="en-US" b="1" dirty="0"/>
              <a:t>，即</a:t>
            </a:r>
            <a:r>
              <a:rPr lang="en-US" altLang="zh-CN" b="1" dirty="0"/>
              <a:t>n-1:A to B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sz="900" b="1" dirty="0"/>
          </a:p>
          <a:p>
            <a:pPr eaLnBrk="1" hangingPunct="1">
              <a:buFontTx/>
              <a:buNone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步：再将上面的</a:t>
            </a:r>
            <a:r>
              <a:rPr lang="en-US" altLang="zh-CN" b="1" dirty="0"/>
              <a:t>n-2</a:t>
            </a:r>
            <a:r>
              <a:rPr lang="zh-CN" altLang="en-US" b="1" dirty="0"/>
              <a:t>只盘子作为一个整体从</a:t>
            </a:r>
            <a:r>
              <a:rPr lang="en-US" altLang="zh-CN" b="1" dirty="0"/>
              <a:t>C</a:t>
            </a:r>
            <a:r>
              <a:rPr lang="zh-CN" altLang="en-US" b="1" dirty="0"/>
              <a:t>经</a:t>
            </a:r>
            <a:r>
              <a:rPr lang="en-US" altLang="zh-CN" b="1" dirty="0"/>
              <a:t>A</a:t>
            </a:r>
            <a:r>
              <a:rPr lang="zh-CN" altLang="en-US" b="1" dirty="0"/>
              <a:t>移至</a:t>
            </a:r>
            <a:r>
              <a:rPr lang="en-US" altLang="zh-CN" b="1" dirty="0"/>
              <a:t>B</a:t>
            </a:r>
            <a:r>
              <a:rPr lang="zh-CN" altLang="en-US" b="1" dirty="0"/>
              <a:t>，</a:t>
            </a:r>
            <a:r>
              <a:rPr lang="en-US" altLang="zh-CN" b="1" dirty="0"/>
              <a:t>move(n-2, C, A, B)</a:t>
            </a:r>
            <a:r>
              <a:rPr lang="zh-CN" altLang="en-US" b="1" dirty="0"/>
              <a:t>；</a:t>
            </a:r>
          </a:p>
          <a:p>
            <a:pPr eaLnBrk="1" hangingPunct="1">
              <a:buFontTx/>
              <a:buNone/>
            </a:pPr>
            <a:endParaRPr lang="zh-CN" altLang="en-US" b="1" dirty="0"/>
          </a:p>
          <a:p>
            <a:pPr eaLnBrk="1" hangingPunct="1">
              <a:buFontTx/>
              <a:buNone/>
            </a:pPr>
            <a:endParaRPr lang="zh-CN" altLang="en-US" dirty="0"/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E6F3C717-A6C3-49F8-B10A-A96BFB80C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4">
            <a:extLst>
              <a:ext uri="{FF2B5EF4-FFF2-40B4-BE49-F238E27FC236}">
                <a16:creationId xmlns:a16="http://schemas.microsoft.com/office/drawing/2014/main" id="{57F9AC11-79AC-4992-A40D-92F0634D93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E856DA6-39A2-47A1-A718-726E483EB6DA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31FE3B3-3E46-4A14-9871-38BE1CE0BD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7989888" cy="4611687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这样移动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个盘子的问题被简化成了移动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－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个盘子的问题，移动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个盘子的问题又被简化成移动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n-2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  ……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这一过程反复进行下去直到只剩下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个盘子时将其移动。移动</a:t>
            </a:r>
            <a:r>
              <a:rPr kumimoji="1"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kumimoji="1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个盘子的简单操作就是初始条件。</a:t>
            </a:r>
            <a:endParaRPr kumimoji="1"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marL="533400" indent="-533400" eaLnBrk="1" hangingPunct="1">
              <a:buFontTx/>
              <a:buNone/>
              <a:defRPr/>
            </a:pPr>
            <a:endParaRPr kumimoji="1"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4">
            <a:extLst>
              <a:ext uri="{FF2B5EF4-FFF2-40B4-BE49-F238E27FC236}">
                <a16:creationId xmlns:a16="http://schemas.microsoft.com/office/drawing/2014/main" id="{5170749E-696A-4ABC-861D-3C95F827D9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537BA8C-3549-448C-AD99-E4D36B968EE1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A3AF67C-7BA8-4206-9BDA-CBB9E4AFC8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7544" y="1340768"/>
            <a:ext cx="8458200" cy="4464496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(int n, int from, int med, int to)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if (n==1)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else{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from, to, med);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dplate</a:t>
            </a:r>
            <a:r>
              <a:rPr lang="en-US" altLang="zh-CN" sz="2400" dirty="0">
                <a:latin typeface="Consolas" panose="020B0609020204030204" pitchFamily="49" charset="0"/>
              </a:rPr>
              <a:t>:%d--&gt;%d \n", </a:t>
            </a:r>
            <a:r>
              <a:rPr lang="en-US" altLang="zh-CN" sz="2400" dirty="0" err="1">
                <a:latin typeface="Consolas" panose="020B0609020204030204" pitchFamily="49" charset="0"/>
              </a:rPr>
              <a:t>n,from</a:t>
            </a:r>
            <a:r>
              <a:rPr lang="en-US" altLang="zh-CN" sz="2400" dirty="0">
                <a:latin typeface="Consolas" panose="020B0609020204030204" pitchFamily="49" charset="0"/>
              </a:rPr>
              <a:t>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	</a:t>
            </a:r>
            <a:r>
              <a:rPr lang="en-US" altLang="zh-CN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solidFill>
                  <a:srgbClr val="FF0000"/>
                </a:solidFill>
                <a:latin typeface="Consolas" panose="020B0609020204030204" pitchFamily="49" charset="0"/>
              </a:rPr>
              <a:t>(n-1, med, from, to);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}</a:t>
            </a:r>
          </a:p>
          <a:p>
            <a:pPr eaLnBrk="1" hangingPunct="1"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2326455-466F-4BEC-864B-BC3D0DED7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汉诺塔递归函数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4">
            <a:extLst>
              <a:ext uri="{FF2B5EF4-FFF2-40B4-BE49-F238E27FC236}">
                <a16:creationId xmlns:a16="http://schemas.microsoft.com/office/drawing/2014/main" id="{31A1A007-4A0E-46D7-98E1-C73CC4A799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9EFFA93-647C-4A9C-84F5-D72EBED69F8B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8673FDD2-1FCD-4D28-907E-731A2829B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b="1" dirty="0"/>
              <a:t>主函数代码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6E50C62-3BE0-449A-A9F3-84635012B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576" y="1419761"/>
            <a:ext cx="7772400" cy="46116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#</a:t>
            </a:r>
            <a:r>
              <a:rPr lang="en-US" altLang="zh-CN" sz="2400" dirty="0">
                <a:latin typeface="Consolas" panose="020B0609020204030204" pitchFamily="49" charset="0"/>
              </a:rPr>
              <a:t>include&lt;</a:t>
            </a:r>
            <a:r>
              <a:rPr lang="en-US" altLang="zh-CN" sz="2400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</a:t>
            </a:r>
            <a:r>
              <a:rPr lang="en-US" altLang="zh-CN" sz="2400" dirty="0" err="1">
                <a:latin typeface="Consolas" panose="020B0609020204030204" pitchFamily="49" charset="0"/>
              </a:rPr>
              <a:t>hanoiTower</a:t>
            </a:r>
            <a:r>
              <a:rPr lang="en-US" altLang="zh-CN" sz="2400" dirty="0">
                <a:latin typeface="Consolas" panose="020B0609020204030204" pitchFamily="49" charset="0"/>
              </a:rPr>
              <a:t>(int ,int ,int ,int 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main()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num;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latin typeface="Consolas" panose="020B0609020204030204" pitchFamily="49" charset="0"/>
              </a:rPr>
              <a:t>("the number of plate is:");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latin typeface="Consolas" panose="020B0609020204030204" pitchFamily="49" charset="0"/>
              </a:rPr>
              <a:t>scanf</a:t>
            </a:r>
            <a:r>
              <a:rPr lang="en-US" altLang="zh-CN" sz="2400" dirty="0">
                <a:latin typeface="Consolas" panose="020B0609020204030204" pitchFamily="49" charset="0"/>
              </a:rPr>
              <a:t>("%</a:t>
            </a:r>
            <a:r>
              <a:rPr lang="en-US" altLang="zh-CN" sz="2400" dirty="0" err="1">
                <a:latin typeface="Consolas" panose="020B0609020204030204" pitchFamily="49" charset="0"/>
              </a:rPr>
              <a:t>d",&amp;num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	  </a:t>
            </a:r>
            <a:r>
              <a:rPr lang="en-US" altLang="zh-CN" sz="2400" dirty="0" err="1">
                <a:latin typeface="Consolas" panose="020B0609020204030204" pitchFamily="49" charset="0"/>
              </a:rPr>
              <a:t>hanoi</a:t>
            </a:r>
            <a:r>
              <a:rPr lang="en-US" altLang="zh-CN" sz="2400" dirty="0">
                <a:latin typeface="Consolas" panose="020B0609020204030204" pitchFamily="49" charset="0"/>
              </a:rPr>
              <a:t>(num, 1, 2, 3);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return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4">
            <a:extLst>
              <a:ext uri="{FF2B5EF4-FFF2-40B4-BE49-F238E27FC236}">
                <a16:creationId xmlns:a16="http://schemas.microsoft.com/office/drawing/2014/main" id="{D1F13E9D-4FD4-47AE-8A75-EE2A64DF28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B4D92B-3B97-4DE1-A70B-BC8677563246}" type="slidenum">
              <a:rPr lang="zh-CN" altLang="en-US" smtClean="0"/>
              <a:pPr/>
              <a:t>24</a:t>
            </a:fld>
            <a:endParaRPr lang="zh-CN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4C89D7ED-65CD-41AB-8D64-3FDCB3C69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移动三个盘子的运行结果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C66C097-67FA-4091-AF76-6303622821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4318000" cy="4611687"/>
          </a:xfrm>
          <a:solidFill>
            <a:schemeClr val="folHlink"/>
          </a:solid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the number of plate is:3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1--&gt;2</a:t>
            </a:r>
          </a:p>
          <a:p>
            <a:pPr eaLnBrk="1" hangingPunct="1">
              <a:buFontTx/>
              <a:buNone/>
            </a:pPr>
            <a:r>
              <a:rPr lang="en-US" altLang="zh-CN"/>
              <a:t>3--&gt;2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</a:p>
          <a:p>
            <a:pPr eaLnBrk="1" hangingPunct="1">
              <a:buFontTx/>
              <a:buNone/>
            </a:pPr>
            <a:r>
              <a:rPr lang="en-US" altLang="zh-CN"/>
              <a:t>2--&gt;1</a:t>
            </a:r>
          </a:p>
          <a:p>
            <a:pPr eaLnBrk="1" hangingPunct="1">
              <a:buFontTx/>
              <a:buNone/>
            </a:pPr>
            <a:r>
              <a:rPr lang="en-US" altLang="zh-CN"/>
              <a:t>2--&gt;3</a:t>
            </a:r>
          </a:p>
          <a:p>
            <a:pPr eaLnBrk="1" hangingPunct="1">
              <a:buFontTx/>
              <a:buNone/>
            </a:pPr>
            <a:r>
              <a:rPr lang="en-US" altLang="zh-CN"/>
              <a:t>1--&gt;3</a:t>
            </a:r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E7CEED4-ED5D-4B1B-B223-82B00548C2A6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5263"/>
            <a:ext cx="5076825" cy="2108200"/>
            <a:chOff x="2340" y="3624"/>
            <a:chExt cx="7200" cy="2184"/>
          </a:xfrm>
        </p:grpSpPr>
        <p:sp>
          <p:nvSpPr>
            <p:cNvPr id="36869" name="Line 5">
              <a:extLst>
                <a:ext uri="{FF2B5EF4-FFF2-40B4-BE49-F238E27FC236}">
                  <a16:creationId xmlns:a16="http://schemas.microsoft.com/office/drawing/2014/main" id="{50B6CE9B-6392-4B85-A3F2-76D5A0252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580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0" name="Rectangle 6">
              <a:extLst>
                <a:ext uri="{FF2B5EF4-FFF2-40B4-BE49-F238E27FC236}">
                  <a16:creationId xmlns:a16="http://schemas.microsoft.com/office/drawing/2014/main" id="{4E69633F-D4CC-4E67-B9E1-DA6D9FAF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534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1" name="Rectangle 7">
              <a:extLst>
                <a:ext uri="{FF2B5EF4-FFF2-40B4-BE49-F238E27FC236}">
                  <a16:creationId xmlns:a16="http://schemas.microsoft.com/office/drawing/2014/main" id="{B9F7CF5B-B7B1-48AE-A095-259AE8777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487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72" name="Rectangle 8">
              <a:extLst>
                <a:ext uri="{FF2B5EF4-FFF2-40B4-BE49-F238E27FC236}">
                  <a16:creationId xmlns:a16="http://schemas.microsoft.com/office/drawing/2014/main" id="{5615B306-F3E6-4967-8A39-C9D3CE68A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0" y="534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73" name="Line 9">
              <a:extLst>
                <a:ext uri="{FF2B5EF4-FFF2-40B4-BE49-F238E27FC236}">
                  <a16:creationId xmlns:a16="http://schemas.microsoft.com/office/drawing/2014/main" id="{439D1E4E-6A0A-4E8D-89D2-871E3E83F8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362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Line 10">
              <a:extLst>
                <a:ext uri="{FF2B5EF4-FFF2-40B4-BE49-F238E27FC236}">
                  <a16:creationId xmlns:a16="http://schemas.microsoft.com/office/drawing/2014/main" id="{5B49E020-3DEF-42AB-B57E-05E65999D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362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1">
              <a:extLst>
                <a:ext uri="{FF2B5EF4-FFF2-40B4-BE49-F238E27FC236}">
                  <a16:creationId xmlns:a16="http://schemas.microsoft.com/office/drawing/2014/main" id="{DCB9CD99-8247-46CC-A1FD-317917D92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362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79C230B7-A044-44EF-93C0-0EFE5F4DB1CD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2520" y="6744"/>
            <a:chExt cx="7200" cy="2184"/>
          </a:xfrm>
        </p:grpSpPr>
        <p:sp>
          <p:nvSpPr>
            <p:cNvPr id="36877" name="Line 13">
              <a:extLst>
                <a:ext uri="{FF2B5EF4-FFF2-40B4-BE49-F238E27FC236}">
                  <a16:creationId xmlns:a16="http://schemas.microsoft.com/office/drawing/2014/main" id="{A3784EFE-4DAC-4B76-87E3-602E16595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892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Rectangle 14">
              <a:extLst>
                <a:ext uri="{FF2B5EF4-FFF2-40B4-BE49-F238E27FC236}">
                  <a16:creationId xmlns:a16="http://schemas.microsoft.com/office/drawing/2014/main" id="{DA6C6581-DE97-456B-943A-D789FFB4B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" y="846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79" name="Rectangle 15">
              <a:extLst>
                <a:ext uri="{FF2B5EF4-FFF2-40B4-BE49-F238E27FC236}">
                  <a16:creationId xmlns:a16="http://schemas.microsoft.com/office/drawing/2014/main" id="{899774DE-086F-498D-AAD4-8A473DF2E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" y="846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0" name="Rectangle 16">
              <a:extLst>
                <a:ext uri="{FF2B5EF4-FFF2-40B4-BE49-F238E27FC236}">
                  <a16:creationId xmlns:a16="http://schemas.microsoft.com/office/drawing/2014/main" id="{BE2A165F-39B5-4526-8D70-109DB3A78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" y="8460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1" name="Line 17">
              <a:extLst>
                <a:ext uri="{FF2B5EF4-FFF2-40B4-BE49-F238E27FC236}">
                  <a16:creationId xmlns:a16="http://schemas.microsoft.com/office/drawing/2014/main" id="{986F9722-4040-41CF-8802-923A799671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18">
              <a:extLst>
                <a:ext uri="{FF2B5EF4-FFF2-40B4-BE49-F238E27FC236}">
                  <a16:creationId xmlns:a16="http://schemas.microsoft.com/office/drawing/2014/main" id="{AB5715AC-FA60-4D9C-8A71-B00FECF440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19">
              <a:extLst>
                <a:ext uri="{FF2B5EF4-FFF2-40B4-BE49-F238E27FC236}">
                  <a16:creationId xmlns:a16="http://schemas.microsoft.com/office/drawing/2014/main" id="{7F1732EC-1182-4F42-BC78-BAD87B974E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" y="674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0">
            <a:extLst>
              <a:ext uri="{FF2B5EF4-FFF2-40B4-BE49-F238E27FC236}">
                <a16:creationId xmlns:a16="http://schemas.microsoft.com/office/drawing/2014/main" id="{20273F11-4340-4B16-B341-A525EE722855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1466850"/>
            <a:ext cx="5076825" cy="2106613"/>
            <a:chOff x="1980" y="5184"/>
            <a:chExt cx="7200" cy="2184"/>
          </a:xfrm>
        </p:grpSpPr>
        <p:sp>
          <p:nvSpPr>
            <p:cNvPr id="36885" name="Line 21">
              <a:extLst>
                <a:ext uri="{FF2B5EF4-FFF2-40B4-BE49-F238E27FC236}">
                  <a16:creationId xmlns:a16="http://schemas.microsoft.com/office/drawing/2014/main" id="{3E6B44F1-9490-4538-B047-4C5D6D1DBC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0" y="73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2">
              <a:extLst>
                <a:ext uri="{FF2B5EF4-FFF2-40B4-BE49-F238E27FC236}">
                  <a16:creationId xmlns:a16="http://schemas.microsoft.com/office/drawing/2014/main" id="{094697AD-D5C9-402A-A9CF-12DCEFD38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69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87" name="Rectangle 23">
              <a:extLst>
                <a:ext uri="{FF2B5EF4-FFF2-40B4-BE49-F238E27FC236}">
                  <a16:creationId xmlns:a16="http://schemas.microsoft.com/office/drawing/2014/main" id="{1FD38FA3-498B-47D5-9EF2-5B9FC9F4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" y="690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88" name="Rectangle 24">
              <a:extLst>
                <a:ext uri="{FF2B5EF4-FFF2-40B4-BE49-F238E27FC236}">
                  <a16:creationId xmlns:a16="http://schemas.microsoft.com/office/drawing/2014/main" id="{A2C99F23-E1DE-4936-A1FA-2DAF539A4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643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89" name="Line 25">
              <a:extLst>
                <a:ext uri="{FF2B5EF4-FFF2-40B4-BE49-F238E27FC236}">
                  <a16:creationId xmlns:a16="http://schemas.microsoft.com/office/drawing/2014/main" id="{77D2C6F6-3D65-4600-8551-4E8D4B7B2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5184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Line 26">
              <a:extLst>
                <a:ext uri="{FF2B5EF4-FFF2-40B4-BE49-F238E27FC236}">
                  <a16:creationId xmlns:a16="http://schemas.microsoft.com/office/drawing/2014/main" id="{7844F1BA-8730-4216-82B5-B1E31399C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0" y="5184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Line 27">
              <a:extLst>
                <a:ext uri="{FF2B5EF4-FFF2-40B4-BE49-F238E27FC236}">
                  <a16:creationId xmlns:a16="http://schemas.microsoft.com/office/drawing/2014/main" id="{0B281DAE-A2D2-40B4-A4C9-17EA6EB44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51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27328303-CEA2-4F3C-B377-00A77FD0977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773238"/>
            <a:ext cx="4737100" cy="1622425"/>
            <a:chOff x="2340" y="2064"/>
            <a:chExt cx="7200" cy="2184"/>
          </a:xfrm>
        </p:grpSpPr>
        <p:sp>
          <p:nvSpPr>
            <p:cNvPr id="36893" name="Line 29">
              <a:extLst>
                <a:ext uri="{FF2B5EF4-FFF2-40B4-BE49-F238E27FC236}">
                  <a16:creationId xmlns:a16="http://schemas.microsoft.com/office/drawing/2014/main" id="{59CA8A18-BD7C-4EEB-A68C-026138418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24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Rectangle 30">
              <a:extLst>
                <a:ext uri="{FF2B5EF4-FFF2-40B4-BE49-F238E27FC236}">
                  <a16:creationId xmlns:a16="http://schemas.microsoft.com/office/drawing/2014/main" id="{7D7325C7-C4EA-492E-9412-91C6E4BE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78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895" name="Rectangle 31">
              <a:extLst>
                <a:ext uri="{FF2B5EF4-FFF2-40B4-BE49-F238E27FC236}">
                  <a16:creationId xmlns:a16="http://schemas.microsoft.com/office/drawing/2014/main" id="{3FB84FD9-E3FB-4239-9051-F1E9BAEAA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896" name="Rectangle 32">
              <a:extLst>
                <a:ext uri="{FF2B5EF4-FFF2-40B4-BE49-F238E27FC236}">
                  <a16:creationId xmlns:a16="http://schemas.microsoft.com/office/drawing/2014/main" id="{C384DC1B-B02C-4A91-B473-FE14451D0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84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897" name="Line 33">
              <a:extLst>
                <a:ext uri="{FF2B5EF4-FFF2-40B4-BE49-F238E27FC236}">
                  <a16:creationId xmlns:a16="http://schemas.microsoft.com/office/drawing/2014/main" id="{B6BABB4B-FCFE-4237-8010-E963BAB9F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206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8" name="Line 34">
              <a:extLst>
                <a:ext uri="{FF2B5EF4-FFF2-40B4-BE49-F238E27FC236}">
                  <a16:creationId xmlns:a16="http://schemas.microsoft.com/office/drawing/2014/main" id="{F052D502-D0D7-4545-8E05-AC95DDBEC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Line 35">
              <a:extLst>
                <a:ext uri="{FF2B5EF4-FFF2-40B4-BE49-F238E27FC236}">
                  <a16:creationId xmlns:a16="http://schemas.microsoft.com/office/drawing/2014/main" id="{F38EC13A-B3DF-4831-9D00-1E3B69712D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0" y="206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6">
            <a:extLst>
              <a:ext uri="{FF2B5EF4-FFF2-40B4-BE49-F238E27FC236}">
                <a16:creationId xmlns:a16="http://schemas.microsoft.com/office/drawing/2014/main" id="{599E0769-B893-4B47-82E5-3B7243D28A70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9150"/>
            <a:chOff x="2520" y="1596"/>
            <a:chExt cx="7200" cy="2184"/>
          </a:xfrm>
        </p:grpSpPr>
        <p:sp>
          <p:nvSpPr>
            <p:cNvPr id="36901" name="Line 37">
              <a:extLst>
                <a:ext uri="{FF2B5EF4-FFF2-40B4-BE49-F238E27FC236}">
                  <a16:creationId xmlns:a16="http://schemas.microsoft.com/office/drawing/2014/main" id="{04F46C1F-C111-45DD-A7B3-20608F47F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3780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2" name="Rectangle 38">
              <a:extLst>
                <a:ext uri="{FF2B5EF4-FFF2-40B4-BE49-F238E27FC236}">
                  <a16:creationId xmlns:a16="http://schemas.microsoft.com/office/drawing/2014/main" id="{1FEC850F-4FA7-4A62-B773-87E2ED496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3312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03" name="Rectangle 39">
              <a:extLst>
                <a:ext uri="{FF2B5EF4-FFF2-40B4-BE49-F238E27FC236}">
                  <a16:creationId xmlns:a16="http://schemas.microsoft.com/office/drawing/2014/main" id="{51E075F4-62DA-452E-BD1C-FCD405621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31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04" name="Rectangle 40">
              <a:extLst>
                <a:ext uri="{FF2B5EF4-FFF2-40B4-BE49-F238E27FC236}">
                  <a16:creationId xmlns:a16="http://schemas.microsoft.com/office/drawing/2014/main" id="{406643F5-36D3-40AF-B120-0C9ED5597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312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05" name="Line 41">
              <a:extLst>
                <a:ext uri="{FF2B5EF4-FFF2-40B4-BE49-F238E27FC236}">
                  <a16:creationId xmlns:a16="http://schemas.microsoft.com/office/drawing/2014/main" id="{AC41F94A-53A9-457C-8BD3-68299EAB4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42">
              <a:extLst>
                <a:ext uri="{FF2B5EF4-FFF2-40B4-BE49-F238E27FC236}">
                  <a16:creationId xmlns:a16="http://schemas.microsoft.com/office/drawing/2014/main" id="{B0AE8682-21E1-4373-B3D5-7935AA5BD2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43">
              <a:extLst>
                <a:ext uri="{FF2B5EF4-FFF2-40B4-BE49-F238E27FC236}">
                  <a16:creationId xmlns:a16="http://schemas.microsoft.com/office/drawing/2014/main" id="{63D047FC-DCF0-4AB8-BD84-6040E143D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1596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30176E77-0F97-4C24-81B0-666B804B84DA}"/>
              </a:ext>
            </a:extLst>
          </p:cNvPr>
          <p:cNvGrpSpPr>
            <a:grpSpLocks/>
          </p:cNvGrpSpPr>
          <p:nvPr/>
        </p:nvGrpSpPr>
        <p:grpSpPr bwMode="auto">
          <a:xfrm>
            <a:off x="3889375" y="1484313"/>
            <a:ext cx="4859338" cy="2087562"/>
            <a:chOff x="2520" y="4872"/>
            <a:chExt cx="7200" cy="2184"/>
          </a:xfrm>
        </p:grpSpPr>
        <p:sp>
          <p:nvSpPr>
            <p:cNvPr id="36909" name="Line 45">
              <a:extLst>
                <a:ext uri="{FF2B5EF4-FFF2-40B4-BE49-F238E27FC236}">
                  <a16:creationId xmlns:a16="http://schemas.microsoft.com/office/drawing/2014/main" id="{9AB5AC0E-57BB-4727-A0BA-A911DFF2F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0" y="7056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Rectangle 46">
              <a:extLst>
                <a:ext uri="{FF2B5EF4-FFF2-40B4-BE49-F238E27FC236}">
                  <a16:creationId xmlns:a16="http://schemas.microsoft.com/office/drawing/2014/main" id="{6E588A5A-1229-4239-A739-45BD10BB7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" y="6588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1" name="Rectangle 47">
              <a:extLst>
                <a:ext uri="{FF2B5EF4-FFF2-40B4-BE49-F238E27FC236}">
                  <a16:creationId xmlns:a16="http://schemas.microsoft.com/office/drawing/2014/main" id="{46EE057F-89E9-4C17-BCF6-9907961B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0" y="6120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12" name="Rectangle 48">
              <a:extLst>
                <a:ext uri="{FF2B5EF4-FFF2-40B4-BE49-F238E27FC236}">
                  <a16:creationId xmlns:a16="http://schemas.microsoft.com/office/drawing/2014/main" id="{E93D5EBB-D452-4F9A-B8A0-EB6B1A3E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6588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13" name="Line 49">
              <a:extLst>
                <a:ext uri="{FF2B5EF4-FFF2-40B4-BE49-F238E27FC236}">
                  <a16:creationId xmlns:a16="http://schemas.microsoft.com/office/drawing/2014/main" id="{49D869D0-64B1-47B5-A91A-ADDC3A44FC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" y="4872"/>
              <a:ext cx="0" cy="1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4" name="Line 50">
              <a:extLst>
                <a:ext uri="{FF2B5EF4-FFF2-40B4-BE49-F238E27FC236}">
                  <a16:creationId xmlns:a16="http://schemas.microsoft.com/office/drawing/2014/main" id="{F225FBA9-CFF2-483D-9EA2-5E11DEF6D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" y="4872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Line 51">
              <a:extLst>
                <a:ext uri="{FF2B5EF4-FFF2-40B4-BE49-F238E27FC236}">
                  <a16:creationId xmlns:a16="http://schemas.microsoft.com/office/drawing/2014/main" id="{6AECB5AE-F616-40C4-A3C5-D4E3314D28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0" y="4872"/>
              <a:ext cx="0" cy="12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52">
            <a:extLst>
              <a:ext uri="{FF2B5EF4-FFF2-40B4-BE49-F238E27FC236}">
                <a16:creationId xmlns:a16="http://schemas.microsoft.com/office/drawing/2014/main" id="{D9ED0FED-B469-467C-AB20-6FA8CDDC3EAB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557338"/>
            <a:ext cx="4895850" cy="2016125"/>
            <a:chOff x="2160" y="12984"/>
            <a:chExt cx="7200" cy="2184"/>
          </a:xfrm>
        </p:grpSpPr>
        <p:sp>
          <p:nvSpPr>
            <p:cNvPr id="36917" name="Line 53">
              <a:extLst>
                <a:ext uri="{FF2B5EF4-FFF2-40B4-BE49-F238E27FC236}">
                  <a16:creationId xmlns:a16="http://schemas.microsoft.com/office/drawing/2014/main" id="{2D3DEA57-4317-4A9C-9AB1-5149CB80C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5168"/>
              <a:ext cx="7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8" name="Rectangle 54">
              <a:extLst>
                <a:ext uri="{FF2B5EF4-FFF2-40B4-BE49-F238E27FC236}">
                  <a16:creationId xmlns:a16="http://schemas.microsoft.com/office/drawing/2014/main" id="{822E6984-E518-403C-B537-7F1ABD4D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14700"/>
              <a:ext cx="252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19" name="Rectangle 55">
              <a:extLst>
                <a:ext uri="{FF2B5EF4-FFF2-40B4-BE49-F238E27FC236}">
                  <a16:creationId xmlns:a16="http://schemas.microsoft.com/office/drawing/2014/main" id="{A33CEA81-DAFC-47F9-BD28-F4B68382C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0" y="14232"/>
              <a:ext cx="180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0" name="Rectangle 56">
              <a:extLst>
                <a:ext uri="{FF2B5EF4-FFF2-40B4-BE49-F238E27FC236}">
                  <a16:creationId xmlns:a16="http://schemas.microsoft.com/office/drawing/2014/main" id="{7AB45490-505E-4AB8-B6F3-3B970173D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13764"/>
              <a:ext cx="1080" cy="4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1" name="Line 57">
              <a:extLst>
                <a:ext uri="{FF2B5EF4-FFF2-40B4-BE49-F238E27FC236}">
                  <a16:creationId xmlns:a16="http://schemas.microsoft.com/office/drawing/2014/main" id="{BB9E0EEC-CA48-4A74-85EA-6653ABC02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0" y="12984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Line 58">
              <a:extLst>
                <a:ext uri="{FF2B5EF4-FFF2-40B4-BE49-F238E27FC236}">
                  <a16:creationId xmlns:a16="http://schemas.microsoft.com/office/drawing/2014/main" id="{2A72E5B7-05CE-466B-A022-B8F56264B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4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Line 59">
              <a:extLst>
                <a:ext uri="{FF2B5EF4-FFF2-40B4-BE49-F238E27FC236}">
                  <a16:creationId xmlns:a16="http://schemas.microsoft.com/office/drawing/2014/main" id="{A81DADC3-6421-4777-B1F8-D68EAABF0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12984"/>
              <a:ext cx="0" cy="21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60">
            <a:extLst>
              <a:ext uri="{FF2B5EF4-FFF2-40B4-BE49-F238E27FC236}">
                <a16:creationId xmlns:a16="http://schemas.microsoft.com/office/drawing/2014/main" id="{F39A16BF-F9F1-4C59-B30C-8AA39FDF99D1}"/>
              </a:ext>
            </a:extLst>
          </p:cNvPr>
          <p:cNvGrpSpPr>
            <a:grpSpLocks/>
          </p:cNvGrpSpPr>
          <p:nvPr/>
        </p:nvGrpSpPr>
        <p:grpSpPr bwMode="auto">
          <a:xfrm>
            <a:off x="3781425" y="1484313"/>
            <a:ext cx="5327650" cy="2089150"/>
            <a:chOff x="1104" y="96"/>
            <a:chExt cx="3120" cy="873"/>
          </a:xfrm>
        </p:grpSpPr>
        <p:sp>
          <p:nvSpPr>
            <p:cNvPr id="36925" name="Line 61">
              <a:extLst>
                <a:ext uri="{FF2B5EF4-FFF2-40B4-BE49-F238E27FC236}">
                  <a16:creationId xmlns:a16="http://schemas.microsoft.com/office/drawing/2014/main" id="{6CBA7C24-46CD-479C-BBB9-E3189A595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969"/>
              <a:ext cx="28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6" name="Rectangle 62">
              <a:extLst>
                <a:ext uri="{FF2B5EF4-FFF2-40B4-BE49-F238E27FC236}">
                  <a16:creationId xmlns:a16="http://schemas.microsoft.com/office/drawing/2014/main" id="{8E75F384-B931-4CF4-A8BF-62FDAA7E7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82"/>
              <a:ext cx="1008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3</a:t>
              </a:r>
            </a:p>
          </p:txBody>
        </p:sp>
        <p:sp>
          <p:nvSpPr>
            <p:cNvPr id="36927" name="Rectangle 63">
              <a:extLst>
                <a:ext uri="{FF2B5EF4-FFF2-40B4-BE49-F238E27FC236}">
                  <a16:creationId xmlns:a16="http://schemas.microsoft.com/office/drawing/2014/main" id="{E1A3D890-B181-463E-8C33-77FF3E682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782"/>
              <a:ext cx="720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2</a:t>
              </a:r>
            </a:p>
          </p:txBody>
        </p:sp>
        <p:sp>
          <p:nvSpPr>
            <p:cNvPr id="36928" name="Rectangle 64">
              <a:extLst>
                <a:ext uri="{FF2B5EF4-FFF2-40B4-BE49-F238E27FC236}">
                  <a16:creationId xmlns:a16="http://schemas.microsoft.com/office/drawing/2014/main" id="{0676C429-28E6-4FFA-96C4-12C842138F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595"/>
              <a:ext cx="432" cy="1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zh-CN" altLang="en-US" sz="1000"/>
                <a:t>1</a:t>
              </a:r>
            </a:p>
          </p:txBody>
        </p:sp>
        <p:sp>
          <p:nvSpPr>
            <p:cNvPr id="36929" name="Line 65">
              <a:extLst>
                <a:ext uri="{FF2B5EF4-FFF2-40B4-BE49-F238E27FC236}">
                  <a16:creationId xmlns:a16="http://schemas.microsoft.com/office/drawing/2014/main" id="{AB424BA8-0480-48BA-9E4E-DA3E99D2B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0" y="96"/>
              <a:ext cx="0" cy="68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66">
              <a:extLst>
                <a:ext uri="{FF2B5EF4-FFF2-40B4-BE49-F238E27FC236}">
                  <a16:creationId xmlns:a16="http://schemas.microsoft.com/office/drawing/2014/main" id="{6546DD5C-CCFF-482A-A0F1-D08634335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2" y="96"/>
              <a:ext cx="0" cy="49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Line 67">
              <a:extLst>
                <a:ext uri="{FF2B5EF4-FFF2-40B4-BE49-F238E27FC236}">
                  <a16:creationId xmlns:a16="http://schemas.microsoft.com/office/drawing/2014/main" id="{BF43D3C4-D0B6-45F6-BB63-DCEBB6EF2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96"/>
              <a:ext cx="0" cy="87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428" name="AutoShape 68">
            <a:extLst>
              <a:ext uri="{FF2B5EF4-FFF2-40B4-BE49-F238E27FC236}">
                <a16:creationId xmlns:a16="http://schemas.microsoft.com/office/drawing/2014/main" id="{E89A7E6C-5681-4B35-B43A-EA618FA21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989138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29" name="AutoShape 69">
            <a:extLst>
              <a:ext uri="{FF2B5EF4-FFF2-40B4-BE49-F238E27FC236}">
                <a16:creationId xmlns:a16="http://schemas.microsoft.com/office/drawing/2014/main" id="{0E8D6D33-1BB9-4EA7-AAD2-16A50FEF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492375"/>
            <a:ext cx="649288" cy="215900"/>
          </a:xfrm>
          <a:prstGeom prst="leftArrow">
            <a:avLst>
              <a:gd name="adj1" fmla="val 50000"/>
              <a:gd name="adj2" fmla="val 75184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0" name="AutoShape 70">
            <a:extLst>
              <a:ext uri="{FF2B5EF4-FFF2-40B4-BE49-F238E27FC236}">
                <a16:creationId xmlns:a16="http://schemas.microsoft.com/office/drawing/2014/main" id="{9A9084C8-075D-47C6-9100-E8B457C7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2997200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1" name="AutoShape 71">
            <a:extLst>
              <a:ext uri="{FF2B5EF4-FFF2-40B4-BE49-F238E27FC236}">
                <a16:creationId xmlns:a16="http://schemas.microsoft.com/office/drawing/2014/main" id="{7C10BB3B-643F-4968-9938-0A504AC90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3500438"/>
            <a:ext cx="647700" cy="215900"/>
          </a:xfrm>
          <a:prstGeom prst="lef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2" name="AutoShape 72">
            <a:extLst>
              <a:ext uri="{FF2B5EF4-FFF2-40B4-BE49-F238E27FC236}">
                <a16:creationId xmlns:a16="http://schemas.microsoft.com/office/drawing/2014/main" id="{CCDBFD32-F166-4788-A00F-78FE6E822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005263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3" name="AutoShape 73">
            <a:extLst>
              <a:ext uri="{FF2B5EF4-FFF2-40B4-BE49-F238E27FC236}">
                <a16:creationId xmlns:a16="http://schemas.microsoft.com/office/drawing/2014/main" id="{B89A75BE-B447-47F8-939F-366CDC006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581525"/>
            <a:ext cx="719137" cy="215900"/>
          </a:xfrm>
          <a:prstGeom prst="leftArrow">
            <a:avLst>
              <a:gd name="adj1" fmla="val 50000"/>
              <a:gd name="adj2" fmla="val 83272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  <p:sp>
        <p:nvSpPr>
          <p:cNvPr id="143434" name="AutoShape 74">
            <a:extLst>
              <a:ext uri="{FF2B5EF4-FFF2-40B4-BE49-F238E27FC236}">
                <a16:creationId xmlns:a16="http://schemas.microsoft.com/office/drawing/2014/main" id="{1D466686-69AB-445B-9EFE-3C404E09C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013325"/>
            <a:ext cx="792162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chemeClr val="bg1"/>
          </a:solidFill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buFontTx/>
              <a:buNone/>
              <a:defRPr/>
            </a:pPr>
            <a:endParaRPr kumimoji="1"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4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4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8" grpId="0" bldLvl="0" animBg="1"/>
      <p:bldP spid="143428" grpId="1" bldLvl="0" animBg="1"/>
      <p:bldP spid="143429" grpId="0" bldLvl="0" animBg="1"/>
      <p:bldP spid="143429" grpId="1" bldLvl="0" animBg="1"/>
      <p:bldP spid="143430" grpId="0" bldLvl="0" animBg="1"/>
      <p:bldP spid="143430" grpId="1" bldLvl="0" animBg="1"/>
      <p:bldP spid="143431" grpId="0" bldLvl="0" animBg="1"/>
      <p:bldP spid="143431" grpId="1" bldLvl="0" animBg="1"/>
      <p:bldP spid="143432" grpId="0" bldLvl="0" animBg="1"/>
      <p:bldP spid="143432" grpId="1" bldLvl="0" animBg="1"/>
      <p:bldP spid="143433" grpId="0" bldLvl="0" animBg="1"/>
      <p:bldP spid="143433" grpId="1" bldLvl="0" animBg="1"/>
      <p:bldP spid="14343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>
            <a:extLst>
              <a:ext uri="{FF2B5EF4-FFF2-40B4-BE49-F238E27FC236}">
                <a16:creationId xmlns:a16="http://schemas.microsoft.com/office/drawing/2014/main" id="{7313059B-D5B7-4497-91C7-2C5FE3906CE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AA023B8D-85BF-4F1F-BF5C-E35A4A503720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37890" name="Rectangle 5">
            <a:extLst>
              <a:ext uri="{FF2B5EF4-FFF2-40B4-BE49-F238E27FC236}">
                <a16:creationId xmlns:a16="http://schemas.microsoft.com/office/drawing/2014/main" id="{DB3AD4DF-CD8E-4C66-BDDD-BD64C8CA1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汉诺塔的移动盘子次数</a:t>
            </a:r>
          </a:p>
        </p:txBody>
      </p:sp>
      <p:sp>
        <p:nvSpPr>
          <p:cNvPr id="31747" name="Rectangle 8">
            <a:extLst>
              <a:ext uri="{FF2B5EF4-FFF2-40B4-BE49-F238E27FC236}">
                <a16:creationId xmlns:a16="http://schemas.microsoft.com/office/drawing/2014/main" id="{FDDD27BB-8857-43DA-B8B8-7EF3ECB4836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319213"/>
            <a:ext cx="7773988" cy="4611687"/>
          </a:xfrm>
        </p:spPr>
        <p:txBody>
          <a:bodyPr/>
          <a:lstStyle/>
          <a:p>
            <a:pPr eaLnBrk="1" hangingPunct="1"/>
            <a:r>
              <a:rPr lang="en-US" altLang="zh-CN" b="1" noProof="1"/>
              <a:t>n</a:t>
            </a:r>
            <a:r>
              <a:rPr lang="zh-CN" altLang="en-US" b="1" noProof="1"/>
              <a:t>个盘子汉诺塔问题所需要的操作次数</a:t>
            </a:r>
            <a:r>
              <a:rPr lang="en-US" altLang="zh-CN" b="1" noProof="1"/>
              <a:t>H</a:t>
            </a:r>
            <a:r>
              <a:rPr lang="en-US" altLang="zh-CN" b="1" baseline="-25000" noProof="1"/>
              <a:t>n</a:t>
            </a:r>
            <a:r>
              <a:rPr lang="zh-CN" altLang="en-US" b="1" noProof="1"/>
              <a:t>计算</a:t>
            </a:r>
            <a:r>
              <a:rPr lang="en-US" altLang="zh-CN" b="1" noProof="1"/>
              <a:t>: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/>
              <a:t>1</a:t>
            </a:r>
            <a:r>
              <a:rPr lang="en-US" altLang="zh-CN" b="1" noProof="1"/>
              <a:t>=1;</a:t>
            </a:r>
          </a:p>
          <a:p>
            <a:pPr eaLnBrk="1" hangingPunct="1"/>
            <a:r>
              <a:rPr lang="en-US" altLang="zh-CN" b="1" noProof="1"/>
              <a:t>H</a:t>
            </a:r>
            <a:r>
              <a:rPr lang="en-US" altLang="zh-CN" b="1" baseline="-25000" noProof="1">
                <a:sym typeface="+mn-ea"/>
              </a:rPr>
              <a:t>n</a:t>
            </a:r>
            <a:r>
              <a:rPr lang="en-US" altLang="zh-CN" b="1" noProof="1"/>
              <a:t>=2H</a:t>
            </a:r>
            <a:r>
              <a:rPr lang="en-US" altLang="zh-CN" b="1" baseline="-25000" noProof="1">
                <a:sym typeface="+mn-ea"/>
              </a:rPr>
              <a:t>n-1</a:t>
            </a:r>
            <a:r>
              <a:rPr lang="en-US" altLang="zh-CN" b="1" noProof="1"/>
              <a:t>+1=2(2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+1</a:t>
            </a:r>
            <a:r>
              <a:rPr lang="en-US" altLang="zh-CN" b="1" noProof="1"/>
              <a:t>)+1=2</a:t>
            </a:r>
            <a:r>
              <a:rPr lang="en-US" altLang="zh-CN" b="1" baseline="30000" noProof="1"/>
              <a:t>2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(2H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+1)+2+1=2</a:t>
            </a:r>
            <a:r>
              <a:rPr lang="en-US" altLang="zh-CN" b="1" baseline="30000" noProof="1">
                <a:sym typeface="+mn-ea"/>
              </a:rPr>
              <a:t>3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2</a:t>
            </a:r>
            <a:r>
              <a:rPr lang="en-US" altLang="zh-CN" b="1" noProof="1">
                <a:sym typeface="+mn-ea"/>
              </a:rPr>
              <a:t>+2+1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     =... 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H</a:t>
            </a:r>
            <a:r>
              <a:rPr lang="en-US" altLang="zh-CN" b="1" baseline="-25000" noProof="1">
                <a:sym typeface="+mn-ea"/>
              </a:rPr>
              <a:t>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</a:t>
            </a:r>
          </a:p>
          <a:p>
            <a:pPr marL="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n-1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n-2</a:t>
            </a:r>
            <a:r>
              <a:rPr lang="en-US" altLang="zh-CN" b="1" noProof="1">
                <a:sym typeface="+mn-ea"/>
              </a:rPr>
              <a:t>+2</a:t>
            </a:r>
            <a:r>
              <a:rPr lang="en-US" altLang="zh-CN" b="1" baseline="30000" noProof="1">
                <a:sym typeface="+mn-ea"/>
              </a:rPr>
              <a:t>n-3</a:t>
            </a:r>
            <a:r>
              <a:rPr lang="en-US" altLang="zh-CN" b="1" noProof="1">
                <a:sym typeface="+mn-ea"/>
              </a:rPr>
              <a:t>+...+2+1	(</a:t>
            </a:r>
            <a:r>
              <a:rPr lang="zh-CN" altLang="en-US" b="1" noProof="1">
                <a:sym typeface="+mn-ea"/>
              </a:rPr>
              <a:t>等比数列求和</a:t>
            </a:r>
            <a:r>
              <a:rPr lang="en-US" altLang="zh-CN" b="1" noProof="1">
                <a:sym typeface="+mn-ea"/>
              </a:rPr>
              <a:t>)</a:t>
            </a:r>
          </a:p>
          <a:p>
            <a:pPr marL="457200" lvl="1" indent="0" eaLnBrk="1" hangingPunct="1">
              <a:buFontTx/>
              <a:buNone/>
            </a:pPr>
            <a:r>
              <a:rPr lang="en-US" altLang="zh-CN" b="1" noProof="1"/>
              <a:t>	=</a:t>
            </a:r>
            <a:r>
              <a:rPr lang="en-US" altLang="zh-CN" b="1" noProof="1">
                <a:sym typeface="+mn-ea"/>
              </a:rPr>
              <a:t>2</a:t>
            </a:r>
            <a:r>
              <a:rPr lang="en-US" altLang="zh-CN" b="1" baseline="30000" noProof="1">
                <a:sym typeface="+mn-ea"/>
              </a:rPr>
              <a:t>n</a:t>
            </a:r>
            <a:r>
              <a:rPr lang="en-US" altLang="zh-CN" b="1" noProof="1">
                <a:sym typeface="+mn-ea"/>
              </a:rPr>
              <a:t>-1</a:t>
            </a:r>
            <a:endParaRPr lang="en-US" altLang="zh-CN" b="1" noProof="1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4">
            <a:extLst>
              <a:ext uri="{FF2B5EF4-FFF2-40B4-BE49-F238E27FC236}">
                <a16:creationId xmlns:a16="http://schemas.microsoft.com/office/drawing/2014/main" id="{34A046EC-C84A-41A5-90C2-47CE3F7D51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3A39E24-1134-4434-90E1-BE1505657450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944E1941-F62E-42A6-8FA3-853D8B912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递归小结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0F1ABE4-7A36-4553-AAEE-373E089C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noProof="1"/>
              <a:t>递归算法好看、好读，风格优美，但执行效率低；</a:t>
            </a:r>
          </a:p>
          <a:p>
            <a:pPr eaLnBrk="1" hangingPunct="1"/>
            <a:r>
              <a:rPr lang="zh-CN" altLang="en-US" b="1" noProof="1"/>
              <a:t>任何能用递归算法解决的问题都能用迭代算法去解决（不过有些问题可能很难写）。</a:t>
            </a:r>
          </a:p>
          <a:p>
            <a:pPr eaLnBrk="1" hangingPunct="1"/>
            <a:r>
              <a:rPr lang="zh-CN" altLang="en-US" b="1" noProof="1"/>
              <a:t>初始条件。递归算法必须要有初始条件，不能无限递归下去。</a:t>
            </a:r>
          </a:p>
          <a:p>
            <a:pPr eaLnBrk="1" hangingPunct="1"/>
            <a:r>
              <a:rPr lang="zh-CN" altLang="en-US" b="1" noProof="1"/>
              <a:t>递归函数的特点：</a:t>
            </a:r>
            <a:endParaRPr lang="en-US" altLang="zh-CN" b="1" noProof="1"/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ym typeface="+mn-ea"/>
              </a:rPr>
              <a:t>-</a:t>
            </a:r>
            <a:r>
              <a:rPr lang="zh-CN" altLang="en-US" b="1" noProof="1">
                <a:sym typeface="+mn-ea"/>
              </a:rPr>
              <a:t>必须有正确的递归定义；</a:t>
            </a:r>
            <a:endParaRPr lang="zh-CN" altLang="en-US" b="1" noProof="1"/>
          </a:p>
          <a:p>
            <a:pPr marL="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     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回归阶段的反序性，适合执行反向计算；</a:t>
            </a:r>
            <a:endParaRPr lang="zh-CN" altLang="en-US" b="1" noProof="1">
              <a:solidFill>
                <a:srgbClr val="FF0000"/>
              </a:solidFill>
            </a:endParaRPr>
          </a:p>
          <a:p>
            <a:pPr marL="457200" lvl="1" indent="0" eaLnBrk="1" hangingPunct="1">
              <a:buFontTx/>
              <a:buNone/>
            </a:pPr>
            <a:r>
              <a:rPr lang="en-US" altLang="zh-CN" b="1" noProof="1">
                <a:solidFill>
                  <a:srgbClr val="FF0000"/>
                </a:solidFill>
                <a:sym typeface="+mn-ea"/>
              </a:rPr>
              <a:t>-</a:t>
            </a:r>
            <a:r>
              <a:rPr lang="zh-CN" altLang="en-US" b="1" noProof="1">
                <a:solidFill>
                  <a:srgbClr val="FF0000"/>
                </a:solidFill>
                <a:sym typeface="+mn-ea"/>
              </a:rPr>
              <a:t>克服正向推理难以控制的复杂度。</a:t>
            </a:r>
            <a:endParaRPr lang="zh-CN" altLang="en-US" b="1" noProof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</p:spPr>
            <p:txBody>
              <a:bodyPr/>
              <a:lstStyle/>
              <a:p>
                <a:r>
                  <a:rPr lang="zh-CN" altLang="en-US" sz="2400" noProof="1"/>
                  <a:t>十进制整数分解为各个数码的递归公式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𝒈𝒆𝒕𝑫𝒊𝒈𝒊𝒕𝒔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𝒈𝒆𝒕𝑫𝒊𝒈𝒊𝒕𝒔</m:t>
                            </m:r>
                            <m:d>
                              <m:dPr>
                                <m:ctrlP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0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0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getDigits(int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递归进行数位分解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r=n%10;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(n&gt;=10)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getDigits(n/10);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if (r!=n)	putchar(' ');</a:t>
                </a:r>
              </a:p>
              <a:p>
                <a:pPr marL="0" indent="0">
                  <a:buFontTx/>
                  <a:buNone/>
                </a:pPr>
                <a:r>
                  <a:rPr lang="pt-BR" altLang="zh-CN" sz="2400" noProof="1">
                    <a:latin typeface="Consolas" panose="020B0609020204030204" pitchFamily="49" charset="0"/>
                  </a:rPr>
                  <a:t>	putchar(‘0’+r); //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从低到高分解但反序打印</a:t>
                </a:r>
                <a:endParaRPr lang="pt-BR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96752"/>
                <a:ext cx="7772400" cy="5256435"/>
              </a:xfrm>
              <a:blipFill>
                <a:blip r:embed="rId2"/>
                <a:stretch>
                  <a:fillRect l="-1255" t="-1275" b="-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24370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E272E445-10E6-4EAF-A7E5-CE2B7CA3D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逆序打印字符串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𝒓𝒆𝒗𝑺𝒕𝒓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𝒓𝒆𝒗𝑺𝒕𝒓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/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输出右侧字符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𝒊𝒇𝒄𝒉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!=′\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void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char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getchar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if 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=='\n')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	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else{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revStr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    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putchar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(</a:t>
                </a:r>
                <a:r>
                  <a:rPr lang="en-US" altLang="zh-CN" sz="2400" dirty="0" err="1">
                    <a:latin typeface="Consolas" panose="020B0609020204030204" pitchFamily="49" charset="0"/>
                  </a:rPr>
                  <a:t>ch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);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 </a:t>
                </a:r>
                <a:endParaRPr lang="en-US" altLang="zh-CN" sz="2400" dirty="0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	}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7650" name="内容占位符 2">
                <a:extLst>
                  <a:ext uri="{FF2B5EF4-FFF2-40B4-BE49-F238E27FC236}">
                    <a16:creationId xmlns:a16="http://schemas.microsoft.com/office/drawing/2014/main" id="{D3B56B52-59EC-4AE3-B05F-FC7D07603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196752"/>
                <a:ext cx="7772400" cy="4611687"/>
              </a:xfrm>
              <a:blipFill>
                <a:blip r:embed="rId3"/>
                <a:stretch>
                  <a:fillRect l="-1255" b="-27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83185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8CE55388-628C-49A2-8369-BE875EB96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递归函数可用于反向计算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</p:spPr>
            <p:txBody>
              <a:bodyPr/>
              <a:lstStyle/>
              <a:p>
                <a:r>
                  <a:rPr lang="zh-CN" altLang="en-US" noProof="1"/>
                  <a:t>十进制整数转换为二进制的递归公式</a:t>
                </a:r>
              </a:p>
              <a:p>
                <a:pPr marL="0" indent="0">
                  <a:buFontTx/>
                  <a:buNone/>
                </a:pPr>
                <a:r>
                  <a:rPr lang="en-US" altLang="zh-CN" b="1" noProof="1">
                    <a:solidFill>
                      <a:srgbClr val="0070C0"/>
                    </a:solidFill>
                  </a:rPr>
                  <a:t>binary(n)=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𝒃𝒊𝒏𝒂𝒓𝒚</m:t>
                            </m:r>
                            <m:d>
                              <m:dPr>
                                <m:ctrlPr>
                                  <a:rPr lang="en-US" altLang="zh-CN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binary(int n)/*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递归转换二进制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 = n%2;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(n&gt;=2)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binary(n/2); //recursion call step.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solidFill>
                      <a:srgbClr val="000099"/>
                    </a:solidFill>
                    <a:latin typeface="Consolas" panose="020B0609020204030204" pitchFamily="49" charset="0"/>
                  </a:rPr>
                  <a:t>     putchar('0'+r); //call back step.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5DEA50-B7FE-49A6-9AE2-11F14C516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7990656" cy="4611687"/>
              </a:xfrm>
              <a:blipFill>
                <a:blip r:embed="rId2"/>
                <a:stretch>
                  <a:fillRect l="-1603" t="-1717" r="-76" b="-16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97336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E82B140B-42D3-4C99-A750-5C2928504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递归可用于反向计算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noProof="1"/>
                  <a:t>十进制整数转换为任意进制的递归公式</a:t>
                </a:r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𝒂𝒏𝒚𝑩𝒂𝒔𝒆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(n,b)=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𝒂𝒏𝒚𝑩𝒂𝒔𝒆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CN" altLang="en-US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输出</m:t>
                            </m:r>
                            <m:r>
                              <a:rPr lang="zh-CN" altLang="en-US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低位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%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void d2any(int n,int base)/*</a:t>
                </a:r>
                <a:r>
                  <a:rPr lang="zh-CN" altLang="en-US" sz="2400" noProof="1">
                    <a:latin typeface="Consolas" panose="020B0609020204030204" pitchFamily="49" charset="0"/>
                  </a:rPr>
                  <a:t>递归转换任意进制</a:t>
                </a:r>
                <a:r>
                  <a:rPr lang="en-US" altLang="zh-CN" sz="2400" noProof="1">
                    <a:latin typeface="Consolas" panose="020B0609020204030204" pitchFamily="49" charset="0"/>
                  </a:rPr>
                  <a:t>*/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{	int r;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r=n%base;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if (n&gt;=base)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	d2any(n/base,base);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      if (r&lt;=9) putchar('0'+r); 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	else putchar('A'-10+r);</a:t>
                </a:r>
              </a:p>
              <a:p>
                <a:pPr marL="0" indent="0">
                  <a:buFontTx/>
                  <a:buNone/>
                </a:pPr>
                <a:r>
                  <a:rPr lang="en-US" altLang="zh-CN" sz="2400" noProof="1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3C5E36-5567-40CB-BD05-D373926A0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2" t="-1717" b="-20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65530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FD3D4592-56C2-4DFF-855F-4A71D8A87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r>
                  <a:rPr lang="zh-CN" altLang="en-US" noProof="1"/>
                  <a:t>可以将求逆数算法改为递归函数吗？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𝒓𝒆𝒗𝒆𝒓𝒔𝒆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𝒓𝒆𝒗𝒆𝒓𝒔𝒆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𝒘𝒆𝒊𝒈𝒉𝒕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</m:t>
                            </m:r>
                          </m:e>
                        </m:eqArr>
                      </m:e>
                    </m:d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noProof="1">
                  <a:latin typeface="Consolas" panose="020B0609020204030204" pitchFamily="49" charset="0"/>
                </a:endParaRPr>
              </a:p>
              <a:p>
                <a:pPr marL="0" indent="0">
                  <a:buFontTx/>
                  <a:buNone/>
                </a:pPr>
                <a:endParaRPr lang="zh-CN" altLang="en-US" b="1" noProof="1">
                  <a:solidFill>
                    <a:srgbClr val="0070C0"/>
                  </a:solidFill>
                </a:endParaRPr>
              </a:p>
              <a:p>
                <a:pPr marL="0" indent="0">
                  <a:buFontTx/>
                  <a:buNone/>
                </a:pPr>
                <a:r>
                  <a:rPr lang="zh-CN" altLang="en-US" noProof="1"/>
                  <a:t>递归函数调用过程和迭代计算过程不同，因此适合迭代算法的问题，设计递归算法可能会更复杂。</a:t>
                </a:r>
                <a:endParaRPr lang="en-US" altLang="zh-CN" noProof="1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C5F838-D06C-493D-A7B3-C30842B1C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574" t="-1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59669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4">
            <a:extLst>
              <a:ext uri="{FF2B5EF4-FFF2-40B4-BE49-F238E27FC236}">
                <a16:creationId xmlns:a16="http://schemas.microsoft.com/office/drawing/2014/main" id="{9A87DF27-7683-48EA-81CF-C2A7B05513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D5B22ABB-0253-479F-A0BA-F389D79320E6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39938" name="Rectangle 4">
            <a:extLst>
              <a:ext uri="{FF2B5EF4-FFF2-40B4-BE49-F238E27FC236}">
                <a16:creationId xmlns:a16="http://schemas.microsoft.com/office/drawing/2014/main" id="{A3EDA908-C4C3-4BAD-AA50-F07C9F882E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递归的概念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/>
              <a:t>递归过程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zh-CN" altLang="en-US" b="1" dirty="0">
                <a:solidFill>
                  <a:srgbClr val="FF3300"/>
                </a:solidFill>
              </a:rPr>
              <a:t>递归函数设计</a:t>
            </a:r>
          </a:p>
          <a:p>
            <a:pPr marL="457200" lvl="1" indent="0" eaLnBrk="1" hangingPunct="1">
              <a:buFontTx/>
              <a:buNone/>
            </a:pPr>
            <a:endParaRPr lang="zh-CN" altLang="en-US" b="1" dirty="0">
              <a:solidFill>
                <a:srgbClr val="FF3300"/>
              </a:solidFill>
            </a:endParaRPr>
          </a:p>
        </p:txBody>
      </p:sp>
      <p:sp>
        <p:nvSpPr>
          <p:cNvPr id="39939" name="Rectangle 5">
            <a:extLst>
              <a:ext uri="{FF2B5EF4-FFF2-40B4-BE49-F238E27FC236}">
                <a16:creationId xmlns:a16="http://schemas.microsoft.com/office/drawing/2014/main" id="{3F0C1883-6CD5-49F3-87A9-740AC2BD9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提纲</a:t>
            </a:r>
          </a:p>
        </p:txBody>
      </p:sp>
      <p:pic>
        <p:nvPicPr>
          <p:cNvPr id="39940" name="Picture 6" descr="页面">
            <a:extLst>
              <a:ext uri="{FF2B5EF4-FFF2-40B4-BE49-F238E27FC236}">
                <a16:creationId xmlns:a16="http://schemas.microsoft.com/office/drawing/2014/main" id="{BF1AC3FA-96EF-449F-9E91-DE839E000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5157788"/>
            <a:ext cx="16764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4">
            <a:extLst>
              <a:ext uri="{FF2B5EF4-FFF2-40B4-BE49-F238E27FC236}">
                <a16:creationId xmlns:a16="http://schemas.microsoft.com/office/drawing/2014/main" id="{5435B029-A708-45DB-AED0-F0DF0AC50B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C1993D2-82DB-40BC-82A5-827825537958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41986" name="Text Box 4">
            <a:extLst>
              <a:ext uri="{FF2B5EF4-FFF2-40B4-BE49-F238E27FC236}">
                <a16:creationId xmlns:a16="http://schemas.microsoft.com/office/drawing/2014/main" id="{4190ECB3-D98A-41F1-A6C8-BD6A371AF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532812" cy="4539704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dirty="0"/>
              <a:t>一般来说，递归需要有初始条件、递归前进段和递归返回段。当初始条件不满足时，递归前进；当初始条件满足时，递归逐级返回。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900" b="1" dirty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800" b="1" u="sng" dirty="0">
                <a:solidFill>
                  <a:srgbClr val="000099"/>
                </a:solidFill>
              </a:rPr>
              <a:t>如何设计递归算法</a:t>
            </a:r>
            <a:r>
              <a:rPr lang="en-US" altLang="zh-CN" sz="2800" b="1" dirty="0">
                <a:solidFill>
                  <a:srgbClr val="000099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99"/>
                </a:solidFill>
              </a:rPr>
              <a:t>   1</a:t>
            </a:r>
            <a:r>
              <a:rPr lang="zh-CN" altLang="en-US" sz="2800" b="1" dirty="0">
                <a:solidFill>
                  <a:srgbClr val="000099"/>
                </a:solidFill>
              </a:rPr>
              <a:t>）对所求解的问题、要计算的函数书写递归 	公式；注意一定要有初始条件和对应的操作。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   2）正确地设计递归函数的参数。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 b="1" dirty="0">
              <a:solidFill>
                <a:srgbClr val="000099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99"/>
                </a:solidFill>
              </a:rPr>
              <a:t>注意：递归算法最外层肯定采用的是选择结构！为	什么？</a:t>
            </a: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00CE7D39-094E-4CE3-93A0-7E67E848B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3.</a:t>
            </a:r>
            <a:r>
              <a:rPr lang="zh-CN" altLang="en-US" b="1" dirty="0"/>
              <a:t>递归函数设计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标题 1">
            <a:extLst>
              <a:ext uri="{FF2B5EF4-FFF2-40B4-BE49-F238E27FC236}">
                <a16:creationId xmlns:a16="http://schemas.microsoft.com/office/drawing/2014/main" id="{3E1B3132-C71A-46B4-901B-9AFAC4FA21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8610" name="内容占位符 2">
            <a:extLst>
              <a:ext uri="{FF2B5EF4-FFF2-40B4-BE49-F238E27FC236}">
                <a16:creationId xmlns:a16="http://schemas.microsoft.com/office/drawing/2014/main" id="{16F1A121-1CF0-4643-8DE9-6212F9A883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19213"/>
            <a:ext cx="7772400" cy="588087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dirty="0"/>
              <a:t>练习：</a:t>
            </a:r>
            <a:r>
              <a:rPr lang="zh-CN" altLang="en-US" b="1" dirty="0"/>
              <a:t>设计递归函数求最大公约数。</a:t>
            </a:r>
            <a:endParaRPr lang="en-US" altLang="zh-CN" dirty="0"/>
          </a:p>
        </p:txBody>
      </p:sp>
      <p:grpSp>
        <p:nvGrpSpPr>
          <p:cNvPr id="4" name="组合 8">
            <a:extLst>
              <a:ext uri="{FF2B5EF4-FFF2-40B4-BE49-F238E27FC236}">
                <a16:creationId xmlns:a16="http://schemas.microsoft.com/office/drawing/2014/main" id="{BC3CB688-3D9C-4B12-91F3-2C4F91FDB211}"/>
              </a:ext>
            </a:extLst>
          </p:cNvPr>
          <p:cNvGrpSpPr>
            <a:grpSpLocks/>
          </p:cNvGrpSpPr>
          <p:nvPr/>
        </p:nvGrpSpPr>
        <p:grpSpPr bwMode="auto">
          <a:xfrm>
            <a:off x="4883150" y="3057525"/>
            <a:ext cx="4166235" cy="2897823"/>
            <a:chOff x="11420" y="4816"/>
            <a:chExt cx="6560" cy="4563"/>
          </a:xfrm>
        </p:grpSpPr>
        <p:grpSp>
          <p:nvGrpSpPr>
            <p:cNvPr id="5" name="组合 2">
              <a:extLst>
                <a:ext uri="{FF2B5EF4-FFF2-40B4-BE49-F238E27FC236}">
                  <a16:creationId xmlns:a16="http://schemas.microsoft.com/office/drawing/2014/main" id="{B9F42215-46D4-43B8-9E2F-8F3C1308E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7" y="5502"/>
              <a:ext cx="6373" cy="3877"/>
              <a:chOff x="2525" y="8639"/>
              <a:chExt cx="2520" cy="3589"/>
            </a:xfrm>
          </p:grpSpPr>
          <p:sp>
            <p:nvSpPr>
              <p:cNvPr id="12" name="矩形 3">
                <a:extLst>
                  <a:ext uri="{FF2B5EF4-FFF2-40B4-BE49-F238E27FC236}">
                    <a16:creationId xmlns:a16="http://schemas.microsoft.com/office/drawing/2014/main" id="{BB0A18D3-4BCD-49A1-A45D-7B02F15B8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5" y="8639"/>
                <a:ext cx="2520" cy="3589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" name="直接连接符 4">
                <a:extLst>
                  <a:ext uri="{FF2B5EF4-FFF2-40B4-BE49-F238E27FC236}">
                    <a16:creationId xmlns:a16="http://schemas.microsoft.com/office/drawing/2014/main" id="{A84E7D56-411F-4074-9C33-F219E6A6B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9420"/>
                <a:ext cx="25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直接连接符 5">
                <a:extLst>
                  <a:ext uri="{FF2B5EF4-FFF2-40B4-BE49-F238E27FC236}">
                    <a16:creationId xmlns:a16="http://schemas.microsoft.com/office/drawing/2014/main" id="{CA872AFC-93E6-4142-93A0-64D7202B0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9420"/>
                <a:ext cx="0" cy="280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直接连接符 6">
                <a:extLst>
                  <a:ext uri="{FF2B5EF4-FFF2-40B4-BE49-F238E27FC236}">
                    <a16:creationId xmlns:a16="http://schemas.microsoft.com/office/drawing/2014/main" id="{BD9B596E-CFA5-4DD6-B2F8-7EC8FEC7D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5" y="10824"/>
                <a:ext cx="16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直接连接符 9">
                <a:extLst>
                  <a:ext uri="{FF2B5EF4-FFF2-40B4-BE49-F238E27FC236}">
                    <a16:creationId xmlns:a16="http://schemas.microsoft.com/office/drawing/2014/main" id="{E826A0D5-FC10-469F-8E31-579AD9230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5" y="8640"/>
                <a:ext cx="90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直接连接符 10">
                <a:extLst>
                  <a:ext uri="{FF2B5EF4-FFF2-40B4-BE49-F238E27FC236}">
                    <a16:creationId xmlns:a16="http://schemas.microsoft.com/office/drawing/2014/main" id="{2D6B06F3-B0EE-46F0-B080-29BEBCBF3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25" y="8640"/>
                <a:ext cx="1620" cy="7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文本框 11">
              <a:extLst>
                <a:ext uri="{FF2B5EF4-FFF2-40B4-BE49-F238E27FC236}">
                  <a16:creationId xmlns:a16="http://schemas.microsoft.com/office/drawing/2014/main" id="{64AEAEAC-737C-4B9E-BAD9-C8D282DBE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30" y="5503"/>
              <a:ext cx="311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 a ==0</a:t>
              </a:r>
            </a:p>
          </p:txBody>
        </p:sp>
        <p:sp>
          <p:nvSpPr>
            <p:cNvPr id="7" name="文本框 12">
              <a:extLst>
                <a:ext uri="{FF2B5EF4-FFF2-40B4-BE49-F238E27FC236}">
                  <a16:creationId xmlns:a16="http://schemas.microsoft.com/office/drawing/2014/main" id="{AF33D063-8CE4-4A19-BD74-A5BA108CD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7" y="5811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Yes</a:t>
              </a:r>
            </a:p>
          </p:txBody>
        </p:sp>
        <p:sp>
          <p:nvSpPr>
            <p:cNvPr id="8" name="文本框 13">
              <a:extLst>
                <a:ext uri="{FF2B5EF4-FFF2-40B4-BE49-F238E27FC236}">
                  <a16:creationId xmlns:a16="http://schemas.microsoft.com/office/drawing/2014/main" id="{A195F06C-A895-4541-AF7D-4E3E056F0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9" y="5892"/>
              <a:ext cx="112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/>
                <a:t>No</a:t>
              </a:r>
            </a:p>
          </p:txBody>
        </p:sp>
        <p:sp>
          <p:nvSpPr>
            <p:cNvPr id="9" name="文本框 14">
              <a:extLst>
                <a:ext uri="{FF2B5EF4-FFF2-40B4-BE49-F238E27FC236}">
                  <a16:creationId xmlns:a16="http://schemas.microsoft.com/office/drawing/2014/main" id="{B62E51D3-D9CA-460B-914D-DADDF7CFC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8" y="7442"/>
              <a:ext cx="227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b;</a:t>
              </a:r>
            </a:p>
          </p:txBody>
        </p:sp>
        <p:sp>
          <p:nvSpPr>
            <p:cNvPr id="10" name="文本框 15">
              <a:extLst>
                <a:ext uri="{FF2B5EF4-FFF2-40B4-BE49-F238E27FC236}">
                  <a16:creationId xmlns:a16="http://schemas.microsoft.com/office/drawing/2014/main" id="{DD4F9797-B713-4CB4-9C5A-AFD0F044FA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56" y="6994"/>
              <a:ext cx="3865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 dirty="0"/>
                <a:t>return </a:t>
              </a:r>
            </a:p>
            <a:p>
              <a:r>
                <a:rPr lang="en-US" altLang="zh-CN" b="1" dirty="0" err="1"/>
                <a:t>getGCD</a:t>
              </a:r>
              <a:r>
                <a:rPr lang="en-US" altLang="zh-CN" b="1" dirty="0"/>
                <a:t>(</a:t>
              </a:r>
              <a:r>
                <a:rPr lang="en-US" altLang="zh-CN" b="1" dirty="0" err="1"/>
                <a:t>b%a</a:t>
              </a:r>
              <a:r>
                <a:rPr lang="en-US" altLang="zh-CN" b="1" dirty="0"/>
                <a:t>, a );</a:t>
              </a:r>
            </a:p>
          </p:txBody>
        </p:sp>
        <p:sp>
          <p:nvSpPr>
            <p:cNvPr id="11" name="文本框 16">
              <a:extLst>
                <a:ext uri="{FF2B5EF4-FFF2-40B4-BE49-F238E27FC236}">
                  <a16:creationId xmlns:a16="http://schemas.microsoft.com/office/drawing/2014/main" id="{2A4567C3-350D-4367-B544-F67A9C1906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0" y="4816"/>
              <a:ext cx="6005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int </a:t>
              </a:r>
              <a:r>
                <a:rPr lang="en-US" altLang="zh-CN" sz="2400" b="1" dirty="0" err="1">
                  <a:solidFill>
                    <a:srgbClr val="FF0000"/>
                  </a:solidFill>
                  <a:sym typeface="宋体" panose="02010600030101010101" pitchFamily="2" charset="-122"/>
                </a:rPr>
                <a:t>getGCD</a:t>
              </a:r>
              <a:r>
                <a:rPr lang="en-US" altLang="zh-CN" sz="2400" b="1" dirty="0">
                  <a:solidFill>
                    <a:srgbClr val="FF0000"/>
                  </a:solidFill>
                  <a:sym typeface="宋体" panose="02010600030101010101" pitchFamily="2" charset="-122"/>
                </a:rPr>
                <a:t> (int a, int b)</a:t>
              </a: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426BBA8-45F4-43F6-8968-DBB5ACB0D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150511"/>
            <a:ext cx="4727477" cy="415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altLang="zh-CN" kern="0" dirty="0"/>
              <a:t>/*</a:t>
            </a:r>
            <a:r>
              <a:rPr lang="zh-CN" altLang="en-US" kern="0" dirty="0"/>
              <a:t>求最大公约数的递归算法</a:t>
            </a:r>
            <a:r>
              <a:rPr lang="en-US" altLang="zh-CN" kern="0" dirty="0"/>
              <a:t>*/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int getGCD(int a, int b)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if (a==0)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</a:t>
            </a:r>
            <a:r>
              <a:rPr lang="zh-CN" altLang="en-US" sz="2400" kern="0" dirty="0">
                <a:latin typeface="Consolas" panose="020B0609020204030204" pitchFamily="49" charset="0"/>
              </a:rPr>
              <a:t>return b;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    else </a:t>
            </a:r>
            <a:r>
              <a:rPr lang="en-US" altLang="zh-CN" sz="2400" kern="0" dirty="0">
                <a:latin typeface="Consolas" panose="020B0609020204030204" pitchFamily="49" charset="0"/>
              </a:rPr>
              <a:t>  </a:t>
            </a:r>
          </a:p>
          <a:p>
            <a:pPr marL="0" indent="0">
              <a:buFontTx/>
              <a:buNone/>
            </a:pPr>
            <a:r>
              <a:rPr lang="en-US" altLang="zh-CN" sz="2400" kern="0" dirty="0">
                <a:latin typeface="Consolas" panose="020B0609020204030204" pitchFamily="49" charset="0"/>
              </a:rPr>
              <a:t>	return </a:t>
            </a:r>
            <a:r>
              <a:rPr lang="zh-CN" altLang="en-US" sz="2400" kern="0" dirty="0">
                <a:latin typeface="Consolas" panose="020B0609020204030204" pitchFamily="49" charset="0"/>
              </a:rPr>
              <a:t>getGCD(</a:t>
            </a:r>
            <a:r>
              <a:rPr lang="en-US" altLang="zh-CN" sz="2400" kern="0" dirty="0">
                <a:latin typeface="Consolas" panose="020B0609020204030204" pitchFamily="49" charset="0"/>
              </a:rPr>
              <a:t>b</a:t>
            </a:r>
            <a:r>
              <a:rPr lang="zh-CN" altLang="en-US" sz="2400" kern="0" dirty="0">
                <a:latin typeface="Consolas" panose="020B0609020204030204" pitchFamily="49" charset="0"/>
              </a:rPr>
              <a:t>%</a:t>
            </a:r>
            <a:r>
              <a:rPr lang="en-US" altLang="zh-CN" sz="2400" kern="0" dirty="0" err="1">
                <a:latin typeface="Consolas" panose="020B0609020204030204" pitchFamily="49" charset="0"/>
              </a:rPr>
              <a:t>a,a</a:t>
            </a:r>
            <a:r>
              <a:rPr lang="zh-CN" altLang="en-US" sz="2400" kern="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FontTx/>
              <a:buNone/>
            </a:pPr>
            <a:r>
              <a:rPr lang="zh-CN" altLang="en-US" sz="2400" kern="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2645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47AECA5A-AF5A-493C-BF0C-C1BCF2E1E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二进制串解读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zh-CN" altLang="en-US" dirty="0"/>
                  <a:t>/*将以十进制形式输入的二进制串,转换为十进制数值.*/</a:t>
                </a:r>
                <a:endParaRPr lang="en-US" altLang="zh-CN" dirty="0"/>
              </a:p>
              <a:p>
                <a:pPr marL="0" indent="0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𝒃𝒊𝑫𝒆𝒄𝒊𝒎𝒂𝒍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𝒃𝒊𝑫𝒆𝒄𝒊𝒎𝒂𝒍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num>
                                  <m:den>
                                    <m:r>
                                      <a:rPr lang="en-US" altLang="zh-CN" sz="2400" b="1" i="1" noProof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%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/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int 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(int n)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{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if (n==1 || n==0)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return n;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else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        return n%10+bi</a:t>
                </a:r>
                <a:r>
                  <a:rPr lang="en-US" altLang="zh-CN" sz="2400" dirty="0">
                    <a:latin typeface="Consolas" panose="020B0609020204030204" pitchFamily="49" charset="0"/>
                  </a:rPr>
                  <a:t>Decimal</a:t>
                </a:r>
                <a:r>
                  <a:rPr lang="zh-CN" altLang="en-US" sz="2400" dirty="0">
                    <a:latin typeface="Consolas" panose="020B0609020204030204" pitchFamily="49" charset="0"/>
                  </a:rPr>
                  <a:t>(n/10)*2;</a:t>
                </a:r>
              </a:p>
              <a:p>
                <a:pPr marL="0" indent="0" eaLnBrk="0" hangingPunct="0">
                  <a:spcBef>
                    <a:spcPct val="20000"/>
                  </a:spcBef>
                  <a:buNone/>
                </a:pPr>
                <a:r>
                  <a:rPr lang="zh-CN" altLang="en-US" sz="2400" dirty="0">
                    <a:latin typeface="Consolas" panose="020B06090202040302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7586" name="内容占位符 2">
                <a:extLst>
                  <a:ext uri="{FF2B5EF4-FFF2-40B4-BE49-F238E27FC236}">
                    <a16:creationId xmlns:a16="http://schemas.microsoft.com/office/drawing/2014/main" id="{C1C231B1-84E6-4D79-8994-D27E03B5FD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660" y="1125538"/>
                <a:ext cx="8206680" cy="5422155"/>
              </a:xfrm>
              <a:blipFill>
                <a:blip r:embed="rId2"/>
                <a:stretch>
                  <a:fillRect l="-1560" t="-1575" b="-25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576714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C92E3-0C16-4352-BE86-5C9BDD3B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46A000-1955-474A-9D43-6F3815CC6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/*</a:t>
            </a:r>
            <a:r>
              <a:rPr lang="zh-CN" altLang="en-US" dirty="0"/>
              <a:t>设计函数</a:t>
            </a:r>
            <a:r>
              <a:rPr lang="en-US" altLang="zh-CN" dirty="0"/>
              <a:t>f(n)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为大于等于</a:t>
            </a:r>
            <a:r>
              <a:rPr lang="en-US" altLang="zh-CN" dirty="0"/>
              <a:t>0</a:t>
            </a:r>
            <a:r>
              <a:rPr lang="zh-CN" altLang="en-US" dirty="0"/>
              <a:t>的整数。当</a:t>
            </a:r>
            <a:r>
              <a:rPr lang="en-US" altLang="zh-CN" dirty="0"/>
              <a:t>n</a:t>
            </a:r>
            <a:r>
              <a:rPr lang="zh-CN" altLang="en-US" dirty="0"/>
              <a:t>等于</a:t>
            </a:r>
            <a:r>
              <a:rPr lang="en-US" altLang="zh-CN" dirty="0"/>
              <a:t>0</a:t>
            </a:r>
            <a:r>
              <a:rPr lang="zh-CN" altLang="en-US" dirty="0"/>
              <a:t>时</a:t>
            </a:r>
            <a:r>
              <a:rPr lang="en-US" altLang="zh-CN" dirty="0"/>
              <a:t>f(n) = 0</a:t>
            </a:r>
            <a:r>
              <a:rPr lang="zh-CN" altLang="en-US" dirty="0"/>
              <a:t>，当</a:t>
            </a:r>
            <a:r>
              <a:rPr lang="en-US" altLang="zh-CN" dirty="0"/>
              <a:t>n</a:t>
            </a:r>
            <a:r>
              <a:rPr lang="zh-CN" altLang="en-US" dirty="0"/>
              <a:t>大于</a:t>
            </a:r>
            <a:r>
              <a:rPr lang="en-US" altLang="zh-CN" dirty="0"/>
              <a:t>0</a:t>
            </a:r>
            <a:r>
              <a:rPr lang="zh-CN" altLang="en-US" dirty="0"/>
              <a:t>时 </a:t>
            </a:r>
            <a:r>
              <a:rPr lang="en-US" altLang="zh-CN" dirty="0"/>
              <a:t>f(n)=f(n-1) +</a:t>
            </a:r>
            <a:r>
              <a:rPr lang="en-US" altLang="zh-CN" dirty="0" err="1"/>
              <a:t>n^3</a:t>
            </a:r>
            <a:r>
              <a:rPr lang="zh-CN" altLang="en-US" dirty="0"/>
              <a:t>。</a:t>
            </a:r>
            <a:r>
              <a:rPr lang="en-US" altLang="zh-CN" dirty="0"/>
              <a:t>*/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int fuc(int n){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if (n==0)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0;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		return (fuc(n-1)+n*n*n);</a:t>
            </a:r>
          </a:p>
          <a:p>
            <a:pPr marL="0" indent="0">
              <a:buNone/>
            </a:pPr>
            <a:r>
              <a:rPr lang="pt-BR" altLang="zh-CN" dirty="0">
                <a:latin typeface="Consolas" panose="020B0609020204030204" pitchFamily="49" charset="0"/>
              </a:rPr>
              <a:t>}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56599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6A44D-1529-410B-BCB2-195BC179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从序列寻找递归函数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/*</a:t>
                </a:r>
                <a:r>
                  <a:rPr lang="zh-CN" altLang="en-US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已知序列： 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s = a + a + 3 + a + 6 +…+ a + 3*n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212529"/>
                    </a:solidFill>
                    <a:latin typeface="-apple-system"/>
                  </a:rPr>
                  <a:t>设计递归函数求序列和。</a:t>
                </a:r>
                <a:r>
                  <a:rPr lang="en-US" altLang="zh-CN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𝒔𝒆𝒒𝑺𝒖𝒎</m:t>
                    </m:r>
                  </m:oMath>
                </a14:m>
                <a:r>
                  <a:rPr lang="en-US" altLang="zh-CN" sz="2400" b="1" noProof="1">
                    <a:solidFill>
                      <a:srgbClr val="0070C0"/>
                    </a:solidFill>
                  </a:rPr>
                  <a:t>(n,a)=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𝒔𝒆𝒒𝑺𝒖𝒎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altLang="zh-CN" sz="24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24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</m:d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4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i="0" dirty="0" err="1">
                    <a:effectLst/>
                    <a:latin typeface="Consolas" panose="020B0609020204030204" pitchFamily="49" charset="0"/>
                  </a:rPr>
                  <a:t>seqSum</a:t>
                </a:r>
                <a:r>
                  <a:rPr lang="en-US" altLang="zh-CN" i="0" dirty="0">
                    <a:effectLst/>
                    <a:latin typeface="Consolas" panose="020B0609020204030204" pitchFamily="49" charset="0"/>
                  </a:rPr>
                  <a:t>(int n , int a) {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(n==0)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a;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seqSum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1,a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)+(</a:t>
                </a:r>
                <a:r>
                  <a:rPr lang="en-US" altLang="zh-CN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a+3</a:t>
                </a:r>
                <a:r>
                  <a:rPr lang="en-US" altLang="zh-CN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*n); </a:t>
                </a:r>
              </a:p>
              <a:p>
                <a:pPr marL="0" indent="0">
                  <a:buNone/>
                </a:pPr>
                <a:r>
                  <a:rPr lang="en-US" altLang="zh-CN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8622435-25E0-4837-BDC0-4883D4C3AB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206680" cy="4611687"/>
              </a:xfrm>
              <a:blipFill>
                <a:blip r:embed="rId2"/>
                <a:stretch>
                  <a:fillRect l="-1560" t="-1849" b="-1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48848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8E43E-C831-4099-8DB5-31CA7F14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递归求最大值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212529"/>
                    </a:solidFill>
                    <a:latin typeface="-apple-system"/>
                  </a:rPr>
                  <a:t>/*</a:t>
                </a:r>
                <a:r>
                  <a:rPr lang="zh-CN" altLang="en-US" sz="2400" dirty="0">
                    <a:solidFill>
                      <a:srgbClr val="212529"/>
                    </a:solidFill>
                    <a:latin typeface="-apple-system"/>
                  </a:rPr>
                  <a:t>设计递归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函数，读入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（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0&lt;n&lt;100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）个整数，求出这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n</a:t>
                </a:r>
                <a:r>
                  <a:rPr lang="zh-CN" altLang="en-US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个整数中的最大值。</a:t>
                </a:r>
                <a:r>
                  <a:rPr lang="en-US" altLang="zh-CN" sz="2400" b="0" i="0" dirty="0">
                    <a:solidFill>
                      <a:srgbClr val="212529"/>
                    </a:solidFill>
                    <a:effectLst/>
                    <a:latin typeface="-apple-system"/>
                  </a:rPr>
                  <a:t>*/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noProof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𝒇𝒊𝒏𝒅𝑴𝒂𝒙</m:t>
                    </m:r>
                  </m:oMath>
                </a14:m>
                <a:r>
                  <a:rPr lang="en-US" altLang="zh-CN" sz="2000" b="1" noProof="1">
                    <a:solidFill>
                      <a:srgbClr val="0070C0"/>
                    </a:solidFill>
                  </a:rPr>
                  <a:t>(n)=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000" b="1" i="1" noProof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==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读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返回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𝒇𝒊𝒏𝒅𝑴𝒂𝒙</m:t>
                            </m:r>
                            <m:d>
                              <m:dPr>
                                <m:ctrlPr>
                                  <a:rPr lang="en-US" altLang="zh-CN" sz="2000" b="1" i="1" noProof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1" i="1" noProof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与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𝒅𝒂𝒕𝒂</m:t>
                            </m:r>
                            <m:r>
                              <a:rPr lang="zh-CN" altLang="en-US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较大</m:t>
                            </m:r>
                            <m:r>
                              <a:rPr lang="zh-CN" altLang="en-US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值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𝒊𝒇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000" b="1" i="1" noProof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altLang="zh-CN" sz="2000" b="1" i="1" noProof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000" b="0" i="0" dirty="0">
                  <a:solidFill>
                    <a:srgbClr val="212529"/>
                  </a:solidFill>
                  <a:effectLst/>
                  <a:latin typeface="-apple-system"/>
                </a:endParaRPr>
              </a:p>
              <a:p>
                <a:pPr marL="0" indent="0">
                  <a:buNone/>
                </a:pP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int </a:t>
                </a:r>
                <a:r>
                  <a:rPr lang="en-US" altLang="zh-CN" sz="2200" i="0" dirty="0" err="1">
                    <a:effectLst/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i="0" dirty="0">
                    <a:effectLst/>
                    <a:latin typeface="Consolas" panose="020B0609020204030204" pitchFamily="49" charset="0"/>
                  </a:rPr>
                  <a:t>(int n) {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int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data,max,tmp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	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scanf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("%</a:t>
                </a:r>
                <a:r>
                  <a:rPr lang="en-US" altLang="zh-CN" sz="2200" b="0" i="0" dirty="0" err="1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d",&amp;data</a:t>
                </a: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if (n==1)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data;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else{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 = 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findMax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(n-1);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max = (data&gt;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)?</a:t>
                </a:r>
                <a:r>
                  <a:rPr lang="en-US" altLang="zh-CN" sz="2200" dirty="0" err="1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data:tmp</a:t>
                </a: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	return max;</a:t>
                </a:r>
              </a:p>
              <a:p>
                <a:pPr marL="0" indent="0">
                  <a:buNone/>
                </a:pPr>
                <a:r>
                  <a:rPr lang="en-US" altLang="zh-CN" sz="2200" dirty="0">
                    <a:solidFill>
                      <a:srgbClr val="404040"/>
                    </a:solidFill>
                    <a:latin typeface="Consolas" panose="020B0609020204030204" pitchFamily="49" charset="0"/>
                  </a:rPr>
                  <a:t>	} </a:t>
                </a:r>
              </a:p>
              <a:p>
                <a:pPr marL="0" indent="0">
                  <a:buNone/>
                </a:pPr>
                <a:r>
                  <a:rPr lang="en-US" altLang="zh-CN" sz="2200" b="0" i="0" dirty="0">
                    <a:solidFill>
                      <a:srgbClr val="404040"/>
                    </a:solidFill>
                    <a:effectLst/>
                    <a:latin typeface="Consolas" panose="020B0609020204030204" pitchFamily="49" charset="0"/>
                  </a:rPr>
                  <a:t>}</a:t>
                </a:r>
                <a:endParaRPr lang="zh-CN" altLang="en-US" sz="2200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4C86175-9C09-4EB4-8DB9-EBAC306DFC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319213"/>
                <a:ext cx="8134672" cy="4611687"/>
              </a:xfrm>
              <a:blipFill>
                <a:blip r:embed="rId2"/>
                <a:stretch>
                  <a:fillRect l="-1199" t="-1585" b="-284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89774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4139BC-91B2-480D-917E-D9ED0E036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进制转换长度递归函数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4CE9C8-265E-4941-AD97-5BF5A1CAD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9213"/>
            <a:ext cx="3742184" cy="46116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设计递归函数用于将非负十进制整数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转换成二进制形式，并返回该二进制数的位数。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*/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binaryLen</a:t>
            </a:r>
            <a:r>
              <a:rPr lang="en-US" altLang="zh-CN" sz="2400" dirty="0">
                <a:latin typeface="Consolas" panose="020B0609020204030204" pitchFamily="49" charset="0"/>
              </a:rPr>
              <a:t>(int n)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if (n&lt;2)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else return </a:t>
            </a:r>
            <a:r>
              <a:rPr lang="en-US" altLang="zh-CN" sz="2400" dirty="0" err="1">
                <a:latin typeface="Consolas" panose="020B0609020204030204" pitchFamily="49" charset="0"/>
              </a:rPr>
              <a:t>binaryLen</a:t>
            </a:r>
            <a:r>
              <a:rPr lang="en-US" altLang="zh-CN" sz="2400" dirty="0">
                <a:latin typeface="Consolas" panose="020B0609020204030204" pitchFamily="49" charset="0"/>
              </a:rPr>
              <a:t>(n/2)+1;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5A1090-F396-FFBB-5205-40472821B90E}"/>
              </a:ext>
            </a:extLst>
          </p:cNvPr>
          <p:cNvSpPr txBox="1"/>
          <p:nvPr/>
        </p:nvSpPr>
        <p:spPr>
          <a:xfrm>
            <a:off x="4515440" y="1196752"/>
            <a:ext cx="4597400" cy="2554545"/>
          </a:xfrm>
          <a:prstGeom prst="rect">
            <a:avLst/>
          </a:prstGeom>
          <a:noFill/>
          <a:ln>
            <a:solidFill>
              <a:srgbClr val="FF9900"/>
            </a:solidFill>
          </a:ln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void binary(int n)/*</a:t>
            </a:r>
            <a:r>
              <a:rPr lang="zh-CN" altLang="en-US" sz="2000" noProof="1">
                <a:latin typeface="Consolas" panose="020B0609020204030204" pitchFamily="49" charset="0"/>
              </a:rPr>
              <a:t>递归转换二进制</a:t>
            </a:r>
            <a:r>
              <a:rPr lang="en-US" altLang="zh-CN" sz="2000" noProof="1">
                <a:latin typeface="Consolas" panose="020B0609020204030204" pitchFamily="49" charset="0"/>
              </a:rPr>
              <a:t>*/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{	int r;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r = n%2;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if (n&gt;=2)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		binary(n/2); 	</a:t>
            </a:r>
            <a:r>
              <a:rPr lang="en-US" altLang="zh-CN" sz="2000" noProof="1">
                <a:solidFill>
                  <a:srgbClr val="000099"/>
                </a:solidFill>
                <a:latin typeface="Consolas" panose="020B0609020204030204" pitchFamily="49" charset="0"/>
              </a:rPr>
              <a:t>putchar('0'+r); </a:t>
            </a:r>
          </a:p>
          <a:p>
            <a:pPr marL="0" indent="0">
              <a:buFontTx/>
              <a:buNone/>
            </a:pPr>
            <a:r>
              <a:rPr lang="en-US" altLang="zh-CN" sz="2000" noProof="1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25934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47D67-7E94-40B7-B782-50C220D6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从序列找递归函数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14AB48-C207-4104-A8BE-D6E4ABC64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114138"/>
            <a:ext cx="8640960" cy="4611687"/>
          </a:xfrm>
        </p:spPr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/*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已知序列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 = 1 + 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a 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in"/>
              </a:rPr>
              <a:t>2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-apple-system"/>
              </a:rPr>
              <a:t> +…+ </a:t>
            </a:r>
            <a:r>
              <a:rPr lang="en-US" altLang="zh-CN" b="0" i="1" dirty="0" err="1">
                <a:solidFill>
                  <a:srgbClr val="404040"/>
                </a:solidFill>
                <a:effectLst/>
                <a:latin typeface="-apple-system"/>
              </a:rPr>
              <a:t>a</a:t>
            </a:r>
            <a:r>
              <a:rPr lang="en-US" altLang="zh-CN" b="0" i="1" baseline="30000" dirty="0" err="1">
                <a:solidFill>
                  <a:srgbClr val="404040"/>
                </a:solidFill>
                <a:effectLst/>
                <a:latin typeface="KaTeX_Math"/>
              </a:rPr>
              <a:t>n+1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KaTeX_Main"/>
              </a:rPr>
              <a:t>,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a&gt;</a:t>
            </a:r>
            <a:r>
              <a:rPr lang="en-US" altLang="zh-CN" b="0" i="0" dirty="0" err="1">
                <a:solidFill>
                  <a:srgbClr val="404040"/>
                </a:solidFill>
                <a:effectLst/>
                <a:latin typeface="-apple-system"/>
              </a:rPr>
              <a:t>0,n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&gt;0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且均为整数，</a:t>
            </a:r>
            <a:r>
              <a:rPr lang="zh-CN" altLang="en-US" dirty="0">
                <a:solidFill>
                  <a:srgbClr val="404040"/>
                </a:solidFill>
                <a:latin typeface="-apple-system"/>
              </a:rPr>
              <a:t>设计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-apple-system"/>
              </a:rPr>
              <a:t>递归函数求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S</a:t>
            </a:r>
            <a:r>
              <a:rPr lang="en-US" altLang="zh-CN" b="0" i="0" baseline="-25000" dirty="0">
                <a:solidFill>
                  <a:srgbClr val="404040"/>
                </a:solidFill>
                <a:effectLst/>
                <a:latin typeface="-apple-system"/>
              </a:rPr>
              <a:t>n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-apple-system"/>
              </a:rPr>
              <a:t>*</a:t>
            </a:r>
            <a:r>
              <a:rPr lang="en-US" altLang="zh-CN" dirty="0">
                <a:solidFill>
                  <a:srgbClr val="404040"/>
                </a:solidFill>
                <a:latin typeface="-apple-system"/>
              </a:rPr>
              <a:t>/</a:t>
            </a:r>
            <a:endParaRPr lang="zh-CN" altLang="en-US" b="0" i="0" dirty="0">
              <a:solidFill>
                <a:srgbClr val="404040"/>
              </a:solidFill>
              <a:effectLst/>
              <a:latin typeface="-apple-system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int 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(int </a:t>
            </a:r>
            <a:r>
              <a:rPr lang="en-US" altLang="zh-CN" sz="2400" dirty="0" err="1">
                <a:latin typeface="Consolas" panose="020B0609020204030204" pitchFamily="49" charset="0"/>
              </a:rPr>
              <a:t>n,int</a:t>
            </a:r>
            <a:r>
              <a:rPr lang="en-US" altLang="zh-CN" sz="2400" dirty="0">
                <a:latin typeface="Consolas" panose="020B0609020204030204" pitchFamily="49" charset="0"/>
              </a:rPr>
              <a:t> a){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int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1,i</a:t>
            </a:r>
            <a:r>
              <a:rPr lang="en-US" altLang="zh-CN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if (n==1)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1+a+a</a:t>
            </a:r>
            <a:r>
              <a:rPr lang="en-US" altLang="zh-CN" sz="2400" dirty="0">
                <a:latin typeface="Consolas" panose="020B0609020204030204" pitchFamily="49" charset="0"/>
              </a:rPr>
              <a:t>*a);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else{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for 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</a:t>
            </a:r>
            <a:r>
              <a:rPr lang="en-US" altLang="zh-CN" sz="2400" dirty="0" err="1">
                <a:latin typeface="Consolas" panose="020B0609020204030204" pitchFamily="49" charset="0"/>
              </a:rPr>
              <a:t>1;i</a:t>
            </a:r>
            <a:r>
              <a:rPr lang="en-US" altLang="zh-CN" sz="2400" dirty="0">
                <a:latin typeface="Consolas" panose="020B0609020204030204" pitchFamily="49" charset="0"/>
              </a:rPr>
              <a:t>&lt;=</a:t>
            </a:r>
            <a:r>
              <a:rPr lang="en-US" altLang="zh-CN" sz="2400" dirty="0" err="1">
                <a:latin typeface="Consolas" panose="020B0609020204030204" pitchFamily="49" charset="0"/>
              </a:rPr>
              <a:t>n+1;i</a:t>
            </a:r>
            <a:r>
              <a:rPr lang="en-US" altLang="zh-CN" sz="24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    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 *= a;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    return (</a:t>
            </a:r>
            <a:r>
              <a:rPr lang="en-US" altLang="zh-CN" sz="2400" dirty="0" err="1">
                <a:latin typeface="Consolas" panose="020B0609020204030204" pitchFamily="49" charset="0"/>
              </a:rPr>
              <a:t>recSn</a:t>
            </a:r>
            <a:r>
              <a:rPr lang="en-US" altLang="zh-CN" sz="2400" dirty="0">
                <a:latin typeface="Consolas" panose="020B0609020204030204" pitchFamily="49" charset="0"/>
              </a:rPr>
              <a:t>(n-</a:t>
            </a:r>
            <a:r>
              <a:rPr lang="en-US" altLang="zh-CN" sz="2400" dirty="0" err="1">
                <a:latin typeface="Consolas" panose="020B0609020204030204" pitchFamily="49" charset="0"/>
              </a:rPr>
              <a:t>1,a</a:t>
            </a:r>
            <a:r>
              <a:rPr lang="en-US" altLang="zh-CN" sz="2400" dirty="0">
                <a:latin typeface="Consolas" panose="020B0609020204030204" pitchFamily="49" charset="0"/>
              </a:rPr>
              <a:t>)+</a:t>
            </a:r>
            <a:r>
              <a:rPr lang="en-US" altLang="zh-CN" sz="2400" dirty="0" err="1">
                <a:latin typeface="Consolas" panose="020B0609020204030204" pitchFamily="49" charset="0"/>
              </a:rPr>
              <a:t>apow</a:t>
            </a:r>
            <a:r>
              <a:rPr lang="en-US" altLang="zh-CN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93287927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E112C-D202-27D6-A151-C9B78B1B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0FA9F-767C-4141-5CC3-CD57232CA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95B56-6B71-75E9-724D-6A3500C64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212529"/>
                </a:solidFill>
                <a:latin typeface="-apple-system"/>
              </a:rPr>
              <a:t>/*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设计递归函数打印对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212529"/>
                </a:solidFill>
                <a:effectLst/>
                <a:latin typeface="-apple-system"/>
              </a:rPr>
              <a:t>进行素数分解的结果。</a:t>
            </a:r>
            <a:r>
              <a:rPr lang="en-US" altLang="zh-CN" b="0" i="0" dirty="0">
                <a:solidFill>
                  <a:srgbClr val="212529"/>
                </a:solidFill>
                <a:effectLst/>
                <a:latin typeface="-apple-system"/>
              </a:rPr>
              <a:t>*/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printFactor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(int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num,int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 x){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212529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if (x==1)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("%d=",num);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int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for(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=2;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&lt;=sqrt(num);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	if (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num%i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==0) break;//</a:t>
            </a:r>
            <a:r>
              <a:rPr lang="zh-CN" altLang="en-US" sz="2000" dirty="0">
                <a:solidFill>
                  <a:srgbClr val="212529"/>
                </a:solidFill>
                <a:latin typeface="Consolas" panose="020B0609020204030204" pitchFamily="49" charset="0"/>
              </a:rPr>
              <a:t>求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num</a:t>
            </a:r>
            <a:r>
              <a:rPr lang="zh-CN" altLang="en-US" sz="2000" dirty="0">
                <a:solidFill>
                  <a:srgbClr val="212529"/>
                </a:solidFill>
                <a:latin typeface="Consolas" panose="020B0609020204030204" pitchFamily="49" charset="0"/>
              </a:rPr>
              <a:t>的最小质因数	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if (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&gt;sqrt(num))//</a:t>
            </a:r>
            <a:r>
              <a:rPr lang="zh-CN" altLang="en-US" sz="2000" dirty="0">
                <a:solidFill>
                  <a:srgbClr val="212529"/>
                </a:solidFill>
                <a:latin typeface="Consolas" panose="020B0609020204030204" pitchFamily="49" charset="0"/>
              </a:rPr>
              <a:t>若没有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&lt;=sqrt(n)</a:t>
            </a:r>
            <a:r>
              <a:rPr lang="zh-CN" altLang="en-US" sz="2000" dirty="0">
                <a:solidFill>
                  <a:srgbClr val="212529"/>
                </a:solidFill>
                <a:latin typeface="Consolas" panose="020B0609020204030204" pitchFamily="49" charset="0"/>
              </a:rPr>
              <a:t>的因子，则为素数 	      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("%d\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n",num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    	else {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("%d*",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 		</a:t>
            </a:r>
            <a:r>
              <a:rPr lang="en-US" altLang="zh-CN" sz="2000" dirty="0" err="1">
                <a:solidFill>
                  <a:srgbClr val="212529"/>
                </a:solidFill>
                <a:latin typeface="Consolas" panose="020B0609020204030204" pitchFamily="49" charset="0"/>
              </a:rPr>
              <a:t>printFactor</a:t>
            </a: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(num/i,0);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212529"/>
                </a:solidFill>
                <a:latin typeface="Consolas" panose="020B0609020204030204" pitchFamily="49" charset="0"/>
              </a:rPr>
              <a:t>}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66088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indent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400" b="1" dirty="0"/>
              <a:t>42</a:t>
            </a:fld>
            <a:endParaRPr lang="zh-CN" altLang="en-US" sz="1400" b="1" dirty="0"/>
          </a:p>
        </p:txBody>
      </p:sp>
      <p:graphicFrame>
        <p:nvGraphicFramePr>
          <p:cNvPr id="109571" name="Object 4"/>
          <p:cNvGraphicFramePr>
            <a:graphicFrameLocks noGrp="1" noChangeAspect="1"/>
          </p:cNvGraphicFramePr>
          <p:nvPr>
            <p:ph/>
          </p:nvPr>
        </p:nvGraphicFramePr>
        <p:xfrm>
          <a:off x="3563938" y="2060575"/>
          <a:ext cx="2438400" cy="227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205" imgH="1054100" progId="MS_ClipArt_Gallery.2">
                  <p:embed/>
                </p:oleObj>
              </mc:Choice>
              <mc:Fallback>
                <p:oleObj r:id="rId2" imgW="1132205" imgH="1054100" progId="MS_ClipArt_Gallery.2">
                  <p:embed/>
                  <p:pic>
                    <p:nvPicPr>
                      <p:cNvPr id="109571" name="Object 4"/>
                      <p:cNvPicPr/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>
                      <a:xfrm>
                        <a:off x="3563938" y="2060575"/>
                        <a:ext cx="2438400" cy="22701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经分互动规范介绍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经分互动规范介绍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8" dist="17961" dir="13500000">
            <a:schemeClr val="tx1">
              <a:gamma/>
              <a:shade val="60000"/>
              <a:invGamma/>
            </a:schemeClr>
          </a:prstShdw>
        </a:effectLst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961</TotalTime>
  <Pages>0</Pages>
  <Words>3360</Words>
  <Characters>0</Characters>
  <Application>Microsoft Office PowerPoint</Application>
  <PresentationFormat>全屏显示(4:3)</PresentationFormat>
  <Lines>0</Lines>
  <Paragraphs>441</Paragraphs>
  <Slides>42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42</vt:i4>
      </vt:variant>
    </vt:vector>
  </HeadingPairs>
  <TitlesOfParts>
    <vt:vector size="60" baseType="lpstr">
      <vt:lpstr>-apple-system</vt:lpstr>
      <vt:lpstr>KaTeX_Main</vt:lpstr>
      <vt:lpstr>KaTeX_Math</vt:lpstr>
      <vt:lpstr>Monotype Sorts</vt:lpstr>
      <vt:lpstr>楷体_GB2312</vt:lpstr>
      <vt:lpstr>隶书</vt:lpstr>
      <vt:lpstr>宋体</vt:lpstr>
      <vt:lpstr>Arial</vt:lpstr>
      <vt:lpstr>Cambria Math</vt:lpstr>
      <vt:lpstr>Consolas</vt:lpstr>
      <vt:lpstr>Times New Roman</vt:lpstr>
      <vt:lpstr>Wingdings</vt:lpstr>
      <vt:lpstr>经分互动规范介绍</vt:lpstr>
      <vt:lpstr>Picture</vt:lpstr>
      <vt:lpstr>CorelDRAW.Graphic.9</vt:lpstr>
      <vt:lpstr>Visio.Drawing.11</vt:lpstr>
      <vt:lpstr>Microsoft Word Picture</vt:lpstr>
      <vt:lpstr>MS_ClipArt_Gallery.2</vt:lpstr>
      <vt:lpstr>PowerPoint 演示文稿</vt:lpstr>
      <vt:lpstr>提纲</vt:lpstr>
      <vt:lpstr>递归算法</vt:lpstr>
      <vt:lpstr>PowerPoint 演示文稿</vt:lpstr>
      <vt:lpstr>斐波那契数列的递归函数设计</vt:lpstr>
      <vt:lpstr>递归公式的初始条件保证了递归调用可终止</vt:lpstr>
      <vt:lpstr>递归的分类</vt:lpstr>
      <vt:lpstr>提纲</vt:lpstr>
      <vt:lpstr>2.递归过程</vt:lpstr>
      <vt:lpstr>2.递归过程</vt:lpstr>
      <vt:lpstr>2.递归过程</vt:lpstr>
      <vt:lpstr>2.递归过程</vt:lpstr>
      <vt:lpstr>PowerPoint 演示文稿</vt:lpstr>
      <vt:lpstr>求f(6)的递归调用过程</vt:lpstr>
      <vt:lpstr>2.递归过程</vt:lpstr>
      <vt:lpstr>2.递归过程</vt:lpstr>
      <vt:lpstr>智力谜题:递归方法找出规律</vt:lpstr>
      <vt:lpstr>三、递归问题举例</vt:lpstr>
      <vt:lpstr>PowerPoint 演示文稿</vt:lpstr>
      <vt:lpstr>PowerPoint 演示文稿</vt:lpstr>
      <vt:lpstr>PowerPoint 演示文稿</vt:lpstr>
      <vt:lpstr>汉诺塔递归函数</vt:lpstr>
      <vt:lpstr>主函数代码</vt:lpstr>
      <vt:lpstr>移动三个盘子的运行结果</vt:lpstr>
      <vt:lpstr>汉诺塔的移动盘子次数</vt:lpstr>
      <vt:lpstr>递归小结</vt:lpstr>
      <vt:lpstr>递归可用于反向计算</vt:lpstr>
      <vt:lpstr>逆序打印字符串</vt:lpstr>
      <vt:lpstr>递归函数可用于反向计算</vt:lpstr>
      <vt:lpstr>递归可用于反向计算</vt:lpstr>
      <vt:lpstr>思考题</vt:lpstr>
      <vt:lpstr>提纲</vt:lpstr>
      <vt:lpstr>3.递归函数设计</vt:lpstr>
      <vt:lpstr>PowerPoint 演示文稿</vt:lpstr>
      <vt:lpstr>二进制串解读</vt:lpstr>
      <vt:lpstr>自定义递归函数</vt:lpstr>
      <vt:lpstr>从序列寻找递归函数</vt:lpstr>
      <vt:lpstr>递归求最大值</vt:lpstr>
      <vt:lpstr>进制转换长度递归函数</vt:lpstr>
      <vt:lpstr>从序列找递归函数</vt:lpstr>
      <vt:lpstr>PowerPoint 演示文稿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PASCAL程序设计</dc:title>
  <dc:subject/>
  <dc:creator>cyzhou</dc:creator>
  <cp:keywords/>
  <dc:description/>
  <cp:lastModifiedBy>snail smile</cp:lastModifiedBy>
  <cp:revision>1160</cp:revision>
  <dcterms:created xsi:type="dcterms:W3CDTF">2002-12-06T01:10:53Z</dcterms:created>
  <dcterms:modified xsi:type="dcterms:W3CDTF">2025-11-13T02:05:47Z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2052-11.1.0.7932</vt:lpwstr>
  </property>
</Properties>
</file>