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8" r:id="rId3"/>
    <p:sldId id="259" r:id="rId4"/>
    <p:sldId id="28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69" r:id="rId16"/>
    <p:sldId id="270" r:id="rId17"/>
    <p:sldId id="268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8" r:id="rId31"/>
    <p:sldId id="284" r:id="rId32"/>
    <p:sldId id="286" r:id="rId33"/>
    <p:sldId id="287" r:id="rId34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1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BDA5B-9983-4939-935E-8F965C06A3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AAF1D-C689-4D69-93D5-A0F0417B33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oleObject" Target="../embeddings/oleObject9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1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oleObject" Target="../embeddings/oleObject12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3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4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E2E911-944A-464A-8478-4107FEB64F57}" type="slidenum">
              <a:rPr kumimoji="0" lang="zh-CN" altLang="en-US" sz="100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C3DAFD-34B3-4E66-8B6A-BDA6A8FE375C}" type="datetime1">
              <a:rPr kumimoji="0" lang="zh-CN" altLang="en-US" sz="100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9 Relations</a:t>
            </a:r>
            <a:endParaRPr lang="en-US" altLang="zh-CN" smtClean="0"/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9.1 Relations and Their Properties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		</a:t>
            </a:r>
            <a:r>
              <a:rPr lang="zh-CN" altLang="en-US" dirty="0" smtClean="0"/>
              <a:t>关系及关系性质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9.2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-</a:t>
            </a:r>
            <a:r>
              <a:rPr lang="en-US" altLang="zh-CN" dirty="0" err="1" smtClean="0"/>
              <a:t>ary</a:t>
            </a:r>
            <a:r>
              <a:rPr lang="en-US" altLang="zh-CN" dirty="0" smtClean="0"/>
              <a:t> Relations and Their Applications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		 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元关系及应用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9.3 Representing Relations  </a:t>
            </a:r>
            <a:r>
              <a:rPr lang="zh-CN" altLang="en-US" dirty="0" smtClean="0"/>
              <a:t>关系的表示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9.4 Closures of Relations     </a:t>
            </a:r>
            <a:r>
              <a:rPr lang="zh-CN" altLang="en-US" dirty="0" smtClean="0"/>
              <a:t>关系闭包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9.5 Equivalence Relations     </a:t>
            </a:r>
            <a:r>
              <a:rPr lang="zh-CN" altLang="en-US" dirty="0" smtClean="0"/>
              <a:t>等价关系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9.6  Partial Orderings            </a:t>
            </a:r>
            <a:r>
              <a:rPr lang="zh-CN" altLang="en-US" dirty="0" smtClean="0"/>
              <a:t>偏序关系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 Relations and Their </a:t>
            </a:r>
            <a:r>
              <a:rPr lang="en-US" altLang="zh-CN" dirty="0" smtClean="0"/>
              <a:t>Properties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8128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Ordered </a:t>
            </a:r>
            <a:r>
              <a:rPr lang="en-US" altLang="zh-CN" dirty="0" smtClean="0"/>
              <a:t>pair</a:t>
            </a:r>
            <a:endParaRPr lang="en-US" altLang="zh-CN" dirty="0" smtClean="0"/>
          </a:p>
          <a:p>
            <a:r>
              <a:rPr lang="en-US" altLang="zh-CN" dirty="0">
                <a:solidFill>
                  <a:srgbClr val="003399"/>
                </a:solidFill>
              </a:rPr>
              <a:t>Cartesian </a:t>
            </a:r>
            <a:r>
              <a:rPr lang="en-US" altLang="zh-CN" dirty="0" smtClean="0">
                <a:solidFill>
                  <a:srgbClr val="003399"/>
                </a:solidFill>
              </a:rPr>
              <a:t>product</a:t>
            </a:r>
            <a:endParaRPr lang="en-US" altLang="zh-CN" dirty="0" smtClean="0">
              <a:solidFill>
                <a:srgbClr val="003399"/>
              </a:solidFill>
            </a:endParaRPr>
          </a:p>
          <a:p>
            <a:r>
              <a:rPr lang="en-US" altLang="zh-CN" dirty="0" smtClean="0"/>
              <a:t>Partitions</a:t>
            </a:r>
            <a:endParaRPr lang="en-US" altLang="zh-CN" dirty="0" smtClean="0"/>
          </a:p>
          <a:p>
            <a:r>
              <a:rPr lang="en-US" altLang="zh-CN" dirty="0"/>
              <a:t>Definition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Let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be nonempty sets. A </a:t>
            </a:r>
            <a:r>
              <a:rPr lang="en-US" altLang="zh-CN" i="1" dirty="0">
                <a:solidFill>
                  <a:schemeClr val="hlink"/>
                </a:solidFill>
              </a:rPr>
              <a:t>relation R from A to B</a:t>
            </a:r>
            <a:r>
              <a:rPr lang="en-US" altLang="zh-CN" dirty="0"/>
              <a:t> is a subset of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r>
              <a:rPr lang="en-US" altLang="zh-CN" dirty="0"/>
              <a:t>Sets Arising from </a:t>
            </a:r>
            <a:r>
              <a:rPr lang="en-US" altLang="zh-CN" dirty="0" smtClean="0"/>
              <a:t>Relations</a:t>
            </a:r>
            <a:endParaRPr lang="en-US" altLang="zh-CN" dirty="0" smtClean="0"/>
          </a:p>
          <a:p>
            <a:r>
              <a:rPr lang="en-US" altLang="zh-CN" dirty="0"/>
              <a:t>Special Properties of Binary </a:t>
            </a:r>
            <a:r>
              <a:rPr lang="en-US" altLang="zh-CN" dirty="0" smtClean="0"/>
              <a:t>Relations</a:t>
            </a:r>
            <a:endParaRPr lang="en-US" altLang="zh-CN" dirty="0" smtClean="0"/>
          </a:p>
          <a:p>
            <a:pPr lvl="1"/>
            <a:r>
              <a:rPr lang="en-US" altLang="zh-CN" i="1" dirty="0">
                <a:solidFill>
                  <a:schemeClr val="hlink"/>
                </a:solidFill>
              </a:rPr>
              <a:t>Reflexive</a:t>
            </a:r>
            <a:r>
              <a:rPr lang="en-US" altLang="zh-CN" dirty="0"/>
              <a:t> and </a:t>
            </a:r>
            <a:r>
              <a:rPr lang="en-US" altLang="zh-CN" i="1" dirty="0" err="1">
                <a:solidFill>
                  <a:schemeClr val="hlink"/>
                </a:solidFill>
              </a:rPr>
              <a:t>Irreflexive</a:t>
            </a:r>
            <a:r>
              <a:rPr lang="zh-CN" altLang="en-US" dirty="0"/>
              <a:t>（自反、反自反）</a:t>
            </a:r>
            <a:endParaRPr lang="zh-CN" altLang="en-US" i="1" dirty="0"/>
          </a:p>
          <a:p>
            <a:pPr lvl="1"/>
            <a:r>
              <a:rPr lang="en-US" altLang="zh-CN" i="1" dirty="0">
                <a:solidFill>
                  <a:schemeClr val="hlink"/>
                </a:solidFill>
              </a:rPr>
              <a:t>Symmetric</a:t>
            </a:r>
            <a:r>
              <a:rPr lang="en-US" altLang="zh-CN" dirty="0"/>
              <a:t>, </a:t>
            </a:r>
            <a:r>
              <a:rPr lang="en-US" altLang="zh-CN" i="1" dirty="0">
                <a:solidFill>
                  <a:schemeClr val="hlink"/>
                </a:solidFill>
              </a:rPr>
              <a:t>Asymmetric</a:t>
            </a:r>
            <a:r>
              <a:rPr lang="en-US" altLang="zh-CN" dirty="0"/>
              <a:t>, and </a:t>
            </a:r>
            <a:r>
              <a:rPr lang="en-US" altLang="zh-CN" i="1" dirty="0" err="1">
                <a:solidFill>
                  <a:schemeClr val="hlink"/>
                </a:solidFill>
              </a:rPr>
              <a:t>Antisymmetric</a:t>
            </a:r>
            <a:r>
              <a:rPr lang="zh-CN" altLang="en-US" dirty="0"/>
              <a:t>（对称、非对称、反对称）</a:t>
            </a:r>
            <a:endParaRPr lang="zh-CN" altLang="en-US" i="1" dirty="0"/>
          </a:p>
          <a:p>
            <a:pPr lvl="1"/>
            <a:r>
              <a:rPr lang="en-US" altLang="zh-CN" i="1" dirty="0">
                <a:solidFill>
                  <a:schemeClr val="hlink"/>
                </a:solidFill>
              </a:rPr>
              <a:t>Transitive</a:t>
            </a:r>
            <a:r>
              <a:rPr lang="zh-CN" altLang="en-US" dirty="0"/>
              <a:t>（传递）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 Relations and Their Properties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96418" cy="4351338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Combing </a:t>
            </a:r>
            <a:r>
              <a:rPr lang="en-US" altLang="zh-CN" dirty="0" smtClean="0"/>
              <a:t>relations</a:t>
            </a:r>
            <a:endParaRPr lang="en-US" altLang="zh-CN" dirty="0" smtClean="0"/>
          </a:p>
          <a:p>
            <a:pPr lvl="1"/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È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endParaRPr lang="en-US" altLang="zh-CN" baseline="-25000" dirty="0"/>
          </a:p>
          <a:p>
            <a:pPr lvl="1"/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Ç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endParaRPr lang="en-US" altLang="zh-CN" baseline="-25000" dirty="0"/>
          </a:p>
          <a:p>
            <a:pPr lvl="1"/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-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endParaRPr lang="en-US" altLang="zh-CN" baseline="-25000" dirty="0"/>
          </a:p>
          <a:p>
            <a:pPr lvl="1"/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Å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endParaRPr lang="en-US" altLang="zh-CN" baseline="-25000" dirty="0"/>
          </a:p>
          <a:p>
            <a:pPr lvl="1"/>
            <a:r>
              <a:rPr lang="en-US" altLang="zh-CN" i="1" dirty="0" smtClean="0"/>
              <a:t>R</a:t>
            </a:r>
            <a:r>
              <a:rPr lang="en-US" altLang="zh-CN" baseline="-25000" dirty="0" smtClean="0"/>
              <a:t>1</a:t>
            </a:r>
            <a:endParaRPr lang="en-US" altLang="zh-CN" baseline="-25000" dirty="0" smtClean="0"/>
          </a:p>
          <a:p>
            <a:r>
              <a:rPr lang="en-US" altLang="zh-CN" dirty="0"/>
              <a:t>Composition</a:t>
            </a:r>
            <a:endParaRPr lang="en-US" altLang="zh-CN" baseline="-25000" dirty="0" smtClean="0"/>
          </a:p>
          <a:p>
            <a:pPr lvl="1"/>
            <a:r>
              <a:rPr lang="en-US" altLang="zh-CN" dirty="0" smtClean="0"/>
              <a:t>Suppose </a:t>
            </a:r>
            <a:r>
              <a:rPr lang="en-US" altLang="zh-CN" i="1" dirty="0" smtClean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and </a:t>
            </a:r>
            <a:r>
              <a:rPr lang="en-US" altLang="zh-CN" i="1" dirty="0"/>
              <a:t>C</a:t>
            </a:r>
            <a:r>
              <a:rPr lang="en-US" altLang="zh-CN" dirty="0"/>
              <a:t> are sets, 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</a:t>
            </a:r>
            <a:r>
              <a:rPr lang="en-US" altLang="zh-CN" dirty="0"/>
              <a:t>is a relation from </a:t>
            </a:r>
            <a:r>
              <a:rPr lang="en-US" altLang="zh-CN" i="1" dirty="0"/>
              <a:t>A</a:t>
            </a:r>
            <a:r>
              <a:rPr lang="en-US" altLang="zh-CN" dirty="0"/>
              <a:t> to </a:t>
            </a:r>
            <a:r>
              <a:rPr lang="en-US" altLang="zh-CN" i="1" dirty="0"/>
              <a:t>B</a:t>
            </a:r>
            <a:r>
              <a:rPr lang="en-US" altLang="zh-CN" dirty="0"/>
              <a:t>, and 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 </a:t>
            </a:r>
            <a:r>
              <a:rPr lang="en-US" altLang="zh-CN" dirty="0"/>
              <a:t>is a relation from </a:t>
            </a:r>
            <a:r>
              <a:rPr lang="en-US" altLang="zh-CN" i="1" dirty="0"/>
              <a:t>B</a:t>
            </a:r>
            <a:r>
              <a:rPr lang="en-US" altLang="zh-CN" dirty="0"/>
              <a:t> to </a:t>
            </a:r>
            <a:r>
              <a:rPr lang="en-US" altLang="zh-CN" i="1" dirty="0"/>
              <a:t>C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</a:t>
            </a:r>
            <a:r>
              <a:rPr lang="en-US" altLang="zh-CN" i="1" dirty="0">
                <a:solidFill>
                  <a:schemeClr val="hlink"/>
                </a:solidFill>
              </a:rPr>
              <a:t>composition of R and S</a:t>
            </a:r>
            <a:r>
              <a:rPr lang="en-US" altLang="zh-CN" dirty="0"/>
              <a:t>, written as </a:t>
            </a:r>
            <a:r>
              <a:rPr lang="en-US" altLang="zh-CN" i="1" dirty="0"/>
              <a:t>S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/>
              <a:t>R</a:t>
            </a:r>
            <a:r>
              <a:rPr lang="en-US" altLang="zh-CN" dirty="0"/>
              <a:t>, is a relation from </a:t>
            </a:r>
            <a:r>
              <a:rPr lang="en-US" altLang="zh-CN" i="1" dirty="0"/>
              <a:t>A</a:t>
            </a:r>
            <a:r>
              <a:rPr lang="en-US" altLang="zh-CN" dirty="0"/>
              <a:t> to </a:t>
            </a:r>
            <a:r>
              <a:rPr lang="en-US" altLang="zh-CN" i="1" dirty="0"/>
              <a:t>C</a:t>
            </a:r>
            <a:r>
              <a:rPr lang="en-US" altLang="zh-CN" dirty="0"/>
              <a:t> and defined as: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if  </a:t>
            </a:r>
            <a:r>
              <a:rPr lang="en-US" altLang="zh-CN" i="1" dirty="0"/>
              <a:t>a</a:t>
            </a:r>
            <a:r>
              <a:rPr lang="en-US" altLang="zh-CN" dirty="0"/>
              <a:t> is in </a:t>
            </a:r>
            <a:r>
              <a:rPr lang="en-US" altLang="zh-CN" i="1" dirty="0"/>
              <a:t>A </a:t>
            </a:r>
            <a:r>
              <a:rPr lang="en-US" altLang="zh-CN" dirty="0"/>
              <a:t>and </a:t>
            </a:r>
            <a:r>
              <a:rPr lang="en-US" altLang="zh-CN" i="1" dirty="0"/>
              <a:t>c</a:t>
            </a:r>
            <a:r>
              <a:rPr lang="en-US" altLang="zh-CN" dirty="0"/>
              <a:t> is in</a:t>
            </a:r>
            <a:r>
              <a:rPr lang="en-US" altLang="zh-CN" i="1" dirty="0"/>
              <a:t> C</a:t>
            </a:r>
            <a:r>
              <a:rPr lang="en-US" altLang="zh-CN" dirty="0"/>
              <a:t>, </a:t>
            </a:r>
            <a:r>
              <a:rPr lang="en-US" altLang="zh-CN" dirty="0" smtClean="0"/>
              <a:t>then </a:t>
            </a:r>
            <a:r>
              <a:rPr lang="en-US" altLang="zh-CN" i="1" dirty="0" smtClean="0"/>
              <a:t>a </a:t>
            </a:r>
            <a:r>
              <a:rPr lang="en-US" altLang="zh-CN" i="1" dirty="0"/>
              <a:t>S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/>
              <a:t>R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if </a:t>
            </a:r>
            <a:r>
              <a:rPr lang="en-US" altLang="zh-CN" dirty="0"/>
              <a:t>and only </a:t>
            </a:r>
            <a:r>
              <a:rPr lang="en-US" altLang="zh-CN" dirty="0" smtClean="0"/>
              <a:t>if for </a:t>
            </a:r>
            <a:r>
              <a:rPr lang="en-US" altLang="zh-CN" dirty="0"/>
              <a:t>some </a:t>
            </a:r>
            <a:r>
              <a:rPr lang="en-US" altLang="zh-CN" i="1" dirty="0"/>
              <a:t>b</a:t>
            </a:r>
            <a:r>
              <a:rPr lang="en-US" altLang="zh-CN" dirty="0"/>
              <a:t> in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a R b</a:t>
            </a:r>
            <a:r>
              <a:rPr lang="en-US" altLang="zh-CN" dirty="0"/>
              <a:t> and </a:t>
            </a:r>
            <a:r>
              <a:rPr lang="en-US" altLang="zh-CN" i="1" dirty="0"/>
              <a:t>b S c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zh-CN" altLang="en-US" baseline="-25000" dirty="0"/>
          </a:p>
          <a:p>
            <a:pPr lvl="1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8383" y="3753572"/>
            <a:ext cx="2159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 Representing Relations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zh-CN" dirty="0"/>
              <a:t>With a zero-one matrix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algn="just"/>
            <a:r>
              <a:rPr lang="en-US" altLang="zh-CN" dirty="0" smtClean="0"/>
              <a:t>With </a:t>
            </a:r>
            <a:r>
              <a:rPr lang="en-US" altLang="zh-CN" dirty="0"/>
              <a:t>a directed graph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algn="just"/>
            <a:r>
              <a:rPr lang="en-US" altLang="zh-CN" i="1" dirty="0" err="1" smtClean="0"/>
              <a:t>Reflexive</a:t>
            </a:r>
            <a:r>
              <a:rPr lang="en-US" altLang="zh-CN" dirty="0" err="1" smtClean="0"/>
              <a:t>,</a:t>
            </a:r>
            <a:r>
              <a:rPr lang="en-US" altLang="zh-CN" i="1" dirty="0" err="1" smtClean="0"/>
              <a:t>irreflexive</a:t>
            </a:r>
            <a:r>
              <a:rPr lang="en-US" altLang="zh-CN" dirty="0" smtClean="0"/>
              <a:t>,</a:t>
            </a:r>
            <a:endParaRPr lang="en-US" altLang="zh-CN" dirty="0" smtClean="0"/>
          </a:p>
          <a:p>
            <a:pPr algn="just"/>
            <a:r>
              <a:rPr lang="en-US" altLang="zh-CN" dirty="0" smtClean="0"/>
              <a:t>s</a:t>
            </a:r>
            <a:r>
              <a:rPr lang="en-US" altLang="zh-CN" i="1" dirty="0" smtClean="0"/>
              <a:t>ymmetric</a:t>
            </a:r>
            <a:r>
              <a:rPr lang="en-US" altLang="zh-CN" i="1" dirty="0"/>
              <a:t>, asymmetric, and </a:t>
            </a:r>
            <a:r>
              <a:rPr lang="en-US" altLang="zh-CN" i="1" dirty="0" err="1" smtClean="0"/>
              <a:t>antisymmetric</a:t>
            </a:r>
            <a:endParaRPr lang="en-US" altLang="zh-CN" i="1" dirty="0" smtClean="0"/>
          </a:p>
          <a:p>
            <a:r>
              <a:rPr lang="en-US" altLang="zh-CN" dirty="0"/>
              <a:t>The complement?</a:t>
            </a:r>
            <a:endParaRPr lang="en-US" altLang="zh-CN" dirty="0"/>
          </a:p>
          <a:p>
            <a:r>
              <a:rPr lang="en-US" altLang="zh-CN" dirty="0"/>
              <a:t>The relative complement?</a:t>
            </a:r>
            <a:endParaRPr lang="en-US" altLang="zh-CN" dirty="0"/>
          </a:p>
          <a:p>
            <a:r>
              <a:rPr lang="en-US" altLang="zh-CN" dirty="0"/>
              <a:t>The symmetric difference?</a:t>
            </a:r>
            <a:endParaRPr lang="zh-CN" altLang="en-US" dirty="0"/>
          </a:p>
          <a:p>
            <a:pPr algn="just"/>
            <a:r>
              <a:rPr lang="en-US" altLang="zh-CN" dirty="0"/>
              <a:t>Combining Connection </a:t>
            </a:r>
            <a:r>
              <a:rPr lang="en-US" altLang="zh-CN" dirty="0" smtClean="0"/>
              <a:t>Matrices</a:t>
            </a:r>
            <a:endParaRPr lang="en-US" altLang="zh-CN" dirty="0" smtClean="0"/>
          </a:p>
          <a:p>
            <a:pPr lvl="1" algn="just"/>
            <a:r>
              <a:rPr lang="en-US" altLang="zh-CN" dirty="0" smtClean="0"/>
              <a:t>Join</a:t>
            </a:r>
            <a:endParaRPr lang="en-US" altLang="zh-CN" dirty="0" smtClean="0"/>
          </a:p>
          <a:p>
            <a:pPr lvl="1" algn="just"/>
            <a:r>
              <a:rPr lang="en-US" altLang="zh-CN" dirty="0" smtClean="0"/>
              <a:t> meet</a:t>
            </a:r>
            <a:endParaRPr lang="en-US" altLang="zh-CN" dirty="0" smtClean="0"/>
          </a:p>
          <a:p>
            <a:pPr lvl="1" algn="just"/>
            <a:r>
              <a:rPr lang="en-US" altLang="zh-CN" dirty="0" smtClean="0"/>
              <a:t> </a:t>
            </a:r>
            <a:r>
              <a:rPr lang="en-US" altLang="zh-CN" dirty="0"/>
              <a:t>Composite of relations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Closures of Relations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119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i="1" dirty="0" smtClean="0">
                <a:solidFill>
                  <a:schemeClr val="hlink"/>
                </a:solidFill>
              </a:rPr>
              <a:t>reflexive </a:t>
            </a:r>
            <a:r>
              <a:rPr lang="en-US" altLang="zh-CN" i="1" dirty="0">
                <a:solidFill>
                  <a:schemeClr val="hlink"/>
                </a:solidFill>
              </a:rPr>
              <a:t>closure</a:t>
            </a:r>
            <a:r>
              <a:rPr lang="en-US" altLang="zh-CN" dirty="0"/>
              <a:t> </a:t>
            </a:r>
            <a:r>
              <a:rPr lang="en-US" altLang="zh-CN" dirty="0" smtClean="0">
                <a:solidFill>
                  <a:schemeClr val="hlink"/>
                </a:solidFill>
              </a:rPr>
              <a:t>r(</a:t>
            </a:r>
            <a:r>
              <a:rPr lang="en-US" altLang="zh-CN" i="1" dirty="0" smtClean="0">
                <a:solidFill>
                  <a:schemeClr val="hlink"/>
                </a:solidFill>
              </a:rPr>
              <a:t>R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endParaRPr lang="en-US" altLang="zh-CN" dirty="0"/>
          </a:p>
          <a:p>
            <a:pPr lvl="1"/>
            <a:r>
              <a:rPr lang="en-US" altLang="zh-CN" i="1" dirty="0"/>
              <a:t>R</a:t>
            </a:r>
            <a:r>
              <a:rPr lang="en-US" altLang="zh-CN" dirty="0">
                <a:latin typeface="Symbol" panose="05050102010706020507" pitchFamily="18" charset="2"/>
              </a:rPr>
              <a:t>ÈD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Add </a:t>
            </a:r>
            <a:r>
              <a:rPr lang="en-US" altLang="zh-CN" dirty="0"/>
              <a:t>loops to all vertices on the digraph representation of 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Put 1’s on the diagonal of the connection matrix of </a:t>
            </a:r>
            <a:r>
              <a:rPr lang="en-US" altLang="zh-CN" i="1" dirty="0"/>
              <a:t>R.</a:t>
            </a:r>
            <a:endParaRPr lang="zh-CN" altLang="en-US" dirty="0"/>
          </a:p>
          <a:p>
            <a:r>
              <a:rPr lang="en-US" altLang="zh-CN" i="1" dirty="0" smtClean="0">
                <a:solidFill>
                  <a:schemeClr val="hlink"/>
                </a:solidFill>
              </a:rPr>
              <a:t>symmetric closure </a:t>
            </a:r>
            <a:r>
              <a:rPr lang="en-US" altLang="zh-CN" dirty="0" smtClean="0">
                <a:solidFill>
                  <a:schemeClr val="hlink"/>
                </a:solidFill>
              </a:rPr>
              <a:t>s(</a:t>
            </a:r>
            <a:r>
              <a:rPr lang="en-US" altLang="zh-CN" i="1" dirty="0" smtClean="0">
                <a:solidFill>
                  <a:schemeClr val="hlink"/>
                </a:solidFill>
              </a:rPr>
              <a:t>R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endParaRPr lang="en-US" altLang="zh-CN" dirty="0"/>
          </a:p>
          <a:p>
            <a:pPr lvl="1"/>
            <a:r>
              <a:rPr lang="en-US" altLang="zh-CN" i="1" dirty="0"/>
              <a:t>R</a:t>
            </a:r>
            <a:r>
              <a:rPr lang="en-US" altLang="zh-CN" dirty="0">
                <a:latin typeface="Symbol" panose="05050102010706020507" pitchFamily="18" charset="2"/>
              </a:rPr>
              <a:t>È</a:t>
            </a:r>
            <a:r>
              <a:rPr lang="en-US" altLang="zh-CN" i="1" dirty="0"/>
              <a:t>R</a:t>
            </a:r>
            <a:r>
              <a:rPr lang="en-US" altLang="zh-CN" baseline="30000" dirty="0">
                <a:latin typeface="Symbol" panose="05050102010706020507" pitchFamily="18" charset="2"/>
              </a:rPr>
              <a:t>-</a:t>
            </a:r>
            <a:r>
              <a:rPr lang="en-US" altLang="zh-CN" baseline="30000" dirty="0"/>
              <a:t>1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add </a:t>
            </a:r>
            <a:r>
              <a:rPr lang="en-US" altLang="zh-CN" dirty="0"/>
              <a:t>arcs in the opposite direction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transitive closure</a:t>
            </a:r>
            <a:endParaRPr lang="en-US" altLang="zh-CN" dirty="0"/>
          </a:p>
          <a:p>
            <a:pPr lvl="1"/>
            <a:r>
              <a:rPr lang="en-US" altLang="zh-CN" dirty="0"/>
              <a:t>if there is a path from </a:t>
            </a:r>
            <a:r>
              <a:rPr lang="en-US" altLang="zh-CN" i="1" dirty="0"/>
              <a:t>a</a:t>
            </a:r>
            <a:r>
              <a:rPr lang="en-US" altLang="zh-CN" dirty="0"/>
              <a:t> to </a:t>
            </a:r>
            <a:r>
              <a:rPr lang="en-US" altLang="zh-CN" i="1" dirty="0"/>
              <a:t>b</a:t>
            </a:r>
            <a:r>
              <a:rPr lang="en-US" altLang="zh-CN" dirty="0"/>
              <a:t>, add an arc from </a:t>
            </a:r>
            <a:r>
              <a:rPr lang="en-US" altLang="zh-CN" i="1" dirty="0"/>
              <a:t>a</a:t>
            </a:r>
            <a:r>
              <a:rPr lang="en-US" altLang="zh-CN" dirty="0"/>
              <a:t> to </a:t>
            </a:r>
            <a:r>
              <a:rPr lang="en-US" altLang="zh-CN" i="1" dirty="0"/>
              <a:t>b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i="1" dirty="0">
                <a:solidFill>
                  <a:schemeClr val="hlink"/>
                </a:solidFill>
              </a:rPr>
              <a:t>R</a:t>
            </a:r>
            <a:r>
              <a:rPr lang="en-US" altLang="zh-CN" i="1" baseline="30000" dirty="0">
                <a:solidFill>
                  <a:schemeClr val="hlink"/>
                </a:solidFill>
              </a:rPr>
              <a:t>n</a:t>
            </a:r>
            <a:r>
              <a:rPr lang="en-US" altLang="zh-CN" dirty="0"/>
              <a:t> :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means that there is a path of length </a:t>
            </a:r>
            <a:r>
              <a:rPr lang="en-US" altLang="zh-CN" i="1" dirty="0"/>
              <a:t>n</a:t>
            </a:r>
            <a:r>
              <a:rPr lang="en-US" altLang="zh-CN" dirty="0"/>
              <a:t> from </a:t>
            </a:r>
            <a:r>
              <a:rPr lang="en-US" altLang="zh-CN" i="1" dirty="0"/>
              <a:t>x</a:t>
            </a:r>
            <a:r>
              <a:rPr lang="en-US" altLang="zh-CN" dirty="0"/>
              <a:t> to </a:t>
            </a:r>
            <a:r>
              <a:rPr lang="en-US" altLang="zh-CN" i="1" dirty="0"/>
              <a:t>y</a:t>
            </a:r>
            <a:r>
              <a:rPr lang="en-US" altLang="zh-CN" dirty="0"/>
              <a:t> in </a:t>
            </a:r>
            <a:r>
              <a:rPr lang="en-US" altLang="zh-CN" i="1" dirty="0"/>
              <a:t>R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/>
              <a:t>The </a:t>
            </a:r>
            <a:r>
              <a:rPr lang="en-US" altLang="zh-CN" i="1" dirty="0">
                <a:solidFill>
                  <a:srgbClr val="FF0000"/>
                </a:solidFill>
              </a:rPr>
              <a:t>connectivity relation R</a:t>
            </a:r>
            <a:r>
              <a:rPr lang="en-US" altLang="zh-CN" baseline="30000" dirty="0">
                <a:solidFill>
                  <a:srgbClr val="FF0000"/>
                </a:solidFill>
              </a:rPr>
              <a:t>∗</a:t>
            </a:r>
            <a:r>
              <a:rPr lang="en-US" altLang="zh-CN" dirty="0"/>
              <a:t> consists of the pairs (</a:t>
            </a:r>
            <a:r>
              <a:rPr lang="en-US" altLang="zh-CN" i="1" dirty="0"/>
              <a:t>a, b</a:t>
            </a:r>
            <a:r>
              <a:rPr lang="en-US" altLang="zh-CN" dirty="0"/>
              <a:t>) such</a:t>
            </a:r>
            <a:br>
              <a:rPr lang="en-US" altLang="zh-CN" dirty="0"/>
            </a:br>
            <a:r>
              <a:rPr lang="en-US" altLang="zh-CN" dirty="0"/>
              <a:t>that there is a path of length at least one from </a:t>
            </a:r>
            <a:r>
              <a:rPr lang="en-US" altLang="zh-CN" i="1" dirty="0"/>
              <a:t>a </a:t>
            </a:r>
            <a:r>
              <a:rPr lang="en-US" altLang="zh-CN" dirty="0"/>
              <a:t>to </a:t>
            </a:r>
            <a:r>
              <a:rPr lang="en-US" altLang="zh-CN" i="1" dirty="0"/>
              <a:t>b </a:t>
            </a:r>
            <a:r>
              <a:rPr lang="en-US" altLang="zh-CN" dirty="0"/>
              <a:t>in 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685350" y="6278565"/>
          <a:ext cx="1695159" cy="443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6" name="Equation" r:id="rId1" imgW="25603200" imgH="6705600" progId="Equation.DSMT4">
                  <p:embed/>
                </p:oleObj>
              </mc:Choice>
              <mc:Fallback>
                <p:oleObj name="Equation" r:id="rId1" imgW="25603200" imgH="6705600" progId="Equation.DSMT4">
                  <p:embed/>
                  <p:pic>
                    <p:nvPicPr>
                      <p:cNvPr id="0" name="图片 13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350" y="6278565"/>
                        <a:ext cx="1695159" cy="443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206622" y="6198170"/>
          <a:ext cx="4623809" cy="5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" name="Equation" r:id="rId3" imgW="59131200" imgH="6705600" progId="Equation.DSMT4">
                  <p:embed/>
                </p:oleObj>
              </mc:Choice>
              <mc:Fallback>
                <p:oleObj name="Equation" r:id="rId3" imgW="59131200" imgH="6705600" progId="Equation.DSMT4">
                  <p:embed/>
                  <p:pic>
                    <p:nvPicPr>
                      <p:cNvPr id="0" name="图片 13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6622" y="6198170"/>
                        <a:ext cx="4623809" cy="524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924648" y="5608573"/>
          <a:ext cx="3702771" cy="702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" name="Equation" r:id="rId5" imgW="2273300" imgH="431800" progId="Equation.DSMT4">
                  <p:embed/>
                </p:oleObj>
              </mc:Choice>
              <mc:Fallback>
                <p:oleObj name="Equation" r:id="rId5" imgW="2273300" imgH="431800" progId="Equation.DSMT4">
                  <p:embed/>
                  <p:pic>
                    <p:nvPicPr>
                      <p:cNvPr id="0" name="图片 13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648" y="5608573"/>
                        <a:ext cx="3702771" cy="702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950070" y="5603663"/>
          <a:ext cx="3245806" cy="755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" name="Equation" r:id="rId7" imgW="1854200" imgH="431800" progId="Equation.DSMT4">
                  <p:embed/>
                </p:oleObj>
              </mc:Choice>
              <mc:Fallback>
                <p:oleObj name="Equation" r:id="rId7" imgW="1854200" imgH="431800" progId="Equation.DSMT4">
                  <p:embed/>
                  <p:pic>
                    <p:nvPicPr>
                      <p:cNvPr id="0" name="图片 1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0070" y="5603663"/>
                        <a:ext cx="3245806" cy="755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Closures of Relations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7070" y="1377950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zh-CN" sz="2000" dirty="0" err="1"/>
              <a:t>Warshall’s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Algorithm</a:t>
            </a:r>
            <a:endParaRPr lang="en-US" altLang="zh-CN" sz="2000" dirty="0" smtClean="0"/>
          </a:p>
          <a:p>
            <a:r>
              <a:rPr lang="en-US" altLang="zh-CN" sz="2000" i="1" dirty="0" err="1"/>
              <a:t>W</a:t>
            </a:r>
            <a:r>
              <a:rPr lang="en-US" altLang="zh-CN" sz="2000" i="1" baseline="-25000" dirty="0" err="1"/>
              <a:t>k</a:t>
            </a:r>
            <a:r>
              <a:rPr lang="en-US" altLang="zh-CN" sz="2000" dirty="0"/>
              <a:t>: a Boolean matrix, for 1</a:t>
            </a:r>
            <a:r>
              <a:rPr lang="zh-CN" altLang="en-US" sz="2000" dirty="0">
                <a:sym typeface="Symbol" panose="05050102010706020507" pitchFamily="18" charset="2"/>
              </a:rPr>
              <a:t></a:t>
            </a:r>
            <a:r>
              <a:rPr lang="en-US" altLang="zh-CN" sz="2000" i="1" dirty="0"/>
              <a:t>k</a:t>
            </a:r>
            <a:r>
              <a:rPr lang="zh-CN" altLang="en-US" sz="2000" dirty="0">
                <a:sym typeface="Symbol" panose="05050102010706020507" pitchFamily="18" charset="2"/>
              </a:rPr>
              <a:t></a:t>
            </a:r>
            <a:r>
              <a:rPr lang="en-US" altLang="zh-CN" sz="2000" i="1" dirty="0"/>
              <a:t>n</a:t>
            </a:r>
            <a:endParaRPr lang="en-US" altLang="zh-CN" sz="2000" i="1" dirty="0"/>
          </a:p>
          <a:p>
            <a:pPr lvl="1"/>
            <a:r>
              <a:rPr lang="en-US" altLang="zh-CN" sz="1600" i="1" dirty="0" err="1"/>
              <a:t>W</a:t>
            </a:r>
            <a:r>
              <a:rPr lang="en-US" altLang="zh-CN" sz="1600" i="1" baseline="-25000" dirty="0" err="1"/>
              <a:t>k</a:t>
            </a:r>
            <a:r>
              <a:rPr lang="en-US" altLang="zh-CN" sz="1600" dirty="0"/>
              <a:t> has a 1 in position </a:t>
            </a:r>
            <a:r>
              <a:rPr lang="en-US" altLang="zh-CN" sz="1600" i="1" dirty="0" err="1"/>
              <a:t>i</a:t>
            </a:r>
            <a:r>
              <a:rPr lang="en-US" altLang="zh-CN" sz="1600" dirty="0"/>
              <a:t>, </a:t>
            </a:r>
            <a:r>
              <a:rPr lang="en-US" altLang="zh-CN" sz="1600" i="1" dirty="0"/>
              <a:t>j</a:t>
            </a:r>
            <a:endParaRPr lang="en-US" altLang="zh-CN" sz="1600" dirty="0"/>
          </a:p>
          <a:p>
            <a:pPr lvl="2"/>
            <a:r>
              <a:rPr lang="en-US" altLang="zh-CN" sz="1400" dirty="0"/>
              <a:t>If and only if</a:t>
            </a:r>
            <a:endParaRPr lang="en-US" altLang="zh-CN" sz="1400" dirty="0"/>
          </a:p>
          <a:p>
            <a:pPr lvl="1"/>
            <a:r>
              <a:rPr lang="en-US" altLang="zh-CN" sz="1600" dirty="0"/>
              <a:t>there is a path from </a:t>
            </a:r>
            <a:r>
              <a:rPr lang="en-US" altLang="zh-CN" sz="1600" i="1" dirty="0" err="1"/>
              <a:t>a</a:t>
            </a:r>
            <a:r>
              <a:rPr lang="en-US" altLang="zh-CN" sz="1600" i="1" baseline="-25000" dirty="0" err="1"/>
              <a:t>i</a:t>
            </a:r>
            <a:r>
              <a:rPr lang="en-US" altLang="zh-CN" sz="1600" dirty="0"/>
              <a:t> to </a:t>
            </a:r>
            <a:r>
              <a:rPr lang="en-US" altLang="zh-CN" sz="1600" i="1" dirty="0" err="1"/>
              <a:t>a</a:t>
            </a:r>
            <a:r>
              <a:rPr lang="en-US" altLang="zh-CN" sz="1600" i="1" baseline="-25000" dirty="0" err="1"/>
              <a:t>j</a:t>
            </a:r>
            <a:r>
              <a:rPr lang="en-US" altLang="zh-CN" sz="1600" dirty="0"/>
              <a:t> in </a:t>
            </a:r>
            <a:r>
              <a:rPr lang="en-US" altLang="zh-CN" sz="1600" i="1" dirty="0"/>
              <a:t>R</a:t>
            </a:r>
            <a:r>
              <a:rPr lang="en-US" altLang="zh-CN" sz="1600" dirty="0"/>
              <a:t> whose interior vertices, if any, come from the set {</a:t>
            </a:r>
            <a:r>
              <a:rPr lang="en-US" altLang="zh-CN" sz="1600" i="1" dirty="0"/>
              <a:t>a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, </a:t>
            </a:r>
            <a:r>
              <a:rPr lang="en-US" altLang="zh-CN" sz="1600" i="1" dirty="0"/>
              <a:t>a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,…, </a:t>
            </a:r>
            <a:r>
              <a:rPr lang="en-US" altLang="zh-CN" sz="1600" i="1" dirty="0" err="1"/>
              <a:t>a</a:t>
            </a:r>
            <a:r>
              <a:rPr lang="en-US" altLang="zh-CN" sz="1600" i="1" baseline="-25000" dirty="0" err="1"/>
              <a:t>k</a:t>
            </a:r>
            <a:r>
              <a:rPr lang="en-US" altLang="zh-CN" sz="1600" dirty="0"/>
              <a:t>}</a:t>
            </a:r>
            <a:endParaRPr lang="en-US" altLang="zh-CN" sz="1600" dirty="0"/>
          </a:p>
          <a:p>
            <a:r>
              <a:rPr lang="en-US" altLang="zh-CN" sz="2000" i="1" dirty="0"/>
              <a:t>W</a:t>
            </a:r>
            <a:r>
              <a:rPr lang="en-US" altLang="zh-CN" sz="2000" i="1" baseline="-25000" dirty="0"/>
              <a:t>0</a:t>
            </a:r>
            <a:r>
              <a:rPr lang="en-US" altLang="zh-CN" sz="2000" i="1" dirty="0"/>
              <a:t> = M</a:t>
            </a:r>
            <a:r>
              <a:rPr lang="en-US" altLang="zh-CN" sz="2000" i="1" baseline="-25000" dirty="0"/>
              <a:t>R</a:t>
            </a:r>
            <a:endParaRPr lang="en-US" altLang="zh-CN" sz="2000" i="1" dirty="0"/>
          </a:p>
          <a:p>
            <a:r>
              <a:rPr lang="en-US" altLang="zh-CN" sz="2000" i="1" dirty="0" err="1"/>
              <a:t>W</a:t>
            </a:r>
            <a:r>
              <a:rPr lang="en-US" altLang="zh-CN" sz="2000" i="1" baseline="-25000" dirty="0" err="1"/>
              <a:t>n</a:t>
            </a:r>
            <a:r>
              <a:rPr lang="en-US" altLang="zh-CN" sz="2000" i="1" dirty="0"/>
              <a:t> = </a:t>
            </a:r>
            <a:endParaRPr lang="en-US" altLang="zh-CN" sz="2000" i="1" baseline="30000" dirty="0"/>
          </a:p>
          <a:p>
            <a:r>
              <a:rPr lang="en-US" altLang="zh-CN" sz="2000" i="1" dirty="0" smtClean="0"/>
              <a:t>W</a:t>
            </a:r>
            <a:r>
              <a:rPr lang="en-US" altLang="zh-CN" sz="2000" i="1" baseline="-25000" dirty="0" smtClean="0"/>
              <a:t>0</a:t>
            </a:r>
            <a:r>
              <a:rPr lang="en-US" altLang="zh-CN" sz="2000" dirty="0" smtClean="0"/>
              <a:t>,</a:t>
            </a:r>
            <a:r>
              <a:rPr lang="en-US" altLang="zh-CN" sz="2000" i="1" dirty="0" smtClean="0"/>
              <a:t> W</a:t>
            </a:r>
            <a:r>
              <a:rPr lang="en-US" altLang="zh-CN" sz="2000" i="1" baseline="-25000" dirty="0" smtClean="0"/>
              <a:t>1 </a:t>
            </a:r>
            <a:r>
              <a:rPr lang="en-US" altLang="zh-CN" sz="2000" dirty="0" smtClean="0"/>
              <a:t>,</a:t>
            </a:r>
            <a:r>
              <a:rPr lang="en-US" altLang="zh-CN" sz="2000" i="1" dirty="0" smtClean="0"/>
              <a:t> W</a:t>
            </a:r>
            <a:r>
              <a:rPr lang="en-US" altLang="zh-CN" sz="2000" i="1" baseline="-25000" dirty="0" smtClean="0"/>
              <a:t>2 </a:t>
            </a:r>
            <a:r>
              <a:rPr lang="en-US" altLang="zh-CN" sz="2000" dirty="0" smtClean="0"/>
              <a:t>,</a:t>
            </a:r>
            <a:r>
              <a:rPr lang="en-US" altLang="zh-CN" sz="2000" i="1" dirty="0" smtClean="0"/>
              <a:t> …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 smtClean="0"/>
              <a:t>,</a:t>
            </a:r>
            <a:r>
              <a:rPr lang="en-US" altLang="zh-CN" sz="2000" i="1" dirty="0" smtClean="0"/>
              <a:t> </a:t>
            </a:r>
            <a:r>
              <a:rPr lang="en-US" altLang="zh-CN" sz="2000" i="1" dirty="0" err="1" smtClean="0"/>
              <a:t>W</a:t>
            </a:r>
            <a:r>
              <a:rPr lang="en-US" altLang="zh-CN" sz="2000" i="1" baseline="-25000" dirty="0" err="1" smtClean="0"/>
              <a:t>n</a:t>
            </a:r>
            <a:endParaRPr lang="en-US" altLang="zh-CN" sz="2000" i="1" baseline="-25000" dirty="0" smtClean="0"/>
          </a:p>
          <a:p>
            <a:r>
              <a:rPr lang="en-US" altLang="zh-CN" sz="2000" i="1" dirty="0" smtClean="0">
                <a:solidFill>
                  <a:schemeClr val="hlink"/>
                </a:solidFill>
              </a:rPr>
              <a:t>Step1</a:t>
            </a:r>
            <a:r>
              <a:rPr lang="en-US" altLang="zh-CN" sz="2000" dirty="0"/>
              <a:t>: </a:t>
            </a:r>
            <a:endParaRPr lang="en-US" altLang="zh-CN" sz="2000" dirty="0"/>
          </a:p>
          <a:p>
            <a:pPr lvl="1"/>
            <a:r>
              <a:rPr lang="en-US" altLang="zh-CN" sz="1600" dirty="0"/>
              <a:t>First transfer to </a:t>
            </a:r>
            <a:r>
              <a:rPr lang="en-US" altLang="zh-CN" sz="1600" i="1" dirty="0" err="1"/>
              <a:t>W</a:t>
            </a:r>
            <a:r>
              <a:rPr lang="en-US" altLang="zh-CN" sz="1600" i="1" baseline="-25000" dirty="0" err="1"/>
              <a:t>k</a:t>
            </a:r>
            <a:r>
              <a:rPr lang="en-US" altLang="zh-CN" sz="1600" dirty="0"/>
              <a:t> all 1’s in </a:t>
            </a:r>
            <a:r>
              <a:rPr lang="en-US" altLang="zh-CN" sz="1600" i="1" dirty="0"/>
              <a:t>W</a:t>
            </a:r>
            <a:r>
              <a:rPr lang="en-US" altLang="zh-CN" sz="1600" i="1" baseline="-25000" dirty="0"/>
              <a:t>k</a:t>
            </a:r>
            <a:r>
              <a:rPr lang="en-US" altLang="zh-CN" sz="1600" baseline="-25000" dirty="0"/>
              <a:t>-1</a:t>
            </a:r>
            <a:r>
              <a:rPr lang="en-US" altLang="zh-CN" sz="1600" dirty="0"/>
              <a:t>.</a:t>
            </a:r>
            <a:endParaRPr lang="en-US" altLang="zh-CN" sz="1600" dirty="0"/>
          </a:p>
          <a:p>
            <a:r>
              <a:rPr lang="en-US" altLang="zh-CN" sz="2000" i="1" dirty="0">
                <a:solidFill>
                  <a:schemeClr val="hlink"/>
                </a:solidFill>
              </a:rPr>
              <a:t>Step2</a:t>
            </a:r>
            <a:r>
              <a:rPr lang="en-US" altLang="zh-CN" sz="2000" dirty="0"/>
              <a:t>: </a:t>
            </a:r>
            <a:endParaRPr lang="en-US" altLang="zh-CN" sz="2000" dirty="0"/>
          </a:p>
          <a:p>
            <a:pPr lvl="1"/>
            <a:r>
              <a:rPr lang="en-US" altLang="zh-CN" sz="1600" dirty="0"/>
              <a:t>List the locations </a:t>
            </a:r>
            <a:r>
              <a:rPr lang="en-US" altLang="zh-CN" sz="1600" i="1" dirty="0"/>
              <a:t>p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, </a:t>
            </a:r>
            <a:r>
              <a:rPr lang="en-US" altLang="zh-CN" sz="1600" i="1" dirty="0"/>
              <a:t>p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, …, in column </a:t>
            </a:r>
            <a:r>
              <a:rPr lang="en-US" altLang="zh-CN" sz="1600" i="1" dirty="0"/>
              <a:t>k</a:t>
            </a:r>
            <a:r>
              <a:rPr lang="en-US" altLang="zh-CN" sz="1600" dirty="0"/>
              <a:t> of </a:t>
            </a:r>
            <a:r>
              <a:rPr lang="en-US" altLang="zh-CN" sz="1600" i="1" dirty="0"/>
              <a:t>W</a:t>
            </a:r>
            <a:r>
              <a:rPr lang="en-US" altLang="zh-CN" sz="1600" i="1" baseline="-25000" dirty="0"/>
              <a:t>k</a:t>
            </a:r>
            <a:r>
              <a:rPr lang="en-US" altLang="zh-CN" sz="1600" baseline="-25000" dirty="0"/>
              <a:t>-1</a:t>
            </a:r>
            <a:r>
              <a:rPr lang="en-US" altLang="zh-CN" sz="1600" dirty="0"/>
              <a:t>, where the entry is 1 </a:t>
            </a:r>
            <a:endParaRPr lang="en-US" altLang="zh-CN" sz="1600" dirty="0"/>
          </a:p>
          <a:p>
            <a:pPr lvl="1"/>
            <a:r>
              <a:rPr lang="en-US" altLang="zh-CN" sz="1600" dirty="0"/>
              <a:t>List the locations </a:t>
            </a:r>
            <a:r>
              <a:rPr lang="en-US" altLang="zh-CN" sz="1600" i="1" dirty="0"/>
              <a:t>q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, </a:t>
            </a:r>
            <a:r>
              <a:rPr lang="en-US" altLang="zh-CN" sz="1600" i="1" dirty="0"/>
              <a:t>q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, …, in row </a:t>
            </a:r>
            <a:r>
              <a:rPr lang="en-US" altLang="zh-CN" sz="1600" i="1" dirty="0"/>
              <a:t>k</a:t>
            </a:r>
            <a:r>
              <a:rPr lang="en-US" altLang="zh-CN" sz="1600" dirty="0"/>
              <a:t> of </a:t>
            </a:r>
            <a:r>
              <a:rPr lang="en-US" altLang="zh-CN" sz="1600" i="1" dirty="0"/>
              <a:t>W</a:t>
            </a:r>
            <a:r>
              <a:rPr lang="en-US" altLang="zh-CN" sz="1600" i="1" baseline="-25000" dirty="0"/>
              <a:t>k</a:t>
            </a:r>
            <a:r>
              <a:rPr lang="en-US" altLang="zh-CN" sz="1600" baseline="-25000" dirty="0"/>
              <a:t>-1</a:t>
            </a:r>
            <a:r>
              <a:rPr lang="en-US" altLang="zh-CN" sz="1600" dirty="0"/>
              <a:t>, where the entry is 1</a:t>
            </a:r>
            <a:endParaRPr lang="en-US" altLang="zh-CN" sz="1600" dirty="0"/>
          </a:p>
          <a:p>
            <a:r>
              <a:rPr lang="en-US" altLang="zh-CN" sz="2000" i="1" dirty="0">
                <a:solidFill>
                  <a:schemeClr val="hlink"/>
                </a:solidFill>
              </a:rPr>
              <a:t>Step3</a:t>
            </a:r>
            <a:r>
              <a:rPr lang="en-US" altLang="zh-CN" sz="2000" dirty="0"/>
              <a:t>: </a:t>
            </a:r>
            <a:endParaRPr lang="en-US" altLang="zh-CN" sz="2000" dirty="0"/>
          </a:p>
          <a:p>
            <a:pPr lvl="1"/>
            <a:r>
              <a:rPr lang="en-US" altLang="zh-CN" sz="1600" dirty="0"/>
              <a:t>Put 1’s in all the positions </a:t>
            </a:r>
            <a:r>
              <a:rPr lang="en-US" altLang="zh-CN" sz="1600" i="1" dirty="0"/>
              <a:t>p</a:t>
            </a:r>
            <a:r>
              <a:rPr lang="en-US" altLang="zh-CN" sz="1600" i="1" baseline="-25000" dirty="0"/>
              <a:t>i</a:t>
            </a:r>
            <a:r>
              <a:rPr lang="en-US" altLang="zh-CN" sz="1600" dirty="0"/>
              <a:t>, </a:t>
            </a:r>
            <a:r>
              <a:rPr lang="en-US" altLang="zh-CN" sz="1600" i="1" dirty="0" err="1"/>
              <a:t>q</a:t>
            </a:r>
            <a:r>
              <a:rPr lang="en-US" altLang="zh-CN" sz="1600" i="1" baseline="-25000" dirty="0" err="1"/>
              <a:t>j</a:t>
            </a:r>
            <a:r>
              <a:rPr lang="en-US" altLang="zh-CN" sz="1600" dirty="0"/>
              <a:t> of </a:t>
            </a:r>
            <a:r>
              <a:rPr lang="en-US" altLang="zh-CN" sz="1600" i="1" dirty="0" err="1"/>
              <a:t>W</a:t>
            </a:r>
            <a:r>
              <a:rPr lang="en-US" altLang="zh-CN" sz="1600" i="1" baseline="-25000" dirty="0" err="1"/>
              <a:t>k</a:t>
            </a:r>
            <a:r>
              <a:rPr lang="en-US" altLang="zh-CN" sz="1600" dirty="0"/>
              <a:t> (if they are not already there)</a:t>
            </a:r>
            <a:endParaRPr lang="en-US" altLang="zh-CN" sz="1600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1635707" y="3385267"/>
          <a:ext cx="340744" cy="336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name="Equation" r:id="rId1" imgW="292100" imgH="228600" progId="Equation.DSMT4">
                  <p:embed/>
                </p:oleObj>
              </mc:Choice>
              <mc:Fallback>
                <p:oleObj name="Equation" r:id="rId1" imgW="292100" imgH="228600" progId="Equation.DSMT4">
                  <p:embed/>
                  <p:pic>
                    <p:nvPicPr>
                      <p:cNvPr id="0" name="图片 2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707" y="3385267"/>
                        <a:ext cx="340744" cy="336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9.5 Equivalence Relations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A relation </a:t>
            </a:r>
            <a:r>
              <a:rPr lang="en-US" altLang="zh-CN" i="1" dirty="0"/>
              <a:t>R </a:t>
            </a:r>
            <a:r>
              <a:rPr lang="en-US" altLang="zh-CN" dirty="0"/>
              <a:t>on a set </a:t>
            </a:r>
            <a:r>
              <a:rPr lang="en-US" altLang="zh-CN" i="1" dirty="0"/>
              <a:t>A </a:t>
            </a:r>
            <a:r>
              <a:rPr lang="en-US" altLang="zh-CN" dirty="0"/>
              <a:t>is an </a:t>
            </a:r>
            <a:r>
              <a:rPr lang="en-US" altLang="zh-CN" i="1" dirty="0">
                <a:solidFill>
                  <a:schemeClr val="hlink"/>
                </a:solidFill>
              </a:rPr>
              <a:t>equivalence relation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等价关系</a:t>
            </a:r>
            <a:r>
              <a:rPr lang="en-US" altLang="zh-CN" dirty="0"/>
              <a:t>) </a:t>
            </a:r>
            <a:r>
              <a:rPr lang="en-US" altLang="zh-CN" dirty="0" err="1"/>
              <a:t>iff</a:t>
            </a:r>
            <a:r>
              <a:rPr lang="en-US" altLang="zh-CN" dirty="0"/>
              <a:t> </a:t>
            </a:r>
            <a:r>
              <a:rPr lang="en-US" altLang="zh-CN" i="1" dirty="0"/>
              <a:t>R </a:t>
            </a:r>
            <a:r>
              <a:rPr lang="en-US" altLang="zh-CN" dirty="0"/>
              <a:t>is</a:t>
            </a:r>
            <a:endParaRPr lang="en-US" altLang="zh-CN" dirty="0"/>
          </a:p>
          <a:p>
            <a:pPr lvl="1"/>
            <a:r>
              <a:rPr lang="en-US" altLang="zh-CN" i="1" dirty="0"/>
              <a:t>reflexive</a:t>
            </a:r>
            <a:endParaRPr lang="en-US" altLang="zh-CN" i="1" dirty="0"/>
          </a:p>
          <a:p>
            <a:pPr lvl="1"/>
            <a:r>
              <a:rPr lang="en-US" altLang="zh-CN" i="1" dirty="0"/>
              <a:t>symmetric</a:t>
            </a:r>
            <a:endParaRPr lang="en-US" altLang="zh-CN" i="1" dirty="0"/>
          </a:p>
          <a:p>
            <a:pPr lvl="1"/>
            <a:r>
              <a:rPr lang="en-US" altLang="zh-CN" i="1" dirty="0"/>
              <a:t>transitive</a:t>
            </a:r>
            <a:endParaRPr lang="en-US" altLang="zh-CN" i="1" dirty="0"/>
          </a:p>
          <a:p>
            <a:r>
              <a:rPr lang="en-US" altLang="zh-CN" i="1" dirty="0">
                <a:solidFill>
                  <a:schemeClr val="hlink"/>
                </a:solidFill>
              </a:rPr>
              <a:t>equivalence </a:t>
            </a:r>
            <a:r>
              <a:rPr lang="en-US" altLang="zh-CN" i="1" dirty="0" smtClean="0">
                <a:solidFill>
                  <a:schemeClr val="hlink"/>
                </a:solidFill>
              </a:rPr>
              <a:t>class</a:t>
            </a:r>
            <a:endParaRPr lang="en-US" altLang="zh-CN" i="1" dirty="0" smtClean="0">
              <a:solidFill>
                <a:schemeClr val="hlink"/>
              </a:solidFill>
            </a:endParaRPr>
          </a:p>
          <a:p>
            <a:r>
              <a:rPr lang="en-US" altLang="zh-CN" dirty="0"/>
              <a:t>Let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be a partition of a set </a:t>
            </a:r>
            <a:r>
              <a:rPr lang="en-US" altLang="zh-CN" i="1" dirty="0"/>
              <a:t>A</a:t>
            </a:r>
            <a:r>
              <a:rPr lang="en-US" altLang="zh-CN" dirty="0"/>
              <a:t>. Define the relation </a:t>
            </a:r>
            <a:r>
              <a:rPr lang="en-US" altLang="zh-CN" i="1" dirty="0"/>
              <a:t>R</a:t>
            </a:r>
            <a:r>
              <a:rPr lang="en-US" altLang="zh-CN" dirty="0"/>
              <a:t> on </a:t>
            </a:r>
            <a:r>
              <a:rPr lang="en-US" altLang="zh-CN" i="1" dirty="0"/>
              <a:t>A</a:t>
            </a:r>
            <a:r>
              <a:rPr lang="en-US" altLang="zh-CN" dirty="0"/>
              <a:t> as follows:</a:t>
            </a:r>
            <a:endParaRPr lang="en-US" altLang="zh-CN" dirty="0"/>
          </a:p>
          <a:p>
            <a:pPr lvl="1"/>
            <a:r>
              <a:rPr lang="en-US" altLang="zh-CN" i="1" dirty="0"/>
              <a:t>a R </a:t>
            </a:r>
            <a:r>
              <a:rPr lang="en-US" altLang="zh-CN" i="1" dirty="0" smtClean="0"/>
              <a:t>b  </a:t>
            </a:r>
            <a:r>
              <a:rPr lang="en-US" altLang="zh-CN" dirty="0" smtClean="0"/>
              <a:t>If </a:t>
            </a:r>
            <a:r>
              <a:rPr lang="en-US" altLang="zh-CN" dirty="0"/>
              <a:t>and only </a:t>
            </a:r>
            <a:r>
              <a:rPr lang="en-US" altLang="zh-CN" dirty="0" smtClean="0"/>
              <a:t>if 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</a:t>
            </a:r>
            <a:r>
              <a:rPr lang="en-US" altLang="zh-CN" dirty="0"/>
              <a:t>and </a:t>
            </a:r>
            <a:r>
              <a:rPr lang="en-US" altLang="zh-CN" i="1" dirty="0"/>
              <a:t>b</a:t>
            </a:r>
            <a:r>
              <a:rPr lang="en-US" altLang="zh-CN" dirty="0"/>
              <a:t> are members of the same </a:t>
            </a:r>
            <a:r>
              <a:rPr lang="en-US" altLang="zh-CN" dirty="0" smtClean="0"/>
              <a:t>block.</a:t>
            </a:r>
            <a:endParaRPr lang="en-US" altLang="zh-CN" dirty="0" smtClean="0"/>
          </a:p>
          <a:p>
            <a:r>
              <a:rPr lang="en-US" altLang="zh-CN" dirty="0" smtClean="0"/>
              <a:t>Then 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is an equivalence relation on </a:t>
            </a:r>
            <a:r>
              <a:rPr lang="en-US" altLang="zh-CN" i="1" dirty="0" smtClean="0"/>
              <a:t>A</a:t>
            </a:r>
            <a:endParaRPr lang="en-US" altLang="zh-CN" i="1" dirty="0" smtClean="0"/>
          </a:p>
          <a:p>
            <a:endParaRPr lang="en-US" altLang="zh-CN" i="1" dirty="0" smtClean="0"/>
          </a:p>
          <a:p>
            <a:r>
              <a:rPr lang="en-US" altLang="zh-CN" dirty="0"/>
              <a:t>Let </a:t>
            </a:r>
            <a:r>
              <a:rPr lang="en-US" altLang="zh-CN" i="1" dirty="0"/>
              <a:t>R</a:t>
            </a:r>
            <a:r>
              <a:rPr lang="en-US" altLang="zh-CN" dirty="0"/>
              <a:t> be an equivalence relation on </a:t>
            </a:r>
            <a:r>
              <a:rPr lang="en-US" altLang="zh-CN" i="1" dirty="0"/>
              <a:t>A</a:t>
            </a:r>
            <a:r>
              <a:rPr lang="en-US" altLang="zh-CN" dirty="0"/>
              <a:t>, and let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be the collection of all distinct relative sets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for </a:t>
            </a:r>
            <a:r>
              <a:rPr lang="en-US" altLang="zh-CN" i="1" dirty="0"/>
              <a:t>a</a:t>
            </a:r>
            <a:r>
              <a:rPr lang="en-US" altLang="zh-CN" dirty="0"/>
              <a:t> in </a:t>
            </a:r>
            <a:r>
              <a:rPr lang="en-US" altLang="zh-CN" i="1" dirty="0"/>
              <a:t>A</a:t>
            </a:r>
            <a:r>
              <a:rPr lang="en-US" altLang="zh-CN" dirty="0"/>
              <a:t>. </a:t>
            </a:r>
            <a:endParaRPr lang="en-US" altLang="zh-CN" dirty="0"/>
          </a:p>
          <a:p>
            <a:r>
              <a:rPr lang="en-US" altLang="zh-CN" dirty="0"/>
              <a:t>Then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r>
              <a:rPr lang="en-US" altLang="zh-CN" dirty="0"/>
              <a:t> is a partition of </a:t>
            </a:r>
            <a:r>
              <a:rPr lang="en-US" altLang="zh-CN" i="1" dirty="0"/>
              <a:t>A</a:t>
            </a:r>
            <a:r>
              <a:rPr lang="en-US" altLang="zh-CN" dirty="0"/>
              <a:t>, and </a:t>
            </a:r>
            <a:r>
              <a:rPr lang="en-US" altLang="zh-CN" i="1" dirty="0"/>
              <a:t>R</a:t>
            </a:r>
            <a:r>
              <a:rPr lang="en-US" altLang="zh-CN" dirty="0"/>
              <a:t> is the equivalence relation determined by </a:t>
            </a:r>
            <a:r>
              <a:rPr lang="en-US" altLang="zh-CN" dirty="0">
                <a:latin typeface="Euclid Math One" panose="05050601010101010101" pitchFamily="18" charset="2"/>
              </a:rPr>
              <a:t>P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9.6  Partial Orderings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42473"/>
            <a:ext cx="10515600" cy="4634490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dirty="0" smtClean="0"/>
              <a:t>A relation 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on a set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is called a </a:t>
            </a:r>
            <a:r>
              <a:rPr lang="en-US" altLang="zh-CN" i="1" dirty="0" smtClean="0">
                <a:solidFill>
                  <a:schemeClr val="hlink"/>
                </a:solidFill>
              </a:rPr>
              <a:t>partial order</a:t>
            </a:r>
            <a:r>
              <a:rPr lang="en-US" altLang="zh-CN" dirty="0" smtClean="0"/>
              <a:t> if 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is reflexive（</a:t>
            </a:r>
            <a:r>
              <a:rPr lang="zh-CN" altLang="en-US" dirty="0" smtClean="0"/>
              <a:t>自反）, </a:t>
            </a:r>
            <a:r>
              <a:rPr lang="en-US" altLang="zh-CN" dirty="0" err="1" smtClean="0"/>
              <a:t>antisymmetric</a:t>
            </a:r>
            <a:r>
              <a:rPr lang="en-US" altLang="zh-CN" dirty="0" smtClean="0"/>
              <a:t>（</a:t>
            </a:r>
            <a:r>
              <a:rPr lang="zh-CN" altLang="en-US" dirty="0" smtClean="0"/>
              <a:t>反对称）, </a:t>
            </a:r>
            <a:r>
              <a:rPr lang="en-US" altLang="zh-CN" dirty="0" smtClean="0"/>
              <a:t>and transitive（</a:t>
            </a:r>
            <a:r>
              <a:rPr lang="zh-CN" altLang="en-US" dirty="0" smtClean="0"/>
              <a:t>传递）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If every pair of elements in a </a:t>
            </a:r>
            <a:r>
              <a:rPr lang="en-US" altLang="zh-CN" dirty="0" err="1" smtClean="0"/>
              <a:t>poset</a:t>
            </a:r>
            <a:r>
              <a:rPr lang="en-US" altLang="zh-CN" dirty="0" smtClean="0"/>
              <a:t>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is comparable, we say that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is a </a:t>
            </a:r>
            <a:r>
              <a:rPr lang="en-US" altLang="zh-CN" i="1" dirty="0" smtClean="0">
                <a:solidFill>
                  <a:schemeClr val="hlink"/>
                </a:solidFill>
              </a:rPr>
              <a:t>linearly ordered </a:t>
            </a:r>
            <a:r>
              <a:rPr lang="en-US" altLang="zh-CN" i="1" dirty="0" err="1" smtClean="0">
                <a:solidFill>
                  <a:schemeClr val="hlink"/>
                </a:solidFill>
              </a:rPr>
              <a:t>set（or</a:t>
            </a:r>
            <a:r>
              <a:rPr lang="en-US" altLang="zh-CN" i="1" dirty="0" smtClean="0">
                <a:solidFill>
                  <a:schemeClr val="hlink"/>
                </a:solidFill>
              </a:rPr>
              <a:t> totally ordered)</a:t>
            </a:r>
            <a:r>
              <a:rPr lang="en-US" altLang="zh-CN" dirty="0" smtClean="0"/>
              <a:t>, and the partial order is called a </a:t>
            </a:r>
            <a:r>
              <a:rPr lang="en-US" altLang="zh-CN" i="1" dirty="0" smtClean="0">
                <a:solidFill>
                  <a:schemeClr val="hlink"/>
                </a:solidFill>
              </a:rPr>
              <a:t>linear order.</a:t>
            </a:r>
            <a:r>
              <a:rPr lang="zh-CN" altLang="en-US" dirty="0" smtClean="0"/>
              <a:t> </a:t>
            </a:r>
            <a:r>
              <a:rPr lang="en-US" altLang="zh-CN" dirty="0" smtClean="0"/>
              <a:t>We also say that A is a </a:t>
            </a:r>
            <a:r>
              <a:rPr lang="en-US" altLang="zh-CN" i="1" dirty="0" smtClean="0">
                <a:solidFill>
                  <a:schemeClr val="hlink"/>
                </a:solidFill>
              </a:rPr>
              <a:t>chain</a:t>
            </a:r>
            <a:r>
              <a:rPr lang="zh-CN" altLang="en-US" dirty="0" smtClean="0"/>
              <a:t>.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A relation</a:t>
            </a:r>
            <a:r>
              <a:rPr lang="en-US" altLang="zh-CN" i="1" dirty="0" smtClean="0"/>
              <a:t> R </a:t>
            </a:r>
            <a:r>
              <a:rPr lang="en-US" altLang="zh-CN" dirty="0" smtClean="0"/>
              <a:t>on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a set</a:t>
            </a:r>
            <a:r>
              <a:rPr lang="en-US" altLang="zh-CN" i="1" dirty="0" smtClean="0"/>
              <a:t> A </a:t>
            </a:r>
            <a:r>
              <a:rPr lang="en-US" altLang="zh-CN" dirty="0" smtClean="0"/>
              <a:t>is called </a:t>
            </a:r>
            <a:r>
              <a:rPr lang="en-US" altLang="zh-CN" i="1" dirty="0" err="1" smtClean="0">
                <a:solidFill>
                  <a:schemeClr val="hlink"/>
                </a:solidFill>
              </a:rPr>
              <a:t>quasiorder</a:t>
            </a:r>
            <a:r>
              <a:rPr lang="en-US" altLang="zh-CN" dirty="0" smtClean="0"/>
              <a:t> if it is </a:t>
            </a:r>
            <a:r>
              <a:rPr lang="en-US" altLang="zh-CN" i="1" dirty="0" smtClean="0">
                <a:solidFill>
                  <a:schemeClr val="folHlink"/>
                </a:solidFill>
              </a:rPr>
              <a:t>transitive</a:t>
            </a:r>
            <a:r>
              <a:rPr lang="en-US" altLang="zh-CN" dirty="0" smtClean="0"/>
              <a:t> and </a:t>
            </a:r>
            <a:r>
              <a:rPr lang="en-US" altLang="zh-CN" i="1" dirty="0" err="1" smtClean="0">
                <a:solidFill>
                  <a:schemeClr val="folHlink"/>
                </a:solidFill>
              </a:rPr>
              <a:t>irreflexive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If (A,</a:t>
            </a:r>
            <a:r>
              <a:rPr lang="en-US" altLang="zh-CN" dirty="0" smtClean="0">
                <a:sym typeface="Symbol" panose="05050102010706020507" pitchFamily="18" charset="2"/>
              </a:rPr>
              <a:t></a:t>
            </a:r>
            <a:r>
              <a:rPr lang="en-US" altLang="zh-CN" dirty="0" smtClean="0"/>
              <a:t>) and (B,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) </a:t>
            </a:r>
            <a:r>
              <a:rPr lang="en-US" altLang="zh-CN" dirty="0" smtClean="0"/>
              <a:t>are </a:t>
            </a:r>
            <a:r>
              <a:rPr lang="en-US" altLang="zh-CN" dirty="0" err="1" smtClean="0"/>
              <a:t>posets,then</a:t>
            </a:r>
            <a:r>
              <a:rPr lang="en-US" altLang="zh-CN" dirty="0" smtClean="0"/>
              <a:t> </a:t>
            </a:r>
            <a:r>
              <a:rPr lang="en-US" altLang="zh-CN" dirty="0"/>
              <a:t>(</a:t>
            </a:r>
            <a:r>
              <a:rPr lang="en-US" altLang="zh-CN" dirty="0" smtClean="0"/>
              <a:t>A</a:t>
            </a:r>
            <a:r>
              <a:rPr lang="en-US" altLang="zh-CN" dirty="0" smtClean="0">
                <a:sym typeface="Symbol" panose="05050102010706020507" pitchFamily="18" charset="2"/>
              </a:rPr>
              <a:t>B</a:t>
            </a:r>
            <a:r>
              <a:rPr lang="en-US" altLang="zh-CN" dirty="0" smtClean="0"/>
              <a:t>,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 smtClean="0"/>
              <a:t>) is a </a:t>
            </a:r>
            <a:r>
              <a:rPr lang="en-US" altLang="zh-CN" dirty="0" err="1" smtClean="0"/>
              <a:t>poset,with</a:t>
            </a:r>
            <a:r>
              <a:rPr lang="en-US" altLang="zh-CN" dirty="0" smtClean="0"/>
              <a:t> partial order </a:t>
            </a:r>
            <a:r>
              <a:rPr lang="en-US" altLang="zh-CN" dirty="0" smtClean="0">
                <a:sym typeface="Symbol" panose="05050102010706020507" pitchFamily="18" charset="2"/>
              </a:rPr>
              <a:t> define by </a:t>
            </a:r>
            <a:endParaRPr lang="en-US" altLang="zh-CN" dirty="0" smtClean="0">
              <a:sym typeface="Symbol" panose="05050102010706020507" pitchFamily="18" charset="2"/>
            </a:endParaRPr>
          </a:p>
          <a:p>
            <a:pPr lvl="1"/>
            <a:endParaRPr lang="en-US" altLang="zh-CN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This </a:t>
            </a:r>
            <a:r>
              <a:rPr lang="en-US" altLang="zh-CN" dirty="0"/>
              <a:t>ordering is called </a:t>
            </a:r>
            <a:r>
              <a:rPr lang="en-US" altLang="zh-CN" i="1" dirty="0">
                <a:solidFill>
                  <a:schemeClr val="hlink"/>
                </a:solidFill>
              </a:rPr>
              <a:t>product partial order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If </a:t>
            </a:r>
            <a:r>
              <a:rPr lang="en-US" altLang="zh-CN" dirty="0"/>
              <a:t>(A,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) and (B,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) are </a:t>
            </a:r>
            <a:r>
              <a:rPr lang="en-US" altLang="zh-CN" dirty="0" err="1"/>
              <a:t>posets,then</a:t>
            </a:r>
            <a:r>
              <a:rPr lang="en-US" altLang="zh-CN" dirty="0"/>
              <a:t> (A</a:t>
            </a:r>
            <a:r>
              <a:rPr lang="en-US" altLang="zh-CN" dirty="0">
                <a:sym typeface="Symbol" panose="05050102010706020507" pitchFamily="18" charset="2"/>
              </a:rPr>
              <a:t>B</a:t>
            </a:r>
            <a:r>
              <a:rPr lang="en-US" altLang="zh-CN" dirty="0" smtClean="0"/>
              <a:t>,   ) </a:t>
            </a:r>
            <a:r>
              <a:rPr lang="en-US" altLang="zh-CN" dirty="0"/>
              <a:t>is a </a:t>
            </a:r>
            <a:r>
              <a:rPr lang="en-US" altLang="zh-CN" dirty="0" err="1"/>
              <a:t>poset,with</a:t>
            </a:r>
            <a:r>
              <a:rPr lang="en-US" altLang="zh-CN" dirty="0"/>
              <a:t> partial order </a:t>
            </a:r>
            <a:r>
              <a:rPr lang="en-US" altLang="zh-CN" dirty="0" smtClean="0"/>
              <a:t>    </a:t>
            </a:r>
            <a:r>
              <a:rPr lang="en-US" altLang="zh-CN" dirty="0" smtClean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define by </a:t>
            </a:r>
            <a:endParaRPr lang="en-US" altLang="zh-CN" dirty="0" smtClean="0">
              <a:sym typeface="Symbol" panose="05050102010706020507" pitchFamily="18" charset="2"/>
            </a:endParaRPr>
          </a:p>
          <a:p>
            <a:pPr lvl="1"/>
            <a:endParaRPr lang="en-US" altLang="zh-CN" dirty="0">
              <a:sym typeface="Symbol" panose="05050102010706020507" pitchFamily="18" charset="2"/>
            </a:endParaRPr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     This </a:t>
            </a:r>
            <a:r>
              <a:rPr lang="en-US" altLang="zh-CN" dirty="0"/>
              <a:t>ordering is called </a:t>
            </a:r>
            <a:r>
              <a:rPr lang="en-US" altLang="zh-CN" i="1" dirty="0">
                <a:solidFill>
                  <a:schemeClr val="hlink"/>
                </a:solidFill>
              </a:rPr>
              <a:t>lexicographic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or </a:t>
            </a:r>
            <a:r>
              <a:rPr lang="en-US" altLang="zh-CN" i="1" dirty="0">
                <a:solidFill>
                  <a:schemeClr val="hlink"/>
                </a:solidFill>
              </a:rPr>
              <a:t>“dictionary” order</a:t>
            </a:r>
            <a:r>
              <a:rPr lang="en-US" altLang="zh-CN" dirty="0"/>
              <a:t>. </a:t>
            </a:r>
            <a:endParaRPr lang="zh-CN" altLang="en-US" dirty="0"/>
          </a:p>
          <a:p>
            <a:pPr lvl="1"/>
            <a:endParaRPr lang="en-US" altLang="zh-CN" dirty="0" smtClean="0"/>
          </a:p>
          <a:p>
            <a:r>
              <a:rPr lang="en-US" altLang="zh-CN" dirty="0" err="1" smtClean="0"/>
              <a:t>Hasse</a:t>
            </a:r>
            <a:r>
              <a:rPr lang="en-US" altLang="zh-CN" dirty="0" smtClean="0"/>
              <a:t> Diagram</a:t>
            </a:r>
            <a:r>
              <a:rPr lang="zh-CN" altLang="en-US" dirty="0" smtClean="0"/>
              <a:t>（哈斯图）</a:t>
            </a:r>
            <a:endParaRPr lang="zh-CN" altLang="en-US" dirty="0" smtClean="0"/>
          </a:p>
          <a:p>
            <a:r>
              <a:rPr lang="en-US" altLang="zh-CN" dirty="0" smtClean="0"/>
              <a:t>Topological Sorting</a:t>
            </a:r>
            <a:r>
              <a:rPr lang="zh-CN" altLang="en-US" dirty="0" smtClean="0"/>
              <a:t>（拓扑排序）</a:t>
            </a:r>
            <a:endParaRPr lang="zh-CN" altLang="en-US" dirty="0" smtClean="0"/>
          </a:p>
          <a:p>
            <a:r>
              <a:rPr lang="en-US" altLang="zh-CN" dirty="0" smtClean="0"/>
              <a:t>Isomorphism</a:t>
            </a:r>
            <a:r>
              <a:rPr lang="zh-CN" altLang="en-US" dirty="0" smtClean="0"/>
              <a:t>（同构）</a:t>
            </a:r>
            <a:endParaRPr lang="zh-CN" altLang="en-US" dirty="0" smtClean="0"/>
          </a:p>
          <a:p>
            <a:r>
              <a:rPr lang="en-US" altLang="zh-CN" dirty="0" smtClean="0"/>
              <a:t>Principle of Correspondence</a:t>
            </a:r>
            <a:r>
              <a:rPr lang="zh-CN" altLang="en-US" dirty="0" smtClean="0"/>
              <a:t>（对应原理）</a:t>
            </a:r>
            <a:endParaRPr lang="zh-CN" altLang="en-US" dirty="0" smtClean="0"/>
          </a:p>
          <a:p>
            <a:endParaRPr lang="zh-CN" alt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568018" y="3859718"/>
          <a:ext cx="4075400" cy="357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Equation" r:id="rId1" imgW="55473600" imgH="4876800" progId="Equation.DSMT4">
                  <p:embed/>
                </p:oleObj>
              </mc:Choice>
              <mc:Fallback>
                <p:oleObj name="Equation" r:id="rId1" imgW="55473600" imgH="4876800" progId="Equation.DSMT4">
                  <p:embed/>
                  <p:pic>
                    <p:nvPicPr>
                      <p:cNvPr id="0" name="图片 32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018" y="3859718"/>
                        <a:ext cx="4075400" cy="357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539031" y="2808413"/>
          <a:ext cx="4030496" cy="33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Equation" r:id="rId3" imgW="57912000" imgH="4876800" progId="Equation.DSMT4">
                  <p:embed/>
                </p:oleObj>
              </mc:Choice>
              <mc:Fallback>
                <p:oleObj name="Equation" r:id="rId3" imgW="57912000" imgH="4876800" progId="Equation.DSMT4">
                  <p:embed/>
                  <p:pic>
                    <p:nvPicPr>
                      <p:cNvPr id="0" name="图片 32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031" y="2808413"/>
                        <a:ext cx="4030496" cy="33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85275" y="3539473"/>
          <a:ext cx="1397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Equation" r:id="rId5" imgW="3352800" imgH="3352800" progId="Equation.DSMT4">
                  <p:embed/>
                </p:oleObj>
              </mc:Choice>
              <mc:Fallback>
                <p:oleObj name="Equation" r:id="rId5" imgW="3352800" imgH="3352800" progId="Equation.DSMT4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5275" y="3539473"/>
                        <a:ext cx="1397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997690" y="3539977"/>
          <a:ext cx="1397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Equation" r:id="rId7" imgW="3352800" imgH="3352800" progId="Equation.DSMT4">
                  <p:embed/>
                </p:oleObj>
              </mc:Choice>
              <mc:Fallback>
                <p:oleObj name="Equation" r:id="rId7" imgW="3352800" imgH="3352800" progId="Equation.DSMT4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97690" y="3539977"/>
                        <a:ext cx="1397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9.6  Partial Orderings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err="1"/>
              <a:t>Extremal</a:t>
            </a:r>
            <a:r>
              <a:rPr lang="en-US" altLang="zh-CN" dirty="0"/>
              <a:t> elements</a:t>
            </a:r>
            <a:endParaRPr lang="en-US" altLang="zh-CN" i="1" dirty="0" smtClean="0">
              <a:solidFill>
                <a:schemeClr val="folHlink"/>
              </a:solidFill>
            </a:endParaRPr>
          </a:p>
          <a:p>
            <a:pPr lvl="1"/>
            <a:r>
              <a:rPr lang="en-US" altLang="zh-CN" i="1" dirty="0" smtClean="0">
                <a:solidFill>
                  <a:schemeClr val="folHlink"/>
                </a:solidFill>
              </a:rPr>
              <a:t>maximal </a:t>
            </a:r>
            <a:r>
              <a:rPr lang="en-US" altLang="zh-CN" i="1" dirty="0">
                <a:solidFill>
                  <a:schemeClr val="folHlink"/>
                </a:solidFill>
              </a:rPr>
              <a:t>element（</a:t>
            </a:r>
            <a:r>
              <a:rPr lang="zh-CN" altLang="en-US" i="1" dirty="0">
                <a:solidFill>
                  <a:schemeClr val="folHlink"/>
                </a:solidFill>
              </a:rPr>
              <a:t>极大元）</a:t>
            </a:r>
            <a:endParaRPr lang="zh-CN" altLang="en-US" i="1" dirty="0">
              <a:solidFill>
                <a:schemeClr val="folHlink"/>
              </a:solidFill>
            </a:endParaRPr>
          </a:p>
          <a:p>
            <a:pPr lvl="1"/>
            <a:r>
              <a:rPr lang="en-US" altLang="zh-CN" i="1" dirty="0">
                <a:solidFill>
                  <a:schemeClr val="folHlink"/>
                </a:solidFill>
              </a:rPr>
              <a:t>minimal element（</a:t>
            </a:r>
            <a:r>
              <a:rPr lang="zh-CN" altLang="en-US" i="1" dirty="0">
                <a:solidFill>
                  <a:schemeClr val="folHlink"/>
                </a:solidFill>
              </a:rPr>
              <a:t>极小元）</a:t>
            </a:r>
            <a:endParaRPr lang="zh-CN" altLang="en-US" i="1" dirty="0">
              <a:solidFill>
                <a:schemeClr val="folHlink"/>
              </a:solidFill>
            </a:endParaRPr>
          </a:p>
          <a:p>
            <a:pPr lvl="1"/>
            <a:r>
              <a:rPr lang="en-US" altLang="zh-CN" i="1" dirty="0">
                <a:solidFill>
                  <a:schemeClr val="folHlink"/>
                </a:solidFill>
              </a:rPr>
              <a:t>greatest element（</a:t>
            </a:r>
            <a:r>
              <a:rPr lang="zh-CN" altLang="en-US" i="1" dirty="0">
                <a:solidFill>
                  <a:schemeClr val="folHlink"/>
                </a:solidFill>
              </a:rPr>
              <a:t>最大元）</a:t>
            </a:r>
            <a:endParaRPr lang="zh-CN" altLang="en-US" i="1" dirty="0">
              <a:solidFill>
                <a:schemeClr val="folHlink"/>
              </a:solidFill>
            </a:endParaRPr>
          </a:p>
          <a:p>
            <a:pPr lvl="1"/>
            <a:r>
              <a:rPr lang="en-US" altLang="zh-CN" i="1" dirty="0" smtClean="0">
                <a:solidFill>
                  <a:schemeClr val="folHlink"/>
                </a:solidFill>
              </a:rPr>
              <a:t>least </a:t>
            </a:r>
            <a:r>
              <a:rPr lang="en-US" altLang="zh-CN" i="1" dirty="0">
                <a:solidFill>
                  <a:schemeClr val="folHlink"/>
                </a:solidFill>
              </a:rPr>
              <a:t>element（</a:t>
            </a:r>
            <a:r>
              <a:rPr lang="zh-CN" altLang="en-US" i="1" dirty="0">
                <a:solidFill>
                  <a:schemeClr val="folHlink"/>
                </a:solidFill>
              </a:rPr>
              <a:t>最小元）</a:t>
            </a:r>
            <a:endParaRPr lang="zh-CN" altLang="en-US" i="1" dirty="0">
              <a:solidFill>
                <a:schemeClr val="folHlink"/>
              </a:solidFill>
            </a:endParaRPr>
          </a:p>
          <a:p>
            <a:pPr lvl="1"/>
            <a:r>
              <a:rPr lang="en-US" altLang="zh-CN" dirty="0" smtClean="0"/>
              <a:t>An element </a:t>
            </a:r>
            <a:r>
              <a:rPr lang="en-US" altLang="zh-CN" i="1" dirty="0" smtClean="0"/>
              <a:t>a </a:t>
            </a:r>
            <a:r>
              <a:rPr lang="en-US" altLang="zh-CN" dirty="0" smtClean="0">
                <a:sym typeface="Symbol" panose="05050102010706020507" pitchFamily="18" charset="2"/>
              </a:rPr>
              <a:t></a:t>
            </a:r>
            <a:r>
              <a:rPr lang="en-US" altLang="zh-CN" i="1" dirty="0" smtClean="0"/>
              <a:t> A</a:t>
            </a:r>
            <a:r>
              <a:rPr lang="en-US" altLang="zh-CN" dirty="0" smtClean="0"/>
              <a:t> is called a </a:t>
            </a:r>
            <a:r>
              <a:rPr lang="en-US" altLang="zh-CN" i="1" dirty="0" smtClean="0">
                <a:solidFill>
                  <a:schemeClr val="hlink"/>
                </a:solidFill>
              </a:rPr>
              <a:t>upper bound（</a:t>
            </a:r>
            <a:r>
              <a:rPr lang="zh-CN" altLang="en-US" i="1" dirty="0" smtClean="0">
                <a:solidFill>
                  <a:schemeClr val="hlink"/>
                </a:solidFill>
              </a:rPr>
              <a:t>上界）</a:t>
            </a:r>
            <a:r>
              <a:rPr lang="zh-CN" altLang="en-US" dirty="0" smtClean="0"/>
              <a:t> </a:t>
            </a:r>
            <a:r>
              <a:rPr lang="en-US" altLang="zh-CN" dirty="0" smtClean="0"/>
              <a:t>of </a:t>
            </a:r>
            <a:r>
              <a:rPr lang="en-US" altLang="zh-CN" i="1" dirty="0" smtClean="0"/>
              <a:t>B</a:t>
            </a:r>
            <a:r>
              <a:rPr lang="en-US" altLang="zh-CN" dirty="0" smtClean="0"/>
              <a:t>  if </a:t>
            </a:r>
            <a:r>
              <a:rPr lang="en-US" altLang="zh-CN" i="1" dirty="0" err="1" smtClean="0"/>
              <a:t>b</a:t>
            </a:r>
            <a:r>
              <a:rPr lang="en-US" altLang="zh-CN" dirty="0" err="1" smtClean="0"/>
              <a:t>≤</a:t>
            </a:r>
            <a:r>
              <a:rPr lang="en-US" altLang="zh-CN" i="1" dirty="0" err="1" smtClean="0"/>
              <a:t>a</a:t>
            </a:r>
            <a:r>
              <a:rPr lang="en-US" altLang="zh-CN" dirty="0" smtClean="0"/>
              <a:t> for all </a:t>
            </a:r>
            <a:r>
              <a:rPr lang="en-US" altLang="zh-CN" i="1" dirty="0" smtClean="0"/>
              <a:t>b </a:t>
            </a:r>
            <a:r>
              <a:rPr lang="en-US" altLang="zh-CN" dirty="0" smtClean="0">
                <a:sym typeface="Symbol" panose="05050102010706020507" pitchFamily="18" charset="2"/>
              </a:rPr>
              <a:t></a:t>
            </a:r>
            <a:r>
              <a:rPr lang="en-US" altLang="zh-CN" i="1" dirty="0" smtClean="0"/>
              <a:t> B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An element </a:t>
            </a:r>
            <a:r>
              <a:rPr lang="en-US" altLang="zh-CN" i="1" dirty="0" smtClean="0"/>
              <a:t>a </a:t>
            </a:r>
            <a:r>
              <a:rPr lang="en-US" altLang="zh-CN" dirty="0" smtClean="0">
                <a:sym typeface="Symbol" panose="05050102010706020507" pitchFamily="18" charset="2"/>
              </a:rPr>
              <a:t></a:t>
            </a:r>
            <a:r>
              <a:rPr lang="en-US" altLang="zh-CN" i="1" dirty="0" smtClean="0"/>
              <a:t> A</a:t>
            </a:r>
            <a:r>
              <a:rPr lang="en-US" altLang="zh-CN" dirty="0" smtClean="0"/>
              <a:t> is called a </a:t>
            </a:r>
            <a:r>
              <a:rPr lang="en-US" altLang="zh-CN" i="1" dirty="0" smtClean="0">
                <a:solidFill>
                  <a:schemeClr val="hlink"/>
                </a:solidFill>
              </a:rPr>
              <a:t>lower bound（</a:t>
            </a:r>
            <a:r>
              <a:rPr lang="zh-CN" altLang="en-US" i="1" dirty="0" smtClean="0">
                <a:solidFill>
                  <a:schemeClr val="hlink"/>
                </a:solidFill>
              </a:rPr>
              <a:t>下界）</a:t>
            </a:r>
            <a:r>
              <a:rPr lang="en-US" altLang="zh-CN" dirty="0" smtClean="0"/>
              <a:t>of </a:t>
            </a:r>
            <a:r>
              <a:rPr lang="en-US" altLang="zh-CN" i="1" dirty="0" smtClean="0"/>
              <a:t>B</a:t>
            </a:r>
            <a:r>
              <a:rPr lang="en-US" altLang="zh-CN" dirty="0" smtClean="0"/>
              <a:t>  if </a:t>
            </a:r>
            <a:r>
              <a:rPr lang="en-US" altLang="zh-CN" i="1" dirty="0" err="1" smtClean="0"/>
              <a:t>a</a:t>
            </a:r>
            <a:r>
              <a:rPr lang="en-US" altLang="zh-CN" dirty="0" err="1" smtClean="0"/>
              <a:t>≤</a:t>
            </a:r>
            <a:r>
              <a:rPr lang="en-US" altLang="zh-CN" i="1" dirty="0" err="1" smtClean="0"/>
              <a:t>b</a:t>
            </a:r>
            <a:r>
              <a:rPr lang="en-US" altLang="zh-CN" dirty="0" smtClean="0"/>
              <a:t> for all </a:t>
            </a:r>
            <a:r>
              <a:rPr lang="en-US" altLang="zh-CN" i="1" dirty="0" smtClean="0"/>
              <a:t>b </a:t>
            </a:r>
            <a:r>
              <a:rPr lang="en-US" altLang="zh-CN" dirty="0" smtClean="0">
                <a:sym typeface="Symbol" panose="05050102010706020507" pitchFamily="18" charset="2"/>
              </a:rPr>
              <a:t></a:t>
            </a:r>
            <a:r>
              <a:rPr lang="en-US" altLang="zh-CN" i="1" dirty="0" smtClean="0"/>
              <a:t> B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An element </a:t>
            </a:r>
            <a:r>
              <a:rPr lang="en-US" altLang="zh-CN" i="1" dirty="0" smtClean="0"/>
              <a:t>a </a:t>
            </a:r>
            <a:r>
              <a:rPr lang="en-US" altLang="zh-CN" dirty="0" smtClean="0">
                <a:sym typeface="Symbol" panose="05050102010706020507" pitchFamily="18" charset="2"/>
              </a:rPr>
              <a:t></a:t>
            </a:r>
            <a:r>
              <a:rPr lang="en-US" altLang="zh-CN" i="1" dirty="0" smtClean="0"/>
              <a:t> A</a:t>
            </a:r>
            <a:r>
              <a:rPr lang="en-US" altLang="zh-CN" dirty="0" smtClean="0"/>
              <a:t> is called a </a:t>
            </a:r>
            <a:r>
              <a:rPr lang="en-US" altLang="zh-CN" i="1" dirty="0" smtClean="0">
                <a:solidFill>
                  <a:schemeClr val="hlink"/>
                </a:solidFill>
              </a:rPr>
              <a:t>least upper bound</a:t>
            </a:r>
            <a:r>
              <a:rPr lang="en-US" altLang="zh-CN" dirty="0" smtClean="0"/>
              <a:t> (LUB) of </a:t>
            </a:r>
            <a:r>
              <a:rPr lang="en-US" altLang="zh-CN" i="1" dirty="0" smtClean="0"/>
              <a:t>B</a:t>
            </a:r>
            <a:r>
              <a:rPr lang="en-US" altLang="zh-CN" dirty="0" smtClean="0"/>
              <a:t>  if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is an upper bound of </a:t>
            </a:r>
            <a:r>
              <a:rPr lang="en-US" altLang="zh-CN" i="1" dirty="0" smtClean="0"/>
              <a:t>B</a:t>
            </a:r>
            <a:r>
              <a:rPr lang="en-US" altLang="zh-CN" dirty="0" smtClean="0"/>
              <a:t>  and  </a:t>
            </a:r>
            <a:r>
              <a:rPr lang="en-US" altLang="zh-CN" i="1" dirty="0" err="1" smtClean="0"/>
              <a:t>a</a:t>
            </a:r>
            <a:r>
              <a:rPr lang="en-US" altLang="zh-CN" dirty="0" err="1" smtClean="0"/>
              <a:t>≤</a:t>
            </a:r>
            <a:r>
              <a:rPr lang="en-US" altLang="zh-CN" i="1" dirty="0" err="1" smtClean="0"/>
              <a:t>a</a:t>
            </a:r>
            <a:r>
              <a:rPr lang="en-US" altLang="zh-CN" i="1" dirty="0" smtClean="0"/>
              <a:t>’</a:t>
            </a:r>
            <a:r>
              <a:rPr lang="en-US" altLang="zh-CN" dirty="0" smtClean="0"/>
              <a:t>, whenever </a:t>
            </a:r>
            <a:r>
              <a:rPr lang="en-US" altLang="zh-CN" i="1" dirty="0" smtClean="0"/>
              <a:t>a’</a:t>
            </a:r>
            <a:r>
              <a:rPr lang="en-US" altLang="zh-CN" dirty="0" smtClean="0"/>
              <a:t> is an upper bound of </a:t>
            </a:r>
            <a:r>
              <a:rPr lang="en-US" altLang="zh-CN" i="1" dirty="0" smtClean="0"/>
              <a:t>B</a:t>
            </a:r>
            <a:r>
              <a:rPr lang="en-US" altLang="zh-CN" dirty="0" smtClean="0"/>
              <a:t>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An </a:t>
            </a:r>
            <a:r>
              <a:rPr lang="en-US" altLang="zh-CN" dirty="0"/>
              <a:t>element </a:t>
            </a:r>
            <a:r>
              <a:rPr lang="en-US" altLang="zh-CN" i="1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 A</a:t>
            </a:r>
            <a:r>
              <a:rPr lang="en-US" altLang="zh-CN" dirty="0"/>
              <a:t> is called a </a:t>
            </a:r>
            <a:r>
              <a:rPr lang="en-US" altLang="zh-CN" i="1" dirty="0">
                <a:solidFill>
                  <a:schemeClr val="hlink"/>
                </a:solidFill>
              </a:rPr>
              <a:t>greatest lower bound</a:t>
            </a:r>
            <a:r>
              <a:rPr lang="en-US" altLang="zh-CN" dirty="0"/>
              <a:t> (GLB) of </a:t>
            </a:r>
            <a:r>
              <a:rPr lang="en-US" altLang="zh-CN" i="1" dirty="0"/>
              <a:t>B</a:t>
            </a:r>
            <a:r>
              <a:rPr lang="en-US" altLang="zh-CN" dirty="0"/>
              <a:t>  if </a:t>
            </a:r>
            <a:r>
              <a:rPr lang="en-US" altLang="zh-CN" i="1" dirty="0"/>
              <a:t>a</a:t>
            </a:r>
            <a:r>
              <a:rPr lang="en-US" altLang="zh-CN" dirty="0"/>
              <a:t> is an lower bound of </a:t>
            </a:r>
            <a:r>
              <a:rPr lang="en-US" altLang="zh-CN" i="1" dirty="0"/>
              <a:t>B</a:t>
            </a:r>
            <a:r>
              <a:rPr lang="en-US" altLang="zh-CN" dirty="0"/>
              <a:t>  and  </a:t>
            </a:r>
            <a:r>
              <a:rPr lang="en-US" altLang="zh-CN" i="1" dirty="0" err="1"/>
              <a:t>a’</a:t>
            </a:r>
            <a:r>
              <a:rPr lang="en-US" altLang="zh-CN" dirty="0" err="1"/>
              <a:t>≤</a:t>
            </a:r>
            <a:r>
              <a:rPr lang="en-US" altLang="zh-CN" i="1" dirty="0" err="1"/>
              <a:t>a</a:t>
            </a:r>
            <a:r>
              <a:rPr lang="en-US" altLang="zh-CN" dirty="0"/>
              <a:t>, whenever </a:t>
            </a:r>
            <a:r>
              <a:rPr lang="en-US" altLang="zh-CN" i="1" dirty="0"/>
              <a:t>a’</a:t>
            </a:r>
            <a:r>
              <a:rPr lang="en-US" altLang="zh-CN" dirty="0"/>
              <a:t> is an lower bound of 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r>
              <a:rPr lang="en-US" altLang="zh-CN" dirty="0" smtClean="0"/>
              <a:t>Lattice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Sublattice</a:t>
            </a:r>
            <a:endParaRPr lang="en-US" altLang="zh-CN" dirty="0" smtClean="0"/>
          </a:p>
          <a:p>
            <a:pPr lvl="1"/>
            <a:r>
              <a:rPr lang="en-US" altLang="zh-CN" i="1" dirty="0">
                <a:solidFill>
                  <a:schemeClr val="hlink"/>
                </a:solidFill>
              </a:rPr>
              <a:t>Isomorphic Lattices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Mathematical structure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7127"/>
            <a:ext cx="10845800" cy="4569836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A collection of objects with operations defined on them and the accompanying </a:t>
            </a:r>
            <a:r>
              <a:rPr lang="en-US" altLang="zh-CN" dirty="0" smtClean="0">
                <a:latin typeface="Times New Roman" panose="02020603050405020304" pitchFamily="18" charset="0"/>
              </a:rPr>
              <a:t>properties </a:t>
            </a:r>
            <a:r>
              <a:rPr lang="en-US" altLang="zh-CN" dirty="0">
                <a:latin typeface="Times New Roman" panose="02020603050405020304" pitchFamily="18" charset="0"/>
              </a:rPr>
              <a:t>form a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mathematical structure</a:t>
            </a:r>
            <a:r>
              <a:rPr lang="en-US" altLang="zh-CN" dirty="0">
                <a:latin typeface="Times New Roman" panose="02020603050405020304" pitchFamily="18" charset="0"/>
              </a:rPr>
              <a:t> or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system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A structure is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closed with respect to</a:t>
            </a:r>
            <a:r>
              <a:rPr lang="en-US" altLang="zh-CN" dirty="0">
                <a:latin typeface="Times New Roman" panose="02020603050405020304" pitchFamily="18" charset="0"/>
              </a:rPr>
              <a:t> an operation if that operation always produces another member of the collection of objects.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</a:rPr>
              <a:t>If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 smtClean="0">
                <a:latin typeface="Times New Roman" panose="02020603050405020304" pitchFamily="18" charset="0"/>
              </a:rPr>
              <a:t>where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</a:t>
            </a:r>
            <a:r>
              <a:rPr lang="en-US" altLang="zh-CN" dirty="0" smtClean="0"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</a:rPr>
              <a:t>is some binary operation,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 smtClean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is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commutative</a:t>
            </a:r>
            <a:endParaRPr lang="en-US" altLang="zh-CN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is a binary operation, then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is associative or has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associative</a:t>
            </a:r>
            <a:r>
              <a:rPr lang="en-US" altLang="zh-CN" dirty="0">
                <a:latin typeface="Times New Roman" panose="02020603050405020304" pitchFamily="18" charset="0"/>
              </a:rPr>
              <a:t> property  if 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 =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If a mathematical structure has two binary operations, say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and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, a distributive property has the following pattern</a:t>
            </a:r>
            <a:r>
              <a:rPr lang="en-US" altLang="zh-CN" dirty="0" smtClean="0">
                <a:latin typeface="Times New Roman" panose="02020603050405020304" pitchFamily="18" charset="0"/>
              </a:rPr>
              <a:t>: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)=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If the unary operation is * and the binary operations are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and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. then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De Morgan's laws </a:t>
            </a:r>
            <a:r>
              <a:rPr lang="en-US" altLang="zh-CN" dirty="0">
                <a:latin typeface="Times New Roman" panose="02020603050405020304" pitchFamily="18" charset="0"/>
              </a:rPr>
              <a:t>are 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(x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y)* =x*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y* and (x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dirty="0">
                <a:latin typeface="Times New Roman" panose="02020603050405020304" pitchFamily="18" charset="0"/>
              </a:rPr>
              <a:t> y)* =x* 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y*.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A structure with a binary operation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may contain a distinguished object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with the property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for all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in the collection. </a:t>
            </a:r>
            <a:r>
              <a:rPr lang="en-US" altLang="zh-CN" dirty="0" smtClean="0">
                <a:latin typeface="Times New Roman" panose="02020603050405020304" pitchFamily="18" charset="0"/>
              </a:rPr>
              <a:t>We </a:t>
            </a:r>
            <a:r>
              <a:rPr lang="en-US" altLang="zh-CN" dirty="0">
                <a:latin typeface="Times New Roman" panose="02020603050405020304" pitchFamily="18" charset="0"/>
              </a:rPr>
              <a:t>call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an identity for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If a binary operation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has an identity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we say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 is a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dirty="0">
                <a:latin typeface="Times New Roman" panose="02020603050405020304" pitchFamily="18" charset="0"/>
              </a:rPr>
              <a:t> -inverse of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if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i="1" dirty="0">
                <a:latin typeface="Times New Roman" panose="02020603050405020304" pitchFamily="18" charset="0"/>
              </a:rPr>
              <a:t> y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i="1" dirty="0">
                <a:latin typeface="Times New Roman" panose="02020603050405020304" pitchFamily="18" charset="0"/>
              </a:rPr>
              <a:t> x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operation on a set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everywhere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defined function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f:A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Semigroup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2400"/>
            <a:ext cx="10596418" cy="4793673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3400" dirty="0"/>
              <a:t>A </a:t>
            </a:r>
            <a:r>
              <a:rPr lang="en-US" altLang="zh-CN" sz="3400" i="1" dirty="0" err="1">
                <a:solidFill>
                  <a:srgbClr val="FF3300"/>
                </a:solidFill>
              </a:rPr>
              <a:t>semigroup</a:t>
            </a:r>
            <a:r>
              <a:rPr lang="en-US" altLang="zh-CN" sz="3400" dirty="0"/>
              <a:t> is a </a:t>
            </a:r>
            <a:r>
              <a:rPr lang="en-US" altLang="zh-CN" sz="3400" i="1" dirty="0">
                <a:solidFill>
                  <a:schemeClr val="hlink"/>
                </a:solidFill>
              </a:rPr>
              <a:t>nonempty</a:t>
            </a:r>
            <a:r>
              <a:rPr lang="en-US" altLang="zh-CN" sz="3400" dirty="0"/>
              <a:t> set </a:t>
            </a:r>
            <a:r>
              <a:rPr lang="en-US" altLang="zh-CN" sz="3400" i="1" dirty="0"/>
              <a:t>S</a:t>
            </a:r>
            <a:r>
              <a:rPr lang="en-US" altLang="zh-CN" sz="3400" dirty="0"/>
              <a:t> together with an associative binary operation * defined on </a:t>
            </a:r>
            <a:r>
              <a:rPr lang="en-US" altLang="zh-CN" sz="3400" i="1" dirty="0"/>
              <a:t>S</a:t>
            </a:r>
            <a:r>
              <a:rPr lang="en-US" altLang="zh-CN" sz="3400" dirty="0"/>
              <a:t>. </a:t>
            </a:r>
            <a:endParaRPr lang="en-US" altLang="zh-CN" sz="3400" dirty="0"/>
          </a:p>
          <a:p>
            <a:r>
              <a:rPr lang="en-US" altLang="zh-CN" sz="3400" dirty="0"/>
              <a:t>The </a:t>
            </a:r>
            <a:r>
              <a:rPr lang="en-US" altLang="zh-CN" sz="3400" dirty="0" err="1"/>
              <a:t>semigroup</a:t>
            </a:r>
            <a:r>
              <a:rPr lang="en-US" altLang="zh-CN" sz="3400" dirty="0"/>
              <a:t> (A*, </a:t>
            </a:r>
            <a:r>
              <a:rPr lang="en-US" altLang="zh-CN" sz="3400" dirty="0">
                <a:sym typeface="Symbol" panose="05050102010706020507" pitchFamily="18" charset="2"/>
              </a:rPr>
              <a:t></a:t>
            </a:r>
            <a:r>
              <a:rPr lang="en-US" altLang="zh-CN" sz="3400" dirty="0"/>
              <a:t> ) is called the </a:t>
            </a:r>
            <a:r>
              <a:rPr lang="en-US" altLang="zh-CN" sz="3400" i="1" dirty="0">
                <a:solidFill>
                  <a:srgbClr val="FF3300"/>
                </a:solidFill>
              </a:rPr>
              <a:t>free </a:t>
            </a:r>
            <a:r>
              <a:rPr lang="en-US" altLang="zh-CN" sz="3400" i="1" dirty="0" err="1">
                <a:solidFill>
                  <a:srgbClr val="FF3300"/>
                </a:solidFill>
              </a:rPr>
              <a:t>semigroup</a:t>
            </a:r>
            <a:r>
              <a:rPr lang="en-US" altLang="zh-CN" sz="3400" i="1" dirty="0">
                <a:solidFill>
                  <a:srgbClr val="FF3300"/>
                </a:solidFill>
              </a:rPr>
              <a:t> generated by </a:t>
            </a:r>
            <a:r>
              <a:rPr lang="en-US" altLang="zh-CN" sz="3400" i="1" dirty="0" smtClean="0">
                <a:solidFill>
                  <a:srgbClr val="FF3300"/>
                </a:solidFill>
              </a:rPr>
              <a:t>A</a:t>
            </a:r>
            <a:r>
              <a:rPr lang="en-US" altLang="zh-CN" sz="3400" i="1" dirty="0" smtClean="0"/>
              <a:t>.</a:t>
            </a:r>
            <a:endParaRPr lang="en-US" altLang="zh-CN" sz="3400" i="1" dirty="0" smtClean="0"/>
          </a:p>
          <a:p>
            <a:r>
              <a:rPr lang="en-US" altLang="zh-CN" sz="3400" dirty="0"/>
              <a:t>An element </a:t>
            </a:r>
            <a:r>
              <a:rPr lang="en-US" altLang="zh-CN" sz="3400" i="1" dirty="0"/>
              <a:t>e</a:t>
            </a:r>
            <a:r>
              <a:rPr lang="en-US" altLang="zh-CN" sz="3400" dirty="0"/>
              <a:t> in a </a:t>
            </a:r>
            <a:r>
              <a:rPr lang="en-US" altLang="zh-CN" sz="3400" dirty="0" err="1"/>
              <a:t>semigroup</a:t>
            </a:r>
            <a:r>
              <a:rPr lang="en-US" altLang="zh-CN" sz="3400" dirty="0"/>
              <a:t> (</a:t>
            </a:r>
            <a:r>
              <a:rPr lang="en-US" altLang="zh-CN" sz="3400" i="1" dirty="0"/>
              <a:t>S</a:t>
            </a:r>
            <a:r>
              <a:rPr lang="en-US" altLang="zh-CN" sz="3400" dirty="0"/>
              <a:t>, *) is called an </a:t>
            </a:r>
            <a:r>
              <a:rPr lang="en-US" altLang="zh-CN" sz="3400" i="1" dirty="0">
                <a:solidFill>
                  <a:srgbClr val="FF3300"/>
                </a:solidFill>
              </a:rPr>
              <a:t>identity</a:t>
            </a:r>
            <a:r>
              <a:rPr lang="en-US" altLang="zh-CN" sz="3400" dirty="0"/>
              <a:t> element if </a:t>
            </a:r>
            <a:r>
              <a:rPr lang="en-US" altLang="zh-CN" sz="3400" i="1" dirty="0"/>
              <a:t>e</a:t>
            </a:r>
            <a:r>
              <a:rPr lang="en-US" altLang="zh-CN" sz="3400" dirty="0"/>
              <a:t>*</a:t>
            </a:r>
            <a:r>
              <a:rPr lang="en-US" altLang="zh-CN" sz="3400" i="1" dirty="0"/>
              <a:t>a</a:t>
            </a:r>
            <a:r>
              <a:rPr lang="en-US" altLang="zh-CN" sz="3400" dirty="0"/>
              <a:t> = </a:t>
            </a:r>
            <a:r>
              <a:rPr lang="en-US" altLang="zh-CN" sz="3400" i="1" dirty="0"/>
              <a:t>a</a:t>
            </a:r>
            <a:r>
              <a:rPr lang="en-US" altLang="zh-CN" sz="3400" dirty="0"/>
              <a:t>*</a:t>
            </a:r>
            <a:r>
              <a:rPr lang="en-US" altLang="zh-CN" sz="3400" i="1" dirty="0"/>
              <a:t>e</a:t>
            </a:r>
            <a:r>
              <a:rPr lang="en-US" altLang="zh-CN" sz="3400" dirty="0"/>
              <a:t> = </a:t>
            </a:r>
            <a:r>
              <a:rPr lang="en-US" altLang="zh-CN" sz="3400" i="1" dirty="0"/>
              <a:t>a</a:t>
            </a:r>
            <a:r>
              <a:rPr lang="en-US" altLang="zh-CN" sz="3400" dirty="0"/>
              <a:t> for all </a:t>
            </a:r>
            <a:r>
              <a:rPr lang="en-US" altLang="zh-CN" sz="3400" i="1" dirty="0"/>
              <a:t>a</a:t>
            </a:r>
            <a:r>
              <a:rPr lang="en-US" altLang="zh-CN" sz="3400" dirty="0"/>
              <a:t> </a:t>
            </a:r>
            <a:r>
              <a:rPr lang="en-US" altLang="zh-CN" sz="3400" dirty="0">
                <a:sym typeface="Symbol" panose="05050102010706020507" pitchFamily="18" charset="2"/>
              </a:rPr>
              <a:t></a:t>
            </a:r>
            <a:r>
              <a:rPr lang="en-US" altLang="zh-CN" sz="3400" dirty="0"/>
              <a:t>S</a:t>
            </a:r>
            <a:r>
              <a:rPr lang="en-US" altLang="zh-CN" sz="3400" dirty="0" smtClean="0"/>
              <a:t>.</a:t>
            </a:r>
            <a:endParaRPr lang="en-US" altLang="zh-CN" sz="3400" dirty="0" smtClean="0"/>
          </a:p>
          <a:p>
            <a:r>
              <a:rPr lang="en-US" altLang="zh-CN" sz="3400" dirty="0"/>
              <a:t>A </a:t>
            </a:r>
            <a:r>
              <a:rPr lang="en-US" altLang="zh-CN" sz="3400" i="1" dirty="0" err="1">
                <a:solidFill>
                  <a:srgbClr val="FF3300"/>
                </a:solidFill>
              </a:rPr>
              <a:t>monoid</a:t>
            </a:r>
            <a:r>
              <a:rPr lang="en-US" altLang="zh-CN" sz="3400" dirty="0"/>
              <a:t> is a </a:t>
            </a:r>
            <a:r>
              <a:rPr lang="en-US" altLang="zh-CN" sz="3400" dirty="0" err="1"/>
              <a:t>semigroup</a:t>
            </a:r>
            <a:r>
              <a:rPr lang="en-US" altLang="zh-CN" sz="3400" dirty="0"/>
              <a:t> (S, *) that has an identity.</a:t>
            </a:r>
            <a:endParaRPr lang="en-US" altLang="zh-CN" sz="3400" dirty="0"/>
          </a:p>
          <a:p>
            <a:r>
              <a:rPr lang="zh-CN" altLang="zh-CN" sz="3400" dirty="0" smtClean="0"/>
              <a:t>Subsemigroup</a:t>
            </a:r>
            <a:endParaRPr lang="en-US" altLang="zh-CN" sz="3400" dirty="0" smtClean="0"/>
          </a:p>
          <a:p>
            <a:r>
              <a:rPr lang="zh-CN" altLang="zh-CN" sz="3400" dirty="0"/>
              <a:t>Submonoid</a:t>
            </a:r>
            <a:endParaRPr lang="zh-CN" altLang="en-US" sz="3400" dirty="0"/>
          </a:p>
          <a:p>
            <a:r>
              <a:rPr lang="en-US" altLang="zh-CN" sz="3400" dirty="0"/>
              <a:t>Let </a:t>
            </a:r>
            <a:r>
              <a:rPr lang="en-US" altLang="zh-CN" sz="3400" dirty="0" smtClean="0"/>
              <a:t> (</a:t>
            </a:r>
            <a:r>
              <a:rPr lang="en-US" altLang="zh-CN" sz="3400" i="1" dirty="0"/>
              <a:t>S</a:t>
            </a:r>
            <a:r>
              <a:rPr lang="en-US" altLang="zh-CN" sz="3400" dirty="0"/>
              <a:t>, *) and (</a:t>
            </a:r>
            <a:r>
              <a:rPr lang="en-US" altLang="zh-CN" sz="3400" i="1" dirty="0"/>
              <a:t>T</a:t>
            </a:r>
            <a:r>
              <a:rPr lang="en-US" altLang="zh-CN" sz="3400" dirty="0"/>
              <a:t>, *') be two </a:t>
            </a:r>
            <a:r>
              <a:rPr lang="en-US" altLang="zh-CN" sz="3400" dirty="0" err="1"/>
              <a:t>semigroups</a:t>
            </a:r>
            <a:r>
              <a:rPr lang="en-US" altLang="zh-CN" sz="3400" dirty="0"/>
              <a:t>. </a:t>
            </a:r>
            <a:r>
              <a:rPr lang="en-US" altLang="zh-CN" sz="3400" dirty="0" smtClean="0"/>
              <a:t>A </a:t>
            </a:r>
            <a:r>
              <a:rPr lang="en-US" altLang="zh-CN" sz="3400" dirty="0"/>
              <a:t>function </a:t>
            </a:r>
            <a:r>
              <a:rPr lang="en-US" altLang="zh-CN" sz="3400" i="1" dirty="0" smtClean="0"/>
              <a:t>f </a:t>
            </a:r>
            <a:r>
              <a:rPr lang="en-US" altLang="zh-CN" sz="3400" dirty="0"/>
              <a:t>: </a:t>
            </a:r>
            <a:r>
              <a:rPr lang="en-US" altLang="zh-CN" sz="3400" i="1" dirty="0"/>
              <a:t>S</a:t>
            </a:r>
            <a:r>
              <a:rPr lang="en-US" altLang="zh-CN" sz="3400" dirty="0">
                <a:cs typeface="Times New Roman" panose="02020603050405020304" pitchFamily="18" charset="0"/>
                <a:sym typeface="MT Symbol" panose="05050102010706020507" pitchFamily="18" charset="2"/>
              </a:rPr>
              <a:t>→</a:t>
            </a:r>
            <a:r>
              <a:rPr lang="en-US" altLang="zh-CN" sz="3400" i="1" dirty="0" smtClean="0"/>
              <a:t>T </a:t>
            </a:r>
            <a:r>
              <a:rPr lang="en-US" altLang="zh-CN" sz="3400" dirty="0" smtClean="0"/>
              <a:t>is </a:t>
            </a:r>
            <a:r>
              <a:rPr lang="en-US" altLang="zh-CN" sz="3400" dirty="0"/>
              <a:t>called an </a:t>
            </a:r>
            <a:r>
              <a:rPr lang="en-US" altLang="zh-CN" sz="3400" i="1" dirty="0" smtClean="0">
                <a:solidFill>
                  <a:srgbClr val="FF3300"/>
                </a:solidFill>
              </a:rPr>
              <a:t>isomorphism</a:t>
            </a:r>
            <a:r>
              <a:rPr lang="en-US" altLang="zh-CN" sz="3400" dirty="0" smtClean="0"/>
              <a:t> </a:t>
            </a:r>
            <a:r>
              <a:rPr lang="en-US" altLang="zh-CN" sz="3400" dirty="0"/>
              <a:t>from (</a:t>
            </a:r>
            <a:r>
              <a:rPr lang="en-US" altLang="zh-CN" sz="3400" i="1" dirty="0"/>
              <a:t>S</a:t>
            </a:r>
            <a:r>
              <a:rPr lang="en-US" altLang="zh-CN" sz="3400" dirty="0"/>
              <a:t>, *) to (</a:t>
            </a:r>
            <a:r>
              <a:rPr lang="en-US" altLang="zh-CN" sz="3400" i="1" dirty="0"/>
              <a:t>T</a:t>
            </a:r>
            <a:r>
              <a:rPr lang="en-US" altLang="zh-CN" sz="3400" dirty="0"/>
              <a:t>, *') </a:t>
            </a:r>
            <a:r>
              <a:rPr lang="en-US" altLang="zh-CN" sz="3400" dirty="0" smtClean="0"/>
              <a:t>if</a:t>
            </a:r>
            <a:endParaRPr lang="en-US" altLang="zh-CN" sz="3400" dirty="0" smtClean="0"/>
          </a:p>
          <a:p>
            <a:pPr lvl="1"/>
            <a:r>
              <a:rPr lang="en-US" altLang="zh-CN" sz="2600" dirty="0" smtClean="0"/>
              <a:t>  it </a:t>
            </a:r>
            <a:r>
              <a:rPr lang="en-US" altLang="zh-CN" sz="2600" dirty="0"/>
              <a:t>is a one-to-one correspondence from </a:t>
            </a:r>
            <a:r>
              <a:rPr lang="en-US" altLang="zh-CN" sz="2600" i="1" dirty="0"/>
              <a:t>S</a:t>
            </a:r>
            <a:r>
              <a:rPr lang="en-US" altLang="zh-CN" sz="2600" dirty="0"/>
              <a:t> to </a:t>
            </a:r>
            <a:r>
              <a:rPr lang="en-US" altLang="zh-CN" sz="2600" i="1" dirty="0" smtClean="0"/>
              <a:t>T</a:t>
            </a:r>
            <a:endParaRPr lang="en-US" altLang="zh-CN" sz="2600" i="1" dirty="0" smtClean="0"/>
          </a:p>
          <a:p>
            <a:pPr lvl="1"/>
            <a:r>
              <a:rPr lang="en-US" altLang="zh-CN" sz="2600" dirty="0" smtClean="0"/>
              <a:t> </a:t>
            </a:r>
            <a:r>
              <a:rPr lang="en-US" altLang="zh-CN" sz="2600" dirty="0"/>
              <a:t>and </a:t>
            </a:r>
            <a:r>
              <a:rPr lang="en-US" altLang="zh-CN" sz="2600" i="1" dirty="0" smtClean="0"/>
              <a:t>f</a:t>
            </a:r>
            <a:r>
              <a:rPr lang="en-US" altLang="zh-CN" sz="2600" dirty="0" smtClean="0"/>
              <a:t>(</a:t>
            </a:r>
            <a:r>
              <a:rPr lang="en-US" altLang="zh-CN" sz="2600" i="1" dirty="0" smtClean="0"/>
              <a:t>a</a:t>
            </a:r>
            <a:r>
              <a:rPr lang="en-US" altLang="zh-CN" sz="2600" dirty="0" smtClean="0"/>
              <a:t>*</a:t>
            </a:r>
            <a:r>
              <a:rPr lang="en-US" altLang="zh-CN" sz="2600" i="1" dirty="0" smtClean="0"/>
              <a:t>b</a:t>
            </a:r>
            <a:r>
              <a:rPr lang="en-US" altLang="zh-CN" sz="2600" dirty="0"/>
              <a:t>) = 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a</a:t>
            </a:r>
            <a:r>
              <a:rPr lang="en-US" altLang="zh-CN" sz="2600" dirty="0"/>
              <a:t>)*'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b</a:t>
            </a:r>
            <a:r>
              <a:rPr lang="en-US" altLang="zh-CN" sz="2600" dirty="0"/>
              <a:t>) for all </a:t>
            </a:r>
            <a:r>
              <a:rPr lang="en-US" altLang="zh-CN" sz="2600" i="1" dirty="0"/>
              <a:t>a</a:t>
            </a:r>
            <a:r>
              <a:rPr lang="en-US" altLang="zh-CN" sz="2600" dirty="0"/>
              <a:t> and </a:t>
            </a:r>
            <a:r>
              <a:rPr lang="en-US" altLang="zh-CN" sz="2600" i="1" dirty="0"/>
              <a:t>b</a:t>
            </a:r>
            <a:r>
              <a:rPr lang="en-US" altLang="zh-CN" sz="2600" dirty="0"/>
              <a:t> in </a:t>
            </a:r>
            <a:r>
              <a:rPr lang="en-US" altLang="zh-CN" sz="2600" i="1" dirty="0"/>
              <a:t>S</a:t>
            </a:r>
            <a:r>
              <a:rPr lang="en-US" altLang="zh-CN" sz="2600" dirty="0" smtClean="0"/>
              <a:t>.</a:t>
            </a:r>
            <a:endParaRPr lang="en-US" altLang="zh-CN" sz="2600" dirty="0" smtClean="0"/>
          </a:p>
          <a:p>
            <a:r>
              <a:rPr lang="en-US" altLang="zh-CN" sz="3400" dirty="0"/>
              <a:t>Let </a:t>
            </a:r>
            <a:r>
              <a:rPr lang="en-US" altLang="zh-CN" sz="3400" dirty="0" smtClean="0"/>
              <a:t> (</a:t>
            </a:r>
            <a:r>
              <a:rPr lang="en-US" altLang="zh-CN" sz="3400" i="1" dirty="0"/>
              <a:t>S</a:t>
            </a:r>
            <a:r>
              <a:rPr lang="en-US" altLang="zh-CN" sz="3400" dirty="0"/>
              <a:t>, *) and (</a:t>
            </a:r>
            <a:r>
              <a:rPr lang="en-US" altLang="zh-CN" sz="3400" i="1" dirty="0"/>
              <a:t>T</a:t>
            </a:r>
            <a:r>
              <a:rPr lang="en-US" altLang="zh-CN" sz="3400" dirty="0"/>
              <a:t>, *') be two </a:t>
            </a:r>
            <a:r>
              <a:rPr lang="en-US" altLang="zh-CN" sz="3400" dirty="0" err="1"/>
              <a:t>semigroups</a:t>
            </a:r>
            <a:r>
              <a:rPr lang="en-US" altLang="zh-CN" sz="3400" dirty="0"/>
              <a:t>. </a:t>
            </a:r>
            <a:r>
              <a:rPr lang="en-US" altLang="zh-CN" sz="3400" dirty="0" smtClean="0"/>
              <a:t>An </a:t>
            </a:r>
            <a:r>
              <a:rPr lang="en-US" altLang="zh-CN" sz="3400" dirty="0"/>
              <a:t>everywhere-defined </a:t>
            </a:r>
            <a:r>
              <a:rPr lang="en-US" altLang="zh-CN" sz="3400" dirty="0" smtClean="0"/>
              <a:t>function </a:t>
            </a:r>
            <a:r>
              <a:rPr lang="en-US" altLang="zh-CN" sz="3400" i="1" dirty="0" smtClean="0"/>
              <a:t>f</a:t>
            </a:r>
            <a:r>
              <a:rPr lang="en-US" altLang="zh-CN" sz="3400" dirty="0" smtClean="0"/>
              <a:t> </a:t>
            </a:r>
            <a:r>
              <a:rPr lang="en-US" altLang="zh-CN" sz="3400" dirty="0"/>
              <a:t>:</a:t>
            </a:r>
            <a:r>
              <a:rPr lang="en-US" altLang="zh-CN" sz="3400" i="1" dirty="0"/>
              <a:t>S</a:t>
            </a:r>
            <a:r>
              <a:rPr lang="en-US" altLang="zh-CN" sz="3400" dirty="0">
                <a:cs typeface="Times New Roman" panose="02020603050405020304" pitchFamily="18" charset="0"/>
                <a:sym typeface="MT Symbol" panose="05050102010706020507" pitchFamily="18" charset="2"/>
              </a:rPr>
              <a:t>→</a:t>
            </a:r>
            <a:r>
              <a:rPr lang="en-US" altLang="zh-CN" sz="3400" dirty="0"/>
              <a:t> </a:t>
            </a:r>
            <a:r>
              <a:rPr lang="en-US" altLang="zh-CN" sz="3400" i="1" dirty="0"/>
              <a:t>T</a:t>
            </a:r>
            <a:r>
              <a:rPr lang="en-US" altLang="zh-CN" sz="3400" dirty="0"/>
              <a:t> </a:t>
            </a:r>
            <a:r>
              <a:rPr lang="en-US" altLang="zh-CN" sz="3400" dirty="0" smtClean="0"/>
              <a:t> is </a:t>
            </a:r>
            <a:r>
              <a:rPr lang="en-US" altLang="zh-CN" sz="3400" dirty="0"/>
              <a:t>called </a:t>
            </a:r>
            <a:r>
              <a:rPr lang="en-US" altLang="zh-CN" sz="3400" dirty="0" smtClean="0"/>
              <a:t>a </a:t>
            </a:r>
            <a:r>
              <a:rPr lang="en-US" altLang="zh-CN" sz="3400" i="1" dirty="0" smtClean="0">
                <a:solidFill>
                  <a:srgbClr val="FF3300"/>
                </a:solidFill>
              </a:rPr>
              <a:t>homomorphism</a:t>
            </a:r>
            <a:r>
              <a:rPr lang="en-US" altLang="zh-CN" sz="3400" dirty="0" smtClean="0"/>
              <a:t> </a:t>
            </a:r>
            <a:r>
              <a:rPr lang="en-US" altLang="zh-CN" sz="3400" dirty="0"/>
              <a:t>from (</a:t>
            </a:r>
            <a:r>
              <a:rPr lang="en-US" altLang="zh-CN" sz="3400" i="1" dirty="0"/>
              <a:t>S</a:t>
            </a:r>
            <a:r>
              <a:rPr lang="en-US" altLang="zh-CN" sz="3400" dirty="0"/>
              <a:t>, *) to (</a:t>
            </a:r>
            <a:r>
              <a:rPr lang="en-US" altLang="zh-CN" sz="3400" i="1" dirty="0"/>
              <a:t>T</a:t>
            </a:r>
            <a:r>
              <a:rPr lang="en-US" altLang="zh-CN" sz="3400" dirty="0"/>
              <a:t>, </a:t>
            </a:r>
            <a:r>
              <a:rPr lang="en-US" altLang="zh-CN" sz="3400" dirty="0" smtClean="0"/>
              <a:t>*')</a:t>
            </a:r>
            <a:endParaRPr lang="en-US" altLang="zh-CN" sz="3400" dirty="0" smtClean="0"/>
          </a:p>
          <a:p>
            <a:pPr lvl="1"/>
            <a:r>
              <a:rPr lang="en-US" altLang="zh-CN" sz="2600" dirty="0" smtClean="0"/>
              <a:t> If </a:t>
            </a:r>
            <a:r>
              <a:rPr lang="en-US" altLang="zh-CN" sz="2600" i="1" dirty="0" smtClean="0"/>
              <a:t>f</a:t>
            </a:r>
            <a:r>
              <a:rPr lang="en-US" altLang="zh-CN" sz="2600" dirty="0" smtClean="0"/>
              <a:t>(</a:t>
            </a:r>
            <a:r>
              <a:rPr lang="en-US" altLang="zh-CN" sz="2600" i="1" dirty="0" smtClean="0"/>
              <a:t>a</a:t>
            </a:r>
            <a:r>
              <a:rPr lang="en-US" altLang="zh-CN" sz="2600" dirty="0" smtClean="0"/>
              <a:t>*</a:t>
            </a:r>
            <a:r>
              <a:rPr lang="en-US" altLang="zh-CN" sz="2600" i="1" dirty="0" smtClean="0"/>
              <a:t>b</a:t>
            </a:r>
            <a:r>
              <a:rPr lang="en-US" altLang="zh-CN" sz="2600" dirty="0"/>
              <a:t>) = 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a</a:t>
            </a:r>
            <a:r>
              <a:rPr lang="en-US" altLang="zh-CN" sz="2600" dirty="0"/>
              <a:t>) *' 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b</a:t>
            </a:r>
            <a:r>
              <a:rPr lang="en-US" altLang="zh-CN" sz="2600" dirty="0"/>
              <a:t>) for all </a:t>
            </a:r>
            <a:r>
              <a:rPr lang="en-US" altLang="zh-CN" sz="2600" i="1" dirty="0"/>
              <a:t>a</a:t>
            </a:r>
            <a:r>
              <a:rPr lang="en-US" altLang="zh-CN" sz="2600" dirty="0"/>
              <a:t> and </a:t>
            </a:r>
            <a:r>
              <a:rPr lang="en-US" altLang="zh-CN" sz="2600" i="1" dirty="0"/>
              <a:t>b</a:t>
            </a:r>
            <a:r>
              <a:rPr lang="en-US" altLang="zh-CN" sz="2600" dirty="0"/>
              <a:t> in S. </a:t>
            </a:r>
            <a:endParaRPr lang="en-US" altLang="zh-CN" sz="2600" dirty="0" smtClean="0"/>
          </a:p>
          <a:p>
            <a:pPr lvl="1"/>
            <a:r>
              <a:rPr lang="en-US" altLang="zh-CN" sz="2600" dirty="0"/>
              <a:t>If </a:t>
            </a:r>
            <a:r>
              <a:rPr lang="en-US" altLang="zh-CN" sz="2600" i="1" dirty="0"/>
              <a:t>f</a:t>
            </a:r>
            <a:r>
              <a:rPr lang="en-US" altLang="zh-CN" sz="2600" dirty="0"/>
              <a:t>  is also onto, we say that </a:t>
            </a:r>
            <a:r>
              <a:rPr lang="en-US" altLang="zh-CN" sz="2600" i="1" dirty="0"/>
              <a:t>T</a:t>
            </a:r>
            <a:r>
              <a:rPr lang="en-US" altLang="zh-CN" sz="2600" dirty="0"/>
              <a:t> is a </a:t>
            </a:r>
            <a:r>
              <a:rPr lang="en-US" altLang="zh-CN" sz="2600" i="1" dirty="0" err="1">
                <a:solidFill>
                  <a:schemeClr val="hlink"/>
                </a:solidFill>
              </a:rPr>
              <a:t>homomorphic</a:t>
            </a:r>
            <a:r>
              <a:rPr lang="en-US" altLang="zh-CN" sz="2600" dirty="0">
                <a:solidFill>
                  <a:schemeClr val="hlink"/>
                </a:solidFill>
              </a:rPr>
              <a:t> </a:t>
            </a:r>
            <a:r>
              <a:rPr lang="en-US" altLang="zh-CN" sz="2600" i="1" dirty="0">
                <a:solidFill>
                  <a:schemeClr val="hlink"/>
                </a:solidFill>
              </a:rPr>
              <a:t>image</a:t>
            </a:r>
            <a:r>
              <a:rPr lang="en-US" altLang="zh-CN" sz="2600" dirty="0">
                <a:solidFill>
                  <a:schemeClr val="hlink"/>
                </a:solidFill>
              </a:rPr>
              <a:t>(</a:t>
            </a:r>
            <a:r>
              <a:rPr lang="zh-CN" altLang="en-US" sz="2600" dirty="0">
                <a:solidFill>
                  <a:schemeClr val="hlink"/>
                </a:solidFill>
              </a:rPr>
              <a:t>同态像</a:t>
            </a:r>
            <a:r>
              <a:rPr lang="en-US" altLang="zh-CN" sz="2600" dirty="0">
                <a:solidFill>
                  <a:schemeClr val="hlink"/>
                </a:solidFill>
              </a:rPr>
              <a:t>)</a:t>
            </a:r>
            <a:r>
              <a:rPr lang="en-US" altLang="zh-CN" sz="2600" dirty="0"/>
              <a:t> of </a:t>
            </a:r>
            <a:r>
              <a:rPr lang="en-US" altLang="zh-CN" sz="2600" i="1" dirty="0"/>
              <a:t>S</a:t>
            </a:r>
            <a:r>
              <a:rPr lang="en-US" altLang="zh-CN" sz="2600" dirty="0"/>
              <a:t>.</a:t>
            </a:r>
            <a:endParaRPr lang="zh-CN" altLang="en-US" sz="2600" dirty="0"/>
          </a:p>
          <a:p>
            <a:endParaRPr lang="en-US" altLang="zh-CN" sz="3400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Products and Quotients of </a:t>
            </a:r>
            <a:r>
              <a:rPr lang="en-US" altLang="zh-CN" dirty="0" err="1"/>
              <a:t>Semigroups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If (</a:t>
            </a:r>
            <a:r>
              <a:rPr lang="en-US" altLang="zh-CN" i="1" dirty="0"/>
              <a:t>S</a:t>
            </a:r>
            <a:r>
              <a:rPr lang="en-US" altLang="zh-CN" dirty="0"/>
              <a:t>, *) and (</a:t>
            </a:r>
            <a:r>
              <a:rPr lang="en-US" altLang="zh-CN" i="1" dirty="0"/>
              <a:t>T</a:t>
            </a:r>
            <a:r>
              <a:rPr lang="en-US" altLang="zh-CN" dirty="0"/>
              <a:t>, *') are </a:t>
            </a:r>
            <a:r>
              <a:rPr lang="en-US" altLang="zh-CN" dirty="0" err="1"/>
              <a:t>semigroups</a:t>
            </a:r>
            <a:r>
              <a:rPr lang="en-US" altLang="zh-CN" dirty="0"/>
              <a:t>, then    (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T</a:t>
            </a:r>
            <a:r>
              <a:rPr lang="en-US" altLang="zh-CN" dirty="0"/>
              <a:t>, *") is a </a:t>
            </a:r>
            <a:r>
              <a:rPr lang="en-US" altLang="zh-CN" dirty="0" err="1"/>
              <a:t>semigroup</a:t>
            </a:r>
            <a:r>
              <a:rPr lang="en-US" altLang="zh-CN" dirty="0"/>
              <a:t>, where *" is defined by (</a:t>
            </a:r>
            <a:r>
              <a:rPr lang="en-US" altLang="zh-CN" i="1" dirty="0"/>
              <a:t>s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 err="1"/>
              <a:t>t</a:t>
            </a:r>
            <a:r>
              <a:rPr lang="en-US" altLang="zh-CN" baseline="-25000" dirty="0" err="1"/>
              <a:t>l</a:t>
            </a:r>
            <a:r>
              <a:rPr lang="en-US" altLang="zh-CN" dirty="0"/>
              <a:t>)*"(</a:t>
            </a:r>
            <a:r>
              <a:rPr lang="en-US" altLang="zh-CN" i="1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dirty="0"/>
              <a:t>) = (</a:t>
            </a:r>
            <a:r>
              <a:rPr lang="en-US" altLang="zh-CN" i="1" dirty="0" err="1"/>
              <a:t>s</a:t>
            </a:r>
            <a:r>
              <a:rPr lang="en-US" altLang="zh-CN" baseline="-25000" dirty="0" err="1"/>
              <a:t>l</a:t>
            </a:r>
            <a:r>
              <a:rPr lang="en-US" altLang="zh-CN" dirty="0"/>
              <a:t>*</a:t>
            </a:r>
            <a:r>
              <a:rPr lang="en-US" altLang="zh-CN" i="1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,  </a:t>
            </a:r>
            <a:r>
              <a:rPr lang="en-US" altLang="zh-CN" i="1" dirty="0" err="1"/>
              <a:t>t</a:t>
            </a:r>
            <a:r>
              <a:rPr lang="en-US" altLang="zh-CN" baseline="-25000" dirty="0" err="1"/>
              <a:t>l</a:t>
            </a:r>
            <a:r>
              <a:rPr lang="en-US" altLang="zh-CN" dirty="0"/>
              <a:t>*'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if </a:t>
            </a:r>
            <a:r>
              <a:rPr lang="en-US" altLang="zh-CN" i="1" dirty="0"/>
              <a:t>S</a:t>
            </a:r>
            <a:r>
              <a:rPr lang="en-US" altLang="zh-CN" dirty="0"/>
              <a:t> and </a:t>
            </a:r>
            <a:r>
              <a:rPr lang="en-US" altLang="zh-CN" i="1" dirty="0"/>
              <a:t>T</a:t>
            </a:r>
            <a:r>
              <a:rPr lang="en-US" altLang="zh-CN" dirty="0"/>
              <a:t> are </a:t>
            </a:r>
            <a:r>
              <a:rPr lang="en-US" altLang="zh-CN" dirty="0" err="1"/>
              <a:t>monoids</a:t>
            </a:r>
            <a:r>
              <a:rPr lang="en-US" altLang="zh-CN" dirty="0"/>
              <a:t> with identities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S</a:t>
            </a:r>
            <a:r>
              <a:rPr lang="en-US" altLang="zh-CN" dirty="0"/>
              <a:t> and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, respectively then 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T</a:t>
            </a:r>
            <a:r>
              <a:rPr lang="en-US" altLang="zh-CN" dirty="0"/>
              <a:t> is a </a:t>
            </a:r>
            <a:r>
              <a:rPr lang="en-US" altLang="zh-CN" dirty="0" err="1"/>
              <a:t>monoid</a:t>
            </a:r>
            <a:r>
              <a:rPr lang="en-US" altLang="zh-CN" dirty="0"/>
              <a:t> with identity (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S</a:t>
            </a:r>
            <a:r>
              <a:rPr lang="en-US" altLang="zh-CN" dirty="0"/>
              <a:t>,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).</a:t>
            </a:r>
            <a:endParaRPr lang="zh-CN" altLang="en-US" dirty="0"/>
          </a:p>
          <a:p>
            <a:r>
              <a:rPr lang="en-US" altLang="zh-CN" dirty="0"/>
              <a:t>An equivalence relation </a:t>
            </a:r>
            <a:r>
              <a:rPr lang="en-US" altLang="zh-CN" i="1" dirty="0"/>
              <a:t>R</a:t>
            </a:r>
            <a:r>
              <a:rPr lang="en-US" altLang="zh-CN" dirty="0"/>
              <a:t> on the </a:t>
            </a:r>
            <a:r>
              <a:rPr lang="en-US" altLang="zh-CN" dirty="0" err="1"/>
              <a:t>semigroup</a:t>
            </a:r>
            <a:r>
              <a:rPr lang="en-US" altLang="zh-CN" dirty="0"/>
              <a:t> (</a:t>
            </a:r>
            <a:r>
              <a:rPr lang="en-US" altLang="zh-CN" i="1" dirty="0"/>
              <a:t>S</a:t>
            </a:r>
            <a:r>
              <a:rPr lang="en-US" altLang="zh-CN" dirty="0"/>
              <a:t>, *) is called a </a:t>
            </a:r>
            <a:r>
              <a:rPr lang="en-US" altLang="zh-CN" i="1" dirty="0">
                <a:solidFill>
                  <a:srgbClr val="FF3300"/>
                </a:solidFill>
              </a:rPr>
              <a:t>congruence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i="1" dirty="0">
                <a:solidFill>
                  <a:srgbClr val="FF3300"/>
                </a:solidFill>
              </a:rPr>
              <a:t>relation</a:t>
            </a:r>
            <a:r>
              <a:rPr lang="en-US" altLang="zh-CN" dirty="0"/>
              <a:t> </a:t>
            </a:r>
            <a:r>
              <a:rPr lang="en-US" altLang="zh-CN" dirty="0" smtClean="0"/>
              <a:t>if </a:t>
            </a:r>
            <a:r>
              <a:rPr lang="en-US" altLang="zh-CN" i="1" dirty="0" smtClean="0"/>
              <a:t>a </a:t>
            </a:r>
            <a:r>
              <a:rPr lang="en-US" altLang="zh-CN" i="1" dirty="0"/>
              <a:t>R a'</a:t>
            </a:r>
            <a:r>
              <a:rPr lang="en-US" altLang="zh-CN" dirty="0"/>
              <a:t> and </a:t>
            </a:r>
            <a:r>
              <a:rPr lang="en-US" altLang="zh-CN" i="1" dirty="0"/>
              <a:t>b R b'</a:t>
            </a:r>
            <a:r>
              <a:rPr lang="en-US" altLang="zh-CN" dirty="0"/>
              <a:t> </a:t>
            </a:r>
            <a:r>
              <a:rPr lang="en-US" altLang="zh-CN" dirty="0" smtClean="0"/>
              <a:t>Imply (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*</a:t>
            </a:r>
            <a:r>
              <a:rPr lang="en-US" altLang="zh-CN" i="1" dirty="0" smtClean="0"/>
              <a:t>b</a:t>
            </a:r>
            <a:r>
              <a:rPr lang="en-US" altLang="zh-CN" dirty="0"/>
              <a:t>)</a:t>
            </a:r>
            <a:r>
              <a:rPr lang="en-US" altLang="zh-CN" i="1" dirty="0"/>
              <a:t> R </a:t>
            </a:r>
            <a:r>
              <a:rPr lang="en-US" altLang="zh-CN" dirty="0"/>
              <a:t>(</a:t>
            </a:r>
            <a:r>
              <a:rPr lang="en-US" altLang="zh-CN" i="1" dirty="0"/>
              <a:t>a'</a:t>
            </a:r>
            <a:r>
              <a:rPr lang="en-US" altLang="zh-CN" dirty="0"/>
              <a:t>*</a:t>
            </a:r>
            <a:r>
              <a:rPr lang="en-US" altLang="zh-CN" i="1" dirty="0"/>
              <a:t>b'</a:t>
            </a:r>
            <a:r>
              <a:rPr lang="en-US" altLang="zh-CN" dirty="0"/>
              <a:t>)</a:t>
            </a:r>
            <a:endParaRPr lang="en-US" altLang="zh-CN" i="1" dirty="0"/>
          </a:p>
          <a:p>
            <a:r>
              <a:rPr lang="en-US" altLang="zh-CN" dirty="0"/>
              <a:t>Let </a:t>
            </a:r>
            <a:r>
              <a:rPr lang="en-US" altLang="zh-CN" i="1" dirty="0"/>
              <a:t>R</a:t>
            </a:r>
            <a:r>
              <a:rPr lang="en-US" altLang="zh-CN" dirty="0"/>
              <a:t> be a congruence relation on the </a:t>
            </a:r>
            <a:r>
              <a:rPr lang="en-US" altLang="zh-CN" dirty="0" err="1"/>
              <a:t>semigroup</a:t>
            </a:r>
            <a:r>
              <a:rPr lang="en-US" altLang="zh-CN" dirty="0"/>
              <a:t> (</a:t>
            </a:r>
            <a:r>
              <a:rPr lang="en-US" altLang="zh-CN" i="1" dirty="0"/>
              <a:t>S</a:t>
            </a:r>
            <a:r>
              <a:rPr lang="en-US" altLang="zh-CN" dirty="0"/>
              <a:t>, *). </a:t>
            </a:r>
            <a:r>
              <a:rPr lang="en-US" altLang="zh-CN" dirty="0" smtClean="0"/>
              <a:t>Consider </a:t>
            </a:r>
            <a:r>
              <a:rPr lang="en-US" altLang="zh-CN" dirty="0"/>
              <a:t>the relation 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from S/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S/</a:t>
            </a:r>
            <a:r>
              <a:rPr lang="en-US" altLang="zh-CN" i="1" dirty="0"/>
              <a:t>R</a:t>
            </a:r>
            <a:r>
              <a:rPr lang="en-US" altLang="zh-CN" dirty="0"/>
              <a:t> to S/</a:t>
            </a:r>
            <a:r>
              <a:rPr lang="en-US" altLang="zh-CN" i="1" dirty="0"/>
              <a:t>R</a:t>
            </a:r>
            <a:r>
              <a:rPr lang="en-US" altLang="zh-CN" dirty="0"/>
              <a:t> in which the ordered pair ([</a:t>
            </a:r>
            <a:r>
              <a:rPr lang="en-US" altLang="zh-CN" i="1" dirty="0"/>
              <a:t>a</a:t>
            </a:r>
            <a:r>
              <a:rPr lang="en-US" altLang="zh-CN" dirty="0"/>
              <a:t>], [</a:t>
            </a:r>
            <a:r>
              <a:rPr lang="en-US" altLang="zh-CN" i="1" dirty="0"/>
              <a:t>b</a:t>
            </a:r>
            <a:r>
              <a:rPr lang="en-US" altLang="zh-CN" dirty="0"/>
              <a:t>]) is, for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in </a:t>
            </a:r>
            <a:r>
              <a:rPr lang="en-US" altLang="zh-CN" i="1" dirty="0"/>
              <a:t>S</a:t>
            </a:r>
            <a:r>
              <a:rPr lang="en-US" altLang="zh-CN" dirty="0"/>
              <a:t>, related to [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].</a:t>
            </a:r>
            <a:endParaRPr lang="en-US" altLang="zh-CN" dirty="0"/>
          </a:p>
          <a:p>
            <a:pPr lvl="1"/>
            <a:r>
              <a:rPr lang="en-US" altLang="zh-CN" dirty="0">
                <a:sym typeface="Euclid Math One" panose="05050601010101010101" pitchFamily="18" charset="2"/>
              </a:rPr>
              <a:t>(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], [</a:t>
            </a:r>
            <a:r>
              <a:rPr lang="en-US" altLang="zh-CN" i="1" dirty="0"/>
              <a:t>b</a:t>
            </a:r>
            <a:r>
              <a:rPr lang="en-US" altLang="zh-CN" dirty="0"/>
              <a:t>]) = 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 = [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], is a function from S/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S/</a:t>
            </a:r>
            <a:r>
              <a:rPr lang="en-US" altLang="zh-CN" i="1" dirty="0"/>
              <a:t>R</a:t>
            </a:r>
            <a:r>
              <a:rPr lang="en-US" altLang="zh-CN" dirty="0"/>
              <a:t> to S/</a:t>
            </a:r>
            <a:r>
              <a:rPr lang="en-US" altLang="zh-CN" i="1" dirty="0"/>
              <a:t>R</a:t>
            </a:r>
            <a:endParaRPr lang="en-US" altLang="zh-CN" dirty="0"/>
          </a:p>
          <a:p>
            <a:pPr lvl="1"/>
            <a:r>
              <a:rPr lang="en-US" altLang="zh-CN" dirty="0"/>
              <a:t>(S/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) is a </a:t>
            </a:r>
            <a:r>
              <a:rPr lang="en-US" altLang="zh-CN" dirty="0" err="1"/>
              <a:t>semigroup</a:t>
            </a:r>
            <a:r>
              <a:rPr lang="en-US" altLang="zh-CN" dirty="0"/>
              <a:t>. S/</a:t>
            </a:r>
            <a:r>
              <a:rPr lang="en-US" altLang="zh-CN" i="1" dirty="0"/>
              <a:t>R</a:t>
            </a:r>
            <a:r>
              <a:rPr lang="en-US" altLang="zh-CN" dirty="0"/>
              <a:t> is called the </a:t>
            </a:r>
            <a:r>
              <a:rPr lang="en-US" altLang="zh-CN" i="1" dirty="0">
                <a:solidFill>
                  <a:srgbClr val="FF3300"/>
                </a:solidFill>
              </a:rPr>
              <a:t>quotient </a:t>
            </a:r>
            <a:r>
              <a:rPr lang="en-US" altLang="zh-CN" i="1" dirty="0" err="1">
                <a:solidFill>
                  <a:srgbClr val="FF3300"/>
                </a:solidFill>
              </a:rPr>
              <a:t>semigroup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zh-CN" altLang="en-US" dirty="0">
                <a:solidFill>
                  <a:srgbClr val="FF3300"/>
                </a:solidFill>
              </a:rPr>
              <a:t>商半群</a:t>
            </a:r>
            <a:r>
              <a:rPr lang="en-US" altLang="zh-CN" dirty="0">
                <a:solidFill>
                  <a:srgbClr val="FF3300"/>
                </a:solidFill>
              </a:rPr>
              <a:t>)</a:t>
            </a:r>
            <a:r>
              <a:rPr lang="en-US" altLang="zh-CN" dirty="0"/>
              <a:t> or </a:t>
            </a:r>
            <a:r>
              <a:rPr lang="en-US" altLang="zh-CN" i="1" dirty="0">
                <a:solidFill>
                  <a:srgbClr val="FF3300"/>
                </a:solidFill>
              </a:rPr>
              <a:t>factor </a:t>
            </a:r>
            <a:r>
              <a:rPr lang="en-US" altLang="zh-CN" i="1" dirty="0" err="1">
                <a:solidFill>
                  <a:srgbClr val="FF3300"/>
                </a:solidFill>
              </a:rPr>
              <a:t>semigroup</a:t>
            </a:r>
            <a:endParaRPr lang="zh-CN" altLang="zh-CN" i="1" dirty="0">
              <a:solidFill>
                <a:srgbClr val="FF33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Products and Quotients of </a:t>
            </a:r>
            <a:r>
              <a:rPr lang="en-US" altLang="zh-CN" dirty="0" err="1"/>
              <a:t>Semigroups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Let </a:t>
            </a:r>
            <a:r>
              <a:rPr lang="en-US" altLang="zh-CN" i="1" dirty="0"/>
              <a:t>R</a:t>
            </a:r>
            <a:r>
              <a:rPr lang="en-US" altLang="zh-CN" dirty="0"/>
              <a:t> be a congruence relation on the </a:t>
            </a:r>
            <a:r>
              <a:rPr lang="en-US" altLang="zh-CN" dirty="0" err="1"/>
              <a:t>monoid</a:t>
            </a:r>
            <a:r>
              <a:rPr lang="en-US" altLang="zh-CN" dirty="0"/>
              <a:t> (</a:t>
            </a:r>
            <a:r>
              <a:rPr lang="en-US" altLang="zh-CN" i="1" dirty="0"/>
              <a:t>S</a:t>
            </a:r>
            <a:r>
              <a:rPr lang="en-US" altLang="zh-CN" dirty="0"/>
              <a:t>, *). If we define the operation 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 in S/</a:t>
            </a:r>
            <a:r>
              <a:rPr lang="en-US" altLang="zh-CN" i="1" dirty="0"/>
              <a:t>R</a:t>
            </a:r>
            <a:r>
              <a:rPr lang="en-US" altLang="zh-CN" dirty="0"/>
              <a:t> by 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 = [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], then (</a:t>
            </a:r>
            <a:r>
              <a:rPr lang="en-US" altLang="zh-CN" i="1" dirty="0"/>
              <a:t>S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) is a </a:t>
            </a:r>
            <a:r>
              <a:rPr lang="en-US" altLang="zh-CN" dirty="0" err="1"/>
              <a:t>monoid</a:t>
            </a:r>
            <a:r>
              <a:rPr lang="en-US" altLang="zh-CN" dirty="0"/>
              <a:t>.</a:t>
            </a:r>
            <a:endParaRPr lang="en-US" altLang="zh-CN" dirty="0"/>
          </a:p>
          <a:p>
            <a:r>
              <a:rPr lang="en-US" altLang="zh-CN" dirty="0" smtClean="0"/>
              <a:t>Let 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</a:t>
            </a:r>
            <a:r>
              <a:rPr lang="en-US" altLang="zh-CN" dirty="0"/>
              <a:t>be a congruence relation on a </a:t>
            </a:r>
            <a:r>
              <a:rPr lang="en-US" altLang="zh-CN" dirty="0" err="1"/>
              <a:t>semigroup</a:t>
            </a:r>
            <a:r>
              <a:rPr lang="en-US" altLang="zh-CN" dirty="0"/>
              <a:t> (</a:t>
            </a:r>
            <a:r>
              <a:rPr lang="en-US" altLang="zh-CN" i="1" dirty="0"/>
              <a:t>S</a:t>
            </a:r>
            <a:r>
              <a:rPr lang="en-US" altLang="zh-CN" dirty="0"/>
              <a:t>, *), and </a:t>
            </a:r>
            <a:r>
              <a:rPr lang="en-US" altLang="zh-CN" dirty="0" smtClean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) be the corresponding quotient </a:t>
            </a:r>
            <a:r>
              <a:rPr lang="en-US" altLang="zh-CN" dirty="0" err="1"/>
              <a:t>semigroup</a:t>
            </a:r>
            <a:r>
              <a:rPr lang="en-US" altLang="zh-CN" dirty="0"/>
              <a:t>. </a:t>
            </a:r>
            <a:r>
              <a:rPr lang="en-US" altLang="zh-CN" dirty="0" smtClean="0"/>
              <a:t>Then </a:t>
            </a:r>
            <a:r>
              <a:rPr lang="en-US" altLang="zh-CN" dirty="0"/>
              <a:t>the function </a:t>
            </a:r>
            <a:r>
              <a:rPr lang="en-US" altLang="zh-CN" i="1" dirty="0" err="1" smtClean="0"/>
              <a:t>f</a:t>
            </a:r>
            <a:r>
              <a:rPr lang="en-US" altLang="zh-CN" baseline="-25000" dirty="0" err="1" smtClean="0"/>
              <a:t>R</a:t>
            </a:r>
            <a:r>
              <a:rPr lang="en-US" altLang="zh-CN" dirty="0"/>
              <a:t>: </a:t>
            </a:r>
            <a:r>
              <a:rPr lang="en-US" altLang="zh-CN" i="1" dirty="0"/>
              <a:t>S</a:t>
            </a:r>
            <a:r>
              <a:rPr lang="en-US" altLang="zh-CN" dirty="0">
                <a:cs typeface="Times New Roman" panose="02020603050405020304" pitchFamily="18" charset="0"/>
                <a:sym typeface="MT Symbol" panose="05050102010706020507" pitchFamily="18" charset="2"/>
              </a:rPr>
              <a:t>→</a:t>
            </a:r>
            <a:r>
              <a:rPr lang="en-US" altLang="zh-CN" i="1" dirty="0"/>
              <a:t>S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dirty="0" smtClean="0"/>
              <a:t>defined </a:t>
            </a:r>
            <a:r>
              <a:rPr lang="en-US" altLang="zh-CN" dirty="0"/>
              <a:t>by </a:t>
            </a:r>
            <a:r>
              <a:rPr lang="en-US" altLang="zh-CN" i="1" dirty="0" err="1" smtClean="0"/>
              <a:t>f</a:t>
            </a:r>
            <a:r>
              <a:rPr lang="en-US" altLang="zh-CN" i="1" baseline="-25000" dirty="0" err="1" smtClean="0"/>
              <a:t>R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a</a:t>
            </a:r>
            <a:r>
              <a:rPr lang="en-US" altLang="zh-CN" dirty="0"/>
              <a:t>) = [</a:t>
            </a:r>
            <a:r>
              <a:rPr lang="en-US" altLang="zh-CN" i="1" dirty="0"/>
              <a:t>a</a:t>
            </a:r>
            <a:r>
              <a:rPr lang="en-US" altLang="zh-CN" dirty="0"/>
              <a:t>] </a:t>
            </a:r>
            <a:r>
              <a:rPr lang="en-US" altLang="zh-CN" dirty="0" smtClean="0"/>
              <a:t>is </a:t>
            </a:r>
            <a:r>
              <a:rPr lang="en-US" altLang="zh-CN" dirty="0"/>
              <a:t>an onto homomorphism, called the </a:t>
            </a:r>
            <a:r>
              <a:rPr lang="en-US" altLang="zh-CN" i="1" dirty="0">
                <a:solidFill>
                  <a:srgbClr val="FF3300"/>
                </a:solidFill>
              </a:rPr>
              <a:t>natural homomorphism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zh-CN" altLang="en-US" i="1" dirty="0">
                <a:solidFill>
                  <a:srgbClr val="FF3300"/>
                </a:solidFill>
              </a:rPr>
              <a:t>自然同态</a:t>
            </a:r>
            <a:r>
              <a:rPr lang="en-US" altLang="zh-CN" dirty="0" smtClean="0">
                <a:solidFill>
                  <a:srgbClr val="FF3300"/>
                </a:solidFill>
              </a:rPr>
              <a:t>).</a:t>
            </a:r>
            <a:endParaRPr lang="en-US" altLang="zh-CN" dirty="0" smtClean="0">
              <a:solidFill>
                <a:srgbClr val="FF3300"/>
              </a:solidFill>
            </a:endParaRPr>
          </a:p>
          <a:p>
            <a:r>
              <a:rPr lang="en-US" altLang="zh-CN" dirty="0"/>
              <a:t>Let</a:t>
            </a:r>
            <a:endParaRPr lang="en-US" altLang="zh-CN" dirty="0"/>
          </a:p>
          <a:p>
            <a:pPr lvl="1"/>
            <a:r>
              <a:rPr lang="en-US" altLang="zh-CN" i="1" dirty="0"/>
              <a:t>f</a:t>
            </a:r>
            <a:r>
              <a:rPr lang="en-US" altLang="zh-CN" dirty="0"/>
              <a:t>: </a:t>
            </a:r>
            <a:r>
              <a:rPr lang="en-US" altLang="zh-CN" i="1" dirty="0"/>
              <a:t>S</a:t>
            </a:r>
            <a:r>
              <a:rPr lang="en-US" altLang="zh-CN" dirty="0">
                <a:cs typeface="Times New Roman" panose="02020603050405020304" pitchFamily="18" charset="0"/>
                <a:sym typeface="MT Symbol" panose="05050102010706020507" pitchFamily="18" charset="2"/>
              </a:rPr>
              <a:t>→</a:t>
            </a:r>
            <a:r>
              <a:rPr lang="en-US" altLang="zh-CN" i="1" dirty="0"/>
              <a:t>T</a:t>
            </a:r>
            <a:r>
              <a:rPr lang="en-US" altLang="zh-CN" dirty="0"/>
              <a:t> be a homomorphism of the </a:t>
            </a:r>
            <a:r>
              <a:rPr lang="en-US" altLang="zh-CN" dirty="0" err="1"/>
              <a:t>semigroup</a:t>
            </a:r>
            <a:r>
              <a:rPr lang="en-US" altLang="zh-CN" dirty="0"/>
              <a:t> (</a:t>
            </a:r>
            <a:r>
              <a:rPr lang="en-US" altLang="zh-CN" i="1" dirty="0"/>
              <a:t>S</a:t>
            </a:r>
            <a:r>
              <a:rPr lang="en-US" altLang="zh-CN" dirty="0"/>
              <a:t>, *) </a:t>
            </a:r>
            <a:r>
              <a:rPr lang="en-US" altLang="zh-CN" i="1" dirty="0">
                <a:solidFill>
                  <a:schemeClr val="hlink"/>
                </a:solidFill>
              </a:rPr>
              <a:t>onto</a:t>
            </a:r>
            <a:r>
              <a:rPr lang="en-US" altLang="zh-CN" dirty="0"/>
              <a:t> the </a:t>
            </a:r>
            <a:r>
              <a:rPr lang="en-US" altLang="zh-CN" dirty="0" err="1"/>
              <a:t>semigroup</a:t>
            </a:r>
            <a:r>
              <a:rPr lang="en-US" altLang="zh-CN" dirty="0"/>
              <a:t> (</a:t>
            </a:r>
            <a:r>
              <a:rPr lang="en-US" altLang="zh-CN" i="1" dirty="0"/>
              <a:t>T</a:t>
            </a:r>
            <a:r>
              <a:rPr lang="en-US" altLang="zh-CN" dirty="0"/>
              <a:t>, *'). </a:t>
            </a:r>
            <a:endParaRPr lang="en-US" altLang="zh-CN" dirty="0"/>
          </a:p>
          <a:p>
            <a:pPr lvl="1"/>
            <a:r>
              <a:rPr lang="en-US" altLang="zh-CN" i="1" dirty="0"/>
              <a:t>R</a:t>
            </a:r>
            <a:r>
              <a:rPr lang="en-US" altLang="zh-CN" dirty="0"/>
              <a:t> be the relation on </a:t>
            </a:r>
            <a:r>
              <a:rPr lang="en-US" altLang="zh-CN" i="1" dirty="0"/>
              <a:t>S</a:t>
            </a:r>
            <a:r>
              <a:rPr lang="en-US" altLang="zh-CN" dirty="0"/>
              <a:t> defined by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</a:t>
            </a:r>
            <a:r>
              <a:rPr lang="en-US" altLang="zh-CN" i="1" dirty="0"/>
              <a:t> 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for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in </a:t>
            </a:r>
            <a:r>
              <a:rPr lang="en-US" altLang="zh-CN" i="1" dirty="0"/>
              <a:t>S</a:t>
            </a:r>
            <a:r>
              <a:rPr lang="en-US" altLang="zh-CN" dirty="0"/>
              <a:t>. </a:t>
            </a:r>
            <a:endParaRPr lang="en-US" altLang="zh-CN" dirty="0"/>
          </a:p>
          <a:p>
            <a:r>
              <a:rPr lang="en-US" altLang="zh-CN" dirty="0"/>
              <a:t>Then </a:t>
            </a:r>
            <a:endParaRPr lang="en-US" altLang="zh-CN" dirty="0"/>
          </a:p>
          <a:p>
            <a:pPr lvl="1"/>
            <a:r>
              <a:rPr lang="en-US" altLang="zh-CN" i="1" dirty="0"/>
              <a:t>R</a:t>
            </a:r>
            <a:r>
              <a:rPr lang="en-US" altLang="zh-CN" dirty="0"/>
              <a:t> is a congruence relation.</a:t>
            </a:r>
            <a:endParaRPr lang="en-US" altLang="zh-CN" dirty="0"/>
          </a:p>
          <a:p>
            <a:pPr lvl="1"/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, *') and the quotient </a:t>
            </a:r>
            <a:r>
              <a:rPr lang="en-US" altLang="zh-CN" dirty="0" err="1"/>
              <a:t>semigroup</a:t>
            </a:r>
            <a:r>
              <a:rPr lang="en-US" altLang="zh-CN" dirty="0"/>
              <a:t> (</a:t>
            </a:r>
            <a:r>
              <a:rPr lang="en-US" altLang="zh-CN" i="1" dirty="0"/>
              <a:t>S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) are isomorphic.</a:t>
            </a:r>
            <a:endParaRPr lang="zh-CN" altLang="en-US" dirty="0"/>
          </a:p>
          <a:p>
            <a:endParaRPr lang="zh-CN" altLang="en-US" dirty="0">
              <a:solidFill>
                <a:srgbClr val="FF3300"/>
              </a:solidFill>
            </a:endParaRPr>
          </a:p>
          <a:p>
            <a:endParaRPr lang="zh-CN" altLang="en-US" dirty="0"/>
          </a:p>
        </p:txBody>
      </p:sp>
      <p:grpSp>
        <p:nvGrpSpPr>
          <p:cNvPr id="4" name="Group 9"/>
          <p:cNvGrpSpPr/>
          <p:nvPr/>
        </p:nvGrpSpPr>
        <p:grpSpPr bwMode="auto">
          <a:xfrm>
            <a:off x="9472037" y="4856307"/>
            <a:ext cx="2101128" cy="1784639"/>
            <a:chOff x="1670" y="1389"/>
            <a:chExt cx="1876" cy="1902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1927" y="1706"/>
              <a:ext cx="1361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1882" y="1888"/>
              <a:ext cx="636" cy="1044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12"/>
            <p:cNvSpPr>
              <a:spLocks noChangeShapeType="1"/>
            </p:cNvSpPr>
            <p:nvPr/>
          </p:nvSpPr>
          <p:spPr bwMode="auto">
            <a:xfrm flipV="1">
              <a:off x="2744" y="1842"/>
              <a:ext cx="590" cy="1044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 type="arrow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1670" y="160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S</a:t>
              </a:r>
              <a:endParaRPr lang="en-US" altLang="zh-CN" sz="2400" i="1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258" y="1570"/>
              <a:ext cx="288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T</a:t>
              </a:r>
              <a:endParaRPr lang="en-US" altLang="zh-CN" sz="2400" i="1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2427" y="2886"/>
              <a:ext cx="493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 dirty="0">
                  <a:solidFill>
                    <a:schemeClr val="folHlink"/>
                  </a:solidFill>
                  <a:ea typeface="楷体_GB2312" pitchFamily="49" charset="-122"/>
                </a:rPr>
                <a:t>S/R</a:t>
              </a:r>
              <a:endParaRPr lang="en-US" altLang="zh-CN" sz="2400" i="1" dirty="0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1791" y="2205"/>
              <a:ext cx="31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f</a:t>
              </a:r>
              <a:r>
                <a:rPr lang="en-US" altLang="zh-CN" sz="2400" i="1" baseline="-25000">
                  <a:solidFill>
                    <a:schemeClr val="folHlink"/>
                  </a:solidFill>
                  <a:ea typeface="楷体_GB2312" pitchFamily="49" charset="-122"/>
                </a:rPr>
                <a:t>R</a:t>
              </a:r>
              <a:endParaRPr lang="en-US" altLang="zh-CN" sz="2400" i="1" baseline="-25000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3107" y="2205"/>
              <a:ext cx="2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f</a:t>
              </a:r>
              <a:endParaRPr lang="en-US" altLang="zh-CN" sz="2400" i="1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2472" y="1389"/>
              <a:ext cx="2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f</a:t>
              </a:r>
              <a:endParaRPr lang="en-US" altLang="zh-CN" sz="2400" i="1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3152" y="2251"/>
              <a:ext cx="137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A </a:t>
            </a:r>
            <a:r>
              <a:rPr lang="en-US" altLang="zh-CN" i="1" dirty="0">
                <a:solidFill>
                  <a:srgbClr val="FF3300"/>
                </a:solidFill>
              </a:rPr>
              <a:t>group</a:t>
            </a:r>
            <a:r>
              <a:rPr lang="en-US" altLang="zh-CN" dirty="0"/>
              <a:t> (</a:t>
            </a:r>
            <a:r>
              <a:rPr lang="en-US" altLang="zh-CN" i="1" dirty="0"/>
              <a:t>G</a:t>
            </a:r>
            <a:r>
              <a:rPr lang="en-US" altLang="zh-CN" dirty="0"/>
              <a:t>, *) is a set together with a binary operation * on </a:t>
            </a:r>
            <a:r>
              <a:rPr lang="en-US" altLang="zh-CN" i="1" dirty="0"/>
              <a:t>G</a:t>
            </a:r>
            <a:r>
              <a:rPr lang="en-US" altLang="zh-CN" dirty="0"/>
              <a:t> such that, for any elements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and </a:t>
            </a:r>
            <a:r>
              <a:rPr lang="en-US" altLang="zh-CN" i="1" dirty="0"/>
              <a:t>c</a:t>
            </a:r>
            <a:r>
              <a:rPr lang="en-US" altLang="zh-CN" dirty="0"/>
              <a:t> in </a:t>
            </a:r>
            <a:r>
              <a:rPr lang="en-US" altLang="zh-CN" i="1" dirty="0"/>
              <a:t>G</a:t>
            </a:r>
            <a:endParaRPr lang="en-US" altLang="zh-CN" dirty="0"/>
          </a:p>
          <a:p>
            <a:pPr lvl="1"/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)*</a:t>
            </a:r>
            <a:r>
              <a:rPr lang="en-US" altLang="zh-CN" i="1" dirty="0"/>
              <a:t>c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*(</a:t>
            </a:r>
            <a:r>
              <a:rPr lang="en-US" altLang="zh-CN" i="1" dirty="0"/>
              <a:t>b</a:t>
            </a:r>
            <a:r>
              <a:rPr lang="en-US" altLang="zh-CN" dirty="0"/>
              <a:t>*</a:t>
            </a:r>
            <a:r>
              <a:rPr lang="en-US" altLang="zh-CN" i="1" dirty="0"/>
              <a:t>c</a:t>
            </a:r>
            <a:r>
              <a:rPr lang="en-US" altLang="zh-CN" dirty="0"/>
              <a:t>).</a:t>
            </a:r>
            <a:endParaRPr lang="en-US" altLang="zh-CN" dirty="0"/>
          </a:p>
          <a:p>
            <a:pPr lvl="1"/>
            <a:r>
              <a:rPr lang="en-US" altLang="zh-CN" dirty="0"/>
              <a:t>a unique element </a:t>
            </a:r>
            <a:r>
              <a:rPr lang="en-US" altLang="zh-CN" i="1" dirty="0"/>
              <a:t>e</a:t>
            </a:r>
            <a:r>
              <a:rPr lang="en-US" altLang="zh-CN" dirty="0"/>
              <a:t> in </a:t>
            </a:r>
            <a:r>
              <a:rPr lang="en-US" altLang="zh-CN" i="1" dirty="0"/>
              <a:t>G</a:t>
            </a:r>
            <a:r>
              <a:rPr lang="en-US" altLang="zh-CN" dirty="0"/>
              <a:t> such that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*</a:t>
            </a:r>
            <a:r>
              <a:rPr lang="en-US" altLang="zh-CN" i="1" dirty="0" smtClean="0"/>
              <a:t>e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an element </a:t>
            </a:r>
            <a:r>
              <a:rPr lang="en-US" altLang="zh-CN" i="1" dirty="0"/>
              <a:t>a</a:t>
            </a:r>
            <a:r>
              <a:rPr lang="en-US" altLang="zh-CN" dirty="0"/>
              <a:t>'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G, called an inverse of </a:t>
            </a:r>
            <a:r>
              <a:rPr lang="en-US" altLang="zh-CN" i="1" dirty="0"/>
              <a:t>a </a:t>
            </a:r>
            <a:r>
              <a:rPr lang="en-US" altLang="zh-CN" dirty="0"/>
              <a:t>and written as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, such that </a:t>
            </a:r>
            <a:endParaRPr lang="en-US" altLang="zh-CN" dirty="0"/>
          </a:p>
          <a:p>
            <a:pPr lvl="2"/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dirty="0"/>
              <a:t>' = </a:t>
            </a:r>
            <a:r>
              <a:rPr lang="en-US" altLang="zh-CN" i="1" dirty="0"/>
              <a:t>a</a:t>
            </a:r>
            <a:r>
              <a:rPr lang="en-US" altLang="zh-CN" dirty="0"/>
              <a:t>'*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en-US" altLang="zh-CN" i="1" dirty="0"/>
              <a:t>e </a:t>
            </a:r>
            <a:r>
              <a:rPr lang="en-US" altLang="zh-CN" dirty="0"/>
              <a:t>or </a:t>
            </a:r>
            <a:r>
              <a:rPr lang="en-US" altLang="zh-CN" i="1" dirty="0" err="1"/>
              <a:t>aa</a:t>
            </a:r>
            <a:r>
              <a:rPr lang="en-US" altLang="zh-CN" dirty="0"/>
              <a:t>' = </a:t>
            </a:r>
            <a:r>
              <a:rPr lang="en-US" altLang="zh-CN" i="1" dirty="0" err="1"/>
              <a:t>a</a:t>
            </a:r>
            <a:r>
              <a:rPr lang="en-US" altLang="zh-CN" dirty="0" err="1"/>
              <a:t>'</a:t>
            </a:r>
            <a:r>
              <a:rPr lang="en-US" altLang="zh-CN" i="1" dirty="0" err="1"/>
              <a:t>a</a:t>
            </a:r>
            <a:r>
              <a:rPr lang="en-US" altLang="zh-CN" dirty="0"/>
              <a:t> = </a:t>
            </a:r>
            <a:r>
              <a:rPr lang="en-US" altLang="zh-CN" i="1" dirty="0"/>
              <a:t>e </a:t>
            </a:r>
            <a:r>
              <a:rPr lang="en-US" altLang="zh-CN" dirty="0"/>
              <a:t>or </a:t>
            </a:r>
            <a:r>
              <a:rPr lang="en-US" altLang="zh-CN" i="1" dirty="0"/>
              <a:t>aa</a:t>
            </a:r>
            <a:r>
              <a:rPr lang="en-US" altLang="zh-CN" baseline="30000" dirty="0"/>
              <a:t>-1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endParaRPr lang="en-US" altLang="zh-CN" i="1" dirty="0"/>
          </a:p>
          <a:p>
            <a:r>
              <a:rPr lang="en-US" altLang="zh-CN" dirty="0"/>
              <a:t>A group </a:t>
            </a:r>
            <a:r>
              <a:rPr lang="en-US" altLang="zh-CN" i="1" dirty="0"/>
              <a:t>G</a:t>
            </a:r>
            <a:r>
              <a:rPr lang="en-US" altLang="zh-CN" dirty="0"/>
              <a:t> is said to be </a:t>
            </a:r>
            <a:r>
              <a:rPr lang="en-US" altLang="zh-CN" i="1" dirty="0">
                <a:solidFill>
                  <a:schemeClr val="hlink"/>
                </a:solidFill>
              </a:rPr>
              <a:t>Abelian</a:t>
            </a:r>
            <a:r>
              <a:rPr lang="en-US" altLang="zh-CN" dirty="0"/>
              <a:t> if </a:t>
            </a:r>
            <a:r>
              <a:rPr lang="en-US" altLang="zh-CN" i="1" dirty="0"/>
              <a:t>ab</a:t>
            </a:r>
            <a:r>
              <a:rPr lang="en-US" altLang="zh-CN" dirty="0"/>
              <a:t> = </a:t>
            </a:r>
            <a:r>
              <a:rPr lang="en-US" altLang="zh-CN" i="1" dirty="0" err="1"/>
              <a:t>ba</a:t>
            </a:r>
            <a:r>
              <a:rPr lang="en-US" altLang="zh-CN" dirty="0"/>
              <a:t> for all elements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in </a:t>
            </a:r>
            <a:r>
              <a:rPr lang="en-US" altLang="zh-CN" i="1" dirty="0"/>
              <a:t>G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en-US" altLang="zh-CN" dirty="0"/>
              <a:t>Let </a:t>
            </a:r>
            <a:r>
              <a:rPr lang="en-US" altLang="zh-CN" i="1" dirty="0" smtClean="0"/>
              <a:t>G</a:t>
            </a:r>
            <a:r>
              <a:rPr lang="en-US" altLang="zh-CN" dirty="0" smtClean="0"/>
              <a:t> </a:t>
            </a:r>
            <a:r>
              <a:rPr lang="en-US" altLang="zh-CN" dirty="0"/>
              <a:t>be a group and </a:t>
            </a:r>
            <a:r>
              <a:rPr lang="en-US" altLang="zh-CN" dirty="0" smtClean="0"/>
              <a:t> </a:t>
            </a:r>
            <a:r>
              <a:rPr lang="en-US" altLang="zh-CN" i="1" dirty="0" smtClean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and </a:t>
            </a:r>
            <a:r>
              <a:rPr lang="en-US" altLang="zh-CN" i="1" dirty="0"/>
              <a:t>c</a:t>
            </a:r>
            <a:r>
              <a:rPr lang="en-US" altLang="zh-CN" dirty="0"/>
              <a:t> be elements of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r>
              <a:rPr lang="en-US" altLang="zh-CN" dirty="0" smtClean="0"/>
              <a:t>Then</a:t>
            </a:r>
            <a:endParaRPr lang="en-US" altLang="zh-CN" dirty="0"/>
          </a:p>
          <a:p>
            <a:pPr lvl="1"/>
            <a:r>
              <a:rPr lang="en-US" altLang="zh-CN" i="1" dirty="0">
                <a:solidFill>
                  <a:schemeClr val="hlink"/>
                </a:solidFill>
              </a:rPr>
              <a:t>left cancellation</a:t>
            </a:r>
            <a:r>
              <a:rPr lang="en-US" altLang="zh-CN" i="1" dirty="0"/>
              <a:t> – </a:t>
            </a:r>
            <a:r>
              <a:rPr lang="zh-CN" altLang="en-US" dirty="0"/>
              <a:t>左消去律</a:t>
            </a:r>
            <a:endParaRPr lang="zh-CN" altLang="en-US" dirty="0"/>
          </a:p>
          <a:p>
            <a:pPr lvl="2"/>
            <a:r>
              <a:rPr lang="en-US" altLang="zh-CN" i="1" dirty="0"/>
              <a:t>ab</a:t>
            </a:r>
            <a:r>
              <a:rPr lang="en-US" altLang="zh-CN" dirty="0"/>
              <a:t> = </a:t>
            </a:r>
            <a:r>
              <a:rPr lang="en-US" altLang="zh-CN" i="1" dirty="0"/>
              <a:t>ac</a:t>
            </a:r>
            <a:r>
              <a:rPr lang="en-US" altLang="zh-CN" dirty="0"/>
              <a:t> implies that 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endParaRPr lang="en-US" altLang="zh-CN" dirty="0"/>
          </a:p>
          <a:p>
            <a:pPr lvl="1"/>
            <a:r>
              <a:rPr lang="en-US" altLang="zh-CN" i="1" dirty="0">
                <a:solidFill>
                  <a:schemeClr val="hlink"/>
                </a:solidFill>
              </a:rPr>
              <a:t>right cancellation</a:t>
            </a:r>
            <a:r>
              <a:rPr lang="en-US" altLang="zh-CN" i="1" dirty="0"/>
              <a:t> – </a:t>
            </a:r>
            <a:r>
              <a:rPr lang="zh-CN" altLang="en-US" dirty="0"/>
              <a:t>右消去律</a:t>
            </a:r>
            <a:endParaRPr lang="en-US" altLang="zh-CN" i="1" dirty="0">
              <a:solidFill>
                <a:schemeClr val="hlink"/>
              </a:solidFill>
            </a:endParaRPr>
          </a:p>
          <a:p>
            <a:pPr lvl="2"/>
            <a:r>
              <a:rPr lang="en-US" altLang="zh-CN" i="1" dirty="0" err="1"/>
              <a:t>ba</a:t>
            </a:r>
            <a:r>
              <a:rPr lang="en-US" altLang="zh-CN" dirty="0"/>
              <a:t> = </a:t>
            </a:r>
            <a:r>
              <a:rPr lang="en-US" altLang="zh-CN" i="1" dirty="0"/>
              <a:t>ca</a:t>
            </a:r>
            <a:r>
              <a:rPr lang="en-US" altLang="zh-CN" dirty="0"/>
              <a:t> implies that 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 smtClean="0"/>
              <a:t>c</a:t>
            </a:r>
            <a:endParaRPr lang="en-US" altLang="zh-CN" i="1" dirty="0" smtClean="0"/>
          </a:p>
          <a:p>
            <a:pPr marL="914400" lvl="1" indent="-457200"/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  <a:endParaRPr lang="en-US" altLang="zh-CN" dirty="0"/>
          </a:p>
          <a:p>
            <a:pPr marL="914400" lvl="1" indent="-457200"/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baseline="30000" dirty="0"/>
              <a:t>-1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endParaRPr lang="zh-CN" altLang="en-US" dirty="0"/>
          </a:p>
          <a:p>
            <a:pPr lvl="2"/>
            <a:endParaRPr lang="zh-CN" altLang="en-US" i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698018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If </a:t>
            </a:r>
            <a:r>
              <a:rPr lang="en-US" altLang="zh-CN" i="1" dirty="0"/>
              <a:t>G</a:t>
            </a:r>
            <a:r>
              <a:rPr lang="en-US" altLang="zh-CN" dirty="0"/>
              <a:t> is a group that has a finite number of elements, </a:t>
            </a:r>
            <a:r>
              <a:rPr lang="en-US" altLang="zh-CN" i="1" dirty="0"/>
              <a:t>G</a:t>
            </a:r>
            <a:r>
              <a:rPr lang="en-US" altLang="zh-CN" dirty="0"/>
              <a:t> is said to be a </a:t>
            </a:r>
            <a:r>
              <a:rPr lang="en-US" altLang="zh-CN" i="1" dirty="0">
                <a:solidFill>
                  <a:srgbClr val="FF3300"/>
                </a:solidFill>
              </a:rPr>
              <a:t>finite group</a:t>
            </a:r>
            <a:r>
              <a:rPr lang="en-US" altLang="zh-CN" dirty="0"/>
              <a:t>, and the </a:t>
            </a:r>
            <a:r>
              <a:rPr lang="en-US" altLang="zh-CN" i="1" dirty="0">
                <a:solidFill>
                  <a:srgbClr val="FF3300"/>
                </a:solidFill>
              </a:rPr>
              <a:t>order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zh-CN" altLang="en-US" dirty="0">
                <a:solidFill>
                  <a:srgbClr val="FF3300"/>
                </a:solidFill>
              </a:rPr>
              <a:t>阶</a:t>
            </a:r>
            <a:r>
              <a:rPr lang="en-US" altLang="zh-CN" dirty="0">
                <a:solidFill>
                  <a:srgbClr val="FF3300"/>
                </a:solidFill>
              </a:rPr>
              <a:t>)</a:t>
            </a:r>
            <a:r>
              <a:rPr lang="en-US" altLang="zh-CN" dirty="0"/>
              <a:t> of </a:t>
            </a:r>
            <a:r>
              <a:rPr lang="en-US" altLang="zh-CN" i="1" dirty="0"/>
              <a:t>G</a:t>
            </a:r>
            <a:r>
              <a:rPr lang="en-US" altLang="zh-CN" dirty="0"/>
              <a:t> is the number of elements |</a:t>
            </a:r>
            <a:r>
              <a:rPr lang="en-US" altLang="zh-CN" i="1" dirty="0"/>
              <a:t>G</a:t>
            </a:r>
            <a:r>
              <a:rPr lang="en-US" altLang="zh-CN" dirty="0"/>
              <a:t>| in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endParaRPr lang="en-US" altLang="zh-CN" dirty="0"/>
          </a:p>
          <a:p>
            <a:r>
              <a:rPr lang="en-US" altLang="zh-CN" dirty="0"/>
              <a:t>The set of all permutations of </a:t>
            </a:r>
            <a:r>
              <a:rPr lang="en-US" altLang="zh-CN" i="1" dirty="0"/>
              <a:t>n</a:t>
            </a:r>
            <a:r>
              <a:rPr lang="en-US" altLang="zh-CN" dirty="0"/>
              <a:t> elements is a group of order </a:t>
            </a:r>
            <a:r>
              <a:rPr lang="en-US" altLang="zh-CN" i="1" dirty="0"/>
              <a:t>n</a:t>
            </a:r>
            <a:r>
              <a:rPr lang="en-US" altLang="zh-CN" dirty="0"/>
              <a:t>! under the operation of composition. </a:t>
            </a:r>
            <a:r>
              <a:rPr lang="en-US" altLang="zh-CN" dirty="0" smtClean="0"/>
              <a:t>This </a:t>
            </a:r>
            <a:r>
              <a:rPr lang="en-US" altLang="zh-CN" dirty="0"/>
              <a:t>group is called the </a:t>
            </a:r>
            <a:r>
              <a:rPr lang="en-US" altLang="zh-CN" i="1" dirty="0">
                <a:solidFill>
                  <a:srgbClr val="FF3300"/>
                </a:solidFill>
              </a:rPr>
              <a:t>symmetric group on n </a:t>
            </a:r>
            <a:r>
              <a:rPr lang="en-US" altLang="zh-CN" i="1" dirty="0">
                <a:solidFill>
                  <a:schemeClr val="hlink"/>
                </a:solidFill>
              </a:rPr>
              <a:t>letters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zh-CN" altLang="en-US" dirty="0">
                <a:solidFill>
                  <a:schemeClr val="hlink"/>
                </a:solidFill>
              </a:rPr>
              <a:t>次对称群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 and is denoted by 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n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en-US" altLang="zh-CN" dirty="0" smtClean="0"/>
              <a:t>Let </a:t>
            </a:r>
            <a:r>
              <a:rPr lang="en-US" altLang="zh-CN" i="1" dirty="0"/>
              <a:t>H</a:t>
            </a:r>
            <a:r>
              <a:rPr lang="en-US" altLang="zh-CN" dirty="0"/>
              <a:t> be a subset of a group </a:t>
            </a:r>
            <a:r>
              <a:rPr lang="en-US" altLang="zh-CN" i="1" dirty="0"/>
              <a:t>G</a:t>
            </a:r>
            <a:r>
              <a:rPr lang="en-US" altLang="zh-CN" dirty="0"/>
              <a:t> such that</a:t>
            </a:r>
            <a:endParaRPr lang="en-US" altLang="zh-CN" dirty="0"/>
          </a:p>
          <a:p>
            <a:pPr lvl="1"/>
            <a:r>
              <a:rPr lang="en-US" altLang="zh-CN" dirty="0"/>
              <a:t>(a) The identity </a:t>
            </a:r>
            <a:r>
              <a:rPr lang="en-US" altLang="zh-CN" i="1" dirty="0"/>
              <a:t>e</a:t>
            </a:r>
            <a:r>
              <a:rPr lang="en-US" altLang="zh-CN" dirty="0"/>
              <a:t> of </a:t>
            </a:r>
            <a:r>
              <a:rPr lang="en-US" altLang="zh-CN" i="1" dirty="0"/>
              <a:t>G</a:t>
            </a:r>
            <a:r>
              <a:rPr lang="en-US" altLang="zh-CN" dirty="0"/>
              <a:t> belongs to </a:t>
            </a:r>
            <a:r>
              <a:rPr lang="en-US" altLang="zh-CN" i="1" dirty="0"/>
              <a:t>H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(b) If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belong to </a:t>
            </a:r>
            <a:r>
              <a:rPr lang="en-US" altLang="zh-CN" i="1" dirty="0"/>
              <a:t>H</a:t>
            </a:r>
            <a:r>
              <a:rPr lang="en-US" altLang="zh-CN" dirty="0"/>
              <a:t>, then </a:t>
            </a:r>
            <a:r>
              <a:rPr lang="en-US" altLang="zh-CN" i="1" dirty="0"/>
              <a:t>ab</a:t>
            </a:r>
            <a:r>
              <a:rPr lang="en-US" altLang="zh-CN" dirty="0">
                <a:sym typeface="Symbol" panose="05050102010706020507" pitchFamily="18" charset="2"/>
              </a:rPr>
              <a:t>  </a:t>
            </a:r>
            <a:r>
              <a:rPr lang="en-US" altLang="zh-CN" i="1" dirty="0"/>
              <a:t>H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(c) If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, then </a:t>
            </a:r>
            <a:r>
              <a:rPr lang="en-US" altLang="zh-CN" i="1" dirty="0"/>
              <a:t>a</a:t>
            </a:r>
            <a:r>
              <a:rPr lang="en-US" altLang="zh-CN" baseline="30000" dirty="0"/>
              <a:t>-l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 smtClean="0"/>
              <a:t>.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Then </a:t>
            </a:r>
            <a:r>
              <a:rPr lang="en-US" altLang="zh-CN" i="1" dirty="0"/>
              <a:t>H</a:t>
            </a:r>
            <a:r>
              <a:rPr lang="en-US" altLang="zh-CN" dirty="0"/>
              <a:t> is called a </a:t>
            </a:r>
            <a:r>
              <a:rPr lang="en-US" altLang="zh-CN" i="1" dirty="0">
                <a:solidFill>
                  <a:srgbClr val="FF3300"/>
                </a:solidFill>
              </a:rPr>
              <a:t>subgroup</a:t>
            </a:r>
            <a:r>
              <a:rPr lang="en-US" altLang="zh-CN" dirty="0"/>
              <a:t> of </a:t>
            </a:r>
            <a:r>
              <a:rPr lang="en-US" altLang="zh-CN" i="1" dirty="0"/>
              <a:t>G</a:t>
            </a:r>
            <a:endParaRPr lang="en-US" altLang="zh-CN" i="1" dirty="0"/>
          </a:p>
          <a:p>
            <a:pPr lvl="1"/>
            <a:endParaRPr lang="en-US" altLang="zh-CN" i="1" dirty="0" smtClean="0">
              <a:solidFill>
                <a:schemeClr val="hlink"/>
              </a:solidFill>
            </a:endParaRPr>
          </a:p>
          <a:p>
            <a:r>
              <a:rPr lang="en-US" altLang="zh-CN" i="1" dirty="0" smtClean="0">
                <a:solidFill>
                  <a:schemeClr val="hlink"/>
                </a:solidFill>
              </a:rPr>
              <a:t>trivial subgroups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Let (</a:t>
            </a:r>
            <a:r>
              <a:rPr lang="en-US" altLang="zh-CN" i="1" dirty="0" smtClean="0"/>
              <a:t>G</a:t>
            </a:r>
            <a:r>
              <a:rPr lang="en-US" altLang="zh-CN" dirty="0"/>
              <a:t>, *) and (</a:t>
            </a:r>
            <a:r>
              <a:rPr lang="en-US" altLang="zh-CN" i="1" dirty="0"/>
              <a:t>G</a:t>
            </a:r>
            <a:r>
              <a:rPr lang="en-US" altLang="zh-CN" dirty="0"/>
              <a:t>', *') be two groups, </a:t>
            </a:r>
            <a:r>
              <a:rPr lang="en-US" altLang="zh-CN" dirty="0" smtClean="0"/>
              <a:t>and </a:t>
            </a:r>
            <a:r>
              <a:rPr lang="en-US" altLang="zh-CN" i="1" dirty="0" smtClean="0"/>
              <a:t>f</a:t>
            </a:r>
            <a:r>
              <a:rPr lang="en-US" altLang="zh-CN" dirty="0"/>
              <a:t>: </a:t>
            </a:r>
            <a:r>
              <a:rPr lang="en-US" altLang="zh-CN" i="1" dirty="0"/>
              <a:t>G</a:t>
            </a:r>
            <a:r>
              <a:rPr lang="en-US" altLang="zh-CN" i="1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G</a:t>
            </a:r>
            <a:r>
              <a:rPr lang="en-US" altLang="zh-CN" dirty="0"/>
              <a:t>' be a homomorphism from </a:t>
            </a:r>
            <a:r>
              <a:rPr lang="en-US" altLang="zh-CN" i="1" dirty="0"/>
              <a:t>G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to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dirty="0" smtClean="0"/>
              <a:t>'. Then</a:t>
            </a:r>
            <a:endParaRPr lang="en-US" altLang="zh-CN" dirty="0"/>
          </a:p>
          <a:p>
            <a:pPr lvl="1"/>
            <a:r>
              <a:rPr lang="en-US" altLang="zh-CN" dirty="0"/>
              <a:t>(a) If </a:t>
            </a:r>
            <a:r>
              <a:rPr lang="en-US" altLang="zh-CN" i="1" dirty="0"/>
              <a:t>e</a:t>
            </a:r>
            <a:r>
              <a:rPr lang="en-US" altLang="zh-CN" dirty="0"/>
              <a:t> is the identity in </a:t>
            </a:r>
            <a:r>
              <a:rPr lang="en-US" altLang="zh-CN" i="1" dirty="0"/>
              <a:t>G</a:t>
            </a:r>
            <a:r>
              <a:rPr lang="en-US" altLang="zh-CN" dirty="0"/>
              <a:t> and </a:t>
            </a:r>
            <a:r>
              <a:rPr lang="en-US" altLang="zh-CN" i="1" dirty="0"/>
              <a:t>e'</a:t>
            </a:r>
            <a:r>
              <a:rPr lang="en-US" altLang="zh-CN" dirty="0"/>
              <a:t> is the identity in </a:t>
            </a:r>
            <a:r>
              <a:rPr lang="en-US" altLang="zh-CN" i="1" dirty="0"/>
              <a:t>G</a:t>
            </a:r>
            <a:r>
              <a:rPr lang="en-US" altLang="zh-CN" dirty="0"/>
              <a:t>',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'.</a:t>
            </a:r>
            <a:endParaRPr lang="en-US" altLang="zh-CN" dirty="0"/>
          </a:p>
          <a:p>
            <a:pPr lvl="1"/>
            <a:r>
              <a:rPr lang="en-US" altLang="zh-CN" dirty="0"/>
              <a:t>(b) If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G</a:t>
            </a:r>
            <a:r>
              <a:rPr lang="en-US" altLang="zh-CN" dirty="0"/>
              <a:t>,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) = 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))</a:t>
            </a:r>
            <a:r>
              <a:rPr lang="en-US" altLang="zh-CN" baseline="30000" dirty="0"/>
              <a:t>-1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(c) If </a:t>
            </a:r>
            <a:r>
              <a:rPr lang="en-US" altLang="zh-CN" i="1" dirty="0"/>
              <a:t>H</a:t>
            </a:r>
            <a:r>
              <a:rPr lang="en-US" altLang="zh-CN" dirty="0"/>
              <a:t> is a subgroup of </a:t>
            </a:r>
            <a:r>
              <a:rPr lang="en-US" altLang="zh-CN" i="1" dirty="0"/>
              <a:t>G</a:t>
            </a:r>
            <a:r>
              <a:rPr lang="en-US" altLang="zh-CN" dirty="0"/>
              <a:t>,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H</a:t>
            </a:r>
            <a:r>
              <a:rPr lang="en-US" altLang="zh-CN" dirty="0"/>
              <a:t>) = {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h</a:t>
            </a:r>
            <a:r>
              <a:rPr lang="en-US" altLang="zh-CN" dirty="0"/>
              <a:t>)|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} is a subgroup of </a:t>
            </a:r>
            <a:r>
              <a:rPr lang="en-US" altLang="zh-CN" i="1" dirty="0"/>
              <a:t>G</a:t>
            </a:r>
            <a:r>
              <a:rPr lang="en-US" altLang="zh-CN" dirty="0"/>
              <a:t>'.</a:t>
            </a:r>
            <a:endParaRPr lang="zh-CN" altLang="en-US" dirty="0"/>
          </a:p>
          <a:p>
            <a:r>
              <a:rPr lang="en-US" altLang="zh-CN" i="1" dirty="0">
                <a:solidFill>
                  <a:schemeClr val="hlink"/>
                </a:solidFill>
              </a:rPr>
              <a:t>Klein 4 </a:t>
            </a:r>
            <a:r>
              <a:rPr lang="en-US" altLang="zh-CN" i="1" dirty="0" smtClean="0">
                <a:solidFill>
                  <a:schemeClr val="hlink"/>
                </a:solidFill>
              </a:rPr>
              <a:t>group</a:t>
            </a:r>
            <a:endParaRPr lang="en-US" altLang="zh-CN" i="1" dirty="0" smtClean="0">
              <a:solidFill>
                <a:schemeClr val="hlink"/>
              </a:solidFill>
            </a:endParaRPr>
          </a:p>
          <a:p>
            <a:r>
              <a:rPr lang="en-US" altLang="zh-CN" i="1" dirty="0" smtClean="0">
                <a:solidFill>
                  <a:schemeClr val="hlink"/>
                </a:solidFill>
              </a:rPr>
              <a:t>Cyclic </a:t>
            </a:r>
            <a:r>
              <a:rPr lang="en-US" altLang="zh-CN" i="1" dirty="0">
                <a:solidFill>
                  <a:schemeClr val="hlink"/>
                </a:solidFill>
              </a:rPr>
              <a:t>group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Products and Quotients of Groups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 </a:t>
            </a:r>
            <a:r>
              <a:rPr lang="en-US" altLang="zh-CN" i="1" dirty="0" smtClean="0"/>
              <a:t>G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</a:t>
            </a:r>
            <a:r>
              <a:rPr lang="en-US" altLang="zh-CN" dirty="0"/>
              <a:t>and </a:t>
            </a:r>
            <a:r>
              <a:rPr lang="en-US" altLang="zh-CN" i="1" dirty="0"/>
              <a:t>G</a:t>
            </a:r>
            <a:r>
              <a:rPr lang="en-US" altLang="zh-CN" baseline="-25000" dirty="0"/>
              <a:t>2 </a:t>
            </a:r>
            <a:r>
              <a:rPr lang="en-US" altLang="zh-CN" dirty="0"/>
              <a:t>are groups, </a:t>
            </a:r>
            <a:r>
              <a:rPr lang="en-US" altLang="zh-CN" dirty="0" smtClean="0"/>
              <a:t>then </a:t>
            </a:r>
            <a:r>
              <a:rPr lang="en-US" altLang="zh-CN" i="1" dirty="0" smtClean="0"/>
              <a:t>G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i="1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 smtClean="0"/>
              <a:t>is </a:t>
            </a:r>
            <a:r>
              <a:rPr lang="en-US" altLang="zh-CN" dirty="0"/>
              <a:t>a group with binary operation defined </a:t>
            </a:r>
            <a:r>
              <a:rPr lang="en-US" altLang="zh-CN" dirty="0" smtClean="0"/>
              <a:t>by (</a:t>
            </a:r>
            <a:r>
              <a:rPr lang="en-US" altLang="zh-CN" i="1" dirty="0" smtClean="0"/>
              <a:t>a</a:t>
            </a:r>
            <a:r>
              <a:rPr lang="en-US" altLang="zh-CN" baseline="-25000" dirty="0" smtClean="0"/>
              <a:t>l</a:t>
            </a:r>
            <a:r>
              <a:rPr lang="en-US" altLang="zh-CN" dirty="0"/>
              <a:t>, </a:t>
            </a:r>
            <a:r>
              <a:rPr lang="en-US" altLang="zh-CN" i="1" dirty="0" err="1"/>
              <a:t>b</a:t>
            </a:r>
            <a:r>
              <a:rPr lang="en-US" altLang="zh-CN" baseline="-25000" dirty="0" err="1"/>
              <a:t>l</a:t>
            </a:r>
            <a:r>
              <a:rPr lang="en-US" altLang="zh-CN" dirty="0"/>
              <a:t>)(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) = (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l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).</a:t>
            </a:r>
            <a:endParaRPr lang="en-US" altLang="zh-CN" dirty="0"/>
          </a:p>
          <a:p>
            <a:r>
              <a:rPr lang="en-US" altLang="zh-CN" dirty="0"/>
              <a:t>Let </a:t>
            </a:r>
            <a:r>
              <a:rPr lang="en-US" altLang="zh-CN" i="1" dirty="0"/>
              <a:t>B</a:t>
            </a:r>
            <a:r>
              <a:rPr lang="en-US" altLang="zh-CN" dirty="0"/>
              <a:t> ={0, l } be the group, </a:t>
            </a:r>
            <a:r>
              <a:rPr lang="en-US" altLang="zh-CN" dirty="0" smtClean="0"/>
              <a:t>Then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  </a:t>
            </a:r>
            <a:r>
              <a:rPr lang="en-US" altLang="zh-CN" dirty="0"/>
              <a:t>...</a:t>
            </a:r>
            <a:r>
              <a:rPr lang="en-US" altLang="zh-CN" dirty="0">
                <a:sym typeface="Symbol" panose="05050102010706020507" pitchFamily="18" charset="2"/>
              </a:rPr>
              <a:t>  </a:t>
            </a:r>
            <a:r>
              <a:rPr lang="en-US" altLang="zh-CN" i="1" dirty="0"/>
              <a:t>B</a:t>
            </a:r>
            <a:r>
              <a:rPr lang="en-US" altLang="zh-CN" dirty="0"/>
              <a:t> (</a:t>
            </a:r>
            <a:r>
              <a:rPr lang="en-US" altLang="zh-CN" i="1" dirty="0"/>
              <a:t>n</a:t>
            </a:r>
            <a:r>
              <a:rPr lang="en-US" altLang="zh-CN" dirty="0"/>
              <a:t> factors) is a group with operation 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>
                <a:sym typeface="MT Symbol" panose="05050102010706020507" pitchFamily="18" charset="2"/>
              </a:rPr>
              <a:t> </a:t>
            </a:r>
            <a:r>
              <a:rPr lang="en-US" altLang="zh-CN" dirty="0"/>
              <a:t>defined </a:t>
            </a:r>
            <a:r>
              <a:rPr lang="en-US" altLang="zh-CN" dirty="0" smtClean="0"/>
              <a:t>by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(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,... </a:t>
            </a:r>
            <a:r>
              <a:rPr lang="en-US" altLang="zh-CN" i="1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 </a:t>
            </a:r>
            <a:r>
              <a:rPr lang="en-US" altLang="zh-CN" dirty="0"/>
              <a:t> (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,... </a:t>
            </a:r>
            <a:r>
              <a:rPr lang="en-US" altLang="zh-CN" i="1" dirty="0" err="1"/>
              <a:t>y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en-US" altLang="zh-CN" dirty="0" smtClean="0"/>
              <a:t>= 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+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,.... </a:t>
            </a:r>
            <a:r>
              <a:rPr lang="en-US" altLang="zh-CN" i="1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+</a:t>
            </a:r>
            <a:r>
              <a:rPr lang="en-US" altLang="zh-CN" i="1" dirty="0" err="1"/>
              <a:t>y</a:t>
            </a:r>
            <a:r>
              <a:rPr lang="en-US" altLang="zh-CN" baseline="-25000" dirty="0" err="1"/>
              <a:t>n</a:t>
            </a:r>
            <a:r>
              <a:rPr lang="en-US" altLang="zh-CN" dirty="0"/>
              <a:t> ).</a:t>
            </a:r>
            <a:endParaRPr lang="en-US" altLang="zh-CN" dirty="0"/>
          </a:p>
          <a:p>
            <a:pPr lvl="1"/>
            <a:r>
              <a:rPr lang="en-US" altLang="zh-CN" dirty="0"/>
              <a:t>The identity of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is (0, 0,..., 0), and every element is its own inverse. </a:t>
            </a:r>
            <a:endParaRPr lang="en-US" altLang="zh-CN" dirty="0"/>
          </a:p>
          <a:p>
            <a:r>
              <a:rPr lang="en-US" altLang="zh-CN" sz="2400" dirty="0"/>
              <a:t>Let </a:t>
            </a:r>
            <a:r>
              <a:rPr lang="en-US" altLang="zh-CN" sz="2400" i="1" dirty="0"/>
              <a:t>R</a:t>
            </a:r>
            <a:r>
              <a:rPr lang="en-US" altLang="zh-CN" sz="2400" dirty="0"/>
              <a:t> be a congruence relation on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, *). </a:t>
            </a:r>
            <a:r>
              <a:rPr lang="en-US" altLang="zh-CN" sz="2400" dirty="0" smtClean="0"/>
              <a:t>Then </a:t>
            </a:r>
            <a:r>
              <a:rPr lang="en-US" altLang="zh-CN" sz="2400" dirty="0"/>
              <a:t>the </a:t>
            </a:r>
            <a:r>
              <a:rPr lang="en-US" altLang="zh-CN" sz="2400" dirty="0" err="1"/>
              <a:t>semigroup</a:t>
            </a:r>
            <a:r>
              <a:rPr lang="en-US" altLang="zh-CN" sz="2400" dirty="0"/>
              <a:t> (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) is a group, where the operation 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 is defined on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by </a:t>
            </a:r>
            <a:r>
              <a:rPr lang="en-US" altLang="zh-CN" sz="2000" dirty="0" smtClean="0"/>
              <a:t>[</a:t>
            </a:r>
            <a:r>
              <a:rPr lang="en-US" altLang="zh-CN" sz="2000" i="1" dirty="0" smtClean="0"/>
              <a:t>a</a:t>
            </a:r>
            <a:r>
              <a:rPr lang="en-US" altLang="zh-CN" sz="2000" dirty="0"/>
              <a:t>]</a:t>
            </a:r>
            <a:r>
              <a:rPr lang="en-US" altLang="zh-CN" sz="2000" dirty="0">
                <a:sym typeface="Euclid Math One" panose="05050601010101010101" pitchFamily="18" charset="2"/>
              </a:rPr>
              <a:t></a:t>
            </a:r>
            <a:r>
              <a:rPr lang="en-US" altLang="zh-CN" sz="2000" dirty="0"/>
              <a:t>[</a:t>
            </a:r>
            <a:r>
              <a:rPr lang="en-US" altLang="zh-CN" sz="2000" i="1" dirty="0"/>
              <a:t>b</a:t>
            </a:r>
            <a:r>
              <a:rPr lang="en-US" altLang="zh-CN" sz="2000" dirty="0"/>
              <a:t>] = [</a:t>
            </a:r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b</a:t>
            </a:r>
            <a:r>
              <a:rPr lang="en-US" altLang="zh-CN" sz="2000" dirty="0" smtClean="0"/>
              <a:t>]</a:t>
            </a:r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897" y="3268086"/>
            <a:ext cx="1021108" cy="83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Products and Quotients of Groups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6618" y="1825625"/>
            <a:ext cx="10587182" cy="4351338"/>
          </a:xfrm>
        </p:spPr>
        <p:txBody>
          <a:bodyPr/>
          <a:lstStyle/>
          <a:p>
            <a:r>
              <a:rPr lang="en-US" altLang="zh-CN" dirty="0"/>
              <a:t>If </a:t>
            </a:r>
            <a:r>
              <a:rPr lang="en-US" altLang="zh-CN" i="1" dirty="0"/>
              <a:t>R</a:t>
            </a:r>
            <a:r>
              <a:rPr lang="en-US" altLang="zh-CN" dirty="0"/>
              <a:t> is a congruence relation on a group </a:t>
            </a:r>
            <a:r>
              <a:rPr lang="en-US" altLang="zh-CN" i="1" dirty="0"/>
              <a:t>G</a:t>
            </a:r>
            <a:r>
              <a:rPr lang="en-US" altLang="zh-CN" dirty="0"/>
              <a:t>, then the </a:t>
            </a:r>
            <a:r>
              <a:rPr lang="en-US" altLang="zh-CN" dirty="0" smtClean="0"/>
              <a:t>function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i="1" dirty="0" err="1" smtClean="0"/>
              <a:t>f</a:t>
            </a:r>
            <a:r>
              <a:rPr lang="en-US" altLang="zh-CN" i="1" baseline="-25000" dirty="0" err="1" smtClean="0"/>
              <a:t>R</a:t>
            </a:r>
            <a:r>
              <a:rPr lang="en-US" altLang="zh-CN" dirty="0"/>
              <a:t>: </a:t>
            </a:r>
            <a:r>
              <a:rPr lang="en-US" altLang="zh-CN" i="1" dirty="0"/>
              <a:t>G</a:t>
            </a:r>
            <a:r>
              <a:rPr lang="en-US" altLang="zh-CN" i="1" dirty="0">
                <a:sym typeface="Symbol" panose="05050102010706020507" pitchFamily="18" charset="2"/>
              </a:rPr>
              <a:t></a:t>
            </a:r>
            <a:r>
              <a:rPr lang="en-US" altLang="zh-CN" i="1" dirty="0" smtClean="0"/>
              <a:t>G</a:t>
            </a:r>
            <a:r>
              <a:rPr lang="en-US" altLang="zh-CN" dirty="0" smtClean="0"/>
              <a:t>/</a:t>
            </a:r>
            <a:r>
              <a:rPr lang="en-US" altLang="zh-CN" i="1" dirty="0" smtClean="0"/>
              <a:t>R </a:t>
            </a:r>
            <a:r>
              <a:rPr lang="en-US" altLang="zh-CN" dirty="0" smtClean="0"/>
              <a:t>given by </a:t>
            </a:r>
            <a:r>
              <a:rPr lang="en-US" altLang="zh-CN" i="1" dirty="0" err="1" smtClean="0"/>
              <a:t>f</a:t>
            </a:r>
            <a:r>
              <a:rPr lang="en-US" altLang="zh-CN" i="1" baseline="-25000" dirty="0" err="1" smtClean="0"/>
              <a:t>R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a</a:t>
            </a:r>
            <a:r>
              <a:rPr lang="en-US" altLang="zh-CN" dirty="0"/>
              <a:t>) = [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] is </a:t>
            </a:r>
            <a:r>
              <a:rPr lang="en-US" altLang="zh-CN" dirty="0"/>
              <a:t>a group homomorphism.</a:t>
            </a:r>
            <a:endParaRPr lang="en-US" altLang="zh-CN" dirty="0"/>
          </a:p>
          <a:p>
            <a:r>
              <a:rPr lang="en-US" altLang="zh-CN" dirty="0"/>
              <a:t>If </a:t>
            </a:r>
            <a:endParaRPr lang="en-US" altLang="zh-CN" dirty="0"/>
          </a:p>
          <a:p>
            <a:pPr lvl="1"/>
            <a:r>
              <a:rPr lang="en-US" altLang="zh-CN" i="1" dirty="0"/>
              <a:t>f</a:t>
            </a:r>
            <a:r>
              <a:rPr lang="en-US" altLang="zh-CN" dirty="0"/>
              <a:t>: </a:t>
            </a:r>
            <a:r>
              <a:rPr lang="en-US" altLang="zh-CN" i="1" dirty="0"/>
              <a:t>G</a:t>
            </a:r>
            <a:r>
              <a:rPr lang="en-US" altLang="zh-CN" i="1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G</a:t>
            </a:r>
            <a:r>
              <a:rPr lang="en-US" altLang="zh-CN" dirty="0"/>
              <a:t>' is a homomorphism from the group (</a:t>
            </a:r>
            <a:r>
              <a:rPr lang="en-US" altLang="zh-CN" i="1" dirty="0"/>
              <a:t>G</a:t>
            </a:r>
            <a:r>
              <a:rPr lang="en-US" altLang="zh-CN" dirty="0"/>
              <a:t>, *) </a:t>
            </a:r>
            <a:r>
              <a:rPr lang="en-US" altLang="zh-CN" i="1" dirty="0">
                <a:solidFill>
                  <a:schemeClr val="hlink"/>
                </a:solidFill>
              </a:rPr>
              <a:t>onto</a:t>
            </a:r>
            <a:r>
              <a:rPr lang="en-US" altLang="zh-CN" dirty="0"/>
              <a:t> the group (</a:t>
            </a:r>
            <a:r>
              <a:rPr lang="en-US" altLang="zh-CN" i="1" dirty="0"/>
              <a:t>G</a:t>
            </a:r>
            <a:r>
              <a:rPr lang="en-US" altLang="zh-CN" dirty="0"/>
              <a:t>', *'), and </a:t>
            </a:r>
            <a:endParaRPr lang="en-US" altLang="zh-CN" dirty="0"/>
          </a:p>
          <a:p>
            <a:pPr lvl="1"/>
            <a:r>
              <a:rPr lang="en-US" altLang="zh-CN" i="1" dirty="0"/>
              <a:t>R</a:t>
            </a:r>
            <a:r>
              <a:rPr lang="en-US" altLang="zh-CN" dirty="0"/>
              <a:t> is the relation defined on </a:t>
            </a:r>
            <a:r>
              <a:rPr lang="en-US" altLang="zh-CN" i="1" dirty="0"/>
              <a:t>G</a:t>
            </a:r>
            <a:r>
              <a:rPr lang="en-US" altLang="zh-CN" dirty="0"/>
              <a:t> by </a:t>
            </a:r>
            <a:r>
              <a:rPr lang="en-US" altLang="zh-CN" dirty="0" smtClean="0"/>
              <a:t> </a:t>
            </a:r>
            <a:r>
              <a:rPr lang="en-US" altLang="zh-CN" i="1" dirty="0" smtClean="0"/>
              <a:t>a</a:t>
            </a:r>
            <a:r>
              <a:rPr lang="en-US" altLang="zh-CN" dirty="0" smtClean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for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in </a:t>
            </a:r>
            <a:r>
              <a:rPr lang="en-US" altLang="zh-CN" i="1" dirty="0"/>
              <a:t>G</a:t>
            </a:r>
            <a:endParaRPr lang="en-US" altLang="zh-CN" dirty="0"/>
          </a:p>
          <a:p>
            <a:r>
              <a:rPr lang="en-US" altLang="zh-CN" dirty="0"/>
              <a:t>Then</a:t>
            </a:r>
            <a:endParaRPr lang="en-US" altLang="zh-CN" dirty="0"/>
          </a:p>
          <a:p>
            <a:pPr lvl="1"/>
            <a:r>
              <a:rPr lang="en-US" altLang="zh-CN" i="1" dirty="0"/>
              <a:t>R</a:t>
            </a:r>
            <a:r>
              <a:rPr lang="en-US" altLang="zh-CN" dirty="0"/>
              <a:t> is a congruence relation.</a:t>
            </a:r>
            <a:endParaRPr lang="en-US" altLang="zh-CN" dirty="0"/>
          </a:p>
          <a:p>
            <a:pPr lvl="1"/>
            <a:r>
              <a:rPr lang="en-US" altLang="zh-CN" dirty="0"/>
              <a:t>The function </a:t>
            </a:r>
            <a:r>
              <a:rPr lang="en-US" altLang="zh-CN" i="1" dirty="0"/>
              <a:t>f</a:t>
            </a:r>
            <a:r>
              <a:rPr lang="en-US" altLang="zh-CN" dirty="0"/>
              <a:t>: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G</a:t>
            </a:r>
            <a:r>
              <a:rPr lang="en-US" altLang="zh-CN" dirty="0"/>
              <a:t>', given by </a:t>
            </a:r>
            <a:r>
              <a:rPr lang="en-US" altLang="zh-CN" i="1" dirty="0"/>
              <a:t>f</a:t>
            </a:r>
            <a:r>
              <a:rPr lang="en-US" altLang="zh-CN" dirty="0"/>
              <a:t>([</a:t>
            </a:r>
            <a:r>
              <a:rPr lang="en-US" altLang="zh-CN" i="1" dirty="0"/>
              <a:t>a</a:t>
            </a:r>
            <a:r>
              <a:rPr lang="en-US" altLang="zh-CN" dirty="0"/>
              <a:t>])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is an isomorphism from the group (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) onto the group (</a:t>
            </a:r>
            <a:r>
              <a:rPr lang="en-US" altLang="zh-CN" i="1" dirty="0"/>
              <a:t>G</a:t>
            </a:r>
            <a:r>
              <a:rPr lang="en-US" altLang="zh-CN" dirty="0"/>
              <a:t>', *' ).</a:t>
            </a:r>
            <a:endParaRPr lang="zh-CN" altLang="zh-CN" dirty="0"/>
          </a:p>
          <a:p>
            <a:endParaRPr lang="zh-CN" altLang="en-US" dirty="0"/>
          </a:p>
        </p:txBody>
      </p:sp>
      <p:grpSp>
        <p:nvGrpSpPr>
          <p:cNvPr id="4" name="Group 9"/>
          <p:cNvGrpSpPr/>
          <p:nvPr/>
        </p:nvGrpSpPr>
        <p:grpSpPr bwMode="auto">
          <a:xfrm>
            <a:off x="9896910" y="579871"/>
            <a:ext cx="2101128" cy="1784639"/>
            <a:chOff x="1670" y="1389"/>
            <a:chExt cx="1876" cy="1902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1927" y="1706"/>
              <a:ext cx="1361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1882" y="1888"/>
              <a:ext cx="636" cy="1044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12"/>
            <p:cNvSpPr>
              <a:spLocks noChangeShapeType="1"/>
            </p:cNvSpPr>
            <p:nvPr/>
          </p:nvSpPr>
          <p:spPr bwMode="auto">
            <a:xfrm flipV="1">
              <a:off x="2744" y="1842"/>
              <a:ext cx="590" cy="1044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 type="arrow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1670" y="160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S</a:t>
              </a:r>
              <a:endParaRPr lang="en-US" altLang="zh-CN" sz="2400" i="1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258" y="1570"/>
              <a:ext cx="288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T</a:t>
              </a:r>
              <a:endParaRPr lang="en-US" altLang="zh-CN" sz="2400" i="1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2427" y="2886"/>
              <a:ext cx="493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 dirty="0">
                  <a:solidFill>
                    <a:schemeClr val="folHlink"/>
                  </a:solidFill>
                  <a:ea typeface="楷体_GB2312" pitchFamily="49" charset="-122"/>
                </a:rPr>
                <a:t>S/R</a:t>
              </a:r>
              <a:endParaRPr lang="en-US" altLang="zh-CN" sz="2400" i="1" dirty="0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1791" y="2205"/>
              <a:ext cx="31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f</a:t>
              </a:r>
              <a:r>
                <a:rPr lang="en-US" altLang="zh-CN" sz="2400" i="1" baseline="-25000">
                  <a:solidFill>
                    <a:schemeClr val="folHlink"/>
                  </a:solidFill>
                  <a:ea typeface="楷体_GB2312" pitchFamily="49" charset="-122"/>
                </a:rPr>
                <a:t>R</a:t>
              </a:r>
              <a:endParaRPr lang="en-US" altLang="zh-CN" sz="2400" i="1" baseline="-25000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3107" y="2205"/>
              <a:ext cx="2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f</a:t>
              </a:r>
              <a:endParaRPr lang="en-US" altLang="zh-CN" sz="2400" i="1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2472" y="1389"/>
              <a:ext cx="2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itchFamily="49" charset="-122"/>
                </a:rPr>
                <a:t>f</a:t>
              </a:r>
              <a:endParaRPr lang="en-US" altLang="zh-CN" sz="2400" i="1">
                <a:solidFill>
                  <a:schemeClr val="folHlink"/>
                </a:solidFill>
                <a:ea typeface="楷体_GB2312" pitchFamily="49" charset="-122"/>
              </a:endParaRPr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3152" y="2251"/>
              <a:ext cx="137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14705"/>
            <a:ext cx="10832465" cy="5347970"/>
          </a:xfrm>
        </p:spPr>
        <p:txBody>
          <a:bodyPr>
            <a:noAutofit/>
          </a:bodyPr>
          <a:lstStyle/>
          <a:p>
            <a:r>
              <a:rPr lang="en-US" altLang="zh-CN" sz="3600" baseline="30000" dirty="0"/>
              <a:t>Let </a:t>
            </a:r>
            <a:r>
              <a:rPr lang="en-US" altLang="zh-CN" sz="3200" i="1" baseline="30000" dirty="0" smtClean="0"/>
              <a:t>H</a:t>
            </a:r>
            <a:r>
              <a:rPr lang="en-US" altLang="zh-CN" sz="3200" baseline="30000" dirty="0" smtClean="0"/>
              <a:t> </a:t>
            </a:r>
            <a:r>
              <a:rPr lang="en-US" altLang="zh-CN" sz="3200" baseline="30000" dirty="0"/>
              <a:t>be a subgroup of a group </a:t>
            </a:r>
            <a:r>
              <a:rPr lang="en-US" altLang="zh-CN" sz="3200" i="1" baseline="30000" dirty="0" smtClean="0"/>
              <a:t>G, a</a:t>
            </a:r>
            <a:r>
              <a:rPr lang="en-US" altLang="zh-CN" sz="3200" baseline="30000" dirty="0" smtClean="0"/>
              <a:t> </a:t>
            </a:r>
            <a:r>
              <a:rPr lang="en-US" altLang="zh-CN" sz="3200" baseline="30000" dirty="0">
                <a:sym typeface="Symbol" panose="05050102010706020507" pitchFamily="18" charset="2"/>
              </a:rPr>
              <a:t> </a:t>
            </a:r>
            <a:r>
              <a:rPr lang="en-US" altLang="zh-CN" sz="3200" i="1" baseline="30000" dirty="0"/>
              <a:t>G</a:t>
            </a:r>
            <a:endParaRPr lang="en-US" altLang="zh-CN" sz="3200" baseline="30000" dirty="0"/>
          </a:p>
          <a:p>
            <a:pPr lvl="1"/>
            <a:r>
              <a:rPr lang="en-US" altLang="zh-CN" sz="3200" baseline="30000" dirty="0"/>
              <a:t>The </a:t>
            </a:r>
            <a:r>
              <a:rPr lang="en-US" altLang="zh-CN" sz="3200" i="1" baseline="30000" dirty="0">
                <a:solidFill>
                  <a:srgbClr val="FF3300"/>
                </a:solidFill>
              </a:rPr>
              <a:t>left </a:t>
            </a:r>
            <a:r>
              <a:rPr lang="en-US" altLang="zh-CN" sz="3200" i="1" baseline="30000" dirty="0" err="1">
                <a:solidFill>
                  <a:srgbClr val="FF3300"/>
                </a:solidFill>
              </a:rPr>
              <a:t>coset</a:t>
            </a:r>
            <a:r>
              <a:rPr lang="en-US" altLang="zh-CN" sz="3200" baseline="30000" dirty="0"/>
              <a:t>(</a:t>
            </a:r>
            <a:r>
              <a:rPr lang="zh-CN" altLang="en-US" sz="3200" baseline="30000" dirty="0"/>
              <a:t>左陪集</a:t>
            </a:r>
            <a:r>
              <a:rPr lang="en-US" altLang="zh-CN" sz="3200" baseline="30000" dirty="0"/>
              <a:t>) of </a:t>
            </a:r>
            <a:r>
              <a:rPr lang="en-US" altLang="zh-CN" sz="3200" i="1" baseline="30000" dirty="0"/>
              <a:t>H</a:t>
            </a:r>
            <a:r>
              <a:rPr lang="en-US" altLang="zh-CN" sz="3200" baseline="30000" dirty="0"/>
              <a:t> in </a:t>
            </a:r>
            <a:r>
              <a:rPr lang="en-US" altLang="zh-CN" sz="3200" i="1" baseline="30000" dirty="0"/>
              <a:t>G</a:t>
            </a:r>
            <a:r>
              <a:rPr lang="en-US" altLang="zh-CN" sz="3200" baseline="30000" dirty="0"/>
              <a:t> determined by </a:t>
            </a:r>
            <a:r>
              <a:rPr lang="en-US" altLang="zh-CN" sz="3200" i="1" baseline="30000" dirty="0"/>
              <a:t>a</a:t>
            </a:r>
            <a:r>
              <a:rPr lang="en-US" altLang="zh-CN" sz="3200" baseline="30000" dirty="0"/>
              <a:t> is the </a:t>
            </a:r>
            <a:r>
              <a:rPr lang="en-US" altLang="zh-CN" sz="3200" baseline="30000" dirty="0" smtClean="0"/>
              <a:t>set </a:t>
            </a:r>
            <a:r>
              <a:rPr lang="en-US" altLang="zh-CN" i="1" baseline="30000" dirty="0" err="1" smtClean="0"/>
              <a:t>aH</a:t>
            </a:r>
            <a:r>
              <a:rPr lang="en-US" altLang="zh-CN" baseline="30000" dirty="0" smtClean="0"/>
              <a:t> </a:t>
            </a:r>
            <a:r>
              <a:rPr lang="en-US" altLang="zh-CN" baseline="30000" dirty="0"/>
              <a:t>= {</a:t>
            </a:r>
            <a:r>
              <a:rPr lang="en-US" altLang="zh-CN" i="1" baseline="30000" dirty="0"/>
              <a:t>ah</a:t>
            </a:r>
            <a:r>
              <a:rPr lang="en-US" altLang="zh-CN" baseline="30000" dirty="0"/>
              <a:t>| </a:t>
            </a:r>
            <a:r>
              <a:rPr lang="en-US" altLang="zh-CN" i="1" baseline="30000" dirty="0"/>
              <a:t>h</a:t>
            </a:r>
            <a:r>
              <a:rPr lang="en-US" altLang="zh-CN" baseline="30000" dirty="0"/>
              <a:t> </a:t>
            </a:r>
            <a:r>
              <a:rPr lang="en-US" altLang="zh-CN" baseline="30000" dirty="0">
                <a:sym typeface="Symbol" panose="05050102010706020507" pitchFamily="18" charset="2"/>
              </a:rPr>
              <a:t> </a:t>
            </a:r>
            <a:r>
              <a:rPr lang="en-US" altLang="zh-CN" baseline="30000" dirty="0"/>
              <a:t> </a:t>
            </a:r>
            <a:r>
              <a:rPr lang="en-US" altLang="zh-CN" i="1" baseline="30000" dirty="0"/>
              <a:t>H</a:t>
            </a:r>
            <a:r>
              <a:rPr lang="en-US" altLang="zh-CN" baseline="30000" dirty="0"/>
              <a:t>}</a:t>
            </a:r>
            <a:endParaRPr lang="en-US" altLang="zh-CN" baseline="30000" dirty="0"/>
          </a:p>
          <a:p>
            <a:pPr lvl="1"/>
            <a:r>
              <a:rPr lang="en-US" altLang="zh-CN" sz="3200" baseline="30000" dirty="0"/>
              <a:t>The </a:t>
            </a:r>
            <a:r>
              <a:rPr lang="en-US" altLang="zh-CN" sz="3200" i="1" baseline="30000" dirty="0">
                <a:solidFill>
                  <a:srgbClr val="FF3300"/>
                </a:solidFill>
              </a:rPr>
              <a:t>right </a:t>
            </a:r>
            <a:r>
              <a:rPr lang="en-US" altLang="zh-CN" sz="3200" i="1" baseline="30000" dirty="0" err="1">
                <a:solidFill>
                  <a:srgbClr val="FF3300"/>
                </a:solidFill>
              </a:rPr>
              <a:t>coset</a:t>
            </a:r>
            <a:r>
              <a:rPr lang="en-US" altLang="zh-CN" sz="3200" i="1" baseline="30000" dirty="0">
                <a:solidFill>
                  <a:srgbClr val="FF3300"/>
                </a:solidFill>
              </a:rPr>
              <a:t> </a:t>
            </a:r>
            <a:r>
              <a:rPr lang="en-US" altLang="zh-CN" sz="3200" baseline="30000" dirty="0"/>
              <a:t>(</a:t>
            </a:r>
            <a:r>
              <a:rPr lang="zh-CN" altLang="en-US" sz="3200" baseline="30000" dirty="0"/>
              <a:t>右陪集</a:t>
            </a:r>
            <a:r>
              <a:rPr lang="en-US" altLang="zh-CN" sz="3200" baseline="30000" dirty="0"/>
              <a:t>) of </a:t>
            </a:r>
            <a:r>
              <a:rPr lang="en-US" altLang="zh-CN" sz="3200" i="1" baseline="30000" dirty="0"/>
              <a:t>H</a:t>
            </a:r>
            <a:r>
              <a:rPr lang="en-US" altLang="zh-CN" sz="3200" baseline="30000" dirty="0"/>
              <a:t> in </a:t>
            </a:r>
            <a:r>
              <a:rPr lang="en-US" altLang="zh-CN" sz="3200" i="1" baseline="30000" dirty="0"/>
              <a:t>G</a:t>
            </a:r>
            <a:r>
              <a:rPr lang="en-US" altLang="zh-CN" sz="3200" baseline="30000" dirty="0"/>
              <a:t> determined by </a:t>
            </a:r>
            <a:r>
              <a:rPr lang="en-US" altLang="zh-CN" sz="3200" i="1" baseline="30000" dirty="0"/>
              <a:t>a</a:t>
            </a:r>
            <a:r>
              <a:rPr lang="en-US" altLang="zh-CN" sz="3200" baseline="30000" dirty="0"/>
              <a:t> is the </a:t>
            </a:r>
            <a:r>
              <a:rPr lang="en-US" altLang="zh-CN" sz="3200" baseline="30000" dirty="0" smtClean="0"/>
              <a:t>set </a:t>
            </a:r>
            <a:r>
              <a:rPr lang="en-US" altLang="zh-CN" i="1" baseline="30000" dirty="0" smtClean="0"/>
              <a:t>Ha</a:t>
            </a:r>
            <a:r>
              <a:rPr lang="en-US" altLang="zh-CN" baseline="30000" dirty="0" smtClean="0"/>
              <a:t> </a:t>
            </a:r>
            <a:r>
              <a:rPr lang="en-US" altLang="zh-CN" baseline="30000" dirty="0"/>
              <a:t>= {</a:t>
            </a:r>
            <a:r>
              <a:rPr lang="en-US" altLang="zh-CN" i="1" baseline="30000" dirty="0"/>
              <a:t>ha</a:t>
            </a:r>
            <a:r>
              <a:rPr lang="en-US" altLang="zh-CN" baseline="30000" dirty="0"/>
              <a:t> | </a:t>
            </a:r>
            <a:r>
              <a:rPr lang="en-US" altLang="zh-CN" i="1" baseline="30000" dirty="0"/>
              <a:t>h</a:t>
            </a:r>
            <a:r>
              <a:rPr lang="en-US" altLang="zh-CN" baseline="30000" dirty="0"/>
              <a:t> </a:t>
            </a:r>
            <a:r>
              <a:rPr lang="en-US" altLang="zh-CN" baseline="30000" dirty="0">
                <a:sym typeface="Symbol" panose="05050102010706020507" pitchFamily="18" charset="2"/>
              </a:rPr>
              <a:t> </a:t>
            </a:r>
            <a:r>
              <a:rPr lang="en-US" altLang="zh-CN" baseline="30000" dirty="0"/>
              <a:t> </a:t>
            </a:r>
            <a:r>
              <a:rPr lang="en-US" altLang="zh-CN" i="1" baseline="30000" dirty="0"/>
              <a:t>H</a:t>
            </a:r>
            <a:r>
              <a:rPr lang="en-US" altLang="zh-CN" baseline="30000" dirty="0"/>
              <a:t>}</a:t>
            </a:r>
            <a:endParaRPr lang="en-US" altLang="zh-CN" baseline="30000" dirty="0"/>
          </a:p>
          <a:p>
            <a:pPr lvl="1"/>
            <a:r>
              <a:rPr lang="en-US" altLang="zh-CN" sz="3200" baseline="30000" dirty="0"/>
              <a:t>A subgroup </a:t>
            </a:r>
            <a:r>
              <a:rPr lang="en-US" altLang="zh-CN" sz="3200" i="1" baseline="30000" dirty="0"/>
              <a:t>H</a:t>
            </a:r>
            <a:r>
              <a:rPr lang="en-US" altLang="zh-CN" sz="3200" baseline="30000" dirty="0"/>
              <a:t> of </a:t>
            </a:r>
            <a:r>
              <a:rPr lang="en-US" altLang="zh-CN" sz="3200" i="1" baseline="30000" dirty="0"/>
              <a:t>G</a:t>
            </a:r>
            <a:r>
              <a:rPr lang="en-US" altLang="zh-CN" sz="3200" baseline="30000" dirty="0"/>
              <a:t> is </a:t>
            </a:r>
            <a:r>
              <a:rPr lang="en-US" altLang="zh-CN" sz="3200" i="1" baseline="30000" dirty="0">
                <a:solidFill>
                  <a:srgbClr val="FF3300"/>
                </a:solidFill>
              </a:rPr>
              <a:t>normal</a:t>
            </a:r>
            <a:r>
              <a:rPr lang="en-US" altLang="zh-CN" sz="3200" baseline="30000" dirty="0">
                <a:solidFill>
                  <a:srgbClr val="FF3300"/>
                </a:solidFill>
              </a:rPr>
              <a:t>(</a:t>
            </a:r>
            <a:r>
              <a:rPr lang="zh-CN" altLang="en-US" sz="3200" baseline="30000" dirty="0">
                <a:solidFill>
                  <a:srgbClr val="FF3300"/>
                </a:solidFill>
              </a:rPr>
              <a:t>正规子群</a:t>
            </a:r>
            <a:r>
              <a:rPr lang="en-US" altLang="zh-CN" sz="3200" baseline="30000" dirty="0">
                <a:solidFill>
                  <a:srgbClr val="FF3300"/>
                </a:solidFill>
              </a:rPr>
              <a:t>)</a:t>
            </a:r>
            <a:r>
              <a:rPr lang="en-US" altLang="zh-CN" sz="3200" baseline="30000" dirty="0"/>
              <a:t> </a:t>
            </a:r>
            <a:r>
              <a:rPr lang="en-US" altLang="zh-CN" sz="3200" baseline="30000" dirty="0" smtClean="0"/>
              <a:t>if </a:t>
            </a:r>
            <a:r>
              <a:rPr lang="en-US" altLang="zh-CN" i="1" baseline="30000" dirty="0" err="1" smtClean="0"/>
              <a:t>aH</a:t>
            </a:r>
            <a:r>
              <a:rPr lang="en-US" altLang="zh-CN" baseline="30000" dirty="0" smtClean="0"/>
              <a:t> </a:t>
            </a:r>
            <a:r>
              <a:rPr lang="en-US" altLang="zh-CN" baseline="30000" dirty="0"/>
              <a:t>= </a:t>
            </a:r>
            <a:r>
              <a:rPr lang="en-US" altLang="zh-CN" i="1" baseline="30000" dirty="0"/>
              <a:t>Ha</a:t>
            </a:r>
            <a:r>
              <a:rPr lang="en-US" altLang="zh-CN" baseline="30000" dirty="0"/>
              <a:t>, for all </a:t>
            </a:r>
            <a:r>
              <a:rPr lang="en-US" altLang="zh-CN" i="1" baseline="30000" dirty="0"/>
              <a:t>a</a:t>
            </a:r>
            <a:r>
              <a:rPr lang="en-US" altLang="zh-CN" baseline="30000" dirty="0"/>
              <a:t> in </a:t>
            </a:r>
            <a:r>
              <a:rPr lang="en-US" altLang="zh-CN" i="1" baseline="30000" dirty="0" smtClean="0"/>
              <a:t>G</a:t>
            </a:r>
            <a:endParaRPr lang="en-US" altLang="zh-CN" i="1" baseline="30000" dirty="0" smtClean="0"/>
          </a:p>
          <a:p>
            <a:r>
              <a:rPr lang="en-US" altLang="zh-CN" sz="4000" baseline="30000" dirty="0"/>
              <a:t>Let </a:t>
            </a:r>
            <a:endParaRPr lang="en-US" altLang="zh-CN" sz="4000" baseline="30000" dirty="0" smtClean="0"/>
          </a:p>
          <a:p>
            <a:pPr lvl="1"/>
            <a:r>
              <a:rPr lang="en-US" altLang="zh-CN" sz="3600" i="1" baseline="30000" dirty="0" smtClean="0"/>
              <a:t>R</a:t>
            </a:r>
            <a:r>
              <a:rPr lang="en-US" altLang="zh-CN" sz="3600" baseline="30000" dirty="0" smtClean="0"/>
              <a:t> </a:t>
            </a:r>
            <a:r>
              <a:rPr lang="en-US" altLang="zh-CN" sz="3600" baseline="30000" dirty="0"/>
              <a:t>be a congruence relation on a group </a:t>
            </a:r>
            <a:r>
              <a:rPr lang="en-US" altLang="zh-CN" sz="3600" i="1" baseline="30000" dirty="0"/>
              <a:t>G</a:t>
            </a:r>
            <a:endParaRPr lang="en-US" altLang="zh-CN" sz="3600" baseline="30000" dirty="0"/>
          </a:p>
          <a:p>
            <a:pPr lvl="1"/>
            <a:r>
              <a:rPr lang="en-US" altLang="zh-CN" sz="3600" i="1" baseline="30000" dirty="0"/>
              <a:t>H</a:t>
            </a:r>
            <a:r>
              <a:rPr lang="en-US" altLang="zh-CN" sz="3600" baseline="30000" dirty="0"/>
              <a:t> = [</a:t>
            </a:r>
            <a:r>
              <a:rPr lang="en-US" altLang="zh-CN" sz="3600" i="1" baseline="30000" dirty="0"/>
              <a:t>e</a:t>
            </a:r>
            <a:r>
              <a:rPr lang="en-US" altLang="zh-CN" sz="3600" baseline="30000" dirty="0"/>
              <a:t>], the equivalence class containing the identity.</a:t>
            </a:r>
            <a:endParaRPr lang="en-US" altLang="zh-CN" sz="3600" baseline="30000" dirty="0"/>
          </a:p>
          <a:p>
            <a:r>
              <a:rPr lang="en-US" altLang="zh-CN" sz="4000" baseline="30000" dirty="0"/>
              <a:t>Then</a:t>
            </a:r>
            <a:endParaRPr lang="en-US" altLang="zh-CN" sz="4000" baseline="30000" dirty="0"/>
          </a:p>
          <a:p>
            <a:pPr lvl="1"/>
            <a:r>
              <a:rPr lang="en-US" altLang="zh-CN" sz="3600" i="1" baseline="30000" dirty="0"/>
              <a:t>H </a:t>
            </a:r>
            <a:r>
              <a:rPr lang="en-US" altLang="zh-CN" sz="3600" baseline="30000" dirty="0"/>
              <a:t>is a normal subgroup of </a:t>
            </a:r>
            <a:r>
              <a:rPr lang="en-US" altLang="zh-CN" sz="3600" i="1" baseline="30000" dirty="0"/>
              <a:t>G</a:t>
            </a:r>
            <a:endParaRPr lang="en-US" altLang="zh-CN" sz="3600" i="1" baseline="30000" dirty="0"/>
          </a:p>
          <a:p>
            <a:pPr lvl="1"/>
            <a:r>
              <a:rPr lang="en-US" altLang="zh-CN" sz="3600" baseline="30000" dirty="0"/>
              <a:t>[</a:t>
            </a:r>
            <a:r>
              <a:rPr lang="en-US" altLang="zh-CN" sz="3600" i="1" baseline="30000" dirty="0"/>
              <a:t>a</a:t>
            </a:r>
            <a:r>
              <a:rPr lang="en-US" altLang="zh-CN" sz="3600" baseline="30000" dirty="0"/>
              <a:t>] = </a:t>
            </a:r>
            <a:r>
              <a:rPr lang="en-US" altLang="zh-CN" sz="3600" i="1" baseline="30000" dirty="0" err="1"/>
              <a:t>aH</a:t>
            </a:r>
            <a:r>
              <a:rPr lang="en-US" altLang="zh-CN" sz="3600" baseline="30000" dirty="0"/>
              <a:t> = </a:t>
            </a:r>
            <a:r>
              <a:rPr lang="en-US" altLang="zh-CN" sz="3600" i="1" baseline="30000" dirty="0"/>
              <a:t>Ha</a:t>
            </a:r>
            <a:r>
              <a:rPr lang="en-US" altLang="zh-CN" sz="3600" baseline="30000" dirty="0"/>
              <a:t>, for each</a:t>
            </a:r>
            <a:r>
              <a:rPr lang="en-US" altLang="zh-CN" sz="3600" i="1" baseline="30000" dirty="0"/>
              <a:t> a</a:t>
            </a:r>
            <a:r>
              <a:rPr lang="en-US" altLang="zh-CN" sz="3600" baseline="30000" dirty="0">
                <a:sym typeface="Symbol" panose="05050102010706020507" pitchFamily="18" charset="2"/>
              </a:rPr>
              <a:t>  </a:t>
            </a:r>
            <a:r>
              <a:rPr lang="en-US" altLang="zh-CN" sz="3600" i="1" baseline="30000" dirty="0"/>
              <a:t>G</a:t>
            </a:r>
            <a:endParaRPr lang="zh-CN" altLang="en-US" sz="3600" i="1" baseline="30000" dirty="0"/>
          </a:p>
          <a:p>
            <a:r>
              <a:rPr lang="en-US" altLang="zh-CN" sz="4000" baseline="30000" dirty="0" smtClean="0"/>
              <a:t>The </a:t>
            </a:r>
            <a:r>
              <a:rPr lang="en-US" altLang="zh-CN" sz="4000" baseline="30000" dirty="0"/>
              <a:t>quotient group </a:t>
            </a:r>
            <a:r>
              <a:rPr lang="en-US" altLang="zh-CN" sz="4000" i="1" baseline="30000" dirty="0"/>
              <a:t>G</a:t>
            </a:r>
            <a:r>
              <a:rPr lang="en-US" altLang="zh-CN" sz="4000" baseline="30000" dirty="0"/>
              <a:t>/</a:t>
            </a:r>
            <a:r>
              <a:rPr lang="en-US" altLang="zh-CN" sz="4000" i="1" baseline="30000" dirty="0"/>
              <a:t>R</a:t>
            </a:r>
            <a:r>
              <a:rPr lang="en-US" altLang="zh-CN" sz="4000" baseline="30000" dirty="0"/>
              <a:t> consists of all the left </a:t>
            </a:r>
            <a:r>
              <a:rPr lang="en-US" altLang="zh-CN" sz="4000" baseline="30000" dirty="0" err="1"/>
              <a:t>cosets</a:t>
            </a:r>
            <a:r>
              <a:rPr lang="en-US" altLang="zh-CN" sz="4000" baseline="30000" dirty="0"/>
              <a:t> of </a:t>
            </a:r>
            <a:r>
              <a:rPr lang="en-US" altLang="zh-CN" sz="4000" i="1" baseline="30000" dirty="0"/>
              <a:t>N</a:t>
            </a:r>
            <a:r>
              <a:rPr lang="en-US" altLang="zh-CN" sz="4000" baseline="30000" dirty="0"/>
              <a:t> = [</a:t>
            </a:r>
            <a:r>
              <a:rPr lang="en-US" altLang="zh-CN" sz="4000" i="1" baseline="30000" dirty="0"/>
              <a:t>e</a:t>
            </a:r>
            <a:r>
              <a:rPr lang="en-US" altLang="zh-CN" sz="4000" baseline="30000" dirty="0" smtClean="0"/>
              <a:t>].</a:t>
            </a:r>
            <a:endParaRPr lang="en-US" altLang="zh-CN" sz="4000" baseline="30000" dirty="0" smtClean="0"/>
          </a:p>
          <a:p>
            <a:pPr lvl="1"/>
            <a:r>
              <a:rPr lang="en-US" altLang="zh-CN" sz="3600" baseline="30000" dirty="0" smtClean="0"/>
              <a:t> </a:t>
            </a:r>
            <a:r>
              <a:rPr lang="en-US" altLang="zh-CN" sz="3600" baseline="30000" dirty="0"/>
              <a:t>The operation in </a:t>
            </a:r>
            <a:r>
              <a:rPr lang="en-US" altLang="zh-CN" sz="3600" i="1" baseline="30000" dirty="0"/>
              <a:t>G</a:t>
            </a:r>
            <a:r>
              <a:rPr lang="en-US" altLang="zh-CN" sz="3600" baseline="30000" dirty="0"/>
              <a:t>/</a:t>
            </a:r>
            <a:r>
              <a:rPr lang="en-US" altLang="zh-CN" sz="3600" i="1" baseline="30000" dirty="0"/>
              <a:t>R</a:t>
            </a:r>
            <a:r>
              <a:rPr lang="en-US" altLang="zh-CN" sz="3600" baseline="30000" dirty="0"/>
              <a:t> is given by </a:t>
            </a:r>
            <a:r>
              <a:rPr lang="en-US" altLang="zh-CN" sz="3600" baseline="30000" dirty="0" smtClean="0"/>
              <a:t>(</a:t>
            </a:r>
            <a:r>
              <a:rPr lang="en-US" altLang="zh-CN" sz="3600" i="1" baseline="30000" dirty="0" err="1"/>
              <a:t>aN</a:t>
            </a:r>
            <a:r>
              <a:rPr lang="en-US" altLang="zh-CN" sz="3600" baseline="30000" dirty="0"/>
              <a:t>)(</a:t>
            </a:r>
            <a:r>
              <a:rPr lang="en-US" altLang="zh-CN" sz="3600" i="1" baseline="30000" dirty="0" err="1"/>
              <a:t>bN</a:t>
            </a:r>
            <a:r>
              <a:rPr lang="en-US" altLang="zh-CN" sz="3600" baseline="30000" dirty="0"/>
              <a:t>) = [</a:t>
            </a:r>
            <a:r>
              <a:rPr lang="en-US" altLang="zh-CN" sz="3600" i="1" baseline="30000" dirty="0"/>
              <a:t>a</a:t>
            </a:r>
            <a:r>
              <a:rPr lang="en-US" altLang="zh-CN" sz="3600" baseline="30000" dirty="0"/>
              <a:t>]</a:t>
            </a:r>
            <a:r>
              <a:rPr lang="en-US" altLang="zh-CN" sz="3600" baseline="30000" dirty="0">
                <a:sym typeface="Euclid Math One" panose="05050601010101010101" pitchFamily="18" charset="2"/>
              </a:rPr>
              <a:t></a:t>
            </a:r>
            <a:r>
              <a:rPr lang="en-US" altLang="zh-CN" sz="3600" baseline="30000" dirty="0"/>
              <a:t>[</a:t>
            </a:r>
            <a:r>
              <a:rPr lang="en-US" altLang="zh-CN" sz="3600" i="1" baseline="30000" dirty="0"/>
              <a:t>b</a:t>
            </a:r>
            <a:r>
              <a:rPr lang="en-US" altLang="zh-CN" sz="3600" baseline="30000" dirty="0"/>
              <a:t>] = [</a:t>
            </a:r>
            <a:r>
              <a:rPr lang="en-US" altLang="zh-CN" sz="3600" i="1" baseline="30000" dirty="0"/>
              <a:t>ab</a:t>
            </a:r>
            <a:r>
              <a:rPr lang="en-US" altLang="zh-CN" sz="3600" baseline="30000" dirty="0"/>
              <a:t>] = </a:t>
            </a:r>
            <a:r>
              <a:rPr lang="en-US" altLang="zh-CN" sz="3600" i="1" baseline="30000" dirty="0" err="1"/>
              <a:t>abN</a:t>
            </a:r>
            <a:r>
              <a:rPr lang="en-US" altLang="zh-CN" sz="3600" baseline="30000" dirty="0"/>
              <a:t> </a:t>
            </a:r>
            <a:endParaRPr lang="en-US" altLang="zh-CN" sz="3600" baseline="30000" dirty="0"/>
          </a:p>
          <a:p>
            <a:pPr lvl="1"/>
            <a:r>
              <a:rPr lang="en-US" altLang="zh-CN" sz="3600" baseline="30000" dirty="0"/>
              <a:t>and the function </a:t>
            </a:r>
            <a:r>
              <a:rPr lang="en-US" altLang="zh-CN" sz="3600" i="1" baseline="30000" dirty="0" err="1"/>
              <a:t>fR</a:t>
            </a:r>
            <a:r>
              <a:rPr lang="en-US" altLang="zh-CN" sz="3600" baseline="30000" dirty="0"/>
              <a:t>: </a:t>
            </a:r>
            <a:r>
              <a:rPr lang="en-US" altLang="zh-CN" sz="3600" i="1" baseline="30000" dirty="0"/>
              <a:t>G</a:t>
            </a:r>
            <a:r>
              <a:rPr lang="en-US" altLang="zh-CN" sz="3600" baseline="30000" dirty="0">
                <a:sym typeface="Symbol" panose="05050102010706020507" pitchFamily="18" charset="2"/>
              </a:rPr>
              <a:t> </a:t>
            </a:r>
            <a:r>
              <a:rPr lang="en-US" altLang="zh-CN" sz="3600" i="1" baseline="30000" dirty="0"/>
              <a:t>G</a:t>
            </a:r>
            <a:r>
              <a:rPr lang="en-US" altLang="zh-CN" sz="3600" baseline="30000" dirty="0"/>
              <a:t>/</a:t>
            </a:r>
            <a:r>
              <a:rPr lang="en-US" altLang="zh-CN" sz="3600" i="1" baseline="30000" dirty="0"/>
              <a:t>R</a:t>
            </a:r>
            <a:r>
              <a:rPr lang="en-US" altLang="zh-CN" sz="3600" baseline="30000" dirty="0"/>
              <a:t>, defined by </a:t>
            </a:r>
            <a:r>
              <a:rPr lang="en-US" altLang="zh-CN" sz="3600" i="1" baseline="30000" dirty="0" err="1" smtClean="0"/>
              <a:t>fR</a:t>
            </a:r>
            <a:r>
              <a:rPr lang="en-US" altLang="zh-CN" sz="3600" baseline="30000" dirty="0" smtClean="0"/>
              <a:t>(</a:t>
            </a:r>
            <a:r>
              <a:rPr lang="en-US" altLang="zh-CN" sz="3600" i="1" baseline="30000" dirty="0" smtClean="0"/>
              <a:t>a</a:t>
            </a:r>
            <a:r>
              <a:rPr lang="en-US" altLang="zh-CN" sz="3600" baseline="30000" dirty="0"/>
              <a:t>) = </a:t>
            </a:r>
            <a:r>
              <a:rPr lang="en-US" altLang="zh-CN" sz="3600" i="1" baseline="30000" dirty="0" err="1" smtClean="0"/>
              <a:t>aN</a:t>
            </a:r>
            <a:r>
              <a:rPr lang="en-US" altLang="zh-CN" sz="3600" i="1" baseline="30000" dirty="0" smtClean="0"/>
              <a:t> </a:t>
            </a:r>
            <a:r>
              <a:rPr lang="en-US" altLang="zh-CN" sz="3600" baseline="30000" dirty="0" smtClean="0"/>
              <a:t>is </a:t>
            </a:r>
            <a:r>
              <a:rPr lang="en-US" altLang="zh-CN" sz="3600" baseline="30000" dirty="0"/>
              <a:t>a homomorphism from </a:t>
            </a:r>
            <a:r>
              <a:rPr lang="en-US" altLang="zh-CN" sz="3600" i="1" baseline="30000" dirty="0"/>
              <a:t>G</a:t>
            </a:r>
            <a:r>
              <a:rPr lang="en-US" altLang="zh-CN" sz="3600" baseline="30000" dirty="0"/>
              <a:t> onto </a:t>
            </a:r>
            <a:r>
              <a:rPr lang="en-US" altLang="zh-CN" sz="3600" i="1" baseline="30000" dirty="0"/>
              <a:t>G</a:t>
            </a:r>
            <a:r>
              <a:rPr lang="en-US" altLang="zh-CN" sz="3600" baseline="30000" dirty="0"/>
              <a:t>/</a:t>
            </a:r>
            <a:r>
              <a:rPr lang="en-US" altLang="zh-CN" sz="3600" i="1" baseline="30000" dirty="0"/>
              <a:t>R</a:t>
            </a:r>
            <a:r>
              <a:rPr lang="en-US" altLang="zh-CN" sz="3600" baseline="30000" dirty="0"/>
              <a:t>. For this reason, we will often write </a:t>
            </a:r>
            <a:r>
              <a:rPr lang="en-US" altLang="zh-CN" sz="3600" i="1" baseline="30000" dirty="0"/>
              <a:t>G</a:t>
            </a:r>
            <a:r>
              <a:rPr lang="en-US" altLang="zh-CN" sz="3600" baseline="30000" dirty="0"/>
              <a:t>/</a:t>
            </a:r>
            <a:r>
              <a:rPr lang="en-US" altLang="zh-CN" sz="3600" i="1" baseline="30000" dirty="0"/>
              <a:t>R</a:t>
            </a:r>
            <a:r>
              <a:rPr lang="en-US" altLang="zh-CN" sz="3600" baseline="30000" dirty="0"/>
              <a:t> as </a:t>
            </a:r>
            <a:r>
              <a:rPr lang="en-US" altLang="zh-CN" sz="3600" i="1" baseline="30000" dirty="0"/>
              <a:t>G</a:t>
            </a:r>
            <a:r>
              <a:rPr lang="en-US" altLang="zh-CN" sz="3600" baseline="30000" dirty="0"/>
              <a:t>/</a:t>
            </a:r>
            <a:r>
              <a:rPr lang="en-US" altLang="zh-CN" sz="3600" i="1" baseline="30000" dirty="0"/>
              <a:t>N</a:t>
            </a:r>
            <a:r>
              <a:rPr lang="en-US" altLang="zh-CN" sz="3600" baseline="30000" dirty="0"/>
              <a:t>.</a:t>
            </a:r>
            <a:endParaRPr lang="zh-CN" altLang="en-US" sz="3600" baseline="30000" dirty="0"/>
          </a:p>
          <a:p>
            <a:pPr lvl="1"/>
            <a:endParaRPr lang="zh-CN" altLang="zh-CN" sz="2000" baseline="30000" dirty="0"/>
          </a:p>
          <a:p>
            <a:endParaRPr lang="zh-CN" altLang="zh-CN" sz="2000" baseline="30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Let </a:t>
            </a:r>
            <a:endParaRPr lang="en-US" altLang="zh-CN" dirty="0"/>
          </a:p>
          <a:p>
            <a:pPr lvl="1"/>
            <a:r>
              <a:rPr lang="en-US" altLang="zh-CN" i="1" dirty="0"/>
              <a:t>N</a:t>
            </a:r>
            <a:r>
              <a:rPr lang="en-US" altLang="zh-CN" dirty="0"/>
              <a:t> be a normal subgroup of a group </a:t>
            </a:r>
            <a:r>
              <a:rPr lang="en-US" altLang="zh-CN" i="1" dirty="0"/>
              <a:t>G</a:t>
            </a:r>
            <a:endParaRPr lang="en-US" altLang="zh-CN" i="1" dirty="0"/>
          </a:p>
          <a:p>
            <a:pPr lvl="1"/>
            <a:r>
              <a:rPr lang="en-US" altLang="zh-CN" i="1" dirty="0"/>
              <a:t>R</a:t>
            </a:r>
            <a:r>
              <a:rPr lang="en-US" altLang="zh-CN" dirty="0"/>
              <a:t> be the following relation on </a:t>
            </a:r>
            <a:r>
              <a:rPr lang="en-US" altLang="zh-CN" i="1" dirty="0" smtClean="0"/>
              <a:t>G a </a:t>
            </a:r>
            <a:r>
              <a:rPr lang="en-US" altLang="zh-CN" i="1" dirty="0"/>
              <a:t>R b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N</a:t>
            </a:r>
            <a:r>
              <a:rPr lang="en-US" altLang="zh-CN" dirty="0"/>
              <a:t>. </a:t>
            </a:r>
            <a:endParaRPr lang="en-US" altLang="zh-CN" dirty="0"/>
          </a:p>
          <a:p>
            <a:r>
              <a:rPr lang="en-US" altLang="zh-CN" dirty="0"/>
              <a:t>Then</a:t>
            </a:r>
            <a:endParaRPr lang="en-US" altLang="zh-CN" dirty="0"/>
          </a:p>
          <a:p>
            <a:pPr lvl="1"/>
            <a:r>
              <a:rPr lang="en-US" altLang="zh-CN" dirty="0"/>
              <a:t>(a) </a:t>
            </a:r>
            <a:r>
              <a:rPr lang="en-US" altLang="zh-CN" i="1" dirty="0"/>
              <a:t>R</a:t>
            </a:r>
            <a:r>
              <a:rPr lang="en-US" altLang="zh-CN" dirty="0"/>
              <a:t> is a congruence relation on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(b)</a:t>
            </a:r>
            <a:r>
              <a:rPr lang="en-US" altLang="zh-CN" i="1" dirty="0"/>
              <a:t> N</a:t>
            </a:r>
            <a:r>
              <a:rPr lang="en-US" altLang="zh-CN" dirty="0"/>
              <a:t> is the equivalence class [</a:t>
            </a:r>
            <a:r>
              <a:rPr lang="en-US" altLang="zh-CN" i="1" dirty="0"/>
              <a:t>e</a:t>
            </a:r>
            <a:r>
              <a:rPr lang="en-US" altLang="zh-CN" dirty="0"/>
              <a:t>] relative to </a:t>
            </a:r>
            <a:r>
              <a:rPr lang="en-US" altLang="zh-CN" i="1" dirty="0"/>
              <a:t>R</a:t>
            </a:r>
            <a:r>
              <a:rPr lang="en-US" altLang="zh-CN" dirty="0"/>
              <a:t>, where </a:t>
            </a:r>
            <a:r>
              <a:rPr lang="en-US" altLang="zh-CN" i="1" dirty="0"/>
              <a:t>e</a:t>
            </a:r>
            <a:r>
              <a:rPr lang="en-US" altLang="zh-CN" dirty="0"/>
              <a:t> is the identity of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r>
              <a:rPr lang="en-US" altLang="zh-CN" dirty="0"/>
              <a:t>Following three are equivalent</a:t>
            </a:r>
            <a:endParaRPr lang="en-US" altLang="zh-CN" dirty="0"/>
          </a:p>
          <a:p>
            <a:pPr lvl="1"/>
            <a:r>
              <a:rPr lang="en-US" altLang="zh-CN" dirty="0"/>
              <a:t>a congruence relation </a:t>
            </a:r>
            <a:r>
              <a:rPr lang="en-US" altLang="zh-CN" i="1" dirty="0"/>
              <a:t>R</a:t>
            </a:r>
            <a:r>
              <a:rPr lang="en-US" altLang="zh-CN" dirty="0"/>
              <a:t> on </a:t>
            </a:r>
            <a:r>
              <a:rPr lang="en-US" altLang="zh-CN" i="1" dirty="0"/>
              <a:t>G</a:t>
            </a:r>
            <a:r>
              <a:rPr lang="en-US" altLang="zh-CN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a normal subgroup </a:t>
            </a:r>
            <a:r>
              <a:rPr lang="en-US" altLang="zh-CN" i="1" dirty="0"/>
              <a:t>H</a:t>
            </a:r>
            <a:r>
              <a:rPr lang="en-US" altLang="zh-CN" dirty="0"/>
              <a:t> of </a:t>
            </a:r>
            <a:r>
              <a:rPr lang="en-US" altLang="zh-CN" i="1" dirty="0"/>
              <a:t>G</a:t>
            </a:r>
            <a:endParaRPr lang="en-US" altLang="zh-CN" i="1" dirty="0"/>
          </a:p>
          <a:p>
            <a:pPr lvl="1"/>
            <a:r>
              <a:rPr lang="en-US" altLang="zh-CN" dirty="0"/>
              <a:t>a homomorphism from </a:t>
            </a:r>
            <a:r>
              <a:rPr lang="en-US" altLang="zh-CN" i="1" dirty="0"/>
              <a:t>G</a:t>
            </a:r>
            <a:r>
              <a:rPr lang="en-US" altLang="zh-CN" dirty="0"/>
              <a:t> to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 or </a:t>
            </a:r>
            <a:r>
              <a:rPr lang="en-US" altLang="zh-CN" i="1" dirty="0"/>
              <a:t>G</a:t>
            </a:r>
            <a:r>
              <a:rPr lang="en-US" altLang="zh-CN" dirty="0"/>
              <a:t>'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Let </a:t>
            </a:r>
            <a:endParaRPr lang="en-US" altLang="zh-CN" dirty="0"/>
          </a:p>
          <a:p>
            <a:pPr lvl="1"/>
            <a:r>
              <a:rPr lang="en-US" altLang="zh-CN" i="1" dirty="0"/>
              <a:t>f</a:t>
            </a:r>
            <a:r>
              <a:rPr lang="en-US" altLang="zh-CN" dirty="0"/>
              <a:t> be a homomorphism from a group (</a:t>
            </a:r>
            <a:r>
              <a:rPr lang="en-US" altLang="zh-CN" i="1" dirty="0"/>
              <a:t>G</a:t>
            </a:r>
            <a:r>
              <a:rPr lang="en-US" altLang="zh-CN" dirty="0"/>
              <a:t>, *) </a:t>
            </a:r>
            <a:r>
              <a:rPr lang="en-US" altLang="zh-CN" i="1" dirty="0">
                <a:solidFill>
                  <a:schemeClr val="hlink"/>
                </a:solidFill>
              </a:rPr>
              <a:t>onto</a:t>
            </a:r>
            <a:r>
              <a:rPr lang="en-US" altLang="zh-CN" dirty="0"/>
              <a:t> a group (</a:t>
            </a:r>
            <a:r>
              <a:rPr lang="en-US" altLang="zh-CN" i="1" dirty="0"/>
              <a:t>G</a:t>
            </a:r>
            <a:r>
              <a:rPr lang="en-US" altLang="zh-CN" dirty="0"/>
              <a:t>', *')</a:t>
            </a:r>
            <a:endParaRPr lang="en-US" altLang="zh-CN" dirty="0"/>
          </a:p>
          <a:p>
            <a:pPr lvl="1"/>
            <a:r>
              <a:rPr lang="en-US" altLang="zh-CN" dirty="0"/>
              <a:t>the </a:t>
            </a:r>
            <a:r>
              <a:rPr lang="en-US" altLang="zh-CN" i="1" dirty="0">
                <a:solidFill>
                  <a:srgbClr val="FF3300"/>
                </a:solidFill>
              </a:rPr>
              <a:t>kernel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zh-CN" altLang="en-US" dirty="0">
                <a:solidFill>
                  <a:srgbClr val="FF3300"/>
                </a:solidFill>
              </a:rPr>
              <a:t>核</a:t>
            </a:r>
            <a:r>
              <a:rPr lang="en-US" altLang="zh-CN" dirty="0">
                <a:solidFill>
                  <a:srgbClr val="FF3300"/>
                </a:solidFill>
              </a:rPr>
              <a:t>)</a:t>
            </a:r>
            <a:r>
              <a:rPr lang="en-US" altLang="zh-CN" dirty="0"/>
              <a:t> of </a:t>
            </a:r>
            <a:r>
              <a:rPr lang="en-US" altLang="zh-CN" i="1" dirty="0"/>
              <a:t>f</a:t>
            </a:r>
            <a:r>
              <a:rPr lang="en-US" altLang="zh-CN" dirty="0"/>
              <a:t>, </a:t>
            </a:r>
            <a:r>
              <a:rPr lang="en-US" altLang="zh-CN" i="1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), be defined by </a:t>
            </a:r>
            <a:r>
              <a:rPr lang="en-US" altLang="zh-CN" i="1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= {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G</a:t>
            </a:r>
            <a:r>
              <a:rPr lang="en-US" altLang="zh-CN" dirty="0"/>
              <a:t>|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'}.</a:t>
            </a:r>
            <a:endParaRPr lang="en-US" altLang="zh-CN" dirty="0"/>
          </a:p>
          <a:p>
            <a:r>
              <a:rPr lang="en-US" altLang="zh-CN" dirty="0"/>
              <a:t>Then</a:t>
            </a:r>
            <a:endParaRPr lang="en-US" altLang="zh-CN" dirty="0"/>
          </a:p>
          <a:p>
            <a:pPr lvl="1"/>
            <a:r>
              <a:rPr lang="en-US" altLang="zh-CN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is a normal subgroup of G.</a:t>
            </a:r>
            <a:endParaRPr lang="en-US" altLang="zh-CN" dirty="0"/>
          </a:p>
          <a:p>
            <a:pPr lvl="1"/>
            <a:r>
              <a:rPr lang="en-US" altLang="zh-CN" dirty="0"/>
              <a:t>The quotient group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is isomorphic to </a:t>
            </a:r>
            <a:r>
              <a:rPr lang="en-US" altLang="zh-CN" i="1" dirty="0"/>
              <a:t>G</a:t>
            </a:r>
            <a:r>
              <a:rPr lang="en-US" altLang="zh-CN" dirty="0"/>
              <a:t>'.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5260"/>
            <a:ext cx="10515600" cy="1325563"/>
          </a:xfrm>
        </p:spPr>
        <p:txBody>
          <a:bodyPr/>
          <a:lstStyle/>
          <a:p>
            <a:r>
              <a:rPr lang="en-US" altLang="zh-CN" dirty="0"/>
              <a:t>Groups and </a:t>
            </a:r>
            <a:r>
              <a:rPr lang="en-US" altLang="zh-CN" dirty="0" smtClean="0"/>
              <a:t>Coding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0840" y="1250315"/>
            <a:ext cx="11821160" cy="463423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 sz="2400" dirty="0" smtClean="0"/>
              <a:t>Encoding </a:t>
            </a:r>
            <a:r>
              <a:rPr lang="en-US" altLang="zh-CN" sz="2400" dirty="0"/>
              <a:t>function</a:t>
            </a:r>
            <a:r>
              <a:rPr lang="zh-CN" altLang="en-US" sz="2400" dirty="0"/>
              <a:t>（编码函数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1"/>
            <a:r>
              <a:rPr lang="en-US" altLang="zh-CN" sz="2800" dirty="0"/>
              <a:t>Choose an integer 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en-US" altLang="zh-CN" sz="2800" dirty="0">
                <a:cs typeface="Times New Roman" panose="02020603050405020304" pitchFamily="18" charset="0"/>
              </a:rPr>
              <a:t>&gt;</a:t>
            </a:r>
            <a:r>
              <a:rPr lang="en-US" altLang="zh-CN" sz="2800" i="1" dirty="0"/>
              <a:t>m</a:t>
            </a:r>
            <a:r>
              <a:rPr lang="en-US" altLang="zh-CN" sz="2800" dirty="0"/>
              <a:t> and a one-to-one function </a:t>
            </a:r>
            <a:r>
              <a:rPr lang="en-US" altLang="zh-CN" sz="2800" i="1" dirty="0"/>
              <a:t>e</a:t>
            </a:r>
            <a:r>
              <a:rPr lang="en-US" altLang="zh-CN" sz="2800" dirty="0"/>
              <a:t>: </a:t>
            </a:r>
            <a:r>
              <a:rPr lang="en-US" altLang="zh-CN" sz="2800" i="1" dirty="0" err="1"/>
              <a:t>B</a:t>
            </a:r>
            <a:r>
              <a:rPr lang="en-US" altLang="zh-CN" sz="2800" i="1" baseline="30000" dirty="0" err="1"/>
              <a:t>m</a:t>
            </a:r>
            <a:r>
              <a:rPr lang="en-US" altLang="zh-CN" sz="2800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i="1" dirty="0" err="1"/>
              <a:t>B</a:t>
            </a:r>
            <a:r>
              <a:rPr lang="en-US" altLang="zh-CN" sz="2800" i="1" baseline="30000" dirty="0" err="1"/>
              <a:t>n</a:t>
            </a:r>
            <a:endParaRPr lang="en-US" altLang="zh-CN" sz="2800" dirty="0"/>
          </a:p>
          <a:p>
            <a:pPr lvl="2"/>
            <a:r>
              <a:rPr lang="en-US" altLang="zh-CN" sz="2400" i="1" dirty="0"/>
              <a:t>e</a:t>
            </a:r>
            <a:r>
              <a:rPr lang="en-US" altLang="zh-CN" sz="2400" dirty="0"/>
              <a:t> is called an (</a:t>
            </a:r>
            <a:r>
              <a:rPr lang="en-US" altLang="zh-CN" sz="2400" i="1" dirty="0"/>
              <a:t>m, n</a:t>
            </a:r>
            <a:r>
              <a:rPr lang="en-US" altLang="zh-CN" sz="2400" dirty="0"/>
              <a:t>) </a:t>
            </a:r>
            <a:r>
              <a:rPr lang="en-US" altLang="zh-CN" sz="2400" i="1" dirty="0">
                <a:solidFill>
                  <a:schemeClr val="hlink"/>
                </a:solidFill>
              </a:rPr>
              <a:t>encoding function</a:t>
            </a:r>
            <a:r>
              <a:rPr lang="en-US" altLang="zh-CN" sz="2400" dirty="0"/>
              <a:t>, representing every word in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m</a:t>
            </a:r>
            <a:r>
              <a:rPr lang="en-US" altLang="zh-CN" sz="2400" dirty="0"/>
              <a:t> as a word in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2"/>
            <a:r>
              <a:rPr lang="en-US" altLang="zh-CN" sz="2400" dirty="0"/>
              <a:t>If 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m</a:t>
            </a:r>
            <a:r>
              <a:rPr lang="en-US" altLang="zh-CN" sz="2400" dirty="0"/>
              <a:t>, then </a:t>
            </a:r>
            <a:r>
              <a:rPr lang="en-US" altLang="zh-CN" sz="2400" i="1" dirty="0"/>
              <a:t>e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is called the </a:t>
            </a:r>
            <a:r>
              <a:rPr lang="en-US" altLang="zh-CN" sz="2400" i="1" dirty="0">
                <a:solidFill>
                  <a:schemeClr val="hlink"/>
                </a:solidFill>
              </a:rPr>
              <a:t>code word</a:t>
            </a:r>
            <a:r>
              <a:rPr lang="en-US" altLang="zh-CN" sz="2400" dirty="0">
                <a:solidFill>
                  <a:schemeClr val="hlink"/>
                </a:solidFill>
              </a:rPr>
              <a:t>(</a:t>
            </a:r>
            <a:r>
              <a:rPr lang="zh-CN" altLang="en-US" sz="2400" dirty="0">
                <a:solidFill>
                  <a:schemeClr val="hlink"/>
                </a:solidFill>
              </a:rPr>
              <a:t>码字</a:t>
            </a:r>
            <a:r>
              <a:rPr lang="en-US" altLang="zh-CN" sz="2400" dirty="0">
                <a:solidFill>
                  <a:schemeClr val="hlink"/>
                </a:solidFill>
              </a:rPr>
              <a:t>)</a:t>
            </a:r>
            <a:r>
              <a:rPr lang="en-US" altLang="zh-CN" sz="2400" dirty="0"/>
              <a:t> representing </a:t>
            </a:r>
            <a:r>
              <a:rPr lang="en-US" altLang="zh-CN" sz="2400" i="1" dirty="0"/>
              <a:t>b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lvl="1">
              <a:lnSpc>
                <a:spcPct val="80000"/>
              </a:lnSpc>
            </a:pPr>
            <a:r>
              <a:rPr lang="en-US" altLang="zh-CN" sz="2000" dirty="0" smtClean="0"/>
              <a:t>(</a:t>
            </a:r>
            <a:r>
              <a:rPr lang="en-US" altLang="zh-CN" sz="2000" dirty="0" err="1"/>
              <a:t>m,n</a:t>
            </a:r>
            <a:r>
              <a:rPr lang="en-US" altLang="zh-CN" sz="2000" dirty="0"/>
              <a:t>) encoding function</a:t>
            </a:r>
            <a:endParaRPr lang="zh-CN" altLang="en-US" sz="2000" dirty="0"/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parity(m,m+1) check code</a:t>
            </a:r>
            <a:endParaRPr lang="en-US" altLang="zh-CN" sz="2000" dirty="0"/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(m,3m) encoding function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400" dirty="0"/>
              <a:t>Error detection</a:t>
            </a:r>
            <a:r>
              <a:rPr lang="zh-CN" altLang="en-US" sz="2400" dirty="0"/>
              <a:t>（差错检测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1">
              <a:lnSpc>
                <a:spcPct val="80000"/>
              </a:lnSpc>
            </a:pPr>
            <a:r>
              <a:rPr lang="en-US" altLang="zh-CN" dirty="0"/>
              <a:t>We will say that the code word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has been transmitted with </a:t>
            </a:r>
            <a:r>
              <a:rPr lang="en-US" altLang="zh-CN" i="1" dirty="0">
                <a:solidFill>
                  <a:schemeClr val="hlink"/>
                </a:solidFill>
              </a:rPr>
              <a:t>k or fewer errors</a:t>
            </a:r>
            <a:r>
              <a:rPr lang="en-US" altLang="zh-CN" dirty="0"/>
              <a:t> if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differ in at least 1 but no more than </a:t>
            </a:r>
            <a:r>
              <a:rPr lang="en-US" altLang="zh-CN" i="1" dirty="0"/>
              <a:t>k</a:t>
            </a:r>
            <a:r>
              <a:rPr lang="en-US" altLang="zh-CN" dirty="0"/>
              <a:t> positions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/>
              <a:t>Let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be 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function. </a:t>
            </a:r>
            <a:r>
              <a:rPr lang="en-US" altLang="zh-CN" i="1" dirty="0" smtClean="0"/>
              <a:t>e</a:t>
            </a:r>
            <a:r>
              <a:rPr lang="en-US" altLang="zh-CN" dirty="0" smtClean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detects k or fewer errors</a:t>
            </a:r>
            <a:r>
              <a:rPr lang="en-US" altLang="zh-CN" dirty="0"/>
              <a:t> if whenever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is transmitted with </a:t>
            </a:r>
            <a:r>
              <a:rPr lang="en-US" altLang="zh-CN" i="1" dirty="0"/>
              <a:t>k</a:t>
            </a:r>
            <a:r>
              <a:rPr lang="en-US" altLang="zh-CN" dirty="0"/>
              <a:t> or fewer errors, then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i="1" dirty="0"/>
              <a:t> </a:t>
            </a:r>
            <a:r>
              <a:rPr lang="en-US" altLang="zh-CN" dirty="0"/>
              <a:t>is not a code word (thus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could not be </a:t>
            </a:r>
            <a:r>
              <a:rPr lang="en-US" altLang="zh-CN" i="1" dirty="0"/>
              <a:t>x</a:t>
            </a:r>
            <a:r>
              <a:rPr lang="en-US" altLang="zh-CN" dirty="0"/>
              <a:t> and therefore could not have been correctly transmitted).</a:t>
            </a:r>
            <a:endParaRPr lang="en-US" altLang="zh-CN" dirty="0"/>
          </a:p>
          <a:p>
            <a:pPr lvl="1"/>
            <a:r>
              <a:rPr lang="en-US" altLang="zh-CN" dirty="0"/>
              <a:t>For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, the number of l's in </a:t>
            </a:r>
            <a:r>
              <a:rPr lang="en-US" altLang="zh-CN" i="1" dirty="0"/>
              <a:t>x</a:t>
            </a:r>
            <a:r>
              <a:rPr lang="en-US" altLang="zh-CN" dirty="0"/>
              <a:t> is called the </a:t>
            </a:r>
            <a:r>
              <a:rPr lang="en-US" altLang="zh-CN" dirty="0">
                <a:solidFill>
                  <a:schemeClr val="hlink"/>
                </a:solidFill>
              </a:rPr>
              <a:t>weight(</a:t>
            </a:r>
            <a:r>
              <a:rPr lang="zh-CN" altLang="en-US" dirty="0">
                <a:solidFill>
                  <a:schemeClr val="hlink"/>
                </a:solidFill>
              </a:rPr>
              <a:t>权</a:t>
            </a:r>
            <a:r>
              <a:rPr lang="en-US" altLang="zh-CN" dirty="0">
                <a:solidFill>
                  <a:schemeClr val="hlink"/>
                </a:solidFill>
              </a:rPr>
              <a:t>) </a:t>
            </a:r>
            <a:r>
              <a:rPr lang="en-US" altLang="zh-CN" dirty="0"/>
              <a:t>of </a:t>
            </a:r>
            <a:r>
              <a:rPr lang="en-US" altLang="zh-CN" i="1" dirty="0"/>
              <a:t>x</a:t>
            </a:r>
            <a:r>
              <a:rPr lang="en-US" altLang="zh-CN" dirty="0"/>
              <a:t> and is denoted by |</a:t>
            </a:r>
            <a:r>
              <a:rPr lang="en-US" altLang="zh-CN" i="1" dirty="0"/>
              <a:t>x</a:t>
            </a:r>
            <a:r>
              <a:rPr lang="en-US" altLang="zh-CN" dirty="0" smtClean="0"/>
              <a:t>|</a:t>
            </a:r>
            <a:endParaRPr lang="en-US" altLang="zh-CN" sz="1600" dirty="0"/>
          </a:p>
          <a:p>
            <a:pPr lvl="1">
              <a:lnSpc>
                <a:spcPct val="8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be words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 The </a:t>
            </a:r>
            <a:r>
              <a:rPr lang="en-US" altLang="zh-CN" i="1" dirty="0">
                <a:solidFill>
                  <a:schemeClr val="hlink"/>
                </a:solidFill>
              </a:rPr>
              <a:t>Hamming distance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between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is the weight, |</a:t>
            </a:r>
            <a:r>
              <a:rPr lang="en-US" altLang="zh-CN" i="1" dirty="0"/>
              <a:t>x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y</a:t>
            </a:r>
            <a:r>
              <a:rPr lang="en-US" altLang="zh-CN" dirty="0"/>
              <a:t>|, of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Groups and Coding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, and </a:t>
            </a:r>
            <a:r>
              <a:rPr lang="en-US" altLang="zh-CN" i="1" dirty="0"/>
              <a:t>z</a:t>
            </a:r>
            <a:r>
              <a:rPr lang="en-US" altLang="zh-CN" dirty="0"/>
              <a:t> be elements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 Then</a:t>
            </a:r>
            <a:endParaRPr lang="en-US" altLang="zh-CN" dirty="0"/>
          </a:p>
          <a:p>
            <a:pPr lvl="1">
              <a:lnSpc>
                <a:spcPct val="80000"/>
              </a:lnSpc>
            </a:pPr>
            <a:r>
              <a:rPr lang="en-US" altLang="zh-CN" dirty="0"/>
              <a:t>(a)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dirty="0"/>
              <a:t>) </a:t>
            </a:r>
            <a:endParaRPr lang="en-US" altLang="zh-CN" dirty="0"/>
          </a:p>
          <a:p>
            <a:pPr lvl="1">
              <a:lnSpc>
                <a:spcPct val="80000"/>
              </a:lnSpc>
            </a:pPr>
            <a:r>
              <a:rPr lang="en-US" altLang="zh-CN" dirty="0"/>
              <a:t>(b)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0</a:t>
            </a:r>
            <a:endParaRPr lang="en-US" altLang="zh-CN" dirty="0"/>
          </a:p>
          <a:p>
            <a:pPr lvl="1">
              <a:lnSpc>
                <a:spcPct val="80000"/>
              </a:lnSpc>
            </a:pPr>
            <a:r>
              <a:rPr lang="en-US" altLang="zh-CN" dirty="0"/>
              <a:t>(c)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0 if and only if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endParaRPr lang="en-US" altLang="zh-CN" i="1" dirty="0"/>
          </a:p>
          <a:p>
            <a:pPr lvl="1">
              <a:lnSpc>
                <a:spcPct val="80000"/>
              </a:lnSpc>
            </a:pPr>
            <a:r>
              <a:rPr lang="en-US" altLang="zh-CN" dirty="0"/>
              <a:t>(d)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) +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z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  <a:endParaRPr lang="en-US" altLang="zh-CN" dirty="0"/>
          </a:p>
          <a:p>
            <a:pPr lvl="1">
              <a:lnSpc>
                <a:spcPct val="80000"/>
              </a:lnSpc>
            </a:pPr>
            <a:endParaRPr lang="en-US" altLang="zh-CN" sz="1800" dirty="0"/>
          </a:p>
          <a:p>
            <a:r>
              <a:rPr lang="en-US" altLang="zh-CN" dirty="0"/>
              <a:t>The </a:t>
            </a:r>
            <a:r>
              <a:rPr lang="en-US" altLang="zh-CN" i="1" dirty="0">
                <a:solidFill>
                  <a:schemeClr val="hlink"/>
                </a:solidFill>
              </a:rPr>
              <a:t>minimum distance</a:t>
            </a:r>
            <a:r>
              <a:rPr lang="en-US" altLang="zh-CN" dirty="0"/>
              <a:t> of an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is the minimum of the distances between all distinct pairs of code words; that is,</a:t>
            </a:r>
            <a:endParaRPr lang="en-US" altLang="zh-CN" dirty="0"/>
          </a:p>
          <a:p>
            <a:pPr>
              <a:buNone/>
            </a:pPr>
            <a:r>
              <a:rPr lang="en-US" altLang="zh-CN" dirty="0">
                <a:sym typeface="Symbol" panose="05050102010706020507" pitchFamily="18" charset="2"/>
              </a:rPr>
              <a:t>		min{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),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)) | </a:t>
            </a:r>
            <a:r>
              <a:rPr lang="en-US" altLang="zh-CN" i="1" dirty="0"/>
              <a:t>x, y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}</a:t>
            </a:r>
            <a:endParaRPr lang="en-US" altLang="zh-CN" dirty="0"/>
          </a:p>
          <a:p>
            <a:r>
              <a:rPr lang="en-US" altLang="zh-CN" dirty="0"/>
              <a:t>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can detect </a:t>
            </a:r>
            <a:r>
              <a:rPr lang="en-US" altLang="zh-CN" i="1" dirty="0"/>
              <a:t>k</a:t>
            </a:r>
            <a:r>
              <a:rPr lang="en-US" altLang="zh-CN" dirty="0"/>
              <a:t> or fewer errors </a:t>
            </a:r>
            <a:r>
              <a:rPr lang="en-US" altLang="zh-CN" dirty="0" smtClean="0"/>
              <a:t>if </a:t>
            </a:r>
            <a:r>
              <a:rPr lang="en-US" altLang="zh-CN" dirty="0"/>
              <a:t>and only if its minimum distance is at 1east </a:t>
            </a:r>
            <a:r>
              <a:rPr lang="en-US" altLang="zh-CN" i="1" dirty="0"/>
              <a:t>k</a:t>
            </a:r>
            <a:r>
              <a:rPr lang="en-US" altLang="zh-CN" dirty="0"/>
              <a:t> + l.</a:t>
            </a:r>
            <a:endParaRPr lang="zh-CN" altLang="en-US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is called a </a:t>
            </a:r>
            <a:r>
              <a:rPr lang="en-US" altLang="zh-CN" i="1" dirty="0">
                <a:solidFill>
                  <a:schemeClr val="hlink"/>
                </a:solidFill>
              </a:rPr>
              <a:t>group code</a:t>
            </a:r>
            <a:r>
              <a:rPr lang="en-US" altLang="zh-CN" dirty="0"/>
              <a:t> </a:t>
            </a:r>
            <a:r>
              <a:rPr lang="en-US" altLang="zh-CN" dirty="0" smtClean="0"/>
              <a:t>if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i="1" dirty="0" smtClean="0"/>
              <a:t>   e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B</a:t>
            </a:r>
            <a:r>
              <a:rPr lang="en-US" altLang="zh-CN" i="1" baseline="30000" dirty="0" err="1" smtClean="0"/>
              <a:t>m</a:t>
            </a:r>
            <a:r>
              <a:rPr lang="en-US" altLang="zh-CN" dirty="0"/>
              <a:t>) = {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|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} is a subgroup of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endParaRPr lang="en-US" altLang="zh-CN" i="1" baseline="30000" dirty="0"/>
          </a:p>
          <a:p>
            <a:endParaRPr lang="en-US" altLang="zh-CN" dirty="0" smtClean="0"/>
          </a:p>
          <a:p>
            <a:r>
              <a:rPr lang="en-US" altLang="zh-CN" dirty="0" smtClean="0"/>
              <a:t>Let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be a group code. The minimum distance of </a:t>
            </a:r>
            <a:r>
              <a:rPr lang="en-US" altLang="zh-CN" i="1" dirty="0"/>
              <a:t>e</a:t>
            </a:r>
            <a:r>
              <a:rPr lang="en-US" altLang="zh-CN" dirty="0"/>
              <a:t> is the minimum weight of a nonzero code word.</a:t>
            </a:r>
            <a:endParaRPr lang="zh-CN" altLang="en-US" dirty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i="1" baseline="300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Constructing </a:t>
            </a:r>
            <a:r>
              <a:rPr lang="en-US" altLang="zh-CN" dirty="0"/>
              <a:t>group code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hlink"/>
                </a:solidFill>
              </a:rPr>
              <a:t>mod-2 sum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b="1" dirty="0">
                <a:solidFill>
                  <a:schemeClr val="hlink"/>
                </a:solidFill>
              </a:rPr>
              <a:t>D </a:t>
            </a:r>
            <a:r>
              <a:rPr lang="zh-CN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</a:t>
            </a:r>
            <a:r>
              <a:rPr lang="en-US" altLang="zh-CN" b="1" dirty="0">
                <a:solidFill>
                  <a:schemeClr val="hlink"/>
                </a:solidFill>
              </a:rPr>
              <a:t> E</a:t>
            </a:r>
            <a:endParaRPr lang="en-US" altLang="zh-CN" b="1" dirty="0">
              <a:solidFill>
                <a:schemeClr val="hlink"/>
              </a:solidFill>
            </a:endParaRPr>
          </a:p>
          <a:p>
            <a:r>
              <a:rPr lang="en-US" altLang="zh-CN" b="1" dirty="0">
                <a:solidFill>
                  <a:schemeClr val="hlink"/>
                </a:solidFill>
              </a:rPr>
              <a:t>mod-2 Boolean product D * </a:t>
            </a:r>
            <a:r>
              <a:rPr lang="en-US" altLang="zh-CN" b="1" dirty="0" smtClean="0">
                <a:solidFill>
                  <a:schemeClr val="hlink"/>
                </a:solidFill>
              </a:rPr>
              <a:t>E</a:t>
            </a:r>
            <a:endParaRPr lang="en-US" altLang="zh-CN" b="1" dirty="0" smtClean="0">
              <a:solidFill>
                <a:schemeClr val="hlink"/>
              </a:solidFill>
            </a:endParaRPr>
          </a:p>
          <a:p>
            <a:r>
              <a:rPr lang="en-US" altLang="zh-CN" dirty="0"/>
              <a:t>Let </a:t>
            </a:r>
            <a:r>
              <a:rPr lang="en-US" altLang="zh-CN" i="1" dirty="0"/>
              <a:t>m</a:t>
            </a:r>
            <a:r>
              <a:rPr lang="en-US" altLang="zh-CN" dirty="0"/>
              <a:t> &lt; </a:t>
            </a:r>
            <a:r>
              <a:rPr lang="en-US" altLang="zh-CN" i="1" dirty="0"/>
              <a:t>n</a:t>
            </a:r>
            <a:r>
              <a:rPr lang="en-US" altLang="zh-CN" dirty="0"/>
              <a:t> and </a:t>
            </a:r>
            <a:r>
              <a:rPr lang="en-US" altLang="zh-CN" i="1" dirty="0"/>
              <a:t>r</a:t>
            </a:r>
            <a:r>
              <a:rPr lang="en-US" altLang="zh-CN" dirty="0"/>
              <a:t> = </a:t>
            </a:r>
            <a:r>
              <a:rPr lang="en-US" altLang="zh-CN" i="1" dirty="0"/>
              <a:t>n</a:t>
            </a:r>
            <a:r>
              <a:rPr lang="en-US" altLang="zh-CN" dirty="0"/>
              <a:t> – </a:t>
            </a:r>
            <a:r>
              <a:rPr lang="en-US" altLang="zh-CN" i="1" dirty="0"/>
              <a:t>m,</a:t>
            </a:r>
            <a:r>
              <a:rPr lang="en-US" altLang="zh-CN" dirty="0"/>
              <a:t> the following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Boolean matrix is called a </a:t>
            </a:r>
            <a:r>
              <a:rPr lang="en-US" altLang="zh-CN" i="1" dirty="0">
                <a:solidFill>
                  <a:schemeClr val="hlink"/>
                </a:solidFill>
              </a:rPr>
              <a:t>parity check matrix</a:t>
            </a:r>
            <a:r>
              <a:rPr lang="en-US" altLang="zh-CN" dirty="0"/>
              <a:t>.</a:t>
            </a:r>
            <a:endParaRPr lang="en-US" altLang="zh-CN" b="1" dirty="0">
              <a:solidFill>
                <a:schemeClr val="hlink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473123" y="3433619"/>
          <a:ext cx="3643669" cy="306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1" imgW="2171700" imgH="1828800" progId="Equation.DSMT4">
                  <p:embed/>
                </p:oleObj>
              </mc:Choice>
              <mc:Fallback>
                <p:oleObj name="Equation" r:id="rId1" imgW="2171700" imgH="1828800" progId="Equation.DSMT4">
                  <p:embed/>
                  <p:pic>
                    <p:nvPicPr>
                      <p:cNvPr id="0" name="图片 4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123" y="3433619"/>
                        <a:ext cx="3643669" cy="3068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Constructing group code </a:t>
            </a:r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244436" y="2005905"/>
          <a:ext cx="8275782" cy="428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1" imgW="4216400" imgH="2184400" progId="Equation.DSMT4">
                  <p:embed/>
                </p:oleObj>
              </mc:Choice>
              <mc:Fallback>
                <p:oleObj name="Equation" r:id="rId1" imgW="4216400" imgH="2184400" progId="Equation.DSMT4">
                  <p:embed/>
                  <p:pic>
                    <p:nvPicPr>
                      <p:cNvPr id="0" name="图片 5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436" y="2005905"/>
                        <a:ext cx="8275782" cy="4287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588010" y="1478915"/>
            <a:ext cx="7628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400" i="1" dirty="0" err="1"/>
              <a:t>e</a:t>
            </a:r>
            <a:r>
              <a:rPr lang="en-US" altLang="zh-CN" sz="2400" i="1" baseline="-25000" dirty="0" err="1"/>
              <a:t>H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m</a:t>
            </a:r>
            <a:r>
              <a:rPr lang="en-US" altLang="zh-CN" sz="2400" dirty="0"/>
              <a:t> ) = {</a:t>
            </a:r>
            <a:r>
              <a:rPr lang="en-US" altLang="zh-CN" sz="2400" i="1" dirty="0" err="1"/>
              <a:t>e</a:t>
            </a:r>
            <a:r>
              <a:rPr lang="en-US" altLang="zh-CN" sz="2400" i="1" baseline="-25000" dirty="0" err="1"/>
              <a:t>H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| b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m</a:t>
            </a:r>
            <a:r>
              <a:rPr lang="en-US" altLang="zh-CN" sz="2400" dirty="0"/>
              <a:t>} is a subgroup of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n</a:t>
            </a:r>
            <a:r>
              <a:rPr lang="en-US" altLang="zh-CN" dirty="0"/>
              <a:t> 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Decoding and Error Correction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Consider 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 </a:t>
            </a:r>
            <a:r>
              <a:rPr lang="en-US" altLang="zh-CN" i="1" dirty="0" smtClean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. </a:t>
            </a:r>
            <a:r>
              <a:rPr lang="en-US" altLang="zh-CN" dirty="0" smtClean="0"/>
              <a:t>An </a:t>
            </a:r>
            <a:r>
              <a:rPr lang="en-US" altLang="zh-CN" dirty="0"/>
              <a:t>onto function </a:t>
            </a:r>
            <a:r>
              <a:rPr lang="en-US" altLang="zh-CN" i="1" dirty="0"/>
              <a:t>d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is called an (</a:t>
            </a:r>
            <a:r>
              <a:rPr lang="en-US" altLang="zh-CN" i="1" dirty="0"/>
              <a:t>n, m</a:t>
            </a:r>
            <a:r>
              <a:rPr lang="en-US" altLang="zh-CN" dirty="0"/>
              <a:t>) </a:t>
            </a:r>
            <a:r>
              <a:rPr lang="en-US" altLang="zh-CN" i="1" dirty="0">
                <a:solidFill>
                  <a:schemeClr val="hlink"/>
                </a:solidFill>
              </a:rPr>
              <a:t>decoding function associated with e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zh-CN" altLang="en-US" dirty="0">
                <a:solidFill>
                  <a:schemeClr val="hlink"/>
                </a:solidFill>
              </a:rPr>
              <a:t>与</a:t>
            </a:r>
            <a:r>
              <a:rPr lang="en-US" altLang="zh-CN" i="1" dirty="0">
                <a:solidFill>
                  <a:schemeClr val="hlink"/>
                </a:solidFill>
              </a:rPr>
              <a:t>e</a:t>
            </a:r>
            <a:r>
              <a:rPr lang="zh-CN" altLang="en-US" dirty="0">
                <a:solidFill>
                  <a:schemeClr val="hlink"/>
                </a:solidFill>
              </a:rPr>
              <a:t>关联的译码函数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 if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dirty="0"/>
              <a:t>'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is such that when the transmission channel has no noise, then </a:t>
            </a:r>
            <a:r>
              <a:rPr lang="en-US" altLang="zh-CN" i="1" dirty="0"/>
              <a:t>b</a:t>
            </a:r>
            <a:r>
              <a:rPr lang="en-US" altLang="zh-CN" dirty="0"/>
              <a:t>' = </a:t>
            </a:r>
            <a:r>
              <a:rPr lang="en-US" altLang="zh-CN" i="1" dirty="0"/>
              <a:t>b</a:t>
            </a:r>
            <a:r>
              <a:rPr lang="en-US" altLang="zh-CN" dirty="0"/>
              <a:t>, that </a:t>
            </a:r>
            <a:r>
              <a:rPr lang="en-US" altLang="zh-CN" dirty="0" smtClean="0"/>
              <a:t>is, </a:t>
            </a:r>
            <a:r>
              <a:rPr lang="en-US" altLang="zh-CN" i="1" dirty="0" smtClean="0"/>
              <a:t>d</a:t>
            </a:r>
            <a:r>
              <a:rPr lang="en-US" altLang="zh-CN" dirty="0" smtClean="0"/>
              <a:t> </a:t>
            </a:r>
            <a:r>
              <a:rPr lang="en-US" altLang="zh-CN" sz="1800" dirty="0">
                <a:latin typeface="MT-Extra" charset="0"/>
              </a:rPr>
              <a:t>o</a:t>
            </a:r>
            <a:r>
              <a:rPr lang="en-US" altLang="zh-CN" dirty="0"/>
              <a:t> </a:t>
            </a:r>
            <a:r>
              <a:rPr lang="en-US" altLang="zh-CN" i="1" dirty="0"/>
              <a:t>e</a:t>
            </a:r>
            <a:r>
              <a:rPr lang="en-US" altLang="zh-CN" dirty="0"/>
              <a:t> = </a:t>
            </a:r>
            <a:r>
              <a:rPr lang="en-US" altLang="zh-CN" dirty="0" smtClean="0"/>
              <a:t>1</a:t>
            </a:r>
            <a:r>
              <a:rPr lang="en-US" altLang="zh-CN" i="1" baseline="-25000" dirty="0" smtClean="0"/>
              <a:t>B</a:t>
            </a:r>
            <a:r>
              <a:rPr lang="en-US" altLang="zh-CN" i="1" baseline="-10000" dirty="0" smtClean="0"/>
              <a:t>m</a:t>
            </a:r>
            <a:endParaRPr lang="en-US" altLang="zh-CN" i="1" baseline="-10000" dirty="0" smtClean="0"/>
          </a:p>
          <a:p>
            <a:r>
              <a:rPr lang="en-US" altLang="zh-CN" dirty="0"/>
              <a:t>Let </a:t>
            </a:r>
            <a:r>
              <a:rPr lang="en-US" altLang="zh-CN" i="1" dirty="0"/>
              <a:t>e</a:t>
            </a:r>
            <a:r>
              <a:rPr lang="en-US" altLang="zh-CN" dirty="0"/>
              <a:t> be 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 and let </a:t>
            </a:r>
            <a:r>
              <a:rPr lang="en-US" altLang="zh-CN" i="1" dirty="0"/>
              <a:t>d</a:t>
            </a:r>
            <a:r>
              <a:rPr lang="en-US" altLang="zh-CN" dirty="0"/>
              <a:t> be an (</a:t>
            </a:r>
            <a:r>
              <a:rPr lang="en-US" altLang="zh-CN" i="1" dirty="0"/>
              <a:t>n, m</a:t>
            </a:r>
            <a:r>
              <a:rPr lang="en-US" altLang="zh-CN" dirty="0"/>
              <a:t>) decoding function associated with </a:t>
            </a:r>
            <a:r>
              <a:rPr lang="en-US" altLang="zh-CN" i="1" dirty="0"/>
              <a:t>e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pair (</a:t>
            </a:r>
            <a:r>
              <a:rPr lang="en-US" altLang="zh-CN" i="1" dirty="0"/>
              <a:t>e, d</a:t>
            </a:r>
            <a:r>
              <a:rPr lang="en-US" altLang="zh-CN" dirty="0"/>
              <a:t>) is said to </a:t>
            </a:r>
            <a:r>
              <a:rPr lang="en-US" altLang="zh-CN" i="1" dirty="0">
                <a:solidFill>
                  <a:schemeClr val="hlink"/>
                </a:solidFill>
              </a:rPr>
              <a:t>correct k or fewer errors</a:t>
            </a:r>
            <a:r>
              <a:rPr lang="en-US" altLang="zh-CN" dirty="0"/>
              <a:t> </a:t>
            </a:r>
            <a:r>
              <a:rPr lang="en-US" altLang="zh-CN" dirty="0" smtClean="0"/>
              <a:t> if </a:t>
            </a:r>
            <a:r>
              <a:rPr lang="en-US" altLang="zh-CN" dirty="0"/>
              <a:t>whenever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is transmitted correctly or with </a:t>
            </a:r>
            <a:r>
              <a:rPr lang="en-US" altLang="zh-CN" i="1" dirty="0"/>
              <a:t>k</a:t>
            </a:r>
            <a:r>
              <a:rPr lang="en-US" altLang="zh-CN" dirty="0"/>
              <a:t> or fewer errors and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is received, then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dirty="0"/>
              <a:t>. Thus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is decoded as the correct message </a:t>
            </a:r>
            <a:r>
              <a:rPr lang="en-US" altLang="zh-CN" i="1" dirty="0"/>
              <a:t>b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(</a:t>
            </a:r>
            <a:r>
              <a:rPr lang="en-US" altLang="zh-CN" i="1" dirty="0"/>
              <a:t>e, d</a:t>
            </a:r>
            <a:r>
              <a:rPr lang="en-US" altLang="zh-CN" dirty="0"/>
              <a:t>) can correct </a:t>
            </a:r>
            <a:r>
              <a:rPr lang="en-US" altLang="zh-CN" i="1" dirty="0"/>
              <a:t>k</a:t>
            </a:r>
            <a:r>
              <a:rPr lang="en-US" altLang="zh-CN" dirty="0"/>
              <a:t> or fewer errors </a:t>
            </a:r>
            <a:r>
              <a:rPr lang="en-US" altLang="zh-CN" dirty="0" smtClean="0"/>
              <a:t>if </a:t>
            </a:r>
            <a:r>
              <a:rPr lang="en-US" altLang="zh-CN" dirty="0"/>
              <a:t>and only if </a:t>
            </a:r>
            <a:r>
              <a:rPr lang="en-US" altLang="zh-CN" dirty="0" smtClean="0"/>
              <a:t> the </a:t>
            </a:r>
            <a:r>
              <a:rPr lang="en-US" altLang="zh-CN" dirty="0"/>
              <a:t>minimum distance of </a:t>
            </a:r>
            <a:r>
              <a:rPr lang="en-US" altLang="zh-CN" i="1" dirty="0"/>
              <a:t>e</a:t>
            </a:r>
            <a:r>
              <a:rPr lang="en-US" altLang="zh-CN" dirty="0"/>
              <a:t> is at least 2</a:t>
            </a:r>
            <a:r>
              <a:rPr lang="en-US" altLang="zh-CN" i="1" dirty="0"/>
              <a:t>k</a:t>
            </a:r>
            <a:r>
              <a:rPr lang="en-US" altLang="zh-CN" dirty="0"/>
              <a:t> + l.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i="1" baseline="-100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Maximum  likelihood technique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Since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has 2</a:t>
            </a:r>
            <a:r>
              <a:rPr lang="en-US" altLang="zh-CN" i="1" baseline="30000" dirty="0"/>
              <a:t>m</a:t>
            </a:r>
            <a:r>
              <a:rPr lang="en-US" altLang="zh-CN" dirty="0"/>
              <a:t> elements, there are 2</a:t>
            </a:r>
            <a:r>
              <a:rPr lang="en-US" altLang="zh-CN" i="1" baseline="30000" dirty="0"/>
              <a:t>m</a:t>
            </a:r>
            <a:r>
              <a:rPr lang="en-US" altLang="zh-CN" dirty="0"/>
              <a:t> code words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 List it as </a:t>
            </a:r>
            <a:endParaRPr lang="en-US" altLang="zh-CN" dirty="0"/>
          </a:p>
          <a:p>
            <a:pPr lvl="1"/>
            <a:r>
              <a:rPr lang="en-US" altLang="zh-CN" i="1" dirty="0"/>
              <a:t>x</a:t>
            </a:r>
            <a:r>
              <a:rPr lang="en-US" altLang="zh-CN" baseline="30000" dirty="0"/>
              <a:t>(1)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30000" dirty="0"/>
              <a:t>(2)</a:t>
            </a:r>
            <a:r>
              <a:rPr lang="en-US" altLang="zh-CN" dirty="0"/>
              <a:t>,..., </a:t>
            </a:r>
            <a:r>
              <a:rPr lang="en-US" altLang="zh-CN" i="1" dirty="0" smtClean="0"/>
              <a:t>x</a:t>
            </a:r>
            <a:r>
              <a:rPr lang="en-US" altLang="zh-CN" baseline="30000" dirty="0" smtClean="0"/>
              <a:t>(2</a:t>
            </a:r>
            <a:r>
              <a:rPr lang="en-US" altLang="zh-CN" i="1" baseline="60000" dirty="0" smtClean="0"/>
              <a:t>m</a:t>
            </a:r>
            <a:r>
              <a:rPr lang="en-US" altLang="zh-CN" baseline="30000" dirty="0" smtClean="0"/>
              <a:t>) </a:t>
            </a:r>
            <a:endParaRPr lang="en-US" altLang="zh-CN" baseline="30000" dirty="0" smtClean="0"/>
          </a:p>
          <a:p>
            <a:pPr lvl="1"/>
            <a:r>
              <a:rPr lang="en-US" altLang="zh-CN" dirty="0" smtClean="0"/>
              <a:t>If </a:t>
            </a:r>
            <a:r>
              <a:rPr lang="en-US" altLang="zh-CN" dirty="0"/>
              <a:t>the received word is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, we compute </a:t>
            </a:r>
            <a:r>
              <a:rPr lang="zh-CN" altLang="en-US" dirty="0">
                <a:sym typeface="Symbol" panose="05050102010706020507" pitchFamily="18" charset="2"/>
              </a:rPr>
              <a:t>(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sym typeface="Symbol" panose="05050102010706020507" pitchFamily="18" charset="2"/>
              </a:rPr>
              <a:t>(</a:t>
            </a:r>
            <a:r>
              <a:rPr lang="en-US" altLang="zh-CN" i="1" baseline="30000" dirty="0" err="1">
                <a:sym typeface="Symbol" panose="05050102010706020507" pitchFamily="18" charset="2"/>
              </a:rPr>
              <a:t>i</a:t>
            </a:r>
            <a:r>
              <a:rPr lang="en-US" altLang="zh-CN" baseline="30000" dirty="0"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i="1" baseline="-25000" dirty="0" err="1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) for 1 </a:t>
            </a:r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 err="1">
                <a:sym typeface="Euclid Math Two" panose="02050601010101010101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zh-CN" altLang="en-US" dirty="0">
                <a:sym typeface="Euclid Math Two" panose="02050601010101010101" pitchFamily="18" charset="2"/>
              </a:rPr>
              <a:t> </a:t>
            </a:r>
            <a:r>
              <a:rPr lang="en-US" altLang="zh-CN" dirty="0"/>
              <a:t>2</a:t>
            </a:r>
            <a:r>
              <a:rPr lang="en-US" altLang="zh-CN" i="1" baseline="30000" dirty="0"/>
              <a:t>m</a:t>
            </a:r>
            <a:r>
              <a:rPr lang="en-US" altLang="zh-CN" dirty="0"/>
              <a:t>, and choose the first code word, say it is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s</a:t>
            </a:r>
            <a:r>
              <a:rPr lang="en-US" altLang="zh-CN" baseline="30000" dirty="0"/>
              <a:t>)</a:t>
            </a:r>
            <a:r>
              <a:rPr lang="en-US" altLang="zh-CN" dirty="0"/>
              <a:t>, such that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That </a:t>
            </a:r>
            <a:r>
              <a:rPr lang="en-US" altLang="zh-CN" dirty="0"/>
              <a:t>is,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s</a:t>
            </a:r>
            <a:r>
              <a:rPr lang="en-US" altLang="zh-CN" baseline="30000" dirty="0"/>
              <a:t>)</a:t>
            </a:r>
            <a:r>
              <a:rPr lang="en-US" altLang="zh-CN" dirty="0"/>
              <a:t> is a code word that is closest to 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i="1" baseline="-25000" dirty="0" err="1">
                <a:sym typeface="Symbol" panose="05050102010706020507" pitchFamily="18" charset="2"/>
              </a:rPr>
              <a:t>t</a:t>
            </a:r>
            <a:r>
              <a:rPr lang="en-US" altLang="zh-CN" dirty="0"/>
              <a:t> and the first in the list. </a:t>
            </a:r>
            <a:endParaRPr lang="en-US" altLang="zh-CN" dirty="0"/>
          </a:p>
          <a:p>
            <a:r>
              <a:rPr lang="en-US" altLang="zh-CN" dirty="0"/>
              <a:t>If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s</a:t>
            </a:r>
            <a:r>
              <a:rPr lang="en-US" altLang="zh-CN" baseline="30000" dirty="0"/>
              <a:t>)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we define the </a:t>
            </a:r>
            <a:r>
              <a:rPr lang="en-US" altLang="zh-CN" i="1" dirty="0">
                <a:solidFill>
                  <a:schemeClr val="hlink"/>
                </a:solidFill>
              </a:rPr>
              <a:t>maximum likelihood decoding function</a:t>
            </a:r>
            <a:r>
              <a:rPr lang="en-US" altLang="zh-CN" dirty="0"/>
              <a:t> </a:t>
            </a:r>
            <a:r>
              <a:rPr lang="en-US" altLang="zh-CN" i="1" dirty="0"/>
              <a:t>d</a:t>
            </a:r>
            <a:r>
              <a:rPr lang="en-US" altLang="zh-CN" dirty="0"/>
              <a:t> associated with </a:t>
            </a:r>
            <a:r>
              <a:rPr lang="en-US" altLang="zh-CN" i="1" dirty="0"/>
              <a:t>e</a:t>
            </a:r>
            <a:r>
              <a:rPr lang="en-US" altLang="zh-CN" dirty="0"/>
              <a:t> </a:t>
            </a:r>
            <a:r>
              <a:rPr lang="en-US" altLang="zh-CN" dirty="0" smtClean="0"/>
              <a:t>by </a:t>
            </a:r>
            <a:r>
              <a:rPr lang="en-US" altLang="zh-CN" i="1" dirty="0" smtClean="0"/>
              <a:t>d</a:t>
            </a:r>
            <a:r>
              <a:rPr lang="en-US" altLang="zh-CN" dirty="0" smtClean="0"/>
              <a:t>(</a:t>
            </a:r>
            <a:r>
              <a:rPr lang="en-US" altLang="zh-CN" i="1" dirty="0" err="1" smtClean="0">
                <a:sym typeface="Symbol" panose="05050102010706020507" pitchFamily="18" charset="2"/>
              </a:rPr>
              <a:t>x</a:t>
            </a:r>
            <a:r>
              <a:rPr lang="en-US" altLang="zh-CN" i="1" baseline="-25000" dirty="0" err="1" smtClean="0">
                <a:sym typeface="Symbol" panose="05050102010706020507" pitchFamily="18" charset="2"/>
              </a:rPr>
              <a:t>t</a:t>
            </a:r>
            <a:r>
              <a:rPr lang="en-US" altLang="zh-CN" dirty="0"/>
              <a:t>) = </a:t>
            </a:r>
            <a:r>
              <a:rPr lang="en-US" altLang="zh-CN" i="1" dirty="0" smtClean="0"/>
              <a:t>b</a:t>
            </a:r>
            <a:endParaRPr lang="en-US" altLang="zh-CN" i="1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641765" y="3403601"/>
          <a:ext cx="34004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Bitmap Image" r:id="rId1" imgW="3400425" imgH="504825" progId="Paint.Picture">
                  <p:embed/>
                </p:oleObj>
              </mc:Choice>
              <mc:Fallback>
                <p:oleObj name="Bitmap Image" r:id="rId1" imgW="3400425" imgH="504825" progId="Paint.Picture">
                  <p:embed/>
                  <p:pic>
                    <p:nvPicPr>
                      <p:cNvPr id="0" name="图片 6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765" y="3403601"/>
                        <a:ext cx="34004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Coset</a:t>
            </a:r>
            <a:r>
              <a:rPr lang="en-US" altLang="zh-CN" dirty="0">
                <a:latin typeface="Times New Roman" panose="02020603050405020304" pitchFamily="18" charset="0"/>
              </a:rPr>
              <a:t> leader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Let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be 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 that is a group code. </a:t>
            </a:r>
            <a:r>
              <a:rPr lang="en-US" altLang="zh-CN" dirty="0" smtClean="0"/>
              <a:t>Thus </a:t>
            </a:r>
            <a:r>
              <a:rPr lang="en-US" altLang="zh-CN" dirty="0"/>
              <a:t>the set </a:t>
            </a:r>
            <a:r>
              <a:rPr lang="en-US" altLang="zh-CN" i="1" dirty="0"/>
              <a:t>N</a:t>
            </a:r>
            <a:r>
              <a:rPr lang="en-US" altLang="zh-CN" dirty="0"/>
              <a:t> of code words in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is a subgroup of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whose order is 2</a:t>
            </a:r>
            <a:r>
              <a:rPr lang="en-US" altLang="zh-CN" i="1" baseline="30000" dirty="0"/>
              <a:t>m</a:t>
            </a:r>
            <a:r>
              <a:rPr lang="en-US" altLang="zh-CN" dirty="0"/>
              <a:t>, say </a:t>
            </a:r>
            <a:r>
              <a:rPr lang="en-US" altLang="zh-CN" dirty="0" smtClean="0"/>
              <a:t> N </a:t>
            </a:r>
            <a:r>
              <a:rPr lang="en-US" altLang="zh-CN" dirty="0"/>
              <a:t>= {</a:t>
            </a:r>
            <a:r>
              <a:rPr lang="en-US" altLang="zh-CN" i="1" dirty="0"/>
              <a:t>x</a:t>
            </a:r>
            <a:r>
              <a:rPr lang="en-US" altLang="zh-CN" baseline="30000" dirty="0"/>
              <a:t>(1)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30000" dirty="0"/>
              <a:t>(2)</a:t>
            </a:r>
            <a:r>
              <a:rPr lang="en-US" altLang="zh-CN" dirty="0"/>
              <a:t>,..., </a:t>
            </a:r>
            <a:r>
              <a:rPr lang="en-US" altLang="zh-CN" i="1" dirty="0"/>
              <a:t>x</a:t>
            </a:r>
            <a:r>
              <a:rPr lang="en-US" altLang="zh-CN" baseline="30000" dirty="0"/>
              <a:t>(2</a:t>
            </a:r>
            <a:r>
              <a:rPr lang="en-US" altLang="zh-CN" i="1" baseline="60000" dirty="0"/>
              <a:t>m</a:t>
            </a:r>
            <a:r>
              <a:rPr lang="en-US" altLang="zh-CN" baseline="30000" dirty="0" smtClean="0"/>
              <a:t>)</a:t>
            </a:r>
            <a:r>
              <a:rPr lang="en-US" altLang="zh-CN" dirty="0" smtClean="0"/>
              <a:t>}.</a:t>
            </a:r>
            <a:endParaRPr lang="en-US" altLang="zh-CN" dirty="0" smtClean="0"/>
          </a:p>
          <a:p>
            <a:r>
              <a:rPr lang="en-US" altLang="zh-CN" dirty="0"/>
              <a:t>Suppose that the code word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is transmitted and that the word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is received.</a:t>
            </a:r>
            <a:endParaRPr lang="en-US" altLang="zh-CN" dirty="0"/>
          </a:p>
          <a:p>
            <a:r>
              <a:rPr lang="en-US" altLang="zh-CN" dirty="0"/>
              <a:t>The left </a:t>
            </a:r>
            <a:r>
              <a:rPr lang="en-US" altLang="zh-CN" dirty="0" err="1"/>
              <a:t>coset</a:t>
            </a:r>
            <a:r>
              <a:rPr lang="en-US" altLang="zh-CN" dirty="0"/>
              <a:t> of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is</a:t>
            </a:r>
            <a:endParaRPr lang="en-US" altLang="zh-CN" dirty="0"/>
          </a:p>
          <a:p>
            <a:pPr lvl="1"/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N = {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baseline="-25000" dirty="0"/>
              <a:t>2</a:t>
            </a:r>
            <a:r>
              <a:rPr lang="en-US" altLang="zh-CN" dirty="0"/>
              <a:t>,...,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baseline="-25000" dirty="0"/>
              <a:t>2</a:t>
            </a:r>
            <a:r>
              <a:rPr lang="en-US" altLang="zh-CN" i="1" baseline="-10000" dirty="0"/>
              <a:t>m</a:t>
            </a:r>
            <a:r>
              <a:rPr lang="en-US" altLang="zh-CN" dirty="0"/>
              <a:t>}      where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 =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 err="1"/>
              <a:t>i</a:t>
            </a:r>
            <a:r>
              <a:rPr lang="en-US" altLang="zh-CN" baseline="30000" dirty="0"/>
              <a:t>)</a:t>
            </a:r>
            <a:endParaRPr lang="en-US" altLang="zh-CN" dirty="0"/>
          </a:p>
          <a:p>
            <a:r>
              <a:rPr lang="en-US" altLang="zh-CN" dirty="0"/>
              <a:t>if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i="1" baseline="-25000" dirty="0"/>
              <a:t>j</a:t>
            </a:r>
            <a:r>
              <a:rPr lang="en-US" altLang="zh-CN" dirty="0"/>
              <a:t> is a </a:t>
            </a:r>
            <a:r>
              <a:rPr lang="en-US" altLang="zh-CN" dirty="0" err="1"/>
              <a:t>coset</a:t>
            </a:r>
            <a:r>
              <a:rPr lang="en-US" altLang="zh-CN" dirty="0"/>
              <a:t> member with smallest weight, then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j</a:t>
            </a:r>
            <a:r>
              <a:rPr lang="en-US" altLang="zh-CN" baseline="30000" dirty="0"/>
              <a:t>)</a:t>
            </a:r>
            <a:r>
              <a:rPr lang="en-US" altLang="zh-CN" dirty="0"/>
              <a:t> must be a code word that is closest to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i="1" dirty="0" err="1"/>
              <a:t>.</a:t>
            </a:r>
            <a:endParaRPr lang="en-US" altLang="zh-CN" i="1" dirty="0"/>
          </a:p>
          <a:p>
            <a:r>
              <a:rPr lang="en-US" altLang="zh-CN" dirty="0"/>
              <a:t>An element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i="1" baseline="-25000" dirty="0"/>
              <a:t>j</a:t>
            </a:r>
            <a:r>
              <a:rPr lang="en-US" altLang="zh-CN" dirty="0"/>
              <a:t> , having smallest weight, is called a </a:t>
            </a:r>
            <a:r>
              <a:rPr lang="en-US" altLang="zh-CN" i="1" dirty="0" err="1">
                <a:solidFill>
                  <a:schemeClr val="hlink"/>
                </a:solidFill>
              </a:rPr>
              <a:t>coset</a:t>
            </a:r>
            <a:r>
              <a:rPr lang="en-US" altLang="zh-CN" i="1" dirty="0">
                <a:solidFill>
                  <a:schemeClr val="hlink"/>
                </a:solidFill>
              </a:rPr>
              <a:t> leader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Constructing </a:t>
            </a:r>
            <a:r>
              <a:rPr lang="en-US" altLang="zh-CN" dirty="0">
                <a:solidFill>
                  <a:srgbClr val="009999"/>
                </a:solidFill>
              </a:rPr>
              <a:t>maximum likelihood decoding function associated with a given group </a:t>
            </a:r>
            <a:r>
              <a:rPr lang="en-US" altLang="zh-CN" dirty="0" smtClean="0">
                <a:solidFill>
                  <a:srgbClr val="009999"/>
                </a:solidFill>
              </a:rPr>
              <a:t>code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obtaining a maximum likelihood decoding function </a:t>
            </a:r>
            <a:r>
              <a:rPr lang="en-US" altLang="zh-CN" i="1" dirty="0"/>
              <a:t>d</a:t>
            </a:r>
            <a:r>
              <a:rPr lang="en-US" altLang="zh-CN" dirty="0"/>
              <a:t> associated with a given group code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en-US" altLang="zh-CN" b="1" i="1" dirty="0" smtClean="0"/>
              <a:t>Step </a:t>
            </a:r>
            <a:r>
              <a:rPr lang="en-US" altLang="zh-CN" b="1" i="1" dirty="0"/>
              <a:t>1</a:t>
            </a:r>
            <a:r>
              <a:rPr lang="en-US" altLang="zh-CN" dirty="0"/>
              <a:t>: Determine all the left </a:t>
            </a:r>
            <a:r>
              <a:rPr lang="en-US" altLang="zh-CN" dirty="0" err="1"/>
              <a:t>cosets</a:t>
            </a:r>
            <a:r>
              <a:rPr lang="en-US" altLang="zh-CN" dirty="0"/>
              <a:t> of </a:t>
            </a:r>
            <a:r>
              <a:rPr lang="en-US" altLang="zh-CN" i="1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) in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endParaRPr lang="en-US" altLang="zh-CN" i="1" baseline="30000" dirty="0"/>
          </a:p>
          <a:p>
            <a:pPr lvl="1"/>
            <a:r>
              <a:rPr lang="en-US" altLang="zh-CN" b="1" i="1" dirty="0"/>
              <a:t>Step 2</a:t>
            </a:r>
            <a:r>
              <a:rPr lang="en-US" altLang="zh-CN" dirty="0"/>
              <a:t>: For each </a:t>
            </a:r>
            <a:r>
              <a:rPr lang="en-US" altLang="zh-CN" dirty="0" err="1"/>
              <a:t>coset</a:t>
            </a:r>
            <a:r>
              <a:rPr lang="en-US" altLang="zh-CN" dirty="0"/>
              <a:t>, find a </a:t>
            </a:r>
            <a:r>
              <a:rPr lang="en-US" altLang="zh-CN" dirty="0" err="1"/>
              <a:t>coset</a:t>
            </a:r>
            <a:r>
              <a:rPr lang="en-US" altLang="zh-CN" dirty="0"/>
              <a:t> leader (a word of least weight). </a:t>
            </a:r>
            <a:endParaRPr lang="en-US" altLang="zh-CN" dirty="0"/>
          </a:p>
          <a:p>
            <a:pPr lvl="1"/>
            <a:r>
              <a:rPr lang="en-US" altLang="zh-CN" b="1" i="1" dirty="0"/>
              <a:t>Step 3</a:t>
            </a:r>
            <a:r>
              <a:rPr lang="en-US" altLang="zh-CN" dirty="0"/>
              <a:t>: If the word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is received, determine the </a:t>
            </a:r>
            <a:r>
              <a:rPr lang="en-US" altLang="zh-CN" dirty="0" err="1"/>
              <a:t>coset</a:t>
            </a:r>
            <a:r>
              <a:rPr lang="en-US" altLang="zh-CN" dirty="0"/>
              <a:t> of </a:t>
            </a:r>
            <a:r>
              <a:rPr lang="en-US" altLang="zh-CN" i="1" dirty="0"/>
              <a:t>N</a:t>
            </a:r>
            <a:r>
              <a:rPr lang="en-US" altLang="zh-CN" dirty="0"/>
              <a:t> to which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belongs.</a:t>
            </a:r>
            <a:endParaRPr lang="en-US" altLang="zh-CN" dirty="0"/>
          </a:p>
          <a:p>
            <a:pPr lvl="1"/>
            <a:r>
              <a:rPr lang="en-US" altLang="zh-CN" b="1" i="1" dirty="0"/>
              <a:t>Step 4</a:t>
            </a:r>
            <a:r>
              <a:rPr lang="en-US" altLang="zh-CN" dirty="0"/>
              <a:t>: Let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dirty="0"/>
              <a:t> be a </a:t>
            </a:r>
            <a:r>
              <a:rPr lang="en-US" altLang="zh-CN" dirty="0" err="1"/>
              <a:t>coset</a:t>
            </a:r>
            <a:r>
              <a:rPr lang="en-US" altLang="zh-CN" dirty="0"/>
              <a:t> leader for the </a:t>
            </a:r>
            <a:r>
              <a:rPr lang="en-US" altLang="zh-CN" dirty="0" err="1"/>
              <a:t>coset</a:t>
            </a:r>
            <a:r>
              <a:rPr lang="en-US" altLang="zh-CN" dirty="0"/>
              <a:t> determined in Step 3. Compute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>
                <a:sym typeface="Symbol" panose="05050102010706020507" pitchFamily="18" charset="2"/>
              </a:rPr>
              <a:t>. </a:t>
            </a:r>
            <a:r>
              <a:rPr lang="en-US" altLang="zh-CN" dirty="0"/>
              <a:t>If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let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  <a:endParaRPr lang="zh-CN" altLang="en-US" dirty="0"/>
          </a:p>
          <a:p>
            <a:r>
              <a:rPr lang="en-US" altLang="zh-CN" dirty="0"/>
              <a:t>Decoding table</a:t>
            </a:r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156364" y="4716261"/>
          <a:ext cx="6400799" cy="169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Bitmap Image" r:id="rId1" imgW="6534150" imgH="1733550" progId="Paint.Picture">
                  <p:embed/>
                </p:oleObj>
              </mc:Choice>
              <mc:Fallback>
                <p:oleObj name="Bitmap Image" r:id="rId1" imgW="6534150" imgH="1733550" progId="Paint.Picture">
                  <p:embed/>
                  <p:pic>
                    <p:nvPicPr>
                      <p:cNvPr id="0" name="图片 7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364" y="4716261"/>
                        <a:ext cx="6400799" cy="16985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Syndrome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7843982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Suppose that the (</a:t>
            </a:r>
            <a:r>
              <a:rPr lang="en-US" altLang="zh-CN" i="1" dirty="0"/>
              <a:t>m, n</a:t>
            </a:r>
            <a:r>
              <a:rPr lang="en-US" altLang="zh-CN" dirty="0"/>
              <a:t>)  group code is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, where </a:t>
            </a:r>
            <a:r>
              <a:rPr lang="en-US" altLang="zh-CN" b="1" dirty="0"/>
              <a:t>H</a:t>
            </a:r>
            <a:r>
              <a:rPr lang="en-US" altLang="zh-CN" dirty="0"/>
              <a:t> is a given parity check matrix. </a:t>
            </a:r>
            <a:endParaRPr lang="zh-CN" altLang="en-US" dirty="0"/>
          </a:p>
          <a:p>
            <a:r>
              <a:rPr lang="en-US" altLang="zh-CN" dirty="0"/>
              <a:t>Then the function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r>
              <a:rPr lang="en-US" altLang="zh-CN" dirty="0"/>
              <a:t> defined </a:t>
            </a:r>
            <a:r>
              <a:rPr lang="en-US" altLang="zh-CN" dirty="0" smtClean="0"/>
              <a:t>by </a:t>
            </a:r>
            <a:r>
              <a:rPr lang="en-US" altLang="zh-CN" i="1" dirty="0" err="1" smtClean="0"/>
              <a:t>f</a:t>
            </a:r>
            <a:r>
              <a:rPr lang="en-US" altLang="zh-CN" i="1" baseline="-25000" dirty="0" err="1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) =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*</a:t>
            </a:r>
            <a:r>
              <a:rPr lang="en-US" altLang="zh-CN" b="1" dirty="0" smtClean="0"/>
              <a:t>H</a:t>
            </a:r>
            <a:r>
              <a:rPr lang="en-US" altLang="zh-CN" dirty="0" smtClean="0"/>
              <a:t>, 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 </a:t>
            </a:r>
            <a:r>
              <a:rPr lang="zh-CN" altLang="en-US" dirty="0" smtClean="0">
                <a:sym typeface="Symbol" panose="05050102010706020507" pitchFamily="18" charset="2"/>
              </a:rPr>
              <a:t></a:t>
            </a:r>
            <a:r>
              <a:rPr lang="en-US" altLang="zh-CN" dirty="0" smtClean="0"/>
              <a:t> </a:t>
            </a:r>
            <a:r>
              <a:rPr lang="en-US" altLang="zh-CN" i="1" dirty="0" err="1" smtClean="0"/>
              <a:t>B</a:t>
            </a:r>
            <a:r>
              <a:rPr lang="en-US" altLang="zh-CN" i="1" baseline="30000" dirty="0" err="1" smtClean="0"/>
              <a:t>n</a:t>
            </a:r>
            <a:r>
              <a:rPr lang="en-US" altLang="zh-CN" i="1" baseline="30000" dirty="0" smtClean="0"/>
              <a:t> </a:t>
            </a:r>
            <a:r>
              <a:rPr lang="en-US" altLang="zh-CN" dirty="0" smtClean="0"/>
              <a:t>is </a:t>
            </a:r>
            <a:r>
              <a:rPr lang="en-US" altLang="zh-CN" dirty="0"/>
              <a:t>a homomorphism from the group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to the group 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r>
              <a:rPr lang="en-US" altLang="zh-CN" dirty="0"/>
              <a:t> and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/</a:t>
            </a:r>
            <a:r>
              <a:rPr lang="en-US" altLang="zh-CN" i="1" dirty="0"/>
              <a:t>N</a:t>
            </a:r>
            <a:r>
              <a:rPr lang="en-US" altLang="zh-CN" dirty="0"/>
              <a:t> are isomorphic, where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 </a:t>
            </a:r>
            <a:r>
              <a:rPr lang="en-US" altLang="zh-CN" dirty="0"/>
              <a:t>= {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| </a:t>
            </a:r>
            <a:r>
              <a:rPr lang="en-US" altLang="zh-CN" i="1" dirty="0"/>
              <a:t>x</a:t>
            </a:r>
            <a:r>
              <a:rPr lang="en-US" altLang="zh-CN" dirty="0"/>
              <a:t>*</a:t>
            </a:r>
            <a:r>
              <a:rPr lang="en-US" altLang="zh-CN" b="1" dirty="0"/>
              <a:t>H</a:t>
            </a:r>
            <a:r>
              <a:rPr lang="en-US" altLang="zh-CN" dirty="0"/>
              <a:t> = </a:t>
            </a:r>
            <a:r>
              <a:rPr lang="en-US" altLang="zh-CN" b="1" dirty="0"/>
              <a:t>0</a:t>
            </a:r>
            <a:r>
              <a:rPr lang="en-US" altLang="zh-CN" dirty="0"/>
              <a:t>} = </a:t>
            </a:r>
            <a:r>
              <a:rPr lang="en-US" altLang="zh-CN" dirty="0" err="1"/>
              <a:t>ker</a:t>
            </a:r>
            <a:r>
              <a:rPr lang="en-US" altLang="zh-CN" dirty="0"/>
              <a:t>(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) =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(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) </a:t>
            </a:r>
            <a:r>
              <a:rPr lang="en-US" altLang="zh-CN" dirty="0" smtClean="0"/>
              <a:t>under </a:t>
            </a:r>
            <a:r>
              <a:rPr lang="en-US" altLang="zh-CN" dirty="0"/>
              <a:t>the isomorphism g: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/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r>
              <a:rPr lang="en-US" altLang="zh-CN" dirty="0"/>
              <a:t> defined </a:t>
            </a:r>
            <a:r>
              <a:rPr lang="en-US" altLang="zh-CN" dirty="0" smtClean="0"/>
              <a:t>by </a:t>
            </a:r>
            <a:r>
              <a:rPr lang="en-US" altLang="zh-CN" i="1" dirty="0" smtClean="0"/>
              <a:t>g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xN</a:t>
            </a:r>
            <a:r>
              <a:rPr lang="en-US" altLang="zh-CN" dirty="0"/>
              <a:t>) =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= </a:t>
            </a:r>
            <a:r>
              <a:rPr lang="en-US" altLang="zh-CN" i="1" dirty="0"/>
              <a:t>x</a:t>
            </a:r>
            <a:r>
              <a:rPr lang="en-US" altLang="zh-CN" dirty="0"/>
              <a:t>*</a:t>
            </a:r>
            <a:r>
              <a:rPr lang="en-US" altLang="zh-CN" b="1" dirty="0"/>
              <a:t>H</a:t>
            </a:r>
            <a:endParaRPr lang="en-US" altLang="zh-CN" b="1" dirty="0"/>
          </a:p>
          <a:p>
            <a:r>
              <a:rPr lang="en-US" altLang="zh-CN" dirty="0"/>
              <a:t>The element </a:t>
            </a:r>
            <a:r>
              <a:rPr lang="en-US" altLang="zh-CN" i="1" dirty="0"/>
              <a:t>x</a:t>
            </a:r>
            <a:r>
              <a:rPr lang="en-US" altLang="zh-CN" dirty="0"/>
              <a:t>*</a:t>
            </a:r>
            <a:r>
              <a:rPr lang="en-US" altLang="zh-CN" b="1" dirty="0"/>
              <a:t>H</a:t>
            </a:r>
            <a:r>
              <a:rPr lang="en-US" altLang="zh-CN" dirty="0"/>
              <a:t> is called the </a:t>
            </a:r>
            <a:r>
              <a:rPr lang="en-US" altLang="zh-CN" i="1" dirty="0">
                <a:solidFill>
                  <a:schemeClr val="hlink"/>
                </a:solidFill>
              </a:rPr>
              <a:t>syndrome</a:t>
            </a:r>
            <a:r>
              <a:rPr lang="en-US" altLang="zh-CN" dirty="0"/>
              <a:t> of </a:t>
            </a:r>
            <a:r>
              <a:rPr lang="en-US" altLang="zh-CN" i="1" dirty="0"/>
              <a:t>x</a:t>
            </a:r>
            <a:endParaRPr lang="zh-CN" altLang="en-US" i="1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765309" y="1825625"/>
          <a:ext cx="2701636" cy="227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1" imgW="2171700" imgH="1828800" progId="Equation.DSMT4">
                  <p:embed/>
                </p:oleObj>
              </mc:Choice>
              <mc:Fallback>
                <p:oleObj name="Equation" r:id="rId1" imgW="2171700" imgH="1828800" progId="Equation.DSMT4">
                  <p:embed/>
                  <p:pic>
                    <p:nvPicPr>
                      <p:cNvPr id="0" name="图片 8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5309" y="1825625"/>
                        <a:ext cx="2701636" cy="227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2927" y="355888"/>
            <a:ext cx="10836563" cy="1325563"/>
          </a:xfrm>
        </p:spPr>
        <p:txBody>
          <a:bodyPr>
            <a:normAutofit/>
          </a:bodyPr>
          <a:lstStyle/>
          <a:p>
            <a:r>
              <a:rPr lang="en-US" altLang="zh-CN" sz="4000" i="1" dirty="0"/>
              <a:t>Syndrome and decoding procedure for group </a:t>
            </a:r>
            <a:r>
              <a:rPr lang="en-US" altLang="zh-CN" sz="4000" i="1" dirty="0" smtClean="0"/>
              <a:t>code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10679545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be elements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. </a:t>
            </a:r>
            <a:r>
              <a:rPr lang="en-US" altLang="zh-CN" dirty="0" smtClean="0"/>
              <a:t>Then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 </a:t>
            </a:r>
            <a:r>
              <a:rPr lang="en-US" altLang="zh-CN" dirty="0"/>
              <a:t>and </a:t>
            </a:r>
            <a:r>
              <a:rPr lang="en-US" altLang="zh-CN" i="1" dirty="0"/>
              <a:t>y</a:t>
            </a:r>
            <a:r>
              <a:rPr lang="en-US" altLang="zh-CN" dirty="0"/>
              <a:t> lie in the same left </a:t>
            </a:r>
            <a:r>
              <a:rPr lang="en-US" altLang="zh-CN" dirty="0" err="1"/>
              <a:t>coset</a:t>
            </a:r>
            <a:r>
              <a:rPr lang="en-US" altLang="zh-CN" dirty="0"/>
              <a:t> of </a:t>
            </a:r>
            <a:r>
              <a:rPr lang="en-US" altLang="zh-CN" i="1" dirty="0"/>
              <a:t>N</a:t>
            </a:r>
            <a:r>
              <a:rPr lang="en-US" altLang="zh-CN" dirty="0"/>
              <a:t> in </a:t>
            </a:r>
            <a:r>
              <a:rPr lang="en-US" altLang="zh-CN" i="1" dirty="0" err="1" smtClean="0"/>
              <a:t>B</a:t>
            </a:r>
            <a:r>
              <a:rPr lang="en-US" altLang="zh-CN" i="1" baseline="30000" dirty="0" err="1" smtClean="0"/>
              <a:t>n</a:t>
            </a:r>
            <a:endParaRPr lang="en-US" altLang="zh-CN" i="1" baseline="30000" dirty="0" smtClean="0"/>
          </a:p>
          <a:p>
            <a:pPr lvl="1"/>
            <a:r>
              <a:rPr lang="en-US" altLang="zh-CN" dirty="0" smtClean="0"/>
              <a:t>  if </a:t>
            </a:r>
            <a:r>
              <a:rPr lang="en-US" altLang="zh-CN" dirty="0"/>
              <a:t>and only </a:t>
            </a:r>
            <a:r>
              <a:rPr lang="en-US" altLang="zh-CN" dirty="0" smtClean="0"/>
              <a:t>if </a:t>
            </a:r>
            <a:r>
              <a:rPr lang="en-US" altLang="zh-CN" i="1" dirty="0" err="1" smtClean="0"/>
              <a:t>f</a:t>
            </a:r>
            <a:r>
              <a:rPr lang="en-US" altLang="zh-CN" i="1" baseline="-25000" dirty="0" err="1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x</a:t>
            </a:r>
            <a:r>
              <a:rPr lang="en-US" altLang="zh-CN" dirty="0"/>
              <a:t>) =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if </a:t>
            </a:r>
            <a:r>
              <a:rPr lang="en-US" altLang="zh-CN" dirty="0"/>
              <a:t>and only if </a:t>
            </a:r>
            <a:r>
              <a:rPr lang="en-US" altLang="zh-CN" dirty="0" smtClean="0"/>
              <a:t>they </a:t>
            </a:r>
            <a:r>
              <a:rPr lang="en-US" altLang="zh-CN" dirty="0"/>
              <a:t>have the same syndrome.</a:t>
            </a:r>
            <a:endParaRPr lang="zh-CN" altLang="en-US" dirty="0"/>
          </a:p>
          <a:p>
            <a:r>
              <a:rPr lang="en-US" altLang="zh-CN" dirty="0"/>
              <a:t>Decoding </a:t>
            </a:r>
            <a:r>
              <a:rPr lang="en-US" altLang="zh-CN" dirty="0" smtClean="0"/>
              <a:t>procedure</a:t>
            </a:r>
            <a:endParaRPr lang="en-US" altLang="zh-CN" dirty="0" smtClean="0"/>
          </a:p>
          <a:p>
            <a:pPr lvl="1"/>
            <a:r>
              <a:rPr lang="en-US" altLang="zh-CN" b="1" i="1" dirty="0" smtClean="0"/>
              <a:t>Step </a:t>
            </a:r>
            <a:r>
              <a:rPr lang="en-US" altLang="zh-CN" b="1" i="1" dirty="0"/>
              <a:t>1</a:t>
            </a:r>
            <a:r>
              <a:rPr lang="en-US" altLang="zh-CN" dirty="0"/>
              <a:t>: Determine all left </a:t>
            </a:r>
            <a:r>
              <a:rPr lang="en-US" altLang="zh-CN" dirty="0" err="1"/>
              <a:t>cosets</a:t>
            </a:r>
            <a:r>
              <a:rPr lang="en-US" altLang="zh-CN" dirty="0"/>
              <a:t> of </a:t>
            </a:r>
            <a:r>
              <a:rPr lang="en-US" altLang="zh-CN" i="1" dirty="0"/>
              <a:t>N</a:t>
            </a:r>
            <a:r>
              <a:rPr lang="en-US" altLang="zh-CN" dirty="0"/>
              <a:t> =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(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)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b="1" i="1" dirty="0"/>
              <a:t>Step 2</a:t>
            </a:r>
            <a:r>
              <a:rPr lang="en-US" altLang="zh-CN" dirty="0"/>
              <a:t>: For each </a:t>
            </a:r>
            <a:r>
              <a:rPr lang="en-US" altLang="zh-CN" dirty="0" err="1"/>
              <a:t>coset</a:t>
            </a:r>
            <a:r>
              <a:rPr lang="en-US" altLang="zh-CN" dirty="0"/>
              <a:t>, find a </a:t>
            </a:r>
            <a:r>
              <a:rPr lang="en-US" altLang="zh-CN" dirty="0" err="1"/>
              <a:t>coset</a:t>
            </a:r>
            <a:r>
              <a:rPr lang="en-US" altLang="zh-CN" dirty="0"/>
              <a:t> leader, and compute the syndrome of each leader</a:t>
            </a:r>
            <a:endParaRPr lang="en-US" altLang="zh-CN" dirty="0"/>
          </a:p>
          <a:p>
            <a:pPr lvl="1"/>
            <a:r>
              <a:rPr lang="en-US" altLang="zh-CN" b="1" i="1" dirty="0"/>
              <a:t>Step 3</a:t>
            </a:r>
            <a:r>
              <a:rPr lang="en-US" altLang="zh-CN" dirty="0"/>
              <a:t>: If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is received, compute the syndrome of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and find the </a:t>
            </a:r>
            <a:r>
              <a:rPr lang="en-US" altLang="zh-CN" dirty="0" err="1"/>
              <a:t>coset</a:t>
            </a:r>
            <a:r>
              <a:rPr lang="en-US" altLang="zh-CN" dirty="0"/>
              <a:t> leader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dirty="0"/>
              <a:t> having the same syndrome. Then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dirty="0"/>
              <a:t>  = </a:t>
            </a:r>
            <a:r>
              <a:rPr lang="en-US" altLang="zh-CN" i="1" dirty="0"/>
              <a:t>x</a:t>
            </a:r>
            <a:r>
              <a:rPr lang="en-US" altLang="zh-CN" dirty="0"/>
              <a:t> is a code word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and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93b8c0ac-132c-4678-96c7-7db16a624f33"/>
  <p:tag name="COMMONDATA" val="eyJoZGlkIjoiYjZhMmY1NGQwZjE0MWY4MTkzZjM4YzBiNDA1ZmM3ZD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15855</Words>
  <Application>WPS 演示</Application>
  <PresentationFormat>宽屏</PresentationFormat>
  <Paragraphs>430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32</vt:i4>
      </vt:variant>
    </vt:vector>
  </HeadingPairs>
  <TitlesOfParts>
    <vt:vector size="67" baseType="lpstr">
      <vt:lpstr>Arial</vt:lpstr>
      <vt:lpstr>宋体</vt:lpstr>
      <vt:lpstr>Wingdings</vt:lpstr>
      <vt:lpstr>Times New Roman</vt:lpstr>
      <vt:lpstr>Arial Narrow</vt:lpstr>
      <vt:lpstr>Symbol</vt:lpstr>
      <vt:lpstr>Euclid</vt:lpstr>
      <vt:lpstr>Euclid Extra</vt:lpstr>
      <vt:lpstr>Euclid Math One</vt:lpstr>
      <vt:lpstr>Calibri Light</vt:lpstr>
      <vt:lpstr>Calibri</vt:lpstr>
      <vt:lpstr>微软雅黑</vt:lpstr>
      <vt:lpstr>Arial Unicode MS</vt:lpstr>
      <vt:lpstr>MT Symbol</vt:lpstr>
      <vt:lpstr>Symbol</vt:lpstr>
      <vt:lpstr>楷体_GB2312</vt:lpstr>
      <vt:lpstr>新宋体</vt:lpstr>
      <vt:lpstr>MT-Extra</vt:lpstr>
      <vt:lpstr>Segoe Print</vt:lpstr>
      <vt:lpstr>Euclid Math Two</vt:lpstr>
      <vt:lpstr>Office 主题</vt:lpstr>
      <vt:lpstr>Equation.DSMT4</vt:lpstr>
      <vt:lpstr>Equation.DSMT4</vt:lpstr>
      <vt:lpstr>Equation.DSMT4</vt:lpstr>
      <vt:lpstr>Paint.Picture</vt:lpstr>
      <vt:lpstr>Paint.Picture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9 Relations</vt:lpstr>
      <vt:lpstr>9.1 Relations and Their Properties</vt:lpstr>
      <vt:lpstr>9.1 Relations and Their Properties</vt:lpstr>
      <vt:lpstr>9.3 Representing Relations  </vt:lpstr>
      <vt:lpstr>9.4 Closures of Relations</vt:lpstr>
      <vt:lpstr>9.4 Closures of Relations</vt:lpstr>
      <vt:lpstr>9.5 Equivalence Relations</vt:lpstr>
      <vt:lpstr>9.6  Partial Orderings</vt:lpstr>
      <vt:lpstr>9.6  Partial Orderings</vt:lpstr>
      <vt:lpstr>Mathematical structure</vt:lpstr>
      <vt:lpstr>Semigroup</vt:lpstr>
      <vt:lpstr>Products and Quotients of Semigroups</vt:lpstr>
      <vt:lpstr>Products and Quotients of Semigroups</vt:lpstr>
      <vt:lpstr>Groups</vt:lpstr>
      <vt:lpstr>Groups</vt:lpstr>
      <vt:lpstr>PowerPoint 演示文稿</vt:lpstr>
      <vt:lpstr>Products and Quotients of Groups</vt:lpstr>
      <vt:lpstr>Products and Quotients of Groups</vt:lpstr>
      <vt:lpstr>PowerPoint 演示文稿</vt:lpstr>
      <vt:lpstr>PowerPoint 演示文稿</vt:lpstr>
      <vt:lpstr>PowerPoint 演示文稿</vt:lpstr>
      <vt:lpstr>Groups and Coding</vt:lpstr>
      <vt:lpstr>Groups and Coding</vt:lpstr>
      <vt:lpstr>PowerPoint 演示文稿</vt:lpstr>
      <vt:lpstr>Constructing group code </vt:lpstr>
      <vt:lpstr>Constructing group code </vt:lpstr>
      <vt:lpstr>Decoding and Error Correction </vt:lpstr>
      <vt:lpstr>Maximum  likelihood technique</vt:lpstr>
      <vt:lpstr>Coset leader</vt:lpstr>
      <vt:lpstr>Constructing maximum likelihood decoding function associated with a given group code</vt:lpstr>
      <vt:lpstr>Syndrome</vt:lpstr>
      <vt:lpstr>Syndrome and decoding procedure for group 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ideas for review</dc:title>
  <dc:creator>yj</dc:creator>
  <cp:lastModifiedBy>杨娟</cp:lastModifiedBy>
  <cp:revision>69</cp:revision>
  <dcterms:created xsi:type="dcterms:W3CDTF">2019-10-15T03:12:00Z</dcterms:created>
  <dcterms:modified xsi:type="dcterms:W3CDTF">2023-10-24T09:39:37Z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2052-11.1.0.15319</vt:lpwstr>
  </property>
  <property fmtid="{D5CDD505-2E9C-101B-9397-08002B2CF9AE}" pid="3" name="ICV">
    <vt:lpwstr>96F615B0EBF44E27B55FC79544DC639C</vt:lpwstr>
  </property>
</Properties>
</file>