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</p:sldMasterIdLst>
  <p:notesMasterIdLst>
    <p:notesMasterId r:id="rId21"/>
  </p:notesMasterIdLst>
  <p:handoutMasterIdLst>
    <p:handoutMasterId r:id="rId22"/>
  </p:handoutMasterIdLst>
  <p:sldIdLst>
    <p:sldId id="309" r:id="rId9"/>
    <p:sldId id="310" r:id="rId10"/>
    <p:sldId id="308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</p:sldIdLst>
  <p:sldSz cx="9144000" cy="6858000" type="screen4x3"/>
  <p:notesSz cx="6669088" cy="9753600"/>
  <p:custDataLst>
    <p:tags r:id="rId23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E202"/>
    <a:srgbClr val="03E118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81"/>
    <p:restoredTop sz="94655"/>
  </p:normalViewPr>
  <p:slideViewPr>
    <p:cSldViewPr showGuides="1">
      <p:cViewPr varScale="1">
        <p:scale>
          <a:sx n="93" d="100"/>
          <a:sy n="93" d="100"/>
        </p:scale>
        <p:origin x="204" y="56"/>
      </p:cViewPr>
      <p:guideLst>
        <p:guide orient="horz" pos="1440"/>
        <p:guide pos="4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gs" Target="tags/tag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350DDB-F164-479D-B852-EEE8A75311D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96938" y="731838"/>
            <a:ext cx="4876800" cy="365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632325"/>
            <a:ext cx="4891088" cy="438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A91331-F1C5-4502-85E6-17290B27F89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19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9220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223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Yang Juan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jyang@tseg.org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College of Computer Science &amp; Technology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3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31" name="Group 20"/>
          <p:cNvGrpSpPr/>
          <p:nvPr userDrawn="1"/>
        </p:nvGrpSpPr>
        <p:grpSpPr>
          <a:xfrm>
            <a:off x="171450" y="2349500"/>
            <a:ext cx="8864600" cy="1079500"/>
            <a:chOff x="68" y="1480"/>
            <a:chExt cx="5584" cy="680"/>
          </a:xfrm>
        </p:grpSpPr>
        <p:grpSp>
          <p:nvGrpSpPr>
            <p:cNvPr id="9232" name="Group 21"/>
            <p:cNvGrpSpPr/>
            <p:nvPr userDrawn="1"/>
          </p:nvGrpSpPr>
          <p:grpSpPr>
            <a:xfrm>
              <a:off x="567" y="1497"/>
              <a:ext cx="5085" cy="663"/>
              <a:chOff x="675" y="1678"/>
              <a:chExt cx="5085" cy="663"/>
            </a:xfrm>
          </p:grpSpPr>
          <p:sp>
            <p:nvSpPr>
              <p:cNvPr id="31" name="Rectangle 22"/>
              <p:cNvSpPr>
                <a:spLocks noChangeArrowheads="1"/>
              </p:cNvSpPr>
              <p:nvPr/>
            </p:nvSpPr>
            <p:spPr bwMode="auto">
              <a:xfrm>
                <a:off x="819" y="1678"/>
                <a:ext cx="20" cy="663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FFFF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3"/>
              <p:cNvSpPr>
                <a:spLocks noChangeArrowheads="1"/>
              </p:cNvSpPr>
              <p:nvPr/>
            </p:nvSpPr>
            <p:spPr bwMode="auto">
              <a:xfrm>
                <a:off x="675" y="2146"/>
                <a:ext cx="5085" cy="59"/>
              </a:xfrm>
              <a:prstGeom prst="rect">
                <a:avLst/>
              </a:prstGeom>
              <a:gradFill rotWithShape="1">
                <a:gsLst>
                  <a:gs pos="0">
                    <a:srgbClr val="03E118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9235" name="Picture 24"/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" y="1480"/>
              <a:ext cx="657" cy="65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4859338" y="115888"/>
            <a:ext cx="409575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Discrete Mathematical Structures</a:t>
            </a:r>
          </a:p>
        </p:txBody>
      </p:sp>
      <p:sp>
        <p:nvSpPr>
          <p:cNvPr id="34" name="Text Box 26"/>
          <p:cNvSpPr txBox="1">
            <a:spLocks noChangeArrowheads="1"/>
          </p:cNvSpPr>
          <p:nvPr/>
        </p:nvSpPr>
        <p:spPr bwMode="auto">
          <a:xfrm>
            <a:off x="3851275" y="5513388"/>
            <a:ext cx="4681538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Xu Liutong, Yang Juan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xliutong, yangj@tseg.9966.org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College of Computer Science &amp; Technology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0605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50606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35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fall 2001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18A90-6D6C-4E67-9CC7-854FCD4E224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3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0244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30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247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8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2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Yang Juan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jyang@tseg.org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College of Computer Science &amp; Technology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54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55" name="Group 20"/>
          <p:cNvGrpSpPr/>
          <p:nvPr userDrawn="1"/>
        </p:nvGrpSpPr>
        <p:grpSpPr>
          <a:xfrm>
            <a:off x="171450" y="2349500"/>
            <a:ext cx="8864600" cy="1079500"/>
            <a:chOff x="68" y="1480"/>
            <a:chExt cx="5584" cy="680"/>
          </a:xfrm>
        </p:grpSpPr>
        <p:grpSp>
          <p:nvGrpSpPr>
            <p:cNvPr id="10256" name="Group 21"/>
            <p:cNvGrpSpPr/>
            <p:nvPr userDrawn="1"/>
          </p:nvGrpSpPr>
          <p:grpSpPr>
            <a:xfrm>
              <a:off x="567" y="1497"/>
              <a:ext cx="5085" cy="663"/>
              <a:chOff x="675" y="1678"/>
              <a:chExt cx="5085" cy="663"/>
            </a:xfrm>
          </p:grpSpPr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819" y="1678"/>
                <a:ext cx="20" cy="663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FFFF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Rectangle 23"/>
              <p:cNvSpPr>
                <a:spLocks noChangeArrowheads="1"/>
              </p:cNvSpPr>
              <p:nvPr/>
            </p:nvSpPr>
            <p:spPr bwMode="auto">
              <a:xfrm>
                <a:off x="675" y="2146"/>
                <a:ext cx="5085" cy="59"/>
              </a:xfrm>
              <a:prstGeom prst="rect">
                <a:avLst/>
              </a:prstGeom>
              <a:gradFill rotWithShape="1">
                <a:gsLst>
                  <a:gs pos="0">
                    <a:srgbClr val="03E118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10259" name="Picture 24"/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" y="1480"/>
              <a:ext cx="657" cy="65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4859338" y="115888"/>
            <a:ext cx="409575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Discrete Mathematical Structures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4067175" y="5013325"/>
            <a:ext cx="4681538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Yang Juan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jyang@tseg.org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College of Computer Science &amp; Technology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5725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55726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1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fall 2001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9F5CB-9D9F-419B-8168-7D245FCD4C5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67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1268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30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271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8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2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Yang Juan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jyang@tseg.org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College of Computer Science &amp; Technology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278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79" name="Group 20"/>
          <p:cNvGrpSpPr/>
          <p:nvPr userDrawn="1"/>
        </p:nvGrpSpPr>
        <p:grpSpPr>
          <a:xfrm>
            <a:off x="171450" y="2349500"/>
            <a:ext cx="8864600" cy="1079500"/>
            <a:chOff x="68" y="1480"/>
            <a:chExt cx="5584" cy="680"/>
          </a:xfrm>
        </p:grpSpPr>
        <p:grpSp>
          <p:nvGrpSpPr>
            <p:cNvPr id="11280" name="Group 21"/>
            <p:cNvGrpSpPr/>
            <p:nvPr userDrawn="1"/>
          </p:nvGrpSpPr>
          <p:grpSpPr>
            <a:xfrm>
              <a:off x="567" y="1497"/>
              <a:ext cx="5085" cy="663"/>
              <a:chOff x="675" y="1678"/>
              <a:chExt cx="5085" cy="663"/>
            </a:xfrm>
          </p:grpSpPr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819" y="1678"/>
                <a:ext cx="20" cy="663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FFFF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Rectangle 23"/>
              <p:cNvSpPr>
                <a:spLocks noChangeArrowheads="1"/>
              </p:cNvSpPr>
              <p:nvPr/>
            </p:nvSpPr>
            <p:spPr bwMode="auto">
              <a:xfrm>
                <a:off x="675" y="2146"/>
                <a:ext cx="5085" cy="59"/>
              </a:xfrm>
              <a:prstGeom prst="rect">
                <a:avLst/>
              </a:prstGeom>
              <a:gradFill rotWithShape="1">
                <a:gsLst>
                  <a:gs pos="0">
                    <a:srgbClr val="03E118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11283" name="Picture 24"/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" y="1480"/>
              <a:ext cx="657" cy="65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4859338" y="115888"/>
            <a:ext cx="409575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Discrete Mathematical Structures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4067175" y="5013325"/>
            <a:ext cx="4681538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Yang Juan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jyang@tseg.org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College of Computer Science &amp; Technology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13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68014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1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fall 2001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66CB34-9163-4A94-B4F0-3E31B0E61515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291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2292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2295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4859338" y="115888"/>
            <a:ext cx="409575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Discrete Mathematical Structures</a:t>
            </a: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4022725" y="5013325"/>
            <a:ext cx="4725988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Yang Juan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College of Computer Science &amp; Technology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2349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82350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fall 2001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tta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95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637F95-379F-414C-98AC-B2068877C7E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6" name="Rectangle 12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49581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E5299-06A8-48F2-9178-10DA6424E08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9582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526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26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26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EAE688-9390-4F41-B23F-D546878B083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tta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469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9EF9F0-1FFF-4641-A92E-EF1381086DE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3" name="Rectangle 1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84" name="Rectangle 12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54701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C1DD-E457-4B87-965F-A26765834558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4702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87" name="Picture 15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88" name="Group 16"/>
          <p:cNvGrpSpPr/>
          <p:nvPr userDrawn="1"/>
        </p:nvGrpSpPr>
        <p:grpSpPr>
          <a:xfrm>
            <a:off x="171450" y="1054100"/>
            <a:ext cx="8864600" cy="1079500"/>
            <a:chOff x="68" y="1480"/>
            <a:chExt cx="5584" cy="680"/>
          </a:xfrm>
        </p:grpSpPr>
        <p:grpSp>
          <p:nvGrpSpPr>
            <p:cNvPr id="3089" name="Group 17"/>
            <p:cNvGrpSpPr/>
            <p:nvPr userDrawn="1"/>
          </p:nvGrpSpPr>
          <p:grpSpPr>
            <a:xfrm>
              <a:off x="567" y="1497"/>
              <a:ext cx="5085" cy="663"/>
              <a:chOff x="675" y="1678"/>
              <a:chExt cx="5085" cy="663"/>
            </a:xfrm>
          </p:grpSpPr>
          <p:sp>
            <p:nvSpPr>
              <p:cNvPr id="3091" name="Rectangle 18"/>
              <p:cNvSpPr>
                <a:spLocks noChangeArrowheads="1"/>
              </p:cNvSpPr>
              <p:nvPr/>
            </p:nvSpPr>
            <p:spPr bwMode="auto">
              <a:xfrm>
                <a:off x="819" y="1678"/>
                <a:ext cx="20" cy="663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FFFF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92" name="Rectangle 19"/>
              <p:cNvSpPr>
                <a:spLocks noChangeArrowheads="1"/>
              </p:cNvSpPr>
              <p:nvPr/>
            </p:nvSpPr>
            <p:spPr bwMode="auto">
              <a:xfrm>
                <a:off x="675" y="2146"/>
                <a:ext cx="5085" cy="59"/>
              </a:xfrm>
              <a:prstGeom prst="rect">
                <a:avLst/>
              </a:prstGeom>
              <a:gradFill rotWithShape="1">
                <a:gsLst>
                  <a:gs pos="0">
                    <a:srgbClr val="03E118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2" name="Picture 20"/>
            <p:cNvPicPr>
              <a:picLocks noChangeAspect="1"/>
            </p:cNvPicPr>
            <p:nvPr userDrawn="1"/>
          </p:nvPicPr>
          <p:blipFill>
            <a:blip r:embed="rId15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" y="1480"/>
              <a:ext cx="657" cy="657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577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5B39C0-A271-4A9A-8EB1-F3F009E8EEE2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2025/12/27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65AADD-AB14-4F17-80A0-8AC6379231E9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tta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69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89B35B-234A-4993-8196-DF1C12F251D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1" name="Rectangle 1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132" name="Rectangle 12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66989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78D93-A7E5-4F79-BEF1-2ECE519B99C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699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35" name="Picture 15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36" name="Group 16"/>
          <p:cNvGrpSpPr/>
          <p:nvPr userDrawn="1"/>
        </p:nvGrpSpPr>
        <p:grpSpPr>
          <a:xfrm>
            <a:off x="171450" y="1054100"/>
            <a:ext cx="8864600" cy="1079500"/>
            <a:chOff x="68" y="1480"/>
            <a:chExt cx="5584" cy="680"/>
          </a:xfrm>
        </p:grpSpPr>
        <p:grpSp>
          <p:nvGrpSpPr>
            <p:cNvPr id="5137" name="Group 17"/>
            <p:cNvGrpSpPr/>
            <p:nvPr userDrawn="1"/>
          </p:nvGrpSpPr>
          <p:grpSpPr>
            <a:xfrm>
              <a:off x="567" y="1497"/>
              <a:ext cx="5085" cy="663"/>
              <a:chOff x="675" y="1678"/>
              <a:chExt cx="5085" cy="663"/>
            </a:xfrm>
          </p:grpSpPr>
          <p:sp>
            <p:nvSpPr>
              <p:cNvPr id="5139" name="Rectangle 18"/>
              <p:cNvSpPr>
                <a:spLocks noChangeArrowheads="1"/>
              </p:cNvSpPr>
              <p:nvPr/>
            </p:nvSpPr>
            <p:spPr bwMode="auto">
              <a:xfrm>
                <a:off x="819" y="1678"/>
                <a:ext cx="20" cy="663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FFFF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40" name="Rectangle 19"/>
              <p:cNvSpPr>
                <a:spLocks noChangeArrowheads="1"/>
              </p:cNvSpPr>
              <p:nvPr/>
            </p:nvSpPr>
            <p:spPr bwMode="auto">
              <a:xfrm>
                <a:off x="675" y="2146"/>
                <a:ext cx="5085" cy="59"/>
              </a:xfrm>
              <a:prstGeom prst="rect">
                <a:avLst/>
              </a:prstGeom>
              <a:gradFill rotWithShape="1">
                <a:gsLst>
                  <a:gs pos="0">
                    <a:srgbClr val="03E118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2" name="Picture 20"/>
            <p:cNvPicPr>
              <a:picLocks noChangeAspect="1"/>
            </p:cNvPicPr>
            <p:nvPr userDrawn="1"/>
          </p:nvPicPr>
          <p:blipFill>
            <a:blip r:embed="rId15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" y="1480"/>
              <a:ext cx="657" cy="657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70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0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0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AA3B32-6653-4182-85B3-47A4D46289E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atta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13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315E8-0A0A-4BF9-A814-9CAEC065DB9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gray">
          <a:xfrm>
            <a:off x="468313" y="17732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9" name="Rectangle 1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180" name="Rectangle 12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81325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991B92-F3DC-44FB-B38B-10AF865AEC5B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2025/12/27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1326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843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43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43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DEE621-FDAC-4F40-B43C-FB698C57EAB6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习题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960438" y="1758950"/>
            <a:ext cx="7983537" cy="41148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已知奇偶校验码（</a:t>
            </a:r>
            <a:r>
              <a:rPr lang="en-US" altLang="zh-CN" dirty="0"/>
              <a:t>3,4</a:t>
            </a:r>
            <a:r>
              <a:rPr lang="zh-CN" altLang="en-US" dirty="0"/>
              <a:t>）。对于收到的下列码字，能否检测出错误？</a:t>
            </a:r>
            <a:endParaRPr lang="en-US" altLang="zh-CN" dirty="0"/>
          </a:p>
          <a:p>
            <a:pPr lvl="1"/>
            <a:r>
              <a:rPr lang="en-US" altLang="zh-CN" dirty="0"/>
              <a:t>0100  </a:t>
            </a:r>
          </a:p>
          <a:p>
            <a:pPr lvl="1"/>
            <a:r>
              <a:rPr lang="en-US" altLang="zh-CN" dirty="0"/>
              <a:t>1100</a:t>
            </a:r>
          </a:p>
          <a:p>
            <a:r>
              <a:rPr lang="zh-CN" altLang="en-US" dirty="0"/>
              <a:t>解</a:t>
            </a:r>
            <a:endParaRPr lang="en-US" altLang="zh-CN" dirty="0"/>
          </a:p>
          <a:p>
            <a:pPr lvl="1"/>
            <a:r>
              <a:rPr lang="en-US" altLang="zh-CN" dirty="0"/>
              <a:t>0100</a:t>
            </a:r>
            <a:r>
              <a:rPr lang="zh-CN" altLang="en-US" dirty="0"/>
              <a:t>的权值为</a:t>
            </a:r>
            <a:r>
              <a:rPr lang="en-US" altLang="zh-CN" dirty="0"/>
              <a:t>1</a:t>
            </a:r>
            <a:r>
              <a:rPr lang="zh-CN" altLang="en-US" dirty="0"/>
              <a:t>，是奇数，不是码字，能够发现错误。</a:t>
            </a:r>
            <a:endParaRPr lang="en-US" altLang="zh-CN" dirty="0"/>
          </a:p>
          <a:p>
            <a:pPr lvl="1"/>
            <a:r>
              <a:rPr lang="en-US" altLang="zh-CN" dirty="0"/>
              <a:t>1100</a:t>
            </a:r>
            <a:r>
              <a:rPr lang="zh-CN" altLang="en-US" dirty="0"/>
              <a:t>权值为</a:t>
            </a:r>
            <a:r>
              <a:rPr lang="en-US" altLang="zh-CN" dirty="0"/>
              <a:t>2</a:t>
            </a:r>
            <a:r>
              <a:rPr lang="zh-CN" altLang="en-US" dirty="0"/>
              <a:t>，是偶数，是可能的码字，不能够发现错误。</a:t>
            </a:r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习题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600075" y="1760538"/>
            <a:ext cx="8343900" cy="41148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已知（</a:t>
            </a:r>
            <a:r>
              <a:rPr lang="en-US" altLang="zh-CN" dirty="0"/>
              <a:t>m,3m</a:t>
            </a:r>
            <a:r>
              <a:rPr lang="zh-CN" altLang="en-US" dirty="0"/>
              <a:t>）编码函数，其中</a:t>
            </a:r>
            <a:r>
              <a:rPr lang="en-US" altLang="zh-CN" dirty="0"/>
              <a:t>m=4</a:t>
            </a:r>
            <a:r>
              <a:rPr lang="zh-CN" altLang="en-US" dirty="0"/>
              <a:t>。对于收到的下列码字，能否检测出错误？</a:t>
            </a:r>
            <a:endParaRPr lang="en-US" altLang="zh-CN" dirty="0"/>
          </a:p>
          <a:p>
            <a:pPr lvl="1"/>
            <a:r>
              <a:rPr lang="en-US" altLang="zh-CN" dirty="0"/>
              <a:t>011010011111 </a:t>
            </a:r>
          </a:p>
          <a:p>
            <a:pPr lvl="1"/>
            <a:r>
              <a:rPr lang="en-US" altLang="zh-CN" dirty="0"/>
              <a:t>110110010110</a:t>
            </a:r>
          </a:p>
          <a:p>
            <a:r>
              <a:rPr lang="zh-CN" altLang="en-US" dirty="0"/>
              <a:t>解</a:t>
            </a:r>
            <a:endParaRPr lang="en-US" altLang="zh-CN" dirty="0"/>
          </a:p>
          <a:p>
            <a:pPr lvl="1"/>
            <a:r>
              <a:rPr lang="zh-CN" altLang="en-US" dirty="0"/>
              <a:t>正确的码字按每</a:t>
            </a:r>
            <a:r>
              <a:rPr lang="en-US" altLang="zh-CN" dirty="0"/>
              <a:t>4</a:t>
            </a:r>
            <a:r>
              <a:rPr lang="zh-CN" altLang="en-US" dirty="0"/>
              <a:t>位一组，对应位置的元素相同</a:t>
            </a:r>
            <a:endParaRPr lang="en-US" altLang="zh-CN" dirty="0"/>
          </a:p>
          <a:p>
            <a:pPr lvl="1"/>
            <a:r>
              <a:rPr lang="en-US" altLang="zh-CN" dirty="0"/>
              <a:t>011010011111 </a:t>
            </a:r>
            <a:r>
              <a:rPr lang="zh-CN" altLang="en-US" dirty="0"/>
              <a:t>中从左向右第</a:t>
            </a:r>
            <a:r>
              <a:rPr lang="en-US" altLang="zh-CN" dirty="0"/>
              <a:t>1</a:t>
            </a:r>
            <a:r>
              <a:rPr lang="zh-CN" altLang="en-US" dirty="0"/>
              <a:t>位和第五位不同，能够检测出错误。</a:t>
            </a:r>
            <a:endParaRPr lang="en-US" altLang="zh-CN" dirty="0"/>
          </a:p>
          <a:p>
            <a:pPr lvl="1"/>
            <a:r>
              <a:rPr lang="en-US" altLang="zh-CN" dirty="0"/>
              <a:t>110110010110</a:t>
            </a:r>
            <a:r>
              <a:rPr lang="zh-CN" altLang="en-US" dirty="0"/>
              <a:t>中从左向右第</a:t>
            </a:r>
            <a:r>
              <a:rPr lang="en-US" altLang="zh-CN" dirty="0"/>
              <a:t>1</a:t>
            </a:r>
            <a:r>
              <a:rPr lang="zh-CN" altLang="en-US" dirty="0"/>
              <a:t>位和第九位不同，能够检测出错误。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习题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960438" y="1768475"/>
            <a:ext cx="7983537" cy="41148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dirty="0"/>
              <a:t>已知（</a:t>
            </a:r>
            <a:r>
              <a:rPr lang="en-US" altLang="zh-CN" sz="2800" dirty="0"/>
              <a:t>2,6</a:t>
            </a:r>
            <a:r>
              <a:rPr lang="zh-CN" altLang="en-US" sz="2800" dirty="0"/>
              <a:t>）编码函数</a:t>
            </a:r>
            <a:r>
              <a:rPr lang="en-US" altLang="zh-CN" sz="2800" dirty="0"/>
              <a:t>e</a:t>
            </a:r>
          </a:p>
          <a:p>
            <a:pPr lvl="1"/>
            <a:r>
              <a:rPr lang="zh-CN" altLang="en-US" sz="2400" dirty="0"/>
              <a:t>求</a:t>
            </a:r>
            <a:r>
              <a:rPr lang="en-US" altLang="zh-CN" sz="2400" dirty="0"/>
              <a:t>e</a:t>
            </a:r>
            <a:r>
              <a:rPr lang="zh-CN" altLang="en-US" sz="2400" dirty="0"/>
              <a:t>的最小距离</a:t>
            </a:r>
            <a:endParaRPr lang="en-US" altLang="zh-CN" sz="2400" dirty="0"/>
          </a:p>
          <a:p>
            <a:pPr lvl="1"/>
            <a:r>
              <a:rPr lang="en-US" altLang="zh-CN" sz="2400" i="1" dirty="0"/>
              <a:t>e</a:t>
            </a:r>
            <a:r>
              <a:rPr lang="en-US" altLang="zh-CN" sz="2400" dirty="0"/>
              <a:t> </a:t>
            </a:r>
            <a:r>
              <a:rPr lang="zh-CN" altLang="en-US" sz="2400" dirty="0"/>
              <a:t>能检测出多少错误</a:t>
            </a:r>
            <a:endParaRPr lang="en-US" altLang="zh-CN" sz="2400" dirty="0"/>
          </a:p>
          <a:p>
            <a:r>
              <a:rPr lang="zh-CN" altLang="en-US" sz="2800" dirty="0"/>
              <a:t>解：</a:t>
            </a:r>
            <a:endParaRPr lang="en-US" altLang="zh-CN" sz="2800" dirty="0"/>
          </a:p>
          <a:p>
            <a:pPr lvl="1"/>
            <a:r>
              <a:rPr lang="zh-CN" altLang="en-US" sz="2400" dirty="0"/>
              <a:t>求任意两个非</a:t>
            </a:r>
            <a:r>
              <a:rPr lang="en-US" altLang="zh-CN" sz="2400" dirty="0"/>
              <a:t>0</a:t>
            </a:r>
            <a:r>
              <a:rPr lang="zh-CN" altLang="en-US" sz="2400" dirty="0"/>
              <a:t>码字之间的最小距离</a:t>
            </a:r>
            <a:endParaRPr lang="en-US" altLang="zh-CN" sz="2400" dirty="0"/>
          </a:p>
          <a:p>
            <a:pPr lvl="1"/>
            <a:r>
              <a:rPr lang="en-US" altLang="zh-CN" sz="2400" dirty="0"/>
              <a:t>0</a:t>
            </a:r>
            <a:r>
              <a:rPr lang="zh-CN" altLang="en-US" sz="2400" dirty="0"/>
              <a:t>与非</a:t>
            </a:r>
            <a:r>
              <a:rPr lang="en-US" altLang="zh-CN" sz="2400" dirty="0"/>
              <a:t>0</a:t>
            </a:r>
            <a:r>
              <a:rPr lang="zh-CN" altLang="en-US" sz="2400" dirty="0"/>
              <a:t>码字的距离等于非</a:t>
            </a:r>
            <a:r>
              <a:rPr lang="en-US" altLang="zh-CN" sz="2400" dirty="0"/>
              <a:t>0</a:t>
            </a:r>
            <a:r>
              <a:rPr lang="zh-CN" altLang="en-US" sz="2400" dirty="0"/>
              <a:t>码字的权值</a:t>
            </a:r>
            <a:endParaRPr lang="en-US" altLang="zh-CN" sz="2400" dirty="0"/>
          </a:p>
          <a:p>
            <a:pPr lvl="1"/>
            <a:r>
              <a:rPr lang="en-US" altLang="zh-CN" sz="2400" dirty="0">
                <a:sym typeface="Symbol" panose="05050102010706020507" pitchFamily="18" charset="2"/>
              </a:rPr>
              <a:t></a:t>
            </a:r>
            <a:r>
              <a:rPr lang="en-US" altLang="zh-CN" sz="2400" dirty="0"/>
              <a:t>(101010,011110)=3</a:t>
            </a:r>
            <a:r>
              <a:rPr lang="zh-CN" altLang="en-US" sz="2400" dirty="0"/>
              <a:t>，</a:t>
            </a:r>
            <a:r>
              <a:rPr lang="en-US" altLang="zh-CN" sz="2400" dirty="0">
                <a:sym typeface="Symbol" panose="05050102010706020507" pitchFamily="18" charset="2"/>
              </a:rPr>
              <a:t></a:t>
            </a:r>
            <a:r>
              <a:rPr lang="en-US" altLang="zh-CN" sz="2400" dirty="0"/>
              <a:t>(101010,111000)=2</a:t>
            </a:r>
            <a:r>
              <a:rPr lang="zh-CN" altLang="en-US" sz="2400" dirty="0"/>
              <a:t>，</a:t>
            </a:r>
            <a:r>
              <a:rPr lang="en-US" altLang="zh-CN" sz="2400" dirty="0">
                <a:sym typeface="Symbol" panose="05050102010706020507" pitchFamily="18" charset="2"/>
              </a:rPr>
              <a:t></a:t>
            </a:r>
            <a:r>
              <a:rPr lang="en-US" altLang="zh-CN" sz="2400" dirty="0"/>
              <a:t>(011110,111000)=3</a:t>
            </a:r>
            <a:r>
              <a:rPr lang="zh-CN" altLang="en-US" sz="2400" dirty="0"/>
              <a:t>，非</a:t>
            </a:r>
            <a:r>
              <a:rPr lang="en-US" altLang="zh-CN" sz="2400" dirty="0"/>
              <a:t>0</a:t>
            </a:r>
            <a:r>
              <a:rPr lang="zh-CN" altLang="en-US" sz="2400" dirty="0"/>
              <a:t>码字最小权值为</a:t>
            </a:r>
            <a:r>
              <a:rPr lang="en-US" altLang="zh-CN" sz="2400" dirty="0"/>
              <a:t>3</a:t>
            </a:r>
          </a:p>
          <a:p>
            <a:pPr lvl="1"/>
            <a:r>
              <a:rPr lang="zh-CN" altLang="en-US" sz="2400" dirty="0"/>
              <a:t>所以</a:t>
            </a:r>
            <a:r>
              <a:rPr lang="en-US" altLang="zh-CN" sz="2400" dirty="0"/>
              <a:t>e</a:t>
            </a:r>
            <a:r>
              <a:rPr lang="zh-CN" altLang="en-US" sz="2400" dirty="0"/>
              <a:t>的最小距离是</a:t>
            </a:r>
            <a:r>
              <a:rPr lang="en-US" altLang="zh-CN" sz="2400" dirty="0"/>
              <a:t>2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能检测出</a:t>
            </a:r>
            <a:r>
              <a:rPr lang="en-US" altLang="zh-CN" sz="2400" dirty="0"/>
              <a:t>1</a:t>
            </a:r>
            <a:r>
              <a:rPr lang="zh-CN" altLang="en-US" sz="2400" dirty="0"/>
              <a:t>个错误</a:t>
            </a:r>
            <a:endParaRPr lang="en-US" altLang="zh-CN" sz="2400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pic>
        <p:nvPicPr>
          <p:cNvPr id="17414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113" y="1771650"/>
            <a:ext cx="4179887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习题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9825" y="1760538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证明如下定义的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(2,5)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编码函数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1" lang="en-US" altLang="zh-CN" sz="2800" b="0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1" lang="en-US" altLang="zh-CN" sz="2800" b="0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是群码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e(00)=00000, e(10)=10101,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e(01)=01110, e(11)=11011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证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)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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B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5</a:t>
            </a:r>
            <a:endParaRPr kumimoji="1" lang="en-US" altLang="zh-CN" sz="24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)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含幺元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00000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e(10)+e(01)=11011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；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e(10)+e(11)=01110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e(01)+e(11)=10101;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关于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+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运算满足封闭性</a:t>
            </a:r>
            <a:endParaRPr kumimoji="1" lang="en-US" altLang="zh-CN" sz="24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每个元素是自身的逆元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)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是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B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5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的子群。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:B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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5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是群码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58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习题</a:t>
            </a:r>
            <a:r>
              <a:rPr lang="en-US" altLang="zh-CN" dirty="0"/>
              <a:t>5</a:t>
            </a:r>
          </a:p>
        </p:txBody>
      </p:sp>
      <p:sp>
        <p:nvSpPr>
          <p:cNvPr id="1946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已知一致性校验矩阵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求（</a:t>
            </a:r>
            <a:r>
              <a:rPr lang="en-US" altLang="zh-CN" dirty="0">
                <a:sym typeface="Symbol" panose="05050102010706020507" pitchFamily="18" charset="2"/>
              </a:rPr>
              <a:t>2,5</a:t>
            </a:r>
            <a:r>
              <a:rPr lang="zh-CN" altLang="en-US" dirty="0">
                <a:sym typeface="Symbol" panose="05050102010706020507" pitchFamily="18" charset="2"/>
              </a:rPr>
              <a:t>）群码</a:t>
            </a:r>
            <a:r>
              <a:rPr lang="en-US" altLang="zh-CN" dirty="0">
                <a:sym typeface="Symbol" panose="05050102010706020507" pitchFamily="18" charset="2"/>
              </a:rPr>
              <a:t>: 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i="1" baseline="30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i="1" baseline="30000" dirty="0">
                <a:sym typeface="Symbol" panose="05050102010706020507" pitchFamily="18" charset="2"/>
              </a:rPr>
              <a:t>5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graphicFrame>
        <p:nvGraphicFramePr>
          <p:cNvPr id="19462" name="Object 4"/>
          <p:cNvGraphicFramePr>
            <a:graphicFrameLocks noChangeAspect="1"/>
          </p:cNvGraphicFramePr>
          <p:nvPr/>
        </p:nvGraphicFramePr>
        <p:xfrm>
          <a:off x="3278188" y="2667000"/>
          <a:ext cx="1862137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51865" imgH="1167765" progId="Equation.DSMT4">
                  <p:embed/>
                </p:oleObj>
              </mc:Choice>
              <mc:Fallback>
                <p:oleObj r:id="rId2" imgW="951865" imgH="1167765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78188" y="2667000"/>
                        <a:ext cx="1862137" cy="228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6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2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755333" y="620078"/>
            <a:ext cx="7793037" cy="1143000"/>
          </a:xfrm>
          <a:ln/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解</a:t>
            </a:r>
            <a:endParaRPr lang="en-US" altLang="zh-CN" dirty="0"/>
          </a:p>
        </p:txBody>
      </p:sp>
      <p:graphicFrame>
        <p:nvGraphicFramePr>
          <p:cNvPr id="20486" name="Object 4"/>
          <p:cNvGraphicFramePr>
            <a:graphicFrameLocks noChangeAspect="1"/>
          </p:cNvGraphicFramePr>
          <p:nvPr/>
        </p:nvGraphicFramePr>
        <p:xfrm>
          <a:off x="1713865" y="765810"/>
          <a:ext cx="7325360" cy="5569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013200" imgH="3048000" progId="Equation.DSMT4">
                  <p:embed/>
                </p:oleObj>
              </mc:Choice>
              <mc:Fallback>
                <p:oleObj r:id="rId2" imgW="4013200" imgH="3048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3865" y="765810"/>
                        <a:ext cx="7325360" cy="55695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习题</a:t>
            </a:r>
            <a:r>
              <a:rPr lang="en-US" altLang="zh-CN" dirty="0"/>
              <a:t>6</a:t>
            </a: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971550" y="1768475"/>
            <a:ext cx="7772400" cy="4114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   </a:t>
            </a:r>
            <a:r>
              <a:rPr lang="zh-CN" altLang="en-US" sz="2400" dirty="0"/>
              <a:t>已知</a:t>
            </a:r>
            <a:r>
              <a:rPr lang="en-US" altLang="zh-CN" sz="2400" dirty="0"/>
              <a:t> (3, 6)</a:t>
            </a:r>
            <a:r>
              <a:rPr lang="zh-CN" altLang="en-US" sz="2400" dirty="0"/>
              <a:t>群码</a:t>
            </a:r>
            <a:r>
              <a:rPr lang="en-US" altLang="zh-CN" sz="2400" dirty="0"/>
              <a:t> </a:t>
            </a:r>
            <a:r>
              <a:rPr lang="en-US" altLang="zh-CN" sz="2400" i="1" dirty="0"/>
              <a:t>N </a:t>
            </a:r>
            <a:r>
              <a:rPr lang="en-US" altLang="zh-CN" sz="2400" dirty="0"/>
              <a:t>= {000000, 001110, 010001, 011111,100101,101011,110100,111010} </a:t>
            </a:r>
            <a:r>
              <a:rPr lang="zh-CN" altLang="en-US" sz="2400" dirty="0"/>
              <a:t>，用极大似然技术对</a:t>
            </a:r>
            <a:r>
              <a:rPr lang="en-US" altLang="zh-CN" sz="2400" dirty="0"/>
              <a:t>101001, 010011</a:t>
            </a:r>
            <a:r>
              <a:rPr lang="zh-CN" altLang="en-US" sz="2400" dirty="0"/>
              <a:t>译码</a:t>
            </a:r>
            <a:r>
              <a:rPr lang="en-US" altLang="zh-CN" sz="2400" dirty="0"/>
              <a:t>.</a:t>
            </a:r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7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FF9966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内容占位符 2"/>
          <p:cNvGraphicFramePr/>
          <p:nvPr/>
        </p:nvGraphicFramePr>
        <p:xfrm>
          <a:off x="1471613" y="3141663"/>
          <a:ext cx="6408738" cy="30956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1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5461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000000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001110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010001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011111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u="sng" kern="0">
                          <a:effectLst/>
                        </a:rPr>
                        <a:t>100101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101011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110100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111010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9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001111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010000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011110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100100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101010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110101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111011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59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001100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u="sng" kern="0">
                          <a:effectLst/>
                        </a:rPr>
                        <a:t>010011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011101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100111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u="sng" kern="0">
                          <a:effectLst/>
                        </a:rPr>
                        <a:t>101001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110110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111000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59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000100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001010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010101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011011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100001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101111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110000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111110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59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001000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000110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011001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010111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101101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100011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111100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110010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59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100000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101110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110001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111111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000101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001011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010100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011010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59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001101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010010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011100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100110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101000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110111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111001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59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011000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010110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001001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000111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111101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110011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101100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100010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3" marB="952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习题</a:t>
            </a:r>
            <a:r>
              <a:rPr lang="en-US" altLang="zh-CN" dirty="0"/>
              <a:t>6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30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8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FF9966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idx="1"/>
          </p:nvPr>
        </p:nvGraphicFramePr>
        <p:xfrm>
          <a:off x="1470025" y="1916113"/>
          <a:ext cx="6408738" cy="30972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1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0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000000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001110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010001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011111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u="sng" kern="0">
                          <a:effectLst/>
                        </a:rPr>
                        <a:t>100101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101011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110100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111010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9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001111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010000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011110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100100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101010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110101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111011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9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001100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u="sng" kern="0">
                          <a:effectLst/>
                        </a:rPr>
                        <a:t>010011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011101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100111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u="sng" kern="0">
                          <a:effectLst/>
                        </a:rPr>
                        <a:t>101001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110110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111000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9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000100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001010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010101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011011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100001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101111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110000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111110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9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001000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000110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011001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010111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101101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100011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111100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110010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9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100000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101110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110001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111111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000101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001011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010100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011010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79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001101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010010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011100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100110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101000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110111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111001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79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011000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010110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001001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000111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111101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110011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101100</a:t>
                      </a:r>
                      <a:endParaRPr lang="zh-CN" sz="11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100010</a:t>
                      </a:r>
                      <a:endParaRPr lang="zh-CN" sz="1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185863" y="5373688"/>
            <a:ext cx="672465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101001, </a:t>
            </a:r>
            <a:r>
              <a:rPr kumimoji="1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查表得</a:t>
            </a:r>
            <a:r>
              <a:rPr kumimoji="1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x=101011</a:t>
            </a:r>
            <a:r>
              <a:rPr kumimoji="1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，翻译后得</a:t>
            </a:r>
            <a:r>
              <a:rPr kumimoji="1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b=101</a:t>
            </a:r>
            <a:r>
              <a:rPr kumimoji="1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b)010011, </a:t>
            </a:r>
            <a:r>
              <a:rPr kumimoji="1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查表得</a:t>
            </a:r>
            <a:r>
              <a:rPr kumimoji="1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x=010001</a:t>
            </a:r>
            <a:r>
              <a:rPr kumimoji="1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，翻译后得</a:t>
            </a:r>
            <a:r>
              <a:rPr kumimoji="1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b=010</a:t>
            </a:r>
            <a:r>
              <a:rPr kumimoji="1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习题</a:t>
            </a:r>
            <a:r>
              <a:rPr lang="en-US" altLang="zh-CN" dirty="0"/>
              <a:t>7</a:t>
            </a:r>
          </a:p>
        </p:txBody>
      </p:sp>
      <p:sp>
        <p:nvSpPr>
          <p:cNvPr id="36867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660587" y="1760537"/>
            <a:ext cx="8271520" cy="4114800"/>
          </a:xfrm>
          <a:blipFill rotWithShape="0">
            <a:blip r:embed="rId2"/>
            <a:stretch>
              <a:fillRect l="-295" t="-2074" r="-442" b="-11556"/>
            </a:stretch>
          </a:blipFill>
          <a:effectLst/>
          <a:scene3d>
            <a:camera prst="orthographicFront"/>
            <a:lightRig rig="balanced" dir="t"/>
          </a:scene3d>
          <a:sp3d prstMaterial="plastic"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9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FF9966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习题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971550" y="1844675"/>
            <a:ext cx="7772400" cy="5195888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解</a:t>
            </a:r>
            <a:endParaRPr lang="en-US" altLang="zh-CN" dirty="0"/>
          </a:p>
          <a:p>
            <a:pPr lvl="1"/>
            <a:r>
              <a:rPr lang="zh-CN" altLang="en-US" dirty="0"/>
              <a:t>求群码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i="1" dirty="0"/>
              <a:t> </a:t>
            </a:r>
            <a:r>
              <a:rPr lang="en-US" altLang="zh-CN" sz="2400" i="1" dirty="0"/>
              <a:t>N </a:t>
            </a:r>
            <a:r>
              <a:rPr lang="en-US" altLang="zh-CN" sz="2400" dirty="0"/>
              <a:t>= {000000, 001110, 010001, 011111, 100101, 101011,110100,111010} </a:t>
            </a:r>
          </a:p>
          <a:p>
            <a:pPr lvl="1"/>
            <a:endParaRPr lang="zh-CN" altLang="en-US" dirty="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10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Rectangle 2"/>
          <p:cNvSpPr/>
          <p:nvPr/>
        </p:nvSpPr>
        <p:spPr>
          <a:xfrm>
            <a:off x="1789113" y="32845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4583" name="对象 7"/>
          <p:cNvGraphicFramePr>
            <a:graphicFrameLocks noChangeAspect="1"/>
          </p:cNvGraphicFramePr>
          <p:nvPr/>
        </p:nvGraphicFramePr>
        <p:xfrm>
          <a:off x="2309813" y="3141663"/>
          <a:ext cx="3902075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9400" imgH="2235200" progId="Equation.3">
                  <p:embed/>
                </p:oleObj>
              </mc:Choice>
              <mc:Fallback>
                <p:oleObj r:id="rId2" imgW="2819400" imgH="22352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09813" y="3141663"/>
                        <a:ext cx="3902075" cy="193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600" dirty="0"/>
              <a:t>求特征值</a:t>
            </a:r>
            <a:endParaRPr lang="en-US" altLang="zh-CN" sz="3600" dirty="0"/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179388" y="1844675"/>
            <a:ext cx="9036050" cy="4114800"/>
          </a:xfrm>
          <a:ln/>
        </p:spPr>
        <p:txBody>
          <a:bodyPr vert="horz" wrap="square" lIns="91440" tIns="45720" rIns="91440" bIns="45720" anchor="t" anchorCtr="0"/>
          <a:lstStyle/>
          <a:p>
            <a:pPr lvl="1"/>
            <a:r>
              <a:rPr lang="en-US" altLang="zh-CN" sz="2000" i="1" dirty="0"/>
              <a:t>N </a:t>
            </a:r>
            <a:r>
              <a:rPr lang="en-US" altLang="zh-CN" sz="2000" dirty="0"/>
              <a:t>= {000000, 001110, 010001, 011111, 100101, 101011, 110100, 111010}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查译码表，找到陪集头，求特征值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尝试法，</a:t>
            </a:r>
            <a:endParaRPr lang="en-US" altLang="zh-CN" sz="24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/>
              <a:t>从权值最小的码字开始，求特征值。</a:t>
            </a:r>
            <a:endParaRPr lang="en-US" altLang="zh-CN" sz="20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/>
              <a:t>若遇到特征值相同的情况，找下一个权值最小的码字，如</a:t>
            </a:r>
            <a:r>
              <a:rPr lang="en-US" altLang="zh-CN" sz="2000" dirty="0"/>
              <a:t>010000</a:t>
            </a:r>
            <a:r>
              <a:rPr lang="zh-CN" altLang="en-US" sz="2000" dirty="0"/>
              <a:t>和</a:t>
            </a:r>
            <a:r>
              <a:rPr lang="en-US" altLang="zh-CN" sz="2000" dirty="0"/>
              <a:t>000001</a:t>
            </a:r>
            <a:r>
              <a:rPr lang="zh-CN" altLang="en-US" sz="2000" dirty="0"/>
              <a:t>特征值均为</a:t>
            </a:r>
            <a:r>
              <a:rPr lang="en-US" altLang="zh-CN" sz="2000" dirty="0"/>
              <a:t>001</a:t>
            </a:r>
            <a:r>
              <a:rPr lang="zh-CN" altLang="en-US" sz="2000" dirty="0"/>
              <a:t>，说明</a:t>
            </a:r>
            <a:r>
              <a:rPr lang="en-US" altLang="zh-CN" sz="2000" dirty="0"/>
              <a:t>010000</a:t>
            </a:r>
            <a:r>
              <a:rPr lang="zh-CN" altLang="en-US" sz="2000" dirty="0"/>
              <a:t>和</a:t>
            </a:r>
            <a:r>
              <a:rPr lang="en-US" altLang="zh-CN" sz="2000" dirty="0"/>
              <a:t>000001</a:t>
            </a:r>
            <a:r>
              <a:rPr lang="zh-CN" altLang="en-US" sz="2000" dirty="0"/>
              <a:t>在同一个左陪集，可任选一个作为陪集头。这将导致译码函数不唯一。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1600" b="1" dirty="0">
                <a:latin typeface="Courier New" panose="02070309020205020404" pitchFamily="49" charset="0"/>
              </a:rPr>
              <a:t>        陪集头的特征值</a:t>
            </a:r>
            <a:r>
              <a:rPr lang="en-US" altLang="zh-CN" sz="1600" b="1" dirty="0">
                <a:latin typeface="Courier New" panose="02070309020205020404" pitchFamily="49" charset="0"/>
              </a:rPr>
              <a:t>	|	</a:t>
            </a:r>
            <a:r>
              <a:rPr lang="zh-CN" altLang="en-US" sz="1600" b="1" dirty="0">
                <a:latin typeface="Courier New" panose="02070309020205020404" pitchFamily="49" charset="0"/>
              </a:rPr>
              <a:t>陪集头</a:t>
            </a:r>
            <a:endParaRPr lang="en-US" altLang="zh-CN" sz="1600" b="1" dirty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--------------------------+-------------------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			000		|	000000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			001		|	000001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			010		|	000010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			100  		|	000100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			110		|	001000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			101		|	100000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			011	       |	000011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			111		|	011000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--------------------------+-------------------</a:t>
            </a: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11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FF9966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习题</a:t>
            </a:r>
            <a:r>
              <a:rPr lang="en-US" altLang="zh-CN" dirty="0"/>
              <a:t>7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844675"/>
            <a:ext cx="8486775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对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a)101001   b) 010011   c) 100101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译码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a)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t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= 101001 , 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f</a:t>
            </a:r>
            <a:r>
              <a:rPr kumimoji="1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H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) =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*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H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010,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与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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=000010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相同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.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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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101001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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000010 = 101011 =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(101),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所以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101001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译码为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101.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b)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f</a:t>
            </a:r>
            <a:r>
              <a:rPr kumimoji="1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H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(010011)=010;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x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010011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Symbol" panose="05050102010706020507" pitchFamily="18" charset="2"/>
              </a:rPr>
              <a:t>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000010 = 010001=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(010)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c) 100101 =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(100)</a:t>
            </a: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         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陪集头的特征值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	|	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陪集头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--------------------------+-------------------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			000		|	000000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			001		|	000001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			010		|	000010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			100  		|	000100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			110		|	001000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			101		|	100000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			011	       |	000011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ea"/>
              </a:rPr>
              <a:t>			111		|	011000</a:t>
            </a: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12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日期占位符 4"/>
          <p:cNvSpPr>
            <a:spLocks noGrp="1"/>
          </p:cNvSpPr>
          <p:nvPr>
            <p:ph type="dt" sz="half" idx="11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FF99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2025/12/27</a:t>
            </a:fld>
            <a:endParaRPr lang="zh-CN" altLang="en-US" sz="10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页脚占位符 5"/>
          <p:cNvSpPr>
            <a:spLocks noGrp="1"/>
          </p:cNvSpPr>
          <p:nvPr>
            <p:ph type="ftr" sz="quarter" idx="12"/>
          </p:nvPr>
        </p:nvSpPr>
        <p:spPr>
          <a:ln/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FF9966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FF9966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04882" y="167"/>
            <a:ext cx="1921360" cy="2151358"/>
          </a:xfrm>
          <a:prstGeom prst="rect">
            <a:avLst/>
          </a:prstGeom>
          <a:blipFill rotWithShape="0">
            <a:blip r:embed="rId2"/>
            <a:stretch>
              <a:fillRect l="-4762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74c40af-dfe4-4f73-b9fa-cbbe36e64cb8"/>
  <p:tag name="COMMONDATA" val="eyJoZGlkIjoiYjZhMmY1NGQwZjE0MWY4MTkzZjM4YzBiNDA1ZmM3ZDEifQ=="/>
</p:tagLst>
</file>

<file path=ppt/theme/theme1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lends">
  <a:themeElements>
    <a:clrScheme name="2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Blends">
  <a:themeElements>
    <a:clrScheme name="3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自定义设计方案">
  <a:themeElements>
    <a:clrScheme name="2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Blends">
  <a:themeElements>
    <a:clrScheme name="4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4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自定义设计方案">
  <a:themeElements>
    <a:clrScheme name="3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2003 - 5.1 - Functions</Template>
  <TotalTime>468</TotalTime>
  <Words>1021</Words>
  <Application>Microsoft Office PowerPoint</Application>
  <PresentationFormat>全屏显示(4:3)</PresentationFormat>
  <Paragraphs>264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Arial Narrow</vt:lpstr>
      <vt:lpstr>Calibri</vt:lpstr>
      <vt:lpstr>Copperplate Gothic Bold</vt:lpstr>
      <vt:lpstr>Copperplate Gothic Light</vt:lpstr>
      <vt:lpstr>Courier New</vt:lpstr>
      <vt:lpstr>Georgia</vt:lpstr>
      <vt:lpstr>Monotype Corsiva</vt:lpstr>
      <vt:lpstr>Symbol</vt:lpstr>
      <vt:lpstr>Times New Roman</vt:lpstr>
      <vt:lpstr>Wingdings</vt:lpstr>
      <vt:lpstr>1_Blends</vt:lpstr>
      <vt:lpstr>自定义设计方案</vt:lpstr>
      <vt:lpstr>2_Blends</vt:lpstr>
      <vt:lpstr>1_自定义设计方案</vt:lpstr>
      <vt:lpstr>3_Blends</vt:lpstr>
      <vt:lpstr>2_自定义设计方案</vt:lpstr>
      <vt:lpstr>4_Blends</vt:lpstr>
      <vt:lpstr>3_自定义设计方案</vt:lpstr>
      <vt:lpstr>Equation.DSMT4</vt:lpstr>
      <vt:lpstr>Equation.3</vt:lpstr>
      <vt:lpstr>习题1</vt:lpstr>
      <vt:lpstr>习题2</vt:lpstr>
      <vt:lpstr>习题3</vt:lpstr>
      <vt:lpstr>习题4</vt:lpstr>
      <vt:lpstr>习题5</vt:lpstr>
      <vt:lpstr>解</vt:lpstr>
      <vt:lpstr>习题6</vt:lpstr>
      <vt:lpstr>习题6</vt:lpstr>
      <vt:lpstr>习题7</vt:lpstr>
      <vt:lpstr>习题7</vt:lpstr>
      <vt:lpstr>求特征值</vt:lpstr>
      <vt:lpstr>习题7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文涛 刘</cp:lastModifiedBy>
  <cp:revision>345</cp:revision>
  <dcterms:created xsi:type="dcterms:W3CDTF">2020-10-23T13:09:58Z</dcterms:created>
  <dcterms:modified xsi:type="dcterms:W3CDTF">2025-12-27T16:40:30Z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2052-11.1.0.15319</vt:lpwstr>
  </property>
  <property fmtid="{D5CDD505-2E9C-101B-9397-08002B2CF9AE}" pid="3" name="ICV">
    <vt:lpwstr>01DE599C85EC4FBC9BFC32EC4237163D_12</vt:lpwstr>
  </property>
</Properties>
</file>