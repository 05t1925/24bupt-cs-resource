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702" r:id="rId2"/>
  </p:sldMasterIdLst>
  <p:notesMasterIdLst>
    <p:notesMasterId r:id="rId43"/>
  </p:notesMasterIdLst>
  <p:handoutMasterIdLst>
    <p:handoutMasterId r:id="rId44"/>
  </p:handoutMasterIdLst>
  <p:sldIdLst>
    <p:sldId id="441" r:id="rId3"/>
    <p:sldId id="815" r:id="rId4"/>
    <p:sldId id="442" r:id="rId5"/>
    <p:sldId id="468" r:id="rId6"/>
    <p:sldId id="475" r:id="rId7"/>
    <p:sldId id="478" r:id="rId8"/>
    <p:sldId id="464" r:id="rId9"/>
    <p:sldId id="818" r:id="rId10"/>
    <p:sldId id="825" r:id="rId11"/>
    <p:sldId id="488" r:id="rId12"/>
    <p:sldId id="819" r:id="rId13"/>
    <p:sldId id="490" r:id="rId14"/>
    <p:sldId id="725" r:id="rId15"/>
    <p:sldId id="822" r:id="rId16"/>
    <p:sldId id="382" r:id="rId17"/>
    <p:sldId id="307" r:id="rId18"/>
    <p:sldId id="506" r:id="rId19"/>
    <p:sldId id="425" r:id="rId20"/>
    <p:sldId id="826" r:id="rId21"/>
    <p:sldId id="513" r:id="rId22"/>
    <p:sldId id="517" r:id="rId23"/>
    <p:sldId id="523" r:id="rId24"/>
    <p:sldId id="827" r:id="rId25"/>
    <p:sldId id="534" r:id="rId26"/>
    <p:sldId id="538" r:id="rId27"/>
    <p:sldId id="541" r:id="rId28"/>
    <p:sldId id="316" r:id="rId29"/>
    <p:sldId id="601" r:id="rId30"/>
    <p:sldId id="828" r:id="rId31"/>
    <p:sldId id="829" r:id="rId32"/>
    <p:sldId id="406" r:id="rId33"/>
    <p:sldId id="354" r:id="rId34"/>
    <p:sldId id="358" r:id="rId35"/>
    <p:sldId id="332" r:id="rId36"/>
    <p:sldId id="810" r:id="rId37"/>
    <p:sldId id="830" r:id="rId38"/>
    <p:sldId id="440" r:id="rId39"/>
    <p:sldId id="392" r:id="rId40"/>
    <p:sldId id="292" r:id="rId41"/>
    <p:sldId id="348" r:id="rId42"/>
  </p:sldIdLst>
  <p:sldSz cx="9144000" cy="6858000" type="screen4x3"/>
  <p:notesSz cx="6669088" cy="9926638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2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3300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67" d="100"/>
          <a:sy n="67" d="100"/>
        </p:scale>
        <p:origin x="1260" y="52"/>
      </p:cViewPr>
      <p:guideLst>
        <p:guide orient="horz" pos="1402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-8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3711897F-F566-DD6F-3E83-47FA04557CE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1" name="文本占位符 2">
            <a:extLst>
              <a:ext uri="{FF2B5EF4-FFF2-40B4-BE49-F238E27FC236}">
                <a16:creationId xmlns:a16="http://schemas.microsoft.com/office/drawing/2014/main" id="{BAF42F7E-A37D-C8E4-B9D3-FF7838E381E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zh-CN" altLang="en-US"/>
              <a:t>等价关系其实是其上各个等价类集合的全关系 组合</a:t>
            </a:r>
            <a:r>
              <a:rPr lang="en-US" altLang="zh-CN"/>
              <a:t>. </a:t>
            </a:r>
            <a:r>
              <a:rPr lang="zh-CN" altLang="en-US"/>
              <a:t>少见</a:t>
            </a:r>
            <a:r>
              <a:rPr lang="en-US" altLang="zh-CN"/>
              <a:t>, </a:t>
            </a:r>
            <a:r>
              <a:rPr lang="zh-CN" altLang="en-US"/>
              <a:t>主要应用是集合</a:t>
            </a:r>
            <a:r>
              <a:rPr lang="en-US" altLang="zh-CN"/>
              <a:t>A</a:t>
            </a:r>
            <a:r>
              <a:rPr lang="zh-CN" altLang="en-US"/>
              <a:t>的划分</a:t>
            </a:r>
            <a:r>
              <a:rPr lang="en-US" altLang="zh-CN"/>
              <a:t>.</a:t>
            </a:r>
          </a:p>
          <a:p>
            <a:r>
              <a:rPr lang="zh-CN" altLang="en-US"/>
              <a:t>非等价关系的应用更广泛</a:t>
            </a:r>
            <a:r>
              <a:rPr lang="en-US" altLang="zh-CN"/>
              <a:t>,</a:t>
            </a:r>
            <a:r>
              <a:rPr lang="zh-CN" altLang="en-US"/>
              <a:t>其中一类是偏序关系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60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1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53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9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0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62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6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90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19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82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2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36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79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674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904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01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18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954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en-US" sz="1000" b="1" i="1" strike="noStrike" noProof="1" dirty="0">
                <a:solidFill>
                  <a:srgbClr val="009999"/>
                </a:solidFill>
                <a:latin typeface="Arial Narrow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000" b="1" i="1" strike="noStrike" noProof="1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ED91D0-FC68-4B91-928F-487244177356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itchFamily="34" charset="0"/>
                <a:ea typeface="宋体" panose="02010600030101010101" pitchFamily="2" charset="-122"/>
                <a:cs typeface="+mn-cs"/>
              </a:rPr>
              <a:t>2024/12/27</a:t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itchFamily="34" charset="0"/>
                <a:ea typeface="宋体" panose="02010600030101010101" pitchFamily="2" charset="-122"/>
                <a:cs typeface="+mn-cs"/>
              </a:rPr>
              <a:t>College of Computer Science &amp; Technology,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26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15220D-0BB5-4C71-B862-812B075D02FE}" type="datetimeFigureOut">
              <a:rPr lang="en-US" smtClean="0"/>
              <a:pPr/>
              <a:t>12/27/2024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CA217EF-0505-4C33-BB20-8A8DF203902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622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29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wrap="square" lIns="91440" tIns="45720" rIns="91440" bIns="45720" anchor="b"/>
          <a:lstStyle/>
          <a:p>
            <a:pPr eaLnBrk="1" hangingPunct="1"/>
            <a:r>
              <a:rPr kumimoji="1"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Endterm Overview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FBFC1E30-3111-2F0D-74BE-5FD991A5F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2024-12-26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Ch9</a:t>
            </a:r>
            <a:r>
              <a:rPr lang="en-US" altLang="zh-CN" dirty="0"/>
              <a:t> Relations</a:t>
            </a:r>
            <a:r>
              <a:rPr lang="en-US" dirty="0"/>
              <a:t>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07288" cy="43891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Relations and Their Properties</a:t>
            </a:r>
          </a:p>
          <a:p>
            <a:pPr lvl="1"/>
            <a:r>
              <a:rPr lang="en-US" altLang="zh-CN" dirty="0"/>
              <a:t>Reflexive Relations 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>
                <a:ea typeface="Cambria Math" panose="02040503050406030204"/>
              </a:rPr>
              <a:t>x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[</a:t>
            </a:r>
            <a:r>
              <a:rPr lang="en-US" altLang="zh-CN" dirty="0">
                <a:ea typeface="Cambria Math" panose="02040503050406030204"/>
              </a:rPr>
              <a:t>x</a:t>
            </a:r>
            <a:r>
              <a:rPr lang="en-US" altLang="zh-CN" b="1" dirty="0"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</a:rPr>
              <a:t>A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⟶ (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]</a:t>
            </a:r>
            <a:endParaRPr lang="en-US" altLang="zh-CN" dirty="0"/>
          </a:p>
          <a:p>
            <a:pPr lvl="1"/>
            <a:r>
              <a:rPr lang="en-US" altLang="zh-CN" dirty="0"/>
              <a:t>Symmetric and Antisymmetric Relations</a:t>
            </a:r>
          </a:p>
          <a:p>
            <a:pPr lvl="2"/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[(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⟶ (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 err="1"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]</a:t>
            </a:r>
          </a:p>
          <a:p>
            <a:pPr lvl="2"/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[(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∧ (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 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⟶ </a:t>
            </a:r>
            <a:r>
              <a:rPr lang="en-US" altLang="zh-CN" i="1" dirty="0">
                <a:ea typeface="Cambria Math" panose="02040503050406030204"/>
              </a:rPr>
              <a:t>x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= </a:t>
            </a:r>
            <a:r>
              <a:rPr lang="en-US" altLang="zh-CN" i="1" dirty="0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]</a:t>
            </a:r>
            <a:endParaRPr lang="en-US" altLang="zh-CN" dirty="0"/>
          </a:p>
          <a:p>
            <a:pPr lvl="1"/>
            <a:r>
              <a:rPr lang="en-US" altLang="zh-CN" dirty="0"/>
              <a:t>Transitive Relations 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∀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∀</a:t>
            </a:r>
            <a:r>
              <a:rPr lang="en-US" altLang="zh-CN" i="1" dirty="0">
                <a:ea typeface="Cambria Math" panose="02040503050406030204"/>
              </a:rPr>
              <a:t>z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[(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∧ (</a:t>
            </a:r>
            <a:r>
              <a:rPr lang="en-US" altLang="zh-CN" i="1" dirty="0" err="1">
                <a:ea typeface="Cambria Math" panose="02040503050406030204"/>
              </a:rPr>
              <a:t>y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z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⟶ (</a:t>
            </a:r>
            <a:r>
              <a:rPr lang="en-US" altLang="zh-CN" i="1" dirty="0" err="1">
                <a:ea typeface="Cambria Math" panose="02040503050406030204"/>
              </a:rPr>
              <a:t>x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,</a:t>
            </a:r>
            <a:r>
              <a:rPr lang="en-US" altLang="zh-CN" i="1" dirty="0" err="1">
                <a:ea typeface="Cambria Math" panose="02040503050406030204"/>
              </a:rPr>
              <a:t>z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) </a:t>
            </a:r>
            <a:r>
              <a:rPr lang="en-US" altLang="zh-CN" b="1" dirty="0"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ea typeface="Cambria Math" panose="02040503050406030204"/>
              </a:rPr>
              <a:t>R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]</a:t>
            </a:r>
            <a:endParaRPr lang="en-US" altLang="zh-CN" dirty="0"/>
          </a:p>
          <a:p>
            <a:pPr lvl="1"/>
            <a:r>
              <a:rPr lang="en-US" altLang="zh-CN" sz="2400" b="1" dirty="0"/>
              <a:t>Question</a:t>
            </a:r>
            <a:r>
              <a:rPr lang="en-US" altLang="zh-CN" sz="2400" dirty="0"/>
              <a:t>: How many relations are there on a set </a:t>
            </a:r>
            <a:r>
              <a:rPr lang="en-US" altLang="zh-CN" sz="2400" i="1" dirty="0"/>
              <a:t>A</a:t>
            </a:r>
            <a:r>
              <a:rPr lang="en-US" altLang="zh-CN" sz="2400" dirty="0"/>
              <a:t>?</a:t>
            </a:r>
            <a:r>
              <a:rPr lang="en-US" altLang="zh-CN" sz="2400" b="1" dirty="0"/>
              <a:t> </a:t>
            </a:r>
            <a:r>
              <a:rPr lang="en-US" altLang="zh-CN" sz="2400" noProof="1">
                <a:sym typeface="+mn-ea"/>
              </a:rPr>
              <a:t>How many reflexive relations are there on a set with </a:t>
            </a:r>
            <a:r>
              <a:rPr lang="en-US" altLang="zh-CN" sz="2400" i="1" noProof="1">
                <a:sym typeface="+mn-ea"/>
              </a:rPr>
              <a:t>n</a:t>
            </a:r>
            <a:r>
              <a:rPr lang="en-US" altLang="zh-CN" sz="2400" noProof="1">
                <a:sym typeface="+mn-ea"/>
              </a:rPr>
              <a:t> elements?</a:t>
            </a:r>
            <a:endParaRPr lang="en-US" altLang="zh-CN" sz="2400" b="1" dirty="0"/>
          </a:p>
          <a:p>
            <a:pPr lvl="1"/>
            <a:r>
              <a:rPr lang="en-US" altLang="zh-CN" b="1" dirty="0"/>
              <a:t>Theorem </a:t>
            </a:r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b="1" dirty="0"/>
              <a:t>: </a:t>
            </a:r>
            <a:r>
              <a:rPr lang="en-US" altLang="zh-CN" dirty="0"/>
              <a:t>The relation </a:t>
            </a:r>
            <a:r>
              <a:rPr lang="en-US" altLang="zh-CN" i="1" dirty="0"/>
              <a:t>R</a:t>
            </a:r>
            <a:r>
              <a:rPr lang="en-US" altLang="zh-CN" dirty="0"/>
              <a:t> on a set </a:t>
            </a:r>
            <a:r>
              <a:rPr lang="en-US" altLang="zh-CN" i="1" dirty="0"/>
              <a:t>A</a:t>
            </a:r>
            <a:r>
              <a:rPr lang="en-US" altLang="zh-CN" dirty="0"/>
              <a:t> is transitive </a:t>
            </a:r>
            <a:r>
              <a:rPr lang="en-US" altLang="zh-CN" dirty="0" err="1"/>
              <a:t>iff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⊆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for </a:t>
            </a:r>
            <a:r>
              <a:rPr lang="en-US" altLang="zh-CN" i="1" dirty="0"/>
              <a:t>n =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1,2,3 </a:t>
            </a:r>
            <a:r>
              <a:rPr lang="en-US" altLang="zh-CN" i="1" dirty="0"/>
              <a:t>….</a:t>
            </a:r>
            <a:endParaRPr lang="en-US" dirty="0"/>
          </a:p>
          <a:p>
            <a:r>
              <a:rPr lang="en-US" dirty="0"/>
              <a:t>Representing Relations  </a:t>
            </a:r>
            <a:r>
              <a:rPr kumimoji="1" lang="en-US" altLang="zh-CN" sz="2800" noProof="1"/>
              <a:t>M</a:t>
            </a:r>
            <a:r>
              <a:rPr kumimoji="1" lang="en-US" altLang="zh-CN" sz="1400" noProof="1"/>
              <a:t>S</a:t>
            </a:r>
            <a:r>
              <a:rPr kumimoji="1" lang="en-US" altLang="zh-CN" sz="1400" noProof="1">
                <a:latin typeface="Arial" panose="020B0604020202020204" pitchFamily="34" charset="0"/>
                <a:cs typeface="Arial" panose="020B0604020202020204" pitchFamily="34" charset="0"/>
              </a:rPr>
              <a:t>º</a:t>
            </a:r>
            <a:r>
              <a:rPr kumimoji="1" lang="en-US" altLang="zh-CN" sz="1400" i="1" noProof="1"/>
              <a:t>R </a:t>
            </a:r>
            <a:r>
              <a:rPr kumimoji="1" lang="en-US" altLang="zh-CN" sz="2800" i="1" noProof="1"/>
              <a:t>=</a:t>
            </a:r>
            <a:r>
              <a:rPr kumimoji="1" lang="en-US" altLang="zh-CN" sz="1400" i="1" noProof="1"/>
              <a:t> </a:t>
            </a:r>
            <a:r>
              <a:rPr kumimoji="1" lang="en-US" altLang="zh-CN" sz="2800" i="1" noProof="1"/>
              <a:t>M</a:t>
            </a:r>
            <a:r>
              <a:rPr kumimoji="1" lang="en-US" altLang="zh-CN" sz="2800" baseline="-25000" noProof="1"/>
              <a:t>R</a:t>
            </a:r>
            <a:r>
              <a:rPr kumimoji="1" lang="en-US" altLang="zh-CN" sz="2800" noProof="1"/>
              <a:t> </a:t>
            </a:r>
            <a:r>
              <a:rPr kumimoji="1" lang="en-US" altLang="zh-CN" sz="2800" noProof="1">
                <a:latin typeface="Arial" panose="020B0604020202020204" pitchFamily="34" charset="0"/>
                <a:cs typeface="Arial" panose="020B0604020202020204" pitchFamily="34" charset="0"/>
              </a:rPr>
              <a:t>ʘ</a:t>
            </a:r>
            <a:r>
              <a:rPr kumimoji="1" lang="en-US" altLang="zh-CN" sz="2800" i="1" noProof="1"/>
              <a:t>M</a:t>
            </a:r>
            <a:r>
              <a:rPr kumimoji="1" lang="en-US" altLang="zh-CN" sz="2800" baseline="-25000" noProof="1"/>
              <a:t>S</a:t>
            </a:r>
            <a:endParaRPr lang="en-US" dirty="0"/>
          </a:p>
          <a:p>
            <a:r>
              <a:rPr lang="en-US" dirty="0"/>
              <a:t>Closures of Relations</a:t>
            </a:r>
          </a:p>
          <a:p>
            <a:r>
              <a:rPr lang="en-US" dirty="0"/>
              <a:t>Equivalence Relations</a:t>
            </a:r>
          </a:p>
          <a:p>
            <a:r>
              <a:rPr lang="en-US" dirty="0"/>
              <a:t>Partial Orderings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>
            <a:extLst>
              <a:ext uri="{FF2B5EF4-FFF2-40B4-BE49-F238E27FC236}">
                <a16:creationId xmlns:a16="http://schemas.microsoft.com/office/drawing/2014/main" id="{5627BD43-D426-2AE2-CFC4-28B7BCBF65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AF98913-6793-4D8F-8EC3-A9A9C3D1A7CD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3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147" name="日期占位符 4">
            <a:extLst>
              <a:ext uri="{FF2B5EF4-FFF2-40B4-BE49-F238E27FC236}">
                <a16:creationId xmlns:a16="http://schemas.microsoft.com/office/drawing/2014/main" id="{8EFE9E6C-7601-616F-D81C-91EC40014CD3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663C9DB-A404-4128-BE55-05ED43F209ED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148" name="页脚占位符 5">
            <a:extLst>
              <a:ext uri="{FF2B5EF4-FFF2-40B4-BE49-F238E27FC236}">
                <a16:creationId xmlns:a16="http://schemas.microsoft.com/office/drawing/2014/main" id="{5C3A6E6C-FB55-8305-7834-0D39CDF7B5F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BCAA799E-D021-2C3B-4A81-17497FFB4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Definition</a:t>
            </a:r>
            <a:endParaRPr lang="zh-CN" altLang="en-US"/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AFA5C60B-F7D5-17EB-E04F-8B8C1DA01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 be nonempty sets. A </a:t>
            </a:r>
            <a:r>
              <a:rPr lang="en-US" altLang="zh-CN" i="1" dirty="0"/>
              <a:t>relation R from A to B</a:t>
            </a:r>
            <a:r>
              <a:rPr lang="en-US" altLang="zh-CN" dirty="0"/>
              <a:t> is a subset of 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sz="3200" dirty="0"/>
              <a:t>If </a:t>
            </a:r>
            <a:r>
              <a:rPr lang="en-US" altLang="zh-CN" sz="3200" i="1" dirty="0"/>
              <a:t>R</a:t>
            </a:r>
            <a:r>
              <a:rPr lang="en-US" altLang="zh-CN" sz="3200" dirty="0"/>
              <a:t> </a:t>
            </a:r>
            <a:r>
              <a:rPr lang="zh-CN" altLang="en-US" sz="3200" dirty="0">
                <a:sym typeface="Symbol" panose="05050102010706020507" pitchFamily="18" charset="2"/>
              </a:rPr>
              <a:t></a:t>
            </a:r>
            <a:r>
              <a:rPr lang="en-US" altLang="zh-CN" sz="3200" dirty="0"/>
              <a:t> </a:t>
            </a:r>
            <a:r>
              <a:rPr lang="en-US" altLang="zh-CN" sz="3200" i="1" dirty="0"/>
              <a:t>A</a:t>
            </a:r>
            <a:r>
              <a:rPr lang="en-US" altLang="zh-CN" sz="3200" dirty="0"/>
              <a:t> </a:t>
            </a:r>
            <a:r>
              <a:rPr lang="zh-CN" altLang="en-US" sz="3200" dirty="0">
                <a:sym typeface="Symbol" panose="05050102010706020507" pitchFamily="18" charset="2"/>
              </a:rPr>
              <a:t></a:t>
            </a:r>
            <a:r>
              <a:rPr lang="en-US" altLang="zh-CN" sz="3200" dirty="0"/>
              <a:t> </a:t>
            </a:r>
            <a:r>
              <a:rPr lang="en-US" altLang="zh-CN" sz="3200" i="1" dirty="0"/>
              <a:t>B</a:t>
            </a:r>
            <a:r>
              <a:rPr lang="en-US" altLang="zh-CN" sz="3200" dirty="0"/>
              <a:t> and (</a:t>
            </a:r>
            <a:r>
              <a:rPr lang="en-US" altLang="zh-CN" sz="3200" i="1" dirty="0"/>
              <a:t>a</a:t>
            </a:r>
            <a:r>
              <a:rPr lang="en-US" altLang="zh-CN" sz="3200" dirty="0"/>
              <a:t>, </a:t>
            </a:r>
            <a:r>
              <a:rPr lang="en-US" altLang="zh-CN" sz="3200" i="1" dirty="0"/>
              <a:t>b</a:t>
            </a:r>
            <a:r>
              <a:rPr lang="en-US" altLang="zh-CN" sz="3200" dirty="0"/>
              <a:t>) </a:t>
            </a:r>
            <a:r>
              <a:rPr lang="zh-CN" altLang="en-US" sz="3200" dirty="0">
                <a:sym typeface="Symbol" panose="05050102010706020507" pitchFamily="18" charset="2"/>
              </a:rPr>
              <a:t></a:t>
            </a:r>
            <a:r>
              <a:rPr lang="en-US" altLang="zh-CN" sz="3200" dirty="0"/>
              <a:t> </a:t>
            </a:r>
            <a:r>
              <a:rPr lang="en-US" altLang="zh-CN" sz="3200" i="1" dirty="0"/>
              <a:t>R</a:t>
            </a:r>
            <a:r>
              <a:rPr lang="en-US" altLang="zh-CN" sz="3200" dirty="0"/>
              <a:t>, we say that </a:t>
            </a:r>
            <a:r>
              <a:rPr lang="en-US" altLang="zh-CN" sz="3200" i="1" dirty="0"/>
              <a:t>a</a:t>
            </a:r>
            <a:r>
              <a:rPr lang="en-US" altLang="zh-CN" sz="3200" dirty="0"/>
              <a:t> is related to </a:t>
            </a:r>
            <a:r>
              <a:rPr lang="en-US" altLang="zh-CN" sz="3200" i="1" dirty="0"/>
              <a:t>b</a:t>
            </a:r>
            <a:r>
              <a:rPr lang="en-US" altLang="zh-CN" sz="3200" dirty="0"/>
              <a:t> by </a:t>
            </a:r>
            <a:r>
              <a:rPr lang="en-US" altLang="zh-CN" sz="3200" i="1" dirty="0"/>
              <a:t>R</a:t>
            </a:r>
            <a:r>
              <a:rPr lang="en-US" altLang="zh-CN" sz="3200" dirty="0"/>
              <a:t>, and we also write </a:t>
            </a:r>
            <a:r>
              <a:rPr lang="en-US" altLang="zh-CN" sz="3200" i="1" dirty="0"/>
              <a:t>a</a:t>
            </a:r>
            <a:r>
              <a:rPr lang="en-US" altLang="zh-CN" sz="3200" dirty="0"/>
              <a:t> </a:t>
            </a:r>
            <a:r>
              <a:rPr lang="en-US" altLang="zh-CN" sz="3200" i="1" dirty="0"/>
              <a:t>R</a:t>
            </a:r>
            <a:r>
              <a:rPr lang="en-US" altLang="zh-CN" sz="3200" dirty="0"/>
              <a:t> </a:t>
            </a:r>
            <a:r>
              <a:rPr lang="en-US" altLang="zh-CN" sz="3200" i="1" dirty="0"/>
              <a:t>b</a:t>
            </a:r>
            <a:r>
              <a:rPr lang="en-US" altLang="zh-CN" sz="32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Define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), the </a:t>
            </a:r>
            <a:r>
              <a:rPr lang="en-US" altLang="zh-CN" i="1" dirty="0"/>
              <a:t>R-relative set of x</a:t>
            </a:r>
            <a:r>
              <a:rPr lang="en-US" altLang="zh-CN" dirty="0"/>
              <a:t>, to be the set of all </a:t>
            </a:r>
            <a:r>
              <a:rPr lang="en-US" altLang="zh-CN" i="1" dirty="0"/>
              <a:t>y</a:t>
            </a:r>
            <a:r>
              <a:rPr lang="en-US" altLang="zh-CN" dirty="0"/>
              <a:t> in </a:t>
            </a:r>
            <a:r>
              <a:rPr lang="en-US" altLang="zh-CN" i="1" dirty="0"/>
              <a:t>B</a:t>
            </a:r>
            <a:r>
              <a:rPr lang="en-US" altLang="zh-CN" dirty="0"/>
              <a:t> with the property that </a:t>
            </a:r>
            <a:r>
              <a:rPr lang="en-US" altLang="zh-CN" i="1" dirty="0"/>
              <a:t>x</a:t>
            </a:r>
            <a:r>
              <a:rPr lang="en-US" altLang="zh-CN" dirty="0"/>
              <a:t> is </a:t>
            </a:r>
            <a:r>
              <a:rPr lang="en-US" altLang="zh-CN" i="1" dirty="0"/>
              <a:t>R</a:t>
            </a:r>
            <a:r>
              <a:rPr lang="en-US" altLang="zh-CN" dirty="0"/>
              <a:t>-related to </a:t>
            </a:r>
            <a:r>
              <a:rPr lang="en-US" altLang="zh-CN" i="1" dirty="0"/>
              <a:t>y</a:t>
            </a:r>
            <a:r>
              <a:rPr lang="en-US" altLang="zh-CN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3200" i="1" dirty="0"/>
              <a:t>R</a:t>
            </a:r>
            <a:r>
              <a:rPr lang="en-US" altLang="zh-CN" sz="3200" dirty="0"/>
              <a:t>(</a:t>
            </a:r>
            <a:r>
              <a:rPr lang="en-US" altLang="zh-CN" sz="3200" i="1" dirty="0"/>
              <a:t>x</a:t>
            </a:r>
            <a:r>
              <a:rPr lang="en-US" altLang="zh-CN" sz="3200" dirty="0"/>
              <a:t>) = {</a:t>
            </a:r>
            <a:r>
              <a:rPr lang="en-US" altLang="zh-CN" sz="3200" i="1" dirty="0"/>
              <a:t>y</a:t>
            </a:r>
            <a:r>
              <a:rPr lang="en-US" altLang="zh-CN" sz="3200" dirty="0"/>
              <a:t> </a:t>
            </a:r>
            <a:r>
              <a:rPr lang="zh-CN" altLang="en-US" sz="3200" dirty="0">
                <a:sym typeface="Symbol" panose="05050102010706020507" pitchFamily="18" charset="2"/>
              </a:rPr>
              <a:t> </a:t>
            </a:r>
            <a:r>
              <a:rPr lang="en-US" altLang="zh-CN" sz="3200" i="1" dirty="0"/>
              <a:t>B</a:t>
            </a:r>
            <a:r>
              <a:rPr lang="en-US" altLang="zh-CN" sz="3200" dirty="0"/>
              <a:t> | </a:t>
            </a:r>
            <a:r>
              <a:rPr lang="en-US" altLang="zh-CN" sz="3200" i="1" dirty="0"/>
              <a:t>x</a:t>
            </a:r>
            <a:r>
              <a:rPr lang="en-US" altLang="zh-CN" sz="3200" dirty="0"/>
              <a:t> </a:t>
            </a:r>
            <a:r>
              <a:rPr lang="en-US" altLang="zh-CN" sz="3200" i="1" dirty="0"/>
              <a:t>R</a:t>
            </a:r>
            <a:r>
              <a:rPr lang="en-US" altLang="zh-CN" sz="3200" dirty="0"/>
              <a:t> </a:t>
            </a:r>
            <a:r>
              <a:rPr lang="en-US" altLang="zh-CN" sz="3200" i="1" dirty="0"/>
              <a:t>y</a:t>
            </a:r>
            <a:r>
              <a:rPr lang="en-US" altLang="zh-CN" sz="3200" dirty="0"/>
              <a:t>}.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>
            <a:extLst>
              <a:ext uri="{FF2B5EF4-FFF2-40B4-BE49-F238E27FC236}">
                <a16:creationId xmlns:a16="http://schemas.microsoft.com/office/drawing/2014/main" id="{DAA21FA2-4764-7A4F-44EE-99940C036C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424A769-97D4-4CDC-B6D0-F861939A9143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4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3315" name="日期占位符 4">
            <a:extLst>
              <a:ext uri="{FF2B5EF4-FFF2-40B4-BE49-F238E27FC236}">
                <a16:creationId xmlns:a16="http://schemas.microsoft.com/office/drawing/2014/main" id="{402E7367-6FA9-EA88-A8F1-F7BEC619E273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AB21DD4-7F82-4DD9-980A-F4B13CAADF4D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3316" name="页脚占位符 5">
            <a:extLst>
              <a:ext uri="{FF2B5EF4-FFF2-40B4-BE49-F238E27FC236}">
                <a16:creationId xmlns:a16="http://schemas.microsoft.com/office/drawing/2014/main" id="{4F1D4934-DADE-DAD9-A587-34CB082C9D5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5E45ECF5-1B42-D754-1B8C-BDC32A0D90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Matrix of a Relation</a:t>
            </a:r>
            <a:endParaRPr lang="zh-CN" altLang="en-US"/>
          </a:p>
        </p:txBody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B689D54B-3591-AD1A-5033-11A14352C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Let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= {</a:t>
            </a:r>
            <a:r>
              <a:rPr lang="en-US" altLang="zh-CN" sz="2800" i="1" dirty="0" err="1"/>
              <a:t>a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 err="1"/>
              <a:t>a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, . . . ,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m</a:t>
            </a:r>
            <a:r>
              <a:rPr lang="en-US" altLang="zh-CN" sz="2800" dirty="0"/>
              <a:t>} and </a:t>
            </a:r>
            <a:r>
              <a:rPr lang="en-US" altLang="zh-CN" sz="2800" i="1" dirty="0"/>
              <a:t>B</a:t>
            </a:r>
            <a:r>
              <a:rPr lang="en-US" altLang="zh-CN" sz="2800" dirty="0"/>
              <a:t> = {</a:t>
            </a:r>
            <a:r>
              <a:rPr lang="en-US" altLang="zh-CN" sz="2800" i="1" dirty="0" err="1"/>
              <a:t>b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 err="1"/>
              <a:t>b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, . . . , </a:t>
            </a:r>
            <a:r>
              <a:rPr lang="en-US" altLang="zh-CN" sz="2800" i="1" dirty="0"/>
              <a:t>b</a:t>
            </a:r>
            <a:r>
              <a:rPr lang="en-US" altLang="zh-CN" sz="2800" baseline="-25000" dirty="0"/>
              <a:t>n</a:t>
            </a:r>
            <a:r>
              <a:rPr lang="en-US" altLang="zh-CN" sz="2800" dirty="0"/>
              <a:t>},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a relation from </a:t>
            </a:r>
            <a:r>
              <a:rPr lang="en-US" altLang="zh-CN" sz="2800" i="1" dirty="0"/>
              <a:t>A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B</a:t>
            </a:r>
            <a:r>
              <a:rPr lang="en-US" altLang="zh-CN" sz="2800" dirty="0"/>
              <a:t>. </a:t>
            </a:r>
          </a:p>
          <a:p>
            <a:pPr eaLnBrk="1" hangingPunct="1"/>
            <a:r>
              <a:rPr lang="en-US" altLang="zh-CN" sz="2800" dirty="0"/>
              <a:t>The </a:t>
            </a:r>
            <a:r>
              <a:rPr lang="en-US" altLang="zh-CN" sz="2800" i="1" dirty="0"/>
              <a:t>m</a:t>
            </a:r>
            <a:r>
              <a:rPr lang="en-US" altLang="zh-CN" sz="2800" dirty="0"/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</a:t>
            </a:r>
            <a:r>
              <a:rPr lang="en-US" altLang="zh-CN" sz="2800" dirty="0"/>
              <a:t> </a:t>
            </a:r>
            <a:r>
              <a:rPr lang="en-US" altLang="zh-CN" sz="2800" i="1" dirty="0"/>
              <a:t>n</a:t>
            </a:r>
            <a:r>
              <a:rPr lang="en-US" altLang="zh-CN" sz="2800" dirty="0"/>
              <a:t> matrix M</a:t>
            </a:r>
            <a:r>
              <a:rPr lang="en-US" altLang="zh-CN" sz="2800" i="1" baseline="-25000" dirty="0"/>
              <a:t>R</a:t>
            </a:r>
            <a:r>
              <a:rPr lang="en-US" altLang="zh-CN" sz="2800" dirty="0"/>
              <a:t> = [ </a:t>
            </a:r>
            <a:r>
              <a:rPr lang="en-US" altLang="zh-CN" sz="2800" i="1" dirty="0" err="1"/>
              <a:t>m</a:t>
            </a:r>
            <a:r>
              <a:rPr lang="en-US" altLang="zh-CN" sz="2800" i="1" baseline="-25000" dirty="0" err="1"/>
              <a:t>ij</a:t>
            </a:r>
            <a:r>
              <a:rPr lang="en-US" altLang="zh-CN" sz="2800" dirty="0"/>
              <a:t> ] defined by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en-US" altLang="zh-CN" sz="2800" dirty="0"/>
              <a:t>the </a:t>
            </a:r>
            <a:r>
              <a:rPr lang="en-US" altLang="zh-CN" sz="2800" i="1" dirty="0"/>
              <a:t>join </a:t>
            </a:r>
            <a:r>
              <a:rPr lang="en-US" altLang="zh-CN" sz="2800" dirty="0"/>
              <a:t>of two matrices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, denoted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Ú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 , is the connection matrix for </a:t>
            </a:r>
            <a:r>
              <a:rPr lang="en-US" altLang="zh-CN" sz="2800" i="1" dirty="0" err="1"/>
              <a:t>R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È </a:t>
            </a:r>
            <a:r>
              <a:rPr lang="en-US" altLang="zh-CN" sz="2800" i="1" dirty="0" err="1"/>
              <a:t>R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.</a:t>
            </a:r>
          </a:p>
          <a:p>
            <a:pPr eaLnBrk="1" hangingPunct="1"/>
            <a:r>
              <a:rPr lang="en-US" altLang="zh-CN" sz="2800" dirty="0"/>
              <a:t>the </a:t>
            </a:r>
            <a:r>
              <a:rPr lang="en-US" altLang="zh-CN" sz="2800" i="1" dirty="0"/>
              <a:t>meet </a:t>
            </a:r>
            <a:r>
              <a:rPr lang="en-US" altLang="zh-CN" sz="2800" dirty="0"/>
              <a:t>of two matrices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, denoted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Ù </a:t>
            </a:r>
            <a:r>
              <a:rPr lang="en-US" altLang="zh-CN" sz="2800" i="1" dirty="0" err="1"/>
              <a:t>M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 ,is the connection matrix for </a:t>
            </a:r>
            <a:r>
              <a:rPr lang="en-US" altLang="zh-CN" sz="2800" i="1" dirty="0" err="1"/>
              <a:t>R</a:t>
            </a:r>
            <a:r>
              <a:rPr lang="en-US" altLang="zh-CN" sz="2800" baseline="-25000" dirty="0" err="1"/>
              <a:t>1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Ç </a:t>
            </a:r>
            <a:r>
              <a:rPr lang="en-US" altLang="zh-CN" sz="2800" i="1" dirty="0" err="1"/>
              <a:t>R</a:t>
            </a:r>
            <a:r>
              <a:rPr lang="en-US" altLang="zh-CN" sz="2800" baseline="-25000" dirty="0" err="1"/>
              <a:t>2</a:t>
            </a:r>
            <a:r>
              <a:rPr lang="en-US" altLang="zh-CN" sz="2800" dirty="0"/>
              <a:t> .</a:t>
            </a:r>
          </a:p>
          <a:p>
            <a:pPr eaLnBrk="1" hangingPunct="1"/>
            <a:endParaRPr lang="zh-CN" altLang="en-US" sz="2800" dirty="0"/>
          </a:p>
        </p:txBody>
      </p:sp>
      <p:graphicFrame>
        <p:nvGraphicFramePr>
          <p:cNvPr id="13319" name="Object 4">
            <a:extLst>
              <a:ext uri="{FF2B5EF4-FFF2-40B4-BE49-F238E27FC236}">
                <a16:creationId xmlns:a16="http://schemas.microsoft.com/office/drawing/2014/main" id="{C8CA8C0E-7BBD-7F92-2E59-9A7BC5F7A290}"/>
              </a:ext>
            </a:extLst>
          </p:cNvPr>
          <p:cNvGraphicFramePr>
            <a:graphicFrameLocks/>
          </p:cNvGraphicFramePr>
          <p:nvPr/>
        </p:nvGraphicFramePr>
        <p:xfrm>
          <a:off x="2916238" y="3500438"/>
          <a:ext cx="316865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21783" imgH="482391" progId="Equation.DSMT4">
                  <p:embed/>
                </p:oleObj>
              </mc:Choice>
              <mc:Fallback>
                <p:oleObj r:id="rId2" imgW="1421783" imgH="482391" progId="Equation.DSMT4">
                  <p:embed/>
                  <p:pic>
                    <p:nvPicPr>
                      <p:cNvPr id="13319" name="Object 4">
                        <a:extLst>
                          <a:ext uri="{FF2B5EF4-FFF2-40B4-BE49-F238E27FC236}">
                            <a16:creationId xmlns:a16="http://schemas.microsoft.com/office/drawing/2014/main" id="{C8CA8C0E-7BBD-7F92-2E59-9A7BC5F7A2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00438"/>
                        <a:ext cx="3168650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>
            <a:extLst>
              <a:ext uri="{FF2B5EF4-FFF2-40B4-BE49-F238E27FC236}">
                <a16:creationId xmlns:a16="http://schemas.microsoft.com/office/drawing/2014/main" id="{1283604A-8575-B2AE-610B-2150FA0E71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57D6A70-738F-4784-B7DB-77FF64C2AD6C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5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5363" name="日期占位符 4">
            <a:extLst>
              <a:ext uri="{FF2B5EF4-FFF2-40B4-BE49-F238E27FC236}">
                <a16:creationId xmlns:a16="http://schemas.microsoft.com/office/drawing/2014/main" id="{61CC19C9-E33E-D80C-4E38-E604B16C68B5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2EDFAB0-7970-4E08-B24E-5242FB9E862A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5364" name="页脚占位符 5">
            <a:extLst>
              <a:ext uri="{FF2B5EF4-FFF2-40B4-BE49-F238E27FC236}">
                <a16:creationId xmlns:a16="http://schemas.microsoft.com/office/drawing/2014/main" id="{7B682FB8-4B63-7D62-5C1A-877023CAAEC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F6BAB1D9-30C5-014B-F738-B7B28DF28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Closure</a:t>
            </a:r>
            <a:endParaRPr lang="zh-CN" altLang="en-US"/>
          </a:p>
        </p:txBody>
      </p:sp>
      <p:sp>
        <p:nvSpPr>
          <p:cNvPr id="15366" name="Rectangle 3">
            <a:extLst>
              <a:ext uri="{FF2B5EF4-FFF2-40B4-BE49-F238E27FC236}">
                <a16:creationId xmlns:a16="http://schemas.microsoft.com/office/drawing/2014/main" id="{0783B564-B798-66BD-08FC-2000EDC62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i="1" dirty="0"/>
              <a:t>closure</a:t>
            </a:r>
            <a:r>
              <a:rPr lang="en-US" altLang="zh-CN" sz="2800" dirty="0"/>
              <a:t>(</a:t>
            </a:r>
            <a:r>
              <a:rPr lang="zh-CN" altLang="en-US" sz="2800" dirty="0"/>
              <a:t>闭包</a:t>
            </a:r>
            <a:r>
              <a:rPr lang="en-US" altLang="zh-CN" sz="2800" dirty="0"/>
              <a:t>) of a relation </a:t>
            </a:r>
            <a:r>
              <a:rPr lang="en-US" altLang="zh-CN" sz="2800" i="1" dirty="0"/>
              <a:t>R</a:t>
            </a:r>
            <a:r>
              <a:rPr lang="en-US" altLang="zh-CN" sz="2800" dirty="0"/>
              <a:t> with respect to property </a:t>
            </a:r>
            <a:r>
              <a:rPr lang="en-US" altLang="zh-CN" sz="2800" i="1" dirty="0"/>
              <a:t>P</a:t>
            </a:r>
            <a:r>
              <a:rPr lang="en-US" altLang="zh-CN" sz="2800" dirty="0"/>
              <a:t> is the relation obtained by adding the </a:t>
            </a:r>
            <a:r>
              <a:rPr lang="en-US" altLang="zh-CN" sz="2800" i="1" dirty="0"/>
              <a:t>minimum number of ordered pairs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R</a:t>
            </a:r>
            <a:r>
              <a:rPr lang="en-US" altLang="zh-CN" sz="2800" dirty="0"/>
              <a:t> to obtain property </a:t>
            </a:r>
            <a:r>
              <a:rPr lang="en-US" altLang="zh-CN" sz="2800" i="1" dirty="0"/>
              <a:t>P</a:t>
            </a:r>
            <a:r>
              <a:rPr lang="en-US" altLang="zh-CN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noProof="1"/>
              <a:t>Theorem: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noProof="1"/>
              <a:t>Let </a:t>
            </a:r>
            <a:r>
              <a:rPr lang="en-US" altLang="zh-CN" i="1" noProof="1"/>
              <a:t>R </a:t>
            </a:r>
            <a:r>
              <a:rPr lang="en-US" altLang="zh-CN" noProof="1"/>
              <a:t>be a relation on 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noProof="1"/>
              <a:t>The </a:t>
            </a:r>
            <a:r>
              <a:rPr lang="en-US" altLang="zh-CN" i="1" noProof="1"/>
              <a:t>reflexive closure </a:t>
            </a:r>
            <a:r>
              <a:rPr lang="en-US" altLang="zh-CN" noProof="1"/>
              <a:t>of </a:t>
            </a:r>
            <a:r>
              <a:rPr lang="en-US" altLang="zh-CN" i="1" noProof="1"/>
              <a:t>R</a:t>
            </a:r>
            <a:r>
              <a:rPr lang="en-US" altLang="zh-CN" noProof="1"/>
              <a:t>, denoted r(</a:t>
            </a:r>
            <a:r>
              <a:rPr lang="en-US" altLang="zh-CN" i="1" noProof="1"/>
              <a:t>R</a:t>
            </a:r>
            <a:r>
              <a:rPr lang="en-US" altLang="zh-CN" noProof="1"/>
              <a:t>), is </a:t>
            </a:r>
            <a:r>
              <a:rPr lang="en-US" altLang="zh-CN" i="1" noProof="1"/>
              <a:t>R</a:t>
            </a:r>
            <a:r>
              <a:rPr lang="en-US" altLang="zh-CN" noProof="1">
                <a:latin typeface="Symbol" panose="05050102010706020507" pitchFamily="18" charset="2"/>
              </a:rPr>
              <a:t>ÈD</a:t>
            </a:r>
            <a:r>
              <a:rPr lang="en-US" altLang="zh-CN" noProof="1"/>
              <a:t>.</a:t>
            </a:r>
          </a:p>
          <a:p>
            <a:pPr lvl="1" eaLnBrk="1" hangingPunct="1"/>
            <a:r>
              <a:rPr lang="en-US" altLang="zh-CN" noProof="1">
                <a:sym typeface="+mn-ea"/>
              </a:rPr>
              <a:t>The </a:t>
            </a:r>
            <a:r>
              <a:rPr lang="en-US" altLang="zh-CN" i="1" noProof="1">
                <a:sym typeface="+mn-ea"/>
              </a:rPr>
              <a:t>symmetric closure </a:t>
            </a:r>
            <a:r>
              <a:rPr lang="en-US" altLang="zh-CN" noProof="1">
                <a:sym typeface="+mn-ea"/>
              </a:rPr>
              <a:t>of 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noProof="1">
                <a:sym typeface="+mn-ea"/>
              </a:rPr>
              <a:t>, denoted s(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noProof="1">
                <a:sym typeface="+mn-ea"/>
              </a:rPr>
              <a:t>), is the relation 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noProof="1">
                <a:latin typeface="Symbol" panose="05050102010706020507" pitchFamily="18" charset="2"/>
                <a:sym typeface="+mn-ea"/>
              </a:rPr>
              <a:t>È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baseline="30000" noProof="1">
                <a:latin typeface="Symbol" panose="05050102010706020507" pitchFamily="18" charset="2"/>
                <a:sym typeface="+mn-ea"/>
              </a:rPr>
              <a:t>-</a:t>
            </a:r>
            <a:r>
              <a:rPr lang="en-US" altLang="zh-CN" baseline="30000" noProof="1">
                <a:sym typeface="+mn-ea"/>
              </a:rPr>
              <a:t>1</a:t>
            </a:r>
            <a:r>
              <a:rPr lang="en-US" altLang="zh-CN" noProof="1">
                <a:sym typeface="+mn-ea"/>
              </a:rPr>
              <a:t>.  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baseline="30000" noProof="1">
                <a:latin typeface="Symbol" panose="05050102010706020507" pitchFamily="18" charset="2"/>
                <a:sym typeface="+mn-ea"/>
              </a:rPr>
              <a:t>-</a:t>
            </a:r>
            <a:r>
              <a:rPr lang="en-US" altLang="zh-CN" baseline="30000" noProof="1">
                <a:sym typeface="+mn-ea"/>
              </a:rPr>
              <a:t>1</a:t>
            </a:r>
            <a:r>
              <a:rPr lang="en-US" altLang="zh-CN" noProof="1">
                <a:sym typeface="+mn-ea"/>
              </a:rPr>
              <a:t>={(b,a) | (a,b)</a:t>
            </a:r>
            <a:r>
              <a:rPr lang="en-US" altLang="zh-CN" noProof="1">
                <a:sym typeface="Symbol" panose="05050102010706020507" pitchFamily="18" charset="2"/>
              </a:rPr>
              <a:t></a:t>
            </a:r>
            <a:r>
              <a:rPr lang="en-US" altLang="zh-CN" i="1" noProof="1">
                <a:sym typeface="Symbol" panose="05050102010706020507" pitchFamily="18" charset="2"/>
              </a:rPr>
              <a:t>R</a:t>
            </a:r>
            <a:r>
              <a:rPr lang="en-US" altLang="zh-CN" noProof="1">
                <a:sym typeface="+mn-ea"/>
              </a:rPr>
              <a:t>}</a:t>
            </a:r>
          </a:p>
          <a:p>
            <a:pPr lvl="1" eaLnBrk="1" hangingPunct="1"/>
            <a:r>
              <a:rPr lang="en-US" altLang="zh-CN" noProof="1">
                <a:sym typeface="+mn-ea"/>
              </a:rPr>
              <a:t>the transitive closure of </a:t>
            </a:r>
            <a:r>
              <a:rPr lang="en-US" altLang="zh-CN" i="1" noProof="1">
                <a:sym typeface="+mn-ea"/>
              </a:rPr>
              <a:t>R, </a:t>
            </a:r>
            <a:r>
              <a:rPr lang="en-US" altLang="zh-CN" noProof="1">
                <a:sym typeface="+mn-ea"/>
              </a:rPr>
              <a:t>denoted t(</a:t>
            </a:r>
            <a:r>
              <a:rPr lang="en-US" altLang="zh-CN" i="1" noProof="1">
                <a:sym typeface="+mn-ea"/>
              </a:rPr>
              <a:t>R</a:t>
            </a:r>
            <a:r>
              <a:rPr lang="en-US" altLang="zh-CN" noProof="1">
                <a:sym typeface="+mn-ea"/>
              </a:rPr>
              <a:t>),</a:t>
            </a:r>
            <a:endParaRPr lang="en-US" altLang="zh-CN" noProof="1"/>
          </a:p>
          <a:p>
            <a:pPr eaLnBrk="1" hangingPunct="1">
              <a:lnSpc>
                <a:spcPct val="90000"/>
              </a:lnSpc>
            </a:pPr>
            <a:endParaRPr lang="en-US" altLang="zh-CN" sz="2800" noProof="1"/>
          </a:p>
          <a:p>
            <a:pPr lvl="1" eaLnBrk="1" hangingPunct="1">
              <a:lnSpc>
                <a:spcPct val="90000"/>
              </a:lnSpc>
            </a:pPr>
            <a:endParaRPr lang="en-US" altLang="en-US" noProof="1"/>
          </a:p>
        </p:txBody>
      </p:sp>
      <p:graphicFrame>
        <p:nvGraphicFramePr>
          <p:cNvPr id="15368" name="Object 4">
            <a:extLst>
              <a:ext uri="{FF2B5EF4-FFF2-40B4-BE49-F238E27FC236}">
                <a16:creationId xmlns:a16="http://schemas.microsoft.com/office/drawing/2014/main" id="{0952E612-4B9D-2D43-F136-71790DDD1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2271290"/>
              </p:ext>
            </p:extLst>
          </p:nvPr>
        </p:nvGraphicFramePr>
        <p:xfrm>
          <a:off x="1907704" y="5814186"/>
          <a:ext cx="424815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97703" imgH="431613" progId="Equation.DSMT4">
                  <p:embed/>
                </p:oleObj>
              </mc:Choice>
              <mc:Fallback>
                <p:oleObj r:id="rId2" imgW="2297703" imgH="431613" progId="Equation.DSMT4">
                  <p:embed/>
                  <p:pic>
                    <p:nvPicPr>
                      <p:cNvPr id="15368" name="Object 4">
                        <a:extLst>
                          <a:ext uri="{FF2B5EF4-FFF2-40B4-BE49-F238E27FC236}">
                            <a16:creationId xmlns:a16="http://schemas.microsoft.com/office/drawing/2014/main" id="{0952E612-4B9D-2D43-F136-71790DDD12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814186"/>
                        <a:ext cx="424815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>
            <a:extLst>
              <a:ext uri="{FF2B5EF4-FFF2-40B4-BE49-F238E27FC236}">
                <a16:creationId xmlns:a16="http://schemas.microsoft.com/office/drawing/2014/main" id="{AAC862C3-E5C0-A754-F9B6-D24BDD9BA1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0BCAC5D-75CC-411F-839B-C8C9B4E55342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6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7411" name="日期占位符 4">
            <a:extLst>
              <a:ext uri="{FF2B5EF4-FFF2-40B4-BE49-F238E27FC236}">
                <a16:creationId xmlns:a16="http://schemas.microsoft.com/office/drawing/2014/main" id="{32211510-C937-3B0A-B1DB-0B9BE2F07CF3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BC91F71-F9A2-452E-923B-308B6CAD4B14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17412" name="页脚占位符 5">
            <a:extLst>
              <a:ext uri="{FF2B5EF4-FFF2-40B4-BE49-F238E27FC236}">
                <a16:creationId xmlns:a16="http://schemas.microsoft.com/office/drawing/2014/main" id="{C6FCC8C6-E8FF-CFC6-E18E-EB015A7765D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graphicFrame>
        <p:nvGraphicFramePr>
          <p:cNvPr id="17413" name="Object 3">
            <a:extLst>
              <a:ext uri="{FF2B5EF4-FFF2-40B4-BE49-F238E27FC236}">
                <a16:creationId xmlns:a16="http://schemas.microsoft.com/office/drawing/2014/main" id="{1D9919F5-F07D-F194-11F1-6E4A0CF8BA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19250" y="1989138"/>
          <a:ext cx="6513513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2260600" progId="Equation.DSMT4">
                  <p:embed/>
                </p:oleObj>
              </mc:Choice>
              <mc:Fallback>
                <p:oleObj r:id="rId2" imgW="3657600" imgH="2260600" progId="Equation.DSMT4">
                  <p:embed/>
                  <p:pic>
                    <p:nvPicPr>
                      <p:cNvPr id="17413" name="Object 3">
                        <a:extLst>
                          <a:ext uri="{FF2B5EF4-FFF2-40B4-BE49-F238E27FC236}">
                            <a16:creationId xmlns:a16="http://schemas.microsoft.com/office/drawing/2014/main" id="{1D9919F5-F07D-F194-11F1-6E4A0CF8BABD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89138"/>
                        <a:ext cx="6513513" cy="402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2">
            <a:extLst>
              <a:ext uri="{FF2B5EF4-FFF2-40B4-BE49-F238E27FC236}">
                <a16:creationId xmlns:a16="http://schemas.microsoft.com/office/drawing/2014/main" id="{38D337A4-E70B-3DF5-E75B-F64646421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Warshall’s Algorithm</a:t>
            </a:r>
            <a:endParaRPr lang="zh-CN" altLang="en-US"/>
          </a:p>
        </p:txBody>
      </p:sp>
      <p:grpSp>
        <p:nvGrpSpPr>
          <p:cNvPr id="17415" name="Group 4">
            <a:extLst>
              <a:ext uri="{FF2B5EF4-FFF2-40B4-BE49-F238E27FC236}">
                <a16:creationId xmlns:a16="http://schemas.microsoft.com/office/drawing/2014/main" id="{83E96B82-83AC-19D2-56CC-57E7A2D04B9D}"/>
              </a:ext>
            </a:extLst>
          </p:cNvPr>
          <p:cNvGrpSpPr>
            <a:grpSpLocks/>
          </p:cNvGrpSpPr>
          <p:nvPr/>
        </p:nvGrpSpPr>
        <p:grpSpPr bwMode="auto">
          <a:xfrm>
            <a:off x="6091238" y="331788"/>
            <a:ext cx="2611437" cy="1338262"/>
            <a:chOff x="3466" y="2886"/>
            <a:chExt cx="1645" cy="843"/>
          </a:xfrm>
        </p:grpSpPr>
        <p:sp>
          <p:nvSpPr>
            <p:cNvPr id="17416" name="Oval 5">
              <a:extLst>
                <a:ext uri="{FF2B5EF4-FFF2-40B4-BE49-F238E27FC236}">
                  <a16:creationId xmlns:a16="http://schemas.microsoft.com/office/drawing/2014/main" id="{40F6511C-1191-6440-8D15-64ECC51B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2919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7417" name="Oval 6">
              <a:extLst>
                <a:ext uri="{FF2B5EF4-FFF2-40B4-BE49-F238E27FC236}">
                  <a16:creationId xmlns:a16="http://schemas.microsoft.com/office/drawing/2014/main" id="{A3DC3798-3D49-FA84-CBFD-58FE55B9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" y="3518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7418" name="Oval 7">
              <a:extLst>
                <a:ext uri="{FF2B5EF4-FFF2-40B4-BE49-F238E27FC236}">
                  <a16:creationId xmlns:a16="http://schemas.microsoft.com/office/drawing/2014/main" id="{ECB0D325-5972-6A62-5D9D-268BD9E01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5" y="3545"/>
              <a:ext cx="181" cy="18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7419" name="Arc 8">
              <a:extLst>
                <a:ext uri="{FF2B5EF4-FFF2-40B4-BE49-F238E27FC236}">
                  <a16:creationId xmlns:a16="http://schemas.microsoft.com/office/drawing/2014/main" id="{CB25DEC2-154B-6AA9-AAA3-A869FFD476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926926" flipV="1">
              <a:off x="3820" y="2871"/>
              <a:ext cx="91" cy="811"/>
            </a:xfrm>
            <a:custGeom>
              <a:avLst/>
              <a:gdLst>
                <a:gd name="T0" fmla="*/ 0 w 21600"/>
                <a:gd name="T1" fmla="*/ 17 h 37867"/>
                <a:gd name="T2" fmla="*/ 0 w 21600"/>
                <a:gd name="T3" fmla="*/ 9 h 37867"/>
                <a:gd name="T4" fmla="*/ 0 w 21600"/>
                <a:gd name="T5" fmla="*/ 0 h 37867"/>
                <a:gd name="T6" fmla="*/ 0 w 21600"/>
                <a:gd name="T7" fmla="*/ 17 h 37867"/>
                <a:gd name="T8" fmla="*/ 0 w 21600"/>
                <a:gd name="T9" fmla="*/ 9 h 37867"/>
                <a:gd name="T10" fmla="*/ 0 w 21600"/>
                <a:gd name="T11" fmla="*/ 0 h 37867"/>
                <a:gd name="T12" fmla="*/ 0 w 21600"/>
                <a:gd name="T13" fmla="*/ 9 h 378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00" h="37867" fill="none">
                  <a:moveTo>
                    <a:pt x="9740" y="37866"/>
                  </a:moveTo>
                  <a:cubicBezTo>
                    <a:pt x="3660" y="33873"/>
                    <a:pt x="0" y="27087"/>
                    <a:pt x="0" y="19814"/>
                  </a:cubicBezTo>
                  <a:cubicBezTo>
                    <a:pt x="-1" y="11209"/>
                    <a:pt x="5107" y="3425"/>
                    <a:pt x="13000" y="-1"/>
                  </a:cubicBezTo>
                </a:path>
                <a:path w="21600" h="37867" stroke="0">
                  <a:moveTo>
                    <a:pt x="9740" y="37866"/>
                  </a:moveTo>
                  <a:cubicBezTo>
                    <a:pt x="3660" y="33873"/>
                    <a:pt x="0" y="27087"/>
                    <a:pt x="0" y="19814"/>
                  </a:cubicBezTo>
                  <a:cubicBezTo>
                    <a:pt x="-1" y="11209"/>
                    <a:pt x="5107" y="3425"/>
                    <a:pt x="13000" y="-1"/>
                  </a:cubicBezTo>
                  <a:lnTo>
                    <a:pt x="21600" y="19814"/>
                  </a:lnTo>
                  <a:lnTo>
                    <a:pt x="9740" y="37866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miter lim="800000"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0" name="Arc 9">
              <a:extLst>
                <a:ext uri="{FF2B5EF4-FFF2-40B4-BE49-F238E27FC236}">
                  <a16:creationId xmlns:a16="http://schemas.microsoft.com/office/drawing/2014/main" id="{91E483CE-AA38-EE2A-8A5F-7F70D934CD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98813" flipH="1" flipV="1">
              <a:off x="4310" y="3167"/>
              <a:ext cx="780" cy="206"/>
            </a:xfrm>
            <a:custGeom>
              <a:avLst/>
              <a:gdLst>
                <a:gd name="T0" fmla="*/ 20 w 30275"/>
                <a:gd name="T1" fmla="*/ 2 h 21600"/>
                <a:gd name="T2" fmla="*/ 14 w 30275"/>
                <a:gd name="T3" fmla="*/ 2 h 21600"/>
                <a:gd name="T4" fmla="*/ 0 w 30275"/>
                <a:gd name="T5" fmla="*/ 0 h 21600"/>
                <a:gd name="T6" fmla="*/ 20 w 30275"/>
                <a:gd name="T7" fmla="*/ 2 h 21600"/>
                <a:gd name="T8" fmla="*/ 14 w 30275"/>
                <a:gd name="T9" fmla="*/ 2 h 21600"/>
                <a:gd name="T10" fmla="*/ 0 w 30275"/>
                <a:gd name="T11" fmla="*/ 0 h 21600"/>
                <a:gd name="T12" fmla="*/ 14 w 30275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275" h="21600" fill="none">
                  <a:moveTo>
                    <a:pt x="30275" y="19755"/>
                  </a:moveTo>
                  <a:cubicBezTo>
                    <a:pt x="27523" y="20971"/>
                    <a:pt x="24549" y="21599"/>
                    <a:pt x="21541" y="21600"/>
                  </a:cubicBezTo>
                  <a:cubicBezTo>
                    <a:pt x="10231" y="21600"/>
                    <a:pt x="837" y="12876"/>
                    <a:pt x="0" y="1598"/>
                  </a:cubicBezTo>
                </a:path>
                <a:path w="30275" h="21600" stroke="0">
                  <a:moveTo>
                    <a:pt x="30275" y="19755"/>
                  </a:moveTo>
                  <a:cubicBezTo>
                    <a:pt x="27523" y="20971"/>
                    <a:pt x="24549" y="21599"/>
                    <a:pt x="21541" y="21600"/>
                  </a:cubicBezTo>
                  <a:cubicBezTo>
                    <a:pt x="10231" y="21600"/>
                    <a:pt x="837" y="12876"/>
                    <a:pt x="0" y="1598"/>
                  </a:cubicBezTo>
                  <a:lnTo>
                    <a:pt x="21541" y="0"/>
                  </a:lnTo>
                  <a:lnTo>
                    <a:pt x="30275" y="19755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1" name="Text Box 10">
              <a:extLst>
                <a:ext uri="{FF2B5EF4-FFF2-40B4-BE49-F238E27FC236}">
                  <a16:creationId xmlns:a16="http://schemas.microsoft.com/office/drawing/2014/main" id="{B809919B-FD94-3DAE-675E-7CC1A6845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" y="2886"/>
              <a:ext cx="21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i="1">
                  <a:solidFill>
                    <a:schemeClr val="hlink"/>
                  </a:solidFill>
                  <a:latin typeface="Georgia" panose="02040502050405020303" pitchFamily="18" charset="0"/>
                </a:rPr>
                <a:t>a</a:t>
              </a:r>
              <a:r>
                <a:rPr lang="en-US" altLang="zh-CN" sz="1400" i="1" baseline="-25000">
                  <a:solidFill>
                    <a:schemeClr val="hlink"/>
                  </a:solidFill>
                  <a:latin typeface="Georgia" panose="02040502050405020303" pitchFamily="18" charset="0"/>
                </a:rPr>
                <a:t>k</a:t>
              </a:r>
            </a:p>
          </p:txBody>
        </p:sp>
        <p:sp>
          <p:nvSpPr>
            <p:cNvPr id="17422" name="Text Box 11">
              <a:extLst>
                <a:ext uri="{FF2B5EF4-FFF2-40B4-BE49-F238E27FC236}">
                  <a16:creationId xmlns:a16="http://schemas.microsoft.com/office/drawing/2014/main" id="{004F1AE0-90F9-4762-BB4B-7BCA4BA30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0" y="3500"/>
              <a:ext cx="2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i="1">
                  <a:solidFill>
                    <a:schemeClr val="hlink"/>
                  </a:solidFill>
                  <a:latin typeface="Georgia" panose="02040502050405020303" pitchFamily="18" charset="0"/>
                </a:rPr>
                <a:t>a</a:t>
              </a:r>
              <a:r>
                <a:rPr lang="en-US" altLang="zh-CN" sz="1400" i="1" baseline="-25000">
                  <a:solidFill>
                    <a:schemeClr val="hlink"/>
                  </a:solidFill>
                  <a:latin typeface="Georgia" panose="02040502050405020303" pitchFamily="18" charset="0"/>
                </a:rPr>
                <a:t>j</a:t>
              </a:r>
            </a:p>
          </p:txBody>
        </p:sp>
        <p:sp>
          <p:nvSpPr>
            <p:cNvPr id="17423" name="Text Box 12">
              <a:extLst>
                <a:ext uri="{FF2B5EF4-FFF2-40B4-BE49-F238E27FC236}">
                  <a16:creationId xmlns:a16="http://schemas.microsoft.com/office/drawing/2014/main" id="{2463D89B-60C1-5A8E-5197-256547676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6" y="3537"/>
              <a:ext cx="2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400" i="1">
                  <a:solidFill>
                    <a:schemeClr val="hlink"/>
                  </a:solidFill>
                  <a:latin typeface="Georgia" panose="02040502050405020303" pitchFamily="18" charset="0"/>
                </a:rPr>
                <a:t>a</a:t>
              </a:r>
              <a:r>
                <a:rPr lang="en-US" altLang="zh-CN" sz="1400" i="1" baseline="-25000">
                  <a:solidFill>
                    <a:schemeClr val="hlink"/>
                  </a:solidFill>
                  <a:latin typeface="Georgia" panose="02040502050405020303" pitchFamily="18" charset="0"/>
                </a:rPr>
                <a:t>i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>
            <a:extLst>
              <a:ext uri="{FF2B5EF4-FFF2-40B4-BE49-F238E27FC236}">
                <a16:creationId xmlns:a16="http://schemas.microsoft.com/office/drawing/2014/main" id="{E8E84EE9-8EAB-2CAC-A7F1-EC078DB735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2001F760-1DF7-4326-A08E-A324D4954CBE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8195" name="日期占位符 4">
            <a:extLst>
              <a:ext uri="{FF2B5EF4-FFF2-40B4-BE49-F238E27FC236}">
                <a16:creationId xmlns:a16="http://schemas.microsoft.com/office/drawing/2014/main" id="{1F9E6853-E9A7-E010-D5B9-107724D70792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B75C61D-9FFF-4BC0-85C1-FA81D01CB5EF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8196" name="页脚占位符 5">
            <a:extLst>
              <a:ext uri="{FF2B5EF4-FFF2-40B4-BE49-F238E27FC236}">
                <a16:creationId xmlns:a16="http://schemas.microsoft.com/office/drawing/2014/main" id="{548DF3CC-FAD3-B326-5499-A1AA021D54D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32E2AC2B-F0CC-36A2-5527-BBF0B6B6E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i="1" noProof="1"/>
              <a:t>equivalence relation</a:t>
            </a:r>
            <a:endParaRPr lang="zh-CN" altLang="en-US" dirty="0"/>
          </a:p>
        </p:txBody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EBC7AF10-B696-5E03-C51A-A9B15C37D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47088"/>
            <a:ext cx="7772400" cy="43068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noProof="1"/>
              <a:t>A relation </a:t>
            </a:r>
            <a:r>
              <a:rPr lang="en-US" altLang="zh-CN" sz="2000" i="1" noProof="1"/>
              <a:t>R </a:t>
            </a:r>
            <a:r>
              <a:rPr lang="en-US" altLang="zh-CN" sz="2000" noProof="1"/>
              <a:t>on a set </a:t>
            </a:r>
            <a:r>
              <a:rPr lang="en-US" altLang="zh-CN" sz="2000" i="1" noProof="1"/>
              <a:t>A </a:t>
            </a:r>
            <a:r>
              <a:rPr lang="en-US" altLang="zh-CN" sz="2000" noProof="1"/>
              <a:t>is an </a:t>
            </a:r>
            <a:r>
              <a:rPr lang="en-US" altLang="zh-CN" sz="2000" i="1" noProof="1"/>
              <a:t>equivalence relation </a:t>
            </a:r>
            <a:r>
              <a:rPr lang="en-US" altLang="zh-CN" sz="2000" noProof="1"/>
              <a:t>(</a:t>
            </a:r>
            <a:r>
              <a:rPr lang="zh-CN" altLang="en-US" sz="2000" noProof="1"/>
              <a:t>等价关系</a:t>
            </a:r>
            <a:r>
              <a:rPr lang="en-US" altLang="zh-CN" sz="2000" noProof="1"/>
              <a:t>) iff </a:t>
            </a:r>
            <a:r>
              <a:rPr lang="en-US" altLang="zh-CN" sz="2000" i="1" noProof="1"/>
              <a:t>R </a:t>
            </a:r>
            <a:r>
              <a:rPr lang="en-US" altLang="zh-CN" sz="2000" noProof="1"/>
              <a:t>is </a:t>
            </a:r>
            <a:r>
              <a:rPr lang="en-US" altLang="zh-CN" sz="2000" i="1" noProof="1"/>
              <a:t>reflexive, symmetric, transitive. </a:t>
            </a:r>
          </a:p>
          <a:p>
            <a:pPr lvl="1">
              <a:lnSpc>
                <a:spcPct val="90000"/>
              </a:lnSpc>
            </a:pPr>
            <a:r>
              <a:rPr lang="en-US" altLang="zh-CN" sz="2000" i="1" dirty="0"/>
              <a:t>a R b </a:t>
            </a:r>
            <a:r>
              <a:rPr lang="en-US" altLang="zh-CN" sz="2000" i="1" dirty="0" err="1"/>
              <a:t>iff</a:t>
            </a:r>
            <a:r>
              <a:rPr lang="en-US" altLang="zh-CN" sz="2000" i="1" dirty="0"/>
              <a:t> R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en-US" altLang="zh-CN" sz="2000" dirty="0"/>
              <a:t>) = </a:t>
            </a:r>
            <a:r>
              <a:rPr lang="en-US" altLang="zh-CN" sz="2000" i="1" dirty="0"/>
              <a:t>R</a:t>
            </a:r>
            <a:r>
              <a:rPr lang="en-US" altLang="zh-CN" sz="2000" dirty="0"/>
              <a:t>(</a:t>
            </a:r>
            <a:r>
              <a:rPr lang="en-US" altLang="zh-CN" sz="2000" i="1" dirty="0"/>
              <a:t>b</a:t>
            </a:r>
            <a:r>
              <a:rPr lang="en-US" altLang="zh-CN" sz="2000" dirty="0"/>
              <a:t>)</a:t>
            </a:r>
            <a:endParaRPr lang="en-US" altLang="zh-CN" sz="2000" i="1" noProof="1"/>
          </a:p>
          <a:p>
            <a:r>
              <a:rPr lang="en-US" altLang="zh-CN" sz="2000" dirty="0"/>
              <a:t>Let </a:t>
            </a:r>
            <a:r>
              <a:rPr lang="en-US" altLang="zh-CN" sz="2000" i="1" dirty="0"/>
              <a:t>R</a:t>
            </a:r>
            <a:r>
              <a:rPr lang="en-US" altLang="zh-CN" sz="2000" dirty="0"/>
              <a:t> be an equivalence relation on a set </a:t>
            </a:r>
            <a:r>
              <a:rPr lang="en-US" altLang="zh-CN" sz="2000" i="1" dirty="0"/>
              <a:t>A. </a:t>
            </a:r>
            <a:r>
              <a:rPr lang="en-US" altLang="zh-CN" sz="2000" dirty="0"/>
              <a:t> The set of all elements that are related to an element </a:t>
            </a:r>
            <a:r>
              <a:rPr lang="en-US" altLang="zh-CN" sz="2000" i="1" dirty="0"/>
              <a:t>a</a:t>
            </a:r>
            <a:r>
              <a:rPr lang="en-US" altLang="zh-CN" sz="2000" dirty="0"/>
              <a:t> of </a:t>
            </a:r>
            <a:r>
              <a:rPr lang="en-US" altLang="zh-CN" sz="2000" i="1" dirty="0"/>
              <a:t>A</a:t>
            </a:r>
            <a:r>
              <a:rPr lang="en-US" altLang="zh-CN" sz="2000" dirty="0"/>
              <a:t> is called the  </a:t>
            </a:r>
            <a:r>
              <a:rPr lang="en-US" altLang="zh-CN" sz="2000" i="1" dirty="0"/>
              <a:t>equivalence class </a:t>
            </a:r>
            <a:r>
              <a:rPr lang="en-US" altLang="zh-CN" sz="2000" dirty="0"/>
              <a:t>of </a:t>
            </a:r>
            <a:r>
              <a:rPr lang="en-US" altLang="zh-CN" sz="2000" i="1" dirty="0"/>
              <a:t>a</a:t>
            </a:r>
            <a:r>
              <a:rPr lang="en-US" altLang="zh-CN" sz="2000" dirty="0"/>
              <a:t>. denoted by [</a:t>
            </a:r>
            <a:r>
              <a:rPr lang="en-US" altLang="zh-CN" sz="2000" i="1" dirty="0"/>
              <a:t>a</a:t>
            </a:r>
            <a:r>
              <a:rPr lang="en-US" altLang="zh-CN" sz="2000" dirty="0"/>
              <a:t>]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.   [</a:t>
            </a:r>
            <a:r>
              <a:rPr lang="en-US" altLang="zh-CN" sz="2000" i="1" dirty="0"/>
              <a:t>a</a:t>
            </a:r>
            <a:r>
              <a:rPr lang="en-US" altLang="zh-CN" sz="2000" dirty="0"/>
              <a:t>]</a:t>
            </a:r>
            <a:r>
              <a:rPr lang="en-US" altLang="zh-CN" sz="2000" i="1" baseline="-25000" dirty="0"/>
              <a:t>R </a:t>
            </a:r>
            <a:r>
              <a:rPr lang="en-US" altLang="zh-CN" sz="2000" i="1" dirty="0"/>
              <a:t>= </a:t>
            </a:r>
            <a:r>
              <a:rPr lang="en-US" altLang="zh-CN" sz="2000" dirty="0"/>
              <a:t>{</a:t>
            </a:r>
            <a:r>
              <a:rPr lang="en-US" altLang="zh-CN" sz="2000" i="1" dirty="0"/>
              <a:t>s|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a</a:t>
            </a:r>
            <a:r>
              <a:rPr lang="en-US" altLang="zh-CN" sz="2000" dirty="0" err="1"/>
              <a:t>,</a:t>
            </a:r>
            <a:r>
              <a:rPr lang="en-US" altLang="zh-CN" sz="2000" i="1" dirty="0" err="1"/>
              <a:t>s</a:t>
            </a:r>
            <a:r>
              <a:rPr lang="en-US" altLang="zh-CN" sz="2000" dirty="0"/>
              <a:t>)</a:t>
            </a:r>
            <a:r>
              <a:rPr lang="en-US" altLang="zh-CN" sz="2000" i="1" dirty="0"/>
              <a:t> </a:t>
            </a:r>
            <a:r>
              <a:rPr lang="en-US" altLang="zh-CN" sz="2000" dirty="0">
                <a:latin typeface="Cambria Math" panose="02040503050406030204"/>
                <a:ea typeface="Cambria Math" panose="02040503050406030204"/>
              </a:rPr>
              <a:t>∈</a:t>
            </a:r>
            <a:r>
              <a:rPr lang="en-US" altLang="zh-CN" sz="2000" i="1" dirty="0"/>
              <a:t> R. </a:t>
            </a:r>
          </a:p>
          <a:p>
            <a:pPr lvl="1"/>
            <a:r>
              <a:rPr lang="en-US" altLang="zh-CN" sz="2000" dirty="0"/>
              <a:t>[</a:t>
            </a:r>
            <a:r>
              <a:rPr lang="en-US" altLang="zh-CN" sz="2000" i="1" dirty="0"/>
              <a:t>a</a:t>
            </a:r>
            <a:r>
              <a:rPr lang="en-US" altLang="zh-CN" sz="2000" dirty="0"/>
              <a:t>] = 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or  [</a:t>
            </a:r>
            <a:r>
              <a:rPr lang="en-US" altLang="zh-CN" sz="2000" i="1" dirty="0"/>
              <a:t>a</a:t>
            </a:r>
            <a:r>
              <a:rPr lang="en-US" altLang="zh-CN" sz="2000" dirty="0"/>
              <a:t>] </a:t>
            </a:r>
            <a:r>
              <a:rPr lang="en-US" altLang="zh-CN" sz="2000" dirty="0">
                <a:latin typeface="Cambria Math" panose="02040503050406030204"/>
                <a:ea typeface="Cambria Math" panose="02040503050406030204"/>
              </a:rPr>
              <a:t>∩</a:t>
            </a:r>
            <a:r>
              <a:rPr lang="en-US" altLang="zh-CN" sz="2000" dirty="0"/>
              <a:t> [</a:t>
            </a:r>
            <a:r>
              <a:rPr lang="en-US" altLang="zh-CN" sz="2000" i="1" dirty="0"/>
              <a:t>b</a:t>
            </a:r>
            <a:r>
              <a:rPr lang="en-US" altLang="zh-CN" sz="2000" dirty="0"/>
              <a:t>] = </a:t>
            </a:r>
            <a:r>
              <a:rPr lang="en-US" altLang="zh-CN" sz="2000" dirty="0">
                <a:latin typeface="Cambria Math" panose="02040503050406030204"/>
                <a:ea typeface="Cambria Math" panose="02040503050406030204"/>
              </a:rPr>
              <a:t>∅</a:t>
            </a:r>
            <a:endParaRPr lang="en-US" altLang="zh-CN" sz="2000" i="1" dirty="0"/>
          </a:p>
          <a:p>
            <a:r>
              <a:rPr lang="en-US" altLang="zh-CN" sz="2000" dirty="0"/>
              <a:t>Let </a:t>
            </a:r>
            <a:r>
              <a:rPr lang="en-US" altLang="zh-CN" sz="2000" i="1" dirty="0"/>
              <a:t>R</a:t>
            </a:r>
            <a:r>
              <a:rPr lang="en-US" altLang="zh-CN" sz="2000" dirty="0"/>
              <a:t> be an equivalence relation on a set </a:t>
            </a:r>
            <a:r>
              <a:rPr lang="en-US" altLang="zh-CN" sz="2000" i="1" dirty="0"/>
              <a:t>S</a:t>
            </a:r>
            <a:r>
              <a:rPr lang="en-US" altLang="zh-CN" sz="2000" dirty="0"/>
              <a:t>.  Then the equivalence classes of </a:t>
            </a:r>
            <a:r>
              <a:rPr lang="en-US" altLang="zh-CN" sz="2000" i="1" dirty="0"/>
              <a:t>R</a:t>
            </a:r>
            <a:r>
              <a:rPr lang="en-US" altLang="zh-CN" sz="2000" dirty="0"/>
              <a:t> form a partition of </a:t>
            </a:r>
            <a:r>
              <a:rPr lang="en-US" altLang="zh-CN" sz="2000" i="1" dirty="0"/>
              <a:t>S</a:t>
            </a:r>
            <a:r>
              <a:rPr lang="en-US" altLang="zh-CN" sz="2000" dirty="0"/>
              <a:t>.</a:t>
            </a:r>
            <a:endParaRPr lang="en-US" altLang="zh-CN" sz="2000" noProof="1"/>
          </a:p>
          <a:p>
            <a:pPr eaLnBrk="1" hangingPunct="1"/>
            <a:r>
              <a:rPr lang="en-US" altLang="zh-CN" sz="2000" noProof="1"/>
              <a:t>The partition P consists of all equivalence classes of R is denoted by A/R and called the quotient set (</a:t>
            </a:r>
            <a:r>
              <a:rPr lang="zh-CN" altLang="en-US" sz="2000" noProof="1"/>
              <a:t>商集</a:t>
            </a:r>
            <a:r>
              <a:rPr lang="en-US" altLang="zh-CN" sz="2000" noProof="1"/>
              <a:t>).</a:t>
            </a:r>
          </a:p>
          <a:p>
            <a:r>
              <a:rPr lang="en-US" altLang="zh-CN" sz="2000" i="1" dirty="0"/>
              <a:t>Let R be a relation on set A, then </a:t>
            </a:r>
            <a:r>
              <a:rPr lang="en-US" altLang="zh-CN" sz="2000" i="1" dirty="0" err="1">
                <a:solidFill>
                  <a:srgbClr val="FF0000"/>
                </a:solidFill>
              </a:rPr>
              <a:t>tsr</a:t>
            </a:r>
            <a:r>
              <a:rPr lang="en-US" altLang="zh-CN" sz="2000" i="1" dirty="0">
                <a:solidFill>
                  <a:srgbClr val="FF0000"/>
                </a:solidFill>
              </a:rPr>
              <a:t>(R)</a:t>
            </a:r>
            <a:r>
              <a:rPr lang="en-US" altLang="zh-CN" sz="2000" i="1" dirty="0"/>
              <a:t> is an equivalence relation on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>
            <a:extLst>
              <a:ext uri="{FF2B5EF4-FFF2-40B4-BE49-F238E27FC236}">
                <a16:creationId xmlns:a16="http://schemas.microsoft.com/office/drawing/2014/main" id="{BA174A9C-D57C-AF29-98F7-299A774B7F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0FF1E55-1ED6-4C56-8267-495EA97A4E3D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8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1507" name="日期占位符 4">
            <a:extLst>
              <a:ext uri="{FF2B5EF4-FFF2-40B4-BE49-F238E27FC236}">
                <a16:creationId xmlns:a16="http://schemas.microsoft.com/office/drawing/2014/main" id="{425083EC-2293-8B77-13E4-4C6820C2A10B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C21F18B-D822-449E-A843-8EBC68561A00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1508" name="页脚占位符 5">
            <a:extLst>
              <a:ext uri="{FF2B5EF4-FFF2-40B4-BE49-F238E27FC236}">
                <a16:creationId xmlns:a16="http://schemas.microsoft.com/office/drawing/2014/main" id="{481841E2-FC7F-042B-2A4B-3EE016A518B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B7A1BC22-4440-3952-085A-F5C299932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52704"/>
          </a:xfrm>
        </p:spPr>
        <p:txBody>
          <a:bodyPr/>
          <a:lstStyle/>
          <a:p>
            <a:pPr eaLnBrk="1" hangingPunct="1"/>
            <a:r>
              <a:rPr lang="en-US" altLang="zh-CN" sz="4000" dirty="0"/>
              <a:t>Partial order（</a:t>
            </a:r>
            <a:r>
              <a:rPr lang="zh-CN" altLang="en-US" sz="4000" dirty="0"/>
              <a:t>偏序关系）</a:t>
            </a:r>
          </a:p>
        </p:txBody>
      </p:sp>
      <p:sp>
        <p:nvSpPr>
          <p:cNvPr id="21510" name="Rectangle 3">
            <a:extLst>
              <a:ext uri="{FF2B5EF4-FFF2-40B4-BE49-F238E27FC236}">
                <a16:creationId xmlns:a16="http://schemas.microsoft.com/office/drawing/2014/main" id="{8B7D5725-9AF2-D312-C7BF-E9B6B129C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5906" y="1669753"/>
            <a:ext cx="8612188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/>
              <a:t>Partial order</a:t>
            </a:r>
            <a:r>
              <a:rPr lang="zh-CN" altLang="en-US" sz="2800" dirty="0"/>
              <a:t>: </a:t>
            </a:r>
            <a:r>
              <a:rPr lang="en-US" altLang="zh-CN" sz="2800" dirty="0"/>
              <a:t>A relation </a:t>
            </a:r>
            <a:r>
              <a:rPr lang="en-US" altLang="zh-CN" sz="2800" i="1" dirty="0"/>
              <a:t>R</a:t>
            </a:r>
            <a:r>
              <a:rPr lang="en-US" altLang="zh-CN" sz="2800" dirty="0"/>
              <a:t> on a set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called a </a:t>
            </a:r>
            <a:r>
              <a:rPr lang="en-US" altLang="zh-CN" sz="2800" i="1" dirty="0"/>
              <a:t>partial order</a:t>
            </a:r>
            <a:r>
              <a:rPr lang="en-US" altLang="zh-CN" sz="2800" dirty="0"/>
              <a:t> if </a:t>
            </a:r>
            <a:r>
              <a:rPr lang="en-US" altLang="zh-CN" sz="2800" i="1" dirty="0"/>
              <a:t>R</a:t>
            </a:r>
            <a:r>
              <a:rPr lang="en-US" altLang="zh-CN" sz="2800" dirty="0"/>
              <a:t> is reflexive</a:t>
            </a:r>
            <a:r>
              <a:rPr lang="zh-CN" altLang="en-US" sz="2800" dirty="0"/>
              <a:t>, </a:t>
            </a:r>
            <a:r>
              <a:rPr lang="en-US" altLang="zh-CN" sz="2800" dirty="0"/>
              <a:t>antisymmetric</a:t>
            </a:r>
            <a:r>
              <a:rPr lang="zh-CN" altLang="en-US" sz="2800" dirty="0"/>
              <a:t>, </a:t>
            </a:r>
            <a:r>
              <a:rPr lang="en-US" altLang="zh-CN" sz="2800" dirty="0"/>
              <a:t>and transitive</a:t>
            </a:r>
            <a:r>
              <a:rPr lang="zh-CN" altLang="en-US" sz="2800" dirty="0"/>
              <a:t>. </a:t>
            </a:r>
          </a:p>
          <a:p>
            <a:pPr eaLnBrk="1" hangingPunct="1"/>
            <a:r>
              <a:rPr lang="en-US" altLang="zh-CN" sz="2800" dirty="0"/>
              <a:t>Partially ordered set: or simply a </a:t>
            </a:r>
            <a:r>
              <a:rPr lang="en-US" altLang="zh-CN" sz="2800" i="1" dirty="0" err="1"/>
              <a:t>poset</a:t>
            </a:r>
            <a:r>
              <a:rPr lang="en-US" altLang="zh-CN" sz="2800" u="sng" dirty="0"/>
              <a:t>,</a:t>
            </a:r>
            <a:r>
              <a:rPr lang="en-US" altLang="zh-CN" sz="2800" dirty="0"/>
              <a:t> denoted by (</a:t>
            </a:r>
            <a:r>
              <a:rPr lang="en-US" altLang="zh-CN" sz="2800" i="1" dirty="0"/>
              <a:t>A</a:t>
            </a:r>
            <a:r>
              <a:rPr lang="en-US" altLang="zh-CN" sz="2800" dirty="0"/>
              <a:t>, </a:t>
            </a:r>
            <a:r>
              <a:rPr lang="en-US" altLang="zh-CN" sz="2800" i="1" dirty="0"/>
              <a:t>R</a:t>
            </a:r>
            <a:r>
              <a:rPr lang="en-US" altLang="zh-CN" sz="2800" dirty="0"/>
              <a:t>).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sz="2800" dirty="0"/>
              <a:t>If (</a:t>
            </a:r>
            <a:r>
              <a:rPr lang="en-US" altLang="zh-CN" sz="2800" i="1" dirty="0"/>
              <a:t>A</a:t>
            </a:r>
            <a:r>
              <a:rPr lang="en-US" altLang="zh-CN" sz="2800" dirty="0"/>
              <a:t>, ≤) is a </a:t>
            </a:r>
            <a:r>
              <a:rPr lang="en-US" altLang="zh-CN" sz="2800" dirty="0" err="1"/>
              <a:t>poset</a:t>
            </a:r>
            <a:r>
              <a:rPr lang="en-US" altLang="zh-CN" sz="2800" dirty="0"/>
              <a:t>, the elements </a:t>
            </a:r>
            <a:r>
              <a:rPr lang="en-US" altLang="zh-CN" sz="2800" i="1" dirty="0"/>
              <a:t>a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b</a:t>
            </a:r>
            <a:r>
              <a:rPr lang="en-US" altLang="zh-CN" sz="2800" dirty="0"/>
              <a:t> are said to be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i="1" dirty="0"/>
              <a:t>Comparable（</a:t>
            </a:r>
            <a:r>
              <a:rPr lang="zh-CN" altLang="en-US" i="1" dirty="0"/>
              <a:t>可比的）</a:t>
            </a:r>
            <a:r>
              <a:rPr lang="zh-CN" altLang="en-US" dirty="0"/>
              <a:t> </a:t>
            </a:r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dirty="0"/>
              <a:t> ≤ </a:t>
            </a:r>
            <a:r>
              <a:rPr lang="en-US" altLang="zh-CN" i="1" dirty="0"/>
              <a:t>b</a:t>
            </a:r>
            <a:r>
              <a:rPr lang="en-US" altLang="zh-CN" dirty="0"/>
              <a:t> or </a:t>
            </a:r>
            <a:r>
              <a:rPr lang="en-US" altLang="zh-CN" i="1" dirty="0"/>
              <a:t>b</a:t>
            </a:r>
            <a:r>
              <a:rPr lang="en-US" altLang="zh-CN" dirty="0"/>
              <a:t> ≤ </a:t>
            </a:r>
            <a:r>
              <a:rPr lang="en-US" altLang="zh-CN" i="1" dirty="0"/>
              <a:t>a.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CN" i="1" dirty="0"/>
              <a:t>incomparable</a:t>
            </a:r>
            <a:r>
              <a:rPr lang="en-US" altLang="zh-CN" dirty="0"/>
              <a:t> </a:t>
            </a:r>
            <a:r>
              <a:rPr lang="en-US" altLang="zh-CN" i="1" dirty="0"/>
              <a:t>(</a:t>
            </a:r>
            <a:r>
              <a:rPr lang="zh-CN" altLang="en-US" i="1" dirty="0"/>
              <a:t>不可比的）</a:t>
            </a:r>
            <a:r>
              <a:rPr lang="en-US" altLang="zh-CN" dirty="0"/>
              <a:t>if neither </a:t>
            </a:r>
            <a:r>
              <a:rPr lang="en-US" altLang="zh-CN" i="1" dirty="0"/>
              <a:t>a</a:t>
            </a:r>
            <a:r>
              <a:rPr lang="en-US" altLang="zh-CN" dirty="0"/>
              <a:t> ≤ </a:t>
            </a:r>
            <a:r>
              <a:rPr lang="en-US" altLang="zh-CN" i="1" dirty="0"/>
              <a:t>b</a:t>
            </a:r>
            <a:r>
              <a:rPr lang="en-US" altLang="zh-CN" dirty="0"/>
              <a:t> nor </a:t>
            </a:r>
            <a:r>
              <a:rPr lang="en-US" altLang="zh-CN" i="1" dirty="0"/>
              <a:t>b</a:t>
            </a:r>
            <a:r>
              <a:rPr lang="en-US" altLang="zh-CN" dirty="0"/>
              <a:t> ≤ </a:t>
            </a:r>
            <a:r>
              <a:rPr lang="en-US" altLang="zh-CN" i="1" dirty="0"/>
              <a:t>a.</a:t>
            </a:r>
            <a:endParaRPr lang="en-US" altLang="zh-CN" dirty="0"/>
          </a:p>
          <a:p>
            <a:pPr eaLnBrk="1" hangingPunct="1"/>
            <a:r>
              <a:rPr lang="en-US" altLang="zh-CN" sz="2800" dirty="0"/>
              <a:t>If every pair of elements in a </a:t>
            </a:r>
            <a:r>
              <a:rPr lang="en-US" altLang="zh-CN" sz="2800" dirty="0" err="1"/>
              <a:t>poset</a:t>
            </a:r>
            <a:r>
              <a:rPr lang="en-US" altLang="zh-CN" sz="2800" dirty="0"/>
              <a:t>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comparable, we say that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a </a:t>
            </a:r>
            <a:r>
              <a:rPr lang="en-US" altLang="zh-CN" sz="2800" i="1" dirty="0"/>
              <a:t>linearly ordered set.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order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i="1" dirty="0"/>
              <a:t>product partial order </a:t>
            </a:r>
          </a:p>
          <a:p>
            <a:pPr lvl="1"/>
            <a:r>
              <a:rPr lang="en-US" altLang="zh-CN" dirty="0"/>
              <a:t>If </a:t>
            </a:r>
            <a:r>
              <a:rPr lang="en-US" altLang="zh-CN" i="1" dirty="0"/>
              <a:t>(</a:t>
            </a:r>
            <a:r>
              <a:rPr lang="en-US" altLang="zh-CN" i="1" dirty="0" err="1"/>
              <a:t>A,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i="1" baseline="-25000" dirty="0" err="1">
                <a:solidFill>
                  <a:schemeClr val="tx1"/>
                </a:solidFill>
                <a:uFillTx/>
                <a:latin typeface="Cambria Math" panose="02040503050406030204" pitchFamily="18" charset="0"/>
                <a:ea typeface="Cambria Math" panose="02040503050406030204"/>
                <a:sym typeface="+mn-ea"/>
              </a:rPr>
              <a:t>1</a:t>
            </a:r>
            <a:r>
              <a:rPr lang="en-US" altLang="zh-CN" i="1" dirty="0"/>
              <a:t>)</a:t>
            </a:r>
            <a:r>
              <a:rPr lang="en-US" altLang="zh-CN" dirty="0"/>
              <a:t> and</a:t>
            </a:r>
            <a:r>
              <a:rPr lang="en-US" altLang="zh-CN" i="1" dirty="0"/>
              <a:t> (</a:t>
            </a:r>
            <a:r>
              <a:rPr lang="en-US" altLang="zh-CN" i="1" dirty="0" err="1"/>
              <a:t>B,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i="1" baseline="-25000" dirty="0" err="1">
                <a:uFillTx/>
                <a:latin typeface="Cambria Math" panose="02040503050406030204" pitchFamily="18" charset="0"/>
                <a:ea typeface="Cambria Math" panose="02040503050406030204"/>
                <a:sym typeface="+mn-ea"/>
              </a:rPr>
              <a:t>2</a:t>
            </a:r>
            <a:r>
              <a:rPr lang="en-US" altLang="zh-CN" i="1" dirty="0"/>
              <a:t>)</a:t>
            </a:r>
            <a:r>
              <a:rPr lang="en-US" altLang="zh-CN" dirty="0"/>
              <a:t> are </a:t>
            </a:r>
            <a:r>
              <a:rPr lang="en-US" altLang="zh-CN" dirty="0" err="1"/>
              <a:t>posets</a:t>
            </a:r>
            <a:r>
              <a:rPr lang="en-US" altLang="zh-CN" dirty="0"/>
              <a:t>, then (</a:t>
            </a:r>
            <a:r>
              <a:rPr lang="en-US" altLang="zh-CN" dirty="0" err="1"/>
              <a:t>A</a:t>
            </a:r>
            <a:r>
              <a:rPr lang="en-US" altLang="zh-CN" dirty="0" err="1">
                <a:latin typeface="Arial" panose="020B0604020202020204" pitchFamily="34" charset="0"/>
              </a:rPr>
              <a:t>×</a:t>
            </a:r>
            <a:r>
              <a:rPr lang="en-US" altLang="zh-CN" dirty="0" err="1"/>
              <a:t>B</a:t>
            </a:r>
            <a:r>
              <a:rPr lang="en-US" altLang="zh-CN" dirty="0"/>
              <a:t>,</a:t>
            </a:r>
            <a:r>
              <a:rPr lang="en-US" altLang="zh-CN" dirty="0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dirty="0"/>
              <a:t>)  is a </a:t>
            </a:r>
            <a:r>
              <a:rPr lang="en-US" altLang="zh-CN" dirty="0" err="1"/>
              <a:t>poset</a:t>
            </a:r>
            <a:r>
              <a:rPr lang="en-US" altLang="zh-CN" dirty="0"/>
              <a:t>, with partial order </a:t>
            </a:r>
            <a:r>
              <a:rPr lang="en-US" altLang="zh-CN" dirty="0">
                <a:latin typeface="Cambria Math" panose="02040503050406030204"/>
                <a:ea typeface="Cambria Math" panose="02040503050406030204"/>
                <a:sym typeface="+mn-ea"/>
              </a:rPr>
              <a:t>≼ defined by</a:t>
            </a:r>
          </a:p>
          <a:p>
            <a:pPr marL="667385" lvl="2" indent="0">
              <a:buNone/>
            </a:pPr>
            <a:r>
              <a:rPr lang="en-US" altLang="zh-CN" sz="2500" i="1" dirty="0">
                <a:latin typeface="Cambria Math" panose="02040503050406030204"/>
                <a:ea typeface="Cambria Math" panose="02040503050406030204"/>
                <a:sym typeface="+mn-ea"/>
              </a:rPr>
              <a:t>(</a:t>
            </a:r>
            <a:r>
              <a:rPr lang="en-US" altLang="zh-CN" sz="2500" i="1" dirty="0" err="1">
                <a:latin typeface="Cambria Math" panose="02040503050406030204"/>
                <a:ea typeface="Cambria Math" panose="02040503050406030204"/>
                <a:sym typeface="+mn-ea"/>
              </a:rPr>
              <a:t>a,b</a:t>
            </a:r>
            <a:r>
              <a:rPr lang="en-US" altLang="zh-CN" sz="2500" i="1" dirty="0">
                <a:latin typeface="Cambria Math" panose="02040503050406030204"/>
                <a:ea typeface="Cambria Math" panose="02040503050406030204"/>
                <a:sym typeface="+mn-ea"/>
              </a:rPr>
              <a:t>) 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  <a:sym typeface="+mn-ea"/>
              </a:rPr>
              <a:t>≼ (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a',b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  <a:sym typeface="+mn-ea"/>
              </a:rPr>
              <a:t>')</a:t>
            </a:r>
            <a:r>
              <a:rPr lang="en-US" altLang="zh-CN" dirty="0">
                <a:latin typeface="Cambria Math" panose="02040503050406030204"/>
                <a:ea typeface="Cambria Math" panose="02040503050406030204"/>
                <a:sym typeface="+mn-ea"/>
              </a:rPr>
              <a:t> if 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a≼</a:t>
            </a:r>
            <a:r>
              <a:rPr lang="en-US" altLang="zh-CN" i="1" baseline="-25000" dirty="0" err="1">
                <a:uFillTx/>
                <a:latin typeface="Cambria Math" panose="02040503050406030204" pitchFamily="18" charset="0"/>
                <a:ea typeface="Cambria Math" panose="02040503050406030204"/>
                <a:sym typeface="+mn-ea"/>
              </a:rPr>
              <a:t>1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a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  <a:sym typeface="+mn-ea"/>
              </a:rPr>
              <a:t>' in A </a:t>
            </a:r>
            <a:r>
              <a:rPr lang="en-US" altLang="zh-CN" dirty="0">
                <a:latin typeface="Cambria Math" panose="02040503050406030204"/>
                <a:ea typeface="Cambria Math" panose="02040503050406030204"/>
                <a:sym typeface="+mn-ea"/>
              </a:rPr>
              <a:t>and 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b≼</a:t>
            </a:r>
            <a:r>
              <a:rPr lang="en-US" altLang="zh-CN" i="1" baseline="-25000" dirty="0" err="1">
                <a:uFillTx/>
                <a:latin typeface="Cambria Math" panose="02040503050406030204" pitchFamily="18" charset="0"/>
                <a:ea typeface="Cambria Math" panose="02040503050406030204"/>
                <a:sym typeface="+mn-ea"/>
              </a:rPr>
              <a:t>2</a:t>
            </a:r>
            <a:r>
              <a:rPr lang="en-US" altLang="zh-CN" i="1" dirty="0" err="1">
                <a:latin typeface="Cambria Math" panose="02040503050406030204"/>
                <a:ea typeface="Cambria Math" panose="02040503050406030204"/>
                <a:sym typeface="+mn-ea"/>
              </a:rPr>
              <a:t>b</a:t>
            </a:r>
            <a:r>
              <a:rPr lang="en-US" altLang="zh-CN" i="1" dirty="0">
                <a:latin typeface="Cambria Math" panose="02040503050406030204"/>
                <a:ea typeface="Cambria Math" panose="02040503050406030204"/>
                <a:sym typeface="+mn-ea"/>
              </a:rPr>
              <a:t>' in B</a:t>
            </a:r>
            <a:r>
              <a:rPr lang="en-US" altLang="zh-CN" dirty="0">
                <a:latin typeface="Cambria Math" panose="02040503050406030204"/>
                <a:ea typeface="Cambria Math" panose="02040503050406030204"/>
                <a:sym typeface="+mn-ea"/>
              </a:rPr>
              <a:t>.</a:t>
            </a:r>
            <a:endParaRPr lang="en-US" dirty="0"/>
          </a:p>
          <a:p>
            <a:r>
              <a:rPr lang="en-US" dirty="0"/>
              <a:t>Lexicographic Orderings</a:t>
            </a:r>
          </a:p>
          <a:p>
            <a:pPr lvl="1"/>
            <a:r>
              <a:rPr lang="en-US" altLang="zh-CN" dirty="0"/>
              <a:t>Given two </a:t>
            </a:r>
            <a:r>
              <a:rPr lang="en-US" altLang="zh-CN" dirty="0" err="1"/>
              <a:t>posets</a:t>
            </a:r>
            <a:r>
              <a:rPr lang="en-US" altLang="zh-CN" dirty="0"/>
              <a:t> (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err="1"/>
              <a:t>,</a:t>
            </a:r>
            <a:r>
              <a:rPr lang="en-US" altLang="zh-CN" dirty="0" err="1">
                <a:latin typeface="Cambria Math" panose="02040503050406030204"/>
                <a:ea typeface="Cambria Math" panose="02040503050406030204"/>
              </a:rPr>
              <a:t>≼</a:t>
            </a:r>
            <a:r>
              <a:rPr lang="en-US" altLang="zh-CN" baseline="-25000" dirty="0" err="1">
                <a:latin typeface="Cambria Math" panose="02040503050406030204"/>
                <a:ea typeface="Cambria Math" panose="02040503050406030204"/>
              </a:rPr>
              <a:t>1</a:t>
            </a:r>
            <a:r>
              <a:rPr lang="en-US" altLang="zh-CN" dirty="0"/>
              <a:t>) and (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≼</a:t>
            </a:r>
            <a:r>
              <a:rPr lang="en-US" altLang="zh-CN" baseline="-25000" dirty="0">
                <a:latin typeface="Cambria Math" panose="02040503050406030204"/>
                <a:ea typeface="Cambria Math" panose="02040503050406030204"/>
              </a:rPr>
              <a:t>2</a:t>
            </a:r>
            <a:r>
              <a:rPr lang="en-US" altLang="zh-CN" dirty="0"/>
              <a:t>), the </a:t>
            </a:r>
            <a:r>
              <a:rPr lang="en-US" altLang="zh-CN" i="1" dirty="0"/>
              <a:t>lexicographic ordering</a:t>
            </a:r>
            <a:r>
              <a:rPr lang="en-US" altLang="zh-CN" dirty="0"/>
              <a:t>  on </a:t>
            </a:r>
            <a:r>
              <a:rPr lang="en-US" altLang="zh-CN" i="1" dirty="0"/>
              <a:t>A</a:t>
            </a:r>
            <a:r>
              <a:rPr lang="en-US" altLang="zh-CN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⨉</a:t>
            </a:r>
            <a:r>
              <a:rPr lang="en-US" altLang="zh-CN" dirty="0"/>
              <a:t>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  is defined by specifying that  (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) is less than (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), that is,  (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)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≺</a:t>
            </a:r>
            <a:r>
              <a:rPr lang="en-US" altLang="zh-CN" dirty="0"/>
              <a:t> (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), </a:t>
            </a:r>
          </a:p>
          <a:p>
            <a:pPr lvl="1"/>
            <a:r>
              <a:rPr lang="en-US" altLang="zh-CN" dirty="0"/>
              <a:t>either if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≺</a:t>
            </a:r>
            <a:r>
              <a:rPr lang="en-US" altLang="zh-CN" baseline="-25000" dirty="0">
                <a:latin typeface="Cambria Math" panose="02040503050406030204"/>
                <a:ea typeface="Cambria Math" panose="02040503050406030204"/>
              </a:rPr>
              <a:t>1 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/>
              <a:t> or if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=</a:t>
            </a:r>
            <a:r>
              <a:rPr lang="en-US" altLang="zh-CN" baseline="-25000" dirty="0">
                <a:latin typeface="Cambria Math" panose="02040503050406030204"/>
                <a:ea typeface="Cambria Math" panose="02040503050406030204"/>
              </a:rPr>
              <a:t> 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altLang="zh-CN" dirty="0"/>
              <a:t> and </a:t>
            </a:r>
            <a:r>
              <a:rPr lang="en-US" altLang="zh-CN" i="1" dirty="0" err="1"/>
              <a:t>a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>
                <a:latin typeface="Cambria Math" panose="02040503050406030204"/>
                <a:ea typeface="Cambria Math" panose="02040503050406030204"/>
              </a:rPr>
              <a:t> ≺</a:t>
            </a:r>
            <a:r>
              <a:rPr lang="en-US" altLang="zh-CN" baseline="-25000" dirty="0">
                <a:latin typeface="Cambria Math" panose="02040503050406030204"/>
                <a:ea typeface="Cambria Math" panose="02040503050406030204"/>
              </a:rPr>
              <a:t>2 </a:t>
            </a:r>
            <a:r>
              <a:rPr lang="en-US" altLang="zh-CN" i="1" dirty="0" err="1"/>
              <a:t>b</a:t>
            </a:r>
            <a:r>
              <a:rPr lang="en-US" altLang="zh-CN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altLang="zh-CN" dirty="0"/>
              <a:t>.</a:t>
            </a:r>
            <a:endParaRPr lang="en-US" dirty="0"/>
          </a:p>
          <a:p>
            <a:r>
              <a:rPr lang="en-US" dirty="0" err="1"/>
              <a:t>Hasse</a:t>
            </a:r>
            <a:r>
              <a:rPr lang="en-US" dirty="0"/>
              <a:t> Diagrams </a:t>
            </a:r>
          </a:p>
          <a:p>
            <a:r>
              <a:rPr lang="en-US" dirty="0"/>
              <a:t>Topological Sorting</a:t>
            </a:r>
          </a:p>
          <a:p>
            <a:r>
              <a:rPr lang="en-US" altLang="zh-CN" dirty="0"/>
              <a:t>Lattices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>
            <a:extLst>
              <a:ext uri="{FF2B5EF4-FFF2-40B4-BE49-F238E27FC236}">
                <a16:creationId xmlns:a16="http://schemas.microsoft.com/office/drawing/2014/main" id="{B196A221-2ADC-59DB-191A-895D76B22D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EB6F4637-594D-4F34-8665-55AFAD0D0CA0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10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7651" name="日期占位符 4">
            <a:extLst>
              <a:ext uri="{FF2B5EF4-FFF2-40B4-BE49-F238E27FC236}">
                <a16:creationId xmlns:a16="http://schemas.microsoft.com/office/drawing/2014/main" id="{4FAF8664-6459-088E-125F-BB52B468B68F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5BCC2DF8-5D06-4BF8-A1B7-1E923DB2A6BF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7652" name="页脚占位符 5">
            <a:extLst>
              <a:ext uri="{FF2B5EF4-FFF2-40B4-BE49-F238E27FC236}">
                <a16:creationId xmlns:a16="http://schemas.microsoft.com/office/drawing/2014/main" id="{7F4E5463-4997-81A5-467B-DE40560D26E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690712A4-C0AC-D858-DF99-268013768C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Topological Sorting Algorithm</a:t>
            </a:r>
          </a:p>
        </p:txBody>
      </p:sp>
      <p:sp>
        <p:nvSpPr>
          <p:cNvPr id="27654" name="Rectangle 3">
            <a:extLst>
              <a:ext uri="{FF2B5EF4-FFF2-40B4-BE49-F238E27FC236}">
                <a16:creationId xmlns:a16="http://schemas.microsoft.com/office/drawing/2014/main" id="{FB6E9388-8567-2469-12BF-34FCA9B6B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Repeat steps : Choose a minimal element a of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</a:p>
        </p:txBody>
      </p:sp>
      <p:pic>
        <p:nvPicPr>
          <p:cNvPr id="27655" name="Picture 4">
            <a:extLst>
              <a:ext uri="{FF2B5EF4-FFF2-40B4-BE49-F238E27FC236}">
                <a16:creationId xmlns:a16="http://schemas.microsoft.com/office/drawing/2014/main" id="{96C39729-D176-D39D-6BBE-68726776D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349500"/>
            <a:ext cx="61150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>
            <a:extLst>
              <a:ext uri="{FF2B5EF4-FFF2-40B4-BE49-F238E27FC236}">
                <a16:creationId xmlns:a16="http://schemas.microsoft.com/office/drawing/2014/main" id="{36C3D776-671C-CC70-49FA-FEE2864E54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2A5B1D6-04D6-4FAC-BF02-3DAC181E336F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11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4579" name="日期占位符 4">
            <a:extLst>
              <a:ext uri="{FF2B5EF4-FFF2-40B4-BE49-F238E27FC236}">
                <a16:creationId xmlns:a16="http://schemas.microsoft.com/office/drawing/2014/main" id="{F7CDD713-E0BA-E137-1E44-EE93B49F933A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D470426-3547-4DE0-A905-36EDEA63B55B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4580" name="页脚占位符 5">
            <a:extLst>
              <a:ext uri="{FF2B5EF4-FFF2-40B4-BE49-F238E27FC236}">
                <a16:creationId xmlns:a16="http://schemas.microsoft.com/office/drawing/2014/main" id="{42FA4F08-C50E-7C8C-9B63-2D766259659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6840392A-7672-4F41-E6DF-799683309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Extremal elements</a:t>
            </a:r>
            <a:endParaRPr lang="zh-CN" altLang="en-US"/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BB70BF72-AB49-1B68-4484-BCB118647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i="1" dirty="0"/>
              <a:t>maximal element（</a:t>
            </a:r>
            <a:r>
              <a:rPr lang="zh-CN" altLang="en-US" sz="2400" i="1" dirty="0"/>
              <a:t>极大元）</a:t>
            </a:r>
            <a:r>
              <a:rPr lang="en-US" altLang="zh-CN" sz="2400" i="1" dirty="0"/>
              <a:t>: </a:t>
            </a:r>
            <a:r>
              <a:rPr lang="en-US" altLang="zh-CN" sz="2400" dirty="0">
                <a:sym typeface="宋体" panose="02010600030101010101" pitchFamily="2" charset="-122"/>
              </a:rPr>
              <a:t>no element </a:t>
            </a:r>
            <a:r>
              <a:rPr lang="en-US" altLang="zh-CN" sz="2400" i="1" dirty="0">
                <a:sym typeface="宋体" panose="02010600030101010101" pitchFamily="2" charset="-122"/>
              </a:rPr>
              <a:t>c</a:t>
            </a:r>
            <a:r>
              <a:rPr lang="en-US" altLang="zh-CN" sz="2400" dirty="0">
                <a:sym typeface="宋体" panose="02010600030101010101" pitchFamily="2" charset="-122"/>
              </a:rPr>
              <a:t> in </a:t>
            </a:r>
            <a:r>
              <a:rPr lang="en-US" altLang="zh-CN" sz="2400" i="1" dirty="0">
                <a:sym typeface="宋体" panose="02010600030101010101" pitchFamily="2" charset="-122"/>
              </a:rPr>
              <a:t>A</a:t>
            </a:r>
            <a:r>
              <a:rPr lang="en-US" altLang="zh-CN" sz="2400" dirty="0">
                <a:sym typeface="宋体" panose="02010600030101010101" pitchFamily="2" charset="-122"/>
              </a:rPr>
              <a:t> such that </a:t>
            </a:r>
            <a:r>
              <a:rPr lang="en-US" altLang="zh-CN" sz="2400" i="1" dirty="0">
                <a:sym typeface="宋体" panose="02010600030101010101" pitchFamily="2" charset="-122"/>
              </a:rPr>
              <a:t>a</a:t>
            </a:r>
            <a:r>
              <a:rPr lang="en-US" altLang="zh-CN" sz="2400" dirty="0">
                <a:latin typeface="Cambria Math" panose="02040503050406030204"/>
                <a:ea typeface="Cambria Math" panose="02040503050406030204"/>
                <a:sym typeface="+mn-ea"/>
              </a:rPr>
              <a:t> ≼ </a:t>
            </a:r>
            <a:r>
              <a:rPr lang="en-US" altLang="zh-CN" sz="2400" i="1" dirty="0">
                <a:sym typeface="宋体" panose="02010600030101010101" pitchFamily="2" charset="-122"/>
              </a:rPr>
              <a:t>c</a:t>
            </a:r>
            <a:r>
              <a:rPr lang="en-US" altLang="zh-CN" sz="2400" dirty="0">
                <a:sym typeface="宋体" panose="02010600030101010101" pitchFamily="2" charset="-122"/>
              </a:rPr>
              <a:t>.</a:t>
            </a:r>
            <a:endParaRPr lang="zh-CN" altLang="en-US" sz="2400" i="1" dirty="0"/>
          </a:p>
          <a:p>
            <a:pPr>
              <a:lnSpc>
                <a:spcPct val="90000"/>
              </a:lnSpc>
            </a:pPr>
            <a:r>
              <a:rPr lang="en-US" altLang="zh-CN" sz="2400" i="1" dirty="0"/>
              <a:t>minimal element（</a:t>
            </a:r>
            <a:r>
              <a:rPr lang="zh-CN" altLang="en-US" sz="2400" i="1" dirty="0"/>
              <a:t>极小元）</a:t>
            </a:r>
            <a:r>
              <a:rPr lang="en-US" altLang="zh-CN" sz="2400" i="1" dirty="0"/>
              <a:t>: </a:t>
            </a:r>
            <a:r>
              <a:rPr lang="en-US" altLang="zh-CN" sz="2400" dirty="0"/>
              <a:t>no element </a:t>
            </a:r>
            <a:r>
              <a:rPr lang="en-US" altLang="zh-CN" sz="2400" i="1" dirty="0"/>
              <a:t>c</a:t>
            </a:r>
            <a:r>
              <a:rPr lang="en-US" altLang="zh-CN" sz="2400" dirty="0"/>
              <a:t> in </a:t>
            </a:r>
            <a:r>
              <a:rPr lang="en-US" altLang="zh-CN" sz="2400" i="1" dirty="0"/>
              <a:t>A</a:t>
            </a:r>
            <a:r>
              <a:rPr lang="en-US" altLang="zh-CN" sz="2400" dirty="0"/>
              <a:t> such that </a:t>
            </a:r>
            <a:r>
              <a:rPr lang="en-US" altLang="zh-CN" sz="2400" i="1" dirty="0"/>
              <a:t>c</a:t>
            </a:r>
            <a:r>
              <a:rPr lang="en-US" altLang="zh-CN" sz="2400" dirty="0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.</a:t>
            </a:r>
            <a:endParaRPr lang="zh-CN" altLang="en-US" sz="2400" i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greatest element（</a:t>
            </a:r>
            <a:r>
              <a:rPr lang="zh-CN" altLang="en-US" sz="2400" i="1" dirty="0"/>
              <a:t>最大元）</a:t>
            </a:r>
            <a:r>
              <a:rPr lang="en-US" altLang="zh-CN" sz="2400" i="1" dirty="0"/>
              <a:t>: </a:t>
            </a:r>
            <a:r>
              <a:rPr lang="en-US" altLang="zh-CN" sz="2400" dirty="0"/>
              <a:t>if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sz="2400" dirty="0"/>
              <a:t> </a:t>
            </a:r>
            <a:r>
              <a:rPr lang="en-US" altLang="zh-CN" sz="2400" i="1" dirty="0"/>
              <a:t>a</a:t>
            </a:r>
            <a:r>
              <a:rPr lang="en-US" altLang="zh-CN" sz="2400" dirty="0"/>
              <a:t> for all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i="1" dirty="0"/>
              <a:t>least element（</a:t>
            </a:r>
            <a:r>
              <a:rPr lang="zh-CN" altLang="en-US" sz="2400" i="1" dirty="0"/>
              <a:t>最小元）</a:t>
            </a:r>
            <a:r>
              <a:rPr lang="en-US" altLang="zh-CN" sz="2400" i="1" dirty="0"/>
              <a:t>: </a:t>
            </a:r>
            <a:r>
              <a:rPr lang="en-US" altLang="zh-CN" sz="2400" dirty="0"/>
              <a:t>if </a:t>
            </a:r>
            <a:r>
              <a:rPr lang="en-US" altLang="zh-CN" sz="2400" i="1" dirty="0"/>
              <a:t>a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Cambria Math" panose="02040503050406030204"/>
                <a:ea typeface="Cambria Math" panose="02040503050406030204"/>
                <a:sym typeface="+mn-ea"/>
              </a:rPr>
              <a:t>≼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dirty="0"/>
              <a:t> for all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 A</a:t>
            </a:r>
            <a:r>
              <a:rPr lang="en-US" altLang="zh-CN" sz="24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200" i="1" dirty="0"/>
              <a:t>upper bound（</a:t>
            </a:r>
            <a:r>
              <a:rPr lang="zh-CN" altLang="en-US" sz="2200" i="1" dirty="0"/>
              <a:t>上界）</a:t>
            </a:r>
            <a:r>
              <a:rPr lang="zh-CN" altLang="en-US" sz="2200" dirty="0"/>
              <a:t> </a:t>
            </a:r>
            <a:r>
              <a:rPr lang="en-US" altLang="zh-CN" sz="2200" dirty="0"/>
              <a:t>of </a:t>
            </a:r>
            <a:r>
              <a:rPr lang="en-US" altLang="zh-CN" sz="2200" i="1" dirty="0"/>
              <a:t>B: </a:t>
            </a:r>
            <a:r>
              <a:rPr lang="en-US" altLang="zh-CN" sz="2200" dirty="0"/>
              <a:t> if </a:t>
            </a:r>
            <a:r>
              <a:rPr lang="en-US" altLang="zh-CN" sz="2200" i="1" dirty="0"/>
              <a:t>b</a:t>
            </a:r>
            <a:r>
              <a:rPr lang="en-US" altLang="zh-CN" sz="2200" dirty="0">
                <a:latin typeface="Cambria Math" panose="02040503050406030204"/>
                <a:ea typeface="Cambria Math" panose="02040503050406030204"/>
                <a:sym typeface="+mn-ea"/>
              </a:rPr>
              <a:t> ≼ </a:t>
            </a:r>
            <a:r>
              <a:rPr lang="en-US" altLang="zh-CN" sz="2200" i="1" dirty="0"/>
              <a:t>a</a:t>
            </a:r>
            <a:r>
              <a:rPr lang="en-US" altLang="zh-CN" sz="2200" dirty="0"/>
              <a:t> for all </a:t>
            </a:r>
            <a:r>
              <a:rPr lang="en-US" altLang="zh-CN" sz="2200" i="1" dirty="0"/>
              <a:t>b 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 B</a:t>
            </a:r>
            <a:r>
              <a:rPr lang="en-US" altLang="zh-CN" sz="22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200" i="1" dirty="0"/>
              <a:t>lower bound（</a:t>
            </a:r>
            <a:r>
              <a:rPr lang="zh-CN" altLang="en-US" sz="2200" i="1" dirty="0"/>
              <a:t>下界）</a:t>
            </a:r>
            <a:r>
              <a:rPr lang="en-US" altLang="zh-CN" sz="2200" dirty="0"/>
              <a:t>of </a:t>
            </a:r>
            <a:r>
              <a:rPr lang="en-US" altLang="zh-CN" sz="2200" i="1" dirty="0"/>
              <a:t>B:</a:t>
            </a:r>
            <a:r>
              <a:rPr lang="en-US" altLang="zh-CN" sz="2200" dirty="0"/>
              <a:t> if </a:t>
            </a:r>
            <a:r>
              <a:rPr lang="en-US" altLang="zh-CN" sz="2200" i="1" dirty="0"/>
              <a:t>a</a:t>
            </a:r>
            <a:r>
              <a:rPr lang="en-US" altLang="zh-CN" sz="2200" dirty="0">
                <a:latin typeface="Cambria Math" panose="02040503050406030204"/>
                <a:ea typeface="Cambria Math" panose="02040503050406030204"/>
                <a:sym typeface="+mn-ea"/>
              </a:rPr>
              <a:t> ≼ </a:t>
            </a:r>
            <a:r>
              <a:rPr lang="en-US" altLang="zh-CN" sz="2200" i="1" dirty="0"/>
              <a:t>b</a:t>
            </a:r>
            <a:r>
              <a:rPr lang="en-US" altLang="zh-CN" sz="2200" dirty="0"/>
              <a:t> for all </a:t>
            </a:r>
            <a:r>
              <a:rPr lang="en-US" altLang="zh-CN" sz="2200" i="1" dirty="0"/>
              <a:t>b </a:t>
            </a:r>
            <a:r>
              <a:rPr lang="en-US" altLang="zh-CN" sz="2200" dirty="0">
                <a:sym typeface="Symbol" panose="05050102010706020507" pitchFamily="18" charset="2"/>
              </a:rPr>
              <a:t></a:t>
            </a:r>
            <a:r>
              <a:rPr lang="en-US" altLang="zh-CN" sz="2200" i="1" dirty="0"/>
              <a:t> B</a:t>
            </a:r>
            <a:r>
              <a:rPr lang="en-US" altLang="zh-CN" sz="22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200" i="1" dirty="0"/>
              <a:t>least upper bound</a:t>
            </a:r>
            <a:r>
              <a:rPr lang="en-US" altLang="zh-CN" sz="2200" dirty="0"/>
              <a:t> (</a:t>
            </a:r>
            <a:r>
              <a:rPr lang="en-US" altLang="zh-CN" sz="2200" dirty="0" err="1"/>
              <a:t>LUB</a:t>
            </a:r>
            <a:r>
              <a:rPr lang="en-US" altLang="zh-CN" sz="2200" dirty="0"/>
              <a:t>) of </a:t>
            </a:r>
            <a:r>
              <a:rPr lang="en-US" altLang="zh-CN" sz="2200" i="1" dirty="0"/>
              <a:t>B</a:t>
            </a:r>
            <a:r>
              <a:rPr lang="en-US" altLang="zh-CN" sz="2200" dirty="0"/>
              <a:t>:  if </a:t>
            </a:r>
            <a:r>
              <a:rPr lang="en-US" altLang="zh-CN" sz="2200" i="1" dirty="0"/>
              <a:t>a</a:t>
            </a:r>
            <a:r>
              <a:rPr lang="en-US" altLang="zh-CN" sz="2200" dirty="0">
                <a:latin typeface="Cambria Math" panose="02040503050406030204"/>
                <a:ea typeface="Cambria Math" panose="02040503050406030204"/>
                <a:sym typeface="+mn-ea"/>
              </a:rPr>
              <a:t> ≼ </a:t>
            </a:r>
            <a:r>
              <a:rPr lang="en-US" altLang="zh-CN" sz="2200" i="1" dirty="0"/>
              <a:t>a’ for all</a:t>
            </a:r>
            <a:r>
              <a:rPr lang="en-US" altLang="zh-CN" sz="2200" dirty="0"/>
              <a:t> </a:t>
            </a:r>
            <a:r>
              <a:rPr lang="en-US" altLang="zh-CN" sz="2200" i="1" dirty="0"/>
              <a:t>a’</a:t>
            </a:r>
            <a:r>
              <a:rPr lang="en-US" altLang="zh-CN" sz="2200" dirty="0"/>
              <a:t> upper bound of </a:t>
            </a:r>
            <a:r>
              <a:rPr lang="en-US" altLang="zh-CN" sz="2200" i="1" dirty="0"/>
              <a:t>B</a:t>
            </a:r>
            <a:r>
              <a:rPr lang="en-US" altLang="zh-CN" sz="2200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CN" sz="2200" i="1" dirty="0"/>
              <a:t>greatest lower bound</a:t>
            </a:r>
            <a:r>
              <a:rPr lang="en-US" altLang="zh-CN" sz="2200" dirty="0"/>
              <a:t> (</a:t>
            </a:r>
            <a:r>
              <a:rPr lang="en-US" altLang="zh-CN" sz="2200" dirty="0" err="1"/>
              <a:t>GLB</a:t>
            </a:r>
            <a:r>
              <a:rPr lang="en-US" altLang="zh-CN" sz="2200" dirty="0"/>
              <a:t>) of </a:t>
            </a:r>
            <a:r>
              <a:rPr lang="en-US" altLang="zh-CN" sz="2200" i="1" dirty="0"/>
              <a:t>B:</a:t>
            </a:r>
            <a:r>
              <a:rPr lang="en-US" altLang="zh-CN" sz="2200" dirty="0"/>
              <a:t> if </a:t>
            </a:r>
            <a:r>
              <a:rPr lang="en-US" altLang="zh-CN" sz="2200" i="1" dirty="0"/>
              <a:t>a’</a:t>
            </a:r>
            <a:r>
              <a:rPr lang="en-US" altLang="zh-CN" sz="2200" dirty="0">
                <a:latin typeface="Cambria Math" panose="02040503050406030204"/>
                <a:ea typeface="Cambria Math" panose="02040503050406030204"/>
                <a:sym typeface="+mn-ea"/>
              </a:rPr>
              <a:t> ≼ </a:t>
            </a:r>
            <a:r>
              <a:rPr lang="en-US" altLang="zh-CN" sz="2200" i="1" dirty="0"/>
              <a:t>a for all</a:t>
            </a:r>
            <a:r>
              <a:rPr lang="en-US" altLang="zh-CN" sz="2200" dirty="0"/>
              <a:t> </a:t>
            </a:r>
            <a:r>
              <a:rPr lang="en-US" altLang="zh-CN" sz="2200" i="1" dirty="0"/>
              <a:t>a’</a:t>
            </a:r>
            <a:r>
              <a:rPr lang="en-US" altLang="zh-CN" sz="2200" dirty="0"/>
              <a:t> lower bound of </a:t>
            </a:r>
            <a:r>
              <a:rPr lang="en-US" altLang="zh-CN" sz="2200" i="1" dirty="0"/>
              <a:t>B</a:t>
            </a:r>
            <a:r>
              <a:rPr lang="en-US" altLang="zh-CN" sz="2200" dirty="0"/>
              <a:t>. </a:t>
            </a:r>
            <a:endParaRPr lang="zh-CN" altLang="en-US" sz="2200" dirty="0"/>
          </a:p>
          <a:p>
            <a:pPr eaLnBrk="1" hangingPunct="1">
              <a:lnSpc>
                <a:spcPct val="90000"/>
              </a:lnSpc>
            </a:pPr>
            <a:endParaRPr lang="zh-CN" altLang="en-US" sz="2400" b="1" u="sn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>
            <a:extLst>
              <a:ext uri="{FF2B5EF4-FFF2-40B4-BE49-F238E27FC236}">
                <a16:creationId xmlns:a16="http://schemas.microsoft.com/office/drawing/2014/main" id="{7CC07E4F-617F-4C84-35D2-2FC0FACE13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1DADD27-F6BB-4DF1-81F1-7DE2DBEF207C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12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8675" name="日期占位符 4">
            <a:extLst>
              <a:ext uri="{FF2B5EF4-FFF2-40B4-BE49-F238E27FC236}">
                <a16:creationId xmlns:a16="http://schemas.microsoft.com/office/drawing/2014/main" id="{41A875AF-605D-3993-9C30-34E4C61CBF8C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3FFC9B2-1A3D-4D0C-BF55-E24DE4D69904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8676" name="页脚占位符 5">
            <a:extLst>
              <a:ext uri="{FF2B5EF4-FFF2-40B4-BE49-F238E27FC236}">
                <a16:creationId xmlns:a16="http://schemas.microsoft.com/office/drawing/2014/main" id="{DAD1A452-6FFE-5571-C18D-9E8B033658F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DF431A40-0B8F-6921-FD11-5D8091A1D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Lattice</a:t>
            </a:r>
            <a:endParaRPr lang="zh-CN" altLang="en-US"/>
          </a:p>
        </p:txBody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08C9B45E-F5B4-1E71-B85A-CF9B7D36C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zh-CN" dirty="0"/>
              <a:t>A </a:t>
            </a:r>
            <a:r>
              <a:rPr lang="en-US" altLang="zh-CN" i="1" dirty="0"/>
              <a:t>lattice</a:t>
            </a:r>
            <a:r>
              <a:rPr lang="zh-CN" altLang="en-US" dirty="0"/>
              <a:t> </a:t>
            </a:r>
            <a:r>
              <a:rPr lang="en-US" altLang="zh-CN" dirty="0"/>
              <a:t>is a </a:t>
            </a:r>
            <a:r>
              <a:rPr lang="en-US" altLang="zh-CN" dirty="0" err="1"/>
              <a:t>poset</a:t>
            </a:r>
            <a:r>
              <a:rPr lang="en-US" altLang="zh-CN" dirty="0"/>
              <a:t> in which every subset 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 consisting of two elements has a least upper bound and a greatest lower bound.</a:t>
            </a:r>
          </a:p>
          <a:p>
            <a:pPr lvl="1" algn="just" eaLnBrk="1" hangingPunct="1"/>
            <a:r>
              <a:rPr lang="en-US" altLang="zh-CN" dirty="0"/>
              <a:t>denote  </a:t>
            </a:r>
            <a:r>
              <a:rPr lang="en-US" altLang="zh-CN" dirty="0" err="1"/>
              <a:t>LUB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}) by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dirty="0"/>
              <a:t> and call it the </a:t>
            </a:r>
            <a:r>
              <a:rPr lang="en-US" altLang="zh-CN" i="1" dirty="0"/>
              <a:t>join（</a:t>
            </a:r>
            <a:r>
              <a:rPr lang="zh-CN" altLang="en-US" i="1" dirty="0"/>
              <a:t>并）</a:t>
            </a:r>
            <a:r>
              <a:rPr lang="zh-CN" altLang="en-US" dirty="0"/>
              <a:t> </a:t>
            </a:r>
            <a:r>
              <a:rPr lang="en-US" altLang="zh-CN" dirty="0"/>
              <a:t>of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</a:p>
          <a:p>
            <a:pPr lvl="1" algn="just" eaLnBrk="1" hangingPunct="1"/>
            <a:r>
              <a:rPr lang="en-US" altLang="zh-CN" dirty="0"/>
              <a:t>denote  </a:t>
            </a:r>
            <a:r>
              <a:rPr lang="en-US" altLang="zh-CN" dirty="0" err="1"/>
              <a:t>GLB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}) by 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dirty="0"/>
              <a:t> and call it the </a:t>
            </a:r>
            <a:r>
              <a:rPr lang="en-US" altLang="zh-CN" i="1" dirty="0"/>
              <a:t>meet（</a:t>
            </a:r>
            <a:r>
              <a:rPr lang="zh-CN" altLang="en-US" i="1" dirty="0"/>
              <a:t>交） </a:t>
            </a:r>
            <a:r>
              <a:rPr lang="en-US" altLang="zh-CN" dirty="0"/>
              <a:t>of </a:t>
            </a:r>
            <a:r>
              <a:rPr lang="en-US" altLang="zh-CN" i="1" dirty="0"/>
              <a:t>a</a:t>
            </a:r>
            <a:r>
              <a:rPr lang="en-US" altLang="zh-CN" dirty="0"/>
              <a:t> and 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</a:p>
          <a:p>
            <a:pPr lvl="1" algn="just"/>
            <a:r>
              <a:rPr lang="en-US" altLang="zh-CN" i="1" dirty="0"/>
              <a:t>Example: S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}, (P(S),</a:t>
            </a:r>
            <a:r>
              <a:rPr lang="en-US" altLang="zh-CN" dirty="0">
                <a:sym typeface="Symbol" panose="05050102010706020507" charset="0"/>
              </a:rPr>
              <a:t></a:t>
            </a:r>
            <a:r>
              <a:rPr lang="en-US" altLang="zh-CN" dirty="0"/>
              <a:t>); (D</a:t>
            </a:r>
            <a:r>
              <a:rPr lang="en-US" altLang="zh-CN" baseline="-25000" dirty="0"/>
              <a:t>30</a:t>
            </a:r>
            <a:r>
              <a:rPr lang="en-US" altLang="zh-CN" dirty="0"/>
              <a:t>, | ); </a:t>
            </a:r>
          </a:p>
          <a:p>
            <a:pPr lvl="1" algn="just"/>
            <a:endParaRPr lang="en-US" altLang="zh-CN" dirty="0"/>
          </a:p>
          <a:p>
            <a:pPr lvl="1" algn="just" eaLnBrk="1" hangingPunct="1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2FFEE9-4086-EBC5-055F-E83111B4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603874"/>
            <a:ext cx="1819275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74E52E0C-FFC2-493D-9AC5-19C908800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dirty="0">
                <a:solidFill>
                  <a:srgbClr val="003399"/>
                </a:solidFill>
              </a:rPr>
              <a:t>Abstract</a:t>
            </a:r>
            <a:r>
              <a:rPr lang="en-US" altLang="zh-CN" sz="5400" dirty="0"/>
              <a:t> Algebra summary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D0F12122-BBE9-4AD1-90FC-E814D8AF3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3435" y="1847088"/>
            <a:ext cx="7997130" cy="41148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</a:rPr>
              <a:t>Binary Operations</a:t>
            </a:r>
          </a:p>
          <a:p>
            <a:pPr lvl="1"/>
            <a:r>
              <a:rPr lang="en-US" altLang="zh-CN" sz="2000" dirty="0"/>
              <a:t>A binary operation on a set A is everywhere defined function f : </a:t>
            </a:r>
            <a:r>
              <a:rPr lang="en-US" altLang="zh-CN" sz="2000" i="1" dirty="0" err="1"/>
              <a:t>A</a:t>
            </a:r>
            <a:r>
              <a:rPr lang="en-US" altLang="zh-CN" sz="2000" dirty="0" err="1"/>
              <a:t>×</a:t>
            </a:r>
            <a:r>
              <a:rPr lang="en-US" altLang="zh-CN" sz="2000" i="1" dirty="0" err="1"/>
              <a:t>A</a:t>
            </a:r>
            <a:r>
              <a:rPr lang="en-US" altLang="zh-CN" sz="2000" i="1" dirty="0" err="1">
                <a:latin typeface="Arial" panose="020B0604020202020204" pitchFamily="34" charset="0"/>
              </a:rPr>
              <a:t>→</a:t>
            </a:r>
            <a:r>
              <a:rPr lang="en-US" altLang="zh-CN" sz="2000" i="1" dirty="0" err="1">
                <a:sym typeface="宋体" panose="02010600030101010101" pitchFamily="2" charset="-122"/>
              </a:rPr>
              <a:t>A</a:t>
            </a:r>
            <a:r>
              <a:rPr lang="en-US" altLang="zh-CN" sz="2000" dirty="0"/>
              <a:t>. 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</a:rPr>
              <a:t>Question: how many binary operations can be defined on </a:t>
            </a:r>
            <a:r>
              <a:rPr lang="en-US" altLang="zh-CN" sz="2000" i="1" dirty="0">
                <a:latin typeface="Times New Roman" panose="02020603050405020304" pitchFamily="18" charset="0"/>
              </a:rPr>
              <a:t>A ?</a:t>
            </a:r>
            <a:endParaRPr lang="en-US" altLang="zh-CN" sz="2000" dirty="0"/>
          </a:p>
          <a:p>
            <a:pPr lvl="1"/>
            <a:r>
              <a:rPr lang="en-US" altLang="zh-CN" sz="2000" dirty="0"/>
              <a:t>A is closed under the operation *, if </a:t>
            </a:r>
            <a:r>
              <a:rPr lang="en-US" altLang="zh-CN" sz="2000" dirty="0">
                <a:sym typeface="Symbol" panose="05050102010706020507" pitchFamily="18" charset="2"/>
              </a:rPr>
              <a:t></a:t>
            </a:r>
            <a:r>
              <a:rPr lang="en-US" altLang="zh-CN" sz="2000" dirty="0" err="1">
                <a:sym typeface="Symbol" panose="05050102010706020507" pitchFamily="18" charset="2"/>
              </a:rPr>
              <a:t>a,bA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sym typeface="宋体" panose="02010600030101010101" pitchFamily="2" charset="-122"/>
              </a:rPr>
              <a:t>→ </a:t>
            </a:r>
            <a:r>
              <a:rPr lang="en-US" altLang="zh-CN" sz="2000" dirty="0">
                <a:latin typeface="Arial" panose="020B0604020202020204" pitchFamily="34" charset="0"/>
                <a:sym typeface="宋体" panose="02010600030101010101" pitchFamily="2" charset="-122"/>
              </a:rPr>
              <a:t>a*</a:t>
            </a:r>
            <a:r>
              <a:rPr lang="en-US" altLang="zh-CN" sz="2000" dirty="0" err="1">
                <a:latin typeface="Arial" panose="020B0604020202020204" pitchFamily="34" charset="0"/>
                <a:sym typeface="宋体" panose="02010600030101010101" pitchFamily="2" charset="-122"/>
              </a:rPr>
              <a:t>b</a:t>
            </a:r>
            <a:r>
              <a:rPr lang="en-US" altLang="zh-CN" sz="2000" dirty="0" err="1">
                <a:sym typeface="Symbol" panose="05050102010706020507" pitchFamily="18" charset="2"/>
              </a:rPr>
              <a:t>A</a:t>
            </a:r>
            <a:r>
              <a:rPr lang="en-US" altLang="zh-CN" sz="2000" dirty="0"/>
              <a:t>.</a:t>
            </a:r>
          </a:p>
          <a:p>
            <a:pPr lvl="1"/>
            <a:r>
              <a:rPr lang="en-US" altLang="zh-CN" sz="2000" dirty="0"/>
              <a:t>If A is a finite set, a binary operation on A can be defined by means of a multiplication table(</a:t>
            </a:r>
            <a:r>
              <a:rPr lang="en-US" altLang="zh-CN" sz="2000" dirty="0">
                <a:latin typeface="Times New Roman" panose="02020603050405020304" pitchFamily="18" charset="0"/>
              </a:rPr>
              <a:t>Operation Table</a:t>
            </a:r>
            <a:r>
              <a:rPr lang="en-US" altLang="zh-CN" sz="20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</a:rPr>
              <a:t>Properties of </a:t>
            </a:r>
            <a:r>
              <a:rPr lang="en-US" altLang="zh-CN" sz="2000" dirty="0">
                <a:latin typeface="Times New Roman" panose="02020603050405020304" pitchFamily="18" charset="0"/>
                <a:sym typeface="宋体" panose="02010600030101010101" pitchFamily="2" charset="-122"/>
              </a:rPr>
              <a:t>Binary Operations</a:t>
            </a:r>
          </a:p>
          <a:p>
            <a:pPr lvl="1">
              <a:lnSpc>
                <a:spcPct val="90000"/>
              </a:lnSpc>
            </a:pPr>
            <a:r>
              <a:rPr lang="en-US" altLang="zh-CN" sz="2000" noProof="1"/>
              <a:t>Commutative a*b=b*a</a:t>
            </a:r>
          </a:p>
          <a:p>
            <a:pPr lvl="1">
              <a:lnSpc>
                <a:spcPct val="90000"/>
              </a:lnSpc>
            </a:pPr>
            <a:r>
              <a:rPr lang="en-US" altLang="zh-CN" sz="2000" noProof="1"/>
              <a:t>Associative a*(b*c)=(a*b)*c</a:t>
            </a:r>
          </a:p>
          <a:p>
            <a:pPr lvl="1">
              <a:lnSpc>
                <a:spcPct val="90000"/>
              </a:lnSpc>
            </a:pPr>
            <a:r>
              <a:rPr lang="en-US" altLang="zh-CN" sz="2000" noProof="1"/>
              <a:t>Idempotent a*a=a</a:t>
            </a:r>
          </a:p>
          <a:p>
            <a:pPr lvl="1">
              <a:lnSpc>
                <a:spcPct val="90000"/>
              </a:lnSpc>
            </a:pPr>
            <a:r>
              <a:rPr lang="en-US" altLang="zh-CN" sz="2000" noProof="1"/>
              <a:t>identity element : if </a:t>
            </a:r>
            <a:r>
              <a:rPr lang="en-US" altLang="zh-CN" sz="2000" noProof="1"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sym typeface="Symbol" panose="05050102010706020507" pitchFamily="18" charset="2"/>
              </a:rPr>
              <a:t>a</a:t>
            </a:r>
            <a:r>
              <a:rPr lang="en-US" altLang="zh-CN" sz="2000" noProof="1">
                <a:sym typeface="Symbol" panose="05050102010706020507" pitchFamily="18" charset="2"/>
              </a:rPr>
              <a:t>A</a:t>
            </a:r>
            <a:r>
              <a:rPr lang="en-US" altLang="zh-CN" sz="2000" noProof="1"/>
              <a:t> then </a:t>
            </a:r>
            <a:r>
              <a:rPr lang="en-US" altLang="zh-CN" sz="2000" i="1" noProof="1"/>
              <a:t>e*a=a*e=a   </a:t>
            </a:r>
            <a:r>
              <a:rPr lang="en-US" altLang="zh-CN" sz="2000" noProof="1"/>
              <a:t>(e is unique)</a:t>
            </a:r>
          </a:p>
          <a:p>
            <a:pPr lvl="1">
              <a:lnSpc>
                <a:spcPct val="90000"/>
              </a:lnSpc>
            </a:pPr>
            <a:r>
              <a:rPr lang="en-US" altLang="zh-CN" sz="2000" noProof="1">
                <a:sym typeface="+mn-ea"/>
              </a:rPr>
              <a:t>inverse of </a:t>
            </a:r>
            <a:r>
              <a:rPr lang="en-US" altLang="zh-CN" sz="2000" i="1" noProof="1">
                <a:sym typeface="+mn-ea"/>
              </a:rPr>
              <a:t>a</a:t>
            </a:r>
            <a:r>
              <a:rPr lang="en-US" altLang="zh-CN" sz="2000" noProof="1">
                <a:sym typeface="+mn-ea"/>
              </a:rPr>
              <a:t>, written as </a:t>
            </a:r>
            <a:r>
              <a:rPr lang="en-US" altLang="zh-CN" sz="2000" i="1" noProof="1">
                <a:sym typeface="+mn-ea"/>
              </a:rPr>
              <a:t>a</a:t>
            </a:r>
            <a:r>
              <a:rPr lang="en-US" altLang="zh-CN" sz="2000" baseline="30000" noProof="1">
                <a:sym typeface="+mn-ea"/>
              </a:rPr>
              <a:t>-1</a:t>
            </a:r>
            <a:r>
              <a:rPr lang="en-US" altLang="zh-CN" sz="2000" noProof="1">
                <a:sym typeface="+mn-ea"/>
              </a:rPr>
              <a:t> : if </a:t>
            </a:r>
            <a:r>
              <a:rPr lang="en-US" altLang="zh-CN" sz="2000" noProof="1">
                <a:sym typeface="Symbol" panose="05050102010706020507" pitchFamily="18" charset="2"/>
              </a:rPr>
              <a:t></a:t>
            </a:r>
            <a:r>
              <a:rPr lang="en-US" altLang="zh-CN" sz="2000" i="1" noProof="1">
                <a:sym typeface="Symbol" panose="05050102010706020507" pitchFamily="18" charset="2"/>
              </a:rPr>
              <a:t>a</a:t>
            </a:r>
            <a:r>
              <a:rPr lang="en-US" altLang="zh-CN" sz="2000" noProof="1">
                <a:sym typeface="Symbol" panose="05050102010706020507" pitchFamily="18" charset="2"/>
              </a:rPr>
              <a:t>A</a:t>
            </a:r>
            <a:r>
              <a:rPr lang="en-US" altLang="zh-CN" sz="2000" noProof="1">
                <a:sym typeface="+mn-ea"/>
              </a:rPr>
              <a:t> then </a:t>
            </a:r>
            <a:r>
              <a:rPr lang="en-US" altLang="zh-CN" sz="2000" i="1" noProof="1">
                <a:sym typeface="+mn-ea"/>
              </a:rPr>
              <a:t>a*a</a:t>
            </a:r>
            <a:r>
              <a:rPr lang="en-US" altLang="zh-CN" sz="2000" baseline="30000" noProof="1">
                <a:sym typeface="+mn-ea"/>
              </a:rPr>
              <a:t>-1</a:t>
            </a:r>
            <a:r>
              <a:rPr lang="en-US" altLang="zh-CN" sz="2000" i="1" noProof="1">
                <a:sym typeface="+mn-ea"/>
              </a:rPr>
              <a:t>=a</a:t>
            </a:r>
            <a:r>
              <a:rPr lang="en-US" altLang="zh-CN" sz="2000" baseline="30000" noProof="1">
                <a:sym typeface="+mn-ea"/>
              </a:rPr>
              <a:t>-1</a:t>
            </a:r>
            <a:r>
              <a:rPr lang="en-US" altLang="zh-CN" sz="2000" i="1" noProof="1">
                <a:sym typeface="+mn-ea"/>
              </a:rPr>
              <a:t>*a=e</a:t>
            </a:r>
            <a:endParaRPr lang="en-US" altLang="zh-CN" sz="2000" dirty="0"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2289" name="灯片编号占位符 3">
            <a:extLst>
              <a:ext uri="{FF2B5EF4-FFF2-40B4-BE49-F238E27FC236}">
                <a16:creationId xmlns:a16="http://schemas.microsoft.com/office/drawing/2014/main" id="{E642C26A-D55E-44F4-954D-CC166751B03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BFF8122-DE93-43E6-A2A7-414EA281C1E4}" type="slidenum">
              <a:rPr lang="zh-CN" altLang="en-US" u="sng"/>
              <a:pPr/>
              <a:t>13</a:t>
            </a:fld>
            <a:endParaRPr lang="zh-CN" altLang="en-US" u="sng"/>
          </a:p>
        </p:txBody>
      </p:sp>
      <p:sp>
        <p:nvSpPr>
          <p:cNvPr id="12290" name="日期占位符 4">
            <a:extLst>
              <a:ext uri="{FF2B5EF4-FFF2-40B4-BE49-F238E27FC236}">
                <a16:creationId xmlns:a16="http://schemas.microsoft.com/office/drawing/2014/main" id="{4499C6F5-8195-47DB-9695-7BB6B99E130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5ED3B7BB-3EB7-4CEA-A4D7-BD8F61381974}" type="datetime1">
              <a:rPr lang="zh-CN" altLang="en-US" smtClean="0"/>
              <a:pPr/>
              <a:t>2024/12/27</a:t>
            </a:fld>
            <a:endParaRPr lang="zh-CN" altLang="en-US"/>
          </a:p>
        </p:txBody>
      </p:sp>
      <p:sp>
        <p:nvSpPr>
          <p:cNvPr id="12291" name="页脚占位符 5">
            <a:extLst>
              <a:ext uri="{FF2B5EF4-FFF2-40B4-BE49-F238E27FC236}">
                <a16:creationId xmlns:a16="http://schemas.microsoft.com/office/drawing/2014/main" id="{378C80A5-2B0E-42C9-9F91-439FA8843C8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kumimoji="0" lang="en-US" altLang="zh-CN"/>
              <a:t>College of Computer Science &amp; Technology, BUPT </a:t>
            </a:r>
            <a:endParaRPr kumimoji="0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>
            <a:extLst>
              <a:ext uri="{FF2B5EF4-FFF2-40B4-BE49-F238E27FC236}">
                <a16:creationId xmlns:a16="http://schemas.microsoft.com/office/drawing/2014/main" id="{1E0B4D8F-9201-88D9-D5AB-81F0741EFD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10F7E62-E7C8-4DBF-A8EA-490FF405F246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14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3795" name="日期占位符 4">
            <a:extLst>
              <a:ext uri="{FF2B5EF4-FFF2-40B4-BE49-F238E27FC236}">
                <a16:creationId xmlns:a16="http://schemas.microsoft.com/office/drawing/2014/main" id="{C9AFE71E-87F0-C228-81A5-EEAF3190CE6D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53B4C6E-97BE-4FDA-B0A6-686C05A07D24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3796" name="页脚占位符 5">
            <a:extLst>
              <a:ext uri="{FF2B5EF4-FFF2-40B4-BE49-F238E27FC236}">
                <a16:creationId xmlns:a16="http://schemas.microsoft.com/office/drawing/2014/main" id="{BB303BAD-01A4-768D-D243-7AB3E7E650D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4A92D389-171C-0A7E-EBD0-03606E892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Groupoid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AD35F705-E244-0D91-3D98-253B85CF6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844675"/>
            <a:ext cx="8132763" cy="41148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CN" sz="2800" noProof="1"/>
              <a:t>A nonempty set G with a binary operation * is called</a:t>
            </a:r>
          </a:p>
          <a:p>
            <a:pPr lvl="1" eaLnBrk="1" hangingPunct="1">
              <a:defRPr/>
            </a:pPr>
            <a:r>
              <a:rPr lang="en-US" altLang="zh-CN" sz="2400" noProof="1">
                <a:sym typeface="+mn-ea"/>
              </a:rPr>
              <a:t>Groupoid: closure</a:t>
            </a:r>
            <a:r>
              <a:rPr lang="en-US" altLang="zh-CN" sz="2400" noProof="1"/>
              <a:t> </a:t>
            </a:r>
          </a:p>
          <a:p>
            <a:pPr lvl="1" eaLnBrk="1" hangingPunct="1">
              <a:defRPr/>
            </a:pPr>
            <a:r>
              <a:rPr lang="en-US" altLang="zh-CN" sz="2400" noProof="1"/>
              <a:t>Semigroup: closure and associative</a:t>
            </a:r>
          </a:p>
          <a:p>
            <a:pPr lvl="2" eaLnBrk="1" hangingPunct="1">
              <a:defRPr/>
            </a:pPr>
            <a:r>
              <a:rPr lang="en-US" altLang="zh-CN" noProof="1">
                <a:sym typeface="+mn-ea"/>
              </a:rPr>
              <a:t>Subsemigroup - closure</a:t>
            </a:r>
            <a:endParaRPr lang="en-US" altLang="zh-CN" noProof="1"/>
          </a:p>
          <a:p>
            <a:pPr lvl="1" eaLnBrk="1" hangingPunct="1">
              <a:defRPr/>
            </a:pPr>
            <a:r>
              <a:rPr lang="en-US" altLang="zh-CN" sz="2400" noProof="1"/>
              <a:t>Monoid: </a:t>
            </a:r>
            <a:r>
              <a:rPr lang="en-US" altLang="zh-CN" sz="2400" noProof="1">
                <a:sym typeface="+mn-ea"/>
              </a:rPr>
              <a:t>closure, associative and identity</a:t>
            </a:r>
            <a:endParaRPr lang="zh-CN" altLang="en-US" sz="2400" noProof="1"/>
          </a:p>
          <a:p>
            <a:pPr lvl="2" eaLnBrk="1" hangingPunct="1">
              <a:defRPr/>
            </a:pPr>
            <a:r>
              <a:rPr lang="en-US" altLang="zh-CN" sz="2055" noProof="1"/>
              <a:t>Submonoid – closure and identity</a:t>
            </a:r>
            <a:endParaRPr lang="zh-CN" altLang="en-US" sz="2055" noProof="1"/>
          </a:p>
          <a:p>
            <a:pPr lvl="1" eaLnBrk="1" hangingPunct="1">
              <a:defRPr/>
            </a:pPr>
            <a:r>
              <a:rPr lang="en-US" altLang="zh-CN" sz="2400" noProof="1"/>
              <a:t>Group: </a:t>
            </a:r>
            <a:r>
              <a:rPr lang="en-US" altLang="zh-CN" sz="2400" noProof="1">
                <a:sym typeface="+mn-ea"/>
              </a:rPr>
              <a:t> closure, associative , identity and inverse</a:t>
            </a:r>
          </a:p>
          <a:p>
            <a:pPr lvl="2" eaLnBrk="1" hangingPunct="1">
              <a:defRPr/>
            </a:pPr>
            <a:r>
              <a:rPr lang="en-US" altLang="zh-CN" sz="2055" noProof="1">
                <a:sym typeface="+mn-ea"/>
              </a:rPr>
              <a:t>Subgroup – </a:t>
            </a:r>
            <a:r>
              <a:rPr lang="en-US" altLang="zh-CN" sz="2055" noProof="1"/>
              <a:t>closure, identity and inverse.</a:t>
            </a:r>
            <a:endParaRPr lang="en-US" altLang="zh-CN" sz="2055" noProof="1">
              <a:sym typeface="+mn-ea"/>
            </a:endParaRPr>
          </a:p>
          <a:p>
            <a:pPr lvl="1" eaLnBrk="1" hangingPunct="1">
              <a:defRPr/>
            </a:pPr>
            <a:r>
              <a:rPr lang="en-US" altLang="zh-CN" sz="2400" noProof="1">
                <a:cs typeface="+mn-ea"/>
                <a:sym typeface="+mn-ea"/>
              </a:rPr>
              <a:t>Abellian groupoid(semigroup, monoid, group)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4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3">
            <a:extLst>
              <a:ext uri="{FF2B5EF4-FFF2-40B4-BE49-F238E27FC236}">
                <a16:creationId xmlns:a16="http://schemas.microsoft.com/office/drawing/2014/main" id="{DF7A31F8-5E16-4D73-A7CB-A2CEF9A67C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599319A-189E-4B15-881E-D1466CCFA40A}" type="slidenum">
              <a:rPr lang="zh-CN" altLang="en-US"/>
              <a:pPr/>
              <a:t>15</a:t>
            </a:fld>
            <a:endParaRPr lang="zh-CN" altLang="en-US"/>
          </a:p>
        </p:txBody>
      </p:sp>
      <p:sp>
        <p:nvSpPr>
          <p:cNvPr id="27650" name="日期占位符 4">
            <a:extLst>
              <a:ext uri="{FF2B5EF4-FFF2-40B4-BE49-F238E27FC236}">
                <a16:creationId xmlns:a16="http://schemas.microsoft.com/office/drawing/2014/main" id="{38082A39-7966-4A95-A9B5-86CD6A7E2DA1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5C45A84C-0E35-4CDB-A7D8-C59CD051FE06}" type="datetime1">
              <a:rPr lang="zh-CN" altLang="en-US" smtClean="0"/>
              <a:pPr/>
              <a:t>2024/12/27</a:t>
            </a:fld>
            <a:endParaRPr lang="zh-CN" altLang="en-US"/>
          </a:p>
        </p:txBody>
      </p:sp>
      <p:sp>
        <p:nvSpPr>
          <p:cNvPr id="27651" name="页脚占位符 5">
            <a:extLst>
              <a:ext uri="{FF2B5EF4-FFF2-40B4-BE49-F238E27FC236}">
                <a16:creationId xmlns:a16="http://schemas.microsoft.com/office/drawing/2014/main" id="{41B27D1B-8593-4B0B-BDE4-ED8D7B824DD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kumimoji="0" lang="en-US" altLang="zh-CN"/>
              <a:t>College of Computer Science &amp; Technology, BUPT</a:t>
            </a:r>
            <a:endParaRPr kumimoji="0" lang="zh-CN" altLang="en-US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44FF6848-EDAE-485A-9AD4-05154E9448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5312" y="584200"/>
            <a:ext cx="749617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/>
              <a:t>Left/Right Cancellation </a:t>
            </a:r>
            <a:r>
              <a:rPr lang="zh-CN" altLang="en-US" dirty="0"/>
              <a:t>消去律</a:t>
            </a:r>
            <a:endParaRPr lang="zh-CN" altLang="en-US" sz="4800" dirty="0"/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1CE71FAD-93C5-4B8A-AAD3-F81E51350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700" y="1898650"/>
            <a:ext cx="7772400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400" dirty="0"/>
              <a:t>Let </a:t>
            </a:r>
          </a:p>
          <a:p>
            <a:pPr lvl="1" eaLnBrk="1" hangingPunct="1"/>
            <a:r>
              <a:rPr lang="en-US" altLang="zh-CN" i="1" dirty="0"/>
              <a:t>G</a:t>
            </a:r>
            <a:r>
              <a:rPr lang="en-US" altLang="zh-CN" dirty="0"/>
              <a:t> be a group and </a:t>
            </a:r>
          </a:p>
          <a:p>
            <a:pPr lvl="1" eaLnBrk="1" hangingPunct="1"/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, and </a:t>
            </a:r>
            <a:r>
              <a:rPr lang="en-US" altLang="zh-CN" i="1" dirty="0"/>
              <a:t>c</a:t>
            </a:r>
            <a:r>
              <a:rPr lang="en-US" altLang="zh-CN" dirty="0"/>
              <a:t> be elements of </a:t>
            </a:r>
            <a:r>
              <a:rPr lang="en-US" altLang="zh-CN" i="1" dirty="0"/>
              <a:t>G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sz="2400" dirty="0"/>
              <a:t>Then</a:t>
            </a:r>
          </a:p>
          <a:p>
            <a:pPr lvl="2" eaLnBrk="1" hangingPunct="1"/>
            <a:r>
              <a:rPr lang="en-US" altLang="zh-CN" sz="2400" i="1" dirty="0"/>
              <a:t>ab</a:t>
            </a:r>
            <a:r>
              <a:rPr lang="en-US" altLang="zh-CN" sz="2400" dirty="0"/>
              <a:t> = </a:t>
            </a:r>
            <a:r>
              <a:rPr lang="en-US" altLang="zh-CN" sz="2400" i="1" dirty="0"/>
              <a:t>ac</a:t>
            </a:r>
            <a:r>
              <a:rPr lang="en-US" altLang="zh-CN" sz="2400" dirty="0"/>
              <a:t> implies that </a:t>
            </a:r>
            <a:r>
              <a:rPr lang="en-US" altLang="zh-CN" sz="2400" i="1" dirty="0"/>
              <a:t>b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  <a:endParaRPr lang="en-US" altLang="zh-CN" sz="2400" dirty="0"/>
          </a:p>
          <a:p>
            <a:pPr lvl="2" eaLnBrk="1" hangingPunct="1"/>
            <a:r>
              <a:rPr lang="en-US" altLang="zh-CN" sz="2400" i="1" dirty="0" err="1"/>
              <a:t>ba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ca</a:t>
            </a:r>
            <a:r>
              <a:rPr lang="en-US" altLang="zh-CN" sz="2400" dirty="0"/>
              <a:t> implies that </a:t>
            </a:r>
            <a:r>
              <a:rPr lang="en-US" altLang="zh-CN" sz="2400" i="1" dirty="0"/>
              <a:t>b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</a:p>
          <a:p>
            <a:pPr marL="533400" indent="-533400" eaLnBrk="1" hangingPunct="1"/>
            <a:r>
              <a:rPr lang="en-US" altLang="zh-CN" sz="2400" dirty="0"/>
              <a:t>Then </a:t>
            </a:r>
          </a:p>
          <a:p>
            <a:pPr marL="914400" lvl="1" indent="-457200" eaLnBrk="1" hangingPunct="1"/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baseline="30000" dirty="0"/>
              <a:t>-1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dirty="0"/>
              <a:t>.</a:t>
            </a:r>
          </a:p>
          <a:p>
            <a:pPr marL="914400" lvl="1" indent="-457200" eaLnBrk="1" hangingPunct="1"/>
            <a:r>
              <a:rPr lang="en-US" altLang="zh-CN" dirty="0"/>
              <a:t>(</a:t>
            </a:r>
            <a:r>
              <a:rPr lang="en-US" altLang="zh-CN" i="1" dirty="0"/>
              <a:t>ab</a:t>
            </a:r>
            <a:r>
              <a:rPr lang="en-US" altLang="zh-CN" dirty="0"/>
              <a:t>)</a:t>
            </a:r>
            <a:r>
              <a:rPr lang="en-US" altLang="zh-CN" baseline="30000" dirty="0"/>
              <a:t>-1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baseline="30000" dirty="0"/>
              <a:t>-</a:t>
            </a:r>
            <a:r>
              <a:rPr lang="en-US" altLang="zh-CN" baseline="30000" dirty="0" err="1"/>
              <a:t>1</a:t>
            </a:r>
            <a:r>
              <a:rPr lang="en-US" altLang="zh-CN" i="1" dirty="0" err="1"/>
              <a:t>a</a:t>
            </a:r>
            <a:r>
              <a:rPr lang="en-US" altLang="zh-CN" baseline="30000" dirty="0"/>
              <a:t>-1</a:t>
            </a:r>
            <a:endParaRPr lang="zh-CN" altLang="en-US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3">
            <a:extLst>
              <a:ext uri="{FF2B5EF4-FFF2-40B4-BE49-F238E27FC236}">
                <a16:creationId xmlns:a16="http://schemas.microsoft.com/office/drawing/2014/main" id="{1029B8B5-33F7-D489-A100-17611C41F55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25000BE-6E34-4F0A-874F-4A904172A29B}" type="slidenum">
              <a:rPr lang="zh-CN" altLang="en-US" sz="1000">
                <a:solidFill>
                  <a:srgbClr val="009999"/>
                </a:solidFill>
                <a:latin typeface="Arial Narrow" panose="020B0606020202030204" pitchFamily="34" charset="0"/>
              </a:rPr>
              <a:pPr/>
              <a:t>16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>
            <a:extLst>
              <a:ext uri="{FF2B5EF4-FFF2-40B4-BE49-F238E27FC236}">
                <a16:creationId xmlns:a16="http://schemas.microsoft.com/office/drawing/2014/main" id="{DC5B4CFD-5545-5510-1415-FC03DB99F573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FE52D9BD-8369-460C-A95F-9F545E5332D8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>
            <a:extLst>
              <a:ext uri="{FF2B5EF4-FFF2-40B4-BE49-F238E27FC236}">
                <a16:creationId xmlns:a16="http://schemas.microsoft.com/office/drawing/2014/main" id="{240E52CF-B003-6883-12CD-F69D88A2614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A53CECD8-5A78-D788-6936-C7ED22009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Groups of order 4</a:t>
            </a:r>
            <a:endParaRPr lang="zh-CN" altLang="en-US" dirty="0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35A576C5-4A6F-20E5-016C-976D12297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if </a:t>
            </a:r>
            <a:r>
              <a:rPr lang="en-US" altLang="zh-CN" sz="2800" i="1" dirty="0"/>
              <a:t>x</a:t>
            </a:r>
            <a:r>
              <a:rPr lang="en-US" altLang="zh-CN" sz="2800" dirty="0"/>
              <a:t> is any element in the group, then </a:t>
            </a:r>
            <a:r>
              <a:rPr lang="en-US" altLang="zh-CN" sz="2800" i="1" dirty="0" err="1"/>
              <a:t>x</a:t>
            </a:r>
            <a:r>
              <a:rPr lang="en-US" altLang="zh-CN" sz="2800" baseline="30000" dirty="0" err="1"/>
              <a:t>2</a:t>
            </a:r>
            <a:r>
              <a:rPr lang="en-US" altLang="zh-CN" sz="2800" dirty="0"/>
              <a:t> = </a:t>
            </a:r>
            <a:r>
              <a:rPr lang="en-US" altLang="zh-CN" sz="2800" i="1" dirty="0"/>
              <a:t>e. </a:t>
            </a:r>
            <a:r>
              <a:rPr lang="en-US" altLang="zh-CN" sz="2800" dirty="0"/>
              <a:t>The group is called the </a:t>
            </a:r>
            <a:r>
              <a:rPr lang="en-US" altLang="zh-CN" sz="2800" i="1" dirty="0"/>
              <a:t>Klein group</a:t>
            </a:r>
            <a:r>
              <a:rPr lang="en-US" altLang="zh-CN" sz="2800" dirty="0"/>
              <a:t>(</a:t>
            </a:r>
            <a:r>
              <a:rPr lang="zh-CN" altLang="en-US" sz="2800" dirty="0"/>
              <a:t>克莱因群</a:t>
            </a:r>
            <a:r>
              <a:rPr lang="en-US" altLang="zh-CN" sz="2800" dirty="0"/>
              <a:t>). 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en-US" altLang="zh-CN" i="1" dirty="0"/>
              <a:t>G</a:t>
            </a:r>
            <a:r>
              <a:rPr lang="en-US" altLang="zh-CN" dirty="0"/>
              <a:t> = {</a:t>
            </a:r>
            <a:r>
              <a:rPr lang="en-US" altLang="zh-CN" i="1" dirty="0" err="1"/>
              <a:t>a</a:t>
            </a:r>
            <a:r>
              <a:rPr lang="en-US" altLang="zh-CN" baseline="30000" dirty="0" err="1"/>
              <a:t>0</a:t>
            </a:r>
            <a:r>
              <a:rPr lang="en-US" altLang="zh-CN" dirty="0"/>
              <a:t>, </a:t>
            </a:r>
            <a:r>
              <a:rPr lang="en-US" altLang="zh-CN" i="1" dirty="0" err="1"/>
              <a:t>a</a:t>
            </a:r>
            <a:r>
              <a:rPr lang="en-US" altLang="zh-CN" baseline="30000" dirty="0" err="1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…, a</a:t>
            </a:r>
            <a:r>
              <a:rPr lang="en-US" altLang="zh-CN" baseline="30000" dirty="0"/>
              <a:t>n</a:t>
            </a:r>
            <a:r>
              <a:rPr lang="en-US" altLang="zh-CN" dirty="0"/>
              <a:t>}, Such group is called </a:t>
            </a:r>
            <a:r>
              <a:rPr lang="en-US" altLang="zh-CN" i="1" dirty="0"/>
              <a:t>cyclic group</a:t>
            </a:r>
            <a:r>
              <a:rPr lang="en-US" altLang="zh-CN" dirty="0"/>
              <a:t>.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18AD75-8937-4EB5-CCA7-6DFC88A25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33" y="2924944"/>
            <a:ext cx="2442733" cy="20162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F63B42-2F6A-1DF9-FFEC-DD049843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841" y="2852936"/>
            <a:ext cx="236220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>
            <a:extLst>
              <a:ext uri="{FF2B5EF4-FFF2-40B4-BE49-F238E27FC236}">
                <a16:creationId xmlns:a16="http://schemas.microsoft.com/office/drawing/2014/main" id="{F34ED5E2-331A-EB29-47F3-7486E3F176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B31A27CF-DAD3-4503-BEEB-A4B00D33683E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17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9939" name="日期占位符 4">
            <a:extLst>
              <a:ext uri="{FF2B5EF4-FFF2-40B4-BE49-F238E27FC236}">
                <a16:creationId xmlns:a16="http://schemas.microsoft.com/office/drawing/2014/main" id="{E748AB34-37AB-8979-1B52-60AEE5D42B31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0437A8C-4C77-49CE-AF71-72BD30F12BB0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9940" name="页脚占位符 5">
            <a:extLst>
              <a:ext uri="{FF2B5EF4-FFF2-40B4-BE49-F238E27FC236}">
                <a16:creationId xmlns:a16="http://schemas.microsoft.com/office/drawing/2014/main" id="{E403F0BB-1610-3465-F0D9-81275E34D02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39941" name="Rectangle 2">
            <a:extLst>
              <a:ext uri="{FF2B5EF4-FFF2-40B4-BE49-F238E27FC236}">
                <a16:creationId xmlns:a16="http://schemas.microsoft.com/office/drawing/2014/main" id="{80CED64E-01F8-49F4-D880-91B5158E0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Group of symmetries of the triangle</a:t>
            </a:r>
            <a:endParaRPr lang="zh-CN" altLang="en-US" sz="4000"/>
          </a:p>
        </p:txBody>
      </p:sp>
      <p:sp>
        <p:nvSpPr>
          <p:cNvPr id="39942" name="Rectangle 3">
            <a:extLst>
              <a:ext uri="{FF2B5EF4-FFF2-40B4-BE49-F238E27FC236}">
                <a16:creationId xmlns:a16="http://schemas.microsoft.com/office/drawing/2014/main" id="{9199EFF1-35B2-797A-E33D-9CCE6361B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 err="1"/>
              <a:t>S</a:t>
            </a:r>
            <a:r>
              <a:rPr lang="en-US" altLang="zh-CN" baseline="-25000" dirty="0" err="1"/>
              <a:t>3</a:t>
            </a:r>
            <a:r>
              <a:rPr lang="en-US" altLang="zh-CN" dirty="0"/>
              <a:t> = {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2</a:t>
            </a:r>
            <a:r>
              <a:rPr lang="en-US" altLang="zh-CN" dirty="0"/>
              <a:t>, 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3</a:t>
            </a:r>
            <a:r>
              <a:rPr lang="en-US" altLang="zh-CN" dirty="0"/>
              <a:t>, </a:t>
            </a:r>
            <a:r>
              <a:rPr lang="en-US" altLang="zh-CN" i="1" dirty="0" err="1"/>
              <a:t>g</a:t>
            </a:r>
            <a:r>
              <a:rPr lang="en-US" altLang="zh-CN" baseline="-25000" dirty="0" err="1"/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g</a:t>
            </a:r>
            <a:r>
              <a:rPr lang="en-US" altLang="zh-CN" baseline="-25000" dirty="0" err="1"/>
              <a:t>2</a:t>
            </a:r>
            <a:r>
              <a:rPr lang="en-US" altLang="zh-CN" dirty="0"/>
              <a:t>, </a:t>
            </a:r>
            <a:r>
              <a:rPr lang="en-US" altLang="zh-CN" i="1" dirty="0" err="1"/>
              <a:t>g</a:t>
            </a:r>
            <a:r>
              <a:rPr lang="en-US" altLang="zh-CN" baseline="-25000" dirty="0" err="1"/>
              <a:t>3</a:t>
            </a:r>
            <a:r>
              <a:rPr lang="en-US" altLang="zh-CN" dirty="0"/>
              <a:t>} and introduce the operation *, </a:t>
            </a:r>
            <a:r>
              <a:rPr lang="en-US" altLang="zh-CN" i="1" dirty="0"/>
              <a:t>followed by</a:t>
            </a:r>
            <a:r>
              <a:rPr lang="en-US" altLang="zh-CN" dirty="0"/>
              <a:t>, on the set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3</a:t>
            </a:r>
            <a:endParaRPr lang="en-US" altLang="zh-CN" dirty="0"/>
          </a:p>
        </p:txBody>
      </p:sp>
      <p:graphicFrame>
        <p:nvGraphicFramePr>
          <p:cNvPr id="39943" name="Object 5">
            <a:extLst>
              <a:ext uri="{FF2B5EF4-FFF2-40B4-BE49-F238E27FC236}">
                <a16:creationId xmlns:a16="http://schemas.microsoft.com/office/drawing/2014/main" id="{F61F3F0F-8C89-2B0B-4198-1DBDB7E0D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924175"/>
          <a:ext cx="4535488" cy="379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43100" imgH="1625600" progId="Equation.DSMT4">
                  <p:embed/>
                </p:oleObj>
              </mc:Choice>
              <mc:Fallback>
                <p:oleObj r:id="rId2" imgW="1943100" imgH="1625600" progId="Equation.DSMT4">
                  <p:embed/>
                  <p:pic>
                    <p:nvPicPr>
                      <p:cNvPr id="39943" name="Object 5">
                        <a:extLst>
                          <a:ext uri="{FF2B5EF4-FFF2-40B4-BE49-F238E27FC236}">
                            <a16:creationId xmlns:a16="http://schemas.microsoft.com/office/drawing/2014/main" id="{F61F3F0F-8C89-2B0B-4198-1DBDB7E0D4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924175"/>
                        <a:ext cx="4535488" cy="379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6">
            <a:extLst>
              <a:ext uri="{FF2B5EF4-FFF2-40B4-BE49-F238E27FC236}">
                <a16:creationId xmlns:a16="http://schemas.microsoft.com/office/drawing/2014/main" id="{5176AEB1-31DF-AC8B-FFAF-59CD35706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890122"/>
              </p:ext>
            </p:extLst>
          </p:nvPr>
        </p:nvGraphicFramePr>
        <p:xfrm>
          <a:off x="4837658" y="2593181"/>
          <a:ext cx="43211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84500" imgH="457200" progId="Equation.DSMT4">
                  <p:embed/>
                </p:oleObj>
              </mc:Choice>
              <mc:Fallback>
                <p:oleObj r:id="rId4" imgW="2984500" imgH="457200" progId="Equation.DSMT4">
                  <p:embed/>
                  <p:pic>
                    <p:nvPicPr>
                      <p:cNvPr id="39944" name="Object 6">
                        <a:extLst>
                          <a:ext uri="{FF2B5EF4-FFF2-40B4-BE49-F238E27FC236}">
                            <a16:creationId xmlns:a16="http://schemas.microsoft.com/office/drawing/2014/main" id="{5176AEB1-31DF-AC8B-FFAF-59CD35706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658" y="2593181"/>
                        <a:ext cx="4321175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7">
            <a:extLst>
              <a:ext uri="{FF2B5EF4-FFF2-40B4-BE49-F238E27FC236}">
                <a16:creationId xmlns:a16="http://schemas.microsoft.com/office/drawing/2014/main" id="{E81A693D-4917-7C24-77E8-BD1F66264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016859"/>
              </p:ext>
            </p:extLst>
          </p:nvPr>
        </p:nvGraphicFramePr>
        <p:xfrm>
          <a:off x="4837658" y="3372711"/>
          <a:ext cx="42608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22600" imgH="457200" progId="Equation.DSMT4">
                  <p:embed/>
                </p:oleObj>
              </mc:Choice>
              <mc:Fallback>
                <p:oleObj r:id="rId6" imgW="3022600" imgH="457200" progId="Equation.DSMT4">
                  <p:embed/>
                  <p:pic>
                    <p:nvPicPr>
                      <p:cNvPr id="39945" name="Object 7">
                        <a:extLst>
                          <a:ext uri="{FF2B5EF4-FFF2-40B4-BE49-F238E27FC236}">
                            <a16:creationId xmlns:a16="http://schemas.microsoft.com/office/drawing/2014/main" id="{E81A693D-4917-7C24-77E8-BD1F66264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658" y="3372711"/>
                        <a:ext cx="426085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C180B425-4EC8-4135-B832-6AEF7CF8D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New Algebras from Old Ones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15DB3AA9-F965-451D-8F26-6D458AEE0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dirty="0"/>
              <a:t>Subalgebra</a:t>
            </a:r>
          </a:p>
          <a:p>
            <a:pPr lvl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be a group. Then </a:t>
            </a:r>
            <a:r>
              <a:rPr lang="en-US" altLang="zh-CN" i="1" dirty="0"/>
              <a:t>G</a:t>
            </a:r>
            <a:r>
              <a:rPr lang="en-US" altLang="zh-CN" dirty="0"/>
              <a:t> and </a:t>
            </a:r>
            <a:r>
              <a:rPr lang="en-US" altLang="zh-CN" i="1" dirty="0"/>
              <a:t>H</a:t>
            </a:r>
            <a:r>
              <a:rPr lang="en-US" altLang="zh-CN" dirty="0"/>
              <a:t> = {</a:t>
            </a:r>
            <a:r>
              <a:rPr lang="en-US" altLang="zh-CN" i="1" dirty="0"/>
              <a:t>e</a:t>
            </a:r>
            <a:r>
              <a:rPr lang="en-US" altLang="zh-CN" dirty="0"/>
              <a:t>} are subgroups of </a:t>
            </a:r>
            <a:r>
              <a:rPr lang="en-US" altLang="zh-CN" i="1" dirty="0"/>
              <a:t>G</a:t>
            </a:r>
            <a:r>
              <a:rPr lang="en-US" altLang="zh-CN" dirty="0"/>
              <a:t>, called the </a:t>
            </a:r>
            <a:r>
              <a:rPr lang="en-US" altLang="zh-CN" i="1" dirty="0"/>
              <a:t>trivial subgroups</a:t>
            </a:r>
            <a:r>
              <a:rPr lang="en-US" altLang="zh-CN" dirty="0"/>
              <a:t> (</a:t>
            </a:r>
            <a:r>
              <a:rPr lang="zh-CN" altLang="en-US" dirty="0"/>
              <a:t>平凡子群</a:t>
            </a:r>
            <a:r>
              <a:rPr lang="en-US" altLang="zh-CN" dirty="0"/>
              <a:t>) of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zh-CN" altLang="en-US" baseline="-25000" dirty="0"/>
          </a:p>
          <a:p>
            <a:pPr lvl="1"/>
            <a:r>
              <a:rPr kumimoji="1" lang="en-US" altLang="zh-CN" i="1" noProof="1">
                <a:sym typeface="+mn-ea"/>
              </a:rPr>
              <a:t>Let G be a group, H be a nonempty subset of G. If </a:t>
            </a:r>
            <a:r>
              <a:rPr kumimoji="1" lang="en-US" altLang="zh-CN" i="1" noProof="1">
                <a:sym typeface="Symbol" panose="05050102010706020507" charset="0"/>
              </a:rPr>
              <a:t>a,bH implies a</a:t>
            </a:r>
            <a:r>
              <a:rPr kumimoji="1" lang="en-US" altLang="zh-CN" i="1" baseline="30000" noProof="1">
                <a:sym typeface="Symbol" panose="05050102010706020507" charset="0"/>
              </a:rPr>
              <a:t>-1</a:t>
            </a:r>
            <a:r>
              <a:rPr kumimoji="1" lang="en-US" altLang="zh-CN" i="1" noProof="1">
                <a:sym typeface="Symbol" panose="05050102010706020507" charset="0"/>
              </a:rPr>
              <a:t>*bH</a:t>
            </a:r>
            <a:r>
              <a:rPr kumimoji="1" lang="en-US" altLang="zh-CN" noProof="1">
                <a:sym typeface="+mn-ea"/>
              </a:rPr>
              <a:t>, Then </a:t>
            </a:r>
            <a:r>
              <a:rPr kumimoji="1" lang="en-US" altLang="zh-CN" i="1" noProof="1">
                <a:cs typeface="+mn-ea"/>
                <a:sym typeface="+mn-ea"/>
              </a:rPr>
              <a:t>H is a subgroup of G.</a:t>
            </a:r>
            <a:endParaRPr lang="en-US" altLang="zh-CN" sz="2400" dirty="0"/>
          </a:p>
          <a:p>
            <a:pPr eaLnBrk="1" hangingPunct="1"/>
            <a:r>
              <a:rPr lang="en-US" altLang="zh-CN" dirty="0"/>
              <a:t>Product Algebra</a:t>
            </a:r>
          </a:p>
          <a:p>
            <a:pPr lvl="1"/>
            <a:r>
              <a:rPr lang="en-US" altLang="zh-CN" i="1" dirty="0">
                <a:sym typeface="宋体" panose="02010600030101010101" pitchFamily="2" charset="-122"/>
              </a:rPr>
              <a:t>If (S,*) and (T,*') are groupoid, Then (</a:t>
            </a:r>
            <a:r>
              <a:rPr lang="en-US" altLang="zh-CN" i="1" dirty="0" err="1">
                <a:sym typeface="宋体" panose="02010600030101010101" pitchFamily="2" charset="-122"/>
              </a:rPr>
              <a:t>S</a:t>
            </a:r>
            <a:r>
              <a:rPr lang="en-US" altLang="zh-CN" i="1" dirty="0" err="1">
                <a:latin typeface="Arial" panose="020B0604020202020204" pitchFamily="34" charset="0"/>
                <a:sym typeface="宋体" panose="02010600030101010101" pitchFamily="2" charset="-122"/>
              </a:rPr>
              <a:t>×</a:t>
            </a:r>
            <a:r>
              <a:rPr lang="en-US" altLang="zh-CN" i="1" dirty="0" err="1">
                <a:sym typeface="宋体" panose="02010600030101010101" pitchFamily="2" charset="-122"/>
              </a:rPr>
              <a:t>T</a:t>
            </a:r>
            <a:r>
              <a:rPr lang="en-US" altLang="zh-CN" i="1" dirty="0">
                <a:sym typeface="宋体" panose="02010600030101010101" pitchFamily="2" charset="-122"/>
              </a:rPr>
              <a:t>,*'') is a groupoid, where *'' is defined by </a:t>
            </a:r>
            <a:r>
              <a:rPr lang="en-US" altLang="zh-CN" sz="2900" i="1" dirty="0">
                <a:sym typeface="宋体" panose="02010600030101010101" pitchFamily="2" charset="-122"/>
              </a:rPr>
              <a:t>(</a:t>
            </a:r>
            <a:r>
              <a:rPr lang="en-US" altLang="zh-CN" sz="2900" i="1" dirty="0" err="1">
                <a:sym typeface="宋体" panose="02010600030101010101" pitchFamily="2" charset="-122"/>
              </a:rPr>
              <a:t>s1,t1</a:t>
            </a:r>
            <a:r>
              <a:rPr lang="en-US" altLang="zh-CN" sz="2900" i="1" dirty="0">
                <a:sym typeface="宋体" panose="02010600030101010101" pitchFamily="2" charset="-122"/>
              </a:rPr>
              <a:t>)*'' (</a:t>
            </a:r>
            <a:r>
              <a:rPr lang="en-US" altLang="zh-CN" sz="2900" i="1" dirty="0" err="1">
                <a:sym typeface="宋体" panose="02010600030101010101" pitchFamily="2" charset="-122"/>
              </a:rPr>
              <a:t>s2,t2</a:t>
            </a:r>
            <a:r>
              <a:rPr lang="en-US" altLang="zh-CN" sz="2900" i="1" dirty="0">
                <a:sym typeface="宋体" panose="02010600030101010101" pitchFamily="2" charset="-122"/>
              </a:rPr>
              <a:t>)=(</a:t>
            </a:r>
            <a:r>
              <a:rPr lang="en-US" altLang="zh-CN" sz="2900" i="1" dirty="0" err="1">
                <a:sym typeface="宋体" panose="02010600030101010101" pitchFamily="2" charset="-122"/>
              </a:rPr>
              <a:t>s1</a:t>
            </a:r>
            <a:r>
              <a:rPr lang="en-US" altLang="zh-CN" sz="2900" i="1" dirty="0">
                <a:sym typeface="宋体" panose="02010600030101010101" pitchFamily="2" charset="-122"/>
              </a:rPr>
              <a:t>*</a:t>
            </a:r>
            <a:r>
              <a:rPr lang="en-US" altLang="zh-CN" sz="2900" i="1" dirty="0" err="1">
                <a:sym typeface="宋体" panose="02010600030101010101" pitchFamily="2" charset="-122"/>
              </a:rPr>
              <a:t>s2</a:t>
            </a:r>
            <a:r>
              <a:rPr lang="en-US" altLang="zh-CN" sz="2900" i="1" dirty="0">
                <a:sym typeface="宋体" panose="02010600030101010101" pitchFamily="2" charset="-122"/>
              </a:rPr>
              <a:t>, </a:t>
            </a:r>
            <a:r>
              <a:rPr lang="en-US" altLang="zh-CN" sz="2900" i="1" dirty="0" err="1">
                <a:sym typeface="宋体" panose="02010600030101010101" pitchFamily="2" charset="-122"/>
              </a:rPr>
              <a:t>t1</a:t>
            </a:r>
            <a:r>
              <a:rPr lang="en-US" altLang="zh-CN" sz="2900" i="1" dirty="0">
                <a:sym typeface="宋体" panose="02010600030101010101" pitchFamily="2" charset="-122"/>
              </a:rPr>
              <a:t>*'</a:t>
            </a:r>
            <a:r>
              <a:rPr lang="en-US" altLang="zh-CN" sz="2900" i="1" dirty="0" err="1">
                <a:sym typeface="宋体" panose="02010600030101010101" pitchFamily="2" charset="-122"/>
              </a:rPr>
              <a:t>t2</a:t>
            </a:r>
            <a:r>
              <a:rPr lang="en-US" altLang="zh-CN" sz="2900" i="1" dirty="0">
                <a:sym typeface="宋体" panose="02010600030101010101" pitchFamily="2" charset="-122"/>
              </a:rPr>
              <a:t>).</a:t>
            </a:r>
            <a:endParaRPr lang="en-US" altLang="zh-CN" dirty="0"/>
          </a:p>
          <a:p>
            <a:pPr eaLnBrk="1" hangingPunct="1"/>
            <a:r>
              <a:rPr lang="en-US" altLang="zh-CN" dirty="0"/>
              <a:t>Quotient Algebra</a:t>
            </a:r>
          </a:p>
          <a:p>
            <a:pPr lvl="1"/>
            <a:r>
              <a:rPr lang="en-US" altLang="zh-CN" sz="2600" dirty="0"/>
              <a:t>Let </a:t>
            </a:r>
            <a:r>
              <a:rPr lang="en-US" altLang="zh-CN" sz="2600" i="1" dirty="0"/>
              <a:t>R</a:t>
            </a:r>
            <a:r>
              <a:rPr lang="en-US" altLang="zh-CN" sz="2600" dirty="0"/>
              <a:t> be a congruence relation on the groupoid (G, *). </a:t>
            </a:r>
          </a:p>
          <a:p>
            <a:pPr lvl="1"/>
            <a:r>
              <a:rPr lang="en-US" altLang="zh-CN" sz="2600" dirty="0">
                <a:sym typeface="Symbol" panose="05050102010706020507" pitchFamily="18" charset="2"/>
              </a:rPr>
              <a:t> be a</a:t>
            </a:r>
            <a:r>
              <a:rPr lang="en-US" altLang="zh-CN" sz="2600" dirty="0"/>
              <a:t> relation from G/</a:t>
            </a:r>
            <a:r>
              <a:rPr lang="en-US" altLang="zh-CN" sz="2600" i="1" dirty="0"/>
              <a:t>R</a:t>
            </a:r>
            <a:r>
              <a:rPr lang="en-US" altLang="zh-CN" sz="2600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sz="2600" dirty="0"/>
              <a:t> G/</a:t>
            </a:r>
            <a:r>
              <a:rPr lang="en-US" altLang="zh-CN" sz="2600" i="1" dirty="0"/>
              <a:t>R</a:t>
            </a:r>
            <a:r>
              <a:rPr lang="en-US" altLang="zh-CN" sz="2600" dirty="0"/>
              <a:t> to G/</a:t>
            </a:r>
            <a:r>
              <a:rPr lang="en-US" altLang="zh-CN" sz="2600" i="1" dirty="0"/>
              <a:t>R</a:t>
            </a:r>
            <a:r>
              <a:rPr lang="en-US" altLang="zh-CN" sz="2600" dirty="0"/>
              <a:t> in which the ordered pair ([</a:t>
            </a:r>
            <a:r>
              <a:rPr lang="en-US" altLang="zh-CN" sz="2600" i="1" dirty="0"/>
              <a:t>a</a:t>
            </a:r>
            <a:r>
              <a:rPr lang="en-US" altLang="zh-CN" sz="2600" dirty="0"/>
              <a:t>], [</a:t>
            </a:r>
            <a:r>
              <a:rPr lang="en-US" altLang="zh-CN" sz="2600" i="1" dirty="0"/>
              <a:t>b</a:t>
            </a:r>
            <a:r>
              <a:rPr lang="en-US" altLang="zh-CN" sz="2600" dirty="0"/>
              <a:t>]) is related to [</a:t>
            </a:r>
            <a:r>
              <a:rPr lang="en-US" altLang="zh-CN" sz="2600" i="1" dirty="0"/>
              <a:t>a</a:t>
            </a:r>
            <a:r>
              <a:rPr lang="en-US" altLang="zh-CN" sz="2600" dirty="0"/>
              <a:t>*</a:t>
            </a:r>
            <a:r>
              <a:rPr lang="en-US" altLang="zh-CN" sz="2600" i="1" dirty="0"/>
              <a:t>b</a:t>
            </a:r>
            <a:r>
              <a:rPr lang="en-US" altLang="zh-CN" sz="2600" dirty="0"/>
              <a:t>] for </a:t>
            </a:r>
            <a:r>
              <a:rPr lang="en-US" altLang="zh-CN" sz="2600" i="1" dirty="0" err="1"/>
              <a:t>a,b</a:t>
            </a:r>
            <a:r>
              <a:rPr lang="en-US" altLang="zh-CN" sz="2600" i="1" dirty="0" err="1">
                <a:sym typeface="Symbol" panose="05050102010706020507" pitchFamily="18" charset="2"/>
              </a:rPr>
              <a:t>G</a:t>
            </a:r>
            <a:r>
              <a:rPr lang="en-US" altLang="zh-CN" sz="2600" i="1" dirty="0">
                <a:sym typeface="Symbol" panose="05050102010706020507" pitchFamily="18" charset="2"/>
              </a:rPr>
              <a:t>.</a:t>
            </a:r>
            <a:r>
              <a:rPr lang="en-US" altLang="zh-CN" sz="2600" dirty="0"/>
              <a:t> </a:t>
            </a:r>
            <a:endParaRPr lang="en-US" altLang="zh-CN" dirty="0"/>
          </a:p>
        </p:txBody>
      </p:sp>
      <p:sp>
        <p:nvSpPr>
          <p:cNvPr id="12289" name="灯片编号占位符 3">
            <a:extLst>
              <a:ext uri="{FF2B5EF4-FFF2-40B4-BE49-F238E27FC236}">
                <a16:creationId xmlns:a16="http://schemas.microsoft.com/office/drawing/2014/main" id="{3A87AC1B-1D40-4C5C-8A6F-18624959FC0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D3FAABA-7393-4CF2-9B18-F6502B27C585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12290" name="日期占位符 4">
            <a:extLst>
              <a:ext uri="{FF2B5EF4-FFF2-40B4-BE49-F238E27FC236}">
                <a16:creationId xmlns:a16="http://schemas.microsoft.com/office/drawing/2014/main" id="{88E63498-24FB-4CE5-830E-7763EF87029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9CC6EFCB-FE94-4127-ADE1-94DF73CC18C9}" type="datetime1">
              <a:rPr lang="zh-CN" altLang="en-US" smtClean="0"/>
              <a:pPr/>
              <a:t>2024/12/27</a:t>
            </a:fld>
            <a:endParaRPr lang="zh-CN" altLang="en-US"/>
          </a:p>
        </p:txBody>
      </p:sp>
      <p:sp>
        <p:nvSpPr>
          <p:cNvPr id="12291" name="页脚占位符 5">
            <a:extLst>
              <a:ext uri="{FF2B5EF4-FFF2-40B4-BE49-F238E27FC236}">
                <a16:creationId xmlns:a16="http://schemas.microsoft.com/office/drawing/2014/main" id="{4A23961E-8700-4FD3-83F9-8179EE57F1D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kumimoji="0" lang="en-US" altLang="zh-CN"/>
              <a:t>College of Computer Science &amp; Technology, BUPT</a:t>
            </a:r>
            <a:endParaRPr kumimoji="0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C3F533FF-19D5-4F4F-97A2-B80AF8C8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 i="1" noProof="1">
                <a:sym typeface="+mn-ea"/>
              </a:rPr>
              <a:t> (Z</a:t>
            </a:r>
            <a:r>
              <a:rPr kumimoji="1" lang="en-US" altLang="zh-CN" i="1" baseline="-25000" noProof="1">
                <a:sym typeface="+mn-ea"/>
              </a:rPr>
              <a:t>n </a:t>
            </a:r>
            <a:r>
              <a:rPr kumimoji="1" lang="en-US" altLang="zh-CN" i="1" noProof="1">
                <a:sym typeface="+mn-ea"/>
              </a:rPr>
              <a:t>, </a:t>
            </a:r>
            <a:r>
              <a:rPr kumimoji="1" lang="en-US" altLang="zh-CN" noProof="1">
                <a:sym typeface="Symbol" panose="05050102010706020507" charset="0"/>
              </a:rPr>
              <a:t></a:t>
            </a:r>
            <a:r>
              <a:rPr kumimoji="1" lang="en-US" altLang="zh-CN" i="1" noProof="1">
                <a:sym typeface="Symbol" panose="05050102010706020507" charset="0"/>
              </a:rPr>
              <a:t> </a:t>
            </a:r>
            <a:r>
              <a:rPr kumimoji="1" lang="en-US" altLang="zh-CN" i="1" noProof="1">
                <a:sym typeface="+mn-ea"/>
              </a:rPr>
              <a:t>) </a:t>
            </a:r>
            <a:r>
              <a:rPr kumimoji="1" lang="zh-CN" altLang="en-US" i="1" noProof="1">
                <a:sym typeface="+mn-ea"/>
              </a:rPr>
              <a:t>整数模</a:t>
            </a:r>
            <a:r>
              <a:rPr kumimoji="1" lang="en-US" altLang="zh-CN" i="1" noProof="1">
                <a:sym typeface="+mn-ea"/>
              </a:rPr>
              <a:t>n</a:t>
            </a:r>
            <a:r>
              <a:rPr kumimoji="1" lang="zh-CN" altLang="en-US" i="1" noProof="1">
                <a:sym typeface="+mn-ea"/>
              </a:rPr>
              <a:t>加群</a:t>
            </a:r>
            <a:endParaRPr kumimoji="1" lang="en-US" altLang="zh-CN" baseline="-25000" noProof="1"/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6D9C6497-3135-4BA9-BC43-98FFE6F90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866900"/>
            <a:ext cx="8404225" cy="4114800"/>
          </a:xfrm>
        </p:spPr>
        <p:txBody>
          <a:bodyPr/>
          <a:lstStyle/>
          <a:p>
            <a:pPr eaLnBrk="1" hangingPunct="1"/>
            <a:r>
              <a:rPr kumimoji="1" lang="en-US" altLang="zh-CN" i="1" noProof="1">
                <a:sym typeface="+mn-ea"/>
              </a:rPr>
              <a:t>( Z</a:t>
            </a:r>
            <a:r>
              <a:rPr kumimoji="1" lang="en-US" altLang="zh-CN" noProof="1">
                <a:sym typeface="+mn-ea"/>
              </a:rPr>
              <a:t>, + </a:t>
            </a:r>
            <a:r>
              <a:rPr kumimoji="1" lang="en-US" altLang="zh-CN" i="1" noProof="1">
                <a:sym typeface="+mn-ea"/>
              </a:rPr>
              <a:t>) is a group,</a:t>
            </a:r>
          </a:p>
          <a:p>
            <a:pPr eaLnBrk="1" hangingPunct="1"/>
            <a:r>
              <a:rPr kumimoji="1" lang="en-US" altLang="zh-CN" i="1" noProof="1">
                <a:sym typeface="+mn-ea"/>
              </a:rPr>
              <a:t>Z /R  is Z / </a:t>
            </a:r>
            <a:r>
              <a:rPr kumimoji="1" lang="en-US" altLang="zh-CN" i="1" noProof="1">
                <a:sym typeface="Symbol" panose="05050102010706020507" charset="0"/>
              </a:rPr>
              <a:t> </a:t>
            </a:r>
            <a:r>
              <a:rPr kumimoji="1" lang="en-US" altLang="zh-CN" i="1" noProof="1">
                <a:sym typeface="+mn-ea"/>
              </a:rPr>
              <a:t>(mod n) = </a:t>
            </a:r>
            <a:r>
              <a:rPr kumimoji="1" lang="en-US" altLang="zh-CN" noProof="1">
                <a:sym typeface="+mn-ea"/>
              </a:rPr>
              <a:t>{[0],[1],...[n-1]}</a:t>
            </a:r>
            <a:r>
              <a:rPr kumimoji="1" lang="en-US" altLang="zh-CN" i="1" noProof="1">
                <a:sym typeface="+mn-ea"/>
              </a:rPr>
              <a:t>, denoted by Z</a:t>
            </a:r>
            <a:r>
              <a:rPr kumimoji="1" lang="en-US" altLang="zh-CN" i="1" baseline="-25000" noProof="1">
                <a:sym typeface="+mn-ea"/>
              </a:rPr>
              <a:t>n </a:t>
            </a:r>
            <a:r>
              <a:rPr kumimoji="1" lang="en-US" altLang="zh-CN" i="1" noProof="1">
                <a:sym typeface="+mn-ea"/>
              </a:rPr>
              <a:t>.</a:t>
            </a:r>
          </a:p>
          <a:p>
            <a:pPr eaLnBrk="1" hangingPunct="1"/>
            <a:r>
              <a:rPr kumimoji="1" lang="en-US" altLang="zh-CN" i="1" noProof="1">
                <a:sym typeface="+mn-ea"/>
              </a:rPr>
              <a:t>(Z</a:t>
            </a:r>
            <a:r>
              <a:rPr kumimoji="1" lang="en-US" altLang="zh-CN" i="1" baseline="-25000" noProof="1">
                <a:sym typeface="+mn-ea"/>
              </a:rPr>
              <a:t>n </a:t>
            </a:r>
            <a:r>
              <a:rPr kumimoji="1" lang="en-US" altLang="zh-CN" i="1" noProof="1">
                <a:sym typeface="+mn-ea"/>
              </a:rPr>
              <a:t>,</a:t>
            </a:r>
            <a:r>
              <a:rPr kumimoji="1" lang="en-US" altLang="zh-CN" noProof="1">
                <a:sym typeface="Symbol" panose="05050102010706020507" charset="0"/>
              </a:rPr>
              <a:t></a:t>
            </a:r>
            <a:r>
              <a:rPr kumimoji="1" lang="en-US" altLang="zh-CN" i="1" noProof="1">
                <a:sym typeface="Symbol" panose="05050102010706020507" charset="0"/>
              </a:rPr>
              <a:t> </a:t>
            </a:r>
            <a:r>
              <a:rPr kumimoji="1" lang="en-US" altLang="zh-CN" i="1" noProof="1">
                <a:sym typeface="+mn-ea"/>
              </a:rPr>
              <a:t>) is defined by </a:t>
            </a:r>
            <a:r>
              <a:rPr kumimoji="1" lang="en-US" altLang="zh-CN" noProof="1">
                <a:sym typeface="+mn-ea"/>
              </a:rPr>
              <a:t>[</a:t>
            </a:r>
            <a:r>
              <a:rPr kumimoji="1" lang="en-US" altLang="zh-CN" i="1" noProof="1">
                <a:sym typeface="+mn-ea"/>
              </a:rPr>
              <a:t>a</a:t>
            </a:r>
            <a:r>
              <a:rPr kumimoji="1" lang="en-US" altLang="zh-CN" noProof="1">
                <a:sym typeface="+mn-ea"/>
              </a:rPr>
              <a:t>]</a:t>
            </a:r>
            <a:r>
              <a:rPr kumimoji="1" lang="en-US" altLang="zh-CN" noProof="1">
                <a:sym typeface="Symbol" panose="05050102010706020507" charset="0"/>
              </a:rPr>
              <a:t></a:t>
            </a:r>
            <a:r>
              <a:rPr kumimoji="1" lang="en-US" altLang="zh-CN" noProof="1">
                <a:sym typeface="+mn-ea"/>
              </a:rPr>
              <a:t>[</a:t>
            </a:r>
            <a:r>
              <a:rPr kumimoji="1" lang="en-US" altLang="zh-CN" i="1" noProof="1">
                <a:sym typeface="+mn-ea"/>
              </a:rPr>
              <a:t>b</a:t>
            </a:r>
            <a:r>
              <a:rPr kumimoji="1" lang="en-US" altLang="zh-CN" noProof="1">
                <a:sym typeface="+mn-ea"/>
              </a:rPr>
              <a:t>]=[</a:t>
            </a:r>
            <a:r>
              <a:rPr kumimoji="1" lang="en-US" altLang="zh-CN" i="1" noProof="1">
                <a:sym typeface="+mn-ea"/>
              </a:rPr>
              <a:t>a</a:t>
            </a:r>
            <a:r>
              <a:rPr kumimoji="1" lang="en-US" altLang="zh-CN" noProof="1">
                <a:sym typeface="+mn-ea"/>
              </a:rPr>
              <a:t>+</a:t>
            </a:r>
            <a:r>
              <a:rPr kumimoji="1" lang="en-US" altLang="zh-CN" i="1" noProof="1">
                <a:sym typeface="+mn-ea"/>
              </a:rPr>
              <a:t>b</a:t>
            </a:r>
            <a:r>
              <a:rPr kumimoji="1" lang="en-US" altLang="zh-CN" noProof="1">
                <a:sym typeface="+mn-ea"/>
              </a:rPr>
              <a:t>].</a:t>
            </a:r>
          </a:p>
          <a:p>
            <a:pPr eaLnBrk="1" hangingPunct="1"/>
            <a:r>
              <a:rPr kumimoji="1" lang="en-US" altLang="zh-CN" noProof="1">
                <a:sym typeface="Symbol" panose="05050102010706020507" charset="0"/>
              </a:rPr>
              <a:t> is associative, </a:t>
            </a:r>
            <a:r>
              <a:rPr kumimoji="1" lang="en-US" altLang="zh-CN" noProof="1">
                <a:sym typeface="+mn-ea"/>
              </a:rPr>
              <a:t>[0] is an identity, [</a:t>
            </a:r>
            <a:r>
              <a:rPr kumimoji="1" lang="en-US" altLang="zh-CN" i="1" noProof="1">
                <a:sym typeface="+mn-ea"/>
              </a:rPr>
              <a:t>n-a</a:t>
            </a:r>
            <a:r>
              <a:rPr kumimoji="1" lang="en-US" altLang="zh-CN" noProof="1">
                <a:sym typeface="+mn-ea"/>
              </a:rPr>
              <a:t>] is the inverse of [</a:t>
            </a:r>
            <a:r>
              <a:rPr kumimoji="1" lang="en-US" altLang="zh-CN" i="1" noProof="1">
                <a:sym typeface="+mn-ea"/>
              </a:rPr>
              <a:t>a</a:t>
            </a:r>
            <a:r>
              <a:rPr kumimoji="1" lang="en-US" altLang="zh-CN" noProof="1">
                <a:sym typeface="+mn-ea"/>
              </a:rPr>
              <a:t>]. So </a:t>
            </a:r>
            <a:r>
              <a:rPr kumimoji="1" lang="en-US" altLang="zh-CN" i="1" noProof="1">
                <a:sym typeface="+mn-ea"/>
              </a:rPr>
              <a:t>(Z</a:t>
            </a:r>
            <a:r>
              <a:rPr kumimoji="1" lang="en-US" altLang="zh-CN" i="1" baseline="-25000" noProof="1">
                <a:sym typeface="+mn-ea"/>
              </a:rPr>
              <a:t>n </a:t>
            </a:r>
            <a:r>
              <a:rPr kumimoji="1" lang="en-US" altLang="zh-CN" i="1" noProof="1">
                <a:sym typeface="+mn-ea"/>
              </a:rPr>
              <a:t>,</a:t>
            </a:r>
            <a:r>
              <a:rPr kumimoji="1" lang="en-US" altLang="zh-CN" noProof="1">
                <a:sym typeface="Symbol" panose="05050102010706020507" charset="0"/>
              </a:rPr>
              <a:t></a:t>
            </a:r>
            <a:r>
              <a:rPr kumimoji="1" lang="en-US" altLang="zh-CN" i="1" noProof="1">
                <a:sym typeface="Symbol" panose="05050102010706020507" charset="0"/>
              </a:rPr>
              <a:t> </a:t>
            </a:r>
            <a:r>
              <a:rPr kumimoji="1" lang="en-US" altLang="zh-CN" i="1" noProof="1">
                <a:sym typeface="+mn-ea"/>
              </a:rPr>
              <a:t>) is an Abelian group.</a:t>
            </a:r>
          </a:p>
          <a:p>
            <a:r>
              <a:rPr kumimoji="1" lang="en-US" altLang="zh-CN" noProof="1"/>
              <a:t>Question: find a quotient group of Z</a:t>
            </a:r>
            <a:r>
              <a:rPr kumimoji="1" lang="en-US" altLang="zh-CN" baseline="-25000" noProof="1"/>
              <a:t>4</a:t>
            </a:r>
            <a:r>
              <a:rPr kumimoji="1" lang="en-US" altLang="zh-CN" noProof="1"/>
              <a:t>?</a:t>
            </a:r>
          </a:p>
          <a:p>
            <a:pPr eaLnBrk="1" hangingPunct="1"/>
            <a:endParaRPr kumimoji="1" lang="zh-CN" altLang="en-US" i="1" noProof="1"/>
          </a:p>
        </p:txBody>
      </p:sp>
      <p:sp>
        <p:nvSpPr>
          <p:cNvPr id="24577" name="灯片编号占位符 3">
            <a:extLst>
              <a:ext uri="{FF2B5EF4-FFF2-40B4-BE49-F238E27FC236}">
                <a16:creationId xmlns:a16="http://schemas.microsoft.com/office/drawing/2014/main" id="{8FD4EEB8-B739-4540-AE5D-C57EB126F1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758C61B-09B0-4749-A19C-14282615DB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24578" name="日期占位符 4">
            <a:extLst>
              <a:ext uri="{FF2B5EF4-FFF2-40B4-BE49-F238E27FC236}">
                <a16:creationId xmlns:a16="http://schemas.microsoft.com/office/drawing/2014/main" id="{D44C73F0-060A-4574-A35D-1EED37BFC6F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F5FEB10-7B6C-4F58-8FA3-D0D305B24BEC}" type="datetime1">
              <a:rPr lang="zh-CN" altLang="en-US" smtClean="0"/>
              <a:pPr/>
              <a:t>2024/12/27</a:t>
            </a:fld>
            <a:endParaRPr lang="zh-CN" altLang="en-US"/>
          </a:p>
        </p:txBody>
      </p:sp>
      <p:sp>
        <p:nvSpPr>
          <p:cNvPr id="24579" name="页脚占位符 5">
            <a:extLst>
              <a:ext uri="{FF2B5EF4-FFF2-40B4-BE49-F238E27FC236}">
                <a16:creationId xmlns:a16="http://schemas.microsoft.com/office/drawing/2014/main" id="{9B59B857-C971-4033-8C7D-B75F98EF055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kumimoji="0" lang="en-US" altLang="zh-CN"/>
              <a:t>College of Computer Science &amp; Technology, BUPT</a:t>
            </a:r>
            <a:endParaRPr kumimoji="0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4AF0A5-E2BC-1581-D61C-D0D3EDFF4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706292"/>
            <a:ext cx="3139488" cy="18326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FC56673-B914-ECE7-2CE0-BC14C6AF0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40" y="4603933"/>
            <a:ext cx="3826768" cy="2117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>
            <a:extLst>
              <a:ext uri="{FF2B5EF4-FFF2-40B4-BE49-F238E27FC236}">
                <a16:creationId xmlns:a16="http://schemas.microsoft.com/office/drawing/2014/main" id="{D560FB01-DDBC-7512-CF67-1ACFED50913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D231B209-5DD2-4BCF-920C-14E7CB1554E1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5059" name="日期占位符 4">
            <a:extLst>
              <a:ext uri="{FF2B5EF4-FFF2-40B4-BE49-F238E27FC236}">
                <a16:creationId xmlns:a16="http://schemas.microsoft.com/office/drawing/2014/main" id="{CEAFDEC2-73A7-4F25-2FC2-6E41EB8FA601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8E99DE18-A03E-442E-8086-9EA53F62F0DC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5060" name="页脚占位符 5">
            <a:extLst>
              <a:ext uri="{FF2B5EF4-FFF2-40B4-BE49-F238E27FC236}">
                <a16:creationId xmlns:a16="http://schemas.microsoft.com/office/drawing/2014/main" id="{2CF421C0-8BD3-DB6A-494A-B80535EEC9B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CF159AE5-B28B-760E-D360-1021A8547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Homomorphism – </a:t>
            </a:r>
            <a:r>
              <a:rPr lang="zh-CN" altLang="en-US"/>
              <a:t>同态</a:t>
            </a:r>
            <a:endParaRPr lang="en-US" altLang="zh-CN"/>
          </a:p>
        </p:txBody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9B7D1359-F323-08E9-9FC8-0939EA5139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8000" y="1924050"/>
            <a:ext cx="81280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Let (</a:t>
            </a:r>
            <a:r>
              <a:rPr lang="en-US" altLang="zh-CN" sz="2400" i="1" dirty="0"/>
              <a:t>S</a:t>
            </a:r>
            <a:r>
              <a:rPr lang="en-US" altLang="zh-CN" sz="2400" dirty="0"/>
              <a:t>, *) and (</a:t>
            </a:r>
            <a:r>
              <a:rPr lang="en-US" altLang="zh-CN" sz="2400" i="1" dirty="0"/>
              <a:t>T</a:t>
            </a:r>
            <a:r>
              <a:rPr lang="en-US" altLang="zh-CN" sz="2400" dirty="0"/>
              <a:t>, *') be two groupoids. An everywhere-defined function </a:t>
            </a:r>
            <a:r>
              <a:rPr lang="en-US" altLang="zh-CN" i="1" dirty="0"/>
              <a:t>f</a:t>
            </a:r>
            <a:r>
              <a:rPr lang="en-US" altLang="zh-CN" dirty="0"/>
              <a:t> : </a:t>
            </a:r>
            <a:r>
              <a:rPr lang="en-US" altLang="zh-CN" i="1" dirty="0"/>
              <a:t>S</a:t>
            </a:r>
            <a:r>
              <a:rPr lang="en-US" altLang="zh-CN" i="1" dirty="0">
                <a:sym typeface="Symbol" panose="05050102010706020507" pitchFamily="18" charset="2"/>
              </a:rPr>
              <a:t>  </a:t>
            </a:r>
            <a:r>
              <a:rPr lang="en-US" altLang="zh-CN" dirty="0"/>
              <a:t> </a:t>
            </a:r>
            <a:r>
              <a:rPr lang="en-US" altLang="zh-CN" i="1" dirty="0"/>
              <a:t>T</a:t>
            </a:r>
            <a:r>
              <a:rPr lang="en-US" altLang="zh-CN" dirty="0"/>
              <a:t> is called a </a:t>
            </a:r>
            <a:r>
              <a:rPr lang="en-US" altLang="zh-CN" i="1" dirty="0"/>
              <a:t>homomorphism</a:t>
            </a:r>
            <a:r>
              <a:rPr lang="en-US" altLang="zh-CN" dirty="0"/>
              <a:t> from (</a:t>
            </a:r>
            <a:r>
              <a:rPr lang="en-US" altLang="zh-CN" i="1" dirty="0"/>
              <a:t>S</a:t>
            </a:r>
            <a:r>
              <a:rPr lang="en-US" altLang="zh-CN" dirty="0"/>
              <a:t>, *) to (</a:t>
            </a:r>
            <a:r>
              <a:rPr lang="en-US" altLang="zh-CN" i="1" dirty="0"/>
              <a:t>T</a:t>
            </a:r>
            <a:r>
              <a:rPr lang="en-US" altLang="zh-CN" dirty="0"/>
              <a:t>, *’), i</a:t>
            </a:r>
            <a:r>
              <a:rPr lang="en-US" altLang="zh-CN" sz="2200" dirty="0"/>
              <a:t>f  </a:t>
            </a:r>
            <a:r>
              <a:rPr lang="en-US" altLang="zh-CN" sz="2200" i="1" dirty="0"/>
              <a:t>f</a:t>
            </a:r>
            <a:r>
              <a:rPr lang="en-US" altLang="zh-CN" sz="2200" dirty="0"/>
              <a:t>(</a:t>
            </a:r>
            <a:r>
              <a:rPr lang="en-US" altLang="zh-CN" sz="2200" i="1" dirty="0"/>
              <a:t>a</a:t>
            </a:r>
            <a:r>
              <a:rPr lang="en-US" altLang="zh-CN" sz="2200" dirty="0"/>
              <a:t>*</a:t>
            </a:r>
            <a:r>
              <a:rPr lang="en-US" altLang="zh-CN" sz="2200" i="1" dirty="0"/>
              <a:t>b</a:t>
            </a:r>
            <a:r>
              <a:rPr lang="en-US" altLang="zh-CN" sz="2200" dirty="0"/>
              <a:t>) = </a:t>
            </a:r>
            <a:r>
              <a:rPr lang="en-US" altLang="zh-CN" sz="2200" i="1" dirty="0"/>
              <a:t>f</a:t>
            </a:r>
            <a:r>
              <a:rPr lang="en-US" altLang="zh-CN" sz="2200" dirty="0"/>
              <a:t>(</a:t>
            </a:r>
            <a:r>
              <a:rPr lang="en-US" altLang="zh-CN" sz="2200" i="1" dirty="0"/>
              <a:t>a</a:t>
            </a:r>
            <a:r>
              <a:rPr lang="en-US" altLang="zh-CN" sz="2200" dirty="0"/>
              <a:t>) *' </a:t>
            </a:r>
            <a:r>
              <a:rPr lang="en-US" altLang="zh-CN" sz="2200" i="1" dirty="0"/>
              <a:t>f</a:t>
            </a:r>
            <a:r>
              <a:rPr lang="en-US" altLang="zh-CN" sz="2200" dirty="0"/>
              <a:t>(</a:t>
            </a:r>
            <a:r>
              <a:rPr lang="en-US" altLang="zh-CN" sz="2200" i="1" dirty="0"/>
              <a:t>b</a:t>
            </a:r>
            <a:r>
              <a:rPr lang="en-US" altLang="zh-CN" sz="2200" dirty="0"/>
              <a:t>) for all </a:t>
            </a:r>
            <a:r>
              <a:rPr lang="en-US" altLang="zh-CN" sz="2200" i="1" dirty="0"/>
              <a:t>a</a:t>
            </a:r>
            <a:r>
              <a:rPr lang="en-US" altLang="zh-CN" sz="2200" dirty="0"/>
              <a:t> and </a:t>
            </a:r>
            <a:r>
              <a:rPr lang="en-US" altLang="zh-CN" sz="2200" i="1" dirty="0"/>
              <a:t>b</a:t>
            </a:r>
            <a:r>
              <a:rPr lang="en-US" altLang="zh-CN" sz="2200" dirty="0"/>
              <a:t> in S. denoted by </a:t>
            </a:r>
            <a:r>
              <a:rPr lang="en-US" altLang="zh-CN" sz="2200" dirty="0" err="1"/>
              <a:t>S</a:t>
            </a:r>
            <a:r>
              <a:rPr lang="en-US" altLang="zh-CN" sz="2200" dirty="0" err="1">
                <a:sym typeface="Symbol" panose="05050102010706020507" pitchFamily="18" charset="2"/>
              </a:rPr>
              <a:t></a:t>
            </a:r>
            <a:r>
              <a:rPr lang="en-US" altLang="zh-CN" sz="2200" dirty="0" err="1"/>
              <a:t>T</a:t>
            </a:r>
            <a:r>
              <a:rPr lang="en-US" altLang="zh-CN" sz="22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200" i="1" dirty="0"/>
              <a:t>f</a:t>
            </a:r>
            <a:r>
              <a:rPr lang="en-US" altLang="zh-CN" sz="2200" dirty="0"/>
              <a:t> (S) is a </a:t>
            </a:r>
            <a:r>
              <a:rPr lang="en-US" altLang="zh-CN" sz="2200" i="1" dirty="0"/>
              <a:t>homomorphic</a:t>
            </a:r>
            <a:r>
              <a:rPr lang="en-US" altLang="zh-CN" sz="2200" dirty="0"/>
              <a:t> </a:t>
            </a:r>
            <a:r>
              <a:rPr lang="en-US" altLang="zh-CN" sz="2200" i="1" dirty="0"/>
              <a:t>image</a:t>
            </a:r>
            <a:r>
              <a:rPr lang="en-US" altLang="zh-CN" sz="2200" dirty="0"/>
              <a:t>(</a:t>
            </a:r>
            <a:r>
              <a:rPr lang="zh-CN" altLang="en-US" sz="2200" dirty="0"/>
              <a:t>同态像</a:t>
            </a:r>
            <a:r>
              <a:rPr lang="en-US" altLang="zh-CN" sz="2200" dirty="0"/>
              <a:t>) of </a:t>
            </a:r>
            <a:r>
              <a:rPr lang="en-US" altLang="zh-CN" sz="2200" i="1" dirty="0"/>
              <a:t>S</a:t>
            </a:r>
            <a:r>
              <a:rPr lang="en-US" altLang="zh-CN" sz="22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/>
              <a:t>If </a:t>
            </a:r>
            <a:r>
              <a:rPr lang="en-US" altLang="zh-CN" sz="2200" i="1" dirty="0"/>
              <a:t>f</a:t>
            </a:r>
            <a:r>
              <a:rPr lang="en-US" altLang="zh-CN" sz="2200" dirty="0"/>
              <a:t> is onto, called </a:t>
            </a:r>
            <a:r>
              <a:rPr lang="en-US" altLang="zh-CN" sz="2200" i="1" dirty="0"/>
              <a:t>onto homomorphism.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/>
              <a:t>If </a:t>
            </a:r>
            <a:r>
              <a:rPr lang="en-US" altLang="zh-CN" sz="2200" i="1" dirty="0"/>
              <a:t>f</a:t>
            </a:r>
            <a:r>
              <a:rPr lang="en-US" altLang="zh-CN" sz="2200" dirty="0"/>
              <a:t> is bijection, called </a:t>
            </a:r>
            <a:r>
              <a:rPr lang="en-US" altLang="zh-CN" sz="2200" i="1" dirty="0"/>
              <a:t>iso</a:t>
            </a:r>
            <a:r>
              <a:rPr lang="en-US" altLang="zh-CN" sz="2200" i="1" dirty="0">
                <a:sym typeface="宋体" panose="02010600030101010101" pitchFamily="2" charset="-122"/>
              </a:rPr>
              <a:t>morphism.</a:t>
            </a:r>
          </a:p>
          <a:p>
            <a:pPr eaLnBrk="1" hangingPunct="1"/>
            <a:r>
              <a:rPr lang="en-US" altLang="zh-CN" sz="2400" dirty="0"/>
              <a:t>If </a:t>
            </a:r>
            <a:r>
              <a:rPr lang="en-US" altLang="zh-CN" sz="2400" i="1" dirty="0"/>
              <a:t>R</a:t>
            </a:r>
            <a:r>
              <a:rPr lang="en-US" altLang="zh-CN" sz="2400" dirty="0"/>
              <a:t> is a congruence relation on a groupoid </a:t>
            </a:r>
            <a:r>
              <a:rPr lang="en-US" altLang="zh-CN" sz="2400" i="1" dirty="0"/>
              <a:t>G</a:t>
            </a:r>
            <a:r>
              <a:rPr lang="en-US" altLang="zh-CN" sz="2400" dirty="0"/>
              <a:t>, (</a:t>
            </a:r>
            <a:r>
              <a:rPr lang="en-US" altLang="zh-CN" sz="2400" i="1" dirty="0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R,</a:t>
            </a:r>
            <a:r>
              <a:rPr lang="en-US" altLang="zh-CN" sz="2400" i="1" dirty="0">
                <a:sym typeface="Symbol" panose="05050102010706020507" pitchFamily="18" charset="2"/>
              </a:rPr>
              <a:t> </a:t>
            </a:r>
            <a:r>
              <a:rPr lang="en-US" altLang="zh-CN" sz="2400" dirty="0"/>
              <a:t>)</a:t>
            </a:r>
            <a:r>
              <a:rPr lang="en-US" altLang="zh-CN" sz="2400" i="1" dirty="0"/>
              <a:t> </a:t>
            </a:r>
            <a:r>
              <a:rPr lang="en-US" altLang="zh-CN" sz="2400" dirty="0"/>
              <a:t>be the corresponding quotient groupoid</a:t>
            </a:r>
            <a:r>
              <a:rPr lang="en-US" altLang="zh-CN" sz="2400" i="1" dirty="0"/>
              <a:t>, </a:t>
            </a:r>
            <a:r>
              <a:rPr lang="en-US" altLang="zh-CN" sz="2400" dirty="0"/>
              <a:t>then the function 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R</a:t>
            </a:r>
            <a:r>
              <a:rPr lang="en-US" altLang="zh-CN" sz="2400" dirty="0"/>
              <a:t>: </a:t>
            </a:r>
            <a:r>
              <a:rPr lang="en-US" altLang="zh-CN" sz="2400" i="1" dirty="0" err="1"/>
              <a:t>G</a:t>
            </a:r>
            <a:r>
              <a:rPr lang="en-US" altLang="zh-CN" sz="2400" i="1" dirty="0" err="1">
                <a:sym typeface="Symbol" panose="05050102010706020507" pitchFamily="18" charset="2"/>
              </a:rPr>
              <a:t></a:t>
            </a:r>
            <a:r>
              <a:rPr lang="en-US" altLang="zh-CN" sz="2400" i="1" dirty="0" err="1"/>
              <a:t>G</a:t>
            </a:r>
            <a:r>
              <a:rPr lang="en-US" altLang="zh-CN" sz="2400" dirty="0"/>
              <a:t>/</a:t>
            </a:r>
            <a:r>
              <a:rPr lang="en-US" altLang="zh-CN" sz="2400" i="1" dirty="0"/>
              <a:t>R </a:t>
            </a:r>
            <a:r>
              <a:rPr lang="en-US" altLang="zh-CN" sz="2400" dirty="0"/>
              <a:t>defined</a:t>
            </a:r>
            <a:r>
              <a:rPr lang="en-US" altLang="zh-CN" sz="2400" i="1" dirty="0"/>
              <a:t> </a:t>
            </a:r>
            <a:r>
              <a:rPr lang="en-US" altLang="zh-CN" sz="2400" dirty="0"/>
              <a:t>by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R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 = [</a:t>
            </a:r>
            <a:r>
              <a:rPr lang="en-US" altLang="zh-CN" sz="2400" i="1" dirty="0"/>
              <a:t>a</a:t>
            </a:r>
            <a:r>
              <a:rPr lang="en-US" altLang="zh-CN" sz="2400" dirty="0"/>
              <a:t>], is an onto homomorphism, called the </a:t>
            </a:r>
            <a:r>
              <a:rPr lang="en-US" altLang="zh-CN" sz="2400" dirty="0" err="1"/>
              <a:t>natual</a:t>
            </a:r>
            <a:r>
              <a:rPr lang="en-US" altLang="zh-CN" sz="2400" dirty="0"/>
              <a:t> homomorphism.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i="1" dirty="0"/>
          </a:p>
          <a:p>
            <a:pPr eaLnBrk="1" hangingPunct="1">
              <a:lnSpc>
                <a:spcPct val="90000"/>
              </a:lnSpc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>
            <a:extLst>
              <a:ext uri="{FF2B5EF4-FFF2-40B4-BE49-F238E27FC236}">
                <a16:creationId xmlns:a16="http://schemas.microsoft.com/office/drawing/2014/main" id="{20177141-C011-F357-4C0D-FD8F68ABF0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3BA02448-39F8-4E76-8A28-0BC442503525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21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9155" name="日期占位符 4">
            <a:extLst>
              <a:ext uri="{FF2B5EF4-FFF2-40B4-BE49-F238E27FC236}">
                <a16:creationId xmlns:a16="http://schemas.microsoft.com/office/drawing/2014/main" id="{32E47121-9168-0C55-15E4-5C03AEA37B35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333C185-BD4D-4ED3-8784-3AEA202BB8C5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9156" name="页脚占位符 5">
            <a:extLst>
              <a:ext uri="{FF2B5EF4-FFF2-40B4-BE49-F238E27FC236}">
                <a16:creationId xmlns:a16="http://schemas.microsoft.com/office/drawing/2014/main" id="{8CE43CD2-71F9-E6F0-B3E4-4B2C3A10BFE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74BFD756-EF90-D119-4EEC-8BED640BA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Normal subgroup</a:t>
            </a:r>
            <a:endParaRPr lang="en-US" altLang="zh-CN"/>
          </a:p>
        </p:txBody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C7ED3D9C-24EA-A258-AD5E-55BB345B1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0200" y="2017713"/>
            <a:ext cx="8624888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Let </a:t>
            </a:r>
            <a:r>
              <a:rPr lang="en-US" altLang="zh-CN" sz="2800" i="1" dirty="0"/>
              <a:t>H</a:t>
            </a:r>
            <a:r>
              <a:rPr lang="en-US" altLang="zh-CN" sz="2800" dirty="0"/>
              <a:t> be a subgroup of a group </a:t>
            </a:r>
            <a:r>
              <a:rPr lang="en-US" altLang="zh-CN" sz="2800" i="1" dirty="0"/>
              <a:t>G, a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 </a:t>
            </a:r>
            <a:r>
              <a:rPr lang="en-US" altLang="zh-CN" sz="2800" i="1" dirty="0"/>
              <a:t>G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i="1" dirty="0">
                <a:solidFill>
                  <a:srgbClr val="FF3300"/>
                </a:solidFill>
              </a:rPr>
              <a:t>left coset</a:t>
            </a:r>
            <a:r>
              <a:rPr lang="en-US" altLang="zh-CN" sz="2800" dirty="0"/>
              <a:t>(</a:t>
            </a:r>
            <a:r>
              <a:rPr lang="zh-CN" altLang="en-US" sz="2800" dirty="0"/>
              <a:t>左陪集</a:t>
            </a:r>
            <a:r>
              <a:rPr lang="en-US" altLang="zh-CN" sz="2800" dirty="0"/>
              <a:t>)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determined by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the set </a:t>
            </a:r>
            <a:r>
              <a:rPr lang="en-US" altLang="zh-CN" i="1" dirty="0" err="1"/>
              <a:t>aH</a:t>
            </a:r>
            <a:r>
              <a:rPr lang="en-US" altLang="zh-CN" dirty="0"/>
              <a:t> = {</a:t>
            </a:r>
            <a:r>
              <a:rPr lang="en-US" altLang="zh-CN" i="1" dirty="0"/>
              <a:t>ah</a:t>
            </a:r>
            <a:r>
              <a:rPr lang="en-US" altLang="zh-CN" dirty="0"/>
              <a:t>|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 </a:t>
            </a:r>
            <a:r>
              <a:rPr lang="en-US" altLang="zh-CN" i="1" dirty="0"/>
              <a:t>H</a:t>
            </a:r>
            <a:r>
              <a:rPr lang="en-US" altLang="zh-CN" dirty="0"/>
              <a:t>}.    </a:t>
            </a:r>
            <a:r>
              <a:rPr lang="en-US" altLang="zh-CN" sz="2800" dirty="0"/>
              <a:t>|</a:t>
            </a:r>
            <a:r>
              <a:rPr lang="en-US" altLang="zh-CN" sz="2800" i="1" dirty="0" err="1"/>
              <a:t>aH</a:t>
            </a:r>
            <a:r>
              <a:rPr lang="en-US" altLang="zh-CN" sz="2800" i="1" dirty="0"/>
              <a:t>|</a:t>
            </a:r>
            <a:r>
              <a:rPr lang="en-US" altLang="zh-CN" sz="2800" dirty="0"/>
              <a:t> = |</a:t>
            </a:r>
            <a:r>
              <a:rPr lang="en-US" altLang="zh-CN" sz="2800" i="1" dirty="0"/>
              <a:t>H|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sz="2800" dirty="0"/>
              <a:t>The </a:t>
            </a:r>
            <a:r>
              <a:rPr lang="en-US" altLang="zh-CN" sz="2800" i="1" dirty="0">
                <a:solidFill>
                  <a:srgbClr val="FF3300"/>
                </a:solidFill>
              </a:rPr>
              <a:t>right coset </a:t>
            </a:r>
            <a:r>
              <a:rPr lang="en-US" altLang="zh-CN" sz="2800" dirty="0"/>
              <a:t>(</a:t>
            </a:r>
            <a:r>
              <a:rPr lang="zh-CN" altLang="en-US" sz="2800" dirty="0"/>
              <a:t>右陪集</a:t>
            </a:r>
            <a:r>
              <a:rPr lang="en-US" altLang="zh-CN" sz="2800" dirty="0"/>
              <a:t>) of </a:t>
            </a:r>
            <a:r>
              <a:rPr lang="en-US" altLang="zh-CN" sz="2800" i="1" dirty="0"/>
              <a:t>H</a:t>
            </a:r>
            <a:r>
              <a:rPr lang="en-US" altLang="zh-CN" sz="2800" dirty="0"/>
              <a:t> in </a:t>
            </a:r>
            <a:r>
              <a:rPr lang="en-US" altLang="zh-CN" sz="2800" i="1" dirty="0"/>
              <a:t>G</a:t>
            </a:r>
            <a:r>
              <a:rPr lang="en-US" altLang="zh-CN" sz="2800" dirty="0"/>
              <a:t> determined by </a:t>
            </a:r>
            <a:r>
              <a:rPr lang="en-US" altLang="zh-CN" sz="2800" i="1" dirty="0"/>
              <a:t>a</a:t>
            </a:r>
            <a:r>
              <a:rPr lang="en-US" altLang="zh-CN" sz="2800" dirty="0"/>
              <a:t> is the set </a:t>
            </a:r>
            <a:r>
              <a:rPr lang="en-US" altLang="zh-CN" i="1" dirty="0"/>
              <a:t>Ha</a:t>
            </a:r>
            <a:r>
              <a:rPr lang="en-US" altLang="zh-CN" dirty="0"/>
              <a:t> = {</a:t>
            </a:r>
            <a:r>
              <a:rPr lang="en-US" altLang="zh-CN" i="1" dirty="0"/>
              <a:t>ha</a:t>
            </a:r>
            <a:r>
              <a:rPr lang="en-US" altLang="zh-CN" dirty="0"/>
              <a:t> |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 </a:t>
            </a:r>
            <a:r>
              <a:rPr lang="en-US" altLang="zh-CN" i="1" dirty="0"/>
              <a:t>H</a:t>
            </a:r>
            <a:r>
              <a:rPr lang="en-US" altLang="zh-CN" dirty="0"/>
              <a:t>}.    </a:t>
            </a:r>
            <a:r>
              <a:rPr lang="en-US" altLang="zh-CN" sz="2400" dirty="0"/>
              <a:t>|</a:t>
            </a:r>
            <a:r>
              <a:rPr lang="en-US" altLang="zh-CN" sz="2400" i="1" dirty="0"/>
              <a:t>Ha|</a:t>
            </a:r>
            <a:r>
              <a:rPr lang="en-US" altLang="zh-CN" sz="2400" dirty="0"/>
              <a:t> = |</a:t>
            </a:r>
            <a:r>
              <a:rPr lang="en-US" altLang="zh-CN" sz="2400" i="1" dirty="0"/>
              <a:t>H|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 subgroup </a:t>
            </a:r>
            <a:r>
              <a:rPr lang="en-US" altLang="zh-CN" sz="2800" i="1" dirty="0"/>
              <a:t>H</a:t>
            </a:r>
            <a:r>
              <a:rPr lang="en-US" altLang="zh-CN" sz="2800" dirty="0"/>
              <a:t> of </a:t>
            </a:r>
            <a:r>
              <a:rPr lang="en-US" altLang="zh-CN" sz="2800" i="1" dirty="0"/>
              <a:t>G</a:t>
            </a:r>
            <a:r>
              <a:rPr lang="en-US" altLang="zh-CN" sz="2800" dirty="0"/>
              <a:t> is </a:t>
            </a:r>
            <a:r>
              <a:rPr lang="en-US" altLang="zh-CN" sz="2800" i="1" dirty="0">
                <a:solidFill>
                  <a:srgbClr val="FF3300"/>
                </a:solidFill>
              </a:rPr>
              <a:t>normal</a:t>
            </a:r>
            <a:r>
              <a:rPr lang="en-US" altLang="zh-CN" sz="2800" dirty="0">
                <a:solidFill>
                  <a:srgbClr val="FF3300"/>
                </a:solidFill>
              </a:rPr>
              <a:t>(</a:t>
            </a:r>
            <a:r>
              <a:rPr lang="zh-CN" altLang="en-US" sz="2800" dirty="0">
                <a:solidFill>
                  <a:srgbClr val="FF3300"/>
                </a:solidFill>
              </a:rPr>
              <a:t>正规子群</a:t>
            </a:r>
            <a:r>
              <a:rPr lang="en-US" altLang="zh-CN" sz="2800" dirty="0">
                <a:solidFill>
                  <a:srgbClr val="FF3300"/>
                </a:solidFill>
              </a:rPr>
              <a:t>)</a:t>
            </a:r>
            <a:r>
              <a:rPr lang="en-US" altLang="zh-CN" sz="2800" dirty="0"/>
              <a:t> if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 err="1"/>
              <a:t>aH</a:t>
            </a:r>
            <a:r>
              <a:rPr lang="en-US" altLang="zh-CN" dirty="0"/>
              <a:t> = </a:t>
            </a:r>
            <a:r>
              <a:rPr lang="en-US" altLang="zh-CN" i="1" dirty="0"/>
              <a:t>Ha</a:t>
            </a:r>
            <a:r>
              <a:rPr lang="en-US" altLang="zh-CN" dirty="0"/>
              <a:t>, for all </a:t>
            </a:r>
            <a:r>
              <a:rPr lang="en-US" altLang="zh-CN" i="1" dirty="0"/>
              <a:t>a</a:t>
            </a:r>
            <a:r>
              <a:rPr lang="en-US" altLang="zh-CN" dirty="0"/>
              <a:t> in </a:t>
            </a:r>
            <a:r>
              <a:rPr lang="en-US" altLang="zh-CN" i="1" dirty="0"/>
              <a:t>G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the quotient group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consists of all the left cosets of </a:t>
            </a:r>
            <a:r>
              <a:rPr lang="en-US" altLang="zh-CN" i="1" dirty="0"/>
              <a:t>N</a:t>
            </a:r>
            <a:r>
              <a:rPr lang="en-US" altLang="zh-CN" dirty="0"/>
              <a:t> = [</a:t>
            </a:r>
            <a:r>
              <a:rPr lang="en-US" altLang="zh-CN" i="1" dirty="0"/>
              <a:t>e</a:t>
            </a:r>
            <a:r>
              <a:rPr lang="en-US" altLang="zh-CN" dirty="0"/>
              <a:t>]. write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 as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/>
              <a:t>N</a:t>
            </a:r>
            <a:r>
              <a:rPr lang="en-US" altLang="zh-CN" dirty="0"/>
              <a:t>.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e</a:t>
            </a:r>
            <a:r>
              <a:rPr lang="en-US" altLang="zh-CN" dirty="0"/>
              <a:t>] is a normal subgroup of G.</a:t>
            </a:r>
            <a:endParaRPr lang="zh-CN" altLang="en-US" i="1" dirty="0"/>
          </a:p>
          <a:p>
            <a:pPr lvl="1" eaLnBrk="1" hangingPunct="1">
              <a:lnSpc>
                <a:spcPct val="9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3">
            <a:extLst>
              <a:ext uri="{FF2B5EF4-FFF2-40B4-BE49-F238E27FC236}">
                <a16:creationId xmlns:a16="http://schemas.microsoft.com/office/drawing/2014/main" id="{B2A6D246-BD9D-8F2F-461B-88417D6BDD6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6D040427-1834-4AE9-BD46-9FECDEDEA1DF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22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59395" name="日期占位符 4">
            <a:extLst>
              <a:ext uri="{FF2B5EF4-FFF2-40B4-BE49-F238E27FC236}">
                <a16:creationId xmlns:a16="http://schemas.microsoft.com/office/drawing/2014/main" id="{6FDE1AB9-5306-A926-DFA8-DEA00793742C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ACF4FFED-94E8-4DA2-B7F4-EE1BB96E4687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 dirty="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59396" name="页脚占位符 5">
            <a:extLst>
              <a:ext uri="{FF2B5EF4-FFF2-40B4-BE49-F238E27FC236}">
                <a16:creationId xmlns:a16="http://schemas.microsoft.com/office/drawing/2014/main" id="{279FC7D1-1553-4466-D7E0-E305EFEA421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59397" name="Rectangle 2">
            <a:extLst>
              <a:ext uri="{FF2B5EF4-FFF2-40B4-BE49-F238E27FC236}">
                <a16:creationId xmlns:a16="http://schemas.microsoft.com/office/drawing/2014/main" id="{0CDCB8E8-48A3-842F-91DE-2F65C7C7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Fundamental Homomorphism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398" name="Rectangle 3">
            <a:extLst>
              <a:ext uri="{FF2B5EF4-FFF2-40B4-BE49-F238E27FC236}">
                <a16:creationId xmlns:a16="http://schemas.microsoft.com/office/drawing/2014/main" id="{3D6E626A-4C1D-0188-53FC-B03FE13A8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0213" y="2017713"/>
            <a:ext cx="8524875" cy="41148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f</a:t>
            </a:r>
            <a:r>
              <a:rPr lang="en-US" altLang="zh-CN" dirty="0"/>
              <a:t>  be a homomorphism from a group (</a:t>
            </a:r>
            <a:r>
              <a:rPr lang="en-US" altLang="zh-CN" i="1" dirty="0"/>
              <a:t>G</a:t>
            </a:r>
            <a:r>
              <a:rPr lang="en-US" altLang="zh-CN" dirty="0"/>
              <a:t>, *) </a:t>
            </a:r>
            <a:r>
              <a:rPr lang="en-US" altLang="zh-CN" i="1" dirty="0">
                <a:solidFill>
                  <a:schemeClr val="hlink"/>
                </a:solidFill>
              </a:rPr>
              <a:t>onto</a:t>
            </a:r>
            <a:r>
              <a:rPr lang="en-US" altLang="zh-CN" dirty="0"/>
              <a:t> a group (</a:t>
            </a:r>
            <a:r>
              <a:rPr lang="en-US" altLang="zh-CN" i="1" dirty="0"/>
              <a:t>G</a:t>
            </a:r>
            <a:r>
              <a:rPr lang="en-US" altLang="zh-CN" dirty="0"/>
              <a:t>', *')</a:t>
            </a:r>
          </a:p>
          <a:p>
            <a:pPr lvl="1" eaLnBrk="1" hangingPunct="1"/>
            <a:r>
              <a:rPr lang="en-US" altLang="zh-CN" dirty="0"/>
              <a:t>the </a:t>
            </a:r>
            <a:r>
              <a:rPr lang="en-US" altLang="zh-CN" i="1" dirty="0">
                <a:solidFill>
                  <a:srgbClr val="FF3300"/>
                </a:solidFill>
              </a:rPr>
              <a:t>kernel</a:t>
            </a:r>
            <a:r>
              <a:rPr lang="en-US" altLang="zh-CN" dirty="0">
                <a:solidFill>
                  <a:srgbClr val="FF3300"/>
                </a:solidFill>
              </a:rPr>
              <a:t>(</a:t>
            </a:r>
            <a:r>
              <a:rPr lang="zh-CN" altLang="en-US" dirty="0">
                <a:solidFill>
                  <a:srgbClr val="FF3300"/>
                </a:solidFill>
              </a:rPr>
              <a:t>核</a:t>
            </a:r>
            <a:r>
              <a:rPr lang="en-US" altLang="zh-CN" dirty="0">
                <a:solidFill>
                  <a:srgbClr val="FF3300"/>
                </a:solidFill>
              </a:rPr>
              <a:t>)</a:t>
            </a:r>
            <a:r>
              <a:rPr lang="en-US" altLang="zh-CN" dirty="0"/>
              <a:t> of 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), be defined by 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= {</a:t>
            </a:r>
            <a:r>
              <a:rPr lang="en-US" altLang="zh-CN" i="1" dirty="0"/>
              <a:t>a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G</a:t>
            </a:r>
            <a:r>
              <a:rPr lang="en-US" altLang="zh-CN" dirty="0"/>
              <a:t>|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 = </a:t>
            </a:r>
            <a:r>
              <a:rPr lang="en-US" altLang="zh-CN" i="1" dirty="0"/>
              <a:t>e</a:t>
            </a:r>
            <a:r>
              <a:rPr lang="en-US" altLang="zh-CN" dirty="0"/>
              <a:t>'}.</a:t>
            </a:r>
          </a:p>
          <a:p>
            <a:pPr eaLnBrk="1" hangingPunct="1"/>
            <a:r>
              <a:rPr lang="en-US" altLang="zh-CN" dirty="0"/>
              <a:t>Then</a:t>
            </a:r>
          </a:p>
          <a:p>
            <a:pPr lvl="1" eaLnBrk="1" hangingPunct="1"/>
            <a:r>
              <a:rPr lang="en-US" altLang="zh-CN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is a normal subgroup of G.</a:t>
            </a:r>
          </a:p>
          <a:p>
            <a:pPr lvl="1" eaLnBrk="1" hangingPunct="1"/>
            <a:r>
              <a:rPr lang="en-US" altLang="zh-CN" dirty="0"/>
              <a:t>The quotient group </a:t>
            </a:r>
            <a:r>
              <a:rPr lang="en-US" altLang="zh-CN" i="1" dirty="0"/>
              <a:t>G</a:t>
            </a:r>
            <a:r>
              <a:rPr lang="en-US" altLang="zh-CN" dirty="0"/>
              <a:t>/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is isomorphic to </a:t>
            </a:r>
            <a:r>
              <a:rPr lang="en-US" altLang="zh-CN" i="1" dirty="0"/>
              <a:t>G</a:t>
            </a:r>
            <a:r>
              <a:rPr lang="en-US" altLang="zh-CN" dirty="0"/>
              <a:t>’.</a:t>
            </a:r>
          </a:p>
          <a:p>
            <a:pPr lvl="1" eaLnBrk="1" hangingPunct="1"/>
            <a:endParaRPr lang="en-US" altLang="zh-CN" dirty="0"/>
          </a:p>
          <a:p>
            <a:r>
              <a:rPr lang="en-US" altLang="zh-CN" dirty="0"/>
              <a:t>Question: homomorphism </a:t>
            </a:r>
            <a:r>
              <a:rPr lang="en-US" altLang="zh-CN" i="1" dirty="0"/>
              <a:t>f</a:t>
            </a:r>
            <a:r>
              <a:rPr lang="en-US" altLang="zh-CN" dirty="0"/>
              <a:t> from </a:t>
            </a:r>
            <a:r>
              <a:rPr lang="en-US" altLang="zh-CN" dirty="0">
                <a:latin typeface="Euclid Math Two" pitchFamily="18" charset="2"/>
              </a:rPr>
              <a:t>Z</a:t>
            </a:r>
            <a:r>
              <a:rPr lang="en-US" altLang="zh-CN" dirty="0"/>
              <a:t> onto </a:t>
            </a:r>
            <a:r>
              <a:rPr lang="en-US" altLang="zh-CN" dirty="0">
                <a:latin typeface="Euclid Math Two" pitchFamily="18" charset="2"/>
              </a:rPr>
              <a:t>Z</a:t>
            </a:r>
            <a:r>
              <a:rPr lang="en-US" altLang="zh-CN" i="1" baseline="-25000" dirty="0"/>
              <a:t>n </a:t>
            </a:r>
            <a:r>
              <a:rPr lang="en-US" altLang="zh-CN" dirty="0"/>
              <a:t>defined by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m</a:t>
            </a:r>
            <a:r>
              <a:rPr lang="en-US" altLang="zh-CN" dirty="0"/>
              <a:t>) = [</a:t>
            </a:r>
            <a:r>
              <a:rPr lang="en-US" altLang="zh-CN" i="1" dirty="0"/>
              <a:t>r</a:t>
            </a:r>
            <a:r>
              <a:rPr lang="en-US" altLang="zh-CN" dirty="0"/>
              <a:t>], where </a:t>
            </a:r>
            <a:r>
              <a:rPr lang="en-US" altLang="zh-CN" i="1" dirty="0"/>
              <a:t>r</a:t>
            </a:r>
            <a:r>
              <a:rPr lang="en-US" altLang="zh-CN" dirty="0"/>
              <a:t> is the remainder when </a:t>
            </a:r>
            <a:r>
              <a:rPr lang="en-US" altLang="zh-CN" i="1" dirty="0"/>
              <a:t>m</a:t>
            </a:r>
            <a:r>
              <a:rPr lang="en-US" altLang="zh-CN" dirty="0"/>
              <a:t> is divided by </a:t>
            </a:r>
            <a:r>
              <a:rPr lang="en-US" altLang="zh-CN" i="1" dirty="0"/>
              <a:t>n</a:t>
            </a:r>
            <a:r>
              <a:rPr lang="en-US" altLang="zh-CN" dirty="0"/>
              <a:t>. Find </a:t>
            </a:r>
            <a:r>
              <a:rPr lang="en-US" altLang="zh-CN" i="1" dirty="0" err="1"/>
              <a:t>ker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). 	</a:t>
            </a:r>
            <a:r>
              <a:rPr lang="en-US" altLang="zh-CN" sz="2400" dirty="0"/>
              <a:t>[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zh-CN" sz="2400" dirty="0"/>
              <a:t>]={m| </a:t>
            </a:r>
            <a:r>
              <a:rPr lang="en-US" altLang="zh-CN" sz="2400" dirty="0" err="1"/>
              <a:t>m|n</a:t>
            </a:r>
            <a:r>
              <a:rPr lang="en-US" altLang="zh-CN" sz="2400" dirty="0"/>
              <a:t> }</a:t>
            </a:r>
            <a:endParaRPr lang="en-US" altLang="zh-CN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9" name="Rectangle 2">
            <a:extLst>
              <a:ext uri="{FF2B5EF4-FFF2-40B4-BE49-F238E27FC236}">
                <a16:creationId xmlns:a16="http://schemas.microsoft.com/office/drawing/2014/main" id="{45A77E96-75CE-4B76-A3F0-CF1F49E72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Group coding content</a:t>
            </a:r>
          </a:p>
        </p:txBody>
      </p:sp>
      <p:sp>
        <p:nvSpPr>
          <p:cNvPr id="139270" name="Rectangle 3">
            <a:extLst>
              <a:ext uri="{FF2B5EF4-FFF2-40B4-BE49-F238E27FC236}">
                <a16:creationId xmlns:a16="http://schemas.microsoft.com/office/drawing/2014/main" id="{40A9ACC4-1C0D-4225-A70B-B91A4F3AE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017713"/>
            <a:ext cx="8363272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Encoding function</a:t>
            </a:r>
            <a:r>
              <a:rPr lang="zh-CN" altLang="en-US" sz="2000" dirty="0"/>
              <a:t>（编码函数）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/>
              <a:t>(</a:t>
            </a:r>
            <a:r>
              <a:rPr lang="en-US" altLang="zh-CN" sz="1800" dirty="0" err="1"/>
              <a:t>m,n</a:t>
            </a:r>
            <a:r>
              <a:rPr lang="en-US" altLang="zh-CN" sz="1800" dirty="0"/>
              <a:t>) encoding function </a:t>
            </a:r>
            <a:r>
              <a:rPr lang="en-US" altLang="zh-CN" sz="2000" i="1" dirty="0">
                <a:solidFill>
                  <a:srgbClr val="FF0000"/>
                </a:solidFill>
              </a:rPr>
              <a:t>e</a:t>
            </a:r>
            <a:r>
              <a:rPr lang="en-US" altLang="zh-CN" sz="2000" dirty="0">
                <a:solidFill>
                  <a:srgbClr val="FF0000"/>
                </a:solidFill>
              </a:rPr>
              <a:t>: </a:t>
            </a:r>
            <a:r>
              <a:rPr lang="en-US" altLang="zh-CN" sz="2000" i="1" dirty="0">
                <a:solidFill>
                  <a:srgbClr val="FF0000"/>
                </a:solidFill>
              </a:rPr>
              <a:t>B</a:t>
            </a:r>
            <a:r>
              <a:rPr lang="en-US" altLang="zh-CN" sz="2000" i="1" baseline="30000" dirty="0">
                <a:solidFill>
                  <a:srgbClr val="FF0000"/>
                </a:solidFill>
              </a:rPr>
              <a:t>m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</a:rPr>
              <a:t>B</a:t>
            </a:r>
            <a:r>
              <a:rPr lang="en-US" altLang="zh-CN" sz="2000" i="1" baseline="30000" dirty="0">
                <a:solidFill>
                  <a:srgbClr val="FF0000"/>
                </a:solidFill>
              </a:rPr>
              <a:t>n</a:t>
            </a:r>
            <a:endParaRPr lang="zh-CN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Error detection</a:t>
            </a:r>
            <a:r>
              <a:rPr lang="zh-CN" altLang="en-US" sz="2000" dirty="0"/>
              <a:t>（差错检测）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sym typeface="宋体" panose="02010600030101010101" pitchFamily="2" charset="-122"/>
              </a:rPr>
              <a:t>Hamming distance</a:t>
            </a:r>
            <a:r>
              <a:rPr lang="zh-CN" altLang="en-US" sz="1800" dirty="0">
                <a:sym typeface="宋体" panose="02010600030101010101" pitchFamily="2" charset="-122"/>
              </a:rPr>
              <a:t>（海明距离）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</a:rPr>
              <a:t>x</a:t>
            </a:r>
            <a:r>
              <a:rPr lang="en-US" altLang="zh-CN" sz="1800" dirty="0">
                <a:solidFill>
                  <a:srgbClr val="FF0000"/>
                </a:solidFill>
              </a:rPr>
              <a:t>, </a:t>
            </a:r>
            <a:r>
              <a:rPr lang="en-US" altLang="zh-CN" sz="1800" i="1" dirty="0">
                <a:solidFill>
                  <a:srgbClr val="FF0000"/>
                </a:solidFill>
              </a:rPr>
              <a:t>y</a:t>
            </a:r>
            <a:r>
              <a:rPr lang="en-US" altLang="zh-CN" sz="1800" dirty="0">
                <a:solidFill>
                  <a:srgbClr val="FF0000"/>
                </a:solidFill>
              </a:rPr>
              <a:t>) = |</a:t>
            </a:r>
            <a:r>
              <a:rPr lang="en-US" altLang="zh-CN" sz="1800" i="1" dirty="0">
                <a:solidFill>
                  <a:srgbClr val="FF0000"/>
                </a:solidFill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sz="1800" i="1" dirty="0">
                <a:solidFill>
                  <a:srgbClr val="FF0000"/>
                </a:solidFill>
              </a:rPr>
              <a:t>y</a:t>
            </a:r>
            <a:r>
              <a:rPr lang="en-US" altLang="zh-CN" sz="1800" dirty="0">
                <a:solidFill>
                  <a:srgbClr val="FF0000"/>
                </a:solidFill>
              </a:rPr>
              <a:t>|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sym typeface="宋体" panose="02010600030101010101" pitchFamily="2" charset="-122"/>
              </a:rPr>
              <a:t>Properties of the distance function 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</a:rPr>
              <a:t>x</a:t>
            </a:r>
            <a:r>
              <a:rPr lang="en-US" altLang="zh-CN" sz="1800" dirty="0">
                <a:solidFill>
                  <a:srgbClr val="FF0000"/>
                </a:solidFill>
              </a:rPr>
              <a:t>, </a:t>
            </a:r>
            <a:r>
              <a:rPr lang="en-US" altLang="zh-CN" sz="1800" i="1" dirty="0">
                <a:solidFill>
                  <a:srgbClr val="FF0000"/>
                </a:solidFill>
              </a:rPr>
              <a:t>y</a:t>
            </a:r>
            <a:r>
              <a:rPr lang="en-US" altLang="zh-CN" sz="1800" dirty="0">
                <a:solidFill>
                  <a:srgbClr val="FF0000"/>
                </a:solidFill>
              </a:rPr>
              <a:t>) 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</a:rPr>
              <a:t>x</a:t>
            </a:r>
            <a:r>
              <a:rPr lang="en-US" altLang="zh-CN" sz="1800" dirty="0">
                <a:solidFill>
                  <a:srgbClr val="FF0000"/>
                </a:solidFill>
              </a:rPr>
              <a:t>, </a:t>
            </a:r>
            <a:r>
              <a:rPr lang="en-US" altLang="zh-CN" sz="1800" i="1" dirty="0">
                <a:solidFill>
                  <a:srgbClr val="FF0000"/>
                </a:solidFill>
              </a:rPr>
              <a:t>z</a:t>
            </a:r>
            <a:r>
              <a:rPr lang="en-US" altLang="zh-CN" sz="1800" dirty="0">
                <a:solidFill>
                  <a:srgbClr val="FF0000"/>
                </a:solidFill>
              </a:rPr>
              <a:t>) + </a:t>
            </a:r>
            <a:r>
              <a:rPr lang="zh-CN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i="1" dirty="0">
                <a:solidFill>
                  <a:srgbClr val="FF0000"/>
                </a:solidFill>
              </a:rPr>
              <a:t>z</a:t>
            </a:r>
            <a:r>
              <a:rPr lang="en-US" altLang="zh-CN" sz="1800" dirty="0">
                <a:solidFill>
                  <a:srgbClr val="FF0000"/>
                </a:solidFill>
              </a:rPr>
              <a:t>, </a:t>
            </a:r>
            <a:r>
              <a:rPr lang="en-US" altLang="zh-CN" sz="1800" i="1" dirty="0">
                <a:solidFill>
                  <a:srgbClr val="FF0000"/>
                </a:solidFill>
              </a:rPr>
              <a:t>y</a:t>
            </a:r>
            <a:r>
              <a:rPr lang="en-US" altLang="zh-CN" sz="1800" dirty="0">
                <a:solidFill>
                  <a:srgbClr val="FF0000"/>
                </a:solidFill>
              </a:rPr>
              <a:t>)</a:t>
            </a:r>
            <a:r>
              <a:rPr lang="en-US" altLang="zh-CN" sz="1800" dirty="0"/>
              <a:t> </a:t>
            </a:r>
          </a:p>
          <a:p>
            <a:pPr lvl="1"/>
            <a:r>
              <a:rPr lang="en-US" altLang="zh-CN" sz="1600" i="1" dirty="0"/>
              <a:t>e</a:t>
            </a:r>
            <a:r>
              <a:rPr lang="en-US" altLang="zh-CN" sz="1600" dirty="0"/>
              <a:t>: </a:t>
            </a:r>
            <a:r>
              <a:rPr lang="en-US" altLang="zh-CN" sz="1600" i="1" dirty="0"/>
              <a:t>B</a:t>
            </a:r>
            <a:r>
              <a:rPr lang="en-US" altLang="zh-CN" sz="1600" i="1" baseline="30000" dirty="0"/>
              <a:t>m</a:t>
            </a:r>
            <a:r>
              <a:rPr lang="en-US" altLang="zh-CN" sz="1600" dirty="0"/>
              <a:t> </a:t>
            </a:r>
            <a:r>
              <a:rPr lang="zh-CN" altLang="en-US" sz="1600" dirty="0">
                <a:sym typeface="Symbol" panose="05050102010706020507" pitchFamily="18" charset="2"/>
              </a:rPr>
              <a:t></a:t>
            </a:r>
            <a:r>
              <a:rPr lang="en-US" altLang="zh-CN" sz="1600" dirty="0"/>
              <a:t> </a:t>
            </a:r>
            <a:r>
              <a:rPr lang="en-US" altLang="zh-CN" sz="1600" i="1" dirty="0"/>
              <a:t>B</a:t>
            </a:r>
            <a:r>
              <a:rPr lang="en-US" altLang="zh-CN" sz="1600" i="1" baseline="30000" dirty="0"/>
              <a:t>n</a:t>
            </a:r>
            <a:r>
              <a:rPr lang="en-US" altLang="zh-CN" sz="1600" dirty="0"/>
              <a:t> can detect </a:t>
            </a:r>
            <a:r>
              <a:rPr lang="en-US" altLang="zh-CN" sz="1600" i="1" dirty="0">
                <a:solidFill>
                  <a:srgbClr val="FF0000"/>
                </a:solidFill>
              </a:rPr>
              <a:t>k</a:t>
            </a:r>
            <a:r>
              <a:rPr lang="en-US" altLang="zh-CN" sz="1600" dirty="0"/>
              <a:t> or fewer errors </a:t>
            </a:r>
            <a:r>
              <a:rPr lang="en-US" altLang="zh-CN" sz="1800" dirty="0" err="1"/>
              <a:t>iff</a:t>
            </a:r>
            <a:r>
              <a:rPr lang="en-US" altLang="zh-CN" sz="1800" dirty="0"/>
              <a:t> its minimum distance is at </a:t>
            </a:r>
            <a:r>
              <a:rPr lang="en-US" altLang="zh-CN" sz="1800" dirty="0">
                <a:solidFill>
                  <a:srgbClr val="FF0000"/>
                </a:solidFill>
              </a:rPr>
              <a:t>least </a:t>
            </a:r>
            <a:r>
              <a:rPr lang="en-US" altLang="zh-CN" sz="1800" i="1" dirty="0">
                <a:solidFill>
                  <a:srgbClr val="FF0000"/>
                </a:solidFill>
              </a:rPr>
              <a:t>k</a:t>
            </a:r>
            <a:r>
              <a:rPr lang="en-US" altLang="zh-CN" sz="1800" dirty="0">
                <a:solidFill>
                  <a:srgbClr val="FF0000"/>
                </a:solidFill>
              </a:rPr>
              <a:t> + l.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Group codes</a:t>
            </a:r>
            <a:r>
              <a:rPr lang="zh-CN" altLang="en-US" sz="2000" dirty="0"/>
              <a:t>（群码）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1800" i="1" dirty="0"/>
              <a:t>e</a:t>
            </a:r>
            <a:r>
              <a:rPr lang="en-US" altLang="zh-CN" sz="1800" dirty="0"/>
              <a:t>(</a:t>
            </a:r>
            <a:r>
              <a:rPr lang="en-US" altLang="zh-CN" sz="1800" i="1" dirty="0"/>
              <a:t>B</a:t>
            </a:r>
            <a:r>
              <a:rPr lang="en-US" altLang="zh-CN" sz="1800" i="1" baseline="30000" dirty="0"/>
              <a:t>m</a:t>
            </a:r>
            <a:r>
              <a:rPr lang="en-US" altLang="zh-CN" sz="1800" dirty="0"/>
              <a:t>) = {</a:t>
            </a:r>
            <a:r>
              <a:rPr lang="en-US" altLang="zh-CN" sz="1800" i="1" dirty="0"/>
              <a:t>e</a:t>
            </a:r>
            <a:r>
              <a:rPr lang="en-US" altLang="zh-CN" sz="1800" dirty="0"/>
              <a:t>(</a:t>
            </a:r>
            <a:r>
              <a:rPr lang="en-US" altLang="zh-CN" sz="1800" i="1" dirty="0"/>
              <a:t>b</a:t>
            </a:r>
            <a:r>
              <a:rPr lang="en-US" altLang="zh-CN" sz="1800" dirty="0"/>
              <a:t>) | </a:t>
            </a:r>
            <a:r>
              <a:rPr lang="en-US" altLang="zh-CN" sz="1800" i="1" dirty="0"/>
              <a:t>e</a:t>
            </a:r>
            <a:r>
              <a:rPr lang="en-US" altLang="zh-CN" sz="1800" dirty="0"/>
              <a:t>(</a:t>
            </a:r>
            <a:r>
              <a:rPr lang="en-US" altLang="zh-CN" sz="1800" i="1" dirty="0"/>
              <a:t>b</a:t>
            </a:r>
            <a:r>
              <a:rPr lang="en-US" altLang="zh-CN" sz="1800" dirty="0"/>
              <a:t>) </a:t>
            </a:r>
            <a:r>
              <a:rPr lang="zh-CN" altLang="en-US" sz="1800" dirty="0">
                <a:sym typeface="Symbol" panose="05050102010706020507" pitchFamily="18" charset="2"/>
              </a:rPr>
              <a:t></a:t>
            </a:r>
            <a:r>
              <a:rPr lang="en-US" altLang="zh-CN" sz="1800" dirty="0"/>
              <a:t> </a:t>
            </a:r>
            <a:r>
              <a:rPr lang="en-US" altLang="zh-CN" sz="1800" i="1" dirty="0"/>
              <a:t>B</a:t>
            </a:r>
            <a:r>
              <a:rPr lang="en-US" altLang="zh-CN" sz="1800" i="1" baseline="30000" dirty="0"/>
              <a:t>n</a:t>
            </a:r>
            <a:r>
              <a:rPr lang="en-US" altLang="zh-CN" sz="1800" dirty="0"/>
              <a:t> } is a subgroup of </a:t>
            </a:r>
            <a:r>
              <a:rPr lang="en-US" altLang="zh-CN" sz="1800" i="1" dirty="0"/>
              <a:t>B</a:t>
            </a:r>
            <a:r>
              <a:rPr lang="en-US" altLang="zh-CN" sz="1800" i="1" baseline="30000" dirty="0"/>
              <a:t>n</a:t>
            </a:r>
            <a:endParaRPr lang="zh-CN" altLang="en-US" sz="1800" i="1" baseline="30000" dirty="0"/>
          </a:p>
          <a:p>
            <a:pPr lvl="1" eaLnBrk="1" hangingPunct="1">
              <a:lnSpc>
                <a:spcPct val="130000"/>
              </a:lnSpc>
            </a:pPr>
            <a:r>
              <a:rPr lang="en-US" altLang="zh-CN" sz="1800" dirty="0">
                <a:sym typeface="宋体" panose="02010600030101010101" pitchFamily="2" charset="-122"/>
              </a:rPr>
              <a:t>Theorem: If</a:t>
            </a:r>
            <a:r>
              <a:rPr lang="en-US" altLang="zh-CN" sz="1800" dirty="0"/>
              <a:t> </a:t>
            </a:r>
            <a:r>
              <a:rPr lang="en-US" altLang="zh-CN" sz="1800" i="1" dirty="0"/>
              <a:t>e </a:t>
            </a:r>
            <a:r>
              <a:rPr lang="en-US" altLang="zh-CN" sz="1800" dirty="0"/>
              <a:t>be a group code. The minimum distance of </a:t>
            </a:r>
            <a:r>
              <a:rPr lang="en-US" altLang="zh-CN" sz="1800" i="1" dirty="0"/>
              <a:t>e</a:t>
            </a:r>
            <a:r>
              <a:rPr lang="en-US" altLang="zh-CN" sz="1800" dirty="0"/>
              <a:t> is the minimum weight of a nonzero code word.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1800" dirty="0"/>
              <a:t>Parity check matrix</a:t>
            </a:r>
          </a:p>
          <a:p>
            <a:pPr lvl="1" eaLnBrk="1" hangingPunct="1"/>
            <a:r>
              <a:rPr lang="en-US" altLang="zh-CN" sz="2000" i="1" noProof="1"/>
              <a:t>e</a:t>
            </a:r>
            <a:r>
              <a:rPr lang="en-US" altLang="zh-CN" sz="2000" i="1" baseline="-25000" noProof="1"/>
              <a:t>H</a:t>
            </a:r>
            <a:r>
              <a:rPr lang="en-US" altLang="zh-CN" sz="2000" noProof="1"/>
              <a:t>(</a:t>
            </a:r>
            <a:r>
              <a:rPr lang="en-US" altLang="zh-CN" sz="2000" i="1" noProof="1"/>
              <a:t>B</a:t>
            </a:r>
            <a:r>
              <a:rPr lang="en-US" altLang="zh-CN" sz="2000" i="1" baseline="30000" noProof="1"/>
              <a:t>m</a:t>
            </a:r>
            <a:r>
              <a:rPr lang="en-US" altLang="zh-CN" sz="2000" noProof="1"/>
              <a:t> ) = ker(</a:t>
            </a:r>
            <a:r>
              <a:rPr lang="en-US" altLang="zh-CN" sz="2000" i="1" noProof="1"/>
              <a:t>f</a:t>
            </a:r>
            <a:r>
              <a:rPr lang="en-US" altLang="zh-CN" sz="2000" i="1" baseline="-25000" noProof="1"/>
              <a:t>H</a:t>
            </a:r>
            <a:r>
              <a:rPr lang="en-US" altLang="zh-CN" sz="2000" noProof="1"/>
              <a:t>)</a:t>
            </a:r>
            <a:r>
              <a:rPr lang="en-US" altLang="zh-CN" sz="1800" noProof="1"/>
              <a:t> ={ x | </a:t>
            </a:r>
            <a:r>
              <a:rPr lang="en-US" altLang="zh-CN" sz="19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1900" dirty="0">
                <a:latin typeface="Arial" panose="020B0604020202020204" pitchFamily="34" charset="0"/>
                <a:cs typeface="Arial" panose="020B0604020202020204" pitchFamily="34" charset="0"/>
              </a:rPr>
              <a:t> * H = 0 </a:t>
            </a:r>
            <a:r>
              <a:rPr lang="en-US" altLang="zh-CN" sz="1900" dirty="0" err="1"/>
              <a:t>iff</a:t>
            </a:r>
            <a:r>
              <a:rPr lang="en-US" altLang="zh-CN" sz="1900" dirty="0"/>
              <a:t> </a:t>
            </a:r>
            <a:r>
              <a:rPr lang="en-US" altLang="zh-CN" sz="1900" i="1" dirty="0"/>
              <a:t>x</a:t>
            </a:r>
            <a:r>
              <a:rPr lang="en-US" altLang="zh-CN" sz="1900" dirty="0"/>
              <a:t> = </a:t>
            </a:r>
            <a:r>
              <a:rPr lang="en-US" altLang="zh-CN" sz="1900" i="1" dirty="0" err="1"/>
              <a:t>e</a:t>
            </a:r>
            <a:r>
              <a:rPr lang="en-US" altLang="zh-CN" sz="1900" i="1" baseline="-25000" dirty="0" err="1"/>
              <a:t>H</a:t>
            </a:r>
            <a:r>
              <a:rPr lang="en-US" altLang="zh-CN" sz="1900" dirty="0"/>
              <a:t>(</a:t>
            </a:r>
            <a:r>
              <a:rPr lang="en-US" altLang="zh-CN" sz="1900" i="1" dirty="0"/>
              <a:t>b</a:t>
            </a:r>
            <a:r>
              <a:rPr lang="en-US" altLang="zh-CN" sz="1900" dirty="0"/>
              <a:t>), </a:t>
            </a:r>
            <a:r>
              <a:rPr lang="en-US" altLang="zh-CN" sz="1900" i="1" dirty="0"/>
              <a:t>b</a:t>
            </a:r>
            <a:r>
              <a:rPr lang="en-US" altLang="zh-CN" sz="1900" dirty="0"/>
              <a:t> </a:t>
            </a:r>
            <a:r>
              <a:rPr lang="zh-CN" altLang="en-US" sz="1900" dirty="0">
                <a:sym typeface="Symbol" panose="05050102010706020507" pitchFamily="18" charset="2"/>
              </a:rPr>
              <a:t></a:t>
            </a:r>
            <a:r>
              <a:rPr lang="en-US" altLang="zh-CN" sz="1900" dirty="0"/>
              <a:t> </a:t>
            </a:r>
            <a:r>
              <a:rPr lang="en-US" altLang="zh-CN" sz="1900" i="1" dirty="0"/>
              <a:t>B</a:t>
            </a:r>
            <a:r>
              <a:rPr lang="en-US" altLang="zh-CN" sz="1900" i="1" baseline="30000" dirty="0"/>
              <a:t>m</a:t>
            </a:r>
            <a:r>
              <a:rPr lang="en-US" altLang="zh-CN" sz="1900" dirty="0"/>
              <a:t>}</a:t>
            </a:r>
            <a:endParaRPr lang="zh-CN" altLang="en-US" sz="1900" i="1" baseline="30000" dirty="0"/>
          </a:p>
          <a:p>
            <a:pPr lvl="1">
              <a:lnSpc>
                <a:spcPct val="130000"/>
              </a:lnSpc>
            </a:pPr>
            <a:endParaRPr lang="en-US" altLang="zh-CN" sz="2000" noProof="1"/>
          </a:p>
        </p:txBody>
      </p:sp>
      <p:sp>
        <p:nvSpPr>
          <p:cNvPr id="24577" name="灯片编号占位符 3">
            <a:extLst>
              <a:ext uri="{FF2B5EF4-FFF2-40B4-BE49-F238E27FC236}">
                <a16:creationId xmlns:a16="http://schemas.microsoft.com/office/drawing/2014/main" id="{EAB36C8D-AEE0-4B19-89D7-4E794F7C62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82B5EFB-FF3A-4692-997C-D8C003FCDC9E}" type="slidenum">
              <a:rPr lang="zh-CN" altLang="en-US" sz="1000" dirty="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defRPr/>
              </a:pPr>
              <a:t>23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9267" name="日期占位符 4">
            <a:extLst>
              <a:ext uri="{FF2B5EF4-FFF2-40B4-BE49-F238E27FC236}">
                <a16:creationId xmlns:a16="http://schemas.microsoft.com/office/drawing/2014/main" id="{9CD8BDEE-1649-4768-922F-233894DDA3B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14258B9-018C-495A-A7A1-F284BEECF24A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/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9268" name="页脚占位符 5">
            <a:extLst>
              <a:ext uri="{FF2B5EF4-FFF2-40B4-BE49-F238E27FC236}">
                <a16:creationId xmlns:a16="http://schemas.microsoft.com/office/drawing/2014/main" id="{4114A59A-35E2-4A8F-86A1-DE2DD24F327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785D55AD-C593-0B58-8151-0CA4F1C85E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14970"/>
              </p:ext>
            </p:extLst>
          </p:nvPr>
        </p:nvGraphicFramePr>
        <p:xfrm>
          <a:off x="6660232" y="434603"/>
          <a:ext cx="2160240" cy="1914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71700" imgH="1828800" progId="Equation.DSMT4">
                  <p:embed/>
                </p:oleObj>
              </mc:Choice>
              <mc:Fallback>
                <p:oleObj r:id="rId2" imgW="2171700" imgH="1828800" progId="Equation.DSMT4">
                  <p:embed/>
                  <p:pic>
                    <p:nvPicPr>
                      <p:cNvPr id="63495" name="Object 4">
                        <a:extLst>
                          <a:ext uri="{FF2B5EF4-FFF2-40B4-BE49-F238E27FC236}">
                            <a16:creationId xmlns:a16="http://schemas.microsoft.com/office/drawing/2014/main" id="{CF648A75-E281-25F0-BE6F-4D6675B4F2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434603"/>
                        <a:ext cx="2160240" cy="1914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>
            <a:extLst>
              <a:ext uri="{FF2B5EF4-FFF2-40B4-BE49-F238E27FC236}">
                <a16:creationId xmlns:a16="http://schemas.microsoft.com/office/drawing/2014/main" id="{843855C9-0A65-D5ED-4AAD-72C5AA289B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F21072B5-E065-4148-8952-852E2A2C077C}" type="slidenum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24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4515" name="日期占位符 4">
            <a:extLst>
              <a:ext uri="{FF2B5EF4-FFF2-40B4-BE49-F238E27FC236}">
                <a16:creationId xmlns:a16="http://schemas.microsoft.com/office/drawing/2014/main" id="{EB8DB205-07B7-9839-9C03-B367D7E8DAC4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BB7D343-A9DA-416D-971C-97393FA2078A}" type="datetime1">
              <a:rPr lang="zh-CN" altLang="en-US" sz="1000" smtClean="0">
                <a:solidFill>
                  <a:srgbClr val="009999"/>
                </a:solidFill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4516" name="页脚占位符 5">
            <a:extLst>
              <a:ext uri="{FF2B5EF4-FFF2-40B4-BE49-F238E27FC236}">
                <a16:creationId xmlns:a16="http://schemas.microsoft.com/office/drawing/2014/main" id="{DC064CCB-A09C-78BF-D530-4769505D41D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itchFamily="34" charset="0"/>
            </a:endParaRP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38D3A135-DD9C-4608-AC44-895D2B8DF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Encoding function</a:t>
            </a:r>
          </a:p>
        </p:txBody>
      </p:sp>
      <p:sp>
        <p:nvSpPr>
          <p:cNvPr id="64518" name="Rectangle 3">
            <a:extLst>
              <a:ext uri="{FF2B5EF4-FFF2-40B4-BE49-F238E27FC236}">
                <a16:creationId xmlns:a16="http://schemas.microsoft.com/office/drawing/2014/main" id="{873BFB1D-EB60-AE06-08DA-6C12AABF4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7700" y="1860550"/>
            <a:ext cx="7772400" cy="730250"/>
          </a:xfrm>
        </p:spPr>
        <p:txBody>
          <a:bodyPr/>
          <a:lstStyle/>
          <a:p>
            <a:pPr eaLnBrk="1" hangingPunct="1"/>
            <a:r>
              <a:rPr lang="en-US" altLang="zh-CN"/>
              <a:t>Define an encoding function </a:t>
            </a:r>
            <a:r>
              <a:rPr lang="en-US" altLang="zh-CN" i="1"/>
              <a:t>e</a:t>
            </a:r>
            <a:r>
              <a:rPr lang="en-US" altLang="zh-CN" i="1" baseline="-25000"/>
              <a:t>H</a:t>
            </a:r>
            <a:r>
              <a:rPr lang="en-US" altLang="zh-CN"/>
              <a:t>: </a:t>
            </a:r>
            <a:r>
              <a:rPr lang="en-US" altLang="zh-CN" i="1"/>
              <a:t>B</a:t>
            </a:r>
            <a:r>
              <a:rPr lang="en-US" altLang="zh-CN" i="1" baseline="30000"/>
              <a:t>m</a:t>
            </a:r>
            <a:r>
              <a:rPr lang="en-US" altLang="zh-CN"/>
              <a:t> 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 i="1" baseline="30000"/>
              <a:t>n</a:t>
            </a:r>
            <a:endParaRPr lang="en-US" altLang="zh-CN"/>
          </a:p>
          <a:p>
            <a:pPr marL="457200" lvl="1" indent="0"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graphicFrame>
        <p:nvGraphicFramePr>
          <p:cNvPr id="64519" name="Object 4">
            <a:extLst>
              <a:ext uri="{FF2B5EF4-FFF2-40B4-BE49-F238E27FC236}">
                <a16:creationId xmlns:a16="http://schemas.microsoft.com/office/drawing/2014/main" id="{8F2F02E3-9E6E-01C5-BF92-69AC868CA2BE}"/>
              </a:ext>
            </a:extLst>
          </p:cNvPr>
          <p:cNvGraphicFramePr>
            <a:graphicFrameLocks/>
          </p:cNvGraphicFramePr>
          <p:nvPr/>
        </p:nvGraphicFramePr>
        <p:xfrm>
          <a:off x="688975" y="2509838"/>
          <a:ext cx="7369175" cy="381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216400" imgH="2184400" progId="Equation.DSMT4">
                  <p:embed/>
                </p:oleObj>
              </mc:Choice>
              <mc:Fallback>
                <p:oleObj r:id="rId2" imgW="4216400" imgH="2184400" progId="Equation.DSMT4">
                  <p:embed/>
                  <p:pic>
                    <p:nvPicPr>
                      <p:cNvPr id="64519" name="Object 4">
                        <a:extLst>
                          <a:ext uri="{FF2B5EF4-FFF2-40B4-BE49-F238E27FC236}">
                            <a16:creationId xmlns:a16="http://schemas.microsoft.com/office/drawing/2014/main" id="{8F2F02E3-9E6E-01C5-BF92-69AC868CA2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2509838"/>
                        <a:ext cx="7369175" cy="381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3">
            <a:extLst>
              <a:ext uri="{FF2B5EF4-FFF2-40B4-BE49-F238E27FC236}">
                <a16:creationId xmlns:a16="http://schemas.microsoft.com/office/drawing/2014/main" id="{DE19C52E-1D1B-E46F-A54C-8AD812F78F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3350CB0-DC78-4A24-A238-E8C5ABCCE7C3}" type="slidenum">
              <a:rPr lang="zh-CN" altLang="en-US" sz="1000" smtClean="0"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25</a:t>
            </a:fld>
            <a:endParaRPr lang="zh-CN" altLang="en-US" sz="1000" dirty="0">
              <a:latin typeface="Arial Narrow" pitchFamily="34" charset="0"/>
            </a:endParaRPr>
          </a:p>
        </p:txBody>
      </p:sp>
      <p:sp>
        <p:nvSpPr>
          <p:cNvPr id="66563" name="日期占位符 4">
            <a:extLst>
              <a:ext uri="{FF2B5EF4-FFF2-40B4-BE49-F238E27FC236}">
                <a16:creationId xmlns:a16="http://schemas.microsoft.com/office/drawing/2014/main" id="{F75D145E-60EE-16F5-9317-F19289036A7D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CC8D8811-CFE1-492C-8EB3-39045BFA8DF7}" type="datetime1">
              <a:rPr lang="zh-CN" altLang="en-US" sz="1000" smtClean="0"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 dirty="0">
              <a:latin typeface="Arial Narrow" pitchFamily="34" charset="0"/>
            </a:endParaRPr>
          </a:p>
        </p:txBody>
      </p:sp>
      <p:sp>
        <p:nvSpPr>
          <p:cNvPr id="66564" name="页脚占位符 5">
            <a:extLst>
              <a:ext uri="{FF2B5EF4-FFF2-40B4-BE49-F238E27FC236}">
                <a16:creationId xmlns:a16="http://schemas.microsoft.com/office/drawing/2014/main" id="{EDB2C723-6C17-ED93-0851-792B702738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dirty="0">
                <a:latin typeface="Arial Narrow" pitchFamily="34" charset="0"/>
              </a:rPr>
              <a:t>College of Computer Science &amp; Technology, </a:t>
            </a:r>
            <a:r>
              <a:rPr kumimoji="0" lang="en-US" altLang="zh-CN" sz="1200" dirty="0" err="1">
                <a:latin typeface="Arial Narrow" pitchFamily="34" charset="0"/>
              </a:rPr>
              <a:t>BUPT</a:t>
            </a:r>
            <a:endParaRPr kumimoji="0" lang="zh-CN" altLang="en-US" sz="1200" dirty="0">
              <a:latin typeface="Arial Narrow" pitchFamily="34" charset="0"/>
            </a:endParaRPr>
          </a:p>
        </p:txBody>
      </p:sp>
      <p:sp>
        <p:nvSpPr>
          <p:cNvPr id="66565" name="Rectangle 2">
            <a:extLst>
              <a:ext uri="{FF2B5EF4-FFF2-40B4-BE49-F238E27FC236}">
                <a16:creationId xmlns:a16="http://schemas.microsoft.com/office/drawing/2014/main" id="{A808413C-8F16-A85D-052D-612C327B4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Decoding Function</a:t>
            </a:r>
            <a:endParaRPr lang="zh-CN" altLang="en-US"/>
          </a:p>
        </p:txBody>
      </p:sp>
      <p:sp>
        <p:nvSpPr>
          <p:cNvPr id="66566" name="Rectangle 3">
            <a:extLst>
              <a:ext uri="{FF2B5EF4-FFF2-40B4-BE49-F238E27FC236}">
                <a16:creationId xmlns:a16="http://schemas.microsoft.com/office/drawing/2014/main" id="{9915866B-01E5-C13C-4046-98F3927C9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An onto function </a:t>
            </a:r>
            <a:r>
              <a:rPr lang="en-US" altLang="zh-CN" i="1" dirty="0"/>
              <a:t>d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is called an (</a:t>
            </a:r>
            <a:r>
              <a:rPr lang="en-US" altLang="zh-CN" i="1" dirty="0"/>
              <a:t>n, m</a:t>
            </a:r>
            <a:r>
              <a:rPr lang="en-US" altLang="zh-CN" dirty="0"/>
              <a:t>) </a:t>
            </a:r>
            <a:r>
              <a:rPr lang="en-US" altLang="zh-CN" i="1" dirty="0"/>
              <a:t>decoding function associated with e</a:t>
            </a:r>
            <a:r>
              <a:rPr lang="en-US" altLang="zh-CN" dirty="0"/>
              <a:t>(</a:t>
            </a:r>
            <a:r>
              <a:rPr lang="zh-CN" altLang="en-US" dirty="0"/>
              <a:t>与</a:t>
            </a:r>
            <a:r>
              <a:rPr lang="en-US" altLang="zh-CN" i="1" dirty="0"/>
              <a:t>e</a:t>
            </a:r>
            <a:r>
              <a:rPr lang="zh-CN" altLang="en-US" dirty="0"/>
              <a:t>关联的译码函数</a:t>
            </a:r>
            <a:r>
              <a:rPr lang="en-US" altLang="zh-CN" dirty="0"/>
              <a:t>) if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dirty="0"/>
              <a:t>'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is such that when the transmission channel has no noise, then </a:t>
            </a:r>
            <a:r>
              <a:rPr lang="en-US" altLang="zh-CN" i="1" dirty="0"/>
              <a:t>b</a:t>
            </a:r>
            <a:r>
              <a:rPr lang="en-US" altLang="zh-CN" dirty="0"/>
              <a:t>' = </a:t>
            </a:r>
            <a:r>
              <a:rPr lang="en-US" altLang="zh-CN" i="1" dirty="0"/>
              <a:t>b</a:t>
            </a:r>
            <a:r>
              <a:rPr lang="en-US" altLang="zh-CN" dirty="0"/>
              <a:t>, that is, </a:t>
            </a:r>
            <a:r>
              <a:rPr lang="en-US" altLang="zh-CN" i="1" dirty="0"/>
              <a:t>d</a:t>
            </a:r>
            <a:r>
              <a:rPr lang="en-US" altLang="zh-CN" dirty="0"/>
              <a:t> </a:t>
            </a:r>
            <a:r>
              <a:rPr lang="en-US" altLang="zh-CN" sz="1800" dirty="0">
                <a:latin typeface="MT-Extra" charset="0"/>
              </a:rPr>
              <a:t>o</a:t>
            </a:r>
            <a:r>
              <a:rPr lang="en-US" altLang="zh-CN" dirty="0"/>
              <a:t> </a:t>
            </a:r>
            <a:r>
              <a:rPr lang="en-US" altLang="zh-CN" i="1" dirty="0"/>
              <a:t>e</a:t>
            </a:r>
            <a:r>
              <a:rPr lang="en-US" altLang="zh-CN" dirty="0"/>
              <a:t> = </a:t>
            </a:r>
            <a:r>
              <a:rPr lang="en-US" altLang="zh-CN" dirty="0" err="1"/>
              <a:t>1</a:t>
            </a:r>
            <a:r>
              <a:rPr lang="en-US" altLang="zh-CN" i="1" baseline="-25000" dirty="0" err="1"/>
              <a:t>B</a:t>
            </a:r>
            <a:r>
              <a:rPr lang="en-US" altLang="zh-CN" i="1" baseline="-10000" dirty="0" err="1"/>
              <a:t>m</a:t>
            </a:r>
            <a:endParaRPr lang="en-US" altLang="zh-CN" i="1" baseline="-10000" dirty="0"/>
          </a:p>
          <a:p>
            <a:pPr eaLnBrk="1" hangingPunct="1"/>
            <a:r>
              <a:rPr lang="en-US" altLang="zh-CN" dirty="0"/>
              <a:t>(</a:t>
            </a:r>
            <a:r>
              <a:rPr lang="en-US" altLang="zh-CN" i="1" dirty="0"/>
              <a:t>e, d</a:t>
            </a:r>
            <a:r>
              <a:rPr lang="en-US" altLang="zh-CN" dirty="0"/>
              <a:t>) can correct </a:t>
            </a:r>
            <a:r>
              <a:rPr lang="en-US" altLang="zh-CN" i="1" dirty="0">
                <a:solidFill>
                  <a:srgbClr val="FF0000"/>
                </a:solidFill>
              </a:rPr>
              <a:t>k</a:t>
            </a:r>
            <a:r>
              <a:rPr lang="en-US" altLang="zh-CN" dirty="0"/>
              <a:t> or fewer errors </a:t>
            </a:r>
            <a:r>
              <a:rPr lang="en-US" altLang="zh-CN" dirty="0" err="1"/>
              <a:t>iff</a:t>
            </a:r>
            <a:r>
              <a:rPr lang="en-US" altLang="zh-CN" dirty="0"/>
              <a:t> </a:t>
            </a:r>
          </a:p>
          <a:p>
            <a:pPr lvl="1" eaLnBrk="1" hangingPunct="1"/>
            <a:r>
              <a:rPr lang="en-US" altLang="zh-CN" dirty="0"/>
              <a:t>the minimum distance of </a:t>
            </a:r>
            <a:r>
              <a:rPr lang="en-US" altLang="zh-CN" i="1" dirty="0"/>
              <a:t>e</a:t>
            </a:r>
            <a:r>
              <a:rPr lang="en-US" altLang="zh-CN" dirty="0"/>
              <a:t> is at </a:t>
            </a:r>
            <a:r>
              <a:rPr lang="en-US" altLang="zh-CN" dirty="0">
                <a:solidFill>
                  <a:srgbClr val="FF0000"/>
                </a:solidFill>
              </a:rPr>
              <a:t>least </a:t>
            </a:r>
            <a:r>
              <a:rPr lang="en-US" altLang="zh-CN" dirty="0" err="1">
                <a:solidFill>
                  <a:srgbClr val="FF0000"/>
                </a:solidFill>
              </a:rPr>
              <a:t>2</a:t>
            </a:r>
            <a:r>
              <a:rPr lang="en-US" altLang="zh-CN" i="1" dirty="0" err="1">
                <a:solidFill>
                  <a:srgbClr val="FF0000"/>
                </a:solidFill>
              </a:rPr>
              <a:t>k</a:t>
            </a:r>
            <a:r>
              <a:rPr lang="en-US" altLang="zh-CN" dirty="0">
                <a:solidFill>
                  <a:srgbClr val="FF0000"/>
                </a:solidFill>
              </a:rPr>
              <a:t> + l</a:t>
            </a:r>
            <a:r>
              <a:rPr lang="en-US" altLang="zh-CN" dirty="0"/>
              <a:t>.</a:t>
            </a:r>
          </a:p>
          <a:p>
            <a:pPr lvl="1" eaLnBrk="1" hangingPunct="1"/>
            <a:endParaRPr lang="en-US" altLang="zh-CN" dirty="0"/>
          </a:p>
          <a:p>
            <a:r>
              <a:rPr lang="en-US" altLang="zh-CN" sz="2400" i="1" dirty="0"/>
              <a:t>maximum likelihood decoding function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3">
            <a:extLst>
              <a:ext uri="{FF2B5EF4-FFF2-40B4-BE49-F238E27FC236}">
                <a16:creationId xmlns:a16="http://schemas.microsoft.com/office/drawing/2014/main" id="{B2402F60-5F91-A03D-7D9B-CBD30A0E849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7EFD5964-6B75-4FE4-B636-CAF0F19B2211}" type="slidenum">
              <a:rPr lang="zh-CN" altLang="en-US" sz="1000" smtClean="0"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26</a:t>
            </a:fld>
            <a:endParaRPr lang="zh-CN" altLang="en-US" sz="1000">
              <a:latin typeface="Arial Narrow" pitchFamily="34" charset="0"/>
            </a:endParaRPr>
          </a:p>
        </p:txBody>
      </p:sp>
      <p:sp>
        <p:nvSpPr>
          <p:cNvPr id="68611" name="日期占位符 4">
            <a:extLst>
              <a:ext uri="{FF2B5EF4-FFF2-40B4-BE49-F238E27FC236}">
                <a16:creationId xmlns:a16="http://schemas.microsoft.com/office/drawing/2014/main" id="{575DAC90-632E-3127-0805-BB42DB55C34F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fld id="{92321820-6CB6-483C-8B79-CAD9564BCA47}" type="datetime1">
              <a:rPr lang="zh-CN" altLang="en-US" sz="1000" smtClean="0">
                <a:latin typeface="Arial Narrow" pitchFamily="34" charset="0"/>
              </a:rPr>
              <a:pPr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t>2024/12/27</a:t>
            </a:fld>
            <a:endParaRPr lang="zh-CN" altLang="en-US" sz="1000" dirty="0">
              <a:latin typeface="Arial Narrow" pitchFamily="34" charset="0"/>
            </a:endParaRPr>
          </a:p>
        </p:txBody>
      </p:sp>
      <p:sp>
        <p:nvSpPr>
          <p:cNvPr id="68612" name="页脚占位符 5">
            <a:extLst>
              <a:ext uri="{FF2B5EF4-FFF2-40B4-BE49-F238E27FC236}">
                <a16:creationId xmlns:a16="http://schemas.microsoft.com/office/drawing/2014/main" id="{40881959-AB12-91B6-3FCD-C65EF7D6971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200" dirty="0">
                <a:latin typeface="Arial Narrow" pitchFamily="34" charset="0"/>
              </a:rPr>
              <a:t>College of Computer Science &amp; Technology, </a:t>
            </a:r>
            <a:r>
              <a:rPr kumimoji="0" lang="en-US" altLang="zh-CN" sz="1200" dirty="0" err="1">
                <a:latin typeface="Arial Narrow" pitchFamily="34" charset="0"/>
              </a:rPr>
              <a:t>BUPT</a:t>
            </a:r>
            <a:endParaRPr kumimoji="0" lang="zh-CN" altLang="en-US" sz="1200" dirty="0">
              <a:latin typeface="Arial Narrow" pitchFamily="34" charset="0"/>
            </a:endParaRPr>
          </a:p>
        </p:txBody>
      </p:sp>
      <p:sp>
        <p:nvSpPr>
          <p:cNvPr id="68613" name="Rectangle 2">
            <a:extLst>
              <a:ext uri="{FF2B5EF4-FFF2-40B4-BE49-F238E27FC236}">
                <a16:creationId xmlns:a16="http://schemas.microsoft.com/office/drawing/2014/main" id="{057F5094-75B7-53D5-579F-5018DD7EA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Coset leader – </a:t>
            </a:r>
            <a:r>
              <a:rPr lang="zh-CN" altLang="en-US">
                <a:latin typeface="Times New Roman" panose="02020603050405020304" pitchFamily="18" charset="0"/>
              </a:rPr>
              <a:t>陪集头</a:t>
            </a:r>
          </a:p>
        </p:txBody>
      </p:sp>
      <p:sp>
        <p:nvSpPr>
          <p:cNvPr id="68614" name="Rectangle 3">
            <a:extLst>
              <a:ext uri="{FF2B5EF4-FFF2-40B4-BE49-F238E27FC236}">
                <a16:creationId xmlns:a16="http://schemas.microsoft.com/office/drawing/2014/main" id="{0F8DFAA1-E920-6B39-507D-2022E20A73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4475" y="2017713"/>
            <a:ext cx="8710613" cy="4114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400" dirty="0"/>
              <a:t>Suppose that the code word </a:t>
            </a:r>
            <a:r>
              <a:rPr lang="en-US" altLang="zh-CN" sz="2400" i="1" dirty="0"/>
              <a:t>x</a:t>
            </a:r>
            <a:r>
              <a:rPr lang="en-US" altLang="zh-CN" sz="2400" dirty="0"/>
              <a:t>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is transmitted and that the word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is received.</a:t>
            </a:r>
          </a:p>
          <a:p>
            <a:pPr eaLnBrk="1" hangingPunct="1"/>
            <a:r>
              <a:rPr lang="en-US" altLang="zh-CN" sz="2400" dirty="0"/>
              <a:t>The left coset of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is</a:t>
            </a:r>
          </a:p>
          <a:p>
            <a:pPr lvl="1" eaLnBrk="1" hangingPunct="1"/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N = {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baseline="-25000" dirty="0" err="1"/>
              <a:t>2</a:t>
            </a:r>
            <a:r>
              <a:rPr lang="en-US" altLang="zh-CN" i="1" baseline="-10000" dirty="0" err="1"/>
              <a:t>m</a:t>
            </a:r>
            <a:r>
              <a:rPr lang="en-US" altLang="zh-CN" dirty="0"/>
              <a:t>} =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i="1" baseline="-25000" dirty="0" err="1"/>
              <a:t>i</a:t>
            </a:r>
            <a:r>
              <a:rPr lang="zh-CN" altLang="en-US" dirty="0">
                <a:sym typeface="Symbol" panose="05050102010706020507" pitchFamily="18" charset="2"/>
              </a:rPr>
              <a:t> </a:t>
            </a:r>
            <a:r>
              <a:rPr lang="en-US" altLang="zh-CN" dirty="0"/>
              <a:t> N,  where </a:t>
            </a:r>
            <a:r>
              <a:rPr lang="en-US" altLang="zh-CN" i="1" dirty="0">
                <a:sym typeface="Symbol" panose="05050102010706020507" pitchFamily="18" charset="2"/>
              </a:rPr>
              <a:t>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=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baseline="30000" dirty="0"/>
              <a:t>(</a:t>
            </a:r>
            <a:r>
              <a:rPr lang="en-US" altLang="zh-CN" i="1" baseline="30000" dirty="0" err="1"/>
              <a:t>i</a:t>
            </a:r>
            <a:r>
              <a:rPr lang="en-US" altLang="zh-CN" baseline="30000" dirty="0"/>
              <a:t>)</a:t>
            </a:r>
            <a:endParaRPr lang="en-US" altLang="zh-CN" dirty="0"/>
          </a:p>
          <a:p>
            <a:pPr eaLnBrk="1" hangingPunct="1"/>
            <a:r>
              <a:rPr lang="en-US" altLang="zh-CN" sz="2400" dirty="0"/>
              <a:t>An element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 , having smallest weight, is called a </a:t>
            </a:r>
            <a:r>
              <a:rPr lang="en-US" altLang="zh-CN" sz="2400" i="1" dirty="0"/>
              <a:t>coset leader</a:t>
            </a:r>
            <a:r>
              <a:rPr lang="en-US" altLang="zh-CN" sz="2400" dirty="0"/>
              <a:t>.</a:t>
            </a:r>
          </a:p>
          <a:p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*</a:t>
            </a:r>
            <a:r>
              <a:rPr lang="en-US" altLang="zh-CN" sz="2400" b="1" dirty="0"/>
              <a:t>H</a:t>
            </a:r>
            <a:r>
              <a:rPr lang="en-US" altLang="zh-CN" sz="2400" dirty="0"/>
              <a:t> is called the </a:t>
            </a:r>
            <a:r>
              <a:rPr lang="en-US" altLang="zh-CN" sz="2400" i="1" dirty="0"/>
              <a:t>syndrome(</a:t>
            </a:r>
            <a:r>
              <a:rPr lang="zh-CN" altLang="en-US" sz="2400" i="1" dirty="0"/>
              <a:t>校验子</a:t>
            </a:r>
            <a:r>
              <a:rPr lang="en-US" altLang="zh-CN" sz="2400" i="1" dirty="0"/>
              <a:t>)</a:t>
            </a:r>
            <a:r>
              <a:rPr lang="en-US" altLang="zh-CN" sz="2400" dirty="0"/>
              <a:t> of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i="1" baseline="-25000" dirty="0"/>
              <a:t> .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*</a:t>
            </a:r>
            <a:r>
              <a:rPr lang="en-US" altLang="zh-CN" sz="2400" b="1" dirty="0"/>
              <a:t>H=</a:t>
            </a:r>
            <a:r>
              <a:rPr lang="en-US" altLang="zh-CN" sz="2400" i="1" dirty="0">
                <a:sym typeface="Symbol" panose="05050102010706020507" pitchFamily="18" charset="2"/>
              </a:rPr>
              <a:t> </a:t>
            </a:r>
            <a:r>
              <a:rPr lang="en-US" altLang="zh-CN" sz="2400" i="1" baseline="-25000" dirty="0"/>
              <a:t>j</a:t>
            </a:r>
            <a:r>
              <a:rPr lang="en-US" altLang="zh-CN" sz="2400" dirty="0"/>
              <a:t> *</a:t>
            </a:r>
            <a:r>
              <a:rPr lang="en-US" altLang="zh-CN" sz="2400" b="1" dirty="0"/>
              <a:t>H.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If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i="1" dirty="0"/>
              <a:t> </a:t>
            </a:r>
            <a:r>
              <a:rPr lang="en-US" altLang="zh-CN" sz="2400" dirty="0"/>
              <a:t>= 001110, then </a:t>
            </a:r>
            <a:r>
              <a:rPr lang="en-US" altLang="zh-CN" sz="2400" i="1" dirty="0" err="1"/>
              <a:t>f</a:t>
            </a:r>
            <a:r>
              <a:rPr lang="en-US" altLang="zh-CN" sz="2400" i="1" baseline="-25000" dirty="0" err="1"/>
              <a:t>H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) =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* </a:t>
            </a:r>
            <a:r>
              <a:rPr lang="en-US" altLang="zh-CN" sz="2400" b="1" dirty="0"/>
              <a:t>H</a:t>
            </a:r>
            <a:r>
              <a:rPr lang="en-US" altLang="zh-CN" sz="2400" dirty="0"/>
              <a:t> = 101, same as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dirty="0"/>
              <a:t>=010000.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 dirty="0"/>
              <a:t>x</a:t>
            </a:r>
            <a:r>
              <a:rPr lang="en-US" altLang="zh-CN" sz="2400" dirty="0"/>
              <a:t> =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t</a:t>
            </a:r>
            <a:r>
              <a:rPr lang="en-US" altLang="zh-CN" sz="2400" dirty="0"/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</a:t>
            </a:r>
            <a:r>
              <a:rPr lang="en-US" altLang="zh-CN" sz="2400" dirty="0"/>
              <a:t> = 001110 </a:t>
            </a:r>
            <a:r>
              <a:rPr lang="zh-CN" altLang="en-US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 01000 = 011110 = </a:t>
            </a:r>
            <a:r>
              <a:rPr lang="en-US" altLang="zh-CN" sz="2400" i="1" dirty="0"/>
              <a:t>e</a:t>
            </a:r>
            <a:r>
              <a:rPr lang="en-US" altLang="zh-CN" sz="2400" dirty="0"/>
              <a:t>(011), so decode 001110 as 011.</a:t>
            </a:r>
            <a:endParaRPr lang="en-US" altLang="zh-CN" sz="2400" i="1" baseline="-25000" dirty="0"/>
          </a:p>
          <a:p>
            <a:endParaRPr lang="zh-CN" altLang="en-US" sz="2400" i="1" dirty="0"/>
          </a:p>
          <a:p>
            <a:pPr eaLnBrk="1" hangingPunct="1"/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8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Recurrence Relations</a:t>
            </a:r>
          </a:p>
          <a:p>
            <a:r>
              <a:rPr lang="en-US" dirty="0"/>
              <a:t>Solving Linear Recurrence Relations</a:t>
            </a:r>
          </a:p>
          <a:p>
            <a:pPr lvl="1"/>
            <a:r>
              <a:rPr lang="en-US" altLang="zh-CN" sz="2600" dirty="0"/>
              <a:t>A </a:t>
            </a:r>
            <a:r>
              <a:rPr lang="en-US" altLang="zh-CN" sz="2600" i="1" dirty="0"/>
              <a:t>linear homogeneous recurrence relation of degree </a:t>
            </a:r>
            <a:r>
              <a:rPr lang="en-US" altLang="zh-CN" sz="2600" dirty="0"/>
              <a:t>k</a:t>
            </a:r>
            <a:r>
              <a:rPr lang="en-US" altLang="zh-CN" sz="2600" i="1" dirty="0"/>
              <a:t> with constant coefficients </a:t>
            </a:r>
            <a:r>
              <a:rPr lang="en-US" altLang="zh-CN" sz="2600" dirty="0"/>
              <a:t>is a recurrence relation of the form </a:t>
            </a:r>
            <a:r>
              <a:rPr lang="en-US" altLang="zh-CN" sz="2600" i="1" dirty="0"/>
              <a:t>a</a:t>
            </a:r>
            <a:r>
              <a:rPr lang="en-US" altLang="zh-CN" sz="2600" i="1" baseline="-25000" dirty="0"/>
              <a:t>n</a:t>
            </a:r>
            <a:r>
              <a:rPr lang="en-US" altLang="zh-CN" sz="2600" i="1" dirty="0"/>
              <a:t> = </a:t>
            </a:r>
            <a:r>
              <a:rPr lang="en-US" altLang="zh-CN" sz="2600" i="1" dirty="0" err="1"/>
              <a:t>c</a:t>
            </a:r>
            <a:r>
              <a:rPr lang="en-US" altLang="zh-CN" sz="2600" baseline="-25000" dirty="0" err="1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sz="2600" i="1" dirty="0" err="1"/>
              <a:t>a</a:t>
            </a:r>
            <a:r>
              <a:rPr lang="en-US" altLang="zh-CN" sz="2600" i="1" baseline="-25000" dirty="0" err="1"/>
              <a:t>n</a:t>
            </a:r>
            <a:r>
              <a:rPr lang="en-US" altLang="zh-CN" sz="2600" i="1" baseline="-25000" dirty="0">
                <a:latin typeface="Cambria Math"/>
                <a:ea typeface="Cambria Math"/>
              </a:rPr>
              <a:t>−</a:t>
            </a:r>
            <a:r>
              <a:rPr lang="en-US" altLang="zh-CN" sz="2600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sz="2600" i="1" baseline="-25000" dirty="0"/>
              <a:t> </a:t>
            </a:r>
            <a:r>
              <a:rPr lang="en-US" altLang="zh-CN" sz="2600" i="1" dirty="0"/>
              <a:t>+ </a:t>
            </a:r>
            <a:r>
              <a:rPr lang="en-US" altLang="zh-CN" sz="2600" i="1" dirty="0" err="1"/>
              <a:t>c</a:t>
            </a:r>
            <a:r>
              <a:rPr lang="en-US" altLang="zh-CN" sz="2600" baseline="-25000" dirty="0" err="1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altLang="zh-CN" sz="2600" i="1" dirty="0" err="1"/>
              <a:t>a</a:t>
            </a:r>
            <a:r>
              <a:rPr lang="en-US" altLang="zh-CN" sz="2600" i="1" baseline="-25000" dirty="0" err="1"/>
              <a:t>n</a:t>
            </a:r>
            <a:r>
              <a:rPr lang="en-US" altLang="zh-CN" sz="2600" i="1" baseline="-25000" dirty="0">
                <a:latin typeface="Cambria Math"/>
                <a:ea typeface="Cambria Math"/>
              </a:rPr>
              <a:t>−</a:t>
            </a:r>
            <a:r>
              <a:rPr lang="en-US" altLang="zh-CN" sz="2600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altLang="zh-CN" sz="2600" i="1" dirty="0"/>
              <a:t> + ….. + c</a:t>
            </a:r>
            <a:r>
              <a:rPr lang="en-US" altLang="zh-CN" sz="2600" i="1" baseline="-25000" dirty="0"/>
              <a:t>k</a:t>
            </a:r>
            <a:r>
              <a:rPr lang="en-US" altLang="zh-CN" sz="2600" i="1" dirty="0"/>
              <a:t> a</a:t>
            </a:r>
            <a:r>
              <a:rPr lang="en-US" altLang="zh-CN" sz="2600" i="1" baseline="-25000" dirty="0"/>
              <a:t>n</a:t>
            </a:r>
            <a:r>
              <a:rPr lang="en-US" altLang="zh-CN" sz="2600" i="1" baseline="-25000" dirty="0">
                <a:latin typeface="Cambria Math"/>
                <a:ea typeface="Cambria Math"/>
              </a:rPr>
              <a:t>−</a:t>
            </a:r>
            <a:r>
              <a:rPr lang="en-US" altLang="zh-CN" sz="2600" i="1" baseline="-25000" dirty="0"/>
              <a:t>k ,</a:t>
            </a:r>
            <a:r>
              <a:rPr lang="en-US" altLang="zh-CN" sz="2600" b="1" dirty="0"/>
              <a:t> </a:t>
            </a:r>
            <a:r>
              <a:rPr lang="en-US" altLang="zh-CN" sz="2600" dirty="0"/>
              <a:t>where                </a:t>
            </a:r>
            <a:r>
              <a:rPr lang="en-US" altLang="zh-CN" sz="2600" i="1" dirty="0" err="1"/>
              <a:t>c</a:t>
            </a:r>
            <a:r>
              <a:rPr lang="en-US" altLang="zh-CN" sz="2600" baseline="-25000" dirty="0" err="1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sz="2600" i="1" dirty="0"/>
              <a:t>, </a:t>
            </a:r>
            <a:r>
              <a:rPr lang="en-US" altLang="zh-CN" sz="2600" i="1" dirty="0" err="1"/>
              <a:t>c</a:t>
            </a:r>
            <a:r>
              <a:rPr lang="en-US" altLang="zh-CN" sz="2600" baseline="-25000" dirty="0" err="1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altLang="zh-CN" sz="2600" i="1" dirty="0"/>
              <a:t>, ….,c</a:t>
            </a:r>
            <a:r>
              <a:rPr lang="en-US" altLang="zh-CN" sz="2600" i="1" baseline="-25000" dirty="0"/>
              <a:t>k</a:t>
            </a:r>
            <a:r>
              <a:rPr lang="en-US" altLang="zh-CN" sz="2600" i="1" dirty="0"/>
              <a:t> </a:t>
            </a:r>
            <a:r>
              <a:rPr lang="en-US" altLang="zh-CN" sz="2600" dirty="0"/>
              <a:t>are real numbers, and </a:t>
            </a:r>
            <a:r>
              <a:rPr lang="en-US" altLang="zh-CN" sz="2600" i="1" dirty="0"/>
              <a:t>c</a:t>
            </a:r>
            <a:r>
              <a:rPr lang="en-US" altLang="zh-CN" sz="2600" i="1" baseline="-25000" dirty="0"/>
              <a:t>k</a:t>
            </a:r>
            <a:r>
              <a:rPr lang="en-US" altLang="zh-CN" sz="2600" i="1" dirty="0"/>
              <a:t> </a:t>
            </a:r>
            <a:r>
              <a:rPr lang="en-US" altLang="zh-CN" sz="2600" dirty="0">
                <a:latin typeface="Cambria Math"/>
                <a:ea typeface="Cambria Math"/>
              </a:rPr>
              <a:t>≠ </a:t>
            </a:r>
            <a:r>
              <a:rPr lang="en-US" altLang="zh-CN" sz="2600" dirty="0">
                <a:latin typeface="Cambria Math" pitchFamily="18" charset="0"/>
                <a:ea typeface="Cambria Math" pitchFamily="18" charset="0"/>
              </a:rPr>
              <a:t>0.</a:t>
            </a:r>
            <a:endParaRPr lang="en-US" dirty="0"/>
          </a:p>
          <a:p>
            <a:pPr lvl="1"/>
            <a:r>
              <a:rPr lang="en-US" altLang="zh-CN" dirty="0"/>
              <a:t>characteristic equation  </a:t>
            </a:r>
            <a:r>
              <a:rPr lang="en-US" altLang="zh-CN" i="1" dirty="0" err="1"/>
              <a:t>r</a:t>
            </a:r>
            <a:r>
              <a:rPr lang="en-US" altLang="zh-CN" i="1" baseline="30000" dirty="0" err="1">
                <a:ea typeface="Cambria Math" pitchFamily="18" charset="0"/>
              </a:rPr>
              <a:t>k</a:t>
            </a:r>
            <a:r>
              <a:rPr lang="en-US" altLang="zh-CN" i="1" dirty="0"/>
              <a:t> – </a:t>
            </a:r>
            <a:r>
              <a:rPr lang="en-US" altLang="zh-CN" i="1" dirty="0" err="1"/>
              <a:t>c</a:t>
            </a:r>
            <a:r>
              <a:rPr lang="en-US" altLang="zh-CN" baseline="-25000" dirty="0" err="1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k</a:t>
            </a:r>
            <a:r>
              <a:rPr lang="en-US" altLang="zh-CN" baseline="30000" dirty="0">
                <a:latin typeface="Cambria Math"/>
                <a:ea typeface="Cambria Math"/>
              </a:rPr>
              <a:t>−1</a:t>
            </a:r>
            <a:r>
              <a:rPr lang="en-US" altLang="zh-CN" i="1" baseline="30000" dirty="0"/>
              <a:t> 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–</a:t>
            </a:r>
            <a:r>
              <a:rPr lang="en-US" altLang="zh-CN" dirty="0">
                <a:latin typeface="Cambria Math"/>
                <a:ea typeface="Cambria Math"/>
              </a:rPr>
              <a:t>⋯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 –</a:t>
            </a:r>
            <a:r>
              <a:rPr lang="en-US" altLang="zh-CN" i="1" dirty="0"/>
              <a:t> c</a:t>
            </a:r>
            <a:r>
              <a:rPr lang="en-US" altLang="zh-CN" i="1" baseline="-25000" dirty="0">
                <a:ea typeface="Cambria Math" pitchFamily="18" charset="0"/>
              </a:rPr>
              <a:t>k</a:t>
            </a:r>
            <a:r>
              <a:rPr lang="en-US" altLang="zh-CN" i="1" dirty="0"/>
              <a:t> = </a:t>
            </a:r>
            <a:r>
              <a:rPr lang="en-US" altLang="zh-CN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altLang="zh-CN" i="1" dirty="0"/>
              <a:t> </a:t>
            </a:r>
          </a:p>
          <a:p>
            <a:pPr lvl="1"/>
            <a:r>
              <a:rPr lang="en-US" altLang="zh-CN" dirty="0"/>
              <a:t>has</a:t>
            </a:r>
            <a:r>
              <a:rPr lang="en-US" altLang="zh-CN" i="1" dirty="0"/>
              <a:t> k </a:t>
            </a:r>
            <a:r>
              <a:rPr lang="en-US" altLang="zh-CN" dirty="0"/>
              <a:t>distinct roots </a:t>
            </a:r>
            <a:r>
              <a:rPr lang="en-US" altLang="zh-CN" i="1" dirty="0" err="1"/>
              <a:t>r</a:t>
            </a:r>
            <a:r>
              <a:rPr lang="en-US" altLang="zh-CN" baseline="-25000" dirty="0" err="1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altLang="zh-CN" dirty="0"/>
              <a:t>, </a:t>
            </a:r>
            <a:r>
              <a:rPr lang="en-US" altLang="zh-CN" i="1" dirty="0" err="1"/>
              <a:t>r</a:t>
            </a:r>
            <a:r>
              <a:rPr lang="en-US" altLang="zh-CN" baseline="-25000" dirty="0" err="1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r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. </a:t>
            </a:r>
          </a:p>
          <a:p>
            <a:pPr lvl="1"/>
            <a:endParaRPr lang="en-US" altLang="zh-CN" sz="2200" dirty="0"/>
          </a:p>
          <a:p>
            <a:pPr marL="393065" lvl="1" indent="0">
              <a:buNone/>
            </a:pPr>
            <a:r>
              <a:rPr lang="en-US" altLang="zh-CN" sz="2200" dirty="0"/>
              <a:t>		where </a:t>
            </a:r>
            <a:r>
              <a:rPr lang="el-GR" altLang="zh-CN" sz="2200" dirty="0">
                <a:latin typeface="Cambria Math"/>
                <a:ea typeface="Cambria Math"/>
              </a:rPr>
              <a:t>α</a:t>
            </a:r>
            <a:r>
              <a:rPr lang="en-US" altLang="zh-CN" sz="2200" baseline="-25000" dirty="0">
                <a:latin typeface="Cambria Math"/>
                <a:ea typeface="Cambria Math"/>
              </a:rPr>
              <a:t>1</a:t>
            </a:r>
            <a:r>
              <a:rPr lang="en-US" altLang="zh-CN" sz="2200" dirty="0">
                <a:latin typeface="Cambria Math"/>
                <a:ea typeface="Cambria Math"/>
              </a:rPr>
              <a:t>,</a:t>
            </a:r>
            <a:r>
              <a:rPr lang="en-US" altLang="zh-CN" sz="2200" dirty="0"/>
              <a:t> </a:t>
            </a:r>
            <a:r>
              <a:rPr lang="el-GR" altLang="zh-CN" sz="1800" dirty="0">
                <a:latin typeface="Cambria Math"/>
                <a:ea typeface="Cambria Math"/>
              </a:rPr>
              <a:t>α</a:t>
            </a:r>
            <a:r>
              <a:rPr lang="en-US" altLang="zh-CN" sz="1800" baseline="-25000" dirty="0">
                <a:latin typeface="Cambria Math"/>
                <a:ea typeface="Cambria Math"/>
              </a:rPr>
              <a:t>2</a:t>
            </a:r>
            <a:r>
              <a:rPr lang="en-US" altLang="zh-CN" sz="1800" dirty="0">
                <a:latin typeface="Cambria Math"/>
                <a:ea typeface="Cambria Math"/>
              </a:rPr>
              <a:t>,…,</a:t>
            </a:r>
            <a:r>
              <a:rPr lang="el-GR" altLang="zh-CN" sz="1800" dirty="0">
                <a:latin typeface="Cambria Math"/>
                <a:ea typeface="Cambria Math"/>
              </a:rPr>
              <a:t> α</a:t>
            </a:r>
            <a:r>
              <a:rPr lang="en-US" altLang="zh-CN" sz="1800" i="1" baseline="-25000" dirty="0">
                <a:ea typeface="Cambria Math"/>
              </a:rPr>
              <a:t>k</a:t>
            </a:r>
            <a:r>
              <a:rPr lang="en-US" altLang="zh-CN" sz="1800" dirty="0">
                <a:latin typeface="Cambria Math"/>
                <a:ea typeface="Cambria Math"/>
              </a:rPr>
              <a:t> are constants. </a:t>
            </a:r>
            <a:endParaRPr lang="en-US" altLang="zh-CN" dirty="0"/>
          </a:p>
          <a:p>
            <a:r>
              <a:rPr lang="en-US" dirty="0"/>
              <a:t>Generating Functions</a:t>
            </a:r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4" descr="addin_tmp.png">
            <a:extLst>
              <a:ext uri="{FF2B5EF4-FFF2-40B4-BE49-F238E27FC236}">
                <a16:creationId xmlns:a16="http://schemas.microsoft.com/office/drawing/2014/main" id="{74834556-F2E4-7FEF-3453-782E783110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547664" y="5157192"/>
            <a:ext cx="468830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   Definition</a:t>
            </a:r>
            <a:r>
              <a:rPr lang="en-US" dirty="0"/>
              <a:t>: The </a:t>
            </a:r>
            <a:r>
              <a:rPr lang="en-US" i="1" dirty="0"/>
              <a:t>generating function for the sequence  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,…, </a:t>
            </a:r>
            <a:r>
              <a:rPr lang="en-US" i="1" dirty="0" err="1"/>
              <a:t>a</a:t>
            </a:r>
            <a:r>
              <a:rPr lang="en-US" i="1" baseline="-25000" dirty="0" err="1"/>
              <a:t>k</a:t>
            </a:r>
            <a:r>
              <a:rPr lang="en-US" dirty="0"/>
              <a:t>, … of real numbers is the infinite series</a:t>
            </a:r>
          </a:p>
          <a:p>
            <a:pPr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kumimoji="1" lang="en-US" altLang="zh-CN" dirty="0">
                <a:sym typeface="Symbol" panose="05050102010706020507" pitchFamily="18" charset="2"/>
              </a:rPr>
              <a:t>Example 1: </a:t>
            </a:r>
            <a:r>
              <a:rPr kumimoji="1" lang="en-US" altLang="zh-CN" sz="2400" dirty="0"/>
              <a:t>In how many different ways can 8 identical cookies be distributed among 3 distinct children if each child receives at 2~4 cookies?</a:t>
            </a:r>
          </a:p>
          <a:p>
            <a:pPr lvl="1">
              <a:lnSpc>
                <a:spcPct val="90000"/>
              </a:lnSpc>
            </a:pPr>
            <a:r>
              <a:rPr kumimoji="1" lang="zh-CN" altLang="en-US" sz="2200" i="1" dirty="0"/>
              <a:t> </a:t>
            </a:r>
            <a:r>
              <a:rPr kumimoji="1" lang="en-US" altLang="zh-CN" sz="2200" i="1" dirty="0"/>
              <a:t>(</a:t>
            </a:r>
            <a:r>
              <a:rPr kumimoji="1" lang="en-US" altLang="zh-CN" sz="2200" i="1" dirty="0" err="1"/>
              <a:t>x</a:t>
            </a:r>
            <a:r>
              <a:rPr kumimoji="1" lang="en-US" altLang="zh-CN" sz="2200" i="1" baseline="30000" dirty="0" err="1"/>
              <a:t>2</a:t>
            </a:r>
            <a:r>
              <a:rPr kumimoji="1" lang="en-US" altLang="zh-CN" sz="2200" i="1" dirty="0"/>
              <a:t> +</a:t>
            </a:r>
            <a:r>
              <a:rPr kumimoji="1" lang="en-US" altLang="zh-CN" sz="2200" i="1" dirty="0" err="1"/>
              <a:t>x</a:t>
            </a:r>
            <a:r>
              <a:rPr kumimoji="1" lang="en-US" altLang="zh-CN" sz="2200" i="1" baseline="30000" dirty="0" err="1"/>
              <a:t>3</a:t>
            </a:r>
            <a:r>
              <a:rPr kumimoji="1" lang="en-US" altLang="zh-CN" sz="2200" i="1" dirty="0"/>
              <a:t> +</a:t>
            </a:r>
            <a:r>
              <a:rPr kumimoji="1" lang="en-US" altLang="zh-CN" sz="2200" i="1" dirty="0" err="1"/>
              <a:t>x</a:t>
            </a:r>
            <a:r>
              <a:rPr kumimoji="1" lang="en-US" altLang="zh-CN" sz="2200" i="1" baseline="30000" dirty="0" err="1"/>
              <a:t>4</a:t>
            </a:r>
            <a:r>
              <a:rPr kumimoji="1" lang="en-US" altLang="zh-CN" sz="2200" i="1" dirty="0"/>
              <a:t>)</a:t>
            </a:r>
            <a:r>
              <a:rPr kumimoji="1" lang="en-US" altLang="zh-CN" sz="2200" i="1" baseline="30000" dirty="0"/>
              <a:t>3 </a:t>
            </a:r>
            <a:r>
              <a:rPr kumimoji="1" lang="en-US" altLang="zh-CN" sz="2200" i="1" dirty="0"/>
              <a:t>= </a:t>
            </a:r>
            <a:r>
              <a:rPr kumimoji="1" lang="en-US" altLang="zh-CN" sz="2200" i="1" dirty="0" err="1"/>
              <a:t>x</a:t>
            </a:r>
            <a:r>
              <a:rPr kumimoji="1" lang="en-US" altLang="zh-CN" sz="2200" i="1" baseline="30000" dirty="0" err="1"/>
              <a:t>6</a:t>
            </a:r>
            <a:r>
              <a:rPr kumimoji="1" lang="en-US" altLang="zh-CN" sz="2200" i="1" dirty="0"/>
              <a:t>+...+</a:t>
            </a:r>
            <a:r>
              <a:rPr kumimoji="1" lang="en-US" altLang="zh-CN" sz="2200" i="1" dirty="0" err="1">
                <a:solidFill>
                  <a:srgbClr val="FF0000"/>
                </a:solidFill>
              </a:rPr>
              <a:t>6x</a:t>
            </a:r>
            <a:r>
              <a:rPr kumimoji="1" lang="en-US" altLang="zh-CN" sz="2200" i="1" baseline="30000" dirty="0" err="1">
                <a:solidFill>
                  <a:srgbClr val="FF0000"/>
                </a:solidFill>
              </a:rPr>
              <a:t>8</a:t>
            </a:r>
            <a:r>
              <a:rPr kumimoji="1" lang="en-US" altLang="zh-CN" sz="2200" i="1" dirty="0"/>
              <a:t> +...+</a:t>
            </a:r>
            <a:r>
              <a:rPr kumimoji="1" lang="en-US" altLang="zh-CN" sz="2200" i="1" dirty="0" err="1"/>
              <a:t>x</a:t>
            </a:r>
            <a:r>
              <a:rPr kumimoji="1" lang="en-US" altLang="zh-CN" sz="2200" i="1" baseline="30000" dirty="0" err="1"/>
              <a:t>12</a:t>
            </a:r>
            <a:endParaRPr kumimoji="1" lang="en-US" altLang="zh-CN" sz="2200" i="1" baseline="30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835696" y="2708920"/>
            <a:ext cx="4471392" cy="605929"/>
          </a:xfrm>
          <a:prstGeom prst="rect">
            <a:avLst/>
          </a:prstGeom>
        </p:spPr>
      </p:pic>
      <p:pic>
        <p:nvPicPr>
          <p:cNvPr id="4" name="图片 2">
            <a:extLst>
              <a:ext uri="{FF2B5EF4-FFF2-40B4-BE49-F238E27FC236}">
                <a16:creationId xmlns:a16="http://schemas.microsoft.com/office/drawing/2014/main" id="{7B8B42D3-A158-80A3-960F-EC40997F2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4782691"/>
            <a:ext cx="4118480" cy="1814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Terminology and Special Types of Graphs</a:t>
            </a:r>
          </a:p>
          <a:p>
            <a:r>
              <a:rPr lang="en-US" dirty="0"/>
              <a:t>Representing Graphs and Graph Isomorphism</a:t>
            </a:r>
          </a:p>
          <a:p>
            <a:r>
              <a:rPr lang="en-US" dirty="0"/>
              <a:t>Connectivity</a:t>
            </a:r>
          </a:p>
          <a:p>
            <a:r>
              <a:rPr lang="en-US" dirty="0"/>
              <a:t>Euler and Hamiltonian Graphs</a:t>
            </a:r>
          </a:p>
          <a:p>
            <a:r>
              <a:rPr lang="en-US" dirty="0"/>
              <a:t>Shortest-Path Problems</a:t>
            </a:r>
          </a:p>
          <a:p>
            <a:r>
              <a:rPr lang="en-US" dirty="0"/>
              <a:t>Planar Graphs</a:t>
            </a:r>
          </a:p>
          <a:p>
            <a:r>
              <a:rPr lang="en-US" dirty="0"/>
              <a:t>Graph Coloring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graph 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indent="0">
                  <a:buNone/>
                </a:pPr>
                <a:r>
                  <a:rPr lang="en-US" b="1" dirty="0"/>
                  <a:t>adjacent</a:t>
                </a:r>
                <a:r>
                  <a:rPr lang="en-US" dirty="0"/>
                  <a:t>. vertices </a:t>
                </a:r>
                <a:r>
                  <a:rPr lang="en-US" i="1" dirty="0"/>
                  <a:t>u</a:t>
                </a:r>
                <a:r>
                  <a:rPr lang="en-US" dirty="0"/>
                  <a:t>, </a:t>
                </a:r>
                <a:r>
                  <a:rPr lang="en-US" i="1" dirty="0"/>
                  <a:t>v</a:t>
                </a:r>
                <a:r>
                  <a:rPr lang="en-US" dirty="0"/>
                  <a:t> are called </a:t>
                </a:r>
                <a:r>
                  <a:rPr lang="en-US" i="1" dirty="0"/>
                  <a:t>adjacent</a:t>
                </a:r>
                <a:r>
                  <a:rPr lang="en-US" dirty="0"/>
                  <a:t> (or </a:t>
                </a:r>
                <a:r>
                  <a:rPr lang="en-US" i="1" dirty="0"/>
                  <a:t>neighbors</a:t>
                </a:r>
                <a:r>
                  <a:rPr lang="en-US" dirty="0"/>
                  <a:t>) if there is an edge (</a:t>
                </a:r>
                <a:r>
                  <a:rPr lang="en-US" i="1" dirty="0" err="1"/>
                  <a:t>u,v</a:t>
                </a:r>
                <a:r>
                  <a:rPr lang="en-US" i="1" dirty="0"/>
                  <a:t>)</a:t>
                </a:r>
                <a:r>
                  <a:rPr lang="en-US" dirty="0"/>
                  <a:t>. </a:t>
                </a:r>
              </a:p>
              <a:p>
                <a:pPr indent="0">
                  <a:buNone/>
                </a:pPr>
                <a:r>
                  <a:rPr lang="en-US" b="1" dirty="0"/>
                  <a:t>neighborhood(</a:t>
                </a:r>
                <a:r>
                  <a:rPr lang="zh-CN" altLang="en-US" b="1" dirty="0"/>
                  <a:t>邻域</a:t>
                </a:r>
                <a:r>
                  <a:rPr lang="en-US" altLang="zh-CN" b="1" dirty="0"/>
                  <a:t>)</a:t>
                </a:r>
                <a:r>
                  <a:rPr lang="en-US" dirty="0"/>
                  <a:t>. The set of all neighbors of a vertex </a:t>
                </a:r>
                <a:r>
                  <a:rPr lang="en-US" i="1" dirty="0"/>
                  <a:t>v</a:t>
                </a:r>
                <a:r>
                  <a:rPr lang="en-US" dirty="0"/>
                  <a:t> of </a:t>
                </a:r>
                <a:r>
                  <a:rPr lang="en-US" i="1" dirty="0"/>
                  <a:t>G</a:t>
                </a:r>
                <a:r>
                  <a:rPr lang="en-US" dirty="0"/>
                  <a:t> = (</a:t>
                </a:r>
                <a:r>
                  <a:rPr lang="en-US" i="1" dirty="0"/>
                  <a:t>V</a:t>
                </a:r>
                <a:r>
                  <a:rPr lang="en-US" dirty="0"/>
                  <a:t>, </a:t>
                </a:r>
                <a:r>
                  <a:rPr lang="en-US" i="1" dirty="0"/>
                  <a:t>E</a:t>
                </a:r>
                <a:r>
                  <a:rPr lang="en-US" dirty="0"/>
                  <a:t>), denoted by </a:t>
                </a:r>
                <a:r>
                  <a:rPr lang="en-US" i="1" dirty="0"/>
                  <a:t>N</a:t>
                </a:r>
                <a:r>
                  <a:rPr lang="en-US" dirty="0"/>
                  <a:t>(</a:t>
                </a:r>
                <a:r>
                  <a:rPr lang="en-US" i="1" dirty="0"/>
                  <a:t>v</a:t>
                </a:r>
                <a:r>
                  <a:rPr lang="en-US" dirty="0"/>
                  <a:t>). </a:t>
                </a:r>
              </a:p>
              <a:p>
                <a:pPr indent="0">
                  <a:buNone/>
                </a:pPr>
                <a:r>
                  <a:rPr lang="en-US" b="1" dirty="0"/>
                  <a:t>degree(</a:t>
                </a:r>
                <a:r>
                  <a:rPr lang="zh-CN" altLang="en-US" b="1" dirty="0"/>
                  <a:t>度</a:t>
                </a:r>
                <a:r>
                  <a:rPr lang="en-US" altLang="zh-CN" b="1" dirty="0"/>
                  <a:t>)</a:t>
                </a:r>
                <a:r>
                  <a:rPr lang="en-US" dirty="0"/>
                  <a:t>. The </a:t>
                </a:r>
                <a:r>
                  <a:rPr lang="en-US" i="1" dirty="0"/>
                  <a:t>degree of a vertex in a undirected graph </a:t>
                </a:r>
                <a:r>
                  <a:rPr lang="en-US" dirty="0"/>
                  <a:t>is the number of edges incident with it, denoted by deg(</a:t>
                </a:r>
                <a:r>
                  <a:rPr lang="en-US" i="1" dirty="0"/>
                  <a:t>v</a:t>
                </a:r>
                <a:r>
                  <a:rPr lang="en-US" dirty="0"/>
                  <a:t>). </a:t>
                </a:r>
                <a:r>
                  <a:rPr lang="en-US" altLang="zh-CN" i="1" dirty="0"/>
                  <a:t>in-degree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入度</a:t>
                </a:r>
                <a:r>
                  <a:rPr lang="en-US" altLang="zh-CN" dirty="0"/>
                  <a:t>),</a:t>
                </a:r>
                <a:r>
                  <a:rPr lang="en-US" altLang="zh-CN" i="1" dirty="0"/>
                  <a:t> out-degree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出度</a:t>
                </a:r>
                <a:r>
                  <a:rPr lang="en-US" altLang="zh-CN" dirty="0"/>
                  <a:t>)</a:t>
                </a:r>
                <a:r>
                  <a:rPr lang="en-US" altLang="zh-CN" i="1" dirty="0"/>
                  <a:t> </a:t>
                </a:r>
                <a:endParaRPr lang="en-US" dirty="0"/>
              </a:p>
              <a:p>
                <a:pPr indent="0">
                  <a:buNone/>
                </a:pPr>
                <a:r>
                  <a:rPr lang="en-US" altLang="zh-CN" sz="2800" b="1" i="1" dirty="0"/>
                  <a:t>Handshaking Theorem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/>
                      </a:rPr>
                      <m:t>2</m:t>
                    </m:r>
                    <m:r>
                      <a:rPr lang="en-US" altLang="zh-CN" sz="2800" i="1" smtClean="0">
                        <a:latin typeface="Cambria Math"/>
                      </a:rPr>
                      <m:t>𝑚</m:t>
                    </m:r>
                    <m:r>
                      <a:rPr lang="en-US" altLang="zh-CN" sz="280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800" i="1">
                            <a:latin typeface="Cambria Math"/>
                          </a:rPr>
                          <m:t>𝑣</m:t>
                        </m:r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altLang="zh-CN" sz="2800" i="1">
                            <a:latin typeface="Cambria Math"/>
                            <a:ea typeface="Cambria Math"/>
                          </a:rPr>
                          <m:t>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/>
                          </a:rPr>
                          <m:t>deg</m:t>
                        </m:r>
                        <m:r>
                          <a:rPr lang="en-US" altLang="zh-CN" sz="2800" i="1">
                            <a:latin typeface="Cambria Math"/>
                          </a:rPr>
                          <m:t>⁡(</m:t>
                        </m:r>
                        <m:r>
                          <a:rPr lang="en-US" altLang="zh-CN" sz="2800" i="1">
                            <a:latin typeface="Cambria Math"/>
                          </a:rPr>
                          <m:t>𝑣</m:t>
                        </m:r>
                        <m:r>
                          <a:rPr lang="en-US" altLang="zh-CN" sz="2800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indent="0">
                  <a:buNone/>
                </a:pPr>
                <a:r>
                  <a:rPr lang="en-US" altLang="zh-CN" dirty="0"/>
                  <a:t>Question: If a graph has </a:t>
                </a:r>
                <a:r>
                  <a:rPr lang="en-US" altLang="zh-CN" dirty="0">
                    <a:latin typeface="Cambria" pitchFamily="18" charset="0"/>
                  </a:rPr>
                  <a:t>5</a:t>
                </a:r>
                <a:r>
                  <a:rPr lang="en-US" altLang="zh-CN" dirty="0"/>
                  <a:t> vertices, can each vertex have degree </a:t>
                </a:r>
                <a:r>
                  <a:rPr lang="en-US" altLang="zh-CN" dirty="0">
                    <a:latin typeface="Cambria" pitchFamily="18" charset="0"/>
                  </a:rPr>
                  <a:t>3</a:t>
                </a:r>
                <a:r>
                  <a:rPr lang="en-US" altLang="zh-CN" dirty="0"/>
                  <a:t>?</a:t>
                </a:r>
                <a:endParaRPr lang="en-US" dirty="0"/>
              </a:p>
              <a:p>
                <a:pPr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22" r="-1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947" y="3140968"/>
            <a:ext cx="2217420" cy="35794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24712"/>
          </a:xfrm>
        </p:spPr>
        <p:txBody>
          <a:bodyPr>
            <a:normAutofit/>
          </a:bodyPr>
          <a:lstStyle/>
          <a:p>
            <a:r>
              <a:rPr lang="en-US" dirty="0"/>
              <a:t>Special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lnSpcReduction="10000"/>
          </a:bodyPr>
          <a:lstStyle/>
          <a:p>
            <a:pPr marL="731520" indent="-457200"/>
            <a:r>
              <a:rPr lang="en-US" altLang="zh-CN" i="1" dirty="0"/>
              <a:t>complete graph K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.</a:t>
            </a:r>
          </a:p>
          <a:p>
            <a:pPr marL="731520" indent="-457200"/>
            <a:endParaRPr lang="en-US" i="1" dirty="0"/>
          </a:p>
          <a:p>
            <a:pPr marL="731520" indent="-457200"/>
            <a:r>
              <a:rPr lang="en-US" i="1" dirty="0"/>
              <a:t>cycle</a:t>
            </a:r>
            <a:r>
              <a:rPr lang="en-US" dirty="0"/>
              <a:t> </a:t>
            </a:r>
            <a:r>
              <a:rPr lang="en-US" altLang="zh-CN" i="1" dirty="0"/>
              <a:t>graph </a:t>
            </a:r>
            <a:r>
              <a:rPr lang="en-US" i="1" dirty="0"/>
              <a:t>C</a:t>
            </a:r>
            <a:r>
              <a:rPr lang="en-US" i="1" baseline="-25000" dirty="0"/>
              <a:t>n </a:t>
            </a: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≥  </a:t>
            </a:r>
            <a:r>
              <a:rPr lang="en-US" dirty="0">
                <a:latin typeface="Cambria" pitchFamily="18" charset="0"/>
              </a:rPr>
              <a:t>3</a:t>
            </a:r>
            <a:r>
              <a:rPr lang="en-US" i="1" dirty="0"/>
              <a:t>.</a:t>
            </a:r>
          </a:p>
          <a:p>
            <a:pPr marL="731520" indent="-457200"/>
            <a:endParaRPr lang="en-US" dirty="0"/>
          </a:p>
          <a:p>
            <a:pPr marL="731520" indent="-457200"/>
            <a:r>
              <a:rPr lang="en-US" i="1" dirty="0"/>
              <a:t>wheel</a:t>
            </a:r>
            <a:r>
              <a:rPr lang="en-US" dirty="0"/>
              <a:t> graph </a:t>
            </a:r>
            <a:r>
              <a:rPr lang="en-US" i="1" dirty="0" err="1"/>
              <a:t>W</a:t>
            </a:r>
            <a:r>
              <a:rPr lang="en-US" i="1" baseline="-25000" dirty="0" err="1"/>
              <a:t>n</a:t>
            </a:r>
            <a:r>
              <a:rPr lang="en-US" i="1" baseline="-25000" dirty="0"/>
              <a:t> </a:t>
            </a:r>
            <a:r>
              <a:rPr lang="en-US" dirty="0"/>
              <a:t>for </a:t>
            </a:r>
            <a:r>
              <a:rPr lang="en-US" i="1" dirty="0"/>
              <a:t>n</a:t>
            </a:r>
            <a:r>
              <a:rPr lang="en-US" dirty="0"/>
              <a:t> ≥  </a:t>
            </a:r>
            <a:r>
              <a:rPr lang="en-US" dirty="0">
                <a:latin typeface="Cambria" pitchFamily="18" charset="0"/>
              </a:rPr>
              <a:t>3</a:t>
            </a:r>
            <a:r>
              <a:rPr lang="en-US" i="1" dirty="0"/>
              <a:t>.</a:t>
            </a:r>
          </a:p>
          <a:p>
            <a:pPr marL="731520" indent="-457200"/>
            <a:endParaRPr lang="en-US" i="1" dirty="0"/>
          </a:p>
          <a:p>
            <a:pPr marL="731520" indent="-457200"/>
            <a:r>
              <a:rPr lang="en-US" altLang="zh-CN" i="1" dirty="0"/>
              <a:t>n-cube, </a:t>
            </a:r>
            <a:r>
              <a:rPr lang="en-US" altLang="zh-CN" b="1" i="1" dirty="0" err="1"/>
              <a:t>Q</a:t>
            </a:r>
            <a:r>
              <a:rPr lang="en-US" altLang="zh-CN" b="1" i="1" baseline="-25000" dirty="0" err="1"/>
              <a:t>n</a:t>
            </a:r>
            <a:endParaRPr lang="en-US" altLang="zh-CN" b="1" i="1" baseline="-25000" dirty="0"/>
          </a:p>
          <a:p>
            <a:pPr marL="731520" indent="-457200"/>
            <a:endParaRPr lang="en-US" b="1" i="1" baseline="-25000" dirty="0"/>
          </a:p>
          <a:p>
            <a:pPr marL="731520" indent="-457200"/>
            <a:r>
              <a:rPr lang="en-US" altLang="zh-CN" dirty="0"/>
              <a:t>Bipartite Graphs(</a:t>
            </a:r>
            <a:r>
              <a:rPr lang="zh-CN" altLang="en-US" dirty="0"/>
              <a:t>二分图</a:t>
            </a:r>
            <a:r>
              <a:rPr lang="en-US" altLang="zh-CN" dirty="0"/>
              <a:t>)</a:t>
            </a:r>
            <a:r>
              <a:rPr lang="en-US" altLang="zh-CN" b="1" i="1" baseline="-25000" dirty="0"/>
              <a:t> </a:t>
            </a:r>
          </a:p>
          <a:p>
            <a:pPr lvl="1"/>
            <a:r>
              <a:rPr lang="en-US" altLang="zh-CN" dirty="0"/>
              <a:t>maximum matching , complete matching from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1</a:t>
            </a:r>
            <a:r>
              <a:rPr lang="en-US" altLang="zh-CN" i="1" dirty="0"/>
              <a:t> to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2</a:t>
            </a:r>
            <a:endParaRPr lang="en-US" altLang="zh-CN" i="1" baseline="-25000" dirty="0"/>
          </a:p>
          <a:p>
            <a:pPr lvl="1"/>
            <a:r>
              <a:rPr lang="en-US" altLang="zh-CN" i="1" dirty="0"/>
              <a:t>complete bipartite graph </a:t>
            </a:r>
            <a:r>
              <a:rPr lang="en-US" altLang="zh-CN" i="1" dirty="0" err="1"/>
              <a:t>K</a:t>
            </a:r>
            <a:r>
              <a:rPr lang="en-US" altLang="zh-CN" i="1" baseline="-25000" dirty="0" err="1"/>
              <a:t>m,n</a:t>
            </a:r>
            <a:endParaRPr lang="en-US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254485"/>
            <a:ext cx="3246882" cy="895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3897AD7-46D7-D9BE-7ED1-2086169E4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35" y="2350796"/>
            <a:ext cx="800100" cy="8763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74189F27-0234-DBAB-7134-4B52637E08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445" y="4267528"/>
            <a:ext cx="2493290" cy="103211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882E42-FF07-969D-CB76-C28B1E386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457" y="4470546"/>
            <a:ext cx="1643188" cy="121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80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Representing Graphs and Graph Isomorphism</a:t>
            </a:r>
            <a:r>
              <a:rPr lang="en-US" dirty="0"/>
              <a:t>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Adjacency Lists(</a:t>
            </a:r>
            <a:r>
              <a:rPr lang="zh-CN" altLang="en-US" dirty="0"/>
              <a:t>邻接表</a:t>
            </a:r>
            <a:r>
              <a:rPr lang="en-US" dirty="0"/>
              <a:t>)</a:t>
            </a:r>
          </a:p>
          <a:p>
            <a:r>
              <a:rPr lang="en-US" dirty="0"/>
              <a:t>Adjacency Matrices(</a:t>
            </a:r>
            <a:r>
              <a:rPr lang="zh-CN" altLang="en-US" dirty="0"/>
              <a:t>邻接矩阵</a:t>
            </a:r>
            <a:r>
              <a:rPr lang="en-US" dirty="0"/>
              <a:t>)</a:t>
            </a:r>
          </a:p>
          <a:p>
            <a:r>
              <a:rPr lang="en-US" dirty="0"/>
              <a:t>Incidence Matrices(</a:t>
            </a:r>
            <a:r>
              <a:rPr lang="zh-CN" altLang="en-US" dirty="0"/>
              <a:t>关联矩阵</a:t>
            </a:r>
            <a:r>
              <a:rPr lang="en-US" dirty="0"/>
              <a:t>)</a:t>
            </a:r>
          </a:p>
          <a:p>
            <a:r>
              <a:rPr lang="en-US" dirty="0"/>
              <a:t>Isomorphism of Graphs</a:t>
            </a:r>
          </a:p>
          <a:p>
            <a:pPr lvl="1"/>
            <a:r>
              <a:rPr lang="en-US" altLang="zh-CN" i="1" dirty="0"/>
              <a:t>graph invariant(</a:t>
            </a:r>
            <a:r>
              <a:rPr lang="zh-CN" altLang="en-US" i="1" dirty="0"/>
              <a:t>图形不变量</a:t>
            </a:r>
            <a:r>
              <a:rPr lang="en-US" altLang="zh-CN" i="1" dirty="0"/>
              <a:t>)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the number of vertices, number of edges, and degree sequence (list of the degrees of the vertices in nonincreasing order). </a:t>
            </a:r>
          </a:p>
          <a:p>
            <a:pPr lvl="1"/>
            <a:r>
              <a:rPr lang="en-US" altLang="zh-CN" dirty="0"/>
              <a:t>Connectedness: </a:t>
            </a:r>
            <a:r>
              <a:rPr lang="en-US" altLang="zh-CN" i="1" dirty="0"/>
              <a:t>connected,</a:t>
            </a:r>
            <a:r>
              <a:rPr lang="en-US" altLang="zh-CN" dirty="0"/>
              <a:t> </a:t>
            </a:r>
            <a:r>
              <a:rPr lang="en-US" altLang="zh-CN" i="1" dirty="0"/>
              <a:t>disconnected. connected component, strongly connected, weakly connected.</a:t>
            </a:r>
            <a:endParaRPr lang="en-US" altLang="zh-CN" dirty="0"/>
          </a:p>
          <a:p>
            <a:pPr lvl="1"/>
            <a:r>
              <a:rPr lang="en-US" altLang="zh-CN" dirty="0"/>
              <a:t>Vertex Connectivity </a:t>
            </a:r>
            <a:r>
              <a:rPr lang="en-US" altLang="zh-CN" dirty="0">
                <a:sym typeface="Symbol" panose="05050102010706020507" pitchFamily="18" charset="2"/>
              </a:rPr>
              <a:t></a:t>
            </a:r>
            <a:r>
              <a:rPr lang="en-US" altLang="zh-CN" i="1" dirty="0">
                <a:sym typeface="Symbol" panose="05050102010706020507" pitchFamily="18" charset="2"/>
              </a:rPr>
              <a:t>(G)=</a:t>
            </a:r>
            <a:r>
              <a:rPr lang="en-US" altLang="zh-CN" dirty="0" err="1"/>
              <a:t>min|</a:t>
            </a:r>
            <a:r>
              <a:rPr lang="en-US" altLang="zh-CN" i="1" dirty="0" err="1"/>
              <a:t>V</a:t>
            </a:r>
            <a:r>
              <a:rPr lang="en-US" altLang="zh-CN" i="1" dirty="0"/>
              <a:t>' </a:t>
            </a:r>
            <a:r>
              <a:rPr lang="en-US" altLang="zh-CN" dirty="0"/>
              <a:t>| </a:t>
            </a:r>
          </a:p>
          <a:p>
            <a:pPr lvl="1"/>
            <a:r>
              <a:rPr lang="en-US" altLang="zh-CN" dirty="0"/>
              <a:t>Edge Connectivity </a:t>
            </a:r>
            <a:r>
              <a:rPr lang="en-US" altLang="zh-CN" dirty="0">
                <a:sym typeface="Symbol" panose="05050102010706020507" pitchFamily="18" charset="2"/>
              </a:rPr>
              <a:t></a:t>
            </a:r>
            <a:r>
              <a:rPr lang="en-US" altLang="zh-CN" i="1" dirty="0">
                <a:sym typeface="Symbol" panose="05050102010706020507" pitchFamily="18" charset="2"/>
              </a:rPr>
              <a:t>(G)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dirty="0" err="1"/>
              <a:t>min|</a:t>
            </a:r>
            <a:r>
              <a:rPr lang="en-US" altLang="zh-CN" i="1" dirty="0" err="1"/>
              <a:t>E</a:t>
            </a:r>
            <a:r>
              <a:rPr lang="en-US" altLang="zh-CN" i="1" dirty="0"/>
              <a:t>’</a:t>
            </a:r>
            <a:r>
              <a:rPr lang="en-US" altLang="zh-CN" dirty="0"/>
              <a:t> | </a:t>
            </a:r>
            <a:r>
              <a:rPr lang="en-US" altLang="zh-CN" noProof="1">
                <a:solidFill>
                  <a:srgbClr val="FF0000"/>
                </a:solidFill>
                <a:sym typeface="Symbol" panose="05050102010706020507" charset="0"/>
              </a:rPr>
              <a:t>(G) </a:t>
            </a:r>
            <a:r>
              <a:rPr lang="en-US" altLang="zh-CN" noProof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charset="0"/>
              </a:rPr>
              <a:t>≤ </a:t>
            </a:r>
            <a:r>
              <a:rPr lang="en-US" altLang="zh-CN" noProof="1">
                <a:solidFill>
                  <a:srgbClr val="FF0000"/>
                </a:solidFill>
                <a:sym typeface="Symbol" panose="05050102010706020507" charset="0"/>
              </a:rPr>
              <a:t>(G) </a:t>
            </a:r>
            <a:r>
              <a:rPr lang="en-US" altLang="zh-CN" noProof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charset="0"/>
              </a:rPr>
              <a:t>≤ </a:t>
            </a:r>
            <a:r>
              <a:rPr lang="en-US" altLang="zh-CN" noProof="1">
                <a:solidFill>
                  <a:srgbClr val="FF0000"/>
                </a:solidFill>
                <a:sym typeface="Symbol" panose="05050102010706020507" charset="0"/>
              </a:rPr>
              <a:t></a:t>
            </a:r>
            <a:r>
              <a:rPr lang="en-US" altLang="zh-CN" noProof="1">
                <a:solidFill>
                  <a:srgbClr val="FF0000"/>
                </a:solidFill>
                <a:sym typeface="宋体" panose="02010600030101010101" pitchFamily="2" charset="-122"/>
              </a:rPr>
              <a:t>(</a:t>
            </a:r>
            <a:r>
              <a:rPr lang="en-US" altLang="zh-CN" i="1" noProof="1">
                <a:solidFill>
                  <a:srgbClr val="FF0000"/>
                </a:solidFill>
                <a:sym typeface="宋体" panose="02010600030101010101" pitchFamily="2" charset="-122"/>
              </a:rPr>
              <a:t>G</a:t>
            </a:r>
            <a:r>
              <a:rPr lang="en-US" altLang="zh-CN" noProof="1">
                <a:solidFill>
                  <a:srgbClr val="FF0000"/>
                </a:solidFill>
                <a:sym typeface="宋体" panose="02010600030101010101" pitchFamily="2" charset="-122"/>
              </a:rPr>
              <a:t>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4A28C6-4266-8BF7-28CE-743327A5C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4869160"/>
            <a:ext cx="10287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Euler Paths and Circuits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Hamilton Paths and Circuits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8D70A2-A756-F2C8-F104-8E91DCF97205}"/>
              </a:ext>
            </a:extLst>
          </p:cNvPr>
          <p:cNvSpPr txBox="1">
            <a:spLocks/>
          </p:cNvSpPr>
          <p:nvPr/>
        </p:nvSpPr>
        <p:spPr>
          <a:xfrm>
            <a:off x="1043608" y="2348880"/>
            <a:ext cx="5838800" cy="23042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>
            <a:normAutofit fontScale="62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2600" b="1" dirty="0"/>
              <a:t>   procedure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i="1" dirty="0"/>
              <a:t>Euler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lang="en-US" sz="2600" i="1" dirty="0"/>
              <a:t>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所有顶点都为偶数度的连通多重图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lang="en-US" sz="2600" i="1" dirty="0"/>
              <a:t>circuit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 </a:t>
            </a:r>
            <a:r>
              <a:rPr lang="en-US" sz="2600" i="1" dirty="0">
                <a:ea typeface="Cambria Math" pitchFamily="18" charset="0"/>
              </a:rPr>
              <a:t>G </a:t>
            </a:r>
            <a:r>
              <a:rPr lang="zh-CN" altLang="en-US" sz="2600" i="1" dirty="0">
                <a:ea typeface="Cambria Math" pitchFamily="18" charset="0"/>
              </a:rPr>
              <a:t>中任选一个点为起点</a:t>
            </a:r>
            <a:r>
              <a:rPr lang="en-US" altLang="zh-CN" sz="2600" i="1" dirty="0">
                <a:ea typeface="Cambria Math" pitchFamily="18" charset="0"/>
              </a:rPr>
              <a:t>, </a:t>
            </a:r>
            <a:r>
              <a:rPr lang="zh-CN" altLang="en-US" sz="2600" i="1" dirty="0">
                <a:ea typeface="Cambria Math" pitchFamily="18" charset="0"/>
              </a:rPr>
              <a:t>构造一条简单回路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Cambria Math" pitchFamily="18" charset="0"/>
                <a:cs typeface="+mn-cs"/>
              </a:rPr>
              <a:t>.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H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lang="en-US" sz="2600" i="1" dirty="0"/>
              <a:t>G</a:t>
            </a:r>
            <a:r>
              <a:rPr lang="en-US" sz="2600" dirty="0"/>
              <a:t> </a:t>
            </a:r>
            <a:r>
              <a:rPr lang="zh-CN" altLang="en-US" sz="2600" dirty="0"/>
              <a:t>减去简单回路</a:t>
            </a:r>
            <a:r>
              <a:rPr lang="en-US" altLang="zh-CN" sz="2600" i="1" dirty="0"/>
              <a:t>circuit</a:t>
            </a:r>
            <a:r>
              <a:rPr lang="zh-CN" altLang="en-US" sz="2600" dirty="0"/>
              <a:t>用过的边和孤立点</a:t>
            </a:r>
            <a:endParaRPr kumimoji="0" lang="en-US" sz="26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lang="en-US" sz="2600" b="1" dirty="0"/>
              <a:t>while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i="1" dirty="0"/>
              <a:t>H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有边</a:t>
            </a:r>
            <a:endParaRPr lang="en-US" sz="2600" b="1" dirty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2600" b="1" i="1" dirty="0"/>
              <a:t>         </a:t>
            </a:r>
            <a:r>
              <a:rPr lang="en-US" sz="2600" i="1" dirty="0" err="1"/>
              <a:t>subciruit</a:t>
            </a:r>
            <a:r>
              <a:rPr lang="en-US" sz="2600" i="1" dirty="0"/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zh-CN" altLang="en-US" sz="2600" dirty="0"/>
              <a:t>选择</a:t>
            </a:r>
            <a:r>
              <a:rPr kumimoji="0" lang="en-US" sz="26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和原回路的一个公共顶点</a:t>
            </a:r>
            <a:r>
              <a:rPr kumimoji="0" lang="en-US" altLang="zh-CN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zh-CN" alt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以此为起点构造一条简单回路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2600" dirty="0"/>
              <a:t>        </a:t>
            </a:r>
            <a:r>
              <a:rPr lang="en-US" sz="2600" i="1" dirty="0"/>
              <a:t>H</a:t>
            </a:r>
            <a:r>
              <a:rPr lang="en-US" sz="2600" dirty="0"/>
              <a:t> := </a:t>
            </a:r>
            <a:r>
              <a:rPr lang="en-US" sz="2600" i="1" dirty="0"/>
              <a:t>H</a:t>
            </a:r>
            <a:r>
              <a:rPr lang="en-US" sz="2600" dirty="0"/>
              <a:t> </a:t>
            </a:r>
            <a:r>
              <a:rPr lang="zh-CN" altLang="en-US" sz="2600" dirty="0"/>
              <a:t>减去子回路</a:t>
            </a:r>
            <a:r>
              <a:rPr lang="en-US" sz="2600" dirty="0"/>
              <a:t> </a:t>
            </a:r>
            <a:r>
              <a:rPr lang="en-US" sz="2600" i="1" dirty="0" err="1"/>
              <a:t>subciruit</a:t>
            </a:r>
            <a:r>
              <a:rPr lang="en-US" sz="2600" dirty="0"/>
              <a:t> </a:t>
            </a:r>
            <a:r>
              <a:rPr lang="zh-CN" altLang="en-US" sz="2600" dirty="0"/>
              <a:t>用过的边和孤立点</a:t>
            </a: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lang="en-US" sz="2600" dirty="0"/>
              <a:t>        </a:t>
            </a:r>
            <a:r>
              <a:rPr lang="en-US" sz="2600" i="1" dirty="0"/>
              <a:t>circuit </a:t>
            </a:r>
            <a:r>
              <a:rPr lang="en-US" sz="2600" dirty="0"/>
              <a:t>:= </a:t>
            </a:r>
            <a:r>
              <a:rPr lang="en-US" sz="2600" i="1" dirty="0"/>
              <a:t>circuit</a:t>
            </a:r>
            <a:r>
              <a:rPr lang="en-US" sz="2600" dirty="0"/>
              <a:t> </a:t>
            </a:r>
            <a:r>
              <a:rPr lang="zh-CN" altLang="en-US" sz="2600" dirty="0"/>
              <a:t>合并</a:t>
            </a:r>
            <a:r>
              <a:rPr lang="en-US" sz="2600" dirty="0"/>
              <a:t> s</a:t>
            </a:r>
            <a:r>
              <a:rPr lang="en-US" sz="2600" i="1" dirty="0"/>
              <a:t>ubcircuit</a:t>
            </a:r>
            <a:r>
              <a:rPr lang="en-US" sz="2600" dirty="0"/>
              <a:t> . </a:t>
            </a:r>
            <a:endParaRPr kumimoji="0" lang="en-US" sz="26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i="1" dirty="0"/>
              <a:t>circuit</a:t>
            </a:r>
            <a:r>
              <a:rPr kumimoji="0" lang="en-US" sz="26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circuit</a:t>
            </a:r>
            <a:r>
              <a:rPr kumimoji="0" lang="en-US" sz="2600" b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就是欧拉回路</a:t>
            </a:r>
            <a:r>
              <a:rPr lang="en-US" sz="2600" dirty="0"/>
              <a:t>} </a:t>
            </a:r>
            <a:endParaRPr kumimoji="0" lang="en-US" sz="2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3">
            <a:extLst>
              <a:ext uri="{FF2B5EF4-FFF2-40B4-BE49-F238E27FC236}">
                <a16:creationId xmlns:a16="http://schemas.microsoft.com/office/drawing/2014/main" id="{069F4F87-636F-4203-A599-7AD522E7F1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6062DD8-F2B2-48B7-8265-E91EF4D3F126}" type="slidenum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/>
              <a:t>34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>
            <a:extLst>
              <a:ext uri="{FF2B5EF4-FFF2-40B4-BE49-F238E27FC236}">
                <a16:creationId xmlns:a16="http://schemas.microsoft.com/office/drawing/2014/main" id="{B3DC2DE2-144F-4468-8178-C382C9A30F2A}"/>
              </a:ext>
            </a:extLst>
          </p:cNvPr>
          <p:cNvSpPr>
            <a:spLocks noGrp="1" noChangeArrowheads="1"/>
          </p:cNvSpPr>
          <p:nvPr>
            <p:ph type="dt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D2157384-1BD1-40E5-B408-F8FF69BB65B0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>
            <a:extLst>
              <a:ext uri="{FF2B5EF4-FFF2-40B4-BE49-F238E27FC236}">
                <a16:creationId xmlns:a16="http://schemas.microsoft.com/office/drawing/2014/main" id="{4F25494E-2A41-4C7F-ACB0-E38D6514F50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B1BCA0B2-9149-474C-8D6A-F6211BBA3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 Rounded MT Bold" panose="020F0704030504030204" pitchFamily="34" charset="0"/>
              </a:rPr>
              <a:t>shortest path Problem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6D1988B1-0BF8-473E-BC67-9278ED074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35480"/>
            <a:ext cx="8229600" cy="458986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Determining the shortest path from a vertex to an assigned vertex. Dijkstra Algorithm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Determining the shortest path of any two vertices in the graph.</a:t>
            </a:r>
          </a:p>
          <a:p>
            <a:pPr lvl="1"/>
            <a:r>
              <a:rPr lang="en-US" altLang="zh-CN" dirty="0"/>
              <a:t>Distance Matrix: Adjacent Matrix with Weights</a:t>
            </a:r>
          </a:p>
          <a:p>
            <a:pPr lvl="1"/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ij</a:t>
            </a:r>
            <a:r>
              <a:rPr lang="en-US" altLang="zh-CN" sz="2400" i="1" baseline="30000" dirty="0" err="1"/>
              <a:t>2</a:t>
            </a:r>
            <a:r>
              <a:rPr lang="en-US" altLang="zh-CN" sz="2400" i="1" dirty="0"/>
              <a:t>=min{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i1</a:t>
            </a:r>
            <a:r>
              <a:rPr lang="en-US" altLang="zh-CN" sz="2400" i="1" dirty="0" err="1"/>
              <a:t>+d</a:t>
            </a:r>
            <a:r>
              <a:rPr lang="en-US" altLang="zh-CN" sz="2400" i="1" baseline="-25000" dirty="0" err="1"/>
              <a:t>1j</a:t>
            </a:r>
            <a:r>
              <a:rPr lang="en-US" altLang="zh-CN" sz="2400" i="1" dirty="0"/>
              <a:t>, 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i2</a:t>
            </a:r>
            <a:r>
              <a:rPr lang="en-US" altLang="zh-CN" sz="2400" i="1" dirty="0" err="1"/>
              <a:t>+d</a:t>
            </a:r>
            <a:r>
              <a:rPr lang="en-US" altLang="zh-CN" sz="2400" i="1" baseline="-25000" dirty="0" err="1"/>
              <a:t>2j</a:t>
            </a:r>
            <a:r>
              <a:rPr lang="en-US" altLang="zh-CN" sz="2400" i="1" dirty="0"/>
              <a:t>,…, 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in</a:t>
            </a:r>
            <a:r>
              <a:rPr lang="en-US" altLang="zh-CN" sz="2400" i="1" dirty="0" err="1"/>
              <a:t>+d</a:t>
            </a:r>
            <a:r>
              <a:rPr lang="en-US" altLang="zh-CN" sz="2400" i="1" baseline="-25000" dirty="0" err="1"/>
              <a:t>nj</a:t>
            </a:r>
            <a:r>
              <a:rPr lang="en-US" altLang="zh-CN" sz="2400" i="1" dirty="0"/>
              <a:t>} </a:t>
            </a:r>
          </a:p>
          <a:p>
            <a:pPr lvl="1"/>
            <a:r>
              <a:rPr lang="en-US" altLang="zh-CN" dirty="0"/>
              <a:t>Floyd algorithm</a:t>
            </a:r>
            <a:endParaRPr lang="en-US" altLang="zh-CN" sz="2400" i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D358FA-9175-B029-74C7-76BF7C8E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515794"/>
            <a:ext cx="5194151" cy="17336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8F0A9E-5C01-CEB8-8538-9D46155A1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5356225"/>
            <a:ext cx="443865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695A518D-8B5F-43EC-985E-7E3C3A380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Planar Graphs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</a:rPr>
              <a:t>平面图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</a:endParaRP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7EA54031-0582-4BC3-92BB-E36FB167F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400" dirty="0"/>
              <a:t>A graph is called </a:t>
            </a:r>
            <a:r>
              <a:rPr lang="en-US" altLang="zh-CN" sz="2400" b="1" i="1" dirty="0"/>
              <a:t>planar</a:t>
            </a:r>
            <a:r>
              <a:rPr lang="en-US" altLang="zh-CN" sz="2400" dirty="0"/>
              <a:t> if it can be drawn in the plane in such a way that no two edges cross.</a:t>
            </a:r>
          </a:p>
          <a:p>
            <a:r>
              <a:rPr lang="en-US" altLang="zh-CN" sz="2400" dirty="0"/>
              <a:t>A drawing of a planar graph divides the plane into </a:t>
            </a:r>
            <a:r>
              <a:rPr lang="en-US" altLang="zh-CN" sz="2400" b="1" i="1" dirty="0">
                <a:solidFill>
                  <a:srgbClr val="FF0000"/>
                </a:solidFill>
              </a:rPr>
              <a:t>faces , </a:t>
            </a:r>
            <a:r>
              <a:rPr lang="en-US" altLang="zh-CN" sz="2400" i="1" dirty="0">
                <a:solidFill>
                  <a:srgbClr val="FF0000"/>
                </a:solidFill>
              </a:rPr>
              <a:t>regions </a:t>
            </a:r>
            <a:r>
              <a:rPr lang="en-US" altLang="zh-CN" sz="2400" dirty="0"/>
              <a:t>bounded by edges of the graph. (outside face)</a:t>
            </a:r>
          </a:p>
          <a:p>
            <a:r>
              <a:rPr lang="en-US" altLang="zh-CN" sz="2400" noProof="1"/>
              <a:t>A planar graph G, total degrees of faces are double of edges.  </a:t>
            </a:r>
            <a:r>
              <a:rPr lang="zh-CN" altLang="en-US" sz="2400" noProof="1">
                <a:sym typeface="Symbol" panose="05050102010706020507" charset="0"/>
              </a:rPr>
              <a:t></a:t>
            </a:r>
            <a:r>
              <a:rPr lang="en-US" altLang="zh-CN" sz="2400" i="1" noProof="1">
                <a:sym typeface="Symbol" panose="05050102010706020507" charset="0"/>
              </a:rPr>
              <a:t>deg(R</a:t>
            </a:r>
            <a:r>
              <a:rPr lang="en-US" altLang="zh-CN" sz="2400" i="1" baseline="-25000" noProof="1">
                <a:sym typeface="Symbol" panose="05050102010706020507" charset="0"/>
              </a:rPr>
              <a:t>i</a:t>
            </a:r>
            <a:r>
              <a:rPr lang="en-US" altLang="zh-CN" sz="2400" i="1" noProof="1">
                <a:sym typeface="Symbol" panose="05050102010706020507" charset="0"/>
              </a:rPr>
              <a:t>)</a:t>
            </a:r>
            <a:r>
              <a:rPr lang="en-US" altLang="zh-CN" sz="2400" noProof="1">
                <a:sym typeface="Symbol" panose="05050102010706020507" charset="0"/>
              </a:rPr>
              <a:t>=2</a:t>
            </a:r>
            <a:r>
              <a:rPr lang="en-US" altLang="zh-CN" sz="2400" i="1" noProof="1">
                <a:sym typeface="Symbol" panose="05050102010706020507" charset="0"/>
              </a:rPr>
              <a:t>e</a:t>
            </a:r>
            <a:r>
              <a:rPr lang="en-US" altLang="zh-CN" sz="2400" noProof="1">
                <a:sym typeface="Symbol" panose="05050102010706020507" charset="0"/>
              </a:rPr>
              <a:t>.</a:t>
            </a:r>
          </a:p>
          <a:p>
            <a:r>
              <a:rPr lang="en-US" altLang="zh-CN" sz="2400" noProof="1">
                <a:sym typeface="Symbol" panose="05050102010706020507" charset="0"/>
              </a:rPr>
              <a:t>Euler Theorem: </a:t>
            </a:r>
            <a:r>
              <a:rPr lang="en-US" altLang="zh-CN" sz="2400" dirty="0"/>
              <a:t>Let </a:t>
            </a:r>
            <a:r>
              <a:rPr lang="en-US" altLang="zh-CN" sz="2400" i="1" dirty="0"/>
              <a:t>G </a:t>
            </a:r>
            <a:r>
              <a:rPr lang="en-US" altLang="zh-CN" sz="2400" dirty="0"/>
              <a:t>be a connected planar graph. Then </a:t>
            </a:r>
            <a:r>
              <a:rPr lang="en-US" altLang="zh-CN" sz="2400" i="1" dirty="0">
                <a:solidFill>
                  <a:srgbClr val="FF0000"/>
                </a:solidFill>
              </a:rPr>
              <a:t>r</a:t>
            </a:r>
            <a:r>
              <a:rPr lang="en-US" altLang="zh-CN" sz="2400" dirty="0">
                <a:solidFill>
                  <a:srgbClr val="FF0000"/>
                </a:solidFill>
              </a:rPr>
              <a:t> = </a:t>
            </a:r>
            <a:r>
              <a:rPr lang="en-US" altLang="zh-CN" sz="2400" i="1" dirty="0">
                <a:solidFill>
                  <a:srgbClr val="FF0000"/>
                </a:solidFill>
              </a:rPr>
              <a:t>e</a:t>
            </a:r>
            <a:r>
              <a:rPr lang="en-US" altLang="zh-CN" sz="2400" dirty="0">
                <a:solidFill>
                  <a:srgbClr val="FF0000"/>
                </a:solidFill>
              </a:rPr>
              <a:t> − </a:t>
            </a:r>
            <a:r>
              <a:rPr lang="en-US" altLang="zh-CN" sz="2400" i="1" dirty="0">
                <a:solidFill>
                  <a:srgbClr val="FF0000"/>
                </a:solidFill>
              </a:rPr>
              <a:t>v</a:t>
            </a:r>
            <a:r>
              <a:rPr lang="en-US" altLang="zh-CN" sz="2400" dirty="0">
                <a:solidFill>
                  <a:srgbClr val="FF0000"/>
                </a:solidFill>
              </a:rPr>
              <a:t> +2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 err="1"/>
              <a:t>Kuratowski’s</a:t>
            </a:r>
            <a:r>
              <a:rPr lang="en-US" altLang="zh-CN" sz="2400" dirty="0"/>
              <a:t> Theorem: A graph is planar if and only if it contains no subgraph obtainable from </a:t>
            </a:r>
            <a:r>
              <a:rPr lang="en-US" altLang="zh-CN" sz="2400" i="1" dirty="0" err="1"/>
              <a:t>K</a:t>
            </a:r>
            <a:r>
              <a:rPr lang="en-US" altLang="zh-CN" sz="2400" baseline="-25000" dirty="0" err="1"/>
              <a:t>5</a:t>
            </a:r>
            <a:r>
              <a:rPr lang="en-US" altLang="zh-CN" sz="2400" dirty="0"/>
              <a:t> or </a:t>
            </a:r>
            <a:r>
              <a:rPr lang="en-US" altLang="zh-CN" sz="2400" i="1" dirty="0" err="1"/>
              <a:t>K</a:t>
            </a:r>
            <a:r>
              <a:rPr lang="en-US" altLang="zh-CN" sz="2400" baseline="-25000" dirty="0" err="1"/>
              <a:t>3,3</a:t>
            </a:r>
            <a:r>
              <a:rPr lang="en-US" altLang="zh-CN" sz="2400" dirty="0"/>
              <a:t> by replacing edges with paths.</a:t>
            </a:r>
            <a:endParaRPr lang="zh-CN" altLang="en-US" sz="2400" dirty="0"/>
          </a:p>
          <a:p>
            <a:endParaRPr lang="zh-CN" altLang="en-US" sz="2400" dirty="0"/>
          </a:p>
          <a:p>
            <a:endParaRPr lang="en-US" altLang="zh-CN" sz="2400" noProof="1">
              <a:sym typeface="Symbol" panose="05050102010706020507" charset="0"/>
            </a:endParaRPr>
          </a:p>
          <a:p>
            <a:endParaRPr lang="en-US" altLang="zh-CN" sz="2400" dirty="0"/>
          </a:p>
          <a:p>
            <a:pPr eaLnBrk="1" hangingPunct="1"/>
            <a:endParaRPr lang="en-US" altLang="zh-CN" sz="2400" dirty="0"/>
          </a:p>
        </p:txBody>
      </p:sp>
      <p:sp>
        <p:nvSpPr>
          <p:cNvPr id="8194" name="日期占位符 4">
            <a:extLst>
              <a:ext uri="{FF2B5EF4-FFF2-40B4-BE49-F238E27FC236}">
                <a16:creationId xmlns:a16="http://schemas.microsoft.com/office/drawing/2014/main" id="{6D73F736-694D-4A2E-99AD-2F6CF8DDC6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30A625-1FAA-4A06-830D-670C34FDFA99}" type="datetime1">
              <a:rPr kumimoji="0" lang="zh-CN" altLang="en-US" sz="1000" b="1" i="1" u="none" strike="noStrike" kern="1200" cap="none" spc="0" normalizeH="0" baseline="0" noProof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2024/12/27</a:t>
            </a:fld>
            <a:endParaRPr kumimoji="0" lang="zh-CN" altLang="en-US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页脚占位符 5">
            <a:extLst>
              <a:ext uri="{FF2B5EF4-FFF2-40B4-BE49-F238E27FC236}">
                <a16:creationId xmlns:a16="http://schemas.microsoft.com/office/drawing/2014/main" id="{FAC28BBD-52A0-4986-A8BF-6673EFEBE4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College of Computer Science &amp; Technology, BUPT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3" name="灯片编号占位符 3">
            <a:extLst>
              <a:ext uri="{FF2B5EF4-FFF2-40B4-BE49-F238E27FC236}">
                <a16:creationId xmlns:a16="http://schemas.microsoft.com/office/drawing/2014/main" id="{580D4EA1-1763-4473-9BD3-058328A69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9271D15-805E-4C83-9820-CC4B9151A21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35</a:t>
            </a:fld>
            <a:endParaRPr kumimoji="0" lang="zh-CN" altLang="en-US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695A518D-8B5F-43EC-985E-7E3C3A380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Graph Coloring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</a:endParaRP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7EA54031-0582-4BC3-92BB-E36FB167F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400" dirty="0"/>
              <a:t>dual graph(</a:t>
            </a:r>
            <a:r>
              <a:rPr lang="zh-CN" altLang="en-US" sz="2400" dirty="0"/>
              <a:t>对偶图</a:t>
            </a:r>
            <a:r>
              <a:rPr lang="en-US" altLang="zh-CN" sz="2400" dirty="0"/>
              <a:t>): given a map </a:t>
            </a:r>
            <a:r>
              <a:rPr lang="en-US" altLang="zh-CN" sz="2400" i="1" dirty="0"/>
              <a:t>M</a:t>
            </a:r>
            <a:r>
              <a:rPr lang="en-US" altLang="zh-CN" sz="2400" dirty="0"/>
              <a:t>, construct a graph </a:t>
            </a:r>
            <a:r>
              <a:rPr lang="en-US" altLang="zh-CN" sz="2400" i="1" dirty="0"/>
              <a:t>G</a:t>
            </a:r>
            <a:r>
              <a:rPr lang="en-US" altLang="zh-CN" sz="2400" i="1" baseline="-25000" dirty="0"/>
              <a:t>M </a:t>
            </a:r>
            <a:r>
              <a:rPr lang="en-US" altLang="zh-CN" sz="2400" i="1" dirty="0"/>
              <a:t>by</a:t>
            </a:r>
          </a:p>
          <a:p>
            <a:pPr lvl="1" eaLnBrk="1" hangingPunct="1"/>
            <a:r>
              <a:rPr lang="en-US" altLang="zh-CN" dirty="0"/>
              <a:t>Vertex </a:t>
            </a:r>
            <a:r>
              <a:rPr lang="en-US" altLang="zh-CN" i="1" dirty="0"/>
              <a:t>u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 region </a:t>
            </a:r>
            <a:r>
              <a:rPr lang="en-US" altLang="zh-CN" i="1" dirty="0"/>
              <a:t>R</a:t>
            </a:r>
            <a:r>
              <a:rPr lang="en-US" altLang="zh-CN" i="1" baseline="-25000" dirty="0"/>
              <a:t>u</a:t>
            </a:r>
          </a:p>
          <a:p>
            <a:pPr lvl="1" eaLnBrk="1" hangingPunct="1"/>
            <a:r>
              <a:rPr lang="en-US" altLang="zh-CN" dirty="0"/>
              <a:t>Edge (</a:t>
            </a:r>
            <a:r>
              <a:rPr lang="en-US" altLang="zh-CN" i="1" dirty="0"/>
              <a:t>u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</a:t>
            </a:r>
            <a:r>
              <a:rPr lang="en-US" altLang="zh-CN" dirty="0"/>
              <a:t> regions </a:t>
            </a:r>
            <a:r>
              <a:rPr lang="en-US" altLang="zh-CN" i="1" dirty="0"/>
              <a:t>R</a:t>
            </a:r>
            <a:r>
              <a:rPr lang="en-US" altLang="zh-CN" i="1" baseline="-25000" dirty="0"/>
              <a:t>u</a:t>
            </a:r>
            <a:r>
              <a:rPr lang="en-US" altLang="zh-CN" dirty="0"/>
              <a:t> and </a:t>
            </a:r>
            <a:r>
              <a:rPr lang="en-US" altLang="zh-CN" i="1" dirty="0" err="1"/>
              <a:t>R</a:t>
            </a:r>
            <a:r>
              <a:rPr lang="en-US" altLang="zh-CN" i="1" baseline="-25000" dirty="0" err="1"/>
              <a:t>v</a:t>
            </a:r>
            <a:r>
              <a:rPr lang="en-US" altLang="zh-CN" dirty="0"/>
              <a:t> share a common boundary. </a:t>
            </a:r>
          </a:p>
          <a:p>
            <a:pPr eaLnBrk="1" hangingPunct="1"/>
            <a:r>
              <a:rPr lang="en-US" altLang="zh-CN" sz="2400" dirty="0"/>
              <a:t>The smallest number of colors needed to produce a proper coloring of a graph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called the </a:t>
            </a:r>
            <a:r>
              <a:rPr lang="en-US" altLang="zh-CN" sz="2400" i="1" dirty="0"/>
              <a:t>chromatic number of G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zh-CN" altLang="en-US" sz="2400" i="1" dirty="0"/>
              <a:t>最小</a:t>
            </a:r>
            <a:r>
              <a:rPr lang="zh-CN" altLang="en-US" sz="2400" dirty="0"/>
              <a:t>着色数</a:t>
            </a:r>
            <a:r>
              <a:rPr lang="en-US" altLang="zh-CN" sz="2400" dirty="0"/>
              <a:t>), denoted by </a:t>
            </a:r>
            <a:r>
              <a:rPr lang="en-US" altLang="zh-CN" sz="2400" dirty="0">
                <a:sym typeface="Symbol" panose="05050102010706020507" pitchFamily="18" charset="2"/>
              </a:rPr>
              <a:t>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).</a:t>
            </a:r>
          </a:p>
          <a:p>
            <a:pPr eaLnBrk="1" hangingPunct="1"/>
            <a:r>
              <a:rPr lang="en-US" altLang="zh-CN" sz="2400" dirty="0"/>
              <a:t>If </a:t>
            </a:r>
            <a:r>
              <a:rPr lang="en-US" altLang="zh-CN" sz="2400" i="1" dirty="0"/>
              <a:t>G</a:t>
            </a:r>
            <a:r>
              <a:rPr lang="en-US" altLang="zh-CN" sz="2400" dirty="0"/>
              <a:t> is a graph and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dirty="0"/>
              <a:t> 0 is an integer, let </a:t>
            </a:r>
            <a:r>
              <a:rPr lang="en-US" altLang="zh-CN" sz="2400" i="1" dirty="0"/>
              <a:t>P</a:t>
            </a:r>
            <a:r>
              <a:rPr lang="en-US" altLang="zh-CN" sz="2400" i="1" baseline="-25000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be the number of ways to color </a:t>
            </a:r>
            <a:r>
              <a:rPr lang="en-US" altLang="zh-CN" sz="2400" i="1" dirty="0"/>
              <a:t>G</a:t>
            </a:r>
            <a:r>
              <a:rPr lang="en-US" altLang="zh-CN" sz="2400" dirty="0"/>
              <a:t> properly using </a:t>
            </a:r>
            <a:r>
              <a:rPr lang="en-US" altLang="zh-CN" sz="2400" i="1" dirty="0"/>
              <a:t>n</a:t>
            </a:r>
            <a:r>
              <a:rPr lang="en-US" altLang="zh-CN" sz="2400" dirty="0"/>
              <a:t> or fewer colors. called the </a:t>
            </a:r>
            <a:r>
              <a:rPr lang="en-US" altLang="zh-CN" sz="2400" i="1" dirty="0"/>
              <a:t>chromatic polynomial</a:t>
            </a:r>
            <a:r>
              <a:rPr lang="en-US" altLang="zh-CN" sz="2400" dirty="0"/>
              <a:t>(</a:t>
            </a:r>
            <a:r>
              <a:rPr lang="zh-CN" altLang="en-US" sz="2400" dirty="0"/>
              <a:t>着色多项式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  <a:r>
              <a:rPr lang="en-US" altLang="zh-CN" sz="2400" dirty="0"/>
              <a:t>of </a:t>
            </a:r>
            <a:r>
              <a:rPr lang="en-US" altLang="zh-CN" sz="2400" i="1" dirty="0"/>
              <a:t>G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pPr eaLnBrk="1" hangingPunct="1"/>
            <a:endParaRPr lang="en-US" altLang="zh-CN" sz="2400" dirty="0"/>
          </a:p>
        </p:txBody>
      </p:sp>
      <p:sp>
        <p:nvSpPr>
          <p:cNvPr id="8194" name="日期占位符 4">
            <a:extLst>
              <a:ext uri="{FF2B5EF4-FFF2-40B4-BE49-F238E27FC236}">
                <a16:creationId xmlns:a16="http://schemas.microsoft.com/office/drawing/2014/main" id="{6D73F736-694D-4A2E-99AD-2F6CF8DDC6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530A625-1FAA-4A06-830D-670C34FDFA99}" type="datetime1">
              <a:rPr kumimoji="0" lang="zh-CN" altLang="en-US" sz="1000" b="1" i="1" u="none" strike="noStrike" kern="1200" cap="none" spc="0" normalizeH="0" baseline="0" noProof="0" smtClean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2024/12/27</a:t>
            </a:fld>
            <a:endParaRPr kumimoji="0" lang="zh-CN" altLang="en-US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页脚占位符 5">
            <a:extLst>
              <a:ext uri="{FF2B5EF4-FFF2-40B4-BE49-F238E27FC236}">
                <a16:creationId xmlns:a16="http://schemas.microsoft.com/office/drawing/2014/main" id="{FAC28BBD-52A0-4986-A8BF-6673EFEBE4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College of Computer Science &amp; Technology, BUPT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3" name="灯片编号占位符 3">
            <a:extLst>
              <a:ext uri="{FF2B5EF4-FFF2-40B4-BE49-F238E27FC236}">
                <a16:creationId xmlns:a16="http://schemas.microsoft.com/office/drawing/2014/main" id="{580D4EA1-1763-4473-9BD3-058328A69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9271D15-805E-4C83-9820-CC4B9151A217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36</a:t>
            </a:fld>
            <a:endParaRPr kumimoji="0" lang="zh-CN" altLang="en-US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1338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>
            <a:extLst>
              <a:ext uri="{FF2B5EF4-FFF2-40B4-BE49-F238E27FC236}">
                <a16:creationId xmlns:a16="http://schemas.microsoft.com/office/drawing/2014/main" id="{5D0FEFAC-51CE-4DE4-9042-E272E76CE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Theorem 2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B4BEC90E-38EC-4FEF-B2A4-965191F77A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G</a:t>
            </a:r>
            <a:r>
              <a:rPr lang="en-US" altLang="zh-CN" dirty="0"/>
              <a:t> = (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</a:t>
            </a:r>
            <a:r>
              <a:rPr lang="en-US" altLang="zh-CN" dirty="0"/>
              <a:t>) be a graph with no multiple edges, and let </a:t>
            </a:r>
            <a:r>
              <a:rPr lang="en-US" altLang="zh-CN" i="1" dirty="0"/>
              <a:t>e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E</a:t>
            </a:r>
            <a:r>
              <a:rPr lang="en-US" altLang="zh-CN" dirty="0"/>
              <a:t>, say </a:t>
            </a:r>
            <a:r>
              <a:rPr lang="en-US" altLang="zh-CN" i="1" dirty="0"/>
              <a:t>e</a:t>
            </a:r>
            <a:r>
              <a:rPr lang="en-US" altLang="zh-CN" dirty="0"/>
              <a:t> = {</a:t>
            </a:r>
            <a:r>
              <a:rPr lang="en-US" altLang="zh-CN" i="1" dirty="0"/>
              <a:t>a, b</a:t>
            </a:r>
            <a:r>
              <a:rPr lang="en-US" altLang="zh-CN" dirty="0"/>
              <a:t>}.</a:t>
            </a:r>
          </a:p>
          <a:p>
            <a:pPr lvl="1" eaLnBrk="1" hangingPunct="1"/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i="1" baseline="-25000" dirty="0">
                <a:solidFill>
                  <a:srgbClr val="FF0000"/>
                </a:solidFill>
              </a:rPr>
              <a:t>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: subgraph of </a:t>
            </a:r>
            <a:r>
              <a:rPr lang="en-US" altLang="zh-CN" i="1" dirty="0"/>
              <a:t>G</a:t>
            </a:r>
            <a:r>
              <a:rPr lang="en-US" altLang="zh-CN" dirty="0"/>
              <a:t> obtained by </a:t>
            </a:r>
            <a:r>
              <a:rPr lang="en-US" altLang="zh-CN" dirty="0">
                <a:solidFill>
                  <a:srgbClr val="FF0000"/>
                </a:solidFill>
              </a:rPr>
              <a:t>deleting 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, </a:t>
            </a:r>
          </a:p>
          <a:p>
            <a:pPr lvl="1" eaLnBrk="1" hangingPunct="1"/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i="1" baseline="30000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 : the quotient graph of </a:t>
            </a:r>
            <a:r>
              <a:rPr lang="en-US" altLang="zh-CN" i="1" dirty="0"/>
              <a:t>G</a:t>
            </a:r>
            <a:r>
              <a:rPr lang="en-US" altLang="zh-CN" dirty="0"/>
              <a:t> obtained by </a:t>
            </a:r>
            <a:r>
              <a:rPr lang="en-US" altLang="zh-CN" dirty="0">
                <a:solidFill>
                  <a:srgbClr val="FF0000"/>
                </a:solidFill>
              </a:rPr>
              <a:t>merging the end points of 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Then with </a:t>
            </a:r>
            <a:r>
              <a:rPr lang="en-US" altLang="zh-CN" i="1" dirty="0"/>
              <a:t>x</a:t>
            </a:r>
            <a:r>
              <a:rPr lang="en-US" altLang="zh-CN" dirty="0"/>
              <a:t> colors: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Example:</a:t>
            </a:r>
          </a:p>
          <a:p>
            <a:pPr marL="0" indent="0" eaLnBrk="1" hangingPunct="1">
              <a:buNone/>
            </a:pPr>
            <a:r>
              <a:rPr lang="en-US" altLang="zh-CN" sz="2800" b="1" i="1" dirty="0"/>
              <a:t>    </a:t>
            </a:r>
            <a:r>
              <a:rPr lang="en-US" altLang="zh-CN" sz="2800" i="1" dirty="0"/>
              <a:t>P</a:t>
            </a:r>
            <a:r>
              <a:rPr lang="en-US" altLang="zh-CN" sz="2800" i="1" baseline="-25000" dirty="0"/>
              <a:t>G</a:t>
            </a:r>
            <a:r>
              <a:rPr lang="en-US" altLang="zh-CN" sz="2800" i="1" dirty="0"/>
              <a:t> (x) = </a:t>
            </a:r>
            <a:r>
              <a:rPr lang="en-US" altLang="zh-CN" sz="2800" i="1" dirty="0" err="1"/>
              <a:t>x</a:t>
            </a:r>
            <a:r>
              <a:rPr lang="en-US" altLang="zh-CN" sz="2800" i="1" baseline="30000" dirty="0" err="1"/>
              <a:t>2</a:t>
            </a:r>
            <a:r>
              <a:rPr lang="en-US" altLang="zh-CN" sz="2800" i="1" dirty="0"/>
              <a:t>(x-1)(x-2) - x(x-1)(x-2)= x (x-1)</a:t>
            </a:r>
            <a:r>
              <a:rPr lang="en-US" altLang="zh-CN" sz="2800" i="1" baseline="30000" dirty="0"/>
              <a:t>2</a:t>
            </a:r>
            <a:r>
              <a:rPr lang="en-US" altLang="zh-CN" sz="2800" i="1" dirty="0"/>
              <a:t>(x-2)</a:t>
            </a:r>
            <a:endParaRPr lang="zh-CN" altLang="en-US" dirty="0"/>
          </a:p>
        </p:txBody>
      </p:sp>
      <p:sp>
        <p:nvSpPr>
          <p:cNvPr id="71682" name="日期占位符 4">
            <a:extLst>
              <a:ext uri="{FF2B5EF4-FFF2-40B4-BE49-F238E27FC236}">
                <a16:creationId xmlns:a16="http://schemas.microsoft.com/office/drawing/2014/main" id="{8048ED7A-8597-4971-B80D-4B18E0765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6AB6CD00-1322-4A2B-8C36-F0C1D1AE7291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Font typeface="Arial" panose="020B0604020202020204" pitchFamily="34" charset="0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3" name="页脚占位符 5">
            <a:extLst>
              <a:ext uri="{FF2B5EF4-FFF2-40B4-BE49-F238E27FC236}">
                <a16:creationId xmlns:a16="http://schemas.microsoft.com/office/drawing/2014/main" id="{42B1024A-BF06-462E-AF24-BB5BFE89D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 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681" name="灯片编号占位符 3">
            <a:extLst>
              <a:ext uri="{FF2B5EF4-FFF2-40B4-BE49-F238E27FC236}">
                <a16:creationId xmlns:a16="http://schemas.microsoft.com/office/drawing/2014/main" id="{CEC7C7E9-A637-41B2-8A84-78F7BA3CB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2447A967-C230-4D10-A698-D1B0FDE69CD9}" type="slidenum">
              <a:rPr lang="zh-CN" altLang="en-US" sz="100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Font typeface="Arial" panose="020B0604020202020204" pitchFamily="34" charset="0"/>
                <a:buNone/>
              </a:pPr>
              <a:t>37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71686" name="Picture 4">
            <a:extLst>
              <a:ext uri="{FF2B5EF4-FFF2-40B4-BE49-F238E27FC236}">
                <a16:creationId xmlns:a16="http://schemas.microsoft.com/office/drawing/2014/main" id="{7B4FDFF2-9BD5-4FD3-9812-BC99938AD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933056"/>
            <a:ext cx="510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D83593C7-9C1D-0807-6159-3A446C596DBE}"/>
              </a:ext>
            </a:extLst>
          </p:cNvPr>
          <p:cNvGrpSpPr/>
          <p:nvPr/>
        </p:nvGrpSpPr>
        <p:grpSpPr>
          <a:xfrm>
            <a:off x="2825167" y="4644426"/>
            <a:ext cx="1458802" cy="872806"/>
            <a:chOff x="2825166" y="4644426"/>
            <a:chExt cx="1867009" cy="1151362"/>
          </a:xfrm>
        </p:grpSpPr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89A2B96C-B914-00F7-8E8D-33719418D0E6}"/>
                </a:ext>
              </a:extLst>
            </p:cNvPr>
            <p:cNvSpPr/>
            <p:nvPr/>
          </p:nvSpPr>
          <p:spPr>
            <a:xfrm rot="3605824">
              <a:off x="3676064" y="4779676"/>
              <a:ext cx="1142670" cy="889553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31889FD-7D8B-648F-ACE9-CAFA76FEF4B3}"/>
                </a:ext>
              </a:extLst>
            </p:cNvPr>
            <p:cNvCxnSpPr>
              <a:cxnSpLocks/>
            </p:cNvCxnSpPr>
            <p:nvPr/>
          </p:nvCxnSpPr>
          <p:spPr>
            <a:xfrm rot="21545824">
              <a:off x="2825166" y="4644426"/>
              <a:ext cx="745733" cy="295106"/>
            </a:xfrm>
            <a:prstGeom prst="straightConnector1">
              <a:avLst/>
            </a:prstGeom>
            <a:ln>
              <a:headEnd type="oval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C5B8975B-86E3-4BFE-88F8-7AB2A8236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5400" dirty="0">
                <a:solidFill>
                  <a:srgbClr val="336699"/>
                </a:solidFill>
              </a:rPr>
              <a:t>Maximum  Flow Algorithm</a:t>
            </a:r>
            <a:endParaRPr lang="en-US" altLang="zh-CN" dirty="0"/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E25D7F9E-AAA6-40DD-BDF3-695FD4541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CN" sz="2800" dirty="0"/>
              <a:t>labeling algorithm(</a:t>
            </a:r>
            <a:r>
              <a:rPr lang="zh-CN" altLang="en-US" sz="2800" dirty="0"/>
              <a:t>标记算法</a:t>
            </a:r>
            <a:r>
              <a:rPr lang="en-US" altLang="zh-CN" sz="2800" dirty="0"/>
              <a:t>) </a:t>
            </a:r>
          </a:p>
          <a:p>
            <a:pPr lvl="1"/>
            <a:r>
              <a:rPr lang="en-US" altLang="zh-CN" sz="2600" dirty="0"/>
              <a:t>residual capacity(</a:t>
            </a:r>
            <a:r>
              <a:rPr lang="zh-CN" altLang="en-US" sz="2600" dirty="0"/>
              <a:t>剩余容量</a:t>
            </a:r>
            <a:r>
              <a:rPr lang="en-US" altLang="zh-CN" sz="2600" dirty="0"/>
              <a:t>)</a:t>
            </a:r>
          </a:p>
          <a:p>
            <a:pPr eaLnBrk="1" hangingPunct="1"/>
            <a:r>
              <a:rPr lang="en-US" altLang="zh-CN" sz="2800" dirty="0"/>
              <a:t>Let </a:t>
            </a:r>
            <a:r>
              <a:rPr lang="en-US" altLang="zh-CN" sz="2800" i="1" dirty="0"/>
              <a:t>N</a:t>
            </a:r>
            <a:r>
              <a:rPr lang="en-US" altLang="zh-CN" sz="2800" dirty="0"/>
              <a:t> be a network and let </a:t>
            </a:r>
            <a:r>
              <a:rPr lang="en-US" altLang="zh-CN" sz="2800" i="1" dirty="0"/>
              <a:t>G</a:t>
            </a:r>
            <a:r>
              <a:rPr lang="en-US" altLang="zh-CN" sz="2800" dirty="0"/>
              <a:t> be the symmetric closure of  </a:t>
            </a:r>
            <a:r>
              <a:rPr lang="en-US" altLang="zh-CN" sz="2800" i="1" dirty="0"/>
              <a:t>N</a:t>
            </a:r>
            <a:r>
              <a:rPr lang="en-US" altLang="zh-CN" sz="2800" dirty="0"/>
              <a:t>.</a:t>
            </a:r>
          </a:p>
          <a:p>
            <a:pPr lvl="1" eaLnBrk="1" hangingPunct="1"/>
            <a:r>
              <a:rPr lang="en-US" altLang="zh-CN" sz="2400" dirty="0"/>
              <a:t>If (</a:t>
            </a:r>
            <a:r>
              <a:rPr lang="en-US" altLang="zh-CN" sz="2400" i="1" dirty="0" err="1"/>
              <a:t>i,j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 and </a:t>
            </a:r>
            <a:r>
              <a:rPr lang="en-US" altLang="zh-CN" sz="2400" i="1" dirty="0" err="1">
                <a:sym typeface="Symbol" panose="05050102010706020507" pitchFamily="18" charset="2"/>
              </a:rPr>
              <a:t>e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i="1" dirty="0" err="1">
                <a:sym typeface="Symbol" panose="05050102010706020507" pitchFamily="18" charset="2"/>
              </a:rPr>
              <a:t>C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 err="1">
                <a:sym typeface="Symbol" panose="05050102010706020507" pitchFamily="18" charset="2"/>
              </a:rPr>
              <a:t>-</a:t>
            </a:r>
            <a:r>
              <a:rPr lang="en-US" altLang="zh-CN" sz="2400" i="1" dirty="0" err="1">
                <a:sym typeface="Symbol" panose="05050102010706020507" pitchFamily="18" charset="2"/>
              </a:rPr>
              <a:t>F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 err="1">
                <a:sym typeface="Symbol" panose="05050102010706020507" pitchFamily="18" charset="2"/>
              </a:rPr>
              <a:t>0</a:t>
            </a:r>
            <a:r>
              <a:rPr lang="en-US" altLang="zh-CN" sz="2400" dirty="0">
                <a:sym typeface="Symbol" panose="05050102010706020507" pitchFamily="18" charset="2"/>
              </a:rPr>
              <a:t>.</a:t>
            </a: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If (</a:t>
            </a:r>
            <a:r>
              <a:rPr lang="en-US" altLang="zh-CN" sz="2400" i="1" dirty="0" err="1"/>
              <a:t>i,j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</a:t>
            </a:r>
            <a:r>
              <a:rPr lang="en-US" altLang="zh-CN" sz="2400" i="1" dirty="0">
                <a:sym typeface="Symbol" panose="05050102010706020507" pitchFamily="18" charset="2"/>
              </a:rPr>
              <a:t> N, </a:t>
            </a:r>
            <a:r>
              <a:rPr lang="en-US" altLang="zh-CN" sz="2400" dirty="0" err="1">
                <a:sym typeface="Symbol" panose="05050102010706020507" pitchFamily="18" charset="2"/>
              </a:rPr>
              <a:t>e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i="1" dirty="0" err="1">
                <a:sym typeface="Symbol" panose="05050102010706020507" pitchFamily="18" charset="2"/>
              </a:rPr>
              <a:t>F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ji</a:t>
            </a:r>
            <a:r>
              <a:rPr lang="en-US" altLang="zh-CN" sz="2400" dirty="0">
                <a:sym typeface="Symbol" panose="05050102010706020507" pitchFamily="18" charset="2"/>
              </a:rPr>
              <a:t> if </a:t>
            </a:r>
            <a:r>
              <a:rPr lang="en-US" altLang="zh-CN" sz="2400" i="1" dirty="0" err="1">
                <a:sym typeface="Symbol" panose="05050102010706020507" pitchFamily="18" charset="2"/>
              </a:rPr>
              <a:t>F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ji</a:t>
            </a:r>
            <a:r>
              <a:rPr lang="en-US" altLang="zh-CN" sz="2400" dirty="0">
                <a:sym typeface="Symbol" panose="05050102010706020507" pitchFamily="18" charset="2"/>
              </a:rPr>
              <a:t> 0. </a:t>
            </a:r>
            <a:r>
              <a:rPr lang="zh-CN" altLang="en-US" sz="2400" dirty="0">
                <a:sym typeface="Symbol" panose="05050102010706020507" pitchFamily="18" charset="2"/>
              </a:rPr>
              <a:t>虚边标记作修正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The initial flow </a:t>
            </a:r>
            <a:r>
              <a:rPr lang="en-US" altLang="zh-CN" sz="2400" i="1" dirty="0" err="1">
                <a:sym typeface="Symbol" panose="05050102010706020507" pitchFamily="18" charset="2"/>
              </a:rPr>
              <a:t>F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 is 0.</a:t>
            </a:r>
          </a:p>
          <a:p>
            <a:pPr lvl="1" eaLnBrk="1" hangingPunct="1"/>
            <a:r>
              <a:rPr lang="en-US" altLang="zh-CN" i="1" dirty="0" err="1"/>
              <a:t>N</a:t>
            </a:r>
            <a:r>
              <a:rPr lang="en-US" altLang="zh-CN" baseline="-25000" dirty="0" err="1"/>
              <a:t>1</a:t>
            </a:r>
            <a:r>
              <a:rPr lang="en-US" altLang="zh-CN" baseline="-25000" dirty="0"/>
              <a:t>    </a:t>
            </a:r>
            <a:r>
              <a:rPr lang="en-US" altLang="zh-CN" sz="2400" i="1" dirty="0" err="1"/>
              <a:t>N</a:t>
            </a:r>
            <a:r>
              <a:rPr lang="en-US" altLang="zh-CN" sz="2400" i="1" baseline="-25000" dirty="0" err="1"/>
              <a:t>2</a:t>
            </a:r>
            <a:r>
              <a:rPr lang="en-US" altLang="zh-CN" sz="2400" dirty="0"/>
              <a:t>(j), </a:t>
            </a:r>
            <a:r>
              <a:rPr lang="en-US" altLang="zh-CN" sz="2400" u="sng" dirty="0"/>
              <a:t>smallest node and unlabeled nodes.</a:t>
            </a:r>
          </a:p>
          <a:p>
            <a:pPr lvl="1"/>
            <a:r>
              <a:rPr lang="en-US" altLang="zh-CN" dirty="0"/>
              <a:t>Path </a:t>
            </a:r>
            <a:r>
              <a:rPr lang="en-US" altLang="zh-CN" dirty="0">
                <a:sym typeface="Symbol" panose="05050102010706020507" pitchFamily="18" charset="2"/>
              </a:rPr>
              <a:t>=</a:t>
            </a:r>
            <a:r>
              <a:rPr lang="en-US" altLang="zh-CN" dirty="0"/>
              <a:t>{…},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=min(residual capacity),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ij</a:t>
            </a:r>
            <a:r>
              <a:rPr lang="en-US" altLang="zh-CN" dirty="0"/>
              <a:t> -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, and the symmetric edges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ji</a:t>
            </a:r>
            <a:r>
              <a:rPr lang="en-US" altLang="zh-CN" dirty="0"/>
              <a:t> +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n</a:t>
            </a:r>
            <a:r>
              <a:rPr lang="en-US" altLang="zh-CN" baseline="-25000" dirty="0"/>
              <a:t> </a:t>
            </a:r>
            <a:r>
              <a:rPr lang="en-US" altLang="zh-CN" dirty="0"/>
              <a:t>.</a:t>
            </a:r>
          </a:p>
          <a:p>
            <a:pPr lvl="1"/>
            <a:endParaRPr lang="en-US" altLang="zh-CN" dirty="0"/>
          </a:p>
          <a:p>
            <a:pPr lvl="1" eaLnBrk="1" hangingPunct="1"/>
            <a:endParaRPr lang="en-US" altLang="zh-CN" sz="2400" dirty="0"/>
          </a:p>
          <a:p>
            <a:pPr lvl="1" eaLnBrk="1" hangingPunct="1"/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endParaRPr lang="en-US" altLang="zh-CN" sz="2400" dirty="0"/>
          </a:p>
          <a:p>
            <a:pPr lvl="1" eaLnBrk="1" hangingPunct="1"/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17410" name="日期占位符 4">
            <a:extLst>
              <a:ext uri="{FF2B5EF4-FFF2-40B4-BE49-F238E27FC236}">
                <a16:creationId xmlns:a16="http://schemas.microsoft.com/office/drawing/2014/main" id="{E6933F3F-B91B-4CDB-B8C3-CFA56D7952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fld id="{D670B657-D50D-4E14-AB09-89F2F3D61E24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Clr>
                  <a:schemeClr val="hlink"/>
                </a:buClr>
                <a:buSzPct val="55000"/>
                <a:buFont typeface="Wingdings" panose="05000000000000000000" pitchFamily="2" charset="2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>
            <a:extLst>
              <a:ext uri="{FF2B5EF4-FFF2-40B4-BE49-F238E27FC236}">
                <a16:creationId xmlns:a16="http://schemas.microsoft.com/office/drawing/2014/main" id="{C59DD113-0836-4DA5-B695-93F34470C2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09" name="灯片编号占位符 3">
            <a:extLst>
              <a:ext uri="{FF2B5EF4-FFF2-40B4-BE49-F238E27FC236}">
                <a16:creationId xmlns:a16="http://schemas.microsoft.com/office/drawing/2014/main" id="{DD9EA761-44CD-47B1-A2D8-1E8091AC0A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BA28D0E-8E3B-4D0C-91C9-BB870B365A9A}" type="slidenum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/>
              <a:t>38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>
            <a:extLst>
              <a:ext uri="{FF2B5EF4-FFF2-40B4-BE49-F238E27FC236}">
                <a16:creationId xmlns:a16="http://schemas.microsoft.com/office/drawing/2014/main" id="{BA5C6AE5-576C-4F70-BA71-37678BC45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Capacity of a cut </a:t>
            </a:r>
            <a:r>
              <a:rPr lang="en-US" altLang="zh-CN" i="1"/>
              <a:t>K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32A40522-FA27-4CF3-A551-1011B8491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The </a:t>
            </a:r>
            <a:r>
              <a:rPr lang="en-US" altLang="zh-CN" i="1" dirty="0"/>
              <a:t>capacity</a:t>
            </a:r>
            <a:r>
              <a:rPr lang="en-US" altLang="zh-CN" dirty="0"/>
              <a:t> of a cut </a:t>
            </a:r>
            <a:r>
              <a:rPr lang="en-US" altLang="zh-CN" i="1" dirty="0"/>
              <a:t>K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i="1" dirty="0"/>
              <a:t>K</a:t>
            </a:r>
            <a:r>
              <a:rPr lang="en-US" altLang="zh-CN" dirty="0"/>
              <a:t>), is the sum of the capacities of all edges in </a:t>
            </a:r>
            <a:r>
              <a:rPr lang="en-US" altLang="zh-CN" i="1" dirty="0"/>
              <a:t>K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F</a:t>
            </a:r>
            <a:r>
              <a:rPr lang="en-US" altLang="zh-CN" dirty="0"/>
              <a:t> is any flow and </a:t>
            </a:r>
            <a:r>
              <a:rPr lang="en-US" altLang="zh-CN" i="1" dirty="0"/>
              <a:t>K</a:t>
            </a:r>
            <a:r>
              <a:rPr lang="en-US" altLang="zh-CN" dirty="0"/>
              <a:t> is any cut, then</a:t>
            </a:r>
          </a:p>
          <a:p>
            <a:pPr lvl="1" eaLnBrk="1" hangingPunct="1"/>
            <a:r>
              <a:rPr lang="en-US" altLang="zh-CN" i="1" dirty="0"/>
              <a:t>value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) </a:t>
            </a:r>
            <a:r>
              <a:rPr lang="en-US" altLang="zh-CN" dirty="0">
                <a:latin typeface="Arial" panose="020B0604020202020204" pitchFamily="34" charset="0"/>
              </a:rPr>
              <a:t>≤</a:t>
            </a:r>
            <a:r>
              <a:rPr lang="en-US" altLang="zh-CN" dirty="0">
                <a:sym typeface="Euclid Math Two" pitchFamily="18" charset="2"/>
              </a:rPr>
              <a:t> </a:t>
            </a:r>
            <a:r>
              <a:rPr lang="en-US" altLang="zh-CN" i="1" dirty="0"/>
              <a:t>c</a:t>
            </a:r>
            <a:r>
              <a:rPr lang="en-US" altLang="zh-CN" dirty="0"/>
              <a:t>(</a:t>
            </a:r>
            <a:r>
              <a:rPr lang="en-US" altLang="zh-CN" i="1" dirty="0"/>
              <a:t>K</a:t>
            </a:r>
            <a:r>
              <a:rPr lang="en-US" altLang="zh-CN" dirty="0"/>
              <a:t>).</a:t>
            </a:r>
          </a:p>
          <a:p>
            <a:pPr eaLnBrk="1" hangingPunct="1"/>
            <a:r>
              <a:rPr lang="en-US" altLang="zh-CN" dirty="0"/>
              <a:t>A maximum flow </a:t>
            </a:r>
            <a:r>
              <a:rPr lang="en-US" altLang="zh-CN" i="1" dirty="0"/>
              <a:t>F</a:t>
            </a:r>
            <a:r>
              <a:rPr lang="en-US" altLang="zh-CN" dirty="0"/>
              <a:t> in a network has value equal to the capacity of a minimum cut of the network.</a:t>
            </a:r>
            <a:endParaRPr lang="zh-CN" altLang="en-US" dirty="0"/>
          </a:p>
          <a:p>
            <a:pPr lvl="1" eaLnBrk="1" hangingPunct="1"/>
            <a:endParaRPr lang="en-US" altLang="zh-CN" dirty="0"/>
          </a:p>
        </p:txBody>
      </p:sp>
      <p:sp>
        <p:nvSpPr>
          <p:cNvPr id="54274" name="日期占位符 4">
            <a:extLst>
              <a:ext uri="{FF2B5EF4-FFF2-40B4-BE49-F238E27FC236}">
                <a16:creationId xmlns:a16="http://schemas.microsoft.com/office/drawing/2014/main" id="{EE1294D2-2A7A-40AC-A6CE-5F1F7075BF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B00C0A88-0F44-4170-85C3-2F92130FB12B}" type="datetime1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Font typeface="Wingdings" panose="05000000000000000000" pitchFamily="2" charset="2"/>
                <a:buNone/>
              </a:pPr>
              <a:t>2024/12/27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5" name="页脚占位符 5">
            <a:extLst>
              <a:ext uri="{FF2B5EF4-FFF2-40B4-BE49-F238E27FC236}">
                <a16:creationId xmlns:a16="http://schemas.microsoft.com/office/drawing/2014/main" id="{064BA148-4491-41E1-BAD1-A5E5535060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0" lang="en-US" altLang="zh-CN" sz="120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kumimoji="0" lang="zh-CN" altLang="en-US" sz="12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4273" name="灯片编号占位符 3">
            <a:extLst>
              <a:ext uri="{FF2B5EF4-FFF2-40B4-BE49-F238E27FC236}">
                <a16:creationId xmlns:a16="http://schemas.microsoft.com/office/drawing/2014/main" id="{CC633FB1-0CDE-4F65-8EF9-FF6706C31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</a:pPr>
            <a:fld id="{D0F58F10-C014-4F8A-A9C6-981E86C30895}" type="slidenum">
              <a:rPr lang="zh-CN" altLang="en-US" sz="1000" smtClean="0">
                <a:solidFill>
                  <a:srgbClr val="009999"/>
                </a:solidFill>
                <a:latin typeface="Arial Narrow" panose="020B0606020202030204" pitchFamily="34" charset="0"/>
              </a:rPr>
              <a:pPr>
                <a:buClrTx/>
                <a:buSzTx/>
              </a:pPr>
              <a:t>39</a:t>
            </a:fld>
            <a:endParaRPr lang="zh-CN" altLang="en-US" sz="100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435280" cy="4389120"/>
          </a:xfrm>
        </p:spPr>
        <p:txBody>
          <a:bodyPr>
            <a:normAutofit lnSpcReduction="10000"/>
          </a:bodyPr>
          <a:lstStyle/>
          <a:p>
            <a:r>
              <a:rPr lang="en-US" altLang="zh-CN" sz="2000" dirty="0"/>
              <a:t>Spanning Trees</a:t>
            </a:r>
          </a:p>
          <a:p>
            <a:pPr lvl="1"/>
            <a:r>
              <a:rPr lang="en-US" altLang="zh-CN" sz="2000" dirty="0"/>
              <a:t>Depth-First Search</a:t>
            </a:r>
          </a:p>
          <a:p>
            <a:pPr lvl="1"/>
            <a:r>
              <a:rPr lang="en-US" altLang="zh-CN" sz="2000" dirty="0"/>
              <a:t>Breadth-First Search</a:t>
            </a:r>
          </a:p>
          <a:p>
            <a:r>
              <a:rPr lang="en-US" altLang="zh-CN" sz="2000" dirty="0"/>
              <a:t>Minimum Spanning Trees</a:t>
            </a:r>
          </a:p>
          <a:p>
            <a:pPr lvl="1"/>
            <a:r>
              <a:rPr lang="en-US" altLang="zh-CN" sz="2000" dirty="0"/>
              <a:t>Prim’s Algorithm (</a:t>
            </a:r>
            <a:r>
              <a:rPr lang="zh-CN" altLang="en-US" sz="2000" dirty="0"/>
              <a:t>权值最小边</a:t>
            </a:r>
            <a:r>
              <a:rPr lang="en-US" altLang="zh-CN" sz="2000" dirty="0"/>
              <a:t>+</a:t>
            </a:r>
            <a:r>
              <a:rPr lang="zh-CN" altLang="en-US" sz="2000" b="1" dirty="0">
                <a:solidFill>
                  <a:srgbClr val="FF0000"/>
                </a:solidFill>
              </a:rPr>
              <a:t>邻接且有新点的剩余最小边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/>
              <a:t>Kruskal’s Algorithm(</a:t>
            </a:r>
            <a:r>
              <a:rPr lang="zh-CN" altLang="en-US" sz="2000" b="1" dirty="0">
                <a:solidFill>
                  <a:srgbClr val="FF0000"/>
                </a:solidFill>
              </a:rPr>
              <a:t>权值最小的边 且 两端点</a:t>
            </a:r>
            <a:r>
              <a:rPr lang="zh-CN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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T</a:t>
            </a:r>
            <a:r>
              <a:rPr lang="zh-CN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中同一连通集合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en-US" altLang="zh-CN" sz="2000" dirty="0"/>
          </a:p>
          <a:p>
            <a:r>
              <a:rPr lang="en-US" altLang="zh-CN" sz="2000" dirty="0"/>
              <a:t>Rooted Trees</a:t>
            </a:r>
          </a:p>
          <a:p>
            <a:pPr lvl="1"/>
            <a:r>
              <a:rPr lang="en-US" altLang="zh-CN" sz="1800" i="1" dirty="0"/>
              <a:t>Parent,</a:t>
            </a:r>
            <a:r>
              <a:rPr lang="zh-CN" altLang="en-US" sz="1800" i="1" dirty="0"/>
              <a:t> </a:t>
            </a:r>
            <a:r>
              <a:rPr lang="en-US" altLang="zh-CN" sz="1800" i="1" dirty="0"/>
              <a:t>child, siblings, ancestors</a:t>
            </a:r>
            <a:r>
              <a:rPr lang="zh-CN" altLang="en-US" sz="1800" i="1" dirty="0"/>
              <a:t>祖先</a:t>
            </a:r>
            <a:r>
              <a:rPr lang="en-US" altLang="zh-CN" sz="1800" i="1" dirty="0"/>
              <a:t>, descendants</a:t>
            </a:r>
            <a:r>
              <a:rPr lang="zh-CN" altLang="en-US" sz="1800" i="1" dirty="0"/>
              <a:t>子孙</a:t>
            </a:r>
            <a:r>
              <a:rPr lang="en-US" altLang="zh-CN" sz="1800" i="1" dirty="0"/>
              <a:t>, leaf,</a:t>
            </a:r>
            <a:r>
              <a:rPr lang="zh-CN" altLang="en-US" sz="1800" i="1" dirty="0"/>
              <a:t> </a:t>
            </a:r>
            <a:r>
              <a:rPr lang="en-US" altLang="zh-CN" sz="1800" i="1" dirty="0"/>
              <a:t>internal vertices</a:t>
            </a:r>
          </a:p>
          <a:p>
            <a:pPr lvl="1"/>
            <a:r>
              <a:rPr lang="en-US" altLang="zh-CN" sz="1800" i="1" dirty="0"/>
              <a:t>full m-</a:t>
            </a:r>
            <a:r>
              <a:rPr lang="en-US" altLang="zh-CN" sz="1800" i="1" dirty="0" err="1"/>
              <a:t>ary</a:t>
            </a:r>
            <a:r>
              <a:rPr lang="en-US" altLang="zh-CN" sz="1800" i="1" dirty="0"/>
              <a:t> tree : </a:t>
            </a:r>
            <a:r>
              <a:rPr lang="en-US" altLang="zh-CN" sz="2000" i="1" dirty="0"/>
              <a:t>n = mi </a:t>
            </a:r>
            <a:r>
              <a:rPr lang="en-US" altLang="zh-CN" sz="2000" dirty="0"/>
              <a:t> </a:t>
            </a:r>
            <a:r>
              <a:rPr lang="en-US" altLang="zh-CN" sz="2000" dirty="0">
                <a:latin typeface="Cambria Math"/>
                <a:ea typeface="Cambria Math"/>
              </a:rPr>
              <a:t>+ </a:t>
            </a:r>
            <a:r>
              <a:rPr lang="en-US" altLang="zh-CN" sz="2000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lvl="1"/>
            <a:r>
              <a:rPr lang="en-US" altLang="zh-CN" sz="1800" dirty="0"/>
              <a:t>If an </a:t>
            </a:r>
            <a:r>
              <a:rPr lang="en-US" altLang="zh-CN" sz="1800" i="1" dirty="0"/>
              <a:t>m</a:t>
            </a:r>
            <a:r>
              <a:rPr lang="en-US" altLang="zh-CN" sz="1800" dirty="0"/>
              <a:t>-</a:t>
            </a:r>
            <a:r>
              <a:rPr lang="en-US" altLang="zh-CN" sz="1800" dirty="0" err="1"/>
              <a:t>ary</a:t>
            </a:r>
            <a:r>
              <a:rPr lang="en-US" altLang="zh-CN" sz="1800" dirty="0"/>
              <a:t> tree of height </a:t>
            </a:r>
            <a:r>
              <a:rPr lang="en-US" altLang="zh-CN" sz="1800" i="1" dirty="0"/>
              <a:t>h</a:t>
            </a:r>
            <a:r>
              <a:rPr lang="en-US" altLang="zh-CN" sz="1800" dirty="0"/>
              <a:t> has </a:t>
            </a:r>
            <a:r>
              <a:rPr lang="en-US" altLang="zh-CN" sz="1800" i="1" dirty="0"/>
              <a:t>l</a:t>
            </a:r>
            <a:r>
              <a:rPr lang="en-US" altLang="zh-CN" sz="1800" dirty="0"/>
              <a:t> leaves, then  </a:t>
            </a:r>
            <a:r>
              <a:rPr lang="en-US" altLang="zh-CN" sz="1800" i="1" dirty="0"/>
              <a:t>h</a:t>
            </a:r>
            <a:r>
              <a:rPr lang="en-US" altLang="zh-CN" sz="1800" dirty="0"/>
              <a:t> ≥ </a:t>
            </a:r>
            <a:r>
              <a:rPr lang="en-US" altLang="zh-CN" sz="1800" dirty="0">
                <a:latin typeface="Cambria Math"/>
                <a:ea typeface="Cambria Math"/>
              </a:rPr>
              <a:t>⌈</a:t>
            </a:r>
            <a:r>
              <a:rPr lang="en-US" altLang="zh-CN" sz="1800" dirty="0" err="1">
                <a:ea typeface="Cambria Math"/>
              </a:rPr>
              <a:t>log</a:t>
            </a:r>
            <a:r>
              <a:rPr lang="en-US" altLang="zh-CN" sz="1800" i="1" baseline="-25000" dirty="0" err="1">
                <a:ea typeface="Cambria Math"/>
              </a:rPr>
              <a:t>m</a:t>
            </a:r>
            <a:r>
              <a:rPr lang="en-US" altLang="zh-CN" sz="1800" i="1" baseline="-25000" dirty="0">
                <a:ea typeface="Cambria Math"/>
              </a:rPr>
              <a:t> </a:t>
            </a:r>
            <a:r>
              <a:rPr lang="en-US" altLang="zh-CN" sz="1800" i="1" dirty="0">
                <a:ea typeface="Cambria Math"/>
              </a:rPr>
              <a:t>l</a:t>
            </a:r>
            <a:r>
              <a:rPr lang="en-US" altLang="zh-CN" sz="1800" dirty="0">
                <a:latin typeface="Cambria Math"/>
                <a:ea typeface="Cambria Math"/>
              </a:rPr>
              <a:t>⌉.</a:t>
            </a:r>
            <a:endParaRPr lang="en-US" altLang="zh-CN" sz="1800" dirty="0"/>
          </a:p>
          <a:p>
            <a:r>
              <a:rPr lang="en-US" altLang="zh-CN" sz="2000" dirty="0"/>
              <a:t>Properties of Trees</a:t>
            </a:r>
          </a:p>
          <a:p>
            <a:pPr lvl="1"/>
            <a:r>
              <a:rPr lang="en-US" altLang="zh-CN" sz="1800" dirty="0"/>
              <a:t>there is a unique simple path between any two of its vertices.</a:t>
            </a:r>
          </a:p>
          <a:p>
            <a:r>
              <a:rPr lang="en-US" sz="2000" dirty="0"/>
              <a:t>Tree Traversal: preorder, </a:t>
            </a:r>
            <a:r>
              <a:rPr lang="en-US" sz="2000" dirty="0" err="1"/>
              <a:t>inorder</a:t>
            </a:r>
            <a:r>
              <a:rPr lang="en-US" sz="2000" dirty="0"/>
              <a:t>, </a:t>
            </a:r>
            <a:r>
              <a:rPr lang="en-US" sz="2000" dirty="0" err="1"/>
              <a:t>postorder</a:t>
            </a:r>
            <a:r>
              <a:rPr lang="en-US" sz="2000" dirty="0"/>
              <a:t> traversal.</a:t>
            </a:r>
          </a:p>
          <a:p>
            <a:pPr>
              <a:buNone/>
            </a:pPr>
            <a:endParaRPr lang="en-US" sz="2000" dirty="0"/>
          </a:p>
          <a:p>
            <a:pPr lvl="1"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a_n = \alpha_1 r_{1}^{n}+ \alpha_2 r_{2}^{m} + \cdots + \alpha_{k}r_{k}^{n}$&#10;&#10;\end{document}"/>
  <p:tag name="IGUANATEXSIZE" val="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$ G(x) = a_0 + a_1x + \cdots + a_{k}x^k + \cdots = \sum^{\infty}_{k = 0} a_kx^k .$$&#10;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N(A) = \bigcup_{v \in A} N(v).$&#10;&#10;&#10;\end{document}"/>
  <p:tag name="IGUANATEXSIZE" val="2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ＭＳ Ｐ明朝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418</TotalTime>
  <Words>4223</Words>
  <Application>Microsoft Office PowerPoint</Application>
  <PresentationFormat>全屏显示(4:3)</PresentationFormat>
  <Paragraphs>409</Paragraphs>
  <Slides>40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0" baseType="lpstr">
      <vt:lpstr>Euclid Math Two</vt:lpstr>
      <vt:lpstr>MT-Extra</vt:lpstr>
      <vt:lpstr>华文新魏</vt:lpstr>
      <vt:lpstr>宋体</vt:lpstr>
      <vt:lpstr>Arial</vt:lpstr>
      <vt:lpstr>Arial Narrow</vt:lpstr>
      <vt:lpstr>Arial Rounded MT Bold</vt:lpstr>
      <vt:lpstr>Calibri</vt:lpstr>
      <vt:lpstr>Cambria</vt:lpstr>
      <vt:lpstr>Cambria Math</vt:lpstr>
      <vt:lpstr>Constantia</vt:lpstr>
      <vt:lpstr>Georgia</vt:lpstr>
      <vt:lpstr>Symbol</vt:lpstr>
      <vt:lpstr>Tahoma</vt:lpstr>
      <vt:lpstr>Times New Roman</vt:lpstr>
      <vt:lpstr>Wingdings</vt:lpstr>
      <vt:lpstr>Wingdings 2</vt:lpstr>
      <vt:lpstr>Flow</vt:lpstr>
      <vt:lpstr>1_Flow</vt:lpstr>
      <vt:lpstr>Equation.DSMT4</vt:lpstr>
      <vt:lpstr>Endterm Overview</vt:lpstr>
      <vt:lpstr>Ch9 Relations Summary</vt:lpstr>
      <vt:lpstr>Definition</vt:lpstr>
      <vt:lpstr>The Matrix of a Relation</vt:lpstr>
      <vt:lpstr>Closure</vt:lpstr>
      <vt:lpstr>Warshall’s Algorithm</vt:lpstr>
      <vt:lpstr>equivalence relation</vt:lpstr>
      <vt:lpstr>Partial order（偏序关系）</vt:lpstr>
      <vt:lpstr>Partial order Summary</vt:lpstr>
      <vt:lpstr>Topological Sorting Algorithm</vt:lpstr>
      <vt:lpstr>Extremal elements</vt:lpstr>
      <vt:lpstr>Lattice</vt:lpstr>
      <vt:lpstr>Abstract Algebra summary</vt:lpstr>
      <vt:lpstr>Groupoid</vt:lpstr>
      <vt:lpstr>Left/Right Cancellation 消去律</vt:lpstr>
      <vt:lpstr>Groups of order 4</vt:lpstr>
      <vt:lpstr>Group of symmetries of the triangle</vt:lpstr>
      <vt:lpstr>New Algebras from Old Ones</vt:lpstr>
      <vt:lpstr> (Zn ,  ) 整数模n加群</vt:lpstr>
      <vt:lpstr>Homomorphism – 同态</vt:lpstr>
      <vt:lpstr>Normal subgroup</vt:lpstr>
      <vt:lpstr>Fundamental Homomorphism</vt:lpstr>
      <vt:lpstr>Group coding content</vt:lpstr>
      <vt:lpstr>Encoding function</vt:lpstr>
      <vt:lpstr>Decoding Function</vt:lpstr>
      <vt:lpstr>Coset leader – 陪集头</vt:lpstr>
      <vt:lpstr>Chapter 8 Summary</vt:lpstr>
      <vt:lpstr>Generating Functions</vt:lpstr>
      <vt:lpstr>Graph Summary</vt:lpstr>
      <vt:lpstr>Basic graph Terminology</vt:lpstr>
      <vt:lpstr>Special Graphs</vt:lpstr>
      <vt:lpstr>Representing Graphs and Graph Isomorphism Summary</vt:lpstr>
      <vt:lpstr>Circuits Summary</vt:lpstr>
      <vt:lpstr>shortest path Problem</vt:lpstr>
      <vt:lpstr>Planar Graphs 平面图</vt:lpstr>
      <vt:lpstr>Graph Coloring</vt:lpstr>
      <vt:lpstr>Theorem 2</vt:lpstr>
      <vt:lpstr>Maximum  Flow Algorithm</vt:lpstr>
      <vt:lpstr>Capacity of a cut K</vt:lpstr>
      <vt:lpstr>Trees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snail smile</cp:lastModifiedBy>
  <cp:revision>424</cp:revision>
  <dcterms:created xsi:type="dcterms:W3CDTF">2016-09-20T02:07:58Z</dcterms:created>
  <dcterms:modified xsi:type="dcterms:W3CDTF">2024-12-27T02:56:57Z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