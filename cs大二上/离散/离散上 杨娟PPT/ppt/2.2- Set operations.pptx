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8"/>
  </p:notesMasterIdLst>
  <p:handoutMasterIdLst>
    <p:handoutMasterId r:id="rId45"/>
  </p:handoutMasterIdLst>
  <p:sldIdLst>
    <p:sldId id="546" r:id="rId4"/>
    <p:sldId id="547" r:id="rId5"/>
    <p:sldId id="548" r:id="rId6"/>
    <p:sldId id="549" r:id="rId7"/>
    <p:sldId id="650" r:id="rId9"/>
    <p:sldId id="651" r:id="rId10"/>
    <p:sldId id="652" r:id="rId11"/>
    <p:sldId id="550" r:id="rId12"/>
    <p:sldId id="552" r:id="rId13"/>
    <p:sldId id="553" r:id="rId14"/>
    <p:sldId id="609" r:id="rId15"/>
    <p:sldId id="610" r:id="rId16"/>
    <p:sldId id="611" r:id="rId17"/>
    <p:sldId id="551" r:id="rId18"/>
    <p:sldId id="568" r:id="rId19"/>
    <p:sldId id="569" r:id="rId20"/>
    <p:sldId id="570" r:id="rId21"/>
    <p:sldId id="685" r:id="rId22"/>
    <p:sldId id="636" r:id="rId23"/>
    <p:sldId id="637" r:id="rId24"/>
    <p:sldId id="648" r:id="rId25"/>
    <p:sldId id="638" r:id="rId26"/>
    <p:sldId id="639" r:id="rId27"/>
    <p:sldId id="640" r:id="rId28"/>
    <p:sldId id="642" r:id="rId29"/>
    <p:sldId id="643" r:id="rId30"/>
    <p:sldId id="644" r:id="rId31"/>
    <p:sldId id="612" r:id="rId32"/>
    <p:sldId id="564" r:id="rId33"/>
    <p:sldId id="691" r:id="rId34"/>
    <p:sldId id="645" r:id="rId35"/>
    <p:sldId id="646" r:id="rId36"/>
    <p:sldId id="635" r:id="rId37"/>
    <p:sldId id="653" r:id="rId38"/>
    <p:sldId id="657" r:id="rId39"/>
    <p:sldId id="654" r:id="rId40"/>
    <p:sldId id="655" r:id="rId41"/>
    <p:sldId id="656" r:id="rId42"/>
    <p:sldId id="641" r:id="rId43"/>
    <p:sldId id="649" r:id="rId44"/>
  </p:sldIdLst>
  <p:sldSz cx="9144000" cy="6858000" type="screen4x3"/>
  <p:notesSz cx="6858000" cy="9144000"/>
  <p:custDataLst>
    <p:tags r:id="rId49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33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3236"/>
  </p:normalViewPr>
  <p:slideViewPr>
    <p:cSldViewPr showGuides="1">
      <p:cViewPr varScale="1">
        <p:scale>
          <a:sx n="79" d="100"/>
          <a:sy n="79" d="100"/>
        </p:scale>
        <p:origin x="1140" y="27"/>
      </p:cViewPr>
      <p:guideLst>
        <p:guide orient="horz" pos="1440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78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18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CBD990-B8B9-46B5-A40D-9190970F4DA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2A5355-BC45-48FC-AFBE-A4695018085B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2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  <p:sp>
        <p:nvSpPr>
          <p:cNvPr id="24578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A membership table is like a truth table.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  <p:sp>
        <p:nvSpPr>
          <p:cNvPr id="39938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So, for example, on a 64-bit processor, using just a single machine-language instruction you can calculate the union or intersection of two sets out of a universe of discourse having up to 64 elements.  This leads to an extremely fast way of doing complicated calculations on small sets.  It is not a good method for large, sparsely populated sets, because searching the bit string to find which bits are </a:t>
            </a:r>
            <a:r>
              <a:rPr lang="en-US" altLang="zh-CN" dirty="0">
                <a:latin typeface="Times New Roman" panose="02020503050405090304" pitchFamily="18" charset="0"/>
              </a:rPr>
              <a:t>“</a:t>
            </a:r>
            <a:r>
              <a:rPr lang="en-US" altLang="zh-CN" dirty="0"/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”</a:t>
            </a:r>
            <a:r>
              <a:rPr lang="en-US" altLang="zh-CN" dirty="0"/>
              <a:t> can take a long time.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71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447925" y="4581525"/>
            <a:ext cx="575627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867D0-EA5E-4F3C-B5B7-6C28327887D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School of Computer Science, BUPT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58AA9-554E-4F13-BE7B-6BCD93CD06F8}" type="slidenum">
              <a:rPr kumimoji="0" lang="zh-CN" altLang="en-US" sz="1400" b="0" i="0" u="sng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sng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447925" y="4581525"/>
            <a:ext cx="575627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7867D0-EA5E-4F3C-B5B7-6C28327887D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School of Computer Science, BUPT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58AA9-554E-4F13-BE7B-6BCD93CD06F8}" type="slidenum">
              <a:rPr kumimoji="0" lang="zh-CN" altLang="en-US" sz="1400" b="0" i="0" u="sng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sng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 noProof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969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969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10191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10191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9461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889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7952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50938" y="11588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68363" y="1414463"/>
            <a:ext cx="8086725" cy="4718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 noProof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E55396-2A82-4CA5-902B-EFF78B5BCD93}" type="slidenum">
              <a:rPr kumimoji="0" lang="zh-CN" altLang="en-US" sz="1000" b="1" i="1" u="sng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969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969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10191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10191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9461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889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7952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50938" y="11588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68363" y="1414463"/>
            <a:ext cx="8086725" cy="4718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image" Target="../media/image16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8.bin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5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922338" y="1857375"/>
            <a:ext cx="8078787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  <a:t>Set Operations</a:t>
            </a:r>
            <a:br>
              <a:rPr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</a:br>
            <a:r>
              <a:rPr lang="zh-CN" altLang="en-US" sz="4000" dirty="0">
                <a:latin typeface="Copperplate Gothic Bold" panose="020E0705020206020404" pitchFamily="34" charset="0"/>
                <a:ea typeface="+mj-ea"/>
                <a:cs typeface="+mj-cs"/>
              </a:rPr>
              <a:t>（集合的运算）</a:t>
            </a:r>
            <a:endParaRPr lang="zh-CN" altLang="en-US" sz="4000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lang="en-US" altLang="en-US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Set Operations</a:t>
            </a:r>
            <a:endParaRPr lang="en-US" altLang="zh-CN" dirty="0"/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Propositional calculus </a:t>
            </a:r>
            <a:r>
              <a:rPr lang="zh-CN" altLang="en-US" sz="2800" dirty="0">
                <a:latin typeface="Times New Roman" panose="02020503050405090304" pitchFamily="18" charset="0"/>
              </a:rPr>
              <a:t>（命题演算）</a:t>
            </a:r>
            <a:r>
              <a:rPr lang="en-US" altLang="zh-CN" sz="2800" dirty="0">
                <a:latin typeface="Times New Roman" panose="02020503050405090304" pitchFamily="18" charset="0"/>
              </a:rPr>
              <a:t>and set theory</a:t>
            </a:r>
            <a:r>
              <a:rPr lang="zh-CN" altLang="en-US" sz="2800" dirty="0">
                <a:latin typeface="Times New Roman" panose="02020503050405090304" pitchFamily="18" charset="0"/>
              </a:rPr>
              <a:t>（集合论）</a:t>
            </a:r>
            <a:r>
              <a:rPr lang="en-US" altLang="zh-CN" sz="2800" dirty="0">
                <a:latin typeface="Times New Roman" panose="02020503050405090304" pitchFamily="18" charset="0"/>
              </a:rPr>
              <a:t> are both instances of an algebraic</a:t>
            </a:r>
            <a:r>
              <a:rPr lang="zh-CN" altLang="en-US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</a:rPr>
              <a:t>system </a:t>
            </a:r>
            <a:r>
              <a:rPr lang="zh-CN" altLang="en-US" sz="2800" dirty="0">
                <a:latin typeface="Times New Roman" panose="02020503050405090304" pitchFamily="18" charset="0"/>
              </a:rPr>
              <a:t>（代数系统）</a:t>
            </a:r>
            <a:r>
              <a:rPr lang="en-US" altLang="zh-CN" sz="2800" dirty="0">
                <a:latin typeface="Times New Roman" panose="02020503050405090304" pitchFamily="18" charset="0"/>
              </a:rPr>
              <a:t>called a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			Boolean Algebra</a:t>
            </a:r>
            <a:r>
              <a:rPr lang="zh-CN" altLang="en-US" sz="2800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（布尔代数）</a:t>
            </a:r>
            <a:endParaRPr lang="zh-CN" altLang="en-US" sz="2800" dirty="0">
              <a:solidFill>
                <a:schemeClr val="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operators in set theory are defined in terms of the corresponding operator in propositional calculus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As always there must be a universe U. All sets are assumed to be subsets of U</a:t>
            </a:r>
            <a:endParaRPr lang="en-US" altLang="zh-CN" sz="24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Equal</a:t>
            </a:r>
            <a:r>
              <a:rPr lang="zh-CN" altLang="en-US" i="1" dirty="0"/>
              <a:t>（相等）</a:t>
            </a:r>
            <a:endParaRPr lang="zh-CN" altLang="en-US" dirty="0"/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b="1" dirty="0">
                <a:latin typeface="Times New Roman" panose="02020503050405090304" pitchFamily="18" charset="0"/>
              </a:rPr>
              <a:t>Definition: </a:t>
            </a:r>
            <a:r>
              <a:rPr lang="en-US" altLang="zh-CN" sz="2800" dirty="0">
                <a:latin typeface="Times New Roman" panose="02020503050405090304" pitchFamily="18" charset="0"/>
              </a:rPr>
              <a:t>Two sets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and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 are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equal</a:t>
            </a:r>
            <a:r>
              <a:rPr lang="en-US" altLang="zh-CN" sz="2800" dirty="0">
                <a:latin typeface="Times New Roman" panose="02020503050405090304" pitchFamily="18" charset="0"/>
              </a:rPr>
              <a:t>, denoted </a:t>
            </a:r>
            <a:r>
              <a:rPr lang="en-US" altLang="zh-CN" sz="2800" i="1" dirty="0">
                <a:latin typeface="Times New Roman" panose="02020503050405090304" pitchFamily="18" charset="0"/>
              </a:rPr>
              <a:t>A </a:t>
            </a:r>
            <a:r>
              <a:rPr lang="en-US" altLang="zh-CN" sz="2800" dirty="0">
                <a:latin typeface="Times New Roman" panose="02020503050405090304" pitchFamily="18" charset="0"/>
              </a:rPr>
              <a:t>=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iff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2800" dirty="0">
                <a:latin typeface="Symbol" panose="05050102010706020507" pitchFamily="18" charset="2"/>
              </a:rPr>
              <a:t>		"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[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« 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].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Note: By a previous logical equivalence we have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=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 iff </a:t>
            </a:r>
            <a:r>
              <a:rPr lang="en-US" altLang="zh-CN" sz="2800" dirty="0">
                <a:latin typeface="Symbol" panose="05050102010706020507" pitchFamily="18" charset="2"/>
              </a:rPr>
              <a:t>"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[(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 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Ù 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® </a:t>
            </a:r>
            <a:r>
              <a:rPr lang="en-US" altLang="zh-CN" sz="2800" i="1" dirty="0">
                <a:latin typeface="Times New Roman" panose="02020503050405090304" pitchFamily="18" charset="0"/>
              </a:rPr>
              <a:t>x 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)]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or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=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 iff </a:t>
            </a:r>
            <a:r>
              <a:rPr lang="en-US" altLang="zh-CN" sz="2800" i="1" dirty="0">
                <a:latin typeface="Times New Roman" panose="02020503050405090304" pitchFamily="18" charset="0"/>
              </a:rPr>
              <a:t>A </a:t>
            </a:r>
            <a:r>
              <a:rPr lang="en-US" altLang="zh-CN" sz="2800" dirty="0">
                <a:latin typeface="Symbol" panose="05050102010706020507" pitchFamily="18" charset="2"/>
              </a:rPr>
              <a:t>Í </a:t>
            </a:r>
            <a:r>
              <a:rPr lang="en-US" altLang="zh-CN" sz="2800" i="1" dirty="0">
                <a:latin typeface="Times New Roman" panose="02020503050405090304" pitchFamily="18" charset="0"/>
              </a:rPr>
              <a:t>B </a:t>
            </a:r>
            <a:r>
              <a:rPr lang="en-US" altLang="zh-CN" sz="2800" dirty="0">
                <a:latin typeface="Times New Roman" panose="02020503050405090304" pitchFamily="18" charset="0"/>
              </a:rPr>
              <a:t>and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Í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Definitions</a:t>
            </a:r>
            <a:endParaRPr lang="en-US" altLang="zh-CN" dirty="0"/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</a:t>
            </a:r>
            <a:r>
              <a:rPr lang="en-US" altLang="zh-CN" sz="2800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union</a:t>
            </a:r>
            <a:r>
              <a:rPr lang="zh-CN" altLang="en-US" sz="2800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（并集）</a:t>
            </a:r>
            <a:r>
              <a:rPr lang="zh-CN" altLang="en-US" sz="2800" i="1" dirty="0">
                <a:latin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</a:rPr>
              <a:t>of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and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denoted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È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is the set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{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 | 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</a:t>
            </a:r>
            <a:r>
              <a:rPr lang="en-US" altLang="zh-CN" sz="2800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intersection</a:t>
            </a:r>
            <a:r>
              <a:rPr lang="en-US" altLang="zh-CN" sz="2800" i="1" dirty="0">
                <a:latin typeface="Times New Roman" panose="02020503050405090304" pitchFamily="18" charset="0"/>
              </a:rPr>
              <a:t> </a:t>
            </a:r>
            <a:r>
              <a:rPr lang="zh-CN" altLang="en-US" sz="2800" i="1" dirty="0">
                <a:latin typeface="Times New Roman" panose="02020503050405090304" pitchFamily="18" charset="0"/>
              </a:rPr>
              <a:t>（交集）</a:t>
            </a:r>
            <a:r>
              <a:rPr lang="en-US" altLang="zh-CN" sz="2800" dirty="0">
                <a:latin typeface="Times New Roman" panose="02020503050405090304" pitchFamily="18" charset="0"/>
              </a:rPr>
              <a:t>of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and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denoted   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Ç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is the set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{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 | 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Note: If the intersection is void, 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 and</a:t>
            </a:r>
            <a:r>
              <a:rPr lang="en-US" altLang="zh-CN" sz="2400" i="1" dirty="0">
                <a:latin typeface="Times New Roman" panose="02020503050405090304" pitchFamily="18" charset="0"/>
              </a:rPr>
              <a:t> B</a:t>
            </a:r>
            <a:r>
              <a:rPr lang="en-US" altLang="zh-CN" sz="2400" dirty="0">
                <a:latin typeface="Times New Roman" panose="02020503050405090304" pitchFamily="18" charset="0"/>
              </a:rPr>
              <a:t> are said to be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disjoint</a:t>
            </a:r>
            <a:r>
              <a:rPr lang="zh-CN" altLang="en-US" sz="2400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（不相交）</a:t>
            </a:r>
            <a:r>
              <a:rPr lang="en-US" altLang="zh-CN" sz="2400" i="1" dirty="0">
                <a:latin typeface="Times New Roman" panose="02020503050405090304" pitchFamily="18" charset="0"/>
              </a:rPr>
              <a:t>.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</a:t>
            </a:r>
            <a:r>
              <a:rPr lang="en-US" altLang="zh-CN" sz="2800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complement</a:t>
            </a:r>
            <a:r>
              <a:rPr lang="en-US" altLang="zh-CN" sz="2800" i="1" dirty="0">
                <a:latin typeface="Times New Roman" panose="02020503050405090304" pitchFamily="18" charset="0"/>
              </a:rPr>
              <a:t> </a:t>
            </a:r>
            <a:r>
              <a:rPr lang="zh-CN" altLang="en-US" sz="2800" i="1" dirty="0">
                <a:solidFill>
                  <a:srgbClr val="FF3300"/>
                </a:solidFill>
                <a:latin typeface="Times New Roman" panose="02020503050405090304" pitchFamily="18" charset="0"/>
              </a:rPr>
              <a:t>（补集）</a:t>
            </a:r>
            <a:r>
              <a:rPr lang="en-US" altLang="zh-CN" sz="2800" dirty="0">
                <a:latin typeface="Times New Roman" panose="02020503050405090304" pitchFamily="18" charset="0"/>
              </a:rPr>
              <a:t>of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 denoted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 is the set 		{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 |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)}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Note: Alternative notation is 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</a:rPr>
              <a:t>, and {</a:t>
            </a:r>
            <a:r>
              <a:rPr lang="en-US" altLang="zh-CN" sz="2400" i="1" dirty="0">
                <a:latin typeface="Times New Roman" panose="02020503050405090304" pitchFamily="18" charset="0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</a:rPr>
              <a:t>|</a:t>
            </a:r>
            <a:r>
              <a:rPr lang="en-US" altLang="zh-CN" sz="2400" i="1" dirty="0">
                <a:latin typeface="Times New Roman" panose="02020503050405090304" pitchFamily="18" charset="0"/>
              </a:rPr>
              <a:t>x</a:t>
            </a:r>
            <a:r>
              <a:rPr lang="en-US" altLang="zh-CN" sz="2400" dirty="0">
                <a:latin typeface="Symbol" panose="05050102010706020507" pitchFamily="18" charset="2"/>
              </a:rPr>
              <a:t>Ï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}.</a:t>
            </a:r>
            <a:endParaRPr lang="en-US" altLang="zh-CN" sz="2400" dirty="0">
              <a:latin typeface="Times New Roman" panose="02020503050405090304" pitchFamily="18" charset="0"/>
            </a:endParaRPr>
          </a:p>
        </p:txBody>
      </p:sp>
      <p:sp>
        <p:nvSpPr>
          <p:cNvPr id="8198" name="Line 4"/>
          <p:cNvSpPr/>
          <p:nvPr/>
        </p:nvSpPr>
        <p:spPr>
          <a:xfrm>
            <a:off x="7235825" y="4797425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The Addition principle             </a:t>
            </a:r>
            <a:r>
              <a:rPr lang="zh-CN" altLang="en-US" sz="4000" dirty="0"/>
              <a:t>（加法原理）</a:t>
            </a:r>
            <a:endParaRPr lang="zh-CN" altLang="en-US" sz="4000" dirty="0"/>
          </a:p>
        </p:txBody>
      </p:sp>
      <p:sp>
        <p:nvSpPr>
          <p:cNvPr id="10245" name="Rectangle 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Theorem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If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 are finite sets, then                |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|=</a:t>
            </a:r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A|+|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|-</a:t>
            </a:r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It also called the inclusion-exclusion principle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（容斥原理）</a:t>
            </a:r>
            <a:endParaRPr lang="zh-CN" altLang="en-US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={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d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} and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={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f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h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k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m</a:t>
            </a:r>
            <a:r>
              <a:rPr lang="en-US" altLang="zh-CN" dirty="0">
                <a:latin typeface="Times New Roman" panose="02020503050405090304" pitchFamily="18" charset="0"/>
              </a:rPr>
              <a:t>}. Verify 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inclusion-exclusion principle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Solution: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={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d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f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h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k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m</a:t>
            </a:r>
            <a:r>
              <a:rPr lang="en-US" altLang="zh-CN" dirty="0">
                <a:latin typeface="Times New Roman" panose="02020503050405090304" pitchFamily="18" charset="0"/>
              </a:rPr>
              <a:t>} and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={ 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}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|= 5, |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|= 6, |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|= 9 and |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|= 2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|+|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|-|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|= 9=|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|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Q.E.D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 Addition principle for Disjoint Sets</a:t>
            </a:r>
            <a:endParaRPr lang="zh-CN" altLang="en-US" dirty="0"/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|=</a:t>
            </a:r>
            <a:r>
              <a:rPr lang="en-US" altLang="zh-CN" dirty="0">
                <a:latin typeface="Times New Roman" panose="02020503050405090304" pitchFamily="18" charset="0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</a:rPr>
              <a:t>A|+|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endParaRPr lang="en-US" altLang="zh-CN" sz="3600" dirty="0"/>
          </a:p>
          <a:p>
            <a:pPr lvl="1" eaLnBrk="1" hangingPunct="1"/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Definitions</a:t>
            </a:r>
            <a:endParaRPr lang="en-US" altLang="zh-CN" dirty="0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>
          <a:xfrm>
            <a:off x="856933" y="1340168"/>
            <a:ext cx="8086725" cy="47180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The </a:t>
            </a:r>
            <a:r>
              <a:rPr lang="en-US" altLang="zh-CN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difference</a:t>
            </a:r>
            <a:r>
              <a:rPr lang="zh-CN" altLang="en-US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（差）</a:t>
            </a:r>
            <a:r>
              <a:rPr lang="zh-CN" altLang="en-US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of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or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complement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of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relative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to</a:t>
            </a:r>
            <a:r>
              <a:rPr lang="en-US" altLang="zh-CN" i="1" dirty="0">
                <a:latin typeface="Times New Roman" panose="02020503050405090304" pitchFamily="18" charset="0"/>
              </a:rPr>
              <a:t> A</a:t>
            </a:r>
            <a:r>
              <a:rPr lang="en-US" altLang="zh-CN" dirty="0">
                <a:latin typeface="Times New Roman" panose="02020503050405090304" pitchFamily="18" charset="0"/>
              </a:rPr>
              <a:t>(, denoted A - B, is the set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i="1" dirty="0">
                <a:latin typeface="Times New Roman" panose="02020503050405090304" pitchFamily="18" charset="0"/>
              </a:rPr>
              <a:t>		A </a:t>
            </a:r>
            <a:r>
              <a:rPr lang="en-US" altLang="zh-CN" dirty="0">
                <a:latin typeface="Symbol" panose="05050102010706020507" pitchFamily="18" charset="2"/>
              </a:rPr>
              <a:t>Ç </a:t>
            </a:r>
            <a:r>
              <a:rPr lang="en-US" altLang="zh-CN" i="1" dirty="0">
                <a:latin typeface="Times New Roman" panose="02020503050405090304" pitchFamily="18" charset="0"/>
              </a:rPr>
              <a:t>B </a:t>
            </a:r>
            <a:endParaRPr lang="en-US" altLang="zh-CN" i="1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Note: The (absolute) complement of A is U - A.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The </a:t>
            </a:r>
            <a:r>
              <a:rPr lang="en-US" altLang="zh-CN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symmetric difference</a:t>
            </a:r>
            <a:r>
              <a:rPr lang="zh-CN" altLang="en-US" b="1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（对称差）</a:t>
            </a:r>
            <a:r>
              <a:rPr lang="zh-CN" altLang="en-US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of A and B, denoted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Symbol" panose="05050102010706020507" pitchFamily="18" charset="2"/>
              </a:rPr>
              <a:t>Å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is the set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	(</a:t>
            </a:r>
            <a:r>
              <a:rPr lang="en-US" altLang="zh-CN" i="1" dirty="0">
                <a:latin typeface="Times New Roman" panose="02020503050405090304" pitchFamily="18" charset="0"/>
              </a:rPr>
              <a:t>A </a:t>
            </a:r>
            <a:r>
              <a:rPr lang="en-US" altLang="zh-CN" dirty="0">
                <a:latin typeface="Symbol" panose="05050102010706020507" pitchFamily="18" charset="2"/>
              </a:rPr>
              <a:t>-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È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B </a:t>
            </a:r>
            <a:r>
              <a:rPr lang="en-US" altLang="zh-CN" dirty="0">
                <a:latin typeface="Symbol" panose="05050102010706020507" pitchFamily="18" charset="2"/>
              </a:rPr>
              <a:t>-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/>
          </a:p>
        </p:txBody>
      </p:sp>
      <p:sp>
        <p:nvSpPr>
          <p:cNvPr id="2" name="Line 4"/>
          <p:cNvSpPr/>
          <p:nvPr/>
        </p:nvSpPr>
        <p:spPr>
          <a:xfrm>
            <a:off x="2608580" y="278765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Venn Diagrams</a:t>
            </a:r>
            <a:endParaRPr lang="en-US" altLang="zh-CN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A useful geometric visualization tool (for 3 or less sets)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The Universe U is the rectangular box</a:t>
            </a:r>
            <a:endParaRPr lang="zh-CN" altLang="en-US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Each set is represented by a circle and its interior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All possible combinations of the sets must be represented</a:t>
            </a:r>
            <a:endParaRPr lang="en-US" altLang="zh-CN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Venn Diagrams</a:t>
            </a:r>
            <a:endParaRPr lang="en-US" altLang="zh-CN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dirty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dirty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dirty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Shade the appropriate region to represent the given set operation.</a:t>
            </a:r>
            <a:endParaRPr lang="en-US" altLang="zh-CN" dirty="0"/>
          </a:p>
        </p:txBody>
      </p:sp>
      <p:grpSp>
        <p:nvGrpSpPr>
          <p:cNvPr id="15366" name="Group 11"/>
          <p:cNvGrpSpPr/>
          <p:nvPr/>
        </p:nvGrpSpPr>
        <p:grpSpPr>
          <a:xfrm>
            <a:off x="1066800" y="1716088"/>
            <a:ext cx="3733800" cy="2286000"/>
            <a:chOff x="672" y="1488"/>
            <a:chExt cx="2352" cy="1440"/>
          </a:xfrm>
        </p:grpSpPr>
        <p:sp>
          <p:nvSpPr>
            <p:cNvPr id="15367" name="Rectangle 4"/>
            <p:cNvSpPr/>
            <p:nvPr/>
          </p:nvSpPr>
          <p:spPr>
            <a:xfrm>
              <a:off x="672" y="1488"/>
              <a:ext cx="2352" cy="1440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68" name="Oval 5"/>
            <p:cNvSpPr/>
            <p:nvPr/>
          </p:nvSpPr>
          <p:spPr>
            <a:xfrm>
              <a:off x="1200" y="1920"/>
              <a:ext cx="672" cy="624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69" name="Oval 6"/>
            <p:cNvSpPr/>
            <p:nvPr/>
          </p:nvSpPr>
          <p:spPr>
            <a:xfrm>
              <a:off x="1680" y="1920"/>
              <a:ext cx="720" cy="624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</p:grpSp>
      <p:sp>
        <p:nvSpPr>
          <p:cNvPr id="15370" name="Rectangle 7"/>
          <p:cNvSpPr/>
          <p:nvPr/>
        </p:nvSpPr>
        <p:spPr>
          <a:xfrm>
            <a:off x="5029200" y="1716088"/>
            <a:ext cx="3505200" cy="2286000"/>
          </a:xfrm>
          <a:prstGeom prst="rect">
            <a:avLst/>
          </a:prstGeom>
          <a:solidFill>
            <a:srgbClr val="C0C0C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15371" name="Oval 8"/>
          <p:cNvSpPr/>
          <p:nvPr/>
        </p:nvSpPr>
        <p:spPr>
          <a:xfrm>
            <a:off x="5867400" y="2173288"/>
            <a:ext cx="1066800" cy="990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15372" name="Oval 9"/>
          <p:cNvSpPr/>
          <p:nvPr/>
        </p:nvSpPr>
        <p:spPr>
          <a:xfrm>
            <a:off x="6629400" y="2020888"/>
            <a:ext cx="1143000" cy="9906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15373" name="Oval 10"/>
          <p:cNvSpPr/>
          <p:nvPr/>
        </p:nvSpPr>
        <p:spPr>
          <a:xfrm>
            <a:off x="6400800" y="2706688"/>
            <a:ext cx="1143000" cy="990600"/>
          </a:xfrm>
          <a:prstGeom prst="ellipse">
            <a:avLst/>
          </a:prstGeom>
          <a:solidFill>
            <a:schemeClr val="hlink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10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Venn Diagrams</a:t>
            </a:r>
            <a:endParaRPr lang="zh-CN" altLang="en-US" b="1" dirty="0"/>
          </a:p>
        </p:txBody>
      </p:sp>
      <p:pic>
        <p:nvPicPr>
          <p:cNvPr id="16389" name="Picture 99"/>
          <p:cNvPicPr>
            <a:picLocks noGrp="1" noChangeAspect="1"/>
          </p:cNvPicPr>
          <p:nvPr>
            <p:ph sz="half" idx="1"/>
          </p:nvPr>
        </p:nvPicPr>
        <p:blipFill>
          <a:blip r:embed="rId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1050" y="1852613"/>
            <a:ext cx="4897438" cy="2020887"/>
          </a:xfrm>
        </p:spPr>
      </p:pic>
      <p:pic>
        <p:nvPicPr>
          <p:cNvPr id="16390" name="Picture 101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5650" y="4135438"/>
            <a:ext cx="8388350" cy="2241550"/>
          </a:xfr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1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pic>
        <p:nvPicPr>
          <p:cNvPr id="17413" name="Picture 16"/>
          <p:cNvPicPr>
            <a:picLocks noGrp="1" noChangeAspect="1"/>
          </p:cNvPicPr>
          <p:nvPr>
            <p:ph sz="half" idx="1"/>
          </p:nvPr>
        </p:nvPicPr>
        <p:blipFill>
          <a:blip r:embed="rId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3350" y="1997075"/>
            <a:ext cx="7056438" cy="2230438"/>
          </a:xfrm>
        </p:spPr>
      </p:pic>
      <p:sp>
        <p:nvSpPr>
          <p:cNvPr id="17414" name="Rectangle 14"/>
          <p:cNvSpPr/>
          <p:nvPr/>
        </p:nvSpPr>
        <p:spPr>
          <a:xfrm>
            <a:off x="2286000" y="2927350"/>
            <a:ext cx="4572000" cy="1004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  <a:p>
            <a:pPr algn="ctr" eaLnBrk="0" hangingPunct="0">
              <a:spcBef>
                <a:spcPct val="50000"/>
              </a:spcBef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17415" name="Rectangle 15"/>
          <p:cNvSpPr/>
          <p:nvPr/>
        </p:nvSpPr>
        <p:spPr>
          <a:xfrm>
            <a:off x="2286000" y="2927350"/>
            <a:ext cx="4572000" cy="1004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  <a:p>
            <a:pPr algn="ctr" eaLnBrk="0" hangingPunct="0">
              <a:spcBef>
                <a:spcPct val="50000"/>
              </a:spcBef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pic>
        <p:nvPicPr>
          <p:cNvPr id="17416" name="Picture 18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3350" y="4365625"/>
            <a:ext cx="7056438" cy="2020888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pic>
        <p:nvPicPr>
          <p:cNvPr id="18437" name="Picture 3"/>
          <p:cNvPicPr>
            <a:picLocks noGrp="1"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971550" y="1916113"/>
            <a:ext cx="3708400" cy="1963737"/>
          </a:xfrm>
        </p:spPr>
      </p:pic>
      <p:pic>
        <p:nvPicPr>
          <p:cNvPr id="18438" name="Picture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6013" y="3860800"/>
            <a:ext cx="5867400" cy="2752725"/>
          </a:xfrm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Examples</a:t>
            </a:r>
            <a:endParaRPr lang="en-US" altLang="zh-CN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>
          <a:xfrm>
            <a:off x="856933" y="1340168"/>
            <a:ext cx="8086725" cy="47180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U = {0, 1, 2, 3, 4, 5, 6, 7, 8, 9, 10}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A= {1, 2, 3, 4, 5}, B = {4, 5, 6, 7, 8}. Then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Symbol" panose="05050102010706020507" pitchFamily="18" charset="2"/>
              </a:rPr>
              <a:t>È</a:t>
            </a:r>
            <a:r>
              <a:rPr lang="en-US" altLang="zh-CN" sz="2400" i="1" dirty="0">
                <a:latin typeface="Times New Roman" panose="02020503050405090304" pitchFamily="18" charset="0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</a:rPr>
              <a:t>= {1, 2, 3, 4, 5, 6, 7, 8}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Symbol" panose="05050102010706020507" pitchFamily="18" charset="2"/>
              </a:rPr>
              <a:t>Ç</a:t>
            </a:r>
            <a:r>
              <a:rPr lang="en-US" altLang="zh-CN" sz="2400" i="1" dirty="0">
                <a:latin typeface="Times New Roman" panose="02020503050405090304" pitchFamily="18" charset="0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</a:rPr>
              <a:t>= {4, 5}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A </a:t>
            </a:r>
            <a:r>
              <a:rPr lang="en-US" altLang="zh-CN" sz="2400" dirty="0">
                <a:latin typeface="Times New Roman" panose="02020503050405090304" pitchFamily="18" charset="0"/>
              </a:rPr>
              <a:t>= {0, 6, 7, 8, 9, 10}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</a:rPr>
              <a:t>= {0, 1, 2, 3, 9, 10}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A </a:t>
            </a:r>
            <a:r>
              <a:rPr lang="en-US" altLang="zh-CN" sz="2400" dirty="0">
                <a:latin typeface="Times New Roman" panose="02020503050405090304" pitchFamily="18" charset="0"/>
              </a:rPr>
              <a:t>- </a:t>
            </a:r>
            <a:r>
              <a:rPr lang="en-US" altLang="zh-CN" sz="2400" i="1" dirty="0">
                <a:latin typeface="Times New Roman" panose="02020503050405090304" pitchFamily="18" charset="0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</a:rPr>
              <a:t>= {1, 2, 3}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B - A </a:t>
            </a:r>
            <a:r>
              <a:rPr lang="en-US" altLang="zh-CN" sz="2400" dirty="0">
                <a:latin typeface="Times New Roman" panose="02020503050405090304" pitchFamily="18" charset="0"/>
              </a:rPr>
              <a:t>= {6, 7, 8}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Symbol" panose="05050102010706020507" pitchFamily="18" charset="2"/>
              </a:rPr>
              <a:t>Å</a:t>
            </a:r>
            <a:r>
              <a:rPr lang="en-US" altLang="zh-CN" sz="2400" i="1" dirty="0">
                <a:latin typeface="Times New Roman" panose="02020503050405090304" pitchFamily="18" charset="0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</a:rPr>
              <a:t>= {1, 2, 3, 6, 7, 8}</a:t>
            </a:r>
            <a:endParaRPr lang="en-US" altLang="zh-CN" sz="2400" dirty="0"/>
          </a:p>
        </p:txBody>
      </p:sp>
      <p:sp>
        <p:nvSpPr>
          <p:cNvPr id="2" name="Line 4"/>
          <p:cNvSpPr/>
          <p:nvPr/>
        </p:nvSpPr>
        <p:spPr>
          <a:xfrm>
            <a:off x="1694180" y="3679825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" name="Line 5"/>
          <p:cNvSpPr/>
          <p:nvPr/>
        </p:nvSpPr>
        <p:spPr>
          <a:xfrm>
            <a:off x="1694180" y="327152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Algebraic Properties of Set Operations</a:t>
            </a:r>
            <a:r>
              <a:rPr lang="zh-CN" altLang="en-US" sz="3600" dirty="0"/>
              <a:t>（集合运算的基本定律）</a:t>
            </a:r>
            <a:endParaRPr lang="zh-CN" altLang="en-US" sz="3600" dirty="0"/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Commutative properties</a:t>
            </a:r>
            <a:r>
              <a:rPr lang="zh-CN" altLang="en-US" i="1" dirty="0"/>
              <a:t>（交换律）</a:t>
            </a:r>
            <a:endParaRPr lang="zh-CN" altLang="en-US" i="1" dirty="0"/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Associative properties</a:t>
            </a:r>
            <a:r>
              <a:rPr lang="zh-CN" altLang="en-US" i="1" dirty="0"/>
              <a:t>（结合律）</a:t>
            </a:r>
            <a:endParaRPr lang="zh-CN" altLang="en-US" i="1" dirty="0"/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Distributive properties</a:t>
            </a:r>
            <a:r>
              <a:rPr lang="zh-CN" altLang="en-US" i="1" dirty="0"/>
              <a:t>（分配律）</a:t>
            </a:r>
            <a:endParaRPr lang="zh-CN" altLang="en-US" i="1" dirty="0"/>
          </a:p>
        </p:txBody>
      </p:sp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3276600" y="1944688"/>
          <a:ext cx="17526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26465" imgH="406400" progId="Equation.DSMT4">
                  <p:embed/>
                </p:oleObj>
              </mc:Choice>
              <mc:Fallback>
                <p:oleObj name="" r:id="rId1" imgW="926465" imgH="4064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1944688"/>
                        <a:ext cx="1752600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/>
          <p:cNvGraphicFramePr>
            <a:graphicFrameLocks noChangeAspect="1"/>
          </p:cNvGraphicFramePr>
          <p:nvPr/>
        </p:nvGraphicFramePr>
        <p:xfrm>
          <a:off x="2971800" y="3235325"/>
          <a:ext cx="26670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676400" imgH="431800" progId="Equation.DSMT4">
                  <p:embed/>
                </p:oleObj>
              </mc:Choice>
              <mc:Fallback>
                <p:oleObj name="" r:id="rId3" imgW="1676400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1800" y="3235325"/>
                        <a:ext cx="2667000" cy="687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6"/>
          <p:cNvGraphicFramePr>
            <a:graphicFrameLocks noChangeAspect="1"/>
          </p:cNvGraphicFramePr>
          <p:nvPr/>
        </p:nvGraphicFramePr>
        <p:xfrm>
          <a:off x="2667000" y="4522788"/>
          <a:ext cx="33528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044700" imgH="431800" progId="Equation.DSMT4">
                  <p:embed/>
                </p:oleObj>
              </mc:Choice>
              <mc:Fallback>
                <p:oleObj name="" r:id="rId5" imgW="2044700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7000" y="4522788"/>
                        <a:ext cx="3352800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Algebraic Properties of Set Operations </a:t>
            </a:r>
            <a:r>
              <a:rPr lang="zh-CN" altLang="en-US" sz="3600" dirty="0"/>
              <a:t>（集合运算的基本定律）</a:t>
            </a:r>
            <a:endParaRPr lang="en-US" altLang="zh-CN" sz="3600" dirty="0"/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Idempotent properties</a:t>
            </a:r>
            <a:r>
              <a:rPr lang="zh-CN" altLang="en-US" i="1" dirty="0"/>
              <a:t>（等幂律）</a:t>
            </a:r>
            <a:endParaRPr lang="zh-CN" altLang="en-US" i="1" dirty="0"/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Properties of the Complement</a:t>
            </a:r>
            <a:endParaRPr lang="en-US" altLang="zh-CN" i="1" dirty="0"/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3657600" y="2016125"/>
          <a:ext cx="10668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673100" imgH="406400" progId="Equation.DSMT4">
                  <p:embed/>
                </p:oleObj>
              </mc:Choice>
              <mc:Fallback>
                <p:oleObj name="" r:id="rId1" imgW="673100" imgH="4064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2016125"/>
                        <a:ext cx="106680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5"/>
          <p:cNvGraphicFramePr>
            <a:graphicFrameLocks noChangeAspect="1"/>
          </p:cNvGraphicFramePr>
          <p:nvPr/>
        </p:nvGraphicFramePr>
        <p:xfrm>
          <a:off x="3429000" y="3303588"/>
          <a:ext cx="1430338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927100" imgH="1778000" progId="Equation.DSMT4">
                  <p:embed/>
                </p:oleObj>
              </mc:Choice>
              <mc:Fallback>
                <p:oleObj name="" r:id="rId3" imgW="927100" imgH="1778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9000" y="3303588"/>
                        <a:ext cx="1430338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1133475" y="187960"/>
            <a:ext cx="8009890" cy="114808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Algebraic Properties of Set Operations</a:t>
            </a:r>
            <a:endParaRPr lang="en-US" altLang="zh-CN" sz="4000" dirty="0"/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Properties of a Universal Set</a:t>
            </a:r>
            <a:endParaRPr lang="zh-CN" altLang="en-US" i="1" dirty="0"/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Properties of the Empty Set</a:t>
            </a:r>
            <a:endParaRPr lang="zh-CN" altLang="en-US" i="1" dirty="0"/>
          </a:p>
        </p:txBody>
      </p:sp>
      <p:graphicFrame>
        <p:nvGraphicFramePr>
          <p:cNvPr id="22534" name="Object 4"/>
          <p:cNvGraphicFramePr>
            <a:graphicFrameLocks noChangeAspect="1"/>
          </p:cNvGraphicFramePr>
          <p:nvPr/>
        </p:nvGraphicFramePr>
        <p:xfrm>
          <a:off x="3638550" y="2016125"/>
          <a:ext cx="11064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98500" imgH="406400" progId="Equation.DSMT4">
                  <p:embed/>
                </p:oleObj>
              </mc:Choice>
              <mc:Fallback>
                <p:oleObj name="" r:id="rId1" imgW="698500" imgH="4064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8550" y="2016125"/>
                        <a:ext cx="1106488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5"/>
          <p:cNvGraphicFramePr>
            <a:graphicFrameLocks noChangeAspect="1"/>
          </p:cNvGraphicFramePr>
          <p:nvPr/>
        </p:nvGraphicFramePr>
        <p:xfrm>
          <a:off x="3581400" y="3384550"/>
          <a:ext cx="109696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711200" imgH="406400" progId="Equation.DSMT4">
                  <p:embed/>
                </p:oleObj>
              </mc:Choice>
              <mc:Fallback>
                <p:oleObj name="" r:id="rId3" imgW="711200" imgH="4064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3384550"/>
                        <a:ext cx="1096963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0D7EE9-A22B-4E78-B6FD-56F1FC6E8B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u="none">
                <a:solidFill>
                  <a:srgbClr val="000000"/>
                </a:solidFill>
                <a:latin typeface="微软雅黑" charset="-122"/>
                <a:ea typeface="微软雅黑" charset="-122"/>
              </a:rPr>
              <a:t>Whichs are the statement that is correct for all sets A, B, and C ?</a:t>
            </a:r>
            <a:endParaRPr lang="zh-CN" altLang="en-US" sz="2600" u="none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u="none">
                <a:solidFill>
                  <a:srgbClr val="000000"/>
                </a:solidFill>
                <a:latin typeface="微软雅黑" charset="-122"/>
                <a:ea typeface="微软雅黑" charset="-122"/>
              </a:rPr>
              <a:t>A × (B ∪ C) = (A × B) ∪ (A × C)</a:t>
            </a:r>
            <a:endParaRPr lang="zh-CN" altLang="en-US" sz="2600" u="none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u="none">
                <a:solidFill>
                  <a:srgbClr val="000000"/>
                </a:solidFill>
                <a:latin typeface="微软雅黑" charset="-122"/>
                <a:ea typeface="微软雅黑" charset="-122"/>
              </a:rPr>
              <a:t>A ∩ ( B× C) = (A × B) ∩ (A × C)</a:t>
            </a:r>
            <a:endParaRPr lang="zh-CN" altLang="en-US" sz="2600" u="none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u="none">
                <a:solidFill>
                  <a:srgbClr val="000000"/>
                </a:solidFill>
                <a:latin typeface="微软雅黑" charset="-122"/>
                <a:ea typeface="微软雅黑" charset="-122"/>
              </a:rPr>
              <a:t>A × (B − C) = (A × B) − (A × C)</a:t>
            </a:r>
            <a:endParaRPr lang="zh-CN" altLang="en-US" sz="2600" u="none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 u="none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A</a:t>
            </a:r>
            <a:endParaRPr kumimoji="1" lang="en-US" altLang="en-US" sz="1600" b="1" i="1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B</a:t>
            </a:r>
            <a:endParaRPr kumimoji="1" lang="en-US" altLang="en-US" sz="1600" b="1" i="1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C</a:t>
            </a:r>
            <a:endParaRPr kumimoji="1" lang="en-US" altLang="en-US" sz="1600" b="1" i="1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D</a:t>
            </a:r>
            <a:endParaRPr kumimoji="1" lang="en-US" altLang="en-US" sz="1600" b="1" i="1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1" i="1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</a:rPr>
              <a:t>提交</a:t>
            </a:r>
            <a:endParaRPr kumimoji="1" lang="en-US" altLang="en-US" sz="1600" b="1" i="1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28825" y="5338445"/>
          <a:ext cx="4119245" cy="66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1" imgW="1485900" imgH="241300" progId="Equation.KSEE3">
                  <p:embed/>
                </p:oleObj>
              </mc:Choice>
              <mc:Fallback>
                <p:oleObj name="" r:id="rId11" imgW="14859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8825" y="5338445"/>
                        <a:ext cx="4119245" cy="669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charset="-122"/>
                  <a:ea typeface="微软雅黑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369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pic>
        <p:nvPicPr>
          <p:cNvPr id="5" name="图片 4" descr="tmp42F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Proving Set Identities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To prove statements about sets, of the form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 =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 (where the </a:t>
            </a:r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s are set expressions), here are three useful techniques: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1. Prove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solidFill>
                  <a:schemeClr val="folHlink"/>
                </a:solidFill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solidFill>
                  <a:schemeClr val="folHlink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and</a:t>
            </a:r>
            <a:r>
              <a:rPr lang="en-US" altLang="zh-CN" baseline="-250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solidFill>
                  <a:schemeClr val="folHlink"/>
                </a:solidFill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baseline="-25000" dirty="0">
                <a:solidFill>
                  <a:schemeClr val="folHlink"/>
                </a:solidFill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 separately.</a:t>
            </a:r>
            <a:endParaRPr lang="en-US" altLang="zh-CN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2. Use set builder notation &amp; </a:t>
            </a:r>
            <a:b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logical equivalences.</a:t>
            </a:r>
            <a:endParaRPr lang="en-US" altLang="zh-CN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3. Use a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membership table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</a:rPr>
              <a:t>.</a:t>
            </a:r>
            <a:endParaRPr lang="en-US" altLang="zh-CN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Method 1: Mutual subsets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Example: Show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Part 1: Show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)(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Assume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), &amp; show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We know that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, and either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latin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</a:rPr>
              <a:t> or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latin typeface="Times New Roman" panose="02020503050405090304" pitchFamily="18" charset="0"/>
              </a:rPr>
              <a:t>C.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503050405090304" pitchFamily="18" charset="0"/>
              </a:rPr>
              <a:t>Case 1: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503050405090304" pitchFamily="18" charset="0"/>
              </a:rPr>
              <a:t>B</a:t>
            </a:r>
            <a:r>
              <a:rPr lang="en-US" altLang="zh-CN" sz="2000" dirty="0">
                <a:latin typeface="Times New Roman" panose="02020503050405090304" pitchFamily="18" charset="0"/>
              </a:rPr>
              <a:t>.  Then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, so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(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0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Case 2: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503050405090304" pitchFamily="18" charset="0"/>
              </a:rPr>
              <a:t>C. </a:t>
            </a:r>
            <a:r>
              <a:rPr lang="en-US" altLang="zh-CN" sz="2000" dirty="0">
                <a:latin typeface="Times New Roman" panose="02020503050405090304" pitchFamily="18" charset="0"/>
              </a:rPr>
              <a:t>Then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, so 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(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0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0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Therefore,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Therefore, 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)(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Part 2: Show 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)(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 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(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). …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6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7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827405" y="188595"/>
            <a:ext cx="806069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Method 2:  </a:t>
            </a:r>
            <a:r>
              <a:rPr lang="en-US" altLang="zh-CN" sz="3600" dirty="0"/>
              <a:t>Use set builder notation</a:t>
            </a:r>
            <a:endParaRPr lang="zh-CN" altLang="en-US" sz="3600" dirty="0"/>
          </a:p>
        </p:txBody>
      </p:sp>
      <p:sp>
        <p:nvSpPr>
          <p:cNvPr id="27653" name="Rectangle 3"/>
          <p:cNvSpPr>
            <a:spLocks noGrp="1"/>
          </p:cNvSpPr>
          <p:nvPr>
            <p:ph type="body" sz="half" idx="1"/>
          </p:nvPr>
        </p:nvSpPr>
        <p:spPr>
          <a:xfrm>
            <a:off x="0" y="1557338"/>
            <a:ext cx="8675688" cy="148272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503050405090304" pitchFamily="18" charset="0"/>
              </a:rPr>
              <a:t>EXAMPLE 10 Proof that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7654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3850" y="2062163"/>
          <a:ext cx="10296525" cy="395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175000" imgH="1219200" progId="Equation.DSMT4">
                  <p:embed/>
                </p:oleObj>
              </mc:Choice>
              <mc:Fallback>
                <p:oleObj name="" r:id="rId1" imgW="3175000" imgH="1219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2062163"/>
                        <a:ext cx="10296525" cy="39544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00563" y="1557338"/>
          <a:ext cx="21256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622300" imgH="152400" progId="Equation.DSMT4">
                  <p:embed/>
                </p:oleObj>
              </mc:Choice>
              <mc:Fallback>
                <p:oleObj name="" r:id="rId3" imgW="622300" imgH="152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0563" y="1557338"/>
                        <a:ext cx="2125662" cy="520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Method 3: Membership Tables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Just like truth tables for propositional logic.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Columns for different set expressions.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Rows for all combinations of memberships in constituent sets.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Use “1” to indicate membership in the derived set, “0” for non-membership.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Prove equivalence with identical columns.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Membership Table Example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Prove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503050405090304" pitchFamily="18" charset="0"/>
              </a:rPr>
              <a:t>B </a:t>
            </a:r>
            <a:r>
              <a:rPr lang="en-US" altLang="zh-CN" dirty="0">
                <a:latin typeface="Times New Roman" panose="02020503050405090304" pitchFamily="18" charset="0"/>
              </a:rPr>
              <a:t>=</a:t>
            </a:r>
            <a:r>
              <a:rPr lang="en-US" altLang="zh-CN" i="1" dirty="0">
                <a:latin typeface="Times New Roman" panose="02020503050405090304" pitchFamily="18" charset="0"/>
              </a:rPr>
              <a:t> 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graphicFrame>
        <p:nvGraphicFramePr>
          <p:cNvPr id="29702" name="Object 4"/>
          <p:cNvGraphicFramePr>
            <a:graphicFrameLocks noChangeAspect="1"/>
          </p:cNvGraphicFramePr>
          <p:nvPr/>
        </p:nvGraphicFramePr>
        <p:xfrm>
          <a:off x="1081088" y="2649538"/>
          <a:ext cx="6850062" cy="319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315585" imgH="2639695" progId="Word.Document.8">
                  <p:embed/>
                </p:oleObj>
              </mc:Choice>
              <mc:Fallback>
                <p:oleObj name="" r:id="rId1" imgW="5315585" imgH="263969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1088" y="2649538"/>
                        <a:ext cx="6850062" cy="319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525" name="Oval 5"/>
          <p:cNvSpPr/>
          <p:nvPr/>
        </p:nvSpPr>
        <p:spPr>
          <a:xfrm>
            <a:off x="4865688" y="3268663"/>
            <a:ext cx="695325" cy="2522537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619526" name="Oval 6"/>
          <p:cNvSpPr/>
          <p:nvPr/>
        </p:nvSpPr>
        <p:spPr>
          <a:xfrm>
            <a:off x="6819900" y="3292475"/>
            <a:ext cx="695325" cy="2522538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9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9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9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9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5" grpId="0" animBg="1"/>
      <p:bldP spid="6195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Membership Table Exercise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07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Prove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 =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503050405090304" pitchFamily="18" charset="0"/>
              </a:rPr>
              <a:t>C</a:t>
            </a:r>
            <a:r>
              <a:rPr lang="en-US" altLang="zh-CN" dirty="0">
                <a:latin typeface="Times New Roman" panose="02020503050405090304" pitchFamily="18" charset="0"/>
              </a:rPr>
              <a:t>).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graphicFrame>
        <p:nvGraphicFramePr>
          <p:cNvPr id="30726" name="Object 4"/>
          <p:cNvGraphicFramePr>
            <a:graphicFrameLocks noChangeAspect="1"/>
          </p:cNvGraphicFramePr>
          <p:nvPr/>
        </p:nvGraphicFramePr>
        <p:xfrm>
          <a:off x="900113" y="2638425"/>
          <a:ext cx="7002462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5925185" imgH="2858770" progId="Word.Document.8">
                  <p:embed/>
                </p:oleObj>
              </mc:Choice>
              <mc:Fallback>
                <p:oleObj name="" r:id="rId1" imgW="5925185" imgH="2858770" progId="Word.Document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2638425"/>
                        <a:ext cx="7002462" cy="325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</a:rPr>
              <a:t>Generalized Unions &amp; Intersections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Since union &amp; intersection are commutative and associative, we can extend them from operating on </a:t>
            </a:r>
            <a:r>
              <a:rPr lang="en-US" altLang="zh-CN" i="1" dirty="0">
                <a:latin typeface="Times New Roman" panose="02020503050405090304" pitchFamily="18" charset="0"/>
              </a:rPr>
              <a:t>ordered pairs</a:t>
            </a:r>
            <a:r>
              <a:rPr lang="en-US" altLang="zh-CN" dirty="0">
                <a:latin typeface="Times New Roman" panose="02020503050405090304" pitchFamily="18" charset="0"/>
              </a:rPr>
              <a:t> of sets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) to operating on sequences of sets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,…,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), or even on unordered </a:t>
            </a:r>
            <a:r>
              <a:rPr lang="en-US" altLang="zh-CN" i="1" dirty="0">
                <a:latin typeface="Times New Roman" panose="02020503050405090304" pitchFamily="18" charset="0"/>
              </a:rPr>
              <a:t>sets</a:t>
            </a:r>
            <a:r>
              <a:rPr lang="en-US" altLang="zh-CN" dirty="0">
                <a:latin typeface="Times New Roman" panose="02020503050405090304" pitchFamily="18" charset="0"/>
              </a:rPr>
              <a:t> of sets,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={</a:t>
            </a:r>
            <a:r>
              <a:rPr lang="en-US" altLang="zh-CN" i="1" dirty="0">
                <a:latin typeface="Times New Roman" panose="02020503050405090304" pitchFamily="18" charset="0"/>
              </a:rPr>
              <a:t>A | 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)}.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Generalized Union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27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Binary union operator: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-ary union: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…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: ((…((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…)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(grouping &amp; order is irrelevant)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“Big U” notation: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Or for infinite sets of sets: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endParaRPr lang="en-US" altLang="zh-CN" i="1" baseline="-25000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2774" name="Object 4"/>
          <p:cNvGraphicFramePr>
            <a:graphicFrameLocks noChangeAspect="1"/>
          </p:cNvGraphicFramePr>
          <p:nvPr/>
        </p:nvGraphicFramePr>
        <p:xfrm>
          <a:off x="4572000" y="3575050"/>
          <a:ext cx="9318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342900" imgH="431800" progId="Equation.3">
                  <p:embed/>
                </p:oleObj>
              </mc:Choice>
              <mc:Fallback>
                <p:oleObj name="" r:id="rId1" imgW="342900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3575050"/>
                        <a:ext cx="931863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5"/>
          <p:cNvGraphicFramePr>
            <a:graphicFrameLocks noChangeAspect="1"/>
          </p:cNvGraphicFramePr>
          <p:nvPr/>
        </p:nvGraphicFramePr>
        <p:xfrm>
          <a:off x="5940425" y="5084763"/>
          <a:ext cx="10096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342900" imgH="342900" progId="Equation.3">
                  <p:embed/>
                </p:oleObj>
              </mc:Choice>
              <mc:Fallback>
                <p:oleObj name="" r:id="rId3" imgW="342900" imgH="342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0425" y="5084763"/>
                        <a:ext cx="1009650" cy="1011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Generalized Intersection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Binary intersection operator: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-ary intersection: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…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((…((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)…)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(grouping &amp; order is irrelevant)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“Big Arch” notation: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Or for infinite sets of sets: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3798" name="Object 4"/>
          <p:cNvGraphicFramePr>
            <a:graphicFrameLocks noChangeAspect="1"/>
          </p:cNvGraphicFramePr>
          <p:nvPr/>
        </p:nvGraphicFramePr>
        <p:xfrm>
          <a:off x="5076825" y="3646488"/>
          <a:ext cx="9318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42900" imgH="431800" progId="Equation.3">
                  <p:embed/>
                </p:oleObj>
              </mc:Choice>
              <mc:Fallback>
                <p:oleObj name="" r:id="rId1" imgW="342900" imgH="431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76825" y="3646488"/>
                        <a:ext cx="931863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5"/>
          <p:cNvGraphicFramePr>
            <a:graphicFrameLocks noChangeAspect="1"/>
          </p:cNvGraphicFramePr>
          <p:nvPr/>
        </p:nvGraphicFramePr>
        <p:xfrm>
          <a:off x="5867400" y="5084763"/>
          <a:ext cx="10096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342900" imgH="342900" progId="Equation.3">
                  <p:embed/>
                </p:oleObj>
              </mc:Choice>
              <mc:Fallback>
                <p:oleObj name="" r:id="rId3" imgW="342900" imgH="3429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7400" y="5084763"/>
                        <a:ext cx="1009650" cy="1011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8" name="日期占位符 6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页脚占位符 7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Rectangle 8"/>
          <p:cNvSpPr>
            <a:spLocks noGrp="1"/>
          </p:cNvSpPr>
          <p:nvPr>
            <p:ph type="title"/>
          </p:nvPr>
        </p:nvSpPr>
        <p:spPr>
          <a:xfrm>
            <a:off x="827088" y="11588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en-US" altLang="zh-CN" dirty="0"/>
          </a:p>
        </p:txBody>
      </p:sp>
      <p:sp>
        <p:nvSpPr>
          <p:cNvPr id="34821" name="Rectangle 3"/>
          <p:cNvSpPr>
            <a:spLocks noGrp="1"/>
          </p:cNvSpPr>
          <p:nvPr>
            <p:ph type="body" sz="half" idx="1"/>
          </p:nvPr>
        </p:nvSpPr>
        <p:spPr>
          <a:xfrm>
            <a:off x="1403350" y="1628775"/>
            <a:ext cx="6126163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È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È</a:t>
            </a:r>
            <a:r>
              <a:rPr lang="en-US" altLang="zh-CN" sz="2800" i="1" dirty="0">
                <a:latin typeface="Times New Roman" panose="02020503050405090304" pitchFamily="18" charset="0"/>
              </a:rPr>
              <a:t>C= </a:t>
            </a:r>
            <a:r>
              <a:rPr lang="en-US" altLang="zh-CN" sz="2800" dirty="0">
                <a:latin typeface="Times New Roman" panose="02020503050405090304" pitchFamily="18" charset="0"/>
              </a:rPr>
              <a:t>{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 | 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</a:rPr>
              <a:t>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È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È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n=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Ç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Ç</a:t>
            </a:r>
            <a:r>
              <a:rPr lang="en-US" altLang="zh-CN" sz="2800" i="1" dirty="0">
                <a:latin typeface="Times New Roman" panose="02020503050405090304" pitchFamily="18" charset="0"/>
              </a:rPr>
              <a:t>C= </a:t>
            </a:r>
            <a:r>
              <a:rPr lang="en-US" altLang="zh-CN" sz="2800" dirty="0">
                <a:latin typeface="Times New Roman" panose="02020503050405090304" pitchFamily="18" charset="0"/>
              </a:rPr>
              <a:t>{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</a:rPr>
              <a:t> | 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</a:rPr>
              <a:t>Î</a:t>
            </a:r>
            <a:r>
              <a:rPr lang="en-US" altLang="zh-CN" sz="2800" i="1" dirty="0">
                <a:latin typeface="Times New Roman" panose="02020503050405090304" pitchFamily="18" charset="0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</a:rPr>
              <a:t>}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Ç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Ç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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n=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2800" dirty="0"/>
          </a:p>
        </p:txBody>
      </p:sp>
      <p:graphicFrame>
        <p:nvGraphicFramePr>
          <p:cNvPr id="3482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95738" y="2636838"/>
          <a:ext cx="6143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68300" imgH="431800" progId="Equation.DSMT4">
                  <p:embed/>
                </p:oleObj>
              </mc:Choice>
              <mc:Fallback>
                <p:oleObj name="" r:id="rId1" imgW="368300" imgH="431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5738" y="2636838"/>
                        <a:ext cx="614362" cy="7207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97325" y="3644900"/>
          <a:ext cx="6127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368300" imgH="431800" progId="Equation.DSMT4">
                  <p:embed/>
                </p:oleObj>
              </mc:Choice>
              <mc:Fallback>
                <p:oleObj name="" r:id="rId3" imgW="368300" imgH="4318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97325" y="3644900"/>
                        <a:ext cx="612775" cy="7191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>
          <a:xfrm>
            <a:off x="1151255" y="577850"/>
            <a:ext cx="7907655" cy="90995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b="1" dirty="0"/>
              <a:t>Union and Intersection of Indexed Collections</a:t>
            </a:r>
            <a:endParaRPr lang="en-US" altLang="zh-CN" sz="4000" b="1" dirty="0"/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 ,...,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be an indexed collection of sets.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Union and intersection are associative (because 'and' and 'or' are) we have: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i="1" dirty="0">
                <a:latin typeface="Times New Roman" panose="02020503050405090304" pitchFamily="18" charset="0"/>
              </a:rPr>
              <a:t>			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=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È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È</a:t>
            </a:r>
            <a:r>
              <a:rPr lang="en-US" altLang="zh-CN" dirty="0">
                <a:latin typeface="Times New Roman" panose="02020503050405090304" pitchFamily="18" charset="0"/>
              </a:rPr>
              <a:t>...</a:t>
            </a:r>
            <a:r>
              <a:rPr lang="en-US" altLang="zh-CN" dirty="0">
                <a:latin typeface="Symbol" panose="05050102010706020507" pitchFamily="18" charset="2"/>
              </a:rPr>
              <a:t>È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endParaRPr lang="en-US" altLang="zh-CN" i="1" baseline="-250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and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i="1" dirty="0">
                <a:latin typeface="Times New Roman" panose="02020503050405090304" pitchFamily="18" charset="0"/>
              </a:rPr>
              <a:t>			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=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Ç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Ç</a:t>
            </a:r>
            <a:r>
              <a:rPr lang="en-US" altLang="zh-CN" dirty="0">
                <a:latin typeface="Times New Roman" panose="02020503050405090304" pitchFamily="18" charset="0"/>
              </a:rPr>
              <a:t>...</a:t>
            </a:r>
            <a:r>
              <a:rPr lang="en-US" altLang="zh-CN" dirty="0">
                <a:latin typeface="Symbol" panose="05050102010706020507" pitchFamily="18" charset="2"/>
              </a:rPr>
              <a:t>Ç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endParaRPr lang="en-US" altLang="zh-CN" baseline="-25000" dirty="0"/>
          </a:p>
        </p:txBody>
      </p:sp>
      <p:pic>
        <p:nvPicPr>
          <p:cNvPr id="3584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3573463"/>
            <a:ext cx="46990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4581525"/>
            <a:ext cx="439738" cy="838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7" name="日期占位符 6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8" name="页脚占位符 7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9" name="Rectangle 3"/>
          <p:cNvSpPr>
            <a:spLocks noGrp="1"/>
          </p:cNvSpPr>
          <p:nvPr>
            <p:ph type="body" sz="half" idx="1"/>
          </p:nvPr>
        </p:nvSpPr>
        <p:spPr>
          <a:xfrm>
            <a:off x="593725" y="4144645"/>
            <a:ext cx="7793038" cy="279558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503050405090304" pitchFamily="18" charset="0"/>
              </a:rPr>
              <a:t>Exampe 17</a:t>
            </a:r>
            <a:r>
              <a:rPr lang="zh-CN" altLang="en-US" sz="2800" b="1" dirty="0">
                <a:latin typeface="Times New Roman" panose="02020503050405090304" pitchFamily="18" charset="0"/>
              </a:rPr>
              <a:t>：</a:t>
            </a:r>
            <a:endParaRPr lang="en-US" altLang="zh-CN" sz="2800" b="1" dirty="0">
              <a:latin typeface="Times New Roman" panose="02020503050405090304" pitchFamily="18" charset="0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503050405090304" pitchFamily="18" charset="0"/>
              </a:rPr>
              <a:t>Let  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= </a:t>
            </a:r>
            <a:r>
              <a:rPr lang="en-US" altLang="zh-CN" dirty="0">
                <a:latin typeface="Times New Roman" panose="02020503050405090304" pitchFamily="18" charset="0"/>
              </a:rPr>
              <a:t>[1</a:t>
            </a:r>
            <a:r>
              <a:rPr lang="en-US" altLang="zh-CN" i="1" dirty="0">
                <a:latin typeface="Times New Roman" panose="02020503050405090304" pitchFamily="18" charset="0"/>
              </a:rPr>
              <a:t>,i</a:t>
            </a:r>
            <a:r>
              <a:rPr lang="en-US" altLang="zh-CN" dirty="0">
                <a:latin typeface="Times New Roman" panose="02020503050405090304" pitchFamily="18" charset="0"/>
              </a:rPr>
              <a:t>],  1 </a:t>
            </a:r>
            <a:r>
              <a:rPr lang="en-US" altLang="zh-CN" dirty="0">
                <a:latin typeface="Symbol" panose="05050102010706020507" pitchFamily="18" charset="2"/>
              </a:rPr>
              <a:t>£</a:t>
            </a:r>
            <a:r>
              <a:rPr lang="en-US" altLang="zh-CN" i="1" dirty="0">
                <a:latin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&lt; ¥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i is integer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dirty="0">
              <a:latin typeface="Symbol" panose="05050102010706020507" pitchFamily="18" charset="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503050405090304" pitchFamily="18" charset="0"/>
              </a:rPr>
              <a:t>Then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      	    = ?                      = ?</a:t>
            </a:r>
            <a:endParaRPr lang="en-US" altLang="zh-CN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50938" y="466725"/>
            <a:ext cx="7793038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Copperplate Gothic Light" panose="020E05070202060204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pperplate Gothic Bold" panose="020E0705020206020404" pitchFamily="34" charset="0"/>
                <a:ea typeface="+mj-ea"/>
                <a:cs typeface="+mj-cs"/>
              </a:rPr>
              <a:t>Generalized Unions &amp; Intersections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11188" y="1268095"/>
            <a:ext cx="7200900" cy="208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Example 16: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Let   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A</a:t>
            </a:r>
            <a:r>
              <a:rPr kumimoji="0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=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[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), 1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£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&lt; ¥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For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is integer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Then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		A</a:t>
            </a:r>
            <a:r>
              <a:rPr kumimoji="0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 ?                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A</a:t>
            </a:r>
            <a:r>
              <a:rPr kumimoji="0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 ?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3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488" y="2760345"/>
            <a:ext cx="392112" cy="636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0" y="2760345"/>
            <a:ext cx="387350" cy="636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857500" y="3247708"/>
            <a:ext cx="1098550" cy="52387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[1,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itchFamily="2" charset="-122"/>
                <a:cs typeface="+mn-cs"/>
              </a:rPr>
              <a:t>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4838" y="3223895"/>
            <a:ext cx="1246188" cy="52387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 [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itchFamily="2" charset="-122"/>
                <a:cs typeface="+mn-cs"/>
              </a:rPr>
              <a:t>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)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2236" name="矩形 3"/>
          <p:cNvSpPr/>
          <p:nvPr/>
        </p:nvSpPr>
        <p:spPr>
          <a:xfrm>
            <a:off x="5127625" y="1309370"/>
            <a:ext cx="3840163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closed interval, open interval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52738" y="6163945"/>
            <a:ext cx="1187450" cy="52387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[1,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itchFamily="2" charset="-122"/>
                <a:cs typeface="+mn-cs"/>
              </a:rPr>
              <a:t> 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92763" y="6195695"/>
            <a:ext cx="1246188" cy="52387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 {1}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52239" name="组合 22"/>
          <p:cNvGrpSpPr/>
          <p:nvPr/>
        </p:nvGrpSpPr>
        <p:grpSpPr>
          <a:xfrm>
            <a:off x="2178050" y="5270183"/>
            <a:ext cx="738188" cy="968375"/>
            <a:chOff x="7284249" y="3812166"/>
            <a:chExt cx="808991" cy="1140576"/>
          </a:xfrm>
        </p:grpSpPr>
        <p:sp>
          <p:nvSpPr>
            <p:cNvPr id="24" name="矩形 23"/>
            <p:cNvSpPr/>
            <p:nvPr/>
          </p:nvSpPr>
          <p:spPr>
            <a:xfrm>
              <a:off x="7284249" y="3812166"/>
              <a:ext cx="433202" cy="4618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panose="05050102010706020507" pitchFamily="18" charset="2"/>
                  <a:ea typeface="宋体" pitchFamily="2" charset="-122"/>
                  <a:cs typeface="+mn-cs"/>
                </a:rPr>
                <a:t>¥</a:t>
              </a:r>
              <a:endParaRPr kumimoji="0" lang="zh-CN" altLang="en-US" sz="2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pic>
          <p:nvPicPr>
            <p:cNvPr id="52244" name="图片 24"/>
            <p:cNvPicPr>
              <a:picLocks noChangeAspect="1"/>
            </p:cNvPicPr>
            <p:nvPr/>
          </p:nvPicPr>
          <p:blipFill>
            <a:blip r:embed="rId3"/>
            <a:srcRect t="21443"/>
            <a:stretch>
              <a:fillRect/>
            </a:stretch>
          </p:blipFill>
          <p:spPr>
            <a:xfrm>
              <a:off x="7291616" y="4158992"/>
              <a:ext cx="801624" cy="79375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2240" name="组合 25"/>
          <p:cNvGrpSpPr/>
          <p:nvPr/>
        </p:nvGrpSpPr>
        <p:grpSpPr>
          <a:xfrm>
            <a:off x="4522788" y="5189220"/>
            <a:ext cx="647700" cy="1008063"/>
            <a:chOff x="7591032" y="3754794"/>
            <a:chExt cx="817955" cy="1215963"/>
          </a:xfrm>
        </p:grpSpPr>
        <p:pic>
          <p:nvPicPr>
            <p:cNvPr id="52241" name="图片 26"/>
            <p:cNvPicPr>
              <a:picLocks noChangeAspect="1"/>
            </p:cNvPicPr>
            <p:nvPr/>
          </p:nvPicPr>
          <p:blipFill>
            <a:blip r:embed="rId4"/>
            <a:srcRect t="24826"/>
            <a:stretch>
              <a:fillRect/>
            </a:stretch>
          </p:blipFill>
          <p:spPr>
            <a:xfrm>
              <a:off x="7616563" y="4221088"/>
              <a:ext cx="792424" cy="74966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" name="矩形 27"/>
            <p:cNvSpPr/>
            <p:nvPr/>
          </p:nvSpPr>
          <p:spPr>
            <a:xfrm>
              <a:off x="7591032" y="3754794"/>
              <a:ext cx="386924" cy="55723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panose="05050102010706020507" pitchFamily="18" charset="2"/>
                  <a:ea typeface="宋体" pitchFamily="2" charset="-122"/>
                  <a:cs typeface="+mn-cs"/>
                </a:rPr>
                <a:t>¥</a:t>
              </a:r>
              <a:endParaRPr kumimoji="0" lang="zh-CN" altLang="en-US" sz="24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21" grpId="0" bldLvl="0" animBg="1"/>
      <p:bldP spid="2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Representations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78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A frequent theme of this course will be methods of </a:t>
            </a:r>
            <a:r>
              <a:rPr lang="en-US" altLang="zh-CN" i="1" dirty="0">
                <a:latin typeface="Times New Roman" panose="02020503050405090304" pitchFamily="18" charset="0"/>
              </a:rPr>
              <a:t>representing</a:t>
            </a:r>
            <a:r>
              <a:rPr lang="en-US" altLang="zh-CN" dirty="0">
                <a:latin typeface="Times New Roman" panose="02020503050405090304" pitchFamily="18" charset="0"/>
              </a:rPr>
              <a:t> one discrete structure using another discrete structure of a different type. 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503050405090304" pitchFamily="18" charset="0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</a:rPr>
              <a:t>, one can represent natural numbers as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Sets: </a:t>
            </a:r>
            <a:r>
              <a:rPr lang="en-US" altLang="zh-CN" b="1" dirty="0">
                <a:latin typeface="Times New Roman" panose="02020503050405090304" pitchFamily="18" charset="0"/>
              </a:rPr>
              <a:t>0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,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{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},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{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},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{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}, …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Bit strings: 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0,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1,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10,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3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11,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4</a:t>
            </a:r>
            <a:r>
              <a:rPr lang="en-US" altLang="zh-CN" dirty="0">
                <a:latin typeface="Times New Roman" panose="02020503050405090304" pitchFamily="18" charset="0"/>
              </a:rPr>
              <a:t>: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100, …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</a:rPr>
              <a:t>Representing Sets with Bit Strings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>
          <a:xfrm>
            <a:off x="828675" y="1484313"/>
            <a:ext cx="7772400" cy="4216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For an enumerable u.d. </a:t>
            </a:r>
            <a:r>
              <a:rPr lang="en-US" altLang="zh-CN" i="1" dirty="0">
                <a:latin typeface="Times New Roman" panose="02020503050405090304" pitchFamily="18" charset="0"/>
              </a:rPr>
              <a:t>U</a:t>
            </a:r>
            <a:r>
              <a:rPr lang="en-US" altLang="zh-CN" dirty="0">
                <a:latin typeface="Times New Roman" panose="02020503050405090304" pitchFamily="18" charset="0"/>
              </a:rPr>
              <a:t> with ordering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, …, represent a finite set </a:t>
            </a:r>
            <a:r>
              <a:rPr lang="en-US" altLang="zh-CN" i="1" dirty="0">
                <a:latin typeface="Times New Roman" panose="02020503050405090304" pitchFamily="18" charset="0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as the finite bit string B=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where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: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x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S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 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&lt;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=1)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E.g.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S=</a:t>
            </a:r>
            <a:r>
              <a:rPr lang="en-US" altLang="zh-CN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{2,3,5,7,11}, B=001101010001.</a:t>
            </a:r>
            <a:endParaRPr lang="en-US" altLang="zh-CN" dirty="0">
              <a:solidFill>
                <a:schemeClr val="folHlink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In this representation, the set operators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“”, “”, “   ” are implemented directly by bitwise OR, AND, NOT!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Computer representation of sets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Example 18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</a:rPr>
              <a:t>U </a:t>
            </a:r>
            <a:r>
              <a:rPr lang="en-US" altLang="zh-CN" dirty="0">
                <a:latin typeface="Times New Roman" panose="02020503050405090304" pitchFamily="18" charset="0"/>
              </a:rPr>
              <a:t>= {1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2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3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4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5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6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7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8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9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10}</a:t>
            </a:r>
            <a:r>
              <a:rPr lang="en-US" altLang="zh-CN" i="1" dirty="0">
                <a:latin typeface="Times New Roman" panose="02020503050405090304" pitchFamily="18" charset="0"/>
              </a:rPr>
              <a:t>, </a:t>
            </a:r>
            <a:r>
              <a:rPr lang="en-US" altLang="zh-CN" dirty="0">
                <a:latin typeface="Times New Roman" panose="02020503050405090304" pitchFamily="18" charset="0"/>
              </a:rPr>
              <a:t>and the ordering of elements of </a:t>
            </a:r>
            <a:r>
              <a:rPr lang="en-US" altLang="zh-CN" i="1" dirty="0">
                <a:latin typeface="Times New Roman" panose="02020503050405090304" pitchFamily="18" charset="0"/>
              </a:rPr>
              <a:t>U </a:t>
            </a:r>
            <a:r>
              <a:rPr lang="en-US" altLang="zh-CN" dirty="0">
                <a:latin typeface="Times New Roman" panose="02020503050405090304" pitchFamily="18" charset="0"/>
              </a:rPr>
              <a:t>has the elements in increasing order; that is,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 </a:t>
            </a:r>
            <a:r>
              <a:rPr lang="en-US" altLang="zh-CN" dirty="0">
                <a:latin typeface="Times New Roman" panose="02020503050405090304" pitchFamily="18" charset="0"/>
              </a:rPr>
              <a:t>= </a:t>
            </a:r>
            <a:r>
              <a:rPr lang="en-US" altLang="zh-CN" i="1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.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What bit strings represent the subset of all odd integers in </a:t>
            </a:r>
            <a:r>
              <a:rPr lang="en-US" altLang="zh-CN" i="1" dirty="0">
                <a:latin typeface="Times New Roman" panose="02020503050405090304" pitchFamily="18" charset="0"/>
              </a:rPr>
              <a:t>U, </a:t>
            </a:r>
            <a:r>
              <a:rPr lang="en-US" altLang="zh-CN" dirty="0">
                <a:latin typeface="Times New Roman" panose="02020503050405090304" pitchFamily="18" charset="0"/>
              </a:rPr>
              <a:t>the subset of all even integers in </a:t>
            </a:r>
            <a:r>
              <a:rPr lang="en-US" altLang="zh-CN" i="1" dirty="0">
                <a:latin typeface="Times New Roman" panose="02020503050405090304" pitchFamily="18" charset="0"/>
              </a:rPr>
              <a:t>U, </a:t>
            </a:r>
            <a:r>
              <a:rPr lang="en-US" altLang="zh-CN" dirty="0">
                <a:latin typeface="Times New Roman" panose="02020503050405090304" pitchFamily="18" charset="0"/>
              </a:rPr>
              <a:t>and the subset of integers not exceeding 5 in </a:t>
            </a:r>
            <a:r>
              <a:rPr lang="en-US" altLang="zh-CN" i="1" dirty="0">
                <a:latin typeface="Times New Roman" panose="02020503050405090304" pitchFamily="18" charset="0"/>
              </a:rPr>
              <a:t>U</a:t>
            </a:r>
            <a:r>
              <a:rPr lang="en-US" altLang="zh-CN" dirty="0">
                <a:latin typeface="Times New Roman" panose="02020503050405090304" pitchFamily="18" charset="0"/>
              </a:rPr>
              <a:t>?	</a:t>
            </a:r>
            <a:endParaRPr lang="en-US" altLang="zh-CN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9568" y="5157153"/>
            <a:ext cx="6192837" cy="5238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1010101010</a:t>
            </a:r>
            <a:r>
              <a:rPr lang="zh-CN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b="1" dirty="0">
                <a:latin typeface="Times New Roman" panose="02020503050405090304" pitchFamily="18" charset="0"/>
              </a:rPr>
              <a:t>0101010101</a:t>
            </a:r>
            <a:r>
              <a:rPr lang="zh-CN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b="1" dirty="0">
                <a:latin typeface="Times New Roman" panose="02020503050405090304" pitchFamily="18" charset="0"/>
              </a:rPr>
              <a:t>1111100000</a:t>
            </a:r>
            <a:endParaRPr lang="zh-CN" altLang="en-US" sz="28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755333" y="1268730"/>
            <a:ext cx="8270875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Example 19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</a:rPr>
              <a:t>We have seen that the bit string for the set {1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3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5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7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9} (with universal set {1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2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3</a:t>
            </a:r>
            <a:r>
              <a:rPr lang="en-US" altLang="zh-CN" sz="2400" i="1" dirty="0">
                <a:latin typeface="Times New Roman" panose="02020503050405090304" pitchFamily="18" charset="0"/>
              </a:rPr>
              <a:t>, </a:t>
            </a:r>
            <a:r>
              <a:rPr lang="en-US" altLang="zh-CN" sz="2400" dirty="0">
                <a:latin typeface="Times New Roman" panose="02020503050405090304" pitchFamily="18" charset="0"/>
              </a:rPr>
              <a:t>4</a:t>
            </a:r>
            <a:r>
              <a:rPr lang="en-US" altLang="zh-CN" sz="2400" i="1" dirty="0">
                <a:latin typeface="Times New Roman" panose="02020503050405090304" pitchFamily="18" charset="0"/>
              </a:rPr>
              <a:t>,</a:t>
            </a:r>
            <a:r>
              <a:rPr lang="nl-NL" altLang="zh-CN" sz="2400" dirty="0">
                <a:latin typeface="Times New Roman" panose="02020503050405090304" pitchFamily="18" charset="0"/>
              </a:rPr>
              <a:t>5</a:t>
            </a:r>
            <a:r>
              <a:rPr lang="nl-NL" altLang="zh-CN" sz="2400" i="1" dirty="0">
                <a:latin typeface="Times New Roman" panose="02020503050405090304" pitchFamily="18" charset="0"/>
              </a:rPr>
              <a:t>, </a:t>
            </a:r>
            <a:r>
              <a:rPr lang="nl-NL" altLang="zh-CN" sz="2400" dirty="0">
                <a:latin typeface="Times New Roman" panose="02020503050405090304" pitchFamily="18" charset="0"/>
              </a:rPr>
              <a:t>6</a:t>
            </a:r>
            <a:r>
              <a:rPr lang="nl-NL" altLang="zh-CN" sz="2400" i="1" dirty="0">
                <a:latin typeface="Times New Roman" panose="02020503050405090304" pitchFamily="18" charset="0"/>
              </a:rPr>
              <a:t>, </a:t>
            </a:r>
            <a:r>
              <a:rPr lang="nl-NL" altLang="zh-CN" sz="2400" dirty="0">
                <a:latin typeface="Times New Roman" panose="02020503050405090304" pitchFamily="18" charset="0"/>
              </a:rPr>
              <a:t>7</a:t>
            </a:r>
            <a:r>
              <a:rPr lang="nl-NL" altLang="zh-CN" sz="2400" i="1" dirty="0">
                <a:latin typeface="Times New Roman" panose="02020503050405090304" pitchFamily="18" charset="0"/>
              </a:rPr>
              <a:t>, </a:t>
            </a:r>
            <a:r>
              <a:rPr lang="nl-NL" altLang="zh-CN" sz="2400" dirty="0">
                <a:latin typeface="Times New Roman" panose="02020503050405090304" pitchFamily="18" charset="0"/>
              </a:rPr>
              <a:t>8</a:t>
            </a:r>
            <a:r>
              <a:rPr lang="nl-NL" altLang="zh-CN" sz="2400" i="1" dirty="0">
                <a:latin typeface="Times New Roman" panose="02020503050405090304" pitchFamily="18" charset="0"/>
              </a:rPr>
              <a:t>, </a:t>
            </a:r>
            <a:r>
              <a:rPr lang="nl-NL" altLang="zh-CN" sz="2400" dirty="0">
                <a:latin typeface="Times New Roman" panose="02020503050405090304" pitchFamily="18" charset="0"/>
              </a:rPr>
              <a:t>9</a:t>
            </a:r>
            <a:r>
              <a:rPr lang="nl-NL" altLang="zh-CN" sz="2400" i="1" dirty="0">
                <a:latin typeface="Times New Roman" panose="02020503050405090304" pitchFamily="18" charset="0"/>
              </a:rPr>
              <a:t>, </a:t>
            </a:r>
            <a:r>
              <a:rPr lang="nl-NL" altLang="zh-CN" sz="2400" dirty="0">
                <a:latin typeface="Times New Roman" panose="02020503050405090304" pitchFamily="18" charset="0"/>
              </a:rPr>
              <a:t>10}) is </a:t>
            </a:r>
            <a:r>
              <a:rPr lang="en-US" altLang="zh-CN" sz="2400" dirty="0">
                <a:latin typeface="Times New Roman" panose="02020503050405090304" pitchFamily="18" charset="0"/>
              </a:rPr>
              <a:t>10 1010 1010</a:t>
            </a:r>
            <a:r>
              <a:rPr lang="en-US" altLang="zh-CN" sz="2400" i="1" dirty="0">
                <a:latin typeface="Times New Roman" panose="02020503050405090304" pitchFamily="18" charset="0"/>
              </a:rPr>
              <a:t>.</a:t>
            </a:r>
            <a:r>
              <a:rPr lang="en-US" altLang="zh-CN" sz="2400" dirty="0">
                <a:latin typeface="Times New Roman" panose="02020503050405090304" pitchFamily="18" charset="0"/>
              </a:rPr>
              <a:t>What is the bit string for the complement of this set?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Example 20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</a:rPr>
              <a:t>The bit strings for the sets {1, 2, 3, 4, 5} and {1, 3, 5, 7, 9} are 11 1110 0000 and 10 1010 1010,respectively. Use bit strings to find the union and intersection of these sets.</a:t>
            </a:r>
            <a:endParaRPr lang="zh-CN" altLang="en-US" sz="24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47800" y="4940618"/>
            <a:ext cx="2808288" cy="138588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2000" cap="none" spc="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1111100000 </a:t>
            </a:r>
            <a:endParaRPr kumimoji="0" lang="en-US" altLang="zh-CN" sz="2800" b="1" i="0" u="none" strike="noStrike" kern="2000" cap="none" spc="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1010101010</a:t>
            </a:r>
            <a:endParaRPr kumimoji="0" lang="en-US" altLang="zh-CN" sz="28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1111101010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046663" y="4940618"/>
            <a:ext cx="2809875" cy="138588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2000" cap="none" spc="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1111100000 </a:t>
            </a:r>
            <a:endParaRPr kumimoji="0" lang="en-US" altLang="zh-CN" sz="2800" b="1" i="0" u="none" strike="noStrike" kern="2000" cap="none" spc="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1010101010</a:t>
            </a:r>
            <a:endParaRPr kumimoji="0" lang="en-US" altLang="zh-CN" sz="28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1010100000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7" grpId="1" animBg="1"/>
      <p:bldP spid="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Multisets</a:t>
            </a:r>
            <a:endParaRPr lang="zh-CN" altLang="en-US" dirty="0"/>
          </a:p>
        </p:txBody>
      </p:sp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-36512" y="1700213"/>
            <a:ext cx="903605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 </a:t>
            </a:r>
            <a:r>
              <a:rPr lang="en-US" altLang="zh-CN" sz="2800" dirty="0">
                <a:latin typeface="Times New Roman" panose="02020503050405090304" pitchFamily="18" charset="0"/>
              </a:rPr>
              <a:t>A multiset (short for multiple-membership set) is an unordered collection of elements where an element can occur as a member more than once.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We can use the same notation for a multiset as we do for a set, but each element is listed the number of times it occurs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/>
            <a:r>
              <a:rPr lang="pt-BR" altLang="zh-CN" sz="2400" dirty="0"/>
              <a:t>{a, a, a, b, b}</a:t>
            </a:r>
            <a:endParaRPr lang="en-US" altLang="zh-CN" sz="24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3011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Multisets</a:t>
            </a:r>
            <a:endParaRPr lang="zh-CN" altLang="en-US" dirty="0"/>
          </a:p>
        </p:txBody>
      </p:sp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xfrm>
            <a:off x="250825" y="1665288"/>
            <a:ext cx="8764588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latin typeface="Times New Roman" panose="02020503050405090304" pitchFamily="18" charset="0"/>
              </a:rPr>
              <a:t>The notation {m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</a:rPr>
              <a:t>⋅a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</a:rPr>
              <a:t>, 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</a:rPr>
              <a:t>⋅a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</a:rPr>
              <a:t>, </a:t>
            </a:r>
            <a:r>
              <a:rPr lang="en-US" altLang="zh-CN" sz="2800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800" dirty="0">
                <a:latin typeface="Times New Roman" panose="02020503050405090304" pitchFamily="18" charset="0"/>
              </a:rPr>
              <a:t> , 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r</a:t>
            </a:r>
            <a:r>
              <a:rPr lang="en-US" altLang="zh-CN" sz="2800" dirty="0">
                <a:latin typeface="Times New Roman" panose="02020503050405090304" pitchFamily="18" charset="0"/>
              </a:rPr>
              <a:t>⋅a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r</a:t>
            </a:r>
            <a:r>
              <a:rPr lang="en-US" altLang="zh-CN" sz="2800" dirty="0">
                <a:latin typeface="Times New Roman" panose="02020503050405090304" pitchFamily="18" charset="0"/>
              </a:rPr>
              <a:t>} denotes the multiset with element 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</a:rPr>
              <a:t> occurring 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</a:rPr>
              <a:t> times, element 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</a:rPr>
              <a:t> occurring 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</a:rPr>
              <a:t> times, and so on.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The numbers m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2800" dirty="0">
                <a:latin typeface="Times New Roman" panose="02020503050405090304" pitchFamily="18" charset="0"/>
              </a:rPr>
              <a:t>, i = 1, 2, </a:t>
            </a:r>
            <a:r>
              <a:rPr lang="en-US" altLang="zh-CN" sz="2800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800" dirty="0">
                <a:latin typeface="Times New Roman" panose="02020503050405090304" pitchFamily="18" charset="0"/>
              </a:rPr>
              <a:t> , r, are called the multiplicities of the elements 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2800" dirty="0">
                <a:latin typeface="Times New Roman" panose="02020503050405090304" pitchFamily="18" charset="0"/>
              </a:rPr>
              <a:t>, i = 1, 2, </a:t>
            </a:r>
            <a:r>
              <a:rPr lang="en-US" altLang="zh-CN" sz="2800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800" dirty="0">
                <a:latin typeface="Times New Roman" panose="02020503050405090304" pitchFamily="18" charset="0"/>
              </a:rPr>
              <a:t> , r. (Elements not in a multiset are assigned 0 as their multiplicity in this set.) 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The cardinality of a multiset is defined to be the sum of the multiplicities of its elements.</a:t>
            </a:r>
            <a:endParaRPr lang="zh-CN" altLang="en-US" sz="28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4035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latin typeface="Times New Roman" panose="02020503050405090304" pitchFamily="18" charset="0"/>
              </a:rPr>
              <a:t>Operations of  multisets. </a:t>
            </a:r>
            <a:endParaRPr lang="zh-CN" altLang="en-US" dirty="0"/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396875" y="1485900"/>
            <a:ext cx="8702675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400" dirty="0">
                <a:latin typeface="Times New Roman" panose="02020503050405090304" pitchFamily="18" charset="0"/>
              </a:rPr>
              <a:t>The union of the multisets P and Q , denoted by P ∪ Q , is the multiset in which the multiplicity of an element is the maximum of its multiplicities in P and Q.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r>
              <a:rPr lang="en-US" altLang="zh-CN" sz="2400" dirty="0">
                <a:latin typeface="Times New Roman" panose="02020503050405090304" pitchFamily="18" charset="0"/>
              </a:rPr>
              <a:t>The intersection of P and Q, denoted by P ∩ Q, is the multiset in which the multiplicity of an element is the minimum of its multiplicities in P and Q.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r>
              <a:rPr lang="en-US" altLang="zh-CN" sz="2400" dirty="0">
                <a:latin typeface="Times New Roman" panose="02020503050405090304" pitchFamily="18" charset="0"/>
              </a:rPr>
              <a:t>The difference of P and Q, denoted by P − Q, is the multiset in which the multiplicity of an element is the multiplicity of the element in P less its multiplicity in Q unless this difference is negative, in which case the multiplicity is 0.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r>
              <a:rPr lang="en-US" altLang="zh-CN" sz="2400" dirty="0">
                <a:latin typeface="Times New Roman" panose="02020503050405090304" pitchFamily="18" charset="0"/>
              </a:rPr>
              <a:t>The sum of P and Q, denoted by P + Q, is the multiset in which the multiplicity of an element is the sum of multiplicities in P and Q. </a:t>
            </a:r>
            <a:endParaRPr lang="zh-CN" altLang="en-US" sz="24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5059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905" y="1412875"/>
            <a:ext cx="9041130" cy="49358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Suppose that P and Q are the multisets {4 ⋅a, 1⋅b, 3⋅c} and {3⋅a, 4⋅b, 2⋅d}, respectively.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 Find P ∪ Q, P ∩ Q, P − Q, and P + Q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 ∪ Q = {max(4, 3) ⋅a, max(1, 4) ⋅b, max(3, 0) ⋅c, max(0, 2) ⋅d} = {4 ⋅a, 4 ⋅b, 3 ⋅c, 2 ⋅d}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P ∩ Q = {min(4, 3) ⋅a, min(1, 4) ⋅b, min(3, 0) ⋅c, min(0, 2 ) ⋅d} = {3 ⋅a, 1 ⋅b, 0 ⋅c, 0 ⋅d}={3 ⋅a, 1 ⋅b}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 − Q = {max(4 − 3, 0) ⋅a, max(1− 4, 0) ⋅b, max(3 − 0, 0) ⋅c, max(0 − 2, 0) ⋅d} = {1 ⋅a, 0 ⋅b, 3 ⋅c, 0 ⋅d}={1 ⋅a, 3 ⋅c}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P + Q = {(4 + 3) ⋅a, (1 + 4) ⋅b, (3 + 0) ⋅c, (0 + 2) ⋅d}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             = {7 ⋅a, 5 ⋅b, 3 ⋅c, 2 ⋅d}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46083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>
          <a:xfrm>
            <a:off x="900113" y="18891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Review of 2.2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>
          <a:xfrm>
            <a:off x="827088" y="162877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Operations |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|, P(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),      , , , , </a:t>
            </a:r>
            <a:endParaRPr lang="en-US" altLang="zh-CN" i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Set equality proof techniques: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Mutual subsets.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Derivation using logical equivalences.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xfrm>
            <a:off x="900113" y="1339850"/>
            <a:ext cx="777240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2.2</a:t>
            </a:r>
            <a:endParaRPr lang="en-US" altLang="zh-CN" dirty="0"/>
          </a:p>
          <a:p>
            <a:pPr lvl="1"/>
            <a:r>
              <a:rPr lang="en-US" altLang="zh-CN" dirty="0"/>
              <a:t>21,32,54</a:t>
            </a:r>
            <a:endParaRPr lang="en-US" altLang="zh-CN" dirty="0"/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p="http://schemas.openxmlformats.org/presentationml/2006/main">
  <p:tag name="RAINPROBLEM" val="MultipleChoiceMA"/>
  <p:tag name="PROBLEMSCORE" val="1.0"/>
  <p:tag name="PROBLEMSCORE_HALF" val="0.0"/>
</p:tagLst>
</file>

<file path=ppt/tags/tag18.xml><?xml version="1.0" encoding="utf-8"?>
<p:tagLst xmlns:p="http://schemas.openxmlformats.org/presentationml/2006/main">
  <p:tag name="KSO_WPP_MARK_KEY" val="d4abb8ff-e09a-42d3-a23d-62d254a3b07d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9565</Words>
  <Application>WPS 文字</Application>
  <PresentationFormat>全屏显示(4:3)</PresentationFormat>
  <Paragraphs>526</Paragraphs>
  <Slides>40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40</vt:i4>
      </vt:variant>
    </vt:vector>
  </HeadingPairs>
  <TitlesOfParts>
    <vt:vector size="77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Copperplate Gothic Bold</vt:lpstr>
      <vt:lpstr>Symbol</vt:lpstr>
      <vt:lpstr>Kingsoft Sign</vt:lpstr>
      <vt:lpstr>微软雅黑</vt:lpstr>
      <vt:lpstr>汉仪旗黑</vt:lpstr>
      <vt:lpstr>宋体</vt:lpstr>
      <vt:lpstr>Arial Unicode MS</vt:lpstr>
      <vt:lpstr>宋体-简</vt:lpstr>
      <vt:lpstr>Blends</vt:lpstr>
      <vt:lpstr>1_Blends</vt:lpstr>
      <vt:lpstr>Equation.DSMT4</vt:lpstr>
      <vt:lpstr>Equation.DSMT4</vt:lpstr>
      <vt:lpstr>Word.Document.8</vt:lpstr>
      <vt:lpstr>Word.Document.8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Set Operations （集合的运算）</vt:lpstr>
      <vt:lpstr>Set Operations</vt:lpstr>
      <vt:lpstr>Equal（相等）</vt:lpstr>
      <vt:lpstr>Definitions</vt:lpstr>
      <vt:lpstr>The Addition principle             （加法原理）</vt:lpstr>
      <vt:lpstr>Example</vt:lpstr>
      <vt:lpstr>The Addition principle for Disjoint Sets</vt:lpstr>
      <vt:lpstr>Definitions</vt:lpstr>
      <vt:lpstr>Venn Diagrams</vt:lpstr>
      <vt:lpstr>Venn Diagrams</vt:lpstr>
      <vt:lpstr>Venn Diagrams</vt:lpstr>
      <vt:lpstr>PowerPoint 演示文稿</vt:lpstr>
      <vt:lpstr>PowerPoint 演示文稿</vt:lpstr>
      <vt:lpstr>Examples</vt:lpstr>
      <vt:lpstr>Algebraic Properties of Set Operations（集合运算的基本定律）</vt:lpstr>
      <vt:lpstr>Algebraic Properties of Set Operations （集合运算的基本定律）</vt:lpstr>
      <vt:lpstr>Algebraic Properties of Set Operations</vt:lpstr>
      <vt:lpstr>PowerPoint 演示文稿</vt:lpstr>
      <vt:lpstr>Proving Set Identities</vt:lpstr>
      <vt:lpstr>Method 1: Mutual subsets</vt:lpstr>
      <vt:lpstr>Method 2:  Use set builder notation</vt:lpstr>
      <vt:lpstr>Method 3: Membership Tables</vt:lpstr>
      <vt:lpstr>Membership Table Example</vt:lpstr>
      <vt:lpstr>Membership Table Exercise</vt:lpstr>
      <vt:lpstr>Generalized Unions &amp; Intersections</vt:lpstr>
      <vt:lpstr>Generalized Union</vt:lpstr>
      <vt:lpstr>Generalized Intersection</vt:lpstr>
      <vt:lpstr>Notation</vt:lpstr>
      <vt:lpstr>Union and Intersection of Indexed Collections</vt:lpstr>
      <vt:lpstr>PowerPoint 演示文稿</vt:lpstr>
      <vt:lpstr>Representations</vt:lpstr>
      <vt:lpstr>Representing Sets with Bit Strings</vt:lpstr>
      <vt:lpstr>Computer representation of sets</vt:lpstr>
      <vt:lpstr>PowerPoint 演示文稿</vt:lpstr>
      <vt:lpstr>Multisets</vt:lpstr>
      <vt:lpstr>Multisets</vt:lpstr>
      <vt:lpstr>Operations of  multisets. </vt:lpstr>
      <vt:lpstr>Example</vt:lpstr>
      <vt:lpstr>Review of 2.2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328</cp:revision>
  <dcterms:created xsi:type="dcterms:W3CDTF">2025-04-02T07:36:23Z</dcterms:created>
  <dcterms:modified xsi:type="dcterms:W3CDTF">2025-04-02T07:36:23Z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EF0F847C2A8240F6AECEBFA5136180D7</vt:lpwstr>
  </property>
  <property fmtid="{D5CDD505-2E9C-101B-9397-08002B2CF9AE}" pid="3" name="KSOProductBuildVer">
    <vt:lpwstr>2052-6.9.0.8865</vt:lpwstr>
  </property>
</Properties>
</file>